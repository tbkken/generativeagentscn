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20" Type="http://schemas.openxmlformats.org/officeDocument/2006/relationships/slide" Target="slides/slide20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29" Type="http://schemas.openxmlformats.org/officeDocument/2006/relationships/tableStyles" Target="tableStyles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6" Type="http://schemas.openxmlformats.org/officeDocument/2006/relationships/slide" Target="slides/slide26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7" Type="http://schemas.openxmlformats.org/officeDocument/2006/relationships/notesMaster" Target="notesMasters/notesMaster1.xml" /><Relationship Id="rId28" Type="http://schemas.openxmlformats.org/officeDocument/2006/relationships/presProps" Target="presProps.xml" /><Relationship Id="rId3" Type="http://schemas.openxmlformats.org/officeDocument/2006/relationships/slide" Target="slides/slide3.xml" /><Relationship Id="rId30" Type="http://schemas.openxmlformats.org/officeDocument/2006/relationships/viewProps" Target="viewProps.xml" /><Relationship Id="rId9" Type="http://schemas.openxmlformats.org/officeDocument/2006/relationships/slide" Target="slides/slide9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先从一件小事讲起。青禾社区学习中心要办一次开放日，我们在对话框里写下一句话：请为一个上午安排阅读分享、手作体验和自由交流。助手很快给出一份完整方案，时间、场地、人数、流程都写得像模像样。</a:t>
            </a:r>
          </a:p>
          <a:p>
            <a:r>
              <a:rPr lang="zh-CN" dirty="0"/>
              <a:t>但这份方案里有两个硬条件没有通过。它把手作活动安排成十五个人，而手作室只能容纳十二个；它把时间定在十点，而十点这个房间已经有别的预约。两处都写得很自然，语气也很有把握，可它们都是错的。</a:t>
            </a:r>
          </a:p>
          <a:p>
            <a:r>
              <a:rPr lang="zh-CN" dirty="0"/>
              <a:t>这就是这一节要建立的习惯：文字读起来流畅，和它是否经过核验，是完全不同的两件事。模型是通过大规模训练学习语言规律的，它根据当前上下文处理和生成语言，能写出漂亮的句子，但这不意味着它核对过房间容量，也不意味着它查过预约记录。</a:t>
            </a:r>
          </a:p>
          <a:p>
            <a:r>
              <a:rPr lang="zh-CN" dirty="0"/>
              <a:t>接下来我们一层层看清楚：它到底在做什么，我们又凭什么判断它做得对不对。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这一节有六个知识块，但它们不是六个互不相干的知识点，而是在回答同一个问题：模型会写，我们凭什么判断它写得对。</a:t>
            </a:r>
          </a:p>
          <a:p>
            <a:r>
              <a:rPr lang="zh-CN" dirty="0"/>
              <a:t>前两个知识块先把基础概念立住。第一个讲归属：人工智能、机器学习、深度学习和大语言模型之间是什么关系，"大"到底由哪些量描述。第二个讲 Token：文字要先变成模型能计算的片段，而且本次请求还要占用一份有限的上下文空间。</a:t>
            </a:r>
          </a:p>
          <a:p>
            <a:r>
              <a:rPr lang="zh-CN" dirty="0"/>
              <a:t>中间两个知识块讲过程。第三个讲一段回答是怎么一步步生成的，以及模型怎样把相隔较远的信息联系起来。第四个讲模型从训练走到使用的路径，预训练、后训练和推理，改的是参数还是上下文。</a:t>
            </a:r>
          </a:p>
          <a:p>
            <a:r>
              <a:rPr lang="zh-CN" dirty="0"/>
              <a:t>最后两个知识块落到判断上。第五个把回答里的信息来源分成四种，参数、当前上下文、外部资料和持久记忆。第六个讲回答为什么会变，以及我们该怎样看待"幻觉"。</a:t>
            </a:r>
          </a:p>
          <a:p>
            <a:r>
              <a:rPr lang="zh-CN" dirty="0"/>
              <a:t>六个块连起来，就是你手里的第一套检查方法。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第一个问题看起来很基础，却最容易含糊过去：我们今天说的大模型，到底属于什么。</a:t>
            </a:r>
          </a:p>
          <a:p>
            <a:r>
              <a:rPr lang="zh-CN" dirty="0"/>
              <a:t>先把范围摆清楚。人工智能是一个很大的领域，识别、预测、规划、行动都在里面。机器学习是它的一个子集，做法是从数据里调整参数；深度学习又是机器学习的一个子集，用多层神经网络来做这件事；我们现在说的大语言模型，属于深度学习之中的一类。</a:t>
            </a:r>
          </a:p>
          <a:p>
            <a:r>
              <a:rPr lang="zh-CN" dirty="0"/>
              <a:t>再提醒一句：你还会听到"基础模型""多模态"这样的说法。这些是命名的角度，不是大语言模型下面互斥的子类。一个模型可以既是大语言模型，又被称为基础模型，还可能具备多模态能力，它们可以重叠。</a:t>
            </a:r>
          </a:p>
          <a:p>
            <a:r>
              <a:rPr lang="zh-CN" dirty="0"/>
              <a:t>最后是"大"这个字。参数规模、训练数据量、训练计算量，是三个不同的量。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把范围画清楚。人工智能是一个很大的领域，识别、预测、规划、行动都在里面。机器学习是它的一个子集，做法是从数据里调整参数。深度学习又是机器学习的一个子集，用多层神经网络来完成这件事。我们今天说的大语言模型，就落在深度学习这一类里面。</a:t>
            </a:r>
          </a:p>
          <a:p>
            <a:r>
              <a:rPr lang="zh-CN" dirty="0"/>
              <a:t>这里有一处很容易混的地方：你还会听到"基础模型""多模态"这样的说法。请注意，它们是命名的角度，不是大语言模型下面互斥的子类。一个模型可以既是大语言模型，又被称为基础模型，还可能具备多模态能力——这些标签可以重叠。</a:t>
            </a:r>
          </a:p>
          <a:p>
            <a:r>
              <a:rPr lang="zh-CN" dirty="0"/>
              <a:t>再看"大"这个字。它没有统一的门槛。参数规模说的是训练中调整的数值有多少，训练数据量说的是训练时用了多少资料，训练计算量说的是训练投入了多少计算。这是三个不同的量。</a:t>
            </a:r>
          </a:p>
          <a:p>
            <a:r>
              <a:rPr lang="zh-CN" dirty="0"/>
              <a:t>计算最优训练的研究还告诉我们，在同一个预算下，模型规模和数据量怎么分配是会互相影响的，所以不能只追求把参数堆得更多。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围绕"大"这个字，有三种说法经常被混在一起，我们逐条分开。</a:t>
            </a:r>
          </a:p>
          <a:p>
            <a:r>
              <a:rPr lang="zh-CN" dirty="0"/>
              <a:t>第一句，"1B 就是十亿字"。不对。参数规模里的 1B，指的是十亿个可训练数值，不是十亿个汉字，也不是十亿字的内容。</a:t>
            </a:r>
          </a:p>
          <a:p>
            <a:r>
              <a:rPr lang="zh-CN" dirty="0"/>
              <a:t>第二句，"参数多，一次就能读得多"。这是把两件事混了。参数量说的是模型内部有多少可调的数值，上下文容量说的是这一次能送入多少内容，它们是两个不同的指标。</a:t>
            </a:r>
          </a:p>
          <a:p>
            <a:r>
              <a:rPr lang="zh-CN" dirty="0"/>
              <a:t>第三句，"模型越大，一定越好"。这也站不住。还要看训练用了什么数据、用什么方法训练、投入了多少计算预算，以及具体任务是什么。</a:t>
            </a:r>
          </a:p>
          <a:p>
            <a:r>
              <a:rPr lang="zh-CN" dirty="0"/>
              <a:t>计算最优训练的研究就说明了这一点：在同一个预算下，模型规模和数据量怎么分配，会直接影响最终效果，所以不能只追求把参数堆得更多。</a:t>
            </a:r>
          </a:p>
          <a:p>
            <a:r>
              <a:rPr lang="zh-CN" dirty="0"/>
              <a:t>请记住一个态度："大"是一个相对的说法，不是一道及格线。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把这个知识块收在一句话上，但这句话很重要。</a:t>
            </a:r>
          </a:p>
          <a:p>
            <a:r>
              <a:rPr lang="zh-CN" dirty="0"/>
              <a:t>参数规模里的 1B，说的是十亿个可训练数值。它不是说这份模型认识十亿个汉字，不是说它能一次读进十亿字的内容，也不是在描述它的上下文长度。这三个说法听起来像一回事，其实是三个不同的量。</a:t>
            </a:r>
          </a:p>
          <a:p>
            <a:r>
              <a:rPr lang="zh-CN" dirty="0"/>
              <a:t>为什么这件事值得单独强调？因为当我们不知道一个数字到底在描述什么，后面的比较就会失去意义。你说这个模型比那个大，我得先问你，你说的是参数、数据，还是计算量。</a:t>
            </a:r>
          </a:p>
          <a:p>
            <a:r>
              <a:rPr lang="zh-CN" dirty="0"/>
              <a:t>还有一个判断要带回去：在同一个训练预算下，模型规模和数据量是一起权衡的，不是参数越多就一定越好。</a:t>
            </a:r>
          </a:p>
          <a:p>
            <a:r>
              <a:rPr lang="zh-CN" dirty="0"/>
              <a:t>下一次再听到"这个模型有一千亿参数"，你脑子里应该跳出两个问题：这一千亿指的是什么量，以及它在当前这个任务上，是不是真的更合适。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第二个知识块，我们看一句普通的话在模型眼里是什么样子。</a:t>
            </a:r>
          </a:p>
          <a:p>
            <a:r>
              <a:rPr lang="zh-CN" dirty="0"/>
              <a:t>同一句话其实涉及两个问题。第一个问题是：文字怎样变成模型能够处理的数值。第二个问题是：这一次请求，要占用多少上下文空间。这两件事经常被合成一句"Token 有多少"，但它们不是一回事。</a:t>
            </a:r>
          </a:p>
          <a:p>
            <a:r>
              <a:rPr lang="zh-CN" dirty="0"/>
              <a:t>先看第一个问题。文本不会原样进入模型。它先被切成片段，每个片段换成一个编号，编号再映射成一组数值。所以模型真正计算出结果时，手里拿的是一组组数字，不是我们看到的汉字。</a:t>
            </a:r>
          </a:p>
          <a:p>
            <a:r>
              <a:rPr lang="zh-CN" dirty="0"/>
              <a:t>第二个问题同样重要。这一次送进模型的指令、历史消息、资料和工具结果，再加上留给我们生成内容的空间，是共用同一份容量的。容量满了，就必须筛选或者截断。</a:t>
            </a:r>
          </a:p>
          <a:p>
            <a:r>
              <a:rPr lang="zh-CN" dirty="0"/>
              <a:t>这个知识块后面三页，我们就沿着这两条线看清楚。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我们一步一步来看。</a:t>
            </a:r>
          </a:p>
          <a:p>
            <a:r>
              <a:rPr lang="zh-CN" dirty="0"/>
              <a:t>第一步是原文。你输入的是"请安排阅读分享"这七个汉字，人一眼就看懂了。</a:t>
            </a:r>
          </a:p>
          <a:p>
            <a:r>
              <a:rPr lang="zh-CN" dirty="0"/>
              <a:t>第二步是切分。模型不是按字来处理，而是按片段来处理。这四个片段在这里正好是四个词，但真实情况里，一个片段可能是半个词，也可能是一个标点。所以千万记住：片段和汉字之间没有固定的换算关系。</a:t>
            </a:r>
          </a:p>
          <a:p>
            <a:r>
              <a:rPr lang="zh-CN" dirty="0"/>
              <a:t>第三步是换成编号。每个片段对应一个编号，编号的作用是索引——它本身不表示词义，只是让模型知道"我说的是这个片段"。</a:t>
            </a:r>
          </a:p>
          <a:p>
            <a:r>
              <a:rPr lang="zh-CN" dirty="0"/>
              <a:t>第四步是嵌入，也就是把编号映射成一组数值。到这一步，模型手里拿的才是一串可以参与计算的数字。而且同一个片段，在不同句子里的表示还会受到周围内容的影响。</a:t>
            </a:r>
          </a:p>
          <a:p>
            <a:r>
              <a:rPr lang="zh-CN" dirty="0"/>
              <a:t>所以"模型认识字"这句话其实不准确。它认识的是片段，以及片段背后的数值。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现在说第二个问题：容量。</a:t>
            </a:r>
          </a:p>
          <a:p>
            <a:r>
              <a:rPr lang="zh-CN" dirty="0"/>
              <a:t>这一次送进模型的东西，包括我的指令、之前的对话历史、应用读进来的资料和工具返回的结果，再加上留给我生成内容的空间，它们共用的是同一份容量。这份容量就是上下文窗口。</a:t>
            </a:r>
          </a:p>
          <a:p>
            <a:r>
              <a:rPr lang="zh-CN" dirty="0"/>
              <a:t>请注意两件事。</a:t>
            </a:r>
          </a:p>
          <a:p>
            <a:r>
              <a:rPr lang="zh-CN" dirty="0"/>
              <a:t>第一，窗口是有限的。当要放的内容超过窗口，它不会自动挤进去，而是需要应用先做筛选或者截断。哪些留下、哪些丢掉，直接决定了模型这次能看到什么。</a:t>
            </a:r>
          </a:p>
          <a:p>
            <a:r>
              <a:rPr lang="zh-CN" dirty="0"/>
              <a:t>第二，窗口大不等于长期记忆。这一段对话结束以后，里面的内容就不在这个上下文里了。下一次提问，除非应用重新把材料读进来，否则模型不会"记得"。</a:t>
            </a:r>
          </a:p>
          <a:p>
            <a:r>
              <a:rPr lang="zh-CN" dirty="0"/>
              <a:t>所以回到青禾那件事：我后来把房间容量表放进对话，模型这轮能用上它。但我不能假定下一轮它还能用——除非应用又读了一次。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我们用一个汉字来验证刚才这些结论。"紧"这个字。</a:t>
            </a:r>
          </a:p>
          <a:p>
            <a:r>
              <a:rPr lang="zh-CN" dirty="0"/>
              <a:t>"安排很紧"，说的是时间紧凑；"把门关紧"，说的是关得严实。同一个字，两种完全不同的意思。如果模型只认这一个字，它就会把两句理解成同一件事。</a:t>
            </a:r>
          </a:p>
          <a:p>
            <a:r>
              <a:rPr lang="zh-CN" dirty="0"/>
              <a:t>它能处理得更好，是因为它拿到的不只是一个字的位置，还带着这个字周围的内容。这也是为什么前面要说"表示还受周围内容影响"。</a:t>
            </a:r>
          </a:p>
          <a:p>
            <a:r>
              <a:rPr lang="zh-CN" dirty="0"/>
              <a:t>把这一段的三句结论记住。</a:t>
            </a:r>
          </a:p>
          <a:p>
            <a:r>
              <a:rPr lang="zh-CN" dirty="0"/>
              <a:t>第一，片段不等于汉字。切分怎么切，是由分词器决定的，用量以分词器或者接口的统计为准，不能自己换算。</a:t>
            </a:r>
          </a:p>
          <a:p>
            <a:r>
              <a:rPr lang="zh-CN" dirty="0"/>
              <a:t>第二，编号负责查位置，向量负责参与计算，它们本身都不等于词义。</a:t>
            </a:r>
          </a:p>
          <a:p>
            <a:r>
              <a:rPr lang="zh-CN" dirty="0"/>
              <a:t>第三，窗口有上限。四类内容共用同一份容量，放不下就得先筛选或截断。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第三个知识块，我们看一段回答到底是怎么出来的。</a:t>
            </a:r>
          </a:p>
          <a:p>
            <a:r>
              <a:rPr lang="zh-CN" dirty="0"/>
              <a:t>前面说过，模型手里拿的是一组组数值。那么回答是怎么从这些数值里长出来的？</a:t>
            </a:r>
          </a:p>
          <a:p>
            <a:r>
              <a:rPr lang="zh-CN" dirty="0"/>
              <a:t>先说结论：它是一次生成一个片段，然后把新生成的片段接回已有的内容，再继续生成下一个。就这样一步一步往下走。</a:t>
            </a:r>
          </a:p>
          <a:p>
            <a:r>
              <a:rPr lang="zh-CN" dirty="0"/>
              <a:t>这里有两个容易误解的地方。</a:t>
            </a:r>
          </a:p>
          <a:p>
            <a:r>
              <a:rPr lang="zh-CN" dirty="0"/>
              <a:t>第一，这个回环不代表每一次都把全部历史重新算一遍。它是一个生成过程，不是在反复核验。</a:t>
            </a:r>
          </a:p>
          <a:p>
            <a:r>
              <a:rPr lang="zh-CN" dirty="0"/>
              <a:t>第二，生成结束有两种情况。一种是模型认为写完了，另一种是达到了我们设定的长度限制。如果是后者，你拿到的可能只是一段被截断的回答。</a:t>
            </a:r>
          </a:p>
          <a:p>
            <a:r>
              <a:rPr lang="zh-CN" dirty="0"/>
              <a:t>所以你在对话框里看到一段完整的、结尾很自然的文字，也可能只是刚好停在了那里。这一点，后面讲到错误检查的时候还会用到。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我们沿着这条路径往下走，看看每一环具体在做什么。</a:t>
            </a:r>
          </a:p>
          <a:p>
            <a:r>
              <a:rPr lang="zh-CN" dirty="0"/>
              <a:t>一条"请安排阅读分享"，加上已经读进来的房间容量表，这些是实际输入。它们先变成数值表示，也就是分词、编号和向量，再加上位置顺序的信息。</a:t>
            </a:r>
          </a:p>
          <a:p>
            <a:r>
              <a:rPr lang="zh-CN" dirty="0"/>
              <a:t>接着是模型计算。模型在这里做的事，是根据已有的上下文，为接下来可能出现的片段分别算出分数。</a:t>
            </a:r>
          </a:p>
          <a:p>
            <a:r>
              <a:rPr lang="zh-CN" dirty="0"/>
              <a:t>然后是选择。按生成规则挑出一个片段，把它接到已有内容的后面。</a:t>
            </a:r>
          </a:p>
          <a:p>
            <a:r>
              <a:rPr lang="zh-CN" dirty="0"/>
              <a:t>接下来这一步很关键：把新生成的内容接回去，回到计算，再来一轮。这就是回环的含义——一次只往前走一小步。</a:t>
            </a:r>
          </a:p>
          <a:p>
            <a:r>
              <a:rPr lang="zh-CN" dirty="0"/>
              <a:t>什么时候停？两种情况：模型给出了结束信号，或者达到了我们设定的长度上限。第二种情况下，你拿到的回答可能是被截断的。</a:t>
            </a:r>
          </a:p>
          <a:p>
            <a:r>
              <a:rPr lang="zh-CN" dirty="0"/>
              <a:t>还有一点请记住：这个回环只是在生成，它不负责核对事实，也不负责执行工具。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沿着刚才的回环，有三个地方特别容易判断错，我们一个一个说。</a:t>
            </a:r>
          </a:p>
          <a:p>
            <a:r>
              <a:rPr lang="zh-CN" dirty="0"/>
              <a:t>第一是输入端。文件躺在电脑里，这件事本身没有任何意义。除非应用真的去读了它，并且把内容放进这一次的请求里，模型才可能用上它。所以在青禾这件事上，"房间容量表在我的电脑上"不等于"模型看到了容量表"。</a:t>
            </a:r>
          </a:p>
          <a:p>
            <a:r>
              <a:rPr lang="zh-CN" dirty="0"/>
              <a:t>第二是生成端。模型做的事是为接下来可能出现的片段打分，然后按规则选一个。它会一直生成，直到出现结束信号，或者撞到长度限制。整个过程中，它没有去查任何外部事实。</a:t>
            </a:r>
          </a:p>
          <a:p>
            <a:r>
              <a:rPr lang="zh-CN" dirty="0"/>
              <a:t>第三是显示端。你在屏幕上看到文字一个一个冒出来，这叫流式输出，它是一种呈现方式。它给人"正在思考、正在核对"的错觉，但实际上它只是在陆续显示已经生成的内容。</a:t>
            </a:r>
          </a:p>
          <a:p>
            <a:r>
              <a:rPr lang="zh-CN" dirty="0"/>
              <a:t>最后补一句：预测下一个片段，并不等于只会在字面上接词。模型能学到语法、概念、代码结构，甚至解题的模式。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还有一个问题没回答：模型怎么把相隔较远的信息联系起来？</a:t>
            </a:r>
          </a:p>
          <a:p>
            <a:r>
              <a:rPr lang="zh-CN" dirty="0"/>
              <a:t>先看一件具体的事。手作室的信息是"容量 12 人"，手作活动的信息是"拟安排 15 人"。这两条信息要一起用，才能得出"超出容量"这个判断。它们不是各自独立的，必须被放到一起比较。</a:t>
            </a:r>
          </a:p>
          <a:p>
            <a:r>
              <a:rPr lang="zh-CN" dirty="0"/>
              <a:t>还有一组对照很能说明问题。"甲交给乙"和"乙交给甲"，用的字完全一样，只是顺序不同，但意思正好相反。模型如果丢掉了顺序，这两句话就分不出来了。</a:t>
            </a:r>
          </a:p>
          <a:p>
            <a:r>
              <a:rPr lang="zh-CN" dirty="0"/>
              <a:t>支撑这两件事的，是 Transformer 里的注意力机制。它让不同位置的信息可以相互关联，同时位置与顺序的信息也参与计算。</a:t>
            </a:r>
          </a:p>
          <a:p>
            <a:r>
              <a:rPr lang="zh-CN" dirty="0"/>
              <a:t>这里有两点要提醒。第一，"注意力"是一个技术名称，它不表示模型有主观体验或者专注状态。第二，模型能关联信息，不等于它一定会把 12 和 15 比对，判断是否正确仍然要单独检查。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第四个知识块，我们把视角从"一次对话"拉到"一个模型的一生"。</a:t>
            </a:r>
          </a:p>
          <a:p>
            <a:r>
              <a:rPr lang="zh-CN" dirty="0"/>
              <a:t>今天我把房间容量表放进对话，模型立刻就能用上。那这算不算"我训练了它"？不算。</a:t>
            </a:r>
          </a:p>
          <a:p>
            <a:r>
              <a:rPr lang="zh-CN" dirty="0"/>
              <a:t>要把这件事说清楚，需要区分三个阶段。预训练，是在大量资料上学习广泛规律，参数会被改变。后训练，是用示范、反馈或者奖励去改善它的行为，参数继续被改变。而普通推理，也就是我们平时提问，用的是已经有的参数去处理当前的输入。</a:t>
            </a:r>
          </a:p>
          <a:p>
            <a:r>
              <a:rPr lang="zh-CN" dirty="0"/>
              <a:t>所以，我把今天的房间表交给它，改变的是这一次的上下文，不是模型本身。</a:t>
            </a:r>
          </a:p>
          <a:p>
            <a:r>
              <a:rPr lang="zh-CN" dirty="0"/>
              <a:t>这也解释了一个日常现象：今天讲给它的事，明天换一个对话，它就不一定知道了——因为我并没有改变它的参数，只是这一次让它看到了这份材料。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三个阶段的区别，我们用一句话来卡住它：看这一步会不会改参数。</a:t>
            </a:r>
          </a:p>
          <a:p>
            <a:r>
              <a:rPr lang="zh-CN" dirty="0"/>
              <a:t>预训练会改。它拿的是大量资料，做的是训练计算，目标是学会语言里的广泛规律，最后形成基础能力。</a:t>
            </a:r>
          </a:p>
          <a:p>
            <a:r>
              <a:rPr lang="zh-CN" dirty="0"/>
              <a:t>后训练也会改。它用的材料不一样，是示范、反馈和具体的任务材料；训练的目标也不一样，是改善行为，让它更适配我们想要的任务。</a:t>
            </a:r>
          </a:p>
          <a:p>
            <a:r>
              <a:rPr lang="zh-CN" dirty="0"/>
              <a:t>普通推理不改。我把今天的房间表和问题一起交给它，它用已经有的参数处理这次输入，生成本次的活动方案。参数在这轮里是保持不变的。</a:t>
            </a:r>
          </a:p>
          <a:p>
            <a:r>
              <a:rPr lang="zh-CN" dirty="0"/>
              <a:t>再说一句：后训练的方法有很多种，不是所有方法都能叫强化学习。有人用示范来教，有人用人类反馈来改进，它们改善行为的效果是真实的，但改善之后，模型仍然会犯错。</a:t>
            </a:r>
          </a:p>
          <a:p>
            <a:r>
              <a:rPr lang="zh-CN" dirty="0"/>
              <a:t>所以"告诉模型一件新事"，和"训练了一个新模型"，是两回事。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判断一个模型是不是"学会了"，可以问三个问题。以后每遇到一个"AI 好像学会了"的说法，都可以拿它们来问一遍。</a:t>
            </a:r>
          </a:p>
          <a:p>
            <a:r>
              <a:rPr lang="zh-CN" dirty="0"/>
              <a:t>第一行：如果你用大量资料去学习广泛的规律，那属于预训练，参数会更新。</a:t>
            </a:r>
          </a:p>
          <a:p>
            <a:r>
              <a:rPr lang="zh-CN" dirty="0"/>
              <a:t>第二行：如果你用示范、偏好或者奖励去改善它的行为，那属于后训练，参数同样会更新。</a:t>
            </a:r>
          </a:p>
          <a:p>
            <a:r>
              <a:rPr lang="zh-CN" dirty="0"/>
              <a:t>第三行，也是最常见的一行：你把今天的房间表放进请求里，这只是推理时提供上下文，参数通常不会更新。</a:t>
            </a:r>
          </a:p>
          <a:p>
            <a:r>
              <a:rPr lang="zh-CN" dirty="0"/>
              <a:t>做成表格的好处是，它把"我做了什么事"和"模型因此变了什么"这两件事分开了。</a:t>
            </a:r>
          </a:p>
          <a:p>
            <a:r>
              <a:rPr lang="zh-CN" dirty="0"/>
              <a:t>第三行的区别尤其重要。它意味着这份材料只在这一次的上下文里有效。换一个新的对话，如果你想让它继续用这份房间表，就必须重新提供。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这里只记一句话。</a:t>
            </a:r>
          </a:p>
          <a:p>
            <a:r>
              <a:rPr lang="zh-CN" dirty="0"/>
              <a:t>告诉模型一件新事，不等于训练了一个新模型。</a:t>
            </a:r>
          </a:p>
          <a:p>
            <a:r>
              <a:rPr lang="zh-CN" dirty="0"/>
              <a:t>这两个说法听起来差不多，但落在不同的阶段。我把今天的房间表交给它，改变的是这一次的上下文；训练一个新模型，改变的是模型自身的参数。前者今天有效，下一次未必还在；后者一旦完成，就会持续影响它以后所有的回答。</a:t>
            </a:r>
          </a:p>
          <a:p>
            <a:r>
              <a:rPr lang="zh-CN" dirty="0"/>
              <a:t>还要留一个心眼：后训练的方法有很多种，不是所有方法都能叫强化学习。用示范来教是一种，用人类反馈来改是另一种。它们确实能改善行为，但改善之后模型依然会犯错。</a:t>
            </a:r>
          </a:p>
          <a:p>
            <a:r>
              <a:rPr lang="zh-CN" dirty="0"/>
              <a:t>所以判断的落点不在"它是怎么被教出来的"，而在于：这一次，它看到的信息是什么，我们有没有独立核对过。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第五个知识块，我们处理一个特别容易含糊的问题：模型"知道"一件事，到底是哪一种知道。</a:t>
            </a:r>
          </a:p>
          <a:p>
            <a:r>
              <a:rPr lang="zh-CN" dirty="0"/>
              <a:t>答案不是一种，而是四种，而且它们进入回答的路径完全不同。</a:t>
            </a:r>
          </a:p>
          <a:p>
            <a:r>
              <a:rPr lang="zh-CN" dirty="0"/>
              <a:t>第一种是参数知识。它是训练过程中学到的规律，留在了参数里，直接影响每一次计算。</a:t>
            </a:r>
          </a:p>
          <a:p>
            <a:r>
              <a:rPr lang="zh-CN" dirty="0"/>
              <a:t>第二种是当前上下文。这一轮我给你的指令、之前几轮说过的话、应用读进来的资料和工具返回的结果，都属于这一种。</a:t>
            </a:r>
          </a:p>
          <a:p>
            <a:r>
              <a:rPr lang="zh-CN" dirty="0"/>
              <a:t>第三种是外部资料与工具。文件、数据库、预约查询服务都在这里，但它们必须由应用按需去读取，才能进入当前上下文。</a:t>
            </a:r>
          </a:p>
          <a:p>
            <a:r>
              <a:rPr lang="zh-CN" dirty="0"/>
              <a:t>第四种是应用持久记忆，比如存放下来的偏好、任务进度和历史记录。它同样要先被读出来，才能用上。</a:t>
            </a:r>
          </a:p>
          <a:p>
            <a:r>
              <a:rPr lang="zh-CN" dirty="0"/>
              <a:t>四种知道，路径不一样，检查方法也不一样。这是我们下一段要逐条看的。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信息要进入一次回答，必须走过一条明确的路径。</a:t>
            </a:r>
          </a:p>
          <a:p>
            <a:r>
              <a:rPr lang="zh-CN" dirty="0"/>
              <a:t>外部资料、工具、应用保存的记忆，还有我发出的消息，它们都停在模型外面。它们不会自动被模型看到。中间必须有一步：应用按需去选择、去读取，把真实内容带回来，放进当前上下文。</a:t>
            </a:r>
          </a:p>
          <a:p>
            <a:r>
              <a:rPr lang="zh-CN" dirty="0"/>
              <a:t>只有进了当前上下文，模型才能用上它。</a:t>
            </a:r>
          </a:p>
          <a:p>
            <a:r>
              <a:rPr lang="zh-CN" dirty="0"/>
              <a:t>参数知识走的是另一条路。它不经过读取这一步，而是直接参与模型的计算，因为它本来就在参数里。</a:t>
            </a:r>
          </a:p>
          <a:p>
            <a:r>
              <a:rPr lang="zh-CN" dirty="0"/>
              <a:t>所以有两条结论。</a:t>
            </a:r>
          </a:p>
          <a:p>
            <a:r>
              <a:rPr lang="zh-CN" dirty="0"/>
              <a:t>第一，文件在电脑里，不等于已经进入模型的上下文。这句话值得反复强调。</a:t>
            </a:r>
          </a:p>
          <a:p>
            <a:r>
              <a:rPr lang="zh-CN" dirty="0"/>
              <a:t>第二，检索增强生成，也就是把模型和可检索的资料结合起来，它为取用和更新信息提供了一条途径。但检索到资料之后，仍然要检查它有没有被用对——检索到和用对，是两件事。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四种"知道"的路径不同，所以它们的检查点也不同。我们逐条对齐。</a:t>
            </a:r>
          </a:p>
          <a:p>
            <a:r>
              <a:rPr lang="zh-CN" dirty="0"/>
              <a:t>如果是模型参数给出的信息，比如它说"开放日通常需要活动安排"，你要问的是：这条经验适不适用于当前这个问题，它会不会已经过时。</a:t>
            </a:r>
          </a:p>
          <a:p>
            <a:r>
              <a:rPr lang="zh-CN" dirty="0"/>
              <a:t>如果信息来自当前上下文，比如这一次我提供了"手作室容量 12 人"，你要问的是：它是不是真的送进去了，有没有被截断，有没有被读错。</a:t>
            </a:r>
          </a:p>
          <a:p>
            <a:r>
              <a:rPr lang="zh-CN" dirty="0"/>
              <a:t>如果信息来自外部资料和工具，比如查询十点的预约记录，你要问的是：这次查询是不是真的执行了，返回的到底是哪一条记录。</a:t>
            </a:r>
          </a:p>
          <a:p>
            <a:r>
              <a:rPr lang="zh-CN" dirty="0"/>
              <a:t>如果信息来自应用持久记忆，比如它保存了"第一版尚未核验预约"，你要问的是：这条记忆是不是真的保存下来了，有没有更新，需要的时候能不能读回来。</a:t>
            </a:r>
          </a:p>
          <a:p>
            <a:r>
              <a:rPr lang="zh-CN" dirty="0"/>
              <a:t>四种来源，四组问题。遇到错误时先定位来源，再问对应的问题，比笼统地说一句"AI 又幻觉了"有用得多。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最后一个知识块，我们处理两个经常被混成一句话的问题。</a:t>
            </a:r>
          </a:p>
          <a:p>
            <a:r>
              <a:rPr lang="zh-CN" dirty="0"/>
              <a:t>第一个问题：为什么同一个问题问两遍，回答会不一样？</a:t>
            </a:r>
          </a:p>
          <a:p>
            <a:r>
              <a:rPr lang="zh-CN" dirty="0"/>
              <a:t>第二个问题：为什么它会说错？</a:t>
            </a:r>
          </a:p>
          <a:p>
            <a:r>
              <a:rPr lang="zh-CN" dirty="0"/>
              <a:t>很多人把这两个问题合成一个判断——"稳定就可靠，不稳定就不可靠"。这个判断是错的。</a:t>
            </a:r>
          </a:p>
          <a:p>
            <a:r>
              <a:rPr lang="zh-CN" dirty="0"/>
              <a:t>因为这里其实是两个独立的维度。一个维度是措辞是否稳定，也就是两次回答像不像。另一个维度是事实是否正确，也就是它说的和实际情况符不符。这两个维度可以自由组合，四个格子都可能出现。</a:t>
            </a:r>
          </a:p>
          <a:p>
            <a:r>
              <a:rPr lang="zh-CN" dirty="0"/>
              <a:t>接下来的两页，我们先把这两个维度分开，再看几个具体的错误该怎么查。</a:t>
            </a:r>
          </a:p>
          <a:p>
            <a:r>
              <a:rPr lang="zh-CN" dirty="0"/>
              <a:t>先说一个前提：不管是哪个维度，都需要一个判断的依据。在青禾这件事里，依据就是房间容量表上写着十二个名额，以及本次并没有执行预约。没有这份依据，两个维度都无从谈起。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我们用一个具体的依据把四个格子填上。依据是两条：房间容量是十二人，本次没有执行预约。</a:t>
            </a:r>
          </a:p>
          <a:p>
            <a:r>
              <a:rPr lang="zh-CN" dirty="0"/>
              <a:t>先看上面两个格子，它们对应"两次回答几乎一样"的情况。如果两次都说"容量十二人、还没有预约"，那既稳定又正确，这是我们想要的。但如果两次都说"容量十五人、已经预约"，注意——它稳定，但它错得很稳定。多问几遍得到同样的答案，并不能把错误变成正确。</a:t>
            </a:r>
          </a:p>
          <a:p>
            <a:r>
              <a:rPr lang="zh-CN" dirty="0"/>
              <a:t>再看下面两个格子，对应"两次措辞不一样"的情况。一次说"容量十二人、未预约"，另一次说"最多十二人、尚未预约"，用词变了，事实一致，这仍然可以用。但如果一次说"未预约"、另一次说"已预约"，那就是变化之中夹着错误。</a:t>
            </a:r>
          </a:p>
          <a:p>
            <a:r>
              <a:rPr lang="zh-CN" dirty="0"/>
              <a:t>所以重复出现不等于可靠，措辞变化也不等于出错。</a:t>
            </a:r>
          </a:p>
          <a:p>
            <a:r>
              <a:rPr lang="zh-CN" dirty="0"/>
              <a:t>最后一句要记住：把随机性调低，可能让差异变小，但它不能保证正确，也不能保证完全重现。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既然"稳定"不等于"正确"，那我们该用什么方式记录错误？</a:t>
            </a:r>
          </a:p>
          <a:p>
            <a:r>
              <a:rPr lang="zh-CN" dirty="0"/>
              <a:t>答案是：不要只记一个"幻觉"，要记下具体是什么错，以及该去哪里查。</a:t>
            </a:r>
          </a:p>
          <a:p>
            <a:r>
              <a:rPr lang="zh-CN" dirty="0"/>
              <a:t>第一类，数字错。它说"手作室可以容纳十五人"。那就要问：容量表提供给它了吗？如果提供了，它用对了吗？</a:t>
            </a:r>
          </a:p>
          <a:p>
            <a:r>
              <a:rPr lang="zh-CN" dirty="0"/>
              <a:t>第二类，动作错。它说"已经完成预约"，但系统里查不到记录。那就去查工具是不是真的执行了，返回值是不是成功。</a:t>
            </a:r>
          </a:p>
          <a:p>
            <a:r>
              <a:rPr lang="zh-CN" dirty="0"/>
              <a:t>第三类，逻辑错。它的解释写得很完整，很通顺，但安排本身还是冲突。这说明还要再用独立的方式校验一遍数字、引用和业务约束。</a:t>
            </a:r>
          </a:p>
          <a:p>
            <a:r>
              <a:rPr lang="zh-CN" dirty="0"/>
              <a:t>把错误落到具体的类别上，你才可能修好它。只说"AI 又胡说"，既找不到原因，也改不动流程。</a:t>
            </a:r>
          </a:p>
          <a:p>
            <a:r>
              <a:rPr lang="zh-CN" dirty="0"/>
              <a:t>这就是开头那件事的下一步：不是换个说法再问一遍，而是把该提供的材料补上，把该查的记录查一遍，把候选方案逐条检查。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我们回到开头那件事。助手写出了一份方案，容量和时段都出了问题。现在我们知道该怎么做了。</a:t>
            </a:r>
          </a:p>
          <a:p>
            <a:r>
              <a:rPr lang="zh-CN" dirty="0"/>
              <a:t>第一步，提供容量表。把"手作室容量十二人"这条信息，放进这一次的请求里。注意，是放进请求，不是放在电脑里等它自己发现。</a:t>
            </a:r>
          </a:p>
          <a:p>
            <a:r>
              <a:rPr lang="zh-CN" dirty="0"/>
              <a:t>第二步，查询预约。让工具真的去查一次十点这个房间的记录。查了才知道，不查就只能猜。</a:t>
            </a:r>
          </a:p>
          <a:p>
            <a:r>
              <a:rPr lang="zh-CN" dirty="0"/>
              <a:t>第三步，检查候选方案。拿到真实数据之后，逐条比对：人数有没有超，时段有没有撞。这一步必须独立做，不能只看它写得顺不顺。</a:t>
            </a:r>
          </a:p>
          <a:p>
            <a:r>
              <a:rPr lang="zh-CN" dirty="0"/>
              <a:t>这三步补的是材料、记录和校验，不是换一种说法重新问一遍。</a:t>
            </a:r>
          </a:p>
          <a:p>
            <a:r>
              <a:rPr lang="zh-CN" dirty="0"/>
              <a:t>下一节 1.2，我们继续解释这些能力在应用里是怎样配合起来的。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我们把这一节收一下。五句话，请大家带走。</a:t>
            </a:r>
          </a:p>
          <a:p>
            <a:r>
              <a:rPr lang="zh-CN" dirty="0"/>
              <a:t>第一句，会写不等于写得对。模型能写出通顺、完整、看起来很专业的方案，但通顺和正确是两回事。我们开头那份开放日方案就是例子。</a:t>
            </a:r>
          </a:p>
          <a:p>
            <a:r>
              <a:rPr lang="zh-CN" dirty="0"/>
              <a:t>第二句，Token 是片段，不是字数。一个片段可能是字、词的一部分或者标点，没有固定换算。编号负责查位置，向量负责参与计算，它们都不等于词义。</a:t>
            </a:r>
          </a:p>
          <a:p>
            <a:r>
              <a:rPr lang="zh-CN" dirty="0"/>
              <a:t>第三句，回答是一步一步接上去的。模型每生成一个片段，就把它接回已有内容，再继续。它停下来，可能是写完了，也可能是撞到了长度上限。</a:t>
            </a:r>
          </a:p>
          <a:p>
            <a:r>
              <a:rPr lang="zh-CN" dirty="0"/>
              <a:t>第四句，训练改的是参数，日常提问通常只改这一次的上下文。今天交给它的材料，下一次不一定还在。</a:t>
            </a:r>
          </a:p>
          <a:p>
            <a:r>
              <a:rPr lang="zh-CN" dirty="0"/>
              <a:t>第五句，出错的时候不要只说"幻觉"。记录具体错在哪，定位它是参数、上下文、外部资料还是持久记忆的问题，检查才有落点。</a:t>
            </a:r>
          </a:p>
          <a:p>
            <a:r>
              <a:rPr lang="zh-CN" dirty="0"/>
              <a:t>这五句话，就是我们后面阅读评测指标时的底子。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2" Type="http://schemas.openxmlformats.org/officeDocument/2006/relationships/notesSlide" Target="../notesSlides/notesSlide26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先从一件小事讲起。青禾社区学习中心要办一次开放日，我们在对话框里写下一句话：请为一个上午安排阅读分享、手作体验和自由交流。助手很快给出一份完整方案，时间、场地、人数、流程都写得像模像样。&#10;&#10;但这份方案里有两个硬条件没有通过。它把手作活动安排成十五个人，而手作室只能容纳十二个；它把时间定在十点，而十点这个房间已经有别的预约。两处都写得很自然，语气也很有把握，可它们都是错的。&#10;&#10;这就是这一节要建立的习惯：文字读起来流畅，和它是否经过核验，是完全不同的两件事。模型是通过大规模训练学习语言规律的，它根据当前上下文处理和生成语言，能写出漂亮的句子，但这不意味着它核对过房间容量，也不意味着它查过预约记录。&#10;&#10;接下来我们一层层看清楚：它到底在做什么，我们又凭什么判断它做得对不对。`} style={{ width: 1280, height: 720, background: '#FFFFFF', flexDirection: 'row', padding: '20px 64px', gap: 44 }}&gt;&#10;&#10;    &lt;Box style={{ width: 596, height: 680, flexDirection: 'column', justifyContent: 'center', gap: 10 }}&gt;&#10;&#10;        &lt;Text style={{ fontSize: 14, color: '#546779' }}&gt;青禾社区学习中心 · 开放日安排&lt;/Text&gt;&#10;&#10;        &lt;Box style={{ width: 596, background: '#EDF4FC', borderRadius: 8, padding: '14px 18px', flexDirection: 'column', gap: 4, border: '1px solid #B5C7D8' }}&gt;&#10;            &lt;Text style={{ fontSize: 14, color: '#546779' }}&gt;用户的请求&lt;/Text&gt;&#10;            &lt;Text style={{ fontSize: 18, color: '#20344B' }}&gt;请安排一个上午的开放日，包括阅读分享、手作体验和自由交流&lt;/Text&gt;&#10;        &lt;/Box&gt;&#10;&#10;        &lt;Box style={{ width: 596, alignItems: 'center' }}&gt;&#10;            &lt;Text style={{ fontSize: 20, color: '#276FBF' }}&gt;↓&lt;/Text&gt;&#10;        &lt;/Box&gt;&#10;&#10;        &lt;Box style={{ width: 596, background: '#FFFFFF', borderRadius: 8, padding: '14px 18px', flexDirection: 'column', gap: 4, border: '1px solid #276FBF' }}&gt;&#10;            &lt;Text style={{ fontSize: 14, color: '#276FBF' }}&gt;助手写出的候选方案&lt;/Text&gt;&#10;            &lt;Text style={{ fontSize: 18, color: '#20344B' }}&gt;10:00 · 手作室 · 15 人&lt;/Text&gt;&#10;        &lt;/Box&gt;&#10;&#10;        &lt;Box style={{ width: 596, flexDirection: 'row', gap: 16 }}&gt;&#10;            &lt;Box style={{ width: 290, background: '#FFF4E6', borderRadius: 8, padding: '12px 16px', flexDirection: 'column', gap: 4, border: '1px solid #CB6B28' }}&gt;&#10;                &lt;Text style={{ fontSize: 14, color: '#CB6B28' }}&gt;查容量&lt;/Text&gt;&#10;                &lt;Text style={{ fontSize: 17, color: '#20344B' }}&gt;手作室只有 12 个名额&lt;/Text&gt;&#10;                &lt;Text style={{ fontSize: 17, color: '#CB6B28', fontWeight: 'bold' }}&gt;15 大于 12，超出 3 人&lt;/Text&gt;&#10;            &lt;/Box&gt;&#10;            &lt;Box style={{ width: 290, background: '#FFF4E6', borderRadius: 8, padding: '12px 16px', flexDirection: 'column', gap: 4, border: '1px solid #CB6B28' }}&gt;&#10;                &lt;Text style={{ fontSize: 14, color: '#CB6B28' }}&gt;查预约&lt;/Text&gt;&#10;                &lt;Text style={{ fontSize: 17, color: '#20344B' }}&gt;10:00 该房间已有占用&lt;/Text&gt;&#10;                &lt;Text style={{ fontSize: 17, color: '#CB6B28', fontWeight: 'bold' }}&gt;同房间、同时段冲突&lt;/Text&gt;&#10;            &lt;/Box&gt;&#10;        &lt;/Box&gt;&#10;&#10;        &lt;Box style={{ width: 596, background: '#20344B', borderRadius: 8, padding: '12px 18px' }}&gt;&#10;            &lt;Text style={{ fontSize: 17, color: '#FFFFFF' }}&gt;两项独立检查都没通过 —— 方案需要修改&lt;/Text&gt;&#10;        &lt;/Box&gt;&#10;&#10;    &lt;/Box&gt;&#10;&#10;    &lt;Box style={{ flex: 1, height: 680, flexDirection: 'column', justifyContent: 'center', gap: 14 }}&gt;&#10;        &lt;Text style={{ fontSize: 14, color: '#276FBF' }}&gt;第一章　认识大模型，读懂能力与评价&lt;/Text&gt;&#10;        &lt;Text style={{ fontSize: 52, fontWeight: 'bold', color: '#20344B', lineHeight: 1.2 }}&gt;1.1 从一个回答出发&lt;/Text&gt;&#10;        &lt;Text style={{ fontSize: 30, fontWeight: 'bold', color: '#26816B' }}&gt;什么是大模型&lt;/Text&gt;&#10;        &lt;Box style={{ width: 64, height: 3, background: '#276FBF' }} /&gt;&#10;        &lt;Text style={{ fontSize: 17, color: '#546779', lineHeight: 1.6 }}&gt;它写得很流畅，但这不等于事实已经核验过。容量与时段，是两项必须分开做的检查。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1676400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青禾社区学习中心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开放日安排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609600" y="1933575"/>
            <a:ext cx="5676900" cy="676275"/>
          </a:xfrm>
          <a:prstGeom prst="roundRect">
            <a:avLst>
              <a:gd name="adj" fmla="val 11268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81050" y="2066925"/>
            <a:ext cx="533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用户的请求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81050" y="2266950"/>
            <a:ext cx="533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请安排一个上午的开放日，包括阅读分享、手作体验和自由交流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3400425" y="27051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3028950"/>
            <a:ext cx="56769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276FBF"/>
            </a:solidFill>
            <a:prstDash val="solid"/>
          </a:ln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81050" y="3162300"/>
            <a:ext cx="533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助手写出的候选方案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81050" y="3362325"/>
            <a:ext cx="533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0344B"/>
                </a:solidFill>
                <a:latin typeface="Microsoft YaHei"/>
                <a:ea typeface="Microsoft YaHei"/>
              </a:rPr>
              <a:t xml:space="preserve">10:00 · </a:t>
            </a: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手作室</a:t>
            </a:r>
            <a:r>
              <a:rPr lang="en-US" sz="135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15 </a:t>
            </a: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09600" y="3800475"/>
            <a:ext cx="2762250" cy="866775"/>
          </a:xfrm>
          <a:prstGeom prst="roundRect">
            <a:avLst>
              <a:gd name="adj" fmla="val 8791"/>
            </a:avLst>
          </a:prstGeom>
          <a:solidFill>
            <a:srgbClr val="FFF4E6"/>
          </a:solidFill>
          <a:ln w="12700">
            <a:solidFill>
              <a:srgbClr val="CB6B28"/>
            </a:solidFill>
            <a:prstDash val="solid"/>
          </a:ln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2000" y="3914775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查容量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2000" y="4114800"/>
            <a:ext cx="2457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手作室只有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个名额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62000" y="4352925"/>
            <a:ext cx="2457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15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大于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12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，超出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3524250" y="3800475"/>
            <a:ext cx="2762250" cy="866775"/>
          </a:xfrm>
          <a:prstGeom prst="roundRect">
            <a:avLst>
              <a:gd name="adj" fmla="val 8791"/>
            </a:avLst>
          </a:prstGeom>
          <a:solidFill>
            <a:srgbClr val="FFF4E6"/>
          </a:solidFill>
          <a:ln w="12700">
            <a:solidFill>
              <a:srgbClr val="CB6B28"/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676650" y="3914775"/>
            <a:ext cx="245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查预约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676650" y="4114800"/>
            <a:ext cx="2457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10:00 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该房间已有占用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676650" y="4352925"/>
            <a:ext cx="2457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同房间、同时段冲突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" y="4762500"/>
            <a:ext cx="5676900" cy="428625"/>
          </a:xfrm>
          <a:prstGeom prst="roundRect">
            <a:avLst>
              <a:gd name="adj" fmla="val 17778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81050" y="4876800"/>
            <a:ext cx="533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两项独立检查都没通过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方案需要修改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705600" y="2228850"/>
            <a:ext cx="487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第一章　认识大模型，读懂能力与评价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705600" y="2524125"/>
            <a:ext cx="48768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9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705600" y="3371850"/>
            <a:ext cx="4876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26816B"/>
                </a:solidFill>
                <a:latin typeface="Microsoft YaHei"/>
                <a:ea typeface="Microsoft YaHei"/>
              </a:rPr>
              <a:t>什么是大模型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705600" y="3848100"/>
            <a:ext cx="6096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705600" y="4010025"/>
            <a:ext cx="48768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它写得很流畅，但这不等于事实已经核验过。容量与时段，是两项必须分开做的检查。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17" name="" descr="&lt;Slide notes={`这一节有六个知识块，但它们不是六个互不相干的知识点，而是在回答同一个问题：模型会写，我们凭什么判断它写得对。&#10;&#10;前两个知识块先把基础概念立住。第一个讲归属：人工智能、机器学习、深度学习和大语言模型之间是什么关系，&quot;大&quot;到底由哪些量描述。第二个讲 Token：文字要先变成模型能计算的片段，而且本次请求还要占用一份有限的上下文空间。&#10;&#10;中间两个知识块讲过程。第三个讲一段回答是怎么一步步生成的，以及模型怎样把相隔较远的信息联系起来。第四个讲模型从训练走到使用的路径，预训练、后训练和推理，改的是参数还是上下文。&#10;&#10;最后两个知识块落到判断上。第五个把回答里的信息来源分成四种，参数、当前上下文、外部资料和持久记忆。第六个讲回答为什么会变，以及我们该怎样看待&quot;幻觉&quot;。&#10;&#10;六个块连起来，就是你手里的第一套检查方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导读&lt;/Text&gt;&#10;            &lt;Text style={{ fontSize: 34, fontWeight: 'bold', color: '#20344B' }}&gt;六个知识块，一个核心问题&lt;/Text&gt;&#10;        &lt;/Box&gt;&#10;    &lt;/Box&gt;&#10;&#10;    &lt;Box style={{ height: 540, flexDirection: 'row', gap: 40 }}&gt;&#10;&#10;        &lt;Box style={{ width: 360, flexDirection: 'column', justifyContent: 'center', gap: 16 }}&gt;&#10;            &lt;Text style={{ fontSize: 26, fontWeight: 'bold', color: '#276FBF', lineHeight: 1.4 }}&gt;模型会写，我们凭什么判断它写得对？&lt;/Text&gt;&#10;            &lt;Box style={{ width: 56, height: 3, background: '#26816B' }} /&gt;&#10;            &lt;Text style={{ fontSize: 17, color: '#546779', lineHeight: 1.7 }}&gt;下面的六个知识块从前到后递进：先立概念，再看过程，最后落到判断。每一个都带着青禾开放日这件事继续往下走。&lt;/Text&gt;&#10;        &lt;/Box&gt;&#10;&#10;        &lt;Box style={{ flex: 1, flexDirection: 'column', justifyContent: 'center', gap: 12 }}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1&lt;/Text&gt;&#10;                &lt;/Box&gt;&#10;                &lt;Box style={{ flexDirection: 'column', gap: 2 }}&gt;&#10;                    &lt;Text style={{ fontSize: 20, fontWeight: 'bold', color: '#20344B' }}&gt;从人工智能到大语言模型&lt;/Text&gt;&#10;                    &lt;Text style={{ fontSize: 16, color: '#546779' }}&gt;先弄清技术归属，再看&quot;大&quot;由哪些量描述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2&lt;/Text&gt;&#10;                &lt;/Box&gt;&#10;                &lt;Box style={{ flexDirection: 'column', gap: 2 }}&gt;&#10;                    &lt;Text style={{ fontSize: 20, fontWeight: 'bold', color: '#20344B' }}&gt;Token：文字怎样变成可计算的输入&lt;/Text&gt;&#10;                    &lt;Text style={{ fontSize: 16, color: '#546779' }}&gt;文本先变成片段，本次请求又要占用一份有限容量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3&lt;/Text&gt;&#10;                &lt;/Box&gt;&#10;                &lt;Box style={{ flexDirection: 'column', gap: 2 }}&gt;&#10;                    &lt;Text style={{ fontSize: 20, fontWeight: 'bold', color: '#20344B' }}&gt;一段回答是怎样生成的&lt;/Text&gt;&#10;                    &lt;Text style={{ fontSize: 16, color: '#546779' }}&gt;一步接一步地生成，还要处理关联与顺序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4&lt;/Text&gt;&#10;                &lt;/Box&gt;&#10;                &lt;Box style={{ flexDirection: 'column', gap: 2 }}&gt;&#10;                    &lt;Text style={{ fontSize: 20, fontWeight: 'bold', color: '#20344B' }}&gt;模型如何从训练走到使用&lt;/Text&gt;&#10;                    &lt;Text style={{ fontSize: 16, color: '#546779' }}&gt;预训练、后训练与推理，三者改的东西不同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5&lt;/Text&gt;&#10;                &lt;/Box&gt;&#10;                &lt;Box style={{ flexDirection: 'column', gap: 2 }}&gt;&#10;                    &lt;Text style={{ fontSize: 20, fontWeight: 'bold', color: '#20344B' }}&gt;四种容易混在一起的&quot;知道&quot;&lt;/Text&gt;&#10;                    &lt;Text style={{ fontSize: 16, color: '#546779' }}&gt;参数、当前上下文、外部资料与持久记忆&lt;/Text&gt;&#10;                &lt;/Box&gt;&#10;            &lt;/Box&gt;&#10;&#10;            &lt;Box style={{ flexDirection: 'row', gap: 16, alignItems: 'center' }}&gt;&#10;                &lt;Box style={{ width: 44, height: 44, borderRadius: 8, background: '#CB6B28', justifyContent: 'center', alignItems: 'center' }}&gt;&#10;                    &lt;Text style={{ fontSize: 18, fontWeight: 'bold', color: '#FFFFFF' }}&gt;06&lt;/Text&gt;&#10;                &lt;/Box&gt;&#10;                &lt;Box style={{ flexDirection: 'column', gap: 2 }}&gt;&#10;                    &lt;Text style={{ fontSize: 20, fontWeight: 'bold', color: '#20344B' }}&gt;为什么回答会变化，为什么会有&quot;幻觉&quot;&lt;/Text&gt;&#10;                    &lt;Text style={{ fontSize: 16, color: '#546779' }}&gt;稳定性与正确性，是两个必须分开的维度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02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本节导读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六个知识块，一个核心问题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09600" y="2628900"/>
            <a:ext cx="34290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76FBF"/>
                </a:solidFill>
                <a:latin typeface="Microsoft YaHei"/>
                <a:ea typeface="Microsoft YaHei"/>
              </a:rPr>
              <a:t>模型会写，我们凭什么判断它写得对？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09600" y="3619500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09600" y="3800475"/>
            <a:ext cx="34290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下面的六个知识块从前到后递进：先立概念，再看过程，最后落到判断。每一个都带着青禾开放日这件事继续往下走。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4419600" y="21240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524375" y="22288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991100" y="2114550"/>
            <a:ext cx="2724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从人工智能到大语言模型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991100" y="2362200"/>
            <a:ext cx="2724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先弄清技术归属，再看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大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由哪些量描述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4419600" y="26765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524375" y="27813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991100" y="2667000"/>
            <a:ext cx="335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Token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：文字怎样变成可计算的输入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991100" y="2914650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文本先变成片段，本次请求又要占用一份有限容量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4419600" y="32289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524375" y="33337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991100" y="3219450"/>
            <a:ext cx="274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一段回答是怎样生成的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991100" y="3467100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一步接一步地生成，还要处理关联与顺序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4419600" y="3781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524375" y="38862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991100" y="3771900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模型如何从训练走到使用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991100" y="4019550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预训练、后训练与推理，三者改的东西不同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4419600" y="43338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524375" y="44386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991100" y="4324350"/>
            <a:ext cx="274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四种容易混在一起的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知道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991100" y="4572000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参数、当前上下文、外部资料与持久记忆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4419600" y="48863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524375" y="49911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991100" y="4876800"/>
            <a:ext cx="3248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为什么回答会变化，为什么会有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幻觉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991100" y="5124450"/>
            <a:ext cx="3248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稳定性与正确性，是两个必须分开的维度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38" name="" descr="&lt;Slide notes={`第一个问题看起来很基础，却最容易含糊过去：我们今天说的大模型，到底属于什么。&#10;&#10;先把范围摆清楚。人工智能是一个很大的领域，识别、预测、规划、行动都在里面。机器学习是它的一个子集，做法是从数据里调整参数；深度学习又是机器学习的一个子集，用多层神经网络来做这件事；我们现在说的大语言模型，属于深度学习之中的一类。&#10;&#10;再提醒一句：你还会听到&quot;基础模型&quot;&quot;多模态&quot;这样的说法。这些是命名的角度，不是大语言模型下面互斥的子类。一个模型可以既是大语言模型，又被称为基础模型，还可能具备多模态能力，它们可以重叠。&#10;&#10;最后是&quot;大&quot;这个字。参数规模、训练数据量、训练计算量，是三个不同的量。`} style={{ width: 1280, height: 720, background: '#F4F7FA', flexDirection: 'column', padding: '20px 64px' }}&gt;&#10;&#10;    &lt;Box style={{ height: 240, flexDirection: 'column', justifyContent: 'center', alignItems: 'center', gap: 12 }}&gt;&#10;        &lt;Text style={{ fontSize: 14, color: '#276FBF' }}&gt;知识块 01&lt;/Text&gt;&#10;        &lt;Text style={{ fontSize: 56, fontWeight: 'bold', color: '#20344B', lineHeight: 1.15 }}&gt;从人工智能到大语言模型&lt;/Text&gt;&#10;        &lt;Box style={{ width: 72, height: 3, background: '#276FBF' }} /&gt;&#10;        &lt;Text style={{ fontSize: 20, color: '#546779' }}&gt;先弄清归属，再看&quot;大&quot;究竟由哪些量描述&lt;/Text&gt;&#10;    &lt;/Box&gt;&#10;&#10;    &lt;Box style={{ height: 400, justifyContent: 'center', alignItems: 'center' }}&gt;&#10;        &lt;Box style={{ width: 620, height: 300, borderRadius: 12, border: '1px solid #B5C7D8', background: '#FFFFFF', padding: 20, flexDirection: 'column', justifyContent: 'center', gap: 10 }}&gt;&#10;            &lt;Text style={{ fontSize: 16, color: '#546779' }}&gt;人工智能　AI&lt;/Text&gt;&#10;            &lt;Box style={{ width: '100%', height: 200, borderRadius: 10, background: '#EDF4FC', padding: 18, flexDirection: 'column', justifyContent: 'center', gap: 10 }}&gt;&#10;                &lt;Text style={{ fontSize: 16, color: '#546779' }}&gt;机器学习　ML&lt;/Text&gt;&#10;                &lt;Box style={{ width: '100%', height: 130, borderRadius: 8, background: '#D9E8F8', padding: 16, flexDirection: 'column', justifyContent: 'center', gap: 10 }}&gt;&#10;                    &lt;Text style={{ fontSize: 16, color: '#546779' }}&gt;深度学习　DL&lt;/Text&gt;&#10;                    &lt;Box style={{ width: '100%', height: 62, borderRadius: 6, background: '#276FBF', justifyContent: 'center', alignItems: 'center' }}&gt;&#10;                        &lt;Text style={{ fontSize: 20, fontWeight: 'bold', color: '#FFFFFF' }}&gt;大语言模型 LLM&lt;/Text&gt;&#10;                    &lt;/Box&gt;&#10;                &lt;/Box&gt;&#10;            &lt;/Box&gt;&#10;        &lt;/Box&gt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03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5800725" y="581025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知识块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01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3162300" y="857250"/>
            <a:ext cx="58674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从人工智能到大语言模型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5753100" y="1714500"/>
            <a:ext cx="6858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4391025" y="1857375"/>
            <a:ext cx="3409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546779"/>
                </a:solidFill>
                <a:latin typeface="Microsoft YaHei"/>
                <a:ea typeface="Microsoft YaHei"/>
              </a:rPr>
              <a:t>先弄清归属，再看</a:t>
            </a:r>
            <a:r>
              <a:rPr lang="en-US" sz="15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546779"/>
                </a:solidFill>
                <a:latin typeface="Microsoft YaHei"/>
                <a:ea typeface="Microsoft YaHei"/>
              </a:rPr>
              <a:t>大</a:t>
            </a:r>
            <a:r>
              <a:rPr lang="en-US" sz="15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546779"/>
                </a:solidFill>
                <a:latin typeface="Microsoft YaHei"/>
                <a:ea typeface="Microsoft YaHei"/>
              </a:rPr>
              <a:t>究竟由哪些量描述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3143250" y="2952750"/>
            <a:ext cx="59055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3333750" y="3286125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人工智能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AI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3333750" y="3571875"/>
            <a:ext cx="5524500" cy="1905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3505200" y="3762375"/>
            <a:ext cx="518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机器学习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ML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3505200" y="4048125"/>
            <a:ext cx="5181600" cy="1238250"/>
          </a:xfrm>
          <a:prstGeom prst="roundRect">
            <a:avLst>
              <a:gd name="adj" fmla="val 6154"/>
            </a:avLst>
          </a:prstGeom>
          <a:solidFill>
            <a:srgbClr val="D9E8F8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3657600" y="4229100"/>
            <a:ext cx="487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深度学习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DL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3657600" y="4514850"/>
            <a:ext cx="4876800" cy="590550"/>
          </a:xfrm>
          <a:prstGeom prst="roundRect">
            <a:avLst>
              <a:gd name="adj" fmla="val 96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5391150" y="4695825"/>
            <a:ext cx="1419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大语言模型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LLM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54" name="" descr="&lt;Slide notes={`我们把范围画清楚。人工智能是一个很大的领域，识别、预测、规划、行动都在里面。机器学习是它的一个子集，做法是从数据里调整参数。深度学习又是机器学习的一个子集，用多层神经网络来完成这件事。我们今天说的大语言模型，就落在深度学习这一类里面。&#10;&#10;这里有一处很容易混的地方：你还会听到&quot;基础模型&quot;&quot;多模态&quot;这样的说法。请注意，它们是命名的角度，不是大语言模型下面互斥的子类。一个模型可以既是大语言模型，又被称为基础模型，还可能具备多模态能力——这些标签可以重叠。&#10;&#10;再看&quot;大&quot;这个字。它没有统一的门槛。参数规模说的是训练中调整的数值有多少，训练数据量说的是训练时用了多少资料，训练计算量说的是训练投入了多少计算。这是三个不同的量。&#10;&#10;计算最优训练的研究还告诉我们，在同一个预算下，模型规模和数据量怎么分配是会互相影响的，所以不能只追求把参数堆得更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1.1　从人工智能到大语言模型&lt;/Text&gt;&#10;            &lt;Text style={{ fontSize: 34, fontWeight: 'bold', color: '#20344B' }}&gt;技术归属，与&quot;大&quot;的三个维度&lt;/Text&gt;&#10;        &lt;/Box&gt;&#10;    &lt;/Box&gt;&#10;&#10;    &lt;Box style={{ height: 540, flexDirection: 'row', gap: 40, alignItems: 'center' }}&gt;&#10;&#10;        &lt;Box style={{ width: 640, flexDirection: 'column', justifyContent: 'center' }}&gt;&#10;&#10;            &lt;Box style={{ width: 640, height: 274, borderRadius: 12, border: '1px solid #B5C7D8', background: '#F7FAFD', padding: 18, flexDirection: 'column', gap: 10 }}&gt;&#10;                &lt;Box style={{ flexDirection: 'row', justifyContent: 'space-between', alignItems: 'center' }}&gt;&#10;                    &lt;Text style={{ fontSize: 20, fontWeight: 'bold', color: '#20344B' }}&gt;人工智能　AI&lt;/Text&gt;&#10;                    &lt;Text style={{ fontSize: 15, color: '#546779' }}&gt;识别、预测、规划、行动&lt;/Text&gt;&#10;                &lt;/Box&gt;&#10;                &lt;Box style={{ width: '100%', height: 198, borderRadius: 10, background: '#EDF4FC', padding: 16, flexDirection: 'column', gap: 10 }}&gt;&#10;                    &lt;Box style={{ flexDirection: 'row', justifyContent: 'space-between', alignItems: 'center' }}&gt;&#10;                        &lt;Text style={{ fontSize: 19, fontWeight: 'bold', color: '#20344B' }}&gt;机器学习　ML&lt;/Text&gt;&#10;                        &lt;Text style={{ fontSize: 15, color: '#546779' }}&gt;从数据中调整参数&lt;/Text&gt;&#10;                    &lt;/Box&gt;&#10;                    &lt;Box style={{ width: '100%', height: 126, borderRadius: 8, background: '#D6E6F7', padding: 14, flexDirection: 'column', gap: 10 }}&gt;&#10;                        &lt;Box style={{ flexDirection: 'row', justifyContent: 'space-between', alignItems: 'center' }}&gt;&#10;                            &lt;Text style={{ fontSize: 18, fontWeight: 'bold', color: '#20344B' }}&gt;深度学习　DL&lt;/Text&gt;&#10;                            &lt;Text style={{ fontSize: 15, color: '#546779' }}&gt;多层神经网络&lt;/Text&gt;&#10;                        &lt;/Box&gt;&#10;                        &lt;Box style={{ width: '100%', height: 62, borderRadius: 6, background: '#276FBF', justifyContent: 'center', alignItems: 'center' }}&gt;&#10;                            &lt;Text style={{ fontSize: 20, fontWeight: 'bold', color: '#FFFFFF' }}&gt;大语言模型 LLM&lt;/Text&gt;&#10;                        &lt;/Box&gt;&#10;                    &lt;/Box&gt;&#10;                &lt;/Box&gt;&#10;            &lt;/Box&gt;&#10;&#10;            &lt;Text style={{ fontSize: 14, color: '#546779', marginTop: 12 }}&gt;包含关系示意：内层属于外层，不是并列的四种技术&lt;/Text&gt;&#10;&#10;        &lt;/Box&gt;&#10;&#10;        &lt;Box style={{ flex: 1, flexDirection: 'column', justifyContent: 'center', gap: 18 }}&gt;&#10;&#10;            &lt;Box style={{ flexDirection: 'column', gap: 8, background: '#ECF7F2', borderRadius: 10, padding: '16px 18px' }}&gt;&#10;                &lt;Text style={{ fontSize: 20, fontWeight: 'bold', color: '#26816B' }}&gt;&quot;基础模型&quot;&quot;多模态&quot;是命名角度&lt;/Text&gt;&#10;                &lt;Text style={{ fontSize: 16, color: '#546779', lineHeight: 1.6 }}&gt;它们可以重叠，并不是大语言模型下面的互斥子类。&lt;/Text&gt;&#10;            &lt;/Box&gt;&#10;&#10;            &lt;Box style={{ flexDirection: 'column', gap: 12 }}&gt;&#10;                &lt;Text style={{ fontSize: 20, fontWeight: 'bold', color: '#20344B' }}&gt;&quot;大&quot;由哪三个量描述&lt;/Text&gt;&#10;&#10;                &lt;Box style={{ flexDirection: 'row', gap: 10, alignItems: 'center' }}&gt;&#10;                    &lt;Box style={{ width: 6, height: 34, background: '#276FBF', borderRadius: 3 }} /&gt;&#10;                    &lt;Box style={{ flexDirection: 'column', gap: 2 }}&gt;&#10;                        &lt;Text style={{ fontSize: 17, fontWeight: 'bold', color: '#20344B' }}&gt;参数规模&lt;/Text&gt;&#10;                        &lt;Text style={{ fontSize: 15, color: '#546779' }}&gt;训练中调整的数值有多少&lt;/Text&gt;&#10;                    &lt;/Box&gt;&#10;                &lt;/Box&gt;&#10;&#10;                &lt;Box style={{ flexDirection: 'row', gap: 10, alignItems: 'center' }}&gt;&#10;                    &lt;Box style={{ width: 6, height: 34, background: '#276FBF', borderRadius: 3 }} /&gt;&#10;                    &lt;Box style={{ flexDirection: 'column', gap: 2 }}&gt;&#10;                        &lt;Text style={{ fontSize: 17, fontWeight: 'bold', color: '#20344B' }}&gt;训练数据量&lt;/Text&gt;&#10;                        &lt;Text style={{ fontSize: 15, color: '#546779' }}&gt;训练时使用了多少资料&lt;/Text&gt;&#10;                    &lt;/Box&gt;&#10;                &lt;/Box&gt;&#10;&#10;                &lt;Box style={{ flexDirection: 'row', gap: 10, alignItems: 'center' }}&gt;&#10;                    &lt;Box style={{ width: 6, height: 34, background: '#276FBF', borderRadius: 3 }} /&gt;&#10;                    &lt;Box style={{ flexDirection: 'column', gap: 2 }}&gt;&#10;                        &lt;Text style={{ fontSize: 17, fontWeight: 'bold', color: '#20344B' }}&gt;训练计算量&lt;/Text&gt;&#10;                        &lt;Text style={{ fontSize: 15, color: '#546779' }}&gt;训练投入了多少计算&lt;/Text&gt;&#10;                    &lt;/Box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04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2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从人工智能到大语言模型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29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技术归属，与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大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的三个维度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609600" y="2276475"/>
            <a:ext cx="6096000" cy="2609850"/>
          </a:xfrm>
          <a:prstGeom prst="roundRect">
            <a:avLst>
              <a:gd name="adj" fmla="val 4380"/>
            </a:avLst>
          </a:prstGeom>
          <a:solidFill>
            <a:srgbClr val="F7FAFD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781050" y="2447925"/>
            <a:ext cx="116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人工智能　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AI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4962525" y="247650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识别、预测、规划、行动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781050" y="2771775"/>
            <a:ext cx="5753100" cy="1885950"/>
          </a:xfrm>
          <a:prstGeom prst="roundRect">
            <a:avLst>
              <a:gd name="adj" fmla="val 505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933450" y="2924175"/>
            <a:ext cx="1190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机器学习　</a:t>
            </a: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>ML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5238750" y="29527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从数据中调整参数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933450" y="3238500"/>
            <a:ext cx="5448300" cy="1200150"/>
          </a:xfrm>
          <a:prstGeom prst="roundRect">
            <a:avLst>
              <a:gd name="adj" fmla="val 6349"/>
            </a:avLst>
          </a:prstGeom>
          <a:solidFill>
            <a:srgbClr val="D6E6F7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1066800" y="3371850"/>
            <a:ext cx="1095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深度学习　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DL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5391150" y="33909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多层神经网络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1066800" y="3676650"/>
            <a:ext cx="5181600" cy="590550"/>
          </a:xfrm>
          <a:prstGeom prst="roundRect">
            <a:avLst>
              <a:gd name="adj" fmla="val 96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2952750" y="3857625"/>
            <a:ext cx="1419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大语言模型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LLM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09600" y="5000625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包含关系示意：内层属于外层，不是并列的四种技术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7086600" y="2305050"/>
            <a:ext cx="4495800" cy="904875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7258050" y="2457450"/>
            <a:ext cx="415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基础模型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""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多模态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是命名角度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7258050" y="2762250"/>
            <a:ext cx="41529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它们可以重叠，并不是大语言模型下面的互斥子类。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7086600" y="3381375"/>
            <a:ext cx="4495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大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由哪三个量描述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7086600" y="37623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7239000" y="3724275"/>
            <a:ext cx="1571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参数规模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7239000" y="39433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训练中调整的数值有多少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7086600" y="42672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7239000" y="422910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训练数据量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7239000" y="444817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训练时使用了多少资料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7086600" y="477202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7239000" y="4733925"/>
            <a:ext cx="1285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训练计算量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7239000" y="49530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训练投入了多少计算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86" name="" descr="&lt;Slide notes={`围绕&quot;大&quot;这个字，有三种说法经常被混在一起，我们逐条分开。&#10;&#10;第一句，&quot;1B 就是十亿字&quot;。不对。参数规模里的 1B，指的是十亿个可训练数值，不是十亿个汉字，也不是十亿字的内容。&#10;&#10;第二句，&quot;参数多，一次就能读得多&quot;。这是把两件事混了。参数量说的是模型内部有多少可调的数值，上下文容量说的是这一次能送入多少内容，它们是两个不同的指标。&#10;&#10;第三句，&quot;模型越大，一定越好&quot;。这也站不住。还要看训练用了什么数据、用什么方法训练、投入了多少计算预算，以及具体任务是什么。&#10;&#10;计算最优训练的研究就说明了这一点：在同一个预算下，模型规模和数据量怎么分配，会直接影响最终效果，所以不能只追求把参数堆得更多。&#10;&#10;请记住一个态度：&quot;大&quot;是一个相对的说法，不是一道及格线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1.1　从人工智能到大语言模型&lt;/Text&gt;&#10;            &lt;Text style={{ fontSize: 34, fontWeight: 'bold', color: '#20344B' }}&gt;三种说法，要分开看&lt;/Text&gt;&#10;        &lt;/Box&gt;&#10;    &lt;/Box&gt;&#10;&#10;    &lt;Box style={{ height: 540, flexDirection: 'row', gap: 40 }}&gt;&#10;&#10;        &lt;Box style={{ width: 340, flexDirection: 'column', justifyContent: 'center', gap: 18 }}&gt;&#10;            &lt;Text style={{ fontSize: 30, fontWeight: 'bold', color: '#276FBF', lineHeight: 1.35 }}&gt;&quot;大&quot;没有统一门槛&lt;/Text&gt;&#10;            &lt;Box style={{ width: 56, height: 3, background: '#26816B' }} /&gt;&#10;            &lt;Text style={{ fontSize: 17, color: '#546779', lineHeight: 1.75 }}&gt;计算最优训练的研究表明：在同一个预算下，模型规模与数据量如何分配，会影响最终效果。所以不能只追求更多参数。&lt;/Text&gt;&#10;            &lt;Box style={{ background: '#F4F7FA', borderRadius: 8, padding: '12px 14px' }}&gt;&#10;                &lt;Text style={{ fontSize: 14, color: '#546779' }}&gt;研究依据 · arXiv:2203.15556&lt;/Text&gt;&#10;            &lt;/Box&gt;&#10;        &lt;/Box&gt;&#10;&#10;        &lt;Box style={{ flex: 1, flexDirection: 'column', justifyContent: 'center', gap: 16 }}&gt;&#10;&#10;            &lt;Box style={{ flexDirection: 'row', gap: 16 }}&gt;&#10;                &lt;Text style={{ width: 268, fontSize: 15, color: '#546779' }}&gt;容易混淆的说法&lt;/Text&gt;&#10;                &lt;Text style={{ flex: 1, fontSize: 15, color: '#546779' }}&gt;应当怎样理解&lt;/Text&gt;&#10;            &lt;/Box&gt;&#10;&#10;            &lt;Box style={{ flexDirection: 'row', gap: 16 }}&gt;&#10;                &lt;Box style={{ width: 268, background: '#FFF4E6', borderRadius: 8, padding: '16px 18px', border: '1px solid #E5C9A8' }}&gt;&#10;                    &lt;Text style={{ fontSize: 18, color: '#CB6B28', fontWeight: 'bold' }}&gt;&quot;1B 就是十亿字&quot;&lt;/Text&gt;&#10;                &lt;/Box&gt;&#10;                &lt;Box style={{ flex: 1, background: '#EDF4FC', borderRadius: 8, padding: '16px 18px', border: '1px solid #B5C7D8' }}&gt;&#10;                    &lt;Text style={{ fontSize: 17, color: '#20344B', lineHeight: 1.55 }}&gt;参数规模中的 1B，指十亿个可训练数值，不是字数&lt;/Text&gt;&#10;                &lt;/Box&gt;&#10;            &lt;/Box&gt;&#10;&#10;            &lt;Box style={{ flexDirection: 'row', gap: 16 }}&gt;&#10;                &lt;Box style={{ width: 268, background: '#FFF4E6', borderRadius: 8, padding: '16px 18px', border: '1px solid #E5C9A8' }}&gt;&#10;                    &lt;Text style={{ fontSize: 18, color: '#CB6B28', fontWeight: 'bold' }}&gt;&quot;参数多，一次就能读得多&quot;&lt;/Text&gt;&#10;                &lt;/Box&gt;&#10;                &lt;Box style={{ flex: 1, background: '#EDF4FC', borderRadius: 8, padding: '16px 18px', border: '1px solid #B5C7D8' }}&gt;&#10;                    &lt;Text style={{ fontSize: 17, color: '#20344B', lineHeight: 1.55 }}&gt;参数量与上下文容量是两个不同的指标&lt;/Text&gt;&#10;                &lt;/Box&gt;&#10;            &lt;/Box&gt;&#10;&#10;            &lt;Box style={{ flexDirection: 'row', gap: 16 }}&gt;&#10;                &lt;Box style={{ width: 268, background: '#FFF4E6', borderRadius: 8, padding: '16px 18px', border: '1px solid #E5C9A8' }}&gt;&#10;                    &lt;Text style={{ fontSize: 18, color: '#CB6B28', fontWeight: 'bold' }}&gt;&quot;模型越大，一定越好&quot;&lt;/Text&gt;&#10;                &lt;/Box&gt;&#10;                &lt;Box style={{ flex: 1, background: '#EDF4FC', borderRadius: 8, padding: '16px 18px', border: '1px solid #B5C7D8' }}&gt;&#10;                    &lt;Text style={{ fontSize: 17, color: '#20344B', lineHeight: 1.55 }}&gt;还要看数据、训练方法、计算预算和具体任务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05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从人工智能到大语言模型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三种说法，要分开看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609600" y="2505075"/>
            <a:ext cx="3238500" cy="4667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250" b="1">
                <a:solidFill>
                  <a:srgbClr val="276FBF"/>
                </a:solidFill>
                <a:latin typeface="Microsoft YaHei"/>
                <a:ea typeface="Microsoft YaHei"/>
              </a:rPr>
              <a:t>"</a:t>
            </a:r>
            <a:r>
              <a:rPr lang="zh-CN" sz="2250" b="1">
                <a:solidFill>
                  <a:srgbClr val="276FBF"/>
                </a:solidFill>
                <a:latin typeface="Microsoft YaHei"/>
                <a:ea typeface="Microsoft YaHei"/>
              </a:rPr>
              <a:t>大</a:t>
            </a:r>
            <a:r>
              <a:rPr lang="en-US" sz="2250" b="1">
                <a:solidFill>
                  <a:srgbClr val="276FBF"/>
                </a:solidFill>
                <a:latin typeface="Microsoft YaHei"/>
                <a:ea typeface="Microsoft YaHei"/>
              </a:rPr>
              <a:t>"</a:t>
            </a:r>
            <a:r>
              <a:rPr lang="zh-CN" sz="2250" b="1">
                <a:solidFill>
                  <a:srgbClr val="276FBF"/>
                </a:solidFill>
                <a:latin typeface="Microsoft YaHei"/>
                <a:ea typeface="Microsoft YaHei"/>
              </a:rPr>
              <a:t>没有统一门槛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609600" y="3143250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609600" y="3343275"/>
            <a:ext cx="32385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计算最优训练的研究表明：在同一个预算下，模型规模与数据量如何分配，会影响最终效果。所以不能只追求更多参数。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609600" y="4543425"/>
            <a:ext cx="3238500" cy="390525"/>
          </a:xfrm>
          <a:prstGeom prst="roundRect">
            <a:avLst>
              <a:gd name="adj" fmla="val 1951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742950" y="4657725"/>
            <a:ext cx="297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研究依据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arXiv:2203.15556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4229100" y="2486025"/>
            <a:ext cx="2552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容易混淆的说法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6934200" y="2486025"/>
            <a:ext cx="464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应当怎样理解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4229100" y="2809875"/>
            <a:ext cx="25527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4400550" y="2962275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"1B 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就是十亿字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6934200" y="2809875"/>
            <a:ext cx="46482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7105650" y="2962275"/>
            <a:ext cx="43053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参数规模中的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 1B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，指十亿个可训练数值，不是字数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4229100" y="3571875"/>
            <a:ext cx="25527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4400550" y="3724275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参数多，一次就能读得多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6934200" y="3571875"/>
            <a:ext cx="46482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7105650" y="3724275"/>
            <a:ext cx="43053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参数量与上下文容量是两个不同的指标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4229100" y="4333875"/>
            <a:ext cx="25527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4400550" y="4486275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模型越大，一定越好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6934200" y="4333875"/>
            <a:ext cx="46482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7105650" y="4486275"/>
            <a:ext cx="43053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还要看数据、训练方法、计算预算和具体任务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12" name="" descr="&lt;Slide notes={`把这个知识块收一句最重要的话。&#10;&#10;参数规模里的 1B，说的是十亿个可训练数值。它不是说这份模型认识十亿个汉字，不是说它能一次读进十亿字的内容，也不是在描述它的上下文长度。这三个说法听起来像一回事，其实是三个不同的量。&#10;&#10;为什么这件事值得单独强调？因为当我们不知道一个数字到底在描述什么，后面的比较就会失去意义。你说这个模型比那个大，我得先问你，你说的是参数、数据，还是计算量。&#10;&#10;还有一个判断要带回去：在同一个训练预算下，模型规模和数据量是一起权衡的，不是参数越多就一定越好。&#10;&#10;下一次再听到&quot;这个模型有一千亿参数&quot;，你脑子里应该跳出两个问题：这一千亿指的是什么量，以及它在当前这个任务上，是不是真的更合适。`} style={{ width: 1280, height: 720, background: '#FFFFFF', flexDirection: 'column', padding: '20px 64px' }}&gt;&#10;&#10;    &lt;Box style={{ flex: 1, flexDirection: 'column', justifyContent: 'center' }}&gt;&#10;&#10;        &lt;Box style={{ flexDirection: 'column', alignItems: 'center', gap: 8 }}&gt;&#10;            &lt;Text style={{ fontSize: 14, color: '#26816B' }}&gt;知识块 01 小结&lt;/Text&gt;&#10;            &lt;Text style={{ fontSize: 120, fontWeight: 'bold', color: '#276FBF', lineHeight: 1.05 }}&gt;1B&lt;/Text&gt;&#10;        &lt;/Box&gt;&#10;&#10;        &lt;Box style={{ flexDirection: 'column', alignItems: 'center', gap: 10, marginTop: 16 }}&gt;&#10;            &lt;Text style={{ fontSize: 30, fontWeight: 'bold', color: '#20344B' }}&gt;是十亿个可训练数值&lt;/Text&gt;&#10;            &lt;Text style={{ fontSize: 18, color: '#546779' }}&gt;不是十亿个字，也不是上下文长度&lt;/Text&gt;&#10;        &lt;/Box&gt;&#10;&#10;        &lt;Box style={{ flexDirection: 'row', justifyContent: 'center', gap: 20, marginTop: 36 }}&gt;&#10;            &lt;Box style={{ width: 220, background: '#F4F7FA', borderRadius: 10, padding: '16px 18px', flexDirection: 'column', gap: 6, alignItems: 'center' }}&gt;&#10;                &lt;Text style={{ fontSize: 17, fontWeight: 'bold', color: '#546779' }}&gt;不是十亿个字&lt;/Text&gt;&#10;                &lt;Text style={{ fontSize: 15, color: '#546779' }}&gt;与文字数量无关&lt;/Text&gt;&#10;            &lt;/Box&gt;&#10;            &lt;Box style={{ width: 220, background: '#F4F7FA', borderRadius: 10, padding: '16px 18px', flexDirection: 'column', gap: 6, alignItems: 'center' }}&gt;&#10;                &lt;Text style={{ fontSize: 17, fontWeight: 'bold', color: '#546779' }}&gt;不是上下文长度&lt;/Text&gt;&#10;                &lt;Text style={{ fontSize: 15, color: '#546779' }}&gt;是另一个独立指标&lt;/Text&gt;&#10;            &lt;/Box&gt;&#10;            &lt;Box style={{ width: 220, background: '#ECF7F2', borderRadius: 10, padding: '16px 18px', flexDirection: 'column', gap: 6, alignItems: 'center' }}&gt;&#10;                &lt;Text style={{ fontSize: 17, fontWeight: 'bold', color: '#26816B' }}&gt;是训练中调整的数值&lt;/Text&gt;&#10;                &lt;Text style={{ fontSize: 15, color: '#546779' }}&gt;规模、数据、计算要一起权衡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06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5648325" y="137160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知识块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01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5353050" y="1609725"/>
            <a:ext cx="1495425" cy="14478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9000" b="1">
                <a:solidFill>
                  <a:srgbClr val="276FBF"/>
                </a:solidFill>
                <a:latin typeface="Microsoft YaHei"/>
                <a:ea typeface="Microsoft YaHei"/>
              </a:rPr>
              <a:t>1B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4810125" y="3209925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20344B"/>
                </a:solidFill>
                <a:latin typeface="Microsoft YaHei"/>
                <a:ea typeface="Microsoft YaHei"/>
              </a:rPr>
              <a:t>是十亿个可训练数值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4810125" y="3648075"/>
            <a:ext cx="257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不是十亿个字，也不是上下文长度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2762250" y="4200525"/>
            <a:ext cx="2095500" cy="904875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3324225" y="435292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46779"/>
                </a:solidFill>
                <a:latin typeface="Microsoft YaHei"/>
                <a:ea typeface="Microsoft YaHei"/>
              </a:rPr>
              <a:t>不是十亿个字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3314700" y="46101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与文字数量无关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5048250" y="4200525"/>
            <a:ext cx="2095500" cy="904875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5534025" y="435292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46779"/>
                </a:solidFill>
                <a:latin typeface="Microsoft YaHei"/>
                <a:ea typeface="Microsoft YaHei"/>
              </a:rPr>
              <a:t>不是上下文长度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5524500" y="46101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是另一个独立指标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7334250" y="4200525"/>
            <a:ext cx="2095500" cy="904875"/>
          </a:xfrm>
          <a:prstGeom prst="roundRect">
            <a:avLst>
              <a:gd name="adj" fmla="val 105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7658100" y="43529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是训练中调整的数值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7505700" y="4610100"/>
            <a:ext cx="17526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规模、数据、计算要一起权衡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29" name="" descr="&lt;Slide notes={`第二个知识块，我们看一句普通的话在模型眼里是什么样子。&#10;&#10;同一句话其实涉及两个问题。第一个问题是：文字怎样变成模型能够处理的数值。第二个问题是：这一次请求，要占用多少上下文空间。这两件事经常被合成一句&quot;Token 有多少&quot;，但它们不是一回事。&#10;&#10;先看第一个问题。文本不会原样进入模型。它先被切成片段，每个片段换成一个编号，编号再映射成一组数值。所以模型真正计算出结果时，手里拿的是一组组数字，不是我们看到的汉字。&#10;&#10;第二个问题同样重要。这一次送进模型的指令、历史消息、资料和工具结果，再加上留给我们生成内容的空间，是共用同一份容量的。容量满了，就必须筛选或者截断。&#10;&#10;这个知识块后面三页，我们就沿着这两条线看清楚。`} style={{ width: 1280, height: 720, background: '#FFFFFF', flexDirection: 'column', padding: '20px 64px' }}&gt;&#10;&#10;    &lt;Box style={{ height: 640, flexDirection: 'row', gap: 40, alignItems: 'center' }}&gt;&#10;&#10;        &lt;Box style={{ width: 440, height: 420, borderRadius: 12, background: '#276FBF', padding: 32, flexDirection: 'column', justifyContent: 'center', gap: 14 }}&gt;&#10;            &lt;Text style={{ fontSize: 15, color: '#C6DCF2' }}&gt;知识块 02&lt;/Text&gt;&#10;            &lt;Box style={{ width: 56, height: 3, background: '#9FD5C2' }} /&gt;&#10;            &lt;Text style={{ fontSize: 56, fontWeight: 'bold', color: '#FFFFFF', lineHeight: 1.1 }}&gt;Token&lt;/Text&gt;&#10;            &lt;Text style={{ fontSize: 26, fontWeight: 'bold', color: '#DCEAF8', lineHeight: 1.4 }}&gt;文字怎样变成可计算的输入&lt;/Text&gt;&#10;            &lt;Text style={{ fontSize: 16, color: '#BBD5EE', lineHeight: 1.6 }}&gt;一边是文本变成数值，一边是本次请求的容量预算。&lt;/Text&gt;&#10;        &lt;/Box&gt;&#10;&#10;        &lt;Box style={{ flex: 1, flexDirection: 'column', justifyContent: 'center', gap: 26 }}&gt;&#10;&#10;            &lt;Text style={{ fontSize: 20, fontWeight: 'bold', color: '#20344B' }}&gt;一句&quot;请安排阅读分享&quot;，会走过四步&lt;/Text&gt;&#10;&#10;            &lt;Box style={{ flexDirection: 'row', alignItems: 'center', gap: 8 }}&gt;&#10;                &lt;Box style={{ width: 140, height: 124, borderRadius: 8, background: '#EDF4FC', border: '1px solid #B5C7D8', padding: 12, flexDirection: 'column', gap: 8 }}&gt;&#10;                    &lt;Text style={{ fontSize: 14, color: '#546779' }}&gt;原文&lt;/Text&gt;&#10;                    &lt;Text style={{ fontSize: 16, color: '#20344B', lineHeight: 1.5 }}&gt;请安排阅读分享&lt;/Text&gt;&#10;                &lt;/Box&gt;&#10;                &lt;Text style={{ fontSize: 20, color: '#276FBF' }}&gt;›&lt;/Text&gt;&#10;                &lt;Box style={{ width: 140, height: 124, borderRadius: 8, background: '#EDF4FC', border: '1px solid #B5C7D8', padding: 12, flexDirection: 'column', gap: 8 }}&gt;&#10;                    &lt;Text style={{ fontSize: 14, color: '#546779' }}&gt;切分片段&lt;/Text&gt;&#10;                    &lt;Text style={{ fontSize: 16, color: '#20344B', lineHeight: 1.5 }}&gt;请 ／ 安排 ／ 阅读 ／ 分享&lt;/Text&gt;&#10;                &lt;/Box&gt;&#10;                &lt;Text style={{ fontSize: 20, color: '#276FBF' }}&gt;›&lt;/Text&gt;&#10;                &lt;Box style={{ width: 140, height: 124, borderRadius: 8, background: '#EDF4FC', border: '1px solid #B5C7D8', padding: 12, flexDirection: 'column', gap: 8 }}&gt;&#10;                    &lt;Text style={{ fontSize: 14, color: '#546779' }}&gt;换成编号&lt;/Text&gt;&#10;                    &lt;Text style={{ fontSize: 16, color: '#20344B', lineHeight: 1.5 }}&gt;101 ／ 202 ／ 303 ／ 404&lt;/Text&gt;&#10;                &lt;/Box&gt;&#10;                &lt;Text style={{ fontSize: 20, color: '#276FBF' }}&gt;›&lt;/Text&gt;&#10;                &lt;Box style={{ width: 140, height: 124, borderRadius: 8, background: '#ECF7F2', border: '1px solid #26816B', padding: 12, flexDirection: 'column', gap: 8 }}&gt;&#10;                    &lt;Text style={{ fontSize: 14, color: '#26816B' }}&gt;映射为向量&lt;/Text&gt;&#10;                    &lt;Text style={{ fontSize: 16, color: '#20344B', lineHeight: 1.5 }}&gt;每个编号变成一组数值&lt;/Text&gt;&#10;                &lt;/Box&gt;&#10;            &lt;/Box&gt;&#10;&#10;            &lt;Text style={{ fontSize: 15, color: '#546779', lineHeight: 1.6 }}&gt;片段划分、编号与向量均为示意，不是真实分词结果；实际用量以对应分词器或接口统计为准。&lt;/Text&gt;&#10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07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1" name=""/>
          <p:cNvSpPr/>
          <p:nvPr/>
        </p:nvSpPr>
        <p:spPr>
          <a:xfrm rot="0" flipH="0" flipV="0">
            <a:off x="609600" y="1238250"/>
            <a:ext cx="4191000" cy="4000500"/>
          </a:xfrm>
          <a:prstGeom prst="roundRect">
            <a:avLst>
              <a:gd name="adj" fmla="val 2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914400" y="2162175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6DCF2"/>
                </a:solidFill>
                <a:latin typeface="Microsoft YaHei"/>
                <a:ea typeface="Microsoft YaHei"/>
              </a:rPr>
              <a:t>知识块</a:t>
            </a:r>
            <a:r>
              <a:rPr lang="en-US" sz="1125">
                <a:solidFill>
                  <a:srgbClr val="C6DCF2"/>
                </a:solidFill>
                <a:latin typeface="Microsoft YaHei"/>
                <a:ea typeface="Microsoft YaHei"/>
              </a:rPr>
              <a:t xml:space="preserve"> 02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914400" y="2466975"/>
            <a:ext cx="533400" cy="28575"/>
          </a:xfrm>
          <a:prstGeom prst="rect">
            <a:avLst/>
          </a:prstGeom>
          <a:solidFill>
            <a:srgbClr val="9FD5C2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914400" y="2628900"/>
            <a:ext cx="3581400" cy="7048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Token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914400" y="3467100"/>
            <a:ext cx="358140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DCEAF8"/>
                </a:solidFill>
                <a:latin typeface="Microsoft YaHei"/>
                <a:ea typeface="Microsoft YaHei"/>
              </a:rPr>
              <a:t>文字怎样变成可计算的输入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914400" y="4019550"/>
            <a:ext cx="3581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BBD5EE"/>
                </a:solidFill>
                <a:latin typeface="Microsoft YaHei"/>
                <a:ea typeface="Microsoft YaHei"/>
              </a:rPr>
              <a:t>一边是文本变成数值，一边是本次请求的容量预算。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5181600" y="2152650"/>
            <a:ext cx="640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一句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请安排阅读分享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，会走过四步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5181600" y="2628900"/>
            <a:ext cx="1333500" cy="1181100"/>
          </a:xfrm>
          <a:prstGeom prst="roundRect">
            <a:avLst>
              <a:gd name="adj" fmla="val 6452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5295900" y="2743200"/>
            <a:ext cx="110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原文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5295900" y="2981325"/>
            <a:ext cx="11049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请安排阅读分享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591300" y="310515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6734175" y="2628900"/>
            <a:ext cx="1333500" cy="1181100"/>
          </a:xfrm>
          <a:prstGeom prst="roundRect">
            <a:avLst>
              <a:gd name="adj" fmla="val 6452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848475" y="2743200"/>
            <a:ext cx="110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切分片段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6848475" y="2981325"/>
            <a:ext cx="1104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请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安排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阅读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分享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8143875" y="310515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8286750" y="2628900"/>
            <a:ext cx="1333500" cy="1181100"/>
          </a:xfrm>
          <a:prstGeom prst="roundRect">
            <a:avLst>
              <a:gd name="adj" fmla="val 6452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8401050" y="2743200"/>
            <a:ext cx="110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换成编号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8401050" y="2981325"/>
            <a:ext cx="1104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101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202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303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404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9696450" y="310515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9839325" y="2628900"/>
            <a:ext cx="1333500" cy="1181100"/>
          </a:xfrm>
          <a:prstGeom prst="roundRect">
            <a:avLst>
              <a:gd name="adj" fmla="val 6452"/>
            </a:avLst>
          </a:prstGeom>
          <a:solidFill>
            <a:srgbClr val="ECF7F2"/>
          </a:solidFill>
          <a:ln w="12700">
            <a:solidFill>
              <a:srgbClr val="26816B"/>
            </a:solidFill>
            <a:prstDash val="solid"/>
          </a:ln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9953625" y="2743200"/>
            <a:ext cx="110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映射为向量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9953625" y="2981325"/>
            <a:ext cx="1104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每个编号变成一组数值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5181600" y="4057650"/>
            <a:ext cx="6400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片段划分、编号与向量均为示意，不是真实分词结果；实际用量以对应分词器或接口统计为准。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56" name="" descr="&lt;Slide notes={`我们把这四步拆开看。&#10;&#10;第一步是原文。你输入的是&quot;请安排阅读分享&quot;这七个汉字，人一眼就看懂了。&#10;&#10;第二步是切分。模型不是按字来处理，而是按片段来处理。这四个片段在这里正好是四个词，但真实情况里，一个片段可能是半个词，也可能是一个标点。所以千万记住：片段和汉字之间没有固定的换算关系。&#10;&#10;第三步是换成编号。每个片段对应一个编号，编号的作用是索引——它本身不表示词义，只是让模型知道&quot;我说的是这个片段&quot;。&#10;&#10;第四步是嵌入，也就是把编号映射成一组数值。到这一步，模型手里拿的才是一串可以参与计算的数字。而且同一个片段，在不同句子里的表示还会受到周围内容的影响。&#10;&#10;所以&quot;模型认识字&quot;这句话其实不准确。它认识的是片段，以及片段背后的数值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1.2　Token：文字怎样变成可计算的输入&lt;/Text&gt;&#10;            &lt;Text style={{ fontSize: 34, fontWeight: 'bold', color: '#20344B' }}&gt;从原文，到编号，再到向量&lt;/Text&gt;&#10;        &lt;/Box&gt;&#10;    &lt;/Box&gt;&#10;&#10;    &lt;Box style={{ height: 540, flexDirection: 'row', gap: 36 }}&gt;&#10;&#10;        &lt;Box style={{ width: 660, flexDirection: 'column', justifyContent: 'center', gap: 14 }}&gt;&#10;&#10;            &lt;Box style={{ flexDirection: 'row', gap: 12, alignItems: 'center' }}&gt;&#10;                &lt;Text style={{ width: 72, fontSize: 15, color: '#546779' }}&gt;原文&lt;/Text&gt;&#10;                &lt;Box style={{ flex: 1, background: '#EDF4FC', borderRadius: 8, padding: '14px 18px', border: '1px solid #B5C7D8' }}&gt;&#10;                    &lt;Text style={{ fontSize: 20, color: '#20344B' }}&gt;请安排阅读分享&lt;/Text&gt;&#10;                &lt;/Box&gt;&#10;            &lt;/Box&gt;&#10;&#10;            &lt;Box style={{ flexDirection: 'row', gap: 12, alignItems: 'center' }}&gt;&#10;                &lt;Text style={{ width: 72, fontSize: 15, color: '#546779' }}&gt;切分&lt;/Text&gt;&#10;                &lt;Box style={{ flex: 1, flexDirection: 'row', gap: 12 }}&gt;&#10;                    &lt;Box style={{ flex: 1, background: '#F4F7FA', borderRadius: 8, padding: '12px 0', border: '1px solid #B5C7D8', alignItems: 'center' }}&gt;&#10;                        &lt;Text style={{ fontSize: 17, color: '#20344B' }}&gt;请&lt;/Text&gt;&#10;                    &lt;/Box&gt;&#10;                    &lt;Box style={{ flex: 1, background: '#F4F7FA', borderRadius: 8, padding: '12px 0', border: '1px solid #B5C7D8', alignItems: 'center' }}&gt;&#10;                        &lt;Text style={{ fontSize: 17, color: '#20344B' }}&gt;安排&lt;/Text&gt;&#10;                    &lt;/Box&gt;&#10;                    &lt;Box style={{ flex: 1, background: '#F4F7FA', borderRadius: 8, padding: '12px 0', border: '1px solid #B5C7D8', alignItems: 'center' }}&gt;&#10;                        &lt;Text style={{ fontSize: 17, color: '#20344B' }}&gt;阅读&lt;/Text&gt;&#10;                    &lt;/Box&gt;&#10;                    &lt;Box style={{ flex: 1, background: '#F4F7FA', borderRadius: 8, padding: '12px 0', border: '1px solid #B5C7D8', alignItems: 'center' }}&gt;&#10;                        &lt;Text style={{ fontSize: 17, color: '#20344B' }}&gt;分享&lt;/Text&gt;&#10;                    &lt;/Box&gt;&#10;                &lt;/Box&gt;&#10;            &lt;/Box&gt;&#10;&#10;            &lt;Box style={{ flexDirection: 'row', gap: 12, alignItems: 'center' }}&gt;&#10;                &lt;Text style={{ width: 72, fontSize: 15, color: '#546779' }}&gt;编号&lt;/Text&gt;&#10;                &lt;Box style={{ flex: 1, flexDirection: 'row', gap: 12 }}&gt;&#10;                    &lt;Box style={{ flex: 1, background: '#EDF4FC', borderRadius: 8, padding: '12px 0', alignItems: 'center' }}&gt;&#10;                        &lt;Text style={{ fontSize: 17, color: '#276FBF', fontWeight: 'bold' }}&gt;101&lt;/Text&gt;&#10;                    &lt;/Box&gt;&#10;                    &lt;Box style={{ flex: 1, background: '#EDF4FC', borderRadius: 8, padding: '12px 0', alignItems: 'center' }}&gt;&#10;                        &lt;Text style={{ fontSize: 17, color: '#276FBF', fontWeight: 'bold' }}&gt;202&lt;/Text&gt;&#10;                    &lt;/Box&gt;&#10;                    &lt;Box style={{ flex: 1, background: '#EDF4FC', borderRadius: 8, padding: '12px 0', alignItems: 'center' }}&gt;&#10;                        &lt;Text style={{ fontSize: 17, color: '#276FBF', fontWeight: 'bold' }}&gt;303&lt;/Text&gt;&#10;                    &lt;/Box&gt;&#10;                    &lt;Box style={{ flex: 1, background: '#EDF4FC', borderRadius: 8, padding: '12px 0', alignItems: 'center' }}&gt;&#10;                        &lt;Text style={{ fontSize: 17, color: '#276FBF', fontWeight: 'bold' }}&gt;404&lt;/Text&gt;&#10;                    &lt;/Box&gt;&#10;                &lt;/Box&gt;&#10;            &lt;/Box&gt;&#10;&#10;            &lt;Box style={{ flexDirection: 'row', gap: 12, alignItems: 'center' }}&gt;&#10;                &lt;Text style={{ width: 72, fontSize: 15, color: '#546779' }}&gt;向量&lt;/Text&gt;&#10;                &lt;Box style={{ flex: 1, flexDirection: 'row', gap: 12 }}&gt;&#10;                    &lt;Box style={{ flex: 1, background: '#ECF7F2', borderRadius: 8, padding: '12px 0', border: '1px solid #B5C7D8', flexDirection: 'row', justifyContent: 'center', gap: 6 }}&gt;&#10;                        &lt;Box style={{ width: 16, height: 16, background: '#276FBF', borderRadius: 3 }} /&gt;&#10;                        &lt;Box style={{ width: 16, height: 16, background: '#B5D4F4', borderRadius: 3 }} /&gt;&#10;                        &lt;Box style={{ width: 16, height: 16, background: '#8FC0EA', borderRadius: 3 }} /&gt;&#10;                    &lt;/Box&gt;&#10;                    &lt;Box style={{ flex: 1, background: '#ECF7F2', borderRadius: 8, padding: '12px 0', border: '1px solid #B5C7D8', flexDirection: 'row', justifyContent: 'center', gap: 6 }}&gt;&#10;                        &lt;Box style={{ width: 16, height: 16, background: '#8FC0EA', borderRadius: 3 }} /&gt;&#10;                        &lt;Box style={{ width: 16, height: 16, background: '#276FBF', borderRadius: 3 }} /&gt;&#10;                        &lt;Box style={{ width: 16, height: 16, background: '#B5D4F4', borderRadius: 3 }} /&gt;&#10;                    &lt;/Box&gt;&#10;                    &lt;Box style={{ flex: 1, background: '#ECF7F2', borderRadius: 8, padding: '12px 0', border: '1px solid #B5C7D8', flexDirection: 'row', justifyContent: 'center', gap: 6 }}&gt;&#10;                        &lt;Box style={{ width: 16, height: 16, background: '#B5D4F4', borderRadius: 3 }} /&gt;&#10;                        &lt;Box style={{ width: 16, height: 16, background: '#8FC0EA', borderRadius: 3 }} /&gt;&#10;                        &lt;Box style={{ width: 16, height: 16, background: '#276FBF', borderRadius: 3 }} /&gt;&#10;                    &lt;/Box&gt;&#10;                    &lt;Box style={{ flex: 1, background: '#ECF7F2', borderRadius: 8, padding: '12px 0', border: '1px solid #B5C7D8', flexDirection: 'row', justifyContent: 'center', gap: 6 }}&gt;&#10;                        &lt;Box style={{ width: 16, height: 16, background: '#276FBF', borderRadius: 3 }} /&gt;&#10;                        &lt;Box style={{ width: 16, height: 16, background: '#8FC0EA', borderRadius: 3 }} /&gt;&#10;                        &lt;Box style={{ width: 16, height: 16, background: '#B5D4F4', borderRadius: 3 }} /&gt;&#10;                    &lt;/Box&gt;&#10;                &lt;/Box&gt;&#10;            &lt;/Box&gt;&#10;&#10;            &lt;Text style={{ fontSize: 14, color: '#546779', marginLeft: 84 }}&gt;片段、编号与向量均为示意；色块深浅表示数值不同，不代表真实嵌入结果。&lt;/Text&gt;&#10;&#10;        &lt;/Box&gt;&#10;&#10;        &lt;Box style={{ flex: 1, flexDirection: 'column', justifyContent: 'center', gap: 14 }}&gt;&#10;&#10;            &lt;Box style={{ background: '#EDF4FC', borderRadius: 10, padding: '16px 18px', flexDirection: 'column', gap: 6 }}&gt;&#10;                &lt;Text style={{ fontSize: 20, fontWeight: 'bold', color: '#276FBF' }}&gt;Token 是片段&lt;/Text&gt;&#10;                &lt;Text style={{ fontSize: 16, color: '#546779', lineHeight: 1.6 }}&gt;可能是字、词的一部分或标点，不能固定换算成汉字。&lt;/Text&gt;&#10;            &lt;/Box&gt;&#10;&#10;            &lt;Box style={{ background: '#F4F7FA', borderRadius: 10, padding: '16px 18px', flexDirection: 'column', gap: 6 }}&gt;&#10;                &lt;Text style={{ fontSize: 20, fontWeight: 'bold', color: '#20344B' }}&gt;编号用于索引&lt;/Text&gt;&#10;                &lt;Text style={{ fontSize: 16, color: '#546779', lineHeight: 1.6 }}&gt;编号本身不表示词义，它只是一个查得到的位置。&lt;/Text&gt;&#10;            &lt;/Box&gt;&#10;&#10;            &lt;Box style={{ background: '#ECF7F2', borderRadius: 10, padding: '16px 18px', flexDirection: 'column', gap: 6 }}&gt;&#10;                &lt;Text style={{ fontSize: 20, fontWeight: 'bold', color: '#26816B' }}&gt;向量用于计算&lt;/Text&gt;&#10;                &lt;Text style={{ fontSize: 16, color: '#546779', lineHeight: 1.6 }}&gt;每个编号映射为一组数值，表示还受周围内容影响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08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Token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：文字怎样变成可计算的输入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从原文，到编号，再到向量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609600" y="266700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原文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1409700" y="2505075"/>
            <a:ext cx="54864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1581150" y="2638425"/>
            <a:ext cx="514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20344B"/>
                </a:solidFill>
                <a:latin typeface="Microsoft YaHei"/>
                <a:ea typeface="Microsoft YaHei"/>
              </a:rPr>
              <a:t>请安排阅读分享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609600" y="3267075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切分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1409700" y="3133725"/>
            <a:ext cx="1285875" cy="428625"/>
          </a:xfrm>
          <a:prstGeom prst="roundRect">
            <a:avLst>
              <a:gd name="adj" fmla="val 17778"/>
            </a:avLst>
          </a:prstGeom>
          <a:solidFill>
            <a:srgbClr val="F4F7FA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1971675" y="324802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请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2809875" y="3133725"/>
            <a:ext cx="1285875" cy="428625"/>
          </a:xfrm>
          <a:prstGeom prst="roundRect">
            <a:avLst>
              <a:gd name="adj" fmla="val 17778"/>
            </a:avLst>
          </a:prstGeom>
          <a:solidFill>
            <a:srgbClr val="F4F7FA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3295650" y="32480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安排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4210050" y="3133725"/>
            <a:ext cx="1285875" cy="428625"/>
          </a:xfrm>
          <a:prstGeom prst="roundRect">
            <a:avLst>
              <a:gd name="adj" fmla="val 17778"/>
            </a:avLst>
          </a:prstGeom>
          <a:solidFill>
            <a:srgbClr val="F4F7FA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4695825" y="32480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阅读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5610225" y="3133725"/>
            <a:ext cx="1285875" cy="428625"/>
          </a:xfrm>
          <a:prstGeom prst="roundRect">
            <a:avLst>
              <a:gd name="adj" fmla="val 17778"/>
            </a:avLst>
          </a:prstGeom>
          <a:solidFill>
            <a:srgbClr val="F4F7FA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6096000" y="32480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分享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609600" y="38290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编号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1409700" y="3695700"/>
            <a:ext cx="1285875" cy="428625"/>
          </a:xfrm>
          <a:prstGeom prst="roundRect">
            <a:avLst>
              <a:gd name="adj" fmla="val 1777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1905000" y="381000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101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2809875" y="3695700"/>
            <a:ext cx="1285875" cy="428625"/>
          </a:xfrm>
          <a:prstGeom prst="roundRect">
            <a:avLst>
              <a:gd name="adj" fmla="val 1777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3305175" y="381000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202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4210050" y="3695700"/>
            <a:ext cx="1285875" cy="428625"/>
          </a:xfrm>
          <a:prstGeom prst="roundRect">
            <a:avLst>
              <a:gd name="adj" fmla="val 1777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4705350" y="381000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303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5610225" y="3695700"/>
            <a:ext cx="1285875" cy="428625"/>
          </a:xfrm>
          <a:prstGeom prst="roundRect">
            <a:avLst>
              <a:gd name="adj" fmla="val 1777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6105525" y="381000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404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609600" y="43624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向量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1409700" y="4257675"/>
            <a:ext cx="1285875" cy="38100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84" name=""/>
          <p:cNvSpPr/>
          <p:nvPr/>
        </p:nvSpPr>
        <p:spPr>
          <a:xfrm rot="0" flipH="0" flipV="0">
            <a:off x="1771650" y="4371975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5" name=""/>
          <p:cNvSpPr/>
          <p:nvPr/>
        </p:nvSpPr>
        <p:spPr>
          <a:xfrm rot="0" flipH="0" flipV="0">
            <a:off x="1981200" y="4371975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B5D4F4"/>
          </a:solidFill>
          <a:ln/>
        </p:spPr>
        <p:txBody>
          <a:bodyPr/>
          <a:p/>
        </p:txBody>
      </p:sp>
      <p:sp>
        <p:nvSpPr>
          <p:cNvPr id="686" name=""/>
          <p:cNvSpPr/>
          <p:nvPr/>
        </p:nvSpPr>
        <p:spPr>
          <a:xfrm rot="0" flipH="0" flipV="0">
            <a:off x="2190750" y="4371975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8FC0EA"/>
          </a:solidFill>
          <a:ln/>
        </p:spPr>
        <p:txBody>
          <a:bodyPr/>
          <a:p/>
        </p:txBody>
      </p:sp>
      <p:sp>
        <p:nvSpPr>
          <p:cNvPr id="687" name=""/>
          <p:cNvSpPr/>
          <p:nvPr/>
        </p:nvSpPr>
        <p:spPr>
          <a:xfrm rot="0" flipH="0" flipV="0">
            <a:off x="2809875" y="4257675"/>
            <a:ext cx="1285875" cy="38100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88" name=""/>
          <p:cNvSpPr/>
          <p:nvPr/>
        </p:nvSpPr>
        <p:spPr>
          <a:xfrm rot="0" flipH="0" flipV="0">
            <a:off x="3171825" y="4371975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8FC0EA"/>
          </a:solidFill>
          <a:ln/>
        </p:spPr>
        <p:txBody>
          <a:bodyPr/>
          <a:p/>
        </p:txBody>
      </p:sp>
      <p:sp>
        <p:nvSpPr>
          <p:cNvPr id="689" name=""/>
          <p:cNvSpPr/>
          <p:nvPr/>
        </p:nvSpPr>
        <p:spPr>
          <a:xfrm rot="0" flipH="0" flipV="0">
            <a:off x="3381375" y="4371975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0" name=""/>
          <p:cNvSpPr/>
          <p:nvPr/>
        </p:nvSpPr>
        <p:spPr>
          <a:xfrm rot="0" flipH="0" flipV="0">
            <a:off x="3590925" y="4371975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B5D4F4"/>
          </a:solidFill>
          <a:ln/>
        </p:spPr>
        <p:txBody>
          <a:bodyPr/>
          <a:p/>
        </p:txBody>
      </p:sp>
      <p:sp>
        <p:nvSpPr>
          <p:cNvPr id="691" name=""/>
          <p:cNvSpPr/>
          <p:nvPr/>
        </p:nvSpPr>
        <p:spPr>
          <a:xfrm rot="0" flipH="0" flipV="0">
            <a:off x="4210050" y="4257675"/>
            <a:ext cx="1285875" cy="38100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92" name=""/>
          <p:cNvSpPr/>
          <p:nvPr/>
        </p:nvSpPr>
        <p:spPr>
          <a:xfrm rot="0" flipH="0" flipV="0">
            <a:off x="4572000" y="4371975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B5D4F4"/>
          </a:solidFill>
          <a:ln/>
        </p:spPr>
        <p:txBody>
          <a:bodyPr/>
          <a:p/>
        </p:txBody>
      </p:sp>
      <p:sp>
        <p:nvSpPr>
          <p:cNvPr id="693" name=""/>
          <p:cNvSpPr/>
          <p:nvPr/>
        </p:nvSpPr>
        <p:spPr>
          <a:xfrm rot="0" flipH="0" flipV="0">
            <a:off x="4781550" y="4371975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8FC0EA"/>
          </a:solidFill>
          <a:ln/>
        </p:spPr>
        <p:txBody>
          <a:bodyPr/>
          <a:p/>
        </p:txBody>
      </p:sp>
      <p:sp>
        <p:nvSpPr>
          <p:cNvPr id="694" name=""/>
          <p:cNvSpPr/>
          <p:nvPr/>
        </p:nvSpPr>
        <p:spPr>
          <a:xfrm rot="0" flipH="0" flipV="0">
            <a:off x="4991100" y="4371975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5" name=""/>
          <p:cNvSpPr/>
          <p:nvPr/>
        </p:nvSpPr>
        <p:spPr>
          <a:xfrm rot="0" flipH="0" flipV="0">
            <a:off x="5610225" y="4257675"/>
            <a:ext cx="1285875" cy="38100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96" name=""/>
          <p:cNvSpPr/>
          <p:nvPr/>
        </p:nvSpPr>
        <p:spPr>
          <a:xfrm rot="0" flipH="0" flipV="0">
            <a:off x="5972175" y="4371975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7" name=""/>
          <p:cNvSpPr/>
          <p:nvPr/>
        </p:nvSpPr>
        <p:spPr>
          <a:xfrm rot="0" flipH="0" flipV="0">
            <a:off x="6181725" y="4371975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8FC0EA"/>
          </a:solidFill>
          <a:ln/>
        </p:spPr>
        <p:txBody>
          <a:bodyPr/>
          <a:p/>
        </p:txBody>
      </p:sp>
      <p:sp>
        <p:nvSpPr>
          <p:cNvPr id="698" name=""/>
          <p:cNvSpPr/>
          <p:nvPr/>
        </p:nvSpPr>
        <p:spPr>
          <a:xfrm rot="0" flipH="0" flipV="0">
            <a:off x="6391275" y="4371975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B5D4F4"/>
          </a:solidFill>
          <a:ln/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1409700" y="4772025"/>
            <a:ext cx="548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片段、编号与向量均为示意；色块深浅表示数值不同，不代表真实嵌入结果。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7239000" y="2257425"/>
            <a:ext cx="4343400" cy="885825"/>
          </a:xfrm>
          <a:prstGeom prst="roundRect">
            <a:avLst>
              <a:gd name="adj" fmla="val 1075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7410450" y="2409825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Token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是片段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7410450" y="2695575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可能是字、词的一部分或标点，不能固定换算成汉字。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7239000" y="3276600"/>
            <a:ext cx="4343400" cy="885825"/>
          </a:xfrm>
          <a:prstGeom prst="roundRect">
            <a:avLst>
              <a:gd name="adj" fmla="val 1075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7410450" y="3429000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编号用于索引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7410450" y="3714750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编号本身不表示词义，它只是一个查得到的位置。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7239000" y="4295775"/>
            <a:ext cx="4343400" cy="885825"/>
          </a:xfrm>
          <a:prstGeom prst="roundRect">
            <a:avLst>
              <a:gd name="adj" fmla="val 1075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7410450" y="4448175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向量用于计算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7410450" y="4733925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每个编号映射为一组数值，表示还受周围内容影响。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11" name="" descr="&lt;Slide notes={`现在说第二个问题：容量。&#10;&#10;这一次送进模型的东西，包括我的指令、之前的对话历史、应用读进来的资料和工具返回的结果，再加上留给我生成内容的空间，它们共用的是同一份容量。这份容量就是上下文窗口。&#10;&#10;请注意两件事。&#10;&#10;第一，窗口是有限的。当要放的内容超过窗口，它不会自动挤进去，而是需要应用先做筛选或者截断。哪些留下、哪些丢掉，直接决定了模型这次能看到什么。&#10;&#10;第二，窗口大不等于长期记忆。这一段对话结束以后，里面的内容就不在这个上下文里了。下一次提问，除非应用重新把材料读进来，否则模型不会&quot;记得&quot;。&#10;&#10;所以回到青禾那件事：我后来把房间容量表放进对话，模型这轮能用上它。但我不能假定下一轮它还能用——除非应用又读了一次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1.2　Token：文字怎样变成可计算的输入&lt;/Text&gt;&#10;            &lt;Text style={{ fontSize: 34, fontWeight: 'bold', color: '#20344B' }}&gt;上下文预算是有限的&lt;/Text&gt;&#10;        &lt;/Box&gt;&#10;    &lt;/Box&gt;&#10;&#10;    &lt;Box style={{ height: 540, flexDirection: 'column', gap: 24 }}&gt;&#10;&#10;        &lt;Box style={{ flexDirection: 'column', gap: 16 }}&gt;&#10;            &lt;Text style={{ fontSize: 20, fontWeight: 'bold', color: '#20344B' }}&gt;上下文窗口：本次计算能容纳的信息范围&lt;/Text&gt;&#10;&#10;            &lt;Box style={{ flexDirection: 'row', gap: 6 }}&gt;&#10;                &lt;Box style={{ width: 220, height: 116, background: '#BCD4ED', borderRadius: 8, padding: 14, flexDirection: 'column', gap: 6 }}&gt;&#10;                    &lt;Text style={{ fontSize: 17, fontWeight: 'bold', color: '#20344B' }}&gt;指令&lt;/Text&gt;&#10;                    &lt;Text style={{ fontSize: 14, color: '#546779', lineHeight: 1.5 }}&gt;这一次要我做什么&lt;/Text&gt;&#10;                &lt;/Box&gt;&#10;                &lt;Box style={{ width: 230, height: 116, background: '#D4E7DF', borderRadius: 8, padding: 14, flexDirection: 'column', gap: 6 }}&gt;&#10;                    &lt;Text style={{ fontSize: 17, fontWeight: 'bold', color: '#20344B' }}&gt;历史消息&lt;/Text&gt;&#10;                    &lt;Text style={{ fontSize: 14, color: '#546779', lineHeight: 1.5 }}&gt;之前几轮说过的话&lt;/Text&gt;&#10;                &lt;/Box&gt;&#10;                &lt;Box style={{ width: 356, height: 116, background: '#F0D8BD', borderRadius: 8, padding: 14, flexDirection: 'column', gap: 6 }}&gt;&#10;                    &lt;Text style={{ fontSize: 17, fontWeight: 'bold', color: '#20344B' }}&gt;资料 ／ 工具结果&lt;/Text&gt;&#10;                    &lt;Text style={{ fontSize: 14, color: '#546779', lineHeight: 1.5 }}&gt;应用读进来的房间表、预约查询返回的记录&lt;/Text&gt;&#10;                &lt;/Box&gt;&#10;                &lt;Box style={{ width: 280, height: 116, background: '#E6ECF1', borderRadius: 8, padding: 14, flexDirection: 'column', gap: 6 }}&gt;&#10;                    &lt;Text style={{ fontSize: 17, fontWeight: 'bold', color: '#20344B' }}&gt;生成内容所需空间&lt;/Text&gt;&#10;                    &lt;Text style={{ fontSize: 14, color: '#546779', lineHeight: 1.5 }}&gt;留给我写答案的那一部分&lt;/Text&gt;&#10;                &lt;/Box&gt;&#10;            &lt;/Box&gt;&#10;&#10;            &lt;Box style={{ flexDirection: 'row', alignItems: 'center', gap: 12 }}&gt;&#10;                &lt;Box style={{ width: 3, height: 22, background: '#CB6B28' }} /&gt;&#10;                &lt;Text style={{ fontSize: 15, color: '#CB6B28' }}&gt;超过这条边界的内容不会进入本次计算，需要先筛选或截断输入。&lt;/Text&gt;&#10;            &lt;/Box&gt;&#10;        &lt;/Box&gt;&#10;&#10;        &lt;Box style={{ flex: 1, background: '#F4F7FA', borderRadius: 10, padding: '20px 24px', flexDirection: 'column', justifyContent: 'center', gap: 16 }}&gt;&#10;&#10;            &lt;Box style={{ flexDirection: 'row', gap: 14, alignItems: 'flex-start' }}&gt;&#10;                &lt;Box style={{ width: 26, height: 26, borderRadius: 13, background: '#276FBF', justifyContent: 'center', alignItems: 'center' }}&gt;&#10;                    &lt;Text style={{ fontSize: 15, fontWeight: 'bold', color: '#FFFFFF' }}&gt;1&lt;/Text&gt;&#10;                &lt;/Box&gt;&#10;                &lt;Box style={{ flexDirection: 'column', gap: 2 }}&gt;&#10;                    &lt;Text style={{ fontSize: 18, fontWeight: 'bold', color: '#20344B' }}&gt;四类内容共用一份容量&lt;/Text&gt;&#10;                    &lt;Text style={{ fontSize: 16, color: '#546779' }}&gt;指令、消息、资料和生成空间互相争用，不是各自独立。&lt;/Text&gt;&#10;                &lt;/Box&gt;&#10;            &lt;/Box&gt;&#10;&#10;            &lt;Box style={{ flexDirection: 'row', gap: 14, alignItems: 'flex-start' }}&gt;&#10;                &lt;Box style={{ width: 26, height: 26, borderRadius: 13, background: '#276FBF', justifyContent: 'center', alignItems: 'center' }}&gt;&#10;                    &lt;Text style={{ fontSize: 15, fontWeight: 'bold', color: '#FFFFFF' }}&gt;2&lt;/Text&gt;&#10;                &lt;/Box&gt;&#10;                &lt;Box style={{ flexDirection: 'column', gap: 2 }}&gt;&#10;                    &lt;Text style={{ fontSize: 18, fontWeight: 'bold', color: '#20344B' }}&gt;放不下就要取舍&lt;/Text&gt;&#10;                    &lt;Text style={{ fontSize: 16, color: '#546779' }}&gt;应用会筛选或截断，哪些内容留下会直接影响这一轮的回答。&lt;/Text&gt;&#10;                &lt;/Box&gt;&#10;            &lt;/Box&gt;&#10;&#10;            &lt;Box style={{ flexDirection: 'row', gap: 14, alignItems: 'flex-start' }}&gt;&#10;                &lt;Box style={{ width: 26, height: 26, borderRadius: 13, background: '#CB6B28', justifyContent: 'center', alignItems: 'center' }}&gt;&#10;                    &lt;Text style={{ fontSize: 15, fontWeight: 'bold', color: '#FFFFFF' }}&gt;3&lt;/Text&gt;&#10;                &lt;/Box&gt;&#10;                &lt;Box style={{ flexDirection: 'column', gap: 2 }}&gt;&#10;                    &lt;Text style={{ fontSize: 18, fontWeight: 'bold', color: '#20344B' }}&gt;大窗口不等于长期记忆&lt;/Text&gt;&#10;                    &lt;Text style={{ fontSize: 16, color: '#546779' }}&gt;本轮结束后的内容不在上下文里，需要应用再次读入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09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Token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：文字怎样变成可计算的输入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上下文预算是有限的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上下文窗口：本次计算能容纳的信息范围</a:t>
            </a:r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609600" y="152400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BCD4ED"/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742950" y="1657350"/>
            <a:ext cx="1828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指令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742950" y="1914525"/>
            <a:ext cx="1828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这一次要我做什么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2762250" y="1524000"/>
            <a:ext cx="2190750" cy="1104900"/>
          </a:xfrm>
          <a:prstGeom prst="roundRect">
            <a:avLst>
              <a:gd name="adj" fmla="val 6897"/>
            </a:avLst>
          </a:prstGeom>
          <a:solidFill>
            <a:srgbClr val="D4E7DF"/>
          </a:soli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2895600" y="1657350"/>
            <a:ext cx="1924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历史消息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2895600" y="1914525"/>
            <a:ext cx="1924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之前几轮说过的话</a:t>
            </a:r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5010150" y="1524000"/>
            <a:ext cx="3390900" cy="1104900"/>
          </a:xfrm>
          <a:prstGeom prst="roundRect">
            <a:avLst>
              <a:gd name="adj" fmla="val 6897"/>
            </a:avLst>
          </a:prstGeom>
          <a:solidFill>
            <a:srgbClr val="F0D8BD"/>
          </a:solidFill>
          <a:ln/>
        </p:spPr>
        <p:txBody>
          <a:bodyPr/>
          <a:p/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5143500" y="1657350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资料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工具结果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5143500" y="1914525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应用读进来的房间表、预约查询返回的记录</a:t>
            </a:r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8458200" y="1524000"/>
            <a:ext cx="2667000" cy="1104900"/>
          </a:xfrm>
          <a:prstGeom prst="roundRect">
            <a:avLst>
              <a:gd name="adj" fmla="val 6897"/>
            </a:avLst>
          </a:prstGeom>
          <a:solidFill>
            <a:srgbClr val="E6ECF1"/>
          </a:solidFill>
          <a:ln/>
        </p:spPr>
        <p:txBody>
          <a:bodyPr/>
          <a:p/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8591550" y="1657350"/>
            <a:ext cx="2400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生成内容所需空间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8591550" y="1914525"/>
            <a:ext cx="2400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留给我写答案的那一部分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609600" y="2781300"/>
            <a:ext cx="28575" cy="209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752475" y="2800350"/>
            <a:ext cx="4143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超过这条边界的内容不会进入本次计算，需要先筛选或截断输入。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609600" y="3219450"/>
            <a:ext cx="10972800" cy="3067050"/>
          </a:xfrm>
          <a:prstGeom prst="roundRect">
            <a:avLst>
              <a:gd name="adj" fmla="val 310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32" name=""/>
          <p:cNvSpPr/>
          <p:nvPr/>
        </p:nvSpPr>
        <p:spPr>
          <a:xfrm rot="0" flipH="0" flipV="0">
            <a:off x="838200" y="39719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914400" y="40100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1219200" y="3971925"/>
            <a:ext cx="381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四类内容共用一份容量</a:t>
            </a:r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1219200" y="4200525"/>
            <a:ext cx="381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指令、消息、资料和生成空间互相争用，不是各自独立。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838200" y="45434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914400" y="45815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1219200" y="4543425"/>
            <a:ext cx="4114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放不下就要取舍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1219200" y="4772025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应用会筛选或截断，哪些内容留下会直接影响这一轮的回答。</a:t>
            </a:r>
            <a:endParaRPr/>
          </a:p>
        </p:txBody>
      </p:sp>
      <p:sp>
        <p:nvSpPr>
          <p:cNvPr id="740" name=""/>
          <p:cNvSpPr/>
          <p:nvPr/>
        </p:nvSpPr>
        <p:spPr>
          <a:xfrm rot="0" flipH="0" flipV="0">
            <a:off x="838200" y="51149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914400" y="51530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1219200" y="5114925"/>
            <a:ext cx="3657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大窗口不等于长期记忆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1219200" y="5343525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本轮结束后的内容不在上下文里，需要应用再次读入。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6" name="" descr="&lt;Slide notes={`我们用一个汉字来验证前面这一整段的结论。&quot;紧&quot;这个字。&#10;&#10;&quot;安排很紧&quot;，说的是时间紧凑；&quot;把门关紧&quot;，说的是关得严实。同一个字，两种完全不同的意思。如果模型只认这一个字，它就会把两句理解成同一件事。&#10;&#10;它能处理得更好，是因为它拿到的不只是一个字的位置，还带着这个字周围的内容。这也是为什么前面要说&quot;表示还受周围内容影响&quot;。&#10;&#10;把这一段的三句结论记住。&#10;&#10;第一，片段不等于汉字。切分怎么切，是由分词器决定的，用量以分词器或者接口的统计为准，不能自己换算。&#10;&#10;第二，编号负责查位置，向量负责参与计算，它们本身都不等于词义。&#10;&#10;第三，窗口有上限。四类内容共用同一份容量，放不下就得先筛选或截断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1.2　Token：文字怎样变成可计算的输入&lt;/Text&gt;&#10;            &lt;Text style={{ fontSize: 34, fontWeight: 'bold', color: '#20344B' }}&gt;读图三点，和一个&quot;紧&quot;字&lt;/Text&gt;&#10;        &lt;/Box&gt;&#10;    &lt;/Box&gt;&#10;&#10;    &lt;Box style={{ height: 540, flexDirection: 'row', gap: 36 }}&gt;&#10;&#10;        &lt;Box style={{ width: 466, flexDirection: 'column', justifyContent: 'center', gap: 16 }}&gt;&#10;&#10;            &lt;Text style={{ fontSize: 22, fontWeight: 'bold', color: '#20344B' }}&gt;同一个&quot;紧&quot;，两种含义&lt;/Text&gt;&#10;&#10;            &lt;Box style={{ background: '#EDF4FC', borderRadius: 10, padding: '18px 20px', flexDirection: 'column', gap: 6, border: '1px solid #B5C7D8' }}&gt;&#10;                &lt;Text style={{ fontSize: 24, fontWeight: 'bold', color: '#276FBF' }}&gt;安排很紧&lt;/Text&gt;&#10;                &lt;Text style={{ fontSize: 16, color: '#546779' }}&gt;说的是时间上排得紧凑&lt;/Text&gt;&#10;            &lt;/Box&gt;&#10;&#10;            &lt;Box style={{ background: '#ECF7F2', borderRadius: 10, padding: '18px 20px', flexDirection: 'column', gap: 6, border: '1px solid #B5C7D8' }}&gt;&#10;                &lt;Text style={{ fontSize: 24, fontWeight: 'bold', color: '#26816B' }}&gt;把门关紧&lt;/Text&gt;&#10;                &lt;Text style={{ fontSize: 16, color: '#546779' }}&gt;说的是关得严实、不留缝&lt;/Text&gt;&#10;            &lt;/Box&gt;&#10;&#10;            &lt;Box style={{ flexDirection: 'row', gap: 10, alignItems: 'center' }}&gt;&#10;                &lt;Box style={{ width: 3, height: 22, background: '#CB6B28' }} /&gt;&#10;                &lt;Text style={{ fontSize: 16, color: '#CB6B28' }}&gt;只认一个字，判断就会偏。&lt;/Text&gt;&#10;            &lt;/Box&gt;&#10;&#10;            &lt;Text style={{ fontSize: 16, color: '#546779', lineHeight: 1.7 }}&gt;模型处理语言时，带的是位置和周围内容，不是一个一个孤立的汉字。&lt;/Text&gt;&#10;&#10;        &lt;/Box&gt;&#10;&#10;        &lt;Box style={{ flex: 1, flexDirection: 'column', justifyContent: 'center', gap: 16 }}&gt;&#10;&#10;            &lt;Box style={{ flexDirection: 'row', gap: 16, background: '#F4F7FA', borderRadius: 10, padding: '18px 20px', alignItems: 'flex-start' }}&gt;&#10;                &lt;Box style={{ width: 30, height: 30, borderRadius: 8, background: '#276FBF', justifyContent: 'center', alignItems: 'center' }}&gt;&#10;                    &lt;Text style={{ fontSize: 16, fontWeight: 'bold', color: '#FFFFFF' }}&gt;1&lt;/Text&gt;&#10;                &lt;/Box&gt;&#10;                &lt;Box style={{ flexDirection: 'column', gap: 4 }}&gt;&#10;                    &lt;Text style={{ fontSize: 20, fontWeight: 'bold', color: '#20344B' }}&gt;片段不等于汉字&lt;/Text&gt;&#10;                    &lt;Text style={{ fontSize: 16, color: '#546779', lineHeight: 1.6 }}&gt;一个片段可能是字、词的一部分或标点，不能固定换算，实际用量以分词器或接口统计为准。&lt;/Text&gt;&#10;                &lt;/Box&gt;&#10;            &lt;/Box&gt;&#10;&#10;            &lt;Box style={{ flexDirection: 'row', gap: 16, background: '#F4F7FA', borderRadius: 10, padding: '18px 20px', alignItems: 'flex-start' }}&gt;&#10;                &lt;Box style={{ width: 30, height: 30, borderRadius: 8, background: '#276FBF', justifyContent: 'center', alignItems: 'center' }}&gt;&#10;                    &lt;Text style={{ fontSize: 16, fontWeight: 'bold', color: '#FFFFFF' }}&gt;2&lt;/Text&gt;&#10;                &lt;/Box&gt;&#10;                &lt;Box style={{ flexDirection: 'column', gap: 4 }}&gt;&#10;                    &lt;Text style={{ fontSize: 20, fontWeight: 'bold', color: '#20344B' }}&gt;编号查位置，向量做计算&lt;/Text&gt;&#10;                    &lt;Text style={{ fontSize: 16, color: '#546779', lineHeight: 1.6 }}&gt;编号本身不是词义；一个片段最终表示成什么，还受它周围内容的影响。&lt;/Text&gt;&#10;                &lt;/Box&gt;&#10;            &lt;/Box&gt;&#10;&#10;            &lt;Box style={{ flexDirection: 'row', gap: 16, background: '#F4F7FA', borderRadius: 10, padding: '18px 20px', alignItems: 'flex-start' }}&gt;&#10;                &lt;Box style={{ width: 30, height: 30, borderRadius: 8, background: '#CB6B28', justifyContent: 'center', alignItems: 'center' }}&gt;&#10;                    &lt;Text style={{ fontSize: 16, fontWeight: 'bold', color: '#FFFFFF' }}&gt;3&lt;/Text&gt;&#10;                &lt;/Box&gt;&#10;                &lt;Box style={{ flexDirection: 'column', gap: 4 }}&gt;&#10;                    &lt;Text style={{ fontSize: 20, fontWeight: 'bold', color: '#20344B' }}&gt;窗口有上限&lt;/Text&gt;&#10;                    &lt;Text style={{ fontSize: 16, color: '#546779', lineHeight: 1.6 }}&gt;指令、消息、资料与生成内容共用容量，放不下就要筛选或截断，窗口大也不等于长期记忆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10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81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Token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：文字怎样变成可计算的输入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81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读图三点，和一个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紧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字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09600" y="2000250"/>
            <a:ext cx="443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同一个</a:t>
            </a: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紧</a:t>
            </a: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，两种含义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09600" y="2409825"/>
            <a:ext cx="4438650" cy="866775"/>
          </a:xfrm>
          <a:prstGeom prst="roundRect">
            <a:avLst>
              <a:gd name="adj" fmla="val 10989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00100" y="2581275"/>
            <a:ext cx="4057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安排很紧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00100" y="2914650"/>
            <a:ext cx="405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说的是时间上排得紧凑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09600" y="3429000"/>
            <a:ext cx="4438650" cy="866775"/>
          </a:xfrm>
          <a:prstGeom prst="roundRect">
            <a:avLst>
              <a:gd name="adj" fmla="val 10989"/>
            </a:avLst>
          </a:prstGeom>
          <a:solidFill>
            <a:srgbClr val="ECF7F2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00100" y="3600450"/>
            <a:ext cx="4057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6816B"/>
                </a:solidFill>
                <a:latin typeface="Microsoft YaHei"/>
                <a:ea typeface="Microsoft YaHei"/>
              </a:rPr>
              <a:t>把门关紧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00100" y="3933825"/>
            <a:ext cx="405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说的是关得严实、不留缝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09600" y="4448175"/>
            <a:ext cx="28575" cy="209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33425" y="4457700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只认一个字，判断就会偏。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09600" y="4810125"/>
            <a:ext cx="44386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模型处理语言时，带的是位置和周围内容，不是一个一个孤立的汉字。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5391150" y="1914525"/>
            <a:ext cx="6191250" cy="1200150"/>
          </a:xfrm>
          <a:prstGeom prst="roundRect">
            <a:avLst>
              <a:gd name="adj" fmla="val 793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5581650" y="2085975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676900" y="21336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000750" y="2085975"/>
            <a:ext cx="5391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片段不等于汉字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00750" y="2352675"/>
            <a:ext cx="5391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一个片段可能是字、词的一部分或标点，不能固定换算，实际用量以分词器或接口统计为准。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391150" y="3267075"/>
            <a:ext cx="6191250" cy="904875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5581650" y="3438525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676900" y="34861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19800" y="3438525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编号查位置，向量做计算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19800" y="3705225"/>
            <a:ext cx="4876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编号本身不是词义；一个片段最终表示成什么，还受它周围内容的影响。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5391150" y="4324350"/>
            <a:ext cx="6191250" cy="1200150"/>
          </a:xfrm>
          <a:prstGeom prst="roundRect">
            <a:avLst>
              <a:gd name="adj" fmla="val 793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5581650" y="44958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676900" y="45434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00750" y="4495800"/>
            <a:ext cx="5391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窗口有上限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000750" y="4762500"/>
            <a:ext cx="5391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指令、消息、资料与生成内容共用容量，放不下就要筛选或截断，窗口大也不等于长期记忆。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8" name="" descr="&lt;Slide notes={`第三个知识块，我们看一段回答到底是怎么出来的。&#10;&#10;前面说过，模型手里拿的是一组组数值。那么回答是怎么从这些数值里长出来的？&#10;&#10;先说结论：它是一次生成一个片段，然后把新生成的片段接回已有的内容，再继续生成下一个。就这样一步一步往下走。&#10;&#10;这里有两个容易误解的地方。&#10;&#10;第一，这个回环不代表每一次都把全部历史重新算一遍。它是一个生成过程，不是在反复核验。&#10;&#10;第二，生成结束有两种情况。一种是模型认为写完了，另一种是达到了我们设定的长度限制。如果是后者，你拿到的可能只是一段被截断的回答。&#10;&#10;所以你在对话框里看到一段完整的、结尾很自然的文字，也可能只是刚好停在了那里。这一点，后面讲到错误检查的时候还会用到。`} style={{ width: 1280, height: 720, background: '#F4F7FA', flexDirection: 'column', padding: '20px 64px' }}&gt;&#10;&#10;    &lt;Box style={{ height: 240, flexDirection: 'column', justifyContent: 'center', alignItems: 'center', gap: 12 }}&gt;&#10;        &lt;Text style={{ fontSize: 14, color: '#276FBF' }}&gt;知识块 03&lt;/Text&gt;&#10;        &lt;Text style={{ fontSize: 56, fontWeight: 'bold', color: '#20344B', lineHeight: 1.15 }}&gt;一段回答是怎样生成的&lt;/Text&gt;&#10;        &lt;Box style={{ width: 72, height: 3, background: '#276FBF' }} /&gt;&#10;        &lt;Text style={{ fontSize: 20, color: '#546779' }}&gt;生成一个片段，接回已有内容，再继续&lt;/Text&gt;&#10;    &lt;/Box&gt;&#10;&#10;    &lt;Box style={{ height: 400, flexDirection: 'column', justifyContent: 'center', gap: 22 }}&gt;&#10;&#10;        &lt;Box style={{ flexDirection: 'row', justifyContent: 'center', gap: 12 }}&gt;&#10;            &lt;Box style={{ width: 170, height: 72, background: '#FFFFFF', borderRadius: 8, border: '1px solid #B5C7D8', justifyContent: 'center', alignItems: 'center' }}&gt;&#10;                &lt;Text style={{ fontSize: 18, color: '#20344B' }}&gt;实际输入&lt;/Text&gt;&#10;            &lt;/Box&gt;&#10;            &lt;Box style={{ justifyContent: 'center' }}&gt;&#10;                &lt;Text style={{ fontSize: 20, color: '#276FBF' }}&gt;›&lt;/Text&gt;&#10;            &lt;/Box&gt;&#10;            &lt;Box style={{ width: 170, height: 72, background: '#FFFFFF', borderRadius: 8, border: '1px solid #B5C7D8', justifyContent: 'center', alignItems: 'center' }}&gt;&#10;                &lt;Text style={{ fontSize: 18, color: '#20344B' }}&gt;数值表示&lt;/Text&gt;&#10;            &lt;/Box&gt;&#10;            &lt;Box style={{ justifyContent: 'center' }}&gt;&#10;                &lt;Text style={{ fontSize: 20, color: '#276FBF' }}&gt;›&lt;/Text&gt;&#10;            &lt;/Box&gt;&#10;            &lt;Box style={{ width: 170, height: 72, background: '#276FBF', borderRadius: 8, justifyContent: 'center', alignItems: 'center' }}&gt;&#10;                &lt;Text style={{ fontSize: 18, fontWeight: 'bold', color: '#FFFFFF' }}&gt;模型计算&lt;/Text&gt;&#10;            &lt;/Box&gt;&#10;            &lt;Box style={{ justifyContent: 'center' }}&gt;&#10;                &lt;Text style={{ fontSize: 20, color: '#276FBF' }}&gt;›&lt;/Text&gt;&#10;            &lt;/Box&gt;&#10;            &lt;Box style={{ width: 170, height: 72, background: '#FFFFFF', borderRadius: 8, border: '1px solid #B5C7D8', justifyContent: 'center', alignItems: 'center' }}&gt;&#10;                &lt;Text style={{ fontSize: 18, color: '#20344B' }}&gt;选择 Token&lt;/Text&gt;&#10;            &lt;/Box&gt;&#10;            &lt;Box style={{ justifyContent: 'center' }}&gt;&#10;                &lt;Text style={{ fontSize: 20, color: '#276FBF' }}&gt;›&lt;/Text&gt;&#10;            &lt;/Box&gt;&#10;            &lt;Box style={{ width: 170, height: 72, background: '#FFFFFF', borderRadius: 8, border: '1px solid #B5C7D8', justifyContent: 'center', alignItems: 'center' }}&gt;&#10;                &lt;Text style={{ fontSize: 18, color: '#20344B' }}&gt;接回已有内容&lt;/Text&gt;&#10;            &lt;/Box&gt;&#10;        &lt;/Box&gt;&#10;&#10;        &lt;Box style={{ alignItems: 'center', flexDirection: 'column', gap: 10 }}&gt;&#10;            &lt;Box style={{ width: 630, height: 2, background: '#276FBF' }} /&gt;&#10;            &lt;Text style={{ fontSize: 16, color: '#546779' }}&gt;没有满足停止条件，就回到模型计算，继续生成下一个片段&lt;/Text&gt;&#10;        &lt;/Box&gt;&#10;&#10;        &lt;Box style={{ flexDirection: 'row', justifyContent: 'center', gap: 16 }}&gt;&#10;            &lt;Box style={{ background: '#FFF4E6', borderRadius: 8, padding: '12px 22px', border: '1px solid #E5C9A8' }}&gt;&#10;                &lt;Text style={{ fontSize: 17, color: '#CB6B28' }}&gt;达到限制时，可能只得到部分回答&lt;/Text&gt;&#10;            &lt;/Box&gt;&#10;            &lt;Box style={{ background: '#ECF7F2', borderRadius: 8, padding: '12px 22px', border: '1px solid #B5C7D8' }}&gt;&#10;                &lt;Text style={{ fontSize: 17, color: '#26816B' }}&gt;回环表示生成过程，不表示已经核验事实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11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800725" y="581025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知识块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03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429000" y="857250"/>
            <a:ext cx="53340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一段回答是怎样生成的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5753100" y="1714500"/>
            <a:ext cx="6858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476750" y="1857375"/>
            <a:ext cx="323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546779"/>
                </a:solidFill>
                <a:latin typeface="Microsoft YaHei"/>
                <a:ea typeface="Microsoft YaHei"/>
              </a:rPr>
              <a:t>生成一个片段，接回已有内容，再继续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1457325" y="346710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924050" y="37052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实际输入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190875" y="369570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3371850" y="346710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838575" y="37052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数值表示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105400" y="369570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5286375" y="346710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753100" y="37052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模型计算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019925" y="369570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7200900" y="346710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572375" y="3705225"/>
            <a:ext cx="876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选择</a:t>
            </a:r>
            <a:r>
              <a:rPr lang="en-US" sz="1350">
                <a:solidFill>
                  <a:srgbClr val="20344B"/>
                </a:solidFill>
                <a:latin typeface="Microsoft YaHei"/>
                <a:ea typeface="Microsoft YaHei"/>
              </a:rPr>
              <a:t xml:space="preserve"> Token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934450" y="369570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9115425" y="346710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9410700" y="370522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接回已有内容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3095625" y="4362450"/>
            <a:ext cx="6000750" cy="190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114800" y="4476750"/>
            <a:ext cx="396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没有满足停止条件，就回到模型计算，继续生成下一个片段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2933700" y="4876800"/>
            <a:ext cx="2847975" cy="428625"/>
          </a:xfrm>
          <a:prstGeom prst="roundRect">
            <a:avLst>
              <a:gd name="adj" fmla="val 17778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3143250" y="499110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B6B28"/>
                </a:solidFill>
                <a:latin typeface="Microsoft YaHei"/>
                <a:ea typeface="Microsoft YaHei"/>
              </a:rPr>
              <a:t>达到限制时，可能只得到部分回答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5934075" y="4876800"/>
            <a:ext cx="3333750" cy="428625"/>
          </a:xfrm>
          <a:prstGeom prst="roundRect">
            <a:avLst>
              <a:gd name="adj" fmla="val 17778"/>
            </a:avLst>
          </a:prstGeom>
          <a:solidFill>
            <a:srgbClr val="ECF7F2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143625" y="4991100"/>
            <a:ext cx="291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回环表示生成过程，不表示已经核验事实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6" name="" descr="&lt;Slide notes={`我们把上一步的轮廓填上内容。&#10;&#10;一条&quot;请安排阅读分享&quot;，加上已经读进来的房间容量表，这些是实际输入。它们先变成数值表示，也就是分词、编号和向量，再加上位置顺序的信息。&#10;&#10;接着是模型计算。模型在这里做的事，是根据已有的上下文，为接下来可能出现的片段分别算出分数。&#10;&#10;然后是选择。按生成规则挑出一个片段，把它接到已有内容的后面。&#10;&#10;接下来这一步很关键：把新生成的内容接回去，回到计算，再来一轮。这就是回环的含义——一次只往前走一小步。&#10;&#10;什么时候停？两种情况：模型给出了结束信号，或者达到了我们设定的长度上限。第二种情况下，你拿到的回答可能是被截断的。&#10;&#10;还有一点请记住：这个回环只是在生成，它不负责核对事实，也不负责执行工具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1.3　一段回答是怎样生成的&lt;/Text&gt;&#10;            &lt;Text style={{ fontSize: 34, fontWeight: 'bold', color: '#20344B' }}&gt;一次一个片段，接回去，再继续&lt;/Text&gt;&#10;        &lt;/Box&gt;&#10;    &lt;/Box&gt;&#10;&#10;    &lt;Box style={{ height: 540, flexDirection: 'column', gap: 22 }}&gt;&#10;&#10;        &lt;Box style={{ flexDirection: 'column', gap: 16, justifyContent: 'center', flex: 1 }}&gt;&#10;&#10;            &lt;Box style={{ flexDirection: 'row', justifyContent: 'center', gap: 12 }}&gt;&#10;                &lt;Box style={{ width: 170, height: 72, background: '#EDF4FC', borderRadius: 8, border: '1px solid #B5C7D8', justifyContent: 'center', alignItems: 'center', padding: 8 }}&gt;&#10;                    &lt;Text style={{ fontSize: 17, color: '#20344B', textAlign: 'center' }}&gt;实际输入&lt;/Text&gt;&#10;                &lt;/Box&gt;&#10;                &lt;Box style={{ justifyContent: 'center' }}&gt;&#10;                    &lt;Text style={{ fontSize: 20, color: '#276FBF' }}&gt;›&lt;/Text&gt;&#10;                &lt;/Box&gt;&#10;                &lt;Box style={{ width: 170, height: 72, background: '#EDF4FC', borderRadius: 8, border: '1px solid #B5C7D8', justifyContent: 'center', alignItems: 'center', padding: 8 }}&gt;&#10;                    &lt;Text style={{ fontSize: 17, color: '#20344B', textAlign: 'center' }}&gt;数值表示&lt;/Text&gt;&#10;                &lt;/Box&gt;&#10;                &lt;Box style={{ justifyContent: 'center' }}&gt;&#10;                    &lt;Text style={{ fontSize: 20, color: '#276FBF' }}&gt;›&lt;/Text&gt;&#10;                &lt;/Box&gt;&#10;                &lt;Box style={{ width: 170, height: 72, background: '#276FBF', borderRadius: 8, justifyContent: 'center', alignItems: 'center', padding: 8 }}&gt;&#10;                    &lt;Text style={{ fontSize: 17, fontWeight: 'bold', color: '#FFFFFF', textAlign: 'center' }}&gt;模型计算&lt;/Text&gt;&#10;                &lt;/Box&gt;&#10;                &lt;Box style={{ justifyContent: 'center' }}&gt;&#10;                    &lt;Text style={{ fontSize: 20, color: '#276FBF' }}&gt;›&lt;/Text&gt;&#10;                &lt;/Box&gt;&#10;                &lt;Box style={{ width: 170, height: 72, background: '#EDF4FC', borderRadius: 8, border: '1px solid #B5C7D8', justifyContent: 'center', alignItems: 'center', padding: 8 }}&gt;&#10;                    &lt;Text style={{ fontSize: 17, color: '#20344B', textAlign: 'center' }}&gt;按规则选择片段&lt;/Text&gt;&#10;                &lt;/Box&gt;&#10;                &lt;Box style={{ justifyContent: 'center' }}&gt;&#10;                    &lt;Text style={{ fontSize: 20, color: '#276FBF' }}&gt;›&lt;/Text&gt;&#10;                &lt;/Box&gt;&#10;                &lt;Box style={{ width: 170, height: 72, background: '#EDF4FC', borderRadius: 8, border: '1px solid #B5C7D8', justifyContent: 'center', alignItems: 'center', padding: 8 }}&gt;&#10;                    &lt;Text style={{ fontSize: 17, color: '#20344B', textAlign: 'center' }}&gt;接回已有内容&lt;/Text&gt;&#10;                &lt;/Box&gt;&#10;            &lt;/Box&gt;&#10;&#10;            &lt;Box style={{ alignItems: 'center', flexDirection: 'column', gap: 8 }}&gt;&#10;                &lt;Box style={{ width: 420, height: 2, background: '#276FBF' }} /&gt;&#10;                &lt;Text style={{ fontSize: 15, color: '#546779' }}&gt;未满足停止条件：接回去，重新计算下一个片段&lt;/Text&gt;&#10;            &lt;/Box&gt;&#10;&#10;            &lt;Box style={{ flexDirection: 'row', justifyContent: 'center', gap: 14 }}&gt;&#10;                &lt;Box style={{ width: 500, background: '#FFF4E6', borderRadius: 8, padding: '14px 20px', border: '1px solid #E5C9A8', flexDirection: 'row', gap: 10, alignItems: 'center' }}&gt;&#10;                    &lt;Text style={{ fontSize: 17, fontWeight: 'bold', color: '#CB6B28' }}&gt;满足停止条件？&lt;/Text&gt;&#10;                    &lt;Text style={{ fontSize: 16, color: '#546779' }}&gt;是，则本次生成结束&lt;/Text&gt;&#10;                &lt;/Box&gt;&#10;                &lt;Box style={{ width: 500, background: '#F4F7FA', borderRadius: 8, padding: '14px 20px', flexDirection: 'row', gap: 10, alignItems: 'center' }}&gt;&#10;                    &lt;Text style={{ fontSize: 17, fontWeight: 'bold', color: '#546779' }}&gt;达到长度限制？&lt;/Text&gt;&#10;                    &lt;Text style={{ fontSize: 16, color: '#546779' }}&gt;是，输出可能尚不完整&lt;/Text&gt;&#10;                &lt;/Box&gt;&#10;            &lt;/Box&gt;&#10;&#10;        &lt;/Box&gt;&#10;&#10;        &lt;Box style={{ flexDirection: 'row', gap: 18 }}&gt;&#10;            &lt;Box style={{ flex: 1, background: '#F4F7FA', borderRadius: 10, padding: '16px 18px', flexDirection: 'column', gap: 6 }}&gt;&#10;                &lt;Text style={{ fontSize: 18, fontWeight: 'bold', color: '#20344B' }}&gt;模型在算什么&lt;/Text&gt;&#10;                &lt;Text style={{ fontSize: 15, color: '#546779', lineHeight: 1.6 }}&gt;为接下来可能出现的内容分别算出分数，再按规则挑一个。&lt;/Text&gt;&#10;            &lt;/Box&gt;&#10;            &lt;Box style={{ flex: 1, background: '#F4F7FA', borderRadius: 10, padding: '16px 18px', flexDirection: 'column', gap: 6 }}&gt;&#10;                &lt;Text style={{ fontSize: 18, fontWeight: 'bold', color: '#20344B' }}&gt;回环不等于重算&lt;/Text&gt;&#10;                &lt;Text style={{ fontSize: 15, color: '#546779', lineHeight: 1.6 }}&gt;表示的是逐步生成的过程，不是每轮把全部历史重新算一遍。&lt;/Text&gt;&#10;            &lt;/Box&gt;&#10;            &lt;Box style={{ flex: 1, background: '#ECF7F2', borderRadius: 10, padding: '16px 18px', flexDirection: 'column', gap: 6 }}&gt;&#10;                &lt;Text style={{ fontSize: 18, fontWeight: 'bold', color: '#26816B' }}&gt;生成不等于核验&lt;/Text&gt;&#10;                &lt;Text style={{ fontSize: 15, color: '#546779', lineHeight: 1.6 }}&gt;这个过程不核对外部事实，也不替你执行查询或预约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12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一段回答是怎样生成的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一次一个片段，接回去，再继续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1457325" y="219075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943100" y="2438400"/>
            <a:ext cx="6477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实际输入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190875" y="241935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3371850" y="219075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3857625" y="2438400"/>
            <a:ext cx="6477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数值表示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105400" y="241935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5286375" y="219075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772150" y="2438400"/>
            <a:ext cx="6477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模型计算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019925" y="241935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7200900" y="219075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448550" y="2438400"/>
            <a:ext cx="113347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按规则选择片段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934450" y="241935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9115425" y="2190750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9439275" y="2438400"/>
            <a:ext cx="97155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接回已有内容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4095750" y="3028950"/>
            <a:ext cx="4000500" cy="190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600575" y="3124200"/>
            <a:ext cx="3000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未满足停止条件：接回去，重新计算下一个片段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1266825" y="3448050"/>
            <a:ext cx="4762500" cy="466725"/>
          </a:xfrm>
          <a:prstGeom prst="roundRect">
            <a:avLst>
              <a:gd name="adj" fmla="val 16327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457325" y="358140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满足停止条件？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2686050" y="3590925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是，则本次生成结束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162675" y="3448050"/>
            <a:ext cx="4762500" cy="466725"/>
          </a:xfrm>
          <a:prstGeom prst="roundRect">
            <a:avLst>
              <a:gd name="adj" fmla="val 1632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353175" y="358140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46779"/>
                </a:solidFill>
                <a:latin typeface="Microsoft YaHei"/>
                <a:ea typeface="Microsoft YaHei"/>
              </a:rPr>
              <a:t>达到长度限制？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581900" y="3590925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是，输出可能尚不完整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09600" y="5162550"/>
            <a:ext cx="354330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81050" y="5314950"/>
            <a:ext cx="3200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模型在算什么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81050" y="5581650"/>
            <a:ext cx="3200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为接下来可能出现的内容分别算出分数，再按规则挑一个。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4324350" y="5162550"/>
            <a:ext cx="354330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495800" y="5314950"/>
            <a:ext cx="3200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回环不等于重算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495800" y="5581650"/>
            <a:ext cx="3200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表示的是逐步生成的过程，不是每轮把全部历史重新算一遍。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8039100" y="5162550"/>
            <a:ext cx="354330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210550" y="5314950"/>
            <a:ext cx="3200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生成不等于核验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210550" y="5581650"/>
            <a:ext cx="3200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这个过程不核对外部事实，也不替你执行查询或预约。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4" name="" descr="&lt;Slide notes={`沿着刚才的回环，有三个地方特别容易判断错，我们一个一个说。&#10;&#10;第一是输入端。文件躺在电脑里，这件事本身没有任何意义。除非应用真的去读了它，并且把内容放进这一次的请求里，模型才可能用上它。所以在青禾这件事上，&quot;房间容量表在我的电脑上&quot;不等于&quot;模型看到了容量表&quot;。&#10;&#10;第二是生成端。模型做的事是为接下来可能出现的片段打分，然后按规则选一个。它会一直生成，直到出现结束信号，或者撞到长度限制。整个过程中，它没有去查任何外部事实。&#10;&#10;第三是显示端。你在屏幕上看到文字一个一个冒出来，这叫流式输出，它是一种呈现方式。它给人&quot;正在思考、正在核对&quot;的错觉，但实际上它只是在陆续显示已经生成的内容。&#10;&#10;最后补一句：预测下一个片段，并不等于只会在字面上接词。模型能学到语法、概念、代码结构，甚至解题的模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1.3　一段回答是怎样生成的&lt;/Text&gt;&#10;            &lt;Text style={{ fontSize: 34, fontWeight: 'bold', color: '#20344B' }}&gt;输入端、生成端、显示端&lt;/Text&gt;&#10;        &lt;/Box&gt;&#10;    &lt;/Box&gt;&#10;&#10;    &lt;Box style={{ height: 540, flexDirection: 'column', gap: 24 }}&gt;&#10;&#10;        &lt;Box style={{ flexDirection: 'row', gap: 24, flex: 1 }}&gt;&#10;&#10;            &lt;Box style={{ flex: 1, background: '#EDF4FC', borderRadius: 12, padding: 24, flexDirection: 'column', gap: 14 }}&gt;&#10;                &lt;Box style={{ width: 56, height: 56, borderRadius: 14, background: '#276FBF', justifyContent: 'center', alignItems: 'center' }}&gt;&#10;                    &lt;Text style={{ fontSize: 26, fontWeight: 'bold', color: '#FFFFFF' }}&gt;入&lt;/Text&gt;&#10;                &lt;/Box&gt;&#10;                &lt;Text style={{ fontSize: 24, fontWeight: 'bold', color: '#20344B' }}&gt;输入端&lt;/Text&gt;&#10;                &lt;Text style={{ fontSize: 18, fontWeight: 'bold', color: '#276FBF', lineHeight: 1.5 }}&gt;文件在电脑里，不等于已经送给模型&lt;/Text&gt;&#10;                &lt;Text style={{ fontSize: 16, color: '#546779', lineHeight: 1.7, marginTop: 'auto' }}&gt;需要应用真正去读取，并把内容放进这一次的请求里，模型才可能用得上。&lt;/Text&gt;&#10;            &lt;/Box&gt;&#10;&#10;            &lt;Box style={{ flex: 1, background: '#F4F7FA', borderRadius: 12, padding: 24, flexDirection: 'column', gap: 14 }}&gt;&#10;                &lt;Box style={{ width: 56, height: 56, borderRadius: 14, background: '#276FBF', justifyContent: 'center', alignItems: 'center' }}&gt;&#10;                    &lt;Text style={{ fontSize: 26, fontWeight: 'bold', color: '#FFFFFF' }}&gt;算&lt;/Text&gt;&#10;                &lt;/Box&gt;&#10;                &lt;Text style={{ fontSize: 24, fontWeight: 'bold', color: '#20344B' }}&gt;生成端&lt;/Text&gt;&#10;                &lt;Text style={{ fontSize: 18, fontWeight: 'bold', color: '#276FBF', lineHeight: 1.5 }}&gt;为后续内容算分，按规则选择&lt;/Text&gt;&#10;                &lt;Text style={{ fontSize: 16, color: '#546779', lineHeight: 1.7, marginTop: 'auto' }}&gt;一直生成到停止或达到限制；这个过程不核验外部事实，也不执行工具。&lt;/Text&gt;&#10;            &lt;/Box&gt;&#10;&#10;            &lt;Box style={{ flex: 1, background: '#ECF7F2', borderRadius: 12, padding: 24, flexDirection: 'column', gap: 14 }}&gt;&#10;                &lt;Box style={{ width: 56, height: 56, borderRadius: 14, background: '#26816B', justifyContent: 'center', alignItems: 'center' }}&gt;&#10;                    &lt;Text style={{ fontSize: 26, fontWeight: 'bold', color: '#FFFFFF' }}&gt;显&lt;/Text&gt;&#10;                &lt;/Box&gt;&#10;                &lt;Text style={{ fontSize: 24, fontWeight: 'bold', color: '#20344B' }}&gt;显示端&lt;/Text&gt;&#10;                &lt;Text style={{ fontSize: 18, fontWeight: 'bold', color: '#26816B', lineHeight: 1.5 }}&gt;陆续显示，不等于边输出边核验&lt;/Text&gt;&#10;                &lt;Text style={{ fontSize: 16, color: '#546779', lineHeight: 1.7, marginTop: 'auto' }}&gt;文字一个个出现只是呈现方式，不代表这些内容已经被检查过。&lt;/Text&gt;&#10;            &lt;/Box&gt;&#10;&#10;        &lt;/Box&gt;&#10;&#10;        &lt;Box style={{ background: '#FFF4E6', borderRadius: 10, padding: '16px 22px', border: '1px solid #E5C9A8', flexDirection: 'row', gap: 14, alignItems: 'center' }}&gt;&#10;            &lt;Box style={{ width: 3, height: 30, background: '#CB6B28' }} /&gt;&#10;            &lt;Text style={{ fontSize: 16, color: '#546779', lineHeight: 1.6 }}&gt;预测下一个片段并不等于只会简单接词：模型能学到语法、概念、代码结构，以及处理一类问题的模式。&lt;/Text&gt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13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一段回答是怎样生成的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输入端、生成端、显示端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609600" y="1143000"/>
            <a:ext cx="3505200" cy="4314825"/>
          </a:xfrm>
          <a:prstGeom prst="roundRect">
            <a:avLst>
              <a:gd name="adj" fmla="val 326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838200" y="13716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81075" y="148590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入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38200" y="2038350"/>
            <a:ext cx="3048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输入端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38200" y="2447925"/>
            <a:ext cx="30480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文件在电脑里，不等于已经送给模型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38200" y="4600575"/>
            <a:ext cx="3048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需要应用真正去读取，并把内容放进这一次的请求里，模型才可能用得上。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4343400" y="1143000"/>
            <a:ext cx="3505200" cy="4314825"/>
          </a:xfrm>
          <a:prstGeom prst="roundRect">
            <a:avLst>
              <a:gd name="adj" fmla="val 326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4572000" y="13716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714875" y="148590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算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572000" y="2038350"/>
            <a:ext cx="3048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生成端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572000" y="2447925"/>
            <a:ext cx="30480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为后续内容算分，按规则选择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572000" y="4600575"/>
            <a:ext cx="3048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一直生成到停止或达到限制；这个过程不核验外部事实，也不执行工具。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8077200" y="1143000"/>
            <a:ext cx="3505200" cy="4314825"/>
          </a:xfrm>
          <a:prstGeom prst="roundRect">
            <a:avLst>
              <a:gd name="adj" fmla="val 326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8305800" y="13716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448675" y="148590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显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305800" y="2038350"/>
            <a:ext cx="3048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显示端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305800" y="2447925"/>
            <a:ext cx="30480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陆续显示，不等于边输出边核验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305800" y="4600575"/>
            <a:ext cx="3048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文字一个个出现只是呈现方式，不代表这些内容已经被检查过。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09600" y="5686425"/>
            <a:ext cx="10972800" cy="600075"/>
          </a:xfrm>
          <a:prstGeom prst="roundRect">
            <a:avLst>
              <a:gd name="adj" fmla="val 15873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819150" y="5848350"/>
            <a:ext cx="28575" cy="285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81075" y="5838825"/>
            <a:ext cx="7010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预测下一个片段并不等于只会简单接词：模型能学到语法、概念、代码结构，以及处理一类问题的模式。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52" name="" descr="&lt;Slide notes={`还有一个问题没回答：模型怎么把相隔较远的信息联系起来？&#10;&#10;先看一件具体的事。手作室的信息是&quot;容量 12 人&quot;，手作活动的信息是&quot;拟安排 15 人&quot;。这两条信息要一起用，才能得出&quot;超出容量&quot;这个判断。它们不是各自独立的，必须被放到一起比较。&#10;&#10;还有一组对照很能说明问题。&quot;甲交给乙&quot;和&quot;乙交给甲&quot;，用的字完全一样，只是顺序不同，但意思正好相反。模型如果丢掉了顺序，这两句话就分不出来了。&#10;&#10;支撑这两件事的，是 Transformer 里的注意力机制。它让不同位置的信息可以相互关联，同时位置与顺序的信息也参与计算。&#10;&#10;这里有两点要提醒。第一，&quot;注意力&quot;是一个技术名称，它不表示模型有主观体验或者专注状态。第二，模型能关联信息，不等于它一定会把 12 和 15 比对，判断是否正确仍然要单独检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1.3　一段回答是怎样生成的&lt;/Text&gt;&#10;            &lt;Text style={{ fontSize: 34, fontWeight: 'bold', color: '#20344B' }}&gt;关联与顺序，都在参与计算&lt;/Text&gt;&#10;        &lt;/Box&gt;&#10;    &lt;/Box&gt;&#10;&#10;    &lt;Box style={{ height: 540, flexDirection: 'row', gap: 36 }}&gt;&#10;&#10;        &lt;Box style={{ width: 620, flexDirection: 'column', justifyContent: 'center', gap: 16 }}&gt;&#10;&#10;            &lt;Text style={{ fontSize: 22, fontWeight: 'bold', color: '#20344B' }}&gt;两条信息要一起用&lt;/Text&gt;&#10;&#10;            &lt;Box style={{ flexDirection: 'row', gap: 20 }}&gt;&#10;                &lt;Box style={{ flex: 1, background: '#EDF4FC', borderRadius: 10, padding: '16px 18px', flexDirection: 'column', gap: 6, border: '1px solid #B5C7D8' }}&gt;&#10;                    &lt;Text style={{ fontSize: 16, color: '#546779' }}&gt;手作室&lt;/Text&gt;&#10;                    &lt;Text style={{ fontSize: 22, fontWeight: 'bold', color: '#20344B' }}&gt;容量 12 人&lt;/Text&gt;&#10;                &lt;/Box&gt;&#10;                &lt;Box style={{ flex: 1, background: '#EDF4FC', borderRadius: 10, padding: '16px 18px', flexDirection: 'column', gap: 6, border: '1px solid #B5C7D8' }}&gt;&#10;                    &lt;Text style={{ fontSize: 16, color: '#546779' }}&gt;手作活动&lt;/Text&gt;&#10;                    &lt;Text style={{ fontSize: 22, fontWeight: 'bold', color: '#20344B' }}&gt;拟安排 15 人&lt;/Text&gt;&#10;                &lt;/Box&gt;&#10;            &lt;/Box&gt;&#10;&#10;            &lt;Box style={{ flexDirection: 'row', justifyContent: 'center', gap: 120 }}&gt;&#10;                &lt;Text style={{ fontSize: 20, color: '#276FBF' }}&gt;↓&lt;/Text&gt;&#10;                &lt;Text style={{ fontSize: 20, color: '#276FBF' }}&gt;↓&lt;/Text&gt;&#10;            &lt;/Box&gt;&#10;&#10;            &lt;Box style={{ background: '#FFF4E6', borderRadius: 10, padding: '18px 20px', border: '1px solid #E5C9A8', flexDirection: 'row', justifyContent: 'space-between', alignItems: 'center' }}&gt;&#10;                &lt;Text style={{ fontSize: 20, fontWeight: 'bold', color: '#CB6B28' }}&gt;比较约束：15 大于 12&lt;/Text&gt;&#10;                &lt;Text style={{ fontSize: 20, fontWeight: 'bold', color: '#CB6B28' }}&gt;超出容量&lt;/Text&gt;&#10;            &lt;/Box&gt;&#10;&#10;            &lt;Text style={{ fontSize: 15, color: '#546779' }}&gt;把两条相关信息放在一起，才能得出超出容量这个结论。&lt;/Text&gt;&#10;&#10;        &lt;/Box&gt;&#10;&#10;        &lt;Box style={{ flex: 1, flexDirection: 'column', justifyContent: 'center', gap: 16 }}&gt;&#10;&#10;            &lt;Text style={{ fontSize: 22, fontWeight: 'bold', color: '#20344B' }}&gt;同样的词，顺序不同&lt;/Text&gt;&#10;&#10;            &lt;Box style={{ background: '#ECF7F2', borderRadius: 10, padding: '18px 20px', border: '1px solid #B5C7D8', flexDirection: 'column', gap: 6 }}&gt;&#10;                &lt;Text style={{ fontSize: 16, color: '#546779' }}&gt;过程甲&lt;/Text&gt;&#10;                &lt;Text style={{ fontSize: 22, fontWeight: 'bold', color: '#26816B' }}&gt;甲 交给 乙&lt;/Text&gt;&#10;                &lt;Text style={{ fontSize: 15, color: '#546779' }}&gt;钥匙从甲手里到了乙手里&lt;/Text&gt;&#10;            &lt;/Box&gt;&#10;&#10;            &lt;Box style={{ background: '#ECF7F2', borderRadius: 10, padding: '18px 20px', border: '1px solid #B5C7D8', flexDirection: 'column', gap: 6 }}&gt;&#10;                &lt;Text style={{ fontSize: 16, color: '#546779' }}&gt;过程乙&lt;/Text&gt;&#10;                &lt;Text style={{ fontSize: 22, fontWeight: 'bold', color: '#26816B' }}&gt;乙 交给 甲&lt;/Text&gt;&#10;                &lt;Text style={{ fontSize: 15, color: '#546779' }}&gt;钥匙从乙手里到了甲手里&lt;/Text&gt;&#10;            &lt;/Box&gt;&#10;&#10;            &lt;Text style={{ fontSize: 15, color: '#546779', lineHeight: 1.6 }}&gt;用词相同、顺序相反，含义正好相反。位置与顺序的信息也参与计算。&lt;/Text&gt;&#10;&#10;        &lt;/Box&gt;&#10;&#10;    &lt;/Box&gt;&#10;&#10;    &lt;Box style={{ height: 40, flexDirection: 'row', justifyContent: 'space-between', alignItems: 'center' }}&gt;&#10;        &lt;Text style={{ fontSize: 14, color: '#546779' }}&gt;注意力机制让不同位置的信息相互关联；连线含义为示意，不是真实注意力权重。&lt;/Text&gt;&#10;        &lt;Text style={{ fontSize: 14, color: '#546779' }}&gt;14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一段回答是怎样生成的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关联与顺序，都在参与计算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2390775"/>
            <a:ext cx="590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两条信息要一起用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" y="2800350"/>
            <a:ext cx="2857500" cy="809625"/>
          </a:xfrm>
          <a:prstGeom prst="roundRect">
            <a:avLst>
              <a:gd name="adj" fmla="val 11765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81050" y="2952750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手作室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81050" y="3200400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容量</a:t>
            </a: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3657600" y="2800350"/>
            <a:ext cx="2857500" cy="809625"/>
          </a:xfrm>
          <a:prstGeom prst="roundRect">
            <a:avLst>
              <a:gd name="adj" fmla="val 11765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3829050" y="2952750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手作活动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3829050" y="3200400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拟安排</a:t>
            </a: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2895600" y="376237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133850" y="376237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09600" y="4143375"/>
            <a:ext cx="5905500" cy="5715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00100" y="4314825"/>
            <a:ext cx="1924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比较约束：</a:t>
            </a: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15 </a:t>
            </a: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大于</a:t>
            </a: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12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562600" y="431482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超出容量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4867275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把两条相关信息放在一起，才能得出超出容量这个结论。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858000" y="2143125"/>
            <a:ext cx="4724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同样的词，顺序不同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858000" y="2552700"/>
            <a:ext cx="4724400" cy="1076325"/>
          </a:xfrm>
          <a:prstGeom prst="roundRect">
            <a:avLst>
              <a:gd name="adj" fmla="val 8850"/>
            </a:avLst>
          </a:prstGeom>
          <a:solidFill>
            <a:srgbClr val="ECF7F2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048500" y="2724150"/>
            <a:ext cx="434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过程甲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048500" y="2971800"/>
            <a:ext cx="434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甲</a:t>
            </a: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交给</a:t>
            </a: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乙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048500" y="3286125"/>
            <a:ext cx="434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钥匙从甲手里到了乙手里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858000" y="3781425"/>
            <a:ext cx="4724400" cy="1076325"/>
          </a:xfrm>
          <a:prstGeom prst="roundRect">
            <a:avLst>
              <a:gd name="adj" fmla="val 8850"/>
            </a:avLst>
          </a:prstGeom>
          <a:solidFill>
            <a:srgbClr val="ECF7F2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048500" y="3952875"/>
            <a:ext cx="434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过程乙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048500" y="4200525"/>
            <a:ext cx="434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乙</a:t>
            </a: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交给</a:t>
            </a: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甲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048500" y="4514850"/>
            <a:ext cx="434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钥匙从乙手里到了甲手里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858000" y="5010150"/>
            <a:ext cx="47244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用词相同、顺序相反，含义正好相反。位置与顺序的信息也参与计算。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480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注意力机制让不同位置的信息相互关联；连线含义为示意，不是真实注意力权重。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82" name="" descr="&lt;Slide notes={`第四个知识块，我们把视角从&quot;一次对话&quot;拉到&quot;一个模型的一生&quot;。&#10;&#10;今天我把房间容量表放进对话，模型立刻就能用上。那这算不算&quot;我训练了它&quot;？不算。&#10;&#10;要把这件事说清楚，需要区分三个阶段。预训练，是在大量资料上学习广泛规律，参数会被改变。后训练，是用示范、反馈或者奖励去改善它的行为，参数继续被改变。而普通推理，也就是我们平时提问，用的是已经有的参数去处理当前的输入。&#10;&#10;所以，我把今天的房间表交给它，改变的是这一次的上下文，不是模型本身。&#10;&#10;这也解释了一个日常现象：今天讲给它的事，明天换一个对话，它就不一定知道了——因为我并没有改变它的参数，只是这一次让它看到了这份材料。`} style={{ width: 1280, height: 720, background: '#F4F7FA', flexDirection: 'column', padding: '20px 64px' }}&gt;&#10;&#10;    &lt;Box style={{ height: 240, flexDirection: 'column', justifyContent: 'center', alignItems: 'center', gap: 12 }}&gt;&#10;        &lt;Text style={{ fontSize: 14, color: '#276FBF' }}&gt;知识块 04&lt;/Text&gt;&#10;        &lt;Text style={{ fontSize: 56, fontWeight: 'bold', color: '#20344B', lineHeight: 1.15 }}&gt;模型如何从训练走到使用&lt;/Text&gt;&#10;        &lt;Box style={{ width: 72, height: 3, background: '#276FBF' }} /&gt;&#10;        &lt;Text style={{ fontSize: 20, color: '#546779' }}&gt;今天把房间表交给助手，与训练一个模型有什么不同&lt;/Text&gt;&#10;    &lt;/Box&gt;&#10;&#10;    &lt;Box style={{ height: 400, flexDirection: 'column', justifyContent: 'center', alignItems: 'center', gap: 26 }}&gt;&#10;&#10;        &lt;Box style={{ flexDirection: 'row', gap: 30 }}&gt;&#10;            &lt;Box style={{ width: 356, height: 130, background: '#FFFFFF', borderRadius: 10, border: '1px solid #B5C7D8', padding: 18, flexDirection: 'column', gap: 8 }}&gt;&#10;                &lt;Text style={{ fontSize: 20, fontWeight: 'bold', color: '#20344B' }}&gt;预训练&lt;/Text&gt;&#10;                &lt;Text style={{ fontSize: 16, color: '#546779' }}&gt;在大量资料上学习广泛规律&lt;/Text&gt;&#10;                &lt;Text style={{ fontSize: 16, color: '#276FBF', fontWeight: 'bold' }}&gt;参数：会更新&lt;/Text&gt;&#10;            &lt;/Box&gt;&#10;            &lt;Box style={{ width: 356, height: 130, background: '#FFFFFF', borderRadius: 10, border: '1px solid #B5C7D8', padding: 18, flexDirection: 'column', gap: 8 }}&gt;&#10;                &lt;Text style={{ fontSize: 20, fontWeight: 'bold', color: '#20344B' }}&gt;后训练&lt;/Text&gt;&#10;                &lt;Text style={{ fontSize: 16, color: '#546779' }}&gt;用示范与反馈改善行为&lt;/Text&gt;&#10;                &lt;Text style={{ fontSize: 16, color: '#276FBF', fontWeight: 'bold' }}&gt;参数：会更新&lt;/Text&gt;&#10;            &lt;/Box&gt;&#10;            &lt;Box style={{ width: 356, height: 130, background: '#FFF4E6', borderRadius: 10, border: '1px solid #E5C9A8', padding: 18, flexDirection: 'column', gap: 8 }}&gt;&#10;                &lt;Text style={{ fontSize: 20, fontWeight: 'bold', color: '#20344B' }}&gt;普通推理&lt;/Text&gt;&#10;                &lt;Text style={{ fontSize: 16, color: '#546779' }}&gt;用已有参数处理当前输入&lt;/Text&gt;&#10;                &lt;Text style={{ fontSize: 16, color: '#CB6B28', fontWeight: 'bold' }}&gt;参数：通常不变&lt;/Text&gt;&#10;            &lt;/Box&gt;&#10;        &lt;/Box&gt;&#10;&#10;        &lt;Text style={{ fontSize: 18, color: '#546779' }}&gt;三段展示的是作用差异，不是每次提问都重复训练。&lt;/Text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15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800725" y="581025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知识块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04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162300" y="857250"/>
            <a:ext cx="58674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模型如何从训练走到使用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5753100" y="1714500"/>
            <a:ext cx="6858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3905250" y="1857375"/>
            <a:ext cx="438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546779"/>
                </a:solidFill>
                <a:latin typeface="Microsoft YaHei"/>
                <a:ea typeface="Microsoft YaHei"/>
              </a:rPr>
              <a:t>今天把房间表交给助手，与训练一个模型有什么不同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723900" y="3533775"/>
            <a:ext cx="339090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95350" y="3705225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预训练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95350" y="40100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在大量资料上学习广泛规律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95350" y="42767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参数：会更新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400550" y="3533775"/>
            <a:ext cx="339090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572000" y="3705225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后训练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572000" y="40100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用示范与反馈改善行为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572000" y="42767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参数：会更新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8077200" y="3533775"/>
            <a:ext cx="33909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248650" y="3705225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普通推理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248650" y="40100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用已有参数处理当前输入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248650" y="42767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参数：通常不变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124325" y="5019675"/>
            <a:ext cx="3943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三段展示的是作用差异，不是每次提问都重复训练。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03" name="" descr="&lt;Slide notes={`三个阶段的区别，我们用一句话来卡住它：看这一步会不会改参数。&#10;&#10;预训练会改。它拿的是大量资料，做的是训练计算，目标是学会语言里的广泛规律，最后形成基础能力。&#10;&#10;后训练也会改。它用的材料不一样，是示范、反馈和具体的任务材料；训练的目标也不一样，是改善行为，让它更适配我们想要的任务。&#10;&#10;普通推理不改。我把今天的房间表和问题一起交给它，它用已经有的参数处理这次输入，生成本次的活动方案。参数在这轮里是保持不变的。&#10;&#10;再说一句：后训练的方法有很多种，不是所有方法都能叫强化学习。有人用示范来教，有人用人类反馈来改进，它们改善行为的效果是真实的，但改善之后，模型仍然会犯错。&#10;&#10;所以&quot;告诉模型一件新事&quot;，和&quot;训练了一个新模型&quot;，是两回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1.4　模型如何从训练走到使用&lt;/Text&gt;&#10;            &lt;Text style={{ fontSize: 34, fontWeight: 'bold', color: '#20344B' }}&gt;三个阶段，看它改不改参数&lt;/Text&gt;&#10;        &lt;/Box&gt;&#10;    &lt;/Box&gt;&#10;&#10;    &lt;Box style={{ height: 540, flexDirection: 'column', gap: 20 }}&gt;&#10;&#10;        &lt;Box style={{ flexDirection: 'row', gap: 30, flex: 1 }}&gt;&#10;&#10;            &lt;Box style={{ width: 356, background: '#EDF4FC', borderRadius: 10, padding: 18, flexDirection: 'column', gap: 12, border: '1px solid #B5C7D8' }}&gt;&#10;                &lt;Text style={{ fontSize: 22, fontWeight: 'bold', color: '#20344B' }}&gt;预训练&lt;/Text&gt;&#10;                &lt;Text style={{ fontSize: 16, fontWeight: 'bold', color: '#276FBF' }}&gt;更新参数&lt;/Text&gt;&#10;                &lt;Box style={{ background: '#FFFFFF', borderRadius: 8, padding: '12px 14px' }}&gt;&#10;                    &lt;Text style={{ fontSize: 16, color: '#20344B' }}&gt;大量训练资料&lt;/Text&gt;&#10;                &lt;/Box&gt;&#10;                &lt;Text style={{ fontSize: 16, color: '#276FBF', textAlign: 'center' }}&gt;↓&lt;/Text&gt;&#10;                &lt;Box style={{ background: '#FFFFFF', borderRadius: 8, padding: '12px 14px' }}&gt;&#10;                    &lt;Text style={{ fontSize: 16, color: '#20344B' }}&gt;训练计算：学习规律&lt;/Text&gt;&#10;                &lt;/Box&gt;&#10;                &lt;Text style={{ fontSize: 16, color: '#276FBF', textAlign: 'center' }}&gt;↓&lt;/Text&gt;&#10;                &lt;Box style={{ background: '#FFFFFF', borderRadius: 8, padding: '12px 14px', marginTop: 'auto' }}&gt;&#10;                    &lt;Text style={{ fontSize: 16, color: '#20344B' }}&gt;形成基础能力&lt;/Text&gt;&#10;                &lt;/Box&gt;&#10;            &lt;/Box&gt;&#10;&#10;            &lt;Box style={{ width: 356, background: '#ECF7F2', borderRadius: 10, padding: 18, flexDirection: 'column', gap: 12, border: '1px solid #B5C7D8' }}&gt;&#10;                &lt;Text style={{ fontSize: 22, fontWeight: 'bold', color: '#20344B' }}&gt;后训练&lt;/Text&gt;&#10;                &lt;Text style={{ fontSize: 16, fontWeight: 'bold', color: '#26816B' }}&gt;继续更新参数&lt;/Text&gt;&#10;                &lt;Box style={{ background: '#FFFFFF', borderRadius: 8, padding: '12px 14px' }}&gt;&#10;                    &lt;Text style={{ fontSize: 16, color: '#20344B' }}&gt;示范、反馈与任务材料&lt;/Text&gt;&#10;                &lt;/Box&gt;&#10;                &lt;Text style={{ fontSize: 16, color: '#276FBF', textAlign: 'center' }}&gt;↓&lt;/Text&gt;&#10;                &lt;Box style={{ background: '#FFFFFF', borderRadius: 8, padding: '12px 14px' }}&gt;&#10;                    &lt;Text style={{ fontSize: 16, color: '#20344B' }}&gt;继续训练：改善行为&lt;/Text&gt;&#10;                &lt;/Box&gt;&#10;                &lt;Text style={{ fontSize: 16, color: '#276FBF', textAlign: 'center' }}&gt;↓&lt;/Text&gt;&#10;                &lt;Box style={{ background: '#FFFFFF', borderRadius: 8, padding: '12px 14px', marginTop: 'auto' }}&gt;&#10;                    &lt;Text style={{ fontSize: 16, color: '#20344B' }}&gt;增强任务适配&lt;/Text&gt;&#10;                &lt;/Box&gt;&#10;            &lt;/Box&gt;&#10;&#10;            &lt;Box style={{ width: 356, background: '#FFF4E6', borderRadius: 10, padding: 18, flexDirection: 'column', gap: 12, border: '1px solid #E5C9A8' }}&gt;&#10;                &lt;Text style={{ fontSize: 22, fontWeight: 'bold', color: '#20344B' }}&gt;普通推理&lt;/Text&gt;&#10;                &lt;Text style={{ fontSize: 16, fontWeight: 'bold', color: '#CB6B28' }}&gt;使用既有参数&lt;/Text&gt;&#10;                &lt;Box style={{ background: '#FFFFFF', borderRadius: 8, padding: '12px 14px' }}&gt;&#10;                    &lt;Text style={{ fontSize: 16, color: '#20344B' }}&gt;当前问题与房间容量表&lt;/Text&gt;&#10;                &lt;/Box&gt;&#10;                &lt;Text style={{ fontSize: 16, color: '#276FBF', textAlign: 'center' }}&gt;↓&lt;/Text&gt;&#10;                &lt;Box style={{ background: '#FFFFFF', borderRadius: 8, padding: '12px 14px' }}&gt;&#10;                    &lt;Text style={{ fontSize: 16, color: '#20344B' }}&gt;已有模型处理当前输入&lt;/Text&gt;&#10;                &lt;/Box&gt;&#10;                &lt;Text style={{ fontSize: 16, color: '#276FBF', textAlign: 'center' }}&gt;↓&lt;/Text&gt;&#10;                &lt;Box style={{ background: '#FFFFFF', borderRadius: 8, padding: '12px 14px', marginTop: 'auto' }}&gt;&#10;                    &lt;Text style={{ fontSize: 16, color: '#20344B' }}&gt;生成本次活动方案&lt;/Text&gt;&#10;                &lt;/Box&gt;&#10;            &lt;/Box&gt;&#10;&#10;        &lt;/Box&gt;&#10;&#10;        &lt;Box style={{ flexDirection: 'row', gap: 24 }}&gt;&#10;            &lt;Box style={{ flex: 1, background: '#F4F7FA', borderRadius: 10, padding: '14px 20px', flexDirection: 'row', gap: 12, alignItems: 'center' }}&gt;&#10;                &lt;Box style={{ width: 3, height: 22, background: '#276FBF' }} /&gt;&#10;                &lt;Text style={{ fontSize: 16, color: '#546779' }}&gt;后训练方法很多，不能全部叫作强化学习。&lt;/Text&gt;&#10;            &lt;/Box&gt;&#10;            &lt;Box style={{ flex: 1, background: '#F4F7FA', borderRadius: 10, padding: '14px 20px', flexDirection: 'row', gap: 12, alignItems: 'center' }}&gt;&#10;                &lt;Box style={{ width: 3, height: 22, background: '#CB6B28' }} /&gt;&#10;                &lt;Text style={{ fontSize: 16, color: '#546779' }}&gt;本次推理不改变参数，下一轮需重新提供材料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16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1.1.4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模型如何从训练走到使用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三个阶段，看它改不改参数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09600" y="1143000"/>
            <a:ext cx="3390900" cy="4476750"/>
          </a:xfrm>
          <a:prstGeom prst="roundRect">
            <a:avLst>
              <a:gd name="adj" fmla="val 2809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81050" y="1314450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预训练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81050" y="16859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更新参数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781050" y="1990725"/>
            <a:ext cx="3048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14400" y="2105025"/>
            <a:ext cx="278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大量训练资料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81050" y="2524125"/>
            <a:ext cx="30480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781050" y="2828925"/>
            <a:ext cx="3048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914400" y="2943225"/>
            <a:ext cx="278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训练计算：学习规律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81050" y="3362325"/>
            <a:ext cx="30480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781050" y="5029200"/>
            <a:ext cx="3048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914400" y="5143500"/>
            <a:ext cx="278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形成基础能力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4286250" y="1143000"/>
            <a:ext cx="3390900" cy="4476750"/>
          </a:xfrm>
          <a:prstGeom prst="roundRect">
            <a:avLst>
              <a:gd name="adj" fmla="val 2809"/>
            </a:avLst>
          </a:prstGeom>
          <a:solidFill>
            <a:srgbClr val="ECF7F2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4457700" y="1314450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后训练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457700" y="16859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继续更新参数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4457700" y="1990725"/>
            <a:ext cx="3048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4591050" y="2105025"/>
            <a:ext cx="278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示范、反馈与任务材料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457700" y="2524125"/>
            <a:ext cx="30480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4457700" y="2828925"/>
            <a:ext cx="3048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591050" y="2943225"/>
            <a:ext cx="278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继续训练：改善行为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457700" y="3362325"/>
            <a:ext cx="30480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4457700" y="5029200"/>
            <a:ext cx="3048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591050" y="5143500"/>
            <a:ext cx="278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增强任务适配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7962900" y="1143000"/>
            <a:ext cx="3390900" cy="4476750"/>
          </a:xfrm>
          <a:prstGeom prst="roundRect">
            <a:avLst>
              <a:gd name="adj" fmla="val 2809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134350" y="1314450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普通推理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134350" y="16859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使用既有参数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8134350" y="1990725"/>
            <a:ext cx="3048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267700" y="2105025"/>
            <a:ext cx="278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当前问题与房间容量表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134350" y="2524125"/>
            <a:ext cx="30480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8134350" y="2828925"/>
            <a:ext cx="3048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267700" y="2943225"/>
            <a:ext cx="278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已有模型处理当前输入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134350" y="3362325"/>
            <a:ext cx="30480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8134350" y="5029200"/>
            <a:ext cx="30480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267700" y="5143500"/>
            <a:ext cx="278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生成本次活动方案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09600" y="5810250"/>
            <a:ext cx="5372100" cy="47625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800100" y="5943600"/>
            <a:ext cx="28575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942975" y="595312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后训练方法很多，不能全部叫作强化学习。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210300" y="5810250"/>
            <a:ext cx="5372100" cy="47625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6400800" y="5943600"/>
            <a:ext cx="28575" cy="209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543675" y="5953125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本次推理不改变参数，下一轮需重新提供材料。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26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49" name="" descr="&lt;Slide notes={`把前面三页的判断整理成一张检查表，以后每遇到一个&quot;AI 好像学会了&quot;的说法，都可以拿它来问一遍。&#10;&#10;第一行：如果你用大量资料去学习广泛的规律，那属于预训练，参数会更新。&#10;&#10;第二行：如果你用示范、偏好或者奖励去改善它的行为，那属于后训练，参数同样会更新。&#10;&#10;第三行，也是最常见的一行：你把今天的房间表放进请求里，这只是推理时提供上下文，参数通常不会更新。&#10;&#10;做成表格的好处是，它把&quot;我做了什么事&quot;和&quot;模型因此变了什么&quot;这两件事分开了。&#10;&#10;第三行的区别尤其重要。它意味着这份材料只在这一次的上下文里有效。换一个新的对话，如果你想让它继续用这份房间表，就必须重新提供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1.4　模型如何从训练走到使用&lt;/Text&gt;&#10;            &lt;Text style={{ fontSize: 34, fontWeight: 'bold', color: '#20344B' }}&gt;你做的事，改的是哪一样&lt;/Text&gt;&#10;        &lt;/Box&gt;&#10;    &lt;/Box&gt;&#10;&#10;    &lt;Box style={{ height: 540, flexDirection: 'row', gap: 40 }}&gt;&#10;&#10;        &lt;Box style={{ width: 320, flexDirection: 'column', justifyContent: 'center', gap: 18 }}&gt;&#10;            &lt;Text style={{ fontSize: 28, fontWeight: 'bold', color: '#276FBF', lineHeight: 1.4 }}&gt;分开看&quot;我做了什么&quot;和&quot;模型变了什么&quot;&lt;/Text&gt;&#10;            &lt;Box style={{ width: 56, height: 3, background: '#26816B' }} /&gt;&#10;            &lt;Text style={{ fontSize: 17, color: '#546779', lineHeight: 1.75 }}&gt;同一件事，落在不同的阶段，对模型的影响完全不同。第三行是日常最常遇到的情况。&lt;/Text&gt;&#10;            &lt;Box style={{ background: '#FFF4E6', borderRadius: 8, padding: '14px 16px', border: '1px solid #E5C9A8' }}&gt;&#10;                &lt;Text style={{ fontSize: 16, color: '#CB6B28', lineHeight: 1.6 }}&gt;提供上下文不等于更新参数。&lt;/Text&gt;&#10;            &lt;/Box&gt;&#10;        &lt;/Box&gt;&#10;&#10;        &lt;Box style={{ flex: 1, flexDirection: 'column', justifyContent: 'center', gap: 12 }}&gt;&#10;&#10;            &lt;Box style={{ flexDirection: 'row', gap: 12 }}&gt;&#10;                &lt;Text style={{ width: 400, fontSize: 15, color: '#546779' }}&gt;你做的事&lt;/Text&gt;&#10;                &lt;Text style={{ width: 240, fontSize: 15, color: '#546779' }}&gt;通常属于什么&lt;/Text&gt;&#10;                &lt;Text style={{ flex: 1, fontSize: 15, color: '#546779' }}&gt;参数是否因此更新&lt;/Text&gt;&#10;            &lt;/Box&gt;&#10;&#10;            &lt;Box style={{ flexDirection: 'row', gap: 12, background: '#F4F7FA', borderRadius: 8, padding: '16px 18px', alignItems: 'center' }}&gt;&#10;                &lt;Text style={{ width: 400, fontSize: 17, color: '#20344B' }}&gt;用大量资料学习广泛规律&lt;/Text&gt;&#10;                &lt;Text style={{ width: 240, fontSize: 17, color: '#276FBF', fontWeight: 'bold' }}&gt;预训练&lt;/Text&gt;&#10;                &lt;Text style={{ flex: 1, fontSize: 17, color: '#276FBF', fontWeight: 'bold' }}&gt;是&lt;/Text&gt;&#10;            &lt;/Box&gt;&#10;&#10;            &lt;Box style={{ flexDirection: 'row', gap: 12, background: '#F4F7FA', borderRadius: 8, padding: '16px 18px', alignItems: 'center' }}&gt;&#10;                &lt;Text style={{ width: 400, fontSize: 17, color: '#20344B' }}&gt;用示范、偏好或奖励改善行为&lt;/Text&gt;&#10;                &lt;Text style={{ width: 240, fontSize: 17, color: '#276FBF', fontWeight: 'bold' }}&gt;后训练&lt;/Text&gt;&#10;                &lt;Text style={{ flex: 1, fontSize: 17, color: '#276FBF', fontWeight: 'bold' }}&gt;是&lt;/Text&gt;&#10;            &lt;/Box&gt;&#10;&#10;            &lt;Box style={{ flexDirection: 'row', gap: 12, background: '#FFF4E6', borderRadius: 8, padding: '16px 18px', alignItems: 'center', border: '1px solid #E5C9A8' }}&gt;&#10;                &lt;Text style={{ width: 400, fontSize: 17, color: '#20344B' }}&gt;把今天的房间表放进请求&lt;/Text&gt;&#10;                &lt;Text style={{ width: 240, fontSize: 17, color: '#CB6B28', fontWeight: 'bold' }}&gt;推理时提供上下文&lt;/Text&gt;&#10;                &lt;Text style={{ flex: 1, fontSize: 17, color: '#CB6B28', fontWeight: 'bold' }}&gt;通常不会&lt;/Text&gt;&#10;            &lt;/Box&gt;&#10;&#10;            &lt;Text style={{ fontSize: 15, color: '#546779', marginTop: 6 }}&gt;下一次没有提供这份表，就不能假定它仍能使用。&lt;/Text&gt;&#10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17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1.1.4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模型如何从训练走到使用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你做的事，改的是哪一样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30480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2100" b="1">
                <a:solidFill>
                  <a:srgbClr val="276FBF"/>
                </a:solidFill>
                <a:latin typeface="Microsoft YaHei"/>
                <a:ea typeface="Microsoft YaHei"/>
              </a:rPr>
              <a:t>分开看</a:t>
            </a:r>
            <a:r>
              <a:rPr lang="en-US" sz="2100" b="1">
                <a:solidFill>
                  <a:srgbClr val="276FBF"/>
                </a:solidFill>
                <a:latin typeface="Microsoft YaHei"/>
                <a:ea typeface="Microsoft YaHei"/>
              </a:rPr>
              <a:t>"</a:t>
            </a:r>
            <a:r>
              <a:rPr lang="zh-CN" sz="2100" b="1">
                <a:solidFill>
                  <a:srgbClr val="276FBF"/>
                </a:solidFill>
                <a:latin typeface="Microsoft YaHei"/>
                <a:ea typeface="Microsoft YaHei"/>
              </a:rPr>
              <a:t>我做了什么</a:t>
            </a:r>
            <a:r>
              <a:rPr lang="en-US" sz="2100" b="1">
                <a:solidFill>
                  <a:srgbClr val="276FBF"/>
                </a:solidFill>
                <a:latin typeface="Microsoft YaHei"/>
                <a:ea typeface="Microsoft YaHei"/>
              </a:rPr>
              <a:t>"</a:t>
            </a:r>
            <a:r>
              <a:rPr lang="zh-CN" sz="2100" b="1">
                <a:solidFill>
                  <a:srgbClr val="276FBF"/>
                </a:solidFill>
                <a:latin typeface="Microsoft YaHei"/>
                <a:ea typeface="Microsoft YaHei"/>
              </a:rPr>
              <a:t>和</a:t>
            </a:r>
            <a:r>
              <a:rPr lang="en-US" sz="2100" b="1">
                <a:solidFill>
                  <a:srgbClr val="276FBF"/>
                </a:solidFill>
                <a:latin typeface="Microsoft YaHei"/>
                <a:ea typeface="Microsoft YaHei"/>
              </a:rPr>
              <a:t>"</a:t>
            </a:r>
            <a:r>
              <a:rPr lang="zh-CN" sz="2100" b="1">
                <a:solidFill>
                  <a:srgbClr val="276FBF"/>
                </a:solidFill>
                <a:latin typeface="Microsoft YaHei"/>
                <a:ea typeface="Microsoft YaHei"/>
              </a:rPr>
              <a:t>模型变了什么</a:t>
            </a:r>
            <a:r>
              <a:rPr lang="en-US" sz="2100" b="1">
                <a:solidFill>
                  <a:srgbClr val="276FBF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09600" y="3276600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09600" y="3476625"/>
            <a:ext cx="30480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同一件事，落在不同的阶段，对模型的影响完全不同。第三行是日常最常遇到的情况。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09600" y="4676775"/>
            <a:ext cx="3048000" cy="561975"/>
          </a:xfrm>
          <a:prstGeom prst="roundRect">
            <a:avLst>
              <a:gd name="adj" fmla="val 13559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62000" y="4810125"/>
            <a:ext cx="2743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提供上下文不等于更新参数。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4038600" y="253365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你做的事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7962900" y="253365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通常属于什么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0363200" y="253365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参数是否因此更新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4038600" y="2819400"/>
            <a:ext cx="7543800" cy="504825"/>
          </a:xfrm>
          <a:prstGeom prst="roundRect">
            <a:avLst>
              <a:gd name="adj" fmla="val 1509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210050" y="2971800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用大量资料学习广泛规律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134350" y="2971800"/>
            <a:ext cx="228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预训练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0534650" y="2971800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是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4038600" y="3438525"/>
            <a:ext cx="7543800" cy="504825"/>
          </a:xfrm>
          <a:prstGeom prst="roundRect">
            <a:avLst>
              <a:gd name="adj" fmla="val 1509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210050" y="3590925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用示范、偏好或奖励改善行为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134350" y="3590925"/>
            <a:ext cx="228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后训练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10534650" y="3590925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是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4038600" y="4057650"/>
            <a:ext cx="7543800" cy="504825"/>
          </a:xfrm>
          <a:prstGeom prst="roundRect">
            <a:avLst>
              <a:gd name="adj" fmla="val 15094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210050" y="4210050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把今天的房间表放进请求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134350" y="4210050"/>
            <a:ext cx="228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推理时提供上下文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0534650" y="4210050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通常不会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4038600" y="4733925"/>
            <a:ext cx="7543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下一次没有提供这份表，就不能假定它仍能使用。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26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77" name="" descr="&lt;Slide notes={`这一页只记一句话。&#10;&#10;告诉模型一件新事，不等于训练了一个新模型。&#10;&#10;这两个说法听起来差不多，但落在不同的阶段。我把今天的房间表交给它，改变的是这一次的上下文；训练一个新模型，改变的是模型自身的参数。前者今天有效，下一次未必还在；后者一旦完成，就会持续影响它以后所有的回答。&#10;&#10;还要留一个心眼：后训练的方法有很多种，不是所有方法都能叫强化学习。用示范来教是一种，用人类反馈来改是另一种。它们确实能改善行为，但改善之后模型依然会犯错。&#10;&#10;所以判断的落点不在&quot;它是怎么被教出来的&quot;，而在于：这一次，它看到的信息是什么，我们有没有独立核对过。`} style={{ width: 1280, height: 720, background: '#FFFFFF', flexDirection: 'column', padding: '20px 64px' }}&gt;&#10;&#10;    &lt;Box style={{ flex: 1, flexDirection: 'column', justifyContent: 'center', gap: 8 }}&gt;&#10;&#10;        &lt;Text style={{ fontSize: 14, color: '#26816B', textAlign: 'center' }}&gt;知识块 04 小结&lt;/Text&gt;&#10;&#10;        &lt;Box style={{ flexDirection: 'row', justifyContent: 'center', alignItems: 'center', gap: 36, marginTop: 10 }}&gt;&#10;&#10;            &lt;Box style={{ width: 380, height: 220, background: '#EDF4FC', borderRadius: 12, padding: 24, flexDirection: 'column', justifyContent: 'center', gap: 10, border: '1px solid #B5C7D8' }}&gt;&#10;                &lt;Text style={{ fontSize: 22, fontWeight: 'bold', color: '#276FBF' }}&gt;告诉模型一件新事&lt;/Text&gt;&#10;                &lt;Box style={{ width: 40, height: 3, background: '#276FBF' }} /&gt;&#10;                &lt;Text style={{ fontSize: 18, color: '#20344B', lineHeight: 1.6 }}&gt;改变的是这一次的上下文&lt;/Text&gt;&#10;                &lt;Text style={{ fontSize: 16, color: '#546779', lineHeight: 1.6 }}&gt;今天有效；下一次不提供，就不能假定它仍能用。&lt;/Text&gt;&#10;            &lt;/Box&gt;&#10;&#10;            &lt;Text style={{ fontSize: 96, fontWeight: 'bold', color: '#CB6B28', lineHeight: 1 }}&gt;≠&lt;/Text&gt;&#10;&#10;            &lt;Box style={{ width: 380, height: 220, background: '#FFF4E6', borderRadius: 12, padding: 24, flexDirection: 'column', justifyContent: 'center', gap: 10, border: '1px solid #E5C9A8' }}&gt;&#10;                &lt;Text style={{ fontSize: 22, fontWeight: 'bold', color: '#CB6B28' }}&gt;训练一个新模型&lt;/Text&gt;&#10;                &lt;Box style={{ width: 40, height: 3, background: '#CB6B28' }} /&gt;&#10;                &lt;Text style={{ fontSize: 18, color: '#20344B', lineHeight: 1.6 }}&gt;改变的是模型的参数&lt;/Text&gt;&#10;                &lt;Text style={{ fontSize: 16, color: '#546779', lineHeight: 1.6 }}&gt;参数一旦更新，会持续影响它之后所有的回答。&lt;/Text&gt;&#10;            &lt;/Box&gt;&#10;&#10;        &lt;/Box&gt;&#10;&#10;        &lt;Box style={{ flexDirection: 'row', justifyContent: 'center', gap: 20, marginTop: 26 }}&gt;&#10;            &lt;Box style={{ background: '#F4F7FA', borderRadius: 8, padding: '12px 20px' }}&gt;&#10;                &lt;Text style={{ fontSize: 16, color: '#546779' }}&gt;后训练方法很多，不能全部叫作强化学习。&lt;/Text&gt;&#10;            &lt;/Box&gt;&#10;            &lt;Box style={{ background: '#F4F7FA', borderRadius: 8, padding: '12px 20px' }}&gt;&#10;                &lt;Text style={{ fontSize: 16, color: '#546779' }}&gt;行为被改善之后，仍然会犯错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18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09600" y="1657350"/>
            <a:ext cx="109728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知识块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04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1781175" y="1990725"/>
            <a:ext cx="3619500" cy="2095500"/>
          </a:xfrm>
          <a:prstGeom prst="roundRect">
            <a:avLst>
              <a:gd name="adj" fmla="val 5455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2009775" y="2295525"/>
            <a:ext cx="3162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告诉模型一件新事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2009775" y="2647950"/>
            <a:ext cx="3810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2009775" y="2771775"/>
            <a:ext cx="31623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改变的是这一次的上下文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2009775" y="3200400"/>
            <a:ext cx="3162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今天有效；下一次不提供，就不能假定它仍能用。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743575" y="2486025"/>
            <a:ext cx="7048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CB6B28"/>
                </a:solidFill>
                <a:latin typeface="Microsoft YaHei"/>
                <a:ea typeface="Microsoft YaHei"/>
              </a:rPr>
              <a:t>≠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791325" y="1990725"/>
            <a:ext cx="3619500" cy="2095500"/>
          </a:xfrm>
          <a:prstGeom prst="roundRect">
            <a:avLst>
              <a:gd name="adj" fmla="val 5455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019925" y="2295525"/>
            <a:ext cx="3162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训练一个新模型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7019925" y="2647950"/>
            <a:ext cx="381000" cy="28575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7019925" y="2771775"/>
            <a:ext cx="31623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改变的是模型的参数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7019925" y="3200400"/>
            <a:ext cx="3162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参数一旦更新，会持续影响它之后所有的回答。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3105150" y="4410075"/>
            <a:ext cx="3276600" cy="419100"/>
          </a:xfrm>
          <a:prstGeom prst="roundRect">
            <a:avLst>
              <a:gd name="adj" fmla="val 1818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3295650" y="452437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后训练方法很多，不能全部叫作强化学习。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572250" y="4410075"/>
            <a:ext cx="2514600" cy="419100"/>
          </a:xfrm>
          <a:prstGeom prst="roundRect">
            <a:avLst>
              <a:gd name="adj" fmla="val 1818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762750" y="452437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行为被改善之后，仍然会犯错。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26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97" name="" descr="&lt;Slide notes={`第五个知识块，我们处理一个特别容易含糊的问题：模型&quot;知道&quot;一件事，到底是哪一种知道。&#10;&#10;答案不是一种，而是四种，而且它们进入回答的路径完全不同。&#10;&#10;第一种是参数知识。它是训练过程中学到的规律，留在了参数里，直接影响每一次计算。&#10;&#10;第二种是当前上下文。这一轮我给你的指令、之前几轮说过的话、应用读进来的资料和工具返回的结果，都属于这一种。&#10;&#10;第三种是外部资料与工具。文件、数据库、预约查询服务都在这里，但它们必须由应用按需去读取，才能进入当前上下文。&#10;&#10;第四种是应用持久记忆，比如存放下来的偏好、任务进度和历史记录。它同样要先被读出来，才能用上。&#10;&#10;四种知道，路径不一样，检查方法也不一样。这是我们下一段要逐条看的。`} style={{ width: 1280, height: 720, background: '#F4F7FA', flexDirection: 'column', padding: '20px 64px' }}&gt;&#10;&#10;    &lt;Box style={{ height: 240, flexDirection: 'column', justifyContent: 'center', alignItems: 'center', gap: 12 }}&gt;&#10;        &lt;Text style={{ fontSize: 14, color: '#276FBF' }}&gt;知识块 05&lt;/Text&gt;&#10;        &lt;Text style={{ fontSize: 56, fontWeight: 'bold', color: '#20344B', lineHeight: 1.15 }}&gt;四种容易混在一起的&quot;知道&quot;&lt;/Text&gt;&#10;        &lt;Box style={{ width: 72, height: 3, background: '#276FBF' }} /&gt;&#10;        &lt;Text style={{ fontSize: 20, color: '#546779' }}&gt;回答里的信息可能来自参数，也可能是这次才读到的材料&lt;/Text&gt;&#10;    &lt;/Box&gt;&#10;&#10;    &lt;Box style={{ height: 400, flexDirection: 'row', justifyContent: 'center', alignItems: 'center', gap: 36 }}&gt;&#10;&#10;        &lt;Box style={{ flexDirection: 'column', gap: 16 }}&gt;&#10;            &lt;Box style={{ flexDirection: 'row', gap: 16 }}&gt;&#10;                &lt;Box style={{ width: 200, height: 86, background: '#FFF4E6', borderRadius: 8, border: '1px solid #E5C9A8', justifyContent: 'center', alignItems: 'center' }}&gt;&#10;                    &lt;Text style={{ fontSize: 17, color: '#CB6B28', fontWeight: 'bold' }}&gt;参数知识&lt;/Text&gt;&#10;                &lt;/Box&gt;&#10;                &lt;Box style={{ width: 200, height: 86, background: '#EDF4FC', borderRadius: 8, border: '1px solid #B5C7D8', justifyContent: 'center', alignItems: 'center' }}&gt;&#10;                    &lt;Text style={{ fontSize: 17, color: '#276FBF', fontWeight: 'bold' }}&gt;当前上下文&lt;/Text&gt;&#10;                &lt;/Box&gt;&#10;            &lt;/Box&gt;&#10;            &lt;Box style={{ flexDirection: 'row', gap: 16 }}&gt;&#10;                &lt;Box style={{ width: 200, height: 86, background: '#EDF4FC', borderRadius: 8, border: '1px solid #B5C7D8', justifyContent: 'center', alignItems: 'center' }}&gt;&#10;                    &lt;Text style={{ fontSize: 17, color: '#276FBF', fontWeight: 'bold' }}&gt;外部资料与工具&lt;/Text&gt;&#10;                &lt;/Box&gt;&#10;                &lt;Box style={{ width: 200, height: 86, background: '#ECF7F2', borderRadius: 8, border: '1px solid #B5C7D8', justifyContent: 'center', alignItems: 'center' }}&gt;&#10;                    &lt;Text style={{ fontSize: 17, color: '#26816B', fontWeight: 'bold' }}&gt;应用持久记忆&lt;/Text&gt;&#10;                &lt;/Box&gt;&#10;            &lt;/Box&gt;&#10;        &lt;/Box&gt;&#10;&#10;        &lt;Text style={{ fontSize: 34, color: '#276FBF' }}&gt;›&lt;/Text&gt;&#10;&#10;        &lt;Box style={{ width: 340, height: 200, background: '#FFFFFF', borderRadius: 10, border: '1px solid #B5C7D8', padding: 20, flexDirection: 'column', justifyContent: 'center', gap: 10 }}&gt;&#10;            &lt;Text style={{ fontSize: 19, fontWeight: 'bold', color: '#20344B' }}&gt;已有的模型&lt;/Text&gt;&#10;            &lt;Text style={{ fontSize: 16, color: '#546779', lineHeight: 1.6 }}&gt;按真实可用的内容计算，生成本次回答&lt;/Text&gt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19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800725" y="581025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知识块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05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2886075" y="857250"/>
            <a:ext cx="6429375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四种容易混在一起的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知道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5753100" y="1714500"/>
            <a:ext cx="6858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3714750" y="1857375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546779"/>
                </a:solidFill>
                <a:latin typeface="Microsoft YaHei"/>
                <a:ea typeface="Microsoft YaHei"/>
              </a:rPr>
              <a:t>回答里的信息可能来自参数，也可能是这次才读到的材料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2095500" y="3486150"/>
            <a:ext cx="1905000" cy="819150"/>
          </a:xfrm>
          <a:prstGeom prst="roundRect">
            <a:avLst>
              <a:gd name="adj" fmla="val 9302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2724150" y="38004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参数知识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4152900" y="3486150"/>
            <a:ext cx="1905000" cy="819150"/>
          </a:xfrm>
          <a:prstGeom prst="roundRect">
            <a:avLst>
              <a:gd name="adj" fmla="val 9302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705350" y="38004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当前上下文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2095500" y="4457700"/>
            <a:ext cx="1905000" cy="819150"/>
          </a:xfrm>
          <a:prstGeom prst="roundRect">
            <a:avLst>
              <a:gd name="adj" fmla="val 9302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2486025" y="477202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外部资料与工具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4152900" y="4457700"/>
            <a:ext cx="1905000" cy="819150"/>
          </a:xfrm>
          <a:prstGeom prst="roundRect">
            <a:avLst>
              <a:gd name="adj" fmla="val 9302"/>
            </a:avLst>
          </a:prstGeom>
          <a:solidFill>
            <a:srgbClr val="ECF7F2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619625" y="477202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应用持久记忆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400800" y="4191000"/>
            <a:ext cx="114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6858000" y="3429000"/>
            <a:ext cx="32385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048500" y="4076700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已有的模型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7048500" y="4391025"/>
            <a:ext cx="2857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按真实可用的内容计算，生成本次回答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26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51" name="" descr="&lt;Slide notes={`信息要进入一次回答，必须走过一条明确的路径。&#10;&#10;外部资料、工具、应用保存的记忆，还有我发出的消息，它们都停在模型外面。它们不会自动被模型看到。中间必须有一步：应用按需去选择、去读取，把真实内容带回来，放进当前上下文。&#10;&#10;只有进了当前上下文，模型才能用上它。&#10;&#10;参数知识走的是另一条路。它不经过读取这一步，而是直接参与模型的计算，因为它本来就在参数里。&#10;&#10;所以有两条结论。&#10;&#10;第一，文件在电脑里，不等于已经进入模型的上下文。这句话值得反复强调。&#10;&#10;第二，检索增强生成，也就是把模型和可检索的资料结合起来，它为取用和更新信息提供了一条途径。但检索到资料之后，仍然要检查它有没有被用对——检索到和用对，是两件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1.5　四种容易混在一起的&quot;知道&quot;&lt;/Text&gt;&#10;            &lt;Text style={{ fontSize: 34, fontWeight: 'bold', color: '#20344B' }}&gt;信息必须走过一条明确的路径&lt;/Text&gt;&#10;        &lt;/Box&gt;&#10;    &lt;/Box&gt;&#10;&#10;    &lt;Box style={{ height: 540, flexDirection: 'column', gap: 20 }}&gt;&#10;&#10;        &lt;Box style={{ flexDirection: 'column', gap: 18, flex: 1, justifyContent: 'center' }}&gt;&#10;&#10;            &lt;Box style={{ flexDirection: 'row', alignItems: 'center', justifyContent: 'center', gap: 6 }}&gt;&#10;&#10;                &lt;Box style={{ width: 220, height: 200, background: '#F4F7FA', borderRadius: 10, padding: 14, flexDirection: 'column', justifyContent: 'center', gap: 10 }}&gt;&#10;                    &lt;Text style={{ fontSize: 15, color: '#546779' }}&gt;外部资料与工具&lt;/Text&gt;&#10;                    &lt;Text style={{ fontSize: 15, color: '#546779' }}&gt;应用持久记忆&lt;/Text&gt;&#10;                    &lt;Text style={{ fontSize: 15, color: '#546779' }}&gt;用户消息与指令&lt;/Text&gt;&#10;                &lt;/Box&gt;&#10;&#10;                &lt;Text style={{ fontSize: 22, color: '#276FBF' }}&gt;›&lt;/Text&gt;&#10;&#10;                &lt;Box style={{ width: 210, height: 200, background: '#FFF4E6', borderRadius: 10, border: '1px solid #E5C9A8', padding: 16, flexDirection: 'column', justifyContent: 'center', gap: 8 }}&gt;&#10;                    &lt;Text style={{ fontSize: 19, fontWeight: 'bold', color: '#CB6B28' }}&gt;应用按需读取&lt;/Text&gt;&#10;                    &lt;Text style={{ fontSize: 14, color: '#546779', lineHeight: 1.6 }}&gt;选择、检索，把真实内容带回来&lt;/Text&gt;&#10;                &lt;/Box&gt;&#10;&#10;                &lt;Text style={{ fontSize: 22, color: '#276FBF' }}&gt;›&lt;/Text&gt;&#10;&#10;                &lt;Box style={{ width: 210, height: 200, background: '#EDF4FC', borderRadius: 10, border: '1px solid #276FBF', padding: 16, flexDirection: 'column', justifyContent: 'center', gap: 8 }}&gt;&#10;                    &lt;Text style={{ fontSize: 19, fontWeight: 'bold', color: '#276FBF' }}&gt;当前上下文&lt;/Text&gt;&#10;                    &lt;Text style={{ fontSize: 14, color: '#546779', lineHeight: 1.6 }}&gt;本轮实际可用的指令、历史、资料与记忆&lt;/Text&gt;&#10;                &lt;/Box&gt;&#10;&#10;                &lt;Text style={{ fontSize: 22, color: '#276FBF' }}&gt;›&lt;/Text&gt;&#10;&#10;                &lt;Box style={{ width: 210, height: 200, background: '#EDF4FC', borderRadius: 10, border: '1px solid #B5C7D8', padding: 16, flexDirection: 'column', justifyContent: 'center', gap: 8 }}&gt;&#10;                    &lt;Text style={{ fontSize: 19, fontWeight: 'bold', color: '#20344B' }}&gt;已有模型&lt;/Text&gt;&#10;                    &lt;Text style={{ fontSize: 14, color: '#546779', lineHeight: 1.6 }}&gt;处理当前输入&lt;/Text&gt;&#10;                &lt;/Box&gt;&#10;&#10;                &lt;Text style={{ fontSize: 22, color: '#276FBF' }}&gt;›&lt;/Text&gt;&#10;&#10;                &lt;Box style={{ width: 180, height: 200, background: '#ECF7F2', borderRadius: 10, border: '1px solid #26816B', padding: 16, flexDirection: 'column', justifyContent: 'center', gap: 8 }}&gt;&#10;                    &lt;Text style={{ fontSize: 19, fontWeight: 'bold', color: '#26816B' }}&gt;生成回答&lt;/Text&gt;&#10;                    &lt;Text style={{ fontSize: 14, color: '#546779', lineHeight: 1.6 }}&gt;本次实际可用的信息共同决定&lt;/Text&gt;&#10;                &lt;/Box&gt;&#10;&#10;            &lt;/Box&gt;&#10;&#10;            &lt;Box style={{ flexDirection: 'row', alignItems: 'center', justifyContent: 'center', gap: 14 }}&gt;&#10;                &lt;Box style={{ background: '#FFF4E6', borderRadius: 8, padding: '12px 20px', border: '1px solid #E5C9A8' }}&gt;&#10;                    &lt;Text style={{ fontSize: 16, fontWeight: 'bold', color: '#CB6B28' }}&gt;参数知识：训练学到的规律&lt;/Text&gt;&#10;                &lt;/Box&gt;&#10;                &lt;Text style={{ fontSize: 17, color: '#CB6B28' }}&gt;--- 影响计算 ---›&lt;/Text&gt;&#10;                &lt;Text style={{ fontSize: 16, color: '#546779' }}&gt;不经过读取，直接参与模型计算&lt;/Text&gt;&#10;            &lt;/Box&gt;&#10;&#10;        &lt;/Box&gt;&#10;&#10;        &lt;Box style={{ flexDirection: 'row', gap: 20 }}&gt;&#10;            &lt;Box style={{ flex: 3, background: '#F4F7FA', borderRadius: 10, padding: '14px 20px', flexDirection: 'row', gap: 12, alignItems: 'center' }}&gt;&#10;                &lt;Box style={{ width: 3, height: 22, background: '#CB6B28' }} /&gt;&#10;                &lt;Text style={{ fontSize: 16, color: '#546779' }}&gt;文件在电脑里，不等于已经进入模型的上下文。&lt;/Text&gt;&#10;            &lt;/Box&gt;&#10;            &lt;Box style={{ flex: 4, background: '#F4F7FA', borderRadius: 10, padding: '14px 20px', flexDirection: 'row', gap: 12, alignItems: 'center' }}&gt;&#10;                &lt;Box style={{ width: 3, height: 22, background: '#276FBF' }} /&gt;&#10;                &lt;Text style={{ fontSize: 16, color: '#546779' }}&gt;检索增强生成提供了取用资料的途径，但检索到之后仍要检查是否用对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20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四种容易混在一起的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知道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信息必须走过一条明确的路径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809625" y="2133600"/>
            <a:ext cx="2095500" cy="19050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942975" y="273367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外部资料与工具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942975" y="300037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应用持久记忆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942975" y="326707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用户消息与指令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2962275" y="296227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3095625" y="2133600"/>
            <a:ext cx="2000250" cy="190500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3248025" y="2686050"/>
            <a:ext cx="1695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应用按需读取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3248025" y="2981325"/>
            <a:ext cx="1695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选择、检索，把真实内容带回来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5153025" y="296227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5286375" y="2133600"/>
            <a:ext cx="2000250" cy="1905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 w="12700">
            <a:solidFill>
              <a:srgbClr val="276FBF"/>
            </a:solidFill>
            <a:prstDash val="solid"/>
          </a:ln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438775" y="2686050"/>
            <a:ext cx="1695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当前上下文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438775" y="2981325"/>
            <a:ext cx="16954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本轮实际可用的指令、历史、资料与记忆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7343775" y="296227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7477125" y="2133600"/>
            <a:ext cx="2000250" cy="1905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7629525" y="2809875"/>
            <a:ext cx="1695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已有模型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7629525" y="3105150"/>
            <a:ext cx="16954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处理当前输入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9534525" y="296227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9667875" y="2133600"/>
            <a:ext cx="1714500" cy="1905000"/>
          </a:xfrm>
          <a:prstGeom prst="roundRect">
            <a:avLst>
              <a:gd name="adj" fmla="val 5556"/>
            </a:avLst>
          </a:prstGeom>
          <a:solidFill>
            <a:srgbClr val="ECF7F2"/>
          </a:solidFill>
          <a:ln w="12700">
            <a:solidFill>
              <a:srgbClr val="26816B"/>
            </a:solidFill>
            <a:prstDash val="solid"/>
          </a:ln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9820275" y="2686050"/>
            <a:ext cx="1409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生成回答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9820275" y="2981325"/>
            <a:ext cx="1409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本次实际可用的信息共同决定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3181350" y="4210050"/>
            <a:ext cx="2209800" cy="419100"/>
          </a:xfrm>
          <a:prstGeom prst="roundRect">
            <a:avLst>
              <a:gd name="adj" fmla="val 18182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3371850" y="4324350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参数知识：训练学到的规律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5524500" y="4324350"/>
            <a:ext cx="1228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B6B28"/>
                </a:solidFill>
                <a:latin typeface="Microsoft YaHei"/>
                <a:ea typeface="Microsoft YaHei"/>
              </a:rPr>
              <a:t xml:space="preserve">--- </a:t>
            </a:r>
            <a:r>
              <a:rPr lang="zh-CN" sz="1275">
                <a:solidFill>
                  <a:srgbClr val="CB6B28"/>
                </a:solidFill>
                <a:latin typeface="Microsoft YaHei"/>
                <a:ea typeface="Microsoft YaHei"/>
              </a:rPr>
              <a:t>影响计算</a:t>
            </a:r>
            <a:r>
              <a:rPr lang="en-US" sz="1275">
                <a:solidFill>
                  <a:srgbClr val="CB6B28"/>
                </a:solidFill>
                <a:latin typeface="Microsoft YaHei"/>
                <a:ea typeface="Microsoft YaHei"/>
              </a:rPr>
              <a:t xml:space="preserve"> ---›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886575" y="432435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不经过读取，直接参与模型计算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609600" y="5810250"/>
            <a:ext cx="4619625" cy="47625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1" name=""/>
          <p:cNvSpPr/>
          <p:nvPr/>
        </p:nvSpPr>
        <p:spPr>
          <a:xfrm rot="0" flipH="0" flipV="0">
            <a:off x="800100" y="5943600"/>
            <a:ext cx="28575" cy="209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942975" y="5953125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文件在电脑里，不等于已经进入模型的上下文。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5419725" y="5810250"/>
            <a:ext cx="6162675" cy="476250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5610225" y="5943600"/>
            <a:ext cx="28575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753100" y="5953125"/>
            <a:ext cx="487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检索增强生成提供了取用资料的途径，但检索到之后仍要检查是否用对。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26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88" name="" descr="&lt;Slide notes={`四种&quot;知道&quot;的路径不同，所以它们的检查点也不同。这张表把它对齐。&#10;&#10;如果是模型参数给出的信息，比如它说&quot;开放日通常需要活动安排&quot;，你要问的是：这条经验适不适用于当前这个问题，它会不会已经过时。&#10;&#10;如果信息来自当前上下文，比如这一次我提供了&quot;手作室容量 12 人&quot;，你要问的是：它是不是真的送进去了，有没有被截断，有没有被读错。&#10;&#10;如果信息来自外部资料和工具，比如查询十点的预约记录，你要问的是：这次查询是不是真的执行了，返回的到底是哪一条记录。&#10;&#10;如果信息来自应用持久记忆，比如它保存了&quot;第一版尚未核验预约&quot;，你要问的是：这条记忆是不是真的保存下来了，有没有更新，需要的时候能不能读回来。&#10;&#10;四种来源，四组问题。遇到错误时先定位来源，再问对应的问题，比笼统地说一句&quot;AI 又幻觉了&quot;有用得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1.5　四种容易混在一起的&quot;知道&quot;&lt;/Text&gt;&#10;            &lt;Text style={{ fontSize: 34, fontWeight: 'bold', color: '#20344B' }}&gt;每一种知道，都有自己的检查点&lt;/Text&gt;&#10;        &lt;/Box&gt;&#10;    &lt;/Box&gt;&#10;&#10;    &lt;Box style={{ height: 540, flexDirection: 'row', gap: 36 }}&gt;&#10;&#10;        &lt;Box style={{ width: 268, flexDirection: 'column', justifyContent: 'center', gap: 16 }}&gt;&#10;            &lt;Text style={{ fontSize: 26, fontWeight: 'bold', color: '#276FBF', lineHeight: 1.4 }}&gt;先定位来源，再问对应的问题&lt;/Text&gt;&#10;            &lt;Box style={{ width: 56, height: 3, background: '#26816B' }} /&gt;&#10;            &lt;Text style={{ fontSize: 17, color: '#546779', lineHeight: 1.75 }}&gt;同样是&quot;说错了&quot;，来源不同，该检查的地方就不同。定位到来源，检查才有落点。&lt;/Text&gt;&#10;        &lt;/Box&gt;&#10;&#10;        &lt;Box style={{ flex: 1, flexDirection: 'column', justifyContent: 'center', gap: 10 }}&gt;&#10;&#10;            &lt;Box style={{ flexDirection: 'row', gap: 12 }}&gt;&#10;                &lt;Text style={{ width: 160, fontSize: 15, color: '#546779' }}&gt;信息来自哪里&lt;/Text&gt;&#10;                &lt;Text style={{ width: 276, fontSize: 15, color: '#546779' }}&gt;青禾的例子&lt;/Text&gt;&#10;                &lt;Text style={{ flex: 1, fontSize: 15, color: '#546779' }}&gt;应检查什么&lt;/Text&gt;&#10;            &lt;/Box&gt;&#10;&#10;            &lt;Box style={{ flexDirection: 'row', gap: 12, background: '#F4F7FA', borderRadius: 8, padding: '14px 16px', alignItems: 'center' }}&gt;&#10;                &lt;Text style={{ width: 160, fontSize: 17, fontWeight: 'bold', color: '#20344B' }}&gt;模型参数&lt;/Text&gt;&#10;                &lt;Text style={{ width: 276, fontSize: 16, color: '#546779' }}&gt;&quot;开放日通常需要活动安排&quot;&lt;/Text&gt;&#10;                &lt;Text style={{ flex: 1, fontSize: 16, color: '#546779' }}&gt;是否适用于当前问题，是否可能过时&lt;/Text&gt;&#10;            &lt;/Box&gt;&#10;&#10;            &lt;Box style={{ flexDirection: 'row', gap: 12, background: '#F4F7FA', borderRadius: 8, padding: '14px 16px', alignItems: 'center' }}&gt;&#10;                &lt;Text style={{ width: 160, fontSize: 17, fontWeight: 'bold', color: '#20344B' }}&gt;当前上下文&lt;/Text&gt;&#10;                &lt;Text style={{ width: 276, fontSize: 16, color: '#546779' }}&gt;本次提供的&quot;手作室容量 12 人&quot;&lt;/Text&gt;&#10;                &lt;Text style={{ flex: 1, fontSize: 16, color: '#546779' }}&gt;是否确实送入，是否被截断或误读&lt;/Text&gt;&#10;            &lt;/Box&gt;&#10;&#10;            &lt;Box style={{ flexDirection: 'row', gap: 12, background: '#F4F7FA', borderRadius: 8, padding: '14px 16px', alignItems: 'center' }}&gt;&#10;                &lt;Text style={{ width: 160, fontSize: 17, fontWeight: 'bold', color: '#20344B' }}&gt;外部资料与工具&lt;/Text&gt;&#10;                &lt;Text style={{ width: 276, fontSize: 16, color: '#546779' }}&gt;查询 10:00 的预约记录&lt;/Text&gt;&#10;                &lt;Text style={{ flex: 1, fontSize: 16, color: '#546779' }}&gt;是否实际查询，返回的是哪条记录&lt;/Text&gt;&#10;            &lt;/Box&gt;&#10;&#10;            &lt;Box style={{ flexDirection: 'row', gap: 12, background: '#FFF4E6', borderRadius: 8, padding: '14px 16px', alignItems: 'center', border: '1px solid #E5C9A8' }}&gt;&#10;                &lt;Text style={{ width: 160, fontSize: 17, fontWeight: 'bold', color: '#20344B' }}&gt;应用持久记忆&lt;/Text&gt;&#10;                &lt;Text style={{ width: 276, fontSize: 16, color: '#546779' }}&gt;保存&quot;第一版尚未核验预约&quot;&lt;/Text&gt;&#10;                &lt;Text style={{ flex: 1, fontSize: 16, color: '#CB6B28' }}&gt;是否保存、更新，并在需要时读回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21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四种容易混在一起的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知道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每一种知道，都有自己的检查点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09600" y="2619375"/>
            <a:ext cx="25527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76FBF"/>
                </a:solidFill>
                <a:latin typeface="Microsoft YaHei"/>
                <a:ea typeface="Microsoft YaHei"/>
              </a:rPr>
              <a:t>先定位来源，再问对应的问题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09600" y="36099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609600" y="3790950"/>
            <a:ext cx="25527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同样是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说错了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，来源不同，该检查的地方就不同。定位到来源，检查才有落点。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3505200" y="25050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信息来自哪里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5143500" y="2505075"/>
            <a:ext cx="2628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青禾的例子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7886700" y="2505075"/>
            <a:ext cx="3695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应检查什么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3505200" y="2771775"/>
            <a:ext cx="8077200" cy="466725"/>
          </a:xfrm>
          <a:prstGeom prst="roundRect">
            <a:avLst>
              <a:gd name="adj" fmla="val 1632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3657600" y="2905125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模型参数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295900" y="2914650"/>
            <a:ext cx="262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开放日通常需要活动安排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039100" y="291465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是否适用于当前问题，是否可能过时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3505200" y="3333750"/>
            <a:ext cx="8077200" cy="466725"/>
          </a:xfrm>
          <a:prstGeom prst="roundRect">
            <a:avLst>
              <a:gd name="adj" fmla="val 1632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3657600" y="346710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当前上下文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5295900" y="3476625"/>
            <a:ext cx="262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本次提供的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手作室容量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人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039100" y="3476625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是否确实送入，是否被截断或误读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3505200" y="3895725"/>
            <a:ext cx="8077200" cy="466725"/>
          </a:xfrm>
          <a:prstGeom prst="roundRect">
            <a:avLst>
              <a:gd name="adj" fmla="val 1632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3657600" y="4029075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外部资料与工具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5295900" y="4038600"/>
            <a:ext cx="262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查询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10:00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的预约记录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039100" y="403860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是否实际查询，返回的是哪条记录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3505200" y="4457700"/>
            <a:ext cx="8077200" cy="466725"/>
          </a:xfrm>
          <a:prstGeom prst="roundRect">
            <a:avLst>
              <a:gd name="adj" fmla="val 16327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3657600" y="459105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应用持久记忆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5295900" y="4600575"/>
            <a:ext cx="262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保存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第一版尚未核验预约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039100" y="4600575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是否保存、更新，并在需要时读回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26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17" name="" descr="&lt;Slide notes={`最后一个知识块，我们处理两个经常被混成一句话的问题。&#10;&#10;第一个问题：为什么同一个问题问两遍，回答会不一样？&#10;&#10;第二个问题：为什么它会说错？&#10;&#10;很多人把这两个问题合成一个判断——&quot;稳定就可靠，不稳定就不可靠&quot;。这个判断是错的。&#10;&#10;因为这里其实是两个独立的维度。一个维度是措辞是否稳定，也就是两次回答像不像。另一个维度是事实是否正确，也就是它说的和实际情况符不符。这两个维度可以自由组合，四个格子都可能出现。&#10;&#10;接下来的两页，我们先把这两个维度分开，再看几个具体的错误该怎么查。&#10;&#10;先说一个前提：不管是哪个维度，都需要一个判断的依据。在青禾这件事里，依据就是房间容量表上写着十二个名额，以及本次并没有执行预约。没有这份依据，两个维度都无从谈起。`} style={{ width: 1280, height: 720, background: '#F4F7FA', flexDirection: 'column', padding: '20px 64px' }}&gt;&#10;&#10;    &lt;Box style={{ height: 240, flexDirection: 'column', justifyContent: 'center', alignItems: 'center', gap: 12 }}&gt;&#10;        &lt;Text style={{ fontSize: 14, color: '#276FBF' }}&gt;知识块 06&lt;/Text&gt;&#10;        &lt;Text style={{ fontSize: 56, fontWeight: 'bold', color: '#20344B', lineHeight: 1.15 }}&gt;为什么回答会变化，为什么会有&quot;幻觉&quot;&lt;/Text&gt;&#10;        &lt;Box style={{ width: 72, height: 3, background: '#276FBF' }} /&gt;&#10;        &lt;Text style={{ fontSize: 20, color: '#546779' }}&gt;先核对事实，再比较两次回答是否相同&lt;/Text&gt;&#10;    &lt;/Box&gt;&#10;&#10;    &lt;Box style={{ height: 400, flexDirection: 'column', justifyContent: 'center', alignItems: 'center', gap: 16 }}&gt;&#10;&#10;        &lt;Text style={{ fontSize: 18, color: '#546779' }}&gt;横轴：措辞是否稳定　　纵轴：事实是否正确&lt;/Text&gt;&#10;&#10;        &lt;Box style={{ flexDirection: 'row', gap: 24, alignItems: 'center' }}&gt;&#10;&#10;            &lt;Box style={{ flexDirection: 'column', gap: 20 }}&gt;&#10;                &lt;Box style={{ width: 260, height: 118, background: '#FFFFFF', borderRadius: 10, border: '1px solid #B5C7D8', justifyContent: 'center', alignItems: 'center' }}&gt;&#10;                    &lt;Text style={{ fontSize: 18, color: '#26816B', fontWeight: 'bold' }}&gt;稳定，且正确&lt;/Text&gt;&#10;                &lt;/Box&gt;&#10;                &lt;Box style={{ width: 260, height: 118, background: '#FFFFFF', borderRadius: 10, border: '1px solid #B5C7D8', justifyContent: 'center', alignItems: 'center' }}&gt;&#10;                    &lt;Text style={{ fontSize: 18, color: '#276FBF', fontWeight: 'bold' }}&gt;变化，但事实一致&lt;/Text&gt;&#10;                &lt;/Box&gt;&#10;            &lt;/Box&gt;&#10;&#10;            &lt;Box style={{ flexDirection: 'column', gap: 20 }}&gt;&#10;                &lt;Box style={{ width: 260, height: 118, background: '#FFF4E6', borderRadius: 10, border: '1px solid #E5C9A8', justifyContent: 'center', alignItems: 'center' }}&gt;&#10;                    &lt;Text style={{ fontSize: 18, color: '#CB6B28', fontWeight: 'bold' }}&gt;稳定，但错误&lt;/Text&gt;&#10;                &lt;/Box&gt;&#10;                &lt;Box style={{ width: 260, height: 118, background: '#FFF4E6', borderRadius: 10, border: '1px solid #E5C9A8', justifyContent: 'center', alignItems: 'center' }}&gt;&#10;                    &lt;Text style={{ fontSize: 18, color: '#CB6B28', fontWeight: 'bold' }}&gt;变化，且含有错误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22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5800725" y="581025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知识块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06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552575" y="857250"/>
            <a:ext cx="9096375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为什么回答会变化，为什么会有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幻觉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5753100" y="1714500"/>
            <a:ext cx="6858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4476750" y="1857375"/>
            <a:ext cx="323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546779"/>
                </a:solidFill>
                <a:latin typeface="Microsoft YaHei"/>
                <a:ea typeface="Microsoft YaHei"/>
              </a:rPr>
              <a:t>先核对事实，再比较两次回答是否相同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4381500" y="2981325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横轴：措辞是否稳定　　纵轴：事实是否正确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3505200" y="3343275"/>
            <a:ext cx="2476500" cy="112395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4229100" y="38004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稳定，且正确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3505200" y="4657725"/>
            <a:ext cx="2476500" cy="112395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4057650" y="5114925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变化，但事实一致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6210300" y="3343275"/>
            <a:ext cx="247650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934200" y="38004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稳定，但错误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6210300" y="4657725"/>
            <a:ext cx="247650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6762750" y="5114925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变化，且含有错误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26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34" name="" descr="&lt;Slide notes={`我们用一个具体的依据把四个格子填上。依据是两条：房间容量是十二人，本次没有执行预约。&#10;&#10;先看上面两个格子，它们对应&quot;两次回答几乎一样&quot;的情况。如果两次都说&quot;容量十二人、还没有预约&quot;，那既稳定又正确，这是我们想要的。但如果两次都说&quot;容量十五人、已经预约&quot;，注意——它稳定，但它错得很稳定。多问几遍得到同样的答案，并不能把错误变成正确。&#10;&#10;再看下面两个格子，对应&quot;两次措辞不一样&quot;的情况。一次说&quot;容量十二人、未预约&quot;，另一次说&quot;最多十二人、尚未预约&quot;，用词变了，事实一致，这仍然可以用。但如果一次说&quot;未预约&quot;、另一次说&quot;已预约&quot;，那就是变化之中夹着错误。&#10;&#10;所以重复出现不等于可靠，措辞变化也不等于出错。&#10;&#10;最后一句要记住：把随机性调低，可能让差异变小，但它不能保证正确，也不能保证完全重现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1.6　为什么回答会变化，为什么会有&quot;幻觉&quot;&lt;/Text&gt;&#10;            &lt;Text style={{ fontSize: 34, fontWeight: 'bold', color: '#20344B' }}&gt;稳定与正确，是两个维度&lt;/Text&gt;&#10;        &lt;/Box&gt;&#10;    &lt;/Box&gt;&#10;&#10;    &lt;Box style={{ height: 540, flexDirection: 'row', gap: 40 }}&gt;&#10;&#10;        &lt;Box style={{ width: 652, flexDirection: 'column', justifyContent: 'center', gap: 16 }}&gt;&#10;&#10;            &lt;Box style={{ background: '#F4F7FA', borderRadius: 8, padding: '12px 18px' }}&gt;&#10;                &lt;Text style={{ fontSize: 16, color: '#546779' }}&gt;核验依据：容量 12 人；本次未执行预约&lt;/Text&gt;&#10;            &lt;/Box&gt;&#10;&#10;            &lt;Box style={{ flexDirection: 'row', gap: 16 }}&gt;&#10;                &lt;Box style={{ width: 318, height: 158, background: '#ECF7F2', borderRadius: 10, border: '1px solid #26816B', padding: 16, flexDirection: 'column', gap: 8 }}&gt;&#10;                    &lt;Text style={{ fontSize: 18, fontWeight: 'bold', color: '#26816B' }}&gt;稳定且正确&lt;/Text&gt;&#10;                    &lt;Text style={{ fontSize: 15, color: '#546779', lineHeight: 1.7 }}&gt;两次均说：容量 12 人，未预约&lt;/Text&gt;&#10;                &lt;/Box&gt;&#10;                &lt;Box style={{ width: 318, height: 158, background: '#FFF4E6', borderRadius: 10, border: '1px solid #CB6B28', padding: 16, flexDirection: 'column', gap: 8 }}&gt;&#10;                    &lt;Text style={{ fontSize: 18, fontWeight: 'bold', color: '#CB6B28' }}&gt;稳定但错误&lt;/Text&gt;&#10;                    &lt;Text style={{ fontSize: 15, color: '#546779', lineHeight: 1.7 }}&gt;两次均说：容量 15 人，已预约&lt;/Text&gt;&#10;                &lt;/Box&gt;&#10;            &lt;/Box&gt;&#10;&#10;            &lt;Box style={{ flexDirection: 'row', gap: 16 }}&gt;&#10;                &lt;Box style={{ width: 318, height: 158, background: '#EDF4FC', borderRadius: 10, border: '1px solid #B5C7D8', padding: 16, flexDirection: 'column', gap: 8 }}&gt;&#10;                    &lt;Text style={{ fontSize: 18, fontWeight: 'bold', color: '#276FBF' }}&gt;事实一致&lt;/Text&gt;&#10;                    &lt;Text style={{ fontSize: 15, color: '#546779', lineHeight: 1.7 }}&gt;容量 12 人、未预约　与　最多 12 人、尚未预约&lt;/Text&gt;&#10;                &lt;/Box&gt;&#10;                &lt;Box style={{ width: 318, height: 158, background: '#FFF4E6', borderRadius: 10, border: '1px solid #CB6B28', padding: 16, flexDirection: 'column', gap: 8 }}&gt;&#10;                    &lt;Text style={{ fontSize: 18, fontWeight: 'bold', color: '#CB6B28' }}&gt;含有错误&lt;/Text&gt;&#10;                    &lt;Text style={{ fontSize: 15, color: '#546779', lineHeight: 1.7 }}&gt;容量 12 人、未预约　与　容量 12 人、已预约&lt;/Text&gt;&#10;                &lt;/Box&gt;&#10;            &lt;/Box&gt;&#10;&#10;        &lt;/Box&gt;&#10;&#10;        &lt;Box style={{ flex: 1, flexDirection: 'column', justifyContent: 'center', gap: 18 }}&gt;&#10;&#10;            &lt;Text style={{ fontSize: 26, fontWeight: 'bold', color: '#276FBF', lineHeight: 1.4 }}&gt;不能合并成一个&quot;稳定可靠&quot;&lt;/Text&gt;&#10;&#10;            &lt;Box style={{ flexDirection: 'row', gap: 12, alignItems: 'flex-start' }}&gt;&#10;                &lt;Box style={{ width: 3, height: 52, background: '#CB6B28' }} /&gt;&#10;                &lt;Text style={{ fontSize: 17, color: '#546779', lineHeight: 1.7 }}&gt;重复说&quot;15 人、已预约&quot;，说很多遍仍然错误。&lt;/Text&gt;&#10;            &lt;/Box&gt;&#10;&#10;            &lt;Box style={{ flexDirection: 'row', gap: 12, alignItems: 'flex-start' }}&gt;&#10;                &lt;Box style={{ width: 3, height: 52, background: '#26816B' }} /&gt;&#10;                &lt;Text style={{ fontSize: 17, color: '#546779', lineHeight: 1.7 }}&gt;措辞变化但事实一致，回答仍然可用。&lt;/Text&gt;&#10;            &lt;/Box&gt;&#10;&#10;            &lt;Box style={{ flexDirection: 'row', gap: 12, alignItems: 'flex-start' }}&gt;&#10;                &lt;Box style={{ width: 3, height: 72, background: '#276FBF' }} /&gt;&#10;                &lt;Text style={{ fontSize: 17, color: '#546779', lineHeight: 1.7 }}&gt;降低随机性可能减少差异，但不能保证正确，也不保证完全重现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23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为什么回答会变化，为什么会有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幻觉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稳定与正确，是两个维度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609600" y="1847850"/>
            <a:ext cx="6210300" cy="419100"/>
          </a:xfrm>
          <a:prstGeom prst="roundRect">
            <a:avLst>
              <a:gd name="adj" fmla="val 1818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781050" y="1962150"/>
            <a:ext cx="5867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核验依据：容量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人；本次未执行预约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09600" y="2419350"/>
            <a:ext cx="3028950" cy="1504950"/>
          </a:xfrm>
          <a:prstGeom prst="roundRect">
            <a:avLst>
              <a:gd name="adj" fmla="val 6329"/>
            </a:avLst>
          </a:prstGeom>
          <a:solidFill>
            <a:srgbClr val="ECF7F2"/>
          </a:solidFill>
          <a:ln w="12700">
            <a:solidFill>
              <a:srgbClr val="26816B"/>
            </a:solidFill>
            <a:prstDash val="solid"/>
          </a:ln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762000" y="2571750"/>
            <a:ext cx="272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稳定且正确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762000" y="2857500"/>
            <a:ext cx="27241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两次均说：容量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人，未预约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3790950" y="2419350"/>
            <a:ext cx="3028950" cy="1504950"/>
          </a:xfrm>
          <a:prstGeom prst="roundRect">
            <a:avLst>
              <a:gd name="adj" fmla="val 6329"/>
            </a:avLst>
          </a:prstGeom>
          <a:solidFill>
            <a:srgbClr val="FFF4E6"/>
          </a:solidFill>
          <a:ln w="12700">
            <a:solidFill>
              <a:srgbClr val="CB6B28"/>
            </a:solidFill>
            <a:prstDash val="solid"/>
          </a:ln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3943350" y="2571750"/>
            <a:ext cx="272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稳定但错误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3943350" y="2857500"/>
            <a:ext cx="27241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两次均说：容量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人，已预约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609600" y="4076700"/>
            <a:ext cx="3028950" cy="1504950"/>
          </a:xfrm>
          <a:prstGeom prst="roundRect">
            <a:avLst>
              <a:gd name="adj" fmla="val 6329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762000" y="4229100"/>
            <a:ext cx="272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事实一致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762000" y="4514850"/>
            <a:ext cx="2724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容量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人、未预约　与　最多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人、尚未预约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3790950" y="4076700"/>
            <a:ext cx="3028950" cy="1504950"/>
          </a:xfrm>
          <a:prstGeom prst="roundRect">
            <a:avLst>
              <a:gd name="adj" fmla="val 6329"/>
            </a:avLst>
          </a:prstGeom>
          <a:solidFill>
            <a:srgbClr val="FFF4E6"/>
          </a:solidFill>
          <a:ln w="12700">
            <a:solidFill>
              <a:srgbClr val="CB6B28"/>
            </a:solidFill>
            <a:prstDash val="solid"/>
          </a:ln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3943350" y="4229100"/>
            <a:ext cx="272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含有错误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3943350" y="4514850"/>
            <a:ext cx="2724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容量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人、未预约　与　容量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人、已预约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7200900" y="2409825"/>
            <a:ext cx="438150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76FBF"/>
                </a:solidFill>
                <a:latin typeface="Microsoft YaHei"/>
                <a:ea typeface="Microsoft YaHei"/>
              </a:rPr>
              <a:t>不能合并成一个</a:t>
            </a:r>
            <a:r>
              <a:rPr lang="en-US" sz="1950" b="1">
                <a:solidFill>
                  <a:srgbClr val="276FBF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276FBF"/>
                </a:solidFill>
                <a:latin typeface="Microsoft YaHei"/>
                <a:ea typeface="Microsoft YaHei"/>
              </a:rPr>
              <a:t>稳定可靠</a:t>
            </a:r>
            <a:r>
              <a:rPr lang="en-US" sz="1950" b="1">
                <a:solidFill>
                  <a:srgbClr val="276FBF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7200900" y="3000375"/>
            <a:ext cx="28575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7343775" y="3000375"/>
            <a:ext cx="32956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重复说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"15 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人、已预约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，说很多遍仍然错误。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7200900" y="3667125"/>
            <a:ext cx="28575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7343775" y="3667125"/>
            <a:ext cx="2752725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措辞变化但事实一致，回答仍然可用。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7200900" y="4333875"/>
            <a:ext cx="28575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7343775" y="4333875"/>
            <a:ext cx="42386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降低随机性可能减少差异，但不能保证正确，也不保证完全重现。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26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62" name="" descr="&lt;Slide notes={`既然&quot;稳定&quot;不等于&quot;正确&quot;，那我们该用什么方式记录错误？&#10;&#10;答案是：不要只记一个&quot;幻觉&quot;，要记下具体是什么错，以及该去哪里查。&#10;&#10;第一类，数字错。它说&quot;手作室可以容纳十五人&quot;。那就要问：容量表提供给它了吗？如果提供了，它用对了吗？&#10;&#10;第二类，动作错。它说&quot;已经完成预约&quot;，但系统里查不到记录。那就去查工具是不是真的执行了，返回值是不是成功。&#10;&#10;第三类，逻辑错。它的解释写得很完整，很通顺，但安排本身还是冲突。这说明还要再用独立的方式校验一遍数字、引用和业务约束。&#10;&#10;把错误落到具体的类别上，你才可能修好它。只说&quot;AI 又胡说&quot;，既找不到原因，也改不动流程。&#10;&#10;这就是开头那件事的下一步：不是换个说法再问一遍，而是把该提供的材料补上，把该查的记录查一遍，把候选方案逐条检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1.6　为什么回答会变化，为什么会有&quot;幻觉&quot;&lt;/Text&gt;&#10;            &lt;Text style={{ fontSize: 34, fontWeight: 'bold', color: '#20344B' }}&gt;与其笼统说&quot;幻觉&quot;，不如记录具体错误&lt;/Text&gt;&#10;        &lt;/Box&gt;&#10;    &lt;/Box&gt;&#10;&#10;    &lt;Box style={{ height: 540, flexDirection: 'row', gap: 36 }}&gt;&#10;&#10;        &lt;Box style={{ width: 300, flexDirection: 'column', justifyContent: 'center', gap: 16 }}&gt;&#10;            &lt;Text style={{ fontSize: 26, fontWeight: 'bold', color: '#CB6B28', lineHeight: 1.4 }}&gt;先分类，再定位&lt;/Text&gt;&#10;            &lt;Box style={{ width: 56, height: 3, background: '#26816B' }} /&gt;&#10;            &lt;Text style={{ fontSize: 17, color: '#546779', lineHeight: 1.75 }}&gt;把错误说清楚，才有可能修。只记一句&quot;它又说错了&quot;，既找不到原因，也改不动流程。&lt;/Text&gt;&#10;            &lt;Box style={{ background: '#F4F7FA', borderRadius: 8, padding: '14px 16px' }}&gt;&#10;                &lt;Text style={{ fontSize: 16, color: '#546779', lineHeight: 1.6 }}&gt;记录：错误内容 + 判断依据 + 该查的环节&lt;/Text&gt;&#10;            &lt;/Box&gt;&#10;        &lt;/Box&gt;&#10;&#10;        &lt;Box style={{ flex: 1, flexDirection: 'column', justifyContent: 'center', gap: 14 }}&gt;&#10;&#10;            &lt;Box style={{ flexDirection: 'row', gap: 14 }}&gt;&#10;                &lt;Text style={{ width: 380, fontSize: 15, color: '#546779' }}&gt;看到的错误&lt;/Text&gt;&#10;                &lt;Text style={{ flex: 1, fontSize: 15, color: '#546779' }}&gt;优先检查哪里&lt;/Text&gt;&#10;            &lt;/Box&gt;&#10;&#10;            &lt;Box style={{ flexDirection: 'row', gap: 14, background: '#FFF4E6', borderRadius: 10, padding: '18px 20px', border: '1px solid #E5C9A8', alignItems: 'center' }}&gt;&#10;                &lt;Text style={{ width: 380, fontSize: 18, color: '#20344B', fontWeight: 'bold' }}&gt;&quot;手作室可容纳 15 人&quot;&lt;/Text&gt;&#10;                &lt;Text style={{ flex: 1, fontSize: 17, color: '#546779' }}&gt;容量表是否提供、是否正确使用&lt;/Text&gt;&#10;            &lt;/Box&gt;&#10;&#10;            &lt;Box style={{ flexDirection: 'row', gap: 14, background: '#FFF4E6', borderRadius: 10, padding: '18px 20px', border: '1px solid #E5C9A8', alignItems: 'center' }}&gt;&#10;                &lt;Text style={{ width: 380, fontSize: 18, color: '#20344B', fontWeight: 'bold' }}&gt;&quot;已经完成预约&quot;，却没有记录&lt;/Text&gt;&#10;                &lt;Text style={{ flex: 1, fontSize: 17, color: '#546779' }}&gt;工具是否实际执行并返回成功&lt;/Text&gt;&#10;            &lt;/Box&gt;&#10;&#10;            &lt;Box style={{ flexDirection: 'row', gap: 14, background: '#F4F7FA', borderRadius: 10, padding: '18px 20px', alignItems: 'center' }}&gt;&#10;                &lt;Text style={{ width: 380, fontSize: 18, color: '#20344B', fontWeight: 'bold' }}&gt;解释很完整，但安排仍然冲突&lt;/Text&gt;&#10;                &lt;Text style={{ flex: 1, fontSize: 17, color: '#546779' }}&gt;数字、引用与业务约束是否通过独立校验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24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52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为什么回答会变化，为什么会有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幻觉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524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与其笼统说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幻觉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，不如记录具体错误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609600" y="2324100"/>
            <a:ext cx="285750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CB6B28"/>
                </a:solidFill>
                <a:latin typeface="Microsoft YaHei"/>
                <a:ea typeface="Microsoft YaHei"/>
              </a:rPr>
              <a:t>先分类，再定位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609600" y="2895600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09600" y="3076575"/>
            <a:ext cx="28575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把错误说清楚，才有可能修。只记一句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它又说错了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，既找不到原因，也改不动流程。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09600" y="4257675"/>
            <a:ext cx="2857500" cy="85725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762000" y="4391025"/>
            <a:ext cx="25527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记录：错误内容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判断依据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该查的环节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3810000" y="2600325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看到的错误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7562850" y="2600325"/>
            <a:ext cx="401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优先检查哪里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3810000" y="2905125"/>
            <a:ext cx="7772400" cy="552450"/>
          </a:xfrm>
          <a:prstGeom prst="roundRect">
            <a:avLst>
              <a:gd name="adj" fmla="val 17241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4000500" y="3076575"/>
            <a:ext cx="3619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手作室可容纳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人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7753350" y="3086100"/>
            <a:ext cx="3638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容量表是否提供、是否正确使用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3810000" y="3590925"/>
            <a:ext cx="7772400" cy="552450"/>
          </a:xfrm>
          <a:prstGeom prst="roundRect">
            <a:avLst>
              <a:gd name="adj" fmla="val 17241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4000500" y="3762375"/>
            <a:ext cx="3619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已经完成预约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，却没有记录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7753350" y="3771900"/>
            <a:ext cx="3638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工具是否实际执行并返回成功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3810000" y="4276725"/>
            <a:ext cx="7772400" cy="552450"/>
          </a:xfrm>
          <a:prstGeom prst="roundRect">
            <a:avLst>
              <a:gd name="adj" fmla="val 1724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4000500" y="4448175"/>
            <a:ext cx="3619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解释很完整，但安排仍然冲突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7753350" y="4457700"/>
            <a:ext cx="3638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数字、引用与业务约束是否通过独立校验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26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85" name="" descr="&lt;Slide notes={`我们回到开头那件事。助手写出了一份方案，容量和时段都出了问题。现在我们知道该怎么做了。&#10;&#10;第一步，提供容量表。把&quot;手作室容量十二人&quot;这条信息，放进这一次的请求里。注意，是放进请求，不是放在电脑里等它自己发现。&#10;&#10;第二步，查询预约。让工具真的去查一次十点这个房间的记录。查了才知道，不查就只能猜。&#10;&#10;第三步，检查候选方案。拿到真实数据之后，逐条比对：人数有没有超，时段有没有撞。这一步必须独立做，不能只看它写得顺不顺。&#10;&#10;这三步补的是材料、记录和校验，不是换一种说法重新问一遍。&#10;&#10;下一节 1.2，我们继续解释这些能力在应用里是怎样配合起来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1.6　为什么回答会变化，为什么会有&quot;幻觉&quot;&lt;/Text&gt;&#10;            &lt;Text style={{ fontSize: 34, fontWeight: 'bold', color: '#20344B' }}&gt;回到青禾：下一步做什么&lt;/Text&gt;&#10;        &lt;/Box&gt;&#10;    &lt;/Box&gt;&#10;&#10;    &lt;Box style={{ height: 540, flexDirection: 'row', gap: 42 }}&gt;&#10;&#10;        &lt;Box style={{ width: 640, flexDirection: 'column', justifyContent: 'center', gap: 12 }}&gt;&#10;&#10;            &lt;Box style={{ flexDirection: 'row', gap: 16, background: '#EDF4FC', borderRadius: 10, padding: '18px 20px', border: '1px solid #B5C7D8', alignItems: 'center' }}&gt;&#10;                &lt;Box style={{ width: 40, height: 40, borderRadius: 20, background: '#276FBF', justifyContent: 'center', alignItems: 'center' }}&gt;&#10;                    &lt;Text style={{ fontSize: 19, fontWeight: 'bold', color: '#FFFFFF' }}&gt;1&lt;/Text&gt;&#10;                &lt;/Box&gt;&#10;                &lt;Box style={{ flexDirection: 'column', gap: 4 }}&gt;&#10;                    &lt;Text style={{ fontSize: 21, fontWeight: 'bold', color: '#20344B' }}&gt;提供容量表&lt;/Text&gt;&#10;                    &lt;Text style={{ fontSize: 16, color: '#546779' }}&gt;把&quot;手作室容量 12 人&quot;放进这一次的请求&lt;/Text&gt;&#10;                &lt;/Box&gt;&#10;            &lt;/Box&gt;&#10;&#10;            &lt;Text style={{ fontSize: 18, color: '#276FBF', textAlign: 'center' }}&gt;↓&lt;/Text&gt;&#10;&#10;            &lt;Box style={{ flexDirection: 'row', gap: 16, background: '#EDF4FC', borderRadius: 10, padding: '18px 20px', border: '1px solid #B5C7D8', alignItems: 'center' }}&gt;&#10;                &lt;Box style={{ width: 40, height: 40, borderRadius: 20, background: '#276FBF', justifyContent: 'center', alignItems: 'center' }}&gt;&#10;                    &lt;Text style={{ fontSize: 19, fontWeight: 'bold', color: '#FFFFFF' }}&gt;2&lt;/Text&gt;&#10;                &lt;/Box&gt;&#10;                &lt;Box style={{ flexDirection: 'column', gap: 4 }}&gt;&#10;                    &lt;Text style={{ fontSize: 21, fontWeight: 'bold', color: '#20344B' }}&gt;查询预约&lt;/Text&gt;&#10;                    &lt;Text style={{ fontSize: 16, color: '#546779' }}&gt;让工具真的查一次 10:00 的房间记录&lt;/Text&gt;&#10;                &lt;/Box&gt;&#10;            &lt;/Box&gt;&#10;&#10;            &lt;Text style={{ fontSize: 18, color: '#276FBF', textAlign: 'center' }}&gt;↓&lt;/Text&gt;&#10;&#10;            &lt;Box style={{ flexDirection: 'row', gap: 16, background: '#ECF7F2', borderRadius: 10, padding: '18px 20px', border: '1px solid #26816B', alignItems: 'center' }}&gt;&#10;                &lt;Box style={{ width: 40, height: 40, borderRadius: 20, background: '#26816B', justifyContent: 'center', alignItems: 'center' }}&gt;&#10;                    &lt;Text style={{ fontSize: 19, fontWeight: 'bold', color: '#FFFFFF' }}&gt;3&lt;/Text&gt;&#10;                &lt;/Box&gt;&#10;                &lt;Box style={{ flexDirection: 'column', gap: 4 }}&gt;&#10;                    &lt;Text style={{ fontSize: 21, fontWeight: 'bold', color: '#20344B' }}&gt;检查候选方案&lt;/Text&gt;&#10;                    &lt;Text style={{ fontSize: 16, color: '#546779' }}&gt;逐条比对人数与时段，确认两项约束都通过&lt;/Text&gt;&#10;                &lt;/Box&gt;&#10;            &lt;/Box&gt;&#10;&#10;        &lt;/Box&gt;&#10;&#10;        &lt;Box style={{ flex: 1, flexDirection: 'column', justifyContent: 'center', gap: 18 }}&gt;&#10;&#10;            &lt;Text style={{ fontSize: 26, fontWeight: 'bold', color: '#276FBF', lineHeight: 1.4 }}&gt;不是换一种说法重新问一遍&lt;/Text&gt;&#10;            &lt;Box style={{ width: 56, height: 3, background: '#26816B' }} /&gt;&#10;&#10;            &lt;Text style={{ fontSize: 17, color: '#546779', lineHeight: 1.8 }}&gt;这三步补上的是三样不同的东西：材料、记录、校验。&lt;/Text&gt;&#10;&#10;            &lt;Box style={{ flexDirection: 'column', gap: 10, background: '#F4F7FA', borderRadius: 10, padding: '18px 20px' }}&gt;&#10;                &lt;Text style={{ fontSize: 16, color: '#546779' }}&gt;材料：模型这一次能看到什么&lt;/Text&gt;&#10;                &lt;Text style={{ fontSize: 16, color: '#546779' }}&gt;记录：工具有没有真的执行&lt;/Text&gt;&#10;                &lt;Text style={{ fontSize: 16, color: '#546779' }}&gt;校验：数字与约束有没有被独立核对&lt;/Text&gt;&#10;            &lt;/Box&gt;&#10;&#10;            &lt;Text style={{ fontSize: 16, color: '#CB6B28', lineHeight: 1.7 }}&gt;下一节 1.2 继续解释：这些能力在应用里怎样配合。&lt;/Text&gt;&#10;&#10;        &lt;/Box&gt;&#10;&#10;    &lt;/Box&gt;&#10;&#10;    &lt;Box style={{ height: 40, flexDirection: 'row', justifyContent: 'space-between', alignItems: 'center' }}&gt;&#10;        &lt;Text style={{ fontSize: 14, color: '#546779' }}&gt;1.1 从一个回答出发&lt;/Text&gt;&#10;        &lt;Text style={{ fontSize: 14, color: '#546779' }}&gt;25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为什么回答会变化，为什么会有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幻觉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回到青禾：下一步做什么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09600" y="2047875"/>
            <a:ext cx="6096000" cy="819150"/>
          </a:xfrm>
          <a:prstGeom prst="roundRect">
            <a:avLst>
              <a:gd name="adj" fmla="val 11628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491" name=""/>
          <p:cNvSpPr/>
          <p:nvPr/>
        </p:nvSpPr>
        <p:spPr>
          <a:xfrm rot="0" flipH="0" flipV="0">
            <a:off x="800100" y="22669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933450" y="23526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1333500" y="2219325"/>
            <a:ext cx="2695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提供容量表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1333500" y="2505075"/>
            <a:ext cx="2695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把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手作室容量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人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放进这一次的请求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609600" y="2981325"/>
            <a:ext cx="609600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609600" y="3305175"/>
            <a:ext cx="6096000" cy="819150"/>
          </a:xfrm>
          <a:prstGeom prst="roundRect">
            <a:avLst>
              <a:gd name="adj" fmla="val 11628"/>
            </a:avLst>
          </a:prstGeom>
          <a:solidFill>
            <a:srgbClr val="EDF4FC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497" name=""/>
          <p:cNvSpPr/>
          <p:nvPr/>
        </p:nvSpPr>
        <p:spPr>
          <a:xfrm rot="0" flipH="0" flipV="0">
            <a:off x="800100" y="35242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933450" y="36099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1333500" y="3476625"/>
            <a:ext cx="2466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查询预约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1333500" y="3762375"/>
            <a:ext cx="2466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让工具真的查一次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10:00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的房间记录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609600" y="4238625"/>
            <a:ext cx="609600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609600" y="4562475"/>
            <a:ext cx="6096000" cy="819150"/>
          </a:xfrm>
          <a:prstGeom prst="roundRect">
            <a:avLst>
              <a:gd name="adj" fmla="val 11628"/>
            </a:avLst>
          </a:prstGeom>
          <a:solidFill>
            <a:srgbClr val="ECF7F2"/>
          </a:solidFill>
          <a:ln w="12700">
            <a:solidFill>
              <a:srgbClr val="26816B"/>
            </a:solidFill>
            <a:prstDash val="solid"/>
          </a:ln>
        </p:spPr>
        <p:txBody>
          <a:bodyPr/>
          <a:p/>
        </p:txBody>
      </p:sp>
      <p:sp>
        <p:nvSpPr>
          <p:cNvPr id="503" name=""/>
          <p:cNvSpPr/>
          <p:nvPr/>
        </p:nvSpPr>
        <p:spPr>
          <a:xfrm rot="0" flipH="0" flipV="0">
            <a:off x="800100" y="47815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933450" y="48672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1333500" y="4733925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检查候选方案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333500" y="501967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逐条比对人数与时段，确认两项约束都通过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7105650" y="2266950"/>
            <a:ext cx="447675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276FBF"/>
                </a:solidFill>
                <a:latin typeface="Microsoft YaHei"/>
                <a:ea typeface="Microsoft YaHei"/>
              </a:rPr>
              <a:t>不是换一种说法重新问一遍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7105650" y="2857500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7105650" y="3057525"/>
            <a:ext cx="4476750" cy="352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这三步补上的是三样不同的东西：材料、记录、校验。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7105650" y="3581400"/>
            <a:ext cx="447675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7296150" y="3752850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材料：模型这一次能看到什么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7296150" y="4038600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记录：工具有没有真的执行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7296150" y="4324350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校验：数字与约束有没有被独立核对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7105650" y="4857750"/>
            <a:ext cx="447675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下一节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1.2 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继续解释：这些能力在应用里怎样配合。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从一个回答出发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26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17" name="" descr="&lt;Slide notes={`我们把这一节收一下。五句话，请大家带走。&#10;&#10;第一句，会写不等于写得对。模型能写出通顺、完整、看起来很专业的方案，但通顺和正确是两回事。我们开头那份开放日方案就是例子。&#10;&#10;第二句，Token 是片段，不是字数。一个片段可能是字、词的一部分或者标点，没有固定换算。编号负责查位置，向量负责参与计算，它们都不等于词义。&#10;&#10;第三句，回答是一步一步接上去的。模型每生成一个片段，就把它接回已有内容，再继续。它停下来，可能是写完了，也可能是撞到了长度上限。&#10;&#10;第四句，训练改的是参数，日常提问通常只改这一次的上下文。今天交给它的材料，下一次不一定还在。&#10;&#10;第五句，出错的时候不要只说&quot;幻觉&quot;。记录具体错在哪，定位它是参数、上下文、外部资料还是持久记忆的问题，检查才有落点。&#10;&#10;这五句话，就是我们后面阅读评测指标时的底子。`} style={{ width: 1280, height: 720, background: '#F4F7FA', flexDirection: 'column', padding: '20px 64px' }}&gt;&#10;&#10;    &lt;Box style={{ height: 150, flexDirection: 'column', justifyContent: 'center', alignItems: 'center', gap: 10 }}&gt;&#10;        &lt;Text style={{ fontSize: 14, color: '#26816B' }}&gt;1.1 小结&lt;/Text&gt;&#10;        &lt;Text style={{ fontSize: 56, fontWeight: 'bold', color: '#20344B', lineHeight: 1.15 }}&gt;本节回顾&lt;/Text&gt;&#10;    &lt;/Box&gt;&#10;&#10;    &lt;Box style={{ height: 450, flexDirection: 'column', justifyContent: 'center', alignItems: 'center', gap: 14 }}&gt;&#10;&#10;        &lt;Box style={{ width: 900, flexDirection: 'row', gap: 18, alignItems: 'center', background: '#FFFFFF', borderRadius: 10, padding: '16px 22px' }}&gt;&#10;            &lt;Text style={{ fontSize: 20, fontWeight: 'bold', color: '#276FBF', width: 34 }}&gt;01&lt;/Text&gt;&#10;            &lt;Text style={{ fontSize: 19, color: '#20344B' }}&gt;会写，不等于写得对&lt;/Text&gt;&#10;        &lt;/Box&gt;&#10;&#10;        &lt;Box style={{ width: 900, flexDirection: 'row', gap: 18, alignItems: 'center', background: '#FFFFFF', borderRadius: 10, padding: '16px 22px' }}&gt;&#10;            &lt;Text style={{ fontSize: 20, fontWeight: 'bold', color: '#276FBF', width: 34 }}&gt;02&lt;/Text&gt;&#10;            &lt;Text style={{ fontSize: 19, color: '#20344B' }}&gt;Token 是片段，不是字数；编号查位置，向量做计算&lt;/Text&gt;&#10;        &lt;/Box&gt;&#10;&#10;        &lt;Box style={{ width: 900, flexDirection: 'row', gap: 18, alignItems: 'center', background: '#FFFFFF', borderRadius: 10, padding: '16px 22px' }}&gt;&#10;            &lt;Text style={{ fontSize: 20, fontWeight: 'bold', color: '#276FBF', width: 34 }}&gt;03&lt;/Text&gt;&#10;            &lt;Text style={{ fontSize: 19, color: '#20344B' }}&gt;回答是一步一步接上去的，停下来可能是写完了，也可能是到了上限&lt;/Text&gt;&#10;        &lt;/Box&gt;&#10;&#10;        &lt;Box style={{ width: 900, flexDirection: 'row', gap: 18, alignItems: 'center', background: '#FFFFFF', borderRadius: 10, padding: '16px 22px' }}&gt;&#10;            &lt;Text style={{ fontSize: 20, fontWeight: 'bold', color: '#276FBF', width: 34 }}&gt;04&lt;/Text&gt;&#10;            &lt;Text style={{ fontSize: 19, color: '#20344B' }}&gt;训练改参数，提问通常只改这一次的上下文&lt;/Text&gt;&#10;        &lt;/Box&gt;&#10;&#10;        &lt;Box style={{ width: 900, flexDirection: 'row', gap: 18, alignItems: 'center', background: '#FFF4E6', borderRadius: 10, padding: '16px 22px', border: '1px solid #E5C9A8' }}&gt;&#10;            &lt;Text style={{ fontSize: 20, fontWeight: 'bold', color: '#CB6B28', width: 34 }}&gt;05&lt;/Text&gt;&#10;            &lt;Text style={{ fontSize: 19, color: '#CB6B28' }}&gt;出错时落到具体环节去查，不要只说&quot;幻觉&quot;&lt;/Text&gt;&#10;        &lt;/Box&gt;&#10;&#10;    &lt;/Box&gt;&#10;&#10;    &lt;Box style={{ height: 40, flexDirection: 'row', justifyContent: 'space-between', alignItems: 'center' }}&gt;&#10;        &lt;Text style={{ fontSize: 14, color: '#546779' }}&gt;下一节：1.2 从模型到应用&lt;/Text&gt;&#10;        &lt;Text style={{ fontSize: 14, color: '#546779' }}&gt;26 / 2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848350" y="409575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1.1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5029200" y="666750"/>
            <a:ext cx="21336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本节回顾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1809750" y="2162175"/>
            <a:ext cx="85725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2019300" y="2314575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2514600" y="2324100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20344B"/>
                </a:solidFill>
                <a:latin typeface="Microsoft YaHei"/>
                <a:ea typeface="Microsoft YaHei"/>
              </a:rPr>
              <a:t>会写，不等于写得对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1809750" y="2828925"/>
            <a:ext cx="85725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2019300" y="2981325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2514600" y="2990850"/>
            <a:ext cx="4181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20344B"/>
                </a:solidFill>
                <a:latin typeface="Microsoft YaHei"/>
                <a:ea typeface="Microsoft YaHei"/>
              </a:rPr>
              <a:t xml:space="preserve">Token </a:t>
            </a:r>
            <a:r>
              <a:rPr lang="zh-CN" sz="1425">
                <a:solidFill>
                  <a:srgbClr val="20344B"/>
                </a:solidFill>
                <a:latin typeface="Microsoft YaHei"/>
                <a:ea typeface="Microsoft YaHei"/>
              </a:rPr>
              <a:t>是片段，不是字数；编号查位置，向量做计算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1809750" y="3495675"/>
            <a:ext cx="85725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2019300" y="3648075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2514600" y="3657600"/>
            <a:ext cx="5429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20344B"/>
                </a:solidFill>
                <a:latin typeface="Microsoft YaHei"/>
                <a:ea typeface="Microsoft YaHei"/>
              </a:rPr>
              <a:t>回答是一步一步接上去的，停下来可能是写完了，也可能是到了上限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1809750" y="4162425"/>
            <a:ext cx="85725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2019300" y="4314825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2514600" y="4324350"/>
            <a:ext cx="3438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20344B"/>
                </a:solidFill>
                <a:latin typeface="Microsoft YaHei"/>
                <a:ea typeface="Microsoft YaHei"/>
              </a:rPr>
              <a:t>训练改参数，提问通常只改这一次的上下文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1809750" y="4829175"/>
            <a:ext cx="8572500" cy="533400"/>
          </a:xfrm>
          <a:prstGeom prst="roundRect">
            <a:avLst>
              <a:gd name="adj" fmla="val 17857"/>
            </a:avLst>
          </a:prstGeom>
          <a:solidFill>
            <a:srgbClr val="FFF4E6"/>
          </a:solidFill>
          <a:ln w="12700">
            <a:solidFill>
              <a:srgbClr val="E5C9A8"/>
            </a:solidFill>
            <a:prstDash val="solid"/>
          </a:ln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2019300" y="4981575"/>
            <a:ext cx="32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2514600" y="4991100"/>
            <a:ext cx="3419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CB6B28"/>
                </a:solidFill>
                <a:latin typeface="Microsoft YaHei"/>
                <a:ea typeface="Microsoft YaHei"/>
              </a:rPr>
              <a:t>出错时落到具体环节去查，不要只说</a:t>
            </a:r>
            <a:r>
              <a:rPr lang="en-US" sz="1425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CB6B28"/>
                </a:solidFill>
                <a:latin typeface="Microsoft YaHei"/>
                <a:ea typeface="Microsoft YaHei"/>
              </a:rPr>
              <a:t>幻觉</a:t>
            </a:r>
            <a:r>
              <a:rPr lang="en-US" sz="1425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609600" y="601980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下一节：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从模型到应用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11125200" y="6019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26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2026-09-29T02:01:01Z</dcterms:created>
  <dcterms:modified xsi:type="dcterms:W3CDTF">2026-09-29T02:01:01Z</dcterms:modified>
</cp:coreProperties>
</file>