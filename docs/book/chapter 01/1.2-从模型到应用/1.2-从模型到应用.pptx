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4" Type="http://schemas.openxmlformats.org/officeDocument/2006/relationships/slide" Target="slides/slide14.xml" /><Relationship Id="rId11" Type="http://schemas.openxmlformats.org/officeDocument/2006/relationships/slide" Target="slides/slide11.xml" /><Relationship Id="rId6" Type="http://schemas.openxmlformats.org/officeDocument/2006/relationships/slide" Target="slides/slide6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4" Type="http://schemas.openxmlformats.org/officeDocument/2006/relationships/slide" Target="slides/slide4.xml" /><Relationship Id="rId17" Type="http://schemas.openxmlformats.org/officeDocument/2006/relationships/slide" Target="slides/slide17.xml" /><Relationship Id="rId3" Type="http://schemas.openxmlformats.org/officeDocument/2006/relationships/slide" Target="slides/slide3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6" Type="http://schemas.openxmlformats.org/officeDocument/2006/relationships/viewProps" Target="viewProps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8" Type="http://schemas.openxmlformats.org/officeDocument/2006/relationships/slide" Target="slides/slide8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notesMaster" Target="notesMasters/notesMaster1.xml" 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9" Type="http://schemas.openxmlformats.org/officeDocument/2006/relationships/slide" Target="slides/slide9.xml" /><Relationship Id="rId5" Type="http://schemas.openxmlformats.org/officeDocument/2006/relationships/slide" Target="slides/slide5.xml" /><Relationship Id="rId7" Type="http://schemas.openxmlformats.org/officeDocument/2006/relationships/slide" Target="slides/slide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先把上一节留下的问题接上。上一节讲的是模型本身：它怎么切分文字、怎么占上下文、怎么一步步生成。但真正交到我们手里的，往往不是一个模型，而是一个能干活的东西——它读过资料，能查记录，也有人检查结果。</a:t>
            </a:r>
          </a:p>
          <a:p>
            <a:r>
              <a:rPr lang="zh-CN" dirty="0"/>
              <a:t>所以这一节要换个角度看同一件事：为什么同一个模型，放进不同的应用里，表现会差很多。</a:t>
            </a:r>
          </a:p>
          <a:p>
            <a:r>
              <a:rPr lang="zh-CN" dirty="0"/>
              <a:t>我用青禾开放日这件事继续往下走。要求是安排一场手作活动，10 个人，连续 30 分钟，房间容量 12 人，09:00 到 12:00 开放，10:00 到 10:30 已经有人预约了。</a:t>
            </a:r>
          </a:p>
          <a:p>
            <a:r>
              <a:rPr lang="zh-CN" dirty="0"/>
              <a:t>现在把两条候选时段摆出来。10:00 开始的那条，正好落进已有预约里，冲突。10:30 开始的那条，紧接在预约后面，可用。</a:t>
            </a:r>
          </a:p>
          <a:p>
            <a:r>
              <a:rPr lang="zh-CN" dirty="0"/>
              <a:t>这两条候选可能出自同一个模型。差别不在模型，在它周围那一层。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这一节有六个知识块。它们回答的是同一个问题的不同侧面：我看到的这个结果，到底是谁做出来的。</a:t>
            </a:r>
          </a:p>
          <a:p>
            <a:r>
              <a:rPr lang="zh-CN" dirty="0"/>
              <a:t>第一个知识块先把"不同完成方式"这件事摆出来。同一个任务，可以按时间轴逐条核对条件，也可以凭一句感觉给出结论。这两者的差别，就是后面所有讨论的起点。</a:t>
            </a:r>
          </a:p>
          <a:p>
            <a:r>
              <a:rPr lang="zh-CN" dirty="0"/>
              <a:t>第二个知识块拆结构。从用户目标、组织输入、模型处理、实际执行到核验交付，把它拆成五个环节，看每一步由谁承接，以及模型提出请求和工具真的执行之间隔着什么。</a:t>
            </a:r>
          </a:p>
          <a:p>
            <a:r>
              <a:rPr lang="zh-CN" dirty="0"/>
              <a:t>第三个知识块讲换条件。模型不动，只换它拿到的资料和可用的工具，结果会怎么变。这一步会带来一个重要的结论：评价对象变了，测的就不再是同一个东西。</a:t>
            </a:r>
          </a:p>
          <a:p>
            <a:r>
              <a:rPr lang="zh-CN" dirty="0"/>
              <a:t>第四和第五个知识块处理名字和位置。模型、模型服务、产品、模型快照是四个不同的东西；开放权重、本地部署、云 API 也是不同的选择。名字混了，结论就会错。</a:t>
            </a:r>
          </a:p>
          <a:p>
            <a:r>
              <a:rPr lang="zh-CN" dirty="0"/>
              <a:t>最后一个知识块给一个反问的方法：出了问题，先想换掉哪一层，结果会改变。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先说第一个知识块，也是后面所有讨论的起点。</a:t>
            </a:r>
          </a:p>
          <a:p>
            <a:r>
              <a:rPr lang="zh-CN" dirty="0"/>
              <a:t>同样一句"上午中段适合手作"，它可以是一个直觉判断，也可以是一条核对过的结论。这两种说法的差别，不在于措辞，而在于它背后有没有逐条对过条件。</a:t>
            </a:r>
          </a:p>
          <a:p>
            <a:r>
              <a:rPr lang="zh-CN" dirty="0"/>
              <a:t>这段内容要建立的意识是：当我们安排一件事的时候，条件是可以被列出来的。人数、时长、开放时间、有没有别的预约、跟前后活动挨不挨着，这些都能写下来，也都能一条一条地核对。</a:t>
            </a:r>
          </a:p>
          <a:p>
            <a:r>
              <a:rPr lang="zh-CN" dirty="0"/>
              <a:t>接下来我带大家做一遍逐条核对。做的时候请注意一件事：核对不是"看标题觉得合适"，而是把数字和时刻真的对上去。这两者经常给出不同的答案。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现在把两条候选时段放到时间轴上真的比一比。</a:t>
            </a:r>
          </a:p>
          <a:p>
            <a:r>
              <a:rPr lang="zh-CN" dirty="0"/>
              <a:t>房间从 09:00 到 12:00 开放，这是一整段可用时间。10:00 到 10:30 已经有一条预约被占住了。</a:t>
            </a:r>
          </a:p>
          <a:p>
            <a:r>
              <a:rPr lang="zh-CN" dirty="0"/>
              <a:t>先看第一条候选：10:00 开始，30 分钟。它从 10:00 走到 10:30，这一整段正好落在已有预约里面，重叠了，不能用。</a:t>
            </a:r>
          </a:p>
          <a:p>
            <a:r>
              <a:rPr lang="zh-CN" dirty="0"/>
              <a:t>再看第二条候选：10:30 开始，30 分钟。它的起点正好是上一条预约的终点。首尾相接算不算重叠？不算。上一场 10:30 结束，这一场 10:30 开始，两场活动没有同时占用房间。所以这条可用。</a:t>
            </a:r>
          </a:p>
          <a:p>
            <a:r>
              <a:rPr lang="zh-CN" dirty="0"/>
              <a:t>这里有一个容易被漏掉的点：一次核对只解决这一次的冲突。如果候选方案里同时安排了多场活动，还要检查这些活动彼此之间有没有撞上。时间轴上没冲突，不等于整个方案都成立。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把条件列出来以后，我们逐条看。</a:t>
            </a:r>
          </a:p>
          <a:p>
            <a:r>
              <a:rPr lang="zh-CN" dirty="0"/>
              <a:t>第一是人数。这场活动安排 10 个人，房间容量是 12 人，10 不超过 12，这一条过。</a:t>
            </a:r>
          </a:p>
          <a:p>
            <a:r>
              <a:rPr lang="zh-CN" dirty="0"/>
              <a:t>第二是时长。要求连续 30 分钟。判断的方法是拿结束时间减开始时间，看够不够 30 分钟。注意"连续"这个词，中间被切断就不算。</a:t>
            </a:r>
          </a:p>
          <a:p>
            <a:r>
              <a:rPr lang="zh-CN" dirty="0"/>
              <a:t>第三是开放时间。房间 09:00 到 12:00 开放，那么整段活动必须都落在这个区间里，不能有一头伸到外面去。</a:t>
            </a:r>
          </a:p>
          <a:p>
            <a:r>
              <a:rPr lang="zh-CN" dirty="0"/>
              <a:t>第四是已有预约。10:00 到 10:30 这个时段属于别人了，新的活动不能占用同一时段。这一条是刚才那条候选被否掉的原因。</a:t>
            </a:r>
          </a:p>
          <a:p>
            <a:r>
              <a:rPr lang="zh-CN" dirty="0"/>
              <a:t>第五是相邻活动。如果新活动紧挨着上一场，比如上一场 10:30 结束，这一场 10:30 开始，这样是可以的。首尾相接不等于重叠。</a:t>
            </a:r>
          </a:p>
          <a:p>
            <a:r>
              <a:rPr lang="zh-CN" dirty="0"/>
              <a:t>这五条都过，候选才成立，两处结论：10:00 到 10:30 冲突，10:30 到 11:00 满足这些条件。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这五条条件都核对完了，我们回头问一个问题：这件事只有模型在做吗？</a:t>
            </a:r>
          </a:p>
          <a:p>
            <a:r>
              <a:rPr lang="zh-CN" dirty="0"/>
              <a:t>不是。至少四层在参与。</a:t>
            </a:r>
          </a:p>
          <a:p>
            <a:r>
              <a:rPr lang="zh-CN" dirty="0"/>
              <a:t>第一层是模型。它做的事是理解含糊的要求，生成候选和解释。它留下什么证据？就是候选内容以及它给出的依据。</a:t>
            </a:r>
          </a:p>
          <a:p>
            <a:r>
              <a:rPr lang="zh-CN" dirty="0"/>
              <a:t>第二层是资料与检索。房间容量、使用规则、已有的预约记录，这些不是模型天生知道的，要有地方提供给这次请求。它留下的证据是来源、有效时间和命中的内容。</a:t>
            </a:r>
          </a:p>
          <a:p>
            <a:r>
              <a:rPr lang="zh-CN" dirty="0"/>
              <a:t>第三层是工具执行。真正去查询记录、执行被批准的操作。它留下的是请求参数、返回结果和外部系统里的真实状态。</a:t>
            </a:r>
          </a:p>
          <a:p>
            <a:r>
              <a:rPr lang="zh-CN" dirty="0"/>
              <a:t>第四层是校验与控制。它检查约束有没有被满足，安排修正、停止，或者交给人来处理。它留下的证据是一份校验报告，以及失败的时候具体失败在哪。</a:t>
            </a:r>
          </a:p>
          <a:p>
            <a:r>
              <a:rPr lang="zh-CN" dirty="0"/>
              <a:t>一层一层看下来，你会发现一件事：出了问题，不一定是模型不会。可能是资料没进来，可能是工具没执行，也可能是没人校验。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上一段我们把条件核对了一遍。核对完发现一件事：这件事不是一个人做完的。</a:t>
            </a:r>
          </a:p>
          <a:p>
            <a:r>
              <a:rPr lang="zh-CN" dirty="0"/>
              <a:t>所以接下来要拆结构。一个任务从提出到交付，中间经过好几个环节。我们要看清楚的是：每个环节由谁承接，以及相邻两个环节之间到底发生了什么样的交接。</a:t>
            </a:r>
          </a:p>
          <a:p>
            <a:r>
              <a:rPr lang="zh-CN" dirty="0"/>
              <a:t>为什么这件事重要？因为一旦出了问题，你只有知道环节在哪，才可能定位到是哪一步没做到。如果只把它当成"AI 一次问答"，出了问题就只能笼统地说"它答错了"，没法修。</a:t>
            </a:r>
          </a:p>
          <a:p>
            <a:r>
              <a:rPr lang="zh-CN" dirty="0"/>
              <a:t>这段会走完一整条链路，从用户目标一直到核验交付。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看这条链路的五个环节。</a:t>
            </a:r>
          </a:p>
          <a:p>
            <a:r>
              <a:rPr lang="zh-CN" dirty="0"/>
              <a:t>最左边是用户目标。这里面装着要求、约束，以及最后要交付什么。很多问题其实在这一步就埋下了：要求没说清，后面每一步都会偏。</a:t>
            </a:r>
          </a:p>
          <a:p>
            <a:r>
              <a:rPr lang="zh-CN" dirty="0"/>
              <a:t>第二个环节是组织输入。要做什么、相关的资料、历史消息，在这一步被整理成这一次请求的内容。注意上面还有一路：资料与持久状态，是按需读取进来的，读取的时候要标明来源。</a:t>
            </a:r>
          </a:p>
          <a:p>
            <a:r>
              <a:rPr lang="zh-CN" dirty="0"/>
              <a:t>第三个环节是模型处理。它生成候选内容，也可以提出工具请求。</a:t>
            </a:r>
          </a:p>
          <a:p>
            <a:r>
              <a:rPr lang="zh-CN" dirty="0"/>
              <a:t>第四个环节是宿主实际执行。真正去查记录、去做被批准的操作，是宿主在做，不是模型在做。这一点非常关键。</a:t>
            </a:r>
          </a:p>
          <a:p>
            <a:r>
              <a:rPr lang="zh-CN" dirty="0"/>
              <a:t>第五个也是最右边，核验与交付。按规则检查，看产物、看真实状态。</a:t>
            </a:r>
          </a:p>
          <a:p>
            <a:r>
              <a:rPr lang="zh-CN" dirty="0"/>
              <a:t>从核验这一端有一条线回到模型：如果需要继续，把真实结果或者校验反馈带回去，再处理一轮。什么时候停？到达完成或者停止的边界就停。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光把链路走一遍还不够，我们还要能从它身上问出问题来。五个环节，每个都有它该回答的疑问。</a:t>
            </a:r>
          </a:p>
          <a:p>
            <a:r>
              <a:rPr lang="zh-CN" dirty="0"/>
              <a:t>用户目标这一环，要问的是：哪些要求还没说清？回到青禾这件事，比如老年人是不是需要减少换房间，这种偏好如果没说出来，后面就无法被满足。</a:t>
            </a:r>
          </a:p>
          <a:p>
            <a:r>
              <a:rPr lang="zh-CN" dirty="0"/>
              <a:t>输入组织这一环，问的是：哪些材料跟这次决策有关？房间表、预约记录、旧消息的摘要，都要在这步被选进来。</a:t>
            </a:r>
          </a:p>
          <a:p>
            <a:r>
              <a:rPr lang="zh-CN" dirty="0"/>
              <a:t>生成与调用这一环，问的是：谁提出请求，谁实际执行？模型提出查询请求，真正去查的是宿主。</a:t>
            </a:r>
          </a:p>
          <a:p>
            <a:r>
              <a:rPr lang="zh-CN" dirty="0"/>
              <a:t>过程管理这一环，问的是：还差什么，什么时候结束？有没有漏检查的约束，出错怎么处理，预算还剩多少。</a:t>
            </a:r>
          </a:p>
          <a:p>
            <a:r>
              <a:rPr lang="zh-CN" dirty="0"/>
              <a:t>最后一环，核验与交付，问的是：哪条证据支持"完成"这个说法？是文件、校验报告，还是预约系统里的状态。</a:t>
            </a:r>
          </a:p>
          <a:p>
            <a:r>
              <a:rPr lang="zh-CN" dirty="0"/>
              <a:t>五个问题问下来，你就能判断这次任务到底做没做完。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这条链路里有两个词，现在先点一下名字，后面章节会展开。</a:t>
            </a:r>
          </a:p>
          <a:p>
            <a:r>
              <a:rPr lang="zh-CN" dirty="0"/>
              <a:t>第一个词叫上下文工程。选择哪些材料进来、把工具返回的结果保留下来、把旧消息整理成摘要，这些动作合起来，就是上下文工程。它决定了这一轮模型能看到什么。第二章会具体讲怎么操作。</a:t>
            </a:r>
          </a:p>
          <a:p>
            <a:r>
              <a:rPr lang="zh-CN" dirty="0"/>
              <a:t>第二个要分清的是权限。模型提出了一个查询请求，这并不等于它拿到了预约服务的访问权限。请求是一回事，能不能真的访问、访问到什么范围，是另一回事，那由应用和权限设置决定。</a:t>
            </a:r>
          </a:p>
          <a:p>
            <a:r>
              <a:rPr lang="zh-CN" dirty="0"/>
              <a:t>第三个词叫 Agent。围绕一个目标，多次选择并调用工具，这样的组织方式通常称为 Agent。这里要提醒的是：自主到什么程度，是由环境决定的，不是由名字决定的。它不要求固定采用"感知、计划、反思"这一套流程。</a:t>
            </a:r>
          </a:p>
          <a:p>
            <a:r>
              <a:rPr lang="zh-CN" dirty="0"/>
              <a:t>所以听到"这是个 Agent"，别急着想象它有多自主，先看它被允许做什么。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结构拆完了，接下来做一件更有意思的事：把条件换掉，看结果会不会变。</a:t>
            </a:r>
          </a:p>
          <a:p>
            <a:r>
              <a:rPr lang="zh-CN" dirty="0"/>
              <a:t>这是我们平时最常犯的一个错——看到一个结果，就下结论说"这个模型很行"或者"这个模型不行"。但如果我只换它周围的资料和工具，模型一点没动，结果就可能完全不同。</a:t>
            </a:r>
          </a:p>
          <a:p>
            <a:r>
              <a:rPr lang="zh-CN" dirty="0"/>
              <a:t>所以接下来这段，要做一个对照：同一个模型，一组条件只给任务，另一组条件把应用能力补齐。这两组跑出来的东西，我们不能放在一起比较，因为它们测的根本不是同一件事。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把两组条件摆在一起，逐行比。</a:t>
            </a:r>
          </a:p>
          <a:p>
            <a:r>
              <a:rPr lang="zh-CN" dirty="0"/>
              <a:t>第一行，可用材料。左边只有一句"安排开放日"；右边拿到了容量表和预约记录。模型本身没变，但它能接触到的事实不一样了。</a:t>
            </a:r>
          </a:p>
          <a:p>
            <a:r>
              <a:rPr lang="zh-CN" dirty="0"/>
              <a:t>第二行，怎么取得事实。左边只能依赖已经给它的输入，给什么用什么；右边可以通过真实的查询工具去取。</a:t>
            </a:r>
          </a:p>
          <a:p>
            <a:r>
              <a:rPr lang="zh-CN" dirty="0"/>
              <a:t>第三行，怎么发现冲突。左边靠模型自己判断；右边有独立的约束校验，是另一段程序在按规则检查。</a:t>
            </a:r>
          </a:p>
          <a:p>
            <a:r>
              <a:rPr lang="zh-CN" dirty="0"/>
              <a:t>第四行，交付的依据。左边交出一份候选文本；右边交出来的是文本，加上执行记录和校验记录。</a:t>
            </a:r>
          </a:p>
          <a:p>
            <a:r>
              <a:rPr lang="zh-CN" dirty="0"/>
              <a:t>四行比下来，结论很清楚：右边这一列，测量对象已经不是一个裸模型了，它包含资料、工具和控制逻辑。</a:t>
            </a:r>
          </a:p>
          <a:p>
            <a:r>
              <a:rPr lang="zh-CN" dirty="0"/>
              <a:t>所以在写评价结论的时候，第一句话就必须交代清楚：我测的是裸模型，还是带资料、带工具、带控制的完整应用。这两者的分数不能互换。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再往下看一个更细的层次：同样是"有工具"，工具换来换去，测到的东西也在变。</a:t>
            </a:r>
          </a:p>
          <a:p>
            <a:r>
              <a:rPr lang="zh-CN" dirty="0"/>
              <a:t>第一种条件，只让模型自己算。这时候测到的是它在当前输入和生成条件下的计算表现，还可能会算错，也可能漏掉条件。</a:t>
            </a:r>
          </a:p>
          <a:p>
            <a:r>
              <a:rPr lang="zh-CN" dirty="0"/>
              <a:t>第二种条件，允许它用计算器。表面上只是多了一个工具，其实测的东西变成了四件事：它能不能识别出这里需要计算、能不能把参数正确地传进去、能不能理解返回的结果、最后能不能把结果组织成答案。失败的方式也变了——表达式传错了，或者结果算对了但用错了。</a:t>
            </a:r>
          </a:p>
          <a:p>
            <a:r>
              <a:rPr lang="zh-CN" dirty="0"/>
              <a:t>第三种条件，允许它查预约。这时候测的是选日期、选房间、读记录、把事情做完这一整套。失败可能是查错了日期，可能是漏读了记录，也可能是查询失败之后直接编了一个。</a:t>
            </a:r>
          </a:p>
          <a:p>
            <a:r>
              <a:rPr lang="zh-CN" dirty="0"/>
              <a:t>所以有两条纪律：工具成功和任务成功要分开记录；评测要写清可用工具、数据、调用预算和最终判据。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下一件事，是把名字理清楚。</a:t>
            </a:r>
          </a:p>
          <a:p>
            <a:r>
              <a:rPr lang="zh-CN" dirty="0"/>
              <a:t>我们平时会说"我用的那个模型"，但这句话其实混了好几层东西。同一款模型，可以被包在好几个产品里；同一个产品，也可能在不同时间换用不同的模型。所以当我们记录一次测试的结果时，必须说清楚测的是哪一层。</a:t>
            </a:r>
          </a:p>
          <a:p>
            <a:r>
              <a:rPr lang="zh-CN" dirty="0"/>
              <a:t>在这段里，我们要分清四个名字：模型本身、模型服务、产品，还有模型快照。分清以后你会发现，很多"同一个模型怎么表现不一样"的争论，其实是名字没对齐造成的。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先看前两个名字。模型，指的是执行推理的那个核心组件——它本身没有界面，也不负责保存文件。</a:t>
            </a:r>
          </a:p>
          <a:p>
            <a:r>
              <a:rPr lang="zh-CN" dirty="0"/>
              <a:t>模型服务，指的是提供调用模型的接口。你发一个请求过去，它把结果返回给你。这里要记录的是请求日期、接口和配置，因为同一个模型在不同接口配置下，返回可能不一样。</a:t>
            </a:r>
          </a:p>
          <a:p>
            <a:r>
              <a:rPr lang="zh-CN" dirty="0"/>
              <a:t>再看后两个。产品，是我们真正打开来用的那个东西，它组织了界面、文件、工具和任务体验。产品版本、有哪些工具、有什么权限，这些都要记下来。</a:t>
            </a:r>
          </a:p>
          <a:p>
            <a:r>
              <a:rPr lang="zh-CN" dirty="0"/>
              <a:t>最后一个名字容易被忽略，叫模型快照。它是用来标识某个具体的模型状态的。这里要特别核对一件事：提供方有没有承诺把这个快照固定住，还是说它只是一个会随时更新的别名。</a:t>
            </a:r>
          </a:p>
          <a:p>
            <a:r>
              <a:rPr lang="zh-CN" dirty="0"/>
              <a:t>四个名字分清楚了，记录才有意义。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名字分清以后，还有三条实际的提醒。</a:t>
            </a:r>
          </a:p>
          <a:p>
            <a:r>
              <a:rPr lang="zh-CN" dirty="0"/>
              <a:t>第一条，一个模型可以同时出现在多个产品里，一个产品也可能在不同时候采用不同的模型。所以"我在某某软件里用的是某某模型"这句话，只在一个具体时间点上成立。</a:t>
            </a:r>
          </a:p>
          <a:p>
            <a:r>
              <a:rPr lang="zh-CN" dirty="0"/>
              <a:t>第二条，产品里那些看起来很像模型自带的能力，比如能访问网页、能保存文件、能记住上次聊过什么，很可能来自产品附加的功能。如果你直接去调用同名的模型接口，未必有这些能力。这一点非常容易被误会。</a:t>
            </a:r>
          </a:p>
          <a:p>
            <a:r>
              <a:rPr lang="zh-CN" dirty="0"/>
              <a:t>第三条最实用。很多情况下，你根本拿不到精确的模型版本，页面上只有一个显示名。这时候不要硬写一个看起来精确的版本号，正确的是把显示名和观察日期记下来，同时说明它不是已固定的模型快照。</a:t>
            </a:r>
          </a:p>
          <a:p>
            <a:r>
              <a:rPr lang="zh-CN" dirty="0"/>
              <a:t>记录的意义，是让别人能重复你的条件，而不是让记录看起来漂亮。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接下来处理"放在哪儿"这个问题。</a:t>
            </a:r>
          </a:p>
          <a:p>
            <a:r>
              <a:rPr lang="zh-CN" dirty="0"/>
              <a:t>同一个模型，它可以跑在你自己控制的机器上，也可以由远程服务来跑，还可以用开放权重的方式拿到参数文件，或者把不同任务分给不同的环境。这些选择带来的差别，不只是速度，还包括许可、数据流向和钱。</a:t>
            </a:r>
          </a:p>
          <a:p>
            <a:r>
              <a:rPr lang="zh-CN" dirty="0"/>
              <a:t>这一段要把四种方式分清楚，并且看清楚每一种"表面上解决了什么"之后，还留着什么问题要核对。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四种方式一个一个看。</a:t>
            </a:r>
          </a:p>
          <a:p>
            <a:r>
              <a:rPr lang="zh-CN" dirty="0"/>
              <a:t>开放权重，说的是可以按相应条件获得参数文件。但这里有一个很大的错觉要拆掉：拿到参数文件，不等于训练资料和全部权利都开放。要核对的是许可、训练资料的开放程度，以及使用权利的边界在哪里。</a:t>
            </a:r>
          </a:p>
          <a:p>
            <a:r>
              <a:rPr lang="zh-CN" dirty="0"/>
              <a:t>本地部署，把推理放在自己控制的设备或环境里。它看上去解决了数据外流的问题，但要核对的东西反而更多：硬件够不够、内存够不够、安装和维护谁来做、数据在里面怎么流动、实测性能到底怎么样。</a:t>
            </a:r>
          </a:p>
          <a:p>
            <a:r>
              <a:rPr lang="zh-CN" dirty="0"/>
              <a:t>云 API，由远程服务处理请求。要核对接口有哪些限制、数据是怎么约定的、网络条件如何、费用怎么算。</a:t>
            </a:r>
          </a:p>
          <a:p>
            <a:r>
              <a:rPr lang="zh-CN" dirty="0"/>
              <a:t>混合使用，是把不同任务分给不同环境。这时候要分别看每一类任务的质量、数据要求和总成本。</a:t>
            </a:r>
          </a:p>
          <a:p>
            <a:r>
              <a:rPr lang="zh-CN" dirty="0"/>
              <a:t>最后提醒一句：本地不天然更快、更准、更便宜。这些都要实测。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四种方式摆在一起，怎么选？有一个顺序，而且顺序不能颠倒。</a:t>
            </a:r>
          </a:p>
          <a:p>
            <a:r>
              <a:rPr lang="zh-CN" dirty="0"/>
              <a:t>第一步，先问任务到底能不能完成。这一点必须先确认。如果这件事现在根本做不到，后面比价格、比部署方式都没有意义。</a:t>
            </a:r>
          </a:p>
          <a:p>
            <a:r>
              <a:rPr lang="zh-CN" dirty="0"/>
              <a:t>第二步，看数据与部署要求。数据能不能离开本地，有没有合规上的硬约束，环境有没有部署限制。这一步经常直接淘汰掉一批选项。</a:t>
            </a:r>
          </a:p>
          <a:p>
            <a:r>
              <a:rPr lang="zh-CN" dirty="0"/>
              <a:t>第三步，才轮到时间和总成本。而且是满足前两步条件的那些选项，才拿来比。比的时候要把账算全：失败重试要花钱，检索要花钱，等工具返回的时间也是成本，长期的维护同样要算进去。</a:t>
            </a:r>
          </a:p>
          <a:p>
            <a:r>
              <a:rPr lang="zh-CN" dirty="0"/>
              <a:t>这三步的顺序为什么重要？因为一旦你从第三步开始比，很容易被一个便宜的价格吸引，最后发现它连第一步都过不了。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最后一段，给一个可以反复用的方法。</a:t>
            </a:r>
          </a:p>
          <a:p>
            <a:r>
              <a:rPr lang="zh-CN" dirty="0"/>
              <a:t>我们平时遇到问题，第一反应往往是换一个模型试试。但同一个现象，背后的原因可能出在完全不同的层。换模型可能碰巧好了，也可能什么都没解决，还白白花了时间。</a:t>
            </a:r>
          </a:p>
          <a:p>
            <a:r>
              <a:rPr lang="zh-CN" dirty="0"/>
              <a:t>所以这段要练的是另一个动作：先别急着换，先想清楚"如果我把这一层换掉，结果会不会变"。这个反问能帮你定位问题到底在哪一层。</a:t>
            </a:r>
          </a:p>
          <a:p>
            <a:r>
              <a:rPr lang="zh-CN" dirty="0"/>
              <a:t>而且做对照的时候，每次尽量只改变一个因素。同时改两个，就算结果变好了，你也说不清是哪一个起了作用。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把刚才的思路变成一个可以查的动作：从现象倒推。</a:t>
            </a:r>
          </a:p>
          <a:p>
            <a:r>
              <a:rPr lang="zh-CN" dirty="0"/>
              <a:t>第一个现象，任务从头到尾没收到房间表。这时候先查的是资料有没有进入输入，对照方法是同一个模型、一个有规则材料、一个没有，看差别在哪。</a:t>
            </a:r>
          </a:p>
          <a:p>
            <a:r>
              <a:rPr lang="zh-CN" dirty="0"/>
              <a:t>第二个现象，它查了，但查的是错误的日期。这说明资料进来了、工具也调了，问题出在参数和调用过程。对照的方法是材料不变，专门核对工具输入。</a:t>
            </a:r>
          </a:p>
          <a:p>
            <a:r>
              <a:rPr lang="zh-CN" dirty="0"/>
              <a:t>第三个现象最有意思，资料齐全，还是漏掉了容量。这时候要查的是提示怎么写、约束有没有被整理清楚，以及模型本身的表现。对照方法是工具不动，另外加一道独立的校验。</a:t>
            </a:r>
          </a:p>
          <a:p>
            <a:r>
              <a:rPr lang="zh-CN" dirty="0"/>
              <a:t>第四个现象，方案是对的，但没保存下来。那要查执行与交付这一环，去看保存结果和实际文件。</a:t>
            </a:r>
          </a:p>
          <a:p>
            <a:r>
              <a:rPr lang="zh-CN" dirty="0"/>
              <a:t>每次尽量只改变一个因素，才能说清改进是从哪里来的。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这一节讲完了，最后留下三个反问。以后你看到任何一个"AI 做得很好"或者"AI 做得很差"的结论，都可以拿这三个问题去问一遍。</a:t>
            </a:r>
          </a:p>
          <a:p>
            <a:r>
              <a:rPr lang="zh-CN" dirty="0"/>
              <a:t>第一个问题，它拿到了什么资料？资料有没有真的进入这次输入，来源清不清楚，是不是有效的。</a:t>
            </a:r>
          </a:p>
          <a:p>
            <a:r>
              <a:rPr lang="zh-CN" dirty="0"/>
              <a:t>第二个问题，它能调用什么工具？谁提出请求，谁实际执行，它被允许做什么，边界在哪里。</a:t>
            </a:r>
          </a:p>
          <a:p>
            <a:r>
              <a:rPr lang="zh-CN" dirty="0"/>
              <a:t>第三个问题，谁来检查结果？什么时候算完成，靠哪条证据支持这个"完成"，出了问题由谁处理。</a:t>
            </a:r>
          </a:p>
          <a:p>
            <a:r>
              <a:rPr lang="zh-CN" dirty="0"/>
              <a:t>这三个问题的作用，是把"这个 AI 行不行"这种笼统的判断，拆成可以逐个核对的条件。</a:t>
            </a:r>
          </a:p>
          <a:p>
            <a:r>
              <a:rPr lang="zh-CN" dirty="0"/>
              <a:t>顺便预告一下下一节：我们讲了这么多"符合约束""准确""可靠"，接下来要把这些词变成可以计算、可以比较的指标。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们先把上一节留下的问题接上。上一节讲的是模型本身：它怎么切分文字、怎么占上下文、怎么一步步生成。但真正交到我们手里的，往往不是一个模型，而是一个能干活的东西——它读过资料，能查记录，也有人检查结果。&#10;&#10;所以这一节要换个角度看同一件事：为什么同一个模型，放进不同的应用里，表现会差很多。&#10;&#10;我用青禾开放日这件事继续往下走。要求是安排一场手作活动，10 个人，连续 30 分钟，房间容量 12 人，09:00 到 12:00 开放，10:00 到 10:30 已经有人预约了。&#10;&#10;现在把两条候选时段摆出来。10:00 开始的那条，正好落进已有预约里，冲突。10:30 开始的那条，紧接在预约后面，可用。&#10;&#10;这两条候选可能出自同一个模型。差别不在模型，在它周围那一层。`} style={{ width: 1280, height: 720, background: '#FFFFFF', flexDirection: 'column', padding: '20px 64px' }}&gt;&#10;&#10;    &lt;Box style={{ height: 320, flexDirection: 'column', justifyContent: 'center', gap: 16 }}&gt;&#10;        &lt;Box style={{ flexDirection: 'row', alignItems: 'center', gap: 12 }}&gt;&#10;            &lt;Box style={{ width: 4, height: 20, background: '#276FBF' }} /&gt;&#10;            &lt;Text style={{ fontSize: 15, color: '#546779' }}&gt;第一章　认识大模型，读懂能力与评价　·　1.2&lt;/Text&gt;&#10;        &lt;/Box&gt;&#10;        &lt;Text style={{ fontSize: 52, fontWeight: 'bold', color: '#20344B', lineHeight: 1.2 }}&gt;从模型到应用：能力来自哪些层&lt;/Text&gt;&#10;        &lt;Text style={{ fontSize: 18, color: '#546779', lineHeight: 1.65, width: 940 }}&gt;同一个模型，放进不同应用，表现可能不同。判断&quot;这个 AI 很强&quot;之前，先看它拿到了什么资料、能调用什么工具，以及谁来检查结果。&lt;/Text&gt;&#10;    &lt;/Box&gt;&#10;&#10;    &lt;Box style={{ height: 360, flexDirection: 'row', alignItems: 'center', gap: 24 }}&gt;&#10;&#10;        &lt;Box style={{ width: 280, height: 250, background: '#EDF4FC', borderRadius: 12, padding: 22, flexDirection: 'column', gap: 12 }}&gt;&#10;            &lt;Text style={{ fontSize: 20, fontWeight: 'bold', color: '#276FBF' }}&gt;用户请求&lt;/Text&gt;&#10;            &lt;Text style={{ fontSize: 16, color: '#20344B', lineHeight: 1.7 }}&gt;安排一场开放日手作活动&lt;/Text&gt;&#10;            &lt;Box style={{ height: 1, background: '#B5C7D8' }} /&gt;&#10;            &lt;Text style={{ fontSize: 15, color: '#546779', lineHeight: 1.8 }}&gt;10 人　·　连续 30 分钟{'\n'}房间容量 12 人{'\n'}开放时间 09:00—12:00&lt;/Text&gt;&#10;        &lt;/Box&gt;&#10;&#10;        &lt;Text style={{ fontSize: 30, color: '#276FBF' }}&gt;›&lt;/Text&gt;&#10;&#10;        &lt;Box style={{ width: 230, height: 250, background: '#F4F7FA', borderRadius: 12, padding: 22, flexDirection: 'column', gap: 12 }}&gt;&#10;            &lt;Text style={{ fontSize: 20, fontWeight: 'bold', color: '#20344B' }}&gt;模型&lt;/Text&gt;&#10;            &lt;Text style={{ fontSize: 16, color: '#546779', lineHeight: 1.75 }}&gt;理解要求，生成候选时段与解释&lt;/Text&gt;&#10;            &lt;Box style={{ flex: 1 }} /&gt;&#10;            &lt;Text style={{ fontSize: 14, color: '#546779' }}&gt;生成候选不等于核对事实&lt;/Text&gt;&#10;        &lt;/Box&gt;&#10;&#10;        &lt;Text style={{ fontSize: 30, color: '#276FBF' }}&gt;›&lt;/Text&gt;&#10;&#10;        &lt;Box style={{ width: 440, flexDirection: 'column', gap: 14 }}&gt;&#10;            &lt;Box style={{ height: 96, background: '#FFF4E6', borderRadius: 10, border: '2px solid #CB6B28', padding: '14px 18px', flexDirection: 'column', gap: 6 }}&gt;&#10;                &lt;Text style={{ fontSize: 19, fontWeight: 'bold', color: '#CB6B28' }}&gt;10:00—10:30　冲突&lt;/Text&gt;&#10;                &lt;Text style={{ fontSize: 15, color: '#546779' }}&gt;与已有预约落在同一时段&lt;/Text&gt;&#10;            &lt;/Box&gt;&#10;            &lt;Box style={{ height: 96, background: '#ECF7F2', borderRadius: 10, border: '2px solid #26816B', padding: '14px 18px', flexDirection: 'column', gap: 6 }}&gt;&#10;                &lt;Text style={{ fontSize: 19, fontWeight: 'bold', color: '#26816B' }}&gt;10:30—11:00　可用&lt;/Text&gt;&#10;                &lt;Text style={{ fontSize: 15, color: '#546779' }}&gt;与预约端点相接，首尾相接不算重叠&lt;/Text&gt;&#10;            &lt;/Box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771525"/>
            <a:ext cx="38100" cy="190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781050"/>
            <a:ext cx="2952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第一章　认识大模型，读懂能力与评价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1.2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1114425"/>
            <a:ext cx="109728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从模型到应用：能力来自哪些层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1981200"/>
            <a:ext cx="89535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同一个模型，放进不同应用，表现可能不同。判断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这个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很强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之前，先看它拿到了什么资料、能调用什么工具，以及谁来检查结果。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3762375"/>
            <a:ext cx="2667000" cy="2381250"/>
          </a:xfrm>
          <a:prstGeom prst="roundRect">
            <a:avLst>
              <a:gd name="adj" fmla="val 48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19150" y="3971925"/>
            <a:ext cx="2247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用户请求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19150" y="4314825"/>
            <a:ext cx="22479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安排一场开放日手作活动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819150" y="4743450"/>
            <a:ext cx="22479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19150" y="4867275"/>
            <a:ext cx="2247900" cy="9334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　·　连续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分钟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房间容量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开放时间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09:00—12:00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3505200" y="4781550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3838575" y="3762375"/>
            <a:ext cx="2190750" cy="2381250"/>
          </a:xfrm>
          <a:prstGeom prst="roundRect">
            <a:avLst>
              <a:gd name="adj" fmla="val 52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048125" y="3971925"/>
            <a:ext cx="1771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048125" y="4314825"/>
            <a:ext cx="17716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理解要求，生成候选时段与解释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048125" y="577215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生成候选不等于核对事实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257925" y="4781550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591300" y="3971925"/>
            <a:ext cx="41910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 w="25400">
            <a:solidFill>
              <a:srgbClr val="CB6B28"/>
            </a:solidFill>
            <a:prstDash val="solid"/>
          </a:ln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762750" y="4105275"/>
            <a:ext cx="3848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CB6B28"/>
                </a:solidFill>
                <a:latin typeface="Microsoft YaHei"/>
                <a:ea typeface="Microsoft YaHei"/>
              </a:rPr>
              <a:t>10:00—10:30</a:t>
            </a: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　冲突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762750" y="4381500"/>
            <a:ext cx="3848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与已有预约落在同一时段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6591300" y="5019675"/>
            <a:ext cx="41910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 w="25400">
            <a:solidFill>
              <a:srgbClr val="26816B"/>
            </a:solidFill>
            <a:prstDash val="solid"/>
          </a:ln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762750" y="5153025"/>
            <a:ext cx="3848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6816B"/>
                </a:solidFill>
                <a:latin typeface="Microsoft YaHei"/>
                <a:ea typeface="Microsoft YaHei"/>
              </a:rPr>
              <a:t>10:30—11:00</a:t>
            </a: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　可用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762750" y="5429250"/>
            <a:ext cx="3848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与预约端点相接，首尾相接不算重叠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76" name="" descr="&lt;Slide notes={`这一节有六个知识块。它们回答的是同一个问题的不同侧面：我看到的这个结果，到底是谁做出来的。&#10;&#10;第一个知识块先把&quot;不同完成方式&quot;这件事摆出来。同一个任务，可以按时间轴逐条核对条件，也可以凭一句感觉给出结论。这两者的差别，就是后面所有讨论的起点。&#10;&#10;第二个知识块拆结构。从用户目标、组织输入、模型处理、实际执行到核验交付，把它拆成五个环节，看每一步由谁承接，以及模型提出请求和工具真的执行之间隔着什么。&#10;&#10;第三个知识块讲换条件。模型不动，只换它拿到的资料和可用的工具，结果会怎么变。这一步会带来一个重要的结论：评价对象变了，测的就不再是同一个东西。&#10;&#10;第四和第五个知识块处理名字和位置。模型、模型服务、产品、模型快照是四个不同的东西；开放权重、本地部署、云 API 也是不同的选择。名字混了，结论就会错。&#10;&#10;最后一个知识块给一个反问的方法：出了问题，先想换掉哪一层，结果会改变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本节导读&lt;/Text&gt;&#10;            &lt;Text style={{ fontSize: 34, fontWeight: 'bold', color: '#20344B' }}&gt;能力不只来自模型，还来自它周围&lt;/Text&gt;&#10;        &lt;/Box&gt;&#10;    &lt;/Box&gt;&#10;&#10;    &lt;Box style={{ height: 540, flexDirection: 'row', gap: 40 }}&gt;&#10;&#10;        &lt;Box style={{ width: 340, flexDirection: 'column', justifyContent: 'center', gap: 16 }}&gt;&#10;            &lt;Text style={{ fontSize: 25, fontWeight: 'bold', color: '#276FBF', lineHeight: 1.45 }}&gt;这个结果，到底是谁做出来的？&lt;/Text&gt;&#10;            &lt;Box style={{ width: 56, height: 3, background: '#26816B' }} /&gt;&#10;            &lt;Text style={{ fontSize: 17, color: '#546779', lineHeight: 1.75 }}&gt;六个知识块从&quot;怎么看&quot;走到&quot;怎么查&quot;：先看清同任务的多种完成方式，再拆开参与的角色，然后换条件、理名字、认位置，最后落到一个可以反复用的反问。&lt;/Text&gt;&#10;        &lt;/Box&gt;&#10;&#10;        &lt;Box style={{ flex: 1, flexDirection: 'column', justifyContent: 'center', gap: 11 }}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1&lt;/Text&gt;&#10;                &lt;/Box&gt;&#10;                &lt;Box style={{ flexDirection: 'column', gap: 2 }}&gt;&#10;                    &lt;Text style={{ fontSize: 20, fontWeight: 'bold', color: '#20344B' }}&gt;同一个任务，可以有不同的完成方式&lt;/Text&gt;&#10;                    &lt;Text style={{ fontSize: 16, color: '#546779' }}&gt;沿时间轴逐条核对条件，而不是凭感觉说&quot;合适&quot;&lt;/Text&gt;&#10;                &lt;/Box&gt;&#10;            &lt;/Box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2&lt;/Text&gt;&#10;                &lt;/Box&gt;&#10;                &lt;Box style={{ flexDirection: 'column', gap: 2 }}&gt;&#10;                    &lt;Text style={{ fontSize: 20, fontWeight: 'bold', color: '#20344B' }}&gt;一次任务背后的结构&lt;/Text&gt;&#10;                    &lt;Text style={{ fontSize: 16, color: '#546779' }}&gt;目标、输入、模型、执行、核验，各由谁承接&lt;/Text&gt;&#10;                &lt;/Box&gt;&#10;            &lt;/Box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3&lt;/Text&gt;&#10;                &lt;/Box&gt;&#10;                &lt;Box style={{ flexDirection: 'column', gap: 2 }}&gt;&#10;                    &lt;Text style={{ fontSize: 20, fontWeight: 'bold', color: '#20344B' }}&gt;工具会扩展能力，也会改变评价对象&lt;/Text&gt;&#10;                    &lt;Text style={{ fontSize: 16, color: '#546779' }}&gt;模型不变，只换资料与工具，测到的东西就变了&lt;/Text&gt;&#10;                &lt;/Box&gt;&#10;            &lt;/Box&gt;&#10;&#10;            &lt;Box style={{ flexDirection: 'row', gap: 16, alignItems: 'center' }}&gt;&#10;                &lt;Box style={{ width: 44, height: 44, borderRadius: 8, background: '#26816B', justifyContent: 'center', alignItems: 'center' }}&gt;&#10;                    &lt;Text style={{ fontSize: 18, fontWeight: 'bold', color: '#FFFFFF' }}&gt;04&lt;/Text&gt;&#10;                &lt;/Box&gt;&#10;                &lt;Box style={{ flexDirection: 'column', gap: 2 }}&gt;&#10;                    &lt;Text style={{ fontSize: 20, fontWeight: 'bold', color: '#20344B' }}&gt;模型名称、服务与产品不是同一个东西&lt;/Text&gt;&#10;                    &lt;Text style={{ fontSize: 16, color: '#546779' }}&gt;四层名称各自记什么，混用会让结论失真&lt;/Text&gt;&#10;                &lt;/Box&gt;&#10;            &lt;/Box&gt;&#10;&#10;            &lt;Box style={{ flexDirection: 'row', gap: 16, alignItems: 'center' }}&gt;&#10;                &lt;Box style={{ width: 44, height: 44, borderRadius: 8, background: '#26816B', justifyContent: 'center', alignItems: 'center' }}&gt;&#10;                    &lt;Text style={{ fontSize: 18, fontWeight: 'bold', color: '#FFFFFF' }}&gt;05&lt;/Text&gt;&#10;                &lt;/Box&gt;&#10;                &lt;Box style={{ flexDirection: 'column', gap: 2 }}&gt;&#10;                    &lt;Text style={{ fontSize: 20, fontWeight: 'bold', color: '#20344B' }}&gt;开放权重、本地部署与云服务&lt;/Text&gt;&#10;                    &lt;Text style={{ fontSize: 16, color: '#546779' }}&gt;东西放在哪里，改变许可、性能与总成本&lt;/Text&gt;&#10;                &lt;/Box&gt;&#10;            &lt;/Box&gt;&#10;&#10;            &lt;Box style={{ flexDirection: 'row', gap: 16, alignItems: 'center' }}&gt;&#10;                &lt;Box style={{ width: 44, height: 44, borderRadius: 8, background: '#CB6B28', justifyContent: 'center', alignItems: 'center' }}&gt;&#10;                    &lt;Text style={{ fontSize: 18, fontWeight: 'bold', color: '#FFFFFF' }}&gt;06&lt;/Text&gt;&#10;                &lt;/Box&gt;&#10;                &lt;Box style={{ flexDirection: 'column', gap: 2 }}&gt;&#10;                    &lt;Text style={{ fontSize: 20, fontWeight: 'bold', color: '#20344B' }}&gt;换掉哪一层，结果会改变&lt;/Text&gt;&#10;                    &lt;Text style={{ fontSize: 16, color: '#546779' }}&gt;从错误现象倒推该查哪一层，每次只改一个因素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2 从模型到应用&lt;/Text&gt;&#10;        &lt;Text style={{ fontSize: 14, color: '#546779' }}&gt;02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本节导读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能力不只来自模型，还来自它周围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09600" y="2457450"/>
            <a:ext cx="32385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这个结果，到底是谁做出来的？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09600" y="343852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09600" y="3619500"/>
            <a:ext cx="3238500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六个知识块从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怎么看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走到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怎么查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：先看清同任务的多种完成方式，再拆开参与的角色，然后换条件、理名字、认位置，最后落到一个可以反复用的反问。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4229100" y="21526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4333875" y="225742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4800600" y="2143125"/>
            <a:ext cx="3181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同一个任务，可以有不同的完成方式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4800600" y="2390775"/>
            <a:ext cx="3181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沿时间轴逐条核对条件，而不是凭感觉说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合适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4229100" y="26955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4333875" y="28003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4800600" y="2686050"/>
            <a:ext cx="304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一次任务背后的结构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4800600" y="2933700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目标、输入、模型、执行、核验，各由谁承接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4229100" y="32385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4333875" y="334327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4800600" y="3228975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工具会扩展能力，也会改变评价对象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4800600" y="3476625"/>
            <a:ext cx="320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模型不变，只换资料与工具，测到的东西就变了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4229100" y="37814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333875" y="38862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4800600" y="3771900"/>
            <a:ext cx="3238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模型名称、服务与产品不是同一个东西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4800600" y="4019550"/>
            <a:ext cx="3238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四层名称各自记什么，混用会让结论失真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4229100" y="43243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333875" y="442912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800600" y="4314825"/>
            <a:ext cx="2743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开放权重、本地部署与云服务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800600" y="4562475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东西放在哪里，改变许可、性能与总成本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4229100" y="48672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4333875" y="49720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4800600" y="4857750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换掉哪一层，结果会改变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4800600" y="5105400"/>
            <a:ext cx="320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从错误现象倒推该查哪一层，每次只改一个因素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从模型到应用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380" name="" descr="&lt;Slide notes={`先说第一个知识块，也是后面所有讨论的起点。&#10;&#10;同样一句&quot;上午中段适合手作&quot;，它可以是一个直觉判断，也可以是一条核对过的结论。这两种说法的差别，不在于措辞，而在于它背后有没有逐条对过条件。&#10;&#10;这段内容要建立的意识是：当我们安排一件事的时候，条件是可以被列出来的。人数、时长、开放时间、有没有别的预约、跟前后活动挨不挨着，这些都能写下来，也都能一条一条地核对。&#10;&#10;接下来我带大家做一遍逐条核对。做的时候请注意一件事：核对不是&quot;看标题觉得合适&quot;，而是把数字和时刻真的对上去。这两者经常给出不同的答案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1&lt;/Text&gt;&#10;            &lt;/Box&gt;&#10;            &lt;Text style={{ fontSize: 16, color: '#546779' }}&gt;1.2.1&lt;/Text&gt;&#10;        &lt;/Box&gt;&#10;&#10;        &lt;Text style={{ fontSize: 56, fontWeight: 'bold', color: '#20344B', lineHeight: 1.15 }}&gt;同一个任务，可以有不同的完成方式&lt;/Text&gt;&#10;&#10;        &lt;Box style={{ width: 640, height: 4, background: '#276FBF' }} /&gt;&#10;&#10;        &lt;Text style={{ fontSize: 19, color: '#546779', lineHeight: 1.7 }}&gt;五项条件要沿时间轴逐条核对，不是感觉合适就行。&lt;/Text&gt;&#10;&#10;        &lt;Box style={{ marginTop: 8, flexDirection: 'row', alignItems: 'center', gap: 0 }}&gt;&#10;            &lt;Box style={{ width: 660, height: 46, background: '#EDF4FC', borderRadius: 6, border: '1px solid #B5C7D8', justifyContent: 'center', alignItems: 'center' }}&gt;&#10;                &lt;Text style={{ fontSize: 15, color: '#546779' }}&gt;09:00 — 12:00　开放时间&lt;/Text&gt;&#10;            &lt;/Box&gt;&#10;            &lt;Box style={{ width: 110, height: 46, background: '#CB6B28', borderRadius: 6, justifyContent: 'center', alignItems: 'center' }}&gt;&#10;                &lt;Text style={{ fontSize: 14, color: '#FFFFFF' }}&gt;已有预约&lt;/Text&gt;&#10;            &lt;/Box&gt;&#10;            &lt;Box style={{ width: 200, height: 46, background: '#FFFFFF', border: '1px dashed #B5C7D8', borderRadius: 6, justifyContent: 'center', alignItems: 'center' }}&gt;&#10;                &lt;Text style={{ fontSize: 15, color: '#B5C7D8' }}&gt;？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2 从模型到应用&lt;/Text&gt;&#10;        &lt;Text style={{ fontSize: 14, color: '#546779' }}&gt;03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2" name=""/>
          <p:cNvSpPr/>
          <p:nvPr/>
        </p:nvSpPr>
        <p:spPr>
          <a:xfrm rot="0" flipH="0" flipV="0">
            <a:off x="609600" y="12858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714375" y="139065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1295400" y="145732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1.2.1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609600" y="20097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同一个任务，可以有不同的完成方式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609600" y="294322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609600" y="317182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五项条件要沿时间轴逐条核对，不是感觉合适就行。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609600" y="3810000"/>
            <a:ext cx="6286500" cy="438150"/>
          </a:xfrm>
          <a:prstGeom prst="roundRect">
            <a:avLst>
              <a:gd name="adj" fmla="val 13043"/>
            </a:avLst>
          </a:prstGeom>
          <a:solidFill>
            <a:srgbClr val="EDF4FC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2905125" y="3943350"/>
            <a:ext cx="1695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09:00 — 12:00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开放时间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6896100" y="3810000"/>
            <a:ext cx="1047750" cy="438150"/>
          </a:xfrm>
          <a:prstGeom prst="roundRect">
            <a:avLst>
              <a:gd name="adj" fmla="val 13043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7153275" y="39528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已有预约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7943850" y="3810000"/>
            <a:ext cx="190500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B5C7D8"/>
            </a:solidFill>
            <a:prstDash val="dash"/>
          </a:ln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8829675" y="394335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5C7D8"/>
                </a:solidFill>
                <a:latin typeface="Microsoft YaHei"/>
                <a:ea typeface="Microsoft YaHei"/>
              </a:rPr>
              <a:t>？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从模型到应用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22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396" name="" descr="&lt;Slide notes={`现在把两条候选时段放到时间轴上真的比一比。&#10;&#10;房间从 09:00 到 12:00 开放，这是一整段可用时间。10:00 到 10:30 已经有一条预约被占住了。&#10;&#10;先看第一条候选：10:00 开始，30 分钟。它从 10:00 走到 10:30，这一整段正好落在已有预约里面，重叠了，不能用。&#10;&#10;再看第二条候选：10:30 开始，30 分钟。它的起点正好是上一条预约的终点。首尾相接算不算重叠？不算。上一场 10:30 结束，这一场 10:30 开始，两场活动没有同时占用房间。所以这条可用。&#10;&#10;这里有一个容易被漏掉的点：一次核对只解决这一次的冲突。如果候选方案里同时安排了多场活动，还要检查这些活动彼此之间有没有撞上。时间轴上没冲突，不等于整个方案都成立。`} style={{ width: 1280, height: 720, background: '#FFFFFF', flexDirection: 'column', padding: '20px 64px' }}&gt;&#10;&#10;    &lt;Box style={{ height: 540, flexDirection: 'column', justifyContent: 'center', gap: 22 }}&gt;&#10;&#10;        &lt;Box style={{ flexDirection: 'column', gap: 6 }}&gt;&#10;            &lt;Text style={{ fontSize: 20, fontWeight: 'bold', color: '#20344B' }}&gt;候选时段要落到具体时刻上核对&lt;/Text&gt;&#10;            &lt;Text style={{ fontSize: 15, color: '#546779' }}&gt;首尾相接不算重叠；一次核对只解决一次冲突&lt;/Text&gt;&#10;        &lt;/Box&gt;&#10;&#10;        &lt;Box style={{ flexDirection: 'column', gap: 10 }}&gt;&#10;&#10;            &lt;Box style={{ flexDirection: 'row', height: 22, alignItems: 'center' }}&gt;&#10;                &lt;Box style={{ width: 92 }} /&gt;&#10;                &lt;Box style={{ width: 354 }}&gt;&lt;Text style={{ fontSize: 14, color: '#546779' }}&gt;09:00&lt;/Text&gt;&lt;/Box&gt;&#10;                &lt;Box style={{ width: 177 }}&gt;&lt;Text style={{ fontSize: 14, color: '#546779' }}&gt;10:00&lt;/Text&gt;&lt;/Box&gt;&#10;                &lt;Box style={{ width: 176 }}&gt;&lt;Text style={{ fontSize: 14, color: '#546779' }}&gt;10:30&lt;/Text&gt;&lt;/Box&gt;&#10;                &lt;Box style={{ width: 177 }}&gt;&lt;Text style={{ fontSize: 14, color: '#546779' }}&gt;11:00&lt;/Text&gt;&lt;/Box&gt;&#10;                &lt;Box style={{ width: 176, justifyContent: 'center', alignItems: 'flex-end' }}&gt;&lt;Text style={{ fontSize: 14, color: '#546779' }}&gt;12:00&lt;/Text&gt;&lt;/Box&gt;&#10;            &lt;/Box&gt;&#10;&#10;            &lt;Box style={{ flexDirection: 'row', height: 58, alignItems: 'center' }}&gt;&#10;                &lt;Box style={{ width: 92 }}&gt;&lt;Text style={{ fontSize: 14, color: '#546779' }}&gt;开放时间&lt;/Text&gt;&lt;/Box&gt;&#10;                &lt;Box style={{ width: 1060, height: 58, background: '#EDF4FC', borderRadius: 6, justifyContent: 'center', alignItems: 'center' }}&gt;&#10;                    &lt;Text style={{ fontSize: 16, color: '#276FBF' }}&gt;09:00 — 12:00　整段开放&lt;/Text&gt;&#10;                &lt;/Box&gt;&#10;            &lt;/Box&gt;&#10;&#10;            &lt;Box style={{ flexDirection: 'row', height: 58, alignItems: 'center' }}&gt;&#10;                &lt;Box style={{ width: 92 }}&gt;&lt;Text style={{ fontSize: 14, color: '#546779' }}&gt;已有预约&lt;/Text&gt;&lt;/Box&gt;&#10;                &lt;Box style={{ width: 354 }} /&gt;&#10;                &lt;Box style={{ width: 177, height: 58, background: '#CB6B28', borderRadius: 6, justifyContent: 'center', alignItems: 'center' }}&gt;&#10;                    &lt;Text style={{ fontSize: 15, fontWeight: 'bold', color: '#FFFFFF' }}&gt;已占用&lt;/Text&gt;&#10;                &lt;/Box&gt;&#10;                &lt;Box style={{ width: 529 }} /&gt;&#10;            &lt;/Box&gt;&#10;&#10;            &lt;Box style={{ flexDirection: 'row', height: 58, alignItems: 'center' }}&gt;&#10;                &lt;Box style={{ width: 92 }}&gt;&lt;Text style={{ fontSize: 14, color: '#CB6B28' }}&gt;候选一&lt;/Text&gt;&lt;/Box&gt;&#10;                &lt;Box style={{ width: 354 }} /&gt;&#10;                &lt;Box style={{ width: 177, height: 58, background: '#FFF4E6', borderRadius: 6, justifyContent: 'center', alignItems: 'center' }}&gt;&#10;                    &lt;Text style={{ fontSize: 15, fontWeight: 'bold', color: '#CB6B28' }}&gt;10:00 冲突&lt;/Text&gt;&#10;                &lt;/Box&gt;&#10;                &lt;Box style={{ width: 529, paddingLeft: 16, justifyContent: 'center' }}&gt;&#10;                    &lt;Text style={{ fontSize: 15, color: '#CB6B28' }}&gt;整段落进已有预约，重叠&lt;/Text&gt;&#10;                &lt;/Box&gt;&#10;            &lt;/Box&gt;&#10;&#10;            &lt;Box style={{ flexDirection: 'row', height: 58, alignItems: 'center' }}&gt;&#10;                &lt;Box style={{ width: 92 }}&gt;&lt;Text style={{ fontSize: 14, color: '#26816B' }}&gt;候选二&lt;/Text&gt;&lt;/Box&gt;&#10;                &lt;Box style={{ width: 531 }} /&gt;&#10;                &lt;Box style={{ width: 176, height: 58, background: '#ECF7F2', borderRadius: 6, justifyContent: 'center', alignItems: 'center' }}&gt;&#10;                    &lt;Text style={{ fontSize: 15, fontWeight: 'bold', color: '#26816B' }}&gt;10:30 可行&lt;/Text&gt;&#10;                &lt;/Box&gt;&#10;                &lt;Box style={{ width: 353, paddingLeft: 16, justifyContent: 'center' }}&gt;&#10;                    &lt;Text style={{ fontSize: 15, color: '#26816B' }}&gt;起点与预约终点相接，不重叠&lt;/Text&gt;&#10;                &lt;/Box&gt;&#10;            &lt;/Box&gt;&#10;&#10;        &lt;/Box&gt;&#10;&#10;        &lt;Box style={{ flexDirection: 'row', alignItems: 'center', gap: 12, paddingTop: 4 }}&gt;&#10;            &lt;Box style={{ width: 3, height: 24, background: '#CB6B28' }} /&gt;&#10;            &lt;Text style={{ fontSize: 16, color: '#20344B' }}&gt;沿图检查：10:00—10:30 冲突；10:30—11:00 满足这些条件。应用还须检查候选方案内各活动之间是否冲突。&lt;/Text&gt;&#10;        &lt;/Box&gt;&#10;&#10;    &lt;/Box&gt;&#10;&#10;    &lt;Box style={{ height: 40, flexDirection: 'row', justifyContent: 'space-between', alignItems: 'center' }}&gt;&#10;        &lt;Text style={{ fontSize: 14, color: '#546779' }}&gt;1.2 从模型到应用&lt;/Text&gt;&#10;        &lt;Text style={{ fontSize: 14, color: '#546779' }}&gt;04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609600" y="7905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候选时段要落到具体时刻上核对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609600" y="10763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首尾相接不算重叠；一次核对只解决一次冲突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1485900" y="148590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09:00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4857750" y="1485900"/>
            <a:ext cx="1685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10:00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6543675" y="1485900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10:30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8220075" y="1485900"/>
            <a:ext cx="1685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11:00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11229975" y="1485900"/>
            <a:ext cx="352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12:00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609600" y="1962150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开放时间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1485900" y="1762125"/>
            <a:ext cx="10096500" cy="552450"/>
          </a:xfrm>
          <a:prstGeom prst="roundRect">
            <a:avLst>
              <a:gd name="adj" fmla="val 1034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5629275" y="19431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>09:00 — 12:00</a:t>
            </a: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　整段开放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609600" y="2609850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已有预约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4857750" y="2409825"/>
            <a:ext cx="1685925" cy="552450"/>
          </a:xfrm>
          <a:prstGeom prst="roundRect">
            <a:avLst>
              <a:gd name="adj" fmla="val 10345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5486400" y="260032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已占用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609600" y="3257550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候选一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4857750" y="3057525"/>
            <a:ext cx="1685925" cy="552450"/>
          </a:xfrm>
          <a:prstGeom prst="roundRect">
            <a:avLst>
              <a:gd name="adj" fmla="val 1034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5343525" y="3248025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10:00 </a:t>
            </a: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冲突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6696075" y="3248025"/>
            <a:ext cx="4886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整段落进已有预约，重叠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609600" y="3905250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候选二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6543675" y="3705225"/>
            <a:ext cx="1676400" cy="552450"/>
          </a:xfrm>
          <a:prstGeom prst="roundRect">
            <a:avLst>
              <a:gd name="adj" fmla="val 1034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7019925" y="3895725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10:30 </a:t>
            </a: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可行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8372475" y="3895725"/>
            <a:ext cx="3209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起点与预约终点相接，不重叠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609600" y="4505325"/>
            <a:ext cx="28575" cy="2286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752475" y="4524375"/>
            <a:ext cx="7486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沿图检查：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10:00—10:30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冲突；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10:30—11:00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满足这些条件。应用还须检查候选方案内各活动之间是否冲突。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从模型到应用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423" name="" descr="&lt;Slide notes={`把条件列出来以后，我们逐条看。&#10;&#10;第一是人数。这场活动安排 10 个人，房间容量是 12 人，10 不超过 12，这一条过。&#10;&#10;第二是时长。要求连续 30 分钟。判断的方法是拿结束时间减开始时间，看够不够 30 分钟。注意&quot;连续&quot;这个词，中间被切断就不算。&#10;&#10;第三是开放时间。房间 09:00 到 12:00 开放，那么整段活动必须都落在这个区间里，不能有一头伸到外面去。&#10;&#10;第四是已有预约。10:00 到 10:30 这个时段属于别人了，新的活动不能占用同一时段。这一条是刚才那条候选被否掉的原因。&#10;&#10;第五是相邻活动。如果新活动紧挨着上一场，比如上一场 10:30 结束，这一场 10:30 开始，这样是可以的。首尾相接不等于重叠。&#10;&#10;这五条都过，候选才成立，两处结论：10:00 到 10:30 冲突，10:30 到 11:00 满足这些条件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2.1　同一个任务，可以有不同的完成方式&lt;/Text&gt;&#10;            &lt;Text style={{ fontSize: 34, fontWeight: 'bold', color: '#20344B' }}&gt;五项条件，逐条对照&lt;/Text&gt;&#10;        &lt;/Box&gt;&#10;    &lt;/Box&gt;&#10;&#10;    &lt;Box style={{ height: 540, flexDirection: 'row', gap: 32 }}&gt;&#10;&#10;        &lt;Box style={{ width: 700, flexDirection: 'column', justifyContent: 'center', gap: 10 }}&gt;&#10;&#10;            &lt;Box style={{ flexDirection: 'row', height: 84, background: '#F4F7FA', borderRadius: 10, padding: '0 18px', alignItems: 'center', gap: 16 }}&gt;&#10;                &lt;Box style={{ width: 4, height: 50, background: '#276FBF' }} /&gt;&#10;                &lt;Box style={{ width: 118, flexDirection: 'column', gap: 2 }}&gt;&#10;                    &lt;Text style={{ fontSize: 20, fontWeight: 'bold', color: '#20344B' }}&gt;人数&lt;/Text&gt;&#10;                &lt;/Box&gt;&#10;                &lt;Box style={{ width: 210, flexDirection: 'column', gap: 2 }}&gt;&#10;                    &lt;Text style={{ fontSize: 14, color: '#546779' }}&gt;教学设定&lt;/Text&gt;&#10;                    &lt;Text style={{ fontSize: 16, color: '#20344B' }}&gt;10 人，房间容量 12 人&lt;/Text&gt;&#10;                &lt;/Box&gt;&#10;                &lt;Box style={{ flex: 1, flexDirection: 'column', gap: 2 }}&gt;&#10;                    &lt;Text style={{ fontSize: 14, color: '#546779' }}&gt;怎样判断&lt;/Text&gt;&#10;                    &lt;Text style={{ fontSize: 16, color: '#276FBF' }}&gt;10 ≤ 12&lt;/Text&gt;&#10;                &lt;/Box&gt;&#10;            &lt;/Box&gt;&#10;&#10;            &lt;Box style={{ flexDirection: 'row', height: 84, background: '#F4F7FA', borderRadius: 10, padding: '0 18px', alignItems: 'center', gap: 16 }}&gt;&#10;                &lt;Box style={{ width: 4, height: 50, background: '#276FBF' }} /&gt;&#10;                &lt;Box style={{ width: 118, flexDirection: 'column', gap: 2 }}&gt;&#10;                    &lt;Text style={{ fontSize: 20, fontWeight: 'bold', color: '#20344B' }}&gt;时长&lt;/Text&gt;&#10;                &lt;/Box&gt;&#10;                &lt;Box style={{ width: 210, flexDirection: 'column', gap: 2 }}&gt;&#10;                    &lt;Text style={{ fontSize: 14, color: '#546779' }}&gt;教学设定&lt;/Text&gt;&#10;                    &lt;Text style={{ fontSize: 16, color: '#20344B' }}&gt;连续 30 分钟&lt;/Text&gt;&#10;                &lt;/Box&gt;&#10;                &lt;Box style={{ flex: 1, flexDirection: 'column', gap: 2 }}&gt;&#10;                    &lt;Text style={{ fontSize: 14, color: '#546779' }}&gt;怎样判断&lt;/Text&gt;&#10;                    &lt;Text style={{ fontSize: 16, color: '#276FBF' }}&gt;结束时间减开始时间 ≥ 30 分钟&lt;/Text&gt;&#10;                &lt;/Box&gt;&#10;            &lt;/Box&gt;&#10;&#10;            &lt;Box style={{ flexDirection: 'row', height: 84, background: '#F4F7FA', borderRadius: 10, padding: '0 18px', alignItems: 'center', gap: 16 }}&gt;&#10;                &lt;Box style={{ width: 4, height: 50, background: '#276FBF' }} /&gt;&#10;                &lt;Box style={{ width: 118, flexDirection: 'column', gap: 2 }}&gt;&#10;                    &lt;Text style={{ fontSize: 20, fontWeight: 'bold', color: '#20344B' }}&gt;开放时间&lt;/Text&gt;&#10;                &lt;/Box&gt;&#10;                &lt;Box style={{ width: 210, flexDirection: 'column', gap: 2 }}&gt;&#10;                    &lt;Text style={{ fontSize: 14, color: '#546779' }}&gt;教学设定&lt;/Text&gt;&#10;                    &lt;Text style={{ fontSize: 16, color: '#20344B' }}&gt;09:00—12:00&lt;/Text&gt;&#10;                &lt;/Box&gt;&#10;                &lt;Box style={{ flex: 1, flexDirection: 'column', gap: 2 }}&gt;&#10;                    &lt;Text style={{ fontSize: 14, color: '#546779' }}&gt;怎样判断&lt;/Text&gt;&#10;                    &lt;Text style={{ fontSize: 16, color: '#276FBF' }}&gt;整段活动都在开放时间内&lt;/Text&gt;&#10;                &lt;/Box&gt;&#10;            &lt;/Box&gt;&#10;&#10;            &lt;Box style={{ flexDirection: 'row', height: 84, background: '#FFF4E6', borderRadius: 10, padding: '0 18px', alignItems: 'center', gap: 16 }}&gt;&#10;                &lt;Box style={{ width: 4, height: 50, background: '#CB6B28' }} /&gt;&#10;                &lt;Box style={{ width: 118, flexDirection: 'column', gap: 2 }}&gt;&#10;                    &lt;Text style={{ fontSize: 20, fontWeight: 'bold', color: '#CB6B28' }}&gt;已有预约&lt;/Text&gt;&#10;                &lt;/Box&gt;&#10;                &lt;Box style={{ width: 210, flexDirection: 'column', gap: 2 }}&gt;&#10;                    &lt;Text style={{ fontSize: 14, color: '#546779' }}&gt;教学设定&lt;/Text&gt;&#10;                    &lt;Text style={{ fontSize: 16, color: '#20344B' }}&gt;10:00—10:30&lt;/Text&gt;&#10;                &lt;/Box&gt;&#10;                &lt;Box style={{ flex: 1, flexDirection: 'column', gap: 2 }}&gt;&#10;                    &lt;Text style={{ fontSize: 14, color: '#546779' }}&gt;怎样判断&lt;/Text&gt;&#10;                    &lt;Text style={{ fontSize: 16, color: '#CB6B28' }}&gt;新活动不能占用同一时段&lt;/Text&gt;&#10;                &lt;/Box&gt;&#10;            &lt;/Box&gt;&#10;&#10;            &lt;Box style={{ flexDirection: 'row', height: 84, background: '#F4F7FA', borderRadius: 10, padding: '0 18px', alignItems: 'center', gap: 16 }}&gt;&#10;                &lt;Box style={{ width: 4, height: 50, background: '#276FBF' }} /&gt;&#10;                &lt;Box style={{ width: 118, flexDirection: 'column', gap: 2 }}&gt;&#10;                    &lt;Text style={{ fontSize: 20, fontWeight: 'bold', color: '#20344B' }}&gt;相邻活动&lt;/Text&gt;&#10;                &lt;/Box&gt;&#10;                &lt;Box style={{ width: 210, flexDirection: 'column', gap: 2 }}&gt;&#10;                    &lt;Text style={{ fontSize: 14, color: '#546779' }}&gt;教学设定&lt;/Text&gt;&#10;                    &lt;Text style={{ fontSize: 16, color: '#20344B' }}&gt;首尾衔接不算重叠&lt;/Text&gt;&#10;                &lt;/Box&gt;&#10;                &lt;Box style={{ flex: 1, flexDirection: 'column', gap: 2 }}&gt;&#10;                    &lt;Text style={{ fontSize: 14, color: '#546779' }}&gt;怎样判断&lt;/Text&gt;&#10;                    &lt;Text style={{ fontSize: 16, color: '#276FBF' }}&gt;10:30 开始可以紧接上一场&lt;/Text&gt;&#10;                &lt;/Box&gt;&#10;            &lt;/Box&gt;&#10;&#10;        &lt;/Box&gt;&#10;&#10;        &lt;Box style={{ width: 420, flexDirection: 'column', justifyContent: 'center', gap: 14 }}&gt;&#10;&#10;            &lt;Text style={{ fontSize: 20, fontWeight: 'bold', color: '#20344B' }}&gt;核对结果&lt;/Text&gt;&#10;&#10;            &lt;Box style={{ height: 132, background: '#FFF4E6', border: '2px solid #CB6B28', borderRadius: 10, padding: '18px 20px', flexDirection: 'column', gap: 8 }}&gt;&#10;                &lt;Text style={{ fontSize: 22, fontWeight: 'bold', color: '#CB6B28' }}&gt;10:00—10:30　冲突&lt;/Text&gt;&#10;                &lt;Text style={{ fontSize: 16, color: '#546779', lineHeight: 1.6 }}&gt;整段落在已有预约内，不能使用&lt;/Text&gt;&#10;            &lt;/Box&gt;&#10;&#10;            &lt;Box style={{ height: 132, background: '#ECF7F2', border: '2px solid #26816B', borderRadius: 10, padding: '18px 20px', flexDirection: 'column', gap: 8 }}&gt;&#10;                &lt;Text style={{ fontSize: 22, fontWeight: 'bold', color: '#26816B' }}&gt;10:30—11:00　满足&lt;/Text&gt;&#10;                &lt;Text style={{ fontSize: 16, color: '#546779', lineHeight: 1.6 }}&gt;五项条件全部通过，可以使用&lt;/Text&gt;&#10;            &lt;/Box&gt;&#10;&#10;            &lt;Box style={{ background: '#F4F7FA', borderRadius: 10, padding: '16px 20px', flexDirection: 'column', gap: 8 }}&gt;&#10;                &lt;Text style={{ fontSize: 16, fontWeight: 'bold', color: '#20344B' }}&gt;还要再看一层&lt;/Text&gt;&#10;                &lt;Text style={{ fontSize: 15, color: '#546779', lineHeight: 1.6 }}&gt;应用还须检查候选方案内各活动之间是否冲突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2 从模型到应用&lt;/Text&gt;&#10;        &lt;Text style={{ fontSize: 14, color: '#546779' }}&gt;05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1.2.1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同一个任务，可以有不同的完成方式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五项条件，逐条对照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609600" y="1524000"/>
            <a:ext cx="66675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29" name=""/>
          <p:cNvSpPr/>
          <p:nvPr/>
        </p:nvSpPr>
        <p:spPr>
          <a:xfrm rot="0" flipH="0" flipV="0">
            <a:off x="781050" y="1685925"/>
            <a:ext cx="38100" cy="4762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971550" y="1809750"/>
            <a:ext cx="1123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人数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2247900" y="174307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教学设定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2247900" y="1924050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人，房间容量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4400550" y="1743075"/>
            <a:ext cx="2705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怎样判断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4400550" y="1924050"/>
            <a:ext cx="2705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>10 ≤ 12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609600" y="2419350"/>
            <a:ext cx="66675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6" name=""/>
          <p:cNvSpPr/>
          <p:nvPr/>
        </p:nvSpPr>
        <p:spPr>
          <a:xfrm rot="0" flipH="0" flipV="0">
            <a:off x="781050" y="2581275"/>
            <a:ext cx="38100" cy="4762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971550" y="2705100"/>
            <a:ext cx="1123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时长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2247900" y="263842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教学设定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2247900" y="2819400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连续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4400550" y="2638425"/>
            <a:ext cx="2705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怎样判断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4400550" y="2819400"/>
            <a:ext cx="2705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结束时间减开始时间</a:t>
            </a: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 xml:space="preserve"> ≥ 30 </a:t>
            </a: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609600" y="3314700"/>
            <a:ext cx="66675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3" name=""/>
          <p:cNvSpPr/>
          <p:nvPr/>
        </p:nvSpPr>
        <p:spPr>
          <a:xfrm rot="0" flipH="0" flipV="0">
            <a:off x="781050" y="3476625"/>
            <a:ext cx="38100" cy="4762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971550" y="3600450"/>
            <a:ext cx="1123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开放时间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2247900" y="353377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教学设定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2247900" y="3714750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09:00—12:00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4400550" y="3533775"/>
            <a:ext cx="2705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怎样判断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4400550" y="3714750"/>
            <a:ext cx="2705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整段活动都在开放时间内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609600" y="4210050"/>
            <a:ext cx="66675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0" name=""/>
          <p:cNvSpPr/>
          <p:nvPr/>
        </p:nvSpPr>
        <p:spPr>
          <a:xfrm rot="0" flipH="0" flipV="0">
            <a:off x="781050" y="4371975"/>
            <a:ext cx="38100" cy="4762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971550" y="4495800"/>
            <a:ext cx="1123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已有预约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2247900" y="442912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教学设定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2247900" y="4610100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10:00—10:30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4400550" y="4429125"/>
            <a:ext cx="2705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怎样判断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4400550" y="4610100"/>
            <a:ext cx="2705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新活动不能占用同一时段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609600" y="5105400"/>
            <a:ext cx="66675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57" name=""/>
          <p:cNvSpPr/>
          <p:nvPr/>
        </p:nvSpPr>
        <p:spPr>
          <a:xfrm rot="0" flipH="0" flipV="0">
            <a:off x="781050" y="5267325"/>
            <a:ext cx="38100" cy="4762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971550" y="5391150"/>
            <a:ext cx="1123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相邻活动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2247900" y="532447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教学设定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2247900" y="5505450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首尾衔接不算重叠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4400550" y="5324475"/>
            <a:ext cx="2705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怎样判断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4400550" y="5505450"/>
            <a:ext cx="2705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 xml:space="preserve">10:30 </a:t>
            </a: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开始可以紧接上一场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7581900" y="1724025"/>
            <a:ext cx="400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核对结果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7581900" y="2085975"/>
            <a:ext cx="4000500" cy="1257300"/>
          </a:xfrm>
          <a:prstGeom prst="roundRect">
            <a:avLst>
              <a:gd name="adj" fmla="val 7576"/>
            </a:avLst>
          </a:prstGeom>
          <a:solidFill>
            <a:srgbClr val="FFF4E6"/>
          </a:solidFill>
          <a:ln w="25400">
            <a:solidFill>
              <a:srgbClr val="CB6B28"/>
            </a:solidFill>
            <a:prstDash val="solid"/>
          </a:ln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7772400" y="2257425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B6B28"/>
                </a:solidFill>
                <a:latin typeface="Microsoft YaHei"/>
                <a:ea typeface="Microsoft YaHei"/>
              </a:rPr>
              <a:t>10:00—10:30</a:t>
            </a: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　冲突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7772400" y="2590800"/>
            <a:ext cx="3619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整段落在已有预约内，不能使用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7581900" y="3476625"/>
            <a:ext cx="4000500" cy="1257300"/>
          </a:xfrm>
          <a:prstGeom prst="roundRect">
            <a:avLst>
              <a:gd name="adj" fmla="val 7576"/>
            </a:avLst>
          </a:prstGeom>
          <a:solidFill>
            <a:srgbClr val="ECF7F2"/>
          </a:solidFill>
          <a:ln w="25400">
            <a:solidFill>
              <a:srgbClr val="26816B"/>
            </a:solidFill>
            <a:prstDash val="solid"/>
          </a:ln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7772400" y="3648075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>10:30—11:00</a:t>
            </a: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　满足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7772400" y="3981450"/>
            <a:ext cx="3619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五项条件全部通过，可以使用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7581900" y="4867275"/>
            <a:ext cx="4000500" cy="847725"/>
          </a:xfrm>
          <a:prstGeom prst="roundRect">
            <a:avLst>
              <a:gd name="adj" fmla="val 1123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7772400" y="5019675"/>
            <a:ext cx="3619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还要再看一层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7772400" y="5286375"/>
            <a:ext cx="3619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应用还须检查候选方案内各活动之间是否冲突。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从模型到应用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475" name="" descr="&lt;Slide notes={`这五条条件都核对完了，我们回头问一个问题：这件事只有模型在做吗？&#10;&#10;不是。至少四层在参与。&#10;&#10;第一层是模型。它做的事是理解含糊的要求，生成候选和解释。它留下什么证据？就是候选内容以及它给出的依据。&#10;&#10;第二层是资料与检索。房间容量、使用规则、已有的预约记录，这些不是模型天生知道的，要有地方提供给这次请求。它留下的证据是来源、有效时间和命中的内容。&#10;&#10;第三层是工具执行。真正去查询记录、执行被批准的操作。它留下的是请求参数、返回结果和外部系统里的真实状态。&#10;&#10;第四层是校验与控制。它检查约束有没有被满足，安排修正、停止，或者交给人来处理。它留下的证据是一份校验报告，以及失败的时候具体失败在哪。&#10;&#10;一层一层看下来，你会发现一件事：出了问题，不一定是模型不会。可能是资料没进来，可能是工具没执行，也可能是没人校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2.1　同一个任务，可以有不同的完成方式&lt;/Text&gt;&#10;            &lt;Text style={{ fontSize: 34, fontWeight: 'bold', color: '#20344B' }}&gt;谁参与了，谁留下证据&lt;/Text&gt;&#10;        &lt;/Box&gt;&#10;    &lt;/Box&gt;&#10;&#10;    &lt;Box style={{ height: 540, flexDirection: 'row', gap: 32 }}&gt;&#10;&#10;        &lt;Box style={{ width: 420, flexDirection: 'column', justifyContent: 'center', gap: 18 }}&gt;&#10;            &lt;Text style={{ fontSize: 25, fontWeight: 'bold', color: '#276FBF', lineHeight: 1.45 }}&gt;出问题，先问哪一层没做到&lt;/Text&gt;&#10;            &lt;Box style={{ width: 56, height: 3, background: '#26816B' }} /&gt;&#10;            &lt;Text style={{ fontSize: 17, color: '#546779', lineHeight: 1.8 }}&gt;同一个任务，四层各有分工，也各自留下可以核对的痕迹。有了这份分工，讨论&quot;AI 行不行&quot;才有可能落到具体位置。&lt;/Text&gt;&#10;            &lt;Box style={{ background: '#FFF4E6', borderRadius: 10, padding: '16px 20px' }}&gt;&#10;                &lt;Text style={{ fontSize: 16, color: '#CB6B28', lineHeight: 1.7 }}&gt;&quot;上午中段适合手作&quot;可以解释偏好，却不能证明时段没有冲突。&lt;/Text&gt;&#10;            &lt;/Box&gt;&#10;        &lt;/Box&gt;&#10;&#10;        &lt;Box style={{ width: 700, flexDirection: 'column', justifyContent: 'center', gap: 10 }}&gt;&#10;&#10;            &lt;Box style={{ flexDirection: 'row', padding: '0 20px', gap: 16 }}&gt;&#10;                &lt;Box style={{ width: 122 }}&gt;&lt;Text style={{ fontSize: 14, color: '#546779' }}&gt;参与层&lt;/Text&gt;&lt;/Box&gt;&#10;                &lt;Box style={{ flex: 1 }}&gt;&lt;Text style={{ fontSize: 14, color: '#546779' }}&gt;做什么&lt;/Text&gt;&lt;/Box&gt;&#10;                &lt;Box style={{ width: 250 }}&gt;&lt;Text style={{ fontSize: 14, color: '#546779' }}&gt;留下什么证据&lt;/Text&gt;&lt;/Box&gt;&#10;            &lt;/Box&gt;&#10;&#10;            &lt;Box style={{ flexDirection: 'row', height: 100, background: '#F4F7FA', borderRadius: 10, padding: '0 20px', alignItems: 'center', gap: 16 }}&gt;&#10;                &lt;Box style={{ width: 122, flexDirection: 'row', alignItems: 'center', gap: 10 }}&gt;&#10;                    &lt;Box style={{ width: 4, height: 44, background: '#276FBF' }} /&gt;&#10;                    &lt;Text style={{ fontSize: 20, fontWeight: 'bold', color: '#20344B' }}&gt;模型&lt;/Text&gt;&#10;                &lt;/Box&gt;&#10;                &lt;Box style={{ flex: 1 }}&gt;&lt;Text style={{ fontSize: 16, color: '#20344B', lineHeight: 1.6 }}&gt;理解含糊要求，生成候选与解释&lt;/Text&gt;&lt;/Box&gt;&#10;                &lt;Box style={{ width: 250 }}&gt;&lt;Text style={{ fontSize: 16, color: '#276FBF', lineHeight: 1.6 }}&gt;候选内容及依据&lt;/Text&gt;&lt;/Box&gt;&#10;            &lt;/Box&gt;&#10;&#10;            &lt;Box style={{ flexDirection: 'row', height: 100, background: '#F4F7FA', borderRadius: 10, padding: '0 20px', alignItems: 'center', gap: 16 }}&gt;&#10;                &lt;Box style={{ width: 122, flexDirection: 'row', alignItems: 'center', gap: 10 }}&gt;&#10;                    &lt;Box style={{ width: 4, height: 44, background: '#546779' }} /&gt;&#10;                    &lt;Text style={{ fontSize: 20, fontWeight: 'bold', color: '#20344B' }}&gt;资料与检索&lt;/Text&gt;&#10;                &lt;/Box&gt;&#10;                &lt;Box style={{ flex: 1 }}&gt;&lt;Text style={{ fontSize: 16, color: '#20344B', lineHeight: 1.6 }}&gt;提供容量、规则、预约等材料&lt;/Text&gt;&lt;/Box&gt;&#10;                &lt;Box style={{ width: 250 }}&gt;&lt;Text style={{ fontSize: 16, color: '#276FBF', lineHeight: 1.6 }}&gt;来源、有效时间、命中内容&lt;/Text&gt;&lt;/Box&gt;&#10;            &lt;/Box&gt;&#10;&#10;            &lt;Box style={{ flexDirection: 'row', height: 100, background: '#F4F7FA', borderRadius: 10, padding: '0 20px', alignItems: 'center', gap: 16 }}&gt;&#10;                &lt;Box style={{ width: 122, flexDirection: 'row', alignItems: 'center', gap: 10 }}&gt;&#10;                    &lt;Box style={{ width: 4, height: 44, background: '#26816B' }} /&gt;&#10;                    &lt;Text style={{ fontSize: 20, fontWeight: 'bold', color: '#20344B' }}&gt;工具执行&lt;/Text&gt;&#10;                &lt;/Box&gt;&#10;                &lt;Box style={{ flex: 1 }}&gt;&lt;Text style={{ fontSize: 16, color: '#20344B', lineHeight: 1.6 }}&gt;查询记录，执行获准操作&lt;/Text&gt;&lt;/Box&gt;&#10;                &lt;Box style={{ width: 250 }}&gt;&lt;Text style={{ fontSize: 16, color: '#276FBF', lineHeight: 1.6 }}&gt;请求参数、结果、外部状态&lt;/Text&gt;&lt;/Box&gt;&#10;            &lt;/Box&gt;&#10;&#10;            &lt;Box style={{ flexDirection: 'row', height: 100, background: '#FFF4E6', borderRadius: 10, padding: '0 20px', alignItems: 'center', gap: 16 }}&gt;&#10;                &lt;Box style={{ width: 122, flexDirection: 'row', alignItems: 'center', gap: 10 }}&gt;&#10;                    &lt;Box style={{ width: 4, height: 44, background: '#CB6B28' }} /&gt;&#10;                    &lt;Text style={{ fontSize: 20, fontWeight: 'bold', color: '#CB6B28' }}&gt;校验与控制&lt;/Text&gt;&#10;                &lt;/Box&gt;&#10;                &lt;Box style={{ flex: 1 }}&gt;&lt;Text style={{ fontSize: 16, color: '#20344B', lineHeight: 1.6 }}&gt;检查约束，安排修正、停止或人工处理&lt;/Text&gt;&lt;/Box&gt;&#10;                &lt;Box style={{ width: 250 }}&gt;&lt;Text style={{ fontSize: 16, color: '#CB6B28', lineHeight: 1.6 }}&gt;校验报告与失败原因&lt;/Text&gt;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2 从模型到应用&lt;/Text&gt;&#10;        &lt;Text style={{ fontSize: 14, color: '#546779' }}&gt;06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1.2.1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同一个任务，可以有不同的完成方式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谁参与了，谁留下证据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609600" y="2238375"/>
            <a:ext cx="4000500" cy="419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出问题，先问哪一层没做到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609600" y="282892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609600" y="3028950"/>
            <a:ext cx="40005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同一个任务，四层各有分工，也各自留下可以核对的痕迹。有了这份分工，讨论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"AI 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行不行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才有可能落到具体位置。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609600" y="4257675"/>
            <a:ext cx="4000500" cy="933450"/>
          </a:xfrm>
          <a:prstGeom prst="roundRect">
            <a:avLst>
              <a:gd name="adj" fmla="val 1020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800100" y="4410075"/>
            <a:ext cx="3619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上午中段适合手作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可以解释偏好，却不能证明时段没有冲突。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5105400" y="154305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参与层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6419850" y="154305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做什么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9010650" y="1543050"/>
            <a:ext cx="238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留下什么证据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4914900" y="1800225"/>
            <a:ext cx="6667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9" name=""/>
          <p:cNvSpPr/>
          <p:nvPr/>
        </p:nvSpPr>
        <p:spPr>
          <a:xfrm rot="0" flipH="0" flipV="0">
            <a:off x="5105400" y="20669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5238750" y="216217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6419850" y="2133600"/>
            <a:ext cx="2438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理解含糊要求，生成候选与解释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9010650" y="2133600"/>
            <a:ext cx="23812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候选内容及依据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4914900" y="2847975"/>
            <a:ext cx="6667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94" name=""/>
          <p:cNvSpPr/>
          <p:nvPr/>
        </p:nvSpPr>
        <p:spPr>
          <a:xfrm rot="0" flipH="0" flipV="0">
            <a:off x="5105400" y="3114675"/>
            <a:ext cx="38100" cy="4191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5238750" y="3209925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资料与检索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6419850" y="3181350"/>
            <a:ext cx="2438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提供容量、规则、预约等材料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9010650" y="3181350"/>
            <a:ext cx="23812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来源、有效时间、命中内容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4914900" y="3895725"/>
            <a:ext cx="6667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99" name=""/>
          <p:cNvSpPr/>
          <p:nvPr/>
        </p:nvSpPr>
        <p:spPr>
          <a:xfrm rot="0" flipH="0" flipV="0">
            <a:off x="5105400" y="4162425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5238750" y="425767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工具执行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6419850" y="4229100"/>
            <a:ext cx="2438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查询记录，执行获准操作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9010650" y="4229100"/>
            <a:ext cx="23812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请求参数、结果、外部状态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4914900" y="4943475"/>
            <a:ext cx="6667500" cy="9525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04" name=""/>
          <p:cNvSpPr/>
          <p:nvPr/>
        </p:nvSpPr>
        <p:spPr>
          <a:xfrm rot="0" flipH="0" flipV="0">
            <a:off x="5105400" y="521017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5238750" y="5305425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校验与控制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6419850" y="5124450"/>
            <a:ext cx="2438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检查约束，安排修正、停止或人工处理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9010650" y="5276850"/>
            <a:ext cx="23812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校验报告与失败原因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从模型到应用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510" name="" descr="&lt;Slide notes={`上一段我们把条件核对了一遍。核对完发现一件事：这件事不是一个人做完的。&#10;&#10;所以接下来要拆结构。一个任务从提出到交付，中间经过好几个环节。我们要看清楚的是：每个环节由谁承接，以及相邻两个环节之间到底发生了什么样的交接。&#10;&#10;为什么这件事重要？因为一旦出了问题，你只有知道环节在哪，才可能定位到是哪一步没做到。如果只把它当成&quot;AI 一次问答&quot;，出了问题就只能笼统地说&quot;它答错了&quot;，没法修。&#10;&#10;这段会走完一整条链路，从用户目标一直到核验交付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2&lt;/Text&gt;&#10;            &lt;/Box&gt;&#10;            &lt;Text style={{ fontSize: 16, color: '#546779' }}&gt;1.2.2&lt;/Text&gt;&#10;        &lt;/Box&gt;&#10;&#10;        &lt;Text style={{ fontSize: 56, fontWeight: 'bold', color: '#20344B', lineHeight: 1.15 }}&gt;一次任务背后的结构&lt;/Text&gt;&#10;&#10;        &lt;Box style={{ width: 640, height: 4, background: '#276FBF' }} /&gt;&#10;&#10;        &lt;Text style={{ fontSize: 19, color: '#546779', lineHeight: 1.7 }}&gt;模型生成候选，宿主执行操作，独立核验决定能不能交付。&lt;/Text&gt;&#10;&#10;        &lt;Box style={{ marginTop: 8, flexDirection: 'row', alignItems: 'center' }}&gt;&#10;            &lt;Box style={{ width: 168, height: 46, background: '#EDF4FC', borderRadius: 6, justifyContent: 'center', alignItems: 'center' }}&gt;&#10;                &lt;Text style={{ fontSize: 15, color: '#276FBF' }}&gt;目标&lt;/Text&gt;&#10;            &lt;/Box&gt;&#10;            &lt;Box style={{ width: 30 }}&gt;&lt;Text style={{ fontSize: 20, color: '#276FBF' }}&gt;›&lt;/Text&gt;&lt;/Box&gt;&#10;            &lt;Box style={{ width: 168, height: 46, background: '#EDF4FC', borderRadius: 6, justifyContent: 'center', alignItems: 'center' }}&gt;&#10;                &lt;Text style={{ fontSize: 15, color: '#276FBF' }}&gt;输入&lt;/Text&gt;&#10;            &lt;/Box&gt;&#10;            &lt;Box style={{ width: 30 }}&gt;&lt;Text style={{ fontSize: 20, color: '#276FBF' }}&gt;›&lt;/Text&gt;&lt;/Box&gt;&#10;            &lt;Box style={{ width: 168, height: 46, background: '#EDF4FC', borderRadius: 6, justifyContent: 'center', alignItems: 'center' }}&gt;&#10;                &lt;Text style={{ fontSize: 15, color: '#276FBF' }}&gt;模型&lt;/Text&gt;&#10;            &lt;/Box&gt;&#10;            &lt;Box style={{ width: 30 }}&gt;&lt;Text style={{ fontSize: 20, color: '#276FBF' }}&gt;›&lt;/Text&gt;&lt;/Box&gt;&#10;            &lt;Box style={{ width: 168, height: 46, background: '#ECF7F2', borderRadius: 6, justifyContent: 'center', alignItems: 'center' }}&gt;&#10;                &lt;Text style={{ fontSize: 15, color: '#26816B' }}&gt;执行&lt;/Text&gt;&#10;            &lt;/Box&gt;&#10;            &lt;Box style={{ width: 30 }}&gt;&lt;Text style={{ fontSize: 20, color: '#276FBF' }}&gt;›&lt;/Text&gt;&lt;/Box&gt;&#10;            &lt;Box style={{ width: 168, height: 46, background: '#ECF7F2', borderRadius: 6, justifyContent: 'center', alignItems: 'center' }}&gt;&#10;                &lt;Text style={{ fontSize: 15, color: '#26816B' }}&gt;核验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2 从模型到应用&lt;/Text&gt;&#10;        &lt;Text style={{ fontSize: 14, color: '#546779' }}&gt;07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2" name=""/>
          <p:cNvSpPr/>
          <p:nvPr/>
        </p:nvSpPr>
        <p:spPr>
          <a:xfrm rot="0" flipH="0" flipV="0">
            <a:off x="609600" y="12858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714375" y="139065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1295400" y="145732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1.2.2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609600" y="20097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一次任务背后的结构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609600" y="294322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609600" y="317182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模型生成候选，宿主执行操作，独立核验决定能不能交付。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609600" y="3810000"/>
            <a:ext cx="1600200" cy="438150"/>
          </a:xfrm>
          <a:prstGeom prst="roundRect">
            <a:avLst>
              <a:gd name="adj" fmla="val 130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1266825" y="39433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目标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2209800" y="3914775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2495550" y="3810000"/>
            <a:ext cx="1600200" cy="438150"/>
          </a:xfrm>
          <a:prstGeom prst="roundRect">
            <a:avLst>
              <a:gd name="adj" fmla="val 130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3152775" y="39433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输入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4095750" y="3914775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4381500" y="3810000"/>
            <a:ext cx="1600200" cy="438150"/>
          </a:xfrm>
          <a:prstGeom prst="roundRect">
            <a:avLst>
              <a:gd name="adj" fmla="val 130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5038725" y="39433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5981700" y="3914775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6267450" y="3810000"/>
            <a:ext cx="1600200" cy="438150"/>
          </a:xfrm>
          <a:prstGeom prst="roundRect">
            <a:avLst>
              <a:gd name="adj" fmla="val 130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6924675" y="39433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执行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7867650" y="3914775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8153400" y="3810000"/>
            <a:ext cx="1600200" cy="438150"/>
          </a:xfrm>
          <a:prstGeom prst="roundRect">
            <a:avLst>
              <a:gd name="adj" fmla="val 130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8810625" y="39433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核验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从模型到应用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534" name="" descr="&lt;Slide notes={`看这条链路的五个环节。&#10;&#10;最左边是用户目标。这里面装着要求、约束，以及最后要交付什么。很多问题其实在这一步就埋下了：要求没说清，后面每一步都会偏。&#10;&#10;第二个环节是组织输入。要做什么、相关的资料、历史消息，在这一步被整理成这一次请求的内容。注意上面还有一路：资料与持久状态，是按需读取进来的，读取的时候要标明来源。&#10;&#10;第三个环节是模型处理。它生成候选内容，也可以提出工具请求。&#10;&#10;第四个环节是宿主实际执行。真正去查记录、去做被批准的操作，是宿主在做，不是模型在做。这一点非常关键。&#10;&#10;第五个也是最右边，核验与交付。按规则检查，看产物、看真实状态。&#10;&#10;从核验这一端有一条线回到模型：如果需要继续，把真实结果或者校验反馈带回去，再处理一轮。什么时候停？到达完成或者停止的边界就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2.2　一次任务背后的结构&lt;/Text&gt;&#10;            &lt;Text style={{ fontSize: 34, fontWeight: 'bold', color: '#20344B' }}&gt;输入、生成、执行、核验各由谁承接&lt;/Text&gt;&#10;        &lt;/Box&gt;&#10;    &lt;/Box&gt;&#10;&#10;    &lt;Box style={{ height: 540, flexDirection: 'column', justifyContent: 'center', gap: 16 }}&gt;&#10;&#10;        &lt;Box style={{ flexDirection: 'row', height: 82 }}&gt;&#10;            &lt;Box style={{ width: 238 }} /&gt;&#10;            &lt;Box style={{ width: 200, height: 82, background: '#F7F3E8', borderRadius: 8, padding: '12px 14px', flexDirection: 'column', gap: 4, justifyContent: 'center' }}&gt;&#10;                &lt;Text style={{ fontSize: 17, fontWeight: 'bold', color: '#20344B' }}&gt;资料与持久状态&lt;/Text&gt;&#10;                &lt;Text style={{ fontSize: 14, color: '#546779' }}&gt;按需读取并标来源&lt;/Text&gt;&#10;            &lt;/Box&gt;&#10;            &lt;Box style={{ flex: 1 }} /&gt;&#10;        &lt;/Box&gt;&#10;&#10;        &lt;Box style={{ flexDirection: 'row', height: 26 }}&gt;&#10;            &lt;Box style={{ width: 330 }} /&gt;&#10;            &lt;Box style={{ width: 16, justifyContent: 'center' }}&gt;&lt;Text style={{ fontSize: 18, color: '#276FBF' }}&gt;↓&lt;/Text&gt;&lt;/Box&gt;&#10;            &lt;Box style={{ flex: 1 }} /&gt;&#10;        &lt;/Box&gt;&#10;&#10;        &lt;Box style={{ flexDirection: 'row', height: 156, alignItems: 'center' }}&gt;&#10;&#10;            &lt;Box style={{ width: 200, height: 156, background: '#EDF4FC', borderRadius: 8, padding: '16px 14px', flexDirection: 'column', gap: 6 }}&gt;&#10;                &lt;Text style={{ fontSize: 19, fontWeight: 'bold', color: '#276FBF' }}&gt;用户目标&lt;/Text&gt;&#10;                &lt;Text style={{ fontSize: 14, color: '#546779', lineHeight: 1.55 }}&gt;要求、约束{'\n'}需要交付什么&lt;/Text&gt;&#10;            &lt;/Box&gt;&#10;            &lt;Box style={{ width: 38 }}&gt;&lt;Text style={{ fontSize: 24, color: '#276FBF' }}&gt;›&lt;/Text&gt;&lt;/Box&gt;&#10;&#10;            &lt;Box style={{ width: 200, height: 156, background: '#EDF4FC', borderRadius: 8, padding: '16px 14px', flexDirection: 'column', gap: 6 }}&gt;&#10;                &lt;Text style={{ fontSize: 19, fontWeight: 'bold', color: '#276FBF' }}&gt;组织输入&lt;/Text&gt;&#10;                &lt;Text style={{ fontSize: 14, color: '#546779', lineHeight: 1.55 }}&gt;任务说明{'\n'}相关资料与历史&lt;/Text&gt;&#10;            &lt;/Box&gt;&#10;            &lt;Box style={{ width: 38 }}&gt;&lt;Text style={{ fontSize: 24, color: '#276FBF' }}&gt;›&lt;/Text&gt;&lt;/Box&gt;&#10;&#10;            &lt;Box style={{ width: 200, height: 156, background: '#EDF4FC', borderRadius: 8, padding: '16px 14px', flexDirection: 'column', gap: 6 }}&gt;&#10;                &lt;Text style={{ fontSize: 19, fontWeight: 'bold', color: '#276FBF' }}&gt;模型处理&lt;/Text&gt;&#10;                &lt;Text style={{ fontSize: 14, color: '#546779', lineHeight: 1.55 }}&gt;生成候选内容{'\n'}提出工具请求&lt;/Text&gt;&#10;            &lt;/Box&gt;&#10;            &lt;Box style={{ width: 38 }}&gt;&lt;Text style={{ fontSize: 24, color: '#276FBF' }}&gt;›&lt;/Text&gt;&lt;/Box&gt;&#10;&#10;            &lt;Box style={{ width: 200, height: 156, background: '#ECF7F2', borderRadius: 8, padding: '16px 14px', flexDirection: 'column', gap: 6 }}&gt;&#10;                &lt;Text style={{ fontSize: 19, fontWeight: 'bold', color: '#26816B' }}&gt;宿主实际执行&lt;/Text&gt;&#10;                &lt;Text style={{ fontSize: 14, color: '#546779', lineHeight: 1.55 }}&gt;查询真实记录{'\n'}执行获准操作&lt;/Text&gt;&#10;            &lt;/Box&gt;&#10;            &lt;Box style={{ width: 38 }}&gt;&lt;Text style={{ fontSize: 24, color: '#26816B' }}&gt;›&lt;/Text&gt;&lt;/Box&gt;&#10;&#10;            &lt;Box style={{ width: 200, height: 156, background: '#ECF7F2', borderRadius: 8, padding: '16px 14px', flexDirection: 'column', gap: 6 }}&gt;&#10;                &lt;Text style={{ fontSize: 19, fontWeight: 'bold', color: '#26816B' }}&gt;核验与交付&lt;/Text&gt;&#10;                &lt;Text style={{ fontSize: 14, color: '#546779', lineHeight: 1.55 }}&gt;按规则检查{'\n'}检查产物和状态&lt;/Text&gt;&#10;            &lt;/Box&gt;&#10;&#10;        &lt;/Box&gt;&#10;&#10;        &lt;Box style={{ flexDirection: 'row', alignItems: 'center', gap: 16, background: '#F4F7FA', borderRadius: 10, padding: '14px 20px' }}&gt;&#10;            &lt;Box style={{ width: 4, height: 44, background: '#276FBF' }} /&gt;&#10;            &lt;Box style={{ flex: 1, flexDirection: 'column', gap: 3 }}&gt;&#10;                &lt;Text style={{ fontSize: 16, fontWeight: 'bold', color: '#276FBF' }}&gt;需要继续时：把真实结果或校验反馈带回去，再处理一轮&lt;/Text&gt;&#10;                &lt;Text style={{ fontSize: 14, color: '#546779' }}&gt;模型提出请求 ≠ 工具已执行；文件已生成 ≠ 所有业务条件已满足&lt;/Text&gt;&#10;            &lt;/Box&gt;&#10;            &lt;Box style={{ flexDirection: 'row', alignItems: 'center', gap: 10 }}&gt;&#10;                &lt;Text style={{ fontSize: 15, color: '#546779' }}&gt;到达完成或停止边界&lt;/Text&gt;&#10;                &lt;Text style={{ fontSize: 16, color: '#276FBF' }}&gt;→&lt;/Text&gt;&#10;                &lt;Box style={{ width: 92, height: 44, background: '#20344B', borderRadius: 8, justifyContent: 'center', alignItems: 'center' }}&gt;&#10;                    &lt;Text style={{ fontSize: 17, fontWeight: 'bold', color: '#FFFFFF' }}&gt;结束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1.2 从模型到应用&lt;/Text&gt;&#10;        &lt;Text style={{ fontSize: 14, color: '#546779' }}&gt;08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181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1.2.2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一次任务背后的结构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181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输入、生成、执行、核验各由谁承接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2876550" y="1885950"/>
            <a:ext cx="1905000" cy="781050"/>
          </a:xfrm>
          <a:prstGeom prst="roundRect">
            <a:avLst>
              <a:gd name="adj" fmla="val 975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3009900" y="2076450"/>
            <a:ext cx="1638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资料与持久状态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3009900" y="2314575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按需读取并标来源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3752850" y="2838450"/>
            <a:ext cx="152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609600" y="3219450"/>
            <a:ext cx="1905000" cy="1485900"/>
          </a:xfrm>
          <a:prstGeom prst="roundRect">
            <a:avLst>
              <a:gd name="adj" fmla="val 512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742950" y="3371850"/>
            <a:ext cx="1638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用户目标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742950" y="3648075"/>
            <a:ext cx="1638300" cy="5048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要求、约束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需要交付什么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2514600" y="3829050"/>
            <a:ext cx="3619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47" name=""/>
          <p:cNvSpPr/>
          <p:nvPr/>
        </p:nvSpPr>
        <p:spPr>
          <a:xfrm rot="0" flipH="0" flipV="0">
            <a:off x="2876550" y="3219450"/>
            <a:ext cx="1905000" cy="1485900"/>
          </a:xfrm>
          <a:prstGeom prst="roundRect">
            <a:avLst>
              <a:gd name="adj" fmla="val 512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3009900" y="3371850"/>
            <a:ext cx="1638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组织输入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3009900" y="3648075"/>
            <a:ext cx="1638300" cy="5048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任务说明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相关资料与历史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4781550" y="3829050"/>
            <a:ext cx="3619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5143500" y="3219450"/>
            <a:ext cx="1905000" cy="1485900"/>
          </a:xfrm>
          <a:prstGeom prst="roundRect">
            <a:avLst>
              <a:gd name="adj" fmla="val 512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5276850" y="3371850"/>
            <a:ext cx="1638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模型处理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5276850" y="3648075"/>
            <a:ext cx="1638300" cy="5048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生成候选内容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提出工具请求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7048500" y="3829050"/>
            <a:ext cx="3619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55" name=""/>
          <p:cNvSpPr/>
          <p:nvPr/>
        </p:nvSpPr>
        <p:spPr>
          <a:xfrm rot="0" flipH="0" flipV="0">
            <a:off x="7410450" y="3219450"/>
            <a:ext cx="1905000" cy="1485900"/>
          </a:xfrm>
          <a:prstGeom prst="roundRect">
            <a:avLst>
              <a:gd name="adj" fmla="val 512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7543800" y="3371850"/>
            <a:ext cx="1638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宿主实际执行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7543800" y="3648075"/>
            <a:ext cx="1638300" cy="5048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查询真实记录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执行获准操作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9315450" y="3829050"/>
            <a:ext cx="3619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9677400" y="3219450"/>
            <a:ext cx="1905000" cy="1485900"/>
          </a:xfrm>
          <a:prstGeom prst="roundRect">
            <a:avLst>
              <a:gd name="adj" fmla="val 512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9810750" y="3371850"/>
            <a:ext cx="1638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核验与交付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9810750" y="3648075"/>
            <a:ext cx="1638300" cy="5048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按规则检查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检查产物和状态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609600" y="485775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3" name=""/>
          <p:cNvSpPr/>
          <p:nvPr/>
        </p:nvSpPr>
        <p:spPr>
          <a:xfrm rot="0" flipH="0" flipV="0">
            <a:off x="800100" y="49911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990600" y="5010150"/>
            <a:ext cx="7743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需要继续时：把真实结果或校验反馈带回去，再处理一轮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990600" y="5229225"/>
            <a:ext cx="7743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模型提出请求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工具已执行；文件已生成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所有业务条件已满足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8886825" y="511492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到达完成或停止边界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10267950" y="510540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10515600" y="4991100"/>
            <a:ext cx="876300" cy="419100"/>
          </a:xfrm>
          <a:prstGeom prst="roundRect">
            <a:avLst>
              <a:gd name="adj" fmla="val 18182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10791825" y="51054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结束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从模型到应用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572" name="" descr="&lt;Slide notes={`这张链路走一遍还不够，我们还要能从它身上问出问题来。五个环节，每个都有它该回答的疑问。&#10;&#10;用户目标这一环，要问的是：哪些要求还没说清？回到青禾这件事，比如老年人是不是需要减少换房间，这种偏好如果没说出来，后面就无法被满足。&#10;&#10;输入组织这一环，问的是：哪些材料跟这次决策有关？房间表、预约记录、旧消息的摘要，都要在这步被选进来。&#10;&#10;生成与调用这一环，问的是：谁提出请求，谁实际执行？模型提出查询请求，真正去查的是宿主。&#10;&#10;过程管理这一环，问的是：还差什么，什么时候结束？有没有漏检查的约束，出错怎么处理，预算还剩多少。&#10;&#10;最后一环，核验与交付，问的是：哪条证据支持&quot;完成&quot;这个说法？是文件、校验报告，还是预约系统里的状态。&#10;&#10;五个问题问下来，你就能判断这次任务到底做没做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2.2　一次任务背后的结构&lt;/Text&gt;&#10;            &lt;Text style={{ fontSize: 34, fontWeight: 'bold', color: '#20344B' }}&gt;读这张图，抓五个问题&lt;/Text&gt;&#10;        &lt;/Box&gt;&#10;    &lt;/Box&gt;&#10;&#10;    &lt;Box style={{ height: 540, flexDirection: 'row', gap: 32 }}&gt;&#10;&#10;        &lt;Box style={{ width: 440, flexDirection: 'column', justifyContent: 'center', gap: 18 }}&gt;&#10;            &lt;Text style={{ fontSize: 25, fontWeight: 'bold', color: '#276FBF', lineHeight: 1.45 }}&gt;每一步，都要能问出一个问题&lt;/Text&gt;&#10;            &lt;Box style={{ width: 56, height: 3, background: '#26816B' }} /&gt;&#10;            &lt;Text style={{ fontSize: 17, color: '#546779', lineHeight: 1.8 }}&gt;沿图看输入、候选、实际执行与核验各由哪里承接。这张图是应用组织的示意，不要求每个系统都做成固定的流水线。&lt;/Text&gt;&#10;            &lt;Box style={{ background: '#FFF4E6', borderRadius: 10, padding: '16px 20px' }}&gt;&#10;                &lt;Text style={{ fontSize: 16, color: '#CB6B28', lineHeight: 1.7 }}&gt;模型请求不等于工具执行，文件生成不等于业务完成。&lt;/Text&gt;&#10;            &lt;/Box&gt;&#10;        &lt;/Box&gt;&#10;&#10;        &lt;Box style={{ width: 680, flexDirection: 'column', justifyContent: 'center', gap: 10 }}&gt;&#10;&#10;            &lt;Box style={{ flexDirection: 'row', padding: '0 16px', gap: 14 }}&gt;&#10;                &lt;Box style={{ width: 110 }}&gt;&lt;Text style={{ fontSize: 14, color: '#546779' }}&gt;环节&lt;/Text&gt;&lt;/Box&gt;&#10;                &lt;Box style={{ flex: 1 }}&gt;&lt;Text style={{ fontSize: 14, color: '#546779' }}&gt;要问的问题&lt;/Text&gt;&lt;/Box&gt;&#10;                &lt;Box style={{ width: 228 }}&gt;&lt;Text style={{ fontSize: 14, color: '#546779' }}&gt;青禾例子&lt;/Text&gt;&lt;/Box&gt;&#10;            &lt;/Box&gt;&#10;&#10;            &lt;Box style={{ flexDirection: 'row', height: 90, background: '#F4F7FA', borderRadius: 10, padding: '0 16px', alignItems: 'center', gap: 14 }}&gt;&#10;                &lt;Box style={{ width: 110 }}&gt;&lt;Text style={{ fontSize: 18, fontWeight: 'bold', color: '#20344B' }}&gt;用户目标&lt;/Text&gt;&lt;/Box&gt;&#10;                &lt;Box style={{ flex: 1 }}&gt;&lt;Text style={{ fontSize: 16, color: '#20344B', lineHeight: 1.6 }}&gt;哪些要求还没说清？&lt;/Text&gt;&lt;/Box&gt;&#10;                &lt;Box style={{ width: 228, background: '#FFFFFF', borderRadius: 6, padding: '8px 12px' }}&gt;&lt;Text style={{ fontSize: 15, color: '#546779', lineHeight: 1.5 }}&gt;老年人是否需要减少换房间&lt;/Text&gt;&lt;/Box&gt;&#10;            &lt;/Box&gt;&#10;&#10;            &lt;Box style={{ flexDirection: 'row', height: 90, background: '#F4F7FA', borderRadius: 10, padding: '0 16px', alignItems: 'center', gap: 14 }}&gt;&#10;                &lt;Box style={{ width: 110 }}&gt;&lt;Text style={{ fontSize: 18, fontWeight: 'bold', color: '#20344B' }}&gt;输入组织&lt;/Text&gt;&lt;/Box&gt;&#10;                &lt;Box style={{ flex: 1 }}&gt;&lt;Text style={{ fontSize: 16, color: '#20344B', lineHeight: 1.6 }}&gt;哪些材料与本次决策有关？&lt;/Text&gt;&lt;/Box&gt;&#10;                &lt;Box style={{ width: 228, background: '#FFFFFF', borderRadius: 6, padding: '8px 12px' }}&gt;&lt;Text style={{ fontSize: 15, color: '#546779', lineHeight: 1.5 }}&gt;房间表、预约、旧消息摘要&lt;/Text&gt;&lt;/Box&gt;&#10;            &lt;/Box&gt;&#10;&#10;            &lt;Box style={{ flexDirection: 'row', height: 90, background: '#F4F7FA', borderRadius: 10, padding: '0 16px', alignItems: 'center', gap: 14 }}&gt;&#10;                &lt;Box style={{ width: 110 }}&gt;&lt;Text style={{ fontSize: 18, fontWeight: 'bold', color: '#20344B' }}&gt;生成与调用&lt;/Text&gt;&lt;/Box&gt;&#10;                &lt;Box style={{ flex: 1 }}&gt;&lt;Text style={{ fontSize: 16, color: '#20344B', lineHeight: 1.6 }}&gt;谁提出请求，谁实际执行？&lt;/Text&gt;&lt;/Box&gt;&#10;                &lt;Box style={{ width: 228, background: '#FFFFFF', borderRadius: 6, padding: '8px 12px' }}&gt;&lt;Text style={{ fontSize: 15, color: '#546779', lineHeight: 1.5 }}&gt;模型请求查询；宿主执行工具&lt;/Text&gt;&lt;/Box&gt;&#10;            &lt;/Box&gt;&#10;&#10;            &lt;Box style={{ flexDirection: 'row', height: 90, background: '#F4F7FA', borderRadius: 10, padding: '0 16px', alignItems: 'center', gap: 14 }}&gt;&#10;                &lt;Box style={{ width: 110 }}&gt;&lt;Text style={{ fontSize: 18, fontWeight: 'bold', color: '#20344B' }}&gt;过程管理&lt;/Text&gt;&lt;/Box&gt;&#10;                &lt;Box style={{ flex: 1 }}&gt;&lt;Text style={{ fontSize: 16, color: '#20344B', lineHeight: 1.6 }}&gt;还差什么，何时结束？&lt;/Text&gt;&lt;/Box&gt;&#10;                &lt;Box style={{ width: 228, background: '#FFFFFF', borderRadius: 6, padding: '8px 12px' }}&gt;&lt;Text style={{ fontSize: 15, color: '#546779', lineHeight: 1.5 }}&gt;未检查约束、错误处理、预算&lt;/Text&gt;&lt;/Box&gt;&#10;            &lt;/Box&gt;&#10;&#10;            &lt;Box style={{ flexDirection: 'row', height: 90, background: '#ECF7F2', borderRadius: 10, padding: '0 16px', alignItems: 'center', gap: 14 }}&gt;&#10;                &lt;Box style={{ width: 110 }}&gt;&lt;Text style={{ fontSize: 18, fontWeight: 'bold', color: '#26816B' }}&gt;核验与交付&lt;/Text&gt;&lt;/Box&gt;&#10;                &lt;Box style={{ flex: 1 }}&gt;&lt;Text style={{ fontSize: 16, color: '#20344B', lineHeight: 1.6 }}&gt;哪条证据支持&quot;完成&quot;？&lt;/Text&gt;&lt;/Box&gt;&#10;                &lt;Box style={{ width: 228, background: '#FFFFFF', borderRadius: 6, padding: '8px 12px' }}&gt;&lt;Text style={{ fontSize: 15, color: '#546779', lineHeight: 1.5 }}&gt;文件、校验报告、预约系统状态&lt;/Text&gt;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2 从模型到应用&lt;/Text&gt;&#10;        &lt;Text style={{ fontSize: 14, color: '#546779' }}&gt;09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1.2.2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一次任务背后的结构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读这张图，抓五个问题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609600" y="2400300"/>
            <a:ext cx="4191000" cy="419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每一步，都要能问出一个问题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609600" y="2990850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609600" y="3190875"/>
            <a:ext cx="41910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沿图看输入、候选、实际执行与核验各由哪里承接。这张图是应用组织的示意，不要求每个系统都做成固定的流水线。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609600" y="4419600"/>
            <a:ext cx="4191000" cy="619125"/>
          </a:xfrm>
          <a:prstGeom prst="roundRect">
            <a:avLst>
              <a:gd name="adj" fmla="val 1538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800100" y="4572000"/>
            <a:ext cx="38100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模型请求不等于工具执行，文件生成不等于业务完成。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5257800" y="125730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环节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6438900" y="1257300"/>
            <a:ext cx="2686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要问的问题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9258300" y="1257300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青禾例子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5105400" y="1514475"/>
            <a:ext cx="6477000" cy="85725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5257800" y="1838325"/>
            <a:ext cx="104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用户目标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6438900" y="1800225"/>
            <a:ext cx="26860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哪些要求还没说清？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9258300" y="1743075"/>
            <a:ext cx="2171700" cy="409575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9372600" y="1819275"/>
            <a:ext cx="1943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老年人是否需要减少换房间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5105400" y="2466975"/>
            <a:ext cx="6477000" cy="85725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5257800" y="2790825"/>
            <a:ext cx="104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输入组织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6438900" y="2752725"/>
            <a:ext cx="26860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哪些材料与本次决策有关？</a:t>
            </a:r>
            <a:endParaRPr/>
          </a:p>
        </p:txBody>
      </p:sp>
      <p:sp>
        <p:nvSpPr>
          <p:cNvPr id="593" name=""/>
          <p:cNvSpPr/>
          <p:nvPr/>
        </p:nvSpPr>
        <p:spPr>
          <a:xfrm rot="0" flipH="0" flipV="0">
            <a:off x="9258300" y="2695575"/>
            <a:ext cx="2171700" cy="409575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9372600" y="2771775"/>
            <a:ext cx="1943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房间表、预约、旧消息摘要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5105400" y="3419475"/>
            <a:ext cx="6477000" cy="85725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5257800" y="3743325"/>
            <a:ext cx="104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生成与调用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6438900" y="3705225"/>
            <a:ext cx="26860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谁提出请求，谁实际执行？</a:t>
            </a:r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9258300" y="3648075"/>
            <a:ext cx="2171700" cy="409575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9372600" y="3724275"/>
            <a:ext cx="1943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模型请求查询；宿主执行工具</a:t>
            </a:r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5105400" y="4371975"/>
            <a:ext cx="6477000" cy="85725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5257800" y="4695825"/>
            <a:ext cx="104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过程管理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6438900" y="4657725"/>
            <a:ext cx="26860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还差什么，何时结束？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9258300" y="4600575"/>
            <a:ext cx="2171700" cy="409575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9372600" y="4676775"/>
            <a:ext cx="1943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未检查约束、错误处理、预算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5105400" y="5324475"/>
            <a:ext cx="6477000" cy="85725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5257800" y="5648325"/>
            <a:ext cx="104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核验与交付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6438900" y="5610225"/>
            <a:ext cx="26860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哪条证据支持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完成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？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9258300" y="5419725"/>
            <a:ext cx="217170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9372600" y="5495925"/>
            <a:ext cx="1943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文件、校验报告、预约系统状态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从模型到应用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4" name="" descr="&lt;Slide notes={`这条链路里有两个词，现在先点一下名字，后面章节会展开。&#10;&#10;第一个词叫上下文工程。选择哪些材料进来、把工具返回的结果保留下来、把旧消息整理成摘要，这些动作合起来，就是上下文工程。它决定了这一轮模型能看到什么。第二章会具体讲怎么操作。&#10;&#10;第二个要分清的是权限。模型提出了一个查询请求，这并不等于它拿到了预约服务的访问权限。请求是一回事，能不能真的访问、访问到什么范围，是另一回事，那由应用和权限设置决定。&#10;&#10;第三个词叫 Agent。围绕一个目标，多次选择并调用工具，这样的组织方式通常称为 Agent。这里要提醒的是：自主到什么程度，是由环境决定的，不是由名字决定的。它不要求固定采用&quot;感知、计划、反思&quot;这一套流程。&#10;&#10;所以听到&quot;这是个 Agent&quot;，别急着想象它有多自主，先看它被允许做什么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2.2　一次任务背后的结构&lt;/Text&gt;&#10;            &lt;Text style={{ fontSize: 34, fontWeight: 'bold', color: '#20344B' }}&gt;三个容易混为一谈的边界&lt;/Text&gt;&#10;        &lt;/Box&gt;&#10;    &lt;/Box&gt;&#10;&#10;    &lt;Box style={{ height: 540, flexDirection: 'row', gap: 40 }}&gt;&#10;&#10;        &lt;Box style={{ width: 340, flexDirection: 'column', justifyContent: 'center', gap: 16 }}&gt;&#10;            &lt;Text style={{ fontSize: 25, fontWeight: 'bold', color: '#276FBF', lineHeight: 1.45 }}&gt;名字先记住，界线先划清&lt;/Text&gt;&#10;            &lt;Box style={{ width: 56, height: 3, background: '#26816B' }} /&gt;&#10;            &lt;Text style={{ fontSize: 17, color: '#546779', lineHeight: 1.8 }}&gt;这三个词在后面的章节都会再用到。现在只需要知道它们各自指的是哪一件事。&lt;/Text&gt;&#10;        &lt;/Box&gt;&#10;&#10;        &lt;Box style={{ flex: 1, flexDirection: 'column', justifyContent: 'center', gap: 14 }}&gt;&#10;&#10;            &lt;Box style={{ flexDirection: 'row', gap: 16, background: '#F4F7FA', borderRadius: 10, padding: '18px 20px' }}&gt;&#10;                &lt;Box style={{ width: 4, height: 62, background: '#276FBF' }} /&gt;&#10;                &lt;Box style={{ flex: 1, flexDirection: 'column', gap: 5 }}&gt;&#10;                    &lt;Text style={{ fontSize: 20, fontWeight: 'bold', color: '#20344B' }}&gt;上下文工程&lt;/Text&gt;&#10;                    &lt;Text style={{ fontSize: 16, color: '#546779', lineHeight: 1.65 }}&gt;选择材料、保留工具结果、整理旧消息，都属于上下文工程。&lt;/Text&gt;&#10;                    &lt;Text style={{ fontSize: 14, color: '#276FBF' }}&gt;第二章展开&lt;/Text&gt;&#10;                &lt;/Box&gt;&#10;            &lt;/Box&gt;&#10;&#10;            &lt;Box style={{ flexDirection: 'row', gap: 16, background: '#FFF4E6', borderRadius: 10, padding: '18px 20px' }}&gt;&#10;                &lt;Box style={{ width: 4, height: 62, background: '#CB6B28' }} /&gt;&#10;                &lt;Box style={{ flex: 1, flexDirection: 'column', gap: 5 }}&gt;&#10;                    &lt;Text style={{ fontSize: 20, fontWeight: 'bold', color: '#CB6B28' }}&gt;请求与权限&lt;/Text&gt;&#10;                    &lt;Text style={{ fontSize: 16, color: '#546779', lineHeight: 1.65 }}&gt;模型提出查询请求，并不会因此自动获得预约服务的访问权限。&lt;/Text&gt;&#10;                &lt;/Box&gt;&#10;            &lt;/Box&gt;&#10;&#10;            &lt;Box style={{ flexDirection: 'row', gap: 16, background: '#F4F7FA', borderRadius: 10, padding: '18px 20px' }}&gt;&#10;                &lt;Box style={{ width: 4, height: 62, background: '#26816B' }} /&gt;&#10;                &lt;Box style={{ flex: 1, flexDirection: 'column', gap: 5 }}&gt;&#10;                    &lt;Text style={{ fontSize: 20, fontWeight: 'bold', color: '#20344B' }}&gt;Agent&lt;/Text&gt;&#10;                    &lt;Text style={{ fontSize: 16, color: '#546779', lineHeight: 1.65 }}&gt;围绕目标多次选择并调用工具的组织方式。自主程度由环境决定，不要求固定采用&quot;感知—计划—反思&quot;流程。&lt;/Text&gt;&#10;                &lt;/Box&gt;&#10;            &lt;/Box&gt;&#10;&#10;            &lt;Box style={{ flexDirection: 'row', alignItems: 'center', gap: 12 }}&gt;&#10;                &lt;Box style={{ width: 3, height: 22, background: '#CB6B28' }} /&gt;&#10;                &lt;Text style={{ fontSize: 15, color: '#CB6B28' }}&gt;交付时分别核验：文件存在／检查通过／真实预约成功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2 从模型到应用&lt;/Text&gt;&#10;        &lt;Text style={{ fontSize: 14, color: '#546779' }}&gt;10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1.2.2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一次任务背后的结构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三个容易混为一谈的边界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09600" y="2990850"/>
            <a:ext cx="3238500" cy="419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名字先记住，界线先划清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09600" y="3562350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09600" y="3743325"/>
            <a:ext cx="3238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这三个词在后面的章节都会再用到。现在只需要知道它们各自指的是哪一件事。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4229100" y="1762125"/>
            <a:ext cx="7353300" cy="1133475"/>
          </a:xfrm>
          <a:prstGeom prst="roundRect">
            <a:avLst>
              <a:gd name="adj" fmla="val 84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4419600" y="1933575"/>
            <a:ext cx="38100" cy="590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610100" y="1933575"/>
            <a:ext cx="678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上下文工程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610100" y="2209800"/>
            <a:ext cx="67818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选择材料、保留工具结果、整理旧消息，都属于上下文工程。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610100" y="2562225"/>
            <a:ext cx="6781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第二章展开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4229100" y="3028950"/>
            <a:ext cx="7353300" cy="933450"/>
          </a:xfrm>
          <a:prstGeom prst="roundRect">
            <a:avLst>
              <a:gd name="adj" fmla="val 1020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4419600" y="3200400"/>
            <a:ext cx="38100" cy="590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610100" y="3200400"/>
            <a:ext cx="678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请求与权限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610100" y="3476625"/>
            <a:ext cx="67818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模型提出查询请求，并不会因此自动获得预约服务的访问权限。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4229100" y="4095750"/>
            <a:ext cx="7353300" cy="1228725"/>
          </a:xfrm>
          <a:prstGeom prst="roundRect">
            <a:avLst>
              <a:gd name="adj" fmla="val 775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4419600" y="4267200"/>
            <a:ext cx="38100" cy="5905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4610100" y="4267200"/>
            <a:ext cx="678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610100" y="4543425"/>
            <a:ext cx="67818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围绕目标多次选择并调用工具的组织方式。自主程度由环境决定，不要求固定采用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感知—计划—反思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流程。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4229100" y="5457825"/>
            <a:ext cx="28575" cy="209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4371975" y="5476875"/>
            <a:ext cx="3571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交付时分别核验：文件存在／检查通过／真实预约成功。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从模型到应用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9" name="" descr="&lt;Slide notes={`结构拆完了，接下来做一件更有意思的事：把条件换掉，看结果会不会变。&#10;&#10;这是我们平时最常犯的一个错——看到一个结果，就下结论说&quot;这个模型很行&quot;或者&quot;这个模型不行&quot;。但如果我只换它周围的资料和工具，模型一点没动，结果就可能完全不同。&#10;&#10;所以接下来这段，要做一个对照：同一个模型，一组条件只给任务，另一组条件把应用能力补齐。这两组跑出来的东西，我们不能放在一起比较，因为它们测的根本不是同一件事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3&lt;/Text&gt;&#10;            &lt;/Box&gt;&#10;            &lt;Text style={{ fontSize: 16, color: '#546779' }}&gt;1.2.3&lt;/Text&gt;&#10;        &lt;/Box&gt;&#10;&#10;        &lt;Text style={{ fontSize: 56, fontWeight: 'bold', color: '#20344B', lineHeight: 1.15 }}&gt;工具会扩展能力，也会改变评价对象&lt;/Text&gt;&#10;&#10;        &lt;Box style={{ width: 640, height: 4, background: '#276FBF' }} /&gt;&#10;&#10;        &lt;Text style={{ fontSize: 19, color: '#546779', lineHeight: 1.7 }}&gt;保持模型不变，只改变它拿到的资料、可用工具和检查程序，结果会怎样变化？&lt;/Text&gt;&#10;&#10;        &lt;Box style={{ marginTop: 8, flexDirection: 'row', alignItems: 'center', gap: 20 }}&gt;&#10;            &lt;Box style={{ flexDirection: 'column', gap: 8, width: 360 }}&gt;&#10;                &lt;Box style={{ height: 44, background: '#F4F7FA', borderRadius: 6, justifyContent: 'center', paddingLeft: 16 }}&gt;&#10;                    &lt;Text style={{ fontSize: 15, color: '#546779' }}&gt;只给任务&lt;/Text&gt;&#10;                &lt;/Box&gt;&#10;                &lt;Box style={{ height: 44, background: '#F4F7FA', borderRadius: 6, justifyContent: 'center', paddingLeft: 16 }}&gt;&#10;                    &lt;Text style={{ fontSize: 15, color: '#546779' }}&gt;依赖已给输入&lt;/Text&gt;&#10;                &lt;/Box&gt;&#10;            &lt;/Box&gt;&#10;            &lt;Text style={{ fontSize: 24, color: '#276FBF' }}&gt;⇄&lt;/Text&gt;&#10;            &lt;Box style={{ flexDirection: 'column', gap: 8, width: 360 }}&gt;&#10;                &lt;Box style={{ height: 44, background: '#EDF4FC', borderRadius: 6, justifyContent: 'center', paddingLeft: 16 }}&gt;&#10;                    &lt;Text style={{ fontSize: 15, color: '#276FBF' }}&gt;容量表＋预约记录&lt;/Text&gt;&#10;                &lt;/Box&gt;&#10;                &lt;Box style={{ height: 44, background: '#EDF4FC', borderRadius: 6, justifyContent: 'center', paddingLeft: 16 }}&gt;&#10;                    &lt;Text style={{ fontSize: 15, color: '#276FBF' }}&gt;真实查询工具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1.2 从模型到应用&lt;/Text&gt;&#10;        &lt;Text style={{ fontSize: 14, color: '#546779' }}&gt;11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09600" y="10477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14375" y="11525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295400" y="121920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1.2.3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09600" y="17716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工具会扩展能力，也会改变评价对象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609600" y="270510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09600" y="29337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保持模型不变，只改变它拿到的资料、可用工具和检查程序，结果会怎样变化？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09600" y="3571875"/>
            <a:ext cx="3429000" cy="419100"/>
          </a:xfrm>
          <a:prstGeom prst="roundRect">
            <a:avLst>
              <a:gd name="adj" fmla="val 1363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62000" y="3695700"/>
            <a:ext cx="3276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只给任务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609600" y="4067175"/>
            <a:ext cx="3429000" cy="419100"/>
          </a:xfrm>
          <a:prstGeom prst="roundRect">
            <a:avLst>
              <a:gd name="adj" fmla="val 1363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762000" y="4191000"/>
            <a:ext cx="3276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依赖已给输入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229100" y="389572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⇄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4648200" y="3571875"/>
            <a:ext cx="3429000" cy="419100"/>
          </a:xfrm>
          <a:prstGeom prst="roundRect">
            <a:avLst>
              <a:gd name="adj" fmla="val 1363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800600" y="3695700"/>
            <a:ext cx="3276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容量表＋预约记录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4648200" y="4067175"/>
            <a:ext cx="3429000" cy="419100"/>
          </a:xfrm>
          <a:prstGeom prst="roundRect">
            <a:avLst>
              <a:gd name="adj" fmla="val 1363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800600" y="4191000"/>
            <a:ext cx="3276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真实查询工具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从模型到应用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68" name="" descr="&lt;Slide notes={`把两组条件摆在一起，逐行比。&#10;&#10;第一行，可用材料。左边只有一句&quot;安排开放日&quot;；右边拿到了容量表和预约记录。模型本身没变，但它能接触到的事实不一样了。&#10;&#10;第二行，怎么取得事实。左边只能依赖已经给它的输入，给什么用什么；右边可以通过真实的查询工具去取。&#10;&#10;第三行，怎么发现冲突。左边靠模型自己判断；右边有独立的约束校验，是另一段程序在按规则检查。&#10;&#10;第四行，交付的依据。左边交出一份候选文本；右边交出来的是文本，加上执行记录和校验记录。&#10;&#10;四行比下来，结论很清楚：右边这一列，测量对象已经不是一个裸模型了，它包含资料、工具和控制逻辑。&#10;&#10;所以在写评价结论的时候，第一句话就必须交代清楚：我测的是裸模型，还是带资料、带工具、带控制的完整应用。这两者的分数不能互换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2.3　工具会扩展能力，也会改变评价对象&lt;/Text&gt;&#10;            &lt;Text style={{ fontSize: 34, fontWeight: 'bold', color: '#20344B' }}&gt;同一模型，两种条件&lt;/Text&gt;&#10;        &lt;/Box&gt;&#10;    &lt;/Box&gt;&#10;&#10;    &lt;Box style={{ height: 540, flexDirection: 'row', justifyContent: 'center', alignItems: 'center', gap: 32 }}&gt;&#10;&#10;        &lt;Box style={{ width: 560, flexDirection: 'column', gap: 16 }}&gt;&#10;&#10;            &lt;Box style={{ height: 62, background: '#F4F7FA', borderRadius: 10, justifyContent: 'center', alignItems: 'center' }}&gt;&#10;                &lt;Text style={{ fontSize: 22, fontWeight: 'bold', color: '#546779' }}&gt;只给任务&lt;/Text&gt;&#10;            &lt;/Box&gt;&#10;&#10;            &lt;Box style={{ height: 88, background: '#F4F7FA', borderRadius: 10, padding: '14px 18px', flexDirection: 'column', gap: 3, justifyContent: 'center' }}&gt;&#10;                &lt;Text style={{ fontSize: 14, color: '#546779' }}&gt;可用材料&lt;/Text&gt;&#10;                &lt;Text style={{ fontSize: 17, color: '#20344B' }}&gt;&quot;安排开放日&quot;&lt;/Text&gt;&#10;            &lt;/Box&gt;&#10;&#10;            &lt;Box style={{ height: 88, background: '#F4F7FA', borderRadius: 10, padding: '14px 18px', flexDirection: 'column', gap: 3, justifyContent: 'center' }}&gt;&#10;                &lt;Text style={{ fontSize: 14, color: '#546779' }}&gt;取得事实&lt;/Text&gt;&#10;                &lt;Text style={{ fontSize: 17, color: '#20344B' }}&gt;依赖已给输入&lt;/Text&gt;&#10;            &lt;/Box&gt;&#10;&#10;            &lt;Box style={{ height: 88, background: '#F4F7FA', borderRadius: 10, padding: '14px 18px', flexDirection: 'column', gap: 3, justifyContent: 'center' }}&gt;&#10;                &lt;Text style={{ fontSize: 14, color: '#546779' }}&gt;发现冲突&lt;/Text&gt;&#10;                &lt;Text style={{ fontSize: 17, color: '#20344B' }}&gt;模型自行判断&lt;/Text&gt;&#10;            &lt;/Box&gt;&#10;&#10;            &lt;Box style={{ height: 88, background: '#F4F7FA', borderRadius: 10, padding: '14px 18px', flexDirection: 'column', gap: 3, justifyContent: 'center' }}&gt;&#10;                &lt;Text style={{ fontSize: 14, color: '#546779' }}&gt;交付依据&lt;/Text&gt;&#10;                &lt;Text style={{ fontSize: 17, color: '#20344B' }}&gt;一份候选文本&lt;/Text&gt;&#10;            &lt;/Box&gt;&#10;&#10;        &lt;/Box&gt;&#10;&#10;        &lt;Box style={{ width: 560, flexDirection: 'column', gap: 16 }}&gt;&#10;&#10;            &lt;Box style={{ height: 62, background: '#EDF4FC', borderRadius: 10, justifyContent: 'center', alignItems: 'center' }}&gt;&#10;                &lt;Text style={{ fontSize: 22, fontWeight: 'bold', color: '#276FBF' }}&gt;补齐应用能力&lt;/Text&gt;&#10;            &lt;/Box&gt;&#10;&#10;            &lt;Box style={{ height: 88, background: '#EDF4FC', borderRadius: 10, padding: '14px 18px', flexDirection: 'column', gap: 3, justifyContent: 'center' }}&gt;&#10;                &lt;Text style={{ fontSize: 14, color: '#546779' }}&gt;可用材料&lt;/Text&gt;&#10;                &lt;Text style={{ fontSize: 17, color: '#20344B' }}&gt;容量表＋预约记录&lt;/Text&gt;&#10;            &lt;/Box&gt;&#10;&#10;            &lt;Box style={{ height: 88, background: '#EDF4FC', borderRadius: 10, padding: '14px 18px', flexDirection: 'column', gap: 3, justifyContent: 'center' }}&gt;&#10;                &lt;Text style={{ fontSize: 14, color: '#546779' }}&gt;取得事实&lt;/Text&gt;&#10;                &lt;Text style={{ fontSize: 17, color: '#20344B' }}&gt;真实查询工具&lt;/Text&gt;&#10;            &lt;/Box&gt;&#10;&#10;            &lt;Box style={{ height: 88, background: '#EDF4FC', borderRadius: 10, padding: '14px 18px', flexDirection: 'column', gap: 3, justifyContent: 'center' }}&gt;&#10;                &lt;Text style={{ fontSize: 14, color: '#546779' }}&gt;发现冲突&lt;/Text&gt;&#10;                &lt;Text style={{ fontSize: 17, color: '#20344B' }}&gt;独立约束校验&lt;/Text&gt;&#10;            &lt;/Box&gt;&#10;&#10;            &lt;Box style={{ height: 88, background: '#ECF7F2', borderRadius: 10, padding: '14px 18px', flexDirection: 'column', gap: 3, justifyContent: 'center' }}&gt;&#10;                &lt;Text style={{ fontSize: 14, color: '#546779' }}&gt;交付依据&lt;/Text&gt;&#10;                &lt;Text style={{ fontSize: 17, color: '#26816B' }}&gt;文本＋执行与校验记录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2 从模型到应用&lt;/Text&gt;&#10;        &lt;Text style={{ fontSize: 14, color: '#546779' }}&gt;12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1.2.3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工具会扩展能力，也会改变评价对象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同一模型，两种条件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09600" y="1438275"/>
            <a:ext cx="5334000" cy="590550"/>
          </a:xfrm>
          <a:prstGeom prst="roundRect">
            <a:avLst>
              <a:gd name="adj" fmla="val 161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2857500" y="1609725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546779"/>
                </a:solidFill>
                <a:latin typeface="Microsoft YaHei"/>
                <a:ea typeface="Microsoft YaHei"/>
              </a:rPr>
              <a:t>只给任务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609600" y="2181225"/>
            <a:ext cx="53340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81050" y="2409825"/>
            <a:ext cx="499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可用材料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81050" y="2600325"/>
            <a:ext cx="4991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安排开放日</a:t>
            </a: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09600" y="3171825"/>
            <a:ext cx="53340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81050" y="3400425"/>
            <a:ext cx="499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取得事实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81050" y="3590925"/>
            <a:ext cx="4991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依赖已给输入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609600" y="4162425"/>
            <a:ext cx="53340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81050" y="4391025"/>
            <a:ext cx="499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发现冲突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81050" y="4581525"/>
            <a:ext cx="4991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模型自行判断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09600" y="5153025"/>
            <a:ext cx="53340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81050" y="5381625"/>
            <a:ext cx="499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交付依据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781050" y="5572125"/>
            <a:ext cx="4991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一份候选文本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6248400" y="1438275"/>
            <a:ext cx="5334000" cy="590550"/>
          </a:xfrm>
          <a:prstGeom prst="roundRect">
            <a:avLst>
              <a:gd name="adj" fmla="val 161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286750" y="1609725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补齐应用能力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248400" y="2181225"/>
            <a:ext cx="53340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419850" y="2409825"/>
            <a:ext cx="499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可用材料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419850" y="2600325"/>
            <a:ext cx="4991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容量表＋预约记录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248400" y="3171825"/>
            <a:ext cx="53340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419850" y="3400425"/>
            <a:ext cx="499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取得事实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419850" y="3590925"/>
            <a:ext cx="4991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真实查询工具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248400" y="4162425"/>
            <a:ext cx="53340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419850" y="4391025"/>
            <a:ext cx="499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发现冲突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419850" y="4581525"/>
            <a:ext cx="4991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独立约束校验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248400" y="5153025"/>
            <a:ext cx="5334000" cy="838200"/>
          </a:xfrm>
          <a:prstGeom prst="roundRect">
            <a:avLst>
              <a:gd name="adj" fmla="val 1136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419850" y="5381625"/>
            <a:ext cx="499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交付依据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419850" y="5572125"/>
            <a:ext cx="4991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文本＋执行与校验记录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从模型到应用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22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03" name="" descr="&lt;Slide notes={`再往下看一个更细的层次：同样是&quot;有工具&quot;，工具换来换去，测到的东西也在变。&#10;&#10;第一种条件，只让模型自己算。这时候测到的是它在当前输入和生成条件下的计算表现，还可能会算错，也可能漏掉条件。&#10;&#10;第二种条件，允许它用计算器。表面上只是多了一个工具，其实测的东西变成了四件事：它能不能识别出这里需要计算、能不能把参数正确地传进去、能不能理解返回的结果、最后能不能把结果组织成答案。失败的方式也变了——表达式传错了，或者结果算对了但用错了。&#10;&#10;第三种条件，允许它查预约。这时候测的是选日期、选房间、读记录、把事情做完这一整套。失败可能是查错了日期，可能是漏读了记录，也可能是查询失败之后直接编了一个。&#10;&#10;所以有两条纪律：工具成功和任务成功要分开记录；评测要写清可用工具、数据、调用预算和最终判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2.3　工具会扩展能力，也会改变评价对象&lt;/Text&gt;&#10;            &lt;Text style={{ fontSize: 34, fontWeight: 'bold', color: '#20344B' }}&gt;工具成功，不等于任务成功&lt;/Text&gt;&#10;        &lt;/Box&gt;&#10;    &lt;/Box&gt;&#10;&#10;    &lt;Box style={{ height: 540, flexDirection: 'column', justifyContent: 'center', gap: 12 }}&gt;&#10;&#10;        &lt;Box style={{ flexDirection: 'row', padding: '0 18px', gap: 16 }}&gt;&#10;            &lt;Box style={{ width: 220 }}&gt;&lt;Text style={{ fontSize: 14, color: '#546779' }}&gt;任务条件&lt;/Text&gt;&lt;/Box&gt;&#10;            &lt;Box style={{ flex: 1 }}&gt;&lt;Text style={{ fontSize: 14, color: '#546779' }}&gt;主要测到什么&lt;/Text&gt;&lt;/Box&gt;&#10;            &lt;Box style={{ width: 300 }}&gt;&lt;Text style={{ fontSize: 14, color: '#546779' }}&gt;仍可能怎样失败&lt;/Text&gt;&lt;/Box&gt;&#10;        &lt;/Box&gt;&#10;&#10;        &lt;Box style={{ flexDirection: 'row', height: 92, background: '#F4F7FA', borderRadius: 10, padding: '0 18px', alignItems: 'center', gap: 16 }}&gt;&#10;            &lt;Box style={{ width: 220 }}&gt;&lt;Text style={{ fontSize: 18, fontWeight: 'bold', color: '#20344B' }}&gt;只让模型计算&lt;/Text&gt;&lt;/Box&gt;&#10;            &lt;Box style={{ flex: 1 }}&gt;&lt;Text style={{ fontSize: 16, color: '#20344B', lineHeight: 1.6 }}&gt;当前输入与生成条件下的计算表现&lt;/Text&gt;&lt;/Box&gt;&#10;            &lt;Box style={{ width: 300 }}&gt;&lt;Text style={{ fontSize: 16, color: '#546779', lineHeight: 1.6 }}&gt;算错、漏条件&lt;/Text&gt;&lt;/Box&gt;&#10;        &lt;/Box&gt;&#10;&#10;        &lt;Box style={{ flexDirection: 'row', height: 92, background: '#EDF4FC', borderRadius: 10, padding: '0 18px', alignItems: 'center', gap: 16 }}&gt;&#10;            &lt;Box style={{ width: 220 }}&gt;&lt;Text style={{ fontSize: 18, fontWeight: 'bold', color: '#276FBF' }}&gt;允许计算器&lt;/Text&gt;&lt;/Box&gt;&#10;            &lt;Box style={{ flex: 1 }}&gt;&lt;Text style={{ fontSize: 16, color: '#20344B', lineHeight: 1.6 }}&gt;识别需要、传参、理解结果、组织答案&lt;/Text&gt;&lt;/Box&gt;&#10;            &lt;Box style={{ width: 300 }}&gt;&lt;Text style={{ fontSize: 16, color: '#546779', lineHeight: 1.6 }}&gt;表达式传错、结果用错&lt;/Text&gt;&lt;/Box&gt;&#10;        &lt;/Box&gt;&#10;&#10;        &lt;Box style={{ flexDirection: 'row', height: 92, background: '#ECF7F2', borderRadius: 10, padding: '0 18px', alignItems: 'center', gap: 16 }}&gt;&#10;            &lt;Box style={{ width: 220 }}&gt;&lt;Text style={{ fontSize: 18, fontWeight: 'bold', color: '#26816B' }}&gt;允许查预约&lt;/Text&gt;&lt;/Box&gt;&#10;            &lt;Box style={{ flex: 1 }}&gt;&lt;Text style={{ fontSize: 16, color: '#20344B', lineHeight: 1.6 }}&gt;选日期、选房间、读记录、完成任务&lt;/Text&gt;&lt;/Box&gt;&#10;            &lt;Box style={{ width: 300 }}&gt;&lt;Text style={{ fontSize: 16, color: '#CB6B28', lineHeight: 1.6 }}&gt;查错日期、漏读、查询失败后编造&lt;/Text&gt;&lt;/Box&gt;&#10;        &lt;/Box&gt;&#10;&#10;        &lt;Box style={{ flexDirection: 'row', gap: 16, background: '#FFF4E6', borderRadius: 10, padding: '18px 22px', alignItems: 'center' }}&gt;&#10;            &lt;Box style={{ width: 4, height: 76, background: '#CB6B28' }} /&gt;&#10;            &lt;Box style={{ flex: 1, flexDirection: 'column', gap: 6 }}&gt;&#10;                &lt;Text style={{ fontSize: 19, fontWeight: 'bold', color: '#CB6B28' }}&gt;工具成功与任务成功，分开记录&lt;/Text&gt;&#10;                &lt;Text style={{ fontSize: 16, color: '#546779', lineHeight: 1.65 }}&gt;评测应写清可用工具、数据、调用预算和最终判据。WebArena 就在给定网页环境中评价代理执行任务的结果；第三章还会加入身份、可见信息和动作校验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2 从模型到应用&lt;/Text&gt;&#10;        &lt;Text style={{ fontSize: 14, color: '#546779' }}&gt;13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1.2.3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工具会扩展能力，也会改变评价对象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工具成功，不等于任务成功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81050" y="1476375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任务条件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3028950" y="1476375"/>
            <a:ext cx="537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主要测到什么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553450" y="147637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仍可能怎样失败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609600" y="1752600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81050" y="2085975"/>
            <a:ext cx="209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只让模型计算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3028950" y="2047875"/>
            <a:ext cx="5372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当前输入与生成条件下的计算表现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553450" y="2047875"/>
            <a:ext cx="2857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算错、漏条件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609600" y="2743200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81050" y="3076575"/>
            <a:ext cx="209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允许计算器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3028950" y="3038475"/>
            <a:ext cx="5372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识别需要、传参、理解结果、组织答案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553450" y="3038475"/>
            <a:ext cx="2857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表达式传错、结果用错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609600" y="3733800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781050" y="4067175"/>
            <a:ext cx="209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允许查预约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3028950" y="4029075"/>
            <a:ext cx="5372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选日期、选房间、读记录、完成任务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553450" y="4029075"/>
            <a:ext cx="2857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查错日期、漏读、查询失败后编造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609600" y="4724400"/>
            <a:ext cx="10972800" cy="1228725"/>
          </a:xfrm>
          <a:prstGeom prst="roundRect">
            <a:avLst>
              <a:gd name="adj" fmla="val 775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819150" y="4981575"/>
            <a:ext cx="38100" cy="723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009650" y="4895850"/>
            <a:ext cx="10363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工具成功与任务成功，分开记录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009650" y="5172075"/>
            <a:ext cx="103632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评测应写清可用工具、数据、调用预算和最终判据。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WebArena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就在给定网页环境中评价代理执行任务的结果；第三章还会加入身份、可见信息和动作校验。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从模型到应用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22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29" name="" descr="&lt;Slide notes={`下一件事，是把名字理清楚。&#10;&#10;我们平时会说&quot;我用的那个模型&quot;，但这句话其实混了好几层东西。同一款模型，可以被包在好几个产品里；同一个产品，也可能在不同时间换用不同的模型。所以当我们记录一次测试的结果时，必须说清楚测的是哪一层。&#10;&#10;在这段里，我们要分清四个名字：模型本身、模型服务、产品，还有模型快照。分清以后你会发现，很多&quot;同一个模型怎么表现不一样&quot;的争论，其实是名字没对齐造成的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4&lt;/Text&gt;&#10;            &lt;/Box&gt;&#10;            &lt;Text style={{ fontSize: 16, color: '#546779' }}&gt;1.2.4&lt;/Text&gt;&#10;        &lt;/Box&gt;&#10;&#10;        &lt;Text style={{ fontSize: 56, fontWeight: 'bold', color: '#20344B', lineHeight: 1.15 }}&gt;模型名称、服务与产品不是同一个东西&lt;/Text&gt;&#10;&#10;        &lt;Box style={{ width: 640, height: 4, background: '#276FBF' }} /&gt;&#10;&#10;        &lt;Text style={{ fontSize: 19, color: '#546779', lineHeight: 1.7 }}&gt;同一模型可以出现在多个产品；同一产品也可以采用多个模型。&lt;/Text&gt;&#10;&#10;        &lt;Box style={{ marginTop: 8, flexDirection: 'column', gap: 8 }}&gt;&#10;            &lt;Box style={{ width: 420, height: 46, background: '#EDF4FC', borderRadius: 6, justifyContent: 'center', paddingLeft: 18 }}&gt;&#10;                &lt;Text style={{ fontSize: 15, color: '#276FBF' }}&gt;模型　·　模型服务&lt;/Text&gt;&#10;            &lt;/Box&gt;&#10;            &lt;Box style={{ marginLeft: 40, width: 420, height: 46, background: '#ECF7F2', borderRadius: 6, justifyContent: 'center', paddingLeft: 18 }}&gt;&#10;                &lt;Text style={{ fontSize: 15, color: '#26816B' }}&gt;产品　·　模型快照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2 从模型到应用&lt;/Text&gt;&#10;        &lt;Text style={{ fontSize: 14, color: '#546779' }}&gt;14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609600" y="10287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14375" y="113347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295400" y="120015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1.2.4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09600" y="17526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模型名称、服务与产品不是同一个东西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609600" y="268605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09600" y="291465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同一模型可以出现在多个产品；同一产品也可以采用多个模型。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609600" y="3552825"/>
            <a:ext cx="4000500" cy="438150"/>
          </a:xfrm>
          <a:prstGeom prst="roundRect">
            <a:avLst>
              <a:gd name="adj" fmla="val 130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81050" y="3686175"/>
            <a:ext cx="3829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模型　·　模型服务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990600" y="4067175"/>
            <a:ext cx="4000500" cy="438150"/>
          </a:xfrm>
          <a:prstGeom prst="roundRect">
            <a:avLst>
              <a:gd name="adj" fmla="val 130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162050" y="4200525"/>
            <a:ext cx="3829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产品　·　模型快照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从模型到应用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22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43" name="" descr="&lt;Slide notes={`先看前两个名字。模型，指的是执行推理的那个核心组件——它本身没有界面，也不负责保存文件。&#10;&#10;模型服务，指的是提供调用模型的接口。你发一个请求过去，它把结果返回给你。这里要记录的是请求日期、接口和配置，因为同一个模型在不同接口配置下，返回可能不一样。&#10;&#10;再看后两个。产品，是我们真正打开来用的那个东西，它组织了界面、文件、工具和任务体验。产品版本、有哪些工具、有什么权限，这些都要记下来。&#10;&#10;最后一个名字容易被忽略，叫模型快照。它是用来标识某个具体的模型状态的。这里要特别核对一件事：提供方有没有承诺把这个快照固定住，还是说它只是一个会随时更新的别名。&#10;&#10;四个名字分清楚了，记录才有意义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2.4　模型名称、服务与产品不是同一个东西&lt;/Text&gt;&#10;            &lt;Text style={{ fontSize: 34, fontWeight: 'bold', color: '#20344B' }}&gt;四个容易混用的名称&lt;/Text&gt;&#10;        &lt;/Box&gt;&#10;    &lt;/Box&gt;&#10;&#10;    &lt;Box style={{ height: 540, flexDirection: 'row', justifyContent: 'center', alignItems: 'center', gap: 32 }}&gt;&#10;&#10;        &lt;Box style={{ flex: 55, flexDirection: 'column', gap: 12 }}&gt;&#10;            &lt;Text style={{ fontSize: 22, fontWeight: 'bold', color: '#20344B' }}&gt;名称与含义&lt;/Text&gt;&#10;&#10;            &lt;Box style={{ flexDirection: 'row', height: 100, background: '#F4F7FA', borderRadius: 10, padding: '0 18px', alignItems: 'center', gap: 16 }}&gt;&#10;                &lt;Box style={{ width: 4, height: 58, background: '#276FBF' }} /&gt;&#10;                &lt;Box style={{ width: 128 }}&gt;&lt;Text style={{ fontSize: 20, fontWeight: 'bold', color: '#20344B' }}&gt;模型&lt;/Text&gt;&lt;/Box&gt;&#10;                &lt;Box style={{ flex: 1 }}&gt;&lt;Text style={{ fontSize: 16, color: '#546779', lineHeight: 1.6 }}&gt;执行推理的核心组件&lt;/Text&gt;&lt;/Box&gt;&#10;            &lt;/Box&gt;&#10;&#10;            &lt;Box style={{ flexDirection: 'row', height: 100, background: '#F4F7FA', borderRadius: 10, padding: '0 18px', alignItems: 'center', gap: 16 }}&gt;&#10;                &lt;Box style={{ width: 4, height: 58, background: '#276FBF' }} /&gt;&#10;                &lt;Box style={{ width: 128 }}&gt;&lt;Text style={{ fontSize: 20, fontWeight: 'bold', color: '#20344B' }}&gt;模型服务&lt;/Text&gt;&lt;/Box&gt;&#10;                &lt;Box style={{ flex: 1 }}&gt;&lt;Text style={{ fontSize: 16, color: '#546779', lineHeight: 1.6 }}&gt;提供调用模型的接口&lt;/Text&gt;&lt;/Box&gt;&#10;            &lt;/Box&gt;&#10;&#10;            &lt;Box style={{ flexDirection: 'row', height: 100, background: '#F4F7FA', borderRadius: 10, padding: '0 18px', alignItems: 'center', gap: 16 }}&gt;&#10;                &lt;Box style={{ width: 4, height: 58, background: '#26816B' }} /&gt;&#10;                &lt;Box style={{ width: 128 }}&gt;&lt;Text style={{ fontSize: 20, fontWeight: 'bold', color: '#20344B' }}&gt;产品&lt;/Text&gt;&lt;/Box&gt;&#10;                &lt;Box style={{ flex: 1 }}&gt;&lt;Text style={{ fontSize: 16, color: '#546779', lineHeight: 1.6 }}&gt;组织界面、文件、工具和任务体验&lt;/Text&gt;&lt;/Box&gt;&#10;            &lt;/Box&gt;&#10;&#10;            &lt;Box style={{ flexDirection: 'row', height: 100, background: '#FFF4E6', borderRadius: 10, padding: '0 18px', alignItems: 'center', gap: 16 }}&gt;&#10;                &lt;Box style={{ width: 4, height: 58, background: '#CB6B28' }} /&gt;&#10;                &lt;Box style={{ width: 128 }}&gt;&lt;Text style={{ fontSize: 20, fontWeight: 'bold', color: '#CB6B28' }}&gt;模型快照&lt;/Text&gt;&lt;/Box&gt;&#10;                &lt;Box style={{ flex: 1 }}&gt;&lt;Text style={{ fontSize: 16, color: '#546779', lineHeight: 1.6 }}&gt;标识某个具体模型状态&lt;/Text&gt;&lt;/Box&gt;&#10;            &lt;/Box&gt;&#10;        &lt;/Box&gt;&#10;&#10;        &lt;Box style={{ flex: 45, flexDirection: 'column', gap: 12 }}&gt;&#10;            &lt;Text style={{ fontSize: 22, fontWeight: 'bold', color: '#276FBF' }}&gt;评价时记录什么&lt;/Text&gt;&#10;&#10;            &lt;Box style={{ height: 100, background: '#EDF4FC', borderRadius: 10, padding: '0 18px', justifyContent: 'center' }}&gt;&#10;                &lt;Text style={{ fontSize: 16, color: '#20344B' }}&gt;精确标识、推理设置&lt;/Text&gt;&#10;            &lt;/Box&gt;&#10;&#10;            &lt;Box style={{ height: 100, background: '#EDF4FC', borderRadius: 10, padding: '0 18px', justifyContent: 'center' }}&gt;&#10;                &lt;Text style={{ fontSize: 16, color: '#20344B' }}&gt;请求日期、接口与配置&lt;/Text&gt;&#10;            &lt;/Box&gt;&#10;&#10;            &lt;Box style={{ height: 100, background: '#ECF7F2', borderRadius: 10, padding: '0 18px', justifyContent: 'center' }}&gt;&#10;                &lt;Text style={{ fontSize: 16, color: '#20344B' }}&gt;产品版本、工具与权限&lt;/Text&gt;&#10;            &lt;/Box&gt;&#10;&#10;            &lt;Box style={{ height: 100, background: '#FFF4E6', borderRadius: 10, padding: '0 18px', justifyContent: 'center' }}&gt;&#10;                &lt;Text style={{ fontSize: 16, color: '#CB6B28', lineHeight: 1.6 }}&gt;提供方是否承诺固定；是否只是更新别名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2 从模型到应用&lt;/Text&gt;&#10;        &lt;Text style={{ fontSize: 14, color: '#546779' }}&gt;15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1.2.4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模型名称、服务与产品不是同一个东西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四个容易混用的名称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09600" y="1457325"/>
            <a:ext cx="5867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名称与含义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609600" y="1828800"/>
            <a:ext cx="58674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0" name=""/>
          <p:cNvSpPr/>
          <p:nvPr/>
        </p:nvSpPr>
        <p:spPr>
          <a:xfrm rot="0" flipH="0" flipV="0">
            <a:off x="781050" y="2028825"/>
            <a:ext cx="38100" cy="5524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971550" y="2190750"/>
            <a:ext cx="1219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2343150" y="2162175"/>
            <a:ext cx="3962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执行推理的核心组件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609600" y="2895600"/>
            <a:ext cx="58674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781050" y="3095625"/>
            <a:ext cx="38100" cy="5524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971550" y="3257550"/>
            <a:ext cx="1219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模型服务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2343150" y="3228975"/>
            <a:ext cx="3962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提供调用模型的接口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609600" y="3962400"/>
            <a:ext cx="58674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781050" y="4162425"/>
            <a:ext cx="38100" cy="5524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971550" y="4324350"/>
            <a:ext cx="1219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产品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2343150" y="4295775"/>
            <a:ext cx="3962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组织界面、文件、工具和任务体验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09600" y="5029200"/>
            <a:ext cx="5867400" cy="9525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781050" y="5229225"/>
            <a:ext cx="38100" cy="5524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971550" y="5391150"/>
            <a:ext cx="1219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模型快照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2343150" y="5362575"/>
            <a:ext cx="3962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标识某个具体模型状态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781800" y="1457325"/>
            <a:ext cx="4800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评价时记录什么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6781800" y="1828800"/>
            <a:ext cx="480060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953250" y="2209800"/>
            <a:ext cx="4457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精确标识、推理设置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781800" y="2895600"/>
            <a:ext cx="480060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953250" y="3276600"/>
            <a:ext cx="4457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请求日期、接口与配置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6781800" y="3962400"/>
            <a:ext cx="4800600" cy="9525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953250" y="4343400"/>
            <a:ext cx="4457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产品版本、工具与权限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6781800" y="5029200"/>
            <a:ext cx="4800600" cy="9525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953250" y="5362575"/>
            <a:ext cx="44577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提供方是否承诺固定；是否只是更新别名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从模型到应用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22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76" name="" descr="&lt;Slide notes={`名字分清以后，还有三条实际的提醒。&#10;&#10;第一条，一个模型可以同时出现在多个产品里，一个产品也可能在不同时候采用不同的模型。所以&quot;我在某某软件里用的是某某模型&quot;这句话，只在一个具体时间点上成立。&#10;&#10;第二条，产品里那些看起来很像模型自带的能力，比如能访问网页、能保存文件、能记住上次聊过什么，很可能来自产品附加的功能。如果你直接去调用同名的模型接口，未必有这些能力。这一点非常容易被误会。&#10;&#10;第三条最实用。很多情况下，你根本拿不到精确的模型版本，页面上只有一个显示名。这时候不要硬写一个看起来精确的版本号，正确的是把显示名和观察日期记下来，同时说明它不是已固定的模型快照。&#10;&#10;记录的意义，是让别人能重复你的条件，而不是让记录看起来漂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2.4　模型名称、服务与产品不是同一个东西&lt;/Text&gt;&#10;            &lt;Text style={{ fontSize: 34, fontWeight: 'bold', color: '#20344B' }}&gt;记录不到，也要写清楚记录不到&lt;/Text&gt;&#10;        &lt;/Box&gt;&#10;    &lt;/Box&gt;&#10;&#10;    &lt;Box style={{ height: 540, flexDirection: 'row', gap: 40 }}&gt;&#10;&#10;        &lt;Box style={{ width: 340, flexDirection: 'column', justifyContent: 'center', gap: 16 }}&gt;&#10;            &lt;Text style={{ fontSize: 25, fontWeight: 'bold', color: '#276FBF', lineHeight: 1.45 }}&gt;把条件写清楚，别硬凑一个精确&lt;/Text&gt;&#10;            &lt;Box style={{ width: 56, height: 3, background: '#26816B' }} /&gt;&#10;            &lt;Text style={{ fontSize: 17, color: '#546779', lineHeight: 1.8 }}&gt;记录的目的，是让别人能够重复你当时看到的东西。&lt;/Text&gt;&#10;        &lt;/Box&gt;&#10;&#10;        &lt;Box style={{ flex: 1, flexDirection: 'column', justifyContent: 'center', gap: 14 }}&gt;&#10;&#10;            &lt;Box style={{ flexDirection: 'row', gap: 16, background: '#F4F7FA', borderRadius: 10, padding: '20px 22px' }}&gt;&#10;                &lt;Box style={{ width: 4, height: 80, background: '#276FBF' }} /&gt;&#10;                &lt;Box style={{ flex: 1, flexDirection: 'column', gap: 6 }}&gt;&#10;                    &lt;Text style={{ fontSize: 20, fontWeight: 'bold', color: '#20344B' }}&gt;模型与产品是多对多&lt;/Text&gt;&#10;                    &lt;Text style={{ fontSize: 16, color: '#546779', lineHeight: 1.65 }}&gt;同一模型可以出现在多个产品；同一产品也可以采用多个模型。&lt;/Text&gt;&#10;                &lt;/Box&gt;&#10;            &lt;/Box&gt;&#10;&#10;            &lt;Box style={{ flexDirection: 'row', gap: 16, background: '#FFF4E6', borderRadius: 10, padding: '20px 22px' }}&gt;&#10;                &lt;Box style={{ width: 4, height: 80, background: '#CB6B28' }} /&gt;&#10;                &lt;Box style={{ flex: 1, flexDirection: 'column', gap: 6 }}&gt;&#10;                    &lt;Text style={{ fontSize: 20, fontWeight: 'bold', color: '#CB6B28' }}&gt;附加能力未必自动带上&lt;/Text&gt;&#10;                    &lt;Text style={{ fontSize: 16, color: '#546779', lineHeight: 1.65 }}&gt;产品中的网页访问、文件保存和记忆可能来自附加能力，直接调用同名模型未必自带这些能力。&lt;/Text&gt;&#10;                &lt;/Box&gt;&#10;            &lt;/Box&gt;&#10;&#10;            &lt;Box style={{ flexDirection: 'row', gap: 16, background: '#FFF4E6', borderRadius: 10, padding: '20px 22px' }}&gt;&#10;                &lt;Box style={{ width: 4, height: 80, background: '#CB6B28' }} /&gt;&#10;                &lt;Box style={{ flex: 1, flexDirection: 'column', gap: 6 }}&gt;&#10;                    &lt;Text style={{ fontSize: 20, fontWeight: 'bold', color: '#CB6B28' }}&gt;只有显示名时怎么记&lt;/Text&gt;&#10;                    &lt;Text style={{ fontSize: 16, color: '#546779', lineHeight: 1.65 }}&gt;记录显示名与观察日期，不把它写成已固定的模型快照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2 从模型到应用&lt;/Text&gt;&#10;        &lt;Text style={{ fontSize: 14, color: '#546779' }}&gt;16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1.2.4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模型名称、服务与产品不是同一个东西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记录不到，也要写清楚记录不到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09600" y="2781300"/>
            <a:ext cx="32385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把条件写清楚，别硬凑一个精确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09600" y="376237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09600" y="3943350"/>
            <a:ext cx="3238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记录的目的，是让别人能够重复你当时看到的东西。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4229100" y="1866900"/>
            <a:ext cx="7353300" cy="11430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4438650" y="2057400"/>
            <a:ext cx="38100" cy="762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629150" y="2057400"/>
            <a:ext cx="674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模型与产品是多对多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4629150" y="2343150"/>
            <a:ext cx="67437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同一模型可以出现在多个产品；同一产品也可以采用多个模型。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4229100" y="3143250"/>
            <a:ext cx="7353300" cy="11430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4438650" y="3333750"/>
            <a:ext cx="38100" cy="762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629150" y="3333750"/>
            <a:ext cx="674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附加能力未必自动带上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629150" y="3619500"/>
            <a:ext cx="67437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产品中的网页访问、文件保存和记忆可能来自附加能力，直接调用同名模型未必自带这些能力。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4229100" y="4419600"/>
            <a:ext cx="7353300" cy="11430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4438650" y="4610100"/>
            <a:ext cx="38100" cy="762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629150" y="4610100"/>
            <a:ext cx="674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只有显示名时怎么记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629150" y="4895850"/>
            <a:ext cx="67437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记录显示名与观察日期，不把它写成已固定的模型快照。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从模型到应用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22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98" name="" descr="&lt;Slide notes={`接下来处理&quot;放在哪儿&quot;这个问题。&#10;&#10;同一个模型，它可以跑在你自己控制的机器上，也可以由远程服务来跑，还可以用开放权重的方式拿到参数文件，或者把不同任务分给不同的环境。这些选择带来的差别，不只是速度，还包括许可、数据流向和钱。&#10;&#10;这一段要把四种方式分清楚，并且看清楚每一种&quot;表面上解决了什么&quot;之后，还留着什么问题要核对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5&lt;/Text&gt;&#10;            &lt;/Box&gt;&#10;            &lt;Text style={{ fontSize: 16, color: '#546779' }}&gt;1.2.5&lt;/Text&gt;&#10;        &lt;/Box&gt;&#10;&#10;        &lt;Text style={{ fontSize: 56, fontWeight: 'bold', color: '#20344B', lineHeight: 1.15 }}&gt;开放权重、本地部署与云服务&lt;/Text&gt;&#10;&#10;        &lt;Box style={{ width: 640, height: 4, background: '#276FBF' }} /&gt;&#10;&#10;        &lt;Text style={{ fontSize: 19, color: '#546779', lineHeight: 1.7 }}&gt;东西放在哪里，改变的不只是速度，还有许可、数据与总成本。&lt;/Text&gt;&#10;&#10;        &lt;Box style={{ marginTop: 8, flexDirection: 'row', alignItems: 'center', gap: 14 }}&gt;&#10;            &lt;Box style={{ width: 240, height: 52, background: '#ECF7F2', borderRadius: 6, justifyContent: 'center', alignItems: 'center' }}&gt;&#10;                &lt;Text style={{ fontSize: 15, color: '#26816B' }}&gt;开放权重&lt;/Text&gt;&#10;            &lt;/Box&gt;&#10;            &lt;Box style={{ width: 240, height: 52, background: '#ECF7F2', borderRadius: 6, justifyContent: 'center', alignItems: 'center' }}&gt;&#10;                &lt;Text style={{ fontSize: 15, color: '#26816B' }}&gt;本地部署&lt;/Text&gt;&#10;            &lt;/Box&gt;&#10;            &lt;Box style={{ width: 240, height: 52, background: '#EDF4FC', borderRadius: 6, justifyContent: 'center', alignItems: 'center' }}&gt;&#10;                &lt;Text style={{ fontSize: 15, color: '#276FBF' }}&gt;云 API&lt;/Text&gt;&#10;            &lt;/Box&gt;&#10;            &lt;Box style={{ width: 240, height: 52, background: '#EDF4FC', borderRadius: 6, justifyContent: 'center', alignItems: 'center' }}&gt;&#10;                &lt;Text style={{ fontSize: 15, color: '#276FBF' }}&gt;混合使用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2 从模型到应用&lt;/Text&gt;&#10;        &lt;Text style={{ fontSize: 14, color: '#546779' }}&gt;17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0" name=""/>
          <p:cNvSpPr/>
          <p:nvPr/>
        </p:nvSpPr>
        <p:spPr>
          <a:xfrm rot="0" flipH="0" flipV="0">
            <a:off x="609600" y="12573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714375" y="136207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295400" y="142875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1.2.5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09600" y="19812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开放权重、本地部署与云服务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09600" y="291465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09600" y="314325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东西放在哪里，改变的不只是速度，还有许可、数据与总成本。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609600" y="3781425"/>
            <a:ext cx="2286000" cy="495300"/>
          </a:xfrm>
          <a:prstGeom prst="roundRect">
            <a:avLst>
              <a:gd name="adj" fmla="val 1153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466850" y="39433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开放权重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3028950" y="3781425"/>
            <a:ext cx="2286000" cy="495300"/>
          </a:xfrm>
          <a:prstGeom prst="roundRect">
            <a:avLst>
              <a:gd name="adj" fmla="val 1153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3886200" y="39433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本地部署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5448300" y="3781425"/>
            <a:ext cx="2286000" cy="495300"/>
          </a:xfrm>
          <a:prstGeom prst="roundRect">
            <a:avLst>
              <a:gd name="adj" fmla="val 1153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381750" y="3943350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云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 API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7867650" y="3781425"/>
            <a:ext cx="2286000" cy="495300"/>
          </a:xfrm>
          <a:prstGeom prst="roundRect">
            <a:avLst>
              <a:gd name="adj" fmla="val 1153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724900" y="39433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混合使用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从模型到应用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22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16" name="" descr="&lt;Slide notes={`四种方式一个一个看。&#10;&#10;开放权重，说的是可以按相应条件获得参数文件。但这里有一个很大的错觉要拆掉：拿到参数文件，不等于训练资料和全部权利都开放。要核对的是许可、训练资料的开放程度，以及使用权利的边界在哪里。&#10;&#10;本地部署，把推理放在自己控制的设备或环境里。它看上去解决了数据外流的问题，但要核对的东西反而更多：硬件够不够、内存够不够、安装和维护谁来做、数据在里面怎么流动、实测性能到底怎么样。&#10;&#10;云 API，由远程服务处理请求。要核对接口有哪些限制、数据是怎么约定的、网络条件如何、费用怎么算。&#10;&#10;混合使用，是把不同任务分给不同环境。这时候要分别看每一类任务的质量、数据要求和总成本。&#10;&#10;最后提醒一句：本地不天然更快、更准、更便宜。这些都要实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2.5　开放权重、本地部署与云服务&lt;/Text&gt;&#10;            &lt;Text style={{ fontSize: 34, fontWeight: 'bold', color: '#20344B' }}&gt;四种方式，各要核对什么&lt;/Text&gt;&#10;        &lt;/Box&gt;&#10;    &lt;/Box&gt;&#10;&#10;    &lt;Box style={{ height: 540, flexDirection: 'column', justifyContent: 'center', gap: 14 }}&gt;&#10;&#10;        &lt;Box style={{ flexDirection: 'row', gap: 32 }}&gt;&#10;            &lt;Box style={{ flex: 45 }}&gt;&lt;Text style={{ fontSize: 15, fontWeight: 'bold', color: '#546779' }}&gt;概念　·　说明了什么&lt;/Text&gt;&lt;/Box&gt;&#10;            &lt;Box style={{ flex: 55 }}&gt;&lt;Text style={{ fontSize: 15, fontWeight: 'bold', color: '#546779' }}&gt;还要核对什么&lt;/Text&gt;&lt;/Box&gt;&#10;        &lt;/Box&gt;&#10;&#10;        &lt;Box style={{ flexDirection: 'row', gap: 32, height: 92 }}&gt;&#10;&#10;            &lt;Box style={{ flex: 45, flexDirection: 'row', height: 92, background: '#F4F7FA', borderRadius: 10, padding: '0 18px', alignItems: 'center', gap: 14 }}&gt;&#10;                &lt;Box style={{ width: 4, height: 54, background: '#26816B' }} /&gt;&#10;                &lt;Box style={{ width: 108 }}&gt;&lt;Text style={{ fontSize: 19, fontWeight: 'bold', color: '#20344B' }}&gt;开放权重&lt;/Text&gt;&lt;/Box&gt;&#10;                &lt;Box style={{ flex: 1 }}&gt;&lt;Text style={{ fontSize: 15, color: '#546779', lineHeight: 1.55 }}&gt;可以按相应条件获得参数文件&lt;/Text&gt;&lt;/Box&gt;&#10;            &lt;/Box&gt;&#10;&#10;            &lt;Box style={{ flex: 55, height: 92, background: '#ECF7F2', borderRadius: 10, padding: '0 18px', justifyContent: 'center' }}&gt;&#10;                &lt;Text style={{ fontSize: 16, color: '#20344B', lineHeight: 1.55 }}&gt;许可、训练资料与使用权利开放到何种程度&lt;/Text&gt;&#10;            &lt;/Box&gt;&#10;&#10;        &lt;/Box&gt;&#10;&#10;        &lt;Box style={{ flexDirection: 'row', gap: 32, height: 92 }}&gt;&#10;&#10;            &lt;Box style={{ flex: 45, flexDirection: 'row', height: 92, background: '#F4F7FA', borderRadius: 10, padding: '0 18px', alignItems: 'center', gap: 14 }}&gt;&#10;                &lt;Box style={{ width: 4, height: 54, background: '#26816B' }} /&gt;&#10;                &lt;Box style={{ width: 108 }}&gt;&lt;Text style={{ fontSize: 19, fontWeight: 'bold', color: '#20344B' }}&gt;本地部署&lt;/Text&gt;&lt;/Box&gt;&#10;                &lt;Box style={{ flex: 1 }}&gt;&lt;Text style={{ fontSize: 15, color: '#546779', lineHeight: 1.55 }}&gt;在自己控制的设备或环境中推理&lt;/Text&gt;&lt;/Box&gt;&#10;            &lt;/Box&gt;&#10;&#10;            &lt;Box style={{ flex: 55, height: 92, background: '#ECF7F2', borderRadius: 10, padding: '0 18px', justifyContent: 'center' }}&gt;&#10;                &lt;Text style={{ fontSize: 16, color: '#20344B', lineHeight: 1.55 }}&gt;硬件、内存、安装、维护、数据流与实测性能&lt;/Text&gt;&#10;            &lt;/Box&gt;&#10;&#10;        &lt;/Box&gt;&#10;&#10;        &lt;Box style={{ flexDirection: 'row', gap: 32, height: 92 }}&gt;&#10;&#10;            &lt;Box style={{ flex: 45, flexDirection: 'row', height: 92, background: '#F4F7FA', borderRadius: 10, padding: '0 18px', alignItems: 'center', gap: 14 }}&gt;&#10;                &lt;Box style={{ width: 4, height: 54, background: '#276FBF' }} /&gt;&#10;                &lt;Box style={{ width: 108 }}&gt;&lt;Text style={{ fontSize: 19, fontWeight: 'bold', color: '#20344B' }}&gt;云 API&lt;/Text&gt;&lt;/Box&gt;&#10;                &lt;Box style={{ flex: 1 }}&gt;&lt;Text style={{ fontSize: 15, color: '#546779', lineHeight: 1.55 }}&gt;由远程服务处理请求&lt;/Text&gt;&lt;/Box&gt;&#10;            &lt;/Box&gt;&#10;&#10;            &lt;Box style={{ flex: 55, height: 92, background: '#EDF4FC', borderRadius: 10, padding: '0 18px', justifyContent: 'center' }}&gt;&#10;                &lt;Text style={{ fontSize: 16, color: '#20344B', lineHeight: 1.55 }}&gt;接口限制、数据约定、网络条件与费用&lt;/Text&gt;&#10;            &lt;/Box&gt;&#10;&#10;        &lt;/Box&gt;&#10;&#10;        &lt;Box style={{ flexDirection: 'row', gap: 32, height: 92 }}&gt;&#10;&#10;            &lt;Box style={{ flex: 45, flexDirection: 'row', height: 92, background: '#F4F7FA', borderRadius: 10, padding: '0 18px', alignItems: 'center', gap: 14 }}&gt;&#10;                &lt;Box style={{ width: 4, height: 54, background: '#276FBF' }} /&gt;&#10;                &lt;Box style={{ width: 108 }}&gt;&lt;Text style={{ fontSize: 19, fontWeight: 'bold', color: '#20344B' }}&gt;混合使用&lt;/Text&gt;&lt;/Box&gt;&#10;                &lt;Box style={{ flex: 1 }}&gt;&lt;Text style={{ fontSize: 15, color: '#546779', lineHeight: 1.55 }}&gt;不同任务分配给不同环境&lt;/Text&gt;&lt;/Box&gt;&#10;            &lt;/Box&gt;&#10;&#10;            &lt;Box style={{ flex: 55, height: 92, background: '#EDF4FC', borderRadius: 10, padding: '0 18px', justifyContent: 'center' }}&gt;&#10;                &lt;Text style={{ fontSize: 16, color: '#20344B', lineHeight: 1.55 }}&gt;每类任务的质量、数据要求与总成本&lt;/Text&gt;&#10;            &lt;/Box&gt;&#10;&#10;        &lt;/Box&gt;&#10;&#10;        &lt;Box style={{ flexDirection: 'row', gap: 14, background: '#FFF4E6', borderRadius: 10, padding: '14px 20px', alignItems: 'center' }}&gt;&#10;            &lt;Box style={{ width: 3, height: 34, background: '#CB6B28' }} /&gt;&#10;            &lt;Text style={{ fontSize: 16, color: '#CB6B28', lineHeight: 1.6 }}&gt;开放权重不等于训练资料和全部权利都开放；本地也不天然更快、更准或更便宜。&lt;/Text&gt;&#10;        &lt;/Box&gt;&#10;&#10;    &lt;/Box&gt;&#10;&#10;    &lt;Box style={{ height: 40, flexDirection: 'row', justifyContent: 'space-between', alignItems: 'center' }}&gt;&#10;        &lt;Text style={{ fontSize: 14, color: '#546779' }}&gt;1.2 从模型到应用&lt;/Text&gt;&#10;        &lt;Text style={{ fontSize: 14, color: '#546779' }}&gt;18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1.2.5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开放权重、本地部署与云服务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四种方式，各要核对什么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09600" y="1247775"/>
            <a:ext cx="4800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概念　·　说明了什么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715000" y="1247775"/>
            <a:ext cx="5867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还要核对什么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609600" y="1552575"/>
            <a:ext cx="48006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781050" y="1733550"/>
            <a:ext cx="38100" cy="5143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952500" y="1885950"/>
            <a:ext cx="1028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开放权重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2114550" y="1857375"/>
            <a:ext cx="31242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可以按相应条件获得参数文件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5715000" y="1552575"/>
            <a:ext cx="5867400" cy="876300"/>
          </a:xfrm>
          <a:prstGeom prst="roundRect">
            <a:avLst>
              <a:gd name="adj" fmla="val 1087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5886450" y="1847850"/>
            <a:ext cx="55245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许可、训练资料与使用权利开放到何种程度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609600" y="2562225"/>
            <a:ext cx="48006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0" name=""/>
          <p:cNvSpPr/>
          <p:nvPr/>
        </p:nvSpPr>
        <p:spPr>
          <a:xfrm rot="0" flipH="0" flipV="0">
            <a:off x="781050" y="2743200"/>
            <a:ext cx="38100" cy="5143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952500" y="2895600"/>
            <a:ext cx="1028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本地部署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2114550" y="2867025"/>
            <a:ext cx="31242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在自己控制的设备或环境中推理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5715000" y="2562225"/>
            <a:ext cx="5867400" cy="876300"/>
          </a:xfrm>
          <a:prstGeom prst="roundRect">
            <a:avLst>
              <a:gd name="adj" fmla="val 1087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5886450" y="2857500"/>
            <a:ext cx="55245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硬件、内存、安装、维护、数据流与实测性能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609600" y="3571875"/>
            <a:ext cx="48006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781050" y="3752850"/>
            <a:ext cx="38100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952500" y="3905250"/>
            <a:ext cx="1028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云</a:t>
            </a:r>
            <a:r>
              <a:rPr lang="en-US" sz="14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API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2114550" y="3876675"/>
            <a:ext cx="31242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由远程服务处理请求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5715000" y="3571875"/>
            <a:ext cx="58674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5886450" y="3867150"/>
            <a:ext cx="55245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接口限制、数据约定、网络条件与费用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09600" y="4581525"/>
            <a:ext cx="48006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781050" y="4762500"/>
            <a:ext cx="38100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952500" y="4914900"/>
            <a:ext cx="1028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混合使用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2114550" y="4886325"/>
            <a:ext cx="31242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不同任务分配给不同环境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5715000" y="4581525"/>
            <a:ext cx="58674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5886450" y="4876800"/>
            <a:ext cx="55245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每类任务的质量、数据要求与总成本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609600" y="5591175"/>
            <a:ext cx="10972800" cy="590550"/>
          </a:xfrm>
          <a:prstGeom prst="roundRect">
            <a:avLst>
              <a:gd name="adj" fmla="val 161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48" name=""/>
          <p:cNvSpPr/>
          <p:nvPr/>
        </p:nvSpPr>
        <p:spPr>
          <a:xfrm rot="0" flipH="0" flipV="0">
            <a:off x="800100" y="5724525"/>
            <a:ext cx="28575" cy="3238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962025" y="5743575"/>
            <a:ext cx="5486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开放权重不等于训练资料和全部权利都开放；本地也不天然更快、更准或更便宜。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从模型到应用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22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52" name="" descr="&lt;Slide notes={`四种方式摆在一起，怎么选？有一个顺序，而且顺序不能颠倒。&#10;&#10;第一步，先问任务到底能不能完成。这一点必须先确认。如果这件事现在根本做不到，后面比价格、比部署方式都没有意义。&#10;&#10;第二步，看数据与部署要求。数据能不能离开本地，有没有合规上的硬约束，环境有没有部署限制。这一步经常直接淘汰掉一批选项。&#10;&#10;第三步，才轮到时间和总成本。而且是满足前两步条件的那些选项，才拿来比。比的时候要把账算全：失败重试要花钱，检索要花钱，等工具返回的时间也是成本，长期的维护同样要算进去。&#10;&#10;这三步的顺序为什么重要？因为一旦你从第三步开始比，很容易被一个便宜的价格吸引，最后发现它连第一步都过不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2.5　开放权重、本地部署与云服务&lt;/Text&gt;&#10;            &lt;Text style={{ fontSize: 34, fontWeight: 'bold', color: '#20344B' }}&gt;选型的三步顺序&lt;/Text&gt;&#10;        &lt;/Box&gt;&#10;    &lt;/Box&gt;&#10;&#10;    &lt;Box style={{ height: 540, flexDirection: 'column', justifyContent: 'center', gap: 22 }}&gt;&#10;&#10;        &lt;Box style={{ flexDirection: 'row', justifyContent: 'center', alignItems: 'center', gap: 18 }}&gt;&#10;&#10;            &lt;Box style={{ width: 330, height: 250, background: '#EDF4FC', borderRadius: 12, padding: 22, flexDirection: 'column', gap: 10 }}&gt;&#10;                &lt;Text style={{ fontSize: 76, fontWeight: 'bold', color: '#276FBF', lineHeight: 1 }}&gt;01&lt;/Text&gt;&#10;                &lt;Text style={{ fontSize: 22, fontWeight: 'bold', color: '#20344B' }}&gt;任务能否完成&lt;/Text&gt;&#10;                &lt;Box style={{ flex: 1 }} /&gt;&#10;                &lt;Text style={{ fontSize: 16, color: '#546779', lineHeight: 1.6 }}&gt;这件事现在做不做得成，是第一道门槛。&lt;/Text&gt;&#10;            &lt;/Box&gt;&#10;&#10;            &lt;Box style={{ width: 44, alignItems: 'center', justifyContent: 'center' }}&gt;&lt;Text style={{ fontSize: 32, color: '#276FBF' }}&gt;›&lt;/Text&gt;&lt;/Box&gt;&#10;&#10;            &lt;Box style={{ width: 330, height: 250, background: '#EDF4FC', borderRadius: 12, padding: 22, flexDirection: 'column', gap: 10 }}&gt;&#10;                &lt;Text style={{ fontSize: 76, fontWeight: 'bold', color: '#276FBF', lineHeight: 1 }}&gt;02&lt;/Text&gt;&#10;                &lt;Text style={{ fontSize: 22, fontWeight: 'bold', color: '#20344B' }}&gt;数据与部署要求&lt;/Text&gt;&#10;                &lt;Box style={{ flex: 1 }} /&gt;&#10;                &lt;Text style={{ fontSize: 16, color: '#546779', lineHeight: 1.6 }}&gt;数据能不能出本地，环境有没有硬约束。&lt;/Text&gt;&#10;            &lt;/Box&gt;&#10;&#10;            &lt;Box style={{ width: 44, alignItems: 'center', justifyContent: 'center' }}&gt;&lt;Text style={{ fontSize: 32, color: '#276FBF' }}&gt;›&lt;/Text&gt;&lt;/Box&gt;&#10;&#10;            &lt;Box style={{ width: 330, height: 250, background: '#ECF7F2', borderRadius: 12, padding: 22, flexDirection: 'column', gap: 10 }}&gt;&#10;                &lt;Text style={{ fontSize: 76, fontWeight: 'bold', color: '#26816B', lineHeight: 1 }}&gt;03&lt;/Text&gt;&#10;                &lt;Text style={{ fontSize: 22, fontWeight: 'bold', color: '#20344B' }}&gt;时间与总成本&lt;/Text&gt;&#10;                &lt;Box style={{ flex: 1 }} /&gt;&#10;                &lt;Text style={{ fontSize: 16, color: '#546779', lineHeight: 1.6 }}&gt;只比已经满足前两步条件的选项。&lt;/Text&gt;&#10;            &lt;/Box&gt;&#10;&#10;        &lt;/Box&gt;&#10;&#10;        &lt;Box style={{ flexDirection: 'row', gap: 14, background: '#FFF4E6', borderRadius: 10, padding: '16px 22px', alignItems: 'center' }}&gt;&#10;            &lt;Box style={{ width: 3, height: 40, background: '#CB6B28' }} /&gt;&#10;            &lt;Text style={{ fontSize: 16, color: '#CB6B28', lineHeight: 1.6 }}&gt;费用中还要计入失败重试、检索、工具等待和维护；本地也不天然更快、更准或更便宜。&lt;/Text&gt;&#10;        &lt;/Box&gt;&#10;&#10;    &lt;/Box&gt;&#10;&#10;    &lt;Box style={{ height: 40, flexDirection: 'row', justifyContent: 'space-between', alignItems: 'center' }}&gt;&#10;        &lt;Text style={{ fontSize: 14, color: '#546779' }}&gt;1.2 从模型到应用&lt;/Text&gt;&#10;        &lt;Text style={{ fontSize: 14, color: '#546779' }}&gt;19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1.2.5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开放权重、本地部署与云服务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选型的三步顺序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619125" y="2076450"/>
            <a:ext cx="3143250" cy="2381250"/>
          </a:xfrm>
          <a:prstGeom prst="roundRect">
            <a:avLst>
              <a:gd name="adj" fmla="val 48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828675" y="2286000"/>
            <a:ext cx="27241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76FB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28675" y="3257550"/>
            <a:ext cx="2724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任务能否完成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28675" y="3705225"/>
            <a:ext cx="27241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这件事现在做不做得成，是第一道门槛。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4086225" y="3086100"/>
            <a:ext cx="1143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4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4524375" y="2076450"/>
            <a:ext cx="3143250" cy="2381250"/>
          </a:xfrm>
          <a:prstGeom prst="roundRect">
            <a:avLst>
              <a:gd name="adj" fmla="val 48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4733925" y="2286000"/>
            <a:ext cx="27241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76FB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4733925" y="3257550"/>
            <a:ext cx="2724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数据与部署要求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4733925" y="3705225"/>
            <a:ext cx="27241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数据能不能出本地，环境有没有硬约束。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991475" y="3086100"/>
            <a:ext cx="1143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4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8429625" y="2076450"/>
            <a:ext cx="3143250" cy="2381250"/>
          </a:xfrm>
          <a:prstGeom prst="roundRect">
            <a:avLst>
              <a:gd name="adj" fmla="val 48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639175" y="2286000"/>
            <a:ext cx="27241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6816B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639175" y="3257550"/>
            <a:ext cx="2724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时间与总成本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8639175" y="3952875"/>
            <a:ext cx="27241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只比已经满足前两步条件的选项。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609600" y="466725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72" name=""/>
          <p:cNvSpPr/>
          <p:nvPr/>
        </p:nvSpPr>
        <p:spPr>
          <a:xfrm rot="0" flipH="0" flipV="0">
            <a:off x="819150" y="4819650"/>
            <a:ext cx="28575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981075" y="4867275"/>
            <a:ext cx="59436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费用中还要计入失败重试、检索、工具等待和维护；本地也不天然更快、更准或更便宜。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从模型到应用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22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10" name="" descr="&lt;Slide notes={`最后一段，给一个可以反复用的方法。&#10;&#10;我们平时遇到问题，第一反应往往是换一个模型试试。但同一个现象，背后的原因可能出在完全不同的层。换模型可能碰巧好了，也可能什么都没解决，还白白花了时间。&#10;&#10;所以这段要练的是另一个动作：先别急着换，先想清楚&quot;如果我把这一层换掉，结果会不会变&quot;。这个反问能帮你定位问题到底在哪一层。&#10;&#10;而且做对照的时候，每次尽量只改变一个因素。同时改两个，就算结果变好了，你也说不清是哪一个起了作用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6&lt;/Text&gt;&#10;            &lt;/Box&gt;&#10;            &lt;Text style={{ fontSize: 16, color: '#546779' }}&gt;1.2.6&lt;/Text&gt;&#10;        &lt;/Box&gt;&#10;&#10;        &lt;Text style={{ fontSize: 56, fontWeight: 'bold', color: '#20344B', lineHeight: 1.15 }}&gt;换掉哪一层，结果会改变&lt;/Text&gt;&#10;&#10;        &lt;Box style={{ width: 640, height: 4, background: '#276FBF' }} /&gt;&#10;&#10;        &lt;Text style={{ fontSize: 19, color: '#546779', lineHeight: 1.7 }}&gt;同一个错误现象，可能来自完全不同的层。每次尽量只改变一个因素。&lt;/Text&gt;&#10;&#10;        &lt;Box style={{ marginTop: 8, flexDirection: 'row', alignItems: 'center', gap: 14 }}&gt;&#10;            &lt;Box style={{ width: 270, height: 52, background: '#FFF4E6', borderRadius: 6, justifyContent: 'center', paddingLeft: 18 }}&gt;&#10;                &lt;Text style={{ fontSize: 15, color: '#CB6B28' }}&gt;资料是否进入输入&lt;/Text&gt;&#10;            &lt;/Box&gt;&#10;            &lt;Box style={{ width: 270, height: 52, background: '#FFF4E6', borderRadius: 6, justifyContent: 'center', paddingLeft: 18 }}&gt;&#10;                &lt;Text style={{ fontSize: 15, color: '#CB6B28' }}&gt;参数与调用过程&lt;/Text&gt;&#10;            &lt;/Box&gt;&#10;            &lt;Box style={{ width: 270, height: 52, background: '#FFF4E6', borderRadius: 6, justifyContent: 'center', paddingLeft: 18 }}&gt;&#10;                &lt;Text style={{ fontSize: 15, color: '#CB6B28' }}&gt;执行与交付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2 从模型到应用&lt;/Text&gt;&#10;        &lt;Text style={{ fontSize: 14, color: '#546779' }}&gt;20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609600" y="12573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714375" y="136207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295400" y="142875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1.2.6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09600" y="19812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换掉哪一层，结果会改变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609600" y="291465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609600" y="314325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同一个错误现象，可能来自完全不同的层。每次尽量只改变一个因素。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609600" y="3781425"/>
            <a:ext cx="2571750" cy="495300"/>
          </a:xfrm>
          <a:prstGeom prst="roundRect">
            <a:avLst>
              <a:gd name="adj" fmla="val 1153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781050" y="3943350"/>
            <a:ext cx="240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资料是否进入输入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3314700" y="3781425"/>
            <a:ext cx="2571750" cy="495300"/>
          </a:xfrm>
          <a:prstGeom prst="roundRect">
            <a:avLst>
              <a:gd name="adj" fmla="val 1153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3486150" y="3943350"/>
            <a:ext cx="240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参数与调用过程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6019800" y="3781425"/>
            <a:ext cx="2571750" cy="495300"/>
          </a:xfrm>
          <a:prstGeom prst="roundRect">
            <a:avLst>
              <a:gd name="adj" fmla="val 1153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191250" y="3943350"/>
            <a:ext cx="240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执行与交付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从模型到应用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22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26" name="" descr="&lt;Slide notes={`把刚才的思路变成一个可以查的动作：从现象倒推。&#10;&#10;第一个现象，任务从头到尾没收到房间表。这时候先查的是资料有没有进入输入，对照方法是同一个模型、一个有规则材料、一个没有，看差别在哪。&#10;&#10;第二个现象，它查了，但查的是错误的日期。这说明资料进来了、工具也调了，问题出在参数和调用过程。对照的方法是材料不变，专门核对工具输入。&#10;&#10;第三个现象最有意思，资料齐全，还是漏掉了容量。这时候要查的是提示怎么写、约束有没有被整理清楚，以及模型本身的表现。对照方法是工具不动，另外加一道独立的校验。&#10;&#10;第四个现象，方案是对的，但没保存下来。那要查执行与交付这一环，去看保存结果和实际文件。&#10;&#10;每次尽量只改变一个因素，才能说清改进是从哪里来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2.6　一个有用的反问：换掉哪一层，结果会改变&lt;/Text&gt;&#10;            &lt;Text style={{ fontSize: 34, fontWeight: 'bold', color: '#20344B' }}&gt;从现象倒推要查哪一层&lt;/Text&gt;&#10;        &lt;/Box&gt;&#10;    &lt;/Box&gt;&#10;&#10;    &lt;Box style={{ height: 540, flexDirection: 'column', justifyContent: 'center', gap: 11 }}&gt;&#10;&#10;        &lt;Box style={{ flexDirection: 'row', padding: '0 18px', gap: 16 }}&gt;&#10;            &lt;Box style={{ width: 280 }}&gt;&lt;Text style={{ fontSize: 14, color: '#546779' }}&gt;观察到的问题&lt;/Text&gt;&lt;/Box&gt;&#10;            &lt;Box style={{ flex: 1 }}&gt;&lt;Text style={{ fontSize: 14, color: '#546779' }}&gt;先查哪里&lt;/Text&gt;&lt;/Box&gt;&#10;            &lt;Box style={{ width: 320 }}&gt;&lt;Text style={{ fontSize: 14, color: '#546779' }}&gt;可以怎样做对照&lt;/Text&gt;&lt;/Box&gt;&#10;        &lt;/Box&gt;&#10;&#10;        &lt;Box style={{ flexDirection: 'row', height: 94, background: '#F4F7FA', borderRadius: 10, padding: '0 18px', alignItems: 'center', gap: 16 }}&gt;&#10;            &lt;Box style={{ width: 280 }}&gt;&lt;Text style={{ fontSize: 17, fontWeight: 'bold', color: '#20344B' }}&gt;从未收到房间表&lt;/Text&gt;&lt;/Box&gt;&#10;            &lt;Box style={{ flex: 1 }}&gt;&lt;Text style={{ fontSize: 16, color: '#276FBF', lineHeight: 1.6 }}&gt;资料是否进入输入&lt;/Text&gt;&lt;/Box&gt;&#10;            &lt;Box style={{ width: 320 }}&gt;&lt;Text style={{ fontSize: 16, color: '#546779', lineHeight: 1.6 }}&gt;同模型，有无规则材料&lt;/Text&gt;&lt;/Box&gt;&#10;        &lt;/Box&gt;&#10;&#10;        &lt;Box style={{ flexDirection: 'row', height: 94, background: '#F4F7FA', borderRadius: 10, padding: '0 18px', alignItems: 'center', gap: 16 }}&gt;&#10;            &lt;Box style={{ width: 280 }}&gt;&lt;Text style={{ fontSize: 17, fontWeight: 'bold', color: '#20344B' }}&gt;查询了错误日期&lt;/Text&gt;&lt;/Box&gt;&#10;            &lt;Box style={{ flex: 1 }}&gt;&lt;Text style={{ fontSize: 16, color: '#276FBF', lineHeight: 1.6 }}&gt;参数与调用过程&lt;/Text&gt;&lt;/Box&gt;&#10;            &lt;Box style={{ width: 320 }}&gt;&lt;Text style={{ fontSize: 16, color: '#546779', lineHeight: 1.6 }}&gt;同材料，核对工具输入&lt;/Text&gt;&lt;/Box&gt;&#10;        &lt;/Box&gt;&#10;&#10;        &lt;Box style={{ flexDirection: 'row', height: 94, background: '#F4F7FA', borderRadius: 10, padding: '0 18px', alignItems: 'center', gap: 16 }}&gt;&#10;            &lt;Box style={{ width: 280 }}&gt;&lt;Text style={{ fontSize: 17, fontWeight: 'bold', color: '#20344B' }}&gt;资料齐全仍漏容量&lt;/Text&gt;&lt;/Box&gt;&#10;            &lt;Box style={{ flex: 1 }}&gt;&lt;Text style={{ fontSize: 16, color: '#276FBF', lineHeight: 1.6 }}&gt;提示、约束整理与模型表现&lt;/Text&gt;&lt;/Box&gt;&#10;            &lt;Box style={{ width: 320 }}&gt;&lt;Text style={{ fontSize: 16, color: '#546779', lineHeight: 1.6 }}&gt;工具不变，加入独立校验&lt;/Text&gt;&lt;/Box&gt;&#10;        &lt;/Box&gt;&#10;&#10;        &lt;Box style={{ flexDirection: 'row', height: 94, background: '#F4F7FA', borderRadius: 10, padding: '0 18px', alignItems: 'center', gap: 16 }}&gt;&#10;            &lt;Box style={{ width: 280 }}&gt;&lt;Text style={{ fontSize: 17, fontWeight: 'bold', color: '#20344B' }}&gt;方案正确但没保存&lt;/Text&gt;&lt;/Box&gt;&#10;            &lt;Box style={{ flex: 1 }}&gt;&lt;Text style={{ fontSize: 16, color: '#276FBF', lineHeight: 1.6 }}&gt;执行与交付&lt;/Text&gt;&lt;/Box&gt;&#10;            &lt;Box style={{ width: 320 }}&gt;&lt;Text style={{ fontSize: 16, color: '#546779', lineHeight: 1.6 }}&gt;查保存结果和实际文件&lt;/Text&gt;&lt;/Box&gt;&#10;        &lt;/Box&gt;&#10;&#10;        &lt;Box style={{ flexDirection: 'row', gap: 14, background: '#FFF4E6', borderRadius: 10, padding: '14px 20px', alignItems: 'center' }}&gt;&#10;            &lt;Box style={{ width: 3, height: 36, background: '#CB6B28' }} /&gt;&#10;            &lt;Text style={{ fontSize: 16, color: '#CB6B28', lineHeight: 1.6 }}&gt;每次尽量只改变一个因素，才能解释改进来自哪里。下一节把&quot;符合约束&quot;&quot;准确&quot;&quot;可靠&quot;转成可以计算的指标。&lt;/Text&gt;&#10;        &lt;/Box&gt;&#10;&#10;    &lt;/Box&gt;&#10;&#10;    &lt;Box style={{ height: 40, flexDirection: 'row', justifyContent: 'space-between', alignItems: 'center' }}&gt;&#10;        &lt;Text style={{ fontSize: 14, color: '#546779' }}&gt;1.2 从模型到应用&lt;/Text&gt;&#10;        &lt;Text style={{ fontSize: 14, color: '#546779' }}&gt;21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一个有用的反问：换掉哪一层，结果会改变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从现象倒推要查哪一层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781050" y="1276350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观察到的问题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3600450" y="1276350"/>
            <a:ext cx="461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先查哪里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8362950" y="127635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可以怎样做对照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609600" y="1543050"/>
            <a:ext cx="10972800" cy="895350"/>
          </a:xfrm>
          <a:prstGeom prst="roundRect">
            <a:avLst>
              <a:gd name="adj" fmla="val 1063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781050" y="1895475"/>
            <a:ext cx="266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从未收到房间表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3600450" y="1847850"/>
            <a:ext cx="4610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资料是否进入输入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8362950" y="1847850"/>
            <a:ext cx="3048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同模型，有无规则材料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609600" y="2543175"/>
            <a:ext cx="10972800" cy="895350"/>
          </a:xfrm>
          <a:prstGeom prst="roundRect">
            <a:avLst>
              <a:gd name="adj" fmla="val 1063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781050" y="2895600"/>
            <a:ext cx="266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查询了错误日期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3600450" y="2847975"/>
            <a:ext cx="4610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参数与调用过程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8362950" y="2847975"/>
            <a:ext cx="3048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同材料，核对工具输入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609600" y="3543300"/>
            <a:ext cx="10972800" cy="895350"/>
          </a:xfrm>
          <a:prstGeom prst="roundRect">
            <a:avLst>
              <a:gd name="adj" fmla="val 1063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781050" y="3895725"/>
            <a:ext cx="266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资料齐全仍漏容量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3600450" y="3848100"/>
            <a:ext cx="4610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提示、约束整理与模型表现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8362950" y="3848100"/>
            <a:ext cx="3048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工具不变，加入独立校验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609600" y="4543425"/>
            <a:ext cx="10972800" cy="895350"/>
          </a:xfrm>
          <a:prstGeom prst="roundRect">
            <a:avLst>
              <a:gd name="adj" fmla="val 1063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781050" y="4895850"/>
            <a:ext cx="266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方案正确但没保存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3600450" y="4848225"/>
            <a:ext cx="4610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执行与交付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8362950" y="4848225"/>
            <a:ext cx="3048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查保存结果和实际文件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609600" y="5543550"/>
            <a:ext cx="10972800" cy="609600"/>
          </a:xfrm>
          <a:prstGeom prst="roundRect">
            <a:avLst>
              <a:gd name="adj" fmla="val 1562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51" name=""/>
          <p:cNvSpPr/>
          <p:nvPr/>
        </p:nvSpPr>
        <p:spPr>
          <a:xfrm rot="0" flipH="0" flipV="0">
            <a:off x="800100" y="5676900"/>
            <a:ext cx="28575" cy="342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962025" y="5705475"/>
            <a:ext cx="72580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每次尽量只改变一个因素，才能解释改进来自哪里。下一节把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符合约束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>""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准确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>""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可靠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转成可以计算的指标。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从模型到应用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22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355" name="" descr="&lt;Slide notes={`这一节讲完了，最后留下三个反问。以后你看到任何一个&quot;AI 做得很好&quot;或者&quot;AI 做得很差&quot;的结论，都可以拿这三个问题去问一遍。&#10;&#10;第一个问题，它拿到了什么资料？资料有没有真的进入这次输入，来源清不清楚，是不是有效的。&#10;&#10;第二个问题，它能调用什么工具？谁提出请求，谁实际执行，它被允许做什么，边界在哪里。&#10;&#10;第三个问题，谁来检查结果？什么时候算完成，靠哪条证据支持这个&quot;完成&quot;，出了问题由谁处理。&#10;&#10;这三个问题的作用，是把&quot;这个 AI 行不行&quot;这种笼统的判断，拆成可以逐个核对的条件。&#10;&#10;顺便预告一下下一节：我们讲了这么多&quot;符合约束&quot;&quot;准确&quot;&quot;可靠&quot;，接下来要把这些词变成可以计算、可以比较的指标。`} style={{ width: 1280, height: 720, background: '#FFFFFF', flexDirection: 'column', padding: '20px 64px' }}&gt;&#10;&#10;    &lt;Box style={{ height: 540, flexDirection: 'row', justifyContent: 'center', alignItems: 'center', gap: 48 }}&gt;&#10;&#10;        &lt;Box style={{ width: 400, flexDirection: 'column', gap: 16 }}&gt;&#10;            &lt;Text style={{ fontSize: 15, color: '#546779' }}&gt;1.2　小结&lt;/Text&gt;&#10;            &lt;Text style={{ fontSize: 44, fontWeight: 'bold', color: '#20344B', lineHeight: 1.25 }}&gt;记住三个反问&lt;/Text&gt;&#10;            &lt;Box style={{ width: 72, height: 4, background: '#276FBF' }} /&gt;&#10;            &lt;Text style={{ fontSize: 17, color: '#546779', lineHeight: 1.8 }}&gt;能力不只来自模型，还来自它周围的资料、工具与校验。判断之前，先把这张条件表问一遍。&lt;/Text&gt;&#10;        &lt;/Box&gt;&#10;&#10;        &lt;Box style={{ flex: 1, flexDirection: 'column', gap: 14 }}&gt;&#10;&#10;            &lt;Box style={{ flexDirection: 'row', gap: 16, height: 106, background: '#EDF4FC', borderRadius: 12, padding: '0 22px', alignItems: 'center' }}&gt;&#10;                &lt;Box style={{ width: 46, height: 46, borderRadius: 8, background: '#276FBF', justifyContent: 'center', alignItems: 'center' }}&gt;&#10;                    &lt;Text style={{ fontSize: 22, fontWeight: 'bold', color: '#FFFFFF' }}&gt;1&lt;/Text&gt;&#10;                &lt;/Box&gt;&#10;                &lt;Box style={{ flex: 1, flexDirection: 'column', gap: 4 }}&gt;&#10;                    &lt;Text style={{ fontSize: 21, fontWeight: 'bold', color: '#20344B' }}&gt;它拿到了什么资料？&lt;/Text&gt;&#10;                    &lt;Text style={{ fontSize: 15, color: '#546779' }}&gt;资料是否进入输入，来源与有效时间是否明确&lt;/Text&gt;&#10;                &lt;/Box&gt;&#10;            &lt;/Box&gt;&#10;&#10;            &lt;Box style={{ flexDirection: 'row', gap: 16, height: 106, background: '#EDF4FC', borderRadius: 12, padding: '0 22px', alignItems: 'center' }}&gt;&#10;                &lt;Box style={{ width: 46, height: 46, borderRadius: 8, background: '#276FBF', justifyContent: 'center', alignItems: 'center' }}&gt;&#10;                    &lt;Text style={{ fontSize: 22, fontWeight: 'bold', color: '#FFFFFF' }}&gt;2&lt;/Text&gt;&#10;                &lt;/Box&gt;&#10;                &lt;Box style={{ flex: 1, flexDirection: 'column', gap: 4 }}&gt;&#10;                    &lt;Text style={{ fontSize: 21, fontWeight: 'bold', color: '#20344B' }}&gt;它能调用什么工具？&lt;/Text&gt;&#10;                    &lt;Text style={{ fontSize: 15, color: '#546779' }}&gt;谁提出请求、谁实际执行，权限边界在哪里&lt;/Text&gt;&#10;                &lt;/Box&gt;&#10;            &lt;/Box&gt;&#10;&#10;            &lt;Box style={{ flexDirection: 'row', gap: 16, height: 106, background: '#FFF4E6', borderRadius: 12, padding: '0 22px', alignItems: 'center' }}&gt;&#10;                &lt;Box style={{ width: 46, height: 46, borderRadius: 8, background: '#CB6B28', justifyContent: 'center', alignItems: 'center' }}&gt;&#10;                    &lt;Text style={{ fontSize: 22, fontWeight: 'bold', color: '#FFFFFF' }}&gt;3&lt;/Text&gt;&#10;                &lt;/Box&gt;&#10;                &lt;Box style={{ flex: 1, flexDirection: 'column', gap: 4 }}&gt;&#10;                    &lt;Text style={{ fontSize: 21, fontWeight: 'bold', color: '#CB6B28' }}&gt;谁来检查结果？&lt;/Text&gt;&#10;                    &lt;Text style={{ fontSize: 15, color: '#546779' }}&gt;哪条证据支持&quot;完成&quot;，失败由谁处理&lt;/Text&gt;&#10;                &lt;/Box&gt;&#10;            &lt;/Box&gt;&#10;&#10;            &lt;Box style={{ flexDirection: 'row', alignItems: 'center', gap: 12, paddingTop: 6 }}&gt;&#10;                &lt;Box style={{ width: 3, height: 26, background: '#26816B' }} /&gt;&#10;                &lt;Text style={{ fontSize: 16, color: '#546779' }}&gt;下一节　1.3　怎样把&quot;聪明&quot;变成可测量的问题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2 从模型到应用&lt;/Text&gt;&#10;        &lt;Text style={{ fontSize: 14, color: '#546779' }}&gt;22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09600" y="1762125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1.2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小结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609600" y="2085975"/>
            <a:ext cx="3810000" cy="6286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20344B"/>
                </a:solidFill>
                <a:latin typeface="Microsoft YaHei"/>
                <a:ea typeface="Microsoft YaHei"/>
              </a:rPr>
              <a:t>记住三个反问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609600" y="28670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09600" y="3057525"/>
            <a:ext cx="38100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能力不只来自模型，还来自它周围的资料、工具与校验。判断之前，先把这张条件表问一遍。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4876800" y="895350"/>
            <a:ext cx="6705600" cy="1009650"/>
          </a:xfrm>
          <a:prstGeom prst="roundRect">
            <a:avLst>
              <a:gd name="adj" fmla="val 113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2" name=""/>
          <p:cNvSpPr/>
          <p:nvPr/>
        </p:nvSpPr>
        <p:spPr>
          <a:xfrm rot="0" flipH="0" flipV="0">
            <a:off x="5086350" y="11811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5238750" y="12763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5676900" y="1171575"/>
            <a:ext cx="5695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它拿到了什么资料？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5676900" y="1457325"/>
            <a:ext cx="569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资料是否进入输入，来源与有效时间是否明确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4876800" y="2038350"/>
            <a:ext cx="6705600" cy="1009650"/>
          </a:xfrm>
          <a:prstGeom prst="roundRect">
            <a:avLst>
              <a:gd name="adj" fmla="val 113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7" name=""/>
          <p:cNvSpPr/>
          <p:nvPr/>
        </p:nvSpPr>
        <p:spPr>
          <a:xfrm rot="0" flipH="0" flipV="0">
            <a:off x="5086350" y="23241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5238750" y="24193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5676900" y="2314575"/>
            <a:ext cx="5695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它能调用什么工具？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5676900" y="2600325"/>
            <a:ext cx="569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谁提出请求、谁实际执行，权限边界在哪里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4876800" y="3181350"/>
            <a:ext cx="6705600" cy="1009650"/>
          </a:xfrm>
          <a:prstGeom prst="roundRect">
            <a:avLst>
              <a:gd name="adj" fmla="val 113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72" name=""/>
          <p:cNvSpPr/>
          <p:nvPr/>
        </p:nvSpPr>
        <p:spPr>
          <a:xfrm rot="0" flipH="0" flipV="0">
            <a:off x="5086350" y="34671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5238750" y="35623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5676900" y="3457575"/>
            <a:ext cx="5695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CB6B28"/>
                </a:solidFill>
                <a:latin typeface="Microsoft YaHei"/>
                <a:ea typeface="Microsoft YaHei"/>
              </a:rPr>
              <a:t>谁来检查结果？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5676900" y="3743325"/>
            <a:ext cx="569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哪条证据支持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完成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，失败由谁处理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4876800" y="4381500"/>
            <a:ext cx="28575" cy="247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5019675" y="4410075"/>
            <a:ext cx="3095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下一节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1.3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　怎样把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聪明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变成可测量的问题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从模型到应用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22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2026-09-29T02:18:47Z</dcterms:created>
  <dcterms:modified xsi:type="dcterms:W3CDTF">2026-09-29T02:18:47Z</dcterms:modified>
</cp:coreProperties>
</file>