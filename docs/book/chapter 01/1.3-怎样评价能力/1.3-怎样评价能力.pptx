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3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30" Type="http://schemas.openxmlformats.org/officeDocument/2006/relationships/slide" Target="slides/slide30.xml" /><Relationship Id="rId21" Type="http://schemas.openxmlformats.org/officeDocument/2006/relationships/slide" Target="slides/slide21.xml" /><Relationship Id="rId14" Type="http://schemas.openxmlformats.org/officeDocument/2006/relationships/slide" Target="slides/slide14.xml" /><Relationship Id="rId18" Type="http://schemas.openxmlformats.org/officeDocument/2006/relationships/slide" Target="slides/slide18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6" Type="http://schemas.openxmlformats.org/officeDocument/2006/relationships/slide" Target="slides/slide6.xml" /><Relationship Id="rId23" Type="http://schemas.openxmlformats.org/officeDocument/2006/relationships/slide" Target="slides/slide23.xml" /><Relationship Id="rId35" Type="http://schemas.openxmlformats.org/officeDocument/2006/relationships/viewProps" Target="viewProps.xml" /><Relationship Id="rId25" Type="http://schemas.openxmlformats.org/officeDocument/2006/relationships/slide" Target="slides/slide25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1" Type="http://schemas.openxmlformats.org/officeDocument/2006/relationships/slide" Target="slides/slide31.xml" /><Relationship Id="rId32" Type="http://schemas.openxmlformats.org/officeDocument/2006/relationships/notesMaster" Target="notesMasters/notesMaster1.xml" 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我们从一个具体的事说起。</a:t>
            </a:r>
          </a:p>
          <a:p>
            <a:r>
              <a:rPr lang="zh-CN" dirty="0"/>
              <a:t>青禾社区学习中心要挑一个活动筹备助手。小林觉得甲模型回答得像专业策划，老周觉得乙模型说话谨慎。这两个判断都是印象，能提供线索，却回答不了一个问题：谁来核对报名人数，谁来检查场地冲突。</a:t>
            </a:r>
          </a:p>
          <a:p>
            <a:r>
              <a:rPr lang="zh-CN" dirty="0"/>
              <a:t>所以要把“聪明”这个词换掉，换成可以观察、可以复核的行为。比如目标定成减少报名整理中的遗漏，做法立刻清楚：先准备报名材料，人工标出应该提取的信息，再看模型找到多少、误报多少。有材料、有标注、有计数，评价才站得住。</a:t>
            </a:r>
          </a:p>
          <a:p>
            <a:r>
              <a:rPr lang="zh-CN" dirty="0"/>
              <a:t>整条链是：使用目标、任务样本、可观察输出、判分规则、汇总指标、适用范围。指标只是链上的一环，选错了任务，算得再精确也回答不了原来的问题。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这一节要处理一个很常见的困境：我们心里其实有一个判断，说得出“这个模型挺聪明”，但这个判断经不起追问。九个知识块就是在把这句话拆开。</a:t>
            </a:r>
          </a:p>
          <a:p>
            <a:r>
              <a:rPr lang="zh-CN" dirty="0"/>
              <a:t>先看一条完整的链：目标、样本、输出、判据、指标、边界。指标只是链条的一环，不是终点。</a:t>
            </a:r>
          </a:p>
          <a:p>
            <a:r>
              <a:rPr lang="zh-CN" dirty="0"/>
              <a:t>接着认识分母。十道题答对八道是八成，但“报出来的里面有多少是真的”和“应该找到的里面有多少被找到”，是两件不同的事，所以要有精确率和召回率。</a:t>
            </a:r>
          </a:p>
          <a:p>
            <a:r>
              <a:rPr lang="zh-CN" dirty="0"/>
              <a:t>再往后是“合格”的层次：逐条要求都通过，不代表整件事完成了；工具调用成功，也不代表任务成功。</a:t>
            </a:r>
          </a:p>
          <a:p>
            <a:r>
              <a:rPr lang="zh-CN" dirty="0"/>
              <a:t>剩下几块处理结论的强度：多试几次和次次可靠方向相反；没有唯一答案的写作要靠偏好比较；等待时间、成本、样本量、测试污染，都会决定一个分数能说明多远。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先建立一条线，后面所有指标都挂在这条线上。</a:t>
            </a:r>
          </a:p>
          <a:p>
            <a:r>
              <a:rPr lang="zh-CN" dirty="0"/>
              <a:t>起因是两句话：“回答很像专业策划”“说话比较谨慎”。这两句都是印象。印象不是没用，它提示我们先去看什么，但它不能拿来比较两个候选，因为没有人能说清它到底测了什么。</a:t>
            </a:r>
          </a:p>
          <a:p>
            <a:r>
              <a:rPr lang="zh-CN" dirty="0"/>
              <a:t>要把它变成可测量的，第一件事是确定使用目标。目标是减少报名整理中的遗漏，还是可靠地调整活动安排，这两件事要准备的材料和检查的东西完全不同。</a:t>
            </a:r>
          </a:p>
          <a:p>
            <a:r>
              <a:rPr lang="zh-CN" dirty="0"/>
              <a:t>目标定下来，才轮到选样本：用什么材料、出哪些题。然后决定记录什么可见的结果，再在动手之前把判分规则写死，避免看到答案后回头改标准。判完分才汇总成指标，最后写上适用范围。</a:t>
            </a:r>
          </a:p>
          <a:p>
            <a:r>
              <a:rPr lang="zh-CN" dirty="0"/>
              <a:t>顺序不能颠倒。很多看起来精确的数字之所以没用，是因为链条的某一环在事后才被补上。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把六个环节连起来看，一次评价的骨架就清楚了。</a:t>
            </a:r>
          </a:p>
          <a:p>
            <a:r>
              <a:rPr lang="zh-CN" dirty="0"/>
              <a:t>最左边是使用目标。它决定后面所有事：我到底要解决什么问题。目标写成“减少报名整理中的遗漏”和写成“可靠地调整活动安排”，后面每一步都会不一样。</a:t>
            </a:r>
          </a:p>
          <a:p>
            <a:r>
              <a:rPr lang="zh-CN" dirty="0"/>
              <a:t>然后是任务样本。用哪份材料、出哪些题，这是在动手之前就要定下来的。同一份资料出十道题，和换十份资料各出一题，测到的东西不同。</a:t>
            </a:r>
          </a:p>
          <a:p>
            <a:r>
              <a:rPr lang="zh-CN" dirty="0"/>
              <a:t>接着是可观察输出。要事先说清记录什么：只记最终答案，还是把中间步骤、工具调用都留下来。</a:t>
            </a:r>
          </a:p>
          <a:p>
            <a:r>
              <a:rPr lang="zh-CN" dirty="0"/>
              <a:t>判分规则要在看到结果之前写死，否则很容易不自觉地放宽标准。判完分才汇总成指标，最后写上适用范围。</a:t>
            </a:r>
          </a:p>
          <a:p>
            <a:r>
              <a:rPr lang="zh-CN" dirty="0"/>
              <a:t>八个对十个，只有配上“哪份材料、哪些题、什么判据”，才变成一个可以讨论的结论。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同一条链，换一个使用目标，要准备的东西就完全换了。</a:t>
            </a:r>
          </a:p>
          <a:p>
            <a:r>
              <a:rPr lang="zh-CN" dirty="0"/>
              <a:t>先说目标 A：减少报名整理中的遗漏。它要准备报名材料，人工把应该提取的信息标出来，再检查模型找到多少、误报多少。本质是一次提取，可以逐项对答案。</a:t>
            </a:r>
          </a:p>
          <a:p>
            <a:r>
              <a:rPr lang="zh-CN" dirty="0"/>
              <a:t>再说目标 B：可靠地调整活动安排。这个目标不能只看文字。助手说要改到哪个房间，我必须核对调整之后的实际结果：房间是不是真的换了，容量够不够，有没有顶掉别的安排。</a:t>
            </a:r>
          </a:p>
          <a:p>
            <a:r>
              <a:rPr lang="zh-CN" dirty="0"/>
              <a:t>目标 A 的答案在材料里躺着，是静态的；目标 B 的答案取决于系统真实状态的变化，是动态的。用错目标，后面选样本、定判据都会跟着错。</a:t>
            </a:r>
          </a:p>
          <a:p>
            <a:r>
              <a:rPr lang="zh-CN" dirty="0"/>
              <a:t>本节的人物、题目、运行记录和数值均为虚构教学数据，不是任何实际模型的测评成绩。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现在进入第一个具体的算法口。</a:t>
            </a:r>
          </a:p>
          <a:p>
            <a:r>
              <a:rPr lang="zh-CN" dirty="0"/>
              <a:t>我让助手读一份已经确认过的开放日资料，然后回答十道事实题。评分的人事先把标准答案写好，只看事实对不对；"上午九点"和"09:00"算同一个答案。</a:t>
            </a:r>
          </a:p>
          <a:p>
            <a:r>
              <a:rPr lang="zh-CN" dirty="0"/>
              <a:t>十道题里答对八道，准确率是百分之八十。这句话本身没有问题，问题在于它经常被读成"这个助手在开放日这件事上有八成靠得住"。这两句话差得很远。</a:t>
            </a:r>
          </a:p>
          <a:p>
            <a:r>
              <a:rPr lang="zh-CN" dirty="0"/>
              <a:t>八个对十个，它说明的只是：在这份资料、这十道题、这套判分规则下，助手答对了八道。它没有说明其余所有开放日问题也有八成的成功率。</a:t>
            </a:r>
          </a:p>
          <a:p>
            <a:r>
              <a:rPr lang="zh-CN" dirty="0"/>
              <a:t>所以第一个要盯住的词是分母。分母是多少，由我们事先约定，而不是看到结果以后再说。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现在看十道题的具体得分。</a:t>
            </a:r>
          </a:p>
          <a:p>
            <a:r>
              <a:rPr lang="zh-CN" dirty="0"/>
              <a:t>前十道题里，第四题问阅读活动几点结束，标准答案是十点十分，助手答成了十点三十。第九题问绘画活动的人数上限，标准答案十二人，助手答了十五人。其余八题都对。</a:t>
            </a:r>
          </a:p>
          <a:p>
            <a:r>
              <a:rPr lang="zh-CN" dirty="0"/>
              <a:t>每题对记一，错记零，最后一列相加得到八。准确率就等于正确题数除以纳入评价的题数，八除以十，百分之八十。</a:t>
            </a:r>
          </a:p>
          <a:p>
            <a:r>
              <a:rPr lang="zh-CN" dirty="0"/>
              <a:t>注意判分里那个约定：上午九点和零九比零被视为同一个答案。这不是小事，格式上的差异要不要算错，必须在动手之前说清楚。</a:t>
            </a:r>
          </a:p>
          <a:p>
            <a:r>
              <a:rPr lang="zh-CN" dirty="0"/>
              <a:t>还有一点，这十道题主要测的是信息读取。它没有测复杂排程，更没有测真实工具执行。所以这个百分之八十，只在这份资料、这十道题和这套判分规则下成立，不能说成所有开放日问题都有八成的成功率。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分母这件事，必须在动手之前约定，不能看到结果以后再定。</a:t>
            </a:r>
          </a:p>
          <a:p>
            <a:r>
              <a:rPr lang="zh-CN" dirty="0"/>
              <a:t>第一种情形是超时。假如第十题超时没答完，按本次“限时完成全部问题”的规则，这一题要计失败，分母仍然是十，不能因为它超时就把它从题集里拿掉。</a:t>
            </a:r>
          </a:p>
          <a:p>
            <a:r>
              <a:rPr lang="zh-CN" dirty="0"/>
              <a:t>第二种情形是外部中断。试验被停电打断了，可以按预先定好的规则把这一次作废，但必须记录原因。最要避免的是看到结果以后只保留成功的那部分响应。</a:t>
            </a:r>
          </a:p>
          <a:p>
            <a:r>
              <a:rPr lang="zh-CN" dirty="0"/>
              <a:t>第三种情形是拒答。拒答怎么算分，要由题目目标决定：资料里明明有答案却拒答，可能是失败；资料里没有答案，承认自己不知道，可能是正确。</a:t>
            </a:r>
          </a:p>
          <a:p>
            <a:r>
              <a:rPr lang="zh-CN" dirty="0"/>
              <a:t>如果每题恰好四个选项、只有一个正确、选择又是均匀随机的，猜的期望准确率是四分之一。但这是长期平均，不代表随便猜十题一定对两三题。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接下来换一个任务，指标也跟着换了。</a:t>
            </a:r>
          </a:p>
          <a:p>
            <a:r>
              <a:rPr lang="zh-CN" dirty="0"/>
              <a:t>前面那道题是回答问题，对错分明。现在让助手整理报名材料：材料里实际有十二项报名，助手报出十项，其中八项是对的，两项是误读，另外还漏掉了四项。</a:t>
            </a:r>
          </a:p>
          <a:p>
            <a:r>
              <a:rPr lang="zh-CN" dirty="0"/>
              <a:t>这时候如果还只算一个准确率，就会把两类完全不同的错误糊在一起。多报出来的那两项，和漏掉的那四项，对组织者的影响是不一样的。</a:t>
            </a:r>
          </a:p>
          <a:p>
            <a:r>
              <a:rPr lang="zh-CN" dirty="0"/>
              <a:t>所以要把"应该找出多少"和"实际报出来多少"分成两个分母。这两个分母各自回答一句话：报出来的里面有多少是真的，应该找出来的里面有多少真的被找到了。</a:t>
            </a:r>
          </a:p>
          <a:p>
            <a:r>
              <a:rPr lang="zh-CN" dirty="0"/>
              <a:t>一旦有两个分母，后面所有讨论都要先问一句：这个分数用的是哪个分母。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把十二项和十项并排摆开，两个分母就看得见了。</a:t>
            </a:r>
          </a:p>
          <a:p>
            <a:r>
              <a:rPr lang="zh-CN" dirty="0"/>
              <a:t>上面一条是真实情况：材料里确实有十二项报名，助手找到了八项，漏掉四项。下面一条是模型输出：一共报出十项，其中八项是对的，两项是它读错了。</a:t>
            </a:r>
          </a:p>
          <a:p>
            <a:r>
              <a:rPr lang="zh-CN" dirty="0"/>
              <a:t>两条绿段长度一样，因为那是同一批八项正确报名。上面多出来的是漏掉的，下面多出来的是误报的。</a:t>
            </a:r>
          </a:p>
          <a:p>
            <a:r>
              <a:rPr lang="zh-CN" dirty="0"/>
              <a:t>精确率问的是报出来的里面有多少是真的，八项对十项，八成。召回率问的是应该找出来的里面有多少被找到，八项对十二项，约六成七。F1 用调和平均把两者合起来，十六除以二十二，约七成三；只要有一项很低，总分就被拉下来。</a:t>
            </a:r>
          </a:p>
          <a:p>
            <a:r>
              <a:rPr lang="zh-CN" dirty="0"/>
              <a:t>但这两个错误的代价并不一样。漏掉一条无障碍协助需求，可能比多交给人工复核一条候选严重得多。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多类信息放在一起汇总，结论还可能再变一次。</a:t>
            </a:r>
          </a:p>
          <a:p>
            <a:r>
              <a:rPr lang="zh-CN" dirty="0"/>
              <a:t>普通报名的计数还是刚才那组，另外一类是无障碍协助需求，它的 TP 是 2、FP 是 0、FN 是 2，单独算 F1 约六成七。</a:t>
            </a:r>
          </a:p>
          <a:p>
            <a:r>
              <a:rPr lang="zh-CN" dirty="0"/>
              <a:t>宏平均先算每一类的 F1，再平等地平均，得到约六成九七，每一类权重相同。微平均先合并计数得到 TP 十、FP 二、FN 六，再算一次，得到约七成一四，项目多的类别影响更大。</a:t>
            </a:r>
          </a:p>
          <a:p>
            <a:r>
              <a:rPr lang="zh-CN" dirty="0"/>
              <a:t>所以报“F1 是多少”时必须交代平均方式；宏 F1 也不是把宏精确率和宏召回率再代进 F1 公式。</a:t>
            </a:r>
          </a:p>
          <a:p>
            <a:r>
              <a:rPr lang="zh-CN" dirty="0"/>
              <a:t>零分母也要提前约定。没有输出任何项目时精确率分母为零；某一类在真实材料里完全不存在时召回率分母为零；三个数都是零时 F1 也没有定义。但真实有项目而全部漏掉时 F1 就是零，不能按“不适用”隐藏失败。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接下来这几件事，都属于同一个毛病：把链条上的某一环当成了终点。</a:t>
            </a:r>
          </a:p>
          <a:p>
            <a:r>
              <a:rPr lang="zh-CN" dirty="0"/>
              <a:t>组织者要求通知里使用中文、包含日期、列出三个项目、以联系方式结尾。两份通知各有四条可检查的约束，一份全过，另一份过了三条。逐条算通过率是七比八，八成七五。可是“四条同时满足”的通知只有一份，两份里的一份，五成。</a:t>
            </a:r>
          </a:p>
          <a:p>
            <a:r>
              <a:rPr lang="zh-CN" dirty="0"/>
              <a:t>再比如，助手调用改期工具，参数格式正确、工具也返回成功。这只能说明调用没错，不能说明“已经把这个活动移到能容纳全部报名者的空闲房间，并且没有动到别的安排”。</a:t>
            </a:r>
          </a:p>
          <a:p>
            <a:r>
              <a:rPr lang="zh-CN" dirty="0"/>
              <a:t>证据也一样。检索命中了需要的材料，不代表回答正确引用了它；引用了，也不代表引用真的支持那句话。</a:t>
            </a:r>
          </a:p>
          <a:p>
            <a:r>
              <a:rPr lang="zh-CN" dirty="0"/>
              <a:t>中间的比率用来定位失败，最后的任务成功率回答能不能交付，两类要一起保留。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把两份通知放在一起比，问题立刻显出来。</a:t>
            </a:r>
          </a:p>
          <a:p>
            <a:r>
              <a:rPr lang="zh-CN" dirty="0"/>
              <a:t>要求是四条：使用中文、包含日期、列出三个项目、以联系方式结尾。第一份通知四条全过，第二份过了三条。逐条加起来，八条里过了七条，逐约束通过率是百分之八十七点五。</a:t>
            </a:r>
          </a:p>
          <a:p>
            <a:r>
              <a:rPr lang="zh-CN" dirty="0"/>
              <a:t>可是“全部约束同时满足的通知有几份”，答案是两份里的一份，百分之五十。</a:t>
            </a:r>
          </a:p>
          <a:p>
            <a:r>
              <a:rPr lang="zh-CN" dirty="0"/>
              <a:t>这两个数都没错，它们回答的是不同的问题。前者说明这个助手在每条要求上大体可靠，后者说明能直接拿去用的成品只有一半。看榜单时只看到八十七点五，就很容易高估。</a:t>
            </a:r>
          </a:p>
          <a:p>
            <a:r>
              <a:rPr lang="zh-CN" dirty="0"/>
              <a:t>工具调用同理。参数格式正确、工具返回成功，只能证明这次调用没错；任务是否完成，还要看最终房间、容量和有没有改掉别的活动。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资料越来越多以后，助手会先去检索。检索这一步有它自己的分母。</a:t>
            </a:r>
          </a:p>
          <a:p>
            <a:r>
              <a:rPr lang="zh-CN" dirty="0"/>
              <a:t>要回答“阅读活动是否需要改期”，必须查到两项证据：原安排，以及最新的房间占用通知，缺一不可。</a:t>
            </a:r>
          </a:p>
          <a:p>
            <a:r>
              <a:rPr lang="zh-CN" dirty="0"/>
              <a:t>假设检索返回的前五条结果里只有原安排，另一项没有进来。按证据项目算，Recall@5 就是二分之一，百分之五十。它测量的是“需要的材料有没有进入候选范围”。</a:t>
            </a:r>
          </a:p>
          <a:p>
            <a:r>
              <a:rPr lang="zh-CN" dirty="0"/>
              <a:t>同一份证据在结果里出现两次，不能算找到两项。评价单位要事先说清是文档还是去重后的证据片段，不能混着算。</a:t>
            </a:r>
          </a:p>
          <a:p>
            <a:r>
              <a:rPr lang="zh-CN" dirty="0"/>
              <a:t>有些基准把“至少命中一条答案证据”也起名叫 recall，遇到这类分数要查具体定义。若本来就不需要检索，召回率分母为零，应另设“无需检索”样本规则；也不能仅提高 k，把大量无关内容塞给模型。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检索只解决了“材料有没有进来”，回答阶段还要把可核验的陈述拆开检查。</a:t>
            </a:r>
          </a:p>
          <a:p>
            <a:r>
              <a:rPr lang="zh-CN" dirty="0"/>
              <a:t>假设答案里有五条需要外部证据的陈述，其中四条附上了引用，一条没有。四条里真正得到支持的是三条，第四条虽然贴了引用，但引用并不支持它。</a:t>
            </a:r>
          </a:p>
          <a:p>
            <a:r>
              <a:rPr lang="zh-CN" dirty="0"/>
              <a:t>两个率的分母不一样。引用支持率的分母是“带有引用的可核验陈述数”，四条里三条被支持，七成五——贴出来的引用有多少真的撑得住那句话。证据覆盖率的分母是“全部需要外部证据的陈述数”五条，三条被支持，六成。</a:t>
            </a:r>
          </a:p>
          <a:p>
            <a:r>
              <a:rPr lang="zh-CN" dirty="0"/>
              <a:t>这两个口径是本书选定的，不是所有榜单通用的定义。完全没有引用时支持率没有定义；只要还有需要证据的陈述，覆盖率就是零。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接下来这件事，很多人第一次听到会觉得反直觉。</a:t>
            </a:r>
          </a:p>
          <a:p>
            <a:r>
              <a:rPr lang="zh-CN" dirty="0"/>
              <a:t>同一个任务，同一个模型，我们给它同一套设置、同一个初始环境。如果每次独立成功的概率都是零点八，那么重复的次数一多，两件事会朝相反的方向走。</a:t>
            </a:r>
          </a:p>
          <a:p>
            <a:r>
              <a:rPr lang="zh-CN" dirty="0"/>
              <a:t>"至少成功一次"越来越容易。两次至少一次成功是九成六，三次接近九成九，六次几乎就是一定成功。</a:t>
            </a:r>
          </a:p>
          <a:p>
            <a:r>
              <a:rPr lang="zh-CN" dirty="0"/>
              <a:t>"每次都成功"越来越难。两次全部成功是六成四，三次过半勉强，六次只剩两成六。</a:t>
            </a:r>
          </a:p>
          <a:p>
            <a:r>
              <a:rPr lang="zh-CN" dirty="0"/>
              <a:t>这不是模型变差了，而是两个问题的性质不同。前者问的是"我有多少机会拿到一个能用的结果"，后者问的是"我能不能放心让它自动跑，不用人盯着"。</a:t>
            </a:r>
          </a:p>
          <a:p>
            <a:r>
              <a:rPr lang="zh-CN" dirty="0"/>
              <a:t>服务台自动办理事项关心的显然是后者。所以看到"pass@k 提升了"的时候，先问一句：是哪种 k。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把六次重复算出来，两条轨迹的形状就看得很清楚。</a:t>
            </a:r>
          </a:p>
          <a:p>
            <a:r>
              <a:rPr lang="zh-CN" dirty="0"/>
              <a:t>蓝色是“至少成功一次”，公式是一减去（一减 p）的 k 次方。第一次是八成，第二次九成六，第三次九成九二，到第六次几乎就是一定成功。它一直在往上走，而且很快接近满。</a:t>
            </a:r>
          </a:p>
          <a:p>
            <a:r>
              <a:rPr lang="zh-CN" dirty="0"/>
              <a:t>绿色是“每次都成功”，公式是 p 的 k 次方。第一次也是八成，第二次就掉到六成四，第三次五成一，第六次只剩两成六。它一直在往下走。</a:t>
            </a:r>
          </a:p>
          <a:p>
            <a:r>
              <a:rPr lang="zh-CN" dirty="0"/>
              <a:t>两条线在第一次的时候重合成一个点，因为只做一次时，这两件事本来就是同一件事。从第二次开始分开，而且越走越远。</a:t>
            </a:r>
          </a:p>
          <a:p>
            <a:r>
              <a:rPr lang="zh-CN" dirty="0"/>
              <a:t>这里必须提醒：这是固定概率的假设演算，不是题集实测。它假设同一道固定任务、初始状态和配置都相同、每一次试验互相独立。这几个条件缺一个，公式就不适用。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现在说那个最常见的错误：把题集的平均准确率直接当成 p 代进公式。</a:t>
            </a:r>
          </a:p>
          <a:p>
            <a:r>
              <a:rPr lang="zh-CN" dirty="0"/>
              <a:t>假设题集里一半的题始终成功，另一半始终失败，整体平均是百分之五十。有人看到这个五成，就套公式说重复两次以后，至少一次成功应该是七成五，两次全部成功应该是两成五。</a:t>
            </a:r>
          </a:p>
          <a:p>
            <a:r>
              <a:rPr lang="zh-CN" dirty="0"/>
              <a:t>这是错的。始终成功的那一半题两次都成功，始终失败的题两次都失败，所以重复两次之后两个比例仍然都是五成。</a:t>
            </a:r>
          </a:p>
          <a:p>
            <a:r>
              <a:rPr lang="zh-CN" dirty="0"/>
              <a:t>原因在于题目难度不一样，它们不是同一枚硬币，必须先逐题计算再按规定汇总。</a:t>
            </a:r>
          </a:p>
          <a:p>
            <a:r>
              <a:rPr lang="zh-CN" dirty="0"/>
              <a:t>研究里常见的做法是每题采样 n 次、观察其中成功了 c 次，再用组合数估计。要记住：组合数里 a 小于 k 时取零；无偏估计的前提是独立同分布采样，k 大于一时把 c 除以 n 直接代入幂公式并不无偏。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前面讲的准确率、精确率、召回率，都建立在“有标准答案”这个前提上。可是有些任务根本没有唯一答案。</a:t>
            </a:r>
          </a:p>
          <a:p>
            <a:r>
              <a:rPr lang="zh-CN" dirty="0"/>
              <a:t>比如写一封开放日邀请函。两份文本摆在那里，哪一份更好？没有人能给出一个标准答案去逐字比对。</a:t>
            </a:r>
          </a:p>
          <a:p>
            <a:r>
              <a:rPr lang="zh-CN" dirty="0"/>
              <a:t>这时候常用的办法是配对评价：把模型名称藏起来，让读者在同一份材料下同时看到两份文本，分别就几个方面打分——事实是不是忠实、信息是不是完整、表达是不是清楚、是不是适合这批读者——最后再做一个总体选择。</a:t>
            </a:r>
          </a:p>
          <a:p>
            <a:r>
              <a:rPr lang="zh-CN" dirty="0"/>
              <a:t>这样做有道理，因为它测量的是体验，而体验确实不是唯一答案能覆盖的。但它也有代价：读者的群体不同、文字长短不同、两份文本呈现的左右顺序不同，都可能影响判断。</a:t>
            </a:r>
          </a:p>
          <a:p>
            <a:r>
              <a:rPr lang="zh-CN" dirty="0"/>
              <a:t>所以偏好评价的结论，永远要带上评价人群和题目分布这两个条件。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配对评价算出来是一个什么数？这里有两种常见口径，一定不能混。</a:t>
            </a:r>
          </a:p>
          <a:p>
            <a:r>
              <a:rPr lang="zh-CN" dirty="0"/>
              <a:t>假设甲在十次配对评价里胜六次、平两次、负两次。</a:t>
            </a:r>
          </a:p>
          <a:p>
            <a:r>
              <a:rPr lang="zh-CN" dirty="0"/>
              <a:t>第一种口径，事先规定平局算半分。得分就是六加上零点五乘二，再除以十，等于七成。</a:t>
            </a:r>
          </a:p>
          <a:p>
            <a:r>
              <a:rPr lang="zh-CN" dirty="0"/>
              <a:t>第二种口径，只统计非平局的场次。十次里有两场是平局，真正分出胜负的是八场，甲胜六场，六除以八，等于七成五。</a:t>
            </a:r>
          </a:p>
          <a:p>
            <a:r>
              <a:rPr lang="zh-CN" dirty="0"/>
              <a:t>两个数都不算错，它们回答的问题略有不同：前者把所有场次都纳入，包括读者觉得差不多的情况；后者只在明显分出高下的时候计算。但你必须写清用的是哪一种，否则同样的原始结果会报出两个不同的分数。</a:t>
            </a:r>
          </a:p>
          <a:p>
            <a:r>
              <a:rPr lang="zh-CN" dirty="0"/>
              <a:t>还有一点，这里的分母必须是事先写好的规则，不能事后看哪个数好看就选哪个。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偏好评价有用，但它会受一些具体因素影响，用之前要把这些因素按住。</a:t>
            </a:r>
          </a:p>
          <a:p>
            <a:r>
              <a:rPr lang="zh-CN" dirty="0"/>
              <a:t>第一是呈现顺序。同两份文本，A 放左边和 A 放右边，读者的选择可能会变，所以要交换左右位置各评一次，或者随机分配位置。</a:t>
            </a:r>
          </a:p>
          <a:p>
            <a:r>
              <a:rPr lang="zh-CN" dirty="0"/>
              <a:t>第二是量表和长度。文字长的回答常常显得更详细，读者容易给它更高的总体分，这就是冗长偏差，要用明确的量表把长度的影响尽量分开。</a:t>
            </a:r>
          </a:p>
          <a:p>
            <a:r>
              <a:rPr lang="zh-CN" dirty="0"/>
              <a:t>第三是事实。偏好评价测的是体验，不负责核对事实，无论读者怎么选，事实都要单独核对一遍。</a:t>
            </a:r>
          </a:p>
          <a:p>
            <a:r>
              <a:rPr lang="zh-CN" dirty="0"/>
              <a:t>现在很多做法让模型来当裁判，因为它便宜、快。但模型裁判同样有位置偏差和冗长偏差，必须先用人工标注的样本来检查。</a:t>
            </a:r>
          </a:p>
          <a:p>
            <a:r>
              <a:rPr lang="zh-CN" dirty="0"/>
              <a:t>一个偏好排名，首先是特定人群和题目分布下的相对表现，不能直接换算成“完成工作的百分比”。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再说一个容易想当然的地方：模型说自己很确定，这句话能不能信。</a:t>
            </a:r>
          </a:p>
          <a:p>
            <a:r>
              <a:rPr lang="zh-CN" dirty="0"/>
              <a:t>打个比方，假如助手对一批判断都报告"我有八成的把握"。一次两次看不出来，但如果这样的判断做上很多次，其中大约真的有八成是对的，这才符合概率校准的直观含义。</a:t>
            </a:r>
          </a:p>
          <a:p>
            <a:r>
              <a:rPr lang="zh-CN" dirty="0"/>
              <a:t>反过来，如果它总说八成把握，实际只对了六成，或者实际对了九成五，这都叫校准不好。校准不好意味着这个数字不能当作决策依据。</a:t>
            </a:r>
          </a:p>
          <a:p>
            <a:r>
              <a:rPr lang="zh-CN" dirty="0"/>
              <a:t>这里要区分两件事。模型说"我非常确定"，这句话本身没有可计算的概率意义，它只是一个说法。就算它真的给出了零点八，这个零点八也必须用实际结果去检验。</a:t>
            </a:r>
          </a:p>
          <a:p>
            <a:r>
              <a:rPr lang="zh-CN" dirty="0"/>
              <a:t>检验的办法就是拿这些预测概率和最终的真实结果对照。下面我用一个具体的小算例讲清楚。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用一个小算例把 Brier 分数看清楚。它是这么算的：对每一项，拿模型报出的成功概率减去实际结果，平方，然后把所有项平均起来。结果越接近零越好，按本书的约定范围是零到一。</a:t>
            </a:r>
          </a:p>
          <a:p>
            <a:r>
              <a:rPr lang="zh-CN" dirty="0"/>
              <a:t>看第一个例子。助手对两项判断都报了零点九的把握，一项最终成功，一项失败。</a:t>
            </a:r>
          </a:p>
          <a:p>
            <a:r>
              <a:rPr lang="zh-CN" dirty="0"/>
              <a:t>成功那一项，零点九减一，平方是零点零一。失败那一项，零点九减零，平方是零点八一。两项平均，零点四一。</a:t>
            </a:r>
          </a:p>
          <a:p>
            <a:r>
              <a:rPr lang="zh-CN" dirty="0"/>
              <a:t>第二个例子，同样一项成功一项失败，但助手这次报的是零点五。成功那项平方零点二五，失败那项也是零点二五，平均零点二五。</a:t>
            </a:r>
          </a:p>
          <a:p>
            <a:r>
              <a:rPr lang="zh-CN" dirty="0"/>
              <a:t>对比一下就明白：高置信的错误会受到很大的惩罚。报零点九说错了，比报零点五说错了要罚得重得多。不过两项样本太小，不能凭这个判断长期的校准水平。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Brier 分数容易被误用。它把不同方面混在一起，所以看它的时候要往下再拆一层。</a:t>
            </a:r>
          </a:p>
          <a:p>
            <a:r>
              <a:rPr lang="zh-CN" dirty="0"/>
              <a:t>办法是按预测概率分组。把报零点五到零点六的放在一组，零点六到零点七的放一组，零点七到零点八的再放一组，然后看每一组实际的成功率。如果报零点六的那组实际成功大约六成，报零点八的那组实际大约八成，校准就是好的。</a:t>
            </a:r>
          </a:p>
          <a:p>
            <a:r>
              <a:rPr lang="zh-CN" dirty="0"/>
              <a:t>分组时一定要同时记录样本量。一组里只有两三道题，算出来的成功率抖得厉害，不能当结论。</a:t>
            </a:r>
          </a:p>
          <a:p>
            <a:r>
              <a:rPr lang="zh-CN" dirty="0"/>
              <a:t>还要分清两件事：校准误差说的是“报出的概率准不准”，区分度说的是“能不能把难题和容易题分开”。Brier 同时反映这两类信息，所以不是纯粹的校准误差。</a:t>
            </a:r>
          </a:p>
          <a:p>
            <a:r>
              <a:rPr lang="zh-CN" dirty="0"/>
              <a:t>如果所有任务都一律报同一个概率，即使整体频率碰巧对上，也识别不出哪些任务更难。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到这里，前面讲的都是"做得对不对"。但组织者面对的还有另一个问题：等不等得起。</a:t>
            </a:r>
          </a:p>
          <a:p>
            <a:r>
              <a:rPr lang="zh-CN" dirty="0"/>
              <a:t>一次请求发出去，助手要花多长时间才给出结果？如果要等两分钟，那这个助手能不能用在接待现场就要重新考虑。</a:t>
            </a:r>
          </a:p>
          <a:p>
            <a:r>
              <a:rPr lang="zh-CN" dirty="0"/>
              <a:t>所以延迟必须和准确性一起看。一个准确率很高但要等很久的方案，和一个准确率稍低但立刻能用的方案，是两种不同的取舍。</a:t>
            </a:r>
          </a:p>
          <a:p>
            <a:r>
              <a:rPr lang="zh-CN" dirty="0"/>
              <a:t>还要注意成本。一次任务可能调用多轮、检索好几次、失败重试好几遍，这些都会花钱。只看单次调用的价格，会严重低估真实开销。</a:t>
            </a:r>
          </a:p>
          <a:p>
            <a:r>
              <a:rPr lang="zh-CN" dirty="0"/>
              <a:t>这两件事都属于"能不能用"的门槛：准确率决定了这个结果值不值得信，等待时间和成本决定了它值不值得用。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延迟有两个口径，混起来谈就没有意义了。</a:t>
            </a:r>
          </a:p>
          <a:p>
            <a:r>
              <a:rPr lang="zh-CN" dirty="0"/>
              <a:t>第一个是首 Token 延迟，简称 TTFT。在本书里，它的定义是客户端发出请求，到收到第一个输出 Token 之间的时间。它回答的是“用户等了多久才看到有东西在动”。</a:t>
            </a:r>
          </a:p>
          <a:p>
            <a:r>
              <a:rPr lang="zh-CN" dirty="0"/>
              <a:t>第二个是端到端延迟。它从用户提交任务开始，到应用完成校验并交付结果结束。这里面的检索、工具等待、重试和文件保存，全部算在内。</a:t>
            </a:r>
          </a:p>
          <a:p>
            <a:r>
              <a:rPr lang="zh-CN" dirty="0"/>
              <a:t>两者的差别可能非常大。一个应用可能三百毫秒就吐出第一个字，但真正把任务做完要二十秒。前端看起来很流畅，后面其实还在跑。</a:t>
            </a:r>
          </a:p>
          <a:p>
            <a:r>
              <a:rPr lang="zh-CN" dirty="0"/>
              <a:t>所以有一句话要记住：很快显示“正在处理”，不能证明任务完成得快。演示的时候如果只盯着首字速度，很容易得出错误的结论。如果任务本身要等工具返回，端到端才是关键指标。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延迟不能只看平均数，因为用户最难受的往往不是平均那一次。</a:t>
            </a:r>
          </a:p>
          <a:p>
            <a:r>
              <a:rPr lang="zh-CN" dirty="0"/>
              <a:t>把一批任务的延迟排序，P50 是中位数，代表“一半人比这快、一半人比这慢”的体验。P95 描述接近最慢那一端的等待，也就是最容易被投诉的那批请求。</a:t>
            </a:r>
          </a:p>
          <a:p>
            <a:r>
              <a:rPr lang="zh-CN" dirty="0"/>
              <a:t>样本很小的时候，还要说明分位数怎么算。本书的做法是排序后取第 ceil（0.95 乘 N）项作为 P95；不同算法的结果不能直接比较。</a:t>
            </a:r>
          </a:p>
          <a:p>
            <a:r>
              <a:rPr lang="zh-CN" dirty="0"/>
              <a:t>还要记录失败率和超时门槛。只统计成功任务的延迟，很可能把最差的体验排除在外。</a:t>
            </a:r>
          </a:p>
          <a:p>
            <a:r>
              <a:rPr lang="zh-CN" dirty="0"/>
              <a:t>成本同理。十项任务连同所有重试共花十元，八项通过验收，每次成功任务成本就是十除以八，一块两毛五；只把八项成功调用的费用相加会低估开销。成功数为零时这个比值没有有限值，应报告总支出。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最后回到那个最简单的数字：百分之八十。</a:t>
            </a:r>
          </a:p>
          <a:p>
            <a:r>
              <a:rPr lang="zh-CN" dirty="0"/>
              <a:t>前面我们一直在问这个数用什么分母、什么口径。现在再问第三层：这个数有多稳。</a:t>
            </a:r>
          </a:p>
          <a:p>
            <a:r>
              <a:rPr lang="zh-CN" dirty="0"/>
              <a:t>八道对十道是八成，八十道对一百道也是八成。两个数字一模一样，但它们能支持的结论强度差得很远。</a:t>
            </a:r>
          </a:p>
          <a:p>
            <a:r>
              <a:rPr lang="zh-CN" dirty="0"/>
              <a:t>十道题的样本太小，换一批题、换一天运行，结果可能就从六成跳到九成。一百道题就稳得多，波动范围会明显收窄。</a:t>
            </a:r>
          </a:p>
          <a:p>
            <a:r>
              <a:rPr lang="zh-CN" dirty="0"/>
              <a:t>所以看到一个准确率，不能只问"是多少"，还要问"是多少道题算出来的"。</a:t>
            </a:r>
          </a:p>
          <a:p>
            <a:r>
              <a:rPr lang="zh-CN" dirty="0"/>
              <a:t>再往下还有两个问题，样本量再大也解决不了：题目有没有提前泄漏过，以及这套题目是不是已经太简单了。这两个我们在最后一部分讲。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把两个区间画在同一条轴上，差别一眼就看得出来。</a:t>
            </a:r>
          </a:p>
          <a:p>
            <a:r>
              <a:rPr lang="zh-CN" dirty="0"/>
              <a:t>左边那条是八道对十道。在独立、来自同一目标任务总体这样的二项抽样假设下，它对应的百分之九十五区间大约是四十九到九十四点三。这个区间宽得几乎覆盖了一半的可能，意思是这批数据几乎没把答案框住。</a:t>
            </a:r>
          </a:p>
          <a:p>
            <a:r>
              <a:rPr lang="zh-CN" dirty="0"/>
              <a:t>右边那条是八十道对一百道。同样的算法，区间大约是七十一到八十六点七，窄了很多。样本增加使区间收窄，所以“测了多少道题”和“测出来是多少”一样重要。</a:t>
            </a:r>
          </a:p>
          <a:p>
            <a:r>
              <a:rPr lang="zh-CN" dirty="0"/>
              <a:t>百分之九十五置信区间的含义是：按相同的抽样与计算方式反复做很多次，长期大约有百分之九十五的这类区间会覆盖总体真值。它不是下一题答对的概率。若这十道题都取自同一份通知、内容高度相关，更不能凭这个公式宣称已精确测出实际能力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最后说两类扩大样本量也解决不了的问题。</a:t>
            </a:r>
          </a:p>
          <a:p>
            <a:r>
              <a:rPr lang="zh-CN" dirty="0"/>
              <a:t>第一类是测试污染。如果测试题、答案或高度相近的内容，在测试之前就进入了训练或调优过程，成绩里可能混进了记忆优势，测的就不再是泛化能力，而是“见过没有”。</a:t>
            </a:r>
          </a:p>
          <a:p>
            <a:r>
              <a:rPr lang="zh-CN" dirty="0"/>
              <a:t>判断污染需要看数据来源和去重证据。公开训练数据之外的信息如果不可见，就应该明确写“污染情况未知”，不能默认干净。</a:t>
            </a:r>
          </a:p>
          <a:p>
            <a:r>
              <a:rPr lang="zh-CN" dirty="0"/>
              <a:t>第二类是基准饱和。当大量模型都已接近这套题的上限，题目就越来越难区分新的进步。分数都很高，但高分数不再说明谁更强。</a:t>
            </a:r>
          </a:p>
          <a:p>
            <a:r>
              <a:rPr lang="zh-CN" dirty="0"/>
              <a:t>解决饱和需要更有区分度、同时仍贴近真实用途的任务。这两种情况都不能仅凭分数断言。一张有用的结果表，要同时回答：测了哪些工作，怎样算成功，失败在哪里，是否重复验证，耗时和成本多少。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这一节讲完了，最后留下三句话。以后看到任何一个“准确率多少”的说法，都可以拿这三句话过一遍。</a:t>
            </a:r>
          </a:p>
          <a:p>
            <a:r>
              <a:rPr lang="zh-CN" dirty="0"/>
              <a:t>第一句，它回答哪句话？这是把目标对准任务。评价之前先说明要解决什么问题，是减少遗漏还是让安排可靠。目标不同，样本和判据就不同。选错了任务，指标算得再精确也答不了原来的问题。</a:t>
            </a:r>
          </a:p>
          <a:p>
            <a:r>
              <a:rPr lang="zh-CN" dirty="0"/>
              <a:t>第二句，分母是谁？这是把口径捏住。报出来的里面有多少是真的，应该找到的里面有多少被找到，逐条通过还是整条完成，试一次还是试多次，每一个都是不同的分母，而且要在动手之前定好。</a:t>
            </a:r>
          </a:p>
          <a:p>
            <a:r>
              <a:rPr lang="zh-CN" dirty="0"/>
              <a:t>第三句，这个分数有多稳？几道题算出来的，区间有多宽，题目有没有泄漏过，这套题是不是已经太简单。样本越小，能说的话越少。</a:t>
            </a:r>
          </a:p>
          <a:p>
            <a:r>
              <a:rPr lang="zh-CN" dirty="0"/>
              <a:t>这三句话就是一条链的收口：目标、口径、边界。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一个具体的事说起。&#10;&#10;青禾社区学习中心要挑一个活动筹备助手。小林觉得甲模型回答得像专业策划，老周觉得乙模型说话谨慎。这两个判断都是印象，能提供线索，却回答不了一个问题：谁来核对报名人数，谁来检查场地冲突。&#10;&#10;所以要把“聪明”这个词换掉，换成可以观察、可以复核的行为。比如目标定成减少报名整理中的遗漏，做法立刻清楚：先准备报名材料，人工标出应该提取的信息，再看模型找到多少、误报多少。有材料、有标注、有计数，评价才站得住。&#10;&#10;整条链是：使用目标、任务样本、可观察输出、判分规则、汇总指标、适用范围。指标只是链上的一环，选错了任务，算得再精确也回答不了原来的问题。`} style={{ width: 1280, height: 720, background: '#FFFFFF', flexDirection: 'column', padding: '20px 64px' }}&gt;&#10;&#10;    &lt;Box style={{ height: 300, flexDirection: 'column', justifyContent: 'center', gap: 14 }}&gt;&#10;        &lt;Box style={{ flexDirection: 'row', alignItems: 'center', gap: 12 }}&gt;&#10;            &lt;Box style={{ width: 4, height: 20, background: '#276FBF' }} /&gt;&#10;            &lt;Text style={{ fontSize: 15, color: '#546779' }}&gt;第一章　认识大模型，读懂能力与评价　·　1.3&lt;/Text&gt;&#10;        &lt;/Box&gt;&#10;        &lt;Text style={{ fontSize: 52, fontWeight: 'bold', color: '#20344B', lineHeight: 1.2 }}&gt;怎样把“聪明”变成可测量的问题&lt;/Text&gt;&#10;        &lt;Text style={{ fontSize: 18, color: '#546779', lineHeight: 1.65, width: 980 }}&gt;印象能提供线索，却不能回答“谁来核对报名人数、谁来检查场地冲突”。把目标改写成可以观察、可以复核的行为，评价才有一把尺子。&lt;/Text&gt;&#10;    &lt;/Box&gt;&#10;&#10;    &lt;Box style={{ height: 380, flexDirection: 'row', alignItems: 'center', gap: 24 }}&gt;&#10;&#10;        &lt;Box style={{ width: 290, height: 264, background: '#F4F7FA', borderRadius: 12, padding: 22, flexDirection: 'column', gap: 12 }}&gt;&#10;            &lt;Text style={{ fontSize: 20, fontWeight: 'bold', color: '#546779' }}&gt;两种印象&lt;/Text&gt;&#10;            &lt;Text style={{ fontSize: 15, color: '#20344B', lineHeight: 1.6 }}&gt;小林：甲模型“回答很像专业策划”&lt;/Text&gt;&#10;            &lt;Box style={{ height: 1, background: '#B5C7D8' }} /&gt;&#10;            &lt;Text style={{ fontSize: 15, color: '#20344B', lineHeight: 1.6 }}&gt;老周：乙模型“说话比较谨慎”&lt;/Text&gt;&#10;            &lt;Box style={{ flex: 1 }} /&gt;&#10;            &lt;Text style={{ fontSize: 14, color: '#546779' }}&gt;能提供线索，不足以做决定&lt;/Text&gt;&#10;        &lt;/Box&gt;&#10;&#10;        &lt;Box style={{ width: 44, justifyContent: 'center', alignItems: 'center' }}&gt;&#10;            &lt;Text style={{ fontSize: 28, color: '#276FBF' }}&gt;›&lt;/Text&gt;&#10;        &lt;/Box&gt;&#10;&#10;        &lt;Box style={{ width: 290, height: 264, background: '#EDF4FC', borderRadius: 12, padding: 22, flexDirection: 'column', gap: 10 }}&gt;&#10;            &lt;Text style={{ fontSize: 20, fontWeight: 'bold', color: '#276FBF' }}&gt;改写成可观察的行为&lt;/Text&gt;&#10;            &lt;Text style={{ fontSize: 15, color: '#20344B', lineHeight: 1.7 }}&gt;目标：减少报名整理中的遗漏{'\n\n'}准备材料{'\n'}人工标出应提取的信息{'\n'}检查找到多少、误报多少&lt;/Text&gt;&#10;            &lt;Box style={{ flex: 1 }} /&gt;&#10;            &lt;Text style={{ fontSize: 14, color: '#546779' }}&gt;有材料、有标注、有计数&lt;/Text&gt;&#10;        &lt;/Box&gt;&#10;&#10;        &lt;Box style={{ width: 44, justifyContent: 'center', alignItems: 'center' }}&gt;&#10;            &lt;Text style={{ fontSize: 28, color: '#276FBF' }}&gt;›&lt;/Text&gt;&#10;        &lt;/Box&gt;&#10;&#10;        &lt;Box style={{ width: 370, height: 264, background: '#ECF7F2', borderRadius: 12, padding: 22, flexDirection: 'column', gap: 8 }}&gt;&#10;            &lt;Text style={{ fontSize: 20, fontWeight: 'bold', color: '#26816B' }}&gt;评价是一条链&lt;/Text&gt;&#10;            &lt;Text style={{ fontSize: 15, color: '#20344B', lineHeight: 1.62 }}&gt;使用目标{'\n'}任务样本{'\n'}可观察输出{'\n'}判分规则{'\n'}汇总指标{'\n'}适用范围&lt;/Text&gt;&#10;            &lt;Box style={{ flex: 1 }} /&gt;&#10;            &lt;Text style={{ fontSize: 14, color: '#546779' }}&gt;指标只是其中一环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69532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704850"/>
            <a:ext cx="295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第一章　认识大模型，读懂能力与评价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1917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9334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印象能提供线索，却不能回答“谁来核对报名人数、谁来检查场地冲突”。把目标改写成可以观察、可以复核的行为，评价才有一把尺子。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600450"/>
            <a:ext cx="2762250" cy="251460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2343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546779"/>
                </a:solidFill>
                <a:latin typeface="Microsoft YaHei"/>
                <a:ea typeface="Microsoft YaHei"/>
              </a:rPr>
              <a:t>两种印象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19150" y="4152900"/>
            <a:ext cx="234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小林：甲模型“回答很像专业策划”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19150" y="4543425"/>
            <a:ext cx="234315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667250"/>
            <a:ext cx="2343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老周：乙模型“说话比较谨慎”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5743575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能提供线索，不足以做决定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762375" y="469582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248150" y="3600450"/>
            <a:ext cx="2762250" cy="25146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457700" y="3810000"/>
            <a:ext cx="2343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改写成可观察的行为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457700" y="4133850"/>
            <a:ext cx="2343150" cy="1457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目标：减少报名整理中的遗漏</a:t>
            </a:r>
            <a:r>
              <a:rPr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准备材料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人工标出应提取的信息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检查找到多少、误报多少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457700" y="5781675"/>
            <a:ext cx="234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有材料、有标注、有计数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00925" y="469582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7886700" y="3600450"/>
            <a:ext cx="3524250" cy="2514600"/>
          </a:xfrm>
          <a:prstGeom prst="roundRect">
            <a:avLst>
              <a:gd name="adj" fmla="val 45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096250" y="3810000"/>
            <a:ext cx="3105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评价是一条链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096250" y="4114800"/>
            <a:ext cx="3105150" cy="1666875"/>
          </a:xfrm>
          <a:prstGeom prst="rect"/>
        </p:spPr>
        <p:txBody>
          <a:bodyPr wrap="none" lIns="0" tIns="0" rIns="0" bIns="0"/>
          <a:p>
            <a:pPr>
              <a:lnSpc>
                <a:spcPct val="16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使用目标</a:t>
            </a:r>
            <a:endParaRPr/>
          </a:p>
          <a:p>
            <a:pPr>
              <a:lnSpc>
                <a:spcPct val="16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任务样本</a:t>
            </a:r>
            <a:endParaRPr/>
          </a:p>
          <a:p>
            <a:pPr>
              <a:lnSpc>
                <a:spcPct val="16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可观察输出</a:t>
            </a:r>
            <a:endParaRPr/>
          </a:p>
          <a:p>
            <a:pPr>
              <a:lnSpc>
                <a:spcPct val="16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判分规则</a:t>
            </a:r>
            <a:endParaRPr/>
          </a:p>
          <a:p>
            <a:pPr>
              <a:lnSpc>
                <a:spcPct val="16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汇总指标</a:t>
            </a:r>
            <a:endParaRPr/>
          </a:p>
          <a:p>
            <a:pPr>
              <a:lnSpc>
                <a:spcPct val="162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96250" y="59340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指标只是其中一环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1" name="" descr="&lt;Slide notes={`这一节要处理一个很常见的困境：我们心里其实有一个判断，说得出“这个模型挺聪明”，但这个判断经不起追问。九个知识块就是在把这句话拆开。&#10;&#10;先看一条完整的链：目标、样本、输出、判据、指标、边界。指标只是链条的一环，不是终点。&#10;&#10;接着认识分母。十道题答对八道是八成，但“报出来的里面有多少是真的”和“应该找到的里面有多少被找到”，是两件不同的事，所以要有精确率和召回率。&#10;&#10;再往后是“合格”的层次：逐条要求都通过，不代表整件事完成了；工具调用成功，也不代表任务成功。&#10;&#10;剩下几块处理结论的强度：多试几次和次次可靠方向相反；没有唯一答案的写作要靠偏好比较；等待时间、成本、样本量、测试污染，都会决定一个分数能说明多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本节导读&lt;/Text&gt;&#10;            &lt;Text style={{ fontSize: 34, fontWeight: 'bold', color: '#20344B' }}&gt;本节要看清的九件事&lt;/Text&gt;&#10;        &lt;/Box&gt;&#10;    &lt;/Box&gt;&#10;&#10;    &lt;Box style={{ height: 540, flexDirection: 'row', gap: 40 }}&gt;&#10;&#10;        &lt;Box style={{ width: 300, flexDirection: 'column', justifyContent: 'center', gap: 16 }}&gt;&#10;            &lt;Text style={{ fontSize: 24, fontWeight: 'bold', color: '#276FBF', lineHeight: 1.45 }}&gt;这个分数，到底在回答哪句话？&lt;/Text&gt;&#10;            &lt;Box style={{ width: 56, height: 3, background: '#26816B' }} /&gt;&#10;            &lt;Text style={{ fontSize: 17, color: '#546779', lineHeight: 1.75 }}&gt;九个知识块从“怎么算”走到“能说明多远”：先把目标写成样本与判据，再认分母、分层级、看重复，最后检查偏好、自信、等待与样本量。&lt;/Text&gt;&#10;        &lt;/Box&gt;&#10;&#10;        &lt;Box style={{ flex: 1, flexDirection: 'column', justifyContent: 'center', gap: 6 }}&gt;&#10;&#10;            &lt;Box style={{ flexDirection: 'row', gap: 14, height: 54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1&lt;/Text&gt;&#10;                &lt;/Box&gt;&#10;                &lt;Box style={{ flexDirection: 'column', gap: 1 }}&gt;&#10;                    &lt;Text style={{ fontSize: 17, fontWeight: 'bold', color: '#20344B' }}&gt;一条从目标到边界的评价链&lt;/Text&gt;&#10;                    &lt;Text style={{ fontSize: 14, color: '#546779' }}&gt;目标、样本、输出、判据、指标、边界，指标不是终点&lt;/Text&gt;&#10;                &lt;/Box&gt;&#10;            &lt;/Box&gt;&#10;&#10;            &lt;Box style={{ flexDirection: 'row', gap: 14, height: 54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2&lt;/Text&gt;&#10;                &lt;/Box&gt;&#10;                &lt;Box style={{ flexDirection: 'column', gap: 1 }}&gt;&#10;                    &lt;Text style={{ fontSize: 17, fontWeight: 'bold', color: '#20344B' }}&gt;准确率在数什么&lt;/Text&gt;&#10;                    &lt;Text style={{ fontSize: 14, color: '#546779' }}&gt;十道事实题答对八道，数的是这份材料和这套判据&lt;/Text&gt;&#10;                &lt;/Box&gt;&#10;            &lt;/Box&gt;&#10;&#10;            &lt;Box style={{ flexDirection: 'row', gap: 14, height: 54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3&lt;/Text&gt;&#10;                &lt;/Box&gt;&#10;                &lt;Box style={{ flexDirection: 'column', gap: 1 }}&gt;&#10;                    &lt;Text style={{ fontSize: 17, fontWeight: 'bold', color: '#20344B' }}&gt;为什么需要两个分母&lt;/Text&gt;&#10;                    &lt;Text style={{ fontSize: 14, color: '#546779' }}&gt;报出来的有多少是真的，应找到的有没有被找到&lt;/Text&gt;&#10;                &lt;/Box&gt;&#10;            &lt;/Box&gt;&#10;&#10;            &lt;Box style={{ flexDirection: 'row', gap: 14, height: 54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4&lt;/Text&gt;&#10;                &lt;/Box&gt;&#10;                &lt;Box style={{ flexDirection: 'column', gap: 1 }}&gt;&#10;                    &lt;Text style={{ fontSize: 17, fontWeight: 'bold', color: '#20344B' }}&gt;局部合格，不等于任务完成&lt;/Text&gt;&#10;                    &lt;Text style={{ fontSize: 14, color: '#546779' }}&gt;逐条通过、工具成功、引用贴上，都还不是交付&lt;/Text&gt;&#10;                &lt;/Box&gt;&#10;            &lt;/Box&gt;&#10;&#10;            &lt;Box style={{ flexDirection: 'row', gap: 14, height: 54, alignItems: 'center' }}&gt;&#10;                &lt;Box style={{ width: 40, height: 40, borderRadius: 8, background: '#276FBF', justifyContent: 'center', alignItems: 'center' }}&gt;&#10;                    &lt;Text style={{ fontSize: 17, fontWeight: 'bold', color: '#FFFFFF' }}&gt;05&lt;/Text&gt;&#10;                &lt;/Box&gt;&#10;                &lt;Box style={{ flexDirection: 'column', gap: 1 }}&gt;&#10;                    &lt;Text style={{ fontSize: 17, fontWeight: 'bold', color: '#20344B' }}&gt;至少一次，与每次都可靠&lt;/Text&gt;&#10;                    &lt;Text style={{ fontSize: 14, color: '#546779' }}&gt;多给机会越来越容易，每次都成功越来越难&lt;/Text&gt;&#10;                &lt;/Box&gt;&#10;            &lt;/Box&gt;&#10;&#10;            &lt;Box style={{ flexDirection: 'row', gap: 14, height: 54, alignItems: 'center' }}&gt;&#10;                &lt;Box style={{ width: 40, height: 40, borderRadius: 8, background: '#26816B', justifyContent: 'center', alignItems: 'center' }}&gt;&#10;                    &lt;Text style={{ fontSize: 17, fontWeight: 'bold', color: '#FFFFFF' }}&gt;06&lt;/Text&gt;&#10;                &lt;/Box&gt;&#10;                &lt;Box style={{ flexDirection: 'column', gap: 1 }}&gt;&#10;                    &lt;Text style={{ fontSize: 17, fontWeight: 'bold', color: '#20344B' }}&gt;没有唯一答案时怎样打分&lt;/Text&gt;&#10;                    &lt;Text style={{ fontSize: 14, color: '#546779' }}&gt;配对比较、位置偏差与逐项核对&lt;/Text&gt;&#10;                &lt;/Box&gt;&#10;            &lt;/Box&gt;&#10;&#10;            &lt;Box style={{ flexDirection: 'row', gap: 14, height: 54, alignItems: 'center' }}&gt;&#10;                &lt;Box style={{ width: 40, height: 40, borderRadius: 8, background: '#26816B', justifyContent: 'center', alignItems: 'center' }}&gt;&#10;                    &lt;Text style={{ fontSize: 17, fontWeight: 'bold', color: '#FFFFFF' }}&gt;07&lt;/Text&gt;&#10;                &lt;/Box&gt;&#10;                &lt;Box style={{ flexDirection: 'column', gap: 1 }}&gt;&#10;                    &lt;Text style={{ fontSize: 17, fontWeight: 'bold', color: '#20344B' }}&gt;自信是否可信&lt;/Text&gt;&#10;                    &lt;Text style={{ fontSize: 14, color: '#546779' }}&gt;报出的把握要接受校准与 Brier 分数的检验&lt;/Text&gt;&#10;                &lt;/Box&gt;&#10;            &lt;/Box&gt;&#10;&#10;            &lt;Box style={{ flexDirection: 'row', gap: 14, height: 54, alignItems: 'center' }}&gt;&#10;                &lt;Box style={{ width: 40, height: 40, borderRadius: 8, background: '#26816B', justifyContent: 'center', alignItems: 'center' }}&gt;&#10;                    &lt;Text style={{ fontSize: 17, fontWeight: 'bold', color: '#FFFFFF' }}&gt;08&lt;/Text&gt;&#10;                &lt;/Box&gt;&#10;                &lt;Box style={{ flexDirection: 'column', gap: 1 }}&gt;&#10;                    &lt;Text style={{ fontSize: 17, fontWeight: 'bold', color: '#20344B' }}&gt;等待时间与花费的口径&lt;/Text&gt;&#10;                    &lt;Text style={{ fontSize: 14, color: '#546779' }}&gt;首 Token 与端到端、分位数、每次成功任务成本&lt;/Text&gt;&#10;                &lt;/Box&gt;&#10;            &lt;/Box&gt;&#10;&#10;            &lt;Box style={{ flexDirection: 'row', gap: 14, height: 54, alignItems: 'center' }}&gt;&#10;                &lt;Box style={{ width: 40, height: 40, borderRadius: 8, background: '#CB6B28', justifyContent: 'center', alignItems: 'center' }}&gt;&#10;                    &lt;Text style={{ fontSize: 17, fontWeight: 'bold', color: '#FFFFFF' }}&gt;09&lt;/Text&gt;&#10;                &lt;/Box&gt;&#10;                &lt;Box style={{ flexDirection: 'column', gap: 1 }}&gt;&#10;                    &lt;Text style={{ fontSize: 17, fontWeight: 'bold', color: '#20344B' }}&gt;证据能说明多远&lt;/Text&gt;&#10;                    &lt;Text style={{ fontSize: 14, color: '#546779' }}&gt;区间宽度、测试污染与基准饱和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本节导读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本节要看清的九件事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28575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76FBF"/>
                </a:solidFill>
                <a:latin typeface="Microsoft YaHei"/>
                <a:ea typeface="Microsoft YaHei"/>
              </a:rPr>
              <a:t>这个分数，到底在回答哪句话？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3419475"/>
            <a:ext cx="5334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2857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九个知识块从“怎么算”走到“能说明多远”：先把目标写成样本与判据，再认分母、分层级、看重复，最后检查偏好、自信、等待与样本量。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3848100" y="1238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943350" y="13335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362450" y="124777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一条从目标到边界的评价链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362450" y="1457325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目标、样本、输出、判据、指标、边界，指标不是终点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3848100" y="1809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943350" y="19050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362450" y="181927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准确率在数什么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362450" y="20288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十道事实题答对八道，数的是这份材料和这套判据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848100" y="2381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943350" y="24765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362450" y="2390775"/>
            <a:ext cx="280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为什么需要两个分母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362450" y="260032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报出来的有多少是真的，应找到的有没有被找到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3848100" y="2952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3943350" y="30480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362450" y="2962275"/>
            <a:ext cx="2800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局部合格，不等于任务完成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362450" y="3171825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逐条通过、工具成功、引用贴上，都还不是交付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848100" y="3524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943350" y="36195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362450" y="3533775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至少一次，与每次都可靠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362450" y="3743325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多给机会越来越容易，每次都成功越来越难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3848100" y="4095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943350" y="41910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4362450" y="410527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没有唯一答案时怎样打分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362450" y="43148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配对比较、位置偏差与逐项核对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848100" y="4667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943350" y="47625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362450" y="4676775"/>
            <a:ext cx="251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自信是否可信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362450" y="4886325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报出的把握要接受校准与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Brier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分数的检验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848100" y="5238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943350" y="53340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362450" y="52482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等待时间与花费的口径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362450" y="54578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与端到端、分位数、每次成功任务成本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3848100" y="5810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943350" y="59055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362450" y="5819775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证据能说明多远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362450" y="60293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区间宽度、测试污染与基准饱和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31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774" name="" descr="&lt;Slide notes={`先建立一条线，后面所有指标都挂在这条线上。&#10;&#10;起因是两句话：“回答很像专业策划”“说话比较谨慎”。这两句都是印象。印象不是没用，它提示我们先去看什么，但它不能拿来比较两个候选，因为没有人能说清它到底测了什么。&#10;&#10;要把它变成可测量的，第一件事是确定使用目标。目标是减少报名整理中的遗漏，还是可靠地调整活动安排，这两件事要准备的材料和检查的东西完全不同。&#10;&#10;目标定下来，才轮到选样本：用什么材料、出哪些题。然后决定记录什么可见的结果，再在动手之前把判分规则写死，避免看到答案后回头改标准。判完分才汇总成指标，最后写上适用范围。&#10;&#10;顺序不能颠倒。很多看起来精确的数字之所以没用，是因为链条的某一环在事后才被补上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1&lt;/Text&gt;&#10;            &lt;/Box&gt;&#10;            &lt;Text style={{ fontSize: 16, color: '#546779' }}&gt;1.3　导言&lt;/Text&gt;&#10;        &lt;/Box&gt;&#10;&#10;        &lt;Text style={{ fontSize: 56, fontWeight: 'bold', color: '#20344B', lineHeight: 1.15 }}&gt;一条从目标到边界的评价链&lt;/Text&gt;&#10;&#10;        &lt;Box style={{ width: 640, height: 4, background: '#276FBF' }} /&gt;&#10;&#10;        &lt;Text style={{ fontSize: 19, color: '#546779', lineHeight: 1.7 }}&gt;指标只是这条链上的一环。选错了任务，再精确的计算也回答不了原来的问题。&lt;/Text&gt;&#10;&#10;        &lt;Box style={{ flexDirection: 'row', gap: 16, marginTop: 8 }}&gt;&#10;            &lt;Box style={{ width: 150, height: 62, background: '#EDF4FC', borderRadius: 8, justifyContent: 'center', alignItems: 'center' }}&gt;&#10;                &lt;Text style={{ fontSize: 15, color: '#276FBF' }}&gt;使用目标&lt;/Text&gt;&#10;            &lt;/Box&gt;&#10;            &lt;Box style={{ width: 150, height: 62, background: '#EDF4FC', borderRadius: 8, justifyContent: 'center', alignItems: 'center' }}&gt;&#10;                &lt;Text style={{ fontSize: 15, color: '#276FBF' }}&gt;任务样本&lt;/Text&gt;&#10;            &lt;/Box&gt;&#10;            &lt;Box style={{ width: 150, height: 62, background: '#EDF4FC', borderRadius: 8, justifyContent: 'center', alignItems: 'center' }}&gt;&#10;                &lt;Text style={{ fontSize: 15, color: '#276FBF' }}&gt;可观察输出&lt;/Text&gt;&#10;            &lt;/Box&gt;&#10;            &lt;Box style={{ width: 150, height: 62, background: '#ECF7F2', borderRadius: 8, justifyContent: 'center', alignItems: 'center' }}&gt;&#10;                &lt;Text style={{ fontSize: 15, color: '#26816B' }}&gt;判分规则&lt;/Text&gt;&#10;            &lt;/Box&gt;&#10;            &lt;Box style={{ width: 150, height: 62, background: '#ECF7F2', borderRadius: 8, justifyContent: 'center', alignItems: 'center' }}&gt;&#10;                &lt;Text style={{ fontSize: 15, color: '#26816B' }}&gt;汇总指标&lt;/Text&gt;&#10;            &lt;/Box&gt;&#10;            &lt;Box style={{ width: 150, height: 62, background: '#ECF7F2', borderRadius: 8, justifyContent: 'center', alignItems: 'center' }}&gt;&#10;                &lt;Text style={{ fontSize: 15, color: '#26816B' }}&gt;适用范围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6" name=""/>
          <p:cNvSpPr/>
          <p:nvPr/>
        </p:nvSpPr>
        <p:spPr>
          <a:xfrm rot="0" flipH="0" flipV="0">
            <a:off x="609600" y="16478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714375" y="17526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1295400" y="1819275"/>
            <a:ext cx="676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导言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一条从目标到边界的评价链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09600" y="33432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609600" y="35909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指标只是这条链上的一环。选错了任务，再精确的计算也回答不了原来的问题。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09600" y="42481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038225" y="4457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使用目标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2190750" y="42481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2619375" y="4457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任务样本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3771900" y="42481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4133850" y="44577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可观察输出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5353050" y="42481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5781675" y="4457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判分规则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6934200" y="42481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7362825" y="4457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汇总指标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8515350" y="4248150"/>
            <a:ext cx="142875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8943975" y="4457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31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44" name="" descr="&lt;Slide notes={`把六个环节连起来看，一次评价的骨架就清楚了。&#10;&#10;最左边是使用目标。它决定后面所有事：我到底要解决什么问题。目标写成“减少报名整理中的遗漏”和写成“可靠地调整活动安排”，后面每一步都会不一样。&#10;&#10;然后是任务样本。用哪份材料、出哪些题，这是在动手之前就要定下来的。同一份资料出十道题，和换十份资料各出一题，测到的东西不同。&#10;&#10;接着是可观察输出。要事先说清记录什么：只记最终答案，还是把中间步骤、工具调用都留下来。&#10;&#10;判分规则要在看到结果之前写死，否则很容易不自觉地放宽标准。判完分才汇总成指标，最后写上适用范围。&#10;&#10;八个对十个，只有配上“哪份材料、哪些题、什么判据”，才变成一个可以讨论的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　导言&lt;/Text&gt;&#10;            &lt;Text style={{ fontSize: 34, fontWeight: 'bold', color: '#20344B' }}&gt;六环连起来，才叫一次评价&lt;/Text&gt;&#10;        &lt;/Box&gt;&#10;    &lt;/Box&gt;&#10;&#10;    &lt;Box style={{ height: 540, flexDirection: 'column', justifyContent: 'center', gap: 14 }}&gt;&#10;&#10;        &lt;Box style={{ flexDirection: 'row', height: 194, gap: 24 }}&gt;&#10;&#10;            &lt;Box style={{ width: 320, background: '#EDF4FC', borderRadius: 10, padding: 16, flexDirection: 'column', gap: 6 }}&gt;&#10;                &lt;Box style={{ width: 34, height: 34, borderRadius: 8, background: '#276FBF', justifyContent: 'center', alignItems: 'center' }}&gt;&#10;                    &lt;Text style={{ fontSize: 17, fontWeight: 'bold', color: '#FFFFFF' }}&gt;1&lt;/Text&gt;&#10;                &lt;/Box&gt;&#10;                &lt;Text style={{ fontSize: 20, fontWeight: 'bold', color: '#276FBF' }}&gt;使用目标&lt;/Text&gt;&#10;                &lt;Text style={{ fontSize: 14, color: '#546779' }}&gt;要解决什么问题&lt;/Text&gt;&#10;                &lt;Box style={{ height: 1, background: '#B5C7D8', marginTop: 4 }} /&gt;&#10;                &lt;Text style={{ fontSize: 15, color: '#20344B', lineHeight: 1.5 }}&gt;减少报名整理中的遗漏&lt;/Text&gt;&#10;            &lt;/Box&gt;&#10;&#10;            &lt;Box style={{ width: 44, justifyContent: 'center', alignItems: 'center' }}&gt;&#10;                &lt;Text style={{ fontSize: 24, color: '#276FBF' }}&gt;›&lt;/Text&gt;&#10;            &lt;/Box&gt;&#10;&#10;            &lt;Box style={{ width: 320, background: '#EDF4FC', borderRadius: 10, padding: 16, flexDirection: 'column', gap: 6 }}&gt;&#10;                &lt;Box style={{ width: 34, height: 34, borderRadius: 8, background: '#276FBF', justifyContent: 'center', alignItems: 'center' }}&gt;&#10;                    &lt;Text style={{ fontSize: 17, fontWeight: 'bold', color: '#FFFFFF' }}&gt;2&lt;/Text&gt;&#10;                &lt;/Box&gt;&#10;                &lt;Text style={{ fontSize: 20, fontWeight: 'bold', color: '#276FBF' }}&gt;任务样本&lt;/Text&gt;&#10;                &lt;Text style={{ fontSize: 14, color: '#546779' }}&gt;用哪份材料、出哪些题&lt;/Text&gt;&#10;                &lt;Box style={{ height: 1, background: '#B5C7D8', marginTop: 4 }} /&gt;&#10;                &lt;Text style={{ fontSize: 15, color: '#20344B', lineHeight: 1.5 }}&gt;同一份资料上的 10 道题&lt;/Text&gt;&#10;            &lt;/Box&gt;&#10;&#10;            &lt;Box style={{ width: 44, justifyContent: 'center', alignItems: 'center' }}&gt;&#10;                &lt;Text style={{ fontSize: 24, color: '#276FBF' }}&gt;›&lt;/Text&gt;&#10;            &lt;/Box&gt;&#10;&#10;            &lt;Box style={{ width: 320, background: '#EDF4FC', borderRadius: 10, padding: 16, flexDirection: 'column', gap: 6 }}&gt;&#10;                &lt;Box style={{ width: 34, height: 34, borderRadius: 8, background: '#276FBF', justifyContent: 'center', alignItems: 'center' }}&gt;&#10;                    &lt;Text style={{ fontSize: 17, fontWeight: 'bold', color: '#FFFFFF' }}&gt;3&lt;/Text&gt;&#10;                &lt;/Box&gt;&#10;                &lt;Text style={{ fontSize: 20, fontWeight: 'bold', color: '#276FBF' }}&gt;可观察输出&lt;/Text&gt;&#10;                &lt;Text style={{ fontSize: 14, color: '#546779' }}&gt;记录下什么结果&lt;/Text&gt;&#10;                &lt;Box style={{ height: 1, background: '#B5C7D8', marginTop: 4 }} /&gt;&#10;                &lt;Text style={{ fontSize: 15, color: '#20344B', lineHeight: 1.5 }}&gt;助手答案逐题留档&lt;/Text&gt;&#10;            &lt;/Box&gt;&#10;&#10;        &lt;/Box&gt;&#10;&#10;        &lt;Box style={{ height: 26, flexDirection: 'row', justifyContent: 'center' }}&gt;&#10;            &lt;Box style={{ width: 44, justifyContent: 'center', alignItems: 'center' }}&gt;&#10;                &lt;Text style={{ fontSize: 18, color: '#B5C7D8' }}&gt;↓&lt;/Text&gt;&#10;            &lt;/Box&gt;&#10;        &lt;/Box&gt;&#10;&#10;        &lt;Box style={{ flexDirection: 'row', height: 194, gap: 24 }}&gt;&#10;&#10;            &lt;Box style={{ width: 320, background: '#ECF7F2', borderRadius: 10, padding: 16, flexDirection: 'column', gap: 6 }}&gt;&#10;                &lt;Box style={{ width: 34, height: 34, borderRadius: 8, background: '#26816B', justifyContent: 'center', alignItems: 'center' }}&gt;&#10;                    &lt;Text style={{ fontSize: 17, fontWeight: 'bold', color: '#FFFFFF' }}&gt;4&lt;/Text&gt;&#10;                &lt;/Box&gt;&#10;                &lt;Text style={{ fontSize: 20, fontWeight: 'bold', color: '#26816B' }}&gt;判分规则&lt;/Text&gt;&#10;                &lt;Text style={{ fontSize: 14, color: '#546779' }}&gt;怎样算对、怎样算错&lt;/Text&gt;&#10;                &lt;Box style={{ height: 1, background: '#B5C7D8', marginTop: 4 }} /&gt;&#10;                &lt;Text style={{ fontSize: 15, color: '#20344B', lineHeight: 1.5 }}&gt;预先固定标准答案&lt;/Text&gt;&#10;            &lt;/Box&gt;&#10;&#10;            &lt;Box style={{ width: 44, justifyContent: 'center', alignItems: 'center' }}&gt;&#10;                &lt;Text style={{ fontSize: 24, color: '#26816B' }}&gt;›&lt;/Text&gt;&#10;            &lt;/Box&gt;&#10;&#10;            &lt;Box style={{ width: 320, background: '#ECF7F2', borderRadius: 10, padding: 16, flexDirection: 'column', gap: 6 }}&gt;&#10;                &lt;Box style={{ width: 34, height: 34, borderRadius: 8, background: '#26816B', justifyContent: 'center', alignItems: 'center' }}&gt;&#10;                    &lt;Text style={{ fontSize: 17, fontWeight: 'bold', color: '#FFFFFF' }}&gt;5&lt;/Text&gt;&#10;                &lt;/Box&gt;&#10;                &lt;Text style={{ fontSize: 20, fontWeight: 'bold', color: '#26816B' }}&gt;汇总指标&lt;/Text&gt;&#10;                &lt;Text style={{ fontSize: 14, color: '#546779' }}&gt;怎样加成一个数&lt;/Text&gt;&#10;                &lt;Box style={{ height: 1, background: '#B5C7D8', marginTop: 4 }} /&gt;&#10;                &lt;Text style={{ fontSize: 15, color: '#20344B', lineHeight: 1.5 }}&gt;准确率 8 / 10 = 80%&lt;/Text&gt;&#10;            &lt;/Box&gt;&#10;&#10;            &lt;Box style={{ width: 44, justifyContent: 'center', alignItems: 'center' }}&gt;&#10;                &lt;Text style={{ fontSize: 24, color: '#26816B' }}&gt;›&lt;/Text&gt;&#10;            &lt;/Box&gt;&#10;&#10;            &lt;Box style={{ width: 320, background: '#ECF7F2', borderRadius: 10, padding: 16, flexDirection: 'column', gap: 6 }}&gt;&#10;                &lt;Box style={{ width: 34, height: 34, borderRadius: 8, background: '#26816B', justifyContent: 'center', alignItems: 'center' }}&gt;&#10;                    &lt;Text style={{ fontSize: 17, fontWeight: 'bold', color: '#FFFFFF' }}&gt;6&lt;/Text&gt;&#10;                &lt;/Box&gt;&#10;                &lt;Text style={{ fontSize: 20, fontWeight: 'bold', color: '#26816B' }}&gt;适用范围&lt;/Text&gt;&#10;                &lt;Text style={{ fontSize: 14, color: '#546779' }}&gt;结论能走到哪里&lt;/Text&gt;&#10;                &lt;Box style={{ height: 1, background: '#B5C7D8', marginTop: 4 }} /&gt;&#10;                &lt;Text style={{ fontSize: 15, color: '#20344B', lineHeight: 1.5 }}&gt;只限这份材料与这些题目&lt;/Text&gt;&#10;            &lt;/Box&gt;&#10;&#10;        &lt;/Box&gt;&#10;&#10;        &lt;Box style={{ flexDirection: 'row', alignItems: 'center', gap: 16, height: 72, background: '#F4F7FA', borderRadius: 10, padding: '0 22px' }}&gt;&#10;            &lt;Box style={{ width: 4, height: 44, background: '#276FBF' }} /&gt;&#10;            &lt;Text style={{ fontSize: 17, color: '#20344B', lineHeight: 1.6 }}&gt;指标只是这条链上的一环：选错了任务，再精确的计算也不能回答原来的问题。&lt;/Text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导言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六环连起来，才叫一次评价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609600" y="1200150"/>
            <a:ext cx="3048000" cy="1847850"/>
          </a:xfrm>
          <a:prstGeom prst="roundRect">
            <a:avLst>
              <a:gd name="adj" fmla="val 515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0" name=""/>
          <p:cNvSpPr/>
          <p:nvPr/>
        </p:nvSpPr>
        <p:spPr>
          <a:xfrm rot="0" flipH="0" flipV="0">
            <a:off x="762000" y="13525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876300" y="14192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62000" y="17335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使用目标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762000" y="20193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要解决什么问题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762000" y="2276475"/>
            <a:ext cx="2743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62000" y="23431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减少报名整理中的遗漏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4057650" y="1990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4533900" y="1200150"/>
            <a:ext cx="3048000" cy="1847850"/>
          </a:xfrm>
          <a:prstGeom prst="roundRect">
            <a:avLst>
              <a:gd name="adj" fmla="val 515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8" name=""/>
          <p:cNvSpPr/>
          <p:nvPr/>
        </p:nvSpPr>
        <p:spPr>
          <a:xfrm rot="0" flipH="0" flipV="0">
            <a:off x="4686300" y="13525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4800600" y="14192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4686300" y="17335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任务样本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4686300" y="20193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用哪份材料、出哪些题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4686300" y="2276475"/>
            <a:ext cx="2743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4686300" y="23431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同一份资料上的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道题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7981950" y="1990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8458200" y="1200150"/>
            <a:ext cx="3048000" cy="1847850"/>
          </a:xfrm>
          <a:prstGeom prst="roundRect">
            <a:avLst>
              <a:gd name="adj" fmla="val 515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66" name=""/>
          <p:cNvSpPr/>
          <p:nvPr/>
        </p:nvSpPr>
        <p:spPr>
          <a:xfrm rot="0" flipH="0" flipV="0">
            <a:off x="8610600" y="13525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724900" y="14192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8610600" y="17335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可观察输出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610600" y="20193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记录下什么结果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8610600" y="2276475"/>
            <a:ext cx="2743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610600" y="23431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助手答案逐题留档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6057900" y="3200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B5C7D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609600" y="3562350"/>
            <a:ext cx="3048000" cy="1847850"/>
          </a:xfrm>
          <a:prstGeom prst="roundRect">
            <a:avLst>
              <a:gd name="adj" fmla="val 515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4" name=""/>
          <p:cNvSpPr/>
          <p:nvPr/>
        </p:nvSpPr>
        <p:spPr>
          <a:xfrm rot="0" flipH="0" flipV="0">
            <a:off x="762000" y="37147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876300" y="37814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62000" y="40957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判分规则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762000" y="43815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怎样算对、怎样算错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762000" y="4638675"/>
            <a:ext cx="2743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762000" y="47053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预先固定标准答案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4057650" y="43529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4533900" y="3562350"/>
            <a:ext cx="3048000" cy="1847850"/>
          </a:xfrm>
          <a:prstGeom prst="roundRect">
            <a:avLst>
              <a:gd name="adj" fmla="val 515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82" name=""/>
          <p:cNvSpPr/>
          <p:nvPr/>
        </p:nvSpPr>
        <p:spPr>
          <a:xfrm rot="0" flipH="0" flipV="0">
            <a:off x="4686300" y="37147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4800600" y="37814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4686300" y="40957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汇总指标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686300" y="43815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怎样加成一个数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4686300" y="4638675"/>
            <a:ext cx="2743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4686300" y="47053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准确率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8 / 10 = 80%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981950" y="43529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8458200" y="3562350"/>
            <a:ext cx="3048000" cy="1847850"/>
          </a:xfrm>
          <a:prstGeom prst="roundRect">
            <a:avLst>
              <a:gd name="adj" fmla="val 515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8610600" y="37147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724900" y="37814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610600" y="4095750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8610600" y="4381500"/>
            <a:ext cx="274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结论能走到哪里</a:t>
            </a:r>
            <a:endParaRPr/>
          </a:p>
        </p:txBody>
      </p:sp>
      <p:sp>
        <p:nvSpPr>
          <p:cNvPr id="894" name=""/>
          <p:cNvSpPr/>
          <p:nvPr/>
        </p:nvSpPr>
        <p:spPr>
          <a:xfrm rot="0" flipH="0" flipV="0">
            <a:off x="8610600" y="4638675"/>
            <a:ext cx="2743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8610600" y="47053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只限这份材料与这些题目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09600" y="55435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97" name=""/>
          <p:cNvSpPr/>
          <p:nvPr/>
        </p:nvSpPr>
        <p:spPr>
          <a:xfrm rot="0" flipH="0" flipV="0">
            <a:off x="819150" y="56769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1009650" y="5734050"/>
            <a:ext cx="56673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指标只是这条链上的一环：选错了任务，再精确的计算也不能回答原来的问题。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31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901" name="" descr="&lt;Slide notes={`同一条链，换一个使用目标，要准备的东西就完全换了。&#10;&#10;先说目标 A：减少报名整理中的遗漏。它要准备报名材料，人工把应该提取的信息标出来，再检查模型找到多少、误报多少。本质是一次提取，可以逐项对答案。&#10;&#10;再说目标 B：可靠地调整活动安排。这个目标不能只看文字。助手说要改到哪个房间，我必须核对调整之后的实际结果：房间是不是真的换了，容量够不够，有没有顶掉别的安排。&#10;&#10;目标 A 的答案在材料里躺着，是静态的；目标 B 的答案取决于系统真实状态的变化，是动态的。用错目标，后面选样本、定判据都会跟着错。&#10;&#10;本节的人物、题目、运行记录和数值均为虚构教学数据，不是任何实际模型的测评成绩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　导言&lt;/Text&gt;&#10;            &lt;Text style={{ fontSize: 34, fontWeight: 'bold', color: '#20344B' }}&gt;两个目标，两种做法&lt;/Text&gt;&#10;        &lt;/Box&gt;&#10;    &lt;/Box&gt;&#10;&#10;    &lt;Box style={{ height: 540, flexDirection: 'row', gap: 32 }}&gt;&#10;&#10;        &lt;Box style={{ width: 620, flexDirection: 'column', justifyContent: 'center', gap: 20 }}&gt;&#10;&#10;            &lt;Box style={{ height: 215, background: '#EDF4FC', borderRadius: 10, padding: '18px 22px', flexDirection: 'column', gap: 8 }}&gt;&#10;                &lt;Text style={{ fontSize: 14, color: '#276FBF' }}&gt;目标 A&lt;/Text&gt;&#10;                &lt;Text style={{ fontSize: 22, fontWeight: 'bold', color: '#20344B' }}&gt;减少报名整理中的遗漏&lt;/Text&gt;&#10;                &lt;Box style={{ height: 1, background: '#B5C7D8' }} /&gt;&#10;                &lt;Text style={{ fontSize: 16, color: '#20344B', lineHeight: 1.65 }}&gt;先准备报名材料；人工标出应提取的信息；再检查模型找到多少、误报多少。&lt;/Text&gt;&#10;                &lt;Box style={{ flex: 1 }} /&gt;&#10;                &lt;Text style={{ fontSize: 14, color: '#546779' }}&gt;答案就在材料里，可以逐项对&lt;/Text&gt;&#10;            &lt;/Box&gt;&#10;&#10;            &lt;Box style={{ height: 215, background: '#ECF7F2', borderRadius: 10, padding: '18px 22px', flexDirection: 'column', gap: 8 }}&gt;&#10;                &lt;Text style={{ fontSize: 14, color: '#26816B' }}&gt;目标 B&lt;/Text&gt;&#10;                &lt;Text style={{ fontSize: 22, fontWeight: 'bold', color: '#20344B' }}&gt;可靠地调整活动安排&lt;/Text&gt;&#10;                &lt;Box style={{ height: 1, background: '#B5C7D8' }} /&gt;&#10;                &lt;Text style={{ fontSize: 16, color: '#20344B', lineHeight: 1.65 }}&gt;必须核对调整之后的实际结果，不能只数回答中出现了多少正确字段。&lt;/Text&gt;&#10;                &lt;Box style={{ flex: 1 }} /&gt;&#10;                &lt;Text style={{ fontSize: 14, color: '#546779' }}&gt;答案取决于系统真实状态的变化&lt;/Text&gt;&#10;            &lt;/Box&gt;&#10;&#10;        &lt;/Box&gt;&#10;&#10;        &lt;Box style={{ width: 500, flexDirection: 'column', justifyContent: 'center', gap: 20 }}&gt;&#10;&#10;            &lt;Box style={{ height: 230, background: '#F4F7FA', borderRadius: 10, padding: '20px 22px', flexDirection: 'column', gap: 10 }}&gt;&#10;                &lt;Text style={{ fontSize: 20, fontWeight: 'bold', color: '#20344B' }}&gt;评价是一条链&lt;/Text&gt;&#10;                &lt;Text style={{ fontSize: 16, color: '#546779', lineHeight: 1.8 }}&gt;使用目标{'  ›  '}任务样本{'  ›  '}可观察输出{'\n'}判分规则{'  ›  '}汇总指标{'  ›  '}适用范围&lt;/Text&gt;&#10;                &lt;Box style={{ flex: 1 }} /&gt;&#10;                &lt;Text style={{ fontSize: 15, color: '#276FBF' }}&gt;六个环节依次确定，不能事后补&lt;/Text&gt;&#10;            &lt;/Box&gt;&#10;&#10;            &lt;Box style={{ height: 200, background: '#FFF4E6', borderRadius: 10, padding: '20px 22px', flexDirection: 'column', gap: 10 }}&gt;&#10;                &lt;Text style={{ fontSize: 20, fontWeight: 'bold', color: '#CB6B28' }}&gt;数据说明&lt;/Text&gt;&#10;                &lt;Text style={{ fontSize: 16, color: '#20344B', lineHeight: 1.7 }}&gt;全篇人物、题目、运行记录与数值均为虚构教学数据，不是任何实际模型的测评成绩。引用的论文与资料用于说明评价方法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导言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两个目标，两种做法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609600" y="1571625"/>
            <a:ext cx="5905500" cy="2047875"/>
          </a:xfrm>
          <a:prstGeom prst="roundRect">
            <a:avLst>
              <a:gd name="adj" fmla="val 465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819150" y="1743075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目标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819150" y="198120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减少报名整理中的遗漏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819150" y="2314575"/>
            <a:ext cx="5486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819150" y="2400300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先准备报名材料；人工标出应提取的信息；再检查模型找到多少、误报多少。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819150" y="3286125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答案就在材料里，可以逐项对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609600" y="3810000"/>
            <a:ext cx="5905500" cy="2047875"/>
          </a:xfrm>
          <a:prstGeom prst="roundRect">
            <a:avLst>
              <a:gd name="adj" fmla="val 465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目标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819150" y="421957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可靠地调整活动安排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819150" y="4552950"/>
            <a:ext cx="5486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819150" y="46386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必须核对调整之后的实际结果，不能只数回答中出现了多少正确字段。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548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答案取决于系统真实状态的变化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6819900" y="1571625"/>
            <a:ext cx="4762500" cy="219075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7029450" y="1762125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评价是一条链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7029450" y="2085975"/>
            <a:ext cx="4343400" cy="666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使用目标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 › 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任务样本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 › 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可观察输出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判分规则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 › 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汇总指标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 › 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适用范围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7029450" y="3400425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六个环节依次确定，不能事后补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6819900" y="3952875"/>
            <a:ext cx="47625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7029450" y="4143375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数据说明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4343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全篇人物、题目、运行记录与数值均为虚构教学数据，不是任何实际模型的测评成绩。引用的论文与资料用于说明评价方法。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31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27" name="" descr="&lt;Slide notes={`现在进入第一个具体的算法口。&#10;&#10;我让助手读一份已经确认过的开放日资料，然后回答十道事实题。评分的人事先把标准答案写好，只看事实对不对；&quot;上午九点&quot;和&quot;09:00&quot;算同一个答案。&#10;&#10;十道题里答对八道，准确率是百分之八十。这句话本身没有问题，问题在于它经常被读成&quot;这个助手在开放日这件事上有八成靠得住&quot;。这两句话差得很远。&#10;&#10;八个对十个，它说明的只是：在这份资料、这十道题、这套判分规则下，助手答对了八道。它没有说明其余所有开放日问题也有八成的成功率。&#10;&#10;所以第一个要盯住的词是分母。分母是多少，由我们事先约定，而不是看到结果以后再说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2&lt;/Text&gt;&#10;            &lt;/Box&gt;&#10;            &lt;Text style={{ fontSize: 16, color: '#546779' }}&gt;1.3.1　从十道小题开始&lt;/Text&gt;&#10;        &lt;/Box&gt;&#10;&#10;        &lt;Text style={{ fontSize: 56, fontWeight: 'bold', color: '#20344B', lineHeight: 1.15 }}&gt;准确率在数什么&lt;/Text&gt;&#10;&#10;        &lt;Box style={{ width: 640, height: 4, background: '#276FBF' }} /&gt;&#10;&#10;        &lt;Text style={{ fontSize: 19, color: '#546779', lineHeight: 1.7 }}&gt;同一份材料、十道事实题、预先确定的答案，共同限定 8 / 10 的含义。&lt;/Text&gt;&#10;&#10;        &lt;Box style={{ flexDirection: 'row', alignItems: 'center', gap: 8, marginTop: 8 }}&gt;&#10;            &lt;Box style={{ width: 110 }}&gt;&lt;Text style={{ fontSize: 14, color: '#546779' }}&gt;十道题&lt;/Text&gt;&lt;/Box&gt;&#10;            &lt;Box style={{ flexDirection: 'row', gap: 6 }}&gt;&#10;                &lt;Box style={{ width: 52, height: 52, background: '#26816B', borderRadius: 6, justifyContent: 'center', alignItems: 'center' }}&gt;&#10;                    &lt;Text style={{ fontSize: 15, fontWeight: 'bold', color: '#FFFFFF' }}&gt;1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2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3&lt;/Text&gt;&#10;                &lt;/Box&gt;&#10;                &lt;Box style={{ width: 52, height: 52, background: '#CB6B28', borderRadius: 6, justifyContent: 'center', alignItems: 'center' }}&gt;&#10;                    &lt;Text style={{ fontSize: 15, fontWeight: 'bold', color: '#FFFFFF' }}&gt;4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5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6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7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8&lt;/Text&gt;&#10;                &lt;/Box&gt;&#10;                &lt;Box style={{ width: 52, height: 52, background: '#CB6B28', borderRadius: 6, justifyContent: 'center', alignItems: 'center' }}&gt;&#10;                    &lt;Text style={{ fontSize: 15, fontWeight: 'bold', color: '#FFFFFF' }}&gt;9&lt;/Text&gt;&#10;                &lt;/Box&gt;&#10;                &lt;Box style={{ width: 52, height: 52, background: '#26816B', borderRadius: 6, justifyContent: 'center', alignItems: 'center' }}&gt;&#10;                    &lt;Text style={{ fontSize: 15, fontWeight: 'bold', color: '#FFFFFF' }}&gt;10&lt;/Text&gt;&#10;                &lt;/Box&gt;&#10;            &lt;/Box&gt;&#10;            &lt;Box style={{ width: 120 }}&gt;&lt;Text style={{ fontSize: 14, color: '#546779' }}&gt;　对 8　错 2&lt;/Text&gt;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9" name=""/>
          <p:cNvSpPr/>
          <p:nvPr/>
        </p:nvSpPr>
        <p:spPr>
          <a:xfrm rot="0" flipH="0" flipV="0">
            <a:off x="609600" y="16954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714375" y="18002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1295400" y="186690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1.3.1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从十道小题开始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09600" y="24384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准确率在数什么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609600" y="33909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09600" y="36385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同一份材料、十道事实题、预先确定的答案，共同限定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 / 10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的含义。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十道题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173355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193357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228600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248602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283845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303847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339090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359092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394335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414337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449580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469582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504825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524827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560070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580072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615315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6353175" y="4457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6705600" y="4295775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867525" y="4457700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7277100" y="44672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错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31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59" name="" descr="&lt;Slide notes={`现在看十道题的具体得分。&#10;&#10;前十道题里，第四题问阅读活动几点结束，标准答案是十点十分，助手答成了十点三十。第九题问绘画活动的人数上限，标准答案十二人，助手答了十五人。其余八题都对。&#10;&#10;每题对记一，错记零，最后一列相加得到八。准确率就等于正确题数除以纳入评价的题数，八除以十，百分之八十。&#10;&#10;注意判分里那个约定：上午九点和零九比零被视为同一个答案。这不是小事，格式上的差异要不要算错，必须在动手之前说清楚。&#10;&#10;还有一点，这十道题主要测的是信息读取。它没有测复杂排程，更没有测真实工具执行。所以这个百分之八十，只在这份资料、这十道题和这套判分规则下成立，不能说成所有开放日问题都有八成的成功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1　从十道小题开始&lt;/Text&gt;&#10;            &lt;Text style={{ fontSize: 34, fontWeight: 'bold', color: '#20344B' }}&gt;十道事实题，八个答对&lt;/Text&gt;&#10;        &lt;/Box&gt;&#10;    &lt;/Box&gt;&#10;&#10;    &lt;Box style={{ height: 540, flexDirection: 'column', justifyContent: 'center', gap: 18 }}&gt;&#10;&#10;        &lt;Box style={{ flexDirection: 'row', gap: 24 }}&gt;&#10;&#10;            &lt;Box style={{ width: 564, flexDirection: 'column', gap: 6 }}&gt;&#10;                &lt;Box style={{ flexDirection: 'row', height: 24, padding: '0 12px', gap: 8 }}&gt;&#10;                    &lt;Box style={{ width: 30 }}&gt;&lt;Text style={{ fontSize: 13, color: '#546779' }}&gt;题&lt;/Text&gt;&lt;/Box&gt;&#10;                    &lt;Box style={{ flex: 1 }}&gt;&lt;Text style={{ fontSize: 13, color: '#546779' }}&gt;问题&lt;/Text&gt;&lt;/Box&gt;&#10;                    &lt;Box style={{ width: 66 }}&gt;&lt;Text style={{ fontSize: 13, color: '#546779' }}&gt;标准答案&lt;/Text&gt;&lt;/Box&gt;&#10;                    &lt;Box style={{ width: 66 }}&gt;&lt;Text style={{ fontSize: 13, color: '#546779' }}&gt;助手答案&lt;/Text&gt;&lt;/Box&gt;&#10;                    &lt;Box style={{ width: 30 }}&gt;&lt;Text style={{ fontSize: 13, color: '#546779' }}&gt;分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1&lt;/Text&gt;&lt;/Box&gt;&#10;                    &lt;Box style={{ flex: 1 }}&gt;&lt;Text style={{ fontSize: 15, color: '#20344B' }}&gt;报到几点开始？&lt;/Text&gt;&lt;/Box&gt;&#10;                    &lt;Box style={{ width: 66 }}&gt;&lt;Text style={{ fontSize: 14, color: '#546779' }}&gt;09:00&lt;/Text&gt;&lt;/Box&gt;&#10;                    &lt;Box style={{ width: 66 }}&gt;&lt;Text style={{ fontSize: 14, color: '#20344B' }}&gt;09:00&lt;/Text&gt;&lt;/Box&gt;&#10;                    &lt;Box style={{ width: 30 }}&gt;&lt;Text style={{ fontSize: 16, fontWeight: 'bold', color: '#26816B' }}&gt;1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2&lt;/Text&gt;&lt;/Box&gt;&#10;                    &lt;Box style={{ flex: 1 }}&gt;&lt;Text style={{ fontSize: 15, color: '#20344B' }}&gt;志愿者几点集合？&lt;/Text&gt;&lt;/Box&gt;&#10;                    &lt;Box style={{ width: 66 }}&gt;&lt;Text style={{ fontSize: 14, color: '#546779' }}&gt;08:45&lt;/Text&gt;&lt;/Box&gt;&#10;                    &lt;Box style={{ width: 66 }}&gt;&lt;Text style={{ fontSize: 14, color: '#20344B' }}&gt;08:45&lt;/Text&gt;&lt;/Box&gt;&#10;                    &lt;Box style={{ width: 30 }}&gt;&lt;Text style={{ fontSize: 16, fontWeight: 'bold', color: '#26816B' }}&gt;1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3&lt;/Text&gt;&lt;/Box&gt;&#10;                    &lt;Box style={{ flex: 1 }}&gt;&lt;Text style={{ fontSize: 15, color: '#20344B' }}&gt;阅读活动几点开始？&lt;/Text&gt;&lt;/Box&gt;&#10;                    &lt;Box style={{ width: 66 }}&gt;&lt;Text style={{ fontSize: 14, color: '#546779' }}&gt;09:30&lt;/Text&gt;&lt;/Box&gt;&#10;                    &lt;Box style={{ width: 66 }}&gt;&lt;Text style={{ fontSize: 14, color: '#20344B' }}&gt;09:30&lt;/Text&gt;&lt;/Box&gt;&#10;                    &lt;Box style={{ width: 30 }}&gt;&lt;Text style={{ fontSize: 16, fontWeight: 'bold', color: '#26816B' }}&gt;1&lt;/Text&gt;&lt;/Box&gt;&#10;                &lt;/Box&gt;&#10;&#10;                &lt;Box style={{ flexDirection: 'row', height: 50, background: '#FFF4E6', borderRadius: 8, padding: '0 12px', alignItems: 'center', gap: 8 }}&gt;&#10;                    &lt;Box style={{ width: 30 }}&gt;&lt;Text style={{ fontSize: 14, color: '#CB6B28' }}&gt;4&lt;/Text&gt;&lt;/Box&gt;&#10;                    &lt;Box style={{ flex: 1 }}&gt;&lt;Text style={{ fontSize: 15, color: '#20344B' }}&gt;阅读活动几点结束？&lt;/Text&gt;&lt;/Box&gt;&#10;                    &lt;Box style={{ width: 66 }}&gt;&lt;Text style={{ fontSize: 14, color: '#546779' }}&gt;10:10&lt;/Text&gt;&lt;/Box&gt;&#10;                    &lt;Box style={{ width: 66 }}&gt;&lt;Text style={{ fontSize: 14, color: '#CB6B28' }}&gt;10:30&lt;/Text&gt;&lt;/Box&gt;&#10;                    &lt;Box style={{ width: 30 }}&gt;&lt;Text style={{ fontSize: 16, fontWeight: 'bold', color: '#CB6B28' }}&gt;0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5&lt;/Text&gt;&lt;/Box&gt;&#10;                    &lt;Box style={{ flex: 1 }}&gt;&lt;Text style={{ fontSize: 15, color: '#20344B' }}&gt;阅读活动在哪个房间？&lt;/Text&gt;&lt;/Box&gt;&#10;                    &lt;Box style={{ width: 66 }}&gt;&lt;Text style={{ fontSize: 14, color: '#546779' }}&gt;阅览室&lt;/Text&gt;&lt;/Box&gt;&#10;                    &lt;Box style={{ width: 66 }}&gt;&lt;Text style={{ fontSize: 14, color: '#20344B' }}&gt;阅览室&lt;/Text&gt;&lt;/Box&gt;&#10;                    &lt;Box style={{ width: 30 }}&gt;&lt;Text style={{ fontSize: 16, fontWeight: 'bold', color: '#26816B' }}&gt;1&lt;/Text&gt;&lt;/Box&gt;&#10;                &lt;/Box&gt;&#10;            &lt;/Box&gt;&#10;&#10;            &lt;Box style={{ width: 564, flexDirection: 'column', gap: 6 }}&gt;&#10;                &lt;Box style={{ flexDirection: 'row', height: 24, padding: '0 12px', gap: 8 }}&gt;&#10;                    &lt;Box style={{ width: 30 }}&gt;&lt;Text style={{ fontSize: 13, color: '#546779' }}&gt;题&lt;/Text&gt;&lt;/Box&gt;&#10;                    &lt;Box style={{ flex: 1 }}&gt;&lt;Text style={{ fontSize: 13, color: '#546779' }}&gt;问题&lt;/Text&gt;&lt;/Box&gt;&#10;                    &lt;Box style={{ width: 66 }}&gt;&lt;Text style={{ fontSize: 13, color: '#546779' }}&gt;标准答案&lt;/Text&gt;&lt;/Box&gt;&#10;                    &lt;Box style={{ width: 66 }}&gt;&lt;Text style={{ fontSize: 13, color: '#546779' }}&gt;助手答案&lt;/Text&gt;&lt;/Box&gt;&#10;                    &lt;Box style={{ width: 30 }}&gt;&lt;Text style={{ fontSize: 13, color: '#546779' }}&gt;分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6&lt;/Text&gt;&lt;/Box&gt;&#10;                    &lt;Box style={{ flex: 1 }}&gt;&lt;Text style={{ fontSize: 15, color: '#20344B' }}&gt;阅读活动人数上限？&lt;/Text&gt;&lt;/Box&gt;&#10;                    &lt;Box style={{ width: 66 }}&gt;&lt;Text style={{ fontSize: 14, color: '#546779' }}&gt;20 人&lt;/Text&gt;&lt;/Box&gt;&#10;                    &lt;Box style={{ width: 66 }}&gt;&lt;Text style={{ fontSize: 14, color: '#20344B' }}&gt;20 人&lt;/Text&gt;&lt;/Box&gt;&#10;                    &lt;Box style={{ width: 30 }}&gt;&lt;Text style={{ fontSize: 16, fontWeight: 'bold', color: '#26816B' }}&gt;1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7&lt;/Text&gt;&lt;/Box&gt;&#10;                    &lt;Box style={{ flex: 1 }}&gt;&lt;Text style={{ fontSize: 15, color: '#20344B' }}&gt;绘画活动几点开始？&lt;/Text&gt;&lt;/Box&gt;&#10;                    &lt;Box style={{ width: 66 }}&gt;&lt;Text style={{ fontSize: 14, color: '#546779' }}&gt;10:00&lt;/Text&gt;&lt;/Box&gt;&#10;                    &lt;Box style={{ width: 66 }}&gt;&lt;Text style={{ fontSize: 14, color: '#20344B' }}&gt;10:00&lt;/Text&gt;&lt;/Box&gt;&#10;                    &lt;Box style={{ width: 30 }}&gt;&lt;Text style={{ fontSize: 16, fontWeight: 'bold', color: '#26816B' }}&gt;1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8&lt;/Text&gt;&lt;/Box&gt;&#10;                    &lt;Box style={{ flex: 1 }}&gt;&lt;Text style={{ fontSize: 15, color: '#20344B' }}&gt;绘画活动几点结束？&lt;/Text&gt;&lt;/Box&gt;&#10;                    &lt;Box style={{ width: 66 }}&gt;&lt;Text style={{ fontSize: 14, color: '#546779' }}&gt;10:40&lt;/Text&gt;&lt;/Box&gt;&#10;                    &lt;Box style={{ width: 66 }}&gt;&lt;Text style={{ fontSize: 14, color: '#20344B' }}&gt;10:40&lt;/Text&gt;&lt;/Box&gt;&#10;                    &lt;Box style={{ width: 30 }}&gt;&lt;Text style={{ fontSize: 16, fontWeight: 'bold', color: '#26816B' }}&gt;1&lt;/Text&gt;&lt;/Box&gt;&#10;                &lt;/Box&gt;&#10;&#10;                &lt;Box style={{ flexDirection: 'row', height: 50, background: '#FFF4E6', borderRadius: 8, padding: '0 12px', alignItems: 'center', gap: 8 }}&gt;&#10;                    &lt;Box style={{ width: 30 }}&gt;&lt;Text style={{ fontSize: 14, color: '#CB6B28' }}&gt;9&lt;/Text&gt;&lt;/Box&gt;&#10;                    &lt;Box style={{ flex: 1 }}&gt;&lt;Text style={{ fontSize: 15, color: '#20344B' }}&gt;绘画活动人数上限？&lt;/Text&gt;&lt;/Box&gt;&#10;                    &lt;Box style={{ width: 66 }}&gt;&lt;Text style={{ fontSize: 14, color: '#546779' }}&gt;12 人&lt;/Text&gt;&lt;/Box&gt;&#10;                    &lt;Box style={{ width: 66 }}&gt;&lt;Text style={{ fontSize: 14, color: '#CB6B28' }}&gt;15 人&lt;/Text&gt;&lt;/Box&gt;&#10;                    &lt;Box style={{ width: 30 }}&gt;&lt;Text style={{ fontSize: 16, fontWeight: 'bold', color: '#CB6B28' }}&gt;0&lt;/Text&gt;&lt;/Box&gt;&#10;                &lt;/Box&gt;&#10;&#10;                &lt;Box style={{ flexDirection: 'row', height: 50, background: '#F4F7FA', borderRadius: 8, padding: '0 12px', alignItems: 'center', gap: 8 }}&gt;&#10;                    &lt;Box style={{ width: 30 }}&gt;&lt;Text style={{ fontSize: 14, color: '#546779' }}&gt;10&lt;/Text&gt;&lt;/Box&gt;&#10;                    &lt;Box style={{ flex: 1 }}&gt;&lt;Text style={{ fontSize: 15, color: '#20344B' }}&gt;服务台提供无障碍协助？&lt;/Text&gt;&lt;/Box&gt;&#10;                    &lt;Box style={{ width: 66 }}&gt;&lt;Text style={{ fontSize: 14, color: '#546779' }}&gt;提供&lt;/Text&gt;&lt;/Box&gt;&#10;                    &lt;Box style={{ width: 66 }}&gt;&lt;Text style={{ fontSize: 14, color: '#20344B' }}&gt;提供&lt;/Text&gt;&lt;/Box&gt;&#10;                    &lt;Box style={{ width: 30 }}&gt;&lt;Text style={{ fontSize: 16, fontWeight: 'bold', color: '#26816B' }}&gt;1&lt;/Text&gt;&lt;/Box&gt;&#10;                &lt;/Box&gt;&#10;            &lt;/Box&gt;&#10;&#10;        &lt;/Box&gt;&#10;&#10;        &lt;Box style={{ flexDirection: 'row', alignItems: 'center', justifyContent: 'center', height: 112, background: '#F4F7FA', borderRadius: 10, gap: 12 }}&gt;&#10;            &lt;Box style={{ width: 120, height: 56, background: '#276FBF', borderRadius: 8, justifyContent: 'center', alignItems: 'center' }}&gt;&#10;                &lt;Text style={{ fontSize: 19, fontWeight: 'bold', color: '#FFFFFF' }}&gt;准确率&lt;/Text&gt;&#10;            &lt;/Box&gt;&#10;            &lt;Box style={{ width: 26, justifyContent: 'center', alignItems: 'center' }}&gt;&#10;                &lt;Text style={{ fontSize: 22, color: '#546779' }}&gt;=&lt;/Text&gt;&#10;            &lt;/Box&gt;&#10;            &lt;Box style={{ width: 168, height: 56, background: '#EDF4FC', borderRadius: 8, justifyContent: 'center', alignItems: 'center' }}&gt;&#10;                &lt;Text style={{ fontSize: 17, color: '#20344B' }}&gt;正确题数　8&lt;/Text&gt;&#10;            &lt;/Box&gt;&#10;            &lt;Box style={{ width: 26, justifyContent: 'center', alignItems: 'center' }}&gt;&#10;                &lt;Text style={{ fontSize: 22, color: '#546779' }}&gt;/&lt;/Text&gt;&#10;            &lt;/Box&gt;&#10;            &lt;Box style={{ width: 230, height: 56, background: '#EDF4FC', borderRadius: 8, justifyContent: 'center', alignItems: 'center' }}&gt;&#10;                &lt;Text style={{ fontSize: 17, color: '#20344B' }}&gt;纳入评价的题数　10&lt;/Text&gt;&#10;            &lt;/Box&gt;&#10;            &lt;Box style={{ width: 26, justifyContent: 'center', alignItems: 'center' }}&gt;&#10;                &lt;Text style={{ fontSize: 22, color: '#546779' }}&gt;=&lt;/Text&gt;&#10;            &lt;/Box&gt;&#10;            &lt;Box style={{ width: 120, height: 56, background: '#26816B', borderRadius: 8, justifyContent: 'center', alignItems: 'center' }}&gt;&#10;                &lt;Text style={{ fontSize: 22, fontWeight: 'bold', color: '#FFFFFF' }}&gt;80%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从十道小题开始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十道事实题，八个答对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723900" y="16478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1085850" y="1647825"/>
            <a:ext cx="300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4171950" y="1647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标准答案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4876800" y="1647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助手答案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5581650" y="16478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609600" y="19335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723900" y="20955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1085850" y="20859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报到几点开始？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4171950" y="20955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4876800" y="20955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5581650" y="20764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609600" y="24669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723900" y="26289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1085850" y="26193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志愿者几点集合？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4171950" y="26289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08:45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4876800" y="26289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08:45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5581650" y="26098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81" name=""/>
          <p:cNvSpPr/>
          <p:nvPr/>
        </p:nvSpPr>
        <p:spPr>
          <a:xfrm rot="0" flipH="0" flipV="0">
            <a:off x="609600" y="30003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723900" y="3162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1085850" y="31527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阅读活动几点开始？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4171950" y="31623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09:30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4876800" y="31623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09:30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5581650" y="31432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609600" y="35337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723900" y="36957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085850" y="36861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阅读活动几点结束？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4171950" y="36957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10:10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4876800" y="36957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5581650" y="36766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609600" y="40671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723900" y="42291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1085850" y="42195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阅读活动在哪个房间？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4171950" y="42291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阅览室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4876800" y="42291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阅览室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5581650" y="42100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6324600" y="16478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6686550" y="1647825"/>
            <a:ext cx="300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9772650" y="1647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标准答案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10477500" y="1647825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助手答案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11182350" y="16478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6210300" y="19335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6324600" y="20955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6686550" y="20859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阅读活动人数上限？</a:t>
            </a:r>
            <a:endParaRPr/>
          </a:p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9772650" y="20955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10477500" y="20955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11182350" y="20764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6210300" y="24669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6324600" y="26289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6686550" y="26193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绘画活动几点开始？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9772650" y="26289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10477500" y="26289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11182350" y="26098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6210300" y="30003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6324600" y="3162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6686550" y="31527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绘画活动几点结束？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9772650" y="31623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10:40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10477500" y="31623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10:40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11182350" y="31432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6210300" y="35337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6324600" y="36957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6686550" y="36861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绘画活动人数上限？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9772650" y="36957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10477500" y="36957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11182350" y="36766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6210300" y="4067175"/>
            <a:ext cx="5372100" cy="47625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6324600" y="42291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6686550" y="4219575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服务台提供无障碍协助？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9772650" y="42291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提供</a:t>
            </a:r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10477500" y="42291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提供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11182350" y="42100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609600" y="4714875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35" name=""/>
          <p:cNvSpPr/>
          <p:nvPr/>
        </p:nvSpPr>
        <p:spPr>
          <a:xfrm rot="0" flipH="0" flipV="0">
            <a:off x="2343150" y="4981575"/>
            <a:ext cx="11430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2647950" y="514350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准确率</a:t>
            </a:r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3648075" y="51244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3962400" y="4981575"/>
            <a:ext cx="16002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4314825" y="5153025"/>
            <a:ext cx="904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正确题数　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5753100" y="5124450"/>
            <a:ext cx="95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546779"/>
                </a:solidFill>
                <a:latin typeface="Microsoft YaHei"/>
                <a:ea typeface="Microsoft YaHei"/>
              </a:rPr>
              <a:t>/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6038850" y="4981575"/>
            <a:ext cx="21907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6391275" y="5153025"/>
            <a:ext cx="1485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纳入评价的题数　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8391525" y="51244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8705850" y="4981575"/>
            <a:ext cx="11430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9048750" y="5124450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80%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31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048" name="" descr="&lt;Slide notes={`分母这件事，必须在动手之前约定，不能看到结果以后再定。&#10;&#10;第一种情形是超时。假如第十题超时没答完，按本次“限时完成全部问题”的规则，这一题要计失败，分母仍然是十，不能因为它超时就把它从题集里拿掉。&#10;&#10;第二种情形是外部中断。试验被停电打断了，可以按预先定好的规则把这一次作废，但必须记录原因。最要避免的是看到结果以后只保留成功的那部分响应。&#10;&#10;第三种情形是拒答。拒答怎么算分，要由题目目标决定：资料里明明有答案却拒答，可能是失败；资料里没有答案，承认自己不知道，可能是正确。&#10;&#10;如果每题恰好四个选项、只有一个正确、选择又是均匀随机的，猜的期望准确率是四分之一。但这是长期平均，不代表随便猜十题一定对两三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1　从十道小题开始&lt;/Text&gt;&#10;            &lt;Text style={{ fontSize: 34, fontWeight: 'bold', color: '#20344B' }}&gt;分母必须事先约定&lt;/Text&gt;&#10;        &lt;/Box&gt;&#10;    &lt;/Box&gt;&#10;&#10;    &lt;Box style={{ height: 540, flexDirection: 'row', gap: 32 }}&gt;&#10;&#10;        &lt;Box style={{ width: 440, flexDirection: 'column', justifyContent: 'center', gap: 14 }}&gt;&#10;            &lt;Text style={{ fontSize: 21, fontWeight: 'bold', color: '#20344B' }}&gt;三种情形，三种处理&lt;/Text&gt;&#10;&#10;            &lt;Box style={{ height: 130, background: '#F4F7FA', borderRadius: 10, padding: '16px 18px', flexDirection: 'column', gap: 6 }}&gt;&#10;                &lt;Text style={{ fontSize: 18, fontWeight: 'bold', color: '#276FBF' }}&gt;第十题超时&lt;/Text&gt;&#10;                &lt;Text style={{ fontSize: 15, color: '#20344B', lineHeight: 1.6 }}&gt;按“限时完成全部问题”的规则计失败，仍以十题为分母。&lt;/Text&gt;&#10;            &lt;/Box&gt;&#10;&#10;            &lt;Box style={{ height: 130, background: '#F4F7FA', borderRadius: 10, padding: '16px 18px', flexDirection: 'column', gap: 6 }}&gt;&#10;                &lt;Text style={{ fontSize: 18, fontWeight: 'bold', color: '#276FBF' }}&gt;试验被外部中断&lt;/Text&gt;&#10;                &lt;Text style={{ fontSize: 15, color: '#20344B', lineHeight: 1.6 }}&gt;可按预定规则作废，但要记录原因；不能看到结果后只保留成功响应。&lt;/Text&gt;&#10;            &lt;/Box&gt;&#10;&#10;            &lt;Box style={{ height: 130, background: '#FFF4E6', borderRadius: 10, padding: '16px 18px', flexDirection: 'column', gap: 6 }}&gt;&#10;                &lt;Text style={{ fontSize: 18, fontWeight: 'bold', color: '#CB6B28' }}&gt;自由回答中的拒答&lt;/Text&gt;&#10;                &lt;Text style={{ fontSize: 15, color: '#20344B', lineHeight: 1.6 }}&gt;由题目目标决定：资料有答案却拒答可能是失败，资料没有答案时承认未知可能是正确。&lt;/Text&gt;&#10;            &lt;/Box&gt;&#10;&#10;        &lt;/Box&gt;&#10;&#10;        &lt;Box style={{ width: 680, flexDirection: 'column', justifyContent: 'center', gap: 14 }}&gt;&#10;            &lt;Text style={{ fontSize: 21, fontWeight: 'bold', color: '#20344B' }}&gt;题型还影响起点&lt;/Text&gt;&#10;&#10;            &lt;Box style={{ height: 160, background: '#EDF4FC', borderRadius: 10, padding: '18px 22px', flexDirection: 'column', gap: 8 }}&gt;&#10;                &lt;Text style={{ fontSize: 18, fontWeight: 'bold', color: '#276FBF' }}&gt;四选一，均匀随机选择&lt;/Text&gt;&#10;                &lt;Box style={{ flexDirection: 'row', alignItems: 'center', gap: 14 }}&gt;&#10;                    &lt;Text style={{ fontSize: 40, fontWeight: 'bold', color: '#276FBF' }}&gt;25%&lt;/Text&gt;&#10;                    &lt;Text style={{ fontSize: 16, color: '#546779', lineHeight: 1.6 }}&gt;猜测的期望准确率{'\n'}这只是长期平均，不是“随便猜十题必对两三题”&lt;/Text&gt;&#10;                &lt;/Box&gt;&#10;            &lt;/Box&gt;&#10;&#10;            &lt;Box style={{ height: 160, background: '#ECF7F2', borderRadius: 10, padding: '18px 22px', flexDirection: 'column', gap: 8 }}&gt;&#10;                &lt;Text style={{ fontSize: 18, fontWeight: 'bold', color: '#26816B' }}&gt;难度决定证据分量&lt;/Text&gt;&#10;                &lt;Text style={{ fontSize: 16, color: '#20344B', lineHeight: 1.7 }}&gt;题目若全是很容易的常识，90% 与在专业难题上拿到的 90%，不是同一种证据。&lt;/Text&gt;&#10;                &lt;Box style={{ flex: 1 }} /&gt;&#10;                &lt;Text style={{ fontSize: 14, color: '#546779' }}&gt;看准确率之前，先问题目从哪里来&lt;/Text&gt;&#10;            &lt;/Box&gt;&#10;&#10;            &lt;Box style={{ height: 130, background: '#F4F7FA', borderRadius: 10, padding: '18px 22px', flexDirection: 'column', gap: 6 }}&gt;&#10;                &lt;Text style={{ fontSize: 18, fontWeight: 'bold', color: '#20344B' }}&gt;一句话记住&lt;/Text&gt;&#10;                &lt;Text style={{ fontSize: 16, color: '#546779', lineHeight: 1.65 }}&gt;分母是约定，不是发现。写清分母，别人才知道你数的是什么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从十道小题开始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分母必须事先约定</a:t>
            </a:r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4191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三种情形，三种处理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609600" y="1914525"/>
            <a:ext cx="41910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781050" y="2066925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第十题超时</a:t>
            </a:r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781050" y="2333625"/>
            <a:ext cx="3848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按“限时完成全部问题”的规则计失败，仍以十题为分母。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609600" y="3286125"/>
            <a:ext cx="41910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781050" y="3438525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试验被外部中断</a:t>
            </a:r>
            <a:endParaRPr/>
          </a:p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781050" y="3705225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可按预定规则作废，但要记录原因；不能看到结果后只保留成功响应。</a:t>
            </a:r>
            <a:endParaRPr/>
          </a:p>
        </p:txBody>
      </p:sp>
      <p:sp>
        <p:nvSpPr>
          <p:cNvPr id="1060" name=""/>
          <p:cNvSpPr/>
          <p:nvPr/>
        </p:nvSpPr>
        <p:spPr>
          <a:xfrm rot="0" flipH="0" flipV="0">
            <a:off x="609600" y="4657725"/>
            <a:ext cx="4191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781050" y="4810125"/>
            <a:ext cx="3848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自由回答中的拒答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781050" y="5076825"/>
            <a:ext cx="38481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由题目目标决定：资料有答案却拒答可能是失败，资料没有答案时承认未知可能是正确。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5105400" y="1247775"/>
            <a:ext cx="6477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题型还影响起点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5105400" y="1628775"/>
            <a:ext cx="6477000" cy="1524000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5314950" y="180022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四选一，均匀随机选择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5314950" y="2152650"/>
            <a:ext cx="828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25%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6276975" y="2085975"/>
            <a:ext cx="33528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猜测的期望准确率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这只是长期平均，不是“随便猜十题必对两三题”</a:t>
            </a:r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5105400" y="3286125"/>
            <a:ext cx="6477000" cy="1524000"/>
          </a:xfrm>
          <a:prstGeom prst="roundRect">
            <a:avLst>
              <a:gd name="adj" fmla="val 62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5314950" y="345757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难度决定证据分量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5314950" y="3743325"/>
            <a:ext cx="60579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题目若全是很容易的常识，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90%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与在专业难题上拿到的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90%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，不是同一种证据。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5314950" y="44767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看准确率之前，先问题目从哪里来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5105400" y="4943475"/>
            <a:ext cx="64770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5314950" y="511492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一句话记住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5314950" y="5381625"/>
            <a:ext cx="60579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分母是约定，不是发现。写清分母，别人才知道你数的是什么。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31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077" name="" descr="&lt;Slide notes={`接下来换一个任务，指标也跟着换了。&#10;&#10;前面那道题是回答问题，对错分明。现在让助手整理报名材料：材料里实际有十二项报名，助手报出十项，其中八项是对的，两项是误读，另外还漏掉了四项。&#10;&#10;这时候如果还只算一个准确率，就会把两类完全不同的错误糊在一起。多报出来的那两项，和漏掉的那四项，对组织者的影响是不一样的。&#10;&#10;所以要把&quot;应该找出多少&quot;和&quot;实际报出来多少&quot;分成两个分母。这两个分母各自回答一句话：报出来的里面有多少是真的，应该找出来的里面有多少真的被找到了。&#10;&#10;一旦有两个分母，后面所有讨论都要先问一句：这个分数用的是哪个分母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3&lt;/Text&gt;&#10;            &lt;/Box&gt;&#10;            &lt;Text style={{ fontSize: 16, color: '#546779' }}&gt;1.3.2　少报和误报&lt;/Text&gt;&#10;        &lt;/Box&gt;&#10;&#10;        &lt;Text style={{ fontSize: 56, fontWeight: 'bold', color: '#20344B', lineHeight: 1.15 }}&gt;为什么需要两个分母&lt;/Text&gt;&#10;&#10;        &lt;Box style={{ width: 640, height: 4, background: '#276FBF' }} /&gt;&#10;&#10;        &lt;Text style={{ fontSize: 19, color: '#546779', lineHeight: 1.7 }}&gt;真实 12 项、输出 10 项、正确 8 项：应找出来多少，与报出来多少，各是一个分母。&lt;/Text&gt;&#10;&#10;        &lt;Box style={{ flexDirection: 'row', alignItems: 'center', gap: 14, marginTop: 8 }}&gt;&#10;            &lt;Box style={{ width: 210 }}&gt;&#10;                &lt;Text style={{ fontSize: 15, color: '#546779' }}&gt;真实报名　12 项&lt;/Text&gt;&#10;            &lt;/Box&gt;&#10;            &lt;Box style={{ flexDirection: 'row', gap: 0 }}&gt;&#10;                &lt;Box style={{ width: 200, height: 40, background: '#26816B', borderRadius: 6, justifyContent: 'center', alignItems: 'center' }}&gt;&#10;                    &lt;Text style={{ fontSize: 14, color: '#FFFFFF' }}&gt;找到 8 项&lt;/Text&gt;&#10;                &lt;/Box&gt;&#10;                &lt;Box style={{ width: 100, height: 40, background: '#CB6B28', borderRadius: 6, justifyContent: 'center', alignItems: 'center' }}&gt;&#10;                    &lt;Text style={{ fontSize: 14, color: '#FFFFFF' }}&gt;漏 4&lt;/Text&gt;&#10;                &lt;/Box&gt;&#10;            &lt;/Box&gt;&#10;        &lt;/Box&gt;&#10;&#10;        &lt;Box style={{ flexDirection: 'row', alignItems: 'center', gap: 14 }}&gt;&#10;            &lt;Box style={{ width: 210 }}&gt;&#10;                &lt;Text style={{ fontSize: 15, color: '#546779' }}&gt;模型输出　10 项&lt;/Text&gt;&#10;            &lt;/Box&gt;&#10;            &lt;Box style={{ flexDirection: 'row', gap: 0 }}&gt;&#10;                &lt;Box style={{ width: 200, height: 40, background: '#26816B', borderRadius: 6, justifyContent: 'center', alignItems: 'center' }}&gt;&#10;                    &lt;Text style={{ fontSize: 14, color: '#FFFFFF' }}&gt;找到 8 项&lt;/Text&gt;&#10;                &lt;/Box&gt;&#10;                &lt;Box style={{ width: 100, height: 40, background: '#CB6B28', borderRadius: 6, justifyContent: 'center', alignItems: 'center' }}&gt;&#10;                    &lt;Text style={{ fontSize: 14, color: '#FFFFFF' }}&gt;误报 2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0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9" name=""/>
          <p:cNvSpPr/>
          <p:nvPr/>
        </p:nvSpPr>
        <p:spPr>
          <a:xfrm rot="0" flipH="0" flipV="0">
            <a:off x="609600" y="14573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714375" y="15621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1295400" y="162877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1.3.2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少报和误报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为什么需要两个分母</a:t>
            </a:r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609600" y="31527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真实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项、输出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项、正确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项：应找出来多少，与报出来多少，各是一个分母。</a:t>
            </a:r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609600" y="416242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真实报名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2743200" y="4057650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3419475" y="417195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找到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4648200" y="4057650"/>
            <a:ext cx="952500" cy="381000"/>
          </a:xfrm>
          <a:prstGeom prst="roundRect">
            <a:avLst>
              <a:gd name="adj" fmla="val 15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5000625" y="4171950"/>
            <a:ext cx="257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漏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模型输出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2743200" y="4648200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3419475" y="47625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找到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4648200" y="4648200"/>
            <a:ext cx="952500" cy="381000"/>
          </a:xfrm>
          <a:prstGeom prst="roundRect">
            <a:avLst>
              <a:gd name="adj" fmla="val 15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4933950" y="47625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误报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31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notes={`把十二项和十项并排摆开，两个分母就看得见了。&#10;&#10;上面一条是真实情况：材料里确实有十二项报名，助手找到了八项，漏掉四项。下面一条是模型输出：一共报出十项，其中八项是对的，两项是它读错了。&#10;&#10;两条绿段长度一样，因为那是同一批八项正确报名。上面多出来的是漏掉的，下面多出来的是误报的。&#10;&#10;精确率问的是报出来的里面有多少是真的，八项对十项，八成。召回率问的是应该找出来的里面有多少被找到，八项对十二项，约六成七。F1 用调和平均把两者合起来，十六除以二十二，约七成三；只要有一项很低，总分就被拉下来。&#10;&#10;但这两个错误的代价并不一样。漏掉一条无障碍协助需求，可能比多交给人工复核一条候选严重得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2　少报和误报&lt;/Text&gt;&#10;            &lt;Text style={{ fontSize: 34, fontWeight: 'bold', color: '#20344B' }}&gt;12 项真实报名，10 项输出&lt;/Text&gt;&#10;        &lt;/Box&gt;&#10;    &lt;/Box&gt;&#10;&#10;    &lt;Box style={{ height: 540, flexDirection: 'column', justifyContent: 'center', gap: 20 }}&gt;&#10;&#10;        &lt;Box style={{ flexDirection: 'row', alignItems: 'center', height: 88 }}&gt;&#10;            &lt;Box style={{ width: 140, flexDirection: 'column', gap: 2 }}&gt;&#10;                &lt;Text style={{ fontSize: 17, fontWeight: 'bold', color: '#20344B' }}&gt;真实报名&lt;/Text&gt;&#10;                &lt;Text style={{ fontSize: 14, color: '#546779' }}&gt;共 12 项&lt;/Text&gt;&#10;            &lt;/Box&gt;&#10;            &lt;Box style={{ width: 16 }} /&gt;&#10;            &lt;Box style={{ width: 600, flexDirection: 'row', height: 44 }}&gt;&#10;                &lt;Box style={{ width: 50, height: 44, background: '#26816B', justifyContent: 'center', alignItems: 'center' }}&gt;&lt;Text style={{ fontSize: 13, color: '#FFFFFF' }}&gt;1&lt;/Text&gt;&lt;/Box&gt;&#10;                &lt;Box style={{ width: 50, height: 44, background: '#26816B', justifyContent: 'center', alignItems: 'center' }}&gt;&lt;Text style={{ fontSize: 13, color: '#FFFFFF' }}&gt;2&lt;/Text&gt;&lt;/Box&gt;&#10;                &lt;Box style={{ width: 50, height: 44, background: '#26816B', justifyContent: 'center', alignItems: 'center' }}&gt;&lt;Text style={{ fontSize: 13, color: '#FFFFFF' }}&gt;3&lt;/Text&gt;&lt;/Box&gt;&#10;                &lt;Box style={{ width: 50, height: 44, background: '#26816B', justifyContent: 'center', alignItems: 'center' }}&gt;&lt;Text style={{ fontSize: 13, color: '#FFFFFF' }}&gt;4&lt;/Text&gt;&lt;/Box&gt;&#10;                &lt;Box style={{ width: 50, height: 44, background: '#26816B', justifyContent: 'center', alignItems: 'center' }}&gt;&lt;Text style={{ fontSize: 13, color: '#FFFFFF' }}&gt;5&lt;/Text&gt;&lt;/Box&gt;&#10;                &lt;Box style={{ width: 50, height: 44, background: '#26816B', justifyContent: 'center', alignItems: 'center' }}&gt;&lt;Text style={{ fontSize: 13, color: '#FFFFFF' }}&gt;6&lt;/Text&gt;&lt;/Box&gt;&#10;                &lt;Box style={{ width: 50, height: 44, background: '#26816B', justifyContent: 'center', alignItems: 'center' }}&gt;&lt;Text style={{ fontSize: 13, color: '#FFFFFF' }}&gt;7&lt;/Text&gt;&lt;/Box&gt;&#10;                &lt;Box style={{ width: 50, height: 44, background: '#26816B', justifyContent: 'center', alignItems: 'center' }}&gt;&lt;Text style={{ fontSize: 13, color: '#FFFFFF' }}&gt;8&lt;/Text&gt;&lt;/Box&gt;&#10;                &lt;Box style={{ width: 50, height: 44, background: '#CB6B28', justifyContent: 'center', alignItems: 'center' }}&gt;&lt;Text style={{ fontSize: 13, color: '#FFFFFF' }}&gt;9&lt;/Text&gt;&lt;/Box&gt;&#10;                &lt;Box style={{ width: 50, height: 44, background: '#CB6B28', justifyContent: 'center', alignItems: 'center' }}&gt;&lt;Text style={{ fontSize: 13, color: '#FFFFFF' }}&gt;10&lt;/Text&gt;&lt;/Box&gt;&#10;                &lt;Box style={{ width: 50, height: 44, background: '#CB6B28', justifyContent: 'center', alignItems: 'center' }}&gt;&lt;Text style={{ fontSize: 13, color: '#FFFFFF' }}&gt;11&lt;/Text&gt;&lt;/Box&gt;&#10;                &lt;Box style={{ width: 50, height: 44, background: '#CB6B28', justifyContent: 'center', alignItems: 'center' }}&gt;&lt;Text style={{ fontSize: 13, color: '#FFFFFF' }}&gt;12&lt;/Text&gt;&lt;/Box&gt;&#10;            &lt;/Box&gt;&#10;            &lt;Box style={{ width: 16 }} /&gt;&#10;            &lt;Box style={{ flex: 1, flexDirection: 'column', gap: 2 }}&gt;&#10;                &lt;Text style={{ fontSize: 15, color: '#26816B' }}&gt;找到 8 项（TP）&lt;/Text&gt;&#10;                &lt;Text style={{ fontSize: 15, color: '#CB6B28' }}&gt;遗漏 4 项（FN）&lt;/Text&gt;&#10;            &lt;/Box&gt;&#10;        &lt;/Box&gt;&#10;&#10;        &lt;Box style={{ flexDirection: 'row', alignItems: 'center', height: 88 }}&gt;&#10;            &lt;Box style={{ width: 140, flexDirection: 'column', gap: 2 }}&gt;&#10;                &lt;Text style={{ fontSize: 17, fontWeight: 'bold', color: '#20344B' }}&gt;模型输出&lt;/Text&gt;&#10;                &lt;Text style={{ fontSize: 14, color: '#546779' }}&gt;共 10 项&lt;/Text&gt;&#10;            &lt;/Box&gt;&#10;            &lt;Box style={{ width: 16 }} /&gt;&#10;            &lt;Box style={{ width: 600, flexDirection: 'row', height: 44 }}&gt;&#10;                &lt;Box style={{ width: 50, height: 44, background: '#26816B', justifyContent: 'center', alignItems: 'center' }}&gt;&lt;Text style={{ fontSize: 13, color: '#FFFFFF' }}&gt;1&lt;/Text&gt;&lt;/Box&gt;&#10;                &lt;Box style={{ width: 50, height: 44, background: '#26816B', justifyContent: 'center', alignItems: 'center' }}&gt;&lt;Text style={{ fontSize: 13, color: '#FFFFFF' }}&gt;2&lt;/Text&gt;&lt;/Box&gt;&#10;                &lt;Box style={{ width: 50, height: 44, background: '#26816B', justifyContent: 'center', alignItems: 'center' }}&gt;&lt;Text style={{ fontSize: 13, color: '#FFFFFF' }}&gt;3&lt;/Text&gt;&lt;/Box&gt;&#10;                &lt;Box style={{ width: 50, height: 44, background: '#26816B', justifyContent: 'center', alignItems: 'center' }}&gt;&lt;Text style={{ fontSize: 13, color: '#FFFFFF' }}&gt;4&lt;/Text&gt;&lt;/Box&gt;&#10;                &lt;Box style={{ width: 50, height: 44, background: '#26816B', justifyContent: 'center', alignItems: 'center' }}&gt;&lt;Text style={{ fontSize: 13, color: '#FFFFFF' }}&gt;5&lt;/Text&gt;&lt;/Box&gt;&#10;                &lt;Box style={{ width: 50, height: 44, background: '#26816B', justifyContent: 'center', alignItems: 'center' }}&gt;&lt;Text style={{ fontSize: 13, color: '#FFFFFF' }}&gt;6&lt;/Text&gt;&lt;/Box&gt;&#10;                &lt;Box style={{ width: 50, height: 44, background: '#26816B', justifyContent: 'center', alignItems: 'center' }}&gt;&lt;Text style={{ fontSize: 13, color: '#FFFFFF' }}&gt;7&lt;/Text&gt;&lt;/Box&gt;&#10;                &lt;Box style={{ width: 50, height: 44, background: '#26816B', justifyContent: 'center', alignItems: 'center' }}&gt;&lt;Text style={{ fontSize: 13, color: '#FFFFFF' }}&gt;8&lt;/Text&gt;&lt;/Box&gt;&#10;                &lt;Box style={{ width: 50, height: 44, background: '#CB6B28', justifyContent: 'center', alignItems: 'center' }}&gt;&lt;Text style={{ fontSize: 13, color: '#FFFFFF' }}&gt;9&lt;/Text&gt;&lt;/Box&gt;&#10;                &lt;Box style={{ width: 50, height: 44, background: '#CB6B28', justifyContent: 'center', alignItems: 'center' }}&gt;&lt;Text style={{ fontSize: 13, color: '#FFFFFF' }}&gt;10&lt;/Text&gt;&lt;/Box&gt;&#10;                &lt;Box style={{ width: 100 }} /&gt;&#10;            &lt;/Box&gt;&#10;            &lt;Box style={{ width: 16 }} /&gt;&#10;            &lt;Box style={{ flex: 1, flexDirection: 'column', gap: 2 }}&gt;&#10;                &lt;Text style={{ fontSize: 15, color: '#26816B' }}&gt;正确 8 项（TP）&lt;/Text&gt;&#10;                &lt;Text style={{ fontSize: 15, color: '#CB6B28' }}&gt;误报 2 项（FP）&lt;/Text&gt;&#10;            &lt;/Box&gt;&#10;        &lt;/Box&gt;&#10;&#10;        &lt;Box style={{ height: 30, flexDirection: 'row', alignItems: 'center', gap: 10 }}&gt;&#10;            &lt;Box style={{ width: 3, height: 20, background: '#276FBF' }} /&gt;&#10;            &lt;Text style={{ fontSize: 15, color: '#546779' }}&gt;两处绿色是同一批 8 项正确报名；上面多出的是遗漏，下面多出的是误报。&lt;/Text&gt;&#10;        &lt;/Box&gt;&#10;&#10;        &lt;Box style={{ flexDirection: 'row', gap: 32, height: 124 }}&gt;&#10;&#10;            &lt;Box style={{ width: 340, background: '#EDF4FC', borderRadius: 10, padding: '14px 18px', flexDirection: 'column', gap: 6 }}&gt;&#10;                &lt;Text style={{ fontSize: 17, fontWeight: 'bold', color: '#276FBF' }}&gt;Precision　精确率&lt;/Text&gt;&#10;                &lt;Text style={{ fontSize: 15, color: '#546779', lineHeight: 1.5 }}&gt;TP / (TP + FP) = 8 / 10&lt;/Text&gt;&#10;                &lt;Box style={{ flex: 1 }} /&gt;&#10;                &lt;Text style={{ fontSize: 22, fontWeight: 'bold', color: '#276FBF' }}&gt;= 80%&lt;/Text&gt;&#10;            &lt;/Box&gt;&#10;&#10;            &lt;Box style={{ width: 340, background: '#ECF7F2', borderRadius: 10, padding: '14px 18px', flexDirection: 'column', gap: 6 }}&gt;&#10;                &lt;Text style={{ fontSize: 17, fontWeight: 'bold', color: '#26816B' }}&gt;Recall　召回率&lt;/Text&gt;&#10;                &lt;Text style={{ fontSize: 15, color: '#546779', lineHeight: 1.5 }}&gt;TP / (TP + FN) = 8 / 12&lt;/Text&gt;&#10;                &lt;Box style={{ flex: 1 }} /&gt;&#10;                &lt;Text style={{ fontSize: 22, fontWeight: 'bold', color: '#26816B' }}&gt;≈ 66.67%&lt;/Text&gt;&#10;            &lt;/Box&gt;&#10;&#10;            &lt;Box style={{ width: 340, background: '#F7F3E8', borderRadius: 10, padding: '14px 18px', flexDirection: 'column', gap: 6 }}&gt;&#10;                &lt;Text style={{ fontSize: 17, fontWeight: 'bold', color: '#20344B' }}&gt;F1　调和平均&lt;/Text&gt;&#10;                &lt;Text style={{ fontSize: 15, color: '#546779', lineHeight: 1.5 }}&gt;2TP / (2TP + FP + FN) = 16 / 22&lt;/Text&gt;&#10;                &lt;Box style={{ flex: 1 }} /&gt;&#10;                &lt;Text style={{ fontSize: 22, fontWeight: 'bold', color: '#20344B' }}&gt;≈ 72.73%&lt;/Text&gt;&#10;            &lt;/Box&gt;&#10;&#10;        &lt;/Box&gt;&#10;&#10;        &lt;Box style={{ flexDirection: 'row', alignItems: 'center', gap: 16, height: 96, background: '#FFF4E6', borderRadius: 10, padding: '0 22px' }}&gt;&#10;            &lt;Box style={{ width: 4, height: 60, background: '#CB6B28' }} /&gt;&#10;            &lt;Box style={{ flex: 1, flexDirection: 'column', gap: 4 }}&gt;&#10;                &lt;Text style={{ fontSize: 17, fontWeight: 'bold', color: '#CB6B28' }}&gt;F1 不会替组织者决定错误的代价&lt;/Text&gt;&#10;                &lt;Text style={{ fontSize: 15, color: '#546779', lineHeight: 1.55 }}&gt;漏掉无障碍协助需求，可能比多交给人工复核一条候选严重得多；此时仍要单独报告召回率，并据业务代价设定验收门槛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914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少报和误报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项真实报名，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项输出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真实报名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209550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29552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257175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77177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04800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24802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52425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72427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400050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0052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47675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67677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95300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15302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429250" y="15144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62927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905500" y="1514475"/>
            <a:ext cx="47625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105525" y="16478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381750" y="1514475"/>
            <a:ext cx="47625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543675" y="1647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858000" y="1514475"/>
            <a:ext cx="47625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019925" y="1647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7334250" y="1514475"/>
            <a:ext cx="47625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496175" y="16478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962900" y="15430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找到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项（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TP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962900" y="17335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遗漏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项（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FN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256222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模型输出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209550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29552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257175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77177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04800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24802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52425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72427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400050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20052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47675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67677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495300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15302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5429250" y="2543175"/>
            <a:ext cx="476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62927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905500" y="2543175"/>
            <a:ext cx="47625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105525" y="267652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381750" y="2543175"/>
            <a:ext cx="47625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543675" y="26765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962900" y="25717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正确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项（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TP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962900" y="2762250"/>
            <a:ext cx="3619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误报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项（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FP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3409950"/>
            <a:ext cx="28575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33425" y="3419475"/>
            <a:ext cx="4743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两处绿色是同一批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项正确报名；上面多出的是遗漏，下面多出的是误报。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09600" y="3838575"/>
            <a:ext cx="323850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81050" y="397192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Precision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精确率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TP / (TP + FP) = 8 / 10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1050" y="46291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Microsoft YaHei"/>
                <a:ea typeface="Microsoft YaHei"/>
              </a:rPr>
              <a:t>= 80%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4152900" y="3838575"/>
            <a:ext cx="323850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24350" y="397192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Recall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　召回率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324350" y="42291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TP / (TP + FN) = 8 / 12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324350" y="46291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>≈ 66.67%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696200" y="3838575"/>
            <a:ext cx="3238500" cy="1181100"/>
          </a:xfrm>
          <a:prstGeom prst="roundRect">
            <a:avLst>
              <a:gd name="adj" fmla="val 806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867650" y="397192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F1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调和平均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867650" y="42291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2TP / (2TP + FP + FN) = 16 / 22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67650" y="462915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>≈ 72.73%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52101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819150" y="538162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09650" y="541972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不会替组织者决定错误的代价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09650" y="5657850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漏掉无障碍协助需求，可能比多交给人工复核一条候选严重得多；此时仍要单独报告召回率，并据业务代价设定验收门槛。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31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00" name="" descr="&lt;Slide notes={`多类信息放在一起汇总，结论还可能再变一次。&#10;&#10;普通报名的计数还是刚才那组，另外一类是无障碍协助需求，它的 TP 是 2、FP 是 0、FN 是 2，单独算 F1 约六成七。&#10;&#10;宏平均先算每一类的 F1，再平等地平均，得到约六成九七，每一类权重相同。微平均先合并计数得到 TP 十、FP 二、FN 六，再算一次，得到约七成一四，项目多的类别影响更大。&#10;&#10;所以报“F1 是多少”时必须交代平均方式；宏 F1 也不是把宏精确率和宏召回率再代进 F1 公式。&#10;&#10;零分母也要提前约定。没有输出任何项目时精确率分母为零；某一类在真实材料里完全不存在时召回率分母为零；三个数都是零时 F1 也没有定义。但真实有项目而全部漏掉时 F1 就是零，不能按“不适用”隐藏失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2　少报和误报&lt;/Text&gt;&#10;            &lt;Text style={{ fontSize: 34, fontWeight: 'bold', color: '#20344B' }}&gt;宏平均、微平均与零分母&lt;/Text&gt;&#10;        &lt;/Box&gt;&#10;    &lt;/Box&gt;&#10;&#10;    &lt;Box style={{ height: 540, flexDirection: 'row', gap: 32 }}&gt;&#10;&#10;        &lt;Box style={{ width: 500, flexDirection: 'column', justifyContent: 'center', gap: 16 }}&gt;&#10;            &lt;Text style={{ fontSize: 21, fontWeight: 'bold', color: '#20344B' }}&gt;两类平均，两个结论&lt;/Text&gt;&#10;&#10;            &lt;Box style={{ height: 175, background: '#EDF4FC', borderRadius: 10, padding: '16px 20px', flexDirection: 'column', gap: 6 }}&gt;&#10;                &lt;Text style={{ fontSize: 18, fontWeight: 'bold', color: '#276FBF' }}&gt;宏平均　先算每类 F1 再平均&lt;/Text&gt;&#10;                &lt;Text style={{ fontSize: 15, color: '#20344B', lineHeight: 1.55 }}&gt;( 72.73% + 66.67% ) / 2 ≈ 69.70%&lt;/Text&gt;&#10;                &lt;Box style={{ flex: 1 }} /&gt;&#10;                &lt;Text style={{ fontSize: 14, color: '#546779' }}&gt;每一类权重相同，不受项目数量影响&lt;/Text&gt;&#10;            &lt;/Box&gt;&#10;&#10;            &lt;Box style={{ height: 175, background: '#ECF7F2', borderRadius: 10, padding: '16px 20px', flexDirection: 'column', gap: 6 }}&gt;&#10;                &lt;Text style={{ fontSize: 18, fontWeight: 'bold', color: '#26816B' }}&gt;微平均　先合并计数再计算&lt;/Text&gt;&#10;                &lt;Text style={{ fontSize: 15, color: '#20344B', lineHeight: 1.55 }}&gt;TP=10、FP=2、FN=6{'\n'}20 / 28 ≈ 71.43%&lt;/Text&gt;&#10;                &lt;Box style={{ flex: 1 }} /&gt;&#10;                &lt;Text style={{ fontSize: 14, color: '#546779' }}&gt;项目多的类别产生更大影响&lt;/Text&gt;&#10;            &lt;/Box&gt;&#10;&#10;            &lt;Box style={{ flexDirection: 'row', alignItems: 'center', gap: 12, height: 60, background: '#F4F7FA', borderRadius: 10, padding: '0 18px' }}&gt;&#10;                &lt;Box style={{ width: 3, height: 30, background: '#276FBF' }} /&gt;&#10;                &lt;Text style={{ fontSize: 15, color: '#20344B', lineHeight: 1.5 }}&gt;报“F1 为多少”时，必须交代平均方式；宏 F1 也不是把宏精确率、宏召回率再代入 F1 公式。&lt;/Text&gt;&#10;            &lt;/Box&gt;&#10;&#10;        &lt;/Box&gt;&#10;&#10;        &lt;Box style={{ width: 620, flexDirection: 'column', justifyContent: 'center', gap: 12 }}&gt;&#10;            &lt;Text style={{ fontSize: 21, fontWeight: 'bold', color: '#20344B' }}&gt;分母为零的三种情形&lt;/Text&gt;&#10;&#10;            &lt;Box style={{ flexDirection: 'row', height: 92, background: '#FFF4E6', borderRadius: 10, padding: '0 18px', alignItems: 'center', gap: 16 }}&gt;&#10;                &lt;Box style={{ width: 4, height: 52, background: '#CB6B28' }} /&gt;&#10;                &lt;Box style={{ flex: 1, flexDirection: 'column', gap: 2 }}&gt;&#10;                    &lt;Text style={{ fontSize: 17, fontWeight: 'bold', color: '#CB6B28' }}&gt;没有输出任何项目&lt;/Text&gt;&#10;                    &lt;Text style={{ fontSize: 15, color: '#546779' }}&gt;精确率的分母为零&lt;/Text&gt;&#10;                &lt;/Box&gt;&#10;            &lt;/Box&gt;&#10;&#10;            &lt;Box style={{ flexDirection: 'row', height: 92, background: '#FFF4E6', borderRadius: 10, padding: '0 18px', alignItems: 'center', gap: 16 }}&gt;&#10;                &lt;Box style={{ width: 4, height: 52, background: '#CB6B28' }} /&gt;&#10;                &lt;Box style={{ flex: 1, flexDirection: 'column', gap: 2 }}&gt;&#10;                    &lt;Text style={{ fontSize: 17, fontWeight: 'bold', color: '#CB6B28' }}&gt;某类在真实材料中完全不存在&lt;/Text&gt;&#10;                    &lt;Text style={{ fontSize: 15, color: '#546779' }}&gt;召回率的分母为零&lt;/Text&gt;&#10;                &lt;/Box&gt;&#10;            &lt;/Box&gt;&#10;&#10;            &lt;Box style={{ flexDirection: 'row', height: 92, background: '#FFF4E6', borderRadius: 10, padding: '0 18px', alignItems: 'center', gap: 16 }}&gt;&#10;                &lt;Box style={{ width: 4, height: 52, background: '#CB6B28' }} /&gt;&#10;                &lt;Box style={{ flex: 1, flexDirection: 'column', gap: 2 }}&gt;&#10;                    &lt;Text style={{ fontSize: 17, fontWeight: 'bold', color: '#CB6B28' }}&gt;TP、FP、FN 都为零&lt;/Text&gt;&#10;                    &lt;Text style={{ fontSize: 15, color: '#546779' }}&gt;F1 也未定义&lt;/Text&gt;&#10;                &lt;/Box&gt;&#10;            &lt;/Box&gt;&#10;&#10;            &lt;Box style={{ height: 80, background: '#F4F7FA', borderRadius: 10, padding: '14px 18px', flexDirection: 'column', gap: 4 }}&gt;&#10;                &lt;Text style={{ fontSize: 15, color: '#20344B', lineHeight: 1.5 }}&gt;提前约定显示“不适用”、按指定值计分或从汇总中排除，并公布有效类别数。&lt;/Text&gt;&#10;            &lt;/Box&gt;&#10;&#10;            &lt;Box style={{ height: 76, background: '#EDF4FC', borderRadius: 10, padding: '14px 18px', flexDirection: 'column', gap: 4, justifyContent: 'center' }}&gt;&#10;                &lt;Text style={{ fontSize: 16, fontWeight: 'bold', color: '#276FBF' }}&gt;真实有项目却全部漏掉时，F1 为 0&lt;/Text&gt;&#10;                &lt;Text style={{ fontSize: 14, color: '#546779' }}&gt;不能按“不适用”隐藏失败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少报和误报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宏平均、微平均与零分母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4762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两类平均，两个结论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1809750"/>
            <a:ext cx="4762500" cy="1666875"/>
          </a:xfrm>
          <a:prstGeom prst="roundRect">
            <a:avLst>
              <a:gd name="adj" fmla="val 571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00100" y="19621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宏平均　先算每类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再平均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00100" y="2228850"/>
            <a:ext cx="4381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( 72.73% + 66.67% ) / 2 ≈ 69.70%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00100" y="3162300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每一类权重相同，不受项目数量影响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3629025"/>
            <a:ext cx="4762500" cy="1666875"/>
          </a:xfrm>
          <a:prstGeom prst="roundRect">
            <a:avLst>
              <a:gd name="adj" fmla="val 571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微平均　先合并计数再计算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00100" y="4048125"/>
            <a:ext cx="4381500" cy="5334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TP=10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FP=2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FN=6</a:t>
            </a:r>
            <a:endParaRPr/>
          </a:p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20 / 28 ≈ 71.43%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00100" y="4981575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项目多的类别产生更大影响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5448300"/>
            <a:ext cx="4762500" cy="5715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81050" y="5591175"/>
            <a:ext cx="28575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23925" y="5476875"/>
            <a:ext cx="42767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报“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为多少”时，必须交代平均方式；宏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也不是把宏精确率、宏召回率再代入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F1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公式。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676900" y="1247775"/>
            <a:ext cx="590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分母为零的三种情形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676900" y="1609725"/>
            <a:ext cx="59055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5848350" y="18002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38850" y="1857375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没有输出任何项目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38850" y="2076450"/>
            <a:ext cx="537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精确率的分母为零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676900" y="2600325"/>
            <a:ext cx="59055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848350" y="27908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38850" y="2847975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某类在真实材料中完全不存在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38850" y="3067050"/>
            <a:ext cx="537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召回率的分母为零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676900" y="3590925"/>
            <a:ext cx="59055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5848350" y="3781425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38850" y="3838575"/>
            <a:ext cx="5372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TP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FP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、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FN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都为零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38850" y="4057650"/>
            <a:ext cx="537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也未定义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676900" y="4581525"/>
            <a:ext cx="5905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848350" y="4714875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提前约定显示“不适用”、按指定值计分或从汇总中排除，并公布有效类别数。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676900" y="5457825"/>
            <a:ext cx="5905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848350" y="5629275"/>
            <a:ext cx="556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真实有项目却全部漏掉时，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F1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为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0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848350" y="5857875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不能按“不适用”隐藏失败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31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37" name="" descr="&lt;Slide notes={`接下来这几件事，都属于同一个毛病：把链条上的某一环当成了终点。&#10;&#10;组织者要求通知里使用中文、包含日期、列出三个项目、以联系方式结尾。两份通知各有四条可检查的约束，一份全过，另一份过了三条。逐条算通过率是七比八，八成七五。可是“四条同时满足”的通知只有一份，两份里的一份，五成。&#10;&#10;再比如，助手调用改期工具，参数格式正确、工具也返回成功。这只能说明调用没错，不能说明“已经把这个活动移到能容纳全部报名者的空闲房间，并且没有动到别的安排”。&#10;&#10;证据也一样。检索命中了需要的材料，不代表回答正确引用了它；引用了，也不代表引用真的支持那句话。&#10;&#10;中间的比率用来定位失败，最后的任务成功率回答能不能交付，两类要一起保留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4&lt;/Text&gt;&#10;            &lt;/Box&gt;&#10;            &lt;Text style={{ fontSize: 16, color: '#546779' }}&gt;1.3.3　满足要求，是否就完成了任务　·　1.3.5　找到证据，还要用对证据&lt;/Text&gt;&#10;        &lt;/Box&gt;&#10;&#10;        &lt;Text style={{ fontSize: 56, fontWeight: 'bold', color: '#20344B', lineHeight: 1.15 }}&gt;局部合格，不等于任务完成&lt;/Text&gt;&#10;&#10;        &lt;Box style={{ width: 640, height: 4, background: '#276FBF' }} /&gt;&#10;&#10;        &lt;Text style={{ fontSize: 19, color: '#546779', lineHeight: 1.7 }}&gt;逐条通过、工具成功、证据找全，都还有自己的分母；最终要看能不能交付。&lt;/Text&gt;&#10;&#10;        &lt;Box style={{ flexDirection: 'row', alignItems: 'center', gap: 16, marginTop: 8 }}&gt;&#10;            &lt;Box style={{ width: 200, height: 58, background: '#EDF4FC', borderRadius: 8, justifyContent: 'center', alignItems: 'center' }}&gt;&#10;                &lt;Text style={{ fontSize: 15, color: '#276FBF' }}&gt;逐约束通过率&lt;/Text&gt;&#10;            &lt;/Box&gt;&#10;            &lt;Box style={{ width: 44, justifyContent: 'center', alignItems: 'center' }}&gt;&#10;                &lt;Text style={{ fontSize: 22, color: '#B5C7D8' }}&gt;›&lt;/Text&gt;&#10;            &lt;/Box&gt;&#10;            &lt;Box style={{ width: 200, height: 58, background: '#EDF4FC', borderRadius: 8, justifyContent: 'center', alignItems: 'center' }}&gt;&#10;                &lt;Text style={{ fontSize: 15, color: '#276FBF' }}&gt;工具调用正确率&lt;/Text&gt;&#10;            &lt;/Box&gt;&#10;            &lt;Box style={{ width: 44, justifyContent: 'center', alignItems: 'center' }}&gt;&#10;                &lt;Text style={{ fontSize: 22, color: '#B5C7D8' }}&gt;›&lt;/Text&gt;&#10;            &lt;/Box&gt;&#10;            &lt;Box style={{ width: 200, height: 58, background: '#ECF7F2', borderRadius: 8, justifyContent: 'center', alignItems: 'center' }}&gt;&#10;                &lt;Text style={{ fontSize: 15, color: '#26816B' }}&gt;任务成功率&lt;/Text&gt;&#10;            &lt;/Box&gt;&#10;            &lt;Box style={{ width: 130 }} /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09600" y="1666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14375" y="177165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295400" y="1838325"/>
            <a:ext cx="499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满足要求，是否就完成了任务　·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1.3.5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找到证据，还要用对证据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局部合格，不等于任务完成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33623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逐条通过、工具成功、证据找全，都还有自己的分母；最终要看能不能交付。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426720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33475" y="44577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逐约束通过率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2838450" y="44196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B5C7D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3238500" y="426720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695700" y="44577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工具调用正确率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467350" y="44196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B5C7D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867400" y="426720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467475" y="44577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任务成功率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31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5" name="" descr="&lt;Slide notes={`把两份通知放在一起比，问题立刻显出来。&#10;&#10;要求是四条：使用中文、包含日期、列出三个项目、以联系方式结尾。第一份通知四条全过，第二份过了三条。逐条加起来，八条里过了七条，逐约束通过率是百分之八十七点五。&#10;&#10;可是“全部约束同时满足的通知有几份”，答案是两份里的一份，百分之五十。&#10;&#10;这两个数都没错，它们回答的是不同的问题。前者说明这个助手在每条要求上大体可靠，后者说明能直接拿去用的成品只有一半。看榜单时只看到八十七点五，就很容易高估。&#10;&#10;工具调用同理。参数格式正确、工具返回成功，只能证明这次调用没错；任务是否完成，还要看最终房间、容量和有没有改掉别的活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3　满足要求，是否就完成了任务&lt;/Text&gt;&#10;            &lt;Text style={{ fontSize: 34, fontWeight: 'bold', color: '#20344B' }}&gt;87.5% 与 50% 差在哪里&lt;/Text&gt;&#10;        &lt;/Box&gt;&#10;    &lt;/Box&gt;&#10;&#10;    &lt;Box style={{ height: 540, flexDirection: 'column', justifyContent: 'center', gap: 20 }}&gt;&#10;&#10;        &lt;Box style={{ flexDirection: 'row', height: 236 }}&gt;&#10;&#10;            &lt;Box style={{ width: 560, flexDirection: 'column', gap: 16 }}&gt;&#10;&#10;                &lt;Box style={{ height: 110, background: '#ECF7F2', borderRadius: 10, padding: '14px 20px', flexDirection: 'column', gap: 8 }}&gt;&#10;                    &lt;Text style={{ fontSize: 17, fontWeight: 'bold', color: '#26816B' }}&gt;通知一　四条约束全部通过&lt;/Text&gt;&#10;                    &lt;Box style={{ flexDirection: 'row', gap: 8 }}&gt;&#10;                        &lt;Box style={{ width: 122, height: 32, background: '#26816B', borderRadius: 6, justifyContent: 'center', alignItems: 'center' }}&gt;&#10;                            &lt;Text style={{ fontSize: 14, color: '#FFFFFF' }}&gt;中文&lt;/Text&gt;&#10;                        &lt;/Box&gt;&#10;                        &lt;Box style={{ width: 122, height: 32, background: '#26816B', borderRadius: 6, justifyContent: 'center', alignItems: 'center' }}&gt;&#10;                            &lt;Text style={{ fontSize: 14, color: '#FFFFFF' }}&gt;含日期&lt;/Text&gt;&#10;                        &lt;/Box&gt;&#10;                        &lt;Box style={{ width: 122, height: 32, background: '#26816B', borderRadius: 6, justifyContent: 'center', alignItems: 'center' }}&gt;&#10;                            &lt;Text style={{ fontSize: 14, color: '#FFFFFF' }}&gt;三个项目&lt;/Text&gt;&#10;                        &lt;/Box&gt;&#10;                        &lt;Box style={{ width: 122, height: 32, background: '#26816B', borderRadius: 6, justifyContent: 'center', alignItems: 'center' }}&gt;&#10;                            &lt;Text style={{ fontSize: 14, color: '#FFFFFF' }}&gt;联系方式结尾&lt;/Text&gt;&#10;                        &lt;/Box&gt;&#10;                    &lt;/Box&gt;&#10;                &lt;/Box&gt;&#10;&#10;                &lt;Box style={{ height: 110, background: '#FFF4E6', borderRadius: 10, padding: '14px 20px', flexDirection: 'column', gap: 8 }}&gt;&#10;                    &lt;Text style={{ fontSize: 17, fontWeight: 'bold', color: '#CB6B28' }}&gt;通知二　通过三条，缺一条&lt;/Text&gt;&#10;                    &lt;Box style={{ flexDirection: 'row', gap: 8 }}&gt;&#10;                        &lt;Box style={{ width: 122, height: 32, background: '#26816B', borderRadius: 6, justifyContent: 'center', alignItems: 'center' }}&gt;&#10;                            &lt;Text style={{ fontSize: 14, color: '#FFFFFF' }}&gt;中文&lt;/Text&gt;&#10;                        &lt;/Box&gt;&#10;                        &lt;Box style={{ width: 122, height: 32, background: '#26816B', borderRadius: 6, justifyContent: 'center', alignItems: 'center' }}&gt;&#10;                            &lt;Text style={{ fontSize: 14, color: '#FFFFFF' }}&gt;含日期&lt;/Text&gt;&#10;                        &lt;/Box&gt;&#10;                        &lt;Box style={{ width: 122, height: 32, background: '#26816B', borderRadius: 6, justifyContent: 'center', alignItems: 'center' }}&gt;&#10;                            &lt;Text style={{ fontSize: 14, color: '#FFFFFF' }}&gt;三个项目&lt;/Text&gt;&#10;                        &lt;/Box&gt;&#10;                        &lt;Box style={{ width: 122, height: 32, background: '#CB6B28', borderRadius: 6, justifyContent: 'center', alignItems: 'center' }}&gt;&#10;                            &lt;Text style={{ fontSize: 14, color: '#FFFFFF' }}&gt;未通过&lt;/Text&gt;&#10;                        &lt;/Box&gt;&#10;                    &lt;/Box&gt;&#10;                &lt;/Box&gt;&#10;&#10;            &lt;/Box&gt;&#10;&#10;            &lt;Box style={{ width: 32 }} /&gt;&#10;&#10;            &lt;Box style={{ width: 560, flexDirection: 'column', gap: 16 }}&gt;&#10;&#10;                &lt;Box style={{ height: 110, background: '#EDF4FC', borderRadius: 10, padding: '14px 22px', flexDirection: 'row', alignItems: 'center', gap: 18 }}&gt;&#10;                    &lt;Text style={{ fontSize: 40, fontWeight: 'bold', color: '#276FBF' }}&gt;87.5%&lt;/Text&gt;&#10;                    &lt;Box style={{ flex: 1, flexDirection: 'column', gap: 3 }}&gt;&#10;                        &lt;Text style={{ fontSize: 17, fontWeight: 'bold', color: '#20344B' }}&gt;逐约束通过率&lt;/Text&gt;&#10;                        &lt;Text style={{ fontSize: 15, color: '#546779' }}&gt;7 / 8　每条要求大体可靠&lt;/Text&gt;&#10;                    &lt;/Box&gt;&#10;                &lt;/Box&gt;&#10;&#10;                &lt;Box style={{ height: 110, background: '#FFF4E6', borderRadius: 10, padding: '14px 22px', flexDirection: 'row', alignItems: 'center', gap: 18 }}&gt;&#10;                    &lt;Text style={{ fontSize: 40, fontWeight: 'bold', color: '#CB6B28' }}&gt;50%&lt;/Text&gt;&#10;                    &lt;Box style={{ flex: 1, flexDirection: 'column', gap: 3 }}&gt;&#10;                        &lt;Text style={{ fontSize: 17, fontWeight: 'bold', color: '#CB6B28' }}&gt;全部约束同时满足&lt;/Text&gt;&#10;                        &lt;Text style={{ fontSize: 15, color: '#546779' }}&gt;1 / 2　能直接交付的成品&lt;/Text&gt;&#10;                    &lt;/Box&gt;&#10;                &lt;/Box&gt;&#10;&#10;            &lt;/Box&gt;&#10;&#10;        &lt;/Box&gt;&#10;&#10;        &lt;Box style={{ flexDirection: 'row', alignItems: 'center', gap: 16, height: 140, background: '#FFF4E6', borderRadius: 10, padding: '0 22px' }}&gt;&#10;            &lt;Box style={{ width: 4, height: 96, background: '#CB6B28' }} /&gt;&#10;            &lt;Box style={{ flex: 1, flexDirection: 'column', gap: 6 }}&gt;&#10;                &lt;Text style={{ fontSize: 18, fontWeight: 'bold', color: '#CB6B28' }}&gt;工具成功 ≠ 任务成功&lt;/Text&gt;&#10;                &lt;Text style={{ fontSize: 16, color: '#546779', lineHeight: 1.6 }}&gt;参数格式正确、工具返回成功，只说明这次调用没错。还要检查最终房间、容量、时间冲突，以及是否误改了其他活动。&lt;/Text&gt;&#10;            &lt;/Box&gt;&#10;        &lt;/Box&gt;&#10;&#10;        &lt;Box style={{ flexDirection: 'row', alignItems: 'center', gap: 14, height: 96, background: '#ECF7F2', borderRadius: 10, padding: '0 22px' }}&gt;&#10;            &lt;Box style={{ width: 4, height: 60, background: '#26816B' }} /&gt;&#10;            &lt;Box style={{ flex: 1, flexDirection: 'column', gap: 4 }}&gt;&#10;                &lt;Text style={{ fontSize: 18, fontWeight: 'bold', color: '#26816B' }}&gt;任务成功率&lt;/Text&gt;&#10;                &lt;Text style={{ fontSize: 16, color: '#20344B', lineHeight: 1.5 }}&gt;= 通过全部必要验收条件的任务数 / 任务总数&lt;/Text&gt;&#10;            &lt;/Box&gt;&#10;            &lt;Text style={{ fontSize: 15, color: '#546779' }}&gt;中间比率定位失败{'\n'}任务率回答能否交付&lt;/Text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09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满足要求，是否就完成了任务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09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87.5%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50%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差在哪里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09600" y="1276350"/>
            <a:ext cx="53340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00100" y="140970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通知一　四条约束全部通过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800100" y="168592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247775" y="17621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中文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2038350" y="168592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2419350" y="17621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含日期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3276600" y="168592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590925" y="17621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三个项目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514850" y="168592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695825" y="17621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联系方式结尾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2476500"/>
            <a:ext cx="53340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0100" y="26098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通知二　通过三条，缺一条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00100" y="288607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247775" y="29622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中文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2038350" y="288607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419350" y="29622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含日期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276600" y="288607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590925" y="2962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三个项目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514850" y="2886075"/>
            <a:ext cx="1162050" cy="304800"/>
          </a:xfrm>
          <a:prstGeom prst="roundRect">
            <a:avLst>
              <a:gd name="adj" fmla="val 1875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895850" y="29622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未通过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248400" y="1276350"/>
            <a:ext cx="53340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457950" y="1571625"/>
            <a:ext cx="11715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76FBF"/>
                </a:solidFill>
                <a:latin typeface="Microsoft YaHei"/>
                <a:ea typeface="Microsoft YaHei"/>
              </a:rPr>
              <a:t>87.5%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800975" y="1600200"/>
            <a:ext cx="3571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逐约束通过率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800975" y="1828800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7 / 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每条要求大体可靠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248400" y="2476500"/>
            <a:ext cx="53340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457950" y="2771775"/>
            <a:ext cx="828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B6B28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458075" y="2800350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全部约束同时满足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458075" y="3028950"/>
            <a:ext cx="3914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 / 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能直接交付的成品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3714750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819150" y="3924300"/>
            <a:ext cx="38100" cy="914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09650" y="410527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工具成功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任务成功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009650" y="4371975"/>
            <a:ext cx="1036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参数格式正确、工具返回成功，只说明这次调用没错。还要检查最终房间、容量、时间冲突，以及是否误改了其他活动。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52387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819150" y="54102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990600" y="5438775"/>
            <a:ext cx="8963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任务成功率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90600" y="5686425"/>
            <a:ext cx="8963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=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通过全部必要验收条件的任务数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任务总数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086975" y="5524500"/>
            <a:ext cx="12858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中间比率定位失败</a:t>
            </a:r>
            <a:endParaRPr/>
          </a:p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任务率回答能否交付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31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notes={`资料越来越多以后，助手会先去检索。检索这一步有它自己的分母。&#10;&#10;要回答“阅读活动是否需要改期”，必须查到两项证据：原安排，以及最新的房间占用通知，缺一不可。&#10;&#10;假设检索返回的前五条结果里只有原安排，另一项没有进来。按证据项目算，Recall@5 就是二分之一，百分之五十。它测量的是“需要的材料有没有进入候选范围”。&#10;&#10;同一份证据在结果里出现两次，不能算找到两项。评价单位要事先说清是文档还是去重后的证据片段，不能混着算。&#10;&#10;有些基准把“至少命中一条答案证据”也起名叫 recall，遇到这类分数要查具体定义。若本来就不需要检索，召回率分母为零，应另设“无需检索”样本规则；也不能仅提高 k，把大量无关内容塞给模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5　找到证据，还要用对证据&lt;/Text&gt;&#10;            &lt;Text style={{ fontSize: 34, fontWeight: 'bold', color: '#20344B' }}&gt;所需证据有没有进入候选&lt;/Text&gt;&#10;        &lt;/Box&gt;&#10;    &lt;/Box&gt;&#10;&#10;    &lt;Box style={{ height: 540, flexDirection: 'row', gap: 32 }}&gt;&#10;&#10;        &lt;Box style={{ width: 560, flexDirection: 'column', justifyContent: 'center', gap: 16 }}&gt;&#10;            &lt;Text style={{ fontSize: 21, fontWeight: 'bold', color: '#20344B' }}&gt;必须查到的两项证据&lt;/Text&gt;&#10;&#10;            &lt;Box style={{ height: 120, background: '#ECF7F2', borderRadius: 10, padding: '16px 20px', flexDirection: 'column', gap: 6 }}&gt;&#10;                &lt;Text style={{ fontSize: 17, fontWeight: 'bold', color: '#26816B' }}&gt;证据一　原安排（改期前）&lt;/Text&gt;&#10;                &lt;Text style={{ fontSize: 15, color: '#546779' }}&gt;出现在检索前五条结果中&lt;/Text&gt;&#10;                &lt;Box style={{ flexDirection: 'row', gap: 6, marginTop: 4 }}&gt;&#10;                    &lt;Box style={{ width: 68, height: 26, background: '#26816B', borderRadius: 5, justifyContent: 'center', alignItems: 'center' }}&gt;&#10;                        &lt;Text style={{ fontSize: 12, color: '#FFFFFF' }}&gt;命中&lt;/Text&gt;&#10;                    &lt;/Box&gt;&#10;                    &lt;Box style={{ width: 68, height: 26, background: '#FFFFFF', borderRadius: 5, justifyContent: 'center', alignItems: 'center' }}&gt;&#10;                        &lt;Text style={{ fontSize: 12, color: '#B5C7D8' }}&gt;结果 2&lt;/Text&gt;&#10;                    &lt;/Box&gt;&#10;                    &lt;Box style={{ width: 68, height: 26, background: '#FFFFFF', borderRadius: 5, justifyContent: 'center', alignItems: 'center' }}&gt;&#10;                        &lt;Text style={{ fontSize: 12, color: '#B5C7D8' }}&gt;结果 3&lt;/Text&gt;&#10;                    &lt;/Box&gt;&#10;                    &lt;Box style={{ width: 68, height: 26, background: '#FFFFFF', borderRadius: 5, justifyContent: 'center', alignItems: 'center' }}&gt;&#10;                        &lt;Text style={{ fontSize: 12, color: '#B5C7D8' }}&gt;结果 4&lt;/Text&gt;&#10;                    &lt;/Box&gt;&#10;                    &lt;Box style={{ width: 68, height: 26, background: '#FFFFFF', borderRadius: 5, justifyContent: 'center', alignItems: 'center' }}&gt;&#10;                        &lt;Text style={{ fontSize: 12, color: '#B5C7D8' }}&gt;结果 5&lt;/Text&gt;&#10;                    &lt;/Box&gt;&#10;                &lt;/Box&gt;&#10;            &lt;/Box&gt;&#10;&#10;            &lt;Box style={{ height: 120, background: '#FFF4E6', borderRadius: 10, padding: '16px 20px', flexDirection: 'column', gap: 6 }}&gt;&#10;                &lt;Text style={{ fontSize: 17, fontWeight: 'bold', color: '#CB6B28' }}&gt;证据二　最新房间占用通知&lt;/Text&gt;&#10;                &lt;Text style={{ fontSize: 15, color: '#546779' }}&gt;没有进入前五条结果&lt;/Text&gt;&#10;                &lt;Box style={{ flexDirection: 'row', gap: 6, marginTop: 4 }}&gt;&#10;                    &lt;Box style={{ width: 68, height: 26, background: '#CB6B28', borderRadius: 5, justifyContent: 'center', alignItems: 'center' }}&gt;&#10;                        &lt;Text style={{ fontSize: 12, color: '#FFFFFF' }}&gt;未命中&lt;/Text&gt;&#10;                    &lt;/Box&gt;&#10;                    &lt;Box style={{ flex: 1, justifyContent: 'center' }}&gt;&#10;                        &lt;Text style={{ fontSize: 13, color: '#546779' }}&gt;需要扩大范围或改写查询&lt;/Text&gt;&#10;                    &lt;/Box&gt;&#10;                &lt;/Box&gt;&#10;            &lt;/Box&gt;&#10;&#10;            &lt;Box style={{ flexDirection: 'row', alignItems: 'center', justifyContent: 'center', height: 90, background: '#EDF4FC', borderRadius: 10, gap: 16 }}&gt;&#10;                &lt;Text style={{ fontSize: 17, fontWeight: 'bold', color: '#276FBF' }}&gt;Recall@5&lt;/Text&gt;&#10;                &lt;Text style={{ fontSize: 20, color: '#546779' }}&gt;=&lt;/Text&gt;&#10;                &lt;Text style={{ fontSize: 17, color: '#20344B' }}&gt;命中证据数 1 / 所需证据数 2&lt;/Text&gt;&#10;                &lt;Text style={{ fontSize: 20, color: '#546779' }}&gt;=&lt;/Text&gt;&#10;                &lt;Text style={{ fontSize: 26, fontWeight: 'bold', color: '#276FBF' }}&gt;50%&lt;/Text&gt;&#10;            &lt;/Box&gt;&#10;&#10;        &lt;/Box&gt;&#10;&#10;        &lt;Box style={{ width: 560, flexDirection: 'column', justifyContent: 'center', gap: 14 }}&gt;&#10;&#10;            &lt;Box style={{ height: 120, background: '#F4F7FA', borderRadius: 10, padding: '16px 20px', flexDirection: 'column', gap: 6 }}&gt;&#10;                &lt;Text style={{ fontSize: 17, fontWeight: 'bold', color: '#20344B' }}&gt;重复命中不算两项&lt;/Text&gt;&#10;                &lt;Text style={{ fontSize: 15, color: '#546779', lineHeight: 1.6 }}&gt;同一份证据在结果里出现多次，仍然只是一项。&lt;/Text&gt;&#10;            &lt;/Box&gt;&#10;&#10;            &lt;Box style={{ height: 120, background: '#F4F7FA', borderRadius: 10, padding: '16px 20px', flexDirection: 'column', gap: 6 }}&gt;&#10;                &lt;Text style={{ fontSize: 17, fontWeight: 'bold', color: '#20344B' }}&gt;评价单位要事先定&lt;/Text&gt;&#10;                &lt;Text style={{ fontSize: 15, color: '#546779', lineHeight: 1.6 }}&gt;“相关”应提前标注；按文档算，还是按去重后的证据片段算，不能在算分中混用。&lt;/Text&gt;&#10;            &lt;/Box&gt;&#10;&#10;            &lt;Box style={{ height: 120, background: '#F4F7FA', borderRadius: 10, padding: '16px 20px', flexDirection: 'column', gap: 6 }}&gt;&#10;                &lt;Text style={{ fontSize: 17, fontWeight: 'bold', color: '#20344B' }}&gt;同名不同义&lt;/Text&gt;&#10;                &lt;Text style={{ fontSize: 15, color: '#546779', lineHeight: 1.6 }}&gt;有些基准把“至少命中一个答案证据”也叫 recall，遇到这类分数要查看具体定义。&lt;/Text&gt;&#10;            &lt;/Box&gt;&#10;&#10;            &lt;Box style={{ flexDirection: 'row', alignItems: 'center', gap: 16, height: 120, background: '#FFF4E6', borderRadius: 10, padding: '0 20px' }}&gt;&#10;                &lt;Box style={{ width: 4, height: 76, background: '#CB6B28' }} /&gt;&#10;                &lt;Box style={{ flex: 1, flexDirection: 'column', gap: 4 }}&gt;&#10;                    &lt;Text style={{ fontSize: 16, fontWeight: 'bold', color: '#CB6B28' }}&gt;两个要提前约定的情形&lt;/Text&gt;&#10;                    &lt;Text style={{ fontSize: 15, color: '#546779', lineHeight: 1.55 }}&gt;没有应找证据时，召回率分母为零，应另设“无需检索”样本规则；也不能仅提高 k，把大量无关内容一并塞给模型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找到证据，还要用对证据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所需证据有没有进入候选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5334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必须查到的两项证据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21907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00100" y="23431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证据一　原安排（改期前）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00100" y="260032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出现在检索前五条结果中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00100" y="2867025"/>
            <a:ext cx="647700" cy="247650"/>
          </a:xfrm>
          <a:prstGeom prst="roundRect">
            <a:avLst>
              <a:gd name="adj" fmla="val 1923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009650" y="292417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命中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1504950" y="2867025"/>
            <a:ext cx="64770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666875" y="29241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结果</a:t>
            </a: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2209800" y="2867025"/>
            <a:ext cx="64770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2371725" y="29241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结果</a:t>
            </a: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2914650" y="2867025"/>
            <a:ext cx="64770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076575" y="29241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结果</a:t>
            </a: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619500" y="2867025"/>
            <a:ext cx="647700" cy="24765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781425" y="292417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B5C7D8"/>
                </a:solidFill>
                <a:latin typeface="Microsoft YaHei"/>
                <a:ea typeface="Microsoft YaHei"/>
              </a:rPr>
              <a:t>结果</a:t>
            </a:r>
            <a:r>
              <a:rPr lang="en-US" sz="900">
                <a:solidFill>
                  <a:srgbClr val="B5C7D8"/>
                </a:solidFill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34861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0100" y="36385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证据二　最新房间占用通知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0100" y="389572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没有进入前五条结果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800100" y="4162425"/>
            <a:ext cx="647700" cy="247650"/>
          </a:xfrm>
          <a:prstGeom prst="roundRect">
            <a:avLst>
              <a:gd name="adj" fmla="val 1923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52500" y="42195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未命中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504950" y="4210050"/>
            <a:ext cx="424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需要扩大范围或改写查询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4781550"/>
            <a:ext cx="533400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52525" y="5114925"/>
            <a:ext cx="742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Recall@5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047875" y="509587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343150" y="5114925"/>
            <a:ext cx="207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命中证据数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1 /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所需证据数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572000" y="509587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867275" y="5057775"/>
            <a:ext cx="542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76FBF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248400" y="1228725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438900" y="13811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重复命中不算两项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438900" y="163830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同一份证据在结果里出现多次，仍然只是一项。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248400" y="2505075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38900" y="265747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评价单位要事先定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438900" y="291465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“相关”应提前标注；按文档算，还是按去重后的证据片段算，不能在算分中混用。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248400" y="3781425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438900" y="39338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同名不同义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438900" y="419100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有些基准把“至少命中一个答案证据”也叫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recall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，遇到这类分数要查看具体定义。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248400" y="5057775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438900" y="526732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629400" y="5248275"/>
            <a:ext cx="476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两个要提前约定的情形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629400" y="5476875"/>
            <a:ext cx="4762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没有应找证据时，召回率分母为零，应另设“无需检索”样本规则；也不能仅提高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，把大量无关内容一并塞给模型。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31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45" name="" descr="&lt;Slide notes={`检索只解决了“材料有没有进来”，回答阶段还要把可核验的陈述拆开检查。&#10;&#10;假设答案里有五条需要外部证据的陈述，其中四条附上了引用，一条没有。四条里真正得到支持的是三条，第四条虽然贴了引用，但引用并不支持它。&#10;&#10;两个率的分母不一样。引用支持率的分母是“带有引用的可核验陈述数”，四条里三条被支持，七成五——贴出来的引用有多少真的撑得住那句话。证据覆盖率的分母是“全部需要外部证据的陈述数”五条，三条被支持，六成。&#10;&#10;这两个口径是本书选定的，不是所有榜单通用的定义。完全没有引用时支持率没有定义；只要还有需要证据的陈述，覆盖率就是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5　找到证据，还要用对证据&lt;/Text&gt;&#10;            &lt;Text style={{ fontSize: 34, fontWeight: 'bold', color: '#20344B' }}&gt;找全之后，还要用对&lt;/Text&gt;&#10;        &lt;/Box&gt;&#10;    &lt;/Box&gt;&#10;&#10;    &lt;Box style={{ height: 540, flexDirection: 'row', gap: 32 }}&gt;&#10;&#10;        &lt;Box style={{ width: 420, flexDirection: 'column', justifyContent: 'center', gap: 8 }}&gt;&#10;            &lt;Text style={{ fontSize: 21, fontWeight: 'bold', color: '#20344B', marginBottom: 6 }}&gt;五条需证据的陈述&lt;/Text&gt;&#10;&#10;            &lt;Box style={{ flexDirection: 'row', height: 60, background: '#ECF7F2', borderRadius: 8, padding: '0 16px', alignItems: 'center', gap: 10 }}&gt;&#10;                &lt;Text style={{ fontSize: 14, fontWeight: 'bold', color: '#26816B' }}&gt;1&lt;/Text&gt;&#10;                &lt;Text style={{ fontSize: 15, color: '#20344B', flex: 1 }}&gt;原安排的时间&lt;/Text&gt;&#10;                &lt;Text style={{ fontSize: 13, color: '#26816B' }}&gt;有引用·被支持&lt;/Text&gt;&#10;            &lt;/Box&gt;&#10;&#10;            &lt;Box style={{ flexDirection: 'row', height: 60, background: '#ECF7F2', borderRadius: 8, padding: '0 16px', alignItems: 'center', gap: 10 }}&gt;&#10;                &lt;Text style={{ fontSize: 14, fontWeight: 'bold', color: '#26816B' }}&gt;2&lt;/Text&gt;&#10;                &lt;Text style={{ fontSize: 15, color: '#20344B', flex: 1 }}&gt;原安排的地点&lt;/Text&gt;&#10;                &lt;Text style={{ fontSize: 13, color: '#26816B' }}&gt;有引用·被支持&lt;/Text&gt;&#10;            &lt;/Box&gt;&#10;&#10;            &lt;Box style={{ flexDirection: 'row', height: 60, background: '#ECF7F2', borderRadius: 8, padding: '0 16px', alignItems: 'center', gap: 10 }}&gt;&#10;                &lt;Text style={{ fontSize: 14, fontWeight: 'bold', color: '#26816B' }}&gt;3&lt;/Text&gt;&#10;                &lt;Text style={{ fontSize: 15, color: '#20344B', flex: 1 }}&gt;最新房间占用通知&lt;/Text&gt;&#10;                &lt;Text style={{ fontSize: 13, color: '#26816B' }}&gt;有引用·被支持&lt;/Text&gt;&#10;            &lt;/Box&gt;&#10;&#10;            &lt;Box style={{ flexDirection: 'row', height: 60, background: '#FFF4E6', borderRadius: 8, padding: '0 16px', alignItems: 'center', gap: 10 }}&gt;&#10;                &lt;Text style={{ fontSize: 14, fontWeight: 'bold', color: '#CB6B28' }}&gt;4&lt;/Text&gt;&#10;                &lt;Text style={{ fontSize: 15, color: '#20344B', flex: 1 }}&gt;改期后的房间&lt;/Text&gt;&#10;                &lt;Text style={{ fontSize: 13, color: '#CB6B28' }}&gt;有引用·未被支持&lt;/Text&gt;&#10;            &lt;/Box&gt;&#10;&#10;            &lt;Box style={{ flexDirection: 'row', height: 60, background: '#F4F7FA', borderRadius: 8, padding: '0 16px', alignItems: 'center', gap: 10 }}&gt;&#10;                &lt;Text style={{ fontSize: 14, fontWeight: 'bold', color: '#546779' }}&gt;5&lt;/Text&gt;&#10;                &lt;Text style={{ fontSize: 15, color: '#20344B', flex: 1 }}&gt;是否影响其他活动&lt;/Text&gt;&#10;                &lt;Text style={{ fontSize: 13, color: '#546779' }}&gt;没有引用&lt;/Text&gt;&#10;            &lt;/Box&gt;&#10;&#10;        &lt;/Box&gt;&#10;&#10;        &lt;Box style={{ width: 700, flexDirection: 'column', justifyContent: 'center', gap: 16 }}&gt;&#10;&#10;            &lt;Box style={{ height: 170, background: '#EDF4FC', borderRadius: 10, padding: '18px 20px', flexDirection: 'column', gap: 10 }}&gt;&#10;                &lt;Text style={{ fontSize: 18, fontWeight: 'bold', color: '#276FBF' }}&gt;引用支持率&lt;/Text&gt;&#10;                &lt;Box style={{ flexDirection: 'row', alignItems: 'center', gap: 14 }}&gt;&#10;                    &lt;Box style={{ width: 100, height: 40, background: '#FFFFFF', borderRadius: 8, justifyContent: 'center', alignItems: 'center' }}&gt;&#10;                        &lt;Text style={{ fontSize: 17, color: '#20344B' }}&gt;3 / 4&lt;/Text&gt;&#10;                    &lt;/Box&gt;&#10;                    &lt;Text style={{ fontSize: 22, color: '#546779' }}&gt;=&lt;/Text&gt;&#10;                    &lt;Box style={{ width: 130, height: 40, background: '#276FBF', borderRadius: 8, justifyContent: 'center', alignItems: 'center' }}&gt;&#10;                        &lt;Text style={{ fontSize: 20, fontWeight: 'bold', color: '#FFFFFF' }}&gt;75%&lt;/Text&gt;&#10;                    &lt;/Box&gt;&#10;                &lt;/Box&gt;&#10;                &lt;Text style={{ fontSize: 15, color: '#546779', lineHeight: 1.5 }}&gt;得到所附引用充分支持的陈述数 ÷ 带有引用的可核验陈述数&lt;/Text&gt;&#10;            &lt;/Box&gt;&#10;&#10;            &lt;Box style={{ height: 170, background: '#ECF7F2', borderRadius: 10, padding: '18px 20px', flexDirection: 'column', gap: 10 }}&gt;&#10;                &lt;Text style={{ fontSize: 18, fontWeight: 'bold', color: '#26816B' }}&gt;证据覆盖率&lt;/Text&gt;&#10;                &lt;Box style={{ flexDirection: 'row', alignItems: 'center', gap: 14 }}&gt;&#10;                    &lt;Box style={{ width: 100, height: 40, background: '#FFFFFF', borderRadius: 8, justifyContent: 'center', alignItems: 'center' }}&gt;&#10;                        &lt;Text style={{ fontSize: 17, color: '#20344B' }}&gt;3 / 5&lt;/Text&gt;&#10;                    &lt;/Box&gt;&#10;                    &lt;Text style={{ fontSize: 22, color: '#546779' }}&gt;=&lt;/Text&gt;&#10;                    &lt;Box style={{ width: 130, height: 40, background: '#26816B', borderRadius: 8, justifyContent: 'center', alignItems: 'center' }}&gt;&#10;                        &lt;Text style={{ fontSize: 20, fontWeight: 'bold', color: '#FFFFFF' }}&gt;60%&lt;/Text&gt;&#10;                    &lt;/Box&gt;&#10;                &lt;/Box&gt;&#10;                &lt;Text style={{ fontSize: 15, color: '#546779', lineHeight: 1.5 }}&gt;得到所附引用充分支持的陈述数 ÷ 全部需要外部证据的陈述数&lt;/Text&gt;&#10;            &lt;/Box&gt;&#10;&#10;            &lt;Box style={{ height: 132, background: '#F4F7FA', borderRadius: 10, padding: '16px 20px', flexDirection: 'column', gap: 6 }}&gt;&#10;                &lt;Text style={{ fontSize: 16, fontWeight: 'bold', color: '#20344B' }}&gt;两个边界，两条纪律&lt;/Text&gt;&#10;                &lt;Text style={{ fontSize: 15, color: '#546779', lineHeight: 1.6 }}&gt;没有附引用时，支持率未定义；只要仍有需证据的陈述，覆盖率就是 0。这是本书选定的口径，并非所有榜单通用。引用来自一份旧通知，也可能不适用于已经改期的活动——“有出处”不能替代时效与冲突核验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找到证据，还要用对证据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找全之后，还要用对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五条需证据的陈述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2324100"/>
            <a:ext cx="40005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42975" y="2524125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原安排的时间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676650" y="25336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有引用·被支持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2971800"/>
            <a:ext cx="40005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2000" y="31813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942975" y="3171825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原安排的地点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676650" y="31813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有引用·被支持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3619500"/>
            <a:ext cx="4000500" cy="571500"/>
          </a:xfrm>
          <a:prstGeom prst="roundRect">
            <a:avLst>
              <a:gd name="adj" fmla="val 1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62000" y="38290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42975" y="3819525"/>
            <a:ext cx="2638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最新房间占用通知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676650" y="3829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有引用·被支持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4267200"/>
            <a:ext cx="4000500" cy="571500"/>
          </a:xfrm>
          <a:prstGeom prst="roundRect">
            <a:avLst>
              <a:gd name="adj" fmla="val 1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44767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B6B2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42975" y="4467225"/>
            <a:ext cx="2514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改期后的房间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552825" y="447675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有引用·未被支持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4914900"/>
            <a:ext cx="40005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62000" y="51244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46779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42975" y="5114925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是否影响其他活动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962400" y="51244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没有引用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914900" y="1314450"/>
            <a:ext cx="66675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105400" y="148590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引用支持率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105400" y="1790700"/>
            <a:ext cx="952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400675" y="1885950"/>
            <a:ext cx="361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3 / 4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191250" y="185737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486525" y="1790700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96100" y="186690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75%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105400" y="2266950"/>
            <a:ext cx="628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得到所附引用充分支持的陈述数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带有引用的可核验陈述数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4914900" y="3086100"/>
            <a:ext cx="6667500" cy="161925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105400" y="325755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证据覆盖率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105400" y="3562350"/>
            <a:ext cx="952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400675" y="3657600"/>
            <a:ext cx="361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>3 / 5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191250" y="36290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486525" y="3562350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896100" y="3638550"/>
            <a:ext cx="41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60%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105400" y="4038600"/>
            <a:ext cx="628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得到所附引用充分支持的陈述数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全部需要外部证据的陈述数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4914900" y="4857750"/>
            <a:ext cx="6667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105400" y="5010150"/>
            <a:ext cx="628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两个边界，两条纪律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105400" y="5257800"/>
            <a:ext cx="6286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没有附引用时，支持率未定义；只要仍有需证据的陈述，覆盖率就是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。这是本书选定的口径，并非所有榜单通用。引用来自一份旧通知，也可能不适用于已经改期的活动——“有出处”不能替代时效与冲突核验。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31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92" name="" descr="&lt;Slide notes={`接下来这件事，很多人第一次听到会觉得反直觉。&#10;&#10;同一个任务，同一个模型，我们给它同一套设置、同一个初始环境。如果每次独立成功的概率都是零点八，那么重复的次数一多，两件事会朝相反的方向走。&#10;&#10;&quot;至少成功一次&quot;越来越容易。两次至少一次成功是九成六，三次接近九成九，六次几乎就是一定成功。&#10;&#10;&quot;每次都成功&quot;越来越难。两次全部成功是六成四，三次过半勉强，六次只剩两成六。&#10;&#10;这不是模型变差了，而是两个问题的性质不同。前者问的是&quot;我有多少机会拿到一个能用的结果&quot;，后者问的是&quot;我能不能放心让它自动跑，不用人盯着&quot;。&#10;&#10;服务台自动办理事项关心的显然是后者。所以看到&quot;pass@k 提升了&quot;的时候，先问一句：是哪种 k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5&lt;/Text&gt;&#10;            &lt;/Box&gt;&#10;            &lt;Text style={{ fontSize: 16, color: '#546779' }}&gt;1.3.4　多给几次机会，与每次都可靠&lt;/Text&gt;&#10;        &lt;/Box&gt;&#10;&#10;        &lt;Text style={{ fontSize: 56, fontWeight: 'bold', color: '#20344B', lineHeight: 1.15 }}&gt;至少一次，与每次都可靠&lt;/Text&gt;&#10;&#10;        &lt;Box style={{ width: 640, height: 4, background: '#276FBF' }} /&gt;&#10;&#10;        &lt;Text style={{ fontSize: 19, color: '#546779', lineHeight: 1.7 }}&gt;同一道固定任务，每次成功概率都是 0.8：机会越多，“至少成功一次”越容易，“每次都成功”却越难。&lt;/Text&gt;&#10;&#10;        &lt;Box style={{ flexDirection: 'row', alignItems: 'center', gap: 14, marginTop: 8 }}&gt;&#10;            &lt;Box style={{ width: 230, flexDirection: 'column', gap: 6 }}&gt;&#10;                &lt;Text style={{ fontSize: 15, color: '#546779' }}&gt;至少一次成功&lt;/Text&gt;&#10;                &lt;Text style={{ fontSize: 30, fontWeight: 'bold', color: '#276FBF' }}&gt;80 → 100&lt;/Text&gt;&#10;            &lt;/Box&gt;&#10;            &lt;Box style={{ width: 44, justifyContent: 'center', alignItems: 'center' }}&gt;&#10;                &lt;Text style={{ fontSize: 22, color: '#B5C7D8' }}&gt;｜&lt;/Text&gt;&#10;            &lt;/Box&gt;&#10;            &lt;Box style={{ width: 230, flexDirection: 'column', gap: 6 }}&gt;&#10;                &lt;Text style={{ fontSize: 15, color: '#546779' }}&gt;每次都成功&lt;/Text&gt;&#10;                &lt;Text style={{ fontSize: 30, fontWeight: 'bold', color: '#26816B' }}&gt;80 → 26&lt;/Text&gt;&#10;            &lt;/Box&gt;&#10;            &lt;Box style={{ flex: 1, flexDirection: 'column', gap: 4 }}&gt;&#10;                &lt;Text style={{ fontSize: 15, color: '#546779' }}&gt;k 从 1 增加到 6，两条轨迹反向&lt;/Text&gt;&#10;                &lt;Text style={{ fontSize: 14, color: '#546779' }}&gt;固定概率的假设演算，不是题集实测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09600" y="16573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14375" y="17621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295400" y="1828800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1.3.4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多给几次机会，与每次都可靠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至少一次，与每次都可靠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33528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同一道固定任务，每次成功概率都是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0.8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：机会越多，“至少成功一次”越容易，“每次都成功”却越难。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425767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至少一次成功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4486275"/>
            <a:ext cx="2190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>80 → 100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038475" y="44196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B5C7D8"/>
                </a:solidFill>
                <a:latin typeface="Microsoft YaHei"/>
                <a:ea typeface="Microsoft YaHei"/>
              </a:rPr>
              <a:t>｜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486150" y="4257675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每次都成功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486150" y="4486275"/>
            <a:ext cx="2190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6816B"/>
                </a:solidFill>
                <a:latin typeface="Microsoft YaHei"/>
                <a:ea typeface="Microsoft YaHei"/>
              </a:rPr>
              <a:t>80 → 26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810250" y="436245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增加到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，两条轨迹反向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810250" y="4572000"/>
            <a:ext cx="577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固定概率的假设演算，不是题集实测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31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09" name="" descr="&lt;Slide notes={`把六次重复算出来，两条轨迹的形状就看得很清楚。&#10;&#10;蓝色是“至少成功一次”，公式是一减去（一减 p）的 k 次方。第一次是八成，第二次九成六，第三次九成九二，到第六次几乎就是一定成功。它一直在往上走，而且很快接近满。&#10;&#10;绿色是“每次都成功”，公式是 p 的 k 次方。第一次也是八成，第二次就掉到六成四，第三次五成一，第六次只剩两成六。它一直在往下走。&#10;&#10;两条线在第一次的时候重合成一个点，因为只做一次时，这两件事本来就是同一件事。从第二次开始分开，而且越走越远。&#10;&#10;这里必须提醒：这是固定概率的假设演算，不是题集实测。它假设同一道固定任务、初始状态和配置都相同、每一次试验互相独立。这几个条件缺一个，公式就不适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4　多给几次机会，与每次都可靠&lt;/Text&gt;&#10;            &lt;Text style={{ fontSize: 34, fontWeight: 'bold', color: '#20344B' }}&gt;p = 0.8：一次容易，六次很难&lt;/Text&gt;&#10;        &lt;/Box&gt;&#10;    &lt;/Box&gt;&#10;&#10;    &lt;Box style={{ height: 540, flexDirection: 'column', justifyContent: 'center', gap: 16 }}&gt;&#10;&#10;        &lt;Box style={{ flexDirection: 'row', alignItems: 'center', gap: 20, height: 26 }}&gt;&#10;            &lt;Box style={{ flexDirection: 'row', alignItems: 'center', gap: 8 }}&gt;&#10;                &lt;Box style={{ width: 16, height: 16, background: '#276FBF', borderRadius: 3 }} /&gt;&#10;                &lt;Text style={{ fontSize: 14, color: '#546779' }}&gt;至少一次成功　1 − (1 − p)^k&lt;/Text&gt;&#10;            &lt;/Box&gt;&#10;            &lt;Box style={{ flexDirection: 'row', alignItems: 'center', gap: 8 }}&gt;&#10;                &lt;Box style={{ width: 16, height: 16, background: '#26816B', borderRadius: 3 }} /&gt;&#10;                &lt;Text style={{ fontSize: 14, color: '#546779' }}&gt;每次都成功　p^k&lt;/Text&gt;&#10;            &lt;/Box&gt;&#10;            &lt;Box style={{ flex: 1 }} /&gt;&#10;            &lt;Text style={{ fontSize: 14, color: '#546779' }}&gt;纵轴：假设条件下的概率（%）&lt;/Text&gt;&#10;        &lt;/Box&gt;&#10;&#10;        &lt;Box style={{ flexDirection: 'column', padding: '0 140px' }}&gt;&#10;&#10;            &lt;Box style={{ flexDirection: 'row', height: 250, alignItems: 'flex-end', gap: 28 }}&gt;&#10;&#10;                &lt;Box style={{ width: 122, height: 250, flexDirection: 'row', gap: 10, alignItems: 'flex-end' }}&gt;&#10;                    &lt;Box style={{ width: 56, height: 250, flexDirection: 'column', justifyContent: 'flex-end', alignItems: 'center', gap: 4 }}&gt;&#10;                        &lt;Text style={{ fontSize: 13, color: '#276FBF' }}&gt;80&lt;/Text&gt;&#10;                        &lt;Box style={{ width: 56, height: 176, background: '#276FBF' }} /&gt;&#10;                    &lt;/Box&gt;&#10;                    &lt;Box style={{ width: 56, height: 250, flexDirection: 'column', justifyContent: 'flex-end', alignItems: 'center', gap: 4 }}&gt;&#10;                        &lt;Text style={{ fontSize: 13, color: '#26816B' }}&gt;80&lt;/Text&gt;&#10;                        &lt;Box style={{ width: 56, height: 176, background: '#26816B' }} /&gt;&#10;                    &lt;/Box&gt;&#10;                &lt;/Box&gt;&#10;&#10;                &lt;Box style={{ width: 122, height: 250, flexDirection: 'row', gap: 10, alignItems: 'flex-end' }}&gt;&#10;                    &lt;Box style={{ width: 56, height: 250, flexDirection: 'column', justifyContent: 'flex-end', alignItems: 'center', gap: 4 }}&gt;&#10;                        &lt;Text style={{ fontSize: 13, color: '#276FBF' }}&gt;96&lt;/Text&gt;&#10;                        &lt;Box style={{ width: 56, height: 211, background: '#276FBF' }} /&gt;&#10;                    &lt;/Box&gt;&#10;                    &lt;Box style={{ width: 56, height: 250, flexDirection: 'column', justifyContent: 'flex-end', alignItems: 'center', gap: 4 }}&gt;&#10;                        &lt;Text style={{ fontSize: 13, color: '#26816B' }}&gt;64&lt;/Text&gt;&#10;                        &lt;Box style={{ width: 56, height: 141, background: '#26816B' }} /&gt;&#10;                    &lt;/Box&gt;&#10;                &lt;/Box&gt;&#10;&#10;                &lt;Box style={{ width: 122, height: 250, flexDirection: 'row', gap: 10, alignItems: 'flex-end' }}&gt;&#10;                    &lt;Box style={{ width: 56, height: 250, flexDirection: 'column', justifyContent: 'flex-end', alignItems: 'center', gap: 4 }}&gt;&#10;                        &lt;Text style={{ fontSize: 13, color: '#276FBF' }}&gt;99.2&lt;/Text&gt;&#10;                        &lt;Box style={{ width: 56, height: 218, background: '#276FBF' }} /&gt;&#10;                    &lt;/Box&gt;&#10;                    &lt;Box style={{ width: 56, height: 250, flexDirection: 'column', justifyContent: 'flex-end', alignItems: 'center', gap: 4 }}&gt;&#10;                        &lt;Text style={{ fontSize: 13, color: '#26816B' }}&gt;51.2&lt;/Text&gt;&#10;                        &lt;Box style={{ width: 56, height: 113, background: '#26816B' }} /&gt;&#10;                    &lt;/Box&gt;&#10;                &lt;/Box&gt;&#10;&#10;                &lt;Box style={{ width: 122, height: 250, flexDirection: 'row', gap: 10, alignItems: 'flex-end' }}&gt;&#10;                    &lt;Box style={{ width: 56, height: 250, flexDirection: 'column', justifyContent: 'flex-end', alignItems: 'center', gap: 4 }}&gt;&#10;                        &lt;Text style={{ fontSize: 13, color: '#276FBF' }}&gt;99.8&lt;/Text&gt;&#10;                        &lt;Box style={{ width: 56, height: 220, background: '#276FBF' }} /&gt;&#10;                    &lt;/Box&gt;&#10;                    &lt;Box style={{ width: 56, height: 250, flexDirection: 'column', justifyContent: 'flex-end', alignItems: 'center', gap: 4 }}&gt;&#10;                        &lt;Text style={{ fontSize: 13, color: '#26816B' }}&gt;41.0&lt;/Text&gt;&#10;                        &lt;Box style={{ width: 56, height: 90, background: '#26816B' }} /&gt;&#10;                    &lt;/Box&gt;&#10;                &lt;/Box&gt;&#10;&#10;                &lt;Box style={{ width: 122, height: 250, flexDirection: 'row', gap: 10, alignItems: 'flex-end' }}&gt;&#10;                    &lt;Box style={{ width: 56, height: 250, flexDirection: 'column', justifyContent: 'flex-end', alignItems: 'center', gap: 4 }}&gt;&#10;                        &lt;Text style={{ fontSize: 13, color: '#276FBF' }}&gt;100&lt;/Text&gt;&#10;                        &lt;Box style={{ width: 56, height: 220, background: '#276FBF' }} /&gt;&#10;                    &lt;/Box&gt;&#10;                    &lt;Box style={{ width: 56, height: 250, flexDirection: 'column', justifyContent: 'flex-end', alignItems: 'center', gap: 4 }}&gt;&#10;                        &lt;Text style={{ fontSize: 13, color: '#26816B' }}&gt;32.8&lt;/Text&gt;&#10;                        &lt;Box style={{ width: 56, height: 72, background: '#26816B' }} /&gt;&#10;                    &lt;/Box&gt;&#10;                &lt;/Box&gt;&#10;&#10;                &lt;Box style={{ width: 122, height: 250, flexDirection: 'row', gap: 10, alignItems: 'flex-end' }}&gt;&#10;                    &lt;Box style={{ width: 56, height: 250, flexDirection: 'column', justifyContent: 'flex-end', alignItems: 'center', gap: 4 }}&gt;&#10;                        &lt;Text style={{ fontSize: 13, color: '#276FBF' }}&gt;100&lt;/Text&gt;&#10;                        &lt;Box style={{ width: 56, height: 220, background: '#276FBF' }} /&gt;&#10;                    &lt;/Box&gt;&#10;                    &lt;Box style={{ width: 56, height: 250, flexDirection: 'column', justifyContent: 'flex-end', alignItems: 'center', gap: 4 }}&gt;&#10;                        &lt;Text style={{ fontSize: 13, color: '#26816B' }}&gt;26.2&lt;/Text&gt;&#10;                        &lt;Box style={{ width: 56, height: 58, background: '#26816B' }} /&gt;&#10;                    &lt;/Box&gt;&#10;                &lt;/Box&gt;&#10;&#10;            &lt;/Box&gt;&#10;&#10;            &lt;Box style={{ height: 2, background: '#B5C7D8' }} /&gt;&#10;&#10;            &lt;Box style={{ flexDirection: 'row', height: 22, gap: 28 }}&gt;&#10;                &lt;Box style={{ width: 122, justifyContent: 'center', alignItems: 'center' }}&gt;&lt;Text style={{ fontSize: 14, color: '#546779' }}&gt;k = 1&lt;/Text&gt;&lt;/Box&gt;&#10;                &lt;Box style={{ width: 122, justifyContent: 'center', alignItems: 'center' }}&gt;&lt;Text style={{ fontSize: 14, color: '#546779' }}&gt;k = 2&lt;/Text&gt;&lt;/Box&gt;&#10;                &lt;Box style={{ width: 122, justifyContent: 'center', alignItems: 'center' }}&gt;&lt;Text style={{ fontSize: 14, color: '#546779' }}&gt;k = 3&lt;/Text&gt;&lt;/Box&gt;&#10;                &lt;Box style={{ width: 122, justifyContent: 'center', alignItems: 'center' }}&gt;&lt;Text style={{ fontSize: 14, color: '#546779' }}&gt;k = 4&lt;/Text&gt;&lt;/Box&gt;&#10;                &lt;Box style={{ width: 122, justifyContent: 'center', alignItems: 'center' }}&gt;&lt;Text style={{ fontSize: 14, color: '#546779' }}&gt;k = 5&lt;/Text&gt;&lt;/Box&gt;&#10;                &lt;Box style={{ width: 122, justifyContent: 'center', alignItems: 'center' }}&gt;&lt;Text style={{ fontSize: 14, color: '#546779' }}&gt;k = 6&lt;/Text&gt;&lt;/Box&gt;&#10;            &lt;/Box&gt;&#10;&#10;        &lt;/Box&gt;&#10;&#10;        &lt;Box style={{ flexDirection: 'row', gap: 24, height: 82 }}&gt;&#10;            &lt;Box style={{ width: 560, background: '#EDF4FC', borderRadius: 10, padding: '14px 20px', flexDirection: 'column', gap: 4, justifyContent: 'center' }}&gt;&#10;                &lt;Text style={{ fontSize: 16, fontWeight: 'bold', color: '#276FBF' }}&gt;pass@k　至少一个候选成功&lt;/Text&gt;&#10;                &lt;Text style={{ fontSize: 15, color: '#546779' }}&gt;适合有可靠验证办法的场景，例如用测试检查程序&lt;/Text&gt;&#10;            &lt;/Box&gt;&#10;            &lt;Box style={{ width: 568, background: '#ECF7F2', borderRadius: 10, padding: '14px 20px', flexDirection: 'column', gap: 4, justifyContent: 'center' }}&gt;&#10;                &lt;Text style={{ fontSize: 16, fontWeight: 'bold', color: '#26816B' }}&gt;pass^k　独立重复 k 次，每次都成功&lt;/Text&gt;&#10;                &lt;Text style={{ fontSize: 15, color: '#546779' }}&gt;区分“偶尔能成”与“持续可靠”，服务台自动办理更关心后者&lt;/Text&gt;&#10;            &lt;/Box&gt;&#10;        &lt;/Box&gt;&#10;&#10;        &lt;Box style={{ flexDirection: 'row', alignItems: 'center', gap: 16, height: 88, background: '#F4F7FA', borderRadius: 10, padding: '0 22px' }}&gt;&#10;            &lt;Box style={{ width: 4, height: 56, background: '#276FBF' }} /&gt;&#10;            &lt;Box style={{ flex: 1, flexDirection: 'column', gap: 4 }}&gt;&#10;                &lt;Text style={{ fontSize: 17, fontWeight: 'bold', color: '#20344B' }}&gt;k = 2 时：至少一次成功 96%，每次都成功 64%&lt;/Text&gt;&#10;                &lt;Text style={{ fontSize: 15, color: '#546779', lineHeight: 1.5 }}&gt;前提是同一道固定任务、初态与配置相同、各次独立；不能直接把题集平均准确率代入 p，自适应重试另评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91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多给几次机会，与每次都可靠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91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>p = 0.8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：一次容易，六次很难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609600" y="130492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8200" y="1295400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至少一次成功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1 − (1 − p)^k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2828925" y="130492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3057525" y="1295400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每次都成功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p^k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725025" y="12954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纵轴：假设条件下的概率（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%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133600" y="21621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80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1943100" y="2352675"/>
            <a:ext cx="533400" cy="1676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2762250" y="21621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>80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2571750" y="2352675"/>
            <a:ext cx="533400" cy="1676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562350" y="182880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96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371850" y="2019300"/>
            <a:ext cx="533400" cy="20097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191000" y="24955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>64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000500" y="2686050"/>
            <a:ext cx="533400" cy="134302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943475" y="17621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99.2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4800600" y="1952625"/>
            <a:ext cx="533400" cy="2076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572125" y="2762250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>51.2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5429250" y="2952750"/>
            <a:ext cx="533400" cy="107632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372225" y="17430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99.8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229350" y="1933575"/>
            <a:ext cx="533400" cy="2095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000875" y="29813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>41.0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858000" y="3171825"/>
            <a:ext cx="533400" cy="857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820025" y="174307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7658100" y="1933575"/>
            <a:ext cx="533400" cy="2095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429625" y="31527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>32.8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8286750" y="3343275"/>
            <a:ext cx="533400" cy="685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248775" y="1743075"/>
            <a:ext cx="21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100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9086850" y="1933575"/>
            <a:ext cx="533400" cy="2095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858375" y="328612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>26.2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9715500" y="3476625"/>
            <a:ext cx="533400" cy="552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1943100" y="4029075"/>
            <a:ext cx="8305800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2362200" y="40767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 = 1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790950" y="40767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 = 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219700" y="40767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 = 3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648450" y="40767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 = 4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077200" y="40767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 = 5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505950" y="40767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k = 6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4410075"/>
            <a:ext cx="5334000" cy="781050"/>
          </a:xfrm>
          <a:prstGeom prst="roundRect">
            <a:avLst>
              <a:gd name="adj" fmla="val 12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pass@k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至少一个候选成功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00100" y="4829175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适合有可靠验证办法的场景，例如用测试检查程序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172200" y="4410075"/>
            <a:ext cx="5410200" cy="781050"/>
          </a:xfrm>
          <a:prstGeom prst="roundRect">
            <a:avLst>
              <a:gd name="adj" fmla="val 121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362700" y="4600575"/>
            <a:ext cx="502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pass^k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独立重复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次，每次都成功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362700" y="4829175"/>
            <a:ext cx="502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区分“偶尔能成”与“持续可靠”，服务台自动办理更关心后者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534352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819150" y="54959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009650" y="5514975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k = 2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时：至少一次成功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96%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，每次都成功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64%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009650" y="57531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前提是同一道固定任务、初态与配置相同、各次独立；不能直接把题集平均准确率代入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，自适应重试另评。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31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62" name="" descr="&lt;Slide notes={`现在说那个最常见的错误：把题集的平均准确率直接当成 p 代进公式。&#10;&#10;假设题集里一半的题始终成功，另一半始终失败，整体平均是百分之五十。有人看到这个五成，就套公式说重复两次以后，至少一次成功应该是七成五，两次全部成功应该是两成五。&#10;&#10;这是错的。始终成功的那一半题两次都成功，始终失败的题两次都失败，所以重复两次之后两个比例仍然都是五成。&#10;&#10;原因在于题目难度不一样，它们不是同一枚硬币，必须先逐题计算再按规定汇总。&#10;&#10;研究里常见的做法是每题采样 n 次、观察其中成功了 c 次，再用组合数估计。要记住：组合数里 a 小于 k 时取零；无偏估计的前提是独立同分布采样，k 大于一时把 c 除以 n 直接代入幂公式并不无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4　多给几次机会，与每次都可靠&lt;/Text&gt;&#10;            &lt;Text style={{ fontSize: 34, fontWeight: 'bold', color: '#20344B' }}&gt;不能把题集平均当作 p&lt;/Text&gt;&#10;        &lt;/Box&gt;&#10;    &lt;/Box&gt;&#10;&#10;    &lt;Box style={{ height: 540, flexDirection: 'row', gap: 32 }}&gt;&#10;&#10;        &lt;Box style={{ width: 670, flexDirection: 'column', justifyContent: 'center', gap: 16 }}&gt;&#10;            &lt;Text style={{ fontSize: 21, fontWeight: 'bold', color: '#20344B' }}&gt;一半题始终成功，一半始终失败&lt;/Text&gt;&#10;            &lt;Text style={{ fontSize: 16, color: '#546779' }}&gt;十道题里五道每次都做对，五道每次都做错，总平均 50%。&lt;/Text&gt;&#10;&#10;            &lt;Box style={{ flexDirection: 'row', height: 60, gap: 6 }}&gt;&#10;                &lt;Box style={{ width: 58, height: 60, background: '#26816B', borderRadius: 6, justifyContent: 'center', alignItems: 'center' }}&gt;&lt;Text style={{ fontSize: 15, color: '#FFFFFF' }}&gt;1&lt;/Text&gt;&lt;/Box&gt;&#10;                &lt;Box style={{ width: 58, height: 60, background: '#26816B', borderRadius: 6, justifyContent: 'center', alignItems: 'center' }}&gt;&lt;Text style={{ fontSize: 15, color: '#FFFFFF' }}&gt;2&lt;/Text&gt;&lt;/Box&gt;&#10;                &lt;Box style={{ width: 58, height: 60, background: '#26816B', borderRadius: 6, justifyContent: 'center', alignItems: 'center' }}&gt;&lt;Text style={{ fontSize: 15, color: '#FFFFFF' }}&gt;3&lt;/Text&gt;&lt;/Box&gt;&#10;                &lt;Box style={{ width: 58, height: 60, background: '#26816B', borderRadius: 6, justifyContent: 'center', alignItems: 'center' }}&gt;&lt;Text style={{ fontSize: 15, color: '#FFFFFF' }}&gt;4&lt;/Text&gt;&lt;/Box&gt;&#10;                &lt;Box style={{ width: 58, height: 60, background: '#26816B', borderRadius: 6, justifyContent: 'center', alignItems: 'center' }}&gt;&lt;Text style={{ fontSize: 15, color: '#FFFFFF' }}&gt;5&lt;/Text&gt;&lt;/Box&gt;&#10;                &lt;Box style={{ width: 58, height: 60, background: '#CB6B28', borderRadius: 6, justifyContent: 'center', alignItems: 'center' }}&gt;&lt;Text style={{ fontSize: 15, color: '#FFFFFF' }}&gt;6&lt;/Text&gt;&lt;/Box&gt;&#10;                &lt;Box style={{ width: 58, height: 60, background: '#CB6B28', borderRadius: 6, justifyContent: 'center', alignItems: 'center' }}&gt;&lt;Text style={{ fontSize: 15, color: '#FFFFFF' }}&gt;7&lt;/Text&gt;&lt;/Box&gt;&#10;                &lt;Box style={{ width: 58, height: 60, background: '#CB6B28', borderRadius: 6, justifyContent: 'center', alignItems: 'center' }}&gt;&lt;Text style={{ fontSize: 15, color: '#FFFFFF' }}&gt;8&lt;/Text&gt;&lt;/Box&gt;&#10;                &lt;Box style={{ width: 58, height: 60, background: '#CB6B28', borderRadius: 6, justifyContent: 'center', alignItems: 'center' }}&gt;&lt;Text style={{ fontSize: 15, color: '#FFFFFF' }}&gt;9&lt;/Text&gt;&lt;/Box&gt;&#10;                &lt;Box style={{ width: 58, height: 60, background: '#CB6B28', borderRadius: 6, justifyContent: 'center', alignItems: 'center' }}&gt;&lt;Text style={{ fontSize: 15, color: '#FFFFFF' }}&gt;10&lt;/Text&gt;&lt;/Box&gt;&#10;            &lt;/Box&gt;&#10;&#10;            &lt;Box style={{ flexDirection: 'row', height: 110, gap: 20 }}&gt;&#10;                &lt;Box style={{ width: 325, background: '#EDF4FC', borderRadius: 10, padding: '14px 20px', flexDirection: 'row', alignItems: 'center', gap: 16 }}&gt;&#10;                    &lt;Text style={{ fontSize: 34, fontWeight: 'bold', color: '#276FBF' }}&gt;50%&lt;/Text&gt;&#10;                    &lt;Box style={{ flex: 1, flexDirection: 'column', gap: 2 }}&gt;&#10;                        &lt;Text style={{ fontSize: 16, fontWeight: 'bold', color: '#20344B' }}&gt;至少一次成功&lt;/Text&gt;&#10;                        &lt;Text style={{ fontSize: 14, color: '#546779' }}&gt;重复两次后仍是 50%&lt;/Text&gt;&#10;                    &lt;/Box&gt;&#10;                &lt;/Box&gt;&#10;                &lt;Box style={{ width: 325, background: '#ECF7F2', borderRadius: 10, padding: '14px 20px', flexDirection: 'row', alignItems: 'center', gap: 16 }}&gt;&#10;                    &lt;Text style={{ fontSize: 34, fontWeight: 'bold', color: '#26816B' }}&gt;50%&lt;/Text&gt;&#10;                    &lt;Box style={{ flex: 1, flexDirection: 'column', gap: 2 }}&gt;&#10;                        &lt;Text style={{ fontSize: 16, fontWeight: 'bold', color: '#20344B' }}&gt;两次全部成功&lt;/Text&gt;&#10;                        &lt;Text style={{ fontSize: 14, color: '#546779' }}&gt;重复两次后仍是 50%&lt;/Text&gt;&#10;                    &lt;/Box&gt;&#10;                &lt;/Box&gt;&#10;            &lt;/Box&gt;&#10;&#10;            &lt;Box style={{ flexDirection: 'row', alignItems: 'center', gap: 16, height: 100, background: '#FFF4E6', borderRadius: 10, padding: '0 20px' }}&gt;&#10;                &lt;Box style={{ width: 4, height: 62, background: '#CB6B28' }} /&gt;&#10;                &lt;Box style={{ flex: 1, flexDirection: 'column', gap: 4 }}&gt;&#10;                    &lt;Text style={{ fontSize: 17, fontWeight: 'bold', color: '#CB6B28' }}&gt;不是 75% 与 25%&lt;/Text&gt;&#10;                    &lt;Text style={{ fontSize: 15, color: '#546779', lineHeight: 1.55 }}&gt;题目难度不同，不能当作同一枚硬币；必须先逐题计算，再按规定汇总。&lt;/Text&gt;&#10;                &lt;/Box&gt;&#10;            &lt;/Box&gt;&#10;&#10;        &lt;/Box&gt;&#10;&#10;        &lt;Box style={{ width: 450, flexDirection: 'column', justifyContent: 'center', gap: 16 }}&gt;&#10;&#10;            &lt;Box style={{ height: 200, background: '#EDF4FC', borderRadius: 10, padding: '16px 20px', flexDirection: 'column', gap: 8 }}&gt;&#10;                &lt;Text style={{ fontSize: 18, fontWeight: 'bold', color: '#276FBF' }}&gt;样本内估计（1 ≤ k ≤ n）&lt;/Text&gt;&#10;                &lt;Text style={{ fontSize: 15, color: '#20344B', lineHeight: 1.5 }}&gt;每题采样 n 次，观察到 c 次成功&lt;/Text&gt;&#10;                &lt;Box style={{ flex: 1 }} /&gt;&#10;                &lt;Text style={{ fontSize: 15, color: '#546779', lineHeight: 1.6 }}&gt;pass@k　1 − C(n−c, k) / C(n, k){'\n'}pass^k　C(c, k) / C(n, k)&lt;/Text&gt;&#10;            &lt;/Box&gt;&#10;&#10;            &lt;Box style={{ height: 200, background: '#F4F7FA', borderRadius: 10, padding: '16px 20px', flexDirection: 'column', gap: 8 }}&gt;&#10;                &lt;Text style={{ fontSize: 18, fontWeight: 'bold', color: '#20344B' }}&gt;两个前提&lt;/Text&gt;&#10;                &lt;Text style={{ fontSize: 15, color: '#546779', lineHeight: 1.6 }}&gt;C(a, k) 表示从 a 项中选 k 项的组合数，a 小于 k 时取 0。&lt;/Text&gt;&#10;                &lt;Text style={{ fontSize: 15, color: '#546779', lineHeight: 1.6 }}&gt;这些是独立同分布采样条件下的无偏估计；k 大于 1 时，把有限样本的 c / n 直接代入幂公式，一般并不无偏。&lt;/Text&gt;&#10;            &lt;/Box&gt;&#10;&#10;            &lt;Box style={{ height: 100, background: '#ECF7F2', borderRadius: 10, padding: '16px 20px', flexDirection: 'column', gap: 6, justifyContent: 'center' }}&gt;&#10;                &lt;Text style={{ fontSize: 16, fontWeight: 'bold', color: '#26816B' }}&gt;比较成绩时，同时对齐四件事&lt;/Text&gt;&#10;                &lt;Text style={{ fontSize: 15, color: '#546779' }}&gt;尝试次数　·　验证方式　·　环境重置　·　预算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28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多给几次机会，与每次都可靠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28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不能把题集平均当作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p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6381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一半题始终成功，一半始终失败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2305050"/>
            <a:ext cx="638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十道题里五道每次都做对，五道每次都做错，总平均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50%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477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12192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4573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18288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0669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24384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26765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0480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32861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36576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8957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2672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5053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8768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1149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54864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724525" y="2847975"/>
            <a:ext cx="85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096000" y="2647950"/>
            <a:ext cx="552450" cy="571500"/>
          </a:xfrm>
          <a:prstGeom prst="roundRect">
            <a:avLst>
              <a:gd name="adj" fmla="val 1034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286500" y="2847975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3371850"/>
            <a:ext cx="3095625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704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76FBF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657350" y="3714750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至少一次成功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657350" y="39243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重复两次后仍是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3895725" y="3371850"/>
            <a:ext cx="3095625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086225" y="3705225"/>
            <a:ext cx="704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6816B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43475" y="3714750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两次全部成功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943475" y="39243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重复两次后仍是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50%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4572000"/>
            <a:ext cx="63817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800100" y="47529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990600" y="4800600"/>
            <a:ext cx="581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不是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75%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90600" y="5038725"/>
            <a:ext cx="5810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题目难度不同，不能当作同一枚硬币；必须先逐题计算，再按规定汇总。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7296150" y="1181100"/>
            <a:ext cx="428625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486650" y="1333500"/>
            <a:ext cx="390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样本内估计（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1 ≤ k ≤ n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486650" y="1619250"/>
            <a:ext cx="3905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每题采样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次，观察到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c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次成功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486650" y="2381250"/>
            <a:ext cx="3905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pass@k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1 − C(n−c, k) / C(n, k)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pass^k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C(c, k) / C(n, k)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7296150" y="3238500"/>
            <a:ext cx="4286250" cy="1905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486650" y="3390900"/>
            <a:ext cx="390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两个前提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486650" y="3676650"/>
            <a:ext cx="3905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C(a, k)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表示从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项中选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项的组合数，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小于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486650" y="4029075"/>
            <a:ext cx="3905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这些是独立同分布采样条件下的无偏估计；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大于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时，把有限样本的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 / 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直接代入幂公式，一般并不无偏。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7296150" y="5295900"/>
            <a:ext cx="42862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486650" y="5562600"/>
            <a:ext cx="390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比较成绩时，同时对齐四件事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486650" y="58102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尝试次数　·　验证方式　·　环境重置　·　预算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31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414" name="" descr="&lt;Slide notes={`前面讲的准确率、精确率、召回率，都建立在“有标准答案”这个前提上。可是有些任务根本没有唯一答案。&#10;&#10;比如写一封开放日邀请函。两份文本摆在那里，哪一份更好？没有人能给出一个标准答案去逐字比对。&#10;&#10;这时候常用的办法是配对评价：把模型名称藏起来，让读者在同一份材料下同时看到两份文本，分别就几个方面打分——事实是不是忠实、信息是不是完整、表达是不是清楚、是不是适合这批读者——最后再做一个总体选择。&#10;&#10;这样做有道理，因为它测量的是体验，而体验确实不是唯一答案能覆盖的。但它也有代价：读者的群体不同、文字长短不同、两份文本呈现的左右顺序不同，都可能影响判断。&#10;&#10;所以偏好评价的结论，永远要带上评价人群和题目分布这两个条件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6&lt;/Text&gt;&#10;            &lt;/Box&gt;&#10;            &lt;Text style={{ fontSize: 16, color: '#546779' }}&gt;1.3.6　开放写作为什么需要偏好评价&lt;/Text&gt;&#10;        &lt;/Box&gt;&#10;&#10;        &lt;Text style={{ fontSize: 56, fontWeight: 'bold', color: '#20344B', lineHeight: 1.15 }}&gt;没有唯一答案时怎样打分&lt;/Text&gt;&#10;&#10;        &lt;Box style={{ width: 640, height: 4, background: '#276FBF' }} /&gt;&#10;&#10;        &lt;Text style={{ fontSize: 19, color: '#546779', lineHeight: 1.7 }}&gt;邀请函很难只有一个标准答案；隐藏模型名称，在相同材料下比较两份文本，再作总体选择。&lt;/Text&gt;&#10;&#10;        &lt;Box style={{ flexDirection: 'row', alignItems: 'center', gap: 20, marginTop: 8 }}&gt;&#10;&#10;            &lt;Box style={{ width: 300, height: 150, background: '#EDF4FC', borderRadius: 10, padding: '18px 20px', flexDirection: 'column', gap: 8 }}&gt;&#10;                &lt;Text style={{ fontSize: 18, fontWeight: 'bold', color: '#276FBF' }}&gt;文本 A&lt;/Text&gt;&#10;                &lt;Text style={{ fontSize: 15, color: '#546779', lineHeight: 1.6 }}&gt;隐藏模型名称{'\n'}与文本 B 使用同一份材料&lt;/Text&gt;&#10;            &lt;/Box&gt;&#10;&#10;            &lt;Box style={{ width: 44, justifyContent: 'center', alignItems: 'center' }}&gt;&#10;                &lt;Text style={{ fontSize: 26, color: '#B5C7D8' }}&gt;↔&lt;/Text&gt;&#10;            &lt;/Box&gt;&#10;&#10;            &lt;Box style={{ width: 300, height: 150, background: '#ECF7F2', borderRadius: 10, padding: '18px 20px', flexDirection: 'column', gap: 8 }}&gt;&#10;                &lt;Text style={{ fontSize: 18, fontWeight: 'bold', color: '#26816B' }}&gt;文本 B&lt;/Text&gt;&#10;                &lt;Text style={{ fontSize: 15, color: '#546779', lineHeight: 1.6 }}&gt;逐项评价四个维度{'\n'}再作总体选择&lt;/Text&gt;&#10;            &lt;/Box&gt;&#10;&#10;            &lt;Box style={{ width: 130 }} /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1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609600" y="12287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14375" y="13335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295400" y="140017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1.3.6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开放写作为什么需要偏好评价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没有唯一答案时怎样打分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9600" y="29241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邀请函很难只有一个标准答案；隐藏模型名称，在相同材料下比较两份文本，再作总体选择。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38290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247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文本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24765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隐藏模型名称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与文本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使用同一份材料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762375" y="4391025"/>
            <a:ext cx="219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B5C7D8"/>
                </a:solidFill>
                <a:latin typeface="Microsoft YaHei"/>
                <a:ea typeface="Microsoft YaHei"/>
              </a:rPr>
              <a:t>↔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4267200" y="38290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4457700" y="4000500"/>
            <a:ext cx="247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文本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457700" y="4286250"/>
            <a:ext cx="24765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逐项评价四个维度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再作总体选择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31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77" name="" descr="&lt;Slide notes={`配对评价算出来是一个什么数？这里有两种常见口径，一定不能混。&#10;&#10;假设甲在十次配对评价里胜六次、平两次、负两次。&#10;&#10;第一种口径，事先规定平局算半分。得分就是六加上零点五乘二，再除以十，等于七成。&#10;&#10;第二种口径，只统计非平局的场次。十次里有两场是平局，真正分出胜负的是八场，甲胜六场，六除以八，等于七成五。&#10;&#10;两个数都不算错，它们回答的问题略有不同：前者把所有场次都纳入，包括读者觉得差不多的情况；后者只在明显分出高下的时候计算。但你必须写清用的是哪一种，否则同样的原始结果会报出两个不同的分数。&#10;&#10;还有一点，这里的分母必须是事先写好的规则，不能事后看哪个数好看就选哪个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6　开放写作为什么需要偏好评价&lt;/Text&gt;&#10;            &lt;Text style={{ fontSize: 34, fontWeight: 'bold', color: '#20344B' }}&gt;十次配对：6 胜 2 平 2 负&lt;/Text&gt;&#10;        &lt;/Box&gt;&#10;    &lt;/Box&gt;&#10;&#10;    &lt;Box style={{ height: 540, flexDirection: 'row', gap: 32 }}&gt;&#10;&#10;        &lt;Box style={{ width: 600, flexDirection: 'column', justifyContent: 'center', gap: 16 }}&gt;&#10;            &lt;Text style={{ fontSize: 21, fontWeight: 'bold', color: '#20344B' }}&gt;十次配对评价的结果&lt;/Text&gt;&#10;&#10;            &lt;Box style={{ flexDirection: 'row', height: 66, gap: 6 }}&gt;&#10;                &lt;Box style={{ width: 54, height: 66, background: '#26816B', borderRadius: 6, justifyContent: 'center', alignItems: 'center' }}&gt;&lt;Text style={{ fontSize: 15, color: '#FFFFFF' }}&gt;胜&lt;/Text&gt;&lt;/Box&gt;&#10;                &lt;Box style={{ width: 54, height: 66, background: '#26816B', borderRadius: 6, justifyContent: 'center', alignItems: 'center' }}&gt;&lt;Text style={{ fontSize: 15, color: '#FFFFFF' }}&gt;胜&lt;/Text&gt;&lt;/Box&gt;&#10;                &lt;Box style={{ width: 54, height: 66, background: '#26816B', borderRadius: 6, justifyContent: 'center', alignItems: 'center' }}&gt;&lt;Text style={{ fontSize: 15, color: '#FFFFFF' }}&gt;胜&lt;/Text&gt;&lt;/Box&gt;&#10;                &lt;Box style={{ width: 54, height: 66, background: '#26816B', borderRadius: 6, justifyContent: 'center', alignItems: 'center' }}&gt;&lt;Text style={{ fontSize: 15, color: '#FFFFFF' }}&gt;胜&lt;/Text&gt;&lt;/Box&gt;&#10;                &lt;Box style={{ width: 54, height: 66, background: '#26816B', borderRadius: 6, justifyContent: 'center', alignItems: 'center' }}&gt;&lt;Text style={{ fontSize: 15, color: '#FFFFFF' }}&gt;胜&lt;/Text&gt;&lt;/Box&gt;&#10;                &lt;Box style={{ width: 54, height: 66, background: '#26816B', borderRadius: 6, justifyContent: 'center', alignItems: 'center' }}&gt;&lt;Text style={{ fontSize: 15, color: '#FFFFFF' }}&gt;胜&lt;/Text&gt;&lt;/Box&gt;&#10;                &lt;Box style={{ width: 54, height: 66, background: '#F4F7FA', borderRadius: 6, justifyContent: 'center', alignItems: 'center' }}&gt;&lt;Text style={{ fontSize: 15, color: '#546779' }}&gt;平&lt;/Text&gt;&lt;/Box&gt;&#10;                &lt;Box style={{ width: 54, height: 66, background: '#F4F7FA', borderRadius: 6, justifyContent: 'center', alignItems: 'center' }}&gt;&lt;Text style={{ fontSize: 15, color: '#546779' }}&gt;平&lt;/Text&gt;&lt;/Box&gt;&#10;                &lt;Box style={{ width: 54, height: 66, background: '#CB6B28', borderRadius: 6, justifyContent: 'center', alignItems: 'center' }}&gt;&lt;Text style={{ fontSize: 15, color: '#FFFFFF' }}&gt;负&lt;/Text&gt;&lt;/Box&gt;&#10;                &lt;Box style={{ width: 54, height: 66, background: '#CB6B28', borderRadius: 6, justifyContent: 'center', alignItems: 'center' }}&gt;&lt;Text style={{ fontSize: 15, color: '#FFFFFF' }}&gt;负&lt;/Text&gt;&lt;/Box&gt;&#10;            &lt;/Box&gt;&#10;&#10;            &lt;Box style={{ flexDirection: 'row', gap: 20, height: 24 }}&gt;&#10;                &lt;Text style={{ fontSize: 14, color: '#546779' }}&gt;胜 6 次&lt;/Text&gt;&#10;                &lt;Text style={{ fontSize: 14, color: '#546779' }}&gt;平 2 次&lt;/Text&gt;&#10;                &lt;Text style={{ fontSize: 14, color: '#546779' }}&gt;负 2 次&lt;/Text&gt;&#10;            &lt;/Box&gt;&#10;&#10;            &lt;Box style={{ height: 150, background: '#EDF4FC', borderRadius: 10, padding: '16px 20px', flexDirection: 'column', gap: 6 }}&gt;&#10;                &lt;Text style={{ fontSize: 17, fontWeight: 'bold', color: '#276FBF' }}&gt;逐项评价四个维度&lt;/Text&gt;&#10;                &lt;Text style={{ fontSize: 15, color: '#20344B', lineHeight: 1.7 }}&gt;事实忠实　·　信息完整{'\n'}表达清楚　·　受众适配&lt;/Text&gt;&#10;            &lt;/Box&gt;&#10;&#10;            &lt;Box style={{ flexDirection: 'row', alignItems: 'center', gap: 12, height: 90, background: '#F4F7FA', borderRadius: 10, padding: '0 18px' }}&gt;&#10;                &lt;Box style={{ width: 3, height: 46, background: '#276FBF' }} /&gt;&#10;                &lt;Text style={{ fontSize: 15, color: '#20344B', lineHeight: 1.55 }}&gt;隐藏模型名称，让读者在相同材料下比较两份文本，再作总体选择——这是唯一答案难以覆盖的体验。&lt;/Text&gt;&#10;            &lt;/Box&gt;&#10;&#10;        &lt;/Box&gt;&#10;&#10;        &lt;Box style={{ width: 520, flexDirection: 'column', justifyContent: 'center', gap: 16 }}&gt;&#10;&#10;            &lt;Box style={{ height: 170, background: '#EDF4FC', borderRadius: 10, padding: '18px 20px', flexDirection: 'column', gap: 10 }}&gt;&#10;                &lt;Text style={{ fontSize: 18, fontWeight: 'bold', color: '#276FBF' }}&gt;口径一　平局算半分&lt;/Text&gt;&#10;                &lt;Text style={{ fontSize: 16, color: '#20344B' }}&gt;( 6 + 0.5 × 2 ) / 10&lt;/Text&gt;&#10;                &lt;Box style={{ flex: 1 }} /&gt;&#10;                &lt;Text style={{ fontSize: 30, fontWeight: 'bold', color: '#276FBF' }}&gt;= 70%&lt;/Text&gt;&#10;            &lt;/Box&gt;&#10;&#10;            &lt;Box style={{ height: 170, background: '#ECF7F2', borderRadius: 10, padding: '18px 20px', flexDirection: 'column', gap: 10 }}&gt;&#10;                &lt;Text style={{ fontSize: 18, fontWeight: 'bold', color: '#26816B' }}&gt;口径二　只统计非平局&lt;/Text&gt;&#10;                &lt;Text style={{ fontSize: 16, color: '#20344B' }}&gt;6 / 8&lt;/Text&gt;&#10;                &lt;Box style={{ flex: 1 }} /&gt;&#10;                &lt;Text style={{ fontSize: 30, fontWeight: 'bold', color: '#26816B' }}&gt;= 75%&lt;/Text&gt;&#10;            &lt;/Box&gt;&#10;&#10;            &lt;Box style={{ flexDirection: 'row', alignItems: 'center', gap: 16, height: 110, background: '#FFF4E6', borderRadius: 10, padding: '0 20px' }}&gt;&#10;                &lt;Box style={{ width: 4, height: 70, background: '#CB6B28' }} /&gt;&#10;                &lt;Box style={{ flex: 1, flexDirection: 'column', gap: 4 }}&gt;&#10;                    &lt;Text style={{ fontSize: 16, fontWeight: 'bold', color: '#CB6B28' }}&gt;两种口径都能用，但必须写清&lt;/Text&gt;&#10;                    &lt;Text style={{ fontSize: 15, color: '#546779', lineHeight: 1.55 }}&gt;同一批结果会报出两个不同的分数；口径要在评价开始前定好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开放写作为什么需要偏好评价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76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十次配对：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胜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平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负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十次配对评价的结果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001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胜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11811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3716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胜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17526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9431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胜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23241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25146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胜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28956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0861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胜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34671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6576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胜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40386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42291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平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46101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48006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平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1816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3721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负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5753100" y="2114550"/>
            <a:ext cx="514350" cy="628650"/>
          </a:xfrm>
          <a:prstGeom prst="roundRect">
            <a:avLst>
              <a:gd name="adj" fmla="val 1111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943600" y="23431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负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2895600"/>
            <a:ext cx="428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228725" y="2895600"/>
            <a:ext cx="428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平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847850" y="2895600"/>
            <a:ext cx="428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609600" y="3276600"/>
            <a:ext cx="5715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逐项评价四个维度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00100" y="3686175"/>
            <a:ext cx="533400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事实忠实　·　信息完整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表达清楚　·　受众适配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4857750"/>
            <a:ext cx="5715000" cy="85725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781050" y="5067300"/>
            <a:ext cx="28575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923925" y="5019675"/>
            <a:ext cx="5229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隐藏模型名称，让读者在相同材料下比较两份文本，再作总体选择——这是唯一答案难以覆盖的体验。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629400" y="1419225"/>
            <a:ext cx="49530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819900" y="159067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口径一　平局算半分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819900" y="1895475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( 6 + 0.5 × 2 ) / 10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819900" y="2524125"/>
            <a:ext cx="457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>= 70%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629400" y="3190875"/>
            <a:ext cx="4953000" cy="161925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819900" y="3362325"/>
            <a:ext cx="4572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口径二　只统计非平局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819900" y="3667125"/>
            <a:ext cx="457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6 / 8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819900" y="4295775"/>
            <a:ext cx="4572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6816B"/>
                </a:solidFill>
                <a:latin typeface="Microsoft YaHei"/>
                <a:ea typeface="Microsoft YaHei"/>
              </a:rPr>
              <a:t>= 75%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629400" y="4962525"/>
            <a:ext cx="49530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6819900" y="5153025"/>
            <a:ext cx="38100" cy="666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010400" y="5238750"/>
            <a:ext cx="4381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两种口径都能用，但必须写清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010400" y="5467350"/>
            <a:ext cx="4381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同一批结果会报出两个不同的分数；口径要在评价开始前定好。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31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26" name="" descr="&lt;Slide notes={`偏好评价有用，但它会受一些具体因素影响，用之前要把这些因素按住。&#10;&#10;第一是呈现顺序。同两份文本，A 放左边和 A 放右边，读者的选择可能会变，所以要交换左右位置各评一次，或者随机分配位置。&#10;&#10;第二是量表和长度。文字长的回答常常显得更详细，读者容易给它更高的总体分，这就是冗长偏差，要用明确的量表把长度的影响尽量分开。&#10;&#10;第三是事实。偏好评价测的是体验，不负责核对事实，无论读者怎么选，事实都要单独核对一遍。&#10;&#10;现在很多做法让模型来当裁判，因为它便宜、快。但模型裁判同样有位置偏差和冗长偏差，必须先用人工标注的样本来检查。&#10;&#10;一个偏好排名，首先是特定人群和题目分布下的相对表现，不能直接换算成“完成工作的百分比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6　开放写作为什么需要偏好评价&lt;/Text&gt;&#10;            &lt;Text style={{ fontSize: 34, fontWeight: 'bold', color: '#20344B' }}&gt;偏好排名会受什么影响&lt;/Text&gt;&#10;        &lt;/Box&gt;&#10;    &lt;/Box&gt;&#10;&#10;    &lt;Box style={{ height: 540, flexDirection: 'row', gap: 32 }}&gt;&#10;&#10;        &lt;Box style={{ width: 480, flexDirection: 'column', justifyContent: 'center', gap: 14 }}&gt;&#10;            &lt;Text style={{ fontSize: 21, fontWeight: 'bold', color: '#20344B' }}&gt;评之前先做的三件事&lt;/Text&gt;&#10;&#10;            &lt;Box style={{ height: 120, background: '#EDF4FC', borderRadius: 10, padding: '16px 20px', flexDirection: 'column', gap: 6 }}&gt;&#10;                &lt;Text style={{ fontSize: 17, fontWeight: 'bold', color: '#276FBF' }}&gt;交换左右位置&lt;/Text&gt;&#10;                &lt;Text style={{ fontSize: 15, color: '#546779', lineHeight: 1.6 }}&gt;同两份文本换一次顺序再评，或随机分配位置。&lt;/Text&gt;&#10;            &lt;/Box&gt;&#10;&#10;            &lt;Box style={{ height: 120, background: '#EDF4FC', borderRadius: 10, padding: '16px 20px', flexDirection: 'column', gap: 6 }}&gt;&#10;                &lt;Text style={{ fontSize: 17, fontWeight: 'bold', color: '#276FBF' }}&gt;使用明确的量表&lt;/Text&gt;&#10;                &lt;Text style={{ fontSize: 15, color: '#546779', lineHeight: 1.6 }}&gt;把“哪个更好”拆成可勾选的等级，减少临时标准。&lt;/Text&gt;&#10;            &lt;/Box&gt;&#10;&#10;            &lt;Box style={{ height: 120, background: '#FFF4E6', borderRadius: 10, padding: '16px 20px', flexDirection: 'column', gap: 6 }}&gt;&#10;                &lt;Text style={{ fontSize: 17, fontWeight: 'bold', color: '#CB6B28' }}&gt;单独核对事实&lt;/Text&gt;&#10;                &lt;Text style={{ fontSize: 15, color: '#546779', lineHeight: 1.6 }}&gt;偏好评价测体验，不负责核对事实。&lt;/Text&gt;&#10;            &lt;/Box&gt;&#10;&#10;        &lt;/Box&gt;&#10;&#10;        &lt;Box style={{ width: 640, flexDirection: 'column', justifyContent: 'center', gap: 14 }}&gt;&#10;            &lt;Text style={{ fontSize: 21, fontWeight: 'bold', color: '#20344B' }}&gt;两类偏差与一个替代方案&lt;/Text&gt;&#10;&#10;            &lt;Box style={{ flexDirection: 'row', height: 140, background: '#F4F7FA', borderRadius: 10, padding: '0 20px', alignItems: 'center', gap: 16 }}&gt;&#10;                &lt;Box style={{ width: 4, height: 84, background: '#276FBF' }} /&gt;&#10;                &lt;Box style={{ width: 140, flexDirection: 'column', gap: 3 }}&gt;&#10;                    &lt;Text style={{ fontSize: 18, fontWeight: 'bold', color: '#20344B' }}&gt;位置偏差&lt;/Text&gt;&#10;                    &lt;Text style={{ fontSize: 14, color: '#546779' }}&gt;出现在前或后&lt;/Text&gt;&#10;                &lt;/Box&gt;&#10;                &lt;Box style={{ flex: 1 }}&gt;&#10;                    &lt;Text style={{ fontSize: 15, color: '#546779', lineHeight: 1.6 }}&gt;同一份文本放在左边或右边，读者的选择会变；比较时必须交换位置或随机分配。&lt;/Text&gt;&#10;                &lt;/Box&gt;&#10;            &lt;/Box&gt;&#10;&#10;            &lt;Box style={{ flexDirection: 'row', height: 140, background: '#F4F7FA', borderRadius: 10, padding: '0 20px', alignItems: 'center', gap: 16 }}&gt;&#10;                &lt;Box style={{ width: 4, height: 84, background: '#276FBF' }} /&gt;&#10;                &lt;Box style={{ width: 140, flexDirection: 'column', gap: 3 }}&gt;&#10;                    &lt;Text style={{ fontSize: 18, fontWeight: 'bold', color: '#20344B' }}&gt;冗长偏差&lt;/Text&gt;&#10;                    &lt;Text style={{ fontSize: 14, color: '#546779' }}&gt;越长越受偏爱&lt;/Text&gt;&#10;                &lt;/Box&gt;&#10;                &lt;Box style={{ flex: 1 }}&gt;&#10;                    &lt;Text style={{ fontSize: 15, color: '#546779', lineHeight: 1.6 }}&gt;文字长的回答容易拿到更高的总体分；需要明确量表，并把长度因素尽量分开。&lt;/Text&gt;&#10;                &lt;/Box&gt;&#10;            &lt;/Box&gt;&#10;&#10;            &lt;Box style={{ flexDirection: 'row', height: 150, background: '#ECF7F2', borderRadius: 10, padding: '0 20px', alignItems: 'center', gap: 16 }}&gt;&#10;                &lt;Box style={{ width: 4, height: 92, background: '#26816B' }} /&gt;&#10;                &lt;Box style={{ width: 140, flexDirection: 'column', gap: 3 }}&gt;&#10;                    &lt;Text style={{ fontSize: 18, fontWeight: 'bold', color: '#26816B' }}&gt;模型当裁判&lt;/Text&gt;&#10;                    &lt;Text style={{ fontSize: 14, color: '#546779' }}&gt;要用人工样本来查&lt;/Text&gt;&#10;                &lt;/Box&gt;&#10;                &lt;Box style={{ flex: 1 }}&gt;&#10;                    &lt;Text style={{ fontSize: 15, color: '#546779', lineHeight: 1.6 }}&gt;模型可以充当裁判，但存在位置偏差与冗长偏差，需要用人工标注样本先检查偏差，再决定可否使用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开放写作为什么需要偏好评价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偏好排名会受什么影响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609600" y="1676400"/>
            <a:ext cx="4572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评之前先做的三件事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09600" y="2057400"/>
            <a:ext cx="45720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交换左右位置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00100" y="246697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同两份文本换一次顺序再评，或随机分配位置。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3333750"/>
            <a:ext cx="45720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00100" y="348615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使用明确的量表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00100" y="374332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把“哪个更好”拆成可勾选的等级，减少临时标准。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4610100"/>
            <a:ext cx="45720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00100" y="4762500"/>
            <a:ext cx="4191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单独核对事实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00100" y="501967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偏好评价测体验，不负责核对事实。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5486400" y="1343025"/>
            <a:ext cx="609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两类偏差与一个替代方案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5486400" y="1724025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5676900" y="1990725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867400" y="219075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位置偏差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867400" y="24288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出现在前或后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353300" y="2114550"/>
            <a:ext cx="4038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同一份文本放在左边或右边，读者的选择会变；比较时必须交换位置或随机分配。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5486400" y="3190875"/>
            <a:ext cx="60960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5676900" y="3457575"/>
            <a:ext cx="38100" cy="800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867400" y="3657600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冗长偏差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5867400" y="38957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越长越受偏爱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353300" y="3581400"/>
            <a:ext cx="4038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文字长的回答容易拿到更高的总体分；需要明确量表，并把长度因素尽量分开。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5486400" y="4657725"/>
            <a:ext cx="60960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5676900" y="4933950"/>
            <a:ext cx="38100" cy="876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5867400" y="5172075"/>
            <a:ext cx="133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模型当裁判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5867400" y="54102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要用人工样本来查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353300" y="5095875"/>
            <a:ext cx="4038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模型可以充当裁判，但存在位置偏差与冗长偏差，需要用人工标注样本先检查偏差，再决定可否使用。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31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59" name="" descr="&lt;Slide notes={`再说一个容易想当然的地方：模型说自己很确定，这句话能不能信。&#10;&#10;打个比方，假如助手对一批判断都报告&quot;我有八成的把握&quot;。一次两次看不出来，但如果这样的判断做上很多次，其中大约真的有八成是对的，这才符合概率校准的直观含义。&#10;&#10;反过来，如果它总说八成把握，实际只对了六成，或者实际对了九成五，这都叫校准不好。校准不好意味着这个数字不能当作决策依据。&#10;&#10;这里要区分两件事。模型说&quot;我非常确定&quot;，这句话本身没有可计算的概率意义，它只是一个说法。就算它真的给出了零点八，这个零点八也必须用实际结果去检验。&#10;&#10;检验的办法就是拿这些预测概率和最终的真实结果对照。下面我用一个具体的小算例讲清楚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7&lt;/Text&gt;&#10;            &lt;/Box&gt;&#10;            &lt;Text style={{ fontSize: 16, color: '#546779' }}&gt;1.3.7　自信是否可信&lt;/Text&gt;&#10;        &lt;/Box&gt;&#10;&#10;        &lt;Text style={{ fontSize: 56, fontWeight: 'bold', color: '#20344B', lineHeight: 1.15 }}&gt;自信是否可信&lt;/Text&gt;&#10;&#10;        &lt;Box style={{ width: 640, height: 4, background: '#276FBF' }} /&gt;&#10;&#10;        &lt;Text style={{ fontSize: 19, color: '#546779', lineHeight: 1.7 }}&gt;报告“有 80% 的把握”，这批判断长期就要约有 80% 正确，才符合概率校准的直观含义。&lt;/Text&gt;&#10;&#10;        &lt;Box style={{ flexDirection: 'row', alignItems: 'center', gap: 16, marginTop: 8 }}&gt;&#10;            &lt;Box style={{ width: 260, height: 100, background: '#EDF4FC', borderRadius: 10, padding: '16px 18px', flexDirection: 'column', gap: 4, justifyContent: 'center' }}&gt;&#10;                &lt;Text style={{ fontSize: 15, color: '#546779' }}&gt;模型报告&lt;/Text&gt;&#10;                &lt;Text style={{ fontSize: 26, fontWeight: 'bold', color: '#276FBF' }}&gt;80% 把握&lt;/Text&gt;&#10;            &lt;/Box&gt;&#10;            &lt;Box style={{ width: 44, justifyContent: 'center', alignItems: 'center' }}&gt;&#10;                &lt;Text style={{ fontSize: 24, color: '#B5C7D8' }}&gt;↔&lt;/Text&gt;&#10;            &lt;/Box&gt;&#10;            &lt;Box style={{ width: 260, height: 100, background: '#ECF7F2', borderRadius: 10, padding: '16px 18px', flexDirection: 'column', gap: 4, justifyContent: 'center' }}&gt;&#10;                &lt;Text style={{ fontSize: 15, color: '#546779' }}&gt;实际结果&lt;/Text&gt;&#10;                &lt;Text style={{ fontSize: 26, fontWeight: 'bold', color: '#26816B' }}&gt;长期约 80% 对&lt;/Text&gt;&#10;            &lt;/Box&gt;&#10;            &lt;Box style={{ width: 90 }} /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2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1" name=""/>
          <p:cNvSpPr/>
          <p:nvPr/>
        </p:nvSpPr>
        <p:spPr>
          <a:xfrm rot="0" flipH="0" flipV="0">
            <a:off x="609600" y="14668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14375" y="15716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295400" y="1638300"/>
            <a:ext cx="1409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1.3.7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自信是否可信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自信是否可信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31623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报告“有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的把握”，这批判断长期就要约有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正确，才符合概率校准的直观含义。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4067175"/>
            <a:ext cx="24765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模型报告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2133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80% </a:t>
            </a: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把握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3352800" y="4410075"/>
            <a:ext cx="200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B5C7D8"/>
                </a:solidFill>
                <a:latin typeface="Microsoft YaHei"/>
                <a:ea typeface="Microsoft YaHei"/>
              </a:rPr>
              <a:t>↔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3810000" y="4067175"/>
            <a:ext cx="247650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3981450" y="428625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实际结果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3981450" y="4495800"/>
            <a:ext cx="2133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6816B"/>
                </a:solidFill>
                <a:latin typeface="Microsoft YaHei"/>
                <a:ea typeface="Microsoft YaHei"/>
              </a:rPr>
              <a:t>长期约</a:t>
            </a:r>
            <a:r>
              <a:rPr lang="en-US" sz="19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950" b="1">
                <a:solidFill>
                  <a:srgbClr val="26816B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31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76" name="" descr="&lt;Slide notes={`用一个小算例把 Brier 分数看清楚。它是这么算的：对每一项，拿模型报出的成功概率减去实际结果，平方，然后把所有项平均起来。结果越接近零越好，按本书的约定范围是零到一。&#10;&#10;看第一个例子。助手对两项判断都报了零点九的把握，一项最终成功，一项失败。&#10;&#10;成功那一项，零点九减一，平方是零点零一。失败那一项，零点九减零，平方是零点八一。两项平均，零点四一。&#10;&#10;第二个例子，同样一项成功一项失败，但助手这次报的是零点五。成功那项平方零点二五，失败那项也是零点二五，平均零点二五。&#10;&#10;对比一下就明白：高置信的错误会受到很大的惩罚。报零点九说错了，比报零点五说错了要罚得重得多。不过两项样本太小，不能凭这个判断长期的校准水平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7　自信是否可信&lt;/Text&gt;&#10;            &lt;Text style={{ fontSize: 34, fontWeight: 'bold', color: '#20344B' }}&gt;报 0.9 却错一半：罚多少&lt;/Text&gt;&#10;        &lt;/Box&gt;&#10;    &lt;/Box&gt;&#10;&#10;    &lt;Box style={{ height: 540, flexDirection: 'column', justifyContent: 'center', gap: 12 }}&gt;&#10;&#10;        &lt;Box style={{ flexDirection: 'row', alignItems: 'center', gap: 16, height: 30, padding: '0 20px' }}&gt;&#10;            &lt;Box style={{ width: 300 }}&gt;&lt;Text style={{ fontSize: 14, color: '#546779' }}&gt;预测与结果&lt;/Text&gt;&lt;/Box&gt;&#10;            &lt;Box style={{ flex: 1 }}&gt;&lt;Text style={{ fontSize: 14, color: '#546779' }}&gt;逐项 ( p − y ) ²&lt;/Text&gt;&lt;/Box&gt;&#10;            &lt;Box style={{ width: 190 }}&gt;&lt;Text style={{ fontSize: 14, color: '#546779' }}&gt;平均 = Brier 分数&lt;/Text&gt;&lt;/Box&gt;&#10;        &lt;/Box&gt;&#10;&#10;        &lt;Box style={{ flexDirection: 'row', height: 120, background: '#FFF4E6', borderRadius: 10, padding: '0 20px', alignItems: 'center', gap: 16 }}&gt;&#10;            &lt;Box style={{ width: 300, flexDirection: 'column', gap: 4 }}&gt;&#10;                &lt;Text style={{ fontSize: 18, fontWeight: 'bold', color: '#CB6B28' }}&gt;两项都报 0.9&lt;/Text&gt;&#10;                &lt;Text style={{ fontSize: 15, color: '#546779' }}&gt;一项成功，一项失败&lt;/Text&gt;&#10;            &lt;/Box&gt;&#10;            &lt;Box style={{ flex: 1 }}&gt;&#10;                &lt;Text style={{ fontSize: 16, color: '#20344B' }}&gt;成功　( 0.9 − 1 )² = 0.01&lt;/Text&gt;&#10;                &lt;Text style={{ fontSize: 16, color: '#CB6B28' }}&gt;失败　( 0.9 − 0 )² = 0.81&lt;/Text&gt;&#10;            &lt;/Box&gt;&#10;            &lt;Box style={{ width: 190, alignItems: 'flex-end' }}&gt;&#10;                &lt;Text style={{ fontSize: 34, fontWeight: 'bold', color: '#CB6B28' }}&gt;0.41&lt;/Text&gt;&#10;            &lt;/Box&gt;&#10;        &lt;/Box&gt;&#10;&#10;        &lt;Box style={{ flexDirection: 'row', height: 120, background: '#ECF7F2', borderRadius: 10, padding: '0 20px', alignItems: 'center', gap: 16 }}&gt;&#10;            &lt;Box style={{ width: 300, flexDirection: 'column', gap: 4 }}&gt;&#10;                &lt;Text style={{ fontSize: 18, fontWeight: 'bold', color: '#26816B' }}&gt;两项都报 0.5&lt;/Text&gt;&#10;                &lt;Text style={{ fontSize: 15, color: '#546779' }}&gt;同样一项成功，一项失败&lt;/Text&gt;&#10;            &lt;/Box&gt;&#10;            &lt;Box style={{ flex: 1 }}&gt;&#10;                &lt;Text style={{ fontSize: 16, color: '#20344B' }}&gt;成功　( 0.5 − 1 )² = 0.25&lt;/Text&gt;&#10;                &lt;Text style={{ fontSize: 16, color: '#20344B' }}&gt;失败　( 0.5 − 0 )² = 0.25&lt;/Text&gt;&#10;            &lt;/Box&gt;&#10;            &lt;Box style={{ width: 190, alignItems: 'flex-end' }}&gt;&#10;                &lt;Text style={{ fontSize: 34, fontWeight: 'bold', color: '#26816B' }}&gt;0.25&lt;/Text&gt;&#10;            &lt;/Box&gt;&#10;        &lt;/Box&gt;&#10;&#10;        &lt;Box style={{ flexDirection: 'row', alignItems: 'center', gap: 16, height: 120, background: '#F4F7FA', borderRadius: 10, padding: '0 22px' }}&gt;&#10;            &lt;Box style={{ width: 4, height: 76, background: '#276FBF' }} /&gt;&#10;            &lt;Box style={{ flex: 1, flexDirection: 'column', gap: 5 }}&gt;&#10;                &lt;Text style={{ fontSize: 17, fontWeight: 'bold', color: '#20344B' }}&gt;高置信的错误会被罚得更重&lt;/Text&gt;&#10;                &lt;Text style={{ fontSize: 15, color: '#546779', lineHeight: 1.55 }}&gt;Brier 分数为各项 ( p − y )² 的平均，越小越好，按本书约定范围是 0 到 1；但两项样本太小，不能凭它判断长期校准水平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3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自信是否可信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00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报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0.9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却错一半：罚多少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00100" y="17526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预测与结果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3810000" y="1752600"/>
            <a:ext cx="561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逐项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( p − y ) ²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9582150" y="175260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平均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= Brier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分数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609600" y="208597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00100" y="244792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两项都报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0.9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00100" y="26955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一项成功，一项失败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810000" y="2466975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成功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( 0.9 − 1 )² = 0.01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3810000" y="2657475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失败　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>( 0.9 − 0 )² = 0.81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696575" y="2466975"/>
            <a:ext cx="695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B6B28"/>
                </a:solidFill>
                <a:latin typeface="Microsoft YaHei"/>
                <a:ea typeface="Microsoft YaHei"/>
              </a:rPr>
              <a:t>0.41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34327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两项都报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0.5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同样一项成功，一项失败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3810000" y="3724275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成功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( 0.5 − 1 )² = 0.25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810000" y="3914775"/>
            <a:ext cx="5619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失败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( 0.5 − 0 )² = 0.25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0696575" y="3724275"/>
            <a:ext cx="695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6816B"/>
                </a:solidFill>
                <a:latin typeface="Microsoft YaHei"/>
                <a:ea typeface="Microsoft YaHei"/>
              </a:rPr>
              <a:t>0.25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460057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7" name=""/>
          <p:cNvSpPr/>
          <p:nvPr/>
        </p:nvSpPr>
        <p:spPr>
          <a:xfrm rot="0" flipH="0" flipV="0">
            <a:off x="819150" y="4810125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009650" y="49149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高置信的错误会被罚得更重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009650" y="5162550"/>
            <a:ext cx="103632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Brier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分数为各项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( p − y )²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的平均，越小越好，按本书约定范围是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；但两项样本太小，不能凭它判断长期校准水平。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31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02" name="" descr="&lt;Slide notes={`Brier 分数容易被误用。它把不同方面混在一起，所以看它的时候要往下再拆一层。&#10;&#10;办法是按预测概率分组。把报零点五到零点六的放在一组，零点六到零点七的放一组，零点七到零点八的再放一组，然后看每一组实际的成功率。如果报零点六的那组实际成功大约六成，报零点八的那组实际大约八成，校准就是好的。&#10;&#10;分组时一定要同时记录样本量。一组里只有两三道题，算出来的成功率抖得厉害，不能当结论。&#10;&#10;还要分清两件事：校准误差说的是“报出的概率准不准”，区分度说的是“能不能把难题和容易题分开”。Brier 同时反映这两类信息，所以不是纯粹的校准误差。&#10;&#10;如果所有任务都一律报同一个概率，即使整体频率碰巧对上，也识别不出哪些任务更难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7　自信是否可信&lt;/Text&gt;&#10;            &lt;Text style={{ fontSize: 34, fontWeight: 'bold', color: '#20344B' }}&gt;按预测概率分组再看一遍&lt;/Text&gt;&#10;        &lt;/Box&gt;&#10;    &lt;/Box&gt;&#10;&#10;    &lt;Box style={{ height: 540, flexDirection: 'row', gap: 32 }}&gt;&#10;&#10;        &lt;Box style={{ width: 500, flexDirection: 'column', justifyContent: 'center', gap: 16 }}&gt;&#10;&#10;            &lt;Box style={{ height: 170, background: '#EDF4FC', borderRadius: 10, padding: '16px 20px', flexDirection: 'column', gap: 6 }}&gt;&#10;                &lt;Text style={{ fontSize: 18, fontWeight: 'bold', color: '#276FBF' }}&gt;校准的含义&lt;/Text&gt;&#10;                &lt;Text style={{ fontSize: 15, color: '#20344B', lineHeight: 1.65 }}&gt;报“有 80% 的把握”的判断，长期要约有 80% 正确，才符合概率校准的直观含义。&lt;/Text&gt;&#10;            &lt;/Box&gt;&#10;&#10;            &lt;Box style={{ height: 170, background: '#FFF4E6', borderRadius: 10, padding: '16px 20px', flexDirection: 'column', gap: 6 }}&gt;&#10;                &lt;Text style={{ fontSize: 18, fontWeight: 'bold', color: '#CB6B28' }}&gt;说法不等于概率&lt;/Text&gt;&#10;                &lt;Text style={{ fontSize: 15, color: '#20344B', lineHeight: 1.65 }}&gt;模型说“我非常确定”本身没有可计算的概率意义；即便给出 0.8，也要用实际结果检验。&lt;/Text&gt;&#10;            &lt;/Box&gt;&#10;&#10;            &lt;Box style={{ height: 140, background: '#F4F7FA', borderRadius: 10, padding: '16px 20px', flexDirection: 'column', gap: 6 }}&gt;&#10;                &lt;Text style={{ fontSize: 18, fontWeight: 'bold', color: '#20344B' }}&gt;Brier 分数口径&lt;/Text&gt;&#10;                &lt;Text style={{ fontSize: 15, color: '#20344B', lineHeight: 1.65 }}&gt;二元结果：第 i 项预测成功概率 pᵢ，成功记 yᵢ = 1，失败记 0，取各项 ( pᵢ − yᵢ )² 的平均。越小越好，范围为 0 到 1。&lt;/Text&gt;&#10;            &lt;/Box&gt;&#10;&#10;        &lt;/Box&gt;&#10;&#10;        &lt;Box style={{ width: 620, flexDirection: 'column', justifyContent: 'center', gap: 14 }}&gt;&#10;&#10;            &lt;Box style={{ flexDirection: 'row', height: 130, background: '#F4F7FA', borderRadius: 10, padding: '0 20px', alignItems: 'center', gap: 16 }}&gt;&#10;                &lt;Box style={{ width: 4, height: 78, background: '#276FBF' }} /&gt;&#10;                &lt;Box style={{ width: 160, flexDirection: 'column', gap: 3 }}&gt;&#10;                    &lt;Text style={{ fontSize: 17, fontWeight: 'bold', color: '#20344B' }}&gt;按预测概率分组&lt;/Text&gt;&#10;                    &lt;Text style={{ fontSize: 14, color: '#546779' }}&gt;0.5–0.6、0.6–0.7…&lt;/Text&gt;&#10;                &lt;/Box&gt;&#10;                &lt;Box style={{ flex: 1 }}&gt;&#10;                    &lt;Text style={{ fontSize: 15, color: '#546779', lineHeight: 1.6 }}&gt;检查每一组的真实成功率；只看总体平均看不出校准好坏。&lt;/Text&gt;&#10;                &lt;/Box&gt;&#10;            &lt;/Box&gt;&#10;&#10;            &lt;Box style={{ flexDirection: 'row', height: 130, background: '#F4F7FA', borderRadius: 10, padding: '0 20px', alignItems: 'center', gap: 16 }}&gt;&#10;                &lt;Box style={{ width: 4, height: 78, background: '#276FBF' }} /&gt;&#10;                &lt;Box style={{ width: 160, flexDirection: 'column', gap: 3 }}&gt;&#10;                    &lt;Text style={{ fontSize: 17, fontWeight: 'bold', color: '#20344B' }}&gt;同时记录样本量&lt;/Text&gt;&#10;                    &lt;Text style={{ fontSize: 14, color: '#546779' }}&gt;每组有多少项&lt;/Text&gt;&#10;                &lt;/Box&gt;&#10;                &lt;Box style={{ flex: 1 }}&gt;&#10;                    &lt;Text style={{ fontSize: 15, color: '#546779', lineHeight: 1.6 }}&gt;组内样本太少的成功率波动很大，不足以支撑结论。&lt;/Text&gt;&#10;                &lt;/Box&gt;&#10;            &lt;/Box&gt;&#10;&#10;            &lt;Box style={{ flexDirection: 'row', height: 130, background: '#ECF7F2', borderRadius: 10, padding: '0 20px', alignItems: 'center', gap: 16 }}&gt;&#10;                &lt;Box style={{ width: 4, height: 78, background: '#26816B' }} /&gt;&#10;                &lt;Box style={{ width: 160, flexDirection: 'column', gap: 3 }}&gt;&#10;                    &lt;Text style={{ fontSize: 17, fontWeight: 'bold', color: '#26816B' }}&gt;校准不是全部&lt;/Text&gt;&#10;                    &lt;Text style={{ fontSize: 14, color: '#546779' }}&gt;还含区分能力&lt;/Text&gt;&#10;                &lt;/Box&gt;&#10;                &lt;Box style={{ flex: 1 }}&gt;&#10;                    &lt;Text style={{ fontSize: 15, color: '#546779', lineHeight: 1.6 }}&gt;Brier 同时反映多个方面，不是纯粹的校准误差。&lt;/Text&gt;&#10;                &lt;/Box&gt;&#10;            &lt;/Box&gt;&#10;&#10;            &lt;Box style={{ flexDirection: 'row', alignItems: 'center', gap: 16, height: 100, background: '#FFF4E6', borderRadius: 10, padding: '0 20px' }}&gt;&#10;                &lt;Box style={{ width: 4, height: 62, background: '#CB6B28' }} /&gt;&#10;                &lt;Box style={{ flex: 1, flexDirection: 'column', gap: 4 }}&gt;&#10;                    &lt;Text style={{ fontSize: 16, fontWeight: 'bold', color: '#CB6B28' }}&gt;一律报同一个概率&lt;/Text&gt;&#10;                    &lt;Text style={{ fontSize: 15, color: '#546779', lineHeight: 1.5 }}&gt;即使整体频率碰巧对上，也未必能识别哪些任务更难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4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自信是否可信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按预测概率分组再看一遍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1276350"/>
            <a:ext cx="4762500" cy="1619250"/>
          </a:xfrm>
          <a:prstGeom prst="roundRect">
            <a:avLst>
              <a:gd name="adj" fmla="val 58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00100" y="14287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校准的含义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00100" y="1695450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报“有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的把握”的判断，长期要约有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正确，才符合概率校准的直观含义。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3048000"/>
            <a:ext cx="4762500" cy="1619250"/>
          </a:xfrm>
          <a:prstGeom prst="roundRect">
            <a:avLst>
              <a:gd name="adj" fmla="val 58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00100" y="320040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说法不等于概率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00100" y="3467100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模型说“我非常确定”本身没有可计算的概率意义；即便给出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0.8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，也要用实际结果检验。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4819650"/>
            <a:ext cx="47625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00100" y="49720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Brier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分数口径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00100" y="5238750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二元结果：第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项预测成功概率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pᵢ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，成功记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yᵢ = 1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，失败记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，取各项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( pᵢ − yᵢ )²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的平均。越小越好，范围为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5676900" y="1181100"/>
            <a:ext cx="59055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5867400" y="1428750"/>
            <a:ext cx="38100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057900" y="16097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按预测概率分组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057900" y="18383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0.5–0.6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0.6–0.7…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7734300" y="1524000"/>
            <a:ext cx="3657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检查每一组的真实成功率；只看总体平均看不出校准好坏。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5676900" y="2552700"/>
            <a:ext cx="59055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5867400" y="2800350"/>
            <a:ext cx="38100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57900" y="29813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同时记录样本量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057900" y="32099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每组有多少项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734300" y="303847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组内样本太少的成功率波动很大，不足以支撑结论。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5676900" y="3924300"/>
            <a:ext cx="59055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5867400" y="4171950"/>
            <a:ext cx="38100" cy="7429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057900" y="4352925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校准不是全部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057900" y="458152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还含区分能力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734300" y="441007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Brier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同时反映多个方面，不是纯粹的校准误差。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5676900" y="5295900"/>
            <a:ext cx="59055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5867400" y="54768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057900" y="553402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一律报同一个概率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057900" y="5762625"/>
            <a:ext cx="5334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即使整体频率碰巧对上，也未必能识别哪些任务更难。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31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637" name="" descr="&lt;Slide notes={`到这里，前面讲的都是&quot;做得对不对&quot;。但组织者面对的还有另一个问题：等不等得起。&#10;&#10;一次请求发出去，助手要花多长时间才给出结果？如果要等两分钟，那这个助手能不能用在接待现场就要重新考虑。&#10;&#10;所以延迟必须和准确性一起看。一个准确率很高但要等很久的方案，和一个准确率稍低但立刻能用的方案，是两种不同的取舍。&#10;&#10;还要注意成本。一次任务可能调用多轮、检索好几次、失败重试好几遍，这些都会花钱。只看单次调用的价格，会严重低估真实开销。&#10;&#10;这两件事都属于&quot;能不能用&quot;的门槛：准确率决定了这个结果值不值得信，等待时间和成本决定了它值不值得用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8&lt;/Text&gt;&#10;            &lt;/Box&gt;&#10;            &lt;Text style={{ fontSize: 16, color: '#546779' }}&gt;1.3.8　能用，还要等得起、付得起&lt;/Text&gt;&#10;        &lt;/Box&gt;&#10;&#10;        &lt;Text style={{ fontSize: 56, fontWeight: 'bold', color: '#20344B', lineHeight: 1.15 }}&gt;等待时间与花费的口径&lt;/Text&gt;&#10;&#10;        &lt;Box style={{ width: 640, height: 4, background: '#276FBF' }} /&gt;&#10;&#10;        &lt;Text style={{ fontSize: 19, color: '#546779', lineHeight: 1.7 }}&gt;组织者面对的不是单个分数，而是实际的等待与支出；两者都要先说清口径。&lt;/Text&gt;&#10;&#10;        &lt;Box style={{ flexDirection: 'row', alignItems: 'center', gap: 20, marginTop: 8 }}&gt;&#10;            &lt;Box style={{ width: 300, height: 150, background: '#EDF4FC', borderRadius: 10, padding: '18px 20px', flexDirection: 'column', gap: 8 }}&gt;&#10;                &lt;Text style={{ fontSize: 18, fontWeight: 'bold', color: '#276FBF' }}&gt;等待时间&lt;/Text&gt;&#10;                &lt;Text style={{ fontSize: 15, color: '#546779', lineHeight: 1.65 }}&gt;首 Token 与端到端{'\n'}分位数描述长尾的等待&lt;/Text&gt;&#10;            &lt;/Box&gt;&#10;            &lt;Box style={{ width: 300, height: 150, background: '#ECF7F2', borderRadius: 10, padding: '18px 20px', flexDirection: 'column', gap: 8 }}&gt;&#10;                &lt;Text style={{ fontSize: 18, fontWeight: 'bold', color: '#26816B' }}&gt;花费&lt;/Text&gt;&#10;                &lt;Text style={{ fontSize: 15, color: '#546779', lineHeight: 1.65 }}&gt;必须覆盖失败与重试{'\n'}失败频繁未必省钱&lt;/Text&gt;&#10;            &lt;/Box&gt;&#10;            &lt;Box style={{ width: 130 }} /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5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/>
          <p:cNvSpPr/>
          <p:nvPr/>
        </p:nvSpPr>
        <p:spPr>
          <a:xfrm rot="0" flipH="0" flipV="0">
            <a:off x="609600" y="12287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14375" y="13335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295400" y="1400175"/>
            <a:ext cx="2324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1.3.8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能用，还要等得起、付得起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等待时间与花费的口径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09600" y="29241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组织者面对的不是单个分数，而是实际的等待与支出；两者都要先说清口径。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38290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247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等待时间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247650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与端到端</a:t>
            </a:r>
            <a:endParaRPr/>
          </a:p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分位数描述长尾的等待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657600" y="38290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3848100" y="4000500"/>
            <a:ext cx="247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花费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848100" y="4286250"/>
            <a:ext cx="247650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必须覆盖失败与重试</a:t>
            </a:r>
            <a:endParaRPr/>
          </a:p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失败频繁未必省钱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31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653" name="" descr="&lt;Slide notes={`延迟有两个口径，混起来谈就没有意义了。&#10;&#10;第一个是首 Token 延迟，简称 TTFT。在本书里，它的定义是客户端发出请求，到收到第一个输出 Token 之间的时间。它回答的是“用户等了多久才看到有东西在动”。&#10;&#10;第二个是端到端延迟。它从用户提交任务开始，到应用完成校验并交付结果结束。这里面的检索、工具等待、重试和文件保存，全部算在内。&#10;&#10;两者的差别可能非常大。一个应用可能三百毫秒就吐出第一个字，但真正把任务做完要二十秒。前端看起来很流畅，后面其实还在跑。&#10;&#10;所以有一句话要记住：很快显示“正在处理”，不能证明任务完成得快。演示的时候如果只盯着首字速度，很容易得出错误的结论。如果任务本身要等工具返回，端到端才是关键指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8　能用，还要等得起、付得起&lt;/Text&gt;&#10;            &lt;Text style={{ fontSize: 34, fontWeight: 'bold', color: '#20344B' }}&gt;从发出请求到交付结果&lt;/Text&gt;&#10;        &lt;/Box&gt;&#10;    &lt;/Box&gt;&#10;&#10;    &lt;Box style={{ height: 540, flexDirection: 'row', gap: 32 }}&gt;&#10;&#10;        &lt;Box style={{ width: 700, flexDirection: 'column', justifyContent: 'center', gap: 16 }}&gt;&#10;            &lt;Text style={{ fontSize: 21, fontWeight: 'bold', color: '#20344B' }}&gt;两条时间条，两个口径&lt;/Text&gt;&#10;&#10;            &lt;Box style={{ flexDirection: 'row', height: 110, alignItems: 'center' }}&gt;&#10;                &lt;Box style={{ width: 150, flexDirection: 'column', gap: 2 }}&gt;&#10;                    &lt;Text style={{ fontSize: 17, fontWeight: 'bold', color: '#276FBF' }}&gt;首 Token 延迟&lt;/Text&gt;&#10;                    &lt;Text style={{ fontSize: 14, color: '#546779' }}&gt;TTFT&lt;/Text&gt;&#10;                &lt;/Box&gt;&#10;                &lt;Box style={{ width: 16 }} /&gt;&#10;                &lt;Box style={{ width: 500, flexDirection: 'column', gap: 6 }}&gt;&#10;                    &lt;Box style={{ flexDirection: 'row', height: 44, gap: 0 }}&gt;&#10;                        &lt;Box style={{ width: 30, height: 44, background: '#B5C7D8', borderRadius: 6 }} /&gt;&#10;                        &lt;Box style={{ width: 220, height: 44, background: '#276FBF', justifyContent: 'center', alignItems: 'center' }}&gt;&#10;                            &lt;Text style={{ fontSize: 15, color: '#FFFFFF' }}&gt;请求 → 第一个 Token&lt;/Text&gt;&#10;                        &lt;/Box&gt;&#10;                        &lt;Box style={{ flex: 1 }} /&gt;&#10;                    &lt;/Box&gt;&#10;                    &lt;Text style={{ fontSize: 14, color: '#546779' }}&gt;用户等了多久才看到有东西动&lt;/Text&gt;&#10;                &lt;/Box&gt;&#10;            &lt;/Box&gt;&#10;&#10;            &lt;Box style={{ flexDirection: 'row', height: 150, alignItems: 'center' }}&gt;&#10;                &lt;Box style={{ width: 150, flexDirection: 'column', gap: 2 }}&gt;&#10;                    &lt;Text style={{ fontSize: 17, fontWeight: 'bold', color: '#26816B' }}&gt;端到端延迟&lt;/Text&gt;&#10;                    &lt;Text style={{ fontSize: 14, color: '#546779' }}&gt;提交到交付&lt;/Text&gt;&#10;                &lt;/Box&gt;&#10;                &lt;Box style={{ width: 16 }} /&gt;&#10;                &lt;Box style={{ width: 500, flexDirection: 'column', gap: 6 }}&gt;&#10;                    &lt;Box style={{ flexDirection: 'row', height: 44, gap: 0 }}&gt;&#10;                        &lt;Box style={{ width: 30, height: 44, background: '#B5C7D8', borderRadius: 6 }} /&gt;&#10;                        &lt;Box style={{ width: 220, height: 44, background: '#276FBF', justifyContent: 'center', alignItems: 'center' }}&gt;&#10;                            &lt;Text style={{ fontSize: 15, color: '#FFFFFF' }}&gt;到第一个 Token&lt;/Text&gt;&#10;                        &lt;/Box&gt;&#10;                        &lt;Box style={{ width: 250, height: 44, background: '#26816B', justifyContent: 'center', alignItems: 'center' }}&gt;&#10;                            &lt;Text style={{ fontSize: 15, color: '#FFFFFF' }}&gt;继续到完成校验与交付&lt;/Text&gt;&#10;                        &lt;/Box&gt;&#10;                    &lt;/Box&gt;&#10;                    &lt;Text style={{ fontSize: 14, color: '#546779' }}&gt;从用户提交任务，到应用完成校验并交付结果&lt;/Text&gt;&#10;                &lt;/Box&gt;&#10;            &lt;/Box&gt;&#10;&#10;            &lt;Box style={{ flexDirection: 'row', gap: 16, height: 70 }}&gt;&#10;                &lt;Box style={{ width: 158, background: '#ECF7F2', borderRadius: 8, justifyContent: 'center', alignItems: 'center' }}&gt;&#10;                    &lt;Text style={{ fontSize: 15, color: '#26816B' }}&gt;检索&lt;/Text&gt;&#10;                &lt;/Box&gt;&#10;                &lt;Box style={{ width: 158, background: '#ECF7F2', borderRadius: 8, justifyContent: 'center', alignItems: 'center' }}&gt;&#10;                    &lt;Text style={{ fontSize: 15, color: '#26816B' }}&gt;工具等待&lt;/Text&gt;&#10;                &lt;/Box&gt;&#10;                &lt;Box style={{ width: 158, background: '#ECF7F2', borderRadius: 8, justifyContent: 'center', alignItems: 'center' }}&gt;&#10;                    &lt;Text style={{ fontSize: 15, color: '#26816B' }}&gt;重试&lt;/Text&gt;&#10;                &lt;/Box&gt;&#10;                &lt;Box style={{ width: 158, background: '#ECF7F2', borderRadius: 8, justifyContent: 'center', alignItems: 'center' }}&gt;&#10;                    &lt;Text style={{ fontSize: 15, color: '#26816B' }}&gt;文件保存&lt;/Text&gt;&#10;                &lt;/Box&gt;&#10;            &lt;/Box&gt;&#10;&#10;        &lt;/Box&gt;&#10;&#10;        &lt;Box style={{ width: 420, flexDirection: 'column', justifyContent: 'center', gap: 16 }}&gt;&#10;&#10;            &lt;Box style={{ flexDirection: 'row', alignItems: 'center', gap: 16, height: 160, background: '#FFF4E6', borderRadius: 10, padding: '0 20px' }}&gt;&#10;                &lt;Box style={{ width: 4, height: 100, background: '#CB6B28' }} /&gt;&#10;                &lt;Box style={{ flex: 1, flexDirection: 'column', gap: 6 }}&gt;&#10;                    &lt;Text style={{ fontSize: 17, fontWeight: 'bold', color: '#CB6B28' }}&gt;很快显示“正在处理”&lt;/Text&gt;&#10;                    &lt;Text style={{ fontSize: 15, color: '#546779', lineHeight: 1.55 }}&gt;不能证明任务完成得快。界面上出现字，和业务上完成，是两件事。&lt;/Text&gt;&#10;                &lt;/Box&gt;&#10;            &lt;/Box&gt;&#10;&#10;            &lt;Box style={{ height: 150, background: '#F4F7FA', borderRadius: 10, padding: '18px 20px', flexDirection: 'column', gap: 6 }}&gt;&#10;                &lt;Text style={{ fontSize: 17, fontWeight: 'bold', color: '#20344B' }}&gt;端到端包含什么&lt;/Text&gt;&#10;                &lt;Text style={{ fontSize: 15, color: '#546779', lineHeight: 1.6 }}&gt;检索、工具等待、重试和文件保存都属于后者。先写清算到哪一步，再比较两个方案。&lt;/Text&gt;&#10;            &lt;/Box&gt;&#10;&#10;            &lt;Box style={{ height: 130, background: '#EDF4FC', borderRadius: 10, padding: '18px 20px', flexDirection: 'column', gap: 6 }}&gt;&#10;                &lt;Text style={{ fontSize: 17, fontWeight: 'bold', color: '#276FBF' }}&gt;两个口径不要混用&lt;/Text&gt;&#10;                &lt;Text style={{ fontSize: 15, color: '#546779', lineHeight: 1.6 }}&gt;同一份记录里只报一个数的时候，注明是首 Token 还是端到端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6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能用，还要等得起、付得起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从发出请求到交付结果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6667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两条时间条，两个口径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首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延迟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TTFT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2190750" y="2400300"/>
            <a:ext cx="285750" cy="419100"/>
          </a:xfrm>
          <a:prstGeom prst="roundRect">
            <a:avLst>
              <a:gd name="adj" fmla="val 20000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62" name=""/>
          <p:cNvSpPr/>
          <p:nvPr/>
        </p:nvSpPr>
        <p:spPr>
          <a:xfrm rot="0" flipH="0" flipV="0">
            <a:off x="2476500" y="2400300"/>
            <a:ext cx="20955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2828925" y="2524125"/>
            <a:ext cx="139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请求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第一个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2190750" y="287655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用户等了多久才看到有东西动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09600" y="391477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端到端延迟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09600" y="41338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提交到交付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2190750" y="3790950"/>
            <a:ext cx="285750" cy="419100"/>
          </a:xfrm>
          <a:prstGeom prst="roundRect">
            <a:avLst>
              <a:gd name="adj" fmla="val 20000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2476500" y="3790950"/>
            <a:ext cx="20955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3019425" y="3914775"/>
            <a:ext cx="1019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到第一个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Token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4572000" y="3790950"/>
            <a:ext cx="238125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048250" y="39147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继续到完成校验与交付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2190750" y="426720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从用户提交任务，到应用完成校验并交付结果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09600" y="4972050"/>
            <a:ext cx="1504950" cy="666750"/>
          </a:xfrm>
          <a:prstGeom prst="roundRect">
            <a:avLst>
              <a:gd name="adj" fmla="val 1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219200" y="5219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2266950" y="4972050"/>
            <a:ext cx="1504950" cy="666750"/>
          </a:xfrm>
          <a:prstGeom prst="roundRect">
            <a:avLst>
              <a:gd name="adj" fmla="val 1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2733675" y="5219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工具等待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3924300" y="4972050"/>
            <a:ext cx="1504950" cy="666750"/>
          </a:xfrm>
          <a:prstGeom prst="roundRect">
            <a:avLst>
              <a:gd name="adj" fmla="val 1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4533900" y="5219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重试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5581650" y="4972050"/>
            <a:ext cx="1504950" cy="666750"/>
          </a:xfrm>
          <a:prstGeom prst="roundRect">
            <a:avLst>
              <a:gd name="adj" fmla="val 1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048375" y="52197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文件保存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7581900" y="1466850"/>
            <a:ext cx="4000500" cy="1524000"/>
          </a:xfrm>
          <a:prstGeom prst="roundRect">
            <a:avLst>
              <a:gd name="adj" fmla="val 625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2" name=""/>
          <p:cNvSpPr/>
          <p:nvPr/>
        </p:nvSpPr>
        <p:spPr>
          <a:xfrm rot="0" flipH="0" flipV="0">
            <a:off x="7772400" y="1752600"/>
            <a:ext cx="38100" cy="952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962900" y="183832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很快显示“正在处理”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962900" y="2095500"/>
            <a:ext cx="34290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不能证明任务完成得快。界面上出现字，和业务上完成，是两件事。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7581900" y="3143250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772400" y="331470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端到端包含什么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772400" y="35718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检索、工具等待、重试和文件保存都属于后者。先写清算到哪一步，再比较两个方案。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7581900" y="4724400"/>
            <a:ext cx="40005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7772400" y="48958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两个口径不要混用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772400" y="51530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同一份记录里只报一个数的时候，注明是首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还是端到端。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31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693" name="" descr="&lt;Slide notes={`延迟不能只看平均数，因为用户最难受的往往不是平均那一次。&#10;&#10;把一批任务的延迟排序，P50 是中位数，代表“一半人比这快、一半人比这慢”的体验。P95 描述接近最慢那一端的等待，也就是最容易被投诉的那批请求。&#10;&#10;样本很小的时候，还要说明分位数怎么算。本书的做法是排序后取第 ceil（0.95 乘 N）项作为 P95；不同算法的结果不能直接比较。&#10;&#10;还要记录失败率和超时门槛。只统计成功任务的延迟，很可能把最差的体验排除在外。&#10;&#10;成本同理。十项任务连同所有重试共花十元，八项通过验收，每次成功任务成本就是十除以八，一块两毛五；只把八项成功调用的费用相加会低估开销。成功数为零时这个比值没有有限值，应报告总支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8　能用，还要等得起、付得起&lt;/Text&gt;&#10;            &lt;Text style={{ fontSize: 34, fontWeight: 'bold', color: '#20344B' }}&gt;分位数与每次成功成本&lt;/Text&gt;&#10;        &lt;/Box&gt;&#10;    &lt;/Box&gt;&#10;&#10;    &lt;Box style={{ height: 540, flexDirection: 'row', gap: 32 }}&gt;&#10;&#10;        &lt;Box style={{ width: 420, flexDirection: 'column', justifyContent: 'center', gap: 14 }}&gt;&#10;&#10;            &lt;Box style={{ height: 110, background: '#EDF4FC', borderRadius: 10, padding: '14px 18px', flexDirection: 'column', gap: 4 }}&gt;&#10;                &lt;Text style={{ fontSize: 18, fontWeight: 'bold', color: '#276FBF' }}&gt;P50　中位数&lt;/Text&gt;&#10;                &lt;Text style={{ fontSize: 15, color: '#546779', lineHeight: 1.5 }}&gt;一半任务比它快，一半比它慢。&lt;/Text&gt;&#10;            &lt;/Box&gt;&#10;&#10;            &lt;Box style={{ height: 130, background: '#EDF4FC', borderRadius: 10, padding: '14px 18px', flexDirection: 'column', gap: 4 }}&gt;&#10;                &lt;Text style={{ fontSize: 18, fontWeight: 'bold', color: '#276FBF' }}&gt;P95　接近最慢一端&lt;/Text&gt;&#10;                &lt;Text style={{ fontSize: 15, color: '#546779', lineHeight: 1.5 }}&gt;描述最容易被投诉的那批等待。&lt;/Text&gt;&#10;            &lt;/Box&gt;&#10;&#10;            &lt;Box style={{ height: 140, background: '#F4F7FA', borderRadius: 10, padding: '14px 18px', flexDirection: 'column', gap: 4 }}&gt;&#10;                &lt;Text style={{ fontSize: 17, fontWeight: 'bold', color: '#20344B' }}&gt;小样本要说明算法&lt;/Text&gt;&#10;                &lt;Text style={{ fontSize: 15, color: '#546779', lineHeight: 1.5 }}&gt;例如本书可用排序后第 ceil(0.95 × N) 项作 P95；不同算法的结果不能直接比较。&lt;/Text&gt;&#10;            &lt;/Box&gt;&#10;&#10;            &lt;Box style={{ height: 90, background: '#FFF4E6', borderRadius: 10, padding: '14px 18px', flexDirection: 'column', gap: 4 }}&gt;&#10;                &lt;Text style={{ fontSize: 16, fontWeight: 'bold', color: '#CB6B28' }}&gt;别把最差体验排除&lt;/Text&gt;&#10;                &lt;Text style={{ fontSize: 15, color: '#546779', lineHeight: 1.5 }}&gt;要记录失败率与超时门槛，只统计成功任务会偏乐观。&lt;/Text&gt;&#10;            &lt;/Box&gt;&#10;&#10;        &lt;/Box&gt;&#10;&#10;        &lt;Box style={{ width: 700, flexDirection: 'column', justifyContent: 'center', gap: 14 }}&gt;&#10;&#10;            &lt;Box style={{ height: 230, background: '#ECF7F2', borderRadius: 10, padding: '18px 22px', flexDirection: 'column', gap: 10 }}&gt;&#10;                &lt;Text style={{ fontSize: 19, fontWeight: 'bold', color: '#26816B' }}&gt;每次成功任务成本&lt;/Text&gt;&#10;                &lt;Text style={{ fontSize: 16, color: '#20344B', lineHeight: 1.6 }}&gt;十项任务连同所有重试共花费 10 元，其中八项通过验收。&lt;/Text&gt;&#10;                &lt;Box style={{ flexDirection: 'row', alignItems: 'center', gap: 16, marginTop: 4 }}&gt;&#10;                    &lt;Box style={{ width: 130, height: 46, background: '#FFFFFF', borderRadius: 8, justifyContent: 'center', alignItems: 'center' }}&gt;&#10;                        &lt;Text style={{ fontSize: 19, color: '#20344B' }}&gt;10 / 8&lt;/Text&gt;&#10;                    &lt;/Box&gt;&#10;                    &lt;Text style={{ fontSize: 24, color: '#546779' }}&gt;=&lt;/Text&gt;&#10;                    &lt;Box style={{ width: 160, height: 46, background: '#26816B', borderRadius: 8, justifyContent: 'center', alignItems: 'center' }}&gt;&#10;                        &lt;Text style={{ fontSize: 22, fontWeight: 'bold', color: '#FFFFFF' }}&gt;1.25 元&lt;/Text&gt;&#10;                    &lt;/Box&gt;&#10;                    &lt;Text style={{ fontSize: 15, color: '#546779', flex: 1 }}&gt;不是只把八项成功调用的费用相加&lt;/Text&gt;&#10;                &lt;/Box&gt;&#10;            &lt;/Box&gt;&#10;&#10;            &lt;Box style={{ height: 160, background: '#F4F7FA', borderRadius: 10, padding: '18px 22px', flexDirection: 'column', gap: 6 }}&gt;&#10;                &lt;Text style={{ fontSize: 18, fontWeight: 'bold', color: '#20344B' }}&gt;成本范围要写清，边界要交代&lt;/Text&gt;&#10;                &lt;Text style={{ fontSize: 15, color: '#546779', lineHeight: 1.6 }}&gt;说明是否含工具、计算资源和人工复核；成功数为零时该比值没有有限值，应报告“无成功任务”及总支出。&lt;/Text&gt;&#10;            &lt;/Box&gt;&#10;&#10;            &lt;Box style={{ flexDirection: 'row', alignItems: 'center', gap: 16, height: 110, background: '#EDF4FC', borderRadius: 10, padding: '0 22px' }}&gt;&#10;                &lt;Box style={{ width: 4, height: 70, background: '#276FBF' }} /&gt;&#10;                &lt;Box style={{ flex: 1, flexDirection: 'column', gap: 4 }}&gt;&#10;                    &lt;Text style={{ fontSize: 16, fontWeight: 'bold', color: '#276FBF' }}&gt;比较效率前，先固定条件&lt;/Text&gt;&#10;                    &lt;Text style={{ fontSize: 15, color: '#546779', lineHeight: 1.5 }}&gt;输入规模、输出要求、并发、缓存与质量门槛；便宜而频繁失败，未必节省预算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7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能用，还要等得起、付得起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分位数与每次成功成本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609600" y="1276350"/>
            <a:ext cx="40005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781050" y="1409700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P50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　中位数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一半任务比它快，一半比它慢。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09600" y="2457450"/>
            <a:ext cx="40005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81050" y="2590800"/>
            <a:ext cx="365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P95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　接近最慢一端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81050" y="2838450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描述最容易被投诉的那批等待。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382905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小样本要说明算法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81050" y="4200525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例如本书可用排序后第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ceil(0.95 × N)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P95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；不同算法的结果不能直接比较。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609600" y="5295900"/>
            <a:ext cx="40005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781050" y="542925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别把最差体验排除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81050" y="5657850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要记录失败率与超时门槛，只统计成功任务会偏乐观。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4914900" y="1200150"/>
            <a:ext cx="6667500" cy="2190750"/>
          </a:xfrm>
          <a:prstGeom prst="roundRect">
            <a:avLst>
              <a:gd name="adj" fmla="val 43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5124450" y="1371600"/>
            <a:ext cx="6248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每次成功任务成本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5124450" y="1685925"/>
            <a:ext cx="6248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十项任务连同所有重试共花费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元，其中八项通过验收。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5124450" y="2114550"/>
            <a:ext cx="1238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5495925" y="2228850"/>
            <a:ext cx="504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20344B"/>
                </a:solidFill>
                <a:latin typeface="Microsoft YaHei"/>
                <a:ea typeface="Microsoft YaHei"/>
              </a:rPr>
              <a:t>10 / 8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6515100" y="2200275"/>
            <a:ext cx="1714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546779"/>
                </a:solidFill>
                <a:latin typeface="Microsoft YaHei"/>
                <a:ea typeface="Microsoft YaHei"/>
              </a:rPr>
              <a:t>=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6838950" y="2114550"/>
            <a:ext cx="1524000" cy="438150"/>
          </a:xfrm>
          <a:prstGeom prst="roundRect">
            <a:avLst>
              <a:gd name="adj" fmla="val 1739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7239000" y="2209800"/>
            <a:ext cx="723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1.25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元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515350" y="224790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不是只把八项成功调用的费用相加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4914900" y="3524250"/>
            <a:ext cx="6667500" cy="15240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5124450" y="3695700"/>
            <a:ext cx="6248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成本范围要写清，边界要交代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5124450" y="3962400"/>
            <a:ext cx="62484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说明是否含工具、计算资源和人工复核；成功数为零时该比值没有有限值，应报告“无成功任务”及总支出。</a:t>
            </a:r>
            <a:endParaRPr/>
          </a:p>
        </p:txBody>
      </p:sp>
      <p:sp>
        <p:nvSpPr>
          <p:cNvPr id="722" name=""/>
          <p:cNvSpPr/>
          <p:nvPr/>
        </p:nvSpPr>
        <p:spPr>
          <a:xfrm rot="0" flipH="0" flipV="0">
            <a:off x="4914900" y="5181600"/>
            <a:ext cx="66675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3" name=""/>
          <p:cNvSpPr/>
          <p:nvPr/>
        </p:nvSpPr>
        <p:spPr>
          <a:xfrm rot="0" flipH="0" flipV="0">
            <a:off x="5124450" y="5372100"/>
            <a:ext cx="38100" cy="666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5314950" y="5467350"/>
            <a:ext cx="6057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比较效率前，先固定条件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314950" y="5695950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输入规模、输出要求、并发、缓存与质量门槛；便宜而频繁失败，未必节省预算。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31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728" name="" descr="&lt;Slide notes={`最后回到那个最简单的数字：百分之八十。&#10;&#10;前面我们一直在问这个数用什么分母、什么口径。现在再问第三层：这个数有多稳。&#10;&#10;八道对十道是八成，八十道对一百道也是八成。两个数字一模一样，但它们能支持的结论强度差得很远。&#10;&#10;十道题的样本太小，换一批题、换一天运行，结果可能就从六成跳到九成。一百道题就稳得多，波动范围会明显收窄。&#10;&#10;所以看到一个准确率，不能只问&quot;是多少&quot;，还要问&quot;是多少道题算出来的&quot;。&#10;&#10;再往下还有两个问题，样本量再大也解决不了：题目有没有提前泄漏过，以及这套题目是不是已经太简单了。这两个我们在最后一部分讲。`} style={{ width: 1280, height: 720, background: '#FFFFFF', flexDirection: 'column', padding: '20px 64px' }}&gt;&#10;&#10;    &lt;Box style={{ height: 640, flexDirection: 'column', justifyContent: 'center', gap: 22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8, fontWeight: 'bold', color: '#FFFFFF' }}&gt;09&lt;/Text&gt;&#10;            &lt;/Box&gt;&#10;            &lt;Text style={{ fontSize: 16, color: '#546779' }}&gt;1.3.9　分数有多稳，证据能说明多远&lt;/Text&gt;&#10;        &lt;/Box&gt;&#10;&#10;        &lt;Text style={{ fontSize: 56, fontWeight: 'bold', color: '#20344B', lineHeight: 1.15 }}&gt;证据能说明多远&lt;/Text&gt;&#10;&#10;        &lt;Box style={{ width: 640, height: 4, background: '#276FBF' }} /&gt;&#10;&#10;        &lt;Text style={{ fontSize: 19, color: '#546779', lineHeight: 1.7 }}&gt;同为 80%，8 / 10 与 80 / 100 支持的结论强度不同；先看区间宽度，再读抽样前提。&lt;/Text&gt;&#10;&#10;        &lt;Box style={{ flexDirection: 'row', alignItems: 'center', gap: 20, marginTop: 8 }}&gt;&#10;            &lt;Box style={{ width: 250, height: 110, background: '#EDF4FC', borderRadius: 10, padding: '16px 18px', flexDirection: 'column', gap: 4, justifyContent: 'center' }}&gt;&#10;                &lt;Text style={{ fontSize: 15, color: '#546779' }}&gt;8 / 10&lt;/Text&gt;&#10;                &lt;Text style={{ fontSize: 26, fontWeight: 'bold', color: '#276FBF' }}&gt;区间更宽&lt;/Text&gt;&#10;            &lt;/Box&gt;&#10;            &lt;Box style={{ width: 250, height: 110, background: '#ECF7F2', borderRadius: 10, padding: '16px 18px', flexDirection: 'column', gap: 4, justifyContent: 'center' }}&gt;&#10;                &lt;Text style={{ fontSize: 15, color: '#546779' }}&gt;80 / 100&lt;/Text&gt;&#10;                &lt;Text style={{ fontSize: 26, fontWeight: 'bold', color: '#26816B' }}&gt;区间更窄&lt;/Text&gt;&#10;            &lt;/Box&gt;&#10;            &lt;Box style={{ width: 230 }} /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8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609600" y="141922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14375" y="15240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1295400" y="1590675"/>
            <a:ext cx="2476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1.3.9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分数有多稳，证据能说明多远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证据能说明多远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609600" y="311467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同为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80%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8 / 10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 / 100 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支持的结论强度不同；先看区间宽度，再读抽样前提。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09600" y="4019550"/>
            <a:ext cx="23812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81050" y="428625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8 / 10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81050" y="4495800"/>
            <a:ext cx="2038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76FBF"/>
                </a:solidFill>
                <a:latin typeface="Microsoft YaHei"/>
                <a:ea typeface="Microsoft YaHei"/>
              </a:rPr>
              <a:t>区间更宽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3181350" y="4019550"/>
            <a:ext cx="238125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3352800" y="428625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80 / 100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3352800" y="4495800"/>
            <a:ext cx="2038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26816B"/>
                </a:solidFill>
                <a:latin typeface="Microsoft YaHei"/>
                <a:ea typeface="Microsoft YaHei"/>
              </a:rPr>
              <a:t>区间更窄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28 / 31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744" name="" descr="&lt;Slide notes={`把两个区间画在同一条轴上，差别一眼就看得出来。&#10;&#10;左边那条是八道对十道。在独立、来自同一目标任务总体这样的二项抽样假设下，它对应的百分之九十五区间大约是四十九到九十四点三。这个区间宽得几乎覆盖了一半的可能，意思是这批数据几乎没把答案框住。&#10;&#10;右边那条是八十道对一百道。同样的算法，区间大约是七十一到八十六点七，窄了很多。样本增加使区间收窄，所以“测了多少道题”和“测出来是多少”一样重要。&#10;&#10;百分之九十五置信区间的含义是：按相同的抽样与计算方式反复做很多次，长期大约有百分之九十五的这类区间会覆盖总体真值。它不是下一题答对的概率。若这十道题都取自同一份通知、内容高度相关，更不能凭这个公式宣称已精确测出实际能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9　分数有多稳，证据能说明多远&lt;/Text&gt;&#10;            &lt;Text style={{ fontSize: 34, fontWeight: 'bold', color: '#20344B' }}&gt;同为 80%，两段区间不一样宽&lt;/Text&gt;&#10;        &lt;/Box&gt;&#10;    &lt;/Box&gt;&#10;&#10;    &lt;Box style={{ height: 540, flexDirection: 'column', justifyContent: 'center', gap: 16 }}&gt;&#10;&#10;        &lt;Box style={{ flexDirection: 'row', alignItems: 'center', height: 28 }}&gt;&#10;            &lt;Box style={{ width: 110 }} /&gt;&#10;            &lt;Text style={{ fontSize: 14, color: '#546779' }}&gt;在正文的独立二项抽样假设下，95% Wilson 区间的宽度对比&lt;/Text&gt;&#10;        &lt;/Box&gt;&#10;&#10;        &lt;Box style={{ flexDirection: 'row', alignItems: 'flex-end', height: 24 }}&gt;&#10;            &lt;Box style={{ width: 110 }} /&gt;&#10;            &lt;Box style={{ width: 820, flexDirection: 'row', justifyContent: 'space-between' }}&gt;&#10;                &lt;Text style={{ fontSize: 13, color: '#546779' }}&gt;0%&lt;/Text&gt;&#10;                &lt;Text style={{ fontSize: 13, color: '#546779' }}&gt;25%&lt;/Text&gt;&#10;                &lt;Text style={{ fontSize: 13, color: '#546779' }}&gt;50%&lt;/Text&gt;&#10;                &lt;Text style={{ fontSize: 13, color: '#546779' }}&gt;75%&lt;/Text&gt;&#10;                &lt;Text style={{ fontSize: 13, color: '#546779' }}&gt;100%&lt;/Text&gt;&#10;            &lt;/Box&gt;&#10;            &lt;Box style={{ width: 160 }} /&gt;&#10;        &lt;/Box&gt;&#10;&#10;        &lt;Box style={{ flexDirection: 'row', alignItems: 'center', height: 62 }}&gt;&#10;            &lt;Box style={{ width: 110, flexDirection: 'column', gap: 2 }}&gt;&#10;                &lt;Text style={{ fontSize: 17, fontWeight: 'bold', color: '#276FBF' }}&gt;8 / 10&lt;/Text&gt;&#10;                &lt;Text style={{ fontSize: 13, color: '#546779' }}&gt;点估计 80%&lt;/Text&gt;&#10;            &lt;/Box&gt;&#10;            &lt;Box style={{ width: 820, flexDirection: 'row', height: 44 }}&gt;&#10;                &lt;Box style={{ width: 402 }} /&gt;&#10;                &lt;Box style={{ width: 371, height: 44, background: '#276FBF', borderRadius: 6, justifyContent: 'center', alignItems: 'center' }}&gt;&#10;                    &lt;Text style={{ fontSize: 14, color: '#FFFFFF' }}&gt;49.0% — 94.3%&lt;/Text&gt;&#10;                &lt;/Box&gt;&#10;                &lt;Box style={{ flex: 1 }} /&gt;&#10;            &lt;/Box&gt;&#10;            &lt;Box style={{ width: 160, justifyContent: 'center', paddingLeft: 16 }}&gt;&#10;                &lt;Text style={{ fontSize: 14, color: '#276FBF' }}&gt;宽 45.3 个点&lt;/Text&gt;&#10;            &lt;/Box&gt;&#10;        &lt;/Box&gt;&#10;&#10;        &lt;Box style={{ flexDirection: 'row', alignItems: 'center', height: 62 }}&gt;&#10;            &lt;Box style={{ width: 110, flexDirection: 'column', gap: 2 }}&gt;&#10;                &lt;Text style={{ fontSize: 17, fontWeight: 'bold', color: '#26816B' }}&gt;80 / 100&lt;/Text&gt;&#10;                &lt;Text style={{ fontSize: 13, color: '#546779' }}&gt;点估计 80%&lt;/Text&gt;&#10;            &lt;/Box&gt;&#10;            &lt;Box style={{ width: 820, flexDirection: 'row', height: 44 }}&gt;&#10;                &lt;Box style={{ width: 583 }} /&gt;&#10;                &lt;Box style={{ width: 128, height: 44, background: '#26816B', borderRadius: 6, justifyContent: 'center', alignItems: 'center' }}&gt;&#10;                    &lt;Text style={{ fontSize: 13, color: '#FFFFFF' }}&gt;71.1—86.7&lt;/Text&gt;&#10;                &lt;/Box&gt;&#10;                &lt;Box style={{ flex: 1 }} /&gt;&#10;            &lt;/Box&gt;&#10;            &lt;Box style={{ width: 160, justifyContent: 'center', paddingLeft: 16 }}&gt;&#10;                &lt;Text style={{ fontSize: 14, color: '#26816B' }}&gt;宽 15.6 个点&lt;/Text&gt;&#10;            &lt;/Box&gt;&#10;        &lt;/Box&gt;&#10;&#10;        &lt;Box style={{ flexDirection: 'row', alignItems: 'center', gap: 16, height: 70, background: '#F4F7FA', borderRadius: 10, padding: '0 22px' }}&gt;&#10;            &lt;Box style={{ width: 4, height: 40, background: '#276FBF' }} /&gt;&#10;            &lt;Text style={{ fontSize: 15, color: '#20344B', lineHeight: 1.5 }}&gt;两条区间都以 80% 为中心，但一条散得几乎覆盖一半可能，一条收得很紧——样本增加使区间收窄。&lt;/Text&gt;&#10;        &lt;/Box&gt;&#10;&#10;        &lt;Box style={{ flexDirection: 'row', alignItems: 'center', gap: 16, height: 120, background: '#FFF4E6', borderRadius: 10, padding: '0 22px' }}&gt;&#10;            &lt;Box style={{ width: 4, height: 76, background: '#CB6B28' }} /&gt;&#10;            &lt;Box style={{ flex: 1, flexDirection: 'column', gap: 5 }}&gt;&#10;                &lt;Text style={{ fontSize: 17, fontWeight: 'bold', color: '#CB6B28' }}&gt;95% 置信区间说的是长期覆盖率&lt;/Text&gt;&#10;                &lt;Text style={{ fontSize: 15, color: '#546779', lineHeight: 1.55 }}&gt;按相同抽样与计算方式反复进行，长期约 95% 的这类区间会覆盖总体真值。它不是说下一题有 95% 的概率答对；若十题全取自同一份通知、内容高度相关，更不能仅凭独立抽样公式宣称已精确测出实际能力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29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分数有多稳，证据能说明多远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同为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80%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，两段区间不一样宽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1657350" y="1647825"/>
            <a:ext cx="3590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在正文的独立二项抽样假设下，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95% Wilson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区间的宽度对比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1657350" y="2085975"/>
            <a:ext cx="19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0%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3476625" y="20859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25%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5362575" y="20859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50%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248525" y="2085975"/>
            <a:ext cx="257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75%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134475" y="2085975"/>
            <a:ext cx="333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609600" y="250507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8 / 10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点估计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5486400" y="2476500"/>
            <a:ext cx="3533775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6753225" y="2609850"/>
            <a:ext cx="1000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49.0% — 94.3%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9620250" y="2609850"/>
            <a:ext cx="137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宽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45.3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80 / 100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09600" y="3467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点估计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7210425" y="3219450"/>
            <a:ext cx="1219200" cy="419100"/>
          </a:xfrm>
          <a:prstGeom prst="roundRect">
            <a:avLst>
              <a:gd name="adj" fmla="val 1363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7505700" y="3352800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71.1—86.7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9620250" y="3352800"/>
            <a:ext cx="137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宽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15.6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个点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609600" y="387667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6" name=""/>
          <p:cNvSpPr/>
          <p:nvPr/>
        </p:nvSpPr>
        <p:spPr>
          <a:xfrm rot="0" flipH="0" flipV="0">
            <a:off x="819150" y="40195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009650" y="4086225"/>
            <a:ext cx="6410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两条区间都以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80%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为中心，但一条散得几乎覆盖一半可能，一条收得很紧——样本增加使区间收窄。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609600" y="46958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9" name=""/>
          <p:cNvSpPr/>
          <p:nvPr/>
        </p:nvSpPr>
        <p:spPr>
          <a:xfrm rot="0" flipH="0" flipV="0">
            <a:off x="819150" y="490537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009650" y="4876800"/>
            <a:ext cx="1036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95%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置信区间说的是长期覆盖率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009650" y="5124450"/>
            <a:ext cx="10363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按相同抽样与计算方式反复进行，长期约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95%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的这类区间会覆盖总体真值。它不是说下一题有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95%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的概率答对；若十题全取自同一份通知、内容高度相关，更不能仅凭独立抽样公式宣称已精确测出实际能力。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29 / 31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796" name="" descr="&lt;Slide notes={`最后说两类扩大样本量也解决不了的问题。&#10;&#10;第一类是测试污染。如果测试题、答案或高度相近的内容，在测试之前就进入了训练或调优过程，成绩里可能混进了记忆优势，测的就不再是泛化能力，而是“见过没有”。&#10;&#10;判断污染需要看数据来源和去重证据。公开训练数据之外的信息如果不可见，就应该明确写“污染情况未知”，不能默认干净。&#10;&#10;第二类是基准饱和。当大量模型都已接近这套题的上限，题目就越来越难区分新的进步。分数都很高，但高分数不再说明谁更强。&#10;&#10;解决饱和需要更有区分度、同时仍贴近真实用途的任务。这两种情况都不能仅凭分数断言。一张有用的结果表，要同时回答：测了哪些工作，怎样算成功，失败在哪里，是否重复验证，耗时和成本多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1.3.9　分数有多稳，证据能说明多远&lt;/Text&gt;&#10;            &lt;Text style={{ fontSize: 34, fontWeight: 'bold', color: '#20344B' }}&gt;样本量解决不了的两件事&lt;/Text&gt;&#10;        &lt;/Box&gt;&#10;    &lt;/Box&gt;&#10;&#10;    &lt;Box style={{ height: 540, flexDirection: 'column', justifyContent: 'center', gap: 20 }}&gt;&#10;&#10;        &lt;Box style={{ flexDirection: 'row', height: 320, gap: 32 }}&gt;&#10;&#10;            &lt;Box style={{ width: 500, background: '#FFF4E6', borderRadius: 10, padding: '20px 22px', flexDirection: 'column', gap: 10 }}&gt;&#10;                &lt;Text style={{ fontSize: 21, fontWeight: 'bold', color: '#CB6B28' }}&gt;测试污染&lt;/Text&gt;&#10;                &lt;Text style={{ fontSize: 16, color: '#20344B', lineHeight: 1.7 }}&gt;测试题、答案或高度相近的内容进入了训练或调优过程，成绩可能混入记忆优势。&lt;/Text&gt;&#10;                &lt;Box style={{ height: 1, background: '#B5C7D8' }} /&gt;&#10;                &lt;Text style={{ fontSize: 16, color: '#546779', lineHeight: 1.7 }}&gt;判断依据：数据来源与去重证据。公开训练数据之外的信息不可见时，应明确污染情况未知。&lt;/Text&gt;&#10;                &lt;Box style={{ flex: 1 }} /&gt;&#10;                &lt;Text style={{ fontSize: 15, color: '#CB6B28' }}&gt;测到的可能是“见过”，不是“会做”&lt;/Text&gt;&#10;            &lt;/Box&gt;&#10;&#10;            &lt;Box style={{ width: 620, background: '#EDF4FC', borderRadius: 10, padding: '20px 22px', flexDirection: 'column', gap: 10 }}&gt;&#10;                &lt;Text style={{ fontSize: 21, fontWeight: 'bold', color: '#276FBF' }}&gt;基准饱和&lt;/Text&gt;&#10;                &lt;Text style={{ fontSize: 16, color: '#20344B', lineHeight: 1.7 }}&gt;大量模型已接近这套题集的上限，这套题越来越难区分新的进步。&lt;/Text&gt;&#10;                &lt;Box style={{ height: 1, background: '#B5C7D8' }} /&gt;&#10;                &lt;Text style={{ fontSize: 16, color: '#546779', lineHeight: 1.7 }}&gt;需要更有区分度、同时仍贴近真实用途的任务，而不是单纯提高难度。&lt;/Text&gt;&#10;                &lt;Box style={{ flex: 1 }} /&gt;&#10;                &lt;Text style={{ fontSize: 15, color: '#276FBF' }}&gt;分数都很高，但高分数不再说明谁更强&lt;/Text&gt;&#10;            &lt;/Box&gt;&#10;&#10;        &lt;/Box&gt;&#10;&#10;        &lt;Box style={{ flexDirection: 'row', alignItems: 'center', gap: 20, height: 140, background: '#F7F3E8', borderRadius: 10, padding: '0 24px' }}&gt;&#10;            &lt;Box style={{ width: 4, height: 92, background: '#26816B' }} /&gt;&#10;            &lt;Box style={{ flex: 1, flexDirection: 'column', gap: 6 }}&gt;&#10;                &lt;Text style={{ fontSize: 18, fontWeight: 'bold', color: '#20344B' }}&gt;一张有用的结果表，应同时回答五个问题&lt;/Text&gt;&#10;                &lt;Text style={{ fontSize: 16, color: '#546779', lineHeight: 1.6 }}&gt;测试了哪些工作　·　怎样算成功　·　失败在哪里　·　是否重复验证　·　耗时和成本多少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30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1.3.9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分数有多稳，证据能说明多远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样本量解决不了的两件事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609600" y="1428750"/>
            <a:ext cx="4762500" cy="3048000"/>
          </a:xfrm>
          <a:prstGeom prst="roundRect">
            <a:avLst>
              <a:gd name="adj" fmla="val 31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测试污染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819150" y="1962150"/>
            <a:ext cx="4343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测试题、答案或高度相近的内容进入了训练或调优过程，成绩可能混入记忆优势。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819150" y="2686050"/>
            <a:ext cx="4343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19150" y="2790825"/>
            <a:ext cx="4343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判断依据：数据来源与去重证据。公开训练数据之外的信息不可见时，应明确污染情况未知。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819150" y="4114800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测到的可能是“见过”，不是“会做”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5676900" y="1428750"/>
            <a:ext cx="5905500" cy="3048000"/>
          </a:xfrm>
          <a:prstGeom prst="roundRect">
            <a:avLst>
              <a:gd name="adj" fmla="val 31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886450" y="1619250"/>
            <a:ext cx="5486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基准饱和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5886450" y="1962150"/>
            <a:ext cx="5486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大量模型已接近这套题集的上限，这套题越来越难区分新的进步。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5886450" y="2371725"/>
            <a:ext cx="5486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5886450" y="2476500"/>
            <a:ext cx="54864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需要更有区分度、同时仍贴近真实用途的任务，而不是单纯提高难度。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5886450" y="41148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分数都很高，但高分数不再说明谁更强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609600" y="4667250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814" name=""/>
          <p:cNvSpPr/>
          <p:nvPr/>
        </p:nvSpPr>
        <p:spPr>
          <a:xfrm rot="0" flipH="0" flipV="0">
            <a:off x="838200" y="4895850"/>
            <a:ext cx="38100" cy="876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066800" y="5057775"/>
            <a:ext cx="10287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一张有用的结果表，应同时回答五个问题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1066800" y="5324475"/>
            <a:ext cx="10287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测试了哪些工作　·　怎样算成功　·　失败在哪里　·　是否重复验证　·　耗时和成本多少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30 / 31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819" name="" descr="&lt;Slide notes={`这一节讲完了，最后留下三句话。以后看到任何一个“准确率多少”的说法，都可以拿这三句话过一遍。&#10;&#10;第一句，它回答哪句话？这是把目标对准任务。评价之前先说明要解决什么问题，是减少遗漏还是让安排可靠。目标不同，样本和判据就不同。选错了任务，指标算得再精确也答不了原来的问题。&#10;&#10;第二句，分母是谁？这是把口径捏住。报出来的里面有多少是真的，应该找到的里面有多少被找到，逐条通过还是整条完成，试一次还是试多次，每一个都是不同的分母，而且要在动手之前定好。&#10;&#10;第三句，这个分数有多稳？几道题算出来的，区间有多宽，题目有没有泄漏过，这套题是不是已经太简单。样本越小，能说的话越少。&#10;&#10;这三句话就是一条链的收口：目标、口径、边界。`} style={{ width: 1280, height: 720, background: '#FFFFFF', flexDirection: 'column', padding: '20px 64px' }}&gt;&#10;&#10;    &lt;Box style={{ height: 640, flexDirection: 'row', justifyContent: 'center', alignItems: 'center', gap: 48 }}&gt;&#10;&#10;        &lt;Box style={{ width: 400, flexDirection: 'column', gap: 16 }}&gt;&#10;            &lt;Text style={{ fontSize: 15, color: '#546779' }}&gt;1.3　小结&lt;/Text&gt;&#10;            &lt;Text style={{ fontSize: 44, fontWeight: 'bold', color: '#20344B', lineHeight: 1.25 }}&gt;三个问句带走&lt;/Text&gt;&#10;            &lt;Box style={{ width: 72, height: 4, background: '#276FBF' }} /&gt;&#10;            &lt;Text style={{ fontSize: 17, color: '#546779', lineHeight: 1.8 }}&gt;把“聪明”变成可测量的问题，就是把笼统的印象拆成目标、口径与边界。以后看到任何一个分数，先用这三句话过一遍。&lt;/Text&gt;&#10;        &lt;/Box&gt;&#10;&#10;        &lt;Box style={{ width: 704, flexDirection: 'column', gap: 14 }}&gt;&#10;&#10;            &lt;Box style={{ flexDirection: 'row', gap: 16, height: 118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1&lt;/Text&gt;&#10;                &lt;/Box&gt;&#10;                &lt;Box style={{ flex: 1, flexDirection: 'column', gap: 4 }}&gt;&#10;                    &lt;Text style={{ fontSize: 21, fontWeight: 'bold', color: '#20344B' }}&gt;它回答哪句话？&lt;/Text&gt;&#10;                    &lt;Text style={{ fontSize: 15, color: '#546779' }}&gt;使用目标是什么，样本与判据是否对得上&lt;/Text&gt;&#10;                &lt;/Box&gt;&#10;            &lt;/Box&gt;&#10;&#10;            &lt;Box style={{ flexDirection: 'row', gap: 16, height: 118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2&lt;/Text&gt;&#10;                &lt;/Box&gt;&#10;                &lt;Box style={{ flex: 1, flexDirection: 'column', gap: 4 }}&gt;&#10;                    &lt;Text style={{ fontSize: 21, fontWeight: 'bold', color: '#20344B' }}&gt;分母是谁？&lt;/Text&gt;&#10;                    &lt;Text style={{ fontSize: 15, color: '#546779' }}&gt;报出来多少、应找到多少、整条算不算、试了几次&lt;/Text&gt;&#10;                &lt;/Box&gt;&#10;            &lt;/Box&gt;&#10;&#10;            &lt;Box style={{ flexDirection: 'row', gap: 16, height: 118, background: '#FFF4E6', borderRadius: 12, padding: '0 22px', alignItems: 'center' }}&gt;&#10;                &lt;Box style={{ width: 46, height: 46, borderRadius: 8, background: '#CB6B28', justifyContent: 'center', alignItems: 'center' }}&gt;&#10;                    &lt;Text style={{ fontSize: 22, fontWeight: 'bold', color: '#FFFFFF' }}&gt;3&lt;/Text&gt;&#10;                &lt;/Box&gt;&#10;                &lt;Box style={{ flex: 1, flexDirection: 'column', gap: 4 }}&gt;&#10;                    &lt;Text style={{ fontSize: 21, fontWeight: 'bold', color: '#CB6B28' }}&gt;这个分数有多稳？&lt;/Text&gt;&#10;                    &lt;Text style={{ fontSize: 15, color: '#546779' }}&gt;样本量、区间宽度、是否污染、是否已经饱和&lt;/Text&gt;&#10;                &lt;/Box&gt;&#10;            &lt;/Box&gt;&#10;&#10;            &lt;Box style={{ flexDirection: 'row', alignItems: 'center', gap: 12, paddingTop: 6 }}&gt;&#10;                &lt;Box style={{ width: 3, height: 26, background: '#26816B' }} /&gt;&#10;                &lt;Text style={{ fontSize: 16, color: '#546779' }}&gt;下一节　1.4　当前大模型有哪些能力：逐项读懂指标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1.3 怎样把“聪明”变成可测量的问题&lt;/Text&gt;&#10;        &lt;Text style={{ fontSize: 14, color: '#546779' }}&gt;31 / 3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38100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三个问句带走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609600" y="31718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09600" y="3362325"/>
            <a:ext cx="3810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把“聪明”变成可测量的问题，就是把笼统的印象拆成目标、口径与边界。以后看到任何一个分数，先用这三句话过一遍。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4876800" y="1200150"/>
            <a:ext cx="6705600" cy="1123950"/>
          </a:xfrm>
          <a:prstGeom prst="roundRect">
            <a:avLst>
              <a:gd name="adj" fmla="val 1016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6" name=""/>
          <p:cNvSpPr/>
          <p:nvPr/>
        </p:nvSpPr>
        <p:spPr>
          <a:xfrm rot="0" flipH="0" flipV="0">
            <a:off x="5086350" y="15430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5238750" y="16383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5676900" y="15335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它回答哪句话？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5676900" y="181927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使用目标是什么，样本与判据是否对得上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4876800" y="2457450"/>
            <a:ext cx="6705600" cy="1123950"/>
          </a:xfrm>
          <a:prstGeom prst="roundRect">
            <a:avLst>
              <a:gd name="adj" fmla="val 1016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31" name=""/>
          <p:cNvSpPr/>
          <p:nvPr/>
        </p:nvSpPr>
        <p:spPr>
          <a:xfrm rot="0" flipH="0" flipV="0">
            <a:off x="5086350" y="28003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5238750" y="28956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5676900" y="27908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分母是谁？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676900" y="307657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报出来多少、应找到多少、整条算不算、试了几次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4876800" y="3714750"/>
            <a:ext cx="6705600" cy="1123950"/>
          </a:xfrm>
          <a:prstGeom prst="roundRect">
            <a:avLst>
              <a:gd name="adj" fmla="val 1016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36" name=""/>
          <p:cNvSpPr/>
          <p:nvPr/>
        </p:nvSpPr>
        <p:spPr>
          <a:xfrm rot="0" flipH="0" flipV="0">
            <a:off x="5086350" y="405765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5238750" y="41529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5676900" y="40481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这个分数有多稳？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5676900" y="433387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样本量、区间宽度、是否污染、是否已经饱和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4876800" y="50292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5019675" y="5057775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1.4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当前大模型有哪些能力：逐项读懂指标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2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1.3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怎样把“聪明”变成可测量的问题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31 / 31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2026-09-29T02:54:03Z</dcterms:created>
  <dcterms:modified xsi:type="dcterms:W3CDTF">2026-09-29T02:54:03Z</dcterms:modified>
</cp:coreProperties>
</file>