
<file path=[Content_Types].xml><?xml version="1.0" encoding="utf-8"?>
<Types xmlns="http://schemas.openxmlformats.org/package/2006/content-types">
  <Default Extension="rels" ContentType="application/vnd.openxmlformats-package.relationships+xml"/>
  <Default Extension="xml" ContentType="application/xml"/>
  <Override PartName="/ppt/slides/slide22.xml" ContentType="application/vnd.openxmlformats-officedocument.presentationml.slide+xml"/>
  <Override PartName="/ppt/slides/slide2.xml" ContentType="application/vnd.openxmlformats-officedocument.presentationml.slide+xml"/>
  <Override PartName="/ppt/slides/slide31.xml" ContentType="application/vnd.openxmlformats-officedocument.presentationml.slide+xml"/>
  <Override PartName="/ppt/presentation.xml" ContentType="application/vnd.openxmlformats-officedocument.presentationml.presentation.main+xml"/>
  <Override PartName="/docProps/core.xml" ContentType="application/vnd.openxmlformats-package.core-properties+xml"/>
  <Override PartName="/ppt/slides/slide21.xml" ContentType="application/vnd.openxmlformats-officedocument.presentationml.slide+xml"/>
  <Override PartName="/ppt/slides/slide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presProps.xml" ContentType="application/vnd.openxmlformats-officedocument.presentationml.presProps+xml"/>
  <Override PartName="/ppt/slides/slide15.xml" ContentType="application/vnd.openxmlformats-officedocument.presentationml.slide+xml"/>
  <Override PartName="/ppt/slides/slide20.xml" ContentType="application/vnd.openxmlformats-officedocument.presentationml.slide+xml"/>
  <Override PartName="/ppt/slideMasters/slideMaster1.xml" ContentType="application/vnd.openxmlformats-officedocument.presentationml.slideMaster+xml"/>
  <Override PartName="/ppt/slides/slide36.xml" ContentType="application/vnd.openxmlformats-officedocument.presentationml.slide+xml"/>
  <Override PartName="/ppt/slides/slide7.xml" ContentType="application/vnd.openxmlformats-officedocument.presentationml.slide+xml"/>
  <Override PartName="/ppt/viewProps.xml" ContentType="application/vnd.openxmlformats-officedocument.presentationml.viewProps+xml"/>
  <Override PartName="/ppt/slides/slide27.xml" ContentType="application/vnd.openxmlformats-officedocument.presentationml.slide+xml"/>
  <Override PartName="/ppt/slides/slide10.xml" ContentType="application/vnd.openxmlformats-officedocument.presentationml.slide+xml"/>
  <Override PartName="/ppt/slides/slide35.xml" ContentType="application/vnd.openxmlformats-officedocument.presentationml.slide+xml"/>
  <Override PartName="/ppt/tableStyles.xml" ContentType="application/vnd.openxmlformats-officedocument.presentationml.tableStyles+xml"/>
  <Override PartName="/ppt/slides/slide13.xml" ContentType="application/vnd.openxmlformats-officedocument.presentationml.slide+xml"/>
  <Override PartName="/ppt/slides/slide29.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6.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4.xml" ContentType="application/vnd.openxmlformats-officedocument.presentationml.slide+xml"/>
  <Override PartName="/ppt/slides/slide2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8.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23.xml" ContentType="application/vnd.openxmlformats-officedocument.presentationml.slide+xml"/>
  <Override PartName="/ppt/slides/slide5.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Types>
</file>

<file path=_rels/.rels><?xml version="1.0" encoding="UTF-8" standalone="yes"?><Relationships xmlns="http://schemas.openxmlformats.org/package/2006/relationships"><Relationship Id="rId0" Type="http://schemas.openxmlformats.org/officeDocument/2006/relationships/officeDocument" Target="ppt/presentation.xml" /><Relationship Id="rId1" Type="http://schemas.openxmlformats.org/package/2006/relationships/metadata/core-properties" Target="docProps/core.xml" /><Relationship Id="rId2" Type="http://schemas.openxmlformats.org/officeDocument/2006/relationships/extended-properties" Target="docProps/app.xml" /></Relationships>
</file>

<file path=ppt/presentation.xml><?xml version="1.0" encoding="utf-8"?>
<p:presentation xmlns:p="http://schemas.openxmlformats.org/presentationml/2006/main" xmlns:a="http://schemas.openxmlformats.org/drawingml/2006/main" xmlns:r="http://schemas.openxmlformats.org/officeDocument/2006/relationships" firstSlideNum="1">
  <p:sldMasterIdLst>
    <p:sldMasterId id="2147483648" r:id="rId0"/>
  </p:sldMasterIdLst>
  <p:notesMasterIdLst>
    <p:notesMasterId r:id="rId37"/>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uri="{E76CE94A-603C-4142-B9EB-6D1370010A27}"/>
    <p:ext uri="{D31A062A-798A-4329-ABDD-BBA856620510}"/>
    <p:ext uri="{FD5EFAAD-0ECE-453E-9831-46B23BE46B34}"/>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20" Type="http://schemas.openxmlformats.org/officeDocument/2006/relationships/slide" Target="slides/slide20.xml"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15" Type="http://schemas.openxmlformats.org/officeDocument/2006/relationships/slide" Target="slides/slide15.xml" /><Relationship Id="rId36" Type="http://schemas.openxmlformats.org/officeDocument/2006/relationships/slide" Target="slides/slide36.xml" /><Relationship Id="rId27" Type="http://schemas.openxmlformats.org/officeDocument/2006/relationships/slide" Target="slides/slide27.xml" /><Relationship Id="rId10" Type="http://schemas.openxmlformats.org/officeDocument/2006/relationships/slide" Target="slides/slide10.xml" /><Relationship Id="rId39" Type="http://schemas.openxmlformats.org/officeDocument/2006/relationships/tableStyles" Target="tableStyles.xml" /><Relationship Id="rId13" Type="http://schemas.openxmlformats.org/officeDocument/2006/relationships/slide" Target="slides/slide13.xml" /><Relationship Id="rId9" Type="http://schemas.openxmlformats.org/officeDocument/2006/relationships/slide" Target="slides/slide9.xml" /><Relationship Id="rId31" Type="http://schemas.openxmlformats.org/officeDocument/2006/relationships/slide" Target="slides/slide31.xml" /><Relationship Id="rId11" Type="http://schemas.openxmlformats.org/officeDocument/2006/relationships/slide" Target="slides/slide11.xml" /><Relationship Id="rId12" Type="http://schemas.openxmlformats.org/officeDocument/2006/relationships/slide" Target="slides/slide12.xml" /><Relationship Id="rId26" Type="http://schemas.openxmlformats.org/officeDocument/2006/relationships/slide" Target="slides/slide26.xml" /><Relationship Id="rId14" Type="http://schemas.openxmlformats.org/officeDocument/2006/relationships/slide" Target="slides/slide14.xml" /><Relationship Id="rId24" Type="http://schemas.openxmlformats.org/officeDocument/2006/relationships/slide" Target="slides/slide24.xml" /><Relationship Id="rId16" Type="http://schemas.openxmlformats.org/officeDocument/2006/relationships/slide" Target="slides/slide16.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8" Type="http://schemas.openxmlformats.org/officeDocument/2006/relationships/slide" Target="slides/slide28.xml" /><Relationship Id="rId22" Type="http://schemas.openxmlformats.org/officeDocument/2006/relationships/slide" Target="slides/slide22.xml" /><Relationship Id="rId21" Type="http://schemas.openxmlformats.org/officeDocument/2006/relationships/slide" Target="slides/slide21.xml" /><Relationship Id="rId23" Type="http://schemas.openxmlformats.org/officeDocument/2006/relationships/slide" Target="slides/slide23.xml" /><Relationship Id="rId4" Type="http://schemas.openxmlformats.org/officeDocument/2006/relationships/slide" Target="slides/slide4.xml" /><Relationship Id="rId25" Type="http://schemas.openxmlformats.org/officeDocument/2006/relationships/slide" Target="slides/slide25.xml" /><Relationship Id="rId29" Type="http://schemas.openxmlformats.org/officeDocument/2006/relationships/slide" Target="slides/slide29.xml" /><Relationship Id="rId3" Type="http://schemas.openxmlformats.org/officeDocument/2006/relationships/slide" Target="slides/slide3.xml" /><Relationship Id="rId30" Type="http://schemas.openxmlformats.org/officeDocument/2006/relationships/slide" Target="slides/slide30.xml" /><Relationship Id="rId32" Type="http://schemas.openxmlformats.org/officeDocument/2006/relationships/slide" Target="slides/slide32.xml" /><Relationship Id="rId33" Type="http://schemas.openxmlformats.org/officeDocument/2006/relationships/slide" Target="slides/slide33.xml" /><Relationship Id="rId34" Type="http://schemas.openxmlformats.org/officeDocument/2006/relationships/slide" Target="slides/slide34.xml" /><Relationship Id="rId35" Type="http://schemas.openxmlformats.org/officeDocument/2006/relationships/slide" Target="slides/slide35.xml" /><Relationship Id="rId6" Type="http://schemas.openxmlformats.org/officeDocument/2006/relationships/slide" Target="slides/slide6.xml" /><Relationship Id="rId37" Type="http://schemas.openxmlformats.org/officeDocument/2006/relationships/notesMaster" Target="notesMasters/notesMaster1.xml" /><Relationship Id="rId38" Type="http://schemas.openxmlformats.org/officeDocument/2006/relationships/presProps" Target="presProps.xml" /><Relationship Id="rId40" Type="http://schemas.openxmlformats.org/officeDocument/2006/relationships/viewProps" Target="viewProps.xml" /><Relationship Id="rId5" Type="http://schemas.openxmlformats.org/officeDocument/2006/relationships/slide" Target="slides/slide5.xml" /><Relationship Id="rId7" Type="http://schemas.openxmlformats.org/officeDocument/2006/relationships/slide" Target="slides/slide7.xml" /><Relationship Id="rId8" Type="http://schemas.openxmlformats.org/officeDocument/2006/relationships/slide" Target="slides/slide8.xml" /></Relationships>
</file>

<file path=ppt/notesMasters/_rels/notesMaster1.xml.rels><?xml version="1.0" encoding="UTF-8" standalone="yes"?><Relationships xmlns="http://schemas.openxmlformats.org/package/2006/relationships"><Relationship Id="rId0" Type="http://schemas.openxmlformats.org/officeDocument/2006/relationships/theme" Target="../theme/theme2.xml" /></Relationships>
</file>

<file path=ppt/notesMasters/notesMaster1.xml><?xml version="1.0" encoding="utf-8"?>
<p:notesMaster xmlns:p="http://schemas.openxmlformats.org/presentationml/2006/main" xmlns:a="http://schemas.openxmlformats.org/drawing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有人告诉你，某个模型在某个基准上拿了高分。这句话听起来很确定，其实缺了太多东西：题目是什么、谁出的、跑了几次、用没用工具、什么时候公布的，一个都没说。</a:t>
            </a:r>
          </a:p>
          <a:p>
            <a:r>
              <a:rPr lang="zh-CN" dirty="0"/>
              <a:t>所以我给一套固定的问法，一共六步。第一问方法，分数是怎么评出来的。第二问机构，这个基准是谁做的、凭什么信它。第三问样本集，题目一共多少道、覆盖哪些领域。第四问真题，找几道题读一读，感受难度和答案长什么样。第五问得分，现在领先的模型到哪儿了。第六问错题，还有哪些题谁都做不出来，甚至题目本身就有毛病。</a:t>
            </a:r>
          </a:p>
          <a:p>
            <a:r>
              <a:rPr lang="zh-CN" dirty="0"/>
              <a:t>六步走完，再听到一个分数，你就不会被它唬住。</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这个顺序不是随便排的。先讲方法，因为一个分数好不好用，取决于它怎么被评出来；选择题和开放写作，能证明的东西完全不同。</a:t>
            </a:r>
          </a:p>
          <a:p>
            <a:r>
              <a:rPr lang="zh-CN" dirty="0"/>
              <a:t>再讲机构，因为同一个方法，执行的人不同，可信度也不同。有的机构公开全部题干和评分代码，有的只给一个数字。</a:t>
            </a:r>
          </a:p>
          <a:p>
            <a:r>
              <a:rPr lang="zh-CN" dirty="0"/>
              <a:t>第三、四步是读样本集和读真题。我把它放在看得分前面，是想让大家先有手感：知道题目有多难、答案长什么样，再去看谁分高，才不会被一个百分比牵着走。</a:t>
            </a:r>
          </a:p>
          <a:p>
            <a:r>
              <a:rPr lang="zh-CN" dirty="0"/>
              <a:t>最后两步是看领先模型和看错题。看错题往往比看得分更有收获，因为题目和答案本身的毛病，恰恰暴露了一个基准的边界在哪里。</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一个模型"能做某件事"，这句话由三部分组成。第一是题目：到底问了什么，是在几个选项里挑，还是自己写出一段话。第二是作答：它交出什么形式，一个字母、一段文字，还是一段能运行的代码。第三是评分：谁来判对错，按什么规则判。</a:t>
            </a:r>
          </a:p>
          <a:p>
            <a:r>
              <a:rPr lang="zh-CN" dirty="0"/>
              <a:t>这三处任何一处不同，结论就不同。让模型在四个选项里挑一个，猜中概率就有四分之一；等它写一段开放文字，判分就很难自动化。</a:t>
            </a:r>
          </a:p>
          <a:p>
            <a:r>
              <a:rPr lang="zh-CN" dirty="0"/>
              <a:t>所以开放日这类任务，不能只问能不能写通知，还要问交给谁判、按什么标准判。形式约束可以程序检查，可时间地点是否真实、语气是否适合居民，得另设检查。</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一道题从想法到进入榜单，中间要过好几关。第一关是征集，向各领域专家约题，HLE 这一关动用了近一千位专家，分布在大约五百家机构、五十个国家。</a:t>
            </a:r>
          </a:p>
          <a:p>
            <a:r>
              <a:rPr lang="zh-CN" dirty="0"/>
              <a:t>第二关是筛选，很关键：如果这道题一搜就能搜到答案，说明它考的是检索不是推理，删掉；如果主流模型已经答对了，说明它太简单，也删掉。HLE 就用联网搜索和当时的模型先筛一遍。</a:t>
            </a:r>
          </a:p>
          <a:p>
            <a:r>
              <a:rPr lang="zh-CN" dirty="0"/>
              <a:t>第三关是定稿，让同领域专家复核，把有歧义、答案不唯一的题剔出去。第四关才是评测，用统一条件跑模型，并且把用没用工具、给了多少预算都记下来。最后一关是公布，公开数据集和榜单，同时留一份私有题集，防止模型照着公开题背答案。</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判分方式大致四类，各有各的代价。</a:t>
            </a:r>
          </a:p>
          <a:p>
            <a:r>
              <a:rPr lang="zh-CN" dirty="0"/>
              <a:t>选择题最常见，模型从几个选项里挑一个，判分完全自动化。代价是选项本身给了提示，选项越少越容易猜中，四个选项就有四分之一的运气分。</a:t>
            </a:r>
          </a:p>
          <a:p>
            <a:r>
              <a:rPr lang="zh-CN" dirty="0"/>
              <a:t>自由作答要求模型自己写出答案，通常是精确匹配，差一个字符就算错。好处是没法猜，代价是对格式特别苛刻，有的基准规定结尾必须写成固定的字样，不照写就零分，哪怕推理全对。</a:t>
            </a:r>
          </a:p>
          <a:p>
            <a:r>
              <a:rPr lang="zh-CN" dirty="0"/>
              <a:t>可执行任务是让它交一段代码或完成一次操作，实际跑一遍测试，全过才算对。它最接近真实使用的证据，但也最容易被运行环境和可用工具影响。</a:t>
            </a:r>
          </a:p>
          <a:p>
            <a:r>
              <a:rPr lang="zh-CN" dirty="0"/>
              <a:t>最后一类是人类偏好，让不了解模型身份的评阅者成对比较两份输出，允许平局。它能评价没有唯一答案的任务，但偏好会随人群和任务变化。</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看到任何一个分数，先补齐四个条件。</a:t>
            </a:r>
          </a:p>
          <a:p>
            <a:r>
              <a:rPr lang="zh-CN" dirty="0"/>
              <a:t>第一，模型身份。是哪个模型、哪个版本，还是同一个模型的两种配置。</a:t>
            </a:r>
          </a:p>
          <a:p>
            <a:r>
              <a:rPr lang="zh-CN" dirty="0"/>
              <a:t>第二，题目范围。是全部题库，还是人工核验过的子集，还是难度最高的一层。分母不同，一个百分点代表的分量完全不同。</a:t>
            </a:r>
          </a:p>
          <a:p>
            <a:r>
              <a:rPr lang="zh-CN" dirty="0"/>
              <a:t>第三，运行条件。闭卷还是可以用工具，跑一次还是跑多次取最好。</a:t>
            </a:r>
          </a:p>
          <a:p>
            <a:r>
              <a:rPr lang="zh-CN" dirty="0"/>
              <a:t>第四，来源与时间。是官方榜单、论文，还是某个聚合站点，是哪一天的快照。</a:t>
            </a:r>
          </a:p>
          <a:p>
            <a:r>
              <a:rPr lang="zh-CN" dirty="0"/>
              <a:t>拿 HLE 来说，2026 年 9 月前后，不同站点给出的头名分数从百分之五十五点五到百分之六十七点七不等。差距来自协议与快照日期，不是模型忽然变强。</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Epoch AI 在 2026 年办了一个叫 Benchmark Reviews 的审计项目，专门审查别人的基准，把常见的毛病归成六类。</a:t>
            </a:r>
          </a:p>
          <a:p>
            <a:r>
              <a:rPr lang="zh-CN" dirty="0"/>
              <a:t>第一类无效题，题目本身就没法做，缺条件、缺文件。第二类假阴，模型答对了却被判错，常见于判分规则太死。第三类假阳，答错了却被放过，常见于判分太松，或者环境里本来就能抄到答案。</a:t>
            </a:r>
          </a:p>
          <a:p>
            <a:r>
              <a:rPr lang="zh-CN" dirty="0"/>
              <a:t>第四类诱导不足，给的预算和轮次不够，模型没机会展示真实水平。第五类设置偏置，不同模型拿到的算力或工具有差别，等于不是同一场比赛。第六类静默改版，悄悄改了评分规则或参考答案却不动版本号，让前后两批成绩根本不可比。</a:t>
            </a:r>
          </a:p>
          <a:p>
            <a:r>
              <a:rPr lang="zh-CN" dirty="0"/>
              <a:t>这六类里，前两类压低分数，第三类抬高分，后三类让分数的含义变得含糊。</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做基准的机构大致四类。</a:t>
            </a:r>
          </a:p>
          <a:p>
            <a:r>
              <a:rPr lang="zh-CN" dirty="0"/>
              <a:t>第一类是学术团队，高校和研究所的课题组，比如 GPQA 就是一批研究者做出来的，论文公开、方法可查。</a:t>
            </a:r>
          </a:p>
          <a:p>
            <a:r>
              <a:rPr lang="zh-CN" dirty="0"/>
              <a:t>第二类是非营利组织，比如 ARC Prize Foundation，背后是 Chollet 发起的抽象推理竞赛。</a:t>
            </a:r>
          </a:p>
          <a:p>
            <a:r>
              <a:rPr lang="zh-CN" dirty="0"/>
              <a:t>第三类是产业联合，典型是 HLE，由 CAIS 和 Scale AI 联合主办，出题靠全球专家网络，还设了奖金池。</a:t>
            </a:r>
          </a:p>
          <a:p>
            <a:r>
              <a:rPr lang="zh-CN" dirty="0"/>
              <a:t>第四类是独立评测机构，比如 Epoch AI，自己跑模型也审计别人的基准。</a:t>
            </a:r>
          </a:p>
          <a:p>
            <a:r>
              <a:rPr lang="zh-CN" dirty="0"/>
              <a:t>四类各有长短：学术严谨但资源有限，非营利目标纯粹但依赖资助，产业联合出题面广但要看动机，独立评测相对中立，也要看它公开到什么程度。</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判断一个基准的权威性，不看名字响不响，看四根支柱。</a:t>
            </a:r>
          </a:p>
          <a:p>
            <a:r>
              <a:rPr lang="zh-CN" dirty="0"/>
              <a:t>第一根，公开可查。题干、评分代码、运行配置能不能拿到。拿不到，外面就没法验证。</a:t>
            </a:r>
          </a:p>
          <a:p>
            <a:r>
              <a:rPr lang="zh-CN" dirty="0"/>
              <a:t>第二根，可复现。换一个人、换一台机器，按文档能不能跑出接近的结果。</a:t>
            </a:r>
          </a:p>
          <a:p>
            <a:r>
              <a:rPr lang="zh-CN" dirty="0"/>
              <a:t>第三根，独立审计。有没有第三方来查它的题和判分。Epoch 那次审计，十五个热门基准里有九个被判有问题。</a:t>
            </a:r>
          </a:p>
          <a:p>
            <a:r>
              <a:rPr lang="zh-CN" dirty="0"/>
              <a:t>第四根，专家背书。题目是不是由真正懂这个领域的人写和复核的。GPQA 要求出题人和复核人都有博士学历，还刻意不让研究相近领域的人互相复核。</a:t>
            </a:r>
          </a:p>
          <a:p>
            <a:r>
              <a:rPr lang="zh-CN" dirty="0"/>
              <a:t>四根缺一根，成绩就要打折看。但有审计也不等于零缺陷，Epoch 自己就承认审不了自家基准。</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HLE 全称是 Humanity's Last Exam，人类最后的考试，由安全研究机构 CAIS 和 Scale AI 联合主办，正式论文发表在 2026 年的《自然》杂志上。</a:t>
            </a:r>
          </a:p>
          <a:p>
            <a:r>
              <a:rPr lang="zh-CN" dirty="0"/>
              <a:t>它的出题网络很大：近一千位学科专家做贡献者，来自大约五百家机构、分布在五十个国家。</a:t>
            </a:r>
          </a:p>
          <a:p>
            <a:r>
              <a:rPr lang="zh-CN" dirty="0"/>
              <a:t>公开题集一共两千五百道题，覆盖一百多个学科，从数学、物理、化学，到古典学、语言学、人文社科。题目里大约百分之十四需要同时看懂图和文字才能答，百分之二十四做成选择题，其余是要求精确匹配的简答题。</a:t>
            </a:r>
          </a:p>
          <a:p>
            <a:r>
              <a:rPr lang="zh-CN" dirty="0"/>
              <a:t>它还有一份私有题集不公开，用来检查模型是不是照着公开题背答案。出题时还设了奖金池，这也是它能收到大量冷门专家题的原因。</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Epoch AI 是一个独立评测机构，特别之处是同时做两件事：自己跑基准，也审别人的基准。</a:t>
            </a:r>
          </a:p>
          <a:p>
            <a:r>
              <a:rPr lang="zh-CN" dirty="0"/>
              <a:t>2026 年 9 月它启动 Benchmark Reviews，第一批审了 15 个热门基准。结论是 4 个合格、9 个有问题、2 个信息不足。有问题的那批里，就包括 HLE、SWE-bench Verified、BFCL v4 和 Terminal-Bench 4.0。</a:t>
            </a:r>
          </a:p>
          <a:p>
            <a:r>
              <a:rPr lang="zh-CN" dirty="0"/>
              <a:t>它自己定了三条纪律。不审自家基准，因为存在利益冲突，并承认自家基准也可能有错；一般不向厂商收费，避免结论受买单方影响；判"有问题"不等于"没用"，只是引用分数时要说明已知缺陷。</a:t>
            </a:r>
          </a:p>
          <a:p>
            <a:r>
              <a:rPr lang="zh-CN" dirty="0"/>
              <a:t>这套做法把"这个分数能不能信"变成可以查证的过程。</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机构之间会互相挑错，也会推翻自己之前的说法。</a:t>
            </a:r>
          </a:p>
          <a:p>
            <a:r>
              <a:rPr lang="zh-CN" dirty="0"/>
              <a:t>第一个例子是退役。OpenAI 在 2026 年 2 月宣布不再报告它的成绩。理由是题目来自公开的 GitHub 仓库，仓库和修复记录早就进了训练数据，模型有时不是解出来的，是背出来的。能被背答案的基准，就不再测量能力。</a:t>
            </a:r>
          </a:p>
          <a:p>
            <a:r>
              <a:rPr lang="zh-CN" dirty="0"/>
              <a:t>第二个例子是避嫌。Epoch AI 做基准审计，但明确不审自家基准，理由是利益冲突。</a:t>
            </a:r>
          </a:p>
          <a:p>
            <a:r>
              <a:rPr lang="zh-CN" dirty="0"/>
              <a:t>第三个例子是改题。Epoch 审 FrontierMath 第一版时发现四成以上的题目有错，2026 年 6 月发布修正版，删掉若干问题题。</a:t>
            </a:r>
          </a:p>
          <a:p>
            <a:r>
              <a:rPr lang="zh-CN" dirty="0"/>
              <a:t>这三种自我修正，说明这个领域在认真对待测量。</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读一套样本集，就像读一份考试大纲。我建议固定问五件事。</a:t>
            </a:r>
          </a:p>
          <a:p>
            <a:r>
              <a:rPr lang="zh-CN" dirty="0"/>
              <a:t>第一，题量。一共多少题，这一条直接决定分数的精度。GPQA Diamond 只有 198 道题，那么一道题就值半个百分点，两个模型差一个百分点，可能只是两道题的差别。</a:t>
            </a:r>
          </a:p>
          <a:p>
            <a:r>
              <a:rPr lang="zh-CN" dirty="0"/>
              <a:t>第二，题型。是选择题、简答题，还是要求交一段能跑的代码；答案要写成什么形式，也要看清。</a:t>
            </a:r>
          </a:p>
          <a:p>
            <a:r>
              <a:rPr lang="zh-CN" dirty="0"/>
              <a:t>第三，领域分布。覆盖哪些学科，各占多少比例。如果四成都是数学，总分含义就要重新理解。</a:t>
            </a:r>
          </a:p>
          <a:p>
            <a:r>
              <a:rPr lang="zh-CN" dirty="0"/>
              <a:t>第四，难度分层。有没有 Diamond、Verified、Tier 4 这样的子集，我们看的是哪一层。</a:t>
            </a:r>
          </a:p>
          <a:p>
            <a:r>
              <a:rPr lang="zh-CN" dirty="0"/>
              <a:t>第五，版本更新。现在是第几版，有没有私有题集，多久更新一次。</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六套常被引用的样本集放在一起，看的是它们的构成差别。</a:t>
            </a:r>
          </a:p>
          <a:p>
            <a:r>
              <a:rPr lang="zh-CN" dirty="0"/>
              <a:t>HLE 两千五百题，专家级闭卷问答，覆盖一百多学科，另有更严格的子集 Diamond。</a:t>
            </a:r>
          </a:p>
          <a:p>
            <a:r>
              <a:rPr lang="zh-CN" dirty="0"/>
              <a:t>GPQA Diamond 只有一百九十八题，全是生物、物理、化学的四选一，设计目标就是搜不到答案，专家约八成。</a:t>
            </a:r>
          </a:p>
          <a:p>
            <a:r>
              <a:rPr lang="zh-CN" dirty="0"/>
              <a:t>SWE-bench Verified 是五百道真实仓库的问题记录，改代码、跑测试，已在 2026 年 2 月退役。</a:t>
            </a:r>
          </a:p>
          <a:p>
            <a:r>
              <a:rPr lang="zh-CN" dirty="0"/>
              <a:t>FrontierMath 第四层只有四十三道研究级数学题，私有题集，2026 年 6 月修正过。</a:t>
            </a:r>
          </a:p>
          <a:p>
            <a:r>
              <a:rPr lang="zh-CN" dirty="0"/>
              <a:t>ARC-AGI-2 是视觉格子推理题，每道必须完全答对，没有部分分。MMLU-Pro 约一万两千道十选一，覆盖十四学科。</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题量直接决定分数的分辨率。</a:t>
            </a:r>
          </a:p>
          <a:p>
            <a:r>
              <a:rPr lang="zh-CN" dirty="0"/>
              <a:t>HLE 两千五百道题，一个百分点大约是二十五道题，所以它报告到小数点后一位是有意义的。GPQA Diamond 只有一百九十八道题，半个百分点就是一道题，这时候两个模型差一个百分点，其实只是两道题的差别。</a:t>
            </a:r>
          </a:p>
          <a:p>
            <a:r>
              <a:rPr lang="zh-CN" dirty="0"/>
              <a:t>FrontierMath 第四层更极端，只有四十三道题，一道题就值二点三个百分点，分数必须带误差范围读。</a:t>
            </a:r>
          </a:p>
          <a:p>
            <a:r>
              <a:rPr lang="zh-CN" dirty="0"/>
              <a:t>再看一句常见的话：某模型在某个基准上领先两个百分点。如果这个基准有两千五百道题，两个百分点是五十道题，比较可信；如果只有四十三道题，两个百分点还不到一道题，基本没有意义。</a:t>
            </a:r>
          </a:p>
          <a:p>
            <a:r>
              <a:rPr lang="zh-CN" dirty="0"/>
              <a:t>所以看到分数，第一件事是问分母是多少。</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难度分层最容易被忽略。</a:t>
            </a:r>
          </a:p>
          <a:p>
            <a:r>
              <a:rPr lang="zh-CN" dirty="0"/>
              <a:t>GPQA 有三层。全部六百四十六题叫 Extended；筛掉专家意见不一致的，剩四百四十八题叫 Main；再收紧，要求两位专家都答对、非专家至多答对三分之一，剩一百九十八题叫 Diamond。看到 GPQA，要问是哪一层。</a:t>
            </a:r>
          </a:p>
          <a:p>
            <a:r>
              <a:rPr lang="zh-CN" dirty="0"/>
              <a:t>SWE-bench 类似。原始版两千两百九十四题，人工核验过的五百题子集叫 Verified，后来又做了更大的 Pro 版，一千八百六十五题，覆盖多语言。</a:t>
            </a:r>
          </a:p>
          <a:p>
            <a:r>
              <a:rPr lang="zh-CN" dirty="0"/>
              <a:t>FrontierMath 第二版共三百三十八题，分四层，其中第四层四十三题是研究级的，一名研究者可能花好几个小时。</a:t>
            </a:r>
          </a:p>
          <a:p>
            <a:r>
              <a:rPr lang="zh-CN" dirty="0"/>
              <a:t>同一套题库，看的是哪一层，分数的含义完全不同。</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样本集会过期。</a:t>
            </a:r>
          </a:p>
          <a:p>
            <a:r>
              <a:rPr lang="zh-CN" dirty="0"/>
              <a:t>先说 ARC 这条线。第一版 2019 年发布，五年里几乎没有模型越过，后来被推理模型攻破，团队在 2025 年 3 月重做第二版，专门删掉靠暴力搜索能解的题。2026 年 3 月第三版又来了，加入多步骤的组合推理。</a:t>
            </a:r>
          </a:p>
          <a:p>
            <a:r>
              <a:rPr lang="zh-CN" dirty="0"/>
              <a:t>再说数学这条线。FrontierMath 第一版 2024 年 11 月发布，后来 Epoch 自己审计，发现四成以上的题有错，2026 年 6 月推出修正后的第二版，删掉若干道题。</a:t>
            </a:r>
          </a:p>
          <a:p>
            <a:r>
              <a:rPr lang="zh-CN" dirty="0"/>
              <a:t>这说明两件事：题放久了可能被模型见过，分数虚高，这就是污染；题目本身也可能有错，需要事后修。所以引用分数，一定要带版本号和日期。</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我们来看两道 HLE 的公开样题，都是官方展示过的。</a:t>
            </a:r>
          </a:p>
          <a:p>
            <a:r>
              <a:rPr lang="zh-CN" dirty="0"/>
              <a:t>第一道属于古典学。它给出一段最初刻在墓碑上的古罗马铭文，要求把帕尔米拉文翻译出来，还附了一行拉丁字母转写。这道题考的不是常识，是帕尔米拉这个古代文明的文字与铭文格式，出题人是牛津大学默顿学院的研究者。</a:t>
            </a:r>
          </a:p>
          <a:p>
            <a:r>
              <a:rPr lang="zh-CN" dirty="0"/>
              <a:t>第二道属于生态解剖。它说雨燕目里的蜂鸟有一种独特的左右成对卵形骨，是一块籽骨，嵌在尾下压肌宽十字腱膜的尾外侧，然后问：这块籽骨支撑着多少对肌腱？要求只写一个数字。出题人是麻省理工学院的研究者。</a:t>
            </a:r>
          </a:p>
          <a:p>
            <a:r>
              <a:rPr lang="zh-CN" dirty="0"/>
              <a:t>这两道题放在一起，能看出 HLE 的特点：领域极窄，靠的是真实专家知识；第二道还规定了答案格式，只写数字，写别的就算错。</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GPQA Diamond 的题我们看两道，都是论文里公开过的。</a:t>
            </a:r>
          </a:p>
          <a:p>
            <a:r>
              <a:rPr lang="zh-CN" dirty="0"/>
              <a:t>第一道是物理。它说有两个量子态，寿命分别是十的负九次方秒和十的负八次方秒，问它们的能量差取哪个值才能被清楚分辨。答案是十的负四次方电子伏。要答对，得知道能量和时间的不确定性关系，算出能级的自然线宽，再比较哪个差值足够大。</a:t>
            </a:r>
          </a:p>
          <a:p>
            <a:r>
              <a:rPr lang="zh-CN" dirty="0"/>
              <a:t>第二道是化学。甲基环戊二烯和甲基异戊基酮，用催化量的吡咯烷反应，生成一种交叉共轭多烯烃，问不计立体异构，最终产物有多少种化学上不同的异构体。答案是十六种。要答对，得先明白甲基环戊二烯本身就以三种异构体互变，再乘上二烯体靠近的四个方向。</a:t>
            </a:r>
          </a:p>
          <a:p>
            <a:r>
              <a:rPr lang="zh-CN" dirty="0"/>
              <a:t>判分还要求答案以固定格式结尾，格式不对，推理再对也计零分。</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再看两种不同形式的题。</a:t>
            </a:r>
          </a:p>
          <a:p>
            <a:r>
              <a:rPr lang="zh-CN" dirty="0"/>
              <a:t>左边是 MMLU-Pro，它是多选题，选项从原来的四个扩展到最多十个，覆盖十四个学科。选项一多，靠蒙得分的概率就低了。代价是仍给了答案线索，模型只要挑一个就行。</a:t>
            </a:r>
          </a:p>
          <a:p>
            <a:r>
              <a:rPr lang="zh-CN" dirty="0"/>
              <a:t>右边是 AIME，美国数学邀请赛。它的特点是答案永远是零到九百九十九之间的一个整数，所以判分特别干净：要么对，要么错，不用人来评。评测时通常按固定年份的题集核对最终答案。比如 2025 年第一卷第一题，答案就是 70。</a:t>
            </a:r>
          </a:p>
          <a:p>
            <a:r>
              <a:rPr lang="zh-CN" dirty="0"/>
              <a:t>两种题放在一起能看出，题型不同，能证明的东西也不同。选择题证明能选对，简答题证明能自己给出答案。真实咨询里，我们更需要后一种。</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SWE-bench 这类任务的形式是这样的。给的是一份真实的代码仓库，加上一条用自然语言写的问题记录，比如报名程序在重复点击后会产生两条记录。</a:t>
            </a:r>
          </a:p>
          <a:p>
            <a:r>
              <a:rPr lang="zh-CN" dirty="0"/>
              <a:t>要求是：在仓库里找到出问题的地方，读懂现有代码，改好，并提交一个补丁。判分不是看补丁像不像人写的，而是实际跑一遍测试，既要求修复问题的那组测试通过，也要求原本的回归测试不被破坏。</a:t>
            </a:r>
          </a:p>
          <a:p>
            <a:r>
              <a:rPr lang="zh-CN" dirty="0"/>
              <a:t>代码排版整洁、注释充分、看起来很像标准答案，都不能代替行为检查。一个补丁只要能让测试全过，它就对系统有效，哪怕写法不那么漂亮。</a:t>
            </a:r>
          </a:p>
          <a:p>
            <a:r>
              <a:rPr lang="zh-CN" dirty="0"/>
              <a:t>还要注意，这类成绩是模型和整套执行环境的共同表现：搜索方式、可用工具、反馈轮数、总预算，都会改变结果。</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ARC-AGI-2 的形式很特别。每一道题会给几个输入输出的格子对照，让你先看出变换规则，再把它用到一个新的输入上。</a:t>
            </a:r>
          </a:p>
          <a:p>
            <a:r>
              <a:rPr lang="zh-CN" dirty="0"/>
              <a:t>比如这里给出的规律是：把输入的小格子整体横向复制三遍，得到加宽的输出。前两个例子都在教这个规律，第三个只给输入，要求你写出输出。</a:t>
            </a:r>
          </a:p>
          <a:p>
            <a:r>
              <a:rPr lang="zh-CN" dirty="0"/>
              <a:t>它的判分非常硬：每一格的颜色都必须完全对上，没有任何部分分。差一格，整题就是零分。</a:t>
            </a:r>
          </a:p>
          <a:p>
            <a:r>
              <a:rPr lang="zh-CN" dirty="0"/>
              <a:t>这道题的设计意图，是让记忆帮不上忙。规则不在任何教科书里，你必须现场从两三个例子里把规律推出来。所以它测的是现场推理能力，而不是记住多少知识。</a:t>
            </a:r>
          </a:p>
          <a:p>
            <a:r>
              <a:rPr lang="zh-CN" dirty="0"/>
              <a:t>顺带说一句，它的题目都是全新的，天然抵抗污染；也正因如此，分数涨得慢，人类水平也不高。</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看完这些题，我们把判分标准理一遍，一共四种。</a:t>
            </a:r>
          </a:p>
          <a:p>
            <a:r>
              <a:rPr lang="zh-CN" dirty="0"/>
              <a:t>第一种精确匹配。HLE 的简答题、GPQA 的选项字母都这样，答案必须和标准答案完全一致，格式写错就算零分。</a:t>
            </a:r>
          </a:p>
          <a:p>
            <a:r>
              <a:rPr lang="zh-CN" dirty="0"/>
              <a:t>第二种编辑相似度。DocVQA 用的就是它，把预测答案改成参考答案需要改几个字符，换算成接近程度。目的是避免轻微识别误差一律得零分，但字符接近不等于业务上可接受，姓名错一个字可能就得重核。</a:t>
            </a:r>
          </a:p>
          <a:p>
            <a:r>
              <a:rPr lang="zh-CN" dirty="0"/>
              <a:t>第三种数值容差。ChartQA 对数值答案允许百分之五的偏差，因为从图形里估数本来就有误差。但这个容差不能搬到报名统计上：从柱高估出约两百人，和系统确认有两百零一条记录，是两件事。</a:t>
            </a:r>
          </a:p>
          <a:p>
            <a:r>
              <a:rPr lang="zh-CN" dirty="0"/>
              <a:t>第四种全对才算，没有部分分。</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看完这五组题，我想强调一个共同点：题面本身就是评分契约。</a:t>
            </a:r>
          </a:p>
          <a:p>
            <a:r>
              <a:rPr lang="zh-CN" dirty="0"/>
              <a:t>第一条，规则可能藏在例子里。ARC 那道题只给了输入输出对照，规则一个字没说，要你自己看出来。这意味着模型必须真的理解，而不是检索。</a:t>
            </a:r>
          </a:p>
          <a:p>
            <a:r>
              <a:rPr lang="zh-CN" dirty="0"/>
              <a:t>第二条，答案形式写在题面里。HLE 那道解剖题明确说只写一个数字；GPQA 要求答案以固定格式结尾。这些要求不是装饰，是判分的一部分。</a:t>
            </a:r>
          </a:p>
          <a:p>
            <a:r>
              <a:rPr lang="zh-CN" dirty="0"/>
              <a:t>第三条，很多题没有部分分。ARC 差一格就是零分，SWE-bench 只要有一组测试没过就是没解决。这和真实交付很像：不能因为十项里对了九项就算完成。</a:t>
            </a:r>
          </a:p>
          <a:p>
            <a:r>
              <a:rPr lang="zh-CN" dirty="0"/>
              <a:t>启发是：设计验收条件时，也要先把答案该长什么样、由谁检查、什么算通过写清楚，再动手测。</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同样是 HLE，为什么不同站点给的分数不一样？三个原因。</a:t>
            </a:r>
          </a:p>
          <a:p>
            <a:r>
              <a:rPr lang="zh-CN" dirty="0"/>
              <a:t>第一，协议不同。带工具和不带工具不是一回事。带工具意味着模型可以跑代码、可以联网检索；不带工具就是纯靠内部推理。同一批题，两者能差六到七个百分点。</a:t>
            </a:r>
          </a:p>
          <a:p>
            <a:r>
              <a:rPr lang="zh-CN" dirty="0"/>
              <a:t>第二，快照时间不同。榜单每天在变，今天的第一名和上个月的第一名，可能是不同版本，也可能是不同模型。引用分数必须写清哪一天。</a:t>
            </a:r>
          </a:p>
          <a:p>
            <a:r>
              <a:rPr lang="zh-CN" dirty="0"/>
              <a:t>第三，聚合来源不同。有的站点直接抄官方榜单，有的自己重跑，有的只收录厂商公布的数字。</a:t>
            </a:r>
          </a:p>
          <a:p>
            <a:r>
              <a:rPr lang="zh-CN" dirty="0"/>
              <a:t>结论就是，不要问这个基准的最高分是多少，要问在什么协议、什么时间、由哪个来源给出的最高分是多少。</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这是 HLE 目前的分数分布，取自 2026 年 9 月末的几个聚合站点。</a:t>
            </a:r>
          </a:p>
          <a:p>
            <a:r>
              <a:rPr lang="zh-CN" dirty="0"/>
              <a:t>排在最上面的是 Claude Opus 5.5，在允许使用工具的最高配置下拿到 67.7%。紧随其后是 Fable 5.1 的 65.0% 和 Opus 5 的 63.6%。注意这几行都写着带工具。</a:t>
            </a:r>
          </a:p>
          <a:p>
            <a:r>
              <a:rPr lang="zh-CN" dirty="0"/>
              <a:t>作为参照，人类领域专家大约能到九成。但这个参照不能直接比：专家面对的是自己熟悉的方向，也有条件查资料。</a:t>
            </a:r>
          </a:p>
          <a:p>
            <a:r>
              <a:rPr lang="zh-CN" dirty="0"/>
              <a:t>再看协议差异。同一个模型 Fable 5.1，不带工具是 60.9%，带上工具是 65.0%，差了四个多百分点。所以看到 HLE 的分数，第一件事就是问它带不带工具。</a:t>
            </a:r>
          </a:p>
          <a:p>
            <a:r>
              <a:rPr lang="zh-CN" dirty="0"/>
              <a:t>这几个数字两三周内还会变，引用务必带日期。</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同一类模型在两个版本上的成绩，落差说明问题。</a:t>
            </a:r>
          </a:p>
          <a:p>
            <a:r>
              <a:rPr lang="zh-CN" dirty="0"/>
              <a:t>在 Verified 上，前沿模型能拿到八成上下；在难度更高、做了抗污染设计的 Pro 版上，同一模型掉到四成五左右，中间差三十五个百分点。这不是退步，而是两个测试问的不是同一件事。</a:t>
            </a:r>
          </a:p>
          <a:p>
            <a:r>
              <a:rPr lang="zh-CN" dirty="0"/>
              <a:t>原因有几层。第一层是污染：Verified 的题来自公开仓库，仓库和修复记录都在训练数据里，审计发现模型只看任务编号就能复述答案。第二层是题目本身有缺陷，最难的那批未解决问题里，接近六成的测试用例有问题。第三层是脚手架差异：Verified 混进了各家自调的框架，Pro 用统一脚手架，比的是模型本身。</a:t>
            </a:r>
          </a:p>
          <a:p>
            <a:r>
              <a:rPr lang="zh-CN" dirty="0"/>
              <a:t>两个榜上的分数都是真实的，关键是它们测的不是同一件事。</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FrontierMath 第四层的分数，最该看的是误差范围。</a:t>
            </a:r>
          </a:p>
          <a:p>
            <a:r>
              <a:rPr lang="zh-CN" dirty="0"/>
              <a:t>排第一的是 GPT-6 Astra，97.6%，它解掉了最后一道此前无人攻克的第四层题。其后是 Fable 5 的 87.8%、Sol 的 83%、Opus 5 的 73.2%。</a:t>
            </a:r>
          </a:p>
          <a:p>
            <a:r>
              <a:rPr lang="zh-CN" dirty="0"/>
              <a:t>注意 Fable 5 的 87.8% 带正负五点二的标准误，Sol 的 83% 带正负五点九，两者区间重叠，把中间几点差距当成实力差距，在统计上站不住。而且第四层只有四十三道题，一道题就值两点三个百分点。</a:t>
            </a:r>
          </a:p>
          <a:p>
            <a:r>
              <a:rPr lang="zh-CN" dirty="0"/>
              <a:t>另外，Epoch 不审自家基准，所以 FrontierMath 没经过独立审计；反倒是它自己审第一版时发现四成以上的题有错，才有了现在的第二版。</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看模型分数，一定要有人类参照。</a:t>
            </a:r>
          </a:p>
          <a:p>
            <a:r>
              <a:rPr lang="zh-CN" dirty="0"/>
              <a:t>先看 GPQA Diamond：随便猜是百分之二十五，因为四选一；带着网络、花三十多分钟的非领域专家，反而只有百分之二十二。这个数字低于随机线，是因为 Diamond 本身就按"非专家答错"筛出来的，存在选择效应。而同领域的博士专家能到八成以上。</a:t>
            </a:r>
          </a:p>
          <a:p>
            <a:r>
              <a:rPr lang="zh-CN" dirty="0"/>
              <a:t>HLE 这一列：普通人大概只能答对百分之五到十，领域专家在自己熟悉的方向上能到九成左右。</a:t>
            </a:r>
          </a:p>
          <a:p>
            <a:r>
              <a:rPr lang="zh-CN" dirty="0"/>
              <a:t>ARC-AGI-2：人类平均约六成六，高分组能到九成以上，测试面板是百分百。这个基准在设计时就要求每道题至少有两个人在两次尝试内解出来。</a:t>
            </a:r>
          </a:p>
          <a:p>
            <a:r>
              <a:rPr lang="zh-CN" dirty="0"/>
              <a:t>三列放在一起，结论很清楚：人类基线取决于你问的是哪一组人、在什么条件下答。</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最后总结三条使用纪律，都是我在前面反复遇到的情况。</a:t>
            </a:r>
          </a:p>
          <a:p>
            <a:r>
              <a:rPr lang="zh-CN" dirty="0"/>
              <a:t>第一，不跨版本。FrontierMath 第一版和第二版之间改过题目，分数不能混在一张榜上看。同一个名字后面挂着不同的版本号，成绩就是不同的东西。</a:t>
            </a:r>
          </a:p>
          <a:p>
            <a:r>
              <a:rPr lang="zh-CN" dirty="0"/>
              <a:t>第二，不跨协议。带工具和不带工具、跑一次和跑多次取最好，这些都不是同一场比赛。榜单上把两者并排列出，很容易让人误读成模型之间的差距。</a:t>
            </a:r>
          </a:p>
          <a:p>
            <a:r>
              <a:rPr lang="zh-CN" dirty="0"/>
              <a:t>第三，不相加。把几个基准的分数加起来做成一个综合能力总分，看起来很直观，其实是错的。每个基准的题目范围、判分口径、难度分层都不一样，加起来的数字没有对应的现实含义。</a:t>
            </a:r>
          </a:p>
          <a:p>
            <a:r>
              <a:rPr lang="zh-CN" dirty="0"/>
              <a:t>这三条其实就是一句话：先看清楚测的是什么，再谈分数高不高。</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错题不是一种东西，至少要分成三类，因为它们对我们的意义完全不同。</a:t>
            </a:r>
          </a:p>
          <a:p>
            <a:r>
              <a:rPr lang="zh-CN" dirty="0"/>
              <a:t>第一类是真不会。题目是对的，答案也清楚，就是目前的模型做不出来。这类错题标记的是能力的真实边界。</a:t>
            </a:r>
          </a:p>
          <a:p>
            <a:r>
              <a:rPr lang="zh-CN" dirty="0"/>
              <a:t>第二类是题目有错。可能是题面缺条件，可能是参考答案本身就错，也可能是判分规则太死或太松。这类错题标记的是测量的缺陷，和模型强弱无关。</a:t>
            </a:r>
          </a:p>
          <a:p>
            <a:r>
              <a:rPr lang="zh-CN" dirty="0"/>
              <a:t>第三类是学过头。模型在训练数据里见过这道题甚至标准答案，于是它答对了，但它是回忆出来的，不是推出来的。这类最危险，因为会让分数虚高，看起来比实际强。</a:t>
            </a:r>
          </a:p>
          <a:p>
            <a:r>
              <a:rPr lang="zh-CN" dirty="0"/>
              <a:t>三类失败要用不同的办法查。第一类看解题记录，第二类靠人工复核题目，第三类要查训练数据的边界。混在一起说，只会得出错误的结论。</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Epoch 对 HLE 做过一次审计，方法是随机的：从题集里抽一批题，逐题人工核对题面、参考答案和判分规则。</a:t>
            </a:r>
          </a:p>
          <a:p>
            <a:r>
              <a:rPr lang="zh-CN" dirty="0"/>
              <a:t>结果是，在被抽到的那批题目里，有四成六存在会影响最终成绩的错误。这个比例过了它自己定的触发线，也就是抽样里两成以上有问题就算不合格，因此 HLE 被列进了有问题名单。</a:t>
            </a:r>
          </a:p>
          <a:p>
            <a:r>
              <a:rPr lang="zh-CN" dirty="0"/>
              <a:t>要注意几点。第一，这是抽样，不是全量，更不能说整个基准都坏了。第二，被判有问题不等于没有用，只是引用分数时必须同时说明已知缺陷。第三，发现问题的主要是题面和参考答案本身的瑕疵，不是模型作弊。</a:t>
            </a:r>
          </a:p>
          <a:p>
            <a:r>
              <a:rPr lang="zh-CN" dirty="0"/>
              <a:t>所以正确的说法不是 HLE 不可信，而是它的分数要带保留地读，并且要去看它的审计说明。</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这是 SWE-bench Verified 最扎眼的一个数字：百分之五十九点四。</a:t>
            </a:r>
          </a:p>
          <a:p>
            <a:r>
              <a:rPr lang="zh-CN" dirty="0"/>
              <a:t>它的含义是，在这个基准最难、长期无人解决的那批题里，有近六成的测试用例本身有问题。测试有问题会往两个方向出错。一个方向是测试太窄，功能上完全正确的提交，却因为测试写得过于具体而被判失败。另一个方向是测试太宽，实际上错误的提交，因为测试覆盖不够而被放过。</a:t>
            </a:r>
          </a:p>
          <a:p>
            <a:r>
              <a:rPr lang="zh-CN" dirty="0"/>
              <a:t>两个方向的影响不一样。太窄会压低分数，让模型看起来比实际差；太宽会抬高分数，让模型看起来比实际强。合在一起，分数的含义就模糊了。</a:t>
            </a:r>
          </a:p>
          <a:p>
            <a:r>
              <a:rPr lang="zh-CN" dirty="0"/>
              <a:t>这就是 OpenAI 在 2026 年 2 月宣布不再报告这个基准成绩的原因之一。</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第二个错题案例来自 Epoch 自己。FrontierMath 第一版 2024 年 11 月发布，参与出题的有六十多位数学家。</a:t>
            </a:r>
          </a:p>
          <a:p>
            <a:r>
              <a:rPr lang="zh-CN" dirty="0"/>
              <a:t>后来 Epoch 自己审计了一次，结论不太好看：四成以上的题目有错，包括题面有问题、参考答案有误、判分规则不对。对研究级数学题来说，这个比例相当高。</a:t>
            </a:r>
          </a:p>
          <a:p>
            <a:r>
              <a:rPr lang="zh-CN" dirty="0"/>
              <a:t>于是在 2026 年 6 月 12 日，他们发布了修正后的第二版。第二版共三百三十八道题：第一到第三层二百九十五道，第四层四十三道；其中第四层修正了十二道、删掉了七道。公开可见的只有十二道，其余都是私有的。</a:t>
            </a:r>
          </a:p>
          <a:p>
            <a:r>
              <a:rPr lang="zh-CN" dirty="0"/>
              <a:t>这说明，一个基准连出题人自己都会审出错。所以引用任何分数，都要看版本和审计记录。</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最后一个案例，是当前最大的一个未解决缺口。</a:t>
            </a:r>
          </a:p>
          <a:p>
            <a:r>
              <a:rPr lang="zh-CN" dirty="0"/>
              <a:t>ARC-AGI-3 在 2026 年 3 月发布，人类平均能到七成一，但当时最强的系统只有百分之四点五，中间差了六十多个百分点。具体到模型，Gemini 3.1 Pro 是零点三七，GPT-5.5 是一点八，Opus 4.7 是二点一。模型在这个基准上基本等于没做出来。</a:t>
            </a:r>
          </a:p>
          <a:p>
            <a:r>
              <a:rPr lang="zh-CN" dirty="0"/>
              <a:t>为什么这么低？第三版加了两样东西：多步骤的交互，模型要在过程中不断行动和修正；跨实例的泛化，同一规则要能用到看似完全不同的场景上。这两样正好是当前系统的弱项。</a:t>
            </a:r>
          </a:p>
          <a:p>
            <a:r>
              <a:rPr lang="zh-CN" dirty="0"/>
              <a:t>这个例子说明，错题里最大的一类其实是真不会，不是题目错。题目有错要修题，能力不够就得等能力涨。</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idx="1"/>
          </p:nvPr>
        </p:nvSpPr>
        <p:spPr/>
        <p:txBody>
          <a:bodyPr/>
          <a:lstStyle/>
          <a:p>
            <a:r>
              <a:rPr lang="zh-CN" dirty="0"/>
              <a:t>这一节我们走了六步。</a:t>
            </a:r>
          </a:p>
          <a:p>
            <a:r>
              <a:rPr lang="zh-CN" dirty="0"/>
              <a:t>第一步问方法，这个分数是怎么评出来的，是选择题还是可执行任务，由谁判对错。第二步问机构，这个基准是谁做的，题目公开吗，有没有第三方审过。第三步问样本集，一共多少题，覆盖什么领域，看的是哪一层。第四步读真题，题面长什么样，答案要写成什么形式。第五步看得分，在什么协议、什么时间、哪个来源下，谁排第一。第六步看错题，是模型真不会，还是题目本身有错。</a:t>
            </a:r>
          </a:p>
          <a:p>
            <a:r>
              <a:rPr lang="zh-CN" dirty="0"/>
              <a:t>六步走完，你就有了一个固定的检查顺序。任何一句"某模型在某某榜上多少分"，你都能把它还原成具体的题目、条件和时间。</a:t>
            </a:r>
          </a:p>
          <a:p>
            <a:r>
              <a:rPr lang="zh-CN" dirty="0"/>
              <a:t>下一节换个角度：不再看单个基准，而是看这些分数背后，各家模型在能力上呈现出的整体面貌。</a:t>
            </a:r>
          </a:p>
        </p:txBody>
      </p:sp>
    </p:spTree>
  </p:cSld>
  <p:clrMapOvr>
    <a:masterClrMapping/>
  </p:clrMapOvr>
</p:notes>
</file>

<file path=ppt/slideLayouts/_rels/slideLayout1.xml.rels><?xml version="1.0" encoding="UTF-8" standalone="yes"?><Relationships xmlns="http://schemas.openxmlformats.org/package/2006/relationships"><Relationship Id="rId0"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0" Type="http://schemas.openxmlformats.org/officeDocument/2006/relationships/slideLayout" Target="../slideLayouts/slideLayout1.xml" /><Relationship Id="rId1" Type="http://schemas.openxmlformats.org/officeDocument/2006/relationships/theme" Target="../theme/theme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0"/>
  </p:sldLayoutIdLst>
  <p:hf sldNum="0" hdr="0" ftr="0" dt="0"/>
  <p:txStyles>
    <p:titleStyle>
      <a:lvl1pPr algn="ctr" defTabSz="914400" rtl="0" eaLnBrk="1" latinLnBrk="0" hangingPunct="1">
        <a:spcBef>
          <a:spcPct val="1"/>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0" Type="http://schemas.openxmlformats.org/officeDocument/2006/relationships/slideLayout" Target="../slideLayouts/slideLayout1.xml" /><Relationship Id="rId900" Type="http://schemas.openxmlformats.org/officeDocument/2006/relationships/notesSlide" Target="../notesSlides/notesSlide36.xml"/></Relationships>
</file>

<file path=ppt/slides/slide1.xml><?xml version="1.0" encoding="utf-8"?>
<p:sld xmlns:p="http://schemas.openxmlformats.org/presentationml/2006/main" xmlns:a="http://schemas.openxmlformats.org/drawingml/2006/main">
  <p:cSld>
    <p:spTree>
      <p:nvGrpSpPr>
        <p:cNvPr id="1" name="" descr="&lt;Slide notes={`有人告诉你，某个模型在某个基准上拿了高分。这句话听起来很确定，其实缺了太多东西：题目是什么、谁出的、跑了几次、用没用工具、什么时候公布的，一个都没说。&#10;&#10;所以我给一套固定的问法，一共六步。第一问方法，分数是怎么评出来的。第二问机构，这个基准是谁做的、凭什么信它。第三问样本集，题目一共多少道、覆盖哪些领域。第四问真题，找几道题读一读，感受难度和答案长什么样。第五问得分，现在领先的模型到哪儿了。第六问错题，还有哪些题谁都做不出来，甚至题目本身就有毛病。&#10;&#10;六步走完，再听到一个分数，你就不会被它唬住。`} style={{ width: 1280, height: 720, background: '#FFFFFF', flexDirection: 'column', padding: '20px 64px' }}&gt;&#10;&#10;    &lt;Box style={{ height: 190, flexDirection: 'column', justifyContent: 'center', gap: 12 }}&gt;&#10;        &lt;Text style={{ fontSize: 14, color: '#546779' }}&gt;1.4 从榜单到证据：六步读懂一个基准&lt;/Text&gt;&#10;        &lt;Text style={{ fontSize: 52, fontWeight: 'bold', color: '#20344B', lineHeight: 1.2 }}&gt;从榜单到证据&lt;/Text&gt;&#10;        &lt;Text style={{ fontSize: 22, color: '#546779' }}&gt;听到一个分数，先问六个问题&lt;/Text&gt;&#10;    &lt;/Box&gt;&#10;&#10;    &lt;Box style={{ flex: 1, flexDirection: 'column', justifyContent: 'center', gap: 24 }}&gt;&#10;&#10;        &lt;Box style={{ flexDirection: 'row', alignItems: 'center' }}&gt;&#10;            &lt;Box style={{ width: 155, height: 152, background: '#EDF4FC', borderRadius: 12, padding: '14px 10px', flexDirection: 'column', gap: 6 }}&gt;&#10;                &lt;Text style={{ fontSize: 13, color: '#276FBF' }}&gt;① 方法&lt;/Text&gt;&#10;                &lt;Text style={{ fontSize: 17, fontWeight: 'bold', color: '#20344B' }}&gt;怎么测&lt;/Text&gt;&#10;                &lt;Text style={{ fontSize: 13, color: '#546779', lineHeight: 1.45 }}&gt;题目 · 作答 · 评分&lt;/Text&gt;&#10;            &lt;/Box&gt;&#10;            &lt;Box style={{ width: 44, alignItems: 'center', justifyContent: 'center' }}&gt;&lt;Text style={{ fontSize: 32, color: '#276FBF' }}&gt;›&lt;/Text&gt;&lt;/Box&gt;&#10;            &lt;Box style={{ width: 155, height: 152, background: '#EDF4FC', borderRadius: 12, padding: '14px 10px', flexDirection: 'column', gap: 6 }}&gt;&#10;                &lt;Text style={{ fontSize: 13, color: '#276FBF' }}&gt;② 机构&lt;/Text&gt;&#10;                &lt;Text style={{ fontSize: 17, fontWeight: 'bold', color: '#20344B' }}&gt;谁来测&lt;/Text&gt;&#10;                &lt;Text style={{ fontSize: 13, color: '#546779', lineHeight: 1.45 }}&gt;公开 · 复现 · 审计&lt;/Text&gt;&#10;            &lt;/Box&gt;&#10;            &lt;Box style={{ width: 44, alignItems: 'center', justifyContent: 'center' }}&gt;&lt;Text style={{ fontSize: 32, color: '#276FBF' }}&gt;›&lt;/Text&gt;&lt;/Box&gt;&#10;            &lt;Box style={{ width: 155, height: 152, background: '#EDF4FC', borderRadius: 12, padding: '14px 10px', flexDirection: 'column', gap: 6 }}&gt;&#10;                &lt;Text style={{ fontSize: 13, color: '#276FBF' }}&gt;③ 样本集&lt;/Text&gt;&#10;                &lt;Text style={{ fontSize: 17, fontWeight: 'bold', color: '#20344B' }}&gt;用什么题&lt;/Text&gt;&#10;                &lt;Text style={{ fontSize: 13, color: '#546779', lineHeight: 1.45 }}&gt;题量 · 领域 · 分层&lt;/Text&gt;&#10;            &lt;/Box&gt;&#10;            &lt;Box style={{ width: 44, alignItems: 'center', justifyContent: 'center' }}&gt;&lt;Text style={{ fontSize: 32, color: '#276FBF' }}&gt;›&lt;/Text&gt;&lt;/Box&gt;&#10;            &lt;Box style={{ width: 155, height: 152, background: '#F7F3E8', borderRadius: 12, padding: '14px 10px', flexDirection: 'column', gap: 6 }}&gt;&#10;                &lt;Text style={{ fontSize: 13, color: '#546779' }}&gt;④ 真题&lt;/Text&gt;&#10;                &lt;Text style={{ fontSize: 17, fontWeight: 'bold', color: '#20344B' }}&gt;题长什么样&lt;/Text&gt;&#10;                &lt;Text style={{ fontSize: 13, color: '#546779', lineHeight: 1.45 }}&gt;题干 · 选项 · 答案&lt;/Text&gt;&#10;            &lt;/Box&gt;&#10;            &lt;Box style={{ width: 44, alignItems: 'center', justifyContent: 'center' }}&gt;&lt;Text style={{ fontSize: 32, color: '#276FBF' }}&gt;›&lt;/Text&gt;&lt;/Box&gt;&#10;            &lt;Box style={{ width: 155, height: 152, background: '#ECF7F2', borderRadius: 12, padding: '14px 10px', flexDirection: 'column', gap: 6 }}&gt;&#10;                &lt;Text style={{ fontSize: 13, color: '#26816B' }}&gt;⑤ 得分&lt;/Text&gt;&#10;                &lt;Text style={{ fontSize: 17, fontWeight: 'bold', color: '#20344B' }}&gt;谁分最高&lt;/Text&gt;&#10;                &lt;Text style={{ fontSize: 13, color: '#546779', lineHeight: 1.45 }}&gt;协议 · 快照 · 来源&lt;/Text&gt;&#10;            &lt;/Box&gt;&#10;            &lt;Box style={{ width: 44, alignItems: 'center', justifyContent: 'center' }}&gt;&lt;Text style={{ fontSize: 32, color: '#CB6B28' }}&gt;›&lt;/Text&gt;&lt;/Box&gt;&#10;            &lt;Box style={{ width: 155, height: 152, background: '#FFF4E6', borderRadius: 12, padding: '14px 10px', flexDirection: 'column', gap: 6 }}&gt;&#10;                &lt;Text style={{ fontSize: 13, color: '#CB6B28' }}&gt;⑥ 错题&lt;/Text&gt;&#10;                &lt;Text style={{ fontSize: 17, fontWeight: 'bold', color: '#CB6B28' }}&gt;还错在哪&lt;/Text&gt;&#10;                &lt;Text style={{ fontSize: 13, color: '#CB6B28', lineHeight: 1.45 }}&gt;真不会 · 题目错 · 学过头&lt;/Text&gt;&#10;            &lt;/Box&gt;&#10;        &lt;/Box&gt;&#10;&#10;        &lt;Box style={{ flexDirection: 'row', gap: 16, background: '#F4F7FA', borderRadius: 10, padding: '14px 22px' }}&gt;&#10;            &lt;Text style={{ fontSize: 16, color: '#546779' }}&gt;本节的全部数字都标了日期、条件与来源；不同站点不一致时，我如实给出差异，而不是挑一个最好看的&lt;/Text&gt;&#10;        &lt;/Box&gt;&#10;&#10;    &lt;/Box&gt;&#10;&#10;    &lt;Box style={{ height: 40, flexDirection: 'row', justifyContent: 'space-between', alignItems: 'center' }}&gt;&#10;        &lt;Text style={{ fontSize: 14, color: '#546779' }}&gt;1.4 从榜单到证据&lt;/Text&gt;&#10;        &lt;Text style={{ fontSize: 14, color: '#546779' }}&gt;01 / 36&lt;/Text&gt;&#10;    &lt;/Box&gt;&#10;&#10;&lt;/Slide&gt;&#10;"/>
        <p:cNvGrpSpPr/>
        <p:nvPr/>
      </p:nvGrpSpPr>
      <p:grpSpPr>
        <a:xfrm>
          <a:off x="0" y="0"/>
          <a:ext cx="0" cy="0"/>
          <a:chOff x="0" y="0"/>
          <a:chExt cx="0" cy="0"/>
        </a:xfrm>
      </p:grpSpPr>
      <p:sp>
        <p:nvSpPr>
          <p:cNvPr id="2" name=""/>
          <p:cNvSpPr/>
          <p:nvPr/>
        </p:nvSpPr>
        <p:spPr>
          <a:xfrm rot="0" flipH="0" flipV="0">
            <a:off x="0" y="0"/>
            <a:ext cx="12192000" cy="6858000"/>
          </a:xfrm>
          <a:prstGeom prst="rect">
            <a:avLst/>
          </a:prstGeom>
          <a:solidFill>
            <a:srgbClr val="FFFFFF"/>
          </a:solidFill>
          <a:ln/>
        </p:spPr>
        <p:txBody>
          <a:bodyPr/>
          <a:p/>
        </p:txBody>
      </p:sp>
      <p:sp>
        <p:nvSpPr>
          <p:cNvPr id="3" name="" descr="{&quot;isTemplate&quot;:true,&quot;type&quot;:&quot;text&quot;}"/>
          <p:cNvSpPr txBox="1"/>
          <p:nvPr/>
        </p:nvSpPr>
        <p:spPr>
          <a:xfrm rot="0" flipH="0" flipV="0">
            <a:off x="609600" y="419100"/>
            <a:ext cx="109728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从榜单到证据：六步读懂一个基准</a:t>
            </a:r>
            <a:endParaRPr/>
          </a:p>
        </p:txBody>
      </p:sp>
      <p:sp>
        <p:nvSpPr>
          <p:cNvPr id="4" name="" descr="{&quot;isTemplate&quot;:true,&quot;type&quot;:&quot;text&quot;}"/>
          <p:cNvSpPr txBox="1"/>
          <p:nvPr/>
        </p:nvSpPr>
        <p:spPr>
          <a:xfrm rot="0" flipH="0" flipV="0">
            <a:off x="609600" y="695325"/>
            <a:ext cx="10972800" cy="714375"/>
          </a:xfrm>
          <a:prstGeom prst="rect"/>
        </p:spPr>
        <p:txBody>
          <a:bodyPr wrap="none" lIns="0" tIns="0" rIns="0" bIns="0"/>
          <a:p>
            <a:pPr>
              <a:lnSpc>
                <a:spcPct val="120000"/>
              </a:lnSpc>
            </a:pPr>
            <a:r>
              <a:rPr lang="zh-CN" sz="3900" b="1">
                <a:solidFill>
                  <a:srgbClr val="20344B"/>
                </a:solidFill>
                <a:latin typeface="Microsoft YaHei"/>
                <a:ea typeface="Microsoft YaHei"/>
              </a:rPr>
              <a:t>从榜单到证据</a:t>
            </a:r>
            <a:endParaRPr/>
          </a:p>
        </p:txBody>
      </p:sp>
      <p:sp>
        <p:nvSpPr>
          <p:cNvPr id="5" name="" descr="{&quot;isTemplate&quot;:true,&quot;type&quot;:&quot;text&quot;}"/>
          <p:cNvSpPr txBox="1"/>
          <p:nvPr/>
        </p:nvSpPr>
        <p:spPr>
          <a:xfrm rot="0" flipH="0" flipV="0">
            <a:off x="609600" y="1524000"/>
            <a:ext cx="10972800" cy="257175"/>
          </a:xfrm>
          <a:prstGeom prst="rect"/>
        </p:spPr>
        <p:txBody>
          <a:bodyPr wrap="none" lIns="0" tIns="0" rIns="0" bIns="0"/>
          <a:p>
            <a:pPr>
              <a:lnSpc>
                <a:spcPct val="100000"/>
              </a:lnSpc>
            </a:pPr>
            <a:r>
              <a:rPr lang="zh-CN" sz="1650">
                <a:solidFill>
                  <a:srgbClr val="546779"/>
                </a:solidFill>
                <a:latin typeface="Microsoft YaHei"/>
                <a:ea typeface="Microsoft YaHei"/>
              </a:rPr>
              <a:t>听到一个分数，先问六个问题</a:t>
            </a:r>
            <a:endParaRPr/>
          </a:p>
        </p:txBody>
      </p:sp>
      <p:sp>
        <p:nvSpPr>
          <p:cNvPr id="6" name=""/>
          <p:cNvSpPr/>
          <p:nvPr/>
        </p:nvSpPr>
        <p:spPr>
          <a:xfrm rot="0" flipH="0" flipV="0">
            <a:off x="609600" y="3076575"/>
            <a:ext cx="1476375" cy="1447800"/>
          </a:xfrm>
          <a:prstGeom prst="roundRect">
            <a:avLst>
              <a:gd name="adj" fmla="val 7895"/>
            </a:avLst>
          </a:prstGeom>
          <a:solidFill>
            <a:srgbClr val="EDF4FC"/>
          </a:solidFill>
          <a:ln/>
        </p:spPr>
        <p:txBody>
          <a:bodyPr/>
          <a:p/>
        </p:txBody>
      </p:sp>
      <p:sp>
        <p:nvSpPr>
          <p:cNvPr id="7" name="" descr="{&quot;isTemplate&quot;:true,&quot;type&quot;:&quot;text&quot;}"/>
          <p:cNvSpPr txBox="1"/>
          <p:nvPr/>
        </p:nvSpPr>
        <p:spPr>
          <a:xfrm rot="0" flipH="0" flipV="0">
            <a:off x="704850" y="3209925"/>
            <a:ext cx="1285875" cy="152400"/>
          </a:xfrm>
          <a:prstGeom prst="rect"/>
        </p:spPr>
        <p:txBody>
          <a:bodyPr wrap="none" lIns="0" tIns="0" rIns="0" bIns="0"/>
          <a:p>
            <a:pPr>
              <a:lnSpc>
                <a:spcPct val="100000"/>
              </a:lnSpc>
            </a:pPr>
            <a:r>
              <a:rPr lang="en-US" sz="975">
                <a:solidFill>
                  <a:srgbClr val="276FBF"/>
                </a:solidFill>
                <a:latin typeface="Microsoft YaHei"/>
                <a:ea typeface="Microsoft YaHei"/>
              </a:rPr>
              <a:t xml:space="preserve">① </a:t>
            </a:r>
            <a:r>
              <a:rPr lang="zh-CN" sz="975">
                <a:solidFill>
                  <a:srgbClr val="276FBF"/>
                </a:solidFill>
                <a:latin typeface="Microsoft YaHei"/>
                <a:ea typeface="Microsoft YaHei"/>
              </a:rPr>
              <a:t>方法</a:t>
            </a:r>
            <a:endParaRPr/>
          </a:p>
        </p:txBody>
      </p:sp>
      <p:sp>
        <p:nvSpPr>
          <p:cNvPr id="8" name="" descr="{&quot;isTemplate&quot;:true,&quot;type&quot;:&quot;text&quot;}"/>
          <p:cNvSpPr txBox="1"/>
          <p:nvPr/>
        </p:nvSpPr>
        <p:spPr>
          <a:xfrm rot="0" flipH="0" flipV="0">
            <a:off x="704850" y="3419475"/>
            <a:ext cx="1285875" cy="200025"/>
          </a:xfrm>
          <a:prstGeom prst="rect"/>
        </p:spPr>
        <p:txBody>
          <a:bodyPr wrap="none" lIns="0" tIns="0" rIns="0" bIns="0"/>
          <a:p>
            <a:pPr>
              <a:lnSpc>
                <a:spcPct val="100000"/>
              </a:lnSpc>
            </a:pPr>
            <a:r>
              <a:rPr lang="zh-CN" sz="1275" b="1">
                <a:solidFill>
                  <a:srgbClr val="20344B"/>
                </a:solidFill>
                <a:latin typeface="Microsoft YaHei"/>
                <a:ea typeface="Microsoft YaHei"/>
              </a:rPr>
              <a:t>怎么测</a:t>
            </a:r>
            <a:endParaRPr/>
          </a:p>
        </p:txBody>
      </p:sp>
      <p:sp>
        <p:nvSpPr>
          <p:cNvPr id="9" name="" descr="{&quot;isTemplate&quot;:true,&quot;type&quot;:&quot;text&quot;}"/>
          <p:cNvSpPr txBox="1"/>
          <p:nvPr/>
        </p:nvSpPr>
        <p:spPr>
          <a:xfrm rot="0" flipH="0" flipV="0">
            <a:off x="704850" y="3676650"/>
            <a:ext cx="1285875" cy="219075"/>
          </a:xfrm>
          <a:prstGeom prst="rect"/>
        </p:spPr>
        <p:txBody>
          <a:bodyPr wrap="none" lIns="0" tIns="0" rIns="0" bIns="0"/>
          <a:p>
            <a:pPr>
              <a:lnSpc>
                <a:spcPct val="145000"/>
              </a:lnSpc>
            </a:pPr>
            <a:r>
              <a:rPr lang="zh-CN" sz="975">
                <a:solidFill>
                  <a:srgbClr val="546779"/>
                </a:solidFill>
                <a:latin typeface="Microsoft YaHei"/>
                <a:ea typeface="Microsoft YaHei"/>
              </a:rPr>
              <a:t>题目</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作答</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评分</a:t>
            </a:r>
            <a:endParaRPr/>
          </a:p>
        </p:txBody>
      </p:sp>
      <p:sp>
        <p:nvSpPr>
          <p:cNvPr id="10" name="" descr="{&quot;isTemplate&quot;:true,&quot;type&quot;:&quot;text&quot;}"/>
          <p:cNvSpPr txBox="1"/>
          <p:nvPr/>
        </p:nvSpPr>
        <p:spPr>
          <a:xfrm rot="0" flipH="0" flipV="0">
            <a:off x="2238375" y="3619500"/>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11" name=""/>
          <p:cNvSpPr/>
          <p:nvPr/>
        </p:nvSpPr>
        <p:spPr>
          <a:xfrm rot="0" flipH="0" flipV="0">
            <a:off x="2505075" y="3076575"/>
            <a:ext cx="1476375" cy="1447800"/>
          </a:xfrm>
          <a:prstGeom prst="roundRect">
            <a:avLst>
              <a:gd name="adj" fmla="val 7895"/>
            </a:avLst>
          </a:prstGeom>
          <a:solidFill>
            <a:srgbClr val="EDF4FC"/>
          </a:solidFill>
          <a:ln/>
        </p:spPr>
        <p:txBody>
          <a:bodyPr/>
          <a:p/>
        </p:txBody>
      </p:sp>
      <p:sp>
        <p:nvSpPr>
          <p:cNvPr id="12" name="" descr="{&quot;isTemplate&quot;:true,&quot;type&quot;:&quot;text&quot;}"/>
          <p:cNvSpPr txBox="1"/>
          <p:nvPr/>
        </p:nvSpPr>
        <p:spPr>
          <a:xfrm rot="0" flipH="0" flipV="0">
            <a:off x="2600325" y="3209925"/>
            <a:ext cx="1285875" cy="152400"/>
          </a:xfrm>
          <a:prstGeom prst="rect"/>
        </p:spPr>
        <p:txBody>
          <a:bodyPr wrap="none" lIns="0" tIns="0" rIns="0" bIns="0"/>
          <a:p>
            <a:pPr>
              <a:lnSpc>
                <a:spcPct val="100000"/>
              </a:lnSpc>
            </a:pPr>
            <a:r>
              <a:rPr lang="en-US" sz="975">
                <a:solidFill>
                  <a:srgbClr val="276FBF"/>
                </a:solidFill>
                <a:latin typeface="Microsoft YaHei"/>
                <a:ea typeface="Microsoft YaHei"/>
              </a:rPr>
              <a:t xml:space="preserve">② </a:t>
            </a:r>
            <a:r>
              <a:rPr lang="zh-CN" sz="975">
                <a:solidFill>
                  <a:srgbClr val="276FBF"/>
                </a:solidFill>
                <a:latin typeface="Microsoft YaHei"/>
                <a:ea typeface="Microsoft YaHei"/>
              </a:rPr>
              <a:t>机构</a:t>
            </a:r>
            <a:endParaRPr/>
          </a:p>
        </p:txBody>
      </p:sp>
      <p:sp>
        <p:nvSpPr>
          <p:cNvPr id="13" name="" descr="{&quot;isTemplate&quot;:true,&quot;type&quot;:&quot;text&quot;}"/>
          <p:cNvSpPr txBox="1"/>
          <p:nvPr/>
        </p:nvSpPr>
        <p:spPr>
          <a:xfrm rot="0" flipH="0" flipV="0">
            <a:off x="2600325" y="3419475"/>
            <a:ext cx="1285875" cy="200025"/>
          </a:xfrm>
          <a:prstGeom prst="rect"/>
        </p:spPr>
        <p:txBody>
          <a:bodyPr wrap="none" lIns="0" tIns="0" rIns="0" bIns="0"/>
          <a:p>
            <a:pPr>
              <a:lnSpc>
                <a:spcPct val="100000"/>
              </a:lnSpc>
            </a:pPr>
            <a:r>
              <a:rPr lang="zh-CN" sz="1275" b="1">
                <a:solidFill>
                  <a:srgbClr val="20344B"/>
                </a:solidFill>
                <a:latin typeface="Microsoft YaHei"/>
                <a:ea typeface="Microsoft YaHei"/>
              </a:rPr>
              <a:t>谁来测</a:t>
            </a:r>
            <a:endParaRPr/>
          </a:p>
        </p:txBody>
      </p:sp>
      <p:sp>
        <p:nvSpPr>
          <p:cNvPr id="14" name="" descr="{&quot;isTemplate&quot;:true,&quot;type&quot;:&quot;text&quot;}"/>
          <p:cNvSpPr txBox="1"/>
          <p:nvPr/>
        </p:nvSpPr>
        <p:spPr>
          <a:xfrm rot="0" flipH="0" flipV="0">
            <a:off x="2600325" y="3676650"/>
            <a:ext cx="1285875" cy="219075"/>
          </a:xfrm>
          <a:prstGeom prst="rect"/>
        </p:spPr>
        <p:txBody>
          <a:bodyPr wrap="none" lIns="0" tIns="0" rIns="0" bIns="0"/>
          <a:p>
            <a:pPr>
              <a:lnSpc>
                <a:spcPct val="145000"/>
              </a:lnSpc>
            </a:pPr>
            <a:r>
              <a:rPr lang="zh-CN" sz="975">
                <a:solidFill>
                  <a:srgbClr val="546779"/>
                </a:solidFill>
                <a:latin typeface="Microsoft YaHei"/>
                <a:ea typeface="Microsoft YaHei"/>
              </a:rPr>
              <a:t>公开</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复现</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审计</a:t>
            </a:r>
            <a:endParaRPr/>
          </a:p>
        </p:txBody>
      </p:sp>
      <p:sp>
        <p:nvSpPr>
          <p:cNvPr id="15" name="" descr="{&quot;isTemplate&quot;:true,&quot;type&quot;:&quot;text&quot;}"/>
          <p:cNvSpPr txBox="1"/>
          <p:nvPr/>
        </p:nvSpPr>
        <p:spPr>
          <a:xfrm rot="0" flipH="0" flipV="0">
            <a:off x="4133850" y="3619500"/>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16" name=""/>
          <p:cNvSpPr/>
          <p:nvPr/>
        </p:nvSpPr>
        <p:spPr>
          <a:xfrm rot="0" flipH="0" flipV="0">
            <a:off x="4400550" y="3076575"/>
            <a:ext cx="1476375" cy="1447800"/>
          </a:xfrm>
          <a:prstGeom prst="roundRect">
            <a:avLst>
              <a:gd name="adj" fmla="val 7895"/>
            </a:avLst>
          </a:prstGeom>
          <a:solidFill>
            <a:srgbClr val="EDF4FC"/>
          </a:solidFill>
          <a:ln/>
        </p:spPr>
        <p:txBody>
          <a:bodyPr/>
          <a:p/>
        </p:txBody>
      </p:sp>
      <p:sp>
        <p:nvSpPr>
          <p:cNvPr id="17" name="" descr="{&quot;isTemplate&quot;:true,&quot;type&quot;:&quot;text&quot;}"/>
          <p:cNvSpPr txBox="1"/>
          <p:nvPr/>
        </p:nvSpPr>
        <p:spPr>
          <a:xfrm rot="0" flipH="0" flipV="0">
            <a:off x="4495800" y="3209925"/>
            <a:ext cx="1285875" cy="152400"/>
          </a:xfrm>
          <a:prstGeom prst="rect"/>
        </p:spPr>
        <p:txBody>
          <a:bodyPr wrap="none" lIns="0" tIns="0" rIns="0" bIns="0"/>
          <a:p>
            <a:pPr>
              <a:lnSpc>
                <a:spcPct val="100000"/>
              </a:lnSpc>
            </a:pPr>
            <a:r>
              <a:rPr lang="en-US" sz="975">
                <a:solidFill>
                  <a:srgbClr val="276FBF"/>
                </a:solidFill>
                <a:latin typeface="Microsoft YaHei"/>
                <a:ea typeface="Microsoft YaHei"/>
              </a:rPr>
              <a:t xml:space="preserve">③ </a:t>
            </a:r>
            <a:r>
              <a:rPr lang="zh-CN" sz="975">
                <a:solidFill>
                  <a:srgbClr val="276FBF"/>
                </a:solidFill>
                <a:latin typeface="Microsoft YaHei"/>
                <a:ea typeface="Microsoft YaHei"/>
              </a:rPr>
              <a:t>样本集</a:t>
            </a:r>
            <a:endParaRPr/>
          </a:p>
        </p:txBody>
      </p:sp>
      <p:sp>
        <p:nvSpPr>
          <p:cNvPr id="18" name="" descr="{&quot;isTemplate&quot;:true,&quot;type&quot;:&quot;text&quot;}"/>
          <p:cNvSpPr txBox="1"/>
          <p:nvPr/>
        </p:nvSpPr>
        <p:spPr>
          <a:xfrm rot="0" flipH="0" flipV="0">
            <a:off x="4495800" y="3419475"/>
            <a:ext cx="1285875" cy="200025"/>
          </a:xfrm>
          <a:prstGeom prst="rect"/>
        </p:spPr>
        <p:txBody>
          <a:bodyPr wrap="none" lIns="0" tIns="0" rIns="0" bIns="0"/>
          <a:p>
            <a:pPr>
              <a:lnSpc>
                <a:spcPct val="100000"/>
              </a:lnSpc>
            </a:pPr>
            <a:r>
              <a:rPr lang="zh-CN" sz="1275" b="1">
                <a:solidFill>
                  <a:srgbClr val="20344B"/>
                </a:solidFill>
                <a:latin typeface="Microsoft YaHei"/>
                <a:ea typeface="Microsoft YaHei"/>
              </a:rPr>
              <a:t>用什么题</a:t>
            </a:r>
            <a:endParaRPr/>
          </a:p>
        </p:txBody>
      </p:sp>
      <p:sp>
        <p:nvSpPr>
          <p:cNvPr id="19" name="" descr="{&quot;isTemplate&quot;:true,&quot;type&quot;:&quot;text&quot;}"/>
          <p:cNvSpPr txBox="1"/>
          <p:nvPr/>
        </p:nvSpPr>
        <p:spPr>
          <a:xfrm rot="0" flipH="0" flipV="0">
            <a:off x="4495800" y="3676650"/>
            <a:ext cx="1285875" cy="219075"/>
          </a:xfrm>
          <a:prstGeom prst="rect"/>
        </p:spPr>
        <p:txBody>
          <a:bodyPr wrap="none" lIns="0" tIns="0" rIns="0" bIns="0"/>
          <a:p>
            <a:pPr>
              <a:lnSpc>
                <a:spcPct val="145000"/>
              </a:lnSpc>
            </a:pPr>
            <a:r>
              <a:rPr lang="zh-CN" sz="975">
                <a:solidFill>
                  <a:srgbClr val="546779"/>
                </a:solidFill>
                <a:latin typeface="Microsoft YaHei"/>
                <a:ea typeface="Microsoft YaHei"/>
              </a:rPr>
              <a:t>题量</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领域</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分层</a:t>
            </a:r>
            <a:endParaRPr/>
          </a:p>
        </p:txBody>
      </p:sp>
      <p:sp>
        <p:nvSpPr>
          <p:cNvPr id="20" name="" descr="{&quot;isTemplate&quot;:true,&quot;type&quot;:&quot;text&quot;}"/>
          <p:cNvSpPr txBox="1"/>
          <p:nvPr/>
        </p:nvSpPr>
        <p:spPr>
          <a:xfrm rot="0" flipH="0" flipV="0">
            <a:off x="6029325" y="3619500"/>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21" name=""/>
          <p:cNvSpPr/>
          <p:nvPr/>
        </p:nvSpPr>
        <p:spPr>
          <a:xfrm rot="0" flipH="0" flipV="0">
            <a:off x="6296025" y="3076575"/>
            <a:ext cx="1476375" cy="1447800"/>
          </a:xfrm>
          <a:prstGeom prst="roundRect">
            <a:avLst>
              <a:gd name="adj" fmla="val 7895"/>
            </a:avLst>
          </a:prstGeom>
          <a:solidFill>
            <a:srgbClr val="F7F3E8"/>
          </a:solidFill>
          <a:ln/>
        </p:spPr>
        <p:txBody>
          <a:bodyPr/>
          <a:p/>
        </p:txBody>
      </p:sp>
      <p:sp>
        <p:nvSpPr>
          <p:cNvPr id="22" name="" descr="{&quot;isTemplate&quot;:true,&quot;type&quot;:&quot;text&quot;}"/>
          <p:cNvSpPr txBox="1"/>
          <p:nvPr/>
        </p:nvSpPr>
        <p:spPr>
          <a:xfrm rot="0" flipH="0" flipV="0">
            <a:off x="6391275" y="3209925"/>
            <a:ext cx="1285875" cy="152400"/>
          </a:xfrm>
          <a:prstGeom prst="rect"/>
        </p:spPr>
        <p:txBody>
          <a:bodyPr wrap="none" lIns="0" tIns="0" rIns="0" bIns="0"/>
          <a:p>
            <a:pPr>
              <a:lnSpc>
                <a:spcPct val="100000"/>
              </a:lnSpc>
            </a:pPr>
            <a:r>
              <a:rPr lang="en-US" sz="975">
                <a:solidFill>
                  <a:srgbClr val="546779"/>
                </a:solidFill>
                <a:latin typeface="Microsoft YaHei"/>
                <a:ea typeface="Microsoft YaHei"/>
              </a:rPr>
              <a:t xml:space="preserve">④ </a:t>
            </a:r>
            <a:r>
              <a:rPr lang="zh-CN" sz="975">
                <a:solidFill>
                  <a:srgbClr val="546779"/>
                </a:solidFill>
                <a:latin typeface="Microsoft YaHei"/>
                <a:ea typeface="Microsoft YaHei"/>
              </a:rPr>
              <a:t>真题</a:t>
            </a:r>
            <a:endParaRPr/>
          </a:p>
        </p:txBody>
      </p:sp>
      <p:sp>
        <p:nvSpPr>
          <p:cNvPr id="23" name="" descr="{&quot;isTemplate&quot;:true,&quot;type&quot;:&quot;text&quot;}"/>
          <p:cNvSpPr txBox="1"/>
          <p:nvPr/>
        </p:nvSpPr>
        <p:spPr>
          <a:xfrm rot="0" flipH="0" flipV="0">
            <a:off x="6391275" y="3419475"/>
            <a:ext cx="1285875" cy="200025"/>
          </a:xfrm>
          <a:prstGeom prst="rect"/>
        </p:spPr>
        <p:txBody>
          <a:bodyPr wrap="none" lIns="0" tIns="0" rIns="0" bIns="0"/>
          <a:p>
            <a:pPr>
              <a:lnSpc>
                <a:spcPct val="100000"/>
              </a:lnSpc>
            </a:pPr>
            <a:r>
              <a:rPr lang="zh-CN" sz="1275" b="1">
                <a:solidFill>
                  <a:srgbClr val="20344B"/>
                </a:solidFill>
                <a:latin typeface="Microsoft YaHei"/>
                <a:ea typeface="Microsoft YaHei"/>
              </a:rPr>
              <a:t>题长什么样</a:t>
            </a:r>
            <a:endParaRPr/>
          </a:p>
        </p:txBody>
      </p:sp>
      <p:sp>
        <p:nvSpPr>
          <p:cNvPr id="24" name="" descr="{&quot;isTemplate&quot;:true,&quot;type&quot;:&quot;text&quot;}"/>
          <p:cNvSpPr txBox="1"/>
          <p:nvPr/>
        </p:nvSpPr>
        <p:spPr>
          <a:xfrm rot="0" flipH="0" flipV="0">
            <a:off x="6391275" y="3676650"/>
            <a:ext cx="1285875" cy="219075"/>
          </a:xfrm>
          <a:prstGeom prst="rect"/>
        </p:spPr>
        <p:txBody>
          <a:bodyPr wrap="none" lIns="0" tIns="0" rIns="0" bIns="0"/>
          <a:p>
            <a:pPr>
              <a:lnSpc>
                <a:spcPct val="145000"/>
              </a:lnSpc>
            </a:pPr>
            <a:r>
              <a:rPr lang="zh-CN" sz="975">
                <a:solidFill>
                  <a:srgbClr val="546779"/>
                </a:solidFill>
                <a:latin typeface="Microsoft YaHei"/>
                <a:ea typeface="Microsoft YaHei"/>
              </a:rPr>
              <a:t>题干</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选项</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答案</a:t>
            </a:r>
            <a:endParaRPr/>
          </a:p>
        </p:txBody>
      </p:sp>
      <p:sp>
        <p:nvSpPr>
          <p:cNvPr id="25" name="" descr="{&quot;isTemplate&quot;:true,&quot;type&quot;:&quot;text&quot;}"/>
          <p:cNvSpPr txBox="1"/>
          <p:nvPr/>
        </p:nvSpPr>
        <p:spPr>
          <a:xfrm rot="0" flipH="0" flipV="0">
            <a:off x="7924800" y="3619500"/>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26" name=""/>
          <p:cNvSpPr/>
          <p:nvPr/>
        </p:nvSpPr>
        <p:spPr>
          <a:xfrm rot="0" flipH="0" flipV="0">
            <a:off x="8191500" y="3076575"/>
            <a:ext cx="1476375" cy="1447800"/>
          </a:xfrm>
          <a:prstGeom prst="roundRect">
            <a:avLst>
              <a:gd name="adj" fmla="val 7895"/>
            </a:avLst>
          </a:prstGeom>
          <a:solidFill>
            <a:srgbClr val="ECF7F2"/>
          </a:solidFill>
          <a:ln/>
        </p:spPr>
        <p:txBody>
          <a:bodyPr/>
          <a:p/>
        </p:txBody>
      </p:sp>
      <p:sp>
        <p:nvSpPr>
          <p:cNvPr id="27" name="" descr="{&quot;isTemplate&quot;:true,&quot;type&quot;:&quot;text&quot;}"/>
          <p:cNvSpPr txBox="1"/>
          <p:nvPr/>
        </p:nvSpPr>
        <p:spPr>
          <a:xfrm rot="0" flipH="0" flipV="0">
            <a:off x="8286750" y="3209925"/>
            <a:ext cx="1285875" cy="152400"/>
          </a:xfrm>
          <a:prstGeom prst="rect"/>
        </p:spPr>
        <p:txBody>
          <a:bodyPr wrap="none" lIns="0" tIns="0" rIns="0" bIns="0"/>
          <a:p>
            <a:pPr>
              <a:lnSpc>
                <a:spcPct val="100000"/>
              </a:lnSpc>
            </a:pPr>
            <a:r>
              <a:rPr lang="en-US" sz="975">
                <a:solidFill>
                  <a:srgbClr val="26816B"/>
                </a:solidFill>
                <a:latin typeface="Microsoft YaHei"/>
                <a:ea typeface="Microsoft YaHei"/>
              </a:rPr>
              <a:t xml:space="preserve">⑤ </a:t>
            </a:r>
            <a:r>
              <a:rPr lang="zh-CN" sz="975">
                <a:solidFill>
                  <a:srgbClr val="26816B"/>
                </a:solidFill>
                <a:latin typeface="Microsoft YaHei"/>
                <a:ea typeface="Microsoft YaHei"/>
              </a:rPr>
              <a:t>得分</a:t>
            </a:r>
            <a:endParaRPr/>
          </a:p>
        </p:txBody>
      </p:sp>
      <p:sp>
        <p:nvSpPr>
          <p:cNvPr id="28" name="" descr="{&quot;isTemplate&quot;:true,&quot;type&quot;:&quot;text&quot;}"/>
          <p:cNvSpPr txBox="1"/>
          <p:nvPr/>
        </p:nvSpPr>
        <p:spPr>
          <a:xfrm rot="0" flipH="0" flipV="0">
            <a:off x="8286750" y="3419475"/>
            <a:ext cx="1285875" cy="200025"/>
          </a:xfrm>
          <a:prstGeom prst="rect"/>
        </p:spPr>
        <p:txBody>
          <a:bodyPr wrap="none" lIns="0" tIns="0" rIns="0" bIns="0"/>
          <a:p>
            <a:pPr>
              <a:lnSpc>
                <a:spcPct val="100000"/>
              </a:lnSpc>
            </a:pPr>
            <a:r>
              <a:rPr lang="zh-CN" sz="1275" b="1">
                <a:solidFill>
                  <a:srgbClr val="20344B"/>
                </a:solidFill>
                <a:latin typeface="Microsoft YaHei"/>
                <a:ea typeface="Microsoft YaHei"/>
              </a:rPr>
              <a:t>谁分最高</a:t>
            </a:r>
            <a:endParaRPr/>
          </a:p>
        </p:txBody>
      </p:sp>
      <p:sp>
        <p:nvSpPr>
          <p:cNvPr id="29" name="" descr="{&quot;isTemplate&quot;:true,&quot;type&quot;:&quot;text&quot;}"/>
          <p:cNvSpPr txBox="1"/>
          <p:nvPr/>
        </p:nvSpPr>
        <p:spPr>
          <a:xfrm rot="0" flipH="0" flipV="0">
            <a:off x="8286750" y="3676650"/>
            <a:ext cx="1285875" cy="219075"/>
          </a:xfrm>
          <a:prstGeom prst="rect"/>
        </p:spPr>
        <p:txBody>
          <a:bodyPr wrap="none" lIns="0" tIns="0" rIns="0" bIns="0"/>
          <a:p>
            <a:pPr>
              <a:lnSpc>
                <a:spcPct val="145000"/>
              </a:lnSpc>
            </a:pPr>
            <a:r>
              <a:rPr lang="zh-CN" sz="975">
                <a:solidFill>
                  <a:srgbClr val="546779"/>
                </a:solidFill>
                <a:latin typeface="Microsoft YaHei"/>
                <a:ea typeface="Microsoft YaHei"/>
              </a:rPr>
              <a:t>协议</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快照</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来源</a:t>
            </a:r>
            <a:endParaRPr/>
          </a:p>
        </p:txBody>
      </p:sp>
      <p:sp>
        <p:nvSpPr>
          <p:cNvPr id="30" name="" descr="{&quot;isTemplate&quot;:true,&quot;type&quot;:&quot;text&quot;}"/>
          <p:cNvSpPr txBox="1"/>
          <p:nvPr/>
        </p:nvSpPr>
        <p:spPr>
          <a:xfrm rot="0" flipH="0" flipV="0">
            <a:off x="9820275" y="3619500"/>
            <a:ext cx="114300" cy="371475"/>
          </a:xfrm>
          <a:prstGeom prst="rect"/>
        </p:spPr>
        <p:txBody>
          <a:bodyPr wrap="none" lIns="0" tIns="0" rIns="0" bIns="0"/>
          <a:p>
            <a:pPr>
              <a:lnSpc>
                <a:spcPct val="100000"/>
              </a:lnSpc>
            </a:pPr>
            <a:r>
              <a:rPr sz="2400">
                <a:solidFill>
                  <a:srgbClr val="CB6B28"/>
                </a:solidFill>
                <a:latin typeface="Microsoft YaHei"/>
                <a:ea typeface="Microsoft YaHei"/>
              </a:rPr>
              <a:t>›</a:t>
            </a:r>
            <a:endParaRPr/>
          </a:p>
        </p:txBody>
      </p:sp>
      <p:sp>
        <p:nvSpPr>
          <p:cNvPr id="31" name=""/>
          <p:cNvSpPr/>
          <p:nvPr/>
        </p:nvSpPr>
        <p:spPr>
          <a:xfrm rot="0" flipH="0" flipV="0">
            <a:off x="10086975" y="3076575"/>
            <a:ext cx="1476375" cy="1447800"/>
          </a:xfrm>
          <a:prstGeom prst="roundRect">
            <a:avLst>
              <a:gd name="adj" fmla="val 7895"/>
            </a:avLst>
          </a:prstGeom>
          <a:solidFill>
            <a:srgbClr val="FFF4E6"/>
          </a:solidFill>
          <a:ln/>
        </p:spPr>
        <p:txBody>
          <a:bodyPr/>
          <a:p/>
        </p:txBody>
      </p:sp>
      <p:sp>
        <p:nvSpPr>
          <p:cNvPr id="32" name="" descr="{&quot;isTemplate&quot;:true,&quot;type&quot;:&quot;text&quot;}"/>
          <p:cNvSpPr txBox="1"/>
          <p:nvPr/>
        </p:nvSpPr>
        <p:spPr>
          <a:xfrm rot="0" flipH="0" flipV="0">
            <a:off x="10182225" y="3209925"/>
            <a:ext cx="1285875" cy="152400"/>
          </a:xfrm>
          <a:prstGeom prst="rect"/>
        </p:spPr>
        <p:txBody>
          <a:bodyPr wrap="none" lIns="0" tIns="0" rIns="0" bIns="0"/>
          <a:p>
            <a:pPr>
              <a:lnSpc>
                <a:spcPct val="100000"/>
              </a:lnSpc>
            </a:pPr>
            <a:r>
              <a:rPr lang="en-US" sz="975">
                <a:solidFill>
                  <a:srgbClr val="CB6B28"/>
                </a:solidFill>
                <a:latin typeface="Microsoft YaHei"/>
                <a:ea typeface="Microsoft YaHei"/>
              </a:rPr>
              <a:t xml:space="preserve">⑥ </a:t>
            </a:r>
            <a:r>
              <a:rPr lang="zh-CN" sz="975">
                <a:solidFill>
                  <a:srgbClr val="CB6B28"/>
                </a:solidFill>
                <a:latin typeface="Microsoft YaHei"/>
                <a:ea typeface="Microsoft YaHei"/>
              </a:rPr>
              <a:t>错题</a:t>
            </a:r>
            <a:endParaRPr/>
          </a:p>
        </p:txBody>
      </p:sp>
      <p:sp>
        <p:nvSpPr>
          <p:cNvPr id="33" name="" descr="{&quot;isTemplate&quot;:true,&quot;type&quot;:&quot;text&quot;}"/>
          <p:cNvSpPr txBox="1"/>
          <p:nvPr/>
        </p:nvSpPr>
        <p:spPr>
          <a:xfrm rot="0" flipH="0" flipV="0">
            <a:off x="10182225" y="3419475"/>
            <a:ext cx="1285875" cy="200025"/>
          </a:xfrm>
          <a:prstGeom prst="rect"/>
        </p:spPr>
        <p:txBody>
          <a:bodyPr wrap="none" lIns="0" tIns="0" rIns="0" bIns="0"/>
          <a:p>
            <a:pPr>
              <a:lnSpc>
                <a:spcPct val="100000"/>
              </a:lnSpc>
            </a:pPr>
            <a:r>
              <a:rPr lang="zh-CN" sz="1275" b="1">
                <a:solidFill>
                  <a:srgbClr val="CB6B28"/>
                </a:solidFill>
                <a:latin typeface="Microsoft YaHei"/>
                <a:ea typeface="Microsoft YaHei"/>
              </a:rPr>
              <a:t>还错在哪</a:t>
            </a:r>
            <a:endParaRPr/>
          </a:p>
        </p:txBody>
      </p:sp>
      <p:sp>
        <p:nvSpPr>
          <p:cNvPr id="34" name="" descr="{&quot;isTemplate&quot;:true,&quot;type&quot;:&quot;text&quot;}"/>
          <p:cNvSpPr txBox="1"/>
          <p:nvPr/>
        </p:nvSpPr>
        <p:spPr>
          <a:xfrm rot="0" flipH="0" flipV="0">
            <a:off x="10182225" y="3676650"/>
            <a:ext cx="1285875" cy="438150"/>
          </a:xfrm>
          <a:prstGeom prst="rect"/>
        </p:spPr>
        <p:txBody>
          <a:bodyPr wrap="square" lIns="0" tIns="0" rIns="0" bIns="0">
            <a:normAutofit/>
          </a:bodyPr>
          <a:p>
            <a:pPr>
              <a:lnSpc>
                <a:spcPct val="145000"/>
              </a:lnSpc>
            </a:pPr>
            <a:r>
              <a:rPr lang="zh-CN" sz="975">
                <a:solidFill>
                  <a:srgbClr val="CB6B28"/>
                </a:solidFill>
                <a:latin typeface="Microsoft YaHei"/>
                <a:ea typeface="Microsoft YaHei"/>
              </a:rPr>
              <a:t>真不会</a:t>
            </a:r>
            <a:r>
              <a:rPr lang="en-US" sz="975">
                <a:solidFill>
                  <a:srgbClr val="CB6B28"/>
                </a:solidFill>
                <a:latin typeface="Microsoft YaHei"/>
                <a:ea typeface="Microsoft YaHei"/>
              </a:rPr>
              <a:t xml:space="preserve"> · </a:t>
            </a:r>
            <a:r>
              <a:rPr lang="zh-CN" sz="975">
                <a:solidFill>
                  <a:srgbClr val="CB6B28"/>
                </a:solidFill>
                <a:latin typeface="Microsoft YaHei"/>
                <a:ea typeface="Microsoft YaHei"/>
              </a:rPr>
              <a:t>题目错</a:t>
            </a:r>
            <a:r>
              <a:rPr lang="en-US" sz="975">
                <a:solidFill>
                  <a:srgbClr val="CB6B28"/>
                </a:solidFill>
                <a:latin typeface="Microsoft YaHei"/>
                <a:ea typeface="Microsoft YaHei"/>
              </a:rPr>
              <a:t xml:space="preserve"> · </a:t>
            </a:r>
            <a:r>
              <a:rPr lang="zh-CN" sz="975">
                <a:solidFill>
                  <a:srgbClr val="CB6B28"/>
                </a:solidFill>
                <a:latin typeface="Microsoft YaHei"/>
                <a:ea typeface="Microsoft YaHei"/>
              </a:rPr>
              <a:t>学过头</a:t>
            </a:r>
            <a:endParaRPr/>
          </a:p>
        </p:txBody>
      </p:sp>
      <p:sp>
        <p:nvSpPr>
          <p:cNvPr id="35" name=""/>
          <p:cNvSpPr/>
          <p:nvPr/>
        </p:nvSpPr>
        <p:spPr>
          <a:xfrm rot="0" flipH="0" flipV="0">
            <a:off x="609600" y="4752975"/>
            <a:ext cx="10972800" cy="457200"/>
          </a:xfrm>
          <a:prstGeom prst="roundRect">
            <a:avLst>
              <a:gd name="adj" fmla="val 20833"/>
            </a:avLst>
          </a:prstGeom>
          <a:solidFill>
            <a:srgbClr val="F4F7FA"/>
          </a:solidFill>
          <a:ln/>
        </p:spPr>
        <p:txBody>
          <a:bodyPr/>
          <a:p/>
        </p:txBody>
      </p:sp>
      <p:sp>
        <p:nvSpPr>
          <p:cNvPr id="36" name="" descr="{&quot;isTemplate&quot;:true,&quot;type&quot;:&quot;text&quot;}"/>
          <p:cNvSpPr txBox="1"/>
          <p:nvPr/>
        </p:nvSpPr>
        <p:spPr>
          <a:xfrm rot="0" flipH="0" flipV="0">
            <a:off x="819150" y="4886325"/>
            <a:ext cx="7010400" cy="190500"/>
          </a:xfrm>
          <a:prstGeom prst="rect"/>
        </p:spPr>
        <p:txBody>
          <a:bodyPr wrap="none" lIns="0" tIns="0" rIns="0" bIns="0"/>
          <a:p>
            <a:pPr>
              <a:lnSpc>
                <a:spcPct val="100000"/>
              </a:lnSpc>
            </a:pPr>
            <a:r>
              <a:rPr lang="zh-CN" sz="1200">
                <a:solidFill>
                  <a:srgbClr val="546779"/>
                </a:solidFill>
                <a:latin typeface="Microsoft YaHei"/>
                <a:ea typeface="Microsoft YaHei"/>
              </a:rPr>
              <a:t>本节的全部数字都标了日期、条件与来源；不同站点不一致时，我如实给出差异，而不是挑一个最好看的</a:t>
            </a:r>
            <a:endParaRPr/>
          </a:p>
        </p:txBody>
      </p:sp>
      <p:sp>
        <p:nvSpPr>
          <p:cNvPr id="37"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38"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01 / 36</a:t>
            </a:r>
            <a:endParaRPr/>
          </a:p>
        </p:txBody>
      </p:sp>
    </p:spTree>
  </p:cSld>
</p:sld>
</file>

<file path=ppt/slides/slide2.xml><?xml version="1.0" encoding="utf-8"?>
<p:sld xmlns:p="http://schemas.openxmlformats.org/presentationml/2006/main" xmlns:a="http://schemas.openxmlformats.org/drawingml/2006/main">
  <p:cSld>
    <p:spTree>
      <p:nvGrpSpPr>
        <p:cNvPr id="376" name="" descr="&lt;Slide notes={`这个顺序不是随便排的。先讲方法，因为一个分数好不好用，取决于它怎么被评出来；选择题和开放写作，能证明的东西完全不同。&#10;&#10;再讲机构，因为同一个方法，执行的人不同，可信度也不同。有的机构公开全部题干和评分代码，有的只给一个数字。&#10;&#10;第三、四步是读样本集和读真题。我把它放在看得分前面，是想让大家先有手感：知道题目有多难、答案长什么样，再去看谁分高，才不会被一个百分比牵着走。&#10;&#10;最后两步是看领先模型和看错题。看错题往往比看得分更有收获，因为题目和答案本身的毛病，恰恰暴露了一个基准的边界在哪里。`}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1.4　目录&lt;/Text&gt;&#10;            &lt;Text style={{ fontSize: 34, fontWeight: 'bold', color: '#20344B' }}&gt;六步读懂一个基准&lt;/Text&gt;&#10;        &lt;/Box&gt;&#10;    &lt;/Box&gt;&#10;&#10;    &lt;Box style={{ height: 540, flexDirection: 'column', justifyContent: 'center', gap: 16 }}&gt;&#10;&#10;        &lt;Box style={{ flexDirection: 'row', alignItems: 'center', gap: 14, background: '#F7F3E8', borderRadius: 10, padding: '12px 22px' }}&gt;&#10;            &lt;Box style={{ width: 4, height: 30, background: '#276FBF' }} /&gt;&#10;            &lt;Text style={{ fontSize: 16, color: '#20344B', lineHeight: 1.5 }}&gt;先确定&quot;怎么测、谁来测、用什么题&quot;，再看&quot;谁分高、还错在哪&quot;&lt;/Text&gt;&#10;        &lt;/Box&gt;&#10;&#10;        &lt;Box style={{ flexDirection: 'row', gap: 16 }}&gt;&#10;            &lt;Box style={{ width: 568, height: 132, background: '#EDF4FC', borderRadius: 12, padding: '16px 20px', flexDirection: 'row', gap: 14, alignItems: 'flex-start' }}&gt;&#10;                &lt;Text style={{ fontSize: 32, fontWeight: 'bold', color: '#276FBF' }}&gt;①&lt;/Text&gt;&#10;                &lt;Box style={{ flexDirection: 'column', gap: 6 }}&gt;&#10;                    &lt;Text style={{ fontSize: 19, fontWeight: 'bold', color: '#20344B' }}&gt;评估方法简介&lt;/Text&gt;&#10;                    &lt;Text style={{ fontSize: 15, color: '#546779', lineHeight: 1.5 }}&gt;题目、作答与评分三要素；读分数先要补齐的四个条件&lt;/Text&gt;&#10;                &lt;/Box&gt;&#10;            &lt;/Box&gt;&#10;            &lt;Box style={{ width: 568, height: 132, background: '#EDF4FC', borderRadius: 12, padding: '16px 20px', flexDirection: 'row', gap: 14, alignItems: 'flex-start' }}&gt;&#10;                &lt;Text style={{ fontSize: 32, fontWeight: 'bold', color: '#276FBF' }}&gt;②&lt;/Text&gt;&#10;                &lt;Box style={{ flexDirection: 'column', gap: 6 }}&gt;&#10;                    &lt;Text style={{ fontSize: 19, fontWeight: 'bold', color: '#20344B' }}&gt;评估机构权威性简介&lt;/Text&gt;&#10;                    &lt;Text style={{ fontSize: 15, color: '#546779', lineHeight: 1.5 }}&gt;四类机构的差别；权威来自公开、复现、审计与专家背书&lt;/Text&gt;&#10;                &lt;/Box&gt;&#10;            &lt;/Box&gt;&#10;        &lt;/Box&gt;&#10;&#10;        &lt;Box style={{ flexDirection: 'row', gap: 16 }}&gt;&#10;            &lt;Box style={{ width: 568, height: 132, background: '#F7F3E8', borderRadius: 12, padding: '16px 20px', flexDirection: 'row', gap: 14, alignItems: 'flex-start' }}&gt;&#10;                &lt;Text style={{ fontSize: 32, fontWeight: 'bold', color: '#546779' }}&gt;③&lt;/Text&gt;&#10;                &lt;Box style={{ flexDirection: 'column', gap: 6 }}&gt;&#10;                    &lt;Text style={{ fontSize: 19, fontWeight: 'bold', color: '#20344B' }}&gt;样本集简介&lt;/Text&gt;&#10;                    &lt;Text style={{ fontSize: 15, color: '#546779', lineHeight: 1.5 }}&gt;六套样本集的题量与题型；题量、分层与版本更新&lt;/Text&gt;&#10;                &lt;/Box&gt;&#10;            &lt;/Box&gt;&#10;            &lt;Box style={{ width: 568, height: 132, background: '#F7F3E8', borderRadius: 12, padding: '16px 20px', flexDirection: 'row', gap: 14, alignItems: 'flex-start' }}&gt;&#10;                &lt;Text style={{ fontSize: 32, fontWeight: 'bold', color: '#546779' }}&gt;④&lt;/Text&gt;&#10;                &lt;Box style={{ flexDirection: 'column', gap: 6 }}&gt;&#10;                    &lt;Text style={{ fontSize: 19, fontWeight: 'bold', color: '#20344B' }}&gt;具体几条样本与答案展示&lt;/Text&gt;&#10;                    &lt;Text style={{ fontSize: 15, color: '#546779', lineHeight: 1.5 }}&gt;HLE、GPQA、MMLU-Pro、SWE-bench、ARC 的真实题面与答案&lt;/Text&gt;&#10;                &lt;/Box&gt;&#10;            &lt;/Box&gt;&#10;        &lt;/Box&gt;&#10;&#10;        &lt;Box style={{ flexDirection: 'row', gap: 16 }}&gt;&#10;            &lt;Box style={{ width: 568, height: 132, background: '#ECF7F2', borderRadius: 12, padding: '16px 20px', flexDirection: 'row', gap: 14, alignItems: 'flex-start' }}&gt;&#10;                &lt;Text style={{ fontSize: 32, fontWeight: 'bold', color: '#26816B' }}&gt;⑤&lt;/Text&gt;&#10;                &lt;Box style={{ flexDirection: 'column', gap: 6 }}&gt;&#10;                    &lt;Text style={{ fontSize: 19, fontWeight: 'bold', color: '#20344B' }}&gt;领先模型与得分&lt;/Text&gt;&#10;                    &lt;Text style={{ fontSize: 15, color: '#546779', lineHeight: 1.5 }}&gt;分数为何不一致；HLE、SWE-bench、FrontierMath 与人类基线&lt;/Text&gt;&#10;                &lt;/Box&gt;&#10;            &lt;/Box&gt;&#10;            &lt;Box style={{ width: 568, height: 132, background: '#FFF4E6', borderRadius: 12, padding: '16px 20px', flexDirection: 'row', gap: 14, alignItems: 'flex-start' }}&gt;&#10;                &lt;Text style={{ fontSize: 32, fontWeight: 'bold', color: '#CB6B28' }}&gt;⑥&lt;/Text&gt;&#10;                &lt;Box style={{ flexDirection: 'column', gap: 6 }}&gt;&#10;                    &lt;Text style={{ fontSize: 19, fontWeight: 'bold', color: '#CB6B28' }}&gt;尚未解决的错题&lt;/Text&gt;&#10;                    &lt;Text style={{ fontSize: 15, color: '#CB6B28', lineHeight: 1.5 }}&gt;真不会、题目有错、学过头三类失败；审计给出的缺陷比例&lt;/Text&gt;&#10;                &lt;/Box&gt;&#10;            &lt;/Box&gt;&#10;        &lt;/Box&gt;&#10;&#10;    &lt;/Box&gt;&#10;&#10;    &lt;Box style={{ height: 40, flexDirection: 'row', justifyContent: 'space-between', alignItems: 'center' }}&gt;&#10;        &lt;Text style={{ fontSize: 14, color: '#546779' }}&gt;1.4 从榜单到证据&lt;/Text&gt;&#10;        &lt;Text style={{ fontSize: 14, color: '#546779' }}&gt;02 / 36&lt;/Text&gt;&#10;    &lt;/Box&gt;&#10;&#10;&lt;/Slide&gt;&#10;"/>
        <p:cNvGrpSpPr/>
        <p:nvPr/>
      </p:nvGrpSpPr>
      <p:grpSpPr>
        <a:xfrm>
          <a:off x="0" y="0"/>
          <a:ext cx="0" cy="0"/>
          <a:chOff x="0" y="0"/>
          <a:chExt cx="0" cy="0"/>
        </a:xfrm>
      </p:grpSpPr>
      <p:sp>
        <p:nvSpPr>
          <p:cNvPr id="377" name=""/>
          <p:cNvSpPr/>
          <p:nvPr/>
        </p:nvSpPr>
        <p:spPr>
          <a:xfrm rot="0" flipH="0" flipV="0">
            <a:off x="0" y="0"/>
            <a:ext cx="12192000" cy="6858000"/>
          </a:xfrm>
          <a:prstGeom prst="rect">
            <a:avLst/>
          </a:prstGeom>
          <a:solidFill>
            <a:srgbClr val="FFFFFF"/>
          </a:solidFill>
          <a:ln/>
        </p:spPr>
        <p:txBody>
          <a:bodyPr/>
          <a:p/>
        </p:txBody>
      </p:sp>
      <p:sp>
        <p:nvSpPr>
          <p:cNvPr id="378" name=""/>
          <p:cNvSpPr/>
          <p:nvPr/>
        </p:nvSpPr>
        <p:spPr>
          <a:xfrm rot="0" flipH="0" flipV="0">
            <a:off x="609600" y="457200"/>
            <a:ext cx="38100" cy="419100"/>
          </a:xfrm>
          <a:prstGeom prst="rect">
            <a:avLst/>
          </a:prstGeom>
          <a:solidFill>
            <a:srgbClr val="276FBF"/>
          </a:solidFill>
          <a:ln/>
        </p:spPr>
        <p:txBody>
          <a:bodyPr/>
          <a:p/>
        </p:txBody>
      </p:sp>
      <p:sp>
        <p:nvSpPr>
          <p:cNvPr id="379" name="" descr="{&quot;isTemplate&quot;:true,&quot;type&quot;:&quot;text&quot;}"/>
          <p:cNvSpPr txBox="1"/>
          <p:nvPr/>
        </p:nvSpPr>
        <p:spPr>
          <a:xfrm rot="0" flipH="0" flipV="0">
            <a:off x="838200" y="371475"/>
            <a:ext cx="2590800" cy="161925"/>
          </a:xfrm>
          <a:prstGeom prst="rect"/>
        </p:spPr>
        <p:txBody>
          <a:bodyPr wrap="none" lIns="0" tIns="0" rIns="0" bIns="0"/>
          <a:p>
            <a:pPr>
              <a:lnSpc>
                <a:spcPct val="100000"/>
              </a:lnSpc>
            </a:pPr>
            <a:r>
              <a:rPr lang="en-US" sz="1050">
                <a:solidFill>
                  <a:srgbClr val="546779"/>
                </a:solidFill>
                <a:latin typeface="Microsoft YaHei"/>
                <a:ea typeface="Microsoft YaHei"/>
              </a:rPr>
              <a:t>1.4</a:t>
            </a:r>
            <a:r>
              <a:rPr lang="zh-CN" sz="1050">
                <a:solidFill>
                  <a:srgbClr val="546779"/>
                </a:solidFill>
                <a:latin typeface="Microsoft YaHei"/>
                <a:ea typeface="Microsoft YaHei"/>
              </a:rPr>
              <a:t>　目录</a:t>
            </a:r>
            <a:endParaRPr/>
          </a:p>
        </p:txBody>
      </p:sp>
      <p:sp>
        <p:nvSpPr>
          <p:cNvPr id="380" name="" descr="{&quot;isTemplate&quot;:true,&quot;type&quot;:&quot;text&quot;}"/>
          <p:cNvSpPr txBox="1"/>
          <p:nvPr/>
        </p:nvSpPr>
        <p:spPr>
          <a:xfrm rot="0" flipH="0" flipV="0">
            <a:off x="838200" y="571500"/>
            <a:ext cx="2590800" cy="390525"/>
          </a:xfrm>
          <a:prstGeom prst="rect"/>
        </p:spPr>
        <p:txBody>
          <a:bodyPr wrap="none" lIns="0" tIns="0" rIns="0" bIns="0"/>
          <a:p>
            <a:pPr>
              <a:lnSpc>
                <a:spcPct val="100000"/>
              </a:lnSpc>
            </a:pPr>
            <a:r>
              <a:rPr lang="zh-CN" sz="2550" b="1">
                <a:solidFill>
                  <a:srgbClr val="20344B"/>
                </a:solidFill>
                <a:latin typeface="Microsoft YaHei"/>
                <a:ea typeface="Microsoft YaHei"/>
              </a:rPr>
              <a:t>六步读懂一个基准</a:t>
            </a:r>
            <a:endParaRPr/>
          </a:p>
        </p:txBody>
      </p:sp>
      <p:sp>
        <p:nvSpPr>
          <p:cNvPr id="381" name=""/>
          <p:cNvSpPr/>
          <p:nvPr/>
        </p:nvSpPr>
        <p:spPr>
          <a:xfrm rot="0" flipH="0" flipV="0">
            <a:off x="609600" y="1343025"/>
            <a:ext cx="10972800" cy="514350"/>
          </a:xfrm>
          <a:prstGeom prst="roundRect">
            <a:avLst>
              <a:gd name="adj" fmla="val 18519"/>
            </a:avLst>
          </a:prstGeom>
          <a:solidFill>
            <a:srgbClr val="F7F3E8"/>
          </a:solidFill>
          <a:ln/>
        </p:spPr>
        <p:txBody>
          <a:bodyPr/>
          <a:p/>
        </p:txBody>
      </p:sp>
      <p:sp>
        <p:nvSpPr>
          <p:cNvPr id="382" name=""/>
          <p:cNvSpPr/>
          <p:nvPr/>
        </p:nvSpPr>
        <p:spPr>
          <a:xfrm rot="0" flipH="0" flipV="0">
            <a:off x="819150" y="1457325"/>
            <a:ext cx="38100" cy="285750"/>
          </a:xfrm>
          <a:prstGeom prst="rect">
            <a:avLst/>
          </a:prstGeom>
          <a:solidFill>
            <a:srgbClr val="276FBF"/>
          </a:solidFill>
          <a:ln/>
        </p:spPr>
        <p:txBody>
          <a:bodyPr/>
          <a:p/>
        </p:txBody>
      </p:sp>
      <p:sp>
        <p:nvSpPr>
          <p:cNvPr id="383" name="" descr="{&quot;isTemplate&quot;:true,&quot;type&quot;:&quot;text&quot;}"/>
          <p:cNvSpPr txBox="1"/>
          <p:nvPr/>
        </p:nvSpPr>
        <p:spPr>
          <a:xfrm rot="0" flipH="0" flipV="0">
            <a:off x="990600" y="1466850"/>
            <a:ext cx="4229100" cy="276225"/>
          </a:xfrm>
          <a:prstGeom prst="rect"/>
        </p:spPr>
        <p:txBody>
          <a:bodyPr wrap="none" lIns="0" tIns="0" rIns="0" bIns="0"/>
          <a:p>
            <a:pPr>
              <a:lnSpc>
                <a:spcPct val="150000"/>
              </a:lnSpc>
            </a:pPr>
            <a:r>
              <a:rPr lang="zh-CN" sz="1200">
                <a:solidFill>
                  <a:srgbClr val="20344B"/>
                </a:solidFill>
                <a:latin typeface="Microsoft YaHei"/>
                <a:ea typeface="Microsoft YaHei"/>
              </a:rPr>
              <a:t>先确定</a:t>
            </a:r>
            <a:r>
              <a:rPr lang="en-US" sz="1200">
                <a:solidFill>
                  <a:srgbClr val="20344B"/>
                </a:solidFill>
                <a:latin typeface="Microsoft YaHei"/>
                <a:ea typeface="Microsoft YaHei"/>
              </a:rPr>
              <a:t>"</a:t>
            </a:r>
            <a:r>
              <a:rPr lang="zh-CN" sz="1200">
                <a:solidFill>
                  <a:srgbClr val="20344B"/>
                </a:solidFill>
                <a:latin typeface="Microsoft YaHei"/>
                <a:ea typeface="Microsoft YaHei"/>
              </a:rPr>
              <a:t>怎么测、谁来测、用什么题</a:t>
            </a:r>
            <a:r>
              <a:rPr lang="en-US" sz="1200">
                <a:solidFill>
                  <a:srgbClr val="20344B"/>
                </a:solidFill>
                <a:latin typeface="Microsoft YaHei"/>
                <a:ea typeface="Microsoft YaHei"/>
              </a:rPr>
              <a:t>"</a:t>
            </a:r>
            <a:r>
              <a:rPr lang="zh-CN" sz="1200">
                <a:solidFill>
                  <a:srgbClr val="20344B"/>
                </a:solidFill>
                <a:latin typeface="Microsoft YaHei"/>
                <a:ea typeface="Microsoft YaHei"/>
              </a:rPr>
              <a:t>，再看</a:t>
            </a:r>
            <a:r>
              <a:rPr lang="en-US" sz="1200">
                <a:solidFill>
                  <a:srgbClr val="20344B"/>
                </a:solidFill>
                <a:latin typeface="Microsoft YaHei"/>
                <a:ea typeface="Microsoft YaHei"/>
              </a:rPr>
              <a:t>"</a:t>
            </a:r>
            <a:r>
              <a:rPr lang="zh-CN" sz="1200">
                <a:solidFill>
                  <a:srgbClr val="20344B"/>
                </a:solidFill>
                <a:latin typeface="Microsoft YaHei"/>
                <a:ea typeface="Microsoft YaHei"/>
              </a:rPr>
              <a:t>谁分高、还错在哪</a:t>
            </a:r>
            <a:r>
              <a:rPr lang="en-US" sz="1200">
                <a:solidFill>
                  <a:srgbClr val="20344B"/>
                </a:solidFill>
                <a:latin typeface="Microsoft YaHei"/>
                <a:ea typeface="Microsoft YaHei"/>
              </a:rPr>
              <a:t>"</a:t>
            </a:r>
            <a:endParaRPr/>
          </a:p>
        </p:txBody>
      </p:sp>
      <p:sp>
        <p:nvSpPr>
          <p:cNvPr id="384" name=""/>
          <p:cNvSpPr/>
          <p:nvPr/>
        </p:nvSpPr>
        <p:spPr>
          <a:xfrm rot="0" flipH="0" flipV="0">
            <a:off x="609600" y="2009775"/>
            <a:ext cx="5410200" cy="1257300"/>
          </a:xfrm>
          <a:prstGeom prst="roundRect">
            <a:avLst>
              <a:gd name="adj" fmla="val 9091"/>
            </a:avLst>
          </a:prstGeom>
          <a:solidFill>
            <a:srgbClr val="EDF4FC"/>
          </a:solidFill>
          <a:ln/>
        </p:spPr>
        <p:txBody>
          <a:bodyPr/>
          <a:p/>
        </p:txBody>
      </p:sp>
      <p:sp>
        <p:nvSpPr>
          <p:cNvPr id="385" name="" descr="{&quot;isTemplate&quot;:true,&quot;type&quot;:&quot;text&quot;}"/>
          <p:cNvSpPr txBox="1"/>
          <p:nvPr/>
        </p:nvSpPr>
        <p:spPr>
          <a:xfrm rot="0" flipH="0" flipV="0">
            <a:off x="800100" y="2162175"/>
            <a:ext cx="304800" cy="371475"/>
          </a:xfrm>
          <a:prstGeom prst="rect"/>
        </p:spPr>
        <p:txBody>
          <a:bodyPr wrap="none" lIns="0" tIns="0" rIns="0" bIns="0"/>
          <a:p>
            <a:pPr>
              <a:lnSpc>
                <a:spcPct val="100000"/>
              </a:lnSpc>
            </a:pPr>
            <a:r>
              <a:rPr sz="2400" b="1">
                <a:solidFill>
                  <a:srgbClr val="276FBF"/>
                </a:solidFill>
                <a:latin typeface="Microsoft YaHei"/>
                <a:ea typeface="Microsoft YaHei"/>
              </a:rPr>
              <a:t>①</a:t>
            </a:r>
            <a:endParaRPr/>
          </a:p>
        </p:txBody>
      </p:sp>
      <p:sp>
        <p:nvSpPr>
          <p:cNvPr id="386" name="" descr="{&quot;isTemplate&quot;:true,&quot;type&quot;:&quot;text&quot;}"/>
          <p:cNvSpPr txBox="1"/>
          <p:nvPr/>
        </p:nvSpPr>
        <p:spPr>
          <a:xfrm rot="0" flipH="0" flipV="0">
            <a:off x="1238250" y="2162175"/>
            <a:ext cx="3429000" cy="219075"/>
          </a:xfrm>
          <a:prstGeom prst="rect"/>
        </p:spPr>
        <p:txBody>
          <a:bodyPr wrap="none" lIns="0" tIns="0" rIns="0" bIns="0"/>
          <a:p>
            <a:pPr>
              <a:lnSpc>
                <a:spcPct val="100000"/>
              </a:lnSpc>
            </a:pPr>
            <a:r>
              <a:rPr lang="zh-CN" sz="1425" b="1">
                <a:solidFill>
                  <a:srgbClr val="20344B"/>
                </a:solidFill>
                <a:latin typeface="Microsoft YaHei"/>
                <a:ea typeface="Microsoft YaHei"/>
              </a:rPr>
              <a:t>评估方法简介</a:t>
            </a:r>
            <a:endParaRPr/>
          </a:p>
        </p:txBody>
      </p:sp>
      <p:sp>
        <p:nvSpPr>
          <p:cNvPr id="387" name="" descr="{&quot;isTemplate&quot;:true,&quot;type&quot;:&quot;text&quot;}"/>
          <p:cNvSpPr txBox="1"/>
          <p:nvPr/>
        </p:nvSpPr>
        <p:spPr>
          <a:xfrm rot="0" flipH="0" flipV="0">
            <a:off x="1238250" y="2438400"/>
            <a:ext cx="3429000" cy="257175"/>
          </a:xfrm>
          <a:prstGeom prst="rect"/>
        </p:spPr>
        <p:txBody>
          <a:bodyPr wrap="none" lIns="0" tIns="0" rIns="0" bIns="0"/>
          <a:p>
            <a:pPr>
              <a:lnSpc>
                <a:spcPct val="150000"/>
              </a:lnSpc>
            </a:pPr>
            <a:r>
              <a:rPr lang="zh-CN" sz="1125">
                <a:solidFill>
                  <a:srgbClr val="546779"/>
                </a:solidFill>
                <a:latin typeface="Microsoft YaHei"/>
                <a:ea typeface="Microsoft YaHei"/>
              </a:rPr>
              <a:t>题目、作答与评分三要素；读分数先要补齐的四个条件</a:t>
            </a:r>
            <a:endParaRPr/>
          </a:p>
        </p:txBody>
      </p:sp>
      <p:sp>
        <p:nvSpPr>
          <p:cNvPr id="388" name=""/>
          <p:cNvSpPr/>
          <p:nvPr/>
        </p:nvSpPr>
        <p:spPr>
          <a:xfrm rot="0" flipH="0" flipV="0">
            <a:off x="6172200" y="2009775"/>
            <a:ext cx="5410200" cy="1257300"/>
          </a:xfrm>
          <a:prstGeom prst="roundRect">
            <a:avLst>
              <a:gd name="adj" fmla="val 9091"/>
            </a:avLst>
          </a:prstGeom>
          <a:solidFill>
            <a:srgbClr val="EDF4FC"/>
          </a:solidFill>
          <a:ln/>
        </p:spPr>
        <p:txBody>
          <a:bodyPr/>
          <a:p/>
        </p:txBody>
      </p:sp>
      <p:sp>
        <p:nvSpPr>
          <p:cNvPr id="389" name="" descr="{&quot;isTemplate&quot;:true,&quot;type&quot;:&quot;text&quot;}"/>
          <p:cNvSpPr txBox="1"/>
          <p:nvPr/>
        </p:nvSpPr>
        <p:spPr>
          <a:xfrm rot="0" flipH="0" flipV="0">
            <a:off x="6362700" y="2162175"/>
            <a:ext cx="304800" cy="371475"/>
          </a:xfrm>
          <a:prstGeom prst="rect"/>
        </p:spPr>
        <p:txBody>
          <a:bodyPr wrap="none" lIns="0" tIns="0" rIns="0" bIns="0"/>
          <a:p>
            <a:pPr>
              <a:lnSpc>
                <a:spcPct val="100000"/>
              </a:lnSpc>
            </a:pPr>
            <a:r>
              <a:rPr sz="2400" b="1">
                <a:solidFill>
                  <a:srgbClr val="276FBF"/>
                </a:solidFill>
                <a:latin typeface="Microsoft YaHei"/>
                <a:ea typeface="Microsoft YaHei"/>
              </a:rPr>
              <a:t>②</a:t>
            </a:r>
            <a:endParaRPr/>
          </a:p>
        </p:txBody>
      </p:sp>
      <p:sp>
        <p:nvSpPr>
          <p:cNvPr id="390" name="" descr="{&quot;isTemplate&quot;:true,&quot;type&quot;:&quot;text&quot;}"/>
          <p:cNvSpPr txBox="1"/>
          <p:nvPr/>
        </p:nvSpPr>
        <p:spPr>
          <a:xfrm rot="0" flipH="0" flipV="0">
            <a:off x="6800850" y="2162175"/>
            <a:ext cx="3571875" cy="219075"/>
          </a:xfrm>
          <a:prstGeom prst="rect"/>
        </p:spPr>
        <p:txBody>
          <a:bodyPr wrap="none" lIns="0" tIns="0" rIns="0" bIns="0"/>
          <a:p>
            <a:pPr>
              <a:lnSpc>
                <a:spcPct val="100000"/>
              </a:lnSpc>
            </a:pPr>
            <a:r>
              <a:rPr lang="zh-CN" sz="1425" b="1">
                <a:solidFill>
                  <a:srgbClr val="20344B"/>
                </a:solidFill>
                <a:latin typeface="Microsoft YaHei"/>
                <a:ea typeface="Microsoft YaHei"/>
              </a:rPr>
              <a:t>评估机构权威性简介</a:t>
            </a:r>
            <a:endParaRPr/>
          </a:p>
        </p:txBody>
      </p:sp>
      <p:sp>
        <p:nvSpPr>
          <p:cNvPr id="391" name="" descr="{&quot;isTemplate&quot;:true,&quot;type&quot;:&quot;text&quot;}"/>
          <p:cNvSpPr txBox="1"/>
          <p:nvPr/>
        </p:nvSpPr>
        <p:spPr>
          <a:xfrm rot="0" flipH="0" flipV="0">
            <a:off x="6800850" y="2438400"/>
            <a:ext cx="3571875" cy="257175"/>
          </a:xfrm>
          <a:prstGeom prst="rect"/>
        </p:spPr>
        <p:txBody>
          <a:bodyPr wrap="none" lIns="0" tIns="0" rIns="0" bIns="0"/>
          <a:p>
            <a:pPr>
              <a:lnSpc>
                <a:spcPct val="150000"/>
              </a:lnSpc>
            </a:pPr>
            <a:r>
              <a:rPr lang="zh-CN" sz="1125">
                <a:solidFill>
                  <a:srgbClr val="546779"/>
                </a:solidFill>
                <a:latin typeface="Microsoft YaHei"/>
                <a:ea typeface="Microsoft YaHei"/>
              </a:rPr>
              <a:t>四类机构的差别；权威来自公开、复现、审计与专家背书</a:t>
            </a:r>
            <a:endParaRPr/>
          </a:p>
        </p:txBody>
      </p:sp>
      <p:sp>
        <p:nvSpPr>
          <p:cNvPr id="392" name=""/>
          <p:cNvSpPr/>
          <p:nvPr/>
        </p:nvSpPr>
        <p:spPr>
          <a:xfrm rot="0" flipH="0" flipV="0">
            <a:off x="609600" y="3419475"/>
            <a:ext cx="5410200" cy="1257300"/>
          </a:xfrm>
          <a:prstGeom prst="roundRect">
            <a:avLst>
              <a:gd name="adj" fmla="val 9091"/>
            </a:avLst>
          </a:prstGeom>
          <a:solidFill>
            <a:srgbClr val="F7F3E8"/>
          </a:solidFill>
          <a:ln/>
        </p:spPr>
        <p:txBody>
          <a:bodyPr/>
          <a:p/>
        </p:txBody>
      </p:sp>
      <p:sp>
        <p:nvSpPr>
          <p:cNvPr id="393" name="" descr="{&quot;isTemplate&quot;:true,&quot;type&quot;:&quot;text&quot;}"/>
          <p:cNvSpPr txBox="1"/>
          <p:nvPr/>
        </p:nvSpPr>
        <p:spPr>
          <a:xfrm rot="0" flipH="0" flipV="0">
            <a:off x="800100" y="3571875"/>
            <a:ext cx="304800" cy="371475"/>
          </a:xfrm>
          <a:prstGeom prst="rect"/>
        </p:spPr>
        <p:txBody>
          <a:bodyPr wrap="none" lIns="0" tIns="0" rIns="0" bIns="0"/>
          <a:p>
            <a:pPr>
              <a:lnSpc>
                <a:spcPct val="100000"/>
              </a:lnSpc>
            </a:pPr>
            <a:r>
              <a:rPr sz="2400" b="1">
                <a:solidFill>
                  <a:srgbClr val="546779"/>
                </a:solidFill>
                <a:latin typeface="Microsoft YaHei"/>
                <a:ea typeface="Microsoft YaHei"/>
              </a:rPr>
              <a:t>③</a:t>
            </a:r>
            <a:endParaRPr/>
          </a:p>
        </p:txBody>
      </p:sp>
      <p:sp>
        <p:nvSpPr>
          <p:cNvPr id="394" name="" descr="{&quot;isTemplate&quot;:true,&quot;type&quot;:&quot;text&quot;}"/>
          <p:cNvSpPr txBox="1"/>
          <p:nvPr/>
        </p:nvSpPr>
        <p:spPr>
          <a:xfrm rot="0" flipH="0" flipV="0">
            <a:off x="1238250" y="3571875"/>
            <a:ext cx="3143250" cy="219075"/>
          </a:xfrm>
          <a:prstGeom prst="rect"/>
        </p:spPr>
        <p:txBody>
          <a:bodyPr wrap="none" lIns="0" tIns="0" rIns="0" bIns="0"/>
          <a:p>
            <a:pPr>
              <a:lnSpc>
                <a:spcPct val="100000"/>
              </a:lnSpc>
            </a:pPr>
            <a:r>
              <a:rPr lang="zh-CN" sz="1425" b="1">
                <a:solidFill>
                  <a:srgbClr val="20344B"/>
                </a:solidFill>
                <a:latin typeface="Microsoft YaHei"/>
                <a:ea typeface="Microsoft YaHei"/>
              </a:rPr>
              <a:t>样本集简介</a:t>
            </a:r>
            <a:endParaRPr/>
          </a:p>
        </p:txBody>
      </p:sp>
      <p:sp>
        <p:nvSpPr>
          <p:cNvPr id="395" name="" descr="{&quot;isTemplate&quot;:true,&quot;type&quot;:&quot;text&quot;}"/>
          <p:cNvSpPr txBox="1"/>
          <p:nvPr/>
        </p:nvSpPr>
        <p:spPr>
          <a:xfrm rot="0" flipH="0" flipV="0">
            <a:off x="1238250" y="3848100"/>
            <a:ext cx="3143250" cy="257175"/>
          </a:xfrm>
          <a:prstGeom prst="rect"/>
        </p:spPr>
        <p:txBody>
          <a:bodyPr wrap="none" lIns="0" tIns="0" rIns="0" bIns="0"/>
          <a:p>
            <a:pPr>
              <a:lnSpc>
                <a:spcPct val="150000"/>
              </a:lnSpc>
            </a:pPr>
            <a:r>
              <a:rPr lang="zh-CN" sz="1125">
                <a:solidFill>
                  <a:srgbClr val="546779"/>
                </a:solidFill>
                <a:latin typeface="Microsoft YaHei"/>
                <a:ea typeface="Microsoft YaHei"/>
              </a:rPr>
              <a:t>六套样本集的题量与题型；题量、分层与版本更新</a:t>
            </a:r>
            <a:endParaRPr/>
          </a:p>
        </p:txBody>
      </p:sp>
      <p:sp>
        <p:nvSpPr>
          <p:cNvPr id="396" name=""/>
          <p:cNvSpPr/>
          <p:nvPr/>
        </p:nvSpPr>
        <p:spPr>
          <a:xfrm rot="0" flipH="0" flipV="0">
            <a:off x="6172200" y="3419475"/>
            <a:ext cx="5410200" cy="1257300"/>
          </a:xfrm>
          <a:prstGeom prst="roundRect">
            <a:avLst>
              <a:gd name="adj" fmla="val 9091"/>
            </a:avLst>
          </a:prstGeom>
          <a:solidFill>
            <a:srgbClr val="F7F3E8"/>
          </a:solidFill>
          <a:ln/>
        </p:spPr>
        <p:txBody>
          <a:bodyPr/>
          <a:p/>
        </p:txBody>
      </p:sp>
      <p:sp>
        <p:nvSpPr>
          <p:cNvPr id="397" name="" descr="{&quot;isTemplate&quot;:true,&quot;type&quot;:&quot;text&quot;}"/>
          <p:cNvSpPr txBox="1"/>
          <p:nvPr/>
        </p:nvSpPr>
        <p:spPr>
          <a:xfrm rot="0" flipH="0" flipV="0">
            <a:off x="6362700" y="3571875"/>
            <a:ext cx="304800" cy="371475"/>
          </a:xfrm>
          <a:prstGeom prst="rect"/>
        </p:spPr>
        <p:txBody>
          <a:bodyPr wrap="none" lIns="0" tIns="0" rIns="0" bIns="0"/>
          <a:p>
            <a:pPr>
              <a:lnSpc>
                <a:spcPct val="100000"/>
              </a:lnSpc>
            </a:pPr>
            <a:r>
              <a:rPr sz="2400" b="1">
                <a:solidFill>
                  <a:srgbClr val="546779"/>
                </a:solidFill>
                <a:latin typeface="Microsoft YaHei"/>
                <a:ea typeface="Microsoft YaHei"/>
              </a:rPr>
              <a:t>④</a:t>
            </a:r>
            <a:endParaRPr/>
          </a:p>
        </p:txBody>
      </p:sp>
      <p:sp>
        <p:nvSpPr>
          <p:cNvPr id="398" name="" descr="{&quot;isTemplate&quot;:true,&quot;type&quot;:&quot;text&quot;}"/>
          <p:cNvSpPr txBox="1"/>
          <p:nvPr/>
        </p:nvSpPr>
        <p:spPr>
          <a:xfrm rot="0" flipH="0" flipV="0">
            <a:off x="6800850" y="3571875"/>
            <a:ext cx="4257675" cy="219075"/>
          </a:xfrm>
          <a:prstGeom prst="rect"/>
        </p:spPr>
        <p:txBody>
          <a:bodyPr wrap="none" lIns="0" tIns="0" rIns="0" bIns="0"/>
          <a:p>
            <a:pPr>
              <a:lnSpc>
                <a:spcPct val="100000"/>
              </a:lnSpc>
            </a:pPr>
            <a:r>
              <a:rPr lang="zh-CN" sz="1425" b="1">
                <a:solidFill>
                  <a:srgbClr val="20344B"/>
                </a:solidFill>
                <a:latin typeface="Microsoft YaHei"/>
                <a:ea typeface="Microsoft YaHei"/>
              </a:rPr>
              <a:t>具体几条样本与答案展示</a:t>
            </a:r>
            <a:endParaRPr/>
          </a:p>
        </p:txBody>
      </p:sp>
      <p:sp>
        <p:nvSpPr>
          <p:cNvPr id="399" name="" descr="{&quot;isTemplate&quot;:true,&quot;type&quot;:&quot;text&quot;}"/>
          <p:cNvSpPr txBox="1"/>
          <p:nvPr/>
        </p:nvSpPr>
        <p:spPr>
          <a:xfrm rot="0" flipH="0" flipV="0">
            <a:off x="6800850" y="3848100"/>
            <a:ext cx="4257675" cy="257175"/>
          </a:xfrm>
          <a:prstGeom prst="rect"/>
        </p:spPr>
        <p:txBody>
          <a:bodyPr wrap="none" lIns="0" tIns="0" rIns="0" bIns="0"/>
          <a:p>
            <a:pPr>
              <a:lnSpc>
                <a:spcPct val="150000"/>
              </a:lnSpc>
            </a:pPr>
            <a:r>
              <a:rPr lang="en-US" sz="1125">
                <a:solidFill>
                  <a:srgbClr val="546779"/>
                </a:solidFill>
                <a:latin typeface="Microsoft YaHei"/>
                <a:ea typeface="Microsoft YaHei"/>
              </a:rPr>
              <a:t>HLE</a:t>
            </a:r>
            <a:r>
              <a:rPr lang="zh-CN" sz="1125">
                <a:solidFill>
                  <a:srgbClr val="546779"/>
                </a:solidFill>
                <a:latin typeface="Microsoft YaHei"/>
                <a:ea typeface="Microsoft YaHei"/>
              </a:rPr>
              <a:t>、</a:t>
            </a:r>
            <a:r>
              <a:rPr lang="en-US" sz="1125">
                <a:solidFill>
                  <a:srgbClr val="546779"/>
                </a:solidFill>
                <a:latin typeface="Microsoft YaHei"/>
                <a:ea typeface="Microsoft YaHei"/>
              </a:rPr>
              <a:t>GPQA</a:t>
            </a:r>
            <a:r>
              <a:rPr lang="zh-CN" sz="1125">
                <a:solidFill>
                  <a:srgbClr val="546779"/>
                </a:solidFill>
                <a:latin typeface="Microsoft YaHei"/>
                <a:ea typeface="Microsoft YaHei"/>
              </a:rPr>
              <a:t>、</a:t>
            </a:r>
            <a:r>
              <a:rPr lang="en-US" sz="1125">
                <a:solidFill>
                  <a:srgbClr val="546779"/>
                </a:solidFill>
                <a:latin typeface="Microsoft YaHei"/>
                <a:ea typeface="Microsoft YaHei"/>
              </a:rPr>
              <a:t>MMLU-Pro</a:t>
            </a:r>
            <a:r>
              <a:rPr lang="zh-CN" sz="1125">
                <a:solidFill>
                  <a:srgbClr val="546779"/>
                </a:solidFill>
                <a:latin typeface="Microsoft YaHei"/>
                <a:ea typeface="Microsoft YaHei"/>
              </a:rPr>
              <a:t>、</a:t>
            </a:r>
            <a:r>
              <a:rPr lang="en-US" sz="1125">
                <a:solidFill>
                  <a:srgbClr val="546779"/>
                </a:solidFill>
                <a:latin typeface="Microsoft YaHei"/>
                <a:ea typeface="Microsoft YaHei"/>
              </a:rPr>
              <a:t>SWE-bench</a:t>
            </a:r>
            <a:r>
              <a:rPr lang="zh-CN" sz="1125">
                <a:solidFill>
                  <a:srgbClr val="546779"/>
                </a:solidFill>
                <a:latin typeface="Microsoft YaHei"/>
                <a:ea typeface="Microsoft YaHei"/>
              </a:rPr>
              <a:t>、</a:t>
            </a:r>
            <a:r>
              <a:rPr lang="en-US" sz="1125">
                <a:solidFill>
                  <a:srgbClr val="546779"/>
                </a:solidFill>
                <a:latin typeface="Microsoft YaHei"/>
                <a:ea typeface="Microsoft YaHei"/>
              </a:rPr>
              <a:t xml:space="preserve">ARC </a:t>
            </a:r>
            <a:r>
              <a:rPr lang="zh-CN" sz="1125">
                <a:solidFill>
                  <a:srgbClr val="546779"/>
                </a:solidFill>
                <a:latin typeface="Microsoft YaHei"/>
                <a:ea typeface="Microsoft YaHei"/>
              </a:rPr>
              <a:t>的真实题面与答案</a:t>
            </a:r>
            <a:endParaRPr/>
          </a:p>
        </p:txBody>
      </p:sp>
      <p:sp>
        <p:nvSpPr>
          <p:cNvPr id="400" name=""/>
          <p:cNvSpPr/>
          <p:nvPr/>
        </p:nvSpPr>
        <p:spPr>
          <a:xfrm rot="0" flipH="0" flipV="0">
            <a:off x="609600" y="4829175"/>
            <a:ext cx="5410200" cy="1257300"/>
          </a:xfrm>
          <a:prstGeom prst="roundRect">
            <a:avLst>
              <a:gd name="adj" fmla="val 9091"/>
            </a:avLst>
          </a:prstGeom>
          <a:solidFill>
            <a:srgbClr val="ECF7F2"/>
          </a:solidFill>
          <a:ln/>
        </p:spPr>
        <p:txBody>
          <a:bodyPr/>
          <a:p/>
        </p:txBody>
      </p:sp>
      <p:sp>
        <p:nvSpPr>
          <p:cNvPr id="401" name="" descr="{&quot;isTemplate&quot;:true,&quot;type&quot;:&quot;text&quot;}"/>
          <p:cNvSpPr txBox="1"/>
          <p:nvPr/>
        </p:nvSpPr>
        <p:spPr>
          <a:xfrm rot="0" flipH="0" flipV="0">
            <a:off x="800100" y="4981575"/>
            <a:ext cx="304800" cy="371475"/>
          </a:xfrm>
          <a:prstGeom prst="rect"/>
        </p:spPr>
        <p:txBody>
          <a:bodyPr wrap="none" lIns="0" tIns="0" rIns="0" bIns="0"/>
          <a:p>
            <a:pPr>
              <a:lnSpc>
                <a:spcPct val="100000"/>
              </a:lnSpc>
            </a:pPr>
            <a:r>
              <a:rPr sz="2400" b="1">
                <a:solidFill>
                  <a:srgbClr val="26816B"/>
                </a:solidFill>
                <a:latin typeface="Microsoft YaHei"/>
                <a:ea typeface="Microsoft YaHei"/>
              </a:rPr>
              <a:t>⑤</a:t>
            </a:r>
            <a:endParaRPr/>
          </a:p>
        </p:txBody>
      </p:sp>
      <p:sp>
        <p:nvSpPr>
          <p:cNvPr id="402" name="" descr="{&quot;isTemplate&quot;:true,&quot;type&quot;:&quot;text&quot;}"/>
          <p:cNvSpPr txBox="1"/>
          <p:nvPr/>
        </p:nvSpPr>
        <p:spPr>
          <a:xfrm rot="0" flipH="0" flipV="0">
            <a:off x="1238250" y="4981575"/>
            <a:ext cx="4133850" cy="219075"/>
          </a:xfrm>
          <a:prstGeom prst="rect"/>
        </p:spPr>
        <p:txBody>
          <a:bodyPr wrap="none" lIns="0" tIns="0" rIns="0" bIns="0"/>
          <a:p>
            <a:pPr>
              <a:lnSpc>
                <a:spcPct val="100000"/>
              </a:lnSpc>
            </a:pPr>
            <a:r>
              <a:rPr lang="zh-CN" sz="1425" b="1">
                <a:solidFill>
                  <a:srgbClr val="20344B"/>
                </a:solidFill>
                <a:latin typeface="Microsoft YaHei"/>
                <a:ea typeface="Microsoft YaHei"/>
              </a:rPr>
              <a:t>领先模型与得分</a:t>
            </a:r>
            <a:endParaRPr/>
          </a:p>
        </p:txBody>
      </p:sp>
      <p:sp>
        <p:nvSpPr>
          <p:cNvPr id="403" name="" descr="{&quot;isTemplate&quot;:true,&quot;type&quot;:&quot;text&quot;}"/>
          <p:cNvSpPr txBox="1"/>
          <p:nvPr/>
        </p:nvSpPr>
        <p:spPr>
          <a:xfrm rot="0" flipH="0" flipV="0">
            <a:off x="1238250" y="5257800"/>
            <a:ext cx="4133850" cy="257175"/>
          </a:xfrm>
          <a:prstGeom prst="rect"/>
        </p:spPr>
        <p:txBody>
          <a:bodyPr wrap="none" lIns="0" tIns="0" rIns="0" bIns="0"/>
          <a:p>
            <a:pPr>
              <a:lnSpc>
                <a:spcPct val="150000"/>
              </a:lnSpc>
            </a:pPr>
            <a:r>
              <a:rPr lang="zh-CN" sz="1125">
                <a:solidFill>
                  <a:srgbClr val="546779"/>
                </a:solidFill>
                <a:latin typeface="Microsoft YaHei"/>
                <a:ea typeface="Microsoft YaHei"/>
              </a:rPr>
              <a:t>分数为何不一致；</a:t>
            </a:r>
            <a:r>
              <a:rPr lang="en-US" sz="1125">
                <a:solidFill>
                  <a:srgbClr val="546779"/>
                </a:solidFill>
                <a:latin typeface="Microsoft YaHei"/>
                <a:ea typeface="Microsoft YaHei"/>
              </a:rPr>
              <a:t>HLE</a:t>
            </a:r>
            <a:r>
              <a:rPr lang="zh-CN" sz="1125">
                <a:solidFill>
                  <a:srgbClr val="546779"/>
                </a:solidFill>
                <a:latin typeface="Microsoft YaHei"/>
                <a:ea typeface="Microsoft YaHei"/>
              </a:rPr>
              <a:t>、</a:t>
            </a:r>
            <a:r>
              <a:rPr lang="en-US" sz="1125">
                <a:solidFill>
                  <a:srgbClr val="546779"/>
                </a:solidFill>
                <a:latin typeface="Microsoft YaHei"/>
                <a:ea typeface="Microsoft YaHei"/>
              </a:rPr>
              <a:t>SWE-bench</a:t>
            </a:r>
            <a:r>
              <a:rPr lang="zh-CN" sz="1125">
                <a:solidFill>
                  <a:srgbClr val="546779"/>
                </a:solidFill>
                <a:latin typeface="Microsoft YaHei"/>
                <a:ea typeface="Microsoft YaHei"/>
              </a:rPr>
              <a:t>、</a:t>
            </a:r>
            <a:r>
              <a:rPr lang="en-US" sz="1125">
                <a:solidFill>
                  <a:srgbClr val="546779"/>
                </a:solidFill>
                <a:latin typeface="Microsoft YaHei"/>
                <a:ea typeface="Microsoft YaHei"/>
              </a:rPr>
              <a:t xml:space="preserve">FrontierMath </a:t>
            </a:r>
            <a:r>
              <a:rPr lang="zh-CN" sz="1125">
                <a:solidFill>
                  <a:srgbClr val="546779"/>
                </a:solidFill>
                <a:latin typeface="Microsoft YaHei"/>
                <a:ea typeface="Microsoft YaHei"/>
              </a:rPr>
              <a:t>与人类基线</a:t>
            </a:r>
            <a:endParaRPr/>
          </a:p>
        </p:txBody>
      </p:sp>
      <p:sp>
        <p:nvSpPr>
          <p:cNvPr id="404" name=""/>
          <p:cNvSpPr/>
          <p:nvPr/>
        </p:nvSpPr>
        <p:spPr>
          <a:xfrm rot="0" flipH="0" flipV="0">
            <a:off x="6172200" y="4829175"/>
            <a:ext cx="5410200" cy="1257300"/>
          </a:xfrm>
          <a:prstGeom prst="roundRect">
            <a:avLst>
              <a:gd name="adj" fmla="val 9091"/>
            </a:avLst>
          </a:prstGeom>
          <a:solidFill>
            <a:srgbClr val="FFF4E6"/>
          </a:solidFill>
          <a:ln/>
        </p:spPr>
        <p:txBody>
          <a:bodyPr/>
          <a:p/>
        </p:txBody>
      </p:sp>
      <p:sp>
        <p:nvSpPr>
          <p:cNvPr id="405" name="" descr="{&quot;isTemplate&quot;:true,&quot;type&quot;:&quot;text&quot;}"/>
          <p:cNvSpPr txBox="1"/>
          <p:nvPr/>
        </p:nvSpPr>
        <p:spPr>
          <a:xfrm rot="0" flipH="0" flipV="0">
            <a:off x="6362700" y="4981575"/>
            <a:ext cx="304800" cy="371475"/>
          </a:xfrm>
          <a:prstGeom prst="rect"/>
        </p:spPr>
        <p:txBody>
          <a:bodyPr wrap="none" lIns="0" tIns="0" rIns="0" bIns="0"/>
          <a:p>
            <a:pPr>
              <a:lnSpc>
                <a:spcPct val="100000"/>
              </a:lnSpc>
            </a:pPr>
            <a:r>
              <a:rPr sz="2400" b="1">
                <a:solidFill>
                  <a:srgbClr val="CB6B28"/>
                </a:solidFill>
                <a:latin typeface="Microsoft YaHei"/>
                <a:ea typeface="Microsoft YaHei"/>
              </a:rPr>
              <a:t>⑥</a:t>
            </a:r>
            <a:endParaRPr/>
          </a:p>
        </p:txBody>
      </p:sp>
      <p:sp>
        <p:nvSpPr>
          <p:cNvPr id="406" name="" descr="{&quot;isTemplate&quot;:true,&quot;type&quot;:&quot;text&quot;}"/>
          <p:cNvSpPr txBox="1"/>
          <p:nvPr/>
        </p:nvSpPr>
        <p:spPr>
          <a:xfrm rot="0" flipH="0" flipV="0">
            <a:off x="6800850" y="4981575"/>
            <a:ext cx="3714750" cy="219075"/>
          </a:xfrm>
          <a:prstGeom prst="rect"/>
        </p:spPr>
        <p:txBody>
          <a:bodyPr wrap="none" lIns="0" tIns="0" rIns="0" bIns="0"/>
          <a:p>
            <a:pPr>
              <a:lnSpc>
                <a:spcPct val="100000"/>
              </a:lnSpc>
            </a:pPr>
            <a:r>
              <a:rPr lang="zh-CN" sz="1425" b="1">
                <a:solidFill>
                  <a:srgbClr val="CB6B28"/>
                </a:solidFill>
                <a:latin typeface="Microsoft YaHei"/>
                <a:ea typeface="Microsoft YaHei"/>
              </a:rPr>
              <a:t>尚未解决的错题</a:t>
            </a:r>
            <a:endParaRPr/>
          </a:p>
        </p:txBody>
      </p:sp>
      <p:sp>
        <p:nvSpPr>
          <p:cNvPr id="407" name="" descr="{&quot;isTemplate&quot;:true,&quot;type&quot;:&quot;text&quot;}"/>
          <p:cNvSpPr txBox="1"/>
          <p:nvPr/>
        </p:nvSpPr>
        <p:spPr>
          <a:xfrm rot="0" flipH="0" flipV="0">
            <a:off x="6800850" y="5257800"/>
            <a:ext cx="3714750" cy="257175"/>
          </a:xfrm>
          <a:prstGeom prst="rect"/>
        </p:spPr>
        <p:txBody>
          <a:bodyPr wrap="none" lIns="0" tIns="0" rIns="0" bIns="0"/>
          <a:p>
            <a:pPr>
              <a:lnSpc>
                <a:spcPct val="150000"/>
              </a:lnSpc>
            </a:pPr>
            <a:r>
              <a:rPr lang="zh-CN" sz="1125">
                <a:solidFill>
                  <a:srgbClr val="CB6B28"/>
                </a:solidFill>
                <a:latin typeface="Microsoft YaHei"/>
                <a:ea typeface="Microsoft YaHei"/>
              </a:rPr>
              <a:t>真不会、题目有错、学过头三类失败；审计给出的缺陷比例</a:t>
            </a:r>
            <a:endParaRPr/>
          </a:p>
        </p:txBody>
      </p:sp>
      <p:sp>
        <p:nvSpPr>
          <p:cNvPr id="408"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409"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02 / 36</a:t>
            </a:r>
            <a:endParaRPr/>
          </a:p>
        </p:txBody>
      </p:sp>
    </p:spTree>
  </p:cSld>
</p:sld>
</file>

<file path=ppt/slides/slide3.xml><?xml version="1.0" encoding="utf-8"?>
<p:sld xmlns:p="http://schemas.openxmlformats.org/presentationml/2006/main" xmlns:a="http://schemas.openxmlformats.org/drawingml/2006/main">
  <p:cSld>
    <p:spTree>
      <p:nvGrpSpPr>
        <p:cNvPr id="758" name="" descr="&lt;Slide notes={`一个模型&quot;能做某件事&quot;，这句话由三部分组成。第一是题目：到底问了什么，是在几个选项里挑，还是自己写出一段话。第二是作答：它交出什么形式，一个字母、一段文字，还是一段能运行的代码。第三是评分：谁来判对错，按什么规则判。&#10;&#10;这三处任何一处不同，结论就不同。让模型在四个选项里挑一个，猜中概率就有四分之一；等它写一段开放文字，判分就很难自动化。&#10;&#10;所以开放日这类任务，不能只问能不能写通知，还要问交给谁判、按什么标准判。形式约束可以程序检查，可时间地点是否真实、语气是否适合居民，得另设检查。`}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①　1.4.1　评估方法：把&quot;能做&quot;拆成可核查的三件事&lt;/Text&gt;&#10;            &lt;Text style={{ fontSize: 34, fontWeight: 'bold', color: '#20344B' }}&gt;题目、作答、评分&lt;/Text&gt;&#10;        &lt;/Box&gt;&#10;    &lt;/Box&gt;&#10;&#10;    &lt;Box style={{ height: 540, flexDirection: 'column', justifyContent: 'center', gap: 16 }}&gt;&#10;&#10;        &lt;Box style={{ flexDirection: 'row', alignItems: 'center', gap: 14, background: '#F7F3E8', borderRadius: 10, padding: '12px 22px' }}&gt;&#10;            &lt;Box style={{ width: 4, height: 30, background: '#276FBF' }} /&gt;&#10;            &lt;Text style={{ fontSize: 16, color: '#20344B', lineHeight: 1.5 }}&gt;一个分数好不好用，先看它有没有交代清楚这三件事&lt;/Text&gt;&#10;        &lt;/Box&gt;&#10;&#10;        &lt;Box style={{ flexDirection: 'row', gap: 28, alignItems: 'flex-start' }}&gt;&#10;&#10;            &lt;Box style={{ width: 660, flexDirection: 'column', gap: 16 }}&gt;&#10;                &lt;Box style={{ width: 660, height: 116, background: '#EDF4FC', borderRadius: 10, padding: '16px 20px', flexDirection: 'row', alignItems: 'center', gap: 16 }}&gt;&#10;                    &lt;Box style={{ width: 4, height: 56, background: '#276FBF' }} /&gt;&#10;                    &lt;Text style={{ width: 110, fontSize: 19, fontWeight: 'bold', color: '#20344B' }}&gt;题目&lt;/Text&gt;&#10;                    &lt;Text style={{ width: 474, fontSize: 15, color: '#546779', lineHeight: 1.55 }}&gt;问了什么：从几个选项里挑一个，还是自己写出一段话，还是交一段能运行的代码&lt;/Text&gt;&#10;                &lt;/Box&gt;&#10;                &lt;Box style={{ width: 660, height: 116, background: '#ECF7F2', borderRadius: 10, padding: '16px 20px', flexDirection: 'row', alignItems: 'center', gap: 16 }}&gt;&#10;                    &lt;Box style={{ width: 4, height: 56, background: '#26816B' }} /&gt;&#10;                    &lt;Text style={{ width: 110, fontSize: 19, fontWeight: 'bold', color: '#20344B' }}&gt;作答&lt;/Text&gt;&#10;                    &lt;Text style={{ width: 474, fontSize: 15, color: '#546779', lineHeight: 1.55 }}&gt;交出什么：一个字母、一段文本、一次工具调用记录，还是仓库里的一次修改&lt;/Text&gt;&#10;                &lt;/Box&gt;&#10;                &lt;Box style={{ width: 660, height: 116, background: '#FFF4E6', borderRadius: 10, padding: '16px 20px', flexDirection: 'row', alignItems: 'center', gap: 16 }}&gt;&#10;                    &lt;Box style={{ width: 4, height: 56, background: '#CB6B28' }} /&gt;&#10;                    &lt;Text style={{ width: 110, fontSize: 19, fontWeight: 'bold', color: '#20344B' }}&gt;评分&lt;/Text&gt;&#10;                    &lt;Text style={{ width: 474, fontSize: 15, color: '#546779', lineHeight: 1.55 }}&gt;谁判对错：程序判分、测试是否通过，还是让人成对比较并写明理由&lt;/Text&gt;&#10;                &lt;/Box&gt;&#10;            &lt;/Box&gt;&#10;&#10;            &lt;Box style={{ width: 464, height: 380, background: '#F4F7FA', borderRadius: 12, padding: '18px 20px', flexDirection: 'column', gap: 12 }}&gt;&#10;                &lt;Text style={{ fontSize: 18, fontWeight: 'bold', color: '#20344B' }}&gt;同一个需求，证据不同&lt;/Text&gt;&#10;                &lt;Box style={{ flexDirection: 'row', gap: 12, alignItems: 'center' }}&gt;&#10;                    &lt;Box style={{ width: 92, height: 34, background: '#276FBF', borderRadius: 6, alignItems: 'center', justifyContent: 'center' }}&gt;&lt;Text style={{ fontSize: 14, color: '#FFFFFF' }}&gt;写通知&lt;/Text&gt;&lt;/Box&gt;&#10;                    &lt;Text style={{ width: 320, fontSize: 15, color: '#546779', lineHeight: 1.45 }}&gt;形式约束——可程序检查&lt;/Text&gt;&#10;                &lt;/Box&gt;&#10;                &lt;Box style={{ flexDirection: 'row', gap: 12, alignItems: 'center' }}&gt;&#10;                    &lt;Box style={{ width: 92, height: 34, background: '#276FBF', borderRadius: 6, alignItems: 'center', justifyContent: 'center' }}&gt;&lt;Text style={{ fontSize: 14, color: '#FFFFFF' }}&gt;算容量&lt;/Text&gt;&lt;/Box&gt;&#10;                    &lt;Text style={{ width: 320, fontSize: 15, color: '#546779', lineHeight: 1.45 }}&gt;数值约束——要独立程序复核&lt;/Text&gt;&#10;                &lt;/Box&gt;&#10;                &lt;Box style={{ flexDirection: 'row', gap: 12, alignItems: 'center' }}&gt;&#10;                    &lt;Box style={{ width: 92, height: 34, background: '#CB6B28', borderRadius: 6, alignItems: 'center', justifyContent: 'center' }}&gt;&lt;Text style={{ fontSize: 14, color: '#FFFFFF' }}&gt;查预约&lt;/Text&gt;&lt;/Box&gt;&#10;                    &lt;Text style={{ width: 320, fontSize: 15, color: '#546779', lineHeight: 1.45 }}&gt;状态变更——要工具执行记录&lt;/Text&gt;&#10;                &lt;/Box&gt;&#10;                &lt;Box style={{ flex: 1 }} /&gt;&#10;                &lt;Box style={{ flexDirection: 'row', gap: 12, alignItems: 'center', background: '#FFF4E6', borderRadius: 8, padding: '10px 14px' }}&gt;&#10;                    &lt;Box style={{ width: 4, height: 30, background: '#CB6B28' }} /&gt;&#10;                    &lt;Text style={{ fontSize: 14, color: '#CB6B28', lineHeight: 1.45 }}&gt;一句话全包的时刻，正是要拆开的时刻&lt;/Text&gt;&#10;                &lt;/Box&gt;&#10;            &lt;/Box&gt;&#10;&#10;        &lt;/Box&gt;&#10;&#10;    &lt;/Box&gt;&#10;&#10;    &lt;Box style={{ height: 40, flexDirection: 'row', justifyContent: 'space-between', alignItems: 'center' }}&gt;&#10;        &lt;Text style={{ fontSize: 14, color: '#546779' }}&gt;1.4 从榜单到证据&lt;/Text&gt;&#10;        &lt;Text style={{ fontSize: 14, color: '#546779' }}&gt;03 / 36&lt;/Text&gt;&#10;    &lt;/Box&gt;&#10;&#10;&lt;/Slide&gt;&#10;"/>
        <p:cNvGrpSpPr/>
        <p:nvPr/>
      </p:nvGrpSpPr>
      <p:grpSpPr>
        <a:xfrm>
          <a:off x="0" y="0"/>
          <a:ext cx="0" cy="0"/>
          <a:chOff x="0" y="0"/>
          <a:chExt cx="0" cy="0"/>
        </a:xfrm>
      </p:grpSpPr>
      <p:sp>
        <p:nvSpPr>
          <p:cNvPr id="759" name=""/>
          <p:cNvSpPr/>
          <p:nvPr/>
        </p:nvSpPr>
        <p:spPr>
          <a:xfrm rot="0" flipH="0" flipV="0">
            <a:off x="0" y="0"/>
            <a:ext cx="12192000" cy="6858000"/>
          </a:xfrm>
          <a:prstGeom prst="rect">
            <a:avLst/>
          </a:prstGeom>
          <a:solidFill>
            <a:srgbClr val="FFFFFF"/>
          </a:solidFill>
          <a:ln/>
        </p:spPr>
        <p:txBody>
          <a:bodyPr/>
          <a:p/>
        </p:txBody>
      </p:sp>
      <p:sp>
        <p:nvSpPr>
          <p:cNvPr id="760" name=""/>
          <p:cNvSpPr/>
          <p:nvPr/>
        </p:nvSpPr>
        <p:spPr>
          <a:xfrm rot="0" flipH="0" flipV="0">
            <a:off x="609600" y="457200"/>
            <a:ext cx="38100" cy="419100"/>
          </a:xfrm>
          <a:prstGeom prst="rect">
            <a:avLst/>
          </a:prstGeom>
          <a:solidFill>
            <a:srgbClr val="276FBF"/>
          </a:solidFill>
          <a:ln/>
        </p:spPr>
        <p:txBody>
          <a:bodyPr/>
          <a:p/>
        </p:txBody>
      </p:sp>
      <p:sp>
        <p:nvSpPr>
          <p:cNvPr id="761" name="" descr="{&quot;isTemplate&quot;:true,&quot;type&quot;:&quot;text&quot;}"/>
          <p:cNvSpPr txBox="1"/>
          <p:nvPr/>
        </p:nvSpPr>
        <p:spPr>
          <a:xfrm rot="0" flipH="0" flipV="0">
            <a:off x="838200" y="371475"/>
            <a:ext cx="3086100" cy="161925"/>
          </a:xfrm>
          <a:prstGeom prst="rect"/>
        </p:spPr>
        <p:txBody>
          <a:bodyPr wrap="none" lIns="0" tIns="0" rIns="0" bIns="0"/>
          <a:p>
            <a:pPr>
              <a:lnSpc>
                <a:spcPct val="100000"/>
              </a:lnSpc>
            </a:pPr>
            <a:r>
              <a:rPr lang="zh-CN" sz="1050">
                <a:solidFill>
                  <a:srgbClr val="546779"/>
                </a:solidFill>
                <a:latin typeface="Microsoft YaHei"/>
                <a:ea typeface="Microsoft YaHei"/>
              </a:rPr>
              <a:t>①　</a:t>
            </a:r>
            <a:r>
              <a:rPr lang="en-US" sz="1050">
                <a:solidFill>
                  <a:srgbClr val="546779"/>
                </a:solidFill>
                <a:latin typeface="Microsoft YaHei"/>
                <a:ea typeface="Microsoft YaHei"/>
              </a:rPr>
              <a:t>1.4.1</a:t>
            </a:r>
            <a:r>
              <a:rPr lang="zh-CN" sz="1050">
                <a:solidFill>
                  <a:srgbClr val="546779"/>
                </a:solidFill>
                <a:latin typeface="Microsoft YaHei"/>
                <a:ea typeface="Microsoft YaHei"/>
              </a:rPr>
              <a:t>　评估方法：把</a:t>
            </a:r>
            <a:r>
              <a:rPr lang="en-US" sz="1050">
                <a:solidFill>
                  <a:srgbClr val="546779"/>
                </a:solidFill>
                <a:latin typeface="Microsoft YaHei"/>
                <a:ea typeface="Microsoft YaHei"/>
              </a:rPr>
              <a:t>"</a:t>
            </a:r>
            <a:r>
              <a:rPr lang="zh-CN" sz="1050">
                <a:solidFill>
                  <a:srgbClr val="546779"/>
                </a:solidFill>
                <a:latin typeface="Microsoft YaHei"/>
                <a:ea typeface="Microsoft YaHei"/>
              </a:rPr>
              <a:t>能做</a:t>
            </a:r>
            <a:r>
              <a:rPr lang="en-US" sz="1050">
                <a:solidFill>
                  <a:srgbClr val="546779"/>
                </a:solidFill>
                <a:latin typeface="Microsoft YaHei"/>
                <a:ea typeface="Microsoft YaHei"/>
              </a:rPr>
              <a:t>"</a:t>
            </a:r>
            <a:r>
              <a:rPr lang="zh-CN" sz="1050">
                <a:solidFill>
                  <a:srgbClr val="546779"/>
                </a:solidFill>
                <a:latin typeface="Microsoft YaHei"/>
                <a:ea typeface="Microsoft YaHei"/>
              </a:rPr>
              <a:t>拆成可核查的三件事</a:t>
            </a:r>
            <a:endParaRPr/>
          </a:p>
        </p:txBody>
      </p:sp>
      <p:sp>
        <p:nvSpPr>
          <p:cNvPr id="762" name="" descr="{&quot;isTemplate&quot;:true,&quot;type&quot;:&quot;text&quot;}"/>
          <p:cNvSpPr txBox="1"/>
          <p:nvPr/>
        </p:nvSpPr>
        <p:spPr>
          <a:xfrm rot="0" flipH="0" flipV="0">
            <a:off x="838200" y="571500"/>
            <a:ext cx="3086100" cy="390525"/>
          </a:xfrm>
          <a:prstGeom prst="rect"/>
        </p:spPr>
        <p:txBody>
          <a:bodyPr wrap="none" lIns="0" tIns="0" rIns="0" bIns="0"/>
          <a:p>
            <a:pPr>
              <a:lnSpc>
                <a:spcPct val="100000"/>
              </a:lnSpc>
            </a:pPr>
            <a:r>
              <a:rPr lang="zh-CN" sz="2550" b="1">
                <a:solidFill>
                  <a:srgbClr val="20344B"/>
                </a:solidFill>
                <a:latin typeface="Microsoft YaHei"/>
                <a:ea typeface="Microsoft YaHei"/>
              </a:rPr>
              <a:t>题目、作答、评分</a:t>
            </a:r>
            <a:endParaRPr/>
          </a:p>
        </p:txBody>
      </p:sp>
      <p:sp>
        <p:nvSpPr>
          <p:cNvPr id="763" name=""/>
          <p:cNvSpPr/>
          <p:nvPr/>
        </p:nvSpPr>
        <p:spPr>
          <a:xfrm rot="0" flipH="0" flipV="0">
            <a:off x="609600" y="1571625"/>
            <a:ext cx="10972800" cy="514350"/>
          </a:xfrm>
          <a:prstGeom prst="roundRect">
            <a:avLst>
              <a:gd name="adj" fmla="val 18519"/>
            </a:avLst>
          </a:prstGeom>
          <a:solidFill>
            <a:srgbClr val="F7F3E8"/>
          </a:solidFill>
          <a:ln/>
        </p:spPr>
        <p:txBody>
          <a:bodyPr/>
          <a:p/>
        </p:txBody>
      </p:sp>
      <p:sp>
        <p:nvSpPr>
          <p:cNvPr id="764" name=""/>
          <p:cNvSpPr/>
          <p:nvPr/>
        </p:nvSpPr>
        <p:spPr>
          <a:xfrm rot="0" flipH="0" flipV="0">
            <a:off x="819150" y="1685925"/>
            <a:ext cx="38100" cy="285750"/>
          </a:xfrm>
          <a:prstGeom prst="rect">
            <a:avLst/>
          </a:prstGeom>
          <a:solidFill>
            <a:srgbClr val="276FBF"/>
          </a:solidFill>
          <a:ln/>
        </p:spPr>
        <p:txBody>
          <a:bodyPr/>
          <a:p/>
        </p:txBody>
      </p:sp>
      <p:sp>
        <p:nvSpPr>
          <p:cNvPr id="765" name="" descr="{&quot;isTemplate&quot;:true,&quot;type&quot;:&quot;text&quot;}"/>
          <p:cNvSpPr txBox="1"/>
          <p:nvPr/>
        </p:nvSpPr>
        <p:spPr>
          <a:xfrm rot="0" flipH="0" flipV="0">
            <a:off x="990600" y="1695450"/>
            <a:ext cx="3505200" cy="276225"/>
          </a:xfrm>
          <a:prstGeom prst="rect"/>
        </p:spPr>
        <p:txBody>
          <a:bodyPr wrap="none" lIns="0" tIns="0" rIns="0" bIns="0"/>
          <a:p>
            <a:pPr>
              <a:lnSpc>
                <a:spcPct val="150000"/>
              </a:lnSpc>
            </a:pPr>
            <a:r>
              <a:rPr lang="zh-CN" sz="1200">
                <a:solidFill>
                  <a:srgbClr val="20344B"/>
                </a:solidFill>
                <a:latin typeface="Microsoft YaHei"/>
                <a:ea typeface="Microsoft YaHei"/>
              </a:rPr>
              <a:t>一个分数好不好用，先看它有没有交代清楚这三件事</a:t>
            </a:r>
            <a:endParaRPr/>
          </a:p>
        </p:txBody>
      </p:sp>
      <p:sp>
        <p:nvSpPr>
          <p:cNvPr id="766" name=""/>
          <p:cNvSpPr/>
          <p:nvPr/>
        </p:nvSpPr>
        <p:spPr>
          <a:xfrm rot="0" flipH="0" flipV="0">
            <a:off x="609600" y="2238375"/>
            <a:ext cx="6286500" cy="1104900"/>
          </a:xfrm>
          <a:prstGeom prst="roundRect">
            <a:avLst>
              <a:gd name="adj" fmla="val 8621"/>
            </a:avLst>
          </a:prstGeom>
          <a:solidFill>
            <a:srgbClr val="EDF4FC"/>
          </a:solidFill>
          <a:ln/>
        </p:spPr>
        <p:txBody>
          <a:bodyPr/>
          <a:p/>
        </p:txBody>
      </p:sp>
      <p:sp>
        <p:nvSpPr>
          <p:cNvPr id="767" name=""/>
          <p:cNvSpPr/>
          <p:nvPr/>
        </p:nvSpPr>
        <p:spPr>
          <a:xfrm rot="0" flipH="0" flipV="0">
            <a:off x="800100" y="2524125"/>
            <a:ext cx="38100" cy="533400"/>
          </a:xfrm>
          <a:prstGeom prst="rect">
            <a:avLst/>
          </a:prstGeom>
          <a:solidFill>
            <a:srgbClr val="276FBF"/>
          </a:solidFill>
          <a:ln/>
        </p:spPr>
        <p:txBody>
          <a:bodyPr/>
          <a:p/>
        </p:txBody>
      </p:sp>
      <p:sp>
        <p:nvSpPr>
          <p:cNvPr id="768" name="" descr="{&quot;isTemplate&quot;:true,&quot;type&quot;:&quot;text&quot;}"/>
          <p:cNvSpPr txBox="1"/>
          <p:nvPr/>
        </p:nvSpPr>
        <p:spPr>
          <a:xfrm rot="0" flipH="0" flipV="0">
            <a:off x="990600" y="2686050"/>
            <a:ext cx="1047750" cy="219075"/>
          </a:xfrm>
          <a:prstGeom prst="rect"/>
        </p:spPr>
        <p:txBody>
          <a:bodyPr wrap="none" lIns="0" tIns="0" rIns="0" bIns="0"/>
          <a:p>
            <a:pPr>
              <a:lnSpc>
                <a:spcPct val="100000"/>
              </a:lnSpc>
            </a:pPr>
            <a:r>
              <a:rPr lang="zh-CN" sz="1425" b="1">
                <a:solidFill>
                  <a:srgbClr val="20344B"/>
                </a:solidFill>
                <a:latin typeface="Microsoft YaHei"/>
                <a:ea typeface="Microsoft YaHei"/>
              </a:rPr>
              <a:t>题目</a:t>
            </a:r>
            <a:endParaRPr/>
          </a:p>
        </p:txBody>
      </p:sp>
      <p:sp>
        <p:nvSpPr>
          <p:cNvPr id="769" name="" descr="{&quot;isTemplate&quot;:true,&quot;type&quot;:&quot;text&quot;}"/>
          <p:cNvSpPr txBox="1"/>
          <p:nvPr/>
        </p:nvSpPr>
        <p:spPr>
          <a:xfrm rot="0" flipH="0" flipV="0">
            <a:off x="2190750" y="2524125"/>
            <a:ext cx="4514850"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问了什么：从几个选项里挑一个，还是自己写出一段话，还是交一段能运行的代码</a:t>
            </a:r>
            <a:endParaRPr/>
          </a:p>
        </p:txBody>
      </p:sp>
      <p:sp>
        <p:nvSpPr>
          <p:cNvPr id="770" name=""/>
          <p:cNvSpPr/>
          <p:nvPr/>
        </p:nvSpPr>
        <p:spPr>
          <a:xfrm rot="0" flipH="0" flipV="0">
            <a:off x="609600" y="3495675"/>
            <a:ext cx="6286500" cy="1104900"/>
          </a:xfrm>
          <a:prstGeom prst="roundRect">
            <a:avLst>
              <a:gd name="adj" fmla="val 8621"/>
            </a:avLst>
          </a:prstGeom>
          <a:solidFill>
            <a:srgbClr val="ECF7F2"/>
          </a:solidFill>
          <a:ln/>
        </p:spPr>
        <p:txBody>
          <a:bodyPr/>
          <a:p/>
        </p:txBody>
      </p:sp>
      <p:sp>
        <p:nvSpPr>
          <p:cNvPr id="771" name=""/>
          <p:cNvSpPr/>
          <p:nvPr/>
        </p:nvSpPr>
        <p:spPr>
          <a:xfrm rot="0" flipH="0" flipV="0">
            <a:off x="800100" y="3781425"/>
            <a:ext cx="38100" cy="533400"/>
          </a:xfrm>
          <a:prstGeom prst="rect">
            <a:avLst/>
          </a:prstGeom>
          <a:solidFill>
            <a:srgbClr val="26816B"/>
          </a:solidFill>
          <a:ln/>
        </p:spPr>
        <p:txBody>
          <a:bodyPr/>
          <a:p/>
        </p:txBody>
      </p:sp>
      <p:sp>
        <p:nvSpPr>
          <p:cNvPr id="772" name="" descr="{&quot;isTemplate&quot;:true,&quot;type&quot;:&quot;text&quot;}"/>
          <p:cNvSpPr txBox="1"/>
          <p:nvPr/>
        </p:nvSpPr>
        <p:spPr>
          <a:xfrm rot="0" flipH="0" flipV="0">
            <a:off x="990600" y="3943350"/>
            <a:ext cx="1047750" cy="219075"/>
          </a:xfrm>
          <a:prstGeom prst="rect"/>
        </p:spPr>
        <p:txBody>
          <a:bodyPr wrap="none" lIns="0" tIns="0" rIns="0" bIns="0"/>
          <a:p>
            <a:pPr>
              <a:lnSpc>
                <a:spcPct val="100000"/>
              </a:lnSpc>
            </a:pPr>
            <a:r>
              <a:rPr lang="zh-CN" sz="1425" b="1">
                <a:solidFill>
                  <a:srgbClr val="20344B"/>
                </a:solidFill>
                <a:latin typeface="Microsoft YaHei"/>
                <a:ea typeface="Microsoft YaHei"/>
              </a:rPr>
              <a:t>作答</a:t>
            </a:r>
            <a:endParaRPr/>
          </a:p>
        </p:txBody>
      </p:sp>
      <p:sp>
        <p:nvSpPr>
          <p:cNvPr id="773" name="" descr="{&quot;isTemplate&quot;:true,&quot;type&quot;:&quot;text&quot;}"/>
          <p:cNvSpPr txBox="1"/>
          <p:nvPr/>
        </p:nvSpPr>
        <p:spPr>
          <a:xfrm rot="0" flipH="0" flipV="0">
            <a:off x="2190750" y="3781425"/>
            <a:ext cx="4514850"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交出什么：一个字母、一段文本、一次工具调用记录，还是仓库里的一次修改</a:t>
            </a:r>
            <a:endParaRPr/>
          </a:p>
        </p:txBody>
      </p:sp>
      <p:sp>
        <p:nvSpPr>
          <p:cNvPr id="774" name=""/>
          <p:cNvSpPr/>
          <p:nvPr/>
        </p:nvSpPr>
        <p:spPr>
          <a:xfrm rot="0" flipH="0" flipV="0">
            <a:off x="609600" y="4752975"/>
            <a:ext cx="6286500" cy="1104900"/>
          </a:xfrm>
          <a:prstGeom prst="roundRect">
            <a:avLst>
              <a:gd name="adj" fmla="val 8621"/>
            </a:avLst>
          </a:prstGeom>
          <a:solidFill>
            <a:srgbClr val="FFF4E6"/>
          </a:solidFill>
          <a:ln/>
        </p:spPr>
        <p:txBody>
          <a:bodyPr/>
          <a:p/>
        </p:txBody>
      </p:sp>
      <p:sp>
        <p:nvSpPr>
          <p:cNvPr id="775" name=""/>
          <p:cNvSpPr/>
          <p:nvPr/>
        </p:nvSpPr>
        <p:spPr>
          <a:xfrm rot="0" flipH="0" flipV="0">
            <a:off x="800100" y="5038725"/>
            <a:ext cx="38100" cy="533400"/>
          </a:xfrm>
          <a:prstGeom prst="rect">
            <a:avLst/>
          </a:prstGeom>
          <a:solidFill>
            <a:srgbClr val="CB6B28"/>
          </a:solidFill>
          <a:ln/>
        </p:spPr>
        <p:txBody>
          <a:bodyPr/>
          <a:p/>
        </p:txBody>
      </p:sp>
      <p:sp>
        <p:nvSpPr>
          <p:cNvPr id="776" name="" descr="{&quot;isTemplate&quot;:true,&quot;type&quot;:&quot;text&quot;}"/>
          <p:cNvSpPr txBox="1"/>
          <p:nvPr/>
        </p:nvSpPr>
        <p:spPr>
          <a:xfrm rot="0" flipH="0" flipV="0">
            <a:off x="990600" y="5200650"/>
            <a:ext cx="1047750" cy="219075"/>
          </a:xfrm>
          <a:prstGeom prst="rect"/>
        </p:spPr>
        <p:txBody>
          <a:bodyPr wrap="none" lIns="0" tIns="0" rIns="0" bIns="0"/>
          <a:p>
            <a:pPr>
              <a:lnSpc>
                <a:spcPct val="100000"/>
              </a:lnSpc>
            </a:pPr>
            <a:r>
              <a:rPr lang="zh-CN" sz="1425" b="1">
                <a:solidFill>
                  <a:srgbClr val="20344B"/>
                </a:solidFill>
                <a:latin typeface="Microsoft YaHei"/>
                <a:ea typeface="Microsoft YaHei"/>
              </a:rPr>
              <a:t>评分</a:t>
            </a:r>
            <a:endParaRPr/>
          </a:p>
        </p:txBody>
      </p:sp>
      <p:sp>
        <p:nvSpPr>
          <p:cNvPr id="777" name="" descr="{&quot;isTemplate&quot;:true,&quot;type&quot;:&quot;text&quot;}"/>
          <p:cNvSpPr txBox="1"/>
          <p:nvPr/>
        </p:nvSpPr>
        <p:spPr>
          <a:xfrm rot="0" flipH="0" flipV="0">
            <a:off x="2190750" y="5172075"/>
            <a:ext cx="4514850" cy="266700"/>
          </a:xfrm>
          <a:prstGeom prst="rect"/>
        </p:spPr>
        <p:txBody>
          <a:bodyPr wrap="none" lIns="0" tIns="0" rIns="0" bIns="0"/>
          <a:p>
            <a:pPr>
              <a:lnSpc>
                <a:spcPct val="155000"/>
              </a:lnSpc>
            </a:pPr>
            <a:r>
              <a:rPr lang="zh-CN" sz="1125">
                <a:solidFill>
                  <a:srgbClr val="546779"/>
                </a:solidFill>
                <a:latin typeface="Microsoft YaHei"/>
                <a:ea typeface="Microsoft YaHei"/>
              </a:rPr>
              <a:t>谁判对错：程序判分、测试是否通过，还是让人成对比较并写明理由</a:t>
            </a:r>
            <a:endParaRPr/>
          </a:p>
        </p:txBody>
      </p:sp>
      <p:sp>
        <p:nvSpPr>
          <p:cNvPr id="778" name=""/>
          <p:cNvSpPr/>
          <p:nvPr/>
        </p:nvSpPr>
        <p:spPr>
          <a:xfrm rot="0" flipH="0" flipV="0">
            <a:off x="7162800" y="2238375"/>
            <a:ext cx="4419600" cy="3619500"/>
          </a:xfrm>
          <a:prstGeom prst="roundRect">
            <a:avLst>
              <a:gd name="adj" fmla="val 3158"/>
            </a:avLst>
          </a:prstGeom>
          <a:solidFill>
            <a:srgbClr val="F4F7FA"/>
          </a:solidFill>
          <a:ln/>
        </p:spPr>
        <p:txBody>
          <a:bodyPr/>
          <a:p/>
        </p:txBody>
      </p:sp>
      <p:sp>
        <p:nvSpPr>
          <p:cNvPr id="779" name="" descr="{&quot;isTemplate&quot;:true,&quot;type&quot;:&quot;text&quot;}"/>
          <p:cNvSpPr txBox="1"/>
          <p:nvPr/>
        </p:nvSpPr>
        <p:spPr>
          <a:xfrm rot="0" flipH="0" flipV="0">
            <a:off x="7353300" y="2409825"/>
            <a:ext cx="4038600" cy="209550"/>
          </a:xfrm>
          <a:prstGeom prst="rect"/>
        </p:spPr>
        <p:txBody>
          <a:bodyPr wrap="none" lIns="0" tIns="0" rIns="0" bIns="0"/>
          <a:p>
            <a:pPr>
              <a:lnSpc>
                <a:spcPct val="100000"/>
              </a:lnSpc>
            </a:pPr>
            <a:r>
              <a:rPr lang="zh-CN" sz="1350" b="1">
                <a:solidFill>
                  <a:srgbClr val="20344B"/>
                </a:solidFill>
                <a:latin typeface="Microsoft YaHei"/>
                <a:ea typeface="Microsoft YaHei"/>
              </a:rPr>
              <a:t>同一个需求，证据不同</a:t>
            </a:r>
            <a:endParaRPr/>
          </a:p>
        </p:txBody>
      </p:sp>
      <p:sp>
        <p:nvSpPr>
          <p:cNvPr id="780" name=""/>
          <p:cNvSpPr/>
          <p:nvPr/>
        </p:nvSpPr>
        <p:spPr>
          <a:xfrm rot="0" flipH="0" flipV="0">
            <a:off x="7353300" y="2733675"/>
            <a:ext cx="876300" cy="323850"/>
          </a:xfrm>
          <a:prstGeom prst="roundRect">
            <a:avLst>
              <a:gd name="adj" fmla="val 17647"/>
            </a:avLst>
          </a:prstGeom>
          <a:solidFill>
            <a:srgbClr val="276FBF"/>
          </a:solidFill>
          <a:ln/>
        </p:spPr>
        <p:txBody>
          <a:bodyPr/>
          <a:p/>
        </p:txBody>
      </p:sp>
      <p:sp>
        <p:nvSpPr>
          <p:cNvPr id="781" name="" descr="{&quot;isTemplate&quot;:true,&quot;type&quot;:&quot;text&quot;}"/>
          <p:cNvSpPr txBox="1"/>
          <p:nvPr/>
        </p:nvSpPr>
        <p:spPr>
          <a:xfrm rot="0" flipH="0" flipV="0">
            <a:off x="7591425" y="2819400"/>
            <a:ext cx="400050" cy="161925"/>
          </a:xfrm>
          <a:prstGeom prst="rect"/>
        </p:spPr>
        <p:txBody>
          <a:bodyPr wrap="none" lIns="0" tIns="0" rIns="0" bIns="0"/>
          <a:p>
            <a:pPr>
              <a:lnSpc>
                <a:spcPct val="100000"/>
              </a:lnSpc>
            </a:pPr>
            <a:r>
              <a:rPr lang="zh-CN" sz="1050">
                <a:solidFill>
                  <a:srgbClr val="FFFFFF"/>
                </a:solidFill>
                <a:latin typeface="Microsoft YaHei"/>
                <a:ea typeface="Microsoft YaHei"/>
              </a:rPr>
              <a:t>写通知</a:t>
            </a:r>
            <a:endParaRPr/>
          </a:p>
        </p:txBody>
      </p:sp>
      <p:sp>
        <p:nvSpPr>
          <p:cNvPr id="782" name="" descr="{&quot;isTemplate&quot;:true,&quot;type&quot;:&quot;text&quot;}"/>
          <p:cNvSpPr txBox="1"/>
          <p:nvPr/>
        </p:nvSpPr>
        <p:spPr>
          <a:xfrm rot="0" flipH="0" flipV="0">
            <a:off x="8343900" y="2771775"/>
            <a:ext cx="3048000" cy="257175"/>
          </a:xfrm>
          <a:prstGeom prst="rect"/>
        </p:spPr>
        <p:txBody>
          <a:bodyPr wrap="none" lIns="0" tIns="0" rIns="0" bIns="0"/>
          <a:p>
            <a:pPr>
              <a:lnSpc>
                <a:spcPct val="145000"/>
              </a:lnSpc>
            </a:pPr>
            <a:r>
              <a:rPr lang="zh-CN" sz="1125">
                <a:solidFill>
                  <a:srgbClr val="546779"/>
                </a:solidFill>
                <a:latin typeface="Microsoft YaHei"/>
                <a:ea typeface="Microsoft YaHei"/>
              </a:rPr>
              <a:t>形式约束——可程序检查</a:t>
            </a:r>
            <a:endParaRPr/>
          </a:p>
        </p:txBody>
      </p:sp>
      <p:sp>
        <p:nvSpPr>
          <p:cNvPr id="783" name=""/>
          <p:cNvSpPr/>
          <p:nvPr/>
        </p:nvSpPr>
        <p:spPr>
          <a:xfrm rot="0" flipH="0" flipV="0">
            <a:off x="7353300" y="3171825"/>
            <a:ext cx="876300" cy="323850"/>
          </a:xfrm>
          <a:prstGeom prst="roundRect">
            <a:avLst>
              <a:gd name="adj" fmla="val 17647"/>
            </a:avLst>
          </a:prstGeom>
          <a:solidFill>
            <a:srgbClr val="276FBF"/>
          </a:solidFill>
          <a:ln/>
        </p:spPr>
        <p:txBody>
          <a:bodyPr/>
          <a:p/>
        </p:txBody>
      </p:sp>
      <p:sp>
        <p:nvSpPr>
          <p:cNvPr id="784" name="" descr="{&quot;isTemplate&quot;:true,&quot;type&quot;:&quot;text&quot;}"/>
          <p:cNvSpPr txBox="1"/>
          <p:nvPr/>
        </p:nvSpPr>
        <p:spPr>
          <a:xfrm rot="0" flipH="0" flipV="0">
            <a:off x="7591425" y="3257550"/>
            <a:ext cx="400050" cy="161925"/>
          </a:xfrm>
          <a:prstGeom prst="rect"/>
        </p:spPr>
        <p:txBody>
          <a:bodyPr wrap="none" lIns="0" tIns="0" rIns="0" bIns="0"/>
          <a:p>
            <a:pPr>
              <a:lnSpc>
                <a:spcPct val="100000"/>
              </a:lnSpc>
            </a:pPr>
            <a:r>
              <a:rPr lang="zh-CN" sz="1050">
                <a:solidFill>
                  <a:srgbClr val="FFFFFF"/>
                </a:solidFill>
                <a:latin typeface="Microsoft YaHei"/>
                <a:ea typeface="Microsoft YaHei"/>
              </a:rPr>
              <a:t>算容量</a:t>
            </a:r>
            <a:endParaRPr/>
          </a:p>
        </p:txBody>
      </p:sp>
      <p:sp>
        <p:nvSpPr>
          <p:cNvPr id="785" name="" descr="{&quot;isTemplate&quot;:true,&quot;type&quot;:&quot;text&quot;}"/>
          <p:cNvSpPr txBox="1"/>
          <p:nvPr/>
        </p:nvSpPr>
        <p:spPr>
          <a:xfrm rot="0" flipH="0" flipV="0">
            <a:off x="8343900" y="3209925"/>
            <a:ext cx="3048000" cy="257175"/>
          </a:xfrm>
          <a:prstGeom prst="rect"/>
        </p:spPr>
        <p:txBody>
          <a:bodyPr wrap="none" lIns="0" tIns="0" rIns="0" bIns="0"/>
          <a:p>
            <a:pPr>
              <a:lnSpc>
                <a:spcPct val="145000"/>
              </a:lnSpc>
            </a:pPr>
            <a:r>
              <a:rPr lang="zh-CN" sz="1125">
                <a:solidFill>
                  <a:srgbClr val="546779"/>
                </a:solidFill>
                <a:latin typeface="Microsoft YaHei"/>
                <a:ea typeface="Microsoft YaHei"/>
              </a:rPr>
              <a:t>数值约束——要独立程序复核</a:t>
            </a:r>
            <a:endParaRPr/>
          </a:p>
        </p:txBody>
      </p:sp>
      <p:sp>
        <p:nvSpPr>
          <p:cNvPr id="786" name=""/>
          <p:cNvSpPr/>
          <p:nvPr/>
        </p:nvSpPr>
        <p:spPr>
          <a:xfrm rot="0" flipH="0" flipV="0">
            <a:off x="7353300" y="3609975"/>
            <a:ext cx="876300" cy="323850"/>
          </a:xfrm>
          <a:prstGeom prst="roundRect">
            <a:avLst>
              <a:gd name="adj" fmla="val 17647"/>
            </a:avLst>
          </a:prstGeom>
          <a:solidFill>
            <a:srgbClr val="CB6B28"/>
          </a:solidFill>
          <a:ln/>
        </p:spPr>
        <p:txBody>
          <a:bodyPr/>
          <a:p/>
        </p:txBody>
      </p:sp>
      <p:sp>
        <p:nvSpPr>
          <p:cNvPr id="787" name="" descr="{&quot;isTemplate&quot;:true,&quot;type&quot;:&quot;text&quot;}"/>
          <p:cNvSpPr txBox="1"/>
          <p:nvPr/>
        </p:nvSpPr>
        <p:spPr>
          <a:xfrm rot="0" flipH="0" flipV="0">
            <a:off x="7591425" y="3695700"/>
            <a:ext cx="400050" cy="161925"/>
          </a:xfrm>
          <a:prstGeom prst="rect"/>
        </p:spPr>
        <p:txBody>
          <a:bodyPr wrap="none" lIns="0" tIns="0" rIns="0" bIns="0"/>
          <a:p>
            <a:pPr>
              <a:lnSpc>
                <a:spcPct val="100000"/>
              </a:lnSpc>
            </a:pPr>
            <a:r>
              <a:rPr lang="zh-CN" sz="1050">
                <a:solidFill>
                  <a:srgbClr val="FFFFFF"/>
                </a:solidFill>
                <a:latin typeface="Microsoft YaHei"/>
                <a:ea typeface="Microsoft YaHei"/>
              </a:rPr>
              <a:t>查预约</a:t>
            </a:r>
            <a:endParaRPr/>
          </a:p>
        </p:txBody>
      </p:sp>
      <p:sp>
        <p:nvSpPr>
          <p:cNvPr id="788" name="" descr="{&quot;isTemplate&quot;:true,&quot;type&quot;:&quot;text&quot;}"/>
          <p:cNvSpPr txBox="1"/>
          <p:nvPr/>
        </p:nvSpPr>
        <p:spPr>
          <a:xfrm rot="0" flipH="0" flipV="0">
            <a:off x="8343900" y="3648075"/>
            <a:ext cx="3048000" cy="257175"/>
          </a:xfrm>
          <a:prstGeom prst="rect"/>
        </p:spPr>
        <p:txBody>
          <a:bodyPr wrap="none" lIns="0" tIns="0" rIns="0" bIns="0"/>
          <a:p>
            <a:pPr>
              <a:lnSpc>
                <a:spcPct val="145000"/>
              </a:lnSpc>
            </a:pPr>
            <a:r>
              <a:rPr lang="zh-CN" sz="1125">
                <a:solidFill>
                  <a:srgbClr val="546779"/>
                </a:solidFill>
                <a:latin typeface="Microsoft YaHei"/>
                <a:ea typeface="Microsoft YaHei"/>
              </a:rPr>
              <a:t>状态变更——要工具执行记录</a:t>
            </a:r>
            <a:endParaRPr/>
          </a:p>
        </p:txBody>
      </p:sp>
      <p:sp>
        <p:nvSpPr>
          <p:cNvPr id="789" name=""/>
          <p:cNvSpPr/>
          <p:nvPr/>
        </p:nvSpPr>
        <p:spPr>
          <a:xfrm rot="0" flipH="0" flipV="0">
            <a:off x="7353300" y="5210175"/>
            <a:ext cx="4038600" cy="476250"/>
          </a:xfrm>
          <a:prstGeom prst="roundRect">
            <a:avLst>
              <a:gd name="adj" fmla="val 16000"/>
            </a:avLst>
          </a:prstGeom>
          <a:solidFill>
            <a:srgbClr val="FFF4E6"/>
          </a:solidFill>
          <a:ln/>
        </p:spPr>
        <p:txBody>
          <a:bodyPr/>
          <a:p/>
        </p:txBody>
      </p:sp>
      <p:sp>
        <p:nvSpPr>
          <p:cNvPr id="790" name=""/>
          <p:cNvSpPr/>
          <p:nvPr/>
        </p:nvSpPr>
        <p:spPr>
          <a:xfrm rot="0" flipH="0" flipV="0">
            <a:off x="7486650" y="5305425"/>
            <a:ext cx="38100" cy="285750"/>
          </a:xfrm>
          <a:prstGeom prst="rect">
            <a:avLst/>
          </a:prstGeom>
          <a:solidFill>
            <a:srgbClr val="CB6B28"/>
          </a:solidFill>
          <a:ln/>
        </p:spPr>
        <p:txBody>
          <a:bodyPr/>
          <a:p/>
        </p:txBody>
      </p:sp>
      <p:sp>
        <p:nvSpPr>
          <p:cNvPr id="791" name="" descr="{&quot;isTemplate&quot;:true,&quot;type&quot;:&quot;text&quot;}"/>
          <p:cNvSpPr txBox="1"/>
          <p:nvPr/>
        </p:nvSpPr>
        <p:spPr>
          <a:xfrm rot="0" flipH="0" flipV="0">
            <a:off x="7639050" y="5334000"/>
            <a:ext cx="2266950" cy="238125"/>
          </a:xfrm>
          <a:prstGeom prst="rect"/>
        </p:spPr>
        <p:txBody>
          <a:bodyPr wrap="none" lIns="0" tIns="0" rIns="0" bIns="0"/>
          <a:p>
            <a:pPr>
              <a:lnSpc>
                <a:spcPct val="145000"/>
              </a:lnSpc>
            </a:pPr>
            <a:r>
              <a:rPr lang="zh-CN" sz="1050">
                <a:solidFill>
                  <a:srgbClr val="CB6B28"/>
                </a:solidFill>
                <a:latin typeface="Microsoft YaHei"/>
                <a:ea typeface="Microsoft YaHei"/>
              </a:rPr>
              <a:t>一句话全包的时刻，正是要拆开的时刻</a:t>
            </a:r>
            <a:endParaRPr/>
          </a:p>
        </p:txBody>
      </p:sp>
      <p:sp>
        <p:nvSpPr>
          <p:cNvPr id="792"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793"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03 / 36</a:t>
            </a:r>
            <a:endParaRPr/>
          </a:p>
        </p:txBody>
      </p:sp>
    </p:spTree>
  </p:cSld>
</p:sld>
</file>

<file path=ppt/slides/slide4.xml><?xml version="1.0" encoding="utf-8"?>
<p:sld xmlns:p="http://schemas.openxmlformats.org/presentationml/2006/main" xmlns:a="http://schemas.openxmlformats.org/drawingml/2006/main">
  <p:cSld>
    <p:spTree>
      <p:nvGrpSpPr>
        <p:cNvPr id="1004" name="" descr="&lt;Slide notes={`一道题从想法到进入榜单，中间要过好几关。第一关是征集，向各领域专家约题，HLE 这一关动用了近一千位专家，分布在大约五百家机构、五十个国家。&#10;&#10;第二关是筛选，很关键：如果这道题一搜就能搜到答案，说明它考的是检索不是推理，删掉；如果主流模型已经答对了，说明它太简单，也删掉。HLE 就用联网搜索和当时的模型先筛一遍。&#10;&#10;第三关是定稿，让同领域专家复核，把有歧义、答案不唯一的题剔出去。第四关才是评测，用统一条件跑模型，并且把用没用工具、给了多少预算都记下来。最后一关是公布，公开数据集和榜单，同时留一份私有题集，防止模型照着公开题背答案。`}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①　1.4.1　评估方法：一个基准是怎样被造出来的&lt;/Text&gt;&#10;            &lt;Text style={{ fontSize: 34, fontWeight: 'bold', color: '#20344B' }}&gt;一道题的五个阶段&lt;/Text&gt;&#10;        &lt;/Box&gt;&#10;    &lt;/Box&gt;&#10;&#10;    &lt;Box style={{ height: 540, flexDirection: 'column', justifyContent: 'center', gap: 20 }}&gt;&#10;&#10;        &lt;Box style={{ flexDirection: 'row', alignItems: 'center' }}&gt;&#10;&#10;            &lt;Box style={{ width: 195, height: 236, background: '#EDF4FC', borderRadius: 12, padding: '16px 16px', flexDirection: 'column', gap: 8 }}&gt;&#10;                &lt;Text style={{ fontSize: 13, color: '#276FBF' }}&gt;阶段一&lt;/Text&gt;&#10;                &lt;Text style={{ fontSize: 20, fontWeight: 'bold', color: '#20344B' }}&gt;征集&lt;/Text&gt;&#10;                &lt;Text style={{ fontSize: 14, color: '#546779', lineHeight: 1.5 }}&gt;向各领域专家约题。HLE 动员近一千位贡献者，来自约五百家机构、五十个国家。&lt;/Text&gt;&#10;                &lt;Box style={{ flex: 1 }} /&gt;&#10;                &lt;Text style={{ fontSize: 13, color: '#276FBF' }}&gt;产出：候选题池&lt;/Text&gt;&#10;            &lt;/Box&gt;&#10;&#10;            &lt;Box style={{ width: 44, alignItems: 'center', justifyContent: 'center' }}&gt;&lt;Text style={{ fontSize: 32, color: '#276FBF' }}&gt;›&lt;/Text&gt;&lt;/Box&gt;&#10;&#10;            &lt;Box style={{ width: 195, height: 236, background: '#EDF4FC', borderRadius: 12, padding: '16px 16px', flexDirection: 'column', gap: 8 }}&gt;&#10;                &lt;Text style={{ fontSize: 13, color: '#276FBF' }}&gt;阶段二&lt;/Text&gt;&#10;                &lt;Text style={{ fontSize: 20, fontWeight: 'bold', color: '#20344B' }}&gt;筛选&lt;/Text&gt;&#10;                &lt;Text style={{ fontSize: 14, color: '#546779', lineHeight: 1.5 }}&gt;联网一搜就有答案的删掉；当时的主流模型已经答对的也删掉。留下的是真的难题。&lt;/Text&gt;&#10;                &lt;Box style={{ flex: 1 }} /&gt;&#10;                &lt;Text style={{ fontSize: 13, color: '#276FBF' }}&gt;产出：难度门槛&lt;/Text&gt;&#10;            &lt;/Box&gt;&#10;&#10;            &lt;Box style={{ width: 44, alignItems: 'center', justifyContent: 'center' }}&gt;&lt;Text style={{ fontSize: 32, color: '#276FBF' }}&gt;›&lt;/Text&gt;&lt;/Box&gt;&#10;&#10;            &lt;Box style={{ width: 195, height: 236, background: '#F7F3E8', borderRadius: 12, padding: '16px 16px', flexDirection: 'column', gap: 8 }}&gt;&#10;                &lt;Text style={{ fontSize: 13, color: '#546779' }}&gt;阶段三&lt;/Text&gt;&#10;                &lt;Text style={{ fontSize: 20, fontWeight: 'bold', color: '#20344B' }}&gt;定稿&lt;/Text&gt;&#10;                &lt;Text style={{ fontSize: 14, color: '#546779', lineHeight: 1.5 }}&gt;同领域专家双轮复核，剔掉有歧义、答案不唯一的题，并规定答案必须写成什么形式。&lt;/Text&gt;&#10;                &lt;Box style={{ flex: 1 }} /&gt;&#10;                &lt;Text style={{ fontSize: 13, color: '#546779' }}&gt;产出：评分契约&lt;/Text&gt;&#10;            &lt;/Box&gt;&#10;&#10;            &lt;Box style={{ width: 44, alignItems: 'center', justifyContent: 'center' }}&gt;&lt;Text style={{ fontSize: 32, color: '#276FBF' }}&gt;›&lt;/Text&gt;&lt;/Box&gt;&#10;&#10;            &lt;Box style={{ width: 195, height: 236, background: '#ECF7F2', borderRadius: 12, padding: '16px 16px', flexDirection: 'column', gap: 8 }}&gt;&#10;                &lt;Text style={{ fontSize: 13, color: '#26816B' }}&gt;阶段四&lt;/Text&gt;&#10;                &lt;Text style={{ fontSize: 20, fontWeight: 'bold', color: '#20344B' }}&gt;评测&lt;/Text&gt;&#10;                &lt;Text style={{ fontSize: 14, color: '#546779', lineHeight: 1.5 }}&gt;用统一条件跑各个模型，同时记录用没用工具、跑几次、给多少预算——这些都属于协议。&lt;/Text&gt;&#10;                &lt;Box style={{ flex: 1 }} /&gt;&#10;                &lt;Text style={{ fontSize: 13, color: '#26816B' }}&gt;产出：带条件的分数&lt;/Text&gt;&#10;            &lt;/Box&gt;&#10;&#10;            &lt;Box style={{ width: 44, alignItems: 'center', justifyContent: 'center' }}&gt;&lt;Text style={{ fontSize: 32, color: '#276FBF' }}&gt;›&lt;/Text&gt;&lt;/Box&gt;&#10;&#10;            &lt;Box style={{ width: 195, height: 236, background: '#ECF7F2', borderRadius: 12, padding: '16px 16px', flexDirection: 'column', gap: 8 }}&gt;&#10;                &lt;Text style={{ fontSize: 13, color: '#26816B' }}&gt;阶段五&lt;/Text&gt;&#10;                &lt;Text style={{ fontSize: 20, fontWeight: 'bold', color: '#20344B' }}&gt;公布&lt;/Text&gt;&#10;                &lt;Text style={{ fontSize: 14, color: '#546779', lineHeight: 1.5 }}&gt;公开数据集与榜单，同时留一份私有题集。公开的用于复现，私有的用于防止背答案。&lt;/Text&gt;&#10;                &lt;Box style={{ flex: 1 }} /&gt;&#10;                &lt;Text style={{ fontSize: 13, color: '#26816B' }}&gt;产出：榜单＋私有集&lt;/Text&gt;&#10;            &lt;/Box&gt;&#10;&#10;        &lt;/Box&gt;&#10;&#10;        &lt;Box style={{ flexDirection: 'row', gap: 16, background: '#FFF4E6', borderRadius: 10, padding: '14px 22px', alignItems: 'center' }}&gt;&#10;            &lt;Box style={{ width: 4, height: 44, background: '#CB6B28' }} /&gt;&#10;            &lt;Text style={{ fontSize: 16, color: '#CB6B28', lineHeight: 1.55 }}&gt;最关键的一关是筛选：它决定了这个基准到底在考推理，还是在考检索和记忆&lt;/Text&gt;&#10;        &lt;/Box&gt;&#10;&#10;    &lt;/Box&gt;&#10;&#10;    &lt;Box style={{ height: 40, flexDirection: 'row', justifyContent: 'space-between', alignItems: 'center' }}&gt;&#10;        &lt;Text style={{ fontSize: 14, color: '#546779' }}&gt;1.4 从榜单到证据&lt;/Text&gt;&#10;        &lt;Text style={{ fontSize: 14, color: '#546779' }}&gt;04 / 36&lt;/Text&gt;&#10;    &lt;/Box&gt;&#10;&#10;&lt;/Slide&gt;&#10;"/>
        <p:cNvGrpSpPr/>
        <p:nvPr/>
      </p:nvGrpSpPr>
      <p:grpSpPr>
        <a:xfrm>
          <a:off x="0" y="0"/>
          <a:ext cx="0" cy="0"/>
          <a:chOff x="0" y="0"/>
          <a:chExt cx="0" cy="0"/>
        </a:xfrm>
      </p:grpSpPr>
      <p:sp>
        <p:nvSpPr>
          <p:cNvPr id="1005" name=""/>
          <p:cNvSpPr/>
          <p:nvPr/>
        </p:nvSpPr>
        <p:spPr>
          <a:xfrm rot="0" flipH="0" flipV="0">
            <a:off x="0" y="0"/>
            <a:ext cx="12192000" cy="6858000"/>
          </a:xfrm>
          <a:prstGeom prst="rect">
            <a:avLst/>
          </a:prstGeom>
          <a:solidFill>
            <a:srgbClr val="FFFFFF"/>
          </a:solidFill>
          <a:ln/>
        </p:spPr>
        <p:txBody>
          <a:bodyPr/>
          <a:p/>
        </p:txBody>
      </p:sp>
      <p:sp>
        <p:nvSpPr>
          <p:cNvPr id="1006" name=""/>
          <p:cNvSpPr/>
          <p:nvPr/>
        </p:nvSpPr>
        <p:spPr>
          <a:xfrm rot="0" flipH="0" flipV="0">
            <a:off x="609600" y="457200"/>
            <a:ext cx="38100" cy="419100"/>
          </a:xfrm>
          <a:prstGeom prst="rect">
            <a:avLst/>
          </a:prstGeom>
          <a:solidFill>
            <a:srgbClr val="276FBF"/>
          </a:solidFill>
          <a:ln/>
        </p:spPr>
        <p:txBody>
          <a:bodyPr/>
          <a:p/>
        </p:txBody>
      </p:sp>
      <p:sp>
        <p:nvSpPr>
          <p:cNvPr id="1007" name="" descr="{&quot;isTemplate&quot;:true,&quot;type&quot;:&quot;text&quot;}"/>
          <p:cNvSpPr txBox="1"/>
          <p:nvPr/>
        </p:nvSpPr>
        <p:spPr>
          <a:xfrm rot="0" flipH="0" flipV="0">
            <a:off x="838200" y="371475"/>
            <a:ext cx="2971800" cy="161925"/>
          </a:xfrm>
          <a:prstGeom prst="rect"/>
        </p:spPr>
        <p:txBody>
          <a:bodyPr wrap="none" lIns="0" tIns="0" rIns="0" bIns="0"/>
          <a:p>
            <a:pPr>
              <a:lnSpc>
                <a:spcPct val="100000"/>
              </a:lnSpc>
            </a:pPr>
            <a:r>
              <a:rPr lang="zh-CN" sz="1050">
                <a:solidFill>
                  <a:srgbClr val="546779"/>
                </a:solidFill>
                <a:latin typeface="Microsoft YaHei"/>
                <a:ea typeface="Microsoft YaHei"/>
              </a:rPr>
              <a:t>①　</a:t>
            </a:r>
            <a:r>
              <a:rPr lang="en-US" sz="1050">
                <a:solidFill>
                  <a:srgbClr val="546779"/>
                </a:solidFill>
                <a:latin typeface="Microsoft YaHei"/>
                <a:ea typeface="Microsoft YaHei"/>
              </a:rPr>
              <a:t>1.4.1</a:t>
            </a:r>
            <a:r>
              <a:rPr lang="zh-CN" sz="1050">
                <a:solidFill>
                  <a:srgbClr val="546779"/>
                </a:solidFill>
                <a:latin typeface="Microsoft YaHei"/>
                <a:ea typeface="Microsoft YaHei"/>
              </a:rPr>
              <a:t>　评估方法：一个基准是怎样被造出来的</a:t>
            </a:r>
            <a:endParaRPr/>
          </a:p>
        </p:txBody>
      </p:sp>
      <p:sp>
        <p:nvSpPr>
          <p:cNvPr id="1008" name="" descr="{&quot;isTemplate&quot;:true,&quot;type&quot;:&quot;text&quot;}"/>
          <p:cNvSpPr txBox="1"/>
          <p:nvPr/>
        </p:nvSpPr>
        <p:spPr>
          <a:xfrm rot="0" flipH="0" flipV="0">
            <a:off x="838200" y="571500"/>
            <a:ext cx="2971800" cy="390525"/>
          </a:xfrm>
          <a:prstGeom prst="rect"/>
        </p:spPr>
        <p:txBody>
          <a:bodyPr wrap="none" lIns="0" tIns="0" rIns="0" bIns="0"/>
          <a:p>
            <a:pPr>
              <a:lnSpc>
                <a:spcPct val="100000"/>
              </a:lnSpc>
            </a:pPr>
            <a:r>
              <a:rPr lang="zh-CN" sz="2550" b="1">
                <a:solidFill>
                  <a:srgbClr val="20344B"/>
                </a:solidFill>
                <a:latin typeface="Microsoft YaHei"/>
                <a:ea typeface="Microsoft YaHei"/>
              </a:rPr>
              <a:t>一道题的五个阶段</a:t>
            </a:r>
            <a:endParaRPr/>
          </a:p>
        </p:txBody>
      </p:sp>
      <p:sp>
        <p:nvSpPr>
          <p:cNvPr id="1009" name=""/>
          <p:cNvSpPr/>
          <p:nvPr/>
        </p:nvSpPr>
        <p:spPr>
          <a:xfrm rot="0" flipH="0" flipV="0">
            <a:off x="609600" y="2152650"/>
            <a:ext cx="1857375" cy="2247900"/>
          </a:xfrm>
          <a:prstGeom prst="roundRect">
            <a:avLst>
              <a:gd name="adj" fmla="val 6154"/>
            </a:avLst>
          </a:prstGeom>
          <a:solidFill>
            <a:srgbClr val="EDF4FC"/>
          </a:solidFill>
          <a:ln/>
        </p:spPr>
        <p:txBody>
          <a:bodyPr/>
          <a:p/>
        </p:txBody>
      </p:sp>
      <p:sp>
        <p:nvSpPr>
          <p:cNvPr id="1010" name="" descr="{&quot;isTemplate&quot;:true,&quot;type&quot;:&quot;text&quot;}"/>
          <p:cNvSpPr txBox="1"/>
          <p:nvPr/>
        </p:nvSpPr>
        <p:spPr>
          <a:xfrm rot="0" flipH="0" flipV="0">
            <a:off x="762000" y="2305050"/>
            <a:ext cx="1552575" cy="152400"/>
          </a:xfrm>
          <a:prstGeom prst="rect"/>
        </p:spPr>
        <p:txBody>
          <a:bodyPr wrap="none" lIns="0" tIns="0" rIns="0" bIns="0"/>
          <a:p>
            <a:pPr>
              <a:lnSpc>
                <a:spcPct val="100000"/>
              </a:lnSpc>
            </a:pPr>
            <a:r>
              <a:rPr lang="zh-CN" sz="975">
                <a:solidFill>
                  <a:srgbClr val="276FBF"/>
                </a:solidFill>
                <a:latin typeface="Microsoft YaHei"/>
                <a:ea typeface="Microsoft YaHei"/>
              </a:rPr>
              <a:t>阶段一</a:t>
            </a:r>
            <a:endParaRPr/>
          </a:p>
        </p:txBody>
      </p:sp>
      <p:sp>
        <p:nvSpPr>
          <p:cNvPr id="1011" name="" descr="{&quot;isTemplate&quot;:true,&quot;type&quot;:&quot;text&quot;}"/>
          <p:cNvSpPr txBox="1"/>
          <p:nvPr/>
        </p:nvSpPr>
        <p:spPr>
          <a:xfrm rot="0" flipH="0" flipV="0">
            <a:off x="762000" y="2533650"/>
            <a:ext cx="1552575" cy="228600"/>
          </a:xfrm>
          <a:prstGeom prst="rect"/>
        </p:spPr>
        <p:txBody>
          <a:bodyPr wrap="none" lIns="0" tIns="0" rIns="0" bIns="0"/>
          <a:p>
            <a:pPr>
              <a:lnSpc>
                <a:spcPct val="100000"/>
              </a:lnSpc>
            </a:pPr>
            <a:r>
              <a:rPr lang="zh-CN" sz="1500" b="1">
                <a:solidFill>
                  <a:srgbClr val="20344B"/>
                </a:solidFill>
                <a:latin typeface="Microsoft YaHei"/>
                <a:ea typeface="Microsoft YaHei"/>
              </a:rPr>
              <a:t>征集</a:t>
            </a:r>
            <a:endParaRPr/>
          </a:p>
        </p:txBody>
      </p:sp>
      <p:sp>
        <p:nvSpPr>
          <p:cNvPr id="1012" name="" descr="{&quot;isTemplate&quot;:true,&quot;type&quot;:&quot;text&quot;}"/>
          <p:cNvSpPr txBox="1"/>
          <p:nvPr/>
        </p:nvSpPr>
        <p:spPr>
          <a:xfrm rot="0" flipH="0" flipV="0">
            <a:off x="762000" y="2838450"/>
            <a:ext cx="1552575" cy="962025"/>
          </a:xfrm>
          <a:prstGeom prst="rect"/>
        </p:spPr>
        <p:txBody>
          <a:bodyPr wrap="square" lIns="0" tIns="0" rIns="0" bIns="0">
            <a:normAutofit/>
          </a:bodyPr>
          <a:p>
            <a:pPr>
              <a:lnSpc>
                <a:spcPct val="150000"/>
              </a:lnSpc>
            </a:pPr>
            <a:r>
              <a:rPr lang="zh-CN" sz="1050">
                <a:solidFill>
                  <a:srgbClr val="546779"/>
                </a:solidFill>
                <a:latin typeface="Microsoft YaHei"/>
                <a:ea typeface="Microsoft YaHei"/>
              </a:rPr>
              <a:t>向各领域专家约题。</a:t>
            </a:r>
            <a:r>
              <a:rPr lang="en-US" sz="1050">
                <a:solidFill>
                  <a:srgbClr val="546779"/>
                </a:solidFill>
                <a:latin typeface="Microsoft YaHei"/>
                <a:ea typeface="Microsoft YaHei"/>
              </a:rPr>
              <a:t xml:space="preserve">HLE </a:t>
            </a:r>
            <a:r>
              <a:rPr lang="zh-CN" sz="1050">
                <a:solidFill>
                  <a:srgbClr val="546779"/>
                </a:solidFill>
                <a:latin typeface="Microsoft YaHei"/>
                <a:ea typeface="Microsoft YaHei"/>
              </a:rPr>
              <a:t>动员近一千位贡献者，来自约五百家机构、五十个国家。</a:t>
            </a:r>
            <a:endParaRPr/>
          </a:p>
        </p:txBody>
      </p:sp>
      <p:sp>
        <p:nvSpPr>
          <p:cNvPr id="1013" name="" descr="{&quot;isTemplate&quot;:true,&quot;type&quot;:&quot;text&quot;}"/>
          <p:cNvSpPr txBox="1"/>
          <p:nvPr/>
        </p:nvSpPr>
        <p:spPr>
          <a:xfrm rot="0" flipH="0" flipV="0">
            <a:off x="762000" y="4095750"/>
            <a:ext cx="1552575" cy="152400"/>
          </a:xfrm>
          <a:prstGeom prst="rect"/>
        </p:spPr>
        <p:txBody>
          <a:bodyPr wrap="none" lIns="0" tIns="0" rIns="0" bIns="0"/>
          <a:p>
            <a:pPr>
              <a:lnSpc>
                <a:spcPct val="100000"/>
              </a:lnSpc>
            </a:pPr>
            <a:r>
              <a:rPr lang="zh-CN" sz="975">
                <a:solidFill>
                  <a:srgbClr val="276FBF"/>
                </a:solidFill>
                <a:latin typeface="Microsoft YaHei"/>
                <a:ea typeface="Microsoft YaHei"/>
              </a:rPr>
              <a:t>产出：候选题池</a:t>
            </a:r>
            <a:endParaRPr/>
          </a:p>
        </p:txBody>
      </p:sp>
      <p:sp>
        <p:nvSpPr>
          <p:cNvPr id="1014" name="" descr="{&quot;isTemplate&quot;:true,&quot;type&quot;:&quot;text&quot;}"/>
          <p:cNvSpPr txBox="1"/>
          <p:nvPr/>
        </p:nvSpPr>
        <p:spPr>
          <a:xfrm rot="0" flipH="0" flipV="0">
            <a:off x="2619375" y="3095625"/>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1015" name=""/>
          <p:cNvSpPr/>
          <p:nvPr/>
        </p:nvSpPr>
        <p:spPr>
          <a:xfrm rot="0" flipH="0" flipV="0">
            <a:off x="2886075" y="2152650"/>
            <a:ext cx="1857375" cy="2247900"/>
          </a:xfrm>
          <a:prstGeom prst="roundRect">
            <a:avLst>
              <a:gd name="adj" fmla="val 6154"/>
            </a:avLst>
          </a:prstGeom>
          <a:solidFill>
            <a:srgbClr val="EDF4FC"/>
          </a:solidFill>
          <a:ln/>
        </p:spPr>
        <p:txBody>
          <a:bodyPr/>
          <a:p/>
        </p:txBody>
      </p:sp>
      <p:sp>
        <p:nvSpPr>
          <p:cNvPr id="1016" name="" descr="{&quot;isTemplate&quot;:true,&quot;type&quot;:&quot;text&quot;}"/>
          <p:cNvSpPr txBox="1"/>
          <p:nvPr/>
        </p:nvSpPr>
        <p:spPr>
          <a:xfrm rot="0" flipH="0" flipV="0">
            <a:off x="3038475" y="2305050"/>
            <a:ext cx="1552575" cy="152400"/>
          </a:xfrm>
          <a:prstGeom prst="rect"/>
        </p:spPr>
        <p:txBody>
          <a:bodyPr wrap="none" lIns="0" tIns="0" rIns="0" bIns="0"/>
          <a:p>
            <a:pPr>
              <a:lnSpc>
                <a:spcPct val="100000"/>
              </a:lnSpc>
            </a:pPr>
            <a:r>
              <a:rPr lang="zh-CN" sz="975">
                <a:solidFill>
                  <a:srgbClr val="276FBF"/>
                </a:solidFill>
                <a:latin typeface="Microsoft YaHei"/>
                <a:ea typeface="Microsoft YaHei"/>
              </a:rPr>
              <a:t>阶段二</a:t>
            </a:r>
            <a:endParaRPr/>
          </a:p>
        </p:txBody>
      </p:sp>
      <p:sp>
        <p:nvSpPr>
          <p:cNvPr id="1017" name="" descr="{&quot;isTemplate&quot;:true,&quot;type&quot;:&quot;text&quot;}"/>
          <p:cNvSpPr txBox="1"/>
          <p:nvPr/>
        </p:nvSpPr>
        <p:spPr>
          <a:xfrm rot="0" flipH="0" flipV="0">
            <a:off x="3038475" y="2533650"/>
            <a:ext cx="1552575" cy="228600"/>
          </a:xfrm>
          <a:prstGeom prst="rect"/>
        </p:spPr>
        <p:txBody>
          <a:bodyPr wrap="none" lIns="0" tIns="0" rIns="0" bIns="0"/>
          <a:p>
            <a:pPr>
              <a:lnSpc>
                <a:spcPct val="100000"/>
              </a:lnSpc>
            </a:pPr>
            <a:r>
              <a:rPr lang="zh-CN" sz="1500" b="1">
                <a:solidFill>
                  <a:srgbClr val="20344B"/>
                </a:solidFill>
                <a:latin typeface="Microsoft YaHei"/>
                <a:ea typeface="Microsoft YaHei"/>
              </a:rPr>
              <a:t>筛选</a:t>
            </a:r>
            <a:endParaRPr/>
          </a:p>
        </p:txBody>
      </p:sp>
      <p:sp>
        <p:nvSpPr>
          <p:cNvPr id="1018" name="" descr="{&quot;isTemplate&quot;:true,&quot;type&quot;:&quot;text&quot;}"/>
          <p:cNvSpPr txBox="1"/>
          <p:nvPr/>
        </p:nvSpPr>
        <p:spPr>
          <a:xfrm rot="0" flipH="0" flipV="0">
            <a:off x="3038475" y="2838450"/>
            <a:ext cx="1552575" cy="962025"/>
          </a:xfrm>
          <a:prstGeom prst="rect"/>
        </p:spPr>
        <p:txBody>
          <a:bodyPr wrap="square" lIns="0" tIns="0" rIns="0" bIns="0">
            <a:normAutofit/>
          </a:bodyPr>
          <a:p>
            <a:pPr>
              <a:lnSpc>
                <a:spcPct val="150000"/>
              </a:lnSpc>
            </a:pPr>
            <a:r>
              <a:rPr lang="zh-CN" sz="1050">
                <a:solidFill>
                  <a:srgbClr val="546779"/>
                </a:solidFill>
                <a:latin typeface="Microsoft YaHei"/>
                <a:ea typeface="Microsoft YaHei"/>
              </a:rPr>
              <a:t>联网一搜就有答案的删掉；当时的主流模型已经答对的也删掉。留下的是真的难题。</a:t>
            </a:r>
            <a:endParaRPr/>
          </a:p>
        </p:txBody>
      </p:sp>
      <p:sp>
        <p:nvSpPr>
          <p:cNvPr id="1019" name="" descr="{&quot;isTemplate&quot;:true,&quot;type&quot;:&quot;text&quot;}"/>
          <p:cNvSpPr txBox="1"/>
          <p:nvPr/>
        </p:nvSpPr>
        <p:spPr>
          <a:xfrm rot="0" flipH="0" flipV="0">
            <a:off x="3038475" y="4095750"/>
            <a:ext cx="1552575" cy="152400"/>
          </a:xfrm>
          <a:prstGeom prst="rect"/>
        </p:spPr>
        <p:txBody>
          <a:bodyPr wrap="none" lIns="0" tIns="0" rIns="0" bIns="0"/>
          <a:p>
            <a:pPr>
              <a:lnSpc>
                <a:spcPct val="100000"/>
              </a:lnSpc>
            </a:pPr>
            <a:r>
              <a:rPr lang="zh-CN" sz="975">
                <a:solidFill>
                  <a:srgbClr val="276FBF"/>
                </a:solidFill>
                <a:latin typeface="Microsoft YaHei"/>
                <a:ea typeface="Microsoft YaHei"/>
              </a:rPr>
              <a:t>产出：难度门槛</a:t>
            </a:r>
            <a:endParaRPr/>
          </a:p>
        </p:txBody>
      </p:sp>
      <p:sp>
        <p:nvSpPr>
          <p:cNvPr id="1020" name="" descr="{&quot;isTemplate&quot;:true,&quot;type&quot;:&quot;text&quot;}"/>
          <p:cNvSpPr txBox="1"/>
          <p:nvPr/>
        </p:nvSpPr>
        <p:spPr>
          <a:xfrm rot="0" flipH="0" flipV="0">
            <a:off x="4895850" y="3095625"/>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1021" name=""/>
          <p:cNvSpPr/>
          <p:nvPr/>
        </p:nvSpPr>
        <p:spPr>
          <a:xfrm rot="0" flipH="0" flipV="0">
            <a:off x="5162550" y="2152650"/>
            <a:ext cx="1857375" cy="2247900"/>
          </a:xfrm>
          <a:prstGeom prst="roundRect">
            <a:avLst>
              <a:gd name="adj" fmla="val 6154"/>
            </a:avLst>
          </a:prstGeom>
          <a:solidFill>
            <a:srgbClr val="F7F3E8"/>
          </a:solidFill>
          <a:ln/>
        </p:spPr>
        <p:txBody>
          <a:bodyPr/>
          <a:p/>
        </p:txBody>
      </p:sp>
      <p:sp>
        <p:nvSpPr>
          <p:cNvPr id="1022" name="" descr="{&quot;isTemplate&quot;:true,&quot;type&quot;:&quot;text&quot;}"/>
          <p:cNvSpPr txBox="1"/>
          <p:nvPr/>
        </p:nvSpPr>
        <p:spPr>
          <a:xfrm rot="0" flipH="0" flipV="0">
            <a:off x="5314950" y="2305050"/>
            <a:ext cx="1552575" cy="152400"/>
          </a:xfrm>
          <a:prstGeom prst="rect"/>
        </p:spPr>
        <p:txBody>
          <a:bodyPr wrap="none" lIns="0" tIns="0" rIns="0" bIns="0"/>
          <a:p>
            <a:pPr>
              <a:lnSpc>
                <a:spcPct val="100000"/>
              </a:lnSpc>
            </a:pPr>
            <a:r>
              <a:rPr lang="zh-CN" sz="975">
                <a:solidFill>
                  <a:srgbClr val="546779"/>
                </a:solidFill>
                <a:latin typeface="Microsoft YaHei"/>
                <a:ea typeface="Microsoft YaHei"/>
              </a:rPr>
              <a:t>阶段三</a:t>
            </a:r>
            <a:endParaRPr/>
          </a:p>
        </p:txBody>
      </p:sp>
      <p:sp>
        <p:nvSpPr>
          <p:cNvPr id="1023" name="" descr="{&quot;isTemplate&quot;:true,&quot;type&quot;:&quot;text&quot;}"/>
          <p:cNvSpPr txBox="1"/>
          <p:nvPr/>
        </p:nvSpPr>
        <p:spPr>
          <a:xfrm rot="0" flipH="0" flipV="0">
            <a:off x="5314950" y="2533650"/>
            <a:ext cx="1552575" cy="228600"/>
          </a:xfrm>
          <a:prstGeom prst="rect"/>
        </p:spPr>
        <p:txBody>
          <a:bodyPr wrap="none" lIns="0" tIns="0" rIns="0" bIns="0"/>
          <a:p>
            <a:pPr>
              <a:lnSpc>
                <a:spcPct val="100000"/>
              </a:lnSpc>
            </a:pPr>
            <a:r>
              <a:rPr lang="zh-CN" sz="1500" b="1">
                <a:solidFill>
                  <a:srgbClr val="20344B"/>
                </a:solidFill>
                <a:latin typeface="Microsoft YaHei"/>
                <a:ea typeface="Microsoft YaHei"/>
              </a:rPr>
              <a:t>定稿</a:t>
            </a:r>
            <a:endParaRPr/>
          </a:p>
        </p:txBody>
      </p:sp>
      <p:sp>
        <p:nvSpPr>
          <p:cNvPr id="1024" name="" descr="{&quot;isTemplate&quot;:true,&quot;type&quot;:&quot;text&quot;}"/>
          <p:cNvSpPr txBox="1"/>
          <p:nvPr/>
        </p:nvSpPr>
        <p:spPr>
          <a:xfrm rot="0" flipH="0" flipV="0">
            <a:off x="5314950" y="2838450"/>
            <a:ext cx="1552575" cy="962025"/>
          </a:xfrm>
          <a:prstGeom prst="rect"/>
        </p:spPr>
        <p:txBody>
          <a:bodyPr wrap="square" lIns="0" tIns="0" rIns="0" bIns="0">
            <a:normAutofit/>
          </a:bodyPr>
          <a:p>
            <a:pPr>
              <a:lnSpc>
                <a:spcPct val="150000"/>
              </a:lnSpc>
            </a:pPr>
            <a:r>
              <a:rPr lang="zh-CN" sz="1050">
                <a:solidFill>
                  <a:srgbClr val="546779"/>
                </a:solidFill>
                <a:latin typeface="Microsoft YaHei"/>
                <a:ea typeface="Microsoft YaHei"/>
              </a:rPr>
              <a:t>同领域专家双轮复核，剔掉有歧义、答案不唯一的题，并规定答案必须写成什么形式。</a:t>
            </a:r>
            <a:endParaRPr/>
          </a:p>
        </p:txBody>
      </p:sp>
      <p:sp>
        <p:nvSpPr>
          <p:cNvPr id="1025" name="" descr="{&quot;isTemplate&quot;:true,&quot;type&quot;:&quot;text&quot;}"/>
          <p:cNvSpPr txBox="1"/>
          <p:nvPr/>
        </p:nvSpPr>
        <p:spPr>
          <a:xfrm rot="0" flipH="0" flipV="0">
            <a:off x="5314950" y="4095750"/>
            <a:ext cx="1552575" cy="152400"/>
          </a:xfrm>
          <a:prstGeom prst="rect"/>
        </p:spPr>
        <p:txBody>
          <a:bodyPr wrap="none" lIns="0" tIns="0" rIns="0" bIns="0"/>
          <a:p>
            <a:pPr>
              <a:lnSpc>
                <a:spcPct val="100000"/>
              </a:lnSpc>
            </a:pPr>
            <a:r>
              <a:rPr lang="zh-CN" sz="975">
                <a:solidFill>
                  <a:srgbClr val="546779"/>
                </a:solidFill>
                <a:latin typeface="Microsoft YaHei"/>
                <a:ea typeface="Microsoft YaHei"/>
              </a:rPr>
              <a:t>产出：评分契约</a:t>
            </a:r>
            <a:endParaRPr/>
          </a:p>
        </p:txBody>
      </p:sp>
      <p:sp>
        <p:nvSpPr>
          <p:cNvPr id="1026" name="" descr="{&quot;isTemplate&quot;:true,&quot;type&quot;:&quot;text&quot;}"/>
          <p:cNvSpPr txBox="1"/>
          <p:nvPr/>
        </p:nvSpPr>
        <p:spPr>
          <a:xfrm rot="0" flipH="0" flipV="0">
            <a:off x="7172325" y="3095625"/>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1027" name=""/>
          <p:cNvSpPr/>
          <p:nvPr/>
        </p:nvSpPr>
        <p:spPr>
          <a:xfrm rot="0" flipH="0" flipV="0">
            <a:off x="7439025" y="2152650"/>
            <a:ext cx="1857375" cy="2247900"/>
          </a:xfrm>
          <a:prstGeom prst="roundRect">
            <a:avLst>
              <a:gd name="adj" fmla="val 6154"/>
            </a:avLst>
          </a:prstGeom>
          <a:solidFill>
            <a:srgbClr val="ECF7F2"/>
          </a:solidFill>
          <a:ln/>
        </p:spPr>
        <p:txBody>
          <a:bodyPr/>
          <a:p/>
        </p:txBody>
      </p:sp>
      <p:sp>
        <p:nvSpPr>
          <p:cNvPr id="1028" name="" descr="{&quot;isTemplate&quot;:true,&quot;type&quot;:&quot;text&quot;}"/>
          <p:cNvSpPr txBox="1"/>
          <p:nvPr/>
        </p:nvSpPr>
        <p:spPr>
          <a:xfrm rot="0" flipH="0" flipV="0">
            <a:off x="7591425" y="2305050"/>
            <a:ext cx="1552575" cy="152400"/>
          </a:xfrm>
          <a:prstGeom prst="rect"/>
        </p:spPr>
        <p:txBody>
          <a:bodyPr wrap="none" lIns="0" tIns="0" rIns="0" bIns="0"/>
          <a:p>
            <a:pPr>
              <a:lnSpc>
                <a:spcPct val="100000"/>
              </a:lnSpc>
            </a:pPr>
            <a:r>
              <a:rPr lang="zh-CN" sz="975">
                <a:solidFill>
                  <a:srgbClr val="26816B"/>
                </a:solidFill>
                <a:latin typeface="Microsoft YaHei"/>
                <a:ea typeface="Microsoft YaHei"/>
              </a:rPr>
              <a:t>阶段四</a:t>
            </a:r>
            <a:endParaRPr/>
          </a:p>
        </p:txBody>
      </p:sp>
      <p:sp>
        <p:nvSpPr>
          <p:cNvPr id="1029" name="" descr="{&quot;isTemplate&quot;:true,&quot;type&quot;:&quot;text&quot;}"/>
          <p:cNvSpPr txBox="1"/>
          <p:nvPr/>
        </p:nvSpPr>
        <p:spPr>
          <a:xfrm rot="0" flipH="0" flipV="0">
            <a:off x="7591425" y="2533650"/>
            <a:ext cx="1552575" cy="228600"/>
          </a:xfrm>
          <a:prstGeom prst="rect"/>
        </p:spPr>
        <p:txBody>
          <a:bodyPr wrap="none" lIns="0" tIns="0" rIns="0" bIns="0"/>
          <a:p>
            <a:pPr>
              <a:lnSpc>
                <a:spcPct val="100000"/>
              </a:lnSpc>
            </a:pPr>
            <a:r>
              <a:rPr lang="zh-CN" sz="1500" b="1">
                <a:solidFill>
                  <a:srgbClr val="20344B"/>
                </a:solidFill>
                <a:latin typeface="Microsoft YaHei"/>
                <a:ea typeface="Microsoft YaHei"/>
              </a:rPr>
              <a:t>评测</a:t>
            </a:r>
            <a:endParaRPr/>
          </a:p>
        </p:txBody>
      </p:sp>
      <p:sp>
        <p:nvSpPr>
          <p:cNvPr id="1030" name="" descr="{&quot;isTemplate&quot;:true,&quot;type&quot;:&quot;text&quot;}"/>
          <p:cNvSpPr txBox="1"/>
          <p:nvPr/>
        </p:nvSpPr>
        <p:spPr>
          <a:xfrm rot="0" flipH="0" flipV="0">
            <a:off x="7591425" y="2838450"/>
            <a:ext cx="1552575" cy="962025"/>
          </a:xfrm>
          <a:prstGeom prst="rect"/>
        </p:spPr>
        <p:txBody>
          <a:bodyPr wrap="square" lIns="0" tIns="0" rIns="0" bIns="0">
            <a:normAutofit/>
          </a:bodyPr>
          <a:p>
            <a:pPr>
              <a:lnSpc>
                <a:spcPct val="150000"/>
              </a:lnSpc>
            </a:pPr>
            <a:r>
              <a:rPr lang="zh-CN" sz="1050">
                <a:solidFill>
                  <a:srgbClr val="546779"/>
                </a:solidFill>
                <a:latin typeface="Microsoft YaHei"/>
                <a:ea typeface="Microsoft YaHei"/>
              </a:rPr>
              <a:t>用统一条件跑各个模型，同时记录用没用工具、跑几次、给多少预算——这些都属于协议。</a:t>
            </a:r>
            <a:endParaRPr/>
          </a:p>
        </p:txBody>
      </p:sp>
      <p:sp>
        <p:nvSpPr>
          <p:cNvPr id="1031" name="" descr="{&quot;isTemplate&quot;:true,&quot;type&quot;:&quot;text&quot;}"/>
          <p:cNvSpPr txBox="1"/>
          <p:nvPr/>
        </p:nvSpPr>
        <p:spPr>
          <a:xfrm rot="0" flipH="0" flipV="0">
            <a:off x="7591425" y="4095750"/>
            <a:ext cx="1552575" cy="152400"/>
          </a:xfrm>
          <a:prstGeom prst="rect"/>
        </p:spPr>
        <p:txBody>
          <a:bodyPr wrap="none" lIns="0" tIns="0" rIns="0" bIns="0"/>
          <a:p>
            <a:pPr>
              <a:lnSpc>
                <a:spcPct val="100000"/>
              </a:lnSpc>
            </a:pPr>
            <a:r>
              <a:rPr lang="zh-CN" sz="975">
                <a:solidFill>
                  <a:srgbClr val="26816B"/>
                </a:solidFill>
                <a:latin typeface="Microsoft YaHei"/>
                <a:ea typeface="Microsoft YaHei"/>
              </a:rPr>
              <a:t>产出：带条件的分数</a:t>
            </a:r>
            <a:endParaRPr/>
          </a:p>
        </p:txBody>
      </p:sp>
      <p:sp>
        <p:nvSpPr>
          <p:cNvPr id="1032" name="" descr="{&quot;isTemplate&quot;:true,&quot;type&quot;:&quot;text&quot;}"/>
          <p:cNvSpPr txBox="1"/>
          <p:nvPr/>
        </p:nvSpPr>
        <p:spPr>
          <a:xfrm rot="0" flipH="0" flipV="0">
            <a:off x="9448800" y="3095625"/>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1033" name=""/>
          <p:cNvSpPr/>
          <p:nvPr/>
        </p:nvSpPr>
        <p:spPr>
          <a:xfrm rot="0" flipH="0" flipV="0">
            <a:off x="9715500" y="2152650"/>
            <a:ext cx="1857375" cy="2247900"/>
          </a:xfrm>
          <a:prstGeom prst="roundRect">
            <a:avLst>
              <a:gd name="adj" fmla="val 6154"/>
            </a:avLst>
          </a:prstGeom>
          <a:solidFill>
            <a:srgbClr val="ECF7F2"/>
          </a:solidFill>
          <a:ln/>
        </p:spPr>
        <p:txBody>
          <a:bodyPr/>
          <a:p/>
        </p:txBody>
      </p:sp>
      <p:sp>
        <p:nvSpPr>
          <p:cNvPr id="1034" name="" descr="{&quot;isTemplate&quot;:true,&quot;type&quot;:&quot;text&quot;}"/>
          <p:cNvSpPr txBox="1"/>
          <p:nvPr/>
        </p:nvSpPr>
        <p:spPr>
          <a:xfrm rot="0" flipH="0" flipV="0">
            <a:off x="9867900" y="2305050"/>
            <a:ext cx="1552575" cy="152400"/>
          </a:xfrm>
          <a:prstGeom prst="rect"/>
        </p:spPr>
        <p:txBody>
          <a:bodyPr wrap="none" lIns="0" tIns="0" rIns="0" bIns="0"/>
          <a:p>
            <a:pPr>
              <a:lnSpc>
                <a:spcPct val="100000"/>
              </a:lnSpc>
            </a:pPr>
            <a:r>
              <a:rPr lang="zh-CN" sz="975">
                <a:solidFill>
                  <a:srgbClr val="26816B"/>
                </a:solidFill>
                <a:latin typeface="Microsoft YaHei"/>
                <a:ea typeface="Microsoft YaHei"/>
              </a:rPr>
              <a:t>阶段五</a:t>
            </a:r>
            <a:endParaRPr/>
          </a:p>
        </p:txBody>
      </p:sp>
      <p:sp>
        <p:nvSpPr>
          <p:cNvPr id="1035" name="" descr="{&quot;isTemplate&quot;:true,&quot;type&quot;:&quot;text&quot;}"/>
          <p:cNvSpPr txBox="1"/>
          <p:nvPr/>
        </p:nvSpPr>
        <p:spPr>
          <a:xfrm rot="0" flipH="0" flipV="0">
            <a:off x="9867900" y="2533650"/>
            <a:ext cx="1552575" cy="228600"/>
          </a:xfrm>
          <a:prstGeom prst="rect"/>
        </p:spPr>
        <p:txBody>
          <a:bodyPr wrap="none" lIns="0" tIns="0" rIns="0" bIns="0"/>
          <a:p>
            <a:pPr>
              <a:lnSpc>
                <a:spcPct val="100000"/>
              </a:lnSpc>
            </a:pPr>
            <a:r>
              <a:rPr lang="zh-CN" sz="1500" b="1">
                <a:solidFill>
                  <a:srgbClr val="20344B"/>
                </a:solidFill>
                <a:latin typeface="Microsoft YaHei"/>
                <a:ea typeface="Microsoft YaHei"/>
              </a:rPr>
              <a:t>公布</a:t>
            </a:r>
            <a:endParaRPr/>
          </a:p>
        </p:txBody>
      </p:sp>
      <p:sp>
        <p:nvSpPr>
          <p:cNvPr id="1036" name="" descr="{&quot;isTemplate&quot;:true,&quot;type&quot;:&quot;text&quot;}"/>
          <p:cNvSpPr txBox="1"/>
          <p:nvPr/>
        </p:nvSpPr>
        <p:spPr>
          <a:xfrm rot="0" flipH="0" flipV="0">
            <a:off x="9867900" y="2838450"/>
            <a:ext cx="1552575" cy="962025"/>
          </a:xfrm>
          <a:prstGeom prst="rect"/>
        </p:spPr>
        <p:txBody>
          <a:bodyPr wrap="square" lIns="0" tIns="0" rIns="0" bIns="0">
            <a:normAutofit/>
          </a:bodyPr>
          <a:p>
            <a:pPr>
              <a:lnSpc>
                <a:spcPct val="150000"/>
              </a:lnSpc>
            </a:pPr>
            <a:r>
              <a:rPr lang="zh-CN" sz="1050">
                <a:solidFill>
                  <a:srgbClr val="546779"/>
                </a:solidFill>
                <a:latin typeface="Microsoft YaHei"/>
                <a:ea typeface="Microsoft YaHei"/>
              </a:rPr>
              <a:t>公开数据集与榜单，同时留一份私有题集。公开的用于复现，私有的用于防止背答案。</a:t>
            </a:r>
            <a:endParaRPr/>
          </a:p>
        </p:txBody>
      </p:sp>
      <p:sp>
        <p:nvSpPr>
          <p:cNvPr id="1037" name="" descr="{&quot;isTemplate&quot;:true,&quot;type&quot;:&quot;text&quot;}"/>
          <p:cNvSpPr txBox="1"/>
          <p:nvPr/>
        </p:nvSpPr>
        <p:spPr>
          <a:xfrm rot="0" flipH="0" flipV="0">
            <a:off x="9867900" y="4095750"/>
            <a:ext cx="1552575" cy="152400"/>
          </a:xfrm>
          <a:prstGeom prst="rect"/>
        </p:spPr>
        <p:txBody>
          <a:bodyPr wrap="none" lIns="0" tIns="0" rIns="0" bIns="0"/>
          <a:p>
            <a:pPr>
              <a:lnSpc>
                <a:spcPct val="100000"/>
              </a:lnSpc>
            </a:pPr>
            <a:r>
              <a:rPr lang="zh-CN" sz="975">
                <a:solidFill>
                  <a:srgbClr val="26816B"/>
                </a:solidFill>
                <a:latin typeface="Microsoft YaHei"/>
                <a:ea typeface="Microsoft YaHei"/>
              </a:rPr>
              <a:t>产出：榜单＋私有集</a:t>
            </a:r>
            <a:endParaRPr/>
          </a:p>
        </p:txBody>
      </p:sp>
      <p:sp>
        <p:nvSpPr>
          <p:cNvPr id="1038" name=""/>
          <p:cNvSpPr/>
          <p:nvPr/>
        </p:nvSpPr>
        <p:spPr>
          <a:xfrm rot="0" flipH="0" flipV="0">
            <a:off x="609600" y="4591050"/>
            <a:ext cx="10972800" cy="685800"/>
          </a:xfrm>
          <a:prstGeom prst="roundRect">
            <a:avLst>
              <a:gd name="adj" fmla="val 13889"/>
            </a:avLst>
          </a:prstGeom>
          <a:solidFill>
            <a:srgbClr val="FFF4E6"/>
          </a:solidFill>
          <a:ln/>
        </p:spPr>
        <p:txBody>
          <a:bodyPr/>
          <a:p/>
        </p:txBody>
      </p:sp>
      <p:sp>
        <p:nvSpPr>
          <p:cNvPr id="1039" name=""/>
          <p:cNvSpPr/>
          <p:nvPr/>
        </p:nvSpPr>
        <p:spPr>
          <a:xfrm rot="0" flipH="0" flipV="0">
            <a:off x="819150" y="4724400"/>
            <a:ext cx="38100" cy="419100"/>
          </a:xfrm>
          <a:prstGeom prst="rect">
            <a:avLst/>
          </a:prstGeom>
          <a:solidFill>
            <a:srgbClr val="CB6B28"/>
          </a:solidFill>
          <a:ln/>
        </p:spPr>
        <p:txBody>
          <a:bodyPr/>
          <a:p/>
        </p:txBody>
      </p:sp>
      <p:sp>
        <p:nvSpPr>
          <p:cNvPr id="1040" name="" descr="{&quot;isTemplate&quot;:true,&quot;type&quot;:&quot;text&quot;}"/>
          <p:cNvSpPr txBox="1"/>
          <p:nvPr/>
        </p:nvSpPr>
        <p:spPr>
          <a:xfrm rot="0" flipH="0" flipV="0">
            <a:off x="1009650" y="4791075"/>
            <a:ext cx="5181600" cy="285750"/>
          </a:xfrm>
          <a:prstGeom prst="rect"/>
        </p:spPr>
        <p:txBody>
          <a:bodyPr wrap="none" lIns="0" tIns="0" rIns="0" bIns="0"/>
          <a:p>
            <a:pPr>
              <a:lnSpc>
                <a:spcPct val="155000"/>
              </a:lnSpc>
            </a:pPr>
            <a:r>
              <a:rPr lang="zh-CN" sz="1200">
                <a:solidFill>
                  <a:srgbClr val="CB6B28"/>
                </a:solidFill>
                <a:latin typeface="Microsoft YaHei"/>
                <a:ea typeface="Microsoft YaHei"/>
              </a:rPr>
              <a:t>最关键的一关是筛选：它决定了这个基准到底在考推理，还是在考检索和记忆</a:t>
            </a:r>
            <a:endParaRPr/>
          </a:p>
        </p:txBody>
      </p:sp>
      <p:sp>
        <p:nvSpPr>
          <p:cNvPr id="1041"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042"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04 / 36</a:t>
            </a:r>
            <a:endParaRPr/>
          </a:p>
        </p:txBody>
      </p:sp>
    </p:spTree>
  </p:cSld>
</p:sld>
</file>

<file path=ppt/slides/slide5.xml><?xml version="1.0" encoding="utf-8"?>
<p:sld xmlns:p="http://schemas.openxmlformats.org/presentationml/2006/main" xmlns:a="http://schemas.openxmlformats.org/drawingml/2006/main">
  <p:cSld>
    <p:spTree>
      <p:nvGrpSpPr>
        <p:cNvPr id="1043" name="" descr="&lt;Slide notes={`判分方式大致四类，各有各的代价。&#10;&#10;选择题最常见，模型从几个选项里挑一个，判分完全自动化。代价是选项本身给了提示，选项越少越容易猜中，四个选项就有四分之一的运气分。&#10;&#10;自由作答要求模型自己写出答案，通常是精确匹配，差一个字符就算错。好处是没法猜，代价是对格式特别苛刻，有的基准规定结尾必须写成固定的字样，不照写就零分，哪怕推理全对。&#10;&#10;可执行任务是让它交一段代码或完成一次操作，实际跑一遍测试，全过才算对。它最接近真实使用的证据，但也最容易被运行环境和可用工具影响。&#10;&#10;最后一类是人类偏好，让不了解模型身份的评阅者成对比较两份输出，允许平局。它能评价没有唯一答案的任务，但偏好会随人群和任务变化。`}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①　1.4.1　评估方法：判分方式决定分数能证明什么&lt;/Text&gt;&#10;            &lt;Text style={{ fontSize: 34, fontWeight: 'bold', color: '#20344B' }}&gt;四种判分方式&lt;/Text&gt;&#10;        &lt;/Box&gt;&#10;    &lt;/Box&gt;&#10;&#10;    &lt;Box style={{ height: 540, flexDirection: 'column', justifyContent: 'center', gap: 18 }}&gt;&#10;&#10;        &lt;Box style={{ flexDirection: 'row', gap: 16 }}&gt;&#10;&#10;            &lt;Box style={{ width: 276, height: 306, background: '#EDF4FC', borderRadius: 12, padding: '18px 18px', flexDirection: 'column', gap: 10 }}&gt;&#10;                &lt;Box style={{ width: 40, height: 40, background: '#276FBF', borderRadius: 8, alignItems: 'center', justifyContent: 'center' }}&gt;&lt;Text style={{ fontSize: 18, fontWeight: 'bold', color: '#FFFFFF' }}&gt;A&lt;/Text&gt;&lt;/Box&gt;&#10;                &lt;Text style={{ fontSize: 19, fontWeight: 'bold', color: '#20344B' }}&gt;选择题&lt;/Text&gt;&#10;                &lt;Text style={{ fontSize: 15, color: '#546779', lineHeight: 1.5 }}&gt;从若干选项里挑一个，程序直接判对错。&lt;/Text&gt;&#10;                &lt;Box style={{ flex: 1 }} /&gt;&#10;                &lt;Text style={{ fontSize: 14, color: '#276FBF', lineHeight: 1.5 }}&gt;代价：选项自带提示，四选一就有 25% 的运气分。&lt;/Text&gt;&#10;            &lt;/Box&gt;&#10;&#10;            &lt;Box style={{ width: 276, height: 306, background: '#EDF4FC', borderRadius: 12, padding: '18px 18px', flexDirection: 'column', gap: 10 }}&gt;&#10;                &lt;Box style={{ width: 40, height: 40, background: '#276FBF', borderRadius: 8, alignItems: 'center', justifyContent: 'center' }}&gt;&lt;Text style={{ fontSize: 18, fontWeight: 'bold', color: '#FFFFFF' }}&gt;B&lt;/Text&gt;&lt;/Box&gt;&#10;                &lt;Text style={{ fontSize: 19, fontWeight: 'bold', color: '#20344B' }}&gt;自由作答&lt;/Text&gt;&#10;                &lt;Text style={{ fontSize: 15, color: '#546779', lineHeight: 1.5 }}&gt;模型自己写出答案，一般做精确匹配。&lt;/Text&gt;&#10;                &lt;Box style={{ flex: 1 }} /&gt;&#10;                &lt;Text style={{ fontSize: 14, color: '#276FBF', lineHeight: 1.5 }}&gt;代价：格式差一点就零分，推理对也可能不算。&lt;/Text&gt;&#10;            &lt;/Box&gt;&#10;&#10;            &lt;Box style={{ width: 276, height: 306, background: '#ECF7F2', borderRadius: 12, padding: '18px 18px', flexDirection: 'column', gap: 10 }}&gt;&#10;                &lt;Box style={{ width: 40, height: 40, background: '#26816B', borderRadius: 8, alignItems: 'center', justifyContent: 'center' }}&gt;&lt;Text style={{ fontSize: 18, fontWeight: 'bold', color: '#FFFFFF' }}&gt;C&lt;/Text&gt;&lt;/Box&gt;&#10;                &lt;Text style={{ fontSize: 19, fontWeight: 'bold', color: '#20344B' }}&gt;可执行任务&lt;/Text&gt;&#10;                &lt;Text style={{ fontSize: 15, color: '#546779', lineHeight: 1.5 }}&gt;交代码或完成操作，实际跑测试，全过才算对。&lt;/Text&gt;&#10;                &lt;Box style={{ flex: 1 }} /&gt;&#10;                &lt;Text style={{ fontSize: 14, color: '#26816B', lineHeight: 1.5 }}&gt;代价：结果受运行环境和可用工具影响。&lt;/Text&gt;&#10;            &lt;/Box&gt;&#10;&#10;            &lt;Box style={{ width: 276, height: 306, background: '#F7F3E8', borderRadius: 12, padding: '18px 18px', flexDirection: 'column', gap: 10 }}&gt;&#10;                &lt;Box style={{ width: 40, height: 40, background: '#546779', borderRadius: 8, alignItems: 'center', justifyContent: 'center' }}&gt;&lt;Text style={{ fontSize: 18, fontWeight: 'bold', color: '#FFFFFF' }}&gt;D&lt;/Text&gt;&lt;/Box&gt;&#10;                &lt;Text style={{ fontSize: 19, fontWeight: 'bold', color: '#20344B' }}&gt;人类偏好&lt;/Text&gt;&#10;                &lt;Text style={{ fontSize: 15, color: '#546779', lineHeight: 1.5 }}&gt;评阅者成对比较两份输出，允许平局并写理由。&lt;/Text&gt;&#10;                &lt;Box style={{ flex: 1 }} /&gt;&#10;                &lt;Text style={{ fontSize: 14, color: '#546779', lineHeight: 1.5 }}&gt;代价：偏好随人群和任务变化，不等于事实正确。&lt;/Text&gt;&#10;            &lt;/Box&gt;&#10;&#10;        &lt;/Box&gt;&#10;&#10;        &lt;Box style={{ flexDirection: 'row', gap: 16, background: '#F4F7FA', borderRadius: 10, padding: '14px 22px', alignItems: 'center' }}&gt;&#10;            &lt;Box style={{ width: 4, height: 44, background: '#276FBF' }} /&gt;&#10;            &lt;Text style={{ fontSize: 16, color: '#546779', lineHeight: 1.55 }}&gt;同一份能力用不同方式判分，得到的数字不可直接比较：猜得中不代表会，跑得过不代表别人读得懂&lt;/Text&gt;&#10;        &lt;/Box&gt;&#10;&#10;    &lt;/Box&gt;&#10;&#10;    &lt;Box style={{ height: 40, flexDirection: 'row', justifyContent: 'space-between', alignItems: 'center' }}&gt;&#10;        &lt;Text style={{ fontSize: 14, color: '#546779' }}&gt;1.4 从榜单到证据&lt;/Text&gt;&#10;        &lt;Text style={{ fontSize: 14, color: '#546779' }}&gt;05 / 36&lt;/Text&gt;&#10;    &lt;/Box&gt;&#10;&#10;&lt;/Slide&gt;&#10;"/>
        <p:cNvGrpSpPr/>
        <p:nvPr/>
      </p:nvGrpSpPr>
      <p:grpSpPr>
        <a:xfrm>
          <a:off x="0" y="0"/>
          <a:ext cx="0" cy="0"/>
          <a:chOff x="0" y="0"/>
          <a:chExt cx="0" cy="0"/>
        </a:xfrm>
      </p:grpSpPr>
      <p:sp>
        <p:nvSpPr>
          <p:cNvPr id="1044" name=""/>
          <p:cNvSpPr/>
          <p:nvPr/>
        </p:nvSpPr>
        <p:spPr>
          <a:xfrm rot="0" flipH="0" flipV="0">
            <a:off x="0" y="0"/>
            <a:ext cx="12192000" cy="6858000"/>
          </a:xfrm>
          <a:prstGeom prst="rect">
            <a:avLst/>
          </a:prstGeom>
          <a:solidFill>
            <a:srgbClr val="FFFFFF"/>
          </a:solidFill>
          <a:ln/>
        </p:spPr>
        <p:txBody>
          <a:bodyPr/>
          <a:p/>
        </p:txBody>
      </p:sp>
      <p:sp>
        <p:nvSpPr>
          <p:cNvPr id="1045" name=""/>
          <p:cNvSpPr/>
          <p:nvPr/>
        </p:nvSpPr>
        <p:spPr>
          <a:xfrm rot="0" flipH="0" flipV="0">
            <a:off x="609600" y="457200"/>
            <a:ext cx="38100" cy="419100"/>
          </a:xfrm>
          <a:prstGeom prst="rect">
            <a:avLst/>
          </a:prstGeom>
          <a:solidFill>
            <a:srgbClr val="276FBF"/>
          </a:solidFill>
          <a:ln/>
        </p:spPr>
        <p:txBody>
          <a:bodyPr/>
          <a:p/>
        </p:txBody>
      </p:sp>
      <p:sp>
        <p:nvSpPr>
          <p:cNvPr id="1046" name="" descr="{&quot;isTemplate&quot;:true,&quot;type&quot;:&quot;text&quot;}"/>
          <p:cNvSpPr txBox="1"/>
          <p:nvPr/>
        </p:nvSpPr>
        <p:spPr>
          <a:xfrm rot="0" flipH="0" flipV="0">
            <a:off x="838200" y="371475"/>
            <a:ext cx="3105150" cy="161925"/>
          </a:xfrm>
          <a:prstGeom prst="rect"/>
        </p:spPr>
        <p:txBody>
          <a:bodyPr wrap="none" lIns="0" tIns="0" rIns="0" bIns="0"/>
          <a:p>
            <a:pPr>
              <a:lnSpc>
                <a:spcPct val="100000"/>
              </a:lnSpc>
            </a:pPr>
            <a:r>
              <a:rPr lang="zh-CN" sz="1050">
                <a:solidFill>
                  <a:srgbClr val="546779"/>
                </a:solidFill>
                <a:latin typeface="Microsoft YaHei"/>
                <a:ea typeface="Microsoft YaHei"/>
              </a:rPr>
              <a:t>①　</a:t>
            </a:r>
            <a:r>
              <a:rPr lang="en-US" sz="1050">
                <a:solidFill>
                  <a:srgbClr val="546779"/>
                </a:solidFill>
                <a:latin typeface="Microsoft YaHei"/>
                <a:ea typeface="Microsoft YaHei"/>
              </a:rPr>
              <a:t>1.4.1</a:t>
            </a:r>
            <a:r>
              <a:rPr lang="zh-CN" sz="1050">
                <a:solidFill>
                  <a:srgbClr val="546779"/>
                </a:solidFill>
                <a:latin typeface="Microsoft YaHei"/>
                <a:ea typeface="Microsoft YaHei"/>
              </a:rPr>
              <a:t>　评估方法：判分方式决定分数能证明什么</a:t>
            </a:r>
            <a:endParaRPr/>
          </a:p>
        </p:txBody>
      </p:sp>
      <p:sp>
        <p:nvSpPr>
          <p:cNvPr id="1047" name="" descr="{&quot;isTemplate&quot;:true,&quot;type&quot;:&quot;text&quot;}"/>
          <p:cNvSpPr txBox="1"/>
          <p:nvPr/>
        </p:nvSpPr>
        <p:spPr>
          <a:xfrm rot="0" flipH="0" flipV="0">
            <a:off x="838200" y="571500"/>
            <a:ext cx="3105150" cy="390525"/>
          </a:xfrm>
          <a:prstGeom prst="rect"/>
        </p:spPr>
        <p:txBody>
          <a:bodyPr wrap="none" lIns="0" tIns="0" rIns="0" bIns="0"/>
          <a:p>
            <a:pPr>
              <a:lnSpc>
                <a:spcPct val="100000"/>
              </a:lnSpc>
            </a:pPr>
            <a:r>
              <a:rPr lang="zh-CN" sz="2550" b="1">
                <a:solidFill>
                  <a:srgbClr val="20344B"/>
                </a:solidFill>
                <a:latin typeface="Microsoft YaHei"/>
                <a:ea typeface="Microsoft YaHei"/>
              </a:rPr>
              <a:t>四种判分方式</a:t>
            </a:r>
            <a:endParaRPr/>
          </a:p>
        </p:txBody>
      </p:sp>
      <p:sp>
        <p:nvSpPr>
          <p:cNvPr id="1048" name=""/>
          <p:cNvSpPr/>
          <p:nvPr/>
        </p:nvSpPr>
        <p:spPr>
          <a:xfrm rot="0" flipH="0" flipV="0">
            <a:off x="609600" y="1828800"/>
            <a:ext cx="2628900" cy="2914650"/>
          </a:xfrm>
          <a:prstGeom prst="roundRect">
            <a:avLst>
              <a:gd name="adj" fmla="val 4348"/>
            </a:avLst>
          </a:prstGeom>
          <a:solidFill>
            <a:srgbClr val="EDF4FC"/>
          </a:solidFill>
          <a:ln/>
        </p:spPr>
        <p:txBody>
          <a:bodyPr/>
          <a:p/>
        </p:txBody>
      </p:sp>
      <p:sp>
        <p:nvSpPr>
          <p:cNvPr id="1049" name=""/>
          <p:cNvSpPr/>
          <p:nvPr/>
        </p:nvSpPr>
        <p:spPr>
          <a:xfrm rot="0" flipH="0" flipV="0">
            <a:off x="781050" y="2000250"/>
            <a:ext cx="381000" cy="381000"/>
          </a:xfrm>
          <a:prstGeom prst="roundRect">
            <a:avLst>
              <a:gd name="adj" fmla="val 20000"/>
            </a:avLst>
          </a:prstGeom>
          <a:solidFill>
            <a:srgbClr val="276FBF"/>
          </a:solidFill>
          <a:ln/>
        </p:spPr>
        <p:txBody>
          <a:bodyPr/>
          <a:p/>
        </p:txBody>
      </p:sp>
      <p:sp>
        <p:nvSpPr>
          <p:cNvPr id="1050" name="" descr="{&quot;isTemplate&quot;:true,&quot;type&quot;:&quot;text&quot;}"/>
          <p:cNvSpPr txBox="1"/>
          <p:nvPr/>
        </p:nvSpPr>
        <p:spPr>
          <a:xfrm rot="0" flipH="0" flipV="0">
            <a:off x="904875" y="2085975"/>
            <a:ext cx="133350" cy="209550"/>
          </a:xfrm>
          <a:prstGeom prst="rect"/>
        </p:spPr>
        <p:txBody>
          <a:bodyPr wrap="none" lIns="0" tIns="0" rIns="0" bIns="0"/>
          <a:p>
            <a:pPr>
              <a:lnSpc>
                <a:spcPct val="100000"/>
              </a:lnSpc>
            </a:pPr>
            <a:r>
              <a:rPr lang="en-US" sz="1350" b="1">
                <a:solidFill>
                  <a:srgbClr val="FFFFFF"/>
                </a:solidFill>
                <a:latin typeface="Microsoft YaHei"/>
                <a:ea typeface="Microsoft YaHei"/>
              </a:rPr>
              <a:t>A</a:t>
            </a:r>
            <a:endParaRPr/>
          </a:p>
        </p:txBody>
      </p:sp>
      <p:sp>
        <p:nvSpPr>
          <p:cNvPr id="1051" name="" descr="{&quot;isTemplate&quot;:true,&quot;type&quot;:&quot;text&quot;}"/>
          <p:cNvSpPr txBox="1"/>
          <p:nvPr/>
        </p:nvSpPr>
        <p:spPr>
          <a:xfrm rot="0" flipH="0" flipV="0">
            <a:off x="781050" y="2476500"/>
            <a:ext cx="2286000" cy="219075"/>
          </a:xfrm>
          <a:prstGeom prst="rect"/>
        </p:spPr>
        <p:txBody>
          <a:bodyPr wrap="none" lIns="0" tIns="0" rIns="0" bIns="0"/>
          <a:p>
            <a:pPr>
              <a:lnSpc>
                <a:spcPct val="100000"/>
              </a:lnSpc>
            </a:pPr>
            <a:r>
              <a:rPr lang="zh-CN" sz="1425" b="1">
                <a:solidFill>
                  <a:srgbClr val="20344B"/>
                </a:solidFill>
                <a:latin typeface="Microsoft YaHei"/>
                <a:ea typeface="Microsoft YaHei"/>
              </a:rPr>
              <a:t>选择题</a:t>
            </a:r>
            <a:endParaRPr/>
          </a:p>
        </p:txBody>
      </p:sp>
      <p:sp>
        <p:nvSpPr>
          <p:cNvPr id="1052" name="" descr="{&quot;isTemplate&quot;:true,&quot;type&quot;:&quot;text&quot;}"/>
          <p:cNvSpPr txBox="1"/>
          <p:nvPr/>
        </p:nvSpPr>
        <p:spPr>
          <a:xfrm rot="0" flipH="0" flipV="0">
            <a:off x="781050" y="2790825"/>
            <a:ext cx="228600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从若干选项里挑一个，程序直接判对错。</a:t>
            </a:r>
            <a:endParaRPr/>
          </a:p>
        </p:txBody>
      </p:sp>
      <p:sp>
        <p:nvSpPr>
          <p:cNvPr id="1053" name="" descr="{&quot;isTemplate&quot;:true,&quot;type&quot;:&quot;text&quot;}"/>
          <p:cNvSpPr txBox="1"/>
          <p:nvPr/>
        </p:nvSpPr>
        <p:spPr>
          <a:xfrm rot="0" flipH="0" flipV="0">
            <a:off x="781050" y="4086225"/>
            <a:ext cx="2286000" cy="485775"/>
          </a:xfrm>
          <a:prstGeom prst="rect"/>
        </p:spPr>
        <p:txBody>
          <a:bodyPr wrap="square" lIns="0" tIns="0" rIns="0" bIns="0">
            <a:normAutofit/>
          </a:bodyPr>
          <a:p>
            <a:pPr>
              <a:lnSpc>
                <a:spcPct val="150000"/>
              </a:lnSpc>
            </a:pPr>
            <a:r>
              <a:rPr lang="zh-CN" sz="1050">
                <a:solidFill>
                  <a:srgbClr val="276FBF"/>
                </a:solidFill>
                <a:latin typeface="Microsoft YaHei"/>
                <a:ea typeface="Microsoft YaHei"/>
              </a:rPr>
              <a:t>代价：选项自带提示，四选一就有</a:t>
            </a:r>
            <a:r>
              <a:rPr lang="en-US" sz="1050">
                <a:solidFill>
                  <a:srgbClr val="276FBF"/>
                </a:solidFill>
                <a:latin typeface="Microsoft YaHei"/>
                <a:ea typeface="Microsoft YaHei"/>
              </a:rPr>
              <a:t xml:space="preserve"> 25% </a:t>
            </a:r>
            <a:r>
              <a:rPr lang="zh-CN" sz="1050">
                <a:solidFill>
                  <a:srgbClr val="276FBF"/>
                </a:solidFill>
                <a:latin typeface="Microsoft YaHei"/>
                <a:ea typeface="Microsoft YaHei"/>
              </a:rPr>
              <a:t>的运气分。</a:t>
            </a:r>
            <a:endParaRPr/>
          </a:p>
        </p:txBody>
      </p:sp>
      <p:sp>
        <p:nvSpPr>
          <p:cNvPr id="1054" name=""/>
          <p:cNvSpPr/>
          <p:nvPr/>
        </p:nvSpPr>
        <p:spPr>
          <a:xfrm rot="0" flipH="0" flipV="0">
            <a:off x="3390900" y="1828800"/>
            <a:ext cx="2628900" cy="2914650"/>
          </a:xfrm>
          <a:prstGeom prst="roundRect">
            <a:avLst>
              <a:gd name="adj" fmla="val 4348"/>
            </a:avLst>
          </a:prstGeom>
          <a:solidFill>
            <a:srgbClr val="EDF4FC"/>
          </a:solidFill>
          <a:ln/>
        </p:spPr>
        <p:txBody>
          <a:bodyPr/>
          <a:p/>
        </p:txBody>
      </p:sp>
      <p:sp>
        <p:nvSpPr>
          <p:cNvPr id="1055" name=""/>
          <p:cNvSpPr/>
          <p:nvPr/>
        </p:nvSpPr>
        <p:spPr>
          <a:xfrm rot="0" flipH="0" flipV="0">
            <a:off x="3562350" y="2000250"/>
            <a:ext cx="381000" cy="381000"/>
          </a:xfrm>
          <a:prstGeom prst="roundRect">
            <a:avLst>
              <a:gd name="adj" fmla="val 20000"/>
            </a:avLst>
          </a:prstGeom>
          <a:solidFill>
            <a:srgbClr val="276FBF"/>
          </a:solidFill>
          <a:ln/>
        </p:spPr>
        <p:txBody>
          <a:bodyPr/>
          <a:p/>
        </p:txBody>
      </p:sp>
      <p:sp>
        <p:nvSpPr>
          <p:cNvPr id="1056" name="" descr="{&quot;isTemplate&quot;:true,&quot;type&quot;:&quot;text&quot;}"/>
          <p:cNvSpPr txBox="1"/>
          <p:nvPr/>
        </p:nvSpPr>
        <p:spPr>
          <a:xfrm rot="0" flipH="0" flipV="0">
            <a:off x="3695700" y="2085975"/>
            <a:ext cx="123825" cy="209550"/>
          </a:xfrm>
          <a:prstGeom prst="rect"/>
        </p:spPr>
        <p:txBody>
          <a:bodyPr wrap="none" lIns="0" tIns="0" rIns="0" bIns="0"/>
          <a:p>
            <a:pPr>
              <a:lnSpc>
                <a:spcPct val="100000"/>
              </a:lnSpc>
            </a:pPr>
            <a:r>
              <a:rPr lang="en-US" sz="1350" b="1">
                <a:solidFill>
                  <a:srgbClr val="FFFFFF"/>
                </a:solidFill>
                <a:latin typeface="Microsoft YaHei"/>
                <a:ea typeface="Microsoft YaHei"/>
              </a:rPr>
              <a:t>B</a:t>
            </a:r>
            <a:endParaRPr/>
          </a:p>
        </p:txBody>
      </p:sp>
      <p:sp>
        <p:nvSpPr>
          <p:cNvPr id="1057" name="" descr="{&quot;isTemplate&quot;:true,&quot;type&quot;:&quot;text&quot;}"/>
          <p:cNvSpPr txBox="1"/>
          <p:nvPr/>
        </p:nvSpPr>
        <p:spPr>
          <a:xfrm rot="0" flipH="0" flipV="0">
            <a:off x="3562350" y="2476500"/>
            <a:ext cx="2286000" cy="219075"/>
          </a:xfrm>
          <a:prstGeom prst="rect"/>
        </p:spPr>
        <p:txBody>
          <a:bodyPr wrap="none" lIns="0" tIns="0" rIns="0" bIns="0"/>
          <a:p>
            <a:pPr>
              <a:lnSpc>
                <a:spcPct val="100000"/>
              </a:lnSpc>
            </a:pPr>
            <a:r>
              <a:rPr lang="zh-CN" sz="1425" b="1">
                <a:solidFill>
                  <a:srgbClr val="20344B"/>
                </a:solidFill>
                <a:latin typeface="Microsoft YaHei"/>
                <a:ea typeface="Microsoft YaHei"/>
              </a:rPr>
              <a:t>自由作答</a:t>
            </a:r>
            <a:endParaRPr/>
          </a:p>
        </p:txBody>
      </p:sp>
      <p:sp>
        <p:nvSpPr>
          <p:cNvPr id="1058" name="" descr="{&quot;isTemplate&quot;:true,&quot;type&quot;:&quot;text&quot;}"/>
          <p:cNvSpPr txBox="1"/>
          <p:nvPr/>
        </p:nvSpPr>
        <p:spPr>
          <a:xfrm rot="0" flipH="0" flipV="0">
            <a:off x="3562350" y="2790825"/>
            <a:ext cx="228600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模型自己写出答案，一般做精确匹配。</a:t>
            </a:r>
            <a:endParaRPr/>
          </a:p>
        </p:txBody>
      </p:sp>
      <p:sp>
        <p:nvSpPr>
          <p:cNvPr id="1059" name="" descr="{&quot;isTemplate&quot;:true,&quot;type&quot;:&quot;text&quot;}"/>
          <p:cNvSpPr txBox="1"/>
          <p:nvPr/>
        </p:nvSpPr>
        <p:spPr>
          <a:xfrm rot="0" flipH="0" flipV="0">
            <a:off x="3562350" y="4086225"/>
            <a:ext cx="2286000" cy="485775"/>
          </a:xfrm>
          <a:prstGeom prst="rect"/>
        </p:spPr>
        <p:txBody>
          <a:bodyPr wrap="square" lIns="0" tIns="0" rIns="0" bIns="0">
            <a:normAutofit/>
          </a:bodyPr>
          <a:p>
            <a:pPr>
              <a:lnSpc>
                <a:spcPct val="150000"/>
              </a:lnSpc>
            </a:pPr>
            <a:r>
              <a:rPr lang="zh-CN" sz="1050">
                <a:solidFill>
                  <a:srgbClr val="276FBF"/>
                </a:solidFill>
                <a:latin typeface="Microsoft YaHei"/>
                <a:ea typeface="Microsoft YaHei"/>
              </a:rPr>
              <a:t>代价：格式差一点就零分，推理对也可能不算。</a:t>
            </a:r>
            <a:endParaRPr/>
          </a:p>
        </p:txBody>
      </p:sp>
      <p:sp>
        <p:nvSpPr>
          <p:cNvPr id="1060" name=""/>
          <p:cNvSpPr/>
          <p:nvPr/>
        </p:nvSpPr>
        <p:spPr>
          <a:xfrm rot="0" flipH="0" flipV="0">
            <a:off x="6172200" y="1828800"/>
            <a:ext cx="2628900" cy="2914650"/>
          </a:xfrm>
          <a:prstGeom prst="roundRect">
            <a:avLst>
              <a:gd name="adj" fmla="val 4348"/>
            </a:avLst>
          </a:prstGeom>
          <a:solidFill>
            <a:srgbClr val="ECF7F2"/>
          </a:solidFill>
          <a:ln/>
        </p:spPr>
        <p:txBody>
          <a:bodyPr/>
          <a:p/>
        </p:txBody>
      </p:sp>
      <p:sp>
        <p:nvSpPr>
          <p:cNvPr id="1061" name=""/>
          <p:cNvSpPr/>
          <p:nvPr/>
        </p:nvSpPr>
        <p:spPr>
          <a:xfrm rot="0" flipH="0" flipV="0">
            <a:off x="6343650" y="2000250"/>
            <a:ext cx="381000" cy="381000"/>
          </a:xfrm>
          <a:prstGeom prst="roundRect">
            <a:avLst>
              <a:gd name="adj" fmla="val 20000"/>
            </a:avLst>
          </a:prstGeom>
          <a:solidFill>
            <a:srgbClr val="26816B"/>
          </a:solidFill>
          <a:ln/>
        </p:spPr>
        <p:txBody>
          <a:bodyPr/>
          <a:p/>
        </p:txBody>
      </p:sp>
      <p:sp>
        <p:nvSpPr>
          <p:cNvPr id="1062" name="" descr="{&quot;isTemplate&quot;:true,&quot;type&quot;:&quot;text&quot;}"/>
          <p:cNvSpPr txBox="1"/>
          <p:nvPr/>
        </p:nvSpPr>
        <p:spPr>
          <a:xfrm rot="0" flipH="0" flipV="0">
            <a:off x="6477000" y="2085975"/>
            <a:ext cx="123825" cy="209550"/>
          </a:xfrm>
          <a:prstGeom prst="rect"/>
        </p:spPr>
        <p:txBody>
          <a:bodyPr wrap="none" lIns="0" tIns="0" rIns="0" bIns="0"/>
          <a:p>
            <a:pPr>
              <a:lnSpc>
                <a:spcPct val="100000"/>
              </a:lnSpc>
            </a:pPr>
            <a:r>
              <a:rPr lang="en-US" sz="1350" b="1">
                <a:solidFill>
                  <a:srgbClr val="FFFFFF"/>
                </a:solidFill>
                <a:latin typeface="Microsoft YaHei"/>
                <a:ea typeface="Microsoft YaHei"/>
              </a:rPr>
              <a:t>C</a:t>
            </a:r>
            <a:endParaRPr/>
          </a:p>
        </p:txBody>
      </p:sp>
      <p:sp>
        <p:nvSpPr>
          <p:cNvPr id="1063" name="" descr="{&quot;isTemplate&quot;:true,&quot;type&quot;:&quot;text&quot;}"/>
          <p:cNvSpPr txBox="1"/>
          <p:nvPr/>
        </p:nvSpPr>
        <p:spPr>
          <a:xfrm rot="0" flipH="0" flipV="0">
            <a:off x="6343650" y="2476500"/>
            <a:ext cx="2286000" cy="219075"/>
          </a:xfrm>
          <a:prstGeom prst="rect"/>
        </p:spPr>
        <p:txBody>
          <a:bodyPr wrap="none" lIns="0" tIns="0" rIns="0" bIns="0"/>
          <a:p>
            <a:pPr>
              <a:lnSpc>
                <a:spcPct val="100000"/>
              </a:lnSpc>
            </a:pPr>
            <a:r>
              <a:rPr lang="zh-CN" sz="1425" b="1">
                <a:solidFill>
                  <a:srgbClr val="20344B"/>
                </a:solidFill>
                <a:latin typeface="Microsoft YaHei"/>
                <a:ea typeface="Microsoft YaHei"/>
              </a:rPr>
              <a:t>可执行任务</a:t>
            </a:r>
            <a:endParaRPr/>
          </a:p>
        </p:txBody>
      </p:sp>
      <p:sp>
        <p:nvSpPr>
          <p:cNvPr id="1064" name="" descr="{&quot;isTemplate&quot;:true,&quot;type&quot;:&quot;text&quot;}"/>
          <p:cNvSpPr txBox="1"/>
          <p:nvPr/>
        </p:nvSpPr>
        <p:spPr>
          <a:xfrm rot="0" flipH="0" flipV="0">
            <a:off x="6343650" y="2790825"/>
            <a:ext cx="228600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交代码或完成操作，实际跑测试，全过才算对。</a:t>
            </a:r>
            <a:endParaRPr/>
          </a:p>
        </p:txBody>
      </p:sp>
      <p:sp>
        <p:nvSpPr>
          <p:cNvPr id="1065" name="" descr="{&quot;isTemplate&quot;:true,&quot;type&quot;:&quot;text&quot;}"/>
          <p:cNvSpPr txBox="1"/>
          <p:nvPr/>
        </p:nvSpPr>
        <p:spPr>
          <a:xfrm rot="0" flipH="0" flipV="0">
            <a:off x="6343650" y="4086225"/>
            <a:ext cx="2286000" cy="485775"/>
          </a:xfrm>
          <a:prstGeom prst="rect"/>
        </p:spPr>
        <p:txBody>
          <a:bodyPr wrap="square" lIns="0" tIns="0" rIns="0" bIns="0">
            <a:normAutofit/>
          </a:bodyPr>
          <a:p>
            <a:pPr>
              <a:lnSpc>
                <a:spcPct val="150000"/>
              </a:lnSpc>
            </a:pPr>
            <a:r>
              <a:rPr lang="zh-CN" sz="1050">
                <a:solidFill>
                  <a:srgbClr val="26816B"/>
                </a:solidFill>
                <a:latin typeface="Microsoft YaHei"/>
                <a:ea typeface="Microsoft YaHei"/>
              </a:rPr>
              <a:t>代价：结果受运行环境和可用工具影响。</a:t>
            </a:r>
            <a:endParaRPr/>
          </a:p>
        </p:txBody>
      </p:sp>
      <p:sp>
        <p:nvSpPr>
          <p:cNvPr id="1066" name=""/>
          <p:cNvSpPr/>
          <p:nvPr/>
        </p:nvSpPr>
        <p:spPr>
          <a:xfrm rot="0" flipH="0" flipV="0">
            <a:off x="8953500" y="1828800"/>
            <a:ext cx="2628900" cy="2914650"/>
          </a:xfrm>
          <a:prstGeom prst="roundRect">
            <a:avLst>
              <a:gd name="adj" fmla="val 4348"/>
            </a:avLst>
          </a:prstGeom>
          <a:solidFill>
            <a:srgbClr val="F7F3E8"/>
          </a:solidFill>
          <a:ln/>
        </p:spPr>
        <p:txBody>
          <a:bodyPr/>
          <a:p/>
        </p:txBody>
      </p:sp>
      <p:sp>
        <p:nvSpPr>
          <p:cNvPr id="1067" name=""/>
          <p:cNvSpPr/>
          <p:nvPr/>
        </p:nvSpPr>
        <p:spPr>
          <a:xfrm rot="0" flipH="0" flipV="0">
            <a:off x="9124950" y="2000250"/>
            <a:ext cx="381000" cy="381000"/>
          </a:xfrm>
          <a:prstGeom prst="roundRect">
            <a:avLst>
              <a:gd name="adj" fmla="val 20000"/>
            </a:avLst>
          </a:prstGeom>
          <a:solidFill>
            <a:srgbClr val="546779"/>
          </a:solidFill>
          <a:ln/>
        </p:spPr>
        <p:txBody>
          <a:bodyPr/>
          <a:p/>
        </p:txBody>
      </p:sp>
      <p:sp>
        <p:nvSpPr>
          <p:cNvPr id="1068" name="" descr="{&quot;isTemplate&quot;:true,&quot;type&quot;:&quot;text&quot;}"/>
          <p:cNvSpPr txBox="1"/>
          <p:nvPr/>
        </p:nvSpPr>
        <p:spPr>
          <a:xfrm rot="0" flipH="0" flipV="0">
            <a:off x="9248775" y="2085975"/>
            <a:ext cx="142875" cy="209550"/>
          </a:xfrm>
          <a:prstGeom prst="rect"/>
        </p:spPr>
        <p:txBody>
          <a:bodyPr wrap="none" lIns="0" tIns="0" rIns="0" bIns="0"/>
          <a:p>
            <a:pPr>
              <a:lnSpc>
                <a:spcPct val="100000"/>
              </a:lnSpc>
            </a:pPr>
            <a:r>
              <a:rPr lang="en-US" sz="1350" b="1">
                <a:solidFill>
                  <a:srgbClr val="FFFFFF"/>
                </a:solidFill>
                <a:latin typeface="Microsoft YaHei"/>
                <a:ea typeface="Microsoft YaHei"/>
              </a:rPr>
              <a:t>D</a:t>
            </a:r>
            <a:endParaRPr/>
          </a:p>
        </p:txBody>
      </p:sp>
      <p:sp>
        <p:nvSpPr>
          <p:cNvPr id="1069" name="" descr="{&quot;isTemplate&quot;:true,&quot;type&quot;:&quot;text&quot;}"/>
          <p:cNvSpPr txBox="1"/>
          <p:nvPr/>
        </p:nvSpPr>
        <p:spPr>
          <a:xfrm rot="0" flipH="0" flipV="0">
            <a:off x="9124950" y="2476500"/>
            <a:ext cx="2286000" cy="219075"/>
          </a:xfrm>
          <a:prstGeom prst="rect"/>
        </p:spPr>
        <p:txBody>
          <a:bodyPr wrap="none" lIns="0" tIns="0" rIns="0" bIns="0"/>
          <a:p>
            <a:pPr>
              <a:lnSpc>
                <a:spcPct val="100000"/>
              </a:lnSpc>
            </a:pPr>
            <a:r>
              <a:rPr lang="zh-CN" sz="1425" b="1">
                <a:solidFill>
                  <a:srgbClr val="20344B"/>
                </a:solidFill>
                <a:latin typeface="Microsoft YaHei"/>
                <a:ea typeface="Microsoft YaHei"/>
              </a:rPr>
              <a:t>人类偏好</a:t>
            </a:r>
            <a:endParaRPr/>
          </a:p>
        </p:txBody>
      </p:sp>
      <p:sp>
        <p:nvSpPr>
          <p:cNvPr id="1070" name="" descr="{&quot;isTemplate&quot;:true,&quot;type&quot;:&quot;text&quot;}"/>
          <p:cNvSpPr txBox="1"/>
          <p:nvPr/>
        </p:nvSpPr>
        <p:spPr>
          <a:xfrm rot="0" flipH="0" flipV="0">
            <a:off x="9124950" y="2790825"/>
            <a:ext cx="228600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评阅者成对比较两份输出，允许平局并写理由。</a:t>
            </a:r>
            <a:endParaRPr/>
          </a:p>
        </p:txBody>
      </p:sp>
      <p:sp>
        <p:nvSpPr>
          <p:cNvPr id="1071" name="" descr="{&quot;isTemplate&quot;:true,&quot;type&quot;:&quot;text&quot;}"/>
          <p:cNvSpPr txBox="1"/>
          <p:nvPr/>
        </p:nvSpPr>
        <p:spPr>
          <a:xfrm rot="0" flipH="0" flipV="0">
            <a:off x="9124950" y="4086225"/>
            <a:ext cx="2286000" cy="485775"/>
          </a:xfrm>
          <a:prstGeom prst="rect"/>
        </p:spPr>
        <p:txBody>
          <a:bodyPr wrap="square" lIns="0" tIns="0" rIns="0" bIns="0">
            <a:normAutofit/>
          </a:bodyPr>
          <a:p>
            <a:pPr>
              <a:lnSpc>
                <a:spcPct val="150000"/>
              </a:lnSpc>
            </a:pPr>
            <a:r>
              <a:rPr lang="zh-CN" sz="1050">
                <a:solidFill>
                  <a:srgbClr val="546779"/>
                </a:solidFill>
                <a:latin typeface="Microsoft YaHei"/>
                <a:ea typeface="Microsoft YaHei"/>
              </a:rPr>
              <a:t>代价：偏好随人群和任务变化，不等于事实正确。</a:t>
            </a:r>
            <a:endParaRPr/>
          </a:p>
        </p:txBody>
      </p:sp>
      <p:sp>
        <p:nvSpPr>
          <p:cNvPr id="1072" name=""/>
          <p:cNvSpPr/>
          <p:nvPr/>
        </p:nvSpPr>
        <p:spPr>
          <a:xfrm rot="0" flipH="0" flipV="0">
            <a:off x="609600" y="4914900"/>
            <a:ext cx="10972800" cy="685800"/>
          </a:xfrm>
          <a:prstGeom prst="roundRect">
            <a:avLst>
              <a:gd name="adj" fmla="val 13889"/>
            </a:avLst>
          </a:prstGeom>
          <a:solidFill>
            <a:srgbClr val="F4F7FA"/>
          </a:solidFill>
          <a:ln/>
        </p:spPr>
        <p:txBody>
          <a:bodyPr/>
          <a:p/>
        </p:txBody>
      </p:sp>
      <p:sp>
        <p:nvSpPr>
          <p:cNvPr id="1073" name=""/>
          <p:cNvSpPr/>
          <p:nvPr/>
        </p:nvSpPr>
        <p:spPr>
          <a:xfrm rot="0" flipH="0" flipV="0">
            <a:off x="819150" y="5048250"/>
            <a:ext cx="38100" cy="419100"/>
          </a:xfrm>
          <a:prstGeom prst="rect">
            <a:avLst/>
          </a:prstGeom>
          <a:solidFill>
            <a:srgbClr val="276FBF"/>
          </a:solidFill>
          <a:ln/>
        </p:spPr>
        <p:txBody>
          <a:bodyPr/>
          <a:p/>
        </p:txBody>
      </p:sp>
      <p:sp>
        <p:nvSpPr>
          <p:cNvPr id="1074" name="" descr="{&quot;isTemplate&quot;:true,&quot;type&quot;:&quot;text&quot;}"/>
          <p:cNvSpPr txBox="1"/>
          <p:nvPr/>
        </p:nvSpPr>
        <p:spPr>
          <a:xfrm rot="0" flipH="0" flipV="0">
            <a:off x="1009650" y="5114925"/>
            <a:ext cx="6705600" cy="285750"/>
          </a:xfrm>
          <a:prstGeom prst="rect"/>
        </p:spPr>
        <p:txBody>
          <a:bodyPr wrap="none" lIns="0" tIns="0" rIns="0" bIns="0"/>
          <a:p>
            <a:pPr>
              <a:lnSpc>
                <a:spcPct val="155000"/>
              </a:lnSpc>
            </a:pPr>
            <a:r>
              <a:rPr lang="zh-CN" sz="1200">
                <a:solidFill>
                  <a:srgbClr val="546779"/>
                </a:solidFill>
                <a:latin typeface="Microsoft YaHei"/>
                <a:ea typeface="Microsoft YaHei"/>
              </a:rPr>
              <a:t>同一份能力用不同方式判分，得到的数字不可直接比较：猜得中不代表会，跑得过不代表别人读得懂</a:t>
            </a:r>
            <a:endParaRPr/>
          </a:p>
        </p:txBody>
      </p:sp>
      <p:sp>
        <p:nvSpPr>
          <p:cNvPr id="1075"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076"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05 / 36</a:t>
            </a:r>
            <a:endParaRPr/>
          </a:p>
        </p:txBody>
      </p:sp>
    </p:spTree>
  </p:cSld>
</p:sld>
</file>

<file path=ppt/slides/slide6.xml><?xml version="1.0" encoding="utf-8"?>
<p:sld xmlns:p="http://schemas.openxmlformats.org/presentationml/2006/main" xmlns:a="http://schemas.openxmlformats.org/drawingml/2006/main">
  <p:cSld>
    <p:spTree>
      <p:nvGrpSpPr>
        <p:cNvPr id="1077" name="" descr="&lt;Slide notes={`看到任何一个分数，我都建议先补齐四个条件。&#10;&#10;第一，模型身份。是哪个模型、哪个版本，还是同一个模型的两种配置。同一个名字下面挂不同配置，分数可能差很多。&#10;&#10;第二，题目范围。是全部题库，还是人工核验过的子集，还是难度最高的一层。分母不同，一个百分点代表的分量完全不同。&#10;&#10;第三，运行条件。闭卷还是可以用工具，跑一次还是跑多次取最好。&#10;&#10;第四，来源与时间。是官方榜单、论文，还是某个聚合站点，是哪一天的快照。&#10;&#10;拿 HLE 来说，2026 年 9 月前后，不同站点给出的头名分数从百分之五十五点五到百分之六十七点七不等。差距不是模型忽然变强，而是有的带工具、有的不带，快照日期也不一样。缺了这四个条件，两个数字根本没法比。`}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①　1.4.1　评估方法：缺一个条件，分数就不能用&lt;/Text&gt;&#10;            &lt;Text style={{ fontSize: 34, fontWeight: 'bold', color: '#20344B' }}&gt;读分数的四个条件&lt;/Text&gt;&#10;        &lt;/Box&gt;&#10;    &lt;/Box&gt;&#10;&#10;    &lt;Box style={{ height: 540, flexDirection: 'column', justifyContent: 'center' }}&gt;&#10;&#10;        &lt;Box style={{ flexDirection: 'row', gap: 28, alignItems: 'flex-start' }}&gt;&#10;&#10;            &lt;Box style={{ width: 660, flexDirection: 'column', gap: 16 }}&gt;&#10;                &lt;Box style={{ width: 660, height: 104, background: '#EDF4FC', borderRadius: 10, padding: '14px 20px', flexDirection: 'row', alignItems: 'center', gap: 16 }}&gt;&#10;                    &lt;Box style={{ width: 4, height: 52, background: '#276FBF' }} /&gt;&#10;                    &lt;Text style={{ width: 120, fontSize: 18, fontWeight: 'bold', color: '#20344B' }}&gt;模型身份&lt;/Text&gt;&#10;                    &lt;Text style={{ width: 464, fontSize: 15, color: '#546779', lineHeight: 1.5 }}&gt;哪个模型、哪个版本，还是同一个模型的两种配置&lt;/Text&gt;&#10;                &lt;/Box&gt;&#10;                &lt;Box style={{ width: 660, height: 104, background: '#EDF4FC', borderRadius: 10, padding: '14px 20px', flexDirection: 'row', alignItems: 'center', gap: 16 }}&gt;&#10;                    &lt;Box style={{ width: 4, height: 52, background: '#276FBF' }} /&gt;&#10;                    &lt;Text style={{ width: 120, fontSize: 18, fontWeight: 'bold', color: '#20344B' }}&gt;题目范围&lt;/Text&gt;&#10;                    &lt;Text style={{ width: 464, fontSize: 15, color: '#546779', lineHeight: 1.5 }}&gt;全部题库、人工核验子集，还是难度最高的那一层&lt;/Text&gt;&#10;                &lt;/Box&gt;&#10;                &lt;Box style={{ width: 660, height: 104, background: '#EDF4FC', borderRadius: 10, padding: '14px 20px', flexDirection: 'row', alignItems: 'center', gap: 16 }}&gt;&#10;                    &lt;Box style={{ width: 4, height: 52, background: '#276FBF' }} /&gt;&#10;                    &lt;Text style={{ width: 120, fontSize: 18, fontWeight: 'bold', color: '#20344B' }}&gt;运行条件&lt;/Text&gt;&#10;                    &lt;Text style={{ width: 464, fontSize: 15, color: '#546779', lineHeight: 1.5 }}&gt;闭卷还是可用工具；跑一次，还是多次取最好&lt;/Text&gt;&#10;                &lt;/Box&gt;&#10;                &lt;Box style={{ width: 660, height: 104, background: '#EDF4FC', borderRadius: 10, padding: '14px 20px', flexDirection: 'row', alignItems: 'center', gap: 16 }}&gt;&#10;                    &lt;Box style={{ width: 4, height: 52, background: '#276FBF' }} /&gt;&#10;                    &lt;Text style={{ width: 120, fontSize: 18, fontWeight: 'bold', color: '#20344B' }}&gt;来源与时间&lt;/Text&gt;&#10;                    &lt;Text style={{ width: 464, fontSize: 15, color: '#546779', lineHeight: 1.5 }}&gt;官方榜单、论文，还是聚合站点；哪一天的快照&lt;/Text&gt;&#10;                &lt;/Box&gt;&#10;            &lt;/Box&gt;&#10;&#10;            &lt;Box style={{ width: 464, height: 464, background: '#FFF4E6', borderRadius: 12, padding: '20px 20px', flexDirection: 'column', gap: 14 }}&gt;&#10;                &lt;Text style={{ fontSize: 18, fontWeight: 'bold', color: '#CB6B28' }}&gt;同一个 HLE，头名分数差一截&lt;/Text&gt;&#10;                &lt;Text style={{ fontSize: 14, color: '#CB6B28', lineHeight: 1.45 }}&gt;2026 年 9 月不同站点给出的头名成绩&lt;/Text&gt;&#10;&#10;                &lt;Box style={{ flexDirection: 'row', alignItems: 'center', gap: 10 }}&gt;&#10;                    &lt;Box style={{ width: 210, height: 22, background: '#CB6B28', borderRadius: 4 }} /&gt;&#10;                    &lt;Text style={{ fontSize: 15, fontWeight: 'bold', color: '#CB6B28' }}&gt;67.7%&lt;/Text&gt;&#10;                &lt;/Box&gt;&#10;                &lt;Text style={{ fontSize: 13, color: '#546779' }}&gt;带工具协议&lt;/Text&gt;&#10;&#10;                &lt;Box style={{ flexDirection: 'row', alignItems: 'center', gap: 10 }}&gt;&#10;                    &lt;Box style={{ width: 202, height: 22, background: '#CB6B28', borderRadius: 4 }} /&gt;&#10;                    &lt;Text style={{ fontSize: 15, fontWeight: 'bold', color: '#CB6B28' }}&gt;65.0%&lt;/Text&gt;&#10;                &lt;/Box&gt;&#10;                &lt;Text style={{ fontSize: 13, color: '#546779' }}&gt;另一站点，同期&lt;/Text&gt;&#10;&#10;                &lt;Box style={{ flexDirection: 'row', alignItems: 'center', gap: 10 }}&gt;&#10;                    &lt;Box style={{ width: 172, height: 22, background: '#CB6B28', borderRadius: 4 }} /&gt;&#10;                    &lt;Text style={{ fontSize: 15, fontWeight: 'bold', color: '#CB6B28' }}&gt;55.5%&lt;/Text&gt;&#10;                &lt;/Box&gt;&#10;                &lt;Text style={{ fontSize: 13, color: '#546779' }}&gt;更早的快照（9 月 7 日）&lt;/Text&gt;&#10;&#10;                &lt;Box style={{ flex: 1 }} /&gt;&#10;                &lt;Box style={{ flexDirection: 'row', gap: 10, alignItems: 'center', background: '#FFFFFF', borderRadius: 8, padding: '10px 14px' }}&gt;&#10;                    &lt;Box style={{ width: 4, height: 40, background: '#CB6B28' }} /&gt;&#10;                    &lt;Text style={{ fontSize: 14, color: '#CB6B28', lineHeight: 1.45 }}&gt;差异来自协议与快照日期，不是模型忽然变强&lt;/Text&gt;&#10;                &lt;/Box&gt;&#10;            &lt;/Box&gt;&#10;&#10;        &lt;/Box&gt;&#10;&#10;    &lt;/Box&gt;&#10;&#10;    &lt;Box style={{ height: 40, flexDirection: 'row', justifyContent: 'space-between', alignItems: 'center' }}&gt;&#10;        &lt;Text style={{ fontSize: 14, color: '#546779' }}&gt;1.4 从榜单到证据&lt;/Text&gt;&#10;        &lt;Text style={{ fontSize: 14, color: '#546779' }}&gt;06 / 36&lt;/Text&gt;&#10;    &lt;/Box&gt;&#10;&#10;&lt;/Slide&gt;&#10;"/>
        <p:cNvGrpSpPr/>
        <p:nvPr/>
      </p:nvGrpSpPr>
      <p:grpSpPr>
        <a:xfrm>
          <a:off x="0" y="0"/>
          <a:ext cx="0" cy="0"/>
          <a:chOff x="0" y="0"/>
          <a:chExt cx="0" cy="0"/>
        </a:xfrm>
      </p:grpSpPr>
      <p:sp>
        <p:nvSpPr>
          <p:cNvPr id="1078" name=""/>
          <p:cNvSpPr/>
          <p:nvPr/>
        </p:nvSpPr>
        <p:spPr>
          <a:xfrm rot="0" flipH="0" flipV="0">
            <a:off x="0" y="0"/>
            <a:ext cx="12192000" cy="6858000"/>
          </a:xfrm>
          <a:prstGeom prst="rect">
            <a:avLst/>
          </a:prstGeom>
          <a:solidFill>
            <a:srgbClr val="FFFFFF"/>
          </a:solidFill>
          <a:ln/>
        </p:spPr>
        <p:txBody>
          <a:bodyPr/>
          <a:p/>
        </p:txBody>
      </p:sp>
      <p:sp>
        <p:nvSpPr>
          <p:cNvPr id="1079" name=""/>
          <p:cNvSpPr/>
          <p:nvPr/>
        </p:nvSpPr>
        <p:spPr>
          <a:xfrm rot="0" flipH="0" flipV="0">
            <a:off x="609600" y="457200"/>
            <a:ext cx="38100" cy="419100"/>
          </a:xfrm>
          <a:prstGeom prst="rect">
            <a:avLst/>
          </a:prstGeom>
          <a:solidFill>
            <a:srgbClr val="276FBF"/>
          </a:solidFill>
          <a:ln/>
        </p:spPr>
        <p:txBody>
          <a:bodyPr/>
          <a:p/>
        </p:txBody>
      </p:sp>
      <p:sp>
        <p:nvSpPr>
          <p:cNvPr id="1080" name="" descr="{&quot;isTemplate&quot;:true,&quot;type&quot;:&quot;text&quot;}"/>
          <p:cNvSpPr txBox="1"/>
          <p:nvPr/>
        </p:nvSpPr>
        <p:spPr>
          <a:xfrm rot="0" flipH="0" flipV="0">
            <a:off x="838200" y="371475"/>
            <a:ext cx="2971800" cy="161925"/>
          </a:xfrm>
          <a:prstGeom prst="rect"/>
        </p:spPr>
        <p:txBody>
          <a:bodyPr wrap="none" lIns="0" tIns="0" rIns="0" bIns="0"/>
          <a:p>
            <a:pPr>
              <a:lnSpc>
                <a:spcPct val="100000"/>
              </a:lnSpc>
            </a:pPr>
            <a:r>
              <a:rPr lang="zh-CN" sz="1050">
                <a:solidFill>
                  <a:srgbClr val="546779"/>
                </a:solidFill>
                <a:latin typeface="Microsoft YaHei"/>
                <a:ea typeface="Microsoft YaHei"/>
              </a:rPr>
              <a:t>①　</a:t>
            </a:r>
            <a:r>
              <a:rPr lang="en-US" sz="1050">
                <a:solidFill>
                  <a:srgbClr val="546779"/>
                </a:solidFill>
                <a:latin typeface="Microsoft YaHei"/>
                <a:ea typeface="Microsoft YaHei"/>
              </a:rPr>
              <a:t>1.4.1</a:t>
            </a:r>
            <a:r>
              <a:rPr lang="zh-CN" sz="1050">
                <a:solidFill>
                  <a:srgbClr val="546779"/>
                </a:solidFill>
                <a:latin typeface="Microsoft YaHei"/>
                <a:ea typeface="Microsoft YaHei"/>
              </a:rPr>
              <a:t>　评估方法：缺一个条件，分数就不能用</a:t>
            </a:r>
            <a:endParaRPr/>
          </a:p>
        </p:txBody>
      </p:sp>
      <p:sp>
        <p:nvSpPr>
          <p:cNvPr id="1081" name="" descr="{&quot;isTemplate&quot;:true,&quot;type&quot;:&quot;text&quot;}"/>
          <p:cNvSpPr txBox="1"/>
          <p:nvPr/>
        </p:nvSpPr>
        <p:spPr>
          <a:xfrm rot="0" flipH="0" flipV="0">
            <a:off x="838200" y="571500"/>
            <a:ext cx="2971800" cy="390525"/>
          </a:xfrm>
          <a:prstGeom prst="rect"/>
        </p:spPr>
        <p:txBody>
          <a:bodyPr wrap="none" lIns="0" tIns="0" rIns="0" bIns="0"/>
          <a:p>
            <a:pPr>
              <a:lnSpc>
                <a:spcPct val="100000"/>
              </a:lnSpc>
            </a:pPr>
            <a:r>
              <a:rPr lang="zh-CN" sz="2550" b="1">
                <a:solidFill>
                  <a:srgbClr val="20344B"/>
                </a:solidFill>
                <a:latin typeface="Microsoft YaHei"/>
                <a:ea typeface="Microsoft YaHei"/>
              </a:rPr>
              <a:t>读分数的四个条件</a:t>
            </a:r>
            <a:endParaRPr/>
          </a:p>
        </p:txBody>
      </p:sp>
      <p:sp>
        <p:nvSpPr>
          <p:cNvPr id="1082" name=""/>
          <p:cNvSpPr/>
          <p:nvPr/>
        </p:nvSpPr>
        <p:spPr>
          <a:xfrm rot="0" flipH="0" flipV="0">
            <a:off x="609600" y="1504950"/>
            <a:ext cx="6286500" cy="990600"/>
          </a:xfrm>
          <a:prstGeom prst="roundRect">
            <a:avLst>
              <a:gd name="adj" fmla="val 9615"/>
            </a:avLst>
          </a:prstGeom>
          <a:solidFill>
            <a:srgbClr val="EDF4FC"/>
          </a:solidFill>
          <a:ln/>
        </p:spPr>
        <p:txBody>
          <a:bodyPr/>
          <a:p/>
        </p:txBody>
      </p:sp>
      <p:sp>
        <p:nvSpPr>
          <p:cNvPr id="1083" name=""/>
          <p:cNvSpPr/>
          <p:nvPr/>
        </p:nvSpPr>
        <p:spPr>
          <a:xfrm rot="0" flipH="0" flipV="0">
            <a:off x="800100" y="1752600"/>
            <a:ext cx="38100" cy="495300"/>
          </a:xfrm>
          <a:prstGeom prst="rect">
            <a:avLst/>
          </a:prstGeom>
          <a:solidFill>
            <a:srgbClr val="276FBF"/>
          </a:solidFill>
          <a:ln/>
        </p:spPr>
        <p:txBody>
          <a:bodyPr/>
          <a:p/>
        </p:txBody>
      </p:sp>
      <p:sp>
        <p:nvSpPr>
          <p:cNvPr id="1084" name="" descr="{&quot;isTemplate&quot;:true,&quot;type&quot;:&quot;text&quot;}"/>
          <p:cNvSpPr txBox="1"/>
          <p:nvPr/>
        </p:nvSpPr>
        <p:spPr>
          <a:xfrm rot="0" flipH="0" flipV="0">
            <a:off x="990600" y="1895475"/>
            <a:ext cx="1143000" cy="209550"/>
          </a:xfrm>
          <a:prstGeom prst="rect"/>
        </p:spPr>
        <p:txBody>
          <a:bodyPr wrap="none" lIns="0" tIns="0" rIns="0" bIns="0"/>
          <a:p>
            <a:pPr>
              <a:lnSpc>
                <a:spcPct val="100000"/>
              </a:lnSpc>
            </a:pPr>
            <a:r>
              <a:rPr lang="zh-CN" sz="1350" b="1">
                <a:solidFill>
                  <a:srgbClr val="20344B"/>
                </a:solidFill>
                <a:latin typeface="Microsoft YaHei"/>
                <a:ea typeface="Microsoft YaHei"/>
              </a:rPr>
              <a:t>模型身份</a:t>
            </a:r>
            <a:endParaRPr/>
          </a:p>
        </p:txBody>
      </p:sp>
      <p:sp>
        <p:nvSpPr>
          <p:cNvPr id="1085" name="" descr="{&quot;isTemplate&quot;:true,&quot;type&quot;:&quot;text&quot;}"/>
          <p:cNvSpPr txBox="1"/>
          <p:nvPr/>
        </p:nvSpPr>
        <p:spPr>
          <a:xfrm rot="0" flipH="0" flipV="0">
            <a:off x="2286000" y="1876425"/>
            <a:ext cx="4419600" cy="257175"/>
          </a:xfrm>
          <a:prstGeom prst="rect"/>
        </p:spPr>
        <p:txBody>
          <a:bodyPr wrap="none" lIns="0" tIns="0" rIns="0" bIns="0"/>
          <a:p>
            <a:pPr>
              <a:lnSpc>
                <a:spcPct val="150000"/>
              </a:lnSpc>
            </a:pPr>
            <a:r>
              <a:rPr lang="zh-CN" sz="1125">
                <a:solidFill>
                  <a:srgbClr val="546779"/>
                </a:solidFill>
                <a:latin typeface="Microsoft YaHei"/>
                <a:ea typeface="Microsoft YaHei"/>
              </a:rPr>
              <a:t>哪个模型、哪个版本，还是同一个模型的两种配置</a:t>
            </a:r>
            <a:endParaRPr/>
          </a:p>
        </p:txBody>
      </p:sp>
      <p:sp>
        <p:nvSpPr>
          <p:cNvPr id="1086" name=""/>
          <p:cNvSpPr/>
          <p:nvPr/>
        </p:nvSpPr>
        <p:spPr>
          <a:xfrm rot="0" flipH="0" flipV="0">
            <a:off x="609600" y="2647950"/>
            <a:ext cx="6286500" cy="990600"/>
          </a:xfrm>
          <a:prstGeom prst="roundRect">
            <a:avLst>
              <a:gd name="adj" fmla="val 9615"/>
            </a:avLst>
          </a:prstGeom>
          <a:solidFill>
            <a:srgbClr val="EDF4FC"/>
          </a:solidFill>
          <a:ln/>
        </p:spPr>
        <p:txBody>
          <a:bodyPr/>
          <a:p/>
        </p:txBody>
      </p:sp>
      <p:sp>
        <p:nvSpPr>
          <p:cNvPr id="1087" name=""/>
          <p:cNvSpPr/>
          <p:nvPr/>
        </p:nvSpPr>
        <p:spPr>
          <a:xfrm rot="0" flipH="0" flipV="0">
            <a:off x="800100" y="2895600"/>
            <a:ext cx="38100" cy="495300"/>
          </a:xfrm>
          <a:prstGeom prst="rect">
            <a:avLst/>
          </a:prstGeom>
          <a:solidFill>
            <a:srgbClr val="276FBF"/>
          </a:solidFill>
          <a:ln/>
        </p:spPr>
        <p:txBody>
          <a:bodyPr/>
          <a:p/>
        </p:txBody>
      </p:sp>
      <p:sp>
        <p:nvSpPr>
          <p:cNvPr id="1088" name="" descr="{&quot;isTemplate&quot;:true,&quot;type&quot;:&quot;text&quot;}"/>
          <p:cNvSpPr txBox="1"/>
          <p:nvPr/>
        </p:nvSpPr>
        <p:spPr>
          <a:xfrm rot="0" flipH="0" flipV="0">
            <a:off x="990600" y="3038475"/>
            <a:ext cx="1143000" cy="209550"/>
          </a:xfrm>
          <a:prstGeom prst="rect"/>
        </p:spPr>
        <p:txBody>
          <a:bodyPr wrap="none" lIns="0" tIns="0" rIns="0" bIns="0"/>
          <a:p>
            <a:pPr>
              <a:lnSpc>
                <a:spcPct val="100000"/>
              </a:lnSpc>
            </a:pPr>
            <a:r>
              <a:rPr lang="zh-CN" sz="1350" b="1">
                <a:solidFill>
                  <a:srgbClr val="20344B"/>
                </a:solidFill>
                <a:latin typeface="Microsoft YaHei"/>
                <a:ea typeface="Microsoft YaHei"/>
              </a:rPr>
              <a:t>题目范围</a:t>
            </a:r>
            <a:endParaRPr/>
          </a:p>
        </p:txBody>
      </p:sp>
      <p:sp>
        <p:nvSpPr>
          <p:cNvPr id="1089" name="" descr="{&quot;isTemplate&quot;:true,&quot;type&quot;:&quot;text&quot;}"/>
          <p:cNvSpPr txBox="1"/>
          <p:nvPr/>
        </p:nvSpPr>
        <p:spPr>
          <a:xfrm rot="0" flipH="0" flipV="0">
            <a:off x="2286000" y="3019425"/>
            <a:ext cx="4419600" cy="257175"/>
          </a:xfrm>
          <a:prstGeom prst="rect"/>
        </p:spPr>
        <p:txBody>
          <a:bodyPr wrap="none" lIns="0" tIns="0" rIns="0" bIns="0"/>
          <a:p>
            <a:pPr>
              <a:lnSpc>
                <a:spcPct val="150000"/>
              </a:lnSpc>
            </a:pPr>
            <a:r>
              <a:rPr lang="zh-CN" sz="1125">
                <a:solidFill>
                  <a:srgbClr val="546779"/>
                </a:solidFill>
                <a:latin typeface="Microsoft YaHei"/>
                <a:ea typeface="Microsoft YaHei"/>
              </a:rPr>
              <a:t>全部题库、人工核验子集，还是难度最高的那一层</a:t>
            </a:r>
            <a:endParaRPr/>
          </a:p>
        </p:txBody>
      </p:sp>
      <p:sp>
        <p:nvSpPr>
          <p:cNvPr id="1090" name=""/>
          <p:cNvSpPr/>
          <p:nvPr/>
        </p:nvSpPr>
        <p:spPr>
          <a:xfrm rot="0" flipH="0" flipV="0">
            <a:off x="609600" y="3790950"/>
            <a:ext cx="6286500" cy="990600"/>
          </a:xfrm>
          <a:prstGeom prst="roundRect">
            <a:avLst>
              <a:gd name="adj" fmla="val 9615"/>
            </a:avLst>
          </a:prstGeom>
          <a:solidFill>
            <a:srgbClr val="EDF4FC"/>
          </a:solidFill>
          <a:ln/>
        </p:spPr>
        <p:txBody>
          <a:bodyPr/>
          <a:p/>
        </p:txBody>
      </p:sp>
      <p:sp>
        <p:nvSpPr>
          <p:cNvPr id="1091" name=""/>
          <p:cNvSpPr/>
          <p:nvPr/>
        </p:nvSpPr>
        <p:spPr>
          <a:xfrm rot="0" flipH="0" flipV="0">
            <a:off x="800100" y="4038600"/>
            <a:ext cx="38100" cy="495300"/>
          </a:xfrm>
          <a:prstGeom prst="rect">
            <a:avLst/>
          </a:prstGeom>
          <a:solidFill>
            <a:srgbClr val="276FBF"/>
          </a:solidFill>
          <a:ln/>
        </p:spPr>
        <p:txBody>
          <a:bodyPr/>
          <a:p/>
        </p:txBody>
      </p:sp>
      <p:sp>
        <p:nvSpPr>
          <p:cNvPr id="1092" name="" descr="{&quot;isTemplate&quot;:true,&quot;type&quot;:&quot;text&quot;}"/>
          <p:cNvSpPr txBox="1"/>
          <p:nvPr/>
        </p:nvSpPr>
        <p:spPr>
          <a:xfrm rot="0" flipH="0" flipV="0">
            <a:off x="990600" y="4181475"/>
            <a:ext cx="1143000" cy="209550"/>
          </a:xfrm>
          <a:prstGeom prst="rect"/>
        </p:spPr>
        <p:txBody>
          <a:bodyPr wrap="none" lIns="0" tIns="0" rIns="0" bIns="0"/>
          <a:p>
            <a:pPr>
              <a:lnSpc>
                <a:spcPct val="100000"/>
              </a:lnSpc>
            </a:pPr>
            <a:r>
              <a:rPr lang="zh-CN" sz="1350" b="1">
                <a:solidFill>
                  <a:srgbClr val="20344B"/>
                </a:solidFill>
                <a:latin typeface="Microsoft YaHei"/>
                <a:ea typeface="Microsoft YaHei"/>
              </a:rPr>
              <a:t>运行条件</a:t>
            </a:r>
            <a:endParaRPr/>
          </a:p>
        </p:txBody>
      </p:sp>
      <p:sp>
        <p:nvSpPr>
          <p:cNvPr id="1093" name="" descr="{&quot;isTemplate&quot;:true,&quot;type&quot;:&quot;text&quot;}"/>
          <p:cNvSpPr txBox="1"/>
          <p:nvPr/>
        </p:nvSpPr>
        <p:spPr>
          <a:xfrm rot="0" flipH="0" flipV="0">
            <a:off x="2286000" y="4162425"/>
            <a:ext cx="4419600" cy="257175"/>
          </a:xfrm>
          <a:prstGeom prst="rect"/>
        </p:spPr>
        <p:txBody>
          <a:bodyPr wrap="none" lIns="0" tIns="0" rIns="0" bIns="0"/>
          <a:p>
            <a:pPr>
              <a:lnSpc>
                <a:spcPct val="150000"/>
              </a:lnSpc>
            </a:pPr>
            <a:r>
              <a:rPr lang="zh-CN" sz="1125">
                <a:solidFill>
                  <a:srgbClr val="546779"/>
                </a:solidFill>
                <a:latin typeface="Microsoft YaHei"/>
                <a:ea typeface="Microsoft YaHei"/>
              </a:rPr>
              <a:t>闭卷还是可用工具；跑一次，还是多次取最好</a:t>
            </a:r>
            <a:endParaRPr/>
          </a:p>
        </p:txBody>
      </p:sp>
      <p:sp>
        <p:nvSpPr>
          <p:cNvPr id="1094" name=""/>
          <p:cNvSpPr/>
          <p:nvPr/>
        </p:nvSpPr>
        <p:spPr>
          <a:xfrm rot="0" flipH="0" flipV="0">
            <a:off x="609600" y="4933950"/>
            <a:ext cx="6286500" cy="990600"/>
          </a:xfrm>
          <a:prstGeom prst="roundRect">
            <a:avLst>
              <a:gd name="adj" fmla="val 9615"/>
            </a:avLst>
          </a:prstGeom>
          <a:solidFill>
            <a:srgbClr val="EDF4FC"/>
          </a:solidFill>
          <a:ln/>
        </p:spPr>
        <p:txBody>
          <a:bodyPr/>
          <a:p/>
        </p:txBody>
      </p:sp>
      <p:sp>
        <p:nvSpPr>
          <p:cNvPr id="1095" name=""/>
          <p:cNvSpPr/>
          <p:nvPr/>
        </p:nvSpPr>
        <p:spPr>
          <a:xfrm rot="0" flipH="0" flipV="0">
            <a:off x="800100" y="5181600"/>
            <a:ext cx="38100" cy="495300"/>
          </a:xfrm>
          <a:prstGeom prst="rect">
            <a:avLst/>
          </a:prstGeom>
          <a:solidFill>
            <a:srgbClr val="276FBF"/>
          </a:solidFill>
          <a:ln/>
        </p:spPr>
        <p:txBody>
          <a:bodyPr/>
          <a:p/>
        </p:txBody>
      </p:sp>
      <p:sp>
        <p:nvSpPr>
          <p:cNvPr id="1096" name="" descr="{&quot;isTemplate&quot;:true,&quot;type&quot;:&quot;text&quot;}"/>
          <p:cNvSpPr txBox="1"/>
          <p:nvPr/>
        </p:nvSpPr>
        <p:spPr>
          <a:xfrm rot="0" flipH="0" flipV="0">
            <a:off x="990600" y="5324475"/>
            <a:ext cx="1143000" cy="209550"/>
          </a:xfrm>
          <a:prstGeom prst="rect"/>
        </p:spPr>
        <p:txBody>
          <a:bodyPr wrap="none" lIns="0" tIns="0" rIns="0" bIns="0"/>
          <a:p>
            <a:pPr>
              <a:lnSpc>
                <a:spcPct val="100000"/>
              </a:lnSpc>
            </a:pPr>
            <a:r>
              <a:rPr lang="zh-CN" sz="1350" b="1">
                <a:solidFill>
                  <a:srgbClr val="20344B"/>
                </a:solidFill>
                <a:latin typeface="Microsoft YaHei"/>
                <a:ea typeface="Microsoft YaHei"/>
              </a:rPr>
              <a:t>来源与时间</a:t>
            </a:r>
            <a:endParaRPr/>
          </a:p>
        </p:txBody>
      </p:sp>
      <p:sp>
        <p:nvSpPr>
          <p:cNvPr id="1097" name="" descr="{&quot;isTemplate&quot;:true,&quot;type&quot;:&quot;text&quot;}"/>
          <p:cNvSpPr txBox="1"/>
          <p:nvPr/>
        </p:nvSpPr>
        <p:spPr>
          <a:xfrm rot="0" flipH="0" flipV="0">
            <a:off x="2286000" y="5305425"/>
            <a:ext cx="4419600" cy="257175"/>
          </a:xfrm>
          <a:prstGeom prst="rect"/>
        </p:spPr>
        <p:txBody>
          <a:bodyPr wrap="none" lIns="0" tIns="0" rIns="0" bIns="0"/>
          <a:p>
            <a:pPr>
              <a:lnSpc>
                <a:spcPct val="150000"/>
              </a:lnSpc>
            </a:pPr>
            <a:r>
              <a:rPr lang="zh-CN" sz="1125">
                <a:solidFill>
                  <a:srgbClr val="546779"/>
                </a:solidFill>
                <a:latin typeface="Microsoft YaHei"/>
                <a:ea typeface="Microsoft YaHei"/>
              </a:rPr>
              <a:t>官方榜单、论文，还是聚合站点；哪一天的快照</a:t>
            </a:r>
            <a:endParaRPr/>
          </a:p>
        </p:txBody>
      </p:sp>
      <p:sp>
        <p:nvSpPr>
          <p:cNvPr id="1098" name=""/>
          <p:cNvSpPr/>
          <p:nvPr/>
        </p:nvSpPr>
        <p:spPr>
          <a:xfrm rot="0" flipH="0" flipV="0">
            <a:off x="7162800" y="1504950"/>
            <a:ext cx="4419600" cy="4419600"/>
          </a:xfrm>
          <a:prstGeom prst="roundRect">
            <a:avLst>
              <a:gd name="adj" fmla="val 2586"/>
            </a:avLst>
          </a:prstGeom>
          <a:solidFill>
            <a:srgbClr val="FFF4E6"/>
          </a:solidFill>
          <a:ln/>
        </p:spPr>
        <p:txBody>
          <a:bodyPr/>
          <a:p/>
        </p:txBody>
      </p:sp>
      <p:sp>
        <p:nvSpPr>
          <p:cNvPr id="1099" name="" descr="{&quot;isTemplate&quot;:true,&quot;type&quot;:&quot;text&quot;}"/>
          <p:cNvSpPr txBox="1"/>
          <p:nvPr/>
        </p:nvSpPr>
        <p:spPr>
          <a:xfrm rot="0" flipH="0" flipV="0">
            <a:off x="7353300" y="1695450"/>
            <a:ext cx="4038600" cy="209550"/>
          </a:xfrm>
          <a:prstGeom prst="rect"/>
        </p:spPr>
        <p:txBody>
          <a:bodyPr wrap="none" lIns="0" tIns="0" rIns="0" bIns="0"/>
          <a:p>
            <a:pPr>
              <a:lnSpc>
                <a:spcPct val="100000"/>
              </a:lnSpc>
            </a:pPr>
            <a:r>
              <a:rPr lang="zh-CN" sz="1350" b="1">
                <a:solidFill>
                  <a:srgbClr val="CB6B28"/>
                </a:solidFill>
                <a:latin typeface="Microsoft YaHei"/>
                <a:ea typeface="Microsoft YaHei"/>
              </a:rPr>
              <a:t>同一个</a:t>
            </a:r>
            <a:r>
              <a:rPr lang="en-US" sz="1350" b="1">
                <a:solidFill>
                  <a:srgbClr val="CB6B28"/>
                </a:solidFill>
                <a:latin typeface="Microsoft YaHei"/>
                <a:ea typeface="Microsoft YaHei"/>
              </a:rPr>
              <a:t xml:space="preserve"> HLE</a:t>
            </a:r>
            <a:r>
              <a:rPr lang="zh-CN" sz="1350" b="1">
                <a:solidFill>
                  <a:srgbClr val="CB6B28"/>
                </a:solidFill>
                <a:latin typeface="Microsoft YaHei"/>
                <a:ea typeface="Microsoft YaHei"/>
              </a:rPr>
              <a:t>，头名分数差一截</a:t>
            </a:r>
            <a:endParaRPr/>
          </a:p>
        </p:txBody>
      </p:sp>
      <p:sp>
        <p:nvSpPr>
          <p:cNvPr id="1100" name="" descr="{&quot;isTemplate&quot;:true,&quot;type&quot;:&quot;text&quot;}"/>
          <p:cNvSpPr txBox="1"/>
          <p:nvPr/>
        </p:nvSpPr>
        <p:spPr>
          <a:xfrm rot="0" flipH="0" flipV="0">
            <a:off x="7353300" y="2038350"/>
            <a:ext cx="4038600" cy="238125"/>
          </a:xfrm>
          <a:prstGeom prst="rect"/>
        </p:spPr>
        <p:txBody>
          <a:bodyPr wrap="none" lIns="0" tIns="0" rIns="0" bIns="0"/>
          <a:p>
            <a:pPr>
              <a:lnSpc>
                <a:spcPct val="145000"/>
              </a:lnSpc>
            </a:pPr>
            <a:r>
              <a:rPr lang="en-US" sz="1050">
                <a:solidFill>
                  <a:srgbClr val="CB6B28"/>
                </a:solidFill>
                <a:latin typeface="Microsoft YaHei"/>
                <a:ea typeface="Microsoft YaHei"/>
              </a:rPr>
              <a:t xml:space="preserve">2026 </a:t>
            </a:r>
            <a:r>
              <a:rPr lang="zh-CN" sz="1050">
                <a:solidFill>
                  <a:srgbClr val="CB6B28"/>
                </a:solidFill>
                <a:latin typeface="Microsoft YaHei"/>
                <a:ea typeface="Microsoft YaHei"/>
              </a:rPr>
              <a:t>年</a:t>
            </a:r>
            <a:r>
              <a:rPr lang="en-US" sz="1050">
                <a:solidFill>
                  <a:srgbClr val="CB6B28"/>
                </a:solidFill>
                <a:latin typeface="Microsoft YaHei"/>
                <a:ea typeface="Microsoft YaHei"/>
              </a:rPr>
              <a:t xml:space="preserve"> 9 </a:t>
            </a:r>
            <a:r>
              <a:rPr lang="zh-CN" sz="1050">
                <a:solidFill>
                  <a:srgbClr val="CB6B28"/>
                </a:solidFill>
                <a:latin typeface="Microsoft YaHei"/>
                <a:ea typeface="Microsoft YaHei"/>
              </a:rPr>
              <a:t>月不同站点给出的头名成绩</a:t>
            </a:r>
            <a:endParaRPr/>
          </a:p>
        </p:txBody>
      </p:sp>
      <p:sp>
        <p:nvSpPr>
          <p:cNvPr id="1101" name=""/>
          <p:cNvSpPr/>
          <p:nvPr/>
        </p:nvSpPr>
        <p:spPr>
          <a:xfrm rot="0" flipH="0" flipV="0">
            <a:off x="7353300" y="2409825"/>
            <a:ext cx="2000250" cy="209550"/>
          </a:xfrm>
          <a:prstGeom prst="roundRect">
            <a:avLst>
              <a:gd name="adj" fmla="val 18182"/>
            </a:avLst>
          </a:prstGeom>
          <a:solidFill>
            <a:srgbClr val="CB6B28"/>
          </a:solidFill>
          <a:ln/>
        </p:spPr>
        <p:txBody>
          <a:bodyPr/>
          <a:p/>
        </p:txBody>
      </p:sp>
      <p:sp>
        <p:nvSpPr>
          <p:cNvPr id="1102" name="" descr="{&quot;isTemplate&quot;:true,&quot;type&quot;:&quot;text&quot;}"/>
          <p:cNvSpPr txBox="1"/>
          <p:nvPr/>
        </p:nvSpPr>
        <p:spPr>
          <a:xfrm rot="0" flipH="0" flipV="0">
            <a:off x="9448800" y="2428875"/>
            <a:ext cx="447675" cy="171450"/>
          </a:xfrm>
          <a:prstGeom prst="rect"/>
        </p:spPr>
        <p:txBody>
          <a:bodyPr wrap="none" lIns="0" tIns="0" rIns="0" bIns="0"/>
          <a:p>
            <a:pPr>
              <a:lnSpc>
                <a:spcPct val="100000"/>
              </a:lnSpc>
            </a:pPr>
            <a:r>
              <a:rPr lang="en-US" sz="1125" b="1">
                <a:solidFill>
                  <a:srgbClr val="CB6B28"/>
                </a:solidFill>
                <a:latin typeface="Microsoft YaHei"/>
                <a:ea typeface="Microsoft YaHei"/>
              </a:rPr>
              <a:t>67.7%</a:t>
            </a:r>
            <a:endParaRPr/>
          </a:p>
        </p:txBody>
      </p:sp>
      <p:sp>
        <p:nvSpPr>
          <p:cNvPr id="1103" name="" descr="{&quot;isTemplate&quot;:true,&quot;type&quot;:&quot;text&quot;}"/>
          <p:cNvSpPr txBox="1"/>
          <p:nvPr/>
        </p:nvSpPr>
        <p:spPr>
          <a:xfrm rot="0" flipH="0" flipV="0">
            <a:off x="7353300" y="2752725"/>
            <a:ext cx="4038600" cy="152400"/>
          </a:xfrm>
          <a:prstGeom prst="rect"/>
        </p:spPr>
        <p:txBody>
          <a:bodyPr wrap="none" lIns="0" tIns="0" rIns="0" bIns="0"/>
          <a:p>
            <a:pPr>
              <a:lnSpc>
                <a:spcPct val="100000"/>
              </a:lnSpc>
            </a:pPr>
            <a:r>
              <a:rPr lang="zh-CN" sz="975">
                <a:solidFill>
                  <a:srgbClr val="546779"/>
                </a:solidFill>
                <a:latin typeface="Microsoft YaHei"/>
                <a:ea typeface="Microsoft YaHei"/>
              </a:rPr>
              <a:t>带工具协议</a:t>
            </a:r>
            <a:endParaRPr/>
          </a:p>
        </p:txBody>
      </p:sp>
      <p:sp>
        <p:nvSpPr>
          <p:cNvPr id="1104" name=""/>
          <p:cNvSpPr/>
          <p:nvPr/>
        </p:nvSpPr>
        <p:spPr>
          <a:xfrm rot="0" flipH="0" flipV="0">
            <a:off x="7353300" y="3038475"/>
            <a:ext cx="1924050" cy="209550"/>
          </a:xfrm>
          <a:prstGeom prst="roundRect">
            <a:avLst>
              <a:gd name="adj" fmla="val 18182"/>
            </a:avLst>
          </a:prstGeom>
          <a:solidFill>
            <a:srgbClr val="CB6B28"/>
          </a:solidFill>
          <a:ln/>
        </p:spPr>
        <p:txBody>
          <a:bodyPr/>
          <a:p/>
        </p:txBody>
      </p:sp>
      <p:sp>
        <p:nvSpPr>
          <p:cNvPr id="1105" name="" descr="{&quot;isTemplate&quot;:true,&quot;type&quot;:&quot;text&quot;}"/>
          <p:cNvSpPr txBox="1"/>
          <p:nvPr/>
        </p:nvSpPr>
        <p:spPr>
          <a:xfrm rot="0" flipH="0" flipV="0">
            <a:off x="9372600" y="3057525"/>
            <a:ext cx="447675" cy="171450"/>
          </a:xfrm>
          <a:prstGeom prst="rect"/>
        </p:spPr>
        <p:txBody>
          <a:bodyPr wrap="none" lIns="0" tIns="0" rIns="0" bIns="0"/>
          <a:p>
            <a:pPr>
              <a:lnSpc>
                <a:spcPct val="100000"/>
              </a:lnSpc>
            </a:pPr>
            <a:r>
              <a:rPr lang="en-US" sz="1125" b="1">
                <a:solidFill>
                  <a:srgbClr val="CB6B28"/>
                </a:solidFill>
                <a:latin typeface="Microsoft YaHei"/>
                <a:ea typeface="Microsoft YaHei"/>
              </a:rPr>
              <a:t>65.0%</a:t>
            </a:r>
            <a:endParaRPr/>
          </a:p>
        </p:txBody>
      </p:sp>
      <p:sp>
        <p:nvSpPr>
          <p:cNvPr id="1106" name="" descr="{&quot;isTemplate&quot;:true,&quot;type&quot;:&quot;text&quot;}"/>
          <p:cNvSpPr txBox="1"/>
          <p:nvPr/>
        </p:nvSpPr>
        <p:spPr>
          <a:xfrm rot="0" flipH="0" flipV="0">
            <a:off x="7353300" y="3381375"/>
            <a:ext cx="4038600" cy="152400"/>
          </a:xfrm>
          <a:prstGeom prst="rect"/>
        </p:spPr>
        <p:txBody>
          <a:bodyPr wrap="none" lIns="0" tIns="0" rIns="0" bIns="0"/>
          <a:p>
            <a:pPr>
              <a:lnSpc>
                <a:spcPct val="100000"/>
              </a:lnSpc>
            </a:pPr>
            <a:r>
              <a:rPr lang="zh-CN" sz="975">
                <a:solidFill>
                  <a:srgbClr val="546779"/>
                </a:solidFill>
                <a:latin typeface="Microsoft YaHei"/>
                <a:ea typeface="Microsoft YaHei"/>
              </a:rPr>
              <a:t>另一站点，同期</a:t>
            </a:r>
            <a:endParaRPr/>
          </a:p>
        </p:txBody>
      </p:sp>
      <p:sp>
        <p:nvSpPr>
          <p:cNvPr id="1107" name=""/>
          <p:cNvSpPr/>
          <p:nvPr/>
        </p:nvSpPr>
        <p:spPr>
          <a:xfrm rot="0" flipH="0" flipV="0">
            <a:off x="7353300" y="3667125"/>
            <a:ext cx="1638300" cy="209550"/>
          </a:xfrm>
          <a:prstGeom prst="roundRect">
            <a:avLst>
              <a:gd name="adj" fmla="val 18182"/>
            </a:avLst>
          </a:prstGeom>
          <a:solidFill>
            <a:srgbClr val="CB6B28"/>
          </a:solidFill>
          <a:ln/>
        </p:spPr>
        <p:txBody>
          <a:bodyPr/>
          <a:p/>
        </p:txBody>
      </p:sp>
      <p:sp>
        <p:nvSpPr>
          <p:cNvPr id="1108" name="" descr="{&quot;isTemplate&quot;:true,&quot;type&quot;:&quot;text&quot;}"/>
          <p:cNvSpPr txBox="1"/>
          <p:nvPr/>
        </p:nvSpPr>
        <p:spPr>
          <a:xfrm rot="0" flipH="0" flipV="0">
            <a:off x="9086850" y="3686175"/>
            <a:ext cx="447675" cy="171450"/>
          </a:xfrm>
          <a:prstGeom prst="rect"/>
        </p:spPr>
        <p:txBody>
          <a:bodyPr wrap="none" lIns="0" tIns="0" rIns="0" bIns="0"/>
          <a:p>
            <a:pPr>
              <a:lnSpc>
                <a:spcPct val="100000"/>
              </a:lnSpc>
            </a:pPr>
            <a:r>
              <a:rPr lang="en-US" sz="1125" b="1">
                <a:solidFill>
                  <a:srgbClr val="CB6B28"/>
                </a:solidFill>
                <a:latin typeface="Microsoft YaHei"/>
                <a:ea typeface="Microsoft YaHei"/>
              </a:rPr>
              <a:t>55.5%</a:t>
            </a:r>
            <a:endParaRPr/>
          </a:p>
        </p:txBody>
      </p:sp>
      <p:sp>
        <p:nvSpPr>
          <p:cNvPr id="1109" name="" descr="{&quot;isTemplate&quot;:true,&quot;type&quot;:&quot;text&quot;}"/>
          <p:cNvSpPr txBox="1"/>
          <p:nvPr/>
        </p:nvSpPr>
        <p:spPr>
          <a:xfrm rot="0" flipH="0" flipV="0">
            <a:off x="7353300" y="4010025"/>
            <a:ext cx="4038600" cy="152400"/>
          </a:xfrm>
          <a:prstGeom prst="rect"/>
        </p:spPr>
        <p:txBody>
          <a:bodyPr wrap="none" lIns="0" tIns="0" rIns="0" bIns="0"/>
          <a:p>
            <a:pPr>
              <a:lnSpc>
                <a:spcPct val="100000"/>
              </a:lnSpc>
            </a:pPr>
            <a:r>
              <a:rPr lang="zh-CN" sz="975">
                <a:solidFill>
                  <a:srgbClr val="546779"/>
                </a:solidFill>
                <a:latin typeface="Microsoft YaHei"/>
                <a:ea typeface="Microsoft YaHei"/>
              </a:rPr>
              <a:t>更早的快照（</a:t>
            </a:r>
            <a:r>
              <a:rPr lang="en-US" sz="975">
                <a:solidFill>
                  <a:srgbClr val="546779"/>
                </a:solidFill>
                <a:latin typeface="Microsoft YaHei"/>
                <a:ea typeface="Microsoft YaHei"/>
              </a:rPr>
              <a:t xml:space="preserve">9 </a:t>
            </a:r>
            <a:r>
              <a:rPr lang="zh-CN" sz="975">
                <a:solidFill>
                  <a:srgbClr val="546779"/>
                </a:solidFill>
                <a:latin typeface="Microsoft YaHei"/>
                <a:ea typeface="Microsoft YaHei"/>
              </a:rPr>
              <a:t>月</a:t>
            </a:r>
            <a:r>
              <a:rPr lang="en-US" sz="975">
                <a:solidFill>
                  <a:srgbClr val="546779"/>
                </a:solidFill>
                <a:latin typeface="Microsoft YaHei"/>
                <a:ea typeface="Microsoft YaHei"/>
              </a:rPr>
              <a:t xml:space="preserve"> 7 </a:t>
            </a:r>
            <a:r>
              <a:rPr lang="zh-CN" sz="975">
                <a:solidFill>
                  <a:srgbClr val="546779"/>
                </a:solidFill>
                <a:latin typeface="Microsoft YaHei"/>
                <a:ea typeface="Microsoft YaHei"/>
              </a:rPr>
              <a:t>日）</a:t>
            </a:r>
            <a:endParaRPr/>
          </a:p>
        </p:txBody>
      </p:sp>
      <p:sp>
        <p:nvSpPr>
          <p:cNvPr id="1110" name=""/>
          <p:cNvSpPr/>
          <p:nvPr/>
        </p:nvSpPr>
        <p:spPr>
          <a:xfrm rot="0" flipH="0" flipV="0">
            <a:off x="7353300" y="5162550"/>
            <a:ext cx="4038600" cy="571500"/>
          </a:xfrm>
          <a:prstGeom prst="roundRect">
            <a:avLst>
              <a:gd name="adj" fmla="val 13333"/>
            </a:avLst>
          </a:prstGeom>
          <a:solidFill>
            <a:srgbClr val="FFFFFF"/>
          </a:solidFill>
          <a:ln/>
        </p:spPr>
        <p:txBody>
          <a:bodyPr/>
          <a:p/>
        </p:txBody>
      </p:sp>
      <p:sp>
        <p:nvSpPr>
          <p:cNvPr id="1111" name=""/>
          <p:cNvSpPr/>
          <p:nvPr/>
        </p:nvSpPr>
        <p:spPr>
          <a:xfrm rot="0" flipH="0" flipV="0">
            <a:off x="7486650" y="5257800"/>
            <a:ext cx="38100" cy="381000"/>
          </a:xfrm>
          <a:prstGeom prst="rect">
            <a:avLst/>
          </a:prstGeom>
          <a:solidFill>
            <a:srgbClr val="CB6B28"/>
          </a:solidFill>
          <a:ln/>
        </p:spPr>
        <p:txBody>
          <a:bodyPr/>
          <a:p/>
        </p:txBody>
      </p:sp>
      <p:sp>
        <p:nvSpPr>
          <p:cNvPr id="1112" name="" descr="{&quot;isTemplate&quot;:true,&quot;type&quot;:&quot;text&quot;}"/>
          <p:cNvSpPr txBox="1"/>
          <p:nvPr/>
        </p:nvSpPr>
        <p:spPr>
          <a:xfrm rot="0" flipH="0" flipV="0">
            <a:off x="7620000" y="5334000"/>
            <a:ext cx="2667000" cy="238125"/>
          </a:xfrm>
          <a:prstGeom prst="rect"/>
        </p:spPr>
        <p:txBody>
          <a:bodyPr wrap="none" lIns="0" tIns="0" rIns="0" bIns="0"/>
          <a:p>
            <a:pPr>
              <a:lnSpc>
                <a:spcPct val="145000"/>
              </a:lnSpc>
            </a:pPr>
            <a:r>
              <a:rPr lang="zh-CN" sz="1050">
                <a:solidFill>
                  <a:srgbClr val="CB6B28"/>
                </a:solidFill>
                <a:latin typeface="Microsoft YaHei"/>
                <a:ea typeface="Microsoft YaHei"/>
              </a:rPr>
              <a:t>差异来自协议与快照日期，不是模型忽然变强</a:t>
            </a:r>
            <a:endParaRPr/>
          </a:p>
        </p:txBody>
      </p:sp>
      <p:sp>
        <p:nvSpPr>
          <p:cNvPr id="1113"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114"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06 / 36</a:t>
            </a:r>
            <a:endParaRPr/>
          </a:p>
        </p:txBody>
      </p:sp>
    </p:spTree>
  </p:cSld>
</p:sld>
</file>

<file path=ppt/slides/slide7.xml><?xml version="1.0" encoding="utf-8"?>
<p:sld xmlns:p="http://schemas.openxmlformats.org/presentationml/2006/main" xmlns:a="http://schemas.openxmlformats.org/drawingml/2006/main">
  <p:cSld>
    <p:spTree>
      <p:nvGrpSpPr>
        <p:cNvPr id="1115" name="" descr="&lt;Slide notes={`Epoch AI 在 2026 年办了一个叫 Benchmark Reviews 的审计项目，专门审查别人的基准，把常见的毛病归成六类。&#10;&#10;第一类无效题，题目本身就没法做，缺条件、缺文件。第二类假阴，模型答对了却被判错，常见于判分规则太死。第三类假阳，答错了却被放过，常见于判分太松，或者环境里本来就能抄到答案。&#10;&#10;第四类诱导不足，给的预算和轮次不够，模型没机会展示真实水平。第五类设置偏置，不同模型拿到的算力或工具有差别，等于不是同一场比赛。第六类静默改版，悄悄改了评分规则或参考答案却不动版本号，让前后两批成绩根本不可比。&#10;&#10;这六类里，前两类压低分数，第三类抬高分，后三类让分数的含义变得含糊。`}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①　1.4.1　评估方法：分数失真的常见原因&lt;/Text&gt;&#10;            &lt;Text style={{ fontSize: 34, fontWeight: 'bold', color: '#20344B' }}&gt;六类误差&lt;/Text&gt;&#10;        &lt;/Box&gt;&#10;    &lt;/Box&gt;&#10;&#10;    &lt;Box style={{ height: 540, flexDirection: 'column', justifyContent: 'center', gap: 16 }}&gt;&#10;&#10;        &lt;Box style={{ flexDirection: 'row', gap: 16 }}&gt;&#10;            &lt;Box style={{ width: 568, height: 146, background: '#F4F7FA', borderRadius: 10, padding: '16px 20px', flexDirection: 'row', gap: 16, alignItems: 'center' }}&gt;&#10;                &lt;Box style={{ width: 4, height: 84, background: '#CB6B28' }} /&gt;&#10;                &lt;Box style={{ flexDirection: 'column', gap: 6 }}&gt;&#10;                    &lt;Text style={{ fontSize: 19, fontWeight: 'bold', color: '#20344B' }}&gt;无效题&lt;/Text&gt;&#10;                    &lt;Text style={{ fontSize: 15, color: '#546779', lineHeight: 1.5 }}&gt;题目按字面无法完成：缺少必要条件或文件，谁都做不出来&lt;/Text&gt;&#10;                &lt;/Box&gt;&#10;            &lt;/Box&gt;&#10;            &lt;Box style={{ width: 568, height: 146, background: '#F4F7FA', borderRadius: 10, padding: '16px 20px', flexDirection: 'row', gap: 16, alignItems: 'center' }}&gt;&#10;                &lt;Box style={{ width: 4, height: 84, background: '#CB6B28' }} /&gt;&#10;                &lt;Box style={{ flexDirection: 'column', gap: 6 }}&gt;&#10;                    &lt;Text style={{ fontSize: 19, fontWeight: 'bold', color: '#20344B' }}&gt;假阴&lt;/Text&gt;&#10;                    &lt;Text style={{ fontSize: 15, color: '#546779', lineHeight: 1.5 }}&gt;答对了却被判错：判分规则太死、参考答案过期、沙箱出错&lt;/Text&gt;&#10;                &lt;/Box&gt;&#10;            &lt;/Box&gt;&#10;        &lt;/Box&gt;&#10;&#10;        &lt;Box style={{ flexDirection: 'row', gap: 16 }}&gt;&#10;            &lt;Box style={{ width: 568, height: 146, background: '#F4F7FA', borderRadius: 10, padding: '16px 20px', flexDirection: 'row', gap: 16, alignItems: 'center' }}&gt;&#10;                &lt;Box style={{ width: 4, height: 84, background: '#CB6B28' }} /&gt;&#10;                &lt;Box style={{ flexDirection: 'column', gap: 6 }}&gt;&#10;                    &lt;Text style={{ fontSize: 19, fontWeight: 'bold', color: '#20344B' }}&gt;假阳&lt;/Text&gt;&#10;                    &lt;Text style={{ fontSize: 15, color: '#546779', lineHeight: 1.5 }}&gt;答错了却被放过：判分过松，或答案能从环境里直接抄到&lt;/Text&gt;&#10;                &lt;/Box&gt;&#10;            &lt;/Box&gt;&#10;            &lt;Box style={{ width: 568, height: 146, background: '#F4F7FA', borderRadius: 10, padding: '16px 20px', flexDirection: 'row', gap: 16, alignItems: 'center' }}&gt;&#10;                &lt;Box style={{ width: 4, height: 84, background: '#CB6B28' }} /&gt;&#10;                &lt;Box style={{ flexDirection: 'column', gap: 6 }}&gt;&#10;                    &lt;Text style={{ fontSize: 19, fontWeight: 'bold', color: '#20344B' }}&gt;诱导不足&lt;/Text&gt;&#10;                    &lt;Text style={{ fontSize: 15, color: '#546779', lineHeight: 1.5 }}&gt;给的轮次、时间或预算不够，模型根本没机会展示这项能力&lt;/Text&gt;&#10;                &lt;/Box&gt;&#10;            &lt;/Box&gt;&#10;        &lt;/Box&gt;&#10;&#10;        &lt;Box style={{ flexDirection: 'row', gap: 16 }}&gt;&#10;            &lt;Box style={{ width: 568, height: 146, background: '#F4F7FA', borderRadius: 10, padding: '16px 20px', flexDirection: 'row', gap: 16, alignItems: 'center' }}&gt;&#10;                &lt;Box style={{ width: 4, height: 84, background: '#CB6B28' }} /&gt;&#10;                &lt;Box style={{ flexDirection: 'column', gap: 6 }}&gt;&#10;                    &lt;Text style={{ fontSize: 19, fontWeight: 'bold', color: '#20344B' }}&gt;设置偏置&lt;/Text&gt;&#10;                    &lt;Text style={{ fontSize: 15, color: '#546779', lineHeight: 1.5 }}&gt;不同模型拿到的算力或工具不一致，等于不是同一场比赛&lt;/Text&gt;&#10;                &lt;/Box&gt;&#10;            &lt;/Box&gt;&#10;            &lt;Box style={{ width: 568, height: 146, background: '#F4F7FA', borderRadius: 10, padding: '16px 20px', flexDirection: 'row', gap: 16, alignItems: 'center' }}&gt;&#10;                &lt;Box style={{ width: 4, height: 84, background: '#CB6B28' }} /&gt;&#10;                &lt;Box style={{ flexDirection: 'column', gap: 6 }}&gt;&#10;                    &lt;Text style={{ fontSize: 19, fontWeight: 'bold', color: '#20344B' }}&gt;静默改版&lt;/Text&gt;&#10;                    &lt;Text style={{ fontSize: 15, color: '#546779', lineHeight: 1.5 }}&gt;改了评分规则或答案却不更新版本号，前后成绩混在一张榜上&lt;/Text&gt;&#10;                &lt;/Box&gt;&#10;            &lt;/Box&gt;&#10;        &lt;/Box&gt;&#10;&#10;        &lt;Box style={{ flexDirection: 'row', alignItems: 'center', gap: 14, background: '#F7F3E8', borderRadius: 10, padding: '12px 22px' }}&gt;&#10;            &lt;Box style={{ width: 4, height: 30, background: '#276FBF' }} /&gt;&#10;            &lt;Text style={{ fontSize: 15, color: '#546779', lineHeight: 1.5 }}&gt;判断触发线：抽样中若有两成以上的题目含影响准确率的错误，Epoch 就判定该基准有问题&lt;/Text&gt;&#10;        &lt;/Box&gt;&#10;&#10;    &lt;/Box&gt;&#10;&#10;    &lt;Box style={{ height: 40, flexDirection: 'row', justifyContent: 'space-between', alignItems: 'center' }}&gt;&#10;        &lt;Text style={{ fontSize: 14, color: '#546779' }}&gt;1.4 从榜单到证据&lt;/Text&gt;&#10;        &lt;Text style={{ fontSize: 14, color: '#546779' }}&gt;07 / 36&lt;/Text&gt;&#10;    &lt;/Box&gt;&#10;&#10;&lt;/Slide&gt;&#10;"/>
        <p:cNvGrpSpPr/>
        <p:nvPr/>
      </p:nvGrpSpPr>
      <p:grpSpPr>
        <a:xfrm>
          <a:off x="0" y="0"/>
          <a:ext cx="0" cy="0"/>
          <a:chOff x="0" y="0"/>
          <a:chExt cx="0" cy="0"/>
        </a:xfrm>
      </p:grpSpPr>
      <p:sp>
        <p:nvSpPr>
          <p:cNvPr id="1116" name=""/>
          <p:cNvSpPr/>
          <p:nvPr/>
        </p:nvSpPr>
        <p:spPr>
          <a:xfrm rot="0" flipH="0" flipV="0">
            <a:off x="0" y="0"/>
            <a:ext cx="12192000" cy="6858000"/>
          </a:xfrm>
          <a:prstGeom prst="rect">
            <a:avLst/>
          </a:prstGeom>
          <a:solidFill>
            <a:srgbClr val="FFFFFF"/>
          </a:solidFill>
          <a:ln/>
        </p:spPr>
        <p:txBody>
          <a:bodyPr/>
          <a:p/>
        </p:txBody>
      </p:sp>
      <p:sp>
        <p:nvSpPr>
          <p:cNvPr id="1117" name=""/>
          <p:cNvSpPr/>
          <p:nvPr/>
        </p:nvSpPr>
        <p:spPr>
          <a:xfrm rot="0" flipH="0" flipV="0">
            <a:off x="609600" y="457200"/>
            <a:ext cx="38100" cy="419100"/>
          </a:xfrm>
          <a:prstGeom prst="rect">
            <a:avLst/>
          </a:prstGeom>
          <a:solidFill>
            <a:srgbClr val="276FBF"/>
          </a:solidFill>
          <a:ln/>
        </p:spPr>
        <p:txBody>
          <a:bodyPr/>
          <a:p/>
        </p:txBody>
      </p:sp>
      <p:sp>
        <p:nvSpPr>
          <p:cNvPr id="1118" name="" descr="{&quot;isTemplate&quot;:true,&quot;type&quot;:&quot;text&quot;}"/>
          <p:cNvSpPr txBox="1"/>
          <p:nvPr/>
        </p:nvSpPr>
        <p:spPr>
          <a:xfrm rot="0" flipH="0" flipV="0">
            <a:off x="838200" y="371475"/>
            <a:ext cx="2571750" cy="161925"/>
          </a:xfrm>
          <a:prstGeom prst="rect"/>
        </p:spPr>
        <p:txBody>
          <a:bodyPr wrap="none" lIns="0" tIns="0" rIns="0" bIns="0"/>
          <a:p>
            <a:pPr>
              <a:lnSpc>
                <a:spcPct val="100000"/>
              </a:lnSpc>
            </a:pPr>
            <a:r>
              <a:rPr lang="zh-CN" sz="1050">
                <a:solidFill>
                  <a:srgbClr val="546779"/>
                </a:solidFill>
                <a:latin typeface="Microsoft YaHei"/>
                <a:ea typeface="Microsoft YaHei"/>
              </a:rPr>
              <a:t>①　</a:t>
            </a:r>
            <a:r>
              <a:rPr lang="en-US" sz="1050">
                <a:solidFill>
                  <a:srgbClr val="546779"/>
                </a:solidFill>
                <a:latin typeface="Microsoft YaHei"/>
                <a:ea typeface="Microsoft YaHei"/>
              </a:rPr>
              <a:t>1.4.1</a:t>
            </a:r>
            <a:r>
              <a:rPr lang="zh-CN" sz="1050">
                <a:solidFill>
                  <a:srgbClr val="546779"/>
                </a:solidFill>
                <a:latin typeface="Microsoft YaHei"/>
                <a:ea typeface="Microsoft YaHei"/>
              </a:rPr>
              <a:t>　评估方法：分数失真的常见原因</a:t>
            </a:r>
            <a:endParaRPr/>
          </a:p>
        </p:txBody>
      </p:sp>
      <p:sp>
        <p:nvSpPr>
          <p:cNvPr id="1119" name="" descr="{&quot;isTemplate&quot;:true,&quot;type&quot;:&quot;text&quot;}"/>
          <p:cNvSpPr txBox="1"/>
          <p:nvPr/>
        </p:nvSpPr>
        <p:spPr>
          <a:xfrm rot="0" flipH="0" flipV="0">
            <a:off x="838200" y="571500"/>
            <a:ext cx="2571750" cy="390525"/>
          </a:xfrm>
          <a:prstGeom prst="rect"/>
        </p:spPr>
        <p:txBody>
          <a:bodyPr wrap="none" lIns="0" tIns="0" rIns="0" bIns="0"/>
          <a:p>
            <a:pPr>
              <a:lnSpc>
                <a:spcPct val="100000"/>
              </a:lnSpc>
            </a:pPr>
            <a:r>
              <a:rPr lang="zh-CN" sz="2550" b="1">
                <a:solidFill>
                  <a:srgbClr val="20344B"/>
                </a:solidFill>
                <a:latin typeface="Microsoft YaHei"/>
                <a:ea typeface="Microsoft YaHei"/>
              </a:rPr>
              <a:t>六类误差</a:t>
            </a:r>
            <a:endParaRPr/>
          </a:p>
        </p:txBody>
      </p:sp>
      <p:sp>
        <p:nvSpPr>
          <p:cNvPr id="1120" name=""/>
          <p:cNvSpPr/>
          <p:nvPr/>
        </p:nvSpPr>
        <p:spPr>
          <a:xfrm rot="0" flipH="0" flipV="0">
            <a:off x="609600" y="1143000"/>
            <a:ext cx="5410200" cy="1390650"/>
          </a:xfrm>
          <a:prstGeom prst="roundRect">
            <a:avLst>
              <a:gd name="adj" fmla="val 6849"/>
            </a:avLst>
          </a:prstGeom>
          <a:solidFill>
            <a:srgbClr val="F4F7FA"/>
          </a:solidFill>
          <a:ln/>
        </p:spPr>
        <p:txBody>
          <a:bodyPr/>
          <a:p/>
        </p:txBody>
      </p:sp>
      <p:sp>
        <p:nvSpPr>
          <p:cNvPr id="1121" name=""/>
          <p:cNvSpPr/>
          <p:nvPr/>
        </p:nvSpPr>
        <p:spPr>
          <a:xfrm rot="0" flipH="0" flipV="0">
            <a:off x="800100" y="1438275"/>
            <a:ext cx="38100" cy="800100"/>
          </a:xfrm>
          <a:prstGeom prst="rect">
            <a:avLst/>
          </a:prstGeom>
          <a:solidFill>
            <a:srgbClr val="CB6B28"/>
          </a:solidFill>
          <a:ln/>
        </p:spPr>
        <p:txBody>
          <a:bodyPr/>
          <a:p/>
        </p:txBody>
      </p:sp>
      <p:sp>
        <p:nvSpPr>
          <p:cNvPr id="1122" name="" descr="{&quot;isTemplate&quot;:true,&quot;type&quot;:&quot;text&quot;}"/>
          <p:cNvSpPr txBox="1"/>
          <p:nvPr/>
        </p:nvSpPr>
        <p:spPr>
          <a:xfrm rot="0" flipH="0" flipV="0">
            <a:off x="990600" y="1571625"/>
            <a:ext cx="3714750" cy="219075"/>
          </a:xfrm>
          <a:prstGeom prst="rect"/>
        </p:spPr>
        <p:txBody>
          <a:bodyPr wrap="none" lIns="0" tIns="0" rIns="0" bIns="0"/>
          <a:p>
            <a:pPr>
              <a:lnSpc>
                <a:spcPct val="100000"/>
              </a:lnSpc>
            </a:pPr>
            <a:r>
              <a:rPr lang="zh-CN" sz="1425" b="1">
                <a:solidFill>
                  <a:srgbClr val="20344B"/>
                </a:solidFill>
                <a:latin typeface="Microsoft YaHei"/>
                <a:ea typeface="Microsoft YaHei"/>
              </a:rPr>
              <a:t>无效题</a:t>
            </a:r>
            <a:endParaRPr/>
          </a:p>
        </p:txBody>
      </p:sp>
      <p:sp>
        <p:nvSpPr>
          <p:cNvPr id="1123" name="" descr="{&quot;isTemplate&quot;:true,&quot;type&quot;:&quot;text&quot;}"/>
          <p:cNvSpPr txBox="1"/>
          <p:nvPr/>
        </p:nvSpPr>
        <p:spPr>
          <a:xfrm rot="0" flipH="0" flipV="0">
            <a:off x="990600" y="1847850"/>
            <a:ext cx="3714750" cy="257175"/>
          </a:xfrm>
          <a:prstGeom prst="rect"/>
        </p:spPr>
        <p:txBody>
          <a:bodyPr wrap="none" lIns="0" tIns="0" rIns="0" bIns="0"/>
          <a:p>
            <a:pPr>
              <a:lnSpc>
                <a:spcPct val="150000"/>
              </a:lnSpc>
            </a:pPr>
            <a:r>
              <a:rPr lang="zh-CN" sz="1125">
                <a:solidFill>
                  <a:srgbClr val="546779"/>
                </a:solidFill>
                <a:latin typeface="Microsoft YaHei"/>
                <a:ea typeface="Microsoft YaHei"/>
              </a:rPr>
              <a:t>题目按字面无法完成：缺少必要条件或文件，谁都做不出来</a:t>
            </a:r>
            <a:endParaRPr/>
          </a:p>
        </p:txBody>
      </p:sp>
      <p:sp>
        <p:nvSpPr>
          <p:cNvPr id="1124" name=""/>
          <p:cNvSpPr/>
          <p:nvPr/>
        </p:nvSpPr>
        <p:spPr>
          <a:xfrm rot="0" flipH="0" flipV="0">
            <a:off x="6172200" y="1143000"/>
            <a:ext cx="5410200" cy="1390650"/>
          </a:xfrm>
          <a:prstGeom prst="roundRect">
            <a:avLst>
              <a:gd name="adj" fmla="val 6849"/>
            </a:avLst>
          </a:prstGeom>
          <a:solidFill>
            <a:srgbClr val="F4F7FA"/>
          </a:solidFill>
          <a:ln/>
        </p:spPr>
        <p:txBody>
          <a:bodyPr/>
          <a:p/>
        </p:txBody>
      </p:sp>
      <p:sp>
        <p:nvSpPr>
          <p:cNvPr id="1125" name=""/>
          <p:cNvSpPr/>
          <p:nvPr/>
        </p:nvSpPr>
        <p:spPr>
          <a:xfrm rot="0" flipH="0" flipV="0">
            <a:off x="6362700" y="1438275"/>
            <a:ext cx="38100" cy="800100"/>
          </a:xfrm>
          <a:prstGeom prst="rect">
            <a:avLst/>
          </a:prstGeom>
          <a:solidFill>
            <a:srgbClr val="CB6B28"/>
          </a:solidFill>
          <a:ln/>
        </p:spPr>
        <p:txBody>
          <a:bodyPr/>
          <a:p/>
        </p:txBody>
      </p:sp>
      <p:sp>
        <p:nvSpPr>
          <p:cNvPr id="1126" name="" descr="{&quot;isTemplate&quot;:true,&quot;type&quot;:&quot;text&quot;}"/>
          <p:cNvSpPr txBox="1"/>
          <p:nvPr/>
        </p:nvSpPr>
        <p:spPr>
          <a:xfrm rot="0" flipH="0" flipV="0">
            <a:off x="6553200" y="1571625"/>
            <a:ext cx="3714750" cy="219075"/>
          </a:xfrm>
          <a:prstGeom prst="rect"/>
        </p:spPr>
        <p:txBody>
          <a:bodyPr wrap="none" lIns="0" tIns="0" rIns="0" bIns="0"/>
          <a:p>
            <a:pPr>
              <a:lnSpc>
                <a:spcPct val="100000"/>
              </a:lnSpc>
            </a:pPr>
            <a:r>
              <a:rPr lang="zh-CN" sz="1425" b="1">
                <a:solidFill>
                  <a:srgbClr val="20344B"/>
                </a:solidFill>
                <a:latin typeface="Microsoft YaHei"/>
                <a:ea typeface="Microsoft YaHei"/>
              </a:rPr>
              <a:t>假阴</a:t>
            </a:r>
            <a:endParaRPr/>
          </a:p>
        </p:txBody>
      </p:sp>
      <p:sp>
        <p:nvSpPr>
          <p:cNvPr id="1127" name="" descr="{&quot;isTemplate&quot;:true,&quot;type&quot;:&quot;text&quot;}"/>
          <p:cNvSpPr txBox="1"/>
          <p:nvPr/>
        </p:nvSpPr>
        <p:spPr>
          <a:xfrm rot="0" flipH="0" flipV="0">
            <a:off x="6553200" y="1847850"/>
            <a:ext cx="3714750" cy="257175"/>
          </a:xfrm>
          <a:prstGeom prst="rect"/>
        </p:spPr>
        <p:txBody>
          <a:bodyPr wrap="none" lIns="0" tIns="0" rIns="0" bIns="0"/>
          <a:p>
            <a:pPr>
              <a:lnSpc>
                <a:spcPct val="150000"/>
              </a:lnSpc>
            </a:pPr>
            <a:r>
              <a:rPr lang="zh-CN" sz="1125">
                <a:solidFill>
                  <a:srgbClr val="546779"/>
                </a:solidFill>
                <a:latin typeface="Microsoft YaHei"/>
                <a:ea typeface="Microsoft YaHei"/>
              </a:rPr>
              <a:t>答对了却被判错：判分规则太死、参考答案过期、沙箱出错</a:t>
            </a:r>
            <a:endParaRPr/>
          </a:p>
        </p:txBody>
      </p:sp>
      <p:sp>
        <p:nvSpPr>
          <p:cNvPr id="1128" name=""/>
          <p:cNvSpPr/>
          <p:nvPr/>
        </p:nvSpPr>
        <p:spPr>
          <a:xfrm rot="0" flipH="0" flipV="0">
            <a:off x="609600" y="2686050"/>
            <a:ext cx="5410200" cy="1390650"/>
          </a:xfrm>
          <a:prstGeom prst="roundRect">
            <a:avLst>
              <a:gd name="adj" fmla="val 6849"/>
            </a:avLst>
          </a:prstGeom>
          <a:solidFill>
            <a:srgbClr val="F4F7FA"/>
          </a:solidFill>
          <a:ln/>
        </p:spPr>
        <p:txBody>
          <a:bodyPr/>
          <a:p/>
        </p:txBody>
      </p:sp>
      <p:sp>
        <p:nvSpPr>
          <p:cNvPr id="1129" name=""/>
          <p:cNvSpPr/>
          <p:nvPr/>
        </p:nvSpPr>
        <p:spPr>
          <a:xfrm rot="0" flipH="0" flipV="0">
            <a:off x="800100" y="2981325"/>
            <a:ext cx="38100" cy="800100"/>
          </a:xfrm>
          <a:prstGeom prst="rect">
            <a:avLst/>
          </a:prstGeom>
          <a:solidFill>
            <a:srgbClr val="CB6B28"/>
          </a:solidFill>
          <a:ln/>
        </p:spPr>
        <p:txBody>
          <a:bodyPr/>
          <a:p/>
        </p:txBody>
      </p:sp>
      <p:sp>
        <p:nvSpPr>
          <p:cNvPr id="1130" name="" descr="{&quot;isTemplate&quot;:true,&quot;type&quot;:&quot;text&quot;}"/>
          <p:cNvSpPr txBox="1"/>
          <p:nvPr/>
        </p:nvSpPr>
        <p:spPr>
          <a:xfrm rot="0" flipH="0" flipV="0">
            <a:off x="990600" y="3114675"/>
            <a:ext cx="3571875" cy="219075"/>
          </a:xfrm>
          <a:prstGeom prst="rect"/>
        </p:spPr>
        <p:txBody>
          <a:bodyPr wrap="none" lIns="0" tIns="0" rIns="0" bIns="0"/>
          <a:p>
            <a:pPr>
              <a:lnSpc>
                <a:spcPct val="100000"/>
              </a:lnSpc>
            </a:pPr>
            <a:r>
              <a:rPr lang="zh-CN" sz="1425" b="1">
                <a:solidFill>
                  <a:srgbClr val="20344B"/>
                </a:solidFill>
                <a:latin typeface="Microsoft YaHei"/>
                <a:ea typeface="Microsoft YaHei"/>
              </a:rPr>
              <a:t>假阳</a:t>
            </a:r>
            <a:endParaRPr/>
          </a:p>
        </p:txBody>
      </p:sp>
      <p:sp>
        <p:nvSpPr>
          <p:cNvPr id="1131" name="" descr="{&quot;isTemplate&quot;:true,&quot;type&quot;:&quot;text&quot;}"/>
          <p:cNvSpPr txBox="1"/>
          <p:nvPr/>
        </p:nvSpPr>
        <p:spPr>
          <a:xfrm rot="0" flipH="0" flipV="0">
            <a:off x="990600" y="3390900"/>
            <a:ext cx="3571875" cy="257175"/>
          </a:xfrm>
          <a:prstGeom prst="rect"/>
        </p:spPr>
        <p:txBody>
          <a:bodyPr wrap="none" lIns="0" tIns="0" rIns="0" bIns="0"/>
          <a:p>
            <a:pPr>
              <a:lnSpc>
                <a:spcPct val="150000"/>
              </a:lnSpc>
            </a:pPr>
            <a:r>
              <a:rPr lang="zh-CN" sz="1125">
                <a:solidFill>
                  <a:srgbClr val="546779"/>
                </a:solidFill>
                <a:latin typeface="Microsoft YaHei"/>
                <a:ea typeface="Microsoft YaHei"/>
              </a:rPr>
              <a:t>答错了却被放过：判分过松，或答案能从环境里直接抄到</a:t>
            </a:r>
            <a:endParaRPr/>
          </a:p>
        </p:txBody>
      </p:sp>
      <p:sp>
        <p:nvSpPr>
          <p:cNvPr id="1132" name=""/>
          <p:cNvSpPr/>
          <p:nvPr/>
        </p:nvSpPr>
        <p:spPr>
          <a:xfrm rot="0" flipH="0" flipV="0">
            <a:off x="6172200" y="2686050"/>
            <a:ext cx="5410200" cy="1390650"/>
          </a:xfrm>
          <a:prstGeom prst="roundRect">
            <a:avLst>
              <a:gd name="adj" fmla="val 6849"/>
            </a:avLst>
          </a:prstGeom>
          <a:solidFill>
            <a:srgbClr val="F4F7FA"/>
          </a:solidFill>
          <a:ln/>
        </p:spPr>
        <p:txBody>
          <a:bodyPr/>
          <a:p/>
        </p:txBody>
      </p:sp>
      <p:sp>
        <p:nvSpPr>
          <p:cNvPr id="1133" name=""/>
          <p:cNvSpPr/>
          <p:nvPr/>
        </p:nvSpPr>
        <p:spPr>
          <a:xfrm rot="0" flipH="0" flipV="0">
            <a:off x="6362700" y="2981325"/>
            <a:ext cx="38100" cy="800100"/>
          </a:xfrm>
          <a:prstGeom prst="rect">
            <a:avLst/>
          </a:prstGeom>
          <a:solidFill>
            <a:srgbClr val="CB6B28"/>
          </a:solidFill>
          <a:ln/>
        </p:spPr>
        <p:txBody>
          <a:bodyPr/>
          <a:p/>
        </p:txBody>
      </p:sp>
      <p:sp>
        <p:nvSpPr>
          <p:cNvPr id="1134" name="" descr="{&quot;isTemplate&quot;:true,&quot;type&quot;:&quot;text&quot;}"/>
          <p:cNvSpPr txBox="1"/>
          <p:nvPr/>
        </p:nvSpPr>
        <p:spPr>
          <a:xfrm rot="0" flipH="0" flipV="0">
            <a:off x="6553200" y="3114675"/>
            <a:ext cx="3714750" cy="219075"/>
          </a:xfrm>
          <a:prstGeom prst="rect"/>
        </p:spPr>
        <p:txBody>
          <a:bodyPr wrap="none" lIns="0" tIns="0" rIns="0" bIns="0"/>
          <a:p>
            <a:pPr>
              <a:lnSpc>
                <a:spcPct val="100000"/>
              </a:lnSpc>
            </a:pPr>
            <a:r>
              <a:rPr lang="zh-CN" sz="1425" b="1">
                <a:solidFill>
                  <a:srgbClr val="20344B"/>
                </a:solidFill>
                <a:latin typeface="Microsoft YaHei"/>
                <a:ea typeface="Microsoft YaHei"/>
              </a:rPr>
              <a:t>诱导不足</a:t>
            </a:r>
            <a:endParaRPr/>
          </a:p>
        </p:txBody>
      </p:sp>
      <p:sp>
        <p:nvSpPr>
          <p:cNvPr id="1135" name="" descr="{&quot;isTemplate&quot;:true,&quot;type&quot;:&quot;text&quot;}"/>
          <p:cNvSpPr txBox="1"/>
          <p:nvPr/>
        </p:nvSpPr>
        <p:spPr>
          <a:xfrm rot="0" flipH="0" flipV="0">
            <a:off x="6553200" y="3390900"/>
            <a:ext cx="3714750" cy="257175"/>
          </a:xfrm>
          <a:prstGeom prst="rect"/>
        </p:spPr>
        <p:txBody>
          <a:bodyPr wrap="none" lIns="0" tIns="0" rIns="0" bIns="0"/>
          <a:p>
            <a:pPr>
              <a:lnSpc>
                <a:spcPct val="150000"/>
              </a:lnSpc>
            </a:pPr>
            <a:r>
              <a:rPr lang="zh-CN" sz="1125">
                <a:solidFill>
                  <a:srgbClr val="546779"/>
                </a:solidFill>
                <a:latin typeface="Microsoft YaHei"/>
                <a:ea typeface="Microsoft YaHei"/>
              </a:rPr>
              <a:t>给的轮次、时间或预算不够，模型根本没机会展示这项能力</a:t>
            </a:r>
            <a:endParaRPr/>
          </a:p>
        </p:txBody>
      </p:sp>
      <p:sp>
        <p:nvSpPr>
          <p:cNvPr id="1136" name=""/>
          <p:cNvSpPr/>
          <p:nvPr/>
        </p:nvSpPr>
        <p:spPr>
          <a:xfrm rot="0" flipH="0" flipV="0">
            <a:off x="609600" y="4229100"/>
            <a:ext cx="5410200" cy="1390650"/>
          </a:xfrm>
          <a:prstGeom prst="roundRect">
            <a:avLst>
              <a:gd name="adj" fmla="val 6849"/>
            </a:avLst>
          </a:prstGeom>
          <a:solidFill>
            <a:srgbClr val="F4F7FA"/>
          </a:solidFill>
          <a:ln/>
        </p:spPr>
        <p:txBody>
          <a:bodyPr/>
          <a:p/>
        </p:txBody>
      </p:sp>
      <p:sp>
        <p:nvSpPr>
          <p:cNvPr id="1137" name=""/>
          <p:cNvSpPr/>
          <p:nvPr/>
        </p:nvSpPr>
        <p:spPr>
          <a:xfrm rot="0" flipH="0" flipV="0">
            <a:off x="800100" y="4524375"/>
            <a:ext cx="38100" cy="800100"/>
          </a:xfrm>
          <a:prstGeom prst="rect">
            <a:avLst/>
          </a:prstGeom>
          <a:solidFill>
            <a:srgbClr val="CB6B28"/>
          </a:solidFill>
          <a:ln/>
        </p:spPr>
        <p:txBody>
          <a:bodyPr/>
          <a:p/>
        </p:txBody>
      </p:sp>
      <p:sp>
        <p:nvSpPr>
          <p:cNvPr id="1138" name="" descr="{&quot;isTemplate&quot;:true,&quot;type&quot;:&quot;text&quot;}"/>
          <p:cNvSpPr txBox="1"/>
          <p:nvPr/>
        </p:nvSpPr>
        <p:spPr>
          <a:xfrm rot="0" flipH="0" flipV="0">
            <a:off x="990600" y="4657725"/>
            <a:ext cx="3571875" cy="219075"/>
          </a:xfrm>
          <a:prstGeom prst="rect"/>
        </p:spPr>
        <p:txBody>
          <a:bodyPr wrap="none" lIns="0" tIns="0" rIns="0" bIns="0"/>
          <a:p>
            <a:pPr>
              <a:lnSpc>
                <a:spcPct val="100000"/>
              </a:lnSpc>
            </a:pPr>
            <a:r>
              <a:rPr lang="zh-CN" sz="1425" b="1">
                <a:solidFill>
                  <a:srgbClr val="20344B"/>
                </a:solidFill>
                <a:latin typeface="Microsoft YaHei"/>
                <a:ea typeface="Microsoft YaHei"/>
              </a:rPr>
              <a:t>设置偏置</a:t>
            </a:r>
            <a:endParaRPr/>
          </a:p>
        </p:txBody>
      </p:sp>
      <p:sp>
        <p:nvSpPr>
          <p:cNvPr id="1139" name="" descr="{&quot;isTemplate&quot;:true,&quot;type&quot;:&quot;text&quot;}"/>
          <p:cNvSpPr txBox="1"/>
          <p:nvPr/>
        </p:nvSpPr>
        <p:spPr>
          <a:xfrm rot="0" flipH="0" flipV="0">
            <a:off x="990600" y="4933950"/>
            <a:ext cx="3571875" cy="257175"/>
          </a:xfrm>
          <a:prstGeom prst="rect"/>
        </p:spPr>
        <p:txBody>
          <a:bodyPr wrap="none" lIns="0" tIns="0" rIns="0" bIns="0"/>
          <a:p>
            <a:pPr>
              <a:lnSpc>
                <a:spcPct val="150000"/>
              </a:lnSpc>
            </a:pPr>
            <a:r>
              <a:rPr lang="zh-CN" sz="1125">
                <a:solidFill>
                  <a:srgbClr val="546779"/>
                </a:solidFill>
                <a:latin typeface="Microsoft YaHei"/>
                <a:ea typeface="Microsoft YaHei"/>
              </a:rPr>
              <a:t>不同模型拿到的算力或工具不一致，等于不是同一场比赛</a:t>
            </a:r>
            <a:endParaRPr/>
          </a:p>
        </p:txBody>
      </p:sp>
      <p:sp>
        <p:nvSpPr>
          <p:cNvPr id="1140" name=""/>
          <p:cNvSpPr/>
          <p:nvPr/>
        </p:nvSpPr>
        <p:spPr>
          <a:xfrm rot="0" flipH="0" flipV="0">
            <a:off x="6172200" y="4229100"/>
            <a:ext cx="5410200" cy="1390650"/>
          </a:xfrm>
          <a:prstGeom prst="roundRect">
            <a:avLst>
              <a:gd name="adj" fmla="val 6849"/>
            </a:avLst>
          </a:prstGeom>
          <a:solidFill>
            <a:srgbClr val="F4F7FA"/>
          </a:solidFill>
          <a:ln/>
        </p:spPr>
        <p:txBody>
          <a:bodyPr/>
          <a:p/>
        </p:txBody>
      </p:sp>
      <p:sp>
        <p:nvSpPr>
          <p:cNvPr id="1141" name=""/>
          <p:cNvSpPr/>
          <p:nvPr/>
        </p:nvSpPr>
        <p:spPr>
          <a:xfrm rot="0" flipH="0" flipV="0">
            <a:off x="6362700" y="4524375"/>
            <a:ext cx="38100" cy="800100"/>
          </a:xfrm>
          <a:prstGeom prst="rect">
            <a:avLst/>
          </a:prstGeom>
          <a:solidFill>
            <a:srgbClr val="CB6B28"/>
          </a:solidFill>
          <a:ln/>
        </p:spPr>
        <p:txBody>
          <a:bodyPr/>
          <a:p/>
        </p:txBody>
      </p:sp>
      <p:sp>
        <p:nvSpPr>
          <p:cNvPr id="1142" name="" descr="{&quot;isTemplate&quot;:true,&quot;type&quot;:&quot;text&quot;}"/>
          <p:cNvSpPr txBox="1"/>
          <p:nvPr/>
        </p:nvSpPr>
        <p:spPr>
          <a:xfrm rot="0" flipH="0" flipV="0">
            <a:off x="6553200" y="4657725"/>
            <a:ext cx="3857625" cy="219075"/>
          </a:xfrm>
          <a:prstGeom prst="rect"/>
        </p:spPr>
        <p:txBody>
          <a:bodyPr wrap="none" lIns="0" tIns="0" rIns="0" bIns="0"/>
          <a:p>
            <a:pPr>
              <a:lnSpc>
                <a:spcPct val="100000"/>
              </a:lnSpc>
            </a:pPr>
            <a:r>
              <a:rPr lang="zh-CN" sz="1425" b="1">
                <a:solidFill>
                  <a:srgbClr val="20344B"/>
                </a:solidFill>
                <a:latin typeface="Microsoft YaHei"/>
                <a:ea typeface="Microsoft YaHei"/>
              </a:rPr>
              <a:t>静默改版</a:t>
            </a:r>
            <a:endParaRPr/>
          </a:p>
        </p:txBody>
      </p:sp>
      <p:sp>
        <p:nvSpPr>
          <p:cNvPr id="1143" name="" descr="{&quot;isTemplate&quot;:true,&quot;type&quot;:&quot;text&quot;}"/>
          <p:cNvSpPr txBox="1"/>
          <p:nvPr/>
        </p:nvSpPr>
        <p:spPr>
          <a:xfrm rot="0" flipH="0" flipV="0">
            <a:off x="6553200" y="4933950"/>
            <a:ext cx="3857625" cy="257175"/>
          </a:xfrm>
          <a:prstGeom prst="rect"/>
        </p:spPr>
        <p:txBody>
          <a:bodyPr wrap="none" lIns="0" tIns="0" rIns="0" bIns="0"/>
          <a:p>
            <a:pPr>
              <a:lnSpc>
                <a:spcPct val="150000"/>
              </a:lnSpc>
            </a:pPr>
            <a:r>
              <a:rPr lang="zh-CN" sz="1125">
                <a:solidFill>
                  <a:srgbClr val="546779"/>
                </a:solidFill>
                <a:latin typeface="Microsoft YaHei"/>
                <a:ea typeface="Microsoft YaHei"/>
              </a:rPr>
              <a:t>改了评分规则或答案却不更新版本号，前后成绩混在一张榜上</a:t>
            </a:r>
            <a:endParaRPr/>
          </a:p>
        </p:txBody>
      </p:sp>
      <p:sp>
        <p:nvSpPr>
          <p:cNvPr id="1144" name=""/>
          <p:cNvSpPr/>
          <p:nvPr/>
        </p:nvSpPr>
        <p:spPr>
          <a:xfrm rot="0" flipH="0" flipV="0">
            <a:off x="609600" y="5772150"/>
            <a:ext cx="10972800" cy="514350"/>
          </a:xfrm>
          <a:prstGeom prst="roundRect">
            <a:avLst>
              <a:gd name="adj" fmla="val 18519"/>
            </a:avLst>
          </a:prstGeom>
          <a:solidFill>
            <a:srgbClr val="F7F3E8"/>
          </a:solidFill>
          <a:ln/>
        </p:spPr>
        <p:txBody>
          <a:bodyPr/>
          <a:p/>
        </p:txBody>
      </p:sp>
      <p:sp>
        <p:nvSpPr>
          <p:cNvPr id="1145" name=""/>
          <p:cNvSpPr/>
          <p:nvPr/>
        </p:nvSpPr>
        <p:spPr>
          <a:xfrm rot="0" flipH="0" flipV="0">
            <a:off x="819150" y="5886450"/>
            <a:ext cx="38100" cy="285750"/>
          </a:xfrm>
          <a:prstGeom prst="rect">
            <a:avLst/>
          </a:prstGeom>
          <a:solidFill>
            <a:srgbClr val="276FBF"/>
          </a:solidFill>
          <a:ln/>
        </p:spPr>
        <p:txBody>
          <a:bodyPr/>
          <a:p/>
        </p:txBody>
      </p:sp>
      <p:sp>
        <p:nvSpPr>
          <p:cNvPr id="1146" name="" descr="{&quot;isTemplate&quot;:true,&quot;type&quot;:&quot;text&quot;}"/>
          <p:cNvSpPr txBox="1"/>
          <p:nvPr/>
        </p:nvSpPr>
        <p:spPr>
          <a:xfrm rot="0" flipH="0" flipV="0">
            <a:off x="990600" y="5905500"/>
            <a:ext cx="5753100" cy="257175"/>
          </a:xfrm>
          <a:prstGeom prst="rect"/>
        </p:spPr>
        <p:txBody>
          <a:bodyPr wrap="none" lIns="0" tIns="0" rIns="0" bIns="0"/>
          <a:p>
            <a:pPr>
              <a:lnSpc>
                <a:spcPct val="150000"/>
              </a:lnSpc>
            </a:pPr>
            <a:r>
              <a:rPr lang="zh-CN" sz="1125">
                <a:solidFill>
                  <a:srgbClr val="546779"/>
                </a:solidFill>
                <a:latin typeface="Microsoft YaHei"/>
                <a:ea typeface="Microsoft YaHei"/>
              </a:rPr>
              <a:t>判断触发线：抽样中若有两成以上的题目含影响准确率的错误，</a:t>
            </a:r>
            <a:r>
              <a:rPr lang="en-US" sz="1125">
                <a:solidFill>
                  <a:srgbClr val="546779"/>
                </a:solidFill>
                <a:latin typeface="Microsoft YaHei"/>
                <a:ea typeface="Microsoft YaHei"/>
              </a:rPr>
              <a:t xml:space="preserve">Epoch </a:t>
            </a:r>
            <a:r>
              <a:rPr lang="zh-CN" sz="1125">
                <a:solidFill>
                  <a:srgbClr val="546779"/>
                </a:solidFill>
                <a:latin typeface="Microsoft YaHei"/>
                <a:ea typeface="Microsoft YaHei"/>
              </a:rPr>
              <a:t>就判定该基准有问题</a:t>
            </a:r>
            <a:endParaRPr/>
          </a:p>
        </p:txBody>
      </p:sp>
      <p:sp>
        <p:nvSpPr>
          <p:cNvPr id="1147"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148"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07 / 36</a:t>
            </a:r>
            <a:endParaRPr/>
          </a:p>
        </p:txBody>
      </p:sp>
    </p:spTree>
  </p:cSld>
</p:sld>
</file>

<file path=ppt/slides/slide8.xml><?xml version="1.0" encoding="utf-8"?>
<p:sld xmlns:p="http://schemas.openxmlformats.org/presentationml/2006/main" xmlns:a="http://schemas.openxmlformats.org/drawingml/2006/main">
  <p:cSld>
    <p:spTree>
      <p:nvGrpSpPr>
        <p:cNvPr id="1149" name="" descr="&lt;Slide notes={`做基准的机构大致四类。&#10;&#10;第一类是学术团队，高校和研究所的课题组，比如 GPQA 就是一批研究者做出来的，论文公开、方法可查。&#10;&#10;第二类是非营利组织，比如 ARC Prize Foundation，背后是 Chollet 发起的抽象推理竞赛，靠奖金和公开评测推动研究。&#10;&#10;第三类是产业联合，典型是 HLE，由安全研究机构 CAIS 和 Scale AI 联合主办，出题靠全球专家网络，题目征集还设了奖金池。&#10;&#10;第四类是独立评测机构，比如 Epoch AI，它自己跑模型、自己做基准，也审计别人的基准，明确不向厂商收费。&#10;&#10;四类机构各有长处也各有局限。学术团队方法严谨但资源有限，非营利组织目标纯粹但依赖资助，产业联合出题面广但要留意动机，独立评测相对中立，也要看它公开方法到什么程度。`}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②　1.4.2　评估机构：权威性与利益关系&lt;/Text&gt;&#10;            &lt;Text style={{ fontSize: 34, fontWeight: 'bold', color: '#20344B' }}&gt;谁在做基准&lt;/Text&gt;&#10;        &lt;/Box&gt;&#10;    &lt;/Box&gt;&#10;&#10;    &lt;Box style={{ height: 540, flexDirection: 'column', justifyContent: 'center', gap: 18 }}&gt;&#10;&#10;        &lt;Box style={{ flexDirection: 'row', gap: 16 }}&gt;&#10;&#10;            &lt;Box style={{ width: 276, height: 306, background: '#EDF4FC', borderRadius: 12, padding: '18px 18px', flexDirection: 'column', gap: 10 }}&gt;&#10;                &lt;Box style={{ width: 60, height: 26, background: '#276FBF', borderRadius: 6, alignItems: 'center', justifyContent: 'center' }}&gt;&lt;Text style={{ fontSize: 13, color: '#FFFFFF' }}&gt;学术&lt;/Text&gt;&lt;/Box&gt;&#10;                &lt;Text style={{ fontSize: 19, fontWeight: 'bold', color: '#20344B' }}&gt;高校与研究所&lt;/Text&gt;&#10;                &lt;Text style={{ fontSize: 15, color: '#546779', lineHeight: 1.5 }}&gt;课题组自己出题、自己验证，论文与题库一起公开。&lt;/Text&gt;&#10;                &lt;Box style={{ flex: 1 }} /&gt;&#10;                &lt;Text style={{ fontSize: 14, color: '#276FBF', lineHeight: 1.45 }}&gt;代表：GPQA 的作者团队&lt;/Text&gt;&#10;            &lt;/Box&gt;&#10;&#10;            &lt;Box style={{ width: 276, height: 306, background: '#ECF7F2', borderRadius: 12, padding: '18px 18px', flexDirection: 'column', gap: 10 }}&gt;&#10;                &lt;Box style={{ width: 74, height: 26, background: '#26816B', borderRadius: 6, alignItems: 'center', justifyContent: 'center' }}&gt;&lt;Text style={{ fontSize: 13, color: '#FFFFFF' }}&gt;非营利&lt;/Text&gt;&lt;/Box&gt;&#10;                &lt;Text style={{ fontSize: 19, fontWeight: 'bold', color: '#20344B' }}&gt;公益型基金会&lt;/Text&gt;&#10;                &lt;Text style={{ fontSize: 15, color: '#546779', lineHeight: 1.5 }}&gt;以奖项与公开评测推动研究，不靠卖模型赚钱。&lt;/Text&gt;&#10;                &lt;Box style={{ flex: 1 }} /&gt;&#10;                &lt;Text style={{ fontSize: 14, color: '#26816B', lineHeight: 1.45 }}&gt;代表：ARC Prize Foundation&lt;/Text&gt;&#10;            &lt;/Box&gt;&#10;&#10;            &lt;Box style={{ width: 276, height: 306, background: '#F7F3E8', borderRadius: 12, padding: '18px 18px', flexDirection: 'column', gap: 10 }}&gt;&#10;                &lt;Box style={{ width: 74, height: 26, background: '#546779', borderRadius: 6, alignItems: 'center', justifyContent: 'center' }}&gt;&lt;Text style={{ fontSize: 13, color: '#FFFFFF' }}&gt;产业联合&lt;/Text&gt;&lt;/Box&gt;&#10;                &lt;Text style={{ fontSize: 19, fontWeight: 'bold', color: '#20344B' }}&gt;机构与企业合办&lt;/Text&gt;&#10;                &lt;Text style={{ fontSize: 15, color: '#546779', lineHeight: 1.5 }}&gt;一方出题网与评审，一方出平台与资助，规模做得很大。&lt;/Text&gt;&#10;                &lt;Box style={{ flex: 1 }} /&gt;&#10;                &lt;Text style={{ fontSize: 14, color: '#546779', lineHeight: 1.45 }}&gt;代表：CAIS × Scale AI&lt;/Text&gt;&#10;            &lt;/Box&gt;&#10;&#10;            &lt;Box style={{ width: 276, height: 306, background: '#F4F7FA', borderRadius: 12, padding: '18px 18px', flexDirection: 'column', gap: 10 }}&gt;&#10;                &lt;Box style={{ width: 74, height: 26, background: '#276FBF', borderRadius: 6, alignItems: 'center', justifyContent: 'center' }}&gt;&lt;Text style={{ fontSize: 13, color: '#FFFFFF' }}&gt;独立&lt;/Text&gt;&lt;/Box&gt;&#10;                &lt;Text style={{ fontSize: 19, fontWeight: 'bold', color: '#20344B' }}&gt;第三方评测机构&lt;/Text&gt;&#10;                &lt;Text style={{ fontSize: 15, color: '#546779', lineHeight: 1.5 }}&gt;自己跑模型，也审计别人的基准，与厂商保持距离。&lt;/Text&gt;&#10;                &lt;Box style={{ flex: 1 }} /&gt;&#10;                &lt;Text style={{ fontSize: 14, color: '#276FBF', lineHeight: 1.45 }}&gt;代表：Epoch AI&lt;/Text&gt;&#10;            &lt;/Box&gt;&#10;&#10;        &lt;/Box&gt;&#10;&#10;        &lt;Box style={{ flexDirection: 'row', gap: 16, background: '#F4F7FA', borderRadius: 10, padding: '14px 22px', alignItems: 'center' }}&gt;&#10;            &lt;Box style={{ width: 4, height: 44, background: '#276FBF' }} /&gt;&#10;            &lt;Text style={{ fontSize: 16, color: '#546779', lineHeight: 1.55 }}&gt;四类机构各有长处也各有局限；看一个基准，先看它属于哪一类、钱从哪里来&lt;/Text&gt;&#10;        &lt;/Box&gt;&#10;&#10;    &lt;/Box&gt;&#10;&#10;    &lt;Box style={{ height: 40, flexDirection: 'row', justifyContent: 'space-between', alignItems: 'center' }}&gt;&#10;        &lt;Text style={{ fontSize: 14, color: '#546779' }}&gt;1.4 从榜单到证据&lt;/Text&gt;&#10;        &lt;Text style={{ fontSize: 14, color: '#546779' }}&gt;08 / 36&lt;/Text&gt;&#10;    &lt;/Box&gt;&#10;&#10;&lt;/Slide&gt;&#10;"/>
        <p:cNvGrpSpPr/>
        <p:nvPr/>
      </p:nvGrpSpPr>
      <p:grpSpPr>
        <a:xfrm>
          <a:off x="0" y="0"/>
          <a:ext cx="0" cy="0"/>
          <a:chOff x="0" y="0"/>
          <a:chExt cx="0" cy="0"/>
        </a:xfrm>
      </p:grpSpPr>
      <p:sp>
        <p:nvSpPr>
          <p:cNvPr id="1150" name=""/>
          <p:cNvSpPr/>
          <p:nvPr/>
        </p:nvSpPr>
        <p:spPr>
          <a:xfrm rot="0" flipH="0" flipV="0">
            <a:off x="0" y="0"/>
            <a:ext cx="12192000" cy="6858000"/>
          </a:xfrm>
          <a:prstGeom prst="rect">
            <a:avLst/>
          </a:prstGeom>
          <a:solidFill>
            <a:srgbClr val="FFFFFF"/>
          </a:solidFill>
          <a:ln/>
        </p:spPr>
        <p:txBody>
          <a:bodyPr/>
          <a:p/>
        </p:txBody>
      </p:sp>
      <p:sp>
        <p:nvSpPr>
          <p:cNvPr id="1151" name=""/>
          <p:cNvSpPr/>
          <p:nvPr/>
        </p:nvSpPr>
        <p:spPr>
          <a:xfrm rot="0" flipH="0" flipV="0">
            <a:off x="609600" y="457200"/>
            <a:ext cx="38100" cy="419100"/>
          </a:xfrm>
          <a:prstGeom prst="rect">
            <a:avLst/>
          </a:prstGeom>
          <a:solidFill>
            <a:srgbClr val="276FBF"/>
          </a:solidFill>
          <a:ln/>
        </p:spPr>
        <p:txBody>
          <a:bodyPr/>
          <a:p/>
        </p:txBody>
      </p:sp>
      <p:sp>
        <p:nvSpPr>
          <p:cNvPr id="1152" name="" descr="{&quot;isTemplate&quot;:true,&quot;type&quot;:&quot;text&quot;}"/>
          <p:cNvSpPr txBox="1"/>
          <p:nvPr/>
        </p:nvSpPr>
        <p:spPr>
          <a:xfrm rot="0" flipH="0" flipV="0">
            <a:off x="838200" y="371475"/>
            <a:ext cx="2438400" cy="161925"/>
          </a:xfrm>
          <a:prstGeom prst="rect"/>
        </p:spPr>
        <p:txBody>
          <a:bodyPr wrap="none" lIns="0" tIns="0" rIns="0" bIns="0"/>
          <a:p>
            <a:pPr>
              <a:lnSpc>
                <a:spcPct val="100000"/>
              </a:lnSpc>
            </a:pPr>
            <a:r>
              <a:rPr lang="zh-CN" sz="1050">
                <a:solidFill>
                  <a:srgbClr val="546779"/>
                </a:solidFill>
                <a:latin typeface="Microsoft YaHei"/>
                <a:ea typeface="Microsoft YaHei"/>
              </a:rPr>
              <a:t>②　</a:t>
            </a:r>
            <a:r>
              <a:rPr lang="en-US" sz="1050">
                <a:solidFill>
                  <a:srgbClr val="546779"/>
                </a:solidFill>
                <a:latin typeface="Microsoft YaHei"/>
                <a:ea typeface="Microsoft YaHei"/>
              </a:rPr>
              <a:t>1.4.2</a:t>
            </a:r>
            <a:r>
              <a:rPr lang="zh-CN" sz="1050">
                <a:solidFill>
                  <a:srgbClr val="546779"/>
                </a:solidFill>
                <a:latin typeface="Microsoft YaHei"/>
                <a:ea typeface="Microsoft YaHei"/>
              </a:rPr>
              <a:t>　评估机构：权威性与利益关系</a:t>
            </a:r>
            <a:endParaRPr/>
          </a:p>
        </p:txBody>
      </p:sp>
      <p:sp>
        <p:nvSpPr>
          <p:cNvPr id="1153" name="" descr="{&quot;isTemplate&quot;:true,&quot;type&quot;:&quot;text&quot;}"/>
          <p:cNvSpPr txBox="1"/>
          <p:nvPr/>
        </p:nvSpPr>
        <p:spPr>
          <a:xfrm rot="0" flipH="0" flipV="0">
            <a:off x="838200" y="571500"/>
            <a:ext cx="2438400" cy="390525"/>
          </a:xfrm>
          <a:prstGeom prst="rect"/>
        </p:spPr>
        <p:txBody>
          <a:bodyPr wrap="none" lIns="0" tIns="0" rIns="0" bIns="0"/>
          <a:p>
            <a:pPr>
              <a:lnSpc>
                <a:spcPct val="100000"/>
              </a:lnSpc>
            </a:pPr>
            <a:r>
              <a:rPr lang="zh-CN" sz="2550" b="1">
                <a:solidFill>
                  <a:srgbClr val="20344B"/>
                </a:solidFill>
                <a:latin typeface="Microsoft YaHei"/>
                <a:ea typeface="Microsoft YaHei"/>
              </a:rPr>
              <a:t>谁在做基准</a:t>
            </a:r>
            <a:endParaRPr/>
          </a:p>
        </p:txBody>
      </p:sp>
      <p:sp>
        <p:nvSpPr>
          <p:cNvPr id="1154" name=""/>
          <p:cNvSpPr/>
          <p:nvPr/>
        </p:nvSpPr>
        <p:spPr>
          <a:xfrm rot="0" flipH="0" flipV="0">
            <a:off x="609600" y="1828800"/>
            <a:ext cx="2628900" cy="2914650"/>
          </a:xfrm>
          <a:prstGeom prst="roundRect">
            <a:avLst>
              <a:gd name="adj" fmla="val 4348"/>
            </a:avLst>
          </a:prstGeom>
          <a:solidFill>
            <a:srgbClr val="EDF4FC"/>
          </a:solidFill>
          <a:ln/>
        </p:spPr>
        <p:txBody>
          <a:bodyPr/>
          <a:p/>
        </p:txBody>
      </p:sp>
      <p:sp>
        <p:nvSpPr>
          <p:cNvPr id="1155" name=""/>
          <p:cNvSpPr/>
          <p:nvPr/>
        </p:nvSpPr>
        <p:spPr>
          <a:xfrm rot="0" flipH="0" flipV="0">
            <a:off x="781050" y="2000250"/>
            <a:ext cx="571500" cy="247650"/>
          </a:xfrm>
          <a:prstGeom prst="roundRect">
            <a:avLst>
              <a:gd name="adj" fmla="val 23077"/>
            </a:avLst>
          </a:prstGeom>
          <a:solidFill>
            <a:srgbClr val="276FBF"/>
          </a:solidFill>
          <a:ln/>
        </p:spPr>
        <p:txBody>
          <a:bodyPr/>
          <a:p/>
        </p:txBody>
      </p:sp>
      <p:sp>
        <p:nvSpPr>
          <p:cNvPr id="1156" name="" descr="{&quot;isTemplate&quot;:true,&quot;type&quot;:&quot;text&quot;}"/>
          <p:cNvSpPr txBox="1"/>
          <p:nvPr/>
        </p:nvSpPr>
        <p:spPr>
          <a:xfrm rot="0" flipH="0" flipV="0">
            <a:off x="942975" y="2047875"/>
            <a:ext cx="247650" cy="152400"/>
          </a:xfrm>
          <a:prstGeom prst="rect"/>
        </p:spPr>
        <p:txBody>
          <a:bodyPr wrap="none" lIns="0" tIns="0" rIns="0" bIns="0"/>
          <a:p>
            <a:pPr>
              <a:lnSpc>
                <a:spcPct val="100000"/>
              </a:lnSpc>
            </a:pPr>
            <a:r>
              <a:rPr lang="zh-CN" sz="975">
                <a:solidFill>
                  <a:srgbClr val="FFFFFF"/>
                </a:solidFill>
                <a:latin typeface="Microsoft YaHei"/>
                <a:ea typeface="Microsoft YaHei"/>
              </a:rPr>
              <a:t>学术</a:t>
            </a:r>
            <a:endParaRPr/>
          </a:p>
        </p:txBody>
      </p:sp>
      <p:sp>
        <p:nvSpPr>
          <p:cNvPr id="1157" name="" descr="{&quot;isTemplate&quot;:true,&quot;type&quot;:&quot;text&quot;}"/>
          <p:cNvSpPr txBox="1"/>
          <p:nvPr/>
        </p:nvSpPr>
        <p:spPr>
          <a:xfrm rot="0" flipH="0" flipV="0">
            <a:off x="781050" y="2343150"/>
            <a:ext cx="2286000" cy="219075"/>
          </a:xfrm>
          <a:prstGeom prst="rect"/>
        </p:spPr>
        <p:txBody>
          <a:bodyPr wrap="none" lIns="0" tIns="0" rIns="0" bIns="0"/>
          <a:p>
            <a:pPr>
              <a:lnSpc>
                <a:spcPct val="100000"/>
              </a:lnSpc>
            </a:pPr>
            <a:r>
              <a:rPr lang="zh-CN" sz="1425" b="1">
                <a:solidFill>
                  <a:srgbClr val="20344B"/>
                </a:solidFill>
                <a:latin typeface="Microsoft YaHei"/>
                <a:ea typeface="Microsoft YaHei"/>
              </a:rPr>
              <a:t>高校与研究所</a:t>
            </a:r>
            <a:endParaRPr/>
          </a:p>
        </p:txBody>
      </p:sp>
      <p:sp>
        <p:nvSpPr>
          <p:cNvPr id="1158" name="" descr="{&quot;isTemplate&quot;:true,&quot;type&quot;:&quot;text&quot;}"/>
          <p:cNvSpPr txBox="1"/>
          <p:nvPr/>
        </p:nvSpPr>
        <p:spPr>
          <a:xfrm rot="0" flipH="0" flipV="0">
            <a:off x="781050" y="2657475"/>
            <a:ext cx="228600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课题组自己出题、自己验证，论文与题库一起公开。</a:t>
            </a:r>
            <a:endParaRPr/>
          </a:p>
        </p:txBody>
      </p:sp>
      <p:sp>
        <p:nvSpPr>
          <p:cNvPr id="1159" name="" descr="{&quot;isTemplate&quot;:true,&quot;type&quot;:&quot;text&quot;}"/>
          <p:cNvSpPr txBox="1"/>
          <p:nvPr/>
        </p:nvSpPr>
        <p:spPr>
          <a:xfrm rot="0" flipH="0" flipV="0">
            <a:off x="781050" y="4333875"/>
            <a:ext cx="2286000" cy="238125"/>
          </a:xfrm>
          <a:prstGeom prst="rect"/>
        </p:spPr>
        <p:txBody>
          <a:bodyPr wrap="none" lIns="0" tIns="0" rIns="0" bIns="0"/>
          <a:p>
            <a:pPr>
              <a:lnSpc>
                <a:spcPct val="145000"/>
              </a:lnSpc>
            </a:pPr>
            <a:r>
              <a:rPr lang="zh-CN" sz="1050">
                <a:solidFill>
                  <a:srgbClr val="276FBF"/>
                </a:solidFill>
                <a:latin typeface="Microsoft YaHei"/>
                <a:ea typeface="Microsoft YaHei"/>
              </a:rPr>
              <a:t>代表：</a:t>
            </a:r>
            <a:r>
              <a:rPr lang="en-US" sz="1050">
                <a:solidFill>
                  <a:srgbClr val="276FBF"/>
                </a:solidFill>
                <a:latin typeface="Microsoft YaHei"/>
                <a:ea typeface="Microsoft YaHei"/>
              </a:rPr>
              <a:t xml:space="preserve">GPQA </a:t>
            </a:r>
            <a:r>
              <a:rPr lang="zh-CN" sz="1050">
                <a:solidFill>
                  <a:srgbClr val="276FBF"/>
                </a:solidFill>
                <a:latin typeface="Microsoft YaHei"/>
                <a:ea typeface="Microsoft YaHei"/>
              </a:rPr>
              <a:t>的作者团队</a:t>
            </a:r>
            <a:endParaRPr/>
          </a:p>
        </p:txBody>
      </p:sp>
      <p:sp>
        <p:nvSpPr>
          <p:cNvPr id="1160" name=""/>
          <p:cNvSpPr/>
          <p:nvPr/>
        </p:nvSpPr>
        <p:spPr>
          <a:xfrm rot="0" flipH="0" flipV="0">
            <a:off x="3390900" y="1828800"/>
            <a:ext cx="2628900" cy="2914650"/>
          </a:xfrm>
          <a:prstGeom prst="roundRect">
            <a:avLst>
              <a:gd name="adj" fmla="val 4348"/>
            </a:avLst>
          </a:prstGeom>
          <a:solidFill>
            <a:srgbClr val="ECF7F2"/>
          </a:solidFill>
          <a:ln/>
        </p:spPr>
        <p:txBody>
          <a:bodyPr/>
          <a:p/>
        </p:txBody>
      </p:sp>
      <p:sp>
        <p:nvSpPr>
          <p:cNvPr id="1161" name=""/>
          <p:cNvSpPr/>
          <p:nvPr/>
        </p:nvSpPr>
        <p:spPr>
          <a:xfrm rot="0" flipH="0" flipV="0">
            <a:off x="3562350" y="2000250"/>
            <a:ext cx="704850" cy="247650"/>
          </a:xfrm>
          <a:prstGeom prst="roundRect">
            <a:avLst>
              <a:gd name="adj" fmla="val 23077"/>
            </a:avLst>
          </a:prstGeom>
          <a:solidFill>
            <a:srgbClr val="26816B"/>
          </a:solidFill>
          <a:ln/>
        </p:spPr>
        <p:txBody>
          <a:bodyPr/>
          <a:p/>
        </p:txBody>
      </p:sp>
      <p:sp>
        <p:nvSpPr>
          <p:cNvPr id="1162" name="" descr="{&quot;isTemplate&quot;:true,&quot;type&quot;:&quot;text&quot;}"/>
          <p:cNvSpPr txBox="1"/>
          <p:nvPr/>
        </p:nvSpPr>
        <p:spPr>
          <a:xfrm rot="0" flipH="0" flipV="0">
            <a:off x="3733800" y="2047875"/>
            <a:ext cx="371475" cy="152400"/>
          </a:xfrm>
          <a:prstGeom prst="rect"/>
        </p:spPr>
        <p:txBody>
          <a:bodyPr wrap="none" lIns="0" tIns="0" rIns="0" bIns="0"/>
          <a:p>
            <a:pPr>
              <a:lnSpc>
                <a:spcPct val="100000"/>
              </a:lnSpc>
            </a:pPr>
            <a:r>
              <a:rPr lang="zh-CN" sz="975">
                <a:solidFill>
                  <a:srgbClr val="FFFFFF"/>
                </a:solidFill>
                <a:latin typeface="Microsoft YaHei"/>
                <a:ea typeface="Microsoft YaHei"/>
              </a:rPr>
              <a:t>非营利</a:t>
            </a:r>
            <a:endParaRPr/>
          </a:p>
        </p:txBody>
      </p:sp>
      <p:sp>
        <p:nvSpPr>
          <p:cNvPr id="1163" name="" descr="{&quot;isTemplate&quot;:true,&quot;type&quot;:&quot;text&quot;}"/>
          <p:cNvSpPr txBox="1"/>
          <p:nvPr/>
        </p:nvSpPr>
        <p:spPr>
          <a:xfrm rot="0" flipH="0" flipV="0">
            <a:off x="3562350" y="2343150"/>
            <a:ext cx="2286000" cy="219075"/>
          </a:xfrm>
          <a:prstGeom prst="rect"/>
        </p:spPr>
        <p:txBody>
          <a:bodyPr wrap="none" lIns="0" tIns="0" rIns="0" bIns="0"/>
          <a:p>
            <a:pPr>
              <a:lnSpc>
                <a:spcPct val="100000"/>
              </a:lnSpc>
            </a:pPr>
            <a:r>
              <a:rPr lang="zh-CN" sz="1425" b="1">
                <a:solidFill>
                  <a:srgbClr val="20344B"/>
                </a:solidFill>
                <a:latin typeface="Microsoft YaHei"/>
                <a:ea typeface="Microsoft YaHei"/>
              </a:rPr>
              <a:t>公益型基金会</a:t>
            </a:r>
            <a:endParaRPr/>
          </a:p>
        </p:txBody>
      </p:sp>
      <p:sp>
        <p:nvSpPr>
          <p:cNvPr id="1164" name="" descr="{&quot;isTemplate&quot;:true,&quot;type&quot;:&quot;text&quot;}"/>
          <p:cNvSpPr txBox="1"/>
          <p:nvPr/>
        </p:nvSpPr>
        <p:spPr>
          <a:xfrm rot="0" flipH="0" flipV="0">
            <a:off x="3562350" y="2657475"/>
            <a:ext cx="228600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以奖项与公开评测推动研究，不靠卖模型赚钱。</a:t>
            </a:r>
            <a:endParaRPr/>
          </a:p>
        </p:txBody>
      </p:sp>
      <p:sp>
        <p:nvSpPr>
          <p:cNvPr id="1165" name="" descr="{&quot;isTemplate&quot;:true,&quot;type&quot;:&quot;text&quot;}"/>
          <p:cNvSpPr txBox="1"/>
          <p:nvPr/>
        </p:nvSpPr>
        <p:spPr>
          <a:xfrm rot="0" flipH="0" flipV="0">
            <a:off x="3562350" y="4333875"/>
            <a:ext cx="2286000" cy="238125"/>
          </a:xfrm>
          <a:prstGeom prst="rect"/>
        </p:spPr>
        <p:txBody>
          <a:bodyPr wrap="none" lIns="0" tIns="0" rIns="0" bIns="0"/>
          <a:p>
            <a:pPr>
              <a:lnSpc>
                <a:spcPct val="145000"/>
              </a:lnSpc>
            </a:pPr>
            <a:r>
              <a:rPr lang="zh-CN" sz="1050">
                <a:solidFill>
                  <a:srgbClr val="26816B"/>
                </a:solidFill>
                <a:latin typeface="Microsoft YaHei"/>
                <a:ea typeface="Microsoft YaHei"/>
              </a:rPr>
              <a:t>代表：</a:t>
            </a:r>
            <a:r>
              <a:rPr lang="en-US" sz="1050">
                <a:solidFill>
                  <a:srgbClr val="26816B"/>
                </a:solidFill>
                <a:latin typeface="Microsoft YaHei"/>
                <a:ea typeface="Microsoft YaHei"/>
              </a:rPr>
              <a:t>ARC Prize Foundation</a:t>
            </a:r>
            <a:endParaRPr/>
          </a:p>
        </p:txBody>
      </p:sp>
      <p:sp>
        <p:nvSpPr>
          <p:cNvPr id="1166" name=""/>
          <p:cNvSpPr/>
          <p:nvPr/>
        </p:nvSpPr>
        <p:spPr>
          <a:xfrm rot="0" flipH="0" flipV="0">
            <a:off x="6172200" y="1828800"/>
            <a:ext cx="2628900" cy="2914650"/>
          </a:xfrm>
          <a:prstGeom prst="roundRect">
            <a:avLst>
              <a:gd name="adj" fmla="val 4348"/>
            </a:avLst>
          </a:prstGeom>
          <a:solidFill>
            <a:srgbClr val="F7F3E8"/>
          </a:solidFill>
          <a:ln/>
        </p:spPr>
        <p:txBody>
          <a:bodyPr/>
          <a:p/>
        </p:txBody>
      </p:sp>
      <p:sp>
        <p:nvSpPr>
          <p:cNvPr id="1167" name=""/>
          <p:cNvSpPr/>
          <p:nvPr/>
        </p:nvSpPr>
        <p:spPr>
          <a:xfrm rot="0" flipH="0" flipV="0">
            <a:off x="6343650" y="2000250"/>
            <a:ext cx="704850" cy="247650"/>
          </a:xfrm>
          <a:prstGeom prst="roundRect">
            <a:avLst>
              <a:gd name="adj" fmla="val 23077"/>
            </a:avLst>
          </a:prstGeom>
          <a:solidFill>
            <a:srgbClr val="546779"/>
          </a:solidFill>
          <a:ln/>
        </p:spPr>
        <p:txBody>
          <a:bodyPr/>
          <a:p/>
        </p:txBody>
      </p:sp>
      <p:sp>
        <p:nvSpPr>
          <p:cNvPr id="1168" name="" descr="{&quot;isTemplate&quot;:true,&quot;type&quot;:&quot;text&quot;}"/>
          <p:cNvSpPr txBox="1"/>
          <p:nvPr/>
        </p:nvSpPr>
        <p:spPr>
          <a:xfrm rot="0" flipH="0" flipV="0">
            <a:off x="6448425" y="2047875"/>
            <a:ext cx="495300" cy="152400"/>
          </a:xfrm>
          <a:prstGeom prst="rect"/>
        </p:spPr>
        <p:txBody>
          <a:bodyPr wrap="none" lIns="0" tIns="0" rIns="0" bIns="0"/>
          <a:p>
            <a:pPr>
              <a:lnSpc>
                <a:spcPct val="100000"/>
              </a:lnSpc>
            </a:pPr>
            <a:r>
              <a:rPr lang="zh-CN" sz="975">
                <a:solidFill>
                  <a:srgbClr val="FFFFFF"/>
                </a:solidFill>
                <a:latin typeface="Microsoft YaHei"/>
                <a:ea typeface="Microsoft YaHei"/>
              </a:rPr>
              <a:t>产业联合</a:t>
            </a:r>
            <a:endParaRPr/>
          </a:p>
        </p:txBody>
      </p:sp>
      <p:sp>
        <p:nvSpPr>
          <p:cNvPr id="1169" name="" descr="{&quot;isTemplate&quot;:true,&quot;type&quot;:&quot;text&quot;}"/>
          <p:cNvSpPr txBox="1"/>
          <p:nvPr/>
        </p:nvSpPr>
        <p:spPr>
          <a:xfrm rot="0" flipH="0" flipV="0">
            <a:off x="6343650" y="2343150"/>
            <a:ext cx="2286000" cy="219075"/>
          </a:xfrm>
          <a:prstGeom prst="rect"/>
        </p:spPr>
        <p:txBody>
          <a:bodyPr wrap="none" lIns="0" tIns="0" rIns="0" bIns="0"/>
          <a:p>
            <a:pPr>
              <a:lnSpc>
                <a:spcPct val="100000"/>
              </a:lnSpc>
            </a:pPr>
            <a:r>
              <a:rPr lang="zh-CN" sz="1425" b="1">
                <a:solidFill>
                  <a:srgbClr val="20344B"/>
                </a:solidFill>
                <a:latin typeface="Microsoft YaHei"/>
                <a:ea typeface="Microsoft YaHei"/>
              </a:rPr>
              <a:t>机构与企业合办</a:t>
            </a:r>
            <a:endParaRPr/>
          </a:p>
        </p:txBody>
      </p:sp>
      <p:sp>
        <p:nvSpPr>
          <p:cNvPr id="1170" name="" descr="{&quot;isTemplate&quot;:true,&quot;type&quot;:&quot;text&quot;}"/>
          <p:cNvSpPr txBox="1"/>
          <p:nvPr/>
        </p:nvSpPr>
        <p:spPr>
          <a:xfrm rot="0" flipH="0" flipV="0">
            <a:off x="6343650" y="2657475"/>
            <a:ext cx="228600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一方出题网与评审，一方出平台与资助，规模做得很大。</a:t>
            </a:r>
            <a:endParaRPr/>
          </a:p>
        </p:txBody>
      </p:sp>
      <p:sp>
        <p:nvSpPr>
          <p:cNvPr id="1171" name="" descr="{&quot;isTemplate&quot;:true,&quot;type&quot;:&quot;text&quot;}"/>
          <p:cNvSpPr txBox="1"/>
          <p:nvPr/>
        </p:nvSpPr>
        <p:spPr>
          <a:xfrm rot="0" flipH="0" flipV="0">
            <a:off x="6343650" y="4333875"/>
            <a:ext cx="2286000" cy="238125"/>
          </a:xfrm>
          <a:prstGeom prst="rect"/>
        </p:spPr>
        <p:txBody>
          <a:bodyPr wrap="none" lIns="0" tIns="0" rIns="0" bIns="0"/>
          <a:p>
            <a:pPr>
              <a:lnSpc>
                <a:spcPct val="145000"/>
              </a:lnSpc>
            </a:pPr>
            <a:r>
              <a:rPr lang="zh-CN" sz="1050">
                <a:solidFill>
                  <a:srgbClr val="546779"/>
                </a:solidFill>
                <a:latin typeface="Microsoft YaHei"/>
                <a:ea typeface="Microsoft YaHei"/>
              </a:rPr>
              <a:t>代表：</a:t>
            </a:r>
            <a:r>
              <a:rPr lang="en-US" sz="1050">
                <a:solidFill>
                  <a:srgbClr val="546779"/>
                </a:solidFill>
                <a:latin typeface="Microsoft YaHei"/>
                <a:ea typeface="Microsoft YaHei"/>
              </a:rPr>
              <a:t>CAIS × Scale AI</a:t>
            </a:r>
            <a:endParaRPr/>
          </a:p>
        </p:txBody>
      </p:sp>
      <p:sp>
        <p:nvSpPr>
          <p:cNvPr id="1172" name=""/>
          <p:cNvSpPr/>
          <p:nvPr/>
        </p:nvSpPr>
        <p:spPr>
          <a:xfrm rot="0" flipH="0" flipV="0">
            <a:off x="8953500" y="1828800"/>
            <a:ext cx="2628900" cy="2914650"/>
          </a:xfrm>
          <a:prstGeom prst="roundRect">
            <a:avLst>
              <a:gd name="adj" fmla="val 4348"/>
            </a:avLst>
          </a:prstGeom>
          <a:solidFill>
            <a:srgbClr val="F4F7FA"/>
          </a:solidFill>
          <a:ln/>
        </p:spPr>
        <p:txBody>
          <a:bodyPr/>
          <a:p/>
        </p:txBody>
      </p:sp>
      <p:sp>
        <p:nvSpPr>
          <p:cNvPr id="1173" name=""/>
          <p:cNvSpPr/>
          <p:nvPr/>
        </p:nvSpPr>
        <p:spPr>
          <a:xfrm rot="0" flipH="0" flipV="0">
            <a:off x="9124950" y="2000250"/>
            <a:ext cx="704850" cy="247650"/>
          </a:xfrm>
          <a:prstGeom prst="roundRect">
            <a:avLst>
              <a:gd name="adj" fmla="val 23077"/>
            </a:avLst>
          </a:prstGeom>
          <a:solidFill>
            <a:srgbClr val="276FBF"/>
          </a:solidFill>
          <a:ln/>
        </p:spPr>
        <p:txBody>
          <a:bodyPr/>
          <a:p/>
        </p:txBody>
      </p:sp>
      <p:sp>
        <p:nvSpPr>
          <p:cNvPr id="1174" name="" descr="{&quot;isTemplate&quot;:true,&quot;type&quot;:&quot;text&quot;}"/>
          <p:cNvSpPr txBox="1"/>
          <p:nvPr/>
        </p:nvSpPr>
        <p:spPr>
          <a:xfrm rot="0" flipH="0" flipV="0">
            <a:off x="9353550" y="2047875"/>
            <a:ext cx="247650" cy="152400"/>
          </a:xfrm>
          <a:prstGeom prst="rect"/>
        </p:spPr>
        <p:txBody>
          <a:bodyPr wrap="none" lIns="0" tIns="0" rIns="0" bIns="0"/>
          <a:p>
            <a:pPr>
              <a:lnSpc>
                <a:spcPct val="100000"/>
              </a:lnSpc>
            </a:pPr>
            <a:r>
              <a:rPr lang="zh-CN" sz="975">
                <a:solidFill>
                  <a:srgbClr val="FFFFFF"/>
                </a:solidFill>
                <a:latin typeface="Microsoft YaHei"/>
                <a:ea typeface="Microsoft YaHei"/>
              </a:rPr>
              <a:t>独立</a:t>
            </a:r>
            <a:endParaRPr/>
          </a:p>
        </p:txBody>
      </p:sp>
      <p:sp>
        <p:nvSpPr>
          <p:cNvPr id="1175" name="" descr="{&quot;isTemplate&quot;:true,&quot;type&quot;:&quot;text&quot;}"/>
          <p:cNvSpPr txBox="1"/>
          <p:nvPr/>
        </p:nvSpPr>
        <p:spPr>
          <a:xfrm rot="0" flipH="0" flipV="0">
            <a:off x="9124950" y="2343150"/>
            <a:ext cx="2286000" cy="219075"/>
          </a:xfrm>
          <a:prstGeom prst="rect"/>
        </p:spPr>
        <p:txBody>
          <a:bodyPr wrap="none" lIns="0" tIns="0" rIns="0" bIns="0"/>
          <a:p>
            <a:pPr>
              <a:lnSpc>
                <a:spcPct val="100000"/>
              </a:lnSpc>
            </a:pPr>
            <a:r>
              <a:rPr lang="zh-CN" sz="1425" b="1">
                <a:solidFill>
                  <a:srgbClr val="20344B"/>
                </a:solidFill>
                <a:latin typeface="Microsoft YaHei"/>
                <a:ea typeface="Microsoft YaHei"/>
              </a:rPr>
              <a:t>第三方评测机构</a:t>
            </a:r>
            <a:endParaRPr/>
          </a:p>
        </p:txBody>
      </p:sp>
      <p:sp>
        <p:nvSpPr>
          <p:cNvPr id="1176" name="" descr="{&quot;isTemplate&quot;:true,&quot;type&quot;:&quot;text&quot;}"/>
          <p:cNvSpPr txBox="1"/>
          <p:nvPr/>
        </p:nvSpPr>
        <p:spPr>
          <a:xfrm rot="0" flipH="0" flipV="0">
            <a:off x="9124950" y="2657475"/>
            <a:ext cx="228600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自己跑模型，也审计别人的基准，与厂商保持距离。</a:t>
            </a:r>
            <a:endParaRPr/>
          </a:p>
        </p:txBody>
      </p:sp>
      <p:sp>
        <p:nvSpPr>
          <p:cNvPr id="1177" name="" descr="{&quot;isTemplate&quot;:true,&quot;type&quot;:&quot;text&quot;}"/>
          <p:cNvSpPr txBox="1"/>
          <p:nvPr/>
        </p:nvSpPr>
        <p:spPr>
          <a:xfrm rot="0" flipH="0" flipV="0">
            <a:off x="9124950" y="4333875"/>
            <a:ext cx="2286000" cy="238125"/>
          </a:xfrm>
          <a:prstGeom prst="rect"/>
        </p:spPr>
        <p:txBody>
          <a:bodyPr wrap="none" lIns="0" tIns="0" rIns="0" bIns="0"/>
          <a:p>
            <a:pPr>
              <a:lnSpc>
                <a:spcPct val="145000"/>
              </a:lnSpc>
            </a:pPr>
            <a:r>
              <a:rPr lang="zh-CN" sz="1050">
                <a:solidFill>
                  <a:srgbClr val="276FBF"/>
                </a:solidFill>
                <a:latin typeface="Microsoft YaHei"/>
                <a:ea typeface="Microsoft YaHei"/>
              </a:rPr>
              <a:t>代表：</a:t>
            </a:r>
            <a:r>
              <a:rPr lang="en-US" sz="1050">
                <a:solidFill>
                  <a:srgbClr val="276FBF"/>
                </a:solidFill>
                <a:latin typeface="Microsoft YaHei"/>
                <a:ea typeface="Microsoft YaHei"/>
              </a:rPr>
              <a:t>Epoch AI</a:t>
            </a:r>
            <a:endParaRPr/>
          </a:p>
        </p:txBody>
      </p:sp>
      <p:sp>
        <p:nvSpPr>
          <p:cNvPr id="1178" name=""/>
          <p:cNvSpPr/>
          <p:nvPr/>
        </p:nvSpPr>
        <p:spPr>
          <a:xfrm rot="0" flipH="0" flipV="0">
            <a:off x="609600" y="4914900"/>
            <a:ext cx="10972800" cy="685800"/>
          </a:xfrm>
          <a:prstGeom prst="roundRect">
            <a:avLst>
              <a:gd name="adj" fmla="val 13889"/>
            </a:avLst>
          </a:prstGeom>
          <a:solidFill>
            <a:srgbClr val="F4F7FA"/>
          </a:solidFill>
          <a:ln/>
        </p:spPr>
        <p:txBody>
          <a:bodyPr/>
          <a:p/>
        </p:txBody>
      </p:sp>
      <p:sp>
        <p:nvSpPr>
          <p:cNvPr id="1179" name=""/>
          <p:cNvSpPr/>
          <p:nvPr/>
        </p:nvSpPr>
        <p:spPr>
          <a:xfrm rot="0" flipH="0" flipV="0">
            <a:off x="819150" y="5048250"/>
            <a:ext cx="38100" cy="419100"/>
          </a:xfrm>
          <a:prstGeom prst="rect">
            <a:avLst/>
          </a:prstGeom>
          <a:solidFill>
            <a:srgbClr val="276FBF"/>
          </a:solidFill>
          <a:ln/>
        </p:spPr>
        <p:txBody>
          <a:bodyPr/>
          <a:p/>
        </p:txBody>
      </p:sp>
      <p:sp>
        <p:nvSpPr>
          <p:cNvPr id="1180" name="" descr="{&quot;isTemplate&quot;:true,&quot;type&quot;:&quot;text&quot;}"/>
          <p:cNvSpPr txBox="1"/>
          <p:nvPr/>
        </p:nvSpPr>
        <p:spPr>
          <a:xfrm rot="0" flipH="0" flipV="0">
            <a:off x="1009650" y="5114925"/>
            <a:ext cx="5181600" cy="285750"/>
          </a:xfrm>
          <a:prstGeom prst="rect"/>
        </p:spPr>
        <p:txBody>
          <a:bodyPr wrap="none" lIns="0" tIns="0" rIns="0" bIns="0"/>
          <a:p>
            <a:pPr>
              <a:lnSpc>
                <a:spcPct val="155000"/>
              </a:lnSpc>
            </a:pPr>
            <a:r>
              <a:rPr lang="zh-CN" sz="1200">
                <a:solidFill>
                  <a:srgbClr val="546779"/>
                </a:solidFill>
                <a:latin typeface="Microsoft YaHei"/>
                <a:ea typeface="Microsoft YaHei"/>
              </a:rPr>
              <a:t>四类机构各有长处也各有局限；看一个基准，先看它属于哪一类、钱从哪里来</a:t>
            </a:r>
            <a:endParaRPr/>
          </a:p>
        </p:txBody>
      </p:sp>
      <p:sp>
        <p:nvSpPr>
          <p:cNvPr id="1181"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182"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08 / 36</a:t>
            </a:r>
            <a:endParaRPr/>
          </a:p>
        </p:txBody>
      </p:sp>
    </p:spTree>
  </p:cSld>
</p:sld>
</file>

<file path=ppt/slides/slide9.xml><?xml version="1.0" encoding="utf-8"?>
<p:sld xmlns:p="http://schemas.openxmlformats.org/presentationml/2006/main" xmlns:a="http://schemas.openxmlformats.org/drawingml/2006/main">
  <p:cSld>
    <p:spTree>
      <p:nvGrpSpPr>
        <p:cNvPr id="1183" name="" descr="&lt;Slide notes={`判断一个基准的权威性，不看名字响不响，看四根支柱。&#10;&#10;第一根，公开可查。题干、评分代码、运行配置能不能拿到。拿不到，外面的人就没法验证，只能听主办方自己说。&#10;&#10;第二根，可复现。换一个人、换一台机器，按文档能不能跑出接近的结果。&#10;&#10;第三根，独立审计。有没有第三方来查它的题和判分。Epoch 那次审计里，十五个热门基准有九个被判有问题，包括 HLE 和 SWE-bench Verified。&#10;&#10;第四根，专家背书。题目是不是由真正懂这个领域的人写和复核的。GPQA 要求出题人和复核人都有博士学历，还刻意不让研究相近领域的人互相复核。&#10;&#10;四根柱子缺一根，这个基准的成绩就要打折看。但也要说清楚，有审计不等于零缺陷，Epoch 自己也承认它审不了自家基准。`}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②　1.4.2　评估机构：权威不是名气，是可核查&lt;/Text&gt;&#10;            &lt;Text style={{ fontSize: 34, fontWeight: 'bold', color: '#20344B' }}&gt;权威性的四根支柱&lt;/Text&gt;&#10;        &lt;/Box&gt;&#10;    &lt;/Box&gt;&#10;&#10;    &lt;Box style={{ height: 540, flexDirection: 'column', justifyContent: 'center', gap: 18 }}&gt;&#10;&#10;        &lt;Box style={{ flexDirection: 'row', gap: 16 }}&gt;&#10;&#10;            &lt;Box style={{ width: 276, height: 392, background: '#EDF4FC', borderRadius: 12, padding: '18px 18px', flexDirection: 'column', alignItems: 'center', gap: 12 }}&gt;&#10;                &lt;Box style={{ width: 64, height: 176, background: '#276FBF', borderRadius: 8 }} /&gt;&#10;                &lt;Text style={{ fontSize: 20, fontWeight: 'bold', color: '#20344B' }}&gt;公开可查&lt;/Text&gt;&#10;                &lt;Text style={{ fontSize: 15, color: '#546779', lineHeight: 1.5, textAlign: 'center' }}&gt;题干、评分代码、运行配置都能拿到&lt;/Text&gt;&#10;            &lt;/Box&gt;&#10;&#10;            &lt;Box style={{ width: 276, height: 392, background: '#EDF4FC', borderRadius: 12, padding: '18px 18px', flexDirection: 'column', alignItems: 'center', gap: 12 }}&gt;&#10;                &lt;Box style={{ width: 64, height: 148, background: '#276FBF', borderRadius: 8 }} /&gt;&#10;                &lt;Text style={{ fontSize: 20, fontWeight: 'bold', color: '#20344B' }}&gt;可复现&lt;/Text&gt;&#10;                &lt;Text style={{ fontSize: 15, color: '#546779', lineHeight: 1.5, textAlign: 'center' }}&gt;换人换机按文档跑，能得到接近的结果&lt;/Text&gt;&#10;            &lt;/Box&gt;&#10;&#10;            &lt;Box style={{ width: 276, height: 392, background: '#ECF7F2', borderRadius: 12, padding: '18px 18px', flexDirection: 'column', alignItems: 'center', gap: 12 }}&gt;&#10;                &lt;Box style={{ width: 64, height: 120, background: '#26816B', borderRadius: 8 }} /&gt;&#10;                &lt;Text style={{ fontSize: 20, fontWeight: 'bold', color: '#20344B' }}&gt;独立审计&lt;/Text&gt;&#10;                &lt;Text style={{ fontSize: 15, color: '#546779', lineHeight: 1.5, textAlign: 'center' }}&gt;有第三方来查它的题目与判分规则&lt;/Text&gt;&#10;            &lt;/Box&gt;&#10;&#10;            &lt;Box style={{ width: 276, height: 392, background: '#F4F7FA', borderRadius: 12, padding: '18px 18px', flexDirection: 'column', alignItems: 'center', gap: 12 }}&gt;&#10;                &lt;Box style={{ width: 64, height: 92, background: '#546779', borderRadius: 8 }} /&gt;&#10;                &lt;Text style={{ fontSize: 20, fontWeight: 'bold', color: '#20344B' }}&gt;专家背书&lt;/Text&gt;&#10;                &lt;Text style={{ fontSize: 15, color: '#546779', lineHeight: 1.5, textAlign: 'center' }}&gt;写题与复核的是真正的领域专家&lt;/Text&gt;&#10;            &lt;/Box&gt;&#10;&#10;        &lt;/Box&gt;&#10;&#10;        &lt;Box style={{ flexDirection: 'row', gap: 16, background: '#FFF4E6', borderRadius: 10, padding: '14px 22px', alignItems: 'center' }}&gt;&#10;            &lt;Box style={{ width: 4, height: 44, background: '#CB6B28' }} /&gt;&#10;            &lt;Text style={{ fontSize: 16, color: '#CB6B28', lineHeight: 1.55 }}&gt;四根支柱缺一根，成绩就要打折看；有审计也不等于零缺陷——Epoch 自己都不审自家基准&lt;/Text&gt;&#10;        &lt;/Box&gt;&#10;&#10;    &lt;/Box&gt;&#10;&#10;    &lt;Box style={{ height: 40, flexDirection: 'row', justifyContent: 'space-between', alignItems: 'center' }}&gt;&#10;        &lt;Text style={{ fontSize: 14, color: '#546779' }}&gt;1.4 从榜单到证据&lt;/Text&gt;&#10;        &lt;Text style={{ fontSize: 14, color: '#546779' }}&gt;09 / 36&lt;/Text&gt;&#10;    &lt;/Box&gt;&#10;&#10;&lt;/Slide&gt;&#10;"/>
        <p:cNvGrpSpPr/>
        <p:nvPr/>
      </p:nvGrpSpPr>
      <p:grpSpPr>
        <a:xfrm>
          <a:off x="0" y="0"/>
          <a:ext cx="0" cy="0"/>
          <a:chOff x="0" y="0"/>
          <a:chExt cx="0" cy="0"/>
        </a:xfrm>
      </p:grpSpPr>
      <p:sp>
        <p:nvSpPr>
          <p:cNvPr id="1184" name=""/>
          <p:cNvSpPr/>
          <p:nvPr/>
        </p:nvSpPr>
        <p:spPr>
          <a:xfrm rot="0" flipH="0" flipV="0">
            <a:off x="0" y="0"/>
            <a:ext cx="12192000" cy="6858000"/>
          </a:xfrm>
          <a:prstGeom prst="rect">
            <a:avLst/>
          </a:prstGeom>
          <a:solidFill>
            <a:srgbClr val="FFFFFF"/>
          </a:solidFill>
          <a:ln/>
        </p:spPr>
        <p:txBody>
          <a:bodyPr/>
          <a:p/>
        </p:txBody>
      </p:sp>
      <p:sp>
        <p:nvSpPr>
          <p:cNvPr id="1185" name=""/>
          <p:cNvSpPr/>
          <p:nvPr/>
        </p:nvSpPr>
        <p:spPr>
          <a:xfrm rot="0" flipH="0" flipV="0">
            <a:off x="609600" y="457200"/>
            <a:ext cx="38100" cy="419100"/>
          </a:xfrm>
          <a:prstGeom prst="rect">
            <a:avLst/>
          </a:prstGeom>
          <a:solidFill>
            <a:srgbClr val="276FBF"/>
          </a:solidFill>
          <a:ln/>
        </p:spPr>
        <p:txBody>
          <a:bodyPr/>
          <a:p/>
        </p:txBody>
      </p:sp>
      <p:sp>
        <p:nvSpPr>
          <p:cNvPr id="1186" name="" descr="{&quot;isTemplate&quot;:true,&quot;type&quot;:&quot;text&quot;}"/>
          <p:cNvSpPr txBox="1"/>
          <p:nvPr/>
        </p:nvSpPr>
        <p:spPr>
          <a:xfrm rot="0" flipH="0" flipV="0">
            <a:off x="838200" y="371475"/>
            <a:ext cx="2838450" cy="161925"/>
          </a:xfrm>
          <a:prstGeom prst="rect"/>
        </p:spPr>
        <p:txBody>
          <a:bodyPr wrap="none" lIns="0" tIns="0" rIns="0" bIns="0"/>
          <a:p>
            <a:pPr>
              <a:lnSpc>
                <a:spcPct val="100000"/>
              </a:lnSpc>
            </a:pPr>
            <a:r>
              <a:rPr lang="zh-CN" sz="1050">
                <a:solidFill>
                  <a:srgbClr val="546779"/>
                </a:solidFill>
                <a:latin typeface="Microsoft YaHei"/>
                <a:ea typeface="Microsoft YaHei"/>
              </a:rPr>
              <a:t>②　</a:t>
            </a:r>
            <a:r>
              <a:rPr lang="en-US" sz="1050">
                <a:solidFill>
                  <a:srgbClr val="546779"/>
                </a:solidFill>
                <a:latin typeface="Microsoft YaHei"/>
                <a:ea typeface="Microsoft YaHei"/>
              </a:rPr>
              <a:t>1.4.2</a:t>
            </a:r>
            <a:r>
              <a:rPr lang="zh-CN" sz="1050">
                <a:solidFill>
                  <a:srgbClr val="546779"/>
                </a:solidFill>
                <a:latin typeface="Microsoft YaHei"/>
                <a:ea typeface="Microsoft YaHei"/>
              </a:rPr>
              <a:t>　评估机构：权威不是名气，是可核查</a:t>
            </a:r>
            <a:endParaRPr/>
          </a:p>
        </p:txBody>
      </p:sp>
      <p:sp>
        <p:nvSpPr>
          <p:cNvPr id="1187" name="" descr="{&quot;isTemplate&quot;:true,&quot;type&quot;:&quot;text&quot;}"/>
          <p:cNvSpPr txBox="1"/>
          <p:nvPr/>
        </p:nvSpPr>
        <p:spPr>
          <a:xfrm rot="0" flipH="0" flipV="0">
            <a:off x="838200" y="571500"/>
            <a:ext cx="2838450" cy="390525"/>
          </a:xfrm>
          <a:prstGeom prst="rect"/>
        </p:spPr>
        <p:txBody>
          <a:bodyPr wrap="none" lIns="0" tIns="0" rIns="0" bIns="0"/>
          <a:p>
            <a:pPr>
              <a:lnSpc>
                <a:spcPct val="100000"/>
              </a:lnSpc>
            </a:pPr>
            <a:r>
              <a:rPr lang="zh-CN" sz="2550" b="1">
                <a:solidFill>
                  <a:srgbClr val="20344B"/>
                </a:solidFill>
                <a:latin typeface="Microsoft YaHei"/>
                <a:ea typeface="Microsoft YaHei"/>
              </a:rPr>
              <a:t>权威性的四根支柱</a:t>
            </a:r>
            <a:endParaRPr/>
          </a:p>
        </p:txBody>
      </p:sp>
      <p:sp>
        <p:nvSpPr>
          <p:cNvPr id="1188" name=""/>
          <p:cNvSpPr/>
          <p:nvPr/>
        </p:nvSpPr>
        <p:spPr>
          <a:xfrm rot="0" flipH="0" flipV="0">
            <a:off x="609600" y="1419225"/>
            <a:ext cx="2628900" cy="3733800"/>
          </a:xfrm>
          <a:prstGeom prst="roundRect">
            <a:avLst>
              <a:gd name="adj" fmla="val 4348"/>
            </a:avLst>
          </a:prstGeom>
          <a:solidFill>
            <a:srgbClr val="EDF4FC"/>
          </a:solidFill>
          <a:ln/>
        </p:spPr>
        <p:txBody>
          <a:bodyPr/>
          <a:p/>
        </p:txBody>
      </p:sp>
      <p:sp>
        <p:nvSpPr>
          <p:cNvPr id="1189" name=""/>
          <p:cNvSpPr/>
          <p:nvPr/>
        </p:nvSpPr>
        <p:spPr>
          <a:xfrm rot="0" flipH="0" flipV="0">
            <a:off x="1619250" y="1590675"/>
            <a:ext cx="609600" cy="1676400"/>
          </a:xfrm>
          <a:prstGeom prst="roundRect">
            <a:avLst>
              <a:gd name="adj" fmla="val 12500"/>
            </a:avLst>
          </a:prstGeom>
          <a:solidFill>
            <a:srgbClr val="276FBF"/>
          </a:solidFill>
          <a:ln/>
        </p:spPr>
        <p:txBody>
          <a:bodyPr/>
          <a:p/>
        </p:txBody>
      </p:sp>
      <p:sp>
        <p:nvSpPr>
          <p:cNvPr id="1190" name="" descr="{&quot;isTemplate&quot;:true,&quot;type&quot;:&quot;text&quot;}"/>
          <p:cNvSpPr txBox="1"/>
          <p:nvPr/>
        </p:nvSpPr>
        <p:spPr>
          <a:xfrm rot="0" flipH="0" flipV="0">
            <a:off x="1543050" y="3381375"/>
            <a:ext cx="762000" cy="228600"/>
          </a:xfrm>
          <a:prstGeom prst="rect"/>
        </p:spPr>
        <p:txBody>
          <a:bodyPr wrap="none" lIns="0" tIns="0" rIns="0" bIns="0"/>
          <a:p>
            <a:pPr>
              <a:lnSpc>
                <a:spcPct val="100000"/>
              </a:lnSpc>
            </a:pPr>
            <a:r>
              <a:rPr lang="zh-CN" sz="1500" b="1">
                <a:solidFill>
                  <a:srgbClr val="20344B"/>
                </a:solidFill>
                <a:latin typeface="Microsoft YaHei"/>
                <a:ea typeface="Microsoft YaHei"/>
              </a:rPr>
              <a:t>公开可查</a:t>
            </a:r>
            <a:endParaRPr/>
          </a:p>
        </p:txBody>
      </p:sp>
      <p:sp>
        <p:nvSpPr>
          <p:cNvPr id="1191" name="" descr="{&quot;isTemplate&quot;:true,&quot;type&quot;:&quot;text&quot;}"/>
          <p:cNvSpPr txBox="1"/>
          <p:nvPr/>
        </p:nvSpPr>
        <p:spPr>
          <a:xfrm rot="0" flipH="0" flipV="0">
            <a:off x="781050" y="3724275"/>
            <a:ext cx="2286000" cy="257175"/>
          </a:xfrm>
          <a:prstGeom prst="rect"/>
        </p:spPr>
        <p:txBody>
          <a:bodyPr wrap="none" lIns="0" tIns="0" rIns="0" bIns="0"/>
          <a:p>
            <a:pPr algn="ctr">
              <a:lnSpc>
                <a:spcPct val="150000"/>
              </a:lnSpc>
            </a:pPr>
            <a:r>
              <a:rPr lang="zh-CN" sz="1125">
                <a:solidFill>
                  <a:srgbClr val="546779"/>
                </a:solidFill>
                <a:latin typeface="Microsoft YaHei"/>
                <a:ea typeface="Microsoft YaHei"/>
              </a:rPr>
              <a:t>题干、评分代码、运行配置都能拿到</a:t>
            </a:r>
            <a:endParaRPr/>
          </a:p>
        </p:txBody>
      </p:sp>
      <p:sp>
        <p:nvSpPr>
          <p:cNvPr id="1192" name=""/>
          <p:cNvSpPr/>
          <p:nvPr/>
        </p:nvSpPr>
        <p:spPr>
          <a:xfrm rot="0" flipH="0" flipV="0">
            <a:off x="3390900" y="1419225"/>
            <a:ext cx="2628900" cy="3733800"/>
          </a:xfrm>
          <a:prstGeom prst="roundRect">
            <a:avLst>
              <a:gd name="adj" fmla="val 4348"/>
            </a:avLst>
          </a:prstGeom>
          <a:solidFill>
            <a:srgbClr val="EDF4FC"/>
          </a:solidFill>
          <a:ln/>
        </p:spPr>
        <p:txBody>
          <a:bodyPr/>
          <a:p/>
        </p:txBody>
      </p:sp>
      <p:sp>
        <p:nvSpPr>
          <p:cNvPr id="1193" name=""/>
          <p:cNvSpPr/>
          <p:nvPr/>
        </p:nvSpPr>
        <p:spPr>
          <a:xfrm rot="0" flipH="0" flipV="0">
            <a:off x="4400550" y="1590675"/>
            <a:ext cx="609600" cy="1409700"/>
          </a:xfrm>
          <a:prstGeom prst="roundRect">
            <a:avLst>
              <a:gd name="adj" fmla="val 12500"/>
            </a:avLst>
          </a:prstGeom>
          <a:solidFill>
            <a:srgbClr val="276FBF"/>
          </a:solidFill>
          <a:ln/>
        </p:spPr>
        <p:txBody>
          <a:bodyPr/>
          <a:p/>
        </p:txBody>
      </p:sp>
      <p:sp>
        <p:nvSpPr>
          <p:cNvPr id="1194" name="" descr="{&quot;isTemplate&quot;:true,&quot;type&quot;:&quot;text&quot;}"/>
          <p:cNvSpPr txBox="1"/>
          <p:nvPr/>
        </p:nvSpPr>
        <p:spPr>
          <a:xfrm rot="0" flipH="0" flipV="0">
            <a:off x="4419600" y="3114675"/>
            <a:ext cx="571500" cy="228600"/>
          </a:xfrm>
          <a:prstGeom prst="rect"/>
        </p:spPr>
        <p:txBody>
          <a:bodyPr wrap="none" lIns="0" tIns="0" rIns="0" bIns="0"/>
          <a:p>
            <a:pPr>
              <a:lnSpc>
                <a:spcPct val="100000"/>
              </a:lnSpc>
            </a:pPr>
            <a:r>
              <a:rPr lang="zh-CN" sz="1500" b="1">
                <a:solidFill>
                  <a:srgbClr val="20344B"/>
                </a:solidFill>
                <a:latin typeface="Microsoft YaHei"/>
                <a:ea typeface="Microsoft YaHei"/>
              </a:rPr>
              <a:t>可复现</a:t>
            </a:r>
            <a:endParaRPr/>
          </a:p>
        </p:txBody>
      </p:sp>
      <p:sp>
        <p:nvSpPr>
          <p:cNvPr id="1195" name="" descr="{&quot;isTemplate&quot;:true,&quot;type&quot;:&quot;text&quot;}"/>
          <p:cNvSpPr txBox="1"/>
          <p:nvPr/>
        </p:nvSpPr>
        <p:spPr>
          <a:xfrm rot="0" flipH="0" flipV="0">
            <a:off x="3562350" y="3457575"/>
            <a:ext cx="2286000" cy="514350"/>
          </a:xfrm>
          <a:prstGeom prst="rect"/>
        </p:spPr>
        <p:txBody>
          <a:bodyPr wrap="square" lIns="0" tIns="0" rIns="0" bIns="0">
            <a:normAutofit/>
          </a:bodyPr>
          <a:p>
            <a:pPr algn="ctr">
              <a:lnSpc>
                <a:spcPct val="150000"/>
              </a:lnSpc>
            </a:pPr>
            <a:r>
              <a:rPr lang="zh-CN" sz="1125">
                <a:solidFill>
                  <a:srgbClr val="546779"/>
                </a:solidFill>
                <a:latin typeface="Microsoft YaHei"/>
                <a:ea typeface="Microsoft YaHei"/>
              </a:rPr>
              <a:t>换人换机按文档跑，能得到接近的结果</a:t>
            </a:r>
            <a:endParaRPr/>
          </a:p>
        </p:txBody>
      </p:sp>
      <p:sp>
        <p:nvSpPr>
          <p:cNvPr id="1196" name=""/>
          <p:cNvSpPr/>
          <p:nvPr/>
        </p:nvSpPr>
        <p:spPr>
          <a:xfrm rot="0" flipH="0" flipV="0">
            <a:off x="6172200" y="1419225"/>
            <a:ext cx="2628900" cy="3733800"/>
          </a:xfrm>
          <a:prstGeom prst="roundRect">
            <a:avLst>
              <a:gd name="adj" fmla="val 4348"/>
            </a:avLst>
          </a:prstGeom>
          <a:solidFill>
            <a:srgbClr val="ECF7F2"/>
          </a:solidFill>
          <a:ln/>
        </p:spPr>
        <p:txBody>
          <a:bodyPr/>
          <a:p/>
        </p:txBody>
      </p:sp>
      <p:sp>
        <p:nvSpPr>
          <p:cNvPr id="1197" name=""/>
          <p:cNvSpPr/>
          <p:nvPr/>
        </p:nvSpPr>
        <p:spPr>
          <a:xfrm rot="0" flipH="0" flipV="0">
            <a:off x="7181850" y="1590675"/>
            <a:ext cx="609600" cy="1143000"/>
          </a:xfrm>
          <a:prstGeom prst="roundRect">
            <a:avLst>
              <a:gd name="adj" fmla="val 12500"/>
            </a:avLst>
          </a:prstGeom>
          <a:solidFill>
            <a:srgbClr val="26816B"/>
          </a:solidFill>
          <a:ln/>
        </p:spPr>
        <p:txBody>
          <a:bodyPr/>
          <a:p/>
        </p:txBody>
      </p:sp>
      <p:sp>
        <p:nvSpPr>
          <p:cNvPr id="1198" name="" descr="{&quot;isTemplate&quot;:true,&quot;type&quot;:&quot;text&quot;}"/>
          <p:cNvSpPr txBox="1"/>
          <p:nvPr/>
        </p:nvSpPr>
        <p:spPr>
          <a:xfrm rot="0" flipH="0" flipV="0">
            <a:off x="7105650" y="2847975"/>
            <a:ext cx="762000" cy="228600"/>
          </a:xfrm>
          <a:prstGeom prst="rect"/>
        </p:spPr>
        <p:txBody>
          <a:bodyPr wrap="none" lIns="0" tIns="0" rIns="0" bIns="0"/>
          <a:p>
            <a:pPr>
              <a:lnSpc>
                <a:spcPct val="100000"/>
              </a:lnSpc>
            </a:pPr>
            <a:r>
              <a:rPr lang="zh-CN" sz="1500" b="1">
                <a:solidFill>
                  <a:srgbClr val="20344B"/>
                </a:solidFill>
                <a:latin typeface="Microsoft YaHei"/>
                <a:ea typeface="Microsoft YaHei"/>
              </a:rPr>
              <a:t>独立审计</a:t>
            </a:r>
            <a:endParaRPr/>
          </a:p>
        </p:txBody>
      </p:sp>
      <p:sp>
        <p:nvSpPr>
          <p:cNvPr id="1199" name="" descr="{&quot;isTemplate&quot;:true,&quot;type&quot;:&quot;text&quot;}"/>
          <p:cNvSpPr txBox="1"/>
          <p:nvPr/>
        </p:nvSpPr>
        <p:spPr>
          <a:xfrm rot="0" flipH="0" flipV="0">
            <a:off x="6419850" y="3190875"/>
            <a:ext cx="2143125" cy="257175"/>
          </a:xfrm>
          <a:prstGeom prst="rect"/>
        </p:spPr>
        <p:txBody>
          <a:bodyPr wrap="none" lIns="0" tIns="0" rIns="0" bIns="0"/>
          <a:p>
            <a:pPr algn="ctr">
              <a:lnSpc>
                <a:spcPct val="150000"/>
              </a:lnSpc>
            </a:pPr>
            <a:r>
              <a:rPr lang="zh-CN" sz="1125">
                <a:solidFill>
                  <a:srgbClr val="546779"/>
                </a:solidFill>
                <a:latin typeface="Microsoft YaHei"/>
                <a:ea typeface="Microsoft YaHei"/>
              </a:rPr>
              <a:t>有第三方来查它的题目与判分规则</a:t>
            </a:r>
            <a:endParaRPr/>
          </a:p>
        </p:txBody>
      </p:sp>
      <p:sp>
        <p:nvSpPr>
          <p:cNvPr id="1200" name=""/>
          <p:cNvSpPr/>
          <p:nvPr/>
        </p:nvSpPr>
        <p:spPr>
          <a:xfrm rot="0" flipH="0" flipV="0">
            <a:off x="8953500" y="1419225"/>
            <a:ext cx="2628900" cy="3733800"/>
          </a:xfrm>
          <a:prstGeom prst="roundRect">
            <a:avLst>
              <a:gd name="adj" fmla="val 4348"/>
            </a:avLst>
          </a:prstGeom>
          <a:solidFill>
            <a:srgbClr val="F4F7FA"/>
          </a:solidFill>
          <a:ln/>
        </p:spPr>
        <p:txBody>
          <a:bodyPr/>
          <a:p/>
        </p:txBody>
      </p:sp>
      <p:sp>
        <p:nvSpPr>
          <p:cNvPr id="1201" name=""/>
          <p:cNvSpPr/>
          <p:nvPr/>
        </p:nvSpPr>
        <p:spPr>
          <a:xfrm rot="0" flipH="0" flipV="0">
            <a:off x="9963150" y="1590675"/>
            <a:ext cx="609600" cy="876300"/>
          </a:xfrm>
          <a:prstGeom prst="roundRect">
            <a:avLst>
              <a:gd name="adj" fmla="val 12500"/>
            </a:avLst>
          </a:prstGeom>
          <a:solidFill>
            <a:srgbClr val="546779"/>
          </a:solidFill>
          <a:ln/>
        </p:spPr>
        <p:txBody>
          <a:bodyPr/>
          <a:p/>
        </p:txBody>
      </p:sp>
      <p:sp>
        <p:nvSpPr>
          <p:cNvPr id="1202" name="" descr="{&quot;isTemplate&quot;:true,&quot;type&quot;:&quot;text&quot;}"/>
          <p:cNvSpPr txBox="1"/>
          <p:nvPr/>
        </p:nvSpPr>
        <p:spPr>
          <a:xfrm rot="0" flipH="0" flipV="0">
            <a:off x="9886950" y="2581275"/>
            <a:ext cx="762000" cy="228600"/>
          </a:xfrm>
          <a:prstGeom prst="rect"/>
        </p:spPr>
        <p:txBody>
          <a:bodyPr wrap="none" lIns="0" tIns="0" rIns="0" bIns="0"/>
          <a:p>
            <a:pPr>
              <a:lnSpc>
                <a:spcPct val="100000"/>
              </a:lnSpc>
            </a:pPr>
            <a:r>
              <a:rPr lang="zh-CN" sz="1500" b="1">
                <a:solidFill>
                  <a:srgbClr val="20344B"/>
                </a:solidFill>
                <a:latin typeface="Microsoft YaHei"/>
                <a:ea typeface="Microsoft YaHei"/>
              </a:rPr>
              <a:t>专家背书</a:t>
            </a:r>
            <a:endParaRPr/>
          </a:p>
        </p:txBody>
      </p:sp>
      <p:sp>
        <p:nvSpPr>
          <p:cNvPr id="1203" name="" descr="{&quot;isTemplate&quot;:true,&quot;type&quot;:&quot;text&quot;}"/>
          <p:cNvSpPr txBox="1"/>
          <p:nvPr/>
        </p:nvSpPr>
        <p:spPr>
          <a:xfrm rot="0" flipH="0" flipV="0">
            <a:off x="9267825" y="2924175"/>
            <a:ext cx="2000250" cy="257175"/>
          </a:xfrm>
          <a:prstGeom prst="rect"/>
        </p:spPr>
        <p:txBody>
          <a:bodyPr wrap="none" lIns="0" tIns="0" rIns="0" bIns="0"/>
          <a:p>
            <a:pPr algn="ctr">
              <a:lnSpc>
                <a:spcPct val="150000"/>
              </a:lnSpc>
            </a:pPr>
            <a:r>
              <a:rPr lang="zh-CN" sz="1125">
                <a:solidFill>
                  <a:srgbClr val="546779"/>
                </a:solidFill>
                <a:latin typeface="Microsoft YaHei"/>
                <a:ea typeface="Microsoft YaHei"/>
              </a:rPr>
              <a:t>写题与复核的是真正的领域专家</a:t>
            </a:r>
            <a:endParaRPr/>
          </a:p>
        </p:txBody>
      </p:sp>
      <p:sp>
        <p:nvSpPr>
          <p:cNvPr id="1204" name=""/>
          <p:cNvSpPr/>
          <p:nvPr/>
        </p:nvSpPr>
        <p:spPr>
          <a:xfrm rot="0" flipH="0" flipV="0">
            <a:off x="609600" y="5324475"/>
            <a:ext cx="10972800" cy="685800"/>
          </a:xfrm>
          <a:prstGeom prst="roundRect">
            <a:avLst>
              <a:gd name="adj" fmla="val 13889"/>
            </a:avLst>
          </a:prstGeom>
          <a:solidFill>
            <a:srgbClr val="FFF4E6"/>
          </a:solidFill>
          <a:ln/>
        </p:spPr>
        <p:txBody>
          <a:bodyPr/>
          <a:p/>
        </p:txBody>
      </p:sp>
      <p:sp>
        <p:nvSpPr>
          <p:cNvPr id="1205" name=""/>
          <p:cNvSpPr/>
          <p:nvPr/>
        </p:nvSpPr>
        <p:spPr>
          <a:xfrm rot="0" flipH="0" flipV="0">
            <a:off x="819150" y="5457825"/>
            <a:ext cx="38100" cy="419100"/>
          </a:xfrm>
          <a:prstGeom prst="rect">
            <a:avLst/>
          </a:prstGeom>
          <a:solidFill>
            <a:srgbClr val="CB6B28"/>
          </a:solidFill>
          <a:ln/>
        </p:spPr>
        <p:txBody>
          <a:bodyPr/>
          <a:p/>
        </p:txBody>
      </p:sp>
      <p:sp>
        <p:nvSpPr>
          <p:cNvPr id="1206" name="" descr="{&quot;isTemplate&quot;:true,&quot;type&quot;:&quot;text&quot;}"/>
          <p:cNvSpPr txBox="1"/>
          <p:nvPr/>
        </p:nvSpPr>
        <p:spPr>
          <a:xfrm rot="0" flipH="0" flipV="0">
            <a:off x="1009650" y="5524500"/>
            <a:ext cx="6162675" cy="285750"/>
          </a:xfrm>
          <a:prstGeom prst="rect"/>
        </p:spPr>
        <p:txBody>
          <a:bodyPr wrap="none" lIns="0" tIns="0" rIns="0" bIns="0"/>
          <a:p>
            <a:pPr>
              <a:lnSpc>
                <a:spcPct val="155000"/>
              </a:lnSpc>
            </a:pPr>
            <a:r>
              <a:rPr lang="zh-CN" sz="1200">
                <a:solidFill>
                  <a:srgbClr val="CB6B28"/>
                </a:solidFill>
                <a:latin typeface="Microsoft YaHei"/>
                <a:ea typeface="Microsoft YaHei"/>
              </a:rPr>
              <a:t>四根支柱缺一根，成绩就要打折看；有审计也不等于零缺陷——</a:t>
            </a:r>
            <a:r>
              <a:rPr lang="en-US" sz="1200">
                <a:solidFill>
                  <a:srgbClr val="CB6B28"/>
                </a:solidFill>
                <a:latin typeface="Microsoft YaHei"/>
                <a:ea typeface="Microsoft YaHei"/>
              </a:rPr>
              <a:t xml:space="preserve">Epoch </a:t>
            </a:r>
            <a:r>
              <a:rPr lang="zh-CN" sz="1200">
                <a:solidFill>
                  <a:srgbClr val="CB6B28"/>
                </a:solidFill>
                <a:latin typeface="Microsoft YaHei"/>
                <a:ea typeface="Microsoft YaHei"/>
              </a:rPr>
              <a:t>自己都不审自家基准</a:t>
            </a:r>
            <a:endParaRPr/>
          </a:p>
        </p:txBody>
      </p:sp>
      <p:sp>
        <p:nvSpPr>
          <p:cNvPr id="1207"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208"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09 / 36</a:t>
            </a:r>
            <a:endParaRPr/>
          </a:p>
        </p:txBody>
      </p:sp>
    </p:spTree>
  </p:cSld>
</p:sld>
</file>

<file path=ppt/slides/slide10.xml><?xml version="1.0" encoding="utf-8"?>
<p:sld xmlns:p="http://schemas.openxmlformats.org/presentationml/2006/main" xmlns:a="http://schemas.openxmlformats.org/drawingml/2006/main">
  <p:cSld>
    <p:spTree>
      <p:nvGrpSpPr>
        <p:cNvPr id="39" name="" descr="&lt;Slide notes={`HLE 全称是 Humanity's Last Exam，人类最后的考试，由安全研究机构 CAIS 和 Scale AI 联合主办，正式论文发表在 2026 年的《自然》杂志上。&#10;&#10;它的出题网络很大：近一千位学科专家做贡献者，来自大约五百家机构、分布在五十个国家，多数是教授、研究员和研究生。&#10;&#10;公开题集一共两千五百道题，覆盖一百多个学科，从数学、物理、化学、生物医学，到古典学、语言学、人文社科。题目里大约百分之十四需要同时看懂图和文字才能答，百分之二十四做成选择题，其余是要求精确匹配的简答题。&#10;&#10;它还有一份私有题集不公开，专门用来检查模型是不是照着公开题背答案。出题时设了奖金池，入选的好题给奖励，这就是它收集到大量冷门专家题的原因。`}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②　1.4.2　机构案例一：一个基准的规模可以有多大&lt;/Text&gt;&#10;            &lt;Text style={{ fontSize: 34, fontWeight: 'bold', color: '#20344B' }}&gt;CAIS × Scale AI：HLE&lt;/Text&gt;&#10;        &lt;/Box&gt;&#10;    &lt;/Box&gt;&#10;&#10;    &lt;Box style={{ height: 540, flexDirection: 'column', justifyContent: 'center', gap: 18 }}&gt;&#10;&#10;        &lt;Box style={{ flexDirection: 'row', gap: 28, alignItems: 'flex-start' }}&gt;&#10;&#10;            &lt;Box style={{ width: 424, height: 420, background: '#F7F3E8', borderRadius: 12, padding: '20px 20px', flexDirection: 'column', gap: 12 }}&gt;&#10;                &lt;Text style={{ fontSize: 14, color: '#546779' }}&gt;主办方&lt;/Text&gt;&#10;                &lt;Text style={{ fontSize: 20, fontWeight: 'bold', color: '#20344B', lineHeight: 1.35 }}&gt;Center for AI Safety（CAIS）&lt;/Text&gt;&#10;                &lt;Text style={{ fontSize: 20, fontWeight: 'bold', color: '#20344B', lineHeight: 1.35 }}&gt;Scale AI&lt;/Text&gt;&#10;                &lt;Box style={{ width: 384, height: 2, background: '#B5C7D8' }} /&gt;&#10;                &lt;Text style={{ fontSize: 15, color: '#546779', lineHeight: 1.55 }}&gt;一方是安全研究机构，一方是数据与评测企业，合起来做出题、审题与评测平台。&lt;/Text&gt;&#10;                &lt;Box style={{ flex: 1 }} /&gt;&#10;                &lt;Text style={{ fontSize: 14, color: '#546779', lineHeight: 1.45 }}&gt;正式论文刊于《自然》2026 年，第 649 卷&lt;/Text&gt;&#10;            &lt;/Box&gt;&#10;&#10;            &lt;Box style={{ width: 700, flexDirection: 'column', gap: 15 }}&gt;&#10;&#10;                &lt;Box style={{ width: 700, height: 130, background: '#EDF4FC', borderRadius: 10, padding: '16px 20px', flexDirection: 'row', alignItems: 'center', gap: 16 }}&gt;&#10;                    &lt;Box style={{ width: 4, height: 66, background: '#276FBF' }} /&gt;&#10;                    &lt;Text style={{ width: 150, fontSize: 20, fontWeight: 'bold', color: '#276FBF' }}&gt;近 1000 位&lt;/Text&gt;&#10;                    &lt;Text style={{ width: 474, fontSize: 15, color: '#546779', lineHeight: 1.5 }}&gt;专家贡献者，来自约 500 家机构、分布在 50 个国家，多为教授与研究人员&lt;/Text&gt;&#10;                &lt;/Box&gt;&#10;&#10;                &lt;Box style={{ width: 700, height: 130, background: '#EDF4FC', borderRadius: 10, padding: '16px 20px', flexDirection: 'row', alignItems: 'center', gap: 16 }}&gt;&#10;                    &lt;Box style={{ width: 4, height: 66, background: '#276FBF' }} /&gt;&#10;                    &lt;Text style={{ width: 150, fontSize: 20, fontWeight: 'bold', color: '#276FBF' }}&gt;2,500 题&lt;/Text&gt;&#10;                    &lt;Text style={{ width: 474, fontSize: 15, color: '#546779', lineHeight: 1.5 }}&gt;公开题集规模，覆盖 100 多个学科；另有不公开的私有题集防背题&lt;/Text&gt;&#10;                &lt;/Box&gt;&#10;&#10;                &lt;Box style={{ width: 700, height: 130, background: '#EDF4FC', borderRadius: 10, padding: '16px 20px', flexDirection: 'row', alignItems: 'center', gap: 16 }}&gt;&#10;                    &lt;Box style={{ width: 4, height: 66, background: '#276FBF' }} /&gt;&#10;                    &lt;Text style={{ width: 150, fontSize: 20, fontWeight: 'bold', color: '#276FBF' }}&gt;约 14%&lt;/Text&gt;&#10;                    &lt;Text style={{ width: 474, fontSize: 15, color: '#546779', lineHeight: 1.5 }}&gt;的题目必须同时看懂图和文字才能作答；24% 做成选择题，其余是简答&lt;/Text&gt;&#10;                &lt;/Box&gt;&#10;&#10;            &lt;/Box&gt;&#10;&#10;        &lt;/Box&gt;&#10;&#10;        &lt;Box style={{ flexDirection: 'row', gap: 16, background: '#F4F7FA', borderRadius: 10, padding: '12px 22px', alignItems: 'center' }}&gt;&#10;            &lt;Box style={{ width: 4, height: 30, background: '#276FBF' }} /&gt;&#10;            &lt;Text style={{ fontSize: 15, color: '#546779', lineHeight: 1.5 }}&gt;规模本身不等于权威，但&quot;谁写的、谁复核的、发表在哪里&quot;这三条是可核查的硬信息&lt;/Text&gt;&#10;        &lt;/Box&gt;&#10;&#10;    &lt;/Box&gt;&#10;&#10;    &lt;Box style={{ height: 40, flexDirection: 'row', justifyContent: 'space-between', alignItems: 'center' }}&gt;&#10;        &lt;Text style={{ fontSize: 14, color: '#546779' }}&gt;1.4 从榜单到证据&lt;/Text&gt;&#10;        &lt;Text style={{ fontSize: 14, color: '#546779' }}&gt;10 / 36&lt;/Text&gt;&#10;    &lt;/Box&gt;&#10;&#10;&lt;/Slide&gt;&#10;"/>
        <p:cNvGrpSpPr/>
        <p:nvPr/>
      </p:nvGrpSpPr>
      <p:grpSpPr>
        <a:xfrm>
          <a:off x="0" y="0"/>
          <a:ext cx="0" cy="0"/>
          <a:chOff x="0" y="0"/>
          <a:chExt cx="0" cy="0"/>
        </a:xfrm>
      </p:grpSpPr>
      <p:sp>
        <p:nvSpPr>
          <p:cNvPr id="40" name=""/>
          <p:cNvSpPr/>
          <p:nvPr/>
        </p:nvSpPr>
        <p:spPr>
          <a:xfrm rot="0" flipH="0" flipV="0">
            <a:off x="0" y="0"/>
            <a:ext cx="12192000" cy="6858000"/>
          </a:xfrm>
          <a:prstGeom prst="rect">
            <a:avLst/>
          </a:prstGeom>
          <a:solidFill>
            <a:srgbClr val="FFFFFF"/>
          </a:solidFill>
          <a:ln/>
        </p:spPr>
        <p:txBody>
          <a:bodyPr/>
          <a:p/>
        </p:txBody>
      </p:sp>
      <p:sp>
        <p:nvSpPr>
          <p:cNvPr id="41" name=""/>
          <p:cNvSpPr/>
          <p:nvPr/>
        </p:nvSpPr>
        <p:spPr>
          <a:xfrm rot="0" flipH="0" flipV="0">
            <a:off x="609600" y="457200"/>
            <a:ext cx="38100" cy="419100"/>
          </a:xfrm>
          <a:prstGeom prst="rect">
            <a:avLst/>
          </a:prstGeom>
          <a:solidFill>
            <a:srgbClr val="276FBF"/>
          </a:solidFill>
          <a:ln/>
        </p:spPr>
        <p:txBody>
          <a:bodyPr/>
          <a:p/>
        </p:txBody>
      </p:sp>
      <p:sp>
        <p:nvSpPr>
          <p:cNvPr id="42" name="" descr="{&quot;isTemplate&quot;:true,&quot;type&quot;:&quot;text&quot;}"/>
          <p:cNvSpPr txBox="1"/>
          <p:nvPr/>
        </p:nvSpPr>
        <p:spPr>
          <a:xfrm rot="0" flipH="0" flipV="0">
            <a:off x="838200" y="371475"/>
            <a:ext cx="3448050" cy="161925"/>
          </a:xfrm>
          <a:prstGeom prst="rect"/>
        </p:spPr>
        <p:txBody>
          <a:bodyPr wrap="none" lIns="0" tIns="0" rIns="0" bIns="0"/>
          <a:p>
            <a:pPr>
              <a:lnSpc>
                <a:spcPct val="100000"/>
              </a:lnSpc>
            </a:pPr>
            <a:r>
              <a:rPr lang="zh-CN" sz="1050">
                <a:solidFill>
                  <a:srgbClr val="546779"/>
                </a:solidFill>
                <a:latin typeface="Microsoft YaHei"/>
                <a:ea typeface="Microsoft YaHei"/>
              </a:rPr>
              <a:t>②　</a:t>
            </a:r>
            <a:r>
              <a:rPr lang="en-US" sz="1050">
                <a:solidFill>
                  <a:srgbClr val="546779"/>
                </a:solidFill>
                <a:latin typeface="Microsoft YaHei"/>
                <a:ea typeface="Microsoft YaHei"/>
              </a:rPr>
              <a:t>1.4.2</a:t>
            </a:r>
            <a:r>
              <a:rPr lang="zh-CN" sz="1050">
                <a:solidFill>
                  <a:srgbClr val="546779"/>
                </a:solidFill>
                <a:latin typeface="Microsoft YaHei"/>
                <a:ea typeface="Microsoft YaHei"/>
              </a:rPr>
              <a:t>　机构案例一：一个基准的规模可以有多大</a:t>
            </a:r>
            <a:endParaRPr/>
          </a:p>
        </p:txBody>
      </p:sp>
      <p:sp>
        <p:nvSpPr>
          <p:cNvPr id="43" name="" descr="{&quot;isTemplate&quot;:true,&quot;type&quot;:&quot;text&quot;}"/>
          <p:cNvSpPr txBox="1"/>
          <p:nvPr/>
        </p:nvSpPr>
        <p:spPr>
          <a:xfrm rot="0" flipH="0" flipV="0">
            <a:off x="838200" y="571500"/>
            <a:ext cx="3448050" cy="390525"/>
          </a:xfrm>
          <a:prstGeom prst="rect"/>
        </p:spPr>
        <p:txBody>
          <a:bodyPr wrap="none" lIns="0" tIns="0" rIns="0" bIns="0"/>
          <a:p>
            <a:pPr>
              <a:lnSpc>
                <a:spcPct val="100000"/>
              </a:lnSpc>
            </a:pPr>
            <a:r>
              <a:rPr lang="en-US" sz="2550" b="1">
                <a:solidFill>
                  <a:srgbClr val="20344B"/>
                </a:solidFill>
                <a:latin typeface="Microsoft YaHei"/>
                <a:ea typeface="Microsoft YaHei"/>
              </a:rPr>
              <a:t>CAIS × Scale AI</a:t>
            </a:r>
            <a:r>
              <a:rPr lang="zh-CN" sz="2550" b="1">
                <a:solidFill>
                  <a:srgbClr val="20344B"/>
                </a:solidFill>
                <a:latin typeface="Microsoft YaHei"/>
                <a:ea typeface="Microsoft YaHei"/>
              </a:rPr>
              <a:t>：</a:t>
            </a:r>
            <a:r>
              <a:rPr lang="en-US" sz="2550" b="1">
                <a:solidFill>
                  <a:srgbClr val="20344B"/>
                </a:solidFill>
                <a:latin typeface="Microsoft YaHei"/>
                <a:ea typeface="Microsoft YaHei"/>
              </a:rPr>
              <a:t>HLE</a:t>
            </a:r>
            <a:endParaRPr/>
          </a:p>
        </p:txBody>
      </p:sp>
      <p:sp>
        <p:nvSpPr>
          <p:cNvPr id="44" name=""/>
          <p:cNvSpPr/>
          <p:nvPr/>
        </p:nvSpPr>
        <p:spPr>
          <a:xfrm rot="0" flipH="0" flipV="0">
            <a:off x="609600" y="1371600"/>
            <a:ext cx="4038600" cy="4000500"/>
          </a:xfrm>
          <a:prstGeom prst="roundRect">
            <a:avLst>
              <a:gd name="adj" fmla="val 2857"/>
            </a:avLst>
          </a:prstGeom>
          <a:solidFill>
            <a:srgbClr val="F7F3E8"/>
          </a:solidFill>
          <a:ln/>
        </p:spPr>
        <p:txBody>
          <a:bodyPr/>
          <a:p/>
        </p:txBody>
      </p:sp>
      <p:sp>
        <p:nvSpPr>
          <p:cNvPr id="45" name="" descr="{&quot;isTemplate&quot;:true,&quot;type&quot;:&quot;text&quot;}"/>
          <p:cNvSpPr txBox="1"/>
          <p:nvPr/>
        </p:nvSpPr>
        <p:spPr>
          <a:xfrm rot="0" flipH="0" flipV="0">
            <a:off x="800100" y="1562100"/>
            <a:ext cx="3657600" cy="161925"/>
          </a:xfrm>
          <a:prstGeom prst="rect"/>
        </p:spPr>
        <p:txBody>
          <a:bodyPr wrap="none" lIns="0" tIns="0" rIns="0" bIns="0"/>
          <a:p>
            <a:pPr>
              <a:lnSpc>
                <a:spcPct val="100000"/>
              </a:lnSpc>
            </a:pPr>
            <a:r>
              <a:rPr lang="zh-CN" sz="1050">
                <a:solidFill>
                  <a:srgbClr val="546779"/>
                </a:solidFill>
                <a:latin typeface="Microsoft YaHei"/>
                <a:ea typeface="Microsoft YaHei"/>
              </a:rPr>
              <a:t>主办方</a:t>
            </a:r>
            <a:endParaRPr/>
          </a:p>
        </p:txBody>
      </p:sp>
      <p:sp>
        <p:nvSpPr>
          <p:cNvPr id="46" name="" descr="{&quot;isTemplate&quot;:true,&quot;type&quot;:&quot;text&quot;}"/>
          <p:cNvSpPr txBox="1"/>
          <p:nvPr/>
        </p:nvSpPr>
        <p:spPr>
          <a:xfrm rot="0" flipH="0" flipV="0">
            <a:off x="800100" y="1838325"/>
            <a:ext cx="3657600" cy="314325"/>
          </a:xfrm>
          <a:prstGeom prst="rect"/>
        </p:spPr>
        <p:txBody>
          <a:bodyPr wrap="none" lIns="0" tIns="0" rIns="0" bIns="0"/>
          <a:p>
            <a:pPr>
              <a:lnSpc>
                <a:spcPct val="135000"/>
              </a:lnSpc>
            </a:pPr>
            <a:r>
              <a:rPr lang="en-US" sz="1500" b="1">
                <a:solidFill>
                  <a:srgbClr val="20344B"/>
                </a:solidFill>
                <a:latin typeface="Microsoft YaHei"/>
                <a:ea typeface="Microsoft YaHei"/>
              </a:rPr>
              <a:t>Center for AI Safety</a:t>
            </a:r>
            <a:r>
              <a:rPr lang="zh-CN" sz="1500" b="1">
                <a:solidFill>
                  <a:srgbClr val="20344B"/>
                </a:solidFill>
                <a:latin typeface="Microsoft YaHei"/>
                <a:ea typeface="Microsoft YaHei"/>
              </a:rPr>
              <a:t>（</a:t>
            </a:r>
            <a:r>
              <a:rPr lang="en-US" sz="1500" b="1">
                <a:solidFill>
                  <a:srgbClr val="20344B"/>
                </a:solidFill>
                <a:latin typeface="Microsoft YaHei"/>
                <a:ea typeface="Microsoft YaHei"/>
              </a:rPr>
              <a:t>CAIS</a:t>
            </a:r>
            <a:r>
              <a:rPr lang="zh-CN" sz="1500" b="1">
                <a:solidFill>
                  <a:srgbClr val="20344B"/>
                </a:solidFill>
                <a:latin typeface="Microsoft YaHei"/>
                <a:ea typeface="Microsoft YaHei"/>
              </a:rPr>
              <a:t>）</a:t>
            </a:r>
            <a:endParaRPr/>
          </a:p>
        </p:txBody>
      </p:sp>
      <p:sp>
        <p:nvSpPr>
          <p:cNvPr id="47" name="" descr="{&quot;isTemplate&quot;:true,&quot;type&quot;:&quot;text&quot;}"/>
          <p:cNvSpPr txBox="1"/>
          <p:nvPr/>
        </p:nvSpPr>
        <p:spPr>
          <a:xfrm rot="0" flipH="0" flipV="0">
            <a:off x="800100" y="2266950"/>
            <a:ext cx="3657600" cy="314325"/>
          </a:xfrm>
          <a:prstGeom prst="rect"/>
        </p:spPr>
        <p:txBody>
          <a:bodyPr wrap="none" lIns="0" tIns="0" rIns="0" bIns="0"/>
          <a:p>
            <a:pPr>
              <a:lnSpc>
                <a:spcPct val="135000"/>
              </a:lnSpc>
            </a:pPr>
            <a:r>
              <a:rPr lang="en-US" sz="1500" b="1">
                <a:solidFill>
                  <a:srgbClr val="20344B"/>
                </a:solidFill>
                <a:latin typeface="Microsoft YaHei"/>
                <a:ea typeface="Microsoft YaHei"/>
              </a:rPr>
              <a:t>Scale AI</a:t>
            </a:r>
            <a:endParaRPr/>
          </a:p>
        </p:txBody>
      </p:sp>
      <p:sp>
        <p:nvSpPr>
          <p:cNvPr id="48" name=""/>
          <p:cNvSpPr/>
          <p:nvPr/>
        </p:nvSpPr>
        <p:spPr>
          <a:xfrm rot="0" flipH="0" flipV="0">
            <a:off x="800100" y="2695575"/>
            <a:ext cx="3657600" cy="19050"/>
          </a:xfrm>
          <a:prstGeom prst="rect">
            <a:avLst/>
          </a:prstGeom>
          <a:solidFill>
            <a:srgbClr val="B5C7D8"/>
          </a:solidFill>
          <a:ln/>
        </p:spPr>
        <p:txBody>
          <a:bodyPr/>
          <a:p/>
        </p:txBody>
      </p:sp>
      <p:sp>
        <p:nvSpPr>
          <p:cNvPr id="49" name="" descr="{&quot;isTemplate&quot;:true,&quot;type&quot;:&quot;text&quot;}"/>
          <p:cNvSpPr txBox="1"/>
          <p:nvPr/>
        </p:nvSpPr>
        <p:spPr>
          <a:xfrm rot="0" flipH="0" flipV="0">
            <a:off x="800100" y="2828925"/>
            <a:ext cx="3657600"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一方是安全研究机构，一方是数据与评测企业，合起来做出题、审题与评测平台。</a:t>
            </a:r>
            <a:endParaRPr/>
          </a:p>
        </p:txBody>
      </p:sp>
      <p:sp>
        <p:nvSpPr>
          <p:cNvPr id="50" name="" descr="{&quot;isTemplate&quot;:true,&quot;type&quot;:&quot;text&quot;}"/>
          <p:cNvSpPr txBox="1"/>
          <p:nvPr/>
        </p:nvSpPr>
        <p:spPr>
          <a:xfrm rot="0" flipH="0" flipV="0">
            <a:off x="800100" y="4943475"/>
            <a:ext cx="3657600" cy="238125"/>
          </a:xfrm>
          <a:prstGeom prst="rect"/>
        </p:spPr>
        <p:txBody>
          <a:bodyPr wrap="none" lIns="0" tIns="0" rIns="0" bIns="0"/>
          <a:p>
            <a:pPr>
              <a:lnSpc>
                <a:spcPct val="145000"/>
              </a:lnSpc>
            </a:pPr>
            <a:r>
              <a:rPr lang="zh-CN" sz="1050">
                <a:solidFill>
                  <a:srgbClr val="546779"/>
                </a:solidFill>
                <a:latin typeface="Microsoft YaHei"/>
                <a:ea typeface="Microsoft YaHei"/>
              </a:rPr>
              <a:t>正式论文刊于《自然》</a:t>
            </a:r>
            <a:r>
              <a:rPr lang="en-US" sz="1050">
                <a:solidFill>
                  <a:srgbClr val="546779"/>
                </a:solidFill>
                <a:latin typeface="Microsoft YaHei"/>
                <a:ea typeface="Microsoft YaHei"/>
              </a:rPr>
              <a:t xml:space="preserve">2026 </a:t>
            </a:r>
            <a:r>
              <a:rPr lang="zh-CN" sz="1050">
                <a:solidFill>
                  <a:srgbClr val="546779"/>
                </a:solidFill>
                <a:latin typeface="Microsoft YaHei"/>
                <a:ea typeface="Microsoft YaHei"/>
              </a:rPr>
              <a:t>年，第</a:t>
            </a:r>
            <a:r>
              <a:rPr lang="en-US" sz="1050">
                <a:solidFill>
                  <a:srgbClr val="546779"/>
                </a:solidFill>
                <a:latin typeface="Microsoft YaHei"/>
                <a:ea typeface="Microsoft YaHei"/>
              </a:rPr>
              <a:t xml:space="preserve"> 649 </a:t>
            </a:r>
            <a:r>
              <a:rPr lang="zh-CN" sz="1050">
                <a:solidFill>
                  <a:srgbClr val="546779"/>
                </a:solidFill>
                <a:latin typeface="Microsoft YaHei"/>
                <a:ea typeface="Microsoft YaHei"/>
              </a:rPr>
              <a:t>卷</a:t>
            </a:r>
            <a:endParaRPr/>
          </a:p>
        </p:txBody>
      </p:sp>
      <p:sp>
        <p:nvSpPr>
          <p:cNvPr id="51" name=""/>
          <p:cNvSpPr/>
          <p:nvPr/>
        </p:nvSpPr>
        <p:spPr>
          <a:xfrm rot="0" flipH="0" flipV="0">
            <a:off x="4914900" y="1371600"/>
            <a:ext cx="6667500" cy="1238250"/>
          </a:xfrm>
          <a:prstGeom prst="roundRect">
            <a:avLst>
              <a:gd name="adj" fmla="val 7692"/>
            </a:avLst>
          </a:prstGeom>
          <a:solidFill>
            <a:srgbClr val="EDF4FC"/>
          </a:solidFill>
          <a:ln/>
        </p:spPr>
        <p:txBody>
          <a:bodyPr/>
          <a:p/>
        </p:txBody>
      </p:sp>
      <p:sp>
        <p:nvSpPr>
          <p:cNvPr id="52" name=""/>
          <p:cNvSpPr/>
          <p:nvPr/>
        </p:nvSpPr>
        <p:spPr>
          <a:xfrm rot="0" flipH="0" flipV="0">
            <a:off x="5105400" y="1676400"/>
            <a:ext cx="38100" cy="628650"/>
          </a:xfrm>
          <a:prstGeom prst="rect">
            <a:avLst/>
          </a:prstGeom>
          <a:solidFill>
            <a:srgbClr val="276FBF"/>
          </a:solidFill>
          <a:ln/>
        </p:spPr>
        <p:txBody>
          <a:bodyPr/>
          <a:p/>
        </p:txBody>
      </p:sp>
      <p:sp>
        <p:nvSpPr>
          <p:cNvPr id="53" name="" descr="{&quot;isTemplate&quot;:true,&quot;type&quot;:&quot;text&quot;}"/>
          <p:cNvSpPr txBox="1"/>
          <p:nvPr/>
        </p:nvSpPr>
        <p:spPr>
          <a:xfrm rot="0" flipH="0" flipV="0">
            <a:off x="5295900" y="1876425"/>
            <a:ext cx="1428750" cy="228600"/>
          </a:xfrm>
          <a:prstGeom prst="rect"/>
        </p:spPr>
        <p:txBody>
          <a:bodyPr wrap="none" lIns="0" tIns="0" rIns="0" bIns="0"/>
          <a:p>
            <a:pPr>
              <a:lnSpc>
                <a:spcPct val="100000"/>
              </a:lnSpc>
            </a:pPr>
            <a:r>
              <a:rPr lang="zh-CN" sz="1500" b="1">
                <a:solidFill>
                  <a:srgbClr val="276FBF"/>
                </a:solidFill>
                <a:latin typeface="Microsoft YaHei"/>
                <a:ea typeface="Microsoft YaHei"/>
              </a:rPr>
              <a:t>近</a:t>
            </a:r>
            <a:r>
              <a:rPr lang="en-US" sz="1500" b="1">
                <a:solidFill>
                  <a:srgbClr val="276FBF"/>
                </a:solidFill>
                <a:latin typeface="Microsoft YaHei"/>
                <a:ea typeface="Microsoft YaHei"/>
              </a:rPr>
              <a:t xml:space="preserve"> 1000 </a:t>
            </a:r>
            <a:r>
              <a:rPr lang="zh-CN" sz="1500" b="1">
                <a:solidFill>
                  <a:srgbClr val="276FBF"/>
                </a:solidFill>
                <a:latin typeface="Microsoft YaHei"/>
                <a:ea typeface="Microsoft YaHei"/>
              </a:rPr>
              <a:t>位</a:t>
            </a:r>
            <a:endParaRPr/>
          </a:p>
        </p:txBody>
      </p:sp>
      <p:sp>
        <p:nvSpPr>
          <p:cNvPr id="54" name="" descr="{&quot;isTemplate&quot;:true,&quot;type&quot;:&quot;text&quot;}"/>
          <p:cNvSpPr txBox="1"/>
          <p:nvPr/>
        </p:nvSpPr>
        <p:spPr>
          <a:xfrm rot="0" flipH="0" flipV="0">
            <a:off x="6877050" y="1733550"/>
            <a:ext cx="451485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专家贡献者，来自约</a:t>
            </a:r>
            <a:r>
              <a:rPr lang="en-US" sz="1125">
                <a:solidFill>
                  <a:srgbClr val="546779"/>
                </a:solidFill>
                <a:latin typeface="Microsoft YaHei"/>
                <a:ea typeface="Microsoft YaHei"/>
              </a:rPr>
              <a:t xml:space="preserve"> 500 </a:t>
            </a:r>
            <a:r>
              <a:rPr lang="zh-CN" sz="1125">
                <a:solidFill>
                  <a:srgbClr val="546779"/>
                </a:solidFill>
                <a:latin typeface="Microsoft YaHei"/>
                <a:ea typeface="Microsoft YaHei"/>
              </a:rPr>
              <a:t>家机构、分布在</a:t>
            </a:r>
            <a:r>
              <a:rPr lang="en-US" sz="1125">
                <a:solidFill>
                  <a:srgbClr val="546779"/>
                </a:solidFill>
                <a:latin typeface="Microsoft YaHei"/>
                <a:ea typeface="Microsoft YaHei"/>
              </a:rPr>
              <a:t xml:space="preserve"> 50 </a:t>
            </a:r>
            <a:r>
              <a:rPr lang="zh-CN" sz="1125">
                <a:solidFill>
                  <a:srgbClr val="546779"/>
                </a:solidFill>
                <a:latin typeface="Microsoft YaHei"/>
                <a:ea typeface="Microsoft YaHei"/>
              </a:rPr>
              <a:t>个国家，多为教授与研究人员</a:t>
            </a:r>
            <a:endParaRPr/>
          </a:p>
        </p:txBody>
      </p:sp>
      <p:sp>
        <p:nvSpPr>
          <p:cNvPr id="55" name=""/>
          <p:cNvSpPr/>
          <p:nvPr/>
        </p:nvSpPr>
        <p:spPr>
          <a:xfrm rot="0" flipH="0" flipV="0">
            <a:off x="4914900" y="2752725"/>
            <a:ext cx="6667500" cy="1238250"/>
          </a:xfrm>
          <a:prstGeom prst="roundRect">
            <a:avLst>
              <a:gd name="adj" fmla="val 7692"/>
            </a:avLst>
          </a:prstGeom>
          <a:solidFill>
            <a:srgbClr val="EDF4FC"/>
          </a:solidFill>
          <a:ln/>
        </p:spPr>
        <p:txBody>
          <a:bodyPr/>
          <a:p/>
        </p:txBody>
      </p:sp>
      <p:sp>
        <p:nvSpPr>
          <p:cNvPr id="56" name=""/>
          <p:cNvSpPr/>
          <p:nvPr/>
        </p:nvSpPr>
        <p:spPr>
          <a:xfrm rot="0" flipH="0" flipV="0">
            <a:off x="5105400" y="3057525"/>
            <a:ext cx="38100" cy="628650"/>
          </a:xfrm>
          <a:prstGeom prst="rect">
            <a:avLst/>
          </a:prstGeom>
          <a:solidFill>
            <a:srgbClr val="276FBF"/>
          </a:solidFill>
          <a:ln/>
        </p:spPr>
        <p:txBody>
          <a:bodyPr/>
          <a:p/>
        </p:txBody>
      </p:sp>
      <p:sp>
        <p:nvSpPr>
          <p:cNvPr id="57" name="" descr="{&quot;isTemplate&quot;:true,&quot;type&quot;:&quot;text&quot;}"/>
          <p:cNvSpPr txBox="1"/>
          <p:nvPr/>
        </p:nvSpPr>
        <p:spPr>
          <a:xfrm rot="0" flipH="0" flipV="0">
            <a:off x="5295900" y="3257550"/>
            <a:ext cx="1428750" cy="228600"/>
          </a:xfrm>
          <a:prstGeom prst="rect"/>
        </p:spPr>
        <p:txBody>
          <a:bodyPr wrap="none" lIns="0" tIns="0" rIns="0" bIns="0"/>
          <a:p>
            <a:pPr>
              <a:lnSpc>
                <a:spcPct val="100000"/>
              </a:lnSpc>
            </a:pPr>
            <a:r>
              <a:rPr lang="en-US" sz="1500" b="1">
                <a:solidFill>
                  <a:srgbClr val="276FBF"/>
                </a:solidFill>
                <a:latin typeface="Microsoft YaHei"/>
                <a:ea typeface="Microsoft YaHei"/>
              </a:rPr>
              <a:t xml:space="preserve">2,500 </a:t>
            </a:r>
            <a:r>
              <a:rPr lang="zh-CN" sz="1500" b="1">
                <a:solidFill>
                  <a:srgbClr val="276FBF"/>
                </a:solidFill>
                <a:latin typeface="Microsoft YaHei"/>
                <a:ea typeface="Microsoft YaHei"/>
              </a:rPr>
              <a:t>题</a:t>
            </a:r>
            <a:endParaRPr/>
          </a:p>
        </p:txBody>
      </p:sp>
      <p:sp>
        <p:nvSpPr>
          <p:cNvPr id="58" name="" descr="{&quot;isTemplate&quot;:true,&quot;type&quot;:&quot;text&quot;}"/>
          <p:cNvSpPr txBox="1"/>
          <p:nvPr/>
        </p:nvSpPr>
        <p:spPr>
          <a:xfrm rot="0" flipH="0" flipV="0">
            <a:off x="6877050" y="3248025"/>
            <a:ext cx="4514850" cy="257175"/>
          </a:xfrm>
          <a:prstGeom prst="rect"/>
        </p:spPr>
        <p:txBody>
          <a:bodyPr wrap="none" lIns="0" tIns="0" rIns="0" bIns="0"/>
          <a:p>
            <a:pPr>
              <a:lnSpc>
                <a:spcPct val="150000"/>
              </a:lnSpc>
            </a:pPr>
            <a:r>
              <a:rPr lang="zh-CN" sz="1125">
                <a:solidFill>
                  <a:srgbClr val="546779"/>
                </a:solidFill>
                <a:latin typeface="Microsoft YaHei"/>
                <a:ea typeface="Microsoft YaHei"/>
              </a:rPr>
              <a:t>公开题集规模，覆盖</a:t>
            </a:r>
            <a:r>
              <a:rPr lang="en-US" sz="1125">
                <a:solidFill>
                  <a:srgbClr val="546779"/>
                </a:solidFill>
                <a:latin typeface="Microsoft YaHei"/>
                <a:ea typeface="Microsoft YaHei"/>
              </a:rPr>
              <a:t xml:space="preserve"> 100 </a:t>
            </a:r>
            <a:r>
              <a:rPr lang="zh-CN" sz="1125">
                <a:solidFill>
                  <a:srgbClr val="546779"/>
                </a:solidFill>
                <a:latin typeface="Microsoft YaHei"/>
                <a:ea typeface="Microsoft YaHei"/>
              </a:rPr>
              <a:t>多个学科；另有不公开的私有题集防背题</a:t>
            </a:r>
            <a:endParaRPr/>
          </a:p>
        </p:txBody>
      </p:sp>
      <p:sp>
        <p:nvSpPr>
          <p:cNvPr id="59" name=""/>
          <p:cNvSpPr/>
          <p:nvPr/>
        </p:nvSpPr>
        <p:spPr>
          <a:xfrm rot="0" flipH="0" flipV="0">
            <a:off x="4914900" y="4133850"/>
            <a:ext cx="6667500" cy="1238250"/>
          </a:xfrm>
          <a:prstGeom prst="roundRect">
            <a:avLst>
              <a:gd name="adj" fmla="val 7692"/>
            </a:avLst>
          </a:prstGeom>
          <a:solidFill>
            <a:srgbClr val="EDF4FC"/>
          </a:solidFill>
          <a:ln/>
        </p:spPr>
        <p:txBody>
          <a:bodyPr/>
          <a:p/>
        </p:txBody>
      </p:sp>
      <p:sp>
        <p:nvSpPr>
          <p:cNvPr id="60" name=""/>
          <p:cNvSpPr/>
          <p:nvPr/>
        </p:nvSpPr>
        <p:spPr>
          <a:xfrm rot="0" flipH="0" flipV="0">
            <a:off x="5105400" y="4438650"/>
            <a:ext cx="38100" cy="628650"/>
          </a:xfrm>
          <a:prstGeom prst="rect">
            <a:avLst/>
          </a:prstGeom>
          <a:solidFill>
            <a:srgbClr val="276FBF"/>
          </a:solidFill>
          <a:ln/>
        </p:spPr>
        <p:txBody>
          <a:bodyPr/>
          <a:p/>
        </p:txBody>
      </p:sp>
      <p:sp>
        <p:nvSpPr>
          <p:cNvPr id="61" name="" descr="{&quot;isTemplate&quot;:true,&quot;type&quot;:&quot;text&quot;}"/>
          <p:cNvSpPr txBox="1"/>
          <p:nvPr/>
        </p:nvSpPr>
        <p:spPr>
          <a:xfrm rot="0" flipH="0" flipV="0">
            <a:off x="5295900" y="4638675"/>
            <a:ext cx="1428750" cy="228600"/>
          </a:xfrm>
          <a:prstGeom prst="rect"/>
        </p:spPr>
        <p:txBody>
          <a:bodyPr wrap="none" lIns="0" tIns="0" rIns="0" bIns="0"/>
          <a:p>
            <a:pPr>
              <a:lnSpc>
                <a:spcPct val="100000"/>
              </a:lnSpc>
            </a:pPr>
            <a:r>
              <a:rPr lang="zh-CN" sz="1500" b="1">
                <a:solidFill>
                  <a:srgbClr val="276FBF"/>
                </a:solidFill>
                <a:latin typeface="Microsoft YaHei"/>
                <a:ea typeface="Microsoft YaHei"/>
              </a:rPr>
              <a:t>约</a:t>
            </a:r>
            <a:r>
              <a:rPr lang="en-US" sz="1500" b="1">
                <a:solidFill>
                  <a:srgbClr val="276FBF"/>
                </a:solidFill>
                <a:latin typeface="Microsoft YaHei"/>
                <a:ea typeface="Microsoft YaHei"/>
              </a:rPr>
              <a:t xml:space="preserve"> 14%</a:t>
            </a:r>
            <a:endParaRPr/>
          </a:p>
        </p:txBody>
      </p:sp>
      <p:sp>
        <p:nvSpPr>
          <p:cNvPr id="62" name="" descr="{&quot;isTemplate&quot;:true,&quot;type&quot;:&quot;text&quot;}"/>
          <p:cNvSpPr txBox="1"/>
          <p:nvPr/>
        </p:nvSpPr>
        <p:spPr>
          <a:xfrm rot="0" flipH="0" flipV="0">
            <a:off x="6877050" y="4629150"/>
            <a:ext cx="4514850" cy="257175"/>
          </a:xfrm>
          <a:prstGeom prst="rect"/>
        </p:spPr>
        <p:txBody>
          <a:bodyPr wrap="none" lIns="0" tIns="0" rIns="0" bIns="0"/>
          <a:p>
            <a:pPr>
              <a:lnSpc>
                <a:spcPct val="150000"/>
              </a:lnSpc>
            </a:pPr>
            <a:r>
              <a:rPr lang="zh-CN" sz="1125">
                <a:solidFill>
                  <a:srgbClr val="546779"/>
                </a:solidFill>
                <a:latin typeface="Microsoft YaHei"/>
                <a:ea typeface="Microsoft YaHei"/>
              </a:rPr>
              <a:t>的题目必须同时看懂图和文字才能作答；</a:t>
            </a:r>
            <a:r>
              <a:rPr lang="en-US" sz="1125">
                <a:solidFill>
                  <a:srgbClr val="546779"/>
                </a:solidFill>
                <a:latin typeface="Microsoft YaHei"/>
                <a:ea typeface="Microsoft YaHei"/>
              </a:rPr>
              <a:t xml:space="preserve">24% </a:t>
            </a:r>
            <a:r>
              <a:rPr lang="zh-CN" sz="1125">
                <a:solidFill>
                  <a:srgbClr val="546779"/>
                </a:solidFill>
                <a:latin typeface="Microsoft YaHei"/>
                <a:ea typeface="Microsoft YaHei"/>
              </a:rPr>
              <a:t>做成选择题，其余是简答</a:t>
            </a:r>
            <a:endParaRPr/>
          </a:p>
        </p:txBody>
      </p:sp>
      <p:sp>
        <p:nvSpPr>
          <p:cNvPr id="63" name=""/>
          <p:cNvSpPr/>
          <p:nvPr/>
        </p:nvSpPr>
        <p:spPr>
          <a:xfrm rot="0" flipH="0" flipV="0">
            <a:off x="609600" y="5543550"/>
            <a:ext cx="10972800" cy="514350"/>
          </a:xfrm>
          <a:prstGeom prst="roundRect">
            <a:avLst>
              <a:gd name="adj" fmla="val 18519"/>
            </a:avLst>
          </a:prstGeom>
          <a:solidFill>
            <a:srgbClr val="F4F7FA"/>
          </a:solidFill>
          <a:ln/>
        </p:spPr>
        <p:txBody>
          <a:bodyPr/>
          <a:p/>
        </p:txBody>
      </p:sp>
      <p:sp>
        <p:nvSpPr>
          <p:cNvPr id="64" name=""/>
          <p:cNvSpPr/>
          <p:nvPr/>
        </p:nvSpPr>
        <p:spPr>
          <a:xfrm rot="0" flipH="0" flipV="0">
            <a:off x="819150" y="5657850"/>
            <a:ext cx="38100" cy="285750"/>
          </a:xfrm>
          <a:prstGeom prst="rect">
            <a:avLst/>
          </a:prstGeom>
          <a:solidFill>
            <a:srgbClr val="276FBF"/>
          </a:solidFill>
          <a:ln/>
        </p:spPr>
        <p:txBody>
          <a:bodyPr/>
          <a:p/>
        </p:txBody>
      </p:sp>
      <p:sp>
        <p:nvSpPr>
          <p:cNvPr id="65" name="" descr="{&quot;isTemplate&quot;:true,&quot;type&quot;:&quot;text&quot;}"/>
          <p:cNvSpPr txBox="1"/>
          <p:nvPr/>
        </p:nvSpPr>
        <p:spPr>
          <a:xfrm rot="0" flipH="0" flipV="0">
            <a:off x="1009650" y="5676900"/>
            <a:ext cx="5276850" cy="257175"/>
          </a:xfrm>
          <a:prstGeom prst="rect"/>
        </p:spPr>
        <p:txBody>
          <a:bodyPr wrap="none" lIns="0" tIns="0" rIns="0" bIns="0"/>
          <a:p>
            <a:pPr>
              <a:lnSpc>
                <a:spcPct val="150000"/>
              </a:lnSpc>
            </a:pPr>
            <a:r>
              <a:rPr lang="zh-CN" sz="1125">
                <a:solidFill>
                  <a:srgbClr val="546779"/>
                </a:solidFill>
                <a:latin typeface="Microsoft YaHei"/>
                <a:ea typeface="Microsoft YaHei"/>
              </a:rPr>
              <a:t>规模本身不等于权威，但</a:t>
            </a:r>
            <a:r>
              <a:rPr lang="en-US" sz="1125">
                <a:solidFill>
                  <a:srgbClr val="546779"/>
                </a:solidFill>
                <a:latin typeface="Microsoft YaHei"/>
                <a:ea typeface="Microsoft YaHei"/>
              </a:rPr>
              <a:t>"</a:t>
            </a:r>
            <a:r>
              <a:rPr lang="zh-CN" sz="1125">
                <a:solidFill>
                  <a:srgbClr val="546779"/>
                </a:solidFill>
                <a:latin typeface="Microsoft YaHei"/>
                <a:ea typeface="Microsoft YaHei"/>
              </a:rPr>
              <a:t>谁写的、谁复核的、发表在哪里</a:t>
            </a:r>
            <a:r>
              <a:rPr lang="en-US" sz="1125">
                <a:solidFill>
                  <a:srgbClr val="546779"/>
                </a:solidFill>
                <a:latin typeface="Microsoft YaHei"/>
                <a:ea typeface="Microsoft YaHei"/>
              </a:rPr>
              <a:t>"</a:t>
            </a:r>
            <a:r>
              <a:rPr lang="zh-CN" sz="1125">
                <a:solidFill>
                  <a:srgbClr val="546779"/>
                </a:solidFill>
                <a:latin typeface="Microsoft YaHei"/>
                <a:ea typeface="Microsoft YaHei"/>
              </a:rPr>
              <a:t>这三条是可核查的硬信息</a:t>
            </a:r>
            <a:endParaRPr/>
          </a:p>
        </p:txBody>
      </p:sp>
      <p:sp>
        <p:nvSpPr>
          <p:cNvPr id="66"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67"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10 / 36</a:t>
            </a:r>
            <a:endParaRPr/>
          </a:p>
        </p:txBody>
      </p:sp>
    </p:spTree>
  </p:cSld>
</p:sld>
</file>

<file path=ppt/slides/slide11.xml><?xml version="1.0" encoding="utf-8"?>
<p:sld xmlns:p="http://schemas.openxmlformats.org/presentationml/2006/main" xmlns:a="http://schemas.openxmlformats.org/drawingml/2006/main">
  <p:cSld>
    <p:spTree>
      <p:nvGrpSpPr>
        <p:cNvPr id="68" name="" descr="&lt;Slide notes={`Epoch AI 是一个独立评测机构，它的特别之处在于同时做两件事：自己跑基准，也审别人的基准。&#10;&#10;2026 年 9 月它启动了 Benchmark Reviews，第一批审了 15 个热门基准。结论是 4 个合格、9 个有问题、2 个公开信息太少没法评。有问题的那批里，就包括 HLE、SWE-bench Verified、BFCL v4 和 Terminal-Bench 4.0。&#10;&#10;它自己定了三条纪律。第一，不审自家基准，因为存在利益冲突，它直接承认自家基准也可能有错。第二，一般不向厂商收费，避免被谁买单影响结论。第三，判&quot;有问题&quot;不等于判&quot;没用&quot;，只是说引用这个分数时必须同时说明已知缺陷。&#10;&#10;这套做法的价值在于，它把&quot;这个分数能不能信&quot;变成一个可以查证的过程，而不是一句主观判断。`}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②　1.4.2　机构案例二：把&quot;能不能信&quot;变成可查证的过程&lt;/Text&gt;&#10;            &lt;Text style={{ fontSize: 34, fontWeight: 'bold', color: '#20344B' }}&gt;Epoch AI：不改题的审计者&lt;/Text&gt;&#10;        &lt;/Box&gt;&#10;    &lt;/Box&gt;&#10;&#10;    &lt;Box style={{ height: 540, flexDirection: 'column', justifyContent: 'center' }}&gt;&#10;&#10;        &lt;Box style={{ flexDirection: 'row', gap: 28, alignItems: 'flex-start' }}&gt;&#10;&#10;            &lt;Box style={{ width: 660, flexDirection: 'column', gap: 16 }}&gt;&#10;&#10;                &lt;Box style={{ width: 660, height: 132, background: '#EDF4FC', borderRadius: 10, padding: '16px 20px', flexDirection: 'row', alignItems: 'center', gap: 16 }}&gt;&#10;                    &lt;Box style={{ width: 4, height: 68, background: '#276FBF' }} /&gt;&#10;                    &lt;Box style={{ flexDirection: 'column', gap: 6 }}&gt;&#10;                        &lt;Text style={{ fontSize: 18, fontWeight: 'bold', color: '#20344B' }}&gt;Benchmark Reviews&lt;/Text&gt;&#10;                        &lt;Text style={{ fontSize: 15, color: '#546779', lineHeight: 1.5 }}&gt;对别人的基准做第三方审计：查题目、查判分、查运行配置&lt;/Text&gt;&#10;                    &lt;/Box&gt;&#10;                &lt;/Box&gt;&#10;&#10;                &lt;Box style={{ width: 660, height: 132, background: '#F7F3E8', borderRadius: 10, padding: '16px 20px', flexDirection: 'row', alignItems: 'center', gap: 16 }}&gt;&#10;                    &lt;Box style={{ width: 4, height: 68, background: '#546779' }} /&gt;&#10;                    &lt;Box style={{ flexDirection: 'column', gap: 6 }}&gt;&#10;                        &lt;Text style={{ fontSize: 18, fontWeight: 'bold', color: '#20344B' }}&gt;首批 15 个基准的结果&lt;/Text&gt;&#10;                        &lt;Text style={{ fontSize: 15, color: '#546779', lineHeight: 1.5 }}&gt;4 个合格，9 个有问题，2 个公开信息不足无法评定&lt;/Text&gt;&#10;                    &lt;/Box&gt;&#10;                &lt;/Box&gt;&#10;&#10;                &lt;Box style={{ width: 660, height: 132, background: '#F7F3E8', borderRadius: 10, padding: '16px 20px', flexDirection: 'row', alignItems: 'center', gap: 16 }}&gt;&#10;                    &lt;Box style={{ width: 4, height: 68, background: '#546779' }} /&gt;&#10;                    &lt;Box style={{ flexDirection: 'column', gap: 6 }}&gt;&#10;                        &lt;Text style={{ fontSize: 18, fontWeight: 'bold', color: '#20344B' }}&gt;判定口径&lt;/Text&gt;&#10;                        &lt;Text style={{ fontSize: 15, color: '#546779', lineHeight: 1.5 }}&gt;抽样中若两成以上题目含影响准确率的错误，这个基准就要重新解释&lt;/Text&gt;&#10;                    &lt;/Box&gt;&#10;                &lt;/Box&gt;&#10;&#10;            &lt;/Box&gt;&#10;&#10;            &lt;Box style={{ width: 464, height: 428, background: '#FFF4E6', borderRadius: 12, padding: '20px 20px', flexDirection: 'column', gap: 14 }}&gt;&#10;                &lt;Text style={{ fontSize: 18, fontWeight: 'bold', color: '#CB6B28' }}&gt;三条自我约束&lt;/Text&gt;&#10;&#10;                &lt;Box style={{ flexDirection: 'column', gap: 4, background: '#FFFFFF', borderRadius: 8, padding: '12px 14px' }}&gt;&#10;                    &lt;Text style={{ fontSize: 15, fontWeight: 'bold', color: '#20344B' }}&gt;不审自家基准&lt;/Text&gt;&#10;                    &lt;Text style={{ fontSize: 14, color: '#546779', lineHeight: 1.45 }}&gt;存在利益冲突，并承认自家基准也可能有错&lt;/Text&gt;&#10;                &lt;/Box&gt;&#10;&#10;                &lt;Box style={{ flexDirection: 'column', gap: 4, background: '#FFFFFF', borderRadius: 8, padding: '12px 14px' }}&gt;&#10;                    &lt;Text style={{ fontSize: 15, fontWeight: 'bold', color: '#20344B' }}&gt;一般不向厂商收费&lt;/Text&gt;&#10;                    &lt;Text style={{ fontSize: 14, color: '#546779', lineHeight: 1.45 }}&gt;避免结论受买单方影响；若收费会明确标注&lt;/Text&gt;&#10;                &lt;/Box&gt;&#10;&#10;                &lt;Box style={{ flexDirection: 'column', gap: 4, background: '#FFFFFF', borderRadius: 8, padding: '12px 14px' }}&gt;&#10;                    &lt;Text style={{ fontSize: 15, fontWeight: 'bold', color: '#20344B' }}&gt;有问题 ≠ 没用&lt;/Text&gt;&#10;                    &lt;Text style={{ fontSize: 14, color: '#546779', lineHeight: 1.45 }}&gt;只是引用分数时必须同时说明已知的缺陷&lt;/Text&gt;&#10;                &lt;/Box&gt;&#10;&#10;                &lt;Box style={{ flex: 1 }} /&gt;&#10;                &lt;Text style={{ fontSize: 13, color: '#CB6B28', lineHeight: 1.45 }}&gt;审计本身也有限度：它不重跑所有模型，也不替你判断业务适用性&lt;/Text&gt;&#10;            &lt;/Box&gt;&#10;&#10;        &lt;/Box&gt;&#10;&#10;    &lt;/Box&gt;&#10;&#10;    &lt;Box style={{ height: 40, flexDirection: 'row', justifyContent: 'space-between', alignItems: 'center' }}&gt;&#10;        &lt;Text style={{ fontSize: 14, color: '#546779' }}&gt;1.4 从榜单到证据&lt;/Text&gt;&#10;        &lt;Text style={{ fontSize: 14, color: '#546779' }}&gt;11 / 36&lt;/Text&gt;&#10;    &lt;/Box&gt;&#10;&#10;&lt;/Slide&gt;&#10;"/>
        <p:cNvGrpSpPr/>
        <p:nvPr/>
      </p:nvGrpSpPr>
      <p:grpSpPr>
        <a:xfrm>
          <a:off x="0" y="0"/>
          <a:ext cx="0" cy="0"/>
          <a:chOff x="0" y="0"/>
          <a:chExt cx="0" cy="0"/>
        </a:xfrm>
      </p:grpSpPr>
      <p:sp>
        <p:nvSpPr>
          <p:cNvPr id="69" name=""/>
          <p:cNvSpPr/>
          <p:nvPr/>
        </p:nvSpPr>
        <p:spPr>
          <a:xfrm rot="0" flipH="0" flipV="0">
            <a:off x="0" y="0"/>
            <a:ext cx="12192000" cy="6858000"/>
          </a:xfrm>
          <a:prstGeom prst="rect">
            <a:avLst/>
          </a:prstGeom>
          <a:solidFill>
            <a:srgbClr val="FFFFFF"/>
          </a:solidFill>
          <a:ln/>
        </p:spPr>
        <p:txBody>
          <a:bodyPr/>
          <a:p/>
        </p:txBody>
      </p:sp>
      <p:sp>
        <p:nvSpPr>
          <p:cNvPr id="70" name=""/>
          <p:cNvSpPr/>
          <p:nvPr/>
        </p:nvSpPr>
        <p:spPr>
          <a:xfrm rot="0" flipH="0" flipV="0">
            <a:off x="609600" y="457200"/>
            <a:ext cx="38100" cy="419100"/>
          </a:xfrm>
          <a:prstGeom prst="rect">
            <a:avLst/>
          </a:prstGeom>
          <a:solidFill>
            <a:srgbClr val="276FBF"/>
          </a:solidFill>
          <a:ln/>
        </p:spPr>
        <p:txBody>
          <a:bodyPr/>
          <a:p/>
        </p:txBody>
      </p:sp>
      <p:sp>
        <p:nvSpPr>
          <p:cNvPr id="71" name="" descr="{&quot;isTemplate&quot;:true,&quot;type&quot;:&quot;text&quot;}"/>
          <p:cNvSpPr txBox="1"/>
          <p:nvPr/>
        </p:nvSpPr>
        <p:spPr>
          <a:xfrm rot="0" flipH="0" flipV="0">
            <a:off x="838200" y="371475"/>
            <a:ext cx="4038600" cy="161925"/>
          </a:xfrm>
          <a:prstGeom prst="rect"/>
        </p:spPr>
        <p:txBody>
          <a:bodyPr wrap="none" lIns="0" tIns="0" rIns="0" bIns="0"/>
          <a:p>
            <a:pPr>
              <a:lnSpc>
                <a:spcPct val="100000"/>
              </a:lnSpc>
            </a:pPr>
            <a:r>
              <a:rPr lang="zh-CN" sz="1050">
                <a:solidFill>
                  <a:srgbClr val="546779"/>
                </a:solidFill>
                <a:latin typeface="Microsoft YaHei"/>
                <a:ea typeface="Microsoft YaHei"/>
              </a:rPr>
              <a:t>②　</a:t>
            </a:r>
            <a:r>
              <a:rPr lang="en-US" sz="1050">
                <a:solidFill>
                  <a:srgbClr val="546779"/>
                </a:solidFill>
                <a:latin typeface="Microsoft YaHei"/>
                <a:ea typeface="Microsoft YaHei"/>
              </a:rPr>
              <a:t>1.4.2</a:t>
            </a:r>
            <a:r>
              <a:rPr lang="zh-CN" sz="1050">
                <a:solidFill>
                  <a:srgbClr val="546779"/>
                </a:solidFill>
                <a:latin typeface="Microsoft YaHei"/>
                <a:ea typeface="Microsoft YaHei"/>
              </a:rPr>
              <a:t>　机构案例二：把</a:t>
            </a:r>
            <a:r>
              <a:rPr lang="en-US" sz="1050">
                <a:solidFill>
                  <a:srgbClr val="546779"/>
                </a:solidFill>
                <a:latin typeface="Microsoft YaHei"/>
                <a:ea typeface="Microsoft YaHei"/>
              </a:rPr>
              <a:t>"</a:t>
            </a:r>
            <a:r>
              <a:rPr lang="zh-CN" sz="1050">
                <a:solidFill>
                  <a:srgbClr val="546779"/>
                </a:solidFill>
                <a:latin typeface="Microsoft YaHei"/>
                <a:ea typeface="Microsoft YaHei"/>
              </a:rPr>
              <a:t>能不能信</a:t>
            </a:r>
            <a:r>
              <a:rPr lang="en-US" sz="1050">
                <a:solidFill>
                  <a:srgbClr val="546779"/>
                </a:solidFill>
                <a:latin typeface="Microsoft YaHei"/>
                <a:ea typeface="Microsoft YaHei"/>
              </a:rPr>
              <a:t>"</a:t>
            </a:r>
            <a:r>
              <a:rPr lang="zh-CN" sz="1050">
                <a:solidFill>
                  <a:srgbClr val="546779"/>
                </a:solidFill>
                <a:latin typeface="Microsoft YaHei"/>
                <a:ea typeface="Microsoft YaHei"/>
              </a:rPr>
              <a:t>变成可查证的过程</a:t>
            </a:r>
            <a:endParaRPr/>
          </a:p>
        </p:txBody>
      </p:sp>
      <p:sp>
        <p:nvSpPr>
          <p:cNvPr id="72" name="" descr="{&quot;isTemplate&quot;:true,&quot;type&quot;:&quot;text&quot;}"/>
          <p:cNvSpPr txBox="1"/>
          <p:nvPr/>
        </p:nvSpPr>
        <p:spPr>
          <a:xfrm rot="0" flipH="0" flipV="0">
            <a:off x="838200" y="571500"/>
            <a:ext cx="4038600" cy="390525"/>
          </a:xfrm>
          <a:prstGeom prst="rect"/>
        </p:spPr>
        <p:txBody>
          <a:bodyPr wrap="none" lIns="0" tIns="0" rIns="0" bIns="0"/>
          <a:p>
            <a:pPr>
              <a:lnSpc>
                <a:spcPct val="100000"/>
              </a:lnSpc>
            </a:pPr>
            <a:r>
              <a:rPr lang="en-US" sz="2550" b="1">
                <a:solidFill>
                  <a:srgbClr val="20344B"/>
                </a:solidFill>
                <a:latin typeface="Microsoft YaHei"/>
                <a:ea typeface="Microsoft YaHei"/>
              </a:rPr>
              <a:t>Epoch AI</a:t>
            </a:r>
            <a:r>
              <a:rPr lang="zh-CN" sz="2550" b="1">
                <a:solidFill>
                  <a:srgbClr val="20344B"/>
                </a:solidFill>
                <a:latin typeface="Microsoft YaHei"/>
                <a:ea typeface="Microsoft YaHei"/>
              </a:rPr>
              <a:t>：不改题的审计者</a:t>
            </a:r>
            <a:endParaRPr/>
          </a:p>
        </p:txBody>
      </p:sp>
      <p:sp>
        <p:nvSpPr>
          <p:cNvPr id="73" name=""/>
          <p:cNvSpPr/>
          <p:nvPr/>
        </p:nvSpPr>
        <p:spPr>
          <a:xfrm rot="0" flipH="0" flipV="0">
            <a:off x="609600" y="1676400"/>
            <a:ext cx="6286500" cy="1257300"/>
          </a:xfrm>
          <a:prstGeom prst="roundRect">
            <a:avLst>
              <a:gd name="adj" fmla="val 7576"/>
            </a:avLst>
          </a:prstGeom>
          <a:solidFill>
            <a:srgbClr val="EDF4FC"/>
          </a:solidFill>
          <a:ln/>
        </p:spPr>
        <p:txBody>
          <a:bodyPr/>
          <a:p/>
        </p:txBody>
      </p:sp>
      <p:sp>
        <p:nvSpPr>
          <p:cNvPr id="74" name=""/>
          <p:cNvSpPr/>
          <p:nvPr/>
        </p:nvSpPr>
        <p:spPr>
          <a:xfrm rot="0" flipH="0" flipV="0">
            <a:off x="800100" y="1981200"/>
            <a:ext cx="38100" cy="647700"/>
          </a:xfrm>
          <a:prstGeom prst="rect">
            <a:avLst/>
          </a:prstGeom>
          <a:solidFill>
            <a:srgbClr val="276FBF"/>
          </a:solidFill>
          <a:ln/>
        </p:spPr>
        <p:txBody>
          <a:bodyPr/>
          <a:p/>
        </p:txBody>
      </p:sp>
      <p:sp>
        <p:nvSpPr>
          <p:cNvPr id="75" name="" descr="{&quot;isTemplate&quot;:true,&quot;type&quot;:&quot;text&quot;}"/>
          <p:cNvSpPr txBox="1"/>
          <p:nvPr/>
        </p:nvSpPr>
        <p:spPr>
          <a:xfrm rot="0" flipH="0" flipV="0">
            <a:off x="990600" y="2047875"/>
            <a:ext cx="3714750" cy="209550"/>
          </a:xfrm>
          <a:prstGeom prst="rect"/>
        </p:spPr>
        <p:txBody>
          <a:bodyPr wrap="none" lIns="0" tIns="0" rIns="0" bIns="0"/>
          <a:p>
            <a:pPr>
              <a:lnSpc>
                <a:spcPct val="100000"/>
              </a:lnSpc>
            </a:pPr>
            <a:r>
              <a:rPr lang="en-US" sz="1350" b="1">
                <a:solidFill>
                  <a:srgbClr val="20344B"/>
                </a:solidFill>
                <a:latin typeface="Microsoft YaHei"/>
                <a:ea typeface="Microsoft YaHei"/>
              </a:rPr>
              <a:t>Benchmark Reviews</a:t>
            </a:r>
            <a:endParaRPr/>
          </a:p>
        </p:txBody>
      </p:sp>
      <p:sp>
        <p:nvSpPr>
          <p:cNvPr id="76" name="" descr="{&quot;isTemplate&quot;:true,&quot;type&quot;:&quot;text&quot;}"/>
          <p:cNvSpPr txBox="1"/>
          <p:nvPr/>
        </p:nvSpPr>
        <p:spPr>
          <a:xfrm rot="0" flipH="0" flipV="0">
            <a:off x="990600" y="2314575"/>
            <a:ext cx="3714750" cy="257175"/>
          </a:xfrm>
          <a:prstGeom prst="rect"/>
        </p:spPr>
        <p:txBody>
          <a:bodyPr wrap="none" lIns="0" tIns="0" rIns="0" bIns="0"/>
          <a:p>
            <a:pPr>
              <a:lnSpc>
                <a:spcPct val="150000"/>
              </a:lnSpc>
            </a:pPr>
            <a:r>
              <a:rPr lang="zh-CN" sz="1125">
                <a:solidFill>
                  <a:srgbClr val="546779"/>
                </a:solidFill>
                <a:latin typeface="Microsoft YaHei"/>
                <a:ea typeface="Microsoft YaHei"/>
              </a:rPr>
              <a:t>对别人的基准做第三方审计：查题目、查判分、查运行配置</a:t>
            </a:r>
            <a:endParaRPr/>
          </a:p>
        </p:txBody>
      </p:sp>
      <p:sp>
        <p:nvSpPr>
          <p:cNvPr id="77" name=""/>
          <p:cNvSpPr/>
          <p:nvPr/>
        </p:nvSpPr>
        <p:spPr>
          <a:xfrm rot="0" flipH="0" flipV="0">
            <a:off x="609600" y="3086100"/>
            <a:ext cx="6286500" cy="1257300"/>
          </a:xfrm>
          <a:prstGeom prst="roundRect">
            <a:avLst>
              <a:gd name="adj" fmla="val 7576"/>
            </a:avLst>
          </a:prstGeom>
          <a:solidFill>
            <a:srgbClr val="F7F3E8"/>
          </a:solidFill>
          <a:ln/>
        </p:spPr>
        <p:txBody>
          <a:bodyPr/>
          <a:p/>
        </p:txBody>
      </p:sp>
      <p:sp>
        <p:nvSpPr>
          <p:cNvPr id="78" name=""/>
          <p:cNvSpPr/>
          <p:nvPr/>
        </p:nvSpPr>
        <p:spPr>
          <a:xfrm rot="0" flipH="0" flipV="0">
            <a:off x="800100" y="3390900"/>
            <a:ext cx="38100" cy="647700"/>
          </a:xfrm>
          <a:prstGeom prst="rect">
            <a:avLst/>
          </a:prstGeom>
          <a:solidFill>
            <a:srgbClr val="546779"/>
          </a:solidFill>
          <a:ln/>
        </p:spPr>
        <p:txBody>
          <a:bodyPr/>
          <a:p/>
        </p:txBody>
      </p:sp>
      <p:sp>
        <p:nvSpPr>
          <p:cNvPr id="79" name="" descr="{&quot;isTemplate&quot;:true,&quot;type&quot;:&quot;text&quot;}"/>
          <p:cNvSpPr txBox="1"/>
          <p:nvPr/>
        </p:nvSpPr>
        <p:spPr>
          <a:xfrm rot="0" flipH="0" flipV="0">
            <a:off x="990600" y="3457575"/>
            <a:ext cx="3238500" cy="209550"/>
          </a:xfrm>
          <a:prstGeom prst="rect"/>
        </p:spPr>
        <p:txBody>
          <a:bodyPr wrap="none" lIns="0" tIns="0" rIns="0" bIns="0"/>
          <a:p>
            <a:pPr>
              <a:lnSpc>
                <a:spcPct val="100000"/>
              </a:lnSpc>
            </a:pPr>
            <a:r>
              <a:rPr lang="zh-CN" sz="1350" b="1">
                <a:solidFill>
                  <a:srgbClr val="20344B"/>
                </a:solidFill>
                <a:latin typeface="Microsoft YaHei"/>
                <a:ea typeface="Microsoft YaHei"/>
              </a:rPr>
              <a:t>首批</a:t>
            </a:r>
            <a:r>
              <a:rPr lang="en-US" sz="1350" b="1">
                <a:solidFill>
                  <a:srgbClr val="20344B"/>
                </a:solidFill>
                <a:latin typeface="Microsoft YaHei"/>
                <a:ea typeface="Microsoft YaHei"/>
              </a:rPr>
              <a:t xml:space="preserve"> 15 </a:t>
            </a:r>
            <a:r>
              <a:rPr lang="zh-CN" sz="1350" b="1">
                <a:solidFill>
                  <a:srgbClr val="20344B"/>
                </a:solidFill>
                <a:latin typeface="Microsoft YaHei"/>
                <a:ea typeface="Microsoft YaHei"/>
              </a:rPr>
              <a:t>个基准的结果</a:t>
            </a:r>
            <a:endParaRPr/>
          </a:p>
        </p:txBody>
      </p:sp>
      <p:sp>
        <p:nvSpPr>
          <p:cNvPr id="80" name="" descr="{&quot;isTemplate&quot;:true,&quot;type&quot;:&quot;text&quot;}"/>
          <p:cNvSpPr txBox="1"/>
          <p:nvPr/>
        </p:nvSpPr>
        <p:spPr>
          <a:xfrm rot="0" flipH="0" flipV="0">
            <a:off x="990600" y="3724275"/>
            <a:ext cx="3238500" cy="257175"/>
          </a:xfrm>
          <a:prstGeom prst="rect"/>
        </p:spPr>
        <p:txBody>
          <a:bodyPr wrap="none" lIns="0" tIns="0" rIns="0" bIns="0"/>
          <a:p>
            <a:pPr>
              <a:lnSpc>
                <a:spcPct val="150000"/>
              </a:lnSpc>
            </a:pPr>
            <a:r>
              <a:rPr lang="en-US" sz="1125">
                <a:solidFill>
                  <a:srgbClr val="546779"/>
                </a:solidFill>
                <a:latin typeface="Microsoft YaHei"/>
                <a:ea typeface="Microsoft YaHei"/>
              </a:rPr>
              <a:t xml:space="preserve">4 </a:t>
            </a:r>
            <a:r>
              <a:rPr lang="zh-CN" sz="1125">
                <a:solidFill>
                  <a:srgbClr val="546779"/>
                </a:solidFill>
                <a:latin typeface="Microsoft YaHei"/>
                <a:ea typeface="Microsoft YaHei"/>
              </a:rPr>
              <a:t>个合格，</a:t>
            </a:r>
            <a:r>
              <a:rPr lang="en-US" sz="1125">
                <a:solidFill>
                  <a:srgbClr val="546779"/>
                </a:solidFill>
                <a:latin typeface="Microsoft YaHei"/>
                <a:ea typeface="Microsoft YaHei"/>
              </a:rPr>
              <a:t xml:space="preserve">9 </a:t>
            </a:r>
            <a:r>
              <a:rPr lang="zh-CN" sz="1125">
                <a:solidFill>
                  <a:srgbClr val="546779"/>
                </a:solidFill>
                <a:latin typeface="Microsoft YaHei"/>
                <a:ea typeface="Microsoft YaHei"/>
              </a:rPr>
              <a:t>个有问题，</a:t>
            </a:r>
            <a:r>
              <a:rPr lang="en-US" sz="1125">
                <a:solidFill>
                  <a:srgbClr val="546779"/>
                </a:solidFill>
                <a:latin typeface="Microsoft YaHei"/>
                <a:ea typeface="Microsoft YaHei"/>
              </a:rPr>
              <a:t xml:space="preserve">2 </a:t>
            </a:r>
            <a:r>
              <a:rPr lang="zh-CN" sz="1125">
                <a:solidFill>
                  <a:srgbClr val="546779"/>
                </a:solidFill>
                <a:latin typeface="Microsoft YaHei"/>
                <a:ea typeface="Microsoft YaHei"/>
              </a:rPr>
              <a:t>个公开信息不足无法评定</a:t>
            </a:r>
            <a:endParaRPr/>
          </a:p>
        </p:txBody>
      </p:sp>
      <p:sp>
        <p:nvSpPr>
          <p:cNvPr id="81" name=""/>
          <p:cNvSpPr/>
          <p:nvPr/>
        </p:nvSpPr>
        <p:spPr>
          <a:xfrm rot="0" flipH="0" flipV="0">
            <a:off x="609600" y="4495800"/>
            <a:ext cx="6286500" cy="1257300"/>
          </a:xfrm>
          <a:prstGeom prst="roundRect">
            <a:avLst>
              <a:gd name="adj" fmla="val 7576"/>
            </a:avLst>
          </a:prstGeom>
          <a:solidFill>
            <a:srgbClr val="F7F3E8"/>
          </a:solidFill>
          <a:ln/>
        </p:spPr>
        <p:txBody>
          <a:bodyPr/>
          <a:p/>
        </p:txBody>
      </p:sp>
      <p:sp>
        <p:nvSpPr>
          <p:cNvPr id="82" name=""/>
          <p:cNvSpPr/>
          <p:nvPr/>
        </p:nvSpPr>
        <p:spPr>
          <a:xfrm rot="0" flipH="0" flipV="0">
            <a:off x="800100" y="4800600"/>
            <a:ext cx="38100" cy="647700"/>
          </a:xfrm>
          <a:prstGeom prst="rect">
            <a:avLst/>
          </a:prstGeom>
          <a:solidFill>
            <a:srgbClr val="546779"/>
          </a:solidFill>
          <a:ln/>
        </p:spPr>
        <p:txBody>
          <a:bodyPr/>
          <a:p/>
        </p:txBody>
      </p:sp>
      <p:sp>
        <p:nvSpPr>
          <p:cNvPr id="83" name="" descr="{&quot;isTemplate&quot;:true,&quot;type&quot;:&quot;text&quot;}"/>
          <p:cNvSpPr txBox="1"/>
          <p:nvPr/>
        </p:nvSpPr>
        <p:spPr>
          <a:xfrm rot="0" flipH="0" flipV="0">
            <a:off x="990600" y="4867275"/>
            <a:ext cx="4286250" cy="209550"/>
          </a:xfrm>
          <a:prstGeom prst="rect"/>
        </p:spPr>
        <p:txBody>
          <a:bodyPr wrap="none" lIns="0" tIns="0" rIns="0" bIns="0"/>
          <a:p>
            <a:pPr>
              <a:lnSpc>
                <a:spcPct val="100000"/>
              </a:lnSpc>
            </a:pPr>
            <a:r>
              <a:rPr lang="zh-CN" sz="1350" b="1">
                <a:solidFill>
                  <a:srgbClr val="20344B"/>
                </a:solidFill>
                <a:latin typeface="Microsoft YaHei"/>
                <a:ea typeface="Microsoft YaHei"/>
              </a:rPr>
              <a:t>判定口径</a:t>
            </a:r>
            <a:endParaRPr/>
          </a:p>
        </p:txBody>
      </p:sp>
      <p:sp>
        <p:nvSpPr>
          <p:cNvPr id="84" name="" descr="{&quot;isTemplate&quot;:true,&quot;type&quot;:&quot;text&quot;}"/>
          <p:cNvSpPr txBox="1"/>
          <p:nvPr/>
        </p:nvSpPr>
        <p:spPr>
          <a:xfrm rot="0" flipH="0" flipV="0">
            <a:off x="990600" y="5133975"/>
            <a:ext cx="4286250" cy="257175"/>
          </a:xfrm>
          <a:prstGeom prst="rect"/>
        </p:spPr>
        <p:txBody>
          <a:bodyPr wrap="none" lIns="0" tIns="0" rIns="0" bIns="0"/>
          <a:p>
            <a:pPr>
              <a:lnSpc>
                <a:spcPct val="150000"/>
              </a:lnSpc>
            </a:pPr>
            <a:r>
              <a:rPr lang="zh-CN" sz="1125">
                <a:solidFill>
                  <a:srgbClr val="546779"/>
                </a:solidFill>
                <a:latin typeface="Microsoft YaHei"/>
                <a:ea typeface="Microsoft YaHei"/>
              </a:rPr>
              <a:t>抽样中若两成以上题目含影响准确率的错误，这个基准就要重新解释</a:t>
            </a:r>
            <a:endParaRPr/>
          </a:p>
        </p:txBody>
      </p:sp>
      <p:sp>
        <p:nvSpPr>
          <p:cNvPr id="85" name=""/>
          <p:cNvSpPr/>
          <p:nvPr/>
        </p:nvSpPr>
        <p:spPr>
          <a:xfrm rot="0" flipH="0" flipV="0">
            <a:off x="7162800" y="1676400"/>
            <a:ext cx="4419600" cy="4076700"/>
          </a:xfrm>
          <a:prstGeom prst="roundRect">
            <a:avLst>
              <a:gd name="adj" fmla="val 2804"/>
            </a:avLst>
          </a:prstGeom>
          <a:solidFill>
            <a:srgbClr val="FFF4E6"/>
          </a:solidFill>
          <a:ln/>
        </p:spPr>
        <p:txBody>
          <a:bodyPr/>
          <a:p/>
        </p:txBody>
      </p:sp>
      <p:sp>
        <p:nvSpPr>
          <p:cNvPr id="86" name="" descr="{&quot;isTemplate&quot;:true,&quot;type&quot;:&quot;text&quot;}"/>
          <p:cNvSpPr txBox="1"/>
          <p:nvPr/>
        </p:nvSpPr>
        <p:spPr>
          <a:xfrm rot="0" flipH="0" flipV="0">
            <a:off x="7353300" y="1866900"/>
            <a:ext cx="4038600" cy="209550"/>
          </a:xfrm>
          <a:prstGeom prst="rect"/>
        </p:spPr>
        <p:txBody>
          <a:bodyPr wrap="none" lIns="0" tIns="0" rIns="0" bIns="0"/>
          <a:p>
            <a:pPr>
              <a:lnSpc>
                <a:spcPct val="100000"/>
              </a:lnSpc>
            </a:pPr>
            <a:r>
              <a:rPr lang="zh-CN" sz="1350" b="1">
                <a:solidFill>
                  <a:srgbClr val="CB6B28"/>
                </a:solidFill>
                <a:latin typeface="Microsoft YaHei"/>
                <a:ea typeface="Microsoft YaHei"/>
              </a:rPr>
              <a:t>三条自我约束</a:t>
            </a:r>
            <a:endParaRPr/>
          </a:p>
        </p:txBody>
      </p:sp>
      <p:sp>
        <p:nvSpPr>
          <p:cNvPr id="87" name=""/>
          <p:cNvSpPr/>
          <p:nvPr/>
        </p:nvSpPr>
        <p:spPr>
          <a:xfrm rot="0" flipH="0" flipV="0">
            <a:off x="7353300" y="2209800"/>
            <a:ext cx="4038600" cy="676275"/>
          </a:xfrm>
          <a:prstGeom prst="roundRect">
            <a:avLst>
              <a:gd name="adj" fmla="val 11268"/>
            </a:avLst>
          </a:prstGeom>
          <a:solidFill>
            <a:srgbClr val="FFFFFF"/>
          </a:solidFill>
          <a:ln/>
        </p:spPr>
        <p:txBody>
          <a:bodyPr/>
          <a:p/>
        </p:txBody>
      </p:sp>
      <p:sp>
        <p:nvSpPr>
          <p:cNvPr id="88" name="" descr="{&quot;isTemplate&quot;:true,&quot;type&quot;:&quot;text&quot;}"/>
          <p:cNvSpPr txBox="1"/>
          <p:nvPr/>
        </p:nvSpPr>
        <p:spPr>
          <a:xfrm rot="0" flipH="0" flipV="0">
            <a:off x="7486650" y="2324100"/>
            <a:ext cx="3771900" cy="171450"/>
          </a:xfrm>
          <a:prstGeom prst="rect"/>
        </p:spPr>
        <p:txBody>
          <a:bodyPr wrap="none" lIns="0" tIns="0" rIns="0" bIns="0"/>
          <a:p>
            <a:pPr>
              <a:lnSpc>
                <a:spcPct val="100000"/>
              </a:lnSpc>
            </a:pPr>
            <a:r>
              <a:rPr lang="zh-CN" sz="1125" b="1">
                <a:solidFill>
                  <a:srgbClr val="20344B"/>
                </a:solidFill>
                <a:latin typeface="Microsoft YaHei"/>
                <a:ea typeface="Microsoft YaHei"/>
              </a:rPr>
              <a:t>不审自家基准</a:t>
            </a:r>
            <a:endParaRPr/>
          </a:p>
        </p:txBody>
      </p:sp>
      <p:sp>
        <p:nvSpPr>
          <p:cNvPr id="89" name="" descr="{&quot;isTemplate&quot;:true,&quot;type&quot;:&quot;text&quot;}"/>
          <p:cNvSpPr txBox="1"/>
          <p:nvPr/>
        </p:nvSpPr>
        <p:spPr>
          <a:xfrm rot="0" flipH="0" flipV="0">
            <a:off x="7486650" y="2533650"/>
            <a:ext cx="3771900" cy="238125"/>
          </a:xfrm>
          <a:prstGeom prst="rect"/>
        </p:spPr>
        <p:txBody>
          <a:bodyPr wrap="none" lIns="0" tIns="0" rIns="0" bIns="0"/>
          <a:p>
            <a:pPr>
              <a:lnSpc>
                <a:spcPct val="145000"/>
              </a:lnSpc>
            </a:pPr>
            <a:r>
              <a:rPr lang="zh-CN" sz="1050">
                <a:solidFill>
                  <a:srgbClr val="546779"/>
                </a:solidFill>
                <a:latin typeface="Microsoft YaHei"/>
                <a:ea typeface="Microsoft YaHei"/>
              </a:rPr>
              <a:t>存在利益冲突，并承认自家基准也可能有错</a:t>
            </a:r>
            <a:endParaRPr/>
          </a:p>
        </p:txBody>
      </p:sp>
      <p:sp>
        <p:nvSpPr>
          <p:cNvPr id="90" name=""/>
          <p:cNvSpPr/>
          <p:nvPr/>
        </p:nvSpPr>
        <p:spPr>
          <a:xfrm rot="0" flipH="0" flipV="0">
            <a:off x="7353300" y="3019425"/>
            <a:ext cx="4038600" cy="676275"/>
          </a:xfrm>
          <a:prstGeom prst="roundRect">
            <a:avLst>
              <a:gd name="adj" fmla="val 11268"/>
            </a:avLst>
          </a:prstGeom>
          <a:solidFill>
            <a:srgbClr val="FFFFFF"/>
          </a:solidFill>
          <a:ln/>
        </p:spPr>
        <p:txBody>
          <a:bodyPr/>
          <a:p/>
        </p:txBody>
      </p:sp>
      <p:sp>
        <p:nvSpPr>
          <p:cNvPr id="91" name="" descr="{&quot;isTemplate&quot;:true,&quot;type&quot;:&quot;text&quot;}"/>
          <p:cNvSpPr txBox="1"/>
          <p:nvPr/>
        </p:nvSpPr>
        <p:spPr>
          <a:xfrm rot="0" flipH="0" flipV="0">
            <a:off x="7486650" y="3133725"/>
            <a:ext cx="3771900" cy="171450"/>
          </a:xfrm>
          <a:prstGeom prst="rect"/>
        </p:spPr>
        <p:txBody>
          <a:bodyPr wrap="none" lIns="0" tIns="0" rIns="0" bIns="0"/>
          <a:p>
            <a:pPr>
              <a:lnSpc>
                <a:spcPct val="100000"/>
              </a:lnSpc>
            </a:pPr>
            <a:r>
              <a:rPr lang="zh-CN" sz="1125" b="1">
                <a:solidFill>
                  <a:srgbClr val="20344B"/>
                </a:solidFill>
                <a:latin typeface="Microsoft YaHei"/>
                <a:ea typeface="Microsoft YaHei"/>
              </a:rPr>
              <a:t>一般不向厂商收费</a:t>
            </a:r>
            <a:endParaRPr/>
          </a:p>
        </p:txBody>
      </p:sp>
      <p:sp>
        <p:nvSpPr>
          <p:cNvPr id="92" name="" descr="{&quot;isTemplate&quot;:true,&quot;type&quot;:&quot;text&quot;}"/>
          <p:cNvSpPr txBox="1"/>
          <p:nvPr/>
        </p:nvSpPr>
        <p:spPr>
          <a:xfrm rot="0" flipH="0" flipV="0">
            <a:off x="7486650" y="3343275"/>
            <a:ext cx="3771900" cy="238125"/>
          </a:xfrm>
          <a:prstGeom prst="rect"/>
        </p:spPr>
        <p:txBody>
          <a:bodyPr wrap="none" lIns="0" tIns="0" rIns="0" bIns="0"/>
          <a:p>
            <a:pPr>
              <a:lnSpc>
                <a:spcPct val="145000"/>
              </a:lnSpc>
            </a:pPr>
            <a:r>
              <a:rPr lang="zh-CN" sz="1050">
                <a:solidFill>
                  <a:srgbClr val="546779"/>
                </a:solidFill>
                <a:latin typeface="Microsoft YaHei"/>
                <a:ea typeface="Microsoft YaHei"/>
              </a:rPr>
              <a:t>避免结论受买单方影响；若收费会明确标注</a:t>
            </a:r>
            <a:endParaRPr/>
          </a:p>
        </p:txBody>
      </p:sp>
      <p:sp>
        <p:nvSpPr>
          <p:cNvPr id="93" name=""/>
          <p:cNvSpPr/>
          <p:nvPr/>
        </p:nvSpPr>
        <p:spPr>
          <a:xfrm rot="0" flipH="0" flipV="0">
            <a:off x="7353300" y="3829050"/>
            <a:ext cx="4038600" cy="676275"/>
          </a:xfrm>
          <a:prstGeom prst="roundRect">
            <a:avLst>
              <a:gd name="adj" fmla="val 11268"/>
            </a:avLst>
          </a:prstGeom>
          <a:solidFill>
            <a:srgbClr val="FFFFFF"/>
          </a:solidFill>
          <a:ln/>
        </p:spPr>
        <p:txBody>
          <a:bodyPr/>
          <a:p/>
        </p:txBody>
      </p:sp>
      <p:sp>
        <p:nvSpPr>
          <p:cNvPr id="94" name="" descr="{&quot;isTemplate&quot;:true,&quot;type&quot;:&quot;text&quot;}"/>
          <p:cNvSpPr txBox="1"/>
          <p:nvPr/>
        </p:nvSpPr>
        <p:spPr>
          <a:xfrm rot="0" flipH="0" flipV="0">
            <a:off x="7486650" y="3943350"/>
            <a:ext cx="3771900" cy="171450"/>
          </a:xfrm>
          <a:prstGeom prst="rect"/>
        </p:spPr>
        <p:txBody>
          <a:bodyPr wrap="none" lIns="0" tIns="0" rIns="0" bIns="0"/>
          <a:p>
            <a:pPr>
              <a:lnSpc>
                <a:spcPct val="100000"/>
              </a:lnSpc>
            </a:pPr>
            <a:r>
              <a:rPr lang="zh-CN" sz="1125" b="1">
                <a:solidFill>
                  <a:srgbClr val="20344B"/>
                </a:solidFill>
                <a:latin typeface="Microsoft YaHei"/>
                <a:ea typeface="Microsoft YaHei"/>
              </a:rPr>
              <a:t>有问题</a:t>
            </a:r>
            <a:r>
              <a:rPr lang="en-US" sz="1125" b="1">
                <a:solidFill>
                  <a:srgbClr val="20344B"/>
                </a:solidFill>
                <a:latin typeface="Microsoft YaHei"/>
                <a:ea typeface="Microsoft YaHei"/>
              </a:rPr>
              <a:t xml:space="preserve"> ≠ </a:t>
            </a:r>
            <a:r>
              <a:rPr lang="zh-CN" sz="1125" b="1">
                <a:solidFill>
                  <a:srgbClr val="20344B"/>
                </a:solidFill>
                <a:latin typeface="Microsoft YaHei"/>
                <a:ea typeface="Microsoft YaHei"/>
              </a:rPr>
              <a:t>没用</a:t>
            </a:r>
            <a:endParaRPr/>
          </a:p>
        </p:txBody>
      </p:sp>
      <p:sp>
        <p:nvSpPr>
          <p:cNvPr id="95" name="" descr="{&quot;isTemplate&quot;:true,&quot;type&quot;:&quot;text&quot;}"/>
          <p:cNvSpPr txBox="1"/>
          <p:nvPr/>
        </p:nvSpPr>
        <p:spPr>
          <a:xfrm rot="0" flipH="0" flipV="0">
            <a:off x="7486650" y="4152900"/>
            <a:ext cx="3771900" cy="238125"/>
          </a:xfrm>
          <a:prstGeom prst="rect"/>
        </p:spPr>
        <p:txBody>
          <a:bodyPr wrap="none" lIns="0" tIns="0" rIns="0" bIns="0"/>
          <a:p>
            <a:pPr>
              <a:lnSpc>
                <a:spcPct val="145000"/>
              </a:lnSpc>
            </a:pPr>
            <a:r>
              <a:rPr lang="zh-CN" sz="1050">
                <a:solidFill>
                  <a:srgbClr val="546779"/>
                </a:solidFill>
                <a:latin typeface="Microsoft YaHei"/>
                <a:ea typeface="Microsoft YaHei"/>
              </a:rPr>
              <a:t>只是引用分数时必须同时说明已知的缺陷</a:t>
            </a:r>
            <a:endParaRPr/>
          </a:p>
        </p:txBody>
      </p:sp>
      <p:sp>
        <p:nvSpPr>
          <p:cNvPr id="96" name="" descr="{&quot;isTemplate&quot;:true,&quot;type&quot;:&quot;text&quot;}"/>
          <p:cNvSpPr txBox="1"/>
          <p:nvPr/>
        </p:nvSpPr>
        <p:spPr>
          <a:xfrm rot="0" flipH="0" flipV="0">
            <a:off x="7353300" y="5343525"/>
            <a:ext cx="4038600" cy="219075"/>
          </a:xfrm>
          <a:prstGeom prst="rect"/>
        </p:spPr>
        <p:txBody>
          <a:bodyPr wrap="none" lIns="0" tIns="0" rIns="0" bIns="0"/>
          <a:p>
            <a:pPr>
              <a:lnSpc>
                <a:spcPct val="145000"/>
              </a:lnSpc>
            </a:pPr>
            <a:r>
              <a:rPr lang="zh-CN" sz="975">
                <a:solidFill>
                  <a:srgbClr val="CB6B28"/>
                </a:solidFill>
                <a:latin typeface="Microsoft YaHei"/>
                <a:ea typeface="Microsoft YaHei"/>
              </a:rPr>
              <a:t>审计本身也有限度：它不重跑所有模型，也不替你判断业务适用性</a:t>
            </a:r>
            <a:endParaRPr/>
          </a:p>
        </p:txBody>
      </p:sp>
      <p:sp>
        <p:nvSpPr>
          <p:cNvPr id="97"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98"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11 / 36</a:t>
            </a:r>
            <a:endParaRPr/>
          </a:p>
        </p:txBody>
      </p:sp>
    </p:spTree>
  </p:cSld>
</p:sld>
</file>

<file path=ppt/slides/slide12.xml><?xml version="1.0" encoding="utf-8"?>
<p:sld xmlns:p="http://schemas.openxmlformats.org/presentationml/2006/main" xmlns:a="http://schemas.openxmlformats.org/drawingml/2006/main">
  <p:cSld>
    <p:spTree>
      <p:nvGrpSpPr>
        <p:cNvPr id="99" name="" descr="&lt;Slide notes={`机构之间会互相挑错，也会推翻自己之前的说法。&#10;&#10;第一个例子是退役。OpenAI 在 2026 年 2 月宣布不再报告 SWE-bench Verified 的成绩。理由是内部审计发现，这个基准的题目来自公开的 GitHub 仓库，而这些仓库和修复记录早就进了模型的训练数据，模型有时候不是解出来的，是背出来的。一个基准一旦能被背答案，就不再测量能力了。&#10;&#10;第二个例子是避嫌。Epoch AI 做基准审计，但明确不审自己做的基准，理由是利益冲突。&#10;&#10;第三个例子是改题。Epoch 审计 FrontierMath 第一版时发现四成以上的题目有错，于是在 2026 年六月发布修正后的第二版，删掉了若干有问题的题。&#10;&#10;这三种自我修正，说明这个领域在认真对待测量这件事。`}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②　1.4.2　评估机构：承认缺陷本身也是可信度的一部分&lt;/Text&gt;&#10;            &lt;Text style={{ fontSize: 34, fontWeight: 'bold', color: '#20344B' }}&gt;机构也会推翻自己&lt;/Text&gt;&#10;        &lt;/Box&gt;&#10;    &lt;/Box&gt;&#10;&#10;    &lt;Box style={{ height: 540, flexDirection: 'column', justifyContent: 'center', gap: 20 }}&gt;&#10;&#10;        &lt;Box style={{ flexDirection: 'row', gap: 16 }}&gt;&#10;&#10;            &lt;Box style={{ width: 373, height: 320, background: '#FFF4E6', borderRadius: 12, padding: '18px 20px', flexDirection: 'column', gap: 10 }}&gt;&#10;                &lt;Box style={{ width: 74, height: 28, background: '#CB6B28', borderRadius: 6, alignItems: 'center', justifyContent: 'center' }}&gt;&lt;Text style={{ fontSize: 14, color: '#FFFFFF' }}&gt;退役&lt;/Text&gt;&lt;/Box&gt;&#10;                &lt;Text style={{ fontSize: 19, fontWeight: 'bold', color: '#20344B', lineHeight: 1.35 }}&gt;SWE-bench Verified&lt;/Text&gt;&#10;                &lt;Text style={{ fontSize: 15, color: '#546779', lineHeight: 1.55 }}&gt;OpenAI 在 2026 年 2 月停止报告它的成绩：题目来自公开仓库，修复记录早已进入训练数据，模型可能在背答案。&lt;/Text&gt;&#10;                &lt;Box style={{ flex: 1 }} /&gt;&#10;                &lt;Text style={{ fontSize: 14, color: '#CB6B28' }}&gt;一个基准能被背答案，就不再测量能力&lt;/Text&gt;&#10;            &lt;/Box&gt;&#10;&#10;            &lt;Box style={{ width: 373, height: 320, background: '#F4F7FA', borderRadius: 12, padding: '18px 20px', flexDirection: 'column', gap: 10 }}&gt;&#10;                &lt;Box style={{ width: 74, height: 28, background: '#276FBF', borderRadius: 6, alignItems: 'center', justifyContent: 'center' }}&gt;&lt;Text style={{ fontSize: 14, color: '#FFFFFF' }}&gt;避嫌&lt;/Text&gt;&lt;/Box&gt;&#10;                &lt;Text style={{ fontSize: 19, fontWeight: 'bold', color: '#20344B', lineHeight: 1.35 }}&gt;不审自家基准&lt;/Text&gt;&#10;                &lt;Text style={{ fontSize: 15, color: '#546779', lineHeight: 1.55 }}&gt;Epoch AI 做基准审计，却明确把自己做的基准排除在外，理由是利益冲突，并承认自家基准也可能有错。&lt;/Text&gt;&#10;                &lt;Box style={{ flex: 1 }} /&gt;&#10;                &lt;Text style={{ fontSize: 14, color: '#276FBF' }}&gt;自己审自己，不算独立验证&lt;/Text&gt;&#10;            &lt;/Box&gt;&#10;&#10;            &lt;Box style={{ width: 373, height: 320, background: '#F4F7FA', borderRadius: 12, padding: '18px 20px', flexDirection: 'column', gap: 10 }}&gt;&#10;                &lt;Box style={{ width: 74, height: 28, background: '#276FBF', borderRadius: 6, alignItems: 'center', justifyContent: 'center' }}&gt;&lt;Text style={{ fontSize: 14, color: '#FFFFFF' }}&gt;改题&lt;/Text&gt;&lt;/Box&gt;&#10;                &lt;Text style={{ fontSize: 19, fontWeight: 'bold', color: '#20344B', lineHeight: 1.35 }}&gt;FrontierMath v2&lt;/Text&gt;&#10;                &lt;Text style={{ fontSize: 15, color: '#546779', lineHeight: 1.55 }}&gt;审计第一版时发现四成以上的题目有错，2026 年 6 月发布修正版，并删掉了若干有问题的题。&lt;/Text&gt;&#10;                &lt;Box style={{ flex: 1 }} /&gt;&#10;                &lt;Text style={{ fontSize: 14, color: '#276FBF' }}&gt;分数不可跨版本比较&lt;/Text&gt;&#10;            &lt;/Box&gt;&#10;&#10;        &lt;/Box&gt;&#10;&#10;        &lt;Box style={{ flexDirection: 'row', gap: 16, background: '#F7F3E8', borderRadius: 10, padding: '14px 22px', alignItems: 'center' }}&gt;&#10;            &lt;Box style={{ width: 4, height: 44, background: '#276FBF' }} /&gt;&#10;            &lt;Text style={{ fontSize: 16, color: '#546779', lineHeight: 1.55 }}&gt;愿意公开缺陷、修改题目、退出失效榜单，本身就是可信度的一部分——这比多拿几分更值得看&lt;/Text&gt;&#10;        &lt;/Box&gt;&#10;&#10;    &lt;/Box&gt;&#10;&#10;    &lt;Box style={{ height: 40, flexDirection: 'row', justifyContent: 'space-between', alignItems: 'center' }}&gt;&#10;        &lt;Text style={{ fontSize: 14, color: '#546779' }}&gt;1.4 从榜单到证据&lt;/Text&gt;&#10;        &lt;Text style={{ fontSize: 14, color: '#546779' }}&gt;12 / 36&lt;/Text&gt;&#10;    &lt;/Box&gt;&#10;&#10;&lt;/Slide&gt;&#10;"/>
        <p:cNvGrpSpPr/>
        <p:nvPr/>
      </p:nvGrpSpPr>
      <p:grpSpPr>
        <a:xfrm>
          <a:off x="0" y="0"/>
          <a:ext cx="0" cy="0"/>
          <a:chOff x="0" y="0"/>
          <a:chExt cx="0" cy="0"/>
        </a:xfrm>
      </p:grpSpPr>
      <p:sp>
        <p:nvSpPr>
          <p:cNvPr id="100" name=""/>
          <p:cNvSpPr/>
          <p:nvPr/>
        </p:nvSpPr>
        <p:spPr>
          <a:xfrm rot="0" flipH="0" flipV="0">
            <a:off x="0" y="0"/>
            <a:ext cx="12192000" cy="6858000"/>
          </a:xfrm>
          <a:prstGeom prst="rect">
            <a:avLst/>
          </a:prstGeom>
          <a:solidFill>
            <a:srgbClr val="FFFFFF"/>
          </a:solidFill>
          <a:ln/>
        </p:spPr>
        <p:txBody>
          <a:bodyPr/>
          <a:p/>
        </p:txBody>
      </p:sp>
      <p:sp>
        <p:nvSpPr>
          <p:cNvPr id="101" name=""/>
          <p:cNvSpPr/>
          <p:nvPr/>
        </p:nvSpPr>
        <p:spPr>
          <a:xfrm rot="0" flipH="0" flipV="0">
            <a:off x="609600" y="457200"/>
            <a:ext cx="38100" cy="419100"/>
          </a:xfrm>
          <a:prstGeom prst="rect">
            <a:avLst/>
          </a:prstGeom>
          <a:solidFill>
            <a:srgbClr val="276FBF"/>
          </a:solidFill>
          <a:ln/>
        </p:spPr>
        <p:txBody>
          <a:bodyPr/>
          <a:p/>
        </p:txBody>
      </p:sp>
      <p:sp>
        <p:nvSpPr>
          <p:cNvPr id="102" name="" descr="{&quot;isTemplate&quot;:true,&quot;type&quot;:&quot;text&quot;}"/>
          <p:cNvSpPr txBox="1"/>
          <p:nvPr/>
        </p:nvSpPr>
        <p:spPr>
          <a:xfrm rot="0" flipH="0" flipV="0">
            <a:off x="838200" y="371475"/>
            <a:ext cx="3371850" cy="161925"/>
          </a:xfrm>
          <a:prstGeom prst="rect"/>
        </p:spPr>
        <p:txBody>
          <a:bodyPr wrap="none" lIns="0" tIns="0" rIns="0" bIns="0"/>
          <a:p>
            <a:pPr>
              <a:lnSpc>
                <a:spcPct val="100000"/>
              </a:lnSpc>
            </a:pPr>
            <a:r>
              <a:rPr lang="zh-CN" sz="1050">
                <a:solidFill>
                  <a:srgbClr val="546779"/>
                </a:solidFill>
                <a:latin typeface="Microsoft YaHei"/>
                <a:ea typeface="Microsoft YaHei"/>
              </a:rPr>
              <a:t>②　</a:t>
            </a:r>
            <a:r>
              <a:rPr lang="en-US" sz="1050">
                <a:solidFill>
                  <a:srgbClr val="546779"/>
                </a:solidFill>
                <a:latin typeface="Microsoft YaHei"/>
                <a:ea typeface="Microsoft YaHei"/>
              </a:rPr>
              <a:t>1.4.2</a:t>
            </a:r>
            <a:r>
              <a:rPr lang="zh-CN" sz="1050">
                <a:solidFill>
                  <a:srgbClr val="546779"/>
                </a:solidFill>
                <a:latin typeface="Microsoft YaHei"/>
                <a:ea typeface="Microsoft YaHei"/>
              </a:rPr>
              <a:t>　评估机构：承认缺陷本身也是可信度的一部分</a:t>
            </a:r>
            <a:endParaRPr/>
          </a:p>
        </p:txBody>
      </p:sp>
      <p:sp>
        <p:nvSpPr>
          <p:cNvPr id="103" name="" descr="{&quot;isTemplate&quot;:true,&quot;type&quot;:&quot;text&quot;}"/>
          <p:cNvSpPr txBox="1"/>
          <p:nvPr/>
        </p:nvSpPr>
        <p:spPr>
          <a:xfrm rot="0" flipH="0" flipV="0">
            <a:off x="838200" y="571500"/>
            <a:ext cx="3371850" cy="390525"/>
          </a:xfrm>
          <a:prstGeom prst="rect"/>
        </p:spPr>
        <p:txBody>
          <a:bodyPr wrap="none" lIns="0" tIns="0" rIns="0" bIns="0"/>
          <a:p>
            <a:pPr>
              <a:lnSpc>
                <a:spcPct val="100000"/>
              </a:lnSpc>
            </a:pPr>
            <a:r>
              <a:rPr lang="zh-CN" sz="2550" b="1">
                <a:solidFill>
                  <a:srgbClr val="20344B"/>
                </a:solidFill>
                <a:latin typeface="Microsoft YaHei"/>
                <a:ea typeface="Microsoft YaHei"/>
              </a:rPr>
              <a:t>机构也会推翻自己</a:t>
            </a:r>
            <a:endParaRPr/>
          </a:p>
        </p:txBody>
      </p:sp>
      <p:sp>
        <p:nvSpPr>
          <p:cNvPr id="104" name=""/>
          <p:cNvSpPr/>
          <p:nvPr/>
        </p:nvSpPr>
        <p:spPr>
          <a:xfrm rot="0" flipH="0" flipV="0">
            <a:off x="609600" y="1752600"/>
            <a:ext cx="3552825" cy="3048000"/>
          </a:xfrm>
          <a:prstGeom prst="roundRect">
            <a:avLst>
              <a:gd name="adj" fmla="val 3750"/>
            </a:avLst>
          </a:prstGeom>
          <a:solidFill>
            <a:srgbClr val="FFF4E6"/>
          </a:solidFill>
          <a:ln/>
        </p:spPr>
        <p:txBody>
          <a:bodyPr/>
          <a:p/>
        </p:txBody>
      </p:sp>
      <p:sp>
        <p:nvSpPr>
          <p:cNvPr id="105" name=""/>
          <p:cNvSpPr/>
          <p:nvPr/>
        </p:nvSpPr>
        <p:spPr>
          <a:xfrm rot="0" flipH="0" flipV="0">
            <a:off x="800100" y="1924050"/>
            <a:ext cx="704850" cy="266700"/>
          </a:xfrm>
          <a:prstGeom prst="roundRect">
            <a:avLst>
              <a:gd name="adj" fmla="val 21429"/>
            </a:avLst>
          </a:prstGeom>
          <a:solidFill>
            <a:srgbClr val="CB6B28"/>
          </a:solidFill>
          <a:ln/>
        </p:spPr>
        <p:txBody>
          <a:bodyPr/>
          <a:p/>
        </p:txBody>
      </p:sp>
      <p:sp>
        <p:nvSpPr>
          <p:cNvPr id="106" name="" descr="{&quot;isTemplate&quot;:true,&quot;type&quot;:&quot;text&quot;}"/>
          <p:cNvSpPr txBox="1"/>
          <p:nvPr/>
        </p:nvSpPr>
        <p:spPr>
          <a:xfrm rot="0" flipH="0" flipV="0">
            <a:off x="1019175" y="1981200"/>
            <a:ext cx="266700" cy="161925"/>
          </a:xfrm>
          <a:prstGeom prst="rect"/>
        </p:spPr>
        <p:txBody>
          <a:bodyPr wrap="none" lIns="0" tIns="0" rIns="0" bIns="0"/>
          <a:p>
            <a:pPr>
              <a:lnSpc>
                <a:spcPct val="100000"/>
              </a:lnSpc>
            </a:pPr>
            <a:r>
              <a:rPr lang="zh-CN" sz="1050">
                <a:solidFill>
                  <a:srgbClr val="FFFFFF"/>
                </a:solidFill>
                <a:latin typeface="Microsoft YaHei"/>
                <a:ea typeface="Microsoft YaHei"/>
              </a:rPr>
              <a:t>退役</a:t>
            </a:r>
            <a:endParaRPr/>
          </a:p>
        </p:txBody>
      </p:sp>
      <p:sp>
        <p:nvSpPr>
          <p:cNvPr id="107" name="" descr="{&quot;isTemplate&quot;:true,&quot;type&quot;:&quot;text&quot;}"/>
          <p:cNvSpPr txBox="1"/>
          <p:nvPr/>
        </p:nvSpPr>
        <p:spPr>
          <a:xfrm rot="0" flipH="0" flipV="0">
            <a:off x="800100" y="2286000"/>
            <a:ext cx="3171825" cy="295275"/>
          </a:xfrm>
          <a:prstGeom prst="rect"/>
        </p:spPr>
        <p:txBody>
          <a:bodyPr wrap="none" lIns="0" tIns="0" rIns="0" bIns="0"/>
          <a:p>
            <a:pPr>
              <a:lnSpc>
                <a:spcPct val="135000"/>
              </a:lnSpc>
            </a:pPr>
            <a:r>
              <a:rPr lang="en-US" sz="1425" b="1">
                <a:solidFill>
                  <a:srgbClr val="20344B"/>
                </a:solidFill>
                <a:latin typeface="Microsoft YaHei"/>
                <a:ea typeface="Microsoft YaHei"/>
              </a:rPr>
              <a:t>SWE-bench Verified</a:t>
            </a:r>
            <a:endParaRPr/>
          </a:p>
        </p:txBody>
      </p:sp>
      <p:sp>
        <p:nvSpPr>
          <p:cNvPr id="108" name="" descr="{&quot;isTemplate&quot;:true,&quot;type&quot;:&quot;text&quot;}"/>
          <p:cNvSpPr txBox="1"/>
          <p:nvPr/>
        </p:nvSpPr>
        <p:spPr>
          <a:xfrm rot="0" flipH="0" flipV="0">
            <a:off x="800100" y="2676525"/>
            <a:ext cx="3171825" cy="800100"/>
          </a:xfrm>
          <a:prstGeom prst="rect"/>
        </p:spPr>
        <p:txBody>
          <a:bodyPr wrap="square" lIns="0" tIns="0" rIns="0" bIns="0">
            <a:normAutofit/>
          </a:bodyPr>
          <a:p>
            <a:pPr>
              <a:lnSpc>
                <a:spcPct val="155000"/>
              </a:lnSpc>
            </a:pPr>
            <a:r>
              <a:rPr lang="en-US" sz="1125">
                <a:solidFill>
                  <a:srgbClr val="546779"/>
                </a:solidFill>
                <a:latin typeface="Microsoft YaHei"/>
                <a:ea typeface="Microsoft YaHei"/>
              </a:rPr>
              <a:t xml:space="preserve">OpenAI </a:t>
            </a:r>
            <a:r>
              <a:rPr lang="zh-CN" sz="1125">
                <a:solidFill>
                  <a:srgbClr val="546779"/>
                </a:solidFill>
                <a:latin typeface="Microsoft YaHei"/>
                <a:ea typeface="Microsoft YaHei"/>
              </a:rPr>
              <a:t>在</a:t>
            </a:r>
            <a:r>
              <a:rPr lang="en-US" sz="1125">
                <a:solidFill>
                  <a:srgbClr val="546779"/>
                </a:solidFill>
                <a:latin typeface="Microsoft YaHei"/>
                <a:ea typeface="Microsoft YaHei"/>
              </a:rPr>
              <a:t xml:space="preserve"> 2026 </a:t>
            </a:r>
            <a:r>
              <a:rPr lang="zh-CN" sz="1125">
                <a:solidFill>
                  <a:srgbClr val="546779"/>
                </a:solidFill>
                <a:latin typeface="Microsoft YaHei"/>
                <a:ea typeface="Microsoft YaHei"/>
              </a:rPr>
              <a:t>年</a:t>
            </a:r>
            <a:r>
              <a:rPr lang="en-US" sz="1125">
                <a:solidFill>
                  <a:srgbClr val="546779"/>
                </a:solidFill>
                <a:latin typeface="Microsoft YaHei"/>
                <a:ea typeface="Microsoft YaHei"/>
              </a:rPr>
              <a:t xml:space="preserve"> 2 </a:t>
            </a:r>
            <a:r>
              <a:rPr lang="zh-CN" sz="1125">
                <a:solidFill>
                  <a:srgbClr val="546779"/>
                </a:solidFill>
                <a:latin typeface="Microsoft YaHei"/>
                <a:ea typeface="Microsoft YaHei"/>
              </a:rPr>
              <a:t>月停止报告它的成绩：题目来自公开仓库，修复记录早已进入训练数据，模型可能在背答案。</a:t>
            </a:r>
            <a:endParaRPr/>
          </a:p>
        </p:txBody>
      </p:sp>
      <p:sp>
        <p:nvSpPr>
          <p:cNvPr id="109" name="" descr="{&quot;isTemplate&quot;:true,&quot;type&quot;:&quot;text&quot;}"/>
          <p:cNvSpPr txBox="1"/>
          <p:nvPr/>
        </p:nvSpPr>
        <p:spPr>
          <a:xfrm rot="0" flipH="0" flipV="0">
            <a:off x="800100" y="4467225"/>
            <a:ext cx="3171825" cy="161925"/>
          </a:xfrm>
          <a:prstGeom prst="rect"/>
        </p:spPr>
        <p:txBody>
          <a:bodyPr wrap="none" lIns="0" tIns="0" rIns="0" bIns="0"/>
          <a:p>
            <a:pPr>
              <a:lnSpc>
                <a:spcPct val="100000"/>
              </a:lnSpc>
            </a:pPr>
            <a:r>
              <a:rPr lang="zh-CN" sz="1050">
                <a:solidFill>
                  <a:srgbClr val="CB6B28"/>
                </a:solidFill>
                <a:latin typeface="Microsoft YaHei"/>
                <a:ea typeface="Microsoft YaHei"/>
              </a:rPr>
              <a:t>一个基准能被背答案，就不再测量能力</a:t>
            </a:r>
            <a:endParaRPr/>
          </a:p>
        </p:txBody>
      </p:sp>
      <p:sp>
        <p:nvSpPr>
          <p:cNvPr id="110" name=""/>
          <p:cNvSpPr/>
          <p:nvPr/>
        </p:nvSpPr>
        <p:spPr>
          <a:xfrm rot="0" flipH="0" flipV="0">
            <a:off x="4314825" y="1752600"/>
            <a:ext cx="3552825" cy="3048000"/>
          </a:xfrm>
          <a:prstGeom prst="roundRect">
            <a:avLst>
              <a:gd name="adj" fmla="val 3750"/>
            </a:avLst>
          </a:prstGeom>
          <a:solidFill>
            <a:srgbClr val="F4F7FA"/>
          </a:solidFill>
          <a:ln/>
        </p:spPr>
        <p:txBody>
          <a:bodyPr/>
          <a:p/>
        </p:txBody>
      </p:sp>
      <p:sp>
        <p:nvSpPr>
          <p:cNvPr id="111" name=""/>
          <p:cNvSpPr/>
          <p:nvPr/>
        </p:nvSpPr>
        <p:spPr>
          <a:xfrm rot="0" flipH="0" flipV="0">
            <a:off x="4505325" y="1924050"/>
            <a:ext cx="704850" cy="266700"/>
          </a:xfrm>
          <a:prstGeom prst="roundRect">
            <a:avLst>
              <a:gd name="adj" fmla="val 21429"/>
            </a:avLst>
          </a:prstGeom>
          <a:solidFill>
            <a:srgbClr val="276FBF"/>
          </a:solidFill>
          <a:ln/>
        </p:spPr>
        <p:txBody>
          <a:bodyPr/>
          <a:p/>
        </p:txBody>
      </p:sp>
      <p:sp>
        <p:nvSpPr>
          <p:cNvPr id="112" name="" descr="{&quot;isTemplate&quot;:true,&quot;type&quot;:&quot;text&quot;}"/>
          <p:cNvSpPr txBox="1"/>
          <p:nvPr/>
        </p:nvSpPr>
        <p:spPr>
          <a:xfrm rot="0" flipH="0" flipV="0">
            <a:off x="4724400" y="1981200"/>
            <a:ext cx="266700" cy="161925"/>
          </a:xfrm>
          <a:prstGeom prst="rect"/>
        </p:spPr>
        <p:txBody>
          <a:bodyPr wrap="none" lIns="0" tIns="0" rIns="0" bIns="0"/>
          <a:p>
            <a:pPr>
              <a:lnSpc>
                <a:spcPct val="100000"/>
              </a:lnSpc>
            </a:pPr>
            <a:r>
              <a:rPr lang="zh-CN" sz="1050">
                <a:solidFill>
                  <a:srgbClr val="FFFFFF"/>
                </a:solidFill>
                <a:latin typeface="Microsoft YaHei"/>
                <a:ea typeface="Microsoft YaHei"/>
              </a:rPr>
              <a:t>避嫌</a:t>
            </a:r>
            <a:endParaRPr/>
          </a:p>
        </p:txBody>
      </p:sp>
      <p:sp>
        <p:nvSpPr>
          <p:cNvPr id="113" name="" descr="{&quot;isTemplate&quot;:true,&quot;type&quot;:&quot;text&quot;}"/>
          <p:cNvSpPr txBox="1"/>
          <p:nvPr/>
        </p:nvSpPr>
        <p:spPr>
          <a:xfrm rot="0" flipH="0" flipV="0">
            <a:off x="4505325" y="2286000"/>
            <a:ext cx="3171825" cy="295275"/>
          </a:xfrm>
          <a:prstGeom prst="rect"/>
        </p:spPr>
        <p:txBody>
          <a:bodyPr wrap="none" lIns="0" tIns="0" rIns="0" bIns="0"/>
          <a:p>
            <a:pPr>
              <a:lnSpc>
                <a:spcPct val="135000"/>
              </a:lnSpc>
            </a:pPr>
            <a:r>
              <a:rPr lang="zh-CN" sz="1425" b="1">
                <a:solidFill>
                  <a:srgbClr val="20344B"/>
                </a:solidFill>
                <a:latin typeface="Microsoft YaHei"/>
                <a:ea typeface="Microsoft YaHei"/>
              </a:rPr>
              <a:t>不审自家基准</a:t>
            </a:r>
            <a:endParaRPr/>
          </a:p>
        </p:txBody>
      </p:sp>
      <p:sp>
        <p:nvSpPr>
          <p:cNvPr id="114" name="" descr="{&quot;isTemplate&quot;:true,&quot;type&quot;:&quot;text&quot;}"/>
          <p:cNvSpPr txBox="1"/>
          <p:nvPr/>
        </p:nvSpPr>
        <p:spPr>
          <a:xfrm rot="0" flipH="0" flipV="0">
            <a:off x="4505325" y="2676525"/>
            <a:ext cx="3171825" cy="800100"/>
          </a:xfrm>
          <a:prstGeom prst="rect"/>
        </p:spPr>
        <p:txBody>
          <a:bodyPr wrap="square" lIns="0" tIns="0" rIns="0" bIns="0">
            <a:normAutofit/>
          </a:bodyPr>
          <a:p>
            <a:pPr>
              <a:lnSpc>
                <a:spcPct val="155000"/>
              </a:lnSpc>
            </a:pPr>
            <a:r>
              <a:rPr lang="en-US" sz="1125">
                <a:solidFill>
                  <a:srgbClr val="546779"/>
                </a:solidFill>
                <a:latin typeface="Microsoft YaHei"/>
                <a:ea typeface="Microsoft YaHei"/>
              </a:rPr>
              <a:t xml:space="preserve">Epoch AI </a:t>
            </a:r>
            <a:r>
              <a:rPr lang="zh-CN" sz="1125">
                <a:solidFill>
                  <a:srgbClr val="546779"/>
                </a:solidFill>
                <a:latin typeface="Microsoft YaHei"/>
                <a:ea typeface="Microsoft YaHei"/>
              </a:rPr>
              <a:t>做基准审计，却明确把自己做的基准排除在外，理由是利益冲突，并承认自家基准也可能有错。</a:t>
            </a:r>
            <a:endParaRPr/>
          </a:p>
        </p:txBody>
      </p:sp>
      <p:sp>
        <p:nvSpPr>
          <p:cNvPr id="115" name="" descr="{&quot;isTemplate&quot;:true,&quot;type&quot;:&quot;text&quot;}"/>
          <p:cNvSpPr txBox="1"/>
          <p:nvPr/>
        </p:nvSpPr>
        <p:spPr>
          <a:xfrm rot="0" flipH="0" flipV="0">
            <a:off x="4505325" y="4467225"/>
            <a:ext cx="3171825" cy="161925"/>
          </a:xfrm>
          <a:prstGeom prst="rect"/>
        </p:spPr>
        <p:txBody>
          <a:bodyPr wrap="none" lIns="0" tIns="0" rIns="0" bIns="0"/>
          <a:p>
            <a:pPr>
              <a:lnSpc>
                <a:spcPct val="100000"/>
              </a:lnSpc>
            </a:pPr>
            <a:r>
              <a:rPr lang="zh-CN" sz="1050">
                <a:solidFill>
                  <a:srgbClr val="276FBF"/>
                </a:solidFill>
                <a:latin typeface="Microsoft YaHei"/>
                <a:ea typeface="Microsoft YaHei"/>
              </a:rPr>
              <a:t>自己审自己，不算独立验证</a:t>
            </a:r>
            <a:endParaRPr/>
          </a:p>
        </p:txBody>
      </p:sp>
      <p:sp>
        <p:nvSpPr>
          <p:cNvPr id="116" name=""/>
          <p:cNvSpPr/>
          <p:nvPr/>
        </p:nvSpPr>
        <p:spPr>
          <a:xfrm rot="0" flipH="0" flipV="0">
            <a:off x="8020050" y="1752600"/>
            <a:ext cx="3552825" cy="3048000"/>
          </a:xfrm>
          <a:prstGeom prst="roundRect">
            <a:avLst>
              <a:gd name="adj" fmla="val 3750"/>
            </a:avLst>
          </a:prstGeom>
          <a:solidFill>
            <a:srgbClr val="F4F7FA"/>
          </a:solidFill>
          <a:ln/>
        </p:spPr>
        <p:txBody>
          <a:bodyPr/>
          <a:p/>
        </p:txBody>
      </p:sp>
      <p:sp>
        <p:nvSpPr>
          <p:cNvPr id="117" name=""/>
          <p:cNvSpPr/>
          <p:nvPr/>
        </p:nvSpPr>
        <p:spPr>
          <a:xfrm rot="0" flipH="0" flipV="0">
            <a:off x="8210550" y="1924050"/>
            <a:ext cx="704850" cy="266700"/>
          </a:xfrm>
          <a:prstGeom prst="roundRect">
            <a:avLst>
              <a:gd name="adj" fmla="val 21429"/>
            </a:avLst>
          </a:prstGeom>
          <a:solidFill>
            <a:srgbClr val="276FBF"/>
          </a:solidFill>
          <a:ln/>
        </p:spPr>
        <p:txBody>
          <a:bodyPr/>
          <a:p/>
        </p:txBody>
      </p:sp>
      <p:sp>
        <p:nvSpPr>
          <p:cNvPr id="118" name="" descr="{&quot;isTemplate&quot;:true,&quot;type&quot;:&quot;text&quot;}"/>
          <p:cNvSpPr txBox="1"/>
          <p:nvPr/>
        </p:nvSpPr>
        <p:spPr>
          <a:xfrm rot="0" flipH="0" flipV="0">
            <a:off x="8429625" y="1981200"/>
            <a:ext cx="266700" cy="161925"/>
          </a:xfrm>
          <a:prstGeom prst="rect"/>
        </p:spPr>
        <p:txBody>
          <a:bodyPr wrap="none" lIns="0" tIns="0" rIns="0" bIns="0"/>
          <a:p>
            <a:pPr>
              <a:lnSpc>
                <a:spcPct val="100000"/>
              </a:lnSpc>
            </a:pPr>
            <a:r>
              <a:rPr lang="zh-CN" sz="1050">
                <a:solidFill>
                  <a:srgbClr val="FFFFFF"/>
                </a:solidFill>
                <a:latin typeface="Microsoft YaHei"/>
                <a:ea typeface="Microsoft YaHei"/>
              </a:rPr>
              <a:t>改题</a:t>
            </a:r>
            <a:endParaRPr/>
          </a:p>
        </p:txBody>
      </p:sp>
      <p:sp>
        <p:nvSpPr>
          <p:cNvPr id="119" name="" descr="{&quot;isTemplate&quot;:true,&quot;type&quot;:&quot;text&quot;}"/>
          <p:cNvSpPr txBox="1"/>
          <p:nvPr/>
        </p:nvSpPr>
        <p:spPr>
          <a:xfrm rot="0" flipH="0" flipV="0">
            <a:off x="8210550" y="2286000"/>
            <a:ext cx="3171825" cy="295275"/>
          </a:xfrm>
          <a:prstGeom prst="rect"/>
        </p:spPr>
        <p:txBody>
          <a:bodyPr wrap="none" lIns="0" tIns="0" rIns="0" bIns="0"/>
          <a:p>
            <a:pPr>
              <a:lnSpc>
                <a:spcPct val="135000"/>
              </a:lnSpc>
            </a:pPr>
            <a:r>
              <a:rPr lang="en-US" sz="1425" b="1">
                <a:solidFill>
                  <a:srgbClr val="20344B"/>
                </a:solidFill>
                <a:latin typeface="Microsoft YaHei"/>
                <a:ea typeface="Microsoft YaHei"/>
              </a:rPr>
              <a:t>FrontierMath v2</a:t>
            </a:r>
            <a:endParaRPr/>
          </a:p>
        </p:txBody>
      </p:sp>
      <p:sp>
        <p:nvSpPr>
          <p:cNvPr id="120" name="" descr="{&quot;isTemplate&quot;:true,&quot;type&quot;:&quot;text&quot;}"/>
          <p:cNvSpPr txBox="1"/>
          <p:nvPr/>
        </p:nvSpPr>
        <p:spPr>
          <a:xfrm rot="0" flipH="0" flipV="0">
            <a:off x="8210550" y="2676525"/>
            <a:ext cx="3171825"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审计第一版时发现四成以上的题目有错，</a:t>
            </a:r>
            <a:r>
              <a:rPr lang="en-US" sz="1125">
                <a:solidFill>
                  <a:srgbClr val="546779"/>
                </a:solidFill>
                <a:latin typeface="Microsoft YaHei"/>
                <a:ea typeface="Microsoft YaHei"/>
              </a:rPr>
              <a:t xml:space="preserve">2026 </a:t>
            </a:r>
            <a:r>
              <a:rPr lang="zh-CN" sz="1125">
                <a:solidFill>
                  <a:srgbClr val="546779"/>
                </a:solidFill>
                <a:latin typeface="Microsoft YaHei"/>
                <a:ea typeface="Microsoft YaHei"/>
              </a:rPr>
              <a:t>年</a:t>
            </a:r>
            <a:r>
              <a:rPr lang="en-US" sz="1125">
                <a:solidFill>
                  <a:srgbClr val="546779"/>
                </a:solidFill>
                <a:latin typeface="Microsoft YaHei"/>
                <a:ea typeface="Microsoft YaHei"/>
              </a:rPr>
              <a:t xml:space="preserve"> 6 </a:t>
            </a:r>
            <a:r>
              <a:rPr lang="zh-CN" sz="1125">
                <a:solidFill>
                  <a:srgbClr val="546779"/>
                </a:solidFill>
                <a:latin typeface="Microsoft YaHei"/>
                <a:ea typeface="Microsoft YaHei"/>
              </a:rPr>
              <a:t>月发布修正版，并删掉了若干有问题的题。</a:t>
            </a:r>
            <a:endParaRPr/>
          </a:p>
        </p:txBody>
      </p:sp>
      <p:sp>
        <p:nvSpPr>
          <p:cNvPr id="121" name="" descr="{&quot;isTemplate&quot;:true,&quot;type&quot;:&quot;text&quot;}"/>
          <p:cNvSpPr txBox="1"/>
          <p:nvPr/>
        </p:nvSpPr>
        <p:spPr>
          <a:xfrm rot="0" flipH="0" flipV="0">
            <a:off x="8210550" y="4467225"/>
            <a:ext cx="3171825" cy="161925"/>
          </a:xfrm>
          <a:prstGeom prst="rect"/>
        </p:spPr>
        <p:txBody>
          <a:bodyPr wrap="none" lIns="0" tIns="0" rIns="0" bIns="0"/>
          <a:p>
            <a:pPr>
              <a:lnSpc>
                <a:spcPct val="100000"/>
              </a:lnSpc>
            </a:pPr>
            <a:r>
              <a:rPr lang="zh-CN" sz="1050">
                <a:solidFill>
                  <a:srgbClr val="276FBF"/>
                </a:solidFill>
                <a:latin typeface="Microsoft YaHei"/>
                <a:ea typeface="Microsoft YaHei"/>
              </a:rPr>
              <a:t>分数不可跨版本比较</a:t>
            </a:r>
            <a:endParaRPr/>
          </a:p>
        </p:txBody>
      </p:sp>
      <p:sp>
        <p:nvSpPr>
          <p:cNvPr id="122" name=""/>
          <p:cNvSpPr/>
          <p:nvPr/>
        </p:nvSpPr>
        <p:spPr>
          <a:xfrm rot="0" flipH="0" flipV="0">
            <a:off x="609600" y="4991100"/>
            <a:ext cx="10972800" cy="685800"/>
          </a:xfrm>
          <a:prstGeom prst="roundRect">
            <a:avLst>
              <a:gd name="adj" fmla="val 13889"/>
            </a:avLst>
          </a:prstGeom>
          <a:solidFill>
            <a:srgbClr val="F7F3E8"/>
          </a:solidFill>
          <a:ln/>
        </p:spPr>
        <p:txBody>
          <a:bodyPr/>
          <a:p/>
        </p:txBody>
      </p:sp>
      <p:sp>
        <p:nvSpPr>
          <p:cNvPr id="123" name=""/>
          <p:cNvSpPr/>
          <p:nvPr/>
        </p:nvSpPr>
        <p:spPr>
          <a:xfrm rot="0" flipH="0" flipV="0">
            <a:off x="819150" y="5124450"/>
            <a:ext cx="38100" cy="419100"/>
          </a:xfrm>
          <a:prstGeom prst="rect">
            <a:avLst/>
          </a:prstGeom>
          <a:solidFill>
            <a:srgbClr val="276FBF"/>
          </a:solidFill>
          <a:ln/>
        </p:spPr>
        <p:txBody>
          <a:bodyPr/>
          <a:p/>
        </p:txBody>
      </p:sp>
      <p:sp>
        <p:nvSpPr>
          <p:cNvPr id="124" name="" descr="{&quot;isTemplate&quot;:true,&quot;type&quot;:&quot;text&quot;}"/>
          <p:cNvSpPr txBox="1"/>
          <p:nvPr/>
        </p:nvSpPr>
        <p:spPr>
          <a:xfrm rot="0" flipH="0" flipV="0">
            <a:off x="1009650" y="5191125"/>
            <a:ext cx="6429375" cy="285750"/>
          </a:xfrm>
          <a:prstGeom prst="rect"/>
        </p:spPr>
        <p:txBody>
          <a:bodyPr wrap="none" lIns="0" tIns="0" rIns="0" bIns="0"/>
          <a:p>
            <a:pPr>
              <a:lnSpc>
                <a:spcPct val="155000"/>
              </a:lnSpc>
            </a:pPr>
            <a:r>
              <a:rPr lang="zh-CN" sz="1200">
                <a:solidFill>
                  <a:srgbClr val="546779"/>
                </a:solidFill>
                <a:latin typeface="Microsoft YaHei"/>
                <a:ea typeface="Microsoft YaHei"/>
              </a:rPr>
              <a:t>愿意公开缺陷、修改题目、退出失效榜单，本身就是可信度的一部分——这比多拿几分更值得看</a:t>
            </a:r>
            <a:endParaRPr/>
          </a:p>
        </p:txBody>
      </p:sp>
      <p:sp>
        <p:nvSpPr>
          <p:cNvPr id="125"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26"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12 / 36</a:t>
            </a:r>
            <a:endParaRPr/>
          </a:p>
        </p:txBody>
      </p:sp>
    </p:spTree>
  </p:cSld>
</p:sld>
</file>

<file path=ppt/slides/slide13.xml><?xml version="1.0" encoding="utf-8"?>
<p:sld xmlns:p="http://schemas.openxmlformats.org/presentationml/2006/main" xmlns:a="http://schemas.openxmlformats.org/drawingml/2006/main">
  <p:cSld>
    <p:spTree>
      <p:nvGrpSpPr>
        <p:cNvPr id="127" name="" descr="&lt;Slide notes={`读一套样本集，就像读一份考试大纲。我建议固定问五件事。&#10;&#10;第一，题量。一共多少题，这一条直接决定分数的精度。GPQA Diamond 只有 198 道题，那么一道题就值半个百分点，两个模型差一个百分点，可能只是两道题的差别，不能当成实力差距。&#10;&#10;第二，题型。是选择题、简答题，还是要求交一段能跑的代码；答案必须写成什么形式，也要看清。&#10;&#10;第三，领域分布。覆盖哪些学科，各占多少比例。如果四成都是数学，那这个总分的含义就要重新理解。&#10;&#10;第四，难度分层。有没有 Diamond、Verified、Tier 4 这样的子集，我们看的是哪一层。&#10;&#10;第五，版本更新。现在是第几版，有没有不公开的私有题集，多久更新一次。这五条问完，一个基准的轮廓就清楚了。`}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③　1.4.3　样本集：看一套题库先要问的五件事&lt;/Text&gt;&#10;            &lt;Text style={{ fontSize: 34, fontWeight: 'bold', color: '#20344B' }}&gt;样本集是考试大纲&lt;/Text&gt;&#10;        &lt;/Box&gt;&#10;    &lt;/Box&gt;&#10;&#10;    &lt;Box style={{ height: 540, flexDirection: 'column', justifyContent: 'center', gap: 12 }}&gt;&#10;&#10;        &lt;Box style={{ flexDirection: 'row', gap: 16 }}&gt;&#10;            &lt;Box style={{ width: 240, height: 98, background: '#EDF4FC', borderRadius: 10, padding: '14px 18px', alignItems: 'center', flexDirection: 'row' }}&gt;&#10;                &lt;Text style={{ fontSize: 18, fontWeight: 'bold', color: '#276FBF' }}&gt;题量&lt;/Text&gt;&#10;            &lt;/Box&gt;&#10;            &lt;Box style={{ width: 896, height: 98, background: '#F4F7FA', borderRadius: 10, padding: '14px 22px', alignItems: 'center', flexDirection: 'row' }}&gt;&#10;                &lt;Text style={{ fontSize: 15, color: '#546779', lineHeight: 1.55 }}&gt;一共多少题；一道题在这个分数上占多大分量，决定了分数的精度&lt;/Text&gt;&#10;            &lt;/Box&gt;&#10;        &lt;/Box&gt;&#10;&#10;        &lt;Box style={{ flexDirection: 'row', gap: 16 }}&gt;&#10;            &lt;Box style={{ width: 240, height: 98, background: '#EDF4FC', borderRadius: 10, padding: '14px 18px', alignItems: 'center', flexDirection: 'row' }}&gt;&#10;                &lt;Text style={{ fontSize: 18, fontWeight: 'bold', color: '#276FBF' }}&gt;题型&lt;/Text&gt;&#10;            &lt;/Box&gt;&#10;            &lt;Box style={{ width: 896, height: 98, background: '#F4F7FA', borderRadius: 10, padding: '14px 22px', alignItems: 'center', flexDirection: 'row' }}&gt;&#10;                &lt;Text style={{ fontSize: 15, color: '#546779', lineHeight: 1.55 }}&gt;选择题、简答题还是可执行任务；答案必须写成什么形式&lt;/Text&gt;&#10;            &lt;/Box&gt;&#10;        &lt;/Box&gt;&#10;&#10;        &lt;Box style={{ flexDirection: 'row', gap: 16 }}&gt;&#10;            &lt;Box style={{ width: 240, height: 98, background: '#F7F3E8', borderRadius: 10, padding: '14px 18px', alignItems: 'center', flexDirection: 'row' }}&gt;&#10;                &lt;Text style={{ fontSize: 18, fontWeight: 'bold', color: '#546779' }}&gt;领域分布&lt;/Text&gt;&#10;            &lt;/Box&gt;&#10;            &lt;Box style={{ width: 896, height: 98, background: '#F4F7FA', borderRadius: 10, padding: '14px 22px', alignItems: 'center', flexDirection: 'row' }}&gt;&#10;                &lt;Text style={{ fontSize: 15, color: '#546779', lineHeight: 1.55 }}&gt;覆盖哪些学科、各占多少比例；偏科的总分要重新理解&lt;/Text&gt;&#10;            &lt;/Box&gt;&#10;        &lt;/Box&gt;&#10;&#10;        &lt;Box style={{ flexDirection: 'row', gap: 16 }}&gt;&#10;            &lt;Box style={{ width: 240, height: 98, background: '#F7F3E8', borderRadius: 10, padding: '14px 18px', alignItems: 'center', flexDirection: 'row' }}&gt;&#10;                &lt;Text style={{ fontSize: 18, fontWeight: 'bold', color: '#546779' }}&gt;难度分层&lt;/Text&gt;&#10;            &lt;/Box&gt;&#10;            &lt;Box style={{ width: 896, height: 98, background: '#F4F7FA', borderRadius: 10, padding: '14px 22px', alignItems: 'center', flexDirection: 'row' }}&gt;&#10;                &lt;Text style={{ fontSize: 15, color: '#546779', lineHeight: 1.55 }}&gt;有没有 Diamond、Verified、Tier 4 这样的子集；我们看的是哪一层&lt;/Text&gt;&#10;            &lt;/Box&gt;&#10;        &lt;/Box&gt;&#10;&#10;        &lt;Box style={{ flexDirection: 'row', gap: 16 }}&gt;&#10;            &lt;Box style={{ width: 240, height: 98, background: '#ECF7F2', borderRadius: 10, padding: '14px 18px', alignItems: 'center', flexDirection: 'row' }}&gt;&#10;                &lt;Text style={{ fontSize: 18, fontWeight: 'bold', color: '#26816B' }}&gt;版本更新&lt;/Text&gt;&#10;            &lt;/Box&gt;&#10;            &lt;Box style={{ width: 896, height: 98, background: '#F4F7FA', borderRadius: 10, padding: '14px 22px', alignItems: 'center', flexDirection: 'row' }}&gt;&#10;                &lt;Text style={{ fontSize: 15, color: '#546779', lineHeight: 1.55 }}&gt;现在是第几版；有没有不公开的私有题集；多久更新一次&lt;/Text&gt;&#10;            &lt;/Box&gt;&#10;        &lt;/Box&gt;&#10;&#10;    &lt;/Box&gt;&#10;&#10;    &lt;Box style={{ height: 40, flexDirection: 'row', justifyContent: 'space-between', alignItems: 'center' }}&gt;&#10;        &lt;Text style={{ fontSize: 14, color: '#546779' }}&gt;1.4 从榜单到证据&lt;/Text&gt;&#10;        &lt;Text style={{ fontSize: 14, color: '#546779' }}&gt;13 / 36&lt;/Text&gt;&#10;    &lt;/Box&gt;&#10;&#10;&lt;/Slide&gt;&#10;"/>
        <p:cNvGrpSpPr/>
        <p:nvPr/>
      </p:nvGrpSpPr>
      <p:grpSpPr>
        <a:xfrm>
          <a:off x="0" y="0"/>
          <a:ext cx="0" cy="0"/>
          <a:chOff x="0" y="0"/>
          <a:chExt cx="0" cy="0"/>
        </a:xfrm>
      </p:grpSpPr>
      <p:sp>
        <p:nvSpPr>
          <p:cNvPr id="128" name=""/>
          <p:cNvSpPr/>
          <p:nvPr/>
        </p:nvSpPr>
        <p:spPr>
          <a:xfrm rot="0" flipH="0" flipV="0">
            <a:off x="0" y="0"/>
            <a:ext cx="12192000" cy="6858000"/>
          </a:xfrm>
          <a:prstGeom prst="rect">
            <a:avLst/>
          </a:prstGeom>
          <a:solidFill>
            <a:srgbClr val="FFFFFF"/>
          </a:solidFill>
          <a:ln/>
        </p:spPr>
        <p:txBody>
          <a:bodyPr/>
          <a:p/>
        </p:txBody>
      </p:sp>
      <p:sp>
        <p:nvSpPr>
          <p:cNvPr id="129" name=""/>
          <p:cNvSpPr/>
          <p:nvPr/>
        </p:nvSpPr>
        <p:spPr>
          <a:xfrm rot="0" flipH="0" flipV="0">
            <a:off x="609600" y="457200"/>
            <a:ext cx="38100" cy="419100"/>
          </a:xfrm>
          <a:prstGeom prst="rect">
            <a:avLst/>
          </a:prstGeom>
          <a:solidFill>
            <a:srgbClr val="276FBF"/>
          </a:solidFill>
          <a:ln/>
        </p:spPr>
        <p:txBody>
          <a:bodyPr/>
          <a:p/>
        </p:txBody>
      </p:sp>
      <p:sp>
        <p:nvSpPr>
          <p:cNvPr id="130" name="" descr="{&quot;isTemplate&quot;:true,&quot;type&quot;:&quot;text&quot;}"/>
          <p:cNvSpPr txBox="1"/>
          <p:nvPr/>
        </p:nvSpPr>
        <p:spPr>
          <a:xfrm rot="0" flipH="0" flipV="0">
            <a:off x="838200" y="371475"/>
            <a:ext cx="2838450" cy="161925"/>
          </a:xfrm>
          <a:prstGeom prst="rect"/>
        </p:spPr>
        <p:txBody>
          <a:bodyPr wrap="none" lIns="0" tIns="0" rIns="0" bIns="0"/>
          <a:p>
            <a:pPr>
              <a:lnSpc>
                <a:spcPct val="100000"/>
              </a:lnSpc>
            </a:pPr>
            <a:r>
              <a:rPr lang="zh-CN" sz="1050">
                <a:solidFill>
                  <a:srgbClr val="546779"/>
                </a:solidFill>
                <a:latin typeface="Microsoft YaHei"/>
                <a:ea typeface="Microsoft YaHei"/>
              </a:rPr>
              <a:t>③　</a:t>
            </a:r>
            <a:r>
              <a:rPr lang="en-US" sz="1050">
                <a:solidFill>
                  <a:srgbClr val="546779"/>
                </a:solidFill>
                <a:latin typeface="Microsoft YaHei"/>
                <a:ea typeface="Microsoft YaHei"/>
              </a:rPr>
              <a:t>1.4.3</a:t>
            </a:r>
            <a:r>
              <a:rPr lang="zh-CN" sz="1050">
                <a:solidFill>
                  <a:srgbClr val="546779"/>
                </a:solidFill>
                <a:latin typeface="Microsoft YaHei"/>
                <a:ea typeface="Microsoft YaHei"/>
              </a:rPr>
              <a:t>　样本集：看一套题库先要问的五件事</a:t>
            </a:r>
            <a:endParaRPr/>
          </a:p>
        </p:txBody>
      </p:sp>
      <p:sp>
        <p:nvSpPr>
          <p:cNvPr id="131" name="" descr="{&quot;isTemplate&quot;:true,&quot;type&quot;:&quot;text&quot;}"/>
          <p:cNvSpPr txBox="1"/>
          <p:nvPr/>
        </p:nvSpPr>
        <p:spPr>
          <a:xfrm rot="0" flipH="0" flipV="0">
            <a:off x="838200" y="571500"/>
            <a:ext cx="2838450" cy="390525"/>
          </a:xfrm>
          <a:prstGeom prst="rect"/>
        </p:spPr>
        <p:txBody>
          <a:bodyPr wrap="none" lIns="0" tIns="0" rIns="0" bIns="0"/>
          <a:p>
            <a:pPr>
              <a:lnSpc>
                <a:spcPct val="100000"/>
              </a:lnSpc>
            </a:pPr>
            <a:r>
              <a:rPr lang="zh-CN" sz="2550" b="1">
                <a:solidFill>
                  <a:srgbClr val="20344B"/>
                </a:solidFill>
                <a:latin typeface="Microsoft YaHei"/>
                <a:ea typeface="Microsoft YaHei"/>
              </a:rPr>
              <a:t>样本集是考试大纲</a:t>
            </a:r>
            <a:endParaRPr/>
          </a:p>
        </p:txBody>
      </p:sp>
      <p:sp>
        <p:nvSpPr>
          <p:cNvPr id="132" name=""/>
          <p:cNvSpPr/>
          <p:nvPr/>
        </p:nvSpPr>
        <p:spPr>
          <a:xfrm rot="0" flipH="0" flipV="0">
            <a:off x="609600" y="1152525"/>
            <a:ext cx="2286000" cy="933450"/>
          </a:xfrm>
          <a:prstGeom prst="roundRect">
            <a:avLst>
              <a:gd name="adj" fmla="val 10204"/>
            </a:avLst>
          </a:prstGeom>
          <a:solidFill>
            <a:srgbClr val="EDF4FC"/>
          </a:solidFill>
          <a:ln/>
        </p:spPr>
        <p:txBody>
          <a:bodyPr/>
          <a:p/>
        </p:txBody>
      </p:sp>
      <p:sp>
        <p:nvSpPr>
          <p:cNvPr id="133" name="" descr="{&quot;isTemplate&quot;:true,&quot;type&quot;:&quot;text&quot;}"/>
          <p:cNvSpPr txBox="1"/>
          <p:nvPr/>
        </p:nvSpPr>
        <p:spPr>
          <a:xfrm rot="0" flipH="0" flipV="0">
            <a:off x="781050" y="1514475"/>
            <a:ext cx="342900" cy="209550"/>
          </a:xfrm>
          <a:prstGeom prst="rect"/>
        </p:spPr>
        <p:txBody>
          <a:bodyPr wrap="none" lIns="0" tIns="0" rIns="0" bIns="0"/>
          <a:p>
            <a:pPr>
              <a:lnSpc>
                <a:spcPct val="100000"/>
              </a:lnSpc>
            </a:pPr>
            <a:r>
              <a:rPr lang="zh-CN" sz="1350" b="1">
                <a:solidFill>
                  <a:srgbClr val="276FBF"/>
                </a:solidFill>
                <a:latin typeface="Microsoft YaHei"/>
                <a:ea typeface="Microsoft YaHei"/>
              </a:rPr>
              <a:t>题量</a:t>
            </a:r>
            <a:endParaRPr/>
          </a:p>
        </p:txBody>
      </p:sp>
      <p:sp>
        <p:nvSpPr>
          <p:cNvPr id="134" name=""/>
          <p:cNvSpPr/>
          <p:nvPr/>
        </p:nvSpPr>
        <p:spPr>
          <a:xfrm rot="0" flipH="0" flipV="0">
            <a:off x="3048000" y="1152525"/>
            <a:ext cx="8534400" cy="933450"/>
          </a:xfrm>
          <a:prstGeom prst="roundRect">
            <a:avLst>
              <a:gd name="adj" fmla="val 10204"/>
            </a:avLst>
          </a:prstGeom>
          <a:solidFill>
            <a:srgbClr val="F4F7FA"/>
          </a:solidFill>
          <a:ln/>
        </p:spPr>
        <p:txBody>
          <a:bodyPr/>
          <a:p/>
        </p:txBody>
      </p:sp>
      <p:sp>
        <p:nvSpPr>
          <p:cNvPr id="135" name="" descr="{&quot;isTemplate&quot;:true,&quot;type&quot;:&quot;text&quot;}"/>
          <p:cNvSpPr txBox="1"/>
          <p:nvPr/>
        </p:nvSpPr>
        <p:spPr>
          <a:xfrm rot="0" flipH="0" flipV="0">
            <a:off x="3257550" y="1485900"/>
            <a:ext cx="4143375" cy="266700"/>
          </a:xfrm>
          <a:prstGeom prst="rect"/>
        </p:spPr>
        <p:txBody>
          <a:bodyPr wrap="none" lIns="0" tIns="0" rIns="0" bIns="0"/>
          <a:p>
            <a:pPr>
              <a:lnSpc>
                <a:spcPct val="155000"/>
              </a:lnSpc>
            </a:pPr>
            <a:r>
              <a:rPr lang="zh-CN" sz="1125">
                <a:solidFill>
                  <a:srgbClr val="546779"/>
                </a:solidFill>
                <a:latin typeface="Microsoft YaHei"/>
                <a:ea typeface="Microsoft YaHei"/>
              </a:rPr>
              <a:t>一共多少题；一道题在这个分数上占多大分量，决定了分数的精度</a:t>
            </a:r>
            <a:endParaRPr/>
          </a:p>
        </p:txBody>
      </p:sp>
      <p:sp>
        <p:nvSpPr>
          <p:cNvPr id="136" name=""/>
          <p:cNvSpPr/>
          <p:nvPr/>
        </p:nvSpPr>
        <p:spPr>
          <a:xfrm rot="0" flipH="0" flipV="0">
            <a:off x="609600" y="2200275"/>
            <a:ext cx="2286000" cy="933450"/>
          </a:xfrm>
          <a:prstGeom prst="roundRect">
            <a:avLst>
              <a:gd name="adj" fmla="val 10204"/>
            </a:avLst>
          </a:prstGeom>
          <a:solidFill>
            <a:srgbClr val="EDF4FC"/>
          </a:solidFill>
          <a:ln/>
        </p:spPr>
        <p:txBody>
          <a:bodyPr/>
          <a:p/>
        </p:txBody>
      </p:sp>
      <p:sp>
        <p:nvSpPr>
          <p:cNvPr id="137" name="" descr="{&quot;isTemplate&quot;:true,&quot;type&quot;:&quot;text&quot;}"/>
          <p:cNvSpPr txBox="1"/>
          <p:nvPr/>
        </p:nvSpPr>
        <p:spPr>
          <a:xfrm rot="0" flipH="0" flipV="0">
            <a:off x="781050" y="2562225"/>
            <a:ext cx="342900" cy="209550"/>
          </a:xfrm>
          <a:prstGeom prst="rect"/>
        </p:spPr>
        <p:txBody>
          <a:bodyPr wrap="none" lIns="0" tIns="0" rIns="0" bIns="0"/>
          <a:p>
            <a:pPr>
              <a:lnSpc>
                <a:spcPct val="100000"/>
              </a:lnSpc>
            </a:pPr>
            <a:r>
              <a:rPr lang="zh-CN" sz="1350" b="1">
                <a:solidFill>
                  <a:srgbClr val="276FBF"/>
                </a:solidFill>
                <a:latin typeface="Microsoft YaHei"/>
                <a:ea typeface="Microsoft YaHei"/>
              </a:rPr>
              <a:t>题型</a:t>
            </a:r>
            <a:endParaRPr/>
          </a:p>
        </p:txBody>
      </p:sp>
      <p:sp>
        <p:nvSpPr>
          <p:cNvPr id="138" name=""/>
          <p:cNvSpPr/>
          <p:nvPr/>
        </p:nvSpPr>
        <p:spPr>
          <a:xfrm rot="0" flipH="0" flipV="0">
            <a:off x="3048000" y="2200275"/>
            <a:ext cx="8534400" cy="933450"/>
          </a:xfrm>
          <a:prstGeom prst="roundRect">
            <a:avLst>
              <a:gd name="adj" fmla="val 10204"/>
            </a:avLst>
          </a:prstGeom>
          <a:solidFill>
            <a:srgbClr val="F4F7FA"/>
          </a:solidFill>
          <a:ln/>
        </p:spPr>
        <p:txBody>
          <a:bodyPr/>
          <a:p/>
        </p:txBody>
      </p:sp>
      <p:sp>
        <p:nvSpPr>
          <p:cNvPr id="139" name="" descr="{&quot;isTemplate&quot;:true,&quot;type&quot;:&quot;text&quot;}"/>
          <p:cNvSpPr txBox="1"/>
          <p:nvPr/>
        </p:nvSpPr>
        <p:spPr>
          <a:xfrm rot="0" flipH="0" flipV="0">
            <a:off x="3257550" y="2533650"/>
            <a:ext cx="3571875" cy="266700"/>
          </a:xfrm>
          <a:prstGeom prst="rect"/>
        </p:spPr>
        <p:txBody>
          <a:bodyPr wrap="none" lIns="0" tIns="0" rIns="0" bIns="0"/>
          <a:p>
            <a:pPr>
              <a:lnSpc>
                <a:spcPct val="155000"/>
              </a:lnSpc>
            </a:pPr>
            <a:r>
              <a:rPr lang="zh-CN" sz="1125">
                <a:solidFill>
                  <a:srgbClr val="546779"/>
                </a:solidFill>
                <a:latin typeface="Microsoft YaHei"/>
                <a:ea typeface="Microsoft YaHei"/>
              </a:rPr>
              <a:t>选择题、简答题还是可执行任务；答案必须写成什么形式</a:t>
            </a:r>
            <a:endParaRPr/>
          </a:p>
        </p:txBody>
      </p:sp>
      <p:sp>
        <p:nvSpPr>
          <p:cNvPr id="140" name=""/>
          <p:cNvSpPr/>
          <p:nvPr/>
        </p:nvSpPr>
        <p:spPr>
          <a:xfrm rot="0" flipH="0" flipV="0">
            <a:off x="609600" y="3248025"/>
            <a:ext cx="2286000" cy="933450"/>
          </a:xfrm>
          <a:prstGeom prst="roundRect">
            <a:avLst>
              <a:gd name="adj" fmla="val 10204"/>
            </a:avLst>
          </a:prstGeom>
          <a:solidFill>
            <a:srgbClr val="F7F3E8"/>
          </a:solidFill>
          <a:ln/>
        </p:spPr>
        <p:txBody>
          <a:bodyPr/>
          <a:p/>
        </p:txBody>
      </p:sp>
      <p:sp>
        <p:nvSpPr>
          <p:cNvPr id="141" name="" descr="{&quot;isTemplate&quot;:true,&quot;type&quot;:&quot;text&quot;}"/>
          <p:cNvSpPr txBox="1"/>
          <p:nvPr/>
        </p:nvSpPr>
        <p:spPr>
          <a:xfrm rot="0" flipH="0" flipV="0">
            <a:off x="781050" y="3609975"/>
            <a:ext cx="685800" cy="209550"/>
          </a:xfrm>
          <a:prstGeom prst="rect"/>
        </p:spPr>
        <p:txBody>
          <a:bodyPr wrap="none" lIns="0" tIns="0" rIns="0" bIns="0"/>
          <a:p>
            <a:pPr>
              <a:lnSpc>
                <a:spcPct val="100000"/>
              </a:lnSpc>
            </a:pPr>
            <a:r>
              <a:rPr lang="zh-CN" sz="1350" b="1">
                <a:solidFill>
                  <a:srgbClr val="546779"/>
                </a:solidFill>
                <a:latin typeface="Microsoft YaHei"/>
                <a:ea typeface="Microsoft YaHei"/>
              </a:rPr>
              <a:t>领域分布</a:t>
            </a:r>
            <a:endParaRPr/>
          </a:p>
        </p:txBody>
      </p:sp>
      <p:sp>
        <p:nvSpPr>
          <p:cNvPr id="142" name=""/>
          <p:cNvSpPr/>
          <p:nvPr/>
        </p:nvSpPr>
        <p:spPr>
          <a:xfrm rot="0" flipH="0" flipV="0">
            <a:off x="3048000" y="3248025"/>
            <a:ext cx="8534400" cy="933450"/>
          </a:xfrm>
          <a:prstGeom prst="roundRect">
            <a:avLst>
              <a:gd name="adj" fmla="val 10204"/>
            </a:avLst>
          </a:prstGeom>
          <a:solidFill>
            <a:srgbClr val="F4F7FA"/>
          </a:solidFill>
          <a:ln/>
        </p:spPr>
        <p:txBody>
          <a:bodyPr/>
          <a:p/>
        </p:txBody>
      </p:sp>
      <p:sp>
        <p:nvSpPr>
          <p:cNvPr id="143" name="" descr="{&quot;isTemplate&quot;:true,&quot;type&quot;:&quot;text&quot;}"/>
          <p:cNvSpPr txBox="1"/>
          <p:nvPr/>
        </p:nvSpPr>
        <p:spPr>
          <a:xfrm rot="0" flipH="0" flipV="0">
            <a:off x="3257550" y="3581400"/>
            <a:ext cx="3429000" cy="266700"/>
          </a:xfrm>
          <a:prstGeom prst="rect"/>
        </p:spPr>
        <p:txBody>
          <a:bodyPr wrap="none" lIns="0" tIns="0" rIns="0" bIns="0"/>
          <a:p>
            <a:pPr>
              <a:lnSpc>
                <a:spcPct val="155000"/>
              </a:lnSpc>
            </a:pPr>
            <a:r>
              <a:rPr lang="zh-CN" sz="1125">
                <a:solidFill>
                  <a:srgbClr val="546779"/>
                </a:solidFill>
                <a:latin typeface="Microsoft YaHei"/>
                <a:ea typeface="Microsoft YaHei"/>
              </a:rPr>
              <a:t>覆盖哪些学科、各占多少比例；偏科的总分要重新理解</a:t>
            </a:r>
            <a:endParaRPr/>
          </a:p>
        </p:txBody>
      </p:sp>
      <p:sp>
        <p:nvSpPr>
          <p:cNvPr id="144" name=""/>
          <p:cNvSpPr/>
          <p:nvPr/>
        </p:nvSpPr>
        <p:spPr>
          <a:xfrm rot="0" flipH="0" flipV="0">
            <a:off x="609600" y="4295775"/>
            <a:ext cx="2286000" cy="933450"/>
          </a:xfrm>
          <a:prstGeom prst="roundRect">
            <a:avLst>
              <a:gd name="adj" fmla="val 10204"/>
            </a:avLst>
          </a:prstGeom>
          <a:solidFill>
            <a:srgbClr val="F7F3E8"/>
          </a:solidFill>
          <a:ln/>
        </p:spPr>
        <p:txBody>
          <a:bodyPr/>
          <a:p/>
        </p:txBody>
      </p:sp>
      <p:sp>
        <p:nvSpPr>
          <p:cNvPr id="145" name="" descr="{&quot;isTemplate&quot;:true,&quot;type&quot;:&quot;text&quot;}"/>
          <p:cNvSpPr txBox="1"/>
          <p:nvPr/>
        </p:nvSpPr>
        <p:spPr>
          <a:xfrm rot="0" flipH="0" flipV="0">
            <a:off x="781050" y="4657725"/>
            <a:ext cx="685800" cy="209550"/>
          </a:xfrm>
          <a:prstGeom prst="rect"/>
        </p:spPr>
        <p:txBody>
          <a:bodyPr wrap="none" lIns="0" tIns="0" rIns="0" bIns="0"/>
          <a:p>
            <a:pPr>
              <a:lnSpc>
                <a:spcPct val="100000"/>
              </a:lnSpc>
            </a:pPr>
            <a:r>
              <a:rPr lang="zh-CN" sz="1350" b="1">
                <a:solidFill>
                  <a:srgbClr val="546779"/>
                </a:solidFill>
                <a:latin typeface="Microsoft YaHei"/>
                <a:ea typeface="Microsoft YaHei"/>
              </a:rPr>
              <a:t>难度分层</a:t>
            </a:r>
            <a:endParaRPr/>
          </a:p>
        </p:txBody>
      </p:sp>
      <p:sp>
        <p:nvSpPr>
          <p:cNvPr id="146" name=""/>
          <p:cNvSpPr/>
          <p:nvPr/>
        </p:nvSpPr>
        <p:spPr>
          <a:xfrm rot="0" flipH="0" flipV="0">
            <a:off x="3048000" y="4295775"/>
            <a:ext cx="8534400" cy="933450"/>
          </a:xfrm>
          <a:prstGeom prst="roundRect">
            <a:avLst>
              <a:gd name="adj" fmla="val 10204"/>
            </a:avLst>
          </a:prstGeom>
          <a:solidFill>
            <a:srgbClr val="F4F7FA"/>
          </a:solidFill>
          <a:ln/>
        </p:spPr>
        <p:txBody>
          <a:bodyPr/>
          <a:p/>
        </p:txBody>
      </p:sp>
      <p:sp>
        <p:nvSpPr>
          <p:cNvPr id="147" name="" descr="{&quot;isTemplate&quot;:true,&quot;type&quot;:&quot;text&quot;}"/>
          <p:cNvSpPr txBox="1"/>
          <p:nvPr/>
        </p:nvSpPr>
        <p:spPr>
          <a:xfrm rot="0" flipH="0" flipV="0">
            <a:off x="3257550" y="4629150"/>
            <a:ext cx="4333875" cy="266700"/>
          </a:xfrm>
          <a:prstGeom prst="rect"/>
        </p:spPr>
        <p:txBody>
          <a:bodyPr wrap="none" lIns="0" tIns="0" rIns="0" bIns="0"/>
          <a:p>
            <a:pPr>
              <a:lnSpc>
                <a:spcPct val="155000"/>
              </a:lnSpc>
            </a:pPr>
            <a:r>
              <a:rPr lang="zh-CN" sz="1125">
                <a:solidFill>
                  <a:srgbClr val="546779"/>
                </a:solidFill>
                <a:latin typeface="Microsoft YaHei"/>
                <a:ea typeface="Microsoft YaHei"/>
              </a:rPr>
              <a:t>有没有</a:t>
            </a:r>
            <a:r>
              <a:rPr lang="en-US" sz="1125">
                <a:solidFill>
                  <a:srgbClr val="546779"/>
                </a:solidFill>
                <a:latin typeface="Microsoft YaHei"/>
                <a:ea typeface="Microsoft YaHei"/>
              </a:rPr>
              <a:t xml:space="preserve"> Diamond</a:t>
            </a:r>
            <a:r>
              <a:rPr lang="zh-CN" sz="1125">
                <a:solidFill>
                  <a:srgbClr val="546779"/>
                </a:solidFill>
                <a:latin typeface="Microsoft YaHei"/>
                <a:ea typeface="Microsoft YaHei"/>
              </a:rPr>
              <a:t>、</a:t>
            </a:r>
            <a:r>
              <a:rPr lang="en-US" sz="1125">
                <a:solidFill>
                  <a:srgbClr val="546779"/>
                </a:solidFill>
                <a:latin typeface="Microsoft YaHei"/>
                <a:ea typeface="Microsoft YaHei"/>
              </a:rPr>
              <a:t>Verified</a:t>
            </a:r>
            <a:r>
              <a:rPr lang="zh-CN" sz="1125">
                <a:solidFill>
                  <a:srgbClr val="546779"/>
                </a:solidFill>
                <a:latin typeface="Microsoft YaHei"/>
                <a:ea typeface="Microsoft YaHei"/>
              </a:rPr>
              <a:t>、</a:t>
            </a:r>
            <a:r>
              <a:rPr lang="en-US" sz="1125">
                <a:solidFill>
                  <a:srgbClr val="546779"/>
                </a:solidFill>
                <a:latin typeface="Microsoft YaHei"/>
                <a:ea typeface="Microsoft YaHei"/>
              </a:rPr>
              <a:t xml:space="preserve">Tier 4 </a:t>
            </a:r>
            <a:r>
              <a:rPr lang="zh-CN" sz="1125">
                <a:solidFill>
                  <a:srgbClr val="546779"/>
                </a:solidFill>
                <a:latin typeface="Microsoft YaHei"/>
                <a:ea typeface="Microsoft YaHei"/>
              </a:rPr>
              <a:t>这样的子集；我们看的是哪一层</a:t>
            </a:r>
            <a:endParaRPr/>
          </a:p>
        </p:txBody>
      </p:sp>
      <p:sp>
        <p:nvSpPr>
          <p:cNvPr id="148" name=""/>
          <p:cNvSpPr/>
          <p:nvPr/>
        </p:nvSpPr>
        <p:spPr>
          <a:xfrm rot="0" flipH="0" flipV="0">
            <a:off x="609600" y="5343525"/>
            <a:ext cx="2286000" cy="933450"/>
          </a:xfrm>
          <a:prstGeom prst="roundRect">
            <a:avLst>
              <a:gd name="adj" fmla="val 10204"/>
            </a:avLst>
          </a:prstGeom>
          <a:solidFill>
            <a:srgbClr val="ECF7F2"/>
          </a:solidFill>
          <a:ln/>
        </p:spPr>
        <p:txBody>
          <a:bodyPr/>
          <a:p/>
        </p:txBody>
      </p:sp>
      <p:sp>
        <p:nvSpPr>
          <p:cNvPr id="149" name="" descr="{&quot;isTemplate&quot;:true,&quot;type&quot;:&quot;text&quot;}"/>
          <p:cNvSpPr txBox="1"/>
          <p:nvPr/>
        </p:nvSpPr>
        <p:spPr>
          <a:xfrm rot="0" flipH="0" flipV="0">
            <a:off x="781050" y="5705475"/>
            <a:ext cx="685800" cy="209550"/>
          </a:xfrm>
          <a:prstGeom prst="rect"/>
        </p:spPr>
        <p:txBody>
          <a:bodyPr wrap="none" lIns="0" tIns="0" rIns="0" bIns="0"/>
          <a:p>
            <a:pPr>
              <a:lnSpc>
                <a:spcPct val="100000"/>
              </a:lnSpc>
            </a:pPr>
            <a:r>
              <a:rPr lang="zh-CN" sz="1350" b="1">
                <a:solidFill>
                  <a:srgbClr val="26816B"/>
                </a:solidFill>
                <a:latin typeface="Microsoft YaHei"/>
                <a:ea typeface="Microsoft YaHei"/>
              </a:rPr>
              <a:t>版本更新</a:t>
            </a:r>
            <a:endParaRPr/>
          </a:p>
        </p:txBody>
      </p:sp>
      <p:sp>
        <p:nvSpPr>
          <p:cNvPr id="150" name=""/>
          <p:cNvSpPr/>
          <p:nvPr/>
        </p:nvSpPr>
        <p:spPr>
          <a:xfrm rot="0" flipH="0" flipV="0">
            <a:off x="3048000" y="5343525"/>
            <a:ext cx="8534400" cy="933450"/>
          </a:xfrm>
          <a:prstGeom prst="roundRect">
            <a:avLst>
              <a:gd name="adj" fmla="val 10204"/>
            </a:avLst>
          </a:prstGeom>
          <a:solidFill>
            <a:srgbClr val="F4F7FA"/>
          </a:solidFill>
          <a:ln/>
        </p:spPr>
        <p:txBody>
          <a:bodyPr/>
          <a:p/>
        </p:txBody>
      </p:sp>
      <p:sp>
        <p:nvSpPr>
          <p:cNvPr id="151" name="" descr="{&quot;isTemplate&quot;:true,&quot;type&quot;:&quot;text&quot;}"/>
          <p:cNvSpPr txBox="1"/>
          <p:nvPr/>
        </p:nvSpPr>
        <p:spPr>
          <a:xfrm rot="0" flipH="0" flipV="0">
            <a:off x="3257550" y="5676900"/>
            <a:ext cx="3571875" cy="266700"/>
          </a:xfrm>
          <a:prstGeom prst="rect"/>
        </p:spPr>
        <p:txBody>
          <a:bodyPr wrap="none" lIns="0" tIns="0" rIns="0" bIns="0"/>
          <a:p>
            <a:pPr>
              <a:lnSpc>
                <a:spcPct val="155000"/>
              </a:lnSpc>
            </a:pPr>
            <a:r>
              <a:rPr lang="zh-CN" sz="1125">
                <a:solidFill>
                  <a:srgbClr val="546779"/>
                </a:solidFill>
                <a:latin typeface="Microsoft YaHei"/>
                <a:ea typeface="Microsoft YaHei"/>
              </a:rPr>
              <a:t>现在是第几版；有没有不公开的私有题集；多久更新一次</a:t>
            </a:r>
            <a:endParaRPr/>
          </a:p>
        </p:txBody>
      </p:sp>
      <p:sp>
        <p:nvSpPr>
          <p:cNvPr id="152"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53"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13 / 36</a:t>
            </a:r>
            <a:endParaRPr/>
          </a:p>
        </p:txBody>
      </p:sp>
    </p:spTree>
  </p:cSld>
</p:sld>
</file>

<file path=ppt/slides/slide14.xml><?xml version="1.0" encoding="utf-8"?>
<p:sld xmlns:p="http://schemas.openxmlformats.org/presentationml/2006/main" xmlns:a="http://schemas.openxmlformats.org/drawingml/2006/main">
  <p:cSld>
    <p:spTree>
      <p:nvGrpSpPr>
        <p:cNvPr id="154" name="" descr="&lt;Slide notes={`我把六套常被引用的样本集放在一起对照。注意，这不是排行榜，而是看它们的题目构成有什么不同。&#10;&#10;HLE 两千五百题，专家级闭卷问答，覆盖一百多个学科，它还有一个更严格的子集叫 Diamond。&#10;&#10;GPQA Diamond 只有一百九十八题，全是生物、物理、化学的四选一，设计目标就是搜不到答案，领域专家在这个子集上大约八成。&#10;&#10;SWE-bench Verified 是五百道真实仓库的问题记录，让模型改代码、跑测试，但它在 2026 年 2 月被退役了。&#10;&#10;FrontierMath 第四层只有四十三道研究级数学题，而且是私有题集，2026 年 6 月还做过一次修正。&#10;&#10;ARC-AGI-2 是视觉格子推理题，每一道必须完全答对，没有部分分。&#10;&#10;MMLU-Pro 大约一万两千道，十选一的选择题，覆盖十四个学科。`}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③　1.4.3　样本集：六套常被引用的题库放在一起看&lt;/Text&gt;&#10;            &lt;Text style={{ fontSize: 34, fontWeight: 'bold', color: '#20344B' }}&gt;六套样本集总览&lt;/Text&gt;&#10;        &lt;/Box&gt;&#10;    &lt;/Box&gt;&#10;&#10;    &lt;Box style={{ height: 540, flexDirection: 'column', justifyContent: 'center', gap: 6 }}&gt;&#10;&#10;        &lt;Box style={{ flexDirection: 'row', gap: 8 }}&gt;&#10;            &lt;Box style={{ width: 248, height: 40, justifyContent: 'center', padding: '0 16px' }}&gt;&lt;Text style={{ fontSize: 14, color: '#546779' }}&gt;样本集&lt;/Text&gt;&lt;/Box&gt;&#10;            &lt;Box style={{ width: 196, height: 40, justifyContent: 'center', alignItems: 'center' }}&gt;&lt;Text style={{ fontSize: 14, color: '#546779' }}&gt;题量&lt;/Text&gt;&lt;/Box&gt;&#10;            &lt;Box style={{ width: 688, height: 40, justifyContent: 'center', padding: '0 18px' }}&gt;&lt;Text style={{ fontSize: 14, color: '#546779' }}&gt;题目构成与状态&lt;/Text&gt;&lt;/Box&gt;&#10;        &lt;/Box&gt;&#10;&#10;        &lt;Box style={{ flexDirection: 'row', gap: 8 }}&gt;&#10;            &lt;Box style={{ width: 248, height: 70, background: '#EDF4FC', borderRadius: 8, padding: '0 16px', alignItems: 'center', flexDirection: 'row' }}&gt;&#10;                &lt;Text style={{ fontSize: 17, fontWeight: 'bold', color: '#20344B' }}&gt;HLE&lt;/Text&gt;&#10;            &lt;/Box&gt;&#10;            &lt;Box style={{ width: 196, height: 70, background: '#F4F7FA', borderRadius: 8, alignItems: 'center', justifyContent: 'center', flexDirection: 'row' }}&gt;&#10;                &lt;Text style={{ fontSize: 17, fontWeight: 'bold', color: '#276FBF' }}&gt;2,500&lt;/Text&gt;&#10;            &lt;/Box&gt;&#10;            &lt;Box style={{ width: 688, height: 70, background: '#F4F7FA', borderRadius: 8, padding: '0 18px', alignItems: 'center', flexDirection: 'row' }}&gt;&#10;                &lt;Text style={{ fontSize: 14, color: '#546779', lineHeight: 1.45 }}&gt;专家级闭卷问答，覆盖 100 多个学科；24% 选择题，其余简答&lt;/Text&gt;&#10;            &lt;/Box&gt;&#10;        &lt;/Box&gt;&#10;&#10;        &lt;Box style={{ flexDirection: 'row', gap: 8 }}&gt;&#10;            &lt;Box style={{ width: 248, height: 70, background: '#EDF4FC', borderRadius: 8, padding: '0 16px', alignItems: 'center', flexDirection: 'row' }}&gt;&#10;                &lt;Text style={{ fontSize: 17, fontWeight: 'bold', color: '#20344B' }}&gt;GPQA Diamond&lt;/Text&gt;&#10;            &lt;/Box&gt;&#10;            &lt;Box style={{ width: 196, height: 70, background: '#F4F7FA', borderRadius: 8, alignItems: 'center', justifyContent: 'center', flexDirection: 'row' }}&gt;&#10;                &lt;Text style={{ fontSize: 17, fontWeight: 'bold', color: '#276FBF' }}&gt;198&lt;/Text&gt;&#10;            &lt;/Box&gt;&#10;            &lt;Box style={{ width: 688, height: 70, background: '#F4F7FA', borderRadius: 8, padding: '0 18px', alignItems: 'center', flexDirection: 'row' }}&gt;&#10;                &lt;Text style={{ fontSize: 14, color: '#546779', lineHeight: 1.45 }}&gt;生／物／化四选一，设计目标就是联网搜不到；专家约 81%&lt;/Text&gt;&#10;            &lt;/Box&gt;&#10;        &lt;/Box&gt;&#10;&#10;        &lt;Box style={{ flexDirection: 'row', gap: 8 }}&gt;&#10;            &lt;Box style={{ width: 248, height: 70, background: '#FFF4E6', borderRadius: 8, padding: '0 16px', alignItems: 'center', flexDirection: 'row' }}&gt;&#10;                &lt;Text style={{ fontSize: 17, fontWeight: 'bold', color: '#CB6B28' }}&gt;SWE-bench Verified&lt;/Text&gt;&#10;            &lt;/Box&gt;&#10;            &lt;Box style={{ width: 196, height: 70, background: '#F4F7FA', borderRadius: 8, alignItems: 'center', justifyContent: 'center', flexDirection: 'row' }}&gt;&#10;                &lt;Text style={{ fontSize: 17, fontWeight: 'bold', color: '#CB6B28' }}&gt;500&lt;/Text&gt;&#10;            &lt;/Box&gt;&#10;            &lt;Box style={{ width: 688, height: 70, background: '#F4F7FA', borderRadius: 8, padding: '0 18px', alignItems: 'center', flexDirection: 'row' }}&gt;&#10;                &lt;Text style={{ fontSize: 14, color: '#546779', lineHeight: 1.45 }}&gt;真实仓库问题记录，改代码并跑测试；2026 年 2 月退役&lt;/Text&gt;&#10;            &lt;/Box&gt;&#10;        &lt;/Box&gt;&#10;&#10;        &lt;Box style={{ flexDirection: 'row', gap: 8 }}&gt;&#10;            &lt;Box style={{ width: 248, height: 70, background: '#F7F3E8', borderRadius: 8, padding: '0 16px', alignItems: 'center', flexDirection: 'row' }}&gt;&#10;                &lt;Text style={{ fontSize: 17, fontWeight: 'bold', color: '#20344B' }}&gt;FrontierMath Tier 4&lt;/Text&gt;&#10;            &lt;/Box&gt;&#10;            &lt;Box style={{ width: 196, height: 70, background: '#F4F7FA', borderRadius: 8, alignItems: 'center', justifyContent: 'center', flexDirection: 'row' }}&gt;&#10;                &lt;Text style={{ fontSize: 17, fontWeight: 'bold', color: '#546779' }}&gt;43&lt;/Text&gt;&#10;            &lt;/Box&gt;&#10;            &lt;Box style={{ width: 688, height: 70, background: '#F4F7FA', borderRadius: 8, padding: '0 18px', alignItems: 'center', flexDirection: 'row' }}&gt;&#10;                &lt;Text style={{ fontSize: 14, color: '#546779', lineHeight: 1.45 }}&gt;研究级数学，私有题集；v2 于 2026 年 6 月修正&lt;/Text&gt;&#10;            &lt;/Box&gt;&#10;        &lt;/Box&gt;&#10;&#10;        &lt;Box style={{ flexDirection: 'row', gap: 8 }}&gt;&#10;            &lt;Box style={{ width: 248, height: 70, background: '#ECF7F2', borderRadius: 8, padding: '0 16px', alignItems: 'center', flexDirection: 'row' }}&gt;&#10;                &lt;Text style={{ fontSize: 17, fontWeight: 'bold', color: '#20344B' }}&gt;ARC-AGI-2&lt;/Text&gt;&#10;            &lt;/Box&gt;&#10;            &lt;Box style={{ width: 196, height: 70, background: '#F4F7FA', borderRadius: 8, alignItems: 'center', justifyContent: 'center', flexDirection: 'row' }}&gt;&#10;                &lt;Text style={{ fontSize: 17, fontWeight: 'bold', color: '#26816B' }}&gt;数百&lt;/Text&gt;&#10;            &lt;/Box&gt;&#10;            &lt;Box style={{ width: 688, height: 70, background: '#F4F7FA', borderRadius: 8, padding: '0 18px', alignItems: 'center', flexDirection: 'row' }}&gt;&#10;                &lt;Text style={{ fontSize: 14, color: '#546779', lineHeight: 1.45 }}&gt;视觉格子推理，全靠现场推规则；每格必须对齐，无部分分&lt;/Text&gt;&#10;            &lt;/Box&gt;&#10;        &lt;/Box&gt;&#10;&#10;        &lt;Box style={{ flexDirection: 'row', gap: 8 }}&gt;&#10;            &lt;Box style={{ width: 248, height: 70, background: '#ECF7F2', borderRadius: 8, padding: '0 16px', alignItems: 'center', flexDirection: 'row' }}&gt;&#10;                &lt;Text style={{ fontSize: 17, fontWeight: 'bold', color: '#20344B' }}&gt;MMLU-Pro&lt;/Text&gt;&#10;            &lt;/Box&gt;&#10;            &lt;Box style={{ width: 196, height: 70, background: '#F4F7FA', borderRadius: 8, alignItems: 'center', justifyContent: 'center', flexDirection: 'row' }}&gt;&#10;                &lt;Text style={{ fontSize: 17, fontWeight: 'bold', color: '#26816B' }}&gt;约 1.2 万&lt;/Text&gt;&#10;            &lt;/Box&gt;&#10;            &lt;Box style={{ width: 688, height: 70, background: '#F4F7FA', borderRadius: 8, padding: '0 18px', alignItems: 'center', flexDirection: 'row' }}&gt;&#10;                &lt;Text style={{ fontSize: 14, color: '#546779', lineHeight: 1.45 }}&gt;十选一的多学科选择题，覆盖 14 个学科；选项多降低蒙对概率&lt;/Text&gt;&#10;            &lt;/Box&gt;&#10;        &lt;/Box&gt;&#10;&#10;    &lt;/Box&gt;&#10;&#10;    &lt;Box style={{ height: 40, flexDirection: 'row', justifyContent: 'space-between', alignItems: 'center' }}&gt;&#10;        &lt;Text style={{ fontSize: 14, color: '#546779' }}&gt;1.4 从榜单到证据&lt;/Text&gt;&#10;        &lt;Text style={{ fontSize: 14, color: '#546779' }}&gt;14 / 36&lt;/Text&gt;&#10;    &lt;/Box&gt;&#10;&#10;&lt;/Slide&gt;&#10;"/>
        <p:cNvGrpSpPr/>
        <p:nvPr/>
      </p:nvGrpSpPr>
      <p:grpSpPr>
        <a:xfrm>
          <a:off x="0" y="0"/>
          <a:ext cx="0" cy="0"/>
          <a:chOff x="0" y="0"/>
          <a:chExt cx="0" cy="0"/>
        </a:xfrm>
      </p:grpSpPr>
      <p:sp>
        <p:nvSpPr>
          <p:cNvPr id="155" name=""/>
          <p:cNvSpPr/>
          <p:nvPr/>
        </p:nvSpPr>
        <p:spPr>
          <a:xfrm rot="0" flipH="0" flipV="0">
            <a:off x="0" y="0"/>
            <a:ext cx="12192000" cy="6858000"/>
          </a:xfrm>
          <a:prstGeom prst="rect">
            <a:avLst/>
          </a:prstGeom>
          <a:solidFill>
            <a:srgbClr val="FFFFFF"/>
          </a:solidFill>
          <a:ln/>
        </p:spPr>
        <p:txBody>
          <a:bodyPr/>
          <a:p/>
        </p:txBody>
      </p:sp>
      <p:sp>
        <p:nvSpPr>
          <p:cNvPr id="156" name=""/>
          <p:cNvSpPr/>
          <p:nvPr/>
        </p:nvSpPr>
        <p:spPr>
          <a:xfrm rot="0" flipH="0" flipV="0">
            <a:off x="609600" y="457200"/>
            <a:ext cx="38100" cy="419100"/>
          </a:xfrm>
          <a:prstGeom prst="rect">
            <a:avLst/>
          </a:prstGeom>
          <a:solidFill>
            <a:srgbClr val="276FBF"/>
          </a:solidFill>
          <a:ln/>
        </p:spPr>
        <p:txBody>
          <a:bodyPr/>
          <a:p/>
        </p:txBody>
      </p:sp>
      <p:sp>
        <p:nvSpPr>
          <p:cNvPr id="157" name="" descr="{&quot;isTemplate&quot;:true,&quot;type&quot;:&quot;text&quot;}"/>
          <p:cNvSpPr txBox="1"/>
          <p:nvPr/>
        </p:nvSpPr>
        <p:spPr>
          <a:xfrm rot="0" flipH="0" flipV="0">
            <a:off x="838200" y="371475"/>
            <a:ext cx="3105150" cy="161925"/>
          </a:xfrm>
          <a:prstGeom prst="rect"/>
        </p:spPr>
        <p:txBody>
          <a:bodyPr wrap="none" lIns="0" tIns="0" rIns="0" bIns="0"/>
          <a:p>
            <a:pPr>
              <a:lnSpc>
                <a:spcPct val="100000"/>
              </a:lnSpc>
            </a:pPr>
            <a:r>
              <a:rPr lang="zh-CN" sz="1050">
                <a:solidFill>
                  <a:srgbClr val="546779"/>
                </a:solidFill>
                <a:latin typeface="Microsoft YaHei"/>
                <a:ea typeface="Microsoft YaHei"/>
              </a:rPr>
              <a:t>③　</a:t>
            </a:r>
            <a:r>
              <a:rPr lang="en-US" sz="1050">
                <a:solidFill>
                  <a:srgbClr val="546779"/>
                </a:solidFill>
                <a:latin typeface="Microsoft YaHei"/>
                <a:ea typeface="Microsoft YaHei"/>
              </a:rPr>
              <a:t>1.4.3</a:t>
            </a:r>
            <a:r>
              <a:rPr lang="zh-CN" sz="1050">
                <a:solidFill>
                  <a:srgbClr val="546779"/>
                </a:solidFill>
                <a:latin typeface="Microsoft YaHei"/>
                <a:ea typeface="Microsoft YaHei"/>
              </a:rPr>
              <a:t>　样本集：六套常被引用的题库放在一起看</a:t>
            </a:r>
            <a:endParaRPr/>
          </a:p>
        </p:txBody>
      </p:sp>
      <p:sp>
        <p:nvSpPr>
          <p:cNvPr id="158" name="" descr="{&quot;isTemplate&quot;:true,&quot;type&quot;:&quot;text&quot;}"/>
          <p:cNvSpPr txBox="1"/>
          <p:nvPr/>
        </p:nvSpPr>
        <p:spPr>
          <a:xfrm rot="0" flipH="0" flipV="0">
            <a:off x="838200" y="571500"/>
            <a:ext cx="3105150" cy="390525"/>
          </a:xfrm>
          <a:prstGeom prst="rect"/>
        </p:spPr>
        <p:txBody>
          <a:bodyPr wrap="none" lIns="0" tIns="0" rIns="0" bIns="0"/>
          <a:p>
            <a:pPr>
              <a:lnSpc>
                <a:spcPct val="100000"/>
              </a:lnSpc>
            </a:pPr>
            <a:r>
              <a:rPr lang="zh-CN" sz="2550" b="1">
                <a:solidFill>
                  <a:srgbClr val="20344B"/>
                </a:solidFill>
                <a:latin typeface="Microsoft YaHei"/>
                <a:ea typeface="Microsoft YaHei"/>
              </a:rPr>
              <a:t>六套样本集总览</a:t>
            </a:r>
            <a:endParaRPr/>
          </a:p>
        </p:txBody>
      </p:sp>
      <p:sp>
        <p:nvSpPr>
          <p:cNvPr id="159" name="" descr="{&quot;isTemplate&quot;:true,&quot;type&quot;:&quot;text&quot;}"/>
          <p:cNvSpPr txBox="1"/>
          <p:nvPr/>
        </p:nvSpPr>
        <p:spPr>
          <a:xfrm rot="0" flipH="0" flipV="0">
            <a:off x="762000" y="1466850"/>
            <a:ext cx="2057400" cy="161925"/>
          </a:xfrm>
          <a:prstGeom prst="rect"/>
        </p:spPr>
        <p:txBody>
          <a:bodyPr wrap="none" lIns="0" tIns="0" rIns="0" bIns="0"/>
          <a:p>
            <a:pPr>
              <a:lnSpc>
                <a:spcPct val="100000"/>
              </a:lnSpc>
            </a:pPr>
            <a:r>
              <a:rPr lang="zh-CN" sz="1050">
                <a:solidFill>
                  <a:srgbClr val="546779"/>
                </a:solidFill>
                <a:latin typeface="Microsoft YaHei"/>
                <a:ea typeface="Microsoft YaHei"/>
              </a:rPr>
              <a:t>样本集</a:t>
            </a:r>
            <a:endParaRPr/>
          </a:p>
        </p:txBody>
      </p:sp>
      <p:sp>
        <p:nvSpPr>
          <p:cNvPr id="160" name="" descr="{&quot;isTemplate&quot;:true,&quot;type&quot;:&quot;text&quot;}"/>
          <p:cNvSpPr txBox="1"/>
          <p:nvPr/>
        </p:nvSpPr>
        <p:spPr>
          <a:xfrm rot="0" flipH="0" flipV="0">
            <a:off x="3848100" y="1466850"/>
            <a:ext cx="266700" cy="161925"/>
          </a:xfrm>
          <a:prstGeom prst="rect"/>
        </p:spPr>
        <p:txBody>
          <a:bodyPr wrap="none" lIns="0" tIns="0" rIns="0" bIns="0"/>
          <a:p>
            <a:pPr>
              <a:lnSpc>
                <a:spcPct val="100000"/>
              </a:lnSpc>
            </a:pPr>
            <a:r>
              <a:rPr lang="zh-CN" sz="1050">
                <a:solidFill>
                  <a:srgbClr val="546779"/>
                </a:solidFill>
                <a:latin typeface="Microsoft YaHei"/>
                <a:ea typeface="Microsoft YaHei"/>
              </a:rPr>
              <a:t>题量</a:t>
            </a:r>
            <a:endParaRPr/>
          </a:p>
        </p:txBody>
      </p:sp>
      <p:sp>
        <p:nvSpPr>
          <p:cNvPr id="161" name="" descr="{&quot;isTemplate&quot;:true,&quot;type&quot;:&quot;text&quot;}"/>
          <p:cNvSpPr txBox="1"/>
          <p:nvPr/>
        </p:nvSpPr>
        <p:spPr>
          <a:xfrm rot="0" flipH="0" flipV="0">
            <a:off x="5162550" y="1466850"/>
            <a:ext cx="6210300" cy="161925"/>
          </a:xfrm>
          <a:prstGeom prst="rect"/>
        </p:spPr>
        <p:txBody>
          <a:bodyPr wrap="none" lIns="0" tIns="0" rIns="0" bIns="0"/>
          <a:p>
            <a:pPr>
              <a:lnSpc>
                <a:spcPct val="100000"/>
              </a:lnSpc>
            </a:pPr>
            <a:r>
              <a:rPr lang="zh-CN" sz="1050">
                <a:solidFill>
                  <a:srgbClr val="546779"/>
                </a:solidFill>
                <a:latin typeface="Microsoft YaHei"/>
                <a:ea typeface="Microsoft YaHei"/>
              </a:rPr>
              <a:t>题目构成与状态</a:t>
            </a:r>
            <a:endParaRPr/>
          </a:p>
        </p:txBody>
      </p:sp>
      <p:sp>
        <p:nvSpPr>
          <p:cNvPr id="162" name=""/>
          <p:cNvSpPr/>
          <p:nvPr/>
        </p:nvSpPr>
        <p:spPr>
          <a:xfrm rot="0" flipH="0" flipV="0">
            <a:off x="609600" y="1790700"/>
            <a:ext cx="2362200" cy="666750"/>
          </a:xfrm>
          <a:prstGeom prst="roundRect">
            <a:avLst>
              <a:gd name="adj" fmla="val 11429"/>
            </a:avLst>
          </a:prstGeom>
          <a:solidFill>
            <a:srgbClr val="EDF4FC"/>
          </a:solidFill>
          <a:ln/>
        </p:spPr>
        <p:txBody>
          <a:bodyPr/>
          <a:p/>
        </p:txBody>
      </p:sp>
      <p:sp>
        <p:nvSpPr>
          <p:cNvPr id="163" name="" descr="{&quot;isTemplate&quot;:true,&quot;type&quot;:&quot;text&quot;}"/>
          <p:cNvSpPr txBox="1"/>
          <p:nvPr/>
        </p:nvSpPr>
        <p:spPr>
          <a:xfrm rot="0" flipH="0" flipV="0">
            <a:off x="762000" y="2028825"/>
            <a:ext cx="314325" cy="200025"/>
          </a:xfrm>
          <a:prstGeom prst="rect"/>
        </p:spPr>
        <p:txBody>
          <a:bodyPr wrap="none" lIns="0" tIns="0" rIns="0" bIns="0"/>
          <a:p>
            <a:pPr>
              <a:lnSpc>
                <a:spcPct val="100000"/>
              </a:lnSpc>
            </a:pPr>
            <a:r>
              <a:rPr lang="en-US" sz="1275" b="1">
                <a:solidFill>
                  <a:srgbClr val="20344B"/>
                </a:solidFill>
                <a:latin typeface="Microsoft YaHei"/>
                <a:ea typeface="Microsoft YaHei"/>
              </a:rPr>
              <a:t>HLE</a:t>
            </a:r>
            <a:endParaRPr/>
          </a:p>
        </p:txBody>
      </p:sp>
      <p:sp>
        <p:nvSpPr>
          <p:cNvPr id="164" name=""/>
          <p:cNvSpPr/>
          <p:nvPr/>
        </p:nvSpPr>
        <p:spPr>
          <a:xfrm rot="0" flipH="0" flipV="0">
            <a:off x="3048000" y="1790700"/>
            <a:ext cx="1866900" cy="666750"/>
          </a:xfrm>
          <a:prstGeom prst="roundRect">
            <a:avLst>
              <a:gd name="adj" fmla="val 11429"/>
            </a:avLst>
          </a:prstGeom>
          <a:solidFill>
            <a:srgbClr val="F4F7FA"/>
          </a:solidFill>
          <a:ln/>
        </p:spPr>
        <p:txBody>
          <a:bodyPr/>
          <a:p/>
        </p:txBody>
      </p:sp>
      <p:sp>
        <p:nvSpPr>
          <p:cNvPr id="165" name="" descr="{&quot;isTemplate&quot;:true,&quot;type&quot;:&quot;text&quot;}"/>
          <p:cNvSpPr txBox="1"/>
          <p:nvPr/>
        </p:nvSpPr>
        <p:spPr>
          <a:xfrm rot="0" flipH="0" flipV="0">
            <a:off x="3762375" y="2028825"/>
            <a:ext cx="447675" cy="200025"/>
          </a:xfrm>
          <a:prstGeom prst="rect"/>
        </p:spPr>
        <p:txBody>
          <a:bodyPr wrap="none" lIns="0" tIns="0" rIns="0" bIns="0"/>
          <a:p>
            <a:pPr>
              <a:lnSpc>
                <a:spcPct val="100000"/>
              </a:lnSpc>
            </a:pPr>
            <a:r>
              <a:rPr lang="en-US" sz="1275" b="1">
                <a:solidFill>
                  <a:srgbClr val="276FBF"/>
                </a:solidFill>
                <a:latin typeface="Microsoft YaHei"/>
                <a:ea typeface="Microsoft YaHei"/>
              </a:rPr>
              <a:t>2,500</a:t>
            </a:r>
            <a:endParaRPr/>
          </a:p>
        </p:txBody>
      </p:sp>
      <p:sp>
        <p:nvSpPr>
          <p:cNvPr id="166" name=""/>
          <p:cNvSpPr/>
          <p:nvPr/>
        </p:nvSpPr>
        <p:spPr>
          <a:xfrm rot="0" flipH="0" flipV="0">
            <a:off x="4991100" y="1790700"/>
            <a:ext cx="6553200" cy="666750"/>
          </a:xfrm>
          <a:prstGeom prst="roundRect">
            <a:avLst>
              <a:gd name="adj" fmla="val 11429"/>
            </a:avLst>
          </a:prstGeom>
          <a:solidFill>
            <a:srgbClr val="F4F7FA"/>
          </a:solidFill>
          <a:ln/>
        </p:spPr>
        <p:txBody>
          <a:bodyPr/>
          <a:p/>
        </p:txBody>
      </p:sp>
      <p:sp>
        <p:nvSpPr>
          <p:cNvPr id="167" name="" descr="{&quot;isTemplate&quot;:true,&quot;type&quot;:&quot;text&quot;}"/>
          <p:cNvSpPr txBox="1"/>
          <p:nvPr/>
        </p:nvSpPr>
        <p:spPr>
          <a:xfrm rot="0" flipH="0" flipV="0">
            <a:off x="5162550" y="2009775"/>
            <a:ext cx="3695700" cy="238125"/>
          </a:xfrm>
          <a:prstGeom prst="rect"/>
        </p:spPr>
        <p:txBody>
          <a:bodyPr wrap="none" lIns="0" tIns="0" rIns="0" bIns="0"/>
          <a:p>
            <a:pPr>
              <a:lnSpc>
                <a:spcPct val="145000"/>
              </a:lnSpc>
            </a:pPr>
            <a:r>
              <a:rPr lang="zh-CN" sz="1050">
                <a:solidFill>
                  <a:srgbClr val="546779"/>
                </a:solidFill>
                <a:latin typeface="Microsoft YaHei"/>
                <a:ea typeface="Microsoft YaHei"/>
              </a:rPr>
              <a:t>专家级闭卷问答，覆盖</a:t>
            </a:r>
            <a:r>
              <a:rPr lang="en-US" sz="1050">
                <a:solidFill>
                  <a:srgbClr val="546779"/>
                </a:solidFill>
                <a:latin typeface="Microsoft YaHei"/>
                <a:ea typeface="Microsoft YaHei"/>
              </a:rPr>
              <a:t xml:space="preserve"> 100 </a:t>
            </a:r>
            <a:r>
              <a:rPr lang="zh-CN" sz="1050">
                <a:solidFill>
                  <a:srgbClr val="546779"/>
                </a:solidFill>
                <a:latin typeface="Microsoft YaHei"/>
                <a:ea typeface="Microsoft YaHei"/>
              </a:rPr>
              <a:t>多个学科；</a:t>
            </a:r>
            <a:r>
              <a:rPr lang="en-US" sz="1050">
                <a:solidFill>
                  <a:srgbClr val="546779"/>
                </a:solidFill>
                <a:latin typeface="Microsoft YaHei"/>
                <a:ea typeface="Microsoft YaHei"/>
              </a:rPr>
              <a:t xml:space="preserve">24% </a:t>
            </a:r>
            <a:r>
              <a:rPr lang="zh-CN" sz="1050">
                <a:solidFill>
                  <a:srgbClr val="546779"/>
                </a:solidFill>
                <a:latin typeface="Microsoft YaHei"/>
                <a:ea typeface="Microsoft YaHei"/>
              </a:rPr>
              <a:t>选择题，其余简答</a:t>
            </a:r>
            <a:endParaRPr/>
          </a:p>
        </p:txBody>
      </p:sp>
      <p:sp>
        <p:nvSpPr>
          <p:cNvPr id="168" name=""/>
          <p:cNvSpPr/>
          <p:nvPr/>
        </p:nvSpPr>
        <p:spPr>
          <a:xfrm rot="0" flipH="0" flipV="0">
            <a:off x="609600" y="2514600"/>
            <a:ext cx="2362200" cy="666750"/>
          </a:xfrm>
          <a:prstGeom prst="roundRect">
            <a:avLst>
              <a:gd name="adj" fmla="val 11429"/>
            </a:avLst>
          </a:prstGeom>
          <a:solidFill>
            <a:srgbClr val="EDF4FC"/>
          </a:solidFill>
          <a:ln/>
        </p:spPr>
        <p:txBody>
          <a:bodyPr/>
          <a:p/>
        </p:txBody>
      </p:sp>
      <p:sp>
        <p:nvSpPr>
          <p:cNvPr id="169" name="" descr="{&quot;isTemplate&quot;:true,&quot;type&quot;:&quot;text&quot;}"/>
          <p:cNvSpPr txBox="1"/>
          <p:nvPr/>
        </p:nvSpPr>
        <p:spPr>
          <a:xfrm rot="0" flipH="0" flipV="0">
            <a:off x="762000" y="2752725"/>
            <a:ext cx="1285875" cy="200025"/>
          </a:xfrm>
          <a:prstGeom prst="rect"/>
        </p:spPr>
        <p:txBody>
          <a:bodyPr wrap="none" lIns="0" tIns="0" rIns="0" bIns="0"/>
          <a:p>
            <a:pPr>
              <a:lnSpc>
                <a:spcPct val="100000"/>
              </a:lnSpc>
            </a:pPr>
            <a:r>
              <a:rPr lang="en-US" sz="1275" b="1">
                <a:solidFill>
                  <a:srgbClr val="20344B"/>
                </a:solidFill>
                <a:latin typeface="Microsoft YaHei"/>
                <a:ea typeface="Microsoft YaHei"/>
              </a:rPr>
              <a:t>GPQA Diamond</a:t>
            </a:r>
            <a:endParaRPr/>
          </a:p>
        </p:txBody>
      </p:sp>
      <p:sp>
        <p:nvSpPr>
          <p:cNvPr id="170" name=""/>
          <p:cNvSpPr/>
          <p:nvPr/>
        </p:nvSpPr>
        <p:spPr>
          <a:xfrm rot="0" flipH="0" flipV="0">
            <a:off x="3048000" y="2514600"/>
            <a:ext cx="1866900" cy="666750"/>
          </a:xfrm>
          <a:prstGeom prst="roundRect">
            <a:avLst>
              <a:gd name="adj" fmla="val 11429"/>
            </a:avLst>
          </a:prstGeom>
          <a:solidFill>
            <a:srgbClr val="F4F7FA"/>
          </a:solidFill>
          <a:ln/>
        </p:spPr>
        <p:txBody>
          <a:bodyPr/>
          <a:p/>
        </p:txBody>
      </p:sp>
      <p:sp>
        <p:nvSpPr>
          <p:cNvPr id="171" name="" descr="{&quot;isTemplate&quot;:true,&quot;type&quot;:&quot;text&quot;}"/>
          <p:cNvSpPr txBox="1"/>
          <p:nvPr/>
        </p:nvSpPr>
        <p:spPr>
          <a:xfrm rot="0" flipH="0" flipV="0">
            <a:off x="3829050" y="2752725"/>
            <a:ext cx="304800" cy="200025"/>
          </a:xfrm>
          <a:prstGeom prst="rect"/>
        </p:spPr>
        <p:txBody>
          <a:bodyPr wrap="none" lIns="0" tIns="0" rIns="0" bIns="0"/>
          <a:p>
            <a:pPr>
              <a:lnSpc>
                <a:spcPct val="100000"/>
              </a:lnSpc>
            </a:pPr>
            <a:r>
              <a:rPr lang="en-US" sz="1275" b="1">
                <a:solidFill>
                  <a:srgbClr val="276FBF"/>
                </a:solidFill>
                <a:latin typeface="Microsoft YaHei"/>
                <a:ea typeface="Microsoft YaHei"/>
              </a:rPr>
              <a:t>198</a:t>
            </a:r>
            <a:endParaRPr/>
          </a:p>
        </p:txBody>
      </p:sp>
      <p:sp>
        <p:nvSpPr>
          <p:cNvPr id="172" name=""/>
          <p:cNvSpPr/>
          <p:nvPr/>
        </p:nvSpPr>
        <p:spPr>
          <a:xfrm rot="0" flipH="0" flipV="0">
            <a:off x="4991100" y="2514600"/>
            <a:ext cx="6553200" cy="666750"/>
          </a:xfrm>
          <a:prstGeom prst="roundRect">
            <a:avLst>
              <a:gd name="adj" fmla="val 11429"/>
            </a:avLst>
          </a:prstGeom>
          <a:solidFill>
            <a:srgbClr val="F4F7FA"/>
          </a:solidFill>
          <a:ln/>
        </p:spPr>
        <p:txBody>
          <a:bodyPr/>
          <a:p/>
        </p:txBody>
      </p:sp>
      <p:sp>
        <p:nvSpPr>
          <p:cNvPr id="173" name="" descr="{&quot;isTemplate&quot;:true,&quot;type&quot;:&quot;text&quot;}"/>
          <p:cNvSpPr txBox="1"/>
          <p:nvPr/>
        </p:nvSpPr>
        <p:spPr>
          <a:xfrm rot="0" flipH="0" flipV="0">
            <a:off x="5162550" y="2733675"/>
            <a:ext cx="3524250" cy="238125"/>
          </a:xfrm>
          <a:prstGeom prst="rect"/>
        </p:spPr>
        <p:txBody>
          <a:bodyPr wrap="none" lIns="0" tIns="0" rIns="0" bIns="0"/>
          <a:p>
            <a:pPr>
              <a:lnSpc>
                <a:spcPct val="145000"/>
              </a:lnSpc>
            </a:pPr>
            <a:r>
              <a:rPr lang="zh-CN" sz="1050">
                <a:solidFill>
                  <a:srgbClr val="546779"/>
                </a:solidFill>
                <a:latin typeface="Microsoft YaHei"/>
                <a:ea typeface="Microsoft YaHei"/>
              </a:rPr>
              <a:t>生／物／化四选一，设计目标就是联网搜不到；专家约</a:t>
            </a:r>
            <a:r>
              <a:rPr lang="en-US" sz="1050">
                <a:solidFill>
                  <a:srgbClr val="546779"/>
                </a:solidFill>
                <a:latin typeface="Microsoft YaHei"/>
                <a:ea typeface="Microsoft YaHei"/>
              </a:rPr>
              <a:t xml:space="preserve"> 81%</a:t>
            </a:r>
            <a:endParaRPr/>
          </a:p>
        </p:txBody>
      </p:sp>
      <p:sp>
        <p:nvSpPr>
          <p:cNvPr id="174" name=""/>
          <p:cNvSpPr/>
          <p:nvPr/>
        </p:nvSpPr>
        <p:spPr>
          <a:xfrm rot="0" flipH="0" flipV="0">
            <a:off x="609600" y="3238500"/>
            <a:ext cx="2362200" cy="666750"/>
          </a:xfrm>
          <a:prstGeom prst="roundRect">
            <a:avLst>
              <a:gd name="adj" fmla="val 11429"/>
            </a:avLst>
          </a:prstGeom>
          <a:solidFill>
            <a:srgbClr val="FFF4E6"/>
          </a:solidFill>
          <a:ln/>
        </p:spPr>
        <p:txBody>
          <a:bodyPr/>
          <a:p/>
        </p:txBody>
      </p:sp>
      <p:sp>
        <p:nvSpPr>
          <p:cNvPr id="175" name="" descr="{&quot;isTemplate&quot;:true,&quot;type&quot;:&quot;text&quot;}"/>
          <p:cNvSpPr txBox="1"/>
          <p:nvPr/>
        </p:nvSpPr>
        <p:spPr>
          <a:xfrm rot="0" flipH="0" flipV="0">
            <a:off x="762000" y="3476625"/>
            <a:ext cx="1609725" cy="200025"/>
          </a:xfrm>
          <a:prstGeom prst="rect"/>
        </p:spPr>
        <p:txBody>
          <a:bodyPr wrap="none" lIns="0" tIns="0" rIns="0" bIns="0"/>
          <a:p>
            <a:pPr>
              <a:lnSpc>
                <a:spcPct val="100000"/>
              </a:lnSpc>
            </a:pPr>
            <a:r>
              <a:rPr lang="en-US" sz="1275" b="1">
                <a:solidFill>
                  <a:srgbClr val="CB6B28"/>
                </a:solidFill>
                <a:latin typeface="Microsoft YaHei"/>
                <a:ea typeface="Microsoft YaHei"/>
              </a:rPr>
              <a:t>SWE-bench Verified</a:t>
            </a:r>
            <a:endParaRPr/>
          </a:p>
        </p:txBody>
      </p:sp>
      <p:sp>
        <p:nvSpPr>
          <p:cNvPr id="176" name=""/>
          <p:cNvSpPr/>
          <p:nvPr/>
        </p:nvSpPr>
        <p:spPr>
          <a:xfrm rot="0" flipH="0" flipV="0">
            <a:off x="3048000" y="3238500"/>
            <a:ext cx="1866900" cy="666750"/>
          </a:xfrm>
          <a:prstGeom prst="roundRect">
            <a:avLst>
              <a:gd name="adj" fmla="val 11429"/>
            </a:avLst>
          </a:prstGeom>
          <a:solidFill>
            <a:srgbClr val="F4F7FA"/>
          </a:solidFill>
          <a:ln/>
        </p:spPr>
        <p:txBody>
          <a:bodyPr/>
          <a:p/>
        </p:txBody>
      </p:sp>
      <p:sp>
        <p:nvSpPr>
          <p:cNvPr id="177" name="" descr="{&quot;isTemplate&quot;:true,&quot;type&quot;:&quot;text&quot;}"/>
          <p:cNvSpPr txBox="1"/>
          <p:nvPr/>
        </p:nvSpPr>
        <p:spPr>
          <a:xfrm rot="0" flipH="0" flipV="0">
            <a:off x="3829050" y="3476625"/>
            <a:ext cx="304800" cy="200025"/>
          </a:xfrm>
          <a:prstGeom prst="rect"/>
        </p:spPr>
        <p:txBody>
          <a:bodyPr wrap="none" lIns="0" tIns="0" rIns="0" bIns="0"/>
          <a:p>
            <a:pPr>
              <a:lnSpc>
                <a:spcPct val="100000"/>
              </a:lnSpc>
            </a:pPr>
            <a:r>
              <a:rPr lang="en-US" sz="1275" b="1">
                <a:solidFill>
                  <a:srgbClr val="CB6B28"/>
                </a:solidFill>
                <a:latin typeface="Microsoft YaHei"/>
                <a:ea typeface="Microsoft YaHei"/>
              </a:rPr>
              <a:t>500</a:t>
            </a:r>
            <a:endParaRPr/>
          </a:p>
        </p:txBody>
      </p:sp>
      <p:sp>
        <p:nvSpPr>
          <p:cNvPr id="178" name=""/>
          <p:cNvSpPr/>
          <p:nvPr/>
        </p:nvSpPr>
        <p:spPr>
          <a:xfrm rot="0" flipH="0" flipV="0">
            <a:off x="4991100" y="3238500"/>
            <a:ext cx="6553200" cy="666750"/>
          </a:xfrm>
          <a:prstGeom prst="roundRect">
            <a:avLst>
              <a:gd name="adj" fmla="val 11429"/>
            </a:avLst>
          </a:prstGeom>
          <a:solidFill>
            <a:srgbClr val="F4F7FA"/>
          </a:solidFill>
          <a:ln/>
        </p:spPr>
        <p:txBody>
          <a:bodyPr/>
          <a:p/>
        </p:txBody>
      </p:sp>
      <p:sp>
        <p:nvSpPr>
          <p:cNvPr id="179" name="" descr="{&quot;isTemplate&quot;:true,&quot;type&quot;:&quot;text&quot;}"/>
          <p:cNvSpPr txBox="1"/>
          <p:nvPr/>
        </p:nvSpPr>
        <p:spPr>
          <a:xfrm rot="0" flipH="0" flipV="0">
            <a:off x="5162550" y="3457575"/>
            <a:ext cx="3314700" cy="238125"/>
          </a:xfrm>
          <a:prstGeom prst="rect"/>
        </p:spPr>
        <p:txBody>
          <a:bodyPr wrap="none" lIns="0" tIns="0" rIns="0" bIns="0"/>
          <a:p>
            <a:pPr>
              <a:lnSpc>
                <a:spcPct val="145000"/>
              </a:lnSpc>
            </a:pPr>
            <a:r>
              <a:rPr lang="zh-CN" sz="1050">
                <a:solidFill>
                  <a:srgbClr val="546779"/>
                </a:solidFill>
                <a:latin typeface="Microsoft YaHei"/>
                <a:ea typeface="Microsoft YaHei"/>
              </a:rPr>
              <a:t>真实仓库问题记录，改代码并跑测试；</a:t>
            </a:r>
            <a:r>
              <a:rPr lang="en-US" sz="1050">
                <a:solidFill>
                  <a:srgbClr val="546779"/>
                </a:solidFill>
                <a:latin typeface="Microsoft YaHei"/>
                <a:ea typeface="Microsoft YaHei"/>
              </a:rPr>
              <a:t xml:space="preserve">2026 </a:t>
            </a:r>
            <a:r>
              <a:rPr lang="zh-CN" sz="1050">
                <a:solidFill>
                  <a:srgbClr val="546779"/>
                </a:solidFill>
                <a:latin typeface="Microsoft YaHei"/>
                <a:ea typeface="Microsoft YaHei"/>
              </a:rPr>
              <a:t>年</a:t>
            </a:r>
            <a:r>
              <a:rPr lang="en-US" sz="1050">
                <a:solidFill>
                  <a:srgbClr val="546779"/>
                </a:solidFill>
                <a:latin typeface="Microsoft YaHei"/>
                <a:ea typeface="Microsoft YaHei"/>
              </a:rPr>
              <a:t xml:space="preserve"> 2 </a:t>
            </a:r>
            <a:r>
              <a:rPr lang="zh-CN" sz="1050">
                <a:solidFill>
                  <a:srgbClr val="546779"/>
                </a:solidFill>
                <a:latin typeface="Microsoft YaHei"/>
                <a:ea typeface="Microsoft YaHei"/>
              </a:rPr>
              <a:t>月退役</a:t>
            </a:r>
            <a:endParaRPr/>
          </a:p>
        </p:txBody>
      </p:sp>
      <p:sp>
        <p:nvSpPr>
          <p:cNvPr id="180" name=""/>
          <p:cNvSpPr/>
          <p:nvPr/>
        </p:nvSpPr>
        <p:spPr>
          <a:xfrm rot="0" flipH="0" flipV="0">
            <a:off x="609600" y="3962400"/>
            <a:ext cx="2362200" cy="666750"/>
          </a:xfrm>
          <a:prstGeom prst="roundRect">
            <a:avLst>
              <a:gd name="adj" fmla="val 11429"/>
            </a:avLst>
          </a:prstGeom>
          <a:solidFill>
            <a:srgbClr val="F7F3E8"/>
          </a:solidFill>
          <a:ln/>
        </p:spPr>
        <p:txBody>
          <a:bodyPr/>
          <a:p/>
        </p:txBody>
      </p:sp>
      <p:sp>
        <p:nvSpPr>
          <p:cNvPr id="181" name="" descr="{&quot;isTemplate&quot;:true,&quot;type&quot;:&quot;text&quot;}"/>
          <p:cNvSpPr txBox="1"/>
          <p:nvPr/>
        </p:nvSpPr>
        <p:spPr>
          <a:xfrm rot="0" flipH="0" flipV="0">
            <a:off x="762000" y="4200525"/>
            <a:ext cx="1590675" cy="200025"/>
          </a:xfrm>
          <a:prstGeom prst="rect"/>
        </p:spPr>
        <p:txBody>
          <a:bodyPr wrap="none" lIns="0" tIns="0" rIns="0" bIns="0"/>
          <a:p>
            <a:pPr>
              <a:lnSpc>
                <a:spcPct val="100000"/>
              </a:lnSpc>
            </a:pPr>
            <a:r>
              <a:rPr lang="en-US" sz="1275" b="1">
                <a:solidFill>
                  <a:srgbClr val="20344B"/>
                </a:solidFill>
                <a:latin typeface="Microsoft YaHei"/>
                <a:ea typeface="Microsoft YaHei"/>
              </a:rPr>
              <a:t>FrontierMath Tier 4</a:t>
            </a:r>
            <a:endParaRPr/>
          </a:p>
        </p:txBody>
      </p:sp>
      <p:sp>
        <p:nvSpPr>
          <p:cNvPr id="182" name=""/>
          <p:cNvSpPr/>
          <p:nvPr/>
        </p:nvSpPr>
        <p:spPr>
          <a:xfrm rot="0" flipH="0" flipV="0">
            <a:off x="3048000" y="3962400"/>
            <a:ext cx="1866900" cy="666750"/>
          </a:xfrm>
          <a:prstGeom prst="roundRect">
            <a:avLst>
              <a:gd name="adj" fmla="val 11429"/>
            </a:avLst>
          </a:prstGeom>
          <a:solidFill>
            <a:srgbClr val="F4F7FA"/>
          </a:solidFill>
          <a:ln/>
        </p:spPr>
        <p:txBody>
          <a:bodyPr/>
          <a:p/>
        </p:txBody>
      </p:sp>
      <p:sp>
        <p:nvSpPr>
          <p:cNvPr id="183" name="" descr="{&quot;isTemplate&quot;:true,&quot;type&quot;:&quot;text&quot;}"/>
          <p:cNvSpPr txBox="1"/>
          <p:nvPr/>
        </p:nvSpPr>
        <p:spPr>
          <a:xfrm rot="0" flipH="0" flipV="0">
            <a:off x="3886200" y="4200525"/>
            <a:ext cx="200025" cy="200025"/>
          </a:xfrm>
          <a:prstGeom prst="rect"/>
        </p:spPr>
        <p:txBody>
          <a:bodyPr wrap="none" lIns="0" tIns="0" rIns="0" bIns="0"/>
          <a:p>
            <a:pPr>
              <a:lnSpc>
                <a:spcPct val="100000"/>
              </a:lnSpc>
            </a:pPr>
            <a:r>
              <a:rPr lang="en-US" sz="1275" b="1">
                <a:solidFill>
                  <a:srgbClr val="546779"/>
                </a:solidFill>
                <a:latin typeface="Microsoft YaHei"/>
                <a:ea typeface="Microsoft YaHei"/>
              </a:rPr>
              <a:t>43</a:t>
            </a:r>
            <a:endParaRPr/>
          </a:p>
        </p:txBody>
      </p:sp>
      <p:sp>
        <p:nvSpPr>
          <p:cNvPr id="184" name=""/>
          <p:cNvSpPr/>
          <p:nvPr/>
        </p:nvSpPr>
        <p:spPr>
          <a:xfrm rot="0" flipH="0" flipV="0">
            <a:off x="4991100" y="3962400"/>
            <a:ext cx="6553200" cy="666750"/>
          </a:xfrm>
          <a:prstGeom prst="roundRect">
            <a:avLst>
              <a:gd name="adj" fmla="val 11429"/>
            </a:avLst>
          </a:prstGeom>
          <a:solidFill>
            <a:srgbClr val="F4F7FA"/>
          </a:solidFill>
          <a:ln/>
        </p:spPr>
        <p:txBody>
          <a:bodyPr/>
          <a:p/>
        </p:txBody>
      </p:sp>
      <p:sp>
        <p:nvSpPr>
          <p:cNvPr id="185" name="" descr="{&quot;isTemplate&quot;:true,&quot;type&quot;:&quot;text&quot;}"/>
          <p:cNvSpPr txBox="1"/>
          <p:nvPr/>
        </p:nvSpPr>
        <p:spPr>
          <a:xfrm rot="0" flipH="0" flipV="0">
            <a:off x="5162550" y="4181475"/>
            <a:ext cx="2876550" cy="238125"/>
          </a:xfrm>
          <a:prstGeom prst="rect"/>
        </p:spPr>
        <p:txBody>
          <a:bodyPr wrap="none" lIns="0" tIns="0" rIns="0" bIns="0"/>
          <a:p>
            <a:pPr>
              <a:lnSpc>
                <a:spcPct val="145000"/>
              </a:lnSpc>
            </a:pPr>
            <a:r>
              <a:rPr lang="zh-CN" sz="1050">
                <a:solidFill>
                  <a:srgbClr val="546779"/>
                </a:solidFill>
                <a:latin typeface="Microsoft YaHei"/>
                <a:ea typeface="Microsoft YaHei"/>
              </a:rPr>
              <a:t>研究级数学，私有题集；</a:t>
            </a:r>
            <a:r>
              <a:rPr lang="en-US" sz="1050">
                <a:solidFill>
                  <a:srgbClr val="546779"/>
                </a:solidFill>
                <a:latin typeface="Microsoft YaHei"/>
                <a:ea typeface="Microsoft YaHei"/>
              </a:rPr>
              <a:t xml:space="preserve">v2 </a:t>
            </a:r>
            <a:r>
              <a:rPr lang="zh-CN" sz="1050">
                <a:solidFill>
                  <a:srgbClr val="546779"/>
                </a:solidFill>
                <a:latin typeface="Microsoft YaHei"/>
                <a:ea typeface="Microsoft YaHei"/>
              </a:rPr>
              <a:t>于</a:t>
            </a:r>
            <a:r>
              <a:rPr lang="en-US" sz="1050">
                <a:solidFill>
                  <a:srgbClr val="546779"/>
                </a:solidFill>
                <a:latin typeface="Microsoft YaHei"/>
                <a:ea typeface="Microsoft YaHei"/>
              </a:rPr>
              <a:t xml:space="preserve"> 2026 </a:t>
            </a:r>
            <a:r>
              <a:rPr lang="zh-CN" sz="1050">
                <a:solidFill>
                  <a:srgbClr val="546779"/>
                </a:solidFill>
                <a:latin typeface="Microsoft YaHei"/>
                <a:ea typeface="Microsoft YaHei"/>
              </a:rPr>
              <a:t>年</a:t>
            </a:r>
            <a:r>
              <a:rPr lang="en-US" sz="1050">
                <a:solidFill>
                  <a:srgbClr val="546779"/>
                </a:solidFill>
                <a:latin typeface="Microsoft YaHei"/>
                <a:ea typeface="Microsoft YaHei"/>
              </a:rPr>
              <a:t xml:space="preserve"> 6 </a:t>
            </a:r>
            <a:r>
              <a:rPr lang="zh-CN" sz="1050">
                <a:solidFill>
                  <a:srgbClr val="546779"/>
                </a:solidFill>
                <a:latin typeface="Microsoft YaHei"/>
                <a:ea typeface="Microsoft YaHei"/>
              </a:rPr>
              <a:t>月修正</a:t>
            </a:r>
            <a:endParaRPr/>
          </a:p>
        </p:txBody>
      </p:sp>
      <p:sp>
        <p:nvSpPr>
          <p:cNvPr id="186" name=""/>
          <p:cNvSpPr/>
          <p:nvPr/>
        </p:nvSpPr>
        <p:spPr>
          <a:xfrm rot="0" flipH="0" flipV="0">
            <a:off x="609600" y="4686300"/>
            <a:ext cx="2362200" cy="666750"/>
          </a:xfrm>
          <a:prstGeom prst="roundRect">
            <a:avLst>
              <a:gd name="adj" fmla="val 11429"/>
            </a:avLst>
          </a:prstGeom>
          <a:solidFill>
            <a:srgbClr val="ECF7F2"/>
          </a:solidFill>
          <a:ln/>
        </p:spPr>
        <p:txBody>
          <a:bodyPr/>
          <a:p/>
        </p:txBody>
      </p:sp>
      <p:sp>
        <p:nvSpPr>
          <p:cNvPr id="187" name="" descr="{&quot;isTemplate&quot;:true,&quot;type&quot;:&quot;text&quot;}"/>
          <p:cNvSpPr txBox="1"/>
          <p:nvPr/>
        </p:nvSpPr>
        <p:spPr>
          <a:xfrm rot="0" flipH="0" flipV="0">
            <a:off x="762000" y="4924425"/>
            <a:ext cx="885825" cy="200025"/>
          </a:xfrm>
          <a:prstGeom prst="rect"/>
        </p:spPr>
        <p:txBody>
          <a:bodyPr wrap="none" lIns="0" tIns="0" rIns="0" bIns="0"/>
          <a:p>
            <a:pPr>
              <a:lnSpc>
                <a:spcPct val="100000"/>
              </a:lnSpc>
            </a:pPr>
            <a:r>
              <a:rPr lang="en-US" sz="1275" b="1">
                <a:solidFill>
                  <a:srgbClr val="20344B"/>
                </a:solidFill>
                <a:latin typeface="Microsoft YaHei"/>
                <a:ea typeface="Microsoft YaHei"/>
              </a:rPr>
              <a:t>ARC-AGI-2</a:t>
            </a:r>
            <a:endParaRPr/>
          </a:p>
        </p:txBody>
      </p:sp>
      <p:sp>
        <p:nvSpPr>
          <p:cNvPr id="188" name=""/>
          <p:cNvSpPr/>
          <p:nvPr/>
        </p:nvSpPr>
        <p:spPr>
          <a:xfrm rot="0" flipH="0" flipV="0">
            <a:off x="3048000" y="4686300"/>
            <a:ext cx="1866900" cy="666750"/>
          </a:xfrm>
          <a:prstGeom prst="roundRect">
            <a:avLst>
              <a:gd name="adj" fmla="val 11429"/>
            </a:avLst>
          </a:prstGeom>
          <a:solidFill>
            <a:srgbClr val="F4F7FA"/>
          </a:solidFill>
          <a:ln/>
        </p:spPr>
        <p:txBody>
          <a:bodyPr/>
          <a:p/>
        </p:txBody>
      </p:sp>
      <p:sp>
        <p:nvSpPr>
          <p:cNvPr id="189" name="" descr="{&quot;isTemplate&quot;:true,&quot;type&quot;:&quot;text&quot;}"/>
          <p:cNvSpPr txBox="1"/>
          <p:nvPr/>
        </p:nvSpPr>
        <p:spPr>
          <a:xfrm rot="0" flipH="0" flipV="0">
            <a:off x="3819525" y="4924425"/>
            <a:ext cx="323850" cy="200025"/>
          </a:xfrm>
          <a:prstGeom prst="rect"/>
        </p:spPr>
        <p:txBody>
          <a:bodyPr wrap="none" lIns="0" tIns="0" rIns="0" bIns="0"/>
          <a:p>
            <a:pPr>
              <a:lnSpc>
                <a:spcPct val="100000"/>
              </a:lnSpc>
            </a:pPr>
            <a:r>
              <a:rPr lang="zh-CN" sz="1275" b="1">
                <a:solidFill>
                  <a:srgbClr val="26816B"/>
                </a:solidFill>
                <a:latin typeface="Microsoft YaHei"/>
                <a:ea typeface="Microsoft YaHei"/>
              </a:rPr>
              <a:t>数百</a:t>
            </a:r>
            <a:endParaRPr/>
          </a:p>
        </p:txBody>
      </p:sp>
      <p:sp>
        <p:nvSpPr>
          <p:cNvPr id="190" name=""/>
          <p:cNvSpPr/>
          <p:nvPr/>
        </p:nvSpPr>
        <p:spPr>
          <a:xfrm rot="0" flipH="0" flipV="0">
            <a:off x="4991100" y="4686300"/>
            <a:ext cx="6553200" cy="666750"/>
          </a:xfrm>
          <a:prstGeom prst="roundRect">
            <a:avLst>
              <a:gd name="adj" fmla="val 11429"/>
            </a:avLst>
          </a:prstGeom>
          <a:solidFill>
            <a:srgbClr val="F4F7FA"/>
          </a:solidFill>
          <a:ln/>
        </p:spPr>
        <p:txBody>
          <a:bodyPr/>
          <a:p/>
        </p:txBody>
      </p:sp>
      <p:sp>
        <p:nvSpPr>
          <p:cNvPr id="191" name="" descr="{&quot;isTemplate&quot;:true,&quot;type&quot;:&quot;text&quot;}"/>
          <p:cNvSpPr txBox="1"/>
          <p:nvPr/>
        </p:nvSpPr>
        <p:spPr>
          <a:xfrm rot="0" flipH="0" flipV="0">
            <a:off x="5162550" y="4905375"/>
            <a:ext cx="3467100" cy="238125"/>
          </a:xfrm>
          <a:prstGeom prst="rect"/>
        </p:spPr>
        <p:txBody>
          <a:bodyPr wrap="none" lIns="0" tIns="0" rIns="0" bIns="0"/>
          <a:p>
            <a:pPr>
              <a:lnSpc>
                <a:spcPct val="145000"/>
              </a:lnSpc>
            </a:pPr>
            <a:r>
              <a:rPr lang="zh-CN" sz="1050">
                <a:solidFill>
                  <a:srgbClr val="546779"/>
                </a:solidFill>
                <a:latin typeface="Microsoft YaHei"/>
                <a:ea typeface="Microsoft YaHei"/>
              </a:rPr>
              <a:t>视觉格子推理，全靠现场推规则；每格必须对齐，无部分分</a:t>
            </a:r>
            <a:endParaRPr/>
          </a:p>
        </p:txBody>
      </p:sp>
      <p:sp>
        <p:nvSpPr>
          <p:cNvPr id="192" name=""/>
          <p:cNvSpPr/>
          <p:nvPr/>
        </p:nvSpPr>
        <p:spPr>
          <a:xfrm rot="0" flipH="0" flipV="0">
            <a:off x="609600" y="5410200"/>
            <a:ext cx="2362200" cy="666750"/>
          </a:xfrm>
          <a:prstGeom prst="roundRect">
            <a:avLst>
              <a:gd name="adj" fmla="val 11429"/>
            </a:avLst>
          </a:prstGeom>
          <a:solidFill>
            <a:srgbClr val="ECF7F2"/>
          </a:solidFill>
          <a:ln/>
        </p:spPr>
        <p:txBody>
          <a:bodyPr/>
          <a:p/>
        </p:txBody>
      </p:sp>
      <p:sp>
        <p:nvSpPr>
          <p:cNvPr id="193" name="" descr="{&quot;isTemplate&quot;:true,&quot;type&quot;:&quot;text&quot;}"/>
          <p:cNvSpPr txBox="1"/>
          <p:nvPr/>
        </p:nvSpPr>
        <p:spPr>
          <a:xfrm rot="0" flipH="0" flipV="0">
            <a:off x="762000" y="5648325"/>
            <a:ext cx="895350" cy="200025"/>
          </a:xfrm>
          <a:prstGeom prst="rect"/>
        </p:spPr>
        <p:txBody>
          <a:bodyPr wrap="none" lIns="0" tIns="0" rIns="0" bIns="0"/>
          <a:p>
            <a:pPr>
              <a:lnSpc>
                <a:spcPct val="100000"/>
              </a:lnSpc>
            </a:pPr>
            <a:r>
              <a:rPr lang="en-US" sz="1275" b="1">
                <a:solidFill>
                  <a:srgbClr val="20344B"/>
                </a:solidFill>
                <a:latin typeface="Microsoft YaHei"/>
                <a:ea typeface="Microsoft YaHei"/>
              </a:rPr>
              <a:t>MMLU-Pro</a:t>
            </a:r>
            <a:endParaRPr/>
          </a:p>
        </p:txBody>
      </p:sp>
      <p:sp>
        <p:nvSpPr>
          <p:cNvPr id="194" name=""/>
          <p:cNvSpPr/>
          <p:nvPr/>
        </p:nvSpPr>
        <p:spPr>
          <a:xfrm rot="0" flipH="0" flipV="0">
            <a:off x="3048000" y="5410200"/>
            <a:ext cx="1866900" cy="666750"/>
          </a:xfrm>
          <a:prstGeom prst="roundRect">
            <a:avLst>
              <a:gd name="adj" fmla="val 11429"/>
            </a:avLst>
          </a:prstGeom>
          <a:solidFill>
            <a:srgbClr val="F4F7FA"/>
          </a:solidFill>
          <a:ln/>
        </p:spPr>
        <p:txBody>
          <a:bodyPr/>
          <a:p/>
        </p:txBody>
      </p:sp>
      <p:sp>
        <p:nvSpPr>
          <p:cNvPr id="195" name="" descr="{&quot;isTemplate&quot;:true,&quot;type&quot;:&quot;text&quot;}"/>
          <p:cNvSpPr txBox="1"/>
          <p:nvPr/>
        </p:nvSpPr>
        <p:spPr>
          <a:xfrm rot="0" flipH="0" flipV="0">
            <a:off x="3648075" y="5648325"/>
            <a:ext cx="666750" cy="200025"/>
          </a:xfrm>
          <a:prstGeom prst="rect"/>
        </p:spPr>
        <p:txBody>
          <a:bodyPr wrap="none" lIns="0" tIns="0" rIns="0" bIns="0"/>
          <a:p>
            <a:pPr>
              <a:lnSpc>
                <a:spcPct val="100000"/>
              </a:lnSpc>
            </a:pPr>
            <a:r>
              <a:rPr lang="zh-CN" sz="1275" b="1">
                <a:solidFill>
                  <a:srgbClr val="26816B"/>
                </a:solidFill>
                <a:latin typeface="Microsoft YaHei"/>
                <a:ea typeface="Microsoft YaHei"/>
              </a:rPr>
              <a:t>约</a:t>
            </a:r>
            <a:r>
              <a:rPr lang="en-US" sz="1275" b="1">
                <a:solidFill>
                  <a:srgbClr val="26816B"/>
                </a:solidFill>
                <a:latin typeface="Microsoft YaHei"/>
                <a:ea typeface="Microsoft YaHei"/>
              </a:rPr>
              <a:t xml:space="preserve"> 1.2 </a:t>
            </a:r>
            <a:r>
              <a:rPr lang="zh-CN" sz="1275" b="1">
                <a:solidFill>
                  <a:srgbClr val="26816B"/>
                </a:solidFill>
                <a:latin typeface="Microsoft YaHei"/>
                <a:ea typeface="Microsoft YaHei"/>
              </a:rPr>
              <a:t>万</a:t>
            </a:r>
            <a:endParaRPr/>
          </a:p>
        </p:txBody>
      </p:sp>
      <p:sp>
        <p:nvSpPr>
          <p:cNvPr id="196" name=""/>
          <p:cNvSpPr/>
          <p:nvPr/>
        </p:nvSpPr>
        <p:spPr>
          <a:xfrm rot="0" flipH="0" flipV="0">
            <a:off x="4991100" y="5410200"/>
            <a:ext cx="6553200" cy="666750"/>
          </a:xfrm>
          <a:prstGeom prst="roundRect">
            <a:avLst>
              <a:gd name="adj" fmla="val 11429"/>
            </a:avLst>
          </a:prstGeom>
          <a:solidFill>
            <a:srgbClr val="F4F7FA"/>
          </a:solidFill>
          <a:ln/>
        </p:spPr>
        <p:txBody>
          <a:bodyPr/>
          <a:p/>
        </p:txBody>
      </p:sp>
      <p:sp>
        <p:nvSpPr>
          <p:cNvPr id="197" name="" descr="{&quot;isTemplate&quot;:true,&quot;type&quot;:&quot;text&quot;}"/>
          <p:cNvSpPr txBox="1"/>
          <p:nvPr/>
        </p:nvSpPr>
        <p:spPr>
          <a:xfrm rot="0" flipH="0" flipV="0">
            <a:off x="5162550" y="5629275"/>
            <a:ext cx="3705225" cy="238125"/>
          </a:xfrm>
          <a:prstGeom prst="rect"/>
        </p:spPr>
        <p:txBody>
          <a:bodyPr wrap="none" lIns="0" tIns="0" rIns="0" bIns="0"/>
          <a:p>
            <a:pPr>
              <a:lnSpc>
                <a:spcPct val="145000"/>
              </a:lnSpc>
            </a:pPr>
            <a:r>
              <a:rPr lang="zh-CN" sz="1050">
                <a:solidFill>
                  <a:srgbClr val="546779"/>
                </a:solidFill>
                <a:latin typeface="Microsoft YaHei"/>
                <a:ea typeface="Microsoft YaHei"/>
              </a:rPr>
              <a:t>十选一的多学科选择题，覆盖</a:t>
            </a:r>
            <a:r>
              <a:rPr lang="en-US" sz="1050">
                <a:solidFill>
                  <a:srgbClr val="546779"/>
                </a:solidFill>
                <a:latin typeface="Microsoft YaHei"/>
                <a:ea typeface="Microsoft YaHei"/>
              </a:rPr>
              <a:t xml:space="preserve"> 14 </a:t>
            </a:r>
            <a:r>
              <a:rPr lang="zh-CN" sz="1050">
                <a:solidFill>
                  <a:srgbClr val="546779"/>
                </a:solidFill>
                <a:latin typeface="Microsoft YaHei"/>
                <a:ea typeface="Microsoft YaHei"/>
              </a:rPr>
              <a:t>个学科；选项多降低蒙对概率</a:t>
            </a:r>
            <a:endParaRPr/>
          </a:p>
        </p:txBody>
      </p:sp>
      <p:sp>
        <p:nvSpPr>
          <p:cNvPr id="198"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99"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14 / 36</a:t>
            </a:r>
            <a:endParaRPr/>
          </a:p>
        </p:txBody>
      </p:sp>
    </p:spTree>
  </p:cSld>
</p:sld>
</file>

<file path=ppt/slides/slide15.xml><?xml version="1.0" encoding="utf-8"?>
<p:sld xmlns:p="http://schemas.openxmlformats.org/presentationml/2006/main" xmlns:a="http://schemas.openxmlformats.org/drawingml/2006/main">
  <p:cSld>
    <p:spTree>
      <p:nvGrpSpPr>
        <p:cNvPr id="200" name="" descr="&lt;Slide notes={`题量直接决定分数的分辨率，这一点很多人忽略。&#10;&#10;HLE 两千五百道题，一个百分点大约是二十五道题，所以它报告到小数点后一位是有意义的。GPQA Diamond 只有一百九十八道题，半个百分点就是一道题，这时候两个模型差一个百分点，其实只是两道题的差别，不应该被解释成能力差距。FrontierMath 第四层更极端，只有四十三道题，一道题就值二点三个百分点，所以它的分数必须带着误差范围来读。&#10;&#10;再回头看一句常见的话：某模型在某个基准上领先两个百分点。如果这个基准有两千五百道题，两个百分点是五十道题，比较可信；如果只有四十三道题，两个百分点还不到一道题，基本没有意义。&#10;&#10;所以看到分数，第一件事是问分母是多少。`}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③　1.4.3　样本集：分母不同，一个百分点的分量就不同&lt;/Text&gt;&#10;            &lt;Text style={{ fontSize: 34, fontWeight: 'bold', color: '#20344B' }}&gt;题量与代表性&lt;/Text&gt;&#10;        &lt;/Box&gt;&#10;    &lt;/Box&gt;&#10;&#10;    &lt;Box style={{ height: 540, flexDirection: 'column', justifyContent: 'center' }}&gt;&#10;&#10;        &lt;Box style={{ flexDirection: 'row', gap: 28, alignItems: 'flex-start' }}&gt;&#10;&#10;            &lt;Box style={{ width: 700, flexDirection: 'column', gap: 16 }}&gt;&#10;                &lt;Box style={{ width: 700, height: 122, background: '#EDF4FC', borderRadius: 10, padding: '16px 20px', flexDirection: 'row', alignItems: 'center', gap: 18 }}&gt;&#10;                    &lt;Text style={{ width: 120, fontSize: 30, fontWeight: 'bold', color: '#276FBF' }}&gt;2,500&lt;/Text&gt;&#10;                    &lt;Box style={{ flexDirection: 'column', gap: 4 }}&gt;&#10;                        &lt;Text style={{ fontSize: 16, fontWeight: 'bold', color: '#20344B' }}&gt;HLE&lt;/Text&gt;&#10;                        &lt;Text style={{ fontSize: 14, color: '#546779', lineHeight: 1.45 }}&gt;一道题约合 0.04 个百分点，小数点后一位是有意义的&lt;/Text&gt;&#10;                    &lt;/Box&gt;&#10;                &lt;/Box&gt;&#10;                &lt;Box style={{ width: 700, height: 122, background: '#F7F3E8', borderRadius: 10, padding: '16px 20px', flexDirection: 'row', alignItems: 'center', gap: 18 }}&gt;&#10;                    &lt;Text style={{ width: 120, fontSize: 30, fontWeight: 'bold', color: '#546779' }}&gt;198&lt;/Text&gt;&#10;                    &lt;Box style={{ flexDirection: 'column', gap: 4 }}&gt;&#10;                        &lt;Text style={{ fontSize: 16, fontWeight: 'bold', color: '#20344B' }}&gt;GPQA Diamond&lt;/Text&gt;&#10;                        &lt;Text style={{ fontSize: 14, color: '#546779', lineHeight: 1.45 }}&gt;一道题约合 0.5 个百分点，一个百分点的差距可能只是两道题&lt;/Text&gt;&#10;                    &lt;/Box&gt;&#10;                &lt;/Box&gt;&#10;                &lt;Box style={{ width: 700, height: 122, background: '#FFF4E6', borderRadius: 10, padding: '16px 20px', flexDirection: 'row', alignItems: 'center', gap: 18 }}&gt;&#10;                    &lt;Text style={{ width: 120, fontSize: 30, fontWeight: 'bold', color: '#CB6B28' }}&gt;43&lt;/Text&gt;&#10;                    &lt;Box style={{ flexDirection: 'column', gap: 4 }}&gt;&#10;                        &lt;Text style={{ fontSize: 16, fontWeight: 'bold', color: '#CB6B28' }}&gt;FrontierMath Tier 4&lt;/Text&gt;&#10;                        &lt;Text style={{ fontSize: 14, color: '#CB6B28', lineHeight: 1.45 }}&gt;一道题约合 2.3 个百分点，分数必须带着误差范围读&lt;/Text&gt;&#10;                    &lt;/Box&gt;&#10;                &lt;/Box&gt;&#10;            &lt;/Box&gt;&#10;&#10;            &lt;Box style={{ width: 424, height: 398, background: '#F4F7FA', borderRadius: 12, padding: '20px 20px', flexDirection: 'column', gap: 12 }}&gt;&#10;                &lt;Text style={{ fontSize: 18, fontWeight: 'bold', color: '#20344B', lineHeight: 1.35 }}&gt;同样一句&quot;领先两个百分点&quot;&lt;/Text&gt;&#10;                &lt;Text style={{ fontSize: 15, color: '#546779', lineHeight: 1.55 }}&gt;在 2,500 题的基准上，是五十道题左右的差距，比较可信。&lt;/Text&gt;&#10;                &lt;Text style={{ fontSize: 15, color: '#546779', lineHeight: 1.55 }}&gt;在 43 题的基准上，还不到一道题，几乎不构成信号。&lt;/Text&gt;&#10;                &lt;Box style={{ flex: 1 }} /&gt;&#10;                &lt;Box style={{ flexDirection: 'row', gap: 12, alignItems: 'center', background: '#FFF4E6', borderRadius: 8, padding: '12px 14px' }}&gt;&#10;                    &lt;Box style={{ width: 4, height: 44, background: '#CB6B28' }} /&gt;&#10;                    &lt;Text style={{ fontSize: 14, color: '#CB6B28', lineHeight: 1.45 }}&gt;题量小不等于不好；它只是必须配误差范围和人工复核一起读&lt;/Text&gt;&#10;                &lt;/Box&gt;&#10;            &lt;/Box&gt;&#10;&#10;        &lt;/Box&gt;&#10;&#10;    &lt;/Box&gt;&#10;&#10;    &lt;Box style={{ height: 40, flexDirection: 'row', justifyContent: 'space-between', alignItems: 'center' }}&gt;&#10;        &lt;Text style={{ fontSize: 14, color: '#546779' }}&gt;1.4 从榜单到证据&lt;/Text&gt;&#10;        &lt;Text style={{ fontSize: 14, color: '#546779' }}&gt;15 / 36&lt;/Text&gt;&#10;    &lt;/Box&gt;&#10;&#10;&lt;/Slide&gt;&#10;"/>
        <p:cNvGrpSpPr/>
        <p:nvPr/>
      </p:nvGrpSpPr>
      <p:grpSpPr>
        <a:xfrm>
          <a:off x="0" y="0"/>
          <a:ext cx="0" cy="0"/>
          <a:chOff x="0" y="0"/>
          <a:chExt cx="0" cy="0"/>
        </a:xfrm>
      </p:grpSpPr>
      <p:sp>
        <p:nvSpPr>
          <p:cNvPr id="201" name=""/>
          <p:cNvSpPr/>
          <p:nvPr/>
        </p:nvSpPr>
        <p:spPr>
          <a:xfrm rot="0" flipH="0" flipV="0">
            <a:off x="0" y="0"/>
            <a:ext cx="12192000" cy="6858000"/>
          </a:xfrm>
          <a:prstGeom prst="rect">
            <a:avLst/>
          </a:prstGeom>
          <a:solidFill>
            <a:srgbClr val="FFFFFF"/>
          </a:solidFill>
          <a:ln/>
        </p:spPr>
        <p:txBody>
          <a:bodyPr/>
          <a:p/>
        </p:txBody>
      </p:sp>
      <p:sp>
        <p:nvSpPr>
          <p:cNvPr id="202" name=""/>
          <p:cNvSpPr/>
          <p:nvPr/>
        </p:nvSpPr>
        <p:spPr>
          <a:xfrm rot="0" flipH="0" flipV="0">
            <a:off x="609600" y="457200"/>
            <a:ext cx="38100" cy="419100"/>
          </a:xfrm>
          <a:prstGeom prst="rect">
            <a:avLst/>
          </a:prstGeom>
          <a:solidFill>
            <a:srgbClr val="276FBF"/>
          </a:solidFill>
          <a:ln/>
        </p:spPr>
        <p:txBody>
          <a:bodyPr/>
          <a:p/>
        </p:txBody>
      </p:sp>
      <p:sp>
        <p:nvSpPr>
          <p:cNvPr id="203" name="" descr="{&quot;isTemplate&quot;:true,&quot;type&quot;:&quot;text&quot;}"/>
          <p:cNvSpPr txBox="1"/>
          <p:nvPr/>
        </p:nvSpPr>
        <p:spPr>
          <a:xfrm rot="0" flipH="0" flipV="0">
            <a:off x="838200" y="371475"/>
            <a:ext cx="3371850" cy="161925"/>
          </a:xfrm>
          <a:prstGeom prst="rect"/>
        </p:spPr>
        <p:txBody>
          <a:bodyPr wrap="none" lIns="0" tIns="0" rIns="0" bIns="0"/>
          <a:p>
            <a:pPr>
              <a:lnSpc>
                <a:spcPct val="100000"/>
              </a:lnSpc>
            </a:pPr>
            <a:r>
              <a:rPr lang="zh-CN" sz="1050">
                <a:solidFill>
                  <a:srgbClr val="546779"/>
                </a:solidFill>
                <a:latin typeface="Microsoft YaHei"/>
                <a:ea typeface="Microsoft YaHei"/>
              </a:rPr>
              <a:t>③　</a:t>
            </a:r>
            <a:r>
              <a:rPr lang="en-US" sz="1050">
                <a:solidFill>
                  <a:srgbClr val="546779"/>
                </a:solidFill>
                <a:latin typeface="Microsoft YaHei"/>
                <a:ea typeface="Microsoft YaHei"/>
              </a:rPr>
              <a:t>1.4.3</a:t>
            </a:r>
            <a:r>
              <a:rPr lang="zh-CN" sz="1050">
                <a:solidFill>
                  <a:srgbClr val="546779"/>
                </a:solidFill>
                <a:latin typeface="Microsoft YaHei"/>
                <a:ea typeface="Microsoft YaHei"/>
              </a:rPr>
              <a:t>　样本集：分母不同，一个百分点的分量就不同</a:t>
            </a:r>
            <a:endParaRPr/>
          </a:p>
        </p:txBody>
      </p:sp>
      <p:sp>
        <p:nvSpPr>
          <p:cNvPr id="204" name="" descr="{&quot;isTemplate&quot;:true,&quot;type&quot;:&quot;text&quot;}"/>
          <p:cNvSpPr txBox="1"/>
          <p:nvPr/>
        </p:nvSpPr>
        <p:spPr>
          <a:xfrm rot="0" flipH="0" flipV="0">
            <a:off x="838200" y="571500"/>
            <a:ext cx="3371850" cy="390525"/>
          </a:xfrm>
          <a:prstGeom prst="rect"/>
        </p:spPr>
        <p:txBody>
          <a:bodyPr wrap="none" lIns="0" tIns="0" rIns="0" bIns="0"/>
          <a:p>
            <a:pPr>
              <a:lnSpc>
                <a:spcPct val="100000"/>
              </a:lnSpc>
            </a:pPr>
            <a:r>
              <a:rPr lang="zh-CN" sz="2550" b="1">
                <a:solidFill>
                  <a:srgbClr val="20344B"/>
                </a:solidFill>
                <a:latin typeface="Microsoft YaHei"/>
                <a:ea typeface="Microsoft YaHei"/>
              </a:rPr>
              <a:t>题量与代表性</a:t>
            </a:r>
            <a:endParaRPr/>
          </a:p>
        </p:txBody>
      </p:sp>
      <p:sp>
        <p:nvSpPr>
          <p:cNvPr id="205" name=""/>
          <p:cNvSpPr/>
          <p:nvPr/>
        </p:nvSpPr>
        <p:spPr>
          <a:xfrm rot="0" flipH="0" flipV="0">
            <a:off x="609600" y="1819275"/>
            <a:ext cx="6667500" cy="1162050"/>
          </a:xfrm>
          <a:prstGeom prst="roundRect">
            <a:avLst>
              <a:gd name="adj" fmla="val 8197"/>
            </a:avLst>
          </a:prstGeom>
          <a:solidFill>
            <a:srgbClr val="EDF4FC"/>
          </a:solidFill>
          <a:ln/>
        </p:spPr>
        <p:txBody>
          <a:bodyPr/>
          <a:p/>
        </p:txBody>
      </p:sp>
      <p:sp>
        <p:nvSpPr>
          <p:cNvPr id="206" name="" descr="{&quot;isTemplate&quot;:true,&quot;type&quot;:&quot;text&quot;}"/>
          <p:cNvSpPr txBox="1"/>
          <p:nvPr/>
        </p:nvSpPr>
        <p:spPr>
          <a:xfrm rot="0" flipH="0" flipV="0">
            <a:off x="800100" y="2228850"/>
            <a:ext cx="1143000" cy="342900"/>
          </a:xfrm>
          <a:prstGeom prst="rect"/>
        </p:spPr>
        <p:txBody>
          <a:bodyPr wrap="none" lIns="0" tIns="0" rIns="0" bIns="0"/>
          <a:p>
            <a:pPr>
              <a:lnSpc>
                <a:spcPct val="100000"/>
              </a:lnSpc>
            </a:pPr>
            <a:r>
              <a:rPr lang="en-US" sz="2250" b="1">
                <a:solidFill>
                  <a:srgbClr val="276FBF"/>
                </a:solidFill>
                <a:latin typeface="Microsoft YaHei"/>
                <a:ea typeface="Microsoft YaHei"/>
              </a:rPr>
              <a:t>2,500</a:t>
            </a:r>
            <a:endParaRPr/>
          </a:p>
        </p:txBody>
      </p:sp>
      <p:sp>
        <p:nvSpPr>
          <p:cNvPr id="207" name="" descr="{&quot;isTemplate&quot;:true,&quot;type&quot;:&quot;text&quot;}"/>
          <p:cNvSpPr txBox="1"/>
          <p:nvPr/>
        </p:nvSpPr>
        <p:spPr>
          <a:xfrm rot="0" flipH="0" flipV="0">
            <a:off x="2114550" y="2171700"/>
            <a:ext cx="3152775" cy="190500"/>
          </a:xfrm>
          <a:prstGeom prst="rect"/>
        </p:spPr>
        <p:txBody>
          <a:bodyPr wrap="none" lIns="0" tIns="0" rIns="0" bIns="0"/>
          <a:p>
            <a:pPr>
              <a:lnSpc>
                <a:spcPct val="100000"/>
              </a:lnSpc>
            </a:pPr>
            <a:r>
              <a:rPr lang="en-US" sz="1200" b="1">
                <a:solidFill>
                  <a:srgbClr val="20344B"/>
                </a:solidFill>
                <a:latin typeface="Microsoft YaHei"/>
                <a:ea typeface="Microsoft YaHei"/>
              </a:rPr>
              <a:t>HLE</a:t>
            </a:r>
            <a:endParaRPr/>
          </a:p>
        </p:txBody>
      </p:sp>
      <p:sp>
        <p:nvSpPr>
          <p:cNvPr id="208" name="" descr="{&quot;isTemplate&quot;:true,&quot;type&quot;:&quot;text&quot;}"/>
          <p:cNvSpPr txBox="1"/>
          <p:nvPr/>
        </p:nvSpPr>
        <p:spPr>
          <a:xfrm rot="0" flipH="0" flipV="0">
            <a:off x="2114550" y="2400300"/>
            <a:ext cx="3152775" cy="238125"/>
          </a:xfrm>
          <a:prstGeom prst="rect"/>
        </p:spPr>
        <p:txBody>
          <a:bodyPr wrap="none" lIns="0" tIns="0" rIns="0" bIns="0"/>
          <a:p>
            <a:pPr>
              <a:lnSpc>
                <a:spcPct val="145000"/>
              </a:lnSpc>
            </a:pPr>
            <a:r>
              <a:rPr lang="zh-CN" sz="1050">
                <a:solidFill>
                  <a:srgbClr val="546779"/>
                </a:solidFill>
                <a:latin typeface="Microsoft YaHei"/>
                <a:ea typeface="Microsoft YaHei"/>
              </a:rPr>
              <a:t>一道题约合</a:t>
            </a:r>
            <a:r>
              <a:rPr lang="en-US" sz="1050">
                <a:solidFill>
                  <a:srgbClr val="546779"/>
                </a:solidFill>
                <a:latin typeface="Microsoft YaHei"/>
                <a:ea typeface="Microsoft YaHei"/>
              </a:rPr>
              <a:t xml:space="preserve"> 0.04 </a:t>
            </a:r>
            <a:r>
              <a:rPr lang="zh-CN" sz="1050">
                <a:solidFill>
                  <a:srgbClr val="546779"/>
                </a:solidFill>
                <a:latin typeface="Microsoft YaHei"/>
                <a:ea typeface="Microsoft YaHei"/>
              </a:rPr>
              <a:t>个百分点，小数点后一位是有意义的</a:t>
            </a:r>
            <a:endParaRPr/>
          </a:p>
        </p:txBody>
      </p:sp>
      <p:sp>
        <p:nvSpPr>
          <p:cNvPr id="209" name=""/>
          <p:cNvSpPr/>
          <p:nvPr/>
        </p:nvSpPr>
        <p:spPr>
          <a:xfrm rot="0" flipH="0" flipV="0">
            <a:off x="609600" y="3133725"/>
            <a:ext cx="6667500" cy="1162050"/>
          </a:xfrm>
          <a:prstGeom prst="roundRect">
            <a:avLst>
              <a:gd name="adj" fmla="val 8197"/>
            </a:avLst>
          </a:prstGeom>
          <a:solidFill>
            <a:srgbClr val="F7F3E8"/>
          </a:solidFill>
          <a:ln/>
        </p:spPr>
        <p:txBody>
          <a:bodyPr/>
          <a:p/>
        </p:txBody>
      </p:sp>
      <p:sp>
        <p:nvSpPr>
          <p:cNvPr id="210" name="" descr="{&quot;isTemplate&quot;:true,&quot;type&quot;:&quot;text&quot;}"/>
          <p:cNvSpPr txBox="1"/>
          <p:nvPr/>
        </p:nvSpPr>
        <p:spPr>
          <a:xfrm rot="0" flipH="0" flipV="0">
            <a:off x="800100" y="3543300"/>
            <a:ext cx="1143000" cy="342900"/>
          </a:xfrm>
          <a:prstGeom prst="rect"/>
        </p:spPr>
        <p:txBody>
          <a:bodyPr wrap="none" lIns="0" tIns="0" rIns="0" bIns="0"/>
          <a:p>
            <a:pPr>
              <a:lnSpc>
                <a:spcPct val="100000"/>
              </a:lnSpc>
            </a:pPr>
            <a:r>
              <a:rPr lang="en-US" sz="2250" b="1">
                <a:solidFill>
                  <a:srgbClr val="546779"/>
                </a:solidFill>
                <a:latin typeface="Microsoft YaHei"/>
                <a:ea typeface="Microsoft YaHei"/>
              </a:rPr>
              <a:t>198</a:t>
            </a:r>
            <a:endParaRPr/>
          </a:p>
        </p:txBody>
      </p:sp>
      <p:sp>
        <p:nvSpPr>
          <p:cNvPr id="211" name="" descr="{&quot;isTemplate&quot;:true,&quot;type&quot;:&quot;text&quot;}"/>
          <p:cNvSpPr txBox="1"/>
          <p:nvPr/>
        </p:nvSpPr>
        <p:spPr>
          <a:xfrm rot="0" flipH="0" flipV="0">
            <a:off x="2114550" y="3486150"/>
            <a:ext cx="3609975" cy="190500"/>
          </a:xfrm>
          <a:prstGeom prst="rect"/>
        </p:spPr>
        <p:txBody>
          <a:bodyPr wrap="none" lIns="0" tIns="0" rIns="0" bIns="0"/>
          <a:p>
            <a:pPr>
              <a:lnSpc>
                <a:spcPct val="100000"/>
              </a:lnSpc>
            </a:pPr>
            <a:r>
              <a:rPr lang="en-US" sz="1200" b="1">
                <a:solidFill>
                  <a:srgbClr val="20344B"/>
                </a:solidFill>
                <a:latin typeface="Microsoft YaHei"/>
                <a:ea typeface="Microsoft YaHei"/>
              </a:rPr>
              <a:t>GPQA Diamond</a:t>
            </a:r>
            <a:endParaRPr/>
          </a:p>
        </p:txBody>
      </p:sp>
      <p:sp>
        <p:nvSpPr>
          <p:cNvPr id="212" name="" descr="{&quot;isTemplate&quot;:true,&quot;type&quot;:&quot;text&quot;}"/>
          <p:cNvSpPr txBox="1"/>
          <p:nvPr/>
        </p:nvSpPr>
        <p:spPr>
          <a:xfrm rot="0" flipH="0" flipV="0">
            <a:off x="2114550" y="3714750"/>
            <a:ext cx="3609975" cy="238125"/>
          </a:xfrm>
          <a:prstGeom prst="rect"/>
        </p:spPr>
        <p:txBody>
          <a:bodyPr wrap="none" lIns="0" tIns="0" rIns="0" bIns="0"/>
          <a:p>
            <a:pPr>
              <a:lnSpc>
                <a:spcPct val="145000"/>
              </a:lnSpc>
            </a:pPr>
            <a:r>
              <a:rPr lang="zh-CN" sz="1050">
                <a:solidFill>
                  <a:srgbClr val="546779"/>
                </a:solidFill>
                <a:latin typeface="Microsoft YaHei"/>
                <a:ea typeface="Microsoft YaHei"/>
              </a:rPr>
              <a:t>一道题约合</a:t>
            </a:r>
            <a:r>
              <a:rPr lang="en-US" sz="1050">
                <a:solidFill>
                  <a:srgbClr val="546779"/>
                </a:solidFill>
                <a:latin typeface="Microsoft YaHei"/>
                <a:ea typeface="Microsoft YaHei"/>
              </a:rPr>
              <a:t xml:space="preserve"> 0.5 </a:t>
            </a:r>
            <a:r>
              <a:rPr lang="zh-CN" sz="1050">
                <a:solidFill>
                  <a:srgbClr val="546779"/>
                </a:solidFill>
                <a:latin typeface="Microsoft YaHei"/>
                <a:ea typeface="Microsoft YaHei"/>
              </a:rPr>
              <a:t>个百分点，一个百分点的差距可能只是两道题</a:t>
            </a:r>
            <a:endParaRPr/>
          </a:p>
        </p:txBody>
      </p:sp>
      <p:sp>
        <p:nvSpPr>
          <p:cNvPr id="213" name=""/>
          <p:cNvSpPr/>
          <p:nvPr/>
        </p:nvSpPr>
        <p:spPr>
          <a:xfrm rot="0" flipH="0" flipV="0">
            <a:off x="609600" y="4448175"/>
            <a:ext cx="6667500" cy="1162050"/>
          </a:xfrm>
          <a:prstGeom prst="roundRect">
            <a:avLst>
              <a:gd name="adj" fmla="val 8197"/>
            </a:avLst>
          </a:prstGeom>
          <a:solidFill>
            <a:srgbClr val="FFF4E6"/>
          </a:solidFill>
          <a:ln/>
        </p:spPr>
        <p:txBody>
          <a:bodyPr/>
          <a:p/>
        </p:txBody>
      </p:sp>
      <p:sp>
        <p:nvSpPr>
          <p:cNvPr id="214" name="" descr="{&quot;isTemplate&quot;:true,&quot;type&quot;:&quot;text&quot;}"/>
          <p:cNvSpPr txBox="1"/>
          <p:nvPr/>
        </p:nvSpPr>
        <p:spPr>
          <a:xfrm rot="0" flipH="0" flipV="0">
            <a:off x="800100" y="4857750"/>
            <a:ext cx="1143000" cy="342900"/>
          </a:xfrm>
          <a:prstGeom prst="rect"/>
        </p:spPr>
        <p:txBody>
          <a:bodyPr wrap="none" lIns="0" tIns="0" rIns="0" bIns="0"/>
          <a:p>
            <a:pPr>
              <a:lnSpc>
                <a:spcPct val="100000"/>
              </a:lnSpc>
            </a:pPr>
            <a:r>
              <a:rPr lang="en-US" sz="2250" b="1">
                <a:solidFill>
                  <a:srgbClr val="CB6B28"/>
                </a:solidFill>
                <a:latin typeface="Microsoft YaHei"/>
                <a:ea typeface="Microsoft YaHei"/>
              </a:rPr>
              <a:t>43</a:t>
            </a:r>
            <a:endParaRPr/>
          </a:p>
        </p:txBody>
      </p:sp>
      <p:sp>
        <p:nvSpPr>
          <p:cNvPr id="215" name="" descr="{&quot;isTemplate&quot;:true,&quot;type&quot;:&quot;text&quot;}"/>
          <p:cNvSpPr txBox="1"/>
          <p:nvPr/>
        </p:nvSpPr>
        <p:spPr>
          <a:xfrm rot="0" flipH="0" flipV="0">
            <a:off x="2114550" y="4800600"/>
            <a:ext cx="3076575" cy="190500"/>
          </a:xfrm>
          <a:prstGeom prst="rect"/>
        </p:spPr>
        <p:txBody>
          <a:bodyPr wrap="none" lIns="0" tIns="0" rIns="0" bIns="0"/>
          <a:p>
            <a:pPr>
              <a:lnSpc>
                <a:spcPct val="100000"/>
              </a:lnSpc>
            </a:pPr>
            <a:r>
              <a:rPr lang="en-US" sz="1200" b="1">
                <a:solidFill>
                  <a:srgbClr val="CB6B28"/>
                </a:solidFill>
                <a:latin typeface="Microsoft YaHei"/>
                <a:ea typeface="Microsoft YaHei"/>
              </a:rPr>
              <a:t>FrontierMath Tier 4</a:t>
            </a:r>
            <a:endParaRPr/>
          </a:p>
        </p:txBody>
      </p:sp>
      <p:sp>
        <p:nvSpPr>
          <p:cNvPr id="216" name="" descr="{&quot;isTemplate&quot;:true,&quot;type&quot;:&quot;text&quot;}"/>
          <p:cNvSpPr txBox="1"/>
          <p:nvPr/>
        </p:nvSpPr>
        <p:spPr>
          <a:xfrm rot="0" flipH="0" flipV="0">
            <a:off x="2114550" y="5029200"/>
            <a:ext cx="3076575" cy="238125"/>
          </a:xfrm>
          <a:prstGeom prst="rect"/>
        </p:spPr>
        <p:txBody>
          <a:bodyPr wrap="none" lIns="0" tIns="0" rIns="0" bIns="0"/>
          <a:p>
            <a:pPr>
              <a:lnSpc>
                <a:spcPct val="145000"/>
              </a:lnSpc>
            </a:pPr>
            <a:r>
              <a:rPr lang="zh-CN" sz="1050">
                <a:solidFill>
                  <a:srgbClr val="CB6B28"/>
                </a:solidFill>
                <a:latin typeface="Microsoft YaHei"/>
                <a:ea typeface="Microsoft YaHei"/>
              </a:rPr>
              <a:t>一道题约合</a:t>
            </a:r>
            <a:r>
              <a:rPr lang="en-US" sz="1050">
                <a:solidFill>
                  <a:srgbClr val="CB6B28"/>
                </a:solidFill>
                <a:latin typeface="Microsoft YaHei"/>
                <a:ea typeface="Microsoft YaHei"/>
              </a:rPr>
              <a:t xml:space="preserve"> 2.3 </a:t>
            </a:r>
            <a:r>
              <a:rPr lang="zh-CN" sz="1050">
                <a:solidFill>
                  <a:srgbClr val="CB6B28"/>
                </a:solidFill>
                <a:latin typeface="Microsoft YaHei"/>
                <a:ea typeface="Microsoft YaHei"/>
              </a:rPr>
              <a:t>个百分点，分数必须带着误差范围读</a:t>
            </a:r>
            <a:endParaRPr/>
          </a:p>
        </p:txBody>
      </p:sp>
      <p:sp>
        <p:nvSpPr>
          <p:cNvPr id="217" name=""/>
          <p:cNvSpPr/>
          <p:nvPr/>
        </p:nvSpPr>
        <p:spPr>
          <a:xfrm rot="0" flipH="0" flipV="0">
            <a:off x="7543800" y="1819275"/>
            <a:ext cx="4038600" cy="3790950"/>
          </a:xfrm>
          <a:prstGeom prst="roundRect">
            <a:avLst>
              <a:gd name="adj" fmla="val 3015"/>
            </a:avLst>
          </a:prstGeom>
          <a:solidFill>
            <a:srgbClr val="F4F7FA"/>
          </a:solidFill>
          <a:ln/>
        </p:spPr>
        <p:txBody>
          <a:bodyPr/>
          <a:p/>
        </p:txBody>
      </p:sp>
      <p:sp>
        <p:nvSpPr>
          <p:cNvPr id="218" name="" descr="{&quot;isTemplate&quot;:true,&quot;type&quot;:&quot;text&quot;}"/>
          <p:cNvSpPr txBox="1"/>
          <p:nvPr/>
        </p:nvSpPr>
        <p:spPr>
          <a:xfrm rot="0" flipH="0" flipV="0">
            <a:off x="7734300" y="2009775"/>
            <a:ext cx="3657600" cy="285750"/>
          </a:xfrm>
          <a:prstGeom prst="rect"/>
        </p:spPr>
        <p:txBody>
          <a:bodyPr wrap="none" lIns="0" tIns="0" rIns="0" bIns="0"/>
          <a:p>
            <a:pPr>
              <a:lnSpc>
                <a:spcPct val="135000"/>
              </a:lnSpc>
            </a:pPr>
            <a:r>
              <a:rPr lang="zh-CN" sz="1350" b="1">
                <a:solidFill>
                  <a:srgbClr val="20344B"/>
                </a:solidFill>
                <a:latin typeface="Microsoft YaHei"/>
                <a:ea typeface="Microsoft YaHei"/>
              </a:rPr>
              <a:t>同样一句</a:t>
            </a:r>
            <a:r>
              <a:rPr lang="en-US" sz="1350" b="1">
                <a:solidFill>
                  <a:srgbClr val="20344B"/>
                </a:solidFill>
                <a:latin typeface="Microsoft YaHei"/>
                <a:ea typeface="Microsoft YaHei"/>
              </a:rPr>
              <a:t>"</a:t>
            </a:r>
            <a:r>
              <a:rPr lang="zh-CN" sz="1350" b="1">
                <a:solidFill>
                  <a:srgbClr val="20344B"/>
                </a:solidFill>
                <a:latin typeface="Microsoft YaHei"/>
                <a:ea typeface="Microsoft YaHei"/>
              </a:rPr>
              <a:t>领先两个百分点</a:t>
            </a:r>
            <a:r>
              <a:rPr lang="en-US" sz="1350" b="1">
                <a:solidFill>
                  <a:srgbClr val="20344B"/>
                </a:solidFill>
                <a:latin typeface="Microsoft YaHei"/>
                <a:ea typeface="Microsoft YaHei"/>
              </a:rPr>
              <a:t>"</a:t>
            </a:r>
            <a:endParaRPr/>
          </a:p>
        </p:txBody>
      </p:sp>
      <p:sp>
        <p:nvSpPr>
          <p:cNvPr id="219" name="" descr="{&quot;isTemplate&quot;:true,&quot;type&quot;:&quot;text&quot;}"/>
          <p:cNvSpPr txBox="1"/>
          <p:nvPr/>
        </p:nvSpPr>
        <p:spPr>
          <a:xfrm rot="0" flipH="0" flipV="0">
            <a:off x="7734300" y="2409825"/>
            <a:ext cx="3657600"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在</a:t>
            </a:r>
            <a:r>
              <a:rPr lang="en-US" sz="1125">
                <a:solidFill>
                  <a:srgbClr val="546779"/>
                </a:solidFill>
                <a:latin typeface="Microsoft YaHei"/>
                <a:ea typeface="Microsoft YaHei"/>
              </a:rPr>
              <a:t xml:space="preserve"> 2,500 </a:t>
            </a:r>
            <a:r>
              <a:rPr lang="zh-CN" sz="1125">
                <a:solidFill>
                  <a:srgbClr val="546779"/>
                </a:solidFill>
                <a:latin typeface="Microsoft YaHei"/>
                <a:ea typeface="Microsoft YaHei"/>
              </a:rPr>
              <a:t>题的基准上，是五十道题左右的差距，比较可信。</a:t>
            </a:r>
            <a:endParaRPr/>
          </a:p>
        </p:txBody>
      </p:sp>
      <p:sp>
        <p:nvSpPr>
          <p:cNvPr id="220" name="" descr="{&quot;isTemplate&quot;:true,&quot;type&quot;:&quot;text&quot;}"/>
          <p:cNvSpPr txBox="1"/>
          <p:nvPr/>
        </p:nvSpPr>
        <p:spPr>
          <a:xfrm rot="0" flipH="0" flipV="0">
            <a:off x="7734300" y="3057525"/>
            <a:ext cx="3657600" cy="266700"/>
          </a:xfrm>
          <a:prstGeom prst="rect"/>
        </p:spPr>
        <p:txBody>
          <a:bodyPr wrap="none" lIns="0" tIns="0" rIns="0" bIns="0"/>
          <a:p>
            <a:pPr>
              <a:lnSpc>
                <a:spcPct val="155000"/>
              </a:lnSpc>
            </a:pPr>
            <a:r>
              <a:rPr lang="zh-CN" sz="1125">
                <a:solidFill>
                  <a:srgbClr val="546779"/>
                </a:solidFill>
                <a:latin typeface="Microsoft YaHei"/>
                <a:ea typeface="Microsoft YaHei"/>
              </a:rPr>
              <a:t>在</a:t>
            </a:r>
            <a:r>
              <a:rPr lang="en-US" sz="1125">
                <a:solidFill>
                  <a:srgbClr val="546779"/>
                </a:solidFill>
                <a:latin typeface="Microsoft YaHei"/>
                <a:ea typeface="Microsoft YaHei"/>
              </a:rPr>
              <a:t xml:space="preserve"> 43 </a:t>
            </a:r>
            <a:r>
              <a:rPr lang="zh-CN" sz="1125">
                <a:solidFill>
                  <a:srgbClr val="546779"/>
                </a:solidFill>
                <a:latin typeface="Microsoft YaHei"/>
                <a:ea typeface="Microsoft YaHei"/>
              </a:rPr>
              <a:t>题的基准上，还不到一道题，几乎不构成信号。</a:t>
            </a:r>
            <a:endParaRPr/>
          </a:p>
        </p:txBody>
      </p:sp>
      <p:sp>
        <p:nvSpPr>
          <p:cNvPr id="221" name=""/>
          <p:cNvSpPr/>
          <p:nvPr/>
        </p:nvSpPr>
        <p:spPr>
          <a:xfrm rot="0" flipH="0" flipV="0">
            <a:off x="7734300" y="4724400"/>
            <a:ext cx="3657600" cy="695325"/>
          </a:xfrm>
          <a:prstGeom prst="roundRect">
            <a:avLst>
              <a:gd name="adj" fmla="val 10959"/>
            </a:avLst>
          </a:prstGeom>
          <a:solidFill>
            <a:srgbClr val="FFF4E6"/>
          </a:solidFill>
          <a:ln/>
        </p:spPr>
        <p:txBody>
          <a:bodyPr/>
          <a:p/>
        </p:txBody>
      </p:sp>
      <p:sp>
        <p:nvSpPr>
          <p:cNvPr id="222" name=""/>
          <p:cNvSpPr/>
          <p:nvPr/>
        </p:nvSpPr>
        <p:spPr>
          <a:xfrm rot="0" flipH="0" flipV="0">
            <a:off x="7867650" y="4867275"/>
            <a:ext cx="38100" cy="419100"/>
          </a:xfrm>
          <a:prstGeom prst="rect">
            <a:avLst/>
          </a:prstGeom>
          <a:solidFill>
            <a:srgbClr val="CB6B28"/>
          </a:solidFill>
          <a:ln/>
        </p:spPr>
        <p:txBody>
          <a:bodyPr/>
          <a:p/>
        </p:txBody>
      </p:sp>
      <p:sp>
        <p:nvSpPr>
          <p:cNvPr id="223" name="" descr="{&quot;isTemplate&quot;:true,&quot;type&quot;:&quot;text&quot;}"/>
          <p:cNvSpPr txBox="1"/>
          <p:nvPr/>
        </p:nvSpPr>
        <p:spPr>
          <a:xfrm rot="0" flipH="0" flipV="0">
            <a:off x="8020050" y="4838700"/>
            <a:ext cx="3238500" cy="466725"/>
          </a:xfrm>
          <a:prstGeom prst="rect"/>
        </p:spPr>
        <p:txBody>
          <a:bodyPr wrap="square" lIns="0" tIns="0" rIns="0" bIns="0">
            <a:normAutofit/>
          </a:bodyPr>
          <a:p>
            <a:pPr>
              <a:lnSpc>
                <a:spcPct val="145000"/>
              </a:lnSpc>
            </a:pPr>
            <a:r>
              <a:rPr lang="zh-CN" sz="1050">
                <a:solidFill>
                  <a:srgbClr val="CB6B28"/>
                </a:solidFill>
                <a:latin typeface="Microsoft YaHei"/>
                <a:ea typeface="Microsoft YaHei"/>
              </a:rPr>
              <a:t>题量小不等于不好；它只是必须配误差范围和人工复核一起读</a:t>
            </a:r>
            <a:endParaRPr/>
          </a:p>
        </p:txBody>
      </p:sp>
      <p:sp>
        <p:nvSpPr>
          <p:cNvPr id="224"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22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15 / 36</a:t>
            </a:r>
            <a:endParaRPr/>
          </a:p>
        </p:txBody>
      </p:sp>
    </p:spTree>
  </p:cSld>
</p:sld>
</file>

<file path=ppt/slides/slide16.xml><?xml version="1.0" encoding="utf-8"?>
<p:sld xmlns:p="http://schemas.openxmlformats.org/presentationml/2006/main" xmlns:a="http://schemas.openxmlformats.org/drawingml/2006/main">
  <p:cSld>
    <p:spTree>
      <p:nvGrpSpPr>
        <p:cNvPr id="226" name="" descr="&lt;Slide notes={`难度分层是我最想强调的一点，因为它经常被忽略。&#10;&#10;GPQA 有三层。全部六百四十六题叫 Extended；筛掉专家意见不一致的，剩四百四十八题叫 Main；再收紧，要求两位专家都答对、而且非专家最多只能答对三分之一，剩一百九十八题才叫 Diamond。所以看到 GPQA，一定要问是哪一层。&#10;&#10;SWE-bench 也类似。原始版两千两百九十四题，人工核验过的五百题子集叫 Verified，后来为了抗污染又做了更大的 Pro 版，一千八百六十五题，覆盖多种编程语言。&#10;&#10;FrontierMath 第二版总共三百三十八题，分四层难度，其中第四层四十三题是研究级的，一名相关领域研究者可能要花好几个小时，最难的甚至要好几天。&#10;&#10;同一套题库，看的是哪一层，分数的含义完全不同。`}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③　1.4.3　样本集：同一个名字底下藏着几层不同的题&lt;/Text&gt;&#10;            &lt;Text style={{ fontSize: 34, fontWeight: 'bold', color: '#20344B' }}&gt;难度分层&lt;/Text&gt;&#10;        &lt;/Box&gt;&#10;    &lt;/Box&gt;&#10;&#10;    &lt;Box style={{ height: 540, flexDirection: 'column', justifyContent: 'center', gap: 18 }}&gt;&#10;&#10;        &lt;Box style={{ flexDirection: 'row', gap: 16 }}&gt;&#10;&#10;            &lt;Box style={{ width: 373, height: 396, background: '#F4F7FA', borderRadius: 12, padding: '18px 18px', flexDirection: 'column', gap: 10 }}&gt;&#10;                &lt;Text style={{ fontSize: 18, fontWeight: 'bold', color: '#20344B' }}&gt;GPQA&lt;/Text&gt;&#10;                &lt;Box style={{ flexDirection: 'row', alignItems: 'center', gap: 12, background: '#EDF4FC', borderRadius: 8, padding: '12px 14px' }}&gt;&#10;                    &lt;Text style={{ width: 80, fontSize: 18, fontWeight: 'bold', color: '#276FBF' }}&gt;546&lt;/Text&gt;&#10;                    &lt;Text style={{ fontSize: 14, color: '#546779', lineHeight: 1.4 }}&gt;Extended：全部题目&lt;/Text&gt;&#10;                &lt;/Box&gt;&#10;                &lt;Box style={{ flexDirection: 'row', alignItems: 'center', gap: 12, background: '#EDF4FC', borderRadius: 8, padding: '12px 14px' }}&gt;&#10;                    &lt;Text style={{ width: 80, fontSize: 18, fontWeight: 'bold', color: '#276FBF' }}&gt;448&lt;/Text&gt;&#10;                    &lt;Text style={{ fontSize: 14, color: '#546779', lineHeight: 1.4 }}&gt;Main：专家过半认同&lt;/Text&gt;&#10;                &lt;/Box&gt;&#10;                &lt;Box style={{ flexDirection: 'row', alignItems: 'center', gap: 12, background: '#FFF4E6', borderRadius: 8, padding: '12px 14px' }}&gt;&#10;                    &lt;Text style={{ width: 80, fontSize: 18, fontWeight: 'bold', color: '#CB6B28' }}&gt;198&lt;/Text&gt;&#10;                    &lt;Text style={{ fontSize: 14, color: '#CB6B28', lineHeight: 1.4 }}&gt;Diamond：两位专家全对、非专家至多答对三分之一&lt;/Text&gt;&#10;                &lt;/Box&gt;&#10;                &lt;Box style={{ flex: 1 }} /&gt;&#10;                &lt;Text style={{ fontSize: 13, color: '#546779', lineHeight: 1.4 }}&gt;引用时必须写明是哪一层&lt;/Text&gt;&#10;            &lt;/Box&gt;&#10;&#10;            &lt;Box style={{ width: 373, height: 396, background: '#F4F7FA', borderRadius: 12, padding: '18px 18px', flexDirection: 'column', gap: 10 }}&gt;&#10;                &lt;Text style={{ fontSize: 18, fontWeight: 'bold', color: '#20344B' }}&gt;SWE-bench&lt;/Text&gt;&#10;                &lt;Box style={{ flexDirection: 'row', alignItems: 'center', gap: 12, background: '#F7F3E8', borderRadius: 8, padding: '12px 14px' }}&gt;&#10;                    &lt;Text style={{ width: 80, fontSize: 18, fontWeight: 'bold', color: '#546779' }}&gt;2,294&lt;/Text&gt;&#10;                    &lt;Text style={{ fontSize: 14, color: '#546779', lineHeight: 1.4 }}&gt;Full：原始全量&lt;/Text&gt;&#10;                &lt;/Box&gt;&#10;                &lt;Box style={{ flexDirection: 'row', alignItems: 'center', gap: 12, background: '#FFF4E6', borderRadius: 8, padding: '12px 14px' }}&gt;&#10;                    &lt;Text style={{ width: 80, fontSize: 18, fontWeight: 'bold', color: '#CB6B28' }}&gt;500&lt;/Text&gt;&#10;                    &lt;Text style={{ fontSize: 14, color: '#CB6B28', lineHeight: 1.4 }}&gt;Verified：人工核验子集，2026 年 2 月退役&lt;/Text&gt;&#10;                &lt;/Box&gt;&#10;                &lt;Box style={{ flexDirection: 'row', alignItems: 'center', gap: 12, background: '#ECF7F2', borderRadius: 8, padding: '12px 14px' }}&gt;&#10;                    &lt;Text style={{ width: 80, fontSize: 18, fontWeight: 'bold', color: '#26816B' }}&gt;1,865&lt;/Text&gt;&#10;                    &lt;Text style={{ fontSize: 14, color: '#26816B', lineHeight: 1.4 }}&gt;Pro：多语言、结构性抗污染&lt;/Text&gt;&#10;                &lt;/Box&gt;&#10;                &lt;Box style={{ flex: 1 }} /&gt;&#10;                &lt;Text style={{ fontSize: 13, color: '#546779', lineHeight: 1.4 }}&gt;三个版本的分数不可互换&lt;/Text&gt;&#10;            &lt;/Box&gt;&#10;&#10;            &lt;Box style={{ width: 373, height: 396, background: '#F4F7FA', borderRadius: 12, padding: '18px 18px', flexDirection: 'column', gap: 10 }}&gt;&#10;                &lt;Text style={{ fontSize: 18, fontWeight: 'bold', color: '#20344B' }}&gt;FrontierMath（v2）&lt;/Text&gt;&#10;                &lt;Box style={{ flexDirection: 'row', alignItems: 'center', gap: 12, background: '#EDF4FC', borderRadius: 8, padding: '12px 14px' }}&gt;&#10;                    &lt;Text style={{ width: 80, fontSize: 18, fontWeight: 'bold', color: '#276FBF' }}&gt;338&lt;/Text&gt;&#10;                    &lt;Text style={{ fontSize: 14, color: '#546779', lineHeight: 1.4 }}&gt;第二版题目总数&lt;/Text&gt;&#10;                &lt;/Box&gt;&#10;                &lt;Box style={{ flexDirection: 'row', alignItems: 'center', gap: 12, background: '#EDF4FC', borderRadius: 8, padding: '12px 14px' }}&gt;&#10;                    &lt;Text style={{ width: 80, fontSize: 18, fontWeight: 'bold', color: '#276FBF' }}&gt;295&lt;/Text&gt;&#10;                    &lt;Text style={{ fontSize: 14, color: '#546779', lineHeight: 1.4 }}&gt;第 1–3 层：较易到很难&lt;/Text&gt;&#10;                &lt;/Box&gt;&#10;                &lt;Box style={{ flexDirection: 'row', alignItems: 'center', gap: 12, background: '#FFF4E6', borderRadius: 8, padding: '12px 14px' }}&gt;&#10;                    &lt;Text style={{ width: 80, fontSize: 18, fontWeight: 'bold', color: '#CB6B28' }}&gt;43&lt;/Text&gt;&#10;                    &lt;Text style={{ fontSize: 14, color: '#CB6B28', lineHeight: 1.4 }}&gt;第 4 层：研究级，私有题集&lt;/Text&gt;&#10;                &lt;/Box&gt;&#10;                &lt;Box style={{ flex: 1 }} /&gt;&#10;                &lt;Text style={{ fontSize: 13, color: '#546779', lineHeight: 1.4 }}&gt;官方成绩默认用私有集&lt;/Text&gt;&#10;            &lt;/Box&gt;&#10;&#10;        &lt;/Box&gt;&#10;&#10;    &lt;/Box&gt;&#10;&#10;    &lt;Box style={{ height: 40, flexDirection: 'row', justifyContent: 'space-between', alignItems: 'center' }}&gt;&#10;        &lt;Text style={{ fontSize: 14, color: '#546779' }}&gt;1.4 从榜单到证据&lt;/Text&gt;&#10;        &lt;Text style={{ fontSize: 14, color: '#546779' }}&gt;16 / 36&lt;/Text&gt;&#10;    &lt;/Box&gt;&#10;&#10;&lt;/Slide&gt;&#10;"/>
        <p:cNvGrpSpPr/>
        <p:nvPr/>
      </p:nvGrpSpPr>
      <p:grpSpPr>
        <a:xfrm>
          <a:off x="0" y="0"/>
          <a:ext cx="0" cy="0"/>
          <a:chOff x="0" y="0"/>
          <a:chExt cx="0" cy="0"/>
        </a:xfrm>
      </p:grpSpPr>
      <p:sp>
        <p:nvSpPr>
          <p:cNvPr id="227" name=""/>
          <p:cNvSpPr/>
          <p:nvPr/>
        </p:nvSpPr>
        <p:spPr>
          <a:xfrm rot="0" flipH="0" flipV="0">
            <a:off x="0" y="0"/>
            <a:ext cx="12192000" cy="6858000"/>
          </a:xfrm>
          <a:prstGeom prst="rect">
            <a:avLst/>
          </a:prstGeom>
          <a:solidFill>
            <a:srgbClr val="FFFFFF"/>
          </a:solidFill>
          <a:ln/>
        </p:spPr>
        <p:txBody>
          <a:bodyPr/>
          <a:p/>
        </p:txBody>
      </p:sp>
      <p:sp>
        <p:nvSpPr>
          <p:cNvPr id="228" name=""/>
          <p:cNvSpPr/>
          <p:nvPr/>
        </p:nvSpPr>
        <p:spPr>
          <a:xfrm rot="0" flipH="0" flipV="0">
            <a:off x="609600" y="457200"/>
            <a:ext cx="38100" cy="419100"/>
          </a:xfrm>
          <a:prstGeom prst="rect">
            <a:avLst/>
          </a:prstGeom>
          <a:solidFill>
            <a:srgbClr val="276FBF"/>
          </a:solidFill>
          <a:ln/>
        </p:spPr>
        <p:txBody>
          <a:bodyPr/>
          <a:p/>
        </p:txBody>
      </p:sp>
      <p:sp>
        <p:nvSpPr>
          <p:cNvPr id="229" name="" descr="{&quot;isTemplate&quot;:true,&quot;type&quot;:&quot;text&quot;}"/>
          <p:cNvSpPr txBox="1"/>
          <p:nvPr/>
        </p:nvSpPr>
        <p:spPr>
          <a:xfrm rot="0" flipH="0" flipV="0">
            <a:off x="838200" y="371475"/>
            <a:ext cx="3238500" cy="161925"/>
          </a:xfrm>
          <a:prstGeom prst="rect"/>
        </p:spPr>
        <p:txBody>
          <a:bodyPr wrap="none" lIns="0" tIns="0" rIns="0" bIns="0"/>
          <a:p>
            <a:pPr>
              <a:lnSpc>
                <a:spcPct val="100000"/>
              </a:lnSpc>
            </a:pPr>
            <a:r>
              <a:rPr lang="zh-CN" sz="1050">
                <a:solidFill>
                  <a:srgbClr val="546779"/>
                </a:solidFill>
                <a:latin typeface="Microsoft YaHei"/>
                <a:ea typeface="Microsoft YaHei"/>
              </a:rPr>
              <a:t>③　</a:t>
            </a:r>
            <a:r>
              <a:rPr lang="en-US" sz="1050">
                <a:solidFill>
                  <a:srgbClr val="546779"/>
                </a:solidFill>
                <a:latin typeface="Microsoft YaHei"/>
                <a:ea typeface="Microsoft YaHei"/>
              </a:rPr>
              <a:t>1.4.3</a:t>
            </a:r>
            <a:r>
              <a:rPr lang="zh-CN" sz="1050">
                <a:solidFill>
                  <a:srgbClr val="546779"/>
                </a:solidFill>
                <a:latin typeface="Microsoft YaHei"/>
                <a:ea typeface="Microsoft YaHei"/>
              </a:rPr>
              <a:t>　样本集：同一个名字底下藏着几层不同的题</a:t>
            </a:r>
            <a:endParaRPr/>
          </a:p>
        </p:txBody>
      </p:sp>
      <p:sp>
        <p:nvSpPr>
          <p:cNvPr id="230" name="" descr="{&quot;isTemplate&quot;:true,&quot;type&quot;:&quot;text&quot;}"/>
          <p:cNvSpPr txBox="1"/>
          <p:nvPr/>
        </p:nvSpPr>
        <p:spPr>
          <a:xfrm rot="0" flipH="0" flipV="0">
            <a:off x="838200" y="571500"/>
            <a:ext cx="3238500" cy="390525"/>
          </a:xfrm>
          <a:prstGeom prst="rect"/>
        </p:spPr>
        <p:txBody>
          <a:bodyPr wrap="none" lIns="0" tIns="0" rIns="0" bIns="0"/>
          <a:p>
            <a:pPr>
              <a:lnSpc>
                <a:spcPct val="100000"/>
              </a:lnSpc>
            </a:pPr>
            <a:r>
              <a:rPr lang="zh-CN" sz="2550" b="1">
                <a:solidFill>
                  <a:srgbClr val="20344B"/>
                </a:solidFill>
                <a:latin typeface="Microsoft YaHei"/>
                <a:ea typeface="Microsoft YaHei"/>
              </a:rPr>
              <a:t>难度分层</a:t>
            </a:r>
            <a:endParaRPr/>
          </a:p>
        </p:txBody>
      </p:sp>
      <p:sp>
        <p:nvSpPr>
          <p:cNvPr id="231" name=""/>
          <p:cNvSpPr/>
          <p:nvPr/>
        </p:nvSpPr>
        <p:spPr>
          <a:xfrm rot="0" flipH="0" flipV="0">
            <a:off x="609600" y="1828800"/>
            <a:ext cx="3552825" cy="3771900"/>
          </a:xfrm>
          <a:prstGeom prst="roundRect">
            <a:avLst>
              <a:gd name="adj" fmla="val 3217"/>
            </a:avLst>
          </a:prstGeom>
          <a:solidFill>
            <a:srgbClr val="F4F7FA"/>
          </a:solidFill>
          <a:ln/>
        </p:spPr>
        <p:txBody>
          <a:bodyPr/>
          <a:p/>
        </p:txBody>
      </p:sp>
      <p:sp>
        <p:nvSpPr>
          <p:cNvPr id="232" name="" descr="{&quot;isTemplate&quot;:true,&quot;type&quot;:&quot;text&quot;}"/>
          <p:cNvSpPr txBox="1"/>
          <p:nvPr/>
        </p:nvSpPr>
        <p:spPr>
          <a:xfrm rot="0" flipH="0" flipV="0">
            <a:off x="781050" y="2000250"/>
            <a:ext cx="3209925" cy="209550"/>
          </a:xfrm>
          <a:prstGeom prst="rect"/>
        </p:spPr>
        <p:txBody>
          <a:bodyPr wrap="none" lIns="0" tIns="0" rIns="0" bIns="0"/>
          <a:p>
            <a:pPr>
              <a:lnSpc>
                <a:spcPct val="100000"/>
              </a:lnSpc>
            </a:pPr>
            <a:r>
              <a:rPr lang="en-US" sz="1350" b="1">
                <a:solidFill>
                  <a:srgbClr val="20344B"/>
                </a:solidFill>
                <a:latin typeface="Microsoft YaHei"/>
                <a:ea typeface="Microsoft YaHei"/>
              </a:rPr>
              <a:t>GPQA</a:t>
            </a:r>
            <a:endParaRPr/>
          </a:p>
        </p:txBody>
      </p:sp>
      <p:sp>
        <p:nvSpPr>
          <p:cNvPr id="233" name=""/>
          <p:cNvSpPr/>
          <p:nvPr/>
        </p:nvSpPr>
        <p:spPr>
          <a:xfrm rot="0" flipH="0" flipV="0">
            <a:off x="781050" y="2305050"/>
            <a:ext cx="3209925" cy="457200"/>
          </a:xfrm>
          <a:prstGeom prst="roundRect">
            <a:avLst>
              <a:gd name="adj" fmla="val 16667"/>
            </a:avLst>
          </a:prstGeom>
          <a:solidFill>
            <a:srgbClr val="EDF4FC"/>
          </a:solidFill>
          <a:ln/>
        </p:spPr>
        <p:txBody>
          <a:bodyPr/>
          <a:p/>
        </p:txBody>
      </p:sp>
      <p:sp>
        <p:nvSpPr>
          <p:cNvPr id="234" name="" descr="{&quot;isTemplate&quot;:true,&quot;type&quot;:&quot;text&quot;}"/>
          <p:cNvSpPr txBox="1"/>
          <p:nvPr/>
        </p:nvSpPr>
        <p:spPr>
          <a:xfrm rot="0" flipH="0" flipV="0">
            <a:off x="914400" y="2428875"/>
            <a:ext cx="762000" cy="209550"/>
          </a:xfrm>
          <a:prstGeom prst="rect"/>
        </p:spPr>
        <p:txBody>
          <a:bodyPr wrap="none" lIns="0" tIns="0" rIns="0" bIns="0"/>
          <a:p>
            <a:pPr>
              <a:lnSpc>
                <a:spcPct val="100000"/>
              </a:lnSpc>
            </a:pPr>
            <a:r>
              <a:rPr lang="en-US" sz="1350" b="1">
                <a:solidFill>
                  <a:srgbClr val="276FBF"/>
                </a:solidFill>
                <a:latin typeface="Microsoft YaHei"/>
                <a:ea typeface="Microsoft YaHei"/>
              </a:rPr>
              <a:t>546</a:t>
            </a:r>
            <a:endParaRPr/>
          </a:p>
        </p:txBody>
      </p:sp>
      <p:sp>
        <p:nvSpPr>
          <p:cNvPr id="235" name="" descr="{&quot;isTemplate&quot;:true,&quot;type&quot;:&quot;text&quot;}"/>
          <p:cNvSpPr txBox="1"/>
          <p:nvPr/>
        </p:nvSpPr>
        <p:spPr>
          <a:xfrm rot="0" flipH="0" flipV="0">
            <a:off x="1790700" y="2419350"/>
            <a:ext cx="1266825" cy="228600"/>
          </a:xfrm>
          <a:prstGeom prst="rect"/>
        </p:spPr>
        <p:txBody>
          <a:bodyPr wrap="none" lIns="0" tIns="0" rIns="0" bIns="0"/>
          <a:p>
            <a:pPr>
              <a:lnSpc>
                <a:spcPct val="140000"/>
              </a:lnSpc>
            </a:pPr>
            <a:r>
              <a:rPr lang="en-US" sz="1050">
                <a:solidFill>
                  <a:srgbClr val="546779"/>
                </a:solidFill>
                <a:latin typeface="Microsoft YaHei"/>
                <a:ea typeface="Microsoft YaHei"/>
              </a:rPr>
              <a:t>Extended</a:t>
            </a:r>
            <a:r>
              <a:rPr lang="zh-CN" sz="1050">
                <a:solidFill>
                  <a:srgbClr val="546779"/>
                </a:solidFill>
                <a:latin typeface="Microsoft YaHei"/>
                <a:ea typeface="Microsoft YaHei"/>
              </a:rPr>
              <a:t>：全部题目</a:t>
            </a:r>
            <a:endParaRPr/>
          </a:p>
        </p:txBody>
      </p:sp>
      <p:sp>
        <p:nvSpPr>
          <p:cNvPr id="236" name=""/>
          <p:cNvSpPr/>
          <p:nvPr/>
        </p:nvSpPr>
        <p:spPr>
          <a:xfrm rot="0" flipH="0" flipV="0">
            <a:off x="781050" y="2857500"/>
            <a:ext cx="3209925" cy="457200"/>
          </a:xfrm>
          <a:prstGeom prst="roundRect">
            <a:avLst>
              <a:gd name="adj" fmla="val 16667"/>
            </a:avLst>
          </a:prstGeom>
          <a:solidFill>
            <a:srgbClr val="EDF4FC"/>
          </a:solidFill>
          <a:ln/>
        </p:spPr>
        <p:txBody>
          <a:bodyPr/>
          <a:p/>
        </p:txBody>
      </p:sp>
      <p:sp>
        <p:nvSpPr>
          <p:cNvPr id="237" name="" descr="{&quot;isTemplate&quot;:true,&quot;type&quot;:&quot;text&quot;}"/>
          <p:cNvSpPr txBox="1"/>
          <p:nvPr/>
        </p:nvSpPr>
        <p:spPr>
          <a:xfrm rot="0" flipH="0" flipV="0">
            <a:off x="914400" y="2981325"/>
            <a:ext cx="762000" cy="209550"/>
          </a:xfrm>
          <a:prstGeom prst="rect"/>
        </p:spPr>
        <p:txBody>
          <a:bodyPr wrap="none" lIns="0" tIns="0" rIns="0" bIns="0"/>
          <a:p>
            <a:pPr>
              <a:lnSpc>
                <a:spcPct val="100000"/>
              </a:lnSpc>
            </a:pPr>
            <a:r>
              <a:rPr lang="en-US" sz="1350" b="1">
                <a:solidFill>
                  <a:srgbClr val="276FBF"/>
                </a:solidFill>
                <a:latin typeface="Microsoft YaHei"/>
                <a:ea typeface="Microsoft YaHei"/>
              </a:rPr>
              <a:t>448</a:t>
            </a:r>
            <a:endParaRPr/>
          </a:p>
        </p:txBody>
      </p:sp>
      <p:sp>
        <p:nvSpPr>
          <p:cNvPr id="238" name="" descr="{&quot;isTemplate&quot;:true,&quot;type&quot;:&quot;text&quot;}"/>
          <p:cNvSpPr txBox="1"/>
          <p:nvPr/>
        </p:nvSpPr>
        <p:spPr>
          <a:xfrm rot="0" flipH="0" flipV="0">
            <a:off x="1790700" y="2971800"/>
            <a:ext cx="1257300" cy="228600"/>
          </a:xfrm>
          <a:prstGeom prst="rect"/>
        </p:spPr>
        <p:txBody>
          <a:bodyPr wrap="none" lIns="0" tIns="0" rIns="0" bIns="0"/>
          <a:p>
            <a:pPr>
              <a:lnSpc>
                <a:spcPct val="140000"/>
              </a:lnSpc>
            </a:pPr>
            <a:r>
              <a:rPr lang="en-US" sz="1050">
                <a:solidFill>
                  <a:srgbClr val="546779"/>
                </a:solidFill>
                <a:latin typeface="Microsoft YaHei"/>
                <a:ea typeface="Microsoft YaHei"/>
              </a:rPr>
              <a:t>Main</a:t>
            </a:r>
            <a:r>
              <a:rPr lang="zh-CN" sz="1050">
                <a:solidFill>
                  <a:srgbClr val="546779"/>
                </a:solidFill>
                <a:latin typeface="Microsoft YaHei"/>
                <a:ea typeface="Microsoft YaHei"/>
              </a:rPr>
              <a:t>：专家过半认同</a:t>
            </a:r>
            <a:endParaRPr/>
          </a:p>
        </p:txBody>
      </p:sp>
      <p:sp>
        <p:nvSpPr>
          <p:cNvPr id="239" name=""/>
          <p:cNvSpPr/>
          <p:nvPr/>
        </p:nvSpPr>
        <p:spPr>
          <a:xfrm rot="0" flipH="0" flipV="0">
            <a:off x="781050" y="3409950"/>
            <a:ext cx="3209925" cy="685800"/>
          </a:xfrm>
          <a:prstGeom prst="roundRect">
            <a:avLst>
              <a:gd name="adj" fmla="val 11111"/>
            </a:avLst>
          </a:prstGeom>
          <a:solidFill>
            <a:srgbClr val="FFF4E6"/>
          </a:solidFill>
          <a:ln/>
        </p:spPr>
        <p:txBody>
          <a:bodyPr/>
          <a:p/>
        </p:txBody>
      </p:sp>
      <p:sp>
        <p:nvSpPr>
          <p:cNvPr id="240" name="" descr="{&quot;isTemplate&quot;:true,&quot;type&quot;:&quot;text&quot;}"/>
          <p:cNvSpPr txBox="1"/>
          <p:nvPr/>
        </p:nvSpPr>
        <p:spPr>
          <a:xfrm rot="0" flipH="0" flipV="0">
            <a:off x="914400" y="3648075"/>
            <a:ext cx="581025" cy="209550"/>
          </a:xfrm>
          <a:prstGeom prst="rect"/>
        </p:spPr>
        <p:txBody>
          <a:bodyPr wrap="none" lIns="0" tIns="0" rIns="0" bIns="0"/>
          <a:p>
            <a:pPr>
              <a:lnSpc>
                <a:spcPct val="100000"/>
              </a:lnSpc>
            </a:pPr>
            <a:r>
              <a:rPr lang="en-US" sz="1350" b="1">
                <a:solidFill>
                  <a:srgbClr val="CB6B28"/>
                </a:solidFill>
                <a:latin typeface="Microsoft YaHei"/>
                <a:ea typeface="Microsoft YaHei"/>
              </a:rPr>
              <a:t>198</a:t>
            </a:r>
            <a:endParaRPr/>
          </a:p>
        </p:txBody>
      </p:sp>
      <p:sp>
        <p:nvSpPr>
          <p:cNvPr id="241" name="" descr="{&quot;isTemplate&quot;:true,&quot;type&quot;:&quot;text&quot;}"/>
          <p:cNvSpPr txBox="1"/>
          <p:nvPr/>
        </p:nvSpPr>
        <p:spPr>
          <a:xfrm rot="0" flipH="0" flipV="0">
            <a:off x="1609725" y="3524250"/>
            <a:ext cx="2247900" cy="457200"/>
          </a:xfrm>
          <a:prstGeom prst="rect"/>
        </p:spPr>
        <p:txBody>
          <a:bodyPr wrap="square" lIns="0" tIns="0" rIns="0" bIns="0">
            <a:normAutofit/>
          </a:bodyPr>
          <a:p>
            <a:pPr>
              <a:lnSpc>
                <a:spcPct val="140000"/>
              </a:lnSpc>
            </a:pPr>
            <a:r>
              <a:rPr lang="en-US" sz="1050">
                <a:solidFill>
                  <a:srgbClr val="CB6B28"/>
                </a:solidFill>
                <a:latin typeface="Microsoft YaHei"/>
                <a:ea typeface="Microsoft YaHei"/>
              </a:rPr>
              <a:t>Diamond</a:t>
            </a:r>
            <a:r>
              <a:rPr lang="zh-CN" sz="1050">
                <a:solidFill>
                  <a:srgbClr val="CB6B28"/>
                </a:solidFill>
                <a:latin typeface="Microsoft YaHei"/>
                <a:ea typeface="Microsoft YaHei"/>
              </a:rPr>
              <a:t>：两位专家全对、非专家至多答对三分之一</a:t>
            </a:r>
            <a:endParaRPr/>
          </a:p>
        </p:txBody>
      </p:sp>
      <p:sp>
        <p:nvSpPr>
          <p:cNvPr id="242" name="" descr="{&quot;isTemplate&quot;:true,&quot;type&quot;:&quot;text&quot;}"/>
          <p:cNvSpPr txBox="1"/>
          <p:nvPr/>
        </p:nvSpPr>
        <p:spPr>
          <a:xfrm rot="0" flipH="0" flipV="0">
            <a:off x="781050" y="5219700"/>
            <a:ext cx="3209925" cy="209550"/>
          </a:xfrm>
          <a:prstGeom prst="rect"/>
        </p:spPr>
        <p:txBody>
          <a:bodyPr wrap="none" lIns="0" tIns="0" rIns="0" bIns="0"/>
          <a:p>
            <a:pPr>
              <a:lnSpc>
                <a:spcPct val="140000"/>
              </a:lnSpc>
            </a:pPr>
            <a:r>
              <a:rPr lang="zh-CN" sz="975">
                <a:solidFill>
                  <a:srgbClr val="546779"/>
                </a:solidFill>
                <a:latin typeface="Microsoft YaHei"/>
                <a:ea typeface="Microsoft YaHei"/>
              </a:rPr>
              <a:t>引用时必须写明是哪一层</a:t>
            </a:r>
            <a:endParaRPr/>
          </a:p>
        </p:txBody>
      </p:sp>
      <p:sp>
        <p:nvSpPr>
          <p:cNvPr id="243" name=""/>
          <p:cNvSpPr/>
          <p:nvPr/>
        </p:nvSpPr>
        <p:spPr>
          <a:xfrm rot="0" flipH="0" flipV="0">
            <a:off x="4314825" y="1828800"/>
            <a:ext cx="3552825" cy="3771900"/>
          </a:xfrm>
          <a:prstGeom prst="roundRect">
            <a:avLst>
              <a:gd name="adj" fmla="val 3217"/>
            </a:avLst>
          </a:prstGeom>
          <a:solidFill>
            <a:srgbClr val="F4F7FA"/>
          </a:solidFill>
          <a:ln/>
        </p:spPr>
        <p:txBody>
          <a:bodyPr/>
          <a:p/>
        </p:txBody>
      </p:sp>
      <p:sp>
        <p:nvSpPr>
          <p:cNvPr id="244" name="" descr="{&quot;isTemplate&quot;:true,&quot;type&quot;:&quot;text&quot;}"/>
          <p:cNvSpPr txBox="1"/>
          <p:nvPr/>
        </p:nvSpPr>
        <p:spPr>
          <a:xfrm rot="0" flipH="0" flipV="0">
            <a:off x="4486275" y="2000250"/>
            <a:ext cx="3209925" cy="209550"/>
          </a:xfrm>
          <a:prstGeom prst="rect"/>
        </p:spPr>
        <p:txBody>
          <a:bodyPr wrap="none" lIns="0" tIns="0" rIns="0" bIns="0"/>
          <a:p>
            <a:pPr>
              <a:lnSpc>
                <a:spcPct val="100000"/>
              </a:lnSpc>
            </a:pPr>
            <a:r>
              <a:rPr lang="en-US" sz="1350" b="1">
                <a:solidFill>
                  <a:srgbClr val="20344B"/>
                </a:solidFill>
                <a:latin typeface="Microsoft YaHei"/>
                <a:ea typeface="Microsoft YaHei"/>
              </a:rPr>
              <a:t>SWE-bench</a:t>
            </a:r>
            <a:endParaRPr/>
          </a:p>
        </p:txBody>
      </p:sp>
      <p:sp>
        <p:nvSpPr>
          <p:cNvPr id="245" name=""/>
          <p:cNvSpPr/>
          <p:nvPr/>
        </p:nvSpPr>
        <p:spPr>
          <a:xfrm rot="0" flipH="0" flipV="0">
            <a:off x="4486275" y="2305050"/>
            <a:ext cx="3209925" cy="457200"/>
          </a:xfrm>
          <a:prstGeom prst="roundRect">
            <a:avLst>
              <a:gd name="adj" fmla="val 16667"/>
            </a:avLst>
          </a:prstGeom>
          <a:solidFill>
            <a:srgbClr val="F7F3E8"/>
          </a:solidFill>
          <a:ln/>
        </p:spPr>
        <p:txBody>
          <a:bodyPr/>
          <a:p/>
        </p:txBody>
      </p:sp>
      <p:sp>
        <p:nvSpPr>
          <p:cNvPr id="246" name="" descr="{&quot;isTemplate&quot;:true,&quot;type&quot;:&quot;text&quot;}"/>
          <p:cNvSpPr txBox="1"/>
          <p:nvPr/>
        </p:nvSpPr>
        <p:spPr>
          <a:xfrm rot="0" flipH="0" flipV="0">
            <a:off x="4619625" y="2428875"/>
            <a:ext cx="762000" cy="209550"/>
          </a:xfrm>
          <a:prstGeom prst="rect"/>
        </p:spPr>
        <p:txBody>
          <a:bodyPr wrap="none" lIns="0" tIns="0" rIns="0" bIns="0"/>
          <a:p>
            <a:pPr>
              <a:lnSpc>
                <a:spcPct val="100000"/>
              </a:lnSpc>
            </a:pPr>
            <a:r>
              <a:rPr lang="en-US" sz="1350" b="1">
                <a:solidFill>
                  <a:srgbClr val="546779"/>
                </a:solidFill>
                <a:latin typeface="Microsoft YaHei"/>
                <a:ea typeface="Microsoft YaHei"/>
              </a:rPr>
              <a:t>2,294</a:t>
            </a:r>
            <a:endParaRPr/>
          </a:p>
        </p:txBody>
      </p:sp>
      <p:sp>
        <p:nvSpPr>
          <p:cNvPr id="247" name="" descr="{&quot;isTemplate&quot;:true,&quot;type&quot;:&quot;text&quot;}"/>
          <p:cNvSpPr txBox="1"/>
          <p:nvPr/>
        </p:nvSpPr>
        <p:spPr>
          <a:xfrm rot="0" flipH="0" flipV="0">
            <a:off x="5495925" y="2419350"/>
            <a:ext cx="895350" cy="228600"/>
          </a:xfrm>
          <a:prstGeom prst="rect"/>
        </p:spPr>
        <p:txBody>
          <a:bodyPr wrap="none" lIns="0" tIns="0" rIns="0" bIns="0"/>
          <a:p>
            <a:pPr>
              <a:lnSpc>
                <a:spcPct val="140000"/>
              </a:lnSpc>
            </a:pPr>
            <a:r>
              <a:rPr lang="en-US" sz="1050">
                <a:solidFill>
                  <a:srgbClr val="546779"/>
                </a:solidFill>
                <a:latin typeface="Microsoft YaHei"/>
                <a:ea typeface="Microsoft YaHei"/>
              </a:rPr>
              <a:t>Full</a:t>
            </a:r>
            <a:r>
              <a:rPr lang="zh-CN" sz="1050">
                <a:solidFill>
                  <a:srgbClr val="546779"/>
                </a:solidFill>
                <a:latin typeface="Microsoft YaHei"/>
                <a:ea typeface="Microsoft YaHei"/>
              </a:rPr>
              <a:t>：原始全量</a:t>
            </a:r>
            <a:endParaRPr/>
          </a:p>
        </p:txBody>
      </p:sp>
      <p:sp>
        <p:nvSpPr>
          <p:cNvPr id="248" name=""/>
          <p:cNvSpPr/>
          <p:nvPr/>
        </p:nvSpPr>
        <p:spPr>
          <a:xfrm rot="0" flipH="0" flipV="0">
            <a:off x="4486275" y="2857500"/>
            <a:ext cx="3209925" cy="457200"/>
          </a:xfrm>
          <a:prstGeom prst="roundRect">
            <a:avLst>
              <a:gd name="adj" fmla="val 16667"/>
            </a:avLst>
          </a:prstGeom>
          <a:solidFill>
            <a:srgbClr val="FFF4E6"/>
          </a:solidFill>
          <a:ln/>
        </p:spPr>
        <p:txBody>
          <a:bodyPr/>
          <a:p/>
        </p:txBody>
      </p:sp>
      <p:sp>
        <p:nvSpPr>
          <p:cNvPr id="249" name="" descr="{&quot;isTemplate&quot;:true,&quot;type&quot;:&quot;text&quot;}"/>
          <p:cNvSpPr txBox="1"/>
          <p:nvPr/>
        </p:nvSpPr>
        <p:spPr>
          <a:xfrm rot="0" flipH="0" flipV="0">
            <a:off x="4619625" y="2981325"/>
            <a:ext cx="638175" cy="209550"/>
          </a:xfrm>
          <a:prstGeom prst="rect"/>
        </p:spPr>
        <p:txBody>
          <a:bodyPr wrap="none" lIns="0" tIns="0" rIns="0" bIns="0"/>
          <a:p>
            <a:pPr>
              <a:lnSpc>
                <a:spcPct val="100000"/>
              </a:lnSpc>
            </a:pPr>
            <a:r>
              <a:rPr lang="en-US" sz="1350" b="1">
                <a:solidFill>
                  <a:srgbClr val="CB6B28"/>
                </a:solidFill>
                <a:latin typeface="Microsoft YaHei"/>
                <a:ea typeface="Microsoft YaHei"/>
              </a:rPr>
              <a:t>500</a:t>
            </a:r>
            <a:endParaRPr/>
          </a:p>
        </p:txBody>
      </p:sp>
      <p:sp>
        <p:nvSpPr>
          <p:cNvPr id="250" name="" descr="{&quot;isTemplate&quot;:true,&quot;type&quot;:&quot;text&quot;}"/>
          <p:cNvSpPr txBox="1"/>
          <p:nvPr/>
        </p:nvSpPr>
        <p:spPr>
          <a:xfrm rot="0" flipH="0" flipV="0">
            <a:off x="5372100" y="2971800"/>
            <a:ext cx="2190750" cy="228600"/>
          </a:xfrm>
          <a:prstGeom prst="rect"/>
        </p:spPr>
        <p:txBody>
          <a:bodyPr wrap="none" lIns="0" tIns="0" rIns="0" bIns="0"/>
          <a:p>
            <a:pPr>
              <a:lnSpc>
                <a:spcPct val="140000"/>
              </a:lnSpc>
            </a:pPr>
            <a:r>
              <a:rPr lang="en-US" sz="1050">
                <a:solidFill>
                  <a:srgbClr val="CB6B28"/>
                </a:solidFill>
                <a:latin typeface="Microsoft YaHei"/>
                <a:ea typeface="Microsoft YaHei"/>
              </a:rPr>
              <a:t>Verified</a:t>
            </a:r>
            <a:r>
              <a:rPr lang="zh-CN" sz="1050">
                <a:solidFill>
                  <a:srgbClr val="CB6B28"/>
                </a:solidFill>
                <a:latin typeface="Microsoft YaHei"/>
                <a:ea typeface="Microsoft YaHei"/>
              </a:rPr>
              <a:t>：人工核验子集，</a:t>
            </a:r>
            <a:r>
              <a:rPr lang="en-US" sz="1050">
                <a:solidFill>
                  <a:srgbClr val="CB6B28"/>
                </a:solidFill>
                <a:latin typeface="Microsoft YaHei"/>
                <a:ea typeface="Microsoft YaHei"/>
              </a:rPr>
              <a:t xml:space="preserve">2026 </a:t>
            </a:r>
            <a:r>
              <a:rPr lang="zh-CN" sz="1050">
                <a:solidFill>
                  <a:srgbClr val="CB6B28"/>
                </a:solidFill>
                <a:latin typeface="Microsoft YaHei"/>
                <a:ea typeface="Microsoft YaHei"/>
              </a:rPr>
              <a:t>年</a:t>
            </a:r>
            <a:r>
              <a:rPr lang="en-US" sz="1050">
                <a:solidFill>
                  <a:srgbClr val="CB6B28"/>
                </a:solidFill>
                <a:latin typeface="Microsoft YaHei"/>
                <a:ea typeface="Microsoft YaHei"/>
              </a:rPr>
              <a:t xml:space="preserve"> 2 </a:t>
            </a:r>
            <a:r>
              <a:rPr lang="zh-CN" sz="1050">
                <a:solidFill>
                  <a:srgbClr val="CB6B28"/>
                </a:solidFill>
                <a:latin typeface="Microsoft YaHei"/>
                <a:ea typeface="Microsoft YaHei"/>
              </a:rPr>
              <a:t>月退役</a:t>
            </a:r>
            <a:endParaRPr/>
          </a:p>
        </p:txBody>
      </p:sp>
      <p:sp>
        <p:nvSpPr>
          <p:cNvPr id="251" name=""/>
          <p:cNvSpPr/>
          <p:nvPr/>
        </p:nvSpPr>
        <p:spPr>
          <a:xfrm rot="0" flipH="0" flipV="0">
            <a:off x="4486275" y="3409950"/>
            <a:ext cx="3209925" cy="457200"/>
          </a:xfrm>
          <a:prstGeom prst="roundRect">
            <a:avLst>
              <a:gd name="adj" fmla="val 16667"/>
            </a:avLst>
          </a:prstGeom>
          <a:solidFill>
            <a:srgbClr val="ECF7F2"/>
          </a:solidFill>
          <a:ln/>
        </p:spPr>
        <p:txBody>
          <a:bodyPr/>
          <a:p/>
        </p:txBody>
      </p:sp>
      <p:sp>
        <p:nvSpPr>
          <p:cNvPr id="252" name="" descr="{&quot;isTemplate&quot;:true,&quot;type&quot;:&quot;text&quot;}"/>
          <p:cNvSpPr txBox="1"/>
          <p:nvPr/>
        </p:nvSpPr>
        <p:spPr>
          <a:xfrm rot="0" flipH="0" flipV="0">
            <a:off x="4619625" y="3533775"/>
            <a:ext cx="762000" cy="209550"/>
          </a:xfrm>
          <a:prstGeom prst="rect"/>
        </p:spPr>
        <p:txBody>
          <a:bodyPr wrap="none" lIns="0" tIns="0" rIns="0" bIns="0"/>
          <a:p>
            <a:pPr>
              <a:lnSpc>
                <a:spcPct val="100000"/>
              </a:lnSpc>
            </a:pPr>
            <a:r>
              <a:rPr lang="en-US" sz="1350" b="1">
                <a:solidFill>
                  <a:srgbClr val="26816B"/>
                </a:solidFill>
                <a:latin typeface="Microsoft YaHei"/>
                <a:ea typeface="Microsoft YaHei"/>
              </a:rPr>
              <a:t>1,865</a:t>
            </a:r>
            <a:endParaRPr/>
          </a:p>
        </p:txBody>
      </p:sp>
      <p:sp>
        <p:nvSpPr>
          <p:cNvPr id="253" name="" descr="{&quot;isTemplate&quot;:true,&quot;type&quot;:&quot;text&quot;}"/>
          <p:cNvSpPr txBox="1"/>
          <p:nvPr/>
        </p:nvSpPr>
        <p:spPr>
          <a:xfrm rot="0" flipH="0" flipV="0">
            <a:off x="5495925" y="3524250"/>
            <a:ext cx="1685925" cy="228600"/>
          </a:xfrm>
          <a:prstGeom prst="rect"/>
        </p:spPr>
        <p:txBody>
          <a:bodyPr wrap="none" lIns="0" tIns="0" rIns="0" bIns="0"/>
          <a:p>
            <a:pPr>
              <a:lnSpc>
                <a:spcPct val="140000"/>
              </a:lnSpc>
            </a:pPr>
            <a:r>
              <a:rPr lang="en-US" sz="1050">
                <a:solidFill>
                  <a:srgbClr val="26816B"/>
                </a:solidFill>
                <a:latin typeface="Microsoft YaHei"/>
                <a:ea typeface="Microsoft YaHei"/>
              </a:rPr>
              <a:t>Pro</a:t>
            </a:r>
            <a:r>
              <a:rPr lang="zh-CN" sz="1050">
                <a:solidFill>
                  <a:srgbClr val="26816B"/>
                </a:solidFill>
                <a:latin typeface="Microsoft YaHei"/>
                <a:ea typeface="Microsoft YaHei"/>
              </a:rPr>
              <a:t>：多语言、结构性抗污染</a:t>
            </a:r>
            <a:endParaRPr/>
          </a:p>
        </p:txBody>
      </p:sp>
      <p:sp>
        <p:nvSpPr>
          <p:cNvPr id="254" name="" descr="{&quot;isTemplate&quot;:true,&quot;type&quot;:&quot;text&quot;}"/>
          <p:cNvSpPr txBox="1"/>
          <p:nvPr/>
        </p:nvSpPr>
        <p:spPr>
          <a:xfrm rot="0" flipH="0" flipV="0">
            <a:off x="4486275" y="5219700"/>
            <a:ext cx="3209925" cy="209550"/>
          </a:xfrm>
          <a:prstGeom prst="rect"/>
        </p:spPr>
        <p:txBody>
          <a:bodyPr wrap="none" lIns="0" tIns="0" rIns="0" bIns="0"/>
          <a:p>
            <a:pPr>
              <a:lnSpc>
                <a:spcPct val="140000"/>
              </a:lnSpc>
            </a:pPr>
            <a:r>
              <a:rPr lang="zh-CN" sz="975">
                <a:solidFill>
                  <a:srgbClr val="546779"/>
                </a:solidFill>
                <a:latin typeface="Microsoft YaHei"/>
                <a:ea typeface="Microsoft YaHei"/>
              </a:rPr>
              <a:t>三个版本的分数不可互换</a:t>
            </a:r>
            <a:endParaRPr/>
          </a:p>
        </p:txBody>
      </p:sp>
      <p:sp>
        <p:nvSpPr>
          <p:cNvPr id="255" name=""/>
          <p:cNvSpPr/>
          <p:nvPr/>
        </p:nvSpPr>
        <p:spPr>
          <a:xfrm rot="0" flipH="0" flipV="0">
            <a:off x="8020050" y="1828800"/>
            <a:ext cx="3552825" cy="3771900"/>
          </a:xfrm>
          <a:prstGeom prst="roundRect">
            <a:avLst>
              <a:gd name="adj" fmla="val 3217"/>
            </a:avLst>
          </a:prstGeom>
          <a:solidFill>
            <a:srgbClr val="F4F7FA"/>
          </a:solidFill>
          <a:ln/>
        </p:spPr>
        <p:txBody>
          <a:bodyPr/>
          <a:p/>
        </p:txBody>
      </p:sp>
      <p:sp>
        <p:nvSpPr>
          <p:cNvPr id="256" name="" descr="{&quot;isTemplate&quot;:true,&quot;type&quot;:&quot;text&quot;}"/>
          <p:cNvSpPr txBox="1"/>
          <p:nvPr/>
        </p:nvSpPr>
        <p:spPr>
          <a:xfrm rot="0" flipH="0" flipV="0">
            <a:off x="8191500" y="2000250"/>
            <a:ext cx="3209925" cy="209550"/>
          </a:xfrm>
          <a:prstGeom prst="rect"/>
        </p:spPr>
        <p:txBody>
          <a:bodyPr wrap="none" lIns="0" tIns="0" rIns="0" bIns="0"/>
          <a:p>
            <a:pPr>
              <a:lnSpc>
                <a:spcPct val="100000"/>
              </a:lnSpc>
            </a:pPr>
            <a:r>
              <a:rPr lang="en-US" sz="1350" b="1">
                <a:solidFill>
                  <a:srgbClr val="20344B"/>
                </a:solidFill>
                <a:latin typeface="Microsoft YaHei"/>
                <a:ea typeface="Microsoft YaHei"/>
              </a:rPr>
              <a:t>FrontierMath</a:t>
            </a:r>
            <a:r>
              <a:rPr lang="zh-CN" sz="1350" b="1">
                <a:solidFill>
                  <a:srgbClr val="20344B"/>
                </a:solidFill>
                <a:latin typeface="Microsoft YaHei"/>
                <a:ea typeface="Microsoft YaHei"/>
              </a:rPr>
              <a:t>（</a:t>
            </a:r>
            <a:r>
              <a:rPr lang="en-US" sz="1350" b="1">
                <a:solidFill>
                  <a:srgbClr val="20344B"/>
                </a:solidFill>
                <a:latin typeface="Microsoft YaHei"/>
                <a:ea typeface="Microsoft YaHei"/>
              </a:rPr>
              <a:t>v2</a:t>
            </a:r>
            <a:r>
              <a:rPr lang="zh-CN" sz="1350" b="1">
                <a:solidFill>
                  <a:srgbClr val="20344B"/>
                </a:solidFill>
                <a:latin typeface="Microsoft YaHei"/>
                <a:ea typeface="Microsoft YaHei"/>
              </a:rPr>
              <a:t>）</a:t>
            </a:r>
            <a:endParaRPr/>
          </a:p>
        </p:txBody>
      </p:sp>
      <p:sp>
        <p:nvSpPr>
          <p:cNvPr id="257" name=""/>
          <p:cNvSpPr/>
          <p:nvPr/>
        </p:nvSpPr>
        <p:spPr>
          <a:xfrm rot="0" flipH="0" flipV="0">
            <a:off x="8191500" y="2305050"/>
            <a:ext cx="3209925" cy="457200"/>
          </a:xfrm>
          <a:prstGeom prst="roundRect">
            <a:avLst>
              <a:gd name="adj" fmla="val 16667"/>
            </a:avLst>
          </a:prstGeom>
          <a:solidFill>
            <a:srgbClr val="EDF4FC"/>
          </a:solidFill>
          <a:ln/>
        </p:spPr>
        <p:txBody>
          <a:bodyPr/>
          <a:p/>
        </p:txBody>
      </p:sp>
      <p:sp>
        <p:nvSpPr>
          <p:cNvPr id="258" name="" descr="{&quot;isTemplate&quot;:true,&quot;type&quot;:&quot;text&quot;}"/>
          <p:cNvSpPr txBox="1"/>
          <p:nvPr/>
        </p:nvSpPr>
        <p:spPr>
          <a:xfrm rot="0" flipH="0" flipV="0">
            <a:off x="8324850" y="2428875"/>
            <a:ext cx="762000" cy="209550"/>
          </a:xfrm>
          <a:prstGeom prst="rect"/>
        </p:spPr>
        <p:txBody>
          <a:bodyPr wrap="none" lIns="0" tIns="0" rIns="0" bIns="0"/>
          <a:p>
            <a:pPr>
              <a:lnSpc>
                <a:spcPct val="100000"/>
              </a:lnSpc>
            </a:pPr>
            <a:r>
              <a:rPr lang="en-US" sz="1350" b="1">
                <a:solidFill>
                  <a:srgbClr val="276FBF"/>
                </a:solidFill>
                <a:latin typeface="Microsoft YaHei"/>
                <a:ea typeface="Microsoft YaHei"/>
              </a:rPr>
              <a:t>338</a:t>
            </a:r>
            <a:endParaRPr/>
          </a:p>
        </p:txBody>
      </p:sp>
      <p:sp>
        <p:nvSpPr>
          <p:cNvPr id="259" name="" descr="{&quot;isTemplate&quot;:true,&quot;type&quot;:&quot;text&quot;}"/>
          <p:cNvSpPr txBox="1"/>
          <p:nvPr/>
        </p:nvSpPr>
        <p:spPr>
          <a:xfrm rot="0" flipH="0" flipV="0">
            <a:off x="9201150" y="2419350"/>
            <a:ext cx="933450" cy="228600"/>
          </a:xfrm>
          <a:prstGeom prst="rect"/>
        </p:spPr>
        <p:txBody>
          <a:bodyPr wrap="none" lIns="0" tIns="0" rIns="0" bIns="0"/>
          <a:p>
            <a:pPr>
              <a:lnSpc>
                <a:spcPct val="140000"/>
              </a:lnSpc>
            </a:pPr>
            <a:r>
              <a:rPr lang="zh-CN" sz="1050">
                <a:solidFill>
                  <a:srgbClr val="546779"/>
                </a:solidFill>
                <a:latin typeface="Microsoft YaHei"/>
                <a:ea typeface="Microsoft YaHei"/>
              </a:rPr>
              <a:t>第二版题目总数</a:t>
            </a:r>
            <a:endParaRPr/>
          </a:p>
        </p:txBody>
      </p:sp>
      <p:sp>
        <p:nvSpPr>
          <p:cNvPr id="260" name=""/>
          <p:cNvSpPr/>
          <p:nvPr/>
        </p:nvSpPr>
        <p:spPr>
          <a:xfrm rot="0" flipH="0" flipV="0">
            <a:off x="8191500" y="2857500"/>
            <a:ext cx="3209925" cy="457200"/>
          </a:xfrm>
          <a:prstGeom prst="roundRect">
            <a:avLst>
              <a:gd name="adj" fmla="val 16667"/>
            </a:avLst>
          </a:prstGeom>
          <a:solidFill>
            <a:srgbClr val="EDF4FC"/>
          </a:solidFill>
          <a:ln/>
        </p:spPr>
        <p:txBody>
          <a:bodyPr/>
          <a:p/>
        </p:txBody>
      </p:sp>
      <p:sp>
        <p:nvSpPr>
          <p:cNvPr id="261" name="" descr="{&quot;isTemplate&quot;:true,&quot;type&quot;:&quot;text&quot;}"/>
          <p:cNvSpPr txBox="1"/>
          <p:nvPr/>
        </p:nvSpPr>
        <p:spPr>
          <a:xfrm rot="0" flipH="0" flipV="0">
            <a:off x="8324850" y="2981325"/>
            <a:ext cx="762000" cy="209550"/>
          </a:xfrm>
          <a:prstGeom prst="rect"/>
        </p:spPr>
        <p:txBody>
          <a:bodyPr wrap="none" lIns="0" tIns="0" rIns="0" bIns="0"/>
          <a:p>
            <a:pPr>
              <a:lnSpc>
                <a:spcPct val="100000"/>
              </a:lnSpc>
            </a:pPr>
            <a:r>
              <a:rPr lang="en-US" sz="1350" b="1">
                <a:solidFill>
                  <a:srgbClr val="276FBF"/>
                </a:solidFill>
                <a:latin typeface="Microsoft YaHei"/>
                <a:ea typeface="Microsoft YaHei"/>
              </a:rPr>
              <a:t>295</a:t>
            </a:r>
            <a:endParaRPr/>
          </a:p>
        </p:txBody>
      </p:sp>
      <p:sp>
        <p:nvSpPr>
          <p:cNvPr id="262" name="" descr="{&quot;isTemplate&quot;:true,&quot;type&quot;:&quot;text&quot;}"/>
          <p:cNvSpPr txBox="1"/>
          <p:nvPr/>
        </p:nvSpPr>
        <p:spPr>
          <a:xfrm rot="0" flipH="0" flipV="0">
            <a:off x="9201150" y="2971800"/>
            <a:ext cx="1381125" cy="228600"/>
          </a:xfrm>
          <a:prstGeom prst="rect"/>
        </p:spPr>
        <p:txBody>
          <a:bodyPr wrap="none" lIns="0" tIns="0" rIns="0" bIns="0"/>
          <a:p>
            <a:pPr>
              <a:lnSpc>
                <a:spcPct val="140000"/>
              </a:lnSpc>
            </a:pPr>
            <a:r>
              <a:rPr lang="zh-CN" sz="1050">
                <a:solidFill>
                  <a:srgbClr val="546779"/>
                </a:solidFill>
                <a:latin typeface="Microsoft YaHei"/>
                <a:ea typeface="Microsoft YaHei"/>
              </a:rPr>
              <a:t>第</a:t>
            </a:r>
            <a:r>
              <a:rPr lang="en-US" sz="1050">
                <a:solidFill>
                  <a:srgbClr val="546779"/>
                </a:solidFill>
                <a:latin typeface="Microsoft YaHei"/>
                <a:ea typeface="Microsoft YaHei"/>
              </a:rPr>
              <a:t xml:space="preserve"> 1–3 </a:t>
            </a:r>
            <a:r>
              <a:rPr lang="zh-CN" sz="1050">
                <a:solidFill>
                  <a:srgbClr val="546779"/>
                </a:solidFill>
                <a:latin typeface="Microsoft YaHei"/>
                <a:ea typeface="Microsoft YaHei"/>
              </a:rPr>
              <a:t>层：较易到很难</a:t>
            </a:r>
            <a:endParaRPr/>
          </a:p>
        </p:txBody>
      </p:sp>
      <p:sp>
        <p:nvSpPr>
          <p:cNvPr id="263" name=""/>
          <p:cNvSpPr/>
          <p:nvPr/>
        </p:nvSpPr>
        <p:spPr>
          <a:xfrm rot="0" flipH="0" flipV="0">
            <a:off x="8191500" y="3409950"/>
            <a:ext cx="3209925" cy="457200"/>
          </a:xfrm>
          <a:prstGeom prst="roundRect">
            <a:avLst>
              <a:gd name="adj" fmla="val 16667"/>
            </a:avLst>
          </a:prstGeom>
          <a:solidFill>
            <a:srgbClr val="FFF4E6"/>
          </a:solidFill>
          <a:ln/>
        </p:spPr>
        <p:txBody>
          <a:bodyPr/>
          <a:p/>
        </p:txBody>
      </p:sp>
      <p:sp>
        <p:nvSpPr>
          <p:cNvPr id="264" name="" descr="{&quot;isTemplate&quot;:true,&quot;type&quot;:&quot;text&quot;}"/>
          <p:cNvSpPr txBox="1"/>
          <p:nvPr/>
        </p:nvSpPr>
        <p:spPr>
          <a:xfrm rot="0" flipH="0" flipV="0">
            <a:off x="8324850" y="3533775"/>
            <a:ext cx="762000" cy="209550"/>
          </a:xfrm>
          <a:prstGeom prst="rect"/>
        </p:spPr>
        <p:txBody>
          <a:bodyPr wrap="none" lIns="0" tIns="0" rIns="0" bIns="0"/>
          <a:p>
            <a:pPr>
              <a:lnSpc>
                <a:spcPct val="100000"/>
              </a:lnSpc>
            </a:pPr>
            <a:r>
              <a:rPr lang="en-US" sz="1350" b="1">
                <a:solidFill>
                  <a:srgbClr val="CB6B28"/>
                </a:solidFill>
                <a:latin typeface="Microsoft YaHei"/>
                <a:ea typeface="Microsoft YaHei"/>
              </a:rPr>
              <a:t>43</a:t>
            </a:r>
            <a:endParaRPr/>
          </a:p>
        </p:txBody>
      </p:sp>
      <p:sp>
        <p:nvSpPr>
          <p:cNvPr id="265" name="" descr="{&quot;isTemplate&quot;:true,&quot;type&quot;:&quot;text&quot;}"/>
          <p:cNvSpPr txBox="1"/>
          <p:nvPr/>
        </p:nvSpPr>
        <p:spPr>
          <a:xfrm rot="0" flipH="0" flipV="0">
            <a:off x="9201150" y="3524250"/>
            <a:ext cx="1628775" cy="228600"/>
          </a:xfrm>
          <a:prstGeom prst="rect"/>
        </p:spPr>
        <p:txBody>
          <a:bodyPr wrap="none" lIns="0" tIns="0" rIns="0" bIns="0"/>
          <a:p>
            <a:pPr>
              <a:lnSpc>
                <a:spcPct val="140000"/>
              </a:lnSpc>
            </a:pPr>
            <a:r>
              <a:rPr lang="zh-CN" sz="1050">
                <a:solidFill>
                  <a:srgbClr val="CB6B28"/>
                </a:solidFill>
                <a:latin typeface="Microsoft YaHei"/>
                <a:ea typeface="Microsoft YaHei"/>
              </a:rPr>
              <a:t>第</a:t>
            </a:r>
            <a:r>
              <a:rPr lang="en-US" sz="1050">
                <a:solidFill>
                  <a:srgbClr val="CB6B28"/>
                </a:solidFill>
                <a:latin typeface="Microsoft YaHei"/>
                <a:ea typeface="Microsoft YaHei"/>
              </a:rPr>
              <a:t xml:space="preserve"> 4 </a:t>
            </a:r>
            <a:r>
              <a:rPr lang="zh-CN" sz="1050">
                <a:solidFill>
                  <a:srgbClr val="CB6B28"/>
                </a:solidFill>
                <a:latin typeface="Microsoft YaHei"/>
                <a:ea typeface="Microsoft YaHei"/>
              </a:rPr>
              <a:t>层：研究级，私有题集</a:t>
            </a:r>
            <a:endParaRPr/>
          </a:p>
        </p:txBody>
      </p:sp>
      <p:sp>
        <p:nvSpPr>
          <p:cNvPr id="266" name="" descr="{&quot;isTemplate&quot;:true,&quot;type&quot;:&quot;text&quot;}"/>
          <p:cNvSpPr txBox="1"/>
          <p:nvPr/>
        </p:nvSpPr>
        <p:spPr>
          <a:xfrm rot="0" flipH="0" flipV="0">
            <a:off x="8191500" y="5219700"/>
            <a:ext cx="3209925" cy="209550"/>
          </a:xfrm>
          <a:prstGeom prst="rect"/>
        </p:spPr>
        <p:txBody>
          <a:bodyPr wrap="none" lIns="0" tIns="0" rIns="0" bIns="0"/>
          <a:p>
            <a:pPr>
              <a:lnSpc>
                <a:spcPct val="140000"/>
              </a:lnSpc>
            </a:pPr>
            <a:r>
              <a:rPr lang="zh-CN" sz="975">
                <a:solidFill>
                  <a:srgbClr val="546779"/>
                </a:solidFill>
                <a:latin typeface="Microsoft YaHei"/>
                <a:ea typeface="Microsoft YaHei"/>
              </a:rPr>
              <a:t>官方成绩默认用私有集</a:t>
            </a:r>
            <a:endParaRPr/>
          </a:p>
        </p:txBody>
      </p:sp>
      <p:sp>
        <p:nvSpPr>
          <p:cNvPr id="267"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268"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16 / 36</a:t>
            </a:r>
            <a:endParaRPr/>
          </a:p>
        </p:txBody>
      </p:sp>
    </p:spTree>
  </p:cSld>
</p:sld>
</file>

<file path=ppt/slides/slide17.xml><?xml version="1.0" encoding="utf-8"?>
<p:sld xmlns:p="http://schemas.openxmlformats.org/presentationml/2006/main" xmlns:a="http://schemas.openxmlformats.org/drawingml/2006/main">
  <p:cSld>
    <p:spTree>
      <p:nvGrpSpPr>
        <p:cNvPr id="269" name="" descr="&lt;Slide notes={`样本集会过期，这一点必须有意识。&#10;&#10;先说 ARC 这条线。第一版在 2019 年发布，五年里几乎没有模型越过，后来被推理模型攻破，于是团队在 2025 年 3 月重新设计，发布了第二版，专门删掉那些靠暴力搜索就能解出来的题。到 2026 年 3 月，第三版又来了，加入了多步骤的组合推理。&#10;&#10;再说数学这条线。Epoch 的 FrontierMath 第一版在 2024 年 11 月发布，后来自己审计，发现四成以上的题目有错，于是在 2026 年 6 月推出修正后的第二版，还删掉了若干道题。&#10;&#10;这说明两件事。第一，同一套题放久了，模型可能在训练中见过它，分数就会虚高，这就是污染。第二，题目本身也可能有错，需要事后修。所以我们引用分数，一定要带版本号和日期。`}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③　1.4.3　样本集：污染、饱和与版本更新&lt;/Text&gt;&#10;            &lt;Text style={{ fontSize: 34, fontWeight: 'bold', color: '#20344B' }}&gt;样本集会过期&lt;/Text&gt;&#10;        &lt;/Box&gt;&#10;    &lt;/Box&gt;&#10;&#10;    &lt;Box style={{ height: 540, flexDirection: 'column', justifyContent: 'center', gap: 20 }}&gt;&#10;&#10;        &lt;Box style={{ flexDirection: 'column', gap: 10 }}&gt;&#10;            &lt;Text style={{ fontSize: 15, color: '#546779' }}&gt;推理题的重做：越往后越防&quot;暴力搜&quot;&lt;/Text&gt;&#10;            &lt;Box style={{ flexDirection: 'row', alignItems: 'center' }}&gt;&#10;                &lt;Box style={{ width: 354, height: 150, background: '#F4F7FA', borderRadius: 10, padding: '14px 18px', flexDirection: 'column', gap: 6 }}&gt;&#10;                    &lt;Text style={{ fontSize: 13, color: '#546779' }}&gt;2019&lt;/Text&gt;&#10;                    &lt;Text style={{ fontSize: 18, fontWeight: 'bold', color: '#20344B' }}&gt;ARC-AGI-1&lt;/Text&gt;&#10;                    &lt;Text style={{ fontSize: 14, color: '#546779', lineHeight: 1.45 }}&gt;五年内几乎没有模型能越过，纯语言模型只有个位数&lt;/Text&gt;&#10;                &lt;/Box&gt;&#10;                &lt;Box style={{ width: 44, alignItems: 'center', justifyContent: 'center' }}&gt;&lt;Text style={{ fontSize: 32, color: '#276FBF' }}&gt;›&lt;/Text&gt;&lt;/Box&gt;&#10;                &lt;Box style={{ width: 354, height: 150, background: '#EDF4FC', borderRadius: 10, padding: '14px 18px', flexDirection: 'column', gap: 6 }}&gt;&#10;                    &lt;Text style={{ fontSize: 13, color: '#276FBF' }}&gt;2025-03&lt;/Text&gt;&#10;                    &lt;Text style={{ fontSize: 18, fontWeight: 'bold', color: '#20344B' }}&gt;ARC-AGI-2&lt;/Text&gt;&#10;                    &lt;Text style={{ fontSize: 14, color: '#546779', lineHeight: 1.45 }}&gt;删掉可暴力搜索的题，加入组合推理与情境规则&lt;/Text&gt;&#10;                &lt;/Box&gt;&#10;                &lt;Box style={{ width: 44, alignItems: 'center', justifyContent: 'center' }}&gt;&lt;Text style={{ fontSize: 32, color: '#276FBF' }}&gt;›&lt;/Text&gt;&lt;/Box&gt;&#10;                &lt;Box style={{ width: 354, height: 150, background: '#EDF4FC', borderRadius: 10, padding: '14px 18px', flexDirection: 'column', gap: 6 }}&gt;&#10;                    &lt;Text style={{ fontSize: 13, color: '#276FBF' }}&gt;2026-03&lt;/Text&gt;&#10;                    &lt;Text style={{ fontSize: 18, fontWeight: 'bold', color: '#20344B' }}&gt;ARC-AGI-3&lt;/Text&gt;&#10;                    &lt;Text style={{ fontSize: 14, color: '#546779', lineHeight: 1.45 }}&gt;加入多步骤交互与跨实例泛化，题目更接近真实任务&lt;/Text&gt;&#10;                &lt;/Box&gt;&#10;            &lt;/Box&gt;&#10;        &lt;/Box&gt;&#10;&#10;        &lt;Box style={{ flexDirection: 'column', gap: 10 }}&gt;&#10;            &lt;Text style={{ fontSize: 15, color: '#546779' }}&gt;数学题的修正：出题人自己把错题改掉&lt;/Text&gt;&#10;            &lt;Box style={{ flexDirection: 'row', alignItems: 'center' }}&gt;&#10;                &lt;Box style={{ width: 354, height: 150, background: '#F7F3E8', borderRadius: 10, padding: '14px 18px', flexDirection: 'column', gap: 6 }}&gt;&#10;                    &lt;Text style={{ fontSize: 13, color: '#546779' }}&gt;2024-11&lt;/Text&gt;&#10;                    &lt;Text style={{ fontSize: 18, fontWeight: 'bold', color: '#20344B' }}&gt;FrontierMath v1&lt;/Text&gt;&#10;                    &lt;Text style={{ fontSize: 14, color: '#546779', lineHeight: 1.45 }}&gt;六十多位数学家参与出题，含大量研究级问题&lt;/Text&gt;&#10;                &lt;/Box&gt;&#10;                &lt;Box style={{ width: 44, alignItems: 'center', justifyContent: 'center' }}&gt;&lt;Text style={{ fontSize: 32, color: '#CB6B28' }}&gt;›&lt;/Text&gt;&lt;/Box&gt;&#10;                &lt;Box style={{ width: 354, height: 150, background: '#FFF4E6', borderRadius: 10, padding: '14px 18px', flexDirection: 'column', gap: 6 }}&gt;&#10;                    &lt;Text style={{ fontSize: 13, color: '#CB6B28' }}&gt;审计&lt;/Text&gt;&#10;                    &lt;Text style={{ fontSize: 18, fontWeight: 'bold', color: '#CB6B28' }}&gt;42% 的题有错&lt;/Text&gt;&#10;                    &lt;Text style={{ fontSize: 14, color: '#CB6B28', lineHeight: 1.45 }}&gt;题目本身、参考答案或判分规则存在问题&lt;/Text&gt;&#10;                &lt;/Box&gt;&#10;                &lt;Box style={{ width: 44, alignItems: 'center', justifyContent: 'center' }}&gt;&lt;Text style={{ fontSize: 32, color: '#276FBF' }}&gt;›&lt;/Text&gt;&lt;/Box&gt;&#10;                &lt;Box style={{ width: 354, height: 150, background: '#ECF7F2', borderRadius: 10, padding: '14px 18px', flexDirection: 'column', gap: 6 }}&gt;&#10;                    &lt;Text style={{ fontSize: 13, color: '#26816B' }}&gt;2026-06&lt;/Text&gt;&#10;                    &lt;Text style={{ fontSize: 18, fontWeight: 'bold', color: '#26816B' }}&gt;FrontierMath v2&lt;/Text&gt;&#10;                    &lt;Text style={{ fontSize: 14, color: '#26816B', lineHeight: 1.45 }}&gt;修正错误、删除问题题；新旧分数不再可比&lt;/Text&gt;&#10;                &lt;/Box&gt;&#10;            &lt;/Box&gt;&#10;        &lt;/Box&gt;&#10;&#10;    &lt;/Box&gt;&#10;&#10;    &lt;Box style={{ height: 40, flexDirection: 'row', justifyContent: 'space-between', alignItems: 'center' }}&gt;&#10;        &lt;Text style={{ fontSize: 14, color: '#546779' }}&gt;1.4 从榜单到证据&lt;/Text&gt;&#10;        &lt;Text style={{ fontSize: 14, color: '#546779' }}&gt;17 / 36&lt;/Text&gt;&#10;    &lt;/Box&gt;&#10;&#10;&lt;/Slide&gt;&#10;"/>
        <p:cNvGrpSpPr/>
        <p:nvPr/>
      </p:nvGrpSpPr>
      <p:grpSpPr>
        <a:xfrm>
          <a:off x="0" y="0"/>
          <a:ext cx="0" cy="0"/>
          <a:chOff x="0" y="0"/>
          <a:chExt cx="0" cy="0"/>
        </a:xfrm>
      </p:grpSpPr>
      <p:sp>
        <p:nvSpPr>
          <p:cNvPr id="270" name=""/>
          <p:cNvSpPr/>
          <p:nvPr/>
        </p:nvSpPr>
        <p:spPr>
          <a:xfrm rot="0" flipH="0" flipV="0">
            <a:off x="0" y="0"/>
            <a:ext cx="12192000" cy="6858000"/>
          </a:xfrm>
          <a:prstGeom prst="rect">
            <a:avLst/>
          </a:prstGeom>
          <a:solidFill>
            <a:srgbClr val="FFFFFF"/>
          </a:solidFill>
          <a:ln/>
        </p:spPr>
        <p:txBody>
          <a:bodyPr/>
          <a:p/>
        </p:txBody>
      </p:sp>
      <p:sp>
        <p:nvSpPr>
          <p:cNvPr id="271" name=""/>
          <p:cNvSpPr/>
          <p:nvPr/>
        </p:nvSpPr>
        <p:spPr>
          <a:xfrm rot="0" flipH="0" flipV="0">
            <a:off x="609600" y="457200"/>
            <a:ext cx="38100" cy="419100"/>
          </a:xfrm>
          <a:prstGeom prst="rect">
            <a:avLst/>
          </a:prstGeom>
          <a:solidFill>
            <a:srgbClr val="276FBF"/>
          </a:solidFill>
          <a:ln/>
        </p:spPr>
        <p:txBody>
          <a:bodyPr/>
          <a:p/>
        </p:txBody>
      </p:sp>
      <p:sp>
        <p:nvSpPr>
          <p:cNvPr id="272" name="" descr="{&quot;isTemplate&quot;:true,&quot;type&quot;:&quot;text&quot;}"/>
          <p:cNvSpPr txBox="1"/>
          <p:nvPr/>
        </p:nvSpPr>
        <p:spPr>
          <a:xfrm rot="0" flipH="0" flipV="0">
            <a:off x="838200" y="371475"/>
            <a:ext cx="2571750" cy="161925"/>
          </a:xfrm>
          <a:prstGeom prst="rect"/>
        </p:spPr>
        <p:txBody>
          <a:bodyPr wrap="none" lIns="0" tIns="0" rIns="0" bIns="0"/>
          <a:p>
            <a:pPr>
              <a:lnSpc>
                <a:spcPct val="100000"/>
              </a:lnSpc>
            </a:pPr>
            <a:r>
              <a:rPr lang="zh-CN" sz="1050">
                <a:solidFill>
                  <a:srgbClr val="546779"/>
                </a:solidFill>
                <a:latin typeface="Microsoft YaHei"/>
                <a:ea typeface="Microsoft YaHei"/>
              </a:rPr>
              <a:t>③　</a:t>
            </a:r>
            <a:r>
              <a:rPr lang="en-US" sz="1050">
                <a:solidFill>
                  <a:srgbClr val="546779"/>
                </a:solidFill>
                <a:latin typeface="Microsoft YaHei"/>
                <a:ea typeface="Microsoft YaHei"/>
              </a:rPr>
              <a:t>1.4.3</a:t>
            </a:r>
            <a:r>
              <a:rPr lang="zh-CN" sz="1050">
                <a:solidFill>
                  <a:srgbClr val="546779"/>
                </a:solidFill>
                <a:latin typeface="Microsoft YaHei"/>
                <a:ea typeface="Microsoft YaHei"/>
              </a:rPr>
              <a:t>　样本集：污染、饱和与版本更新</a:t>
            </a:r>
            <a:endParaRPr/>
          </a:p>
        </p:txBody>
      </p:sp>
      <p:sp>
        <p:nvSpPr>
          <p:cNvPr id="273" name="" descr="{&quot;isTemplate&quot;:true,&quot;type&quot;:&quot;text&quot;}"/>
          <p:cNvSpPr txBox="1"/>
          <p:nvPr/>
        </p:nvSpPr>
        <p:spPr>
          <a:xfrm rot="0" flipH="0" flipV="0">
            <a:off x="838200" y="571500"/>
            <a:ext cx="2571750" cy="390525"/>
          </a:xfrm>
          <a:prstGeom prst="rect"/>
        </p:spPr>
        <p:txBody>
          <a:bodyPr wrap="none" lIns="0" tIns="0" rIns="0" bIns="0"/>
          <a:p>
            <a:pPr>
              <a:lnSpc>
                <a:spcPct val="100000"/>
              </a:lnSpc>
            </a:pPr>
            <a:r>
              <a:rPr lang="zh-CN" sz="2550" b="1">
                <a:solidFill>
                  <a:srgbClr val="20344B"/>
                </a:solidFill>
                <a:latin typeface="Microsoft YaHei"/>
                <a:ea typeface="Microsoft YaHei"/>
              </a:rPr>
              <a:t>样本集会过期</a:t>
            </a:r>
            <a:endParaRPr/>
          </a:p>
        </p:txBody>
      </p:sp>
      <p:sp>
        <p:nvSpPr>
          <p:cNvPr id="274" name="" descr="{&quot;isTemplate&quot;:true,&quot;type&quot;:&quot;text&quot;}"/>
          <p:cNvSpPr txBox="1"/>
          <p:nvPr/>
        </p:nvSpPr>
        <p:spPr>
          <a:xfrm rot="0" flipH="0" flipV="0">
            <a:off x="609600" y="1924050"/>
            <a:ext cx="10972800" cy="171450"/>
          </a:xfrm>
          <a:prstGeom prst="rect"/>
        </p:spPr>
        <p:txBody>
          <a:bodyPr wrap="none" lIns="0" tIns="0" rIns="0" bIns="0"/>
          <a:p>
            <a:pPr>
              <a:lnSpc>
                <a:spcPct val="100000"/>
              </a:lnSpc>
            </a:pPr>
            <a:r>
              <a:rPr lang="zh-CN" sz="1125">
                <a:solidFill>
                  <a:srgbClr val="546779"/>
                </a:solidFill>
                <a:latin typeface="Microsoft YaHei"/>
                <a:ea typeface="Microsoft YaHei"/>
              </a:rPr>
              <a:t>推理题的重做：越往后越防</a:t>
            </a:r>
            <a:r>
              <a:rPr lang="en-US" sz="1125">
                <a:solidFill>
                  <a:srgbClr val="546779"/>
                </a:solidFill>
                <a:latin typeface="Microsoft YaHei"/>
                <a:ea typeface="Microsoft YaHei"/>
              </a:rPr>
              <a:t>"</a:t>
            </a:r>
            <a:r>
              <a:rPr lang="zh-CN" sz="1125">
                <a:solidFill>
                  <a:srgbClr val="546779"/>
                </a:solidFill>
                <a:latin typeface="Microsoft YaHei"/>
                <a:ea typeface="Microsoft YaHei"/>
              </a:rPr>
              <a:t>暴力搜</a:t>
            </a:r>
            <a:r>
              <a:rPr lang="en-US" sz="1125">
                <a:solidFill>
                  <a:srgbClr val="546779"/>
                </a:solidFill>
                <a:latin typeface="Microsoft YaHei"/>
                <a:ea typeface="Microsoft YaHei"/>
              </a:rPr>
              <a:t>"</a:t>
            </a:r>
            <a:endParaRPr/>
          </a:p>
        </p:txBody>
      </p:sp>
      <p:sp>
        <p:nvSpPr>
          <p:cNvPr id="275" name=""/>
          <p:cNvSpPr/>
          <p:nvPr/>
        </p:nvSpPr>
        <p:spPr>
          <a:xfrm rot="0" flipH="0" flipV="0">
            <a:off x="609600" y="2190750"/>
            <a:ext cx="3371850" cy="1428750"/>
          </a:xfrm>
          <a:prstGeom prst="roundRect">
            <a:avLst>
              <a:gd name="adj" fmla="val 6667"/>
            </a:avLst>
          </a:prstGeom>
          <a:solidFill>
            <a:srgbClr val="F4F7FA"/>
          </a:solidFill>
          <a:ln/>
        </p:spPr>
        <p:txBody>
          <a:bodyPr/>
          <a:p/>
        </p:txBody>
      </p:sp>
      <p:sp>
        <p:nvSpPr>
          <p:cNvPr id="276" name="" descr="{&quot;isTemplate&quot;:true,&quot;type&quot;:&quot;text&quot;}"/>
          <p:cNvSpPr txBox="1"/>
          <p:nvPr/>
        </p:nvSpPr>
        <p:spPr>
          <a:xfrm rot="0" flipH="0" flipV="0">
            <a:off x="781050" y="2324100"/>
            <a:ext cx="3028950" cy="152400"/>
          </a:xfrm>
          <a:prstGeom prst="rect"/>
        </p:spPr>
        <p:txBody>
          <a:bodyPr wrap="none" lIns="0" tIns="0" rIns="0" bIns="0"/>
          <a:p>
            <a:pPr>
              <a:lnSpc>
                <a:spcPct val="100000"/>
              </a:lnSpc>
            </a:pPr>
            <a:r>
              <a:rPr lang="en-US" sz="975">
                <a:solidFill>
                  <a:srgbClr val="546779"/>
                </a:solidFill>
                <a:latin typeface="Microsoft YaHei"/>
                <a:ea typeface="Microsoft YaHei"/>
              </a:rPr>
              <a:t>2019</a:t>
            </a:r>
            <a:endParaRPr/>
          </a:p>
        </p:txBody>
      </p:sp>
      <p:sp>
        <p:nvSpPr>
          <p:cNvPr id="277" name="" descr="{&quot;isTemplate&quot;:true,&quot;type&quot;:&quot;text&quot;}"/>
          <p:cNvSpPr txBox="1"/>
          <p:nvPr/>
        </p:nvSpPr>
        <p:spPr>
          <a:xfrm rot="0" flipH="0" flipV="0">
            <a:off x="781050" y="2533650"/>
            <a:ext cx="3028950" cy="209550"/>
          </a:xfrm>
          <a:prstGeom prst="rect"/>
        </p:spPr>
        <p:txBody>
          <a:bodyPr wrap="none" lIns="0" tIns="0" rIns="0" bIns="0"/>
          <a:p>
            <a:pPr>
              <a:lnSpc>
                <a:spcPct val="100000"/>
              </a:lnSpc>
            </a:pPr>
            <a:r>
              <a:rPr lang="en-US" sz="1350" b="1">
                <a:solidFill>
                  <a:srgbClr val="20344B"/>
                </a:solidFill>
                <a:latin typeface="Microsoft YaHei"/>
                <a:ea typeface="Microsoft YaHei"/>
              </a:rPr>
              <a:t>ARC-AGI-1</a:t>
            </a:r>
            <a:endParaRPr/>
          </a:p>
        </p:txBody>
      </p:sp>
      <p:sp>
        <p:nvSpPr>
          <p:cNvPr id="278" name="" descr="{&quot;isTemplate&quot;:true,&quot;type&quot;:&quot;text&quot;}"/>
          <p:cNvSpPr txBox="1"/>
          <p:nvPr/>
        </p:nvSpPr>
        <p:spPr>
          <a:xfrm rot="0" flipH="0" flipV="0">
            <a:off x="781050" y="2800350"/>
            <a:ext cx="3028950" cy="466725"/>
          </a:xfrm>
          <a:prstGeom prst="rect"/>
        </p:spPr>
        <p:txBody>
          <a:bodyPr wrap="square" lIns="0" tIns="0" rIns="0" bIns="0">
            <a:normAutofit/>
          </a:bodyPr>
          <a:p>
            <a:pPr>
              <a:lnSpc>
                <a:spcPct val="145000"/>
              </a:lnSpc>
            </a:pPr>
            <a:r>
              <a:rPr lang="zh-CN" sz="1050">
                <a:solidFill>
                  <a:srgbClr val="546779"/>
                </a:solidFill>
                <a:latin typeface="Microsoft YaHei"/>
                <a:ea typeface="Microsoft YaHei"/>
              </a:rPr>
              <a:t>五年内几乎没有模型能越过，纯语言模型只有个位数</a:t>
            </a:r>
            <a:endParaRPr/>
          </a:p>
        </p:txBody>
      </p:sp>
      <p:sp>
        <p:nvSpPr>
          <p:cNvPr id="279" name="" descr="{&quot;isTemplate&quot;:true,&quot;type&quot;:&quot;text&quot;}"/>
          <p:cNvSpPr txBox="1"/>
          <p:nvPr/>
        </p:nvSpPr>
        <p:spPr>
          <a:xfrm rot="0" flipH="0" flipV="0">
            <a:off x="4133850" y="2724150"/>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280" name=""/>
          <p:cNvSpPr/>
          <p:nvPr/>
        </p:nvSpPr>
        <p:spPr>
          <a:xfrm rot="0" flipH="0" flipV="0">
            <a:off x="4400550" y="2190750"/>
            <a:ext cx="3371850" cy="1428750"/>
          </a:xfrm>
          <a:prstGeom prst="roundRect">
            <a:avLst>
              <a:gd name="adj" fmla="val 6667"/>
            </a:avLst>
          </a:prstGeom>
          <a:solidFill>
            <a:srgbClr val="EDF4FC"/>
          </a:solidFill>
          <a:ln/>
        </p:spPr>
        <p:txBody>
          <a:bodyPr/>
          <a:p/>
        </p:txBody>
      </p:sp>
      <p:sp>
        <p:nvSpPr>
          <p:cNvPr id="281" name="" descr="{&quot;isTemplate&quot;:true,&quot;type&quot;:&quot;text&quot;}"/>
          <p:cNvSpPr txBox="1"/>
          <p:nvPr/>
        </p:nvSpPr>
        <p:spPr>
          <a:xfrm rot="0" flipH="0" flipV="0">
            <a:off x="4572000" y="2324100"/>
            <a:ext cx="3028950" cy="152400"/>
          </a:xfrm>
          <a:prstGeom prst="rect"/>
        </p:spPr>
        <p:txBody>
          <a:bodyPr wrap="none" lIns="0" tIns="0" rIns="0" bIns="0"/>
          <a:p>
            <a:pPr>
              <a:lnSpc>
                <a:spcPct val="100000"/>
              </a:lnSpc>
            </a:pPr>
            <a:r>
              <a:rPr lang="en-US" sz="975">
                <a:solidFill>
                  <a:srgbClr val="276FBF"/>
                </a:solidFill>
                <a:latin typeface="Microsoft YaHei"/>
                <a:ea typeface="Microsoft YaHei"/>
              </a:rPr>
              <a:t>2025-03</a:t>
            </a:r>
            <a:endParaRPr/>
          </a:p>
        </p:txBody>
      </p:sp>
      <p:sp>
        <p:nvSpPr>
          <p:cNvPr id="282" name="" descr="{&quot;isTemplate&quot;:true,&quot;type&quot;:&quot;text&quot;}"/>
          <p:cNvSpPr txBox="1"/>
          <p:nvPr/>
        </p:nvSpPr>
        <p:spPr>
          <a:xfrm rot="0" flipH="0" flipV="0">
            <a:off x="4572000" y="2533650"/>
            <a:ext cx="3028950" cy="209550"/>
          </a:xfrm>
          <a:prstGeom prst="rect"/>
        </p:spPr>
        <p:txBody>
          <a:bodyPr wrap="none" lIns="0" tIns="0" rIns="0" bIns="0"/>
          <a:p>
            <a:pPr>
              <a:lnSpc>
                <a:spcPct val="100000"/>
              </a:lnSpc>
            </a:pPr>
            <a:r>
              <a:rPr lang="en-US" sz="1350" b="1">
                <a:solidFill>
                  <a:srgbClr val="20344B"/>
                </a:solidFill>
                <a:latin typeface="Microsoft YaHei"/>
                <a:ea typeface="Microsoft YaHei"/>
              </a:rPr>
              <a:t>ARC-AGI-2</a:t>
            </a:r>
            <a:endParaRPr/>
          </a:p>
        </p:txBody>
      </p:sp>
      <p:sp>
        <p:nvSpPr>
          <p:cNvPr id="283" name="" descr="{&quot;isTemplate&quot;:true,&quot;type&quot;:&quot;text&quot;}"/>
          <p:cNvSpPr txBox="1"/>
          <p:nvPr/>
        </p:nvSpPr>
        <p:spPr>
          <a:xfrm rot="0" flipH="0" flipV="0">
            <a:off x="4572000" y="2800350"/>
            <a:ext cx="3028950" cy="238125"/>
          </a:xfrm>
          <a:prstGeom prst="rect"/>
        </p:spPr>
        <p:txBody>
          <a:bodyPr wrap="none" lIns="0" tIns="0" rIns="0" bIns="0"/>
          <a:p>
            <a:pPr>
              <a:lnSpc>
                <a:spcPct val="145000"/>
              </a:lnSpc>
            </a:pPr>
            <a:r>
              <a:rPr lang="zh-CN" sz="1050">
                <a:solidFill>
                  <a:srgbClr val="546779"/>
                </a:solidFill>
                <a:latin typeface="Microsoft YaHei"/>
                <a:ea typeface="Microsoft YaHei"/>
              </a:rPr>
              <a:t>删掉可暴力搜索的题，加入组合推理与情境规则</a:t>
            </a:r>
            <a:endParaRPr/>
          </a:p>
        </p:txBody>
      </p:sp>
      <p:sp>
        <p:nvSpPr>
          <p:cNvPr id="284" name="" descr="{&quot;isTemplate&quot;:true,&quot;type&quot;:&quot;text&quot;}"/>
          <p:cNvSpPr txBox="1"/>
          <p:nvPr/>
        </p:nvSpPr>
        <p:spPr>
          <a:xfrm rot="0" flipH="0" flipV="0">
            <a:off x="7924800" y="2724150"/>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285" name=""/>
          <p:cNvSpPr/>
          <p:nvPr/>
        </p:nvSpPr>
        <p:spPr>
          <a:xfrm rot="0" flipH="0" flipV="0">
            <a:off x="8191500" y="2190750"/>
            <a:ext cx="3371850" cy="1428750"/>
          </a:xfrm>
          <a:prstGeom prst="roundRect">
            <a:avLst>
              <a:gd name="adj" fmla="val 6667"/>
            </a:avLst>
          </a:prstGeom>
          <a:solidFill>
            <a:srgbClr val="EDF4FC"/>
          </a:solidFill>
          <a:ln/>
        </p:spPr>
        <p:txBody>
          <a:bodyPr/>
          <a:p/>
        </p:txBody>
      </p:sp>
      <p:sp>
        <p:nvSpPr>
          <p:cNvPr id="286" name="" descr="{&quot;isTemplate&quot;:true,&quot;type&quot;:&quot;text&quot;}"/>
          <p:cNvSpPr txBox="1"/>
          <p:nvPr/>
        </p:nvSpPr>
        <p:spPr>
          <a:xfrm rot="0" flipH="0" flipV="0">
            <a:off x="8362950" y="2324100"/>
            <a:ext cx="3028950" cy="152400"/>
          </a:xfrm>
          <a:prstGeom prst="rect"/>
        </p:spPr>
        <p:txBody>
          <a:bodyPr wrap="none" lIns="0" tIns="0" rIns="0" bIns="0"/>
          <a:p>
            <a:pPr>
              <a:lnSpc>
                <a:spcPct val="100000"/>
              </a:lnSpc>
            </a:pPr>
            <a:r>
              <a:rPr lang="en-US" sz="975">
                <a:solidFill>
                  <a:srgbClr val="276FBF"/>
                </a:solidFill>
                <a:latin typeface="Microsoft YaHei"/>
                <a:ea typeface="Microsoft YaHei"/>
              </a:rPr>
              <a:t>2026-03</a:t>
            </a:r>
            <a:endParaRPr/>
          </a:p>
        </p:txBody>
      </p:sp>
      <p:sp>
        <p:nvSpPr>
          <p:cNvPr id="287" name="" descr="{&quot;isTemplate&quot;:true,&quot;type&quot;:&quot;text&quot;}"/>
          <p:cNvSpPr txBox="1"/>
          <p:nvPr/>
        </p:nvSpPr>
        <p:spPr>
          <a:xfrm rot="0" flipH="0" flipV="0">
            <a:off x="8362950" y="2533650"/>
            <a:ext cx="3028950" cy="209550"/>
          </a:xfrm>
          <a:prstGeom prst="rect"/>
        </p:spPr>
        <p:txBody>
          <a:bodyPr wrap="none" lIns="0" tIns="0" rIns="0" bIns="0"/>
          <a:p>
            <a:pPr>
              <a:lnSpc>
                <a:spcPct val="100000"/>
              </a:lnSpc>
            </a:pPr>
            <a:r>
              <a:rPr lang="en-US" sz="1350" b="1">
                <a:solidFill>
                  <a:srgbClr val="20344B"/>
                </a:solidFill>
                <a:latin typeface="Microsoft YaHei"/>
                <a:ea typeface="Microsoft YaHei"/>
              </a:rPr>
              <a:t>ARC-AGI-3</a:t>
            </a:r>
            <a:endParaRPr/>
          </a:p>
        </p:txBody>
      </p:sp>
      <p:sp>
        <p:nvSpPr>
          <p:cNvPr id="288" name="" descr="{&quot;isTemplate&quot;:true,&quot;type&quot;:&quot;text&quot;}"/>
          <p:cNvSpPr txBox="1"/>
          <p:nvPr/>
        </p:nvSpPr>
        <p:spPr>
          <a:xfrm rot="0" flipH="0" flipV="0">
            <a:off x="8362950" y="2800350"/>
            <a:ext cx="3028950" cy="466725"/>
          </a:xfrm>
          <a:prstGeom prst="rect"/>
        </p:spPr>
        <p:txBody>
          <a:bodyPr wrap="square" lIns="0" tIns="0" rIns="0" bIns="0">
            <a:normAutofit/>
          </a:bodyPr>
          <a:p>
            <a:pPr>
              <a:lnSpc>
                <a:spcPct val="145000"/>
              </a:lnSpc>
            </a:pPr>
            <a:r>
              <a:rPr lang="zh-CN" sz="1050">
                <a:solidFill>
                  <a:srgbClr val="546779"/>
                </a:solidFill>
                <a:latin typeface="Microsoft YaHei"/>
                <a:ea typeface="Microsoft YaHei"/>
              </a:rPr>
              <a:t>加入多步骤交互与跨实例泛化，题目更接近真实任务</a:t>
            </a:r>
            <a:endParaRPr/>
          </a:p>
        </p:txBody>
      </p:sp>
      <p:sp>
        <p:nvSpPr>
          <p:cNvPr id="289" name="" descr="{&quot;isTemplate&quot;:true,&quot;type&quot;:&quot;text&quot;}"/>
          <p:cNvSpPr txBox="1"/>
          <p:nvPr/>
        </p:nvSpPr>
        <p:spPr>
          <a:xfrm rot="0" flipH="0" flipV="0">
            <a:off x="609600" y="3810000"/>
            <a:ext cx="10972800" cy="171450"/>
          </a:xfrm>
          <a:prstGeom prst="rect"/>
        </p:spPr>
        <p:txBody>
          <a:bodyPr wrap="none" lIns="0" tIns="0" rIns="0" bIns="0"/>
          <a:p>
            <a:pPr>
              <a:lnSpc>
                <a:spcPct val="100000"/>
              </a:lnSpc>
            </a:pPr>
            <a:r>
              <a:rPr lang="zh-CN" sz="1125">
                <a:solidFill>
                  <a:srgbClr val="546779"/>
                </a:solidFill>
                <a:latin typeface="Microsoft YaHei"/>
                <a:ea typeface="Microsoft YaHei"/>
              </a:rPr>
              <a:t>数学题的修正：出题人自己把错题改掉</a:t>
            </a:r>
            <a:endParaRPr/>
          </a:p>
        </p:txBody>
      </p:sp>
      <p:sp>
        <p:nvSpPr>
          <p:cNvPr id="290" name=""/>
          <p:cNvSpPr/>
          <p:nvPr/>
        </p:nvSpPr>
        <p:spPr>
          <a:xfrm rot="0" flipH="0" flipV="0">
            <a:off x="609600" y="4076700"/>
            <a:ext cx="3371850" cy="1428750"/>
          </a:xfrm>
          <a:prstGeom prst="roundRect">
            <a:avLst>
              <a:gd name="adj" fmla="val 6667"/>
            </a:avLst>
          </a:prstGeom>
          <a:solidFill>
            <a:srgbClr val="F7F3E8"/>
          </a:solidFill>
          <a:ln/>
        </p:spPr>
        <p:txBody>
          <a:bodyPr/>
          <a:p/>
        </p:txBody>
      </p:sp>
      <p:sp>
        <p:nvSpPr>
          <p:cNvPr id="291" name="" descr="{&quot;isTemplate&quot;:true,&quot;type&quot;:&quot;text&quot;}"/>
          <p:cNvSpPr txBox="1"/>
          <p:nvPr/>
        </p:nvSpPr>
        <p:spPr>
          <a:xfrm rot="0" flipH="0" flipV="0">
            <a:off x="781050" y="4210050"/>
            <a:ext cx="3028950" cy="152400"/>
          </a:xfrm>
          <a:prstGeom prst="rect"/>
        </p:spPr>
        <p:txBody>
          <a:bodyPr wrap="none" lIns="0" tIns="0" rIns="0" bIns="0"/>
          <a:p>
            <a:pPr>
              <a:lnSpc>
                <a:spcPct val="100000"/>
              </a:lnSpc>
            </a:pPr>
            <a:r>
              <a:rPr lang="en-US" sz="975">
                <a:solidFill>
                  <a:srgbClr val="546779"/>
                </a:solidFill>
                <a:latin typeface="Microsoft YaHei"/>
                <a:ea typeface="Microsoft YaHei"/>
              </a:rPr>
              <a:t>2024-11</a:t>
            </a:r>
            <a:endParaRPr/>
          </a:p>
        </p:txBody>
      </p:sp>
      <p:sp>
        <p:nvSpPr>
          <p:cNvPr id="292" name="" descr="{&quot;isTemplate&quot;:true,&quot;type&quot;:&quot;text&quot;}"/>
          <p:cNvSpPr txBox="1"/>
          <p:nvPr/>
        </p:nvSpPr>
        <p:spPr>
          <a:xfrm rot="0" flipH="0" flipV="0">
            <a:off x="781050" y="4419600"/>
            <a:ext cx="3028950" cy="209550"/>
          </a:xfrm>
          <a:prstGeom prst="rect"/>
        </p:spPr>
        <p:txBody>
          <a:bodyPr wrap="none" lIns="0" tIns="0" rIns="0" bIns="0"/>
          <a:p>
            <a:pPr>
              <a:lnSpc>
                <a:spcPct val="100000"/>
              </a:lnSpc>
            </a:pPr>
            <a:r>
              <a:rPr lang="en-US" sz="1350" b="1">
                <a:solidFill>
                  <a:srgbClr val="20344B"/>
                </a:solidFill>
                <a:latin typeface="Microsoft YaHei"/>
                <a:ea typeface="Microsoft YaHei"/>
              </a:rPr>
              <a:t>FrontierMath v1</a:t>
            </a:r>
            <a:endParaRPr/>
          </a:p>
        </p:txBody>
      </p:sp>
      <p:sp>
        <p:nvSpPr>
          <p:cNvPr id="293" name="" descr="{&quot;isTemplate&quot;:true,&quot;type&quot;:&quot;text&quot;}"/>
          <p:cNvSpPr txBox="1"/>
          <p:nvPr/>
        </p:nvSpPr>
        <p:spPr>
          <a:xfrm rot="0" flipH="0" flipV="0">
            <a:off x="781050" y="4686300"/>
            <a:ext cx="3028950" cy="238125"/>
          </a:xfrm>
          <a:prstGeom prst="rect"/>
        </p:spPr>
        <p:txBody>
          <a:bodyPr wrap="none" lIns="0" tIns="0" rIns="0" bIns="0"/>
          <a:p>
            <a:pPr>
              <a:lnSpc>
                <a:spcPct val="145000"/>
              </a:lnSpc>
            </a:pPr>
            <a:r>
              <a:rPr lang="zh-CN" sz="1050">
                <a:solidFill>
                  <a:srgbClr val="546779"/>
                </a:solidFill>
                <a:latin typeface="Microsoft YaHei"/>
                <a:ea typeface="Microsoft YaHei"/>
              </a:rPr>
              <a:t>六十多位数学家参与出题，含大量研究级问题</a:t>
            </a:r>
            <a:endParaRPr/>
          </a:p>
        </p:txBody>
      </p:sp>
      <p:sp>
        <p:nvSpPr>
          <p:cNvPr id="294" name="" descr="{&quot;isTemplate&quot;:true,&quot;type&quot;:&quot;text&quot;}"/>
          <p:cNvSpPr txBox="1"/>
          <p:nvPr/>
        </p:nvSpPr>
        <p:spPr>
          <a:xfrm rot="0" flipH="0" flipV="0">
            <a:off x="4133850" y="4610100"/>
            <a:ext cx="114300" cy="371475"/>
          </a:xfrm>
          <a:prstGeom prst="rect"/>
        </p:spPr>
        <p:txBody>
          <a:bodyPr wrap="none" lIns="0" tIns="0" rIns="0" bIns="0"/>
          <a:p>
            <a:pPr>
              <a:lnSpc>
                <a:spcPct val="100000"/>
              </a:lnSpc>
            </a:pPr>
            <a:r>
              <a:rPr sz="2400">
                <a:solidFill>
                  <a:srgbClr val="CB6B28"/>
                </a:solidFill>
                <a:latin typeface="Microsoft YaHei"/>
                <a:ea typeface="Microsoft YaHei"/>
              </a:rPr>
              <a:t>›</a:t>
            </a:r>
            <a:endParaRPr/>
          </a:p>
        </p:txBody>
      </p:sp>
      <p:sp>
        <p:nvSpPr>
          <p:cNvPr id="295" name=""/>
          <p:cNvSpPr/>
          <p:nvPr/>
        </p:nvSpPr>
        <p:spPr>
          <a:xfrm rot="0" flipH="0" flipV="0">
            <a:off x="4400550" y="4076700"/>
            <a:ext cx="3371850" cy="1428750"/>
          </a:xfrm>
          <a:prstGeom prst="roundRect">
            <a:avLst>
              <a:gd name="adj" fmla="val 6667"/>
            </a:avLst>
          </a:prstGeom>
          <a:solidFill>
            <a:srgbClr val="FFF4E6"/>
          </a:solidFill>
          <a:ln/>
        </p:spPr>
        <p:txBody>
          <a:bodyPr/>
          <a:p/>
        </p:txBody>
      </p:sp>
      <p:sp>
        <p:nvSpPr>
          <p:cNvPr id="296" name="" descr="{&quot;isTemplate&quot;:true,&quot;type&quot;:&quot;text&quot;}"/>
          <p:cNvSpPr txBox="1"/>
          <p:nvPr/>
        </p:nvSpPr>
        <p:spPr>
          <a:xfrm rot="0" flipH="0" flipV="0">
            <a:off x="4572000" y="4210050"/>
            <a:ext cx="3028950" cy="152400"/>
          </a:xfrm>
          <a:prstGeom prst="rect"/>
        </p:spPr>
        <p:txBody>
          <a:bodyPr wrap="none" lIns="0" tIns="0" rIns="0" bIns="0"/>
          <a:p>
            <a:pPr>
              <a:lnSpc>
                <a:spcPct val="100000"/>
              </a:lnSpc>
            </a:pPr>
            <a:r>
              <a:rPr lang="zh-CN" sz="975">
                <a:solidFill>
                  <a:srgbClr val="CB6B28"/>
                </a:solidFill>
                <a:latin typeface="Microsoft YaHei"/>
                <a:ea typeface="Microsoft YaHei"/>
              </a:rPr>
              <a:t>审计</a:t>
            </a:r>
            <a:endParaRPr/>
          </a:p>
        </p:txBody>
      </p:sp>
      <p:sp>
        <p:nvSpPr>
          <p:cNvPr id="297" name="" descr="{&quot;isTemplate&quot;:true,&quot;type&quot;:&quot;text&quot;}"/>
          <p:cNvSpPr txBox="1"/>
          <p:nvPr/>
        </p:nvSpPr>
        <p:spPr>
          <a:xfrm rot="0" flipH="0" flipV="0">
            <a:off x="4572000" y="4419600"/>
            <a:ext cx="3028950" cy="209550"/>
          </a:xfrm>
          <a:prstGeom prst="rect"/>
        </p:spPr>
        <p:txBody>
          <a:bodyPr wrap="none" lIns="0" tIns="0" rIns="0" bIns="0"/>
          <a:p>
            <a:pPr>
              <a:lnSpc>
                <a:spcPct val="100000"/>
              </a:lnSpc>
            </a:pPr>
            <a:r>
              <a:rPr lang="en-US" sz="1350" b="1">
                <a:solidFill>
                  <a:srgbClr val="CB6B28"/>
                </a:solidFill>
                <a:latin typeface="Microsoft YaHei"/>
                <a:ea typeface="Microsoft YaHei"/>
              </a:rPr>
              <a:t xml:space="preserve">42% </a:t>
            </a:r>
            <a:r>
              <a:rPr lang="zh-CN" sz="1350" b="1">
                <a:solidFill>
                  <a:srgbClr val="CB6B28"/>
                </a:solidFill>
                <a:latin typeface="Microsoft YaHei"/>
                <a:ea typeface="Microsoft YaHei"/>
              </a:rPr>
              <a:t>的题有错</a:t>
            </a:r>
            <a:endParaRPr/>
          </a:p>
        </p:txBody>
      </p:sp>
      <p:sp>
        <p:nvSpPr>
          <p:cNvPr id="298" name="" descr="{&quot;isTemplate&quot;:true,&quot;type&quot;:&quot;text&quot;}"/>
          <p:cNvSpPr txBox="1"/>
          <p:nvPr/>
        </p:nvSpPr>
        <p:spPr>
          <a:xfrm rot="0" flipH="0" flipV="0">
            <a:off x="4572000" y="4686300"/>
            <a:ext cx="3028950" cy="238125"/>
          </a:xfrm>
          <a:prstGeom prst="rect"/>
        </p:spPr>
        <p:txBody>
          <a:bodyPr wrap="none" lIns="0" tIns="0" rIns="0" bIns="0"/>
          <a:p>
            <a:pPr>
              <a:lnSpc>
                <a:spcPct val="145000"/>
              </a:lnSpc>
            </a:pPr>
            <a:r>
              <a:rPr lang="zh-CN" sz="1050">
                <a:solidFill>
                  <a:srgbClr val="CB6B28"/>
                </a:solidFill>
                <a:latin typeface="Microsoft YaHei"/>
                <a:ea typeface="Microsoft YaHei"/>
              </a:rPr>
              <a:t>题目本身、参考答案或判分规则存在问题</a:t>
            </a:r>
            <a:endParaRPr/>
          </a:p>
        </p:txBody>
      </p:sp>
      <p:sp>
        <p:nvSpPr>
          <p:cNvPr id="299" name="" descr="{&quot;isTemplate&quot;:true,&quot;type&quot;:&quot;text&quot;}"/>
          <p:cNvSpPr txBox="1"/>
          <p:nvPr/>
        </p:nvSpPr>
        <p:spPr>
          <a:xfrm rot="0" flipH="0" flipV="0">
            <a:off x="7924800" y="4610100"/>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300" name=""/>
          <p:cNvSpPr/>
          <p:nvPr/>
        </p:nvSpPr>
        <p:spPr>
          <a:xfrm rot="0" flipH="0" flipV="0">
            <a:off x="8191500" y="4076700"/>
            <a:ext cx="3371850" cy="1428750"/>
          </a:xfrm>
          <a:prstGeom prst="roundRect">
            <a:avLst>
              <a:gd name="adj" fmla="val 6667"/>
            </a:avLst>
          </a:prstGeom>
          <a:solidFill>
            <a:srgbClr val="ECF7F2"/>
          </a:solidFill>
          <a:ln/>
        </p:spPr>
        <p:txBody>
          <a:bodyPr/>
          <a:p/>
        </p:txBody>
      </p:sp>
      <p:sp>
        <p:nvSpPr>
          <p:cNvPr id="301" name="" descr="{&quot;isTemplate&quot;:true,&quot;type&quot;:&quot;text&quot;}"/>
          <p:cNvSpPr txBox="1"/>
          <p:nvPr/>
        </p:nvSpPr>
        <p:spPr>
          <a:xfrm rot="0" flipH="0" flipV="0">
            <a:off x="8362950" y="4210050"/>
            <a:ext cx="3028950" cy="152400"/>
          </a:xfrm>
          <a:prstGeom prst="rect"/>
        </p:spPr>
        <p:txBody>
          <a:bodyPr wrap="none" lIns="0" tIns="0" rIns="0" bIns="0"/>
          <a:p>
            <a:pPr>
              <a:lnSpc>
                <a:spcPct val="100000"/>
              </a:lnSpc>
            </a:pPr>
            <a:r>
              <a:rPr lang="en-US" sz="975">
                <a:solidFill>
                  <a:srgbClr val="26816B"/>
                </a:solidFill>
                <a:latin typeface="Microsoft YaHei"/>
                <a:ea typeface="Microsoft YaHei"/>
              </a:rPr>
              <a:t>2026-06</a:t>
            </a:r>
            <a:endParaRPr/>
          </a:p>
        </p:txBody>
      </p:sp>
      <p:sp>
        <p:nvSpPr>
          <p:cNvPr id="302" name="" descr="{&quot;isTemplate&quot;:true,&quot;type&quot;:&quot;text&quot;}"/>
          <p:cNvSpPr txBox="1"/>
          <p:nvPr/>
        </p:nvSpPr>
        <p:spPr>
          <a:xfrm rot="0" flipH="0" flipV="0">
            <a:off x="8362950" y="4419600"/>
            <a:ext cx="3028950" cy="209550"/>
          </a:xfrm>
          <a:prstGeom prst="rect"/>
        </p:spPr>
        <p:txBody>
          <a:bodyPr wrap="none" lIns="0" tIns="0" rIns="0" bIns="0"/>
          <a:p>
            <a:pPr>
              <a:lnSpc>
                <a:spcPct val="100000"/>
              </a:lnSpc>
            </a:pPr>
            <a:r>
              <a:rPr lang="en-US" sz="1350" b="1">
                <a:solidFill>
                  <a:srgbClr val="26816B"/>
                </a:solidFill>
                <a:latin typeface="Microsoft YaHei"/>
                <a:ea typeface="Microsoft YaHei"/>
              </a:rPr>
              <a:t>FrontierMath v2</a:t>
            </a:r>
            <a:endParaRPr/>
          </a:p>
        </p:txBody>
      </p:sp>
      <p:sp>
        <p:nvSpPr>
          <p:cNvPr id="303" name="" descr="{&quot;isTemplate&quot;:true,&quot;type&quot;:&quot;text&quot;}"/>
          <p:cNvSpPr txBox="1"/>
          <p:nvPr/>
        </p:nvSpPr>
        <p:spPr>
          <a:xfrm rot="0" flipH="0" flipV="0">
            <a:off x="8362950" y="4686300"/>
            <a:ext cx="3028950" cy="238125"/>
          </a:xfrm>
          <a:prstGeom prst="rect"/>
        </p:spPr>
        <p:txBody>
          <a:bodyPr wrap="none" lIns="0" tIns="0" rIns="0" bIns="0"/>
          <a:p>
            <a:pPr>
              <a:lnSpc>
                <a:spcPct val="145000"/>
              </a:lnSpc>
            </a:pPr>
            <a:r>
              <a:rPr lang="zh-CN" sz="1050">
                <a:solidFill>
                  <a:srgbClr val="26816B"/>
                </a:solidFill>
                <a:latin typeface="Microsoft YaHei"/>
                <a:ea typeface="Microsoft YaHei"/>
              </a:rPr>
              <a:t>修正错误、删除问题题；新旧分数不再可比</a:t>
            </a:r>
            <a:endParaRPr/>
          </a:p>
        </p:txBody>
      </p:sp>
      <p:sp>
        <p:nvSpPr>
          <p:cNvPr id="304"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30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17 / 36</a:t>
            </a:r>
            <a:endParaRPr/>
          </a:p>
        </p:txBody>
      </p:sp>
    </p:spTree>
  </p:cSld>
</p:sld>
</file>

<file path=ppt/slides/slide18.xml><?xml version="1.0" encoding="utf-8"?>
<p:sld xmlns:p="http://schemas.openxmlformats.org/presentationml/2006/main" xmlns:a="http://schemas.openxmlformats.org/drawingml/2006/main">
  <p:cSld>
    <p:spTree>
      <p:nvGrpSpPr>
        <p:cNvPr id="306" name="" descr="&lt;Slide notes={`我们来看两道 HLE 的公开样题，都是官方展示过的。&#10;&#10;第一道属于古典学。它给出一段最初刻在墓碑上的古罗马铭文，要求把帕尔米拉文翻译出来，还附了一行拉丁字母转写。这道题考的不是常识，是帕尔米拉这个古代文明的文字与铭文格式，出题人是牛津大学默顿学院的研究者。&#10;&#10;第二道属于生态解剖。它说雨燕目里的蜂鸟有一种独特的左右成对卵形骨，是一块籽骨，嵌在尾下压肌宽十字腱膜的尾外侧，然后问：这块籽骨支撑着多少对肌腱？要求只写一个数字。出题人是麻省理工学院的研究者。&#10;&#10;这两道题放在一起，能看出 HLE 的特点：领域极窄，靠的是真实专家知识；第二道还规定了答案格式，只写数字，写别的就算错。`}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④　1.4.4　样本展示：两道官方公开的 HLE 真题&lt;/Text&gt;&#10;            &lt;Text style={{ fontSize: 34, fontWeight: 'bold', color: '#20344B' }}&gt;HLE：两道真题&lt;/Text&gt;&#10;        &lt;/Box&gt;&#10;    &lt;/Box&gt;&#10;&#10;    &lt;Box style={{ height: 540, flexDirection: 'column', justifyContent: 'center', gap: 16 }}&gt;&#10;&#10;        &lt;Box style={{ flexDirection: 'row', gap: 16 }}&gt;&#10;&#10;            &lt;Box style={{ width: 568, height: 400, background: '#F7F3E8', borderRadius: 12, padding: '20px 22px', flexDirection: 'column', gap: 12 }}&gt;&#10;                &lt;Box style={{ flexDirection: 'row', gap: 10, alignItems: 'center' }}&gt;&#10;                    &lt;Box style={{ width: 76, height: 28, background: '#276FBF', borderRadius: 6, alignItems: 'center', justifyContent: 'center' }}&gt;&lt;Text style={{ fontSize: 13, color: '#FFFFFF' }}&gt;古典学&lt;/Text&gt;&lt;/Box&gt;&#10;                    &lt;Text style={{ fontSize: 13, color: '#546779' }}&gt;HLE 公开样题&lt;/Text&gt;&#10;                &lt;/Box&gt;&#10;                &lt;Text style={{ fontSize: 16, color: '#20344B', lineHeight: 1.6 }}&gt;这里是一段最初刻在墓碑上的罗马铭文，请给出帕尔米拉文的翻译。下面附有拉丁字母转写。&lt;/Text&gt;&#10;                &lt;Box style={{ background: '#FFFFFF', borderRadius: 8, padding: '12px 16px' }}&gt;&#10;                    &lt;Text style={{ fontSize: 15, color: '#546779', lineHeight: 1.5 }}&gt;转写：RGYN BT ḤRY BR T ḤBL&lt;/Text&gt;&#10;                &lt;/Box&gt;&#10;                &lt;Box style={{ flex: 1 }} /&gt;&#10;                &lt;Text style={{ fontSize: 13, color: '#546779' }}&gt;出题人：Henry T，牛津大学默顿学院&lt;/Text&gt;&#10;                &lt;Text style={{ fontSize: 13, color: '#546779' }}&gt;答案形式：自由文本翻译，由专家核对&lt;/Text&gt;&#10;            &lt;/Box&gt;&#10;&#10;            &lt;Box style={{ width: 568, height: 400, background: '#EDF4FC', borderRadius: 12, padding: '20px 22px', flexDirection: 'column', gap: 12 }}&gt;&#10;                &lt;Box style={{ flexDirection: 'row', gap: 10, alignItems: 'center' }}&gt;&#10;                    &lt;Box style={{ width: 90, height: 28, background: '#276FBF', borderRadius: 6, alignItems: 'center', justifyContent: 'center' }}&gt;&lt;Text style={{ fontSize: 13, color: '#FFFFFF' }}&gt;生态解剖&lt;/Text&gt;&lt;/Box&gt;&#10;                    &lt;Text style={{ fontSize: 13, color: '#546779' }}&gt;HLE 公开样题&lt;/Text&gt;&#10;                &lt;/Box&gt;&#10;                &lt;Text style={{ fontSize: 16, color: '#20344B', lineHeight: 1.6 }}&gt;雨燕目中的蜂鸟有一种独特的左右成对卵形骨，是一块嵌在尾下压肌宽十字腱膜尾外侧的籽骨。这块籽骨支撑着多少对肌腱？&lt;/Text&gt;&#10;                &lt;Box style={{ background: '#FFF4E6', borderRadius: 8, padding: '12px 16px' }}&gt;&#10;                    &lt;Text style={{ fontSize: 15, color: '#CB6B28', lineHeight: 1.5 }}&gt;作答要求：只写一个数字&lt;/Text&gt;&#10;                &lt;/Box&gt;&#10;                &lt;Box style={{ flex: 1 }} /&gt;&#10;                &lt;Text style={{ fontSize: 13, color: '#546779' }}&gt;出题人：Edward V，麻省理工学院&lt;/Text&gt;&#10;                &lt;Text style={{ fontSize: 13, color: '#546779' }}&gt;答案形式：精确匹配，格式错即零分&lt;/Text&gt;&#10;            &lt;/Box&gt;&#10;&#10;        &lt;/Box&gt;&#10;&#10;        &lt;Box style={{ flexDirection: 'row', gap: 16, background: '#F4F7FA', borderRadius: 10, padding: '14px 22px', alignItems: 'center' }}&gt;&#10;            &lt;Box style={{ width: 4, height: 44, background: '#276FBF' }} /&gt;&#10;            &lt;Text style={{ fontSize: 16, color: '#546779', lineHeight: 1.55 }}&gt;两道题都不靠常识，靠的是极窄领域的真实专家知识；第二道还规定了答案格式，只写数字&lt;/Text&gt;&#10;        &lt;/Box&gt;&#10;&#10;    &lt;/Box&gt;&#10;&#10;    &lt;Box style={{ height: 40, flexDirection: 'row', justifyContent: 'space-between', alignItems: 'center' }}&gt;&#10;        &lt;Text style={{ fontSize: 14, color: '#546779' }}&gt;1.4 从榜单到证据&lt;/Text&gt;&#10;        &lt;Text style={{ fontSize: 14, color: '#546779' }}&gt;18 / 36&lt;/Text&gt;&#10;    &lt;/Box&gt;&#10;&#10;&lt;/Slide&gt;&#10;"/>
        <p:cNvGrpSpPr/>
        <p:nvPr/>
      </p:nvGrpSpPr>
      <p:grpSpPr>
        <a:xfrm>
          <a:off x="0" y="0"/>
          <a:ext cx="0" cy="0"/>
          <a:chOff x="0" y="0"/>
          <a:chExt cx="0" cy="0"/>
        </a:xfrm>
      </p:grpSpPr>
      <p:sp>
        <p:nvSpPr>
          <p:cNvPr id="307" name=""/>
          <p:cNvSpPr/>
          <p:nvPr/>
        </p:nvSpPr>
        <p:spPr>
          <a:xfrm rot="0" flipH="0" flipV="0">
            <a:off x="0" y="0"/>
            <a:ext cx="12192000" cy="6858000"/>
          </a:xfrm>
          <a:prstGeom prst="rect">
            <a:avLst/>
          </a:prstGeom>
          <a:solidFill>
            <a:srgbClr val="FFFFFF"/>
          </a:solidFill>
          <a:ln/>
        </p:spPr>
        <p:txBody>
          <a:bodyPr/>
          <a:p/>
        </p:txBody>
      </p:sp>
      <p:sp>
        <p:nvSpPr>
          <p:cNvPr id="308" name=""/>
          <p:cNvSpPr/>
          <p:nvPr/>
        </p:nvSpPr>
        <p:spPr>
          <a:xfrm rot="0" flipH="0" flipV="0">
            <a:off x="609600" y="457200"/>
            <a:ext cx="38100" cy="419100"/>
          </a:xfrm>
          <a:prstGeom prst="rect">
            <a:avLst/>
          </a:prstGeom>
          <a:solidFill>
            <a:srgbClr val="276FBF"/>
          </a:solidFill>
          <a:ln/>
        </p:spPr>
        <p:txBody>
          <a:bodyPr/>
          <a:p/>
        </p:txBody>
      </p:sp>
      <p:sp>
        <p:nvSpPr>
          <p:cNvPr id="309" name="" descr="{&quot;isTemplate&quot;:true,&quot;type&quot;:&quot;text&quot;}"/>
          <p:cNvSpPr txBox="1"/>
          <p:nvPr/>
        </p:nvSpPr>
        <p:spPr>
          <a:xfrm rot="0" flipH="0" flipV="0">
            <a:off x="838200" y="371475"/>
            <a:ext cx="2895600" cy="161925"/>
          </a:xfrm>
          <a:prstGeom prst="rect"/>
        </p:spPr>
        <p:txBody>
          <a:bodyPr wrap="none" lIns="0" tIns="0" rIns="0" bIns="0"/>
          <a:p>
            <a:pPr>
              <a:lnSpc>
                <a:spcPct val="100000"/>
              </a:lnSpc>
            </a:pPr>
            <a:r>
              <a:rPr lang="zh-CN" sz="1050">
                <a:solidFill>
                  <a:srgbClr val="546779"/>
                </a:solidFill>
                <a:latin typeface="Microsoft YaHei"/>
                <a:ea typeface="Microsoft YaHei"/>
              </a:rPr>
              <a:t>④　</a:t>
            </a:r>
            <a:r>
              <a:rPr lang="en-US" sz="1050">
                <a:solidFill>
                  <a:srgbClr val="546779"/>
                </a:solidFill>
                <a:latin typeface="Microsoft YaHei"/>
                <a:ea typeface="Microsoft YaHei"/>
              </a:rPr>
              <a:t>1.4.4</a:t>
            </a:r>
            <a:r>
              <a:rPr lang="zh-CN" sz="1050">
                <a:solidFill>
                  <a:srgbClr val="546779"/>
                </a:solidFill>
                <a:latin typeface="Microsoft YaHei"/>
                <a:ea typeface="Microsoft YaHei"/>
              </a:rPr>
              <a:t>　样本展示：两道官方公开的</a:t>
            </a:r>
            <a:r>
              <a:rPr lang="en-US" sz="1050">
                <a:solidFill>
                  <a:srgbClr val="546779"/>
                </a:solidFill>
                <a:latin typeface="Microsoft YaHei"/>
                <a:ea typeface="Microsoft YaHei"/>
              </a:rPr>
              <a:t xml:space="preserve"> HLE </a:t>
            </a:r>
            <a:r>
              <a:rPr lang="zh-CN" sz="1050">
                <a:solidFill>
                  <a:srgbClr val="546779"/>
                </a:solidFill>
                <a:latin typeface="Microsoft YaHei"/>
                <a:ea typeface="Microsoft YaHei"/>
              </a:rPr>
              <a:t>真题</a:t>
            </a:r>
            <a:endParaRPr/>
          </a:p>
        </p:txBody>
      </p:sp>
      <p:sp>
        <p:nvSpPr>
          <p:cNvPr id="310" name="" descr="{&quot;isTemplate&quot;:true,&quot;type&quot;:&quot;text&quot;}"/>
          <p:cNvSpPr txBox="1"/>
          <p:nvPr/>
        </p:nvSpPr>
        <p:spPr>
          <a:xfrm rot="0" flipH="0" flipV="0">
            <a:off x="838200" y="571500"/>
            <a:ext cx="2895600" cy="390525"/>
          </a:xfrm>
          <a:prstGeom prst="rect"/>
        </p:spPr>
        <p:txBody>
          <a:bodyPr wrap="none" lIns="0" tIns="0" rIns="0" bIns="0"/>
          <a:p>
            <a:pPr>
              <a:lnSpc>
                <a:spcPct val="100000"/>
              </a:lnSpc>
            </a:pPr>
            <a:r>
              <a:rPr lang="en-US" sz="2550" b="1">
                <a:solidFill>
                  <a:srgbClr val="20344B"/>
                </a:solidFill>
                <a:latin typeface="Microsoft YaHei"/>
                <a:ea typeface="Microsoft YaHei"/>
              </a:rPr>
              <a:t>HLE</a:t>
            </a:r>
            <a:r>
              <a:rPr lang="zh-CN" sz="2550" b="1">
                <a:solidFill>
                  <a:srgbClr val="20344B"/>
                </a:solidFill>
                <a:latin typeface="Microsoft YaHei"/>
                <a:ea typeface="Microsoft YaHei"/>
              </a:rPr>
              <a:t>：两道真题</a:t>
            </a:r>
            <a:endParaRPr/>
          </a:p>
        </p:txBody>
      </p:sp>
      <p:sp>
        <p:nvSpPr>
          <p:cNvPr id="311" name=""/>
          <p:cNvSpPr/>
          <p:nvPr/>
        </p:nvSpPr>
        <p:spPr>
          <a:xfrm rot="0" flipH="0" flipV="0">
            <a:off x="609600" y="1390650"/>
            <a:ext cx="5410200" cy="3810000"/>
          </a:xfrm>
          <a:prstGeom prst="roundRect">
            <a:avLst>
              <a:gd name="adj" fmla="val 3000"/>
            </a:avLst>
          </a:prstGeom>
          <a:solidFill>
            <a:srgbClr val="F7F3E8"/>
          </a:solidFill>
          <a:ln/>
        </p:spPr>
        <p:txBody>
          <a:bodyPr/>
          <a:p/>
        </p:txBody>
      </p:sp>
      <p:sp>
        <p:nvSpPr>
          <p:cNvPr id="312" name=""/>
          <p:cNvSpPr/>
          <p:nvPr/>
        </p:nvSpPr>
        <p:spPr>
          <a:xfrm rot="0" flipH="0" flipV="0">
            <a:off x="819150" y="1581150"/>
            <a:ext cx="723900" cy="266700"/>
          </a:xfrm>
          <a:prstGeom prst="roundRect">
            <a:avLst>
              <a:gd name="adj" fmla="val 21429"/>
            </a:avLst>
          </a:prstGeom>
          <a:solidFill>
            <a:srgbClr val="276FBF"/>
          </a:solidFill>
          <a:ln/>
        </p:spPr>
        <p:txBody>
          <a:bodyPr/>
          <a:p/>
        </p:txBody>
      </p:sp>
      <p:sp>
        <p:nvSpPr>
          <p:cNvPr id="313" name="" descr="{&quot;isTemplate&quot;:true,&quot;type&quot;:&quot;text&quot;}"/>
          <p:cNvSpPr txBox="1"/>
          <p:nvPr/>
        </p:nvSpPr>
        <p:spPr>
          <a:xfrm rot="0" flipH="0" flipV="0">
            <a:off x="1000125" y="1638300"/>
            <a:ext cx="371475" cy="152400"/>
          </a:xfrm>
          <a:prstGeom prst="rect"/>
        </p:spPr>
        <p:txBody>
          <a:bodyPr wrap="none" lIns="0" tIns="0" rIns="0" bIns="0"/>
          <a:p>
            <a:pPr>
              <a:lnSpc>
                <a:spcPct val="100000"/>
              </a:lnSpc>
            </a:pPr>
            <a:r>
              <a:rPr lang="zh-CN" sz="975">
                <a:solidFill>
                  <a:srgbClr val="FFFFFF"/>
                </a:solidFill>
                <a:latin typeface="Microsoft YaHei"/>
                <a:ea typeface="Microsoft YaHei"/>
              </a:rPr>
              <a:t>古典学</a:t>
            </a:r>
            <a:endParaRPr/>
          </a:p>
        </p:txBody>
      </p:sp>
      <p:sp>
        <p:nvSpPr>
          <p:cNvPr id="314" name="" descr="{&quot;isTemplate&quot;:true,&quot;type&quot;:&quot;text&quot;}"/>
          <p:cNvSpPr txBox="1"/>
          <p:nvPr/>
        </p:nvSpPr>
        <p:spPr>
          <a:xfrm rot="0" flipH="0" flipV="0">
            <a:off x="1638300" y="1638300"/>
            <a:ext cx="762000" cy="152400"/>
          </a:xfrm>
          <a:prstGeom prst="rect"/>
        </p:spPr>
        <p:txBody>
          <a:bodyPr wrap="none" lIns="0" tIns="0" rIns="0" bIns="0"/>
          <a:p>
            <a:pPr>
              <a:lnSpc>
                <a:spcPct val="100000"/>
              </a:lnSpc>
            </a:pPr>
            <a:r>
              <a:rPr lang="en-US" sz="975">
                <a:solidFill>
                  <a:srgbClr val="546779"/>
                </a:solidFill>
                <a:latin typeface="Microsoft YaHei"/>
                <a:ea typeface="Microsoft YaHei"/>
              </a:rPr>
              <a:t xml:space="preserve">HLE </a:t>
            </a:r>
            <a:r>
              <a:rPr lang="zh-CN" sz="975">
                <a:solidFill>
                  <a:srgbClr val="546779"/>
                </a:solidFill>
                <a:latin typeface="Microsoft YaHei"/>
                <a:ea typeface="Microsoft YaHei"/>
              </a:rPr>
              <a:t>公开样题</a:t>
            </a:r>
            <a:endParaRPr/>
          </a:p>
        </p:txBody>
      </p:sp>
      <p:sp>
        <p:nvSpPr>
          <p:cNvPr id="315" name="" descr="{&quot;isTemplate&quot;:true,&quot;type&quot;:&quot;text&quot;}"/>
          <p:cNvSpPr txBox="1"/>
          <p:nvPr/>
        </p:nvSpPr>
        <p:spPr>
          <a:xfrm rot="0" flipH="0" flipV="0">
            <a:off x="819150" y="1962150"/>
            <a:ext cx="4991100" cy="590550"/>
          </a:xfrm>
          <a:prstGeom prst="rect"/>
        </p:spPr>
        <p:txBody>
          <a:bodyPr wrap="square" lIns="0" tIns="0" rIns="0" bIns="0">
            <a:normAutofit/>
          </a:bodyPr>
          <a:p>
            <a:pPr>
              <a:lnSpc>
                <a:spcPct val="160000"/>
              </a:lnSpc>
            </a:pPr>
            <a:r>
              <a:rPr lang="zh-CN" sz="1200">
                <a:solidFill>
                  <a:srgbClr val="20344B"/>
                </a:solidFill>
                <a:latin typeface="Microsoft YaHei"/>
                <a:ea typeface="Microsoft YaHei"/>
              </a:rPr>
              <a:t>这里是一段最初刻在墓碑上的罗马铭文，请给出帕尔米拉文的翻译。下面附有拉丁字母转写。</a:t>
            </a:r>
            <a:endParaRPr/>
          </a:p>
        </p:txBody>
      </p:sp>
      <p:sp>
        <p:nvSpPr>
          <p:cNvPr id="316" name=""/>
          <p:cNvSpPr/>
          <p:nvPr/>
        </p:nvSpPr>
        <p:spPr>
          <a:xfrm rot="0" flipH="0" flipV="0">
            <a:off x="819150" y="2667000"/>
            <a:ext cx="4991100" cy="485775"/>
          </a:xfrm>
          <a:prstGeom prst="roundRect">
            <a:avLst>
              <a:gd name="adj" fmla="val 15686"/>
            </a:avLst>
          </a:prstGeom>
          <a:solidFill>
            <a:srgbClr val="FFFFFF"/>
          </a:solidFill>
          <a:ln/>
        </p:spPr>
        <p:txBody>
          <a:bodyPr/>
          <a:p/>
        </p:txBody>
      </p:sp>
      <p:sp>
        <p:nvSpPr>
          <p:cNvPr id="317" name="" descr="{&quot;isTemplate&quot;:true,&quot;type&quot;:&quot;text&quot;}"/>
          <p:cNvSpPr txBox="1"/>
          <p:nvPr/>
        </p:nvSpPr>
        <p:spPr>
          <a:xfrm rot="0" flipH="0" flipV="0">
            <a:off x="971550" y="2781300"/>
            <a:ext cx="4686300" cy="257175"/>
          </a:xfrm>
          <a:prstGeom prst="rect"/>
        </p:spPr>
        <p:txBody>
          <a:bodyPr wrap="none" lIns="0" tIns="0" rIns="0" bIns="0"/>
          <a:p>
            <a:pPr>
              <a:lnSpc>
                <a:spcPct val="150000"/>
              </a:lnSpc>
            </a:pPr>
            <a:r>
              <a:rPr lang="zh-CN" sz="1125">
                <a:solidFill>
                  <a:srgbClr val="546779"/>
                </a:solidFill>
                <a:latin typeface="Microsoft YaHei"/>
                <a:ea typeface="Microsoft YaHei"/>
              </a:rPr>
              <a:t>转写：</a:t>
            </a:r>
            <a:r>
              <a:rPr lang="en-US" sz="1125">
                <a:solidFill>
                  <a:srgbClr val="546779"/>
                </a:solidFill>
                <a:latin typeface="Microsoft YaHei"/>
                <a:ea typeface="Microsoft YaHei"/>
              </a:rPr>
              <a:t>RGYN BT ḤRY BR T ḤBL</a:t>
            </a:r>
            <a:endParaRPr/>
          </a:p>
        </p:txBody>
      </p:sp>
      <p:sp>
        <p:nvSpPr>
          <p:cNvPr id="318" name="" descr="{&quot;isTemplate&quot;:true,&quot;type&quot;:&quot;text&quot;}"/>
          <p:cNvSpPr txBox="1"/>
          <p:nvPr/>
        </p:nvSpPr>
        <p:spPr>
          <a:xfrm rot="0" flipH="0" flipV="0">
            <a:off x="819150" y="4591050"/>
            <a:ext cx="4991100" cy="152400"/>
          </a:xfrm>
          <a:prstGeom prst="rect"/>
        </p:spPr>
        <p:txBody>
          <a:bodyPr wrap="none" lIns="0" tIns="0" rIns="0" bIns="0"/>
          <a:p>
            <a:pPr>
              <a:lnSpc>
                <a:spcPct val="100000"/>
              </a:lnSpc>
            </a:pPr>
            <a:r>
              <a:rPr lang="zh-CN" sz="975">
                <a:solidFill>
                  <a:srgbClr val="546779"/>
                </a:solidFill>
                <a:latin typeface="Microsoft YaHei"/>
                <a:ea typeface="Microsoft YaHei"/>
              </a:rPr>
              <a:t>出题人：</a:t>
            </a:r>
            <a:r>
              <a:rPr lang="en-US" sz="975">
                <a:solidFill>
                  <a:srgbClr val="546779"/>
                </a:solidFill>
                <a:latin typeface="Microsoft YaHei"/>
                <a:ea typeface="Microsoft YaHei"/>
              </a:rPr>
              <a:t>Henry T</a:t>
            </a:r>
            <a:r>
              <a:rPr lang="zh-CN" sz="975">
                <a:solidFill>
                  <a:srgbClr val="546779"/>
                </a:solidFill>
                <a:latin typeface="Microsoft YaHei"/>
                <a:ea typeface="Microsoft YaHei"/>
              </a:rPr>
              <a:t>，牛津大学默顿学院</a:t>
            </a:r>
            <a:endParaRPr/>
          </a:p>
        </p:txBody>
      </p:sp>
      <p:sp>
        <p:nvSpPr>
          <p:cNvPr id="319" name="" descr="{&quot;isTemplate&quot;:true,&quot;type&quot;:&quot;text&quot;}"/>
          <p:cNvSpPr txBox="1"/>
          <p:nvPr/>
        </p:nvSpPr>
        <p:spPr>
          <a:xfrm rot="0" flipH="0" flipV="0">
            <a:off x="819150" y="4857750"/>
            <a:ext cx="4991100" cy="152400"/>
          </a:xfrm>
          <a:prstGeom prst="rect"/>
        </p:spPr>
        <p:txBody>
          <a:bodyPr wrap="none" lIns="0" tIns="0" rIns="0" bIns="0"/>
          <a:p>
            <a:pPr>
              <a:lnSpc>
                <a:spcPct val="100000"/>
              </a:lnSpc>
            </a:pPr>
            <a:r>
              <a:rPr lang="zh-CN" sz="975">
                <a:solidFill>
                  <a:srgbClr val="546779"/>
                </a:solidFill>
                <a:latin typeface="Microsoft YaHei"/>
                <a:ea typeface="Microsoft YaHei"/>
              </a:rPr>
              <a:t>答案形式：自由文本翻译，由专家核对</a:t>
            </a:r>
            <a:endParaRPr/>
          </a:p>
        </p:txBody>
      </p:sp>
      <p:sp>
        <p:nvSpPr>
          <p:cNvPr id="320" name=""/>
          <p:cNvSpPr/>
          <p:nvPr/>
        </p:nvSpPr>
        <p:spPr>
          <a:xfrm rot="0" flipH="0" flipV="0">
            <a:off x="6172200" y="1390650"/>
            <a:ext cx="5410200" cy="3810000"/>
          </a:xfrm>
          <a:prstGeom prst="roundRect">
            <a:avLst>
              <a:gd name="adj" fmla="val 3000"/>
            </a:avLst>
          </a:prstGeom>
          <a:solidFill>
            <a:srgbClr val="EDF4FC"/>
          </a:solidFill>
          <a:ln/>
        </p:spPr>
        <p:txBody>
          <a:bodyPr/>
          <a:p/>
        </p:txBody>
      </p:sp>
      <p:sp>
        <p:nvSpPr>
          <p:cNvPr id="321" name=""/>
          <p:cNvSpPr/>
          <p:nvPr/>
        </p:nvSpPr>
        <p:spPr>
          <a:xfrm rot="0" flipH="0" flipV="0">
            <a:off x="6381750" y="1581150"/>
            <a:ext cx="857250" cy="266700"/>
          </a:xfrm>
          <a:prstGeom prst="roundRect">
            <a:avLst>
              <a:gd name="adj" fmla="val 21429"/>
            </a:avLst>
          </a:prstGeom>
          <a:solidFill>
            <a:srgbClr val="276FBF"/>
          </a:solidFill>
          <a:ln/>
        </p:spPr>
        <p:txBody>
          <a:bodyPr/>
          <a:p/>
        </p:txBody>
      </p:sp>
      <p:sp>
        <p:nvSpPr>
          <p:cNvPr id="322" name="" descr="{&quot;isTemplate&quot;:true,&quot;type&quot;:&quot;text&quot;}"/>
          <p:cNvSpPr txBox="1"/>
          <p:nvPr/>
        </p:nvSpPr>
        <p:spPr>
          <a:xfrm rot="0" flipH="0" flipV="0">
            <a:off x="6562725" y="1638300"/>
            <a:ext cx="495300" cy="152400"/>
          </a:xfrm>
          <a:prstGeom prst="rect"/>
        </p:spPr>
        <p:txBody>
          <a:bodyPr wrap="none" lIns="0" tIns="0" rIns="0" bIns="0"/>
          <a:p>
            <a:pPr>
              <a:lnSpc>
                <a:spcPct val="100000"/>
              </a:lnSpc>
            </a:pPr>
            <a:r>
              <a:rPr lang="zh-CN" sz="975">
                <a:solidFill>
                  <a:srgbClr val="FFFFFF"/>
                </a:solidFill>
                <a:latin typeface="Microsoft YaHei"/>
                <a:ea typeface="Microsoft YaHei"/>
              </a:rPr>
              <a:t>生态解剖</a:t>
            </a:r>
            <a:endParaRPr/>
          </a:p>
        </p:txBody>
      </p:sp>
      <p:sp>
        <p:nvSpPr>
          <p:cNvPr id="323" name="" descr="{&quot;isTemplate&quot;:true,&quot;type&quot;:&quot;text&quot;}"/>
          <p:cNvSpPr txBox="1"/>
          <p:nvPr/>
        </p:nvSpPr>
        <p:spPr>
          <a:xfrm rot="0" flipH="0" flipV="0">
            <a:off x="7334250" y="1638300"/>
            <a:ext cx="762000" cy="152400"/>
          </a:xfrm>
          <a:prstGeom prst="rect"/>
        </p:spPr>
        <p:txBody>
          <a:bodyPr wrap="none" lIns="0" tIns="0" rIns="0" bIns="0"/>
          <a:p>
            <a:pPr>
              <a:lnSpc>
                <a:spcPct val="100000"/>
              </a:lnSpc>
            </a:pPr>
            <a:r>
              <a:rPr lang="en-US" sz="975">
                <a:solidFill>
                  <a:srgbClr val="546779"/>
                </a:solidFill>
                <a:latin typeface="Microsoft YaHei"/>
                <a:ea typeface="Microsoft YaHei"/>
              </a:rPr>
              <a:t xml:space="preserve">HLE </a:t>
            </a:r>
            <a:r>
              <a:rPr lang="zh-CN" sz="975">
                <a:solidFill>
                  <a:srgbClr val="546779"/>
                </a:solidFill>
                <a:latin typeface="Microsoft YaHei"/>
                <a:ea typeface="Microsoft YaHei"/>
              </a:rPr>
              <a:t>公开样题</a:t>
            </a:r>
            <a:endParaRPr/>
          </a:p>
        </p:txBody>
      </p:sp>
      <p:sp>
        <p:nvSpPr>
          <p:cNvPr id="324" name="" descr="{&quot;isTemplate&quot;:true,&quot;type&quot;:&quot;text&quot;}"/>
          <p:cNvSpPr txBox="1"/>
          <p:nvPr/>
        </p:nvSpPr>
        <p:spPr>
          <a:xfrm rot="0" flipH="0" flipV="0">
            <a:off x="6381750" y="1962150"/>
            <a:ext cx="4991100" cy="590550"/>
          </a:xfrm>
          <a:prstGeom prst="rect"/>
        </p:spPr>
        <p:txBody>
          <a:bodyPr wrap="square" lIns="0" tIns="0" rIns="0" bIns="0">
            <a:normAutofit/>
          </a:bodyPr>
          <a:p>
            <a:pPr>
              <a:lnSpc>
                <a:spcPct val="160000"/>
              </a:lnSpc>
            </a:pPr>
            <a:r>
              <a:rPr lang="zh-CN" sz="1200">
                <a:solidFill>
                  <a:srgbClr val="20344B"/>
                </a:solidFill>
                <a:latin typeface="Microsoft YaHei"/>
                <a:ea typeface="Microsoft YaHei"/>
              </a:rPr>
              <a:t>雨燕目中的蜂鸟有一种独特的左右成对卵形骨，是一块嵌在尾下压肌宽十字腱膜尾外侧的籽骨。这块籽骨支撑着多少对肌腱？</a:t>
            </a:r>
            <a:endParaRPr/>
          </a:p>
        </p:txBody>
      </p:sp>
      <p:sp>
        <p:nvSpPr>
          <p:cNvPr id="325" name=""/>
          <p:cNvSpPr/>
          <p:nvPr/>
        </p:nvSpPr>
        <p:spPr>
          <a:xfrm rot="0" flipH="0" flipV="0">
            <a:off x="6381750" y="2667000"/>
            <a:ext cx="4991100" cy="485775"/>
          </a:xfrm>
          <a:prstGeom prst="roundRect">
            <a:avLst>
              <a:gd name="adj" fmla="val 15686"/>
            </a:avLst>
          </a:prstGeom>
          <a:solidFill>
            <a:srgbClr val="FFF4E6"/>
          </a:solidFill>
          <a:ln/>
        </p:spPr>
        <p:txBody>
          <a:bodyPr/>
          <a:p/>
        </p:txBody>
      </p:sp>
      <p:sp>
        <p:nvSpPr>
          <p:cNvPr id="326" name="" descr="{&quot;isTemplate&quot;:true,&quot;type&quot;:&quot;text&quot;}"/>
          <p:cNvSpPr txBox="1"/>
          <p:nvPr/>
        </p:nvSpPr>
        <p:spPr>
          <a:xfrm rot="0" flipH="0" flipV="0">
            <a:off x="6534150" y="2781300"/>
            <a:ext cx="4686300" cy="257175"/>
          </a:xfrm>
          <a:prstGeom prst="rect"/>
        </p:spPr>
        <p:txBody>
          <a:bodyPr wrap="none" lIns="0" tIns="0" rIns="0" bIns="0"/>
          <a:p>
            <a:pPr>
              <a:lnSpc>
                <a:spcPct val="150000"/>
              </a:lnSpc>
            </a:pPr>
            <a:r>
              <a:rPr lang="zh-CN" sz="1125">
                <a:solidFill>
                  <a:srgbClr val="CB6B28"/>
                </a:solidFill>
                <a:latin typeface="Microsoft YaHei"/>
                <a:ea typeface="Microsoft YaHei"/>
              </a:rPr>
              <a:t>作答要求：只写一个数字</a:t>
            </a:r>
            <a:endParaRPr/>
          </a:p>
        </p:txBody>
      </p:sp>
      <p:sp>
        <p:nvSpPr>
          <p:cNvPr id="327" name="" descr="{&quot;isTemplate&quot;:true,&quot;type&quot;:&quot;text&quot;}"/>
          <p:cNvSpPr txBox="1"/>
          <p:nvPr/>
        </p:nvSpPr>
        <p:spPr>
          <a:xfrm rot="0" flipH="0" flipV="0">
            <a:off x="6381750" y="4591050"/>
            <a:ext cx="4991100" cy="152400"/>
          </a:xfrm>
          <a:prstGeom prst="rect"/>
        </p:spPr>
        <p:txBody>
          <a:bodyPr wrap="none" lIns="0" tIns="0" rIns="0" bIns="0"/>
          <a:p>
            <a:pPr>
              <a:lnSpc>
                <a:spcPct val="100000"/>
              </a:lnSpc>
            </a:pPr>
            <a:r>
              <a:rPr lang="zh-CN" sz="975">
                <a:solidFill>
                  <a:srgbClr val="546779"/>
                </a:solidFill>
                <a:latin typeface="Microsoft YaHei"/>
                <a:ea typeface="Microsoft YaHei"/>
              </a:rPr>
              <a:t>出题人：</a:t>
            </a:r>
            <a:r>
              <a:rPr lang="en-US" sz="975">
                <a:solidFill>
                  <a:srgbClr val="546779"/>
                </a:solidFill>
                <a:latin typeface="Microsoft YaHei"/>
                <a:ea typeface="Microsoft YaHei"/>
              </a:rPr>
              <a:t>Edward V</a:t>
            </a:r>
            <a:r>
              <a:rPr lang="zh-CN" sz="975">
                <a:solidFill>
                  <a:srgbClr val="546779"/>
                </a:solidFill>
                <a:latin typeface="Microsoft YaHei"/>
                <a:ea typeface="Microsoft YaHei"/>
              </a:rPr>
              <a:t>，麻省理工学院</a:t>
            </a:r>
            <a:endParaRPr/>
          </a:p>
        </p:txBody>
      </p:sp>
      <p:sp>
        <p:nvSpPr>
          <p:cNvPr id="328" name="" descr="{&quot;isTemplate&quot;:true,&quot;type&quot;:&quot;text&quot;}"/>
          <p:cNvSpPr txBox="1"/>
          <p:nvPr/>
        </p:nvSpPr>
        <p:spPr>
          <a:xfrm rot="0" flipH="0" flipV="0">
            <a:off x="6381750" y="4857750"/>
            <a:ext cx="4991100" cy="152400"/>
          </a:xfrm>
          <a:prstGeom prst="rect"/>
        </p:spPr>
        <p:txBody>
          <a:bodyPr wrap="none" lIns="0" tIns="0" rIns="0" bIns="0"/>
          <a:p>
            <a:pPr>
              <a:lnSpc>
                <a:spcPct val="100000"/>
              </a:lnSpc>
            </a:pPr>
            <a:r>
              <a:rPr lang="zh-CN" sz="975">
                <a:solidFill>
                  <a:srgbClr val="546779"/>
                </a:solidFill>
                <a:latin typeface="Microsoft YaHei"/>
                <a:ea typeface="Microsoft YaHei"/>
              </a:rPr>
              <a:t>答案形式：精确匹配，格式错即零分</a:t>
            </a:r>
            <a:endParaRPr/>
          </a:p>
        </p:txBody>
      </p:sp>
      <p:sp>
        <p:nvSpPr>
          <p:cNvPr id="329" name=""/>
          <p:cNvSpPr/>
          <p:nvPr/>
        </p:nvSpPr>
        <p:spPr>
          <a:xfrm rot="0" flipH="0" flipV="0">
            <a:off x="609600" y="5353050"/>
            <a:ext cx="10972800" cy="685800"/>
          </a:xfrm>
          <a:prstGeom prst="roundRect">
            <a:avLst>
              <a:gd name="adj" fmla="val 13889"/>
            </a:avLst>
          </a:prstGeom>
          <a:solidFill>
            <a:srgbClr val="F4F7FA"/>
          </a:solidFill>
          <a:ln/>
        </p:spPr>
        <p:txBody>
          <a:bodyPr/>
          <a:p/>
        </p:txBody>
      </p:sp>
      <p:sp>
        <p:nvSpPr>
          <p:cNvPr id="330" name=""/>
          <p:cNvSpPr/>
          <p:nvPr/>
        </p:nvSpPr>
        <p:spPr>
          <a:xfrm rot="0" flipH="0" flipV="0">
            <a:off x="819150" y="5486400"/>
            <a:ext cx="38100" cy="419100"/>
          </a:xfrm>
          <a:prstGeom prst="rect">
            <a:avLst/>
          </a:prstGeom>
          <a:solidFill>
            <a:srgbClr val="276FBF"/>
          </a:solidFill>
          <a:ln/>
        </p:spPr>
        <p:txBody>
          <a:bodyPr/>
          <a:p/>
        </p:txBody>
      </p:sp>
      <p:sp>
        <p:nvSpPr>
          <p:cNvPr id="331" name="" descr="{&quot;isTemplate&quot;:true,&quot;type&quot;:&quot;text&quot;}"/>
          <p:cNvSpPr txBox="1"/>
          <p:nvPr/>
        </p:nvSpPr>
        <p:spPr>
          <a:xfrm rot="0" flipH="0" flipV="0">
            <a:off x="1009650" y="5553075"/>
            <a:ext cx="6096000" cy="285750"/>
          </a:xfrm>
          <a:prstGeom prst="rect"/>
        </p:spPr>
        <p:txBody>
          <a:bodyPr wrap="none" lIns="0" tIns="0" rIns="0" bIns="0"/>
          <a:p>
            <a:pPr>
              <a:lnSpc>
                <a:spcPct val="155000"/>
              </a:lnSpc>
            </a:pPr>
            <a:r>
              <a:rPr lang="zh-CN" sz="1200">
                <a:solidFill>
                  <a:srgbClr val="546779"/>
                </a:solidFill>
                <a:latin typeface="Microsoft YaHei"/>
                <a:ea typeface="Microsoft YaHei"/>
              </a:rPr>
              <a:t>两道题都不靠常识，靠的是极窄领域的真实专家知识；第二道还规定了答案格式，只写数字</a:t>
            </a:r>
            <a:endParaRPr/>
          </a:p>
        </p:txBody>
      </p:sp>
      <p:sp>
        <p:nvSpPr>
          <p:cNvPr id="332"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333"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18 / 36</a:t>
            </a:r>
            <a:endParaRPr/>
          </a:p>
        </p:txBody>
      </p:sp>
    </p:spTree>
  </p:cSld>
</p:sld>
</file>

<file path=ppt/slides/slide19.xml><?xml version="1.0" encoding="utf-8"?>
<p:sld xmlns:p="http://schemas.openxmlformats.org/presentationml/2006/main" xmlns:a="http://schemas.openxmlformats.org/drawingml/2006/main">
  <p:cSld>
    <p:spTree>
      <p:nvGrpSpPr>
        <p:cNvPr id="334" name="" descr="&lt;Slide notes={`GPQA Diamond 的题我们看两道，都是论文里公开过的。&#10;&#10;第一道是物理。它说有两个量子态，寿命分别是十的负九次方秒和十的负八次方秒，问它们的能量差取哪个值才能被清楚地分辨开，四个选项从十的负四次方到十的负十一次方电子伏。答案是十的负四次方电子伏。要答对，得知道能量和时间的不确定性关系，还要算出能级的自然线宽，再比一比哪个差值足够大。&#10;&#10;第二道是化学。甲基环戊二烯和甲基异戊基酮，用催化量的吡咯烷反应，生成一种亮黄色的交叉共轭多烯烃，问不计立体异构，最终产物有多少种化学上不同的异构体。答案是十六种。要答对，得先明白甲基环戊二烯本身就以三种异构体互相转化，再乘上二烯体靠近的四个方向。&#10;&#10;GPQA 的判分要求答案以固定格式结尾，格式不对，推理再对也计零分。`}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④　1.4.4　样本展示：需要推导、不能靠搜的两道题&lt;/Text&gt;&#10;            &lt;Text style={{ fontSize: 34, fontWeight: 'bold', color: '#20344B' }}&gt;GPQA Diamond：两道真题&lt;/Text&gt;&#10;        &lt;/Box&gt;&#10;    &lt;/Box&gt;&#10;&#10;    &lt;Box style={{ height: 540, flexDirection: 'column', justifyContent: 'center', gap: 16 }}&gt;&#10;&#10;        &lt;Box style={{ flexDirection: 'row', gap: 16 }}&gt;&#10;&#10;            &lt;Box style={{ width: 568, height: 380, background: '#F7F3E8', borderRadius: 12, padding: '18px 20px', flexDirection: 'column', gap: 10 }}&gt;&#10;                &lt;Box style={{ flexDirection: 'row', gap: 10, alignItems: 'center' }}&gt;&#10;                    &lt;Box style={{ width: 60, height: 28, background: '#276FBF', borderRadius: 6, alignItems: 'center', justifyContent: 'center' }}&gt;&lt;Text style={{ fontSize: 13, color: '#FFFFFF' }}&gt;物理&lt;/Text&gt;&lt;/Box&gt;&#10;                    &lt;Text style={{ fontSize: 13, color: '#546779' }}&gt;GPQA Diamond 样题 1&lt;/Text&gt;&#10;                &lt;/Box&gt;&#10;                &lt;Text style={{ fontSize: 15, color: '#20344B', lineHeight: 1.55 }}&gt;两个量子态的能量分别为 E1 和 E2，寿命分别为 10⁻⁹ 秒和 10⁻⁸ 秒。要清楚区分这两个能级，下列哪个可能是它们的能量差？&lt;/Text&gt;&#10;                &lt;Box style={{ flexDirection: 'row', gap: 10 }}&gt;&#10;                    &lt;Box style={{ width: 254, height: 40, background: '#FFFFFF', borderRadius: 8, alignItems: 'center', justifyContent: 'center' }}&gt;&lt;Text style={{ fontSize: 15, color: '#546779' }}&gt;A　10⁻⁴ eV&lt;/Text&gt;&lt;/Box&gt;&#10;                    &lt;Box style={{ width: 254, height: 40, background: '#FFFFFF', borderRadius: 8, alignItems: 'center', justifyContent: 'center' }}&gt;&lt;Text style={{ fontSize: 15, color: '#546779' }}&gt;B　10⁻⁹ eV&lt;/Text&gt;&lt;/Box&gt;&#10;                &lt;/Box&gt;&#10;                &lt;Box style={{ flexDirection: 'row', gap: 10 }}&gt;&#10;                    &lt;Box style={{ width: 254, height: 40, background: '#FFFFFF', borderRadius: 8, alignItems: 'center', justifyContent: 'center' }}&gt;&lt;Text style={{ fontSize: 15, color: '#546779' }}&gt;C　10⁻⁸ eV&lt;/Text&gt;&lt;/Box&gt;&#10;                    &lt;Box style={{ width: 254, height: 40, background: '#FFFFFF', borderRadius: 8, alignItems: 'center', justifyContent: 'center' }}&gt;&lt;Text style={{ fontSize: 15, color: '#546779' }}&gt;D　10⁻¹¹ eV&lt;/Text&gt;&lt;/Box&gt;&#10;                &lt;/Box&gt;&#10;                &lt;Box style={{ flex: 1 }} /&gt;&#10;                &lt;Box style={{ flexDirection: 'row', gap: 12, alignItems: 'center', background: '#ECF7F2', borderRadius: 8, padding: '10px 14px' }}&gt;&#10;                    &lt;Box style={{ width: 4, height: 34, background: '#26816B' }} /&gt;&#10;                    &lt;Text style={{ fontSize: 14, color: '#26816B', lineHeight: 1.45 }}&gt;答案：10⁻⁴ eV。要先算出能级的自然线宽，再比较差值&lt;/Text&gt;&#10;                &lt;/Box&gt;&#10;            &lt;/Box&gt;&#10;&#10;            &lt;Box style={{ width: 568, height: 380, background: '#F7F3E8', borderRadius: 12, padding: '18px 20px', flexDirection: 'column', gap: 10 }}&gt;&#10;                &lt;Box style={{ flexDirection: 'row', gap: 10, alignItems: 'center' }}&gt;&#10;                    &lt;Box style={{ width: 60, height: 28, background: '#276FBF', borderRadius: 6, alignItems: 'center', justifyContent: 'center' }}&gt;&lt;Text style={{ fontSize: 13, color: '#FFFFFF' }}&gt;化学&lt;/Text&gt;&lt;/Box&gt;&#10;                    &lt;Text style={{ fontSize: 13, color: '#546779' }}&gt;GPQA Diamond 样题 2&lt;/Text&gt;&#10;                &lt;/Box&gt;&#10;                &lt;Text style={{ fontSize: 15, color: '#20344B', lineHeight: 1.55 }}&gt;甲基环戊二烯与甲基异戊基酮、催化量吡咯烷反应，生成一种亮黄色的交叉共轭多烯烃产物。不计立体异构，最终产物由多少种化学上不同的异构体组成？&lt;/Text&gt;&#10;                &lt;Box style={{ flexDirection: 'row', gap: 10 }}&gt;&#10;                    &lt;Box style={{ width: 254, height: 40, background: '#FFFFFF', borderRadius: 8, alignItems: 'center', justifyContent: 'center' }}&gt;&lt;Text style={{ fontSize: 15, color: '#546779' }}&gt;A　2 种&lt;/Text&gt;&lt;/Box&gt;&#10;                    &lt;Box style={{ width: 254, height: 40, background: '#FFFFFF', borderRadius: 8, alignItems: 'center', justifyContent: 'center' }}&gt;&lt;Text style={{ fontSize: 15, color: '#546779' }}&gt;B　16 种&lt;/Text&gt;&lt;/Box&gt;&#10;                &lt;/Box&gt;&#10;                &lt;Box style={{ flexDirection: 'row', gap: 10 }}&gt;&#10;                    &lt;Box style={{ width: 254, height: 40, background: '#FFFFFF', borderRadius: 8, alignItems: 'center', justifyContent: 'center' }}&gt;&lt;Text style={{ fontSize: 15, color: '#546779' }}&gt;C　8 种&lt;/Text&gt;&lt;/Box&gt;&#10;                    &lt;Box style={{ width: 254, height: 40, background: '#FFFFFF', borderRadius: 8, alignItems: 'center', justifyContent: 'center' }}&gt;&lt;Text style={{ fontSize: 15, color: '#546779' }}&gt;D　4 种&lt;/Text&gt;&lt;/Box&gt;&#10;                &lt;/Box&gt;&#10;                &lt;Box style={{ flex: 1 }} /&gt;&#10;                &lt;Box style={{ flexDirection: 'row', gap: 12, alignItems: 'center', background: '#ECF7F2', borderRadius: 8, padding: '10px 14px' }}&gt;&#10;                    &lt;Box style={{ width: 4, height: 34, background: '#26816B' }} /&gt;&#10;                    &lt;Text style={{ fontSize: 14, color: '#26816B', lineHeight: 1.45 }}&gt;答案：16 种。前体本身以 3 种异构体互变，再乘上 4 个接近方向&lt;/Text&gt;&#10;                &lt;/Box&gt;&#10;            &lt;/Box&gt;&#10;&#10;        &lt;/Box&gt;&#10;&#10;        &lt;Box style={{ flexDirection: 'row', gap: 16, background: '#FFF4E6', borderRadius: 10, padding: '14px 22px', alignItems: 'center' }}&gt;&#10;            &lt;Box style={{ width: 4, height: 44, background: '#CB6B28' }} /&gt;&#10;            &lt;Text style={{ fontSize: 16, color: '#CB6B28', lineHeight: 1.55 }}&gt;判分要求答案以固定格式结尾；格式不对，推理再正确也计零分——这就是&quot;评分契约&quot;&lt;/Text&gt;&#10;        &lt;/Box&gt;&#10;&#10;    &lt;/Box&gt;&#10;&#10;    &lt;Box style={{ height: 40, flexDirection: 'row', justifyContent: 'space-between', alignItems: 'center' }}&gt;&#10;        &lt;Text style={{ fontSize: 14, color: '#546779' }}&gt;1.4 从榜单到证据&lt;/Text&gt;&#10;        &lt;Text style={{ fontSize: 14, color: '#546779' }}&gt;19 / 36&lt;/Text&gt;&#10;    &lt;/Box&gt;&#10;&#10;&lt;/Slide&gt;&#10;"/>
        <p:cNvGrpSpPr/>
        <p:nvPr/>
      </p:nvGrpSpPr>
      <p:grpSpPr>
        <a:xfrm>
          <a:off x="0" y="0"/>
          <a:ext cx="0" cy="0"/>
          <a:chOff x="0" y="0"/>
          <a:chExt cx="0" cy="0"/>
        </a:xfrm>
      </p:grpSpPr>
      <p:sp>
        <p:nvSpPr>
          <p:cNvPr id="335" name=""/>
          <p:cNvSpPr/>
          <p:nvPr/>
        </p:nvSpPr>
        <p:spPr>
          <a:xfrm rot="0" flipH="0" flipV="0">
            <a:off x="0" y="0"/>
            <a:ext cx="12192000" cy="6858000"/>
          </a:xfrm>
          <a:prstGeom prst="rect">
            <a:avLst/>
          </a:prstGeom>
          <a:solidFill>
            <a:srgbClr val="FFFFFF"/>
          </a:solidFill>
          <a:ln/>
        </p:spPr>
        <p:txBody>
          <a:bodyPr/>
          <a:p/>
        </p:txBody>
      </p:sp>
      <p:sp>
        <p:nvSpPr>
          <p:cNvPr id="336" name=""/>
          <p:cNvSpPr/>
          <p:nvPr/>
        </p:nvSpPr>
        <p:spPr>
          <a:xfrm rot="0" flipH="0" flipV="0">
            <a:off x="609600" y="457200"/>
            <a:ext cx="38100" cy="419100"/>
          </a:xfrm>
          <a:prstGeom prst="rect">
            <a:avLst/>
          </a:prstGeom>
          <a:solidFill>
            <a:srgbClr val="276FBF"/>
          </a:solidFill>
          <a:ln/>
        </p:spPr>
        <p:txBody>
          <a:bodyPr/>
          <a:p/>
        </p:txBody>
      </p:sp>
      <p:sp>
        <p:nvSpPr>
          <p:cNvPr id="337" name="" descr="{&quot;isTemplate&quot;:true,&quot;type&quot;:&quot;text&quot;}"/>
          <p:cNvSpPr txBox="1"/>
          <p:nvPr/>
        </p:nvSpPr>
        <p:spPr>
          <a:xfrm rot="0" flipH="0" flipV="0">
            <a:off x="838200" y="371475"/>
            <a:ext cx="4181475" cy="161925"/>
          </a:xfrm>
          <a:prstGeom prst="rect"/>
        </p:spPr>
        <p:txBody>
          <a:bodyPr wrap="none" lIns="0" tIns="0" rIns="0" bIns="0"/>
          <a:p>
            <a:pPr>
              <a:lnSpc>
                <a:spcPct val="100000"/>
              </a:lnSpc>
            </a:pPr>
            <a:r>
              <a:rPr lang="zh-CN" sz="1050">
                <a:solidFill>
                  <a:srgbClr val="546779"/>
                </a:solidFill>
                <a:latin typeface="Microsoft YaHei"/>
                <a:ea typeface="Microsoft YaHei"/>
              </a:rPr>
              <a:t>④　</a:t>
            </a:r>
            <a:r>
              <a:rPr lang="en-US" sz="1050">
                <a:solidFill>
                  <a:srgbClr val="546779"/>
                </a:solidFill>
                <a:latin typeface="Microsoft YaHei"/>
                <a:ea typeface="Microsoft YaHei"/>
              </a:rPr>
              <a:t>1.4.4</a:t>
            </a:r>
            <a:r>
              <a:rPr lang="zh-CN" sz="1050">
                <a:solidFill>
                  <a:srgbClr val="546779"/>
                </a:solidFill>
                <a:latin typeface="Microsoft YaHei"/>
                <a:ea typeface="Microsoft YaHei"/>
              </a:rPr>
              <a:t>　样本展示：需要推导、不能靠搜的两道题</a:t>
            </a:r>
            <a:endParaRPr/>
          </a:p>
        </p:txBody>
      </p:sp>
      <p:sp>
        <p:nvSpPr>
          <p:cNvPr id="338" name="" descr="{&quot;isTemplate&quot;:true,&quot;type&quot;:&quot;text&quot;}"/>
          <p:cNvSpPr txBox="1"/>
          <p:nvPr/>
        </p:nvSpPr>
        <p:spPr>
          <a:xfrm rot="0" flipH="0" flipV="0">
            <a:off x="838200" y="571500"/>
            <a:ext cx="4181475" cy="390525"/>
          </a:xfrm>
          <a:prstGeom prst="rect"/>
        </p:spPr>
        <p:txBody>
          <a:bodyPr wrap="none" lIns="0" tIns="0" rIns="0" bIns="0"/>
          <a:p>
            <a:pPr>
              <a:lnSpc>
                <a:spcPct val="100000"/>
              </a:lnSpc>
            </a:pPr>
            <a:r>
              <a:rPr lang="en-US" sz="2550" b="1">
                <a:solidFill>
                  <a:srgbClr val="20344B"/>
                </a:solidFill>
                <a:latin typeface="Microsoft YaHei"/>
                <a:ea typeface="Microsoft YaHei"/>
              </a:rPr>
              <a:t>GPQA Diamond</a:t>
            </a:r>
            <a:r>
              <a:rPr lang="zh-CN" sz="2550" b="1">
                <a:solidFill>
                  <a:srgbClr val="20344B"/>
                </a:solidFill>
                <a:latin typeface="Microsoft YaHei"/>
                <a:ea typeface="Microsoft YaHei"/>
              </a:rPr>
              <a:t>：两道真题</a:t>
            </a:r>
            <a:endParaRPr/>
          </a:p>
        </p:txBody>
      </p:sp>
      <p:sp>
        <p:nvSpPr>
          <p:cNvPr id="339" name=""/>
          <p:cNvSpPr/>
          <p:nvPr/>
        </p:nvSpPr>
        <p:spPr>
          <a:xfrm rot="0" flipH="0" flipV="0">
            <a:off x="609600" y="1485900"/>
            <a:ext cx="5410200" cy="3619500"/>
          </a:xfrm>
          <a:prstGeom prst="roundRect">
            <a:avLst>
              <a:gd name="adj" fmla="val 3158"/>
            </a:avLst>
          </a:prstGeom>
          <a:solidFill>
            <a:srgbClr val="F7F3E8"/>
          </a:solidFill>
          <a:ln/>
        </p:spPr>
        <p:txBody>
          <a:bodyPr/>
          <a:p/>
        </p:txBody>
      </p:sp>
      <p:sp>
        <p:nvSpPr>
          <p:cNvPr id="340" name=""/>
          <p:cNvSpPr/>
          <p:nvPr/>
        </p:nvSpPr>
        <p:spPr>
          <a:xfrm rot="0" flipH="0" flipV="0">
            <a:off x="800100" y="1657350"/>
            <a:ext cx="571500" cy="266700"/>
          </a:xfrm>
          <a:prstGeom prst="roundRect">
            <a:avLst>
              <a:gd name="adj" fmla="val 21429"/>
            </a:avLst>
          </a:prstGeom>
          <a:solidFill>
            <a:srgbClr val="276FBF"/>
          </a:solidFill>
          <a:ln/>
        </p:spPr>
        <p:txBody>
          <a:bodyPr/>
          <a:p/>
        </p:txBody>
      </p:sp>
      <p:sp>
        <p:nvSpPr>
          <p:cNvPr id="341" name="" descr="{&quot;isTemplate&quot;:true,&quot;type&quot;:&quot;text&quot;}"/>
          <p:cNvSpPr txBox="1"/>
          <p:nvPr/>
        </p:nvSpPr>
        <p:spPr>
          <a:xfrm rot="0" flipH="0" flipV="0">
            <a:off x="962025" y="1714500"/>
            <a:ext cx="247650" cy="152400"/>
          </a:xfrm>
          <a:prstGeom prst="rect"/>
        </p:spPr>
        <p:txBody>
          <a:bodyPr wrap="none" lIns="0" tIns="0" rIns="0" bIns="0"/>
          <a:p>
            <a:pPr>
              <a:lnSpc>
                <a:spcPct val="100000"/>
              </a:lnSpc>
            </a:pPr>
            <a:r>
              <a:rPr lang="zh-CN" sz="975">
                <a:solidFill>
                  <a:srgbClr val="FFFFFF"/>
                </a:solidFill>
                <a:latin typeface="Microsoft YaHei"/>
                <a:ea typeface="Microsoft YaHei"/>
              </a:rPr>
              <a:t>物理</a:t>
            </a:r>
            <a:endParaRPr/>
          </a:p>
        </p:txBody>
      </p:sp>
      <p:sp>
        <p:nvSpPr>
          <p:cNvPr id="342" name="" descr="{&quot;isTemplate&quot;:true,&quot;type&quot;:&quot;text&quot;}"/>
          <p:cNvSpPr txBox="1"/>
          <p:nvPr/>
        </p:nvSpPr>
        <p:spPr>
          <a:xfrm rot="0" flipH="0" flipV="0">
            <a:off x="1466850" y="1714500"/>
            <a:ext cx="1333500" cy="152400"/>
          </a:xfrm>
          <a:prstGeom prst="rect"/>
        </p:spPr>
        <p:txBody>
          <a:bodyPr wrap="none" lIns="0" tIns="0" rIns="0" bIns="0"/>
          <a:p>
            <a:pPr>
              <a:lnSpc>
                <a:spcPct val="100000"/>
              </a:lnSpc>
            </a:pPr>
            <a:r>
              <a:rPr lang="en-US" sz="975">
                <a:solidFill>
                  <a:srgbClr val="546779"/>
                </a:solidFill>
                <a:latin typeface="Microsoft YaHei"/>
                <a:ea typeface="Microsoft YaHei"/>
              </a:rPr>
              <a:t xml:space="preserve">GPQA Diamond </a:t>
            </a:r>
            <a:r>
              <a:rPr lang="zh-CN" sz="975">
                <a:solidFill>
                  <a:srgbClr val="546779"/>
                </a:solidFill>
                <a:latin typeface="Microsoft YaHei"/>
                <a:ea typeface="Microsoft YaHei"/>
              </a:rPr>
              <a:t>样题</a:t>
            </a:r>
            <a:r>
              <a:rPr lang="en-US" sz="975">
                <a:solidFill>
                  <a:srgbClr val="546779"/>
                </a:solidFill>
                <a:latin typeface="Microsoft YaHei"/>
                <a:ea typeface="Microsoft YaHei"/>
              </a:rPr>
              <a:t xml:space="preserve"> 1</a:t>
            </a:r>
            <a:endParaRPr/>
          </a:p>
        </p:txBody>
      </p:sp>
      <p:sp>
        <p:nvSpPr>
          <p:cNvPr id="343" name="" descr="{&quot;isTemplate&quot;:true,&quot;type&quot;:&quot;text&quot;}"/>
          <p:cNvSpPr txBox="1"/>
          <p:nvPr/>
        </p:nvSpPr>
        <p:spPr>
          <a:xfrm rot="0" flipH="0" flipV="0">
            <a:off x="800100" y="2019300"/>
            <a:ext cx="5029200" cy="533400"/>
          </a:xfrm>
          <a:prstGeom prst="rect"/>
        </p:spPr>
        <p:txBody>
          <a:bodyPr wrap="square" lIns="0" tIns="0" rIns="0" bIns="0">
            <a:normAutofit/>
          </a:bodyPr>
          <a:p>
            <a:pPr>
              <a:lnSpc>
                <a:spcPct val="155000"/>
              </a:lnSpc>
            </a:pPr>
            <a:r>
              <a:rPr lang="zh-CN" sz="1125">
                <a:solidFill>
                  <a:srgbClr val="20344B"/>
                </a:solidFill>
                <a:latin typeface="Microsoft YaHei"/>
                <a:ea typeface="Microsoft YaHei"/>
              </a:rPr>
              <a:t>两个量子态的能量分别为</a:t>
            </a:r>
            <a:r>
              <a:rPr lang="en-US" sz="1125">
                <a:solidFill>
                  <a:srgbClr val="20344B"/>
                </a:solidFill>
                <a:latin typeface="Microsoft YaHei"/>
                <a:ea typeface="Microsoft YaHei"/>
              </a:rPr>
              <a:t xml:space="preserve"> E1 </a:t>
            </a:r>
            <a:r>
              <a:rPr lang="zh-CN" sz="1125">
                <a:solidFill>
                  <a:srgbClr val="20344B"/>
                </a:solidFill>
                <a:latin typeface="Microsoft YaHei"/>
                <a:ea typeface="Microsoft YaHei"/>
              </a:rPr>
              <a:t>和</a:t>
            </a:r>
            <a:r>
              <a:rPr lang="en-US" sz="1125">
                <a:solidFill>
                  <a:srgbClr val="20344B"/>
                </a:solidFill>
                <a:latin typeface="Microsoft YaHei"/>
                <a:ea typeface="Microsoft YaHei"/>
              </a:rPr>
              <a:t xml:space="preserve"> E2</a:t>
            </a:r>
            <a:r>
              <a:rPr lang="zh-CN" sz="1125">
                <a:solidFill>
                  <a:srgbClr val="20344B"/>
                </a:solidFill>
                <a:latin typeface="Microsoft YaHei"/>
                <a:ea typeface="Microsoft YaHei"/>
              </a:rPr>
              <a:t>，寿命分别为</a:t>
            </a:r>
            <a:r>
              <a:rPr lang="en-US" sz="1125">
                <a:solidFill>
                  <a:srgbClr val="20344B"/>
                </a:solidFill>
                <a:latin typeface="Microsoft YaHei"/>
                <a:ea typeface="Microsoft YaHei"/>
              </a:rPr>
              <a:t xml:space="preserve"> 10⁻⁹ </a:t>
            </a:r>
            <a:r>
              <a:rPr lang="zh-CN" sz="1125">
                <a:solidFill>
                  <a:srgbClr val="20344B"/>
                </a:solidFill>
                <a:latin typeface="Microsoft YaHei"/>
                <a:ea typeface="Microsoft YaHei"/>
              </a:rPr>
              <a:t>秒和</a:t>
            </a:r>
            <a:r>
              <a:rPr lang="en-US" sz="1125">
                <a:solidFill>
                  <a:srgbClr val="20344B"/>
                </a:solidFill>
                <a:latin typeface="Microsoft YaHei"/>
                <a:ea typeface="Microsoft YaHei"/>
              </a:rPr>
              <a:t xml:space="preserve"> 10⁻⁸ </a:t>
            </a:r>
            <a:r>
              <a:rPr lang="zh-CN" sz="1125">
                <a:solidFill>
                  <a:srgbClr val="20344B"/>
                </a:solidFill>
                <a:latin typeface="Microsoft YaHei"/>
                <a:ea typeface="Microsoft YaHei"/>
              </a:rPr>
              <a:t>秒。要清楚区分这两个能级，下列哪个可能是它们的能量差？</a:t>
            </a:r>
            <a:endParaRPr/>
          </a:p>
        </p:txBody>
      </p:sp>
      <p:sp>
        <p:nvSpPr>
          <p:cNvPr id="344" name=""/>
          <p:cNvSpPr/>
          <p:nvPr/>
        </p:nvSpPr>
        <p:spPr>
          <a:xfrm rot="0" flipH="0" flipV="0">
            <a:off x="800100" y="2647950"/>
            <a:ext cx="2419350" cy="381000"/>
          </a:xfrm>
          <a:prstGeom prst="roundRect">
            <a:avLst>
              <a:gd name="adj" fmla="val 20000"/>
            </a:avLst>
          </a:prstGeom>
          <a:solidFill>
            <a:srgbClr val="FFFFFF"/>
          </a:solidFill>
          <a:ln/>
        </p:spPr>
        <p:txBody>
          <a:bodyPr/>
          <a:p/>
        </p:txBody>
      </p:sp>
      <p:sp>
        <p:nvSpPr>
          <p:cNvPr id="345" name="" descr="{&quot;isTemplate&quot;:true,&quot;type&quot;:&quot;text&quot;}"/>
          <p:cNvSpPr txBox="1"/>
          <p:nvPr/>
        </p:nvSpPr>
        <p:spPr>
          <a:xfrm rot="0" flipH="0" flipV="0">
            <a:off x="1638300" y="2752725"/>
            <a:ext cx="742950" cy="171450"/>
          </a:xfrm>
          <a:prstGeom prst="rect"/>
        </p:spPr>
        <p:txBody>
          <a:bodyPr wrap="none" lIns="0" tIns="0" rIns="0" bIns="0"/>
          <a:p>
            <a:pPr>
              <a:lnSpc>
                <a:spcPct val="100000"/>
              </a:lnSpc>
            </a:pPr>
            <a:r>
              <a:rPr lang="en-US" sz="1125">
                <a:solidFill>
                  <a:srgbClr val="546779"/>
                </a:solidFill>
                <a:latin typeface="Microsoft YaHei"/>
                <a:ea typeface="Microsoft YaHei"/>
              </a:rPr>
              <a:t>A</a:t>
            </a:r>
            <a:r>
              <a:rPr lang="zh-CN" sz="1125">
                <a:solidFill>
                  <a:srgbClr val="546779"/>
                </a:solidFill>
                <a:latin typeface="Microsoft YaHei"/>
                <a:ea typeface="Microsoft YaHei"/>
              </a:rPr>
              <a:t>　</a:t>
            </a:r>
            <a:r>
              <a:rPr lang="en-US" sz="1125">
                <a:solidFill>
                  <a:srgbClr val="546779"/>
                </a:solidFill>
                <a:latin typeface="Microsoft YaHei"/>
                <a:ea typeface="Microsoft YaHei"/>
              </a:rPr>
              <a:t>10⁻⁴ eV</a:t>
            </a:r>
            <a:endParaRPr/>
          </a:p>
        </p:txBody>
      </p:sp>
      <p:sp>
        <p:nvSpPr>
          <p:cNvPr id="346" name=""/>
          <p:cNvSpPr/>
          <p:nvPr/>
        </p:nvSpPr>
        <p:spPr>
          <a:xfrm rot="0" flipH="0" flipV="0">
            <a:off x="3314700" y="2647950"/>
            <a:ext cx="2419350" cy="381000"/>
          </a:xfrm>
          <a:prstGeom prst="roundRect">
            <a:avLst>
              <a:gd name="adj" fmla="val 20000"/>
            </a:avLst>
          </a:prstGeom>
          <a:solidFill>
            <a:srgbClr val="FFFFFF"/>
          </a:solidFill>
          <a:ln/>
        </p:spPr>
        <p:txBody>
          <a:bodyPr/>
          <a:p/>
        </p:txBody>
      </p:sp>
      <p:sp>
        <p:nvSpPr>
          <p:cNvPr id="347" name="" descr="{&quot;isTemplate&quot;:true,&quot;type&quot;:&quot;text&quot;}"/>
          <p:cNvSpPr txBox="1"/>
          <p:nvPr/>
        </p:nvSpPr>
        <p:spPr>
          <a:xfrm rot="0" flipH="0" flipV="0">
            <a:off x="4162425" y="2752725"/>
            <a:ext cx="733425" cy="171450"/>
          </a:xfrm>
          <a:prstGeom prst="rect"/>
        </p:spPr>
        <p:txBody>
          <a:bodyPr wrap="none" lIns="0" tIns="0" rIns="0" bIns="0"/>
          <a:p>
            <a:pPr>
              <a:lnSpc>
                <a:spcPct val="100000"/>
              </a:lnSpc>
            </a:pPr>
            <a:r>
              <a:rPr lang="en-US" sz="1125">
                <a:solidFill>
                  <a:srgbClr val="546779"/>
                </a:solidFill>
                <a:latin typeface="Microsoft YaHei"/>
                <a:ea typeface="Microsoft YaHei"/>
              </a:rPr>
              <a:t>B</a:t>
            </a:r>
            <a:r>
              <a:rPr lang="zh-CN" sz="1125">
                <a:solidFill>
                  <a:srgbClr val="546779"/>
                </a:solidFill>
                <a:latin typeface="Microsoft YaHei"/>
                <a:ea typeface="Microsoft YaHei"/>
              </a:rPr>
              <a:t>　</a:t>
            </a:r>
            <a:r>
              <a:rPr lang="en-US" sz="1125">
                <a:solidFill>
                  <a:srgbClr val="546779"/>
                </a:solidFill>
                <a:latin typeface="Microsoft YaHei"/>
                <a:ea typeface="Microsoft YaHei"/>
              </a:rPr>
              <a:t>10⁻⁹ eV</a:t>
            </a:r>
            <a:endParaRPr/>
          </a:p>
        </p:txBody>
      </p:sp>
      <p:sp>
        <p:nvSpPr>
          <p:cNvPr id="348" name=""/>
          <p:cNvSpPr/>
          <p:nvPr/>
        </p:nvSpPr>
        <p:spPr>
          <a:xfrm rot="0" flipH="0" flipV="0">
            <a:off x="800100" y="3124200"/>
            <a:ext cx="2419350" cy="381000"/>
          </a:xfrm>
          <a:prstGeom prst="roundRect">
            <a:avLst>
              <a:gd name="adj" fmla="val 20000"/>
            </a:avLst>
          </a:prstGeom>
          <a:solidFill>
            <a:srgbClr val="FFFFFF"/>
          </a:solidFill>
          <a:ln/>
        </p:spPr>
        <p:txBody>
          <a:bodyPr/>
          <a:p/>
        </p:txBody>
      </p:sp>
      <p:sp>
        <p:nvSpPr>
          <p:cNvPr id="349" name="" descr="{&quot;isTemplate&quot;:true,&quot;type&quot;:&quot;text&quot;}"/>
          <p:cNvSpPr txBox="1"/>
          <p:nvPr/>
        </p:nvSpPr>
        <p:spPr>
          <a:xfrm rot="0" flipH="0" flipV="0">
            <a:off x="1638300" y="3228975"/>
            <a:ext cx="742950" cy="171450"/>
          </a:xfrm>
          <a:prstGeom prst="rect"/>
        </p:spPr>
        <p:txBody>
          <a:bodyPr wrap="none" lIns="0" tIns="0" rIns="0" bIns="0"/>
          <a:p>
            <a:pPr>
              <a:lnSpc>
                <a:spcPct val="100000"/>
              </a:lnSpc>
            </a:pPr>
            <a:r>
              <a:rPr lang="en-US" sz="1125">
                <a:solidFill>
                  <a:srgbClr val="546779"/>
                </a:solidFill>
                <a:latin typeface="Microsoft YaHei"/>
                <a:ea typeface="Microsoft YaHei"/>
              </a:rPr>
              <a:t>C</a:t>
            </a:r>
            <a:r>
              <a:rPr lang="zh-CN" sz="1125">
                <a:solidFill>
                  <a:srgbClr val="546779"/>
                </a:solidFill>
                <a:latin typeface="Microsoft YaHei"/>
                <a:ea typeface="Microsoft YaHei"/>
              </a:rPr>
              <a:t>　</a:t>
            </a:r>
            <a:r>
              <a:rPr lang="en-US" sz="1125">
                <a:solidFill>
                  <a:srgbClr val="546779"/>
                </a:solidFill>
                <a:latin typeface="Microsoft YaHei"/>
                <a:ea typeface="Microsoft YaHei"/>
              </a:rPr>
              <a:t>10⁻⁸ eV</a:t>
            </a:r>
            <a:endParaRPr/>
          </a:p>
        </p:txBody>
      </p:sp>
      <p:sp>
        <p:nvSpPr>
          <p:cNvPr id="350" name=""/>
          <p:cNvSpPr/>
          <p:nvPr/>
        </p:nvSpPr>
        <p:spPr>
          <a:xfrm rot="0" flipH="0" flipV="0">
            <a:off x="3314700" y="3124200"/>
            <a:ext cx="2419350" cy="381000"/>
          </a:xfrm>
          <a:prstGeom prst="roundRect">
            <a:avLst>
              <a:gd name="adj" fmla="val 20000"/>
            </a:avLst>
          </a:prstGeom>
          <a:solidFill>
            <a:srgbClr val="FFFFFF"/>
          </a:solidFill>
          <a:ln/>
        </p:spPr>
        <p:txBody>
          <a:bodyPr/>
          <a:p/>
        </p:txBody>
      </p:sp>
      <p:sp>
        <p:nvSpPr>
          <p:cNvPr id="351" name="" descr="{&quot;isTemplate&quot;:true,&quot;type&quot;:&quot;text&quot;}"/>
          <p:cNvSpPr txBox="1"/>
          <p:nvPr/>
        </p:nvSpPr>
        <p:spPr>
          <a:xfrm rot="0" flipH="0" flipV="0">
            <a:off x="4124325" y="3228975"/>
            <a:ext cx="809625" cy="171450"/>
          </a:xfrm>
          <a:prstGeom prst="rect"/>
        </p:spPr>
        <p:txBody>
          <a:bodyPr wrap="none" lIns="0" tIns="0" rIns="0" bIns="0"/>
          <a:p>
            <a:pPr>
              <a:lnSpc>
                <a:spcPct val="100000"/>
              </a:lnSpc>
            </a:pPr>
            <a:r>
              <a:rPr lang="en-US" sz="1125">
                <a:solidFill>
                  <a:srgbClr val="546779"/>
                </a:solidFill>
                <a:latin typeface="Microsoft YaHei"/>
                <a:ea typeface="Microsoft YaHei"/>
              </a:rPr>
              <a:t>D</a:t>
            </a:r>
            <a:r>
              <a:rPr lang="zh-CN" sz="1125">
                <a:solidFill>
                  <a:srgbClr val="546779"/>
                </a:solidFill>
                <a:latin typeface="Microsoft YaHei"/>
                <a:ea typeface="Microsoft YaHei"/>
              </a:rPr>
              <a:t>　</a:t>
            </a:r>
            <a:r>
              <a:rPr lang="en-US" sz="1125">
                <a:solidFill>
                  <a:srgbClr val="546779"/>
                </a:solidFill>
                <a:latin typeface="Microsoft YaHei"/>
                <a:ea typeface="Microsoft YaHei"/>
              </a:rPr>
              <a:t>10⁻¹¹ eV</a:t>
            </a:r>
            <a:endParaRPr/>
          </a:p>
        </p:txBody>
      </p:sp>
      <p:sp>
        <p:nvSpPr>
          <p:cNvPr id="352" name=""/>
          <p:cNvSpPr/>
          <p:nvPr/>
        </p:nvSpPr>
        <p:spPr>
          <a:xfrm rot="0" flipH="0" flipV="0">
            <a:off x="800100" y="4419600"/>
            <a:ext cx="5029200" cy="514350"/>
          </a:xfrm>
          <a:prstGeom prst="roundRect">
            <a:avLst>
              <a:gd name="adj" fmla="val 14815"/>
            </a:avLst>
          </a:prstGeom>
          <a:solidFill>
            <a:srgbClr val="ECF7F2"/>
          </a:solidFill>
          <a:ln/>
        </p:spPr>
        <p:txBody>
          <a:bodyPr/>
          <a:p/>
        </p:txBody>
      </p:sp>
      <p:sp>
        <p:nvSpPr>
          <p:cNvPr id="353" name=""/>
          <p:cNvSpPr/>
          <p:nvPr/>
        </p:nvSpPr>
        <p:spPr>
          <a:xfrm rot="0" flipH="0" flipV="0">
            <a:off x="933450" y="4514850"/>
            <a:ext cx="38100" cy="323850"/>
          </a:xfrm>
          <a:prstGeom prst="rect">
            <a:avLst/>
          </a:prstGeom>
          <a:solidFill>
            <a:srgbClr val="26816B"/>
          </a:solidFill>
          <a:ln/>
        </p:spPr>
        <p:txBody>
          <a:bodyPr/>
          <a:p/>
        </p:txBody>
      </p:sp>
      <p:sp>
        <p:nvSpPr>
          <p:cNvPr id="354" name="" descr="{&quot;isTemplate&quot;:true,&quot;type&quot;:&quot;text&quot;}"/>
          <p:cNvSpPr txBox="1"/>
          <p:nvPr/>
        </p:nvSpPr>
        <p:spPr>
          <a:xfrm rot="0" flipH="0" flipV="0">
            <a:off x="1085850" y="4562475"/>
            <a:ext cx="3267075" cy="238125"/>
          </a:xfrm>
          <a:prstGeom prst="rect"/>
        </p:spPr>
        <p:txBody>
          <a:bodyPr wrap="none" lIns="0" tIns="0" rIns="0" bIns="0"/>
          <a:p>
            <a:pPr>
              <a:lnSpc>
                <a:spcPct val="145000"/>
              </a:lnSpc>
            </a:pPr>
            <a:r>
              <a:rPr lang="zh-CN" sz="1050">
                <a:solidFill>
                  <a:srgbClr val="26816B"/>
                </a:solidFill>
                <a:latin typeface="Microsoft YaHei"/>
                <a:ea typeface="Microsoft YaHei"/>
              </a:rPr>
              <a:t>答案：</a:t>
            </a:r>
            <a:r>
              <a:rPr lang="en-US" sz="1050">
                <a:solidFill>
                  <a:srgbClr val="26816B"/>
                </a:solidFill>
                <a:latin typeface="Microsoft YaHei"/>
                <a:ea typeface="Microsoft YaHei"/>
              </a:rPr>
              <a:t>10⁻⁴ eV</a:t>
            </a:r>
            <a:r>
              <a:rPr lang="zh-CN" sz="1050">
                <a:solidFill>
                  <a:srgbClr val="26816B"/>
                </a:solidFill>
                <a:latin typeface="Microsoft YaHei"/>
                <a:ea typeface="Microsoft YaHei"/>
              </a:rPr>
              <a:t>。要先算出能级的自然线宽，再比较差值</a:t>
            </a:r>
            <a:endParaRPr/>
          </a:p>
        </p:txBody>
      </p:sp>
      <p:sp>
        <p:nvSpPr>
          <p:cNvPr id="355" name=""/>
          <p:cNvSpPr/>
          <p:nvPr/>
        </p:nvSpPr>
        <p:spPr>
          <a:xfrm rot="0" flipH="0" flipV="0">
            <a:off x="6172200" y="1485900"/>
            <a:ext cx="5410200" cy="3619500"/>
          </a:xfrm>
          <a:prstGeom prst="roundRect">
            <a:avLst>
              <a:gd name="adj" fmla="val 3158"/>
            </a:avLst>
          </a:prstGeom>
          <a:solidFill>
            <a:srgbClr val="F7F3E8"/>
          </a:solidFill>
          <a:ln/>
        </p:spPr>
        <p:txBody>
          <a:bodyPr/>
          <a:p/>
        </p:txBody>
      </p:sp>
      <p:sp>
        <p:nvSpPr>
          <p:cNvPr id="356" name=""/>
          <p:cNvSpPr/>
          <p:nvPr/>
        </p:nvSpPr>
        <p:spPr>
          <a:xfrm rot="0" flipH="0" flipV="0">
            <a:off x="6362700" y="1657350"/>
            <a:ext cx="571500" cy="266700"/>
          </a:xfrm>
          <a:prstGeom prst="roundRect">
            <a:avLst>
              <a:gd name="adj" fmla="val 21429"/>
            </a:avLst>
          </a:prstGeom>
          <a:solidFill>
            <a:srgbClr val="276FBF"/>
          </a:solidFill>
          <a:ln/>
        </p:spPr>
        <p:txBody>
          <a:bodyPr/>
          <a:p/>
        </p:txBody>
      </p:sp>
      <p:sp>
        <p:nvSpPr>
          <p:cNvPr id="357" name="" descr="{&quot;isTemplate&quot;:true,&quot;type&quot;:&quot;text&quot;}"/>
          <p:cNvSpPr txBox="1"/>
          <p:nvPr/>
        </p:nvSpPr>
        <p:spPr>
          <a:xfrm rot="0" flipH="0" flipV="0">
            <a:off x="6524625" y="1714500"/>
            <a:ext cx="247650" cy="152400"/>
          </a:xfrm>
          <a:prstGeom prst="rect"/>
        </p:spPr>
        <p:txBody>
          <a:bodyPr wrap="none" lIns="0" tIns="0" rIns="0" bIns="0"/>
          <a:p>
            <a:pPr>
              <a:lnSpc>
                <a:spcPct val="100000"/>
              </a:lnSpc>
            </a:pPr>
            <a:r>
              <a:rPr lang="zh-CN" sz="975">
                <a:solidFill>
                  <a:srgbClr val="FFFFFF"/>
                </a:solidFill>
                <a:latin typeface="Microsoft YaHei"/>
                <a:ea typeface="Microsoft YaHei"/>
              </a:rPr>
              <a:t>化学</a:t>
            </a:r>
            <a:endParaRPr/>
          </a:p>
        </p:txBody>
      </p:sp>
      <p:sp>
        <p:nvSpPr>
          <p:cNvPr id="358" name="" descr="{&quot;isTemplate&quot;:true,&quot;type&quot;:&quot;text&quot;}"/>
          <p:cNvSpPr txBox="1"/>
          <p:nvPr/>
        </p:nvSpPr>
        <p:spPr>
          <a:xfrm rot="0" flipH="0" flipV="0">
            <a:off x="7029450" y="1714500"/>
            <a:ext cx="1333500" cy="152400"/>
          </a:xfrm>
          <a:prstGeom prst="rect"/>
        </p:spPr>
        <p:txBody>
          <a:bodyPr wrap="none" lIns="0" tIns="0" rIns="0" bIns="0"/>
          <a:p>
            <a:pPr>
              <a:lnSpc>
                <a:spcPct val="100000"/>
              </a:lnSpc>
            </a:pPr>
            <a:r>
              <a:rPr lang="en-US" sz="975">
                <a:solidFill>
                  <a:srgbClr val="546779"/>
                </a:solidFill>
                <a:latin typeface="Microsoft YaHei"/>
                <a:ea typeface="Microsoft YaHei"/>
              </a:rPr>
              <a:t xml:space="preserve">GPQA Diamond </a:t>
            </a:r>
            <a:r>
              <a:rPr lang="zh-CN" sz="975">
                <a:solidFill>
                  <a:srgbClr val="546779"/>
                </a:solidFill>
                <a:latin typeface="Microsoft YaHei"/>
                <a:ea typeface="Microsoft YaHei"/>
              </a:rPr>
              <a:t>样题</a:t>
            </a:r>
            <a:r>
              <a:rPr lang="en-US" sz="975">
                <a:solidFill>
                  <a:srgbClr val="546779"/>
                </a:solidFill>
                <a:latin typeface="Microsoft YaHei"/>
                <a:ea typeface="Microsoft YaHei"/>
              </a:rPr>
              <a:t xml:space="preserve"> 2</a:t>
            </a:r>
            <a:endParaRPr/>
          </a:p>
        </p:txBody>
      </p:sp>
      <p:sp>
        <p:nvSpPr>
          <p:cNvPr id="359" name="" descr="{&quot;isTemplate&quot;:true,&quot;type&quot;:&quot;text&quot;}"/>
          <p:cNvSpPr txBox="1"/>
          <p:nvPr/>
        </p:nvSpPr>
        <p:spPr>
          <a:xfrm rot="0" flipH="0" flipV="0">
            <a:off x="6362700" y="2019300"/>
            <a:ext cx="5029200" cy="533400"/>
          </a:xfrm>
          <a:prstGeom prst="rect"/>
        </p:spPr>
        <p:txBody>
          <a:bodyPr wrap="square" lIns="0" tIns="0" rIns="0" bIns="0">
            <a:normAutofit/>
          </a:bodyPr>
          <a:p>
            <a:pPr>
              <a:lnSpc>
                <a:spcPct val="155000"/>
              </a:lnSpc>
            </a:pPr>
            <a:r>
              <a:rPr lang="zh-CN" sz="1125">
                <a:solidFill>
                  <a:srgbClr val="20344B"/>
                </a:solidFill>
                <a:latin typeface="Microsoft YaHei"/>
                <a:ea typeface="Microsoft YaHei"/>
              </a:rPr>
              <a:t>甲基环戊二烯与甲基异戊基酮、催化量吡咯烷反应，生成一种亮黄色的交叉共轭多烯烃产物。不计立体异构，最终产物由多少种化学上不同的异构体组成？</a:t>
            </a:r>
            <a:endParaRPr/>
          </a:p>
        </p:txBody>
      </p:sp>
      <p:sp>
        <p:nvSpPr>
          <p:cNvPr id="360" name=""/>
          <p:cNvSpPr/>
          <p:nvPr/>
        </p:nvSpPr>
        <p:spPr>
          <a:xfrm rot="0" flipH="0" flipV="0">
            <a:off x="6362700" y="2647950"/>
            <a:ext cx="2419350" cy="381000"/>
          </a:xfrm>
          <a:prstGeom prst="roundRect">
            <a:avLst>
              <a:gd name="adj" fmla="val 20000"/>
            </a:avLst>
          </a:prstGeom>
          <a:solidFill>
            <a:srgbClr val="FFFFFF"/>
          </a:solidFill>
          <a:ln/>
        </p:spPr>
        <p:txBody>
          <a:bodyPr/>
          <a:p/>
        </p:txBody>
      </p:sp>
      <p:sp>
        <p:nvSpPr>
          <p:cNvPr id="361" name="" descr="{&quot;isTemplate&quot;:true,&quot;type&quot;:&quot;text&quot;}"/>
          <p:cNvSpPr txBox="1"/>
          <p:nvPr/>
        </p:nvSpPr>
        <p:spPr>
          <a:xfrm rot="0" flipH="0" flipV="0">
            <a:off x="7315200" y="2752725"/>
            <a:ext cx="514350" cy="171450"/>
          </a:xfrm>
          <a:prstGeom prst="rect"/>
        </p:spPr>
        <p:txBody>
          <a:bodyPr wrap="none" lIns="0" tIns="0" rIns="0" bIns="0"/>
          <a:p>
            <a:pPr>
              <a:lnSpc>
                <a:spcPct val="100000"/>
              </a:lnSpc>
            </a:pPr>
            <a:r>
              <a:rPr lang="en-US" sz="1125">
                <a:solidFill>
                  <a:srgbClr val="546779"/>
                </a:solidFill>
                <a:latin typeface="Microsoft YaHei"/>
                <a:ea typeface="Microsoft YaHei"/>
              </a:rPr>
              <a:t>A</a:t>
            </a:r>
            <a:r>
              <a:rPr lang="zh-CN" sz="1125">
                <a:solidFill>
                  <a:srgbClr val="546779"/>
                </a:solidFill>
                <a:latin typeface="Microsoft YaHei"/>
                <a:ea typeface="Microsoft YaHei"/>
              </a:rPr>
              <a:t>　</a:t>
            </a:r>
            <a:r>
              <a:rPr lang="en-US" sz="1125">
                <a:solidFill>
                  <a:srgbClr val="546779"/>
                </a:solidFill>
                <a:latin typeface="Microsoft YaHei"/>
                <a:ea typeface="Microsoft YaHei"/>
              </a:rPr>
              <a:t xml:space="preserve">2 </a:t>
            </a:r>
            <a:r>
              <a:rPr lang="zh-CN" sz="1125">
                <a:solidFill>
                  <a:srgbClr val="546779"/>
                </a:solidFill>
                <a:latin typeface="Microsoft YaHei"/>
                <a:ea typeface="Microsoft YaHei"/>
              </a:rPr>
              <a:t>种</a:t>
            </a:r>
            <a:endParaRPr/>
          </a:p>
        </p:txBody>
      </p:sp>
      <p:sp>
        <p:nvSpPr>
          <p:cNvPr id="362" name=""/>
          <p:cNvSpPr/>
          <p:nvPr/>
        </p:nvSpPr>
        <p:spPr>
          <a:xfrm rot="0" flipH="0" flipV="0">
            <a:off x="8877300" y="2647950"/>
            <a:ext cx="2419350" cy="381000"/>
          </a:xfrm>
          <a:prstGeom prst="roundRect">
            <a:avLst>
              <a:gd name="adj" fmla="val 20000"/>
            </a:avLst>
          </a:prstGeom>
          <a:solidFill>
            <a:srgbClr val="FFFFFF"/>
          </a:solidFill>
          <a:ln/>
        </p:spPr>
        <p:txBody>
          <a:bodyPr/>
          <a:p/>
        </p:txBody>
      </p:sp>
      <p:sp>
        <p:nvSpPr>
          <p:cNvPr id="363" name="" descr="{&quot;isTemplate&quot;:true,&quot;type&quot;:&quot;text&quot;}"/>
          <p:cNvSpPr txBox="1"/>
          <p:nvPr/>
        </p:nvSpPr>
        <p:spPr>
          <a:xfrm rot="0" flipH="0" flipV="0">
            <a:off x="9791700" y="2752725"/>
            <a:ext cx="590550" cy="171450"/>
          </a:xfrm>
          <a:prstGeom prst="rect"/>
        </p:spPr>
        <p:txBody>
          <a:bodyPr wrap="none" lIns="0" tIns="0" rIns="0" bIns="0"/>
          <a:p>
            <a:pPr>
              <a:lnSpc>
                <a:spcPct val="100000"/>
              </a:lnSpc>
            </a:pPr>
            <a:r>
              <a:rPr lang="en-US" sz="1125">
                <a:solidFill>
                  <a:srgbClr val="546779"/>
                </a:solidFill>
                <a:latin typeface="Microsoft YaHei"/>
                <a:ea typeface="Microsoft YaHei"/>
              </a:rPr>
              <a:t>B</a:t>
            </a:r>
            <a:r>
              <a:rPr lang="zh-CN" sz="1125">
                <a:solidFill>
                  <a:srgbClr val="546779"/>
                </a:solidFill>
                <a:latin typeface="Microsoft YaHei"/>
                <a:ea typeface="Microsoft YaHei"/>
              </a:rPr>
              <a:t>　</a:t>
            </a:r>
            <a:r>
              <a:rPr lang="en-US" sz="1125">
                <a:solidFill>
                  <a:srgbClr val="546779"/>
                </a:solidFill>
                <a:latin typeface="Microsoft YaHei"/>
                <a:ea typeface="Microsoft YaHei"/>
              </a:rPr>
              <a:t xml:space="preserve">16 </a:t>
            </a:r>
            <a:r>
              <a:rPr lang="zh-CN" sz="1125">
                <a:solidFill>
                  <a:srgbClr val="546779"/>
                </a:solidFill>
                <a:latin typeface="Microsoft YaHei"/>
                <a:ea typeface="Microsoft YaHei"/>
              </a:rPr>
              <a:t>种</a:t>
            </a:r>
            <a:endParaRPr/>
          </a:p>
        </p:txBody>
      </p:sp>
      <p:sp>
        <p:nvSpPr>
          <p:cNvPr id="364" name=""/>
          <p:cNvSpPr/>
          <p:nvPr/>
        </p:nvSpPr>
        <p:spPr>
          <a:xfrm rot="0" flipH="0" flipV="0">
            <a:off x="6362700" y="3124200"/>
            <a:ext cx="2419350" cy="381000"/>
          </a:xfrm>
          <a:prstGeom prst="roundRect">
            <a:avLst>
              <a:gd name="adj" fmla="val 20000"/>
            </a:avLst>
          </a:prstGeom>
          <a:solidFill>
            <a:srgbClr val="FFFFFF"/>
          </a:solidFill>
          <a:ln/>
        </p:spPr>
        <p:txBody>
          <a:bodyPr/>
          <a:p/>
        </p:txBody>
      </p:sp>
      <p:sp>
        <p:nvSpPr>
          <p:cNvPr id="365" name="" descr="{&quot;isTemplate&quot;:true,&quot;type&quot;:&quot;text&quot;}"/>
          <p:cNvSpPr txBox="1"/>
          <p:nvPr/>
        </p:nvSpPr>
        <p:spPr>
          <a:xfrm rot="0" flipH="0" flipV="0">
            <a:off x="7315200" y="3228975"/>
            <a:ext cx="514350" cy="171450"/>
          </a:xfrm>
          <a:prstGeom prst="rect"/>
        </p:spPr>
        <p:txBody>
          <a:bodyPr wrap="none" lIns="0" tIns="0" rIns="0" bIns="0"/>
          <a:p>
            <a:pPr>
              <a:lnSpc>
                <a:spcPct val="100000"/>
              </a:lnSpc>
            </a:pPr>
            <a:r>
              <a:rPr lang="en-US" sz="1125">
                <a:solidFill>
                  <a:srgbClr val="546779"/>
                </a:solidFill>
                <a:latin typeface="Microsoft YaHei"/>
                <a:ea typeface="Microsoft YaHei"/>
              </a:rPr>
              <a:t>C</a:t>
            </a:r>
            <a:r>
              <a:rPr lang="zh-CN" sz="1125">
                <a:solidFill>
                  <a:srgbClr val="546779"/>
                </a:solidFill>
                <a:latin typeface="Microsoft YaHei"/>
                <a:ea typeface="Microsoft YaHei"/>
              </a:rPr>
              <a:t>　</a:t>
            </a:r>
            <a:r>
              <a:rPr lang="en-US" sz="1125">
                <a:solidFill>
                  <a:srgbClr val="546779"/>
                </a:solidFill>
                <a:latin typeface="Microsoft YaHei"/>
                <a:ea typeface="Microsoft YaHei"/>
              </a:rPr>
              <a:t xml:space="preserve">8 </a:t>
            </a:r>
            <a:r>
              <a:rPr lang="zh-CN" sz="1125">
                <a:solidFill>
                  <a:srgbClr val="546779"/>
                </a:solidFill>
                <a:latin typeface="Microsoft YaHei"/>
                <a:ea typeface="Microsoft YaHei"/>
              </a:rPr>
              <a:t>种</a:t>
            </a:r>
            <a:endParaRPr/>
          </a:p>
        </p:txBody>
      </p:sp>
      <p:sp>
        <p:nvSpPr>
          <p:cNvPr id="366" name=""/>
          <p:cNvSpPr/>
          <p:nvPr/>
        </p:nvSpPr>
        <p:spPr>
          <a:xfrm rot="0" flipH="0" flipV="0">
            <a:off x="8877300" y="3124200"/>
            <a:ext cx="2419350" cy="381000"/>
          </a:xfrm>
          <a:prstGeom prst="roundRect">
            <a:avLst>
              <a:gd name="adj" fmla="val 20000"/>
            </a:avLst>
          </a:prstGeom>
          <a:solidFill>
            <a:srgbClr val="FFFFFF"/>
          </a:solidFill>
          <a:ln/>
        </p:spPr>
        <p:txBody>
          <a:bodyPr/>
          <a:p/>
        </p:txBody>
      </p:sp>
      <p:sp>
        <p:nvSpPr>
          <p:cNvPr id="367" name="" descr="{&quot;isTemplate&quot;:true,&quot;type&quot;:&quot;text&quot;}"/>
          <p:cNvSpPr txBox="1"/>
          <p:nvPr/>
        </p:nvSpPr>
        <p:spPr>
          <a:xfrm rot="0" flipH="0" flipV="0">
            <a:off x="9829800" y="3228975"/>
            <a:ext cx="523875" cy="171450"/>
          </a:xfrm>
          <a:prstGeom prst="rect"/>
        </p:spPr>
        <p:txBody>
          <a:bodyPr wrap="none" lIns="0" tIns="0" rIns="0" bIns="0"/>
          <a:p>
            <a:pPr>
              <a:lnSpc>
                <a:spcPct val="100000"/>
              </a:lnSpc>
            </a:pPr>
            <a:r>
              <a:rPr lang="en-US" sz="1125">
                <a:solidFill>
                  <a:srgbClr val="546779"/>
                </a:solidFill>
                <a:latin typeface="Microsoft YaHei"/>
                <a:ea typeface="Microsoft YaHei"/>
              </a:rPr>
              <a:t>D</a:t>
            </a:r>
            <a:r>
              <a:rPr lang="zh-CN" sz="1125">
                <a:solidFill>
                  <a:srgbClr val="546779"/>
                </a:solidFill>
                <a:latin typeface="Microsoft YaHei"/>
                <a:ea typeface="Microsoft YaHei"/>
              </a:rPr>
              <a:t>　</a:t>
            </a:r>
            <a:r>
              <a:rPr lang="en-US" sz="1125">
                <a:solidFill>
                  <a:srgbClr val="546779"/>
                </a:solidFill>
                <a:latin typeface="Microsoft YaHei"/>
                <a:ea typeface="Microsoft YaHei"/>
              </a:rPr>
              <a:t xml:space="preserve">4 </a:t>
            </a:r>
            <a:r>
              <a:rPr lang="zh-CN" sz="1125">
                <a:solidFill>
                  <a:srgbClr val="546779"/>
                </a:solidFill>
                <a:latin typeface="Microsoft YaHei"/>
                <a:ea typeface="Microsoft YaHei"/>
              </a:rPr>
              <a:t>种</a:t>
            </a:r>
            <a:endParaRPr/>
          </a:p>
        </p:txBody>
      </p:sp>
      <p:sp>
        <p:nvSpPr>
          <p:cNvPr id="368" name=""/>
          <p:cNvSpPr/>
          <p:nvPr/>
        </p:nvSpPr>
        <p:spPr>
          <a:xfrm rot="0" flipH="0" flipV="0">
            <a:off x="6362700" y="4419600"/>
            <a:ext cx="5029200" cy="514350"/>
          </a:xfrm>
          <a:prstGeom prst="roundRect">
            <a:avLst>
              <a:gd name="adj" fmla="val 14815"/>
            </a:avLst>
          </a:prstGeom>
          <a:solidFill>
            <a:srgbClr val="ECF7F2"/>
          </a:solidFill>
          <a:ln/>
        </p:spPr>
        <p:txBody>
          <a:bodyPr/>
          <a:p/>
        </p:txBody>
      </p:sp>
      <p:sp>
        <p:nvSpPr>
          <p:cNvPr id="369" name=""/>
          <p:cNvSpPr/>
          <p:nvPr/>
        </p:nvSpPr>
        <p:spPr>
          <a:xfrm rot="0" flipH="0" flipV="0">
            <a:off x="6496050" y="4514850"/>
            <a:ext cx="38100" cy="323850"/>
          </a:xfrm>
          <a:prstGeom prst="rect">
            <a:avLst/>
          </a:prstGeom>
          <a:solidFill>
            <a:srgbClr val="26816B"/>
          </a:solidFill>
          <a:ln/>
        </p:spPr>
        <p:txBody>
          <a:bodyPr/>
          <a:p/>
        </p:txBody>
      </p:sp>
      <p:sp>
        <p:nvSpPr>
          <p:cNvPr id="370" name="" descr="{&quot;isTemplate&quot;:true,&quot;type&quot;:&quot;text&quot;}"/>
          <p:cNvSpPr txBox="1"/>
          <p:nvPr/>
        </p:nvSpPr>
        <p:spPr>
          <a:xfrm rot="0" flipH="0" flipV="0">
            <a:off x="6648450" y="4562475"/>
            <a:ext cx="3848100" cy="238125"/>
          </a:xfrm>
          <a:prstGeom prst="rect"/>
        </p:spPr>
        <p:txBody>
          <a:bodyPr wrap="none" lIns="0" tIns="0" rIns="0" bIns="0"/>
          <a:p>
            <a:pPr>
              <a:lnSpc>
                <a:spcPct val="145000"/>
              </a:lnSpc>
            </a:pPr>
            <a:r>
              <a:rPr lang="zh-CN" sz="1050">
                <a:solidFill>
                  <a:srgbClr val="26816B"/>
                </a:solidFill>
                <a:latin typeface="Microsoft YaHei"/>
                <a:ea typeface="Microsoft YaHei"/>
              </a:rPr>
              <a:t>答案：</a:t>
            </a:r>
            <a:r>
              <a:rPr lang="en-US" sz="1050">
                <a:solidFill>
                  <a:srgbClr val="26816B"/>
                </a:solidFill>
                <a:latin typeface="Microsoft YaHei"/>
                <a:ea typeface="Microsoft YaHei"/>
              </a:rPr>
              <a:t xml:space="preserve">16 </a:t>
            </a:r>
            <a:r>
              <a:rPr lang="zh-CN" sz="1050">
                <a:solidFill>
                  <a:srgbClr val="26816B"/>
                </a:solidFill>
                <a:latin typeface="Microsoft YaHei"/>
                <a:ea typeface="Microsoft YaHei"/>
              </a:rPr>
              <a:t>种。前体本身以</a:t>
            </a:r>
            <a:r>
              <a:rPr lang="en-US" sz="1050">
                <a:solidFill>
                  <a:srgbClr val="26816B"/>
                </a:solidFill>
                <a:latin typeface="Microsoft YaHei"/>
                <a:ea typeface="Microsoft YaHei"/>
              </a:rPr>
              <a:t xml:space="preserve"> 3 </a:t>
            </a:r>
            <a:r>
              <a:rPr lang="zh-CN" sz="1050">
                <a:solidFill>
                  <a:srgbClr val="26816B"/>
                </a:solidFill>
                <a:latin typeface="Microsoft YaHei"/>
                <a:ea typeface="Microsoft YaHei"/>
              </a:rPr>
              <a:t>种异构体互变，再乘上</a:t>
            </a:r>
            <a:r>
              <a:rPr lang="en-US" sz="1050">
                <a:solidFill>
                  <a:srgbClr val="26816B"/>
                </a:solidFill>
                <a:latin typeface="Microsoft YaHei"/>
                <a:ea typeface="Microsoft YaHei"/>
              </a:rPr>
              <a:t xml:space="preserve"> 4 </a:t>
            </a:r>
            <a:r>
              <a:rPr lang="zh-CN" sz="1050">
                <a:solidFill>
                  <a:srgbClr val="26816B"/>
                </a:solidFill>
                <a:latin typeface="Microsoft YaHei"/>
                <a:ea typeface="Microsoft YaHei"/>
              </a:rPr>
              <a:t>个接近方向</a:t>
            </a:r>
            <a:endParaRPr/>
          </a:p>
        </p:txBody>
      </p:sp>
      <p:sp>
        <p:nvSpPr>
          <p:cNvPr id="371" name=""/>
          <p:cNvSpPr/>
          <p:nvPr/>
        </p:nvSpPr>
        <p:spPr>
          <a:xfrm rot="0" flipH="0" flipV="0">
            <a:off x="609600" y="5257800"/>
            <a:ext cx="10972800" cy="685800"/>
          </a:xfrm>
          <a:prstGeom prst="roundRect">
            <a:avLst>
              <a:gd name="adj" fmla="val 13889"/>
            </a:avLst>
          </a:prstGeom>
          <a:solidFill>
            <a:srgbClr val="FFF4E6"/>
          </a:solidFill>
          <a:ln/>
        </p:spPr>
        <p:txBody>
          <a:bodyPr/>
          <a:p/>
        </p:txBody>
      </p:sp>
      <p:sp>
        <p:nvSpPr>
          <p:cNvPr id="372" name=""/>
          <p:cNvSpPr/>
          <p:nvPr/>
        </p:nvSpPr>
        <p:spPr>
          <a:xfrm rot="0" flipH="0" flipV="0">
            <a:off x="819150" y="5391150"/>
            <a:ext cx="38100" cy="419100"/>
          </a:xfrm>
          <a:prstGeom prst="rect">
            <a:avLst/>
          </a:prstGeom>
          <a:solidFill>
            <a:srgbClr val="CB6B28"/>
          </a:solidFill>
          <a:ln/>
        </p:spPr>
        <p:txBody>
          <a:bodyPr/>
          <a:p/>
        </p:txBody>
      </p:sp>
      <p:sp>
        <p:nvSpPr>
          <p:cNvPr id="373" name="" descr="{&quot;isTemplate&quot;:true,&quot;type&quot;:&quot;text&quot;}"/>
          <p:cNvSpPr txBox="1"/>
          <p:nvPr/>
        </p:nvSpPr>
        <p:spPr>
          <a:xfrm rot="0" flipH="0" flipV="0">
            <a:off x="1009650" y="5457825"/>
            <a:ext cx="5800725" cy="285750"/>
          </a:xfrm>
          <a:prstGeom prst="rect"/>
        </p:spPr>
        <p:txBody>
          <a:bodyPr wrap="none" lIns="0" tIns="0" rIns="0" bIns="0"/>
          <a:p>
            <a:pPr>
              <a:lnSpc>
                <a:spcPct val="155000"/>
              </a:lnSpc>
            </a:pPr>
            <a:r>
              <a:rPr lang="zh-CN" sz="1200">
                <a:solidFill>
                  <a:srgbClr val="CB6B28"/>
                </a:solidFill>
                <a:latin typeface="Microsoft YaHei"/>
                <a:ea typeface="Microsoft YaHei"/>
              </a:rPr>
              <a:t>判分要求答案以固定格式结尾；格式不对，推理再正确也计零分——这就是</a:t>
            </a:r>
            <a:r>
              <a:rPr lang="en-US" sz="1200">
                <a:solidFill>
                  <a:srgbClr val="CB6B28"/>
                </a:solidFill>
                <a:latin typeface="Microsoft YaHei"/>
                <a:ea typeface="Microsoft YaHei"/>
              </a:rPr>
              <a:t>"</a:t>
            </a:r>
            <a:r>
              <a:rPr lang="zh-CN" sz="1200">
                <a:solidFill>
                  <a:srgbClr val="CB6B28"/>
                </a:solidFill>
                <a:latin typeface="Microsoft YaHei"/>
                <a:ea typeface="Microsoft YaHei"/>
              </a:rPr>
              <a:t>评分契约</a:t>
            </a:r>
            <a:r>
              <a:rPr lang="en-US" sz="1200">
                <a:solidFill>
                  <a:srgbClr val="CB6B28"/>
                </a:solidFill>
                <a:latin typeface="Microsoft YaHei"/>
                <a:ea typeface="Microsoft YaHei"/>
              </a:rPr>
              <a:t>"</a:t>
            </a:r>
            <a:endParaRPr/>
          </a:p>
        </p:txBody>
      </p:sp>
      <p:sp>
        <p:nvSpPr>
          <p:cNvPr id="374"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37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19 / 36</a:t>
            </a:r>
            <a:endParaRPr/>
          </a:p>
        </p:txBody>
      </p:sp>
    </p:spTree>
  </p:cSld>
</p:sld>
</file>

<file path=ppt/slides/slide20.xml><?xml version="1.0" encoding="utf-8"?>
<p:sld xmlns:p="http://schemas.openxmlformats.org/presentationml/2006/main" xmlns:a="http://schemas.openxmlformats.org/drawingml/2006/main">
  <p:cSld>
    <p:spTree>
      <p:nvGrpSpPr>
        <p:cNvPr id="410" name="" descr="&lt;Slide notes={`再看两种不同形式的题。&#10;&#10;左边是 MMLU-Pro，它是多选题，但选项从原来的四个扩展到最多十个，覆盖十四个学科。选项一多，靠蒙得分的概率就低了。它的代价是仍然给了答案线索，模型只要挑一个就行，不需要自己写出答案。&#10;&#10;右边是 AIME，美国数学邀请赛。它的特点是答案永远是零到九百九十九之间的一个整数，所以判分特别干净：要么对，要么错，不用人来评。评测时通常按固定年份的题集核对最终答案，报告准确率或者重复采样的通过率。比如 2025 年第一卷第一题，答案就是 70。&#10;&#10;把这两种题放在一起就能看出，题型不同，能证明的东西也不同。选择题证明的是能选对，简答题证明的是能自己给出答案。在真实的咨询场景里，我们更需要后一种。`}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④　1.4.4　样本展示：选一个，和写出一个&lt;/Text&gt;&#10;            &lt;Text style={{ fontSize: 34, fontWeight: 'bold', color: '#20344B' }}&gt;MMLU-Pro 与 AIME&lt;/Text&gt;&#10;        &lt;/Box&gt;&#10;    &lt;/Box&gt;&#10;&#10;    &lt;Box style={{ height: 540, flexDirection: 'column', justifyContent: 'center' }}&gt;&#10;&#10;        &lt;Box style={{ flexDirection: 'row', gap: 28, alignItems: 'flex-start' }}&gt;&#10;&#10;            &lt;Box style={{ width: 660, height: 404, background: '#EDF4FC', borderRadius: 12, padding: '18px 20px', flexDirection: 'column', gap: 10 }}&gt;&#10;                &lt;Text style={{ fontSize: 20, fontWeight: 'bold', color: '#20344B' }}&gt;MMLU-Pro：十选一&lt;/Text&gt;&#10;                &lt;Box style={{ flexDirection: 'row', gap: 8 }}&gt;&#10;                    &lt;Box style={{ width: 148, height: 30, background: '#FFFFFF', borderRadius: 6, alignItems: 'center', justifyContent: 'center' }}&gt;&lt;Text style={{ fontSize: 13, color: '#276FBF' }}&gt;10 个选项&lt;/Text&gt;&lt;/Box&gt;&#10;                    &lt;Box style={{ width: 148, height: 30, background: '#FFFFFF', borderRadius: 6, alignItems: 'center', justifyContent: 'center' }}&gt;&lt;Text style={{ fontSize: 13, color: '#276FBF' }}&gt;14 个学科&lt;/Text&gt;&lt;/Box&gt;&#10;                    &lt;Box style={{ width: 148, height: 30, background: '#FFFFFF', borderRadius: 6, alignItems: 'center', justifyContent: 'center' }}&gt;&lt;Text style={{ fontSize: 13, color: '#276FBF' }}&gt;约 1.2 万题&lt;/Text&gt;&lt;/Box&gt;&#10;                    &lt;Box style={{ width: 148, height: 30, background: '#FFFFFF', borderRadius: 6, alignItems: 'center', justifyContent: 'center' }}&gt;&lt;Text style={{ fontSize: 13, color: '#276FBF' }}&gt;偏推理&lt;/Text&gt;&lt;/Box&gt;&#10;                &lt;/Box&gt;&#10;                &lt;Box style={{ background: '#FFFFFF', borderRadius: 8, padding: '14px 16px', flexDirection: 'column', gap: 6 }}&gt;&#10;                    &lt;Text style={{ fontSize: 13, color: '#546779' }}&gt;题面形式（示意）&lt;/Text&gt;&#10;                    &lt;Text style={{ fontSize: 15, color: '#20344B', lineHeight: 1.55 }}&gt;给一道学科问题，附十个候选选项，要求选出一个并给出选项字母。&lt;/Text&gt;&#10;                &lt;/Box&gt;&#10;                &lt;Text style={{ fontSize: 14, color: '#546779', lineHeight: 1.5 }}&gt;选项多，猜中概率从四分之一降到十分之一；代价是仍给了答案线索，不必自己写答案。&lt;/Text&gt;&#10;                &lt;Box style={{ flex: 1 }} /&gt;&#10;                &lt;Box style={{ flexDirection: 'row', gap: 12, alignItems: 'center', background: '#FFF4E6', borderRadius: 8, padding: '10px 14px' }}&gt;&#10;                    &lt;Box style={{ width: 4, height: 32, background: '#CB6B28' }} /&gt;&#10;                    &lt;Text style={{ fontSize: 14, color: '#CB6B28', lineHeight: 1.4 }}&gt;仍有运气成分：十选一也有一成的基线&lt;/Text&gt;&#10;                &lt;/Box&gt;&#10;            &lt;/Box&gt;&#10;&#10;            &lt;Box style={{ width: 464, height: 404, background: '#ECF7F2', borderRadius: 12, padding: '18px 20px', flexDirection: 'column', gap: 12 }}&gt;&#10;                &lt;Text style={{ fontSize: 20, fontWeight: 'bold', color: '#20344B' }}&gt;AIME：整数答案&lt;/Text&gt;&#10;                &lt;Box style={{ flexDirection: 'column', gap: 6, background: '#FFFFFF', borderRadius: 8, padding: '14px 16px' }}&gt;&#10;                    &lt;Text style={{ fontSize: 13, color: '#546779' }}&gt;答案规则&lt;/Text&gt;&#10;                    &lt;Text style={{ fontSize: 15, color: '#20344B', lineHeight: 1.5 }}&gt;答案永远是 0 到 999 之间的一个整数，不需要人工评阅。&lt;/Text&gt;&#10;                &lt;/Box&gt;&#10;                &lt;Box style={{ flexDirection: 'column', gap: 6, background: '#FFFFFF', borderRadius: 8, padding: '14px 16px' }}&gt;&#10;                    &lt;Text style={{ fontSize: 13, color: '#546779' }}&gt;评测口径&lt;/Text&gt;&#10;                    &lt;Text style={{ fontSize: 15, color: '#20344B', lineHeight: 1.5 }}&gt;按固定年份题集核对最终答案，报告准确率或重复采样通过率。&lt;/Text&gt;&#10;                &lt;/Box&gt;&#10;                &lt;Box style={{ flexDirection: 'column', gap: 6, background: '#FFFFFF', borderRadius: 8, padding: '14px 16px' }}&gt;&#10;                    &lt;Text style={{ fontSize: 13, color: '#546779' }}&gt;举例&lt;/Text&gt;&#10;                    &lt;Text style={{ fontSize: 15, color: '#20344B', lineHeight: 1.5 }}&gt;2025 年 AIME 第一卷第一题，答案是 70。&lt;/Text&gt;&#10;                &lt;/Box&gt;&#10;                &lt;Box style={{ flex: 1 }} /&gt;&#10;                &lt;Text style={{ fontSize: 14, color: '#26816B', lineHeight: 1.45 }}&gt;判定干净，但年份、题集与采样次数必须一起写出来&lt;/Text&gt;&#10;            &lt;/Box&gt;&#10;&#10;        &lt;/Box&gt;&#10;&#10;    &lt;/Box&gt;&#10;&#10;    &lt;Box style={{ height: 40, flexDirection: 'row', justifyContent: 'space-between', alignItems: 'center' }}&gt;&#10;        &lt;Text style={{ fontSize: 14, color: '#546779' }}&gt;1.4 从榜单到证据&lt;/Text&gt;&#10;        &lt;Text style={{ fontSize: 14, color: '#546779' }}&gt;20 / 36&lt;/Text&gt;&#10;    &lt;/Box&gt;&#10;&#10;&lt;/Slide&gt;&#10;"/>
        <p:cNvGrpSpPr/>
        <p:nvPr/>
      </p:nvGrpSpPr>
      <p:grpSpPr>
        <a:xfrm>
          <a:off x="0" y="0"/>
          <a:ext cx="0" cy="0"/>
          <a:chOff x="0" y="0"/>
          <a:chExt cx="0" cy="0"/>
        </a:xfrm>
      </p:grpSpPr>
      <p:sp>
        <p:nvSpPr>
          <p:cNvPr id="411" name=""/>
          <p:cNvSpPr/>
          <p:nvPr/>
        </p:nvSpPr>
        <p:spPr>
          <a:xfrm rot="0" flipH="0" flipV="0">
            <a:off x="0" y="0"/>
            <a:ext cx="12192000" cy="6858000"/>
          </a:xfrm>
          <a:prstGeom prst="rect">
            <a:avLst/>
          </a:prstGeom>
          <a:solidFill>
            <a:srgbClr val="FFFFFF"/>
          </a:solidFill>
          <a:ln/>
        </p:spPr>
        <p:txBody>
          <a:bodyPr/>
          <a:p/>
        </p:txBody>
      </p:sp>
      <p:sp>
        <p:nvSpPr>
          <p:cNvPr id="412" name=""/>
          <p:cNvSpPr/>
          <p:nvPr/>
        </p:nvSpPr>
        <p:spPr>
          <a:xfrm rot="0" flipH="0" flipV="0">
            <a:off x="609600" y="457200"/>
            <a:ext cx="38100" cy="419100"/>
          </a:xfrm>
          <a:prstGeom prst="rect">
            <a:avLst/>
          </a:prstGeom>
          <a:solidFill>
            <a:srgbClr val="276FBF"/>
          </a:solidFill>
          <a:ln/>
        </p:spPr>
        <p:txBody>
          <a:bodyPr/>
          <a:p/>
        </p:txBody>
      </p:sp>
      <p:sp>
        <p:nvSpPr>
          <p:cNvPr id="413" name="" descr="{&quot;isTemplate&quot;:true,&quot;type&quot;:&quot;text&quot;}"/>
          <p:cNvSpPr txBox="1"/>
          <p:nvPr/>
        </p:nvSpPr>
        <p:spPr>
          <a:xfrm rot="0" flipH="0" flipV="0">
            <a:off x="838200" y="371475"/>
            <a:ext cx="3181350" cy="161925"/>
          </a:xfrm>
          <a:prstGeom prst="rect"/>
        </p:spPr>
        <p:txBody>
          <a:bodyPr wrap="none" lIns="0" tIns="0" rIns="0" bIns="0"/>
          <a:p>
            <a:pPr>
              <a:lnSpc>
                <a:spcPct val="100000"/>
              </a:lnSpc>
            </a:pPr>
            <a:r>
              <a:rPr lang="zh-CN" sz="1050">
                <a:solidFill>
                  <a:srgbClr val="546779"/>
                </a:solidFill>
                <a:latin typeface="Microsoft YaHei"/>
                <a:ea typeface="Microsoft YaHei"/>
              </a:rPr>
              <a:t>④　</a:t>
            </a:r>
            <a:r>
              <a:rPr lang="en-US" sz="1050">
                <a:solidFill>
                  <a:srgbClr val="546779"/>
                </a:solidFill>
                <a:latin typeface="Microsoft YaHei"/>
                <a:ea typeface="Microsoft YaHei"/>
              </a:rPr>
              <a:t>1.4.4</a:t>
            </a:r>
            <a:r>
              <a:rPr lang="zh-CN" sz="1050">
                <a:solidFill>
                  <a:srgbClr val="546779"/>
                </a:solidFill>
                <a:latin typeface="Microsoft YaHei"/>
                <a:ea typeface="Microsoft YaHei"/>
              </a:rPr>
              <a:t>　样本展示：选一个，和写出一个</a:t>
            </a:r>
            <a:endParaRPr/>
          </a:p>
        </p:txBody>
      </p:sp>
      <p:sp>
        <p:nvSpPr>
          <p:cNvPr id="414" name="" descr="{&quot;isTemplate&quot;:true,&quot;type&quot;:&quot;text&quot;}"/>
          <p:cNvSpPr txBox="1"/>
          <p:nvPr/>
        </p:nvSpPr>
        <p:spPr>
          <a:xfrm rot="0" flipH="0" flipV="0">
            <a:off x="838200" y="571500"/>
            <a:ext cx="3181350" cy="390525"/>
          </a:xfrm>
          <a:prstGeom prst="rect"/>
        </p:spPr>
        <p:txBody>
          <a:bodyPr wrap="none" lIns="0" tIns="0" rIns="0" bIns="0"/>
          <a:p>
            <a:pPr>
              <a:lnSpc>
                <a:spcPct val="100000"/>
              </a:lnSpc>
            </a:pPr>
            <a:r>
              <a:rPr lang="en-US" sz="2550" b="1">
                <a:solidFill>
                  <a:srgbClr val="20344B"/>
                </a:solidFill>
                <a:latin typeface="Microsoft YaHei"/>
                <a:ea typeface="Microsoft YaHei"/>
              </a:rPr>
              <a:t xml:space="preserve">MMLU-Pro </a:t>
            </a:r>
            <a:r>
              <a:rPr lang="zh-CN" sz="2550" b="1">
                <a:solidFill>
                  <a:srgbClr val="20344B"/>
                </a:solidFill>
                <a:latin typeface="Microsoft YaHei"/>
                <a:ea typeface="Microsoft YaHei"/>
              </a:rPr>
              <a:t>与</a:t>
            </a:r>
            <a:r>
              <a:rPr lang="en-US" sz="2550" b="1">
                <a:solidFill>
                  <a:srgbClr val="20344B"/>
                </a:solidFill>
                <a:latin typeface="Microsoft YaHei"/>
                <a:ea typeface="Microsoft YaHei"/>
              </a:rPr>
              <a:t xml:space="preserve"> AIME</a:t>
            </a:r>
            <a:endParaRPr/>
          </a:p>
        </p:txBody>
      </p:sp>
      <p:sp>
        <p:nvSpPr>
          <p:cNvPr id="415" name=""/>
          <p:cNvSpPr/>
          <p:nvPr/>
        </p:nvSpPr>
        <p:spPr>
          <a:xfrm rot="0" flipH="0" flipV="0">
            <a:off x="609600" y="1790700"/>
            <a:ext cx="6286500" cy="3848100"/>
          </a:xfrm>
          <a:prstGeom prst="roundRect">
            <a:avLst>
              <a:gd name="adj" fmla="val 2970"/>
            </a:avLst>
          </a:prstGeom>
          <a:solidFill>
            <a:srgbClr val="EDF4FC"/>
          </a:solidFill>
          <a:ln/>
        </p:spPr>
        <p:txBody>
          <a:bodyPr/>
          <a:p/>
        </p:txBody>
      </p:sp>
      <p:sp>
        <p:nvSpPr>
          <p:cNvPr id="416" name="" descr="{&quot;isTemplate&quot;:true,&quot;type&quot;:&quot;text&quot;}"/>
          <p:cNvSpPr txBox="1"/>
          <p:nvPr/>
        </p:nvSpPr>
        <p:spPr>
          <a:xfrm rot="0" flipH="0" flipV="0">
            <a:off x="800100" y="1962150"/>
            <a:ext cx="5905500" cy="228600"/>
          </a:xfrm>
          <a:prstGeom prst="rect"/>
        </p:spPr>
        <p:txBody>
          <a:bodyPr wrap="none" lIns="0" tIns="0" rIns="0" bIns="0"/>
          <a:p>
            <a:pPr>
              <a:lnSpc>
                <a:spcPct val="100000"/>
              </a:lnSpc>
            </a:pPr>
            <a:r>
              <a:rPr lang="en-US" sz="1500" b="1">
                <a:solidFill>
                  <a:srgbClr val="20344B"/>
                </a:solidFill>
                <a:latin typeface="Microsoft YaHei"/>
                <a:ea typeface="Microsoft YaHei"/>
              </a:rPr>
              <a:t>MMLU-Pro</a:t>
            </a:r>
            <a:r>
              <a:rPr lang="zh-CN" sz="1500" b="1">
                <a:solidFill>
                  <a:srgbClr val="20344B"/>
                </a:solidFill>
                <a:latin typeface="Microsoft YaHei"/>
                <a:ea typeface="Microsoft YaHei"/>
              </a:rPr>
              <a:t>：十选一</a:t>
            </a:r>
            <a:endParaRPr/>
          </a:p>
        </p:txBody>
      </p:sp>
      <p:sp>
        <p:nvSpPr>
          <p:cNvPr id="417" name=""/>
          <p:cNvSpPr/>
          <p:nvPr/>
        </p:nvSpPr>
        <p:spPr>
          <a:xfrm rot="0" flipH="0" flipV="0">
            <a:off x="800100" y="2286000"/>
            <a:ext cx="1409700" cy="285750"/>
          </a:xfrm>
          <a:prstGeom prst="roundRect">
            <a:avLst>
              <a:gd name="adj" fmla="val 20000"/>
            </a:avLst>
          </a:prstGeom>
          <a:solidFill>
            <a:srgbClr val="FFFFFF"/>
          </a:solidFill>
          <a:ln/>
        </p:spPr>
        <p:txBody>
          <a:bodyPr/>
          <a:p/>
        </p:txBody>
      </p:sp>
      <p:sp>
        <p:nvSpPr>
          <p:cNvPr id="418" name="" descr="{&quot;isTemplate&quot;:true,&quot;type&quot;:&quot;text&quot;}"/>
          <p:cNvSpPr txBox="1"/>
          <p:nvPr/>
        </p:nvSpPr>
        <p:spPr>
          <a:xfrm rot="0" flipH="0" flipV="0">
            <a:off x="1228725" y="2352675"/>
            <a:ext cx="561975" cy="152400"/>
          </a:xfrm>
          <a:prstGeom prst="rect"/>
        </p:spPr>
        <p:txBody>
          <a:bodyPr wrap="none" lIns="0" tIns="0" rIns="0" bIns="0"/>
          <a:p>
            <a:pPr>
              <a:lnSpc>
                <a:spcPct val="100000"/>
              </a:lnSpc>
            </a:pPr>
            <a:r>
              <a:rPr lang="en-US" sz="975">
                <a:solidFill>
                  <a:srgbClr val="276FBF"/>
                </a:solidFill>
                <a:latin typeface="Microsoft YaHei"/>
                <a:ea typeface="Microsoft YaHei"/>
              </a:rPr>
              <a:t xml:space="preserve">10 </a:t>
            </a:r>
            <a:r>
              <a:rPr lang="zh-CN" sz="975">
                <a:solidFill>
                  <a:srgbClr val="276FBF"/>
                </a:solidFill>
                <a:latin typeface="Microsoft YaHei"/>
                <a:ea typeface="Microsoft YaHei"/>
              </a:rPr>
              <a:t>个选项</a:t>
            </a:r>
            <a:endParaRPr/>
          </a:p>
        </p:txBody>
      </p:sp>
      <p:sp>
        <p:nvSpPr>
          <p:cNvPr id="419" name=""/>
          <p:cNvSpPr/>
          <p:nvPr/>
        </p:nvSpPr>
        <p:spPr>
          <a:xfrm rot="0" flipH="0" flipV="0">
            <a:off x="2286000" y="2286000"/>
            <a:ext cx="1409700" cy="285750"/>
          </a:xfrm>
          <a:prstGeom prst="roundRect">
            <a:avLst>
              <a:gd name="adj" fmla="val 20000"/>
            </a:avLst>
          </a:prstGeom>
          <a:solidFill>
            <a:srgbClr val="FFFFFF"/>
          </a:solidFill>
          <a:ln/>
        </p:spPr>
        <p:txBody>
          <a:bodyPr/>
          <a:p/>
        </p:txBody>
      </p:sp>
      <p:sp>
        <p:nvSpPr>
          <p:cNvPr id="420" name="" descr="{&quot;isTemplate&quot;:true,&quot;type&quot;:&quot;text&quot;}"/>
          <p:cNvSpPr txBox="1"/>
          <p:nvPr/>
        </p:nvSpPr>
        <p:spPr>
          <a:xfrm rot="0" flipH="0" flipV="0">
            <a:off x="2714625" y="2352675"/>
            <a:ext cx="561975" cy="152400"/>
          </a:xfrm>
          <a:prstGeom prst="rect"/>
        </p:spPr>
        <p:txBody>
          <a:bodyPr wrap="none" lIns="0" tIns="0" rIns="0" bIns="0"/>
          <a:p>
            <a:pPr>
              <a:lnSpc>
                <a:spcPct val="100000"/>
              </a:lnSpc>
            </a:pPr>
            <a:r>
              <a:rPr lang="en-US" sz="975">
                <a:solidFill>
                  <a:srgbClr val="276FBF"/>
                </a:solidFill>
                <a:latin typeface="Microsoft YaHei"/>
                <a:ea typeface="Microsoft YaHei"/>
              </a:rPr>
              <a:t xml:space="preserve">14 </a:t>
            </a:r>
            <a:r>
              <a:rPr lang="zh-CN" sz="975">
                <a:solidFill>
                  <a:srgbClr val="276FBF"/>
                </a:solidFill>
                <a:latin typeface="Microsoft YaHei"/>
                <a:ea typeface="Microsoft YaHei"/>
              </a:rPr>
              <a:t>个学科</a:t>
            </a:r>
            <a:endParaRPr/>
          </a:p>
        </p:txBody>
      </p:sp>
      <p:sp>
        <p:nvSpPr>
          <p:cNvPr id="421" name=""/>
          <p:cNvSpPr/>
          <p:nvPr/>
        </p:nvSpPr>
        <p:spPr>
          <a:xfrm rot="0" flipH="0" flipV="0">
            <a:off x="3771900" y="2286000"/>
            <a:ext cx="1409700" cy="285750"/>
          </a:xfrm>
          <a:prstGeom prst="roundRect">
            <a:avLst>
              <a:gd name="adj" fmla="val 20000"/>
            </a:avLst>
          </a:prstGeom>
          <a:solidFill>
            <a:srgbClr val="FFFFFF"/>
          </a:solidFill>
          <a:ln/>
        </p:spPr>
        <p:txBody>
          <a:bodyPr/>
          <a:p/>
        </p:txBody>
      </p:sp>
      <p:sp>
        <p:nvSpPr>
          <p:cNvPr id="422" name="" descr="{&quot;isTemplate&quot;:true,&quot;type&quot;:&quot;text&quot;}"/>
          <p:cNvSpPr txBox="1"/>
          <p:nvPr/>
        </p:nvSpPr>
        <p:spPr>
          <a:xfrm rot="0" flipH="0" flipV="0">
            <a:off x="4162425" y="2352675"/>
            <a:ext cx="628650" cy="152400"/>
          </a:xfrm>
          <a:prstGeom prst="rect"/>
        </p:spPr>
        <p:txBody>
          <a:bodyPr wrap="none" lIns="0" tIns="0" rIns="0" bIns="0"/>
          <a:p>
            <a:pPr>
              <a:lnSpc>
                <a:spcPct val="100000"/>
              </a:lnSpc>
            </a:pPr>
            <a:r>
              <a:rPr lang="zh-CN" sz="975">
                <a:solidFill>
                  <a:srgbClr val="276FBF"/>
                </a:solidFill>
                <a:latin typeface="Microsoft YaHei"/>
                <a:ea typeface="Microsoft YaHei"/>
              </a:rPr>
              <a:t>约</a:t>
            </a:r>
            <a:r>
              <a:rPr lang="en-US" sz="975">
                <a:solidFill>
                  <a:srgbClr val="276FBF"/>
                </a:solidFill>
                <a:latin typeface="Microsoft YaHei"/>
                <a:ea typeface="Microsoft YaHei"/>
              </a:rPr>
              <a:t xml:space="preserve"> 1.2 </a:t>
            </a:r>
            <a:r>
              <a:rPr lang="zh-CN" sz="975">
                <a:solidFill>
                  <a:srgbClr val="276FBF"/>
                </a:solidFill>
                <a:latin typeface="Microsoft YaHei"/>
                <a:ea typeface="Microsoft YaHei"/>
              </a:rPr>
              <a:t>万题</a:t>
            </a:r>
            <a:endParaRPr/>
          </a:p>
        </p:txBody>
      </p:sp>
      <p:sp>
        <p:nvSpPr>
          <p:cNvPr id="423" name=""/>
          <p:cNvSpPr/>
          <p:nvPr/>
        </p:nvSpPr>
        <p:spPr>
          <a:xfrm rot="0" flipH="0" flipV="0">
            <a:off x="5257800" y="2286000"/>
            <a:ext cx="1409700" cy="285750"/>
          </a:xfrm>
          <a:prstGeom prst="roundRect">
            <a:avLst>
              <a:gd name="adj" fmla="val 20000"/>
            </a:avLst>
          </a:prstGeom>
          <a:solidFill>
            <a:srgbClr val="FFFFFF"/>
          </a:solidFill>
          <a:ln/>
        </p:spPr>
        <p:txBody>
          <a:bodyPr/>
          <a:p/>
        </p:txBody>
      </p:sp>
      <p:sp>
        <p:nvSpPr>
          <p:cNvPr id="424" name="" descr="{&quot;isTemplate&quot;:true,&quot;type&quot;:&quot;text&quot;}"/>
          <p:cNvSpPr txBox="1"/>
          <p:nvPr/>
        </p:nvSpPr>
        <p:spPr>
          <a:xfrm rot="0" flipH="0" flipV="0">
            <a:off x="5781675" y="2352675"/>
            <a:ext cx="371475" cy="152400"/>
          </a:xfrm>
          <a:prstGeom prst="rect"/>
        </p:spPr>
        <p:txBody>
          <a:bodyPr wrap="none" lIns="0" tIns="0" rIns="0" bIns="0"/>
          <a:p>
            <a:pPr>
              <a:lnSpc>
                <a:spcPct val="100000"/>
              </a:lnSpc>
            </a:pPr>
            <a:r>
              <a:rPr lang="zh-CN" sz="975">
                <a:solidFill>
                  <a:srgbClr val="276FBF"/>
                </a:solidFill>
                <a:latin typeface="Microsoft YaHei"/>
                <a:ea typeface="Microsoft YaHei"/>
              </a:rPr>
              <a:t>偏推理</a:t>
            </a:r>
            <a:endParaRPr/>
          </a:p>
        </p:txBody>
      </p:sp>
      <p:sp>
        <p:nvSpPr>
          <p:cNvPr id="425" name=""/>
          <p:cNvSpPr/>
          <p:nvPr/>
        </p:nvSpPr>
        <p:spPr>
          <a:xfrm rot="0" flipH="0" flipV="0">
            <a:off x="800100" y="2667000"/>
            <a:ext cx="5905500" cy="742950"/>
          </a:xfrm>
          <a:prstGeom prst="roundRect">
            <a:avLst>
              <a:gd name="adj" fmla="val 10256"/>
            </a:avLst>
          </a:prstGeom>
          <a:solidFill>
            <a:srgbClr val="FFFFFF"/>
          </a:solidFill>
          <a:ln/>
        </p:spPr>
        <p:txBody>
          <a:bodyPr/>
          <a:p/>
        </p:txBody>
      </p:sp>
      <p:sp>
        <p:nvSpPr>
          <p:cNvPr id="426" name="" descr="{&quot;isTemplate&quot;:true,&quot;type&quot;:&quot;text&quot;}"/>
          <p:cNvSpPr txBox="1"/>
          <p:nvPr/>
        </p:nvSpPr>
        <p:spPr>
          <a:xfrm rot="0" flipH="0" flipV="0">
            <a:off x="952500" y="2800350"/>
            <a:ext cx="5600700" cy="152400"/>
          </a:xfrm>
          <a:prstGeom prst="rect"/>
        </p:spPr>
        <p:txBody>
          <a:bodyPr wrap="none" lIns="0" tIns="0" rIns="0" bIns="0"/>
          <a:p>
            <a:pPr>
              <a:lnSpc>
                <a:spcPct val="100000"/>
              </a:lnSpc>
            </a:pPr>
            <a:r>
              <a:rPr lang="zh-CN" sz="975">
                <a:solidFill>
                  <a:srgbClr val="546779"/>
                </a:solidFill>
                <a:latin typeface="Microsoft YaHei"/>
                <a:ea typeface="Microsoft YaHei"/>
              </a:rPr>
              <a:t>题面形式（示意）</a:t>
            </a:r>
            <a:endParaRPr/>
          </a:p>
        </p:txBody>
      </p:sp>
      <p:sp>
        <p:nvSpPr>
          <p:cNvPr id="427" name="" descr="{&quot;isTemplate&quot;:true,&quot;type&quot;:&quot;text&quot;}"/>
          <p:cNvSpPr txBox="1"/>
          <p:nvPr/>
        </p:nvSpPr>
        <p:spPr>
          <a:xfrm rot="0" flipH="0" flipV="0">
            <a:off x="952500" y="3009900"/>
            <a:ext cx="5600700" cy="266700"/>
          </a:xfrm>
          <a:prstGeom prst="rect"/>
        </p:spPr>
        <p:txBody>
          <a:bodyPr wrap="none" lIns="0" tIns="0" rIns="0" bIns="0"/>
          <a:p>
            <a:pPr>
              <a:lnSpc>
                <a:spcPct val="155000"/>
              </a:lnSpc>
            </a:pPr>
            <a:r>
              <a:rPr lang="zh-CN" sz="1125">
                <a:solidFill>
                  <a:srgbClr val="20344B"/>
                </a:solidFill>
                <a:latin typeface="Microsoft YaHei"/>
                <a:ea typeface="Microsoft YaHei"/>
              </a:rPr>
              <a:t>给一道学科问题，附十个候选选项，要求选出一个并给出选项字母。</a:t>
            </a:r>
            <a:endParaRPr/>
          </a:p>
        </p:txBody>
      </p:sp>
      <p:sp>
        <p:nvSpPr>
          <p:cNvPr id="428" name="" descr="{&quot;isTemplate&quot;:true,&quot;type&quot;:&quot;text&quot;}"/>
          <p:cNvSpPr txBox="1"/>
          <p:nvPr/>
        </p:nvSpPr>
        <p:spPr>
          <a:xfrm rot="0" flipH="0" flipV="0">
            <a:off x="800100" y="3505200"/>
            <a:ext cx="5905500" cy="247650"/>
          </a:xfrm>
          <a:prstGeom prst="rect"/>
        </p:spPr>
        <p:txBody>
          <a:bodyPr wrap="none" lIns="0" tIns="0" rIns="0" bIns="0"/>
          <a:p>
            <a:pPr>
              <a:lnSpc>
                <a:spcPct val="150000"/>
              </a:lnSpc>
            </a:pPr>
            <a:r>
              <a:rPr lang="zh-CN" sz="1050">
                <a:solidFill>
                  <a:srgbClr val="546779"/>
                </a:solidFill>
                <a:latin typeface="Microsoft YaHei"/>
                <a:ea typeface="Microsoft YaHei"/>
              </a:rPr>
              <a:t>选项多，猜中概率从四分之一降到十分之一；代价是仍给了答案线索，不必自己写答案。</a:t>
            </a:r>
            <a:endParaRPr/>
          </a:p>
        </p:txBody>
      </p:sp>
      <p:sp>
        <p:nvSpPr>
          <p:cNvPr id="429" name=""/>
          <p:cNvSpPr/>
          <p:nvPr/>
        </p:nvSpPr>
        <p:spPr>
          <a:xfrm rot="0" flipH="0" flipV="0">
            <a:off x="800100" y="4972050"/>
            <a:ext cx="5905500" cy="495300"/>
          </a:xfrm>
          <a:prstGeom prst="roundRect">
            <a:avLst>
              <a:gd name="adj" fmla="val 15385"/>
            </a:avLst>
          </a:prstGeom>
          <a:solidFill>
            <a:srgbClr val="FFF4E6"/>
          </a:solidFill>
          <a:ln/>
        </p:spPr>
        <p:txBody>
          <a:bodyPr/>
          <a:p/>
        </p:txBody>
      </p:sp>
      <p:sp>
        <p:nvSpPr>
          <p:cNvPr id="430" name=""/>
          <p:cNvSpPr/>
          <p:nvPr/>
        </p:nvSpPr>
        <p:spPr>
          <a:xfrm rot="0" flipH="0" flipV="0">
            <a:off x="933450" y="5067300"/>
            <a:ext cx="38100" cy="304800"/>
          </a:xfrm>
          <a:prstGeom prst="rect">
            <a:avLst/>
          </a:prstGeom>
          <a:solidFill>
            <a:srgbClr val="CB6B28"/>
          </a:solidFill>
          <a:ln/>
        </p:spPr>
        <p:txBody>
          <a:bodyPr/>
          <a:p/>
        </p:txBody>
      </p:sp>
      <p:sp>
        <p:nvSpPr>
          <p:cNvPr id="431" name="" descr="{&quot;isTemplate&quot;:true,&quot;type&quot;:&quot;text&quot;}"/>
          <p:cNvSpPr txBox="1"/>
          <p:nvPr/>
        </p:nvSpPr>
        <p:spPr>
          <a:xfrm rot="0" flipH="0" flipV="0">
            <a:off x="1085850" y="5105400"/>
            <a:ext cx="2266950" cy="228600"/>
          </a:xfrm>
          <a:prstGeom prst="rect"/>
        </p:spPr>
        <p:txBody>
          <a:bodyPr wrap="none" lIns="0" tIns="0" rIns="0" bIns="0"/>
          <a:p>
            <a:pPr>
              <a:lnSpc>
                <a:spcPct val="140000"/>
              </a:lnSpc>
            </a:pPr>
            <a:r>
              <a:rPr lang="zh-CN" sz="1050">
                <a:solidFill>
                  <a:srgbClr val="CB6B28"/>
                </a:solidFill>
                <a:latin typeface="Microsoft YaHei"/>
                <a:ea typeface="Microsoft YaHei"/>
              </a:rPr>
              <a:t>仍有运气成分：十选一也有一成的基线</a:t>
            </a:r>
            <a:endParaRPr/>
          </a:p>
        </p:txBody>
      </p:sp>
      <p:sp>
        <p:nvSpPr>
          <p:cNvPr id="432" name=""/>
          <p:cNvSpPr/>
          <p:nvPr/>
        </p:nvSpPr>
        <p:spPr>
          <a:xfrm rot="0" flipH="0" flipV="0">
            <a:off x="7162800" y="1790700"/>
            <a:ext cx="4419600" cy="3848100"/>
          </a:xfrm>
          <a:prstGeom prst="roundRect">
            <a:avLst>
              <a:gd name="adj" fmla="val 2970"/>
            </a:avLst>
          </a:prstGeom>
          <a:solidFill>
            <a:srgbClr val="ECF7F2"/>
          </a:solidFill>
          <a:ln/>
        </p:spPr>
        <p:txBody>
          <a:bodyPr/>
          <a:p/>
        </p:txBody>
      </p:sp>
      <p:sp>
        <p:nvSpPr>
          <p:cNvPr id="433" name="" descr="{&quot;isTemplate&quot;:true,&quot;type&quot;:&quot;text&quot;}"/>
          <p:cNvSpPr txBox="1"/>
          <p:nvPr/>
        </p:nvSpPr>
        <p:spPr>
          <a:xfrm rot="0" flipH="0" flipV="0">
            <a:off x="7353300" y="1962150"/>
            <a:ext cx="4038600" cy="228600"/>
          </a:xfrm>
          <a:prstGeom prst="rect"/>
        </p:spPr>
        <p:txBody>
          <a:bodyPr wrap="none" lIns="0" tIns="0" rIns="0" bIns="0"/>
          <a:p>
            <a:pPr>
              <a:lnSpc>
                <a:spcPct val="100000"/>
              </a:lnSpc>
            </a:pPr>
            <a:r>
              <a:rPr lang="en-US" sz="1500" b="1">
                <a:solidFill>
                  <a:srgbClr val="20344B"/>
                </a:solidFill>
                <a:latin typeface="Microsoft YaHei"/>
                <a:ea typeface="Microsoft YaHei"/>
              </a:rPr>
              <a:t>AIME</a:t>
            </a:r>
            <a:r>
              <a:rPr lang="zh-CN" sz="1500" b="1">
                <a:solidFill>
                  <a:srgbClr val="20344B"/>
                </a:solidFill>
                <a:latin typeface="Microsoft YaHei"/>
                <a:ea typeface="Microsoft YaHei"/>
              </a:rPr>
              <a:t>：整数答案</a:t>
            </a:r>
            <a:endParaRPr/>
          </a:p>
        </p:txBody>
      </p:sp>
      <p:sp>
        <p:nvSpPr>
          <p:cNvPr id="434" name=""/>
          <p:cNvSpPr/>
          <p:nvPr/>
        </p:nvSpPr>
        <p:spPr>
          <a:xfrm rot="0" flipH="0" flipV="0">
            <a:off x="7353300" y="2305050"/>
            <a:ext cx="4038600" cy="733425"/>
          </a:xfrm>
          <a:prstGeom prst="roundRect">
            <a:avLst>
              <a:gd name="adj" fmla="val 10390"/>
            </a:avLst>
          </a:prstGeom>
          <a:solidFill>
            <a:srgbClr val="FFFFFF"/>
          </a:solidFill>
          <a:ln/>
        </p:spPr>
        <p:txBody>
          <a:bodyPr/>
          <a:p/>
        </p:txBody>
      </p:sp>
      <p:sp>
        <p:nvSpPr>
          <p:cNvPr id="435" name="" descr="{&quot;isTemplate&quot;:true,&quot;type&quot;:&quot;text&quot;}"/>
          <p:cNvSpPr txBox="1"/>
          <p:nvPr/>
        </p:nvSpPr>
        <p:spPr>
          <a:xfrm rot="0" flipH="0" flipV="0">
            <a:off x="7505700" y="2438400"/>
            <a:ext cx="3733800" cy="152400"/>
          </a:xfrm>
          <a:prstGeom prst="rect"/>
        </p:spPr>
        <p:txBody>
          <a:bodyPr wrap="none" lIns="0" tIns="0" rIns="0" bIns="0"/>
          <a:p>
            <a:pPr>
              <a:lnSpc>
                <a:spcPct val="100000"/>
              </a:lnSpc>
            </a:pPr>
            <a:r>
              <a:rPr lang="zh-CN" sz="975">
                <a:solidFill>
                  <a:srgbClr val="546779"/>
                </a:solidFill>
                <a:latin typeface="Microsoft YaHei"/>
                <a:ea typeface="Microsoft YaHei"/>
              </a:rPr>
              <a:t>答案规则</a:t>
            </a:r>
            <a:endParaRPr/>
          </a:p>
        </p:txBody>
      </p:sp>
      <p:sp>
        <p:nvSpPr>
          <p:cNvPr id="436" name="" descr="{&quot;isTemplate&quot;:true,&quot;type&quot;:&quot;text&quot;}"/>
          <p:cNvSpPr txBox="1"/>
          <p:nvPr/>
        </p:nvSpPr>
        <p:spPr>
          <a:xfrm rot="0" flipH="0" flipV="0">
            <a:off x="7505700" y="2647950"/>
            <a:ext cx="3733800" cy="257175"/>
          </a:xfrm>
          <a:prstGeom prst="rect"/>
        </p:spPr>
        <p:txBody>
          <a:bodyPr wrap="none" lIns="0" tIns="0" rIns="0" bIns="0"/>
          <a:p>
            <a:pPr>
              <a:lnSpc>
                <a:spcPct val="150000"/>
              </a:lnSpc>
            </a:pPr>
            <a:r>
              <a:rPr lang="zh-CN" sz="1125">
                <a:solidFill>
                  <a:srgbClr val="20344B"/>
                </a:solidFill>
                <a:latin typeface="Microsoft YaHei"/>
                <a:ea typeface="Microsoft YaHei"/>
              </a:rPr>
              <a:t>答案永远是</a:t>
            </a:r>
            <a:r>
              <a:rPr lang="en-US" sz="1125">
                <a:solidFill>
                  <a:srgbClr val="20344B"/>
                </a:solidFill>
                <a:latin typeface="Microsoft YaHei"/>
                <a:ea typeface="Microsoft YaHei"/>
              </a:rPr>
              <a:t xml:space="preserve"> 0 </a:t>
            </a:r>
            <a:r>
              <a:rPr lang="zh-CN" sz="1125">
                <a:solidFill>
                  <a:srgbClr val="20344B"/>
                </a:solidFill>
                <a:latin typeface="Microsoft YaHei"/>
                <a:ea typeface="Microsoft YaHei"/>
              </a:rPr>
              <a:t>到</a:t>
            </a:r>
            <a:r>
              <a:rPr lang="en-US" sz="1125">
                <a:solidFill>
                  <a:srgbClr val="20344B"/>
                </a:solidFill>
                <a:latin typeface="Microsoft YaHei"/>
                <a:ea typeface="Microsoft YaHei"/>
              </a:rPr>
              <a:t xml:space="preserve"> 999 </a:t>
            </a:r>
            <a:r>
              <a:rPr lang="zh-CN" sz="1125">
                <a:solidFill>
                  <a:srgbClr val="20344B"/>
                </a:solidFill>
                <a:latin typeface="Microsoft YaHei"/>
                <a:ea typeface="Microsoft YaHei"/>
              </a:rPr>
              <a:t>之间的一个整数，不需要人工评阅。</a:t>
            </a:r>
            <a:endParaRPr/>
          </a:p>
        </p:txBody>
      </p:sp>
      <p:sp>
        <p:nvSpPr>
          <p:cNvPr id="437" name=""/>
          <p:cNvSpPr/>
          <p:nvPr/>
        </p:nvSpPr>
        <p:spPr>
          <a:xfrm rot="0" flipH="0" flipV="0">
            <a:off x="7353300" y="3152775"/>
            <a:ext cx="4038600" cy="990600"/>
          </a:xfrm>
          <a:prstGeom prst="roundRect">
            <a:avLst>
              <a:gd name="adj" fmla="val 7692"/>
            </a:avLst>
          </a:prstGeom>
          <a:solidFill>
            <a:srgbClr val="FFFFFF"/>
          </a:solidFill>
          <a:ln/>
        </p:spPr>
        <p:txBody>
          <a:bodyPr/>
          <a:p/>
        </p:txBody>
      </p:sp>
      <p:sp>
        <p:nvSpPr>
          <p:cNvPr id="438" name="" descr="{&quot;isTemplate&quot;:true,&quot;type&quot;:&quot;text&quot;}"/>
          <p:cNvSpPr txBox="1"/>
          <p:nvPr/>
        </p:nvSpPr>
        <p:spPr>
          <a:xfrm rot="0" flipH="0" flipV="0">
            <a:off x="7505700" y="3286125"/>
            <a:ext cx="3733800" cy="152400"/>
          </a:xfrm>
          <a:prstGeom prst="rect"/>
        </p:spPr>
        <p:txBody>
          <a:bodyPr wrap="none" lIns="0" tIns="0" rIns="0" bIns="0"/>
          <a:p>
            <a:pPr>
              <a:lnSpc>
                <a:spcPct val="100000"/>
              </a:lnSpc>
            </a:pPr>
            <a:r>
              <a:rPr lang="zh-CN" sz="975">
                <a:solidFill>
                  <a:srgbClr val="546779"/>
                </a:solidFill>
                <a:latin typeface="Microsoft YaHei"/>
                <a:ea typeface="Microsoft YaHei"/>
              </a:rPr>
              <a:t>评测口径</a:t>
            </a:r>
            <a:endParaRPr/>
          </a:p>
        </p:txBody>
      </p:sp>
      <p:sp>
        <p:nvSpPr>
          <p:cNvPr id="439" name="" descr="{&quot;isTemplate&quot;:true,&quot;type&quot;:&quot;text&quot;}"/>
          <p:cNvSpPr txBox="1"/>
          <p:nvPr/>
        </p:nvSpPr>
        <p:spPr>
          <a:xfrm rot="0" flipH="0" flipV="0">
            <a:off x="7505700" y="3495675"/>
            <a:ext cx="3733800" cy="514350"/>
          </a:xfrm>
          <a:prstGeom prst="rect"/>
        </p:spPr>
        <p:txBody>
          <a:bodyPr wrap="square" lIns="0" tIns="0" rIns="0" bIns="0">
            <a:normAutofit/>
          </a:bodyPr>
          <a:p>
            <a:pPr>
              <a:lnSpc>
                <a:spcPct val="150000"/>
              </a:lnSpc>
            </a:pPr>
            <a:r>
              <a:rPr lang="zh-CN" sz="1125">
                <a:solidFill>
                  <a:srgbClr val="20344B"/>
                </a:solidFill>
                <a:latin typeface="Microsoft YaHei"/>
                <a:ea typeface="Microsoft YaHei"/>
              </a:rPr>
              <a:t>按固定年份题集核对最终答案，报告准确率或重复采样通过率。</a:t>
            </a:r>
            <a:endParaRPr/>
          </a:p>
        </p:txBody>
      </p:sp>
      <p:sp>
        <p:nvSpPr>
          <p:cNvPr id="440" name=""/>
          <p:cNvSpPr/>
          <p:nvPr/>
        </p:nvSpPr>
        <p:spPr>
          <a:xfrm rot="0" flipH="0" flipV="0">
            <a:off x="7353300" y="4257675"/>
            <a:ext cx="4038600" cy="733425"/>
          </a:xfrm>
          <a:prstGeom prst="roundRect">
            <a:avLst>
              <a:gd name="adj" fmla="val 10390"/>
            </a:avLst>
          </a:prstGeom>
          <a:solidFill>
            <a:srgbClr val="FFFFFF"/>
          </a:solidFill>
          <a:ln/>
        </p:spPr>
        <p:txBody>
          <a:bodyPr/>
          <a:p/>
        </p:txBody>
      </p:sp>
      <p:sp>
        <p:nvSpPr>
          <p:cNvPr id="441" name="" descr="{&quot;isTemplate&quot;:true,&quot;type&quot;:&quot;text&quot;}"/>
          <p:cNvSpPr txBox="1"/>
          <p:nvPr/>
        </p:nvSpPr>
        <p:spPr>
          <a:xfrm rot="0" flipH="0" flipV="0">
            <a:off x="7505700" y="4391025"/>
            <a:ext cx="3733800" cy="152400"/>
          </a:xfrm>
          <a:prstGeom prst="rect"/>
        </p:spPr>
        <p:txBody>
          <a:bodyPr wrap="none" lIns="0" tIns="0" rIns="0" bIns="0"/>
          <a:p>
            <a:pPr>
              <a:lnSpc>
                <a:spcPct val="100000"/>
              </a:lnSpc>
            </a:pPr>
            <a:r>
              <a:rPr lang="zh-CN" sz="975">
                <a:solidFill>
                  <a:srgbClr val="546779"/>
                </a:solidFill>
                <a:latin typeface="Microsoft YaHei"/>
                <a:ea typeface="Microsoft YaHei"/>
              </a:rPr>
              <a:t>举例</a:t>
            </a:r>
            <a:endParaRPr/>
          </a:p>
        </p:txBody>
      </p:sp>
      <p:sp>
        <p:nvSpPr>
          <p:cNvPr id="442" name="" descr="{&quot;isTemplate&quot;:true,&quot;type&quot;:&quot;text&quot;}"/>
          <p:cNvSpPr txBox="1"/>
          <p:nvPr/>
        </p:nvSpPr>
        <p:spPr>
          <a:xfrm rot="0" flipH="0" flipV="0">
            <a:off x="7505700" y="4600575"/>
            <a:ext cx="3733800" cy="257175"/>
          </a:xfrm>
          <a:prstGeom prst="rect"/>
        </p:spPr>
        <p:txBody>
          <a:bodyPr wrap="none" lIns="0" tIns="0" rIns="0" bIns="0"/>
          <a:p>
            <a:pPr>
              <a:lnSpc>
                <a:spcPct val="150000"/>
              </a:lnSpc>
            </a:pPr>
            <a:r>
              <a:rPr lang="en-US" sz="1125">
                <a:solidFill>
                  <a:srgbClr val="20344B"/>
                </a:solidFill>
                <a:latin typeface="Microsoft YaHei"/>
                <a:ea typeface="Microsoft YaHei"/>
              </a:rPr>
              <a:t xml:space="preserve">2025 </a:t>
            </a:r>
            <a:r>
              <a:rPr lang="zh-CN" sz="1125">
                <a:solidFill>
                  <a:srgbClr val="20344B"/>
                </a:solidFill>
                <a:latin typeface="Microsoft YaHei"/>
                <a:ea typeface="Microsoft YaHei"/>
              </a:rPr>
              <a:t>年</a:t>
            </a:r>
            <a:r>
              <a:rPr lang="en-US" sz="1125">
                <a:solidFill>
                  <a:srgbClr val="20344B"/>
                </a:solidFill>
                <a:latin typeface="Microsoft YaHei"/>
                <a:ea typeface="Microsoft YaHei"/>
              </a:rPr>
              <a:t xml:space="preserve"> AIME </a:t>
            </a:r>
            <a:r>
              <a:rPr lang="zh-CN" sz="1125">
                <a:solidFill>
                  <a:srgbClr val="20344B"/>
                </a:solidFill>
                <a:latin typeface="Microsoft YaHei"/>
                <a:ea typeface="Microsoft YaHei"/>
              </a:rPr>
              <a:t>第一卷第一题，答案是</a:t>
            </a:r>
            <a:r>
              <a:rPr lang="en-US" sz="1125">
                <a:solidFill>
                  <a:srgbClr val="20344B"/>
                </a:solidFill>
                <a:latin typeface="Microsoft YaHei"/>
                <a:ea typeface="Microsoft YaHei"/>
              </a:rPr>
              <a:t xml:space="preserve"> 70</a:t>
            </a:r>
            <a:r>
              <a:rPr lang="zh-CN" sz="1125">
                <a:solidFill>
                  <a:srgbClr val="20344B"/>
                </a:solidFill>
                <a:latin typeface="Microsoft YaHei"/>
                <a:ea typeface="Microsoft YaHei"/>
              </a:rPr>
              <a:t>。</a:t>
            </a:r>
            <a:endParaRPr/>
          </a:p>
        </p:txBody>
      </p:sp>
      <p:sp>
        <p:nvSpPr>
          <p:cNvPr id="443" name="" descr="{&quot;isTemplate&quot;:true,&quot;type&quot;:&quot;text&quot;}"/>
          <p:cNvSpPr txBox="1"/>
          <p:nvPr/>
        </p:nvSpPr>
        <p:spPr>
          <a:xfrm rot="0" flipH="0" flipV="0">
            <a:off x="7353300" y="5229225"/>
            <a:ext cx="4038600" cy="238125"/>
          </a:xfrm>
          <a:prstGeom prst="rect"/>
        </p:spPr>
        <p:txBody>
          <a:bodyPr wrap="none" lIns="0" tIns="0" rIns="0" bIns="0"/>
          <a:p>
            <a:pPr>
              <a:lnSpc>
                <a:spcPct val="145000"/>
              </a:lnSpc>
            </a:pPr>
            <a:r>
              <a:rPr lang="zh-CN" sz="1050">
                <a:solidFill>
                  <a:srgbClr val="26816B"/>
                </a:solidFill>
                <a:latin typeface="Microsoft YaHei"/>
                <a:ea typeface="Microsoft YaHei"/>
              </a:rPr>
              <a:t>判定干净，但年份、题集与采样次数必须一起写出来</a:t>
            </a:r>
            <a:endParaRPr/>
          </a:p>
        </p:txBody>
      </p:sp>
      <p:sp>
        <p:nvSpPr>
          <p:cNvPr id="444"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44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20 / 36</a:t>
            </a:r>
            <a:endParaRPr/>
          </a:p>
        </p:txBody>
      </p:sp>
    </p:spTree>
  </p:cSld>
</p:sld>
</file>

<file path=ppt/slides/slide21.xml><?xml version="1.0" encoding="utf-8"?>
<p:sld xmlns:p="http://schemas.openxmlformats.org/presentationml/2006/main" xmlns:a="http://schemas.openxmlformats.org/drawingml/2006/main">
  <p:cSld>
    <p:spTree>
      <p:nvGrpSpPr>
        <p:cNvPr id="446" name="" descr="&lt;Slide notes={`SWE-bench 这类任务的形式是这样的。给的是一份真实的代码仓库，加上一条用自然语言写的问题记录，比如报名程序在重复点击后会产生两条记录。&#10;&#10;要求是：在仓库里找到出问题的地方，读懂现有代码，改好，并提交一个补丁。判分不是看补丁像不像人写的，而是实际跑一遍测试，既要求修复问题的那组测试通过，也要求原本的回归测试不被破坏。&#10;&#10;这就引出一个重要区别。代码排版整洁、注释充分、看起来很像标准答案，都不能代替行为检查。一个补丁只要能让测试全过，它对系统就是有效的，哪怕写法不那么漂亮；反过来，写得再好看，测试没过也没用。&#10;&#10;还要注意，这类成绩是模型和整套执行环境的共同表现。搜索代码的方式、允许用哪些工具、能给几轮反馈、总预算多少，都会改变结果。`}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④　1.4.4　样本展示：从写出函数到修复真实问题&lt;/Text&gt;&#10;            &lt;Text style={{ fontSize: 34, fontWeight: 'bold', color: '#20344B' }}&gt;SWE-bench：任务怎么构成&lt;/Text&gt;&#10;        &lt;/Box&gt;&#10;    &lt;/Box&gt;&#10;&#10;    &lt;Box style={{ height: 540, flexDirection: 'column', justifyContent: 'center', gap: 18 }}&gt;&#10;&#10;        &lt;Box style={{ width: 1152, height: 92, background: '#EDF4FC', borderRadius: 10, padding: '14px 22px', flexDirection: 'row', alignItems: 'center', gap: 16 }}&gt;&#10;            &lt;Box style={{ width: 4, height: 52, background: '#276FBF' }} /&gt;&#10;            &lt;Text style={{ width: 130, fontSize: 17, fontWeight: 'bold', color: '#20344B' }}&gt;给什么&lt;/Text&gt;&#10;            &lt;Text style={{ width: 942, fontSize: 15, color: '#546779', lineHeight: 1.5 }}&gt;一份真实的代码仓库，加一条用自然语言写的问题记录（例如&quot;重复点击后会产生两条记录&quot;）&lt;/Text&gt;&#10;        &lt;/Box&gt;&#10;&#10;        &lt;Box style={{ width: 1152, height: 92, background: '#EDF4FC', borderRadius: 10, padding: '14px 22px', flexDirection: 'row', alignItems: 'center', gap: 16 }}&gt;&#10;            &lt;Box style={{ width: 4, height: 52, background: '#276FBF' }} /&gt;&#10;            &lt;Text style={{ width: 130, fontSize: 17, fontWeight: 'bold', color: '#20344B' }}&gt;要什么&lt;/Text&gt;&#10;            &lt;Text style={{ width: 942, fontSize: 15, color: '#546779', lineHeight: 1.5 }}&gt;在仓库里定位问题、读懂现有代码、修改实现，并提交一个可以应用的补丁&lt;/Text&gt;&#10;        &lt;/Box&gt;&#10;&#10;        &lt;Box style={{ width: 1152, height: 92, background: '#ECF7F2', borderRadius: 10, padding: '14px 22px', flexDirection: 'row', alignItems: 'center', gap: 16 }}&gt;&#10;            &lt;Box style={{ width: 4, height: 52, background: '#26816B' }} /&gt;&#10;            &lt;Text style={{ width: 130, fontSize: 17, fontWeight: 'bold', color: '#20344B' }}&gt;怎么判&lt;/Text&gt;&#10;            &lt;Text style={{ width: 942, fontSize: 15, color: '#546779', lineHeight: 1.5 }}&gt;实际跑测试：既要求修复问题的一组测试通过，也要求原有回归测试不被破坏&lt;/Text&gt;&#10;        &lt;/Box&gt;&#10;&#10;        &lt;Box style={{ flexDirection: 'row', gap: 16 }}&gt;&#10;            &lt;Box style={{ width: 568, height: 176, background: '#F4F7FA', borderRadius: 12, padding: '16px 20px', flexDirection: 'column', gap: 8 }}&gt;&#10;                &lt;Text style={{ fontSize: 18, fontWeight: 'bold', color: '#20344B' }}&gt;为什么要可执行证据&lt;/Text&gt;&#10;                &lt;Text style={{ fontSize: 15, color: '#546779', lineHeight: 1.55 }}&gt;代码排版整洁、注释充分、写法接近人工答案，都不能代替行为检查。测试全过才算有效，不过就是无效。&lt;/Text&gt;&#10;                &lt;Box style={{ flex: 1 }} /&gt;&#10;                &lt;Text style={{ fontSize: 13, color: '#546779' }}&gt;测试只覆盖写进断言的行为，不含可维护性与安全属性&lt;/Text&gt;&#10;            &lt;/Box&gt;&#10;            &lt;Box style={{ width: 568, height: 176, background: '#FFF4E6', borderRadius: 12, padding: '16px 20px', flexDirection: 'column', gap: 8 }}&gt;&#10;                &lt;Text style={{ fontSize: 18, fontWeight: 'bold', color: '#20344B' }}&gt;成绩受什么影响&lt;/Text&gt;&#10;                &lt;Text style={{ fontSize: 15, color: '#CB6B28', lineHeight: 1.55 }}&gt;搜索代码的方式、允许调用的工具、可以迭代几轮、总预算多少——这些都属于运行条件，必须一并记录。&lt;/Text&gt;&#10;                &lt;Box style={{ flex: 1 }} /&gt;&#10;                &lt;Text style={{ fontSize: 13, color: '#CB6B28' }}&gt;它是模型与整套执行环境的共同表现&lt;/Text&gt;&#10;            &lt;/Box&gt;&#10;        &lt;/Box&gt;&#10;&#10;    &lt;/Box&gt;&#10;&#10;    &lt;Box style={{ height: 40, flexDirection: 'row', justifyContent: 'space-between', alignItems: 'center' }}&gt;&#10;        &lt;Text style={{ fontSize: 14, color: '#546779' }}&gt;1.4 从榜单到证据&lt;/Text&gt;&#10;        &lt;Text style={{ fontSize: 14, color: '#546779' }}&gt;21 / 36&lt;/Text&gt;&#10;    &lt;/Box&gt;&#10;&#10;&lt;/Slide&gt;&#10;"/>
        <p:cNvGrpSpPr/>
        <p:nvPr/>
      </p:nvGrpSpPr>
      <p:grpSpPr>
        <a:xfrm>
          <a:off x="0" y="0"/>
          <a:ext cx="0" cy="0"/>
          <a:chOff x="0" y="0"/>
          <a:chExt cx="0" cy="0"/>
        </a:xfrm>
      </p:grpSpPr>
      <p:sp>
        <p:nvSpPr>
          <p:cNvPr id="447" name=""/>
          <p:cNvSpPr/>
          <p:nvPr/>
        </p:nvSpPr>
        <p:spPr>
          <a:xfrm rot="0" flipH="0" flipV="0">
            <a:off x="0" y="0"/>
            <a:ext cx="12192000" cy="6858000"/>
          </a:xfrm>
          <a:prstGeom prst="rect">
            <a:avLst/>
          </a:prstGeom>
          <a:solidFill>
            <a:srgbClr val="FFFFFF"/>
          </a:solidFill>
          <a:ln/>
        </p:spPr>
        <p:txBody>
          <a:bodyPr/>
          <a:p/>
        </p:txBody>
      </p:sp>
      <p:sp>
        <p:nvSpPr>
          <p:cNvPr id="448" name=""/>
          <p:cNvSpPr/>
          <p:nvPr/>
        </p:nvSpPr>
        <p:spPr>
          <a:xfrm rot="0" flipH="0" flipV="0">
            <a:off x="609600" y="457200"/>
            <a:ext cx="38100" cy="419100"/>
          </a:xfrm>
          <a:prstGeom prst="rect">
            <a:avLst/>
          </a:prstGeom>
          <a:solidFill>
            <a:srgbClr val="276FBF"/>
          </a:solidFill>
          <a:ln/>
        </p:spPr>
        <p:txBody>
          <a:bodyPr/>
          <a:p/>
        </p:txBody>
      </p:sp>
      <p:sp>
        <p:nvSpPr>
          <p:cNvPr id="449" name="" descr="{&quot;isTemplate&quot;:true,&quot;type&quot;:&quot;text&quot;}"/>
          <p:cNvSpPr txBox="1"/>
          <p:nvPr/>
        </p:nvSpPr>
        <p:spPr>
          <a:xfrm rot="0" flipH="0" flipV="0">
            <a:off x="838200" y="371475"/>
            <a:ext cx="4133850" cy="161925"/>
          </a:xfrm>
          <a:prstGeom prst="rect"/>
        </p:spPr>
        <p:txBody>
          <a:bodyPr wrap="none" lIns="0" tIns="0" rIns="0" bIns="0"/>
          <a:p>
            <a:pPr>
              <a:lnSpc>
                <a:spcPct val="100000"/>
              </a:lnSpc>
            </a:pPr>
            <a:r>
              <a:rPr lang="zh-CN" sz="1050">
                <a:solidFill>
                  <a:srgbClr val="546779"/>
                </a:solidFill>
                <a:latin typeface="Microsoft YaHei"/>
                <a:ea typeface="Microsoft YaHei"/>
              </a:rPr>
              <a:t>④　</a:t>
            </a:r>
            <a:r>
              <a:rPr lang="en-US" sz="1050">
                <a:solidFill>
                  <a:srgbClr val="546779"/>
                </a:solidFill>
                <a:latin typeface="Microsoft YaHei"/>
                <a:ea typeface="Microsoft YaHei"/>
              </a:rPr>
              <a:t>1.4.4</a:t>
            </a:r>
            <a:r>
              <a:rPr lang="zh-CN" sz="1050">
                <a:solidFill>
                  <a:srgbClr val="546779"/>
                </a:solidFill>
                <a:latin typeface="Microsoft YaHei"/>
                <a:ea typeface="Microsoft YaHei"/>
              </a:rPr>
              <a:t>　样本展示：从写出函数到修复真实问题</a:t>
            </a:r>
            <a:endParaRPr/>
          </a:p>
        </p:txBody>
      </p:sp>
      <p:sp>
        <p:nvSpPr>
          <p:cNvPr id="450" name="" descr="{&quot;isTemplate&quot;:true,&quot;type&quot;:&quot;text&quot;}"/>
          <p:cNvSpPr txBox="1"/>
          <p:nvPr/>
        </p:nvSpPr>
        <p:spPr>
          <a:xfrm rot="0" flipH="0" flipV="0">
            <a:off x="838200" y="571500"/>
            <a:ext cx="4133850" cy="390525"/>
          </a:xfrm>
          <a:prstGeom prst="rect"/>
        </p:spPr>
        <p:txBody>
          <a:bodyPr wrap="none" lIns="0" tIns="0" rIns="0" bIns="0"/>
          <a:p>
            <a:pPr>
              <a:lnSpc>
                <a:spcPct val="100000"/>
              </a:lnSpc>
            </a:pPr>
            <a:r>
              <a:rPr lang="en-US" sz="2550" b="1">
                <a:solidFill>
                  <a:srgbClr val="20344B"/>
                </a:solidFill>
                <a:latin typeface="Microsoft YaHei"/>
                <a:ea typeface="Microsoft YaHei"/>
              </a:rPr>
              <a:t>SWE-bench</a:t>
            </a:r>
            <a:r>
              <a:rPr lang="zh-CN" sz="2550" b="1">
                <a:solidFill>
                  <a:srgbClr val="20344B"/>
                </a:solidFill>
                <a:latin typeface="Microsoft YaHei"/>
                <a:ea typeface="Microsoft YaHei"/>
              </a:rPr>
              <a:t>：任务怎么构成</a:t>
            </a:r>
            <a:endParaRPr/>
          </a:p>
        </p:txBody>
      </p:sp>
      <p:sp>
        <p:nvSpPr>
          <p:cNvPr id="451" name=""/>
          <p:cNvSpPr/>
          <p:nvPr/>
        </p:nvSpPr>
        <p:spPr>
          <a:xfrm rot="0" flipH="0" flipV="0">
            <a:off x="609600" y="1304925"/>
            <a:ext cx="10972800" cy="876300"/>
          </a:xfrm>
          <a:prstGeom prst="roundRect">
            <a:avLst>
              <a:gd name="adj" fmla="val 10870"/>
            </a:avLst>
          </a:prstGeom>
          <a:solidFill>
            <a:srgbClr val="EDF4FC"/>
          </a:solidFill>
          <a:ln/>
        </p:spPr>
        <p:txBody>
          <a:bodyPr/>
          <a:p/>
        </p:txBody>
      </p:sp>
      <p:sp>
        <p:nvSpPr>
          <p:cNvPr id="452" name=""/>
          <p:cNvSpPr/>
          <p:nvPr/>
        </p:nvSpPr>
        <p:spPr>
          <a:xfrm rot="0" flipH="0" flipV="0">
            <a:off x="819150" y="1495425"/>
            <a:ext cx="38100" cy="495300"/>
          </a:xfrm>
          <a:prstGeom prst="rect">
            <a:avLst/>
          </a:prstGeom>
          <a:solidFill>
            <a:srgbClr val="276FBF"/>
          </a:solidFill>
          <a:ln/>
        </p:spPr>
        <p:txBody>
          <a:bodyPr/>
          <a:p/>
        </p:txBody>
      </p:sp>
      <p:sp>
        <p:nvSpPr>
          <p:cNvPr id="453" name="" descr="{&quot;isTemplate&quot;:true,&quot;type&quot;:&quot;text&quot;}"/>
          <p:cNvSpPr txBox="1"/>
          <p:nvPr/>
        </p:nvSpPr>
        <p:spPr>
          <a:xfrm rot="0" flipH="0" flipV="0">
            <a:off x="1009650" y="1647825"/>
            <a:ext cx="1238250" cy="200025"/>
          </a:xfrm>
          <a:prstGeom prst="rect"/>
        </p:spPr>
        <p:txBody>
          <a:bodyPr wrap="none" lIns="0" tIns="0" rIns="0" bIns="0"/>
          <a:p>
            <a:pPr>
              <a:lnSpc>
                <a:spcPct val="100000"/>
              </a:lnSpc>
            </a:pPr>
            <a:r>
              <a:rPr lang="zh-CN" sz="1275" b="1">
                <a:solidFill>
                  <a:srgbClr val="20344B"/>
                </a:solidFill>
                <a:latin typeface="Microsoft YaHei"/>
                <a:ea typeface="Microsoft YaHei"/>
              </a:rPr>
              <a:t>给什么</a:t>
            </a:r>
            <a:endParaRPr/>
          </a:p>
        </p:txBody>
      </p:sp>
      <p:sp>
        <p:nvSpPr>
          <p:cNvPr id="454" name="" descr="{&quot;isTemplate&quot;:true,&quot;type&quot;:&quot;text&quot;}"/>
          <p:cNvSpPr txBox="1"/>
          <p:nvPr/>
        </p:nvSpPr>
        <p:spPr>
          <a:xfrm rot="0" flipH="0" flipV="0">
            <a:off x="2400300" y="1619250"/>
            <a:ext cx="8972550" cy="257175"/>
          </a:xfrm>
          <a:prstGeom prst="rect"/>
        </p:spPr>
        <p:txBody>
          <a:bodyPr wrap="none" lIns="0" tIns="0" rIns="0" bIns="0"/>
          <a:p>
            <a:pPr>
              <a:lnSpc>
                <a:spcPct val="150000"/>
              </a:lnSpc>
            </a:pPr>
            <a:r>
              <a:rPr lang="zh-CN" sz="1125">
                <a:solidFill>
                  <a:srgbClr val="546779"/>
                </a:solidFill>
                <a:latin typeface="Microsoft YaHei"/>
                <a:ea typeface="Microsoft YaHei"/>
              </a:rPr>
              <a:t>一份真实的代码仓库，加一条用自然语言写的问题记录（例如</a:t>
            </a:r>
            <a:r>
              <a:rPr lang="en-US" sz="1125">
                <a:solidFill>
                  <a:srgbClr val="546779"/>
                </a:solidFill>
                <a:latin typeface="Microsoft YaHei"/>
                <a:ea typeface="Microsoft YaHei"/>
              </a:rPr>
              <a:t>"</a:t>
            </a:r>
            <a:r>
              <a:rPr lang="zh-CN" sz="1125">
                <a:solidFill>
                  <a:srgbClr val="546779"/>
                </a:solidFill>
                <a:latin typeface="Microsoft YaHei"/>
                <a:ea typeface="Microsoft YaHei"/>
              </a:rPr>
              <a:t>重复点击后会产生两条记录</a:t>
            </a:r>
            <a:r>
              <a:rPr lang="en-US" sz="1125">
                <a:solidFill>
                  <a:srgbClr val="546779"/>
                </a:solidFill>
                <a:latin typeface="Microsoft YaHei"/>
                <a:ea typeface="Microsoft YaHei"/>
              </a:rPr>
              <a:t>"</a:t>
            </a:r>
            <a:r>
              <a:rPr lang="zh-CN" sz="1125">
                <a:solidFill>
                  <a:srgbClr val="546779"/>
                </a:solidFill>
                <a:latin typeface="Microsoft YaHei"/>
                <a:ea typeface="Microsoft YaHei"/>
              </a:rPr>
              <a:t>）</a:t>
            </a:r>
            <a:endParaRPr/>
          </a:p>
        </p:txBody>
      </p:sp>
      <p:sp>
        <p:nvSpPr>
          <p:cNvPr id="455" name=""/>
          <p:cNvSpPr/>
          <p:nvPr/>
        </p:nvSpPr>
        <p:spPr>
          <a:xfrm rot="0" flipH="0" flipV="0">
            <a:off x="609600" y="2352675"/>
            <a:ext cx="10972800" cy="876300"/>
          </a:xfrm>
          <a:prstGeom prst="roundRect">
            <a:avLst>
              <a:gd name="adj" fmla="val 10870"/>
            </a:avLst>
          </a:prstGeom>
          <a:solidFill>
            <a:srgbClr val="EDF4FC"/>
          </a:solidFill>
          <a:ln/>
        </p:spPr>
        <p:txBody>
          <a:bodyPr/>
          <a:p/>
        </p:txBody>
      </p:sp>
      <p:sp>
        <p:nvSpPr>
          <p:cNvPr id="456" name=""/>
          <p:cNvSpPr/>
          <p:nvPr/>
        </p:nvSpPr>
        <p:spPr>
          <a:xfrm rot="0" flipH="0" flipV="0">
            <a:off x="819150" y="2543175"/>
            <a:ext cx="38100" cy="495300"/>
          </a:xfrm>
          <a:prstGeom prst="rect">
            <a:avLst/>
          </a:prstGeom>
          <a:solidFill>
            <a:srgbClr val="276FBF"/>
          </a:solidFill>
          <a:ln/>
        </p:spPr>
        <p:txBody>
          <a:bodyPr/>
          <a:p/>
        </p:txBody>
      </p:sp>
      <p:sp>
        <p:nvSpPr>
          <p:cNvPr id="457" name="" descr="{&quot;isTemplate&quot;:true,&quot;type&quot;:&quot;text&quot;}"/>
          <p:cNvSpPr txBox="1"/>
          <p:nvPr/>
        </p:nvSpPr>
        <p:spPr>
          <a:xfrm rot="0" flipH="0" flipV="0">
            <a:off x="1009650" y="2695575"/>
            <a:ext cx="1238250" cy="200025"/>
          </a:xfrm>
          <a:prstGeom prst="rect"/>
        </p:spPr>
        <p:txBody>
          <a:bodyPr wrap="none" lIns="0" tIns="0" rIns="0" bIns="0"/>
          <a:p>
            <a:pPr>
              <a:lnSpc>
                <a:spcPct val="100000"/>
              </a:lnSpc>
            </a:pPr>
            <a:r>
              <a:rPr lang="zh-CN" sz="1275" b="1">
                <a:solidFill>
                  <a:srgbClr val="20344B"/>
                </a:solidFill>
                <a:latin typeface="Microsoft YaHei"/>
                <a:ea typeface="Microsoft YaHei"/>
              </a:rPr>
              <a:t>要什么</a:t>
            </a:r>
            <a:endParaRPr/>
          </a:p>
        </p:txBody>
      </p:sp>
      <p:sp>
        <p:nvSpPr>
          <p:cNvPr id="458" name="" descr="{&quot;isTemplate&quot;:true,&quot;type&quot;:&quot;text&quot;}"/>
          <p:cNvSpPr txBox="1"/>
          <p:nvPr/>
        </p:nvSpPr>
        <p:spPr>
          <a:xfrm rot="0" flipH="0" flipV="0">
            <a:off x="2400300" y="2667000"/>
            <a:ext cx="8972550" cy="257175"/>
          </a:xfrm>
          <a:prstGeom prst="rect"/>
        </p:spPr>
        <p:txBody>
          <a:bodyPr wrap="none" lIns="0" tIns="0" rIns="0" bIns="0"/>
          <a:p>
            <a:pPr>
              <a:lnSpc>
                <a:spcPct val="150000"/>
              </a:lnSpc>
            </a:pPr>
            <a:r>
              <a:rPr lang="zh-CN" sz="1125">
                <a:solidFill>
                  <a:srgbClr val="546779"/>
                </a:solidFill>
                <a:latin typeface="Microsoft YaHei"/>
                <a:ea typeface="Microsoft YaHei"/>
              </a:rPr>
              <a:t>在仓库里定位问题、读懂现有代码、修改实现，并提交一个可以应用的补丁</a:t>
            </a:r>
            <a:endParaRPr/>
          </a:p>
        </p:txBody>
      </p:sp>
      <p:sp>
        <p:nvSpPr>
          <p:cNvPr id="459" name=""/>
          <p:cNvSpPr/>
          <p:nvPr/>
        </p:nvSpPr>
        <p:spPr>
          <a:xfrm rot="0" flipH="0" flipV="0">
            <a:off x="609600" y="3400425"/>
            <a:ext cx="10972800" cy="876300"/>
          </a:xfrm>
          <a:prstGeom prst="roundRect">
            <a:avLst>
              <a:gd name="adj" fmla="val 10870"/>
            </a:avLst>
          </a:prstGeom>
          <a:solidFill>
            <a:srgbClr val="ECF7F2"/>
          </a:solidFill>
          <a:ln/>
        </p:spPr>
        <p:txBody>
          <a:bodyPr/>
          <a:p/>
        </p:txBody>
      </p:sp>
      <p:sp>
        <p:nvSpPr>
          <p:cNvPr id="460" name=""/>
          <p:cNvSpPr/>
          <p:nvPr/>
        </p:nvSpPr>
        <p:spPr>
          <a:xfrm rot="0" flipH="0" flipV="0">
            <a:off x="819150" y="3590925"/>
            <a:ext cx="38100" cy="495300"/>
          </a:xfrm>
          <a:prstGeom prst="rect">
            <a:avLst/>
          </a:prstGeom>
          <a:solidFill>
            <a:srgbClr val="26816B"/>
          </a:solidFill>
          <a:ln/>
        </p:spPr>
        <p:txBody>
          <a:bodyPr/>
          <a:p/>
        </p:txBody>
      </p:sp>
      <p:sp>
        <p:nvSpPr>
          <p:cNvPr id="461" name="" descr="{&quot;isTemplate&quot;:true,&quot;type&quot;:&quot;text&quot;}"/>
          <p:cNvSpPr txBox="1"/>
          <p:nvPr/>
        </p:nvSpPr>
        <p:spPr>
          <a:xfrm rot="0" flipH="0" flipV="0">
            <a:off x="1009650" y="3743325"/>
            <a:ext cx="1238250" cy="200025"/>
          </a:xfrm>
          <a:prstGeom prst="rect"/>
        </p:spPr>
        <p:txBody>
          <a:bodyPr wrap="none" lIns="0" tIns="0" rIns="0" bIns="0"/>
          <a:p>
            <a:pPr>
              <a:lnSpc>
                <a:spcPct val="100000"/>
              </a:lnSpc>
            </a:pPr>
            <a:r>
              <a:rPr lang="zh-CN" sz="1275" b="1">
                <a:solidFill>
                  <a:srgbClr val="20344B"/>
                </a:solidFill>
                <a:latin typeface="Microsoft YaHei"/>
                <a:ea typeface="Microsoft YaHei"/>
              </a:rPr>
              <a:t>怎么判</a:t>
            </a:r>
            <a:endParaRPr/>
          </a:p>
        </p:txBody>
      </p:sp>
      <p:sp>
        <p:nvSpPr>
          <p:cNvPr id="462" name="" descr="{&quot;isTemplate&quot;:true,&quot;type&quot;:&quot;text&quot;}"/>
          <p:cNvSpPr txBox="1"/>
          <p:nvPr/>
        </p:nvSpPr>
        <p:spPr>
          <a:xfrm rot="0" flipH="0" flipV="0">
            <a:off x="2400300" y="3714750"/>
            <a:ext cx="8972550" cy="257175"/>
          </a:xfrm>
          <a:prstGeom prst="rect"/>
        </p:spPr>
        <p:txBody>
          <a:bodyPr wrap="none" lIns="0" tIns="0" rIns="0" bIns="0"/>
          <a:p>
            <a:pPr>
              <a:lnSpc>
                <a:spcPct val="150000"/>
              </a:lnSpc>
            </a:pPr>
            <a:r>
              <a:rPr lang="zh-CN" sz="1125">
                <a:solidFill>
                  <a:srgbClr val="546779"/>
                </a:solidFill>
                <a:latin typeface="Microsoft YaHei"/>
                <a:ea typeface="Microsoft YaHei"/>
              </a:rPr>
              <a:t>实际跑测试：既要求修复问题的一组测试通过，也要求原有回归测试不被破坏</a:t>
            </a:r>
            <a:endParaRPr/>
          </a:p>
        </p:txBody>
      </p:sp>
      <p:sp>
        <p:nvSpPr>
          <p:cNvPr id="463" name=""/>
          <p:cNvSpPr/>
          <p:nvPr/>
        </p:nvSpPr>
        <p:spPr>
          <a:xfrm rot="0" flipH="0" flipV="0">
            <a:off x="609600" y="4448175"/>
            <a:ext cx="5410200" cy="1676400"/>
          </a:xfrm>
          <a:prstGeom prst="roundRect">
            <a:avLst>
              <a:gd name="adj" fmla="val 6818"/>
            </a:avLst>
          </a:prstGeom>
          <a:solidFill>
            <a:srgbClr val="F4F7FA"/>
          </a:solidFill>
          <a:ln/>
        </p:spPr>
        <p:txBody>
          <a:bodyPr/>
          <a:p/>
        </p:txBody>
      </p:sp>
      <p:sp>
        <p:nvSpPr>
          <p:cNvPr id="464" name="" descr="{&quot;isTemplate&quot;:true,&quot;type&quot;:&quot;text&quot;}"/>
          <p:cNvSpPr txBox="1"/>
          <p:nvPr/>
        </p:nvSpPr>
        <p:spPr>
          <a:xfrm rot="0" flipH="0" flipV="0">
            <a:off x="800100" y="4600575"/>
            <a:ext cx="5029200" cy="209550"/>
          </a:xfrm>
          <a:prstGeom prst="rect"/>
        </p:spPr>
        <p:txBody>
          <a:bodyPr wrap="none" lIns="0" tIns="0" rIns="0" bIns="0"/>
          <a:p>
            <a:pPr>
              <a:lnSpc>
                <a:spcPct val="100000"/>
              </a:lnSpc>
            </a:pPr>
            <a:r>
              <a:rPr lang="zh-CN" sz="1350" b="1">
                <a:solidFill>
                  <a:srgbClr val="20344B"/>
                </a:solidFill>
                <a:latin typeface="Microsoft YaHei"/>
                <a:ea typeface="Microsoft YaHei"/>
              </a:rPr>
              <a:t>为什么要可执行证据</a:t>
            </a:r>
            <a:endParaRPr/>
          </a:p>
        </p:txBody>
      </p:sp>
      <p:sp>
        <p:nvSpPr>
          <p:cNvPr id="465" name="" descr="{&quot;isTemplate&quot;:true,&quot;type&quot;:&quot;text&quot;}"/>
          <p:cNvSpPr txBox="1"/>
          <p:nvPr/>
        </p:nvSpPr>
        <p:spPr>
          <a:xfrm rot="0" flipH="0" flipV="0">
            <a:off x="800100" y="4886325"/>
            <a:ext cx="5029200"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代码排版整洁、注释充分、写法接近人工答案，都不能代替行为检查。测试全过才算有效，不过就是无效。</a:t>
            </a:r>
            <a:endParaRPr/>
          </a:p>
        </p:txBody>
      </p:sp>
      <p:sp>
        <p:nvSpPr>
          <p:cNvPr id="466" name="" descr="{&quot;isTemplate&quot;:true,&quot;type&quot;:&quot;text&quot;}"/>
          <p:cNvSpPr txBox="1"/>
          <p:nvPr/>
        </p:nvSpPr>
        <p:spPr>
          <a:xfrm rot="0" flipH="0" flipV="0">
            <a:off x="800100" y="5819775"/>
            <a:ext cx="5029200" cy="152400"/>
          </a:xfrm>
          <a:prstGeom prst="rect"/>
        </p:spPr>
        <p:txBody>
          <a:bodyPr wrap="none" lIns="0" tIns="0" rIns="0" bIns="0"/>
          <a:p>
            <a:pPr>
              <a:lnSpc>
                <a:spcPct val="100000"/>
              </a:lnSpc>
            </a:pPr>
            <a:r>
              <a:rPr lang="zh-CN" sz="975">
                <a:solidFill>
                  <a:srgbClr val="546779"/>
                </a:solidFill>
                <a:latin typeface="Microsoft YaHei"/>
                <a:ea typeface="Microsoft YaHei"/>
              </a:rPr>
              <a:t>测试只覆盖写进断言的行为，不含可维护性与安全属性</a:t>
            </a:r>
            <a:endParaRPr/>
          </a:p>
        </p:txBody>
      </p:sp>
      <p:sp>
        <p:nvSpPr>
          <p:cNvPr id="467" name=""/>
          <p:cNvSpPr/>
          <p:nvPr/>
        </p:nvSpPr>
        <p:spPr>
          <a:xfrm rot="0" flipH="0" flipV="0">
            <a:off x="6172200" y="4448175"/>
            <a:ext cx="5410200" cy="1676400"/>
          </a:xfrm>
          <a:prstGeom prst="roundRect">
            <a:avLst>
              <a:gd name="adj" fmla="val 6818"/>
            </a:avLst>
          </a:prstGeom>
          <a:solidFill>
            <a:srgbClr val="FFF4E6"/>
          </a:solidFill>
          <a:ln/>
        </p:spPr>
        <p:txBody>
          <a:bodyPr/>
          <a:p/>
        </p:txBody>
      </p:sp>
      <p:sp>
        <p:nvSpPr>
          <p:cNvPr id="468" name="" descr="{&quot;isTemplate&quot;:true,&quot;type&quot;:&quot;text&quot;}"/>
          <p:cNvSpPr txBox="1"/>
          <p:nvPr/>
        </p:nvSpPr>
        <p:spPr>
          <a:xfrm rot="0" flipH="0" flipV="0">
            <a:off x="6362700" y="4600575"/>
            <a:ext cx="5029200" cy="209550"/>
          </a:xfrm>
          <a:prstGeom prst="rect"/>
        </p:spPr>
        <p:txBody>
          <a:bodyPr wrap="none" lIns="0" tIns="0" rIns="0" bIns="0"/>
          <a:p>
            <a:pPr>
              <a:lnSpc>
                <a:spcPct val="100000"/>
              </a:lnSpc>
            </a:pPr>
            <a:r>
              <a:rPr lang="zh-CN" sz="1350" b="1">
                <a:solidFill>
                  <a:srgbClr val="20344B"/>
                </a:solidFill>
                <a:latin typeface="Microsoft YaHei"/>
                <a:ea typeface="Microsoft YaHei"/>
              </a:rPr>
              <a:t>成绩受什么影响</a:t>
            </a:r>
            <a:endParaRPr/>
          </a:p>
        </p:txBody>
      </p:sp>
      <p:sp>
        <p:nvSpPr>
          <p:cNvPr id="469" name="" descr="{&quot;isTemplate&quot;:true,&quot;type&quot;:&quot;text&quot;}"/>
          <p:cNvSpPr txBox="1"/>
          <p:nvPr/>
        </p:nvSpPr>
        <p:spPr>
          <a:xfrm rot="0" flipH="0" flipV="0">
            <a:off x="6362700" y="4886325"/>
            <a:ext cx="5029200" cy="533400"/>
          </a:xfrm>
          <a:prstGeom prst="rect"/>
        </p:spPr>
        <p:txBody>
          <a:bodyPr wrap="square" lIns="0" tIns="0" rIns="0" bIns="0">
            <a:normAutofit/>
          </a:bodyPr>
          <a:p>
            <a:pPr>
              <a:lnSpc>
                <a:spcPct val="155000"/>
              </a:lnSpc>
            </a:pPr>
            <a:r>
              <a:rPr lang="zh-CN" sz="1125">
                <a:solidFill>
                  <a:srgbClr val="CB6B28"/>
                </a:solidFill>
                <a:latin typeface="Microsoft YaHei"/>
                <a:ea typeface="Microsoft YaHei"/>
              </a:rPr>
              <a:t>搜索代码的方式、允许调用的工具、可以迭代几轮、总预算多少——这些都属于运行条件，必须一并记录。</a:t>
            </a:r>
            <a:endParaRPr/>
          </a:p>
        </p:txBody>
      </p:sp>
      <p:sp>
        <p:nvSpPr>
          <p:cNvPr id="470" name="" descr="{&quot;isTemplate&quot;:true,&quot;type&quot;:&quot;text&quot;}"/>
          <p:cNvSpPr txBox="1"/>
          <p:nvPr/>
        </p:nvSpPr>
        <p:spPr>
          <a:xfrm rot="0" flipH="0" flipV="0">
            <a:off x="6362700" y="5819775"/>
            <a:ext cx="5029200" cy="152400"/>
          </a:xfrm>
          <a:prstGeom prst="rect"/>
        </p:spPr>
        <p:txBody>
          <a:bodyPr wrap="none" lIns="0" tIns="0" rIns="0" bIns="0"/>
          <a:p>
            <a:pPr>
              <a:lnSpc>
                <a:spcPct val="100000"/>
              </a:lnSpc>
            </a:pPr>
            <a:r>
              <a:rPr lang="zh-CN" sz="975">
                <a:solidFill>
                  <a:srgbClr val="CB6B28"/>
                </a:solidFill>
                <a:latin typeface="Microsoft YaHei"/>
                <a:ea typeface="Microsoft YaHei"/>
              </a:rPr>
              <a:t>它是模型与整套执行环境的共同表现</a:t>
            </a:r>
            <a:endParaRPr/>
          </a:p>
        </p:txBody>
      </p:sp>
      <p:sp>
        <p:nvSpPr>
          <p:cNvPr id="471"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472"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21 / 36</a:t>
            </a:r>
            <a:endParaRPr/>
          </a:p>
        </p:txBody>
      </p:sp>
    </p:spTree>
  </p:cSld>
</p:sld>
</file>

<file path=ppt/slides/slide22.xml><?xml version="1.0" encoding="utf-8"?>
<p:sld xmlns:p="http://schemas.openxmlformats.org/presentationml/2006/main" xmlns:a="http://schemas.openxmlformats.org/drawingml/2006/main">
  <p:cSld>
    <p:spTree>
      <p:nvGrpSpPr>
        <p:cNvPr id="473" name="" descr="&lt;Slide notes={`ARC-AGI-2 的形式很特别。每一道题会给几个输入输出的格子对照，让你先看出变换规则，再把它用到一个新的输入上。&#10;&#10;比如这里给出的规律是：把输入的小格子整体横向复制三遍，得到加宽的输出。前两个例子都在教这个规律，第三个只给输入，要求你写出输出。&#10;&#10;它的判分非常硬：每一格的颜色都必须完全对上，没有任何部分分。差一格，整题就是零分。&#10;&#10;这道题的设计意图，是让记忆帮不上忙。规则不在任何教科书里，也没有一个公开的分类表，你必须现场从两三个例子里把规律推出来。所以它测的是一种现场推理能力，而不是记住过多少知识。&#10;&#10;顺带说一句，这个基准的题目是全新的，所以它天然抵抗污染；但也正因为如此，它的分数涨得慢，人类水平也不高。`}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④　1.4.4　样本展示：从两三个例子里推出规则&lt;/Text&gt;&#10;            &lt;Text style={{ fontSize: 34, fontWeight: 'bold', color: '#20344B' }}&gt;ARC-AGI-2：看例子推规则&lt;/Text&gt;&#10;        &lt;/Box&gt;&#10;    &lt;/Box&gt;&#10;&#10;    &lt;Box style={{ height: 540, flexDirection: 'column', justifyContent: 'center', gap: 16 }}&gt;&#10;&#10;        &lt;Box style={{ flexDirection: 'row', gap: 16 }}&gt;&#10;&#10;            &lt;Box style={{ width: 373, height: 340, background: '#F4F7FA', borderRadius: 12, padding: '18px 18px', flexDirection: 'column', gap: 14, alignItems: 'center' }}&gt;&#10;                &lt;Text style={{ fontSize: 16, fontWeight: 'bold', color: '#276FBF' }}&gt;示例一&lt;/Text&gt;&#10;                &lt;Box style={{ flexDirection: 'row', alignItems: 'center', gap: 22 }}&gt;&#10;                    &lt;Box style={{ flexDirection: 'column', gap: 3 }}&gt;&#10;                        &lt;Box style={{ flexDirection: 'row', gap: 3 }}&gt;&#10;                            &lt;Box style={{ width: 20, height: 20, background: '#276FBF', borderRadius: 3 }} /&gt;&#10;                            &lt;Box style={{ width: 20, height: 20, background: '#546779', borderRadius: 3 }} /&gt;&#10;                        &lt;/Box&gt;&#10;                        &lt;Box style={{ flexDirection: 'row', gap: 3 }}&gt;&#10;                            &lt;Box style={{ width: 20, height: 20, background: '#26816B', borderRadius: 3 }} /&gt;&#10;                            &lt;Box style={{ width: 20, height: 20, background: '#276FBF', borderRadius: 3 }} /&gt;&#10;                        &lt;/Box&gt;&#10;                    &lt;/Box&gt;&#10;                    &lt;Text style={{ fontSize: 24, color: '#276FBF' }}&gt;›&lt;/Text&gt;&#10;                    &lt;Box style={{ flexDirection: 'column', gap: 3 }}&gt;&#10;                        &lt;Box style={{ flexDirection: 'row', gap: 3 }}&gt;&#10;                            &lt;Box style={{ width: 20, height: 20, background: '#276FBF', borderRadius: 3 }} /&gt;&#10;                            &lt;Box style={{ width: 20, height: 20, background: '#546779', borderRadius: 3 }} /&gt;&#10;                            &lt;Box style={{ width: 20, height: 20, background: '#276FBF', borderRadius: 3 }} /&gt;&#10;                            &lt;Box style={{ width: 20, height: 20, background: '#546779', borderRadius: 3 }} /&gt;&#10;                            &lt;Box style={{ width: 20, height: 20, background: '#276FBF', borderRadius: 3 }} /&gt;&#10;                            &lt;Box style={{ width: 20, height: 20, background: '#546779', borderRadius: 3 }} /&gt;&#10;                        &lt;/Box&gt;&#10;                        &lt;Box style={{ flexDirection: 'row', gap: 3 }}&gt;&#10;                            &lt;Box style={{ width: 20, height: 20, background: '#26816B', borderRadius: 3 }} /&gt;&#10;                            &lt;Box style={{ width: 20, height: 20, background: '#276FBF', borderRadius: 3 }} /&gt;&#10;                            &lt;Box style={{ width: 20, height: 20, background: '#26816B', borderRadius: 3 }} /&gt;&#10;                            &lt;Box style={{ width: 20, height: 20, background: '#276FBF', borderRadius: 3 }} /&gt;&#10;                            &lt;Box style={{ width: 20, height: 20, background: '#26816B', borderRadius: 3 }} /&gt;&#10;                            &lt;Box style={{ width: 20, height: 20, background: '#276FBF', borderRadius: 3 }} /&gt;&#10;                        &lt;/Box&gt;&#10;                    &lt;/Box&gt;&#10;                &lt;/Box&gt;&#10;                &lt;Text style={{ fontSize: 14, color: '#546779', lineHeight: 1.45, textAlign: 'center' }}&gt;输入两列，输出六列&lt;/Text&gt;&#10;            &lt;/Box&gt;&#10;&#10;            &lt;Box style={{ width: 373, height: 340, background: '#F4F7FA', borderRadius: 12, padding: '18px 18px', flexDirection: 'column', gap: 14, alignItems: 'center' }}&gt;&#10;                &lt;Text style={{ fontSize: 16, fontWeight: 'bold', color: '#276FBF' }}&gt;示例二&lt;/Text&gt;&#10;                &lt;Box style={{ flexDirection: 'row', alignItems: 'center', gap: 22 }}&gt;&#10;                    &lt;Box style={{ flexDirection: 'column', gap: 3 }}&gt;&#10;                        &lt;Box style={{ flexDirection: 'row', gap: 3 }}&gt;&#10;                            &lt;Box style={{ width: 20, height: 20, background: '#546779', borderRadius: 3 }} /&gt;&#10;                            &lt;Box style={{ width: 20, height: 20, background: '#276FBF', borderRadius: 3 }} /&gt;&#10;                        &lt;/Box&gt;&#10;                        &lt;Box style={{ flexDirection: 'row', gap: 3 }}&gt;&#10;                            &lt;Box style={{ width: 20, height: 20, background: '#276FBF', borderRadius: 3 }} /&gt;&#10;                            &lt;Box style={{ width: 20, height: 20, background: '#26816B', borderRadius: 3 }} /&gt;&#10;                        &lt;/Box&gt;&#10;                    &lt;/Box&gt;&#10;                    &lt;Text style={{ fontSize: 24, color: '#276FBF' }}&gt;›&lt;/Text&gt;&#10;                    &lt;Box style={{ flexDirection: 'column', gap: 3 }}&gt;&#10;                        &lt;Box style={{ flexDirection: 'row', gap: 3 }}&gt;&#10;                            &lt;Box style={{ width: 20, height: 20, background: '#546779', borderRadius: 3 }} /&gt;&#10;                            &lt;Box style={{ width: 20, height: 20, background: '#276FBF', borderRadius: 3 }} /&gt;&#10;                            &lt;Box style={{ width: 20, height: 20, background: '#546779', borderRadius: 3 }} /&gt;&#10;                            &lt;Box style={{ width: 20, height: 20, background: '#276FBF', borderRadius: 3 }} /&gt;&#10;                            &lt;Box style={{ width: 20, height: 20, background: '#546779', borderRadius: 3 }} /&gt;&#10;                            &lt;Box style={{ width: 20, height: 20, background: '#276FBF', borderRadius: 3 }} /&gt;&#10;                        &lt;/Box&gt;&#10;                        &lt;Box style={{ flexDirection: 'row', gap: 3 }}&gt;&#10;                            &lt;Box style={{ width: 20, height: 20, background: '#276FBF', borderRadius: 3 }} /&gt;&#10;                            &lt;Box style={{ width: 20, height: 20, background: '#26816B', borderRadius: 3 }} /&gt;&#10;                            &lt;Box style={{ width: 20, height: 20, background: '#276FBF', borderRadius: 3 }} /&gt;&#10;                            &lt;Box style={{ width: 20, height: 20, background: '#26816B', borderRadius: 3 }} /&gt;&#10;                            &lt;Box style={{ width: 20, height: 20, background: '#276FBF', borderRadius: 3 }} /&gt;&#10;                            &lt;Box style={{ width: 20, height: 20, background: '#26816B', borderRadius: 3 }} /&gt;&#10;                        &lt;/Box&gt;&#10;                    &lt;/Box&gt;&#10;                &lt;/Box&gt;&#10;                &lt;Text style={{ fontSize: 14, color: '#546779', lineHeight: 1.45, textAlign: 'center' }}&gt;换了颜色组合，规律不变&lt;/Text&gt;&#10;            &lt;/Box&gt;&#10;&#10;            &lt;Box style={{ width: 373, height: 340, background: '#FFF4E6', borderRadius: 12, padding: '18px 18px', flexDirection: 'column', gap: 14, alignItems: 'center' }}&gt;&#10;                &lt;Text style={{ fontSize: 16, fontWeight: 'bold', color: '#CB6B28' }}&gt;待解的输入&lt;/Text&gt;&#10;                &lt;Box style={{ flexDirection: 'row', alignItems: 'center', gap: 22 }}&gt;&#10;                    &lt;Box style={{ flexDirection: 'column', gap: 3 }}&gt;&#10;                        &lt;Box style={{ flexDirection: 'row', gap: 3 }}&gt;&#10;                            &lt;Box style={{ width: 20, height: 20, background: '#26816B', borderRadius: 3 }} /&gt;&#10;                            &lt;Box style={{ width: 20, height: 20, background: '#26816B', borderRadius: 3 }} /&gt;&#10;                        &lt;/Box&gt;&#10;                        &lt;Box style={{ flexDirection: 'row', gap: 3 }}&gt;&#10;                            &lt;Box style={{ width: 20, height: 20, background: '#546779', borderRadius: 3 }} /&gt;&#10;                            &lt;Box style={{ width: 20, height: 20, background: '#276FBF', borderRadius: 3 }} /&gt;&#10;                        &lt;/Box&gt;&#10;                    &lt;/Box&gt;&#10;                    &lt;Text style={{ fontSize: 24, color: '#CB6B28' }}&gt;›&lt;/Text&gt;&#10;                    &lt;Box style={{ width: 135, height: 43, background: '#FFFFFF', borderRadius: 6, alignItems: 'center', justifyContent: 'center' }}&gt;&#10;                        &lt;Text style={{ fontSize: 22, fontWeight: 'bold', color: '#CB6B28' }}&gt;？&lt;/Text&gt;&#10;                    &lt;/Box&gt;&#10;                &lt;/Box&gt;&#10;                &lt;Text style={{ fontSize: 14, color: '#CB6B28', lineHeight: 1.45, textAlign: 'center' }}&gt;要自己写出输出，每格必须完全对上&lt;/Text&gt;&#10;                &lt;Box style={{ flex: 1 }} /&gt;&#10;                &lt;Text style={{ fontSize: 13, color: '#546779', textAlign: 'center' }}&gt;无部分分 · 规则不给 · 靠现场推理&lt;/Text&gt;&#10;            &lt;/Box&gt;&#10;&#10;        &lt;/Box&gt;&#10;&#10;        &lt;Box style={{ flexDirection: 'row', gap: 16, background: '#F4F7FA', borderRadius: 10, padding: '14px 22px', alignItems: 'center' }}&gt;&#10;            &lt;Box style={{ width: 4, height: 44, background: '#276FBF' }} /&gt;&#10;            &lt;Text style={{ fontSize: 16, color: '#546779', lineHeight: 1.55 }}&gt;规则不在教科书里，也没有公开的分类表——记忆帮不上忙，只能现场推&lt;/Text&gt;&#10;        &lt;/Box&gt;&#10;&#10;    &lt;/Box&gt;&#10;&#10;    &lt;Box style={{ height: 40, flexDirection: 'row', justifyContent: 'space-between', alignItems: 'center' }}&gt;&#10;        &lt;Text style={{ fontSize: 14, color: '#546779' }}&gt;1.4 从榜单到证据&lt;/Text&gt;&#10;        &lt;Text style={{ fontSize: 14, color: '#546779' }}&gt;22 / 36&lt;/Text&gt;&#10;    &lt;/Box&gt;&#10;&#10;&lt;/Slide&gt;&#10;"/>
        <p:cNvGrpSpPr/>
        <p:nvPr/>
      </p:nvGrpSpPr>
      <p:grpSpPr>
        <a:xfrm>
          <a:off x="0" y="0"/>
          <a:ext cx="0" cy="0"/>
          <a:chOff x="0" y="0"/>
          <a:chExt cx="0" cy="0"/>
        </a:xfrm>
      </p:grpSpPr>
      <p:sp>
        <p:nvSpPr>
          <p:cNvPr id="474" name=""/>
          <p:cNvSpPr/>
          <p:nvPr/>
        </p:nvSpPr>
        <p:spPr>
          <a:xfrm rot="0" flipH="0" flipV="0">
            <a:off x="0" y="0"/>
            <a:ext cx="12192000" cy="6858000"/>
          </a:xfrm>
          <a:prstGeom prst="rect">
            <a:avLst/>
          </a:prstGeom>
          <a:solidFill>
            <a:srgbClr val="FFFFFF"/>
          </a:solidFill>
          <a:ln/>
        </p:spPr>
        <p:txBody>
          <a:bodyPr/>
          <a:p/>
        </p:txBody>
      </p:sp>
      <p:sp>
        <p:nvSpPr>
          <p:cNvPr id="475" name=""/>
          <p:cNvSpPr/>
          <p:nvPr/>
        </p:nvSpPr>
        <p:spPr>
          <a:xfrm rot="0" flipH="0" flipV="0">
            <a:off x="609600" y="457200"/>
            <a:ext cx="38100" cy="419100"/>
          </a:xfrm>
          <a:prstGeom prst="rect">
            <a:avLst/>
          </a:prstGeom>
          <a:solidFill>
            <a:srgbClr val="276FBF"/>
          </a:solidFill>
          <a:ln/>
        </p:spPr>
        <p:txBody>
          <a:bodyPr/>
          <a:p/>
        </p:txBody>
      </p:sp>
      <p:sp>
        <p:nvSpPr>
          <p:cNvPr id="476" name="" descr="{&quot;isTemplate&quot;:true,&quot;type&quot;:&quot;text&quot;}"/>
          <p:cNvSpPr txBox="1"/>
          <p:nvPr/>
        </p:nvSpPr>
        <p:spPr>
          <a:xfrm rot="0" flipH="0" flipV="0">
            <a:off x="838200" y="371475"/>
            <a:ext cx="4038600" cy="161925"/>
          </a:xfrm>
          <a:prstGeom prst="rect"/>
        </p:spPr>
        <p:txBody>
          <a:bodyPr wrap="none" lIns="0" tIns="0" rIns="0" bIns="0"/>
          <a:p>
            <a:pPr>
              <a:lnSpc>
                <a:spcPct val="100000"/>
              </a:lnSpc>
            </a:pPr>
            <a:r>
              <a:rPr lang="zh-CN" sz="1050">
                <a:solidFill>
                  <a:srgbClr val="546779"/>
                </a:solidFill>
                <a:latin typeface="Microsoft YaHei"/>
                <a:ea typeface="Microsoft YaHei"/>
              </a:rPr>
              <a:t>④　</a:t>
            </a:r>
            <a:r>
              <a:rPr lang="en-US" sz="1050">
                <a:solidFill>
                  <a:srgbClr val="546779"/>
                </a:solidFill>
                <a:latin typeface="Microsoft YaHei"/>
                <a:ea typeface="Microsoft YaHei"/>
              </a:rPr>
              <a:t>1.4.4</a:t>
            </a:r>
            <a:r>
              <a:rPr lang="zh-CN" sz="1050">
                <a:solidFill>
                  <a:srgbClr val="546779"/>
                </a:solidFill>
                <a:latin typeface="Microsoft YaHei"/>
                <a:ea typeface="Microsoft YaHei"/>
              </a:rPr>
              <a:t>　样本展示：从两三个例子里推出规则</a:t>
            </a:r>
            <a:endParaRPr/>
          </a:p>
        </p:txBody>
      </p:sp>
      <p:sp>
        <p:nvSpPr>
          <p:cNvPr id="477" name="" descr="{&quot;isTemplate&quot;:true,&quot;type&quot;:&quot;text&quot;}"/>
          <p:cNvSpPr txBox="1"/>
          <p:nvPr/>
        </p:nvSpPr>
        <p:spPr>
          <a:xfrm rot="0" flipH="0" flipV="0">
            <a:off x="838200" y="571500"/>
            <a:ext cx="4038600" cy="390525"/>
          </a:xfrm>
          <a:prstGeom prst="rect"/>
        </p:spPr>
        <p:txBody>
          <a:bodyPr wrap="none" lIns="0" tIns="0" rIns="0" bIns="0"/>
          <a:p>
            <a:pPr>
              <a:lnSpc>
                <a:spcPct val="100000"/>
              </a:lnSpc>
            </a:pPr>
            <a:r>
              <a:rPr lang="en-US" sz="2550" b="1">
                <a:solidFill>
                  <a:srgbClr val="20344B"/>
                </a:solidFill>
                <a:latin typeface="Microsoft YaHei"/>
                <a:ea typeface="Microsoft YaHei"/>
              </a:rPr>
              <a:t>ARC-AGI-2</a:t>
            </a:r>
            <a:r>
              <a:rPr lang="zh-CN" sz="2550" b="1">
                <a:solidFill>
                  <a:srgbClr val="20344B"/>
                </a:solidFill>
                <a:latin typeface="Microsoft YaHei"/>
                <a:ea typeface="Microsoft YaHei"/>
              </a:rPr>
              <a:t>：看例子推规则</a:t>
            </a:r>
            <a:endParaRPr/>
          </a:p>
        </p:txBody>
      </p:sp>
      <p:sp>
        <p:nvSpPr>
          <p:cNvPr id="478" name=""/>
          <p:cNvSpPr/>
          <p:nvPr/>
        </p:nvSpPr>
        <p:spPr>
          <a:xfrm rot="0" flipH="0" flipV="0">
            <a:off x="609600" y="1676400"/>
            <a:ext cx="3552825" cy="3238500"/>
          </a:xfrm>
          <a:prstGeom prst="roundRect">
            <a:avLst>
              <a:gd name="adj" fmla="val 3529"/>
            </a:avLst>
          </a:prstGeom>
          <a:solidFill>
            <a:srgbClr val="F4F7FA"/>
          </a:solidFill>
          <a:ln/>
        </p:spPr>
        <p:txBody>
          <a:bodyPr/>
          <a:p/>
        </p:txBody>
      </p:sp>
      <p:sp>
        <p:nvSpPr>
          <p:cNvPr id="479" name="" descr="{&quot;isTemplate&quot;:true,&quot;type&quot;:&quot;text&quot;}"/>
          <p:cNvSpPr txBox="1"/>
          <p:nvPr/>
        </p:nvSpPr>
        <p:spPr>
          <a:xfrm rot="0" flipH="0" flipV="0">
            <a:off x="2162175" y="1847850"/>
            <a:ext cx="457200" cy="190500"/>
          </a:xfrm>
          <a:prstGeom prst="rect"/>
        </p:spPr>
        <p:txBody>
          <a:bodyPr wrap="none" lIns="0" tIns="0" rIns="0" bIns="0"/>
          <a:p>
            <a:pPr>
              <a:lnSpc>
                <a:spcPct val="100000"/>
              </a:lnSpc>
            </a:pPr>
            <a:r>
              <a:rPr lang="zh-CN" sz="1200" b="1">
                <a:solidFill>
                  <a:srgbClr val="276FBF"/>
                </a:solidFill>
                <a:latin typeface="Microsoft YaHei"/>
                <a:ea typeface="Microsoft YaHei"/>
              </a:rPr>
              <a:t>示例一</a:t>
            </a:r>
            <a:endParaRPr/>
          </a:p>
        </p:txBody>
      </p:sp>
      <p:sp>
        <p:nvSpPr>
          <p:cNvPr id="480" name=""/>
          <p:cNvSpPr/>
          <p:nvPr/>
        </p:nvSpPr>
        <p:spPr>
          <a:xfrm rot="0" flipH="0" flipV="0">
            <a:off x="1285875" y="2171700"/>
            <a:ext cx="190500" cy="190500"/>
          </a:xfrm>
          <a:prstGeom prst="roundRect">
            <a:avLst>
              <a:gd name="adj" fmla="val 15000"/>
            </a:avLst>
          </a:prstGeom>
          <a:solidFill>
            <a:srgbClr val="276FBF"/>
          </a:solidFill>
          <a:ln/>
        </p:spPr>
        <p:txBody>
          <a:bodyPr/>
          <a:p/>
        </p:txBody>
      </p:sp>
      <p:sp>
        <p:nvSpPr>
          <p:cNvPr id="481" name=""/>
          <p:cNvSpPr/>
          <p:nvPr/>
        </p:nvSpPr>
        <p:spPr>
          <a:xfrm rot="0" flipH="0" flipV="0">
            <a:off x="1504950" y="2171700"/>
            <a:ext cx="190500" cy="190500"/>
          </a:xfrm>
          <a:prstGeom prst="roundRect">
            <a:avLst>
              <a:gd name="adj" fmla="val 15000"/>
            </a:avLst>
          </a:prstGeom>
          <a:solidFill>
            <a:srgbClr val="546779"/>
          </a:solidFill>
          <a:ln/>
        </p:spPr>
        <p:txBody>
          <a:bodyPr/>
          <a:p/>
        </p:txBody>
      </p:sp>
      <p:sp>
        <p:nvSpPr>
          <p:cNvPr id="482" name=""/>
          <p:cNvSpPr/>
          <p:nvPr/>
        </p:nvSpPr>
        <p:spPr>
          <a:xfrm rot="0" flipH="0" flipV="0">
            <a:off x="1285875" y="2390775"/>
            <a:ext cx="190500" cy="190500"/>
          </a:xfrm>
          <a:prstGeom prst="roundRect">
            <a:avLst>
              <a:gd name="adj" fmla="val 15000"/>
            </a:avLst>
          </a:prstGeom>
          <a:solidFill>
            <a:srgbClr val="26816B"/>
          </a:solidFill>
          <a:ln/>
        </p:spPr>
        <p:txBody>
          <a:bodyPr/>
          <a:p/>
        </p:txBody>
      </p:sp>
      <p:sp>
        <p:nvSpPr>
          <p:cNvPr id="483" name=""/>
          <p:cNvSpPr/>
          <p:nvPr/>
        </p:nvSpPr>
        <p:spPr>
          <a:xfrm rot="0" flipH="0" flipV="0">
            <a:off x="1504950" y="2390775"/>
            <a:ext cx="190500" cy="190500"/>
          </a:xfrm>
          <a:prstGeom prst="roundRect">
            <a:avLst>
              <a:gd name="adj" fmla="val 15000"/>
            </a:avLst>
          </a:prstGeom>
          <a:solidFill>
            <a:srgbClr val="276FBF"/>
          </a:solidFill>
          <a:ln/>
        </p:spPr>
        <p:txBody>
          <a:bodyPr/>
          <a:p/>
        </p:txBody>
      </p:sp>
      <p:sp>
        <p:nvSpPr>
          <p:cNvPr id="484" name="" descr="{&quot;isTemplate&quot;:true,&quot;type&quot;:&quot;text&quot;}"/>
          <p:cNvSpPr txBox="1"/>
          <p:nvPr/>
        </p:nvSpPr>
        <p:spPr>
          <a:xfrm rot="0" flipH="0" flipV="0">
            <a:off x="1905000" y="2238375"/>
            <a:ext cx="85725" cy="276225"/>
          </a:xfrm>
          <a:prstGeom prst="rect"/>
        </p:spPr>
        <p:txBody>
          <a:bodyPr wrap="none" lIns="0" tIns="0" rIns="0" bIns="0"/>
          <a:p>
            <a:pPr>
              <a:lnSpc>
                <a:spcPct val="100000"/>
              </a:lnSpc>
            </a:pPr>
            <a:r>
              <a:rPr sz="1800">
                <a:solidFill>
                  <a:srgbClr val="276FBF"/>
                </a:solidFill>
                <a:latin typeface="Microsoft YaHei"/>
                <a:ea typeface="Microsoft YaHei"/>
              </a:rPr>
              <a:t>›</a:t>
            </a:r>
            <a:endParaRPr/>
          </a:p>
        </p:txBody>
      </p:sp>
      <p:sp>
        <p:nvSpPr>
          <p:cNvPr id="485" name=""/>
          <p:cNvSpPr/>
          <p:nvPr/>
        </p:nvSpPr>
        <p:spPr>
          <a:xfrm rot="0" flipH="0" flipV="0">
            <a:off x="2200275" y="2171700"/>
            <a:ext cx="190500" cy="190500"/>
          </a:xfrm>
          <a:prstGeom prst="roundRect">
            <a:avLst>
              <a:gd name="adj" fmla="val 15000"/>
            </a:avLst>
          </a:prstGeom>
          <a:solidFill>
            <a:srgbClr val="276FBF"/>
          </a:solidFill>
          <a:ln/>
        </p:spPr>
        <p:txBody>
          <a:bodyPr/>
          <a:p/>
        </p:txBody>
      </p:sp>
      <p:sp>
        <p:nvSpPr>
          <p:cNvPr id="486" name=""/>
          <p:cNvSpPr/>
          <p:nvPr/>
        </p:nvSpPr>
        <p:spPr>
          <a:xfrm rot="0" flipH="0" flipV="0">
            <a:off x="2419350" y="2171700"/>
            <a:ext cx="190500" cy="190500"/>
          </a:xfrm>
          <a:prstGeom prst="roundRect">
            <a:avLst>
              <a:gd name="adj" fmla="val 15000"/>
            </a:avLst>
          </a:prstGeom>
          <a:solidFill>
            <a:srgbClr val="546779"/>
          </a:solidFill>
          <a:ln/>
        </p:spPr>
        <p:txBody>
          <a:bodyPr/>
          <a:p/>
        </p:txBody>
      </p:sp>
      <p:sp>
        <p:nvSpPr>
          <p:cNvPr id="487" name=""/>
          <p:cNvSpPr/>
          <p:nvPr/>
        </p:nvSpPr>
        <p:spPr>
          <a:xfrm rot="0" flipH="0" flipV="0">
            <a:off x="2638425" y="2171700"/>
            <a:ext cx="190500" cy="190500"/>
          </a:xfrm>
          <a:prstGeom prst="roundRect">
            <a:avLst>
              <a:gd name="adj" fmla="val 15000"/>
            </a:avLst>
          </a:prstGeom>
          <a:solidFill>
            <a:srgbClr val="276FBF"/>
          </a:solidFill>
          <a:ln/>
        </p:spPr>
        <p:txBody>
          <a:bodyPr/>
          <a:p/>
        </p:txBody>
      </p:sp>
      <p:sp>
        <p:nvSpPr>
          <p:cNvPr id="488" name=""/>
          <p:cNvSpPr/>
          <p:nvPr/>
        </p:nvSpPr>
        <p:spPr>
          <a:xfrm rot="0" flipH="0" flipV="0">
            <a:off x="2857500" y="2171700"/>
            <a:ext cx="190500" cy="190500"/>
          </a:xfrm>
          <a:prstGeom prst="roundRect">
            <a:avLst>
              <a:gd name="adj" fmla="val 15000"/>
            </a:avLst>
          </a:prstGeom>
          <a:solidFill>
            <a:srgbClr val="546779"/>
          </a:solidFill>
          <a:ln/>
        </p:spPr>
        <p:txBody>
          <a:bodyPr/>
          <a:p/>
        </p:txBody>
      </p:sp>
      <p:sp>
        <p:nvSpPr>
          <p:cNvPr id="489" name=""/>
          <p:cNvSpPr/>
          <p:nvPr/>
        </p:nvSpPr>
        <p:spPr>
          <a:xfrm rot="0" flipH="0" flipV="0">
            <a:off x="3076575" y="2171700"/>
            <a:ext cx="190500" cy="190500"/>
          </a:xfrm>
          <a:prstGeom prst="roundRect">
            <a:avLst>
              <a:gd name="adj" fmla="val 15000"/>
            </a:avLst>
          </a:prstGeom>
          <a:solidFill>
            <a:srgbClr val="276FBF"/>
          </a:solidFill>
          <a:ln/>
        </p:spPr>
        <p:txBody>
          <a:bodyPr/>
          <a:p/>
        </p:txBody>
      </p:sp>
      <p:sp>
        <p:nvSpPr>
          <p:cNvPr id="490" name=""/>
          <p:cNvSpPr/>
          <p:nvPr/>
        </p:nvSpPr>
        <p:spPr>
          <a:xfrm rot="0" flipH="0" flipV="0">
            <a:off x="3295650" y="2171700"/>
            <a:ext cx="190500" cy="190500"/>
          </a:xfrm>
          <a:prstGeom prst="roundRect">
            <a:avLst>
              <a:gd name="adj" fmla="val 15000"/>
            </a:avLst>
          </a:prstGeom>
          <a:solidFill>
            <a:srgbClr val="546779"/>
          </a:solidFill>
          <a:ln/>
        </p:spPr>
        <p:txBody>
          <a:bodyPr/>
          <a:p/>
        </p:txBody>
      </p:sp>
      <p:sp>
        <p:nvSpPr>
          <p:cNvPr id="491" name=""/>
          <p:cNvSpPr/>
          <p:nvPr/>
        </p:nvSpPr>
        <p:spPr>
          <a:xfrm rot="0" flipH="0" flipV="0">
            <a:off x="2200275" y="2390775"/>
            <a:ext cx="190500" cy="190500"/>
          </a:xfrm>
          <a:prstGeom prst="roundRect">
            <a:avLst>
              <a:gd name="adj" fmla="val 15000"/>
            </a:avLst>
          </a:prstGeom>
          <a:solidFill>
            <a:srgbClr val="26816B"/>
          </a:solidFill>
          <a:ln/>
        </p:spPr>
        <p:txBody>
          <a:bodyPr/>
          <a:p/>
        </p:txBody>
      </p:sp>
      <p:sp>
        <p:nvSpPr>
          <p:cNvPr id="492" name=""/>
          <p:cNvSpPr/>
          <p:nvPr/>
        </p:nvSpPr>
        <p:spPr>
          <a:xfrm rot="0" flipH="0" flipV="0">
            <a:off x="2419350" y="2390775"/>
            <a:ext cx="190500" cy="190500"/>
          </a:xfrm>
          <a:prstGeom prst="roundRect">
            <a:avLst>
              <a:gd name="adj" fmla="val 15000"/>
            </a:avLst>
          </a:prstGeom>
          <a:solidFill>
            <a:srgbClr val="276FBF"/>
          </a:solidFill>
          <a:ln/>
        </p:spPr>
        <p:txBody>
          <a:bodyPr/>
          <a:p/>
        </p:txBody>
      </p:sp>
      <p:sp>
        <p:nvSpPr>
          <p:cNvPr id="493" name=""/>
          <p:cNvSpPr/>
          <p:nvPr/>
        </p:nvSpPr>
        <p:spPr>
          <a:xfrm rot="0" flipH="0" flipV="0">
            <a:off x="2638425" y="2390775"/>
            <a:ext cx="190500" cy="190500"/>
          </a:xfrm>
          <a:prstGeom prst="roundRect">
            <a:avLst>
              <a:gd name="adj" fmla="val 15000"/>
            </a:avLst>
          </a:prstGeom>
          <a:solidFill>
            <a:srgbClr val="26816B"/>
          </a:solidFill>
          <a:ln/>
        </p:spPr>
        <p:txBody>
          <a:bodyPr/>
          <a:p/>
        </p:txBody>
      </p:sp>
      <p:sp>
        <p:nvSpPr>
          <p:cNvPr id="494" name=""/>
          <p:cNvSpPr/>
          <p:nvPr/>
        </p:nvSpPr>
        <p:spPr>
          <a:xfrm rot="0" flipH="0" flipV="0">
            <a:off x="2857500" y="2390775"/>
            <a:ext cx="190500" cy="190500"/>
          </a:xfrm>
          <a:prstGeom prst="roundRect">
            <a:avLst>
              <a:gd name="adj" fmla="val 15000"/>
            </a:avLst>
          </a:prstGeom>
          <a:solidFill>
            <a:srgbClr val="276FBF"/>
          </a:solidFill>
          <a:ln/>
        </p:spPr>
        <p:txBody>
          <a:bodyPr/>
          <a:p/>
        </p:txBody>
      </p:sp>
      <p:sp>
        <p:nvSpPr>
          <p:cNvPr id="495" name=""/>
          <p:cNvSpPr/>
          <p:nvPr/>
        </p:nvSpPr>
        <p:spPr>
          <a:xfrm rot="0" flipH="0" flipV="0">
            <a:off x="3076575" y="2390775"/>
            <a:ext cx="190500" cy="190500"/>
          </a:xfrm>
          <a:prstGeom prst="roundRect">
            <a:avLst>
              <a:gd name="adj" fmla="val 15000"/>
            </a:avLst>
          </a:prstGeom>
          <a:solidFill>
            <a:srgbClr val="26816B"/>
          </a:solidFill>
          <a:ln/>
        </p:spPr>
        <p:txBody>
          <a:bodyPr/>
          <a:p/>
        </p:txBody>
      </p:sp>
      <p:sp>
        <p:nvSpPr>
          <p:cNvPr id="496" name=""/>
          <p:cNvSpPr/>
          <p:nvPr/>
        </p:nvSpPr>
        <p:spPr>
          <a:xfrm rot="0" flipH="0" flipV="0">
            <a:off x="3295650" y="2390775"/>
            <a:ext cx="190500" cy="190500"/>
          </a:xfrm>
          <a:prstGeom prst="roundRect">
            <a:avLst>
              <a:gd name="adj" fmla="val 15000"/>
            </a:avLst>
          </a:prstGeom>
          <a:solidFill>
            <a:srgbClr val="276FBF"/>
          </a:solidFill>
          <a:ln/>
        </p:spPr>
        <p:txBody>
          <a:bodyPr/>
          <a:p/>
        </p:txBody>
      </p:sp>
      <p:sp>
        <p:nvSpPr>
          <p:cNvPr id="497" name="" descr="{&quot;isTemplate&quot;:true,&quot;type&quot;:&quot;text&quot;}"/>
          <p:cNvSpPr txBox="1"/>
          <p:nvPr/>
        </p:nvSpPr>
        <p:spPr>
          <a:xfrm rot="0" flipH="0" flipV="0">
            <a:off x="1790700" y="2714625"/>
            <a:ext cx="1200150" cy="238125"/>
          </a:xfrm>
          <a:prstGeom prst="rect"/>
        </p:spPr>
        <p:txBody>
          <a:bodyPr wrap="none" lIns="0" tIns="0" rIns="0" bIns="0"/>
          <a:p>
            <a:pPr algn="ctr">
              <a:lnSpc>
                <a:spcPct val="145000"/>
              </a:lnSpc>
            </a:pPr>
            <a:r>
              <a:rPr lang="zh-CN" sz="1050">
                <a:solidFill>
                  <a:srgbClr val="546779"/>
                </a:solidFill>
                <a:latin typeface="Microsoft YaHei"/>
                <a:ea typeface="Microsoft YaHei"/>
              </a:rPr>
              <a:t>输入两列，输出六列</a:t>
            </a:r>
            <a:endParaRPr/>
          </a:p>
        </p:txBody>
      </p:sp>
      <p:sp>
        <p:nvSpPr>
          <p:cNvPr id="498" name=""/>
          <p:cNvSpPr/>
          <p:nvPr/>
        </p:nvSpPr>
        <p:spPr>
          <a:xfrm rot="0" flipH="0" flipV="0">
            <a:off x="4314825" y="1676400"/>
            <a:ext cx="3552825" cy="3238500"/>
          </a:xfrm>
          <a:prstGeom prst="roundRect">
            <a:avLst>
              <a:gd name="adj" fmla="val 3529"/>
            </a:avLst>
          </a:prstGeom>
          <a:solidFill>
            <a:srgbClr val="F4F7FA"/>
          </a:solidFill>
          <a:ln/>
        </p:spPr>
        <p:txBody>
          <a:bodyPr/>
          <a:p/>
        </p:txBody>
      </p:sp>
      <p:sp>
        <p:nvSpPr>
          <p:cNvPr id="499" name="" descr="{&quot;isTemplate&quot;:true,&quot;type&quot;:&quot;text&quot;}"/>
          <p:cNvSpPr txBox="1"/>
          <p:nvPr/>
        </p:nvSpPr>
        <p:spPr>
          <a:xfrm rot="0" flipH="0" flipV="0">
            <a:off x="5867400" y="1847850"/>
            <a:ext cx="457200" cy="190500"/>
          </a:xfrm>
          <a:prstGeom prst="rect"/>
        </p:spPr>
        <p:txBody>
          <a:bodyPr wrap="none" lIns="0" tIns="0" rIns="0" bIns="0"/>
          <a:p>
            <a:pPr>
              <a:lnSpc>
                <a:spcPct val="100000"/>
              </a:lnSpc>
            </a:pPr>
            <a:r>
              <a:rPr lang="zh-CN" sz="1200" b="1">
                <a:solidFill>
                  <a:srgbClr val="276FBF"/>
                </a:solidFill>
                <a:latin typeface="Microsoft YaHei"/>
                <a:ea typeface="Microsoft YaHei"/>
              </a:rPr>
              <a:t>示例二</a:t>
            </a:r>
            <a:endParaRPr/>
          </a:p>
        </p:txBody>
      </p:sp>
      <p:sp>
        <p:nvSpPr>
          <p:cNvPr id="500" name=""/>
          <p:cNvSpPr/>
          <p:nvPr/>
        </p:nvSpPr>
        <p:spPr>
          <a:xfrm rot="0" flipH="0" flipV="0">
            <a:off x="4991100" y="2171700"/>
            <a:ext cx="190500" cy="190500"/>
          </a:xfrm>
          <a:prstGeom prst="roundRect">
            <a:avLst>
              <a:gd name="adj" fmla="val 15000"/>
            </a:avLst>
          </a:prstGeom>
          <a:solidFill>
            <a:srgbClr val="546779"/>
          </a:solidFill>
          <a:ln/>
        </p:spPr>
        <p:txBody>
          <a:bodyPr/>
          <a:p/>
        </p:txBody>
      </p:sp>
      <p:sp>
        <p:nvSpPr>
          <p:cNvPr id="501" name=""/>
          <p:cNvSpPr/>
          <p:nvPr/>
        </p:nvSpPr>
        <p:spPr>
          <a:xfrm rot="0" flipH="0" flipV="0">
            <a:off x="5210175" y="2171700"/>
            <a:ext cx="190500" cy="190500"/>
          </a:xfrm>
          <a:prstGeom prst="roundRect">
            <a:avLst>
              <a:gd name="adj" fmla="val 15000"/>
            </a:avLst>
          </a:prstGeom>
          <a:solidFill>
            <a:srgbClr val="276FBF"/>
          </a:solidFill>
          <a:ln/>
        </p:spPr>
        <p:txBody>
          <a:bodyPr/>
          <a:p/>
        </p:txBody>
      </p:sp>
      <p:sp>
        <p:nvSpPr>
          <p:cNvPr id="502" name=""/>
          <p:cNvSpPr/>
          <p:nvPr/>
        </p:nvSpPr>
        <p:spPr>
          <a:xfrm rot="0" flipH="0" flipV="0">
            <a:off x="4991100" y="2390775"/>
            <a:ext cx="190500" cy="190500"/>
          </a:xfrm>
          <a:prstGeom prst="roundRect">
            <a:avLst>
              <a:gd name="adj" fmla="val 15000"/>
            </a:avLst>
          </a:prstGeom>
          <a:solidFill>
            <a:srgbClr val="276FBF"/>
          </a:solidFill>
          <a:ln/>
        </p:spPr>
        <p:txBody>
          <a:bodyPr/>
          <a:p/>
        </p:txBody>
      </p:sp>
      <p:sp>
        <p:nvSpPr>
          <p:cNvPr id="503" name=""/>
          <p:cNvSpPr/>
          <p:nvPr/>
        </p:nvSpPr>
        <p:spPr>
          <a:xfrm rot="0" flipH="0" flipV="0">
            <a:off x="5210175" y="2390775"/>
            <a:ext cx="190500" cy="190500"/>
          </a:xfrm>
          <a:prstGeom prst="roundRect">
            <a:avLst>
              <a:gd name="adj" fmla="val 15000"/>
            </a:avLst>
          </a:prstGeom>
          <a:solidFill>
            <a:srgbClr val="26816B"/>
          </a:solidFill>
          <a:ln/>
        </p:spPr>
        <p:txBody>
          <a:bodyPr/>
          <a:p/>
        </p:txBody>
      </p:sp>
      <p:sp>
        <p:nvSpPr>
          <p:cNvPr id="504" name="" descr="{&quot;isTemplate&quot;:true,&quot;type&quot;:&quot;text&quot;}"/>
          <p:cNvSpPr txBox="1"/>
          <p:nvPr/>
        </p:nvSpPr>
        <p:spPr>
          <a:xfrm rot="0" flipH="0" flipV="0">
            <a:off x="5610225" y="2238375"/>
            <a:ext cx="85725" cy="276225"/>
          </a:xfrm>
          <a:prstGeom prst="rect"/>
        </p:spPr>
        <p:txBody>
          <a:bodyPr wrap="none" lIns="0" tIns="0" rIns="0" bIns="0"/>
          <a:p>
            <a:pPr>
              <a:lnSpc>
                <a:spcPct val="100000"/>
              </a:lnSpc>
            </a:pPr>
            <a:r>
              <a:rPr sz="1800">
                <a:solidFill>
                  <a:srgbClr val="276FBF"/>
                </a:solidFill>
                <a:latin typeface="Microsoft YaHei"/>
                <a:ea typeface="Microsoft YaHei"/>
              </a:rPr>
              <a:t>›</a:t>
            </a:r>
            <a:endParaRPr/>
          </a:p>
        </p:txBody>
      </p:sp>
      <p:sp>
        <p:nvSpPr>
          <p:cNvPr id="505" name=""/>
          <p:cNvSpPr/>
          <p:nvPr/>
        </p:nvSpPr>
        <p:spPr>
          <a:xfrm rot="0" flipH="0" flipV="0">
            <a:off x="5905500" y="2171700"/>
            <a:ext cx="190500" cy="190500"/>
          </a:xfrm>
          <a:prstGeom prst="roundRect">
            <a:avLst>
              <a:gd name="adj" fmla="val 15000"/>
            </a:avLst>
          </a:prstGeom>
          <a:solidFill>
            <a:srgbClr val="546779"/>
          </a:solidFill>
          <a:ln/>
        </p:spPr>
        <p:txBody>
          <a:bodyPr/>
          <a:p/>
        </p:txBody>
      </p:sp>
      <p:sp>
        <p:nvSpPr>
          <p:cNvPr id="506" name=""/>
          <p:cNvSpPr/>
          <p:nvPr/>
        </p:nvSpPr>
        <p:spPr>
          <a:xfrm rot="0" flipH="0" flipV="0">
            <a:off x="6124575" y="2171700"/>
            <a:ext cx="190500" cy="190500"/>
          </a:xfrm>
          <a:prstGeom prst="roundRect">
            <a:avLst>
              <a:gd name="adj" fmla="val 15000"/>
            </a:avLst>
          </a:prstGeom>
          <a:solidFill>
            <a:srgbClr val="276FBF"/>
          </a:solidFill>
          <a:ln/>
        </p:spPr>
        <p:txBody>
          <a:bodyPr/>
          <a:p/>
        </p:txBody>
      </p:sp>
      <p:sp>
        <p:nvSpPr>
          <p:cNvPr id="507" name=""/>
          <p:cNvSpPr/>
          <p:nvPr/>
        </p:nvSpPr>
        <p:spPr>
          <a:xfrm rot="0" flipH="0" flipV="0">
            <a:off x="6343650" y="2171700"/>
            <a:ext cx="190500" cy="190500"/>
          </a:xfrm>
          <a:prstGeom prst="roundRect">
            <a:avLst>
              <a:gd name="adj" fmla="val 15000"/>
            </a:avLst>
          </a:prstGeom>
          <a:solidFill>
            <a:srgbClr val="546779"/>
          </a:solidFill>
          <a:ln/>
        </p:spPr>
        <p:txBody>
          <a:bodyPr/>
          <a:p/>
        </p:txBody>
      </p:sp>
      <p:sp>
        <p:nvSpPr>
          <p:cNvPr id="508" name=""/>
          <p:cNvSpPr/>
          <p:nvPr/>
        </p:nvSpPr>
        <p:spPr>
          <a:xfrm rot="0" flipH="0" flipV="0">
            <a:off x="6562725" y="2171700"/>
            <a:ext cx="190500" cy="190500"/>
          </a:xfrm>
          <a:prstGeom prst="roundRect">
            <a:avLst>
              <a:gd name="adj" fmla="val 15000"/>
            </a:avLst>
          </a:prstGeom>
          <a:solidFill>
            <a:srgbClr val="276FBF"/>
          </a:solidFill>
          <a:ln/>
        </p:spPr>
        <p:txBody>
          <a:bodyPr/>
          <a:p/>
        </p:txBody>
      </p:sp>
      <p:sp>
        <p:nvSpPr>
          <p:cNvPr id="509" name=""/>
          <p:cNvSpPr/>
          <p:nvPr/>
        </p:nvSpPr>
        <p:spPr>
          <a:xfrm rot="0" flipH="0" flipV="0">
            <a:off x="6781800" y="2171700"/>
            <a:ext cx="190500" cy="190500"/>
          </a:xfrm>
          <a:prstGeom prst="roundRect">
            <a:avLst>
              <a:gd name="adj" fmla="val 15000"/>
            </a:avLst>
          </a:prstGeom>
          <a:solidFill>
            <a:srgbClr val="546779"/>
          </a:solidFill>
          <a:ln/>
        </p:spPr>
        <p:txBody>
          <a:bodyPr/>
          <a:p/>
        </p:txBody>
      </p:sp>
      <p:sp>
        <p:nvSpPr>
          <p:cNvPr id="510" name=""/>
          <p:cNvSpPr/>
          <p:nvPr/>
        </p:nvSpPr>
        <p:spPr>
          <a:xfrm rot="0" flipH="0" flipV="0">
            <a:off x="7000875" y="2171700"/>
            <a:ext cx="190500" cy="190500"/>
          </a:xfrm>
          <a:prstGeom prst="roundRect">
            <a:avLst>
              <a:gd name="adj" fmla="val 15000"/>
            </a:avLst>
          </a:prstGeom>
          <a:solidFill>
            <a:srgbClr val="276FBF"/>
          </a:solidFill>
          <a:ln/>
        </p:spPr>
        <p:txBody>
          <a:bodyPr/>
          <a:p/>
        </p:txBody>
      </p:sp>
      <p:sp>
        <p:nvSpPr>
          <p:cNvPr id="511" name=""/>
          <p:cNvSpPr/>
          <p:nvPr/>
        </p:nvSpPr>
        <p:spPr>
          <a:xfrm rot="0" flipH="0" flipV="0">
            <a:off x="5905500" y="2390775"/>
            <a:ext cx="190500" cy="190500"/>
          </a:xfrm>
          <a:prstGeom prst="roundRect">
            <a:avLst>
              <a:gd name="adj" fmla="val 15000"/>
            </a:avLst>
          </a:prstGeom>
          <a:solidFill>
            <a:srgbClr val="276FBF"/>
          </a:solidFill>
          <a:ln/>
        </p:spPr>
        <p:txBody>
          <a:bodyPr/>
          <a:p/>
        </p:txBody>
      </p:sp>
      <p:sp>
        <p:nvSpPr>
          <p:cNvPr id="512" name=""/>
          <p:cNvSpPr/>
          <p:nvPr/>
        </p:nvSpPr>
        <p:spPr>
          <a:xfrm rot="0" flipH="0" flipV="0">
            <a:off x="6124575" y="2390775"/>
            <a:ext cx="190500" cy="190500"/>
          </a:xfrm>
          <a:prstGeom prst="roundRect">
            <a:avLst>
              <a:gd name="adj" fmla="val 15000"/>
            </a:avLst>
          </a:prstGeom>
          <a:solidFill>
            <a:srgbClr val="26816B"/>
          </a:solidFill>
          <a:ln/>
        </p:spPr>
        <p:txBody>
          <a:bodyPr/>
          <a:p/>
        </p:txBody>
      </p:sp>
      <p:sp>
        <p:nvSpPr>
          <p:cNvPr id="513" name=""/>
          <p:cNvSpPr/>
          <p:nvPr/>
        </p:nvSpPr>
        <p:spPr>
          <a:xfrm rot="0" flipH="0" flipV="0">
            <a:off x="6343650" y="2390775"/>
            <a:ext cx="190500" cy="190500"/>
          </a:xfrm>
          <a:prstGeom prst="roundRect">
            <a:avLst>
              <a:gd name="adj" fmla="val 15000"/>
            </a:avLst>
          </a:prstGeom>
          <a:solidFill>
            <a:srgbClr val="276FBF"/>
          </a:solidFill>
          <a:ln/>
        </p:spPr>
        <p:txBody>
          <a:bodyPr/>
          <a:p/>
        </p:txBody>
      </p:sp>
      <p:sp>
        <p:nvSpPr>
          <p:cNvPr id="514" name=""/>
          <p:cNvSpPr/>
          <p:nvPr/>
        </p:nvSpPr>
        <p:spPr>
          <a:xfrm rot="0" flipH="0" flipV="0">
            <a:off x="6562725" y="2390775"/>
            <a:ext cx="190500" cy="190500"/>
          </a:xfrm>
          <a:prstGeom prst="roundRect">
            <a:avLst>
              <a:gd name="adj" fmla="val 15000"/>
            </a:avLst>
          </a:prstGeom>
          <a:solidFill>
            <a:srgbClr val="26816B"/>
          </a:solidFill>
          <a:ln/>
        </p:spPr>
        <p:txBody>
          <a:bodyPr/>
          <a:p/>
        </p:txBody>
      </p:sp>
      <p:sp>
        <p:nvSpPr>
          <p:cNvPr id="515" name=""/>
          <p:cNvSpPr/>
          <p:nvPr/>
        </p:nvSpPr>
        <p:spPr>
          <a:xfrm rot="0" flipH="0" flipV="0">
            <a:off x="6781800" y="2390775"/>
            <a:ext cx="190500" cy="190500"/>
          </a:xfrm>
          <a:prstGeom prst="roundRect">
            <a:avLst>
              <a:gd name="adj" fmla="val 15000"/>
            </a:avLst>
          </a:prstGeom>
          <a:solidFill>
            <a:srgbClr val="276FBF"/>
          </a:solidFill>
          <a:ln/>
        </p:spPr>
        <p:txBody>
          <a:bodyPr/>
          <a:p/>
        </p:txBody>
      </p:sp>
      <p:sp>
        <p:nvSpPr>
          <p:cNvPr id="516" name=""/>
          <p:cNvSpPr/>
          <p:nvPr/>
        </p:nvSpPr>
        <p:spPr>
          <a:xfrm rot="0" flipH="0" flipV="0">
            <a:off x="7000875" y="2390775"/>
            <a:ext cx="190500" cy="190500"/>
          </a:xfrm>
          <a:prstGeom prst="roundRect">
            <a:avLst>
              <a:gd name="adj" fmla="val 15000"/>
            </a:avLst>
          </a:prstGeom>
          <a:solidFill>
            <a:srgbClr val="26816B"/>
          </a:solidFill>
          <a:ln/>
        </p:spPr>
        <p:txBody>
          <a:bodyPr/>
          <a:p/>
        </p:txBody>
      </p:sp>
      <p:sp>
        <p:nvSpPr>
          <p:cNvPr id="517" name="" descr="{&quot;isTemplate&quot;:true,&quot;type&quot;:&quot;text&quot;}"/>
          <p:cNvSpPr txBox="1"/>
          <p:nvPr/>
        </p:nvSpPr>
        <p:spPr>
          <a:xfrm rot="0" flipH="0" flipV="0">
            <a:off x="5362575" y="2714625"/>
            <a:ext cx="1466850" cy="238125"/>
          </a:xfrm>
          <a:prstGeom prst="rect"/>
        </p:spPr>
        <p:txBody>
          <a:bodyPr wrap="none" lIns="0" tIns="0" rIns="0" bIns="0"/>
          <a:p>
            <a:pPr algn="ctr">
              <a:lnSpc>
                <a:spcPct val="145000"/>
              </a:lnSpc>
            </a:pPr>
            <a:r>
              <a:rPr lang="zh-CN" sz="1050">
                <a:solidFill>
                  <a:srgbClr val="546779"/>
                </a:solidFill>
                <a:latin typeface="Microsoft YaHei"/>
                <a:ea typeface="Microsoft YaHei"/>
              </a:rPr>
              <a:t>换了颜色组合，规律不变</a:t>
            </a:r>
            <a:endParaRPr/>
          </a:p>
        </p:txBody>
      </p:sp>
      <p:sp>
        <p:nvSpPr>
          <p:cNvPr id="518" name=""/>
          <p:cNvSpPr/>
          <p:nvPr/>
        </p:nvSpPr>
        <p:spPr>
          <a:xfrm rot="0" flipH="0" flipV="0">
            <a:off x="8020050" y="1676400"/>
            <a:ext cx="3552825" cy="3238500"/>
          </a:xfrm>
          <a:prstGeom prst="roundRect">
            <a:avLst>
              <a:gd name="adj" fmla="val 3529"/>
            </a:avLst>
          </a:prstGeom>
          <a:solidFill>
            <a:srgbClr val="FFF4E6"/>
          </a:solidFill>
          <a:ln/>
        </p:spPr>
        <p:txBody>
          <a:bodyPr/>
          <a:p/>
        </p:txBody>
      </p:sp>
      <p:sp>
        <p:nvSpPr>
          <p:cNvPr id="519" name="" descr="{&quot;isTemplate&quot;:true,&quot;type&quot;:&quot;text&quot;}"/>
          <p:cNvSpPr txBox="1"/>
          <p:nvPr/>
        </p:nvSpPr>
        <p:spPr>
          <a:xfrm rot="0" flipH="0" flipV="0">
            <a:off x="9420225" y="1847850"/>
            <a:ext cx="762000" cy="190500"/>
          </a:xfrm>
          <a:prstGeom prst="rect"/>
        </p:spPr>
        <p:txBody>
          <a:bodyPr wrap="none" lIns="0" tIns="0" rIns="0" bIns="0"/>
          <a:p>
            <a:pPr>
              <a:lnSpc>
                <a:spcPct val="100000"/>
              </a:lnSpc>
            </a:pPr>
            <a:r>
              <a:rPr lang="zh-CN" sz="1200" b="1">
                <a:solidFill>
                  <a:srgbClr val="CB6B28"/>
                </a:solidFill>
                <a:latin typeface="Microsoft YaHei"/>
                <a:ea typeface="Microsoft YaHei"/>
              </a:rPr>
              <a:t>待解的输入</a:t>
            </a:r>
            <a:endParaRPr/>
          </a:p>
        </p:txBody>
      </p:sp>
      <p:sp>
        <p:nvSpPr>
          <p:cNvPr id="520" name=""/>
          <p:cNvSpPr/>
          <p:nvPr/>
        </p:nvSpPr>
        <p:spPr>
          <a:xfrm rot="0" flipH="0" flipV="0">
            <a:off x="8696325" y="2171700"/>
            <a:ext cx="190500" cy="190500"/>
          </a:xfrm>
          <a:prstGeom prst="roundRect">
            <a:avLst>
              <a:gd name="adj" fmla="val 15000"/>
            </a:avLst>
          </a:prstGeom>
          <a:solidFill>
            <a:srgbClr val="26816B"/>
          </a:solidFill>
          <a:ln/>
        </p:spPr>
        <p:txBody>
          <a:bodyPr/>
          <a:p/>
        </p:txBody>
      </p:sp>
      <p:sp>
        <p:nvSpPr>
          <p:cNvPr id="521" name=""/>
          <p:cNvSpPr/>
          <p:nvPr/>
        </p:nvSpPr>
        <p:spPr>
          <a:xfrm rot="0" flipH="0" flipV="0">
            <a:off x="8915400" y="2171700"/>
            <a:ext cx="190500" cy="190500"/>
          </a:xfrm>
          <a:prstGeom prst="roundRect">
            <a:avLst>
              <a:gd name="adj" fmla="val 15000"/>
            </a:avLst>
          </a:prstGeom>
          <a:solidFill>
            <a:srgbClr val="26816B"/>
          </a:solidFill>
          <a:ln/>
        </p:spPr>
        <p:txBody>
          <a:bodyPr/>
          <a:p/>
        </p:txBody>
      </p:sp>
      <p:sp>
        <p:nvSpPr>
          <p:cNvPr id="522" name=""/>
          <p:cNvSpPr/>
          <p:nvPr/>
        </p:nvSpPr>
        <p:spPr>
          <a:xfrm rot="0" flipH="0" flipV="0">
            <a:off x="8696325" y="2390775"/>
            <a:ext cx="190500" cy="190500"/>
          </a:xfrm>
          <a:prstGeom prst="roundRect">
            <a:avLst>
              <a:gd name="adj" fmla="val 15000"/>
            </a:avLst>
          </a:prstGeom>
          <a:solidFill>
            <a:srgbClr val="546779"/>
          </a:solidFill>
          <a:ln/>
        </p:spPr>
        <p:txBody>
          <a:bodyPr/>
          <a:p/>
        </p:txBody>
      </p:sp>
      <p:sp>
        <p:nvSpPr>
          <p:cNvPr id="523" name=""/>
          <p:cNvSpPr/>
          <p:nvPr/>
        </p:nvSpPr>
        <p:spPr>
          <a:xfrm rot="0" flipH="0" flipV="0">
            <a:off x="8915400" y="2390775"/>
            <a:ext cx="190500" cy="190500"/>
          </a:xfrm>
          <a:prstGeom prst="roundRect">
            <a:avLst>
              <a:gd name="adj" fmla="val 15000"/>
            </a:avLst>
          </a:prstGeom>
          <a:solidFill>
            <a:srgbClr val="276FBF"/>
          </a:solidFill>
          <a:ln/>
        </p:spPr>
        <p:txBody>
          <a:bodyPr/>
          <a:p/>
        </p:txBody>
      </p:sp>
      <p:sp>
        <p:nvSpPr>
          <p:cNvPr id="524" name="" descr="{&quot;isTemplate&quot;:true,&quot;type&quot;:&quot;text&quot;}"/>
          <p:cNvSpPr txBox="1"/>
          <p:nvPr/>
        </p:nvSpPr>
        <p:spPr>
          <a:xfrm rot="0" flipH="0" flipV="0">
            <a:off x="9315450" y="2238375"/>
            <a:ext cx="85725" cy="276225"/>
          </a:xfrm>
          <a:prstGeom prst="rect"/>
        </p:spPr>
        <p:txBody>
          <a:bodyPr wrap="none" lIns="0" tIns="0" rIns="0" bIns="0"/>
          <a:p>
            <a:pPr>
              <a:lnSpc>
                <a:spcPct val="100000"/>
              </a:lnSpc>
            </a:pPr>
            <a:r>
              <a:rPr sz="1800">
                <a:solidFill>
                  <a:srgbClr val="CB6B28"/>
                </a:solidFill>
                <a:latin typeface="Microsoft YaHei"/>
                <a:ea typeface="Microsoft YaHei"/>
              </a:rPr>
              <a:t>›</a:t>
            </a:r>
            <a:endParaRPr/>
          </a:p>
        </p:txBody>
      </p:sp>
      <p:sp>
        <p:nvSpPr>
          <p:cNvPr id="525" name=""/>
          <p:cNvSpPr/>
          <p:nvPr/>
        </p:nvSpPr>
        <p:spPr>
          <a:xfrm rot="0" flipH="0" flipV="0">
            <a:off x="9610725" y="2171700"/>
            <a:ext cx="1285875" cy="409575"/>
          </a:xfrm>
          <a:prstGeom prst="roundRect">
            <a:avLst>
              <a:gd name="adj" fmla="val 13953"/>
            </a:avLst>
          </a:prstGeom>
          <a:solidFill>
            <a:srgbClr val="FFFFFF"/>
          </a:solidFill>
          <a:ln/>
        </p:spPr>
        <p:txBody>
          <a:bodyPr/>
          <a:p/>
        </p:txBody>
      </p:sp>
      <p:sp>
        <p:nvSpPr>
          <p:cNvPr id="526" name="" descr="{&quot;isTemplate&quot;:true,&quot;type&quot;:&quot;text&quot;}"/>
          <p:cNvSpPr txBox="1"/>
          <p:nvPr/>
        </p:nvSpPr>
        <p:spPr>
          <a:xfrm rot="0" flipH="0" flipV="0">
            <a:off x="10153650" y="2247900"/>
            <a:ext cx="209550" cy="257175"/>
          </a:xfrm>
          <a:prstGeom prst="rect"/>
        </p:spPr>
        <p:txBody>
          <a:bodyPr wrap="none" lIns="0" tIns="0" rIns="0" bIns="0"/>
          <a:p>
            <a:pPr>
              <a:lnSpc>
                <a:spcPct val="100000"/>
              </a:lnSpc>
            </a:pPr>
            <a:r>
              <a:rPr lang="zh-CN" sz="1650" b="1">
                <a:solidFill>
                  <a:srgbClr val="CB6B28"/>
                </a:solidFill>
                <a:latin typeface="Microsoft YaHei"/>
                <a:ea typeface="Microsoft YaHei"/>
              </a:rPr>
              <a:t>？</a:t>
            </a:r>
            <a:endParaRPr/>
          </a:p>
        </p:txBody>
      </p:sp>
      <p:sp>
        <p:nvSpPr>
          <p:cNvPr id="527" name="" descr="{&quot;isTemplate&quot;:true,&quot;type&quot;:&quot;text&quot;}"/>
          <p:cNvSpPr txBox="1"/>
          <p:nvPr/>
        </p:nvSpPr>
        <p:spPr>
          <a:xfrm rot="0" flipH="0" flipV="0">
            <a:off x="8734425" y="2714625"/>
            <a:ext cx="2133600" cy="238125"/>
          </a:xfrm>
          <a:prstGeom prst="rect"/>
        </p:spPr>
        <p:txBody>
          <a:bodyPr wrap="none" lIns="0" tIns="0" rIns="0" bIns="0"/>
          <a:p>
            <a:pPr algn="ctr">
              <a:lnSpc>
                <a:spcPct val="145000"/>
              </a:lnSpc>
            </a:pPr>
            <a:r>
              <a:rPr lang="zh-CN" sz="1050">
                <a:solidFill>
                  <a:srgbClr val="CB6B28"/>
                </a:solidFill>
                <a:latin typeface="Microsoft YaHei"/>
                <a:ea typeface="Microsoft YaHei"/>
              </a:rPr>
              <a:t>要自己写出输出，每格必须完全对上</a:t>
            </a:r>
            <a:endParaRPr/>
          </a:p>
        </p:txBody>
      </p:sp>
      <p:sp>
        <p:nvSpPr>
          <p:cNvPr id="528" name="" descr="{&quot;isTemplate&quot;:true,&quot;type&quot;:&quot;text&quot;}"/>
          <p:cNvSpPr txBox="1"/>
          <p:nvPr/>
        </p:nvSpPr>
        <p:spPr>
          <a:xfrm rot="0" flipH="0" flipV="0">
            <a:off x="8886825" y="4591050"/>
            <a:ext cx="1819275" cy="152400"/>
          </a:xfrm>
          <a:prstGeom prst="rect"/>
        </p:spPr>
        <p:txBody>
          <a:bodyPr wrap="none" lIns="0" tIns="0" rIns="0" bIns="0"/>
          <a:p>
            <a:pPr algn="ctr">
              <a:lnSpc>
                <a:spcPct val="100000"/>
              </a:lnSpc>
            </a:pPr>
            <a:r>
              <a:rPr lang="zh-CN" sz="975">
                <a:solidFill>
                  <a:srgbClr val="546779"/>
                </a:solidFill>
                <a:latin typeface="Microsoft YaHei"/>
                <a:ea typeface="Microsoft YaHei"/>
              </a:rPr>
              <a:t>无部分分</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规则不给</a:t>
            </a:r>
            <a:r>
              <a:rPr lang="en-US" sz="975">
                <a:solidFill>
                  <a:srgbClr val="546779"/>
                </a:solidFill>
                <a:latin typeface="Microsoft YaHei"/>
                <a:ea typeface="Microsoft YaHei"/>
              </a:rPr>
              <a:t xml:space="preserve"> · </a:t>
            </a:r>
            <a:r>
              <a:rPr lang="zh-CN" sz="975">
                <a:solidFill>
                  <a:srgbClr val="546779"/>
                </a:solidFill>
                <a:latin typeface="Microsoft YaHei"/>
                <a:ea typeface="Microsoft YaHei"/>
              </a:rPr>
              <a:t>靠现场推理</a:t>
            </a:r>
            <a:endParaRPr/>
          </a:p>
        </p:txBody>
      </p:sp>
      <p:sp>
        <p:nvSpPr>
          <p:cNvPr id="529" name=""/>
          <p:cNvSpPr/>
          <p:nvPr/>
        </p:nvSpPr>
        <p:spPr>
          <a:xfrm rot="0" flipH="0" flipV="0">
            <a:off x="609600" y="5067300"/>
            <a:ext cx="10972800" cy="685800"/>
          </a:xfrm>
          <a:prstGeom prst="roundRect">
            <a:avLst>
              <a:gd name="adj" fmla="val 13889"/>
            </a:avLst>
          </a:prstGeom>
          <a:solidFill>
            <a:srgbClr val="F4F7FA"/>
          </a:solidFill>
          <a:ln/>
        </p:spPr>
        <p:txBody>
          <a:bodyPr/>
          <a:p/>
        </p:txBody>
      </p:sp>
      <p:sp>
        <p:nvSpPr>
          <p:cNvPr id="530" name=""/>
          <p:cNvSpPr/>
          <p:nvPr/>
        </p:nvSpPr>
        <p:spPr>
          <a:xfrm rot="0" flipH="0" flipV="0">
            <a:off x="819150" y="5200650"/>
            <a:ext cx="38100" cy="419100"/>
          </a:xfrm>
          <a:prstGeom prst="rect">
            <a:avLst/>
          </a:prstGeom>
          <a:solidFill>
            <a:srgbClr val="276FBF"/>
          </a:solidFill>
          <a:ln/>
        </p:spPr>
        <p:txBody>
          <a:bodyPr/>
          <a:p/>
        </p:txBody>
      </p:sp>
      <p:sp>
        <p:nvSpPr>
          <p:cNvPr id="531" name="" descr="{&quot;isTemplate&quot;:true,&quot;type&quot;:&quot;text&quot;}"/>
          <p:cNvSpPr txBox="1"/>
          <p:nvPr/>
        </p:nvSpPr>
        <p:spPr>
          <a:xfrm rot="0" flipH="0" flipV="0">
            <a:off x="1009650" y="5267325"/>
            <a:ext cx="4905375" cy="285750"/>
          </a:xfrm>
          <a:prstGeom prst="rect"/>
        </p:spPr>
        <p:txBody>
          <a:bodyPr wrap="none" lIns="0" tIns="0" rIns="0" bIns="0"/>
          <a:p>
            <a:pPr>
              <a:lnSpc>
                <a:spcPct val="155000"/>
              </a:lnSpc>
            </a:pPr>
            <a:r>
              <a:rPr lang="zh-CN" sz="1200">
                <a:solidFill>
                  <a:srgbClr val="546779"/>
                </a:solidFill>
                <a:latin typeface="Microsoft YaHei"/>
                <a:ea typeface="Microsoft YaHei"/>
              </a:rPr>
              <a:t>规则不在教科书里，也没有公开的分类表——记忆帮不上忙，只能现场推</a:t>
            </a:r>
            <a:endParaRPr/>
          </a:p>
        </p:txBody>
      </p:sp>
      <p:sp>
        <p:nvSpPr>
          <p:cNvPr id="532"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533"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22 / 36</a:t>
            </a:r>
            <a:endParaRPr/>
          </a:p>
        </p:txBody>
      </p:sp>
    </p:spTree>
  </p:cSld>
</p:sld>
</file>

<file path=ppt/slides/slide23.xml><?xml version="1.0" encoding="utf-8"?>
<p:sld xmlns:p="http://schemas.openxmlformats.org/presentationml/2006/main" xmlns:a="http://schemas.openxmlformats.org/drawingml/2006/main">
  <p:cSld>
    <p:spTree>
      <p:nvGrpSpPr>
        <p:cNvPr id="534" name="" descr="&lt;Slide notes={`看完这些题，我们把判分标准理一遍，一共四种。&#10;&#10;第一种是精确匹配。HLE 的简答题、GPQA 的选项字母都这样，答案必须和标准答案完全一致，格式写错就算零分，哪怕内容是对的。&#10;&#10;第二种是编辑相似度。DocVQA 用的就是它，把预测答案改成参考答案需要改多少字符，换算成一个接近程度。目的是避免轻微识别误差一律得零分，但字符接近不等于业务上可以接受，姓名错一个字可能就得全部重核。&#10;&#10;第三种是数值容差。ChartQA 对数值答案允许百分之五的偏差，因为从图形里估数本来就有误差。但这个容差不能搬到报名统计上：从柱高估出约两百人，和系统确认有两百零一条记录，是两件事。&#10;&#10;第四种是全对才算。SWE-bench 要求测试全过，ARC 要求每格颜色都对，没有部分分。`}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④　1.4.4　样本展示：答案对错的四种判定口径&lt;/Text&gt;&#10;            &lt;Text style={{ fontSize: 34, fontWeight: 'bold', color: '#20344B' }}&gt;答案怎么判&lt;/Text&gt;&#10;        &lt;/Box&gt;&#10;    &lt;/Box&gt;&#10;&#10;    &lt;Box style={{ height: 540, flexDirection: 'column', justifyContent: 'center', gap: 14 }}&gt;&#10;&#10;        &lt;Box style={{ width: 1152, height: 94, background: '#EDF4FC', borderRadius: 10, padding: '14px 22px', flexDirection: 'row', alignItems: 'center', gap: 16 }}&gt;&#10;            &lt;Box style={{ width: 4, height: 54, background: '#276FBF' }} /&gt;&#10;            &lt;Text style={{ width: 190, fontSize: 17, fontWeight: 'bold', color: '#20344B' }}&gt;精确匹配&lt;/Text&gt;&#10;            &lt;Text style={{ width: 882, fontSize: 15, color: '#546779', lineHeight: 1.5 }}&gt;HLE 简答、GPQA 选项字母——答案必须完全一致，格式写错即零分&lt;/Text&gt;&#10;        &lt;/Box&gt;&#10;&#10;        &lt;Box style={{ width: 1152, height: 94, background: '#EDF4FC', borderRadius: 10, padding: '14px 22px', flexDirection: 'row', alignItems: 'center', gap: 16 }}&gt;&#10;            &lt;Box style={{ width: 4, height: 54, background: '#276FBF' }} /&gt;&#10;            &lt;Text style={{ width: 190, fontSize: 17, fontWeight: 'bold', color: '#20344B' }}&gt;编辑相似度&lt;/Text&gt;&#10;            &lt;Text style={{ width: 882, fontSize: 15, color: '#546779', lineHeight: 1.5 }}&gt;DocVQA 的 ANLS——按&quot;改几个字符&quot;折算接近程度，差异过大计零分&lt;/Text&gt;&#10;        &lt;/Box&gt;&#10;&#10;        &lt;Box style={{ width: 1152, height: 94, background: '#FFF4E6', borderRadius: 10, padding: '14px 22px', flexDirection: 'row', alignItems: 'center', gap: 16 }}&gt;&#10;            &lt;Box style={{ width: 4, height: 54, background: '#CB6B28' }} /&gt;&#10;            &lt;Text style={{ width: 190, fontSize: 17, fontWeight: 'bold', color: '#CB6B28' }}&gt;数值容差&lt;/Text&gt;&#10;            &lt;Text style={{ width: 882, fontSize: 15, color: '#CB6B28', lineHeight: 1.5 }}&gt;ChartQA——数值答案允许 5% 偏差；非数值答案仍要求精确匹配&lt;/Text&gt;&#10;        &lt;/Box&gt;&#10;&#10;        &lt;Box style={{ width: 1152, height: 94, background: '#ECF7F2', borderRadius: 10, padding: '14px 22px', flexDirection: 'row', alignItems: 'center', gap: 16 }}&gt;&#10;            &lt;Box style={{ width: 4, height: 54, background: '#26816B' }} /&gt;&#10;            &lt;Text style={{ width: 190, fontSize: 17, fontWeight: 'bold', color: '#20344B' }}&gt;全对才算&lt;/Text&gt;&#10;            &lt;Text style={{ width: 882, fontSize: 15, color: '#546779', lineHeight: 1.5 }}&gt;SWE-bench 测试全过、ARC-AGI-2 每格颜色全对——没有部分分&lt;/Text&gt;&#10;        &lt;/Box&gt;&#10;&#10;        &lt;Box style={{ flexDirection: 'row', gap: 16, background: '#F7F3E8', borderRadius: 10, padding: '14px 22px', alignItems: 'center' }}&gt;&#10;            &lt;Box style={{ width: 4, height: 44, background: '#276FBF' }} /&gt;&#10;            &lt;Text style={{ fontSize: 16, color: '#546779', lineHeight: 1.55 }}&gt;口径不同，同一份作答会有不同结果；引用成绩时必须写明用的是哪一种&lt;/Text&gt;&#10;        &lt;/Box&gt;&#10;&#10;    &lt;/Box&gt;&#10;&#10;    &lt;Box style={{ height: 40, flexDirection: 'row', justifyContent: 'space-between', alignItems: 'center' }}&gt;&#10;        &lt;Text style={{ fontSize: 14, color: '#546779' }}&gt;1.4 从榜单到证据&lt;/Text&gt;&#10;        &lt;Text style={{ fontSize: 14, color: '#546779' }}&gt;23 / 36&lt;/Text&gt;&#10;    &lt;/Box&gt;&#10;&#10;&lt;/Slide&gt;&#10;"/>
        <p:cNvGrpSpPr/>
        <p:nvPr/>
      </p:nvGrpSpPr>
      <p:grpSpPr>
        <a:xfrm>
          <a:off x="0" y="0"/>
          <a:ext cx="0" cy="0"/>
          <a:chOff x="0" y="0"/>
          <a:chExt cx="0" cy="0"/>
        </a:xfrm>
      </p:grpSpPr>
      <p:sp>
        <p:nvSpPr>
          <p:cNvPr id="535" name=""/>
          <p:cNvSpPr/>
          <p:nvPr/>
        </p:nvSpPr>
        <p:spPr>
          <a:xfrm rot="0" flipH="0" flipV="0">
            <a:off x="0" y="0"/>
            <a:ext cx="12192000" cy="6858000"/>
          </a:xfrm>
          <a:prstGeom prst="rect">
            <a:avLst/>
          </a:prstGeom>
          <a:solidFill>
            <a:srgbClr val="FFFFFF"/>
          </a:solidFill>
          <a:ln/>
        </p:spPr>
        <p:txBody>
          <a:bodyPr/>
          <a:p/>
        </p:txBody>
      </p:sp>
      <p:sp>
        <p:nvSpPr>
          <p:cNvPr id="536" name=""/>
          <p:cNvSpPr/>
          <p:nvPr/>
        </p:nvSpPr>
        <p:spPr>
          <a:xfrm rot="0" flipH="0" flipV="0">
            <a:off x="609600" y="457200"/>
            <a:ext cx="38100" cy="419100"/>
          </a:xfrm>
          <a:prstGeom prst="rect">
            <a:avLst/>
          </a:prstGeom>
          <a:solidFill>
            <a:srgbClr val="276FBF"/>
          </a:solidFill>
          <a:ln/>
        </p:spPr>
        <p:txBody>
          <a:bodyPr/>
          <a:p/>
        </p:txBody>
      </p:sp>
      <p:sp>
        <p:nvSpPr>
          <p:cNvPr id="537" name="" descr="{&quot;isTemplate&quot;:true,&quot;type&quot;:&quot;text&quot;}"/>
          <p:cNvSpPr txBox="1"/>
          <p:nvPr/>
        </p:nvSpPr>
        <p:spPr>
          <a:xfrm rot="0" flipH="0" flipV="0">
            <a:off x="838200" y="371475"/>
            <a:ext cx="2838450" cy="161925"/>
          </a:xfrm>
          <a:prstGeom prst="rect"/>
        </p:spPr>
        <p:txBody>
          <a:bodyPr wrap="none" lIns="0" tIns="0" rIns="0" bIns="0"/>
          <a:p>
            <a:pPr>
              <a:lnSpc>
                <a:spcPct val="100000"/>
              </a:lnSpc>
            </a:pPr>
            <a:r>
              <a:rPr lang="zh-CN" sz="1050">
                <a:solidFill>
                  <a:srgbClr val="546779"/>
                </a:solidFill>
                <a:latin typeface="Microsoft YaHei"/>
                <a:ea typeface="Microsoft YaHei"/>
              </a:rPr>
              <a:t>④　</a:t>
            </a:r>
            <a:r>
              <a:rPr lang="en-US" sz="1050">
                <a:solidFill>
                  <a:srgbClr val="546779"/>
                </a:solidFill>
                <a:latin typeface="Microsoft YaHei"/>
                <a:ea typeface="Microsoft YaHei"/>
              </a:rPr>
              <a:t>1.4.4</a:t>
            </a:r>
            <a:r>
              <a:rPr lang="zh-CN" sz="1050">
                <a:solidFill>
                  <a:srgbClr val="546779"/>
                </a:solidFill>
                <a:latin typeface="Microsoft YaHei"/>
                <a:ea typeface="Microsoft YaHei"/>
              </a:rPr>
              <a:t>　样本展示：答案对错的四种判定口径</a:t>
            </a:r>
            <a:endParaRPr/>
          </a:p>
        </p:txBody>
      </p:sp>
      <p:sp>
        <p:nvSpPr>
          <p:cNvPr id="538" name="" descr="{&quot;isTemplate&quot;:true,&quot;type&quot;:&quot;text&quot;}"/>
          <p:cNvSpPr txBox="1"/>
          <p:nvPr/>
        </p:nvSpPr>
        <p:spPr>
          <a:xfrm rot="0" flipH="0" flipV="0">
            <a:off x="838200" y="571500"/>
            <a:ext cx="2838450" cy="390525"/>
          </a:xfrm>
          <a:prstGeom prst="rect"/>
        </p:spPr>
        <p:txBody>
          <a:bodyPr wrap="none" lIns="0" tIns="0" rIns="0" bIns="0"/>
          <a:p>
            <a:pPr>
              <a:lnSpc>
                <a:spcPct val="100000"/>
              </a:lnSpc>
            </a:pPr>
            <a:r>
              <a:rPr lang="zh-CN" sz="2550" b="1">
                <a:solidFill>
                  <a:srgbClr val="20344B"/>
                </a:solidFill>
                <a:latin typeface="Microsoft YaHei"/>
                <a:ea typeface="Microsoft YaHei"/>
              </a:rPr>
              <a:t>答案怎么判</a:t>
            </a:r>
            <a:endParaRPr/>
          </a:p>
        </p:txBody>
      </p:sp>
      <p:sp>
        <p:nvSpPr>
          <p:cNvPr id="539" name=""/>
          <p:cNvSpPr/>
          <p:nvPr/>
        </p:nvSpPr>
        <p:spPr>
          <a:xfrm rot="0" flipH="0" flipV="0">
            <a:off x="609600" y="1314450"/>
            <a:ext cx="10972800" cy="895350"/>
          </a:xfrm>
          <a:prstGeom prst="roundRect">
            <a:avLst>
              <a:gd name="adj" fmla="val 10638"/>
            </a:avLst>
          </a:prstGeom>
          <a:solidFill>
            <a:srgbClr val="EDF4FC"/>
          </a:solidFill>
          <a:ln/>
        </p:spPr>
        <p:txBody>
          <a:bodyPr/>
          <a:p/>
        </p:txBody>
      </p:sp>
      <p:sp>
        <p:nvSpPr>
          <p:cNvPr id="540" name=""/>
          <p:cNvSpPr/>
          <p:nvPr/>
        </p:nvSpPr>
        <p:spPr>
          <a:xfrm rot="0" flipH="0" flipV="0">
            <a:off x="819150" y="1504950"/>
            <a:ext cx="38100" cy="514350"/>
          </a:xfrm>
          <a:prstGeom prst="rect">
            <a:avLst/>
          </a:prstGeom>
          <a:solidFill>
            <a:srgbClr val="276FBF"/>
          </a:solidFill>
          <a:ln/>
        </p:spPr>
        <p:txBody>
          <a:bodyPr/>
          <a:p/>
        </p:txBody>
      </p:sp>
      <p:sp>
        <p:nvSpPr>
          <p:cNvPr id="541" name="" descr="{&quot;isTemplate&quot;:true,&quot;type&quot;:&quot;text&quot;}"/>
          <p:cNvSpPr txBox="1"/>
          <p:nvPr/>
        </p:nvSpPr>
        <p:spPr>
          <a:xfrm rot="0" flipH="0" flipV="0">
            <a:off x="1009650" y="1666875"/>
            <a:ext cx="1809750" cy="200025"/>
          </a:xfrm>
          <a:prstGeom prst="rect"/>
        </p:spPr>
        <p:txBody>
          <a:bodyPr wrap="none" lIns="0" tIns="0" rIns="0" bIns="0"/>
          <a:p>
            <a:pPr>
              <a:lnSpc>
                <a:spcPct val="100000"/>
              </a:lnSpc>
            </a:pPr>
            <a:r>
              <a:rPr lang="zh-CN" sz="1275" b="1">
                <a:solidFill>
                  <a:srgbClr val="20344B"/>
                </a:solidFill>
                <a:latin typeface="Microsoft YaHei"/>
                <a:ea typeface="Microsoft YaHei"/>
              </a:rPr>
              <a:t>精确匹配</a:t>
            </a:r>
            <a:endParaRPr/>
          </a:p>
        </p:txBody>
      </p:sp>
      <p:sp>
        <p:nvSpPr>
          <p:cNvPr id="542" name="" descr="{&quot;isTemplate&quot;:true,&quot;type&quot;:&quot;text&quot;}"/>
          <p:cNvSpPr txBox="1"/>
          <p:nvPr/>
        </p:nvSpPr>
        <p:spPr>
          <a:xfrm rot="0" flipH="0" flipV="0">
            <a:off x="2971800" y="1638300"/>
            <a:ext cx="8401050" cy="257175"/>
          </a:xfrm>
          <a:prstGeom prst="rect"/>
        </p:spPr>
        <p:txBody>
          <a:bodyPr wrap="none" lIns="0" tIns="0" rIns="0" bIns="0"/>
          <a:p>
            <a:pPr>
              <a:lnSpc>
                <a:spcPct val="150000"/>
              </a:lnSpc>
            </a:pPr>
            <a:r>
              <a:rPr lang="en-US" sz="1125">
                <a:solidFill>
                  <a:srgbClr val="546779"/>
                </a:solidFill>
                <a:latin typeface="Microsoft YaHei"/>
                <a:ea typeface="Microsoft YaHei"/>
              </a:rPr>
              <a:t xml:space="preserve">HLE </a:t>
            </a:r>
            <a:r>
              <a:rPr lang="zh-CN" sz="1125">
                <a:solidFill>
                  <a:srgbClr val="546779"/>
                </a:solidFill>
                <a:latin typeface="Microsoft YaHei"/>
                <a:ea typeface="Microsoft YaHei"/>
              </a:rPr>
              <a:t>简答、</a:t>
            </a:r>
            <a:r>
              <a:rPr lang="en-US" sz="1125">
                <a:solidFill>
                  <a:srgbClr val="546779"/>
                </a:solidFill>
                <a:latin typeface="Microsoft YaHei"/>
                <a:ea typeface="Microsoft YaHei"/>
              </a:rPr>
              <a:t xml:space="preserve">GPQA </a:t>
            </a:r>
            <a:r>
              <a:rPr lang="zh-CN" sz="1125">
                <a:solidFill>
                  <a:srgbClr val="546779"/>
                </a:solidFill>
                <a:latin typeface="Microsoft YaHei"/>
                <a:ea typeface="Microsoft YaHei"/>
              </a:rPr>
              <a:t>选项字母——答案必须完全一致，格式写错即零分</a:t>
            </a:r>
            <a:endParaRPr/>
          </a:p>
        </p:txBody>
      </p:sp>
      <p:sp>
        <p:nvSpPr>
          <p:cNvPr id="543" name=""/>
          <p:cNvSpPr/>
          <p:nvPr/>
        </p:nvSpPr>
        <p:spPr>
          <a:xfrm rot="0" flipH="0" flipV="0">
            <a:off x="609600" y="2343150"/>
            <a:ext cx="10972800" cy="895350"/>
          </a:xfrm>
          <a:prstGeom prst="roundRect">
            <a:avLst>
              <a:gd name="adj" fmla="val 10638"/>
            </a:avLst>
          </a:prstGeom>
          <a:solidFill>
            <a:srgbClr val="EDF4FC"/>
          </a:solidFill>
          <a:ln/>
        </p:spPr>
        <p:txBody>
          <a:bodyPr/>
          <a:p/>
        </p:txBody>
      </p:sp>
      <p:sp>
        <p:nvSpPr>
          <p:cNvPr id="544" name=""/>
          <p:cNvSpPr/>
          <p:nvPr/>
        </p:nvSpPr>
        <p:spPr>
          <a:xfrm rot="0" flipH="0" flipV="0">
            <a:off x="819150" y="2533650"/>
            <a:ext cx="38100" cy="514350"/>
          </a:xfrm>
          <a:prstGeom prst="rect">
            <a:avLst/>
          </a:prstGeom>
          <a:solidFill>
            <a:srgbClr val="276FBF"/>
          </a:solidFill>
          <a:ln/>
        </p:spPr>
        <p:txBody>
          <a:bodyPr/>
          <a:p/>
        </p:txBody>
      </p:sp>
      <p:sp>
        <p:nvSpPr>
          <p:cNvPr id="545" name="" descr="{&quot;isTemplate&quot;:true,&quot;type&quot;:&quot;text&quot;}"/>
          <p:cNvSpPr txBox="1"/>
          <p:nvPr/>
        </p:nvSpPr>
        <p:spPr>
          <a:xfrm rot="0" flipH="0" flipV="0">
            <a:off x="1009650" y="2695575"/>
            <a:ext cx="1809750" cy="200025"/>
          </a:xfrm>
          <a:prstGeom prst="rect"/>
        </p:spPr>
        <p:txBody>
          <a:bodyPr wrap="none" lIns="0" tIns="0" rIns="0" bIns="0"/>
          <a:p>
            <a:pPr>
              <a:lnSpc>
                <a:spcPct val="100000"/>
              </a:lnSpc>
            </a:pPr>
            <a:r>
              <a:rPr lang="zh-CN" sz="1275" b="1">
                <a:solidFill>
                  <a:srgbClr val="20344B"/>
                </a:solidFill>
                <a:latin typeface="Microsoft YaHei"/>
                <a:ea typeface="Microsoft YaHei"/>
              </a:rPr>
              <a:t>编辑相似度</a:t>
            </a:r>
            <a:endParaRPr/>
          </a:p>
        </p:txBody>
      </p:sp>
      <p:sp>
        <p:nvSpPr>
          <p:cNvPr id="546" name="" descr="{&quot;isTemplate&quot;:true,&quot;type&quot;:&quot;text&quot;}"/>
          <p:cNvSpPr txBox="1"/>
          <p:nvPr/>
        </p:nvSpPr>
        <p:spPr>
          <a:xfrm rot="0" flipH="0" flipV="0">
            <a:off x="2971800" y="2667000"/>
            <a:ext cx="8401050" cy="257175"/>
          </a:xfrm>
          <a:prstGeom prst="rect"/>
        </p:spPr>
        <p:txBody>
          <a:bodyPr wrap="none" lIns="0" tIns="0" rIns="0" bIns="0"/>
          <a:p>
            <a:pPr>
              <a:lnSpc>
                <a:spcPct val="150000"/>
              </a:lnSpc>
            </a:pPr>
            <a:r>
              <a:rPr lang="en-US" sz="1125">
                <a:solidFill>
                  <a:srgbClr val="546779"/>
                </a:solidFill>
                <a:latin typeface="Microsoft YaHei"/>
                <a:ea typeface="Microsoft YaHei"/>
              </a:rPr>
              <a:t xml:space="preserve">DocVQA </a:t>
            </a:r>
            <a:r>
              <a:rPr lang="zh-CN" sz="1125">
                <a:solidFill>
                  <a:srgbClr val="546779"/>
                </a:solidFill>
                <a:latin typeface="Microsoft YaHei"/>
                <a:ea typeface="Microsoft YaHei"/>
              </a:rPr>
              <a:t>的</a:t>
            </a:r>
            <a:r>
              <a:rPr lang="en-US" sz="1125">
                <a:solidFill>
                  <a:srgbClr val="546779"/>
                </a:solidFill>
                <a:latin typeface="Microsoft YaHei"/>
                <a:ea typeface="Microsoft YaHei"/>
              </a:rPr>
              <a:t xml:space="preserve"> ANLS——</a:t>
            </a:r>
            <a:r>
              <a:rPr lang="zh-CN" sz="1125">
                <a:solidFill>
                  <a:srgbClr val="546779"/>
                </a:solidFill>
                <a:latin typeface="Microsoft YaHei"/>
                <a:ea typeface="Microsoft YaHei"/>
              </a:rPr>
              <a:t>按</a:t>
            </a:r>
            <a:r>
              <a:rPr lang="en-US" sz="1125">
                <a:solidFill>
                  <a:srgbClr val="546779"/>
                </a:solidFill>
                <a:latin typeface="Microsoft YaHei"/>
                <a:ea typeface="Microsoft YaHei"/>
              </a:rPr>
              <a:t>"</a:t>
            </a:r>
            <a:r>
              <a:rPr lang="zh-CN" sz="1125">
                <a:solidFill>
                  <a:srgbClr val="546779"/>
                </a:solidFill>
                <a:latin typeface="Microsoft YaHei"/>
                <a:ea typeface="Microsoft YaHei"/>
              </a:rPr>
              <a:t>改几个字符</a:t>
            </a:r>
            <a:r>
              <a:rPr lang="en-US" sz="1125">
                <a:solidFill>
                  <a:srgbClr val="546779"/>
                </a:solidFill>
                <a:latin typeface="Microsoft YaHei"/>
                <a:ea typeface="Microsoft YaHei"/>
              </a:rPr>
              <a:t>"</a:t>
            </a:r>
            <a:r>
              <a:rPr lang="zh-CN" sz="1125">
                <a:solidFill>
                  <a:srgbClr val="546779"/>
                </a:solidFill>
                <a:latin typeface="Microsoft YaHei"/>
                <a:ea typeface="Microsoft YaHei"/>
              </a:rPr>
              <a:t>折算接近程度，差异过大计零分</a:t>
            </a:r>
            <a:endParaRPr/>
          </a:p>
        </p:txBody>
      </p:sp>
      <p:sp>
        <p:nvSpPr>
          <p:cNvPr id="547" name=""/>
          <p:cNvSpPr/>
          <p:nvPr/>
        </p:nvSpPr>
        <p:spPr>
          <a:xfrm rot="0" flipH="0" flipV="0">
            <a:off x="609600" y="3371850"/>
            <a:ext cx="10972800" cy="895350"/>
          </a:xfrm>
          <a:prstGeom prst="roundRect">
            <a:avLst>
              <a:gd name="adj" fmla="val 10638"/>
            </a:avLst>
          </a:prstGeom>
          <a:solidFill>
            <a:srgbClr val="FFF4E6"/>
          </a:solidFill>
          <a:ln/>
        </p:spPr>
        <p:txBody>
          <a:bodyPr/>
          <a:p/>
        </p:txBody>
      </p:sp>
      <p:sp>
        <p:nvSpPr>
          <p:cNvPr id="548" name=""/>
          <p:cNvSpPr/>
          <p:nvPr/>
        </p:nvSpPr>
        <p:spPr>
          <a:xfrm rot="0" flipH="0" flipV="0">
            <a:off x="819150" y="3562350"/>
            <a:ext cx="38100" cy="514350"/>
          </a:xfrm>
          <a:prstGeom prst="rect">
            <a:avLst/>
          </a:prstGeom>
          <a:solidFill>
            <a:srgbClr val="CB6B28"/>
          </a:solidFill>
          <a:ln/>
        </p:spPr>
        <p:txBody>
          <a:bodyPr/>
          <a:p/>
        </p:txBody>
      </p:sp>
      <p:sp>
        <p:nvSpPr>
          <p:cNvPr id="549" name="" descr="{&quot;isTemplate&quot;:true,&quot;type&quot;:&quot;text&quot;}"/>
          <p:cNvSpPr txBox="1"/>
          <p:nvPr/>
        </p:nvSpPr>
        <p:spPr>
          <a:xfrm rot="0" flipH="0" flipV="0">
            <a:off x="1009650" y="3724275"/>
            <a:ext cx="1809750" cy="200025"/>
          </a:xfrm>
          <a:prstGeom prst="rect"/>
        </p:spPr>
        <p:txBody>
          <a:bodyPr wrap="none" lIns="0" tIns="0" rIns="0" bIns="0"/>
          <a:p>
            <a:pPr>
              <a:lnSpc>
                <a:spcPct val="100000"/>
              </a:lnSpc>
            </a:pPr>
            <a:r>
              <a:rPr lang="zh-CN" sz="1275" b="1">
                <a:solidFill>
                  <a:srgbClr val="CB6B28"/>
                </a:solidFill>
                <a:latin typeface="Microsoft YaHei"/>
                <a:ea typeface="Microsoft YaHei"/>
              </a:rPr>
              <a:t>数值容差</a:t>
            </a:r>
            <a:endParaRPr/>
          </a:p>
        </p:txBody>
      </p:sp>
      <p:sp>
        <p:nvSpPr>
          <p:cNvPr id="550" name="" descr="{&quot;isTemplate&quot;:true,&quot;type&quot;:&quot;text&quot;}"/>
          <p:cNvSpPr txBox="1"/>
          <p:nvPr/>
        </p:nvSpPr>
        <p:spPr>
          <a:xfrm rot="0" flipH="0" flipV="0">
            <a:off x="2971800" y="3695700"/>
            <a:ext cx="8401050" cy="257175"/>
          </a:xfrm>
          <a:prstGeom prst="rect"/>
        </p:spPr>
        <p:txBody>
          <a:bodyPr wrap="none" lIns="0" tIns="0" rIns="0" bIns="0"/>
          <a:p>
            <a:pPr>
              <a:lnSpc>
                <a:spcPct val="150000"/>
              </a:lnSpc>
            </a:pPr>
            <a:r>
              <a:rPr lang="en-US" sz="1125">
                <a:solidFill>
                  <a:srgbClr val="CB6B28"/>
                </a:solidFill>
                <a:latin typeface="Microsoft YaHei"/>
                <a:ea typeface="Microsoft YaHei"/>
              </a:rPr>
              <a:t>ChartQA——</a:t>
            </a:r>
            <a:r>
              <a:rPr lang="zh-CN" sz="1125">
                <a:solidFill>
                  <a:srgbClr val="CB6B28"/>
                </a:solidFill>
                <a:latin typeface="Microsoft YaHei"/>
                <a:ea typeface="Microsoft YaHei"/>
              </a:rPr>
              <a:t>数值答案允许</a:t>
            </a:r>
            <a:r>
              <a:rPr lang="en-US" sz="1125">
                <a:solidFill>
                  <a:srgbClr val="CB6B28"/>
                </a:solidFill>
                <a:latin typeface="Microsoft YaHei"/>
                <a:ea typeface="Microsoft YaHei"/>
              </a:rPr>
              <a:t xml:space="preserve"> 5% </a:t>
            </a:r>
            <a:r>
              <a:rPr lang="zh-CN" sz="1125">
                <a:solidFill>
                  <a:srgbClr val="CB6B28"/>
                </a:solidFill>
                <a:latin typeface="Microsoft YaHei"/>
                <a:ea typeface="Microsoft YaHei"/>
              </a:rPr>
              <a:t>偏差；非数值答案仍要求精确匹配</a:t>
            </a:r>
            <a:endParaRPr/>
          </a:p>
        </p:txBody>
      </p:sp>
      <p:sp>
        <p:nvSpPr>
          <p:cNvPr id="551" name=""/>
          <p:cNvSpPr/>
          <p:nvPr/>
        </p:nvSpPr>
        <p:spPr>
          <a:xfrm rot="0" flipH="0" flipV="0">
            <a:off x="609600" y="4400550"/>
            <a:ext cx="10972800" cy="895350"/>
          </a:xfrm>
          <a:prstGeom prst="roundRect">
            <a:avLst>
              <a:gd name="adj" fmla="val 10638"/>
            </a:avLst>
          </a:prstGeom>
          <a:solidFill>
            <a:srgbClr val="ECF7F2"/>
          </a:solidFill>
          <a:ln/>
        </p:spPr>
        <p:txBody>
          <a:bodyPr/>
          <a:p/>
        </p:txBody>
      </p:sp>
      <p:sp>
        <p:nvSpPr>
          <p:cNvPr id="552" name=""/>
          <p:cNvSpPr/>
          <p:nvPr/>
        </p:nvSpPr>
        <p:spPr>
          <a:xfrm rot="0" flipH="0" flipV="0">
            <a:off x="819150" y="4591050"/>
            <a:ext cx="38100" cy="514350"/>
          </a:xfrm>
          <a:prstGeom prst="rect">
            <a:avLst/>
          </a:prstGeom>
          <a:solidFill>
            <a:srgbClr val="26816B"/>
          </a:solidFill>
          <a:ln/>
        </p:spPr>
        <p:txBody>
          <a:bodyPr/>
          <a:p/>
        </p:txBody>
      </p:sp>
      <p:sp>
        <p:nvSpPr>
          <p:cNvPr id="553" name="" descr="{&quot;isTemplate&quot;:true,&quot;type&quot;:&quot;text&quot;}"/>
          <p:cNvSpPr txBox="1"/>
          <p:nvPr/>
        </p:nvSpPr>
        <p:spPr>
          <a:xfrm rot="0" flipH="0" flipV="0">
            <a:off x="1009650" y="4752975"/>
            <a:ext cx="1809750" cy="200025"/>
          </a:xfrm>
          <a:prstGeom prst="rect"/>
        </p:spPr>
        <p:txBody>
          <a:bodyPr wrap="none" lIns="0" tIns="0" rIns="0" bIns="0"/>
          <a:p>
            <a:pPr>
              <a:lnSpc>
                <a:spcPct val="100000"/>
              </a:lnSpc>
            </a:pPr>
            <a:r>
              <a:rPr lang="zh-CN" sz="1275" b="1">
                <a:solidFill>
                  <a:srgbClr val="20344B"/>
                </a:solidFill>
                <a:latin typeface="Microsoft YaHei"/>
                <a:ea typeface="Microsoft YaHei"/>
              </a:rPr>
              <a:t>全对才算</a:t>
            </a:r>
            <a:endParaRPr/>
          </a:p>
        </p:txBody>
      </p:sp>
      <p:sp>
        <p:nvSpPr>
          <p:cNvPr id="554" name="" descr="{&quot;isTemplate&quot;:true,&quot;type&quot;:&quot;text&quot;}"/>
          <p:cNvSpPr txBox="1"/>
          <p:nvPr/>
        </p:nvSpPr>
        <p:spPr>
          <a:xfrm rot="0" flipH="0" flipV="0">
            <a:off x="2971800" y="4724400"/>
            <a:ext cx="8401050" cy="257175"/>
          </a:xfrm>
          <a:prstGeom prst="rect"/>
        </p:spPr>
        <p:txBody>
          <a:bodyPr wrap="none" lIns="0" tIns="0" rIns="0" bIns="0"/>
          <a:p>
            <a:pPr>
              <a:lnSpc>
                <a:spcPct val="150000"/>
              </a:lnSpc>
            </a:pPr>
            <a:r>
              <a:rPr lang="en-US" sz="1125">
                <a:solidFill>
                  <a:srgbClr val="546779"/>
                </a:solidFill>
                <a:latin typeface="Microsoft YaHei"/>
                <a:ea typeface="Microsoft YaHei"/>
              </a:rPr>
              <a:t xml:space="preserve">SWE-bench </a:t>
            </a:r>
            <a:r>
              <a:rPr lang="zh-CN" sz="1125">
                <a:solidFill>
                  <a:srgbClr val="546779"/>
                </a:solidFill>
                <a:latin typeface="Microsoft YaHei"/>
                <a:ea typeface="Microsoft YaHei"/>
              </a:rPr>
              <a:t>测试全过、</a:t>
            </a:r>
            <a:r>
              <a:rPr lang="en-US" sz="1125">
                <a:solidFill>
                  <a:srgbClr val="546779"/>
                </a:solidFill>
                <a:latin typeface="Microsoft YaHei"/>
                <a:ea typeface="Microsoft YaHei"/>
              </a:rPr>
              <a:t xml:space="preserve">ARC-AGI-2 </a:t>
            </a:r>
            <a:r>
              <a:rPr lang="zh-CN" sz="1125">
                <a:solidFill>
                  <a:srgbClr val="546779"/>
                </a:solidFill>
                <a:latin typeface="Microsoft YaHei"/>
                <a:ea typeface="Microsoft YaHei"/>
              </a:rPr>
              <a:t>每格颜色全对——没有部分分</a:t>
            </a:r>
            <a:endParaRPr/>
          </a:p>
        </p:txBody>
      </p:sp>
      <p:sp>
        <p:nvSpPr>
          <p:cNvPr id="555" name=""/>
          <p:cNvSpPr/>
          <p:nvPr/>
        </p:nvSpPr>
        <p:spPr>
          <a:xfrm rot="0" flipH="0" flipV="0">
            <a:off x="609600" y="5429250"/>
            <a:ext cx="10972800" cy="685800"/>
          </a:xfrm>
          <a:prstGeom prst="roundRect">
            <a:avLst>
              <a:gd name="adj" fmla="val 13889"/>
            </a:avLst>
          </a:prstGeom>
          <a:solidFill>
            <a:srgbClr val="F7F3E8"/>
          </a:solidFill>
          <a:ln/>
        </p:spPr>
        <p:txBody>
          <a:bodyPr/>
          <a:p/>
        </p:txBody>
      </p:sp>
      <p:sp>
        <p:nvSpPr>
          <p:cNvPr id="556" name=""/>
          <p:cNvSpPr/>
          <p:nvPr/>
        </p:nvSpPr>
        <p:spPr>
          <a:xfrm rot="0" flipH="0" flipV="0">
            <a:off x="819150" y="5562600"/>
            <a:ext cx="38100" cy="419100"/>
          </a:xfrm>
          <a:prstGeom prst="rect">
            <a:avLst/>
          </a:prstGeom>
          <a:solidFill>
            <a:srgbClr val="276FBF"/>
          </a:solidFill>
          <a:ln/>
        </p:spPr>
        <p:txBody>
          <a:bodyPr/>
          <a:p/>
        </p:txBody>
      </p:sp>
      <p:sp>
        <p:nvSpPr>
          <p:cNvPr id="557" name="" descr="{&quot;isTemplate&quot;:true,&quot;type&quot;:&quot;text&quot;}"/>
          <p:cNvSpPr txBox="1"/>
          <p:nvPr/>
        </p:nvSpPr>
        <p:spPr>
          <a:xfrm rot="0" flipH="0" flipV="0">
            <a:off x="1009650" y="5629275"/>
            <a:ext cx="4876800" cy="285750"/>
          </a:xfrm>
          <a:prstGeom prst="rect"/>
        </p:spPr>
        <p:txBody>
          <a:bodyPr wrap="none" lIns="0" tIns="0" rIns="0" bIns="0"/>
          <a:p>
            <a:pPr>
              <a:lnSpc>
                <a:spcPct val="155000"/>
              </a:lnSpc>
            </a:pPr>
            <a:r>
              <a:rPr lang="zh-CN" sz="1200">
                <a:solidFill>
                  <a:srgbClr val="546779"/>
                </a:solidFill>
                <a:latin typeface="Microsoft YaHei"/>
                <a:ea typeface="Microsoft YaHei"/>
              </a:rPr>
              <a:t>口径不同，同一份作答会有不同结果；引用成绩时必须写明用的是哪一种</a:t>
            </a:r>
            <a:endParaRPr/>
          </a:p>
        </p:txBody>
      </p:sp>
      <p:sp>
        <p:nvSpPr>
          <p:cNvPr id="558"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559"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23 / 36</a:t>
            </a:r>
            <a:endParaRPr/>
          </a:p>
        </p:txBody>
      </p:sp>
    </p:spTree>
  </p:cSld>
</p:sld>
</file>

<file path=ppt/slides/slide24.xml><?xml version="1.0" encoding="utf-8"?>
<p:sld xmlns:p="http://schemas.openxmlformats.org/presentationml/2006/main" xmlns:a="http://schemas.openxmlformats.org/drawingml/2006/main">
  <p:cSld>
    <p:spTree>
      <p:nvGrpSpPr>
        <p:cNvPr id="560" name="" descr="&lt;Slide notes={`看完这五组题，我想强调一个共同点：题面本身就是评分契约。&#10;&#10;第一条，规则可能藏在例子里。ARC 那道题，只给了输入输出的对照，规则一个字都没说，要你自己看出来。这意味着模型必须真的理解，而不是检索。&#10;&#10;第二条，答案形式写在题面里。HLE 那道解剖题明确说只写一个数字；GPQA 要求答案以固定格式结尾。这些格式要求不是装饰，是判分的一部分，写错就算错。&#10;&#10;第三条，很多题没有部分分。ARC 差一格就是零分，SWE-bench 只要有一组测试没过就是没解决。这和真实交付很像：交付一份文件，不能因为十项里对了九项就算完成。&#10;&#10;这三条对我们的启发是，给模型设计验收条件时，也要先把答案该长什么样、由谁检查、什么算通过写清楚，再动手测。`}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④　1.4.4　样本展示：从题面反推验收条件&lt;/Text&gt;&#10;            &lt;Text style={{ fontSize: 34, fontWeight: 'bold', color: '#20344B' }}&gt;题目即评分契约&lt;/Text&gt;&#10;        &lt;/Box&gt;&#10;    &lt;/Box&gt;&#10;&#10;    &lt;Box style={{ height: 540, flexDirection: 'column', justifyContent: 'center' }}&gt;&#10;&#10;        &lt;Box style={{ flexDirection: 'row', gap: 28, alignItems: 'flex-start' }}&gt;&#10;&#10;            &lt;Box style={{ width: 660, flexDirection: 'column', gap: 16 }}&gt;&#10;&#10;                &lt;Box style={{ width: 660, height: 128, background: '#EDF4FC', borderRadius: 10, padding: '16px 20px', flexDirection: 'row', alignItems: 'center', gap: 16 }}&gt;&#10;                    &lt;Box style={{ width: 4, height: 66, background: '#276FBF' }} /&gt;&#10;                    &lt;Box style={{ flexDirection: 'column', gap: 6 }}&gt;&#10;                        &lt;Text style={{ fontSize: 18, fontWeight: 'bold', color: '#20344B' }}&gt;规则可以藏在例子里&lt;/Text&gt;&#10;                        &lt;Text style={{ fontSize: 15, color: '#546779', lineHeight: 1.5 }}&gt;ARC 只给输入输出对照，规则一个字不写，要自己推出来——检索帮不上忙&lt;/Text&gt;&#10;                    &lt;/Box&gt;&#10;                &lt;/Box&gt;&#10;&#10;                &lt;Box style={{ width: 660, height: 128, background: '#EDF4FC', borderRadius: 10, padding: '16px 20px', flexDirection: 'row', alignItems: 'center', gap: 16 }}&gt;&#10;                    &lt;Box style={{ width: 4, height: 66, background: '#276FBF' }} /&gt;&#10;                    &lt;Box style={{ flexDirection: 'column', gap: 6 }}&gt;&#10;                        &lt;Text style={{ fontSize: 18, fontWeight: 'bold', color: '#20344B' }}&gt;答案形式写在题面里&lt;/Text&gt;&#10;                        &lt;Text style={{ fontSize: 15, color: '#546779', lineHeight: 1.5 }}&gt;HLE 明确要求&quot;只写一个数字&quot;、GPQA 要求以固定格式结尾，格式属于判分的一部分&lt;/Text&gt;&#10;                    &lt;/Box&gt;&#10;                &lt;/Box&gt;&#10;&#10;                &lt;Box style={{ width: 660, height: 128, background: '#ECF7F2', borderRadius: 10, padding: '16px 20px', flexDirection: 'row', alignItems: 'center', gap: 16 }}&gt;&#10;                    &lt;Box style={{ width: 4, height: 66, background: '#26816B' }} /&gt;&#10;                    &lt;Box style={{ flexDirection: 'column', gap: 6 }}&gt;&#10;                        &lt;Text style={{ fontSize: 18, fontWeight: 'bold', color: '#20344B' }}&gt;很多题没有部分分&lt;/Text&gt;&#10;                        &lt;Text style={{ fontSize: 15, color: '#546779', lineHeight: 1.5 }}&gt;差一格、差一个字符就是零分；和真实交付一样，不能&quot;十项里对了九项&quot;就算完成&lt;/Text&gt;&#10;                    &lt;/Box&gt;&#10;                &lt;/Box&gt;&#10;&#10;            &lt;/Box&gt;&#10;&#10;            &lt;Box style={{ width: 464, height: 416, background: '#F7F3E8', borderRadius: 12, padding: '20px 20px', flexDirection: 'column', gap: 14 }}&gt;&#10;                &lt;Text style={{ fontSize: 18, fontWeight: 'bold', color: '#20344B', lineHeight: 1.35 }}&gt;对我们的启发&lt;/Text&gt;&#10;                &lt;Text style={{ fontSize: 15, color: '#546779', lineHeight: 1.6 }}&gt;给模型设计验收条件时，顺序应该倒过来：先写清楚&quot;答案长什么样、由谁检查、什么算通过&quot;，再动手测。&lt;/Text&gt;&#10;                &lt;Text style={{ fontSize: 15, color: '#546779', lineHeight: 1.6 }}&gt;写通知的形式约束、容量计算的数值约束、预约记录的状态约束，本来就对应三种不同的检查方式。&lt;/Text&gt;&#10;                &lt;Box style={{ flex: 1 }} /&gt;&#10;                &lt;Box style={{ flexDirection: 'row', gap: 12, alignItems: 'center', background: '#FFF4E6', borderRadius: 8, padding: '12px 14px' }}&gt;&#10;                    &lt;Box style={{ width: 4, height: 50, background: '#CB6B28' }} /&gt;&#10;                    &lt;Text style={{ fontSize: 14, color: '#CB6B28', lineHeight: 1.45 }}&gt;先定&quot;怎么算通过&quot;，再谈&quot;模型行不行&quot;；顺序反了，验收就变成事后找理由&lt;/Text&gt;&#10;                &lt;/Box&gt;&#10;            &lt;/Box&gt;&#10;&#10;        &lt;/Box&gt;&#10;&#10;    &lt;/Box&gt;&#10;&#10;    &lt;Box style={{ height: 40, flexDirection: 'row', justifyContent: 'space-between', alignItems: 'center' }}&gt;&#10;        &lt;Text style={{ fontSize: 14, color: '#546779' }}&gt;1.4 从榜单到证据&lt;/Text&gt;&#10;        &lt;Text style={{ fontSize: 14, color: '#546779' }}&gt;24 / 36&lt;/Text&gt;&#10;    &lt;/Box&gt;&#10;&#10;&lt;/Slide&gt;&#10;"/>
        <p:cNvGrpSpPr/>
        <p:nvPr/>
      </p:nvGrpSpPr>
      <p:grpSpPr>
        <a:xfrm>
          <a:off x="0" y="0"/>
          <a:ext cx="0" cy="0"/>
          <a:chOff x="0" y="0"/>
          <a:chExt cx="0" cy="0"/>
        </a:xfrm>
      </p:grpSpPr>
      <p:sp>
        <p:nvSpPr>
          <p:cNvPr id="561" name=""/>
          <p:cNvSpPr/>
          <p:nvPr/>
        </p:nvSpPr>
        <p:spPr>
          <a:xfrm rot="0" flipH="0" flipV="0">
            <a:off x="0" y="0"/>
            <a:ext cx="12192000" cy="6858000"/>
          </a:xfrm>
          <a:prstGeom prst="rect">
            <a:avLst/>
          </a:prstGeom>
          <a:solidFill>
            <a:srgbClr val="FFFFFF"/>
          </a:solidFill>
          <a:ln/>
        </p:spPr>
        <p:txBody>
          <a:bodyPr/>
          <a:p/>
        </p:txBody>
      </p:sp>
      <p:sp>
        <p:nvSpPr>
          <p:cNvPr id="562" name=""/>
          <p:cNvSpPr/>
          <p:nvPr/>
        </p:nvSpPr>
        <p:spPr>
          <a:xfrm rot="0" flipH="0" flipV="0">
            <a:off x="609600" y="457200"/>
            <a:ext cx="38100" cy="419100"/>
          </a:xfrm>
          <a:prstGeom prst="rect">
            <a:avLst/>
          </a:prstGeom>
          <a:solidFill>
            <a:srgbClr val="276FBF"/>
          </a:solidFill>
          <a:ln/>
        </p:spPr>
        <p:txBody>
          <a:bodyPr/>
          <a:p/>
        </p:txBody>
      </p:sp>
      <p:sp>
        <p:nvSpPr>
          <p:cNvPr id="563" name="" descr="{&quot;isTemplate&quot;:true,&quot;type&quot;:&quot;text&quot;}"/>
          <p:cNvSpPr txBox="1"/>
          <p:nvPr/>
        </p:nvSpPr>
        <p:spPr>
          <a:xfrm rot="0" flipH="0" flipV="0">
            <a:off x="838200" y="371475"/>
            <a:ext cx="2571750" cy="161925"/>
          </a:xfrm>
          <a:prstGeom prst="rect"/>
        </p:spPr>
        <p:txBody>
          <a:bodyPr wrap="none" lIns="0" tIns="0" rIns="0" bIns="0"/>
          <a:p>
            <a:pPr>
              <a:lnSpc>
                <a:spcPct val="100000"/>
              </a:lnSpc>
            </a:pPr>
            <a:r>
              <a:rPr lang="zh-CN" sz="1050">
                <a:solidFill>
                  <a:srgbClr val="546779"/>
                </a:solidFill>
                <a:latin typeface="Microsoft YaHei"/>
                <a:ea typeface="Microsoft YaHei"/>
              </a:rPr>
              <a:t>④　</a:t>
            </a:r>
            <a:r>
              <a:rPr lang="en-US" sz="1050">
                <a:solidFill>
                  <a:srgbClr val="546779"/>
                </a:solidFill>
                <a:latin typeface="Microsoft YaHei"/>
                <a:ea typeface="Microsoft YaHei"/>
              </a:rPr>
              <a:t>1.4.4</a:t>
            </a:r>
            <a:r>
              <a:rPr lang="zh-CN" sz="1050">
                <a:solidFill>
                  <a:srgbClr val="546779"/>
                </a:solidFill>
                <a:latin typeface="Microsoft YaHei"/>
                <a:ea typeface="Microsoft YaHei"/>
              </a:rPr>
              <a:t>　样本展示：从题面反推验收条件</a:t>
            </a:r>
            <a:endParaRPr/>
          </a:p>
        </p:txBody>
      </p:sp>
      <p:sp>
        <p:nvSpPr>
          <p:cNvPr id="564" name="" descr="{&quot;isTemplate&quot;:true,&quot;type&quot;:&quot;text&quot;}"/>
          <p:cNvSpPr txBox="1"/>
          <p:nvPr/>
        </p:nvSpPr>
        <p:spPr>
          <a:xfrm rot="0" flipH="0" flipV="0">
            <a:off x="838200" y="571500"/>
            <a:ext cx="2571750" cy="390525"/>
          </a:xfrm>
          <a:prstGeom prst="rect"/>
        </p:spPr>
        <p:txBody>
          <a:bodyPr wrap="none" lIns="0" tIns="0" rIns="0" bIns="0"/>
          <a:p>
            <a:pPr>
              <a:lnSpc>
                <a:spcPct val="100000"/>
              </a:lnSpc>
            </a:pPr>
            <a:r>
              <a:rPr lang="zh-CN" sz="2550" b="1">
                <a:solidFill>
                  <a:srgbClr val="20344B"/>
                </a:solidFill>
                <a:latin typeface="Microsoft YaHei"/>
                <a:ea typeface="Microsoft YaHei"/>
              </a:rPr>
              <a:t>题目即评分契约</a:t>
            </a:r>
            <a:endParaRPr/>
          </a:p>
        </p:txBody>
      </p:sp>
      <p:sp>
        <p:nvSpPr>
          <p:cNvPr id="565" name=""/>
          <p:cNvSpPr/>
          <p:nvPr/>
        </p:nvSpPr>
        <p:spPr>
          <a:xfrm rot="0" flipH="0" flipV="0">
            <a:off x="609600" y="1733550"/>
            <a:ext cx="6286500" cy="1219200"/>
          </a:xfrm>
          <a:prstGeom prst="roundRect">
            <a:avLst>
              <a:gd name="adj" fmla="val 7813"/>
            </a:avLst>
          </a:prstGeom>
          <a:solidFill>
            <a:srgbClr val="EDF4FC"/>
          </a:solidFill>
          <a:ln/>
        </p:spPr>
        <p:txBody>
          <a:bodyPr/>
          <a:p/>
        </p:txBody>
      </p:sp>
      <p:sp>
        <p:nvSpPr>
          <p:cNvPr id="566" name=""/>
          <p:cNvSpPr/>
          <p:nvPr/>
        </p:nvSpPr>
        <p:spPr>
          <a:xfrm rot="0" flipH="0" flipV="0">
            <a:off x="800100" y="2028825"/>
            <a:ext cx="38100" cy="628650"/>
          </a:xfrm>
          <a:prstGeom prst="rect">
            <a:avLst/>
          </a:prstGeom>
          <a:solidFill>
            <a:srgbClr val="276FBF"/>
          </a:solidFill>
          <a:ln/>
        </p:spPr>
        <p:txBody>
          <a:bodyPr/>
          <a:p/>
        </p:txBody>
      </p:sp>
      <p:sp>
        <p:nvSpPr>
          <p:cNvPr id="567" name="" descr="{&quot;isTemplate&quot;:true,&quot;type&quot;:&quot;text&quot;}"/>
          <p:cNvSpPr txBox="1"/>
          <p:nvPr/>
        </p:nvSpPr>
        <p:spPr>
          <a:xfrm rot="0" flipH="0" flipV="0">
            <a:off x="990600" y="2085975"/>
            <a:ext cx="4781550" cy="209550"/>
          </a:xfrm>
          <a:prstGeom prst="rect"/>
        </p:spPr>
        <p:txBody>
          <a:bodyPr wrap="none" lIns="0" tIns="0" rIns="0" bIns="0"/>
          <a:p>
            <a:pPr>
              <a:lnSpc>
                <a:spcPct val="100000"/>
              </a:lnSpc>
            </a:pPr>
            <a:r>
              <a:rPr lang="zh-CN" sz="1350" b="1">
                <a:solidFill>
                  <a:srgbClr val="20344B"/>
                </a:solidFill>
                <a:latin typeface="Microsoft YaHei"/>
                <a:ea typeface="Microsoft YaHei"/>
              </a:rPr>
              <a:t>规则可以藏在例子里</a:t>
            </a:r>
            <a:endParaRPr/>
          </a:p>
        </p:txBody>
      </p:sp>
      <p:sp>
        <p:nvSpPr>
          <p:cNvPr id="568" name="" descr="{&quot;isTemplate&quot;:true,&quot;type&quot;:&quot;text&quot;}"/>
          <p:cNvSpPr txBox="1"/>
          <p:nvPr/>
        </p:nvSpPr>
        <p:spPr>
          <a:xfrm rot="0" flipH="0" flipV="0">
            <a:off x="990600" y="2352675"/>
            <a:ext cx="4781550" cy="257175"/>
          </a:xfrm>
          <a:prstGeom prst="rect"/>
        </p:spPr>
        <p:txBody>
          <a:bodyPr wrap="none" lIns="0" tIns="0" rIns="0" bIns="0"/>
          <a:p>
            <a:pPr>
              <a:lnSpc>
                <a:spcPct val="150000"/>
              </a:lnSpc>
            </a:pPr>
            <a:r>
              <a:rPr lang="en-US" sz="1125">
                <a:solidFill>
                  <a:srgbClr val="546779"/>
                </a:solidFill>
                <a:latin typeface="Microsoft YaHei"/>
                <a:ea typeface="Microsoft YaHei"/>
              </a:rPr>
              <a:t xml:space="preserve">ARC </a:t>
            </a:r>
            <a:r>
              <a:rPr lang="zh-CN" sz="1125">
                <a:solidFill>
                  <a:srgbClr val="546779"/>
                </a:solidFill>
                <a:latin typeface="Microsoft YaHei"/>
                <a:ea typeface="Microsoft YaHei"/>
              </a:rPr>
              <a:t>只给输入输出对照，规则一个字不写，要自己推出来——检索帮不上忙</a:t>
            </a:r>
            <a:endParaRPr/>
          </a:p>
        </p:txBody>
      </p:sp>
      <p:sp>
        <p:nvSpPr>
          <p:cNvPr id="569" name=""/>
          <p:cNvSpPr/>
          <p:nvPr/>
        </p:nvSpPr>
        <p:spPr>
          <a:xfrm rot="0" flipH="0" flipV="0">
            <a:off x="609600" y="3105150"/>
            <a:ext cx="6286500" cy="1219200"/>
          </a:xfrm>
          <a:prstGeom prst="roundRect">
            <a:avLst>
              <a:gd name="adj" fmla="val 7813"/>
            </a:avLst>
          </a:prstGeom>
          <a:solidFill>
            <a:srgbClr val="EDF4FC"/>
          </a:solidFill>
          <a:ln/>
        </p:spPr>
        <p:txBody>
          <a:bodyPr/>
          <a:p/>
        </p:txBody>
      </p:sp>
      <p:sp>
        <p:nvSpPr>
          <p:cNvPr id="570" name=""/>
          <p:cNvSpPr/>
          <p:nvPr/>
        </p:nvSpPr>
        <p:spPr>
          <a:xfrm rot="0" flipH="0" flipV="0">
            <a:off x="800100" y="3400425"/>
            <a:ext cx="38100" cy="628650"/>
          </a:xfrm>
          <a:prstGeom prst="rect">
            <a:avLst/>
          </a:prstGeom>
          <a:solidFill>
            <a:srgbClr val="276FBF"/>
          </a:solidFill>
          <a:ln/>
        </p:spPr>
        <p:txBody>
          <a:bodyPr/>
          <a:p/>
        </p:txBody>
      </p:sp>
      <p:sp>
        <p:nvSpPr>
          <p:cNvPr id="571" name="" descr="{&quot;isTemplate&quot;:true,&quot;type&quot;:&quot;text&quot;}"/>
          <p:cNvSpPr txBox="1"/>
          <p:nvPr/>
        </p:nvSpPr>
        <p:spPr>
          <a:xfrm rot="0" flipH="0" flipV="0">
            <a:off x="990600" y="3457575"/>
            <a:ext cx="5314950" cy="209550"/>
          </a:xfrm>
          <a:prstGeom prst="rect"/>
        </p:spPr>
        <p:txBody>
          <a:bodyPr wrap="none" lIns="0" tIns="0" rIns="0" bIns="0"/>
          <a:p>
            <a:pPr>
              <a:lnSpc>
                <a:spcPct val="100000"/>
              </a:lnSpc>
            </a:pPr>
            <a:r>
              <a:rPr lang="zh-CN" sz="1350" b="1">
                <a:solidFill>
                  <a:srgbClr val="20344B"/>
                </a:solidFill>
                <a:latin typeface="Microsoft YaHei"/>
                <a:ea typeface="Microsoft YaHei"/>
              </a:rPr>
              <a:t>答案形式写在题面里</a:t>
            </a:r>
            <a:endParaRPr/>
          </a:p>
        </p:txBody>
      </p:sp>
      <p:sp>
        <p:nvSpPr>
          <p:cNvPr id="572" name="" descr="{&quot;isTemplate&quot;:true,&quot;type&quot;:&quot;text&quot;}"/>
          <p:cNvSpPr txBox="1"/>
          <p:nvPr/>
        </p:nvSpPr>
        <p:spPr>
          <a:xfrm rot="0" flipH="0" flipV="0">
            <a:off x="990600" y="3724275"/>
            <a:ext cx="5314950" cy="257175"/>
          </a:xfrm>
          <a:prstGeom prst="rect"/>
        </p:spPr>
        <p:txBody>
          <a:bodyPr wrap="none" lIns="0" tIns="0" rIns="0" bIns="0"/>
          <a:p>
            <a:pPr>
              <a:lnSpc>
                <a:spcPct val="150000"/>
              </a:lnSpc>
            </a:pPr>
            <a:r>
              <a:rPr lang="en-US" sz="1125">
                <a:solidFill>
                  <a:srgbClr val="546779"/>
                </a:solidFill>
                <a:latin typeface="Microsoft YaHei"/>
                <a:ea typeface="Microsoft YaHei"/>
              </a:rPr>
              <a:t xml:space="preserve">HLE </a:t>
            </a:r>
            <a:r>
              <a:rPr lang="zh-CN" sz="1125">
                <a:solidFill>
                  <a:srgbClr val="546779"/>
                </a:solidFill>
                <a:latin typeface="Microsoft YaHei"/>
                <a:ea typeface="Microsoft YaHei"/>
              </a:rPr>
              <a:t>明确要求</a:t>
            </a:r>
            <a:r>
              <a:rPr lang="en-US" sz="1125">
                <a:solidFill>
                  <a:srgbClr val="546779"/>
                </a:solidFill>
                <a:latin typeface="Microsoft YaHei"/>
                <a:ea typeface="Microsoft YaHei"/>
              </a:rPr>
              <a:t>"</a:t>
            </a:r>
            <a:r>
              <a:rPr lang="zh-CN" sz="1125">
                <a:solidFill>
                  <a:srgbClr val="546779"/>
                </a:solidFill>
                <a:latin typeface="Microsoft YaHei"/>
                <a:ea typeface="Microsoft YaHei"/>
              </a:rPr>
              <a:t>只写一个数字</a:t>
            </a:r>
            <a:r>
              <a:rPr lang="en-US" sz="1125">
                <a:solidFill>
                  <a:srgbClr val="546779"/>
                </a:solidFill>
                <a:latin typeface="Microsoft YaHei"/>
                <a:ea typeface="Microsoft YaHei"/>
              </a:rPr>
              <a:t>"</a:t>
            </a:r>
            <a:r>
              <a:rPr lang="zh-CN" sz="1125">
                <a:solidFill>
                  <a:srgbClr val="546779"/>
                </a:solidFill>
                <a:latin typeface="Microsoft YaHei"/>
                <a:ea typeface="Microsoft YaHei"/>
              </a:rPr>
              <a:t>、</a:t>
            </a:r>
            <a:r>
              <a:rPr lang="en-US" sz="1125">
                <a:solidFill>
                  <a:srgbClr val="546779"/>
                </a:solidFill>
                <a:latin typeface="Microsoft YaHei"/>
                <a:ea typeface="Microsoft YaHei"/>
              </a:rPr>
              <a:t xml:space="preserve">GPQA </a:t>
            </a:r>
            <a:r>
              <a:rPr lang="zh-CN" sz="1125">
                <a:solidFill>
                  <a:srgbClr val="546779"/>
                </a:solidFill>
                <a:latin typeface="Microsoft YaHei"/>
                <a:ea typeface="Microsoft YaHei"/>
              </a:rPr>
              <a:t>要求以固定格式结尾，格式属于判分的一部分</a:t>
            </a:r>
            <a:endParaRPr/>
          </a:p>
        </p:txBody>
      </p:sp>
      <p:sp>
        <p:nvSpPr>
          <p:cNvPr id="573" name=""/>
          <p:cNvSpPr/>
          <p:nvPr/>
        </p:nvSpPr>
        <p:spPr>
          <a:xfrm rot="0" flipH="0" flipV="0">
            <a:off x="609600" y="4476750"/>
            <a:ext cx="6286500" cy="1219200"/>
          </a:xfrm>
          <a:prstGeom prst="roundRect">
            <a:avLst>
              <a:gd name="adj" fmla="val 7813"/>
            </a:avLst>
          </a:prstGeom>
          <a:solidFill>
            <a:srgbClr val="ECF7F2"/>
          </a:solidFill>
          <a:ln/>
        </p:spPr>
        <p:txBody>
          <a:bodyPr/>
          <a:p/>
        </p:txBody>
      </p:sp>
      <p:sp>
        <p:nvSpPr>
          <p:cNvPr id="574" name=""/>
          <p:cNvSpPr/>
          <p:nvPr/>
        </p:nvSpPr>
        <p:spPr>
          <a:xfrm rot="0" flipH="0" flipV="0">
            <a:off x="800100" y="4772025"/>
            <a:ext cx="38100" cy="628650"/>
          </a:xfrm>
          <a:prstGeom prst="rect">
            <a:avLst/>
          </a:prstGeom>
          <a:solidFill>
            <a:srgbClr val="26816B"/>
          </a:solidFill>
          <a:ln/>
        </p:spPr>
        <p:txBody>
          <a:bodyPr/>
          <a:p/>
        </p:txBody>
      </p:sp>
      <p:sp>
        <p:nvSpPr>
          <p:cNvPr id="575" name="" descr="{&quot;isTemplate&quot;:true,&quot;type&quot;:&quot;text&quot;}"/>
          <p:cNvSpPr txBox="1"/>
          <p:nvPr/>
        </p:nvSpPr>
        <p:spPr>
          <a:xfrm rot="0" flipH="0" flipV="0">
            <a:off x="990600" y="4829175"/>
            <a:ext cx="5133975" cy="209550"/>
          </a:xfrm>
          <a:prstGeom prst="rect"/>
        </p:spPr>
        <p:txBody>
          <a:bodyPr wrap="none" lIns="0" tIns="0" rIns="0" bIns="0"/>
          <a:p>
            <a:pPr>
              <a:lnSpc>
                <a:spcPct val="100000"/>
              </a:lnSpc>
            </a:pPr>
            <a:r>
              <a:rPr lang="zh-CN" sz="1350" b="1">
                <a:solidFill>
                  <a:srgbClr val="20344B"/>
                </a:solidFill>
                <a:latin typeface="Microsoft YaHei"/>
                <a:ea typeface="Microsoft YaHei"/>
              </a:rPr>
              <a:t>很多题没有部分分</a:t>
            </a:r>
            <a:endParaRPr/>
          </a:p>
        </p:txBody>
      </p:sp>
      <p:sp>
        <p:nvSpPr>
          <p:cNvPr id="576" name="" descr="{&quot;isTemplate&quot;:true,&quot;type&quot;:&quot;text&quot;}"/>
          <p:cNvSpPr txBox="1"/>
          <p:nvPr/>
        </p:nvSpPr>
        <p:spPr>
          <a:xfrm rot="0" flipH="0" flipV="0">
            <a:off x="990600" y="5095875"/>
            <a:ext cx="5133975" cy="257175"/>
          </a:xfrm>
          <a:prstGeom prst="rect"/>
        </p:spPr>
        <p:txBody>
          <a:bodyPr wrap="none" lIns="0" tIns="0" rIns="0" bIns="0"/>
          <a:p>
            <a:pPr>
              <a:lnSpc>
                <a:spcPct val="150000"/>
              </a:lnSpc>
            </a:pPr>
            <a:r>
              <a:rPr lang="zh-CN" sz="1125">
                <a:solidFill>
                  <a:srgbClr val="546779"/>
                </a:solidFill>
                <a:latin typeface="Microsoft YaHei"/>
                <a:ea typeface="Microsoft YaHei"/>
              </a:rPr>
              <a:t>差一格、差一个字符就是零分；和真实交付一样，不能</a:t>
            </a:r>
            <a:r>
              <a:rPr lang="en-US" sz="1125">
                <a:solidFill>
                  <a:srgbClr val="546779"/>
                </a:solidFill>
                <a:latin typeface="Microsoft YaHei"/>
                <a:ea typeface="Microsoft YaHei"/>
              </a:rPr>
              <a:t>"</a:t>
            </a:r>
            <a:r>
              <a:rPr lang="zh-CN" sz="1125">
                <a:solidFill>
                  <a:srgbClr val="546779"/>
                </a:solidFill>
                <a:latin typeface="Microsoft YaHei"/>
                <a:ea typeface="Microsoft YaHei"/>
              </a:rPr>
              <a:t>十项里对了九项</a:t>
            </a:r>
            <a:r>
              <a:rPr lang="en-US" sz="1125">
                <a:solidFill>
                  <a:srgbClr val="546779"/>
                </a:solidFill>
                <a:latin typeface="Microsoft YaHei"/>
                <a:ea typeface="Microsoft YaHei"/>
              </a:rPr>
              <a:t>"</a:t>
            </a:r>
            <a:r>
              <a:rPr lang="zh-CN" sz="1125">
                <a:solidFill>
                  <a:srgbClr val="546779"/>
                </a:solidFill>
                <a:latin typeface="Microsoft YaHei"/>
                <a:ea typeface="Microsoft YaHei"/>
              </a:rPr>
              <a:t>就算完成</a:t>
            </a:r>
            <a:endParaRPr/>
          </a:p>
        </p:txBody>
      </p:sp>
      <p:sp>
        <p:nvSpPr>
          <p:cNvPr id="577" name=""/>
          <p:cNvSpPr/>
          <p:nvPr/>
        </p:nvSpPr>
        <p:spPr>
          <a:xfrm rot="0" flipH="0" flipV="0">
            <a:off x="7162800" y="1733550"/>
            <a:ext cx="4419600" cy="3962400"/>
          </a:xfrm>
          <a:prstGeom prst="roundRect">
            <a:avLst>
              <a:gd name="adj" fmla="val 2885"/>
            </a:avLst>
          </a:prstGeom>
          <a:solidFill>
            <a:srgbClr val="F7F3E8"/>
          </a:solidFill>
          <a:ln/>
        </p:spPr>
        <p:txBody>
          <a:bodyPr/>
          <a:p/>
        </p:txBody>
      </p:sp>
      <p:sp>
        <p:nvSpPr>
          <p:cNvPr id="578" name="" descr="{&quot;isTemplate&quot;:true,&quot;type&quot;:&quot;text&quot;}"/>
          <p:cNvSpPr txBox="1"/>
          <p:nvPr/>
        </p:nvSpPr>
        <p:spPr>
          <a:xfrm rot="0" flipH="0" flipV="0">
            <a:off x="7353300" y="1924050"/>
            <a:ext cx="4038600" cy="285750"/>
          </a:xfrm>
          <a:prstGeom prst="rect"/>
        </p:spPr>
        <p:txBody>
          <a:bodyPr wrap="none" lIns="0" tIns="0" rIns="0" bIns="0"/>
          <a:p>
            <a:pPr>
              <a:lnSpc>
                <a:spcPct val="135000"/>
              </a:lnSpc>
            </a:pPr>
            <a:r>
              <a:rPr lang="zh-CN" sz="1350" b="1">
                <a:solidFill>
                  <a:srgbClr val="20344B"/>
                </a:solidFill>
                <a:latin typeface="Microsoft YaHei"/>
                <a:ea typeface="Microsoft YaHei"/>
              </a:rPr>
              <a:t>对我们的启发</a:t>
            </a:r>
            <a:endParaRPr/>
          </a:p>
        </p:txBody>
      </p:sp>
      <p:sp>
        <p:nvSpPr>
          <p:cNvPr id="579" name="" descr="{&quot;isTemplate&quot;:true,&quot;type&quot;:&quot;text&quot;}"/>
          <p:cNvSpPr txBox="1"/>
          <p:nvPr/>
        </p:nvSpPr>
        <p:spPr>
          <a:xfrm rot="0" flipH="0" flipV="0">
            <a:off x="7353300" y="2343150"/>
            <a:ext cx="4038600" cy="552450"/>
          </a:xfrm>
          <a:prstGeom prst="rect"/>
        </p:spPr>
        <p:txBody>
          <a:bodyPr wrap="square" lIns="0" tIns="0" rIns="0" bIns="0">
            <a:normAutofit/>
          </a:bodyPr>
          <a:p>
            <a:pPr>
              <a:lnSpc>
                <a:spcPct val="160000"/>
              </a:lnSpc>
            </a:pPr>
            <a:r>
              <a:rPr lang="zh-CN" sz="1125">
                <a:solidFill>
                  <a:srgbClr val="546779"/>
                </a:solidFill>
                <a:latin typeface="Microsoft YaHei"/>
                <a:ea typeface="Microsoft YaHei"/>
              </a:rPr>
              <a:t>给模型设计验收条件时，顺序应该倒过来：先写清楚</a:t>
            </a:r>
            <a:r>
              <a:rPr lang="en-US" sz="1125">
                <a:solidFill>
                  <a:srgbClr val="546779"/>
                </a:solidFill>
                <a:latin typeface="Microsoft YaHei"/>
                <a:ea typeface="Microsoft YaHei"/>
              </a:rPr>
              <a:t>"</a:t>
            </a:r>
            <a:r>
              <a:rPr lang="zh-CN" sz="1125">
                <a:solidFill>
                  <a:srgbClr val="546779"/>
                </a:solidFill>
                <a:latin typeface="Microsoft YaHei"/>
                <a:ea typeface="Microsoft YaHei"/>
              </a:rPr>
              <a:t>答案长什么样、由谁检查、什么算通过</a:t>
            </a:r>
            <a:r>
              <a:rPr lang="en-US" sz="1125">
                <a:solidFill>
                  <a:srgbClr val="546779"/>
                </a:solidFill>
                <a:latin typeface="Microsoft YaHei"/>
                <a:ea typeface="Microsoft YaHei"/>
              </a:rPr>
              <a:t>"</a:t>
            </a:r>
            <a:r>
              <a:rPr lang="zh-CN" sz="1125">
                <a:solidFill>
                  <a:srgbClr val="546779"/>
                </a:solidFill>
                <a:latin typeface="Microsoft YaHei"/>
                <a:ea typeface="Microsoft YaHei"/>
              </a:rPr>
              <a:t>，再动手测。</a:t>
            </a:r>
            <a:endParaRPr/>
          </a:p>
        </p:txBody>
      </p:sp>
      <p:sp>
        <p:nvSpPr>
          <p:cNvPr id="580" name="" descr="{&quot;isTemplate&quot;:true,&quot;type&quot;:&quot;text&quot;}"/>
          <p:cNvSpPr txBox="1"/>
          <p:nvPr/>
        </p:nvSpPr>
        <p:spPr>
          <a:xfrm rot="0" flipH="0" flipV="0">
            <a:off x="7353300" y="3028950"/>
            <a:ext cx="4038600" cy="552450"/>
          </a:xfrm>
          <a:prstGeom prst="rect"/>
        </p:spPr>
        <p:txBody>
          <a:bodyPr wrap="square" lIns="0" tIns="0" rIns="0" bIns="0">
            <a:normAutofit/>
          </a:bodyPr>
          <a:p>
            <a:pPr>
              <a:lnSpc>
                <a:spcPct val="160000"/>
              </a:lnSpc>
            </a:pPr>
            <a:r>
              <a:rPr lang="zh-CN" sz="1125">
                <a:solidFill>
                  <a:srgbClr val="546779"/>
                </a:solidFill>
                <a:latin typeface="Microsoft YaHei"/>
                <a:ea typeface="Microsoft YaHei"/>
              </a:rPr>
              <a:t>写通知的形式约束、容量计算的数值约束、预约记录的状态约束，本来就对应三种不同的检查方式。</a:t>
            </a:r>
            <a:endParaRPr/>
          </a:p>
        </p:txBody>
      </p:sp>
      <p:sp>
        <p:nvSpPr>
          <p:cNvPr id="581" name=""/>
          <p:cNvSpPr/>
          <p:nvPr/>
        </p:nvSpPr>
        <p:spPr>
          <a:xfrm rot="0" flipH="0" flipV="0">
            <a:off x="7353300" y="4800600"/>
            <a:ext cx="4038600" cy="704850"/>
          </a:xfrm>
          <a:prstGeom prst="roundRect">
            <a:avLst>
              <a:gd name="adj" fmla="val 10811"/>
            </a:avLst>
          </a:prstGeom>
          <a:solidFill>
            <a:srgbClr val="FFF4E6"/>
          </a:solidFill>
          <a:ln/>
        </p:spPr>
        <p:txBody>
          <a:bodyPr/>
          <a:p/>
        </p:txBody>
      </p:sp>
      <p:sp>
        <p:nvSpPr>
          <p:cNvPr id="582" name=""/>
          <p:cNvSpPr/>
          <p:nvPr/>
        </p:nvSpPr>
        <p:spPr>
          <a:xfrm rot="0" flipH="0" flipV="0">
            <a:off x="7486650" y="4914900"/>
            <a:ext cx="38100" cy="476250"/>
          </a:xfrm>
          <a:prstGeom prst="rect">
            <a:avLst/>
          </a:prstGeom>
          <a:solidFill>
            <a:srgbClr val="CB6B28"/>
          </a:solidFill>
          <a:ln/>
        </p:spPr>
        <p:txBody>
          <a:bodyPr/>
          <a:p/>
        </p:txBody>
      </p:sp>
      <p:sp>
        <p:nvSpPr>
          <p:cNvPr id="583" name="" descr="{&quot;isTemplate&quot;:true,&quot;type&quot;:&quot;text&quot;}"/>
          <p:cNvSpPr txBox="1"/>
          <p:nvPr/>
        </p:nvSpPr>
        <p:spPr>
          <a:xfrm rot="0" flipH="0" flipV="0">
            <a:off x="7639050" y="4924425"/>
            <a:ext cx="3619500" cy="466725"/>
          </a:xfrm>
          <a:prstGeom prst="rect"/>
        </p:spPr>
        <p:txBody>
          <a:bodyPr wrap="square" lIns="0" tIns="0" rIns="0" bIns="0">
            <a:normAutofit/>
          </a:bodyPr>
          <a:p>
            <a:pPr>
              <a:lnSpc>
                <a:spcPct val="145000"/>
              </a:lnSpc>
            </a:pPr>
            <a:r>
              <a:rPr lang="zh-CN" sz="1050">
                <a:solidFill>
                  <a:srgbClr val="CB6B28"/>
                </a:solidFill>
                <a:latin typeface="Microsoft YaHei"/>
                <a:ea typeface="Microsoft YaHei"/>
              </a:rPr>
              <a:t>先定</a:t>
            </a:r>
            <a:r>
              <a:rPr lang="en-US" sz="1050">
                <a:solidFill>
                  <a:srgbClr val="CB6B28"/>
                </a:solidFill>
                <a:latin typeface="Microsoft YaHei"/>
                <a:ea typeface="Microsoft YaHei"/>
              </a:rPr>
              <a:t>"</a:t>
            </a:r>
            <a:r>
              <a:rPr lang="zh-CN" sz="1050">
                <a:solidFill>
                  <a:srgbClr val="CB6B28"/>
                </a:solidFill>
                <a:latin typeface="Microsoft YaHei"/>
                <a:ea typeface="Microsoft YaHei"/>
              </a:rPr>
              <a:t>怎么算通过</a:t>
            </a:r>
            <a:r>
              <a:rPr lang="en-US" sz="1050">
                <a:solidFill>
                  <a:srgbClr val="CB6B28"/>
                </a:solidFill>
                <a:latin typeface="Microsoft YaHei"/>
                <a:ea typeface="Microsoft YaHei"/>
              </a:rPr>
              <a:t>"</a:t>
            </a:r>
            <a:r>
              <a:rPr lang="zh-CN" sz="1050">
                <a:solidFill>
                  <a:srgbClr val="CB6B28"/>
                </a:solidFill>
                <a:latin typeface="Microsoft YaHei"/>
                <a:ea typeface="Microsoft YaHei"/>
              </a:rPr>
              <a:t>，再谈</a:t>
            </a:r>
            <a:r>
              <a:rPr lang="en-US" sz="1050">
                <a:solidFill>
                  <a:srgbClr val="CB6B28"/>
                </a:solidFill>
                <a:latin typeface="Microsoft YaHei"/>
                <a:ea typeface="Microsoft YaHei"/>
              </a:rPr>
              <a:t>"</a:t>
            </a:r>
            <a:r>
              <a:rPr lang="zh-CN" sz="1050">
                <a:solidFill>
                  <a:srgbClr val="CB6B28"/>
                </a:solidFill>
                <a:latin typeface="Microsoft YaHei"/>
                <a:ea typeface="Microsoft YaHei"/>
              </a:rPr>
              <a:t>模型行不行</a:t>
            </a:r>
            <a:r>
              <a:rPr lang="en-US" sz="1050">
                <a:solidFill>
                  <a:srgbClr val="CB6B28"/>
                </a:solidFill>
                <a:latin typeface="Microsoft YaHei"/>
                <a:ea typeface="Microsoft YaHei"/>
              </a:rPr>
              <a:t>"</a:t>
            </a:r>
            <a:r>
              <a:rPr lang="zh-CN" sz="1050">
                <a:solidFill>
                  <a:srgbClr val="CB6B28"/>
                </a:solidFill>
                <a:latin typeface="Microsoft YaHei"/>
                <a:ea typeface="Microsoft YaHei"/>
              </a:rPr>
              <a:t>；顺序反了，验收就变成事后找理由</a:t>
            </a:r>
            <a:endParaRPr/>
          </a:p>
        </p:txBody>
      </p:sp>
      <p:sp>
        <p:nvSpPr>
          <p:cNvPr id="584"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58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24 / 36</a:t>
            </a:r>
            <a:endParaRPr/>
          </a:p>
        </p:txBody>
      </p:sp>
    </p:spTree>
  </p:cSld>
</p:sld>
</file>

<file path=ppt/slides/slide25.xml><?xml version="1.0" encoding="utf-8"?>
<p:sld xmlns:p="http://schemas.openxmlformats.org/presentationml/2006/main" xmlns:a="http://schemas.openxmlformats.org/drawingml/2006/main">
  <p:cSld>
    <p:spTree>
      <p:nvGrpSpPr>
        <p:cNvPr id="586" name="" descr="&lt;Slide notes={`同样是 HLE，为什么不同站点给的分数不一样？三个原因。&#10;&#10;第一，协议不同。带工具和不带工具完全不是一件事。带工具意味着模型可以跑代码、可以联网检索，甚至可以把问题拆开用程序算；不带工具就是纯靠内部推理。同一批题，这两者的分差可能有六到七个百分点。&#10;&#10;第二，快照时间不同。榜单是动态更新的，今天的第一名和上个月的第一名，可能是同一个模型的不同版本，也可能是不同模型。所以引用分数必须写清是哪一天的快照。&#10;&#10;第三，聚合来源不同。有的站点直接抄官方榜单，有的自己重跑，有的只收录厂商自己公布的数字。方法不一样，结果自然不一样。&#10;&#10;结论就是，不要问这个基准的最高分是多少，要问在什么协议、什么时间、由哪个来源给出的最高分是多少。`}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⑤　1.4.5　领先模型：同一个基准，分数为什么不一样&lt;/Text&gt;&#10;            &lt;Text style={{ fontSize: 34, fontWeight: 'bold', color: '#20344B' }}&gt;榜单怎么读&lt;/Text&gt;&#10;        &lt;/Box&gt;&#10;    &lt;/Box&gt;&#10;&#10;    &lt;Box style={{ height: 540, flexDirection: 'column', justifyContent: 'center', gap: 18 }}&gt;&#10;&#10;        &lt;Box style={{ flexDirection: 'row', gap: 16 }}&gt;&#10;&#10;            &lt;Box style={{ width: 373, height: 240, background: '#EDF4FC', borderRadius: 12, padding: '18px 20px', flexDirection: 'column', gap: 8 }}&gt;&#10;                &lt;Text style={{ fontSize: 19, fontWeight: 'bold', color: '#20344B' }}&gt;协议&lt;/Text&gt;&#10;                &lt;Text style={{ fontSize: 15, color: '#546779', lineHeight: 1.55 }}&gt;带不带工具、跑几次、给多少预算。带工具的分通常明显高于闭卷。&lt;/Text&gt;&#10;                &lt;Box style={{ flex: 1 }} /&gt;&#10;                &lt;Text style={{ fontSize: 14, color: '#276FBF' }}&gt;同一批题上，两者能差六到七个百分点&lt;/Text&gt;&#10;            &lt;/Box&gt;&#10;&#10;            &lt;Box style={{ width: 373, height: 240, background: '#F7F3E8', borderRadius: 12, padding: '18px 20px', flexDirection: 'column', gap: 8 }}&gt;&#10;                &lt;Text style={{ fontSize: 19, fontWeight: 'bold', color: '#20344B' }}&gt;快照时间&lt;/Text&gt;&#10;                &lt;Text style={{ fontSize: 15, color: '#546779', lineHeight: 1.55 }}&gt;榜单每天在变。月初与月末的第一名，可能不是同一个模型，也可能不是同一个版本。&lt;/Text&gt;&#10;                &lt;Box style={{ flex: 1 }} /&gt;&#10;                &lt;Text style={{ fontSize: 14, color: '#546779' }}&gt;引用分数必须写清哪一天&lt;/Text&gt;&#10;            &lt;/Box&gt;&#10;&#10;            &lt;Box style={{ width: 373, height: 240, background: '#F4F7FA', borderRadius: 12, padding: '18px 20px', flexDirection: 'column', gap: 8 }}&gt;&#10;                &lt;Text style={{ fontSize: 19, fontWeight: 'bold', color: '#20344B' }}&gt;来源&lt;/Text&gt;&#10;                &lt;Text style={{ fontSize: 15, color: '#546779', lineHeight: 1.55 }}&gt;有的站点照抄官方榜单，有的自己重跑，有的只收厂商公布的数字。&lt;/Text&gt;&#10;                &lt;Box style={{ flex: 1 }} /&gt;&#10;                &lt;Text style={{ fontSize: 14, color: '#546779' }}&gt;不同来源之间不可直接比较&lt;/Text&gt;&#10;            &lt;/Box&gt;&#10;&#10;        &lt;/Box&gt;&#10;&#10;        &lt;Box style={{ flexDirection: 'column', gap: 8 }}&gt;&#10;            &lt;Box style={{ flexDirection: 'row', gap: 10, padding: '0 6px' }}&gt;&#10;                &lt;Text style={{ width: 380, fontSize: 13, color: '#546779' }}&gt;同一时段的 HLE 头名（不同来源）&lt;/Text&gt;&#10;                &lt;Text style={{ width: 420, fontSize: 13, color: '#546779' }}&gt;协议&lt;/Text&gt;&#10;                &lt;Text style={{ width: 120, fontSize: 13, color: '#546779' }}&gt;分数&lt;/Text&gt;&#10;                &lt;Text style={{ width: 200, fontSize: 13, color: '#546779' }}&gt;快照日期&lt;/Text&gt;&#10;            &lt;/Box&gt;&#10;            &lt;Box style={{ flexDirection: 'row', gap: 10, background: '#F4F7FA', borderRadius: 8, padding: '12px 6px', alignItems: 'center' }}&gt;&#10;                &lt;Text style={{ width: 380, fontSize: 14, color: '#20344B', padding: '0 0 0 6px' }}&gt;聚合站点 A&lt;/Text&gt;&#10;                &lt;Text style={{ width: 420, fontSize: 14, color: '#546779' }}&gt;最高配置，允许使用工具&lt;/Text&gt;&#10;                &lt;Text style={{ width: 120, fontSize: 15, fontWeight: 'bold', color: '#276FBF' }}&gt;67.7%&lt;/Text&gt;&#10;                &lt;Text style={{ width: 200, fontSize: 14, color: '#546779' }}&gt;2026-09-28&lt;/Text&gt;&#10;            &lt;/Box&gt;&#10;            &lt;Box style={{ flexDirection: 'row', gap: 10, background: '#F4F7FA', borderRadius: 8, padding: '12px 6px', alignItems: 'center' }}&gt;&#10;                &lt;Text style={{ width: 380, fontSize: 14, color: '#20344B', padding: '0 0 0 6px' }}&gt;聚合站点 B&lt;/Text&gt;&#10;                &lt;Text style={{ width: 420, fontSize: 14, color: '#546779' }}&gt;头名行未标注工具&lt;/Text&gt;&#10;                &lt;Text style={{ width: 120, fontSize: 15, fontWeight: 'bold', color: '#546779' }}&gt;65.0%&lt;/Text&gt;&#10;                &lt;Text style={{ width: 200, fontSize: 14, color: '#546779' }}&gt;2026-09-28&lt;/Text&gt;&#10;            &lt;/Box&gt;&#10;            &lt;Box style={{ flexDirection: 'row', gap: 10, background: '#FFF4E6', borderRadius: 8, padding: '12px 6px', alignItems: 'center' }}&gt;&#10;                &lt;Text style={{ width: 380, fontSize: 14, color: '#CB6B28', padding: '0 0 0 6px' }}&gt;聚合站点 C（更早快照）&lt;/Text&gt;&#10;                &lt;Text style={{ width: 420, fontSize: 14, color: '#CB6B28' }}&gt;来源为厂商公布值&lt;/Text&gt;&#10;                &lt;Text style={{ width: 120, fontSize: 15, fontWeight: 'bold', color: '#CB6B28' }}&gt;55.5%&lt;/Text&gt;&#10;                &lt;Text style={{ width: 200, fontSize: 14, color: '#CB6B28' }}&gt;2026-09-07&lt;/Text&gt;&#10;            &lt;/Box&gt;&#10;        &lt;/Box&gt;&#10;&#10;    &lt;/Box&gt;&#10;&#10;    &lt;Box style={{ height: 40, flexDirection: 'row', justifyContent: 'space-between', alignItems: 'center' }}&gt;&#10;        &lt;Text style={{ fontSize: 14, color: '#546779' }}&gt;1.4 从榜单到证据&lt;/Text&gt;&#10;        &lt;Text style={{ fontSize: 14, color: '#546779' }}&gt;25 / 36&lt;/Text&gt;&#10;    &lt;/Box&gt;&#10;&#10;&lt;/Slide&gt;&#10;"/>
        <p:cNvGrpSpPr/>
        <p:nvPr/>
      </p:nvGrpSpPr>
      <p:grpSpPr>
        <a:xfrm>
          <a:off x="0" y="0"/>
          <a:ext cx="0" cy="0"/>
          <a:chOff x="0" y="0"/>
          <a:chExt cx="0" cy="0"/>
        </a:xfrm>
      </p:grpSpPr>
      <p:sp>
        <p:nvSpPr>
          <p:cNvPr id="587" name=""/>
          <p:cNvSpPr/>
          <p:nvPr/>
        </p:nvSpPr>
        <p:spPr>
          <a:xfrm rot="0" flipH="0" flipV="0">
            <a:off x="0" y="0"/>
            <a:ext cx="12192000" cy="6858000"/>
          </a:xfrm>
          <a:prstGeom prst="rect">
            <a:avLst/>
          </a:prstGeom>
          <a:solidFill>
            <a:srgbClr val="FFFFFF"/>
          </a:solidFill>
          <a:ln/>
        </p:spPr>
        <p:txBody>
          <a:bodyPr/>
          <a:p/>
        </p:txBody>
      </p:sp>
      <p:sp>
        <p:nvSpPr>
          <p:cNvPr id="588" name=""/>
          <p:cNvSpPr/>
          <p:nvPr/>
        </p:nvSpPr>
        <p:spPr>
          <a:xfrm rot="0" flipH="0" flipV="0">
            <a:off x="609600" y="457200"/>
            <a:ext cx="38100" cy="419100"/>
          </a:xfrm>
          <a:prstGeom prst="rect">
            <a:avLst/>
          </a:prstGeom>
          <a:solidFill>
            <a:srgbClr val="276FBF"/>
          </a:solidFill>
          <a:ln/>
        </p:spPr>
        <p:txBody>
          <a:bodyPr/>
          <a:p/>
        </p:txBody>
      </p:sp>
      <p:sp>
        <p:nvSpPr>
          <p:cNvPr id="589" name="" descr="{&quot;isTemplate&quot;:true,&quot;type&quot;:&quot;text&quot;}"/>
          <p:cNvSpPr txBox="1"/>
          <p:nvPr/>
        </p:nvSpPr>
        <p:spPr>
          <a:xfrm rot="0" flipH="0" flipV="0">
            <a:off x="838200" y="371475"/>
            <a:ext cx="3238500" cy="161925"/>
          </a:xfrm>
          <a:prstGeom prst="rect"/>
        </p:spPr>
        <p:txBody>
          <a:bodyPr wrap="none" lIns="0" tIns="0" rIns="0" bIns="0"/>
          <a:p>
            <a:pPr>
              <a:lnSpc>
                <a:spcPct val="100000"/>
              </a:lnSpc>
            </a:pPr>
            <a:r>
              <a:rPr lang="zh-CN" sz="1050">
                <a:solidFill>
                  <a:srgbClr val="546779"/>
                </a:solidFill>
                <a:latin typeface="Microsoft YaHei"/>
                <a:ea typeface="Microsoft YaHei"/>
              </a:rPr>
              <a:t>⑤　</a:t>
            </a:r>
            <a:r>
              <a:rPr lang="en-US" sz="1050">
                <a:solidFill>
                  <a:srgbClr val="546779"/>
                </a:solidFill>
                <a:latin typeface="Microsoft YaHei"/>
                <a:ea typeface="Microsoft YaHei"/>
              </a:rPr>
              <a:t>1.4.5</a:t>
            </a:r>
            <a:r>
              <a:rPr lang="zh-CN" sz="1050">
                <a:solidFill>
                  <a:srgbClr val="546779"/>
                </a:solidFill>
                <a:latin typeface="Microsoft YaHei"/>
                <a:ea typeface="Microsoft YaHei"/>
              </a:rPr>
              <a:t>　领先模型：同一个基准，分数为什么不一样</a:t>
            </a:r>
            <a:endParaRPr/>
          </a:p>
        </p:txBody>
      </p:sp>
      <p:sp>
        <p:nvSpPr>
          <p:cNvPr id="590" name="" descr="{&quot;isTemplate&quot;:true,&quot;type&quot;:&quot;text&quot;}"/>
          <p:cNvSpPr txBox="1"/>
          <p:nvPr/>
        </p:nvSpPr>
        <p:spPr>
          <a:xfrm rot="0" flipH="0" flipV="0">
            <a:off x="838200" y="571500"/>
            <a:ext cx="3238500" cy="390525"/>
          </a:xfrm>
          <a:prstGeom prst="rect"/>
        </p:spPr>
        <p:txBody>
          <a:bodyPr wrap="none" lIns="0" tIns="0" rIns="0" bIns="0"/>
          <a:p>
            <a:pPr>
              <a:lnSpc>
                <a:spcPct val="100000"/>
              </a:lnSpc>
            </a:pPr>
            <a:r>
              <a:rPr lang="zh-CN" sz="2550" b="1">
                <a:solidFill>
                  <a:srgbClr val="20344B"/>
                </a:solidFill>
                <a:latin typeface="Microsoft YaHei"/>
                <a:ea typeface="Microsoft YaHei"/>
              </a:rPr>
              <a:t>榜单怎么读</a:t>
            </a:r>
            <a:endParaRPr/>
          </a:p>
        </p:txBody>
      </p:sp>
      <p:sp>
        <p:nvSpPr>
          <p:cNvPr id="591" name=""/>
          <p:cNvSpPr/>
          <p:nvPr/>
        </p:nvSpPr>
        <p:spPr>
          <a:xfrm rot="0" flipH="0" flipV="0">
            <a:off x="609600" y="1695450"/>
            <a:ext cx="3552825" cy="2286000"/>
          </a:xfrm>
          <a:prstGeom prst="roundRect">
            <a:avLst>
              <a:gd name="adj" fmla="val 5000"/>
            </a:avLst>
          </a:prstGeom>
          <a:solidFill>
            <a:srgbClr val="EDF4FC"/>
          </a:solidFill>
          <a:ln/>
        </p:spPr>
        <p:txBody>
          <a:bodyPr/>
          <a:p/>
        </p:txBody>
      </p:sp>
      <p:sp>
        <p:nvSpPr>
          <p:cNvPr id="592" name="" descr="{&quot;isTemplate&quot;:true,&quot;type&quot;:&quot;text&quot;}"/>
          <p:cNvSpPr txBox="1"/>
          <p:nvPr/>
        </p:nvSpPr>
        <p:spPr>
          <a:xfrm rot="0" flipH="0" flipV="0">
            <a:off x="800100" y="1866900"/>
            <a:ext cx="3171825" cy="219075"/>
          </a:xfrm>
          <a:prstGeom prst="rect"/>
        </p:spPr>
        <p:txBody>
          <a:bodyPr wrap="none" lIns="0" tIns="0" rIns="0" bIns="0"/>
          <a:p>
            <a:pPr>
              <a:lnSpc>
                <a:spcPct val="100000"/>
              </a:lnSpc>
            </a:pPr>
            <a:r>
              <a:rPr lang="zh-CN" sz="1425" b="1">
                <a:solidFill>
                  <a:srgbClr val="20344B"/>
                </a:solidFill>
                <a:latin typeface="Microsoft YaHei"/>
                <a:ea typeface="Microsoft YaHei"/>
              </a:rPr>
              <a:t>协议</a:t>
            </a:r>
            <a:endParaRPr/>
          </a:p>
        </p:txBody>
      </p:sp>
      <p:sp>
        <p:nvSpPr>
          <p:cNvPr id="593" name="" descr="{&quot;isTemplate&quot;:true,&quot;type&quot;:&quot;text&quot;}"/>
          <p:cNvSpPr txBox="1"/>
          <p:nvPr/>
        </p:nvSpPr>
        <p:spPr>
          <a:xfrm rot="0" flipH="0" flipV="0">
            <a:off x="800100" y="2162175"/>
            <a:ext cx="3171825"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带不带工具、跑几次、给多少预算。带工具的分通常明显高于闭卷。</a:t>
            </a:r>
            <a:endParaRPr/>
          </a:p>
        </p:txBody>
      </p:sp>
      <p:sp>
        <p:nvSpPr>
          <p:cNvPr id="594" name="" descr="{&quot;isTemplate&quot;:true,&quot;type&quot;:&quot;text&quot;}"/>
          <p:cNvSpPr txBox="1"/>
          <p:nvPr/>
        </p:nvSpPr>
        <p:spPr>
          <a:xfrm rot="0" flipH="0" flipV="0">
            <a:off x="800100" y="3648075"/>
            <a:ext cx="3171825" cy="161925"/>
          </a:xfrm>
          <a:prstGeom prst="rect"/>
        </p:spPr>
        <p:txBody>
          <a:bodyPr wrap="none" lIns="0" tIns="0" rIns="0" bIns="0"/>
          <a:p>
            <a:pPr>
              <a:lnSpc>
                <a:spcPct val="100000"/>
              </a:lnSpc>
            </a:pPr>
            <a:r>
              <a:rPr lang="zh-CN" sz="1050">
                <a:solidFill>
                  <a:srgbClr val="276FBF"/>
                </a:solidFill>
                <a:latin typeface="Microsoft YaHei"/>
                <a:ea typeface="Microsoft YaHei"/>
              </a:rPr>
              <a:t>同一批题上，两者能差六到七个百分点</a:t>
            </a:r>
            <a:endParaRPr/>
          </a:p>
        </p:txBody>
      </p:sp>
      <p:sp>
        <p:nvSpPr>
          <p:cNvPr id="595" name=""/>
          <p:cNvSpPr/>
          <p:nvPr/>
        </p:nvSpPr>
        <p:spPr>
          <a:xfrm rot="0" flipH="0" flipV="0">
            <a:off x="4314825" y="1695450"/>
            <a:ext cx="3552825" cy="2286000"/>
          </a:xfrm>
          <a:prstGeom prst="roundRect">
            <a:avLst>
              <a:gd name="adj" fmla="val 5000"/>
            </a:avLst>
          </a:prstGeom>
          <a:solidFill>
            <a:srgbClr val="F7F3E8"/>
          </a:solidFill>
          <a:ln/>
        </p:spPr>
        <p:txBody>
          <a:bodyPr/>
          <a:p/>
        </p:txBody>
      </p:sp>
      <p:sp>
        <p:nvSpPr>
          <p:cNvPr id="596" name="" descr="{&quot;isTemplate&quot;:true,&quot;type&quot;:&quot;text&quot;}"/>
          <p:cNvSpPr txBox="1"/>
          <p:nvPr/>
        </p:nvSpPr>
        <p:spPr>
          <a:xfrm rot="0" flipH="0" flipV="0">
            <a:off x="4505325" y="1866900"/>
            <a:ext cx="3171825" cy="219075"/>
          </a:xfrm>
          <a:prstGeom prst="rect"/>
        </p:spPr>
        <p:txBody>
          <a:bodyPr wrap="none" lIns="0" tIns="0" rIns="0" bIns="0"/>
          <a:p>
            <a:pPr>
              <a:lnSpc>
                <a:spcPct val="100000"/>
              </a:lnSpc>
            </a:pPr>
            <a:r>
              <a:rPr lang="zh-CN" sz="1425" b="1">
                <a:solidFill>
                  <a:srgbClr val="20344B"/>
                </a:solidFill>
                <a:latin typeface="Microsoft YaHei"/>
                <a:ea typeface="Microsoft YaHei"/>
              </a:rPr>
              <a:t>快照时间</a:t>
            </a:r>
            <a:endParaRPr/>
          </a:p>
        </p:txBody>
      </p:sp>
      <p:sp>
        <p:nvSpPr>
          <p:cNvPr id="597" name="" descr="{&quot;isTemplate&quot;:true,&quot;type&quot;:&quot;text&quot;}"/>
          <p:cNvSpPr txBox="1"/>
          <p:nvPr/>
        </p:nvSpPr>
        <p:spPr>
          <a:xfrm rot="0" flipH="0" flipV="0">
            <a:off x="4505325" y="2162175"/>
            <a:ext cx="3171825"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榜单每天在变。月初与月末的第一名，可能不是同一个模型，也可能不是同一个版本。</a:t>
            </a:r>
            <a:endParaRPr/>
          </a:p>
        </p:txBody>
      </p:sp>
      <p:sp>
        <p:nvSpPr>
          <p:cNvPr id="598" name="" descr="{&quot;isTemplate&quot;:true,&quot;type&quot;:&quot;text&quot;}"/>
          <p:cNvSpPr txBox="1"/>
          <p:nvPr/>
        </p:nvSpPr>
        <p:spPr>
          <a:xfrm rot="0" flipH="0" flipV="0">
            <a:off x="4505325" y="3648075"/>
            <a:ext cx="3171825" cy="161925"/>
          </a:xfrm>
          <a:prstGeom prst="rect"/>
        </p:spPr>
        <p:txBody>
          <a:bodyPr wrap="none" lIns="0" tIns="0" rIns="0" bIns="0"/>
          <a:p>
            <a:pPr>
              <a:lnSpc>
                <a:spcPct val="100000"/>
              </a:lnSpc>
            </a:pPr>
            <a:r>
              <a:rPr lang="zh-CN" sz="1050">
                <a:solidFill>
                  <a:srgbClr val="546779"/>
                </a:solidFill>
                <a:latin typeface="Microsoft YaHei"/>
                <a:ea typeface="Microsoft YaHei"/>
              </a:rPr>
              <a:t>引用分数必须写清哪一天</a:t>
            </a:r>
            <a:endParaRPr/>
          </a:p>
        </p:txBody>
      </p:sp>
      <p:sp>
        <p:nvSpPr>
          <p:cNvPr id="599" name=""/>
          <p:cNvSpPr/>
          <p:nvPr/>
        </p:nvSpPr>
        <p:spPr>
          <a:xfrm rot="0" flipH="0" flipV="0">
            <a:off x="8020050" y="1695450"/>
            <a:ext cx="3552825" cy="2286000"/>
          </a:xfrm>
          <a:prstGeom prst="roundRect">
            <a:avLst>
              <a:gd name="adj" fmla="val 5000"/>
            </a:avLst>
          </a:prstGeom>
          <a:solidFill>
            <a:srgbClr val="F4F7FA"/>
          </a:solidFill>
          <a:ln/>
        </p:spPr>
        <p:txBody>
          <a:bodyPr/>
          <a:p/>
        </p:txBody>
      </p:sp>
      <p:sp>
        <p:nvSpPr>
          <p:cNvPr id="600" name="" descr="{&quot;isTemplate&quot;:true,&quot;type&quot;:&quot;text&quot;}"/>
          <p:cNvSpPr txBox="1"/>
          <p:nvPr/>
        </p:nvSpPr>
        <p:spPr>
          <a:xfrm rot="0" flipH="0" flipV="0">
            <a:off x="8210550" y="1866900"/>
            <a:ext cx="3171825" cy="219075"/>
          </a:xfrm>
          <a:prstGeom prst="rect"/>
        </p:spPr>
        <p:txBody>
          <a:bodyPr wrap="none" lIns="0" tIns="0" rIns="0" bIns="0"/>
          <a:p>
            <a:pPr>
              <a:lnSpc>
                <a:spcPct val="100000"/>
              </a:lnSpc>
            </a:pPr>
            <a:r>
              <a:rPr lang="zh-CN" sz="1425" b="1">
                <a:solidFill>
                  <a:srgbClr val="20344B"/>
                </a:solidFill>
                <a:latin typeface="Microsoft YaHei"/>
                <a:ea typeface="Microsoft YaHei"/>
              </a:rPr>
              <a:t>来源</a:t>
            </a:r>
            <a:endParaRPr/>
          </a:p>
        </p:txBody>
      </p:sp>
      <p:sp>
        <p:nvSpPr>
          <p:cNvPr id="601" name="" descr="{&quot;isTemplate&quot;:true,&quot;type&quot;:&quot;text&quot;}"/>
          <p:cNvSpPr txBox="1"/>
          <p:nvPr/>
        </p:nvSpPr>
        <p:spPr>
          <a:xfrm rot="0" flipH="0" flipV="0">
            <a:off x="8210550" y="2162175"/>
            <a:ext cx="3171825"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有的站点照抄官方榜单，有的自己重跑，有的只收厂商公布的数字。</a:t>
            </a:r>
            <a:endParaRPr/>
          </a:p>
        </p:txBody>
      </p:sp>
      <p:sp>
        <p:nvSpPr>
          <p:cNvPr id="602" name="" descr="{&quot;isTemplate&quot;:true,&quot;type&quot;:&quot;text&quot;}"/>
          <p:cNvSpPr txBox="1"/>
          <p:nvPr/>
        </p:nvSpPr>
        <p:spPr>
          <a:xfrm rot="0" flipH="0" flipV="0">
            <a:off x="8210550" y="3648075"/>
            <a:ext cx="3171825" cy="161925"/>
          </a:xfrm>
          <a:prstGeom prst="rect"/>
        </p:spPr>
        <p:txBody>
          <a:bodyPr wrap="none" lIns="0" tIns="0" rIns="0" bIns="0"/>
          <a:p>
            <a:pPr>
              <a:lnSpc>
                <a:spcPct val="100000"/>
              </a:lnSpc>
            </a:pPr>
            <a:r>
              <a:rPr lang="zh-CN" sz="1050">
                <a:solidFill>
                  <a:srgbClr val="546779"/>
                </a:solidFill>
                <a:latin typeface="Microsoft YaHei"/>
                <a:ea typeface="Microsoft YaHei"/>
              </a:rPr>
              <a:t>不同来源之间不可直接比较</a:t>
            </a:r>
            <a:endParaRPr/>
          </a:p>
        </p:txBody>
      </p:sp>
      <p:sp>
        <p:nvSpPr>
          <p:cNvPr id="603" name="" descr="{&quot;isTemplate&quot;:true,&quot;type&quot;:&quot;text&quot;}"/>
          <p:cNvSpPr txBox="1"/>
          <p:nvPr/>
        </p:nvSpPr>
        <p:spPr>
          <a:xfrm rot="0" flipH="0" flipV="0">
            <a:off x="666750" y="4152900"/>
            <a:ext cx="3590925" cy="152400"/>
          </a:xfrm>
          <a:prstGeom prst="rect"/>
        </p:spPr>
        <p:txBody>
          <a:bodyPr wrap="none" lIns="0" tIns="0" rIns="0" bIns="0"/>
          <a:p>
            <a:pPr>
              <a:lnSpc>
                <a:spcPct val="100000"/>
              </a:lnSpc>
            </a:pPr>
            <a:r>
              <a:rPr lang="zh-CN" sz="975">
                <a:solidFill>
                  <a:srgbClr val="546779"/>
                </a:solidFill>
                <a:latin typeface="Microsoft YaHei"/>
                <a:ea typeface="Microsoft YaHei"/>
              </a:rPr>
              <a:t>同一时段的</a:t>
            </a:r>
            <a:r>
              <a:rPr lang="en-US" sz="975">
                <a:solidFill>
                  <a:srgbClr val="546779"/>
                </a:solidFill>
                <a:latin typeface="Microsoft YaHei"/>
                <a:ea typeface="Microsoft YaHei"/>
              </a:rPr>
              <a:t xml:space="preserve"> HLE </a:t>
            </a:r>
            <a:r>
              <a:rPr lang="zh-CN" sz="975">
                <a:solidFill>
                  <a:srgbClr val="546779"/>
                </a:solidFill>
                <a:latin typeface="Microsoft YaHei"/>
                <a:ea typeface="Microsoft YaHei"/>
              </a:rPr>
              <a:t>头名（不同来源）</a:t>
            </a:r>
            <a:endParaRPr/>
          </a:p>
        </p:txBody>
      </p:sp>
      <p:sp>
        <p:nvSpPr>
          <p:cNvPr id="604" name="" descr="{&quot;isTemplate&quot;:true,&quot;type&quot;:&quot;text&quot;}"/>
          <p:cNvSpPr txBox="1"/>
          <p:nvPr/>
        </p:nvSpPr>
        <p:spPr>
          <a:xfrm rot="0" flipH="0" flipV="0">
            <a:off x="4352925" y="4152900"/>
            <a:ext cx="3962400" cy="152400"/>
          </a:xfrm>
          <a:prstGeom prst="rect"/>
        </p:spPr>
        <p:txBody>
          <a:bodyPr wrap="none" lIns="0" tIns="0" rIns="0" bIns="0"/>
          <a:p>
            <a:pPr>
              <a:lnSpc>
                <a:spcPct val="100000"/>
              </a:lnSpc>
            </a:pPr>
            <a:r>
              <a:rPr lang="zh-CN" sz="975">
                <a:solidFill>
                  <a:srgbClr val="546779"/>
                </a:solidFill>
                <a:latin typeface="Microsoft YaHei"/>
                <a:ea typeface="Microsoft YaHei"/>
              </a:rPr>
              <a:t>协议</a:t>
            </a:r>
            <a:endParaRPr/>
          </a:p>
        </p:txBody>
      </p:sp>
      <p:sp>
        <p:nvSpPr>
          <p:cNvPr id="605" name="" descr="{&quot;isTemplate&quot;:true,&quot;type&quot;:&quot;text&quot;}"/>
          <p:cNvSpPr txBox="1"/>
          <p:nvPr/>
        </p:nvSpPr>
        <p:spPr>
          <a:xfrm rot="0" flipH="0" flipV="0">
            <a:off x="8410575" y="4152900"/>
            <a:ext cx="1133475" cy="152400"/>
          </a:xfrm>
          <a:prstGeom prst="rect"/>
        </p:spPr>
        <p:txBody>
          <a:bodyPr wrap="none" lIns="0" tIns="0" rIns="0" bIns="0"/>
          <a:p>
            <a:pPr>
              <a:lnSpc>
                <a:spcPct val="100000"/>
              </a:lnSpc>
            </a:pPr>
            <a:r>
              <a:rPr lang="zh-CN" sz="975">
                <a:solidFill>
                  <a:srgbClr val="546779"/>
                </a:solidFill>
                <a:latin typeface="Microsoft YaHei"/>
                <a:ea typeface="Microsoft YaHei"/>
              </a:rPr>
              <a:t>分数</a:t>
            </a:r>
            <a:endParaRPr/>
          </a:p>
        </p:txBody>
      </p:sp>
      <p:sp>
        <p:nvSpPr>
          <p:cNvPr id="606" name="" descr="{&quot;isTemplate&quot;:true,&quot;type&quot;:&quot;text&quot;}"/>
          <p:cNvSpPr txBox="1"/>
          <p:nvPr/>
        </p:nvSpPr>
        <p:spPr>
          <a:xfrm rot="0" flipH="0" flipV="0">
            <a:off x="9639300" y="4152900"/>
            <a:ext cx="1885950" cy="152400"/>
          </a:xfrm>
          <a:prstGeom prst="rect"/>
        </p:spPr>
        <p:txBody>
          <a:bodyPr wrap="none" lIns="0" tIns="0" rIns="0" bIns="0"/>
          <a:p>
            <a:pPr>
              <a:lnSpc>
                <a:spcPct val="100000"/>
              </a:lnSpc>
            </a:pPr>
            <a:r>
              <a:rPr lang="zh-CN" sz="975">
                <a:solidFill>
                  <a:srgbClr val="546779"/>
                </a:solidFill>
                <a:latin typeface="Microsoft YaHei"/>
                <a:ea typeface="Microsoft YaHei"/>
              </a:rPr>
              <a:t>快照日期</a:t>
            </a:r>
            <a:endParaRPr/>
          </a:p>
        </p:txBody>
      </p:sp>
      <p:sp>
        <p:nvSpPr>
          <p:cNvPr id="607" name=""/>
          <p:cNvSpPr/>
          <p:nvPr/>
        </p:nvSpPr>
        <p:spPr>
          <a:xfrm rot="0" flipH="0" flipV="0">
            <a:off x="609600" y="4381500"/>
            <a:ext cx="10972800" cy="400050"/>
          </a:xfrm>
          <a:prstGeom prst="roundRect">
            <a:avLst>
              <a:gd name="adj" fmla="val 19048"/>
            </a:avLst>
          </a:prstGeom>
          <a:solidFill>
            <a:srgbClr val="F4F7FA"/>
          </a:solidFill>
          <a:ln/>
        </p:spPr>
        <p:txBody>
          <a:bodyPr/>
          <a:p/>
        </p:txBody>
      </p:sp>
      <p:sp>
        <p:nvSpPr>
          <p:cNvPr id="608" name="" descr="{&quot;isTemplate&quot;:true,&quot;type&quot;:&quot;text&quot;}"/>
          <p:cNvSpPr txBox="1"/>
          <p:nvPr/>
        </p:nvSpPr>
        <p:spPr>
          <a:xfrm rot="0" flipH="0" flipV="0">
            <a:off x="666750" y="4505325"/>
            <a:ext cx="3590925" cy="161925"/>
          </a:xfrm>
          <a:prstGeom prst="rect"/>
        </p:spPr>
        <p:txBody>
          <a:bodyPr wrap="none" lIns="42863" tIns="0" rIns="0" bIns="0"/>
          <a:p>
            <a:pPr>
              <a:lnSpc>
                <a:spcPct val="100000"/>
              </a:lnSpc>
            </a:pPr>
            <a:r>
              <a:rPr lang="zh-CN" sz="1050">
                <a:solidFill>
                  <a:srgbClr val="20344B"/>
                </a:solidFill>
                <a:latin typeface="Microsoft YaHei"/>
                <a:ea typeface="Microsoft YaHei"/>
              </a:rPr>
              <a:t>聚合站点</a:t>
            </a:r>
            <a:r>
              <a:rPr lang="en-US" sz="1050">
                <a:solidFill>
                  <a:srgbClr val="20344B"/>
                </a:solidFill>
                <a:latin typeface="Microsoft YaHei"/>
                <a:ea typeface="Microsoft YaHei"/>
              </a:rPr>
              <a:t xml:space="preserve"> A</a:t>
            </a:r>
            <a:endParaRPr/>
          </a:p>
        </p:txBody>
      </p:sp>
      <p:sp>
        <p:nvSpPr>
          <p:cNvPr id="609" name="" descr="{&quot;isTemplate&quot;:true,&quot;type&quot;:&quot;text&quot;}"/>
          <p:cNvSpPr txBox="1"/>
          <p:nvPr/>
        </p:nvSpPr>
        <p:spPr>
          <a:xfrm rot="0" flipH="0" flipV="0">
            <a:off x="4352925" y="4505325"/>
            <a:ext cx="3962400" cy="161925"/>
          </a:xfrm>
          <a:prstGeom prst="rect"/>
        </p:spPr>
        <p:txBody>
          <a:bodyPr wrap="none" lIns="0" tIns="0" rIns="0" bIns="0"/>
          <a:p>
            <a:pPr>
              <a:lnSpc>
                <a:spcPct val="100000"/>
              </a:lnSpc>
            </a:pPr>
            <a:r>
              <a:rPr lang="zh-CN" sz="1050">
                <a:solidFill>
                  <a:srgbClr val="546779"/>
                </a:solidFill>
                <a:latin typeface="Microsoft YaHei"/>
                <a:ea typeface="Microsoft YaHei"/>
              </a:rPr>
              <a:t>最高配置，允许使用工具</a:t>
            </a:r>
            <a:endParaRPr/>
          </a:p>
        </p:txBody>
      </p:sp>
      <p:sp>
        <p:nvSpPr>
          <p:cNvPr id="610" name="" descr="{&quot;isTemplate&quot;:true,&quot;type&quot;:&quot;text&quot;}"/>
          <p:cNvSpPr txBox="1"/>
          <p:nvPr/>
        </p:nvSpPr>
        <p:spPr>
          <a:xfrm rot="0" flipH="0" flipV="0">
            <a:off x="8410575" y="4495800"/>
            <a:ext cx="1133475" cy="171450"/>
          </a:xfrm>
          <a:prstGeom prst="rect"/>
        </p:spPr>
        <p:txBody>
          <a:bodyPr wrap="none" lIns="0" tIns="0" rIns="0" bIns="0"/>
          <a:p>
            <a:pPr>
              <a:lnSpc>
                <a:spcPct val="100000"/>
              </a:lnSpc>
            </a:pPr>
            <a:r>
              <a:rPr lang="en-US" sz="1125" b="1">
                <a:solidFill>
                  <a:srgbClr val="276FBF"/>
                </a:solidFill>
                <a:latin typeface="Microsoft YaHei"/>
                <a:ea typeface="Microsoft YaHei"/>
              </a:rPr>
              <a:t>67.7%</a:t>
            </a:r>
            <a:endParaRPr/>
          </a:p>
        </p:txBody>
      </p:sp>
      <p:sp>
        <p:nvSpPr>
          <p:cNvPr id="611" name="" descr="{&quot;isTemplate&quot;:true,&quot;type&quot;:&quot;text&quot;}"/>
          <p:cNvSpPr txBox="1"/>
          <p:nvPr/>
        </p:nvSpPr>
        <p:spPr>
          <a:xfrm rot="0" flipH="0" flipV="0">
            <a:off x="9639300" y="4505325"/>
            <a:ext cx="1885950" cy="161925"/>
          </a:xfrm>
          <a:prstGeom prst="rect"/>
        </p:spPr>
        <p:txBody>
          <a:bodyPr wrap="none" lIns="0" tIns="0" rIns="0" bIns="0"/>
          <a:p>
            <a:pPr>
              <a:lnSpc>
                <a:spcPct val="100000"/>
              </a:lnSpc>
            </a:pPr>
            <a:r>
              <a:rPr lang="en-US" sz="1050">
                <a:solidFill>
                  <a:srgbClr val="546779"/>
                </a:solidFill>
                <a:latin typeface="Microsoft YaHei"/>
                <a:ea typeface="Microsoft YaHei"/>
              </a:rPr>
              <a:t>2026-09-28</a:t>
            </a:r>
            <a:endParaRPr/>
          </a:p>
        </p:txBody>
      </p:sp>
      <p:sp>
        <p:nvSpPr>
          <p:cNvPr id="612" name=""/>
          <p:cNvSpPr/>
          <p:nvPr/>
        </p:nvSpPr>
        <p:spPr>
          <a:xfrm rot="0" flipH="0" flipV="0">
            <a:off x="609600" y="4857750"/>
            <a:ext cx="10972800" cy="400050"/>
          </a:xfrm>
          <a:prstGeom prst="roundRect">
            <a:avLst>
              <a:gd name="adj" fmla="val 19048"/>
            </a:avLst>
          </a:prstGeom>
          <a:solidFill>
            <a:srgbClr val="F4F7FA"/>
          </a:solidFill>
          <a:ln/>
        </p:spPr>
        <p:txBody>
          <a:bodyPr/>
          <a:p/>
        </p:txBody>
      </p:sp>
      <p:sp>
        <p:nvSpPr>
          <p:cNvPr id="613" name="" descr="{&quot;isTemplate&quot;:true,&quot;type&quot;:&quot;text&quot;}"/>
          <p:cNvSpPr txBox="1"/>
          <p:nvPr/>
        </p:nvSpPr>
        <p:spPr>
          <a:xfrm rot="0" flipH="0" flipV="0">
            <a:off x="666750" y="4981575"/>
            <a:ext cx="3590925" cy="161925"/>
          </a:xfrm>
          <a:prstGeom prst="rect"/>
        </p:spPr>
        <p:txBody>
          <a:bodyPr wrap="none" lIns="42863" tIns="0" rIns="0" bIns="0"/>
          <a:p>
            <a:pPr>
              <a:lnSpc>
                <a:spcPct val="100000"/>
              </a:lnSpc>
            </a:pPr>
            <a:r>
              <a:rPr lang="zh-CN" sz="1050">
                <a:solidFill>
                  <a:srgbClr val="20344B"/>
                </a:solidFill>
                <a:latin typeface="Microsoft YaHei"/>
                <a:ea typeface="Microsoft YaHei"/>
              </a:rPr>
              <a:t>聚合站点</a:t>
            </a:r>
            <a:r>
              <a:rPr lang="en-US" sz="1050">
                <a:solidFill>
                  <a:srgbClr val="20344B"/>
                </a:solidFill>
                <a:latin typeface="Microsoft YaHei"/>
                <a:ea typeface="Microsoft YaHei"/>
              </a:rPr>
              <a:t xml:space="preserve"> B</a:t>
            </a:r>
            <a:endParaRPr/>
          </a:p>
        </p:txBody>
      </p:sp>
      <p:sp>
        <p:nvSpPr>
          <p:cNvPr id="614" name="" descr="{&quot;isTemplate&quot;:true,&quot;type&quot;:&quot;text&quot;}"/>
          <p:cNvSpPr txBox="1"/>
          <p:nvPr/>
        </p:nvSpPr>
        <p:spPr>
          <a:xfrm rot="0" flipH="0" flipV="0">
            <a:off x="4352925" y="4981575"/>
            <a:ext cx="3962400" cy="161925"/>
          </a:xfrm>
          <a:prstGeom prst="rect"/>
        </p:spPr>
        <p:txBody>
          <a:bodyPr wrap="none" lIns="0" tIns="0" rIns="0" bIns="0"/>
          <a:p>
            <a:pPr>
              <a:lnSpc>
                <a:spcPct val="100000"/>
              </a:lnSpc>
            </a:pPr>
            <a:r>
              <a:rPr lang="zh-CN" sz="1050">
                <a:solidFill>
                  <a:srgbClr val="546779"/>
                </a:solidFill>
                <a:latin typeface="Microsoft YaHei"/>
                <a:ea typeface="Microsoft YaHei"/>
              </a:rPr>
              <a:t>头名行未标注工具</a:t>
            </a:r>
            <a:endParaRPr/>
          </a:p>
        </p:txBody>
      </p:sp>
      <p:sp>
        <p:nvSpPr>
          <p:cNvPr id="615" name="" descr="{&quot;isTemplate&quot;:true,&quot;type&quot;:&quot;text&quot;}"/>
          <p:cNvSpPr txBox="1"/>
          <p:nvPr/>
        </p:nvSpPr>
        <p:spPr>
          <a:xfrm rot="0" flipH="0" flipV="0">
            <a:off x="8410575" y="4972050"/>
            <a:ext cx="1133475" cy="171450"/>
          </a:xfrm>
          <a:prstGeom prst="rect"/>
        </p:spPr>
        <p:txBody>
          <a:bodyPr wrap="none" lIns="0" tIns="0" rIns="0" bIns="0"/>
          <a:p>
            <a:pPr>
              <a:lnSpc>
                <a:spcPct val="100000"/>
              </a:lnSpc>
            </a:pPr>
            <a:r>
              <a:rPr lang="en-US" sz="1125" b="1">
                <a:solidFill>
                  <a:srgbClr val="546779"/>
                </a:solidFill>
                <a:latin typeface="Microsoft YaHei"/>
                <a:ea typeface="Microsoft YaHei"/>
              </a:rPr>
              <a:t>65.0%</a:t>
            </a:r>
            <a:endParaRPr/>
          </a:p>
        </p:txBody>
      </p:sp>
      <p:sp>
        <p:nvSpPr>
          <p:cNvPr id="616" name="" descr="{&quot;isTemplate&quot;:true,&quot;type&quot;:&quot;text&quot;}"/>
          <p:cNvSpPr txBox="1"/>
          <p:nvPr/>
        </p:nvSpPr>
        <p:spPr>
          <a:xfrm rot="0" flipH="0" flipV="0">
            <a:off x="9639300" y="4981575"/>
            <a:ext cx="1885950" cy="161925"/>
          </a:xfrm>
          <a:prstGeom prst="rect"/>
        </p:spPr>
        <p:txBody>
          <a:bodyPr wrap="none" lIns="0" tIns="0" rIns="0" bIns="0"/>
          <a:p>
            <a:pPr>
              <a:lnSpc>
                <a:spcPct val="100000"/>
              </a:lnSpc>
            </a:pPr>
            <a:r>
              <a:rPr lang="en-US" sz="1050">
                <a:solidFill>
                  <a:srgbClr val="546779"/>
                </a:solidFill>
                <a:latin typeface="Microsoft YaHei"/>
                <a:ea typeface="Microsoft YaHei"/>
              </a:rPr>
              <a:t>2026-09-28</a:t>
            </a:r>
            <a:endParaRPr/>
          </a:p>
        </p:txBody>
      </p:sp>
      <p:sp>
        <p:nvSpPr>
          <p:cNvPr id="617" name=""/>
          <p:cNvSpPr/>
          <p:nvPr/>
        </p:nvSpPr>
        <p:spPr>
          <a:xfrm rot="0" flipH="0" flipV="0">
            <a:off x="609600" y="5334000"/>
            <a:ext cx="10972800" cy="400050"/>
          </a:xfrm>
          <a:prstGeom prst="roundRect">
            <a:avLst>
              <a:gd name="adj" fmla="val 19048"/>
            </a:avLst>
          </a:prstGeom>
          <a:solidFill>
            <a:srgbClr val="FFF4E6"/>
          </a:solidFill>
          <a:ln/>
        </p:spPr>
        <p:txBody>
          <a:bodyPr/>
          <a:p/>
        </p:txBody>
      </p:sp>
      <p:sp>
        <p:nvSpPr>
          <p:cNvPr id="618" name="" descr="{&quot;isTemplate&quot;:true,&quot;type&quot;:&quot;text&quot;}"/>
          <p:cNvSpPr txBox="1"/>
          <p:nvPr/>
        </p:nvSpPr>
        <p:spPr>
          <a:xfrm rot="0" flipH="0" flipV="0">
            <a:off x="666750" y="5457825"/>
            <a:ext cx="3590925" cy="161925"/>
          </a:xfrm>
          <a:prstGeom prst="rect"/>
        </p:spPr>
        <p:txBody>
          <a:bodyPr wrap="none" lIns="42863" tIns="0" rIns="0" bIns="0"/>
          <a:p>
            <a:pPr>
              <a:lnSpc>
                <a:spcPct val="100000"/>
              </a:lnSpc>
            </a:pPr>
            <a:r>
              <a:rPr lang="zh-CN" sz="1050">
                <a:solidFill>
                  <a:srgbClr val="CB6B28"/>
                </a:solidFill>
                <a:latin typeface="Microsoft YaHei"/>
                <a:ea typeface="Microsoft YaHei"/>
              </a:rPr>
              <a:t>聚合站点</a:t>
            </a:r>
            <a:r>
              <a:rPr lang="en-US" sz="1050">
                <a:solidFill>
                  <a:srgbClr val="CB6B28"/>
                </a:solidFill>
                <a:latin typeface="Microsoft YaHei"/>
                <a:ea typeface="Microsoft YaHei"/>
              </a:rPr>
              <a:t xml:space="preserve"> C</a:t>
            </a:r>
            <a:r>
              <a:rPr lang="zh-CN" sz="1050">
                <a:solidFill>
                  <a:srgbClr val="CB6B28"/>
                </a:solidFill>
                <a:latin typeface="Microsoft YaHei"/>
                <a:ea typeface="Microsoft YaHei"/>
              </a:rPr>
              <a:t>（更早快照）</a:t>
            </a:r>
            <a:endParaRPr/>
          </a:p>
        </p:txBody>
      </p:sp>
      <p:sp>
        <p:nvSpPr>
          <p:cNvPr id="619" name="" descr="{&quot;isTemplate&quot;:true,&quot;type&quot;:&quot;text&quot;}"/>
          <p:cNvSpPr txBox="1"/>
          <p:nvPr/>
        </p:nvSpPr>
        <p:spPr>
          <a:xfrm rot="0" flipH="0" flipV="0">
            <a:off x="4352925" y="5457825"/>
            <a:ext cx="3962400" cy="161925"/>
          </a:xfrm>
          <a:prstGeom prst="rect"/>
        </p:spPr>
        <p:txBody>
          <a:bodyPr wrap="none" lIns="0" tIns="0" rIns="0" bIns="0"/>
          <a:p>
            <a:pPr>
              <a:lnSpc>
                <a:spcPct val="100000"/>
              </a:lnSpc>
            </a:pPr>
            <a:r>
              <a:rPr lang="zh-CN" sz="1050">
                <a:solidFill>
                  <a:srgbClr val="CB6B28"/>
                </a:solidFill>
                <a:latin typeface="Microsoft YaHei"/>
                <a:ea typeface="Microsoft YaHei"/>
              </a:rPr>
              <a:t>来源为厂商公布值</a:t>
            </a:r>
            <a:endParaRPr/>
          </a:p>
        </p:txBody>
      </p:sp>
      <p:sp>
        <p:nvSpPr>
          <p:cNvPr id="620" name="" descr="{&quot;isTemplate&quot;:true,&quot;type&quot;:&quot;text&quot;}"/>
          <p:cNvSpPr txBox="1"/>
          <p:nvPr/>
        </p:nvSpPr>
        <p:spPr>
          <a:xfrm rot="0" flipH="0" flipV="0">
            <a:off x="8410575" y="5448300"/>
            <a:ext cx="1133475" cy="171450"/>
          </a:xfrm>
          <a:prstGeom prst="rect"/>
        </p:spPr>
        <p:txBody>
          <a:bodyPr wrap="none" lIns="0" tIns="0" rIns="0" bIns="0"/>
          <a:p>
            <a:pPr>
              <a:lnSpc>
                <a:spcPct val="100000"/>
              </a:lnSpc>
            </a:pPr>
            <a:r>
              <a:rPr lang="en-US" sz="1125" b="1">
                <a:solidFill>
                  <a:srgbClr val="CB6B28"/>
                </a:solidFill>
                <a:latin typeface="Microsoft YaHei"/>
                <a:ea typeface="Microsoft YaHei"/>
              </a:rPr>
              <a:t>55.5%</a:t>
            </a:r>
            <a:endParaRPr/>
          </a:p>
        </p:txBody>
      </p:sp>
      <p:sp>
        <p:nvSpPr>
          <p:cNvPr id="621" name="" descr="{&quot;isTemplate&quot;:true,&quot;type&quot;:&quot;text&quot;}"/>
          <p:cNvSpPr txBox="1"/>
          <p:nvPr/>
        </p:nvSpPr>
        <p:spPr>
          <a:xfrm rot="0" flipH="0" flipV="0">
            <a:off x="9639300" y="5457825"/>
            <a:ext cx="1885950" cy="161925"/>
          </a:xfrm>
          <a:prstGeom prst="rect"/>
        </p:spPr>
        <p:txBody>
          <a:bodyPr wrap="none" lIns="0" tIns="0" rIns="0" bIns="0"/>
          <a:p>
            <a:pPr>
              <a:lnSpc>
                <a:spcPct val="100000"/>
              </a:lnSpc>
            </a:pPr>
            <a:r>
              <a:rPr lang="en-US" sz="1050">
                <a:solidFill>
                  <a:srgbClr val="CB6B28"/>
                </a:solidFill>
                <a:latin typeface="Microsoft YaHei"/>
                <a:ea typeface="Microsoft YaHei"/>
              </a:rPr>
              <a:t>2026-09-07</a:t>
            </a:r>
            <a:endParaRPr/>
          </a:p>
        </p:txBody>
      </p:sp>
      <p:sp>
        <p:nvSpPr>
          <p:cNvPr id="622"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623"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25 / 36</a:t>
            </a:r>
            <a:endParaRPr/>
          </a:p>
        </p:txBody>
      </p:sp>
    </p:spTree>
  </p:cSld>
</p:sld>
</file>

<file path=ppt/slides/slide26.xml><?xml version="1.0" encoding="utf-8"?>
<p:sld xmlns:p="http://schemas.openxmlformats.org/presentationml/2006/main" xmlns:a="http://schemas.openxmlformats.org/drawingml/2006/main">
  <p:cSld>
    <p:spTree>
      <p:nvGrpSpPr>
        <p:cNvPr id="624" name="" descr="&lt;Slide notes={`这是 HLE 目前的分数分布，数据取自 2026 年 9 月末的几个聚合站点。&#10;&#10;排在最上面的是 Claude Opus 5.5，在允许使用工具的最高配置下拿到 67.7%。紧随其后是 Fable 5.1 的 65.0% 和 Opus 5 的 63.6%。注意这几行都写着带工具，这一点很关键。&#10;&#10;作为参照，人类领域专家在这个基准上大约能到九成。但这个参照不能直接比：专家面对的往往是自己熟悉的方向，也有条件查资料，和模型全科一起考不是一回事。&#10;&#10;再看协议差异。同一个模型 Fable 5.1，不带工具是 60.9%，带上工具是 65.0%，差了四个多百分点。所以看到 HLE 的分数，第一件事就是问它带不带工具。&#10;&#10;最后提醒，这几个数字两三周内还会变，引用时务必带日期。`}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⑤　1.4.5　领先模型：HLE 头名与人类参照（2026-09 快照）&lt;/Text&gt;&#10;            &lt;Text style={{ fontSize: 34, fontWeight: 'bold', color: '#20344B' }}&gt;HLE：约 65% 到 67.7%&lt;/Text&gt;&#10;        &lt;/Box&gt;&#10;    &lt;/Box&gt;&#10;&#10;    &lt;Box style={{ height: 540, flexDirection: 'column', justifyContent: 'center', gap: 16 }}&gt;&#10;&#10;        &lt;Box style={{ flexDirection: 'row', gap: 12, alignItems: 'center' }}&gt;&#10;            &lt;Text style={{ width: 340, fontSize: 15, fontWeight: 'bold', color: '#20344B' }}&gt;Claude Opus 5.5（带工具）&lt;/Text&gt;&#10;            &lt;Box style={{ width: 668, height: 30, background: '#F4F7FA', borderRadius: 6, flexDirection: 'row' }}&gt;&#10;                &lt;Box style={{ width: 452, height: 30, background: '#276FBF', borderRadius: 6 }} /&gt;&#10;            &lt;/Box&gt;&#10;            &lt;Text style={{ width: 100, fontSize: 17, fontWeight: 'bold', color: '#276FBF' }}&gt;67.7&lt;/Text&gt;&#10;        &lt;/Box&gt;&#10;&#10;        &lt;Box style={{ flexDirection: 'row', gap: 12, alignItems: 'center' }}&gt;&#10;            &lt;Text style={{ width: 340, fontSize: 15, fontWeight: 'bold', color: '#20344B' }}&gt;Claude Fable 5.1（带工具）&lt;/Text&gt;&#10;            &lt;Box style={{ width: 668, height: 30, background: '#F4F7FA', borderRadius: 6, flexDirection: 'row' }}&gt;&#10;                &lt;Box style={{ width: 434, height: 30, background: '#276FBF', borderRadius: 6 }} /&gt;&#10;            &lt;/Box&gt;&#10;            &lt;Text style={{ width: 100, fontSize: 17, fontWeight: 'bold', color: '#276FBF' }}&gt;65.0&lt;/Text&gt;&#10;        &lt;/Box&gt;&#10;&#10;        &lt;Box style={{ flexDirection: 'row', gap: 12, alignItems: 'center' }}&gt;&#10;            &lt;Text style={{ width: 340, fontSize: 15, fontWeight: 'bold', color: '#20344B' }}&gt;Claude Opus 5（带工具）&lt;/Text&gt;&#10;            &lt;Box style={{ width: 668, height: 30, background: '#F4F7FA', borderRadius: 6, flexDirection: 'row' }}&gt;&#10;                &lt;Box style={{ width: 425, height: 30, background: '#276FBF', borderRadius: 6 }} /&gt;&#10;            &lt;/Box&gt;&#10;            &lt;Text style={{ width: 100, fontSize: 17, fontWeight: 'bold', color: '#276FBF' }}&gt;63.6&lt;/Text&gt;&#10;        &lt;/Box&gt;&#10;&#10;        &lt;Box style={{ flexDirection: 'row', gap: 12, alignItems: 'center' }}&gt;&#10;            &lt;Text style={{ width: 340, fontSize: 15, fontWeight: 'bold', color: '#546779' }}&gt;人类领域专家（参照）&lt;/Text&gt;&#10;            &lt;Box style={{ width: 668, height: 30, background: '#F4F7FA', borderRadius: 6, flexDirection: 'row' }}&gt;&#10;                &lt;Box style={{ width: 601, height: 30, background: '#546779', borderRadius: 6 }} /&gt;&#10;            &lt;/Box&gt;&#10;            &lt;Text style={{ width: 100, fontSize: 17, fontWeight: 'bold', color: '#546779' }}&gt;约 90&lt;/Text&gt;&#10;        &lt;/Box&gt;&#10;&#10;        &lt;Box style={{ flexDirection: 'row', gap: 14, background: '#FFF4E6', borderRadius: 10, padding: '14px 22px', alignItems: 'center' }}&gt;&#10;            &lt;Box style={{ width: 4, height: 52, background: '#CB6B28' }} /&gt;&#10;            &lt;Text style={{ fontSize: 15, color: '#CB6B28', lineHeight: 1.5 }}&gt;协议一变分数就变：同一模型 Fable 5.1，不带工具 60.9%，带上工具 65.0%。人类参照的答题条件与模型不同，只能当方向看&lt;/Text&gt;&#10;        &lt;/Box&gt;&#10;&#10;    &lt;/Box&gt;&#10;&#10;    &lt;Box style={{ height: 40, flexDirection: 'row', justifyContent: 'space-between', alignItems: 'center' }}&gt;&#10;        &lt;Text style={{ fontSize: 14, color: '#546779' }}&gt;1.4 从榜单到证据&lt;/Text&gt;&#10;        &lt;Text style={{ fontSize: 14, color: '#546779' }}&gt;26 / 36&lt;/Text&gt;&#10;    &lt;/Box&gt;&#10;&#10;&lt;/Slide&gt;&#10;"/>
        <p:cNvGrpSpPr/>
        <p:nvPr/>
      </p:nvGrpSpPr>
      <p:grpSpPr>
        <a:xfrm>
          <a:off x="0" y="0"/>
          <a:ext cx="0" cy="0"/>
          <a:chOff x="0" y="0"/>
          <a:chExt cx="0" cy="0"/>
        </a:xfrm>
      </p:grpSpPr>
      <p:sp>
        <p:nvSpPr>
          <p:cNvPr id="625" name=""/>
          <p:cNvSpPr/>
          <p:nvPr/>
        </p:nvSpPr>
        <p:spPr>
          <a:xfrm rot="0" flipH="0" flipV="0">
            <a:off x="0" y="0"/>
            <a:ext cx="12192000" cy="6858000"/>
          </a:xfrm>
          <a:prstGeom prst="rect">
            <a:avLst/>
          </a:prstGeom>
          <a:solidFill>
            <a:srgbClr val="FFFFFF"/>
          </a:solidFill>
          <a:ln/>
        </p:spPr>
        <p:txBody>
          <a:bodyPr/>
          <a:p/>
        </p:txBody>
      </p:sp>
      <p:sp>
        <p:nvSpPr>
          <p:cNvPr id="626" name=""/>
          <p:cNvSpPr/>
          <p:nvPr/>
        </p:nvSpPr>
        <p:spPr>
          <a:xfrm rot="0" flipH="0" flipV="0">
            <a:off x="609600" y="457200"/>
            <a:ext cx="38100" cy="419100"/>
          </a:xfrm>
          <a:prstGeom prst="rect">
            <a:avLst/>
          </a:prstGeom>
          <a:solidFill>
            <a:srgbClr val="276FBF"/>
          </a:solidFill>
          <a:ln/>
        </p:spPr>
        <p:txBody>
          <a:bodyPr/>
          <a:p/>
        </p:txBody>
      </p:sp>
      <p:sp>
        <p:nvSpPr>
          <p:cNvPr id="627" name="" descr="{&quot;isTemplate&quot;:true,&quot;type&quot;:&quot;text&quot;}"/>
          <p:cNvSpPr txBox="1"/>
          <p:nvPr/>
        </p:nvSpPr>
        <p:spPr>
          <a:xfrm rot="0" flipH="0" flipV="0">
            <a:off x="838200" y="371475"/>
            <a:ext cx="3686175" cy="161925"/>
          </a:xfrm>
          <a:prstGeom prst="rect"/>
        </p:spPr>
        <p:txBody>
          <a:bodyPr wrap="none" lIns="0" tIns="0" rIns="0" bIns="0"/>
          <a:p>
            <a:pPr>
              <a:lnSpc>
                <a:spcPct val="100000"/>
              </a:lnSpc>
            </a:pPr>
            <a:r>
              <a:rPr lang="zh-CN" sz="1050">
                <a:solidFill>
                  <a:srgbClr val="546779"/>
                </a:solidFill>
                <a:latin typeface="Microsoft YaHei"/>
                <a:ea typeface="Microsoft YaHei"/>
              </a:rPr>
              <a:t>⑤　</a:t>
            </a:r>
            <a:r>
              <a:rPr lang="en-US" sz="1050">
                <a:solidFill>
                  <a:srgbClr val="546779"/>
                </a:solidFill>
                <a:latin typeface="Microsoft YaHei"/>
                <a:ea typeface="Microsoft YaHei"/>
              </a:rPr>
              <a:t>1.4.5</a:t>
            </a:r>
            <a:r>
              <a:rPr lang="zh-CN" sz="1050">
                <a:solidFill>
                  <a:srgbClr val="546779"/>
                </a:solidFill>
                <a:latin typeface="Microsoft YaHei"/>
                <a:ea typeface="Microsoft YaHei"/>
              </a:rPr>
              <a:t>　领先模型：</a:t>
            </a:r>
            <a:r>
              <a:rPr lang="en-US" sz="1050">
                <a:solidFill>
                  <a:srgbClr val="546779"/>
                </a:solidFill>
                <a:latin typeface="Microsoft YaHei"/>
                <a:ea typeface="Microsoft YaHei"/>
              </a:rPr>
              <a:t xml:space="preserve">HLE </a:t>
            </a:r>
            <a:r>
              <a:rPr lang="zh-CN" sz="1050">
                <a:solidFill>
                  <a:srgbClr val="546779"/>
                </a:solidFill>
                <a:latin typeface="Microsoft YaHei"/>
                <a:ea typeface="Microsoft YaHei"/>
              </a:rPr>
              <a:t>头名与人类参照（</a:t>
            </a:r>
            <a:r>
              <a:rPr lang="en-US" sz="1050">
                <a:solidFill>
                  <a:srgbClr val="546779"/>
                </a:solidFill>
                <a:latin typeface="Microsoft YaHei"/>
                <a:ea typeface="Microsoft YaHei"/>
              </a:rPr>
              <a:t xml:space="preserve">2026-09 </a:t>
            </a:r>
            <a:r>
              <a:rPr lang="zh-CN" sz="1050">
                <a:solidFill>
                  <a:srgbClr val="546779"/>
                </a:solidFill>
                <a:latin typeface="Microsoft YaHei"/>
                <a:ea typeface="Microsoft YaHei"/>
              </a:rPr>
              <a:t>快照）</a:t>
            </a:r>
            <a:endParaRPr/>
          </a:p>
        </p:txBody>
      </p:sp>
      <p:sp>
        <p:nvSpPr>
          <p:cNvPr id="628" name="" descr="{&quot;isTemplate&quot;:true,&quot;type&quot;:&quot;text&quot;}"/>
          <p:cNvSpPr txBox="1"/>
          <p:nvPr/>
        </p:nvSpPr>
        <p:spPr>
          <a:xfrm rot="0" flipH="0" flipV="0">
            <a:off x="838200" y="571500"/>
            <a:ext cx="3686175" cy="390525"/>
          </a:xfrm>
          <a:prstGeom prst="rect"/>
        </p:spPr>
        <p:txBody>
          <a:bodyPr wrap="none" lIns="0" tIns="0" rIns="0" bIns="0"/>
          <a:p>
            <a:pPr>
              <a:lnSpc>
                <a:spcPct val="100000"/>
              </a:lnSpc>
            </a:pPr>
            <a:r>
              <a:rPr lang="en-US" sz="2550" b="1">
                <a:solidFill>
                  <a:srgbClr val="20344B"/>
                </a:solidFill>
                <a:latin typeface="Microsoft YaHei"/>
                <a:ea typeface="Microsoft YaHei"/>
              </a:rPr>
              <a:t>HLE</a:t>
            </a:r>
            <a:r>
              <a:rPr lang="zh-CN" sz="2550" b="1">
                <a:solidFill>
                  <a:srgbClr val="20344B"/>
                </a:solidFill>
                <a:latin typeface="Microsoft YaHei"/>
                <a:ea typeface="Microsoft YaHei"/>
              </a:rPr>
              <a:t>：约</a:t>
            </a:r>
            <a:r>
              <a:rPr lang="en-US" sz="2550" b="1">
                <a:solidFill>
                  <a:srgbClr val="20344B"/>
                </a:solidFill>
                <a:latin typeface="Microsoft YaHei"/>
                <a:ea typeface="Microsoft YaHei"/>
              </a:rPr>
              <a:t xml:space="preserve"> 65% </a:t>
            </a:r>
            <a:r>
              <a:rPr lang="zh-CN" sz="2550" b="1">
                <a:solidFill>
                  <a:srgbClr val="20344B"/>
                </a:solidFill>
                <a:latin typeface="Microsoft YaHei"/>
                <a:ea typeface="Microsoft YaHei"/>
              </a:rPr>
              <a:t>到</a:t>
            </a:r>
            <a:r>
              <a:rPr lang="en-US" sz="2550" b="1">
                <a:solidFill>
                  <a:srgbClr val="20344B"/>
                </a:solidFill>
                <a:latin typeface="Microsoft YaHei"/>
                <a:ea typeface="Microsoft YaHei"/>
              </a:rPr>
              <a:t xml:space="preserve"> 67.7%</a:t>
            </a:r>
            <a:endParaRPr/>
          </a:p>
        </p:txBody>
      </p:sp>
      <p:sp>
        <p:nvSpPr>
          <p:cNvPr id="629" name="" descr="{&quot;isTemplate&quot;:true,&quot;type&quot;:&quot;text&quot;}"/>
          <p:cNvSpPr txBox="1"/>
          <p:nvPr/>
        </p:nvSpPr>
        <p:spPr>
          <a:xfrm rot="0" flipH="0" flipV="0">
            <a:off x="609600" y="2514600"/>
            <a:ext cx="3238500" cy="171450"/>
          </a:xfrm>
          <a:prstGeom prst="rect"/>
        </p:spPr>
        <p:txBody>
          <a:bodyPr wrap="none" lIns="0" tIns="0" rIns="0" bIns="0"/>
          <a:p>
            <a:pPr>
              <a:lnSpc>
                <a:spcPct val="100000"/>
              </a:lnSpc>
            </a:pPr>
            <a:r>
              <a:rPr lang="en-US" sz="1125" b="1">
                <a:solidFill>
                  <a:srgbClr val="20344B"/>
                </a:solidFill>
                <a:latin typeface="Microsoft YaHei"/>
                <a:ea typeface="Microsoft YaHei"/>
              </a:rPr>
              <a:t>Claude Opus 5.5</a:t>
            </a:r>
            <a:r>
              <a:rPr lang="zh-CN" sz="1125" b="1">
                <a:solidFill>
                  <a:srgbClr val="20344B"/>
                </a:solidFill>
                <a:latin typeface="Microsoft YaHei"/>
                <a:ea typeface="Microsoft YaHei"/>
              </a:rPr>
              <a:t>（带工具）</a:t>
            </a:r>
            <a:endParaRPr/>
          </a:p>
        </p:txBody>
      </p:sp>
      <p:sp>
        <p:nvSpPr>
          <p:cNvPr id="630" name=""/>
          <p:cNvSpPr/>
          <p:nvPr/>
        </p:nvSpPr>
        <p:spPr>
          <a:xfrm rot="0" flipH="0" flipV="0">
            <a:off x="3962400" y="2457450"/>
            <a:ext cx="6362700" cy="285750"/>
          </a:xfrm>
          <a:prstGeom prst="roundRect">
            <a:avLst>
              <a:gd name="adj" fmla="val 20000"/>
            </a:avLst>
          </a:prstGeom>
          <a:solidFill>
            <a:srgbClr val="F4F7FA"/>
          </a:solidFill>
          <a:ln/>
        </p:spPr>
        <p:txBody>
          <a:bodyPr/>
          <a:p/>
        </p:txBody>
      </p:sp>
      <p:sp>
        <p:nvSpPr>
          <p:cNvPr id="631" name=""/>
          <p:cNvSpPr/>
          <p:nvPr/>
        </p:nvSpPr>
        <p:spPr>
          <a:xfrm rot="0" flipH="0" flipV="0">
            <a:off x="3962400" y="2457450"/>
            <a:ext cx="4305300" cy="285750"/>
          </a:xfrm>
          <a:prstGeom prst="roundRect">
            <a:avLst>
              <a:gd name="adj" fmla="val 20000"/>
            </a:avLst>
          </a:prstGeom>
          <a:solidFill>
            <a:srgbClr val="276FBF"/>
          </a:solidFill>
          <a:ln/>
        </p:spPr>
        <p:txBody>
          <a:bodyPr/>
          <a:p/>
        </p:txBody>
      </p:sp>
      <p:sp>
        <p:nvSpPr>
          <p:cNvPr id="632" name="" descr="{&quot;isTemplate&quot;:true,&quot;type&quot;:&quot;text&quot;}"/>
          <p:cNvSpPr txBox="1"/>
          <p:nvPr/>
        </p:nvSpPr>
        <p:spPr>
          <a:xfrm rot="0" flipH="0" flipV="0">
            <a:off x="10439400" y="2505075"/>
            <a:ext cx="952500" cy="200025"/>
          </a:xfrm>
          <a:prstGeom prst="rect"/>
        </p:spPr>
        <p:txBody>
          <a:bodyPr wrap="none" lIns="0" tIns="0" rIns="0" bIns="0"/>
          <a:p>
            <a:pPr>
              <a:lnSpc>
                <a:spcPct val="100000"/>
              </a:lnSpc>
            </a:pPr>
            <a:r>
              <a:rPr lang="en-US" sz="1275" b="1">
                <a:solidFill>
                  <a:srgbClr val="276FBF"/>
                </a:solidFill>
                <a:latin typeface="Microsoft YaHei"/>
                <a:ea typeface="Microsoft YaHei"/>
              </a:rPr>
              <a:t>67.7</a:t>
            </a:r>
            <a:endParaRPr/>
          </a:p>
        </p:txBody>
      </p:sp>
      <p:sp>
        <p:nvSpPr>
          <p:cNvPr id="633" name="" descr="{&quot;isTemplate&quot;:true,&quot;type&quot;:&quot;text&quot;}"/>
          <p:cNvSpPr txBox="1"/>
          <p:nvPr/>
        </p:nvSpPr>
        <p:spPr>
          <a:xfrm rot="0" flipH="0" flipV="0">
            <a:off x="609600" y="2952750"/>
            <a:ext cx="3238500" cy="171450"/>
          </a:xfrm>
          <a:prstGeom prst="rect"/>
        </p:spPr>
        <p:txBody>
          <a:bodyPr wrap="none" lIns="0" tIns="0" rIns="0" bIns="0"/>
          <a:p>
            <a:pPr>
              <a:lnSpc>
                <a:spcPct val="100000"/>
              </a:lnSpc>
            </a:pPr>
            <a:r>
              <a:rPr lang="en-US" sz="1125" b="1">
                <a:solidFill>
                  <a:srgbClr val="20344B"/>
                </a:solidFill>
                <a:latin typeface="Microsoft YaHei"/>
                <a:ea typeface="Microsoft YaHei"/>
              </a:rPr>
              <a:t>Claude Fable 5.1</a:t>
            </a:r>
            <a:r>
              <a:rPr lang="zh-CN" sz="1125" b="1">
                <a:solidFill>
                  <a:srgbClr val="20344B"/>
                </a:solidFill>
                <a:latin typeface="Microsoft YaHei"/>
                <a:ea typeface="Microsoft YaHei"/>
              </a:rPr>
              <a:t>（带工具）</a:t>
            </a:r>
            <a:endParaRPr/>
          </a:p>
        </p:txBody>
      </p:sp>
      <p:sp>
        <p:nvSpPr>
          <p:cNvPr id="634" name=""/>
          <p:cNvSpPr/>
          <p:nvPr/>
        </p:nvSpPr>
        <p:spPr>
          <a:xfrm rot="0" flipH="0" flipV="0">
            <a:off x="3962400" y="2895600"/>
            <a:ext cx="6362700" cy="285750"/>
          </a:xfrm>
          <a:prstGeom prst="roundRect">
            <a:avLst>
              <a:gd name="adj" fmla="val 20000"/>
            </a:avLst>
          </a:prstGeom>
          <a:solidFill>
            <a:srgbClr val="F4F7FA"/>
          </a:solidFill>
          <a:ln/>
        </p:spPr>
        <p:txBody>
          <a:bodyPr/>
          <a:p/>
        </p:txBody>
      </p:sp>
      <p:sp>
        <p:nvSpPr>
          <p:cNvPr id="635" name=""/>
          <p:cNvSpPr/>
          <p:nvPr/>
        </p:nvSpPr>
        <p:spPr>
          <a:xfrm rot="0" flipH="0" flipV="0">
            <a:off x="3962400" y="2895600"/>
            <a:ext cx="4133850" cy="285750"/>
          </a:xfrm>
          <a:prstGeom prst="roundRect">
            <a:avLst>
              <a:gd name="adj" fmla="val 20000"/>
            </a:avLst>
          </a:prstGeom>
          <a:solidFill>
            <a:srgbClr val="276FBF"/>
          </a:solidFill>
          <a:ln/>
        </p:spPr>
        <p:txBody>
          <a:bodyPr/>
          <a:p/>
        </p:txBody>
      </p:sp>
      <p:sp>
        <p:nvSpPr>
          <p:cNvPr id="636" name="" descr="{&quot;isTemplate&quot;:true,&quot;type&quot;:&quot;text&quot;}"/>
          <p:cNvSpPr txBox="1"/>
          <p:nvPr/>
        </p:nvSpPr>
        <p:spPr>
          <a:xfrm rot="0" flipH="0" flipV="0">
            <a:off x="10439400" y="2943225"/>
            <a:ext cx="952500" cy="200025"/>
          </a:xfrm>
          <a:prstGeom prst="rect"/>
        </p:spPr>
        <p:txBody>
          <a:bodyPr wrap="none" lIns="0" tIns="0" rIns="0" bIns="0"/>
          <a:p>
            <a:pPr>
              <a:lnSpc>
                <a:spcPct val="100000"/>
              </a:lnSpc>
            </a:pPr>
            <a:r>
              <a:rPr lang="en-US" sz="1275" b="1">
                <a:solidFill>
                  <a:srgbClr val="276FBF"/>
                </a:solidFill>
                <a:latin typeface="Microsoft YaHei"/>
                <a:ea typeface="Microsoft YaHei"/>
              </a:rPr>
              <a:t>65.0</a:t>
            </a:r>
            <a:endParaRPr/>
          </a:p>
        </p:txBody>
      </p:sp>
      <p:sp>
        <p:nvSpPr>
          <p:cNvPr id="637" name="" descr="{&quot;isTemplate&quot;:true,&quot;type&quot;:&quot;text&quot;}"/>
          <p:cNvSpPr txBox="1"/>
          <p:nvPr/>
        </p:nvSpPr>
        <p:spPr>
          <a:xfrm rot="0" flipH="0" flipV="0">
            <a:off x="609600" y="3390900"/>
            <a:ext cx="3238500" cy="171450"/>
          </a:xfrm>
          <a:prstGeom prst="rect"/>
        </p:spPr>
        <p:txBody>
          <a:bodyPr wrap="none" lIns="0" tIns="0" rIns="0" bIns="0"/>
          <a:p>
            <a:pPr>
              <a:lnSpc>
                <a:spcPct val="100000"/>
              </a:lnSpc>
            </a:pPr>
            <a:r>
              <a:rPr lang="en-US" sz="1125" b="1">
                <a:solidFill>
                  <a:srgbClr val="20344B"/>
                </a:solidFill>
                <a:latin typeface="Microsoft YaHei"/>
                <a:ea typeface="Microsoft YaHei"/>
              </a:rPr>
              <a:t>Claude Opus 5</a:t>
            </a:r>
            <a:r>
              <a:rPr lang="zh-CN" sz="1125" b="1">
                <a:solidFill>
                  <a:srgbClr val="20344B"/>
                </a:solidFill>
                <a:latin typeface="Microsoft YaHei"/>
                <a:ea typeface="Microsoft YaHei"/>
              </a:rPr>
              <a:t>（带工具）</a:t>
            </a:r>
            <a:endParaRPr/>
          </a:p>
        </p:txBody>
      </p:sp>
      <p:sp>
        <p:nvSpPr>
          <p:cNvPr id="638" name=""/>
          <p:cNvSpPr/>
          <p:nvPr/>
        </p:nvSpPr>
        <p:spPr>
          <a:xfrm rot="0" flipH="0" flipV="0">
            <a:off x="3962400" y="3333750"/>
            <a:ext cx="6362700" cy="285750"/>
          </a:xfrm>
          <a:prstGeom prst="roundRect">
            <a:avLst>
              <a:gd name="adj" fmla="val 20000"/>
            </a:avLst>
          </a:prstGeom>
          <a:solidFill>
            <a:srgbClr val="F4F7FA"/>
          </a:solidFill>
          <a:ln/>
        </p:spPr>
        <p:txBody>
          <a:bodyPr/>
          <a:p/>
        </p:txBody>
      </p:sp>
      <p:sp>
        <p:nvSpPr>
          <p:cNvPr id="639" name=""/>
          <p:cNvSpPr/>
          <p:nvPr/>
        </p:nvSpPr>
        <p:spPr>
          <a:xfrm rot="0" flipH="0" flipV="0">
            <a:off x="3962400" y="3333750"/>
            <a:ext cx="4048125" cy="285750"/>
          </a:xfrm>
          <a:prstGeom prst="roundRect">
            <a:avLst>
              <a:gd name="adj" fmla="val 20000"/>
            </a:avLst>
          </a:prstGeom>
          <a:solidFill>
            <a:srgbClr val="276FBF"/>
          </a:solidFill>
          <a:ln/>
        </p:spPr>
        <p:txBody>
          <a:bodyPr/>
          <a:p/>
        </p:txBody>
      </p:sp>
      <p:sp>
        <p:nvSpPr>
          <p:cNvPr id="640" name="" descr="{&quot;isTemplate&quot;:true,&quot;type&quot;:&quot;text&quot;}"/>
          <p:cNvSpPr txBox="1"/>
          <p:nvPr/>
        </p:nvSpPr>
        <p:spPr>
          <a:xfrm rot="0" flipH="0" flipV="0">
            <a:off x="10439400" y="3381375"/>
            <a:ext cx="952500" cy="200025"/>
          </a:xfrm>
          <a:prstGeom prst="rect"/>
        </p:spPr>
        <p:txBody>
          <a:bodyPr wrap="none" lIns="0" tIns="0" rIns="0" bIns="0"/>
          <a:p>
            <a:pPr>
              <a:lnSpc>
                <a:spcPct val="100000"/>
              </a:lnSpc>
            </a:pPr>
            <a:r>
              <a:rPr lang="en-US" sz="1275" b="1">
                <a:solidFill>
                  <a:srgbClr val="276FBF"/>
                </a:solidFill>
                <a:latin typeface="Microsoft YaHei"/>
                <a:ea typeface="Microsoft YaHei"/>
              </a:rPr>
              <a:t>63.6</a:t>
            </a:r>
            <a:endParaRPr/>
          </a:p>
        </p:txBody>
      </p:sp>
      <p:sp>
        <p:nvSpPr>
          <p:cNvPr id="641" name="" descr="{&quot;isTemplate&quot;:true,&quot;type&quot;:&quot;text&quot;}"/>
          <p:cNvSpPr txBox="1"/>
          <p:nvPr/>
        </p:nvSpPr>
        <p:spPr>
          <a:xfrm rot="0" flipH="0" flipV="0">
            <a:off x="609600" y="3829050"/>
            <a:ext cx="3238500" cy="171450"/>
          </a:xfrm>
          <a:prstGeom prst="rect"/>
        </p:spPr>
        <p:txBody>
          <a:bodyPr wrap="none" lIns="0" tIns="0" rIns="0" bIns="0"/>
          <a:p>
            <a:pPr>
              <a:lnSpc>
                <a:spcPct val="100000"/>
              </a:lnSpc>
            </a:pPr>
            <a:r>
              <a:rPr lang="zh-CN" sz="1125" b="1">
                <a:solidFill>
                  <a:srgbClr val="546779"/>
                </a:solidFill>
                <a:latin typeface="Microsoft YaHei"/>
                <a:ea typeface="Microsoft YaHei"/>
              </a:rPr>
              <a:t>人类领域专家（参照）</a:t>
            </a:r>
            <a:endParaRPr/>
          </a:p>
        </p:txBody>
      </p:sp>
      <p:sp>
        <p:nvSpPr>
          <p:cNvPr id="642" name=""/>
          <p:cNvSpPr/>
          <p:nvPr/>
        </p:nvSpPr>
        <p:spPr>
          <a:xfrm rot="0" flipH="0" flipV="0">
            <a:off x="3962400" y="3771900"/>
            <a:ext cx="6362700" cy="285750"/>
          </a:xfrm>
          <a:prstGeom prst="roundRect">
            <a:avLst>
              <a:gd name="adj" fmla="val 20000"/>
            </a:avLst>
          </a:prstGeom>
          <a:solidFill>
            <a:srgbClr val="F4F7FA"/>
          </a:solidFill>
          <a:ln/>
        </p:spPr>
        <p:txBody>
          <a:bodyPr/>
          <a:p/>
        </p:txBody>
      </p:sp>
      <p:sp>
        <p:nvSpPr>
          <p:cNvPr id="643" name=""/>
          <p:cNvSpPr/>
          <p:nvPr/>
        </p:nvSpPr>
        <p:spPr>
          <a:xfrm rot="0" flipH="0" flipV="0">
            <a:off x="3962400" y="3771900"/>
            <a:ext cx="5724525" cy="285750"/>
          </a:xfrm>
          <a:prstGeom prst="roundRect">
            <a:avLst>
              <a:gd name="adj" fmla="val 20000"/>
            </a:avLst>
          </a:prstGeom>
          <a:solidFill>
            <a:srgbClr val="546779"/>
          </a:solidFill>
          <a:ln/>
        </p:spPr>
        <p:txBody>
          <a:bodyPr/>
          <a:p/>
        </p:txBody>
      </p:sp>
      <p:sp>
        <p:nvSpPr>
          <p:cNvPr id="644" name="" descr="{&quot;isTemplate&quot;:true,&quot;type&quot;:&quot;text&quot;}"/>
          <p:cNvSpPr txBox="1"/>
          <p:nvPr/>
        </p:nvSpPr>
        <p:spPr>
          <a:xfrm rot="0" flipH="0" flipV="0">
            <a:off x="10439400" y="3819525"/>
            <a:ext cx="952500" cy="200025"/>
          </a:xfrm>
          <a:prstGeom prst="rect"/>
        </p:spPr>
        <p:txBody>
          <a:bodyPr wrap="none" lIns="0" tIns="0" rIns="0" bIns="0"/>
          <a:p>
            <a:pPr>
              <a:lnSpc>
                <a:spcPct val="100000"/>
              </a:lnSpc>
            </a:pPr>
            <a:r>
              <a:rPr lang="zh-CN" sz="1275" b="1">
                <a:solidFill>
                  <a:srgbClr val="546779"/>
                </a:solidFill>
                <a:latin typeface="Microsoft YaHei"/>
                <a:ea typeface="Microsoft YaHei"/>
              </a:rPr>
              <a:t>约</a:t>
            </a:r>
            <a:r>
              <a:rPr lang="en-US" sz="1275" b="1">
                <a:solidFill>
                  <a:srgbClr val="546779"/>
                </a:solidFill>
                <a:latin typeface="Microsoft YaHei"/>
                <a:ea typeface="Microsoft YaHei"/>
              </a:rPr>
              <a:t xml:space="preserve"> 90</a:t>
            </a:r>
            <a:endParaRPr/>
          </a:p>
        </p:txBody>
      </p:sp>
      <p:sp>
        <p:nvSpPr>
          <p:cNvPr id="645" name=""/>
          <p:cNvSpPr/>
          <p:nvPr/>
        </p:nvSpPr>
        <p:spPr>
          <a:xfrm rot="0" flipH="0" flipV="0">
            <a:off x="609600" y="4210050"/>
            <a:ext cx="10972800" cy="762000"/>
          </a:xfrm>
          <a:prstGeom prst="roundRect">
            <a:avLst>
              <a:gd name="adj" fmla="val 12500"/>
            </a:avLst>
          </a:prstGeom>
          <a:solidFill>
            <a:srgbClr val="FFF4E6"/>
          </a:solidFill>
          <a:ln/>
        </p:spPr>
        <p:txBody>
          <a:bodyPr/>
          <a:p/>
        </p:txBody>
      </p:sp>
      <p:sp>
        <p:nvSpPr>
          <p:cNvPr id="646" name=""/>
          <p:cNvSpPr/>
          <p:nvPr/>
        </p:nvSpPr>
        <p:spPr>
          <a:xfrm rot="0" flipH="0" flipV="0">
            <a:off x="819150" y="4343400"/>
            <a:ext cx="38100" cy="495300"/>
          </a:xfrm>
          <a:prstGeom prst="rect">
            <a:avLst/>
          </a:prstGeom>
          <a:solidFill>
            <a:srgbClr val="CB6B28"/>
          </a:solidFill>
          <a:ln/>
        </p:spPr>
        <p:txBody>
          <a:bodyPr/>
          <a:p/>
        </p:txBody>
      </p:sp>
      <p:sp>
        <p:nvSpPr>
          <p:cNvPr id="647" name="" descr="{&quot;isTemplate&quot;:true,&quot;type&quot;:&quot;text&quot;}"/>
          <p:cNvSpPr txBox="1"/>
          <p:nvPr/>
        </p:nvSpPr>
        <p:spPr>
          <a:xfrm rot="0" flipH="0" flipV="0">
            <a:off x="990600" y="4467225"/>
            <a:ext cx="7991475" cy="257175"/>
          </a:xfrm>
          <a:prstGeom prst="rect"/>
        </p:spPr>
        <p:txBody>
          <a:bodyPr wrap="none" lIns="0" tIns="0" rIns="0" bIns="0"/>
          <a:p>
            <a:pPr>
              <a:lnSpc>
                <a:spcPct val="150000"/>
              </a:lnSpc>
            </a:pPr>
            <a:r>
              <a:rPr lang="zh-CN" sz="1125">
                <a:solidFill>
                  <a:srgbClr val="CB6B28"/>
                </a:solidFill>
                <a:latin typeface="Microsoft YaHei"/>
                <a:ea typeface="Microsoft YaHei"/>
              </a:rPr>
              <a:t>协议一变分数就变：同一模型</a:t>
            </a:r>
            <a:r>
              <a:rPr lang="en-US" sz="1125">
                <a:solidFill>
                  <a:srgbClr val="CB6B28"/>
                </a:solidFill>
                <a:latin typeface="Microsoft YaHei"/>
                <a:ea typeface="Microsoft YaHei"/>
              </a:rPr>
              <a:t xml:space="preserve"> Fable 5.1</a:t>
            </a:r>
            <a:r>
              <a:rPr lang="zh-CN" sz="1125">
                <a:solidFill>
                  <a:srgbClr val="CB6B28"/>
                </a:solidFill>
                <a:latin typeface="Microsoft YaHei"/>
                <a:ea typeface="Microsoft YaHei"/>
              </a:rPr>
              <a:t>，不带工具</a:t>
            </a:r>
            <a:r>
              <a:rPr lang="en-US" sz="1125">
                <a:solidFill>
                  <a:srgbClr val="CB6B28"/>
                </a:solidFill>
                <a:latin typeface="Microsoft YaHei"/>
                <a:ea typeface="Microsoft YaHei"/>
              </a:rPr>
              <a:t xml:space="preserve"> 60.9%</a:t>
            </a:r>
            <a:r>
              <a:rPr lang="zh-CN" sz="1125">
                <a:solidFill>
                  <a:srgbClr val="CB6B28"/>
                </a:solidFill>
                <a:latin typeface="Microsoft YaHei"/>
                <a:ea typeface="Microsoft YaHei"/>
              </a:rPr>
              <a:t>，带上工具</a:t>
            </a:r>
            <a:r>
              <a:rPr lang="en-US" sz="1125">
                <a:solidFill>
                  <a:srgbClr val="CB6B28"/>
                </a:solidFill>
                <a:latin typeface="Microsoft YaHei"/>
                <a:ea typeface="Microsoft YaHei"/>
              </a:rPr>
              <a:t xml:space="preserve"> 65.0%</a:t>
            </a:r>
            <a:r>
              <a:rPr lang="zh-CN" sz="1125">
                <a:solidFill>
                  <a:srgbClr val="CB6B28"/>
                </a:solidFill>
                <a:latin typeface="Microsoft YaHei"/>
                <a:ea typeface="Microsoft YaHei"/>
              </a:rPr>
              <a:t>。人类参照的答题条件与模型不同，只能当方向看</a:t>
            </a:r>
            <a:endParaRPr/>
          </a:p>
        </p:txBody>
      </p:sp>
      <p:sp>
        <p:nvSpPr>
          <p:cNvPr id="648"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649"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26 / 36</a:t>
            </a:r>
            <a:endParaRPr/>
          </a:p>
        </p:txBody>
      </p:sp>
    </p:spTree>
  </p:cSld>
</p:sld>
</file>

<file path=ppt/slides/slide27.xml><?xml version="1.0" encoding="utf-8"?>
<p:sld xmlns:p="http://schemas.openxmlformats.org/presentationml/2006/main" xmlns:a="http://schemas.openxmlformats.org/drawingml/2006/main">
  <p:cSld>
    <p:spTree>
      <p:nvGrpSpPr>
        <p:cNvPr id="650" name="" descr="&lt;Slide notes={`这是同一类模型在两个版本上的成绩，落差非常说明问题。&#10;&#10;在 SWE-bench Verified 上，前沿模型能拿到八成上下；在难度更高、做了抗污染设计的 Pro 版本上，同一模型掉到四成五左右，中间差了三十五个百分点。这不是模型退步了，而是两个测试问的问题不一样。&#10;&#10;原因有几层。第一层是污染。Verified 的题目来自公开仓库，仓库和修复记录都在训练数据里。有审计发现，模型只看任务编号就能把标准答案复述出来。第二层是题目本身有缺陷。OpenAI 的审计说，最难的那批未解决问题里，接近六成的测试用例有问题，答对了也可能被判错。第三层是脚手架差异。Verified 的成绩里混进了各家自己调优的执行框架，而 Pro 用统一脚手架，比的是模型本身。&#10;&#10;所以同一个模型，在八成的榜和四成五的榜上都是真实的，关键是它们测的不是同一件事。`}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⑤　1.4.5　领先模型：同一模型，两个版本，两个世界&lt;/Text&gt;&#10;            &lt;Text style={{ fontSize: 34, fontWeight: 'bold', color: '#20344B' }}&gt;SWE-bench：80.9% 与 45.9%&lt;/Text&gt;&#10;        &lt;/Box&gt;&#10;    &lt;/Box&gt;&#10;&#10;    &lt;Box style={{ height: 540, flexDirection: 'column', justifyContent: 'center', gap: 18 }}&gt;&#10;&#10;        &lt;Box style={{ flexDirection: 'row', gap: 12, alignItems: 'center' }}&gt;&#10;            &lt;Text style={{ width: 340, fontSize: 15, fontWeight: 'bold', color: '#CB6B28' }}&gt;Verified（500 题，2026-02 退役）&lt;/Text&gt;&#10;            &lt;Box style={{ width: 668, height: 34, background: '#FFF4E6', borderRadius: 6, flexDirection: 'row' }}&gt;&#10;                &lt;Box style={{ width: 540, height: 34, background: '#CB6B28', borderRadius: 6 }} /&gt;&#10;            &lt;/Box&gt;&#10;            &lt;Text style={{ width: 100, fontSize: 18, fontWeight: 'bold', color: '#CB6B28' }}&gt;80.9&lt;/Text&gt;&#10;        &lt;/Box&gt;&#10;&#10;        &lt;Box style={{ flexDirection: 'row', gap: 12, alignItems: 'center' }}&gt;&#10;            &lt;Text style={{ width: 340, fontSize: 15, fontWeight: 'bold', color: '#26816B' }}&gt;Pro（1,865 题，统一脚手架）&lt;/Text&gt;&#10;            &lt;Box style={{ width: 668, height: 34, background: '#ECF7F2', borderRadius: 6, flexDirection: 'row' }}&gt;&#10;                &lt;Box style={{ width: 307, height: 34, background: '#26816B', borderRadius: 6 }} /&gt;&#10;            &lt;/Box&gt;&#10;            &lt;Text style={{ width: 100, fontSize: 18, fontWeight: 'bold', color: '#26816B' }}&gt;45.9&lt;/Text&gt;&#10;        &lt;/Box&gt;&#10;&#10;        &lt;Box style={{ flexDirection: 'row', gap: 14, background: '#FFF4E6', borderRadius: 10, padding: '14px 22px', alignItems: 'center' }}&gt;&#10;            &lt;Box style={{ width: 4, height: 44, background: '#CB6B28' }} /&gt;&#10;            &lt;Text style={{ fontSize: 16, color: '#CB6B28', lineHeight: 1.5 }}&gt;同一个模型、同一类任务，差 35 个百分点——这不是退步，是两个测试问的不是同一件事&lt;/Text&gt;&#10;        &lt;/Box&gt;&#10;&#10;        &lt;Box style={{ flexDirection: 'row', gap: 16 }}&gt;&#10;            &lt;Box style={{ width: 568, height: 176, background: '#F4F7FA', borderRadius: 12, padding: '16px 20px', flexDirection: 'column', gap: 8 }}&gt;&#10;                &lt;Text style={{ fontSize: 18, fontWeight: 'bold', color: '#20344B' }}&gt;落差从哪里来&lt;/Text&gt;&#10;                &lt;Text style={{ fontSize: 15, color: '#546779', lineHeight: 1.55 }}&gt;题目来自公开仓库，修复记录早已进入训练数据；被审计发现，模型看任务编号就能复述标准答案。&lt;/Text&gt;&#10;                &lt;Text style={{ fontSize: 15, color: '#546779', lineHeight: 1.55 }}&gt;各家还能自调执行框架，让分数混入脚手架工程。&lt;/Text&gt;&#10;            &lt;/Box&gt;&#10;            &lt;Box style={{ width: 568, height: 176, background: '#F4F7FA', borderRadius: 12, padding: '16px 20px', flexDirection: 'column', gap: 8 }}&gt;&#10;                &lt;Text style={{ fontSize: 18, fontWeight: 'bold', color: '#20344B' }}&gt;Pro 做了什么不同&lt;/Text&gt;&#10;                &lt;Text style={{ fontSize: 15, color: '#546779', lineHeight: 1.55 }}&gt;覆盖多种编程语言，包含从未公开的私有代码库，结构上阻断污染；统一脚手架与轮次上限，比的是模型本身。&lt;/Text&gt;&#10;                &lt;Box style={{ flex: 1 }} /&gt;&#10;                &lt;Text style={{ fontSize: 13, color: '#26816B' }}&gt;但 Pro 也被列入了&quot;有问题&quot;名单，仍需带保留地读&lt;/Text&gt;&#10;            &lt;/Box&gt;&#10;        &lt;/Box&gt;&#10;&#10;    &lt;/Box&gt;&#10;&#10;    &lt;Box style={{ height: 40, flexDirection: 'row', justifyContent: 'space-between', alignItems: 'center' }}&gt;&#10;        &lt;Text style={{ fontSize: 14, color: '#546779' }}&gt;1.4 从榜单到证据&lt;/Text&gt;&#10;        &lt;Text style={{ fontSize: 14, color: '#546779' }}&gt;27 / 36&lt;/Text&gt;&#10;    &lt;/Box&gt;&#10;&#10;&lt;/Slide&gt;&#10;"/>
        <p:cNvGrpSpPr/>
        <p:nvPr/>
      </p:nvGrpSpPr>
      <p:grpSpPr>
        <a:xfrm>
          <a:off x="0" y="0"/>
          <a:ext cx="0" cy="0"/>
          <a:chOff x="0" y="0"/>
          <a:chExt cx="0" cy="0"/>
        </a:xfrm>
      </p:grpSpPr>
      <p:sp>
        <p:nvSpPr>
          <p:cNvPr id="651" name=""/>
          <p:cNvSpPr/>
          <p:nvPr/>
        </p:nvSpPr>
        <p:spPr>
          <a:xfrm rot="0" flipH="0" flipV="0">
            <a:off x="0" y="0"/>
            <a:ext cx="12192000" cy="6858000"/>
          </a:xfrm>
          <a:prstGeom prst="rect">
            <a:avLst/>
          </a:prstGeom>
          <a:solidFill>
            <a:srgbClr val="FFFFFF"/>
          </a:solidFill>
          <a:ln/>
        </p:spPr>
        <p:txBody>
          <a:bodyPr/>
          <a:p/>
        </p:txBody>
      </p:sp>
      <p:sp>
        <p:nvSpPr>
          <p:cNvPr id="652" name=""/>
          <p:cNvSpPr/>
          <p:nvPr/>
        </p:nvSpPr>
        <p:spPr>
          <a:xfrm rot="0" flipH="0" flipV="0">
            <a:off x="609600" y="457200"/>
            <a:ext cx="38100" cy="419100"/>
          </a:xfrm>
          <a:prstGeom prst="rect">
            <a:avLst/>
          </a:prstGeom>
          <a:solidFill>
            <a:srgbClr val="276FBF"/>
          </a:solidFill>
          <a:ln/>
        </p:spPr>
        <p:txBody>
          <a:bodyPr/>
          <a:p/>
        </p:txBody>
      </p:sp>
      <p:sp>
        <p:nvSpPr>
          <p:cNvPr id="653" name="" descr="{&quot;isTemplate&quot;:true,&quot;type&quot;:&quot;text&quot;}"/>
          <p:cNvSpPr txBox="1"/>
          <p:nvPr/>
        </p:nvSpPr>
        <p:spPr>
          <a:xfrm rot="0" flipH="0" flipV="0">
            <a:off x="838200" y="371475"/>
            <a:ext cx="4695825" cy="161925"/>
          </a:xfrm>
          <a:prstGeom prst="rect"/>
        </p:spPr>
        <p:txBody>
          <a:bodyPr wrap="none" lIns="0" tIns="0" rIns="0" bIns="0"/>
          <a:p>
            <a:pPr>
              <a:lnSpc>
                <a:spcPct val="100000"/>
              </a:lnSpc>
            </a:pPr>
            <a:r>
              <a:rPr lang="zh-CN" sz="1050">
                <a:solidFill>
                  <a:srgbClr val="546779"/>
                </a:solidFill>
                <a:latin typeface="Microsoft YaHei"/>
                <a:ea typeface="Microsoft YaHei"/>
              </a:rPr>
              <a:t>⑤　</a:t>
            </a:r>
            <a:r>
              <a:rPr lang="en-US" sz="1050">
                <a:solidFill>
                  <a:srgbClr val="546779"/>
                </a:solidFill>
                <a:latin typeface="Microsoft YaHei"/>
                <a:ea typeface="Microsoft YaHei"/>
              </a:rPr>
              <a:t>1.4.5</a:t>
            </a:r>
            <a:r>
              <a:rPr lang="zh-CN" sz="1050">
                <a:solidFill>
                  <a:srgbClr val="546779"/>
                </a:solidFill>
                <a:latin typeface="Microsoft YaHei"/>
                <a:ea typeface="Microsoft YaHei"/>
              </a:rPr>
              <a:t>　领先模型：同一模型，两个版本，两个世界</a:t>
            </a:r>
            <a:endParaRPr/>
          </a:p>
        </p:txBody>
      </p:sp>
      <p:sp>
        <p:nvSpPr>
          <p:cNvPr id="654" name="" descr="{&quot;isTemplate&quot;:true,&quot;type&quot;:&quot;text&quot;}"/>
          <p:cNvSpPr txBox="1"/>
          <p:nvPr/>
        </p:nvSpPr>
        <p:spPr>
          <a:xfrm rot="0" flipH="0" flipV="0">
            <a:off x="838200" y="571500"/>
            <a:ext cx="4695825" cy="390525"/>
          </a:xfrm>
          <a:prstGeom prst="rect"/>
        </p:spPr>
        <p:txBody>
          <a:bodyPr wrap="none" lIns="0" tIns="0" rIns="0" bIns="0"/>
          <a:p>
            <a:pPr>
              <a:lnSpc>
                <a:spcPct val="100000"/>
              </a:lnSpc>
            </a:pPr>
            <a:r>
              <a:rPr lang="en-US" sz="2550" b="1">
                <a:solidFill>
                  <a:srgbClr val="20344B"/>
                </a:solidFill>
                <a:latin typeface="Microsoft YaHei"/>
                <a:ea typeface="Microsoft YaHei"/>
              </a:rPr>
              <a:t>SWE-bench</a:t>
            </a:r>
            <a:r>
              <a:rPr lang="zh-CN" sz="2550" b="1">
                <a:solidFill>
                  <a:srgbClr val="20344B"/>
                </a:solidFill>
                <a:latin typeface="Microsoft YaHei"/>
                <a:ea typeface="Microsoft YaHei"/>
              </a:rPr>
              <a:t>：</a:t>
            </a:r>
            <a:r>
              <a:rPr lang="en-US" sz="2550" b="1">
                <a:solidFill>
                  <a:srgbClr val="20344B"/>
                </a:solidFill>
                <a:latin typeface="Microsoft YaHei"/>
                <a:ea typeface="Microsoft YaHei"/>
              </a:rPr>
              <a:t xml:space="preserve">80.9% </a:t>
            </a:r>
            <a:r>
              <a:rPr lang="zh-CN" sz="2550" b="1">
                <a:solidFill>
                  <a:srgbClr val="20344B"/>
                </a:solidFill>
                <a:latin typeface="Microsoft YaHei"/>
                <a:ea typeface="Microsoft YaHei"/>
              </a:rPr>
              <a:t>与</a:t>
            </a:r>
            <a:r>
              <a:rPr lang="en-US" sz="2550" b="1">
                <a:solidFill>
                  <a:srgbClr val="20344B"/>
                </a:solidFill>
                <a:latin typeface="Microsoft YaHei"/>
                <a:ea typeface="Microsoft YaHei"/>
              </a:rPr>
              <a:t xml:space="preserve"> 45.9%</a:t>
            </a:r>
            <a:endParaRPr/>
          </a:p>
        </p:txBody>
      </p:sp>
      <p:sp>
        <p:nvSpPr>
          <p:cNvPr id="655" name="" descr="{&quot;isTemplate&quot;:true,&quot;type&quot;:&quot;text&quot;}"/>
          <p:cNvSpPr txBox="1"/>
          <p:nvPr/>
        </p:nvSpPr>
        <p:spPr>
          <a:xfrm rot="0" flipH="0" flipV="0">
            <a:off x="609600" y="2028825"/>
            <a:ext cx="3238500" cy="171450"/>
          </a:xfrm>
          <a:prstGeom prst="rect"/>
        </p:spPr>
        <p:txBody>
          <a:bodyPr wrap="none" lIns="0" tIns="0" rIns="0" bIns="0"/>
          <a:p>
            <a:pPr>
              <a:lnSpc>
                <a:spcPct val="100000"/>
              </a:lnSpc>
            </a:pPr>
            <a:r>
              <a:rPr lang="en-US" sz="1125" b="1">
                <a:solidFill>
                  <a:srgbClr val="CB6B28"/>
                </a:solidFill>
                <a:latin typeface="Microsoft YaHei"/>
                <a:ea typeface="Microsoft YaHei"/>
              </a:rPr>
              <a:t>Verified</a:t>
            </a:r>
            <a:r>
              <a:rPr lang="zh-CN" sz="1125" b="1">
                <a:solidFill>
                  <a:srgbClr val="CB6B28"/>
                </a:solidFill>
                <a:latin typeface="Microsoft YaHei"/>
                <a:ea typeface="Microsoft YaHei"/>
              </a:rPr>
              <a:t>（</a:t>
            </a:r>
            <a:r>
              <a:rPr lang="en-US" sz="1125" b="1">
                <a:solidFill>
                  <a:srgbClr val="CB6B28"/>
                </a:solidFill>
                <a:latin typeface="Microsoft YaHei"/>
                <a:ea typeface="Microsoft YaHei"/>
              </a:rPr>
              <a:t xml:space="preserve">500 </a:t>
            </a:r>
            <a:r>
              <a:rPr lang="zh-CN" sz="1125" b="1">
                <a:solidFill>
                  <a:srgbClr val="CB6B28"/>
                </a:solidFill>
                <a:latin typeface="Microsoft YaHei"/>
                <a:ea typeface="Microsoft YaHei"/>
              </a:rPr>
              <a:t>题，</a:t>
            </a:r>
            <a:r>
              <a:rPr lang="en-US" sz="1125" b="1">
                <a:solidFill>
                  <a:srgbClr val="CB6B28"/>
                </a:solidFill>
                <a:latin typeface="Microsoft YaHei"/>
                <a:ea typeface="Microsoft YaHei"/>
              </a:rPr>
              <a:t xml:space="preserve">2026-02 </a:t>
            </a:r>
            <a:r>
              <a:rPr lang="zh-CN" sz="1125" b="1">
                <a:solidFill>
                  <a:srgbClr val="CB6B28"/>
                </a:solidFill>
                <a:latin typeface="Microsoft YaHei"/>
                <a:ea typeface="Microsoft YaHei"/>
              </a:rPr>
              <a:t>退役）</a:t>
            </a:r>
            <a:endParaRPr/>
          </a:p>
        </p:txBody>
      </p:sp>
      <p:sp>
        <p:nvSpPr>
          <p:cNvPr id="656" name=""/>
          <p:cNvSpPr/>
          <p:nvPr/>
        </p:nvSpPr>
        <p:spPr>
          <a:xfrm rot="0" flipH="0" flipV="0">
            <a:off x="3962400" y="1952625"/>
            <a:ext cx="6362700" cy="323850"/>
          </a:xfrm>
          <a:prstGeom prst="roundRect">
            <a:avLst>
              <a:gd name="adj" fmla="val 17647"/>
            </a:avLst>
          </a:prstGeom>
          <a:solidFill>
            <a:srgbClr val="FFF4E6"/>
          </a:solidFill>
          <a:ln/>
        </p:spPr>
        <p:txBody>
          <a:bodyPr/>
          <a:p/>
        </p:txBody>
      </p:sp>
      <p:sp>
        <p:nvSpPr>
          <p:cNvPr id="657" name=""/>
          <p:cNvSpPr/>
          <p:nvPr/>
        </p:nvSpPr>
        <p:spPr>
          <a:xfrm rot="0" flipH="0" flipV="0">
            <a:off x="3962400" y="1952625"/>
            <a:ext cx="5143500" cy="323850"/>
          </a:xfrm>
          <a:prstGeom prst="roundRect">
            <a:avLst>
              <a:gd name="adj" fmla="val 17647"/>
            </a:avLst>
          </a:prstGeom>
          <a:solidFill>
            <a:srgbClr val="CB6B28"/>
          </a:solidFill>
          <a:ln/>
        </p:spPr>
        <p:txBody>
          <a:bodyPr/>
          <a:p/>
        </p:txBody>
      </p:sp>
      <p:sp>
        <p:nvSpPr>
          <p:cNvPr id="658" name="" descr="{&quot;isTemplate&quot;:true,&quot;type&quot;:&quot;text&quot;}"/>
          <p:cNvSpPr txBox="1"/>
          <p:nvPr/>
        </p:nvSpPr>
        <p:spPr>
          <a:xfrm rot="0" flipH="0" flipV="0">
            <a:off x="10439400" y="2009775"/>
            <a:ext cx="952500" cy="209550"/>
          </a:xfrm>
          <a:prstGeom prst="rect"/>
        </p:spPr>
        <p:txBody>
          <a:bodyPr wrap="none" lIns="0" tIns="0" rIns="0" bIns="0"/>
          <a:p>
            <a:pPr>
              <a:lnSpc>
                <a:spcPct val="100000"/>
              </a:lnSpc>
            </a:pPr>
            <a:r>
              <a:rPr lang="en-US" sz="1350" b="1">
                <a:solidFill>
                  <a:srgbClr val="CB6B28"/>
                </a:solidFill>
                <a:latin typeface="Microsoft YaHei"/>
                <a:ea typeface="Microsoft YaHei"/>
              </a:rPr>
              <a:t>80.9</a:t>
            </a:r>
            <a:endParaRPr/>
          </a:p>
        </p:txBody>
      </p:sp>
      <p:sp>
        <p:nvSpPr>
          <p:cNvPr id="659" name="" descr="{&quot;isTemplate&quot;:true,&quot;type&quot;:&quot;text&quot;}"/>
          <p:cNvSpPr txBox="1"/>
          <p:nvPr/>
        </p:nvSpPr>
        <p:spPr>
          <a:xfrm rot="0" flipH="0" flipV="0">
            <a:off x="609600" y="2524125"/>
            <a:ext cx="3238500" cy="171450"/>
          </a:xfrm>
          <a:prstGeom prst="rect"/>
        </p:spPr>
        <p:txBody>
          <a:bodyPr wrap="none" lIns="0" tIns="0" rIns="0" bIns="0"/>
          <a:p>
            <a:pPr>
              <a:lnSpc>
                <a:spcPct val="100000"/>
              </a:lnSpc>
            </a:pPr>
            <a:r>
              <a:rPr lang="en-US" sz="1125" b="1">
                <a:solidFill>
                  <a:srgbClr val="26816B"/>
                </a:solidFill>
                <a:latin typeface="Microsoft YaHei"/>
                <a:ea typeface="Microsoft YaHei"/>
              </a:rPr>
              <a:t>Pro</a:t>
            </a:r>
            <a:r>
              <a:rPr lang="zh-CN" sz="1125" b="1">
                <a:solidFill>
                  <a:srgbClr val="26816B"/>
                </a:solidFill>
                <a:latin typeface="Microsoft YaHei"/>
                <a:ea typeface="Microsoft YaHei"/>
              </a:rPr>
              <a:t>（</a:t>
            </a:r>
            <a:r>
              <a:rPr lang="en-US" sz="1125" b="1">
                <a:solidFill>
                  <a:srgbClr val="26816B"/>
                </a:solidFill>
                <a:latin typeface="Microsoft YaHei"/>
                <a:ea typeface="Microsoft YaHei"/>
              </a:rPr>
              <a:t xml:space="preserve">1,865 </a:t>
            </a:r>
            <a:r>
              <a:rPr lang="zh-CN" sz="1125" b="1">
                <a:solidFill>
                  <a:srgbClr val="26816B"/>
                </a:solidFill>
                <a:latin typeface="Microsoft YaHei"/>
                <a:ea typeface="Microsoft YaHei"/>
              </a:rPr>
              <a:t>题，统一脚手架）</a:t>
            </a:r>
            <a:endParaRPr/>
          </a:p>
        </p:txBody>
      </p:sp>
      <p:sp>
        <p:nvSpPr>
          <p:cNvPr id="660" name=""/>
          <p:cNvSpPr/>
          <p:nvPr/>
        </p:nvSpPr>
        <p:spPr>
          <a:xfrm rot="0" flipH="0" flipV="0">
            <a:off x="3962400" y="2447925"/>
            <a:ext cx="6362700" cy="323850"/>
          </a:xfrm>
          <a:prstGeom prst="roundRect">
            <a:avLst>
              <a:gd name="adj" fmla="val 17647"/>
            </a:avLst>
          </a:prstGeom>
          <a:solidFill>
            <a:srgbClr val="ECF7F2"/>
          </a:solidFill>
          <a:ln/>
        </p:spPr>
        <p:txBody>
          <a:bodyPr/>
          <a:p/>
        </p:txBody>
      </p:sp>
      <p:sp>
        <p:nvSpPr>
          <p:cNvPr id="661" name=""/>
          <p:cNvSpPr/>
          <p:nvPr/>
        </p:nvSpPr>
        <p:spPr>
          <a:xfrm rot="0" flipH="0" flipV="0">
            <a:off x="3962400" y="2447925"/>
            <a:ext cx="2924175" cy="323850"/>
          </a:xfrm>
          <a:prstGeom prst="roundRect">
            <a:avLst>
              <a:gd name="adj" fmla="val 17647"/>
            </a:avLst>
          </a:prstGeom>
          <a:solidFill>
            <a:srgbClr val="26816B"/>
          </a:solidFill>
          <a:ln/>
        </p:spPr>
        <p:txBody>
          <a:bodyPr/>
          <a:p/>
        </p:txBody>
      </p:sp>
      <p:sp>
        <p:nvSpPr>
          <p:cNvPr id="662" name="" descr="{&quot;isTemplate&quot;:true,&quot;type&quot;:&quot;text&quot;}"/>
          <p:cNvSpPr txBox="1"/>
          <p:nvPr/>
        </p:nvSpPr>
        <p:spPr>
          <a:xfrm rot="0" flipH="0" flipV="0">
            <a:off x="10439400" y="2505075"/>
            <a:ext cx="952500" cy="209550"/>
          </a:xfrm>
          <a:prstGeom prst="rect"/>
        </p:spPr>
        <p:txBody>
          <a:bodyPr wrap="none" lIns="0" tIns="0" rIns="0" bIns="0"/>
          <a:p>
            <a:pPr>
              <a:lnSpc>
                <a:spcPct val="100000"/>
              </a:lnSpc>
            </a:pPr>
            <a:r>
              <a:rPr lang="en-US" sz="1350" b="1">
                <a:solidFill>
                  <a:srgbClr val="26816B"/>
                </a:solidFill>
                <a:latin typeface="Microsoft YaHei"/>
                <a:ea typeface="Microsoft YaHei"/>
              </a:rPr>
              <a:t>45.9</a:t>
            </a:r>
            <a:endParaRPr/>
          </a:p>
        </p:txBody>
      </p:sp>
      <p:sp>
        <p:nvSpPr>
          <p:cNvPr id="663" name=""/>
          <p:cNvSpPr/>
          <p:nvPr/>
        </p:nvSpPr>
        <p:spPr>
          <a:xfrm rot="0" flipH="0" flipV="0">
            <a:off x="609600" y="2943225"/>
            <a:ext cx="10972800" cy="685800"/>
          </a:xfrm>
          <a:prstGeom prst="roundRect">
            <a:avLst>
              <a:gd name="adj" fmla="val 13889"/>
            </a:avLst>
          </a:prstGeom>
          <a:solidFill>
            <a:srgbClr val="FFF4E6"/>
          </a:solidFill>
          <a:ln/>
        </p:spPr>
        <p:txBody>
          <a:bodyPr/>
          <a:p/>
        </p:txBody>
      </p:sp>
      <p:sp>
        <p:nvSpPr>
          <p:cNvPr id="664" name=""/>
          <p:cNvSpPr/>
          <p:nvPr/>
        </p:nvSpPr>
        <p:spPr>
          <a:xfrm rot="0" flipH="0" flipV="0">
            <a:off x="819150" y="3076575"/>
            <a:ext cx="38100" cy="419100"/>
          </a:xfrm>
          <a:prstGeom prst="rect">
            <a:avLst/>
          </a:prstGeom>
          <a:solidFill>
            <a:srgbClr val="CB6B28"/>
          </a:solidFill>
          <a:ln/>
        </p:spPr>
        <p:txBody>
          <a:bodyPr/>
          <a:p/>
        </p:txBody>
      </p:sp>
      <p:sp>
        <p:nvSpPr>
          <p:cNvPr id="665" name="" descr="{&quot;isTemplate&quot;:true,&quot;type&quot;:&quot;text&quot;}"/>
          <p:cNvSpPr txBox="1"/>
          <p:nvPr/>
        </p:nvSpPr>
        <p:spPr>
          <a:xfrm rot="0" flipH="0" flipV="0">
            <a:off x="990600" y="3152775"/>
            <a:ext cx="6086475" cy="276225"/>
          </a:xfrm>
          <a:prstGeom prst="rect"/>
        </p:spPr>
        <p:txBody>
          <a:bodyPr wrap="none" lIns="0" tIns="0" rIns="0" bIns="0"/>
          <a:p>
            <a:pPr>
              <a:lnSpc>
                <a:spcPct val="150000"/>
              </a:lnSpc>
            </a:pPr>
            <a:r>
              <a:rPr lang="zh-CN" sz="1200">
                <a:solidFill>
                  <a:srgbClr val="CB6B28"/>
                </a:solidFill>
                <a:latin typeface="Microsoft YaHei"/>
                <a:ea typeface="Microsoft YaHei"/>
              </a:rPr>
              <a:t>同一个模型、同一类任务，差</a:t>
            </a:r>
            <a:r>
              <a:rPr lang="en-US" sz="1200">
                <a:solidFill>
                  <a:srgbClr val="CB6B28"/>
                </a:solidFill>
                <a:latin typeface="Microsoft YaHei"/>
                <a:ea typeface="Microsoft YaHei"/>
              </a:rPr>
              <a:t xml:space="preserve"> 35 </a:t>
            </a:r>
            <a:r>
              <a:rPr lang="zh-CN" sz="1200">
                <a:solidFill>
                  <a:srgbClr val="CB6B28"/>
                </a:solidFill>
                <a:latin typeface="Microsoft YaHei"/>
                <a:ea typeface="Microsoft YaHei"/>
              </a:rPr>
              <a:t>个百分点——这不是退步，是两个测试问的不是同一件事</a:t>
            </a:r>
            <a:endParaRPr/>
          </a:p>
        </p:txBody>
      </p:sp>
      <p:sp>
        <p:nvSpPr>
          <p:cNvPr id="666" name=""/>
          <p:cNvSpPr/>
          <p:nvPr/>
        </p:nvSpPr>
        <p:spPr>
          <a:xfrm rot="0" flipH="0" flipV="0">
            <a:off x="609600" y="3800475"/>
            <a:ext cx="5410200" cy="1676400"/>
          </a:xfrm>
          <a:prstGeom prst="roundRect">
            <a:avLst>
              <a:gd name="adj" fmla="val 6818"/>
            </a:avLst>
          </a:prstGeom>
          <a:solidFill>
            <a:srgbClr val="F4F7FA"/>
          </a:solidFill>
          <a:ln/>
        </p:spPr>
        <p:txBody>
          <a:bodyPr/>
          <a:p/>
        </p:txBody>
      </p:sp>
      <p:sp>
        <p:nvSpPr>
          <p:cNvPr id="667" name="" descr="{&quot;isTemplate&quot;:true,&quot;type&quot;:&quot;text&quot;}"/>
          <p:cNvSpPr txBox="1"/>
          <p:nvPr/>
        </p:nvSpPr>
        <p:spPr>
          <a:xfrm rot="0" flipH="0" flipV="0">
            <a:off x="800100" y="3952875"/>
            <a:ext cx="5029200" cy="209550"/>
          </a:xfrm>
          <a:prstGeom prst="rect"/>
        </p:spPr>
        <p:txBody>
          <a:bodyPr wrap="none" lIns="0" tIns="0" rIns="0" bIns="0"/>
          <a:p>
            <a:pPr>
              <a:lnSpc>
                <a:spcPct val="100000"/>
              </a:lnSpc>
            </a:pPr>
            <a:r>
              <a:rPr lang="zh-CN" sz="1350" b="1">
                <a:solidFill>
                  <a:srgbClr val="20344B"/>
                </a:solidFill>
                <a:latin typeface="Microsoft YaHei"/>
                <a:ea typeface="Microsoft YaHei"/>
              </a:rPr>
              <a:t>落差从哪里来</a:t>
            </a:r>
            <a:endParaRPr/>
          </a:p>
        </p:txBody>
      </p:sp>
      <p:sp>
        <p:nvSpPr>
          <p:cNvPr id="668" name="" descr="{&quot;isTemplate&quot;:true,&quot;type&quot;:&quot;text&quot;}"/>
          <p:cNvSpPr txBox="1"/>
          <p:nvPr/>
        </p:nvSpPr>
        <p:spPr>
          <a:xfrm rot="0" flipH="0" flipV="0">
            <a:off x="800100" y="4238625"/>
            <a:ext cx="5029200"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题目来自公开仓库，修复记录早已进入训练数据；被审计发现，模型看任务编号就能复述标准答案。</a:t>
            </a:r>
            <a:endParaRPr/>
          </a:p>
        </p:txBody>
      </p:sp>
      <p:sp>
        <p:nvSpPr>
          <p:cNvPr id="669" name="" descr="{&quot;isTemplate&quot;:true,&quot;type&quot;:&quot;text&quot;}"/>
          <p:cNvSpPr txBox="1"/>
          <p:nvPr/>
        </p:nvSpPr>
        <p:spPr>
          <a:xfrm rot="0" flipH="0" flipV="0">
            <a:off x="800100" y="4848225"/>
            <a:ext cx="5029200" cy="266700"/>
          </a:xfrm>
          <a:prstGeom prst="rect"/>
        </p:spPr>
        <p:txBody>
          <a:bodyPr wrap="none" lIns="0" tIns="0" rIns="0" bIns="0"/>
          <a:p>
            <a:pPr>
              <a:lnSpc>
                <a:spcPct val="155000"/>
              </a:lnSpc>
            </a:pPr>
            <a:r>
              <a:rPr lang="zh-CN" sz="1125">
                <a:solidFill>
                  <a:srgbClr val="546779"/>
                </a:solidFill>
                <a:latin typeface="Microsoft YaHei"/>
                <a:ea typeface="Microsoft YaHei"/>
              </a:rPr>
              <a:t>各家还能自调执行框架，让分数混入脚手架工程。</a:t>
            </a:r>
            <a:endParaRPr/>
          </a:p>
        </p:txBody>
      </p:sp>
      <p:sp>
        <p:nvSpPr>
          <p:cNvPr id="670" name=""/>
          <p:cNvSpPr/>
          <p:nvPr/>
        </p:nvSpPr>
        <p:spPr>
          <a:xfrm rot="0" flipH="0" flipV="0">
            <a:off x="6172200" y="3800475"/>
            <a:ext cx="5410200" cy="1676400"/>
          </a:xfrm>
          <a:prstGeom prst="roundRect">
            <a:avLst>
              <a:gd name="adj" fmla="val 6818"/>
            </a:avLst>
          </a:prstGeom>
          <a:solidFill>
            <a:srgbClr val="F4F7FA"/>
          </a:solidFill>
          <a:ln/>
        </p:spPr>
        <p:txBody>
          <a:bodyPr/>
          <a:p/>
        </p:txBody>
      </p:sp>
      <p:sp>
        <p:nvSpPr>
          <p:cNvPr id="671" name="" descr="{&quot;isTemplate&quot;:true,&quot;type&quot;:&quot;text&quot;}"/>
          <p:cNvSpPr txBox="1"/>
          <p:nvPr/>
        </p:nvSpPr>
        <p:spPr>
          <a:xfrm rot="0" flipH="0" flipV="0">
            <a:off x="6362700" y="3952875"/>
            <a:ext cx="5029200" cy="209550"/>
          </a:xfrm>
          <a:prstGeom prst="rect"/>
        </p:spPr>
        <p:txBody>
          <a:bodyPr wrap="none" lIns="0" tIns="0" rIns="0" bIns="0"/>
          <a:p>
            <a:pPr>
              <a:lnSpc>
                <a:spcPct val="100000"/>
              </a:lnSpc>
            </a:pPr>
            <a:r>
              <a:rPr lang="en-US" sz="1350" b="1">
                <a:solidFill>
                  <a:srgbClr val="20344B"/>
                </a:solidFill>
                <a:latin typeface="Microsoft YaHei"/>
                <a:ea typeface="Microsoft YaHei"/>
              </a:rPr>
              <a:t xml:space="preserve">Pro </a:t>
            </a:r>
            <a:r>
              <a:rPr lang="zh-CN" sz="1350" b="1">
                <a:solidFill>
                  <a:srgbClr val="20344B"/>
                </a:solidFill>
                <a:latin typeface="Microsoft YaHei"/>
                <a:ea typeface="Microsoft YaHei"/>
              </a:rPr>
              <a:t>做了什么不同</a:t>
            </a:r>
            <a:endParaRPr/>
          </a:p>
        </p:txBody>
      </p:sp>
      <p:sp>
        <p:nvSpPr>
          <p:cNvPr id="672" name="" descr="{&quot;isTemplate&quot;:true,&quot;type&quot;:&quot;text&quot;}"/>
          <p:cNvSpPr txBox="1"/>
          <p:nvPr/>
        </p:nvSpPr>
        <p:spPr>
          <a:xfrm rot="0" flipH="0" flipV="0">
            <a:off x="6362700" y="4238625"/>
            <a:ext cx="5029200"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覆盖多种编程语言，包含从未公开的私有代码库，结构上阻断污染；统一脚手架与轮次上限，比的是模型本身。</a:t>
            </a:r>
            <a:endParaRPr/>
          </a:p>
        </p:txBody>
      </p:sp>
      <p:sp>
        <p:nvSpPr>
          <p:cNvPr id="673" name="" descr="{&quot;isTemplate&quot;:true,&quot;type&quot;:&quot;text&quot;}"/>
          <p:cNvSpPr txBox="1"/>
          <p:nvPr/>
        </p:nvSpPr>
        <p:spPr>
          <a:xfrm rot="0" flipH="0" flipV="0">
            <a:off x="6362700" y="5172075"/>
            <a:ext cx="5029200" cy="152400"/>
          </a:xfrm>
          <a:prstGeom prst="rect"/>
        </p:spPr>
        <p:txBody>
          <a:bodyPr wrap="none" lIns="0" tIns="0" rIns="0" bIns="0"/>
          <a:p>
            <a:pPr>
              <a:lnSpc>
                <a:spcPct val="100000"/>
              </a:lnSpc>
            </a:pPr>
            <a:r>
              <a:rPr lang="zh-CN" sz="975">
                <a:solidFill>
                  <a:srgbClr val="26816B"/>
                </a:solidFill>
                <a:latin typeface="Microsoft YaHei"/>
                <a:ea typeface="Microsoft YaHei"/>
              </a:rPr>
              <a:t>但</a:t>
            </a:r>
            <a:r>
              <a:rPr lang="en-US" sz="975">
                <a:solidFill>
                  <a:srgbClr val="26816B"/>
                </a:solidFill>
                <a:latin typeface="Microsoft YaHei"/>
                <a:ea typeface="Microsoft YaHei"/>
              </a:rPr>
              <a:t xml:space="preserve"> Pro </a:t>
            </a:r>
            <a:r>
              <a:rPr lang="zh-CN" sz="975">
                <a:solidFill>
                  <a:srgbClr val="26816B"/>
                </a:solidFill>
                <a:latin typeface="Microsoft YaHei"/>
                <a:ea typeface="Microsoft YaHei"/>
              </a:rPr>
              <a:t>也被列入了</a:t>
            </a:r>
            <a:r>
              <a:rPr lang="en-US" sz="975">
                <a:solidFill>
                  <a:srgbClr val="26816B"/>
                </a:solidFill>
                <a:latin typeface="Microsoft YaHei"/>
                <a:ea typeface="Microsoft YaHei"/>
              </a:rPr>
              <a:t>"</a:t>
            </a:r>
            <a:r>
              <a:rPr lang="zh-CN" sz="975">
                <a:solidFill>
                  <a:srgbClr val="26816B"/>
                </a:solidFill>
                <a:latin typeface="Microsoft YaHei"/>
                <a:ea typeface="Microsoft YaHei"/>
              </a:rPr>
              <a:t>有问题</a:t>
            </a:r>
            <a:r>
              <a:rPr lang="en-US" sz="975">
                <a:solidFill>
                  <a:srgbClr val="26816B"/>
                </a:solidFill>
                <a:latin typeface="Microsoft YaHei"/>
                <a:ea typeface="Microsoft YaHei"/>
              </a:rPr>
              <a:t>"</a:t>
            </a:r>
            <a:r>
              <a:rPr lang="zh-CN" sz="975">
                <a:solidFill>
                  <a:srgbClr val="26816B"/>
                </a:solidFill>
                <a:latin typeface="Microsoft YaHei"/>
                <a:ea typeface="Microsoft YaHei"/>
              </a:rPr>
              <a:t>名单，仍需带保留地读</a:t>
            </a:r>
            <a:endParaRPr/>
          </a:p>
        </p:txBody>
      </p:sp>
      <p:sp>
        <p:nvSpPr>
          <p:cNvPr id="674"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67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27 / 36</a:t>
            </a:r>
            <a:endParaRPr/>
          </a:p>
        </p:txBody>
      </p:sp>
    </p:spTree>
  </p:cSld>
</p:sld>
</file>

<file path=ppt/slides/slide28.xml><?xml version="1.0" encoding="utf-8"?>
<p:sld xmlns:p="http://schemas.openxmlformats.org/presentationml/2006/main" xmlns:a="http://schemas.openxmlformats.org/drawingml/2006/main">
  <p:cSld>
    <p:spTree>
      <p:nvGrpSpPr>
        <p:cNvPr id="676" name="" descr="&lt;Slide notes={`FrontierMath 第四层的分数，最值得看的是误差范围。&#10;&#10;排第一的是 GPT-6 Astra，97.6%，它解掉了最后一道此前无人攻克的第四层题目。紧随其后是 Fable 5 的 87.8%、Sol 的 83%，还有 Opus 5 的 73.2%。&#10;&#10;注意 Fable 5 那个 87.8%，它带着正负五点二的标准误；Sol 的 83% 带正负五点九。这两个误差范围是重叠的，也就是说，把它们之间几点差距当成实力差距，在统计上站不住。而且第四层只有四十三道题，一道题就值两点三个百分点，误差自然大。&#10;&#10;还有一件事要说清楚：Epoch 不评审自家的基准，所以 FrontierMath 没经过那个独立审计。反而它自己在审计第一版时发现四成以上的题有错，才有了现在这个第二版。看它的分数，要同时记住这两点。`}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⑤　1.4.5　领先模型：43 道题的分数必须带误差读&lt;/Text&gt;&#10;            &lt;Text style={{ fontSize: 34, fontWeight: 'bold', color: '#20344B' }}&gt;FrontierMath Tier 4（v2）&lt;/Text&gt;&#10;        &lt;/Box&gt;&#10;    &lt;/Box&gt;&#10;&#10;    &lt;Box style={{ height: 540, flexDirection: 'column', justifyContent: 'center', gap: 14 }}&gt;&#10;&#10;        &lt;Box style={{ flexDirection: 'row', gap: 12, alignItems: 'center' }}&gt;&#10;            &lt;Text style={{ width: 300, fontSize: 15, fontWeight: 'bold', color: '#20344B' }}&gt;GPT-6 Astra&lt;/Text&gt;&#10;            &lt;Box style={{ width: 672, height: 28, background: '#F4F7FA', borderRadius: 6, flexDirection: 'row' }}&gt;&#10;                &lt;Box style={{ width: 656, height: 28, background: '#276FBF', borderRadius: 6 }} /&gt;&#10;            &lt;/Box&gt;&#10;            &lt;Text style={{ width: 96, fontSize: 17, fontWeight: 'bold', color: '#276FBF' }}&gt;97.6&lt;/Text&gt;&#10;        &lt;/Box&gt;&#10;&#10;        &lt;Box style={{ flexDirection: 'row', gap: 12, alignItems: 'center' }}&gt;&#10;            &lt;Text style={{ width: 300, fontSize: 15, fontWeight: 'bold', color: '#20344B' }}&gt;Claude Fable 5&lt;/Text&gt;&#10;            &lt;Box style={{ width: 672, height: 28, background: '#F4F7FA', borderRadius: 6, flexDirection: 'row' }}&gt;&#10;                &lt;Box style={{ width: 555, height: 28, background: '#276FBF', borderRadius: 6 }} /&gt;&#10;                &lt;Box style={{ width: 70, height: 28, background: '#B5C7D8' }} /&gt;&#10;            &lt;/Box&gt;&#10;            &lt;Text style={{ width: 96, fontSize: 17, fontWeight: 'bold', color: '#276FBF' }}&gt;87.8&lt;/Text&gt;&#10;        &lt;/Box&gt;&#10;&#10;        &lt;Box style={{ flexDirection: 'row', gap: 12, alignItems: 'center' }}&gt;&#10;            &lt;Text style={{ width: 300, fontSize: 15, fontWeight: 'bold', color: '#20344B' }}&gt;GPT-5.6 Sol&lt;/Text&gt;&#10;            &lt;Box style={{ width: 672, height: 28, background: '#F4F7FA', borderRadius: 6, flexDirection: 'row' }}&gt;&#10;                &lt;Box style={{ width: 518, height: 28, background: '#276FBF', borderRadius: 6 }} /&gt;&#10;                &lt;Box style={{ width: 79, height: 28, background: '#B5C7D8' }} /&gt;&#10;            &lt;/Box&gt;&#10;            &lt;Text style={{ width: 96, fontSize: 17, fontWeight: 'bold', color: '#276FBF' }}&gt;83.0&lt;/Text&gt;&#10;        &lt;/Box&gt;&#10;&#10;        &lt;Box style={{ flexDirection: 'row', gap: 12, alignItems: 'center' }}&gt;&#10;            &lt;Text style={{ width: 300, fontSize: 15, fontWeight: 'bold', color: '#20344B' }}&gt;GPT-5.5 Pro&lt;/Text&gt;&#10;            &lt;Box style={{ width: 672, height: 28, background: '#F4F7FA', borderRadius: 6, flexDirection: 'row' }}&gt;&#10;                &lt;Box style={{ width: 524, height: 28, background: '#276FBF', borderRadius: 6 }} /&gt;&#10;            &lt;/Box&gt;&#10;            &lt;Text style={{ width: 96, fontSize: 17, fontWeight: 'bold', color: '#276FBF' }}&gt;78.0&lt;/Text&gt;&#10;        &lt;/Box&gt;&#10;&#10;        &lt;Box style={{ flexDirection: 'row', gap: 12, alignItems: 'center' }}&gt;&#10;            &lt;Text style={{ width: 300, fontSize: 15, fontWeight: 'bold', color: '#20344B' }}&gt;Claude Opus 5&lt;/Text&gt;&#10;            &lt;Box style={{ width: 672, height: 28, background: '#F4F7FA', borderRadius: 6, flexDirection: 'row' }}&gt;&#10;                &lt;Box style={{ width: 492, height: 28, background: '#276FBF', borderRadius: 6 }} /&gt;&#10;            &lt;/Box&gt;&#10;            &lt;Text style={{ width: 96, fontSize: 17, fontWeight: 'bold', color: '#276FBF' }}&gt;73.2&lt;/Text&gt;&#10;        &lt;/Box&gt;&#10;&#10;        &lt;Box style={{ flexDirection: 'row', gap: 20, alignItems: 'center', padding: '0 4px' }}&gt;&#10;            &lt;Box style={{ flexDirection: 'row', gap: 8, alignItems: 'center' }}&gt;&#10;                &lt;Box style={{ width: 26, height: 12, background: '#276FBF', borderRadius: 6 }} /&gt;&#10;                &lt;Text style={{ fontSize: 13, color: '#546779' }}&gt;得分点估计&lt;/Text&gt;&#10;            &lt;/Box&gt;&#10;            &lt;Box style={{ flexDirection: 'row', gap: 8, alignItems: 'center' }}&gt;&#10;                &lt;Box style={{ width: 26, height: 12, background: '#B5C7D8', borderRadius: 6 }} /&gt;&#10;                &lt;Text style={{ fontSize: 13, color: '#546779' }}&gt;±1 标准误（Fable 5 为 ±5.2，Sol 为 ±5.9，两者区间重叠）&lt;/Text&gt;&#10;            &lt;/Box&gt;&#10;        &lt;/Box&gt;&#10;&#10;        &lt;Box style={{ flexDirection: 'row', gap: 14, background: '#FFF4E6', borderRadius: 10, padding: '12px 22px', alignItems: 'center' }}&gt;&#10;            &lt;Box style={{ width: 4, height: 40, background: '#CB6B28' }} /&gt;&#10;            &lt;Text style={{ fontSize: 15, color: '#CB6B28', lineHeight: 1.45 }}&gt;FrontierMath 是 Epoch 自家基准，按避嫌原则未进入独立审计名单；而它第一版恰恰被查出四成以上的题有错&lt;/Text&gt;&#10;        &lt;/Box&gt;&#10;&#10;    &lt;/Box&gt;&#10;&#10;    &lt;Box style={{ height: 40, flexDirection: 'row', justifyContent: 'space-between', alignItems: 'center' }}&gt;&#10;        &lt;Text style={{ fontSize: 14, color: '#546779' }}&gt;1.4 从榜单到证据&lt;/Text&gt;&#10;        &lt;Text style={{ fontSize: 14, color: '#546779' }}&gt;28 / 36&lt;/Text&gt;&#10;    &lt;/Box&gt;&#10;&#10;&lt;/Slide&gt;&#10;"/>
        <p:cNvGrpSpPr/>
        <p:nvPr/>
      </p:nvGrpSpPr>
      <p:grpSpPr>
        <a:xfrm>
          <a:off x="0" y="0"/>
          <a:ext cx="0" cy="0"/>
          <a:chOff x="0" y="0"/>
          <a:chExt cx="0" cy="0"/>
        </a:xfrm>
      </p:grpSpPr>
      <p:sp>
        <p:nvSpPr>
          <p:cNvPr id="677" name=""/>
          <p:cNvSpPr/>
          <p:nvPr/>
        </p:nvSpPr>
        <p:spPr>
          <a:xfrm rot="0" flipH="0" flipV="0">
            <a:off x="0" y="0"/>
            <a:ext cx="12192000" cy="6858000"/>
          </a:xfrm>
          <a:prstGeom prst="rect">
            <a:avLst/>
          </a:prstGeom>
          <a:solidFill>
            <a:srgbClr val="FFFFFF"/>
          </a:solidFill>
          <a:ln/>
        </p:spPr>
        <p:txBody>
          <a:bodyPr/>
          <a:p/>
        </p:txBody>
      </p:sp>
      <p:sp>
        <p:nvSpPr>
          <p:cNvPr id="678" name=""/>
          <p:cNvSpPr/>
          <p:nvPr/>
        </p:nvSpPr>
        <p:spPr>
          <a:xfrm rot="0" flipH="0" flipV="0">
            <a:off x="609600" y="457200"/>
            <a:ext cx="38100" cy="419100"/>
          </a:xfrm>
          <a:prstGeom prst="rect">
            <a:avLst/>
          </a:prstGeom>
          <a:solidFill>
            <a:srgbClr val="276FBF"/>
          </a:solidFill>
          <a:ln/>
        </p:spPr>
        <p:txBody>
          <a:bodyPr/>
          <a:p/>
        </p:txBody>
      </p:sp>
      <p:sp>
        <p:nvSpPr>
          <p:cNvPr id="679" name="" descr="{&quot;isTemplate&quot;:true,&quot;type&quot;:&quot;text&quot;}"/>
          <p:cNvSpPr txBox="1"/>
          <p:nvPr/>
        </p:nvSpPr>
        <p:spPr>
          <a:xfrm rot="0" flipH="0" flipV="0">
            <a:off x="838200" y="371475"/>
            <a:ext cx="4210050" cy="161925"/>
          </a:xfrm>
          <a:prstGeom prst="rect"/>
        </p:spPr>
        <p:txBody>
          <a:bodyPr wrap="none" lIns="0" tIns="0" rIns="0" bIns="0"/>
          <a:p>
            <a:pPr>
              <a:lnSpc>
                <a:spcPct val="100000"/>
              </a:lnSpc>
            </a:pPr>
            <a:r>
              <a:rPr lang="zh-CN" sz="1050">
                <a:solidFill>
                  <a:srgbClr val="546779"/>
                </a:solidFill>
                <a:latin typeface="Microsoft YaHei"/>
                <a:ea typeface="Microsoft YaHei"/>
              </a:rPr>
              <a:t>⑤　</a:t>
            </a:r>
            <a:r>
              <a:rPr lang="en-US" sz="1050">
                <a:solidFill>
                  <a:srgbClr val="546779"/>
                </a:solidFill>
                <a:latin typeface="Microsoft YaHei"/>
                <a:ea typeface="Microsoft YaHei"/>
              </a:rPr>
              <a:t>1.4.5</a:t>
            </a:r>
            <a:r>
              <a:rPr lang="zh-CN" sz="1050">
                <a:solidFill>
                  <a:srgbClr val="546779"/>
                </a:solidFill>
                <a:latin typeface="Microsoft YaHei"/>
                <a:ea typeface="Microsoft YaHei"/>
              </a:rPr>
              <a:t>　领先模型：</a:t>
            </a:r>
            <a:r>
              <a:rPr lang="en-US" sz="1050">
                <a:solidFill>
                  <a:srgbClr val="546779"/>
                </a:solidFill>
                <a:latin typeface="Microsoft YaHei"/>
                <a:ea typeface="Microsoft YaHei"/>
              </a:rPr>
              <a:t xml:space="preserve">43 </a:t>
            </a:r>
            <a:r>
              <a:rPr lang="zh-CN" sz="1050">
                <a:solidFill>
                  <a:srgbClr val="546779"/>
                </a:solidFill>
                <a:latin typeface="Microsoft YaHei"/>
                <a:ea typeface="Microsoft YaHei"/>
              </a:rPr>
              <a:t>道题的分数必须带误差读</a:t>
            </a:r>
            <a:endParaRPr/>
          </a:p>
        </p:txBody>
      </p:sp>
      <p:sp>
        <p:nvSpPr>
          <p:cNvPr id="680" name="" descr="{&quot;isTemplate&quot;:true,&quot;type&quot;:&quot;text&quot;}"/>
          <p:cNvSpPr txBox="1"/>
          <p:nvPr/>
        </p:nvSpPr>
        <p:spPr>
          <a:xfrm rot="0" flipH="0" flipV="0">
            <a:off x="838200" y="571500"/>
            <a:ext cx="4210050" cy="390525"/>
          </a:xfrm>
          <a:prstGeom prst="rect"/>
        </p:spPr>
        <p:txBody>
          <a:bodyPr wrap="none" lIns="0" tIns="0" rIns="0" bIns="0"/>
          <a:p>
            <a:pPr>
              <a:lnSpc>
                <a:spcPct val="100000"/>
              </a:lnSpc>
            </a:pPr>
            <a:r>
              <a:rPr lang="en-US" sz="2550" b="1">
                <a:solidFill>
                  <a:srgbClr val="20344B"/>
                </a:solidFill>
                <a:latin typeface="Microsoft YaHei"/>
                <a:ea typeface="Microsoft YaHei"/>
              </a:rPr>
              <a:t>FrontierMath Tier 4</a:t>
            </a:r>
            <a:r>
              <a:rPr lang="zh-CN" sz="2550" b="1">
                <a:solidFill>
                  <a:srgbClr val="20344B"/>
                </a:solidFill>
                <a:latin typeface="Microsoft YaHei"/>
                <a:ea typeface="Microsoft YaHei"/>
              </a:rPr>
              <a:t>（</a:t>
            </a:r>
            <a:r>
              <a:rPr lang="en-US" sz="2550" b="1">
                <a:solidFill>
                  <a:srgbClr val="20344B"/>
                </a:solidFill>
                <a:latin typeface="Microsoft YaHei"/>
                <a:ea typeface="Microsoft YaHei"/>
              </a:rPr>
              <a:t>v2</a:t>
            </a:r>
            <a:r>
              <a:rPr lang="zh-CN" sz="2550" b="1">
                <a:solidFill>
                  <a:srgbClr val="20344B"/>
                </a:solidFill>
                <a:latin typeface="Microsoft YaHei"/>
                <a:ea typeface="Microsoft YaHei"/>
              </a:rPr>
              <a:t>）</a:t>
            </a:r>
            <a:endParaRPr/>
          </a:p>
        </p:txBody>
      </p:sp>
      <p:sp>
        <p:nvSpPr>
          <p:cNvPr id="681" name="" descr="{&quot;isTemplate&quot;:true,&quot;type&quot;:&quot;text&quot;}"/>
          <p:cNvSpPr txBox="1"/>
          <p:nvPr/>
        </p:nvSpPr>
        <p:spPr>
          <a:xfrm rot="0" flipH="0" flipV="0">
            <a:off x="609600" y="2314575"/>
            <a:ext cx="2857500" cy="171450"/>
          </a:xfrm>
          <a:prstGeom prst="rect"/>
        </p:spPr>
        <p:txBody>
          <a:bodyPr wrap="none" lIns="0" tIns="0" rIns="0" bIns="0"/>
          <a:p>
            <a:pPr>
              <a:lnSpc>
                <a:spcPct val="100000"/>
              </a:lnSpc>
            </a:pPr>
            <a:r>
              <a:rPr lang="en-US" sz="1125" b="1">
                <a:solidFill>
                  <a:srgbClr val="20344B"/>
                </a:solidFill>
                <a:latin typeface="Microsoft YaHei"/>
                <a:ea typeface="Microsoft YaHei"/>
              </a:rPr>
              <a:t>GPT-6 Astra</a:t>
            </a:r>
            <a:endParaRPr/>
          </a:p>
        </p:txBody>
      </p:sp>
      <p:sp>
        <p:nvSpPr>
          <p:cNvPr id="682" name=""/>
          <p:cNvSpPr/>
          <p:nvPr/>
        </p:nvSpPr>
        <p:spPr>
          <a:xfrm rot="0" flipH="0" flipV="0">
            <a:off x="3581400" y="2266950"/>
            <a:ext cx="6400800" cy="266700"/>
          </a:xfrm>
          <a:prstGeom prst="roundRect">
            <a:avLst>
              <a:gd name="adj" fmla="val 21429"/>
            </a:avLst>
          </a:prstGeom>
          <a:solidFill>
            <a:srgbClr val="F4F7FA"/>
          </a:solidFill>
          <a:ln/>
        </p:spPr>
        <p:txBody>
          <a:bodyPr/>
          <a:p/>
        </p:txBody>
      </p:sp>
      <p:sp>
        <p:nvSpPr>
          <p:cNvPr id="683" name=""/>
          <p:cNvSpPr/>
          <p:nvPr/>
        </p:nvSpPr>
        <p:spPr>
          <a:xfrm rot="0" flipH="0" flipV="0">
            <a:off x="3581400" y="2266950"/>
            <a:ext cx="6248400" cy="266700"/>
          </a:xfrm>
          <a:prstGeom prst="roundRect">
            <a:avLst>
              <a:gd name="adj" fmla="val 21429"/>
            </a:avLst>
          </a:prstGeom>
          <a:solidFill>
            <a:srgbClr val="276FBF"/>
          </a:solidFill>
          <a:ln/>
        </p:spPr>
        <p:txBody>
          <a:bodyPr/>
          <a:p/>
        </p:txBody>
      </p:sp>
      <p:sp>
        <p:nvSpPr>
          <p:cNvPr id="684" name="" descr="{&quot;isTemplate&quot;:true,&quot;type&quot;:&quot;text&quot;}"/>
          <p:cNvSpPr txBox="1"/>
          <p:nvPr/>
        </p:nvSpPr>
        <p:spPr>
          <a:xfrm rot="0" flipH="0" flipV="0">
            <a:off x="10096500" y="2305050"/>
            <a:ext cx="914400" cy="200025"/>
          </a:xfrm>
          <a:prstGeom prst="rect"/>
        </p:spPr>
        <p:txBody>
          <a:bodyPr wrap="none" lIns="0" tIns="0" rIns="0" bIns="0"/>
          <a:p>
            <a:pPr>
              <a:lnSpc>
                <a:spcPct val="100000"/>
              </a:lnSpc>
            </a:pPr>
            <a:r>
              <a:rPr lang="en-US" sz="1275" b="1">
                <a:solidFill>
                  <a:srgbClr val="276FBF"/>
                </a:solidFill>
                <a:latin typeface="Microsoft YaHei"/>
                <a:ea typeface="Microsoft YaHei"/>
              </a:rPr>
              <a:t>97.6</a:t>
            </a:r>
            <a:endParaRPr/>
          </a:p>
        </p:txBody>
      </p:sp>
      <p:sp>
        <p:nvSpPr>
          <p:cNvPr id="685" name="" descr="{&quot;isTemplate&quot;:true,&quot;type&quot;:&quot;text&quot;}"/>
          <p:cNvSpPr txBox="1"/>
          <p:nvPr/>
        </p:nvSpPr>
        <p:spPr>
          <a:xfrm rot="0" flipH="0" flipV="0">
            <a:off x="609600" y="2714625"/>
            <a:ext cx="2857500" cy="171450"/>
          </a:xfrm>
          <a:prstGeom prst="rect"/>
        </p:spPr>
        <p:txBody>
          <a:bodyPr wrap="none" lIns="0" tIns="0" rIns="0" bIns="0"/>
          <a:p>
            <a:pPr>
              <a:lnSpc>
                <a:spcPct val="100000"/>
              </a:lnSpc>
            </a:pPr>
            <a:r>
              <a:rPr lang="en-US" sz="1125" b="1">
                <a:solidFill>
                  <a:srgbClr val="20344B"/>
                </a:solidFill>
                <a:latin typeface="Microsoft YaHei"/>
                <a:ea typeface="Microsoft YaHei"/>
              </a:rPr>
              <a:t>Claude Fable 5</a:t>
            </a:r>
            <a:endParaRPr/>
          </a:p>
        </p:txBody>
      </p:sp>
      <p:sp>
        <p:nvSpPr>
          <p:cNvPr id="686" name=""/>
          <p:cNvSpPr/>
          <p:nvPr/>
        </p:nvSpPr>
        <p:spPr>
          <a:xfrm rot="0" flipH="0" flipV="0">
            <a:off x="3581400" y="2667000"/>
            <a:ext cx="6400800" cy="266700"/>
          </a:xfrm>
          <a:prstGeom prst="roundRect">
            <a:avLst>
              <a:gd name="adj" fmla="val 21429"/>
            </a:avLst>
          </a:prstGeom>
          <a:solidFill>
            <a:srgbClr val="F4F7FA"/>
          </a:solidFill>
          <a:ln/>
        </p:spPr>
        <p:txBody>
          <a:bodyPr/>
          <a:p/>
        </p:txBody>
      </p:sp>
      <p:sp>
        <p:nvSpPr>
          <p:cNvPr id="687" name=""/>
          <p:cNvSpPr/>
          <p:nvPr/>
        </p:nvSpPr>
        <p:spPr>
          <a:xfrm rot="0" flipH="0" flipV="0">
            <a:off x="3581400" y="2667000"/>
            <a:ext cx="5286375" cy="266700"/>
          </a:xfrm>
          <a:prstGeom prst="roundRect">
            <a:avLst>
              <a:gd name="adj" fmla="val 21429"/>
            </a:avLst>
          </a:prstGeom>
          <a:solidFill>
            <a:srgbClr val="276FBF"/>
          </a:solidFill>
          <a:ln/>
        </p:spPr>
        <p:txBody>
          <a:bodyPr/>
          <a:p/>
        </p:txBody>
      </p:sp>
      <p:sp>
        <p:nvSpPr>
          <p:cNvPr id="688" name=""/>
          <p:cNvSpPr/>
          <p:nvPr/>
        </p:nvSpPr>
        <p:spPr>
          <a:xfrm rot="0" flipH="0" flipV="0">
            <a:off x="8867775" y="2667000"/>
            <a:ext cx="666750" cy="266700"/>
          </a:xfrm>
          <a:prstGeom prst="rect">
            <a:avLst/>
          </a:prstGeom>
          <a:solidFill>
            <a:srgbClr val="B5C7D8"/>
          </a:solidFill>
          <a:ln/>
        </p:spPr>
        <p:txBody>
          <a:bodyPr/>
          <a:p/>
        </p:txBody>
      </p:sp>
      <p:sp>
        <p:nvSpPr>
          <p:cNvPr id="689" name="" descr="{&quot;isTemplate&quot;:true,&quot;type&quot;:&quot;text&quot;}"/>
          <p:cNvSpPr txBox="1"/>
          <p:nvPr/>
        </p:nvSpPr>
        <p:spPr>
          <a:xfrm rot="0" flipH="0" flipV="0">
            <a:off x="10096500" y="2705100"/>
            <a:ext cx="914400" cy="200025"/>
          </a:xfrm>
          <a:prstGeom prst="rect"/>
        </p:spPr>
        <p:txBody>
          <a:bodyPr wrap="none" lIns="0" tIns="0" rIns="0" bIns="0"/>
          <a:p>
            <a:pPr>
              <a:lnSpc>
                <a:spcPct val="100000"/>
              </a:lnSpc>
            </a:pPr>
            <a:r>
              <a:rPr lang="en-US" sz="1275" b="1">
                <a:solidFill>
                  <a:srgbClr val="276FBF"/>
                </a:solidFill>
                <a:latin typeface="Microsoft YaHei"/>
                <a:ea typeface="Microsoft YaHei"/>
              </a:rPr>
              <a:t>87.8</a:t>
            </a:r>
            <a:endParaRPr/>
          </a:p>
        </p:txBody>
      </p:sp>
      <p:sp>
        <p:nvSpPr>
          <p:cNvPr id="690" name="" descr="{&quot;isTemplate&quot;:true,&quot;type&quot;:&quot;text&quot;}"/>
          <p:cNvSpPr txBox="1"/>
          <p:nvPr/>
        </p:nvSpPr>
        <p:spPr>
          <a:xfrm rot="0" flipH="0" flipV="0">
            <a:off x="609600" y="3114675"/>
            <a:ext cx="2857500" cy="171450"/>
          </a:xfrm>
          <a:prstGeom prst="rect"/>
        </p:spPr>
        <p:txBody>
          <a:bodyPr wrap="none" lIns="0" tIns="0" rIns="0" bIns="0"/>
          <a:p>
            <a:pPr>
              <a:lnSpc>
                <a:spcPct val="100000"/>
              </a:lnSpc>
            </a:pPr>
            <a:r>
              <a:rPr lang="en-US" sz="1125" b="1">
                <a:solidFill>
                  <a:srgbClr val="20344B"/>
                </a:solidFill>
                <a:latin typeface="Microsoft YaHei"/>
                <a:ea typeface="Microsoft YaHei"/>
              </a:rPr>
              <a:t>GPT-5.6 Sol</a:t>
            </a:r>
            <a:endParaRPr/>
          </a:p>
        </p:txBody>
      </p:sp>
      <p:sp>
        <p:nvSpPr>
          <p:cNvPr id="691" name=""/>
          <p:cNvSpPr/>
          <p:nvPr/>
        </p:nvSpPr>
        <p:spPr>
          <a:xfrm rot="0" flipH="0" flipV="0">
            <a:off x="3581400" y="3067050"/>
            <a:ext cx="6400800" cy="266700"/>
          </a:xfrm>
          <a:prstGeom prst="roundRect">
            <a:avLst>
              <a:gd name="adj" fmla="val 21429"/>
            </a:avLst>
          </a:prstGeom>
          <a:solidFill>
            <a:srgbClr val="F4F7FA"/>
          </a:solidFill>
          <a:ln/>
        </p:spPr>
        <p:txBody>
          <a:bodyPr/>
          <a:p/>
        </p:txBody>
      </p:sp>
      <p:sp>
        <p:nvSpPr>
          <p:cNvPr id="692" name=""/>
          <p:cNvSpPr/>
          <p:nvPr/>
        </p:nvSpPr>
        <p:spPr>
          <a:xfrm rot="0" flipH="0" flipV="0">
            <a:off x="3581400" y="3067050"/>
            <a:ext cx="4933950" cy="266700"/>
          </a:xfrm>
          <a:prstGeom prst="roundRect">
            <a:avLst>
              <a:gd name="adj" fmla="val 21429"/>
            </a:avLst>
          </a:prstGeom>
          <a:solidFill>
            <a:srgbClr val="276FBF"/>
          </a:solidFill>
          <a:ln/>
        </p:spPr>
        <p:txBody>
          <a:bodyPr/>
          <a:p/>
        </p:txBody>
      </p:sp>
      <p:sp>
        <p:nvSpPr>
          <p:cNvPr id="693" name=""/>
          <p:cNvSpPr/>
          <p:nvPr/>
        </p:nvSpPr>
        <p:spPr>
          <a:xfrm rot="0" flipH="0" flipV="0">
            <a:off x="8515350" y="3067050"/>
            <a:ext cx="752475" cy="266700"/>
          </a:xfrm>
          <a:prstGeom prst="rect">
            <a:avLst/>
          </a:prstGeom>
          <a:solidFill>
            <a:srgbClr val="B5C7D8"/>
          </a:solidFill>
          <a:ln/>
        </p:spPr>
        <p:txBody>
          <a:bodyPr/>
          <a:p/>
        </p:txBody>
      </p:sp>
      <p:sp>
        <p:nvSpPr>
          <p:cNvPr id="694" name="" descr="{&quot;isTemplate&quot;:true,&quot;type&quot;:&quot;text&quot;}"/>
          <p:cNvSpPr txBox="1"/>
          <p:nvPr/>
        </p:nvSpPr>
        <p:spPr>
          <a:xfrm rot="0" flipH="0" flipV="0">
            <a:off x="10096500" y="3105150"/>
            <a:ext cx="914400" cy="200025"/>
          </a:xfrm>
          <a:prstGeom prst="rect"/>
        </p:spPr>
        <p:txBody>
          <a:bodyPr wrap="none" lIns="0" tIns="0" rIns="0" bIns="0"/>
          <a:p>
            <a:pPr>
              <a:lnSpc>
                <a:spcPct val="100000"/>
              </a:lnSpc>
            </a:pPr>
            <a:r>
              <a:rPr lang="en-US" sz="1275" b="1">
                <a:solidFill>
                  <a:srgbClr val="276FBF"/>
                </a:solidFill>
                <a:latin typeface="Microsoft YaHei"/>
                <a:ea typeface="Microsoft YaHei"/>
              </a:rPr>
              <a:t>83.0</a:t>
            </a:r>
            <a:endParaRPr/>
          </a:p>
        </p:txBody>
      </p:sp>
      <p:sp>
        <p:nvSpPr>
          <p:cNvPr id="695" name="" descr="{&quot;isTemplate&quot;:true,&quot;type&quot;:&quot;text&quot;}"/>
          <p:cNvSpPr txBox="1"/>
          <p:nvPr/>
        </p:nvSpPr>
        <p:spPr>
          <a:xfrm rot="0" flipH="0" flipV="0">
            <a:off x="609600" y="3514725"/>
            <a:ext cx="2857500" cy="171450"/>
          </a:xfrm>
          <a:prstGeom prst="rect"/>
        </p:spPr>
        <p:txBody>
          <a:bodyPr wrap="none" lIns="0" tIns="0" rIns="0" bIns="0"/>
          <a:p>
            <a:pPr>
              <a:lnSpc>
                <a:spcPct val="100000"/>
              </a:lnSpc>
            </a:pPr>
            <a:r>
              <a:rPr lang="en-US" sz="1125" b="1">
                <a:solidFill>
                  <a:srgbClr val="20344B"/>
                </a:solidFill>
                <a:latin typeface="Microsoft YaHei"/>
                <a:ea typeface="Microsoft YaHei"/>
              </a:rPr>
              <a:t>GPT-5.5 Pro</a:t>
            </a:r>
            <a:endParaRPr/>
          </a:p>
        </p:txBody>
      </p:sp>
      <p:sp>
        <p:nvSpPr>
          <p:cNvPr id="696" name=""/>
          <p:cNvSpPr/>
          <p:nvPr/>
        </p:nvSpPr>
        <p:spPr>
          <a:xfrm rot="0" flipH="0" flipV="0">
            <a:off x="3581400" y="3467100"/>
            <a:ext cx="6400800" cy="266700"/>
          </a:xfrm>
          <a:prstGeom prst="roundRect">
            <a:avLst>
              <a:gd name="adj" fmla="val 21429"/>
            </a:avLst>
          </a:prstGeom>
          <a:solidFill>
            <a:srgbClr val="F4F7FA"/>
          </a:solidFill>
          <a:ln/>
        </p:spPr>
        <p:txBody>
          <a:bodyPr/>
          <a:p/>
        </p:txBody>
      </p:sp>
      <p:sp>
        <p:nvSpPr>
          <p:cNvPr id="697" name=""/>
          <p:cNvSpPr/>
          <p:nvPr/>
        </p:nvSpPr>
        <p:spPr>
          <a:xfrm rot="0" flipH="0" flipV="0">
            <a:off x="3581400" y="3467100"/>
            <a:ext cx="4991100" cy="266700"/>
          </a:xfrm>
          <a:prstGeom prst="roundRect">
            <a:avLst>
              <a:gd name="adj" fmla="val 21429"/>
            </a:avLst>
          </a:prstGeom>
          <a:solidFill>
            <a:srgbClr val="276FBF"/>
          </a:solidFill>
          <a:ln/>
        </p:spPr>
        <p:txBody>
          <a:bodyPr/>
          <a:p/>
        </p:txBody>
      </p:sp>
      <p:sp>
        <p:nvSpPr>
          <p:cNvPr id="698" name="" descr="{&quot;isTemplate&quot;:true,&quot;type&quot;:&quot;text&quot;}"/>
          <p:cNvSpPr txBox="1"/>
          <p:nvPr/>
        </p:nvSpPr>
        <p:spPr>
          <a:xfrm rot="0" flipH="0" flipV="0">
            <a:off x="10096500" y="3505200"/>
            <a:ext cx="914400" cy="200025"/>
          </a:xfrm>
          <a:prstGeom prst="rect"/>
        </p:spPr>
        <p:txBody>
          <a:bodyPr wrap="none" lIns="0" tIns="0" rIns="0" bIns="0"/>
          <a:p>
            <a:pPr>
              <a:lnSpc>
                <a:spcPct val="100000"/>
              </a:lnSpc>
            </a:pPr>
            <a:r>
              <a:rPr lang="en-US" sz="1275" b="1">
                <a:solidFill>
                  <a:srgbClr val="276FBF"/>
                </a:solidFill>
                <a:latin typeface="Microsoft YaHei"/>
                <a:ea typeface="Microsoft YaHei"/>
              </a:rPr>
              <a:t>78.0</a:t>
            </a:r>
            <a:endParaRPr/>
          </a:p>
        </p:txBody>
      </p:sp>
      <p:sp>
        <p:nvSpPr>
          <p:cNvPr id="699" name="" descr="{&quot;isTemplate&quot;:true,&quot;type&quot;:&quot;text&quot;}"/>
          <p:cNvSpPr txBox="1"/>
          <p:nvPr/>
        </p:nvSpPr>
        <p:spPr>
          <a:xfrm rot="0" flipH="0" flipV="0">
            <a:off x="609600" y="3914775"/>
            <a:ext cx="2857500" cy="171450"/>
          </a:xfrm>
          <a:prstGeom prst="rect"/>
        </p:spPr>
        <p:txBody>
          <a:bodyPr wrap="none" lIns="0" tIns="0" rIns="0" bIns="0"/>
          <a:p>
            <a:pPr>
              <a:lnSpc>
                <a:spcPct val="100000"/>
              </a:lnSpc>
            </a:pPr>
            <a:r>
              <a:rPr lang="en-US" sz="1125" b="1">
                <a:solidFill>
                  <a:srgbClr val="20344B"/>
                </a:solidFill>
                <a:latin typeface="Microsoft YaHei"/>
                <a:ea typeface="Microsoft YaHei"/>
              </a:rPr>
              <a:t>Claude Opus 5</a:t>
            </a:r>
            <a:endParaRPr/>
          </a:p>
        </p:txBody>
      </p:sp>
      <p:sp>
        <p:nvSpPr>
          <p:cNvPr id="700" name=""/>
          <p:cNvSpPr/>
          <p:nvPr/>
        </p:nvSpPr>
        <p:spPr>
          <a:xfrm rot="0" flipH="0" flipV="0">
            <a:off x="3581400" y="3867150"/>
            <a:ext cx="6400800" cy="266700"/>
          </a:xfrm>
          <a:prstGeom prst="roundRect">
            <a:avLst>
              <a:gd name="adj" fmla="val 21429"/>
            </a:avLst>
          </a:prstGeom>
          <a:solidFill>
            <a:srgbClr val="F4F7FA"/>
          </a:solidFill>
          <a:ln/>
        </p:spPr>
        <p:txBody>
          <a:bodyPr/>
          <a:p/>
        </p:txBody>
      </p:sp>
      <p:sp>
        <p:nvSpPr>
          <p:cNvPr id="701" name=""/>
          <p:cNvSpPr/>
          <p:nvPr/>
        </p:nvSpPr>
        <p:spPr>
          <a:xfrm rot="0" flipH="0" flipV="0">
            <a:off x="3581400" y="3867150"/>
            <a:ext cx="4686300" cy="266700"/>
          </a:xfrm>
          <a:prstGeom prst="roundRect">
            <a:avLst>
              <a:gd name="adj" fmla="val 21429"/>
            </a:avLst>
          </a:prstGeom>
          <a:solidFill>
            <a:srgbClr val="276FBF"/>
          </a:solidFill>
          <a:ln/>
        </p:spPr>
        <p:txBody>
          <a:bodyPr/>
          <a:p/>
        </p:txBody>
      </p:sp>
      <p:sp>
        <p:nvSpPr>
          <p:cNvPr id="702" name="" descr="{&quot;isTemplate&quot;:true,&quot;type&quot;:&quot;text&quot;}"/>
          <p:cNvSpPr txBox="1"/>
          <p:nvPr/>
        </p:nvSpPr>
        <p:spPr>
          <a:xfrm rot="0" flipH="0" flipV="0">
            <a:off x="10096500" y="3905250"/>
            <a:ext cx="914400" cy="200025"/>
          </a:xfrm>
          <a:prstGeom prst="rect"/>
        </p:spPr>
        <p:txBody>
          <a:bodyPr wrap="none" lIns="0" tIns="0" rIns="0" bIns="0"/>
          <a:p>
            <a:pPr>
              <a:lnSpc>
                <a:spcPct val="100000"/>
              </a:lnSpc>
            </a:pPr>
            <a:r>
              <a:rPr lang="en-US" sz="1275" b="1">
                <a:solidFill>
                  <a:srgbClr val="276FBF"/>
                </a:solidFill>
                <a:latin typeface="Microsoft YaHei"/>
                <a:ea typeface="Microsoft YaHei"/>
              </a:rPr>
              <a:t>73.2</a:t>
            </a:r>
            <a:endParaRPr/>
          </a:p>
        </p:txBody>
      </p:sp>
      <p:sp>
        <p:nvSpPr>
          <p:cNvPr id="703" name=""/>
          <p:cNvSpPr/>
          <p:nvPr/>
        </p:nvSpPr>
        <p:spPr>
          <a:xfrm rot="0" flipH="0" flipV="0">
            <a:off x="647700" y="4286250"/>
            <a:ext cx="247650" cy="114300"/>
          </a:xfrm>
          <a:prstGeom prst="roundRect">
            <a:avLst>
              <a:gd name="adj" fmla="val 50000"/>
            </a:avLst>
          </a:prstGeom>
          <a:solidFill>
            <a:srgbClr val="276FBF"/>
          </a:solidFill>
          <a:ln/>
        </p:spPr>
        <p:txBody>
          <a:bodyPr/>
          <a:p/>
        </p:txBody>
      </p:sp>
      <p:sp>
        <p:nvSpPr>
          <p:cNvPr id="704" name="" descr="{&quot;isTemplate&quot;:true,&quot;type&quot;:&quot;text&quot;}"/>
          <p:cNvSpPr txBox="1"/>
          <p:nvPr/>
        </p:nvSpPr>
        <p:spPr>
          <a:xfrm rot="0" flipH="0" flipV="0">
            <a:off x="971550" y="4267200"/>
            <a:ext cx="619125" cy="152400"/>
          </a:xfrm>
          <a:prstGeom prst="rect"/>
        </p:spPr>
        <p:txBody>
          <a:bodyPr wrap="none" lIns="0" tIns="0" rIns="0" bIns="0"/>
          <a:p>
            <a:pPr>
              <a:lnSpc>
                <a:spcPct val="100000"/>
              </a:lnSpc>
            </a:pPr>
            <a:r>
              <a:rPr lang="zh-CN" sz="975">
                <a:solidFill>
                  <a:srgbClr val="546779"/>
                </a:solidFill>
                <a:latin typeface="Microsoft YaHei"/>
                <a:ea typeface="Microsoft YaHei"/>
              </a:rPr>
              <a:t>得分点估计</a:t>
            </a:r>
            <a:endParaRPr/>
          </a:p>
        </p:txBody>
      </p:sp>
      <p:sp>
        <p:nvSpPr>
          <p:cNvPr id="705" name=""/>
          <p:cNvSpPr/>
          <p:nvPr/>
        </p:nvSpPr>
        <p:spPr>
          <a:xfrm rot="0" flipH="0" flipV="0">
            <a:off x="1781175" y="4286250"/>
            <a:ext cx="247650" cy="114300"/>
          </a:xfrm>
          <a:prstGeom prst="roundRect">
            <a:avLst>
              <a:gd name="adj" fmla="val 50000"/>
            </a:avLst>
          </a:prstGeom>
          <a:solidFill>
            <a:srgbClr val="B5C7D8"/>
          </a:solidFill>
          <a:ln/>
        </p:spPr>
        <p:txBody>
          <a:bodyPr/>
          <a:p/>
        </p:txBody>
      </p:sp>
      <p:sp>
        <p:nvSpPr>
          <p:cNvPr id="706" name="" descr="{&quot;isTemplate&quot;:true,&quot;type&quot;:&quot;text&quot;}"/>
          <p:cNvSpPr txBox="1"/>
          <p:nvPr/>
        </p:nvSpPr>
        <p:spPr>
          <a:xfrm rot="0" flipH="0" flipV="0">
            <a:off x="2105025" y="4267200"/>
            <a:ext cx="3343275" cy="152400"/>
          </a:xfrm>
          <a:prstGeom prst="rect"/>
        </p:spPr>
        <p:txBody>
          <a:bodyPr wrap="none" lIns="0" tIns="0" rIns="0" bIns="0"/>
          <a:p>
            <a:pPr>
              <a:lnSpc>
                <a:spcPct val="100000"/>
              </a:lnSpc>
            </a:pPr>
            <a:r>
              <a:rPr lang="en-US" sz="975">
                <a:solidFill>
                  <a:srgbClr val="546779"/>
                </a:solidFill>
                <a:latin typeface="Microsoft YaHei"/>
                <a:ea typeface="Microsoft YaHei"/>
              </a:rPr>
              <a:t xml:space="preserve">±1 </a:t>
            </a:r>
            <a:r>
              <a:rPr lang="zh-CN" sz="975">
                <a:solidFill>
                  <a:srgbClr val="546779"/>
                </a:solidFill>
                <a:latin typeface="Microsoft YaHei"/>
                <a:ea typeface="Microsoft YaHei"/>
              </a:rPr>
              <a:t>标准误（</a:t>
            </a:r>
            <a:r>
              <a:rPr lang="en-US" sz="975">
                <a:solidFill>
                  <a:srgbClr val="546779"/>
                </a:solidFill>
                <a:latin typeface="Microsoft YaHei"/>
                <a:ea typeface="Microsoft YaHei"/>
              </a:rPr>
              <a:t xml:space="preserve">Fable 5 </a:t>
            </a:r>
            <a:r>
              <a:rPr lang="zh-CN" sz="975">
                <a:solidFill>
                  <a:srgbClr val="546779"/>
                </a:solidFill>
                <a:latin typeface="Microsoft YaHei"/>
                <a:ea typeface="Microsoft YaHei"/>
              </a:rPr>
              <a:t>为</a:t>
            </a:r>
            <a:r>
              <a:rPr lang="en-US" sz="975">
                <a:solidFill>
                  <a:srgbClr val="546779"/>
                </a:solidFill>
                <a:latin typeface="Microsoft YaHei"/>
                <a:ea typeface="Microsoft YaHei"/>
              </a:rPr>
              <a:t xml:space="preserve"> ±5.2</a:t>
            </a:r>
            <a:r>
              <a:rPr lang="zh-CN" sz="975">
                <a:solidFill>
                  <a:srgbClr val="546779"/>
                </a:solidFill>
                <a:latin typeface="Microsoft YaHei"/>
                <a:ea typeface="Microsoft YaHei"/>
              </a:rPr>
              <a:t>，</a:t>
            </a:r>
            <a:r>
              <a:rPr lang="en-US" sz="975">
                <a:solidFill>
                  <a:srgbClr val="546779"/>
                </a:solidFill>
                <a:latin typeface="Microsoft YaHei"/>
                <a:ea typeface="Microsoft YaHei"/>
              </a:rPr>
              <a:t xml:space="preserve">Sol </a:t>
            </a:r>
            <a:r>
              <a:rPr lang="zh-CN" sz="975">
                <a:solidFill>
                  <a:srgbClr val="546779"/>
                </a:solidFill>
                <a:latin typeface="Microsoft YaHei"/>
                <a:ea typeface="Microsoft YaHei"/>
              </a:rPr>
              <a:t>为</a:t>
            </a:r>
            <a:r>
              <a:rPr lang="en-US" sz="975">
                <a:solidFill>
                  <a:srgbClr val="546779"/>
                </a:solidFill>
                <a:latin typeface="Microsoft YaHei"/>
                <a:ea typeface="Microsoft YaHei"/>
              </a:rPr>
              <a:t xml:space="preserve"> ±5.9</a:t>
            </a:r>
            <a:r>
              <a:rPr lang="zh-CN" sz="975">
                <a:solidFill>
                  <a:srgbClr val="546779"/>
                </a:solidFill>
                <a:latin typeface="Microsoft YaHei"/>
                <a:ea typeface="Microsoft YaHei"/>
              </a:rPr>
              <a:t>，两者区间重叠）</a:t>
            </a:r>
            <a:endParaRPr/>
          </a:p>
        </p:txBody>
      </p:sp>
      <p:sp>
        <p:nvSpPr>
          <p:cNvPr id="707" name=""/>
          <p:cNvSpPr/>
          <p:nvPr/>
        </p:nvSpPr>
        <p:spPr>
          <a:xfrm rot="0" flipH="0" flipV="0">
            <a:off x="609600" y="4552950"/>
            <a:ext cx="10972800" cy="609600"/>
          </a:xfrm>
          <a:prstGeom prst="roundRect">
            <a:avLst>
              <a:gd name="adj" fmla="val 15625"/>
            </a:avLst>
          </a:prstGeom>
          <a:solidFill>
            <a:srgbClr val="FFF4E6"/>
          </a:solidFill>
          <a:ln/>
        </p:spPr>
        <p:txBody>
          <a:bodyPr/>
          <a:p/>
        </p:txBody>
      </p:sp>
      <p:sp>
        <p:nvSpPr>
          <p:cNvPr id="708" name=""/>
          <p:cNvSpPr/>
          <p:nvPr/>
        </p:nvSpPr>
        <p:spPr>
          <a:xfrm rot="0" flipH="0" flipV="0">
            <a:off x="819150" y="4667250"/>
            <a:ext cx="38100" cy="381000"/>
          </a:xfrm>
          <a:prstGeom prst="rect">
            <a:avLst/>
          </a:prstGeom>
          <a:solidFill>
            <a:srgbClr val="CB6B28"/>
          </a:solidFill>
          <a:ln/>
        </p:spPr>
        <p:txBody>
          <a:bodyPr/>
          <a:p/>
        </p:txBody>
      </p:sp>
      <p:sp>
        <p:nvSpPr>
          <p:cNvPr id="709" name="" descr="{&quot;isTemplate&quot;:true,&quot;type&quot;:&quot;text&quot;}"/>
          <p:cNvSpPr txBox="1"/>
          <p:nvPr/>
        </p:nvSpPr>
        <p:spPr>
          <a:xfrm rot="0" flipH="0" flipV="0">
            <a:off x="990600" y="4733925"/>
            <a:ext cx="7019925" cy="257175"/>
          </a:xfrm>
          <a:prstGeom prst="rect"/>
        </p:spPr>
        <p:txBody>
          <a:bodyPr wrap="none" lIns="0" tIns="0" rIns="0" bIns="0"/>
          <a:p>
            <a:pPr>
              <a:lnSpc>
                <a:spcPct val="145000"/>
              </a:lnSpc>
            </a:pPr>
            <a:r>
              <a:rPr lang="en-US" sz="1125">
                <a:solidFill>
                  <a:srgbClr val="CB6B28"/>
                </a:solidFill>
                <a:latin typeface="Microsoft YaHei"/>
                <a:ea typeface="Microsoft YaHei"/>
              </a:rPr>
              <a:t xml:space="preserve">FrontierMath </a:t>
            </a:r>
            <a:r>
              <a:rPr lang="zh-CN" sz="1125">
                <a:solidFill>
                  <a:srgbClr val="CB6B28"/>
                </a:solidFill>
                <a:latin typeface="Microsoft YaHei"/>
                <a:ea typeface="Microsoft YaHei"/>
              </a:rPr>
              <a:t>是</a:t>
            </a:r>
            <a:r>
              <a:rPr lang="en-US" sz="1125">
                <a:solidFill>
                  <a:srgbClr val="CB6B28"/>
                </a:solidFill>
                <a:latin typeface="Microsoft YaHei"/>
                <a:ea typeface="Microsoft YaHei"/>
              </a:rPr>
              <a:t xml:space="preserve"> Epoch </a:t>
            </a:r>
            <a:r>
              <a:rPr lang="zh-CN" sz="1125">
                <a:solidFill>
                  <a:srgbClr val="CB6B28"/>
                </a:solidFill>
                <a:latin typeface="Microsoft YaHei"/>
                <a:ea typeface="Microsoft YaHei"/>
              </a:rPr>
              <a:t>自家基准，按避嫌原则未进入独立审计名单；而它第一版恰恰被查出四成以上的题有错</a:t>
            </a:r>
            <a:endParaRPr/>
          </a:p>
        </p:txBody>
      </p:sp>
      <p:sp>
        <p:nvSpPr>
          <p:cNvPr id="710"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711"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28 / 36</a:t>
            </a:r>
            <a:endParaRPr/>
          </a:p>
        </p:txBody>
      </p:sp>
    </p:spTree>
  </p:cSld>
</p:sld>
</file>

<file path=ppt/slides/slide29.xml><?xml version="1.0" encoding="utf-8"?>
<p:sld xmlns:p="http://schemas.openxmlformats.org/presentationml/2006/main" xmlns:a="http://schemas.openxmlformats.org/drawingml/2006/main">
  <p:cSld>
    <p:spTree>
      <p:nvGrpSpPr>
        <p:cNvPr id="712" name="" descr="&lt;Slide notes={`看模型分数，一定要有人类参照，但这个参照经常被误用。&#10;&#10;先看 GPQA Diamond 这一列：随便猜是百分之二十五，因为四选一；带着网络、花三十多分钟的非领域专家，反而只有百分之二十二。这个数字低于随机线，是因为 Diamond 本身就是按&quot;非专家答错&quot;筛出来的，存在选择效应。而同领域的博士专家能到八成以上。所以&quot;模型超过了人类专家&quot;这句话，要看比的是哪一组人。&#10;&#10;HLE 这一列：普通人大概只能答对百分之五到十，领域专家在自己熟悉的方向上能到九成左右。&#10;&#10;ARC-AGI-2 这一列：人类平均大约六成六，高分组能到九成以上，测试面板是百分百。这个基准在设计时就要求每道题至少有两个人在两次尝试内解出来。&#10;&#10;三列放在一起，结论很清楚：人类基线取决于你问的是哪一组人、在什么条件下答。引用时必须写清。`}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⑤　1.4.5　领先模型：这些分数是拿谁做参照的&lt;/Text&gt;&#10;            &lt;Text style={{ fontSize: 34, fontWeight: 'bold', color: '#20344B' }}&gt;对照人类基线&lt;/Text&gt;&#10;        &lt;/Box&gt;&#10;    &lt;/Box&gt;&#10;&#10;    &lt;Box style={{ height: 540, flexDirection: 'column', justifyContent: 'center', gap: 18 }}&gt;&#10;&#10;        &lt;Box style={{ flexDirection: 'row', gap: 16 }}&gt;&#10;&#10;            &lt;Box style={{ width: 373, height: 368, background: '#F4F7FA', borderRadius: 12, padding: '18px 18px', flexDirection: 'column', gap: 10 }}&gt;&#10;                &lt;Text style={{ fontSize: 18, fontWeight: 'bold', color: '#20344B' }}&gt;GPQA Diamond&lt;/Text&gt;&#10;                &lt;Box style={{ flexDirection: 'row', justifyContent: 'space-between', alignItems: 'center', background: '#FFFFFF', borderRadius: 8, padding: '12px 14px' }}&gt;&#10;                    &lt;Text style={{ fontSize: 14, color: '#546779' }}&gt;随机猜（四选一）&lt;/Text&gt;&#10;                    &lt;Text style={{ fontSize: 17, fontWeight: 'bold', color: '#546779' }}&gt;25%&lt;/Text&gt;&#10;                &lt;/Box&gt;&#10;                &lt;Box style={{ flexDirection: 'row', justifyContent: 'space-between', alignItems: 'center', background: '#FFF4E6', borderRadius: 8, padding: '12px 14px' }}&gt;&#10;                    &lt;Text style={{ fontSize: 14, color: '#CB6B28' }}&gt;非领域专家（可联网）&lt;/Text&gt;&#10;                    &lt;Text style={{ fontSize: 17, fontWeight: 'bold', color: '#CB6B28' }}&gt;22%&lt;/Text&gt;&#10;                &lt;/Box&gt;&#10;                &lt;Box style={{ flexDirection: 'row', justifyContent: 'space-between', alignItems: 'center', background: '#FFFFFF', borderRadius: 8, padding: '12px 14px' }}&gt;&#10;                    &lt;Text style={{ fontSize: 14, color: '#546779' }}&gt;同领域博士专家&lt;/Text&gt;&#10;                    &lt;Text style={{ fontSize: 17, fontWeight: 'bold', color: '#276FBF' }}&gt;81%&lt;/Text&gt;&#10;                &lt;/Box&gt;&#10;                &lt;Box style={{ flex: 1 }} /&gt;&#10;                &lt;Text style={{ fontSize: 13, color: '#CB6B28', lineHeight: 1.4 }}&gt;非专家低于随机线，是&quot;按答错筛选&quot;带来的选择效应&lt;/Text&gt;&#10;            &lt;/Box&gt;&#10;&#10;            &lt;Box style={{ width: 373, height: 368, background: '#F4F7FA', borderRadius: 12, padding: '18px 18px', flexDirection: 'column', gap: 10 }}&gt;&#10;                &lt;Text style={{ fontSize: 18, fontWeight: 'bold', color: '#20344B' }}&gt;HLE&lt;/Text&gt;&#10;                &lt;Box style={{ flexDirection: 'row', justifyContent: 'space-between', alignItems: 'center', background: '#FFFFFF', borderRadius: 8, padding: '12px 14px' }}&gt;&#10;                    &lt;Text style={{ fontSize: 14, color: '#546779' }}&gt;一般答题者&lt;/Text&gt;&#10;                    &lt;Text style={{ fontSize: 17, fontWeight: 'bold', color: '#546779' }}&gt;约 5–10%&lt;/Text&gt;&#10;                &lt;/Box&gt;&#10;                &lt;Box style={{ flexDirection: 'row', justifyContent: 'space-between', alignItems: 'center', background: '#F7F3E8', borderRadius: 8, padding: '12px 14px' }}&gt;&#10;                    &lt;Text style={{ fontSize: 14, color: '#546779' }}&gt;专家在自身方向&lt;/Text&gt;&#10;                    &lt;Text style={{ fontSize: 17, fontWeight: 'bold', color: '#546779' }}&gt;60–70%&lt;/Text&gt;&#10;                &lt;/Box&gt;&#10;                &lt;Box style={{ flexDirection: 'row', justifyContent: 'space-between', alignItems: 'center', background: '#FFFFFF', borderRadius: 8, padding: '12px 14px' }}&gt;&#10;                    &lt;Text style={{ fontSize: 14, color: '#546779' }}&gt;领域专家（参照值）&lt;/Text&gt;&#10;                    &lt;Text style={{ fontSize: 17, fontWeight: 'bold', color: '#276FBF' }}&gt;约 90%&lt;/Text&gt;&#10;                &lt;/Box&gt;&#10;                &lt;Box style={{ flex: 1 }} /&gt;&#10;                &lt;Text style={{ fontSize: 13, color: '#546779', lineHeight: 1.4 }}&gt;出题人给的是参考答案，专家参照值来自论文说明&lt;/Text&gt;&#10;            &lt;/Box&gt;&#10;&#10;            &lt;Box style={{ width: 373, height: 368, background: '#F4F7FA', borderRadius: 12, padding: '18px 18px', flexDirection: 'column', gap: 10 }}&gt;&#10;                &lt;Text style={{ fontSize: 18, fontWeight: 'bold', color: '#20344B' }}&gt;ARC-AGI-2&lt;/Text&gt;&#10;                &lt;Box style={{ flexDirection: 'row', justifyContent: 'space-between', alignItems: 'center', background: '#FFFFFF', borderRadius: 8, padding: '12px 14px' }}&gt;&#10;                    &lt;Text style={{ fontSize: 14, color: '#546779' }}&gt;人类平均&lt;/Text&gt;&#10;                    &lt;Text style={{ fontSize: 17, fontWeight: 'bold', color: '#546779' }}&gt;约 66%&lt;/Text&gt;&#10;                &lt;/Box&gt;&#10;                &lt;Box style={{ flexDirection: 'row', justifyContent: 'space-between', alignItems: 'center', background: '#FFFFFF', borderRadius: 8, padding: '12px 14px' }}&gt;&#10;                    &lt;Text style={{ fontSize: 14, color: '#546779' }}&gt;人类高分组&lt;/Text&gt;&#10;                    &lt;Text style={{ fontSize: 17, fontWeight: 'bold', color: '#546779' }}&gt;约 92%&lt;/Text&gt;&#10;                &lt;/Box&gt;&#10;                &lt;Box style={{ flexDirection: 'row', justifyContent: 'space-between', alignItems: 'center', background: '#ECF7F2', borderRadius: 8, padding: '12px 14px' }}&gt;&#10;                    &lt;Text style={{ fontSize: 14, color: '#26816B' }}&gt;校准测试面板&lt;/Text&gt;&#10;                    &lt;Text style={{ fontSize: 17, fontWeight: 'bold', color: '#26816B' }}&gt;100%&lt;/Text&gt;&#10;                &lt;/Box&gt;&#10;                &lt;Box style={{ flex: 1 }} /&gt;&#10;                &lt;Text style={{ fontSize: 13, color: '#546779', lineHeight: 1.4 }}&gt;入选题要求至少两人在两次尝试内解出；人类基线随抽样变化&lt;/Text&gt;&#10;            &lt;/Box&gt;&#10;&#10;        &lt;/Box&gt;&#10;&#10;        &lt;Box style={{ flexDirection: 'row', gap: 16, background: '#F7F3E8', borderRadius: 10, padding: '12px 22px', alignItems: 'center' }}&gt;&#10;            &lt;Box style={{ width: 4, height: 30, background: '#276FBF' }} /&gt;&#10;            &lt;Text style={{ fontSize: 15, color: '#546779', lineHeight: 1.5 }}&gt;&quot;超过人类专家&quot;这类说法，必须先说清是超过哪一组人、在什么条件下答题&lt;/Text&gt;&#10;        &lt;/Box&gt;&#10;&#10;    &lt;/Box&gt;&#10;&#10;    &lt;Box style={{ height: 40, flexDirection: 'row', justifyContent: 'space-between', alignItems: 'center' }}&gt;&#10;        &lt;Text style={{ fontSize: 14, color: '#546779' }}&gt;1.4 从榜单到证据&lt;/Text&gt;&#10;        &lt;Text style={{ fontSize: 14, color: '#546779' }}&gt;29 / 36&lt;/Text&gt;&#10;    &lt;/Box&gt;&#10;&#10;&lt;/Slide&gt;&#10;"/>
        <p:cNvGrpSpPr/>
        <p:nvPr/>
      </p:nvGrpSpPr>
      <p:grpSpPr>
        <a:xfrm>
          <a:off x="0" y="0"/>
          <a:ext cx="0" cy="0"/>
          <a:chOff x="0" y="0"/>
          <a:chExt cx="0" cy="0"/>
        </a:xfrm>
      </p:grpSpPr>
      <p:sp>
        <p:nvSpPr>
          <p:cNvPr id="713" name=""/>
          <p:cNvSpPr/>
          <p:nvPr/>
        </p:nvSpPr>
        <p:spPr>
          <a:xfrm rot="0" flipH="0" flipV="0">
            <a:off x="0" y="0"/>
            <a:ext cx="12192000" cy="6858000"/>
          </a:xfrm>
          <a:prstGeom prst="rect">
            <a:avLst/>
          </a:prstGeom>
          <a:solidFill>
            <a:srgbClr val="FFFFFF"/>
          </a:solidFill>
          <a:ln/>
        </p:spPr>
        <p:txBody>
          <a:bodyPr/>
          <a:p/>
        </p:txBody>
      </p:sp>
      <p:sp>
        <p:nvSpPr>
          <p:cNvPr id="714" name=""/>
          <p:cNvSpPr/>
          <p:nvPr/>
        </p:nvSpPr>
        <p:spPr>
          <a:xfrm rot="0" flipH="0" flipV="0">
            <a:off x="609600" y="457200"/>
            <a:ext cx="38100" cy="419100"/>
          </a:xfrm>
          <a:prstGeom prst="rect">
            <a:avLst/>
          </a:prstGeom>
          <a:solidFill>
            <a:srgbClr val="276FBF"/>
          </a:solidFill>
          <a:ln/>
        </p:spPr>
        <p:txBody>
          <a:bodyPr/>
          <a:p/>
        </p:txBody>
      </p:sp>
      <p:sp>
        <p:nvSpPr>
          <p:cNvPr id="715" name="" descr="{&quot;isTemplate&quot;:true,&quot;type&quot;:&quot;text&quot;}"/>
          <p:cNvSpPr txBox="1"/>
          <p:nvPr/>
        </p:nvSpPr>
        <p:spPr>
          <a:xfrm rot="0" flipH="0" flipV="0">
            <a:off x="838200" y="371475"/>
            <a:ext cx="2838450" cy="161925"/>
          </a:xfrm>
          <a:prstGeom prst="rect"/>
        </p:spPr>
        <p:txBody>
          <a:bodyPr wrap="none" lIns="0" tIns="0" rIns="0" bIns="0"/>
          <a:p>
            <a:pPr>
              <a:lnSpc>
                <a:spcPct val="100000"/>
              </a:lnSpc>
            </a:pPr>
            <a:r>
              <a:rPr lang="zh-CN" sz="1050">
                <a:solidFill>
                  <a:srgbClr val="546779"/>
                </a:solidFill>
                <a:latin typeface="Microsoft YaHei"/>
                <a:ea typeface="Microsoft YaHei"/>
              </a:rPr>
              <a:t>⑤　</a:t>
            </a:r>
            <a:r>
              <a:rPr lang="en-US" sz="1050">
                <a:solidFill>
                  <a:srgbClr val="546779"/>
                </a:solidFill>
                <a:latin typeface="Microsoft YaHei"/>
                <a:ea typeface="Microsoft YaHei"/>
              </a:rPr>
              <a:t>1.4.5</a:t>
            </a:r>
            <a:r>
              <a:rPr lang="zh-CN" sz="1050">
                <a:solidFill>
                  <a:srgbClr val="546779"/>
                </a:solidFill>
                <a:latin typeface="Microsoft YaHei"/>
                <a:ea typeface="Microsoft YaHei"/>
              </a:rPr>
              <a:t>　领先模型：这些分数是拿谁做参照的</a:t>
            </a:r>
            <a:endParaRPr/>
          </a:p>
        </p:txBody>
      </p:sp>
      <p:sp>
        <p:nvSpPr>
          <p:cNvPr id="716" name="" descr="{&quot;isTemplate&quot;:true,&quot;type&quot;:&quot;text&quot;}"/>
          <p:cNvSpPr txBox="1"/>
          <p:nvPr/>
        </p:nvSpPr>
        <p:spPr>
          <a:xfrm rot="0" flipH="0" flipV="0">
            <a:off x="838200" y="571500"/>
            <a:ext cx="2838450" cy="390525"/>
          </a:xfrm>
          <a:prstGeom prst="rect"/>
        </p:spPr>
        <p:txBody>
          <a:bodyPr wrap="none" lIns="0" tIns="0" rIns="0" bIns="0"/>
          <a:p>
            <a:pPr>
              <a:lnSpc>
                <a:spcPct val="100000"/>
              </a:lnSpc>
            </a:pPr>
            <a:r>
              <a:rPr lang="zh-CN" sz="2550" b="1">
                <a:solidFill>
                  <a:srgbClr val="20344B"/>
                </a:solidFill>
                <a:latin typeface="Microsoft YaHei"/>
                <a:ea typeface="Microsoft YaHei"/>
              </a:rPr>
              <a:t>对照人类基线</a:t>
            </a:r>
            <a:endParaRPr/>
          </a:p>
        </p:txBody>
      </p:sp>
      <p:sp>
        <p:nvSpPr>
          <p:cNvPr id="717" name=""/>
          <p:cNvSpPr/>
          <p:nvPr/>
        </p:nvSpPr>
        <p:spPr>
          <a:xfrm rot="0" flipH="0" flipV="0">
            <a:off x="609600" y="1619250"/>
            <a:ext cx="3552825" cy="3505200"/>
          </a:xfrm>
          <a:prstGeom prst="roundRect">
            <a:avLst>
              <a:gd name="adj" fmla="val 3261"/>
            </a:avLst>
          </a:prstGeom>
          <a:solidFill>
            <a:srgbClr val="F4F7FA"/>
          </a:solidFill>
          <a:ln/>
        </p:spPr>
        <p:txBody>
          <a:bodyPr/>
          <a:p/>
        </p:txBody>
      </p:sp>
      <p:sp>
        <p:nvSpPr>
          <p:cNvPr id="718" name="" descr="{&quot;isTemplate&quot;:true,&quot;type&quot;:&quot;text&quot;}"/>
          <p:cNvSpPr txBox="1"/>
          <p:nvPr/>
        </p:nvSpPr>
        <p:spPr>
          <a:xfrm rot="0" flipH="0" flipV="0">
            <a:off x="781050" y="1790700"/>
            <a:ext cx="3209925" cy="209550"/>
          </a:xfrm>
          <a:prstGeom prst="rect"/>
        </p:spPr>
        <p:txBody>
          <a:bodyPr wrap="none" lIns="0" tIns="0" rIns="0" bIns="0"/>
          <a:p>
            <a:pPr>
              <a:lnSpc>
                <a:spcPct val="100000"/>
              </a:lnSpc>
            </a:pPr>
            <a:r>
              <a:rPr lang="en-US" sz="1350" b="1">
                <a:solidFill>
                  <a:srgbClr val="20344B"/>
                </a:solidFill>
                <a:latin typeface="Microsoft YaHei"/>
                <a:ea typeface="Microsoft YaHei"/>
              </a:rPr>
              <a:t>GPQA Diamond</a:t>
            </a:r>
            <a:endParaRPr/>
          </a:p>
        </p:txBody>
      </p:sp>
      <p:sp>
        <p:nvSpPr>
          <p:cNvPr id="719" name=""/>
          <p:cNvSpPr/>
          <p:nvPr/>
        </p:nvSpPr>
        <p:spPr>
          <a:xfrm rot="0" flipH="0" flipV="0">
            <a:off x="781050" y="2095500"/>
            <a:ext cx="3209925" cy="428625"/>
          </a:xfrm>
          <a:prstGeom prst="roundRect">
            <a:avLst>
              <a:gd name="adj" fmla="val 17778"/>
            </a:avLst>
          </a:prstGeom>
          <a:solidFill>
            <a:srgbClr val="FFFFFF"/>
          </a:solidFill>
          <a:ln/>
        </p:spPr>
        <p:txBody>
          <a:bodyPr/>
          <a:p/>
        </p:txBody>
      </p:sp>
      <p:sp>
        <p:nvSpPr>
          <p:cNvPr id="720" name="" descr="{&quot;isTemplate&quot;:true,&quot;type&quot;:&quot;text&quot;}"/>
          <p:cNvSpPr txBox="1"/>
          <p:nvPr/>
        </p:nvSpPr>
        <p:spPr>
          <a:xfrm rot="0" flipH="0" flipV="0">
            <a:off x="914400" y="2228850"/>
            <a:ext cx="1066800" cy="161925"/>
          </a:xfrm>
          <a:prstGeom prst="rect"/>
        </p:spPr>
        <p:txBody>
          <a:bodyPr wrap="none" lIns="0" tIns="0" rIns="0" bIns="0"/>
          <a:p>
            <a:pPr>
              <a:lnSpc>
                <a:spcPct val="100000"/>
              </a:lnSpc>
            </a:pPr>
            <a:r>
              <a:rPr lang="zh-CN" sz="1050">
                <a:solidFill>
                  <a:srgbClr val="546779"/>
                </a:solidFill>
                <a:latin typeface="Microsoft YaHei"/>
                <a:ea typeface="Microsoft YaHei"/>
              </a:rPr>
              <a:t>随机猜（四选一）</a:t>
            </a:r>
            <a:endParaRPr/>
          </a:p>
        </p:txBody>
      </p:sp>
      <p:sp>
        <p:nvSpPr>
          <p:cNvPr id="721" name="" descr="{&quot;isTemplate&quot;:true,&quot;type&quot;:&quot;text&quot;}"/>
          <p:cNvSpPr txBox="1"/>
          <p:nvPr/>
        </p:nvSpPr>
        <p:spPr>
          <a:xfrm rot="0" flipH="0" flipV="0">
            <a:off x="3505200" y="2209800"/>
            <a:ext cx="352425" cy="200025"/>
          </a:xfrm>
          <a:prstGeom prst="rect"/>
        </p:spPr>
        <p:txBody>
          <a:bodyPr wrap="none" lIns="0" tIns="0" rIns="0" bIns="0"/>
          <a:p>
            <a:pPr>
              <a:lnSpc>
                <a:spcPct val="100000"/>
              </a:lnSpc>
            </a:pPr>
            <a:r>
              <a:rPr lang="en-US" sz="1275" b="1">
                <a:solidFill>
                  <a:srgbClr val="546779"/>
                </a:solidFill>
                <a:latin typeface="Microsoft YaHei"/>
                <a:ea typeface="Microsoft YaHei"/>
              </a:rPr>
              <a:t>25%</a:t>
            </a:r>
            <a:endParaRPr/>
          </a:p>
        </p:txBody>
      </p:sp>
      <p:sp>
        <p:nvSpPr>
          <p:cNvPr id="722" name=""/>
          <p:cNvSpPr/>
          <p:nvPr/>
        </p:nvSpPr>
        <p:spPr>
          <a:xfrm rot="0" flipH="0" flipV="0">
            <a:off x="781050" y="2619375"/>
            <a:ext cx="3209925" cy="428625"/>
          </a:xfrm>
          <a:prstGeom prst="roundRect">
            <a:avLst>
              <a:gd name="adj" fmla="val 17778"/>
            </a:avLst>
          </a:prstGeom>
          <a:solidFill>
            <a:srgbClr val="FFF4E6"/>
          </a:solidFill>
          <a:ln/>
        </p:spPr>
        <p:txBody>
          <a:bodyPr/>
          <a:p/>
        </p:txBody>
      </p:sp>
      <p:sp>
        <p:nvSpPr>
          <p:cNvPr id="723" name="" descr="{&quot;isTemplate&quot;:true,&quot;type&quot;:&quot;text&quot;}"/>
          <p:cNvSpPr txBox="1"/>
          <p:nvPr/>
        </p:nvSpPr>
        <p:spPr>
          <a:xfrm rot="0" flipH="0" flipV="0">
            <a:off x="914400" y="2752725"/>
            <a:ext cx="1333500" cy="161925"/>
          </a:xfrm>
          <a:prstGeom prst="rect"/>
        </p:spPr>
        <p:txBody>
          <a:bodyPr wrap="none" lIns="0" tIns="0" rIns="0" bIns="0"/>
          <a:p>
            <a:pPr>
              <a:lnSpc>
                <a:spcPct val="100000"/>
              </a:lnSpc>
            </a:pPr>
            <a:r>
              <a:rPr lang="zh-CN" sz="1050">
                <a:solidFill>
                  <a:srgbClr val="CB6B28"/>
                </a:solidFill>
                <a:latin typeface="Microsoft YaHei"/>
                <a:ea typeface="Microsoft YaHei"/>
              </a:rPr>
              <a:t>非领域专家（可联网）</a:t>
            </a:r>
            <a:endParaRPr/>
          </a:p>
        </p:txBody>
      </p:sp>
      <p:sp>
        <p:nvSpPr>
          <p:cNvPr id="724" name="" descr="{&quot;isTemplate&quot;:true,&quot;type&quot;:&quot;text&quot;}"/>
          <p:cNvSpPr txBox="1"/>
          <p:nvPr/>
        </p:nvSpPr>
        <p:spPr>
          <a:xfrm rot="0" flipH="0" flipV="0">
            <a:off x="3505200" y="2733675"/>
            <a:ext cx="352425" cy="200025"/>
          </a:xfrm>
          <a:prstGeom prst="rect"/>
        </p:spPr>
        <p:txBody>
          <a:bodyPr wrap="none" lIns="0" tIns="0" rIns="0" bIns="0"/>
          <a:p>
            <a:pPr>
              <a:lnSpc>
                <a:spcPct val="100000"/>
              </a:lnSpc>
            </a:pPr>
            <a:r>
              <a:rPr lang="en-US" sz="1275" b="1">
                <a:solidFill>
                  <a:srgbClr val="CB6B28"/>
                </a:solidFill>
                <a:latin typeface="Microsoft YaHei"/>
                <a:ea typeface="Microsoft YaHei"/>
              </a:rPr>
              <a:t>22%</a:t>
            </a:r>
            <a:endParaRPr/>
          </a:p>
        </p:txBody>
      </p:sp>
      <p:sp>
        <p:nvSpPr>
          <p:cNvPr id="725" name=""/>
          <p:cNvSpPr/>
          <p:nvPr/>
        </p:nvSpPr>
        <p:spPr>
          <a:xfrm rot="0" flipH="0" flipV="0">
            <a:off x="781050" y="3143250"/>
            <a:ext cx="3209925" cy="428625"/>
          </a:xfrm>
          <a:prstGeom prst="roundRect">
            <a:avLst>
              <a:gd name="adj" fmla="val 17778"/>
            </a:avLst>
          </a:prstGeom>
          <a:solidFill>
            <a:srgbClr val="FFFFFF"/>
          </a:solidFill>
          <a:ln/>
        </p:spPr>
        <p:txBody>
          <a:bodyPr/>
          <a:p/>
        </p:txBody>
      </p:sp>
      <p:sp>
        <p:nvSpPr>
          <p:cNvPr id="726" name="" descr="{&quot;isTemplate&quot;:true,&quot;type&quot;:&quot;text&quot;}"/>
          <p:cNvSpPr txBox="1"/>
          <p:nvPr/>
        </p:nvSpPr>
        <p:spPr>
          <a:xfrm rot="0" flipH="0" flipV="0">
            <a:off x="914400" y="3276600"/>
            <a:ext cx="933450" cy="161925"/>
          </a:xfrm>
          <a:prstGeom prst="rect"/>
        </p:spPr>
        <p:txBody>
          <a:bodyPr wrap="none" lIns="0" tIns="0" rIns="0" bIns="0"/>
          <a:p>
            <a:pPr>
              <a:lnSpc>
                <a:spcPct val="100000"/>
              </a:lnSpc>
            </a:pPr>
            <a:r>
              <a:rPr lang="zh-CN" sz="1050">
                <a:solidFill>
                  <a:srgbClr val="546779"/>
                </a:solidFill>
                <a:latin typeface="Microsoft YaHei"/>
                <a:ea typeface="Microsoft YaHei"/>
              </a:rPr>
              <a:t>同领域博士专家</a:t>
            </a:r>
            <a:endParaRPr/>
          </a:p>
        </p:txBody>
      </p:sp>
      <p:sp>
        <p:nvSpPr>
          <p:cNvPr id="727" name="" descr="{&quot;isTemplate&quot;:true,&quot;type&quot;:&quot;text&quot;}"/>
          <p:cNvSpPr txBox="1"/>
          <p:nvPr/>
        </p:nvSpPr>
        <p:spPr>
          <a:xfrm rot="0" flipH="0" flipV="0">
            <a:off x="3505200" y="3257550"/>
            <a:ext cx="352425" cy="200025"/>
          </a:xfrm>
          <a:prstGeom prst="rect"/>
        </p:spPr>
        <p:txBody>
          <a:bodyPr wrap="none" lIns="0" tIns="0" rIns="0" bIns="0"/>
          <a:p>
            <a:pPr>
              <a:lnSpc>
                <a:spcPct val="100000"/>
              </a:lnSpc>
            </a:pPr>
            <a:r>
              <a:rPr lang="en-US" sz="1275" b="1">
                <a:solidFill>
                  <a:srgbClr val="276FBF"/>
                </a:solidFill>
                <a:latin typeface="Microsoft YaHei"/>
                <a:ea typeface="Microsoft YaHei"/>
              </a:rPr>
              <a:t>81%</a:t>
            </a:r>
            <a:endParaRPr/>
          </a:p>
        </p:txBody>
      </p:sp>
      <p:sp>
        <p:nvSpPr>
          <p:cNvPr id="728" name="" descr="{&quot;isTemplate&quot;:true,&quot;type&quot;:&quot;text&quot;}"/>
          <p:cNvSpPr txBox="1"/>
          <p:nvPr/>
        </p:nvSpPr>
        <p:spPr>
          <a:xfrm rot="0" flipH="0" flipV="0">
            <a:off x="781050" y="4743450"/>
            <a:ext cx="3209925" cy="209550"/>
          </a:xfrm>
          <a:prstGeom prst="rect"/>
        </p:spPr>
        <p:txBody>
          <a:bodyPr wrap="none" lIns="0" tIns="0" rIns="0" bIns="0"/>
          <a:p>
            <a:pPr>
              <a:lnSpc>
                <a:spcPct val="140000"/>
              </a:lnSpc>
            </a:pPr>
            <a:r>
              <a:rPr lang="zh-CN" sz="975">
                <a:solidFill>
                  <a:srgbClr val="CB6B28"/>
                </a:solidFill>
                <a:latin typeface="Microsoft YaHei"/>
                <a:ea typeface="Microsoft YaHei"/>
              </a:rPr>
              <a:t>非专家低于随机线，是</a:t>
            </a:r>
            <a:r>
              <a:rPr lang="en-US" sz="975">
                <a:solidFill>
                  <a:srgbClr val="CB6B28"/>
                </a:solidFill>
                <a:latin typeface="Microsoft YaHei"/>
                <a:ea typeface="Microsoft YaHei"/>
              </a:rPr>
              <a:t>"</a:t>
            </a:r>
            <a:r>
              <a:rPr lang="zh-CN" sz="975">
                <a:solidFill>
                  <a:srgbClr val="CB6B28"/>
                </a:solidFill>
                <a:latin typeface="Microsoft YaHei"/>
                <a:ea typeface="Microsoft YaHei"/>
              </a:rPr>
              <a:t>按答错筛选</a:t>
            </a:r>
            <a:r>
              <a:rPr lang="en-US" sz="975">
                <a:solidFill>
                  <a:srgbClr val="CB6B28"/>
                </a:solidFill>
                <a:latin typeface="Microsoft YaHei"/>
                <a:ea typeface="Microsoft YaHei"/>
              </a:rPr>
              <a:t>"</a:t>
            </a:r>
            <a:r>
              <a:rPr lang="zh-CN" sz="975">
                <a:solidFill>
                  <a:srgbClr val="CB6B28"/>
                </a:solidFill>
                <a:latin typeface="Microsoft YaHei"/>
                <a:ea typeface="Microsoft YaHei"/>
              </a:rPr>
              <a:t>带来的选择效应</a:t>
            </a:r>
            <a:endParaRPr/>
          </a:p>
        </p:txBody>
      </p:sp>
      <p:sp>
        <p:nvSpPr>
          <p:cNvPr id="729" name=""/>
          <p:cNvSpPr/>
          <p:nvPr/>
        </p:nvSpPr>
        <p:spPr>
          <a:xfrm rot="0" flipH="0" flipV="0">
            <a:off x="4314825" y="1619250"/>
            <a:ext cx="3552825" cy="3505200"/>
          </a:xfrm>
          <a:prstGeom prst="roundRect">
            <a:avLst>
              <a:gd name="adj" fmla="val 3261"/>
            </a:avLst>
          </a:prstGeom>
          <a:solidFill>
            <a:srgbClr val="F4F7FA"/>
          </a:solidFill>
          <a:ln/>
        </p:spPr>
        <p:txBody>
          <a:bodyPr/>
          <a:p/>
        </p:txBody>
      </p:sp>
      <p:sp>
        <p:nvSpPr>
          <p:cNvPr id="730" name="" descr="{&quot;isTemplate&quot;:true,&quot;type&quot;:&quot;text&quot;}"/>
          <p:cNvSpPr txBox="1"/>
          <p:nvPr/>
        </p:nvSpPr>
        <p:spPr>
          <a:xfrm rot="0" flipH="0" flipV="0">
            <a:off x="4486275" y="1790700"/>
            <a:ext cx="3209925" cy="209550"/>
          </a:xfrm>
          <a:prstGeom prst="rect"/>
        </p:spPr>
        <p:txBody>
          <a:bodyPr wrap="none" lIns="0" tIns="0" rIns="0" bIns="0"/>
          <a:p>
            <a:pPr>
              <a:lnSpc>
                <a:spcPct val="100000"/>
              </a:lnSpc>
            </a:pPr>
            <a:r>
              <a:rPr lang="en-US" sz="1350" b="1">
                <a:solidFill>
                  <a:srgbClr val="20344B"/>
                </a:solidFill>
                <a:latin typeface="Microsoft YaHei"/>
                <a:ea typeface="Microsoft YaHei"/>
              </a:rPr>
              <a:t>HLE</a:t>
            </a:r>
            <a:endParaRPr/>
          </a:p>
        </p:txBody>
      </p:sp>
      <p:sp>
        <p:nvSpPr>
          <p:cNvPr id="731" name=""/>
          <p:cNvSpPr/>
          <p:nvPr/>
        </p:nvSpPr>
        <p:spPr>
          <a:xfrm rot="0" flipH="0" flipV="0">
            <a:off x="4486275" y="2095500"/>
            <a:ext cx="3209925" cy="428625"/>
          </a:xfrm>
          <a:prstGeom prst="roundRect">
            <a:avLst>
              <a:gd name="adj" fmla="val 17778"/>
            </a:avLst>
          </a:prstGeom>
          <a:solidFill>
            <a:srgbClr val="FFFFFF"/>
          </a:solidFill>
          <a:ln/>
        </p:spPr>
        <p:txBody>
          <a:bodyPr/>
          <a:p/>
        </p:txBody>
      </p:sp>
      <p:sp>
        <p:nvSpPr>
          <p:cNvPr id="732" name="" descr="{&quot;isTemplate&quot;:true,&quot;type&quot;:&quot;text&quot;}"/>
          <p:cNvSpPr txBox="1"/>
          <p:nvPr/>
        </p:nvSpPr>
        <p:spPr>
          <a:xfrm rot="0" flipH="0" flipV="0">
            <a:off x="4619625" y="2228850"/>
            <a:ext cx="666750" cy="161925"/>
          </a:xfrm>
          <a:prstGeom prst="rect"/>
        </p:spPr>
        <p:txBody>
          <a:bodyPr wrap="none" lIns="0" tIns="0" rIns="0" bIns="0"/>
          <a:p>
            <a:pPr>
              <a:lnSpc>
                <a:spcPct val="100000"/>
              </a:lnSpc>
            </a:pPr>
            <a:r>
              <a:rPr lang="zh-CN" sz="1050">
                <a:solidFill>
                  <a:srgbClr val="546779"/>
                </a:solidFill>
                <a:latin typeface="Microsoft YaHei"/>
                <a:ea typeface="Microsoft YaHei"/>
              </a:rPr>
              <a:t>一般答题者</a:t>
            </a:r>
            <a:endParaRPr/>
          </a:p>
        </p:txBody>
      </p:sp>
      <p:sp>
        <p:nvSpPr>
          <p:cNvPr id="733" name="" descr="{&quot;isTemplate&quot;:true,&quot;type&quot;:&quot;text&quot;}"/>
          <p:cNvSpPr txBox="1"/>
          <p:nvPr/>
        </p:nvSpPr>
        <p:spPr>
          <a:xfrm rot="0" flipH="0" flipV="0">
            <a:off x="6810375" y="2209800"/>
            <a:ext cx="752475" cy="200025"/>
          </a:xfrm>
          <a:prstGeom prst="rect"/>
        </p:spPr>
        <p:txBody>
          <a:bodyPr wrap="none" lIns="0" tIns="0" rIns="0" bIns="0"/>
          <a:p>
            <a:pPr>
              <a:lnSpc>
                <a:spcPct val="100000"/>
              </a:lnSpc>
            </a:pPr>
            <a:r>
              <a:rPr lang="zh-CN" sz="1275" b="1">
                <a:solidFill>
                  <a:srgbClr val="546779"/>
                </a:solidFill>
                <a:latin typeface="Microsoft YaHei"/>
                <a:ea typeface="Microsoft YaHei"/>
              </a:rPr>
              <a:t>约</a:t>
            </a:r>
            <a:r>
              <a:rPr lang="en-US" sz="1275" b="1">
                <a:solidFill>
                  <a:srgbClr val="546779"/>
                </a:solidFill>
                <a:latin typeface="Microsoft YaHei"/>
                <a:ea typeface="Microsoft YaHei"/>
              </a:rPr>
              <a:t xml:space="preserve"> 5–10%</a:t>
            </a:r>
            <a:endParaRPr/>
          </a:p>
        </p:txBody>
      </p:sp>
      <p:sp>
        <p:nvSpPr>
          <p:cNvPr id="734" name=""/>
          <p:cNvSpPr/>
          <p:nvPr/>
        </p:nvSpPr>
        <p:spPr>
          <a:xfrm rot="0" flipH="0" flipV="0">
            <a:off x="4486275" y="2619375"/>
            <a:ext cx="3209925" cy="428625"/>
          </a:xfrm>
          <a:prstGeom prst="roundRect">
            <a:avLst>
              <a:gd name="adj" fmla="val 17778"/>
            </a:avLst>
          </a:prstGeom>
          <a:solidFill>
            <a:srgbClr val="F7F3E8"/>
          </a:solidFill>
          <a:ln/>
        </p:spPr>
        <p:txBody>
          <a:bodyPr/>
          <a:p/>
        </p:txBody>
      </p:sp>
      <p:sp>
        <p:nvSpPr>
          <p:cNvPr id="735" name="" descr="{&quot;isTemplate&quot;:true,&quot;type&quot;:&quot;text&quot;}"/>
          <p:cNvSpPr txBox="1"/>
          <p:nvPr/>
        </p:nvSpPr>
        <p:spPr>
          <a:xfrm rot="0" flipH="0" flipV="0">
            <a:off x="4619625" y="2752725"/>
            <a:ext cx="933450" cy="161925"/>
          </a:xfrm>
          <a:prstGeom prst="rect"/>
        </p:spPr>
        <p:txBody>
          <a:bodyPr wrap="none" lIns="0" tIns="0" rIns="0" bIns="0"/>
          <a:p>
            <a:pPr>
              <a:lnSpc>
                <a:spcPct val="100000"/>
              </a:lnSpc>
            </a:pPr>
            <a:r>
              <a:rPr lang="zh-CN" sz="1050">
                <a:solidFill>
                  <a:srgbClr val="546779"/>
                </a:solidFill>
                <a:latin typeface="Microsoft YaHei"/>
                <a:ea typeface="Microsoft YaHei"/>
              </a:rPr>
              <a:t>专家在自身方向</a:t>
            </a:r>
            <a:endParaRPr/>
          </a:p>
        </p:txBody>
      </p:sp>
      <p:sp>
        <p:nvSpPr>
          <p:cNvPr id="736" name="" descr="{&quot;isTemplate&quot;:true,&quot;type&quot;:&quot;text&quot;}"/>
          <p:cNvSpPr txBox="1"/>
          <p:nvPr/>
        </p:nvSpPr>
        <p:spPr>
          <a:xfrm rot="0" flipH="0" flipV="0">
            <a:off x="6924675" y="2733675"/>
            <a:ext cx="638175" cy="200025"/>
          </a:xfrm>
          <a:prstGeom prst="rect"/>
        </p:spPr>
        <p:txBody>
          <a:bodyPr wrap="none" lIns="0" tIns="0" rIns="0" bIns="0"/>
          <a:p>
            <a:pPr>
              <a:lnSpc>
                <a:spcPct val="100000"/>
              </a:lnSpc>
            </a:pPr>
            <a:r>
              <a:rPr lang="en-US" sz="1275" b="1">
                <a:solidFill>
                  <a:srgbClr val="546779"/>
                </a:solidFill>
                <a:latin typeface="Microsoft YaHei"/>
                <a:ea typeface="Microsoft YaHei"/>
              </a:rPr>
              <a:t>60–70%</a:t>
            </a:r>
            <a:endParaRPr/>
          </a:p>
        </p:txBody>
      </p:sp>
      <p:sp>
        <p:nvSpPr>
          <p:cNvPr id="737" name=""/>
          <p:cNvSpPr/>
          <p:nvPr/>
        </p:nvSpPr>
        <p:spPr>
          <a:xfrm rot="0" flipH="0" flipV="0">
            <a:off x="4486275" y="3143250"/>
            <a:ext cx="3209925" cy="428625"/>
          </a:xfrm>
          <a:prstGeom prst="roundRect">
            <a:avLst>
              <a:gd name="adj" fmla="val 17778"/>
            </a:avLst>
          </a:prstGeom>
          <a:solidFill>
            <a:srgbClr val="FFFFFF"/>
          </a:solidFill>
          <a:ln/>
        </p:spPr>
        <p:txBody>
          <a:bodyPr/>
          <a:p/>
        </p:txBody>
      </p:sp>
      <p:sp>
        <p:nvSpPr>
          <p:cNvPr id="738" name="" descr="{&quot;isTemplate&quot;:true,&quot;type&quot;:&quot;text&quot;}"/>
          <p:cNvSpPr txBox="1"/>
          <p:nvPr/>
        </p:nvSpPr>
        <p:spPr>
          <a:xfrm rot="0" flipH="0" flipV="0">
            <a:off x="4619625" y="3276600"/>
            <a:ext cx="1200150" cy="161925"/>
          </a:xfrm>
          <a:prstGeom prst="rect"/>
        </p:spPr>
        <p:txBody>
          <a:bodyPr wrap="none" lIns="0" tIns="0" rIns="0" bIns="0"/>
          <a:p>
            <a:pPr>
              <a:lnSpc>
                <a:spcPct val="100000"/>
              </a:lnSpc>
            </a:pPr>
            <a:r>
              <a:rPr lang="zh-CN" sz="1050">
                <a:solidFill>
                  <a:srgbClr val="546779"/>
                </a:solidFill>
                <a:latin typeface="Microsoft YaHei"/>
                <a:ea typeface="Microsoft YaHei"/>
              </a:rPr>
              <a:t>领域专家（参照值）</a:t>
            </a:r>
            <a:endParaRPr/>
          </a:p>
        </p:txBody>
      </p:sp>
      <p:sp>
        <p:nvSpPr>
          <p:cNvPr id="739" name="" descr="{&quot;isTemplate&quot;:true,&quot;type&quot;:&quot;text&quot;}"/>
          <p:cNvSpPr txBox="1"/>
          <p:nvPr/>
        </p:nvSpPr>
        <p:spPr>
          <a:xfrm rot="0" flipH="0" flipV="0">
            <a:off x="7000875" y="3257550"/>
            <a:ext cx="561975" cy="200025"/>
          </a:xfrm>
          <a:prstGeom prst="rect"/>
        </p:spPr>
        <p:txBody>
          <a:bodyPr wrap="none" lIns="0" tIns="0" rIns="0" bIns="0"/>
          <a:p>
            <a:pPr>
              <a:lnSpc>
                <a:spcPct val="100000"/>
              </a:lnSpc>
            </a:pPr>
            <a:r>
              <a:rPr lang="zh-CN" sz="1275" b="1">
                <a:solidFill>
                  <a:srgbClr val="276FBF"/>
                </a:solidFill>
                <a:latin typeface="Microsoft YaHei"/>
                <a:ea typeface="Microsoft YaHei"/>
              </a:rPr>
              <a:t>约</a:t>
            </a:r>
            <a:r>
              <a:rPr lang="en-US" sz="1275" b="1">
                <a:solidFill>
                  <a:srgbClr val="276FBF"/>
                </a:solidFill>
                <a:latin typeface="Microsoft YaHei"/>
                <a:ea typeface="Microsoft YaHei"/>
              </a:rPr>
              <a:t xml:space="preserve"> 90%</a:t>
            </a:r>
            <a:endParaRPr/>
          </a:p>
        </p:txBody>
      </p:sp>
      <p:sp>
        <p:nvSpPr>
          <p:cNvPr id="740" name="" descr="{&quot;isTemplate&quot;:true,&quot;type&quot;:&quot;text&quot;}"/>
          <p:cNvSpPr txBox="1"/>
          <p:nvPr/>
        </p:nvSpPr>
        <p:spPr>
          <a:xfrm rot="0" flipH="0" flipV="0">
            <a:off x="4486275" y="4743450"/>
            <a:ext cx="3209925" cy="209550"/>
          </a:xfrm>
          <a:prstGeom prst="rect"/>
        </p:spPr>
        <p:txBody>
          <a:bodyPr wrap="none" lIns="0" tIns="0" rIns="0" bIns="0"/>
          <a:p>
            <a:pPr>
              <a:lnSpc>
                <a:spcPct val="140000"/>
              </a:lnSpc>
            </a:pPr>
            <a:r>
              <a:rPr lang="zh-CN" sz="975">
                <a:solidFill>
                  <a:srgbClr val="546779"/>
                </a:solidFill>
                <a:latin typeface="Microsoft YaHei"/>
                <a:ea typeface="Microsoft YaHei"/>
              </a:rPr>
              <a:t>出题人给的是参考答案，专家参照值来自论文说明</a:t>
            </a:r>
            <a:endParaRPr/>
          </a:p>
        </p:txBody>
      </p:sp>
      <p:sp>
        <p:nvSpPr>
          <p:cNvPr id="741" name=""/>
          <p:cNvSpPr/>
          <p:nvPr/>
        </p:nvSpPr>
        <p:spPr>
          <a:xfrm rot="0" flipH="0" flipV="0">
            <a:off x="8020050" y="1619250"/>
            <a:ext cx="3552825" cy="3505200"/>
          </a:xfrm>
          <a:prstGeom prst="roundRect">
            <a:avLst>
              <a:gd name="adj" fmla="val 3261"/>
            </a:avLst>
          </a:prstGeom>
          <a:solidFill>
            <a:srgbClr val="F4F7FA"/>
          </a:solidFill>
          <a:ln/>
        </p:spPr>
        <p:txBody>
          <a:bodyPr/>
          <a:p/>
        </p:txBody>
      </p:sp>
      <p:sp>
        <p:nvSpPr>
          <p:cNvPr id="742" name="" descr="{&quot;isTemplate&quot;:true,&quot;type&quot;:&quot;text&quot;}"/>
          <p:cNvSpPr txBox="1"/>
          <p:nvPr/>
        </p:nvSpPr>
        <p:spPr>
          <a:xfrm rot="0" flipH="0" flipV="0">
            <a:off x="8191500" y="1790700"/>
            <a:ext cx="3209925" cy="209550"/>
          </a:xfrm>
          <a:prstGeom prst="rect"/>
        </p:spPr>
        <p:txBody>
          <a:bodyPr wrap="none" lIns="0" tIns="0" rIns="0" bIns="0"/>
          <a:p>
            <a:pPr>
              <a:lnSpc>
                <a:spcPct val="100000"/>
              </a:lnSpc>
            </a:pPr>
            <a:r>
              <a:rPr lang="en-US" sz="1350" b="1">
                <a:solidFill>
                  <a:srgbClr val="20344B"/>
                </a:solidFill>
                <a:latin typeface="Microsoft YaHei"/>
                <a:ea typeface="Microsoft YaHei"/>
              </a:rPr>
              <a:t>ARC-AGI-2</a:t>
            </a:r>
            <a:endParaRPr/>
          </a:p>
        </p:txBody>
      </p:sp>
      <p:sp>
        <p:nvSpPr>
          <p:cNvPr id="743" name=""/>
          <p:cNvSpPr/>
          <p:nvPr/>
        </p:nvSpPr>
        <p:spPr>
          <a:xfrm rot="0" flipH="0" flipV="0">
            <a:off x="8191500" y="2095500"/>
            <a:ext cx="3209925" cy="428625"/>
          </a:xfrm>
          <a:prstGeom prst="roundRect">
            <a:avLst>
              <a:gd name="adj" fmla="val 17778"/>
            </a:avLst>
          </a:prstGeom>
          <a:solidFill>
            <a:srgbClr val="FFFFFF"/>
          </a:solidFill>
          <a:ln/>
        </p:spPr>
        <p:txBody>
          <a:bodyPr/>
          <a:p/>
        </p:txBody>
      </p:sp>
      <p:sp>
        <p:nvSpPr>
          <p:cNvPr id="744" name="" descr="{&quot;isTemplate&quot;:true,&quot;type&quot;:&quot;text&quot;}"/>
          <p:cNvSpPr txBox="1"/>
          <p:nvPr/>
        </p:nvSpPr>
        <p:spPr>
          <a:xfrm rot="0" flipH="0" flipV="0">
            <a:off x="8324850" y="2228850"/>
            <a:ext cx="533400" cy="161925"/>
          </a:xfrm>
          <a:prstGeom prst="rect"/>
        </p:spPr>
        <p:txBody>
          <a:bodyPr wrap="none" lIns="0" tIns="0" rIns="0" bIns="0"/>
          <a:p>
            <a:pPr>
              <a:lnSpc>
                <a:spcPct val="100000"/>
              </a:lnSpc>
            </a:pPr>
            <a:r>
              <a:rPr lang="zh-CN" sz="1050">
                <a:solidFill>
                  <a:srgbClr val="546779"/>
                </a:solidFill>
                <a:latin typeface="Microsoft YaHei"/>
                <a:ea typeface="Microsoft YaHei"/>
              </a:rPr>
              <a:t>人类平均</a:t>
            </a:r>
            <a:endParaRPr/>
          </a:p>
        </p:txBody>
      </p:sp>
      <p:sp>
        <p:nvSpPr>
          <p:cNvPr id="745" name="" descr="{&quot;isTemplate&quot;:true,&quot;type&quot;:&quot;text&quot;}"/>
          <p:cNvSpPr txBox="1"/>
          <p:nvPr/>
        </p:nvSpPr>
        <p:spPr>
          <a:xfrm rot="0" flipH="0" flipV="0">
            <a:off x="10706100" y="2209800"/>
            <a:ext cx="561975" cy="200025"/>
          </a:xfrm>
          <a:prstGeom prst="rect"/>
        </p:spPr>
        <p:txBody>
          <a:bodyPr wrap="none" lIns="0" tIns="0" rIns="0" bIns="0"/>
          <a:p>
            <a:pPr>
              <a:lnSpc>
                <a:spcPct val="100000"/>
              </a:lnSpc>
            </a:pPr>
            <a:r>
              <a:rPr lang="zh-CN" sz="1275" b="1">
                <a:solidFill>
                  <a:srgbClr val="546779"/>
                </a:solidFill>
                <a:latin typeface="Microsoft YaHei"/>
                <a:ea typeface="Microsoft YaHei"/>
              </a:rPr>
              <a:t>约</a:t>
            </a:r>
            <a:r>
              <a:rPr lang="en-US" sz="1275" b="1">
                <a:solidFill>
                  <a:srgbClr val="546779"/>
                </a:solidFill>
                <a:latin typeface="Microsoft YaHei"/>
                <a:ea typeface="Microsoft YaHei"/>
              </a:rPr>
              <a:t xml:space="preserve"> 66%</a:t>
            </a:r>
            <a:endParaRPr/>
          </a:p>
        </p:txBody>
      </p:sp>
      <p:sp>
        <p:nvSpPr>
          <p:cNvPr id="746" name=""/>
          <p:cNvSpPr/>
          <p:nvPr/>
        </p:nvSpPr>
        <p:spPr>
          <a:xfrm rot="0" flipH="0" flipV="0">
            <a:off x="8191500" y="2619375"/>
            <a:ext cx="3209925" cy="428625"/>
          </a:xfrm>
          <a:prstGeom prst="roundRect">
            <a:avLst>
              <a:gd name="adj" fmla="val 17778"/>
            </a:avLst>
          </a:prstGeom>
          <a:solidFill>
            <a:srgbClr val="FFFFFF"/>
          </a:solidFill>
          <a:ln/>
        </p:spPr>
        <p:txBody>
          <a:bodyPr/>
          <a:p/>
        </p:txBody>
      </p:sp>
      <p:sp>
        <p:nvSpPr>
          <p:cNvPr id="747" name="" descr="{&quot;isTemplate&quot;:true,&quot;type&quot;:&quot;text&quot;}"/>
          <p:cNvSpPr txBox="1"/>
          <p:nvPr/>
        </p:nvSpPr>
        <p:spPr>
          <a:xfrm rot="0" flipH="0" flipV="0">
            <a:off x="8324850" y="2752725"/>
            <a:ext cx="666750" cy="161925"/>
          </a:xfrm>
          <a:prstGeom prst="rect"/>
        </p:spPr>
        <p:txBody>
          <a:bodyPr wrap="none" lIns="0" tIns="0" rIns="0" bIns="0"/>
          <a:p>
            <a:pPr>
              <a:lnSpc>
                <a:spcPct val="100000"/>
              </a:lnSpc>
            </a:pPr>
            <a:r>
              <a:rPr lang="zh-CN" sz="1050">
                <a:solidFill>
                  <a:srgbClr val="546779"/>
                </a:solidFill>
                <a:latin typeface="Microsoft YaHei"/>
                <a:ea typeface="Microsoft YaHei"/>
              </a:rPr>
              <a:t>人类高分组</a:t>
            </a:r>
            <a:endParaRPr/>
          </a:p>
        </p:txBody>
      </p:sp>
      <p:sp>
        <p:nvSpPr>
          <p:cNvPr id="748" name="" descr="{&quot;isTemplate&quot;:true,&quot;type&quot;:&quot;text&quot;}"/>
          <p:cNvSpPr txBox="1"/>
          <p:nvPr/>
        </p:nvSpPr>
        <p:spPr>
          <a:xfrm rot="0" flipH="0" flipV="0">
            <a:off x="10706100" y="2733675"/>
            <a:ext cx="561975" cy="200025"/>
          </a:xfrm>
          <a:prstGeom prst="rect"/>
        </p:spPr>
        <p:txBody>
          <a:bodyPr wrap="none" lIns="0" tIns="0" rIns="0" bIns="0"/>
          <a:p>
            <a:pPr>
              <a:lnSpc>
                <a:spcPct val="100000"/>
              </a:lnSpc>
            </a:pPr>
            <a:r>
              <a:rPr lang="zh-CN" sz="1275" b="1">
                <a:solidFill>
                  <a:srgbClr val="546779"/>
                </a:solidFill>
                <a:latin typeface="Microsoft YaHei"/>
                <a:ea typeface="Microsoft YaHei"/>
              </a:rPr>
              <a:t>约</a:t>
            </a:r>
            <a:r>
              <a:rPr lang="en-US" sz="1275" b="1">
                <a:solidFill>
                  <a:srgbClr val="546779"/>
                </a:solidFill>
                <a:latin typeface="Microsoft YaHei"/>
                <a:ea typeface="Microsoft YaHei"/>
              </a:rPr>
              <a:t xml:space="preserve"> 92%</a:t>
            </a:r>
            <a:endParaRPr/>
          </a:p>
        </p:txBody>
      </p:sp>
      <p:sp>
        <p:nvSpPr>
          <p:cNvPr id="749" name=""/>
          <p:cNvSpPr/>
          <p:nvPr/>
        </p:nvSpPr>
        <p:spPr>
          <a:xfrm rot="0" flipH="0" flipV="0">
            <a:off x="8191500" y="3143250"/>
            <a:ext cx="3209925" cy="428625"/>
          </a:xfrm>
          <a:prstGeom prst="roundRect">
            <a:avLst>
              <a:gd name="adj" fmla="val 17778"/>
            </a:avLst>
          </a:prstGeom>
          <a:solidFill>
            <a:srgbClr val="ECF7F2"/>
          </a:solidFill>
          <a:ln/>
        </p:spPr>
        <p:txBody>
          <a:bodyPr/>
          <a:p/>
        </p:txBody>
      </p:sp>
      <p:sp>
        <p:nvSpPr>
          <p:cNvPr id="750" name="" descr="{&quot;isTemplate&quot;:true,&quot;type&quot;:&quot;text&quot;}"/>
          <p:cNvSpPr txBox="1"/>
          <p:nvPr/>
        </p:nvSpPr>
        <p:spPr>
          <a:xfrm rot="0" flipH="0" flipV="0">
            <a:off x="8324850" y="3276600"/>
            <a:ext cx="800100" cy="161925"/>
          </a:xfrm>
          <a:prstGeom prst="rect"/>
        </p:spPr>
        <p:txBody>
          <a:bodyPr wrap="none" lIns="0" tIns="0" rIns="0" bIns="0"/>
          <a:p>
            <a:pPr>
              <a:lnSpc>
                <a:spcPct val="100000"/>
              </a:lnSpc>
            </a:pPr>
            <a:r>
              <a:rPr lang="zh-CN" sz="1050">
                <a:solidFill>
                  <a:srgbClr val="26816B"/>
                </a:solidFill>
                <a:latin typeface="Microsoft YaHei"/>
                <a:ea typeface="Microsoft YaHei"/>
              </a:rPr>
              <a:t>校准测试面板</a:t>
            </a:r>
            <a:endParaRPr/>
          </a:p>
        </p:txBody>
      </p:sp>
      <p:sp>
        <p:nvSpPr>
          <p:cNvPr id="751" name="" descr="{&quot;isTemplate&quot;:true,&quot;type&quot;:&quot;text&quot;}"/>
          <p:cNvSpPr txBox="1"/>
          <p:nvPr/>
        </p:nvSpPr>
        <p:spPr>
          <a:xfrm rot="0" flipH="0" flipV="0">
            <a:off x="10810875" y="3257550"/>
            <a:ext cx="457200" cy="200025"/>
          </a:xfrm>
          <a:prstGeom prst="rect"/>
        </p:spPr>
        <p:txBody>
          <a:bodyPr wrap="none" lIns="0" tIns="0" rIns="0" bIns="0"/>
          <a:p>
            <a:pPr>
              <a:lnSpc>
                <a:spcPct val="100000"/>
              </a:lnSpc>
            </a:pPr>
            <a:r>
              <a:rPr lang="en-US" sz="1275" b="1">
                <a:solidFill>
                  <a:srgbClr val="26816B"/>
                </a:solidFill>
                <a:latin typeface="Microsoft YaHei"/>
                <a:ea typeface="Microsoft YaHei"/>
              </a:rPr>
              <a:t>100%</a:t>
            </a:r>
            <a:endParaRPr/>
          </a:p>
        </p:txBody>
      </p:sp>
      <p:sp>
        <p:nvSpPr>
          <p:cNvPr id="752" name="" descr="{&quot;isTemplate&quot;:true,&quot;type&quot;:&quot;text&quot;}"/>
          <p:cNvSpPr txBox="1"/>
          <p:nvPr/>
        </p:nvSpPr>
        <p:spPr>
          <a:xfrm rot="0" flipH="0" flipV="0">
            <a:off x="8191500" y="4533900"/>
            <a:ext cx="3209925" cy="419100"/>
          </a:xfrm>
          <a:prstGeom prst="rect"/>
        </p:spPr>
        <p:txBody>
          <a:bodyPr wrap="square" lIns="0" tIns="0" rIns="0" bIns="0">
            <a:normAutofit/>
          </a:bodyPr>
          <a:p>
            <a:pPr>
              <a:lnSpc>
                <a:spcPct val="140000"/>
              </a:lnSpc>
            </a:pPr>
            <a:r>
              <a:rPr lang="zh-CN" sz="975">
                <a:solidFill>
                  <a:srgbClr val="546779"/>
                </a:solidFill>
                <a:latin typeface="Microsoft YaHei"/>
                <a:ea typeface="Microsoft YaHei"/>
              </a:rPr>
              <a:t>入选题要求至少两人在两次尝试内解出；人类基线随抽样变化</a:t>
            </a:r>
            <a:endParaRPr/>
          </a:p>
        </p:txBody>
      </p:sp>
      <p:sp>
        <p:nvSpPr>
          <p:cNvPr id="753" name=""/>
          <p:cNvSpPr/>
          <p:nvPr/>
        </p:nvSpPr>
        <p:spPr>
          <a:xfrm rot="0" flipH="0" flipV="0">
            <a:off x="609600" y="5295900"/>
            <a:ext cx="10972800" cy="514350"/>
          </a:xfrm>
          <a:prstGeom prst="roundRect">
            <a:avLst>
              <a:gd name="adj" fmla="val 18519"/>
            </a:avLst>
          </a:prstGeom>
          <a:solidFill>
            <a:srgbClr val="F7F3E8"/>
          </a:solidFill>
          <a:ln/>
        </p:spPr>
        <p:txBody>
          <a:bodyPr/>
          <a:p/>
        </p:txBody>
      </p:sp>
      <p:sp>
        <p:nvSpPr>
          <p:cNvPr id="754" name=""/>
          <p:cNvSpPr/>
          <p:nvPr/>
        </p:nvSpPr>
        <p:spPr>
          <a:xfrm rot="0" flipH="0" flipV="0">
            <a:off x="819150" y="5410200"/>
            <a:ext cx="38100" cy="285750"/>
          </a:xfrm>
          <a:prstGeom prst="rect">
            <a:avLst/>
          </a:prstGeom>
          <a:solidFill>
            <a:srgbClr val="276FBF"/>
          </a:solidFill>
          <a:ln/>
        </p:spPr>
        <p:txBody>
          <a:bodyPr/>
          <a:p/>
        </p:txBody>
      </p:sp>
      <p:sp>
        <p:nvSpPr>
          <p:cNvPr id="755" name="" descr="{&quot;isTemplate&quot;:true,&quot;type&quot;:&quot;text&quot;}"/>
          <p:cNvSpPr txBox="1"/>
          <p:nvPr/>
        </p:nvSpPr>
        <p:spPr>
          <a:xfrm rot="0" flipH="0" flipV="0">
            <a:off x="1009650" y="5429250"/>
            <a:ext cx="4705350" cy="257175"/>
          </a:xfrm>
          <a:prstGeom prst="rect"/>
        </p:spPr>
        <p:txBody>
          <a:bodyPr wrap="none" lIns="0" tIns="0" rIns="0" bIns="0"/>
          <a:p>
            <a:pPr>
              <a:lnSpc>
                <a:spcPct val="150000"/>
              </a:lnSpc>
            </a:pPr>
            <a:r>
              <a:rPr lang="en-US" sz="1125">
                <a:solidFill>
                  <a:srgbClr val="546779"/>
                </a:solidFill>
                <a:latin typeface="Microsoft YaHei"/>
                <a:ea typeface="Microsoft YaHei"/>
              </a:rPr>
              <a:t>"</a:t>
            </a:r>
            <a:r>
              <a:rPr lang="zh-CN" sz="1125">
                <a:solidFill>
                  <a:srgbClr val="546779"/>
                </a:solidFill>
                <a:latin typeface="Microsoft YaHei"/>
                <a:ea typeface="Microsoft YaHei"/>
              </a:rPr>
              <a:t>超过人类专家</a:t>
            </a:r>
            <a:r>
              <a:rPr lang="en-US" sz="1125">
                <a:solidFill>
                  <a:srgbClr val="546779"/>
                </a:solidFill>
                <a:latin typeface="Microsoft YaHei"/>
                <a:ea typeface="Microsoft YaHei"/>
              </a:rPr>
              <a:t>"</a:t>
            </a:r>
            <a:r>
              <a:rPr lang="zh-CN" sz="1125">
                <a:solidFill>
                  <a:srgbClr val="546779"/>
                </a:solidFill>
                <a:latin typeface="Microsoft YaHei"/>
                <a:ea typeface="Microsoft YaHei"/>
              </a:rPr>
              <a:t>这类说法，必须先说清是超过哪一组人、在什么条件下答题</a:t>
            </a:r>
            <a:endParaRPr/>
          </a:p>
        </p:txBody>
      </p:sp>
      <p:sp>
        <p:nvSpPr>
          <p:cNvPr id="756"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757"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29 / 36</a:t>
            </a:r>
            <a:endParaRPr/>
          </a:p>
        </p:txBody>
      </p:sp>
    </p:spTree>
  </p:cSld>
</p:sld>
</file>

<file path=ppt/slides/slide30.xml><?xml version="1.0" encoding="utf-8"?>
<p:sld xmlns:p="http://schemas.openxmlformats.org/presentationml/2006/main" xmlns:a="http://schemas.openxmlformats.org/drawingml/2006/main">
  <p:cSld>
    <p:spTree>
      <p:nvGrpSpPr>
        <p:cNvPr id="794" name="" descr="&lt;Slide notes={`最后总结三条使用纪律，都是我在前面反复遇到的情况。&#10;&#10;第一，不跨版本。FrontierMath 第一版和第二版之间改过题目，分数不能混在一张榜上看。同一个名字后面挂着不同的版本号，成绩就是不同的东西。&#10;&#10;第二，不跨协议。带工具和不带工具、跑一次和跑多次取最好，这些都不是同一场比赛。榜单上把两者并排列出，很容易让人误读成模型之间的差距。&#10;&#10;第三，不相加。把几个基准的分数加起来做成一个综合能力总分，看起来很直观，其实是错的。每个基准的题目范围、判分口径、难度分层都不一样，加起来的数字没有对应的现实含义。&#10;&#10;这三条其实就是一句话：先看清楚测的是什么，再谈分数高不高。`}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⑤　1.4.5　领先模型：三条使用纪律&lt;/Text&gt;&#10;            &lt;Text style={{ fontSize: 34, fontWeight: 'bold', color: '#20344B' }}&gt;分数的三个&quot;不要&quot;&lt;/Text&gt;&#10;        &lt;/Box&gt;&#10;    &lt;/Box&gt;&#10;&#10;    &lt;Box style={{ height: 540, flexDirection: 'column', justifyContent: 'center', gap: 20 }}&gt;&#10;&#10;        &lt;Box style={{ flexDirection: 'row', gap: 16 }}&gt;&#10;&#10;            &lt;Box style={{ width: 373, height: 322, background: '#EDF4FC', borderRadius: 12, padding: '18px 20px', flexDirection: 'column', gap: 10 }}&gt;&#10;                &lt;Box style={{ width: 74, height: 28, background: '#276FBF', borderRadius: 6, alignItems: 'center', justifyContent: 'center' }}&gt;&lt;Text style={{ fontSize: 14, color: '#FFFFFF' }}&gt;不要一&lt;/Text&gt;&lt;/Box&gt;&#10;                &lt;Text style={{ fontSize: 20, fontWeight: 'bold', color: '#20344B' }}&gt;不跨版本&lt;/Text&gt;&#10;                &lt;Text style={{ fontSize: 15, color: '#546779', lineHeight: 1.55 }}&gt;改了题目、改了参考答案，就是新的一份卷子。第一版和第二版的分数不能放进同一张榜。&lt;/Text&gt;&#10;                &lt;Box style={{ flex: 1 }} /&gt;&#10;                &lt;Text style={{ fontSize: 14, color: '#276FBF', lineHeight: 1.45 }}&gt;例子：FrontierMath v1 与 v2&lt;/Text&gt;&#10;            &lt;/Box&gt;&#10;&#10;            &lt;Box style={{ width: 373, height: 322, background: '#F7F3E8', borderRadius: 12, padding: '18px 20px', flexDirection: 'column', gap: 10 }}&gt;&#10;                &lt;Box style={{ width: 74, height: 28, background: '#546779', borderRadius: 6, alignItems: 'center', justifyContent: 'center' }}&gt;&lt;Text style={{ fontSize: 14, color: '#FFFFFF' }}&gt;不要二&lt;/Text&gt;&lt;/Box&gt;&#10;                &lt;Text style={{ fontSize: 20, fontWeight: 'bold', color: '#20344B' }}&gt;不跨协议&lt;/Text&gt;&#10;                &lt;Text style={{ fontSize: 15, color: '#546779', lineHeight: 1.55 }}&gt;带工具与不带工具、跑一次与跑多次取最好，都是不同的比赛。并列展示会让人误读成模型差距。&lt;/Text&gt;&#10;                &lt;Box style={{ flex: 1 }} /&gt;&#10;                &lt;Text style={{ fontSize: 14, color: '#546779', lineHeight: 1.45 }}&gt;例子：HLE 的 60.9% 与 65.0%&lt;/Text&gt;&#10;            &lt;/Box&gt;&#10;&#10;            &lt;Box style={{ width: 373, height: 322, background: '#FFF4E6', borderRadius: 12, padding: '18px 20px', flexDirection: 'column', gap: 10 }}&gt;&#10;                &lt;Box style={{ width: 74, height: 28, background: '#CB6B28', borderRadius: 6, alignItems: 'center', justifyContent: 'center' }}&gt;&lt;Text style={{ fontSize: 14, color: '#FFFFFF' }}&gt;不要三&lt;/Text&gt;&lt;/Box&gt;&#10;                &lt;Text style={{ fontSize: 20, fontWeight: 'bold', color: '#CB6B28' }}&gt;不相加&lt;/Text&gt;&#10;                &lt;Text style={{ fontSize: 15, color: '#CB6B28', lineHeight: 1.55 }}&gt;题目范围、判分口径、难度分层都不同，把几个基准的分数加起来求&quot;综合能力&quot;，数字没有现实含义。&lt;/Text&gt;&#10;                &lt;Box style={{ flex: 1 }} /&gt;&#10;                &lt;Text style={{ fontSize: 14, color: '#CB6B28', lineHeight: 1.45 }}&gt;需要综合判断时，按能力分别列，不求和&lt;/Text&gt;&#10;            &lt;/Box&gt;&#10;&#10;        &lt;/Box&gt;&#10;&#10;        &lt;Box style={{ flexDirection: 'row', gap: 16, background: '#F4F7FA', borderRadius: 10, padding: '14px 22px', alignItems: 'center' }}&gt;&#10;            &lt;Box style={{ width: 4, height: 44, background: '#276FBF' }} /&gt;&#10;            &lt;Text style={{ fontSize: 16, color: '#546779', lineHeight: 1.55 }}&gt;三条纪律合成一句：先看清楚测的是什么、怎么测的，再谈分数高不高&lt;/Text&gt;&#10;        &lt;/Box&gt;&#10;&#10;    &lt;/Box&gt;&#10;&#10;    &lt;Box style={{ height: 40, flexDirection: 'row', justifyContent: 'space-between', alignItems: 'center' }}&gt;&#10;        &lt;Text style={{ fontSize: 14, color: '#546779' }}&gt;1.4 从榜单到证据&lt;/Text&gt;&#10;        &lt;Text style={{ fontSize: 14, color: '#546779' }}&gt;30 / 36&lt;/Text&gt;&#10;    &lt;/Box&gt;&#10;&#10;&lt;/Slide&gt;&#10;"/>
        <p:cNvGrpSpPr/>
        <p:nvPr/>
      </p:nvGrpSpPr>
      <p:grpSpPr>
        <a:xfrm>
          <a:off x="0" y="0"/>
          <a:ext cx="0" cy="0"/>
          <a:chOff x="0" y="0"/>
          <a:chExt cx="0" cy="0"/>
        </a:xfrm>
      </p:grpSpPr>
      <p:sp>
        <p:nvSpPr>
          <p:cNvPr id="795" name=""/>
          <p:cNvSpPr/>
          <p:nvPr/>
        </p:nvSpPr>
        <p:spPr>
          <a:xfrm rot="0" flipH="0" flipV="0">
            <a:off x="0" y="0"/>
            <a:ext cx="12192000" cy="6858000"/>
          </a:xfrm>
          <a:prstGeom prst="rect">
            <a:avLst/>
          </a:prstGeom>
          <a:solidFill>
            <a:srgbClr val="FFFFFF"/>
          </a:solidFill>
          <a:ln/>
        </p:spPr>
        <p:txBody>
          <a:bodyPr/>
          <a:p/>
        </p:txBody>
      </p:sp>
      <p:sp>
        <p:nvSpPr>
          <p:cNvPr id="796" name=""/>
          <p:cNvSpPr/>
          <p:nvPr/>
        </p:nvSpPr>
        <p:spPr>
          <a:xfrm rot="0" flipH="0" flipV="0">
            <a:off x="609600" y="457200"/>
            <a:ext cx="38100" cy="419100"/>
          </a:xfrm>
          <a:prstGeom prst="rect">
            <a:avLst/>
          </a:prstGeom>
          <a:solidFill>
            <a:srgbClr val="276FBF"/>
          </a:solidFill>
          <a:ln/>
        </p:spPr>
        <p:txBody>
          <a:bodyPr/>
          <a:p/>
        </p:txBody>
      </p:sp>
      <p:sp>
        <p:nvSpPr>
          <p:cNvPr id="797" name="" descr="{&quot;isTemplate&quot;:true,&quot;type&quot;:&quot;text&quot;}"/>
          <p:cNvSpPr txBox="1"/>
          <p:nvPr/>
        </p:nvSpPr>
        <p:spPr>
          <a:xfrm rot="0" flipH="0" flipV="0">
            <a:off x="838200" y="371475"/>
            <a:ext cx="2609850" cy="161925"/>
          </a:xfrm>
          <a:prstGeom prst="rect"/>
        </p:spPr>
        <p:txBody>
          <a:bodyPr wrap="none" lIns="0" tIns="0" rIns="0" bIns="0"/>
          <a:p>
            <a:pPr>
              <a:lnSpc>
                <a:spcPct val="100000"/>
              </a:lnSpc>
            </a:pPr>
            <a:r>
              <a:rPr lang="zh-CN" sz="1050">
                <a:solidFill>
                  <a:srgbClr val="546779"/>
                </a:solidFill>
                <a:latin typeface="Microsoft YaHei"/>
                <a:ea typeface="Microsoft YaHei"/>
              </a:rPr>
              <a:t>⑤　</a:t>
            </a:r>
            <a:r>
              <a:rPr lang="en-US" sz="1050">
                <a:solidFill>
                  <a:srgbClr val="546779"/>
                </a:solidFill>
                <a:latin typeface="Microsoft YaHei"/>
                <a:ea typeface="Microsoft YaHei"/>
              </a:rPr>
              <a:t>1.4.5</a:t>
            </a:r>
            <a:r>
              <a:rPr lang="zh-CN" sz="1050">
                <a:solidFill>
                  <a:srgbClr val="546779"/>
                </a:solidFill>
                <a:latin typeface="Microsoft YaHei"/>
                <a:ea typeface="Microsoft YaHei"/>
              </a:rPr>
              <a:t>　领先模型：三条使用纪律</a:t>
            </a:r>
            <a:endParaRPr/>
          </a:p>
        </p:txBody>
      </p:sp>
      <p:sp>
        <p:nvSpPr>
          <p:cNvPr id="798" name="" descr="{&quot;isTemplate&quot;:true,&quot;type&quot;:&quot;text&quot;}"/>
          <p:cNvSpPr txBox="1"/>
          <p:nvPr/>
        </p:nvSpPr>
        <p:spPr>
          <a:xfrm rot="0" flipH="0" flipV="0">
            <a:off x="838200" y="571500"/>
            <a:ext cx="2609850" cy="390525"/>
          </a:xfrm>
          <a:prstGeom prst="rect"/>
        </p:spPr>
        <p:txBody>
          <a:bodyPr wrap="none" lIns="0" tIns="0" rIns="0" bIns="0"/>
          <a:p>
            <a:pPr>
              <a:lnSpc>
                <a:spcPct val="100000"/>
              </a:lnSpc>
            </a:pPr>
            <a:r>
              <a:rPr lang="zh-CN" sz="2550" b="1">
                <a:solidFill>
                  <a:srgbClr val="20344B"/>
                </a:solidFill>
                <a:latin typeface="Microsoft YaHei"/>
                <a:ea typeface="Microsoft YaHei"/>
              </a:rPr>
              <a:t>分数的三个</a:t>
            </a:r>
            <a:r>
              <a:rPr lang="en-US" sz="2550" b="1">
                <a:solidFill>
                  <a:srgbClr val="20344B"/>
                </a:solidFill>
                <a:latin typeface="Microsoft YaHei"/>
                <a:ea typeface="Microsoft YaHei"/>
              </a:rPr>
              <a:t>"</a:t>
            </a:r>
            <a:r>
              <a:rPr lang="zh-CN" sz="2550" b="1">
                <a:solidFill>
                  <a:srgbClr val="20344B"/>
                </a:solidFill>
                <a:latin typeface="Microsoft YaHei"/>
                <a:ea typeface="Microsoft YaHei"/>
              </a:rPr>
              <a:t>不要</a:t>
            </a:r>
            <a:r>
              <a:rPr lang="en-US" sz="2550" b="1">
                <a:solidFill>
                  <a:srgbClr val="20344B"/>
                </a:solidFill>
                <a:latin typeface="Microsoft YaHei"/>
                <a:ea typeface="Microsoft YaHei"/>
              </a:rPr>
              <a:t>"</a:t>
            </a:r>
            <a:endParaRPr/>
          </a:p>
        </p:txBody>
      </p:sp>
      <p:sp>
        <p:nvSpPr>
          <p:cNvPr id="799" name=""/>
          <p:cNvSpPr/>
          <p:nvPr/>
        </p:nvSpPr>
        <p:spPr>
          <a:xfrm rot="0" flipH="0" flipV="0">
            <a:off x="609600" y="1743075"/>
            <a:ext cx="3552825" cy="3067050"/>
          </a:xfrm>
          <a:prstGeom prst="roundRect">
            <a:avLst>
              <a:gd name="adj" fmla="val 3727"/>
            </a:avLst>
          </a:prstGeom>
          <a:solidFill>
            <a:srgbClr val="EDF4FC"/>
          </a:solidFill>
          <a:ln/>
        </p:spPr>
        <p:txBody>
          <a:bodyPr/>
          <a:p/>
        </p:txBody>
      </p:sp>
      <p:sp>
        <p:nvSpPr>
          <p:cNvPr id="800" name=""/>
          <p:cNvSpPr/>
          <p:nvPr/>
        </p:nvSpPr>
        <p:spPr>
          <a:xfrm rot="0" flipH="0" flipV="0">
            <a:off x="800100" y="1914525"/>
            <a:ext cx="704850" cy="266700"/>
          </a:xfrm>
          <a:prstGeom prst="roundRect">
            <a:avLst>
              <a:gd name="adj" fmla="val 21429"/>
            </a:avLst>
          </a:prstGeom>
          <a:solidFill>
            <a:srgbClr val="276FBF"/>
          </a:solidFill>
          <a:ln/>
        </p:spPr>
        <p:txBody>
          <a:bodyPr/>
          <a:p/>
        </p:txBody>
      </p:sp>
      <p:sp>
        <p:nvSpPr>
          <p:cNvPr id="801" name="" descr="{&quot;isTemplate&quot;:true,&quot;type&quot;:&quot;text&quot;}"/>
          <p:cNvSpPr txBox="1"/>
          <p:nvPr/>
        </p:nvSpPr>
        <p:spPr>
          <a:xfrm rot="0" flipH="0" flipV="0">
            <a:off x="952500" y="1971675"/>
            <a:ext cx="400050" cy="161925"/>
          </a:xfrm>
          <a:prstGeom prst="rect"/>
        </p:spPr>
        <p:txBody>
          <a:bodyPr wrap="none" lIns="0" tIns="0" rIns="0" bIns="0"/>
          <a:p>
            <a:pPr>
              <a:lnSpc>
                <a:spcPct val="100000"/>
              </a:lnSpc>
            </a:pPr>
            <a:r>
              <a:rPr lang="zh-CN" sz="1050">
                <a:solidFill>
                  <a:srgbClr val="FFFFFF"/>
                </a:solidFill>
                <a:latin typeface="Microsoft YaHei"/>
                <a:ea typeface="Microsoft YaHei"/>
              </a:rPr>
              <a:t>不要一</a:t>
            </a:r>
            <a:endParaRPr/>
          </a:p>
        </p:txBody>
      </p:sp>
      <p:sp>
        <p:nvSpPr>
          <p:cNvPr id="802" name="" descr="{&quot;isTemplate&quot;:true,&quot;type&quot;:&quot;text&quot;}"/>
          <p:cNvSpPr txBox="1"/>
          <p:nvPr/>
        </p:nvSpPr>
        <p:spPr>
          <a:xfrm rot="0" flipH="0" flipV="0">
            <a:off x="800100" y="2276475"/>
            <a:ext cx="3171825" cy="228600"/>
          </a:xfrm>
          <a:prstGeom prst="rect"/>
        </p:spPr>
        <p:txBody>
          <a:bodyPr wrap="none" lIns="0" tIns="0" rIns="0" bIns="0"/>
          <a:p>
            <a:pPr>
              <a:lnSpc>
                <a:spcPct val="100000"/>
              </a:lnSpc>
            </a:pPr>
            <a:r>
              <a:rPr lang="zh-CN" sz="1500" b="1">
                <a:solidFill>
                  <a:srgbClr val="20344B"/>
                </a:solidFill>
                <a:latin typeface="Microsoft YaHei"/>
                <a:ea typeface="Microsoft YaHei"/>
              </a:rPr>
              <a:t>不跨版本</a:t>
            </a:r>
            <a:endParaRPr/>
          </a:p>
        </p:txBody>
      </p:sp>
      <p:sp>
        <p:nvSpPr>
          <p:cNvPr id="803" name="" descr="{&quot;isTemplate&quot;:true,&quot;type&quot;:&quot;text&quot;}"/>
          <p:cNvSpPr txBox="1"/>
          <p:nvPr/>
        </p:nvSpPr>
        <p:spPr>
          <a:xfrm rot="0" flipH="0" flipV="0">
            <a:off x="800100" y="2600325"/>
            <a:ext cx="3171825"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改了题目、改了参考答案，就是新的一份卷子。第一版和第二版的分数不能放进同一张榜。</a:t>
            </a:r>
            <a:endParaRPr/>
          </a:p>
        </p:txBody>
      </p:sp>
      <p:sp>
        <p:nvSpPr>
          <p:cNvPr id="804" name="" descr="{&quot;isTemplate&quot;:true,&quot;type&quot;:&quot;text&quot;}"/>
          <p:cNvSpPr txBox="1"/>
          <p:nvPr/>
        </p:nvSpPr>
        <p:spPr>
          <a:xfrm rot="0" flipH="0" flipV="0">
            <a:off x="800100" y="4400550"/>
            <a:ext cx="3171825" cy="238125"/>
          </a:xfrm>
          <a:prstGeom prst="rect"/>
        </p:spPr>
        <p:txBody>
          <a:bodyPr wrap="none" lIns="0" tIns="0" rIns="0" bIns="0"/>
          <a:p>
            <a:pPr>
              <a:lnSpc>
                <a:spcPct val="145000"/>
              </a:lnSpc>
            </a:pPr>
            <a:r>
              <a:rPr lang="zh-CN" sz="1050">
                <a:solidFill>
                  <a:srgbClr val="276FBF"/>
                </a:solidFill>
                <a:latin typeface="Microsoft YaHei"/>
                <a:ea typeface="Microsoft YaHei"/>
              </a:rPr>
              <a:t>例子：</a:t>
            </a:r>
            <a:r>
              <a:rPr lang="en-US" sz="1050">
                <a:solidFill>
                  <a:srgbClr val="276FBF"/>
                </a:solidFill>
                <a:latin typeface="Microsoft YaHei"/>
                <a:ea typeface="Microsoft YaHei"/>
              </a:rPr>
              <a:t xml:space="preserve">FrontierMath v1 </a:t>
            </a:r>
            <a:r>
              <a:rPr lang="zh-CN" sz="1050">
                <a:solidFill>
                  <a:srgbClr val="276FBF"/>
                </a:solidFill>
                <a:latin typeface="Microsoft YaHei"/>
                <a:ea typeface="Microsoft YaHei"/>
              </a:rPr>
              <a:t>与</a:t>
            </a:r>
            <a:r>
              <a:rPr lang="en-US" sz="1050">
                <a:solidFill>
                  <a:srgbClr val="276FBF"/>
                </a:solidFill>
                <a:latin typeface="Microsoft YaHei"/>
                <a:ea typeface="Microsoft YaHei"/>
              </a:rPr>
              <a:t xml:space="preserve"> v2</a:t>
            </a:r>
            <a:endParaRPr/>
          </a:p>
        </p:txBody>
      </p:sp>
      <p:sp>
        <p:nvSpPr>
          <p:cNvPr id="805" name=""/>
          <p:cNvSpPr/>
          <p:nvPr/>
        </p:nvSpPr>
        <p:spPr>
          <a:xfrm rot="0" flipH="0" flipV="0">
            <a:off x="4314825" y="1743075"/>
            <a:ext cx="3552825" cy="3067050"/>
          </a:xfrm>
          <a:prstGeom prst="roundRect">
            <a:avLst>
              <a:gd name="adj" fmla="val 3727"/>
            </a:avLst>
          </a:prstGeom>
          <a:solidFill>
            <a:srgbClr val="F7F3E8"/>
          </a:solidFill>
          <a:ln/>
        </p:spPr>
        <p:txBody>
          <a:bodyPr/>
          <a:p/>
        </p:txBody>
      </p:sp>
      <p:sp>
        <p:nvSpPr>
          <p:cNvPr id="806" name=""/>
          <p:cNvSpPr/>
          <p:nvPr/>
        </p:nvSpPr>
        <p:spPr>
          <a:xfrm rot="0" flipH="0" flipV="0">
            <a:off x="4505325" y="1914525"/>
            <a:ext cx="704850" cy="266700"/>
          </a:xfrm>
          <a:prstGeom prst="roundRect">
            <a:avLst>
              <a:gd name="adj" fmla="val 21429"/>
            </a:avLst>
          </a:prstGeom>
          <a:solidFill>
            <a:srgbClr val="546779"/>
          </a:solidFill>
          <a:ln/>
        </p:spPr>
        <p:txBody>
          <a:bodyPr/>
          <a:p/>
        </p:txBody>
      </p:sp>
      <p:sp>
        <p:nvSpPr>
          <p:cNvPr id="807" name="" descr="{&quot;isTemplate&quot;:true,&quot;type&quot;:&quot;text&quot;}"/>
          <p:cNvSpPr txBox="1"/>
          <p:nvPr/>
        </p:nvSpPr>
        <p:spPr>
          <a:xfrm rot="0" flipH="0" flipV="0">
            <a:off x="4657725" y="1971675"/>
            <a:ext cx="400050" cy="161925"/>
          </a:xfrm>
          <a:prstGeom prst="rect"/>
        </p:spPr>
        <p:txBody>
          <a:bodyPr wrap="none" lIns="0" tIns="0" rIns="0" bIns="0"/>
          <a:p>
            <a:pPr>
              <a:lnSpc>
                <a:spcPct val="100000"/>
              </a:lnSpc>
            </a:pPr>
            <a:r>
              <a:rPr lang="zh-CN" sz="1050">
                <a:solidFill>
                  <a:srgbClr val="FFFFFF"/>
                </a:solidFill>
                <a:latin typeface="Microsoft YaHei"/>
                <a:ea typeface="Microsoft YaHei"/>
              </a:rPr>
              <a:t>不要二</a:t>
            </a:r>
            <a:endParaRPr/>
          </a:p>
        </p:txBody>
      </p:sp>
      <p:sp>
        <p:nvSpPr>
          <p:cNvPr id="808" name="" descr="{&quot;isTemplate&quot;:true,&quot;type&quot;:&quot;text&quot;}"/>
          <p:cNvSpPr txBox="1"/>
          <p:nvPr/>
        </p:nvSpPr>
        <p:spPr>
          <a:xfrm rot="0" flipH="0" flipV="0">
            <a:off x="4505325" y="2276475"/>
            <a:ext cx="3171825" cy="228600"/>
          </a:xfrm>
          <a:prstGeom prst="rect"/>
        </p:spPr>
        <p:txBody>
          <a:bodyPr wrap="none" lIns="0" tIns="0" rIns="0" bIns="0"/>
          <a:p>
            <a:pPr>
              <a:lnSpc>
                <a:spcPct val="100000"/>
              </a:lnSpc>
            </a:pPr>
            <a:r>
              <a:rPr lang="zh-CN" sz="1500" b="1">
                <a:solidFill>
                  <a:srgbClr val="20344B"/>
                </a:solidFill>
                <a:latin typeface="Microsoft YaHei"/>
                <a:ea typeface="Microsoft YaHei"/>
              </a:rPr>
              <a:t>不跨协议</a:t>
            </a:r>
            <a:endParaRPr/>
          </a:p>
        </p:txBody>
      </p:sp>
      <p:sp>
        <p:nvSpPr>
          <p:cNvPr id="809" name="" descr="{&quot;isTemplate&quot;:true,&quot;type&quot;:&quot;text&quot;}"/>
          <p:cNvSpPr txBox="1"/>
          <p:nvPr/>
        </p:nvSpPr>
        <p:spPr>
          <a:xfrm rot="0" flipH="0" flipV="0">
            <a:off x="4505325" y="2600325"/>
            <a:ext cx="3171825"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带工具与不带工具、跑一次与跑多次取最好，都是不同的比赛。并列展示会让人误读成模型差距。</a:t>
            </a:r>
            <a:endParaRPr/>
          </a:p>
        </p:txBody>
      </p:sp>
      <p:sp>
        <p:nvSpPr>
          <p:cNvPr id="810" name="" descr="{&quot;isTemplate&quot;:true,&quot;type&quot;:&quot;text&quot;}"/>
          <p:cNvSpPr txBox="1"/>
          <p:nvPr/>
        </p:nvSpPr>
        <p:spPr>
          <a:xfrm rot="0" flipH="0" flipV="0">
            <a:off x="4505325" y="4400550"/>
            <a:ext cx="3171825" cy="238125"/>
          </a:xfrm>
          <a:prstGeom prst="rect"/>
        </p:spPr>
        <p:txBody>
          <a:bodyPr wrap="none" lIns="0" tIns="0" rIns="0" bIns="0"/>
          <a:p>
            <a:pPr>
              <a:lnSpc>
                <a:spcPct val="145000"/>
              </a:lnSpc>
            </a:pPr>
            <a:r>
              <a:rPr lang="zh-CN" sz="1050">
                <a:solidFill>
                  <a:srgbClr val="546779"/>
                </a:solidFill>
                <a:latin typeface="Microsoft YaHei"/>
                <a:ea typeface="Microsoft YaHei"/>
              </a:rPr>
              <a:t>例子：</a:t>
            </a:r>
            <a:r>
              <a:rPr lang="en-US" sz="1050">
                <a:solidFill>
                  <a:srgbClr val="546779"/>
                </a:solidFill>
                <a:latin typeface="Microsoft YaHei"/>
                <a:ea typeface="Microsoft YaHei"/>
              </a:rPr>
              <a:t xml:space="preserve">HLE </a:t>
            </a:r>
            <a:r>
              <a:rPr lang="zh-CN" sz="1050">
                <a:solidFill>
                  <a:srgbClr val="546779"/>
                </a:solidFill>
                <a:latin typeface="Microsoft YaHei"/>
                <a:ea typeface="Microsoft YaHei"/>
              </a:rPr>
              <a:t>的</a:t>
            </a:r>
            <a:r>
              <a:rPr lang="en-US" sz="1050">
                <a:solidFill>
                  <a:srgbClr val="546779"/>
                </a:solidFill>
                <a:latin typeface="Microsoft YaHei"/>
                <a:ea typeface="Microsoft YaHei"/>
              </a:rPr>
              <a:t xml:space="preserve"> 60.9% </a:t>
            </a:r>
            <a:r>
              <a:rPr lang="zh-CN" sz="1050">
                <a:solidFill>
                  <a:srgbClr val="546779"/>
                </a:solidFill>
                <a:latin typeface="Microsoft YaHei"/>
                <a:ea typeface="Microsoft YaHei"/>
              </a:rPr>
              <a:t>与</a:t>
            </a:r>
            <a:r>
              <a:rPr lang="en-US" sz="1050">
                <a:solidFill>
                  <a:srgbClr val="546779"/>
                </a:solidFill>
                <a:latin typeface="Microsoft YaHei"/>
                <a:ea typeface="Microsoft YaHei"/>
              </a:rPr>
              <a:t xml:space="preserve"> 65.0%</a:t>
            </a:r>
            <a:endParaRPr/>
          </a:p>
        </p:txBody>
      </p:sp>
      <p:sp>
        <p:nvSpPr>
          <p:cNvPr id="811" name=""/>
          <p:cNvSpPr/>
          <p:nvPr/>
        </p:nvSpPr>
        <p:spPr>
          <a:xfrm rot="0" flipH="0" flipV="0">
            <a:off x="8020050" y="1743075"/>
            <a:ext cx="3552825" cy="3067050"/>
          </a:xfrm>
          <a:prstGeom prst="roundRect">
            <a:avLst>
              <a:gd name="adj" fmla="val 3727"/>
            </a:avLst>
          </a:prstGeom>
          <a:solidFill>
            <a:srgbClr val="FFF4E6"/>
          </a:solidFill>
          <a:ln/>
        </p:spPr>
        <p:txBody>
          <a:bodyPr/>
          <a:p/>
        </p:txBody>
      </p:sp>
      <p:sp>
        <p:nvSpPr>
          <p:cNvPr id="812" name=""/>
          <p:cNvSpPr/>
          <p:nvPr/>
        </p:nvSpPr>
        <p:spPr>
          <a:xfrm rot="0" flipH="0" flipV="0">
            <a:off x="8210550" y="1914525"/>
            <a:ext cx="704850" cy="266700"/>
          </a:xfrm>
          <a:prstGeom prst="roundRect">
            <a:avLst>
              <a:gd name="adj" fmla="val 21429"/>
            </a:avLst>
          </a:prstGeom>
          <a:solidFill>
            <a:srgbClr val="CB6B28"/>
          </a:solidFill>
          <a:ln/>
        </p:spPr>
        <p:txBody>
          <a:bodyPr/>
          <a:p/>
        </p:txBody>
      </p:sp>
      <p:sp>
        <p:nvSpPr>
          <p:cNvPr id="813" name="" descr="{&quot;isTemplate&quot;:true,&quot;type&quot;:&quot;text&quot;}"/>
          <p:cNvSpPr txBox="1"/>
          <p:nvPr/>
        </p:nvSpPr>
        <p:spPr>
          <a:xfrm rot="0" flipH="0" flipV="0">
            <a:off x="8362950" y="1971675"/>
            <a:ext cx="400050" cy="161925"/>
          </a:xfrm>
          <a:prstGeom prst="rect"/>
        </p:spPr>
        <p:txBody>
          <a:bodyPr wrap="none" lIns="0" tIns="0" rIns="0" bIns="0"/>
          <a:p>
            <a:pPr>
              <a:lnSpc>
                <a:spcPct val="100000"/>
              </a:lnSpc>
            </a:pPr>
            <a:r>
              <a:rPr lang="zh-CN" sz="1050">
                <a:solidFill>
                  <a:srgbClr val="FFFFFF"/>
                </a:solidFill>
                <a:latin typeface="Microsoft YaHei"/>
                <a:ea typeface="Microsoft YaHei"/>
              </a:rPr>
              <a:t>不要三</a:t>
            </a:r>
            <a:endParaRPr/>
          </a:p>
        </p:txBody>
      </p:sp>
      <p:sp>
        <p:nvSpPr>
          <p:cNvPr id="814" name="" descr="{&quot;isTemplate&quot;:true,&quot;type&quot;:&quot;text&quot;}"/>
          <p:cNvSpPr txBox="1"/>
          <p:nvPr/>
        </p:nvSpPr>
        <p:spPr>
          <a:xfrm rot="0" flipH="0" flipV="0">
            <a:off x="8210550" y="2276475"/>
            <a:ext cx="3171825" cy="228600"/>
          </a:xfrm>
          <a:prstGeom prst="rect"/>
        </p:spPr>
        <p:txBody>
          <a:bodyPr wrap="none" lIns="0" tIns="0" rIns="0" bIns="0"/>
          <a:p>
            <a:pPr>
              <a:lnSpc>
                <a:spcPct val="100000"/>
              </a:lnSpc>
            </a:pPr>
            <a:r>
              <a:rPr lang="zh-CN" sz="1500" b="1">
                <a:solidFill>
                  <a:srgbClr val="CB6B28"/>
                </a:solidFill>
                <a:latin typeface="Microsoft YaHei"/>
                <a:ea typeface="Microsoft YaHei"/>
              </a:rPr>
              <a:t>不相加</a:t>
            </a:r>
            <a:endParaRPr/>
          </a:p>
        </p:txBody>
      </p:sp>
      <p:sp>
        <p:nvSpPr>
          <p:cNvPr id="815" name="" descr="{&quot;isTemplate&quot;:true,&quot;type&quot;:&quot;text&quot;}"/>
          <p:cNvSpPr txBox="1"/>
          <p:nvPr/>
        </p:nvSpPr>
        <p:spPr>
          <a:xfrm rot="0" flipH="0" flipV="0">
            <a:off x="8210550" y="2600325"/>
            <a:ext cx="3171825" cy="800100"/>
          </a:xfrm>
          <a:prstGeom prst="rect"/>
        </p:spPr>
        <p:txBody>
          <a:bodyPr wrap="square" lIns="0" tIns="0" rIns="0" bIns="0">
            <a:normAutofit/>
          </a:bodyPr>
          <a:p>
            <a:pPr>
              <a:lnSpc>
                <a:spcPct val="155000"/>
              </a:lnSpc>
            </a:pPr>
            <a:r>
              <a:rPr lang="zh-CN" sz="1125">
                <a:solidFill>
                  <a:srgbClr val="CB6B28"/>
                </a:solidFill>
                <a:latin typeface="Microsoft YaHei"/>
                <a:ea typeface="Microsoft YaHei"/>
              </a:rPr>
              <a:t>题目范围、判分口径、难度分层都不同，把几个基准的分数加起来求</a:t>
            </a:r>
            <a:r>
              <a:rPr lang="en-US" sz="1125">
                <a:solidFill>
                  <a:srgbClr val="CB6B28"/>
                </a:solidFill>
                <a:latin typeface="Microsoft YaHei"/>
                <a:ea typeface="Microsoft YaHei"/>
              </a:rPr>
              <a:t>"</a:t>
            </a:r>
            <a:r>
              <a:rPr lang="zh-CN" sz="1125">
                <a:solidFill>
                  <a:srgbClr val="CB6B28"/>
                </a:solidFill>
                <a:latin typeface="Microsoft YaHei"/>
                <a:ea typeface="Microsoft YaHei"/>
              </a:rPr>
              <a:t>综合能力</a:t>
            </a:r>
            <a:r>
              <a:rPr lang="en-US" sz="1125">
                <a:solidFill>
                  <a:srgbClr val="CB6B28"/>
                </a:solidFill>
                <a:latin typeface="Microsoft YaHei"/>
                <a:ea typeface="Microsoft YaHei"/>
              </a:rPr>
              <a:t>"</a:t>
            </a:r>
            <a:r>
              <a:rPr lang="zh-CN" sz="1125">
                <a:solidFill>
                  <a:srgbClr val="CB6B28"/>
                </a:solidFill>
                <a:latin typeface="Microsoft YaHei"/>
                <a:ea typeface="Microsoft YaHei"/>
              </a:rPr>
              <a:t>，数字没有现实含义。</a:t>
            </a:r>
            <a:endParaRPr/>
          </a:p>
        </p:txBody>
      </p:sp>
      <p:sp>
        <p:nvSpPr>
          <p:cNvPr id="816" name="" descr="{&quot;isTemplate&quot;:true,&quot;type&quot;:&quot;text&quot;}"/>
          <p:cNvSpPr txBox="1"/>
          <p:nvPr/>
        </p:nvSpPr>
        <p:spPr>
          <a:xfrm rot="0" flipH="0" flipV="0">
            <a:off x="8210550" y="4400550"/>
            <a:ext cx="3171825" cy="238125"/>
          </a:xfrm>
          <a:prstGeom prst="rect"/>
        </p:spPr>
        <p:txBody>
          <a:bodyPr wrap="none" lIns="0" tIns="0" rIns="0" bIns="0"/>
          <a:p>
            <a:pPr>
              <a:lnSpc>
                <a:spcPct val="145000"/>
              </a:lnSpc>
            </a:pPr>
            <a:r>
              <a:rPr lang="zh-CN" sz="1050">
                <a:solidFill>
                  <a:srgbClr val="CB6B28"/>
                </a:solidFill>
                <a:latin typeface="Microsoft YaHei"/>
                <a:ea typeface="Microsoft YaHei"/>
              </a:rPr>
              <a:t>需要综合判断时，按能力分别列，不求和</a:t>
            </a:r>
            <a:endParaRPr/>
          </a:p>
        </p:txBody>
      </p:sp>
      <p:sp>
        <p:nvSpPr>
          <p:cNvPr id="817" name=""/>
          <p:cNvSpPr/>
          <p:nvPr/>
        </p:nvSpPr>
        <p:spPr>
          <a:xfrm rot="0" flipH="0" flipV="0">
            <a:off x="609600" y="5000625"/>
            <a:ext cx="10972800" cy="685800"/>
          </a:xfrm>
          <a:prstGeom prst="roundRect">
            <a:avLst>
              <a:gd name="adj" fmla="val 13889"/>
            </a:avLst>
          </a:prstGeom>
          <a:solidFill>
            <a:srgbClr val="F4F7FA"/>
          </a:solidFill>
          <a:ln/>
        </p:spPr>
        <p:txBody>
          <a:bodyPr/>
          <a:p/>
        </p:txBody>
      </p:sp>
      <p:sp>
        <p:nvSpPr>
          <p:cNvPr id="818" name=""/>
          <p:cNvSpPr/>
          <p:nvPr/>
        </p:nvSpPr>
        <p:spPr>
          <a:xfrm rot="0" flipH="0" flipV="0">
            <a:off x="819150" y="5133975"/>
            <a:ext cx="38100" cy="419100"/>
          </a:xfrm>
          <a:prstGeom prst="rect">
            <a:avLst/>
          </a:prstGeom>
          <a:solidFill>
            <a:srgbClr val="276FBF"/>
          </a:solidFill>
          <a:ln/>
        </p:spPr>
        <p:txBody>
          <a:bodyPr/>
          <a:p/>
        </p:txBody>
      </p:sp>
      <p:sp>
        <p:nvSpPr>
          <p:cNvPr id="819" name="" descr="{&quot;isTemplate&quot;:true,&quot;type&quot;:&quot;text&quot;}"/>
          <p:cNvSpPr txBox="1"/>
          <p:nvPr/>
        </p:nvSpPr>
        <p:spPr>
          <a:xfrm rot="0" flipH="0" flipV="0">
            <a:off x="1009650" y="5200650"/>
            <a:ext cx="4724400" cy="285750"/>
          </a:xfrm>
          <a:prstGeom prst="rect"/>
        </p:spPr>
        <p:txBody>
          <a:bodyPr wrap="none" lIns="0" tIns="0" rIns="0" bIns="0"/>
          <a:p>
            <a:pPr>
              <a:lnSpc>
                <a:spcPct val="155000"/>
              </a:lnSpc>
            </a:pPr>
            <a:r>
              <a:rPr lang="zh-CN" sz="1200">
                <a:solidFill>
                  <a:srgbClr val="546779"/>
                </a:solidFill>
                <a:latin typeface="Microsoft YaHei"/>
                <a:ea typeface="Microsoft YaHei"/>
              </a:rPr>
              <a:t>三条纪律合成一句：先看清楚测的是什么、怎么测的，再谈分数高不高</a:t>
            </a:r>
            <a:endParaRPr/>
          </a:p>
        </p:txBody>
      </p:sp>
      <p:sp>
        <p:nvSpPr>
          <p:cNvPr id="820"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821"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30 / 36</a:t>
            </a:r>
            <a:endParaRPr/>
          </a:p>
        </p:txBody>
      </p:sp>
    </p:spTree>
  </p:cSld>
</p:sld>
</file>

<file path=ppt/slides/slide31.xml><?xml version="1.0" encoding="utf-8"?>
<p:sld xmlns:p="http://schemas.openxmlformats.org/presentationml/2006/main" xmlns:a="http://schemas.openxmlformats.org/drawingml/2006/main">
  <p:cSld>
    <p:spTree>
      <p:nvGrpSpPr>
        <p:cNvPr id="822" name="" descr="&lt;Slide notes={`错题不是一种东西，至少要分成三类，因为它们对我们的意义完全不同。&#10;&#10;第一类是真不会。题目是对的，答案也清楚，就是目前的模型做不出来。这类错题标记的是能力的真实边界。&#10;&#10;第二类是题目有错。可能是题面缺条件，可能是参考答案本身就错，也可能是判分规则太死或太松。这类错题标记的是测量的缺陷，和模型强弱无关。&#10;&#10;第三类是学过头。模型在训练数据里见过这道题甚至标准答案，于是它答对了，但它是回忆出来的，不是推出来的。这类最危险，因为会让分数虚高，看起来比实际强。&#10;&#10;三类失败要用不同的办法查。第一类看解题记录，第二类靠人工复核题目，第三类要查训练数据的边界。混在一起说，只会得出错误的结论。`}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⑥　1.4.6　尚未解决的错题：先把失败分清楚&lt;/Text&gt;&#10;            &lt;Text style={{ fontSize: 34, fontWeight: 'bold', color: '#20344B' }}&gt;错题分三类&lt;/Text&gt;&#10;        &lt;/Box&gt;&#10;    &lt;/Box&gt;&#10;&#10;    &lt;Box style={{ height: 540, flexDirection: 'column', justifyContent: 'center', gap: 20 }}&gt;&#10;&#10;        &lt;Box style={{ flexDirection: 'row', gap: 16 }}&gt;&#10;&#10;            &lt;Box style={{ width: 373, height: 322, background: '#EDF4FC', borderRadius: 12, padding: '18px 20px', flexDirection: 'column', gap: 10 }}&gt;&#10;                &lt;Box style={{ width: 92, height: 28, background: '#276FBF', borderRadius: 6, alignItems: 'center', justifyContent: 'center' }}&gt;&lt;Text style={{ fontSize: 13, color: '#FFFFFF' }}&gt;第一类&lt;/Text&gt;&lt;/Box&gt;&#10;                &lt;Text style={{ fontSize: 20, fontWeight: 'bold', color: '#20344B' }}&gt;真不会&lt;/Text&gt;&#10;                &lt;Text style={{ fontSize: 15, color: '#546779', lineHeight: 1.55 }}&gt;题目是对的，答案也清楚，就是现在的模型做不出来。这类错题标记的是能力的真实边界。&lt;/Text&gt;&#10;                &lt;Box style={{ flex: 1 }} /&gt;&#10;                &lt;Text style={{ fontSize: 14, color: '#276FBF', lineHeight: 1.45 }}&gt;查法：看解题记录，找卡在哪一步&lt;/Text&gt;&#10;            &lt;/Box&gt;&#10;&#10;            &lt;Box style={{ width: 373, height: 322, background: '#FFF4E6', borderRadius: 12, padding: '18px 20px', flexDirection: 'column', gap: 10 }}&gt;&#10;                &lt;Box style={{ width: 92, height: 28, background: '#CB6B28', borderRadius: 6, alignItems: 'center', justifyContent: 'center' }}&gt;&lt;Text style={{ fontSize: 13, color: '#FFFFFF' }}&gt;第二类&lt;/Text&gt;&lt;/Box&gt;&#10;                &lt;Text style={{ fontSize: 20, fontWeight: 'bold', color: '#CB6B28' }}&gt;题目有错&lt;/Text&gt;&#10;                &lt;Text style={{ fontSize: 15, color: '#CB6B28', lineHeight: 1.55 }}&gt;题面缺条件、参考答案本身有误、判分规则太死或太松。这类错题标记的是测量的缺陷，与模型强弱无关。&lt;/Text&gt;&#10;                &lt;Box style={{ flex: 1 }} /&gt;&#10;                &lt;Text style={{ fontSize: 14, color: '#CB6B28', lineHeight: 1.45 }}&gt;查法：人工逐题复核题面与判分&lt;/Text&gt;&#10;            &lt;/Box&gt;&#10;&#10;            &lt;Box style={{ width: 373, height: 322, background: '#F4F7FA', borderRadius: 12, padding: '18px 20px', flexDirection: 'column', gap: 10 }}&gt;&#10;                &lt;Box style={{ width: 92, height: 28, background: '#546779', borderRadius: 6, alignItems: 'center', justifyContent: 'center' }}&gt;&lt;Text style={{ fontSize: 13, color: '#FFFFFF' }}&gt;第三类&lt;/Text&gt;&lt;/Box&gt;&#10;                &lt;Text style={{ fontSize: 20, fontWeight: 'bold', color: '#20344B' }}&gt;学过头&lt;/Text&gt;&#10;                &lt;Text style={{ fontSize: 15, color: '#546779', lineHeight: 1.55 }}&gt;模型在训练数据里见过这道题甚至标准答案，于是答对了，但那是回忆不是推理。这类最危险，会让分数虚高。&lt;/Text&gt;&#10;                &lt;Box style={{ flex: 1 }} /&gt;&#10;                &lt;Text style={{ fontSize: 14, color: '#546779', lineHeight: 1.45 }}&gt;查法：追溯题目与训练数据的重叠&lt;/Text&gt;&#10;            &lt;/Box&gt;&#10;&#10;        &lt;/Box&gt;&#10;&#10;        &lt;Box style={{ flexDirection: 'row', gap: 16, background: '#F4F7FA', borderRadius: 10, padding: '14px 22px', alignItems: 'center' }}&gt;&#10;            &lt;Box style={{ width: 4, height: 44, background: '#276FBF' }} /&gt;&#10;            &lt;Text style={{ fontSize: 16, color: '#546779', lineHeight: 1.55 }}&gt;三类混在一起谈，只会得出错误结论；前两类压分，第三类抬分，方向正好相反&lt;/Text&gt;&#10;        &lt;/Box&gt;&#10;&#10;    &lt;/Box&gt;&#10;&#10;    &lt;Box style={{ height: 40, flexDirection: 'row', justifyContent: 'space-between', alignItems: 'center' }}&gt;&#10;        &lt;Text style={{ fontSize: 14, color: '#546779' }}&gt;1.4 从榜单到证据&lt;/Text&gt;&#10;        &lt;Text style={{ fontSize: 14, color: '#546779' }}&gt;31 / 36&lt;/Text&gt;&#10;    &lt;/Box&gt;&#10;&#10;&lt;/Slide&gt;&#10;"/>
        <p:cNvGrpSpPr/>
        <p:nvPr/>
      </p:nvGrpSpPr>
      <p:grpSpPr>
        <a:xfrm>
          <a:off x="0" y="0"/>
          <a:ext cx="0" cy="0"/>
          <a:chOff x="0" y="0"/>
          <a:chExt cx="0" cy="0"/>
        </a:xfrm>
      </p:grpSpPr>
      <p:sp>
        <p:nvSpPr>
          <p:cNvPr id="823" name=""/>
          <p:cNvSpPr/>
          <p:nvPr/>
        </p:nvSpPr>
        <p:spPr>
          <a:xfrm rot="0" flipH="0" flipV="0">
            <a:off x="0" y="0"/>
            <a:ext cx="12192000" cy="6858000"/>
          </a:xfrm>
          <a:prstGeom prst="rect">
            <a:avLst/>
          </a:prstGeom>
          <a:solidFill>
            <a:srgbClr val="FFFFFF"/>
          </a:solidFill>
          <a:ln/>
        </p:spPr>
        <p:txBody>
          <a:bodyPr/>
          <a:p/>
        </p:txBody>
      </p:sp>
      <p:sp>
        <p:nvSpPr>
          <p:cNvPr id="824" name=""/>
          <p:cNvSpPr/>
          <p:nvPr/>
        </p:nvSpPr>
        <p:spPr>
          <a:xfrm rot="0" flipH="0" flipV="0">
            <a:off x="609600" y="457200"/>
            <a:ext cx="38100" cy="419100"/>
          </a:xfrm>
          <a:prstGeom prst="rect">
            <a:avLst/>
          </a:prstGeom>
          <a:solidFill>
            <a:srgbClr val="276FBF"/>
          </a:solidFill>
          <a:ln/>
        </p:spPr>
        <p:txBody>
          <a:bodyPr/>
          <a:p/>
        </p:txBody>
      </p:sp>
      <p:sp>
        <p:nvSpPr>
          <p:cNvPr id="825" name="" descr="{&quot;isTemplate&quot;:true,&quot;type&quot;:&quot;text&quot;}"/>
          <p:cNvSpPr txBox="1"/>
          <p:nvPr/>
        </p:nvSpPr>
        <p:spPr>
          <a:xfrm rot="0" flipH="0" flipV="0">
            <a:off x="838200" y="371475"/>
            <a:ext cx="2705100" cy="161925"/>
          </a:xfrm>
          <a:prstGeom prst="rect"/>
        </p:spPr>
        <p:txBody>
          <a:bodyPr wrap="none" lIns="0" tIns="0" rIns="0" bIns="0"/>
          <a:p>
            <a:pPr>
              <a:lnSpc>
                <a:spcPct val="100000"/>
              </a:lnSpc>
            </a:pPr>
            <a:r>
              <a:rPr lang="zh-CN" sz="1050">
                <a:solidFill>
                  <a:srgbClr val="546779"/>
                </a:solidFill>
                <a:latin typeface="Microsoft YaHei"/>
                <a:ea typeface="Microsoft YaHei"/>
              </a:rPr>
              <a:t>⑥　</a:t>
            </a:r>
            <a:r>
              <a:rPr lang="en-US" sz="1050">
                <a:solidFill>
                  <a:srgbClr val="546779"/>
                </a:solidFill>
                <a:latin typeface="Microsoft YaHei"/>
                <a:ea typeface="Microsoft YaHei"/>
              </a:rPr>
              <a:t>1.4.6</a:t>
            </a:r>
            <a:r>
              <a:rPr lang="zh-CN" sz="1050">
                <a:solidFill>
                  <a:srgbClr val="546779"/>
                </a:solidFill>
                <a:latin typeface="Microsoft YaHei"/>
                <a:ea typeface="Microsoft YaHei"/>
              </a:rPr>
              <a:t>　尚未解决的错题：先把失败分清楚</a:t>
            </a:r>
            <a:endParaRPr/>
          </a:p>
        </p:txBody>
      </p:sp>
      <p:sp>
        <p:nvSpPr>
          <p:cNvPr id="826" name="" descr="{&quot;isTemplate&quot;:true,&quot;type&quot;:&quot;text&quot;}"/>
          <p:cNvSpPr txBox="1"/>
          <p:nvPr/>
        </p:nvSpPr>
        <p:spPr>
          <a:xfrm rot="0" flipH="0" flipV="0">
            <a:off x="838200" y="571500"/>
            <a:ext cx="2705100" cy="390525"/>
          </a:xfrm>
          <a:prstGeom prst="rect"/>
        </p:spPr>
        <p:txBody>
          <a:bodyPr wrap="none" lIns="0" tIns="0" rIns="0" bIns="0"/>
          <a:p>
            <a:pPr>
              <a:lnSpc>
                <a:spcPct val="100000"/>
              </a:lnSpc>
            </a:pPr>
            <a:r>
              <a:rPr lang="zh-CN" sz="2550" b="1">
                <a:solidFill>
                  <a:srgbClr val="20344B"/>
                </a:solidFill>
                <a:latin typeface="Microsoft YaHei"/>
                <a:ea typeface="Microsoft YaHei"/>
              </a:rPr>
              <a:t>错题分三类</a:t>
            </a:r>
            <a:endParaRPr/>
          </a:p>
        </p:txBody>
      </p:sp>
      <p:sp>
        <p:nvSpPr>
          <p:cNvPr id="827" name=""/>
          <p:cNvSpPr/>
          <p:nvPr/>
        </p:nvSpPr>
        <p:spPr>
          <a:xfrm rot="0" flipH="0" flipV="0">
            <a:off x="609600" y="1743075"/>
            <a:ext cx="3552825" cy="3067050"/>
          </a:xfrm>
          <a:prstGeom prst="roundRect">
            <a:avLst>
              <a:gd name="adj" fmla="val 3727"/>
            </a:avLst>
          </a:prstGeom>
          <a:solidFill>
            <a:srgbClr val="EDF4FC"/>
          </a:solidFill>
          <a:ln/>
        </p:spPr>
        <p:txBody>
          <a:bodyPr/>
          <a:p/>
        </p:txBody>
      </p:sp>
      <p:sp>
        <p:nvSpPr>
          <p:cNvPr id="828" name=""/>
          <p:cNvSpPr/>
          <p:nvPr/>
        </p:nvSpPr>
        <p:spPr>
          <a:xfrm rot="0" flipH="0" flipV="0">
            <a:off x="800100" y="1914525"/>
            <a:ext cx="876300" cy="266700"/>
          </a:xfrm>
          <a:prstGeom prst="roundRect">
            <a:avLst>
              <a:gd name="adj" fmla="val 21429"/>
            </a:avLst>
          </a:prstGeom>
          <a:solidFill>
            <a:srgbClr val="276FBF"/>
          </a:solidFill>
          <a:ln/>
        </p:spPr>
        <p:txBody>
          <a:bodyPr/>
          <a:p/>
        </p:txBody>
      </p:sp>
      <p:sp>
        <p:nvSpPr>
          <p:cNvPr id="829" name="" descr="{&quot;isTemplate&quot;:true,&quot;type&quot;:&quot;text&quot;}"/>
          <p:cNvSpPr txBox="1"/>
          <p:nvPr/>
        </p:nvSpPr>
        <p:spPr>
          <a:xfrm rot="0" flipH="0" flipV="0">
            <a:off x="1057275" y="1971675"/>
            <a:ext cx="371475" cy="152400"/>
          </a:xfrm>
          <a:prstGeom prst="rect"/>
        </p:spPr>
        <p:txBody>
          <a:bodyPr wrap="none" lIns="0" tIns="0" rIns="0" bIns="0"/>
          <a:p>
            <a:pPr>
              <a:lnSpc>
                <a:spcPct val="100000"/>
              </a:lnSpc>
            </a:pPr>
            <a:r>
              <a:rPr lang="zh-CN" sz="975">
                <a:solidFill>
                  <a:srgbClr val="FFFFFF"/>
                </a:solidFill>
                <a:latin typeface="Microsoft YaHei"/>
                <a:ea typeface="Microsoft YaHei"/>
              </a:rPr>
              <a:t>第一类</a:t>
            </a:r>
            <a:endParaRPr/>
          </a:p>
        </p:txBody>
      </p:sp>
      <p:sp>
        <p:nvSpPr>
          <p:cNvPr id="830" name="" descr="{&quot;isTemplate&quot;:true,&quot;type&quot;:&quot;text&quot;}"/>
          <p:cNvSpPr txBox="1"/>
          <p:nvPr/>
        </p:nvSpPr>
        <p:spPr>
          <a:xfrm rot="0" flipH="0" flipV="0">
            <a:off x="800100" y="2276475"/>
            <a:ext cx="3171825" cy="228600"/>
          </a:xfrm>
          <a:prstGeom prst="rect"/>
        </p:spPr>
        <p:txBody>
          <a:bodyPr wrap="none" lIns="0" tIns="0" rIns="0" bIns="0"/>
          <a:p>
            <a:pPr>
              <a:lnSpc>
                <a:spcPct val="100000"/>
              </a:lnSpc>
            </a:pPr>
            <a:r>
              <a:rPr lang="zh-CN" sz="1500" b="1">
                <a:solidFill>
                  <a:srgbClr val="20344B"/>
                </a:solidFill>
                <a:latin typeface="Microsoft YaHei"/>
                <a:ea typeface="Microsoft YaHei"/>
              </a:rPr>
              <a:t>真不会</a:t>
            </a:r>
            <a:endParaRPr/>
          </a:p>
        </p:txBody>
      </p:sp>
      <p:sp>
        <p:nvSpPr>
          <p:cNvPr id="831" name="" descr="{&quot;isTemplate&quot;:true,&quot;type&quot;:&quot;text&quot;}"/>
          <p:cNvSpPr txBox="1"/>
          <p:nvPr/>
        </p:nvSpPr>
        <p:spPr>
          <a:xfrm rot="0" flipH="0" flipV="0">
            <a:off x="800100" y="2600325"/>
            <a:ext cx="3171825"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题目是对的，答案也清楚，就是现在的模型做不出来。这类错题标记的是能力的真实边界。</a:t>
            </a:r>
            <a:endParaRPr/>
          </a:p>
        </p:txBody>
      </p:sp>
      <p:sp>
        <p:nvSpPr>
          <p:cNvPr id="832" name="" descr="{&quot;isTemplate&quot;:true,&quot;type&quot;:&quot;text&quot;}"/>
          <p:cNvSpPr txBox="1"/>
          <p:nvPr/>
        </p:nvSpPr>
        <p:spPr>
          <a:xfrm rot="0" flipH="0" flipV="0">
            <a:off x="800100" y="4400550"/>
            <a:ext cx="3171825" cy="238125"/>
          </a:xfrm>
          <a:prstGeom prst="rect"/>
        </p:spPr>
        <p:txBody>
          <a:bodyPr wrap="none" lIns="0" tIns="0" rIns="0" bIns="0"/>
          <a:p>
            <a:pPr>
              <a:lnSpc>
                <a:spcPct val="145000"/>
              </a:lnSpc>
            </a:pPr>
            <a:r>
              <a:rPr lang="zh-CN" sz="1050">
                <a:solidFill>
                  <a:srgbClr val="276FBF"/>
                </a:solidFill>
                <a:latin typeface="Microsoft YaHei"/>
                <a:ea typeface="Microsoft YaHei"/>
              </a:rPr>
              <a:t>查法：看解题记录，找卡在哪一步</a:t>
            </a:r>
            <a:endParaRPr/>
          </a:p>
        </p:txBody>
      </p:sp>
      <p:sp>
        <p:nvSpPr>
          <p:cNvPr id="833" name=""/>
          <p:cNvSpPr/>
          <p:nvPr/>
        </p:nvSpPr>
        <p:spPr>
          <a:xfrm rot="0" flipH="0" flipV="0">
            <a:off x="4314825" y="1743075"/>
            <a:ext cx="3552825" cy="3067050"/>
          </a:xfrm>
          <a:prstGeom prst="roundRect">
            <a:avLst>
              <a:gd name="adj" fmla="val 3727"/>
            </a:avLst>
          </a:prstGeom>
          <a:solidFill>
            <a:srgbClr val="FFF4E6"/>
          </a:solidFill>
          <a:ln/>
        </p:spPr>
        <p:txBody>
          <a:bodyPr/>
          <a:p/>
        </p:txBody>
      </p:sp>
      <p:sp>
        <p:nvSpPr>
          <p:cNvPr id="834" name=""/>
          <p:cNvSpPr/>
          <p:nvPr/>
        </p:nvSpPr>
        <p:spPr>
          <a:xfrm rot="0" flipH="0" flipV="0">
            <a:off x="4505325" y="1914525"/>
            <a:ext cx="876300" cy="266700"/>
          </a:xfrm>
          <a:prstGeom prst="roundRect">
            <a:avLst>
              <a:gd name="adj" fmla="val 21429"/>
            </a:avLst>
          </a:prstGeom>
          <a:solidFill>
            <a:srgbClr val="CB6B28"/>
          </a:solidFill>
          <a:ln/>
        </p:spPr>
        <p:txBody>
          <a:bodyPr/>
          <a:p/>
        </p:txBody>
      </p:sp>
      <p:sp>
        <p:nvSpPr>
          <p:cNvPr id="835" name="" descr="{&quot;isTemplate&quot;:true,&quot;type&quot;:&quot;text&quot;}"/>
          <p:cNvSpPr txBox="1"/>
          <p:nvPr/>
        </p:nvSpPr>
        <p:spPr>
          <a:xfrm rot="0" flipH="0" flipV="0">
            <a:off x="4762500" y="1971675"/>
            <a:ext cx="371475" cy="152400"/>
          </a:xfrm>
          <a:prstGeom prst="rect"/>
        </p:spPr>
        <p:txBody>
          <a:bodyPr wrap="none" lIns="0" tIns="0" rIns="0" bIns="0"/>
          <a:p>
            <a:pPr>
              <a:lnSpc>
                <a:spcPct val="100000"/>
              </a:lnSpc>
            </a:pPr>
            <a:r>
              <a:rPr lang="zh-CN" sz="975">
                <a:solidFill>
                  <a:srgbClr val="FFFFFF"/>
                </a:solidFill>
                <a:latin typeface="Microsoft YaHei"/>
                <a:ea typeface="Microsoft YaHei"/>
              </a:rPr>
              <a:t>第二类</a:t>
            </a:r>
            <a:endParaRPr/>
          </a:p>
        </p:txBody>
      </p:sp>
      <p:sp>
        <p:nvSpPr>
          <p:cNvPr id="836" name="" descr="{&quot;isTemplate&quot;:true,&quot;type&quot;:&quot;text&quot;}"/>
          <p:cNvSpPr txBox="1"/>
          <p:nvPr/>
        </p:nvSpPr>
        <p:spPr>
          <a:xfrm rot="0" flipH="0" flipV="0">
            <a:off x="4505325" y="2276475"/>
            <a:ext cx="3171825" cy="228600"/>
          </a:xfrm>
          <a:prstGeom prst="rect"/>
        </p:spPr>
        <p:txBody>
          <a:bodyPr wrap="none" lIns="0" tIns="0" rIns="0" bIns="0"/>
          <a:p>
            <a:pPr>
              <a:lnSpc>
                <a:spcPct val="100000"/>
              </a:lnSpc>
            </a:pPr>
            <a:r>
              <a:rPr lang="zh-CN" sz="1500" b="1">
                <a:solidFill>
                  <a:srgbClr val="CB6B28"/>
                </a:solidFill>
                <a:latin typeface="Microsoft YaHei"/>
                <a:ea typeface="Microsoft YaHei"/>
              </a:rPr>
              <a:t>题目有错</a:t>
            </a:r>
            <a:endParaRPr/>
          </a:p>
        </p:txBody>
      </p:sp>
      <p:sp>
        <p:nvSpPr>
          <p:cNvPr id="837" name="" descr="{&quot;isTemplate&quot;:true,&quot;type&quot;:&quot;text&quot;}"/>
          <p:cNvSpPr txBox="1"/>
          <p:nvPr/>
        </p:nvSpPr>
        <p:spPr>
          <a:xfrm rot="0" flipH="0" flipV="0">
            <a:off x="4505325" y="2600325"/>
            <a:ext cx="3171825" cy="800100"/>
          </a:xfrm>
          <a:prstGeom prst="rect"/>
        </p:spPr>
        <p:txBody>
          <a:bodyPr wrap="square" lIns="0" tIns="0" rIns="0" bIns="0">
            <a:normAutofit/>
          </a:bodyPr>
          <a:p>
            <a:pPr>
              <a:lnSpc>
                <a:spcPct val="155000"/>
              </a:lnSpc>
            </a:pPr>
            <a:r>
              <a:rPr lang="zh-CN" sz="1125">
                <a:solidFill>
                  <a:srgbClr val="CB6B28"/>
                </a:solidFill>
                <a:latin typeface="Microsoft YaHei"/>
                <a:ea typeface="Microsoft YaHei"/>
              </a:rPr>
              <a:t>题面缺条件、参考答案本身有误、判分规则太死或太松。这类错题标记的是测量的缺陷，与模型强弱无关。</a:t>
            </a:r>
            <a:endParaRPr/>
          </a:p>
        </p:txBody>
      </p:sp>
      <p:sp>
        <p:nvSpPr>
          <p:cNvPr id="838" name="" descr="{&quot;isTemplate&quot;:true,&quot;type&quot;:&quot;text&quot;}"/>
          <p:cNvSpPr txBox="1"/>
          <p:nvPr/>
        </p:nvSpPr>
        <p:spPr>
          <a:xfrm rot="0" flipH="0" flipV="0">
            <a:off x="4505325" y="4400550"/>
            <a:ext cx="3171825" cy="238125"/>
          </a:xfrm>
          <a:prstGeom prst="rect"/>
        </p:spPr>
        <p:txBody>
          <a:bodyPr wrap="none" lIns="0" tIns="0" rIns="0" bIns="0"/>
          <a:p>
            <a:pPr>
              <a:lnSpc>
                <a:spcPct val="145000"/>
              </a:lnSpc>
            </a:pPr>
            <a:r>
              <a:rPr lang="zh-CN" sz="1050">
                <a:solidFill>
                  <a:srgbClr val="CB6B28"/>
                </a:solidFill>
                <a:latin typeface="Microsoft YaHei"/>
                <a:ea typeface="Microsoft YaHei"/>
              </a:rPr>
              <a:t>查法：人工逐题复核题面与判分</a:t>
            </a:r>
            <a:endParaRPr/>
          </a:p>
        </p:txBody>
      </p:sp>
      <p:sp>
        <p:nvSpPr>
          <p:cNvPr id="839" name=""/>
          <p:cNvSpPr/>
          <p:nvPr/>
        </p:nvSpPr>
        <p:spPr>
          <a:xfrm rot="0" flipH="0" flipV="0">
            <a:off x="8020050" y="1743075"/>
            <a:ext cx="3552825" cy="3067050"/>
          </a:xfrm>
          <a:prstGeom prst="roundRect">
            <a:avLst>
              <a:gd name="adj" fmla="val 3727"/>
            </a:avLst>
          </a:prstGeom>
          <a:solidFill>
            <a:srgbClr val="F4F7FA"/>
          </a:solidFill>
          <a:ln/>
        </p:spPr>
        <p:txBody>
          <a:bodyPr/>
          <a:p/>
        </p:txBody>
      </p:sp>
      <p:sp>
        <p:nvSpPr>
          <p:cNvPr id="840" name=""/>
          <p:cNvSpPr/>
          <p:nvPr/>
        </p:nvSpPr>
        <p:spPr>
          <a:xfrm rot="0" flipH="0" flipV="0">
            <a:off x="8210550" y="1914525"/>
            <a:ext cx="876300" cy="266700"/>
          </a:xfrm>
          <a:prstGeom prst="roundRect">
            <a:avLst>
              <a:gd name="adj" fmla="val 21429"/>
            </a:avLst>
          </a:prstGeom>
          <a:solidFill>
            <a:srgbClr val="546779"/>
          </a:solidFill>
          <a:ln/>
        </p:spPr>
        <p:txBody>
          <a:bodyPr/>
          <a:p/>
        </p:txBody>
      </p:sp>
      <p:sp>
        <p:nvSpPr>
          <p:cNvPr id="841" name="" descr="{&quot;isTemplate&quot;:true,&quot;type&quot;:&quot;text&quot;}"/>
          <p:cNvSpPr txBox="1"/>
          <p:nvPr/>
        </p:nvSpPr>
        <p:spPr>
          <a:xfrm rot="0" flipH="0" flipV="0">
            <a:off x="8467725" y="1971675"/>
            <a:ext cx="371475" cy="152400"/>
          </a:xfrm>
          <a:prstGeom prst="rect"/>
        </p:spPr>
        <p:txBody>
          <a:bodyPr wrap="none" lIns="0" tIns="0" rIns="0" bIns="0"/>
          <a:p>
            <a:pPr>
              <a:lnSpc>
                <a:spcPct val="100000"/>
              </a:lnSpc>
            </a:pPr>
            <a:r>
              <a:rPr lang="zh-CN" sz="975">
                <a:solidFill>
                  <a:srgbClr val="FFFFFF"/>
                </a:solidFill>
                <a:latin typeface="Microsoft YaHei"/>
                <a:ea typeface="Microsoft YaHei"/>
              </a:rPr>
              <a:t>第三类</a:t>
            </a:r>
            <a:endParaRPr/>
          </a:p>
        </p:txBody>
      </p:sp>
      <p:sp>
        <p:nvSpPr>
          <p:cNvPr id="842" name="" descr="{&quot;isTemplate&quot;:true,&quot;type&quot;:&quot;text&quot;}"/>
          <p:cNvSpPr txBox="1"/>
          <p:nvPr/>
        </p:nvSpPr>
        <p:spPr>
          <a:xfrm rot="0" flipH="0" flipV="0">
            <a:off x="8210550" y="2276475"/>
            <a:ext cx="3171825" cy="228600"/>
          </a:xfrm>
          <a:prstGeom prst="rect"/>
        </p:spPr>
        <p:txBody>
          <a:bodyPr wrap="none" lIns="0" tIns="0" rIns="0" bIns="0"/>
          <a:p>
            <a:pPr>
              <a:lnSpc>
                <a:spcPct val="100000"/>
              </a:lnSpc>
            </a:pPr>
            <a:r>
              <a:rPr lang="zh-CN" sz="1500" b="1">
                <a:solidFill>
                  <a:srgbClr val="20344B"/>
                </a:solidFill>
                <a:latin typeface="Microsoft YaHei"/>
                <a:ea typeface="Microsoft YaHei"/>
              </a:rPr>
              <a:t>学过头</a:t>
            </a:r>
            <a:endParaRPr/>
          </a:p>
        </p:txBody>
      </p:sp>
      <p:sp>
        <p:nvSpPr>
          <p:cNvPr id="843" name="" descr="{&quot;isTemplate&quot;:true,&quot;type&quot;:&quot;text&quot;}"/>
          <p:cNvSpPr txBox="1"/>
          <p:nvPr/>
        </p:nvSpPr>
        <p:spPr>
          <a:xfrm rot="0" flipH="0" flipV="0">
            <a:off x="8210550" y="2600325"/>
            <a:ext cx="3171825" cy="8001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模型在训练数据里见过这道题甚至标准答案，于是答对了，但那是回忆不是推理。这类最危险，会让分数虚高。</a:t>
            </a:r>
            <a:endParaRPr/>
          </a:p>
        </p:txBody>
      </p:sp>
      <p:sp>
        <p:nvSpPr>
          <p:cNvPr id="844" name="" descr="{&quot;isTemplate&quot;:true,&quot;type&quot;:&quot;text&quot;}"/>
          <p:cNvSpPr txBox="1"/>
          <p:nvPr/>
        </p:nvSpPr>
        <p:spPr>
          <a:xfrm rot="0" flipH="0" flipV="0">
            <a:off x="8210550" y="4400550"/>
            <a:ext cx="3171825" cy="238125"/>
          </a:xfrm>
          <a:prstGeom prst="rect"/>
        </p:spPr>
        <p:txBody>
          <a:bodyPr wrap="none" lIns="0" tIns="0" rIns="0" bIns="0"/>
          <a:p>
            <a:pPr>
              <a:lnSpc>
                <a:spcPct val="145000"/>
              </a:lnSpc>
            </a:pPr>
            <a:r>
              <a:rPr lang="zh-CN" sz="1050">
                <a:solidFill>
                  <a:srgbClr val="546779"/>
                </a:solidFill>
                <a:latin typeface="Microsoft YaHei"/>
                <a:ea typeface="Microsoft YaHei"/>
              </a:rPr>
              <a:t>查法：追溯题目与训练数据的重叠</a:t>
            </a:r>
            <a:endParaRPr/>
          </a:p>
        </p:txBody>
      </p:sp>
      <p:sp>
        <p:nvSpPr>
          <p:cNvPr id="845" name=""/>
          <p:cNvSpPr/>
          <p:nvPr/>
        </p:nvSpPr>
        <p:spPr>
          <a:xfrm rot="0" flipH="0" flipV="0">
            <a:off x="609600" y="5000625"/>
            <a:ext cx="10972800" cy="685800"/>
          </a:xfrm>
          <a:prstGeom prst="roundRect">
            <a:avLst>
              <a:gd name="adj" fmla="val 13889"/>
            </a:avLst>
          </a:prstGeom>
          <a:solidFill>
            <a:srgbClr val="F4F7FA"/>
          </a:solidFill>
          <a:ln/>
        </p:spPr>
        <p:txBody>
          <a:bodyPr/>
          <a:p/>
        </p:txBody>
      </p:sp>
      <p:sp>
        <p:nvSpPr>
          <p:cNvPr id="846" name=""/>
          <p:cNvSpPr/>
          <p:nvPr/>
        </p:nvSpPr>
        <p:spPr>
          <a:xfrm rot="0" flipH="0" flipV="0">
            <a:off x="819150" y="5133975"/>
            <a:ext cx="38100" cy="419100"/>
          </a:xfrm>
          <a:prstGeom prst="rect">
            <a:avLst/>
          </a:prstGeom>
          <a:solidFill>
            <a:srgbClr val="276FBF"/>
          </a:solidFill>
          <a:ln/>
        </p:spPr>
        <p:txBody>
          <a:bodyPr/>
          <a:p/>
        </p:txBody>
      </p:sp>
      <p:sp>
        <p:nvSpPr>
          <p:cNvPr id="847" name="" descr="{&quot;isTemplate&quot;:true,&quot;type&quot;:&quot;text&quot;}"/>
          <p:cNvSpPr txBox="1"/>
          <p:nvPr/>
        </p:nvSpPr>
        <p:spPr>
          <a:xfrm rot="0" flipH="0" flipV="0">
            <a:off x="1009650" y="5200650"/>
            <a:ext cx="5334000" cy="285750"/>
          </a:xfrm>
          <a:prstGeom prst="rect"/>
        </p:spPr>
        <p:txBody>
          <a:bodyPr wrap="none" lIns="0" tIns="0" rIns="0" bIns="0"/>
          <a:p>
            <a:pPr>
              <a:lnSpc>
                <a:spcPct val="155000"/>
              </a:lnSpc>
            </a:pPr>
            <a:r>
              <a:rPr lang="zh-CN" sz="1200">
                <a:solidFill>
                  <a:srgbClr val="546779"/>
                </a:solidFill>
                <a:latin typeface="Microsoft YaHei"/>
                <a:ea typeface="Microsoft YaHei"/>
              </a:rPr>
              <a:t>三类混在一起谈，只会得出错误结论；前两类压分，第三类抬分，方向正好相反</a:t>
            </a:r>
            <a:endParaRPr/>
          </a:p>
        </p:txBody>
      </p:sp>
      <p:sp>
        <p:nvSpPr>
          <p:cNvPr id="848"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849"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31 / 36</a:t>
            </a:r>
            <a:endParaRPr/>
          </a:p>
        </p:txBody>
      </p:sp>
    </p:spTree>
  </p:cSld>
</p:sld>
</file>

<file path=ppt/slides/slide32.xml><?xml version="1.0" encoding="utf-8"?>
<p:sld xmlns:p="http://schemas.openxmlformats.org/presentationml/2006/main" xmlns:a="http://schemas.openxmlformats.org/drawingml/2006/main">
  <p:cSld>
    <p:spTree>
      <p:nvGrpSpPr>
        <p:cNvPr id="850" name="" descr="&lt;Slide notes={`Epoch 对 HLE 做过一次审计，方法是随机的：从题集里抽一批题，逐题人工核对题面、参考答案和判分规则。&#10;&#10;结果是，在被抽到的那批题目里，有四成六存在会影响最终成绩的错误。这个比例过了它自己定的触发线，也就是抽样里两成以上有问题就算不合格，因此 HLE 被列进了有问题名单。&#10;&#10;要注意几点。第一，这是抽样，不是全量，更不能说整个基准都坏了。第二，被判有问题不等于没有用，只是引用分数时必须同时说明已知缺陷。第三，发现问题的主要是题面和参考答案本身的瑕疵，不是模型作弊。&#10;&#10;所以正确的说法不是 HLE 不可信，而是它的分数要带保留地读，并且要去看它的审计说明。`}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⑥　1.4.6　错题一：题目本身的缺陷&lt;/Text&gt;&#10;            &lt;Text style={{ fontSize: 34, fontWeight: 'bold', color: '#20344B' }}&gt;HLE：抽查约 46% 有缺陷&lt;/Text&gt;&#10;        &lt;/Box&gt;&#10;    &lt;/Box&gt;&#10;&#10;    &lt;Box style={{ height: 540, flexDirection: 'column', justifyContent: 'center' }}&gt;&#10;&#10;        &lt;Box style={{ flexDirection: 'row', gap: 28, alignItems: 'flex-start' }}&gt;&#10;&#10;            &lt;Box style={{ width: 660, flexDirection: 'column', gap: 14 }}&gt;&#10;&#10;                &lt;Box style={{ width: 660, height: 96, background: '#EDF4FC', borderRadius: 10, padding: '14px 20px', flexDirection: 'row', alignItems: 'center', gap: 16 }}&gt;&#10;                    &lt;Box style={{ width: 4, height: 52, background: '#276FBF' }} /&gt;&#10;                    &lt;Text style={{ width: 140, fontSize: 17, fontWeight: 'bold', color: '#20344B' }}&gt;审计方法&lt;/Text&gt;&#10;                    &lt;Text style={{ width: 444, fontSize: 14, color: '#546779', lineHeight: 1.45 }}&gt;从题集随机抽样，逐题人工核对题面、参考答案与判分规则&lt;/Text&gt;&#10;                &lt;/Box&gt;&#10;&#10;                &lt;Box style={{ width: 660, height: 96, background: '#FFF4E6', borderRadius: 10, padding: '14px 20px', flexDirection: 'row', alignItems: 'center', gap: 16 }}&gt;&#10;                    &lt;Box style={{ width: 4, height: 52, background: '#CB6B28' }} /&gt;&#10;                    &lt;Text style={{ width: 140, fontSize: 17, fontWeight: 'bold', color: '#CB6B28' }}&gt;抽查结果&lt;/Text&gt;&#10;                    &lt;Text style={{ width: 444, fontSize: 14, color: '#CB6B28', lineHeight: 1.45 }}&gt;被抽到的题目里，约 46% 含会影响最终准确率的错误&lt;/Text&gt;&#10;                &lt;/Box&gt;&#10;&#10;                &lt;Box style={{ width: 660, height: 96, background: '#F4F7FA', borderRadius: 10, padding: '14px 20px', flexDirection: 'row', alignItems: 'center', gap: 16 }}&gt;&#10;                    &lt;Box style={{ width: 4, height: 52, background: '#546779' }} /&gt;&#10;                    &lt;Text style={{ width: 140, fontSize: 17, fontWeight: 'bold', color: '#20344B' }}&gt;触发线&lt;/Text&gt;&#10;                    &lt;Text style={{ width: 444, fontSize: 14, color: '#546779', lineHeight: 1.45 }}&gt;抽样中两成以上有问题即判不合格，HLE 因此进入名单&lt;/Text&gt;&#10;                &lt;/Box&gt;&#10;&#10;                &lt;Box style={{ width: 660, height: 96, background: '#F4F7FA', borderRadius: 10, padding: '14px 20px', flexDirection: 'row', alignItems: 'center', gap: 16 }}&gt;&#10;                    &lt;Box style={{ width: 4, height: 52, background: '#546779' }} /&gt;&#10;                    &lt;Text style={{ width: 140, fontSize: 17, fontWeight: 'bold', color: '#20344B' }}&gt;审计时间&lt;/Text&gt;&#10;                    &lt;Text style={{ width: 444, fontSize: 14, color: '#546779', lineHeight: 1.45 }}&gt;2026 年 8 月公布，属于 Epoch 首批 15 个基准审计之一&lt;/Text&gt;&#10;                &lt;/Box&gt;&#10;&#10;            &lt;/Box&gt;&#10;&#10;            &lt;Box style={{ width: 464, height: 410, background: '#F7F3E8', borderRadius: 12, padding: '20px 20px', flexDirection: 'column', gap: 12 }}&gt;&#10;                &lt;Text style={{ fontSize: 18, fontWeight: 'bold', color: '#20344B' }}&gt;这个结论怎么用&lt;/Text&gt;&#10;&#10;                &lt;Box style={{ flexDirection: 'row', gap: 12, alignItems: 'center', background: '#FFFFFF', borderRadius: 8, padding: '12px 14px' }}&gt;&#10;                    &lt;Box style={{ width: 4, height: 52, background: '#276FBF' }} /&gt;&#10;                    &lt;Text style={{ fontSize: 14, color: '#546779', lineHeight: 1.45 }}&gt;这是抽样，不等于全量；不能说整个基准都坏了&lt;/Text&gt;&#10;                &lt;/Box&gt;&#10;&#10;                &lt;Box style={{ flexDirection: 'row', gap: 12, alignItems: 'center', background: '#FFFFFF', borderRadius: 8, padding: '12px 14px' }}&gt;&#10;                    &lt;Box style={{ width: 4, height: 52, background: '#276FBF' }} /&gt;&#10;                    &lt;Text style={{ fontSize: 14, color: '#546779', lineHeight: 1.45 }}&gt;有问题不等于没用，但引用分数时要一并标注缺陷&lt;/Text&gt;&#10;                &lt;/Box&gt;&#10;&#10;                &lt;Box style={{ flexDirection: 'row', gap: 12, alignItems: 'center', background: '#FFF4E6', borderRadius: 8, padding: '12px 14px' }}&gt;&#10;                    &lt;Box style={{ width: 4, height: 52, background: '#CB6B28' }} /&gt;&#10;                    &lt;Text style={{ fontSize: 14, color: '#CB6B28', lineHeight: 1.45 }}&gt;问题多在题面与参考答案，属于测量瑕疵，不是模型作弊&lt;/Text&gt;&#10;                &lt;/Box&gt;&#10;&#10;                &lt;Box style={{ flex: 1 }} /&gt;&#10;                &lt;Text style={{ fontSize: 13, color: '#546779', lineHeight: 1.4 }}&gt;正确表述：HLE 的分数要带保留地读，并去看它的审计说明&lt;/Text&gt;&#10;            &lt;/Box&gt;&#10;&#10;        &lt;/Box&gt;&#10;&#10;    &lt;/Box&gt;&#10;&#10;    &lt;Box style={{ height: 40, flexDirection: 'row', justifyContent: 'space-between', alignItems: 'center' }}&gt;&#10;        &lt;Text style={{ fontSize: 14, color: '#546779' }}&gt;1.4 从榜单到证据&lt;/Text&gt;&#10;        &lt;Text style={{ fontSize: 14, color: '#546779' }}&gt;32 / 36&lt;/Text&gt;&#10;    &lt;/Box&gt;&#10;&#10;&lt;/Slide&gt;&#10;"/>
        <p:cNvGrpSpPr/>
        <p:nvPr/>
      </p:nvGrpSpPr>
      <p:grpSpPr>
        <a:xfrm>
          <a:off x="0" y="0"/>
          <a:ext cx="0" cy="0"/>
          <a:chOff x="0" y="0"/>
          <a:chExt cx="0" cy="0"/>
        </a:xfrm>
      </p:grpSpPr>
      <p:sp>
        <p:nvSpPr>
          <p:cNvPr id="851" name=""/>
          <p:cNvSpPr/>
          <p:nvPr/>
        </p:nvSpPr>
        <p:spPr>
          <a:xfrm rot="0" flipH="0" flipV="0">
            <a:off x="0" y="0"/>
            <a:ext cx="12192000" cy="6858000"/>
          </a:xfrm>
          <a:prstGeom prst="rect">
            <a:avLst/>
          </a:prstGeom>
          <a:solidFill>
            <a:srgbClr val="FFFFFF"/>
          </a:solidFill>
          <a:ln/>
        </p:spPr>
        <p:txBody>
          <a:bodyPr/>
          <a:p/>
        </p:txBody>
      </p:sp>
      <p:sp>
        <p:nvSpPr>
          <p:cNvPr id="852" name=""/>
          <p:cNvSpPr/>
          <p:nvPr/>
        </p:nvSpPr>
        <p:spPr>
          <a:xfrm rot="0" flipH="0" flipV="0">
            <a:off x="609600" y="457200"/>
            <a:ext cx="38100" cy="419100"/>
          </a:xfrm>
          <a:prstGeom prst="rect">
            <a:avLst/>
          </a:prstGeom>
          <a:solidFill>
            <a:srgbClr val="276FBF"/>
          </a:solidFill>
          <a:ln/>
        </p:spPr>
        <p:txBody>
          <a:bodyPr/>
          <a:p/>
        </p:txBody>
      </p:sp>
      <p:sp>
        <p:nvSpPr>
          <p:cNvPr id="853" name="" descr="{&quot;isTemplate&quot;:true,&quot;type&quot;:&quot;text&quot;}"/>
          <p:cNvSpPr txBox="1"/>
          <p:nvPr/>
        </p:nvSpPr>
        <p:spPr>
          <a:xfrm rot="0" flipH="0" flipV="0">
            <a:off x="838200" y="371475"/>
            <a:ext cx="3790950" cy="161925"/>
          </a:xfrm>
          <a:prstGeom prst="rect"/>
        </p:spPr>
        <p:txBody>
          <a:bodyPr wrap="none" lIns="0" tIns="0" rIns="0" bIns="0"/>
          <a:p>
            <a:pPr>
              <a:lnSpc>
                <a:spcPct val="100000"/>
              </a:lnSpc>
            </a:pPr>
            <a:r>
              <a:rPr lang="zh-CN" sz="1050">
                <a:solidFill>
                  <a:srgbClr val="546779"/>
                </a:solidFill>
                <a:latin typeface="Microsoft YaHei"/>
                <a:ea typeface="Microsoft YaHei"/>
              </a:rPr>
              <a:t>⑥　</a:t>
            </a:r>
            <a:r>
              <a:rPr lang="en-US" sz="1050">
                <a:solidFill>
                  <a:srgbClr val="546779"/>
                </a:solidFill>
                <a:latin typeface="Microsoft YaHei"/>
                <a:ea typeface="Microsoft YaHei"/>
              </a:rPr>
              <a:t>1.4.6</a:t>
            </a:r>
            <a:r>
              <a:rPr lang="zh-CN" sz="1050">
                <a:solidFill>
                  <a:srgbClr val="546779"/>
                </a:solidFill>
                <a:latin typeface="Microsoft YaHei"/>
                <a:ea typeface="Microsoft YaHei"/>
              </a:rPr>
              <a:t>　错题一：题目本身的缺陷</a:t>
            </a:r>
            <a:endParaRPr/>
          </a:p>
        </p:txBody>
      </p:sp>
      <p:sp>
        <p:nvSpPr>
          <p:cNvPr id="854" name="" descr="{&quot;isTemplate&quot;:true,&quot;type&quot;:&quot;text&quot;}"/>
          <p:cNvSpPr txBox="1"/>
          <p:nvPr/>
        </p:nvSpPr>
        <p:spPr>
          <a:xfrm rot="0" flipH="0" flipV="0">
            <a:off x="838200" y="571500"/>
            <a:ext cx="3790950" cy="390525"/>
          </a:xfrm>
          <a:prstGeom prst="rect"/>
        </p:spPr>
        <p:txBody>
          <a:bodyPr wrap="none" lIns="0" tIns="0" rIns="0" bIns="0"/>
          <a:p>
            <a:pPr>
              <a:lnSpc>
                <a:spcPct val="100000"/>
              </a:lnSpc>
            </a:pPr>
            <a:r>
              <a:rPr lang="en-US" sz="2550" b="1">
                <a:solidFill>
                  <a:srgbClr val="20344B"/>
                </a:solidFill>
                <a:latin typeface="Microsoft YaHei"/>
                <a:ea typeface="Microsoft YaHei"/>
              </a:rPr>
              <a:t>HLE</a:t>
            </a:r>
            <a:r>
              <a:rPr lang="zh-CN" sz="2550" b="1">
                <a:solidFill>
                  <a:srgbClr val="20344B"/>
                </a:solidFill>
                <a:latin typeface="Microsoft YaHei"/>
                <a:ea typeface="Microsoft YaHei"/>
              </a:rPr>
              <a:t>：抽查约</a:t>
            </a:r>
            <a:r>
              <a:rPr lang="en-US" sz="2550" b="1">
                <a:solidFill>
                  <a:srgbClr val="20344B"/>
                </a:solidFill>
                <a:latin typeface="Microsoft YaHei"/>
                <a:ea typeface="Microsoft YaHei"/>
              </a:rPr>
              <a:t xml:space="preserve"> 46% </a:t>
            </a:r>
            <a:r>
              <a:rPr lang="zh-CN" sz="2550" b="1">
                <a:solidFill>
                  <a:srgbClr val="20344B"/>
                </a:solidFill>
                <a:latin typeface="Microsoft YaHei"/>
                <a:ea typeface="Microsoft YaHei"/>
              </a:rPr>
              <a:t>有缺陷</a:t>
            </a:r>
            <a:endParaRPr/>
          </a:p>
        </p:txBody>
      </p:sp>
      <p:sp>
        <p:nvSpPr>
          <p:cNvPr id="855" name=""/>
          <p:cNvSpPr/>
          <p:nvPr/>
        </p:nvSpPr>
        <p:spPr>
          <a:xfrm rot="0" flipH="0" flipV="0">
            <a:off x="609600" y="1685925"/>
            <a:ext cx="6286500" cy="914400"/>
          </a:xfrm>
          <a:prstGeom prst="roundRect">
            <a:avLst>
              <a:gd name="adj" fmla="val 10417"/>
            </a:avLst>
          </a:prstGeom>
          <a:solidFill>
            <a:srgbClr val="EDF4FC"/>
          </a:solidFill>
          <a:ln/>
        </p:spPr>
        <p:txBody>
          <a:bodyPr/>
          <a:p/>
        </p:txBody>
      </p:sp>
      <p:sp>
        <p:nvSpPr>
          <p:cNvPr id="856" name=""/>
          <p:cNvSpPr/>
          <p:nvPr/>
        </p:nvSpPr>
        <p:spPr>
          <a:xfrm rot="0" flipH="0" flipV="0">
            <a:off x="800100" y="1895475"/>
            <a:ext cx="38100" cy="495300"/>
          </a:xfrm>
          <a:prstGeom prst="rect">
            <a:avLst/>
          </a:prstGeom>
          <a:solidFill>
            <a:srgbClr val="276FBF"/>
          </a:solidFill>
          <a:ln/>
        </p:spPr>
        <p:txBody>
          <a:bodyPr/>
          <a:p/>
        </p:txBody>
      </p:sp>
      <p:sp>
        <p:nvSpPr>
          <p:cNvPr id="857" name="" descr="{&quot;isTemplate&quot;:true,&quot;type&quot;:&quot;text&quot;}"/>
          <p:cNvSpPr txBox="1"/>
          <p:nvPr/>
        </p:nvSpPr>
        <p:spPr>
          <a:xfrm rot="0" flipH="0" flipV="0">
            <a:off x="990600" y="2047875"/>
            <a:ext cx="1333500" cy="200025"/>
          </a:xfrm>
          <a:prstGeom prst="rect"/>
        </p:spPr>
        <p:txBody>
          <a:bodyPr wrap="none" lIns="0" tIns="0" rIns="0" bIns="0"/>
          <a:p>
            <a:pPr>
              <a:lnSpc>
                <a:spcPct val="100000"/>
              </a:lnSpc>
            </a:pPr>
            <a:r>
              <a:rPr lang="zh-CN" sz="1275" b="1">
                <a:solidFill>
                  <a:srgbClr val="20344B"/>
                </a:solidFill>
                <a:latin typeface="Microsoft YaHei"/>
                <a:ea typeface="Microsoft YaHei"/>
              </a:rPr>
              <a:t>审计方法</a:t>
            </a:r>
            <a:endParaRPr/>
          </a:p>
        </p:txBody>
      </p:sp>
      <p:sp>
        <p:nvSpPr>
          <p:cNvPr id="858" name="" descr="{&quot;isTemplate&quot;:true,&quot;type&quot;:&quot;text&quot;}"/>
          <p:cNvSpPr txBox="1"/>
          <p:nvPr/>
        </p:nvSpPr>
        <p:spPr>
          <a:xfrm rot="0" flipH="0" flipV="0">
            <a:off x="2476500" y="2028825"/>
            <a:ext cx="4229100" cy="238125"/>
          </a:xfrm>
          <a:prstGeom prst="rect"/>
        </p:spPr>
        <p:txBody>
          <a:bodyPr wrap="none" lIns="0" tIns="0" rIns="0" bIns="0"/>
          <a:p>
            <a:pPr>
              <a:lnSpc>
                <a:spcPct val="145000"/>
              </a:lnSpc>
            </a:pPr>
            <a:r>
              <a:rPr lang="zh-CN" sz="1050">
                <a:solidFill>
                  <a:srgbClr val="546779"/>
                </a:solidFill>
                <a:latin typeface="Microsoft YaHei"/>
                <a:ea typeface="Microsoft YaHei"/>
              </a:rPr>
              <a:t>从题集随机抽样，逐题人工核对题面、参考答案与判分规则</a:t>
            </a:r>
            <a:endParaRPr/>
          </a:p>
        </p:txBody>
      </p:sp>
      <p:sp>
        <p:nvSpPr>
          <p:cNvPr id="859" name=""/>
          <p:cNvSpPr/>
          <p:nvPr/>
        </p:nvSpPr>
        <p:spPr>
          <a:xfrm rot="0" flipH="0" flipV="0">
            <a:off x="609600" y="2733675"/>
            <a:ext cx="6286500" cy="914400"/>
          </a:xfrm>
          <a:prstGeom prst="roundRect">
            <a:avLst>
              <a:gd name="adj" fmla="val 10417"/>
            </a:avLst>
          </a:prstGeom>
          <a:solidFill>
            <a:srgbClr val="FFF4E6"/>
          </a:solidFill>
          <a:ln/>
        </p:spPr>
        <p:txBody>
          <a:bodyPr/>
          <a:p/>
        </p:txBody>
      </p:sp>
      <p:sp>
        <p:nvSpPr>
          <p:cNvPr id="860" name=""/>
          <p:cNvSpPr/>
          <p:nvPr/>
        </p:nvSpPr>
        <p:spPr>
          <a:xfrm rot="0" flipH="0" flipV="0">
            <a:off x="800100" y="2943225"/>
            <a:ext cx="38100" cy="495300"/>
          </a:xfrm>
          <a:prstGeom prst="rect">
            <a:avLst/>
          </a:prstGeom>
          <a:solidFill>
            <a:srgbClr val="CB6B28"/>
          </a:solidFill>
          <a:ln/>
        </p:spPr>
        <p:txBody>
          <a:bodyPr/>
          <a:p/>
        </p:txBody>
      </p:sp>
      <p:sp>
        <p:nvSpPr>
          <p:cNvPr id="861" name="" descr="{&quot;isTemplate&quot;:true,&quot;type&quot;:&quot;text&quot;}"/>
          <p:cNvSpPr txBox="1"/>
          <p:nvPr/>
        </p:nvSpPr>
        <p:spPr>
          <a:xfrm rot="0" flipH="0" flipV="0">
            <a:off x="990600" y="3095625"/>
            <a:ext cx="1333500" cy="200025"/>
          </a:xfrm>
          <a:prstGeom prst="rect"/>
        </p:spPr>
        <p:txBody>
          <a:bodyPr wrap="none" lIns="0" tIns="0" rIns="0" bIns="0"/>
          <a:p>
            <a:pPr>
              <a:lnSpc>
                <a:spcPct val="100000"/>
              </a:lnSpc>
            </a:pPr>
            <a:r>
              <a:rPr lang="zh-CN" sz="1275" b="1">
                <a:solidFill>
                  <a:srgbClr val="CB6B28"/>
                </a:solidFill>
                <a:latin typeface="Microsoft YaHei"/>
                <a:ea typeface="Microsoft YaHei"/>
              </a:rPr>
              <a:t>抽查结果</a:t>
            </a:r>
            <a:endParaRPr/>
          </a:p>
        </p:txBody>
      </p:sp>
      <p:sp>
        <p:nvSpPr>
          <p:cNvPr id="862" name="" descr="{&quot;isTemplate&quot;:true,&quot;type&quot;:&quot;text&quot;}"/>
          <p:cNvSpPr txBox="1"/>
          <p:nvPr/>
        </p:nvSpPr>
        <p:spPr>
          <a:xfrm rot="0" flipH="0" flipV="0">
            <a:off x="2476500" y="3076575"/>
            <a:ext cx="4229100" cy="238125"/>
          </a:xfrm>
          <a:prstGeom prst="rect"/>
        </p:spPr>
        <p:txBody>
          <a:bodyPr wrap="none" lIns="0" tIns="0" rIns="0" bIns="0"/>
          <a:p>
            <a:pPr>
              <a:lnSpc>
                <a:spcPct val="145000"/>
              </a:lnSpc>
            </a:pPr>
            <a:r>
              <a:rPr lang="zh-CN" sz="1050">
                <a:solidFill>
                  <a:srgbClr val="CB6B28"/>
                </a:solidFill>
                <a:latin typeface="Microsoft YaHei"/>
                <a:ea typeface="Microsoft YaHei"/>
              </a:rPr>
              <a:t>被抽到的题目里，约</a:t>
            </a:r>
            <a:r>
              <a:rPr lang="en-US" sz="1050">
                <a:solidFill>
                  <a:srgbClr val="CB6B28"/>
                </a:solidFill>
                <a:latin typeface="Microsoft YaHei"/>
                <a:ea typeface="Microsoft YaHei"/>
              </a:rPr>
              <a:t xml:space="preserve"> 46% </a:t>
            </a:r>
            <a:r>
              <a:rPr lang="zh-CN" sz="1050">
                <a:solidFill>
                  <a:srgbClr val="CB6B28"/>
                </a:solidFill>
                <a:latin typeface="Microsoft YaHei"/>
                <a:ea typeface="Microsoft YaHei"/>
              </a:rPr>
              <a:t>含会影响最终准确率的错误</a:t>
            </a:r>
            <a:endParaRPr/>
          </a:p>
        </p:txBody>
      </p:sp>
      <p:sp>
        <p:nvSpPr>
          <p:cNvPr id="863" name=""/>
          <p:cNvSpPr/>
          <p:nvPr/>
        </p:nvSpPr>
        <p:spPr>
          <a:xfrm rot="0" flipH="0" flipV="0">
            <a:off x="609600" y="3781425"/>
            <a:ext cx="6286500" cy="914400"/>
          </a:xfrm>
          <a:prstGeom prst="roundRect">
            <a:avLst>
              <a:gd name="adj" fmla="val 10417"/>
            </a:avLst>
          </a:prstGeom>
          <a:solidFill>
            <a:srgbClr val="F4F7FA"/>
          </a:solidFill>
          <a:ln/>
        </p:spPr>
        <p:txBody>
          <a:bodyPr/>
          <a:p/>
        </p:txBody>
      </p:sp>
      <p:sp>
        <p:nvSpPr>
          <p:cNvPr id="864" name=""/>
          <p:cNvSpPr/>
          <p:nvPr/>
        </p:nvSpPr>
        <p:spPr>
          <a:xfrm rot="0" flipH="0" flipV="0">
            <a:off x="800100" y="3990975"/>
            <a:ext cx="38100" cy="495300"/>
          </a:xfrm>
          <a:prstGeom prst="rect">
            <a:avLst/>
          </a:prstGeom>
          <a:solidFill>
            <a:srgbClr val="546779"/>
          </a:solidFill>
          <a:ln/>
        </p:spPr>
        <p:txBody>
          <a:bodyPr/>
          <a:p/>
        </p:txBody>
      </p:sp>
      <p:sp>
        <p:nvSpPr>
          <p:cNvPr id="865" name="" descr="{&quot;isTemplate&quot;:true,&quot;type&quot;:&quot;text&quot;}"/>
          <p:cNvSpPr txBox="1"/>
          <p:nvPr/>
        </p:nvSpPr>
        <p:spPr>
          <a:xfrm rot="0" flipH="0" flipV="0">
            <a:off x="990600" y="4143375"/>
            <a:ext cx="1333500" cy="200025"/>
          </a:xfrm>
          <a:prstGeom prst="rect"/>
        </p:spPr>
        <p:txBody>
          <a:bodyPr wrap="none" lIns="0" tIns="0" rIns="0" bIns="0"/>
          <a:p>
            <a:pPr>
              <a:lnSpc>
                <a:spcPct val="100000"/>
              </a:lnSpc>
            </a:pPr>
            <a:r>
              <a:rPr lang="zh-CN" sz="1275" b="1">
                <a:solidFill>
                  <a:srgbClr val="20344B"/>
                </a:solidFill>
                <a:latin typeface="Microsoft YaHei"/>
                <a:ea typeface="Microsoft YaHei"/>
              </a:rPr>
              <a:t>触发线</a:t>
            </a:r>
            <a:endParaRPr/>
          </a:p>
        </p:txBody>
      </p:sp>
      <p:sp>
        <p:nvSpPr>
          <p:cNvPr id="866" name="" descr="{&quot;isTemplate&quot;:true,&quot;type&quot;:&quot;text&quot;}"/>
          <p:cNvSpPr txBox="1"/>
          <p:nvPr/>
        </p:nvSpPr>
        <p:spPr>
          <a:xfrm rot="0" flipH="0" flipV="0">
            <a:off x="2476500" y="4124325"/>
            <a:ext cx="4229100" cy="238125"/>
          </a:xfrm>
          <a:prstGeom prst="rect"/>
        </p:spPr>
        <p:txBody>
          <a:bodyPr wrap="none" lIns="0" tIns="0" rIns="0" bIns="0"/>
          <a:p>
            <a:pPr>
              <a:lnSpc>
                <a:spcPct val="145000"/>
              </a:lnSpc>
            </a:pPr>
            <a:r>
              <a:rPr lang="zh-CN" sz="1050">
                <a:solidFill>
                  <a:srgbClr val="546779"/>
                </a:solidFill>
                <a:latin typeface="Microsoft YaHei"/>
                <a:ea typeface="Microsoft YaHei"/>
              </a:rPr>
              <a:t>抽样中两成以上有问题即判不合格，</a:t>
            </a:r>
            <a:r>
              <a:rPr lang="en-US" sz="1050">
                <a:solidFill>
                  <a:srgbClr val="546779"/>
                </a:solidFill>
                <a:latin typeface="Microsoft YaHei"/>
                <a:ea typeface="Microsoft YaHei"/>
              </a:rPr>
              <a:t xml:space="preserve">HLE </a:t>
            </a:r>
            <a:r>
              <a:rPr lang="zh-CN" sz="1050">
                <a:solidFill>
                  <a:srgbClr val="546779"/>
                </a:solidFill>
                <a:latin typeface="Microsoft YaHei"/>
                <a:ea typeface="Microsoft YaHei"/>
              </a:rPr>
              <a:t>因此进入名单</a:t>
            </a:r>
            <a:endParaRPr/>
          </a:p>
        </p:txBody>
      </p:sp>
      <p:sp>
        <p:nvSpPr>
          <p:cNvPr id="867" name=""/>
          <p:cNvSpPr/>
          <p:nvPr/>
        </p:nvSpPr>
        <p:spPr>
          <a:xfrm rot="0" flipH="0" flipV="0">
            <a:off x="609600" y="4829175"/>
            <a:ext cx="6286500" cy="914400"/>
          </a:xfrm>
          <a:prstGeom prst="roundRect">
            <a:avLst>
              <a:gd name="adj" fmla="val 10417"/>
            </a:avLst>
          </a:prstGeom>
          <a:solidFill>
            <a:srgbClr val="F4F7FA"/>
          </a:solidFill>
          <a:ln/>
        </p:spPr>
        <p:txBody>
          <a:bodyPr/>
          <a:p/>
        </p:txBody>
      </p:sp>
      <p:sp>
        <p:nvSpPr>
          <p:cNvPr id="868" name=""/>
          <p:cNvSpPr/>
          <p:nvPr/>
        </p:nvSpPr>
        <p:spPr>
          <a:xfrm rot="0" flipH="0" flipV="0">
            <a:off x="800100" y="5038725"/>
            <a:ext cx="38100" cy="495300"/>
          </a:xfrm>
          <a:prstGeom prst="rect">
            <a:avLst/>
          </a:prstGeom>
          <a:solidFill>
            <a:srgbClr val="546779"/>
          </a:solidFill>
          <a:ln/>
        </p:spPr>
        <p:txBody>
          <a:bodyPr/>
          <a:p/>
        </p:txBody>
      </p:sp>
      <p:sp>
        <p:nvSpPr>
          <p:cNvPr id="869" name="" descr="{&quot;isTemplate&quot;:true,&quot;type&quot;:&quot;text&quot;}"/>
          <p:cNvSpPr txBox="1"/>
          <p:nvPr/>
        </p:nvSpPr>
        <p:spPr>
          <a:xfrm rot="0" flipH="0" flipV="0">
            <a:off x="990600" y="5191125"/>
            <a:ext cx="1333500" cy="200025"/>
          </a:xfrm>
          <a:prstGeom prst="rect"/>
        </p:spPr>
        <p:txBody>
          <a:bodyPr wrap="none" lIns="0" tIns="0" rIns="0" bIns="0"/>
          <a:p>
            <a:pPr>
              <a:lnSpc>
                <a:spcPct val="100000"/>
              </a:lnSpc>
            </a:pPr>
            <a:r>
              <a:rPr lang="zh-CN" sz="1275" b="1">
                <a:solidFill>
                  <a:srgbClr val="20344B"/>
                </a:solidFill>
                <a:latin typeface="Microsoft YaHei"/>
                <a:ea typeface="Microsoft YaHei"/>
              </a:rPr>
              <a:t>审计时间</a:t>
            </a:r>
            <a:endParaRPr/>
          </a:p>
        </p:txBody>
      </p:sp>
      <p:sp>
        <p:nvSpPr>
          <p:cNvPr id="870" name="" descr="{&quot;isTemplate&quot;:true,&quot;type&quot;:&quot;text&quot;}"/>
          <p:cNvSpPr txBox="1"/>
          <p:nvPr/>
        </p:nvSpPr>
        <p:spPr>
          <a:xfrm rot="0" flipH="0" flipV="0">
            <a:off x="2476500" y="5172075"/>
            <a:ext cx="4229100" cy="238125"/>
          </a:xfrm>
          <a:prstGeom prst="rect"/>
        </p:spPr>
        <p:txBody>
          <a:bodyPr wrap="none" lIns="0" tIns="0" rIns="0" bIns="0"/>
          <a:p>
            <a:pPr>
              <a:lnSpc>
                <a:spcPct val="145000"/>
              </a:lnSpc>
            </a:pPr>
            <a:r>
              <a:rPr lang="en-US" sz="1050">
                <a:solidFill>
                  <a:srgbClr val="546779"/>
                </a:solidFill>
                <a:latin typeface="Microsoft YaHei"/>
                <a:ea typeface="Microsoft YaHei"/>
              </a:rPr>
              <a:t xml:space="preserve">2026 </a:t>
            </a:r>
            <a:r>
              <a:rPr lang="zh-CN" sz="1050">
                <a:solidFill>
                  <a:srgbClr val="546779"/>
                </a:solidFill>
                <a:latin typeface="Microsoft YaHei"/>
                <a:ea typeface="Microsoft YaHei"/>
              </a:rPr>
              <a:t>年</a:t>
            </a:r>
            <a:r>
              <a:rPr lang="en-US" sz="1050">
                <a:solidFill>
                  <a:srgbClr val="546779"/>
                </a:solidFill>
                <a:latin typeface="Microsoft YaHei"/>
                <a:ea typeface="Microsoft YaHei"/>
              </a:rPr>
              <a:t xml:space="preserve"> 8 </a:t>
            </a:r>
            <a:r>
              <a:rPr lang="zh-CN" sz="1050">
                <a:solidFill>
                  <a:srgbClr val="546779"/>
                </a:solidFill>
                <a:latin typeface="Microsoft YaHei"/>
                <a:ea typeface="Microsoft YaHei"/>
              </a:rPr>
              <a:t>月公布，属于</a:t>
            </a:r>
            <a:r>
              <a:rPr lang="en-US" sz="1050">
                <a:solidFill>
                  <a:srgbClr val="546779"/>
                </a:solidFill>
                <a:latin typeface="Microsoft YaHei"/>
                <a:ea typeface="Microsoft YaHei"/>
              </a:rPr>
              <a:t xml:space="preserve"> Epoch </a:t>
            </a:r>
            <a:r>
              <a:rPr lang="zh-CN" sz="1050">
                <a:solidFill>
                  <a:srgbClr val="546779"/>
                </a:solidFill>
                <a:latin typeface="Microsoft YaHei"/>
                <a:ea typeface="Microsoft YaHei"/>
              </a:rPr>
              <a:t>首批</a:t>
            </a:r>
            <a:r>
              <a:rPr lang="en-US" sz="1050">
                <a:solidFill>
                  <a:srgbClr val="546779"/>
                </a:solidFill>
                <a:latin typeface="Microsoft YaHei"/>
                <a:ea typeface="Microsoft YaHei"/>
              </a:rPr>
              <a:t xml:space="preserve"> 15 </a:t>
            </a:r>
            <a:r>
              <a:rPr lang="zh-CN" sz="1050">
                <a:solidFill>
                  <a:srgbClr val="546779"/>
                </a:solidFill>
                <a:latin typeface="Microsoft YaHei"/>
                <a:ea typeface="Microsoft YaHei"/>
              </a:rPr>
              <a:t>个基准审计之一</a:t>
            </a:r>
            <a:endParaRPr/>
          </a:p>
        </p:txBody>
      </p:sp>
      <p:sp>
        <p:nvSpPr>
          <p:cNvPr id="871" name=""/>
          <p:cNvSpPr/>
          <p:nvPr/>
        </p:nvSpPr>
        <p:spPr>
          <a:xfrm rot="0" flipH="0" flipV="0">
            <a:off x="7162800" y="1685925"/>
            <a:ext cx="4419600" cy="3905250"/>
          </a:xfrm>
          <a:prstGeom prst="roundRect">
            <a:avLst>
              <a:gd name="adj" fmla="val 2927"/>
            </a:avLst>
          </a:prstGeom>
          <a:solidFill>
            <a:srgbClr val="F7F3E8"/>
          </a:solidFill>
          <a:ln/>
        </p:spPr>
        <p:txBody>
          <a:bodyPr/>
          <a:p/>
        </p:txBody>
      </p:sp>
      <p:sp>
        <p:nvSpPr>
          <p:cNvPr id="872" name="" descr="{&quot;isTemplate&quot;:true,&quot;type&quot;:&quot;text&quot;}"/>
          <p:cNvSpPr txBox="1"/>
          <p:nvPr/>
        </p:nvSpPr>
        <p:spPr>
          <a:xfrm rot="0" flipH="0" flipV="0">
            <a:off x="7353300" y="1876425"/>
            <a:ext cx="4038600" cy="209550"/>
          </a:xfrm>
          <a:prstGeom prst="rect"/>
        </p:spPr>
        <p:txBody>
          <a:bodyPr wrap="none" lIns="0" tIns="0" rIns="0" bIns="0"/>
          <a:p>
            <a:pPr>
              <a:lnSpc>
                <a:spcPct val="100000"/>
              </a:lnSpc>
            </a:pPr>
            <a:r>
              <a:rPr lang="zh-CN" sz="1350" b="1">
                <a:solidFill>
                  <a:srgbClr val="20344B"/>
                </a:solidFill>
                <a:latin typeface="Microsoft YaHei"/>
                <a:ea typeface="Microsoft YaHei"/>
              </a:rPr>
              <a:t>这个结论怎么用</a:t>
            </a:r>
            <a:endParaRPr/>
          </a:p>
        </p:txBody>
      </p:sp>
      <p:sp>
        <p:nvSpPr>
          <p:cNvPr id="873" name=""/>
          <p:cNvSpPr/>
          <p:nvPr/>
        </p:nvSpPr>
        <p:spPr>
          <a:xfrm rot="0" flipH="0" flipV="0">
            <a:off x="7353300" y="2200275"/>
            <a:ext cx="4038600" cy="723900"/>
          </a:xfrm>
          <a:prstGeom prst="roundRect">
            <a:avLst>
              <a:gd name="adj" fmla="val 10526"/>
            </a:avLst>
          </a:prstGeom>
          <a:solidFill>
            <a:srgbClr val="FFFFFF"/>
          </a:solidFill>
          <a:ln/>
        </p:spPr>
        <p:txBody>
          <a:bodyPr/>
          <a:p/>
        </p:txBody>
      </p:sp>
      <p:sp>
        <p:nvSpPr>
          <p:cNvPr id="874" name=""/>
          <p:cNvSpPr/>
          <p:nvPr/>
        </p:nvSpPr>
        <p:spPr>
          <a:xfrm rot="0" flipH="0" flipV="0">
            <a:off x="7486650" y="2314575"/>
            <a:ext cx="38100" cy="495300"/>
          </a:xfrm>
          <a:prstGeom prst="rect">
            <a:avLst/>
          </a:prstGeom>
          <a:solidFill>
            <a:srgbClr val="276FBF"/>
          </a:solidFill>
          <a:ln/>
        </p:spPr>
        <p:txBody>
          <a:bodyPr/>
          <a:p/>
        </p:txBody>
      </p:sp>
      <p:sp>
        <p:nvSpPr>
          <p:cNvPr id="875" name="" descr="{&quot;isTemplate&quot;:true,&quot;type&quot;:&quot;text&quot;}"/>
          <p:cNvSpPr txBox="1"/>
          <p:nvPr/>
        </p:nvSpPr>
        <p:spPr>
          <a:xfrm rot="0" flipH="0" flipV="0">
            <a:off x="7639050" y="2447925"/>
            <a:ext cx="2800350" cy="238125"/>
          </a:xfrm>
          <a:prstGeom prst="rect"/>
        </p:spPr>
        <p:txBody>
          <a:bodyPr wrap="none" lIns="0" tIns="0" rIns="0" bIns="0"/>
          <a:p>
            <a:pPr>
              <a:lnSpc>
                <a:spcPct val="145000"/>
              </a:lnSpc>
            </a:pPr>
            <a:r>
              <a:rPr lang="zh-CN" sz="1050">
                <a:solidFill>
                  <a:srgbClr val="546779"/>
                </a:solidFill>
                <a:latin typeface="Microsoft YaHei"/>
                <a:ea typeface="Microsoft YaHei"/>
              </a:rPr>
              <a:t>这是抽样，不等于全量；不能说整个基准都坏了</a:t>
            </a:r>
            <a:endParaRPr/>
          </a:p>
        </p:txBody>
      </p:sp>
      <p:sp>
        <p:nvSpPr>
          <p:cNvPr id="876" name=""/>
          <p:cNvSpPr/>
          <p:nvPr/>
        </p:nvSpPr>
        <p:spPr>
          <a:xfrm rot="0" flipH="0" flipV="0">
            <a:off x="7353300" y="3038475"/>
            <a:ext cx="4038600" cy="723900"/>
          </a:xfrm>
          <a:prstGeom prst="roundRect">
            <a:avLst>
              <a:gd name="adj" fmla="val 10526"/>
            </a:avLst>
          </a:prstGeom>
          <a:solidFill>
            <a:srgbClr val="FFFFFF"/>
          </a:solidFill>
          <a:ln/>
        </p:spPr>
        <p:txBody>
          <a:bodyPr/>
          <a:p/>
        </p:txBody>
      </p:sp>
      <p:sp>
        <p:nvSpPr>
          <p:cNvPr id="877" name=""/>
          <p:cNvSpPr/>
          <p:nvPr/>
        </p:nvSpPr>
        <p:spPr>
          <a:xfrm rot="0" flipH="0" flipV="0">
            <a:off x="7486650" y="3152775"/>
            <a:ext cx="38100" cy="495300"/>
          </a:xfrm>
          <a:prstGeom prst="rect">
            <a:avLst/>
          </a:prstGeom>
          <a:solidFill>
            <a:srgbClr val="276FBF"/>
          </a:solidFill>
          <a:ln/>
        </p:spPr>
        <p:txBody>
          <a:bodyPr/>
          <a:p/>
        </p:txBody>
      </p:sp>
      <p:sp>
        <p:nvSpPr>
          <p:cNvPr id="878" name="" descr="{&quot;isTemplate&quot;:true,&quot;type&quot;:&quot;text&quot;}"/>
          <p:cNvSpPr txBox="1"/>
          <p:nvPr/>
        </p:nvSpPr>
        <p:spPr>
          <a:xfrm rot="0" flipH="0" flipV="0">
            <a:off x="7639050" y="3286125"/>
            <a:ext cx="2933700" cy="238125"/>
          </a:xfrm>
          <a:prstGeom prst="rect"/>
        </p:spPr>
        <p:txBody>
          <a:bodyPr wrap="none" lIns="0" tIns="0" rIns="0" bIns="0"/>
          <a:p>
            <a:pPr>
              <a:lnSpc>
                <a:spcPct val="145000"/>
              </a:lnSpc>
            </a:pPr>
            <a:r>
              <a:rPr lang="zh-CN" sz="1050">
                <a:solidFill>
                  <a:srgbClr val="546779"/>
                </a:solidFill>
                <a:latin typeface="Microsoft YaHei"/>
                <a:ea typeface="Microsoft YaHei"/>
              </a:rPr>
              <a:t>有问题不等于没用，但引用分数时要一并标注缺陷</a:t>
            </a:r>
            <a:endParaRPr/>
          </a:p>
        </p:txBody>
      </p:sp>
      <p:sp>
        <p:nvSpPr>
          <p:cNvPr id="879" name=""/>
          <p:cNvSpPr/>
          <p:nvPr/>
        </p:nvSpPr>
        <p:spPr>
          <a:xfrm rot="0" flipH="0" flipV="0">
            <a:off x="7353300" y="3876675"/>
            <a:ext cx="4038600" cy="723900"/>
          </a:xfrm>
          <a:prstGeom prst="roundRect">
            <a:avLst>
              <a:gd name="adj" fmla="val 10526"/>
            </a:avLst>
          </a:prstGeom>
          <a:solidFill>
            <a:srgbClr val="FFF4E6"/>
          </a:solidFill>
          <a:ln/>
        </p:spPr>
        <p:txBody>
          <a:bodyPr/>
          <a:p/>
        </p:txBody>
      </p:sp>
      <p:sp>
        <p:nvSpPr>
          <p:cNvPr id="880" name=""/>
          <p:cNvSpPr/>
          <p:nvPr/>
        </p:nvSpPr>
        <p:spPr>
          <a:xfrm rot="0" flipH="0" flipV="0">
            <a:off x="7486650" y="3990975"/>
            <a:ext cx="38100" cy="495300"/>
          </a:xfrm>
          <a:prstGeom prst="rect">
            <a:avLst/>
          </a:prstGeom>
          <a:solidFill>
            <a:srgbClr val="CB6B28"/>
          </a:solidFill>
          <a:ln/>
        </p:spPr>
        <p:txBody>
          <a:bodyPr/>
          <a:p/>
        </p:txBody>
      </p:sp>
      <p:sp>
        <p:nvSpPr>
          <p:cNvPr id="881" name="" descr="{&quot;isTemplate&quot;:true,&quot;type&quot;:&quot;text&quot;}"/>
          <p:cNvSpPr txBox="1"/>
          <p:nvPr/>
        </p:nvSpPr>
        <p:spPr>
          <a:xfrm rot="0" flipH="0" flipV="0">
            <a:off x="7639050" y="4124325"/>
            <a:ext cx="3333750" cy="238125"/>
          </a:xfrm>
          <a:prstGeom prst="rect"/>
        </p:spPr>
        <p:txBody>
          <a:bodyPr wrap="none" lIns="0" tIns="0" rIns="0" bIns="0"/>
          <a:p>
            <a:pPr>
              <a:lnSpc>
                <a:spcPct val="145000"/>
              </a:lnSpc>
            </a:pPr>
            <a:r>
              <a:rPr lang="zh-CN" sz="1050">
                <a:solidFill>
                  <a:srgbClr val="CB6B28"/>
                </a:solidFill>
                <a:latin typeface="Microsoft YaHei"/>
                <a:ea typeface="Microsoft YaHei"/>
              </a:rPr>
              <a:t>问题多在题面与参考答案，属于测量瑕疵，不是模型作弊</a:t>
            </a:r>
            <a:endParaRPr/>
          </a:p>
        </p:txBody>
      </p:sp>
      <p:sp>
        <p:nvSpPr>
          <p:cNvPr id="882" name="" descr="{&quot;isTemplate&quot;:true,&quot;type&quot;:&quot;text&quot;}"/>
          <p:cNvSpPr txBox="1"/>
          <p:nvPr/>
        </p:nvSpPr>
        <p:spPr>
          <a:xfrm rot="0" flipH="0" flipV="0">
            <a:off x="7353300" y="5191125"/>
            <a:ext cx="4038600" cy="209550"/>
          </a:xfrm>
          <a:prstGeom prst="rect"/>
        </p:spPr>
        <p:txBody>
          <a:bodyPr wrap="none" lIns="0" tIns="0" rIns="0" bIns="0"/>
          <a:p>
            <a:pPr>
              <a:lnSpc>
                <a:spcPct val="140000"/>
              </a:lnSpc>
            </a:pPr>
            <a:r>
              <a:rPr lang="zh-CN" sz="975">
                <a:solidFill>
                  <a:srgbClr val="546779"/>
                </a:solidFill>
                <a:latin typeface="Microsoft YaHei"/>
                <a:ea typeface="Microsoft YaHei"/>
              </a:rPr>
              <a:t>正确表述：</a:t>
            </a:r>
            <a:r>
              <a:rPr lang="en-US" sz="975">
                <a:solidFill>
                  <a:srgbClr val="546779"/>
                </a:solidFill>
                <a:latin typeface="Microsoft YaHei"/>
                <a:ea typeface="Microsoft YaHei"/>
              </a:rPr>
              <a:t xml:space="preserve">HLE </a:t>
            </a:r>
            <a:r>
              <a:rPr lang="zh-CN" sz="975">
                <a:solidFill>
                  <a:srgbClr val="546779"/>
                </a:solidFill>
                <a:latin typeface="Microsoft YaHei"/>
                <a:ea typeface="Microsoft YaHei"/>
              </a:rPr>
              <a:t>的分数要带保留地读，并去看它的审计说明</a:t>
            </a:r>
            <a:endParaRPr/>
          </a:p>
        </p:txBody>
      </p:sp>
      <p:sp>
        <p:nvSpPr>
          <p:cNvPr id="883"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884"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32 / 36</a:t>
            </a:r>
            <a:endParaRPr/>
          </a:p>
        </p:txBody>
      </p:sp>
    </p:spTree>
  </p:cSld>
</p:sld>
</file>

<file path=ppt/slides/slide33.xml><?xml version="1.0" encoding="utf-8"?>
<p:sld xmlns:p="http://schemas.openxmlformats.org/presentationml/2006/main" xmlns:a="http://schemas.openxmlformats.org/drawingml/2006/main">
  <p:cSld>
    <p:spTree>
      <p:nvGrpSpPr>
        <p:cNvPr id="885" name="" descr="&lt;Slide notes={`这是 SWE-bench Verified 最扎眼的一个数字：百分之五十九点四。&#10;&#10;它的含义是，在这个基准最难、而且长期无人解决的那批题里，有近六成的测试用例本身是有问题的。测试有问题会往两个方向出错。一个方向是测试太窄，一个功能上完全正确的提交，却因为测试写得过于具体而被判失败。另一个方向是测试太宽，一个实际上错误的提交，因为测试覆盖不够而被放过。&#10;&#10;两个方向的影响不一样。太窄会把分数压低，让模型看起来比实际差；太宽会把分数抬高，让模型看起来比实际强。合在一起，分数的含义就模糊了。&#10;&#10;这就是为什么 OpenAI 在 2026 年 2 月宣布不再报告这个基准的成绩。除了前面说的污染，题目和判分本身的缺陷也是理由。`}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⑥　1.4.6　错题二：判分规则本身的缺陷&lt;/Text&gt;&#10;            &lt;Text style={{ fontSize: 34, fontWeight: 'bold', color: '#20344B' }}&gt;最难的那批题，测试有问题&lt;/Text&gt;&#10;        &lt;/Box&gt;&#10;    &lt;/Box&gt;&#10;&#10;    &lt;Box style={{ height: 540, flexDirection: 'column', justifyContent: 'center' }}&gt;&#10;&#10;        &lt;Box style={{ flexDirection: 'row', gap: 28, alignItems: 'stretch' }}&gt;&#10;&#10;            &lt;Box style={{ width: 460, height: 452, background: '#FFF4E6', borderRadius: 12, padding: '24px 22px', flexDirection: 'column', gap: 10 }}&gt;&#10;                &lt;Text style={{ fontSize: 14, color: '#CB6B28' }}&gt;SWE-bench Verified 最难题中的缺陷测试占比&lt;/Text&gt;&#10;                &lt;Text style={{ fontSize: 96, fontWeight: 'bold', color: '#CB6B28', lineHeight: 1.0 }}&gt;59.4%&lt;/Text&gt;&#10;                &lt;Text style={{ fontSize: 15, color: '#CB6B28', lineHeight: 1.55 }}&gt;指 138 道最难、且长期无人解决的问题里，测试用例本身存在缺陷的比例。&lt;/Text&gt;&#10;                &lt;Box style={{ flex: 1 }} /&gt;&#10;                &lt;Text style={{ fontSize: 13, color: '#CB6B28', lineHeight: 1.45 }}&gt;来源：2026 年 2 月退役声明中引述的内部审计&lt;/Text&gt;&#10;            &lt;/Box&gt;&#10;&#10;            &lt;Box style={{ width: 664, flexDirection: 'column', gap: 15 }}&gt;&#10;&#10;                &lt;Box style={{ width: 664, height: 140, background: '#EDF4FC', borderRadius: 10, padding: '16px 20px', flexDirection: 'row', alignItems: 'center', gap: 16 }}&gt;&#10;                    &lt;Box style={{ width: 4, height: 76, background: '#276FBF' }} /&gt;&#10;                    &lt;Box style={{ flexDirection: 'column', gap: 6 }}&gt;&#10;                        &lt;Text style={{ fontSize: 18, fontWeight: 'bold', color: '#20344B' }}&gt;缺陷方向一：测试太窄&lt;/Text&gt;&#10;                        &lt;Text style={{ fontSize: 15, color: '#546779', lineHeight: 1.5 }}&gt;功能上完全正确的提交，因为测试写得过于具体而被判失败。后果是把分数压低。&lt;/Text&gt;&#10;                    &lt;/Box&gt;&#10;                &lt;/Box&gt;&#10;&#10;                &lt;Box style={{ width: 664, height: 140, background: '#EDF4FC', borderRadius: 10, padding: '16px 20px', flexDirection: 'row', alignItems: 'center', gap: 16 }}&gt;&#10;                    &lt;Box style={{ width: 4, height: 76, background: '#276FBF' }} /&gt;&#10;                    &lt;Box style={{ flexDirection: 'column', gap: 6 }}&gt;&#10;                        &lt;Text style={{ fontSize: 18, fontWeight: 'bold', color: '#20344B' }}&gt;缺陷方向二：测试太宽&lt;/Text&gt;&#10;                        &lt;Text style={{ fontSize: 15, color: '#546779', lineHeight: 1.5 }}&gt;实际上错误的提交，因为测试覆盖不足而被放过。后果是把分数抬高。&lt;/Text&gt;&#10;                    &lt;/Box&gt;&#10;                &lt;/Box&gt;&#10;&#10;                &lt;Box style={{ width: 664, height: 140, background: '#F4F7FA', borderRadius: 10, padding: '16px 20px', flexDirection: 'row', alignItems: 'center', gap: 16 }}&gt;&#10;                    &lt;Box style={{ width: 4, height: 76, background: '#546779' }} /&gt;&#10;                    &lt;Box style={{ flexDirection: 'column', gap: 6 }}&gt;&#10;                        &lt;Text style={{ fontSize: 18, fontWeight: 'bold', color: '#20344B' }}&gt;加上污染，于是退役&lt;/Text&gt;&#10;                        &lt;Text style={{ fontSize: 15, color: '#546779', lineHeight: 1.5 }}&gt;一个方向压分、一个方向抬分，分数的含义就模糊了。这成为 2026 年 2 月停止报告该成绩的理由之一。&lt;/Text&gt;&#10;                    &lt;/Box&gt;&#10;                &lt;/Box&gt;&#10;&#10;            &lt;/Box&gt;&#10;&#10;        &lt;/Box&gt;&#10;&#10;    &lt;/Box&gt;&#10;&#10;    &lt;Box style={{ height: 40, flexDirection: 'row', justifyContent: 'space-between', alignItems: 'center' }}&gt;&#10;        &lt;Text style={{ fontSize: 14, color: '#546779' }}&gt;1.4 从榜单到证据&lt;/Text&gt;&#10;        &lt;Text style={{ fontSize: 14, color: '#546779' }}&gt;33 / 36&lt;/Text&gt;&#10;    &lt;/Box&gt;&#10;&#10;&lt;/Slide&gt;&#10;"/>
        <p:cNvGrpSpPr/>
        <p:nvPr/>
      </p:nvGrpSpPr>
      <p:grpSpPr>
        <a:xfrm>
          <a:off x="0" y="0"/>
          <a:ext cx="0" cy="0"/>
          <a:chOff x="0" y="0"/>
          <a:chExt cx="0" cy="0"/>
        </a:xfrm>
      </p:grpSpPr>
      <p:sp>
        <p:nvSpPr>
          <p:cNvPr id="886" name=""/>
          <p:cNvSpPr/>
          <p:nvPr/>
        </p:nvSpPr>
        <p:spPr>
          <a:xfrm rot="0" flipH="0" flipV="0">
            <a:off x="0" y="0"/>
            <a:ext cx="12192000" cy="6858000"/>
          </a:xfrm>
          <a:prstGeom prst="rect">
            <a:avLst/>
          </a:prstGeom>
          <a:solidFill>
            <a:srgbClr val="FFFFFF"/>
          </a:solidFill>
          <a:ln/>
        </p:spPr>
        <p:txBody>
          <a:bodyPr/>
          <a:p/>
        </p:txBody>
      </p:sp>
      <p:sp>
        <p:nvSpPr>
          <p:cNvPr id="887" name=""/>
          <p:cNvSpPr/>
          <p:nvPr/>
        </p:nvSpPr>
        <p:spPr>
          <a:xfrm rot="0" flipH="0" flipV="0">
            <a:off x="609600" y="457200"/>
            <a:ext cx="38100" cy="419100"/>
          </a:xfrm>
          <a:prstGeom prst="rect">
            <a:avLst/>
          </a:prstGeom>
          <a:solidFill>
            <a:srgbClr val="276FBF"/>
          </a:solidFill>
          <a:ln/>
        </p:spPr>
        <p:txBody>
          <a:bodyPr/>
          <a:p/>
        </p:txBody>
      </p:sp>
      <p:sp>
        <p:nvSpPr>
          <p:cNvPr id="888" name="" descr="{&quot;isTemplate&quot;:true,&quot;type&quot;:&quot;text&quot;}"/>
          <p:cNvSpPr txBox="1"/>
          <p:nvPr/>
        </p:nvSpPr>
        <p:spPr>
          <a:xfrm rot="0" flipH="0" flipV="0">
            <a:off x="838200" y="371475"/>
            <a:ext cx="3886200" cy="161925"/>
          </a:xfrm>
          <a:prstGeom prst="rect"/>
        </p:spPr>
        <p:txBody>
          <a:bodyPr wrap="none" lIns="0" tIns="0" rIns="0" bIns="0"/>
          <a:p>
            <a:pPr>
              <a:lnSpc>
                <a:spcPct val="100000"/>
              </a:lnSpc>
            </a:pPr>
            <a:r>
              <a:rPr lang="zh-CN" sz="1050">
                <a:solidFill>
                  <a:srgbClr val="546779"/>
                </a:solidFill>
                <a:latin typeface="Microsoft YaHei"/>
                <a:ea typeface="Microsoft YaHei"/>
              </a:rPr>
              <a:t>⑥　</a:t>
            </a:r>
            <a:r>
              <a:rPr lang="en-US" sz="1050">
                <a:solidFill>
                  <a:srgbClr val="546779"/>
                </a:solidFill>
                <a:latin typeface="Microsoft YaHei"/>
                <a:ea typeface="Microsoft YaHei"/>
              </a:rPr>
              <a:t>1.4.6</a:t>
            </a:r>
            <a:r>
              <a:rPr lang="zh-CN" sz="1050">
                <a:solidFill>
                  <a:srgbClr val="546779"/>
                </a:solidFill>
                <a:latin typeface="Microsoft YaHei"/>
                <a:ea typeface="Microsoft YaHei"/>
              </a:rPr>
              <a:t>　错题二：判分规则本身的缺陷</a:t>
            </a:r>
            <a:endParaRPr/>
          </a:p>
        </p:txBody>
      </p:sp>
      <p:sp>
        <p:nvSpPr>
          <p:cNvPr id="889" name="" descr="{&quot;isTemplate&quot;:true,&quot;type&quot;:&quot;text&quot;}"/>
          <p:cNvSpPr txBox="1"/>
          <p:nvPr/>
        </p:nvSpPr>
        <p:spPr>
          <a:xfrm rot="0" flipH="0" flipV="0">
            <a:off x="838200" y="571500"/>
            <a:ext cx="3886200" cy="390525"/>
          </a:xfrm>
          <a:prstGeom prst="rect"/>
        </p:spPr>
        <p:txBody>
          <a:bodyPr wrap="none" lIns="0" tIns="0" rIns="0" bIns="0"/>
          <a:p>
            <a:pPr>
              <a:lnSpc>
                <a:spcPct val="100000"/>
              </a:lnSpc>
            </a:pPr>
            <a:r>
              <a:rPr lang="zh-CN" sz="2550" b="1">
                <a:solidFill>
                  <a:srgbClr val="20344B"/>
                </a:solidFill>
                <a:latin typeface="Microsoft YaHei"/>
                <a:ea typeface="Microsoft YaHei"/>
              </a:rPr>
              <a:t>最难的那批题，测试有问题</a:t>
            </a:r>
            <a:endParaRPr/>
          </a:p>
        </p:txBody>
      </p:sp>
      <p:sp>
        <p:nvSpPr>
          <p:cNvPr id="890" name=""/>
          <p:cNvSpPr/>
          <p:nvPr/>
        </p:nvSpPr>
        <p:spPr>
          <a:xfrm rot="0" flipH="0" flipV="0">
            <a:off x="609600" y="1562100"/>
            <a:ext cx="4381500" cy="4305300"/>
          </a:xfrm>
          <a:prstGeom prst="roundRect">
            <a:avLst>
              <a:gd name="adj" fmla="val 2655"/>
            </a:avLst>
          </a:prstGeom>
          <a:solidFill>
            <a:srgbClr val="FFF4E6"/>
          </a:solidFill>
          <a:ln/>
        </p:spPr>
        <p:txBody>
          <a:bodyPr/>
          <a:p/>
        </p:txBody>
      </p:sp>
      <p:sp>
        <p:nvSpPr>
          <p:cNvPr id="891" name="" descr="{&quot;isTemplate&quot;:true,&quot;type&quot;:&quot;text&quot;}"/>
          <p:cNvSpPr txBox="1"/>
          <p:nvPr/>
        </p:nvSpPr>
        <p:spPr>
          <a:xfrm rot="0" flipH="0" flipV="0">
            <a:off x="819150" y="1790700"/>
            <a:ext cx="3962400" cy="161925"/>
          </a:xfrm>
          <a:prstGeom prst="rect"/>
        </p:spPr>
        <p:txBody>
          <a:bodyPr wrap="none" lIns="0" tIns="0" rIns="0" bIns="0"/>
          <a:p>
            <a:pPr>
              <a:lnSpc>
                <a:spcPct val="100000"/>
              </a:lnSpc>
            </a:pPr>
            <a:r>
              <a:rPr lang="en-US" sz="1050">
                <a:solidFill>
                  <a:srgbClr val="CB6B28"/>
                </a:solidFill>
                <a:latin typeface="Microsoft YaHei"/>
                <a:ea typeface="Microsoft YaHei"/>
              </a:rPr>
              <a:t xml:space="preserve">SWE-bench Verified </a:t>
            </a:r>
            <a:r>
              <a:rPr lang="zh-CN" sz="1050">
                <a:solidFill>
                  <a:srgbClr val="CB6B28"/>
                </a:solidFill>
                <a:latin typeface="Microsoft YaHei"/>
                <a:ea typeface="Microsoft YaHei"/>
              </a:rPr>
              <a:t>最难题中的缺陷测试占比</a:t>
            </a:r>
            <a:endParaRPr/>
          </a:p>
        </p:txBody>
      </p:sp>
      <p:sp>
        <p:nvSpPr>
          <p:cNvPr id="892" name="" descr="{&quot;isTemplate&quot;:true,&quot;type&quot;:&quot;text&quot;}"/>
          <p:cNvSpPr txBox="1"/>
          <p:nvPr/>
        </p:nvSpPr>
        <p:spPr>
          <a:xfrm rot="0" flipH="0" flipV="0">
            <a:off x="819150" y="2047875"/>
            <a:ext cx="3962400" cy="1104900"/>
          </a:xfrm>
          <a:prstGeom prst="rect"/>
        </p:spPr>
        <p:txBody>
          <a:bodyPr wrap="none" lIns="0" tIns="0" rIns="0" bIns="0"/>
          <a:p>
            <a:pPr>
              <a:lnSpc>
                <a:spcPct val="100000"/>
              </a:lnSpc>
            </a:pPr>
            <a:r>
              <a:rPr lang="en-US" sz="7200" b="1">
                <a:solidFill>
                  <a:srgbClr val="CB6B28"/>
                </a:solidFill>
                <a:latin typeface="Microsoft YaHei"/>
                <a:ea typeface="Microsoft YaHei"/>
              </a:rPr>
              <a:t>59.4%</a:t>
            </a:r>
            <a:endParaRPr/>
          </a:p>
        </p:txBody>
      </p:sp>
      <p:sp>
        <p:nvSpPr>
          <p:cNvPr id="893" name="" descr="{&quot;isTemplate&quot;:true,&quot;type&quot;:&quot;text&quot;}"/>
          <p:cNvSpPr txBox="1"/>
          <p:nvPr/>
        </p:nvSpPr>
        <p:spPr>
          <a:xfrm rot="0" flipH="0" flipV="0">
            <a:off x="819150" y="3248025"/>
            <a:ext cx="3962400" cy="533400"/>
          </a:xfrm>
          <a:prstGeom prst="rect"/>
        </p:spPr>
        <p:txBody>
          <a:bodyPr wrap="square" lIns="0" tIns="0" rIns="0" bIns="0">
            <a:normAutofit/>
          </a:bodyPr>
          <a:p>
            <a:pPr>
              <a:lnSpc>
                <a:spcPct val="155000"/>
              </a:lnSpc>
            </a:pPr>
            <a:r>
              <a:rPr lang="zh-CN" sz="1125">
                <a:solidFill>
                  <a:srgbClr val="CB6B28"/>
                </a:solidFill>
                <a:latin typeface="Microsoft YaHei"/>
                <a:ea typeface="Microsoft YaHei"/>
              </a:rPr>
              <a:t>指</a:t>
            </a:r>
            <a:r>
              <a:rPr lang="en-US" sz="1125">
                <a:solidFill>
                  <a:srgbClr val="CB6B28"/>
                </a:solidFill>
                <a:latin typeface="Microsoft YaHei"/>
                <a:ea typeface="Microsoft YaHei"/>
              </a:rPr>
              <a:t xml:space="preserve"> 138 </a:t>
            </a:r>
            <a:r>
              <a:rPr lang="zh-CN" sz="1125">
                <a:solidFill>
                  <a:srgbClr val="CB6B28"/>
                </a:solidFill>
                <a:latin typeface="Microsoft YaHei"/>
                <a:ea typeface="Microsoft YaHei"/>
              </a:rPr>
              <a:t>道最难、且长期无人解决的问题里，测试用例本身存在缺陷的比例。</a:t>
            </a:r>
            <a:endParaRPr/>
          </a:p>
        </p:txBody>
      </p:sp>
      <p:sp>
        <p:nvSpPr>
          <p:cNvPr id="894" name="" descr="{&quot;isTemplate&quot;:true,&quot;type&quot;:&quot;text&quot;}"/>
          <p:cNvSpPr txBox="1"/>
          <p:nvPr/>
        </p:nvSpPr>
        <p:spPr>
          <a:xfrm rot="0" flipH="0" flipV="0">
            <a:off x="819150" y="5419725"/>
            <a:ext cx="3962400" cy="219075"/>
          </a:xfrm>
          <a:prstGeom prst="rect"/>
        </p:spPr>
        <p:txBody>
          <a:bodyPr wrap="none" lIns="0" tIns="0" rIns="0" bIns="0"/>
          <a:p>
            <a:pPr>
              <a:lnSpc>
                <a:spcPct val="145000"/>
              </a:lnSpc>
            </a:pPr>
            <a:r>
              <a:rPr lang="zh-CN" sz="975">
                <a:solidFill>
                  <a:srgbClr val="CB6B28"/>
                </a:solidFill>
                <a:latin typeface="Microsoft YaHei"/>
                <a:ea typeface="Microsoft YaHei"/>
              </a:rPr>
              <a:t>来源：</a:t>
            </a:r>
            <a:r>
              <a:rPr lang="en-US" sz="975">
                <a:solidFill>
                  <a:srgbClr val="CB6B28"/>
                </a:solidFill>
                <a:latin typeface="Microsoft YaHei"/>
                <a:ea typeface="Microsoft YaHei"/>
              </a:rPr>
              <a:t xml:space="preserve">2026 </a:t>
            </a:r>
            <a:r>
              <a:rPr lang="zh-CN" sz="975">
                <a:solidFill>
                  <a:srgbClr val="CB6B28"/>
                </a:solidFill>
                <a:latin typeface="Microsoft YaHei"/>
                <a:ea typeface="Microsoft YaHei"/>
              </a:rPr>
              <a:t>年</a:t>
            </a:r>
            <a:r>
              <a:rPr lang="en-US" sz="975">
                <a:solidFill>
                  <a:srgbClr val="CB6B28"/>
                </a:solidFill>
                <a:latin typeface="Microsoft YaHei"/>
                <a:ea typeface="Microsoft YaHei"/>
              </a:rPr>
              <a:t xml:space="preserve"> 2 </a:t>
            </a:r>
            <a:r>
              <a:rPr lang="zh-CN" sz="975">
                <a:solidFill>
                  <a:srgbClr val="CB6B28"/>
                </a:solidFill>
                <a:latin typeface="Microsoft YaHei"/>
                <a:ea typeface="Microsoft YaHei"/>
              </a:rPr>
              <a:t>月退役声明中引述的内部审计</a:t>
            </a:r>
            <a:endParaRPr/>
          </a:p>
        </p:txBody>
      </p:sp>
      <p:sp>
        <p:nvSpPr>
          <p:cNvPr id="895" name=""/>
          <p:cNvSpPr/>
          <p:nvPr/>
        </p:nvSpPr>
        <p:spPr>
          <a:xfrm rot="0" flipH="0" flipV="0">
            <a:off x="5257800" y="1562100"/>
            <a:ext cx="6324600" cy="1333500"/>
          </a:xfrm>
          <a:prstGeom prst="roundRect">
            <a:avLst>
              <a:gd name="adj" fmla="val 7143"/>
            </a:avLst>
          </a:prstGeom>
          <a:solidFill>
            <a:srgbClr val="EDF4FC"/>
          </a:solidFill>
          <a:ln/>
        </p:spPr>
        <p:txBody>
          <a:bodyPr/>
          <a:p/>
        </p:txBody>
      </p:sp>
      <p:sp>
        <p:nvSpPr>
          <p:cNvPr id="896" name=""/>
          <p:cNvSpPr/>
          <p:nvPr/>
        </p:nvSpPr>
        <p:spPr>
          <a:xfrm rot="0" flipH="0" flipV="0">
            <a:off x="5448300" y="1866900"/>
            <a:ext cx="38100" cy="723900"/>
          </a:xfrm>
          <a:prstGeom prst="rect">
            <a:avLst/>
          </a:prstGeom>
          <a:solidFill>
            <a:srgbClr val="276FBF"/>
          </a:solidFill>
          <a:ln/>
        </p:spPr>
        <p:txBody>
          <a:bodyPr/>
          <a:p/>
        </p:txBody>
      </p:sp>
      <p:sp>
        <p:nvSpPr>
          <p:cNvPr id="897" name="" descr="{&quot;isTemplate&quot;:true,&quot;type&quot;:&quot;text&quot;}"/>
          <p:cNvSpPr txBox="1"/>
          <p:nvPr/>
        </p:nvSpPr>
        <p:spPr>
          <a:xfrm rot="0" flipH="0" flipV="0">
            <a:off x="5638800" y="1971675"/>
            <a:ext cx="5143500" cy="209550"/>
          </a:xfrm>
          <a:prstGeom prst="rect"/>
        </p:spPr>
        <p:txBody>
          <a:bodyPr wrap="none" lIns="0" tIns="0" rIns="0" bIns="0"/>
          <a:p>
            <a:pPr>
              <a:lnSpc>
                <a:spcPct val="100000"/>
              </a:lnSpc>
            </a:pPr>
            <a:r>
              <a:rPr lang="zh-CN" sz="1350" b="1">
                <a:solidFill>
                  <a:srgbClr val="20344B"/>
                </a:solidFill>
                <a:latin typeface="Microsoft YaHei"/>
                <a:ea typeface="Microsoft YaHei"/>
              </a:rPr>
              <a:t>缺陷方向一：测试太窄</a:t>
            </a:r>
            <a:endParaRPr/>
          </a:p>
        </p:txBody>
      </p:sp>
      <p:sp>
        <p:nvSpPr>
          <p:cNvPr id="898" name="" descr="{&quot;isTemplate&quot;:true,&quot;type&quot;:&quot;text&quot;}"/>
          <p:cNvSpPr txBox="1"/>
          <p:nvPr/>
        </p:nvSpPr>
        <p:spPr>
          <a:xfrm rot="0" flipH="0" flipV="0">
            <a:off x="5638800" y="2238375"/>
            <a:ext cx="5143500" cy="257175"/>
          </a:xfrm>
          <a:prstGeom prst="rect"/>
        </p:spPr>
        <p:txBody>
          <a:bodyPr wrap="none" lIns="0" tIns="0" rIns="0" bIns="0"/>
          <a:p>
            <a:pPr>
              <a:lnSpc>
                <a:spcPct val="150000"/>
              </a:lnSpc>
            </a:pPr>
            <a:r>
              <a:rPr lang="zh-CN" sz="1125">
                <a:solidFill>
                  <a:srgbClr val="546779"/>
                </a:solidFill>
                <a:latin typeface="Microsoft YaHei"/>
                <a:ea typeface="Microsoft YaHei"/>
              </a:rPr>
              <a:t>功能上完全正确的提交，因为测试写得过于具体而被判失败。后果是把分数压低。</a:t>
            </a:r>
            <a:endParaRPr/>
          </a:p>
        </p:txBody>
      </p:sp>
      <p:sp>
        <p:nvSpPr>
          <p:cNvPr id="899" name=""/>
          <p:cNvSpPr/>
          <p:nvPr/>
        </p:nvSpPr>
        <p:spPr>
          <a:xfrm rot="0" flipH="0" flipV="0">
            <a:off x="5257800" y="3038475"/>
            <a:ext cx="6324600" cy="1333500"/>
          </a:xfrm>
          <a:prstGeom prst="roundRect">
            <a:avLst>
              <a:gd name="adj" fmla="val 7143"/>
            </a:avLst>
          </a:prstGeom>
          <a:solidFill>
            <a:srgbClr val="EDF4FC"/>
          </a:solidFill>
          <a:ln/>
        </p:spPr>
        <p:txBody>
          <a:bodyPr/>
          <a:p/>
        </p:txBody>
      </p:sp>
      <p:sp>
        <p:nvSpPr>
          <p:cNvPr id="900" name=""/>
          <p:cNvSpPr/>
          <p:nvPr/>
        </p:nvSpPr>
        <p:spPr>
          <a:xfrm rot="0" flipH="0" flipV="0">
            <a:off x="5448300" y="3343275"/>
            <a:ext cx="38100" cy="723900"/>
          </a:xfrm>
          <a:prstGeom prst="rect">
            <a:avLst/>
          </a:prstGeom>
          <a:solidFill>
            <a:srgbClr val="276FBF"/>
          </a:solidFill>
          <a:ln/>
        </p:spPr>
        <p:txBody>
          <a:bodyPr/>
          <a:p/>
        </p:txBody>
      </p:sp>
      <p:sp>
        <p:nvSpPr>
          <p:cNvPr id="901" name="" descr="{&quot;isTemplate&quot;:true,&quot;type&quot;:&quot;text&quot;}"/>
          <p:cNvSpPr txBox="1"/>
          <p:nvPr/>
        </p:nvSpPr>
        <p:spPr>
          <a:xfrm rot="0" flipH="0" flipV="0">
            <a:off x="5638800" y="3448050"/>
            <a:ext cx="4429125" cy="209550"/>
          </a:xfrm>
          <a:prstGeom prst="rect"/>
        </p:spPr>
        <p:txBody>
          <a:bodyPr wrap="none" lIns="0" tIns="0" rIns="0" bIns="0"/>
          <a:p>
            <a:pPr>
              <a:lnSpc>
                <a:spcPct val="100000"/>
              </a:lnSpc>
            </a:pPr>
            <a:r>
              <a:rPr lang="zh-CN" sz="1350" b="1">
                <a:solidFill>
                  <a:srgbClr val="20344B"/>
                </a:solidFill>
                <a:latin typeface="Microsoft YaHei"/>
                <a:ea typeface="Microsoft YaHei"/>
              </a:rPr>
              <a:t>缺陷方向二：测试太宽</a:t>
            </a:r>
            <a:endParaRPr/>
          </a:p>
        </p:txBody>
      </p:sp>
      <p:sp>
        <p:nvSpPr>
          <p:cNvPr id="902" name="" descr="{&quot;isTemplate&quot;:true,&quot;type&quot;:&quot;text&quot;}"/>
          <p:cNvSpPr txBox="1"/>
          <p:nvPr/>
        </p:nvSpPr>
        <p:spPr>
          <a:xfrm rot="0" flipH="0" flipV="0">
            <a:off x="5638800" y="3714750"/>
            <a:ext cx="4429125" cy="257175"/>
          </a:xfrm>
          <a:prstGeom prst="rect"/>
        </p:spPr>
        <p:txBody>
          <a:bodyPr wrap="none" lIns="0" tIns="0" rIns="0" bIns="0"/>
          <a:p>
            <a:pPr>
              <a:lnSpc>
                <a:spcPct val="150000"/>
              </a:lnSpc>
            </a:pPr>
            <a:r>
              <a:rPr lang="zh-CN" sz="1125">
                <a:solidFill>
                  <a:srgbClr val="546779"/>
                </a:solidFill>
                <a:latin typeface="Microsoft YaHei"/>
                <a:ea typeface="Microsoft YaHei"/>
              </a:rPr>
              <a:t>实际上错误的提交，因为测试覆盖不足而被放过。后果是把分数抬高。</a:t>
            </a:r>
            <a:endParaRPr/>
          </a:p>
        </p:txBody>
      </p:sp>
      <p:sp>
        <p:nvSpPr>
          <p:cNvPr id="903" name=""/>
          <p:cNvSpPr/>
          <p:nvPr/>
        </p:nvSpPr>
        <p:spPr>
          <a:xfrm rot="0" flipH="0" flipV="0">
            <a:off x="5257800" y="4514850"/>
            <a:ext cx="6324600" cy="1333500"/>
          </a:xfrm>
          <a:prstGeom prst="roundRect">
            <a:avLst>
              <a:gd name="adj" fmla="val 7143"/>
            </a:avLst>
          </a:prstGeom>
          <a:solidFill>
            <a:srgbClr val="F4F7FA"/>
          </a:solidFill>
          <a:ln/>
        </p:spPr>
        <p:txBody>
          <a:bodyPr/>
          <a:p/>
        </p:txBody>
      </p:sp>
      <p:sp>
        <p:nvSpPr>
          <p:cNvPr id="904" name=""/>
          <p:cNvSpPr/>
          <p:nvPr/>
        </p:nvSpPr>
        <p:spPr>
          <a:xfrm rot="0" flipH="0" flipV="0">
            <a:off x="5448300" y="4819650"/>
            <a:ext cx="38100" cy="723900"/>
          </a:xfrm>
          <a:prstGeom prst="rect">
            <a:avLst/>
          </a:prstGeom>
          <a:solidFill>
            <a:srgbClr val="546779"/>
          </a:solidFill>
          <a:ln/>
        </p:spPr>
        <p:txBody>
          <a:bodyPr/>
          <a:p/>
        </p:txBody>
      </p:sp>
      <p:sp>
        <p:nvSpPr>
          <p:cNvPr id="905" name="" descr="{&quot;isTemplate&quot;:true,&quot;type&quot;:&quot;text&quot;}"/>
          <p:cNvSpPr txBox="1"/>
          <p:nvPr/>
        </p:nvSpPr>
        <p:spPr>
          <a:xfrm rot="0" flipH="0" flipV="0">
            <a:off x="5638800" y="4791075"/>
            <a:ext cx="5753100" cy="209550"/>
          </a:xfrm>
          <a:prstGeom prst="rect"/>
        </p:spPr>
        <p:txBody>
          <a:bodyPr wrap="none" lIns="0" tIns="0" rIns="0" bIns="0"/>
          <a:p>
            <a:pPr>
              <a:lnSpc>
                <a:spcPct val="100000"/>
              </a:lnSpc>
            </a:pPr>
            <a:r>
              <a:rPr lang="zh-CN" sz="1350" b="1">
                <a:solidFill>
                  <a:srgbClr val="20344B"/>
                </a:solidFill>
                <a:latin typeface="Microsoft YaHei"/>
                <a:ea typeface="Microsoft YaHei"/>
              </a:rPr>
              <a:t>加上污染，于是退役</a:t>
            </a:r>
            <a:endParaRPr/>
          </a:p>
        </p:txBody>
      </p:sp>
      <p:sp>
        <p:nvSpPr>
          <p:cNvPr id="906" name="" descr="{&quot;isTemplate&quot;:true,&quot;type&quot;:&quot;text&quot;}"/>
          <p:cNvSpPr txBox="1"/>
          <p:nvPr/>
        </p:nvSpPr>
        <p:spPr>
          <a:xfrm rot="0" flipH="0" flipV="0">
            <a:off x="5638800" y="5057775"/>
            <a:ext cx="5753100" cy="514350"/>
          </a:xfrm>
          <a:prstGeom prst="rect"/>
        </p:spPr>
        <p:txBody>
          <a:bodyPr wrap="square" lIns="0" tIns="0" rIns="0" bIns="0">
            <a:normAutofit/>
          </a:bodyPr>
          <a:p>
            <a:pPr>
              <a:lnSpc>
                <a:spcPct val="150000"/>
              </a:lnSpc>
            </a:pPr>
            <a:r>
              <a:rPr lang="zh-CN" sz="1125">
                <a:solidFill>
                  <a:srgbClr val="546779"/>
                </a:solidFill>
                <a:latin typeface="Microsoft YaHei"/>
                <a:ea typeface="Microsoft YaHei"/>
              </a:rPr>
              <a:t>一个方向压分、一个方向抬分，分数的含义就模糊了。这成为</a:t>
            </a:r>
            <a:r>
              <a:rPr lang="en-US" sz="1125">
                <a:solidFill>
                  <a:srgbClr val="546779"/>
                </a:solidFill>
                <a:latin typeface="Microsoft YaHei"/>
                <a:ea typeface="Microsoft YaHei"/>
              </a:rPr>
              <a:t xml:space="preserve"> 2026 </a:t>
            </a:r>
            <a:r>
              <a:rPr lang="zh-CN" sz="1125">
                <a:solidFill>
                  <a:srgbClr val="546779"/>
                </a:solidFill>
                <a:latin typeface="Microsoft YaHei"/>
                <a:ea typeface="Microsoft YaHei"/>
              </a:rPr>
              <a:t>年</a:t>
            </a:r>
            <a:r>
              <a:rPr lang="en-US" sz="1125">
                <a:solidFill>
                  <a:srgbClr val="546779"/>
                </a:solidFill>
                <a:latin typeface="Microsoft YaHei"/>
                <a:ea typeface="Microsoft YaHei"/>
              </a:rPr>
              <a:t xml:space="preserve"> 2 </a:t>
            </a:r>
            <a:r>
              <a:rPr lang="zh-CN" sz="1125">
                <a:solidFill>
                  <a:srgbClr val="546779"/>
                </a:solidFill>
                <a:latin typeface="Microsoft YaHei"/>
                <a:ea typeface="Microsoft YaHei"/>
              </a:rPr>
              <a:t>月停止报告该成绩的理由之一。</a:t>
            </a:r>
            <a:endParaRPr/>
          </a:p>
        </p:txBody>
      </p:sp>
      <p:sp>
        <p:nvSpPr>
          <p:cNvPr id="907"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908"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33 / 36</a:t>
            </a:r>
            <a:endParaRPr/>
          </a:p>
        </p:txBody>
      </p:sp>
    </p:spTree>
  </p:cSld>
</p:sld>
</file>

<file path=ppt/slides/slide34.xml><?xml version="1.0" encoding="utf-8"?>
<p:sld xmlns:p="http://schemas.openxmlformats.org/presentationml/2006/main" xmlns:a="http://schemas.openxmlformats.org/drawingml/2006/main">
  <p:cSld>
    <p:spTree>
      <p:nvGrpSpPr>
        <p:cNvPr id="909" name="" descr="&lt;Slide notes={`第二个错题案例来自 Epoch 自己。FrontierMath 第一版是 2024 年 11 月发布的，参与出题的有六十多位数学家，其中不乏很有名的研究者。&#10;&#10;后来 Epoch 自己做了一次审计，结论不太好看：四成以上的题目存在错误。错误包括题目本身有问题、参考答案有误、判分规则不对。对一套研究级数学题来说，这个比例相当高。&#10;&#10;于是在 2026 年 6 月 12 日，他们发布了修正后的第二版。第二版总共三百三十八道题，分成两部分：第一到第三层二百九十五道，第四层四十三道；其中第四层修正了十二道题，删掉了七道。公开可见的只有十二道，其余都是私有的。&#10;&#10;这件事的意义不只是数学题被修好了，而是说明一个基准连出题人自己都会审出错。所以我们引用任何分数，都要看它的版本和审计记录。`}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⑥　1.4.6　错题三：出题人自己审出错题&lt;/Text&gt;&#10;            &lt;Text style={{ fontSize: 34, fontWeight: 'bold', color: '#20344B' }}&gt;FrontierMath：一次评审改了四成&lt;/Text&gt;&#10;        &lt;/Box&gt;&#10;    &lt;/Box&gt;&#10;&#10;    &lt;Box style={{ height: 540, flexDirection: 'column', justifyContent: 'center', gap: 22 }}&gt;&#10;&#10;        &lt;Box style={{ flexDirection: 'row', alignItems: 'center' }}&gt;&#10;&#10;            &lt;Box style={{ width: 354, height: 250, background: '#F7F3E8', borderRadius: 12, padding: '18px 20px', flexDirection: 'column', gap: 8 }}&gt;&#10;                &lt;Text style={{ fontSize: 13, color: '#546779' }}&gt;2024-11&lt;/Text&gt;&#10;                &lt;Text style={{ fontSize: 20, fontWeight: 'bold', color: '#20344B' }}&gt;v1 发布&lt;/Text&gt;&#10;                &lt;Text style={{ fontSize: 14, color: '#546779', lineHeight: 1.5 }}&gt;六十多位数学家参与出题与复核，大量题目是研究级难度。&lt;/Text&gt;&#10;                &lt;Box style={{ flex: 1 }} /&gt;&#10;                &lt;Text style={{ fontSize: 13, color: '#546779' }}&gt;当时被当作数学能力的标杆&lt;/Text&gt;&#10;            &lt;/Box&gt;&#10;&#10;            &lt;Box style={{ width: 44, alignItems: 'center', justifyContent: 'center' }}&gt;&lt;Text style={{ fontSize: 32, color: '#CB6B28' }}&gt;›&lt;/Text&gt;&lt;/Box&gt;&#10;&#10;            &lt;Box style={{ width: 354, height: 250, background: '#FFF4E6', borderRadius: 12, padding: '18px 20px', flexDirection: 'column', gap: 8 }}&gt;&#10;                &lt;Text style={{ fontSize: 13, color: '#CB6B28' }}&gt;审计&lt;/Text&gt;&#10;                &lt;Text style={{ fontSize: 20, fontWeight: 'bold', color: '#CB6B28' }}&gt;42% 的题有错&lt;/Text&gt;&#10;                &lt;Text style={{ fontSize: 14, color: '#CB6B28', lineHeight: 1.5 }}&gt;题面本身有误、参考答案不对、判分规则有问题——出题方自查得出。&lt;/Text&gt;&#10;                &lt;Box style={{ flex: 1 }} /&gt;&#10;                &lt;Text style={{ fontSize: 13, color: '#CB6B28' }}&gt;对研究级题目来说，这个比例很高&lt;/Text&gt;&#10;            &lt;/Box&gt;&#10;&#10;            &lt;Box style={{ width: 44, alignItems: 'center', justifyContent: 'center' }}&gt;&lt;Text style={{ fontSize: 32, color: '#276FBF' }}&gt;›&lt;/Text&gt;&lt;/Box&gt;&#10;&#10;            &lt;Box style={{ width: 354, height: 250, background: '#ECF7F2', borderRadius: 12, padding: '18px 20px', flexDirection: 'column', gap: 8 }}&gt;&#10;                &lt;Text style={{ fontSize: 13, color: '#26816B' }}&gt;2026-06-12&lt;/Text&gt;&#10;                &lt;Text style={{ fontSize: 20, fontWeight: 'bold', color: '#26816B' }}&gt;v2 修正发布&lt;/Text&gt;&#10;                &lt;Text style={{ fontSize: 14, color: '#26816B', lineHeight: 1.5 }}&gt;共 338 题 = 第 1–3 层 295 题 ＋ 第 4 层 43 题；修正 12 题、删 7 题。&lt;/Text&gt;&#10;                &lt;Box style={{ flex: 1 }} /&gt;&#10;                &lt;Text style={{ fontSize: 13, color: '#26816B' }}&gt;仅 12 题公开，其余为私有集&lt;/Text&gt;&#10;            &lt;/Box&gt;&#10;&#10;        &lt;/Box&gt;&#10;&#10;        &lt;Box style={{ flexDirection: 'row', gap: 16, background: '#F4F7FA', borderRadius: 10, padding: '14px 22px', alignItems: 'center' }}&gt;&#10;            &lt;Box style={{ width: 4, height: 44, background: '#276FBF' }} /&gt;&#10;            &lt;Text style={{ fontSize: 16, color: '#546779', lineHeight: 1.55 }}&gt;连出题人自己都会审出错题；引用任何分数，都要看版本号与审计记录，新旧分数不可混用&lt;/Text&gt;&#10;        &lt;/Box&gt;&#10;&#10;    &lt;/Box&gt;&#10;&#10;    &lt;Box style={{ height: 40, flexDirection: 'row', justifyContent: 'space-between', alignItems: 'center' }}&gt;&#10;        &lt;Text style={{ fontSize: 14, color: '#546779' }}&gt;1.4 从榜单到证据&lt;/Text&gt;&#10;        &lt;Text style={{ fontSize: 14, color: '#546779' }}&gt;34 / 36&lt;/Text&gt;&#10;    &lt;/Box&gt;&#10;&#10;&lt;/Slide&gt;&#10;"/>
        <p:cNvGrpSpPr/>
        <p:nvPr/>
      </p:nvGrpSpPr>
      <p:grpSpPr>
        <a:xfrm>
          <a:off x="0" y="0"/>
          <a:ext cx="0" cy="0"/>
          <a:chOff x="0" y="0"/>
          <a:chExt cx="0" cy="0"/>
        </a:xfrm>
      </p:grpSpPr>
      <p:sp>
        <p:nvSpPr>
          <p:cNvPr id="910" name=""/>
          <p:cNvSpPr/>
          <p:nvPr/>
        </p:nvSpPr>
        <p:spPr>
          <a:xfrm rot="0" flipH="0" flipV="0">
            <a:off x="0" y="0"/>
            <a:ext cx="12192000" cy="6858000"/>
          </a:xfrm>
          <a:prstGeom prst="rect">
            <a:avLst/>
          </a:prstGeom>
          <a:solidFill>
            <a:srgbClr val="FFFFFF"/>
          </a:solidFill>
          <a:ln/>
        </p:spPr>
        <p:txBody>
          <a:bodyPr/>
          <a:p/>
        </p:txBody>
      </p:sp>
      <p:sp>
        <p:nvSpPr>
          <p:cNvPr id="911" name=""/>
          <p:cNvSpPr/>
          <p:nvPr/>
        </p:nvSpPr>
        <p:spPr>
          <a:xfrm rot="0" flipH="0" flipV="0">
            <a:off x="609600" y="457200"/>
            <a:ext cx="38100" cy="419100"/>
          </a:xfrm>
          <a:prstGeom prst="rect">
            <a:avLst/>
          </a:prstGeom>
          <a:solidFill>
            <a:srgbClr val="276FBF"/>
          </a:solidFill>
          <a:ln/>
        </p:spPr>
        <p:txBody>
          <a:bodyPr/>
          <a:p/>
        </p:txBody>
      </p:sp>
      <p:sp>
        <p:nvSpPr>
          <p:cNvPr id="912" name="" descr="{&quot;isTemplate&quot;:true,&quot;type&quot;:&quot;text&quot;}"/>
          <p:cNvSpPr txBox="1"/>
          <p:nvPr/>
        </p:nvSpPr>
        <p:spPr>
          <a:xfrm rot="0" flipH="0" flipV="0">
            <a:off x="838200" y="371475"/>
            <a:ext cx="5076825" cy="161925"/>
          </a:xfrm>
          <a:prstGeom prst="rect"/>
        </p:spPr>
        <p:txBody>
          <a:bodyPr wrap="none" lIns="0" tIns="0" rIns="0" bIns="0"/>
          <a:p>
            <a:pPr>
              <a:lnSpc>
                <a:spcPct val="100000"/>
              </a:lnSpc>
            </a:pPr>
            <a:r>
              <a:rPr lang="zh-CN" sz="1050">
                <a:solidFill>
                  <a:srgbClr val="546779"/>
                </a:solidFill>
                <a:latin typeface="Microsoft YaHei"/>
                <a:ea typeface="Microsoft YaHei"/>
              </a:rPr>
              <a:t>⑥　</a:t>
            </a:r>
            <a:r>
              <a:rPr lang="en-US" sz="1050">
                <a:solidFill>
                  <a:srgbClr val="546779"/>
                </a:solidFill>
                <a:latin typeface="Microsoft YaHei"/>
                <a:ea typeface="Microsoft YaHei"/>
              </a:rPr>
              <a:t>1.4.6</a:t>
            </a:r>
            <a:r>
              <a:rPr lang="zh-CN" sz="1050">
                <a:solidFill>
                  <a:srgbClr val="546779"/>
                </a:solidFill>
                <a:latin typeface="Microsoft YaHei"/>
                <a:ea typeface="Microsoft YaHei"/>
              </a:rPr>
              <a:t>　错题三：出题人自己审出错题</a:t>
            </a:r>
            <a:endParaRPr/>
          </a:p>
        </p:txBody>
      </p:sp>
      <p:sp>
        <p:nvSpPr>
          <p:cNvPr id="913" name="" descr="{&quot;isTemplate&quot;:true,&quot;type&quot;:&quot;text&quot;}"/>
          <p:cNvSpPr txBox="1"/>
          <p:nvPr/>
        </p:nvSpPr>
        <p:spPr>
          <a:xfrm rot="0" flipH="0" flipV="0">
            <a:off x="838200" y="571500"/>
            <a:ext cx="5076825" cy="390525"/>
          </a:xfrm>
          <a:prstGeom prst="rect"/>
        </p:spPr>
        <p:txBody>
          <a:bodyPr wrap="none" lIns="0" tIns="0" rIns="0" bIns="0"/>
          <a:p>
            <a:pPr>
              <a:lnSpc>
                <a:spcPct val="100000"/>
              </a:lnSpc>
            </a:pPr>
            <a:r>
              <a:rPr lang="en-US" sz="2550" b="1">
                <a:solidFill>
                  <a:srgbClr val="20344B"/>
                </a:solidFill>
                <a:latin typeface="Microsoft YaHei"/>
                <a:ea typeface="Microsoft YaHei"/>
              </a:rPr>
              <a:t>FrontierMath</a:t>
            </a:r>
            <a:r>
              <a:rPr lang="zh-CN" sz="2550" b="1">
                <a:solidFill>
                  <a:srgbClr val="20344B"/>
                </a:solidFill>
                <a:latin typeface="Microsoft YaHei"/>
                <a:ea typeface="Microsoft YaHei"/>
              </a:rPr>
              <a:t>：一次评审改了四成</a:t>
            </a:r>
            <a:endParaRPr/>
          </a:p>
        </p:txBody>
      </p:sp>
      <p:sp>
        <p:nvSpPr>
          <p:cNvPr id="914" name=""/>
          <p:cNvSpPr/>
          <p:nvPr/>
        </p:nvSpPr>
        <p:spPr>
          <a:xfrm rot="0" flipH="0" flipV="0">
            <a:off x="609600" y="2076450"/>
            <a:ext cx="3371850" cy="2381250"/>
          </a:xfrm>
          <a:prstGeom prst="roundRect">
            <a:avLst>
              <a:gd name="adj" fmla="val 4800"/>
            </a:avLst>
          </a:prstGeom>
          <a:solidFill>
            <a:srgbClr val="F7F3E8"/>
          </a:solidFill>
          <a:ln/>
        </p:spPr>
        <p:txBody>
          <a:bodyPr/>
          <a:p/>
        </p:txBody>
      </p:sp>
      <p:sp>
        <p:nvSpPr>
          <p:cNvPr id="915" name="" descr="{&quot;isTemplate&quot;:true,&quot;type&quot;:&quot;text&quot;}"/>
          <p:cNvSpPr txBox="1"/>
          <p:nvPr/>
        </p:nvSpPr>
        <p:spPr>
          <a:xfrm rot="0" flipH="0" flipV="0">
            <a:off x="800100" y="2247900"/>
            <a:ext cx="2990850" cy="152400"/>
          </a:xfrm>
          <a:prstGeom prst="rect"/>
        </p:spPr>
        <p:txBody>
          <a:bodyPr wrap="none" lIns="0" tIns="0" rIns="0" bIns="0"/>
          <a:p>
            <a:pPr>
              <a:lnSpc>
                <a:spcPct val="100000"/>
              </a:lnSpc>
            </a:pPr>
            <a:r>
              <a:rPr lang="en-US" sz="975">
                <a:solidFill>
                  <a:srgbClr val="546779"/>
                </a:solidFill>
                <a:latin typeface="Microsoft YaHei"/>
                <a:ea typeface="Microsoft YaHei"/>
              </a:rPr>
              <a:t>2024-11</a:t>
            </a:r>
            <a:endParaRPr/>
          </a:p>
        </p:txBody>
      </p:sp>
      <p:sp>
        <p:nvSpPr>
          <p:cNvPr id="916" name="" descr="{&quot;isTemplate&quot;:true,&quot;type&quot;:&quot;text&quot;}"/>
          <p:cNvSpPr txBox="1"/>
          <p:nvPr/>
        </p:nvSpPr>
        <p:spPr>
          <a:xfrm rot="0" flipH="0" flipV="0">
            <a:off x="800100" y="2476500"/>
            <a:ext cx="2990850" cy="228600"/>
          </a:xfrm>
          <a:prstGeom prst="rect"/>
        </p:spPr>
        <p:txBody>
          <a:bodyPr wrap="none" lIns="0" tIns="0" rIns="0" bIns="0"/>
          <a:p>
            <a:pPr>
              <a:lnSpc>
                <a:spcPct val="100000"/>
              </a:lnSpc>
            </a:pPr>
            <a:r>
              <a:rPr lang="en-US" sz="1500" b="1">
                <a:solidFill>
                  <a:srgbClr val="20344B"/>
                </a:solidFill>
                <a:latin typeface="Microsoft YaHei"/>
                <a:ea typeface="Microsoft YaHei"/>
              </a:rPr>
              <a:t xml:space="preserve">v1 </a:t>
            </a:r>
            <a:r>
              <a:rPr lang="zh-CN" sz="1500" b="1">
                <a:solidFill>
                  <a:srgbClr val="20344B"/>
                </a:solidFill>
                <a:latin typeface="Microsoft YaHei"/>
                <a:ea typeface="Microsoft YaHei"/>
              </a:rPr>
              <a:t>发布</a:t>
            </a:r>
            <a:endParaRPr/>
          </a:p>
        </p:txBody>
      </p:sp>
      <p:sp>
        <p:nvSpPr>
          <p:cNvPr id="917" name="" descr="{&quot;isTemplate&quot;:true,&quot;type&quot;:&quot;text&quot;}"/>
          <p:cNvSpPr txBox="1"/>
          <p:nvPr/>
        </p:nvSpPr>
        <p:spPr>
          <a:xfrm rot="0" flipH="0" flipV="0">
            <a:off x="800100" y="2781300"/>
            <a:ext cx="2990850" cy="485775"/>
          </a:xfrm>
          <a:prstGeom prst="rect"/>
        </p:spPr>
        <p:txBody>
          <a:bodyPr wrap="square" lIns="0" tIns="0" rIns="0" bIns="0">
            <a:normAutofit/>
          </a:bodyPr>
          <a:p>
            <a:pPr>
              <a:lnSpc>
                <a:spcPct val="150000"/>
              </a:lnSpc>
            </a:pPr>
            <a:r>
              <a:rPr lang="zh-CN" sz="1050">
                <a:solidFill>
                  <a:srgbClr val="546779"/>
                </a:solidFill>
                <a:latin typeface="Microsoft YaHei"/>
                <a:ea typeface="Microsoft YaHei"/>
              </a:rPr>
              <a:t>六十多位数学家参与出题与复核，大量题目是研究级难度。</a:t>
            </a:r>
            <a:endParaRPr/>
          </a:p>
        </p:txBody>
      </p:sp>
      <p:sp>
        <p:nvSpPr>
          <p:cNvPr id="918" name="" descr="{&quot;isTemplate&quot;:true,&quot;type&quot;:&quot;text&quot;}"/>
          <p:cNvSpPr txBox="1"/>
          <p:nvPr/>
        </p:nvSpPr>
        <p:spPr>
          <a:xfrm rot="0" flipH="0" flipV="0">
            <a:off x="800100" y="4133850"/>
            <a:ext cx="2990850" cy="152400"/>
          </a:xfrm>
          <a:prstGeom prst="rect"/>
        </p:spPr>
        <p:txBody>
          <a:bodyPr wrap="none" lIns="0" tIns="0" rIns="0" bIns="0"/>
          <a:p>
            <a:pPr>
              <a:lnSpc>
                <a:spcPct val="100000"/>
              </a:lnSpc>
            </a:pPr>
            <a:r>
              <a:rPr lang="zh-CN" sz="975">
                <a:solidFill>
                  <a:srgbClr val="546779"/>
                </a:solidFill>
                <a:latin typeface="Microsoft YaHei"/>
                <a:ea typeface="Microsoft YaHei"/>
              </a:rPr>
              <a:t>当时被当作数学能力的标杆</a:t>
            </a:r>
            <a:endParaRPr/>
          </a:p>
        </p:txBody>
      </p:sp>
      <p:sp>
        <p:nvSpPr>
          <p:cNvPr id="919" name="" descr="{&quot;isTemplate&quot;:true,&quot;type&quot;:&quot;text&quot;}"/>
          <p:cNvSpPr txBox="1"/>
          <p:nvPr/>
        </p:nvSpPr>
        <p:spPr>
          <a:xfrm rot="0" flipH="0" flipV="0">
            <a:off x="4133850" y="3086100"/>
            <a:ext cx="114300" cy="371475"/>
          </a:xfrm>
          <a:prstGeom prst="rect"/>
        </p:spPr>
        <p:txBody>
          <a:bodyPr wrap="none" lIns="0" tIns="0" rIns="0" bIns="0"/>
          <a:p>
            <a:pPr>
              <a:lnSpc>
                <a:spcPct val="100000"/>
              </a:lnSpc>
            </a:pPr>
            <a:r>
              <a:rPr sz="2400">
                <a:solidFill>
                  <a:srgbClr val="CB6B28"/>
                </a:solidFill>
                <a:latin typeface="Microsoft YaHei"/>
                <a:ea typeface="Microsoft YaHei"/>
              </a:rPr>
              <a:t>›</a:t>
            </a:r>
            <a:endParaRPr/>
          </a:p>
        </p:txBody>
      </p:sp>
      <p:sp>
        <p:nvSpPr>
          <p:cNvPr id="920" name=""/>
          <p:cNvSpPr/>
          <p:nvPr/>
        </p:nvSpPr>
        <p:spPr>
          <a:xfrm rot="0" flipH="0" flipV="0">
            <a:off x="4400550" y="2076450"/>
            <a:ext cx="3371850" cy="2381250"/>
          </a:xfrm>
          <a:prstGeom prst="roundRect">
            <a:avLst>
              <a:gd name="adj" fmla="val 4800"/>
            </a:avLst>
          </a:prstGeom>
          <a:solidFill>
            <a:srgbClr val="FFF4E6"/>
          </a:solidFill>
          <a:ln/>
        </p:spPr>
        <p:txBody>
          <a:bodyPr/>
          <a:p/>
        </p:txBody>
      </p:sp>
      <p:sp>
        <p:nvSpPr>
          <p:cNvPr id="921" name="" descr="{&quot;isTemplate&quot;:true,&quot;type&quot;:&quot;text&quot;}"/>
          <p:cNvSpPr txBox="1"/>
          <p:nvPr/>
        </p:nvSpPr>
        <p:spPr>
          <a:xfrm rot="0" flipH="0" flipV="0">
            <a:off x="4591050" y="2247900"/>
            <a:ext cx="2990850" cy="152400"/>
          </a:xfrm>
          <a:prstGeom prst="rect"/>
        </p:spPr>
        <p:txBody>
          <a:bodyPr wrap="none" lIns="0" tIns="0" rIns="0" bIns="0"/>
          <a:p>
            <a:pPr>
              <a:lnSpc>
                <a:spcPct val="100000"/>
              </a:lnSpc>
            </a:pPr>
            <a:r>
              <a:rPr lang="zh-CN" sz="975">
                <a:solidFill>
                  <a:srgbClr val="CB6B28"/>
                </a:solidFill>
                <a:latin typeface="Microsoft YaHei"/>
                <a:ea typeface="Microsoft YaHei"/>
              </a:rPr>
              <a:t>审计</a:t>
            </a:r>
            <a:endParaRPr/>
          </a:p>
        </p:txBody>
      </p:sp>
      <p:sp>
        <p:nvSpPr>
          <p:cNvPr id="922" name="" descr="{&quot;isTemplate&quot;:true,&quot;type&quot;:&quot;text&quot;}"/>
          <p:cNvSpPr txBox="1"/>
          <p:nvPr/>
        </p:nvSpPr>
        <p:spPr>
          <a:xfrm rot="0" flipH="0" flipV="0">
            <a:off x="4591050" y="2476500"/>
            <a:ext cx="2990850" cy="228600"/>
          </a:xfrm>
          <a:prstGeom prst="rect"/>
        </p:spPr>
        <p:txBody>
          <a:bodyPr wrap="none" lIns="0" tIns="0" rIns="0" bIns="0"/>
          <a:p>
            <a:pPr>
              <a:lnSpc>
                <a:spcPct val="100000"/>
              </a:lnSpc>
            </a:pPr>
            <a:r>
              <a:rPr lang="en-US" sz="1500" b="1">
                <a:solidFill>
                  <a:srgbClr val="CB6B28"/>
                </a:solidFill>
                <a:latin typeface="Microsoft YaHei"/>
                <a:ea typeface="Microsoft YaHei"/>
              </a:rPr>
              <a:t xml:space="preserve">42% </a:t>
            </a:r>
            <a:r>
              <a:rPr lang="zh-CN" sz="1500" b="1">
                <a:solidFill>
                  <a:srgbClr val="CB6B28"/>
                </a:solidFill>
                <a:latin typeface="Microsoft YaHei"/>
                <a:ea typeface="Microsoft YaHei"/>
              </a:rPr>
              <a:t>的题有错</a:t>
            </a:r>
            <a:endParaRPr/>
          </a:p>
        </p:txBody>
      </p:sp>
      <p:sp>
        <p:nvSpPr>
          <p:cNvPr id="923" name="" descr="{&quot;isTemplate&quot;:true,&quot;type&quot;:&quot;text&quot;}"/>
          <p:cNvSpPr txBox="1"/>
          <p:nvPr/>
        </p:nvSpPr>
        <p:spPr>
          <a:xfrm rot="0" flipH="0" flipV="0">
            <a:off x="4591050" y="2781300"/>
            <a:ext cx="2990850" cy="485775"/>
          </a:xfrm>
          <a:prstGeom prst="rect"/>
        </p:spPr>
        <p:txBody>
          <a:bodyPr wrap="square" lIns="0" tIns="0" rIns="0" bIns="0">
            <a:normAutofit/>
          </a:bodyPr>
          <a:p>
            <a:pPr>
              <a:lnSpc>
                <a:spcPct val="150000"/>
              </a:lnSpc>
            </a:pPr>
            <a:r>
              <a:rPr lang="zh-CN" sz="1050">
                <a:solidFill>
                  <a:srgbClr val="CB6B28"/>
                </a:solidFill>
                <a:latin typeface="Microsoft YaHei"/>
                <a:ea typeface="Microsoft YaHei"/>
              </a:rPr>
              <a:t>题面本身有误、参考答案不对、判分规则有问题——出题方自查得出。</a:t>
            </a:r>
            <a:endParaRPr/>
          </a:p>
        </p:txBody>
      </p:sp>
      <p:sp>
        <p:nvSpPr>
          <p:cNvPr id="924" name="" descr="{&quot;isTemplate&quot;:true,&quot;type&quot;:&quot;text&quot;}"/>
          <p:cNvSpPr txBox="1"/>
          <p:nvPr/>
        </p:nvSpPr>
        <p:spPr>
          <a:xfrm rot="0" flipH="0" flipV="0">
            <a:off x="4591050" y="4133850"/>
            <a:ext cx="2990850" cy="152400"/>
          </a:xfrm>
          <a:prstGeom prst="rect"/>
        </p:spPr>
        <p:txBody>
          <a:bodyPr wrap="none" lIns="0" tIns="0" rIns="0" bIns="0"/>
          <a:p>
            <a:pPr>
              <a:lnSpc>
                <a:spcPct val="100000"/>
              </a:lnSpc>
            </a:pPr>
            <a:r>
              <a:rPr lang="zh-CN" sz="975">
                <a:solidFill>
                  <a:srgbClr val="CB6B28"/>
                </a:solidFill>
                <a:latin typeface="Microsoft YaHei"/>
                <a:ea typeface="Microsoft YaHei"/>
              </a:rPr>
              <a:t>对研究级题目来说，这个比例很高</a:t>
            </a:r>
            <a:endParaRPr/>
          </a:p>
        </p:txBody>
      </p:sp>
      <p:sp>
        <p:nvSpPr>
          <p:cNvPr id="925" name="" descr="{&quot;isTemplate&quot;:true,&quot;type&quot;:&quot;text&quot;}"/>
          <p:cNvSpPr txBox="1"/>
          <p:nvPr/>
        </p:nvSpPr>
        <p:spPr>
          <a:xfrm rot="0" flipH="0" flipV="0">
            <a:off x="7924800" y="3086100"/>
            <a:ext cx="114300" cy="371475"/>
          </a:xfrm>
          <a:prstGeom prst="rect"/>
        </p:spPr>
        <p:txBody>
          <a:bodyPr wrap="none" lIns="0" tIns="0" rIns="0" bIns="0"/>
          <a:p>
            <a:pPr>
              <a:lnSpc>
                <a:spcPct val="100000"/>
              </a:lnSpc>
            </a:pPr>
            <a:r>
              <a:rPr sz="2400">
                <a:solidFill>
                  <a:srgbClr val="276FBF"/>
                </a:solidFill>
                <a:latin typeface="Microsoft YaHei"/>
                <a:ea typeface="Microsoft YaHei"/>
              </a:rPr>
              <a:t>›</a:t>
            </a:r>
            <a:endParaRPr/>
          </a:p>
        </p:txBody>
      </p:sp>
      <p:sp>
        <p:nvSpPr>
          <p:cNvPr id="926" name=""/>
          <p:cNvSpPr/>
          <p:nvPr/>
        </p:nvSpPr>
        <p:spPr>
          <a:xfrm rot="0" flipH="0" flipV="0">
            <a:off x="8191500" y="2076450"/>
            <a:ext cx="3371850" cy="2381250"/>
          </a:xfrm>
          <a:prstGeom prst="roundRect">
            <a:avLst>
              <a:gd name="adj" fmla="val 4800"/>
            </a:avLst>
          </a:prstGeom>
          <a:solidFill>
            <a:srgbClr val="ECF7F2"/>
          </a:solidFill>
          <a:ln/>
        </p:spPr>
        <p:txBody>
          <a:bodyPr/>
          <a:p/>
        </p:txBody>
      </p:sp>
      <p:sp>
        <p:nvSpPr>
          <p:cNvPr id="927" name="" descr="{&quot;isTemplate&quot;:true,&quot;type&quot;:&quot;text&quot;}"/>
          <p:cNvSpPr txBox="1"/>
          <p:nvPr/>
        </p:nvSpPr>
        <p:spPr>
          <a:xfrm rot="0" flipH="0" flipV="0">
            <a:off x="8382000" y="2247900"/>
            <a:ext cx="2990850" cy="152400"/>
          </a:xfrm>
          <a:prstGeom prst="rect"/>
        </p:spPr>
        <p:txBody>
          <a:bodyPr wrap="none" lIns="0" tIns="0" rIns="0" bIns="0"/>
          <a:p>
            <a:pPr>
              <a:lnSpc>
                <a:spcPct val="100000"/>
              </a:lnSpc>
            </a:pPr>
            <a:r>
              <a:rPr lang="en-US" sz="975">
                <a:solidFill>
                  <a:srgbClr val="26816B"/>
                </a:solidFill>
                <a:latin typeface="Microsoft YaHei"/>
                <a:ea typeface="Microsoft YaHei"/>
              </a:rPr>
              <a:t>2026-06-12</a:t>
            </a:r>
            <a:endParaRPr/>
          </a:p>
        </p:txBody>
      </p:sp>
      <p:sp>
        <p:nvSpPr>
          <p:cNvPr id="928" name="" descr="{&quot;isTemplate&quot;:true,&quot;type&quot;:&quot;text&quot;}"/>
          <p:cNvSpPr txBox="1"/>
          <p:nvPr/>
        </p:nvSpPr>
        <p:spPr>
          <a:xfrm rot="0" flipH="0" flipV="0">
            <a:off x="8382000" y="2476500"/>
            <a:ext cx="2990850" cy="228600"/>
          </a:xfrm>
          <a:prstGeom prst="rect"/>
        </p:spPr>
        <p:txBody>
          <a:bodyPr wrap="none" lIns="0" tIns="0" rIns="0" bIns="0"/>
          <a:p>
            <a:pPr>
              <a:lnSpc>
                <a:spcPct val="100000"/>
              </a:lnSpc>
            </a:pPr>
            <a:r>
              <a:rPr lang="en-US" sz="1500" b="1">
                <a:solidFill>
                  <a:srgbClr val="26816B"/>
                </a:solidFill>
                <a:latin typeface="Microsoft YaHei"/>
                <a:ea typeface="Microsoft YaHei"/>
              </a:rPr>
              <a:t xml:space="preserve">v2 </a:t>
            </a:r>
            <a:r>
              <a:rPr lang="zh-CN" sz="1500" b="1">
                <a:solidFill>
                  <a:srgbClr val="26816B"/>
                </a:solidFill>
                <a:latin typeface="Microsoft YaHei"/>
                <a:ea typeface="Microsoft YaHei"/>
              </a:rPr>
              <a:t>修正发布</a:t>
            </a:r>
            <a:endParaRPr/>
          </a:p>
        </p:txBody>
      </p:sp>
      <p:sp>
        <p:nvSpPr>
          <p:cNvPr id="929" name="" descr="{&quot;isTemplate&quot;:true,&quot;type&quot;:&quot;text&quot;}"/>
          <p:cNvSpPr txBox="1"/>
          <p:nvPr/>
        </p:nvSpPr>
        <p:spPr>
          <a:xfrm rot="0" flipH="0" flipV="0">
            <a:off x="8382000" y="2781300"/>
            <a:ext cx="2990850" cy="485775"/>
          </a:xfrm>
          <a:prstGeom prst="rect"/>
        </p:spPr>
        <p:txBody>
          <a:bodyPr wrap="square" lIns="0" tIns="0" rIns="0" bIns="0">
            <a:normAutofit/>
          </a:bodyPr>
          <a:p>
            <a:pPr>
              <a:lnSpc>
                <a:spcPct val="150000"/>
              </a:lnSpc>
            </a:pPr>
            <a:r>
              <a:rPr lang="zh-CN" sz="1050">
                <a:solidFill>
                  <a:srgbClr val="26816B"/>
                </a:solidFill>
                <a:latin typeface="Microsoft YaHei"/>
                <a:ea typeface="Microsoft YaHei"/>
              </a:rPr>
              <a:t>共</a:t>
            </a:r>
            <a:r>
              <a:rPr lang="en-US" sz="1050">
                <a:solidFill>
                  <a:srgbClr val="26816B"/>
                </a:solidFill>
                <a:latin typeface="Microsoft YaHei"/>
                <a:ea typeface="Microsoft YaHei"/>
              </a:rPr>
              <a:t xml:space="preserve"> 338 </a:t>
            </a:r>
            <a:r>
              <a:rPr lang="zh-CN" sz="1050">
                <a:solidFill>
                  <a:srgbClr val="26816B"/>
                </a:solidFill>
                <a:latin typeface="Microsoft YaHei"/>
                <a:ea typeface="Microsoft YaHei"/>
              </a:rPr>
              <a:t>题</a:t>
            </a:r>
            <a:r>
              <a:rPr lang="en-US" sz="1050">
                <a:solidFill>
                  <a:srgbClr val="26816B"/>
                </a:solidFill>
                <a:latin typeface="Microsoft YaHei"/>
                <a:ea typeface="Microsoft YaHei"/>
              </a:rPr>
              <a:t xml:space="preserve"> = </a:t>
            </a:r>
            <a:r>
              <a:rPr lang="zh-CN" sz="1050">
                <a:solidFill>
                  <a:srgbClr val="26816B"/>
                </a:solidFill>
                <a:latin typeface="Microsoft YaHei"/>
                <a:ea typeface="Microsoft YaHei"/>
              </a:rPr>
              <a:t>第</a:t>
            </a:r>
            <a:r>
              <a:rPr lang="en-US" sz="1050">
                <a:solidFill>
                  <a:srgbClr val="26816B"/>
                </a:solidFill>
                <a:latin typeface="Microsoft YaHei"/>
                <a:ea typeface="Microsoft YaHei"/>
              </a:rPr>
              <a:t xml:space="preserve"> 1–3 </a:t>
            </a:r>
            <a:r>
              <a:rPr lang="zh-CN" sz="1050">
                <a:solidFill>
                  <a:srgbClr val="26816B"/>
                </a:solidFill>
                <a:latin typeface="Microsoft YaHei"/>
                <a:ea typeface="Microsoft YaHei"/>
              </a:rPr>
              <a:t>层</a:t>
            </a:r>
            <a:r>
              <a:rPr lang="en-US" sz="1050">
                <a:solidFill>
                  <a:srgbClr val="26816B"/>
                </a:solidFill>
                <a:latin typeface="Microsoft YaHei"/>
                <a:ea typeface="Microsoft YaHei"/>
              </a:rPr>
              <a:t xml:space="preserve"> 295 </a:t>
            </a:r>
            <a:r>
              <a:rPr lang="zh-CN" sz="1050">
                <a:solidFill>
                  <a:srgbClr val="26816B"/>
                </a:solidFill>
                <a:latin typeface="Microsoft YaHei"/>
                <a:ea typeface="Microsoft YaHei"/>
              </a:rPr>
              <a:t>题</a:t>
            </a:r>
            <a:r>
              <a:rPr lang="en-US" sz="1050">
                <a:solidFill>
                  <a:srgbClr val="26816B"/>
                </a:solidFill>
                <a:latin typeface="Microsoft YaHei"/>
                <a:ea typeface="Microsoft YaHei"/>
              </a:rPr>
              <a:t xml:space="preserve"> </a:t>
            </a:r>
            <a:r>
              <a:rPr lang="zh-CN" sz="1050">
                <a:solidFill>
                  <a:srgbClr val="26816B"/>
                </a:solidFill>
                <a:latin typeface="Microsoft YaHei"/>
                <a:ea typeface="Microsoft YaHei"/>
              </a:rPr>
              <a:t>＋</a:t>
            </a:r>
            <a:r>
              <a:rPr lang="en-US" sz="1050">
                <a:solidFill>
                  <a:srgbClr val="26816B"/>
                </a:solidFill>
                <a:latin typeface="Microsoft YaHei"/>
                <a:ea typeface="Microsoft YaHei"/>
              </a:rPr>
              <a:t xml:space="preserve"> </a:t>
            </a:r>
            <a:r>
              <a:rPr lang="zh-CN" sz="1050">
                <a:solidFill>
                  <a:srgbClr val="26816B"/>
                </a:solidFill>
                <a:latin typeface="Microsoft YaHei"/>
                <a:ea typeface="Microsoft YaHei"/>
              </a:rPr>
              <a:t>第</a:t>
            </a:r>
            <a:r>
              <a:rPr lang="en-US" sz="1050">
                <a:solidFill>
                  <a:srgbClr val="26816B"/>
                </a:solidFill>
                <a:latin typeface="Microsoft YaHei"/>
                <a:ea typeface="Microsoft YaHei"/>
              </a:rPr>
              <a:t xml:space="preserve"> 4 </a:t>
            </a:r>
            <a:r>
              <a:rPr lang="zh-CN" sz="1050">
                <a:solidFill>
                  <a:srgbClr val="26816B"/>
                </a:solidFill>
                <a:latin typeface="Microsoft YaHei"/>
                <a:ea typeface="Microsoft YaHei"/>
              </a:rPr>
              <a:t>层</a:t>
            </a:r>
            <a:r>
              <a:rPr lang="en-US" sz="1050">
                <a:solidFill>
                  <a:srgbClr val="26816B"/>
                </a:solidFill>
                <a:latin typeface="Microsoft YaHei"/>
                <a:ea typeface="Microsoft YaHei"/>
              </a:rPr>
              <a:t xml:space="preserve"> 43 </a:t>
            </a:r>
            <a:r>
              <a:rPr lang="zh-CN" sz="1050">
                <a:solidFill>
                  <a:srgbClr val="26816B"/>
                </a:solidFill>
                <a:latin typeface="Microsoft YaHei"/>
                <a:ea typeface="Microsoft YaHei"/>
              </a:rPr>
              <a:t>题；修正</a:t>
            </a:r>
            <a:r>
              <a:rPr lang="en-US" sz="1050">
                <a:solidFill>
                  <a:srgbClr val="26816B"/>
                </a:solidFill>
                <a:latin typeface="Microsoft YaHei"/>
                <a:ea typeface="Microsoft YaHei"/>
              </a:rPr>
              <a:t xml:space="preserve"> 12 </a:t>
            </a:r>
            <a:r>
              <a:rPr lang="zh-CN" sz="1050">
                <a:solidFill>
                  <a:srgbClr val="26816B"/>
                </a:solidFill>
                <a:latin typeface="Microsoft YaHei"/>
                <a:ea typeface="Microsoft YaHei"/>
              </a:rPr>
              <a:t>题、删</a:t>
            </a:r>
            <a:r>
              <a:rPr lang="en-US" sz="1050">
                <a:solidFill>
                  <a:srgbClr val="26816B"/>
                </a:solidFill>
                <a:latin typeface="Microsoft YaHei"/>
                <a:ea typeface="Microsoft YaHei"/>
              </a:rPr>
              <a:t xml:space="preserve"> 7 </a:t>
            </a:r>
            <a:r>
              <a:rPr lang="zh-CN" sz="1050">
                <a:solidFill>
                  <a:srgbClr val="26816B"/>
                </a:solidFill>
                <a:latin typeface="Microsoft YaHei"/>
                <a:ea typeface="Microsoft YaHei"/>
              </a:rPr>
              <a:t>题。</a:t>
            </a:r>
            <a:endParaRPr/>
          </a:p>
        </p:txBody>
      </p:sp>
      <p:sp>
        <p:nvSpPr>
          <p:cNvPr id="930" name="" descr="{&quot;isTemplate&quot;:true,&quot;type&quot;:&quot;text&quot;}"/>
          <p:cNvSpPr txBox="1"/>
          <p:nvPr/>
        </p:nvSpPr>
        <p:spPr>
          <a:xfrm rot="0" flipH="0" flipV="0">
            <a:off x="8382000" y="4133850"/>
            <a:ext cx="2990850" cy="152400"/>
          </a:xfrm>
          <a:prstGeom prst="rect"/>
        </p:spPr>
        <p:txBody>
          <a:bodyPr wrap="none" lIns="0" tIns="0" rIns="0" bIns="0"/>
          <a:p>
            <a:pPr>
              <a:lnSpc>
                <a:spcPct val="100000"/>
              </a:lnSpc>
            </a:pPr>
            <a:r>
              <a:rPr lang="zh-CN" sz="975">
                <a:solidFill>
                  <a:srgbClr val="26816B"/>
                </a:solidFill>
                <a:latin typeface="Microsoft YaHei"/>
                <a:ea typeface="Microsoft YaHei"/>
              </a:rPr>
              <a:t>仅</a:t>
            </a:r>
            <a:r>
              <a:rPr lang="en-US" sz="975">
                <a:solidFill>
                  <a:srgbClr val="26816B"/>
                </a:solidFill>
                <a:latin typeface="Microsoft YaHei"/>
                <a:ea typeface="Microsoft YaHei"/>
              </a:rPr>
              <a:t xml:space="preserve"> 12 </a:t>
            </a:r>
            <a:r>
              <a:rPr lang="zh-CN" sz="975">
                <a:solidFill>
                  <a:srgbClr val="26816B"/>
                </a:solidFill>
                <a:latin typeface="Microsoft YaHei"/>
                <a:ea typeface="Microsoft YaHei"/>
              </a:rPr>
              <a:t>题公开，其余为私有集</a:t>
            </a:r>
            <a:endParaRPr/>
          </a:p>
        </p:txBody>
      </p:sp>
      <p:sp>
        <p:nvSpPr>
          <p:cNvPr id="931" name=""/>
          <p:cNvSpPr/>
          <p:nvPr/>
        </p:nvSpPr>
        <p:spPr>
          <a:xfrm rot="0" flipH="0" flipV="0">
            <a:off x="609600" y="4667250"/>
            <a:ext cx="10972800" cy="685800"/>
          </a:xfrm>
          <a:prstGeom prst="roundRect">
            <a:avLst>
              <a:gd name="adj" fmla="val 13889"/>
            </a:avLst>
          </a:prstGeom>
          <a:solidFill>
            <a:srgbClr val="F4F7FA"/>
          </a:solidFill>
          <a:ln/>
        </p:spPr>
        <p:txBody>
          <a:bodyPr/>
          <a:p/>
        </p:txBody>
      </p:sp>
      <p:sp>
        <p:nvSpPr>
          <p:cNvPr id="932" name=""/>
          <p:cNvSpPr/>
          <p:nvPr/>
        </p:nvSpPr>
        <p:spPr>
          <a:xfrm rot="0" flipH="0" flipV="0">
            <a:off x="819150" y="4800600"/>
            <a:ext cx="38100" cy="419100"/>
          </a:xfrm>
          <a:prstGeom prst="rect">
            <a:avLst/>
          </a:prstGeom>
          <a:solidFill>
            <a:srgbClr val="276FBF"/>
          </a:solidFill>
          <a:ln/>
        </p:spPr>
        <p:txBody>
          <a:bodyPr/>
          <a:p/>
        </p:txBody>
      </p:sp>
      <p:sp>
        <p:nvSpPr>
          <p:cNvPr id="933" name="" descr="{&quot;isTemplate&quot;:true,&quot;type&quot;:&quot;text&quot;}"/>
          <p:cNvSpPr txBox="1"/>
          <p:nvPr/>
        </p:nvSpPr>
        <p:spPr>
          <a:xfrm rot="0" flipH="0" flipV="0">
            <a:off x="1009650" y="4867275"/>
            <a:ext cx="6096000" cy="285750"/>
          </a:xfrm>
          <a:prstGeom prst="rect"/>
        </p:spPr>
        <p:txBody>
          <a:bodyPr wrap="none" lIns="0" tIns="0" rIns="0" bIns="0"/>
          <a:p>
            <a:pPr>
              <a:lnSpc>
                <a:spcPct val="155000"/>
              </a:lnSpc>
            </a:pPr>
            <a:r>
              <a:rPr lang="zh-CN" sz="1200">
                <a:solidFill>
                  <a:srgbClr val="546779"/>
                </a:solidFill>
                <a:latin typeface="Microsoft YaHei"/>
                <a:ea typeface="Microsoft YaHei"/>
              </a:rPr>
              <a:t>连出题人自己都会审出错题；引用任何分数，都要看版本号与审计记录，新旧分数不可混用</a:t>
            </a:r>
            <a:endParaRPr/>
          </a:p>
        </p:txBody>
      </p:sp>
      <p:sp>
        <p:nvSpPr>
          <p:cNvPr id="934"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935"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34 / 36</a:t>
            </a:r>
            <a:endParaRPr/>
          </a:p>
        </p:txBody>
      </p:sp>
    </p:spTree>
  </p:cSld>
</p:sld>
</file>

<file path=ppt/slides/slide35.xml><?xml version="1.0" encoding="utf-8"?>
<p:sld xmlns:p="http://schemas.openxmlformats.org/presentationml/2006/main" xmlns:a="http://schemas.openxmlformats.org/drawingml/2006/main">
  <p:cSld>
    <p:spTree>
      <p:nvGrpSpPr>
        <p:cNvPr id="936" name="" descr="&lt;Slide notes={`最后一个案例，是当前最大的一个未解决缺口。&#10;&#10;ARC-AGI-3 在 2026 年 3 月发布，人类平均能到七成一，但当时最强的系统只有百分之四点五，中间差了六十多个百分点。具体到模型，Gemini 3.1 Pro 是零点三七，GPT-5.5 是一点八，Opus 4.7 是二点一。也就是说，模型在这个基准上基本等于没做出来。&#10;&#10;为什么这么低？第三版加了两样东西：一是多步骤的交互，模型要在过程中不断行动和调整；二是跨实例的泛化，同一个规则要能应用到看起来完全不同的场景上。这两样正好是当前系统的弱项。&#10;&#10;这个例子说明，错题里最大的一类其实是真不会，不是题目错。分清这一点很重要：题目有错要修题，能力不够就得等能力涨。混在一起谈，会把方向搞错。`}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⑥　1.4.6　错题四：目前最大的一个缺口&lt;/Text&gt;&#10;            &lt;Text style={{ fontSize: 34, fontWeight: 'bold', color: '#20344B' }}&gt;ARC-AGI-3：人类 71%，模型 4.5%&lt;/Text&gt;&#10;        &lt;/Box&gt;&#10;    &lt;/Box&gt;&#10;&#10;    &lt;Box style={{ height: 540, flexDirection: 'column', justifyContent: 'center', gap: 18 }}&gt;&#10;&#10;        &lt;Box style={{ flexDirection: 'row', gap: 12, alignItems: 'center' }}&gt;&#10;            &lt;Text style={{ width: 300, fontSize: 15, fontWeight: 'bold', color: '#546779' }}&gt;人类平均&lt;/Text&gt;&#10;            &lt;Box style={{ width: 672, height: 32, background: '#F4F7FA', borderRadius: 6, flexDirection: 'row' }}&gt;&#10;                &lt;Box style={{ width: 477, height: 32, background: '#546779', borderRadius: 6 }} /&gt;&#10;            &lt;/Box&gt;&#10;            &lt;Text style={{ width: 96, fontSize: 17, fontWeight: 'bold', color: '#546779' }}&gt;约 71&lt;/Text&gt;&#10;        &lt;/Box&gt;&#10;&#10;        &lt;Box style={{ flexDirection: 'row', gap: 12, alignItems: 'center' }}&gt;&#10;            &lt;Text style={{ width: 300, fontSize: 15, fontWeight: 'bold', color: '#CB6B28' }}&gt;当时最强系统&lt;/Text&gt;&#10;            &lt;Box style={{ width: 672, height: 32, background: '#F4F7FA', borderRadius: 6, flexDirection: 'row' }}&gt;&#10;                &lt;Box style={{ width: 30, height: 32, background: '#CB6B28', borderRadius: 6 }} /&gt;&#10;            &lt;/Box&gt;&#10;            &lt;Text style={{ width: 96, fontSize: 17, fontWeight: 'bold', color: '#CB6B28' }}&gt;4.5&lt;/Text&gt;&#10;        &lt;/Box&gt;&#10;&#10;        &lt;Box style={{ flexDirection: 'row', gap: 12, alignItems: 'center', padding: '0 4px' }}&gt;&#10;            &lt;Box style={{ width: 88, height: 32, background: '#FFF4E6', borderRadius: 6, alignItems: 'center', justifyContent: 'center' }}&gt;&lt;Text style={{ fontSize: 13, color: '#CB6B28' }}&gt;0.37&lt;/Text&gt;&lt;/Box&gt;&#10;            &lt;Text style={{ fontSize: 13, color: '#546779', lineHeight: 1.4 }}&gt;Gemini 3.1 Pro&lt;/Text&gt;&#10;            &lt;Box style={{ width: 88, height: 32, background: '#FFF4E6', borderRadius: 6, alignItems: 'center', justifyContent: 'center' }}&gt;&lt;Text style={{ fontSize: 13, color: '#CB6B28' }}&gt;1.8&lt;/Text&gt;&lt;/Box&gt;&#10;            &lt;Text style={{ fontSize: 13, color: '#546779', lineHeight: 1.4 }}&gt;GPT-5.5&lt;/Text&gt;&#10;            &lt;Box style={{ width: 88, height: 32, background: '#FFF4E6', borderRadius: 6, alignItems: 'center', justifyContent: 'center' }}&gt;&lt;Text style={{ fontSize: 13, color: '#CB6B28' }}&gt;2.1&lt;/Text&gt;&lt;/Box&gt;&#10;            &lt;Text style={{ fontSize: 13, color: '#546779', lineHeight: 1.4 }}&gt;Opus 4.7&lt;/Text&gt;&#10;            &lt;Text style={{ fontSize: 13, color: '#546779' }}&gt;（2026 年 3–5 月首轮结果）&lt;/Text&gt;&#10;        &lt;/Box&gt;&#10;&#10;        &lt;Box style={{ flexDirection: 'row', gap: 16 }}&gt;&#10;            &lt;Box style={{ width: 568, height: 168, background: '#EDF4FC', borderRadius: 12, padding: '16px 20px', flexDirection: 'column', gap: 8 }}&gt;&#10;                &lt;Text style={{ fontSize: 18, fontWeight: 'bold', color: '#20344B' }}&gt;为什么这么低&lt;/Text&gt;&#10;                &lt;Text style={{ fontSize: 15, color: '#546779', lineHeight: 1.55 }}&gt;第三版加了两样东西：多步骤的交互，模型要在过程中不断行动和修正；跨实例的泛化，同一规则要能用到看上去完全不同的场景。&lt;/Text&gt;&#10;            &lt;/Box&gt;&#10;            &lt;Box style={{ width: 568, height: 168, background: '#F7F3E8', borderRadius: 12, padding: '16px 20px', flexDirection: 'column', gap: 8 }}&gt;&#10;                &lt;Text style={{ fontSize: 18, fontWeight: 'bold', color: '#20344B' }}&gt;它属于哪一类错题&lt;/Text&gt;&#10;                &lt;Text style={{ fontSize: 15, color: '#546779', lineHeight: 1.55 }}&gt;属于第一类，真不会——题目对人类完全可解，对模型却几乎不可解。这类缺口只能靠能力进步来填，修题没用。&lt;/Text&gt;&#10;            &lt;/Box&gt;&#10;        &lt;/Box&gt;&#10;&#10;    &lt;/Box&gt;&#10;&#10;    &lt;Box style={{ height: 40, flexDirection: 'row', justifyContent: 'space-between', alignItems: 'center' }}&gt;&#10;        &lt;Text style={{ fontSize: 14, color: '#546779' }}&gt;1.4 从榜单到证据&lt;/Text&gt;&#10;        &lt;Text style={{ fontSize: 14, color: '#546779' }}&gt;35 / 36&lt;/Text&gt;&#10;    &lt;/Box&gt;&#10;&#10;&lt;/Slide&gt;&#10;"/>
        <p:cNvGrpSpPr/>
        <p:nvPr/>
      </p:nvGrpSpPr>
      <p:grpSpPr>
        <a:xfrm>
          <a:off x="0" y="0"/>
          <a:ext cx="0" cy="0"/>
          <a:chOff x="0" y="0"/>
          <a:chExt cx="0" cy="0"/>
        </a:xfrm>
      </p:grpSpPr>
      <p:sp>
        <p:nvSpPr>
          <p:cNvPr id="937" name=""/>
          <p:cNvSpPr/>
          <p:nvPr/>
        </p:nvSpPr>
        <p:spPr>
          <a:xfrm rot="0" flipH="0" flipV="0">
            <a:off x="0" y="0"/>
            <a:ext cx="12192000" cy="6858000"/>
          </a:xfrm>
          <a:prstGeom prst="rect">
            <a:avLst/>
          </a:prstGeom>
          <a:solidFill>
            <a:srgbClr val="FFFFFF"/>
          </a:solidFill>
          <a:ln/>
        </p:spPr>
        <p:txBody>
          <a:bodyPr/>
          <a:p/>
        </p:txBody>
      </p:sp>
      <p:sp>
        <p:nvSpPr>
          <p:cNvPr id="938" name=""/>
          <p:cNvSpPr/>
          <p:nvPr/>
        </p:nvSpPr>
        <p:spPr>
          <a:xfrm rot="0" flipH="0" flipV="0">
            <a:off x="609600" y="457200"/>
            <a:ext cx="38100" cy="419100"/>
          </a:xfrm>
          <a:prstGeom prst="rect">
            <a:avLst/>
          </a:prstGeom>
          <a:solidFill>
            <a:srgbClr val="276FBF"/>
          </a:solidFill>
          <a:ln/>
        </p:spPr>
        <p:txBody>
          <a:bodyPr/>
          <a:p/>
        </p:txBody>
      </p:sp>
      <p:sp>
        <p:nvSpPr>
          <p:cNvPr id="939" name="" descr="{&quot;isTemplate&quot;:true,&quot;type&quot;:&quot;text&quot;}"/>
          <p:cNvSpPr txBox="1"/>
          <p:nvPr/>
        </p:nvSpPr>
        <p:spPr>
          <a:xfrm rot="0" flipH="0" flipV="0">
            <a:off x="838200" y="371475"/>
            <a:ext cx="5400675" cy="161925"/>
          </a:xfrm>
          <a:prstGeom prst="rect"/>
        </p:spPr>
        <p:txBody>
          <a:bodyPr wrap="none" lIns="0" tIns="0" rIns="0" bIns="0"/>
          <a:p>
            <a:pPr>
              <a:lnSpc>
                <a:spcPct val="100000"/>
              </a:lnSpc>
            </a:pPr>
            <a:r>
              <a:rPr lang="zh-CN" sz="1050">
                <a:solidFill>
                  <a:srgbClr val="546779"/>
                </a:solidFill>
                <a:latin typeface="Microsoft YaHei"/>
                <a:ea typeface="Microsoft YaHei"/>
              </a:rPr>
              <a:t>⑥　</a:t>
            </a:r>
            <a:r>
              <a:rPr lang="en-US" sz="1050">
                <a:solidFill>
                  <a:srgbClr val="546779"/>
                </a:solidFill>
                <a:latin typeface="Microsoft YaHei"/>
                <a:ea typeface="Microsoft YaHei"/>
              </a:rPr>
              <a:t>1.4.6</a:t>
            </a:r>
            <a:r>
              <a:rPr lang="zh-CN" sz="1050">
                <a:solidFill>
                  <a:srgbClr val="546779"/>
                </a:solidFill>
                <a:latin typeface="Microsoft YaHei"/>
                <a:ea typeface="Microsoft YaHei"/>
              </a:rPr>
              <a:t>　错题四：目前最大的一个缺口</a:t>
            </a:r>
            <a:endParaRPr/>
          </a:p>
        </p:txBody>
      </p:sp>
      <p:sp>
        <p:nvSpPr>
          <p:cNvPr id="940" name="" descr="{&quot;isTemplate&quot;:true,&quot;type&quot;:&quot;text&quot;}"/>
          <p:cNvSpPr txBox="1"/>
          <p:nvPr/>
        </p:nvSpPr>
        <p:spPr>
          <a:xfrm rot="0" flipH="0" flipV="0">
            <a:off x="838200" y="571500"/>
            <a:ext cx="5400675" cy="390525"/>
          </a:xfrm>
          <a:prstGeom prst="rect"/>
        </p:spPr>
        <p:txBody>
          <a:bodyPr wrap="none" lIns="0" tIns="0" rIns="0" bIns="0"/>
          <a:p>
            <a:pPr>
              <a:lnSpc>
                <a:spcPct val="100000"/>
              </a:lnSpc>
            </a:pPr>
            <a:r>
              <a:rPr lang="en-US" sz="2550" b="1">
                <a:solidFill>
                  <a:srgbClr val="20344B"/>
                </a:solidFill>
                <a:latin typeface="Microsoft YaHei"/>
                <a:ea typeface="Microsoft YaHei"/>
              </a:rPr>
              <a:t>ARC-AGI-3</a:t>
            </a:r>
            <a:r>
              <a:rPr lang="zh-CN" sz="2550" b="1">
                <a:solidFill>
                  <a:srgbClr val="20344B"/>
                </a:solidFill>
                <a:latin typeface="Microsoft YaHei"/>
                <a:ea typeface="Microsoft YaHei"/>
              </a:rPr>
              <a:t>：人类</a:t>
            </a:r>
            <a:r>
              <a:rPr lang="en-US" sz="2550" b="1">
                <a:solidFill>
                  <a:srgbClr val="20344B"/>
                </a:solidFill>
                <a:latin typeface="Microsoft YaHei"/>
                <a:ea typeface="Microsoft YaHei"/>
              </a:rPr>
              <a:t xml:space="preserve"> 71%</a:t>
            </a:r>
            <a:r>
              <a:rPr lang="zh-CN" sz="2550" b="1">
                <a:solidFill>
                  <a:srgbClr val="20344B"/>
                </a:solidFill>
                <a:latin typeface="Microsoft YaHei"/>
                <a:ea typeface="Microsoft YaHei"/>
              </a:rPr>
              <a:t>，模型</a:t>
            </a:r>
            <a:r>
              <a:rPr lang="en-US" sz="2550" b="1">
                <a:solidFill>
                  <a:srgbClr val="20344B"/>
                </a:solidFill>
                <a:latin typeface="Microsoft YaHei"/>
                <a:ea typeface="Microsoft YaHei"/>
              </a:rPr>
              <a:t xml:space="preserve"> 4.5%</a:t>
            </a:r>
            <a:endParaRPr/>
          </a:p>
        </p:txBody>
      </p:sp>
      <p:sp>
        <p:nvSpPr>
          <p:cNvPr id="941" name="" descr="{&quot;isTemplate&quot;:true,&quot;type&quot;:&quot;text&quot;}"/>
          <p:cNvSpPr txBox="1"/>
          <p:nvPr/>
        </p:nvSpPr>
        <p:spPr>
          <a:xfrm rot="0" flipH="0" flipV="0">
            <a:off x="609600" y="2266950"/>
            <a:ext cx="2857500" cy="171450"/>
          </a:xfrm>
          <a:prstGeom prst="rect"/>
        </p:spPr>
        <p:txBody>
          <a:bodyPr wrap="none" lIns="0" tIns="0" rIns="0" bIns="0"/>
          <a:p>
            <a:pPr>
              <a:lnSpc>
                <a:spcPct val="100000"/>
              </a:lnSpc>
            </a:pPr>
            <a:r>
              <a:rPr lang="zh-CN" sz="1125" b="1">
                <a:solidFill>
                  <a:srgbClr val="546779"/>
                </a:solidFill>
                <a:latin typeface="Microsoft YaHei"/>
                <a:ea typeface="Microsoft YaHei"/>
              </a:rPr>
              <a:t>人类平均</a:t>
            </a:r>
            <a:endParaRPr/>
          </a:p>
        </p:txBody>
      </p:sp>
      <p:sp>
        <p:nvSpPr>
          <p:cNvPr id="942" name=""/>
          <p:cNvSpPr/>
          <p:nvPr/>
        </p:nvSpPr>
        <p:spPr>
          <a:xfrm rot="0" flipH="0" flipV="0">
            <a:off x="3581400" y="2200275"/>
            <a:ext cx="6400800" cy="304800"/>
          </a:xfrm>
          <a:prstGeom prst="roundRect">
            <a:avLst>
              <a:gd name="adj" fmla="val 18750"/>
            </a:avLst>
          </a:prstGeom>
          <a:solidFill>
            <a:srgbClr val="F4F7FA"/>
          </a:solidFill>
          <a:ln/>
        </p:spPr>
        <p:txBody>
          <a:bodyPr/>
          <a:p/>
        </p:txBody>
      </p:sp>
      <p:sp>
        <p:nvSpPr>
          <p:cNvPr id="943" name=""/>
          <p:cNvSpPr/>
          <p:nvPr/>
        </p:nvSpPr>
        <p:spPr>
          <a:xfrm rot="0" flipH="0" flipV="0">
            <a:off x="3581400" y="2200275"/>
            <a:ext cx="4543425" cy="304800"/>
          </a:xfrm>
          <a:prstGeom prst="roundRect">
            <a:avLst>
              <a:gd name="adj" fmla="val 18750"/>
            </a:avLst>
          </a:prstGeom>
          <a:solidFill>
            <a:srgbClr val="546779"/>
          </a:solidFill>
          <a:ln/>
        </p:spPr>
        <p:txBody>
          <a:bodyPr/>
          <a:p/>
        </p:txBody>
      </p:sp>
      <p:sp>
        <p:nvSpPr>
          <p:cNvPr id="944" name="" descr="{&quot;isTemplate&quot;:true,&quot;type&quot;:&quot;text&quot;}"/>
          <p:cNvSpPr txBox="1"/>
          <p:nvPr/>
        </p:nvSpPr>
        <p:spPr>
          <a:xfrm rot="0" flipH="0" flipV="0">
            <a:off x="10096500" y="2257425"/>
            <a:ext cx="914400" cy="200025"/>
          </a:xfrm>
          <a:prstGeom prst="rect"/>
        </p:spPr>
        <p:txBody>
          <a:bodyPr wrap="none" lIns="0" tIns="0" rIns="0" bIns="0"/>
          <a:p>
            <a:pPr>
              <a:lnSpc>
                <a:spcPct val="100000"/>
              </a:lnSpc>
            </a:pPr>
            <a:r>
              <a:rPr lang="zh-CN" sz="1275" b="1">
                <a:solidFill>
                  <a:srgbClr val="546779"/>
                </a:solidFill>
                <a:latin typeface="Microsoft YaHei"/>
                <a:ea typeface="Microsoft YaHei"/>
              </a:rPr>
              <a:t>约</a:t>
            </a:r>
            <a:r>
              <a:rPr lang="en-US" sz="1275" b="1">
                <a:solidFill>
                  <a:srgbClr val="546779"/>
                </a:solidFill>
                <a:latin typeface="Microsoft YaHei"/>
                <a:ea typeface="Microsoft YaHei"/>
              </a:rPr>
              <a:t xml:space="preserve"> 71</a:t>
            </a:r>
            <a:endParaRPr/>
          </a:p>
        </p:txBody>
      </p:sp>
      <p:sp>
        <p:nvSpPr>
          <p:cNvPr id="945" name="" descr="{&quot;isTemplate&quot;:true,&quot;type&quot;:&quot;text&quot;}"/>
          <p:cNvSpPr txBox="1"/>
          <p:nvPr/>
        </p:nvSpPr>
        <p:spPr>
          <a:xfrm rot="0" flipH="0" flipV="0">
            <a:off x="609600" y="2743200"/>
            <a:ext cx="2857500" cy="171450"/>
          </a:xfrm>
          <a:prstGeom prst="rect"/>
        </p:spPr>
        <p:txBody>
          <a:bodyPr wrap="none" lIns="0" tIns="0" rIns="0" bIns="0"/>
          <a:p>
            <a:pPr>
              <a:lnSpc>
                <a:spcPct val="100000"/>
              </a:lnSpc>
            </a:pPr>
            <a:r>
              <a:rPr lang="zh-CN" sz="1125" b="1">
                <a:solidFill>
                  <a:srgbClr val="CB6B28"/>
                </a:solidFill>
                <a:latin typeface="Microsoft YaHei"/>
                <a:ea typeface="Microsoft YaHei"/>
              </a:rPr>
              <a:t>当时最强系统</a:t>
            </a:r>
            <a:endParaRPr/>
          </a:p>
        </p:txBody>
      </p:sp>
      <p:sp>
        <p:nvSpPr>
          <p:cNvPr id="946" name=""/>
          <p:cNvSpPr/>
          <p:nvPr/>
        </p:nvSpPr>
        <p:spPr>
          <a:xfrm rot="0" flipH="0" flipV="0">
            <a:off x="3581400" y="2676525"/>
            <a:ext cx="6400800" cy="304800"/>
          </a:xfrm>
          <a:prstGeom prst="roundRect">
            <a:avLst>
              <a:gd name="adj" fmla="val 18750"/>
            </a:avLst>
          </a:prstGeom>
          <a:solidFill>
            <a:srgbClr val="F4F7FA"/>
          </a:solidFill>
          <a:ln/>
        </p:spPr>
        <p:txBody>
          <a:bodyPr/>
          <a:p/>
        </p:txBody>
      </p:sp>
      <p:sp>
        <p:nvSpPr>
          <p:cNvPr id="947" name=""/>
          <p:cNvSpPr/>
          <p:nvPr/>
        </p:nvSpPr>
        <p:spPr>
          <a:xfrm rot="0" flipH="0" flipV="0">
            <a:off x="3581400" y="2676525"/>
            <a:ext cx="285750" cy="304800"/>
          </a:xfrm>
          <a:prstGeom prst="roundRect">
            <a:avLst>
              <a:gd name="adj" fmla="val 20000"/>
            </a:avLst>
          </a:prstGeom>
          <a:solidFill>
            <a:srgbClr val="CB6B28"/>
          </a:solidFill>
          <a:ln/>
        </p:spPr>
        <p:txBody>
          <a:bodyPr/>
          <a:p/>
        </p:txBody>
      </p:sp>
      <p:sp>
        <p:nvSpPr>
          <p:cNvPr id="948" name="" descr="{&quot;isTemplate&quot;:true,&quot;type&quot;:&quot;text&quot;}"/>
          <p:cNvSpPr txBox="1"/>
          <p:nvPr/>
        </p:nvSpPr>
        <p:spPr>
          <a:xfrm rot="0" flipH="0" flipV="0">
            <a:off x="10096500" y="2733675"/>
            <a:ext cx="914400" cy="200025"/>
          </a:xfrm>
          <a:prstGeom prst="rect"/>
        </p:spPr>
        <p:txBody>
          <a:bodyPr wrap="none" lIns="0" tIns="0" rIns="0" bIns="0"/>
          <a:p>
            <a:pPr>
              <a:lnSpc>
                <a:spcPct val="100000"/>
              </a:lnSpc>
            </a:pPr>
            <a:r>
              <a:rPr lang="en-US" sz="1275" b="1">
                <a:solidFill>
                  <a:srgbClr val="CB6B28"/>
                </a:solidFill>
                <a:latin typeface="Microsoft YaHei"/>
                <a:ea typeface="Microsoft YaHei"/>
              </a:rPr>
              <a:t>4.5</a:t>
            </a:r>
            <a:endParaRPr/>
          </a:p>
        </p:txBody>
      </p:sp>
      <p:sp>
        <p:nvSpPr>
          <p:cNvPr id="949" name=""/>
          <p:cNvSpPr/>
          <p:nvPr/>
        </p:nvSpPr>
        <p:spPr>
          <a:xfrm rot="0" flipH="0" flipV="0">
            <a:off x="647700" y="3152775"/>
            <a:ext cx="838200" cy="304800"/>
          </a:xfrm>
          <a:prstGeom prst="roundRect">
            <a:avLst>
              <a:gd name="adj" fmla="val 18750"/>
            </a:avLst>
          </a:prstGeom>
          <a:solidFill>
            <a:srgbClr val="FFF4E6"/>
          </a:solidFill>
          <a:ln/>
        </p:spPr>
        <p:txBody>
          <a:bodyPr/>
          <a:p/>
        </p:txBody>
      </p:sp>
      <p:sp>
        <p:nvSpPr>
          <p:cNvPr id="950" name="" descr="{&quot;isTemplate&quot;:true,&quot;type&quot;:&quot;text&quot;}"/>
          <p:cNvSpPr txBox="1"/>
          <p:nvPr/>
        </p:nvSpPr>
        <p:spPr>
          <a:xfrm rot="0" flipH="0" flipV="0">
            <a:off x="942975" y="3228975"/>
            <a:ext cx="257175" cy="152400"/>
          </a:xfrm>
          <a:prstGeom prst="rect"/>
        </p:spPr>
        <p:txBody>
          <a:bodyPr wrap="none" lIns="0" tIns="0" rIns="0" bIns="0"/>
          <a:p>
            <a:pPr>
              <a:lnSpc>
                <a:spcPct val="100000"/>
              </a:lnSpc>
            </a:pPr>
            <a:r>
              <a:rPr lang="en-US" sz="975">
                <a:solidFill>
                  <a:srgbClr val="CB6B28"/>
                </a:solidFill>
                <a:latin typeface="Microsoft YaHei"/>
                <a:ea typeface="Microsoft YaHei"/>
              </a:rPr>
              <a:t>0.37</a:t>
            </a:r>
            <a:endParaRPr/>
          </a:p>
        </p:txBody>
      </p:sp>
      <p:sp>
        <p:nvSpPr>
          <p:cNvPr id="951" name="" descr="{&quot;isTemplate&quot;:true,&quot;type&quot;:&quot;text&quot;}"/>
          <p:cNvSpPr txBox="1"/>
          <p:nvPr/>
        </p:nvSpPr>
        <p:spPr>
          <a:xfrm rot="0" flipH="0" flipV="0">
            <a:off x="1600200" y="3200400"/>
            <a:ext cx="876300" cy="209550"/>
          </a:xfrm>
          <a:prstGeom prst="rect"/>
        </p:spPr>
        <p:txBody>
          <a:bodyPr wrap="none" lIns="0" tIns="0" rIns="0" bIns="0"/>
          <a:p>
            <a:pPr>
              <a:lnSpc>
                <a:spcPct val="140000"/>
              </a:lnSpc>
            </a:pPr>
            <a:r>
              <a:rPr lang="en-US" sz="975">
                <a:solidFill>
                  <a:srgbClr val="546779"/>
                </a:solidFill>
                <a:latin typeface="Microsoft YaHei"/>
                <a:ea typeface="Microsoft YaHei"/>
              </a:rPr>
              <a:t>Gemini 3.1 Pro</a:t>
            </a:r>
            <a:endParaRPr/>
          </a:p>
        </p:txBody>
      </p:sp>
      <p:sp>
        <p:nvSpPr>
          <p:cNvPr id="952" name=""/>
          <p:cNvSpPr/>
          <p:nvPr/>
        </p:nvSpPr>
        <p:spPr>
          <a:xfrm rot="0" flipH="0" flipV="0">
            <a:off x="2590800" y="3152775"/>
            <a:ext cx="838200" cy="304800"/>
          </a:xfrm>
          <a:prstGeom prst="roundRect">
            <a:avLst>
              <a:gd name="adj" fmla="val 18750"/>
            </a:avLst>
          </a:prstGeom>
          <a:solidFill>
            <a:srgbClr val="FFF4E6"/>
          </a:solidFill>
          <a:ln/>
        </p:spPr>
        <p:txBody>
          <a:bodyPr/>
          <a:p/>
        </p:txBody>
      </p:sp>
      <p:sp>
        <p:nvSpPr>
          <p:cNvPr id="953" name="" descr="{&quot;isTemplate&quot;:true,&quot;type&quot;:&quot;text&quot;}"/>
          <p:cNvSpPr txBox="1"/>
          <p:nvPr/>
        </p:nvSpPr>
        <p:spPr>
          <a:xfrm rot="0" flipH="0" flipV="0">
            <a:off x="2924175" y="3228975"/>
            <a:ext cx="180975" cy="152400"/>
          </a:xfrm>
          <a:prstGeom prst="rect"/>
        </p:spPr>
        <p:txBody>
          <a:bodyPr wrap="none" lIns="0" tIns="0" rIns="0" bIns="0"/>
          <a:p>
            <a:pPr>
              <a:lnSpc>
                <a:spcPct val="100000"/>
              </a:lnSpc>
            </a:pPr>
            <a:r>
              <a:rPr lang="en-US" sz="975">
                <a:solidFill>
                  <a:srgbClr val="CB6B28"/>
                </a:solidFill>
                <a:latin typeface="Microsoft YaHei"/>
                <a:ea typeface="Microsoft YaHei"/>
              </a:rPr>
              <a:t>1.8</a:t>
            </a:r>
            <a:endParaRPr/>
          </a:p>
        </p:txBody>
      </p:sp>
      <p:sp>
        <p:nvSpPr>
          <p:cNvPr id="954" name="" descr="{&quot;isTemplate&quot;:true,&quot;type&quot;:&quot;text&quot;}"/>
          <p:cNvSpPr txBox="1"/>
          <p:nvPr/>
        </p:nvSpPr>
        <p:spPr>
          <a:xfrm rot="0" flipH="0" flipV="0">
            <a:off x="3543300" y="3200400"/>
            <a:ext cx="476250" cy="209550"/>
          </a:xfrm>
          <a:prstGeom prst="rect"/>
        </p:spPr>
        <p:txBody>
          <a:bodyPr wrap="none" lIns="0" tIns="0" rIns="0" bIns="0"/>
          <a:p>
            <a:pPr>
              <a:lnSpc>
                <a:spcPct val="140000"/>
              </a:lnSpc>
            </a:pPr>
            <a:r>
              <a:rPr lang="en-US" sz="975">
                <a:solidFill>
                  <a:srgbClr val="546779"/>
                </a:solidFill>
                <a:latin typeface="Microsoft YaHei"/>
                <a:ea typeface="Microsoft YaHei"/>
              </a:rPr>
              <a:t>GPT-5.5</a:t>
            </a:r>
            <a:endParaRPr/>
          </a:p>
        </p:txBody>
      </p:sp>
      <p:sp>
        <p:nvSpPr>
          <p:cNvPr id="955" name=""/>
          <p:cNvSpPr/>
          <p:nvPr/>
        </p:nvSpPr>
        <p:spPr>
          <a:xfrm rot="0" flipH="0" flipV="0">
            <a:off x="4133850" y="3152775"/>
            <a:ext cx="838200" cy="304800"/>
          </a:xfrm>
          <a:prstGeom prst="roundRect">
            <a:avLst>
              <a:gd name="adj" fmla="val 18750"/>
            </a:avLst>
          </a:prstGeom>
          <a:solidFill>
            <a:srgbClr val="FFF4E6"/>
          </a:solidFill>
          <a:ln/>
        </p:spPr>
        <p:txBody>
          <a:bodyPr/>
          <a:p/>
        </p:txBody>
      </p:sp>
      <p:sp>
        <p:nvSpPr>
          <p:cNvPr id="956" name="" descr="{&quot;isTemplate&quot;:true,&quot;type&quot;:&quot;text&quot;}"/>
          <p:cNvSpPr txBox="1"/>
          <p:nvPr/>
        </p:nvSpPr>
        <p:spPr>
          <a:xfrm rot="0" flipH="0" flipV="0">
            <a:off x="4467225" y="3228975"/>
            <a:ext cx="180975" cy="152400"/>
          </a:xfrm>
          <a:prstGeom prst="rect"/>
        </p:spPr>
        <p:txBody>
          <a:bodyPr wrap="none" lIns="0" tIns="0" rIns="0" bIns="0"/>
          <a:p>
            <a:pPr>
              <a:lnSpc>
                <a:spcPct val="100000"/>
              </a:lnSpc>
            </a:pPr>
            <a:r>
              <a:rPr lang="en-US" sz="975">
                <a:solidFill>
                  <a:srgbClr val="CB6B28"/>
                </a:solidFill>
                <a:latin typeface="Microsoft YaHei"/>
                <a:ea typeface="Microsoft YaHei"/>
              </a:rPr>
              <a:t>2.1</a:t>
            </a:r>
            <a:endParaRPr/>
          </a:p>
        </p:txBody>
      </p:sp>
      <p:sp>
        <p:nvSpPr>
          <p:cNvPr id="957" name="" descr="{&quot;isTemplate&quot;:true,&quot;type&quot;:&quot;text&quot;}"/>
          <p:cNvSpPr txBox="1"/>
          <p:nvPr/>
        </p:nvSpPr>
        <p:spPr>
          <a:xfrm rot="0" flipH="0" flipV="0">
            <a:off x="5086350" y="3200400"/>
            <a:ext cx="533400" cy="209550"/>
          </a:xfrm>
          <a:prstGeom prst="rect"/>
        </p:spPr>
        <p:txBody>
          <a:bodyPr wrap="none" lIns="0" tIns="0" rIns="0" bIns="0"/>
          <a:p>
            <a:pPr>
              <a:lnSpc>
                <a:spcPct val="140000"/>
              </a:lnSpc>
            </a:pPr>
            <a:r>
              <a:rPr lang="en-US" sz="975">
                <a:solidFill>
                  <a:srgbClr val="546779"/>
                </a:solidFill>
                <a:latin typeface="Microsoft YaHei"/>
                <a:ea typeface="Microsoft YaHei"/>
              </a:rPr>
              <a:t>Opus 4.7</a:t>
            </a:r>
            <a:endParaRPr/>
          </a:p>
        </p:txBody>
      </p:sp>
      <p:sp>
        <p:nvSpPr>
          <p:cNvPr id="958" name="" descr="{&quot;isTemplate&quot;:true,&quot;type&quot;:&quot;text&quot;}"/>
          <p:cNvSpPr txBox="1"/>
          <p:nvPr/>
        </p:nvSpPr>
        <p:spPr>
          <a:xfrm rot="0" flipH="0" flipV="0">
            <a:off x="5734050" y="3228975"/>
            <a:ext cx="1609725" cy="152400"/>
          </a:xfrm>
          <a:prstGeom prst="rect"/>
        </p:spPr>
        <p:txBody>
          <a:bodyPr wrap="none" lIns="0" tIns="0" rIns="0" bIns="0"/>
          <a:p>
            <a:pPr>
              <a:lnSpc>
                <a:spcPct val="100000"/>
              </a:lnSpc>
            </a:pPr>
            <a:r>
              <a:rPr lang="zh-CN" sz="975">
                <a:solidFill>
                  <a:srgbClr val="546779"/>
                </a:solidFill>
                <a:latin typeface="Microsoft YaHei"/>
                <a:ea typeface="Microsoft YaHei"/>
              </a:rPr>
              <a:t>（</a:t>
            </a:r>
            <a:r>
              <a:rPr lang="en-US" sz="975">
                <a:solidFill>
                  <a:srgbClr val="546779"/>
                </a:solidFill>
                <a:latin typeface="Microsoft YaHei"/>
                <a:ea typeface="Microsoft YaHei"/>
              </a:rPr>
              <a:t xml:space="preserve">2026 </a:t>
            </a:r>
            <a:r>
              <a:rPr lang="zh-CN" sz="975">
                <a:solidFill>
                  <a:srgbClr val="546779"/>
                </a:solidFill>
                <a:latin typeface="Microsoft YaHei"/>
                <a:ea typeface="Microsoft YaHei"/>
              </a:rPr>
              <a:t>年</a:t>
            </a:r>
            <a:r>
              <a:rPr lang="en-US" sz="975">
                <a:solidFill>
                  <a:srgbClr val="546779"/>
                </a:solidFill>
                <a:latin typeface="Microsoft YaHei"/>
                <a:ea typeface="Microsoft YaHei"/>
              </a:rPr>
              <a:t xml:space="preserve"> 3–5 </a:t>
            </a:r>
            <a:r>
              <a:rPr lang="zh-CN" sz="975">
                <a:solidFill>
                  <a:srgbClr val="546779"/>
                </a:solidFill>
                <a:latin typeface="Microsoft YaHei"/>
                <a:ea typeface="Microsoft YaHei"/>
              </a:rPr>
              <a:t>月首轮结果）</a:t>
            </a:r>
            <a:endParaRPr/>
          </a:p>
        </p:txBody>
      </p:sp>
      <p:sp>
        <p:nvSpPr>
          <p:cNvPr id="959" name=""/>
          <p:cNvSpPr/>
          <p:nvPr/>
        </p:nvSpPr>
        <p:spPr>
          <a:xfrm rot="0" flipH="0" flipV="0">
            <a:off x="609600" y="3629025"/>
            <a:ext cx="5410200" cy="1600200"/>
          </a:xfrm>
          <a:prstGeom prst="roundRect">
            <a:avLst>
              <a:gd name="adj" fmla="val 7143"/>
            </a:avLst>
          </a:prstGeom>
          <a:solidFill>
            <a:srgbClr val="EDF4FC"/>
          </a:solidFill>
          <a:ln/>
        </p:spPr>
        <p:txBody>
          <a:bodyPr/>
          <a:p/>
        </p:txBody>
      </p:sp>
      <p:sp>
        <p:nvSpPr>
          <p:cNvPr id="960" name="" descr="{&quot;isTemplate&quot;:true,&quot;type&quot;:&quot;text&quot;}"/>
          <p:cNvSpPr txBox="1"/>
          <p:nvPr/>
        </p:nvSpPr>
        <p:spPr>
          <a:xfrm rot="0" flipH="0" flipV="0">
            <a:off x="800100" y="3781425"/>
            <a:ext cx="5029200" cy="209550"/>
          </a:xfrm>
          <a:prstGeom prst="rect"/>
        </p:spPr>
        <p:txBody>
          <a:bodyPr wrap="none" lIns="0" tIns="0" rIns="0" bIns="0"/>
          <a:p>
            <a:pPr>
              <a:lnSpc>
                <a:spcPct val="100000"/>
              </a:lnSpc>
            </a:pPr>
            <a:r>
              <a:rPr lang="zh-CN" sz="1350" b="1">
                <a:solidFill>
                  <a:srgbClr val="20344B"/>
                </a:solidFill>
                <a:latin typeface="Microsoft YaHei"/>
                <a:ea typeface="Microsoft YaHei"/>
              </a:rPr>
              <a:t>为什么这么低</a:t>
            </a:r>
            <a:endParaRPr/>
          </a:p>
        </p:txBody>
      </p:sp>
      <p:sp>
        <p:nvSpPr>
          <p:cNvPr id="961" name="" descr="{&quot;isTemplate&quot;:true,&quot;type&quot;:&quot;text&quot;}"/>
          <p:cNvSpPr txBox="1"/>
          <p:nvPr/>
        </p:nvSpPr>
        <p:spPr>
          <a:xfrm rot="0" flipH="0" flipV="0">
            <a:off x="800100" y="4067175"/>
            <a:ext cx="5029200"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第三版加了两样东西：多步骤的交互，模型要在过程中不断行动和修正；跨实例的泛化，同一规则要能用到看上去完全不同的场景。</a:t>
            </a:r>
            <a:endParaRPr/>
          </a:p>
        </p:txBody>
      </p:sp>
      <p:sp>
        <p:nvSpPr>
          <p:cNvPr id="962" name=""/>
          <p:cNvSpPr/>
          <p:nvPr/>
        </p:nvSpPr>
        <p:spPr>
          <a:xfrm rot="0" flipH="0" flipV="0">
            <a:off x="6172200" y="3629025"/>
            <a:ext cx="5410200" cy="1600200"/>
          </a:xfrm>
          <a:prstGeom prst="roundRect">
            <a:avLst>
              <a:gd name="adj" fmla="val 7143"/>
            </a:avLst>
          </a:prstGeom>
          <a:solidFill>
            <a:srgbClr val="F7F3E8"/>
          </a:solidFill>
          <a:ln/>
        </p:spPr>
        <p:txBody>
          <a:bodyPr/>
          <a:p/>
        </p:txBody>
      </p:sp>
      <p:sp>
        <p:nvSpPr>
          <p:cNvPr id="963" name="" descr="{&quot;isTemplate&quot;:true,&quot;type&quot;:&quot;text&quot;}"/>
          <p:cNvSpPr txBox="1"/>
          <p:nvPr/>
        </p:nvSpPr>
        <p:spPr>
          <a:xfrm rot="0" flipH="0" flipV="0">
            <a:off x="6362700" y="3781425"/>
            <a:ext cx="5029200" cy="209550"/>
          </a:xfrm>
          <a:prstGeom prst="rect"/>
        </p:spPr>
        <p:txBody>
          <a:bodyPr wrap="none" lIns="0" tIns="0" rIns="0" bIns="0"/>
          <a:p>
            <a:pPr>
              <a:lnSpc>
                <a:spcPct val="100000"/>
              </a:lnSpc>
            </a:pPr>
            <a:r>
              <a:rPr lang="zh-CN" sz="1350" b="1">
                <a:solidFill>
                  <a:srgbClr val="20344B"/>
                </a:solidFill>
                <a:latin typeface="Microsoft YaHei"/>
                <a:ea typeface="Microsoft YaHei"/>
              </a:rPr>
              <a:t>它属于哪一类错题</a:t>
            </a:r>
            <a:endParaRPr/>
          </a:p>
        </p:txBody>
      </p:sp>
      <p:sp>
        <p:nvSpPr>
          <p:cNvPr id="964" name="" descr="{&quot;isTemplate&quot;:true,&quot;type&quot;:&quot;text&quot;}"/>
          <p:cNvSpPr txBox="1"/>
          <p:nvPr/>
        </p:nvSpPr>
        <p:spPr>
          <a:xfrm rot="0" flipH="0" flipV="0">
            <a:off x="6362700" y="4067175"/>
            <a:ext cx="5029200" cy="533400"/>
          </a:xfrm>
          <a:prstGeom prst="rect"/>
        </p:spPr>
        <p:txBody>
          <a:bodyPr wrap="square" lIns="0" tIns="0" rIns="0" bIns="0">
            <a:normAutofit/>
          </a:bodyPr>
          <a:p>
            <a:pPr>
              <a:lnSpc>
                <a:spcPct val="155000"/>
              </a:lnSpc>
            </a:pPr>
            <a:r>
              <a:rPr lang="zh-CN" sz="1125">
                <a:solidFill>
                  <a:srgbClr val="546779"/>
                </a:solidFill>
                <a:latin typeface="Microsoft YaHei"/>
                <a:ea typeface="Microsoft YaHei"/>
              </a:rPr>
              <a:t>属于第一类，真不会——题目对人类完全可解，对模型却几乎不可解。这类缺口只能靠能力进步来填，修题没用。</a:t>
            </a:r>
            <a:endParaRPr/>
          </a:p>
        </p:txBody>
      </p:sp>
      <p:sp>
        <p:nvSpPr>
          <p:cNvPr id="965"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966"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35 / 36</a:t>
            </a:r>
            <a:endParaRPr/>
          </a:p>
        </p:txBody>
      </p:sp>
    </p:spTree>
  </p:cSld>
</p:sld>
</file>

<file path=ppt/slides/slide36.xml><?xml version="1.0" encoding="utf-8"?>
<p:sld xmlns:p="http://schemas.openxmlformats.org/presentationml/2006/main" xmlns:a="http://schemas.openxmlformats.org/drawingml/2006/main">
  <p:cSld>
    <p:spTree>
      <p:nvGrpSpPr>
        <p:cNvPr id="967" name="" descr="&lt;Slide notes={`这一节我们走了六步。&#10;&#10;第一步问方法，这个分数是怎么评出来的，是选择题还是可执行任务，由谁判对错。第二步问机构，这个基准是谁做的，题目公开吗，有没有第三方审过。第三步问样本集，一共多少题，覆盖什么领域，看的是哪一层。第四步读真题，题面长什么样，答案要写成什么形式。第五步看得分，在什么协议、什么时间、哪个来源下，谁排第一。第六步看错题，是模型真不会，还是题目本身有错。&#10;&#10;六步走完，你就有了一个固定的检查顺序。任何一句&quot;某模型在某某榜上多少分&quot;，你都能把它还原成具体的题目、条件和时间。&#10;&#10;下一节换个角度：不再看单个基准，而是看这些分数背后，各家模型在能力上呈现出的整体面貌。`} style={{ width: 1280, height: 720, background: '#FFFFFF', flexDirection: 'column', padding: '20px 64px' }}&gt;&#10;&#10;    &lt;Box style={{ height: 100, flexDirection: 'row', alignItems: 'center', gap: 20 }}&gt;&#10;        &lt;Box style={{ width: 4, height: 44, background: '#276FBF' }} /&gt;&#10;        &lt;Box style={{ flexDirection: 'column', gap: 4 }}&gt;&#10;            &lt;Text style={{ fontSize: 14, color: '#546779' }}&gt;1.4　小结&lt;/Text&gt;&#10;            &lt;Text style={{ fontSize: 34, fontWeight: 'bold', color: '#20344B' }}&gt;六步之后，你该带走什么&lt;/Text&gt;&#10;        &lt;/Box&gt;&#10;    &lt;/Box&gt;&#10;&#10;    &lt;Box style={{ height: 540, flexDirection: 'column', justifyContent: 'center', gap: 12 }}&gt;&#10;&#10;        &lt;Box style={{ flexDirection: 'row', gap: 14, alignItems: 'center', background: '#F7F3E8', borderRadius: 10, padding: '10px 22px' }}&gt;&#10;            &lt;Box style={{ width: 4, height: 28, background: '#276FBF' }} /&gt;&#10;            &lt;Text style={{ fontSize: 15, color: '#20344B', lineHeight: 1.45 }}&gt;听到任何一句&quot;某模型拿了多少分&quot;，按这六问依次过一遍&lt;/Text&gt;&#10;        &lt;/Box&gt;&#10;&#10;        &lt;Box style={{ flexDirection: 'row', alignItems: 'center' }}&gt;&#10;            &lt;Box style={{ width: 340, height: 58, background: '#EDF4FC', borderRadius: 8, padding: '0 18px', flexDirection: 'row', alignItems: 'center', gap: 10 }}&gt;&#10;                &lt;Text style={{ fontSize: 16, fontWeight: 'bold', color: '#276FBF' }}&gt;① 方法&lt;/Text&gt;&#10;            &lt;/Box&gt;&#10;            &lt;Box style={{ width: 812, height: 58, background: '#F4F7FA', borderRadius: 8, padding: '0 18px', flexDirection: 'row', alignItems: 'center' }}&gt;&#10;                &lt;Text style={{ fontSize: 15, color: '#546779' }}&gt;这个分数怎么评出来的？选择题还是可执行任务？谁判对错？&lt;/Text&gt;&#10;            &lt;/Box&gt;&#10;        &lt;/Box&gt;&#10;&#10;        &lt;Box style={{ flexDirection: 'row', alignItems: 'center' }}&gt;&#10;            &lt;Box style={{ width: 340, height: 58, background: '#EDF4FC', borderRadius: 8, padding: '0 18px', flexDirection: 'row', alignItems: 'center', gap: 10 }}&gt;&#10;                &lt;Text style={{ fontSize: 16, fontWeight: 'bold', color: '#276FBF' }}&gt;② 机构&lt;/Text&gt;&#10;            &lt;/Box&gt;&#10;            &lt;Box style={{ width: 812, height: 58, background: '#F4F7FA', borderRadius: 8, padding: '0 18px', flexDirection: 'row', alignItems: 'center' }}&gt;&#10;                &lt;Text style={{ fontSize: 15, color: '#546779' }}&gt;基准是谁做的？题目和判分公开吗？有没有第三方审计过？&lt;/Text&gt;&#10;            &lt;/Box&gt;&#10;        &lt;/Box&gt;&#10;&#10;        &lt;Box style={{ flexDirection: 'row', alignItems: 'center' }}&gt;&#10;            &lt;Box style={{ width: 340, height: 58, background: '#EDF4FC', borderRadius: 8, padding: '0 18px', flexDirection: 'row', alignItems: 'center', gap: 10 }}&gt;&#10;                &lt;Text style={{ fontSize: 16, fontWeight: 'bold', color: '#276FBF' }}&gt;③ 样本集&lt;/Text&gt;&#10;            &lt;/Box&gt;&#10;            &lt;Box style={{ width: 812, height: 58, background: '#F4F7FA', borderRadius: 8, padding: '0 18px', flexDirection: 'row', alignItems: 'center' }}&gt;&#10;                &lt;Text style={{ fontSize: 15, color: '#546779' }}&gt;一共多少题？覆盖哪些领域？看的是哪一层？当前是第几版？&lt;/Text&gt;&#10;            &lt;/Box&gt;&#10;        &lt;/Box&gt;&#10;&#10;        &lt;Box style={{ flexDirection: 'row', alignItems: 'center' }}&gt;&#10;            &lt;Box style={{ width: 340, height: 58, background: '#F7F3E8', borderRadius: 8, padding: '0 18px', flexDirection: 'row', alignItems: 'center', gap: 10 }}&gt;&#10;                &lt;Text style={{ fontSize: 16, fontWeight: 'bold', color: '#546779' }}&gt;④ 样本与答案&lt;/Text&gt;&#10;            &lt;/Box&gt;&#10;            &lt;Box style={{ width: 812, height: 58, background: '#F4F7FA', borderRadius: 8, padding: '0 18px', flexDirection: 'row', alignItems: 'center' }}&gt;&#10;                &lt;Text style={{ fontSize: 15, color: '#546779' }}&gt;题面长什么样？答案要写成什么形式？有没有部分分？&lt;/Text&gt;&#10;            &lt;/Box&gt;&#10;        &lt;/Box&gt;&#10;&#10;        &lt;Box style={{ flexDirection: 'row', alignItems: 'center' }}&gt;&#10;            &lt;Box style={{ width: 340, height: 58, background: '#ECF7F2', borderRadius: 8, padding: '0 18px', flexDirection: 'row', alignItems: 'center', gap: 10 }}&gt;&#10;                &lt;Text style={{ fontSize: 16, fontWeight: 'bold', color: '#26816B' }}&gt;⑤ 领先模型与得分&lt;/Text&gt;&#10;            &lt;/Box&gt;&#10;            &lt;Box style={{ width: 812, height: 58, background: '#F4F7FA', borderRadius: 8, padding: '0 18px', flexDirection: 'row', alignItems: 'center' }}&gt;&#10;                &lt;Text style={{ fontSize: 15, color: '#546779' }}&gt;什么协议下、哪一天的快照、由哪个来源给出的分数？人类参照是哪一组人？&lt;/Text&gt;&#10;            &lt;/Box&gt;&#10;        &lt;/Box&gt;&#10;&#10;        &lt;Box style={{ flexDirection: 'row', alignItems: 'center' }}&gt;&#10;            &lt;Box style={{ width: 340, height: 58, background: '#FFF4E6', borderRadius: 8, padding: '0 18px', flexDirection: 'row', alignItems: 'center', gap: 10 }}&gt;&#10;                &lt;Text style={{ fontSize: 16, fontWeight: 'bold', color: '#CB6B28' }}&gt;⑥ 尚未解决的错题&lt;/Text&gt;&#10;            &lt;/Box&gt;&#10;            &lt;Box style={{ width: 812, height: 58, background: '#F4F7FA', borderRadius: 8, padding: '0 18px', flexDirection: 'row', alignItems: 'center' }}&gt;&#10;                &lt;Text style={{ fontSize: 15, color: '#546779' }}&gt;是模型真不会，还是题目、判分有缺陷，还是训练数据里见过答案？&lt;/Text&gt;&#10;            &lt;/Box&gt;&#10;        &lt;/Box&gt;&#10;&#10;        &lt;Box style={{ flexDirection: 'row', gap: 14, alignItems: 'center', background: '#F4F7FA', borderRadius: 10, padding: '10px 22px' }}&gt;&#10;            &lt;Box style={{ width: 4, height: 28, background: '#276FBF' }} /&gt;&#10;            &lt;Text style={{ fontSize: 15, color: '#546779', lineHeight: 1.45 }}&gt;下一节 1.5 换一个角度：不看单个基准，看这些分数背后的能力快照&lt;/Text&gt;&#10;        &lt;/Box&gt;&#10;&#10;    &lt;/Box&gt;&#10;&#10;    &lt;Box style={{ height: 40, flexDirection: 'row', justifyContent: 'space-between', alignItems: 'center' }}&gt;&#10;        &lt;Text style={{ fontSize: 14, color: '#546779' }}&gt;1.4 从榜单到证据&lt;/Text&gt;&#10;        &lt;Text style={{ fontSize: 14, color: '#546779' }}&gt;36 / 36&lt;/Text&gt;&#10;    &lt;/Box&gt;&#10;&#10;&lt;/Slide&gt;&#10;"/>
        <p:cNvGrpSpPr/>
        <p:nvPr/>
      </p:nvGrpSpPr>
      <p:grpSpPr>
        <a:xfrm>
          <a:off x="0" y="0"/>
          <a:ext cx="0" cy="0"/>
          <a:chOff x="0" y="0"/>
          <a:chExt cx="0" cy="0"/>
        </a:xfrm>
      </p:grpSpPr>
      <p:sp>
        <p:nvSpPr>
          <p:cNvPr id="968" name=""/>
          <p:cNvSpPr/>
          <p:nvPr/>
        </p:nvSpPr>
        <p:spPr>
          <a:xfrm rot="0" flipH="0" flipV="0">
            <a:off x="0" y="0"/>
            <a:ext cx="12192000" cy="6858000"/>
          </a:xfrm>
          <a:prstGeom prst="rect">
            <a:avLst/>
          </a:prstGeom>
          <a:solidFill>
            <a:srgbClr val="FFFFFF"/>
          </a:solidFill>
          <a:ln/>
        </p:spPr>
        <p:txBody>
          <a:bodyPr/>
          <a:p/>
        </p:txBody>
      </p:sp>
      <p:sp>
        <p:nvSpPr>
          <p:cNvPr id="969" name=""/>
          <p:cNvSpPr/>
          <p:nvPr/>
        </p:nvSpPr>
        <p:spPr>
          <a:xfrm rot="0" flipH="0" flipV="0">
            <a:off x="609600" y="457200"/>
            <a:ext cx="38100" cy="419100"/>
          </a:xfrm>
          <a:prstGeom prst="rect">
            <a:avLst/>
          </a:prstGeom>
          <a:solidFill>
            <a:srgbClr val="276FBF"/>
          </a:solidFill>
          <a:ln/>
        </p:spPr>
        <p:txBody>
          <a:bodyPr/>
          <a:p/>
        </p:txBody>
      </p:sp>
      <p:sp>
        <p:nvSpPr>
          <p:cNvPr id="970" name="" descr="{&quot;isTemplate&quot;:true,&quot;type&quot;:&quot;text&quot;}"/>
          <p:cNvSpPr txBox="1"/>
          <p:nvPr/>
        </p:nvSpPr>
        <p:spPr>
          <a:xfrm rot="0" flipH="0" flipV="0">
            <a:off x="838200" y="371475"/>
            <a:ext cx="3562350" cy="161925"/>
          </a:xfrm>
          <a:prstGeom prst="rect"/>
        </p:spPr>
        <p:txBody>
          <a:bodyPr wrap="none" lIns="0" tIns="0" rIns="0" bIns="0"/>
          <a:p>
            <a:pPr>
              <a:lnSpc>
                <a:spcPct val="100000"/>
              </a:lnSpc>
            </a:pPr>
            <a:r>
              <a:rPr lang="en-US" sz="1050">
                <a:solidFill>
                  <a:srgbClr val="546779"/>
                </a:solidFill>
                <a:latin typeface="Microsoft YaHei"/>
                <a:ea typeface="Microsoft YaHei"/>
              </a:rPr>
              <a:t>1.4</a:t>
            </a:r>
            <a:r>
              <a:rPr lang="zh-CN" sz="1050">
                <a:solidFill>
                  <a:srgbClr val="546779"/>
                </a:solidFill>
                <a:latin typeface="Microsoft YaHei"/>
                <a:ea typeface="Microsoft YaHei"/>
              </a:rPr>
              <a:t>　小结</a:t>
            </a:r>
            <a:endParaRPr/>
          </a:p>
        </p:txBody>
      </p:sp>
      <p:sp>
        <p:nvSpPr>
          <p:cNvPr id="971" name="" descr="{&quot;isTemplate&quot;:true,&quot;type&quot;:&quot;text&quot;}"/>
          <p:cNvSpPr txBox="1"/>
          <p:nvPr/>
        </p:nvSpPr>
        <p:spPr>
          <a:xfrm rot="0" flipH="0" flipV="0">
            <a:off x="838200" y="571500"/>
            <a:ext cx="3562350" cy="390525"/>
          </a:xfrm>
          <a:prstGeom prst="rect"/>
        </p:spPr>
        <p:txBody>
          <a:bodyPr wrap="none" lIns="0" tIns="0" rIns="0" bIns="0"/>
          <a:p>
            <a:pPr>
              <a:lnSpc>
                <a:spcPct val="100000"/>
              </a:lnSpc>
            </a:pPr>
            <a:r>
              <a:rPr lang="zh-CN" sz="2550" b="1">
                <a:solidFill>
                  <a:srgbClr val="20344B"/>
                </a:solidFill>
                <a:latin typeface="Microsoft YaHei"/>
                <a:ea typeface="Microsoft YaHei"/>
              </a:rPr>
              <a:t>六步之后，你该带走什么</a:t>
            </a:r>
            <a:endParaRPr/>
          </a:p>
        </p:txBody>
      </p:sp>
      <p:sp>
        <p:nvSpPr>
          <p:cNvPr id="972" name=""/>
          <p:cNvSpPr/>
          <p:nvPr/>
        </p:nvSpPr>
        <p:spPr>
          <a:xfrm rot="0" flipH="0" flipV="0">
            <a:off x="609600" y="1200150"/>
            <a:ext cx="10972800" cy="457200"/>
          </a:xfrm>
          <a:prstGeom prst="roundRect">
            <a:avLst>
              <a:gd name="adj" fmla="val 20833"/>
            </a:avLst>
          </a:prstGeom>
          <a:solidFill>
            <a:srgbClr val="F7F3E8"/>
          </a:solidFill>
          <a:ln/>
        </p:spPr>
        <p:txBody>
          <a:bodyPr/>
          <a:p/>
        </p:txBody>
      </p:sp>
      <p:sp>
        <p:nvSpPr>
          <p:cNvPr id="973" name=""/>
          <p:cNvSpPr/>
          <p:nvPr/>
        </p:nvSpPr>
        <p:spPr>
          <a:xfrm rot="0" flipH="0" flipV="0">
            <a:off x="819150" y="1295400"/>
            <a:ext cx="38100" cy="266700"/>
          </a:xfrm>
          <a:prstGeom prst="rect">
            <a:avLst/>
          </a:prstGeom>
          <a:solidFill>
            <a:srgbClr val="276FBF"/>
          </a:solidFill>
          <a:ln/>
        </p:spPr>
        <p:txBody>
          <a:bodyPr/>
          <a:p/>
        </p:txBody>
      </p:sp>
      <p:sp>
        <p:nvSpPr>
          <p:cNvPr id="974" name="" descr="{&quot;isTemplate&quot;:true,&quot;type&quot;:&quot;text&quot;}"/>
          <p:cNvSpPr txBox="1"/>
          <p:nvPr/>
        </p:nvSpPr>
        <p:spPr>
          <a:xfrm rot="0" flipH="0" flipV="0">
            <a:off x="990600" y="1304925"/>
            <a:ext cx="3562350" cy="257175"/>
          </a:xfrm>
          <a:prstGeom prst="rect"/>
        </p:spPr>
        <p:txBody>
          <a:bodyPr wrap="none" lIns="0" tIns="0" rIns="0" bIns="0"/>
          <a:p>
            <a:pPr>
              <a:lnSpc>
                <a:spcPct val="145000"/>
              </a:lnSpc>
            </a:pPr>
            <a:r>
              <a:rPr lang="zh-CN" sz="1125">
                <a:solidFill>
                  <a:srgbClr val="20344B"/>
                </a:solidFill>
                <a:latin typeface="Microsoft YaHei"/>
                <a:ea typeface="Microsoft YaHei"/>
              </a:rPr>
              <a:t>听到任何一句</a:t>
            </a:r>
            <a:r>
              <a:rPr lang="en-US" sz="1125">
                <a:solidFill>
                  <a:srgbClr val="20344B"/>
                </a:solidFill>
                <a:latin typeface="Microsoft YaHei"/>
                <a:ea typeface="Microsoft YaHei"/>
              </a:rPr>
              <a:t>"</a:t>
            </a:r>
            <a:r>
              <a:rPr lang="zh-CN" sz="1125">
                <a:solidFill>
                  <a:srgbClr val="20344B"/>
                </a:solidFill>
                <a:latin typeface="Microsoft YaHei"/>
                <a:ea typeface="Microsoft YaHei"/>
              </a:rPr>
              <a:t>某模型拿了多少分</a:t>
            </a:r>
            <a:r>
              <a:rPr lang="en-US" sz="1125">
                <a:solidFill>
                  <a:srgbClr val="20344B"/>
                </a:solidFill>
                <a:latin typeface="Microsoft YaHei"/>
                <a:ea typeface="Microsoft YaHei"/>
              </a:rPr>
              <a:t>"</a:t>
            </a:r>
            <a:r>
              <a:rPr lang="zh-CN" sz="1125">
                <a:solidFill>
                  <a:srgbClr val="20344B"/>
                </a:solidFill>
                <a:latin typeface="Microsoft YaHei"/>
                <a:ea typeface="Microsoft YaHei"/>
              </a:rPr>
              <a:t>，按这六问依次过一遍</a:t>
            </a:r>
            <a:endParaRPr/>
          </a:p>
        </p:txBody>
      </p:sp>
      <p:sp>
        <p:nvSpPr>
          <p:cNvPr id="975" name=""/>
          <p:cNvSpPr/>
          <p:nvPr/>
        </p:nvSpPr>
        <p:spPr>
          <a:xfrm rot="0" flipH="0" flipV="0">
            <a:off x="609600" y="1771650"/>
            <a:ext cx="3238500" cy="552450"/>
          </a:xfrm>
          <a:prstGeom prst="roundRect">
            <a:avLst>
              <a:gd name="adj" fmla="val 13793"/>
            </a:avLst>
          </a:prstGeom>
          <a:solidFill>
            <a:srgbClr val="EDF4FC"/>
          </a:solidFill>
          <a:ln/>
        </p:spPr>
        <p:txBody>
          <a:bodyPr/>
          <a:p/>
        </p:txBody>
      </p:sp>
      <p:sp>
        <p:nvSpPr>
          <p:cNvPr id="976" name="" descr="{&quot;isTemplate&quot;:true,&quot;type&quot;:&quot;text&quot;}"/>
          <p:cNvSpPr txBox="1"/>
          <p:nvPr/>
        </p:nvSpPr>
        <p:spPr>
          <a:xfrm rot="0" flipH="0" flipV="0">
            <a:off x="781050" y="1952625"/>
            <a:ext cx="504825" cy="190500"/>
          </a:xfrm>
          <a:prstGeom prst="rect"/>
        </p:spPr>
        <p:txBody>
          <a:bodyPr wrap="none" lIns="0" tIns="0" rIns="0" bIns="0"/>
          <a:p>
            <a:pPr>
              <a:lnSpc>
                <a:spcPct val="100000"/>
              </a:lnSpc>
            </a:pPr>
            <a:r>
              <a:rPr lang="en-US" sz="1200" b="1">
                <a:solidFill>
                  <a:srgbClr val="276FBF"/>
                </a:solidFill>
                <a:latin typeface="Microsoft YaHei"/>
                <a:ea typeface="Microsoft YaHei"/>
              </a:rPr>
              <a:t xml:space="preserve">① </a:t>
            </a:r>
            <a:r>
              <a:rPr lang="zh-CN" sz="1200" b="1">
                <a:solidFill>
                  <a:srgbClr val="276FBF"/>
                </a:solidFill>
                <a:latin typeface="Microsoft YaHei"/>
                <a:ea typeface="Microsoft YaHei"/>
              </a:rPr>
              <a:t>方法</a:t>
            </a:r>
            <a:endParaRPr/>
          </a:p>
        </p:txBody>
      </p:sp>
      <p:sp>
        <p:nvSpPr>
          <p:cNvPr id="977" name=""/>
          <p:cNvSpPr/>
          <p:nvPr/>
        </p:nvSpPr>
        <p:spPr>
          <a:xfrm rot="0" flipH="0" flipV="0">
            <a:off x="3848100" y="1771650"/>
            <a:ext cx="7734300" cy="552450"/>
          </a:xfrm>
          <a:prstGeom prst="roundRect">
            <a:avLst>
              <a:gd name="adj" fmla="val 13793"/>
            </a:avLst>
          </a:prstGeom>
          <a:solidFill>
            <a:srgbClr val="F4F7FA"/>
          </a:solidFill>
          <a:ln/>
        </p:spPr>
        <p:txBody>
          <a:bodyPr/>
          <a:p/>
        </p:txBody>
      </p:sp>
      <p:sp>
        <p:nvSpPr>
          <p:cNvPr id="978" name="" descr="{&quot;isTemplate&quot;:true,&quot;type&quot;:&quot;text&quot;}"/>
          <p:cNvSpPr txBox="1"/>
          <p:nvPr/>
        </p:nvSpPr>
        <p:spPr>
          <a:xfrm rot="0" flipH="0" flipV="0">
            <a:off x="4019550" y="1962150"/>
            <a:ext cx="3857625" cy="171450"/>
          </a:xfrm>
          <a:prstGeom prst="rect"/>
        </p:spPr>
        <p:txBody>
          <a:bodyPr wrap="none" lIns="0" tIns="0" rIns="0" bIns="0"/>
          <a:p>
            <a:pPr>
              <a:lnSpc>
                <a:spcPct val="100000"/>
              </a:lnSpc>
            </a:pPr>
            <a:r>
              <a:rPr lang="zh-CN" sz="1125">
                <a:solidFill>
                  <a:srgbClr val="546779"/>
                </a:solidFill>
                <a:latin typeface="Microsoft YaHei"/>
                <a:ea typeface="Microsoft YaHei"/>
              </a:rPr>
              <a:t>这个分数怎么评出来的？选择题还是可执行任务？谁判对错？</a:t>
            </a:r>
            <a:endParaRPr/>
          </a:p>
        </p:txBody>
      </p:sp>
      <p:sp>
        <p:nvSpPr>
          <p:cNvPr id="979" name=""/>
          <p:cNvSpPr/>
          <p:nvPr/>
        </p:nvSpPr>
        <p:spPr>
          <a:xfrm rot="0" flipH="0" flipV="0">
            <a:off x="609600" y="2438400"/>
            <a:ext cx="3238500" cy="552450"/>
          </a:xfrm>
          <a:prstGeom prst="roundRect">
            <a:avLst>
              <a:gd name="adj" fmla="val 13793"/>
            </a:avLst>
          </a:prstGeom>
          <a:solidFill>
            <a:srgbClr val="EDF4FC"/>
          </a:solidFill>
          <a:ln/>
        </p:spPr>
        <p:txBody>
          <a:bodyPr/>
          <a:p/>
        </p:txBody>
      </p:sp>
      <p:sp>
        <p:nvSpPr>
          <p:cNvPr id="980" name="" descr="{&quot;isTemplate&quot;:true,&quot;type&quot;:&quot;text&quot;}"/>
          <p:cNvSpPr txBox="1"/>
          <p:nvPr/>
        </p:nvSpPr>
        <p:spPr>
          <a:xfrm rot="0" flipH="0" flipV="0">
            <a:off x="781050" y="2619375"/>
            <a:ext cx="504825" cy="190500"/>
          </a:xfrm>
          <a:prstGeom prst="rect"/>
        </p:spPr>
        <p:txBody>
          <a:bodyPr wrap="none" lIns="0" tIns="0" rIns="0" bIns="0"/>
          <a:p>
            <a:pPr>
              <a:lnSpc>
                <a:spcPct val="100000"/>
              </a:lnSpc>
            </a:pPr>
            <a:r>
              <a:rPr lang="en-US" sz="1200" b="1">
                <a:solidFill>
                  <a:srgbClr val="276FBF"/>
                </a:solidFill>
                <a:latin typeface="Microsoft YaHei"/>
                <a:ea typeface="Microsoft YaHei"/>
              </a:rPr>
              <a:t xml:space="preserve">② </a:t>
            </a:r>
            <a:r>
              <a:rPr lang="zh-CN" sz="1200" b="1">
                <a:solidFill>
                  <a:srgbClr val="276FBF"/>
                </a:solidFill>
                <a:latin typeface="Microsoft YaHei"/>
                <a:ea typeface="Microsoft YaHei"/>
              </a:rPr>
              <a:t>机构</a:t>
            </a:r>
            <a:endParaRPr/>
          </a:p>
        </p:txBody>
      </p:sp>
      <p:sp>
        <p:nvSpPr>
          <p:cNvPr id="981" name=""/>
          <p:cNvSpPr/>
          <p:nvPr/>
        </p:nvSpPr>
        <p:spPr>
          <a:xfrm rot="0" flipH="0" flipV="0">
            <a:off x="3848100" y="2438400"/>
            <a:ext cx="7734300" cy="552450"/>
          </a:xfrm>
          <a:prstGeom prst="roundRect">
            <a:avLst>
              <a:gd name="adj" fmla="val 13793"/>
            </a:avLst>
          </a:prstGeom>
          <a:solidFill>
            <a:srgbClr val="F4F7FA"/>
          </a:solidFill>
          <a:ln/>
        </p:spPr>
        <p:txBody>
          <a:bodyPr/>
          <a:p/>
        </p:txBody>
      </p:sp>
      <p:sp>
        <p:nvSpPr>
          <p:cNvPr id="982" name="" descr="{&quot;isTemplate&quot;:true,&quot;type&quot;:&quot;text&quot;}"/>
          <p:cNvSpPr txBox="1"/>
          <p:nvPr/>
        </p:nvSpPr>
        <p:spPr>
          <a:xfrm rot="0" flipH="0" flipV="0">
            <a:off x="4019550" y="2628900"/>
            <a:ext cx="3714750" cy="171450"/>
          </a:xfrm>
          <a:prstGeom prst="rect"/>
        </p:spPr>
        <p:txBody>
          <a:bodyPr wrap="none" lIns="0" tIns="0" rIns="0" bIns="0"/>
          <a:p>
            <a:pPr>
              <a:lnSpc>
                <a:spcPct val="100000"/>
              </a:lnSpc>
            </a:pPr>
            <a:r>
              <a:rPr lang="zh-CN" sz="1125">
                <a:solidFill>
                  <a:srgbClr val="546779"/>
                </a:solidFill>
                <a:latin typeface="Microsoft YaHei"/>
                <a:ea typeface="Microsoft YaHei"/>
              </a:rPr>
              <a:t>基准是谁做的？题目和判分公开吗？有没有第三方审计过？</a:t>
            </a:r>
            <a:endParaRPr/>
          </a:p>
        </p:txBody>
      </p:sp>
      <p:sp>
        <p:nvSpPr>
          <p:cNvPr id="983" name=""/>
          <p:cNvSpPr/>
          <p:nvPr/>
        </p:nvSpPr>
        <p:spPr>
          <a:xfrm rot="0" flipH="0" flipV="0">
            <a:off x="609600" y="3105150"/>
            <a:ext cx="3238500" cy="552450"/>
          </a:xfrm>
          <a:prstGeom prst="roundRect">
            <a:avLst>
              <a:gd name="adj" fmla="val 13793"/>
            </a:avLst>
          </a:prstGeom>
          <a:solidFill>
            <a:srgbClr val="EDF4FC"/>
          </a:solidFill>
          <a:ln/>
        </p:spPr>
        <p:txBody>
          <a:bodyPr/>
          <a:p/>
        </p:txBody>
      </p:sp>
      <p:sp>
        <p:nvSpPr>
          <p:cNvPr id="984" name="" descr="{&quot;isTemplate&quot;:true,&quot;type&quot;:&quot;text&quot;}"/>
          <p:cNvSpPr txBox="1"/>
          <p:nvPr/>
        </p:nvSpPr>
        <p:spPr>
          <a:xfrm rot="0" flipH="0" flipV="0">
            <a:off x="781050" y="3286125"/>
            <a:ext cx="657225" cy="190500"/>
          </a:xfrm>
          <a:prstGeom prst="rect"/>
        </p:spPr>
        <p:txBody>
          <a:bodyPr wrap="none" lIns="0" tIns="0" rIns="0" bIns="0"/>
          <a:p>
            <a:pPr>
              <a:lnSpc>
                <a:spcPct val="100000"/>
              </a:lnSpc>
            </a:pPr>
            <a:r>
              <a:rPr lang="en-US" sz="1200" b="1">
                <a:solidFill>
                  <a:srgbClr val="276FBF"/>
                </a:solidFill>
                <a:latin typeface="Microsoft YaHei"/>
                <a:ea typeface="Microsoft YaHei"/>
              </a:rPr>
              <a:t xml:space="preserve">③ </a:t>
            </a:r>
            <a:r>
              <a:rPr lang="zh-CN" sz="1200" b="1">
                <a:solidFill>
                  <a:srgbClr val="276FBF"/>
                </a:solidFill>
                <a:latin typeface="Microsoft YaHei"/>
                <a:ea typeface="Microsoft YaHei"/>
              </a:rPr>
              <a:t>样本集</a:t>
            </a:r>
            <a:endParaRPr/>
          </a:p>
        </p:txBody>
      </p:sp>
      <p:sp>
        <p:nvSpPr>
          <p:cNvPr id="985" name=""/>
          <p:cNvSpPr/>
          <p:nvPr/>
        </p:nvSpPr>
        <p:spPr>
          <a:xfrm rot="0" flipH="0" flipV="0">
            <a:off x="3848100" y="3105150"/>
            <a:ext cx="7734300" cy="552450"/>
          </a:xfrm>
          <a:prstGeom prst="roundRect">
            <a:avLst>
              <a:gd name="adj" fmla="val 13793"/>
            </a:avLst>
          </a:prstGeom>
          <a:solidFill>
            <a:srgbClr val="F4F7FA"/>
          </a:solidFill>
          <a:ln/>
        </p:spPr>
        <p:txBody>
          <a:bodyPr/>
          <a:p/>
        </p:txBody>
      </p:sp>
      <p:sp>
        <p:nvSpPr>
          <p:cNvPr id="986" name="" descr="{&quot;isTemplate&quot;:true,&quot;type&quot;:&quot;text&quot;}"/>
          <p:cNvSpPr txBox="1"/>
          <p:nvPr/>
        </p:nvSpPr>
        <p:spPr>
          <a:xfrm rot="0" flipH="0" flipV="0">
            <a:off x="4019550" y="3295650"/>
            <a:ext cx="3857625" cy="171450"/>
          </a:xfrm>
          <a:prstGeom prst="rect"/>
        </p:spPr>
        <p:txBody>
          <a:bodyPr wrap="none" lIns="0" tIns="0" rIns="0" bIns="0"/>
          <a:p>
            <a:pPr>
              <a:lnSpc>
                <a:spcPct val="100000"/>
              </a:lnSpc>
            </a:pPr>
            <a:r>
              <a:rPr lang="zh-CN" sz="1125">
                <a:solidFill>
                  <a:srgbClr val="546779"/>
                </a:solidFill>
                <a:latin typeface="Microsoft YaHei"/>
                <a:ea typeface="Microsoft YaHei"/>
              </a:rPr>
              <a:t>一共多少题？覆盖哪些领域？看的是哪一层？当前是第几版？</a:t>
            </a:r>
            <a:endParaRPr/>
          </a:p>
        </p:txBody>
      </p:sp>
      <p:sp>
        <p:nvSpPr>
          <p:cNvPr id="987" name=""/>
          <p:cNvSpPr/>
          <p:nvPr/>
        </p:nvSpPr>
        <p:spPr>
          <a:xfrm rot="0" flipH="0" flipV="0">
            <a:off x="609600" y="3771900"/>
            <a:ext cx="3238500" cy="552450"/>
          </a:xfrm>
          <a:prstGeom prst="roundRect">
            <a:avLst>
              <a:gd name="adj" fmla="val 13793"/>
            </a:avLst>
          </a:prstGeom>
          <a:solidFill>
            <a:srgbClr val="F7F3E8"/>
          </a:solidFill>
          <a:ln/>
        </p:spPr>
        <p:txBody>
          <a:bodyPr/>
          <a:p/>
        </p:txBody>
      </p:sp>
      <p:sp>
        <p:nvSpPr>
          <p:cNvPr id="988" name="" descr="{&quot;isTemplate&quot;:true,&quot;type&quot;:&quot;text&quot;}"/>
          <p:cNvSpPr txBox="1"/>
          <p:nvPr/>
        </p:nvSpPr>
        <p:spPr>
          <a:xfrm rot="0" flipH="0" flipV="0">
            <a:off x="781050" y="3952875"/>
            <a:ext cx="962025" cy="190500"/>
          </a:xfrm>
          <a:prstGeom prst="rect"/>
        </p:spPr>
        <p:txBody>
          <a:bodyPr wrap="none" lIns="0" tIns="0" rIns="0" bIns="0"/>
          <a:p>
            <a:pPr>
              <a:lnSpc>
                <a:spcPct val="100000"/>
              </a:lnSpc>
            </a:pPr>
            <a:r>
              <a:rPr lang="en-US" sz="1200" b="1">
                <a:solidFill>
                  <a:srgbClr val="546779"/>
                </a:solidFill>
                <a:latin typeface="Microsoft YaHei"/>
                <a:ea typeface="Microsoft YaHei"/>
              </a:rPr>
              <a:t xml:space="preserve">④ </a:t>
            </a:r>
            <a:r>
              <a:rPr lang="zh-CN" sz="1200" b="1">
                <a:solidFill>
                  <a:srgbClr val="546779"/>
                </a:solidFill>
                <a:latin typeface="Microsoft YaHei"/>
                <a:ea typeface="Microsoft YaHei"/>
              </a:rPr>
              <a:t>样本与答案</a:t>
            </a:r>
            <a:endParaRPr/>
          </a:p>
        </p:txBody>
      </p:sp>
      <p:sp>
        <p:nvSpPr>
          <p:cNvPr id="989" name=""/>
          <p:cNvSpPr/>
          <p:nvPr/>
        </p:nvSpPr>
        <p:spPr>
          <a:xfrm rot="0" flipH="0" flipV="0">
            <a:off x="3848100" y="3771900"/>
            <a:ext cx="7734300" cy="552450"/>
          </a:xfrm>
          <a:prstGeom prst="roundRect">
            <a:avLst>
              <a:gd name="adj" fmla="val 13793"/>
            </a:avLst>
          </a:prstGeom>
          <a:solidFill>
            <a:srgbClr val="F4F7FA"/>
          </a:solidFill>
          <a:ln/>
        </p:spPr>
        <p:txBody>
          <a:bodyPr/>
          <a:p/>
        </p:txBody>
      </p:sp>
      <p:sp>
        <p:nvSpPr>
          <p:cNvPr id="990" name="" descr="{&quot;isTemplate&quot;:true,&quot;type&quot;:&quot;text&quot;}"/>
          <p:cNvSpPr txBox="1"/>
          <p:nvPr/>
        </p:nvSpPr>
        <p:spPr>
          <a:xfrm rot="0" flipH="0" flipV="0">
            <a:off x="4019550" y="3962400"/>
            <a:ext cx="3429000" cy="171450"/>
          </a:xfrm>
          <a:prstGeom prst="rect"/>
        </p:spPr>
        <p:txBody>
          <a:bodyPr wrap="none" lIns="0" tIns="0" rIns="0" bIns="0"/>
          <a:p>
            <a:pPr>
              <a:lnSpc>
                <a:spcPct val="100000"/>
              </a:lnSpc>
            </a:pPr>
            <a:r>
              <a:rPr lang="zh-CN" sz="1125">
                <a:solidFill>
                  <a:srgbClr val="546779"/>
                </a:solidFill>
                <a:latin typeface="Microsoft YaHei"/>
                <a:ea typeface="Microsoft YaHei"/>
              </a:rPr>
              <a:t>题面长什么样？答案要写成什么形式？有没有部分分？</a:t>
            </a:r>
            <a:endParaRPr/>
          </a:p>
        </p:txBody>
      </p:sp>
      <p:sp>
        <p:nvSpPr>
          <p:cNvPr id="991" name=""/>
          <p:cNvSpPr/>
          <p:nvPr/>
        </p:nvSpPr>
        <p:spPr>
          <a:xfrm rot="0" flipH="0" flipV="0">
            <a:off x="609600" y="4438650"/>
            <a:ext cx="3238500" cy="552450"/>
          </a:xfrm>
          <a:prstGeom prst="roundRect">
            <a:avLst>
              <a:gd name="adj" fmla="val 13793"/>
            </a:avLst>
          </a:prstGeom>
          <a:solidFill>
            <a:srgbClr val="ECF7F2"/>
          </a:solidFill>
          <a:ln/>
        </p:spPr>
        <p:txBody>
          <a:bodyPr/>
          <a:p/>
        </p:txBody>
      </p:sp>
      <p:sp>
        <p:nvSpPr>
          <p:cNvPr id="992" name="" descr="{&quot;isTemplate&quot;:true,&quot;type&quot;:&quot;text&quot;}"/>
          <p:cNvSpPr txBox="1"/>
          <p:nvPr/>
        </p:nvSpPr>
        <p:spPr>
          <a:xfrm rot="0" flipH="0" flipV="0">
            <a:off x="781050" y="4619625"/>
            <a:ext cx="1266825" cy="190500"/>
          </a:xfrm>
          <a:prstGeom prst="rect"/>
        </p:spPr>
        <p:txBody>
          <a:bodyPr wrap="none" lIns="0" tIns="0" rIns="0" bIns="0"/>
          <a:p>
            <a:pPr>
              <a:lnSpc>
                <a:spcPct val="100000"/>
              </a:lnSpc>
            </a:pPr>
            <a:r>
              <a:rPr lang="en-US" sz="1200" b="1">
                <a:solidFill>
                  <a:srgbClr val="26816B"/>
                </a:solidFill>
                <a:latin typeface="Microsoft YaHei"/>
                <a:ea typeface="Microsoft YaHei"/>
              </a:rPr>
              <a:t xml:space="preserve">⑤ </a:t>
            </a:r>
            <a:r>
              <a:rPr lang="zh-CN" sz="1200" b="1">
                <a:solidFill>
                  <a:srgbClr val="26816B"/>
                </a:solidFill>
                <a:latin typeface="Microsoft YaHei"/>
                <a:ea typeface="Microsoft YaHei"/>
              </a:rPr>
              <a:t>领先模型与得分</a:t>
            </a:r>
            <a:endParaRPr/>
          </a:p>
        </p:txBody>
      </p:sp>
      <p:sp>
        <p:nvSpPr>
          <p:cNvPr id="993" name=""/>
          <p:cNvSpPr/>
          <p:nvPr/>
        </p:nvSpPr>
        <p:spPr>
          <a:xfrm rot="0" flipH="0" flipV="0">
            <a:off x="3848100" y="4438650"/>
            <a:ext cx="7734300" cy="552450"/>
          </a:xfrm>
          <a:prstGeom prst="roundRect">
            <a:avLst>
              <a:gd name="adj" fmla="val 13793"/>
            </a:avLst>
          </a:prstGeom>
          <a:solidFill>
            <a:srgbClr val="F4F7FA"/>
          </a:solidFill>
          <a:ln/>
        </p:spPr>
        <p:txBody>
          <a:bodyPr/>
          <a:p/>
        </p:txBody>
      </p:sp>
      <p:sp>
        <p:nvSpPr>
          <p:cNvPr id="994" name="" descr="{&quot;isTemplate&quot;:true,&quot;type&quot;:&quot;text&quot;}"/>
          <p:cNvSpPr txBox="1"/>
          <p:nvPr/>
        </p:nvSpPr>
        <p:spPr>
          <a:xfrm rot="0" flipH="0" flipV="0">
            <a:off x="4019550" y="4629150"/>
            <a:ext cx="4857750" cy="171450"/>
          </a:xfrm>
          <a:prstGeom prst="rect"/>
        </p:spPr>
        <p:txBody>
          <a:bodyPr wrap="none" lIns="0" tIns="0" rIns="0" bIns="0"/>
          <a:p>
            <a:pPr>
              <a:lnSpc>
                <a:spcPct val="100000"/>
              </a:lnSpc>
            </a:pPr>
            <a:r>
              <a:rPr lang="zh-CN" sz="1125">
                <a:solidFill>
                  <a:srgbClr val="546779"/>
                </a:solidFill>
                <a:latin typeface="Microsoft YaHei"/>
                <a:ea typeface="Microsoft YaHei"/>
              </a:rPr>
              <a:t>什么协议下、哪一天的快照、由哪个来源给出的分数？人类参照是哪一组人？</a:t>
            </a:r>
            <a:endParaRPr/>
          </a:p>
        </p:txBody>
      </p:sp>
      <p:sp>
        <p:nvSpPr>
          <p:cNvPr id="995" name=""/>
          <p:cNvSpPr/>
          <p:nvPr/>
        </p:nvSpPr>
        <p:spPr>
          <a:xfrm rot="0" flipH="0" flipV="0">
            <a:off x="609600" y="5105400"/>
            <a:ext cx="3238500" cy="552450"/>
          </a:xfrm>
          <a:prstGeom prst="roundRect">
            <a:avLst>
              <a:gd name="adj" fmla="val 13793"/>
            </a:avLst>
          </a:prstGeom>
          <a:solidFill>
            <a:srgbClr val="FFF4E6"/>
          </a:solidFill>
          <a:ln/>
        </p:spPr>
        <p:txBody>
          <a:bodyPr/>
          <a:p/>
        </p:txBody>
      </p:sp>
      <p:sp>
        <p:nvSpPr>
          <p:cNvPr id="996" name="" descr="{&quot;isTemplate&quot;:true,&quot;type&quot;:&quot;text&quot;}"/>
          <p:cNvSpPr txBox="1"/>
          <p:nvPr/>
        </p:nvSpPr>
        <p:spPr>
          <a:xfrm rot="0" flipH="0" flipV="0">
            <a:off x="781050" y="5286375"/>
            <a:ext cx="1266825" cy="190500"/>
          </a:xfrm>
          <a:prstGeom prst="rect"/>
        </p:spPr>
        <p:txBody>
          <a:bodyPr wrap="none" lIns="0" tIns="0" rIns="0" bIns="0"/>
          <a:p>
            <a:pPr>
              <a:lnSpc>
                <a:spcPct val="100000"/>
              </a:lnSpc>
            </a:pPr>
            <a:r>
              <a:rPr lang="en-US" sz="1200" b="1">
                <a:solidFill>
                  <a:srgbClr val="CB6B28"/>
                </a:solidFill>
                <a:latin typeface="Microsoft YaHei"/>
                <a:ea typeface="Microsoft YaHei"/>
              </a:rPr>
              <a:t xml:space="preserve">⑥ </a:t>
            </a:r>
            <a:r>
              <a:rPr lang="zh-CN" sz="1200" b="1">
                <a:solidFill>
                  <a:srgbClr val="CB6B28"/>
                </a:solidFill>
                <a:latin typeface="Microsoft YaHei"/>
                <a:ea typeface="Microsoft YaHei"/>
              </a:rPr>
              <a:t>尚未解决的错题</a:t>
            </a:r>
            <a:endParaRPr/>
          </a:p>
        </p:txBody>
      </p:sp>
      <p:sp>
        <p:nvSpPr>
          <p:cNvPr id="997" name=""/>
          <p:cNvSpPr/>
          <p:nvPr/>
        </p:nvSpPr>
        <p:spPr>
          <a:xfrm rot="0" flipH="0" flipV="0">
            <a:off x="3848100" y="5105400"/>
            <a:ext cx="7734300" cy="552450"/>
          </a:xfrm>
          <a:prstGeom prst="roundRect">
            <a:avLst>
              <a:gd name="adj" fmla="val 13793"/>
            </a:avLst>
          </a:prstGeom>
          <a:solidFill>
            <a:srgbClr val="F4F7FA"/>
          </a:solidFill>
          <a:ln/>
        </p:spPr>
        <p:txBody>
          <a:bodyPr/>
          <a:p/>
        </p:txBody>
      </p:sp>
      <p:sp>
        <p:nvSpPr>
          <p:cNvPr id="998" name="" descr="{&quot;isTemplate&quot;:true,&quot;type&quot;:&quot;text&quot;}"/>
          <p:cNvSpPr txBox="1"/>
          <p:nvPr/>
        </p:nvSpPr>
        <p:spPr>
          <a:xfrm rot="0" flipH="0" flipV="0">
            <a:off x="4019550" y="5295900"/>
            <a:ext cx="4286250" cy="171450"/>
          </a:xfrm>
          <a:prstGeom prst="rect"/>
        </p:spPr>
        <p:txBody>
          <a:bodyPr wrap="none" lIns="0" tIns="0" rIns="0" bIns="0"/>
          <a:p>
            <a:pPr>
              <a:lnSpc>
                <a:spcPct val="100000"/>
              </a:lnSpc>
            </a:pPr>
            <a:r>
              <a:rPr lang="zh-CN" sz="1125">
                <a:solidFill>
                  <a:srgbClr val="546779"/>
                </a:solidFill>
                <a:latin typeface="Microsoft YaHei"/>
                <a:ea typeface="Microsoft YaHei"/>
              </a:rPr>
              <a:t>是模型真不会，还是题目、判分有缺陷，还是训练数据里见过答案？</a:t>
            </a:r>
            <a:endParaRPr/>
          </a:p>
        </p:txBody>
      </p:sp>
      <p:sp>
        <p:nvSpPr>
          <p:cNvPr id="999" name=""/>
          <p:cNvSpPr/>
          <p:nvPr/>
        </p:nvSpPr>
        <p:spPr>
          <a:xfrm rot="0" flipH="0" flipV="0">
            <a:off x="609600" y="5772150"/>
            <a:ext cx="10972800" cy="457200"/>
          </a:xfrm>
          <a:prstGeom prst="roundRect">
            <a:avLst>
              <a:gd name="adj" fmla="val 20833"/>
            </a:avLst>
          </a:prstGeom>
          <a:solidFill>
            <a:srgbClr val="F4F7FA"/>
          </a:solidFill>
          <a:ln/>
        </p:spPr>
        <p:txBody>
          <a:bodyPr/>
          <a:p/>
        </p:txBody>
      </p:sp>
      <p:sp>
        <p:nvSpPr>
          <p:cNvPr id="1000" name=""/>
          <p:cNvSpPr/>
          <p:nvPr/>
        </p:nvSpPr>
        <p:spPr>
          <a:xfrm rot="0" flipH="0" flipV="0">
            <a:off x="819150" y="5867400"/>
            <a:ext cx="38100" cy="266700"/>
          </a:xfrm>
          <a:prstGeom prst="rect">
            <a:avLst/>
          </a:prstGeom>
          <a:solidFill>
            <a:srgbClr val="276FBF"/>
          </a:solidFill>
          <a:ln/>
        </p:spPr>
        <p:txBody>
          <a:bodyPr/>
          <a:p/>
        </p:txBody>
      </p:sp>
      <p:sp>
        <p:nvSpPr>
          <p:cNvPr id="1001" name="" descr="{&quot;isTemplate&quot;:true,&quot;type&quot;:&quot;text&quot;}"/>
          <p:cNvSpPr txBox="1"/>
          <p:nvPr/>
        </p:nvSpPr>
        <p:spPr>
          <a:xfrm rot="0" flipH="0" flipV="0">
            <a:off x="990600" y="5876925"/>
            <a:ext cx="4295775" cy="257175"/>
          </a:xfrm>
          <a:prstGeom prst="rect"/>
        </p:spPr>
        <p:txBody>
          <a:bodyPr wrap="none" lIns="0" tIns="0" rIns="0" bIns="0"/>
          <a:p>
            <a:pPr>
              <a:lnSpc>
                <a:spcPct val="145000"/>
              </a:lnSpc>
            </a:pPr>
            <a:r>
              <a:rPr lang="zh-CN" sz="1125">
                <a:solidFill>
                  <a:srgbClr val="546779"/>
                </a:solidFill>
                <a:latin typeface="Microsoft YaHei"/>
                <a:ea typeface="Microsoft YaHei"/>
              </a:rPr>
              <a:t>下一节</a:t>
            </a:r>
            <a:r>
              <a:rPr lang="en-US" sz="1125">
                <a:solidFill>
                  <a:srgbClr val="546779"/>
                </a:solidFill>
                <a:latin typeface="Microsoft YaHei"/>
                <a:ea typeface="Microsoft YaHei"/>
              </a:rPr>
              <a:t xml:space="preserve"> 1.5 </a:t>
            </a:r>
            <a:r>
              <a:rPr lang="zh-CN" sz="1125">
                <a:solidFill>
                  <a:srgbClr val="546779"/>
                </a:solidFill>
                <a:latin typeface="Microsoft YaHei"/>
                <a:ea typeface="Microsoft YaHei"/>
              </a:rPr>
              <a:t>换一个角度：不看单个基准，看这些分数背后的能力快照</a:t>
            </a:r>
            <a:endParaRPr/>
          </a:p>
        </p:txBody>
      </p:sp>
      <p:sp>
        <p:nvSpPr>
          <p:cNvPr id="1002" name="" descr="{&quot;isTemplate&quot;:true,&quot;type&quot;:&quot;text&quot;}"/>
          <p:cNvSpPr txBox="1"/>
          <p:nvPr/>
        </p:nvSpPr>
        <p:spPr>
          <a:xfrm rot="0" flipH="0" flipV="0">
            <a:off x="609600" y="6400800"/>
            <a:ext cx="1028700" cy="161925"/>
          </a:xfrm>
          <a:prstGeom prst="rect"/>
        </p:spPr>
        <p:txBody>
          <a:bodyPr wrap="none" lIns="0" tIns="0" rIns="0" bIns="0"/>
          <a:p>
            <a:pPr>
              <a:lnSpc>
                <a:spcPct val="100000"/>
              </a:lnSpc>
            </a:pPr>
            <a:r>
              <a:rPr lang="en-US" sz="1050">
                <a:solidFill>
                  <a:srgbClr val="546779"/>
                </a:solidFill>
                <a:latin typeface="Microsoft YaHei"/>
                <a:ea typeface="Microsoft YaHei"/>
              </a:rPr>
              <a:t xml:space="preserve">1.4 </a:t>
            </a:r>
            <a:r>
              <a:rPr lang="zh-CN" sz="1050">
                <a:solidFill>
                  <a:srgbClr val="546779"/>
                </a:solidFill>
                <a:latin typeface="Microsoft YaHei"/>
                <a:ea typeface="Microsoft YaHei"/>
              </a:rPr>
              <a:t>从榜单到证据</a:t>
            </a:r>
            <a:endParaRPr/>
          </a:p>
        </p:txBody>
      </p:sp>
      <p:sp>
        <p:nvSpPr>
          <p:cNvPr id="1003" name="" descr="{&quot;isTemplate&quot;:true,&quot;type&quot;:&quot;text&quot;}"/>
          <p:cNvSpPr txBox="1"/>
          <p:nvPr/>
        </p:nvSpPr>
        <p:spPr>
          <a:xfrm rot="0" flipH="0" flipV="0">
            <a:off x="11125200" y="6400800"/>
            <a:ext cx="457200" cy="161925"/>
          </a:xfrm>
          <a:prstGeom prst="rect"/>
        </p:spPr>
        <p:txBody>
          <a:bodyPr wrap="none" lIns="0" tIns="0" rIns="0" bIns="0"/>
          <a:p>
            <a:pPr>
              <a:lnSpc>
                <a:spcPct val="100000"/>
              </a:lnSpc>
            </a:pPr>
            <a:r>
              <a:rPr lang="en-US" sz="1050">
                <a:solidFill>
                  <a:srgbClr val="546779"/>
                </a:solidFill>
                <a:latin typeface="Microsoft YaHei"/>
                <a:ea typeface="Microsoft YaHei"/>
              </a:rPr>
              <a:t>36 / 36</a:t>
            </a:r>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Tencent office</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2026-09-29T16:28:58Z</dcterms:created>
  <dcterms:modified xsi:type="dcterms:W3CDTF">2026-09-29T16:28:58Z</dcterms:modified>
</cp:coreProperties>
</file>