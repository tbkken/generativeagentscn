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28" Type="http://schemas.openxmlformats.org/officeDocument/2006/relationships/viewProps" Target="viewProps.xml" /><Relationship Id="rId19" Type="http://schemas.openxmlformats.org/officeDocument/2006/relationships/slide" Target="slides/slide19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分数本身不说明问题，条件才说明问题。</a:t>
            </a:r>
          </a:p>
          <a:p>
            <a:r>
              <a:rPr lang="zh-CN" dirty="0"/>
              <a:t>举一个真实的例子：2026 年 9 月 1 日，Anthropic 发布系统卡，用 HLE 的 2,500 道题报告了 Claude Fable 5.1 的成绩——不允许使用工具是 60.9%，允许使用工具是 65.0%。这两个数字如果剥掉日期、题量和工具条件，就完全没法用：你不知道它是哪一天测的，也不知道允不允许搜索和代码执行。</a:t>
            </a:r>
          </a:p>
          <a:p>
            <a:r>
              <a:rPr lang="zh-CN" dirty="0"/>
              <a:t>所以先养成一个习惯：看到百分比，先找它的日期、配置和出处。这三样找齐了，数字才有意义。</a:t>
            </a:r>
          </a:p>
          <a:p>
            <a:r>
              <a:rPr lang="zh-CN" dirty="0"/>
              <a:t>缺一样怎么办？把缺的那一项写清楚，而不是自己替它补上。查阅日期不是调用日期，显示名不是固定快照，同一个名字的基准也可能已经换过题。本节要练的就是这个判断。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这一节一共六个问题，它们回答的是同一件事的不同侧面：我看到的这个百分比，到底能说明什么。</a:t>
            </a:r>
          </a:p>
          <a:p>
            <a:r>
              <a:rPr lang="zh-CN" dirty="0"/>
              <a:t>第一个问题先把阅读方法立起来——谁、测什么、怎样运行、来源与时间，四格填齐，分数才可用。</a:t>
            </a:r>
          </a:p>
          <a:p>
            <a:r>
              <a:rPr lang="zh-CN" dirty="0"/>
              <a:t>第二个问题看多模态。模型能读复杂科研图表，但要求它一次把一份长文档的全部细则都做对，仍然要分项检查。</a:t>
            </a:r>
          </a:p>
          <a:p>
            <a:r>
              <a:rPr lang="zh-CN" dirty="0"/>
              <a:t>第三个问题看长任务。部分得分和严格通过率是两个不同的数，77.9% 绝不等于"八成的任务都做好了"。</a:t>
            </a:r>
          </a:p>
          <a:p>
            <a:r>
              <a:rPr lang="zh-CN" dirty="0"/>
              <a:t>第四个问题看工程成绩背后的执行环境。题目版本、框架、档位和工具集合都影响可比性，条件未知就写未披露。</a:t>
            </a:r>
          </a:p>
          <a:p>
            <a:r>
              <a:rPr lang="zh-CN" dirty="0"/>
              <a:t>第五个问题讲高分的系统仍会在具体事实处失手；第六个问题把这些翻译成我们选型时真正能用的判断。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拿到一个分数，先要把限定它的条件填成四格。</a:t>
            </a:r>
          </a:p>
          <a:p>
            <a:r>
              <a:rPr lang="zh-CN" dirty="0"/>
              <a:t>第一格是模型身份。要写完整标识，而不只是显示名，还要记下能拿到的精度——是精确快照，还是只是一个会更新的别名。</a:t>
            </a:r>
          </a:p>
          <a:p>
            <a:r>
              <a:rPr lang="zh-CN" dirty="0"/>
              <a:t>第二格是题目范围。同一个名字的基准可能已经换过题，所以要写版本、子集、样本量，以及有没有做过修订。</a:t>
            </a:r>
          </a:p>
          <a:p>
            <a:r>
              <a:rPr lang="zh-CN" dirty="0"/>
              <a:t>第三格是运行条件。用不用工具、总预算多少、采样怎么设、用哪个框架，这些都会改变结果。</a:t>
            </a:r>
          </a:p>
          <a:p>
            <a:r>
              <a:rPr lang="zh-CN" dirty="0"/>
              <a:t>第四格是来源与时间。这是厂商自报，还是维护方公布？报告日期是哪一天？哪些字段没有披露？</a:t>
            </a:r>
          </a:p>
          <a:p>
            <a:r>
              <a:rPr lang="zh-CN" dirty="0"/>
              <a:t>四格填不齐，就先写"未披露"。未披露本身就是一种结论，随手补一个日期不是。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这四格是把一个成绩变成可用证据的最小集合。</a:t>
            </a:r>
          </a:p>
          <a:p>
            <a:r>
              <a:rPr lang="zh-CN" dirty="0"/>
              <a:t>模型身份，要写到能唯一指认的程度。同一个厂商可能同时提供好几个名字很像的模型，写错一格，后面的比较就全部作废。</a:t>
            </a:r>
          </a:p>
          <a:p>
            <a:r>
              <a:rPr lang="zh-CN" dirty="0"/>
              <a:t>题目范围同样关键。HLE 是 2,500 道题；另有一份 HLE-Verified 是 1,811 道，其中 668 道沿用已核验题，1,143 道是修订题，还排除了原集里 689 道不确定题。题集不一样，两个百分比就不能放在一起排名。</a:t>
            </a:r>
          </a:p>
          <a:p>
            <a:r>
              <a:rPr lang="zh-CN" dirty="0"/>
              <a:t>运行条件最容易漏。用不用工具、每道题多少 Token 预算、用什么采样设置、由谁判分，都会改变结果。</a:t>
            </a:r>
          </a:p>
          <a:p>
            <a:r>
              <a:rPr lang="zh-CN" dirty="0"/>
              <a:t>来源与时间决定你能追到哪一步。厂商自报和维护方公布，性质不同；报告日期要写，查不到的调用日期就写未披露，不能用查阅日期顶替。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这三行出自 Anthropic 在 2026 年 9 月 1 日发布的系统卡，题集是 HLE 的 2,500 道题。</a:t>
            </a:r>
          </a:p>
          <a:p>
            <a:r>
              <a:rPr lang="zh-CN" dirty="0"/>
              <a:t>请把注意力放在两列的差别上。左边是不使用工具的准确率，右边是使用工具的准确率。把工具条件并排摆出来，而不是藏进模型名后面的一行小字，是有意的：只有条件摆在台面上，你才能看出同一批题上工具打开之后发生了什么。</a:t>
            </a:r>
          </a:p>
          <a:p>
            <a:r>
              <a:rPr lang="zh-CN" dirty="0"/>
              <a:t>再看来源性质：这是厂商自报，不是第三方复测。工具条件包含网页搜索、网页读取、程序化工具调用和代码执行；每题跨上下文的总 Token 上限是一百万，不做上下文压缩，判分用 Claude Opus 4.6。</a:t>
            </a:r>
          </a:p>
          <a:p>
            <a:r>
              <a:rPr lang="zh-CN" dirty="0"/>
              <a:t>报告还说明了屏蔽基准答案来源和污染复查的方法。条件写得越清楚，我们才知道该信到什么程度。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同一个 Fable 5.1，不使用工具时 HLE 准确率 60.9%，使用工具之后 65.0%，相差 4.1 个百分点。</a:t>
            </a:r>
          </a:p>
          <a:p>
            <a:r>
              <a:rPr lang="zh-CN" dirty="0"/>
              <a:t>这 4.1 说了一件有用的事：允许查资料、执行计算、回头继续检查，系统能解决的问题范围确实会变宽。但它推不出"只要接上搜索，所有问题都会提高 4.1 个百分点"——两种条件虽然都设了总预算上限，实际消耗的工具耗时和 Token 并不因此相等，工具本身也可能带来错误资料、搜索遗漏和新的调用失败。</a:t>
            </a:r>
          </a:p>
          <a:p>
            <a:r>
              <a:rPr lang="zh-CN" dirty="0"/>
              <a:t>还有一层要交代：这组成绩是在带生产防护的系统配置下测的。防护介入时，网络安全任务转由 Claude Opus 4.8 接替，生物任务转由 Claude Opus 5 接替，所以里面包含已说明的应用层行为。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还有一件很容易忽略的事：名字差不多，题可能已经换过了。</a:t>
            </a:r>
          </a:p>
          <a:p>
            <a:r>
              <a:rPr lang="zh-CN" dirty="0"/>
              <a:t>Google 在 2026 年 9 月的方法报告里给出 HLE-Verified 的 54.9%，但它用的题集不是原来那 2,500 道。分母是 1,811 道：668 道沿用了原有的已核验题，1,143 道是修订过的题，同时排除了原集里 689 道不确定的题。</a:t>
            </a:r>
          </a:p>
          <a:p>
            <a:r>
              <a:rPr lang="zh-CN" dirty="0"/>
              <a:t>所以这个数字不能拿去和前面的 65.0% 排名。题集不一样，已披露的设置也不一样，排在一起就等于把两个不同的问题当成同一个问题。</a:t>
            </a:r>
          </a:p>
          <a:p>
            <a:r>
              <a:rPr lang="zh-CN" dirty="0"/>
              <a:t>它真正有用的结论只有一个方向：在这个重新核验过的高难集合里，仍然有大量问题没有被正确解决。也就是说，剩下的空间很大，而且是可测量的空间。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第二个知识块换一类材料。</a:t>
            </a:r>
          </a:p>
          <a:p>
            <a:r>
              <a:rPr lang="zh-CN" dirty="0"/>
              <a:t>理解图片不只有"说出图中有什么"这一种要求。活动筹备要读懂平面图，财务工作要读图表，整理政策材料要跨页读取 PDF。这三个例子的输入都带有视觉信息，但难度和评分方法完全不同。</a:t>
            </a:r>
          </a:p>
          <a:p>
            <a:r>
              <a:rPr lang="zh-CN" dirty="0"/>
              <a:t>所以看视觉成绩的时候，第一件事是问清楚：这份报告测的是哪一种？是让你综合图表里的信息回答问题，还是要求你把一份长文档里的所有细则一次性都做对？前者可以只看回答对不对，后者必须每一项都通过才算数。</a:t>
            </a:r>
          </a:p>
          <a:p>
            <a:r>
              <a:rPr lang="zh-CN" dirty="0"/>
              <a:t>同一个模型在这两类任务上的数字会差得很远，这不是矛盾，而是它们本来就在回答两个不同的问题。接下来的两组数字就来自同一份报告，正好可以对照着看。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这两行数字出自 Google 同一份 2026 年 9 月的方法报告，模型调用标识是 gemini-3.8-flash。</a:t>
            </a:r>
          </a:p>
          <a:p>
            <a:r>
              <a:rPr lang="zh-CN" dirty="0"/>
              <a:t>第一行 CharXiv Reasoning，测复杂科研图表的信息综合，不使用工具，86.2%。</a:t>
            </a:r>
          </a:p>
          <a:p>
            <a:r>
              <a:rPr lang="zh-CN" dirty="0"/>
              <a:t>第二行 GDP.PDF，测专家级 PDF 文档理解，35.0%。这里的 35.0% 是 All pass rate，必须按全部要求同时通过才算一次，完整通过率就是 35.0%。</a:t>
            </a:r>
          </a:p>
          <a:p>
            <a:r>
              <a:rPr lang="zh-CN" dirty="0"/>
              <a:t>绝不能把 86.2% 减掉 35.0% 说成"能力损失"，两项任务与判分口径都不同。</a:t>
            </a:r>
          </a:p>
          <a:p>
            <a:r>
              <a:rPr lang="zh-CN" dirty="0"/>
              <a:t>实用的判断是：让模型帮忙读图、找文档信息已经有价值；要它一次处理完一份长文档、满足全部细则，仍须分项检查。像开放日方案，时间、地点、容量、无障碍与附件引用必须同时正确。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视频不能只看一个总分。</a:t>
            </a:r>
          </a:p>
          <a:p>
            <a:r>
              <a:rPr lang="zh-CN" dirty="0"/>
              <a:t>同一份 2026 年 9 月的方法报告里，LVBench 的静态设置是 87.1%，并且明确写了 Gemini 使用 1,024 帧。结果表里还列出了另一个 agentic 设置的 87.8%，但方法正文只明确说明无工具测量，没有交代 agentic 那一次是怎么跑的。</a:t>
            </a:r>
          </a:p>
          <a:p>
            <a:r>
              <a:rPr lang="zh-CN" dirty="0"/>
              <a:t>所以我不拿后面这个 87.8% 去做"工具带来收益"的对照——那等于替报告补写一套它没说过的流程。</a:t>
            </a:r>
          </a:p>
          <a:p>
            <a:r>
              <a:rPr lang="zh-CN" dirty="0"/>
              <a:t>真正要记住的是：抽多少帧、能不能按需回看、能不能听音频，都是理解视频成绩的一部分。1,024 帧是一个具体配置，换了帧数，同一段视频能被回答的问题就变了。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第三个知识块讲的是长任务，也就是需要很多步骤才能完成的工作。</a:t>
            </a:r>
          </a:p>
          <a:p>
            <a:r>
              <a:rPr lang="zh-CN" dirty="0"/>
              <a:t>这里最容易误读的地方，是把两个数字当成同一个意思。一部分任务做对了多少，和整个任务有没有做完，是两个不同的量：前者的分母是检查点，后者的分母是任务本身。一个系统可能大部分检查点都碰到了，却在一个关键约束上出错，最终交不出能用的东西。</a:t>
            </a:r>
          </a:p>
          <a:p>
            <a:r>
              <a:rPr lang="zh-CN" dirty="0"/>
              <a:t>每一项任务都带一组加权检查点。部分得分汇总的是一项任务完成了多少；严格通过率要求所有检查点都满足才算通过。而且 strict 和 pass@1、pass^k 也不在同一个维度：strict 定义的是"一次任务什么时候算成功"，pass^k 关心的是"重复执行是不是一直成功"。</a:t>
            </a:r>
          </a:p>
          <a:p>
            <a:r>
              <a:rPr lang="zh-CN" dirty="0"/>
              <a:t>把这两个层面分开，读数才不会串位。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先把两项指标的定义说清楚。</a:t>
            </a:r>
          </a:p>
          <a:p>
            <a:r>
              <a:rPr lang="zh-CN" dirty="0"/>
              <a:t>OSWorld 2.0 把 Agent 放进真实运行的 Ubuntu 虚拟机，通过截图、鼠标和键盘完成较长任务，再检查一组带权重的结果检查点。Partial score 汇总一项任务完成了多少；Strict pass rate 要求全部检查点都满足才算通过。</a:t>
            </a:r>
          </a:p>
          <a:p>
            <a:r>
              <a:rPr lang="zh-CN" dirty="0"/>
              <a:t>读法很明确：按每个模型相邻的两根柱子读，不要把部分得分当成全部任务的通过率。</a:t>
            </a:r>
          </a:p>
          <a:p>
            <a:r>
              <a:rPr lang="zh-CN" dirty="0"/>
              <a:t>三行数据出自同一份系统卡，日期 2026 年 9 月 1 日，题集是 2026 年 8 月任务发布版及后续修复，共 108 项任务，五次独立运行的 pass@1 取平均，1080p，每题最多 500 个动作。旧模型是在同一修订条件下重测的，报告明确说不能与较早任务文件的成绩比较。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把三行一起看，就能读出两个口径之间的距离。</a:t>
            </a:r>
          </a:p>
          <a:p>
            <a:r>
              <a:rPr lang="zh-CN" dirty="0"/>
              <a:t>第一行是部分得分：汇总一项任务完成了多少，来源是每个任务加权检查点得分取平均。77.9% 说的是检查点层面完成了多少，不是任务通过率。</a:t>
            </a:r>
          </a:p>
          <a:p>
            <a:r>
              <a:rPr lang="zh-CN" dirty="0"/>
              <a:t>第二行是严格通过率：全部检查点都满足才算通过一次，41.7% 才是被完整做对的比例。</a:t>
            </a:r>
          </a:p>
          <a:p>
            <a:r>
              <a:rPr lang="zh-CN" dirty="0"/>
              <a:t>两者相距 36.2 个百分点。这个差距体现完整交付更高的要求——遗漏约束、丢失进度、停在半成品都会掉进这里，具体原因必须查任务轨迹，不能只看分数猜。</a:t>
            </a:r>
          </a:p>
          <a:p>
            <a:r>
              <a:rPr lang="zh-CN" dirty="0"/>
              <a:t>另外，Fable 5.1 的严格通过率比 Fable 5 高 5.6 个百分点，来自同条件重测；原报告只绘误差线、未给数值区间，我们不做逐题配对检验，不从点估计断言差异必然稳定。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第四个知识块讲工程任务和长上下文，也是四个知识块里最容易看错的一块。</a:t>
            </a:r>
          </a:p>
          <a:p>
            <a:r>
              <a:rPr lang="zh-CN" dirty="0"/>
              <a:t>软件工程提供了一个比较硬的检验方式：改完代码，能不能通过执行测试。它的好处是结果由程序判定，不依赖人的印象。</a:t>
            </a:r>
          </a:p>
          <a:p>
            <a:r>
              <a:rPr lang="zh-CN" dirty="0"/>
              <a:t>但正因为看起来硬，这里更容易踩坑。我在后面会让大家先检查四种"看似一样"的条件：名字一样是不是同一个榜单，百分比一样是不是同一个分母，档位都写 high 是不是同一份计算预算，同样用了工具是不是同一套工具和同样的使用上限。</a:t>
            </a:r>
          </a:p>
          <a:p>
            <a:r>
              <a:rPr lang="zh-CN" dirty="0"/>
              <a:t>这四条里任何一条对不上，两个数字就不能排在一起。所以这一块的态度是：条件未知就写未披露，不要把不同设置排成一条进步曲线。接下来的两组成绩，我会按它们各自的条件来解释。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这四条是具体的核对动作。</a:t>
            </a:r>
          </a:p>
          <a:p>
            <a:r>
              <a:rPr lang="zh-CN" dirty="0"/>
              <a:t>第一条，同一名称：都写着 SWE-bench，不代表是同一份题。要看任务版本、有没有经过修订、评测用的是哪一份任务文件；系统卡自己也说，不能直接与较早任务文件上的成绩比较。</a:t>
            </a:r>
          </a:p>
          <a:p>
            <a:r>
              <a:rPr lang="zh-CN" dirty="0"/>
              <a:t>第二条，同一百分比：都写 80%，要问分母是什么——是题目、是测试，还是任务？三者含义完全不同。</a:t>
            </a:r>
          </a:p>
          <a:p>
            <a:r>
              <a:rPr lang="zh-CN" dirty="0"/>
              <a:t>第三条，同一档位：都叫 high 不代表算力一样，不同厂商的档位命名是各自定的。</a:t>
            </a:r>
          </a:p>
          <a:p>
            <a:r>
              <a:rPr lang="zh-CN" dirty="0"/>
              <a:t>第四条，同样用了工具：都有检索或执行，还要看工具集合和单次使用上限，是只能搜索，还是能打开网页、执行代码。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左边是 SWE-bench 官方 Bash Only 榜单上 2026 年 2 月 17 日的两行：mini-SWE-agent 2.0.0、一次尝试、500 项 SWE-bench Verified。Claude 4.5 Opus 与 Gemini 3 Flash 在 high 档位的解决率是 76.8% 和 75.8%，相差 1 个百分点相当于五题；两家的 high 也不代表相等计算预算。</a:t>
            </a:r>
          </a:p>
          <a:p>
            <a:r>
              <a:rPr lang="zh-CN" dirty="0"/>
              <a:t>右边是 ProgramBench 的改动设置：200 项任务中排除 34 项参考程序测试不稳定的，并使用 mini-swe-agent、去掉原先六小时上限；Fable 5.1 在 166 项任务上的隐藏测试通过率是 87.6%，这是测试通过率，不等于重建了整个程序。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工程成绩还牵出一个初学者最容易搞混的问题：窗口大，是不是就等于能力强。</a:t>
            </a:r>
          </a:p>
          <a:p>
            <a:r>
              <a:rPr lang="zh-CN" dirty="0"/>
              <a:t>这里其实是两个不同的问题。第一个是"资料放得进去吗"——大窗口有助于携带更多材料，这一点确实成立。第二个是"放进去之后能完成什么"——找对信息、处理材料里的矛盾、始终遵守最早提出的约束，这些都不由窗口大小自动保证。</a:t>
            </a:r>
          </a:p>
          <a:p>
            <a:r>
              <a:rPr lang="zh-CN" dirty="0"/>
              <a:t>把这个区别放回我们的任务：活动筹备的资料应该有目录、有来源、有明确的当前状态，而不是一股脑塞进对话；仿真角色应该把已经确认的进展保存成可以检索的记忆，而不是每一轮都往上下文里塞进越来越长的聊天记录。</a:t>
            </a:r>
          </a:p>
          <a:p>
            <a:r>
              <a:rPr lang="zh-CN" dirty="0"/>
              <a:t>所以看到"支持 100 万 Token"这样的描述，先问它把什么放进去了，再问它在里面做成了什么。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第五个知识块是我个人觉得最值得讲的一块。</a:t>
            </a:r>
          </a:p>
          <a:p>
            <a:r>
              <a:rPr lang="zh-CN" dirty="0"/>
              <a:t>前面几页看的都是成绩：准确率、通过率、解决率。这一块要看的是报告里的失败样本——平均分没有说出来的那部分。</a:t>
            </a:r>
          </a:p>
          <a:p>
            <a:r>
              <a:rPr lang="zh-CN" dirty="0"/>
              <a:t>报告里的失败样本很有价值，因为它能告诉我们一个高分系统在什么地方会突然不成立。而且失败的关键，往往不是语言够不够流畅，也不是知识够不够多，而是它把自己生成的叙述当成了外部已经发生的事实。这个边界一旦失守，前面那些漂亮的分数就帮不上忙。</a:t>
            </a:r>
          </a:p>
          <a:p>
            <a:r>
              <a:rPr lang="zh-CN" dirty="0"/>
              <a:t>接下来的这个例子来自一份厂商系统卡的内部使用记录。它提醒我们，成绩单和可靠性不是同一件事，而可靠性要靠应用侧的证据来支撑。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这个例子来自同一份系统卡，记录在它内部使用情况的第 94 到 96 页。</a:t>
            </a:r>
          </a:p>
          <a:p>
            <a:r>
              <a:rPr lang="zh-CN" dirty="0"/>
              <a:t>模型受托统计连续多少次告警没有得到人的回应，它却虚构了一位用户提出表扬，并据此把计数器归零。结果是：真实世界里没有人回应的告警，被记成了已经处理。</a:t>
            </a:r>
          </a:p>
          <a:p>
            <a:r>
              <a:rPr lang="zh-CN" dirty="0"/>
              <a:t>报告把它列为监控发现的罕见异常行为，说明这是运维监控抓到的个案，不是普遍统计。公开材料也没有给出足以复现这一事件的完整提示和轨迹，所以我们没有足够信息去推断它的发生率。</a:t>
            </a:r>
          </a:p>
          <a:p>
            <a:r>
              <a:rPr lang="zh-CN" dirty="0"/>
              <a:t>我讲这个例子不是为了说明模型不可靠，而是为了说明一件事：平均分很高，和它在某一次具体事实判断上不出错，是两件需要分开验证的事。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把这件事讲清楚，是为了避免两种错误。</a:t>
            </a:r>
          </a:p>
          <a:p>
            <a:r>
              <a:rPr lang="zh-CN" dirty="0"/>
              <a:t>第一种是把它读成"模型不可靠"。一个公开材料不足以复现的个案撑不起这种结论，报告本身就把它标成了罕见异常行为。</a:t>
            </a:r>
          </a:p>
          <a:p>
            <a:r>
              <a:rPr lang="zh-CN" dirty="0"/>
              <a:t>第二种是读过就算。这个例子真正指向的是一个通用边界：模型可能把自己生成的叙述当成外部已经发生的事实。放进开放日案例，就会变成"工作人员已经确认换教室"，而实际没有人确认；放进仿真里，就会变成"角色已经到达"，而坐标还在途中。</a:t>
            </a:r>
          </a:p>
          <a:p>
            <a:r>
              <a:rPr lang="zh-CN" dirty="0"/>
              <a:t>所以应用要承担一件事：由应用保存收到的真实消息、工具返回和已提交状态，模型据此判断下一步，而不是回头相信自己的上一段话。这条原则在第二章会落实为工具结果校验，第三章会区分动作意图、真实世界提交和回放事实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最后一个知识块，把这些快照变成我们能用的判断。</a:t>
            </a:r>
          </a:p>
          <a:p>
            <a:r>
              <a:rPr lang="zh-CN" dirty="0"/>
              <a:t>前面读过的成绩指向一个具体结论：当前模型已经适合承担四类工作——资料理解、候选方案生成、复杂问题求解，以及受约束的工具操作。</a:t>
            </a:r>
          </a:p>
          <a:p>
            <a:r>
              <a:rPr lang="zh-CN" dirty="0"/>
              <a:t>但同一批成绩也指出，有三件事必须单独验证：任务的完整性、事实依据，和重复执行的可靠性。这三件事不会因为平均分高就自动满足。</a:t>
            </a:r>
          </a:p>
          <a:p>
            <a:r>
              <a:rPr lang="zh-CN" dirty="0"/>
              <a:t>所以在选型的时候，不要只问"这是不是最强的模型"。更要问的是：在我们的输入规模、我们的成本限制、我们的时间要求下，它能不能把目标完成。</a:t>
            </a:r>
          </a:p>
          <a:p>
            <a:r>
              <a:rPr lang="zh-CN" dirty="0"/>
              <a:t>接下来把四类常见的筹备工作摊开，一类一类看它能用什么、我们必须验什么。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这四行按"能利用什么"和"必须验什么"拆开。</a:t>
            </a:r>
          </a:p>
          <a:p>
            <a:r>
              <a:rPr lang="zh-CN" dirty="0"/>
              <a:t>第一类，阅读活动资料与场地图。可以利用文本与视觉理解、综合信息；必须验的是引用出来的内容是否支持结论，位置和容量有没有读对。</a:t>
            </a:r>
          </a:p>
          <a:p>
            <a:r>
              <a:rPr lang="zh-CN" dirty="0"/>
              <a:t>第二类，生成方案并检查冲突。可以利用知识推理和工具计算；必须验全部约束是否通过，以及工具到底有没有被实际执行，而不只是被提到。</a:t>
            </a:r>
          </a:p>
          <a:p>
            <a:r>
              <a:rPr lang="zh-CN" dirty="0"/>
              <a:t>第三类，连续推进筹备任务。可以利用长上下文和 Agent 操作；必须验待办有没有遗漏、停止条件是否正确、最终文件是否完整。</a:t>
            </a:r>
          </a:p>
          <a:p>
            <a:r>
              <a:rPr lang="zh-CN" dirty="0"/>
              <a:t>第四类，驱动仿真角色。可以利用感知之后的决策、工具选择和跨轮记忆；必须验权限、坐标、动作提交和记忆来源是否成立。</a:t>
            </a:r>
          </a:p>
          <a:p>
            <a:r>
              <a:rPr lang="zh-CN" dirty="0"/>
              <a:t>"可以利用"那一列和读到的成绩对得上；"必须验"那一列，对着那些失手方式。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最后交代一下这份快照的边界，也就是它没有回答什么。</a:t>
            </a:r>
          </a:p>
          <a:p>
            <a:r>
              <a:rPr lang="zh-CN" dirty="0"/>
              <a:t>我没有用英语专家题的成绩去推断中文写作的水平，也没有用图表理解的分数去概括语音转录、语音生成和图像生成的全部水平。这些用途各自需要自己的当前数据和应用样本，不能借。</a:t>
            </a:r>
          </a:p>
          <a:p>
            <a:r>
              <a:rPr lang="zh-CN" dirty="0"/>
              <a:t>同样地，模型费用和延迟也必须在选定接口、输入规模与并发条件下实测，光看单次调用的标价说明不了总成本。</a:t>
            </a:r>
          </a:p>
          <a:p>
            <a:r>
              <a:rPr lang="zh-CN" dirty="0"/>
              <a:t>把话说回来：本节做的是把公开成绩读成有条件的证据。下一步是把它变成我们自己的判断——用我们自己的一小批任务去测，看看在我们这个场景里到底够不够用。这就是下一节的起点。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这一节读了很多数字，最后留下三个条件，以后看到任何成绩都可以拿它们去核一遍。</a:t>
            </a:r>
          </a:p>
          <a:p>
            <a:r>
              <a:rPr lang="zh-CN" dirty="0"/>
              <a:t>第一，有日期。报告日期和调用日期是两件事，都要记；查不到就写未披露，不能用查阅日期补上。同一个名字的基准也可能已经换过题，所以还要写清版本。</a:t>
            </a:r>
          </a:p>
          <a:p>
            <a:r>
              <a:rPr lang="zh-CN" dirty="0"/>
              <a:t>第二，有配置。题目范围、样本量、用不用工具、预算多少、采样和推理设置是什么，这些都不是技术细节，它们直接决定这个百分比意味着什么。</a:t>
            </a:r>
          </a:p>
          <a:p>
            <a:r>
              <a:rPr lang="zh-CN" dirty="0"/>
              <a:t>第三，有出处。这是厂商自报，还是基准维护方公布，性质不同；报告没有披露的字段，就照着写"未披露"。</a:t>
            </a:r>
          </a:p>
          <a:p>
            <a:r>
              <a:rPr lang="zh-CN" dirty="0"/>
              <a:t>这三样齐了，一组成绩才配拿来和别的成绩比，也才配拿来判断我们自己的任务能不能交给它。下一节，我们就把这一套用到自己的一小批任务上。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分数本身不说明问题，条件才说明问题。&#10;&#10;举一个真实的例子：2026 年 9 月 1 日，Anthropic 发布系统卡，用 HLE 的 2,500 道题报告了 Claude Fable 5.1 的成绩——不允许使用工具是 60.9%，允许使用工具是 65.0%。这两个数字如果剥掉日期、题量和工具条件，就完全没法用：你不知道它是哪一天测的，也不知道允不允许搜索和代码执行。&#10;&#10;所以先养成一个习惯：看到百分比，先找它的日期、配置和出处。这三样找齐了，数字才有意义。&#10;&#10;缺一样怎么办？把缺的那一项写清楚，而不是自己替它补上。查阅日期不是调用日期，显示名不是固定快照，同一个名字的基准也可能已经换过题。本节要练的就是这个判断。`} style={{ width: 1280, height: 720, background: '#FFFFFF', flexDirection: 'column', padding: '20px 64px' }}&gt;&#10;&#10;    &lt;Box style={{ height: 280, flexDirection: 'column', justifyContent: 'center', gap: 14 }}&gt;&#10;        &lt;Box style={{ flexDirection: 'row', alignItems: 'center', gap: 12 }}&gt;&#10;            &lt;Box style={{ width: 4, height: 20, background: '#276FBF' }} /&gt;&#10;            &lt;Text style={{ fontSize: 15, color: '#546779' }}&gt;第一章　认识大模型，读懂能力与评价　·　1.5&lt;/Text&gt;&#10;        &lt;/Box&gt;&#10;        &lt;Text style={{ fontSize: 52, fontWeight: 'bold', color: '#20344B', lineHeight: 1.2 }}&gt;当前发展到什么水平&lt;/Text&gt;&#10;        &lt;Text style={{ fontSize: 18, color: '#546779', lineHeight: 1.65, width: 960 }}&gt;本节读的不是排行榜，而是一批带前提的公开成绩：每一项都有日期、有配置、有出处，也知道哪些字段没有披露。&lt;/Text&gt;&#10;    &lt;/Box&gt;&#10;&#10;    &lt;Box style={{ height: 400, flexDirection: 'row', alignItems: 'center', gap: 24 }}&gt;&#10;&#10;        &lt;Box style={{ flex: 1, height: 336, background: '#EDF4FC', borderRadius: 14, padding: 26, flexDirection: 'column', gap: 12 }}&gt;&#10;            &lt;Text style={{ fontSize: 14, color: '#546779' }}&gt;Humanity’s Last Exam　2,500 题　·　报告日期 2026-09-01&lt;/Text&gt;&#10;            &lt;Text style={{ fontSize: 22, fontWeight: 'bold', color: '#20344B' }}&gt;Claude Fable 5.1&lt;/Text&gt;&#10;            &lt;Box style={{ flexDirection: 'row', gap: 18, height: 128 }}&gt;&#10;                &lt;Box style={{ flex: 1, height: 128, background: '#FFFFFF', borderRadius: 10, justifyContent: 'center', alignItems: 'center', gap: 4, flexDirection: 'column' }}&gt;&#10;                    &lt;Text style={{ fontSize: 14, color: '#546779' }}&gt;不使用工具&lt;/Text&gt;&#10;                    &lt;Text style={{ fontSize: 42, fontWeight: 'bold', color: '#276FBF' }}&gt;60.9%&lt;/Text&gt;&#10;                &lt;/Box&gt;&#10;                &lt;Box style={{ flex: 1, height: 128, background: '#ECF7F2', borderRadius: 10, justifyContent: 'center', alignItems: 'center', gap: 4, flexDirection: 'column' }}&gt;&#10;                    &lt;Text style={{ fontSize: 14, color: '#546779' }}&gt;使用工具&lt;/Text&gt;&#10;                    &lt;Text style={{ fontSize: 42, fontWeight: 'bold', color: '#26816B' }}&gt;65.0%&lt;/Text&gt;&#10;                &lt;/Box&gt;&#10;            &lt;/Box&gt;&#10;            &lt;Box style={{ flexDirection: 'row', alignItems: 'center', gap: 10 }}&gt;&#10;                &lt;Box style={{ width: 3, height: 20, background: '#CB6B28' }} /&gt;&#10;                &lt;Text style={{ fontSize: 14, color: '#CB6B28' }}&gt;厂商自报，本书未复测；精确调用日期与逐题消耗未在所引表中披露&lt;/Text&gt;&#10;            &lt;/Box&gt;&#10;        &lt;/Box&gt;&#10;&#10;        &lt;Box style={{ width: 460, flexDirection: 'column', gap: 14 }}&gt;&#10;            &lt;Box style={{ height: 96, background: '#F7F3E8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期&lt;/Text&gt;&#10;                &lt;/Box&gt;&#10;                &lt;Box style={{ flexDirection: 'column', gap: 2 }}&gt;&#10;                    &lt;Text style={{ fontSize: 19, fontWeight: 'bold', color: '#20344B' }}&gt;有日期&lt;/Text&gt;&#10;                    &lt;Text style={{ fontSize: 15, color: '#546779' }}&gt;报告日期与调用日期分别记录&lt;/Text&gt;&#10;                &lt;/Box&gt;&#10;            &lt;/Box&gt;&#10;            &lt;Box style={{ height: 96, background: '#F7F3E8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配&lt;/Text&gt;&#10;                &lt;/Box&gt;&#10;                &lt;Box style={{ flexDirection: 'column', gap: 2 }}&gt;&#10;                    &lt;Text style={{ fontSize: 19, fontWeight: 'bold', color: '#20344B' }}&gt;有配置&lt;/Text&gt;&#10;                    &lt;Text style={{ fontSize: 15, color: '#546779' }}&gt;题集、工具、预算与推理设置&lt;/Text&gt;&#10;                &lt;/Box&gt;&#10;            &lt;/Box&gt;&#10;            &lt;Box style={{ height: 96, background: '#FFF4E6', borderRadius: 10, padding: '0 20px', flexDirection: 'row', alignItems: 'center', gap: 16 }}&gt;&#10;                &lt;Box style={{ width: 44, height: 44, borderRadius: 8, background: '#CB6B28', justifyContent: 'center', alignItems: 'center' }}&gt;&#10;                    &lt;Text style={{ fontSize: 20, fontWeight: 'bold', color: '#FFFFFF' }}&gt;源&lt;/Text&gt;&#10;                &lt;/Box&gt;&#10;                &lt;Box style={{ flexDirection: 'column', gap: 2 }}&gt;&#10;                    &lt;Text style={{ fontSize: 19, fontWeight: 'bold', color: '#CB6B28' }}&gt;有出处&lt;/Text&gt;&#10;                    &lt;Text style={{ fontSize: 15, color: '#546779' }}&gt;自报还是维护方公布，未披露项照写&lt;/Text&gt;&#10;                &lt;/Box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771525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781050"/>
            <a:ext cx="295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第一章　认识大模型，读懂能力与评价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1.5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95375"/>
            <a:ext cx="10972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当前发展到什么水平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9144000" cy="3429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本节读的不是排行榜，而是一批带前提的公开成绩：每一项都有日期、有配置、有出处，也知道哪些字段没有披露。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162300"/>
            <a:ext cx="6362700" cy="3200400"/>
          </a:xfrm>
          <a:prstGeom prst="roundRect">
            <a:avLst>
              <a:gd name="adj" fmla="val 41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57250" y="3409950"/>
            <a:ext cx="586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Humanity’s Last Exam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2,500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题　·　报告日期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2026-09-01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57250" y="3686175"/>
            <a:ext cx="5867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>Claude Fable 5.1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57250" y="4057650"/>
            <a:ext cx="2847975" cy="12192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952625" y="43243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不使用工具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666875" y="4524375"/>
            <a:ext cx="12287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276FBF"/>
                </a:solidFill>
                <a:latin typeface="Microsoft YaHei"/>
                <a:ea typeface="Microsoft YaHei"/>
              </a:rPr>
              <a:t>60.9%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876675" y="4057650"/>
            <a:ext cx="2847975" cy="1219200"/>
          </a:xfrm>
          <a:prstGeom prst="roundRect">
            <a:avLst>
              <a:gd name="adj" fmla="val 781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038725" y="43243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使用工具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686300" y="4524375"/>
            <a:ext cx="12287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26816B"/>
                </a:solidFill>
                <a:latin typeface="Microsoft YaHei"/>
                <a:ea typeface="Microsoft YaHei"/>
              </a:rPr>
              <a:t>65.0%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857250" y="5391150"/>
            <a:ext cx="28575" cy="190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81075" y="54102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厂商自报，本书未复测；精确调用日期与逐题消耗未在所引表中披露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200900" y="3257550"/>
            <a:ext cx="4381500" cy="914400"/>
          </a:xfrm>
          <a:prstGeom prst="roundRect">
            <a:avLst>
              <a:gd name="adj" fmla="val 1041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739140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505700" y="36004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期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962900" y="3514725"/>
            <a:ext cx="1857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有日期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962900" y="37528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报告日期与调用日期分别记录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7200900" y="4305300"/>
            <a:ext cx="4381500" cy="914400"/>
          </a:xfrm>
          <a:prstGeom prst="roundRect">
            <a:avLst>
              <a:gd name="adj" fmla="val 1041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7391400" y="45529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505700" y="46482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配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962900" y="4562475"/>
            <a:ext cx="1857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有配置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962900" y="48006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题集、工具、预算与推理设置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7200900" y="5353050"/>
            <a:ext cx="43815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7391400" y="5600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505700" y="56959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源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962900" y="5610225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有出处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962900" y="58483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自报还是维护方公布，未披露项照写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90" name="" descr="&lt;Slide notes={`这一节一共六个问题，它们回答的是同一件事的不同侧面：我看到的这个百分比，到底能说明什么。&#10;&#10;第一个问题先把阅读方法立起来——谁、测什么、怎样运行、来源与时间，四格填齐，分数才可用。&#10;&#10;第二个问题看多模态。模型能读复杂科研图表，但要求它一次把一份长文档的全部细则都做对，仍然要分项检查。&#10;&#10;第三个问题看长任务。部分得分和严格通过率是两个不同的数，77.9% 绝不等于&quot;八成的任务都做好了&quot;。&#10;&#10;第四个问题看工程成绩背后的执行环境。题目版本、框架、档位和工具集合都影响可比性，条件未知就写未披露。&#10;&#10;第五个问题讲高分的系统仍会在具体事实处失手；第六个问题把这些翻译成我们选型时真正能用的判断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六个问题，把百分比读成证据&lt;/Text&gt;&#10;        &lt;/Box&gt;&#10;    &lt;/Box&gt;&#10;&#10;    &lt;Box style={{ height: 540, flexDirection: 'row', gap: 40 }}&gt;&#10;&#10;        &lt;Box style={{ width: 320, flexDirection: 'column', justifyContent: 'center', gap: 16 }}&gt;&#10;            &lt;Text style={{ fontSize: 25, fontWeight: 'bold', color: '#276FBF', lineHeight: 1.45 }}&gt;这个数，是在什么条件下得到的？&lt;/Text&gt;&#10;            &lt;Box style={{ width: 56, height: 3, background: '#26816B' }} /&gt;&#10;            &lt;Text style={{ fontSize: 17, color: '#546779', lineHeight: 1.75 }}&gt;六个问题从&quot;怎么读一个数&quot;走到&quot;怎么用一批数&quot;：先补齐条件，再看视觉、长任务与工程成绩各自的边界，最后落成选型时能直接问出口的判断。&lt;/Text&gt;&#10;        &lt;/Box&gt;&#10;&#10;        &lt;Box style={{ flex: 1, flexDirection: 'column', justifyContent: 'center', gap: 11 }}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1&lt;/Text&gt;&#10;                &lt;/Box&gt;&#10;                &lt;Box style={{ flexDirection: 'column', gap: 2 }}&gt;&#10;                    &lt;Text style={{ fontSize: 20, fontWeight: 'bold', color: '#20344B' }}&gt;一个分数，需要带着这些条件&lt;/Text&gt;&#10;                    &lt;Text style={{ fontSize: 16, color: '#546779' }}&gt;谁、测什么、怎样运行、来源与时间，四格缺一不可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2&lt;/Text&gt;&#10;                &lt;/Box&gt;&#10;                &lt;Box style={{ flexDirection: 'column', gap: 2 }}&gt;&#10;                    &lt;Text style={{ fontSize: 20, fontWeight: 'bold', color: '#20344B' }}&gt;能读复杂材料，整份交付仍需验收&lt;/Text&gt;&#10;                    &lt;Text style={{ fontSize: 16, color: '#546779' }}&gt;图表推理、PDF 全部通过率与视频帧数各看什么&lt;/Text&gt;&#10;                &lt;/Box&gt;&#10;            &lt;/Box&gt;&#10;&#10;            &lt;Box style={{ flexDirection: 'row', gap: 16, alignItems: 'center' }}&gt;&#10;                &lt;Box style={{ width: 44, height: 44, borderRadius: 8, background: '#276FBF', justifyContent: 'center', alignItems: 'center' }}&gt;&#10;                    &lt;Text style={{ fontSize: 18, fontWeight: 'bold', color: '#FFFFFF' }}&gt;03&lt;/Text&gt;&#10;                &lt;/Box&gt;&#10;                &lt;Box style={{ flexDirection: 'column', gap: 2 }}&gt;&#10;                    &lt;Text style={{ fontSize: 20, fontWeight: 'bold', color: '#20344B' }}&gt;长任务要看&quot;全部完成&quot;&lt;/Text&gt;&#10;                    &lt;Text style={{ fontSize: 16, color: '#546779' }}&gt;部分得分与严格通过率的分母含义不同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4&lt;/Text&gt;&#10;                &lt;/Box&gt;&#10;                &lt;Box style={{ flexDirection: 'column', gap: 2 }}&gt;&#10;                    &lt;Text style={{ fontSize: 20, fontWeight: 'bold', color: '#20344B' }}&gt;高分背后包含执行环境&lt;/Text&gt;&#10;                    &lt;Text style={{ fontSize: 16, color: '#546779' }}&gt;榜单版本、分母、预算与工具集合都影响可比性&lt;/Text&gt;&#10;                &lt;/Box&gt;&#10;            &lt;/Box&gt;&#10;&#10;            &lt;Box style={{ flexDirection: 'row', gap: 16, alignItems: 'center' }}&gt;&#10;                &lt;Box style={{ width: 44, height: 44, borderRadius: 8, background: '#26816B', justifyContent: 'center', alignItems: 'center' }}&gt;&#10;                    &lt;Text style={{ fontSize: 18, fontWeight: 'bold', color: '#FFFFFF' }}&gt;05&lt;/Text&gt;&#10;                &lt;/Box&gt;&#10;                &lt;Box style={{ flexDirection: 'column', gap: 2 }}&gt;&#10;                    &lt;Text style={{ fontSize: 20, fontWeight: 'bold', color: '#20344B' }}&gt;高分系统仍会在具体事实处失手&lt;/Text&gt;&#10;                    &lt;Text style={{ fontSize: 16, color: '#546779' }}&gt;把自述当成已发生的事实，是一种典型边界失守&lt;/Text&gt;&#10;                &lt;/Box&gt;&#10;            &lt;/Box&gt;&#10;&#10;            &lt;Box style={{ flexDirection: 'row', gap: 16, alignItems: 'center' }}&gt;&#10;                &lt;Box style={{ width: 44, height: 44, borderRadius: 8, background: '#CB6B28', justifyContent: 'center', alignItems: 'center' }}&gt;&#10;                    &lt;Text style={{ fontSize: 18, fontWeight: 'bold', color: '#FFFFFF' }}&gt;06&lt;/Text&gt;&#10;                &lt;/Box&gt;&#10;                &lt;Box style={{ flexDirection: 'column', gap: 2 }}&gt;&#10;                    &lt;Text style={{ fontSize: 20, fontWeight: 'bold', color: '#20344B' }}&gt;把发展水平翻译成可用的判断&lt;/Text&gt;&#10;                    &lt;Text style={{ fontSize: 16, color: '#546779' }}&gt;四类工作各能用什么、必须额外核验什么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六个问题，把百分比读成证据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09600" y="2457450"/>
            <a:ext cx="30480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875" b="1">
                <a:solidFill>
                  <a:srgbClr val="276FBF"/>
                </a:solidFill>
                <a:latin typeface="Microsoft YaHei"/>
                <a:ea typeface="Microsoft YaHei"/>
              </a:rPr>
              <a:t>这个数，是在什么条件下得到的？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09600" y="343852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3619500"/>
            <a:ext cx="30480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六个问题从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怎么读一个数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走到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怎么用一批数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：先补齐条件，再看视觉、长任务与工程成绩各自的边界，最后落成选型时能直接问出口的判断。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038600" y="2152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143375" y="22574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610100" y="2143125"/>
            <a:ext cx="3505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一个分数，需要带着这些条件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610100" y="2390775"/>
            <a:ext cx="3505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谁、测什么、怎样运行、来源与时间，四格缺一不可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038600" y="2695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143375" y="28003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610100" y="2686050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能读复杂材料，整份交付仍需验收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610100" y="2933700"/>
            <a:ext cx="323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图表推理、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PDF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全部通过率与视频帧数各看什么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4038600" y="3238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143375" y="334327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610100" y="3228975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长任务要看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全部完成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610100" y="3476625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部分得分与严格通过率的分母含义不同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4038600" y="3781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143375" y="388620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610100" y="3771900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高分背后包含执行环境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610100" y="401955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榜单版本、分母、预算与工具集合都影响可比性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038600" y="43243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143375" y="4429125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610100" y="4314825"/>
            <a:ext cx="3200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高分系统仍会在具体事实处失手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610100" y="4562475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把自述当成已发生的事实，是一种典型边界失守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038600" y="4867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143375" y="4972050"/>
            <a:ext cx="219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610100" y="48577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把发展水平翻译成可用的判断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610100" y="5105400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四类工作各能用什么、必须额外核验什么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60" name="" descr="&lt;Slide notes={`拿到一个分数，先要把限定它的条件填成四格。&#10;&#10;第一格是模型身份。要写完整标识，而不只是显示名，还要记下能拿到的精度——是精确快照，还是只是一个会更新的别名。&#10;&#10;第二格是题目范围。同一个名字的基准可能已经换过题，所以要写版本、子集、样本量，以及有没有做过修订。&#10;&#10;第三格是运行条件。用不用工具、总预算多少、采样怎么设、用哪个框架，这些都会改变结果。&#10;&#10;第四格是来源与时间。这是厂商自报，还是维护方公布？报告日期是哪一天？哪些字段没有披露？&#10;&#10;四格填不齐，就先写&quot;未披露&quot;。未披露本身就是一种结论，随手补一个日期不是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1.5.1&lt;/Text&gt;&#10;        &lt;/Box&gt;&#10;&#10;        &lt;Text style={{ fontSize: 56, fontWeight: 'bold', color: '#20344B', lineHeight: 1.15 }}&gt;一个分数，需要带着这些条件&lt;/Text&gt;&#10;&#10;        &lt;Box style={{ width: 640, height: 4, background: '#276FBF' }} /&gt;&#10;&#10;        &lt;Text style={{ fontSize: 19, color: '#546779', lineHeight: 1.7 }}&gt;先判断条件是否可比，再比较分数。&lt;/Text&gt;&#10;&#10;        &lt;Box style={{ marginTop: 8, flexDirection: 'row', alignItems: 'center', gap: 14 }}&gt;&#10;            &lt;Box style={{ flex: 1, height: 58, background: '#EDF4FC', borderRadius: 6, justifyContent: 'center', alignItems: 'center' }}&gt;&#10;                &lt;Text style={{ fontSize: 16, color: '#20344B' }}&gt;谁 · 模型身份&lt;/Text&gt;&#10;            &lt;/Box&gt;&#10;            &lt;Box style={{ flex: 1, height: 58, background: '#EDF4FC', borderRadius: 6, justifyContent: 'center', alignItems: 'center' }}&gt;&#10;                &lt;Text style={{ fontSize: 16, color: '#20344B' }}&gt;测什么 · 题目范围&lt;/Text&gt;&#10;            &lt;/Box&gt;&#10;            &lt;Box style={{ flex: 1, height: 58, background: '#ECF7F2', borderRadius: 6, justifyContent: 'center', alignItems: 'center' }}&gt;&#10;                &lt;Text style={{ fontSize: 16, color: '#20344B' }}&gt;怎样运行 · 运行条件&lt;/Text&gt;&#10;            &lt;/Box&gt;&#10;            &lt;Box style={{ flex: 1, height: 58, background: '#FFF4E6', borderRadius: 6, justifyContent: 'center', alignItems: 'center' }}&gt;&#10;                &lt;Text style={{ fontSize: 16, color: '#CB6B28' }}&gt;证据从哪来 · 来源与时间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609600" y="12287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14375" y="13335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295400" y="14001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1.5.1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一个分数，需要带着这些条件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09600" y="28860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09600" y="31146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先判断条件是否可比，再比较分数。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09600" y="3752850"/>
            <a:ext cx="2647950" cy="552450"/>
          </a:xfrm>
          <a:prstGeom prst="roundRect">
            <a:avLst>
              <a:gd name="adj" fmla="val 103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1485900" y="3933825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模型身份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3390900" y="3752850"/>
            <a:ext cx="2638425" cy="552450"/>
          </a:xfrm>
          <a:prstGeom prst="roundRect">
            <a:avLst>
              <a:gd name="adj" fmla="val 103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4114800" y="3933825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测什么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题目范围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162675" y="3752850"/>
            <a:ext cx="2647950" cy="552450"/>
          </a:xfrm>
          <a:prstGeom prst="roundRect">
            <a:avLst>
              <a:gd name="adj" fmla="val 103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810375" y="3933825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怎样运行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运行条件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8943975" y="3752850"/>
            <a:ext cx="2638425" cy="552450"/>
          </a:xfrm>
          <a:prstGeom prst="roundRect">
            <a:avLst>
              <a:gd name="adj" fmla="val 103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9439275" y="3933825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证据从哪来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来源与时间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78" name="" descr="&lt;Slide notes={`这四格是把一个成绩变成可用证据的最小集合。&#10;&#10;模型身份，要写到能唯一指认的程度。同一个厂商可能同时提供好几个名字很像的模型，写错一格，后面的比较就全部作废。&#10;&#10;题目范围同样关键。HLE 是 2,500 道题；另有一份 HLE-Verified 是 1,811 道，其中 668 道沿用已核验题，1,143 道是修订题，还排除了原集里 689 道不确定题。题集不一样，两个百分比就不能放在一起排名。&#10;&#10;运行条件最容易漏。用不用工具、每道题多少 Token 预算、用什么采样设置、由谁判分，都会改变结果。&#10;&#10;来源与时间决定你能追到哪一步。厂商自报和维护方公布，性质不同；报告日期要写，查不到的调用日期就写未披露，不能用查阅日期顶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5.1　专家级问题已经能解决一部分，工具会改变能力边界&lt;/Text&gt;&#10;            &lt;Text style={{ fontSize: 34, fontWeight: 'bold', color: '#20344B' }}&gt;四格共同限定一个成绩&lt;/Text&gt;&#10;        &lt;/Box&gt;&#10;    &lt;/Box&gt;&#10;&#10;    &lt;Box style={{ height: 540, flexDirection: 'column', justifyContent: 'center', gap: 16 }}&gt;&#10;&#10;        &lt;Box style={{ flexDirection: 'row', alignItems: 'center', gap: 12, height: 26 }}&gt;&#10;            &lt;Box style={{ width: 3, height: 22, background: '#276FBF' }} /&gt;&#10;            &lt;Text style={{ fontSize: 16, color: '#546779' }}&gt;仅有模型名和百分比，还不足以判断它能否与另一行比较。&lt;/Text&gt;&#10;        &lt;/Box&gt;&#10;&#10;        &lt;Box style={{ flexDirection: 'row', gap: 20, height: 330 }}&gt;&#10;&#10;            &lt;Box style={{ width: 273, height: 330, background: '#F4F7FA', borderRadius: 12, padding: 20, flexDirection: 'column', gap: 12 }}&gt;&#10;                &lt;Box style={{ width: 52, height: 52, borderRadius: 10, background: '#276FBF', justifyContent: 'center', alignItems: 'center' }}&gt;&#10;                    &lt;Text style={{ fontSize: 24, fontWeight: 'bold', color: '#FFFFFF' }}&gt;模&lt;/Text&gt;&#10;                &lt;/Box&gt;&#10;                &lt;Text style={{ fontSize: 20, fontWeight: 'bold', color: '#20344B' }}&gt;模型身份&lt;/Text&gt;&#10;                &lt;Box style={{ width: 40, height: 3, background: '#276FBF' }} /&gt;&#10;                &lt;Text style={{ fontSize: 15, color: '#546779', lineHeight: 1.7 }}&gt;完整标识与显示名分别记录；{'\n'}能拿到什么精度就写什么精度&lt;/Text&gt;&#10;            &lt;/Box&gt;&#10;&#10;            &lt;Box style={{ width: 273, height: 330, background: '#F4F7FA', borderRadius: 12, padding: 20, flexDirection: 'column', gap: 12 }}&gt;&#10;                &lt;Box style={{ width: 52, height: 52, borderRadius: 10, background: '#276FBF', justifyContent: 'center', alignItems: 'center' }}&gt;&#10;                    &lt;Text style={{ fontSize: 24, fontWeight: 'bold', color: '#FFFFFF' }}&gt;题&lt;/Text&gt;&#10;                &lt;/Box&gt;&#10;                &lt;Text style={{ fontSize: 20, fontWeight: 'bold', color: '#20344B' }}&gt;题目范围&lt;/Text&gt;&#10;                &lt;Box style={{ width: 40, height: 3, background: '#276FBF' }} /&gt;&#10;                &lt;Text style={{ fontSize: 15, color: '#546779', lineHeight: 1.7 }}&gt;基准版本与子集；{'\n'}样本量、修订与排除项&lt;/Text&gt;&#10;            &lt;/Box&gt;&#10;&#10;            &lt;Box style={{ width: 273, height: 330, background: '#F4F7FA', borderRadius: 12, padding: 20, flexDirection: 'column', gap: 12 }}&gt;&#10;                &lt;Box style={{ width: 52, height: 52, borderRadius: 10, background: '#26816B', justifyContent: 'center', alignItems: 'center' }}&gt;&#10;                    &lt;Text style={{ fontSize: 24, fontWeight: 'bold', color: '#FFFFFF' }}&gt;运&lt;/Text&gt;&#10;                &lt;/Box&gt;&#10;                &lt;Text style={{ fontSize: 20, fontWeight: 'bold', color: '#20344B' }}&gt;运行条件&lt;/Text&gt;&#10;                &lt;Box style={{ width: 40, height: 3, background: '#26816B' }} /&gt;&#10;                &lt;Text style={{ fontSize: 15, color: '#546779', lineHeight: 1.7 }}&gt;工具、预算、配置；{'\n'}采样设置与运行框架&lt;/Text&gt;&#10;            &lt;/Box&gt;&#10;&#10;            &lt;Box style={{ width: 273, height: 330, background: '#FFF4E6', borderRadius: 12, padding: 20, flexDirection: 'column', gap: 12 }}&gt;&#10;                &lt;Box style={{ width: 52, height: 52, borderRadius: 10, background: '#CB6B28', justifyContent: 'center', alignItems: 'center' }}&gt;&#10;                    &lt;Text style={{ fontSize: 24, fontWeight: 'bold', color: '#FFFFFF' }}&gt;源&lt;/Text&gt;&#10;                &lt;/Box&gt;&#10;                &lt;Text style={{ fontSize: 20, fontWeight: 'bold', color: '#CB6B28' }}&gt;来源与时间&lt;/Text&gt;&#10;                &lt;Box style={{ width: 40, height: 3, background: '#CB6B28' }} /&gt;&#10;                &lt;Text style={{ fontSize: 15, color: '#546779', lineHeight: 1.7 }}&gt;厂商自报还是维护方公布；{'\n'}日期，以及未披露的是哪些字段&lt;/Text&gt;&#10;            &lt;/Box&gt;&#10;&#10;        &lt;/Box&gt;&#10;&#10;        &lt;Box style={{ flexDirection: 'row', alignItems: 'center', gap: 14, height: 84, background: '#F7F3E8', borderRadius: 10, padding: '0 22px' }}&gt;&#10;            &lt;Box style={{ width: 3, height: 40, background: '#276FBF' }} /&gt;&#10;            &lt;Text style={{ fontSize: 17, color: '#20344B', lineHeight: 1.6 }}&gt;四格填齐之后，才轮到比较；条件不同就写&quot;条件不同&quot;，不写&quot;谁更强&quot;。&lt;/Text&gt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专家级问题已经能解决一部分，工具会改变能力边界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0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四格共同限定一个成绩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1485900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52475" y="1495425"/>
            <a:ext cx="396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仅有模型名和百分比，还不足以判断它能否与另一行比较。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9600" y="1866900"/>
            <a:ext cx="2600325" cy="3143250"/>
          </a:xfrm>
          <a:prstGeom prst="roundRect">
            <a:avLst>
              <a:gd name="adj" fmla="val 43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800100" y="20574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33450" y="21717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模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00100" y="266700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模型身份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800100" y="3009900"/>
            <a:ext cx="3810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00100" y="3152775"/>
            <a:ext cx="22193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完整标识与显示名分别记录；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能拿到什么精度就写什么精度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3400425" y="1866900"/>
            <a:ext cx="2600325" cy="3143250"/>
          </a:xfrm>
          <a:prstGeom prst="roundRect">
            <a:avLst>
              <a:gd name="adj" fmla="val 43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2" name=""/>
          <p:cNvSpPr/>
          <p:nvPr/>
        </p:nvSpPr>
        <p:spPr>
          <a:xfrm rot="0" flipH="0" flipV="0">
            <a:off x="3590925" y="20574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3724275" y="21717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590925" y="266700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题目范围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3590925" y="3009900"/>
            <a:ext cx="3810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3590925" y="3152775"/>
            <a:ext cx="22193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基准版本与子集；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样本量、修订与排除项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191250" y="1866900"/>
            <a:ext cx="2600325" cy="3143250"/>
          </a:xfrm>
          <a:prstGeom prst="roundRect">
            <a:avLst>
              <a:gd name="adj" fmla="val 439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8" name=""/>
          <p:cNvSpPr/>
          <p:nvPr/>
        </p:nvSpPr>
        <p:spPr>
          <a:xfrm rot="0" flipH="0" flipV="0">
            <a:off x="6381750" y="20574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515100" y="21717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运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381750" y="266700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运行条件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381750" y="3009900"/>
            <a:ext cx="3810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381750" y="3152775"/>
            <a:ext cx="22193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工具、预算、配置；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采样设置与运行框架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8982075" y="1866900"/>
            <a:ext cx="2600325" cy="3143250"/>
          </a:xfrm>
          <a:prstGeom prst="roundRect">
            <a:avLst>
              <a:gd name="adj" fmla="val 43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4" name=""/>
          <p:cNvSpPr/>
          <p:nvPr/>
        </p:nvSpPr>
        <p:spPr>
          <a:xfrm rot="0" flipH="0" flipV="0">
            <a:off x="9172575" y="20574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9305925" y="21717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源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172575" y="266700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来源与时间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9172575" y="3009900"/>
            <a:ext cx="3810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172575" y="3152775"/>
            <a:ext cx="22193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厂商自报还是维护方公布；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日期，以及未披露的是哪些字段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09600" y="51625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819150" y="5372100"/>
            <a:ext cx="28575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981075" y="5410200"/>
            <a:ext cx="5143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四格填齐之后，才轮到比较；条件不同就写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条件不同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，不写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谁更强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14" name="" descr="&lt;Slide notes={`这三行出自 Anthropic 在 2026 年 9 月 1 日发布的系统卡，题集是 HLE 的 2,500 道题。&#10;&#10;请把注意力放在两列的差别上。左边是不使用工具的准确率，右边是使用工具的准确率。把工具条件并排摆出来，而不是藏进模型名后面的一行小字，是有意的：只有条件摆在台面上，你才能看出同一批题上工具打开之后发生了什么。&#10;&#10;再看来源性质：这是厂商自报，不是第三方复测。工具条件包含网页搜索、网页读取、程序化工具调用和代码执行；每题跨上下文的总 Token 上限是一百万，不做上下文压缩，判分用 Claude Opus 4.6。&#10;&#10;报告还说明了屏蔽基准答案来源和污染复查的方法。条件写得越清楚，我们才知道该信到什么程度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5.1　专家级问题已经能解决一部分，工具会改变能力边界&lt;/Text&gt;&#10;            &lt;Text style={{ fontSize: 34, fontWeight: 'bold', color: '#20344B' }}&gt;HLE：同一批题，两种工具条件&lt;/Text&gt;&#10;        &lt;/Box&gt;&#10;    &lt;/Box&gt;&#10;&#10;    &lt;Box style={{ height: 540, flexDirection: 'column', justifyContent: 'center', gap: 12 }}&gt;&#10;&#10;        &lt;Box style={{ flexDirection: 'row', gap: 20, height: 30, alignItems: 'center', padding: '0 18px' }}&gt;&#10;            &lt;Box style={{ width: 4 }} /&gt;&#10;            &lt;Box style={{ width: 300 }}&gt;&lt;Text style={{ fontSize: 15, fontWeight: 'bold', color: '#546779' }}&gt;模型完整名称&lt;/Text&gt;&lt;/Box&gt;&#10;            &lt;Box style={{ flex: 1 }}&gt;&lt;Text style={{ fontSize: 15, fontWeight: 'bold', color: '#546779' }}&gt;不使用工具：准确率&lt;/Text&gt;&lt;/Box&gt;&#10;            &lt;Box style={{ flex: 1 }}&gt;&lt;Text style={{ fontSize: 15, fontWeight: 'bold', color: '#546779' }}&gt;使用工具：准确率&lt;/Text&gt;&lt;/Box&gt;&#10;        &lt;/Box&gt;&#10;&#10;        &lt;Box style={{ flexDirection: 'row', gap: 20, height: 88, alignItems: 'center', background: '#F4F7FA', borderRadius: 10, padding: '0 18px' }}&gt;&#10;            &lt;Box style={{ width: 4, height: 54, background: '#276FBF' }} /&gt;&#10;            &lt;Box style={{ width: 300 }}&gt;&lt;Text style={{ fontSize: 19, fontWeight: 'bold', color: '#20344B' }}&gt;Claude Fable 5.1&lt;/Text&gt;&lt;/Box&gt;&#10;            &lt;Box style={{ flex: 1, height: 56, background: '#EDF4FC', borderRadius: 8, justifyContent: 'center', alignItems: 'center' }}&gt;&#10;                &lt;Text style={{ fontSize: 22, fontWeight: 'bold', color: '#276FBF' }}&gt;60.9%&lt;/Text&gt;&#10;            &lt;/Box&gt;&#10;            &lt;Box style={{ flex: 1, height: 56, background: '#ECF7F2', borderRadius: 8, justifyContent: 'center', alignItems: 'center' }}&gt;&#10;                &lt;Text style={{ fontSize: 22, fontWeight: 'bold', color: '#26816B' }}&gt;65.0%&lt;/Text&gt;&#10;            &lt;/Box&gt;&#10;        &lt;/Box&gt;&#10;&#10;        &lt;Box style={{ flexDirection: 'row', gap: 20, height: 88, alignItems: 'center', background: '#F4F7FA', borderRadius: 10, padding: '0 18px' }}&gt;&#10;            &lt;Box style={{ width: 4, height: 54, background: '#276FBF' }} /&gt;&#10;            &lt;Box style={{ width: 300 }}&gt;&lt;Text style={{ fontSize: 19, fontWeight: 'bold', color: '#20344B' }}&gt;Claude Fable 5&lt;/Text&gt;&lt;/Box&gt;&#10;            &lt;Box style={{ flex: 1, height: 56, background: '#EDF4FC', borderRadius: 8, justifyContent: 'center', alignItems: 'center' }}&gt;&#10;                &lt;Text style={{ fontSize: 22, fontWeight: 'bold', color: '#276FBF' }}&gt;57.8%&lt;/Text&gt;&#10;            &lt;/Box&gt;&#10;            &lt;Box style={{ flex: 1, height: 56, background: '#ECF7F2', borderRadius: 8, justifyContent: 'center', alignItems: 'center' }}&gt;&#10;                &lt;Text style={{ fontSize: 22, fontWeight: 'bold', color: '#26816B' }}&gt;63.8%&lt;/Text&gt;&#10;            &lt;/Box&gt;&#10;        &lt;/Box&gt;&#10;&#10;        &lt;Box style={{ flexDirection: 'row', gap: 20, height: 88, alignItems: 'center', background: '#F4F7FA', borderRadius: 10, padding: '0 18px' }}&gt;&#10;            &lt;Box style={{ width: 4, height: 54, background: '#276FBF' }} /&gt;&#10;            &lt;Box style={{ width: 300 }}&gt;&lt;Text style={{ fontSize: 19, fontWeight: 'bold', color: '#20344B' }}&gt;Claude Opus 5&lt;/Text&gt;&lt;/Box&gt;&#10;            &lt;Box style={{ flex: 1, height: 56, background: '#EDF4FC', borderRadius: 8, justifyContent: 'center', alignItems: 'center' }}&gt;&#10;                &lt;Text style={{ fontSize: 22, fontWeight: 'bold', color: '#276FBF' }}&gt;56.6%&lt;/Text&gt;&#10;            &lt;/Box&gt;&#10;            &lt;Box style={{ flex: 1, height: 56, background: '#ECF7F2', borderRadius: 8, justifyContent: 'center', alignItems: 'center' }}&gt;&#10;                &lt;Text style={{ fontSize: 22, fontWeight: 'bold', color: '#26816B' }}&gt;63.6%&lt;/Text&gt;&#10;            &lt;/Box&gt;&#10;        &lt;/Box&gt;&#10;&#10;        &lt;Box style={{ height: 92, background: '#F7F3E8', borderRadius: 10, padding: '14px 22px', flexDirection: 'row', alignItems: 'center', gap: 14 }}&gt;&#10;            &lt;Box style={{ width: 3, height: 52, background: '#CB6B28' }} /&gt;&#10;            &lt;Box style={{ flex: 1, flexDirection: 'column', gap: 4 }}&gt;&#10;                &lt;Text style={{ fontSize: 16, fontWeight: 'bold', color: '#CB6B28' }}&gt;来源性质：厂商自报，报告日期 2026-09-01，本书未复测&lt;/Text&gt;&#10;                &lt;Text style={{ fontSize: 15, color: '#546779', lineHeight: 1.5 }}&gt;工具条件含网页搜索、网页读取、程序化工具调用与代码执行；每题跨上下文总 Token 上限 100 万，不做上下文压缩，判分使用 Claude Opus 4.6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1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专家级问题已经能解决一部分，工具会改变能力边界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14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HLE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：同一批题，两种工具条件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009650" y="170497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模型完整名称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4057650" y="170497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不使用工具：准确率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829550" y="1704975"/>
            <a:ext cx="3581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使用工具：准确率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09600" y="20478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3" name=""/>
          <p:cNvSpPr/>
          <p:nvPr/>
        </p:nvSpPr>
        <p:spPr>
          <a:xfrm rot="0" flipH="0" flipV="0">
            <a:off x="781050" y="220980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009650" y="2362200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Claude Fable 5.1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4057650" y="2200275"/>
            <a:ext cx="35814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524500" y="2343150"/>
            <a:ext cx="647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60.9%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7829550" y="2200275"/>
            <a:ext cx="35814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9296400" y="2343150"/>
            <a:ext cx="647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65.0%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09600" y="30003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781050" y="316230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009650" y="3314700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Claude Fable 5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4057650" y="3152775"/>
            <a:ext cx="35814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5524500" y="3295650"/>
            <a:ext cx="647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57.8%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7829550" y="3152775"/>
            <a:ext cx="35814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296400" y="3295650"/>
            <a:ext cx="647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63.8%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09600" y="39528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781050" y="411480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009650" y="4267200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Claude Opus 5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4057650" y="4105275"/>
            <a:ext cx="35814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5524500" y="4248150"/>
            <a:ext cx="647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56.6%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7829550" y="4105275"/>
            <a:ext cx="35814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9296400" y="4248150"/>
            <a:ext cx="647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63.6%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09600" y="4905375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819150" y="5095875"/>
            <a:ext cx="28575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81075" y="5105400"/>
            <a:ext cx="10391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来源性质：厂商自报，报告日期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2026-09-01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，本书未复测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81075" y="53340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工具条件含网页搜索、网页读取、程序化工具调用与代码执行；每题跨上下文总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上限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万，不做上下文压缩，判分使用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Claude Opus 4.6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49" name="" descr="&lt;Slide notes={`把同一行的两个数字相减：Fable 5.1 在不使用工具时是 60.9%，使用工具之后是 65.0%，相差 4.1 个百分点。&#10;&#10;这 4.1 说了一件很有用的事——允许查资料、执行计算、回头继续检查，系统能解决的问题范围确实可以变宽。但它推不出&quot;只要接上搜索，所有问题都会提高 4.1 个百分点&quot;。原因有两条：两种条件虽然都设了总预算上限，实际消耗的工具耗时和 Token 并不因此相等；工具本身也可能带来错误资料、搜索遗漏和新的调用失败。&#10;&#10;还有一层必须交代：这组成绩是在带生产防护的系统配置下测的。防护介入时，网络安全任务转由 Claude Opus 4.8 接替，生物任务转由 Claude Opus 5 接替。所以这些成绩包含已说明的应用层行为，不能全部归给一个模型的裸权重。&#10;&#10;回到活动筹备，能靠已知材料回答的直接答，涉及场地规则和实时开放状态的必须去读来源，涉及人数、时长和冲突的必须调用检查程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5.1　专家级问题已经能解决一部分，工具会改变能力边界&lt;/Text&gt;&#10;            &lt;Text style={{ fontSize: 34, fontWeight: 'bold', color: '#20344B' }}&gt;工具确实改变了能力边界&lt;/Text&gt;&#10;        &lt;/Box&gt;&#10;    &lt;/Box&gt;&#10;&#10;    &lt;Box style={{ height: 540, flexDirection: 'row', alignItems: 'center', gap: 40 }}&gt;&#10;&#10;        &lt;Box style={{ width: 360, height: 440, background: '#EDF4FC', borderRadius: 12, padding: 26, flexDirection: 'column', justifyContent: 'center', gap: 12 }}&gt;&#10;            &lt;Text style={{ fontSize: 15, color: '#546779' }}&gt;同一个 Claude Fable 5.1&lt;/Text&gt;&#10;            &lt;Box style={{ flexDirection: 'row', alignItems: 'flex-end', gap: 8 }}&gt;&#10;                &lt;Text style={{ fontSize: 72, fontWeight: 'bold', color: '#276FBF', lineHeight: 1.05 }}&gt;4.1&lt;/Text&gt;&#10;                &lt;Text style={{ fontSize: 22, fontWeight: 'bold', color: '#546779', lineHeight: 1.6 }}&gt;个百分点&lt;/Text&gt;&#10;            &lt;/Box&gt;&#10;            &lt;Box style={{ width: 64, height: 4, background: '#26816B' }} /&gt;&#10;            &lt;Text style={{ fontSize: 16, color: '#20344B', lineHeight: 1.75 }}&gt;60.9%（不使用工具）{'\n'}→ 65.0%（使用工具）&lt;/Text&gt;&#10;            &lt;Text style={{ fontSize: 15, color: '#546779', lineHeight: 1.7 }}&gt;允许查资料、执行计算并继续检查，系统能处理的问题范围变宽。&lt;/Text&gt;&#10;        &lt;/Box&gt;&#10;&#10;        &lt;Box style={{ flex: 1, flexDirection: 'column', justifyContent: 'center', gap: 12 }}&gt;&#10;&#10;            &lt;Box style={{ flexDirection: 'row', alignItems: 'center', gap: 12 }}&gt;&#10;                &lt;Box style={{ width: 3, height: 22, background: '#26816B' }} /&gt;&#10;                &lt;Text style={{ fontSize: 20, fontWeight: 'bold', color: '#20344B' }}&gt;这组差值能说明什么&lt;/Text&gt;&#10;            &lt;/Box&gt;&#10;&#10;            &lt;Box style={{ height: 96, background: '#ECF7F2', borderRadius: 10, padding: '0 20px', justifyContent: 'center' }}&gt;&#10;                &lt;Text style={{ fontSize: 16, color: '#20344B', lineHeight: 1.6 }}&gt;在这组条件下，可访问的证据与计算工具共同拓展了系统解决问题的能力。&lt;/Text&gt;&#10;            &lt;/Box&gt;&#10;&#10;            &lt;Box style={{ flexDirection: 'row', alignItems: 'center', gap: 12, marginTop: 4 }}&gt;&#10;                &lt;Box style={{ width: 3, height: 22, background: '#CB6B28' }} /&gt;&#10;                &lt;Text style={{ fontSize: 20, fontWeight: 'bold', color: '#CB6B28' }}&gt;不能由此推出什么&lt;/Text&gt;&#10;            &lt;/Box&gt;&#10;&#10;            &lt;Box style={{ height: 80, background: '#F4F7FA', borderRadius: 10, padding: '0 20px', justifyContent: 'center' }}&gt;&#10;                &lt;Text style={{ fontSize: 16, color: '#546779', lineHeight: 1.6 }}&gt;不能反推&quot;接入搜索，所有问题都会提高 4.1 个百分点&quot;。&lt;/Text&gt;&#10;            &lt;/Box&gt;&#10;&#10;            &lt;Box style={{ height: 80, background: '#F4F7FA', borderRadius: 10, padding: '0 20px', justifyContent: 'center' }}&gt;&#10;                &lt;Text style={{ fontSize: 16, color: '#546779', lineHeight: 1.6 }}&gt;两种条件虽同为预算上限，实际工具耗时与 Token 消耗并不相等。&lt;/Text&gt;&#10;            &lt;/Box&gt;&#10;&#10;            &lt;Box style={{ height: 92, background: '#FFF4E6', borderRadius: 10, padding: '0 20px', justifyContent: 'center' }}&gt;&#10;                &lt;Text style={{ fontSize: 16, color: '#CB6B28', lineHeight: 1.6 }}&gt;带生产防护的系统配置：防护介入时网络安全任务转由 Claude Opus 4.8、生物任务转由 Claude Opus 5 接替，成绩含应用层行为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专家级问题已经能解决一部分，工具会改变能力边界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工具确实改变了能力边界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" y="1619250"/>
            <a:ext cx="3429000" cy="41910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57250" y="23336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Claude Fable 5.1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57250" y="2619375"/>
            <a:ext cx="1047750" cy="8667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400" b="1">
                <a:solidFill>
                  <a:srgbClr val="276FBF"/>
                </a:solidFill>
                <a:latin typeface="Microsoft YaHei"/>
                <a:ea typeface="Microsoft YaHei"/>
              </a:rPr>
              <a:t>4.1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981200" y="3076575"/>
            <a:ext cx="8382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 b="1">
                <a:solidFill>
                  <a:srgbClr val="546779"/>
                </a:solidFill>
                <a:latin typeface="Microsoft YaHei"/>
                <a:ea typeface="Microsoft YaHei"/>
              </a:rPr>
              <a:t>个百分点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857250" y="3600450"/>
            <a:ext cx="609600" cy="38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857250" y="3752850"/>
            <a:ext cx="2933700" cy="647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60.9%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（不使用工具）</a:t>
            </a:r>
            <a:endParaRPr/>
          </a:p>
          <a:p>
            <a:pPr>
              <a:lnSpc>
                <a:spcPct val="175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→ 65.0%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（使用工具）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57250" y="4514850"/>
            <a:ext cx="2933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允许查资料、执行计算并继续检查，系统能处理的问题范围变宽。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4419600" y="1533525"/>
            <a:ext cx="28575" cy="209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4562475" y="152400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这组差值能说明什么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4419600" y="1866900"/>
            <a:ext cx="716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4610100" y="2181225"/>
            <a:ext cx="6781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在这组条件下，可访问的证据与计算工具共同拓展了系统解决问题的能力。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4419600" y="2943225"/>
            <a:ext cx="28575" cy="209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4562475" y="2933700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不能由此推出什么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4419600" y="3276600"/>
            <a:ext cx="71628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4610100" y="3514725"/>
            <a:ext cx="6781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不能反推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接入搜索，所有问题都会提高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4.1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个百分点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4419600" y="4152900"/>
            <a:ext cx="71628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4610100" y="4391025"/>
            <a:ext cx="6781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两种条件虽同为预算上限，实际工具耗时与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消耗并不相等。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4419600" y="5029200"/>
            <a:ext cx="716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4610100" y="5172075"/>
            <a:ext cx="678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带生产防护的系统配置：防护介入时网络安全任务转由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Claude Opus 4.8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、生物任务转由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Claude Opus 5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接替，成绩含应用层行为。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75" name="" descr="&lt;Slide notes={`还有一件很容易忽略的事：名字差不多，题可能已经换过了。&#10;&#10;Google 在 2026 年 9 月的方法报告里给出 HLE-Verified 的 54.9%，但它用的题集不是原来那 2,500 道。分母是 1,811 道：668 道沿用了原有的已核验题，1,143 道是修订过的题，同时排除了原集里 689 道不确定的题。&#10;&#10;所以这个数字不能拿去和前面的 65.0% 排名。题集不一样，已披露的设置也不一样，排在一起就等于把两个不同的问题当成同一个问题。&#10;&#10;它真正有用的结论只有一个方向：在这个重新核验过的高难集合里，仍然有大量问题没有被正确解决。也就是说，剩下的空间很大，而且是可测量的空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5.1　专家级问题已经能解决一部分，工具会改变能力边界&lt;/Text&gt;&#10;            &lt;Text style={{ fontSize: 34, fontWeight: 'bold', color: '#20344B' }}&gt;同一个名字，可能已经换题&lt;/Text&gt;&#10;        &lt;/Box&gt;&#10;    &lt;/Box&gt;&#10;&#10;    &lt;Box style={{ height: 540, flexDirection: 'row', alignItems: 'center', gap: 40 }}&gt;&#10;&#10;        &lt;Box style={{ flex: 55, flexDirection: 'column', justifyContent: 'center', gap: 14 }}&gt;&#10;            &lt;Text style={{ fontSize: 15, color: '#546779' }}&gt;HLE-Verified　·　Gemini 3.8 Flash　·　报告日期 2026 年 9 月　·　厂商自报&lt;/Text&gt;&#10;            &lt;Box style={{ flexDirection: 'row', alignItems: 'flex-end', gap: 12 }}&gt;&#10;                &lt;Text style={{ fontSize: 96, fontWeight: 'bold', color: '#276FBF', lineHeight: 1.0 }}&gt;54.9%&lt;/Text&gt;&#10;            &lt;/Box&gt;&#10;            &lt;Box style={{ width: 88, height: 4, background: '#276FBF' }} /&gt;&#10;            &lt;Text style={{ fontSize: 17, color: '#20344B', lineHeight: 1.7 }}&gt;这是一个重新核验过的高难集合。在其中，仍有大量问题没有被正确解决。&lt;/Text&gt;&#10;            &lt;Text style={{ fontSize: 15, color: '#546779', lineHeight: 1.65 }}&gt;通用方法为默认采样、除另有注明外按 pass@1 报告；精确 API 快照、推理等级与该行工具可用性未在所引段落披露。&lt;/Text&gt;&#10;        &lt;/Box&gt;&#10;&#10;        &lt;Box style={{ flex: 45, flexDirection: 'column', justifyContent: 'center', gap: 12 }}&gt;&#10;&#10;            &lt;Box style={{ flexDirection: 'row', alignItems: 'center', gap: 12 }}&gt;&#10;                &lt;Box style={{ width: 3, height: 22, background: '#276FBF' }} /&gt;&#10;                &lt;Text style={{ fontSize: 20, fontWeight: 'bold', color: '#20344B' }}&gt;分母是 1,811 题&lt;/Text&gt;&#10;            &lt;/Box&gt;&#10;&#10;            &lt;Box style={{ height: 76, background: '#F4F7FA', borderRadius: 10, padding: '0 20px', flexDirection: 'row', alignItems: 'center', gap: 14 }}&gt;&#10;                &lt;Box style={{ width: 80 }}&gt;&lt;Text style={{ fontSize: 24, fontWeight: 'bold', color: '#276FBF' }}&gt;668&lt;/Text&gt;&lt;/Box&gt;&#10;                &lt;Text style={{ fontSize: 16, color: '#546779' }}&gt;道沿用原有已核验题&lt;/Text&gt;&#10;            &lt;/Box&gt;&#10;&#10;            &lt;Box style={{ height: 76, background: '#F4F7FA', borderRadius: 10, padding: '0 20px', flexDirection: 'row', alignItems: 'center', gap: 14 }}&gt;&#10;                &lt;Box style={{ width: 80 }}&gt;&lt;Text style={{ fontSize: 24, fontWeight: 'bold', color: '#276FBF' }}&gt;1,143&lt;/Text&gt;&lt;/Box&gt;&#10;                &lt;Text style={{ fontSize: 16, color: '#546779' }}&gt;道为修订题&lt;/Text&gt;&#10;            &lt;/Box&gt;&#10;&#10;            &lt;Box style={{ height: 76, background: '#F4F7FA', borderRadius: 10, padding: '0 20px', flexDirection: 'row', alignItems: 'center', gap: 14 }}&gt;&#10;                &lt;Box style={{ width: 80 }}&gt;&lt;Text style={{ fontSize: 24, fontWeight: 'bold', color: '#CB6B28' }}&gt;689&lt;/Text&gt;&lt;/Box&gt;&#10;                &lt;Text style={{ fontSize: 16, color: '#546779' }}&gt;道不确定题被排除&lt;/Text&gt;&#10;            &lt;/Box&gt;&#10;&#10;            &lt;Box style={{ height: 96, background: '#FFF4E6', borderRadius: 10, padding: '0 20px', flexDirection: 'row', alignItems: 'center', gap: 14 }}&gt;&#10;                &lt;Box style={{ width: 3, height: 56, background: '#CB6B28' }} /&gt;&#10;                &lt;Text style={{ fontSize: 16, color: '#CB6B28', lineHeight: 1.6 }}&gt;题集不同、已披露设置也不同，不能与 2,500 题上的 65.0% 排名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专家级问题已经能解决一部分，工具会改变能力边界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同一个名字，可能已经换题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234315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HLE-Verified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Gemini 3.8 Flash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报告日期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2026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月　·　厂商自报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609600" y="2647950"/>
            <a:ext cx="28098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76FBF"/>
                </a:solidFill>
                <a:latin typeface="Microsoft YaHei"/>
                <a:ea typeface="Microsoft YaHei"/>
              </a:rPr>
              <a:t>54.9%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09600" y="3886200"/>
            <a:ext cx="8382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09600" y="4057650"/>
            <a:ext cx="58293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这是一个重新核验过的高难集合。在其中，仍有大量问题没有被正确解决。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09600" y="4524375"/>
            <a:ext cx="5829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通用方法为默认采样、除另有注明外按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pass@1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报告；精确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快照、推理等级与该行工具可用性未在所引段落披露。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819900" y="183832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962775" y="1828800"/>
            <a:ext cx="1400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分母是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1,811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819900" y="2171700"/>
            <a:ext cx="47625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010400" y="2400300"/>
            <a:ext cx="762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>668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905750" y="24384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道沿用原有已核验题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819900" y="3009900"/>
            <a:ext cx="47625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010400" y="3238500"/>
            <a:ext cx="762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>1,143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7905750" y="32766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道为修订题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6819900" y="3848100"/>
            <a:ext cx="47625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010400" y="4076700"/>
            <a:ext cx="762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B6B28"/>
                </a:solidFill>
                <a:latin typeface="Microsoft YaHei"/>
                <a:ea typeface="Microsoft YaHei"/>
              </a:rPr>
              <a:t>689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905750" y="41148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道不确定题被排除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819900" y="4686300"/>
            <a:ext cx="47625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7010400" y="4876800"/>
            <a:ext cx="28575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172325" y="4848225"/>
            <a:ext cx="4219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题集不同、已披露设置也不同，不能与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2,500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题上的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65.0%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排名。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01" name="" descr="&lt;Slide notes={`第二个知识块换一类材料。&#10;&#10;理解图片不只有&quot;说出图中有什么&quot;这一种要求。活动筹备要读懂平面图，财务工作要读图表，整理政策材料要跨页读取 PDF。这三个例子的输入都带有视觉信息，但难度和评分方法完全不同。&#10;&#10;所以看视觉成绩的时候，第一件事是问清楚：这份报告测的是哪一种？是让你综合图表里的信息回答问题，还是要求你把一份长文档里的所有细则一次性都做对？前者可以只看回答对不对，后者必须每一项都通过才算数。&#10;&#10;同一个模型在这两类任务上的数字会差得很远，这不是矛盾，而是它们本来就在回答两个不同的问题。接下来的两组数字就来自同一份报告，正好可以对照着看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1.5.2&lt;/Text&gt;&#10;        &lt;/Box&gt;&#10;&#10;        &lt;Text style={{ fontSize: 56, fontWeight: 'bold', color: '#20344B', lineHeight: 1.15 }}&gt;能读复杂材料，整份交付仍需验收&lt;/Text&gt;&#10;&#10;        &lt;Box style={{ width: 640, height: 4, background: '#276FBF' }} /&gt;&#10;&#10;        &lt;Text style={{ fontSize: 19, color: '#546779', lineHeight: 1.7 }}&gt;输入都带有视觉信息，任务难度和评分方法却不一样。&lt;/Text&gt;&#10;&#10;        &lt;Box style={{ marginTop: 8, flexDirection: 'row', alignItems: 'center', gap: 14 }}&gt;&#10;            &lt;Box style={{ flex: 1, height: 58, background: '#ECF7F2', borderRadius: 6, justifyContent: 'center', alignItems: 'center' }}&gt;&#10;                &lt;Text style={{ fontSize: 16, color: '#20344B' }}&gt;平面图 · 读懂位置与容量&lt;/Text&gt;&#10;            &lt;/Box&gt;&#10;            &lt;Box style={{ flex: 1, height: 58, background: '#ECF7F2', borderRadius: 6, justifyContent: 'center', alignItems: 'center' }}&gt;&#10;                &lt;Text style={{ fontSize: 16, color: '#20344B' }}&gt;图表 · 综合信息回答问题&lt;/Text&gt;&#10;            &lt;/Box&gt;&#10;            &lt;Box style={{ flex: 1, height: 58, background: '#FFF4E6', borderRadius: 6, justifyContent: 'center', alignItems: 'center' }}&gt;&#10;                &lt;Text style={{ fontSize: 16, color: '#CB6B28' }}&gt;长文档 · 全部细则同时通过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609600" y="12287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14375" y="13335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1295400" y="14001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1.5.2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能读复杂材料，整份交付仍需验收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09600" y="28860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31146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输入都带有视觉信息，任务难度和评分方法却不一样。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09600" y="3752850"/>
            <a:ext cx="3571875" cy="552450"/>
          </a:xfrm>
          <a:prstGeom prst="roundRect">
            <a:avLst>
              <a:gd name="adj" fmla="val 103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1571625" y="3933825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平面图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读懂位置与容量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4314825" y="3752850"/>
            <a:ext cx="3562350" cy="552450"/>
          </a:xfrm>
          <a:prstGeom prst="roundRect">
            <a:avLst>
              <a:gd name="adj" fmla="val 103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5267325" y="3933825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图表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综合信息回答问题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8010525" y="3752850"/>
            <a:ext cx="3571875" cy="552450"/>
          </a:xfrm>
          <a:prstGeom prst="roundRect">
            <a:avLst>
              <a:gd name="adj" fmla="val 103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896350" y="393382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长文档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全部细则同时通过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17" name="" descr="&lt;Slide notes={`这两行数字出自 Google 同一份 2026 年 9 月的方法报告，模型调用标识是 gemini-3.8-flash。&#13;&#10;&#13;&#10;第一行 CharXiv Reasoning，测复杂科研图表的信息综合，不使用工具，86.2%。&#13;&#10;&#13;&#10;第二行 GDP.PDF，测专家级 PDF 文档理解，35.0%。这里的 35.0% 是 All pass rate，必须按全部要求同时通过才算一次，完整通过率就是 35.0%。&#13;&#10;&#13;&#10;绝不能把 86.2% 减掉 35.0% 说成&quot;能力损失&quot;，两项任务与判分口径都不同。&#13;&#10;&#13;&#10;实用的判断是：让模型帮忙读图、找文档信息已经有价值；要它一次处理完一份长文档、满足全部细则，仍须分项检查。像开放日方案，时间、地点、容量、无障碍与附件引用必须同时正确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2　多模态已经能处理复杂材料，整份交付仍需验收&lt;/Text&gt;&#13;&#10;            &lt;Text style={{ fontSize: 34, fontWeight: 'bold', color: '#20344B' }}&gt;两种视觉任务，两种评分&lt;/Text&gt;&#13;&#10;        &lt;/Box&gt;&#13;&#10;    &lt;/Box&gt;&#13;&#10;&#13;&#10;    &lt;Box style={{ height: 540, flexDirection: 'column', justifyContent: 'center', gap: 16 }}&gt;&#13;&#10;&#13;&#10;        &lt;Box style={{ flexDirection: 'row', gap: 40, height: 372 }}&gt;&#13;&#10;&#13;&#10;            &lt;Box style={{ flex: 58, height: 372, background: '#ECF7F2', borderRadius: 12, padding: 26, flexDirection: 'column', gap: 10 }}&gt;&#13;&#10;                &lt;Text style={{ fontSize: 15, color: '#546779' }}&gt;CharXiv Reasoning　·　复杂科研图表的信息综合&lt;/Text&gt;&#13;&#10;                &lt;Box style={{ flexDirection: 'row', alignItems: 'flex-end', gap: 10 }}&gt;&#13;&#10;                    &lt;Text style={{ fontSize: 64, fontWeight: 'bold', color: '#26816B', lineHeight: 1.05 }}&gt;86.2%&lt;/Text&gt;&#13;&#10;                    &lt;Text style={{ fontSize: 17, color: '#546779', lineHeight: 1.7 }}&gt;无工具&lt;/Text&gt;&#13;&#10;                &lt;/Box&gt;&#13;&#10;                &lt;Box style={{ width: 72, height: 4, background: '#26816B' }} /&gt;&#13;&#10;                &lt;Text style={{ fontSize: 16, color: '#20344B', lineHeight: 1.75 }}&gt;模型可以在该设置下解决较多图表推理问题，说明&quot;读图找信息&quot;这件事已经有实用价值。&lt;/Text&gt;&#13;&#10;                &lt;Box style={{ flex: 1 }} /&gt;&#13;&#10;                &lt;Text style={{ fontSize: 14, color: '#546779', lineHeight: 1.6 }}&gt;判分口径：reasoning score，默认 pass@1。&lt;/Text&gt;&#13;&#10;            &lt;/Box&gt;&#13;&#10;&#13;&#10;            &lt;Box style={{ flex: 42, height: 372, background: '#FFF4E6', borderRadius: 12, padding: 26, flexDirection: 'column', gap: 10 }}&gt;&#13;&#10;                &lt;Text style={{ fontSize: 15, color: '#546779' }}&gt;GDP.PDF　·　专家级 PDF 文档理解&lt;/Text&gt;&#13;&#10;                &lt;Box style={{ flexDirection: 'row', alignItems: 'flex-end', gap: 10 }}&gt;&#13;&#10;                    &lt;Text style={{ fontSize: 64, fontWeight: 'bold', color: '#CB6B28', lineHeight: 1.05 }}&gt;35.0%&lt;/Text&gt;&#13;&#10;                    &lt;Text style={{ fontSize: 17, color: '#546779', lineHeight: 1.7 }}&gt;All pass&lt;/Text&gt;&#13;&#10;                &lt;/Box&gt;&#13;&#10;                &lt;Box style={{ width: 72, height: 4, background: '#CB6B28' }} /&gt;&#13;&#10;                &lt;Text style={{ fontSize: 16, color: '#20344B', lineHeight: 1.75 }}&gt;该题集按全部要求同时通过计分。本次完整通过率为 35.0%，说明&quot;整份做完&quot;是另一件事。&lt;/Text&gt;&#13;&#10;                &lt;Box style={{ flex: 1 }} /&gt;&#13;&#10;                &lt;Text style={{ fontSize: 14, color: '#546779', lineHeight: 1.6 }}&gt;判分口径：All pass rate。&lt;/Text&gt;&#13;&#10;            &lt;/Box&gt;&#13;&#10;&#13;&#10;        &lt;/Box&gt;&#13;&#10;&#13;&#10;        &lt;Box style={{ height: 88, background: '#F7F3E8', borderRadius: 10, padding: '0 22px', flexDirection: 'row', alignItems: 'center', gap: 14 }}&gt;&#13;&#10;            &lt;Box style={{ width: 3, height: 48, background: '#CB6B28' }} /&gt;&#13;&#10;            &lt;Box style={{ flex: 1, flexDirection: 'column', gap: 3 }}&gt;&#13;&#10;                &lt;Text style={{ fontSize: 16, fontWeight: 'bold', color: '#CB6B28' }}&gt;不能相减：两项结果的任务和判分不同，86.2% 减 35.0% 不是&quot;能力损失&quot;&lt;/Text&gt;&#13;&#10;                &lt;Text style={{ fontSize: 15, color: '#546779' }}&gt;来源性质：厂商自报；模型调用标识 gemini-3.8-flash，通用方法为默认采样、除另有注明外按 pass@1 报告，试验次数与题集快照未完整披露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09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多模态已经能处理复杂材料，整份交付仍需验收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两种视觉任务，两种评分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09600" y="1447800"/>
            <a:ext cx="6143625" cy="3543300"/>
          </a:xfrm>
          <a:prstGeom prst="roundRect">
            <a:avLst>
              <a:gd name="adj" fmla="val 32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57250" y="1695450"/>
            <a:ext cx="564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CharXiv Reasoning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复杂科研图表的信息综合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857250" y="1962150"/>
            <a:ext cx="1876425" cy="771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800" b="1">
                <a:solidFill>
                  <a:srgbClr val="26816B"/>
                </a:solidFill>
                <a:latin typeface="Microsoft YaHei"/>
                <a:ea typeface="Microsoft YaHei"/>
              </a:rPr>
              <a:t>86.2%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2828925" y="2400300"/>
            <a:ext cx="48577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无工具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857250" y="2828925"/>
            <a:ext cx="685800" cy="38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857250" y="2962275"/>
            <a:ext cx="56483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模型可以在该设置下解决较多图表推理问题，说明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读图找信息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这件事已经有实用价值。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857250" y="4486275"/>
            <a:ext cx="564832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判分口径：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reasoning score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，默认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pass@1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7134225" y="1447800"/>
            <a:ext cx="4448175" cy="3543300"/>
          </a:xfrm>
          <a:prstGeom prst="roundRect">
            <a:avLst>
              <a:gd name="adj" fmla="val 32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7381875" y="1695450"/>
            <a:ext cx="395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GDP.PDF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专家级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文档理解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381875" y="1962150"/>
            <a:ext cx="1876425" cy="771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800" b="1">
                <a:solidFill>
                  <a:srgbClr val="CB6B28"/>
                </a:solidFill>
                <a:latin typeface="Microsoft YaHei"/>
                <a:ea typeface="Microsoft YaHei"/>
              </a:rPr>
              <a:t>35.0%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9353550" y="2400300"/>
            <a:ext cx="5905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>All pass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7381875" y="2828925"/>
            <a:ext cx="6858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381875" y="2962275"/>
            <a:ext cx="395287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该题集按全部要求同时通过计分。本次完整通过率为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35.0%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，说明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整份做完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是另一件事。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381875" y="4486275"/>
            <a:ext cx="39528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判分口径：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All pass rate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09600" y="51435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819150" y="5334000"/>
            <a:ext cx="28575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981075" y="5372100"/>
            <a:ext cx="10391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不能相减：两项结果的任务和判分不同，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86.2%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减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35.0%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不是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能力损失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981075" y="5591175"/>
            <a:ext cx="10391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来源性质：厂商自报；模型调用标识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gemini-3.8-flash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，通用方法为默认采样、除另有注明外按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pass@1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报告，试验次数与题集快照未完整披露。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notes={`视频不能只看一个总分。&#13;&#10;&#13;&#10;同一份 2026 年 9 月的方法报告里，LVBench 的静态设置是 87.1%，并且明确写了 Gemini 使用 1,024 帧。结果表里还列出了另一个 agentic 设置的 87.8%，但方法正文只明确说明无工具测量，没有交代 agentic 那一次是怎么跑的。&#13;&#10;&#13;&#10;所以我不拿后面这个 87.8% 去做&quot;工具带来收益&quot;的对照——那等于替报告补写一套它没说过的流程。&#13;&#10;&#13;&#10;真正要记住的是：抽多少帧、能不能按需回看、能不能听音频，都是理解视频成绩的一部分。1,024 帧是一个具体配置，换了帧数，同一段视频能被回答的问题就变了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2　多模态已经能处理复杂材料，整份交付仍需验收&lt;/Text&gt;&#13;&#10;            &lt;Text style={{ fontSize: 34, fontWeight: 'bold', color: '#20344B' }}&gt;视频成绩要连着帧数一起读&lt;/Text&gt;&#13;&#10;        &lt;/Box&gt;&#13;&#10;    &lt;/Box&gt;&#13;&#10;&#13;&#10;    &lt;Box style={{ height: 540, flexDirection: 'row', alignItems: 'center', gap: 40 }}&gt;&#13;&#10;&#13;&#10;        &lt;Box style={{ flex: 45, height: 400, background: '#F4F7FA', borderRadius: 12, padding: 26, flexDirection: 'column', justifyContent: 'center', gap: 12 }}&gt;&#13;&#10;            &lt;Text style={{ fontSize: 15, color: '#546779' }}&gt;LVBench　·　静态设置　·　Gemini 3.8 Flash&lt;/Text&gt;&#13;&#10;            &lt;Box style={{ flexDirection: 'row', alignItems: 'flex-end', gap: 10 }}&gt;&#13;&#10;                &lt;Text style={{ fontSize: 72, fontWeight: 'bold', color: '#276FBF', lineHeight: 1.05 }}&gt;87.1%&lt;/Text&gt;&#13;&#10;            &lt;/Box&gt;&#13;&#10;            &lt;Box style={{ width: 80, height: 4, background: '#276FBF' }} /&gt;&#13;&#10;            &lt;Box style={{ flexDirection: 'row', alignItems: 'center', gap: 12, marginTop: 4 }}&gt;&#13;&#10;                &lt;Box style={{ height: 40, background: '#EDF4FC', borderRadius: 8, padding: '0 18px', justifyContent: 'center' }}&gt;&#13;&#10;                    &lt;Text style={{ fontSize: 18, fontWeight: 'bold', color: '#276FBF' }}&gt;1,024 帧&lt;/Text&gt;&#13;&#10;                &lt;/Box&gt;&#13;&#10;                &lt;Text style={{ fontSize: 15, color: '#546779' }}&gt;本次使用的帧数&lt;/Text&gt;&#13;&#10;            &lt;/Box&gt;&#13;&#10;            &lt;Text style={{ fontSize: 15, color: '#546779', lineHeight: 1.65 }}&gt;方法正文说明为不使用工具测量。&lt;/Text&gt;&#13;&#10;        &lt;/Box&gt;&#13;&#10;&#13;&#10;        &lt;Box style={{ flex: 55, flexDirection: 'column', justifyContent: 'center', gap: 12 }}&gt;&#13;&#10;&#13;&#10;            &lt;Box style={{ flexDirection: 'row', alignItems: 'center', gap: 12 }}&gt;&#13;&#10;                &lt;Box style={{ width: 3, height: 22, background: '#276FBF' }} /&gt;&#13;&#10;                &lt;Text style={{ fontSize: 20, fontWeight: 'bold', color: '#20344B' }}&gt;三件不能被省略的事&lt;/Text&gt;&#13;&#10;            &lt;/Box&gt;&#13;&#10;&#13;&#10;            &lt;Box style={{ height: 84, background: '#EDF4FC', borderRadius: 10, padding: '0 20px', justifyContent: 'center' }}&gt;&#13;&#10;                &lt;Text style={{ fontSize: 16, color: '#20344B', lineHeight: 1.6 }}&gt;抽多少帧：帧数是理解视频成绩的一部分，不是技术细节。&lt;/Text&gt;&#13;&#10;            &lt;/Box&gt;&#13;&#10;&#13;&#10;            &lt;Box style={{ height: 84, background: '#EDF4FC', borderRadius: 10, padding: '0 20px', justifyContent: 'center' }}&gt;&#13;&#10;                &lt;Text style={{ fontSize: 16, color: '#20344B', lineHeight: 1.6 }}&gt;是否按需回看：能不能在需要时重新查看某一段画面。&lt;/Text&gt;&#13;&#10;            &lt;/Box&gt;&#13;&#10;&#13;&#10;            &lt;Box style={{ height: 84, background: '#EDF4FC', borderRadius: 10, padding: '0 20px', justifyContent: 'center' }}&gt;&#13;&#10;                &lt;Text style={{ fontSize: 16, color: '#20344B', lineHeight: 1.6 }}&gt;是否能听音频：声音信息在不在这次输入里。&lt;/Text&gt;&#13;&#10;            &lt;/Box&gt;&#13;&#10;&#13;&#10;            &lt;Box style={{ height: 96, background: '#FFF4E6', borderRadius: 10, padding: '0 20px', flexDirection: 'row', alignItems: 'center', gap: 14 }}&gt;&#13;&#10;                &lt;Box style={{ width: 3, height: 56, background: '#CB6B28' }} /&gt;&#13;&#10;                &lt;Text style={{ fontSize: 16, color: '#CB6B28', lineHeight: 1.6 }}&gt;结果表另列 agentic 设置 87.8%，但方法正文只明确说明无工具测量，本节不用它作工具收益对照。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10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多模态已经能处理复杂材料，整份交付仍需验收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视频成绩要连着帧数一起读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9600" y="1809750"/>
            <a:ext cx="4762500" cy="381000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57250" y="26003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LVBench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静态设置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Gemini 3.8 Flash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57250" y="2886075"/>
            <a:ext cx="2105025" cy="8667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400" b="1">
                <a:solidFill>
                  <a:srgbClr val="276FBF"/>
                </a:solidFill>
                <a:latin typeface="Microsoft YaHei"/>
                <a:ea typeface="Microsoft YaHei"/>
              </a:rPr>
              <a:t>87.1%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857250" y="3867150"/>
            <a:ext cx="762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857250" y="4057650"/>
            <a:ext cx="1038225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28700" y="4143375"/>
            <a:ext cx="695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1,024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帧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009775" y="41624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本次使用的帧数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57250" y="4552950"/>
            <a:ext cx="42672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方法正文说明为不使用工具测量。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53100" y="172402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895975" y="171450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三件不能被省略的事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753100" y="2057400"/>
            <a:ext cx="58293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943600" y="2314575"/>
            <a:ext cx="54483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抽多少帧：帧数是理解视频成绩的一部分，不是技术细节。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753100" y="2971800"/>
            <a:ext cx="58293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943600" y="3228975"/>
            <a:ext cx="54483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是否按需回看：能不能在需要时重新查看某一段画面。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753100" y="3886200"/>
            <a:ext cx="58293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943600" y="4143375"/>
            <a:ext cx="54483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是否能听音频：声音信息在不在这次输入里。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53100" y="4800600"/>
            <a:ext cx="58293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5943600" y="4991100"/>
            <a:ext cx="28575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105525" y="4962525"/>
            <a:ext cx="52863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结果表另列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agentic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设置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87.8%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，但方法正文只明确说明无工具测量，本节不用它作工具收益对照。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9" name="" descr="&lt;Slide notes={`第三个知识块讲的是长任务，也就是需要很多步骤才能完成的工作。&#13;&#10;&#13;&#10;这里最容易误读的地方，是把两个数字当成同一个意思。一部分任务做对了多少，和整个任务有没有做完，是两个不同的量：前者的分母是检查点，后者的分母是任务本身。一个系统可能大部分检查点都碰到了，却在一个关键约束上出错，最终交不出能用的东西。&#13;&#10;&#13;&#10;每一项任务都带一组加权检查点。部分得分汇总的是一项任务完成了多少；严格通过率要求所有检查点都满足才算通过。而且 strict 和 pass@1、pass^k 也不在同一个维度：strict 定义的是&quot;一次任务什么时候算成功&quot;，pass^k 关心的是&quot;重复执行是不是一直成功&quot;。&#13;&#10;&#13;&#10;把这两个层面分开，读数才不会串位。`} style={{ width: 1280, height: 720, background: '#FFFFFF', flexDirection: 'column', padding: '20px 64px' }}&gt;&#13;&#10;&#13;&#10;    &lt;Box style={{ height: 540, flexDirection: 'column', justifyContent: 'center', gap: 20 }}&gt;&#13;&#10;&#13;&#10;        &lt;Box style={{ flexDirection: 'row', alignItems: 'center', gap: 16 }}&gt;&#13;&#10;            &lt;Box style={{ width: 56, height: 56, borderRadius: 10, background: '#276FBF', justifyContent: 'center', alignItems: 'center' }}&gt;&#13;&#10;                &lt;Text style={{ fontSize: 28, fontWeight: 'bold', color: '#FFFFFF' }}&gt;03&lt;/Text&gt;&#13;&#10;            &lt;/Box&gt;&#13;&#10;            &lt;Text style={{ fontSize: 16, color: '#546779' }}&gt;1.5.3&lt;/Text&gt;&#13;&#10;        &lt;/Box&gt;&#13;&#10;&#13;&#10;        &lt;Text style={{ fontSize: 56, fontWeight: 'bold', color: '#20344B', lineHeight: 1.15 }}&gt;长任务要看&quot;全部完成&quot;&lt;/Text&gt;&#13;&#10;&#13;&#10;        &lt;Box style={{ width: 640, height: 4, background: '#276FBF' }} /&gt;&#13;&#10;&#13;&#10;        &lt;Text style={{ fontSize: 19, color: '#546779', lineHeight: 1.7 }}&gt;完成了多少，和有没有做完，是两个数。&lt;/Text&gt;&#13;&#10;&#13;&#10;        &lt;Box style={{ marginTop: 8, flexDirection: 'row', alignItems: 'flex-end', gap: 40, height: 180 }}&gt;&#13;&#10;            &lt;Box style={{ flexDirection: 'column', justifyContent: 'flex-end', alignItems: 'center', gap: 8 }}&gt;&#13;&#10;                &lt;Box style={{ width: 88, height: 128, background: '#276FBF', borderRadius: '6px 6px 0 0' }} /&gt;&#13;&#10;                &lt;Text style={{ fontSize: 14, color: '#546779' }}&gt;部分得分&lt;/Text&gt;&#13;&#10;            &lt;/Box&gt;&#13;&#10;            &lt;Box style={{ flexDirection: 'column', justifyContent: 'flex-end', alignItems: 'center', gap: 8 }}&gt;&#13;&#10;                &lt;Box style={{ width: 88, height: 72, background: '#CB6B28', borderRadius: '6px 6px 0 0' }} /&gt;&#13;&#10;                &lt;Text style={{ fontSize: 14, color: '#CB6B28' }}&gt;严格通过&lt;/Text&gt;&#13;&#10;            &lt;/Box&gt;&#13;&#10;            &lt;Text style={{ fontSize: 20, color: '#546779', lineHeight: 1.7 }}&gt;同一批任务，两种口径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11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609600" y="6477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14375" y="7524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295400" y="8191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1.5.3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13716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长任务要看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全部完成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23050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25336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完成了多少，和有没有做完，是两个数。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3429000"/>
            <a:ext cx="838200" cy="1219200"/>
          </a:xfrm>
          <a:custGeom>
            <a:pathLst>
              <a:path w="88" h="128">
                <a:moveTo>
                  <a:pt x="6" y="0"/>
                </a:moveTo>
                <a:lnTo>
                  <a:pt x="82" y="0"/>
                </a:lnTo>
                <a:cubicBezTo>
                  <a:pt x="85" y="0"/>
                  <a:pt x="88" y="3"/>
                  <a:pt x="88" y="6"/>
                </a:cubicBezTo>
                <a:lnTo>
                  <a:pt x="88" y="128"/>
                </a:lnTo>
                <a:lnTo>
                  <a:pt x="88" y="128"/>
                </a:lnTo>
                <a:lnTo>
                  <a:pt x="0" y="128"/>
                </a:lnTo>
                <a:lnTo>
                  <a:pt x="0" y="128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62000" y="47244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部分得分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1828800" y="3962400"/>
            <a:ext cx="838200" cy="685800"/>
          </a:xfrm>
          <a:custGeom>
            <a:pathLst>
              <a:path w="88" h="72">
                <a:moveTo>
                  <a:pt x="6" y="0"/>
                </a:moveTo>
                <a:lnTo>
                  <a:pt x="82" y="0"/>
                </a:lnTo>
                <a:cubicBezTo>
                  <a:pt x="85" y="0"/>
                  <a:pt x="88" y="3"/>
                  <a:pt x="88" y="6"/>
                </a:cubicBezTo>
                <a:lnTo>
                  <a:pt x="88" y="72"/>
                </a:lnTo>
                <a:lnTo>
                  <a:pt x="88" y="72"/>
                </a:lnTo>
                <a:lnTo>
                  <a:pt x="0" y="72"/>
                </a:lnTo>
                <a:lnTo>
                  <a:pt x="0" y="72"/>
                </a:ln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CB6B2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981200" y="47244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严格通过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048000" y="4495800"/>
            <a:ext cx="1905000" cy="3905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546779"/>
                </a:solidFill>
                <a:latin typeface="Microsoft YaHei"/>
                <a:ea typeface="Microsoft YaHei"/>
              </a:rPr>
              <a:t>同一批任务，两种口径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notes={`先把两项指标的定义说清楚。&#13;&#10;&#13;&#10;OSWorld 2.0 把 Agent 放进真实运行的 Ubuntu 虚拟机，通过截图、鼠标和键盘完成较长任务，再检查一组带权重的结果检查点。Partial score 汇总一项任务完成了多少；Strict pass rate 要求全部检查点都满足才算通过。&#13;&#10;&#13;&#10;读法很明确：按每个模型相邻的两根柱子读，不要把部分得分当成全部任务的通过率。&#13;&#10;&#13;&#10;三行数据出自同一份系统卡，日期 2026 年 9 月 1 日，题集是 2026 年 8 月任务发布版及后续修复，共 108 项任务，五次独立运行的 pass@1 取平均，1080p，每题最多 500 个动作。旧模型是在同一修订条件下重测的，报告明确说不能与较早任务文件的成绩比较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3　长任务的进步，要看&quot;全部完成&quot;而不只看局部得分&lt;/Text&gt;&#13;&#10;            &lt;Text style={{ fontSize: 34, fontWeight: 'bold', color: '#20344B' }}&gt;部分得分与严格通过率&lt;/Text&gt;&#13;&#10;        &lt;/Box&gt;&#13;&#10;    &lt;/Box&gt;&#13;&#10;&#13;&#10;    &lt;Box style={{ height: 540, flexDirection: 'column', justifyContent: 'center', gap: 10 }}&gt;&#13;&#10;&#13;&#10;        &lt;Box style={{ flexDirection: 'row', gap: 40, height: 310, justifyContent: 'center' }}&gt;&#13;&#10;&#13;&#10;            &lt;Box style={{ width: 320, height: 310, flexDirection: 'row', gap: 24, justifyContent: 'center', alignItems: 'flex-end' }}&gt;&#13;&#10;                &lt;Box style={{ width: 100, flexDirection: 'column', gap: 6, justifyContent: 'flex-end' }}&gt;&#13;&#10;                    &lt;Text style={{ fontSize: 15, fontWeight: 'bold', color: '#276FBF', textAlign: 'center' }}&gt;77.9&lt;/Text&gt;&#13;&#10;                    &lt;Box style={{ width: 100, height: 280, background: '#276FBF', borderRadius: 4 }} /&gt;&#13;&#10;                &lt;/Box&gt;&#13;&#10;                &lt;Box style={{ width: 100, flexDirection: 'column', gap: 6, justifyContent: 'flex-end' }}&gt;&#13;&#10;                    &lt;Text style={{ fontSize: 15, fontWeight: 'bold', color: '#CB6B28', textAlign: 'center' }}&gt;41.7&lt;/Text&gt;&#13;&#10;                    &lt;Box style={{ width: 100, height: 150, background: '#CB6B28', borderRadius: 4 }} /&gt;&#13;&#10;                &lt;/Box&gt;&#13;&#10;            &lt;/Box&gt;&#13;&#10;&#13;&#10;            &lt;Box style={{ width: 320, height: 310, flexDirection: 'row', gap: 24, justifyContent: 'center', alignItems: 'flex-end' }}&gt;&#13;&#10;                &lt;Box style={{ width: 100, flexDirection: 'column', gap: 6, justifyContent: 'flex-end' }}&gt;&#13;&#10;                    &lt;Text style={{ fontSize: 15, fontWeight: 'bold', color: '#276FBF', textAlign: 'center' }}&gt;72.9&lt;/Text&gt;&#13;&#10;                    &lt;Box style={{ width: 100, height: 262, background: '#276FBF', borderRadius: 4 }} /&gt;&#13;&#10;                &lt;/Box&gt;&#13;&#10;                &lt;Box style={{ width: 100, flexDirection: 'column', gap: 6, justifyContent: 'flex-end' }}&gt;&#13;&#10;                    &lt;Text style={{ fontSize: 15, fontWeight: 'bold', color: '#CB6B28', textAlign: 'center' }}&gt;36.1&lt;/Text&gt;&#13;&#10;                    &lt;Box style={{ width: 100, height: 130, background: '#CB6B28', borderRadius: 4 }} /&gt;&#13;&#10;                &lt;/Box&gt;&#13;&#10;            &lt;/Box&gt;&#13;&#10;&#13;&#10;            &lt;Box style={{ width: 320, height: 310, flexDirection: 'row', gap: 24, justifyContent: 'center', alignItems: 'flex-end' }}&gt;&#13;&#10;                &lt;Box style={{ width: 100, flexDirection: 'column', gap: 6, justifyContent: 'flex-end' }}&gt;&#13;&#10;                    &lt;Text style={{ fontSize: 15, fontWeight: 'bold', color: '#276FBF', textAlign: 'center' }}&gt;75.4&lt;/Text&gt;&#13;&#10;                    &lt;Box style={{ width: 100, height: 271, background: '#276FBF', borderRadius: 4 }} /&gt;&#13;&#10;                &lt;/Box&gt;&#13;&#10;                &lt;Box style={{ width: 100, flexDirection: 'column', gap: 6, justifyContent: 'flex-end' }}&gt;&#13;&#10;                    &lt;Text style={{ fontSize: 15, fontWeight: 'bold', color: '#CB6B28', textAlign: 'center' }}&gt;39.6&lt;/Text&gt;&#13;&#10;                    &lt;Box style={{ width: 100, height: 142, background: '#CB6B28', borderRadius: 4 }} /&gt;&#13;&#10;                &lt;/Box&gt;&#13;&#10;            &lt;/Box&gt;&#13;&#10;&#13;&#10;        &lt;/Box&gt;&#13;&#10;&#13;&#10;        &lt;Box style={{ height: 2, background: '#B5C7D8' }} /&gt;&#13;&#10;&#13;&#10;        &lt;Box style={{ flexDirection: 'row', gap: 40, height: 28, justifyContent: 'center' }}&gt;&#13;&#10;            &lt;Box style={{ width: 320, justifyContent: 'center', alignItems: 'center' }}&gt;&lt;Text style={{ fontSize: 17, fontWeight: 'bold', color: '#20344B' }}&gt;Claude Fable 5.1&lt;/Text&gt;&lt;/Box&gt;&#13;&#10;            &lt;Box style={{ width: 320, justifyContent: 'center', alignItems: 'center' }}&gt;&lt;Text style={{ fontSize: 17, fontWeight: 'bold', color: '#20344B' }}&gt;Claude Fable 5&lt;/Text&gt;&lt;/Box&gt;&#13;&#10;            &lt;Box style={{ width: 320, justifyContent: 'center', alignItems: 'center' }}&gt;&lt;Text style={{ fontSize: 17, fontWeight: 'bold', color: '#20344B' }}&gt;Claude Opus 5&lt;/Text&gt;&lt;/Box&gt;&#13;&#10;        &lt;/Box&gt;&#13;&#10;&#13;&#10;        &lt;Box style={{ flexDirection: 'row', alignItems: 'center', gap: 24, height: 26 }}&gt;&#13;&#10;            &lt;Box style={{ flexDirection: 'row', alignItems: 'center', gap: 10 }}&gt;&#13;&#10;                &lt;Box style={{ width: 26, height: 14, background: '#276FBF', borderRadius: 3 }} /&gt;&#13;&#10;                &lt;Text style={{ fontSize: 15, color: '#546779' }}&gt;部分得分 Partial score&lt;/Text&gt;&#13;&#10;            &lt;/Box&gt;&#13;&#10;            &lt;Box style={{ flexDirection: 'row', alignItems: 'center', gap: 10 }}&gt;&#13;&#10;                &lt;Box style={{ width: 26, height: 14, background: '#CB6B28', borderRadius: 3 }} /&gt;&#13;&#10;                &lt;Text style={{ fontSize: 15, color: '#546779' }}&gt;严格通过率 Strict pass rate&lt;/Text&gt;&#13;&#10;            &lt;/Box&gt;&#13;&#10;            &lt;Text style={{ fontSize: 14, color: '#546779' }}&gt;指标单位：原报告数值（%）；柱高按数值等比绘制&lt;/Text&gt;&#13;&#10;        &lt;/Box&gt;&#13;&#10;&#13;&#10;        &lt;Box style={{ height: 88, background: '#F7F3E8', borderRadius: 10, padding: '0 22px', flexDirection: 'row', alignItems: 'center', gap: 14 }}&gt;&#13;&#10;            &lt;Box style={{ width: 3, height: 52, background: '#CB6B28' }} /&gt;&#13;&#10;            &lt;Box style={{ flex: 1, flexDirection: 'column', gap: 3 }}&gt;&#13;&#10;                &lt;Text style={{ fontSize: 16, fontWeight: 'bold', color: '#CB6B28' }}&gt;厂商自报，报告日期 2026-09-01，共 108 项任务，本书未复测&lt;/Text&gt;&#13;&#10;                &lt;Text style={{ fontSize: 15, color: '#546779' }}&gt;任务版本为 2026 年 8 月发布版及后续修复；同一修订条件下重测，五次独立运行 pass@1 取平均，1080p，每题最多 500 个动作，最高推理努力等级；不可直接与较早任务文件的成绩比较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12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长任务的进步，要看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全部完成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而不只看局部得分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35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部分得分与严格通过率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600200" y="141922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77.9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1600200" y="1647825"/>
            <a:ext cx="952500" cy="2667000"/>
          </a:xfrm>
          <a:prstGeom prst="roundRect">
            <a:avLst>
              <a:gd name="adj" fmla="val 4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2781300" y="26574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41.7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2781300" y="2886075"/>
            <a:ext cx="952500" cy="1428750"/>
          </a:xfrm>
          <a:prstGeom prst="roundRect">
            <a:avLst>
              <a:gd name="adj" fmla="val 4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029200" y="15906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72.9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5029200" y="1819275"/>
            <a:ext cx="952500" cy="2495550"/>
          </a:xfrm>
          <a:prstGeom prst="roundRect">
            <a:avLst>
              <a:gd name="adj" fmla="val 4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210300" y="28479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36.1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210300" y="3076575"/>
            <a:ext cx="952500" cy="1238250"/>
          </a:xfrm>
          <a:prstGeom prst="roundRect">
            <a:avLst>
              <a:gd name="adj" fmla="val 4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458200" y="1504950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75.4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458200" y="1733550"/>
            <a:ext cx="952500" cy="2581275"/>
          </a:xfrm>
          <a:prstGeom prst="roundRect">
            <a:avLst>
              <a:gd name="adj" fmla="val 4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639300" y="27336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39.6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9639300" y="2962275"/>
            <a:ext cx="952500" cy="1352550"/>
          </a:xfrm>
          <a:prstGeom prst="roundRect">
            <a:avLst>
              <a:gd name="adj" fmla="val 4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609600" y="4410075"/>
            <a:ext cx="10972800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2000250" y="45624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Claude Fable 5.1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505450" y="4562475"/>
            <a:ext cx="119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Claude Fable 5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934450" y="4562475"/>
            <a:ext cx="1181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Claude Opus 5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4943475"/>
            <a:ext cx="247650" cy="133350"/>
          </a:xfrm>
          <a:prstGeom prst="roundRect">
            <a:avLst>
              <a:gd name="adj" fmla="val 214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52500" y="492442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部分得分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Partial score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2628900" y="4943475"/>
            <a:ext cx="247650" cy="133350"/>
          </a:xfrm>
          <a:prstGeom prst="roundRect">
            <a:avLst>
              <a:gd name="adj" fmla="val 21429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971800" y="492442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严格通过率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Strict pass rate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962525" y="4933950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指标单位：原报告数值（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%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）；柱高按数值等比绘制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52292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819150" y="5400675"/>
            <a:ext cx="28575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81075" y="5372100"/>
            <a:ext cx="10391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厂商自报，报告日期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2026-09-01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，共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108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项任务，本书未复测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81075" y="5591175"/>
            <a:ext cx="1039177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任务版本为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2026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月发布版及后续修复；同一修订条件下重测，五次独立运行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pass@1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取平均，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1080p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，每题最多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个动作，最高推理努力等级；不可直接与较早任务文件的成绩比较。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notes={`把三行一起看，就能读出两个口径之间的距离。&#13;&#10;&#13;&#10;第一行是部分得分：汇总一项任务完成了多少，来源是每个任务加权检查点得分取平均。77.9% 说的是检查点层面完成了多少，不是任务通过率。&#13;&#10;&#13;&#10;第二行是严格通过率：全部检查点都满足才算通过一次，41.7% 才是被完整做对的比例。&#13;&#10;&#13;&#10;两者相距 36.2 个百分点。这个差距体现完整交付更高的要求——遗漏约束、丢失进度、停在半成品都会掉进这里，具体原因必须查任务轨迹，不能只看分数猜。&#13;&#10;&#13;&#10;另外，Fable 5.1 的严格通过率比 Fable 5 高 5.6 个百分点，来自同条件重测；原报告只绘误差线、未给数值区间，我们不做逐题配对检验，不从点估计断言差异必然稳定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3　长任务的进步，要看&quot;全部完成&quot;而不只看局部得分&lt;/Text&gt;&#13;&#10;            &lt;Text style={{ fontSize: 34, fontWeight: 'bold', color: '#20344B' }}&gt;77.9% 不等于&quot;八成做好了&quot;&lt;/Text&gt;&#13;&#10;        &lt;/Box&gt;&#13;&#10;    &lt;/Box&gt;&#13;&#10;&#13;&#10;    &lt;Box style={{ height: 540, flexDirection: 'column', justifyContent: 'center', gap: 12 }}&gt;&#13;&#10;&#13;&#10;        &lt;Box style={{ flexDirection: 'row', gap: 20, height: 30, alignItems: 'center', padding: '0 18px' }}&gt;&#13;&#10;            &lt;Box style={{ width: 4 }} /&gt;&#13;&#10;            &lt;Box style={{ width: 220 }}&gt;&lt;Text style={{ fontSize: 15, fontWeight: 'bold', color: '#546779' }}&gt;口径&lt;/Text&gt;&lt;/Box&gt;&#13;&#10;            &lt;Box style={{ flex: 1 }}&gt;&lt;Text style={{ fontSize: 15, fontWeight: 'bold', color: '#546779' }}&gt;定义&lt;/Text&gt;&lt;/Box&gt;&#13;&#10;            &lt;Box style={{ flex: 1 }}&gt;&lt;Text style={{ fontSize: 15, fontWeight: 'bold', color: '#546779' }}&gt;应该怎样读&lt;/Text&gt;&lt;/Box&gt;&#13;&#10;        &lt;/Box&gt;&#13;&#10;&#13;&#10;        &lt;Box style={{ flexDirection: 'row', gap: 20, height: 104, alignItems: 'center', background: '#F4F7FA', borderRadius: 10, padding: '0 18px' }}&gt;&#13;&#10;            &lt;Box style={{ width: 4, height: 62, background: '#276FBF' }} /&gt;&#13;&#10;            &lt;Box style={{ width: 220 }}&gt;&lt;Text style={{ fontSize: 19, fontWeight: 'bold', color: '#276FBF' }}&gt;Partial score&lt;/Text&gt;&lt;/Box&gt;&#13;&#10;            &lt;Box style={{ flex: 1 }}&gt;&lt;Text style={{ fontSize: 16, color: '#546779', lineHeight: 1.6 }}&gt;一项任务完成了多少：每个任务加权的检查点得分取平均&lt;/Text&gt;&lt;/Box&gt;&#13;&#10;            &lt;Box style={{ flex: 1 }}&gt;&lt;Text style={{ fontSize: 16, color: '#20344B', lineHeight: 1.6 }}&gt;77.9% 说明检查点层面完成了多少，不是任务通过率&lt;/Text&gt;&lt;/Box&gt;&#13;&#10;        &lt;/Box&gt;&#13;&#10;&#13;&#10;        &lt;Box style={{ flexDirection: 'row', gap: 20, height: 104, alignItems: 'center', background: '#F4F7FA', borderRadius: 10, padding: '0 18px' }}&gt;&#13;&#10;            &lt;Box style={{ width: 4, height: 62, background: '#CB6B28' }} /&gt;&#13;&#10;            &lt;Box style={{ width: 220 }}&gt;&lt;Text style={{ fontSize: 19, fontWeight: 'bold', color: '#CB6B28' }}&gt;Strict pass rate&lt;/Text&gt;&lt;/Box&gt;&#13;&#10;            &lt;Box style={{ flex: 1 }}&gt;&lt;Text style={{ fontSize: 16, color: '#546779', lineHeight: 1.6 }}&gt;全部检查点都满足才算通过一次任务&lt;/Text&gt;&lt;/Box&gt;&#13;&#10;            &lt;Box style={{ flex: 1 }}&gt;&lt;Text style={{ fontSize: 16, color: '#20344B', lineHeight: 1.6 }}&gt;41.7% 才是这批任务被完整做对的比例&lt;/Text&gt;&lt;/Box&gt;&#13;&#10;        &lt;/Box&gt;&#13;&#10;&#13;&#10;        &lt;Box style={{ flexDirection: 'row', gap: 20, height: 104, alignItems: 'center', background: '#FFF4E6', borderRadius: 10, padding: '0 18px' }}&gt;&#13;&#10;            &lt;Box style={{ width: 4, height: 62, background: '#CB6B28' }} /&gt;&#13;&#10;            &lt;Box style={{ width: 220 }}&gt;&lt;Text style={{ fontSize: 19, fontWeight: 'bold', color: '#CB6B28' }}&gt;相距 36.2 个百分点&lt;/Text&gt;&lt;/Box&gt;&#13;&#10;            &lt;Box style={{ flex: 1 }}&gt;&lt;Text style={{ fontSize: 16, color: '#546779', lineHeight: 1.6 }}&gt;77.9 − 41.7 的距离，体现完整交付更高的要求&lt;/Text&gt;&lt;/Box&gt;&#13;&#10;            &lt;Box style={{ flex: 1 }}&gt;&lt;Text style={{ fontSize: 16, color: '#CB6B28', lineHeight: 1.6 }}&gt;遗漏约束、丢失进度、停在半成品都会掉进这里，原因须查轨迹&lt;/Text&gt;&lt;/Box&gt;&#13;&#10;        &lt;/Box&gt;&#13;&#10;&#13;&#10;        &lt;Box style={{ height: 96, background: '#EDF4FC', borderRadius: 10, padding: '0 22px', flexDirection: 'row', alignItems: 'center', gap: 14 }}&gt;&#13;&#10;            &lt;Box style={{ width: 3, height: 54, background: '#26816B' }} /&gt;&#13;&#10;            &lt;Text style={{ fontSize: 16, color: '#20344B', lineHeight: 1.6 }}&gt;同一条件下重测，Fable 5.1 的严格通过率比 Fable 5 高 5.6 个百分点，说明完整任务能力有所进展；原报告绘有误差线但未给数值区间，本书未做逐题配对检验，不从点估计断言差异必然稳定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13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019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长任务的进步，要看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全部完成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而不只看局部得分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019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77.9%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不等于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八成做好了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009650" y="145732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口径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295650" y="145732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定义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448550" y="145732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应该怎样读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09600" y="18002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781050" y="2000250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09650" y="219075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>Partial score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295650" y="2152650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一项任务完成了多少：每个任务加权的检查点得分取平均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448550" y="2152650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77.9%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说明检查点层面完成了多少，不是任务通过率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29051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781050" y="3105150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09650" y="329565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>Strict pass rate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295650" y="3257550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全部检查点都满足才算通过一次任务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448550" y="3257550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41.7%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才是这批任务被完整做对的比例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40100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781050" y="4210050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09650" y="4400550"/>
            <a:ext cx="2095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相距</a:t>
            </a: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36.2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个百分点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295650" y="4362450"/>
            <a:ext cx="3962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77.9 − 41.7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的距离，体现完整交付更高的要求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448550" y="4210050"/>
            <a:ext cx="3962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遗漏约束、丢失进度、停在半成品都会掉进这里，原因须查轨迹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09600" y="51149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819150" y="5314950"/>
            <a:ext cx="28575" cy="5143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81075" y="5276850"/>
            <a:ext cx="103917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同一条件下重测，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Fable 5.1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的严格通过率比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Fable 5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高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5.6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个百分点，说明完整任务能力有所进展；原报告绘有误差线但未给数值区间，本书未做逐题配对检验，不从点估计断言差异必然稳定。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4" name="" descr="&lt;Slide notes={`第四个知识块讲工程任务和长上下文，也是四个知识块里最容易看错的一块。&#10;&#10;软件工程提供了一个比较硬的检验方式：改完代码，能不能通过执行测试。它的好处是结果由程序判定，不依赖人的印象。&#10;&#10;但正因为看起来硬，这里更容易踩坑。我在后面会让大家先检查四种&quot;看似一样&quot;的条件：名字一样是不是同一个榜单，百分比一样是不是同一个分母，档位都写 high 是不是同一份计算预算，同样用了工具是不是同一套工具和同样的使用上限。&#10;&#10;这四条里任何一条对不上，两个数字就不能排在一起。所以这一块的态度是：条件未知就写未披露，不要把不同设置排成一条进步曲线。接下来的两组成绩，我会按它们各自的条件来解释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4&lt;/Text&gt;&#10;            &lt;/Box&gt;&#10;            &lt;Text style={{ fontSize: 16, color: '#546779' }}&gt;1.5.4&lt;/Text&gt;&#10;        &lt;/Box&gt;&#10;&#10;        &lt;Text style={{ fontSize: 56, fontWeight: 'bold', color: '#20344B', lineHeight: 1.15 }}&gt;高分背后包含执行环境&lt;/Text&gt;&#10;&#10;        &lt;Box style={{ width: 640, height: 4, background: '#276FBF' }} /&gt;&#10;&#10;        &lt;Text style={{ fontSize: 19, color: '#546779', lineHeight: 1.7 }}&gt;条件未知就写未披露，不把不同设置排成一条进步曲线。&lt;/Text&gt;&#10;&#10;        &lt;Box style={{ marginTop: 8, flexDirection: 'row', alignItems: 'center', gap: 14 }}&gt;&#10;            &lt;Box style={{ flex: 1, height: 58, background: '#F4F7FA', borderRadius: 6, justifyContent: 'center', alignItems: 'center' }}&gt;&#10;                &lt;Text style={{ fontSize: 16, color: '#20344B' }}&gt;同一名称 · 任务版本与修订&lt;/Text&gt;&#10;            &lt;/Box&gt;&#10;            &lt;Box style={{ flex: 1, height: 58, background: '#F4F7FA', borderRadius: 6, justifyContent: 'center', alignItems: 'center' }}&gt;&#10;                &lt;Text style={{ fontSize: 16, color: '#20344B' }}&gt;同一百分比 · 分母是什么&lt;/Text&gt;&#10;            &lt;/Box&gt;&#10;            &lt;Box style={{ flex: 1, height: 58, background: '#F4F7FA', borderRadius: 6, justifyContent: 'center', alignItems: 'center' }}&gt;&#10;                &lt;Text style={{ fontSize: 16, color: '#20344B' }}&gt;同一档位 · 计算预算&lt;/Text&gt;&#10;            &lt;/Box&gt;&#10;            &lt;Box style={{ flex: 1, height: 58, background: '#FFF4E6', borderRadius: 6, justifyContent: 'center', alignItems: 'center' }}&gt;&#10;                &lt;Text style={{ fontSize: 16, color: '#CB6B28' }}&gt;同样用工具 · 工具集合与上限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609600" y="12287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14375" y="13335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295400" y="14001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1.5.4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高分背后包含执行环境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09600" y="28860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31146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条件未知就写未披露，不把不同设置排成一条进步曲线。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" y="3752850"/>
            <a:ext cx="2647950" cy="552450"/>
          </a:xfrm>
          <a:prstGeom prst="roundRect">
            <a:avLst>
              <a:gd name="adj" fmla="val 1034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28700" y="393382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同一名称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任务版本与修订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390900" y="3752850"/>
            <a:ext cx="2638425" cy="552450"/>
          </a:xfrm>
          <a:prstGeom prst="roundRect">
            <a:avLst>
              <a:gd name="adj" fmla="val 1034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86200" y="3933825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同一百分比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分母是什么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162675" y="3752850"/>
            <a:ext cx="2647950" cy="552450"/>
          </a:xfrm>
          <a:prstGeom prst="roundRect">
            <a:avLst>
              <a:gd name="adj" fmla="val 1034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810375" y="3933825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同一档位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计算预算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943975" y="3752850"/>
            <a:ext cx="2638425" cy="552450"/>
          </a:xfrm>
          <a:prstGeom prst="roundRect">
            <a:avLst>
              <a:gd name="adj" fmla="val 103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286875" y="3933825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同样用工具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工具集合与上限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notes={`这四条是具体的核对动作。&#13;&#10;&#13;&#10;第一条，同一名称：都写着 SWE-bench，不代表是同一份题。要看任务版本、有没有经过修订、评测用的是哪一份任务文件；系统卡自己也说，不能直接与较早任务文件上的成绩比较。&#13;&#10;&#13;&#10;第二条，同一百分比：都写 80%，要问分母是什么——是题目、是测试，还是任务？三者含义完全不同。&#13;&#10;&#13;&#10;第三条，同一档位：都叫 high 不代表算力一样，不同厂商的档位命名是各自定的。&#13;&#10;&#13;&#10;第四条，同样用了工具：都有检索或执行，还要看工具集合和单次使用上限，是只能搜索，还是能打开网页、执行代码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4　工程与长上下文：高分背后包含执行环境&lt;/Text&gt;&#13;&#10;            &lt;Text style={{ fontSize: 34, fontWeight: 'bold', color: '#20344B' }}&gt;四种&quot;看似一样&quot;&lt;/Text&gt;&#13;&#10;        &lt;/Box&gt;&#13;&#10;    &lt;/Box&gt;&#13;&#10;&#13;&#10;    &lt;Box style={{ height: 540, flexDirection: 'column', justifyContent: 'center', gap: 14 }}&gt;&#13;&#10;&#13;&#10;        &lt;Box style={{ flexDirection: 'row', gap: 32, height: 30 }}&gt;&#13;&#10;            &lt;Box style={{ flex: 1, padding: '0 20px' }}&gt;&lt;Text style={{ fontSize: 15, fontWeight: 'bold', color: '#546779' }}&gt;表面相似&lt;/Text&gt;&lt;/Box&gt;&#13;&#10;            &lt;Box style={{ flex: 1, padding: '0 20px' }}&gt;&lt;Text style={{ fontSize: 15, fontWeight: 'bold', color: '#546779' }}&gt;还要核对&lt;/Text&gt;&lt;/Box&gt;&#13;&#10;        &lt;/Box&gt;&#13;&#10;&#13;&#10;        &lt;Box style={{ flexDirection: 'row', gap: 32, height: 96 }}&gt;&#13;&#10;            &lt;Box style={{ flex: 1, height: 96, background: '#F4F7FA', borderRadius: 10, padding: '0 20px', flexDirection: 'row', alignItems: 'center', gap: 14 }}&gt;&#13;&#10;                &lt;Box style={{ width: 4, height: 54, background: '#276FBF' }} /&gt;&#13;&#10;                &lt;Box style={{ flex: 1, flexDirection: 'column', gap: 3 }}&gt;&#13;&#10;                    &lt;Text style={{ fontSize: 17, fontWeight: 'bold', color: '#20344B' }}&gt;同一名称&lt;/Text&gt;&#13;&#10;                    &lt;Text style={{ fontSize: 15, color: '#546779' }}&gt;都写着同一个榜单的名字&lt;/Text&gt;&#13;&#10;                &lt;/Box&gt;&#13;&#10;            &lt;/Box&gt;&#13;&#10;            &lt;Box style={{ flex: 1, height: 96, background: '#ECF7F2', borderRadius: 10, padding: '0 20px', flexDirection: 'row', alignItems: 'center', gap: 14 }}&gt;&#13;&#10;                &lt;Box style={{ width: 4, height: 54, background: '#26816B' }} /&gt;&#13;&#10;                &lt;Box style={{ flex: 1, flexDirection: 'column', gap: 3 }}&gt;&#13;&#10;                    &lt;Text style={{ fontSize: 17, fontWeight: 'bold', color: '#20344B' }}&gt;同一名称&lt;/Text&gt;&#13;&#10;                    &lt;Text style={{ fontSize: 15, color: '#546779' }}&gt;任务版本与修订是哪一份&lt;/Text&gt;&#13;&#10;                &lt;/Box&gt;&#13;&#10;            &lt;/Box&gt;&#13;&#10;        &lt;/Box&gt;&#13;&#10;&#13;&#10;        &lt;Box style={{ flexDirection: 'row', gap: 32, height: 96 }}&gt;&#13;&#10;            &lt;Box style={{ flex: 1, height: 96, background: '#F4F7FA', borderRadius: 10, padding: '0 20px', flexDirection: 'row', alignItems: 'center', gap: 14 }}&gt;&#13;&#10;                &lt;Box style={{ width: 4, height: 54, background: '#276FBF' }} /&gt;&#13;&#10;                &lt;Box style={{ flex: 1, flexDirection: 'column', gap: 3 }}&gt;&#13;&#10;                    &lt;Text style={{ fontSize: 17, fontWeight: 'bold', color: '#20344B' }}&gt;同一百分比&lt;/Text&gt;&#13;&#10;                    &lt;Text style={{ fontSize: 15, color: '#546779' }}&gt;两行都写着 80%&lt;/Text&gt;&#13;&#10;                &lt;/Box&gt;&#13;&#10;            &lt;/Box&gt;&#13;&#10;            &lt;Box style={{ flex: 1, height: 96, background: '#ECF7F2', borderRadius: 10, padding: '0 20px', flexDirection: 'row', alignItems: 'center', gap: 14 }}&gt;&#13;&#10;                &lt;Box style={{ width: 4, height: 54, background: '#26816B' }} /&gt;&#13;&#10;                &lt;Box style={{ flex: 1, flexDirection: 'column', gap: 3 }}&gt;&#13;&#10;                    &lt;Text style={{ fontSize: 17, fontWeight: 'bold', color: '#20344B' }}&gt;同一百分比&lt;/Text&gt;&#13;&#10;                    &lt;Text style={{ fontSize: 15, color: '#546779' }}&gt;分母是题目、测试还是任务&lt;/Text&gt;&#13;&#10;                &lt;/Box&gt;&#13;&#10;            &lt;/Box&gt;&#13;&#10;        &lt;/Box&gt;&#13;&#10;&#13;&#10;        &lt;Box style={{ flexDirection: 'row', gap: 32, height: 96 }}&gt;&#13;&#10;            &lt;Box style={{ flex: 1, height: 96, background: '#F4F7FA', borderRadius: 10, padding: '0 20px', flexDirection: 'row', alignItems: 'center', gap: 14 }}&gt;&#13;&#10;                &lt;Box style={{ width: 4, height: 54, background: '#276FBF' }} /&gt;&#13;&#10;                &lt;Box style={{ flex: 1, flexDirection: 'column', gap: 3 }}&gt;&#13;&#10;                    &lt;Text style={{ fontSize: 17, fontWeight: 'bold', color: '#20344B' }}&gt;同一档位&lt;/Text&gt;&#13;&#10;                    &lt;Text style={{ fontSize: 15, color: '#546779' }}&gt;都标着 high&lt;/Text&gt;&#13;&#10;                &lt;/Box&gt;&#13;&#10;            &lt;/Box&gt;&#13;&#10;            &lt;Box style={{ flex: 1, height: 96, background: '#ECF7F2', borderRadius: 10, padding: '0 20px', flexDirection: 'row', alignItems: 'center', gap: 14 }}&gt;&#13;&#10;                &lt;Box style={{ width: 4, height: 54, background: '#26816B' }} /&gt;&#13;&#10;                &lt;Box style={{ flex: 1, flexDirection: 'column', gap: 3 }}&gt;&#13;&#10;                    &lt;Text style={{ fontSize: 17, fontWeight: 'bold', color: '#20344B' }}&gt;同一档位&lt;/Text&gt;&#13;&#10;                    &lt;Text style={{ fontSize: 15, color: '#546779' }}&gt;不等于同样的计算预算&lt;/Text&gt;&#13;&#10;                &lt;/Box&gt;&#13;&#10;            &lt;/Box&gt;&#13;&#10;        &lt;/Box&gt;&#13;&#10;&#13;&#10;        &lt;Box style={{ flexDirection: 'row', gap: 32, height: 96 }}&gt;&#13;&#10;            &lt;Box style={{ flex: 1, height: 96, background: '#F4F7FA', borderRadius: 10, padding: '0 20px', flexDirection: 'row', alignItems: 'center', gap: 14 }}&gt;&#13;&#10;                &lt;Box style={{ width: 4, height: 54, background: '#276FBF' }} /&gt;&#13;&#10;                &lt;Box style={{ flex: 1, flexDirection: 'column', gap: 3 }}&gt;&#13;&#10;                    &lt;Text style={{ fontSize: 17, fontWeight: 'bold', color: '#20344B' }}&gt;同样用了工具&lt;/Text&gt;&#13;&#10;                    &lt;Text style={{ fontSize: 15, color: '#546779' }}&gt;都有检索或执行&lt;/Text&gt;&#13;&#10;                &lt;/Box&gt;&#13;&#10;            &lt;/Box&gt;&#13;&#10;            &lt;Box style={{ flex: 1, height: 96, background: '#FFF4E6', borderRadius: 10, padding: '0 20px', flexDirection: 'row', alignItems: 'center', gap: 14 }}&gt;&#13;&#10;                &lt;Box style={{ width: 4, height: 54, background: '#CB6B28' }} /&gt;&#13;&#10;                &lt;Box style={{ flex: 1, flexDirection: 'column', gap: 3 }}&gt;&#13;&#10;                    &lt;Text style={{ fontSize: 17, fontWeight: 'bold', color: '#CB6B28' }}&gt;同样用了工具&lt;/Text&gt;&#13;&#10;                    &lt;Text style={{ fontSize: 15, color: '#546779' }}&gt;工具集合与使用上限各是什么&lt;/Text&gt;&#13;&#10;                &lt;/Box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15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838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工程与长上下文：高分背后包含执行环境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838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四种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看似一样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00100" y="147637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表面相似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438900" y="147637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还要核对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189547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800100" y="209550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71550" y="2152650"/>
            <a:ext cx="478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同一名称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971550" y="238125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都写着同一个榜单的名字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248400" y="189547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6438900" y="2095500"/>
            <a:ext cx="38100" cy="5143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610350" y="2152650"/>
            <a:ext cx="478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同一名称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610350" y="238125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任务版本与修订是哪一份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09600" y="294322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800100" y="314325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71550" y="3200400"/>
            <a:ext cx="478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同一百分比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71550" y="342900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两行都写着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80%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248400" y="294322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6438900" y="3143250"/>
            <a:ext cx="38100" cy="5143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610350" y="3200400"/>
            <a:ext cx="478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同一百分比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610350" y="342900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分母是题目、测试还是任务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9600" y="399097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800100" y="419100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71550" y="4248150"/>
            <a:ext cx="478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同一档位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71550" y="447675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都标着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high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248400" y="399097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438900" y="4191000"/>
            <a:ext cx="38100" cy="5143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610350" y="4248150"/>
            <a:ext cx="478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同一档位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610350" y="447675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不等于同样的计算预算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9600" y="503872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800100" y="5238750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971550" y="5295900"/>
            <a:ext cx="478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同样用了工具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971550" y="552450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都有检索或执行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248400" y="5038725"/>
            <a:ext cx="53340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6438900" y="5238750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610350" y="5295900"/>
            <a:ext cx="478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同样用了工具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610350" y="5524500"/>
            <a:ext cx="4781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工具集合与使用上限各是什么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93" name="" descr="&lt;Slide notes={`左边是 SWE-bench 官方 Bash Only 榜单上 2026 年 2 月 17 日的两行：mini-SWE-agent 2.0.0、一次尝试、500 项 SWE-bench Verified。Claude 4.5 Opus 与 Gemini 3 Flash 在 high 档位的解决率是 76.8% 和 75.8%，相差 1 个百分点相当于五题；两家的 high 也不代表相等计算预算。&#13;&#10;&#13;&#10;右边是 ProgramBench 的改动设置：200 项任务中排除 34 项参考程序测试不稳定的，并使用 mini-swe-agent、去掉原先六小时上限；Fable 5.1 在 166 项任务上的隐藏测试通过率是 87.6%，这是测试通过率，不等于重建了整个程序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4　工程与长上下文：高分背后包含执行环境&lt;/Text&gt;&#13;&#10;            &lt;Text style={{ fontSize: 34, fontWeight: 'bold', color: '#20344B' }}&gt;有日期的对照，与改动过的题集&lt;/Text&gt;&#13;&#10;        &lt;/Box&gt;&#13;&#10;    &lt;/Box&gt;&#13;&#10;&#13;&#10;    &lt;Box style={{ height: 540, flexDirection: 'column', justifyContent: 'center', gap: 16 }}&gt;&#13;&#10;&#13;&#10;        &lt;Box style={{ flexDirection: 'row', gap: 24, height: 372 }}&gt;&#13;&#10;&#13;&#10;            &lt;Box style={{ flex: 1, height: 372, background: '#EDF4FC', borderRadius: 12, padding: 24, flexDirection: 'column', gap: 10 }}&gt;&#13;&#10;                &lt;Text style={{ fontSize: 15, fontWeight: 'bold', color: '#276FBF' }}&gt;SWE-bench Verified（Bash Only）　官方榜单&lt;/Text&gt;&#13;&#10;                &lt;Text style={{ fontSize: 14, color: '#546779' }}&gt;日期 2026-02-17　·　500 题　·　mini-SWE-agent 2.0.0　·　一次尝试&lt;/Text&gt;&#13;&#10;                &lt;Box style={{ height: 76, background: '#FFFFFF', borderRadius: 10, padding: '0 18px', flexDirection: 'row', alignItems: 'center' }}&gt;&#13;&#10;                    &lt;Box style={{ flex: 1 }}&gt;&lt;Text style={{ fontSize: 17, fontWeight: 'bold', color: '#20344B' }}&gt;Claude 4.5 Opus（high）&lt;/Text&gt;&lt;/Box&gt;&#13;&#10;                    &lt;Text style={{ fontSize: 34, fontWeight: 'bold', color: '#276FBF' }}&gt;76.8%&lt;/Text&gt;&#13;&#10;                &lt;/Box&gt;&#13;&#10;                &lt;Box style={{ height: 76, background: '#FFFFFF', borderRadius: 10, padding: '0 18px', flexDirection: 'row', alignItems: 'center' }}&gt;&#13;&#10;                    &lt;Box style={{ flex: 1 }}&gt;&lt;Text style={{ fontSize: 17, fontWeight: 'bold', color: '#20344B' }}&gt;Gemini 3 Flash（high）&lt;/Text&gt;&lt;/Box&gt;&#13;&#10;                    &lt;Text style={{ fontSize: 34, fontWeight: 'bold', color: '#276FBF' }}&gt;75.8%&lt;/Text&gt;&#13;&#10;                &lt;/Box&gt;&#13;&#10;                &lt;Text style={{ fontSize: 14, color: '#546779', lineHeight: 1.6 }}&gt;相差 1 个百分点相当于五题的计数差；两个厂商的 high 不代表相等计算预算。&lt;/Text&gt;&#13;&#10;            &lt;/Box&gt;&#13;&#10;&#13;&#10;            &lt;Box style={{ flex: 1, height: 372, background: '#ECF7F2', borderRadius: 12, padding: 24, flexDirection: 'column', gap: 10 }}&gt;&#13;&#10;                &lt;Text style={{ fontSize: 15, fontWeight: 'bold', color: '#26816B' }}&gt;ProgramBench　·　Anthropic 改动设置&lt;/Text&gt;&#13;&#10;                &lt;Text style={{ fontSize: 14, color: '#546779' }}&gt;166 项任务（原 200 项中排除 34 项）·　mini-swe-agent，去掉原先六小时上限&lt;/Text&gt;&#13;&#10;                &lt;Box style={{ flexDirection: 'row', alignItems: 'flex-end', gap: 10, height: 84 }}&gt;&#13;&#10;                    &lt;Text style={{ fontSize: 64, fontWeight: 'bold', color: '#26816B', lineHeight: 1.05 }}&gt;87.6%&lt;/Text&gt;&#13;&#10;                    &lt;Text style={{ fontSize: 16, color: '#546779', lineHeight: 2.2 }}&gt;隐藏测试通过率&lt;/Text&gt;&#13;&#10;                &lt;/Box&gt;&#13;&#10;                &lt;Box style={{ height: 84, background: '#FFFFFF', borderRadius: 10, padding: '0 18px', justifyContent: 'center' }}&gt;&#13;&#10;                    &lt;Text style={{ fontSize: 15, color: '#20344B', lineHeight: 1.55 }}&gt;从可执行文件与文档重建行为；只保留参考程序能通过的测试，且按参考程序通过的测试评分。&lt;/Text&gt;&#13;&#10;                &lt;/Box&gt;&#13;&#10;                &lt;Text style={{ fontSize: 14, color: '#546779', lineHeight: 1.6 }}&gt;运行上下文可延伸到 100 万 Token。&lt;/Text&gt;&#13;&#10;            &lt;/Box&gt;&#13;&#10;&#13;&#10;        &lt;/Box&gt;&#13;&#10;&#13;&#10;        &lt;Box style={{ height: 96, background: '#FFF4E6', borderRadius: 10, padding: '0 22px', flexDirection: 'row', alignItems: 'center', gap: 14 }}&gt;&#13;&#10;            &lt;Box style={{ width: 3, height: 56, background: '#CB6B28' }} /&gt;&#13;&#10;            &lt;Box style={{ flex: 1, flexDirection: 'column', gap: 3 }}&gt;&#13;&#10;                &lt;Text style={{ fontSize: 16, fontWeight: 'bold', color: '#CB6B28' }}&gt;87.6% 是测试通过率，不能写成&quot;完整重建了 87.6% 的软件&quot;&lt;/Text&gt;&#13;&#10;                &lt;Text style={{ fontSize: 15, color: '#546779' }}&gt;它也不与原题集、原时间限制的榜单直接比高低。所需时间、预算与测试条件，仍属于能力描述的一部分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16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工程与长上下文：高分背后包含执行环境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有日期的对照，与改动过的题集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1409700"/>
            <a:ext cx="5372100" cy="3543300"/>
          </a:xfrm>
          <a:prstGeom prst="roundRect">
            <a:avLst>
              <a:gd name="adj" fmla="val 322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38200" y="163830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SWE-bench Verified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（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Bash Only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）　官方榜单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38200" y="1905000"/>
            <a:ext cx="491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日期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2026-02-17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mini-SWE-agent 2.0.0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·　一次尝试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838200" y="2162175"/>
            <a:ext cx="49149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09650" y="2428875"/>
            <a:ext cx="3571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Claude 4.5 Opus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（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high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581525" y="2333625"/>
            <a:ext cx="1000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76FBF"/>
                </a:solidFill>
                <a:latin typeface="Microsoft YaHei"/>
                <a:ea typeface="Microsoft YaHei"/>
              </a:rPr>
              <a:t>76.8%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838200" y="2981325"/>
            <a:ext cx="49149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009650" y="3248025"/>
            <a:ext cx="3571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Gemini 3 Flash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（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high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581525" y="3152775"/>
            <a:ext cx="1000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76FBF"/>
                </a:solidFill>
                <a:latin typeface="Microsoft YaHei"/>
                <a:ea typeface="Microsoft YaHei"/>
              </a:rPr>
              <a:t>75.8%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38004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相差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个百分点相当于五题的计数差；两个厂商的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high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不代表相等计算预算。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210300" y="1409700"/>
            <a:ext cx="5372100" cy="3543300"/>
          </a:xfrm>
          <a:prstGeom prst="roundRect">
            <a:avLst>
              <a:gd name="adj" fmla="val 322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438900" y="1638300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>ProgramBench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　·　</a:t>
            </a:r>
            <a:r>
              <a:rPr lang="en-US" sz="11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Anthropic </a:t>
            </a: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改动设置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1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166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项任务（原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项中排除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项）·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mini-swe-agent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，去掉原先六小时上限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438900" y="2190750"/>
            <a:ext cx="1876425" cy="77152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4800" b="1">
                <a:solidFill>
                  <a:srgbClr val="26816B"/>
                </a:solidFill>
                <a:latin typeface="Microsoft YaHei"/>
                <a:ea typeface="Microsoft YaHei"/>
              </a:rPr>
              <a:t>87.6%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410575" y="2552700"/>
            <a:ext cx="1066800" cy="4095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隐藏测试通过率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438900" y="3057525"/>
            <a:ext cx="49149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610350" y="3190875"/>
            <a:ext cx="4572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从可执行文件与文档重建行为；只保留参考程序能通过的测试，且按参考程序通过的测试评分。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438900" y="39528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运行上下文可延伸到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09600" y="51054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819150" y="5295900"/>
            <a:ext cx="28575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81075" y="5372100"/>
            <a:ext cx="10391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87.6%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是测试通过率，不能写成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完整重建了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87.6%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的软件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981075" y="5591175"/>
            <a:ext cx="10391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它也不与原题集、原时间限制的榜单直接比高低。所需时间、预算与测试条件，仍属于能力描述的一部分。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2" name="" descr="&lt;Slide notes={`工程成绩还牵出一个初学者最容易搞混的问题：窗口大，是不是就等于能力强。&#10;&#10;这里其实是两个不同的问题。第一个是&quot;资料放得进去吗&quot;——大窗口有助于携带更多材料，这一点确实成立。第二个是&quot;放进去之后能完成什么&quot;——找对信息、处理材料里的矛盾、始终遵守最早提出的约束，这些都不由窗口大小自动保证。&#10;&#10;把这个区别放回我们的任务：活动筹备的资料应该有目录、有来源、有明确的当前状态，而不是一股脑塞进对话；仿真角色应该把已经确认的进展保存成可以检索的记忆，而不是每一轮都往上下文里塞进越来越长的聊天记录。&#10;&#10;所以看到&quot;支持 100 万 Token&quot;这样的描述，先问它把什么放进去了，再问它在里面做成了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5.4　工程与长上下文：高分背后包含执行环境&lt;/Text&gt;&#10;            &lt;Text style={{ fontSize: 34, fontWeight: 'bold', color: '#20344B' }}&gt;窗口装得进，不等于任务做得出&lt;/Text&gt;&#10;        &lt;/Box&gt;&#10;    &lt;/Box&gt;&#10;&#10;    &lt;Box style={{ height: 540, flexDirection: 'row', alignItems: 'center', gap: 40 }}&gt;&#10;&#10;        &lt;Box style={{ flex: 62, flexDirection: 'column', justifyContent: 'center', gap: 12 }}&gt;&#10;&#10;            &lt;Box style={{ flexDirection: 'row', alignItems: 'center', gap: 12 }}&gt;&#10;                &lt;Box style={{ width: 3, height: 22, background: '#276FBF' }} /&gt;&#10;                &lt;Text style={{ fontSize: 20, fontWeight: 'bold', color: '#20344B' }}&gt;两个不同的问题&lt;/Text&gt;&#10;            &lt;/Box&gt;&#10;&#10;            &lt;Box style={{ height: 104, background: '#EDF4FC', borderRadius: 10, padding: '0 22px', justifyContent: 'center', gap: 4, flexDirection: 'column' }}&gt;&#10;                &lt;Text style={{ fontSize: 19, fontWeight: 'bold', color: '#276FBF' }}&gt;资料放得进去吗？&lt;/Text&gt;&#10;                &lt;Text style={{ fontSize: 16, color: '#546779', lineHeight: 1.5 }}&gt;大窗口有助于携带更多材料。&lt;/Text&gt;&#10;            &lt;/Box&gt;&#10;&#10;            &lt;Box style={{ height: 104, background: '#FFF4E6', borderRadius: 10, padding: '0 22px', justifyContent: 'center', gap: 4, flexDirection: 'column' }}&gt;&#10;                &lt;Text style={{ fontSize: 19, fontWeight: 'bold', color: '#CB6B28' }}&gt;放进去后能完成什么？&lt;/Text&gt;&#10;                &lt;Text style={{ fontSize: 16, color: '#546779', lineHeight: 1.5 }}&gt;找对信息、处理矛盾、始终遵守最早的约束，都不由窗口大小保证。&lt;/Text&gt;&#10;            &lt;/Box&gt;&#10;&#10;            &lt;Box style={{ height: 108, background: '#ECF7F2', borderRadius: 10, padding: '0 22px', justifyContent: 'center', gap: 4, flexDirection: 'column' }}&gt;&#10;                &lt;Text style={{ fontSize: 18, fontWeight: 'bold', color: '#26816B' }}&gt;回到我们的两类任务&lt;/Text&gt;&#10;                &lt;Text style={{ fontSize: 15, color: '#546779', lineHeight: 1.55 }}&gt;筹备资料要有目录、来源与明确的当前状态；仿真角色要把已确认的进展保存成可检索记忆，而不是每轮塞入越来越长的聊天记录。&lt;/Text&gt;&#10;            &lt;/Box&gt;&#10;&#10;        &lt;/Box&gt;&#10;&#10;        &lt;Box style={{ flex: 38, flexDirection: 'column', justifyContent: 'center', gap: 12 }}&gt;&#10;            &lt;Box style={{ height: 96, background: '#276FBF', borderRadius: 10, justifyContent: 'center', alignItems: 'center', flexDirection: 'column', gap: 4 }}&gt;&#10;                &lt;Text style={{ fontSize: 26, fontWeight: 'bold', color: '#FFFFFF' }}&gt;1M Token&lt;/Text&gt;&#10;                &lt;Text style={{ fontSize: 14, color: '#D7E6F7' }}&gt;可携带的材料规模&lt;/Text&gt;&#10;            &lt;/Box&gt;&#10;            &lt;Box style={{ height: 56, justifyContent: 'center', alignItems: 'center' }}&gt;&#10;                &lt;Text style={{ fontSize: 34, fontWeight: 'bold', color: '#546779' }}&gt;↓&lt;/Text&gt;&#10;            &lt;/Box&gt;&#10;            &lt;Box style={{ height: 96, background: '#CB6B28', borderRadius: 10, justifyContent: 'center', alignItems: 'center', flexDirection: 'column', gap: 4 }}&gt;&#10;                &lt;Text style={{ fontSize: 26, fontWeight: 'bold', color: '#FFFFFF' }}&gt;完成整份任务&lt;/Text&gt;&#10;                &lt;Text style={{ fontSize: 14, color: '#FBE3D0' }}&gt;需要另外验证的一步&lt;/Text&gt;&#10;            &lt;/Box&gt;&#10;            &lt;Text style={{ fontSize: 15, color: '#546779', lineHeight: 1.6 }}&gt;窗口大小只是条件之一，不是完成度的证明。&lt;/Text&gt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工程与长上下文：高分背后包含执行环境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窗口装得进，不等于任务做得出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9600" y="193357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52475" y="192405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两个不同的问题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2266950"/>
            <a:ext cx="6562725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19150" y="2495550"/>
            <a:ext cx="6143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资料放得进去吗？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19150" y="2752725"/>
            <a:ext cx="61436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大窗口有助于携带更多材料。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3371850"/>
            <a:ext cx="6562725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19150" y="3600450"/>
            <a:ext cx="6143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放进去后能完成什么？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19150" y="3857625"/>
            <a:ext cx="61436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找对信息、处理矛盾、始终遵守最早的约束，都不由窗口大小保证。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4476750"/>
            <a:ext cx="6562725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19150" y="4600575"/>
            <a:ext cx="6143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回到我们的两类任务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19150" y="4848225"/>
            <a:ext cx="61436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筹备资料要有目录、来源与明确的当前状态；仿真角色要把已确认的进展保存成可检索记忆，而不是每轮塞入越来越长的聊天记录。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553325" y="2228850"/>
            <a:ext cx="4029075" cy="914400"/>
          </a:xfrm>
          <a:prstGeom prst="roundRect">
            <a:avLst>
              <a:gd name="adj" fmla="val 1041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953500" y="2438400"/>
            <a:ext cx="1228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1M Token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039225" y="27813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7E6F7"/>
                </a:solidFill>
                <a:latin typeface="Microsoft YaHei"/>
                <a:ea typeface="Microsoft YaHei"/>
              </a:rPr>
              <a:t>可携带的材料规模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486900" y="3333750"/>
            <a:ext cx="161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546779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553325" y="3905250"/>
            <a:ext cx="4029075" cy="914400"/>
          </a:xfrm>
          <a:prstGeom prst="roundRect">
            <a:avLst>
              <a:gd name="adj" fmla="val 1041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829675" y="4114800"/>
            <a:ext cx="1485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完成整份任务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972550" y="44577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BE3D0"/>
                </a:solidFill>
                <a:latin typeface="Microsoft YaHei"/>
                <a:ea typeface="Microsoft YaHei"/>
              </a:rPr>
              <a:t>需要另外验证的一步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553325" y="4933950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窗口大小只是条件之一，不是完成度的证明。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8" name="" descr="&lt;Slide notes={`第五个知识块是我个人觉得最值得讲的一块。&#10;&#10;前面几页看的都是成绩：准确率、通过率、解决率。这一块要看的是报告里的失败样本——平均分没有说出来的那部分。&#10;&#10;报告里的失败样本很有价值，因为它能告诉我们一个高分系统在什么地方会突然不成立。而且失败的关键，往往不是语言够不够流畅，也不是知识够不够多，而是它把自己生成的叙述当成了外部已经发生的事实。这个边界一旦失守，前面那些漂亮的分数就帮不上忙。&#10;&#10;接下来的这个例子来自一份厂商系统卡的内部使用记录。它提醒我们，成绩单和可靠性不是同一件事，而可靠性要靠应用侧的证据来支撑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CB6B28', justifyContent: 'center', alignItems: 'center' }}&gt;&#10;                &lt;Text style={{ fontSize: 28, fontWeight: 'bold', color: '#FFFFFF' }}&gt;05&lt;/Text&gt;&#10;            &lt;/Box&gt;&#10;            &lt;Text style={{ fontSize: 16, color: '#546779' }}&gt;1.5.5&lt;/Text&gt;&#10;        &lt;/Box&gt;&#10;&#10;        &lt;Text style={{ fontSize: 56, fontWeight: 'bold', color: '#20344B', lineHeight: 1.15 }}&gt;高分系统仍会在具体事实处失手&lt;/Text&gt;&#10;&#10;        &lt;Box style={{ width: 640, height: 4, background: '#CB6B28' }} /&gt;&#10;&#10;        &lt;Text style={{ fontSize: 19, color: '#546779', lineHeight: 1.7 }}&gt;失败的关键不是语言是否流畅，而是把自己生成的叙述当成外部已经发生的事实。&lt;/Text&gt;&#10;&#10;        &lt;Box style={{ marginTop: 8, flexDirection: 'row', alignItems: 'center', gap: 14, height: 90 }}&gt;&#10;            &lt;Box style={{ flex: 1, height: 90, background: '#F4F7FA', borderRadius: 8, justifyContent: 'center', alignItems: 'center', flexDirection: 'column', gap: 4 }}&gt;&#10;                &lt;Text style={{ fontSize: 24, fontWeight: 'bold', color: '#546779' }}&gt;流畅&lt;/Text&gt;&#10;                &lt;Text style={{ fontSize: 14, color: '#546779' }}&gt;说得通，不代表发生过&lt;/Text&gt;&#10;            &lt;/Box&gt;&#10;            &lt;Box style={{ flex: 1, height: 90, background: '#F4F7FA', borderRadius: 8, justifyContent: 'center', alignItems: 'center', flexDirection: 'column', gap: 4 }}&gt;&#10;                &lt;Text style={{ fontSize: 24, fontWeight: 'bold', color: '#546779' }}&gt;高分&lt;/Text&gt;&#10;                &lt;Text style={{ fontSize: 14, color: '#546779' }}&gt;难题做得好，边界仍会失守&lt;/Text&gt;&#10;            &lt;/Box&gt;&#10;            &lt;Box style={{ flex: 1, height: 90, background: '#FFF4E6', borderRadius: 8, justifyContent: 'center', alignItems: 'center', flexDirection: 'column', gap: 4 }}&gt;&#10;                &lt;Text style={{ fontSize: 24, fontWeight: 'bold', color: '#CB6B28' }}&gt;事实&lt;/Text&gt;&#10;                &lt;Text style={{ fontSize: 14, color: '#CB6B28' }}&gt;需要外部证据来支撑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609600" y="10763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14375" y="11811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295400" y="124777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1.5.5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18002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高分系统仍会在具体事实处失手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2733675"/>
            <a:ext cx="6096000" cy="38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29622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失败的关键不是语言是否流畅，而是把自己生成的叙述当成外部已经发生的事实。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3600450"/>
            <a:ext cx="3571875" cy="85725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171700" y="37909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546779"/>
                </a:solidFill>
                <a:latin typeface="Microsoft YaHei"/>
                <a:ea typeface="Microsoft YaHei"/>
              </a:rPr>
              <a:t>流畅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733550" y="41052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说得通，不代表发生过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4314825" y="3600450"/>
            <a:ext cx="3562350" cy="85725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867400" y="37909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546779"/>
                </a:solidFill>
                <a:latin typeface="Microsoft YaHei"/>
                <a:ea typeface="Microsoft YaHei"/>
              </a:rPr>
              <a:t>高分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295900" y="41052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难题做得好，边界仍会失守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8010525" y="3600450"/>
            <a:ext cx="3571875" cy="857250"/>
          </a:xfrm>
          <a:prstGeom prst="roundRect">
            <a:avLst>
              <a:gd name="adj" fmla="val 8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9572625" y="37909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CB6B28"/>
                </a:solidFill>
                <a:latin typeface="Microsoft YaHei"/>
                <a:ea typeface="Microsoft YaHei"/>
              </a:rPr>
              <a:t>事实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201150" y="410527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需要外部证据来支撑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67" name="" descr="&lt;Slide notes={`这个例子来自同一份系统卡，记录在它内部使用情况的第 94 到 96 页。&#13;&#10;&#13;&#10;模型受托统计连续多少次告警没有得到人的回应，它却虚构了一位用户提出表扬，并据此把计数器归零。结果是：真实世界里没有人回应的告警，被记成了已经处理。&#13;&#10;&#13;&#10;报告把它列为监控发现的罕见异常行为，说明这是运维监控抓到的个案，不是普遍统计。公开材料也没有给出足以复现这一事件的完整提示和轨迹，所以我们没有足够信息去推断它的发生率。&#13;&#10;&#13;&#10;我讲这个例子不是为了说明模型不可靠，而是为了说明一件事：平均分很高，和它在某一次具体事实判断上不出错，是两件需要分开验证的事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5　高分系统仍会在具体事实处失手&lt;/Text&gt;&#13;&#10;            &lt;Text style={{ fontSize: 34, fontWeight: 'bold', color: '#20344B' }}&gt;一次虚构的表扬&lt;/Text&gt;&#13;&#10;        &lt;/Box&gt;&#13;&#10;    &lt;/Box&gt;&#13;&#10;&#13;&#10;    &lt;Box style={{ height: 540, flexDirection: 'row', alignItems: 'center', gap: 40 }}&gt;&#13;&#10;&#13;&#10;        &lt;Box style={{ flex: 42, height: 420, background: '#FFF4E6', borderRadius: 12, padding: 24, flexDirection: 'column', gap: 12 }}&gt;&#13;&#10;            &lt;Box style={{ width: 52, height: 52, borderRadius: 10, background: '#CB6B28', justifyContent: 'center', alignItems: 'center' }}&gt;&#13;&#10;                &lt;Text style={{ fontSize: 24, fontWeight: 'bold', color: '#FFFFFF' }}&gt;虚&lt;/Text&gt;&#13;&#10;            &lt;/Box&gt;&#13;&#10;            &lt;Text style={{ fontSize: 20, fontWeight: 'bold', color: '#CB6B28' }}&gt;计数器被归零&lt;/Text&gt;&#13;&#10;            &lt;Box style={{ width: 44, height: 3, background: '#CB6B28' }} /&gt;&#13;&#10;            &lt;Text style={{ fontSize: 16, color: '#20344B', lineHeight: 1.75 }}&gt;模型受托统计连续多少次告警没有得到人的回应，却虚构了一位用户的表扬，并据此把计数器归零。&lt;/Text&gt;&#13;&#10;            &lt;Box style={{ flex: 1 }} /&gt;&#13;&#10;            &lt;Text style={{ fontSize: 14, color: '#546779', lineHeight: 1.6 }}&gt;来源：厂商系统卡第 94—96 页，内部使用记录。&lt;/Text&gt;&#13;&#10;        &lt;/Box&gt;&#13;&#10;&#13;&#10;        &lt;Box style={{ flex: 58, flexDirection: 'column', justifyContent: 'center', gap: 12 }}&gt;&#13;&#10;&#13;&#10;            &lt;Box style={{ flexDirection: 'row', alignItems: 'center', gap: 12 }}&gt;&#13;&#10;                &lt;Box style={{ width: 3, height: 22, background: '#276FBF' }} /&gt;&#13;&#10;                &lt;Text style={{ fontSize: 20, fontWeight: 'bold', color: '#20344B' }}&gt;这条记录能支撑什么&lt;/Text&gt;&#13;&#10;            &lt;/Box&gt;&#13;&#10;&#13;&#10;            &lt;Box style={{ height: 96, background: '#EDF4FC', borderRadius: 10, padding: '0 20px', justifyContent: 'center' }}&gt;&#13;&#10;                &lt;Text style={{ fontSize: 16, color: '#20344B', lineHeight: 1.6 }}&gt;报告将它列为监控发现的罕见异常行为，说明它来自运维监控而不是抽样统计。&lt;/Text&gt;&#13;&#10;            &lt;/Box&gt;&#13;&#10;&#13;&#10;            &lt;Box style={{ height: 96, background: '#F4F7FA', borderRadius: 10, padding: '0 20px', justifyContent: 'center' }}&gt;&#13;&#10;                &lt;Text style={{ fontSize: 16, color: '#546779', lineHeight: 1.6 }}&gt;公开材料没有给出足以复现这一事件的完整提示与轨迹。&lt;/Text&gt;&#13;&#10;            &lt;/Box&gt;&#13;&#10;&#13;&#10;            &lt;Box style={{ height: 96, background: '#FFF4E6', borderRadius: 10, padding: '0 20px', flexDirection: 'row', alignItems: 'center', gap: 14 }}&gt;&#13;&#10;                &lt;Box style={{ width: 3, height: 56, background: '#CB6B28' }} /&gt;&#13;&#10;                &lt;Text style={{ fontSize: 16, color: '#CB6B28', lineHeight: 1.6 }}&gt;因此只作为厂商报告的失败实例，不从单例推断普遍发生率。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19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高分系统仍会在具体事实处失手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305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一次虚构的表扬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09600" y="1714500"/>
            <a:ext cx="4448175" cy="4000500"/>
          </a:xfrm>
          <a:prstGeom prst="roundRect">
            <a:avLst>
              <a:gd name="adj" fmla="val 285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838200" y="19431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71550" y="20574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虚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38200" y="2552700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计数器被归零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38200" y="2895600"/>
            <a:ext cx="4191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38200" y="3038475"/>
            <a:ext cx="399097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模型受托统计连续多少次告警没有得到人的回应，却虚构了一位用户的表扬，并据此把计数器归零。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38200" y="5229225"/>
            <a:ext cx="39909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来源：厂商系统卡第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94—96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页，内部使用记录。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438775" y="2066925"/>
            <a:ext cx="28575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581650" y="205740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这条记录能支撑什么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438775" y="2400300"/>
            <a:ext cx="6143625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5629275" y="2714625"/>
            <a:ext cx="57626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报告将它列为监控发现的罕见异常行为，说明它来自运维监控而不是抽样统计。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5438775" y="3429000"/>
            <a:ext cx="6143625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629275" y="3743325"/>
            <a:ext cx="57626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公开材料没有给出足以复现这一事件的完整提示与轨迹。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5438775" y="4457700"/>
            <a:ext cx="6143625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5629275" y="4648200"/>
            <a:ext cx="28575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791200" y="4772025"/>
            <a:ext cx="4114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因此只作为厂商报告的失败实例，不从单例推断普遍发生率。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24" name="" descr="&lt;Slide notes={`把这件事讲清楚，是为了避免两种错误。&#13;&#10;&#13;&#10;第一种是把它读成&quot;模型不可靠&quot;。一个公开材料不足以复现的个案撑不起这种结论，报告本身就把它标成了罕见异常行为。&#13;&#10;&#13;&#10;第二种是读过就算。这个例子真正指向的是一个通用边界：模型可能把自己生成的叙述当成外部已经发生的事实。放进开放日案例，就会变成&quot;工作人员已经确认换教室&quot;，而实际没有人确认；放进仿真里，就会变成&quot;角色已经到达&quot;，而坐标还在途中。&#13;&#10;&#13;&#10;所以应用要承担一件事：由应用保存收到的真实消息、工具返回和已提交状态，模型据此判断下一步，而不是回头相信自己的上一段话。这条原则在第二章会落实为工具结果校验，第三章会区分动作意图、真实世界提交和回放事实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5　高分系统仍会在具体事实处失手&lt;/Text&gt;&#13;&#10;            &lt;Text style={{ fontSize: 34, fontWeight: 'bold', color: '#20344B' }}&gt;单例能说什么，不能说什么&lt;/Text&gt;&#13;&#10;        &lt;/Box&gt;&#13;&#10;    &lt;/Box&gt;&#13;&#10;&#13;&#10;    &lt;Box style={{ height: 540, flexDirection: 'row', alignItems: 'center', gap: 40 }}&gt;&#13;&#10;&#13;&#10;        &lt;Box style={{ width: 360, flexDirection: 'column', justifyContent: 'center', gap: 14 }}&gt;&#13;&#10;            &lt;Text style={{ fontSize: 15, color: '#546779' }}&gt;1.5.5　失败实例&lt;/Text&gt;&#13;&#10;            &lt;Text style={{ fontSize: 30, fontWeight: 'bold', color: '#20344B', lineHeight: 1.3 }}&gt;关键不在语言，在事实来源&lt;/Text&gt;&#13;&#10;            &lt;Box style={{ width: 64, height: 4, background: '#276FBF' }} /&gt;&#13;&#10;            &lt;Text style={{ fontSize: 16, color: '#546779', lineHeight: 1.75 }}&gt;失手的地方，是把模型自己生成的叙述，当成外部已经发生的事实。&lt;/Text&gt;&#13;&#10;            &lt;Box style={{ width: 240, height: 108, background: '#F4F7FA', borderRadius: 10, justifyContent: 'center', alignItems: 'center', flexDirection: 'column', gap: 4 }}&gt;&#13;&#10;                &lt;Text style={{ fontSize: 15, color: '#546779' }}&gt;换到开放日&lt;/Text&gt;&#13;&#10;                &lt;Text style={{ fontSize: 30, fontWeight: 'bold', color: '#CB6B28' }}&gt;已确认换教室？&lt;/Text&gt;&#13;&#10;            &lt;/Box&gt;&#13;&#10;        &lt;/Box&gt;&#13;&#10;&#13;&#10;        &lt;Box style={{ flex: 1, flexDirection: 'column', justifyContent: 'center', gap: 12 }}&gt;&#13;&#10;&#13;&#10;            &lt;Box style={{ height: 96, background: '#F4F7FA', borderRadius: 10, padding: '0 20px', justifyContent: 'center', flexDirection: 'row', alignItems: 'center', gap: 14 }}&gt;&#13;&#10;                &lt;Box style={{ width: 4, height: 52, background: '#546779' }} /&gt;&#13;&#10;                &lt;Box style={{ flex: 1 }}&gt;&lt;Text style={{ fontSize: 16, color: '#546779', lineHeight: 1.6 }}&gt;即使模型在困难问答和计算机任务上获得较高分数，这个边界仍可能失守。&lt;/Text&gt;&lt;/Box&gt;&#13;&#10;            &lt;/Box&gt;&#13;&#10;&#13;&#10;            &lt;Box style={{ height: 96, background: '#F4F7FA', borderRadius: 10, padding: '0 20px', justifyContent: 'center', flexDirection: 'row', alignItems: 'center', gap: 14 }}&gt;&#13;&#10;                &lt;Box style={{ width: 4, height: 52, background: '#546779' }} /&gt;&#13;&#10;                &lt;Box style={{ flex: 1 }}&gt;&lt;Text style={{ fontSize: 16, color: '#546779', lineHeight: 1.6 }}&gt;放进仿真里，同样的错误会变成&quot;角色已经到达&quot;，而实际坐标还在途中。&lt;/Text&gt;&lt;/Box&gt;&#13;&#10;            &lt;/Box&gt;&#13;&#10;&#13;&#10;            &lt;Box style={{ height: 96, background: '#F4F7FA', borderRadius: 10, padding: '0 20px', justifyContent: 'center', flexDirection: 'row', alignItems: 'center', gap: 14 }}&gt;&#13;&#10;                &lt;Box style={{ width: 4, height: 52, background: '#546779' }} /&gt;&#13;&#10;                &lt;Box style={{ flex: 1 }}&gt;&lt;Text style={{ fontSize: 16, color: '#546779', lineHeight: 1.6 }}&gt;单例不足以推断普遍发生率；报告本身把它标为监控发现的罕见异常行为。&lt;/Text&gt;&lt;/Box&gt;&#13;&#10;            &lt;/Box&gt;&#13;&#10;&#13;&#10;            &lt;Box style={{ height: 92, background: '#FFF4E6', borderRadius: 10, padding: '0 22px', justifyContent: 'center', flexDirection: 'row', alignItems: 'center', gap: 14 }}&gt;&#13;&#10;                &lt;Box style={{ width: 3, height: 56, background: '#CB6B28' }} /&gt;&#13;&#10;                &lt;Box style={{ flex: 1 }}&gt;&lt;Text style={{ fontSize: 16, color: '#CB6B28', lineHeight: 1.6 }}&gt;需要由应用保存收到的真实消息、工具返回和已提交状态，模型据此判断下一步。（第二章落实为工具结果校验，第三章区分动作意图与回放事实）&lt;/Text&gt;&lt;/Box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20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高分系统仍会在具体事实处失手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单例能说什么，不能说什么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09600" y="228600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1.5.5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失败实例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34290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关键不在语言，在事实来源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3171825"/>
            <a:ext cx="6096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3429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失手的地方，是把模型自己生成的叙述，当成外部已经发生的事实。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09600" y="4124325"/>
            <a:ext cx="2286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400175" y="43624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换到开放日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52475" y="4572000"/>
            <a:ext cx="2000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CB6B28"/>
                </a:solidFill>
                <a:latin typeface="Microsoft YaHei"/>
                <a:ea typeface="Microsoft YaHei"/>
              </a:rPr>
              <a:t>已确认换教室？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419600" y="1733550"/>
            <a:ext cx="716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4610100" y="1943100"/>
            <a:ext cx="38100" cy="4953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781550" y="2047875"/>
            <a:ext cx="66103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即使模型在困难问答和计算机任务上获得较高分数，这个边界仍可能失守。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419600" y="2762250"/>
            <a:ext cx="716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4610100" y="2971800"/>
            <a:ext cx="38100" cy="4953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781550" y="3076575"/>
            <a:ext cx="66103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放进仿真里，同样的错误会变成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角色已经到达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，而实际坐标还在途中。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419600" y="3790950"/>
            <a:ext cx="716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4610100" y="4000500"/>
            <a:ext cx="38100" cy="4953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781550" y="4105275"/>
            <a:ext cx="66103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单例不足以推断普遍发生率；报告本身把它标为监控发现的罕见异常行为。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419600" y="4819650"/>
            <a:ext cx="716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4629150" y="4991100"/>
            <a:ext cx="28575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791075" y="4962525"/>
            <a:ext cx="65817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需要由应用保存收到的真实消息、工具返回和已提交状态，模型据此判断下一步。（第二章落实为工具结果校验，第三章区分动作意图与回放事实）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50" name="" descr="&lt;Slide notes={`最后一个知识块，把这些快照变成我们能用的判断。&#10;&#10;前面读过的成绩指向一个具体结论：当前模型已经适合承担四类工作——资料理解、候选方案生成、复杂问题求解，以及受约束的工具操作。&#10;&#10;但同一批成绩也指出，有三件事必须单独验证：任务的完整性、事实依据，和重复执行的可靠性。这三件事不会因为平均分高就自动满足。&#10;&#10;所以在选型的时候，不要只问&quot;这是不是最强的模型&quot;。更要问的是：在我们的输入规模、我们的成本限制、我们的时间要求下，它能不能把目标完成。&#10;&#10;接下来把四类常见的筹备工作摊开，一类一类看它能用什么、我们必须验什么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6&lt;/Text&gt;&#10;            &lt;/Box&gt;&#10;            &lt;Text style={{ fontSize: 16, color: '#546779' }}&gt;1.5.6&lt;/Text&gt;&#10;        &lt;/Box&gt;&#10;&#10;        &lt;Text style={{ fontSize: 56, fontWeight: 'bold', color: '#20344B', lineHeight: 1.15 }}&gt;把发展水平翻译成可用的判断&lt;/Text&gt;&#10;&#10;        &lt;Box style={{ width: 640, height: 4, background: '#276FBF' }} /&gt;&#10;&#10;        &lt;Text style={{ fontSize: 19, color: '#546779', lineHeight: 1.7 }}&gt;不要只问&quot;是不是最强模型&quot;，要问它在我们的输入与成本限制下能否完成目标。&lt;/Text&gt;&#10;&#10;        &lt;Box style={{ marginTop: 8, flexDirection: 'row', alignItems: 'center', gap: 14 }}&gt;&#10;            &lt;Box style={{ flex: 1, height: 84, background: '#ECF7F2', borderRadius: 8, justifyContent: 'center', alignItems: 'center', flexDirection: 'column', gap: 3 }}&gt;&#10;                &lt;Text style={{ fontSize: 18, fontWeight: 'bold', color: '#26816B' }}&gt;已适合承担&lt;/Text&gt;&#10;                &lt;Text style={{ fontSize: 14, color: '#546779' }}&gt;资料理解 · 方案生成 · 复杂求解 · 受约束工具操作&lt;/Text&gt;&#10;            &lt;/Box&gt;&#10;            &lt;Box style={{ flex: 1, height: 84, background: '#FFF4E6', borderRadius: 8, justifyContent: 'center', alignItems: 'center', flexDirection: 'column', gap: 3 }}&gt;&#10;                &lt;Text style={{ fontSize: 18, fontWeight: 'bold', color: '#CB6B28' }}&gt;仍需单独验证&lt;/Text&gt;&#10;                &lt;Text style={{ fontSize: 14, color: '#546779' }}&gt;任务完整性 · 事实依据 · 重复可靠性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09600" y="11049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14375" y="12096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295400" y="12763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1.5.6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把发展水平翻译成可用的判断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27622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29908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不要只问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是不是最强模型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，要问它在我们的输入与成本限制下能否完成目标。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09600" y="3629025"/>
            <a:ext cx="5419725" cy="800100"/>
          </a:xfrm>
          <a:prstGeom prst="roundRect">
            <a:avLst>
              <a:gd name="adj" fmla="val 952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2895600" y="38290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已适合承担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885950" y="4067175"/>
            <a:ext cx="2867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资料理解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方案生成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复杂求解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受约束工具操作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162675" y="3629025"/>
            <a:ext cx="5419725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362950" y="38290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仍需单独验证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829550" y="4067175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任务完整性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事实依据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重复可靠性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66" name="" descr="&lt;Slide notes={`这四行按&quot;能利用什么&quot;和&quot;必须验什么&quot;拆开。&#13;&#10;&#13;&#10;第一类，阅读活动资料与场地图。可以利用文本与视觉理解、综合信息；必须验的是引用出来的内容是否支持结论，位置和容量有没有读对。&#13;&#10;&#13;&#10;第二类，生成方案并检查冲突。可以利用知识推理和工具计算；必须验全部约束是否通过，以及工具到底有没有被实际执行，而不只是被提到。&#13;&#10;&#13;&#10;第三类，连续推进筹备任务。可以利用长上下文和 Agent 操作；必须验待办有没有遗漏、停止条件是否正确、最终文件是否完整。&#13;&#10;&#13;&#10;第四类，驱动仿真角色。可以利用感知之后的决策、工具选择和跨轮记忆；必须验权限、坐标、动作提交和记忆来源是否成立。&#13;&#10;&#13;&#10;&quot;可以利用&quot;那一列和读到的成绩对得上；&quot;必须验&quot;那一列，对着那些失手方式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6　把发展水平翻译成可用的判断&lt;/Text&gt;&#13;&#10;            &lt;Text style={{ fontSize: 34, fontWeight: 'bold', color: '#20344B' }}&gt;四类工作：能用什么，还要验什么&lt;/Text&gt;&#13;&#10;        &lt;/Box&gt;&#13;&#10;    &lt;/Box&gt;&#13;&#10;&#13;&#10;    &lt;Box style={{ height: 540, flexDirection: 'column', justifyContent: 'center', gap: 10 }}&gt;&#13;&#10;&#13;&#10;        &lt;Box style={{ flexDirection: 'row', gap: 20, height: 30, alignItems: 'center' }}&gt;&#13;&#10;            &lt;Box style={{ width: 330, padding: '0 20px' }}&gt;&lt;Text style={{ fontSize: 15, fontWeight: 'bold', color: '#546779' }}&gt;计划交给模型的工作&lt;/Text&gt;&lt;/Box&gt;&#13;&#10;            &lt;Box style={{ flex: 1, padding: '0 20px' }}&gt;&lt;Text style={{ fontSize: 15, fontWeight: 'bold', color: '#546779' }}&gt;可以利用的能力&lt;/Text&gt;&lt;/Box&gt;&#13;&#10;            &lt;Box style={{ flex: 1, padding: '0 20px' }}&gt;&lt;Text style={{ fontSize: 15, fontWeight: 'bold', color: '#546779' }}&gt;应额外核验的结果&lt;/Text&gt;&lt;/Box&gt;&#13;&#10;        &lt;/Box&gt;&#13;&#10;&#13;&#10;        &lt;Box style={{ flexDirection: 'row', gap: 20, height: 98 }}&gt;&#13;&#10;            &lt;Box style={{ width: 330, height: 98, background: '#F4F7FA', borderRadius: 10, padding: '0 20px', flexDirection: 'row', alignItems: 'center', gap: 14 }}&gt;&#13;&#10;                &lt;Box style={{ width: 4, height: 54, background: '#276FBF' }} /&gt;&#13;&#10;                &lt;Text style={{ fontSize: 17, fontWeight: 'bold', color: '#20344B' }}&gt;阅读活动资料与场地图&lt;/Text&gt;&#13;&#10;            &lt;/Box&gt;&#13;&#10;            &lt;Box style={{ flex: 1, height: 98, background: '#ECF7F2', borderRadius: 10, padding: '0 20px', justifyContent: 'center' }}&gt;&#13;&#10;                &lt;Text style={{ fontSize: 16, color: '#20344B', lineHeight: 1.5 }}&gt;文本和视觉理解、综合信息&lt;/Text&gt;&#13;&#10;            &lt;/Box&gt;&#13;&#10;            &lt;Box style={{ flex: 1, height: 98, background: '#FFF4E6', borderRadius: 10, padding: '0 20px', flexDirection: 'row', alignItems: 'center', gap: 12 }}&gt;&#13;&#10;                &lt;Box style={{ width: 4, height: 54, background: '#CB6B28' }} /&gt;&#13;&#10;                &lt;Text style={{ fontSize: 16, color: '#CB6B28', lineHeight: 1.5 }}&gt;引用是否支持结论，位置与容量是否读对&lt;/Text&gt;&#13;&#10;            &lt;/Box&gt;&#13;&#10;        &lt;/Box&gt;&#13;&#10;&#13;&#10;        &lt;Box style={{ flexDirection: 'row', gap: 20, height: 98 }}&gt;&#13;&#10;            &lt;Box style={{ width: 330, height: 98, background: '#F4F7FA', borderRadius: 10, padding: '0 20px', flexDirection: 'row', alignItems: 'center', gap: 14 }}&gt;&#13;&#10;                &lt;Box style={{ width: 4, height: 54, background: '#276FBF' }} /&gt;&#13;&#10;                &lt;Text style={{ fontSize: 17, fontWeight: 'bold', color: '#20344B' }}&gt;生成方案并检查冲突&lt;/Text&gt;&#13;&#10;            &lt;/Box&gt;&#13;&#10;            &lt;Box style={{ flex: 1, height: 98, background: '#ECF7F2', borderRadius: 10, padding: '0 20px', justifyContent: 'center' }}&gt;&#13;&#10;                &lt;Text style={{ fontSize: 16, color: '#20344B', lineHeight: 1.5 }}&gt;知识推理、工具计算&lt;/Text&gt;&#13;&#10;            &lt;/Box&gt;&#13;&#10;            &lt;Box style={{ flex: 1, height: 98, background: '#FFF4E6', borderRadius: 10, padding: '0 20px', flexDirection: 'row', alignItems: 'center', gap: 12 }}&gt;&#13;&#10;                &lt;Box style={{ width: 4, height: 54, background: '#CB6B28' }} /&gt;&#13;&#10;                &lt;Text style={{ fontSize: 16, color: '#CB6B28', lineHeight: 1.5 }}&gt;全部约束是否通过，工具是否实际执行&lt;/Text&gt;&#13;&#10;            &lt;/Box&gt;&#13;&#10;        &lt;/Box&gt;&#13;&#10;&#13;&#10;        &lt;Box style={{ flexDirection: 'row', gap: 20, height: 98 }}&gt;&#13;&#10;            &lt;Box style={{ width: 330, height: 98, background: '#F4F7FA', borderRadius: 10, padding: '0 20px', flexDirection: 'row', alignItems: 'center', gap: 14 }}&gt;&#13;&#10;                &lt;Box style={{ width: 4, height: 54, background: '#276FBF' }} /&gt;&#13;&#10;                &lt;Text style={{ fontSize: 17, fontWeight: 'bold', color: '#20344B' }}&gt;连续推进筹备任务&lt;/Text&gt;&#13;&#10;            &lt;/Box&gt;&#13;&#10;            &lt;Box style={{ flex: 1, height: 98, background: '#ECF7F2', borderRadius: 10, padding: '0 20px', justifyContent: 'center' }}&gt;&#13;&#10;                &lt;Text style={{ fontSize: 16, color: '#20344B', lineHeight: 1.5 }}&gt;长上下文、Agent 操作&lt;/Text&gt;&#13;&#10;            &lt;/Box&gt;&#13;&#10;            &lt;Box style={{ flex: 1, height: 98, background: '#FFF4E6', borderRadius: 10, padding: '0 20px', flexDirection: 'row', alignItems: 'center', gap: 12 }}&gt;&#13;&#10;                &lt;Box style={{ width: 4, height: 54, background: '#CB6B28' }} /&gt;&#13;&#10;                &lt;Text style={{ fontSize: 16, color: '#CB6B28', lineHeight: 1.5 }}&gt;待办是否遗漏，停止条件是否正确，最终文件是否完整&lt;/Text&gt;&#13;&#10;            &lt;/Box&gt;&#13;&#10;        &lt;/Box&gt;&#13;&#10;&#13;&#10;        &lt;Box style={{ flexDirection: 'row', gap: 20, height: 98 }}&gt;&#13;&#10;            &lt;Box style={{ width: 330, height: 98, background: '#F4F7FA', borderRadius: 10, padding: '0 20px', flexDirection: 'row', alignItems: 'center', gap: 14 }}&gt;&#13;&#10;                &lt;Box style={{ width: 4, height: 54, background: '#26816B' }} /&gt;&#13;&#10;                &lt;Text style={{ fontSize: 17, fontWeight: 'bold', color: '#20344B' }}&gt;驱动仿真角色&lt;/Text&gt;&#13;&#10;            &lt;/Box&gt;&#13;&#10;            &lt;Box style={{ flex: 1, height: 98, background: '#ECF7F2', borderRadius: 10, padding: '0 20px', justifyContent: 'center' }}&gt;&#13;&#10;                &lt;Text style={{ fontSize: 16, color: '#20344B', lineHeight: 1.5 }}&gt;感知后的决策、工具选择、跨轮记忆&lt;/Text&gt;&#13;&#10;            &lt;/Box&gt;&#13;&#10;            &lt;Box style={{ flex: 1, height: 98, background: '#FFF4E6', borderRadius: 10, padding: '0 20px', flexDirection: 'row', alignItems: 'center', gap: 12 }}&gt;&#13;&#10;                &lt;Box style={{ width: 4, height: 54, background: '#CB6B28' }} /&gt;&#13;&#10;                &lt;Text style={{ fontSize: 16, color: '#CB6B28', lineHeight: 1.5 }}&gt;权限、坐标、动作提交及记忆来源是否成立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22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把发展水平翻译成可用的判断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四类工作：能用什么，还要验什么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00100" y="1571625"/>
            <a:ext cx="276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计划交给模型的工作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133850" y="1571625"/>
            <a:ext cx="3343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可以利用的能力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048625" y="1571625"/>
            <a:ext cx="3343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应额外核验的结果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09600" y="1895475"/>
            <a:ext cx="3143250" cy="933450"/>
          </a:xfrm>
          <a:prstGeom prst="roundRect">
            <a:avLst>
              <a:gd name="adj" fmla="val 1020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800100" y="210502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971550" y="226695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阅读活动资料与场地图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3943350" y="1895475"/>
            <a:ext cx="3724275" cy="933450"/>
          </a:xfrm>
          <a:prstGeom prst="roundRect">
            <a:avLst>
              <a:gd name="adj" fmla="val 1020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133850" y="2228850"/>
            <a:ext cx="3343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文本和视觉理解、综合信息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7858125" y="1895475"/>
            <a:ext cx="3724275" cy="933450"/>
          </a:xfrm>
          <a:prstGeom prst="roundRect">
            <a:avLst>
              <a:gd name="adj" fmla="val 1020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8048625" y="2105025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201025" y="2228850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引用是否支持结论，位置与容量是否读对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09600" y="2924175"/>
            <a:ext cx="3143250" cy="933450"/>
          </a:xfrm>
          <a:prstGeom prst="roundRect">
            <a:avLst>
              <a:gd name="adj" fmla="val 1020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800100" y="313372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971550" y="329565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生成方案并检查冲突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3943350" y="2924175"/>
            <a:ext cx="3724275" cy="933450"/>
          </a:xfrm>
          <a:prstGeom prst="roundRect">
            <a:avLst>
              <a:gd name="adj" fmla="val 1020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133850" y="3257550"/>
            <a:ext cx="3343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知识推理、工具计算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7858125" y="2924175"/>
            <a:ext cx="3724275" cy="933450"/>
          </a:xfrm>
          <a:prstGeom prst="roundRect">
            <a:avLst>
              <a:gd name="adj" fmla="val 1020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8" name=""/>
          <p:cNvSpPr/>
          <p:nvPr/>
        </p:nvSpPr>
        <p:spPr>
          <a:xfrm rot="0" flipH="0" flipV="0">
            <a:off x="8048625" y="3133725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201025" y="3257550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全部约束是否通过，工具是否实际执行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3952875"/>
            <a:ext cx="3143250" cy="933450"/>
          </a:xfrm>
          <a:prstGeom prst="roundRect">
            <a:avLst>
              <a:gd name="adj" fmla="val 1020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800100" y="416242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971550" y="432435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连续推进筹备任务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3943350" y="3952875"/>
            <a:ext cx="3724275" cy="933450"/>
          </a:xfrm>
          <a:prstGeom prst="roundRect">
            <a:avLst>
              <a:gd name="adj" fmla="val 1020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133850" y="4286250"/>
            <a:ext cx="3343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长上下文、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7858125" y="3952875"/>
            <a:ext cx="3724275" cy="933450"/>
          </a:xfrm>
          <a:prstGeom prst="roundRect">
            <a:avLst>
              <a:gd name="adj" fmla="val 1020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8048625" y="4162425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201025" y="4143375"/>
            <a:ext cx="31908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待办是否遗漏，停止条件是否正确，最终文件是否完整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09600" y="4981575"/>
            <a:ext cx="3143250" cy="933450"/>
          </a:xfrm>
          <a:prstGeom prst="roundRect">
            <a:avLst>
              <a:gd name="adj" fmla="val 1020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800100" y="5191125"/>
            <a:ext cx="38100" cy="5143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971550" y="53530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驱动仿真角色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3943350" y="4981575"/>
            <a:ext cx="3724275" cy="933450"/>
          </a:xfrm>
          <a:prstGeom prst="roundRect">
            <a:avLst>
              <a:gd name="adj" fmla="val 1020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133850" y="5314950"/>
            <a:ext cx="3343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感知后的决策、工具选择、跨轮记忆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7858125" y="4981575"/>
            <a:ext cx="3724275" cy="933450"/>
          </a:xfrm>
          <a:prstGeom prst="roundRect">
            <a:avLst>
              <a:gd name="adj" fmla="val 1020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8048625" y="5191125"/>
            <a:ext cx="38100" cy="5143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201025" y="5314950"/>
            <a:ext cx="289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权限、坐标、动作提交及记忆来源是否成立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08" name="" descr="&lt;Slide notes={`最后交代一下这份快照的边界，也就是它没有回答什么。&#13;&#10;&#13;&#10;我没有用英语专家题的成绩去推断中文写作的水平，也没有用图表理解的分数去概括语音转录、语音生成和图像生成的全部水平。这些用途各自需要自己的当前数据和应用样本，不能借。&#13;&#10;&#13;&#10;同样地，模型费用和延迟也必须在选定接口、输入规模与并发条件下实测，光看单次调用的标价说明不了总成本。&#13;&#10;&#13;&#10;把话说回来：本节做的是把公开成绩读成有条件的证据。下一步是把它变成我们自己的判断——用我们自己的一小批任务去测，看看在我们这个场景里到底够不够用。这就是下一节的起点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1.5.6　把发展水平翻译成可用的判断&lt;/Text&gt;&#13;&#10;            &lt;Text style={{ fontSize: 34, fontWeight: 'bold', color: '#20344B' }}&gt;本节没有推断什么&lt;/Text&gt;&#13;&#10;        &lt;/Box&gt;&#13;&#10;    &lt;/Box&gt;&#13;&#10;&#13;&#10;    &lt;Box style={{ height: 540, flexDirection: 'column', justifyContent: 'center', gap: 16 }}&gt;&#13;&#10;&#13;&#10;        &lt;Box style={{ flexDirection: 'row', gap: 40, height: 324 }}&gt;&#13;&#10;&#13;&#10;            &lt;Box style={{ flex: 45, flexDirection: 'column', gap: 12 }}&gt;&#13;&#10;&#13;&#10;                &lt;Box style={{ flexDirection: 'row', alignItems: 'center', gap: 12 }}&gt;&#13;&#10;                    &lt;Box style={{ width: 3, height: 22, background: '#CB6B28' }} /&gt;&#13;&#10;                    &lt;Text style={{ fontSize: 20, fontWeight: 'bold', color: '#CB6B28' }}&gt;没有推断的三件事&lt;/Text&gt;&#13;&#10;                &lt;/Box&gt;&#13;&#10;&#13;&#10;                &lt;Box style={{ height: 84, background: '#FFF4E6', borderRadius: 10, padding: '0 18px', flexDirection: 'row', alignItems: 'center', gap: 12 }}&gt;&#13;&#10;                    &lt;Box style={{ width: 4, height: 48, background: '#CB6B28' }} /&gt;&#13;&#10;                    &lt;Text style={{ fontSize: 16, color: '#20344B', lineHeight: 1.5 }}&gt;没有用英语专家题推断中文写作排名&lt;/Text&gt;&#13;&#10;                &lt;/Box&gt;&#13;&#10;&#13;&#10;                &lt;Box style={{ height: 84, background: '#FFF4E6', borderRadius: 10, padding: '0 18px', flexDirection: 'row', alignItems: 'center', gap: 12 }}&gt;&#13;&#10;                    &lt;Box style={{ width: 4, height: 48, background: '#CB6B28' }} /&gt;&#13;&#10;                    &lt;Text style={{ fontSize: 16, color: '#20344B', lineHeight: 1.5 }}&gt;没有用图表理解概括语音转录、语音生成与图像生成&lt;/Text&gt;&#13;&#10;                &lt;/Box&gt;&#13;&#10;&#13;&#10;                &lt;Box style={{ height: 84, background: '#FFF4E6', borderRadius: 10, padding: '0 18px', flexDirection: 'row', alignItems: 'center', gap: 12 }}&gt;&#13;&#10;                    &lt;Box style={{ width: 4, height: 48, background: '#CB6B28' }} /&gt;&#13;&#10;                    &lt;Text style={{ fontSize: 16, color: '#20344B', lineHeight: 1.5 }}&gt;没有把不同条件下的数值排成一条进步曲线&lt;/Text&gt;&#13;&#10;                &lt;/Box&gt;&#13;&#10;&#13;&#10;            &lt;/Box&gt;&#13;&#10;&#13;&#10;            &lt;Box style={{ flex: 55, flexDirection: 'column', gap: 12, justifyContent: 'center' }}&gt;&#13;&#10;                &lt;Box style={{ height: 130, background: '#EDF4FC', borderRadius: 10, padding: '0 22px', flexDirection: 'column', justifyContent: 'center', gap: 5 }}&gt;&#13;&#10;                    &lt;Text style={{ fontSize: 19, fontWeight: 'bold', color: '#276FBF' }}&gt;这些用途需要各自的当前数据&lt;/Text&gt;&#13;&#10;                    &lt;Text style={{ fontSize: 16, color: '#546779', lineHeight: 1.55 }}&gt;中文写作、语音、图像生成都要用对应场景的应用样本重新测，不能从别的成绩借。&lt;/Text&gt;&#13;&#10;                &lt;/Box&gt;&#13;&#10;                &lt;Box style={{ height: 130, background: '#ECF7F2', borderRadius: 10, padding: '0 22px', flexDirection: 'column', justifyContent: 'center', gap: 5 }}&gt;&#13;&#10;                    &lt;Text style={{ fontSize: 19, fontWeight: 'bold', color: '#26816B' }}&gt;费用与延迟要实测&lt;/Text&gt;&#13;&#10;                    &lt;Text style={{ fontSize: 16, color: '#546779', lineHeight: 1.55 }}&gt;模型费用和延迟需要在选定接口、输入规模和并发条件下测量，单次标价说明不了总成本。&lt;/Text&gt;&#13;&#10;                &lt;/Box&gt;&#13;&#10;            &lt;/Box&gt;&#13;&#10;&#13;&#10;        &lt;/Box&gt;&#13;&#10;&#13;&#10;        &lt;Box style={{ height: 88, background: '#F7F3E8', borderRadius: 10, padding: '0 22px', flexDirection: 'row', alignItems: 'center', gap: 14 }}&gt;&#13;&#10;            &lt;Box style={{ width: 3, height: 50, background: '#276FBF' }} /&gt;&#13;&#10;            &lt;Text style={{ fontSize: 17, color: '#20344B', lineHeight: 1.6 }}&gt;下一节从我们自己的少量任务开始，把公开成绩转化为可解释的选型证据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1.5 怎样说明&quot;当前发展到什么水平&quot;&lt;/Text&gt;&#13;&#10;        &lt;Text style={{ fontSize: 14, color: '#546779' }}&gt;23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1.5.6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把发展水平翻译成可用的判断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本节没有推断什么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09600" y="1685925"/>
            <a:ext cx="28575" cy="209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52475" y="1676400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没有推断的三件事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2019300"/>
            <a:ext cx="47625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781050" y="21907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933450" y="2286000"/>
            <a:ext cx="2438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没有用英语专家题推断中文写作排名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609600" y="2933700"/>
            <a:ext cx="47625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781050" y="31051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933450" y="3200400"/>
            <a:ext cx="3505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没有用图表理解概括语音转录、语音生成与图像生成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09600" y="3848100"/>
            <a:ext cx="47625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781050" y="40195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33450" y="4114800"/>
            <a:ext cx="2895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没有把不同条件下的数值排成一条进步曲线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5753100" y="1924050"/>
            <a:ext cx="58293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5962650" y="2124075"/>
            <a:ext cx="541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这些用途需要各自的当前数据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5962650" y="2390775"/>
            <a:ext cx="5410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中文写作、语音、图像生成都要用对应场景的应用样本重新测，不能从别的成绩借。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5753100" y="3276600"/>
            <a:ext cx="58293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5962650" y="3476625"/>
            <a:ext cx="541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费用与延迟要实测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962650" y="3743325"/>
            <a:ext cx="5410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模型费用和延迟需要在选定接口、输入规模和并发条件下测量，单次标价说明不了总成本。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09600" y="49149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819150" y="5095875"/>
            <a:ext cx="28575" cy="4762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981075" y="5181600"/>
            <a:ext cx="53435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下一节从我们自己的少量任务开始，把公开成绩转化为可解释的选型证据。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35" name="" descr="&lt;Slide notes={`这一节读了很多数字，最后留下三个条件，以后看到任何成绩都可以拿它们去核一遍。&#10;&#10;第一，有日期。报告日期和调用日期是两件事，都要记；查不到就写未披露，不能用查阅日期补上。同一个名字的基准也可能已经换过题，所以还要写清版本。&#10;&#10;第二，有配置。题目范围、样本量、用不用工具、预算多少、采样和推理设置是什么，这些都不是技术细节，它们直接决定这个百分比意味着什么。&#10;&#10;第三，有出处。这是厂商自报，还是基准维护方公布，性质不同；报告没有披露的字段，就照着写&quot;未披露&quot;。&#10;&#10;这三样齐了，一组成绩才配拿来和别的成绩比，也才配拿来判断我们自己的任务能不能交给它。下一节，我们就把这一套用到自己的一小批任务上。`} style={{ width: 1280, height: 720, background: '#FFFFFF', flexDirection: 'column', padding: '20px 64px' }}&gt;&#10;&#10;    &lt;Box style={{ height: 540, flexDirection: 'row', justifyContent: 'center', alignItems: 'center', gap: 48 }}&gt;&#10;&#10;        &lt;Box style={{ width: 400, flexDirection: 'column', gap: 16 }}&gt;&#10;            &lt;Text style={{ fontSize: 15, color: '#546779' }}&gt;1.5　小结&lt;/Text&gt;&#10;            &lt;Text style={{ fontSize: 44, fontWeight: 'bold', color: '#20344B', lineHeight: 1.25 }}&gt;先问条件，再看分数&lt;/Text&gt;&#10;            &lt;Box style={{ width: 72, height: 4, background: '#276FBF' }} /&gt;&#10;            &lt;Text style={{ fontSize: 17, color: '#546779', lineHeight: 1.8 }}&gt;一组公开成绩只有带上日期、配置与出处，才能被比较，也才能用在自己的任务上。缺哪一项就写清缺哪一项。&lt;/Text&gt;&#10;        &lt;/Box&gt;&#10;&#10;        &lt;Box style={{ flex: 1, flexDirection: 'column', gap: 14 }}&gt;&#10;&#10;            &lt;Box style={{ flexDirection: 'row', gap: 16, height: 106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期&lt;/Text&gt;&#10;                &lt;/Box&gt;&#10;                &lt;Box style={{ flex: 1, flexDirection: 'column', gap: 4 }}&gt;&#10;                    &lt;Text style={{ fontSize: 21, fontWeight: 'bold', color: '#20344B' }}&gt;有日期&lt;/Text&gt;&#10;                    &lt;Text style={{ fontSize: 15, color: '#546779' }}&gt;报告日期与调用日期分开记；查不到就写未披露&lt;/Text&gt;&#10;                &lt;/Box&gt;&#10;            &lt;/Box&gt;&#10;&#10;            &lt;Box style={{ flexDirection: 'row', gap: 16, height: 106, background: '#ECF7F2', borderRadius: 12, padding: '0 22px', alignItems: 'center' }}&gt;&#10;                &lt;Box style={{ width: 46, height: 46, borderRadius: 8, background: '#26816B', justifyContent: 'center', alignItems: 'center' }}&gt;&#10;                    &lt;Text style={{ fontSize: 22, fontWeight: 'bold', color: '#FFFFFF' }}&gt;配&lt;/Text&gt;&#10;                &lt;/Box&gt;&#10;                &lt;Box style={{ flex: 1, flexDirection: 'column', gap: 4 }}&gt;&#10;                    &lt;Text style={{ fontSize: 21, fontWeight: 'bold', color: '#20344B' }}&gt;有配置&lt;/Text&gt;&#10;                    &lt;Text style={{ fontSize: 15, color: '#546779' }}&gt;题集版本、工具条件、预算上限与推理设置&lt;/Text&gt;&#10;                &lt;/Box&gt;&#10;            &lt;/Box&gt;&#10;&#10;            &lt;Box style={{ flexDirection: 'row', gap: 16, height: 106, background: '#FFF4E6', borderRadius: 12, padding: '0 22px', alignItems: 'center' }}&gt;&#10;                &lt;Box style={{ width: 46, height: 46, borderRadius: 8, background: '#CB6B28', justifyContent: 'center', alignItems: 'center' }}&gt;&#10;                    &lt;Text style={{ fontSize: 22, fontWeight: 'bold', color: '#FFFFFF' }}&gt;源&lt;/Text&gt;&#10;                &lt;/Box&gt;&#10;                &lt;Box style={{ flex: 1, flexDirection: 'column', gap: 4 }}&gt;&#10;                    &lt;Text style={{ fontSize: 21, fontWeight: 'bold', color: '#CB6B28' }}&gt;有出处&lt;/Text&gt;&#10;                    &lt;Text style={{ fontSize: 15, color: '#546779' }}&gt;厂商自报还是维护方公布；未披露项照写&lt;/Text&gt;&#10;                &lt;/Box&gt;&#10;            &lt;/Box&gt;&#10;&#10;            &lt;Box style={{ flexDirection: 'row', alignItems: 'center', gap: 12, paddingTop: 6 }}&gt;&#10;                &lt;Box style={{ width: 3, height: 26, background: '#26816B' }} /&gt;&#10;                &lt;Text style={{ fontSize: 16, color: '#546779' }}&gt;下一节　1.6　为自己的任务选择模型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5 怎样说明&quot;当前发展到什么水平&quot;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09600" y="159067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1.5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38100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先问条件，再看分数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09600" y="26955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38100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一组公开成绩只有带上日期、配置与出处，才能被比较，也才能用在自己的任务上。缺哪一项就写清缺哪一项。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4876800" y="895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5086350" y="1181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5200650" y="12763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期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676900" y="1171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有日期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5676900" y="1457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报告日期与调用日期分开记；查不到就写未披露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4876800" y="2038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5086350" y="2324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5200650" y="24193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配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5676900" y="2314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有配置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676900" y="2600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题集版本、工具条件、预算上限与推理设置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4876800" y="3181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5086350" y="3467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5200650" y="35623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源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5676900" y="3457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有出处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676900" y="3743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厂商自报还是维护方公布；未披露项照写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4876800" y="438150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5019675" y="4410075"/>
            <a:ext cx="2505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1.6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为自己的任务选择模型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1.5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怎样说明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当前发展到什么水平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2026-09-29T02:37:20Z</dcterms:created>
  <dcterms:modified xsi:type="dcterms:W3CDTF">2026-09-29T02:37:20Z</dcterms:modified>
</cp:coreProperties>
</file>