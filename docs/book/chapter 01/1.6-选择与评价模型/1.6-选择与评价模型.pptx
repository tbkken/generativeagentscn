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7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6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2.xml" ContentType="application/vnd.openxmlformats-officedocument.presentationml.slide+xml"/>
  <Override PartName="/ppt/slides/slide24.xml" ContentType="application/vnd.openxmlformats-officedocument.presentationml.slide+xml"/>
  <Override PartName="/ppt/slides/slide4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5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8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27" Type="http://schemas.openxmlformats.org/officeDocument/2006/relationships/slide" Target="slides/slide27.xml" /><Relationship Id="rId0" Type="http://schemas.openxmlformats.org/officeDocument/2006/relationships/slideMaster" Target="slideMasters/slideMaster1.xml" /><Relationship Id="rId6" Type="http://schemas.openxmlformats.org/officeDocument/2006/relationships/slide" Target="slides/slide6.xml" /><Relationship Id="rId15" Type="http://schemas.openxmlformats.org/officeDocument/2006/relationships/slide" Target="slides/slide15.xml" /><Relationship Id="rId12" Type="http://schemas.openxmlformats.org/officeDocument/2006/relationships/slide" Target="slides/slide12.xml" /><Relationship Id="rId4" Type="http://schemas.openxmlformats.org/officeDocument/2006/relationships/slide" Target="slides/slide4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30" Type="http://schemas.openxmlformats.org/officeDocument/2006/relationships/tableStyles" Target="tableStyles.xml" /><Relationship Id="rId11" Type="http://schemas.openxmlformats.org/officeDocument/2006/relationships/slide" Target="slides/slide11.xml" /><Relationship Id="rId14" Type="http://schemas.openxmlformats.org/officeDocument/2006/relationships/slide" Target="slides/slide14.xml" /><Relationship Id="rId13" Type="http://schemas.openxmlformats.org/officeDocument/2006/relationships/slide" Target="slides/slide13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22" Type="http://schemas.openxmlformats.org/officeDocument/2006/relationships/slide" Target="slides/slide22.xml" /><Relationship Id="rId23" Type="http://schemas.openxmlformats.org/officeDocument/2006/relationships/slide" Target="slides/slide23.xml" /><Relationship Id="rId24" Type="http://schemas.openxmlformats.org/officeDocument/2006/relationships/slide" Target="slides/slide24.xml" /><Relationship Id="rId25" Type="http://schemas.openxmlformats.org/officeDocument/2006/relationships/slide" Target="slides/slide25.xml" /><Relationship Id="rId26" Type="http://schemas.openxmlformats.org/officeDocument/2006/relationships/slide" Target="slides/slide26.xml" /><Relationship Id="rId28" Type="http://schemas.openxmlformats.org/officeDocument/2006/relationships/notesMaster" Target="notesMasters/notesMaster1.xml" /><Relationship Id="rId29" Type="http://schemas.openxmlformats.org/officeDocument/2006/relationships/presProps" Target="presProps.xml" /><Relationship Id="rId3" Type="http://schemas.openxmlformats.org/officeDocument/2006/relationships/slide" Target="slides/slide3.xml" /><Relationship Id="rId31" Type="http://schemas.openxmlformats.org/officeDocument/2006/relationships/viewProps" Target="viewProps.xml" /><Relationship Id="rId5" Type="http://schemas.openxmlformats.org/officeDocument/2006/relationships/slide" Target="slides/slide5.xml" /><Relationship Id="rId7" Type="http://schemas.openxmlformats.org/officeDocument/2006/relationships/slide" Target="slides/slide7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前面五节，我们把大模型是什么、能力从哪里来、怎么测量、当前水平如何，都过了一遍。走到这里，要换一个问法：不再问哪一个模型最强，而是问我手上这件事，哪一种配置更合适。</a:t>
            </a:r>
          </a:p>
          <a:p>
            <a:r>
              <a:rPr lang="zh-CN" dirty="0"/>
              <a:t>这个转变很关键。追最强模型是一条永远追不完的路，因为榜单在变、版本在变，而你的任务只有一个。反过来，如果先把任务写清楚，把条件固定下来，选择就变成一件可以动手做完的事。</a:t>
            </a:r>
          </a:p>
          <a:p>
            <a:r>
              <a:rPr lang="zh-CN" dirty="0"/>
              <a:t>这一节给出一套五步做法：写清可核验的目标，准备小而有区分度的任务集，固定比较条件，先看错误分布，最后按任务而不是按一个综合分下结论。它用的是青禾的虚构材料，不需要先搭建完整仿真系统，第二章之后可以用真实的 API 和产品把同一套练习再跑一遍。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选模型这件事，最怕的是从结论开始。看到某个榜单第一，就先认定它，然后再去找理由。往回收一步，把选择变成七个可以依次完成的知识块。</a:t>
            </a:r>
          </a:p>
          <a:p>
            <a:r>
              <a:rPr lang="zh-CN" dirty="0"/>
              <a:t>先把目标写成可核验的结果。写一份好方案这句话太软，它可以指文字好看，也可以指方案已经被相关系统保存。先把任务限定死，检查项才立得住。接着准备题目，八项练习用来改提示和评分规则，二十四项评价在开始比较之前冻结，两者不能混在一起算成绩。</a:t>
            </a:r>
          </a:p>
          <a:p>
            <a:r>
              <a:rPr lang="zh-CN" dirty="0"/>
              <a:t>然后固定条件。比较的是两个裸模型，还是两个已经配好工具的应用，这个必须说清楚，否则差异是从哪来的就讲不清。再往后看失败分类，而不是只看总分。最后按任务下结论，并为活动助手和仿真角色分别写一份选择说明。七个知识块之后，有五道练习，把方法落到自己手上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把目标写清楚，是所有比较的地基。写一份好方案这句话不够具体，它可以意味着文字好看，也可以意味着安排完整、没有冲突，甚至意味着方案已经被相关系统保存下来。这几种理解指向的是完全不同的标准。</a:t>
            </a:r>
          </a:p>
          <a:p>
            <a:r>
              <a:rPr lang="zh-CN" dirty="0"/>
              <a:t>为了让评价时不会临时改标准，我先把本次任务限定死：根据提供的材料生成开放日方案，正确处理房间容量、时间和预约；缺少信息时明确标出；每项关键安排给出依据。同时划出边界，不执行真实预约，也不以文字声称已经执行。</a:t>
            </a:r>
          </a:p>
          <a:p>
            <a:r>
              <a:rPr lang="zh-CN" dirty="0"/>
              <a:t>这一段话同时定了两件事。一件是能力需求，模型要理解材料、组织约束、产生方案，并且表达出哪些地方还不确定。另一件是执行边界，它不需要自己决定活动经费，更不能在没有工具的情况下宣布预约已经完成。接下来要做的是把这些要求翻译成一条条可以观察、可以核对的检查项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写一份好方案这句话太软了。它可以意味着文字好看，也可以意味着安排完整、没有冲突，甚至意味着方案已经被相关系统保存。评价的时候临时决定用哪一种理解，结果就没法比较。</a:t>
            </a:r>
          </a:p>
          <a:p>
            <a:r>
              <a:rPr lang="zh-CN" dirty="0"/>
              <a:t>所以先把任务写死。根据提供的材料生成开放日方案，正确处理房间容量、时间和预约；缺少信息时明确标出；每项关键安排给出依据。最后两句是关键边界：不执行真实预约，也不以文字声称已经执行。</a:t>
            </a:r>
          </a:p>
          <a:p>
            <a:r>
              <a:rPr lang="zh-CN" dirty="0"/>
              <a:t>这段话同时划出两件事。需要它做的是理解材料、组织约束、产生方案，还要能说清哪些地方不确定。不需要它做的也很明确：它不必自己决定活动经费，更不能在没有工具的情况下宣布预约完成。</a:t>
            </a:r>
          </a:p>
          <a:p>
            <a:r>
              <a:rPr lang="zh-CN" dirty="0"/>
              <a:t>我特别想强调后一条。模型非常擅长写出一句听起来已经完成的话，但文字上的完成和真实世界里的完成是两回事。把这条边界写进任务目标里，评价时才有据可依。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目标写清楚之后，下一步是把它拆成检查项。我按五个维度来拆，每一个都要求能指出证据在哪里。</a:t>
            </a:r>
          </a:p>
          <a:p>
            <a:r>
              <a:rPr lang="zh-CN" dirty="0"/>
              <a:t>第一项是事实与来源，容量、预约、人数这些关键字段必须有依据，做法是拿输出和输入材料逐项核对。第二项是约束满足，时间、容量、时长以及相互冲突的处理是否正确，这一项可以人工检查，也可以写一段确定性程序来检查。第三项是信息不足，缺失的内容有没有明确标出，有没有编造必要事实，这一项要和事先准备好的缺失项清单核对。</a:t>
            </a:r>
          </a:p>
          <a:p>
            <a:r>
              <a:rPr lang="zh-CN" dirty="0"/>
              <a:t>第四项是交付完整，方案里该有的活动、该列的待确认事项是否齐全，按固定字段和任务清单核对。第五项是使用成本，端到端花了多少时间、调用了几次、费用是多少，记录实际可见的用量。</a:t>
            </a:r>
          </a:p>
          <a:p>
            <a:r>
              <a:rPr lang="zh-CN" dirty="0"/>
              <a:t>这五项里，前四项可以直接判定对错，第五项是记录而不是打分。把它们分开，是为了后面看失败分布时，能说清失败到底属于哪一类。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表达是否清楚当然重要，但它不应该覆盖关键事实错误。这句话说起来简单，做起来很容易走偏。</a:t>
            </a:r>
          </a:p>
          <a:p>
            <a:r>
              <a:rPr lang="zh-CN" dirty="0"/>
              <a:t>想一想一份文笔优美、结构清楚、活动安排丰富的方案，它把十五个人安排进了十二人的手作室。从文字上看，这份方案几乎没有瑕疵，读起来比一份数字全对但写得干巴巴的方案舒服得多。如果评分只看整体印象，它很可能拿到高分。</a:t>
            </a:r>
          </a:p>
          <a:p>
            <a:r>
              <a:rPr lang="zh-CN" dirty="0"/>
              <a:t>但只要人数这一项越界，整份方案在实际执行时就是不可用的。十二人的房间装不下十五人，这不是风格问题，是硬约束。</a:t>
            </a:r>
          </a:p>
          <a:p>
            <a:r>
              <a:rPr lang="zh-CN" dirty="0"/>
              <a:t>所以检查项的排布方式很重要。事实与来源、约束满足这些项，必须被独立核对，不能被其他项目的高分平均掉。一份方案只有在关键事实上站得住，才谈得上表达是否清楚。写作质量是可以加分的部分，关键事实是没有商量余地的部分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目标写清楚了，接下来要准备题目。这里的第一个原则是：用来练习的题目和用来评价的题目必须分开。</a:t>
            </a:r>
          </a:p>
          <a:p>
            <a:r>
              <a:rPr lang="zh-CN" dirty="0"/>
              <a:t>先用八项练习任务，目的是检查两件事：提示写得清不清楚，评分规则一不一致。这八项可以反复修改，改提示、改评分标准都没问题。然后在开始比较之前，把另外二十四项冻结下来，之后不再改动。</a:t>
            </a:r>
          </a:p>
          <a:p>
            <a:r>
              <a:rPr lang="zh-CN" dirty="0"/>
              <a:t>为什么要分两组？因为如果你一边看评价结果，一边回去改评价集，分数就失去意义了。你实际上是在对着答案出题，成绩自然会好看，但它不能说明任何问题。</a:t>
            </a:r>
          </a:p>
          <a:p>
            <a:r>
              <a:rPr lang="zh-CN" dirty="0"/>
              <a:t>二十四项按六组组织，每组四项。组内要改变房间、数字或者表述方式，避免只是把同一道题换个名字。同样的题型重复四次，测出来的还是同一种能力，区分度就很低。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为什么一定要把练习集和评价集分开？因为练习阶段你要改的东西太多了。提示措辞要调，评分规则要调，有时候连题目本身都要重写。这些改动都是必要的，但它们会让题目带上你的偏好。</a:t>
            </a:r>
          </a:p>
          <a:p>
            <a:r>
              <a:rPr lang="zh-CN" dirty="0"/>
              <a:t>一旦开始比较候选，二十四项评价任务就要冻结。冻结的意思是：不看结果去改题目，也不因为某个候选答得奇怪就补一条规则。这样二十四这个分母才是固定的，两个候选才是在同一把尺子上量出来的。</a:t>
            </a:r>
          </a:p>
          <a:p>
            <a:r>
              <a:rPr lang="zh-CN" dirty="0"/>
              <a:t>二十四项按六组来排，每组四项。六组分别看材料理解、事实与缺失、结构与抽取、时间与数量、工具结果理解、跨轮信息修正。组内要换房间、换数字、换表述，不能只是把同一道题改个名字，否则测到的还是同一种能力。</a:t>
            </a:r>
          </a:p>
          <a:p>
            <a:r>
              <a:rPr lang="zh-CN" dirty="0"/>
              <a:t>还要说一句实话：这个数量是入门规模，它不足以支撑广泛的统计结论。它能帮你把自己的任务看清楚，但不能拿来做行业排名。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六组任务各自考什么，我把它讲具体一点。</a:t>
            </a:r>
          </a:p>
          <a:p>
            <a:r>
              <a:rPr lang="zh-CN" dirty="0"/>
              <a:t>材料理解这一组，考的是能不能把条件对应到正确的对象上。题面里会有明示条件，也会有跨段才能看出来的条件，还会故意放一些名字相近的房间和无关信息来干扰。</a:t>
            </a:r>
          </a:p>
          <a:p>
            <a:r>
              <a:rPr lang="zh-CN" dirty="0"/>
              <a:t>事实与缺失这一组，考的是分不分得清已知、未知和传闻。四项分别是资料完整、缺容量、缺日期，以及只给了未经证实的说法。这一组特别重要，因为模型在信息不足时最容易编。</a:t>
            </a:r>
          </a:p>
          <a:p>
            <a:r>
              <a:rPr lang="zh-CN" dirty="0"/>
              <a:t>结构与抽取这一组看输出格式，固定字段、多个活动、空值、字段之间的关系都要对。时间与数量这一组是硬规则，容量边界、预约重叠、相邻时间段、持续时间。</a:t>
            </a:r>
          </a:p>
          <a:p>
            <a:r>
              <a:rPr lang="zh-CN" dirty="0"/>
              <a:t>工具结果理解这一组，四项分别是查询成功、查询失败、错误房间和没有调用证据，看它会不会把失败当成成功。跨轮信息修正这一组，考的是接到新证据以后是否按新事实修改，而不是嘴上说改了、实际还留着旧方案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第五组工具结果理解，有一件事必须说清楚，否则很容易自欺欺人。</a:t>
            </a:r>
          </a:p>
          <a:p>
            <a:r>
              <a:rPr lang="zh-CN" dirty="0"/>
              <a:t>在还没有接入真实工具的时候，我们可以提供预先写好的工具结果，比如一段查询成功的返回，一段查询失败的返回，或者一个指向错误房间的结果。让模型读这些结果，看它能不能正确使用，会不会把失败当成成功，会不会在没有调用证据的情况下仍然宣布完成。</a:t>
            </a:r>
          </a:p>
          <a:p>
            <a:r>
              <a:rPr lang="zh-CN" dirty="0"/>
              <a:t>这种做法有它的价值，但它必须被标成工具结果理解测试。不能因为模型正确解读了一段预置的失败返回，就说它已经成功调用过工具。这两件事差得很远，一个是理解，一个是执行。</a:t>
            </a:r>
          </a:p>
          <a:p>
            <a:r>
              <a:rPr lang="zh-CN" dirty="0"/>
              <a:t>第二章接通工具之后，再增加真实参数选择、执行和回传的端到端测试，那时候测的才是完整的调用链。另外，每项任务都要保存四样东西：原始输入、预期检查项、允许的答案范围和失败条件，缺一样，事后就没法复盘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这道题可以拿来直接用。原方案是 10:15 到 10:45，需要连续三十分钟，而 10:00 到 10:30 已经有一条预约。正确判断是它与已有预约重叠，所以不可行。</a:t>
            </a:r>
          </a:p>
          <a:p>
            <a:r>
              <a:rPr lang="zh-CN" dirty="0"/>
              <a:t>10:30 到 11:00 是一个可行答案，但不是唯一答案；其他条件允许时，09:00 到 09:30 也符合题意。</a:t>
            </a:r>
          </a:p>
          <a:p>
            <a:r>
              <a:rPr lang="zh-CN" dirty="0"/>
              <a:t>这里有一处必须提前约定：时间区间按左闭右开处理，首尾相接不算重叠。如果不写这一句，评分的人完全可能把 10:30 开始的答案判成另一种结果。评价规则里的歧义，最后会被误算成模型之间的差异。</a:t>
            </a:r>
          </a:p>
          <a:p>
            <a:r>
              <a:rPr lang="zh-CN" dirty="0"/>
              <a:t>评分时检查容量、时长、开放时间和预约交集，不要求输出逐字等于参考答案。开放题的答案本来就不唯一。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题目准备好了，接下来要固定比较的条件。这一条做不好，前面两步都白费。</a:t>
            </a:r>
          </a:p>
          <a:p>
            <a:r>
              <a:rPr lang="zh-CN" dirty="0"/>
              <a:t>原因很简单：如果两个候选拿到的材料不一样、提示不一样、可用的工具不一样、允许的尝试次数也不一样，那么最后分数的差异，就说不清是谁带来的。可能是模型本身的差别，也可能是条件松紧的差别。</a:t>
            </a:r>
          </a:p>
          <a:p>
            <a:r>
              <a:rPr lang="zh-CN" dirty="0"/>
              <a:t>所以我要固定的东西有一串。材料和提示要一样，可用的工具要一样，输出的限制要一样，采样设置要一样，连每项任务允许尝试几次都要一样。</a:t>
            </a:r>
          </a:p>
          <a:p>
            <a:r>
              <a:rPr lang="zh-CN" dirty="0"/>
              <a:t>对于多轮任务，还要规定每项评价都从相同的初始状态开始。不能让后一项任务无意中继承了前一项的答案，也不能让第二个候选额外看到第一个候选的错误分析。</a:t>
            </a:r>
          </a:p>
          <a:p>
            <a:r>
              <a:rPr lang="zh-CN" dirty="0"/>
              <a:t>需要持续记忆的任务，要明确哪些信息应当保留，哪些应当隔离。这些看起来很琐碎，但它们决定了后面的数字能不能被解释。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固定条件之前，先要明确一件事：你比较的单位到底是什么。</a:t>
            </a:r>
          </a:p>
          <a:p>
            <a:r>
              <a:rPr lang="zh-CN" dirty="0"/>
              <a:t>你可以比较两个裸模型在相同输入下的表现，比如同一个提示、同样的工具限制，看谁答得更好。你也可以比较两个已经配置好工具的完整应用，比如两个都能查预约、都能读写文件的助手，看谁的端到端表现更好。</a:t>
            </a:r>
          </a:p>
          <a:p>
            <a:r>
              <a:rPr lang="zh-CN" dirty="0"/>
              <a:t>这两种问题都合理，没有哪种更高明。但报告必须说清楚比的是哪一种，否则读的人根本不知道那些差异意味着什么。</a:t>
            </a:r>
          </a:p>
          <a:p>
            <a:r>
              <a:rPr lang="zh-CN" dirty="0"/>
              <a:t>如果比模型，就尽量固定材料、提示、工具、输出限制、采样设置，以及每项任务允许尝试的次数。如果比应用，那就把各自的检索、工具和执行策略一并记录下来，因为这些本来就是应用能力的一部分，不能当成噪声抹掉。</a:t>
            </a:r>
          </a:p>
          <a:p>
            <a:r>
              <a:rPr lang="zh-CN" dirty="0"/>
              <a:t>还有一处要老实：不同服务对推理预算用的档位名称不一样，名字相同不代表算力相同，所以只能按各自可用的配置比较整体质量与成本，不要叫成严格等算力比较。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固定了条件，还要有一份能落地的记录。我建议至少记下这几类字段。</a:t>
            </a:r>
          </a:p>
          <a:p>
            <a:r>
              <a:rPr lang="zh-CN" dirty="0"/>
              <a:t>第一类是任务本身：任务编号、任务类别、输入文件以及内容摘要。第二类是模型标识：完整的模型标识、服务或产品版本、执行日期。这里要强调完整，只写一个显示名，过一段时间就不知道当时用的到底是哪一个。第三类是配置：提示版本、可用工具、推理与输出设置。第四类是结果：是否成功、失败类别、关键证据、评分者是谁。</a:t>
            </a:r>
          </a:p>
          <a:p>
            <a:r>
              <a:rPr lang="zh-CN" dirty="0"/>
              <a:t>再往后是量：逻辑调用数、物理尝试数、端到端耗时。这两者要分开，一次逻辑请求可能重试了好几次。还有输入输出用量、费用，以及人工介入的情况。</a:t>
            </a:r>
          </a:p>
          <a:p>
            <a:r>
              <a:rPr lang="zh-CN" dirty="0"/>
              <a:t>最后一条最实用：暂时拿不到的数据就写未提供或者未记录。不要从回答长度去猜 Token，也不要把等待页面的总时长全部当成模型计算时间。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接下来这一步，很多人会跳过，但它往往最能改变结论。</a:t>
            </a:r>
          </a:p>
          <a:p>
            <a:r>
              <a:rPr lang="zh-CN" dirty="0"/>
              <a:t>同样答对二十项任务，两个候选可能很不一样。一个主要的问题是漏写了非关键说明，文字上不够周到；另一个会在查询失败的时候宣布预约成功。它们的总成功数相同，实际使用时的风险却完全不同。</a:t>
            </a:r>
          </a:p>
          <a:p>
            <a:r>
              <a:rPr lang="zh-CN" dirty="0"/>
              <a:t>第一种错误，人用之前读一遍就能发现、补上。第二种错误，如果不看原始记录，你甚至不会知道它发生过，因为你收到的是一句听起来已经完成的回答。</a:t>
            </a:r>
          </a:p>
          <a:p>
            <a:r>
              <a:rPr lang="zh-CN" dirty="0"/>
              <a:t>所以每个失败都要归类，而不是笼统地记一个失败。归类之后再看总数，你才知道这二十分是从哪里来的。</a:t>
            </a:r>
          </a:p>
          <a:p>
            <a:r>
              <a:rPr lang="zh-CN" dirty="0"/>
              <a:t>这也解释了为什么我不建议只看一个综合分。综合分把不同类型的错误压成了一个数字，而不同类型错误的后果，往往是不能互相补偿的。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两个候选都答对了二十四项里的二十项，这是同一个数字。但它们的失败落在完全不同的地方。</a:t>
            </a:r>
          </a:p>
          <a:p>
            <a:r>
              <a:rPr lang="zh-CN" dirty="0"/>
              <a:t>第一个候选主要的失败方式是漏写非关键说明，比如少写了一句备注、少列了一项待确认事项。这类问题人用之前读一遍就能发现，补上也很快。</a:t>
            </a:r>
          </a:p>
          <a:p>
            <a:r>
              <a:rPr lang="zh-CN" dirty="0"/>
              <a:t>第二个候选的问题是：在查询失败的时候，宣布预约已经成功。这是无依据的完成声明。它只出现几次，但每一次都可能让下游的人以为事情已经办好了。</a:t>
            </a:r>
          </a:p>
          <a:p>
            <a:r>
              <a:rPr lang="zh-CN" dirty="0"/>
              <a:t>如果这两个候选分别被派去起草活动宣传语，前者完全可以接受，人在发布前会自己看一遍。如果被派去自动处理预约状态，后者的那两次声明就值得优先分析，而且不能被更低的费用掩盖。</a:t>
            </a:r>
          </a:p>
          <a:p>
            <a:r>
              <a:rPr lang="zh-CN" dirty="0"/>
              <a:t>还有一句要提醒：候选乙在这二十四项里没有出现这类错误，也不代表它以后永远不会出现。零次观察不等于永不出错，它只说明这次没看到。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看到失败，不能只记一个失败就完事，要把每一个失败归到具体的类别里。</a:t>
            </a:r>
          </a:p>
          <a:p>
            <a:r>
              <a:rPr lang="zh-CN" dirty="0"/>
              <a:t>青禾这个练习可以用这几类：事实错误、约束遗漏、结构错误、工具结果误用、无依据完成、未完成。归类的意义在于，不同类的失败后果不一样。事实错误和约束遗漏会直接让方案不可用，结构错误往往还能让程序接手修正。</a:t>
            </a:r>
          </a:p>
          <a:p>
            <a:r>
              <a:rPr lang="zh-CN" dirty="0"/>
              <a:t>一次结果可能同时涉及多个问题，要事先说明是允许多标签，还是只指定一个主要原因；允许多标签时，不能把标签总数当成失败任务数。</a:t>
            </a:r>
          </a:p>
          <a:p>
            <a:r>
              <a:rPr lang="zh-CN" dirty="0"/>
              <a:t>开放部分用简短量表并保留评语与依据。条件允许时让评阅者不知道候选的名字，对相同样本独立评分，这样能减少品牌和风格偏好。</a:t>
            </a:r>
          </a:p>
          <a:p>
            <a:r>
              <a:rPr lang="zh-CN" dirty="0"/>
              <a:t>重试规则也要事先定：允许一次修正时，可以评价最多一次修正后的成功率，但首轮成功率和额外成本要一起保留。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到了做决定的时候，我想先反对一种做法：不要拿一个综合分去选模型。</a:t>
            </a:r>
          </a:p>
          <a:p>
            <a:r>
              <a:rPr lang="zh-CN" dirty="0"/>
              <a:t>综合分的问题在于，它把不同的任务平均在一起。一个模型可能在写文案上很出色，在核对冲突规则上却经常出错。平均下来它的分数也许还不错，但你的任务恰恰是核对冲突，那这个分数对你毫无意义。</a:t>
            </a:r>
          </a:p>
          <a:p>
            <a:r>
              <a:rPr lang="zh-CN" dirty="0"/>
              <a:t>所以正确的顺序是相反的。先确定你的任务里哪些条件是不可违反的，把它们作为门槛，看看候选能不能过。过了门槛之后，再看它在你的任务上成功率多高、花费多少、要等多久。</a:t>
            </a:r>
          </a:p>
          <a:p>
            <a:r>
              <a:rPr lang="zh-CN" dirty="0"/>
              <a:t>同一个模型，用在起草活动宣传语上可能是合适的，用在自动处理预约状态上就不一定。任务的性质不同，可接受的条件也不同。</a:t>
            </a:r>
          </a:p>
          <a:p>
            <a:r>
              <a:rPr lang="zh-CN" dirty="0"/>
              <a:t>选择结论必须绑定任务来描述，而不是宣告某个模型全面更好。这也是为什么我要先写清楚任务，再谈选择。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把选择落到数字上，来看一份纯教学假设的数据。二十四项评价，甲成功二十项，乙成功二十二项。</a:t>
            </a:r>
          </a:p>
          <a:p>
            <a:r>
              <a:rPr lang="zh-CN" dirty="0"/>
              <a:t>先检查有没有不能接受的失败。甲有两次无依据的完成声明，也就是在没有依据的情况下宣布事情已经办成；乙这次没有出现。</a:t>
            </a:r>
          </a:p>
          <a:p>
            <a:r>
              <a:rPr lang="zh-CN" dirty="0"/>
              <a:t>再看钱。甲的全部尝试费用是一点二零元，乙是三点三零元。但成功数不同，直接比总费用不公平，所以要用全部尝试费用除以成功任务数。甲是一点二零除以二十，等于零点零六元；乙是三点三零除以二十二，等于零点一五元。甲每成功一项更便宜，中位耗时八秒也比乙的十五秒快。</a:t>
            </a:r>
          </a:p>
          <a:p>
            <a:r>
              <a:rPr lang="zh-CN" dirty="0"/>
              <a:t>那是不是选甲？不一定。如果任务只是帮人起草宣传语，甲值得进一步考察，因为人会在使用前阅读和修改。如果任务是自动处理预约状态，那两次无依据的完成声明就值得优先分析，不能被更低的费用掩盖。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真正做决定的时候，顺序不能反。要先把不可违反的条件定下来，再去看成本。反过来做，很容易被一个便宜的价格吸引，最后发现它连门槛都过不了。</a:t>
            </a:r>
          </a:p>
          <a:p>
            <a:r>
              <a:rPr lang="zh-CN" dirty="0"/>
              <a:t>具体怎么写呢？比如事先要求：关键约束必须通过独立检查，检查不通过就停止交付。写下来之后，再比较通过了这条流程的任务成功率、时间和成本。这样比较的才是同一件事。</a:t>
            </a:r>
          </a:p>
          <a:p>
            <a:r>
              <a:rPr lang="zh-CN" dirty="0"/>
              <a:t>这里要补一句：独立检查本身也要验证。不能假定写了一个检查程序，它就永远正确。检查器也有它自己的错误率，它也会漏掉某些冲突。</a:t>
            </a:r>
          </a:p>
          <a:p>
            <a:r>
              <a:rPr lang="zh-CN" dirty="0"/>
              <a:t>还有一种情况值得说：有时候适合用不同的模型承担不同的任务。起草文本和检查复杂冲突，对模型的要求确实不一样。但增加分工也会增加输入传递、结果整合和调用成本。</a:t>
            </a:r>
          </a:p>
          <a:p>
            <a:r>
              <a:rPr lang="zh-CN" dirty="0"/>
              <a:t>最重要的提醒是，这种组合应当被当成一个全新的候选，重新评价，而不是把两个单独模型各自最好的成绩加在一起。那种加法在现实里不成立。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方法讲完了，接下来要把它装进本书真正要做的两类任务里。</a:t>
            </a:r>
          </a:p>
          <a:p>
            <a:r>
              <a:rPr lang="zh-CN" dirty="0"/>
              <a:t>第一类在第二章，是活动筹备助手。它需要读取文件、形成结构化结果、调用查询或检查工具，并且在缺少资料的时候正确停下来。这类任务的评价重点在约束、来源、执行和交付。它不需要多轮的自我意识，但必须守住执行边界。</a:t>
            </a:r>
          </a:p>
          <a:p>
            <a:r>
              <a:rPr lang="zh-CN" dirty="0"/>
              <a:t>第二类在第三章，是仿真角色。除了读资料，它还要在多轮过程中理解自己当前的位置、看得到什么信息、有哪些私有记忆，以及工具返回了什么。它要按照世界合同来选择行动。评价重点就变成了跨步的一致性、动作参数、信息边界、记忆使用和调用成本。</a:t>
            </a:r>
          </a:p>
          <a:p>
            <a:r>
              <a:rPr lang="zh-CN" dirty="0"/>
              <a:t>两类的硬约束和证据都不一样。所以同一套步骤要走两遍，各写一份选择说明，不能合成一份。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把整套做法收成一条可以照着填的五步流程。</a:t>
            </a:r>
          </a:p>
          <a:p>
            <a:r>
              <a:rPr lang="zh-CN" dirty="0"/>
              <a:t>第一步是任务，先写清楚要处理什么、资料从哪里来、边界在哪里。第二步是条件，列出哪些是关键验收项，哪些约束不能靠平均分补偿。第三步是比较，说明用哪个模型、产品或应用组合，各自的版本是什么，其余设置如何保持一致。第四步是证据，记下成功数、失败类型、时间与成本，以及原始记录保存在哪里。第五步是复查，写清楚当模型、提示、工具或任务材料发生变化时，需要重新测试。</a:t>
            </a:r>
          </a:p>
          <a:p>
            <a:r>
              <a:rPr lang="zh-CN" dirty="0"/>
              <a:t>这五步的顺序是有讲究的。任务定义不清楚，条件就无从谈起；条件没定，比较就没有门槛；证据不记，复查也无从下手。</a:t>
            </a:r>
          </a:p>
          <a:p>
            <a:r>
              <a:rPr lang="zh-CN" dirty="0"/>
              <a:t>最后一步经常被忽略，但它其实最有用。因为现实里模型会更新、提示会改、工具会换，任何一次选择都不是终身的，而是附带复查条件的。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两类任务要观察的东西确实不一样。</a:t>
            </a:r>
          </a:p>
          <a:p>
            <a:r>
              <a:rPr lang="zh-CN" dirty="0"/>
              <a:t>活动筹备助手要能读取文件，把结果整理成结构化的形式，调用查询或检查的工具，并且在资料缺失的时候正确停下来，而不是硬着头皮编一个。它的评价重点是约束是否守住、来源是否清楚、执行是否真实、交付是否完整。</a:t>
            </a:r>
          </a:p>
          <a:p>
            <a:r>
              <a:rPr lang="zh-CN" dirty="0"/>
              <a:t>仿真角色的要求更多。它要在多轮过程中理解自己现在在哪里、看得到哪些信息、有哪些只有自己知道的记忆，还要读懂工具返回了什么，然后按照世界合同去选择行动。所以评价重点转向跨步的一致性、动作参数是否合法、信息边界有没有被越过、记忆用得对不对，以及调用成本。</a:t>
            </a:r>
          </a:p>
          <a:p>
            <a:r>
              <a:rPr lang="zh-CN" dirty="0"/>
              <a:t>最后这一点特别容易混：这些测试要和内核检查分开看。模型没有提出第二次世界动作，不能据此证明内核一定会拒绝第二次提交；反过来，内核正确拒绝了非法动作，也不说明角色已经完成了业务目标。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剩下的时间交给你自己动手。这里准备了五道练习，每一道都对应前面讲过的某一件事。</a:t>
            </a:r>
          </a:p>
          <a:p>
            <a:r>
              <a:rPr lang="zh-CN" dirty="0"/>
              <a:t>第一道练证据意识。助手说了三句话，容量十二人、已经预约十点半、你喜欢简短报告，你要分别说出每一句需要什么证据。关键问题是：只在回答里写出这些文字，能证明哪一项已经成立。</a:t>
            </a:r>
          </a:p>
          <a:p>
            <a:r>
              <a:rPr lang="zh-CN" dirty="0"/>
              <a:t>第二道练指标计算。十条必需约束，模型输出十条，八条正确、两条不存在，还漏掉两条必需约束。你要算出精确率、召回率和 F1。算完之后还要再想一步：如果漏掉的恰好是预约冲突条件，为什么总体 F1 不能直接代表方案可执行。</a:t>
            </a:r>
          </a:p>
          <a:p>
            <a:r>
              <a:rPr lang="zh-CN" dirty="0"/>
              <a:t>第三道练概率与假设。每次独立成功概率零点八，给两次机会，至少成功一次和两次都成功的概率分别是多少，以及现实里哪些因素会破坏独立同分布。</a:t>
            </a:r>
          </a:p>
          <a:p>
            <a:r>
              <a:rPr lang="zh-CN" dirty="0"/>
              <a:t>第四道读数据卡，第五道设计自己的小评价。后两道没有唯一答案，重点是你能不能把条件、证据、分母和失败处理写清楚。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练习一，助手说手作室只能容纳十二人、已预约十点半、你一直喜欢简短报告。三句话各自的证据不同：容量要有效的场地资料或查询结果，预约完成要真实执行及状态证据，偏好要用户明确表达或可追溯的有效记忆。只在回答里写出这些文字，只能证明它说出来了。</a:t>
            </a:r>
          </a:p>
          <a:p>
            <a:r>
              <a:rPr lang="zh-CN" dirty="0"/>
              <a:t>练习二，十条必需约束，输出十条，八条正确、两条不存在、漏掉两条。TP 是 8、FP 是 2、FN 是 2，所以准确率、召回率与 F1 都是零点八。但指标把约束按同一种单位计数，而预约冲突属于不可违反的边界，必须单独列出是否满足。</a:t>
            </a:r>
          </a:p>
          <a:p>
            <a:r>
              <a:rPr lang="zh-CN" dirty="0"/>
              <a:t>练习三，独立成功概率零点八，两次机会里至少成功一次是零点九六，两次都成功是零点六四。重试时改提示、共享先前状态或服务配置变化，都会破坏独立同分布的假设。</a:t>
            </a:r>
          </a:p>
          <a:p>
            <a:r>
              <a:rPr lang="zh-CN" dirty="0"/>
              <a:t>练习四、五没有唯一文字答案，重点是能否写清条件、证据、分母与失败处理。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练习的参考思路，我把关键点串一遍。</a:t>
            </a:r>
          </a:p>
          <a:p>
            <a:r>
              <a:rPr lang="zh-CN" dirty="0"/>
              <a:t>练习一里，容量需要有效的场地资料或者查询结果；预约完成需要真实执行和状态证据；偏好需要用户明确的表达，或者可追溯的有效记忆。单独一段回答不能证明外部预约已经发生，它只证明了模型写下了这句话。</a:t>
            </a:r>
          </a:p>
          <a:p>
            <a:r>
              <a:rPr lang="zh-CN" dirty="0"/>
              <a:t>练习二算出的三个指标都是零点八，因为真正正确的是八条，凭空多出来的是两条，漏掉的是两条。但指标把约束按同一种单位计数，而实际执行时某些条件是不可违反的边界。十条约束里漏掉一条普通说明，和漏掉预约冲突，后果完全不同。</a:t>
            </a:r>
          </a:p>
          <a:p>
            <a:r>
              <a:rPr lang="zh-CN" dirty="0"/>
              <a:t>练习三，至少一次成功是零点九六，两次都成功是零点六四。这两个数依赖每次尝试独立同分布，而真实的重试往往会改变提示、共享先前状态或者遇到不同的难度。</a:t>
            </a:r>
          </a:p>
          <a:p>
            <a:r>
              <a:rPr lang="zh-CN" dirty="0"/>
              <a:t>练习四和练习五没有唯一文字答案。评价重点是能不能明确条件、证据、分母和失败处理，而不是你有没有选中某个品牌。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第一章到这里就结束了，我们回头看一眼走过的路。</a:t>
            </a:r>
          </a:p>
          <a:p>
            <a:r>
              <a:rPr lang="zh-CN" dirty="0"/>
              <a:t>这一切是从一件很小的事开始的：青禾社区学习中心要办一次开放日，助手很快写出了一份活动方案。但这份方案有没有读对材料、有没有满足房间容量、有没有避开预约冲突，需要另外去检查。</a:t>
            </a:r>
          </a:p>
          <a:p>
            <a:r>
              <a:rPr lang="zh-CN" dirty="0"/>
              <a:t>我们先认识了大模型本身，从训练、Token、上下文讲到知识与记忆。然后拆开了能力来源，看清资料、工具、模型、执行与校验怎样配合。接着把聪明变成可以测量的问题，用算例理解指标、分母和重复成功，再逐项读十类能力的指标，学会读有日期、有配置、有出处的公开成绩。</a:t>
            </a:r>
          </a:p>
          <a:p>
            <a:r>
              <a:rPr lang="zh-CN" dirty="0"/>
              <a:t>最后回到手上的任务：选模型不该去找最强的那一个，而要先把自己的任务写成可核对的样子。下一章把这些认识变成具体操作，通过 OpenAI API 与 WorkBuddy 真的把活动筹备做出来。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6.xml"/></Relationships>
</file>

<file path=ppt/slides/_rels/slide2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7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notes={`前面五节，我们把大模型是什么、能力从哪里来、怎么测量、当前水平如何，都过了一遍。走到这里，要换一个问法：不再问哪一个模型最强，而是问我手上这件事，哪一种配置更合适。&#10;&#10;这个转变很关键。追最强模型是一条永远追不完的路，因为榜单在变、版本在变，而你的任务只有一个。反过来，如果先把任务写清楚，把条件固定下来，选择就变成一件可以动手做完的事。&#10;&#10;这一节给出一套五步做法：写清可核验的目标，准备小而有区分度的任务集，固定比较条件，先看错误分布，最后按任务而不是按一个综合分下结论。它用的是青禾的虚构材料，不需要先搭建完整仿真系统，第二章之后可以用真实的 API 和产品把同一套练习再跑一遍。`} style={{ width: 1280, height: 720, background: '#FFFFFF', flexDirection: 'column', padding: '20px 64px', justifyContent: 'center' }}&gt;&#10;&#10;    &lt;Box style={{ flexDirection: 'row', gap: 56, alignItems: 'center', height: 640 }}&gt;&#10;&#10;        &lt;Box style={{ width: 560, flexDirection: 'column', gap: 16 }}&gt;&#10;            &lt;Text style={{ fontSize: 14, color: '#276FBF' }}&gt;第一章　认识大模型，读懂能力与评价　·　1.6&lt;/Text&gt;&#10;            &lt;Text style={{ fontSize: 52, fontWeight: 'bold', color: '#20344B', lineHeight: 1.2 }}&gt;为自己的任务选择模型&lt;/Text&gt;&#10;            &lt;Box style={{ width: 72, height: 4, background: '#276FBF' }} /&gt;&#10;            &lt;Text style={{ fontSize: 17, color: '#546779', lineHeight: 1.75 }}&gt;不先找最强的模型，而是先把任务写成可以核对的样子。这份选择说明要能被另一个人看懂。&lt;/Text&gt;&#10;            &lt;Box style={{ flexDirection: 'row', gap: 12, alignItems: 'center', paddingTop: 6 }}&gt;&#10;                &lt;Box style={{ width: 3, height: 40, background: '#CB6B28' }} /&gt;&#10;                &lt;Text style={{ fontSize: 15, color: '#546779', lineHeight: 1.6 }}&gt;五步走完，才能回答：它凭什么适合我这件事。&lt;/Text&gt;&#10;            &lt;/Box&gt;&#10;        &lt;/Box&gt;&#10;&#10;        &lt;Box style={{ width: 536, flexDirection: 'column', gap: 12 }}&gt;&#10;&#10;            &lt;Box style={{ height: 92, background: '#EDF4FC', borderRadius: 10, padding: '0 22px', flexDirection: 'row', alignItems: 'center', gap: 18 }}&gt;&#10;                &lt;Box style={{ width: 40, height: 40, borderRadius: 8, background: '#276FBF', justifyContent: 'center', alignItems: 'center' }}&gt;&#10;                    &lt;Text style={{ fontSize: 16, fontWeight: 'bold', color: '#FFFFFF' }}&gt;01&lt;/Text&gt;&#10;                &lt;/Box&gt;&#10;                &lt;Box style={{ flexDirection: 'column', gap: 2 }}&gt;&#10;                    &lt;Text style={{ fontSize: 18, fontWeight: 'bold', color: '#20344B' }}&gt;写清任务&lt;/Text&gt;&#10;                    &lt;Text style={{ fontSize: 14, color: '#546779' }}&gt;把目标写成可核验的结果，再转成检查项&lt;/Text&gt;&#10;                &lt;/Box&gt;&#10;            &lt;/Box&gt;&#10;&#10;            &lt;Box style={{ height: 92, background: '#EDF4FC', borderRadius: 10, padding: '0 22px', flexDirection: 'row', alignItems: 'center', gap: 18 }}&gt;&#10;                &lt;Box style={{ width: 40, height: 40, borderRadius: 8, background: '#276FBF', justifyContent: 'center', alignItems: 'center' }}&gt;&#10;                    &lt;Text style={{ fontSize: 16, fontWeight: 'bold', color: '#FFFFFF' }}&gt;02&lt;/Text&gt;&#10;                &lt;/Box&gt;&#10;                &lt;Box style={{ flexDirection: 'column', gap: 2 }}&gt;&#10;                    &lt;Text style={{ fontSize: 18, fontWeight: 'bold', color: '#20344B' }}&gt;备好题目&lt;/Text&gt;&#10;                    &lt;Text style={{ fontSize: 14, color: '#546779' }}&gt;八项练习可改，二十四项评价先冻结&lt;/Text&gt;&#10;                &lt;/Box&gt;&#10;            &lt;/Box&gt;&#10;&#10;            &lt;Box style={{ height: 92, background: '#EDF4FC', borderRadius: 10, padding: '0 22px', flexDirection: 'row', alignItems: 'center', gap: 18 }}&gt;&#10;                &lt;Box style={{ width: 40, height: 40, borderRadius: 8, background: '#276FBF', justifyContent: 'center', alignItems: 'center' }}&gt;&#10;                    &lt;Text style={{ fontSize: 16, fontWeight: 'bold', color: '#FFFFFF' }}&gt;03&lt;/Text&gt;&#10;                &lt;/Box&gt;&#10;                &lt;Box style={{ flexDirection: 'column', gap: 2 }}&gt;&#10;                    &lt;Text style={{ fontSize: 18, fontWeight: 'bold', color: '#20344B' }}&gt;固定条件&lt;/Text&gt;&#10;                    &lt;Text style={{ fontSize: 14, color: '#546779' }}&gt;材料、提示、工具与设置一致，说清比较单位&lt;/Text&gt;&#10;                &lt;/Box&gt;&#10;            &lt;/Box&gt;&#10;&#10;            &lt;Box style={{ height: 92, background: '#EDF4FC', borderRadius: 10, padding: '0 22px', flexDirection: 'row', alignItems: 'center', gap: 18 }}&gt;&#10;                &lt;Box style={{ width: 40, height: 40, borderRadius: 8, background: '#CB6B28', justifyContent: 'center', alignItems: 'center' }}&gt;&#10;                    &lt;Text style={{ fontSize: 16, fontWeight: 'bold', color: '#FFFFFF' }}&gt;04&lt;/Text&gt;&#10;                &lt;/Box&gt;&#10;                &lt;Box style={{ flexDirection: 'column', gap: 2 }}&gt;&#10;                    &lt;Text style={{ fontSize: 18, fontWeight: 'bold', color: '#20344B' }}&gt;看错误分布&lt;/Text&gt;&#10;                    &lt;Text style={{ fontSize: 14, color: '#546779' }}&gt;同样答对数，失败类型可能完全相反&lt;/Text&gt;&#10;                &lt;/Box&gt;&#10;            &lt;/Box&gt;&#10;&#10;            &lt;Box style={{ height: 92, background: '#ECF7F2', borderRadius: 10, padding: '0 22px', flexDirection: 'row', alignItems: 'center', gap: 18 }}&gt;&#10;                &lt;Box style={{ width: 40, height: 40, borderRadius: 8, background: '#26816B', justifyContent: 'center', alignItems: 'center' }}&gt;&#10;                    &lt;Text style={{ fontSize: 16, fontWeight: 'bold', color: '#FFFFFF' }}&gt;05&lt;/Text&gt;&#10;                &lt;/Box&gt;&#10;                &lt;Box style={{ flexDirection: 'column', gap: 2 }}&gt;&#10;                    &lt;Text style={{ fontSize: 18, fontWeight: 'bold', color: '#20344B' }}&gt;按任务下结论&lt;/Text&gt;&#10;                    &lt;Text style={{ fontSize: 14, color: '#546779' }}&gt;先定不可违反的条件，再比单位成功成本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1.6 为自己的任务选择模型&lt;/Text&gt;&#10;        &lt;Text style={{ fontSize: 14, color: '#546779' }}&gt;01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609600" y="1914525"/>
            <a:ext cx="533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第一章　认识大模型，读懂能力与评价　·　</a:t>
            </a: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>1.6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609600" y="2228850"/>
            <a:ext cx="5334000" cy="7143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为自己的任务选择模型</a:t>
            </a:r>
            <a:endParaRPr/>
          </a:p>
        </p:txBody>
      </p:sp>
      <p:sp>
        <p:nvSpPr>
          <p:cNvPr id="5" name=""/>
          <p:cNvSpPr/>
          <p:nvPr/>
        </p:nvSpPr>
        <p:spPr>
          <a:xfrm rot="0" flipH="0" flipV="0">
            <a:off x="609600" y="309562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09600" y="3286125"/>
            <a:ext cx="53340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不先找最强的模型，而是先把任务写成可以核对的样子。这份选择说明要能被另一个人看懂。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609600" y="4181475"/>
            <a:ext cx="28575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752475" y="4238625"/>
            <a:ext cx="30003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五步走完，才能回答：它凭什么适合我这件事。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6477000" y="819150"/>
            <a:ext cx="5105400" cy="876300"/>
          </a:xfrm>
          <a:prstGeom prst="roundRect">
            <a:avLst>
              <a:gd name="adj" fmla="val 1087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0" name=""/>
          <p:cNvSpPr/>
          <p:nvPr/>
        </p:nvSpPr>
        <p:spPr>
          <a:xfrm rot="0" flipH="0" flipV="0">
            <a:off x="6686550" y="10668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6781800" y="1162050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7239000" y="1066800"/>
            <a:ext cx="2400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写清任务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7239000" y="1295400"/>
            <a:ext cx="240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把目标写成可核验的结果，再转成检查项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6477000" y="1809750"/>
            <a:ext cx="5105400" cy="876300"/>
          </a:xfrm>
          <a:prstGeom prst="roundRect">
            <a:avLst>
              <a:gd name="adj" fmla="val 1087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5" name=""/>
          <p:cNvSpPr/>
          <p:nvPr/>
        </p:nvSpPr>
        <p:spPr>
          <a:xfrm rot="0" flipH="0" flipV="0">
            <a:off x="6686550" y="20574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6781800" y="2152650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7239000" y="2057400"/>
            <a:ext cx="2133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备好题目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7239000" y="2286000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八项练习可改，二十四项评价先冻结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6477000" y="2800350"/>
            <a:ext cx="5105400" cy="876300"/>
          </a:xfrm>
          <a:prstGeom prst="roundRect">
            <a:avLst>
              <a:gd name="adj" fmla="val 1087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0" name=""/>
          <p:cNvSpPr/>
          <p:nvPr/>
        </p:nvSpPr>
        <p:spPr>
          <a:xfrm rot="0" flipH="0" flipV="0">
            <a:off x="6686550" y="30480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781800" y="3143250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7239000" y="3048000"/>
            <a:ext cx="2667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固定条件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7239000" y="3276600"/>
            <a:ext cx="2667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材料、提示、工具与设置一致，说清比较单位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6477000" y="3790950"/>
            <a:ext cx="5105400" cy="876300"/>
          </a:xfrm>
          <a:prstGeom prst="roundRect">
            <a:avLst>
              <a:gd name="adj" fmla="val 1087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5" name=""/>
          <p:cNvSpPr/>
          <p:nvPr/>
        </p:nvSpPr>
        <p:spPr>
          <a:xfrm rot="0" flipH="0" flipV="0">
            <a:off x="6686550" y="40386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6781800" y="4133850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7239000" y="4038600"/>
            <a:ext cx="2133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看错误分布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7239000" y="4267200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同样答对数，失败类型可能完全相反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6477000" y="4781550"/>
            <a:ext cx="5105400" cy="876300"/>
          </a:xfrm>
          <a:prstGeom prst="roundRect">
            <a:avLst>
              <a:gd name="adj" fmla="val 1087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0" name=""/>
          <p:cNvSpPr/>
          <p:nvPr/>
        </p:nvSpPr>
        <p:spPr>
          <a:xfrm rot="0" flipH="0" flipV="0">
            <a:off x="6686550" y="50292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6781800" y="5124450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7239000" y="5029200"/>
            <a:ext cx="2400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按任务下结论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7239000" y="5257800"/>
            <a:ext cx="240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先定不可违反的条件，再比单位成功成本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为自己的任务选择模型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01 / 27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286" name="" descr="&lt;Slide notes={`选模型这件事，最怕的是从结论开始。看到某个榜单第一，就先认定它，然后再去找理由。往回收一步，把选择变成七个可以依次完成的知识块。&#10;&#10;先把目标写成可核验的结果。写一份好方案这句话太软，它可以指文字好看，也可以指方案已经被相关系统保存。先把任务限定死，检查项才立得住。接着准备题目，八项练习用来改提示和评分规则，二十四项评价在开始比较之前冻结，两者不能混在一起算成绩。&#10;&#10;然后固定条件。比较的是两个裸模型，还是两个已经配好工具的应用，这个必须说清楚，否则差异是从哪来的就讲不清。再往后看失败分类，而不是只看总分。最后按任务下结论，并为活动助手和仿真角色分别写一份选择说明。七个知识块之后，有五道练习，把方法落到自己手上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本节导读&lt;/Text&gt;&#10;            &lt;Text style={{ fontSize: 34, fontWeight: 'bold', color: '#20344B' }}&gt;七个知识块，走完一次完整的选择&lt;/Text&gt;&#10;        &lt;/Box&gt;&#10;    &lt;/Box&gt;&#10;&#10;    &lt;Box style={{ height: 540, flexDirection: 'row', gap: 40 }}&gt;&#10;&#10;        &lt;Box style={{ width: 340, flexDirection: 'column', justifyContent: 'center', gap: 16 }}&gt;&#10;            &lt;Text style={{ fontSize: 25, fontWeight: 'bold', color: '#276FBF', lineHeight: 1.45 }}&gt;它凭什么适合我这件事？&lt;/Text&gt;&#10;            &lt;Box style={{ width: 56, height: 3, background: '#26816B' }} /&gt;&#10;            &lt;Text style={{ fontSize: 17, color: '#546779', lineHeight: 1.75 }}&gt;从把目标写清楚开始，一路走到写下一份别人能看懂的选择说明。前五块是五步做法，第六块把它们装进本书的两类任务里，第七块交给你自己动手。&lt;/Text&gt;&#10;        &lt;/Box&gt;&#10;&#10;        &lt;Box style={{ flex: 1, flexDirection: 'column', justifyContent: 'center', gap: 6 }}&gt;&#10;&#10;            &lt;Box style={{ height: 66, flexDirection: 'row', gap: 16, alignItems: 'center' }}&gt;&#10;                &lt;Box style={{ width: 40, height: 40, borderRadius: 8, background: '#276FBF', justifyContent: 'center', alignItems: 'center' }}&gt;&#10;                    &lt;Text style={{ fontSize: 16, fontWeight: 'bold', color: '#FFFFFF' }}&gt;01&lt;/Text&gt;&#10;                &lt;/Box&gt;&#10;                &lt;Box style={{ flexDirection: 'column', gap: 3 }}&gt;&#10;                    &lt;Text style={{ fontSize: 19, fontWeight: 'bold', color: '#20344B' }}&gt;把目标写成可核验的结果&lt;/Text&gt;&#10;                    &lt;Text style={{ fontSize: 15, color: '#546779' }}&gt;写清做什么、不做什么，再把它转成五项检查项&lt;/Text&gt;&#10;                &lt;/Box&gt;&#10;            &lt;/Box&gt;&#10;&#10;            &lt;Box style={{ height: 66, flexDirection: 'row', gap: 16, alignItems: 'center' }}&gt;&#10;                &lt;Box style={{ width: 40, height: 40, borderRadius: 8, background: '#276FBF', justifyContent: 'center', alignItems: 'center' }}&gt;&#10;                    &lt;Text style={{ fontSize: 16, fontWeight: 'bold', color: '#FFFFFF' }}&gt;02&lt;/Text&gt;&#10;                &lt;/Box&gt;&#10;                &lt;Box style={{ flexDirection: 'column', gap: 3 }}&gt;&#10;                    &lt;Text style={{ fontSize: 19, fontWeight: 'bold', color: '#20344B' }}&gt;准备小而有区分度的任务集&lt;/Text&gt;&#10;                    &lt;Text style={{ fontSize: 15, color: '#546779' }}&gt;八项练习可以反复改，二十四项评价在比较前冻结&lt;/Text&gt;&#10;                &lt;/Box&gt;&#10;            &lt;/Box&gt;&#10;&#10;            &lt;Box style={{ height: 66, flexDirection: 'row', gap: 16, alignItems: 'center' }}&gt;&#10;                &lt;Box style={{ width: 40, height: 40, borderRadius: 8, background: '#276FBF', justifyContent: 'center', alignItems: 'center' }}&gt;&#10;                    &lt;Text style={{ fontSize: 16, fontWeight: 'bold', color: '#FFFFFF' }}&gt;03&lt;/Text&gt;&#10;                &lt;/Box&gt;&#10;                &lt;Box style={{ flexDirection: 'column', gap: 3 }}&gt;&#10;                    &lt;Text style={{ fontSize: 19, fontWeight: 'bold', color: '#20344B' }}&gt;固定比较条件&lt;/Text&gt;&#10;                    &lt;Text style={{ fontSize: 15, color: '#546779' }}&gt;先说明比的是裸模型还是完整应用，再固定其余条件&lt;/Text&gt;&#10;                &lt;/Box&gt;&#10;            &lt;/Box&gt;&#10;&#10;            &lt;Box style={{ height: 66, flexDirection: 'row', gap: 16, alignItems: 'center' }}&gt;&#10;                &lt;Box style={{ width: 40, height: 40, borderRadius: 8, background: '#276FBF', justifyContent: 'center', alignItems: 'center' }}&gt;&#10;                    &lt;Text style={{ fontSize: 16, fontWeight: 'bold', color: '#FFFFFF' }}&gt;04&lt;/Text&gt;&#10;                &lt;/Box&gt;&#10;                &lt;Box style={{ flexDirection: 'column', gap: 3 }}&gt;&#10;                    &lt;Text style={{ fontSize: 19, fontWeight: 'bold', color: '#20344B' }}&gt;先看错误分布，再看总分&lt;/Text&gt;&#10;                    &lt;Text style={{ fontSize: 15, color: '#546779' }}&gt;同样答对二十项，失败类型可能完全不同&lt;/Text&gt;&#10;                &lt;/Box&gt;&#10;            &lt;/Box&gt;&#10;&#10;            &lt;Box style={{ height: 66, flexDirection: 'row', gap: 16, alignItems: 'center' }}&gt;&#10;                &lt;Box style={{ width: 40, height: 40, borderRadius: 8, background: '#26816B', justifyContent: 'center', alignItems: 'center' }}&gt;&#10;                    &lt;Text style={{ fontSize: 16, fontWeight: 'bold', color: '#FFFFFF' }}&gt;05&lt;/Text&gt;&#10;                &lt;/Box&gt;&#10;                &lt;Box style={{ flexDirection: 'column', gap: 3 }}&gt;&#10;                    &lt;Text style={{ fontSize: 19, fontWeight: 'bold', color: '#20344B' }}&gt;按任务选择，而不是按一个综合分选择&lt;/Text&gt;&#10;                    &lt;Text style={{ fontSize: 15, color: '#546779' }}&gt;先定不可违反的条件，再比每项成功任务的花费&lt;/Text&gt;&#10;                &lt;/Box&gt;&#10;            &lt;/Box&gt;&#10;&#10;            &lt;Box style={{ height: 66, flexDirection: 'row', gap: 16, alignItems: 'center' }}&gt;&#10;                &lt;Box style={{ width: 40, height: 40, borderRadius: 8, background: '#26816B', justifyContent: 'center', alignItems: 'center' }}&gt;&#10;                    &lt;Text style={{ fontSize: 16, fontWeight: 'bold', color: '#FFFFFF' }}&gt;06&lt;/Text&gt;&#10;                &lt;/Box&gt;&#10;                &lt;Box style={{ flexDirection: 'column', gap: 3 }}&gt;&#10;                    &lt;Text style={{ fontSize: 19, fontWeight: 'bold', color: '#20344B' }}&gt;为两类任务分别写选择说明&lt;/Text&gt;&#10;                    &lt;Text style={{ fontSize: 15, color: '#546779' }}&gt;活动助手与仿真角色，任务不同，要看的证据也不同&lt;/Text&gt;&#10;                &lt;/Box&gt;&#10;            &lt;/Box&gt;&#10;&#10;            &lt;Box style={{ height: 66, flexDirection: 'row', gap: 16, alignItems: 'center' }}&gt;&#10;                &lt;Box style={{ width: 40, height: 40, borderRadius: 8, background: '#CB6B28', justifyContent: 'center', alignItems: 'center' }}&gt;&#10;                    &lt;Text style={{ fontSize: 16, fontWeight: 'bold', color: '#FFFFFF' }}&gt;07&lt;/Text&gt;&#10;                &lt;/Box&gt;&#10;                &lt;Box style={{ flexDirection: 'column', gap: 3 }}&gt;&#10;                    &lt;Text style={{ fontSize: 19, fontWeight: 'bold', color: '#20344B' }}&gt;章末练习与参考思路&lt;/Text&gt;&#10;                    &lt;Text style={{ fontSize: 15, color: '#546779' }}&gt;五道练习，把这一套方法落到自己的任务上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1.6 为自己的任务选择模型&lt;/Text&gt;&#10;        &lt;Text style={{ fontSize: 14, color: '#546779' }}&gt;02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85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本节导读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8577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七个知识块，走完一次完整的选择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609600" y="2657475"/>
            <a:ext cx="3238500" cy="4191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75" b="1">
                <a:solidFill>
                  <a:srgbClr val="276FBF"/>
                </a:solidFill>
                <a:latin typeface="Microsoft YaHei"/>
                <a:ea typeface="Microsoft YaHei"/>
              </a:rPr>
              <a:t>它凭什么适合我这件事？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609600" y="3228975"/>
            <a:ext cx="533400" cy="28575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609600" y="3409950"/>
            <a:ext cx="3238500" cy="1362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从把目标写清楚开始，一路走到写下一份别人能看懂的选择说明。前五块是五步做法，第六块把它们装进本书的两类任务里，第七块交给你自己动手。</a:t>
            </a:r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4229100" y="14668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4324350" y="1562100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4762500" y="1447800"/>
            <a:ext cx="3000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把目标写成可核验的结果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4762500" y="1695450"/>
            <a:ext cx="3000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写清做什么、不做什么，再把它转成五项检查项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4229100" y="21526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4324350" y="2247900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4762500" y="2133600"/>
            <a:ext cx="3143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准备小而有区分度的任务集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4762500" y="2381250"/>
            <a:ext cx="3143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八项练习可以反复改，二十四项评价在比较前冻结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4229100" y="28384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4324350" y="2933700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4762500" y="2819400"/>
            <a:ext cx="32861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固定比较条件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4762500" y="3067050"/>
            <a:ext cx="3286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先说明比的是裸模型还是完整应用，再固定其余条件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4229100" y="35242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4324350" y="3619500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4762500" y="3505200"/>
            <a:ext cx="2571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先看错误分布，再看总分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4762500" y="3752850"/>
            <a:ext cx="2571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同样答对二十项，失败类型可能完全不同</a:t>
            </a:r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4229100" y="42100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4324350" y="4305300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4762500" y="4191000"/>
            <a:ext cx="30765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按任务选择，而不是按一个综合分选择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4762500" y="4438650"/>
            <a:ext cx="3076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先定不可违反的条件，再比每项成功任务的花费</a:t>
            </a:r>
            <a:endParaRPr/>
          </a:p>
        </p:txBody>
      </p:sp>
      <p:sp>
        <p:nvSpPr>
          <p:cNvPr id="314" name=""/>
          <p:cNvSpPr/>
          <p:nvPr/>
        </p:nvSpPr>
        <p:spPr>
          <a:xfrm rot="0" flipH="0" flipV="0">
            <a:off x="4229100" y="48958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4324350" y="4991100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4762500" y="4876800"/>
            <a:ext cx="32861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为两类任务分别写选择说明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4762500" y="5124450"/>
            <a:ext cx="3286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活动助手与仿真角色，任务不同，要看的证据也不同</a:t>
            </a:r>
            <a:endParaRPr/>
          </a:p>
        </p:txBody>
      </p:sp>
      <p:sp>
        <p:nvSpPr>
          <p:cNvPr id="318" name=""/>
          <p:cNvSpPr/>
          <p:nvPr/>
        </p:nvSpPr>
        <p:spPr>
          <a:xfrm rot="0" flipH="0" flipV="0">
            <a:off x="4229100" y="55816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4324350" y="5676900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07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4762500" y="5562600"/>
            <a:ext cx="27146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章末练习与参考思路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4762500" y="5810250"/>
            <a:ext cx="2714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五道练习，把这一套方法落到自己的任务上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为自己的任务选择模型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02 / 27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535" name="" descr="&lt;Slide notes={`把目标写清楚，是所有比较的地基。写一份好方案这句话不够具体，它可以意味着文字好看，也可以意味着安排完整、没有冲突，甚至意味着方案已经被相关系统保存下来。这几种理解指向的是完全不同的标准。&#10;&#10;为了让评价时不会临时改标准，我先把本次任务限定死：根据提供的材料生成开放日方案，正确处理房间容量、时间和预约；缺少信息时明确标出；每项关键安排给出依据。同时划出边界，不执行真实预约，也不以文字声称已经执行。&#10;&#10;这一段话同时定了两件事。一件是能力需求，模型要理解材料、组织约束、产生方案，并且表达出哪些地方还不确定。另一件是执行边界，它不需要自己决定活动经费，更不能在没有工具的情况下宣布预约已经完成。接下来要做的是把这些要求翻译成一条条可以观察、可以核对的检查项。`} style={{ width: 1280, height: 720, background: '#FFFFFF', flexDirection: 'column', padding: '20px 64px' }}&gt;&#10;&#10;    &lt;Box style={{ height: 100 }} /&gt;&#10;&#10;    &lt;Box style={{ height: 540, flexDirection: 'column', justifyContent: 'center', alignItems: 'center', gap: 26 }}&gt;&#10;&#10;        &lt;Text style={{ fontSize: 14, color: '#276FBF' }}&gt;1.6.1　第一步&lt;/Text&gt;&#10;        &lt;Text style={{ fontSize: 56, fontWeight: 'bold', color: '#20344B', lineHeight: 1.15 }}&gt;把目标写成可核验的结果&lt;/Text&gt;&#10;        &lt;Text style={{ fontSize: 17, color: '#546779' }}&gt;先限定任务，检查项才立得住&lt;/Text&gt;&#10;&#10;        &lt;Box style={{ flexDirection: 'row', gap: 24, alignItems: 'center', paddingTop: 12 }}&gt;&#10;&#10;            &lt;Box style={{ width: 480, height: 120, background: '#F7F3E8', borderRadius: 12, justifyContent: 'center', alignItems: 'center', flexDirection: 'column', gap: 6 }}&gt;&#10;                &lt;Text style={{ fontSize: 20, fontWeight: 'bold', color: '#20344B' }}&gt;一段可核验的目标&lt;/Text&gt;&#10;                &lt;Text style={{ fontSize: 15, color: '#546779' }}&gt;做什么、不做什么，一次说清&lt;/Text&gt;&#10;            &lt;/Box&gt;&#10;&#10;            &lt;Box style={{ width: 44, alignItems: 'center', justifyContent: 'center' }}&gt;&#10;                &lt;Text style={{ fontSize: 32, color: '#276FBF' }}&gt;›&lt;/Text&gt;&#10;            &lt;/Box&gt;&#10;&#10;            &lt;Box style={{ width: 480, height: 120, background: '#ECF7F2', borderRadius: 12, justifyContent: 'center', alignItems: 'center', flexDirection: 'column', gap: 6 }}&gt;&#10;                &lt;Text style={{ fontSize: 20, fontWeight: 'bold', color: '#20344B' }}&gt;五项可观察的检查项&lt;/Text&gt;&#10;                &lt;Text style={{ fontSize: 15, color: '#546779' }}&gt;每一项都能指出证据在哪里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1.6 为自己的任务选择模型&lt;/Text&gt;&#10;        &lt;Text style={{ fontSize: 14, color: '#546779' }}&gt;03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5676900" y="2162175"/>
            <a:ext cx="838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>1.6.1</a:t>
            </a: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　第一步</a:t>
            </a:r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3162300" y="2571750"/>
            <a:ext cx="58674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把目标写成可核验的结果</a:t>
            </a:r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5048250" y="3562350"/>
            <a:ext cx="2105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先限定任务，检查项才立得住</a:t>
            </a:r>
            <a:endParaRPr/>
          </a:p>
        </p:txBody>
      </p:sp>
      <p:sp>
        <p:nvSpPr>
          <p:cNvPr id="540" name=""/>
          <p:cNvSpPr/>
          <p:nvPr/>
        </p:nvSpPr>
        <p:spPr>
          <a:xfrm rot="0" flipH="0" flipV="0">
            <a:off x="1085850" y="4124325"/>
            <a:ext cx="4572000" cy="1143000"/>
          </a:xfrm>
          <a:prstGeom prst="roundRect">
            <a:avLst>
              <a:gd name="adj" fmla="val 10000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2609850" y="4467225"/>
            <a:ext cx="1524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一段可核验的目标</a:t>
            </a:r>
            <a:endParaRPr/>
          </a:p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2447925" y="4752975"/>
            <a:ext cx="1857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做什么、不做什么，一次说清</a:t>
            </a:r>
            <a:endParaRPr/>
          </a:p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6038850" y="4514850"/>
            <a:ext cx="1143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4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44" name=""/>
          <p:cNvSpPr/>
          <p:nvPr/>
        </p:nvSpPr>
        <p:spPr>
          <a:xfrm rot="0" flipH="0" flipV="0">
            <a:off x="6534150" y="4124325"/>
            <a:ext cx="4572000" cy="1143000"/>
          </a:xfrm>
          <a:prstGeom prst="roundRect">
            <a:avLst>
              <a:gd name="adj" fmla="val 10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7962900" y="4467225"/>
            <a:ext cx="1714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五项可观察的检查项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7962900" y="4752975"/>
            <a:ext cx="1714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每一项都能指出证据在哪里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为自己的任务选择模型</a:t>
            </a:r>
            <a:endParaRPr/>
          </a:p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03 / 27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549" name="" descr="&lt;Slide notes={`写一份好方案这句话太软了。它可以意味着文字好看，也可以意味着安排完整、没有冲突，甚至意味着方案已经被相关系统保存。评价的时候临时决定用哪一种理解，结果就没法比较。&#10;&#10;所以先把任务写死。根据提供的材料生成开放日方案，正确处理房间容量、时间和预约；缺少信息时明确标出；每项关键安排给出依据。最后两句是关键边界：不执行真实预约，也不以文字声称已经执行。&#10;&#10;这段话同时划出两件事。需要它做的是理解材料、组织约束、产生方案，还要能说清哪些地方不确定。不需要它做的也很明确：它不必自己决定活动经费，更不能在没有工具的情况下宣布预约完成。&#10;&#10;我特别想强调后一条。模型非常擅长写出一句听起来已经完成的话，但文字上的完成和真实世界里的完成是两回事。把这条边界写进任务目标里，评价时才有据可依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6.1　第一步：把目标写成可核验的结果&lt;/Text&gt;&#10;            &lt;Text style={{ fontSize: 34, fontWeight: 'bold', color: '#20344B' }}&gt;先把任务写死：做什么，不做什么&lt;/Text&gt;&#10;        &lt;/Box&gt;&#10;    &lt;/Box&gt;&#10;&#10;    &lt;Box style={{ height: 540, flexDirection: 'column', justifyContent: 'center', gap: 18 }}&gt;&#10;&#10;        &lt;Box style={{ height: 200, background: '#F7F3E8', borderRadius: 12, padding: '22px 26px', flexDirection: 'column', gap: 10 }}&gt;&#10;            &lt;Text style={{ fontSize: 20, fontWeight: 'bold', color: '#20344B' }}&gt;本次任务的目标&lt;/Text&gt;&#10;            &lt;Text style={{ fontSize: 17, color: '#20344B', lineHeight: 1.7 }}&gt;根据提供的材料生成开放日方案，正确处理房间容量、时间和预约；缺少信息时明确标出；每项关键安排给出依据。&lt;/Text&gt;&#10;            &lt;Text style={{ fontSize: 17, color: '#CB6B28', lineHeight: 1.7 }}&gt;不执行真实预约，也不以文字声称已经执行。&lt;/Text&gt;&#10;        &lt;/Box&gt;&#10;&#10;        &lt;Box style={{ flexDirection: 'row', gap: 24 }}&gt;&#10;&#10;            &lt;Box style={{ width: 564, height: 180, background: '#ECF7F2', borderRadius: 12, padding: '22px 24px', flexDirection: 'column', gap: 8 }}&gt;&#10;                &lt;Text style={{ fontSize: 22, fontWeight: 'bold', color: '#26816B' }}&gt;需要它做&lt;/Text&gt;&#10;                &lt;Text style={{ fontSize: 15, color: '#20344B', lineHeight: 1.6 }}&gt;理解材料，把条件对应到正确的房间与活动&lt;/Text&gt;&#10;                &lt;Text style={{ fontSize: 15, color: '#20344B', lineHeight: 1.6 }}&gt;组织约束，检查时间、容量与预约交集&lt;/Text&gt;&#10;                &lt;Text style={{ fontSize: 15, color: '#20344B', lineHeight: 1.6 }}&gt;表达不确定：缺什么、以什么为依据&lt;/Text&gt;&#10;            &lt;/Box&gt;&#10;&#10;            &lt;Box style={{ width: 564, height: 180, background: '#FFF4E6', borderRadius: 12, padding: '22px 24px', flexDirection: 'column', gap: 8 }}&gt;&#10;                &lt;Text style={{ fontSize: 22, fontWeight: 'bold', color: '#CB6B28' }}&gt;不需要它做&lt;/Text&gt;&#10;                &lt;Text style={{ fontSize: 15, color: '#20344B', lineHeight: 1.6 }}&gt;不需要自行决定活动经费&lt;/Text&gt;&#10;                &lt;Text style={{ fontSize: 15, color: '#20344B', lineHeight: 1.6 }}&gt;不能在没有工具的情况下宣布预约完成&lt;/Text&gt;&#10;                &lt;Text style={{ fontSize: 15, color: '#546779', lineHeight: 1.6 }}&gt;文字上的完成，不等于现实里已经发生&lt;/Text&gt;&#10;            &lt;/Box&gt;&#10;&#10;        &lt;/Box&gt;&#10;&#10;        &lt;Box style={{ height: 56, flexDirection: 'row', alignItems: 'center', gap: 12, background: '#F4F7FA', borderRadius: 10, padding: '0 22px' }}&gt;&#10;            &lt;Box style={{ width: 3, height: 32, background: '#276FBF' }} /&gt;&#10;            &lt;Text style={{ fontSize: 16, color: '#20344B' }}&gt;目标同时划定了能力需求和执行边界，两者都要在评价里被检查。&lt;/Text&gt;&#10;        &lt;/Box&gt;&#10;&#10;    &lt;/Box&gt;&#10;&#10;    &lt;Box style={{ height: 40, flexDirection: 'row', justifyContent: 'space-between', alignItems: 'center' }}&gt;&#10;        &lt;Text style={{ fontSize: 14, color: '#546779' }}&gt;1.6 为自己的任务选择模型&lt;/Text&gt;&#10;        &lt;Text style={{ fontSize: 14, color: '#546779' }}&gt;04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85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1.6.1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第一步：把目标写成可核验的结果</a:t>
            </a:r>
            <a:endParaRPr/>
          </a:p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8577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先把任务写死：做什么，不做什么</a:t>
            </a:r>
            <a:endParaRPr/>
          </a:p>
        </p:txBody>
      </p:sp>
      <p:sp>
        <p:nvSpPr>
          <p:cNvPr id="554" name=""/>
          <p:cNvSpPr/>
          <p:nvPr/>
        </p:nvSpPr>
        <p:spPr>
          <a:xfrm rot="0" flipH="0" flipV="0">
            <a:off x="609600" y="1466850"/>
            <a:ext cx="10972800" cy="1905000"/>
          </a:xfrm>
          <a:prstGeom prst="roundRect">
            <a:avLst>
              <a:gd name="adj" fmla="val 6000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857250" y="1676400"/>
            <a:ext cx="10477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本次任务的目标</a:t>
            </a:r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857250" y="2000250"/>
            <a:ext cx="10477500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根据提供的材料生成开放日方案，正确处理房间容量、时间和预约；缺少信息时明确标出；每项关键安排给出依据。</a:t>
            </a:r>
            <a:endParaRPr/>
          </a:p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857250" y="2428875"/>
            <a:ext cx="10477500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>
                <a:solidFill>
                  <a:srgbClr val="CB6B28"/>
                </a:solidFill>
                <a:latin typeface="Microsoft YaHei"/>
                <a:ea typeface="Microsoft YaHei"/>
              </a:rPr>
              <a:t>不执行真实预约，也不以文字声称已经执行。</a:t>
            </a:r>
            <a:endParaRPr/>
          </a:p>
        </p:txBody>
      </p:sp>
      <p:sp>
        <p:nvSpPr>
          <p:cNvPr id="558" name=""/>
          <p:cNvSpPr/>
          <p:nvPr/>
        </p:nvSpPr>
        <p:spPr>
          <a:xfrm rot="0" flipH="0" flipV="0">
            <a:off x="609600" y="3543300"/>
            <a:ext cx="5372100" cy="1714500"/>
          </a:xfrm>
          <a:prstGeom prst="roundRect">
            <a:avLst>
              <a:gd name="adj" fmla="val 666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838200" y="3752850"/>
            <a:ext cx="4914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6816B"/>
                </a:solidFill>
                <a:latin typeface="Microsoft YaHei"/>
                <a:ea typeface="Microsoft YaHei"/>
              </a:rPr>
              <a:t>需要它做</a:t>
            </a:r>
            <a:endParaRPr/>
          </a:p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838200" y="4086225"/>
            <a:ext cx="49149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理解材料，把条件对应到正确的房间与活动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838200" y="4438650"/>
            <a:ext cx="49149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组织约束，检查时间、容量与预约交集</a:t>
            </a:r>
            <a:endParaRPr/>
          </a:p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838200" y="4791075"/>
            <a:ext cx="49149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表达不确定：缺什么、以什么为依据</a:t>
            </a:r>
            <a:endParaRPr/>
          </a:p>
        </p:txBody>
      </p:sp>
      <p:sp>
        <p:nvSpPr>
          <p:cNvPr id="563" name=""/>
          <p:cNvSpPr/>
          <p:nvPr/>
        </p:nvSpPr>
        <p:spPr>
          <a:xfrm rot="0" flipH="0" flipV="0">
            <a:off x="6210300" y="3543300"/>
            <a:ext cx="5372100" cy="1714500"/>
          </a:xfrm>
          <a:prstGeom prst="roundRect">
            <a:avLst>
              <a:gd name="adj" fmla="val 666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6438900" y="3752850"/>
            <a:ext cx="4914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CB6B28"/>
                </a:solidFill>
                <a:latin typeface="Microsoft YaHei"/>
                <a:ea typeface="Microsoft YaHei"/>
              </a:rPr>
              <a:t>不需要它做</a:t>
            </a:r>
            <a:endParaRPr/>
          </a:p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6438900" y="4086225"/>
            <a:ext cx="49149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不需要自行决定活动经费</a:t>
            </a:r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6438900" y="4438650"/>
            <a:ext cx="49149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不能在没有工具的情况下宣布预约完成</a:t>
            </a:r>
            <a:endParaRPr/>
          </a:p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6438900" y="4791075"/>
            <a:ext cx="49149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文字上的完成，不等于现实里已经发生</a:t>
            </a:r>
            <a:endParaRPr/>
          </a:p>
        </p:txBody>
      </p:sp>
      <p:sp>
        <p:nvSpPr>
          <p:cNvPr id="568" name=""/>
          <p:cNvSpPr/>
          <p:nvPr/>
        </p:nvSpPr>
        <p:spPr>
          <a:xfrm rot="0" flipH="0" flipV="0">
            <a:off x="609600" y="5429250"/>
            <a:ext cx="10972800" cy="533400"/>
          </a:xfrm>
          <a:prstGeom prst="roundRect">
            <a:avLst>
              <a:gd name="adj" fmla="val 1785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69" name=""/>
          <p:cNvSpPr/>
          <p:nvPr/>
        </p:nvSpPr>
        <p:spPr>
          <a:xfrm rot="0" flipH="0" flipV="0">
            <a:off x="819150" y="5543550"/>
            <a:ext cx="28575" cy="3048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962025" y="5600700"/>
            <a:ext cx="441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目标同时划定了能力需求和执行边界，两者都要在评价里被检查。</a:t>
            </a:r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为自己的任务选择模型</a:t>
            </a:r>
            <a:endParaRPr/>
          </a:p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04 / 27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573" name="" descr="&lt;Slide notes={`目标写清楚之后，下一步是把它拆成检查项。我按五个维度来拆，每一个都要求能指出证据在哪里。&#10;&#10;第一项是事实与来源，容量、预约、人数这些关键字段必须有依据，做法是拿输出和输入材料逐项核对。第二项是约束满足，时间、容量、时长以及相互冲突的处理是否正确，这一项可以人工检查，也可以写一段确定性程序来检查。第三项是信息不足，缺失的内容有没有明确标出，有没有编造必要事实，这一项要和事先准备好的缺失项清单核对。&#10;&#10;第四项是交付完整，方案里该有的活动、该列的待确认事项是否齐全，按固定字段和任务清单核对。第五项是使用成本，端到端花了多少时间、调用了几次、费用是多少，记录实际可见的用量。&#10;&#10;这五项里，前四项可以直接判定对错，第五项是记录而不是打分。把它们分开，是为了后面看失败分布时，能说清失败到底属于哪一类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6.1　第一步：把目标写成可核验的结果&lt;/Text&gt;&#10;            &lt;Text style={{ fontSize: 34, fontWeight: 'bold', color: '#20344B' }}&gt;把目标转成五项检查项&lt;/Text&gt;&#10;        &lt;/Box&gt;&#10;    &lt;/Box&gt;&#10;&#10;    &lt;Box style={{ height: 540, flexDirection: 'column', justifyContent: 'center', gap: 8 }}&gt;&#10;&#10;        &lt;Box style={{ height: 34, flexDirection: 'row', alignItems: 'center' }}&gt;&#10;            &lt;Box style={{ width: 4 }} /&gt;&#10;            &lt;Box style={{ width: 186, paddingLeft: 14 }}&gt;&lt;Text style={{ fontSize: 14, color: '#546779' }}&gt;检查维度&lt;/Text&gt;&lt;/Box&gt;&#10;            &lt;Box style={{ width: 540, paddingLeft: 12 }}&gt;&lt;Text style={{ fontSize: 14, color: '#546779' }}&gt;可观察结果&lt;/Text&gt;&lt;/Box&gt;&#10;            &lt;Box style={{ width: 422, paddingLeft: 12 }}&gt;&lt;Text style={{ fontSize: 14, color: '#546779' }}&gt;本练习的判定方式&lt;/Text&gt;&lt;/Box&gt;&#10;        &lt;/Box&gt;&#10;&#10;        &lt;Box style={{ height: 84, background: '#F4F7FA', borderRadius: 8, flexDirection: 'row', alignItems: 'center' }}&gt;&#10;            &lt;Box style={{ width: 4, height: 44, background: '#276FBF' }} /&gt;&#10;            &lt;Box style={{ width: 186, paddingLeft: 14 }}&gt;&lt;Text style={{ fontSize: 16, fontWeight: 'bold', color: '#20344B' }}&gt;事实与来源&lt;/Text&gt;&lt;/Box&gt;&#10;            &lt;Box style={{ width: 540, paddingLeft: 12 }}&gt;&lt;Text style={{ fontSize: 15, color: '#546779' }}&gt;容量、预约、人数等关键字段有依据&lt;/Text&gt;&lt;/Box&gt;&#10;            &lt;Box style={{ width: 422, paddingLeft: 12 }}&gt;&lt;Text style={{ fontSize: 15, color: '#20344B' }}&gt;与输入材料逐项核对&lt;/Text&gt;&lt;/Box&gt;&#10;        &lt;/Box&gt;&#10;&#10;        &lt;Box style={{ height: 84, background: '#F4F7FA', borderRadius: 8, flexDirection: 'row', alignItems: 'center' }}&gt;&#10;            &lt;Box style={{ width: 4, height: 44, background: '#276FBF' }} /&gt;&#10;            &lt;Box style={{ width: 186, paddingLeft: 14 }}&gt;&lt;Text style={{ fontSize: 16, fontWeight: 'bold', color: '#20344B' }}&gt;约束满足&lt;/Text&gt;&lt;/Box&gt;&#10;            &lt;Box style={{ width: 540, paddingLeft: 12 }}&gt;&lt;Text style={{ fontSize: 15, color: '#546779' }}&gt;时间、容量、时长和相互冲突处理正确&lt;/Text&gt;&lt;/Box&gt;&#10;            &lt;Box style={{ width: 422, paddingLeft: 12 }}&gt;&lt;Text style={{ fontSize: 15, color: '#20344B' }}&gt;人工或确定性程序检查&lt;/Text&gt;&lt;/Box&gt;&#10;        &lt;/Box&gt;&#10;&#10;        &lt;Box style={{ height: 84, background: '#FFF4E6', borderRadius: 8, flexDirection: 'row', alignItems: 'center' }}&gt;&#10;            &lt;Box style={{ width: 4, height: 44, background: '#CB6B28' }} /&gt;&#10;            &lt;Box style={{ width: 186, paddingLeft: 14 }}&gt;&lt;Text style={{ fontSize: 16, fontWeight: 'bold', color: '#CB6B28' }}&gt;信息不足&lt;/Text&gt;&lt;/Box&gt;&#10;            &lt;Box style={{ width: 540, paddingLeft: 12 }}&gt;&lt;Text style={{ fontSize: 15, color: '#546779' }}&gt;缺失内容明确，未编造必要事实&lt;/Text&gt;&lt;/Box&gt;&#10;            &lt;Box style={{ width: 422, paddingLeft: 12 }}&gt;&lt;Text style={{ fontSize: 15, color: '#20344B' }}&gt;与预设缺失项清单核对&lt;/Text&gt;&lt;/Box&gt;&#10;        &lt;/Box&gt;&#10;&#10;        &lt;Box style={{ height: 84, background: '#F4F7FA', borderRadius: 8, flexDirection: 'row', alignItems: 'center' }}&gt;&#10;            &lt;Box style={{ width: 4, height: 44, background: '#276FBF' }} /&gt;&#10;            &lt;Box style={{ width: 186, paddingLeft: 14 }}&gt;&lt;Text style={{ fontSize: 16, fontWeight: 'bold', color: '#20344B' }}&gt;交付完整&lt;/Text&gt;&lt;/Box&gt;&#10;            &lt;Box style={{ width: 540, paddingLeft: 12 }}&gt;&lt;Text style={{ fontSize: 15, color: '#546779' }}&gt;包含全部所需活动及待确认事项&lt;/Text&gt;&lt;/Box&gt;&#10;            &lt;Box style={{ width: 422, paddingLeft: 12 }}&gt;&lt;Text style={{ fontSize: 15, color: '#20344B' }}&gt;按固定字段和任务清单核对&lt;/Text&gt;&lt;/Box&gt;&#10;        &lt;/Box&gt;&#10;&#10;        &lt;Box style={{ height: 84, background: '#ECF7F2', borderRadius: 8, flexDirection: 'row', alignItems: 'center' }}&gt;&#10;            &lt;Box style={{ width: 4, height: 44, background: '#26816B' }} /&gt;&#10;            &lt;Box style={{ width: 186, paddingLeft: 14 }}&gt;&lt;Text style={{ fontSize: 16, fontWeight: 'bold', color: '#20344B' }}&gt;使用成本&lt;/Text&gt;&lt;/Box&gt;&#10;            &lt;Box style={{ width: 540, paddingLeft: 12 }}&gt;&lt;Text style={{ fontSize: 15, color: '#546779' }}&gt;时间、调用和费用可接受&lt;/Text&gt;&lt;/Box&gt;&#10;            &lt;Box style={{ width: 422, paddingLeft: 12 }}&gt;&lt;Text style={{ fontSize: 15, color: '#20344B' }}&gt;记录端到端时间与实际可见用量&lt;/Text&gt;&lt;/Box&gt;&#10;        &lt;/Box&gt;&#10;&#10;    &lt;/Box&gt;&#10;&#10;    &lt;Box style={{ height: 40, flexDirection: 'row', justifyContent: 'space-between', alignItems: 'center' }}&gt;&#10;        &lt;Text style={{ fontSize: 14, color: '#546779' }}&gt;1.6 为自己的任务选择模型&lt;/Text&gt;&#10;        &lt;Text style={{ fontSize: 14, color: '#546779' }}&gt;05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1.6.1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第一步：把目标写成可核验的结果</a:t>
            </a:r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把目标转成五项检查项</a:t>
            </a:r>
            <a:endParaRPr/>
          </a:p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781050" y="1447800"/>
            <a:ext cx="1638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检查维度</a:t>
            </a:r>
            <a:endParaRPr/>
          </a:p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2533650" y="1447800"/>
            <a:ext cx="5029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可观察结果</a:t>
            </a:r>
            <a:endParaRPr/>
          </a:p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7677150" y="1447800"/>
            <a:ext cx="3905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本练习的判定方式</a:t>
            </a:r>
            <a:endParaRPr/>
          </a:p>
        </p:txBody>
      </p:sp>
      <p:sp>
        <p:nvSpPr>
          <p:cNvPr id="581" name=""/>
          <p:cNvSpPr/>
          <p:nvPr/>
        </p:nvSpPr>
        <p:spPr>
          <a:xfrm rot="0" flipH="0" flipV="0">
            <a:off x="609600" y="1762125"/>
            <a:ext cx="10972800" cy="80010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82" name=""/>
          <p:cNvSpPr/>
          <p:nvPr/>
        </p:nvSpPr>
        <p:spPr>
          <a:xfrm rot="0" flipH="0" flipV="0">
            <a:off x="609600" y="1952625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781050" y="2066925"/>
            <a:ext cx="1638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事实与来源</a:t>
            </a:r>
            <a:endParaRPr/>
          </a:p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2533650" y="2076450"/>
            <a:ext cx="502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容量、预约、人数等关键字段有依据</a:t>
            </a:r>
            <a:endParaRPr/>
          </a:p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7677150" y="2076450"/>
            <a:ext cx="390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与输入材料逐项核对</a:t>
            </a:r>
            <a:endParaRPr/>
          </a:p>
        </p:txBody>
      </p:sp>
      <p:sp>
        <p:nvSpPr>
          <p:cNvPr id="586" name=""/>
          <p:cNvSpPr/>
          <p:nvPr/>
        </p:nvSpPr>
        <p:spPr>
          <a:xfrm rot="0" flipH="0" flipV="0">
            <a:off x="609600" y="2638425"/>
            <a:ext cx="10972800" cy="80010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87" name=""/>
          <p:cNvSpPr/>
          <p:nvPr/>
        </p:nvSpPr>
        <p:spPr>
          <a:xfrm rot="0" flipH="0" flipV="0">
            <a:off x="609600" y="2828925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781050" y="2943225"/>
            <a:ext cx="1638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约束满足</a:t>
            </a:r>
            <a:endParaRPr/>
          </a:p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2533650" y="2952750"/>
            <a:ext cx="502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时间、容量、时长和相互冲突处理正确</a:t>
            </a:r>
            <a:endParaRPr/>
          </a:p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7677150" y="2952750"/>
            <a:ext cx="390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人工或确定性程序检查</a:t>
            </a:r>
            <a:endParaRPr/>
          </a:p>
        </p:txBody>
      </p:sp>
      <p:sp>
        <p:nvSpPr>
          <p:cNvPr id="591" name=""/>
          <p:cNvSpPr/>
          <p:nvPr/>
        </p:nvSpPr>
        <p:spPr>
          <a:xfrm rot="0" flipH="0" flipV="0">
            <a:off x="609600" y="3514725"/>
            <a:ext cx="10972800" cy="800100"/>
          </a:xfrm>
          <a:prstGeom prst="roundRect">
            <a:avLst>
              <a:gd name="adj" fmla="val 952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92" name=""/>
          <p:cNvSpPr/>
          <p:nvPr/>
        </p:nvSpPr>
        <p:spPr>
          <a:xfrm rot="0" flipH="0" flipV="0">
            <a:off x="609600" y="3705225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781050" y="3819525"/>
            <a:ext cx="1638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信息不足</a:t>
            </a:r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2533650" y="3829050"/>
            <a:ext cx="502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缺失内容明确，未编造必要事实</a:t>
            </a:r>
            <a:endParaRPr/>
          </a:p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7677150" y="3829050"/>
            <a:ext cx="390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与预设缺失项清单核对</a:t>
            </a:r>
            <a:endParaRPr/>
          </a:p>
        </p:txBody>
      </p:sp>
      <p:sp>
        <p:nvSpPr>
          <p:cNvPr id="596" name=""/>
          <p:cNvSpPr/>
          <p:nvPr/>
        </p:nvSpPr>
        <p:spPr>
          <a:xfrm rot="0" flipH="0" flipV="0">
            <a:off x="609600" y="4391025"/>
            <a:ext cx="10972800" cy="80010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97" name=""/>
          <p:cNvSpPr/>
          <p:nvPr/>
        </p:nvSpPr>
        <p:spPr>
          <a:xfrm rot="0" flipH="0" flipV="0">
            <a:off x="609600" y="4581525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781050" y="4695825"/>
            <a:ext cx="1638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交付完整</a:t>
            </a:r>
            <a:endParaRPr/>
          </a:p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2533650" y="4705350"/>
            <a:ext cx="502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包含全部所需活动及待确认事项</a:t>
            </a:r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7677150" y="4705350"/>
            <a:ext cx="390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按固定字段和任务清单核对</a:t>
            </a:r>
            <a:endParaRPr/>
          </a:p>
        </p:txBody>
      </p:sp>
      <p:sp>
        <p:nvSpPr>
          <p:cNvPr id="601" name=""/>
          <p:cNvSpPr/>
          <p:nvPr/>
        </p:nvSpPr>
        <p:spPr>
          <a:xfrm rot="0" flipH="0" flipV="0">
            <a:off x="609600" y="5267325"/>
            <a:ext cx="10972800" cy="800100"/>
          </a:xfrm>
          <a:prstGeom prst="roundRect">
            <a:avLst>
              <a:gd name="adj" fmla="val 952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02" name=""/>
          <p:cNvSpPr/>
          <p:nvPr/>
        </p:nvSpPr>
        <p:spPr>
          <a:xfrm rot="0" flipH="0" flipV="0">
            <a:off x="609600" y="5457825"/>
            <a:ext cx="3810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781050" y="5572125"/>
            <a:ext cx="1638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使用成本</a:t>
            </a:r>
            <a:endParaRPr/>
          </a:p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2533650" y="5581650"/>
            <a:ext cx="502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时间、调用和费用可接受</a:t>
            </a:r>
            <a:endParaRPr/>
          </a:p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7677150" y="5581650"/>
            <a:ext cx="390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记录端到端时间与实际可见用量</a:t>
            </a:r>
            <a:endParaRPr/>
          </a:p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为自己的任务选择模型</a:t>
            </a:r>
            <a:endParaRPr/>
          </a:p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05 / 27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608" name="" descr="&lt;Slide notes={`表达是否清楚当然重要，但它不应该覆盖关键事实错误。这句话说起来简单，做起来很容易走偏。&#10;&#10;想一想一份文笔优美、结构清楚、活动安排丰富的方案，它把十五个人安排进了十二人的手作室。从文字上看，这份方案几乎没有瑕疵，读起来比一份数字全对但写得干巴巴的方案舒服得多。如果评分只看整体印象，它很可能拿到高分。&#10;&#10;但只要人数这一项越界，整份方案在实际执行时就是不可用的。十二人的房间装不下十五人，这不是风格问题，是硬约束。&#10;&#10;所以检查项的排布方式很重要。事实与来源、约束满足这些项，必须被独立核对，不能被其他项目的高分平均掉。一份方案只有在关键事实上站得住，才谈得上表达是否清楚。写作质量是可以加分的部分，关键事实是没有商量余地的部分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6.1　第一步：把目标写成可核验的结果&lt;/Text&gt;&#10;            &lt;Text style={{ fontSize: 34, fontWeight: 'bold', color: '#20344B' }}&gt;文笔好，不能抵消事实错&lt;/Text&gt;&#10;        &lt;/Box&gt;&#10;    &lt;/Box&gt;&#10;&#10;    &lt;Box style={{ height: 540, flexDirection: 'column', justifyContent: 'center', gap: 20 }}&gt;&#10;&#10;        &lt;Text style={{ fontSize: 17, color: '#546779' }}&gt;表达是否清楚也重要，但它不应覆盖关键事实错误。&lt;/Text&gt;&#10;&#10;        &lt;Box style={{ flexDirection: 'row', gap: 24 }}&gt;&#10;&#10;            &lt;Box style={{ width: 564, height: 250, background: '#FFF4E6', borderRadius: 12, padding: '24px 26px', flexDirection: 'column', gap: 4 }}&gt;&#10;                &lt;Text style={{ fontSize: 15, color: '#CB6B28' }}&gt;方案安排的人数&lt;/Text&gt;&#10;                &lt;Text style={{ fontSize: 96, fontWeight: 'bold', color: '#CB6B28', lineHeight: 1 }}&gt;15 人&lt;/Text&gt;&#10;                &lt;Box style={{ flex: 1 }} /&gt;&#10;                &lt;Text style={{ fontSize: 17, color: '#546779', lineHeight: 1.6 }}&gt;超过手作室十二人的容量，方案无法执行。&lt;/Text&gt;&#10;            &lt;/Box&gt;&#10;&#10;            &lt;Box style={{ width: 564, height: 250, background: '#EDF4FC', borderRadius: 12, padding: '24px 26px', flexDirection: 'column', gap: 4 }}&gt;&#10;                &lt;Text style={{ fontSize: 15, color: '#276FBF' }}&gt;手作室的实际容量&lt;/Text&gt;&#10;                &lt;Text style={{ fontSize: 96, fontWeight: 'bold', color: '#276FBF', lineHeight: 1 }}&gt;12 人&lt;/Text&gt;&#10;                &lt;Box style={{ flex: 1 }} /&gt;&#10;                &lt;Text style={{ fontSize: 17, color: '#546779', lineHeight: 1.6 }}&gt;容量、时间、预约交集都是不可商量的关键事实。&lt;/Text&gt;&#10;            &lt;/Box&gt;&#10;&#10;        &lt;/Box&gt;&#10;&#10;        &lt;Box style={{ height: 72, background: '#F4F7FA', borderRadius: 10, flexDirection: 'row', alignItems: 'center', gap: 14, padding: '0 24px' }}&gt;&#10;            &lt;Box style={{ width: 3, height: 40, background: '#CB6B28' }} /&gt;&#10;            &lt;Text style={{ fontSize: 16, color: '#20344B', lineHeight: 1.6 }}&gt;一份文笔优美却把十五人安排进十二人房间的方案，不能靠其他项目的高分自动变成合格结果。&lt;/Text&gt;&#10;        &lt;/Box&gt;&#10;&#10;    &lt;/Box&gt;&#10;&#10;    &lt;Box style={{ height: 40, flexDirection: 'row', justifyContent: 'space-between', alignItems: 'center' }}&gt;&#10;        &lt;Text style={{ fontSize: 14, color: '#546779' }}&gt;1.6 为自己的任务选择模型&lt;/Text&gt;&#10;        &lt;Text style={{ fontSize: 14, color: '#546779' }}&gt;06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1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1.6.1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第一步：把目标写成可核验的结果</a:t>
            </a:r>
            <a:endParaRPr/>
          </a:p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文笔好，不能抵消事实错</a:t>
            </a:r>
            <a:endParaRPr/>
          </a:p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609600" y="1895475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表达是否清楚也重要，但它不应覆盖关键事实错误。</a:t>
            </a:r>
            <a:endParaRPr/>
          </a:p>
        </p:txBody>
      </p:sp>
      <p:sp>
        <p:nvSpPr>
          <p:cNvPr id="614" name=""/>
          <p:cNvSpPr/>
          <p:nvPr/>
        </p:nvSpPr>
        <p:spPr>
          <a:xfrm rot="0" flipH="0" flipV="0">
            <a:off x="609600" y="2286000"/>
            <a:ext cx="5372100" cy="2381250"/>
          </a:xfrm>
          <a:prstGeom prst="roundRect">
            <a:avLst>
              <a:gd name="adj" fmla="val 48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857250" y="2514600"/>
            <a:ext cx="4876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方案安排的人数</a:t>
            </a:r>
            <a:endParaRPr/>
          </a:p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857250" y="2724150"/>
            <a:ext cx="48768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15 </a:t>
            </a:r>
            <a:r>
              <a:rPr lang="zh-CN" sz="7200" b="1">
                <a:solidFill>
                  <a:srgbClr val="CB6B28"/>
                </a:solidFill>
                <a:latin typeface="Microsoft YaHei"/>
                <a:ea typeface="Microsoft YaHei"/>
              </a:rPr>
              <a:t>人</a:t>
            </a:r>
            <a:endParaRPr/>
          </a:p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857250" y="4124325"/>
            <a:ext cx="48768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超过手作室十二人的容量，方案无法执行。</a:t>
            </a:r>
            <a:endParaRPr/>
          </a:p>
        </p:txBody>
      </p:sp>
      <p:sp>
        <p:nvSpPr>
          <p:cNvPr id="618" name=""/>
          <p:cNvSpPr/>
          <p:nvPr/>
        </p:nvSpPr>
        <p:spPr>
          <a:xfrm rot="0" flipH="0" flipV="0">
            <a:off x="6210300" y="2286000"/>
            <a:ext cx="5372100" cy="2381250"/>
          </a:xfrm>
          <a:prstGeom prst="roundRect">
            <a:avLst>
              <a:gd name="adj" fmla="val 48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6457950" y="2514600"/>
            <a:ext cx="4876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手作室的实际容量</a:t>
            </a:r>
            <a:endParaRPr/>
          </a:p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6457950" y="2724150"/>
            <a:ext cx="48768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12 </a:t>
            </a:r>
            <a:r>
              <a:rPr lang="zh-CN" sz="7200" b="1">
                <a:solidFill>
                  <a:srgbClr val="276FBF"/>
                </a:solidFill>
                <a:latin typeface="Microsoft YaHei"/>
                <a:ea typeface="Microsoft YaHei"/>
              </a:rPr>
              <a:t>人</a:t>
            </a:r>
            <a:endParaRPr/>
          </a:p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6457950" y="4124325"/>
            <a:ext cx="48768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容量、时间、预约交集都是不可商量的关键事实。</a:t>
            </a:r>
            <a:endParaRPr/>
          </a:p>
        </p:txBody>
      </p:sp>
      <p:sp>
        <p:nvSpPr>
          <p:cNvPr id="622" name=""/>
          <p:cNvSpPr/>
          <p:nvPr/>
        </p:nvSpPr>
        <p:spPr>
          <a:xfrm rot="0" flipH="0" flipV="0">
            <a:off x="609600" y="4857750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23" name=""/>
          <p:cNvSpPr/>
          <p:nvPr/>
        </p:nvSpPr>
        <p:spPr>
          <a:xfrm rot="0" flipH="0" flipV="0">
            <a:off x="838200" y="5010150"/>
            <a:ext cx="28575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1000125" y="5057775"/>
            <a:ext cx="64008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一份文笔优美却把十五人安排进十二人房间的方案，不能靠其他项目的高分自动变成合格结果。</a:t>
            </a:r>
            <a:endParaRPr/>
          </a:p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为自己的任务选择模型</a:t>
            </a:r>
            <a:endParaRPr/>
          </a:p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06 / 27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627" name="" descr="&lt;Slide notes={`目标写清楚了，接下来要准备题目。这里的第一个原则是：用来练习的题目和用来评价的题目必须分开。&#10;&#10;先用八项练习任务，目的是检查两件事：提示写得清不清楚，评分规则一不一致。这八项可以反复修改，改提示、改评分标准都没问题。然后在开始比较之前，把另外二十四项冻结下来，之后不再改动。&#10;&#10;为什么要分两组？因为如果你一边看评价结果，一边回去改评价集，分数就失去意义了。你实际上是在对着答案出题，成绩自然会好看，但它不能说明任何问题。&#10;&#10;二十四项按六组组织，每组四项。组内要改变房间、数字或者表述方式，避免只是把同一道题换个名字。同样的题型重复四次，测出来的还是同一种能力，区分度就很低。`} style={{ width: 1280, height: 720, background: '#FFFFFF', flexDirection: 'column', padding: '20px 64px' }}&gt;&#10;&#10;    &lt;Box style={{ height: 100 }} /&gt;&#10;&#10;    &lt;Box style={{ height: 540, flexDirection: 'column', justifyContent: 'center', alignItems: 'center', gap: 26 }}&gt;&#10;&#10;        &lt;Text style={{ fontSize: 14, color: '#276FBF' }}&gt;1.6.2　第二步&lt;/Text&gt;&#10;        &lt;Text style={{ fontSize: 56, fontWeight: 'bold', color: '#20344B', lineHeight: 1.15 }}&gt;准备小而有区分度的任务集&lt;/Text&gt;&#10;        &lt;Text style={{ fontSize: 17, color: '#546779' }}&gt;练习可以改，评价集在比较开始前冻结&lt;/Text&gt;&#10;&#10;        &lt;Box style={{ flexDirection: 'row', gap: 24, alignItems: 'center', paddingTop: 12 }}&gt;&#10;&#10;            &lt;Box style={{ width: 440, height: 120, background: '#EDF4FC', borderRadius: 12, justifyContent: 'center', alignItems: 'center', flexDirection: 'column', gap: 6 }}&gt;&#10;                &lt;Text style={{ fontSize: 20, fontWeight: 'bold', color: '#20344B' }}&gt;8 项练习&lt;/Text&gt;&#10;                &lt;Text style={{ fontSize: 15, color: '#546779' }}&gt;改提示与评分规则&lt;/Text&gt;&#10;            &lt;/Box&gt;&#10;&#10;            &lt;Box style={{ width: 44, alignItems: 'center', justifyContent: 'center' }}&gt;&#10;                &lt;Text style={{ fontSize: 32, color: '#276FBF' }}&gt;›&lt;/Text&gt;&#10;            &lt;/Box&gt;&#10;&#10;            &lt;Box style={{ width: 440, height: 120, background: '#ECF7F2', borderRadius: 12, justifyContent: 'center', alignItems: 'center', flexDirection: 'column', gap: 6 }}&gt;&#10;                &lt;Text style={{ fontSize: 20, fontWeight: 'bold', color: '#20344B' }}&gt;24 项评价&lt;/Text&gt;&#10;                &lt;Text style={{ fontSize: 15, color: '#546779' }}&gt;六类 × 每组四项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1.6 为自己的任务选择模型&lt;/Text&gt;&#10;        &lt;Text style={{ fontSize: 14, color: '#546779' }}&gt;07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5676900" y="2162175"/>
            <a:ext cx="838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>1.6.2</a:t>
            </a: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　第二步</a:t>
            </a:r>
            <a:endParaRPr/>
          </a:p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2895600" y="2571750"/>
            <a:ext cx="6400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准备小而有区分度的任务集</a:t>
            </a:r>
            <a:endParaRPr/>
          </a:p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4724400" y="3562350"/>
            <a:ext cx="2752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练习可以改，评价集在比较开始前冻结</a:t>
            </a:r>
            <a:endParaRPr/>
          </a:p>
        </p:txBody>
      </p:sp>
      <p:sp>
        <p:nvSpPr>
          <p:cNvPr id="632" name=""/>
          <p:cNvSpPr/>
          <p:nvPr/>
        </p:nvSpPr>
        <p:spPr>
          <a:xfrm rot="0" flipH="0" flipV="0">
            <a:off x="1466850" y="4124325"/>
            <a:ext cx="4191000" cy="11430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3190875" y="4467225"/>
            <a:ext cx="7524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8 </a:t>
            </a: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项练习</a:t>
            </a:r>
            <a:endParaRPr/>
          </a:p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2990850" y="4752975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改提示与评分规则</a:t>
            </a:r>
            <a:endParaRPr/>
          </a:p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6038850" y="4514850"/>
            <a:ext cx="1143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4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36" name=""/>
          <p:cNvSpPr/>
          <p:nvPr/>
        </p:nvSpPr>
        <p:spPr>
          <a:xfrm rot="0" flipH="0" flipV="0">
            <a:off x="6534150" y="4124325"/>
            <a:ext cx="4191000" cy="1143000"/>
          </a:xfrm>
          <a:prstGeom prst="roundRect">
            <a:avLst>
              <a:gd name="adj" fmla="val 10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8201025" y="4467225"/>
            <a:ext cx="8667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24 </a:t>
            </a: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项评价</a:t>
            </a:r>
            <a:endParaRPr/>
          </a:p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8105775" y="4752975"/>
            <a:ext cx="1057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六类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每组四项</a:t>
            </a:r>
            <a:endParaRPr/>
          </a:p>
        </p:txBody>
      </p:sp>
      <p:sp>
        <p:nvSpPr>
          <p:cNvPr id="63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为自己的任务选择模型</a:t>
            </a:r>
            <a:endParaRPr/>
          </a:p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07 / 27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641" name="" descr="&lt;Slide notes={`为什么一定要把练习集和评价集分开？因为练习阶段你要改的东西太多了。提示措辞要调，评分规则要调，有时候连题目本身都要重写。这些改动都是必要的，但它们会让题目带上你的偏好。&#10;&#10;一旦开始比较候选，二十四项评价任务就要冻结。冻结的意思是：不看结果去改题目，也不因为某个候选答得奇怪就补一条规则。这样二十四这个分母才是固定的，两个候选才是在同一把尺子上量出来的。&#10;&#10;二十四项按六组来排，每组四项。六组分别看材料理解、事实与缺失、结构与抽取、时间与数量、工具结果理解、跨轮信息修正。组内要换房间、换数字、换表述，不能只是把同一道题改个名字，否则测到的还是同一种能力。&#10;&#10;还要说一句实话：这个数量是入门规模，它不足以支撑广泛的统计结论。它能帮你把自己的任务看清楚，但不能拿来做行业排名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6.2　第二步：准备小而有区分度的任务集&lt;/Text&gt;&#10;            &lt;Text style={{ fontSize: 34, fontWeight: 'bold', color: '#20344B' }}&gt;八项用来改，二十四项用来比&lt;/Text&gt;&#10;        &lt;/Box&gt;&#10;    &lt;/Box&gt;&#10;&#10;    &lt;Box style={{ height: 540, flexDirection: 'column', justifyContent: 'center', gap: 16 }}&gt;&#10;&#10;        &lt;Box style={{ flexDirection: 'row', gap: 24, alignItems: 'center' }}&gt;&#10;&#10;            &lt;Box style={{ width: 500, height: 96, background: '#EDF4FC', borderRadius: 12, padding: '0 22px', flexDirection: 'column', justifyContent: 'center', gap: 4 }}&gt;&#10;                &lt;Text style={{ fontSize: 20, fontWeight: 'bold', color: '#276FBF' }}&gt;8 项练习任务&lt;/Text&gt;&#10;                &lt;Text style={{ fontSize: 14, color: '#546779' }}&gt;用来检查提示是否清楚、评分规则是否一致，可以反复修改&lt;/Text&gt;&#10;            &lt;/Box&gt;&#10;&#10;            &lt;Box style={{ width: 44, alignItems: 'center', justifyContent: 'center' }}&gt;&#10;                &lt;Text style={{ fontSize: 32, color: '#276FBF' }}&gt;›&lt;/Text&gt;&#10;            &lt;/Box&gt;&#10;&#10;            &lt;Box style={{ width: 560, height: 96, background: '#ECF7F2', borderRadius: 12, padding: '0 22px', flexDirection: 'column', justifyContent: 'center', gap: 4 }}&gt;&#10;                &lt;Text style={{ fontSize: 20, fontWeight: 'bold', color: '#26816B' }}&gt;24 项评价任务　六组 × 每组四项&lt;/Text&gt;&#10;                &lt;Text style={{ fontSize: 14, color: '#546779' }}&gt;开始比较之前冻结，不再改动，24 这个分母保持固定&lt;/Text&gt;&#10;            &lt;/Box&gt;&#10;&#10;        &lt;/Box&gt;&#10;&#10;        &lt;Box style={{ flexDirection: 'row', gap: 21 }}&gt;&#10;&#10;            &lt;Box style={{ width: 370, height: 196, background: '#F4F7FA', borderRadius: 10, padding: '20px 20px', flexDirection: 'column', gap: 6 }}&gt;&#10;                &lt;Box style={{ flexDirection: 'row', alignItems: 'center', gap: 12 }}&gt;&#10;                    &lt;Box style={{ width: 34, height: 34, borderRadius: 6, background: '#276FBF', justifyContent: 'center', alignItems: 'center' }}&gt;&#10;                        &lt;Text style={{ fontSize: 15, fontWeight: 'bold', color: '#FFFFFF' }}&gt;01&lt;/Text&gt;&#10;                    &lt;/Box&gt;&#10;                    &lt;Text style={{ fontSize: 17, fontWeight: 'bold', color: '#20344B' }}&gt;材料理解&lt;/Text&gt;&#10;                &lt;/Box&gt;&#10;                &lt;Text style={{ fontSize: 14, color: '#546779', lineHeight: 1.5 }}&gt;四项覆盖明示条件、跨段条件、相近房间名与无关信息干扰&lt;/Text&gt;&#10;                &lt;Text style={{ fontSize: 14, color: '#20344B', lineHeight: 1.5 }}&gt;看是否正确对应到对象&lt;/Text&gt;&#10;            &lt;/Box&gt;&#10;&#10;            &lt;Box style={{ width: 370, height: 196, background: '#F4F7FA', borderRadius: 10, padding: '20px 20px', flexDirection: 'column', gap: 6 }}&gt;&#10;                &lt;Box style={{ flexDirection: 'row', alignItems: 'center', gap: 12 }}&gt;&#10;                    &lt;Box style={{ width: 34, height: 34, borderRadius: 6, background: '#276FBF', justifyContent: 'center', alignItems: 'center' }}&gt;&#10;                        &lt;Text style={{ fontSize: 15, fontWeight: 'bold', color: '#FFFFFF' }}&gt;02&lt;/Text&gt;&#10;                    &lt;/Box&gt;&#10;                    &lt;Text style={{ fontSize: 17, fontWeight: 'bold', color: '#20344B' }}&gt;事实与缺失&lt;/Text&gt;&#10;                &lt;/Box&gt;&#10;                &lt;Text style={{ fontSize: 14, color: '#546779', lineHeight: 1.5 }}&gt;四项分别是完整资料、缺容量、缺日期、只有未经证实的说法&lt;/Text&gt;&#10;                &lt;Text style={{ fontSize: 14, color: '#20344B', lineHeight: 1.5 }}&gt;看是否分清已知、未知和传闻&lt;/Text&gt;&#10;            &lt;/Box&gt;&#10;&#10;            &lt;Box style={{ width: 370, height: 196, background: '#F4F7FA', borderRadius: 10, padding: '20px 20px', flexDirection: 'column', gap: 6 }}&gt;&#10;                &lt;Box style={{ flexDirection: 'row', alignItems: 'center', gap: 12 }}&gt;&#10;                    &lt;Box style={{ width: 34, height: 34, borderRadius: 6, background: '#276FBF', justifyContent: 'center', alignItems: 'center' }}&gt;&#10;                        &lt;Text style={{ fontSize: 15, fontWeight: 'bold', color: '#FFFFFF' }}&gt;03&lt;/Text&gt;&#10;                    &lt;/Box&gt;&#10;                    &lt;Text style={{ fontSize: 17, fontWeight: 'bold', color: '#20344B' }}&gt;结构与抽取&lt;/Text&gt;&#10;                &lt;/Box&gt;&#10;                &lt;Text style={{ fontSize: 14, color: '#546779', lineHeight: 1.5 }}&gt;四项覆盖固定字段、多个活动、空值以及字段之间的关系&lt;/Text&gt;&#10;                &lt;Text style={{ fontSize: 14, color: '#20344B', lineHeight: 1.5 }}&gt;看可读结构是否同时正确&lt;/Text&gt;&#10;            &lt;/Box&gt;&#10;&#10;        &lt;/Box&gt;&#10;&#10;        &lt;Box style={{ flexDirection: 'row', gap: 21 }}&gt;&#10;&#10;            &lt;Box style={{ width: 370, height: 196, background: '#F4F7FA', borderRadius: 10, padding: '20px 20px', flexDirection: 'column', gap: 6 }}&gt;&#10;                &lt;Box style={{ flexDirection: 'row', alignItems: 'center', gap: 12 }}&gt;&#10;                    &lt;Box style={{ width: 34, height: 34, borderRadius: 6, background: '#276FBF', justifyContent: 'center', alignItems: 'center' }}&gt;&#10;                        &lt;Text style={{ fontSize: 15, fontWeight: 'bold', color: '#FFFFFF' }}&gt;04&lt;/Text&gt;&#10;                    &lt;/Box&gt;&#10;                    &lt;Text style={{ fontSize: 17, fontWeight: 'bold', color: '#20344B' }}&gt;时间与数量&lt;/Text&gt;&#10;                &lt;/Box&gt;&#10;                &lt;Text style={{ fontSize: 14, color: '#546779', lineHeight: 1.5 }}&gt;四项覆盖容量边界、预约重叠、相邻时间段与持续时间&lt;/Text&gt;&#10;                &lt;Text style={{ fontSize: 14, color: '#20344B', lineHeight: 1.5 }}&gt;看是否满足明确规则&lt;/Text&gt;&#10;            &lt;/Box&gt;&#10;&#10;            &lt;Box style={{ width: 370, height: 196, background: '#FFF4E6', borderRadius: 10, padding: '20px 20px', flexDirection: 'column', gap: 6 }}&gt;&#10;                &lt;Box style={{ flexDirection: 'row', alignItems: 'center', gap: 12 }}&gt;&#10;                    &lt;Box style={{ width: 34, height: 34, borderRadius: 6, background: '#CB6B28', justifyContent: 'center', alignItems: 'center' }}&gt;&#10;                        &lt;Text style={{ fontSize: 15, fontWeight: 'bold', color: '#FFFFFF' }}&gt;05&lt;/Text&gt;&#10;                    &lt;/Box&gt;&#10;                    &lt;Text style={{ fontSize: 17, fontWeight: 'bold', color: '#CB6B28' }}&gt;工具结果理解&lt;/Text&gt;&#10;                &lt;/Box&gt;&#10;                &lt;Text style={{ fontSize: 14, color: '#546779', lineHeight: 1.5 }}&gt;四项包括查询成功、查询失败、错误房间与没有调用证据&lt;/Text&gt;&#10;                &lt;Text style={{ fontSize: 14, color: '#20344B', lineHeight: 1.5 }}&gt;看是否正确使用并承认边界&lt;/Text&gt;&#10;            &lt;/Box&gt;&#10;&#10;            &lt;Box style={{ width: 370, height: 196, background: '#F4F7FA', borderRadius: 10, padding: '20px 20px', flexDirection: 'column', gap: 6 }}&gt;&#10;                &lt;Box style={{ flexDirection: 'row', alignItems: 'center', gap: 12 }}&gt;&#10;                    &lt;Box style={{ width: 34, height: 34, borderRadius: 6, background: '#276FBF', justifyContent: 'center', alignItems: 'center' }}&gt;&#10;                        &lt;Text style={{ fontSize: 15, fontWeight: 'bold', color: '#FFFFFF' }}&gt;06&lt;/Text&gt;&#10;                    &lt;/Box&gt;&#10;                    &lt;Text style={{ fontSize: 17, fontWeight: 'bold', color: '#20344B' }}&gt;跨轮信息修正&lt;/Text&gt;&#10;                &lt;/Box&gt;&#10;                &lt;Text style={{ fontSize: 14, color: '#546779', lineHeight: 1.5 }}&gt;四项包括预约更新、人数更新、旧方案保留与冲突未解决&lt;/Text&gt;&#10;                &lt;Text style={{ fontSize: 14, color: '#20344B', lineHeight: 1.5 }}&gt;看是否按新证据修正而不伪造进展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1.6 为自己的任务选择模型&lt;/Text&gt;&#10;        &lt;Text style={{ fontSize: 14, color: '#546779' }}&gt;08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4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1.6.2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第二步：准备小而有区分度的任务集</a:t>
            </a:r>
            <a:endParaRPr/>
          </a:p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八项用来改，二十四项用来比</a:t>
            </a:r>
            <a:endParaRPr/>
          </a:p>
        </p:txBody>
      </p:sp>
      <p:sp>
        <p:nvSpPr>
          <p:cNvPr id="646" name=""/>
          <p:cNvSpPr/>
          <p:nvPr/>
        </p:nvSpPr>
        <p:spPr>
          <a:xfrm rot="0" flipH="0" flipV="0">
            <a:off x="609600" y="1238250"/>
            <a:ext cx="4762500" cy="9144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819150" y="1485900"/>
            <a:ext cx="4343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8 </a:t>
            </a: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项练习任务</a:t>
            </a:r>
            <a:endParaRPr/>
          </a:p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819150" y="1752600"/>
            <a:ext cx="434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用来检查提示是否清楚、评分规则是否一致，可以反复修改</a:t>
            </a:r>
            <a:endParaRPr/>
          </a:p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5753100" y="1514475"/>
            <a:ext cx="1143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4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50" name=""/>
          <p:cNvSpPr/>
          <p:nvPr/>
        </p:nvSpPr>
        <p:spPr>
          <a:xfrm rot="0" flipH="0" flipV="0">
            <a:off x="6248400" y="1238250"/>
            <a:ext cx="5334000" cy="9144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6457950" y="1485900"/>
            <a:ext cx="4914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24 </a:t>
            </a: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项评价任务　六组</a:t>
            </a:r>
            <a:r>
              <a:rPr lang="en-US" sz="15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每组四项</a:t>
            </a:r>
            <a:endParaRPr/>
          </a:p>
        </p:txBody>
      </p:sp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6457950" y="1752600"/>
            <a:ext cx="4914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开始比较之前冻结，不再改动，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这个分母保持固定</a:t>
            </a:r>
            <a:endParaRPr/>
          </a:p>
        </p:txBody>
      </p:sp>
      <p:sp>
        <p:nvSpPr>
          <p:cNvPr id="653" name=""/>
          <p:cNvSpPr/>
          <p:nvPr/>
        </p:nvSpPr>
        <p:spPr>
          <a:xfrm rot="0" flipH="0" flipV="0">
            <a:off x="609600" y="2305050"/>
            <a:ext cx="3524250" cy="1866900"/>
          </a:xfrm>
          <a:prstGeom prst="roundRect">
            <a:avLst>
              <a:gd name="adj" fmla="val 510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54" name=""/>
          <p:cNvSpPr/>
          <p:nvPr/>
        </p:nvSpPr>
        <p:spPr>
          <a:xfrm rot="0" flipH="0" flipV="0">
            <a:off x="800100" y="2495550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876300" y="2571750"/>
            <a:ext cx="180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656" name="" descr="{&quot;isTemplate&quot;:true,&quot;type&quot;:&quot;text&quot;}"/>
          <p:cNvSpPr txBox="1"/>
          <p:nvPr/>
        </p:nvSpPr>
        <p:spPr>
          <a:xfrm rot="0" flipH="0" flipV="0">
            <a:off x="1238250" y="2562225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材料理解</a:t>
            </a:r>
            <a:endParaRPr/>
          </a:p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800100" y="2876550"/>
            <a:ext cx="314325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四项覆盖明示条件、跨段条件、相近房间名与无关信息干扰</a:t>
            </a:r>
            <a:endParaRPr/>
          </a:p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800100" y="3419475"/>
            <a:ext cx="31432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看是否正确对应到对象</a:t>
            </a:r>
            <a:endParaRPr/>
          </a:p>
        </p:txBody>
      </p:sp>
      <p:sp>
        <p:nvSpPr>
          <p:cNvPr id="659" name=""/>
          <p:cNvSpPr/>
          <p:nvPr/>
        </p:nvSpPr>
        <p:spPr>
          <a:xfrm rot="0" flipH="0" flipV="0">
            <a:off x="4333875" y="2305050"/>
            <a:ext cx="3524250" cy="1866900"/>
          </a:xfrm>
          <a:prstGeom prst="roundRect">
            <a:avLst>
              <a:gd name="adj" fmla="val 510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60" name=""/>
          <p:cNvSpPr/>
          <p:nvPr/>
        </p:nvSpPr>
        <p:spPr>
          <a:xfrm rot="0" flipH="0" flipV="0">
            <a:off x="4524375" y="2495550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4600575" y="2571750"/>
            <a:ext cx="180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4962525" y="2562225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事实与缺失</a:t>
            </a:r>
            <a:endParaRPr/>
          </a:p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4524375" y="2876550"/>
            <a:ext cx="314325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四项分别是完整资料、缺容量、缺日期、只有未经证实的说法</a:t>
            </a:r>
            <a:endParaRPr/>
          </a:p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4524375" y="3419475"/>
            <a:ext cx="31432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看是否分清已知、未知和传闻</a:t>
            </a:r>
            <a:endParaRPr/>
          </a:p>
        </p:txBody>
      </p:sp>
      <p:sp>
        <p:nvSpPr>
          <p:cNvPr id="665" name=""/>
          <p:cNvSpPr/>
          <p:nvPr/>
        </p:nvSpPr>
        <p:spPr>
          <a:xfrm rot="0" flipH="0" flipV="0">
            <a:off x="8058150" y="2305050"/>
            <a:ext cx="3524250" cy="1866900"/>
          </a:xfrm>
          <a:prstGeom prst="roundRect">
            <a:avLst>
              <a:gd name="adj" fmla="val 510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66" name=""/>
          <p:cNvSpPr/>
          <p:nvPr/>
        </p:nvSpPr>
        <p:spPr>
          <a:xfrm rot="0" flipH="0" flipV="0">
            <a:off x="8248650" y="2495550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67" name="" descr="{&quot;isTemplate&quot;:true,&quot;type&quot;:&quot;text&quot;}"/>
          <p:cNvSpPr txBox="1"/>
          <p:nvPr/>
        </p:nvSpPr>
        <p:spPr>
          <a:xfrm rot="0" flipH="0" flipV="0">
            <a:off x="8324850" y="2571750"/>
            <a:ext cx="180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668" name="" descr="{&quot;isTemplate&quot;:true,&quot;type&quot;:&quot;text&quot;}"/>
          <p:cNvSpPr txBox="1"/>
          <p:nvPr/>
        </p:nvSpPr>
        <p:spPr>
          <a:xfrm rot="0" flipH="0" flipV="0">
            <a:off x="8686800" y="2562225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结构与抽取</a:t>
            </a:r>
            <a:endParaRPr/>
          </a:p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8248650" y="2876550"/>
            <a:ext cx="314325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四项覆盖固定字段、多个活动、空值以及字段之间的关系</a:t>
            </a:r>
            <a:endParaRPr/>
          </a:p>
        </p:txBody>
      </p:sp>
      <p:sp>
        <p:nvSpPr>
          <p:cNvPr id="670" name="" descr="{&quot;isTemplate&quot;:true,&quot;type&quot;:&quot;text&quot;}"/>
          <p:cNvSpPr txBox="1"/>
          <p:nvPr/>
        </p:nvSpPr>
        <p:spPr>
          <a:xfrm rot="0" flipH="0" flipV="0">
            <a:off x="8248650" y="3419475"/>
            <a:ext cx="31432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看可读结构是否同时正确</a:t>
            </a:r>
            <a:endParaRPr/>
          </a:p>
        </p:txBody>
      </p:sp>
      <p:sp>
        <p:nvSpPr>
          <p:cNvPr id="671" name=""/>
          <p:cNvSpPr/>
          <p:nvPr/>
        </p:nvSpPr>
        <p:spPr>
          <a:xfrm rot="0" flipH="0" flipV="0">
            <a:off x="609600" y="4324350"/>
            <a:ext cx="3524250" cy="1866900"/>
          </a:xfrm>
          <a:prstGeom prst="roundRect">
            <a:avLst>
              <a:gd name="adj" fmla="val 510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72" name=""/>
          <p:cNvSpPr/>
          <p:nvPr/>
        </p:nvSpPr>
        <p:spPr>
          <a:xfrm rot="0" flipH="0" flipV="0">
            <a:off x="800100" y="4514850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876300" y="4591050"/>
            <a:ext cx="180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674" name="" descr="{&quot;isTemplate&quot;:true,&quot;type&quot;:&quot;text&quot;}"/>
          <p:cNvSpPr txBox="1"/>
          <p:nvPr/>
        </p:nvSpPr>
        <p:spPr>
          <a:xfrm rot="0" flipH="0" flipV="0">
            <a:off x="1238250" y="4581525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时间与数量</a:t>
            </a:r>
            <a:endParaRPr/>
          </a:p>
        </p:txBody>
      </p:sp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800100" y="4895850"/>
            <a:ext cx="314325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四项覆盖容量边界、预约重叠、相邻时间段与持续时间</a:t>
            </a:r>
            <a:endParaRPr/>
          </a:p>
        </p:txBody>
      </p:sp>
      <p:sp>
        <p:nvSpPr>
          <p:cNvPr id="676" name="" descr="{&quot;isTemplate&quot;:true,&quot;type&quot;:&quot;text&quot;}"/>
          <p:cNvSpPr txBox="1"/>
          <p:nvPr/>
        </p:nvSpPr>
        <p:spPr>
          <a:xfrm rot="0" flipH="0" flipV="0">
            <a:off x="800100" y="5438775"/>
            <a:ext cx="31432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看是否满足明确规则</a:t>
            </a:r>
            <a:endParaRPr/>
          </a:p>
        </p:txBody>
      </p:sp>
      <p:sp>
        <p:nvSpPr>
          <p:cNvPr id="677" name=""/>
          <p:cNvSpPr/>
          <p:nvPr/>
        </p:nvSpPr>
        <p:spPr>
          <a:xfrm rot="0" flipH="0" flipV="0">
            <a:off x="4333875" y="4324350"/>
            <a:ext cx="3524250" cy="1866900"/>
          </a:xfrm>
          <a:prstGeom prst="roundRect">
            <a:avLst>
              <a:gd name="adj" fmla="val 510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78" name=""/>
          <p:cNvSpPr/>
          <p:nvPr/>
        </p:nvSpPr>
        <p:spPr>
          <a:xfrm rot="0" flipH="0" flipV="0">
            <a:off x="4524375" y="4514850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4600575" y="4591050"/>
            <a:ext cx="180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680" name="" descr="{&quot;isTemplate&quot;:true,&quot;type&quot;:&quot;text&quot;}"/>
          <p:cNvSpPr txBox="1"/>
          <p:nvPr/>
        </p:nvSpPr>
        <p:spPr>
          <a:xfrm rot="0" flipH="0" flipV="0">
            <a:off x="4962525" y="4581525"/>
            <a:ext cx="971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工具结果理解</a:t>
            </a:r>
            <a:endParaRPr/>
          </a:p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4524375" y="4895850"/>
            <a:ext cx="314325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四项包括查询成功、查询失败、错误房间与没有调用证据</a:t>
            </a:r>
            <a:endParaRPr/>
          </a:p>
        </p:txBody>
      </p:sp>
      <p:sp>
        <p:nvSpPr>
          <p:cNvPr id="682" name="" descr="{&quot;isTemplate&quot;:true,&quot;type&quot;:&quot;text&quot;}"/>
          <p:cNvSpPr txBox="1"/>
          <p:nvPr/>
        </p:nvSpPr>
        <p:spPr>
          <a:xfrm rot="0" flipH="0" flipV="0">
            <a:off x="4524375" y="5438775"/>
            <a:ext cx="31432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看是否正确使用并承认边界</a:t>
            </a:r>
            <a:endParaRPr/>
          </a:p>
        </p:txBody>
      </p:sp>
      <p:sp>
        <p:nvSpPr>
          <p:cNvPr id="683" name=""/>
          <p:cNvSpPr/>
          <p:nvPr/>
        </p:nvSpPr>
        <p:spPr>
          <a:xfrm rot="0" flipH="0" flipV="0">
            <a:off x="8058150" y="4324350"/>
            <a:ext cx="3524250" cy="1866900"/>
          </a:xfrm>
          <a:prstGeom prst="roundRect">
            <a:avLst>
              <a:gd name="adj" fmla="val 510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84" name=""/>
          <p:cNvSpPr/>
          <p:nvPr/>
        </p:nvSpPr>
        <p:spPr>
          <a:xfrm rot="0" flipH="0" flipV="0">
            <a:off x="8248650" y="4514850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85" name="" descr="{&quot;isTemplate&quot;:true,&quot;type&quot;:&quot;text&quot;}"/>
          <p:cNvSpPr txBox="1"/>
          <p:nvPr/>
        </p:nvSpPr>
        <p:spPr>
          <a:xfrm rot="0" flipH="0" flipV="0">
            <a:off x="8324850" y="4591050"/>
            <a:ext cx="180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8686800" y="4581525"/>
            <a:ext cx="971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跨轮信息修正</a:t>
            </a:r>
            <a:endParaRPr/>
          </a:p>
        </p:txBody>
      </p:sp>
      <p:sp>
        <p:nvSpPr>
          <p:cNvPr id="687" name="" descr="{&quot;isTemplate&quot;:true,&quot;type&quot;:&quot;text&quot;}"/>
          <p:cNvSpPr txBox="1"/>
          <p:nvPr/>
        </p:nvSpPr>
        <p:spPr>
          <a:xfrm rot="0" flipH="0" flipV="0">
            <a:off x="8248650" y="4895850"/>
            <a:ext cx="314325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四项包括预约更新、人数更新、旧方案保留与冲突未解决</a:t>
            </a:r>
            <a:endParaRPr/>
          </a:p>
        </p:txBody>
      </p:sp>
      <p:sp>
        <p:nvSpPr>
          <p:cNvPr id="688" name="" descr="{&quot;isTemplate&quot;:true,&quot;type&quot;:&quot;text&quot;}"/>
          <p:cNvSpPr txBox="1"/>
          <p:nvPr/>
        </p:nvSpPr>
        <p:spPr>
          <a:xfrm rot="0" flipH="0" flipV="0">
            <a:off x="8248650" y="5438775"/>
            <a:ext cx="31432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看是否按新证据修正而不伪造进展</a:t>
            </a:r>
            <a:endParaRPr/>
          </a:p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为自己的任务选择模型</a:t>
            </a:r>
            <a:endParaRPr/>
          </a:p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08 / 27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691" name="" descr="&lt;Slide notes={`六组任务各自考什么，我把它讲具体一点。&#10;&#10;材料理解这一组，考的是能不能把条件对应到正确的对象上。题面里会有明示条件，也会有跨段才能看出来的条件，还会故意放一些名字相近的房间和无关信息来干扰。&#10;&#10;事实与缺失这一组，考的是分不分得清已知、未知和传闻。四项分别是资料完整、缺容量、缺日期，以及只给了未经证实的说法。这一组特别重要，因为模型在信息不足时最容易编。&#10;&#10;结构与抽取这一组看输出格式，固定字段、多个活动、空值、字段之间的关系都要对。时间与数量这一组是硬规则，容量边界、预约重叠、相邻时间段、持续时间。&#10;&#10;工具结果理解这一组，四项分别是查询成功、查询失败、错误房间和没有调用证据，看它会不会把失败当成成功。跨轮信息修正这一组，考的是接到新证据以后是否按新事实修改，而不是嘴上说改了、实际还留着旧方案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6.2　第二步：准备小而有区分度的任务集&lt;/Text&gt;&#10;            &lt;Text style={{ fontSize: 34, fontWeight: 'bold', color: '#20344B' }}&gt;六组任务各测什么&lt;/Text&gt;&#10;        &lt;/Box&gt;&#10;    &lt;/Box&gt;&#10;&#10;    &lt;Box style={{ height: 540, flexDirection: 'column', justifyContent: 'center', gap: 6 }}&gt;&#10;&#10;        &lt;Box style={{ height: 30, flexDirection: 'row', alignItems: 'center' }}&gt;&#10;            &lt;Box style={{ width: 240, paddingLeft: 18 }}&gt;&lt;Text style={{ fontSize: 14, color: '#546779' }}&gt;任务组&lt;/Text&gt;&lt;/Box&gt;&#10;            &lt;Box style={{ width: 480, paddingLeft: 12 }}&gt;&lt;Text style={{ fontSize: 14, color: '#546779' }}&gt;四项任务应覆盖什么&lt;/Text&gt;&lt;/Box&gt;&#10;            &lt;Box style={{ width: 432, paddingLeft: 12 }}&gt;&lt;Text style={{ fontSize: 14, color: '#546779' }}&gt;主要看什么&lt;/Text&gt;&lt;/Box&gt;&#10;        &lt;/Box&gt;&#10;&#10;        &lt;Box style={{ height: 74, background: '#F4F7FA', borderRadius: 8, flexDirection: 'row', alignItems: 'center' }}&gt;&#10;            &lt;Box style={{ width: 4, height: 44, background: '#276FBF' }} /&gt;&#10;            &lt;Box style={{ width: 236, paddingLeft: 14 }}&gt;&lt;Text style={{ fontSize: 16, fontWeight: 'bold', color: '#20344B' }}&gt;材料理解&lt;/Text&gt;&lt;/Box&gt;&#10;            &lt;Box style={{ width: 480, paddingLeft: 12 }}&gt;&lt;Text style={{ fontSize: 15, color: '#546779' }}&gt;明示条件、跨段条件、相近房间名、无关信息干扰&lt;/Text&gt;&lt;/Box&gt;&#10;            &lt;Box style={{ width: 432, paddingLeft: 12 }}&gt;&lt;Text style={{ fontSize: 15, color: '#20344B' }}&gt;把正确条件对应到正确对象&lt;/Text&gt;&lt;/Box&gt;&#10;        &lt;/Box&gt;&#10;&#10;        &lt;Box style={{ height: 74, background: '#F4F7FA', borderRadius: 8, flexDirection: 'row', alignItems: 'center' }}&gt;&#10;            &lt;Box style={{ width: 4, height: 44, background: '#276FBF' }} /&gt;&#10;            &lt;Box style={{ width: 236, paddingLeft: 14 }}&gt;&lt;Text style={{ fontSize: 16, fontWeight: 'bold', color: '#20344B' }}&gt;事实与缺失&lt;/Text&gt;&lt;/Box&gt;&#10;            &lt;Box style={{ width: 480, paddingLeft: 12 }}&gt;&lt;Text style={{ fontSize: 15, color: '#546779' }}&gt;完整资料、缺容量、缺日期、只有未经证实的说法&lt;/Text&gt;&lt;/Box&gt;&#10;            &lt;Box style={{ width: 432, paddingLeft: 12 }}&gt;&lt;Text style={{ fontSize: 15, color: '#20344B' }}&gt;分清已知、未知和传闻&lt;/Text&gt;&lt;/Box&gt;&#10;        &lt;/Box&gt;&#10;&#10;        &lt;Box style={{ height: 74, background: '#F4F7FA', borderRadius: 8, flexDirection: 'row', alignItems: 'center' }}&gt;&#10;            &lt;Box style={{ width: 4, height: 44, background: '#276FBF' }} /&gt;&#10;            &lt;Box style={{ width: 236, paddingLeft: 14 }}&gt;&lt;Text style={{ fontSize: 16, fontWeight: 'bold', color: '#20344B' }}&gt;结构与抽取&lt;/Text&gt;&lt;/Box&gt;&#10;            &lt;Box style={{ width: 480, paddingLeft: 12 }}&gt;&lt;Text style={{ fontSize: 15, color: '#546779' }}&gt;固定字段、多个活动、空值、字段关系&lt;/Text&gt;&lt;/Box&gt;&#10;            &lt;Box style={{ width: 432, paddingLeft: 12 }}&gt;&lt;Text style={{ fontSize: 15, color: '#20344B' }}&gt;可读结构与内容是否同时正确&lt;/Text&gt;&lt;/Box&gt;&#10;        &lt;/Box&gt;&#10;&#10;        &lt;Box style={{ height: 74, background: '#F4F7FA', borderRadius: 8, flexDirection: 'row', alignItems: 'center' }}&gt;&#10;            &lt;Box style={{ width: 4, height: 44, background: '#276FBF' }} /&gt;&#10;            &lt;Box style={{ width: 236, paddingLeft: 14 }}&gt;&lt;Text style={{ fontSize: 16, fontWeight: 'bold', color: '#20344B' }}&gt;时间与数量&lt;/Text&gt;&lt;/Box&gt;&#10;            &lt;Box style={{ width: 480, paddingLeft: 12 }}&gt;&lt;Text style={{ fontSize: 15, color: '#546779' }}&gt;容量边界、预约重叠、相邻时间段、持续时间&lt;/Text&gt;&lt;/Box&gt;&#10;            &lt;Box style={{ width: 432, paddingLeft: 12 }}&gt;&lt;Text style={{ fontSize: 15, color: '#20344B' }}&gt;是否满足明确规则&lt;/Text&gt;&lt;/Box&gt;&#10;        &lt;/Box&gt;&#10;&#10;        &lt;Box style={{ height: 74, background: '#FFF4E6', borderRadius: 8, flexDirection: 'row', alignItems: 'center' }}&gt;&#10;            &lt;Box style={{ width: 4, height: 44, background: '#CB6B28' }} /&gt;&#10;            &lt;Box style={{ width: 236, paddingLeft: 14 }}&gt;&lt;Text style={{ fontSize: 16, fontWeight: 'bold', color: '#CB6B28' }}&gt;工具结果理解&lt;/Text&gt;&lt;/Box&gt;&#10;            &lt;Box style={{ width: 480, paddingLeft: 12 }}&gt;&lt;Text style={{ fontSize: 15, color: '#546779' }}&gt;查询成功、查询失败、错误房间、没有调用证据&lt;/Text&gt;&lt;/Box&gt;&#10;            &lt;Box style={{ width: 432, paddingLeft: 12 }}&gt;&lt;Text style={{ fontSize: 15, color: '#20344B' }}&gt;正确使用结果并承认执行边界&lt;/Text&gt;&lt;/Box&gt;&#10;        &lt;/Box&gt;&#10;&#10;        &lt;Box style={{ height: 74, background: '#F4F7FA', borderRadius: 8, flexDirection: 'row', alignItems: 'center' }}&gt;&#10;            &lt;Box style={{ width: 4, height: 44, background: '#276FBF' }} /&gt;&#10;            &lt;Box style={{ width: 236, paddingLeft: 14 }}&gt;&lt;Text style={{ fontSize: 16, fontWeight: 'bold', color: '#20344B' }}&gt;跨轮信息修正&lt;/Text&gt;&lt;/Box&gt;&#10;            &lt;Box style={{ width: 480, paddingLeft: 12 }}&gt;&lt;Text style={{ fontSize: 15, color: '#546779' }}&gt;预约更新、人数更新、旧方案保留、冲突未解决&lt;/Text&gt;&lt;/Box&gt;&#10;            &lt;Box style={{ width: 432, paddingLeft: 12 }}&gt;&lt;Text style={{ fontSize: 15, color: '#20344B' }}&gt;按新证据修正而不伪造进展&lt;/Text&gt;&lt;/Box&gt;&#10;        &lt;/Box&gt;&#10;&#10;    &lt;/Box&gt;&#10;&#10;    &lt;Box style={{ height: 40, flexDirection: 'row', justifyContent: 'space-between', alignItems: 'center' }}&gt;&#10;        &lt;Text style={{ fontSize: 14, color: '#546779' }}&gt;1.6 为自己的任务选择模型&lt;/Text&gt;&#10;        &lt;Text style={{ fontSize: 14, color: '#546779' }}&gt;09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9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9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590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1.6.2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第二步：准备小而有区分度的任务集</a:t>
            </a:r>
            <a:endParaRPr/>
          </a:p>
        </p:txBody>
      </p:sp>
      <p:sp>
        <p:nvSpPr>
          <p:cNvPr id="69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590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六组任务各测什么</a:t>
            </a:r>
            <a:endParaRPr/>
          </a:p>
        </p:txBody>
      </p:sp>
      <p:sp>
        <p:nvSpPr>
          <p:cNvPr id="696" name="" descr="{&quot;isTemplate&quot;:true,&quot;type&quot;:&quot;text&quot;}"/>
          <p:cNvSpPr txBox="1"/>
          <p:nvPr/>
        </p:nvSpPr>
        <p:spPr>
          <a:xfrm rot="0" flipH="0" flipV="0">
            <a:off x="781050" y="135255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任务组</a:t>
            </a:r>
            <a:endParaRPr/>
          </a:p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3009900" y="1352550"/>
            <a:ext cx="445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四项任务应覆盖什么</a:t>
            </a:r>
            <a:endParaRPr/>
          </a:p>
        </p:txBody>
      </p:sp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7581900" y="1352550"/>
            <a:ext cx="4000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主要看什么</a:t>
            </a:r>
            <a:endParaRPr/>
          </a:p>
        </p:txBody>
      </p:sp>
      <p:sp>
        <p:nvSpPr>
          <p:cNvPr id="699" name=""/>
          <p:cNvSpPr/>
          <p:nvPr/>
        </p:nvSpPr>
        <p:spPr>
          <a:xfrm rot="0" flipH="0" flipV="0">
            <a:off x="609600" y="1628775"/>
            <a:ext cx="10972800" cy="704850"/>
          </a:xfrm>
          <a:prstGeom prst="roundRect">
            <a:avLst>
              <a:gd name="adj" fmla="val 108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00" name=""/>
          <p:cNvSpPr/>
          <p:nvPr/>
        </p:nvSpPr>
        <p:spPr>
          <a:xfrm rot="0" flipH="0" flipV="0">
            <a:off x="609600" y="177165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01" name="" descr="{&quot;isTemplate&quot;:true,&quot;type&quot;:&quot;text&quot;}"/>
          <p:cNvSpPr txBox="1"/>
          <p:nvPr/>
        </p:nvSpPr>
        <p:spPr>
          <a:xfrm rot="0" flipH="0" flipV="0">
            <a:off x="781050" y="1885950"/>
            <a:ext cx="2114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材料理解</a:t>
            </a:r>
            <a:endParaRPr/>
          </a:p>
        </p:txBody>
      </p:sp>
      <p:sp>
        <p:nvSpPr>
          <p:cNvPr id="702" name="" descr="{&quot;isTemplate&quot;:true,&quot;type&quot;:&quot;text&quot;}"/>
          <p:cNvSpPr txBox="1"/>
          <p:nvPr/>
        </p:nvSpPr>
        <p:spPr>
          <a:xfrm rot="0" flipH="0" flipV="0">
            <a:off x="3009900" y="1895475"/>
            <a:ext cx="4457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明示条件、跨段条件、相近房间名、无关信息干扰</a:t>
            </a:r>
            <a:endParaRPr/>
          </a:p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7581900" y="1895475"/>
            <a:ext cx="4000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把正确条件对应到正确对象</a:t>
            </a:r>
            <a:endParaRPr/>
          </a:p>
        </p:txBody>
      </p:sp>
      <p:sp>
        <p:nvSpPr>
          <p:cNvPr id="704" name=""/>
          <p:cNvSpPr/>
          <p:nvPr/>
        </p:nvSpPr>
        <p:spPr>
          <a:xfrm rot="0" flipH="0" flipV="0">
            <a:off x="609600" y="2390775"/>
            <a:ext cx="10972800" cy="704850"/>
          </a:xfrm>
          <a:prstGeom prst="roundRect">
            <a:avLst>
              <a:gd name="adj" fmla="val 108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05" name=""/>
          <p:cNvSpPr/>
          <p:nvPr/>
        </p:nvSpPr>
        <p:spPr>
          <a:xfrm rot="0" flipH="0" flipV="0">
            <a:off x="609600" y="253365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06" name="" descr="{&quot;isTemplate&quot;:true,&quot;type&quot;:&quot;text&quot;}"/>
          <p:cNvSpPr txBox="1"/>
          <p:nvPr/>
        </p:nvSpPr>
        <p:spPr>
          <a:xfrm rot="0" flipH="0" flipV="0">
            <a:off x="781050" y="2647950"/>
            <a:ext cx="2114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事实与缺失</a:t>
            </a:r>
            <a:endParaRPr/>
          </a:p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3009900" y="2657475"/>
            <a:ext cx="4457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完整资料、缺容量、缺日期、只有未经证实的说法</a:t>
            </a:r>
            <a:endParaRPr/>
          </a:p>
        </p:txBody>
      </p:sp>
      <p:sp>
        <p:nvSpPr>
          <p:cNvPr id="708" name="" descr="{&quot;isTemplate&quot;:true,&quot;type&quot;:&quot;text&quot;}"/>
          <p:cNvSpPr txBox="1"/>
          <p:nvPr/>
        </p:nvSpPr>
        <p:spPr>
          <a:xfrm rot="0" flipH="0" flipV="0">
            <a:off x="7581900" y="2657475"/>
            <a:ext cx="4000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分清已知、未知和传闻</a:t>
            </a:r>
            <a:endParaRPr/>
          </a:p>
        </p:txBody>
      </p:sp>
      <p:sp>
        <p:nvSpPr>
          <p:cNvPr id="709" name=""/>
          <p:cNvSpPr/>
          <p:nvPr/>
        </p:nvSpPr>
        <p:spPr>
          <a:xfrm rot="0" flipH="0" flipV="0">
            <a:off x="609600" y="3152775"/>
            <a:ext cx="10972800" cy="704850"/>
          </a:xfrm>
          <a:prstGeom prst="roundRect">
            <a:avLst>
              <a:gd name="adj" fmla="val 108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10" name=""/>
          <p:cNvSpPr/>
          <p:nvPr/>
        </p:nvSpPr>
        <p:spPr>
          <a:xfrm rot="0" flipH="0" flipV="0">
            <a:off x="609600" y="329565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781050" y="3409950"/>
            <a:ext cx="2114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结构与抽取</a:t>
            </a:r>
            <a:endParaRPr/>
          </a:p>
        </p:txBody>
      </p:sp>
      <p:sp>
        <p:nvSpPr>
          <p:cNvPr id="712" name="" descr="{&quot;isTemplate&quot;:true,&quot;type&quot;:&quot;text&quot;}"/>
          <p:cNvSpPr txBox="1"/>
          <p:nvPr/>
        </p:nvSpPr>
        <p:spPr>
          <a:xfrm rot="0" flipH="0" flipV="0">
            <a:off x="3009900" y="3419475"/>
            <a:ext cx="4457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固定字段、多个活动、空值、字段关系</a:t>
            </a:r>
            <a:endParaRPr/>
          </a:p>
        </p:txBody>
      </p:sp>
      <p:sp>
        <p:nvSpPr>
          <p:cNvPr id="713" name="" descr="{&quot;isTemplate&quot;:true,&quot;type&quot;:&quot;text&quot;}"/>
          <p:cNvSpPr txBox="1"/>
          <p:nvPr/>
        </p:nvSpPr>
        <p:spPr>
          <a:xfrm rot="0" flipH="0" flipV="0">
            <a:off x="7581900" y="3419475"/>
            <a:ext cx="4000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可读结构与内容是否同时正确</a:t>
            </a:r>
            <a:endParaRPr/>
          </a:p>
        </p:txBody>
      </p:sp>
      <p:sp>
        <p:nvSpPr>
          <p:cNvPr id="714" name=""/>
          <p:cNvSpPr/>
          <p:nvPr/>
        </p:nvSpPr>
        <p:spPr>
          <a:xfrm rot="0" flipH="0" flipV="0">
            <a:off x="609600" y="3914775"/>
            <a:ext cx="10972800" cy="704850"/>
          </a:xfrm>
          <a:prstGeom prst="roundRect">
            <a:avLst>
              <a:gd name="adj" fmla="val 108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15" name=""/>
          <p:cNvSpPr/>
          <p:nvPr/>
        </p:nvSpPr>
        <p:spPr>
          <a:xfrm rot="0" flipH="0" flipV="0">
            <a:off x="609600" y="405765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16" name="" descr="{&quot;isTemplate&quot;:true,&quot;type&quot;:&quot;text&quot;}"/>
          <p:cNvSpPr txBox="1"/>
          <p:nvPr/>
        </p:nvSpPr>
        <p:spPr>
          <a:xfrm rot="0" flipH="0" flipV="0">
            <a:off x="781050" y="4171950"/>
            <a:ext cx="2114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时间与数量</a:t>
            </a:r>
            <a:endParaRPr/>
          </a:p>
        </p:txBody>
      </p:sp>
      <p:sp>
        <p:nvSpPr>
          <p:cNvPr id="717" name="" descr="{&quot;isTemplate&quot;:true,&quot;type&quot;:&quot;text&quot;}"/>
          <p:cNvSpPr txBox="1"/>
          <p:nvPr/>
        </p:nvSpPr>
        <p:spPr>
          <a:xfrm rot="0" flipH="0" flipV="0">
            <a:off x="3009900" y="4181475"/>
            <a:ext cx="4457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容量边界、预约重叠、相邻时间段、持续时间</a:t>
            </a:r>
            <a:endParaRPr/>
          </a:p>
        </p:txBody>
      </p:sp>
      <p:sp>
        <p:nvSpPr>
          <p:cNvPr id="718" name="" descr="{&quot;isTemplate&quot;:true,&quot;type&quot;:&quot;text&quot;}"/>
          <p:cNvSpPr txBox="1"/>
          <p:nvPr/>
        </p:nvSpPr>
        <p:spPr>
          <a:xfrm rot="0" flipH="0" flipV="0">
            <a:off x="7581900" y="4181475"/>
            <a:ext cx="4000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是否满足明确规则</a:t>
            </a:r>
            <a:endParaRPr/>
          </a:p>
        </p:txBody>
      </p:sp>
      <p:sp>
        <p:nvSpPr>
          <p:cNvPr id="719" name=""/>
          <p:cNvSpPr/>
          <p:nvPr/>
        </p:nvSpPr>
        <p:spPr>
          <a:xfrm rot="0" flipH="0" flipV="0">
            <a:off x="609600" y="4676775"/>
            <a:ext cx="10972800" cy="704850"/>
          </a:xfrm>
          <a:prstGeom prst="roundRect">
            <a:avLst>
              <a:gd name="adj" fmla="val 1081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20" name=""/>
          <p:cNvSpPr/>
          <p:nvPr/>
        </p:nvSpPr>
        <p:spPr>
          <a:xfrm rot="0" flipH="0" flipV="0">
            <a:off x="609600" y="4819650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721" name="" descr="{&quot;isTemplate&quot;:true,&quot;type&quot;:&quot;text&quot;}"/>
          <p:cNvSpPr txBox="1"/>
          <p:nvPr/>
        </p:nvSpPr>
        <p:spPr>
          <a:xfrm rot="0" flipH="0" flipV="0">
            <a:off x="781050" y="4933950"/>
            <a:ext cx="2114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工具结果理解</a:t>
            </a:r>
            <a:endParaRPr/>
          </a:p>
        </p:txBody>
      </p:sp>
      <p:sp>
        <p:nvSpPr>
          <p:cNvPr id="722" name="" descr="{&quot;isTemplate&quot;:true,&quot;type&quot;:&quot;text&quot;}"/>
          <p:cNvSpPr txBox="1"/>
          <p:nvPr/>
        </p:nvSpPr>
        <p:spPr>
          <a:xfrm rot="0" flipH="0" flipV="0">
            <a:off x="3009900" y="4943475"/>
            <a:ext cx="4457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查询成功、查询失败、错误房间、没有调用证据</a:t>
            </a:r>
            <a:endParaRPr/>
          </a:p>
        </p:txBody>
      </p:sp>
      <p:sp>
        <p:nvSpPr>
          <p:cNvPr id="723" name="" descr="{&quot;isTemplate&quot;:true,&quot;type&quot;:&quot;text&quot;}"/>
          <p:cNvSpPr txBox="1"/>
          <p:nvPr/>
        </p:nvSpPr>
        <p:spPr>
          <a:xfrm rot="0" flipH="0" flipV="0">
            <a:off x="7581900" y="4943475"/>
            <a:ext cx="4000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正确使用结果并承认执行边界</a:t>
            </a:r>
            <a:endParaRPr/>
          </a:p>
        </p:txBody>
      </p:sp>
      <p:sp>
        <p:nvSpPr>
          <p:cNvPr id="724" name=""/>
          <p:cNvSpPr/>
          <p:nvPr/>
        </p:nvSpPr>
        <p:spPr>
          <a:xfrm rot="0" flipH="0" flipV="0">
            <a:off x="609600" y="5438775"/>
            <a:ext cx="10972800" cy="704850"/>
          </a:xfrm>
          <a:prstGeom prst="roundRect">
            <a:avLst>
              <a:gd name="adj" fmla="val 108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25" name=""/>
          <p:cNvSpPr/>
          <p:nvPr/>
        </p:nvSpPr>
        <p:spPr>
          <a:xfrm rot="0" flipH="0" flipV="0">
            <a:off x="609600" y="558165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26" name="" descr="{&quot;isTemplate&quot;:true,&quot;type&quot;:&quot;text&quot;}"/>
          <p:cNvSpPr txBox="1"/>
          <p:nvPr/>
        </p:nvSpPr>
        <p:spPr>
          <a:xfrm rot="0" flipH="0" flipV="0">
            <a:off x="781050" y="5695950"/>
            <a:ext cx="2114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跨轮信息修正</a:t>
            </a:r>
            <a:endParaRPr/>
          </a:p>
        </p:txBody>
      </p:sp>
      <p:sp>
        <p:nvSpPr>
          <p:cNvPr id="727" name="" descr="{&quot;isTemplate&quot;:true,&quot;type&quot;:&quot;text&quot;}"/>
          <p:cNvSpPr txBox="1"/>
          <p:nvPr/>
        </p:nvSpPr>
        <p:spPr>
          <a:xfrm rot="0" flipH="0" flipV="0">
            <a:off x="3009900" y="5705475"/>
            <a:ext cx="4457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预约更新、人数更新、旧方案保留、冲突未解决</a:t>
            </a:r>
            <a:endParaRPr/>
          </a:p>
        </p:txBody>
      </p:sp>
      <p:sp>
        <p:nvSpPr>
          <p:cNvPr id="728" name="" descr="{&quot;isTemplate&quot;:true,&quot;type&quot;:&quot;text&quot;}"/>
          <p:cNvSpPr txBox="1"/>
          <p:nvPr/>
        </p:nvSpPr>
        <p:spPr>
          <a:xfrm rot="0" flipH="0" flipV="0">
            <a:off x="7581900" y="5705475"/>
            <a:ext cx="4000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按新证据修正而不伪造进展</a:t>
            </a:r>
            <a:endParaRPr/>
          </a:p>
        </p:txBody>
      </p:sp>
      <p:sp>
        <p:nvSpPr>
          <p:cNvPr id="72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为自己的任务选择模型</a:t>
            </a:r>
            <a:endParaRPr/>
          </a:p>
        </p:txBody>
      </p:sp>
      <p:sp>
        <p:nvSpPr>
          <p:cNvPr id="73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 / 27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36" name="" descr="&lt;Slide notes={`第五组工具结果理解，有一件事必须说清楚，否则很容易自欺欺人。&#10;&#10;在还没有接入真实工具的时候，我们可以提供预先写好的工具结果，比如一段查询成功的返回，一段查询失败的返回，或者一个指向错误房间的结果。让模型读这些结果，看它能不能正确使用，会不会把失败当成成功，会不会在没有调用证据的情况下仍然宣布完成。&#10;&#10;这种做法有它的价值，但它必须被标成工具结果理解测试。不能因为模型正确解读了一段预置的失败返回，就说它已经成功调用过工具。这两件事差得很远，一个是理解，一个是执行。&#10;&#10;第二章接通工具之后，再增加真实参数选择、执行和回传的端到端测试，那时候测的才是完整的调用链。另外，每项任务都要保存四样东西：原始输入、预期检查项、允许的答案范围和失败条件，缺一样，事后就没法复盘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6.2　第二步：准备小而有区分度的任务集&lt;/Text&gt;&#10;            &lt;Text style={{ fontSize: 34, fontWeight: 'bold', color: '#20344B' }}&gt;没有真工具，也能考懂结果&lt;/Text&gt;&#10;        &lt;/Box&gt;&#10;    &lt;/Box&gt;&#10;&#10;    &lt;Box style={{ height: 540, flexDirection: 'row', gap: 40 }}&gt;&#10;&#10;        &lt;Box style={{ width: 340, flexDirection: 'column', justifyContent: 'center', gap: 16 }}&gt;&#10;            &lt;Text style={{ fontSize: 25, fontWeight: 'bold', color: '#276FBF', lineHeight: 1.45 }}&gt;读得懂返回，不等于调得动工具&lt;/Text&gt;&#10;            &lt;Box style={{ width: 56, height: 3, background: '#26816B' }} /&gt;&#10;            &lt;Text style={{ fontSize: 17, color: '#546779', lineHeight: 1.75 }}&gt;在尚未接入真实工具时，用预先写好的结果考察理解能力，是可行的做法，但必须把测试的名字写准。&lt;/Text&gt;&#10;        &lt;/Box&gt;&#10;&#10;        &lt;Box style={{ flex: 1, flexDirection: 'column', justifyContent: 'center', gap: 12 }}&gt;&#10;&#10;            &lt;Box style={{ height: 84, background: '#F4F7FA', borderRadius: 8, padding: '0 20px', flexDirection: 'row', alignItems: 'center', gap: 12 }}&gt;&#10;                &lt;Box style={{ width: 4, height: 44, background: '#276FBF' }} /&gt;&#10;                &lt;Box style={{ flexDirection: 'column', gap: 3 }}&gt;&#10;                    &lt;Text style={{ fontSize: 17, fontWeight: 'bold', color: '#20344B' }}&gt;用预置结果替代真实调用&lt;/Text&gt;&#10;                    &lt;Text style={{ fontSize: 14, color: '#546779' }}&gt;第五组可以提供写好的查询成功、查询失败与错误房间结果&lt;/Text&gt;&#10;                &lt;/Box&gt;&#10;            &lt;/Box&gt;&#10;&#10;            &lt;Box style={{ height: 84, background: '#FFF4E6', borderRadius: 8, padding: '0 20px', flexDirection: 'row', alignItems: 'center', gap: 12 }}&gt;&#10;                &lt;Box style={{ width: 4, height: 44, background: '#CB6B28' }} /&gt;&#10;                &lt;Box style={{ flexDirection: 'column', gap: 3 }}&gt;&#10;                    &lt;Text style={{ fontSize: 17, fontWeight: 'bold', color: '#CB6B28' }}&gt;必须标为工具结果理解测试&lt;/Text&gt;&#10;                    &lt;Text style={{ fontSize: 14, color: '#546779' }}&gt;不能当成模型已经成功调用工具&lt;/Text&gt;&#10;                &lt;/Box&gt;&#10;            &lt;/Box&gt;&#10;&#10;            &lt;Box style={{ height: 84, background: '#F4F7FA', borderRadius: 8, padding: '0 20px', flexDirection: 'row', alignItems: 'center', gap: 12 }}&gt;&#10;                &lt;Box style={{ width: 4, height: 44, background: '#276FBF' }} /&gt;&#10;                &lt;Box style={{ flexDirection: 'column', gap: 3 }}&gt;&#10;                    &lt;Text style={{ fontSize: 17, fontWeight: 'bold', color: '#20344B' }}&gt;接通工具后再加端到端测试&lt;/Text&gt;&#10;                    &lt;Text style={{ fontSize: 14, color: '#546779' }}&gt;第二章之后增加真实参数选择、执行和回传的测试&lt;/Text&gt;&#10;                &lt;/Box&gt;&#10;            &lt;/Box&gt;&#10;&#10;            &lt;Box style={{ height: 84, background: '#F4F7FA', borderRadius: 8, padding: '0 20px', flexDirection: 'row', alignItems: 'center', gap: 12 }}&gt;&#10;                &lt;Box style={{ width: 4, height: 44, background: '#276FBF' }} /&gt;&#10;                &lt;Box style={{ flexDirection: 'column', gap: 3 }}&gt;&#10;                    &lt;Text style={{ fontSize: 17, fontWeight: 'bold', color: '#20344B' }}&gt;每项任务存四样东西&lt;/Text&gt;&#10;                    &lt;Text style={{ fontSize: 14, color: '#546779' }}&gt;原始输入、预期检查项、允许的答案范围、失败条件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1.6 为自己的任务选择模型&lt;/Text&gt;&#10;        &lt;Text style={{ fontSize: 14, color: '#546779' }}&gt;10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1.6.2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第二步：准备小而有区分度的任务集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没有真工具，也能考懂结果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09600" y="2619375"/>
            <a:ext cx="32385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875" b="1">
                <a:solidFill>
                  <a:srgbClr val="276FBF"/>
                </a:solidFill>
                <a:latin typeface="Microsoft YaHei"/>
                <a:ea typeface="Microsoft YaHei"/>
              </a:rPr>
              <a:t>读得懂返回，不等于调得动工具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609600" y="3600450"/>
            <a:ext cx="533400" cy="28575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09600" y="3781425"/>
            <a:ext cx="3238500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在尚未接入真实工具时，用预先写好的结果考察理解能力，是可行的做法，但必须把测试的名字写准。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4229100" y="1943100"/>
            <a:ext cx="7353300" cy="80010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5" name=""/>
          <p:cNvSpPr/>
          <p:nvPr/>
        </p:nvSpPr>
        <p:spPr>
          <a:xfrm rot="0" flipH="0" flipV="0">
            <a:off x="4419600" y="21336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4572000" y="2152650"/>
            <a:ext cx="3467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用预置结果替代真实调用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4572000" y="2381250"/>
            <a:ext cx="3467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第五组可以提供写好的查询成功、查询失败与错误房间结果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4229100" y="2857500"/>
            <a:ext cx="7353300" cy="800100"/>
          </a:xfrm>
          <a:prstGeom prst="roundRect">
            <a:avLst>
              <a:gd name="adj" fmla="val 952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9" name=""/>
          <p:cNvSpPr/>
          <p:nvPr/>
        </p:nvSpPr>
        <p:spPr>
          <a:xfrm rot="0" flipH="0" flipV="0">
            <a:off x="4419600" y="3048000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4572000" y="3067050"/>
            <a:ext cx="1943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必须标为工具结果理解测试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4572000" y="3295650"/>
            <a:ext cx="1943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不能当成模型已经成功调用工具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4229100" y="3771900"/>
            <a:ext cx="7353300" cy="80010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3" name=""/>
          <p:cNvSpPr/>
          <p:nvPr/>
        </p:nvSpPr>
        <p:spPr>
          <a:xfrm rot="0" flipH="0" flipV="0">
            <a:off x="4419600" y="39624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4572000" y="3981450"/>
            <a:ext cx="2933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接通工具后再加端到端测试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4572000" y="4210050"/>
            <a:ext cx="293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第二章之后增加真实参数选择、执行和回传的测试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4229100" y="4686300"/>
            <a:ext cx="7353300" cy="80010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7" name=""/>
          <p:cNvSpPr/>
          <p:nvPr/>
        </p:nvSpPr>
        <p:spPr>
          <a:xfrm rot="0" flipH="0" flipV="0">
            <a:off x="4419600" y="48768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4572000" y="4895850"/>
            <a:ext cx="3067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每项任务存四样东西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4572000" y="5124450"/>
            <a:ext cx="3067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原始输入、预期检查项、允许的答案范围、失败条件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为自己的任务选择模型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 / 27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62" name="" descr="&lt;Slide notes={`这道题可以拿来直接用。原方案是 10:15 到 10:45，需要连续三十分钟，而 10:00 到 10:30 已经有一条预约。正确判断是它与已有预约重叠，所以不可行。&#10;&#10;10:30 到 11:00 是一个可行答案，但不是唯一答案；其他条件允许时，09:00 到 09:30 也符合题意。&#10;&#10;这里有一处必须提前约定：时间区间按左闭右开处理，首尾相接不算重叠。如果不写这一句，评分的人完全可能把 10:30 开始的答案判成另一种结果。评价规则里的歧义，最后会被误算成模型之间的差异。&#10;&#10;评分时检查容量、时长、开放时间和预约交集，不要求输出逐字等于参考答案。开放题的答案本来就不唯一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6.2　第二步：准备小而有区分度的任务集&lt;/Text&gt;&#10;            &lt;Text style={{ fontSize: 34, fontWeight: 'bold', color: '#20344B' }}&gt;一道题看清边界约定&lt;/Text&gt;&#10;        &lt;/Box&gt;&#10;    &lt;/Box&gt;&#10;&#10;    &lt;Box style={{ height: 540, flexDirection: 'column', justifyContent: 'center', gap: 18 }}&gt;&#10;&#10;        &lt;Box style={{ height: 190, background: '#F7F3E8', borderRadius: 12, padding: '22px 26px', flexDirection: 'column', gap: 8 }}&gt;&#10;            &lt;Box style={{ flexDirection: 'row', alignItems: 'center', gap: 10 }}&gt;&#10;                &lt;Box style={{ width: 3, height: 22, background: '#CB6B28' }} /&gt;&#10;                &lt;Text style={{ fontSize: 18, fontWeight: 'bold', color: '#20344B' }}&gt;练习任务：检查 10:15 – 10:45 是否可行&lt;/Text&gt;&#10;            &lt;/Box&gt;&#10;            &lt;Text style={{ fontSize: 15, color: '#20344B', lineHeight: 1.7 }}&gt;开放日为 2026 年 10 月 17 日，时区为 Asia/Shanghai，开放时间 09:00 – 12:00。手作室容量十二人，10:00 – 10:30 已有预约。手作活动有十名参加者，需要连续三十分钟，拟安排 10:15 – 10:45。请检查是否可行；若不可行，在不改变人数和活动时长的情况下给出一个可行时段，并指出依据。&lt;/Text&gt;&#10;            &lt;Text style={{ fontSize: 15, color: '#CB6B28', lineHeight: 1.7 }}&gt;时间区间按左闭右开处理，首尾相接不算重叠。&lt;/Text&gt;&#10;        &lt;/Box&gt;&#10;&#10;        &lt;Box style={{ flexDirection: 'row', gap: 24 }}&gt;&#10;&#10;            &lt;Box style={{ width: 564, height: 160, background: '#FFF4E6', borderRadius: 12, padding: '22px 24px', flexDirection: 'column', gap: 6 }}&gt;&#10;                &lt;Text style={{ fontSize: 22, fontWeight: 'bold', color: '#CB6B28' }}&gt;原方案　10:15 – 10:45&lt;/Text&gt;&#10;                &lt;Text style={{ fontSize: 15, color: '#546779', lineHeight: 1.6 }}&gt;整段落进 10:00 – 10:30 的已有预约，重叠，不可行。&lt;/Text&gt;&#10;            &lt;/Box&gt;&#10;&#10;            &lt;Box style={{ width: 564, height: 160, background: '#ECF7F2', borderRadius: 12, padding: '22px 24px', flexDirection: 'column', gap: 6 }}&gt;&#10;                &lt;Text style={{ fontSize: 22, fontWeight: 'bold', color: '#26816B' }}&gt;可行答案　10:30 – 11:00&lt;/Text&gt;&#10;                &lt;Text style={{ fontSize: 15, color: '#546779', lineHeight: 1.6 }}&gt;起点与预约终点相接，按左闭右开不算重叠；09:00 – 09:30 同样符合题意。&lt;/Text&gt;&#10;            &lt;/Box&gt;&#10;&#10;        &lt;/Box&gt;&#10;&#10;        &lt;Box style={{ height: 60, background: '#F4F7FA', borderRadius: 10, padding: '0 24px', flexDirection: 'row', alignItems: 'center', gap: 14 }}&gt;&#10;            &lt;Box style={{ width: 3, height: 34, background: '#276FBF' }} /&gt;&#10;            &lt;Text style={{ fontSize: 16, color: '#20344B' }}&gt;评分检查容量、时长、开放时间与预约交集，不要求逐字等于参考答案。&lt;/Text&gt;&#10;        &lt;/Box&gt;&#10;&#10;    &lt;/Box&gt;&#10;&#10;    &lt;Box style={{ height: 40, flexDirection: 'row', justifyContent: 'space-between', alignItems: 'center' }}&gt;&#10;        &lt;Text style={{ fontSize: 14, color: '#546779' }}&gt;1.6 为自己的任务选择模型&lt;/Text&gt;&#10;        &lt;Text style={{ fontSize: 14, color: '#546779' }}&gt;11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1.6.2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第二步：准备小而有区分度的任务集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一道题看清边界约定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609600" y="1590675"/>
            <a:ext cx="10972800" cy="1809750"/>
          </a:xfrm>
          <a:prstGeom prst="roundRect">
            <a:avLst>
              <a:gd name="adj" fmla="val 6316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68" name=""/>
          <p:cNvSpPr/>
          <p:nvPr/>
        </p:nvSpPr>
        <p:spPr>
          <a:xfrm rot="0" flipH="0" flipV="0">
            <a:off x="857250" y="1800225"/>
            <a:ext cx="28575" cy="2095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981075" y="1800225"/>
            <a:ext cx="3133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练习任务：检查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10:15 – 10:45 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是否可行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857250" y="2085975"/>
            <a:ext cx="104775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开放日为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2026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年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月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17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日，时区为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Asia/Shanghai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，开放时间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09:00 – 12:00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。手作室容量十二人，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10:00 – 10:30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已有预约。手作活动有十名参加者，需要连续三十分钟，拟安排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10:15 – 10:45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。请检查是否可行；若不可行，在不改变人数和活动时长的情况下给出一个可行时段，并指出依据。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857250" y="2752725"/>
            <a:ext cx="1047750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时间区间按左闭右开处理，首尾相接不算重叠。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609600" y="3571875"/>
            <a:ext cx="5372100" cy="1524000"/>
          </a:xfrm>
          <a:prstGeom prst="roundRect">
            <a:avLst>
              <a:gd name="adj" fmla="val 7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838200" y="3781425"/>
            <a:ext cx="4914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CB6B28"/>
                </a:solidFill>
                <a:latin typeface="Microsoft YaHei"/>
                <a:ea typeface="Microsoft YaHei"/>
              </a:rPr>
              <a:t>原方案　</a:t>
            </a:r>
            <a:r>
              <a:rPr lang="en-US" sz="1650" b="1">
                <a:solidFill>
                  <a:srgbClr val="CB6B28"/>
                </a:solidFill>
                <a:latin typeface="Microsoft YaHei"/>
                <a:ea typeface="Microsoft YaHei"/>
              </a:rPr>
              <a:t>10:15 – 10:45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838200" y="4095750"/>
            <a:ext cx="49149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整段落进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10:00 – 10:30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的已有预约，重叠，不可行。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6210300" y="3571875"/>
            <a:ext cx="5372100" cy="1524000"/>
          </a:xfrm>
          <a:prstGeom prst="roundRect">
            <a:avLst>
              <a:gd name="adj" fmla="val 7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6438900" y="3781425"/>
            <a:ext cx="4914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6816B"/>
                </a:solidFill>
                <a:latin typeface="Microsoft YaHei"/>
                <a:ea typeface="Microsoft YaHei"/>
              </a:rPr>
              <a:t>可行答案　</a:t>
            </a:r>
            <a:r>
              <a:rPr lang="en-US" sz="1650" b="1">
                <a:solidFill>
                  <a:srgbClr val="26816B"/>
                </a:solidFill>
                <a:latin typeface="Microsoft YaHei"/>
                <a:ea typeface="Microsoft YaHei"/>
              </a:rPr>
              <a:t>10:30 – 11:00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6438900" y="4095750"/>
            <a:ext cx="49149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起点与预约终点相接，按左闭右开不算重叠；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09:00 – 09:30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同样符合题意。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609600" y="5267325"/>
            <a:ext cx="10972800" cy="57150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9" name=""/>
          <p:cNvSpPr/>
          <p:nvPr/>
        </p:nvSpPr>
        <p:spPr>
          <a:xfrm rot="0" flipH="0" flipV="0">
            <a:off x="838200" y="5391150"/>
            <a:ext cx="28575" cy="3238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1000125" y="5457825"/>
            <a:ext cx="487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评分检查容量、时长、开放时间与预约交集，不要求逐字等于参考答案。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为自己的任务选择模型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11 / 27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83" name="" descr="&lt;Slide notes={`题目准备好了，接下来要固定比较的条件。这一条做不好，前面两步都白费。&#10;&#10;原因很简单：如果两个候选拿到的材料不一样、提示不一样、可用的工具不一样、允许的尝试次数也不一样，那么最后分数的差异，就说不清是谁带来的。可能是模型本身的差别，也可能是条件松紧的差别。&#10;&#10;所以我要固定的东西有一串。材料和提示要一样，可用的工具要一样，输出的限制要一样，采样设置要一样，连每项任务允许尝试几次都要一样。&#10;&#10;对于多轮任务，还要规定每项评价都从相同的初始状态开始。不能让后一项任务无意中继承了前一项的答案，也不能让第二个候选额外看到第一个候选的错误分析。&#10;&#10;需要持续记忆的任务，要明确哪些信息应当保留，哪些应当隔离。这些看起来很琐碎，但它们决定了后面的数字能不能被解释。`} style={{ width: 1280, height: 720, background: '#FFFFFF', flexDirection: 'column', padding: '20px 64px' }}&gt;&#10;&#10;    &lt;Box style={{ height: 100 }} /&gt;&#10;&#10;    &lt;Box style={{ height: 540, flexDirection: 'column', justifyContent: 'center', alignItems: 'center', gap: 26 }}&gt;&#10;&#10;        &lt;Text style={{ fontSize: 14, color: '#276FBF' }}&gt;1.6.3　第三步&lt;/Text&gt;&#10;        &lt;Text style={{ fontSize: 56, fontWeight: 'bold', color: '#20344B', lineHeight: 1.15 }}&gt;固定比较条件&lt;/Text&gt;&#10;        &lt;Text style={{ fontSize: 17, color: '#546779' }}&gt;条件不固定，差异就说不清是谁带来的&lt;/Text&gt;&#10;&#10;        &lt;Box style={{ flexDirection: 'row', gap: 24, paddingTop: 12 }}&gt;&#10;&#10;            &lt;Box style={{ width: 320, height: 110, background: '#EDF4FC', borderRadius: 12, justifyContent: 'center', alignItems: 'center', flexDirection: 'column', gap: 6 }}&gt;&#10;                &lt;Text style={{ fontSize: 20, fontWeight: 'bold', color: '#20344B' }}&gt;材料与提示&lt;/Text&gt;&#10;                &lt;Text style={{ fontSize: 14, color: '#546779' }}&gt;同一份输入、同一版提示&lt;/Text&gt;&#10;            &lt;/Box&gt;&#10;&#10;            &lt;Box style={{ width: 320, height: 110, background: '#EDF4FC', borderRadius: 12, justifyContent: 'center', alignItems: 'center', flexDirection: 'column', gap: 6 }}&gt;&#10;                &lt;Text style={{ fontSize: 20, fontWeight: 'bold', color: '#20344B' }}&gt;工具与设置&lt;/Text&gt;&#10;                &lt;Text style={{ fontSize: 14, color: '#546779' }}&gt;可用工具、输出限制、采样设置&lt;/Text&gt;&#10;            &lt;/Box&gt;&#10;&#10;            &lt;Box style={{ width: 320, height: 110, background: '#ECF7F2', borderRadius: 12, justifyContent: 'center', alignItems: 'center', flexDirection: 'column', gap: 6 }}&gt;&#10;                &lt;Text style={{ fontSize: 20, fontWeight: 'bold', color: '#20344B' }}&gt;尝试与初态&lt;/Text&gt;&#10;                &lt;Text style={{ fontSize: 14, color: '#546779' }}&gt;允许尝试次数、每项同一初始状态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1.6 为自己的任务选择模型&lt;/Text&gt;&#10;        &lt;Text style={{ fontSize: 14, color: '#546779' }}&gt;12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5676900" y="2209800"/>
            <a:ext cx="838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>1.6.3</a:t>
            </a: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　第三步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4495800" y="2619375"/>
            <a:ext cx="32004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固定比较条件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4724400" y="3609975"/>
            <a:ext cx="2752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条件不固定，差异就说不清是谁带来的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1295400" y="4171950"/>
            <a:ext cx="3048000" cy="1047750"/>
          </a:xfrm>
          <a:prstGeom prst="roundRect">
            <a:avLst>
              <a:gd name="adj" fmla="val 1090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2343150" y="4476750"/>
            <a:ext cx="95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材料与提示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2085975" y="4762500"/>
            <a:ext cx="1466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同一份输入、同一版提示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4572000" y="4171950"/>
            <a:ext cx="3048000" cy="1047750"/>
          </a:xfrm>
          <a:prstGeom prst="roundRect">
            <a:avLst>
              <a:gd name="adj" fmla="val 1090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5619750" y="4476750"/>
            <a:ext cx="95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工具与设置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5162550" y="4762500"/>
            <a:ext cx="186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可用工具、输出限制、采样设置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7848600" y="4171950"/>
            <a:ext cx="3048000" cy="1047750"/>
          </a:xfrm>
          <a:prstGeom prst="roundRect">
            <a:avLst>
              <a:gd name="adj" fmla="val 1090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8896350" y="4476750"/>
            <a:ext cx="95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尝试与初态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8372475" y="4762500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允许尝试次数、每项同一初始状态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为自己的任务选择模型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12 / 27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99" name="" descr="&lt;Slide notes={`固定条件之前，先要明确一件事：你比较的单位到底是什么。&#10;&#10;你可以比较两个裸模型在相同输入下的表现，比如同一个提示、同样的工具限制，看谁答得更好。你也可以比较两个已经配置好工具的完整应用，比如两个都能查预约、都能读写文件的助手，看谁的端到端表现更好。&#10;&#10;这两种问题都合理，没有哪种更高明。但报告必须说清楚比的是哪一种，否则读的人根本不知道那些差异意味着什么。&#10;&#10;如果比模型，就尽量固定材料、提示、工具、输出限制、采样设置，以及每项任务允许尝试的次数。如果比应用，那就把各自的检索、工具和执行策略一并记录下来，因为这些本来就是应用能力的一部分，不能当成噪声抹掉。&#10;&#10;还有一处要老实：不同服务对推理预算用的档位名称不一样，名字相同不代表算力相同，所以只能按各自可用的配置比较整体质量与成本，不要叫成严格等算力比较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6.3　第三步：固定比较条件&lt;/Text&gt;&#10;            &lt;Text style={{ fontSize: 34, fontWeight: 'bold', color: '#20344B' }}&gt;比较模型，还是比较应用&lt;/Text&gt;&#10;        &lt;/Box&gt;&#10;    &lt;/Box&gt;&#10;&#10;    &lt;Box style={{ height: 540, flexDirection: 'column', justifyContent: 'center', gap: 16 }}&gt;&#10;&#10;        &lt;Text style={{ fontSize: 17, color: '#546779' }}&gt;两种比较单位都合理，但报告必须说清楚比的是哪一种。&lt;/Text&gt;&#10;&#10;        &lt;Box style={{ flexDirection: 'row', gap: 24 }}&gt;&#10;&#10;            &lt;Box style={{ width: 564, height: 300, background: '#EDF4FC', borderRadius: 12, padding: '24px 26px', flexDirection: 'column', gap: 10 }}&gt;&#10;                &lt;Text style={{ fontSize: 22, fontWeight: 'bold', color: '#276FBF' }}&gt;比较两个裸模型&lt;/Text&gt;&#10;                &lt;Text style={{ fontSize: 15, color: '#546779', lineHeight: 1.6 }}&gt;固定材料与提示版本&lt;/Text&gt;&#10;                &lt;Text style={{ fontSize: 15, color: '#546779', lineHeight: 1.6 }}&gt;固定可用工具与输出限制&lt;/Text&gt;&#10;                &lt;Text style={{ fontSize: 15, color: '#546779', lineHeight: 1.6 }}&gt;固定采样设置&lt;/Text&gt;&#10;                &lt;Text style={{ fontSize: 15, color: '#546779', lineHeight: 1.6 }}&gt;固定每项任务允许的尝试次数&lt;/Text&gt;&#10;                &lt;Box style={{ flex: 1 }} /&gt;&#10;                &lt;Text style={{ fontSize: 15, color: '#20344B', lineHeight: 1.6 }}&gt;测到的是模型本身的表现。&lt;/Text&gt;&#10;            &lt;/Box&gt;&#10;&#10;            &lt;Box style={{ width: 564, height: 300, background: '#ECF7F2', borderRadius: 12, padding: '24px 26px', flexDirection: 'column', gap: 10 }}&gt;&#10;                &lt;Text style={{ fontSize: 22, fontWeight: 'bold', color: '#26816B' }}&gt;比较两个完整应用&lt;/Text&gt;&#10;                &lt;Text style={{ fontSize: 15, color: '#546779', lineHeight: 1.6 }}&gt;记录各自的检索策略&lt;/Text&gt;&#10;                &lt;Text style={{ fontSize: 15, color: '#546779', lineHeight: 1.6 }}&gt;记录各自可用的工具&lt;/Text&gt;&#10;                &lt;Text style={{ fontSize: 15, color: '#546779', lineHeight: 1.6 }}&gt;记录各自的执行策略&lt;/Text&gt;&#10;                &lt;Text style={{ fontSize: 15, color: '#546779', lineHeight: 1.6 }}&gt;这些差异不能当成噪声抹掉&lt;/Text&gt;&#10;                &lt;Box style={{ flex: 1 }} /&gt;&#10;                &lt;Text style={{ fontSize: 15, color: '#20344B', lineHeight: 1.6 }}&gt;测到的是整条链路的表现。&lt;/Text&gt;&#10;            &lt;/Box&gt;&#10;&#10;        &lt;/Box&gt;&#10;&#10;        &lt;Text style={{ fontSize: 15, color: '#546779' }}&gt;多轮任务：每项评价从相同的初始状态开始，不让后一项继承前一项的答案，也不让第二个候选看到第一个候选的错误分析。&lt;/Text&gt;&#10;&#10;        &lt;Box style={{ height: 84, background: '#FFF4E6', borderRadius: 10, padding: '0 24px', flexDirection: 'row', alignItems: 'center', gap: 14 }}&gt;&#10;            &lt;Box style={{ width: 3, height: 44, background: '#CB6B28' }} /&gt;&#10;            &lt;Text style={{ fontSize: 15, color: '#CB6B28', lineHeight: 1.6 }}&gt;两个服务对推理预算采用不同档位名称，名称相同不代表计算量相同。可以按各自实际可用的配置比较整体质量与成本，但应避免称为严格等算力比较。&lt;/Text&gt;&#10;        &lt;/Box&gt;&#10;&#10;    &lt;/Box&gt;&#10;&#10;    &lt;Box style={{ height: 40, flexDirection: 'row', justifyContent: 'space-between', alignItems: 'center' }}&gt;&#10;        &lt;Text style={{ fontSize: 14, color: '#546779' }}&gt;1.6 为自己的任务选择模型&lt;/Text&gt;&#10;        &lt;Text style={{ fontSize: 14, color: '#546779' }}&gt;13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1.6.3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第三步：固定比较条件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比较模型，还是比较应用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609600" y="1476375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两种比较单位都合理，但报告必须说清楚比的是哪一种。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609600" y="1828800"/>
            <a:ext cx="5372100" cy="2857500"/>
          </a:xfrm>
          <a:prstGeom prst="roundRect">
            <a:avLst>
              <a:gd name="adj" fmla="val 4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857250" y="2057400"/>
            <a:ext cx="4876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比较两个裸模型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857250" y="2409825"/>
            <a:ext cx="48768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固定材料与提示版本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857250" y="2781300"/>
            <a:ext cx="48768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固定可用工具与输出限制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857250" y="3152775"/>
            <a:ext cx="48768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固定采样设置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857250" y="3524250"/>
            <a:ext cx="48768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固定每项任务允许的尝试次数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857250" y="4181475"/>
            <a:ext cx="48768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测到的是模型本身的表现。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6210300" y="1828800"/>
            <a:ext cx="5372100" cy="2857500"/>
          </a:xfrm>
          <a:prstGeom prst="roundRect">
            <a:avLst>
              <a:gd name="adj" fmla="val 4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6457950" y="2057400"/>
            <a:ext cx="4876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6816B"/>
                </a:solidFill>
                <a:latin typeface="Microsoft YaHei"/>
                <a:ea typeface="Microsoft YaHei"/>
              </a:rPr>
              <a:t>比较两个完整应用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6457950" y="2409825"/>
            <a:ext cx="48768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记录各自的检索策略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6457950" y="2781300"/>
            <a:ext cx="48768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记录各自可用的工具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6457950" y="3152775"/>
            <a:ext cx="48768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记录各自的执行策略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6457950" y="3524250"/>
            <a:ext cx="48768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这些差异不能当成噪声抹掉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6457950" y="4181475"/>
            <a:ext cx="48768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测到的是整条链路的表现。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609600" y="48387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多轮任务：每项评价从相同的初始状态开始，不让后一项继承前一项的答案，也不让第二个候选看到第一个候选的错误分析。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609600" y="5162550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21" name=""/>
          <p:cNvSpPr/>
          <p:nvPr/>
        </p:nvSpPr>
        <p:spPr>
          <a:xfrm rot="0" flipH="0" flipV="0">
            <a:off x="838200" y="5353050"/>
            <a:ext cx="28575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1000125" y="5429250"/>
            <a:ext cx="957262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两个服务对推理预算采用不同档位名称，名称相同不代表计算量相同。可以按各自实际可用的配置比较整体质量与成本，但应避免称为严格等算力比较。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为自己的任务选择模型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13 / 27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25" name="" descr="&lt;Slide notes={`固定了条件，还要有一份能落地的记录。我建议至少记下这几类字段。&#10;&#10;第一类是任务本身：任务编号、任务类别、输入文件以及内容摘要。第二类是模型标识：完整的模型标识、服务或产品版本、执行日期。这里要强调完整，只写一个显示名，过一段时间就不知道当时用的到底是哪一个。第三类是配置：提示版本、可用工具、推理与输出设置。第四类是结果：是否成功、失败类别、关键证据、评分者是谁。&#10;&#10;再往后是量：逻辑调用数、物理尝试数、端到端耗时。这两者要分开，一次逻辑请求可能重试了好几次。还有输入输出用量、费用，以及人工介入的情况。&#10;&#10;最后一条最实用：暂时拿不到的数据就写未提供或者未记录。不要从回答长度去猜 Token，也不要把等待页面的总时长全部当成模型计算时间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6.3　第三步：固定比较条件&lt;/Text&gt;&#10;            &lt;Text style={{ fontSize: 34, fontWeight: 'bold', color: '#20344B' }}&gt;一份最小评价记录&lt;/Text&gt;&#10;        &lt;/Box&gt;&#10;    &lt;/Box&gt;&#10;&#10;    &lt;Box style={{ height: 540, flexDirection: 'column', justifyContent: 'center', gap: 16 }}&gt;&#10;&#10;        &lt;Text style={{ fontSize: 17, color: '#546779' }}&gt;条件固定之后，用一组固定字段把每次评价都记下来。&lt;/Text&gt;&#10;&#10;        &lt;Box style={{ flexDirection: 'row', gap: 24 }}&gt;&#10;&#10;            &lt;Box style={{ width: 564, flexDirection: 'column', gap: 12 }}&gt;&#10;&#10;                &lt;Box style={{ height: 76, background: '#F4F7FA', borderRadius: 8, padding: '0 20px', flexDirection: 'row', alignItems: 'center', gap: 12 }}&gt;&#10;                    &lt;Box style={{ width: 4, height: 40, background: '#276FBF' }} /&gt;&#10;                    &lt;Box style={{ flexDirection: 'column', gap: 2 }}&gt;&#10;                        &lt;Text style={{ fontSize: 15, color: '#20344B' }}&gt;任务编号、任务类别&lt;/Text&gt;&#10;                        &lt;Text style={{ fontSize: 14, color: '#546779' }}&gt;输入文件及内容摘要&lt;/Text&gt;&#10;                    &lt;/Box&gt;&#10;                &lt;/Box&gt;&#10;&#10;                &lt;Box style={{ height: 76, background: '#F4F7FA', borderRadius: 8, padding: '0 20px', flexDirection: 'row', alignItems: 'center', gap: 12 }}&gt;&#10;                    &lt;Box style={{ width: 4, height: 40, background: '#276FBF' }} /&gt;&#10;                    &lt;Box style={{ flexDirection: 'column', gap: 2 }}&gt;&#10;                        &lt;Text style={{ fontSize: 15, color: '#20344B' }}&gt;模型完整标识、服务或产品版本&lt;/Text&gt;&#10;                        &lt;Text style={{ fontSize: 14, color: '#546779' }}&gt;执行日期&lt;/Text&gt;&#10;                    &lt;/Box&gt;&#10;                &lt;/Box&gt;&#10;&#10;                &lt;Box style={{ height: 76, background: '#F4F7FA', borderRadius: 8, padding: '0 20px', flexDirection: 'row', alignItems: 'center', gap: 12 }}&gt;&#10;                    &lt;Box style={{ width: 4, height: 40, background: '#276FBF' }} /&gt;&#10;                    &lt;Box style={{ flexDirection: 'column', gap: 2 }}&gt;&#10;                        &lt;Text style={{ fontSize: 15, color: '#20344B' }}&gt;提示版本、可用工具&lt;/Text&gt;&#10;                        &lt;Text style={{ fontSize: 14, color: '#546779' }}&gt;推理与输出设置&lt;/Text&gt;&#10;                    &lt;/Box&gt;&#10;                &lt;/Box&gt;&#10;&#10;                &lt;Box style={{ height: 76, background: '#F4F7FA', borderRadius: 8, padding: '0 20px', flexDirection: 'row', alignItems: 'center', gap: 12 }}&gt;&#10;                    &lt;Box style={{ width: 4, height: 40, background: '#276FBF' }} /&gt;&#10;                    &lt;Box style={{ flexDirection: 'column', gap: 2 }}&gt;&#10;                        &lt;Text style={{ fontSize: 15, color: '#20344B' }}&gt;是否成功、失败类别&lt;/Text&gt;&#10;                        &lt;Text style={{ fontSize: 14, color: '#546779' }}&gt;关键证据、评分者&lt;/Text&gt;&#10;                    &lt;/Box&gt;&#10;                &lt;/Box&gt;&#10;&#10;            &lt;/Box&gt;&#10;&#10;            &lt;Box style={{ width: 564, flexDirection: 'column', gap: 12 }}&gt;&#10;&#10;                &lt;Box style={{ height: 76, background: '#F4F7FA', borderRadius: 8, padding: '0 20px', flexDirection: 'row', alignItems: 'center', gap: 12 }}&gt;&#10;                    &lt;Box style={{ width: 4, height: 40, background: '#276FBF' }} /&gt;&#10;                    &lt;Box style={{ flexDirection: 'column', gap: 2 }}&gt;&#10;                        &lt;Text style={{ fontSize: 15, color: '#20344B' }}&gt;逻辑调用数、物理尝试数&lt;/Text&gt;&#10;                        &lt;Text style={{ fontSize: 14, color: '#546779' }}&gt;端到端耗时，不是模型计算时间&lt;/Text&gt;&#10;                    &lt;/Box&gt;&#10;                &lt;/Box&gt;&#10;&#10;                &lt;Box style={{ height: 76, background: '#F4F7FA', borderRadius: 8, padding: '0 20px', flexDirection: 'row', alignItems: 'center', gap: 12 }}&gt;&#10;                    &lt;Box style={{ width: 4, height: 40, background: '#276FBF' }} /&gt;&#10;                    &lt;Box style={{ flexDirection: 'column', gap: 2 }}&gt;&#10;                        &lt;Text style={{ fontSize: 15, color: '#20344B' }}&gt;输入与输出用量、费用&lt;/Text&gt;&#10;                        &lt;Text style={{ fontSize: 14, color: '#546779' }}&gt;只记录实际可见的用量&lt;/Text&gt;&#10;                    &lt;/Box&gt;&#10;                &lt;/Box&gt;&#10;&#10;                &lt;Box style={{ height: 164, background: '#FFF4E6', borderRadius: 8, padding: '20px 20px', flexDirection: 'row', alignItems: 'center', gap: 12 }}&gt;&#10;                    &lt;Box style={{ width: 4, height: 40, background: '#CB6B28' }} /&gt;&#10;                    &lt;Box style={{ flexDirection: 'column', gap: 8 }}&gt;&#10;                        &lt;Text style={{ fontSize: 16, fontWeight: 'bold', color: '#CB6B28' }}&gt;拿不到的数据怎么写&lt;/Text&gt;&#10;                        &lt;Text style={{ fontSize: 14, color: '#546779', lineHeight: 1.6 }}&gt;写「未提供」或「未记录」&lt;/Text&gt;&#10;                        &lt;Text style={{ fontSize: 14, color: '#546779', lineHeight: 1.6 }}&gt;不要从回答长度猜 Token&lt;/Text&gt;&#10;                        &lt;Text style={{ fontSize: 14, color: '#546779', lineHeight: 1.6 }}&gt;不要把等待页面的总时长当成模型计算时间&lt;/Text&gt;&#10;                    &lt;/Box&gt;&#10;                &lt;/Box&gt;&#10;&#10;            &lt;/Box&gt;&#10;&#10;        &lt;/Box&gt;&#10;&#10;    &lt;/Box&gt;&#10;&#10;    &lt;Box style={{ height: 40, flexDirection: 'row', justifyContent: 'space-between', alignItems: 'center' }}&gt;&#10;        &lt;Text style={{ fontSize: 14, color: '#546779' }}&gt;1.6 为自己的任务选择模型&lt;/Text&gt;&#10;        &lt;Text style={{ fontSize: 14, color: '#546779' }}&gt;14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590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1.6.3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第三步：固定比较条件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590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一份最小评价记录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609600" y="1924050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条件固定之后，用一组固定字段把每次评价都记下来。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609600" y="2276475"/>
            <a:ext cx="5372100" cy="723900"/>
          </a:xfrm>
          <a:prstGeom prst="roundRect">
            <a:avLst>
              <a:gd name="adj" fmla="val 1052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32" name=""/>
          <p:cNvSpPr/>
          <p:nvPr/>
        </p:nvSpPr>
        <p:spPr>
          <a:xfrm rot="0" flipH="0" flipV="0">
            <a:off x="800100" y="244792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952500" y="2466975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任务编号、任务类别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952500" y="2657475"/>
            <a:ext cx="1285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输入文件及内容摘要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609600" y="3114675"/>
            <a:ext cx="5372100" cy="723900"/>
          </a:xfrm>
          <a:prstGeom prst="roundRect">
            <a:avLst>
              <a:gd name="adj" fmla="val 1052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36" name=""/>
          <p:cNvSpPr/>
          <p:nvPr/>
        </p:nvSpPr>
        <p:spPr>
          <a:xfrm rot="0" flipH="0" flipV="0">
            <a:off x="800100" y="328612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952500" y="3305175"/>
            <a:ext cx="2000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模型完整标识、服务或产品版本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952500" y="3495675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执行日期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609600" y="3952875"/>
            <a:ext cx="5372100" cy="723900"/>
          </a:xfrm>
          <a:prstGeom prst="roundRect">
            <a:avLst>
              <a:gd name="adj" fmla="val 1052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40" name=""/>
          <p:cNvSpPr/>
          <p:nvPr/>
        </p:nvSpPr>
        <p:spPr>
          <a:xfrm rot="0" flipH="0" flipV="0">
            <a:off x="800100" y="412432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952500" y="4143375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提示版本、可用工具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952500" y="4333875"/>
            <a:ext cx="1285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推理与输出设置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609600" y="4791075"/>
            <a:ext cx="5372100" cy="723900"/>
          </a:xfrm>
          <a:prstGeom prst="roundRect">
            <a:avLst>
              <a:gd name="adj" fmla="val 1052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44" name=""/>
          <p:cNvSpPr/>
          <p:nvPr/>
        </p:nvSpPr>
        <p:spPr>
          <a:xfrm rot="0" flipH="0" flipV="0">
            <a:off x="800100" y="496252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952500" y="4981575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是否成功、失败类别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952500" y="5172075"/>
            <a:ext cx="1285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关键证据、评分者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6210300" y="2276475"/>
            <a:ext cx="5372100" cy="723900"/>
          </a:xfrm>
          <a:prstGeom prst="roundRect">
            <a:avLst>
              <a:gd name="adj" fmla="val 1052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48" name=""/>
          <p:cNvSpPr/>
          <p:nvPr/>
        </p:nvSpPr>
        <p:spPr>
          <a:xfrm rot="0" flipH="0" flipV="0">
            <a:off x="6400800" y="244792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6553200" y="24669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逻辑调用数、物理尝试数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6553200" y="2657475"/>
            <a:ext cx="186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端到端耗时，不是模型计算时间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6210300" y="3114675"/>
            <a:ext cx="5372100" cy="723900"/>
          </a:xfrm>
          <a:prstGeom prst="roundRect">
            <a:avLst>
              <a:gd name="adj" fmla="val 1052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52" name=""/>
          <p:cNvSpPr/>
          <p:nvPr/>
        </p:nvSpPr>
        <p:spPr>
          <a:xfrm rot="0" flipH="0" flipV="0">
            <a:off x="6400800" y="328612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6553200" y="3305175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输入与输出用量、费用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6553200" y="3495675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只记录实际可见的用量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6210300" y="3952875"/>
            <a:ext cx="5372100" cy="1562100"/>
          </a:xfrm>
          <a:prstGeom prst="roundRect">
            <a:avLst>
              <a:gd name="adj" fmla="val 487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56" name=""/>
          <p:cNvSpPr/>
          <p:nvPr/>
        </p:nvSpPr>
        <p:spPr>
          <a:xfrm rot="0" flipH="0" flipV="0">
            <a:off x="6400800" y="4543425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6553200" y="4143375"/>
            <a:ext cx="2533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拿不到的数据怎么写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6553200" y="4410075"/>
            <a:ext cx="25336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写「未提供」或「未记录」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6553200" y="4743450"/>
            <a:ext cx="25336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不要从回答长度猜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Token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6553200" y="5076825"/>
            <a:ext cx="25336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不要把等待页面的总时长当成模型计算时间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为自己的任务选择模型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14 / 27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63" name="" descr="&lt;Slide notes={`接下来这一步，很多人会跳过，但它往往最能改变结论。&#10;&#10;同样答对二十项任务，两个候选可能很不一样。一个主要的问题是漏写了非关键说明，文字上不够周到；另一个会在查询失败的时候宣布预约成功。它们的总成功数相同，实际使用时的风险却完全不同。&#10;&#10;第一种错误，人用之前读一遍就能发现、补上。第二种错误，如果不看原始记录，你甚至不会知道它发生过，因为你收到的是一句听起来已经完成的回答。&#10;&#10;所以每个失败都要归类，而不是笼统地记一个失败。归类之后再看总数，你才知道这二十分是从哪里来的。&#10;&#10;这也解释了为什么我不建议只看一个综合分。综合分把不同类型的错误压成了一个数字，而不同类型错误的后果，往往是不能互相补偿的。`} style={{ width: 1280, height: 720, background: '#FFFFFF', flexDirection: 'column', padding: '20px 64px' }}&gt;&#10;&#10;    &lt;Box style={{ height: 100 }} /&gt;&#10;&#10;    &lt;Box style={{ height: 540, flexDirection: 'column', justifyContent: 'center', alignItems: 'center', gap: 26 }}&gt;&#10;&#10;        &lt;Text style={{ fontSize: 14, color: '#276FBF' }}&gt;1.6.4　第四步&lt;/Text&gt;&#10;        &lt;Text style={{ fontSize: 56, fontWeight: 'bold', color: '#20344B', lineHeight: 1.15 }}&gt;先看错误分布，再看总分&lt;/Text&gt;&#10;        &lt;Text style={{ fontSize: 17, color: '#546779' }}&gt;同样的成功数，实际风险可以完全不同&lt;/Text&gt;&#10;&#10;        &lt;Box style={{ flexDirection: 'row', gap: 24, alignItems: 'center', paddingTop: 12 }}&gt;&#10;&#10;            &lt;Box style={{ width: 400, height: 120, background: '#EDF4FC', borderRadius: 12, justifyContent: 'center', alignItems: 'center', flexDirection: 'column', gap: 4 }}&gt;&#10;                &lt;Text style={{ fontSize: 20, fontWeight: 'bold', color: '#20344B' }}&gt;相同的成功数&lt;/Text&gt;&#10;                &lt;Text style={{ fontSize: 14, color: '#546779' }}&gt;只看总分，这里就结束了&lt;/Text&gt;&#10;            &lt;/Box&gt;&#10;&#10;            &lt;Box style={{ width: 44, alignItems: 'center', justifyContent: 'center' }}&gt;&#10;                &lt;Text style={{ fontSize: 32, color: '#276FBF' }}&gt;›&lt;/Text&gt;&#10;            &lt;/Box&gt;&#10;&#10;            &lt;Box style={{ width: 400, flexDirection: 'column', gap: 10 }}&gt;&#10;                &lt;Box style={{ height: 55, background: '#ECF7F2', borderRadius: 8, justifyContent: 'center', padding: '0 18px' }}&gt;&#10;                    &lt;Text style={{ fontSize: 15, color: '#26816B' }}&gt;漏写非关键说明，可人工补上&lt;/Text&gt;&#10;                &lt;/Box&gt;&#10;                &lt;Box style={{ height: 55, background: '#FFF4E6', borderRadius: 8, justifyContent: 'center', padding: '0 18px' }}&gt;&#10;                    &lt;Text style={{ fontSize: 15, color: '#CB6B28' }}&gt;宣布预约成功，风险完全不同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1.6 为自己的任务选择模型&lt;/Text&gt;&#10;        &lt;Text style={{ fontSize: 14, color: '#546779' }}&gt;15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5676900" y="2162175"/>
            <a:ext cx="838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>1.6.4</a:t>
            </a: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　第四步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3162300" y="2571750"/>
            <a:ext cx="58674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先看错误分布，再看总分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4724400" y="3562350"/>
            <a:ext cx="2752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同样的成功数，实际风险可以完全不同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1847850" y="4124325"/>
            <a:ext cx="3810000" cy="11430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3181350" y="4486275"/>
            <a:ext cx="114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相同的成功数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3019425" y="4752975"/>
            <a:ext cx="1466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只看总分，这里就结束了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6038850" y="4514850"/>
            <a:ext cx="1143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4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6534150" y="4124325"/>
            <a:ext cx="3810000" cy="523875"/>
          </a:xfrm>
          <a:prstGeom prst="roundRect">
            <a:avLst>
              <a:gd name="adj" fmla="val 1454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6705600" y="4305300"/>
            <a:ext cx="3467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漏写非关键说明，可人工补上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6534150" y="4743450"/>
            <a:ext cx="3810000" cy="523875"/>
          </a:xfrm>
          <a:prstGeom prst="roundRect">
            <a:avLst>
              <a:gd name="adj" fmla="val 1454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6705600" y="4924425"/>
            <a:ext cx="3467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宣布预约成功，风险完全不同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为自己的任务选择模型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15 / 27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78" name="" descr="&lt;Slide notes={`两个候选都答对了二十四项里的二十项，这是同一个数字。但它们的失败落在完全不同的地方。&#10;&#10;第一个候选主要的失败方式是漏写非关键说明，比如少写了一句备注、少列了一项待确认事项。这类问题人用之前读一遍就能发现，补上也很快。&#10;&#10;第二个候选的问题是：在查询失败的时候，宣布预约已经成功。这是无依据的完成声明。它只出现几次，但每一次都可能让下游的人以为事情已经办好了。&#10;&#10;如果这两个候选分别被派去起草活动宣传语，前者完全可以接受，人在发布前会自己看一遍。如果被派去自动处理预约状态，后者的那两次声明就值得优先分析，而且不能被更低的费用掩盖。&#10;&#10;还有一句要提醒：候选乙在这二十四项里没有出现这类错误，也不代表它以后永远不会出现。零次观察不等于永不出错，它只说明这次没看到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6.4　第四步：先看错误分布，再看总分&lt;/Text&gt;&#10;            &lt;Text style={{ fontSize: 34, fontWeight: 'bold', color: '#20344B' }}&gt;同样二十项，风险不一样&lt;/Text&gt;&#10;        &lt;/Box&gt;&#10;    &lt;/Box&gt;&#10;&#10;    &lt;Box style={{ height: 540, flexDirection: 'column', justifyContent: 'center', gap: 18 }}&gt;&#10;&#10;        &lt;Text style={{ fontSize: 17, color: '#546779' }}&gt;同样答对二十项任务，两个候选可能很不一样。&lt;/Text&gt;&#10;&#10;        &lt;Box style={{ flexDirection: 'row', gap: 24 }}&gt;&#10;&#10;            &lt;Box style={{ width: 564, height: 130, background: '#EDF4FC', borderRadius: 12, padding: '0 26px', flexDirection: 'row', alignItems: 'center', gap: 20 }}&gt;&#10;                &lt;Text style={{ fontSize: 76, fontWeight: 'bold', color: '#276FBF', lineHeight: 1 }}&gt;20/24&lt;/Text&gt;&#10;                &lt;Box style={{ flexDirection: 'column', gap: 4 }}&gt;&#10;                    &lt;Text style={{ fontSize: 20, fontWeight: 'bold', color: '#20344B' }}&gt;候选一&lt;/Text&gt;&#10;                    &lt;Text style={{ fontSize: 14, color: '#546779' }}&gt;同样的成功数&lt;/Text&gt;&#10;                &lt;/Box&gt;&#10;            &lt;/Box&gt;&#10;&#10;            &lt;Box style={{ width: 564, height: 130, background: '#EDF4FC', borderRadius: 12, padding: '0 26px', flexDirection: 'row', alignItems: 'center', gap: 20 }}&gt;&#10;                &lt;Text style={{ fontSize: 76, fontWeight: 'bold', color: '#276FBF', lineHeight: 1 }}&gt;20/24&lt;/Text&gt;&#10;                &lt;Box style={{ flexDirection: 'column', gap: 4 }}&gt;&#10;                    &lt;Text style={{ fontSize: 20, fontWeight: 'bold', color: '#20344B' }}&gt;候选二&lt;/Text&gt;&#10;                    &lt;Text style={{ fontSize: 14, color: '#546779' }}&gt;同样的成功数&lt;/Text&gt;&#10;                &lt;/Box&gt;&#10;            &lt;/Box&gt;&#10;&#10;        &lt;/Box&gt;&#10;&#10;        &lt;Box style={{ flexDirection: 'row', gap: 24 }}&gt;&#10;&#10;            &lt;Box style={{ width: 564, height: 160, background: '#ECF7F2', borderRadius: 12, padding: '22px 24px', flexDirection: 'column', gap: 8 }}&gt;&#10;                &lt;Text style={{ fontSize: 20, fontWeight: 'bold', color: '#26816B' }}&gt;主要漏写非关键说明&lt;/Text&gt;&#10;                &lt;Text style={{ fontSize: 15, color: '#546779', lineHeight: 1.65 }}&gt;少了备注或待确认事项，人在使用前读一遍就能发现并补上。&lt;/Text&gt;&#10;            &lt;/Box&gt;&#10;&#10;            &lt;Box style={{ width: 564, height: 160, background: '#FFF4E6', borderRadius: 12, padding: '22px 24px', flexDirection: 'column', gap: 8 }}&gt;&#10;                &lt;Text style={{ fontSize: 20, fontWeight: 'bold', color: '#CB6B28' }}&gt;查询失败时宣布预约成功&lt;/Text&gt;&#10;                &lt;Text style={{ fontSize: 15, color: '#546779', lineHeight: 1.65 }}&gt;无依据的完成声明，会让下游以为事情已经办妥，必须优先分析。&lt;/Text&gt;&#10;            &lt;/Box&gt;&#10;&#10;        &lt;/Box&gt;&#10;&#10;        &lt;Box style={{ height: 60, background: '#F4F7FA', borderRadius: 10, padding: '0 24px', flexDirection: 'row', alignItems: 'center', gap: 14 }}&gt;&#10;            &lt;Box style={{ width: 3, height: 34, background: '#276FBF' }} /&gt;&#10;            &lt;Text style={{ fontSize: 16, color: '#20344B' }}&gt;为零次观察不证明永不出错；任务不同，同一个数字的含义也不一样。&lt;/Text&gt;&#10;        &lt;/Box&gt;&#10;&#10;    &lt;/Box&gt;&#10;&#10;    &lt;Box style={{ height: 40, flexDirection: 'row', justifyContent: 'space-between', alignItems: 'center' }}&gt;&#10;        &lt;Text style={{ fontSize: 14, color: '#546779' }}&gt;1.6 为自己的任务选择模型&lt;/Text&gt;&#10;        &lt;Text style={{ fontSize: 14, color: '#546779' }}&gt;16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1.6.4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第四步：先看错误分布，再看总分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同样二十项，风险不一样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609600" y="1695450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同样答对二十项任务，两个候选可能很不一样。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609600" y="2066925"/>
            <a:ext cx="5372100" cy="1238250"/>
          </a:xfrm>
          <a:prstGeom prst="roundRect">
            <a:avLst>
              <a:gd name="adj" fmla="val 923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857250" y="2247900"/>
            <a:ext cx="213360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276FBF"/>
                </a:solidFill>
                <a:latin typeface="Microsoft YaHei"/>
                <a:ea typeface="Microsoft YaHei"/>
              </a:rPr>
              <a:t>20/24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3181350" y="2476500"/>
            <a:ext cx="800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候选一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3181350" y="274320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同样的成功数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6210300" y="2066925"/>
            <a:ext cx="5372100" cy="1238250"/>
          </a:xfrm>
          <a:prstGeom prst="roundRect">
            <a:avLst>
              <a:gd name="adj" fmla="val 923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6457950" y="2247900"/>
            <a:ext cx="213360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276FBF"/>
                </a:solidFill>
                <a:latin typeface="Microsoft YaHei"/>
                <a:ea typeface="Microsoft YaHei"/>
              </a:rPr>
              <a:t>20/24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8782050" y="2476500"/>
            <a:ext cx="800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候选二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8782050" y="274320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同样的成功数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609600" y="3476625"/>
            <a:ext cx="5372100" cy="1524000"/>
          </a:xfrm>
          <a:prstGeom prst="roundRect">
            <a:avLst>
              <a:gd name="adj" fmla="val 7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838200" y="3686175"/>
            <a:ext cx="4914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主要漏写非关键说明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838200" y="3990975"/>
            <a:ext cx="491490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少了备注或待确认事项，人在使用前读一遍就能发现并补上。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6210300" y="3476625"/>
            <a:ext cx="5372100" cy="1524000"/>
          </a:xfrm>
          <a:prstGeom prst="roundRect">
            <a:avLst>
              <a:gd name="adj" fmla="val 7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6438900" y="3686175"/>
            <a:ext cx="4914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查询失败时宣布预约成功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6438900" y="3990975"/>
            <a:ext cx="491490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无依据的完成声明，会让下游以为事情已经办妥，必须优先分析。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609600" y="5172075"/>
            <a:ext cx="10972800" cy="57150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99" name=""/>
          <p:cNvSpPr/>
          <p:nvPr/>
        </p:nvSpPr>
        <p:spPr>
          <a:xfrm rot="0" flipH="0" flipV="0">
            <a:off x="838200" y="5295900"/>
            <a:ext cx="28575" cy="3238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1000125" y="5362575"/>
            <a:ext cx="472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为零次观察不证明永不出错；任务不同，同一个数字的含义也不一样。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为自己的任务选择模型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16 / 27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03" name="" descr="&lt;Slide notes={`看到失败，不能只记一个失败就完事，要把每一个失败归到具体的类别里。&#10;&#10;青禾这个练习可以用这几类：事实错误、约束遗漏、结构错误、工具结果误用、无依据完成、未完成。归类的意义在于，不同类的失败后果不一样。事实错误和约束遗漏会直接让方案不可用，结构错误往往还能让程序接手修正。&#10;&#10;一次结果可能同时涉及多个问题，要事先说明是允许多标签，还是只指定一个主要原因；允许多标签时，不能把标签总数当成失败任务数。&#10;&#10;开放部分用简短量表并保留评语与依据。条件允许时让评阅者不知道候选的名字，对相同样本独立评分，这样能减少品牌和风格偏好。&#10;&#10;重试规则也要事先定：允许一次修正时，可以评价最多一次修正后的成功率，但首轮成功率和额外成本要一起保留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6.4　第四步：先看错误分布，再看总分&lt;/Text&gt;&#10;            &lt;Text style={{ fontSize: 34, fontWeight: 'bold', color: '#20344B' }}&gt;归类失败，规定重试&lt;/Text&gt;&#10;        &lt;/Box&gt;&#10;    &lt;/Box&gt;&#10;&#10;    &lt;Box style={{ height: 540, flexDirection: 'column', justifyContent: 'center', gap: 14 }}&gt;&#10;&#10;        &lt;Text style={{ fontSize: 17, color: '#546779' }}&gt;每个失败都要归类，统计口径事先说清楚。&lt;/Text&gt;&#10;&#10;        &lt;Box style={{ height: 118, background: '#F4F7FA', borderRadius: 8, padding: '16px 20px', flexDirection: 'row', alignItems: 'center', gap: 16 }}&gt;&#10;            &lt;Box style={{ width: 4, height: 44, background: '#276FBF' }} /&gt;&#10;            &lt;Box style={{ flexDirection: 'column', gap: 4 }}&gt;&#10;                &lt;Text style={{ fontSize: 18, fontWeight: 'bold', color: '#20344B' }}&gt;先按类别记录失败&lt;/Text&gt;&#10;                &lt;Text style={{ fontSize: 15, color: '#546779', lineHeight: 1.55 }}&gt;事实错误、约束遗漏、结构错误、工具结果误用、无依据完成、未完成&lt;/Text&gt;&#10;                &lt;Text style={{ fontSize: 15, color: '#546779', lineHeight: 1.55 }}&gt;说明是允许多标签，还是只指定一个主要原因&lt;/Text&gt;&#10;            &lt;/Box&gt;&#10;        &lt;/Box&gt;&#10;&#10;        &lt;Box style={{ height: 118, background: '#F4F7FA', borderRadius: 8, padding: '16px 20px', flexDirection: 'row', alignItems: 'center', gap: 16 }}&gt;&#10;            &lt;Box style={{ width: 4, height: 44, background: '#276FBF' }} /&gt;&#10;            &lt;Box style={{ flexDirection: 'column', gap: 4 }}&gt;&#10;                &lt;Text style={{ fontSize: 18, fontWeight: 'bold', color: '#20344B' }}&gt;有确定答案的部分优先用可重复检查&lt;/Text&gt;&#10;                &lt;Text style={{ fontSize: 15, color: '#546779', lineHeight: 1.55 }}&gt;表达与解释质量用简短量表，保留评语与依据&lt;/Text&gt;&#10;                &lt;Text style={{ fontSize: 15, color: '#546779', lineHeight: 1.55 }}&gt;条件允许时让评阅者不知道候选名称，对相同样本独立评分&lt;/Text&gt;&#10;            &lt;/Box&gt;&#10;        &lt;/Box&gt;&#10;&#10;        &lt;Box style={{ height: 118, background: '#F4F7FA', borderRadius: 8, padding: '16px 20px', flexDirection: 'row', alignItems: 'center', gap: 16 }}&gt;&#10;            &lt;Box style={{ width: 4, height: 44, background: '#CB6B28' }} /&gt;&#10;            &lt;Box style={{ flexDirection: 'column', gap: 4 }}&gt;&#10;                &lt;Text style={{ fontSize: 18, fontWeight: 'bold', color: '#20344B' }}&gt;事先规定重试如何处理&lt;/Text&gt;&#10;                &lt;Text style={{ fontSize: 15, color: '#546779', lineHeight: 1.55 }}&gt;允许一次修正时，可评价最多一次修正后的成功率&lt;/Text&gt;&#10;                &lt;Text style={{ fontSize: 15, color: '#CB6B28', lineHeight: 1.55 }}&gt;同时保留首轮成功率与额外成本；用过多次人工反馈的答案不能标成一次生成成功&lt;/Text&gt;&#10;            &lt;/Box&gt;&#10;        &lt;/Box&gt;&#10;&#10;        &lt;Box style={{ height: 76, background: '#FFF4E6', borderRadius: 10, padding: '0 24px', flexDirection: 'row', alignItems: 'center', gap: 14 }}&gt;&#10;            &lt;Box style={{ width: 3, height: 40, background: '#CB6B28' }} /&gt;&#10;            &lt;Text style={{ fontSize: 16, color: '#20344B', lineHeight: 1.6 }}&gt;不能把多标签总数误称为失败任务数；带主观成分的评分不会自动变得客观。&lt;/Text&gt;&#10;        &lt;/Box&gt;&#10;&#10;    &lt;/Box&gt;&#10;&#10;    &lt;Box style={{ height: 40, flexDirection: 'row', justifyContent: 'space-between', alignItems: 'center' }}&gt;&#10;        &lt;Text style={{ fontSize: 14, color: '#546779' }}&gt;1.6 为自己的任务选择模型&lt;/Text&gt;&#10;        &lt;Text style={{ fontSize: 14, color: '#546779' }}&gt;17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1.6.4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第四步：先看错误分布，再看总分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归类失败，规定重试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609600" y="1304925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每个失败都要归类，统计口径事先说清楚。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609600" y="1638300"/>
            <a:ext cx="10972800" cy="1123950"/>
          </a:xfrm>
          <a:prstGeom prst="roundRect">
            <a:avLst>
              <a:gd name="adj" fmla="val 678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10" name=""/>
          <p:cNvSpPr/>
          <p:nvPr/>
        </p:nvSpPr>
        <p:spPr>
          <a:xfrm rot="0" flipH="0" flipV="0">
            <a:off x="800100" y="1990725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990600" y="1790700"/>
            <a:ext cx="4429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先按类别记录失败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990600" y="2038350"/>
            <a:ext cx="442912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事实错误、约束遗漏、结构错误、工具结果误用、无依据完成、未完成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990600" y="2343150"/>
            <a:ext cx="442912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说明是允许多标签，还是只指定一个主要原因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609600" y="2895600"/>
            <a:ext cx="10972800" cy="1123950"/>
          </a:xfrm>
          <a:prstGeom prst="roundRect">
            <a:avLst>
              <a:gd name="adj" fmla="val 678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15" name=""/>
          <p:cNvSpPr/>
          <p:nvPr/>
        </p:nvSpPr>
        <p:spPr>
          <a:xfrm rot="0" flipH="0" flipV="0">
            <a:off x="800100" y="3248025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990600" y="3048000"/>
            <a:ext cx="3714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有确定答案的部分优先用可重复检查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990600" y="3295650"/>
            <a:ext cx="37147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表达与解释质量用简短量表，保留评语与依据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990600" y="3600450"/>
            <a:ext cx="37147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条件允许时让评阅者不知道候选名称，对相同样本独立评分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609600" y="4152900"/>
            <a:ext cx="10972800" cy="1123950"/>
          </a:xfrm>
          <a:prstGeom prst="roundRect">
            <a:avLst>
              <a:gd name="adj" fmla="val 678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20" name=""/>
          <p:cNvSpPr/>
          <p:nvPr/>
        </p:nvSpPr>
        <p:spPr>
          <a:xfrm rot="0" flipH="0" flipV="0">
            <a:off x="800100" y="4505325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990600" y="4305300"/>
            <a:ext cx="5143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事先规定重试如何处理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990600" y="4552950"/>
            <a:ext cx="51435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允许一次修正时，可评价最多一次修正后的成功率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990600" y="4857750"/>
            <a:ext cx="51435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同时保留首轮成功率与额外成本；用过多次人工反馈的答案不能标成一次生成成功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609600" y="5410200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25" name=""/>
          <p:cNvSpPr/>
          <p:nvPr/>
        </p:nvSpPr>
        <p:spPr>
          <a:xfrm rot="0" flipH="0" flipV="0">
            <a:off x="838200" y="5581650"/>
            <a:ext cx="28575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1000125" y="5629275"/>
            <a:ext cx="51816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不能把多标签总数误称为失败任务数；带主观成分的评分不会自动变得客观。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为自己的任务选择模型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17 / 27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29" name="" descr="&lt;Slide notes={`到了做决定的时候，我想先反对一种做法：不要拿一个综合分去选模型。&#10;&#10;综合分的问题在于，它把不同的任务平均在一起。一个模型可能在写文案上很出色，在核对冲突规则上却经常出错。平均下来它的分数也许还不错，但你的任务恰恰是核对冲突，那这个分数对你毫无意义。&#10;&#10;所以正确的顺序是相反的。先确定你的任务里哪些条件是不可违反的，把它们作为门槛，看看候选能不能过。过了门槛之后，再看它在你的任务上成功率多高、花费多少、要等多久。&#10;&#10;同一个模型，用在起草活动宣传语上可能是合适的，用在自动处理预约状态上就不一定。任务的性质不同，可接受的条件也不同。&#10;&#10;选择结论必须绑定任务来描述，而不是宣告某个模型全面更好。这也是为什么我要先写清楚任务，再谈选择。`} style={{ width: 1280, height: 720, background: '#FFFFFF', flexDirection: 'column', padding: '20px 64px' }}&gt;&#10;&#10;    &lt;Box style={{ height: 100 }} /&gt;&#10;&#10;    &lt;Box style={{ height: 540, flexDirection: 'column', justifyContent: 'center', alignItems: 'center', gap: 24 }}&gt;&#10;&#10;        &lt;Text style={{ fontSize: 14, color: '#276FBF' }}&gt;1.6.5　第五步&lt;/Text&gt;&#10;        &lt;Text style={{ fontSize: 56, fontWeight: 'bold', color: '#20344B', lineHeight: 1.15 }}&gt;按任务选择，而不是按一个综合分选择&lt;/Text&gt;&#10;        &lt;Text style={{ fontSize: 17, color: '#546779' }}&gt;综合分把不同任务平均在一起，你的任务只有一件&lt;/Text&gt;&#10;&#10;        &lt;Box style={{ width: 320, height: 80, background: '#EDF4FC', borderRadius: 10, justifyContent: 'center', alignItems: 'center', paddingTop: 8 }}&gt;&#10;            &lt;Text style={{ fontSize: 20, fontWeight: 'bold', color: '#20344B' }}&gt;一个综合分&lt;/Text&gt;&#10;        &lt;/Box&gt;&#10;&#10;        &lt;Box style={{ flexDirection: 'row', gap: 24 }}&gt;&#10;&#10;            &lt;Box style={{ width: 320, height: 90, background: '#ECF7F2', borderRadius: 10, justifyContent: 'center', alignItems: 'center', flexDirection: 'column', gap: 4 }}&gt;&#10;                &lt;Text style={{ fontSize: 17, fontWeight: 'bold', color: '#20344B' }}&gt;起草活动宣传语&lt;/Text&gt;&#10;                &lt;Text style={{ fontSize: 14, color: '#546779' }}&gt;人会在使用前修改&lt;/Text&gt;&#10;            &lt;/Box&gt;&#10;&#10;            &lt;Box style={{ width: 320, height: 90, background: '#FFF4E6', borderRadius: 10, justifyContent: 'center', alignItems: 'center', flexDirection: 'column', gap: 4 }}&gt;&#10;                &lt;Text style={{ fontSize: 17, fontWeight: 'bold', color: '#CB6B28' }}&gt;自动处理预约状态&lt;/Text&gt;&#10;                &lt;Text style={{ fontSize: 14, color: '#546779' }}&gt;无依据的完成声明不可接受&lt;/Text&gt;&#10;            &lt;/Box&gt;&#10;&#10;            &lt;Box style={{ width: 320, height: 90, background: '#ECF7F2', borderRadius: 10, justifyContent: 'center', alignItems: 'center', flexDirection: 'column', gap: 4 }}&gt;&#10;                &lt;Text style={{ fontSize: 17, fontWeight: 'bold', color: '#20344B' }}&gt;核对活动冲突&lt;/Text&gt;&#10;                &lt;Text style={{ fontSize: 14, color: '#546779' }}&gt;关键约束必须独立检查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1.6 为自己的任务选择模型&lt;/Text&gt;&#10;        &lt;Text style={{ fontSize: 14, color: '#546779' }}&gt;18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5676900" y="1895475"/>
            <a:ext cx="838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>1.6.5</a:t>
            </a: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　第五步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1562100" y="2286000"/>
            <a:ext cx="9067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按任务选择，而不是按一个综合分选择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4314825" y="3257550"/>
            <a:ext cx="3562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综合分把不同任务平均在一起，你的任务只有一件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4572000" y="3686175"/>
            <a:ext cx="3048000" cy="7620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5619750" y="3990975"/>
            <a:ext cx="95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一个综合分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1295400" y="4676775"/>
            <a:ext cx="3048000" cy="857250"/>
          </a:xfrm>
          <a:prstGeom prst="roundRect">
            <a:avLst>
              <a:gd name="adj" fmla="val 1111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2257425" y="4905375"/>
            <a:ext cx="1133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起草活动宣传语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2286000" y="5143500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人会在使用前修改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4572000" y="4676775"/>
            <a:ext cx="3048000" cy="857250"/>
          </a:xfrm>
          <a:prstGeom prst="roundRect">
            <a:avLst>
              <a:gd name="adj" fmla="val 1111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5448300" y="4905375"/>
            <a:ext cx="1295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自动处理预约状态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5295900" y="5143500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无依据的完成声明不可接受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7848600" y="4676775"/>
            <a:ext cx="3048000" cy="857250"/>
          </a:xfrm>
          <a:prstGeom prst="roundRect">
            <a:avLst>
              <a:gd name="adj" fmla="val 1111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8886825" y="4905375"/>
            <a:ext cx="971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核对活动冲突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8705850" y="514350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关键约束必须独立检查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为自己的任务选择模型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18 / 27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247" name="" descr="&lt;Slide notes={`把选择落到数字上，来看一份纯教学假设的数据。二十四项评价，甲成功二十项，乙成功二十二项。&#10;&#10;先检查有没有不能接受的失败。甲有两次无依据的完成声明，也就是在没有依据的情况下宣布事情已经办成；乙这次没有出现。&#10;&#10;再看钱。甲的全部尝试费用是一点二零元，乙是三点三零元。但成功数不同，直接比总费用不公平，所以要用全部尝试费用除以成功任务数。甲是一点二零除以二十，等于零点零六元；乙是三点三零除以二十二，等于零点一五元。甲每成功一项更便宜，中位耗时八秒也比乙的十五秒快。&#10;&#10;那是不是选甲？不一定。如果任务只是帮人起草宣传语，甲值得进一步考察，因为人会在使用前阅读和修改。如果任务是自动处理预约状态，那两次无依据的完成声明就值得优先分析，不能被更低的费用掩盖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6.5　第五步：按任务选择，而不是按一个综合分选择&lt;/Text&gt;&#10;            &lt;Text style={{ fontSize: 34, fontWeight: 'bold', color: '#20344B' }}&gt;甲的每次成功更便宜，乙更稳&lt;/Text&gt;&#10;        &lt;/Box&gt;&#10;    &lt;/Box&gt;&#10;&#10;    &lt;Box style={{ height: 540, flexDirection: 'column', justifyContent: 'center', gap: 14 }}&gt;&#10;&#10;        &lt;Text style={{ fontSize: 17, color: '#546779' }}&gt;下面的表完全是教学假设，用于演示选择方法，不对应真实品牌或实测结果。&lt;/Text&gt;&#10;&#10;        &lt;Box style={{ flexDirection: 'row', height: 36, alignItems: 'center' }}&gt;&#10;            &lt;Box style={{ width: 300, paddingLeft: 18 }}&gt;&lt;Text style={{ fontSize: 14, color: '#546779' }}&gt;二十四项评价结果&lt;/Text&gt;&lt;/Box&gt;&#10;            &lt;Box style={{ width: 426, justifyContent: 'center', alignItems: 'center' }}&gt;&lt;Text style={{ fontSize: 15, fontWeight: 'bold', color: '#276FBF' }}&gt;候选甲&lt;/Text&gt;&lt;/Box&gt;&#10;            &lt;Box style={{ width: 426, justifyContent: 'center', alignItems: 'center' }}&gt;&lt;Text style={{ fontSize: 15, fontWeight: 'bold', color: '#26816B' }}&gt;候选乙&lt;/Text&gt;&lt;/Box&gt;&#10;        &lt;/Box&gt;&#10;&#10;        &lt;Box style={{ flexDirection: 'row', height: 58, alignItems: 'center' }}&gt;&#10;            &lt;Box style={{ width: 300, paddingLeft: 18 }}&gt;&lt;Text style={{ fontSize: 16, fontWeight: 'bold', color: '#20344B' }}&gt;成功任务&lt;/Text&gt;&lt;/Box&gt;&#10;            &lt;Box style={{ width: 426, paddingRight: 12 }}&gt;&lt;Box style={{ height: 58, background: '#EDF4FC', borderRadius: 8, justifyContent: 'center', alignItems: 'center' }}&gt;&lt;Text style={{ fontSize: 17, fontWeight: 'bold', color: '#20344B' }}&gt;20 / 24&lt;/Text&gt;&lt;/Box&gt;&lt;/Box&gt;&#10;            &lt;Box style={{ width: 426 }}&gt;&lt;Box style={{ height: 58, background: '#ECF7F2', borderRadius: 8, justifyContent: 'center', alignItems: 'center' }}&gt;&lt;Text style={{ fontSize: 17, fontWeight: 'bold', color: '#20344B' }}&gt;22 / 24&lt;/Text&gt;&lt;/Box&gt;&lt;/Box&gt;&#10;        &lt;/Box&gt;&#10;&#10;        &lt;Box style={{ flexDirection: 'row', height: 58, alignItems: 'center' }}&gt;&#10;            &lt;Box style={{ width: 300, paddingLeft: 18 }}&gt;&lt;Text style={{ fontSize: 16, fontWeight: 'bold', color: '#CB6B28' }}&gt;无依据的完成声明&lt;/Text&gt;&lt;/Box&gt;&#10;            &lt;Box style={{ width: 426, paddingRight: 12 }}&gt;&lt;Box style={{ height: 58, background: '#FFF4E6', borderRadius: 8, justifyContent: 'center', alignItems: 'center' }}&gt;&lt;Text style={{ fontSize: 17, fontWeight: 'bold', color: '#CB6B28' }}&gt;2 项&lt;/Text&gt;&lt;/Box&gt;&lt;/Box&gt;&#10;            &lt;Box style={{ width: 426 }}&gt;&lt;Box style={{ height: 58, background: '#ECF7F2', borderRadius: 8, justifyContent: 'center', alignItems: 'center' }}&gt;&lt;Text style={{ fontSize: 17, fontWeight: 'bold', color: '#26816B' }}&gt;0 项&lt;/Text&gt;&lt;/Box&gt;&lt;/Box&gt;&#10;        &lt;/Box&gt;&#10;&#10;        &lt;Box style={{ flexDirection: 'row', height: 58, alignItems: 'center' }}&gt;&#10;            &lt;Box style={{ width: 300, paddingLeft: 18 }}&gt;&lt;Text style={{ fontSize: 16, fontWeight: 'bold', color: '#20344B' }}&gt;全部尝试总费用&lt;/Text&gt;&lt;/Box&gt;&#10;            &lt;Box style={{ width: 426, paddingRight: 12 }}&gt;&lt;Box style={{ height: 58, background: '#EDF4FC', borderRadius: 8, justifyContent: 'center', alignItems: 'center' }}&gt;&lt;Text style={{ fontSize: 17, color: '#20344B' }}&gt;1.20 元&lt;/Text&gt;&lt;/Box&gt;&lt;/Box&gt;&#10;            &lt;Box style={{ width: 426 }}&gt;&lt;Box style={{ height: 58, background: '#ECF7F2', borderRadius: 8, justifyContent: 'center', alignItems: 'center' }}&gt;&lt;Text style={{ fontSize: 17, color: '#20344B' }}&gt;3.30 元&lt;/Text&gt;&lt;/Box&gt;&lt;/Box&gt;&#10;        &lt;/Box&gt;&#10;&#10;        &lt;Box style={{ flexDirection: 'row', height: 58, alignItems: 'center' }}&gt;&#10;            &lt;Box style={{ width: 300, paddingLeft: 18 }}&gt;&lt;Text style={{ fontSize: 16, fontWeight: 'bold', color: '#20344B' }}&gt;每项成功任务费用&lt;/Text&gt;&lt;/Box&gt;&#10;            &lt;Box style={{ width: 426, paddingRight: 12 }}&gt;&lt;Box style={{ height: 58, background: '#EDF4FC', borderRadius: 8, justifyContent: 'center', alignItems: 'center' }}&gt;&lt;Text style={{ fontSize: 16, color: '#276FBF' }}&gt;0.06 元　＝ 1.20 ÷ 20&lt;/Text&gt;&lt;/Box&gt;&lt;/Box&gt;&#10;            &lt;Box style={{ width: 426 }}&gt;&lt;Box style={{ height: 58, background: '#ECF7F2', borderRadius: 8, justifyContent: 'center', alignItems: 'center' }}&gt;&lt;Text style={{ fontSize: 16, color: '#26816B' }}&gt;0.15 元　＝ 3.30 ÷ 22&lt;/Text&gt;&lt;/Box&gt;&lt;/Box&gt;&#10;        &lt;/Box&gt;&#10;&#10;        &lt;Box style={{ flexDirection: 'row', height: 58, alignItems: 'center' }}&gt;&#10;            &lt;Box style={{ width: 300, paddingLeft: 18 }}&gt;&lt;Text style={{ fontSize: 16, fontWeight: 'bold', color: '#20344B' }}&gt;端到端耗时中位数&lt;/Text&gt;&lt;/Box&gt;&#10;            &lt;Box style={{ width: 426, paddingRight: 12 }}&gt;&lt;Box style={{ height: 58, background: '#EDF4FC', borderRadius: 8, justifyContent: 'center', alignItems: 'center' }}&gt;&lt;Text style={{ fontSize: 17, color: '#20344B' }}&gt;8 秒&lt;/Text&gt;&lt;/Box&gt;&lt;/Box&gt;&#10;            &lt;Box style={{ width: 426 }}&gt;&lt;Box style={{ height: 58, background: '#ECF7F2', borderRadius: 8, justifyContent: 'center', alignItems: 'center' }}&gt;&lt;Text style={{ fontSize: 17, color: '#20344B' }}&gt;15 秒&lt;/Text&gt;&lt;/Box&gt;&lt;/Box&gt;&#10;        &lt;/Box&gt;&#10;&#10;        &lt;Box style={{ height: 84, background: '#FFF4E6', borderRadius: 10, padding: '0 24px', flexDirection: 'row', alignItems: 'center', gap: 14 }}&gt;&#10;            &lt;Box style={{ width: 3, height: 44, background: '#CB6B28' }} /&gt;&#10;            &lt;Text style={{ fontSize: 15, color: '#CB6B28', lineHeight: 1.6 }}&gt;人工数据。先确定不可违反的条件，再比较成本；两次无依据的完成声明不能被较低的单位成本掩盖，零次观察也不证明永不出错。&lt;/Text&gt;&#10;        &lt;/Box&gt;&#10;&#10;    &lt;/Box&gt;&#10;&#10;    &lt;Box style={{ height: 40, flexDirection: 'row', justifyContent: 'space-between', alignItems: 'center' }}&gt;&#10;        &lt;Text style={{ fontSize: 14, color: '#546779' }}&gt;1.6 为自己的任务选择模型&lt;/Text&gt;&#10;        &lt;Text style={{ fontSize: 14, color: '#546779' }}&gt;19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1.6.5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第五步：按任务选择，而不是按一个综合分选择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甲的每次成功更便宜，乙更稳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609600" y="1200150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下面的表完全是教学假设，用于演示选择方法，不对应真实品牌或实测结果。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781050" y="1628775"/>
            <a:ext cx="2686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二十四项评价结果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5286375" y="1619250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候选甲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9344025" y="1619250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候选乙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781050" y="2190750"/>
            <a:ext cx="2686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成功任务</a:t>
            </a:r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3467100" y="2009775"/>
            <a:ext cx="3943350" cy="552450"/>
          </a:xfrm>
          <a:prstGeom prst="roundRect">
            <a:avLst>
              <a:gd name="adj" fmla="val 1379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5153025" y="2190750"/>
            <a:ext cx="581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>20 / 24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7524750" y="2009775"/>
            <a:ext cx="4057650" cy="552450"/>
          </a:xfrm>
          <a:prstGeom prst="roundRect">
            <a:avLst>
              <a:gd name="adj" fmla="val 1379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9267825" y="2190750"/>
            <a:ext cx="581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>22 / 24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781050" y="2876550"/>
            <a:ext cx="2686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无依据的完成声明</a:t>
            </a:r>
            <a:endParaRPr/>
          </a:p>
        </p:txBody>
      </p:sp>
      <p:sp>
        <p:nvSpPr>
          <p:cNvPr id="262" name=""/>
          <p:cNvSpPr/>
          <p:nvPr/>
        </p:nvSpPr>
        <p:spPr>
          <a:xfrm rot="0" flipH="0" flipV="0">
            <a:off x="3467100" y="2695575"/>
            <a:ext cx="3943350" cy="552450"/>
          </a:xfrm>
          <a:prstGeom prst="roundRect">
            <a:avLst>
              <a:gd name="adj" fmla="val 1379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5286375" y="2876550"/>
            <a:ext cx="314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2 </a:t>
            </a: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7524750" y="2695575"/>
            <a:ext cx="4057650" cy="552450"/>
          </a:xfrm>
          <a:prstGeom prst="roundRect">
            <a:avLst>
              <a:gd name="adj" fmla="val 1379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9401175" y="2876550"/>
            <a:ext cx="314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0 </a:t>
            </a: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781050" y="3562350"/>
            <a:ext cx="2686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全部尝试总费用</a:t>
            </a:r>
            <a:endParaRPr/>
          </a:p>
        </p:txBody>
      </p:sp>
      <p:sp>
        <p:nvSpPr>
          <p:cNvPr id="267" name=""/>
          <p:cNvSpPr/>
          <p:nvPr/>
        </p:nvSpPr>
        <p:spPr>
          <a:xfrm rot="0" flipH="0" flipV="0">
            <a:off x="3467100" y="3381375"/>
            <a:ext cx="3943350" cy="552450"/>
          </a:xfrm>
          <a:prstGeom prst="roundRect">
            <a:avLst>
              <a:gd name="adj" fmla="val 1379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5172075" y="3562350"/>
            <a:ext cx="542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20344B"/>
                </a:solidFill>
                <a:latin typeface="Microsoft YaHei"/>
                <a:ea typeface="Microsoft YaHei"/>
              </a:rPr>
              <a:t xml:space="preserve">1.20 </a:t>
            </a: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元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7524750" y="3381375"/>
            <a:ext cx="4057650" cy="552450"/>
          </a:xfrm>
          <a:prstGeom prst="roundRect">
            <a:avLst>
              <a:gd name="adj" fmla="val 1379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9286875" y="3562350"/>
            <a:ext cx="542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20344B"/>
                </a:solidFill>
                <a:latin typeface="Microsoft YaHei"/>
                <a:ea typeface="Microsoft YaHei"/>
              </a:rPr>
              <a:t xml:space="preserve">3.30 </a:t>
            </a: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元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781050" y="4248150"/>
            <a:ext cx="2686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每项成功任务费用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3467100" y="4067175"/>
            <a:ext cx="3943350" cy="552450"/>
          </a:xfrm>
          <a:prstGeom prst="roundRect">
            <a:avLst>
              <a:gd name="adj" fmla="val 1379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4667250" y="4248150"/>
            <a:ext cx="1543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76FBF"/>
                </a:solidFill>
                <a:latin typeface="Microsoft YaHei"/>
                <a:ea typeface="Microsoft YaHei"/>
              </a:rPr>
              <a:t xml:space="preserve">0.06 </a:t>
            </a: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元　＝</a:t>
            </a:r>
            <a:r>
              <a:rPr lang="en-US" sz="1200">
                <a:solidFill>
                  <a:srgbClr val="276FBF"/>
                </a:solidFill>
                <a:latin typeface="Microsoft YaHei"/>
                <a:ea typeface="Microsoft YaHei"/>
              </a:rPr>
              <a:t xml:space="preserve"> 1.20 ÷ 20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7524750" y="4067175"/>
            <a:ext cx="4057650" cy="552450"/>
          </a:xfrm>
          <a:prstGeom prst="roundRect">
            <a:avLst>
              <a:gd name="adj" fmla="val 1379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8782050" y="4248150"/>
            <a:ext cx="1543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6816B"/>
                </a:solidFill>
                <a:latin typeface="Microsoft YaHei"/>
                <a:ea typeface="Microsoft YaHei"/>
              </a:rPr>
              <a:t xml:space="preserve">0.15 </a:t>
            </a:r>
            <a:r>
              <a:rPr lang="zh-CN" sz="1200">
                <a:solidFill>
                  <a:srgbClr val="26816B"/>
                </a:solidFill>
                <a:latin typeface="Microsoft YaHei"/>
                <a:ea typeface="Microsoft YaHei"/>
              </a:rPr>
              <a:t>元　＝</a:t>
            </a:r>
            <a:r>
              <a:rPr lang="en-US" sz="1200">
                <a:solidFill>
                  <a:srgbClr val="26816B"/>
                </a:solidFill>
                <a:latin typeface="Microsoft YaHei"/>
                <a:ea typeface="Microsoft YaHei"/>
              </a:rPr>
              <a:t xml:space="preserve"> 3.30 ÷ 22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781050" y="4933950"/>
            <a:ext cx="2686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端到端耗时中位数</a:t>
            </a:r>
            <a:endParaRPr/>
          </a:p>
        </p:txBody>
      </p:sp>
      <p:sp>
        <p:nvSpPr>
          <p:cNvPr id="277" name=""/>
          <p:cNvSpPr/>
          <p:nvPr/>
        </p:nvSpPr>
        <p:spPr>
          <a:xfrm rot="0" flipH="0" flipV="0">
            <a:off x="3467100" y="4752975"/>
            <a:ext cx="3943350" cy="552450"/>
          </a:xfrm>
          <a:prstGeom prst="roundRect">
            <a:avLst>
              <a:gd name="adj" fmla="val 1379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5286375" y="4933950"/>
            <a:ext cx="304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20344B"/>
                </a:solidFill>
                <a:latin typeface="Microsoft YaHei"/>
                <a:ea typeface="Microsoft YaHei"/>
              </a:rPr>
              <a:t xml:space="preserve">8 </a:t>
            </a: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秒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7524750" y="4752975"/>
            <a:ext cx="4057650" cy="552450"/>
          </a:xfrm>
          <a:prstGeom prst="roundRect">
            <a:avLst>
              <a:gd name="adj" fmla="val 1379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9353550" y="4933950"/>
            <a:ext cx="400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20344B"/>
                </a:solidFill>
                <a:latin typeface="Microsoft YaHei"/>
                <a:ea typeface="Microsoft YaHei"/>
              </a:rPr>
              <a:t xml:space="preserve">15 </a:t>
            </a: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秒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609600" y="5438775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82" name=""/>
          <p:cNvSpPr/>
          <p:nvPr/>
        </p:nvSpPr>
        <p:spPr>
          <a:xfrm rot="0" flipH="0" flipV="0">
            <a:off x="838200" y="5629275"/>
            <a:ext cx="28575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1000125" y="5705475"/>
            <a:ext cx="82867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人工数据。先确定不可违反的条件，再比较成本；两次无依据的完成声明不能被较低的单位成本掩盖，零次观察也不证明永不出错。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为自己的任务选择模型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19 / 27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324" name="" descr="&lt;Slide notes={`真正做决定的时候，顺序不能反。要先把不可违反的条件定下来，再去看成本。反过来做，很容易被一个便宜的价格吸引，最后发现它连门槛都过不了。&#10;&#10;具体怎么写呢？比如事先要求：关键约束必须通过独立检查，检查不通过就停止交付。写下来之后，再比较通过了这条流程的任务成功率、时间和成本。这样比较的才是同一件事。&#10;&#10;这里要补一句：独立检查本身也要验证。不能假定写了一个检查程序，它就永远正确。检查器也有它自己的错误率，它也会漏掉某些冲突。&#10;&#10;还有一种情况值得说：有时候适合用不同的模型承担不同的任务。起草文本和检查复杂冲突，对模型的要求确实不一样。但增加分工也会增加输入传递、结果整合和调用成本。&#10;&#10;最重要的提醒是，这种组合应当被当成一个全新的候选，重新评价，而不是把两个单独模型各自最好的成绩加在一起。那种加法在现实里不成立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6.5　第五步：按任务选择，而不是按一个综合分选择&lt;/Text&gt;&#10;            &lt;Text style={{ fontSize: 34, fontWeight: 'bold', color: '#20344B' }}&gt;先定不可违反的条件&lt;/Text&gt;&#10;        &lt;/Box&gt;&#10;    &lt;/Box&gt;&#10;&#10;    &lt;Box style={{ height: 540, flexDirection: 'column', justifyContent: 'center', gap: 16 }}&gt;&#10;&#10;        &lt;Text style={{ fontSize: 17, color: '#546779' }}&gt;最终选择应结合可接受条件，而不是临时为喜欢的候选调权重。&lt;/Text&gt;&#10;&#10;        &lt;Box style={{ height: 230, background: '#F4F7FA', borderRadius: 12, padding: '22px 26px', flexDirection: 'column', gap: 10 }}&gt;&#10;            &lt;Text style={{ fontSize: 20, fontWeight: 'bold', color: '#276FBF' }}&gt;事先写下硬条件，再比较成本&lt;/Text&gt;&#10;            &lt;Box style={{ flexDirection: 'row', alignItems: 'center', gap: 12 }}&gt;&#10;                &lt;Box style={{ width: 4, height: 40, background: '#276FBF' }} /&gt;&#10;                &lt;Text style={{ fontSize: 16, color: '#20344B' }}&gt;例如：关键约束必须通过独立检查，失败时停止交付&lt;/Text&gt;&#10;            &lt;/Box&gt;&#10;            &lt;Box style={{ flexDirection: 'row', alignItems: 'center', gap: 12 }}&gt;&#10;                &lt;Box style={{ width: 4, height: 40, background: '#276FBF' }} /&gt;&#10;                &lt;Text style={{ fontSize: 16, color: '#20344B' }}&gt;然后比较通过该流程的任务成功率、时间和成本&lt;/Text&gt;&#10;            &lt;/Box&gt;&#10;            &lt;Box style={{ flexDirection: 'row', alignItems: 'center', gap: 12 }}&gt;&#10;                &lt;Box style={{ width: 4, height: 40, background: '#CB6B28' }} /&gt;&#10;                &lt;Text style={{ fontSize: 16, color: '#CB6B28' }}&gt;独立检查本身也要验证，不能假定写了检查器就永远正确&lt;/Text&gt;&#10;            &lt;/Box&gt;&#10;        &lt;/Box&gt;&#10;&#10;        &lt;Box style={{ height: 230, background: '#F4F7FA', borderRadius: 12, padding: '22px 26px', flexDirection: 'column', gap: 10 }}&gt;&#10;            &lt;Text style={{ fontSize: 20, fontWeight: 'bold', color: '#26816B' }}&gt;有时适合不同模型承担不同任务&lt;/Text&gt;&#10;            &lt;Box style={{ flexDirection: 'row', alignItems: 'center', gap: 12 }}&gt;&#10;                &lt;Box style={{ width: 4, height: 40, background: '#276FBF' }} /&gt;&#10;                &lt;Text style={{ fontSize: 16, color: '#20344B' }}&gt;起草文本与检查复杂冲突，可能有不同要求&lt;/Text&gt;&#10;            &lt;/Box&gt;&#10;            &lt;Box style={{ flexDirection: 'row', alignItems: 'center', gap: 12 }}&gt;&#10;                &lt;Box style={{ width: 4, height: 40, background: '#276FBF' }} /&gt;&#10;                &lt;Text style={{ fontSize: 16, color: '#20344B' }}&gt;分工也会增加输入传递、结果整合和调用成本&lt;/Text&gt;&#10;            &lt;/Box&gt;&#10;            &lt;Box style={{ flexDirection: 'row', alignItems: 'center', gap: 12 }}&gt;&#10;                &lt;Box style={{ width: 4, height: 40, background: '#26816B' }} /&gt;&#10;                &lt;Text style={{ fontSize: 16, color: '#20344B' }}&gt;把这种组合当成一个新候选重新评价，不把最好成绩相加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1.6 为自己的任务选择模型&lt;/Text&gt;&#10;        &lt;Text style={{ fontSize: 14, color: '#546779' }}&gt;20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1.6.5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第五步：按任务选择，而不是按一个综合分选择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先定不可违反的条件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609600" y="1276350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最终选择应结合可接受条件，而不是临时为喜欢的候选调权重。</a:t>
            </a:r>
            <a:endParaRPr/>
          </a:p>
        </p:txBody>
      </p:sp>
      <p:sp>
        <p:nvSpPr>
          <p:cNvPr id="330" name=""/>
          <p:cNvSpPr/>
          <p:nvPr/>
        </p:nvSpPr>
        <p:spPr>
          <a:xfrm rot="0" flipH="0" flipV="0">
            <a:off x="609600" y="1628775"/>
            <a:ext cx="10972800" cy="2190750"/>
          </a:xfrm>
          <a:prstGeom prst="roundRect">
            <a:avLst>
              <a:gd name="adj" fmla="val 521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857250" y="1838325"/>
            <a:ext cx="10477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事先写下硬条件，再比较成本</a:t>
            </a:r>
            <a:endParaRPr/>
          </a:p>
        </p:txBody>
      </p:sp>
      <p:sp>
        <p:nvSpPr>
          <p:cNvPr id="332" name=""/>
          <p:cNvSpPr/>
          <p:nvPr/>
        </p:nvSpPr>
        <p:spPr>
          <a:xfrm rot="0" flipH="0" flipV="0">
            <a:off x="857250" y="216217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1009650" y="2257425"/>
            <a:ext cx="3505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例如：关键约束必须通过独立检查，失败时停止交付</a:t>
            </a:r>
            <a:endParaRPr/>
          </a:p>
        </p:txBody>
      </p:sp>
      <p:sp>
        <p:nvSpPr>
          <p:cNvPr id="334" name=""/>
          <p:cNvSpPr/>
          <p:nvPr/>
        </p:nvSpPr>
        <p:spPr>
          <a:xfrm rot="0" flipH="0" flipV="0">
            <a:off x="857250" y="263842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1009650" y="2733675"/>
            <a:ext cx="3200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然后比较通过该流程的任务成功率、时间和成本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857250" y="3114675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1009650" y="3209925"/>
            <a:ext cx="381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独立检查本身也要验证，不能假定写了检查器就永远正确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609600" y="3971925"/>
            <a:ext cx="10972800" cy="2190750"/>
          </a:xfrm>
          <a:prstGeom prst="roundRect">
            <a:avLst>
              <a:gd name="adj" fmla="val 521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857250" y="4181475"/>
            <a:ext cx="10477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有时适合不同模型承担不同任务</a:t>
            </a:r>
            <a:endParaRPr/>
          </a:p>
        </p:txBody>
      </p:sp>
      <p:sp>
        <p:nvSpPr>
          <p:cNvPr id="340" name=""/>
          <p:cNvSpPr/>
          <p:nvPr/>
        </p:nvSpPr>
        <p:spPr>
          <a:xfrm rot="0" flipH="0" flipV="0">
            <a:off x="857250" y="450532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1009650" y="4600575"/>
            <a:ext cx="2895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起草文本与检查复杂冲突，可能有不同要求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857250" y="498157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1009650" y="5076825"/>
            <a:ext cx="304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分工也会增加输入传递、结果整合和调用成本</a:t>
            </a:r>
            <a:endParaRPr/>
          </a:p>
        </p:txBody>
      </p:sp>
      <p:sp>
        <p:nvSpPr>
          <p:cNvPr id="344" name=""/>
          <p:cNvSpPr/>
          <p:nvPr/>
        </p:nvSpPr>
        <p:spPr>
          <a:xfrm rot="0" flipH="0" flipV="0">
            <a:off x="857250" y="5457825"/>
            <a:ext cx="38100" cy="3810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1009650" y="5553075"/>
            <a:ext cx="381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把这种组合当成一个新候选重新评价，不把最好成绩相加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为自己的任务选择模型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20 / 27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348" name="" descr="&lt;Slide notes={`方法讲完了，接下来要把它装进本书真正要做的两类任务里。&#10;&#10;第一类在第二章，是活动筹备助手。它需要读取文件、形成结构化结果、调用查询或检查工具，并且在缺少资料的时候正确停下来。这类任务的评价重点在约束、来源、执行和交付。它不需要多轮的自我意识，但必须守住执行边界。&#10;&#10;第二类在第三章，是仿真角色。除了读资料，它还要在多轮过程中理解自己当前的位置、看得到什么信息、有哪些私有记忆，以及工具返回了什么。它要按照世界合同来选择行动。评价重点就变成了跨步的一致性、动作参数、信息边界、记忆使用和调用成本。&#10;&#10;两类的硬约束和证据都不一样。所以同一套步骤要走两遍，各写一份选择说明，不能合成一份。`} style={{ width: 1280, height: 720, background: '#FFFFFF', flexDirection: 'column', padding: '20px 64px' }}&gt;&#10;&#10;    &lt;Box style={{ height: 100 }} /&gt;&#10;&#10;    &lt;Box style={{ height: 540, flexDirection: 'column', justifyContent: 'center', alignItems: 'center', gap: 26 }}&gt;&#10;&#10;        &lt;Text style={{ fontSize: 14, color: '#276FBF' }}&gt;1.6.6&lt;/Text&gt;&#10;        &lt;Text style={{ fontSize: 56, fontWeight: 'bold', color: '#20344B', lineHeight: 1.15 }}&gt;为两类任务分别写选择说明&lt;/Text&gt;&#10;        &lt;Text style={{ fontSize: 17, color: '#546779' }}&gt;同一套步骤，两套任务、硬约束与证据&lt;/Text&gt;&#10;&#10;        &lt;Box style={{ flexDirection: 'column', gap: 16, paddingTop: 12 }}&gt;&#10;&#10;            &lt;Box style={{ flexDirection: 'row', alignItems: 'center', gap: 16 }}&gt;&#10;                &lt;Box style={{ width: 180, height: 70, background: '#EDF4FC', borderRadius: 10, justifyContent: 'center', alignItems: 'center' }}&gt;&#10;                    &lt;Text style={{ fontSize: 17, fontWeight: 'bold', color: '#276FBF' }}&gt;活动筹备助手&lt;/Text&gt;&#10;                &lt;/Box&gt;&#10;                &lt;Box style={{ width: 44, alignItems: 'center', justifyContent: 'center' }}&gt;&#10;                    &lt;Text style={{ fontSize: 32, color: '#276FBF' }}&gt;›&lt;/Text&gt;&#10;                &lt;/Box&gt;&#10;                &lt;Box style={{ width: 460, height: 70, background: '#F4F7FA', borderRadius: 10, justifyContent: 'center', paddingLeft: 20 }}&gt;&#10;                    &lt;Text style={{ fontSize: 15, color: '#20344B' }}&gt;约束、来源、执行、交付&lt;/Text&gt;&#10;                &lt;/Box&gt;&#10;                &lt;Box style={{ width: 44, alignItems: 'center', justifyContent: 'center' }}&gt;&#10;                    &lt;Text style={{ fontSize: 32, color: '#276FBF' }}&gt;›&lt;/Text&gt;&#10;                &lt;/Box&gt;&#10;                &lt;Box style={{ width: 300, height: 70, background: '#ECF7F2', borderRadius: 10, justifyContent: 'center', alignItems: 'center' }}&gt;&#10;                    &lt;Text style={{ fontSize: 15, fontWeight: 'bold', color: '#26816B' }}&gt;第二章实测&lt;/Text&gt;&#10;                &lt;/Box&gt;&#10;            &lt;/Box&gt;&#10;&#10;            &lt;Box style={{ flexDirection: 'row', alignItems: 'center', gap: 16 }}&gt;&#10;                &lt;Box style={{ width: 180, height: 70, background: '#EDF4FC', borderRadius: 10, justifyContent: 'center', alignItems: 'center' }}&gt;&#10;                    &lt;Text style={{ fontSize: 17, fontWeight: 'bold', color: '#276FBF' }}&gt;仿真角色&lt;/Text&gt;&#10;                &lt;/Box&gt;&#10;                &lt;Box style={{ width: 44, alignItems: 'center', justifyContent: 'center' }}&gt;&#10;                    &lt;Text style={{ fontSize: 32, color: '#276FBF' }}&gt;›&lt;/Text&gt;&#10;                &lt;/Box&gt;&#10;                &lt;Box style={{ width: 460, height: 70, background: '#F4F7FA', borderRadius: 10, justifyContent: 'center', paddingLeft: 20 }}&gt;&#10;                    &lt;Text style={{ fontSize: 15, color: '#20344B' }}&gt;跨步一致性、动作参数、信息边界、记忆&lt;/Text&gt;&#10;                &lt;/Box&gt;&#10;                &lt;Box style={{ width: 44, alignItems: 'center', justifyContent: 'center' }}&gt;&#10;                    &lt;Text style={{ fontSize: 32, color: '#276FBF' }}&gt;›&lt;/Text&gt;&#10;                &lt;/Box&gt;&#10;                &lt;Box style={{ width: 300, height: 70, background: '#ECF7F2', borderRadius: 10, justifyContent: 'center', alignItems: 'center' }}&gt;&#10;                    &lt;Text style={{ fontSize: 15, fontWeight: 'bold', color: '#26816B' }}&gt;第三章实测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1.6 为自己的任务选择模型&lt;/Text&gt;&#10;        &lt;Text style={{ fontSize: 14, color: '#546779' }}&gt;21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5943600" y="1990725"/>
            <a:ext cx="304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>1.6.6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2895600" y="2400300"/>
            <a:ext cx="6400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为两类任务分别写选择说明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4724400" y="3390900"/>
            <a:ext cx="2752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同一套步骤，两套任务、硬约束与证据</a:t>
            </a:r>
            <a:endParaRPr/>
          </a:p>
        </p:txBody>
      </p:sp>
      <p:sp>
        <p:nvSpPr>
          <p:cNvPr id="353" name=""/>
          <p:cNvSpPr/>
          <p:nvPr/>
        </p:nvSpPr>
        <p:spPr>
          <a:xfrm rot="0" flipH="0" flipV="0">
            <a:off x="895350" y="3952875"/>
            <a:ext cx="1714500" cy="66675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1266825" y="4191000"/>
            <a:ext cx="971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活动筹备助手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2914650" y="4105275"/>
            <a:ext cx="1143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4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56" name=""/>
          <p:cNvSpPr/>
          <p:nvPr/>
        </p:nvSpPr>
        <p:spPr>
          <a:xfrm rot="0" flipH="0" flipV="0">
            <a:off x="3333750" y="3952875"/>
            <a:ext cx="4381500" cy="666750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3524250" y="4200525"/>
            <a:ext cx="4191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约束、来源、执行、交付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8020050" y="4105275"/>
            <a:ext cx="1143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4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59" name=""/>
          <p:cNvSpPr/>
          <p:nvPr/>
        </p:nvSpPr>
        <p:spPr>
          <a:xfrm rot="0" flipH="0" flipV="0">
            <a:off x="8439150" y="3952875"/>
            <a:ext cx="2857500" cy="66675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9515475" y="420052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第二章实测</a:t>
            </a:r>
            <a:endParaRPr/>
          </a:p>
        </p:txBody>
      </p:sp>
      <p:sp>
        <p:nvSpPr>
          <p:cNvPr id="361" name=""/>
          <p:cNvSpPr/>
          <p:nvPr/>
        </p:nvSpPr>
        <p:spPr>
          <a:xfrm rot="0" flipH="0" flipV="0">
            <a:off x="895350" y="4772025"/>
            <a:ext cx="1714500" cy="66675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1428750" y="501015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仿真角色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2914650" y="4924425"/>
            <a:ext cx="1143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4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64" name=""/>
          <p:cNvSpPr/>
          <p:nvPr/>
        </p:nvSpPr>
        <p:spPr>
          <a:xfrm rot="0" flipH="0" flipV="0">
            <a:off x="3333750" y="4772025"/>
            <a:ext cx="4381500" cy="666750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3524250" y="5019675"/>
            <a:ext cx="4191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跨步一致性、动作参数、信息边界、记忆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8020050" y="4924425"/>
            <a:ext cx="1143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4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67" name=""/>
          <p:cNvSpPr/>
          <p:nvPr/>
        </p:nvSpPr>
        <p:spPr>
          <a:xfrm rot="0" flipH="0" flipV="0">
            <a:off x="8439150" y="4772025"/>
            <a:ext cx="2857500" cy="66675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9515475" y="501967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第三章实测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为自己的任务选择模型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21 / 27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371" name="" descr="&lt;Slide notes={`把整套做法收成一条可以照着填的五步流程。&#10;&#10;第一步是任务，先写清楚要处理什么、资料从哪里来、边界在哪里。第二步是条件，列出哪些是关键验收项，哪些约束不能靠平均分补偿。第三步是比较，说明用哪个模型、产品或应用组合，各自的版本是什么，其余设置如何保持一致。第四步是证据，记下成功数、失败类型、时间与成本，以及原始记录保存在哪里。第五步是复查，写清楚当模型、提示、工具或任务材料发生变化时，需要重新测试。&#10;&#10;这五步的顺序是有讲究的。任务定义不清楚，条件就无从谈起；条件没定，比较就没有门槛；证据不记，复查也无从下手。&#10;&#10;最后一步经常被忽略，但它其实最有用。因为现实里模型会更新、提示会改、工具会换，任何一次选择都不是终身的，而是附带复查条件的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6.6　为本书的两类任务分别写选择说明&lt;/Text&gt;&#10;            &lt;Text style={{ fontSize: 34, fontWeight: 'bold', color: '#20344B' }}&gt;任务 → 条件 → 比较 → 证据 → 复查&lt;/Text&gt;&#10;        &lt;/Box&gt;&#10;    &lt;/Box&gt;&#10;&#10;    &lt;Box style={{ height: 540, flexDirection: 'column', justifyContent: 'center', gap: 18 }}&gt;&#10;&#10;        &lt;Text style={{ fontSize: 17, color: '#546779' }}&gt;这五步用于填写后面的选择记录，不以一次高分替代当前任务的验收。&lt;/Text&gt;&#10;&#10;        &lt;Box style={{ flexDirection: 'row', justifyContent: 'center', alignItems: 'center' }}&gt;&#10;&#10;            &lt;Box style={{ width: 190, height: 270, background: '#EDF4FC', borderRadius: 12, padding: '20px 20px', flexDirection: 'column', gap: 8 }}&gt;&#10;                &lt;Text style={{ fontSize: 72, fontWeight: 'bold', color: '#276FBF', lineHeight: 1 }}&gt;01&lt;/Text&gt;&#10;                &lt;Text style={{ fontSize: 18, fontWeight: 'bold', color: '#20344B' }}&gt;任务&lt;/Text&gt;&#10;                &lt;Text style={{ fontSize: 14, color: '#546779', lineHeight: 1.5 }}&gt;要处理什么，资料从哪里来，输入与边界&lt;/Text&gt;&#10;            &lt;/Box&gt;&#10;&#10;            &lt;Box style={{ width: 44, alignItems: 'center', justifyContent: 'center' }}&gt;&#10;                &lt;Text style={{ fontSize: 32, color: '#276FBF' }}&gt;›&lt;/Text&gt;&#10;            &lt;/Box&gt;&#10;&#10;            &lt;Box style={{ width: 190, height: 270, background: '#EDF4FC', borderRadius: 12, padding: '20px 20px', flexDirection: 'column', gap: 8 }}&gt;&#10;                &lt;Text style={{ fontSize: 72, fontWeight: 'bold', color: '#276FBF', lineHeight: 1 }}&gt;02&lt;/Text&gt;&#10;                &lt;Text style={{ fontSize: 18, fontWeight: 'bold', color: '#20344B' }}&gt;条件&lt;/Text&gt;&#10;                &lt;Text style={{ fontSize: 14, color: '#546779', lineHeight: 1.5 }}&gt;哪些是关键验收项，不能靠平均分补偿&lt;/Text&gt;&#10;            &lt;/Box&gt;&#10;&#10;            &lt;Box style={{ width: 44, alignItems: 'center', justifyContent: 'center' }}&gt;&#10;                &lt;Text style={{ fontSize: 32, color: '#276FBF' }}&gt;›&lt;/Text&gt;&#10;            &lt;/Box&gt;&#10;&#10;            &lt;Box style={{ width: 190, height: 270, background: '#EDF4FC', borderRadius: 12, padding: '20px 20px', flexDirection: 'column', gap: 8 }}&gt;&#10;                &lt;Text style={{ fontSize: 72, fontWeight: 'bold', color: '#276FBF', lineHeight: 1 }}&gt;03&lt;/Text&gt;&#10;                &lt;Text style={{ fontSize: 18, fontWeight: 'bold', color: '#20344B' }}&gt;比较&lt;/Text&gt;&#10;                &lt;Text style={{ fontSize: 14, color: '#546779', lineHeight: 1.5 }}&gt;模型、产品或应用组合及其版本，设置固定&lt;/Text&gt;&#10;            &lt;/Box&gt;&#10;&#10;            &lt;Box style={{ width: 44, alignItems: 'center', justifyContent: 'center' }}&gt;&#10;                &lt;Text style={{ fontSize: 32, color: '#276FBF' }}&gt;›&lt;/Text&gt;&#10;            &lt;/Box&gt;&#10;&#10;            &lt;Box style={{ width: 190, height: 270, background: '#FFF4E6', borderRadius: 12, padding: '20px 20px', flexDirection: 'column', gap: 8 }}&gt;&#10;                &lt;Text style={{ fontSize: 72, fontWeight: 'bold', color: '#CB6B28', lineHeight: 1 }}&gt;04&lt;/Text&gt;&#10;                &lt;Text style={{ fontSize: 18, fontWeight: 'bold', color: '#20344B' }}&gt;证据&lt;/Text&gt;&#10;                &lt;Text style={{ fontSize: 14, color: '#546779', lineHeight: 1.5 }}&gt;成功、失败类型、时间与成本，原始记录位置&lt;/Text&gt;&#10;            &lt;/Box&gt;&#10;&#10;            &lt;Box style={{ width: 44, alignItems: 'center', justifyContent: 'center' }}&gt;&#10;                &lt;Text style={{ fontSize: 32, color: '#276FBF' }}&gt;›&lt;/Text&gt;&#10;            &lt;/Box&gt;&#10;&#10;            &lt;Box style={{ width: 190, height: 270, background: '#ECF7F2', borderRadius: 12, padding: '20px 20px', flexDirection: 'column', gap: 8 }}&gt;&#10;                &lt;Text style={{ fontSize: 72, fontWeight: 'bold', color: '#26816B', lineHeight: 1 }}&gt;05&lt;/Text&gt;&#10;                &lt;Text style={{ fontSize: 18, fontWeight: 'bold', color: '#20344B' }}&gt;复查&lt;/Text&gt;&#10;                &lt;Text style={{ fontSize: 14, color: '#546779', lineHeight: 1.5 }}&gt;模型、提示、工具或任务材料变化后重新测试&lt;/Text&gt;&#10;            &lt;/Box&gt;&#10;&#10;        &lt;/Box&gt;&#10;&#10;        &lt;Box style={{ height: 84, background: '#F4F7FA', borderRadius: 10, padding: '0 24px', flexDirection: 'row', alignItems: 'center', gap: 14 }}&gt;&#10;            &lt;Box style={{ width: 3, height: 44, background: '#276FBF' }} /&gt;&#10;            &lt;Text style={{ fontSize: 16, color: '#20344B', lineHeight: 1.6 }}&gt;一份好的说明不需要声称候选在所有方面领先，而要让另一个人看懂：这个选择针对什么任务，依据是什么，在哪些条件下仍要保持检查。&lt;/Text&gt;&#10;        &lt;/Box&gt;&#10;&#10;    &lt;/Box&gt;&#10;&#10;    &lt;Box style={{ height: 40, flexDirection: 'row', justifyContent: 'space-between', alignItems: 'center' }}&gt;&#10;        &lt;Text style={{ fontSize: 14, color: '#546779' }}&gt;1.6 为自己的任务选择模型&lt;/Text&gt;&#10;        &lt;Text style={{ fontSize: 14, color: '#546779' }}&gt;22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5314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1.6.6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为本书的两类任务分别写选择说明</a:t>
            </a:r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53149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任务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条件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比较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证据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复查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609600" y="1762125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这五步用于填写后面的选择记录，不以一次高分替代当前任务的验收。</a:t>
            </a:r>
            <a:endParaRPr/>
          </a:p>
        </p:txBody>
      </p:sp>
      <p:sp>
        <p:nvSpPr>
          <p:cNvPr id="377" name=""/>
          <p:cNvSpPr/>
          <p:nvPr/>
        </p:nvSpPr>
        <p:spPr>
          <a:xfrm rot="0" flipH="0" flipV="0">
            <a:off x="733425" y="2133600"/>
            <a:ext cx="1809750" cy="2571750"/>
          </a:xfrm>
          <a:prstGeom prst="roundRect">
            <a:avLst>
              <a:gd name="adj" fmla="val 631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923925" y="2324100"/>
            <a:ext cx="142875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276FB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923925" y="3228975"/>
            <a:ext cx="1428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任务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923925" y="3514725"/>
            <a:ext cx="142875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要处理什么，资料从哪里来，输入与边界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2695575" y="3238500"/>
            <a:ext cx="1143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4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82" name=""/>
          <p:cNvSpPr/>
          <p:nvPr/>
        </p:nvSpPr>
        <p:spPr>
          <a:xfrm rot="0" flipH="0" flipV="0">
            <a:off x="2962275" y="2133600"/>
            <a:ext cx="1809750" cy="2571750"/>
          </a:xfrm>
          <a:prstGeom prst="roundRect">
            <a:avLst>
              <a:gd name="adj" fmla="val 631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3152775" y="2324100"/>
            <a:ext cx="142875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276FB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3152775" y="3228975"/>
            <a:ext cx="1428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条件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3152775" y="3514725"/>
            <a:ext cx="142875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哪些是关键验收项，不能靠平均分补偿</a:t>
            </a:r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4924425" y="3238500"/>
            <a:ext cx="1143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4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5191125" y="2133600"/>
            <a:ext cx="1809750" cy="2571750"/>
          </a:xfrm>
          <a:prstGeom prst="roundRect">
            <a:avLst>
              <a:gd name="adj" fmla="val 631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5381625" y="2324100"/>
            <a:ext cx="142875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276FB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5381625" y="3228975"/>
            <a:ext cx="1428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比较</a:t>
            </a:r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5381625" y="3514725"/>
            <a:ext cx="142875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模型、产品或应用组合及其版本，设置固定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7153275" y="3238500"/>
            <a:ext cx="1143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4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7419975" y="2133600"/>
            <a:ext cx="1809750" cy="2571750"/>
          </a:xfrm>
          <a:prstGeom prst="roundRect">
            <a:avLst>
              <a:gd name="adj" fmla="val 631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7610475" y="2324100"/>
            <a:ext cx="142875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CB6B28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7610475" y="3228975"/>
            <a:ext cx="1428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证据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7610475" y="3514725"/>
            <a:ext cx="142875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成功、失败类型、时间与成本，原始记录位置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9382125" y="3238500"/>
            <a:ext cx="1143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4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9648825" y="2133600"/>
            <a:ext cx="1809750" cy="2571750"/>
          </a:xfrm>
          <a:prstGeom prst="roundRect">
            <a:avLst>
              <a:gd name="adj" fmla="val 631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9839325" y="2324100"/>
            <a:ext cx="142875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26816B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9839325" y="3228975"/>
            <a:ext cx="1428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复查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9839325" y="3514725"/>
            <a:ext cx="142875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模型、提示、工具或任务材料变化后重新测试</a:t>
            </a:r>
            <a:endParaRPr/>
          </a:p>
        </p:txBody>
      </p:sp>
      <p:sp>
        <p:nvSpPr>
          <p:cNvPr id="401" name=""/>
          <p:cNvSpPr/>
          <p:nvPr/>
        </p:nvSpPr>
        <p:spPr>
          <a:xfrm rot="0" flipH="0" flipV="0">
            <a:off x="609600" y="4876800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02" name=""/>
          <p:cNvSpPr/>
          <p:nvPr/>
        </p:nvSpPr>
        <p:spPr>
          <a:xfrm rot="0" flipH="0" flipV="0">
            <a:off x="838200" y="5067300"/>
            <a:ext cx="28575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1000125" y="5133975"/>
            <a:ext cx="92964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一份好的说明不需要声称候选在所有方面领先，而要让另一个人看懂：这个选择针对什么任务，依据是什么，在哪些条件下仍要保持检查。</a:t>
            </a:r>
            <a:endParaRPr/>
          </a:p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为自己的任务选择模型</a:t>
            </a:r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22 / 27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406" name="" descr="&lt;Slide notes={`两类任务要观察的东西确实不一样。&#10;&#10;活动筹备助手要能读取文件，把结果整理成结构化的形式，调用查询或检查的工具，并且在资料缺失的时候正确停下来，而不是硬着头皮编一个。它的评价重点是约束是否守住、来源是否清楚、执行是否真实、交付是否完整。&#10;&#10;仿真角色的要求更多。它要在多轮过程中理解自己现在在哪里、看得到哪些信息、有哪些只有自己知道的记忆，还要读懂工具返回了什么，然后按照世界合同去选择行动。所以评价重点转向跨步的一致性、动作参数是否合法、信息边界有没有被越过、记忆用得对不对，以及调用成本。&#10;&#10;最后这一点特别容易混：这些测试要和内核检查分开看。模型没有提出第二次世界动作，不能据此证明内核一定会拒绝第二次提交；反过来，内核正确拒绝了非法动作，也不说明角色已经完成了业务目标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6.6　为本书的两类任务分别写选择说明&lt;/Text&gt;&#10;            &lt;Text style={{ fontSize: 34, fontWeight: 'bold', color: '#20344B' }}&gt;两类任务，两套要观察的东西&lt;/Text&gt;&#10;        &lt;/Box&gt;&#10;    &lt;/Box&gt;&#10;&#10;    &lt;Box style={{ height: 540, flexDirection: 'column', justifyContent: 'center', gap: 16 }}&gt;&#10;&#10;        &lt;Text style={{ fontSize: 17, color: '#546779' }}&gt;模型测试与内核检查要分开：模型没做某件事，不等于系统会拒绝它。&lt;/Text&gt;&#10;&#10;        &lt;Box style={{ flexDirection: 'row', gap: 24 }}&gt;&#10;&#10;            &lt;Box style={{ width: 564, height: 300, background: '#EDF4FC', borderRadius: 12, padding: '22px 26px', flexDirection: 'column', gap: 10 }}&gt;&#10;                &lt;Text style={{ fontSize: 22, fontWeight: 'bold', color: '#276FBF' }}&gt;活动筹备助手　第二章&lt;/Text&gt;&#10;                &lt;Text style={{ fontSize: 15, color: '#546779', lineHeight: 1.6 }}&gt;读取文件、形成结构化结果&lt;/Text&gt;&#10;                &lt;Text style={{ fontSize: 15, color: '#546779', lineHeight: 1.6 }}&gt;调用查询或检查工具&lt;/Text&gt;&#10;                &lt;Text style={{ fontSize: 15, color: '#546779', lineHeight: 1.6 }}&gt;缺少资料时正确停下来&lt;/Text&gt;&#10;                &lt;Box style={{ flex: 1 }} /&gt;&#10;                &lt;Text style={{ fontSize: 15, color: '#20344B', lineHeight: 1.6 }}&gt;评价重点：约束、来源、执行、交付&lt;/Text&gt;&#10;            &lt;/Box&gt;&#10;&#10;            &lt;Box style={{ width: 564, height: 300, background: '#ECF7F2', borderRadius: 12, padding: '22px 26px', flexDirection: 'column', gap: 10 }}&gt;&#10;                &lt;Text style={{ fontSize: 22, fontWeight: 'bold', color: '#26816B' }}&gt;仿真角色　第三章&lt;/Text&gt;&#10;                &lt;Text style={{ fontSize: 15, color: '#546779', lineHeight: 1.6 }}&gt;多轮理解当前位置、所见信息与私有记忆&lt;/Text&gt;&#10;                &lt;Text style={{ fontSize: 15, color: '#546779', lineHeight: 1.6 }}&gt;读懂工具反馈，按世界合同选择行动&lt;/Text&gt;&#10;                &lt;Text style={{ fontSize: 15, color: '#546779', lineHeight: 1.6 }}&gt;单次写作表现无法覆盖这些要求&lt;/Text&gt;&#10;                &lt;Box style={{ flex: 1 }} /&gt;&#10;                &lt;Text style={{ fontSize: 15, color: '#20344B', lineHeight: 1.6 }}&gt;评价重点：跨步一致性、动作参数、信息边界、记忆使用与调用成本&lt;/Text&gt;&#10;            &lt;/Box&gt;&#10;&#10;        &lt;/Box&gt;&#10;&#10;        &lt;Box style={{ height: 80, background: '#FFF4E6', borderRadius: 10, padding: '0 24px', flexDirection: 'row', alignItems: 'center', gap: 14 }}&gt;&#10;            &lt;Box style={{ width: 3, height: 44, background: '#CB6B28' }} /&gt;&#10;            &lt;Text style={{ fontSize: 15, color: '#CB6B28', lineHeight: 1.6 }}&gt;模型没有提出第二次世界动作，不能据此证明内核一定会拒绝第二次提交；内核正确拒绝非法动作，也不说明角色已完成业务目标。&lt;/Text&gt;&#10;        &lt;/Box&gt;&#10;&#10;    &lt;/Box&gt;&#10;&#10;    &lt;Box style={{ height: 40, flexDirection: 'row', justifyContent: 'space-between', alignItems: 'center' }}&gt;&#10;        &lt;Text style={{ fontSize: 14, color: '#546779' }}&gt;1.6 为自己的任务选择模型&lt;/Text&gt;&#10;        &lt;Text style={{ fontSize: 14, color: '#546779' }}&gt;23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1.6.6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为本书的两类任务分别写选择说明</a:t>
            </a:r>
            <a:endParaRPr/>
          </a:p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两类任务，两套要观察的东西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609600" y="1657350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模型测试与内核检查要分开：模型没做某件事，不等于系统会拒绝它。</a:t>
            </a:r>
            <a:endParaRPr/>
          </a:p>
        </p:txBody>
      </p:sp>
      <p:sp>
        <p:nvSpPr>
          <p:cNvPr id="412" name=""/>
          <p:cNvSpPr/>
          <p:nvPr/>
        </p:nvSpPr>
        <p:spPr>
          <a:xfrm rot="0" flipH="0" flipV="0">
            <a:off x="609600" y="2009775"/>
            <a:ext cx="5372100" cy="2857500"/>
          </a:xfrm>
          <a:prstGeom prst="roundRect">
            <a:avLst>
              <a:gd name="adj" fmla="val 4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857250" y="2219325"/>
            <a:ext cx="4876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活动筹备助手　第二章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857250" y="2571750"/>
            <a:ext cx="48768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读取文件、形成结构化结果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857250" y="2943225"/>
            <a:ext cx="48768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调用查询或检查工具</a:t>
            </a:r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857250" y="3314700"/>
            <a:ext cx="48768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缺少资料时正确停下来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857250" y="4381500"/>
            <a:ext cx="48768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评价重点：约束、来源、执行、交付</a:t>
            </a:r>
            <a:endParaRPr/>
          </a:p>
        </p:txBody>
      </p:sp>
      <p:sp>
        <p:nvSpPr>
          <p:cNvPr id="418" name=""/>
          <p:cNvSpPr/>
          <p:nvPr/>
        </p:nvSpPr>
        <p:spPr>
          <a:xfrm rot="0" flipH="0" flipV="0">
            <a:off x="6210300" y="2009775"/>
            <a:ext cx="5372100" cy="2857500"/>
          </a:xfrm>
          <a:prstGeom prst="roundRect">
            <a:avLst>
              <a:gd name="adj" fmla="val 4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6457950" y="2219325"/>
            <a:ext cx="4876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6816B"/>
                </a:solidFill>
                <a:latin typeface="Microsoft YaHei"/>
                <a:ea typeface="Microsoft YaHei"/>
              </a:rPr>
              <a:t>仿真角色　第三章</a:t>
            </a:r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6457950" y="2571750"/>
            <a:ext cx="48768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多轮理解当前位置、所见信息与私有记忆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6457950" y="2943225"/>
            <a:ext cx="48768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读懂工具反馈，按世界合同选择行动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6457950" y="3314700"/>
            <a:ext cx="48768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单次写作表现无法覆盖这些要求</a:t>
            </a:r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6457950" y="4381500"/>
            <a:ext cx="48768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评价重点：跨步一致性、动作参数、信息边界、记忆使用与调用成本</a:t>
            </a:r>
            <a:endParaRPr/>
          </a:p>
        </p:txBody>
      </p:sp>
      <p:sp>
        <p:nvSpPr>
          <p:cNvPr id="424" name=""/>
          <p:cNvSpPr/>
          <p:nvPr/>
        </p:nvSpPr>
        <p:spPr>
          <a:xfrm rot="0" flipH="0" flipV="0">
            <a:off x="609600" y="5019675"/>
            <a:ext cx="10972800" cy="7620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25" name=""/>
          <p:cNvSpPr/>
          <p:nvPr/>
        </p:nvSpPr>
        <p:spPr>
          <a:xfrm rot="0" flipH="0" flipV="0">
            <a:off x="838200" y="5191125"/>
            <a:ext cx="28575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1000125" y="5267325"/>
            <a:ext cx="82867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模型没有提出第二次世界动作，不能据此证明内核一定会拒绝第二次提交；内核正确拒绝非法动作，也不说明角色已完成业务目标。</a:t>
            </a:r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为自己的任务选择模型</a:t>
            </a:r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23 / 27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429" name="" descr="&lt;Slide notes={`剩下的时间交给你自己动手。这里准备了五道练习，每一道都对应前面讲过的某一件事。&#10;&#10;第一道练证据意识。助手说了三句话，容量十二人、已经预约十点半、你喜欢简短报告，你要分别说出每一句需要什么证据。关键问题是：只在回答里写出这些文字，能证明哪一项已经成立。&#10;&#10;第二道练指标计算。十条必需约束，模型输出十条，八条正确、两条不存在，还漏掉两条必需约束。你要算出精确率、召回率和 F1。算完之后还要再想一步：如果漏掉的恰好是预约冲突条件，为什么总体 F1 不能直接代表方案可执行。&#10;&#10;第三道练概率与假设。每次独立成功概率零点八，给两次机会，至少成功一次和两次都成功的概率分别是多少，以及现实里哪些因素会破坏独立同分布。&#10;&#10;第四道读数据卡，第五道设计自己的小评价。后两道没有唯一答案，重点是你能不能把条件、证据、分母和失败处理写清楚。`} style={{ width: 1280, height: 720, background: '#FFFFFF', flexDirection: 'column', padding: '20px 64px' }}&gt;&#10;&#10;    &lt;Box style={{ height: 100 }} /&gt;&#10;&#10;    &lt;Box style={{ height: 540, flexDirection: 'column', justifyContent: 'center', alignItems: 'center', gap: 26 }}&gt;&#10;&#10;        &lt;Text style={{ fontSize: 14, color: '#276FBF' }}&gt;1.6.7&lt;/Text&gt;&#10;        &lt;Text style={{ fontSize: 56, fontWeight: 'bold', color: '#20344B', lineHeight: 1.15 }}&gt;章末练习与参考思路&lt;/Text&gt;&#10;        &lt;Text style={{ fontSize: 17, color: '#546779' }}&gt;把方法落到自己的任务上&lt;/Text&gt;&#10;&#10;        &lt;Box style={{ flexDirection: 'row', alignItems: 'center', gap: 28, paddingTop: 12 }}&gt;&#10;&#10;            &lt;Text style={{ fontSize: 120, fontWeight: 'bold', color: '#276FBF', lineHeight: 1 }}&gt;5&lt;/Text&gt;&#10;&#10;            &lt;Box style={{ flexDirection: 'column', gap: 10 }}&gt;&#10;                &lt;Text style={{ fontSize: 22, fontWeight: 'bold', color: '#20344B' }}&gt;道练习&lt;/Text&gt;&#10;                &lt;Text style={{ fontSize: 15, color: '#546779', lineHeight: 1.8 }}&gt;找来源 · 重算指标 · 解释成功率&lt;/Text&gt;&#10;                &lt;Text style={{ fontSize: 15, color: '#546779', lineHeight: 1.8 }}&gt;读数据卡 · 设计自己的小评价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1.6 为自己的任务选择模型&lt;/Text&gt;&#10;        &lt;Text style={{ fontSize: 14, color: '#546779' }}&gt;24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5943600" y="2047875"/>
            <a:ext cx="304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>1.6.7</a:t>
            </a:r>
            <a:endParaRPr/>
          </a:p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3695700" y="2457450"/>
            <a:ext cx="48006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章末练习与参考思路</a:t>
            </a:r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5210175" y="3448050"/>
            <a:ext cx="1781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把方法落到自己的任务上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4629150" y="4010025"/>
            <a:ext cx="714375" cy="1371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0" b="1">
                <a:solidFill>
                  <a:srgbClr val="276FB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5610225" y="4162425"/>
            <a:ext cx="19526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道练习</a:t>
            </a:r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5610225" y="4514850"/>
            <a:ext cx="1952625" cy="3143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找来源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重算指标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解释成功率</a:t>
            </a:r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5610225" y="4924425"/>
            <a:ext cx="1952625" cy="3143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读数据卡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设计自己的小评价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为自己的任务选择模型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24 / 27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440" name="" descr="&lt;Slide notes={`练习一，助手说手作室只能容纳十二人、已预约十点半、你一直喜欢简短报告。三句话各自的证据不同：容量要有效的场地资料或查询结果，预约完成要真实执行及状态证据，偏好要用户明确表达或可追溯的有效记忆。只在回答里写出这些文字，只能证明它说出来了。&#10;&#10;练习二，十条必需约束，输出十条，八条正确、两条不存在、漏掉两条。TP 是 8、FP 是 2、FN 是 2，所以准确率、召回率与 F1 都是零点八。但指标把约束按同一种单位计数，而预约冲突属于不可违反的边界，必须单独列出是否满足。&#10;&#10;练习三，独立成功概率零点八，两次机会里至少成功一次是零点九六，两次都成功是零点六四。重试时改提示、共享先前状态或服务配置变化，都会破坏独立同分布的假设。&#10;&#10;练习四、五没有唯一文字答案，重点是能否写清条件、证据、分母与失败处理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6.7　章末练习与参考思路&lt;/Text&gt;&#10;            &lt;Text style={{ fontSize: 34, fontWeight: 'bold', color: '#20344B' }}&gt;五道练习&lt;/Text&gt;&#10;        &lt;/Box&gt;&#10;    &lt;/Box&gt;&#10;&#10;    &lt;Box style={{ height: 540, flexDirection: 'column', justifyContent: 'center', gap: 8 }}&gt;&#10;&#10;        &lt;Box style={{ height: 98, background: '#F4F7FA', borderRadius: 8, padding: '14px 20px', flexDirection: 'row', alignItems: 'center', gap: 16 }}&gt;&#10;            &lt;Box style={{ width: 36, height: 36, borderRadius: 6, background: '#276FBF', justifyContent: 'center', alignItems: 'center' }}&gt;&#10;                &lt;Text style={{ fontSize: 16, fontWeight: 'bold', color: '#FFFFFF' }}&gt;1&lt;/Text&gt;&#10;            &lt;/Box&gt;&#10;            &lt;Box style={{ flexDirection: 'column', gap: 4 }}&gt;&#10;                &lt;Text style={{ fontSize: 16, fontWeight: 'bold', color: '#20344B' }}&gt;找出信息来源&lt;/Text&gt;&#10;                &lt;Text style={{ fontSize: 14, color: '#546779', lineHeight: 1.5 }}&gt;助手说「手作室只能容纳十二人；我已为你预约十点半；你一直喜欢简短报告。」分别列出三句话需要什么证据；仅在回答中出现这些文字，能证明哪一项已经成立？&lt;/Text&gt;&#10;            &lt;/Box&gt;&#10;        &lt;/Box&gt;&#10;&#10;        &lt;Box style={{ height: 98, background: '#FFF4E6', borderRadius: 8, padding: '14px 20px', flexDirection: 'row', alignItems: 'center', gap: 16 }}&gt;&#10;            &lt;Box style={{ width: 36, height: 36, borderRadius: 6, background: '#CB6B28', justifyContent: 'center', alignItems: 'center' }}&gt;&#10;                &lt;Text style={{ fontSize: 16, fontWeight: 'bold', color: '#FFFFFF' }}&gt;2&lt;/Text&gt;&#10;            &lt;/Box&gt;&#10;            &lt;Box style={{ flexDirection: 'column', gap: 4 }}&gt;&#10;                &lt;Text style={{ fontSize: 16, fontWeight: 'bold', color: '#CB6B28' }}&gt;重新计算指标&lt;/Text&gt;&#10;                &lt;Text style={{ fontSize: 14, color: '#546779', lineHeight: 1.5 }}&gt;十条必需约束，输出十条，八条正确、两条不存在，漏掉两条。计算 Precision、Recall 和 F1；若漏掉的恰好是预约冲突条件，为什么总体 F1 不能直接代表方案可执行？&lt;/Text&gt;&#10;            &lt;/Box&gt;&#10;        &lt;/Box&gt;&#10;&#10;        &lt;Box style={{ height: 98, background: '#F4F7FA', borderRadius: 8, padding: '14px 20px', flexDirection: 'row', alignItems: 'center', gap: 16 }}&gt;&#10;            &lt;Box style={{ width: 36, height: 36, borderRadius: 6, background: '#276FBF', justifyContent: 'center', alignItems: 'center' }}&gt;&#10;                &lt;Text style={{ fontSize: 16, fontWeight: 'bold', color: '#FFFFFF' }}&gt;3&lt;/Text&gt;&#10;            &lt;/Box&gt;&#10;            &lt;Box style={{ flexDirection: 'column', gap: 4 }}&gt;&#10;                &lt;Text style={{ fontSize: 16, fontWeight: 'bold', color: '#20344B' }}&gt;解释不同的成功率&lt;/Text&gt;&#10;                &lt;Text style={{ fontSize: 14, color: '#546779', lineHeight: 1.5 }}&gt;每次独立成功概率为 0.8。给两次机会，至少成功一次与两次都成功的概率分别是多少？哪些因素会破坏独立且同分布的假设？&lt;/Text&gt;&#10;            &lt;/Box&gt;&#10;        &lt;/Box&gt;&#10;&#10;        &lt;Box style={{ height: 98, background: '#F4F7FA', borderRadius: 8, padding: '14px 20px', flexDirection: 'row', alignItems: 'center', gap: 16 }}&gt;&#10;            &lt;Box style={{ width: 36, height: 36, borderRadius: 6, background: '#276FBF', justifyContent: 'center', alignItems: 'center' }}&gt;&#10;                &lt;Text style={{ fontSize: 16, fontWeight: 'bold', color: '#FFFFFF' }}&gt;4&lt;/Text&gt;&#10;            &lt;/Box&gt;&#10;            &lt;Box style={{ flexDirection: 'column', gap: 4 }}&gt;&#10;                &lt;Text style={{ fontSize: 16, fontWeight: 'bold', color: '#20344B' }}&gt;阅读一张数据卡&lt;/Text&gt;&#10;                &lt;Text style={{ fontSize: 14, color: '#546779', lineHeight: 1.5 }}&gt;从 1.5 选一条公开成绩，写出它能支持的一个结论和不能支持的两个结论；检查测量日期、工具条件及来源性质是否明确。&lt;/Text&gt;&#10;            &lt;/Box&gt;&#10;        &lt;/Box&gt;&#10;&#10;        &lt;Box style={{ height: 98, background: '#F4F7FA', borderRadius: 8, padding: '14px 20px', flexDirection: 'row', alignItems: 'center', gap: 16 }}&gt;&#10;            &lt;Box style={{ width: 36, height: 36, borderRadius: 6, background: '#276FBF', justifyContent: 'center', alignItems: 'center' }}&gt;&#10;                &lt;Text style={{ fontSize: 16, fontWeight: 'bold', color: '#FFFFFF' }}&gt;5&lt;/Text&gt;&#10;            &lt;/Box&gt;&#10;            &lt;Box style={{ flexDirection: 'column', gap: 4 }}&gt;&#10;                &lt;Text style={{ fontSize: 16, fontWeight: 'bold', color: '#20344B' }}&gt;设计自己的小评价&lt;/Text&gt;&#10;                &lt;Text style={{ fontSize: 14, color: '#546779', lineHeight: 1.5 }}&gt;选一个熟悉的资料整理任务，准备完整、缺失、矛盾、过期四种输入各一项；先写评分条件，再请求模型回答，不要看到结果才改「什么算成功」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1.6 为自己的任务选择模型&lt;/Text&gt;&#10;        &lt;Text style={{ fontSize: 14, color: '#546779' }}&gt;25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1638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1.6.7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章末练习与参考思路</a:t>
            </a:r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16383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五道练习</a:t>
            </a:r>
            <a:endParaRPr/>
          </a:p>
        </p:txBody>
      </p:sp>
      <p:sp>
        <p:nvSpPr>
          <p:cNvPr id="445" name=""/>
          <p:cNvSpPr/>
          <p:nvPr/>
        </p:nvSpPr>
        <p:spPr>
          <a:xfrm rot="0" flipH="0" flipV="0">
            <a:off x="609600" y="1228725"/>
            <a:ext cx="10972800" cy="933450"/>
          </a:xfrm>
          <a:prstGeom prst="roundRect">
            <a:avLst>
              <a:gd name="adj" fmla="val 816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46" name=""/>
          <p:cNvSpPr/>
          <p:nvPr/>
        </p:nvSpPr>
        <p:spPr>
          <a:xfrm rot="0" flipH="0" flipV="0">
            <a:off x="800100" y="1524000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923925" y="160020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1295400" y="1457325"/>
            <a:ext cx="9734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找出信息来源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1295400" y="1685925"/>
            <a:ext cx="97345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助手说「手作室只能容纳十二人；我已为你预约十点半；你一直喜欢简短报告。」分别列出三句话需要什么证据；仅在回答中出现这些文字，能证明哪一项已经成立？</a:t>
            </a:r>
            <a:endParaRPr/>
          </a:p>
        </p:txBody>
      </p:sp>
      <p:sp>
        <p:nvSpPr>
          <p:cNvPr id="450" name=""/>
          <p:cNvSpPr/>
          <p:nvPr/>
        </p:nvSpPr>
        <p:spPr>
          <a:xfrm rot="0" flipH="0" flipV="0">
            <a:off x="609600" y="2238375"/>
            <a:ext cx="10972800" cy="933450"/>
          </a:xfrm>
          <a:prstGeom prst="roundRect">
            <a:avLst>
              <a:gd name="adj" fmla="val 816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51" name=""/>
          <p:cNvSpPr/>
          <p:nvPr/>
        </p:nvSpPr>
        <p:spPr>
          <a:xfrm rot="0" flipH="0" flipV="0">
            <a:off x="800100" y="2533650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923925" y="26098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1295400" y="2466975"/>
            <a:ext cx="9982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重新计算指标</a:t>
            </a:r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1295400" y="2695575"/>
            <a:ext cx="99822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十条必需约束，输出十条，八条正确、两条不存在，漏掉两条。计算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Precision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Recall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和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F1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；若漏掉的恰好是预约冲突条件，为什么总体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F1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不能直接代表方案可执行？</a:t>
            </a:r>
            <a:endParaRPr/>
          </a:p>
        </p:txBody>
      </p:sp>
      <p:sp>
        <p:nvSpPr>
          <p:cNvPr id="455" name=""/>
          <p:cNvSpPr/>
          <p:nvPr/>
        </p:nvSpPr>
        <p:spPr>
          <a:xfrm rot="0" flipH="0" flipV="0">
            <a:off x="609600" y="3248025"/>
            <a:ext cx="10972800" cy="933450"/>
          </a:xfrm>
          <a:prstGeom prst="roundRect">
            <a:avLst>
              <a:gd name="adj" fmla="val 816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56" name=""/>
          <p:cNvSpPr/>
          <p:nvPr/>
        </p:nvSpPr>
        <p:spPr>
          <a:xfrm rot="0" flipH="0" flipV="0">
            <a:off x="800100" y="3543300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923925" y="361950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1295400" y="3476625"/>
            <a:ext cx="7429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解释不同的成功率</a:t>
            </a:r>
            <a:endParaRPr/>
          </a:p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1295400" y="3705225"/>
            <a:ext cx="74295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每次独立成功概率为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0.8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。给两次机会，至少成功一次与两次都成功的概率分别是多少？哪些因素会破坏独立且同分布的假设？</a:t>
            </a:r>
            <a:endParaRPr/>
          </a:p>
        </p:txBody>
      </p:sp>
      <p:sp>
        <p:nvSpPr>
          <p:cNvPr id="460" name=""/>
          <p:cNvSpPr/>
          <p:nvPr/>
        </p:nvSpPr>
        <p:spPr>
          <a:xfrm rot="0" flipH="0" flipV="0">
            <a:off x="609600" y="4257675"/>
            <a:ext cx="10972800" cy="933450"/>
          </a:xfrm>
          <a:prstGeom prst="roundRect">
            <a:avLst>
              <a:gd name="adj" fmla="val 816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61" name=""/>
          <p:cNvSpPr/>
          <p:nvPr/>
        </p:nvSpPr>
        <p:spPr>
          <a:xfrm rot="0" flipH="0" flipV="0">
            <a:off x="800100" y="4552950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923925" y="46291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1295400" y="4486275"/>
            <a:ext cx="7210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阅读一张数据卡</a:t>
            </a:r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1295400" y="4714875"/>
            <a:ext cx="721042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1.5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选一条公开成绩，写出它能支持的一个结论和不能支持的两个结论；检查测量日期、工具条件及来源性质是否明确。</a:t>
            </a:r>
            <a:endParaRPr/>
          </a:p>
        </p:txBody>
      </p:sp>
      <p:sp>
        <p:nvSpPr>
          <p:cNvPr id="465" name=""/>
          <p:cNvSpPr/>
          <p:nvPr/>
        </p:nvSpPr>
        <p:spPr>
          <a:xfrm rot="0" flipH="0" flipV="0">
            <a:off x="609600" y="5267325"/>
            <a:ext cx="10972800" cy="933450"/>
          </a:xfrm>
          <a:prstGeom prst="roundRect">
            <a:avLst>
              <a:gd name="adj" fmla="val 816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66" name=""/>
          <p:cNvSpPr/>
          <p:nvPr/>
        </p:nvSpPr>
        <p:spPr>
          <a:xfrm rot="0" flipH="0" flipV="0">
            <a:off x="800100" y="5562600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923925" y="563880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1295400" y="5495925"/>
            <a:ext cx="8667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设计自己的小评价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1295400" y="5724525"/>
            <a:ext cx="86677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选一个熟悉的资料整理任务，准备完整、缺失、矛盾、过期四种输入各一项；先写评分条件，再请求模型回答，不要看到结果才改「什么算成功」。</a:t>
            </a:r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为自己的任务选择模型</a:t>
            </a:r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25 / 27</a:t>
            </a:r>
            <a:endParaRPr/>
          </a:p>
        </p:txBody>
      </p:sp>
    </p:spTree>
  </p:cSld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472" name="" descr="&lt;Slide notes={`练习的参考思路，我把关键点串一遍。&#10;&#10;练习一里，容量需要有效的场地资料或者查询结果；预约完成需要真实执行和状态证据；偏好需要用户明确的表达，或者可追溯的有效记忆。单独一段回答不能证明外部预约已经发生，它只证明了模型写下了这句话。&#10;&#10;练习二算出的三个指标都是零点八，因为真正正确的是八条，凭空多出来的是两条，漏掉的是两条。但指标把约束按同一种单位计数，而实际执行时某些条件是不可违反的边界。十条约束里漏掉一条普通说明，和漏掉预约冲突，后果完全不同。&#10;&#10;练习三，至少一次成功是零点九六，两次都成功是零点六四。这两个数依赖每次尝试独立同分布，而真实的重试往往会改变提示、共享先前状态或者遇到不同的难度。&#10;&#10;练习四和练习五没有唯一文字答案。评价重点是能不能明确条件、证据、分母和失败处理，而不是你有没有选中某个品牌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6.7　章末练习与参考思路&lt;/Text&gt;&#10;            &lt;Text style={{ fontSize: 34, fontWeight: 'bold', color: '#20344B' }}&gt;参考思路：把条件说清&lt;/Text&gt;&#10;        &lt;/Box&gt;&#10;    &lt;/Box&gt;&#10;&#10;    &lt;Box style={{ height: 540, flexDirection: 'column', justifyContent: 'center', gap: 16 }}&gt;&#10;&#10;        &lt;Box style={{ flexDirection: 'row', gap: 24 }}&gt;&#10;&#10;            &lt;Box style={{ width: 564, height: 150, background: '#F4F7FA', borderRadius: 10, padding: '18px 20px', flexDirection: 'column', gap: 6 }}&gt;&#10;                &lt;Text style={{ fontSize: 18, fontWeight: 'bold', color: '#276FBF' }}&gt;练习一　各自的证据不同&lt;/Text&gt;&#10;                &lt;Text style={{ fontSize: 14, color: '#546779', lineHeight: 1.6 }}&gt;容量要场地资料或查询结果；预约完成要真实执行及状态证据；偏好要用户明确表达或可追溯的有效记忆。单独一段回答不能证明外部预约已经发生。&lt;/Text&gt;&#10;            &lt;/Box&gt;&#10;&#10;            &lt;Box style={{ width: 564, height: 150, background: '#FFF4E6', borderRadius: 10, padding: '18px 20px', flexDirection: 'column', gap: 6 }}&gt;&#10;                &lt;Text style={{ fontSize: 18, fontWeight: 'bold', color: '#CB6B28' }}&gt;练习二　指标不能覆盖硬边界&lt;/Text&gt;&#10;                &lt;Text style={{ fontSize: 14, color: '#546779', lineHeight: 1.6 }}&gt;TP 为 8、FP 为 2、FN 为 2，Precision、Recall 与 F1 都是 0.8。指标把约束按同一种单位计数，应另列关键约束是否满足。&lt;/Text&gt;&#10;            &lt;/Box&gt;&#10;&#10;        &lt;/Box&gt;&#10;&#10;        &lt;Box style={{ flexDirection: 'row', gap: 24 }}&gt;&#10;&#10;            &lt;Box style={{ width: 564, height: 150, background: '#ECF7F2', borderRadius: 10, padding: '18px 20px', flexDirection: 'column', gap: 6 }}&gt;&#10;                &lt;Text style={{ fontSize: 18, fontWeight: 'bold', color: '#26816B' }}&gt;练习三　假设不成立就换算法&lt;/Text&gt;&#10;                &lt;Text style={{ fontSize: 14, color: '#546779', lineHeight: 1.6 }}&gt;至少一次成功为 0.96，两次都成功为 0.64。重试时改提示、共享先前状态、难度不同、配置变化，都可能让独立同分布不成立。&lt;/Text&gt;&#10;            &lt;/Box&gt;&#10;&#10;            &lt;Box style={{ width: 564, height: 150, background: '#F4F7FA', borderRadius: 10, padding: '18px 20px', flexDirection: 'column', gap: 6 }}&gt;&#10;                &lt;Text style={{ fontSize: 18, fontWeight: 'bold', color: '#20344B' }}&gt;练习四、五　没有唯一文字答案&lt;/Text&gt;&#10;                &lt;Text style={{ fontSize: 14, color: '#546779', lineHeight: 1.6 }}&gt;评价重点是能否明确条件、证据、分母与失败处理，而不是是否选择某个品牌。过程比结论更重要。&lt;/Text&gt;&#10;            &lt;/Box&gt;&#10;&#10;        &lt;/Box&gt;&#10;&#10;        &lt;Box style={{ height: 88, background: '#EDF4FC', borderRadius: 10, padding: '0 24px', flexDirection: 'row', alignItems: 'center', gap: 20 }}&gt;&#10;            &lt;Box style={{ width: 3, height: 48, background: '#CB6B28' }} /&gt;&#10;            &lt;Box style={{ flexDirection: 'column', gap: 4 }}&gt;&#10;                &lt;Text style={{ fontSize: 15, color: '#546779', lineHeight: 1.5 }}&gt;练习二：TP 8／FP 2／FN 2，Precision、Recall、F1 均为 0.8&lt;/Text&gt;&#10;                &lt;Text style={{ fontSize: 15, color: '#CB6B28', lineHeight: 1.5 }}&gt;练习三：至少一次成功 1 − 0.2² = 0.96；两次都成功 0.8² = 0.64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1.6 为自己的任务选择模型&lt;/Text&gt;&#10;        &lt;Text style={{ fontSize: 14, color: '#546779' }}&gt;26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1.6.7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章末练习与参考思路</a:t>
            </a:r>
            <a:endParaRPr/>
          </a:p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参考思路：把条件说清</a:t>
            </a:r>
            <a:endParaRPr/>
          </a:p>
        </p:txBody>
      </p:sp>
      <p:sp>
        <p:nvSpPr>
          <p:cNvPr id="477" name=""/>
          <p:cNvSpPr/>
          <p:nvPr/>
        </p:nvSpPr>
        <p:spPr>
          <a:xfrm rot="0" flipH="0" flipV="0">
            <a:off x="609600" y="1714500"/>
            <a:ext cx="5372100" cy="142875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800100" y="1885950"/>
            <a:ext cx="4991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练习一　各自的证据不同</a:t>
            </a:r>
            <a:endParaRPr/>
          </a:p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800100" y="2152650"/>
            <a:ext cx="49911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容量要场地资料或查询结果；预约完成要真实执行及状态证据；偏好要用户明确表达或可追溯的有效记忆。单独一段回答不能证明外部预约已经发生。</a:t>
            </a:r>
            <a:endParaRPr/>
          </a:p>
        </p:txBody>
      </p:sp>
      <p:sp>
        <p:nvSpPr>
          <p:cNvPr id="480" name=""/>
          <p:cNvSpPr/>
          <p:nvPr/>
        </p:nvSpPr>
        <p:spPr>
          <a:xfrm rot="0" flipH="0" flipV="0">
            <a:off x="6210300" y="1714500"/>
            <a:ext cx="5372100" cy="1428750"/>
          </a:xfrm>
          <a:prstGeom prst="roundRect">
            <a:avLst>
              <a:gd name="adj" fmla="val 666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6400800" y="1885950"/>
            <a:ext cx="4991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练习二　指标不能覆盖硬边界</a:t>
            </a:r>
            <a:endParaRPr/>
          </a:p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6400800" y="2152650"/>
            <a:ext cx="49911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TP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为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8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FP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为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FN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为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Precision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Recall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F1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都是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0.8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。指标把约束按同一种单位计数，应另列关键约束是否满足。</a:t>
            </a:r>
            <a:endParaRPr/>
          </a:p>
        </p:txBody>
      </p:sp>
      <p:sp>
        <p:nvSpPr>
          <p:cNvPr id="483" name=""/>
          <p:cNvSpPr/>
          <p:nvPr/>
        </p:nvSpPr>
        <p:spPr>
          <a:xfrm rot="0" flipH="0" flipV="0">
            <a:off x="609600" y="3295650"/>
            <a:ext cx="5372100" cy="1428750"/>
          </a:xfrm>
          <a:prstGeom prst="roundRect">
            <a:avLst>
              <a:gd name="adj" fmla="val 666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800100" y="3467100"/>
            <a:ext cx="4991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练习三　假设不成立就换算法</a:t>
            </a:r>
            <a:endParaRPr/>
          </a:p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800100" y="3733800"/>
            <a:ext cx="49911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至少一次成功为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0.96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，两次都成功为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0.64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。重试时改提示、共享先前状态、难度不同、配置变化，都可能让独立同分布不成立。</a:t>
            </a:r>
            <a:endParaRPr/>
          </a:p>
        </p:txBody>
      </p:sp>
      <p:sp>
        <p:nvSpPr>
          <p:cNvPr id="486" name=""/>
          <p:cNvSpPr/>
          <p:nvPr/>
        </p:nvSpPr>
        <p:spPr>
          <a:xfrm rot="0" flipH="0" flipV="0">
            <a:off x="6210300" y="3295650"/>
            <a:ext cx="5372100" cy="142875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6400800" y="3467100"/>
            <a:ext cx="4991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练习四、五　没有唯一文字答案</a:t>
            </a:r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6400800" y="3733800"/>
            <a:ext cx="49911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评价重点是能否明确条件、证据、分母与失败处理，而不是是否选择某个品牌。过程比结论更重要。</a:t>
            </a:r>
            <a:endParaRPr/>
          </a:p>
        </p:txBody>
      </p:sp>
      <p:sp>
        <p:nvSpPr>
          <p:cNvPr id="489" name=""/>
          <p:cNvSpPr/>
          <p:nvPr/>
        </p:nvSpPr>
        <p:spPr>
          <a:xfrm rot="0" flipH="0" flipV="0">
            <a:off x="609600" y="4876800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90" name=""/>
          <p:cNvSpPr/>
          <p:nvPr/>
        </p:nvSpPr>
        <p:spPr>
          <a:xfrm rot="0" flipH="0" flipV="0">
            <a:off x="838200" y="5067300"/>
            <a:ext cx="28575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1057275" y="5019675"/>
            <a:ext cx="41243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练习二：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TP 8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／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FP 2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／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FN 2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Precision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Recall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F1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均为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0.8</a:t>
            </a:r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1057275" y="5314950"/>
            <a:ext cx="41243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练习三：至少一次成功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 1 − 0.2² = 0.96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；两次都成功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 0.8² = 0.64</a:t>
            </a:r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为自己的任务选择模型</a:t>
            </a:r>
            <a:endParaRPr/>
          </a:p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26 / 27</a:t>
            </a:r>
            <a:endParaRPr/>
          </a:p>
        </p:txBody>
      </p:sp>
    </p:spTree>
  </p:cSld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495" name="" descr="&lt;Slide notes={`第一章到这里就结束了，我们回头看一眼走过的路。&#10;&#10;这一切是从一件很小的事开始的：青禾社区学习中心要办一次开放日，助手很快写出了一份活动方案。但这份方案有没有读对材料、有没有满足房间容量、有没有避开预约冲突，需要另外去检查。&#10;&#10;我们先认识了大模型本身，从训练、Token、上下文讲到知识与记忆。然后拆开了能力来源，看清资料、工具、模型、执行与校验怎样配合。接着把聪明变成可以测量的问题，用算例理解指标、分母和重复成功，再逐项读十类能力的指标，学会读有日期、有配置、有出处的公开成绩。&#10;&#10;最后回到手上的任务：选模型不该去找最强的那一个，而要先把自己的任务写成可核对的样子。下一章把这些认识变成具体操作，通过 OpenAI API 与 WorkBuddy 真的把活动筹备做出来。`} style={{ width: 1280, height: 720, background: '#FFFFFF', flexDirection: 'column', padding: '20px 64px' }}&gt;&#10;&#10;    &lt;Box style={{ height: 540, flexDirection: 'row', justifyContent: 'center', alignItems: 'center', gap: 48 }}&gt;&#10;&#10;        &lt;Box style={{ width: 400, flexDirection: 'column', gap: 16 }}&gt;&#10;            &lt;Text style={{ fontSize: 15, color: '#546779' }}&gt;第一章　认识大模型，读懂能力与评价&lt;/Text&gt;&#10;            &lt;Text style={{ fontSize: 40, fontWeight: 'bold', color: '#20344B', lineHeight: 1.25 }}&gt;从一份活动安排出发&lt;/Text&gt;&#10;            &lt;Box style={{ width: 72, height: 4, background: '#276FBF' }} /&gt;&#10;            &lt;Text style={{ fontSize: 17, color: '#546779', lineHeight: 1.8 }}&gt;先定义任务，再看表现。选模型不是找最强的那一个，而是把自己的任务写成可以核对的样子。&lt;/Text&gt;&#10;        &lt;/Box&gt;&#10;&#10;        &lt;Box style={{ flex: 1, flexDirection: 'column', gap: 8 }}&gt;&#10;&#10;            &lt;Box style={{ height: 70, flexDirection: 'row', gap: 16, background: '#F4F7FA', borderRadius: 10, padding: '0 20px', alignItems: 'center' }}&gt;&#10;                &lt;Box style={{ width: 34, height: 34, borderRadius: 6, background: '#276FBF', justifyContent: 'center', alignItems: 'center' }}&gt;&#10;                    &lt;Text style={{ fontSize: 14, fontWeight: 'bold', color: '#FFFFFF' }}&gt;1.1&lt;/Text&gt;&#10;                &lt;/Box&gt;&#10;                &lt;Box style={{ flexDirection: 'column', gap: 2 }}&gt;&#10;                    &lt;Text style={{ fontSize: 17, fontWeight: 'bold', color: '#20344B' }}&gt;从一个回答出发：什么是大模型&lt;/Text&gt;&#10;                    &lt;Text style={{ fontSize: 14, color: '#546779' }}&gt;训练、Token、上下文、知识与记忆&lt;/Text&gt;&#10;                &lt;/Box&gt;&#10;            &lt;/Box&gt;&#10;&#10;            &lt;Box style={{ height: 70, flexDirection: 'row', gap: 16, background: '#F4F7FA', borderRadius: 10, padding: '0 20px', alignItems: 'center' }}&gt;&#10;                &lt;Box style={{ width: 34, height: 34, borderRadius: 6, background: '#276FBF', justifyContent: 'center', alignItems: 'center' }}&gt;&#10;                    &lt;Text style={{ fontSize: 14, fontWeight: 'bold', color: '#FFFFFF' }}&gt;1.2&lt;/Text&gt;&#10;                &lt;/Box&gt;&#10;                &lt;Box style={{ flexDirection: 'column', gap: 2 }}&gt;&#10;                    &lt;Text style={{ fontSize: 17, fontWeight: 'bold', color: '#20344B' }}&gt;从模型到应用：能力来自哪些层&lt;/Text&gt;&#10;                    &lt;Text style={{ fontSize: 14, color: '#546779' }}&gt;资料、工具、模型、执行与校验怎样配合&lt;/Text&gt;&#10;                &lt;/Box&gt;&#10;            &lt;/Box&gt;&#10;&#10;            &lt;Box style={{ height: 70, flexDirection: 'row', gap: 16, background: '#F4F7FA', borderRadius: 10, padding: '0 20px', alignItems: 'center' }}&gt;&#10;                &lt;Box style={{ width: 34, height: 34, borderRadius: 6, background: '#276FBF', justifyContent: 'center', alignItems: 'center' }}&gt;&#10;                    &lt;Text style={{ fontSize: 14, fontWeight: 'bold', color: '#FFFFFF' }}&gt;1.3&lt;/Text&gt;&#10;                &lt;/Box&gt;&#10;                &lt;Box style={{ flexDirection: 'column', gap: 2 }}&gt;&#10;                    &lt;Text style={{ fontSize: 17, fontWeight: 'bold', color: '#20344B' }}&gt;把「聪明」变成可测量的问题&lt;/Text&gt;&#10;                    &lt;Text style={{ fontSize: 14, color: '#546779' }}&gt;指标、分母、重复成功与统计边界&lt;/Text&gt;&#10;                &lt;/Box&gt;&#10;            &lt;/Box&gt;&#10;&#10;            &lt;Box style={{ height: 70, flexDirection: 'row', gap: 16, background: '#F4F7FA', borderRadius: 10, padding: '0 20px', alignItems: 'center' }}&gt;&#10;                &lt;Box style={{ width: 34, height: 34, borderRadius: 6, background: '#276FBF', justifyContent: 'center', alignItems: 'center' }}&gt;&#10;                    &lt;Text style={{ fontSize: 14, fontWeight: 'bold', color: '#FFFFFF' }}&gt;1.4&lt;/Text&gt;&#10;                &lt;/Box&gt;&#10;                &lt;Box style={{ flexDirection: 'column', gap: 2 }}&gt;&#10;                    &lt;Text style={{ fontSize: 17, fontWeight: 'bold', color: '#20344B' }}&gt;当前大模型有哪些能力&lt;/Text&gt;&#10;                    &lt;Text style={{ fontSize: 14, color: '#546779' }}&gt;十类能力、代表基准与评价局限&lt;/Text&gt;&#10;                &lt;/Box&gt;&#10;            &lt;/Box&gt;&#10;&#10;            &lt;Box style={{ height: 70, flexDirection: 'row', gap: 16, background: '#F4F7FA', borderRadius: 10, padding: '0 20px', alignItems: 'center' }}&gt;&#10;                &lt;Box style={{ width: 34, height: 34, borderRadius: 6, background: '#276FBF', justifyContent: 'center', alignItems: 'center' }}&gt;&#10;                    &lt;Text style={{ fontSize: 14, fontWeight: 'bold', color: '#FFFFFF' }}&gt;1.5&lt;/Text&gt;&#10;                &lt;/Box&gt;&#10;                &lt;Box style={{ flexDirection: 'column', gap: 2 }}&gt;&#10;                    &lt;Text style={{ fontSize: 17, fontWeight: 'bold', color: '#20344B' }}&gt;阅读能力的发展水平&lt;/Text&gt;&#10;                    &lt;Text style={{ fontSize: 14, color: '#546779' }}&gt;带日期、配置与出处的公开成绩&lt;/Text&gt;&#10;                &lt;/Box&gt;&#10;            &lt;/Box&gt;&#10;&#10;            &lt;Box style={{ height: 70, flexDirection: 'row', gap: 16, background: '#ECF7F2', borderRadius: 10, padding: '0 20px', alignItems: 'center' }}&gt;&#10;                &lt;Box style={{ width: 34, height: 34, borderRadius: 6, background: '#26816B', justifyContent: 'center', alignItems: 'center' }}&gt;&#10;                    &lt;Text style={{ fontSize: 14, fontWeight: 'bold', color: '#FFFFFF' }}&gt;1.6&lt;/Text&gt;&#10;                &lt;/Box&gt;&#10;                &lt;Box style={{ flexDirection: 'column', gap: 2 }}&gt;&#10;                    &lt;Text style={{ fontSize: 17, fontWeight: 'bold', color: '#26816B' }}&gt;为自己的任务选择模型&lt;/Text&gt;&#10;                    &lt;Text style={{ fontSize: 14, color: '#546779' }}&gt;五步做法、选择说明与章末练习&lt;/Text&gt;&#10;                &lt;/Box&gt;&#10;            &lt;/Box&gt;&#10;&#10;            &lt;Box style={{ flexDirection: 'row', alignItems: 'center', gap: 12, paddingTop: 4 }}&gt;&#10;                &lt;Box style={{ width: 3, height: 30, background: '#CB6B28' }} /&gt;&#10;                &lt;Text style={{ fontSize: 15, color: '#546779' }}&gt;第二章　编写提示、组织上下文、连接工具、构建 Skill，用 OpenAI API 与 WorkBuddy 完成活动筹备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第一章　认识大模型，读懂能力与评价&lt;/Text&gt;&#10;        &lt;Text style={{ fontSize: 14, color: '#546779' }}&gt;27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609600" y="1790700"/>
            <a:ext cx="3810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第一章　认识大模型，读懂能力与评价</a:t>
            </a:r>
            <a:endParaRPr/>
          </a:p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609600" y="2114550"/>
            <a:ext cx="3810000" cy="5715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000" b="1">
                <a:solidFill>
                  <a:srgbClr val="20344B"/>
                </a:solidFill>
                <a:latin typeface="Microsoft YaHei"/>
                <a:ea typeface="Microsoft YaHei"/>
              </a:rPr>
              <a:t>从一份活动安排出发</a:t>
            </a:r>
            <a:endParaRPr/>
          </a:p>
        </p:txBody>
      </p:sp>
      <p:sp>
        <p:nvSpPr>
          <p:cNvPr id="499" name=""/>
          <p:cNvSpPr/>
          <p:nvPr/>
        </p:nvSpPr>
        <p:spPr>
          <a:xfrm rot="0" flipH="0" flipV="0">
            <a:off x="609600" y="28384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609600" y="3028950"/>
            <a:ext cx="38100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先定义任务，再看表现。选模型不是找最强的那一个，而是把自己的任务写成可以核对的样子。</a:t>
            </a:r>
            <a:endParaRPr/>
          </a:p>
        </p:txBody>
      </p:sp>
      <p:sp>
        <p:nvSpPr>
          <p:cNvPr id="501" name=""/>
          <p:cNvSpPr/>
          <p:nvPr/>
        </p:nvSpPr>
        <p:spPr>
          <a:xfrm rot="0" flipH="0" flipV="0">
            <a:off x="4876800" y="371475"/>
            <a:ext cx="6705600" cy="666750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02" name=""/>
          <p:cNvSpPr/>
          <p:nvPr/>
        </p:nvSpPr>
        <p:spPr>
          <a:xfrm rot="0" flipH="0" flipV="0">
            <a:off x="5067300" y="542925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5124450" y="628650"/>
            <a:ext cx="209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1.1</a:t>
            </a:r>
            <a:endParaRPr/>
          </a:p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5543550" y="514350"/>
            <a:ext cx="2266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从一个回答出发：什么是大模型</a:t>
            </a:r>
            <a:endParaRPr/>
          </a:p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5543550" y="733425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训练、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Token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、上下文、知识与记忆</a:t>
            </a:r>
            <a:endParaRPr/>
          </a:p>
        </p:txBody>
      </p:sp>
      <p:sp>
        <p:nvSpPr>
          <p:cNvPr id="506" name=""/>
          <p:cNvSpPr/>
          <p:nvPr/>
        </p:nvSpPr>
        <p:spPr>
          <a:xfrm rot="0" flipH="0" flipV="0">
            <a:off x="4876800" y="1114425"/>
            <a:ext cx="6705600" cy="666750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07" name=""/>
          <p:cNvSpPr/>
          <p:nvPr/>
        </p:nvSpPr>
        <p:spPr>
          <a:xfrm rot="0" flipH="0" flipV="0">
            <a:off x="5067300" y="1285875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5124450" y="1371600"/>
            <a:ext cx="209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1.2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5543550" y="1257300"/>
            <a:ext cx="2400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从模型到应用：能力来自哪些层</a:t>
            </a:r>
            <a:endParaRPr/>
          </a:p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5543550" y="1476375"/>
            <a:ext cx="240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资料、工具、模型、执行与校验怎样配合</a:t>
            </a:r>
            <a:endParaRPr/>
          </a:p>
        </p:txBody>
      </p:sp>
      <p:sp>
        <p:nvSpPr>
          <p:cNvPr id="511" name=""/>
          <p:cNvSpPr/>
          <p:nvPr/>
        </p:nvSpPr>
        <p:spPr>
          <a:xfrm rot="0" flipH="0" flipV="0">
            <a:off x="4876800" y="1857375"/>
            <a:ext cx="6705600" cy="666750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12" name=""/>
          <p:cNvSpPr/>
          <p:nvPr/>
        </p:nvSpPr>
        <p:spPr>
          <a:xfrm rot="0" flipH="0" flipV="0">
            <a:off x="5067300" y="2028825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5124450" y="2114550"/>
            <a:ext cx="209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1.3</a:t>
            </a:r>
            <a:endParaRPr/>
          </a:p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5543550" y="2000250"/>
            <a:ext cx="2105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把「聪明」变成可测量的问题</a:t>
            </a:r>
            <a:endParaRPr/>
          </a:p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5543550" y="2219325"/>
            <a:ext cx="2105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指标、分母、重复成功与统计边界</a:t>
            </a:r>
            <a:endParaRPr/>
          </a:p>
        </p:txBody>
      </p:sp>
      <p:sp>
        <p:nvSpPr>
          <p:cNvPr id="516" name=""/>
          <p:cNvSpPr/>
          <p:nvPr/>
        </p:nvSpPr>
        <p:spPr>
          <a:xfrm rot="0" flipH="0" flipV="0">
            <a:off x="4876800" y="2600325"/>
            <a:ext cx="6705600" cy="666750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17" name=""/>
          <p:cNvSpPr/>
          <p:nvPr/>
        </p:nvSpPr>
        <p:spPr>
          <a:xfrm rot="0" flipH="0" flipV="0">
            <a:off x="5067300" y="2771775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5124450" y="2857500"/>
            <a:ext cx="209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1.4</a:t>
            </a:r>
            <a:endParaRPr/>
          </a:p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5543550" y="2743200"/>
            <a:ext cx="1866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当前大模型有哪些能力</a:t>
            </a:r>
            <a:endParaRPr/>
          </a:p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5543550" y="2962275"/>
            <a:ext cx="186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十类能力、代表基准与评价局限</a:t>
            </a:r>
            <a:endParaRPr/>
          </a:p>
        </p:txBody>
      </p:sp>
      <p:sp>
        <p:nvSpPr>
          <p:cNvPr id="521" name=""/>
          <p:cNvSpPr/>
          <p:nvPr/>
        </p:nvSpPr>
        <p:spPr>
          <a:xfrm rot="0" flipH="0" flipV="0">
            <a:off x="4876800" y="3343275"/>
            <a:ext cx="6705600" cy="666750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22" name=""/>
          <p:cNvSpPr/>
          <p:nvPr/>
        </p:nvSpPr>
        <p:spPr>
          <a:xfrm rot="0" flipH="0" flipV="0">
            <a:off x="5067300" y="3514725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5124450" y="3600450"/>
            <a:ext cx="209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1.5</a:t>
            </a:r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5543550" y="3486150"/>
            <a:ext cx="1866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阅读能力的发展水平</a:t>
            </a:r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5543550" y="3705225"/>
            <a:ext cx="186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带日期、配置与出处的公开成绩</a:t>
            </a:r>
            <a:endParaRPr/>
          </a:p>
        </p:txBody>
      </p:sp>
      <p:sp>
        <p:nvSpPr>
          <p:cNvPr id="526" name=""/>
          <p:cNvSpPr/>
          <p:nvPr/>
        </p:nvSpPr>
        <p:spPr>
          <a:xfrm rot="0" flipH="0" flipV="0">
            <a:off x="4876800" y="4086225"/>
            <a:ext cx="6705600" cy="66675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27" name=""/>
          <p:cNvSpPr/>
          <p:nvPr/>
        </p:nvSpPr>
        <p:spPr>
          <a:xfrm rot="0" flipH="0" flipV="0">
            <a:off x="5067300" y="4257675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5124450" y="4343400"/>
            <a:ext cx="209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1.6</a:t>
            </a:r>
            <a:endParaRPr/>
          </a:p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5543550" y="4229100"/>
            <a:ext cx="1866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为自己的任务选择模型</a:t>
            </a:r>
            <a:endParaRPr/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5543550" y="4448175"/>
            <a:ext cx="186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五步做法、选择说明与章末练习</a:t>
            </a:r>
            <a:endParaRPr/>
          </a:p>
        </p:txBody>
      </p:sp>
      <p:sp>
        <p:nvSpPr>
          <p:cNvPr id="531" name=""/>
          <p:cNvSpPr/>
          <p:nvPr/>
        </p:nvSpPr>
        <p:spPr>
          <a:xfrm rot="0" flipH="0" flipV="0">
            <a:off x="4876800" y="4867275"/>
            <a:ext cx="28575" cy="2857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5019675" y="4924425"/>
            <a:ext cx="6515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第二章　编写提示、组织上下文、连接工具、构建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，用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OpenAI API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WorkBuddy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完成活动筹备</a:t>
            </a:r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第一章　认识大模型，读懂能力与评价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27 / 27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2026-09-29T02:40:40Z</dcterms:created>
  <dcterms:modified xsi:type="dcterms:W3CDTF">2026-09-29T02:40:40Z</dcterms:modified>
</cp:coreProperties>
</file>