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6" Type="http://schemas.openxmlformats.org/officeDocument/2006/relationships/slide" Target="slides/slide6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我们第一次真正把模型跑起来。青禾社区学习中心的开放日需要一份可以检查的筹备方案，这件事会陪着我们走完后面的内容。</a:t>
            </a:r>
          </a:p>
          <a:p>
            <a:r>
              <a:rPr lang="zh-CN" dirty="0"/>
              <a:t>先建立一个习惯：每次调用都先分清它落在哪一段。本地程序读取材料与环境变量；SDK 或 HTTP 构造请求并发送；模型服务检查权限并生成；响应对象带着状态、输出和用量。</a:t>
            </a:r>
          </a:p>
          <a:p>
            <a:r>
              <a:rPr lang="zh-CN" dirty="0"/>
              <a:t>这四个位置对应的问题完全不同。材料路径写错属于本地这一段；密钥或权限不对属于服务这一段；拿到响应却发现缺事实、违反约束，那是任务还没做完。两条路线共用同一组材料，各记各的证据。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这一节有六个知识块，都在回答同一个问题：一次调用凭什么算跑通了。</a:t>
            </a:r>
          </a:p>
          <a:p>
            <a:r>
              <a:rPr lang="zh-CN" dirty="0"/>
              <a:t>第一个先把说话的层次分清：API 是约定的接口，HTTP 和 JSON 负责传输与描述，SDK 把它们封装成程序库。分清之后，出错才有归属。</a:t>
            </a:r>
          </a:p>
          <a:p>
            <a:r>
              <a:rPr lang="zh-CN" dirty="0"/>
              <a:t>第二个立实验前提：日期、人数、时长、容量和已有预约都以材料为准，不能靠模型常识补齐。</a:t>
            </a:r>
          </a:p>
          <a:p>
            <a:r>
              <a:rPr lang="zh-CN" dirty="0"/>
              <a:t>接着是两条动手的线——用独立环境把校验器跑起来，再配上密钥和模型名发出第一次真实请求。最后两个知识块教按层排查，并把同一任务放进 WorkBuddy 取证。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在写第一行代码之前，先把我们说话的三个层次分开。这一步听起来抽象，但它决定后面排查问题时的方向。</a:t>
            </a:r>
          </a:p>
          <a:p>
            <a:r>
              <a:rPr lang="zh-CN" dirty="0"/>
              <a:t>API 是客户端和服务端约定好的交互接口——我把什么形状的请求发过去，你会用什么形状的结果回来，这些是事先讲定的。</a:t>
            </a:r>
          </a:p>
          <a:p>
            <a:r>
              <a:rPr lang="zh-CN" dirty="0"/>
              <a:t>HTTP 和 JSON 是两件事。HTTP 负责把请求和响应送过去、送回来；JSON 负责描述里面装的内容长什么样。一个管搬运，一个管格式。</a:t>
            </a:r>
          </a:p>
          <a:p>
            <a:r>
              <a:rPr lang="zh-CN" dirty="0"/>
              <a:t>SDK 是把连接、序列化和类型都封装好的程序库，用了它不等于不会出错。网络会断、认证会失败、参数会写错，这些依旧会发生。所以判断一次失败，先问它落在哪一层。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 这个词经常被当成"模型本身"，其实它只是接口。我按下这个按钮，你按约定返回一个东西——接口管的是形状，不管内容好不好。</a:t>
            </a:r>
          </a:p>
          <a:p>
            <a:r>
              <a:rPr lang="zh-CN" dirty="0"/>
              <a:t>HTTP 和 JSON 分工也很清楚。HTTP 把请求送出去、把响应带回来，中间可能经过代理、可能超时；JSON 描述内容的结构，字段名写错一个字母，服务器就认不出来。</a:t>
            </a:r>
          </a:p>
          <a:p>
            <a:r>
              <a:rPr lang="zh-CN" dirty="0"/>
              <a:t>SDK 是封装层，把连接管理、序列化和类型提示都包好了，写起来短。但要特别注意：封装不消除错误。装了 SDK 之后，网络照样会断，认证照样会失败，参数照样会传错。</a:t>
            </a:r>
          </a:p>
          <a:p>
            <a:r>
              <a:rPr lang="zh-CN" dirty="0"/>
              <a:t>排查起来就有方向：请求没构造出来，问题在本地；构造出来被拒绝，去核对认证、权限和参数；返回了但内容不合用，回到任务定义与材料上看。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顺着这条线走一遍。最左边是本地程序，跑在读者自己的电脑上，负责读取材料和环境变量。这一步的问题往往最朴素：解释器不对、路径写错、依赖没装上。</a:t>
            </a:r>
          </a:p>
          <a:p>
            <a:r>
              <a:rPr lang="zh-CN" dirty="0"/>
              <a:t>往右是 SDK 或者 HTTP 这一段，把请求构造出来发出去，问题多半是参数写错、字段名不对。</a:t>
            </a:r>
          </a:p>
          <a:p>
            <a:r>
              <a:rPr lang="zh-CN" dirty="0"/>
              <a:t>再往右是模型服务，它先检查权限，再看这次请求的模型和参数是否被支持，然后完成生成。认证失败、权限不足、额度不够、限流，都发生在这一段。</a:t>
            </a:r>
          </a:p>
          <a:p>
            <a:r>
              <a:rPr lang="zh-CN" dirty="0"/>
              <a:t>最右边是响应对象，它不只带文本，还带状态、工具项和用量。output_text 只是方便读文本的入口，不代替这三样信息。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把一次完整任务摊开，主线是四步。</a:t>
            </a:r>
          </a:p>
          <a:p>
            <a:r>
              <a:rPr lang="zh-CN" dirty="0"/>
              <a:t>第一步是表达任务。Prompt 和上下文在这里提供目标和证据，也就是告诉系统我们要什么、依据是什么。</a:t>
            </a:r>
          </a:p>
          <a:p>
            <a:r>
              <a:rPr lang="zh-CN" dirty="0"/>
              <a:t>第二步是提出候选。模型生成方案，或者生成一段结构化的工具请求。注意它到这里为止只是"提出"，还没有真的执行。</a:t>
            </a:r>
          </a:p>
          <a:p>
            <a:r>
              <a:rPr lang="zh-CN" dirty="0"/>
              <a:t>第三步是实际执行。真正动手的是应用，它通过函数、MCP 或者 CLI 与 Shell 去完成。模型说要调用某个工具，和工具真的被调用，是两件事。</a:t>
            </a:r>
          </a:p>
          <a:p>
            <a:r>
              <a:rPr lang="zh-CN" dirty="0"/>
              <a:t>第四步是校验交付。用业务规则、评估、文件和最终状态一起判断这次交付到底成不成立。主线之外还有三条按缺口补充的技术，不是必经步骤，用哪几条取决于缺什么。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第二个知识块要立一件事：我们比的是同一个任务上的不同做法，所以材料必须只有一份。</a:t>
            </a:r>
          </a:p>
          <a:p>
            <a:r>
              <a:rPr lang="zh-CN" dirty="0"/>
              <a:t>开放日的时间先定死：2026 年 10 月 17 日，Asia/Shanghai，09:00 到 12:00。三个活动是阅读分享 24 人 60 分钟、手作体验 10 人 60 分钟、交流活动 16 人 45 分钟，对应三个房间，容量 30、12、20。</a:t>
            </a:r>
          </a:p>
          <a:p>
            <a:r>
              <a:rPr lang="zh-CN" dirty="0"/>
              <a:t>此外手作室在 10:00 到 10:30 已经被人预约了。</a:t>
            </a:r>
          </a:p>
          <a:p>
            <a:r>
              <a:rPr lang="zh-CN" dirty="0"/>
              <a:t>我强调"以材料为准"，是因为模型知道很多一般性常识，比如手作活动大概要多久、什么时间人多。这些听起来合理，但没有一处能替代文件里的数字。材料固定下来，后面换模型、换工具的对照才有意义。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把条件列成一张表，三个活动一起看。</a:t>
            </a:r>
          </a:p>
          <a:p>
            <a:r>
              <a:rPr lang="zh-CN" dirty="0"/>
              <a:t>阅读分享 24 人 60 分钟，用阅读室，容量 30，24 不超过 30，这一条过。</a:t>
            </a:r>
          </a:p>
          <a:p>
            <a:r>
              <a:rPr lang="zh-CN" dirty="0"/>
              <a:t>手作体验 10 人 60 分钟，用手作室，容量只有 12。10 不超过 12，也过，但余量比阅读分享小得多，后面排期时它最容易被挤住。</a:t>
            </a:r>
          </a:p>
          <a:p>
            <a:r>
              <a:rPr lang="zh-CN" dirty="0"/>
              <a:t>交流活动 16 人 45 分钟，用交流室，容量 20，过。</a:t>
            </a:r>
          </a:p>
          <a:p>
            <a:r>
              <a:rPr lang="zh-CN" dirty="0"/>
              <a:t>除了容量，还有两件事要记住：三个活动都必须落在 09:00 到 12:00 之间；手作室在 10:00 到 10:30 已经有预约，这段时间不属于我们。另外不同房间的活动可以同时举行，这道题也没有共享主持人或设备的约束。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时间这件事最容易被"差不多"糊过去。这里的规则写得很死：区间是左闭右开，也就是 [开始, 结束)。</a:t>
            </a:r>
          </a:p>
          <a:p>
            <a:r>
              <a:rPr lang="zh-CN" dirty="0"/>
              <a:t>如果一场预约是 10:00 到 10:30，它占住的是从 10:00 那一瞬间开始、到 10:30 那一瞬间为止的一段。10:30 这个时刻本身已经不属于它了。</a:t>
            </a:r>
          </a:p>
          <a:p>
            <a:r>
              <a:rPr lang="zh-CN" dirty="0"/>
              <a:t>所以 10:00 到 10:30 我们不能用，那是别人的。但 10:30 开始的活动可以紧接在后面，两个区间首尾相接，不算重叠。反过来，09:30 到 10:00 结束的活动也不占用 10:00 之后的时间。</a:t>
            </a:r>
          </a:p>
          <a:p>
            <a:r>
              <a:rPr lang="zh-CN" dirty="0"/>
              <a:t>判断就变成纯计算：把两个区间摆到同一条时间轴上，看有没有交集。有交集就冲突，只是端点相接就不冲突。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接下来动手。不过在装东西之前，先把三件事说清楚。</a:t>
            </a:r>
          </a:p>
          <a:p>
            <a:r>
              <a:rPr lang="zh-CN" dirty="0"/>
              <a:t>第一，这部分示例是独立的。它不依赖 GenerativeAgentsCN 产品运行，不需要启动 Studio，也不会改项目数据库。读者在自己的电脑上就能完整跑一遍。</a:t>
            </a:r>
          </a:p>
          <a:p>
            <a:r>
              <a:rPr lang="zh-CN" dirty="0"/>
              <a:t>第二，前置要求不高。你需要会保存文件、打开终端，能看懂变量、函数和列表这些基础语法就够了。解释器用 Python 3.11 或者更新的版本。</a:t>
            </a:r>
          </a:p>
          <a:p>
            <a:r>
              <a:rPr lang="zh-CN" dirty="0"/>
              <a:t>第三，这一节的本地校验器和基础离线测试不需要模型密钥。这意味着我们可以先把程序逻辑验证完，再去处理需要联网和收费的部分；MCP 这类可选扩展的依赖留到 2.6 再装。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环境用五条命令搭起来，我按顺序说一遍。</a:t>
            </a:r>
          </a:p>
          <a:p>
            <a:r>
              <a:rPr lang="zh-CN" dirty="0"/>
              <a:t>第一条是切到示例目录，也就是 examples 这一层。路径是按本仓库的位置写的，你的仓库放在别处，只改这一行。</a:t>
            </a:r>
          </a:p>
          <a:p>
            <a:r>
              <a:rPr lang="zh-CN" dirty="0"/>
              <a:t>第二条看 Python 版本，确认它是 3.11 或者更新的。第三条建虚拟环境，把依赖装在里面，不污染系统里其他项目。第四条用这个环境里的 python 安装依赖。第五条跑离线测试，确认代码本身没有问题。</a:t>
            </a:r>
          </a:p>
          <a:p>
            <a:r>
              <a:rPr lang="zh-CN" dirty="0"/>
              <a:t>有一个细节：为了避免激活脚本的执行策略问题，我直接调用虚拟环境里的 python。macOS 或 Linux 上对应的是 .venv/bin/python。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环境装好之后，先不要急着去调模型，用人工写好的参考答案确认环境本身没有问题。</a:t>
            </a:r>
          </a:p>
          <a:p>
            <a:r>
              <a:rPr lang="zh-CN" dirty="0"/>
              <a:t>命令是运行 validate_schedule.py，输入 fixtures 下的 valid-schedule.json，把结果写到 output 目录的 reference-check.json。</a:t>
            </a:r>
          </a:p>
          <a:p>
            <a:r>
              <a:rPr lang="zh-CN" dirty="0"/>
              <a:t>跑完要看退出码。退出码是 0，说明这份参考排期通过了已经编码进去的业务约束——容量够、时间在开放区间内、没有和已有预约冲突。</a:t>
            </a:r>
          </a:p>
          <a:p>
            <a:r>
              <a:rPr lang="zh-CN" dirty="0"/>
              <a:t>这份文件是教材作者编写的，它不是某个模型的运行成绩，验证的是校验器逻辑。然后再跑一遍 invalid-schedule.json，这次应该看到具体错误和一个非零退出码。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现在把请求真的发出去。发出之前，有两样东西要分开准备。</a:t>
            </a:r>
          </a:p>
          <a:p>
            <a:r>
              <a:rPr lang="zh-CN" dirty="0"/>
              <a:t>第一样是 API Key，它负责认证——你是谁，你有没有权限。第二样是模型名称，它负责选型——这一次要请哪个模型来做事。</a:t>
            </a:r>
          </a:p>
          <a:p>
            <a:r>
              <a:rPr lang="zh-CN" dirty="0"/>
              <a:t>很多人会把这两件事混起来，觉得有 Key 就什么都能调。其实不是：同一个 Key 能调用哪些模型、能不能用某些参数，取决于这个 Key 所属项目开通了什么。</a:t>
            </a:r>
          </a:p>
          <a:p>
            <a:r>
              <a:rPr lang="zh-CN" dirty="0"/>
              <a:t>所以顺序是先在账户里确认目标模型可用、支持 Responses 接口，也支持这一节要用的文本输入，再把模型 ID 写进环境变量，并且必须替换成自己账户里真实可用的。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先看怎么把密钥安全地放进环境变量，而不是写进代码。</a:t>
            </a:r>
          </a:p>
          <a:p>
            <a:r>
              <a:rPr lang="zh-CN" dirty="0"/>
              <a:t>第一行用 Read-Host 读取你输入的 Key，并加上 AsSecureString，这样终端不会把密钥回显出来。第二行把它转成普通字符串交给环境变量。第三行是模型名，这里放的是明确的占位值，必须替换。</a:t>
            </a:r>
          </a:p>
          <a:p>
            <a:r>
              <a:rPr lang="zh-CN" dirty="0"/>
              <a:t>之所以用占位而不直接给一个名字，是因为"推荐哪个模型"这种说法很快会过期，而模型能力也随账户不同而不同。</a:t>
            </a:r>
          </a:p>
          <a:p>
            <a:r>
              <a:rPr lang="zh-CN" dirty="0"/>
              <a:t>最后一条纪律：不要把密钥粘贴进书稿、提示词、代码或者任何要共享的结果。环境变量只保留在当前终端进程里，练习结束可以清掉。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这一段是本章最核心的一次调用，我逐行说清楚。</a:t>
            </a:r>
          </a:p>
          <a:p>
            <a:r>
              <a:rPr lang="zh-CN" dirty="0"/>
              <a:t>前面两行是导入。client 这一行有两个参数：timeout 设成 45 秒，max_retries 设成 0。关闭自动重试是故意的——调试时我宁愿看到最原始的那一次错误。</a:t>
            </a:r>
          </a:p>
          <a:p>
            <a:r>
              <a:rPr lang="zh-CN" dirty="0"/>
              <a:t>然后是 responses.create，它接收三样东西。model 来自环境变量，决定用哪个模型。instructions 是本次行为要求，写的是"资料不足时明确说明，不编造预约事实"。input 是本次任务内容，列出需要确认的五类信息。</a:t>
            </a:r>
          </a:p>
          <a:p>
            <a:r>
              <a:rPr lang="zh-CN" dirty="0"/>
              <a:t>最后两行打印结果，output_text 方便读文本，usage 用来看实际用量。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脚本里的模型名是明确的占位值，不能原样跑，要换成自己账户里真实可用的 ID。</a:t>
            </a:r>
          </a:p>
          <a:p>
            <a:r>
              <a:rPr lang="zh-CN" dirty="0"/>
              <a:t>为什么书中不给一个具体的名字？因为给了就容易误解成"这就是最好的那个"。这本书没有为读者锁定一个永久最佳的模型，模型在更新，产品在换，推荐很快会过期。</a:t>
            </a:r>
          </a:p>
          <a:p>
            <a:r>
              <a:rPr lang="zh-CN" dirty="0"/>
              <a:t>正确的做法是：每次练习记录下实际请求用的名字和返回里的名字，然后按练习逐项确认能力，比如结构化输出、工具调用、图像输入，这些不是所有模型都有。</a:t>
            </a:r>
          </a:p>
          <a:p>
            <a:r>
              <a:rPr lang="zh-CN" dirty="0"/>
              <a:t>最后一个提醒最重要：相同的 API 入口，不代表所有模型都支持相同的参数。遇到"参数不支持"，先核对模型能力，再考虑调整参数。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错误一定会来，关键是怎么读它。我建议养成一个顺序：先判断这次失败发生在哪一层，再决定动手改什么。</a:t>
            </a:r>
          </a:p>
          <a:p>
            <a:r>
              <a:rPr lang="zh-CN" dirty="0"/>
              <a:t>最里面一层是本地。解释器找不到、文件路径写错、依赖没装上，都发生在这里。它们的特征是请求可能连构造都没构造出来。</a:t>
            </a:r>
          </a:p>
          <a:p>
            <a:r>
              <a:rPr lang="zh-CN" dirty="0"/>
              <a:t>中间一层是服务。认证失败、权限不足、模型或参数不被支持、限流、额度用完，都发生在这里。特征是请求发出去了，被对方拒绝了。</a:t>
            </a:r>
          </a:p>
          <a:p>
            <a:r>
              <a:rPr lang="zh-CN" dirty="0"/>
              <a:t>最外面一层是任务。请求成功了、模型也返回了，但内容缺事实、违反约束。这一层不能靠改网络参数或者重试解决，只能回到任务定义上去改进。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把常见的几类问题摆在一起，遇到时就能对号入座。</a:t>
            </a:r>
          </a:p>
          <a:p>
            <a:r>
              <a:rPr lang="zh-CN" dirty="0"/>
              <a:t>环境变量缺失，先确认当前终端里有没有设、名字有没有拼错；这类问题常出现在换终端窗口之后。</a:t>
            </a:r>
          </a:p>
          <a:p>
            <a:r>
              <a:rPr lang="zh-CN" dirty="0"/>
              <a:t>认证或权限错误，要查这个 Key 属于哪个项目、开通了哪些模型、权限到哪里；修正后重试，不要反复提交同一个错误请求。</a:t>
            </a:r>
          </a:p>
          <a:p>
            <a:r>
              <a:rPr lang="zh-CN" dirty="0"/>
              <a:t>模型或参数不支持，核对模型能力和接口文档，换模型或调整参数。限流或额度不足，看清错误代码和账户用量，先分清是请求太快还是额度用完。</a:t>
            </a:r>
          </a:p>
          <a:p>
            <a:r>
              <a:rPr lang="zh-CN" dirty="0"/>
              <a:t>网络超时，保留原始错误，确认原因后再有限度地重试。内容与任务不符，要从实际发送的输入、指令和材料上改，只调网络参数没用。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接下来换一条路线，把同一件事放进 WorkBuddy 里做一遍。</a:t>
            </a:r>
          </a:p>
          <a:p>
            <a:r>
              <a:rPr lang="zh-CN" dirty="0"/>
              <a:t>为什么还要走产品这条路？因为 API 路线让我们看清请求怎么构造、怎么发出、怎么回来，而产品路线让我们看到文件怎么被读取、工具怎么被调用、结果怎么交付。</a:t>
            </a:r>
          </a:p>
          <a:p>
            <a:r>
              <a:rPr lang="zh-CN" dirty="0"/>
              <a:t>两条路线的材料和校验规则完全一样，区别在于 API 路线里很多事情要自己管理，产品路线里工作空间、文件和工具都已经接好了。</a:t>
            </a:r>
          </a:p>
          <a:p>
            <a:r>
              <a:rPr lang="zh-CN" dirty="0"/>
              <a:t>先按官方安装指南装好适合你操作系统的客户端并登录，然后新建任务。产品里选择哪个模型、能用哪些工具、权限怎么设，这三者共同决定它实际能做到什么。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两条路线的关系，是这样一张图。</a:t>
            </a:r>
          </a:p>
          <a:p>
            <a:r>
              <a:rPr lang="zh-CN" dirty="0"/>
              <a:t>左边起点只有一份东西：同一组材料，需求、房间和预约都在里面。这份材料被两条路线共用，这是能比较的前提。</a:t>
            </a:r>
          </a:p>
          <a:p>
            <a:r>
              <a:rPr lang="zh-CN" dirty="0"/>
              <a:t>一条是 API 路线，自己管理请求和执行，过程透明，什么都要自己写。另一条是 WorkBuddy 路线，用工作空间和已经接好的工具，上手快，但有些环节被封装起来了。</a:t>
            </a:r>
          </a:p>
          <a:p>
            <a:r>
              <a:rPr lang="zh-CN" dirty="0"/>
              <a:t>两条路线最后汇到同一个地方——同一校验器。比较的时候，比的是对应的文件和实际的检查结果，不是谁说得更好听。</a:t>
            </a:r>
          </a:p>
          <a:p>
            <a:r>
              <a:rPr lang="zh-CN" dirty="0"/>
              <a:t>还有一点必须分开：应用入口、账户和权限两条路线各自管理。聊天里说"已经完成了"，不能替代本次的文件和真实校验。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任务发出去以后，怎么判断它真的读到了材料？我用三步来检查。</a:t>
            </a:r>
          </a:p>
          <a:p>
            <a:r>
              <a:rPr lang="zh-CN" dirty="0"/>
              <a:t>第一步看日期和待查项。核对开放日日期对不对，再看需求表、房间表和预约材料里还有哪些是待查的，也就是它有没有认出"哪些信息我还没有"。</a:t>
            </a:r>
          </a:p>
          <a:p>
            <a:r>
              <a:rPr lang="zh-CN" dirty="0"/>
              <a:t>第二步做交叉核对。引用 requests.csv 和 rooms.csv，把人数和容量对一遍。这里有个关键点：材料没提供预约时应该保留"待查询"这个状态，而不是当成"没有冲突"。</a:t>
            </a:r>
          </a:p>
          <a:p>
            <a:r>
              <a:rPr lang="zh-CN" dirty="0"/>
              <a:t>第三步最有说服力：在结果区打开实际文件，让"已保存"和文件里的内容对得上。发送之前还要检查附件加了没有、工作空间选对没有。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如果你要用自己的模型，产品里也可以接。路径是"设置 → 模型管理"，填写服务地址、Key 和模型名，再按官方说明把需要的能力配好。</a:t>
            </a:r>
          </a:p>
          <a:p>
            <a:r>
              <a:rPr lang="zh-CN" dirty="0"/>
              <a:t>这里有一条很容易踩的坑：WorkBuddy 的默认自定义接口是按 /chat/completions 处理的。把它指向一个自定义地址，并不能自动证明它支持这一节用的所有 Responses 参数。</a:t>
            </a:r>
          </a:p>
          <a:p>
            <a:r>
              <a:rPr lang="zh-CN" dirty="0"/>
              <a:t>这个差异不是说谁对谁错，而是提醒我们：API 示例和 WorkBuddy 实验可以使用各自兼容的模型，但要分别记录自己的配置。记录之后，将来出现"为什么两边结果不一样"，你才有东西可以对。</a:t>
            </a:r>
          </a:p>
          <a:p>
            <a:r>
              <a:rPr lang="zh-CN" dirty="0"/>
              <a:t>配置这件事，写下来比记在脑子里可靠得多。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这一节做到什么程度算完成？我给大家三个可以核对的标志。</a:t>
            </a:r>
          </a:p>
          <a:p>
            <a:r>
              <a:rPr lang="zh-CN" dirty="0"/>
              <a:t>第一，本地校验器可以运行。参考排期跑出退出码 0，错误样本返回非零并给出具体错误，两件事都能复现。</a:t>
            </a:r>
          </a:p>
          <a:p>
            <a:r>
              <a:rPr lang="zh-CN" dirty="0"/>
              <a:t>第二，API 路线能保存一次真实响应。如果还没配置密钥，就明确记录"尚未配置"——是明确写下来，不是空着不提。</a:t>
            </a:r>
          </a:p>
          <a:p>
            <a:r>
              <a:rPr lang="zh-CN" dirty="0"/>
              <a:t>第三，WorkBuddy 路线能正确读取指定材料。同样，这次没实测也要写下来"尚未实测"。</a:t>
            </a:r>
          </a:p>
          <a:p>
            <a:r>
              <a:rPr lang="zh-CN" dirty="0"/>
              <a:t>这三个标志有一个共同点：都要求留下证据，而不是留下印象。两条路线互相帮助理解，但不互相代替验收。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这一节讲完了，我把要带走的东西收成三步。</a:t>
            </a:r>
          </a:p>
          <a:p>
            <a:r>
              <a:rPr lang="zh-CN" dirty="0"/>
              <a:t>第一步，环境跑通。用人工写好的参考排期，确认校验器能给出"通过"和"不通过"两种结果。这一步不联网，也不需要密钥。</a:t>
            </a:r>
          </a:p>
          <a:p>
            <a:r>
              <a:rPr lang="zh-CN" dirty="0"/>
              <a:t>第二步，一次真实响应。把密钥和模型名准备好，发出第一次调用，并且把返回的内容保存下来——保存下来它才是证据，看一眼就关掉不算。</a:t>
            </a:r>
          </a:p>
          <a:p>
            <a:r>
              <a:rPr lang="zh-CN" dirty="0"/>
              <a:t>第三步，同一份材料。产品路线里读到的文件，必须和我们前面用的材料是同一份，否则两次结果没法比。这三步的顺序很重要：先本地，再联网，最后对照组。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第一次模型调用开始这一章。青禾社区学习中心的开放日需要一份可以检查的筹备方案，这件事会陪着我们走完后面所有内容。&#10;&#10;先建立一个习惯：每次调用都先分清它落在哪一段。本地程序读取材料与环境变量；SDK 或 HTTP 构造请求并发送；模型服务检查权限、完成生成；响应对象里装着状态、输出和用量。&#10;&#10;这四个位置对应的问题完全不一样。材料路径写错，是本地这一段的事；密钥或权限不对，是服务这一段的事；拿到响应之后发现缺了事实、违反约束，那是任务本身还没做完。&#10;&#10;本章沿两条路线推进：用 OpenAI API 把请求和执行看清楚，用 WorkBuddy 体验文件、任务与工具。两条路线用同一组材料，各记各的证据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1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环境与第一次调用&lt;/Text&gt;&#10;            &lt;Box style={{ width: 72, height: 4, background: '#276FBF' }} /&gt;&#10;            &lt;Text style={{ fontSize: 18, color: '#546779', lineHeight: 1.7, width: 600 }}&gt;本章沿两条路线推进：用 OpenAI API 看清请求与执行，用腾讯 WorkBuddy 体验文件、任务和工具，逐步完成读取、查询、校验与交付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环境跑通了吗&lt;/Text&gt;&#10;                &lt;/Box&gt;&#10;                &lt;Box style={{ width: 190, height: 44, background: '#EDF4FC', borderRadius: 8, justifyContent: 'center', alignItems: 'center' }}&gt;&#10;                    &lt;Text style={{ fontSize: 15, color: '#276FBF' }}&gt;请求发出去了吗&lt;/Text&gt;&#10;                &lt;/Box&gt;&#10;                &lt;Box style={{ width: 190, height: 44, background: '#FFF4E6', borderRadius: 8, justifyContent: 'center', alignItems: 'center' }}&gt;&#10;                    &lt;Text style={{ fontSize: 15, color: '#CB6B28' }}&gt;材料读对了吗&lt;/Text&gt;&#10;                &lt;/Box&gt;&#10;            &lt;/Box&gt;&#10;        &lt;/Box&gt;&#10;&#10;        &lt;Box style={{ width: 500, flexDirection: 'column', justifyContent: 'center' }}&gt;&#10;            &lt;Box style={{ width: 500, height: 78, background: '#EDF4FC', borderRadius: 8, padding: '12px 18px', flexDirection: 'column', gap: 4, justifyContent: 'center' }}&gt;&#10;                &lt;Text style={{ fontSize: 20, fontWeight: 'bold', color: '#276FBF' }}&gt;本地程序&lt;/Text&gt;&#10;                &lt;Text style={{ fontSize: 14, color: '#546779' }}&gt;读取材料与环境变量&lt;/Text&gt;&#10;            &lt;/Box&gt;&#10;            &lt;Box style={{ width: 500, height: 24, justifyContent: 'center', alignItems: 'center' }}&gt;&lt;Text style={{ fontSize: 18, color: '#276FBF' }}&gt;↓&lt;/Text&gt;&lt;/Box&gt;&#10;            &lt;Box style={{ width: 500, height: 78, background: '#EDF4FC', borderRadius: 8, padding: '12px 18px', flexDirection: 'column', gap: 4, justifyContent: 'center' }}&gt;&#10;                &lt;Text style={{ fontSize: 20, fontWeight: 'bold', color: '#276FBF' }}&gt;SDK / HTTP&lt;/Text&gt;&#10;                &lt;Text style={{ fontSize: 14, color: '#546779' }}&gt;构造并发送请求&lt;/Text&gt;&#10;            &lt;/Box&gt;&#10;            &lt;Box style={{ width: 500, height: 24, justifyContent: 'center', alignItems: 'center' }}&gt;&lt;Text style={{ fontSize: 18, color: '#276FBF' }}&gt;↓&lt;/Text&gt;&lt;/Box&gt;&#10;            &lt;Box style={{ width: 500, height: 78, background: '#EDF4FC', borderRadius: 8, padding: '12px 18px', flexDirection: 'column', gap: 4, justifyContent: 'center' }}&gt;&#10;                &lt;Text style={{ fontSize: 20, fontWeight: 'bold', color: '#276FBF' }}&gt;模型服务&lt;/Text&gt;&#10;                &lt;Text style={{ fontSize: 14, color: '#546779' }}&gt;检查权限并生成&lt;/Text&gt;&#10;            &lt;/Box&gt;&#10;            &lt;Box style={{ width: 500, height: 24, justifyContent: 'center', alignItems: 'center' }}&gt;&lt;Text style={{ fontSize: 18, color: '#26816B' }}&gt;↓&lt;/Text&gt;&lt;/Box&gt;&#10;            &lt;Box style={{ width: 500, height: 78, background: '#ECF7F2', borderRadius: 8, padding: '12px 18px', flexDirection: 'column', gap: 4, justifyContent: 'center' }}&gt;&#10;                &lt;Text style={{ fontSize: 20, fontWeight: 'bold', color: '#26816B' }}&gt;响应对象&lt;/Text&gt;&#10;                &lt;Text style={{ fontSize: 14, color: '#546779' }}&gt;状态、输出与 usage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390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本章沿两条路线推进：用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看清请求与执行，用腾讯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体验文件、任务和工具，逐步完成读取、查询、校验与交付。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85850" y="46196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环境跑通了吗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981325" y="4619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请求发出去了吗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10150" y="46196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材料读对了吗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18859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204787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本地程序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991350" y="2314575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读取材料与环境变量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63050" y="26384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19900" y="285750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30194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SDK / HTTP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91350" y="3286125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构造并发送请求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63050" y="36099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19900" y="3829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991350" y="399097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模型服务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991350" y="4257675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检查权限并生成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63050" y="45815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19900" y="480060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991350" y="49625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响应对象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91350" y="5229225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状态、输出与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1" name="" descr="&lt;Slide notes={`这一节有六个知识块，它们都在回答同一个问题：一次调用凭什么算跑通了。&#10;&#10;第一个知识块先把说话的层次分清。API 是约定的接口，HTTP 和 JSON 是传输与描述内容的方式，SDK 是把这些封装好的程序库。分清之后，&quot;出错&quot;才有归属。&#10;&#10;第二个知识块立实验前提。开放日定在 2026-10-17，人数、时长、房间容量和已有预约都以本章材料为准，不能靠模型常识补齐。只有材料固定了，后面的对照才有意义。&#10;&#10;第三和第四是两条动手的线：先用独立虚拟环境把校验器跑起来，再配上密钥和模型名，发出第一次真实请求。密钥管认证，模型名管选型，两件事要分开准备。&#10;&#10;第五个知识块教分层的排查方法。第六个知识块把同一任务放进 WorkBuddy，看产品怎样读文件、执行工具、交付结果，并且用同样的校验器取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一次调用凭什么算跑通了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先证明环境，再证明请求&lt;/Text&gt;&#10;            &lt;Box style={{ width: 56, height: 3, background: '#26816B' }} /&gt;&#10;            &lt;Text style={{ fontSize: 17, color: '#546779', lineHeight: 1.75 }}&gt;六个知识块从&quot;和谁说话&quot;走到&quot;产品路线怎么取证&quot;：先分清层次，再固定材料，然后跑通本地校验器与第一次真实调用，最后学会按层排查、按证据验收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先认识本章的学习环境&lt;/Text&gt;&#10;                    &lt;Text style={{ fontSize: 16, color: '#546779' }}&gt;API、HTTP·JSON、SDK 三个层次，一次请求经过谁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统一材料，才能比较结果&lt;/Text&gt;&#10;                    &lt;Text style={{ fontSize: 16, color: '#546779' }}&gt;日期、人数、容量与已有预约以材料为准，不靠常识补齐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安装独立的 Python 环境&lt;/Text&gt;&#10;                    &lt;Text style={{ fontSize: 16, color: '#546779' }}&gt;建虚拟环境、装依赖、跑离线测试，再验参考排期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配置 API，再执行最小调用&lt;/Text&gt;&#10;                    &lt;Text style={{ fontSize: 16, color: '#546779' }}&gt;密钥管认证，模型名管选型，两件事分开准备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出错时先分清发生在哪一层&lt;/Text&gt;&#10;                    &lt;Text style={{ fontSize: 16, color: '#546779' }}&gt;先读错误类型，再决定重试、改配置还是改任务定义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在 WorkBuddy 中完成第一次任务&lt;/Text&gt;&#10;                    &lt;Text style={{ fontSize: 16, color: '#546779' }}&gt;选工作空间、引用材料、打开实际文件对照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一次调用凭什么算跑通了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先证明环境，再证明请求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和谁说话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走到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产品路线怎么取证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：先分清层次，再固定材料，然后跑通本地校验器与第一次真实调用，最后学会按层排查、按证据验收。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2291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333875" y="22574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800600" y="2143125"/>
            <a:ext cx="3552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先认识本章的学习环境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3552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API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HTTP·JSON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三个层次，一次请求经过谁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2291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333875" y="2800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统一材料，才能比较结果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800600" y="2933700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日期、人数、容量与已有预约以材料为准，不靠常识补齐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3338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安装独立的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建虚拟环境、装依赖、跑离线测试，再验参考排期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2291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3338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800600" y="37719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配置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，再执行最小调用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800600" y="40195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密钥管认证，模型名管选型，两件事分开准备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2291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333875" y="44291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出错时先分清发生在哪一层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800600" y="4562475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先读错误类型，再决定重试、改配置还是改任务定义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2291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333875" y="49720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800600" y="48577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800600" y="5105400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选工作空间、引用材料、打开实际文件对照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4" name="" descr="&lt;Slide notes={`在写第一行代码之前，先把我们说话的三个层次分开。这一步听起来抽象，但它决定后面排查问题时的方向。&#10;&#10;API 是客户端和服务端约定好的交互接口——我把什么形状的请求发过去，你会用什么形状的结果回来，这些是事先讲定的。&#10;&#10;HTTP 和 JSON 是两件不同的事。HTTP 负责把请求和响应送过去、送回来；JSON 负责描述里面装的内容长什么样。一个管搬运，一个管格式。&#10;&#10;SDK 是把连接、序列化和类型都封装好的程序库。它让我们少写很多样板代码，但要提醒一句：用了 SDK 不等于不会出错。网络会断、认证会失败、参数会写错、服务会返回错误，这些依旧会发生。&#10;&#10;所以判断一次失败，第一步不是猜模型不行，而是先问它落在哪一层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1.1&lt;/Text&gt;&#10;        &lt;/Box&gt;&#10;&#10;        &lt;Text style={{ fontSize: 56, fontWeight: 'bold', color: '#20344B', lineHeight: 1.15 }}&gt;先认识本章的学习环境&lt;/Text&gt;&#10;&#10;        &lt;Box style={{ width: 640, height: 4, background: '#276FBF' }} /&gt;&#10;&#10;        &lt;Text style={{ fontSize: 19, color: '#546779', lineHeight: 1.7 }}&gt;先分清接口、传输与程序库，再谈调用。&lt;/Text&gt;&#10;&#10;        &lt;Box style={{ marginTop: 8, flexDirection: 'row', justifyContent: 'center', gap: 16 }}&gt;&#10;            &lt;Box style={{ width: 300, height: 56, background: '#EDF4FC', borderRadius: 8, justifyContent: 'center', alignItems: 'center' }}&gt;&#10;                &lt;Text style={{ fontSize: 17, fontWeight: 'bold', color: '#276FBF' }}&gt;API　约定的交互接口&lt;/Text&gt;&#10;            &lt;/Box&gt;&#10;            &lt;Box style={{ width: 300, height: 56, background: '#EDF4FC', borderRadius: 8, justifyContent: 'center', alignItems: 'center' }}&gt;&#10;                &lt;Text style={{ fontSize: 17, fontWeight: 'bold', color: '#276FBF' }}&gt;HTTP · JSON　传输与描述&lt;/Text&gt;&#10;            &lt;/Box&gt;&#10;            &lt;Box style={{ width: 300, height: 56, background: '#EDF4FC', borderRadius: 8, justifyContent: 'center', alignItems: 'center' }}&gt;&#10;                &lt;Text style={{ fontSize: 17, fontWeight: 'bold', color: '#276FBF' }}&gt;SDK　封装的程序库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一次可以逐层定位的请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2.1.1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先认识本章的学习环境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先分清接口、传输与程序库，再谈调用。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165735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2295525" y="33528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API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约定的交互接口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466725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086350" y="3352800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HTTP · JSON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传输与描述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767715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372475" y="3352800"/>
            <a:ext cx="1476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SDK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封装的程序库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210175" y="45148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一次可以逐层定位的请求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83" name="" descr="&lt;Slide notes={`API 这个词经常被当成&quot;模型本身&quot;，其实它只是接口。我按下这个按钮，你按约定返回一个东西——接口管的是形状，不管内容好不好。&#10;&#10;HTTP 和 JSON 分工也很清楚。HTTP 负责把请求送出去、把响应带回来，中间可能经过代理、可能超时；JSON 负责描述内容的结构，字段名写错一个字母，服务器就认不出来。&#10;&#10;SDK 是封装层。它把连接管理、序列化和类型提示都包好了，我们写起来短。但要特别注意：封装不消除错误。装了 SDK 之后，网络照样会断，认证照样会失败，参数照样会传错，服务端照样会返回错误代码。&#10;&#10;区分这三层的好处是排查起来有方向。如果连请求都没构造出来，问题在本地这一段；如果构造出来了但被拒绝，要去核对认证、权限和参数；如果服务返回了结果但内容不合用，那要回到任务定义与材料上去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1　先认识本章的学习环境&lt;/Text&gt;&#10;            &lt;Text style={{ fontSize: 34, fontWeight: 'bold', color: '#20344B' }}&gt;API、HTTP·JSON、SDK 不是一回事&lt;/Text&gt;&#10;        &lt;/Box&gt;&#10;    &lt;/Box&gt;&#10;&#10;    &lt;Box style={{ height: 540, flexDirection: 'row', gap: 32 }}&gt;&#10;&#10;        &lt;Box style={{ width: 700, flexDirection: 'column', justifyContent: 'center', gap: 14 }}&gt;&#10;&#10;            &lt;Box style={{ flexDirection: 'row', height: 104, background: '#F4F7FA', borderRadius: 10, padding: '0 18px', alignItems: 'center', gap: 16 }}&gt;&#10;                &lt;Box style={{ width: 4, height: 60, background: '#276FBF' }} /&gt;&#10;                &lt;Box style={{ width: 110 }}&gt;&lt;Text style={{ fontSize: 20, fontWeight: 'bold', color: '#20344B' }}&gt;API&lt;/Text&gt;&lt;/Box&gt;&#10;                &lt;Box style={{ flex: 1, flexDirection: 'column', gap: 3 }}&gt;&#10;                    &lt;Text style={{ fontSize: 14, color: '#546779' }}&gt;是什么&lt;/Text&gt;&#10;                    &lt;Text style={{ fontSize: 15, color: '#20344B', lineHeight: 1.5 }}&gt;客户端与服务端约定的交互接口&lt;/Text&gt;&#10;                &lt;/Box&gt;&#10;                &lt;Box style={{ flex: 1, flexDirection: 'column', gap: 3 }}&gt;&#10;                    &lt;Text style={{ fontSize: 14, color: '#546779' }}&gt;会出什么错&lt;/Text&gt;&#10;                    &lt;Text style={{ fontSize: 15, color: '#276FBF', lineHeight: 1.5 }}&gt;请求形状不符合约定，被直接拒绝&lt;/Text&gt;&#10;                &lt;/Box&gt;&#10;            &lt;/Box&gt;&#10;&#10;            &lt;Box style={{ flexDirection: 'row', height: 104, background: '#F4F7FA', borderRadius: 10, padding: '0 18px', alignItems: 'center', gap: 16 }}&gt;&#10;                &lt;Box style={{ width: 4, height: 60, background: '#276FBF' }} /&gt;&#10;                &lt;Box style={{ width: 132 }}&gt;&lt;Text style={{ fontSize: 19, fontWeight: 'bold', color: '#20344B' }}&gt;HTTP·JSON&lt;/Text&gt;&lt;/Box&gt;&#10;                &lt;Box style={{ flex: 1, flexDirection: 'column', gap: 3 }}&gt;&#10;                    &lt;Text style={{ fontSize: 14, color: '#546779' }}&gt;是什么&lt;/Text&gt;&#10;                    &lt;Text style={{ fontSize: 15, color: '#20344B', lineHeight: 1.5 }}&gt;前者传送请求与响应，后者描述内容&lt;/Text&gt;&#10;                &lt;/Box&gt;&#10;                &lt;Box style={{ flex: 1, flexDirection: 'column', gap: 3 }}&gt;&#10;                    &lt;Text style={{ fontSize: 14, color: '#546779' }}&gt;会出什么错&lt;/Text&gt;&#10;                    &lt;Text style={{ fontSize: 15, color: '#276FBF', lineHeight: 1.5 }}&gt;连接中断、超时，或字段名写错&lt;/Text&gt;&#10;                &lt;/Box&gt;&#10;            &lt;/Box&gt;&#10;&#10;            &lt;Box style={{ flexDirection: 'row', height: 104, background: '#FFF4E6', borderRadius: 10, padding: '0 18px', alignItems: 'center', gap: 16 }}&gt;&#10;                &lt;Box style={{ width: 4, height: 60, background: '#CB6B28' }} /&gt;&#10;                &lt;Box style={{ width: 110 }}&gt;&lt;Text style={{ fontSize: 20, fontWeight: 'bold', color: '#CB6B28' }}&gt;SDK&lt;/Text&gt;&lt;/Box&gt;&#10;                &lt;Box style={{ flex: 1, flexDirection: 'column', gap: 3 }}&gt;&#10;                    &lt;Text style={{ fontSize: 14, color: '#546779' }}&gt;是什么&lt;/Text&gt;&#10;                    &lt;Text style={{ fontSize: 15, color: '#20344B', lineHeight: 1.5 }}&gt;封装连接、序列化与类型的程序库&lt;/Text&gt;&#10;                &lt;/Box&gt;&#10;                &lt;Box style={{ flex: 1, flexDirection: 'column', gap: 3 }}&gt;&#10;                    &lt;Text style={{ fontSize: 14, color: '#546779' }}&gt;会出什么错&lt;/Text&gt;&#10;                    &lt;Text style={{ fontSize: 15, color: '#CB6B28', lineHeight: 1.5 }}&gt;用了 SDK 仍会发生网络、认证或参数错误&lt;/Text&gt;&#10;                &lt;/Box&gt;&#10;            &lt;/Box&gt;&#10;&#10;        &lt;/Box&gt;&#10;&#10;        &lt;Box style={{ width: 420, flexDirection: 'column', justifyContent: 'center', gap: 14 }}&gt;&#10;&#10;            &lt;Text style={{ fontSize: 20, fontWeight: 'bold', color: '#20344B' }}&gt;分层的用处&lt;/Text&gt;&#10;&#10;            &lt;Box style={{ background: '#EDF4FC', borderRadius: 10, padding: '18px 20px', flexDirection: 'column', gap: 8 }}&gt;&#10;                &lt;Text style={{ fontSize: 16, color: '#20344B', lineHeight: 1.65 }}&gt;封装只是少写样板代码，不会消除错误。&lt;/Text&gt;&#10;                &lt;Text style={{ fontSize: 14, color: '#546779', lineHeight: 1.6 }}&gt;请求没构造出来，先看本地这一段。&lt;/Text&gt;&#10;            &lt;/Box&gt;&#10;&#10;            &lt;Box style={{ background: '#FFF4E6', borderRadius: 10, padding: '18px 20px', flexDirection: 'column', gap: 8 }}&gt;&#10;                &lt;Text style={{ fontSize: 16, fontWeight: 'bold', color: '#CB6B28', lineHeight: 1.6 }}&gt;先读错误类型，再决定下一步&lt;/Text&gt;&#10;                &lt;Text style={{ fontSize: 14, color: '#546779', lineHeight: 1.6 }}&gt;被拒绝要核对认证与参数；返回内容不合用，要回到任务定义与材料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先认识本章的学习环境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2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API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HTTP·JSON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不是一回事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20955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781050" y="23050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971550" y="2476500"/>
            <a:ext cx="104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171700" y="237172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2171700" y="25622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客户端与服务端约定的交互接口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714875" y="237172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会出什么错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4714875" y="25622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请求形状不符合约定，被直接拒绝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321945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781050" y="34290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71550" y="3609975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HTTP·JSON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2381250" y="349567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2381250" y="36861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前者传送请求与响应，后者描述内容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4819650" y="349567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会出什么错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819650" y="36861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连接中断、超时，或字段名写错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43434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781050" y="45529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71550" y="4724400"/>
            <a:ext cx="104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SDK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2171700" y="461962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2171700" y="48101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封装连接、序列化与类型的程序库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4714875" y="448627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会出什么错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4714875" y="4676775"/>
            <a:ext cx="23907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用了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SDK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仍会发生网络、认证或参数错误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581900" y="23622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分层的用处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581900" y="2724150"/>
            <a:ext cx="4000500" cy="981075"/>
          </a:xfrm>
          <a:prstGeom prst="roundRect">
            <a:avLst>
              <a:gd name="adj" fmla="val 970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772400" y="2895600"/>
            <a:ext cx="36195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封装只是少写样板代码，不会消除错误。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772400" y="32766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请求没构造出来，先看本地这一段。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7581900" y="3838575"/>
            <a:ext cx="4000500" cy="1228725"/>
          </a:xfrm>
          <a:prstGeom prst="roundRect">
            <a:avLst>
              <a:gd name="adj" fmla="val 77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772400" y="4010025"/>
            <a:ext cx="3619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先读错误类型，再决定下一步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772400" y="438150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被拒绝要核对认证与参数；返回内容不合用，要回到任务定义与材料。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notes={`顺着这条线走一遍。最左边是本地程序，它跑在读者自己的电脑上，负责读取材料、读取环境变量。这一步出的问题，往往是最朴素的：解释器不对、文件路径写错、依赖没装上。&#10;&#10;往右是 SDK 或者 HTTP 这一段，把请求构造出来发出去。这一步的问题多半是参数写错、字段名不对。&#10;&#10;再往右是模型服务。它先检查权限，再看这次请求的模型和参数是否被支持，然后完成生成。认证失败、权限不足、额度不够、限流，都发生在这一段。&#10;&#10;最右边是响应对象。它不只带文本，还带状态、工具项和用量。这里要特别提醒一句：output_text 只是一个方便读文本的入口，它不代替状态、工具项和用量这些信息。完整脚本还会检查响应状态，避免把拒绝、中断或者空输出当成成功。&#10;&#10;所以出错的时候先分清落在哪一段：本地问题查解释器、文件和依赖；服务问题查认证、权限和配额；而拿到结果之后发现缺事实、违反约束，那是任务本身还没有做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1　先认识本章的学习环境&lt;/Text&gt;&#10;            &lt;Text style={{ fontSize: 34, fontWeight: 'bold', color: '#20344B' }}&gt;一次请求经过的层&lt;/Text&gt;&#10;        &lt;/Box&gt;&#10;    &lt;/Box&gt;&#10;&#10;    &lt;Box style={{ height: 540, flexDirection: 'column', justifyContent: 'center', gap: 16 }}&gt;&#10;&#10;        &lt;Box style={{ flexDirection: 'row', alignItems: 'center' }}&gt;&#10;            &lt;Box style={{ width: 255, height: 130, background: '#EDF4FC', borderRadius: 8, padding: '14px 16px', flexDirection: 'column', gap: 6, justifyContent: 'center' }}&gt;&#10;                &lt;Text style={{ fontSize: 19, fontWeight: 'bold', color: '#276FBF' }}&gt;本地程序&lt;/Text&gt;&#10;                &lt;Text style={{ fontSize: 14, color: '#546779', lineHeight: 1.5 }}&gt;读取材料{'\n'}与环境变量&lt;/Text&gt;&#10;            &lt;/Box&gt;&#10;            &lt;Box style={{ width: 44, height: 130, justifyContent: 'center', alignItems: 'center' }}&gt;&lt;Text style={{ fontSize: 26, color: '#276FBF' }}&gt;›&lt;/Text&gt;&lt;/Box&gt;&#10;&#10;            &lt;Box style={{ width: 255, height: 130, background: '#EDF4FC', borderRadius: 8, padding: '14px 16px', flexDirection: 'column', gap: 6, justifyContent: 'center' }}&gt;&#10;                &lt;Text style={{ fontSize: 19, fontWeight: 'bold', color: '#276FBF' }}&gt;SDK / HTTP&lt;/Text&gt;&#10;                &lt;Text style={{ fontSize: 14, color: '#546779', lineHeight: 1.5 }}&gt;构造并发送请求&lt;/Text&gt;&#10;            &lt;/Box&gt;&#10;            &lt;Box style={{ width: 44, height: 130, justifyContent: 'center', alignItems: 'center' }}&gt;&lt;Text style={{ fontSize: 26, color: '#276FBF' }}&gt;›&lt;/Text&gt;&lt;/Box&gt;&#10;&#10;            &lt;Box style={{ width: 255, height: 130, background: '#EDF4FC', borderRadius: 8, padding: '14px 16px', flexDirection: 'column', gap: 6, justifyContent: 'center' }}&gt;&#10;                &lt;Text style={{ fontSize: 19, fontWeight: 'bold', color: '#276FBF' }}&gt;模型服务&lt;/Text&gt;&#10;                &lt;Text style={{ fontSize: 14, color: '#546779', lineHeight: 1.5 }}&gt;检查权限并生成&lt;/Text&gt;&#10;            &lt;/Box&gt;&#10;            &lt;Box style={{ width: 44, height: 130, justifyContent: 'center', alignItems: 'center' }}&gt;&lt;Text style={{ fontSize: 26, color: '#26816B' }}&gt;›&lt;/Text&gt;&lt;/Box&gt;&#10;&#10;            &lt;Box style={{ width: 255, height: 130, background: '#ECF7F2', borderRadius: 8, padding: '14px 16px', flexDirection: 'column', gap: 6, justifyContent: 'center' }}&gt;&#10;                &lt;Text style={{ fontSize: 19, fontWeight: 'bold', color: '#26816B' }}&gt;响应对象&lt;/Text&gt;&#10;                &lt;Text style={{ fontSize: 14, color: '#546779', lineHeight: 1.5 }}&gt;状态、输出{'\n'}与 usage&lt;/Text&gt;&#10;            &lt;/Box&gt;&#10;        &lt;/Box&gt;&#10;&#10;        &lt;Box style={{ flexDirection: 'row', background: '#F4F7FA', borderRadius: 10, padding: '16px 20px', gap: 20 }}&gt;&#10;&#10;            &lt;Box style={{ flex: 1, flexDirection: 'row', gap: 12 }}&gt;&#10;                &lt;Box style={{ width: 3, background: '#CB6B28' }} /&gt;&#10;                &lt;Box style={{ flex: 1, flexDirection: 'column', gap: 4 }}&gt;&#10;                    &lt;Text style={{ fontSize: 17, fontWeight: 'bold', color: '#CB6B28' }}&gt;先定位本地问题&lt;/Text&gt;&#10;                    &lt;Text style={{ fontSize: 14, color: '#546779', lineHeight: 1.5 }}&gt;读环境变量失败、模块导入失败时，查解释器、文件与依赖。&lt;/Text&gt;&#10;                &lt;/Box&gt;&#10;            &lt;/Box&gt;&#10;&#10;            &lt;Box style={{ width: 1, background: '#B5C7D8' }} /&gt;&#10;&#10;            &lt;Box style={{ flex: 1, flexDirection: 'row', gap: 12 }}&gt;&#10;                &lt;Box style={{ width: 3, background: '#CB6B28' }} /&gt;&#10;                &lt;Box style={{ flex: 1, flexDirection: 'column', gap: 4 }}&gt;&#10;                    &lt;Text style={{ fontSize: 17, fontWeight: 'bold', color: '#CB6B28' }}&gt;先定位服务问题&lt;/Text&gt;&#10;                    &lt;Text style={{ fontSize: 14, color: '#546779', lineHeight: 1.5 }}&gt;被拒绝、被限流时，查认证、权限与配额。&lt;/Text&gt;&#10;                &lt;/Box&gt;&#10;            &lt;/Box&gt;&#10;&#10;            &lt;Box style={{ width: 1, background: '#B5C7D8' }} /&gt;&#10;&#10;            &lt;Box style={{ flex: 1, flexDirection: 'row', gap: 12 }}&gt;&#10;                &lt;Box style={{ width: 3, background: '#CB6B28' }} /&gt;&#10;                &lt;Box style={{ flex: 1, flexDirection: 'column', gap: 4 }}&gt;&#10;                    &lt;Text style={{ fontSize: 17, fontWeight: 'bold', color: '#CB6B28' }}&gt;另查任务结果&lt;/Text&gt;&#10;                    &lt;Text style={{ fontSize: 14, color: '#546779', lineHeight: 1.5 }}&gt;能返回但缺事实、违反约束，是任务没做完。&lt;/Text&gt;&#10;                &lt;/Box&gt;&#10;            &lt;/Box&gt;&#10;&#10;        &lt;/Box&gt;&#10;&#10;        &lt;Box style={{ flexDirection: 'row', alignItems: 'center', gap: 16, background: '#EDF4FC', borderRadius: 10, padding: '14px 20px' }}&gt;&#10;            &lt;Box style={{ width: 4, height: 40, background: '#276FBF' }} /&gt;&#10;            &lt;Box style={{ flex: 1, flexDirection: 'column', gap: 3 }}&gt;&#10;                &lt;Text style={{ fontSize: 16, fontWeight: 'bold', color: '#276FBF' }}&gt;output_text 只是文本入口&lt;/Text&gt;&#10;                &lt;Text style={{ fontSize: 14, color: '#546779' }}&gt;响应还可以包含工具请求、状态与用量，后续章节逐一展开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先认识本章的学习环境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一次请求经过的层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2105025"/>
            <a:ext cx="2428875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本地程序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62000" y="2619375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读取材料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与环境变量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3209925" y="2571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3457575" y="2105025"/>
            <a:ext cx="2428875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609975" y="24669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SDK / HTTP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609975" y="2743200"/>
            <a:ext cx="2124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构造并发送请求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057900" y="2571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305550" y="2105025"/>
            <a:ext cx="2428875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457950" y="2466975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模型服务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457950" y="2743200"/>
            <a:ext cx="2124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检查权限并生成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905875" y="2571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9153525" y="2105025"/>
            <a:ext cx="2428875" cy="1238250"/>
          </a:xfrm>
          <a:prstGeom prst="roundRect">
            <a:avLst>
              <a:gd name="adj" fmla="val 61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305925" y="2343150"/>
            <a:ext cx="212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响应对象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305925" y="2619375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状态、输出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34956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800100" y="3648075"/>
            <a:ext cx="28575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42975" y="364807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先定位本地问题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42975" y="3886200"/>
            <a:ext cx="3124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读环境变量失败、模块导入失败时，查解释器、文件与依赖。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4257675" y="3648075"/>
            <a:ext cx="9525" cy="7239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4457700" y="3648075"/>
            <a:ext cx="28575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600575" y="3648075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先定位服务问题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4600575" y="38862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被拒绝、被限流时，查认证、权限与配额。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7924800" y="3648075"/>
            <a:ext cx="9525" cy="7239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8124825" y="3648075"/>
            <a:ext cx="28575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267700" y="364807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另查任务结果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267700" y="38862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能返回但缺事实、违反约束，是任务没做完。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09600" y="467677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800100" y="4810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90600" y="481012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output_text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只是文本入口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90600" y="5029200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响应还可以包含工具请求、状态与用量，后续章节逐一展开。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56" name="" descr="&lt;Slide notes={`把一次完整任务摊开，主线是四步。&#10;&#10;第一步是表达任务。Prompt 和上下文在这里提供目标和证据，也就是告诉系统我们要什么、依据是什么。&#10;&#10;第二步是提出候选。模型生成方案，或者生成一段结构化的工具请求。注意它到这里为止只是&quot;提出&quot;，还没有真的执行。&#10;&#10;第三步是实际执行。真正动手的是应用，它通过函数、MCP 或者 CLI 与 Shell 去完成。模型说要用某个工具，和工具真的被调用，是两件事。&#10;&#10;第四步是校验交付。用业务规则、评估、文件和最终状态一起判断这次交付到底成不成立。&#10;&#10;主线之外还有三条是按缺口补充的，不是必经步骤：信息不够就补检索与 RAG、图像与语音；方法不固定就补 Skill、规划、Agent 循环；需要多人协作和预算控制，就补分工与控制。&#10;&#10;所以不要以为每次调用都要把这些技术用齐，用哪几条取决于缺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1　先认识本章的学习环境&lt;/Text&gt;&#10;            &lt;Text style={{ fontSize: 34, fontWeight: 'bold', color: '#20344B' }}&gt;一张图看清技术各自的位置&lt;/Text&gt;&#10;        &lt;/Box&gt;&#10;    &lt;/Box&gt;&#10;&#10;    &lt;Box style={{ height: 540, flexDirection: 'row', gap: 40 }}&gt;&#10;&#10;        &lt;Box style={{ width: 360, flexDirection: 'column', justifyContent: 'center', gap: 16 }}&gt;&#10;            &lt;Text style={{ fontSize: 24, fontWeight: 'bold', color: '#276FBF', lineHeight: 1.45 }}&gt;目标到交付，中间靠什么&lt;/Text&gt;&#10;            &lt;Box style={{ width: 56, height: 3, background: '#26816B' }} /&gt;&#10;            &lt;Text style={{ fontSize: 16, color: '#546779', lineHeight: 1.75 }}&gt;箭头表达一次任务如何推进，不代表每次调用都必须用齐所有技术。下面一条是主线，另一条按缺口补充。&lt;/Text&gt;&#10;            &lt;Box style={{ background: '#FFF4E6', borderRadius: 10, padding: '16px 18px' }}&gt;&#10;                &lt;Text style={{ fontSize: 15, color: '#CB6B28', lineHeight: 1.6 }}&gt;用哪几条技术，取决于当前缺什么。&lt;/Text&gt;&#10;            &lt;/Box&gt;&#10;            &lt;Text style={{ fontSize: 14, color: '#546779', lineHeight: 1.6 }}&gt;本节所有数据均为教学虚构，不涉及真实预约、通知或外部发布。&lt;/Text&gt;&#10;        &lt;/Box&gt;&#10;&#10;        &lt;Box style={{ width: 752, flexDirection: 'column', justifyContent: 'center' }}&gt;&#10;&#10;            &lt;Box style={{ flexDirection: 'row', height: 62, background: '#EDF4FC', borderRadius: 8, padding: '0 18px', alignItems: 'center', gap: 12 }}&gt;&#10;                &lt;Box style={{ width: 40, height: 40, borderRadius: 8, background: '#276FBF', justifyContent: 'center', alignItems: 'center' }}&gt;&#10;                    &lt;Text style={{ fontSize: 16, fontWeight: 'bold', color: '#FFFFFF' }}&gt;1&lt;/Text&gt;&#10;                &lt;/Box&gt;&#10;                &lt;Box style={{ width: 130 }}&gt;&lt;Text style={{ fontSize: 18, fontWeight: 'bold', color: '#20344B' }}&gt;表达任务&lt;/Text&gt;&lt;/Box&gt;&#10;                &lt;Box style={{ flex: 1 }}&gt;&lt;Text style={{ fontSize: 15, color: '#546779' }}&gt;Prompt 与上下文提供目标、证据&lt;/Text&gt;&lt;/Box&gt;&#10;            &lt;/Box&gt;&#10;&#10;            &lt;Box style={{ height: 22, justifyContent: 'center' }}&gt;&lt;Box style={{ width: 44 }}&gt;&lt;Text style={{ fontSize: 14, color: '#276FBF' }}&gt;↓&lt;/Text&gt;&lt;/Box&gt;&lt;/Box&gt;&#10;&#10;            &lt;Box style={{ flexDirection: 'row', height: 62, background: '#EDF4FC', borderRadius: 8, padding: '0 18px', alignItems: 'center', gap: 12 }}&gt;&#10;                &lt;Box style={{ width: 40, height: 40, borderRadius: 8, background: '#276FBF', justifyContent: 'center', alignItems: 'center' }}&gt;&#10;                    &lt;Text style={{ fontSize: 16, fontWeight: 'bold', color: '#FFFFFF' }}&gt;2&lt;/Text&gt;&#10;                &lt;/Box&gt;&#10;                &lt;Box style={{ width: 130 }}&gt;&lt;Text style={{ fontSize: 18, fontWeight: 'bold', color: '#20344B' }}&gt;提出候选&lt;/Text&gt;&lt;/Box&gt;&#10;                &lt;Box style={{ flex: 1 }}&gt;&lt;Text style={{ fontSize: 15, color: '#546779' }}&gt;模型生成方案或结构化工具请求&lt;/Text&gt;&lt;/Box&gt;&#10;            &lt;/Box&gt;&#10;&#10;            &lt;Box style={{ height: 22, justifyContent: 'center' }}&gt;&lt;Box style={{ width: 44 }}&gt;&lt;Text style={{ fontSize: 14, color: '#276FBF' }}&gt;↓&lt;/Text&gt;&lt;/Box&gt;&lt;/Box&gt;&#10;&#10;            &lt;Box style={{ flexDirection: 'row', height: 62, background: '#EDF4FC', borderRadius: 8, padding: '0 18px', alignItems: 'center', gap: 12 }}&gt;&#10;                &lt;Box style={{ width: 40, height: 40, borderRadius: 8, background: '#276FBF', justifyContent: 'center', alignItems: 'center' }}&gt;&#10;                    &lt;Text style={{ fontSize: 16, fontWeight: 'bold', color: '#FFFFFF' }}&gt;3&lt;/Text&gt;&#10;                &lt;/Box&gt;&#10;                &lt;Box style={{ width: 130 }}&gt;&lt;Text style={{ fontSize: 18, fontWeight: 'bold', color: '#20344B' }}&gt;实际执行&lt;/Text&gt;&lt;/Box&gt;&#10;                &lt;Box style={{ flex: 1 }}&gt;&lt;Text style={{ fontSize: 15, color: '#546779' }}&gt;应用通过函数、MCP、CLI / Shell 执行&lt;/Text&gt;&lt;/Box&gt;&#10;            &lt;/Box&gt;&#10;&#10;            &lt;Box style={{ height: 22, justifyContent: 'center' }}&gt;&lt;Box style={{ width: 44 }}&gt;&lt;Text style={{ fontSize: 14, color: '#26816B' }}&gt;↓&lt;/Text&gt;&lt;/Box&gt;&lt;/Box&gt;&#10;&#10;            &lt;Box style={{ flexDirection: 'row', height: 62, background: '#ECF7F2', borderRadius: 8, padding: '0 18px', alignItems: 'center', gap: 12 }}&gt;&#10;                &lt;Box style={{ width: 40, height: 40, borderRadius: 8, background: '#26816B', justifyContent: 'center', alignItems: 'center' }}&gt;&#10;                    &lt;Text style={{ fontSize: 16, fontWeight: 'bold', color: '#FFFFFF' }}&gt;4&lt;/Text&gt;&#10;                &lt;/Box&gt;&#10;                &lt;Box style={{ width: 130 }}&gt;&lt;Text style={{ fontSize: 18, fontWeight: 'bold', color: '#26816B' }}&gt;校验交付&lt;/Text&gt;&lt;/Box&gt;&#10;                &lt;Box style={{ flex: 1 }}&gt;&lt;Text style={{ fontSize: 15, color: '#546779' }}&gt;业务规则、评估、文件与最终状态&lt;/Text&gt;&lt;/Box&gt;&#10;            &lt;/Box&gt;&#10;&#10;            &lt;Box style={{ flexDirection: 'row', alignItems: 'center', gap: 12, marginTop: 14, marginBottom: 8 }}&gt;&#10;                &lt;Box style={{ width: 3, height: 20, background: '#CB6B28' }} /&gt;&#10;                &lt;Text style={{ fontSize: 15, fontWeight: 'bold', color: '#CB6B28' }}&gt;按缺口补充，非必经步骤&lt;/Text&gt;&#10;            &lt;/Box&gt;&#10;&#10;            &lt;Box style={{ flexDirection: 'row', height: 48, background: '#F4F7FA', borderRadius: 8, padding: '0 18px', alignItems: 'center', gap: 12, marginBottom: 7 }}&gt;&#10;                &lt;Box style={{ width: 96 }}&gt;&lt;Text style={{ fontSize: 16, fontWeight: 'bold', color: '#20344B' }}&gt;补充信息&lt;/Text&gt;&lt;/Box&gt;&#10;                &lt;Box style={{ flex: 1 }}&gt;&lt;Text style={{ fontSize: 15, color: '#546779' }}&gt;检索 / RAG、图像与语音&lt;/Text&gt;&lt;/Box&gt;&#10;            &lt;/Box&gt;&#10;&#10;            &lt;Box style={{ flexDirection: 'row', height: 48, background: '#F4F7FA', borderRadius: 8, padding: '0 18px', alignItems: 'center', gap: 12, marginBottom: 7 }}&gt;&#10;                &lt;Box style={{ width: 96 }}&gt;&lt;Text style={{ fontSize: 16, fontWeight: 'bold', color: '#20344B' }}&gt;组织方法&lt;/Text&gt;&lt;/Box&gt;&#10;                &lt;Box style={{ flex: 1 }}&gt;&lt;Text style={{ fontSize: 15, color: '#546779' }}&gt;Skill、规划、Agent 循环&lt;/Text&gt;&lt;/Box&gt;&#10;            &lt;/Box&gt;&#10;&#10;            &lt;Box style={{ flexDirection: 'row', height: 48, background: '#F4F7FA', borderRadius: 8, padding: '0 18px', alignItems: 'center', gap: 12 }}&gt;&#10;                &lt;Box style={{ width: 96 }}&gt;&lt;Text style={{ fontSize: 16, fontWeight: 'bold', color: '#20344B' }}&gt;分工与控制&lt;/Text&gt;&lt;/Box&gt;&#10;                &lt;Box style={{ flex: 1 }}&gt;&lt;Text style={{ fontSize: 15, color: '#546779' }}&gt;多角色协作、预算与记录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先认识本章的学习环境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一张图看清技术各自的位置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3429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目标到交付，中间靠什么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27241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609600" y="2905125"/>
            <a:ext cx="3429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箭头表达一次任务如何推进，不代表每次调用都必须用齐所有技术。下面一条是主线，另一条按缺口补充。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09600" y="4019550"/>
            <a:ext cx="3429000" cy="581025"/>
          </a:xfrm>
          <a:prstGeom prst="roundRect">
            <a:avLst>
              <a:gd name="adj" fmla="val 1639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81050" y="4171950"/>
            <a:ext cx="3086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用哪几条技术，取决于当前缺什么。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本节所有数据均为教学虚构，不涉及真实预约、通知或外部发布。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419600" y="1266825"/>
            <a:ext cx="71628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4591050" y="1371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733925" y="14668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086350" y="145732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表达任务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438900" y="14763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Prompt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与上下文提供目标、证据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4419600" y="1885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4419600" y="2066925"/>
            <a:ext cx="71628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4591050" y="2171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733925" y="2266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086350" y="225742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提出候选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438900" y="22764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模型生成方案或结构化工具请求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419600" y="26860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4419600" y="2867025"/>
            <a:ext cx="71628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4591050" y="29718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733925" y="30670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086350" y="305752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实际执行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438900" y="30765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应用通过函数、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MCP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/ Shell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419600" y="34861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4419600" y="3667125"/>
            <a:ext cx="71628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4591050" y="37719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733925" y="3867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5086350" y="385762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校验交付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438900" y="38766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业务规则、评估、文件与最终状态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4419600" y="4391025"/>
            <a:ext cx="28575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562475" y="44005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按缺口补充，非必经步骤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4419600" y="4657725"/>
            <a:ext cx="71628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591050" y="47910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补充信息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619750" y="4800600"/>
            <a:ext cx="579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检索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RAG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、图像与语音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4419600" y="5181600"/>
            <a:ext cx="71628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591050" y="53149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组织方法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5619750" y="5324475"/>
            <a:ext cx="579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、规划、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循环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4419600" y="5705475"/>
            <a:ext cx="71628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591050" y="58388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分工与控制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5619750" y="5848350"/>
            <a:ext cx="579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多角色协作、预算与记录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notes={`第二个知识块要立一件事：我们比的是同一个任务上的不同做法，所以材料必须只有一份。&#10;&#10;开放日的时间先定死：2026 年 10 月 17 日，时区是 Asia/Shanghai，从 09:00 到 12:00。三个活动分别是阅读分享 24 人 60 分钟、手作体验 10 人 60 分钟、交流活动 16 人 45 分钟，各自对应阅读室、手作室和交流室，容量分别是 30、12、20。&#10;&#10;除此之外还有一个条件：手作室在 10:00 到 10:30 已经被人预约了。&#10;&#10;我强调&quot;以 material 为准&quot;，是因为模型知道很多一般性的常识，比如手作活动大概需要多久、什么时间人比较多。这些常识听起来合理，但在这个任务里没有一处可以替代文件里的数字。&#10;&#10;第一章的局部算例也不能替代这里的完整条件，手作时长在这里固定是 60 分钟。材料固定下来，后面换模型、换工具、换提示词的对照才有意义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1.2&lt;/Text&gt;&#10;        &lt;/Box&gt;&#10;&#10;        &lt;Text style={{ fontSize: 56, fontWeight: 'bold', color: '#20344B', lineHeight: 1.15 }}&gt;统一材料，才能比较结果&lt;/Text&gt;&#10;&#10;        &lt;Box style={{ width: 640, height: 4, background: '#276FBF' }} /&gt;&#10;&#10;        &lt;Text style={{ fontSize: 19, color: '#546779', lineHeight: 1.7 }}&gt;日期、容量与当前预约以本章材料为准，不能靠模型常识补齐。&lt;/Text&gt;&#10;&#10;        &lt;Box style={{ marginTop: 8, flexDirection: 'row', justifyContent: 'center' }}&gt;&#10;            &lt;Box style={{ width: 620, height: 56, background: '#F7F3E8', borderRadius: 8, justifyContent: 'center', alignItems: 'center' }}&gt;&#10;                &lt;Text style={{ fontSize: 16, color: '#20344B' }}&gt;2026-10-17　Asia/Shanghai　09:00—12:00　·　同一组材料&lt;/Text&gt;&#10;            &lt;/Box&gt;&#10;        &lt;/Box&gt;&#10;&#10;        &lt;Box style={{ flexDirection: 'row', justifyContent: 'center' }}&gt;&#10;            &lt;Box style={{ width: 44, height: 26, justifyContent: 'center', alignItems: 'center' }}&gt;&lt;Text style={{ fontSize: 18, color: '#276FBF' }}&gt;↓&lt;/Text&gt;&lt;/Box&gt;&#10;        &lt;/Box&gt;&#10;&#10;        &lt;Box style={{ flexDirection: 'row', justifyContent: 'center', gap: 16 }}&gt;&#10;            &lt;Box style={{ width: 190, height: 52, background: '#EDF4FC', borderRadius: 8, justifyContent: 'center', alignItems: 'center' }}&gt;&#10;                &lt;Text style={{ fontSize: 16, fontWeight: 'bold', color: '#276FBF' }}&gt;阅读分享 24 人&lt;/Text&gt;&#10;            &lt;/Box&gt;&#10;            &lt;Box style={{ width: 190, height: 52, background: '#EDF4FC', borderRadius: 8, justifyContent: 'center', alignItems: 'center' }}&gt;&#10;                &lt;Text style={{ fontSize: 16, fontWeight: 'bold', color: '#276FBF' }}&gt;手作体验 10 人&lt;/Text&gt;&#10;            &lt;/Box&gt;&#10;            &lt;Box style={{ width: 190, height: 52, background: '#EDF4FC', borderRadius: 8, justifyContent: 'center', alignItems: 'center' }}&gt;&#10;                &lt;Text style={{ fontSize: 16, fontWeight: 'bold', color: '#276FBF' }}&gt;交流活动 16 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6762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14375" y="7810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295400" y="8477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2.1.2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统一材料，才能比较结果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23336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日期、容量与当前预约以本章材料为准，不能靠模型常识补齐。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3143250" y="3200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3971925" y="3371850"/>
            <a:ext cx="425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2026-10-17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Asia/Shanghai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09:00—12:00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·　同一组材料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057900" y="39433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3228975" y="43624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609975" y="45148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阅读分享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5191125" y="43624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572125" y="45148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手作体验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7153275" y="43624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7534275" y="45148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交流活动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2" name="" descr="&lt;Slide notes={`把条件列成一张表，三个活动一起看。&#10;&#10;阅读分享 24 人 60 分钟，用阅读室，容量 30，24 不超过 30，这一条过。&#10;&#10;手作体验 10 人 60 分钟，用手作室，容量只有 12。10 不超过 12，也过，但余量比阅读分享小得多，所以后面排期的时候它最容易被挤住。&#10;&#10;交流活动 16 人 45 分钟，用交流室，容量 20，过。&#10;&#10;除了容量，还有两件事要一起记住。第一，三个活动都必须落在 09:00 到 12:00 这个开放区间里。第二，手作室在 10:00 到 10:30 已经被人预约了，这一段时间不属于我们。&#10;&#10;另外，不同房间的活动可以同时举行，这道题也没有共享主持人或者共享设备这样的约束。这些条件都必须写进材料，不能靠我们临时想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2　统一材料，才能比较结果&lt;/Text&gt;&#10;            &lt;Text style={{ fontSize: 34, fontWeight: 'bold', color: '#20344B' }}&gt;三项活动与固定条件&lt;/Text&gt;&#10;        &lt;/Box&gt;&#10;    &lt;/Box&gt;&#10;&#10;    &lt;Box style={{ height: 540, flexDirection: 'column', justifyContent: 'center', gap: 12 }}&gt;&#10;&#10;        &lt;Box style={{ flexDirection: 'row', height: 96, background: '#F4F7FA', borderRadius: 10, padding: '0 18px', alignItems: 'center', gap: 16 }}&gt;&#10;            &lt;Box style={{ width: 4, height: 64, background: '#276FBF' }} /&gt;&#10;            &lt;Box style={{ flex: 1, flexDirection: 'column', gap: 2 }}&gt;&#10;                &lt;Text style={{ fontSize: 19, fontWeight: 'bold', color: '#20344B' }}&gt;阅读分享&lt;/Text&gt;&#10;                &lt;Text style={{ fontSize: 14, color: '#546779' }}&gt;reading_share&lt;/Text&gt;&#10;            &lt;/Box&gt;&#10;            &lt;Box style={{ width: 230, flexDirection: 'column', gap: 2 }}&gt;&#10;                &lt;Text style={{ fontSize: 14, color: '#546779' }}&gt;人数与时长&lt;/Text&gt;&#10;                &lt;Text style={{ fontSize: 16, color: '#20344B' }}&gt;24 人，60 分钟&lt;/Text&gt;&#10;            &lt;/Box&gt;&#10;            &lt;Box style={{ width: 300, flexDirection: 'column', gap: 2 }}&gt;&#10;                &lt;Text style={{ fontSize: 14, color: '#546779' }}&gt;指定房间及容量&lt;/Text&gt;&#10;                &lt;Text style={{ fontSize: 16, color: '#20344B' }}&gt;reading 阅读室，30 人&lt;/Text&gt;&#10;            &lt;/Box&gt;&#10;            &lt;Box style={{ width: 130, height: 40, background: '#ECF7F2', borderRadius: 8, justifyContent: 'center', alignItems: 'center' }}&gt;&#10;                &lt;Text style={{ fontSize: 15, color: '#26816B' }}&gt;24 ≤ 30 通过&lt;/Text&gt;&#10;            &lt;/Box&gt;&#10;        &lt;/Box&gt;&#10;&#10;        &lt;Box style={{ flexDirection: 'row', height: 96, background: '#ECF7F2', borderRadius: 10, padding: '0 18px', alignItems: 'center', gap: 16 }}&gt;&#10;            &lt;Box style={{ width: 4, height: 64, background: '#26816B' }} /&gt;&#10;            &lt;Box style={{ flex: 1, flexDirection: 'column', gap: 2 }}&gt;&#10;                &lt;Text style={{ fontSize: 19, fontWeight: 'bold', color: '#20344B' }}&gt;手作体验&lt;/Text&gt;&#10;                &lt;Text style={{ fontSize: 14, color: '#546779' }}&gt;craft_workshop&lt;/Text&gt;&#10;            &lt;/Box&gt;&#10;            &lt;Box style={{ width: 230, flexDirection: 'column', gap: 2 }}&gt;&#10;                &lt;Text style={{ fontSize: 14, color: '#546779' }}&gt;人数与时长&lt;/Text&gt;&#10;                &lt;Text style={{ fontSize: 16, color: '#20344B' }}&gt;10 人，60 分钟&lt;/Text&gt;&#10;            &lt;/Box&gt;&#10;            &lt;Box style={{ width: 300, flexDirection: 'column', gap: 2 }}&gt;&#10;                &lt;Text style={{ fontSize: 14, color: '#546779' }}&gt;指定房间及容量&lt;/Text&gt;&#10;                &lt;Text style={{ fontSize: 16, color: '#20344B' }}&gt;craft 手作室，12 人&lt;/Text&gt;&#10;            &lt;/Box&gt;&#10;            &lt;Box style={{ width: 130, height: 40, background: '#FFFFFF', borderRadius: 8, justifyContent: 'center', alignItems: 'center' }}&gt;&#10;                &lt;Text style={{ fontSize: 15, color: '#26816B' }}&gt;10 ≤ 12 通过&lt;/Text&gt;&#10;            &lt;/Box&gt;&#10;        &lt;/Box&gt;&#10;&#10;        &lt;Box style={{ flexDirection: 'row', height: 96, background: '#F4F7FA', borderRadius: 10, padding: '0 18px', alignItems: 'center', gap: 16 }}&gt;&#10;            &lt;Box style={{ width: 4, height: 64, background: '#276FBF' }} /&gt;&#10;            &lt;Box style={{ flex: 1, flexDirection: 'column', gap: 2 }}&gt;&#10;                &lt;Text style={{ fontSize: 19, fontWeight: 'bold', color: '#20344B' }}&gt;交流活动&lt;/Text&gt;&#10;                &lt;Text style={{ fontSize: 14, color: '#546779' }}&gt;exchange&lt;/Text&gt;&#10;            &lt;/Box&gt;&#10;            &lt;Box style={{ width: 230, flexDirection: 'column', gap: 2 }}&gt;&#10;                &lt;Text style={{ fontSize: 14, color: '#546779' }}&gt;人数与时长&lt;/Text&gt;&#10;                &lt;Text style={{ fontSize: 16, color: '#20344B' }}&gt;16 人，45 分钟&lt;/Text&gt;&#10;            &lt;/Box&gt;&#10;            &lt;Box style={{ width: 300, flexDirection: 'column', gap: 2 }}&gt;&#10;                &lt;Text style={{ fontSize: 14, color: '#546779' }}&gt;指定房间及容量&lt;/Text&gt;&#10;                &lt;Text style={{ fontSize: 16, color: '#20344B' }}&gt;discussion 交流室，20 人&lt;/Text&gt;&#10;            &lt;/Box&gt;&#10;            &lt;Box style={{ width: 130, height: 40, background: '#ECF7F2', borderRadius: 8, justifyContent: 'center', alignItems: 'center' }}&gt;&#10;                &lt;Text style={{ fontSize: 15, color: '#26816B' }}&gt;16 ≤ 20 通过&lt;/Text&gt;&#10;            &lt;/Box&gt;&#10;        &lt;/Box&gt;&#10;&#10;        &lt;Box style={{ flexDirection: 'row', height: 110, background: '#FFF4E6', borderRadius: 10, padding: '16px 22px', alignItems: 'center', gap: 24, marginTop: 4 }}&gt;&#10;            &lt;Box style={{ flex: 1, flexDirection: 'column', gap: 4 }}&gt;&#10;                &lt;Text style={{ fontSize: 16, fontWeight: 'bold', color: '#20344B' }}&gt;时间与场地条件&lt;/Text&gt;&#10;                &lt;Text style={{ fontSize: 15, color: '#546779', lineHeight: 1.55 }}&gt;三个活动都要落在 09:00—12:00 内；不同房间的活动可以同时举行。&lt;/Text&gt;&#10;            &lt;/Box&gt;&#10;            &lt;Box style={{ width: 1, height: 70, background: '#B5C7D8' }} /&gt;&#10;            &lt;Box style={{ flex: 1, flexDirection: 'column', gap: 4 }}&gt;&#10;                &lt;Text style={{ fontSize: 16, fontWeight: 'bold', color: '#CB6B28' }}&gt;手作室已有预约 10:00—10:30&lt;/Text&gt;&#10;                &lt;Text style={{ fontSize: 15, color: '#546779', lineHeight: 1.55 }}&gt;这一段属于别人；此外本题没有共享主持人或共享设备约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统一材料，才能比较结果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三项活动与固定条件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09600" y="16287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781050" y="17811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971550" y="188595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阅读分享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71550" y="21240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reading_share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819650" y="19050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人数与时长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819650" y="20859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162800" y="19050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指定房间及容量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162800" y="20859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reading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阅读室，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10172700" y="1895475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0363200" y="20002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24 ≤ 30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09600" y="26574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781050" y="280987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971550" y="291465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手作体验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971550" y="31527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craft_workshop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819650" y="29337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人数与时长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819650" y="31146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162800" y="29337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指定房间及容量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162800" y="3114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craft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手作室，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10172700" y="2924175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363200" y="30289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10 ≤ 12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09600" y="36861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781050" y="38385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71550" y="394335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交流活动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71550" y="41814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exchange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819650" y="3962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人数与时长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4819650" y="41433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7162800" y="39624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指定房间及容量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162800" y="41433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discussion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交流室，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10172700" y="3952875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0363200" y="40576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16 ≤ 20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47529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19150" y="5029200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时间与场地条件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19150" y="5257800"/>
            <a:ext cx="5048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三个活动都要落在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09:00—12:00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内；不同房间的活动可以同时举行。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0" y="4943475"/>
            <a:ext cx="9525" cy="6667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334125" y="5029200"/>
            <a:ext cx="503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手作室已有预约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10:00—10:30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334125" y="5257800"/>
            <a:ext cx="50387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这一段属于别人；此外本题没有共享主持人或共享设备约束。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65" name="" descr="&lt;Slide notes={`时间这件事，最容易被&quot;差不多&quot;糊过去。这里的规则写得很死：区间是左闭右开，也就是 [开始, 结束)。&#10;&#10;什么意思？如果一场预约是 10:00 到 10:30，那么它占住的是从 10:00 那一瞬间开始、到 10:30 那一瞬间为止的这一段。10:30 这个时刻本身已经不属于它了。&#10;&#10;所以 10:00 到 10:30 这一段我们不能用，那是别人的。但 10:30 开始的活动可以紧接在后面，因为起点正好落在那条线的右边，两个区间首尾相接，不算重叠。&#10;&#10;反过来也一样。如果一场活动是 09:30 到 10:00 结束，它同样不占用 10:00 之后的时间。&#10;&#10;把握住这个规则，判断就变成纯计算：把两个区间摆到同一条时间轴上，看它们有没有交集。有交集就冲突，只是端点相接就不冲突。这个规则后面会直接写进校验器，成为程序判断的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2　统一材料，才能比较结果&lt;/Text&gt;&#10;            &lt;Text style={{ fontSize: 34, fontWeight: 'bold', color: '#20344B' }}&gt;时间区间是 [开始, 结束)&lt;/Text&gt;&#10;        &lt;/Box&gt;&#10;    &lt;/Box&gt;&#10;&#10;    &lt;Box style={{ height: 540, flexDirection: 'column', justifyContent: 'center', gap: 10 }}&gt;&#10;&#10;        &lt;Box style={{ flexDirection: 'row', height: 40, alignItems: 'center' }}&gt;&#10;            &lt;Box style={{ width: 36 }} /&gt;&#10;            &lt;Box style={{ width: 90 }}&gt;&lt;Text style={{ fontSize: 14, color: '#546779' }}&gt;09:00&lt;/Text&gt;&lt;/Box&gt;&#10;            &lt;Box style={{ width: 225 }} /&gt;&#10;            &lt;Box style={{ width: 90 }}&gt;&lt;Text style={{ fontSize: 14, color: '#546779' }}&gt;10:00&lt;/Text&gt;&lt;/Box&gt;&#10;            &lt;Box style={{ width: 90 }} /&gt;&#10;            &lt;Box style={{ width: 90 }}&gt;&lt;Text style={{ fontSize: 14, color: '#CB6B28' }}&gt;10:30&lt;/Text&gt;&lt;/Box&gt;&#10;            &lt;Box style={{ width: 90 }} /&gt;&#10;            &lt;Box style={{ width: 90 }}&gt;&lt;Text style={{ fontSize: 14, color: '#546779' }}&gt;11:00&lt;/Text&gt;&lt;/Box&gt;&#10;            &lt;Box style={{ width: 225 }} /&gt;&#10;            &lt;Box style={{ width: 90 }}&gt;&lt;Text style={{ fontSize: 14, color: '#546779', textAlign: 'right' }}&gt;12:00&lt;/Text&gt;&lt;/Box&gt;&#10;            &lt;Box style={{ width: 36 }} /&gt;&#10;        &lt;/Box&gt;&#10;&#10;        &lt;Box style={{ flexDirection: 'row', height: 48, alignItems: 'center' }}&gt;&#10;            &lt;Box style={{ width: 36 }} /&gt;&#10;            &lt;Box style={{ width: 1080, height: 48, background: '#EDF4FC', borderRadius: 8, paddingLeft: 16, justifyContent: 'center' }}&gt;&#10;                &lt;Text style={{ fontSize: 15, color: '#276FBF' }}&gt;手作室开放时间　09:00 — 12:00&lt;/Text&gt;&#10;            &lt;/Box&gt;&#10;            &lt;Box style={{ width: 36 }} /&gt;&#10;        &lt;/Box&gt;&#10;&#10;        &lt;Box style={{ flexDirection: 'row', height: 54, alignItems: 'center' }}&gt;&#10;            &lt;Box style={{ width: 36 }} /&gt;&#10;            &lt;Box style={{ width: 360 }} /&gt;&#10;            &lt;Box style={{ width: 180, height: 54, background: '#CB6B28', borderRadius: 8, flexDirection: 'column', justifyContent: 'center', alignItems: 'center', gap: 1 }}&gt;&#10;                &lt;Text style={{ fontSize: 13, color: '#FFFFFF' }}&gt;10:00—10:30&lt;/Text&gt;&#10;                &lt;Text style={{ fontSize: 13, color: '#FFFFFF' }}&gt;已有预约&lt;/Text&gt;&#10;            &lt;/Box&gt;&#10;            &lt;Box style={{ width: 540, paddingLeft: 16, justifyContent: 'center' }}&gt;&#10;                &lt;Text style={{ fontSize: 15, color: '#CB6B28' }}&gt;已被占用，不能安排新活动&lt;/Text&gt;&#10;            &lt;/Box&gt;&#10;            &lt;Box style={{ width: 36 }} /&gt;&#10;        &lt;/Box&gt;&#10;&#10;        &lt;Box style={{ flexDirection: 'row', height: 54, alignItems: 'center' }}&gt;&#10;            &lt;Box style={{ width: 36 }} /&gt;&#10;            &lt;Box style={{ width: 180 }} /&gt;&#10;            &lt;Box style={{ width: 180, height: 54, background: '#26816B', borderRadius: 8, flexDirection: 'column', justifyContent: 'center', alignItems: 'center', gap: 1 }}&gt;&#10;                &lt;Text style={{ fontSize: 13, color: '#FFFFFF' }}&gt;09:30—10:00&lt;/Text&gt;&#10;                &lt;Text style={{ fontSize: 13, color: '#FFFFFF' }}&gt;候选 A&lt;/Text&gt;&#10;            &lt;/Box&gt;&#10;            &lt;Box style={{ width: 720, paddingLeft: 16, justifyContent: 'center' }}&gt;&#10;                &lt;Text style={{ fontSize: 15, color: '#26816B' }}&gt;结束时刻正好等于预约起点，不重叠&lt;/Text&gt;&#10;            &lt;/Box&gt;&#10;            &lt;Box style={{ width: 36 }} /&gt;&#10;        &lt;/Box&gt;&#10;&#10;        &lt;Box style={{ flexDirection: 'row', height: 54, alignItems: 'center' }}&gt;&#10;            &lt;Box style={{ width: 36 }} /&gt;&#10;            &lt;Box style={{ width: 540 }} /&gt;&#10;            &lt;Box style={{ width: 180, height: 54, background: '#26816B', borderRadius: 8, flexDirection: 'column', justifyContent: 'center', alignItems: 'center', gap: 1 }}&gt;&#10;                &lt;Text style={{ fontSize: 13, color: '#FFFFFF' }}&gt;10:30—11:00&lt;/Text&gt;&#10;                &lt;Text style={{ fontSize: 13, color: '#FFFFFF' }}&gt;候选 B&lt;/Text&gt;&#10;            &lt;/Box&gt;&#10;            &lt;Box style={{ width: 360, paddingLeft: 16, justifyContent: 'center' }}&gt;&#10;                &lt;Text style={{ fontSize: 15, color: '#26816B' }}&gt;起点正好等于预约终点&lt;/Text&gt;&#10;            &lt;/Box&gt;&#10;            &lt;Box style={{ width: 36 }} /&gt;&#10;        &lt;/Box&gt;&#10;&#10;        &lt;Box style={{ flexDirection: 'row', height: 100, background: '#F4F7FA', borderRadius: 10, padding: '16px 22px', alignItems: 'center', gap: 24, marginTop: 6 }}&gt;&#10;            &lt;Box style={{ flexDirection: 'row', alignItems: 'center', gap: 14 }}&gt;&#10;                &lt;Box style={{ width: 4, height: 56, background: '#CB6B28' }} /&gt;&#10;                &lt;Text style={{ fontSize: 24, fontWeight: 'bold', color: '#CB6B28' }}&gt;[开始, 结束)&lt;/Text&gt;&#10;            &lt;/Box&gt;&#10;            &lt;Box style={{ width: 1, height: 64, background: '#B5C7D8' }} /&gt;&#10;            &lt;Box style={{ flex: 1, flexDirection: 'column', gap: 5 }}&gt;&#10;                &lt;Text style={{ fontSize: 15, color: '#20344B', lineHeight: 1.6 }}&gt;左闭右开：10:30 结束的预约，与 10:30 开始的活动不重叠。&lt;/Text&gt;&#10;                &lt;Text style={{ fontSize: 15, color: '#546779', lineHeight: 1.6 }}&gt;把两个区间放到同一条时间轴上，看有没有交集——这是校验器要写死的规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57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统一材料，才能比较结果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时间区间是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[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开始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结束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952500" y="18954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3952875" y="18954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5667375" y="18954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381875" y="18954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11:00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0382250" y="1895475"/>
            <a:ext cx="8572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12:00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952500" y="2257425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104900" y="2400300"/>
            <a:ext cx="1013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手作室开放时间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09:00 — 12:00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4381500" y="2809875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848225" y="29146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10:00—10:30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4991100" y="3076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248400" y="2981325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已被占用，不能安排新活动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2667000" y="3419475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133725" y="35242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09:30—10:00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3343275" y="36861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候选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4533900" y="3590925"/>
            <a:ext cx="670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结束时刻正好等于预约起点，不重叠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096000" y="4029075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562725" y="41338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10:30—11:00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772275" y="42957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候选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7962900" y="420052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起点正好等于预约终点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9600" y="46958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819150" y="49053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1228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>[</a:t>
            </a: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开始</a:t>
            </a: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结束</a:t>
            </a: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2447925" y="4867275"/>
            <a:ext cx="9525" cy="6096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2686050" y="4876800"/>
            <a:ext cx="868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左闭右开：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10:30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结束的预约，与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开始的活动不重叠。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686050" y="5200650"/>
            <a:ext cx="868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把两个区间放到同一条时间轴上，看有没有交集——这是校验器要写死的规则。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notes={`接下来动手。不过在装东西之前，先把三件事说清楚。&#10;&#10;第一，这部分示例是独立的。它不依赖 GenerativeAgentsCN 产品运行，不需要启动 Studio，也不会去改项目的数据库。读者在自己的电脑上就能完整跑一遍。&#10;&#10;第二，前置要求不高。你需要会保存文件、会打开终端，能看懂变量、函数和列表这些 Python 基础语法就够了。解释器用 Python 3.11 或者更新的版本。&#10;&#10;第三，这一节带的本地校验器和基础离线测试，不需要模型密钥就能跑。这一点很重要——它意味着我们可以先把程序逻辑验证完，再去处理需要联网和收费的部分。需要联网的部分放到后面，MCP 这类可选扩展的额外依赖则留到 2.6 再装。&#10;&#10;先把不花钱、不联网的部分跑通，是排查问题时最省力的一步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1.3&lt;/Text&gt;&#10;        &lt;/Box&gt;&#10;&#10;        &lt;Text style={{ fontSize: 56, fontWeight: 'bold', color: '#20344B', lineHeight: 1.15 }}&gt;安装独立的 Python 环境&lt;/Text&gt;&#10;&#10;        &lt;Box style={{ width: 640, height: 4, background: '#276FBF' }} /&gt;&#10;&#10;        &lt;Text style={{ fontSize: 19, color: '#546779', lineHeight: 1.7 }}&gt;示例独立于产品运行，不需要启动 Studio，也不改项目数据库。&lt;/Text&gt;&#10;&#10;        &lt;Box style={{ marginTop: 8, flexDirection: 'column', alignItems: 'center', gap: 10 }}&gt;&#10;&#10;            &lt;Box style={{ width: 760, height: 56, flexDirection: 'row', alignItems: 'center', gap: 14 }}&gt;&#10;                &lt;Box style={{ width: 4, height: 40, background: '#276FBF' }} /&gt;&#10;                &lt;Box style={{ flex: 1, flexDirection: 'column', gap: 2 }}&gt;&#10;                    &lt;Text style={{ fontSize: 17, fontWeight: 'bold', color: '#20344B' }}&gt;独立于产品运行&lt;/Text&gt;&#10;                    &lt;Text style={{ fontSize: 14, color: '#546779' }}&gt;不需要启动 Studio，也不修改项目数据库&lt;/Text&gt;&#10;                &lt;/Box&gt;&#10;            &lt;/Box&gt;&#10;&#10;            &lt;Box style={{ width: 760, height: 56, flexDirection: 'row', alignItems: 'center', gap: 14 }}&gt;&#10;                &lt;Box style={{ width: 4, height: 40, background: '#276FBF' }} /&gt;&#10;                &lt;Box style={{ flex: 1, flexDirection: 'column', gap: 2 }}&gt;&#10;                    &lt;Text style={{ fontSize: 17, fontWeight: 'bold', color: '#20344B' }}&gt;前置条件&lt;/Text&gt;&#10;                    &lt;Text style={{ fontSize: 14, color: '#546779' }}&gt;Python 3.11 或更新版本；会保存文件、打开终端、读懂基本语法&lt;/Text&gt;&#10;                &lt;/Box&gt;&#10;            &lt;/Box&gt;&#10;&#10;            &lt;Box style={{ width: 760, height: 56, flexDirection: 'row', alignItems: 'center', gap: 14 }}&gt;&#10;                &lt;Box style={{ width: 4, height: 40, background: '#26816B' }} /&gt;&#10;                &lt;Box style={{ flex: 1, flexDirection: 'column', gap: 2 }}&gt;&#10;                    &lt;Text style={{ fontSize: 17, fontWeight: 'bold', color: '#26816B' }}&gt;离线也能跑&lt;/Text&gt;&#10;                    &lt;Text style={{ fontSize: 14, color: '#546779' }}&gt;本地校验器与基础离线测试不要求模型密钥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6096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7143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295400" y="7810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2.1.3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安装独立的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09600" y="22669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示例独立于产品运行，不需要启动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Studio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，也不改项目数据库。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2476500" y="32099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647950" y="3209925"/>
            <a:ext cx="706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独立于产品运行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647950" y="3429000"/>
            <a:ext cx="706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不需要启动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Studio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，也不修改项目数据库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2476500" y="38385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647950" y="3838575"/>
            <a:ext cx="706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前置条件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2647950" y="4057650"/>
            <a:ext cx="706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Python 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或更新版本；会保存文件、打开终端、读懂基本语法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2476500" y="446722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647950" y="4467225"/>
            <a:ext cx="706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离线也能跑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647950" y="4686300"/>
            <a:ext cx="706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本地校验器与基础离线测试不要求模型密钥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8" name="" descr="&lt;Slide notes={`环境用五条命令搭起来。我按顺序说一遍。&#10;&#10;第一条是切到示例目录，也就是 examples 这一层。这条命令里的路径是按本仓库的位置写的，你的仓库放在别处，只需要改这一行的路径。&#10;&#10;第二条看 Python 版本，确认它是 3.11 或者更新的。&#10;&#10;第三条建虚拟环境，把依赖装在这个环境里，不污染系统里其他项目。&#10;&#10;第四条用这个环境里的 python 去安装 requirements 里声明的依赖。&#10;&#10;第五条跑离线测试，确认代码本身没有问题。&#10;&#10;有一个细节要提醒：为了避免激活脚本的执行策略问题，我直接调用虚拟环境里的 python，而不是先激活它。后文为了读起来顺，统一写成 python；如果没有激活虚拟环境，你把它换成 .venv 里的那个解释器就行。在 macOS 或 Linux 上，对应的是 .venv/bin/python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3　安装独立的 Python 环境&lt;/Text&gt;&#10;            &lt;Text style={{ fontSize: 34, fontWeight: 'bold', color: '#20344B' }}&gt;五条命令搭起一个干净环境&lt;/Text&gt;&#10;        &lt;/Box&gt;&#10;    &lt;/Box&gt;&#10;&#10;    &lt;Box style={{ height: 540, flexDirection: 'row', justifyContent: 'center', alignItems: 'center', gap: 32 }}&gt;&#10;&#10;        &lt;Box style={{ width: 400, flexDirection: 'column', gap: 16 }}&gt;&#10;            &lt;Text style={{ fontSize: 24, fontWeight: 'bold', color: '#276FBF', lineHeight: 1.45 }}&gt;顺序固定，路径只改第一行&lt;/Text&gt;&#10;            &lt;Box style={{ width: 56, height: 3, background: '#26816B' }} /&gt;&#10;            &lt;Text style={{ fontSize: 16, color: '#546779', lineHeight: 1.75 }}&gt;仓库放在其他位置时，只需要改第一条命令里的路径。依赖装进虚拟环境，不会影响系统里的其他项目。&lt;/Text&gt;&#10;            &lt;Box style={{ background: '#FFF4E6', borderRadius: 10, padding: '16px 18px', flexDirection: 'column', gap: 6 }}&gt;&#10;                &lt;Text style={{ fontSize: 15, fontWeight: 'bold', color: '#CB6B28' }}&gt;不必先激活虚拟环境&lt;/Text&gt;&#10;                &lt;Text style={{ fontSize: 14, color: '#546779', lineHeight: 1.6 }}&gt;直接调用其中的 python，可以绕开激活脚本的执行策略问题。&lt;/Text&gt;&#10;            &lt;/Box&gt;&#10;            &lt;Text style={{ fontSize: 14, color: '#546779', lineHeight: 1.65 }}&gt;macOS 或 Linux 上，解释器通常是 .venv/bin/python。&lt;/Text&gt;&#10;        &lt;/Box&gt;&#10;&#10;        &lt;Box style={{ width: 720, flexDirection: 'column', gap: 6 }}&gt;&#10;            &lt;Box style={{ background: '#F4F7FA', borderRadius: 10, padding: '20px 22px', flexDirection: 'column', gap: 6 }}&gt;&#10;                &lt;Text style={{ fontSize: 14, fontFamily: 'Consolas', color: '#546779' }}&gt;# Windows PowerShell　仓库位置不同时只改这一行&lt;/Text&gt;&#10;                &lt;Text style={{ fontSize: 14, fontFamily: 'Consolas', color: '#20344B' }}&gt;Set-Location -LiteralPath 'E:\GenerativeAgentsCN\docs\book\chapter 02\examples'&lt;/Text&gt;&#10;                &lt;Text style={{ fontSize: 14, fontFamily: 'Consolas', color: '#20344B' }}&gt;python --version&lt;/Text&gt;&#10;                &lt;Text style={{ fontSize: 14, fontFamily: 'Consolas', color: '#20344B' }}&gt;python -m venv .venv&lt;/Text&gt;&#10;                &lt;Text style={{ fontSize: 14, fontFamily: 'Consolas', color: '#20344B' }}&gt;.\.venv\Scripts\python.exe -m pip install -r requirements.txt&lt;/Text&gt;&#10;                &lt;Text style={{ fontSize: 14, fontFamily: 'Consolas', color: '#20344B' }}&gt;.\.venv\Scripts\python.exe -m unittest discover -s tests -v&lt;/Text&gt;&#10;            &lt;/Box&gt;&#10;            &lt;Box style={{ flexDirection: 'row', alignItems: 'center', gap: 12, background: '#EDF4FC', borderRadius: 10, padding: '14px 18px' }}&gt;&#10;                &lt;Box style={{ width: 4, height: 40, background: '#276FBF' }} /&gt;&#10;                &lt;Box style={{ flex: 1, flexDirection: 'column', gap: 3 }}&gt;&#10;                    &lt;Text style={{ fontSize: 15, fontWeight: 'bold', color: '#276FBF' }}&gt;后文统一写 python&lt;/Text&gt;&#10;                    &lt;Text style={{ fontSize: 14, color: '#546779' }}&gt;未激活虚拟环境时，替换为 .\.venv\Scripts\python.exe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安装独立的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五条命令搭起一个干净环境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38100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顺序固定，路径只改第一行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27717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3810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仓库放在其他位置时，只需要改第一条命令里的路径。依赖装进虚拟环境，不会影响系统里的其他项目。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3752850"/>
            <a:ext cx="38100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不必先激活虚拟环境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81050" y="4133850"/>
            <a:ext cx="3467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直接调用其中的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，可以绕开激活脚本的执行策略问题。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4953000"/>
            <a:ext cx="38100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macOS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Linux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上，解释器通常是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.venv/bin/python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724400" y="2543175"/>
            <a:ext cx="6858000" cy="1638300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933950" y="2733675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># Windows PowerShell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　仓库位置不同时只改这一行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933950" y="295275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Set-Location -LiteralPath 'E:\GenerativeAgentsCN\docs\book\chapter 02\examples'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933950" y="3171825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python --version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933950" y="339090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python -m venv .venv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933950" y="3609975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.\.venv\Scripts\python.exe -m pip install -r requirements.txt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933950" y="382905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.\.venv\Scripts\python.exe -m unittest discover -s tests -v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724400" y="4238625"/>
            <a:ext cx="68580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4895850" y="4371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048250" y="4381500"/>
            <a:ext cx="636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后文统一写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python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048250" y="4581525"/>
            <a:ext cx="636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未激活虚拟环境时，替换为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.\.venv\Scripts\python.exe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notes={`环境装好之后，先不要急着去调模型。先用人工写好的参考答案，确认环境本身没有问题。&#10;&#10;命令是这样的：运行 validate_schedule.py，输入 fixtures 目录下的 valid-schedule.json，把结果写到 output 目录的 reference-check.json。&#10;&#10;跑完要看退出码。退出码是 0，说明这份参考排期通过了已经编码进去的业务约束——容量够、时间在开放区间内、没有和已有预约冲突。&#10;&#10;这里有一点必须讲清楚：这份文件是教材作者编写的，它不是某个模型的运行成绩。它验证的是校验器的逻辑，不是模型的能力。&#10;&#10;然后再跑一遍 invalid-schedule.json。这一次你应该看到具体的错误说明，以及一个非零的退出码。&#10;&#10;先能稳定地拿到&quot;通过&quot;和&quot;不通过&quot;两种结果，后面接上模型时，你才有把握判断问题出在模型还是出在程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3　安装独立的 Python 环境&lt;/Text&gt;&#10;            &lt;Text style={{ fontSize: 34, fontWeight: 'bold', color: '#20344B' }}&gt;先跑人工参考答案&lt;/Text&gt;&#10;        &lt;/Box&gt;&#10;    &lt;/Box&gt;&#10;&#10;    &lt;Box style={{ height: 540, flexDirection: 'row', justifyContent: 'center', alignItems: 'center', gap: 32 }}&gt;&#10;&#10;        &lt;Box style={{ width: 634, flexDirection: 'column', gap: 16 }}&gt;&#10;            &lt;Box style={{ flexDirection: 'row', alignItems: 'center', gap: 12 }}&gt;&#10;                &lt;Box style={{ width: 4, height: 22, background: '#276FBF' }} /&gt;&#10;                &lt;Text style={{ fontSize: 20, fontWeight: 'bold', color: '#20344B' }}&gt;确认环境本身没有问题&lt;/Text&gt;&#10;            &lt;/Box&gt;&#10;            &lt;Box style={{ background: '#F4F7FA', borderRadius: 10, padding: '20px 22px', flexDirection: 'column', gap: 6 }}&gt;&#10;                &lt;Text style={{ fontSize: 14, fontFamily: 'Consolas', color: '#546779' }}&gt;# 参考排期：应当通过&lt;/Text&gt;&#10;                &lt;Text style={{ fontSize: 14, fontFamily: 'Consolas', color: '#20344B' }}&gt;python validate_schedule.py `&lt;/Text&gt;&#10;                &lt;Text style={{ fontSize: 14, fontFamily: 'Consolas', color: '#20344B' }}&gt;    fixtures/valid-schedule.json --output output/reference-check.json&lt;/Text&gt;&#10;            &lt;/Box&gt;&#10;            &lt;Box style={{ background: '#F4F7FA', borderRadius: 10, padding: '20px 22px', flexDirection: 'column', gap: 6 }}&gt;&#10;                &lt;Text style={{ fontSize: 14, fontFamily: 'Consolas', color: '#546779' }}&gt;# 错误样本：应当报错并返回非零&lt;/Text&gt;&#10;                &lt;Text style={{ fontSize: 14, fontFamily: 'Consolas', color: '#20344B' }}&gt;python validate_schedule.py `&lt;/Text&gt;&#10;                &lt;Text style={{ fontSize: 14, fontFamily: 'Consolas', color: '#20344B' }}&gt;    fixtures/invalid-schedule.json&lt;/Text&gt;&#10;            &lt;/Box&gt;&#10;            &lt;Text style={{ fontSize: 14, color: '#546779', lineHeight: 1.65 }}&gt;完整命令与参数见示例项目运行说明；这一步不联网、不需要模型密钥。&lt;/Text&gt;&#10;        &lt;/Box&gt;&#10;&#10;        &lt;Box style={{ width: 486, flexDirection: 'column', gap: 14 }}&gt;&#10;&#10;            &lt;Box style={{ background: '#ECF7F2', borderRadius: 10, padding: '18px 20px', flexDirection: 'column', gap: 6 }}&gt;&#10;                &lt;Text style={{ fontSize: 20, fontWeight: 'bold', color: '#26816B' }}&gt;退出码 0　通过&lt;/Text&gt;&#10;                &lt;Text style={{ fontSize: 15, color: '#546779', lineHeight: 1.6 }}&gt;参考排期满足已编码的业务约束，说明环境与校验器都正常。&lt;/Text&gt;&#10;            &lt;/Box&gt;&#10;&#10;            &lt;Box style={{ background: '#FFF4E6', borderRadius: 10, padding: '18px 20px', flexDirection: 'column', gap: 6 }}&gt;&#10;                &lt;Text style={{ fontSize: 20, fontWeight: 'bold', color: '#CB6B28' }}&gt;非零退出码　报错&lt;/Text&gt;&#10;                &lt;Text style={{ fontSize: 15, color: '#546779', lineHeight: 1.6 }}&gt;错误样本应给出具体错误与非零退出码；只有&quot;通过&quot;没有&quot;不通过&quot;，校验器等于没验证。&lt;/Text&gt;&#10;            &lt;/Box&gt;&#10;&#10;            &lt;Box style={{ background: '#F7F3E8', borderRadius: 10, padding: '16px 20px', flexDirection: 'column', gap: 6 }}&gt;&#10;                &lt;Text style={{ fontSize: 15, fontWeight: 'bold', color: '#20344B' }}&gt;这份文件不是模型的成绩&lt;/Text&gt;&#10;                &lt;Text style={{ fontSize: 14, color: '#546779', lineHeight: 1.6 }}&gt;排期由教材作者编写，模拟响应用于检查程序逻辑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安装独立的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先跑人工参考答案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2266950"/>
            <a:ext cx="38100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62000" y="225742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确认环境本身没有问题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638425"/>
            <a:ext cx="6038850" cy="981075"/>
          </a:xfrm>
          <a:prstGeom prst="roundRect">
            <a:avLst>
              <a:gd name="adj" fmla="val 97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9150" y="2828925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#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参考排期：应当通过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9150" y="3048000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python validate_schedule.py `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19150" y="3267075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fixtures/valid-schedule.json --output output/reference-check.json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3771900"/>
            <a:ext cx="6038850" cy="981075"/>
          </a:xfrm>
          <a:prstGeom prst="roundRect">
            <a:avLst>
              <a:gd name="adj" fmla="val 97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Consolas"/>
                <a:ea typeface="Consolas"/>
              </a:rPr>
              <a:t xml:space="preserve"># </a:t>
            </a:r>
            <a:r>
              <a:rPr lang="zh-CN" sz="1050">
                <a:solidFill>
                  <a:srgbClr val="546779"/>
                </a:solidFill>
                <a:latin typeface="Consolas"/>
                <a:ea typeface="Consolas"/>
              </a:rPr>
              <a:t>错误样本：应当报错并返回非零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python validate_schedule.py `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19150" y="4400550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fixtures/invalid-schedule.json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4905375"/>
            <a:ext cx="60388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完整命令与参数见示例项目运行说明；这一步不联网、不需要模型密钥。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953250" y="2143125"/>
            <a:ext cx="4629150" cy="904875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143750" y="2314575"/>
            <a:ext cx="424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退出码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　通过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143750" y="2600325"/>
            <a:ext cx="4248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参考排期满足已编码的业务约束，说明环境与校验器都正常。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953250" y="3181350"/>
            <a:ext cx="462915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143750" y="3352800"/>
            <a:ext cx="424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非零退出码　报错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143750" y="3638550"/>
            <a:ext cx="4248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错误样本应给出具体错误与非零退出码；只有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不通过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，校验器等于没验证。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953250" y="4495800"/>
            <a:ext cx="4629150" cy="790575"/>
          </a:xfrm>
          <a:prstGeom prst="roundRect">
            <a:avLst>
              <a:gd name="adj" fmla="val 1204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143750" y="4648200"/>
            <a:ext cx="424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这份文件不是模型的成绩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0" y="4876800"/>
            <a:ext cx="4248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排期由教材作者编写，模拟响应用于检查程序逻辑。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0" name="" descr="&lt;Slide notes={`现在把请求真的发出去。发出之前，有两样东西要分开准备。&#10;&#10;第一样是 API Key，它负责认证——你是谁，你有没有权限。第二样是模型名称，它负责选型——这一次要请哪个模型来做事。&#10;&#10;很多人会把这两件事混在一起，觉得&quot;我有 Key 就什么都能调&quot;。其实不是。同一个 Key，能调用哪些模型、能不能用某些参数，取决于这个 Key 所属项目开通了什么。&#10;&#10;所以顺序是：先在账户里确认目标模型可用、支持 Responses 接口、也支持这一节要用的文本输入，然后再把模型 ID 写进环境变量。写进去之前还要确认一件事——这个名字必须替换成你自己账户里真实可用的。&#10;&#10;这两样分开准备、分开记录，后面出错时才知道该查哪一边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6816B', justifyContent: 'center', alignItems: 'center' }}&gt;&#10;                &lt;Text style={{ fontSize: 28, fontWeight: 'bold', color: '#FFFFFF' }}&gt;04&lt;/Text&gt;&#10;            &lt;/Box&gt;&#10;            &lt;Text style={{ fontSize: 16, color: '#546779' }}&gt;2.1.4&lt;/Text&gt;&#10;        &lt;/Box&gt;&#10;&#10;        &lt;Text style={{ fontSize: 56, fontWeight: 'bold', color: '#20344B', lineHeight: 1.15 }}&gt;配置 API，再执行最小调用&lt;/Text&gt;&#10;&#10;        &lt;Box style={{ width: 640, height: 4, background: '#26816B' }} /&gt;&#10;&#10;        &lt;Text style={{ fontSize: 19, color: '#546779', lineHeight: 1.7 }}&gt;密钥管认证，模型名管选型，两件事分开准备。&lt;/Text&gt;&#10;&#10;        &lt;Box style={{ marginTop: 8, flexDirection: 'column', alignItems: 'center', gap: 12 }}&gt;&#10;&#10;            &lt;Box style={{ flexDirection: 'row', justifyContent: 'center', gap: 16 }}&gt;&#10;                &lt;Box style={{ width: 320, height: 60, background: '#EDF4FC', borderRadius: 8, flexDirection: 'column', justifyContent: 'center', alignItems: 'center', gap: 2 }}&gt;&#10;                    &lt;Text style={{ fontSize: 17, fontWeight: 'bold', color: '#276FBF' }}&gt;API Key　用于认证&lt;/Text&gt;&#10;                    &lt;Text style={{ fontSize: 14, color: '#546779' }}&gt;所属项目与账户权限决定能调用什么&lt;/Text&gt;&#10;                &lt;/Box&gt;&#10;                &lt;Box style={{ width: 320, height: 60, background: '#EDF4FC', borderRadius: 8, flexDirection: 'column', justifyContent: 'center', alignItems: 'center', gap: 2 }}&gt;&#10;                    &lt;Text style={{ fontSize: 17, fontWeight: 'bold', color: '#276FBF' }}&gt;模型名称　用于选型&lt;/Text&gt;&#10;                    &lt;Text style={{ fontSize: 14, color: '#546779' }}&gt;必须是账户可用且支持所需能力的 ID&lt;/Text&gt;&#10;                &lt;/Box&gt;&#10;            &lt;/Box&gt;&#10;&#10;            &lt;Box style={{ width: 44, height: 26, justifyContent: 'center', alignItems: 'center' }}&gt;&lt;Text style={{ fontSize: 18, color: '#26816B' }}&gt;↓&lt;/Text&gt;&lt;/Box&gt;&#10;&#10;            &lt;Box style={{ width: 656, height: 60, background: '#ECF7F2', borderRadius: 8, justifyContent: 'center', alignItems: 'center' }}&gt;&#10;                &lt;Text style={{ fontSize: 17, fontWeight: 'bold', color: '#26816B' }}&gt;一次可以保存下来作为证据的最小调用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609600" y="6953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4375" y="800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295400" y="8667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2.1.4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14192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配置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，再执行最小调用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2352675"/>
            <a:ext cx="60960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密钥管认证，模型名管选型，两件事分开准备。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2971800" y="3219450"/>
            <a:ext cx="30480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781425" y="3314700"/>
            <a:ext cx="1438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API Key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用于认证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429000" y="35337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所属项目与账户权限决定能调用什么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172200" y="3219450"/>
            <a:ext cx="30480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972300" y="3314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模型名称　用于选型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610350" y="35337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必须是账户可用且支持所需能力的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2971800" y="4267200"/>
            <a:ext cx="62484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724400" y="44577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一次可以保存下来作为证据的最小调用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9" name="" descr="&lt;Slide notes={`先看怎么把密钥安全地放进环境变量，而不是写进代码。&#10;&#10;第一行用 Read-Host 读取你输入的 Key，并且加上 AsSecureString，这样终端不会把密钥回显出来。第二行把它转成普通字符串交给环境变量。&#10;&#10;第三行是模型名。这里放的是一个明确的占位值，必须替换。之所以用占位而不是直接给一个名字，是因为&quot;哪本书推荐哪个模型&quot;这种说法很快会过期，而模型能力也随账户不同而不同。&#10;&#10;最后运行脚本，发出第一次请求。&#10;&#10;还有一条纪律：不要把密钥粘贴进书稿、提示词、代码或者任何要共享的结果里。环境变量只保留在当前这个终端进程里，练习结束以后可以用 Remove-Item 把它清掉。养成这个习惯，比记住任何一条命令都重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4　配置 API，再执行最小调用&lt;/Text&gt;&#10;            &lt;Text style={{ fontSize: 34, fontWeight: 'bold', color: '#20344B' }}&gt;密钥与模型名分开准备&lt;/Text&gt;&#10;        &lt;/Box&gt;&#10;    &lt;/Box&gt;&#10;&#10;    &lt;Box style={{ height: 540, flexDirection: 'row', justifyContent: 'center', alignItems: 'center', gap: 32 }}&gt;&#10;&#10;        &lt;Box style={{ width: 380, flexDirection: 'column', gap: 12 }}&gt;&#10;&#10;            &lt;Box style={{ flexDirection: 'row', gap: 12, alignItems: 'center' }}&gt;&#10;                &lt;Box style={{ width: 3, height: 46, background: '#276FBF' }} /&gt;&#10;                &lt;Box style={{ flex: 1, flexDirection: 'column', gap: 2 }}&gt;&#10;                    &lt;Text style={{ fontSize: 16, fontWeight: 'bold', color: '#20344B' }}&gt;不回显地输入密钥&lt;/Text&gt;&#10;                    &lt;Text style={{ fontSize: 14, color: '#546779', lineHeight: 1.5 }}&gt;AsSecureString 让终端不显示输入内容&lt;/Text&gt;&#10;                &lt;/Box&gt;&#10;            &lt;/Box&gt;&#10;&#10;            &lt;Box style={{ flexDirection: 'row', gap: 12, alignItems: 'center' }}&gt;&#10;                &lt;Box style={{ width: 3, height: 46, background: '#276FBF' }} /&gt;&#10;                &lt;Box style={{ flex: 1, flexDirection: 'column', gap: 2 }}&gt;&#10;                    &lt;Text style={{ fontSize: 16, fontWeight: 'bold', color: '#20344B' }}&gt;模型名是占位值&lt;/Text&gt;&#10;                    &lt;Text style={{ fontSize: 14, color: '#546779', lineHeight: 1.5 }}&gt;必须替换成账户里可用、支持所需能力的 ID&lt;/Text&gt;&#10;                &lt;/Box&gt;&#10;            &lt;/Box&gt;&#10;&#10;            &lt;Box style={{ flexDirection: 'row', gap: 12, alignItems: 'center' }}&gt;&#10;                &lt;Box style={{ width: 3, height: 46, background: '#276FBF' }} /&gt;&#10;                &lt;Box style={{ flex: 1, flexDirection: 'column', gap: 2 }}&gt;&#10;                    &lt;Text style={{ fontSize: 16, fontWeight: 'bold', color: '#20344B' }}&gt;变量只在当前进程&lt;/Text&gt;&#10;                    &lt;Text style={{ fontSize: 14, color: '#546779', lineHeight: 1.5 }}&gt;练习结束可清除当前终端里的设置&lt;/Text&gt;&#10;                &lt;/Box&gt;&#10;            &lt;/Box&gt;&#10;&#10;            &lt;Box style={{ background: '#FFF4E6', borderRadius: 10, padding: '14px 18px', marginTop: 4 }}&gt;&#10;                &lt;Text style={{ fontSize: 15, color: '#CB6B28', lineHeight: 1.6 }}&gt;不要把密钥粘贴进书稿、提示词、代码或共享结果。&lt;/Text&gt;&#10;            &lt;/Box&gt;&#10;&#10;        &lt;/Box&gt;&#10;&#10;        &lt;Box style={{ width: 740, flexDirection: 'column', gap: 14 }}&gt;&#10;&#10;            &lt;Box style={{ background: '#F4F7FA', borderRadius: 10, padding: '20px 22px', flexDirection: 'column', gap: 6 }}&gt;&#10;                &lt;Text style={{ fontSize: 13, fontFamily: 'Consolas', color: '#546779' }}&gt;# 在账户中确认模型可用后，再写入环境变量&lt;/Text&gt;&#10;                &lt;Text style={{ fontSize: 13, fontFamily: 'Consolas', color: '#20344B' }}&gt;$bookApiKey = Read-Host '输入本次练习的 OpenAI API Key' -AsSecureString&lt;/Text&gt;&#10;                &lt;Text style={{ fontSize: 13, fontFamily: 'Consolas', color: '#20344B' }}&gt;$env:OPENAI_API_KEY = [System.Net.NetworkCredential]::new('', $bookApiKey).Password&lt;/Text&gt;&#10;                &lt;Text style={{ fontSize: 13, fontFamily: 'Consolas', color: '#CB6B28' }}&gt;$env:OPENAI_MODEL = '替换为账户可用且支持所需能力的模型ID'&lt;/Text&gt;&#10;                &lt;Text style={{ fontSize: 13, fontFamily: 'Consolas', color: '#20344B' }}&gt;python first_response.py&lt;/Text&gt;&#10;            &lt;/Box&gt;&#10;&#10;            &lt;Box style={{ flexDirection: 'row', alignItems: 'center', gap: 14, background: '#EDF4FC', borderRadius: 10, padding: '14px 20px' }}&gt;&#10;                &lt;Box style={{ width: 4, height: 44, background: '#276FBF' }} /&gt;&#10;                &lt;Box style={{ flex: 1, flexDirection: 'column', gap: 3 }}&gt;&#10;                    &lt;Text style={{ fontSize: 15, fontFamily: 'Consolas', color: '#276FBF' }}&gt;Remove-Item Env:OPENAI_API_KEY&lt;/Text&gt;&#10;                    &lt;Text style={{ fontSize: 14, color: '#546779' }}&gt;练习结束后清除当前终端里的设置，避免被后续脚本误用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配置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，再执行最小调用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密钥与模型名分开准备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2438400"/>
            <a:ext cx="28575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52475" y="2428875"/>
            <a:ext cx="3476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不回显地输入密钥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52475" y="2638425"/>
            <a:ext cx="3476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AsSecureString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让终端不显示输入内容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3009900"/>
            <a:ext cx="28575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52475" y="3000375"/>
            <a:ext cx="3476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模型名是占位值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52475" y="3209925"/>
            <a:ext cx="3476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必须替换成账户里可用、支持所需能力的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3581400"/>
            <a:ext cx="28575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52475" y="3571875"/>
            <a:ext cx="3476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变量只在当前进程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52475" y="3781425"/>
            <a:ext cx="3476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练习结束可清除当前终端里的设置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4181475"/>
            <a:ext cx="36195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81050" y="4314825"/>
            <a:ext cx="3276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不要把密钥粘贴进书稿、提示词、代码或共享结果。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533900" y="2619375"/>
            <a:ext cx="7048500" cy="1371600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743450" y="2809875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# 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在账户中确认模型可用后，再写入环境变量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743450" y="3019425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$bookApiKey = Read-Host '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输入本次练习的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 xml:space="preserve"> OpenAI API Key' -AsSecureString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743450" y="3228975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$env:OPENAI_API_KEY = [System.Net.NetworkCredential]::new('', $bookApiKey).Password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743450" y="3438525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>$env:OPENAI_MODEL = '</a:t>
            </a:r>
            <a:r>
              <a:rPr lang="zh-CN" sz="975">
                <a:solidFill>
                  <a:srgbClr val="CB6B28"/>
                </a:solidFill>
                <a:latin typeface="Consolas"/>
                <a:ea typeface="Consolas"/>
              </a:rPr>
              <a:t>替换为账户可用且支持所需能力的模型</a:t>
            </a: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>ID'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743450" y="3648075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python first_response.py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533900" y="4124325"/>
            <a:ext cx="70485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724400" y="42576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895850" y="4286250"/>
            <a:ext cx="649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Remove-Item Env:OPENAI_API_KEY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895850" y="4486275"/>
            <a:ext cx="649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练习结束后清除当前终端里的设置，避免被后续脚本误用。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notes={`这一段是本章最核心的一次调用，我逐行说清楚。&#10;&#10;前面两行是导入。client 这一行有两个参数值得注意：timeout 设成 45 秒，max_retries 设成 0。关闭 SDK 的自动重试是故意的——第一次调试时，我宁愿看到最原始的那一次错误，也不愿意被重试掩盖掉真正的失败原因。&#10;&#10;然后是 responses.create，它接收三样东西。&#10;&#10;model 来自环境变量，决定用哪个模型。&#10;&#10;instructions 是本次行为要求。这里写的是&quot;你是活动筹备助手，资料不足时明确说明，不编造预约事实&quot;。注意这句话不是客套，它是一条明确的约束。&#10;&#10;input 是本次任务内容，也就是列出安排开放日需要确认的五类信息。&#10;&#10;最后两行打印结果。output_text 方便我们读文本，usage 用来看实际用量。完整脚本还会检查响应状态并保存返回内容，避免把拒绝、中断或者空输出当成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4　配置 API，再执行最小调用&lt;/Text&gt;&#10;            &lt;Text style={{ fontSize: 34, fontWeight: 'bold', color: '#20344B' }}&gt;最小调用的四个要素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4, height: 20, background: '#CB6B28' }} /&gt;&#10;            &lt;Text style={{ fontSize: 15, color: '#CB6B28' }}&gt;示例关闭 SDK 自动重试，让最初的错误更容易定位。&lt;/Text&gt;&#10;        &lt;/Box&gt;&#10;&#10;        &lt;Box style={{ background: '#F4F7FA', borderRadius: 10, padding: '18px 24px', flexDirection: 'column', gap: 4 }}&gt;&#10;            &lt;Text style={{ fontSize: 13, fontFamily: 'Consolas', color: '#20344B' }}&gt;import os&lt;/Text&gt;&#10;            &lt;Text style={{ fontSize: 13, fontFamily: 'Consolas', color: '#20344B' }}&gt;from openai import OpenAI&lt;/Text&gt;&#10;            &lt;Text style={{ fontSize: 13, fontFamily: 'Consolas', color: '#546779' }}&gt;client = OpenAI(timeout=45.0, max_retries=0)&lt;/Text&gt;&#10;            &lt;Text style={{ fontSize: 13, fontFamily: 'Consolas', color: '#20344B' }}&gt;response = client.responses.create(&lt;/Text&gt;&#10;            &lt;Text style={{ fontSize: 13, fontFamily: 'Consolas', color: '#276FBF' }}&gt;    model=os.environ['OPENAI_MODEL'],&lt;/Text&gt;&#10;            &lt;Text style={{ fontSize: 13, fontFamily: 'Consolas', color: '#276FBF' }}&gt;    instructions='你是活动筹备助手。资料不足时明确说明，不编造预约事实。',&lt;/Text&gt;&#10;            &lt;Text style={{ fontSize: 13, fontFamily: 'Consolas', color: '#276FBF' }}&gt;    input='请列出为社区学习中心安排开放日需要确认的五类信息。',&lt;/Text&gt;&#10;            &lt;Text style={{ fontSize: 13, fontFamily: 'Consolas', color: '#20344B' }}&gt;)&lt;/Text&gt;&#10;            &lt;Text style={{ fontSize: 13, fontFamily: 'Consolas', color: '#26816B' }}&gt;print(response.output_text)&lt;/Text&gt;&#10;            &lt;Text style={{ fontSize: 13, fontFamily: 'Consolas', color: '#26816B' }}&gt;print(response.usage)&lt;/Text&gt;&#10;        &lt;/Box&gt;&#10;&#10;        &lt;Box style={{ flexDirection: 'row', gap: 20 }}&gt;&#10;&#10;            &lt;Box style={{ width: 273, height: 150, background: '#EDF4FC', borderRadius: 10, padding: '16px 18px', flexDirection: 'column', gap: 6 }}&gt;&#10;                &lt;Text style={{ fontSize: 20, fontWeight: 'bold', color: '#276FBF' }}&gt;model&lt;/Text&gt;&#10;                &lt;Text style={{ fontSize: 14, color: '#546779', lineHeight: 1.55 }}&gt;这次用哪个模型，取自 OPENAI_MODEL 环境变量。&lt;/Text&gt;&#10;            &lt;/Box&gt;&#10;&#10;            &lt;Box style={{ width: 273, height: 150, background: '#EDF4FC', borderRadius: 10, padding: '16px 18px', flexDirection: 'column', gap: 6 }}&gt;&#10;                &lt;Text style={{ fontSize: 20, fontWeight: 'bold', color: '#276FBF' }}&gt;instructions&lt;/Text&gt;&#10;                &lt;Text style={{ fontSize: 14, color: '#546779', lineHeight: 1.55 }}&gt;本次行为要求：资料不足时明确说明，不编造预约事实。&lt;/Text&gt;&#10;            &lt;/Box&gt;&#10;&#10;            &lt;Box style={{ width: 273, height: 150, background: '#EDF4FC', borderRadius: 10, padding: '16px 18px', flexDirection: 'column', gap: 6 }}&gt;&#10;                &lt;Text style={{ fontSize: 20, fontWeight: 'bold', color: '#276FBF' }}&gt;input&lt;/Text&gt;&#10;                &lt;Text style={{ fontSize: 14, color: '#546779', lineHeight: 1.55 }}&gt;本次任务内容：列出需要确认的五类信息。&lt;/Text&gt;&#10;            &lt;/Box&gt;&#10;&#10;            &lt;Box style={{ width: 273, height: 150, background: '#ECF7F2', borderRadius: 10, padding: '16px 18px', flexDirection: 'column', gap: 6 }}&gt;&#10;                &lt;Text style={{ fontSize: 20, fontWeight: 'bold', color: '#26816B' }}&gt;usage&lt;/Text&gt;&#10;                &lt;Text style={{ fontSize: 14, color: '#546779', lineHeight: 1.55 }}&gt;观察实际用量；响应还带状态与工具项，后续章节展开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配置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，再执行最小调用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最小调用的四个要素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1666875"/>
            <a:ext cx="38100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62000" y="1676400"/>
            <a:ext cx="3371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示例关闭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SDK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自动重试，让最初的错误更容易定位。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1990725"/>
            <a:ext cx="109728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21621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import os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23526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from openai import OpenAI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25431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client = OpenAI(timeout=45.0, max_retries=0)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8200" y="27336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response = client.responses.create(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29241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model=os.environ['OPENAI_MODEL'],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38200" y="31146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instructions='</a:t>
            </a:r>
            <a:r>
              <a:rPr lang="zh-CN" sz="975">
                <a:solidFill>
                  <a:srgbClr val="276FBF"/>
                </a:solidFill>
                <a:latin typeface="Consolas"/>
                <a:ea typeface="Consolas"/>
              </a:rPr>
              <a:t>你是活动筹备助手。资料不足时明确说明，不编造预约事实。</a:t>
            </a: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',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3051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 xml:space="preserve">    input='</a:t>
            </a:r>
            <a:r>
              <a:rPr lang="zh-CN" sz="975">
                <a:solidFill>
                  <a:srgbClr val="276FBF"/>
                </a:solidFill>
                <a:latin typeface="Consolas"/>
                <a:ea typeface="Consolas"/>
              </a:rPr>
              <a:t>请列出为社区学习中心安排开放日需要确认的五类信息。</a:t>
            </a:r>
            <a:r>
              <a:rPr lang="en-US" sz="975">
                <a:solidFill>
                  <a:srgbClr val="276FBF"/>
                </a:solidFill>
                <a:latin typeface="Consolas"/>
                <a:ea typeface="Consolas"/>
              </a:rPr>
              <a:t>',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34956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36861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>print(response.output_text)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3876675"/>
            <a:ext cx="1051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>print(response.usage)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4333875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model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这次用哪个模型，取自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OPENAI_MODEL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环境变量。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400425" y="4333875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571875" y="44862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instructions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571875" y="4772025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本次行为要求：资料不足时明确说明，不编造预约事实。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191250" y="4333875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362700" y="44862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input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362700" y="4772025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本次任务内容：列出需要确认的五类信息。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982075" y="4333875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153525" y="44862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usage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153525" y="4772025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观察实际用量；响应还带状态与工具项，后续章节展开。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notes={`脚本里的模型名是一个明确的占位值，这一点必须强调：它不能原样跑。你要把它换成自己账户里真实可用的 ID。&#10;&#10;为什么书中不给一个具体的名字？因为给了就容易误解成&quot;这就是最好的那个&quot;。这本书没有为读者锁定一个永久最佳的模型。模型在更新，产品在换，推荐很快会过期。&#10;&#10;正确的做法是：每次练习时记录下实际请求用的名字和返回里的名字，然后按练习逐项去确认能力。比如结构化输出、工具调用、图像输入，这些能力不是所有模型都有，要一项一项试。&#10;&#10;最后一个提醒也最重要：相同的 API 入口，不代表所有模型都支持相同的参数。你换了一个模型，参数可能就不被接受了。&#10;&#10;所以遇到&quot;参数不支持&quot;的报错，先别怀疑网络，回头核对模型能力，或者调整参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4　配置 API，再执行最小调用&lt;/Text&gt;&#10;            &lt;Text style={{ fontSize: 34, fontWeight: 'bold', color: '#20344B' }}&gt;模型名称必须替换&lt;/Text&gt;&#10;        &lt;/Box&gt;&#10;    &lt;/Box&gt;&#10;&#10;    &lt;Box style={{ height: 540, flexDirection: 'row', justifyContent: 'center', alignItems: 'center', gap: 32 }}&gt;&#10;&#10;        &lt;Box style={{ width: 420, flexDirection: 'column', gap: 16 }}&gt;&#10;            &lt;Text style={{ fontSize: 24, fontWeight: 'bold', color: '#276FBF', lineHeight: 1.45 }}&gt;没有永久最佳的模型&lt;/Text&gt;&#10;            &lt;Box style={{ width: 56, height: 3, background: '#26816B' }} /&gt;&#10;            &lt;Text style={{ fontSize: 16, color: '#546779', lineHeight: 1.75 }}&gt;本书不推荐一个固定的模型名。选择时看的是：它在你的账户里可用，并且支持这次练习需要的能力。&lt;/Text&gt;&#10;            &lt;Box style={{ background: '#F7F3E8', borderRadius: 10, padding: '16px 18px' }}&gt;&#10;                &lt;Text style={{ fontSize: 14, color: '#546779', lineHeight: 1.65 }}&gt;环境变量里的占位字符串只是提醒，原样运行不会被接受。&lt;/Text&gt;&#10;            &lt;/Box&gt;&#10;        &lt;/Box&gt;&#10;&#10;        &lt;Box style={{ width: 700, flexDirection: 'column', gap: 12 }}&gt;&#10;&#10;            &lt;Box style={{ flexDirection: 'row', height: 84, background: '#F4F7FA', borderRadius: 10, padding: '0 18px', alignItems: 'center', gap: 16 }}&gt;&#10;                &lt;Box style={{ width: 4, height: 52, background: '#276FBF' }} /&gt;&#10;                &lt;Box style={{ width: 132 }}&gt;&lt;Text style={{ fontSize: 18, fontWeight: 'bold', color: '#20344B' }}&gt;占位要替换&lt;/Text&gt;&lt;/Box&gt;&#10;                &lt;Box style={{ flex: 1 }}&gt;&lt;Text style={{ fontSize: 15, color: '#546779', lineHeight: 1.55 }}&gt;换成账户里可用、且支持所需能力的模型 ID，不要原样运行。&lt;/Text&gt;&lt;/Box&gt;&#10;            &lt;/Box&gt;&#10;&#10;            &lt;Box style={{ flexDirection: 'row', height: 84, background: '#F4F7FA', borderRadius: 10, padding: '0 18px', alignItems: 'center', gap: 16 }}&gt;&#10;                &lt;Box style={{ width: 4, height: 52, background: '#276FBF' }} /&gt;&#10;                &lt;Box style={{ width: 132 }}&gt;&lt;Text style={{ fontSize: 18, fontWeight: 'bold', color: '#20344B' }}&gt;记录实际名称&lt;/Text&gt;&lt;/Box&gt;&#10;                &lt;Box style={{ flex: 1 }}&gt;&lt;Text style={{ fontSize: 15, color: '#546779', lineHeight: 1.55 }}&gt;记录实际请求用的名称与返回里的名称，两者都要留痕。&lt;/Text&gt;&lt;/Box&gt;&#10;            &lt;/Box&gt;&#10;&#10;            &lt;Box style={{ flexDirection: 'row', height: 84, background: '#F4F7FA', borderRadius: 10, padding: '0 18px', alignItems: 'center', gap: 16 }}&gt;&#10;                &lt;Box style={{ width: 4, height: 52, background: '#276FBF' }} /&gt;&#10;                &lt;Box style={{ width: 132 }}&gt;&lt;Text style={{ fontSize: 18, fontWeight: 'bold', color: '#20344B' }}&gt;逐项确认能力&lt;/Text&gt;&lt;/Box&gt;&#10;                &lt;Box style={{ flex: 1 }}&gt;&lt;Text style={{ fontSize: 15, color: '#546779', lineHeight: 1.55 }}&gt;结构化输出、工具调用、图像输入这些能力，按练习一项一项确认。&lt;/Text&gt;&lt;/Box&gt;&#10;            &lt;/Box&gt;&#10;&#10;            &lt;Box style={{ flexDirection: 'row', height: 110, background: '#FFF4E6', borderRadius: 10, padding: '0 18px', alignItems: 'center', gap: 16, marginTop: 4 }}&gt;&#10;                &lt;Box style={{ width: 4, height: 70, background: '#CB6B28' }} /&gt;&#10;                &lt;Box style={{ flex: 1, flexDirection: 'column', gap: 4 }}&gt;&#10;                    &lt;Text style={{ fontSize: 17, fontWeight: 'bold', color: '#CB6B28' }}&gt;相同入口，不代表相同参数&lt;/Text&gt;&#10;                    &lt;Text style={{ fontSize: 15, color: '#546779', lineHeight: 1.55 }}&gt;换模型后某些参数可能不再被接受；报错时先核对模型能力，再考虑调整参数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配置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，再执行最小调用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模型名称必须替换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40005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没有永久最佳的模型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32194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4000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本书不推荐一个固定的模型名。选择时看的是：它在你的账户里可用，并且支持这次练习需要的能力。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4200525"/>
            <a:ext cx="4000500" cy="571500"/>
          </a:xfrm>
          <a:prstGeom prst="roundRect">
            <a:avLst>
              <a:gd name="adj" fmla="val 1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36576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环境变量里的占位字符串只是提醒，原样运行不会被接受。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914900" y="1800225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5086350" y="19526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276850" y="20955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占位要替换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686550" y="206692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换成账户里可用、且支持所需能力的模型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，不要原样运行。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914900" y="2714625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5086350" y="28670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276850" y="30099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记录实际名称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86550" y="298132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记录实际请求用的名称与返回里的名称，两者都要留痕。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914900" y="3629025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5086350" y="37814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276850" y="39243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逐项确认能力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86550" y="389572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结构化输出、工具调用、图像输入这些能力，按练习一项一项确认。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914900" y="458152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5086350" y="4772025"/>
            <a:ext cx="38100" cy="666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276850" y="4857750"/>
            <a:ext cx="613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相同入口，不代表相同参数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276850" y="5095875"/>
            <a:ext cx="6134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换模型后某些参数可能不再被接受；报错时先核对模型能力，再考虑调整参数。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notes={`错误一定会来，关键是怎么读它。我建议大家养成一个顺序：先判断这次失败发生在哪一层，再决定动手改什么。&#10;&#10;最里面一层是本地。解释器找不到、文件路径写错、依赖没装，这些都发生在这里。它们的特征是：请求可能连构造都没构造出来。&#10;&#10;中间一层是服务。认证失败、权限不足、模型或参数不被支持、限流、额度用完，都发生在这一层。它们的特征是：请求发出去了，被对方拒绝了。&#10;&#10;最外面一层是任务。请求成功了，模型也返回了，但内容缺事实、违反了约束。注意这一层的处理方式完全不同——你不能靠改网络参数或者重试来解决它，只能回到提示词和任务定义上去改进。&#10;&#10;另外记住两件小事：不要为了&quot;检查&quot;把 Key 打印出来；还有，一次调用成功只说明这次请求能得到响应，它还没有证明排期任务本身能完成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6816B', justifyContent: 'center', alignItems: 'center' }}&gt;&#10;                &lt;Text style={{ fontSize: 28, fontWeight: 'bold', color: '#FFFFFF' }}&gt;05&lt;/Text&gt;&#10;            &lt;/Box&gt;&#10;            &lt;Text style={{ fontSize: 16, color: '#546779' }}&gt;2.1.5&lt;/Text&gt;&#10;        &lt;/Box&gt;&#10;&#10;        &lt;Text style={{ fontSize: 56, fontWeight: 'bold', color: '#20344B', lineHeight: 1.15 }}&gt;出错时先分清发生在哪一层&lt;/Text&gt;&#10;&#10;        &lt;Box style={{ width: 640, height: 4, background: '#26816B' }} /&gt;&#10;&#10;        &lt;Text style={{ fontSize: 19, color: '#546779', lineHeight: 1.7 }}&gt;先读错误类型，再决定重试、改配置还是改任务定义。&lt;/Text&gt;&#10;&#10;        &lt;Box style={{ marginTop: 8, flexDirection: 'row', justifyContent: 'center', gap: 16 }}&gt;&#10;&#10;            &lt;Box style={{ width: 320, height: 130, background: '#EDF4FC', borderRadius: 8, padding: '16px 18px', flexDirection: 'column', gap: 6, justifyContent: 'center' }}&gt;&#10;                &lt;Text style={{ fontSize: 19, fontWeight: 'bold', color: '#276FBF' }}&gt;本地层&lt;/Text&gt;&#10;                &lt;Text style={{ fontSize: 15, color: '#546779', lineHeight: 1.55 }}&gt;解释器、文件、依赖&lt;/Text&gt;&#10;                &lt;Text style={{ fontSize: 14, color: '#546779' }}&gt;请求可能根本没构造出来&lt;/Text&gt;&#10;            &lt;/Box&gt;&#10;&#10;            &lt;Box style={{ width: 320, height: 130, background: '#FFF4E6', borderRadius: 8, padding: '16px 18px', flexDirection: 'column', gap: 6, justifyContent: 'center' }}&gt;&#10;                &lt;Text style={{ fontSize: 19, fontWeight: 'bold', color: '#CB6B28' }}&gt;服务层&lt;/Text&gt;&#10;                &lt;Text style={{ fontSize: 15, color: '#546779', lineHeight: 1.55 }}&gt;认证、权限、配额&lt;/Text&gt;&#10;                &lt;Text style={{ fontSize: 14, color: '#546779' }}&gt;发出去了，但被拒绝&lt;/Text&gt;&#10;            &lt;/Box&gt;&#10;&#10;            &lt;Box style={{ width: 320, height: 130, background: '#ECF7F2', borderRadius: 8, padding: '16px 18px', flexDirection: 'column', gap: 6, justifyContent: 'center' }}&gt;&#10;                &lt;Text style={{ fontSize: 19, fontWeight: 'bold', color: '#26816B' }}&gt;任务层&lt;/Text&gt;&#10;                &lt;Text style={{ fontSize: 15, color: '#546779', lineHeight: 1.55 }}&gt;缺事实、违反约束&lt;/Text&gt;&#10;                &lt;Text style={{ fontSize: 14, color: '#546779' }}&gt;返回了，但事情没做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609600" y="8858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14375" y="9906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95400" y="10572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2.1.5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16097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出错时先分清发生在哪一层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2543175"/>
            <a:ext cx="60960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27717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先读错误类型，再决定重试、改配置还是改任务定义。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1371600" y="34099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543050" y="36480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本地层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543050" y="3924300"/>
            <a:ext cx="2705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解释器、文件、依赖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543050" y="42481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请求可能根本没构造出来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572000" y="34099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743450" y="36480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服务层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743450" y="3924300"/>
            <a:ext cx="2705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认证、权限、配额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743450" y="42481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发出去了，但被拒绝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772400" y="34099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943850" y="3648075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任务层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943850" y="3924300"/>
            <a:ext cx="2705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缺事实、违反约束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943850" y="42481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返回了，但事情没做完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把常见的几类问题摆在一起，遇到时就能对号入座。&#10;&#10;环境变量缺失：先确认当前这个终端里到底有没有设，名字有没有拼错。这类问题经常是换了终端窗口以后才出现的，所以处理方式是回到同一个终端里重新设置再试。&#10;&#10;认证或者权限错误：要查这个 Key 属于哪个项目、项目开通了哪些模型、账户权限到哪里。修正配置之后重试，不要反复提交同一个错误的请求，那只会白刷用量。&#10;&#10;模型或参数不支持：去核对模型能力和所用接口的文档，然后换一个支持该能力的模型，或者调整参数。&#10;&#10;限流或额度不足：要看清返回的错误代码和账户用量，先分清是短时间请求太快，还是账户额度真的用完了——这两件事的处理方式完全不同。&#10;&#10;网络超时：查连接、代理、服务状态和超时设置，保留原始错误，确认原因以后再有限度地重试。&#10;&#10;返回内容与任务不符：这一条要从实际发送的输入、指令和材料上去改，只调网络参数是没用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5　出错时先分清发生在哪一层&lt;/Text&gt;&#10;            &lt;Text style={{ fontSize: 34, fontWeight: 'bold', color: '#20344B' }}&gt;六类现象与合理处理&lt;/Text&gt;&#10;        &lt;/Box&gt;&#10;    &lt;/Box&gt;&#10;&#10;    &lt;Box style={{ height: 540, flexDirection: 'column', justifyContent: 'center' }}&gt;&#10;&#10;        &lt;Box style={{ flexDirection: 'row', height: 24, padding: '0 16px', gap: 14 }}&gt;&#10;            &lt;Box style={{ width: 4 }} /&gt;&#10;            &lt;Box style={{ width: 230 }}&gt;&lt;Text style={{ fontSize: 14, color: '#546779' }}&gt;现象&lt;/Text&gt;&lt;/Box&gt;&#10;            &lt;Box style={{ flex: 1 }}&gt;&lt;Text style={{ fontSize: 14, color: '#546779' }}&gt;先检查什么&lt;/Text&gt;&lt;/Box&gt;&#10;            &lt;Box style={{ flex: 1 }}&gt;&lt;Text style={{ fontSize: 14, color: '#546779' }}&gt;合理处理&lt;/Text&gt;&lt;/Box&gt;&#10;        &lt;/Box&gt;&#10;&#10;        &lt;Box style={{ flexDirection: 'row', height: 70, background: '#F4F7FA', borderRadius: 10, padding: '0 16px', alignItems: 'center', gap: 14, marginTop: 6 }}&gt;&#10;            &lt;Box style={{ width: 4, height: 44, background: '#276FBF' }} /&gt;&#10;            &lt;Box style={{ width: 230 }}&gt;&lt;Text style={{ fontSize: 16, fontWeight: 'bold', color: '#20344B' }}&gt;环境变量缺失&lt;/Text&gt;&lt;/Box&gt;&#10;            &lt;Box style={{ flex: 1 }}&gt;&lt;Text style={{ fontSize: 14, color: '#546779', lineHeight: 1.45 }}&gt;当前终端是否设置，名称是否拼写正确&lt;/Text&gt;&lt;/Box&gt;&#10;            &lt;Box style={{ flex: 1 }}&gt;&lt;Text style={{ fontSize: 14, color: '#276FBF', lineHeight: 1.45 }}&gt;在同一终端设置后重试&lt;/Text&gt;&lt;/Box&gt;&#10;        &lt;/Box&gt;&#10;&#10;        &lt;Box style={{ flexDirection: 'row', height: 70, background: '#F4F7FA', borderRadius: 10, padding: '0 16px', alignItems: 'center', gap: 14, marginTop: 6 }}&gt;&#10;            &lt;Box style={{ width: 4, height: 44, background: '#276FBF' }} /&gt;&#10;            &lt;Box style={{ width: 230 }}&gt;&lt;Text style={{ fontSize: 16, fontWeight: 'bold', color: '#20344B' }}&gt;认证或权限错误&lt;/Text&gt;&lt;/Box&gt;&#10;            &lt;Box style={{ flex: 1 }}&gt;&lt;Text style={{ fontSize: 14, color: '#546779', lineHeight: 1.45 }}&gt;密钥所属项目、可用模型与账户权限&lt;/Text&gt;&lt;/Box&gt;&#10;            &lt;Box style={{ flex: 1 }}&gt;&lt;Text style={{ fontSize: 14, color: '#276FBF', lineHeight: 1.45 }}&gt;修正配置，避免反复提交同一错误请求&lt;/Text&gt;&lt;/Box&gt;&#10;        &lt;/Box&gt;&#10;&#10;        &lt;Box style={{ flexDirection: 'row', height: 70, background: '#F4F7FA', borderRadius: 10, padding: '0 16px', alignItems: 'center', gap: 14, marginTop: 6 }}&gt;&#10;            &lt;Box style={{ width: 4, height: 44, background: '#CB6B28' }} /&gt;&#10;            &lt;Box style={{ width: 230 }}&gt;&lt;Text style={{ fontSize: 16, fontWeight: 'bold', color: '#20344B' }}&gt;模型或参数不支持&lt;/Text&gt;&lt;/Box&gt;&#10;            &lt;Box style={{ flex: 1 }}&gt;&lt;Text style={{ fontSize: 14, color: '#546779', lineHeight: 1.45 }}&gt;模型能力与所用 API 文档&lt;/Text&gt;&lt;/Box&gt;&#10;            &lt;Box style={{ flex: 1 }}&gt;&lt;Text style={{ fontSize: 14, color: '#CB6B28', lineHeight: 1.45 }}&gt;选择支持该能力的模型或调整参数&lt;/Text&gt;&lt;/Box&gt;&#10;        &lt;/Box&gt;&#10;&#10;        &lt;Box style={{ flexDirection: 'row', height: 70, background: '#F4F7FA', borderRadius: 10, padding: '0 16px', alignItems: 'center', gap: 14, marginTop: 6 }}&gt;&#10;            &lt;Box style={{ width: 4, height: 44, background: '#CB6B28' }} /&gt;&#10;            &lt;Box style={{ width: 230 }}&gt;&lt;Text style={{ fontSize: 16, fontWeight: 'bold', color: '#20344B' }}&gt;限流或额度不足&lt;/Text&gt;&lt;/Box&gt;&#10;            &lt;Box style={{ flex: 1 }}&gt;&lt;Text style={{ fontSize: 14, color: '#546779', lineHeight: 1.45 }}&gt;返回错误代码与账户用量&lt;/Text&gt;&lt;/Box&gt;&#10;            &lt;Box style={{ flex: 1 }}&gt;&lt;Text style={{ fontSize: 14, color: '#CB6B28', lineHeight: 1.45 }}&gt;区分速率限制与账户额度，再决定处理&lt;/Text&gt;&lt;/Box&gt;&#10;        &lt;/Box&gt;&#10;&#10;        &lt;Box style={{ flexDirection: 'row', height: 70, background: '#F4F7FA', borderRadius: 10, padding: '0 16px', alignItems: 'center', gap: 14, marginTop: 6 }}&gt;&#10;            &lt;Box style={{ width: 4, height: 44, background: '#CB6B28' }} /&gt;&#10;            &lt;Box style={{ width: 230 }}&gt;&lt;Text style={{ fontSize: 16, fontWeight: 'bold', color: '#20344B' }}&gt;网络超时&lt;/Text&gt;&lt;/Box&gt;&#10;            &lt;Box style={{ flex: 1 }}&gt;&lt;Text style={{ fontSize: 14, color: '#546779', lineHeight: 1.45 }}&gt;连接、代理、服务状态与请求超时&lt;/Text&gt;&lt;/Box&gt;&#10;            &lt;Box style={{ flex: 1 }}&gt;&lt;Text style={{ fontSize: 14, color: '#CB6B28', lineHeight: 1.45 }}&gt;保留错误；确认原因后有限重试&lt;/Text&gt;&lt;/Box&gt;&#10;        &lt;/Box&gt;&#10;&#10;        &lt;Box style={{ flexDirection: 'row', height: 70, background: '#FFF4E6', borderRadius: 10, padding: '0 16px', alignItems: 'center', gap: 14, marginTop: 6 }}&gt;&#10;            &lt;Box style={{ width: 4, height: 44, background: '#CB6B28' }} /&gt;&#10;            &lt;Box style={{ width: 230 }}&gt;&lt;Text style={{ fontSize: 16, fontWeight: 'bold', color: '#CB6B28' }}&gt;返回内容与任务不符&lt;/Text&gt;&lt;/Box&gt;&#10;            &lt;Box style={{ flex: 1 }}&gt;&lt;Text style={{ fontSize: 14, color: '#546779', lineHeight: 1.45 }}&gt;实际发送的输入、指令与材料&lt;/Text&gt;&lt;/Box&gt;&#10;            &lt;Box style={{ flex: 1 }}&gt;&lt;Text style={{ fontSize: 14, color: '#CB6B28', lineHeight: 1.45 }}&gt;从提示和任务定义改进，不能只调网络参数&lt;/Text&gt;&lt;/Box&gt;&#10;        &lt;/Box&gt;&#10;&#10;        &lt;Box style={{ flexDirection: 'row', height: 44, background: '#EDF4FC', borderRadius: 10, padding: '0 18px', alignItems: 'center', gap: 14, marginTop: 10 }}&gt;&#10;            &lt;Box style={{ width: 4, height: 30, background: '#CB6B28' }} /&gt;&#10;            &lt;Text style={{ fontSize: 15, color: '#CB6B28' }}&gt;先读错误类型；不要为了&quot;检查&quot;把 Key 打印出来。一次调用成功，只证明这次请求能得到响应。&lt;/Text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出错时先分清发生在哪一层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六类现象与合理处理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33450" y="117157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257550" y="1171575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先检查什么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10450" y="1171575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合理处理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14573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762000" y="1581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33450" y="16954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环境变量缺失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257550" y="16764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当前终端是否设置，名称是否拼写正确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410450" y="16764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在同一终端设置后重试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21812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762000" y="23050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33450" y="24193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认证或权限错误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257550" y="24003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密钥所属项目、可用模型与账户权限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10450" y="24003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修正配置，避免反复提交同一错误请求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29051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762000" y="30289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33450" y="31432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模型或参数不支持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257550" y="31242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模型能力与所用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文档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10450" y="31242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选择支持该能力的模型或调整参数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36290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762000" y="37528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33450" y="38671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限流或额度不足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257550" y="38481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返回错误代码与账户用量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410450" y="38481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区分速率限制与账户额度，再决定处理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43529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762000" y="44767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33450" y="45910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网络超时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257550" y="45720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连接、代理、服务状态与请求超时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410450" y="45720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保留错误；确认原因后有限重试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50768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762000" y="52006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33450" y="53149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返回内容与任务不符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257550" y="52959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实际发送的输入、指令与材料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410450" y="5295900"/>
            <a:ext cx="4019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从提示和任务定义改进，不能只调网络参数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5838825"/>
            <a:ext cx="10972800" cy="419100"/>
          </a:xfrm>
          <a:prstGeom prst="roundRect">
            <a:avLst>
              <a:gd name="adj" fmla="val 2272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781050" y="5905500"/>
            <a:ext cx="3810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52500" y="5962650"/>
            <a:ext cx="6029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先读错误类型；不要为了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检查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把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打印出来。一次调用成功，只证明这次请求能得到响应。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2" name="" descr="&lt;Slide notes={`接下来换一条路线，把同一件事放进 WorkBuddy 里做一遍。&#10;&#10;为什么还要走产品这条路？因为 API 路线让我们看清请求是怎么构造、怎么发出、怎么回来的，而产品路线让我们看到文件是怎么被读取的、工具是怎么被调用的、结果是怎么交付的。&#10;&#10;两条路线的材料和校验规则完全一样，区别在于：API 路线里很多事情要自己管理，产品路线里工作空间、文件和工具都已经接好了。&#10;&#10;先按官方安装指南装好适合你操作系统的客户端并登录，然后新建任务。要注意的是，产品里选择哪个模型、能用哪些工具、权限设置成什么样，这三者共同决定它实际能做到什么。&#10;&#10;我先说清楚一个边界：界面的截图位置、可用模型和功能，会随着版本变化，要以你当前用的版本为准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CB6B28', justifyContent: 'center', alignItems: 'center' }}&gt;&#10;                &lt;Text style={{ fontSize: 28, fontWeight: 'bold', color: '#FFFFFF' }}&gt;06&lt;/Text&gt;&#10;            &lt;/Box&gt;&#10;            &lt;Text style={{ fontSize: 16, color: '#546779' }}&gt;2.1.6&lt;/Text&gt;&#10;        &lt;/Box&gt;&#10;&#10;        &lt;Text style={{ fontSize: 56, fontWeight: 'bold', color: '#20344B', lineHeight: 1.15 }}&gt;在 WorkBuddy 中完成第一次任务&lt;/Text&gt;&#10;&#10;        &lt;Box style={{ width: 640, height: 4, background: '#CB6B28' }} /&gt;&#10;&#10;        &lt;Text style={{ fontSize: 19, color: '#546779', lineHeight: 1.7 }}&gt;同一任务放进产品，观察它怎样读文件、执行工具并交付结果。&lt;/Text&gt;&#10;&#10;        &lt;Box style={{ marginTop: 8, flexDirection: 'column', alignItems: 'center', gap: 12 }}&gt;&#10;&#10;            &lt;Box style={{ width: 620, height: 56, background: '#F7F3E8', borderRadius: 8, justifyContent: 'center', alignItems: 'center' }}&gt;&#10;                &lt;Text style={{ fontSize: 17, fontWeight: 'bold', color: '#20344B' }}&gt;沿用 API 练习的材料与校验规则&lt;/Text&gt;&#10;            &lt;/Box&gt;&#10;&#10;            &lt;Box style={{ width: 44, height: 26, justifyContent: 'center', alignItems: 'center' }}&gt;&lt;Text style={{ fontSize: 18, color: '#CB6B28' }}&gt;↓&lt;/Text&gt;&lt;/Box&gt;&#10;&#10;            &lt;Box style={{ flexDirection: 'row', justifyContent: 'center', gap: 16 }}&gt;&#10;                &lt;Box style={{ width: 200, height: 52, background: '#FFF4E6', borderRadius: 8, justifyContent: 'center', alignItems: 'center' }}&gt;&#10;                    &lt;Text style={{ fontSize: 16, color: '#CB6B28' }}&gt;选择工作空间&lt;/Text&gt;&#10;                &lt;/Box&gt;&#10;                &lt;Box style={{ width: 200, height: 52, background: '#FFF4E6', borderRadius: 8, justifyContent: 'center', alignItems: 'center' }}&gt;&#10;                    &lt;Text style={{ fontSize: 16, color: '#CB6B28' }}&gt;引用材料文件&lt;/Text&gt;&#10;                &lt;/Box&gt;&#10;                &lt;Box style={{ width: 200, height: 52, background: '#FFF4E6', borderRadius: 8, justifyContent: 'center', alignItems: 'center' }}&gt;&#10;                    &lt;Text style={{ fontSize: 16, color: '#CB6B28' }}&gt;打开实际文件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7524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14375" y="8572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295400" y="9239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2.1.6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1476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2409825"/>
            <a:ext cx="60960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同一任务放进产品，观察它怎样读文件、执行工具并交付结果。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143250" y="32766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933950" y="344805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沿用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练习的材料与校验规则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57900" y="39433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086100" y="428625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581400" y="4438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选择工作空间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143500" y="428625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638800" y="4438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引用材料文件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200900" y="428625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696200" y="4438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打开实际文件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5" name="" descr="&lt;Slide notes={`两条路线的关系，是这样一张图。&#10;&#10;左边起点只有一份东西：同一组材料，需求、房间和预约都在里面。这份材料被两条路线共用，这是能比较的前提。&#10;&#10;往上走是 API 路线：自己管理请求和执行的每一步，好处是过程透明，缺点是什么都要自己写。&#10;&#10;往下走是 WorkBuddy 路线：用工作空间和已经接好的工具，好处是上手快，缺点是中间有些环节被产品封装起来了。&#10;&#10;两条路线最后汇到同一个地方——同一校验器。比较的时候，比的是对应的文件和实际的检查结果，不是谁说得更好听。&#10;&#10;有一点必须分开：应用入口、账户和权限，两条路线各自管理，不能互相顶替。&#10;&#10;最后一条也是最容易忽略的：聊天里说&quot;已经完成了&quot;，不能替代本次的文件和真实校验。判断完成，看的是文件、报告和退出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6　在 WorkBuddy 中完成第一次任务&lt;/Text&gt;&#10;            &lt;Text style={{ fontSize: 34, fontWeight: 'bold', color: '#20344B' }}&gt;两条路线，共用材料，分别取证&lt;/Text&gt;&#10;        &lt;/Box&gt;&#10;    &lt;/Box&gt;&#10;&#10;    &lt;Box style={{ height: 540, flexDirection: 'column', justifyContent: 'center' }}&gt;&#10;&#10;        &lt;Box style={{ flexDirection: 'row', justifyContent: 'center' }}&gt;&#10;            &lt;Box style={{ width: 400, height: 76, background: '#F7F3E8', borderRadius: 10, padding: '12px 18px', flexDirection: 'column', gap: 3, justifyContent: 'center', alignItems: 'center' }}&gt;&#10;                &lt;Text style={{ fontSize: 19, fontWeight: 'bold', color: '#20344B' }}&gt;同一组材料&lt;/Text&gt;&#10;                &lt;Text style={{ fontSize: 14, color: '#546779' }}&gt;需求、房间、已有预约&lt;/Text&gt;&#10;            &lt;/Box&gt;&#10;        &lt;/Box&gt;&#10;&#10;        &lt;Box style={{ flexDirection: 'row' }}&gt;&#10;            &lt;Box style={{ width: 100 }} /&gt;&#10;            &lt;Box style={{ width: 440, height: 28, justifyContent: 'center', alignItems: 'center' }}&gt;&lt;Text style={{ fontSize: 20, color: '#276FBF' }}&gt;↓&lt;/Text&gt;&lt;/Box&gt;&#10;            &lt;Box style={{ width: 72 }} /&gt;&#10;            &lt;Box style={{ width: 440, height: 28, justifyContent: 'center', alignItems: 'center' }}&gt;&lt;Text style={{ fontSize: 20, color: '#26816B' }}&gt;↓&lt;/Text&gt;&lt;/Box&gt;&#10;            &lt;Box style={{ width: 100 }} /&gt;&#10;        &lt;/Box&gt;&#10;&#10;        &lt;Box style={{ flexDirection: 'row', alignItems: 'center' }}&gt;&#10;            &lt;Box style={{ width: 100 }} /&gt;&#10;            &lt;Box style={{ width: 440, height: 108, background: '#EDF4FC', borderRadius: 10, padding: '14px 18px', flexDirection: 'column', gap: 4, justifyContent: 'center' }}&gt;&#10;                &lt;Text style={{ fontSize: 19, fontWeight: 'bold', color: '#276FBF' }}&gt;API 路线&lt;/Text&gt;&#10;                &lt;Text style={{ fontSize: 14, color: '#546779', lineHeight: 1.5 }}&gt;自己管理请求与执行，过程透明&lt;/Text&gt;&#10;            &lt;/Box&gt;&#10;            &lt;Box style={{ width: 72 }} /&gt;&#10;            &lt;Box style={{ width: 440, height: 108, background: '#ECF7F2', borderRadius: 10, padding: '14px 18px', flexDirection: 'column', gap: 4, justifyContent: 'center' }}&gt;&#10;                &lt;Text style={{ fontSize: 19, fontWeight: 'bold', color: '#26816B' }}&gt;WorkBuddy 路线&lt;/Text&gt;&#10;                &lt;Text style={{ fontSize: 14, color: '#546779', lineHeight: 1.5 }}&gt;使用工作空间与已接入的工具&lt;/Text&gt;&#10;            &lt;/Box&gt;&#10;            &lt;Box style={{ width: 100 }} /&gt;&#10;        &lt;/Box&gt;&#10;&#10;        &lt;Box style={{ flexDirection: 'row' }}&gt;&#10;            &lt;Box style={{ width: 100 }} /&gt;&#10;            &lt;Box style={{ width: 440, height: 28, justifyContent: 'center', alignItems: 'center' }}&gt;&lt;Text style={{ fontSize: 20, color: '#276FBF' }}&gt;↓&lt;/Text&gt;&lt;/Box&gt;&#10;            &lt;Box style={{ width: 72 }} /&gt;&#10;            &lt;Box style={{ width: 440, height: 28, justifyContent: 'center', alignItems: 'center' }}&gt;&lt;Text style={{ fontSize: 20, color: '#26816B' }}&gt;↓&lt;/Text&gt;&lt;/Box&gt;&#10;            &lt;Box style={{ width: 100 }} /&gt;&#10;        &lt;/Box&gt;&#10;&#10;        &lt;Box style={{ flexDirection: 'row', justifyContent: 'center' }}&gt;&#10;            &lt;Box style={{ width: 520, height: 76, background: '#ECF7F2', borderRadius: 10, padding: '12px 18px', flexDirection: 'column', gap: 3, justifyContent: 'center', alignItems: 'center' }}&gt;&#10;                &lt;Text style={{ fontSize: 19, fontWeight: 'bold', color: '#26816B' }}&gt;同一校验器&lt;/Text&gt;&#10;                &lt;Text style={{ fontSize: 14, color: '#546779' }}&gt;比对本次文件、报告与退出码&lt;/Text&gt;&#10;            &lt;/Box&gt;&#10;        &lt;/Box&gt;&#10;&#10;        &lt;Box style={{ flexDirection: 'row', height: 82, background: '#FFF4E6', borderRadius: 10, padding: '12px 20px', alignItems: 'center', gap: 20, marginTop: 10 }}&gt;&#10;            &lt;Box style={{ width: 4, height: 54, background: '#CB6B28' }} /&gt;&#10;            &lt;Box style={{ flex: 1, flexDirection: 'column', gap: 3 }}&gt;&#10;                &lt;Text style={{ fontSize: 16, fontWeight: 'bold', color: '#CB6B28' }}&gt;聊天中的成功声明，不能替代本次文件与真实校验&lt;/Text&gt;&#10;                &lt;Text style={{ fontSize: 14, color: '#546779' }}&gt;两条路线各自记录实际步骤；账户、权限与计费分别管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两条路线，共用材料，分别取证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4191000" y="1771650"/>
            <a:ext cx="3810000" cy="723900"/>
          </a:xfrm>
          <a:prstGeom prst="roundRect">
            <a:avLst>
              <a:gd name="adj" fmla="val 1315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648325" y="19335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同一组材料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429250" y="21812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需求、房间、已有预约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609975" y="2514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486775" y="2514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1562100" y="2762250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733550" y="302895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733550" y="328612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自己管理请求与执行，过程透明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438900" y="2762250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610350" y="3028950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610350" y="328612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使用工作空间与已接入的工具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609975" y="38100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486775" y="38100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619500" y="4057650"/>
            <a:ext cx="49530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648325" y="42195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同一校验器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229225" y="44672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比对本次文件、报告与退出码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487680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800100" y="5010150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28700" y="507682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聊天中的成功声明，不能替代本次文件与真实校验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28700" y="52959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两条路线各自记录实际步骤；账户、权限与计费分别管理。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52" name="" descr="&lt;Slide notes={`任务发出去以后，怎么判断它真的读到了材料？我用三步来检查。&#10;&#10;第一步看日期和待查项。核对开放日的日期对不对，再看需求表、房间表和预约材料里还有哪些是待查的。这一步是看它有没有认出&quot;哪些信息我还没有&quot;。&#10;&#10;第二步做交叉核对。引用 requests.csv 和 rooms.csv，让程序或者让你自己把人数和容量对一遍。这里有一个关键点：如果材料里没有提供预约，就应该保留&quot;待查询&quot;这个状态，而不是当成&quot;没有冲突&quot;。&#10;&#10;第三步最有说服力：在右侧结果区打开实际的文件，让&quot;已保存&quot;这个说法和文件里的内容对得上。文件打开是空的，或者内容不对，前面说得再好也不算数。&#10;&#10;另外，发送之前顺手检查两件事：附件到底加上没有，工作空间选对没有。这两处出错的比例非常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6　在 WorkBuddy 中完成第一次任务&lt;/Text&gt;&#10;            &lt;Text style={{ fontSize: 34, fontWeight: 'bold', color: '#20344B' }}&gt;三步检查读取是否有效&lt;/Text&gt;&#10;        &lt;/Box&gt;&#10;    &lt;/Box&gt;&#10;&#10;    &lt;Box style={{ height: 540, flexDirection: 'row', justifyContent: 'center', alignItems: 'center', gap: 32 }}&gt;&#10;&#10;        &lt;Box style={{ width: 700, flexDirection: 'column', gap: 14 }}&gt;&#10;&#10;            &lt;Box style={{ flexDirection: 'row', height: 110, background: '#F4F7FA', borderRadius: 10, padding: '0 18px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1&lt;/Text&gt;&#10;                &lt;/Box&gt;&#10;                &lt;Box style={{ flex: 1, flexDirection: 'column', gap: 3 }}&gt;&#10;                    &lt;Text style={{ fontSize: 18, fontWeight: 'bold', color: '#20344B' }}&gt;核对日期与待查项&lt;/Text&gt;&#10;                    &lt;Text style={{ fontSize: 15, color: '#546779', lineHeight: 1.5 }}&gt;开放日期是否正确；需求表、房间表、预约材料里哪些还待查。&lt;/Text&gt;&#10;                &lt;/Box&gt;&#10;            &lt;/Box&gt;&#10;&#10;            &lt;Box style={{ flexDirection: 'row', height: 110, background: '#F4F7FA', borderRadius: 10, padding: '0 18px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2&lt;/Text&gt;&#10;                &lt;/Box&gt;&#10;                &lt;Box style={{ flex: 1, flexDirection: 'column', gap: 3 }}&gt;&#10;                    &lt;Text style={{ fontSize: 18, fontWeight: 'bold', color: '#20344B' }}&gt;引用两张 CSV 做交叉核对&lt;/Text&gt;&#10;                    &lt;Text style={{ fontSize: 14, fontFamily: 'Consolas', color: '#276FBF' }}&gt;data/requests.csv　data/rooms.csv&lt;/Text&gt;&#10;                    &lt;Text style={{ fontSize: 15, color: '#546779', lineHeight: 1.5 }}&gt;逐一对照人数与容量，不允许凭印象判断。&lt;/Text&gt;&#10;                &lt;/Box&gt;&#10;            &lt;/Box&gt;&#10;&#10;            &lt;Box style={{ flexDirection: 'row', height: 110, background: '#ECF7F2', borderRadius: 10, padding: '0 18px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3&lt;/Text&gt;&#10;                &lt;/Box&gt;&#10;                &lt;Box style={{ flex: 1, flexDirection: 'column', gap: 3 }}&gt;&#10;                    &lt;Text style={{ fontSize: 18, fontWeight: 'bold', color: '#26816B' }}&gt;打开实际文件对照&lt;/Text&gt;&#10;                    &lt;Text style={{ fontSize: 15, color: '#546779', lineHeight: 1.5 }}&gt;在结果区打开文件，让&quot;已保存&quot;与文件内容对应起来。&lt;/Text&gt;&#10;                &lt;/Box&gt;&#10;            &lt;/Box&gt;&#10;&#10;        &lt;/Box&gt;&#10;&#10;        &lt;Box style={{ width: 420, flexDirection: 'column', gap: 14 }}&gt;&#10;&#10;            &lt;Box style={{ background: '#FFF4E6', borderRadius: 10, padding: '18px 20px', flexDirection: 'column', gap: 6 }}&gt;&#10;                &lt;Text style={{ fontSize: 17, fontWeight: 'bold', color: '#CB6B28' }}&gt;没有预约就写&quot;待查询&quot;&lt;/Text&gt;&#10;                &lt;Text style={{ fontSize: 14, color: '#546779', lineHeight: 1.6 }}&gt;材料未提供预约时应保留待查询状态，不能默认成&quot;没有冲突&quot;。&lt;/Text&gt;&#10;            &lt;/Box&gt;&#10;&#10;            &lt;Box style={{ background: '#EDF4FC', borderRadius: 10, padding: '18px 20px', flexDirection: 'column', gap: 6 }}&gt;&#10;                &lt;Text style={{ fontSize: 17, fontWeight: 'bold', color: '#276FBF' }}&gt;发送前顺手检查两件事&lt;/Text&gt;&#10;                &lt;Text style={{ fontSize: 14, color: '#546779', lineHeight: 1.6 }}&gt;附件是否已经添加，工作空间是否正确——这两处最容易出错。&lt;/Text&gt;&#10;            &lt;/Box&gt;&#10;&#10;            &lt;Box style={{ background: '#F7F3E8', borderRadius: 10, padding: '16px 20px', flexDirection: 'column', gap: 6 }}&gt;&#10;                &lt;Text style={{ fontSize: 15, fontWeight: 'bold', color: '#20344B' }}&gt;界面以当前版本为准&lt;/Text&gt;&#10;                &lt;Text style={{ fontSize: 14, color: '#546779', lineHeight: 1.6 }}&gt;截图位置、可用模型与功能会随版本变化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三步检查读取是否有效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09600" y="20097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781050" y="23241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33450" y="24193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352550" y="22860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核对日期与待查项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352550" y="2524125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开放日期是否正确；需求表、房间表、预约材料里哪些还待查。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09600" y="31908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78105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3345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352550" y="337185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引用两张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做交叉核对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352550" y="3609975"/>
            <a:ext cx="575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data/requests.csv</a:t>
            </a:r>
            <a:r>
              <a:rPr lang="zh-CN" sz="1050">
                <a:solidFill>
                  <a:srgbClr val="276FBF"/>
                </a:solidFill>
                <a:latin typeface="Consolas"/>
                <a:ea typeface="Consolas"/>
              </a:rPr>
              <a:t>　</a:t>
            </a: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data/rooms.csv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352550" y="3800475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逐一对照人数与容量，不允许凭印象判断。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43719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781050" y="4686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933450" y="47815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352550" y="46482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打开实际文件对照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352550" y="4886325"/>
            <a:ext cx="575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在结果区打开文件，让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已保存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与文件内容对应起来。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7581900" y="2076450"/>
            <a:ext cx="4000500" cy="1114425"/>
          </a:xfrm>
          <a:prstGeom prst="roundRect">
            <a:avLst>
              <a:gd name="adj" fmla="val 85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772400" y="22479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没有预约就写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待查询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772400" y="2505075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材料未提供预约时应保留待查询状态，不能默认成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没有冲突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7581900" y="3324225"/>
            <a:ext cx="4000500" cy="1114425"/>
          </a:xfrm>
          <a:prstGeom prst="roundRect">
            <a:avLst>
              <a:gd name="adj" fmla="val 85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772400" y="349567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发送前顺手检查两件事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772400" y="375285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附件是否已经添加，工作空间是否正确——这两处最容易出错。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7581900" y="4572000"/>
            <a:ext cx="4000500" cy="790575"/>
          </a:xfrm>
          <a:prstGeom prst="roundRect">
            <a:avLst>
              <a:gd name="adj" fmla="val 1204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772400" y="47244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界面以当前版本为准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772400" y="49530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截图位置、可用模型与功能会随版本变化。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notes={`如果你要用自己的模型，产品里也可以接。路径是&quot;设置 → 模型管理&quot;，在里面填写服务地址、Key 和模型名，再按官方说明把需要的能力配好。&#10;&#10;这里有一条很容易踩的坑：WorkBuddy 的默认自定义接口是按 /chat/completions 处理的。也就是说，你把它指向一个自定义地址，并不能自动证明它支持这一节用的所有 Responses 参数。&#10;&#10;这个差异不是说谁对谁错，而是提醒我们：API 示例和 WorkBuddy 实验，可以使用各自兼容的模型，但要分别记录自己的配置。&#10;&#10;记录下来以后，将来出现&quot;为什么同一件事两边结果不一样&quot;，你才有东西可以对。不然两边的模型名、接口和参数混在一起，根本无法定位。&#10;&#10;配置这件事，写下来比记在脑子里可靠得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6　在 WorkBuddy 中完成第一次任务&lt;/Text&gt;&#10;            &lt;Text style={{ fontSize: 34, fontWeight: 'bold', color: '#20344B' }}&gt;自定义模型与兼容边界&lt;/Text&gt;&#10;        &lt;/Box&gt;&#10;    &lt;/Box&gt;&#10;&#10;    &lt;Box style={{ height: 540, flexDirection: 'row', justifyContent: 'center', alignItems: 'center', gap: 32 }}&gt;&#10;&#10;        &lt;Box style={{ width: 518, flexDirection: 'column', gap: 12 }}&gt;&#10;&#10;            &lt;Box style={{ flexDirection: 'row', gap: 12, alignItems: 'center' }}&gt;&#10;                &lt;Box style={{ width: 3, height: 48, background: '#276FBF' }} /&gt;&#10;                &lt;Box style={{ flex: 1, flexDirection: 'column', gap: 2 }}&gt;&#10;                    &lt;Text style={{ fontSize: 16, fontWeight: 'bold', color: '#20344B' }}&gt;入口：设置 → 模型管理&lt;/Text&gt;&#10;                    &lt;Text style={{ fontSize: 14, color: '#546779', lineHeight: 1.5 }}&gt;在客户端里找到模型配置的位置&lt;/Text&gt;&#10;                &lt;/Box&gt;&#10;            &lt;/Box&gt;&#10;&#10;            &lt;Box style={{ flexDirection: 'row', gap: 12, alignItems: 'center' }}&gt;&#10;                &lt;Box style={{ width: 3, height: 48, background: '#276FBF' }} /&gt;&#10;                &lt;Box style={{ flex: 1, flexDirection: 'column', gap: 2 }}&gt;&#10;                    &lt;Text style={{ fontSize: 16, fontWeight: 'bold', color: '#20344B' }}&gt;填写服务 URL、Key 与模型名&lt;/Text&gt;&#10;                    &lt;Text style={{ fontSize: 14, color: '#546779', lineHeight: 1.5 }}&gt;这三项都要如实填写，不要沿用书中的占位值&lt;/Text&gt;&#10;                &lt;/Box&gt;&#10;            &lt;/Box&gt;&#10;&#10;            &lt;Box style={{ flexDirection: 'row', gap: 12, alignItems: 'center' }}&gt;&#10;                &lt;Box style={{ width: 3, height: 48, background: '#276FBF' }} /&gt;&#10;                &lt;Box style={{ flex: 1, flexDirection: 'column', gap: 2 }}&gt;&#10;                    &lt;Text style={{ fontSize: 16, fontWeight: 'bold', color: '#20344B' }}&gt;按官方说明配置所需能力&lt;/Text&gt;&#10;                    &lt;Text style={{ fontSize: 14, color: '#546779', lineHeight: 1.5 }}&gt;缺哪项能力就补哪项，不要假定默认都支持&lt;/Text&gt;&#10;                &lt;/Box&gt;&#10;            &lt;/Box&gt;&#10;&#10;            &lt;Box style={{ background: '#F7F3E8', borderRadius: 10, padding: '16px 18px', marginTop: 2 }}&gt;&#10;                &lt;Text style={{ fontSize: 14, color: '#546779', lineHeight: 1.65 }}&gt;两条路线可以使用各自兼容的模型，但要分别记录自己的配置。&lt;/Text&gt;&#10;            &lt;/Box&gt;&#10;&#10;        &lt;/Box&gt;&#10;&#10;        &lt;Box style={{ width: 602, flexDirection: 'column', gap: 14 }}&gt;&#10;&#10;            &lt;Box style={{ flexDirection: 'row', height: 96, background: '#EDF4FC', borderRadius: 10, padding: '0 20px', alignItems: 'center', gap: 16 }}&gt;&#10;                &lt;Box style={{ width: 4, height: 60, background: '#276FBF' }} /&gt;&#10;                &lt;Box style={{ flex: 1, flexDirection: 'column', gap: 4 }}&gt;&#10;                    &lt;Text style={{ fontSize: 17, fontWeight: 'bold', color: '#20344B' }}&gt;默认走 /chat/completions&lt;/Text&gt;&#10;                    &lt;Text style={{ fontSize: 14, color: '#546779', lineHeight: 1.55 }}&gt;WorkBuddy 的默认自定义接口按这个路径处理请求。&lt;/Text&gt;&#10;                &lt;/Box&gt;&#10;            &lt;/Box&gt;&#10;&#10;            &lt;Box style={{ flexDirection: 'row', height: 132, background: '#FFF4E6', borderRadius: 10, padding: '0 20px', alignItems: 'center', gap: 16 }}&gt;&#10;                &lt;Box style={{ width: 4, height: 88, background: '#CB6B28' }} /&gt;&#10;                &lt;Box style={{ flex: 1, flexDirection: 'column', gap: 5 }}&gt;&#10;                    &lt;Text style={{ fontSize: 17, fontWeight: 'bold', color: '#CB6B28' }}&gt;开启自定义 URL，不自动证明支持全部 Responses 参数&lt;/Text&gt;&#10;                    &lt;Text style={{ fontSize: 14, color: '#546779', lineHeight: 1.55 }}&gt;接口路径不同，能用的参数就可能不同；遇到不支持，先回到该服务的文档核对。&lt;/Text&gt;&#10;                &lt;/Box&gt;&#10;            &lt;/Box&gt;&#10;&#10;            &lt;Box style={{ flexDirection: 'row', height: 96, background: '#ECF7F2', borderRadius: 10, padding: '0 20px', alignItems: 'center', gap: 16 }}&gt;&#10;                &lt;Box style={{ width: 4, height: 60, background: '#26816B' }} /&gt;&#10;                &lt;Box style={{ flex: 1, flexDirection: 'column', gap: 4 }}&gt;&#10;                    &lt;Text style={{ fontSize: 17, fontWeight: 'bold', color: '#26816B' }}&gt;两套配置，各记各的&lt;/Text&gt;&#10;                    &lt;Text style={{ fontSize: 14, color: '#546779', lineHeight: 1.55 }}&gt;把模型名、接口与账户信息分别记录下来，便于对照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自定义模型与兼容边界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2562225"/>
            <a:ext cx="28575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52475" y="2562225"/>
            <a:ext cx="479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入口：设置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模型管理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52475" y="2771775"/>
            <a:ext cx="4791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在客户端里找到模型配置的位置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3133725"/>
            <a:ext cx="28575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52475" y="3133725"/>
            <a:ext cx="479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填写服务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URL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Key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与模型名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52475" y="3343275"/>
            <a:ext cx="4791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这三项都要如实填写，不要沿用书中的占位值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3705225"/>
            <a:ext cx="28575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52475" y="3705225"/>
            <a:ext cx="479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按官方说明配置所需能力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52475" y="3914775"/>
            <a:ext cx="4791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缺哪项能力就补哪项，不要假定默认都支持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4295775"/>
            <a:ext cx="4933950" cy="571500"/>
          </a:xfrm>
          <a:prstGeom prst="roundRect">
            <a:avLst>
              <a:gd name="adj" fmla="val 1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81050" y="4448175"/>
            <a:ext cx="45910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两条路线可以使用各自兼容的模型，但要分别记录自己的配置。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848350" y="2038350"/>
            <a:ext cx="57340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38850" y="22098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229350" y="2247900"/>
            <a:ext cx="516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默认走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/chat/completions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229350" y="2486025"/>
            <a:ext cx="5162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的默认自定义接口按这个路径处理请求。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848350" y="3086100"/>
            <a:ext cx="573405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38850" y="3295650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229350" y="3467100"/>
            <a:ext cx="516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开启自定义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URL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，不自动证明支持全部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229350" y="3714750"/>
            <a:ext cx="5162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接口路径不同，能用的参数就可能不同；遇到不支持，先回到该服务的文档核对。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848350" y="4476750"/>
            <a:ext cx="57340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038850" y="46482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229350" y="4686300"/>
            <a:ext cx="516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两套配置，各记各的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229350" y="4924425"/>
            <a:ext cx="5162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把模型名、接口与账户信息分别记录下来，便于对照。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14" name="" descr="&lt;Slide notes={`这一节做到什么程度算完成？我给大家三个可以核对的标志。&#10;&#10;第一，本地校验器可以运行。参考排期跑出退出码 0，错误样本返回非零并给出具体错误。这两件事都能复现，说明环境和校验器都稳了。&#10;&#10;第二，API 路线能保存一次真实的响应。如果你还没有配置密钥，那就明确记录&quot;尚未配置&quot;——注意，是明确记录，不是空着不提。&#10;&#10;第三，WorkBuddy 路线能正确读取指定材料。同样，如果这次没有实测，也要明确写下来&quot;尚未实测&quot;。&#10;&#10;这三个标志有一个共同点：它们都要求留下证据，而不是留下印象。&#10;&#10;最后补一句，两条路线是互相帮助理解的——用 API 看清机制，用产品看实际用法。但它们不互相代替验收。API 跑通了，不代表产品里一定读到了正确的文件；产品里结果对了，也不代表你已经理解了请求是怎么走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.6　在 WorkBuddy 中完成第一次任务&lt;/Text&gt;&#10;            &lt;Text style={{ fontSize: 34, fontWeight: 'bold', color: '#20344B' }}&gt;本节完成的标志&lt;/Text&gt;&#10;        &lt;/Box&gt;&#10;    &lt;/Box&gt;&#10;&#10;    &lt;Box style={{ height: 540, flexDirection: 'column', justifyContent: 'center', gap: 20 }}&gt;&#10;&#10;        &lt;Box style={{ flexDirection: 'row', gap: 24 }}&gt;&#10;&#10;            &lt;Box style={{ width: 368, height: 200, background: '#EDF4FC', borderRadius: 12, padding: '20px 22px', flexDirection: 'column', gap: 8 }}&gt;&#10;                &lt;Box style={{ width: 44, height: 44, borderRadius: 8, background: '#276FBF', justifyContent: 'center', alignItems: 'center' }}&gt;&#10;                    &lt;Text style={{ fontSize: 20, fontWeight: 'bold', color: '#FFFFFF' }}&gt;1&lt;/Text&gt;&#10;                &lt;/Box&gt;&#10;                &lt;Text style={{ fontSize: 19, fontWeight: 'bold', color: '#20344B', lineHeight: 1.4 }}&gt;本地校验器可以运行&lt;/Text&gt;&#10;                &lt;Text style={{ fontSize: 14, color: '#546779', lineHeight: 1.6 }}&gt;参考排期退出码为 0；错误样本返回非零并给出具体错误。&lt;/Text&gt;&#10;            &lt;/Box&gt;&#10;&#10;            &lt;Box style={{ width: 368, height: 200, background: '#EDF4FC', borderRadius: 12, padding: '20px 22px', flexDirection: 'column', gap: 8 }}&gt;&#10;                &lt;Box style={{ width: 44, height: 44, borderRadius: 8, background: '#276FBF', justifyContent: 'center', alignItems: 'center' }}&gt;&#10;                    &lt;Text style={{ fontSize: 20, fontWeight: 'bold', color: '#FFFFFF' }}&gt;2&lt;/Text&gt;&#10;                &lt;/Box&gt;&#10;                &lt;Text style={{ fontSize: 19, fontWeight: 'bold', color: '#20344B', lineHeight: 1.4 }}&gt;API 路线存下一次真实响应&lt;/Text&gt;&#10;                &lt;Text style={{ fontSize: 14, color: '#546779', lineHeight: 1.6 }}&gt;能保存一次真实响应，或明确记录尚未配置——不要留空白。&lt;/Text&gt;&#10;            &lt;/Box&gt;&#10;&#10;            &lt;Box style={{ width: 368, height: 200, background: '#ECF7F2', borderRadius: 12, padding: '20px 22px', flexDirection: 'column', gap: 8 }}&gt;&#10;                &lt;Box style={{ width: 44, height: 44, borderRadius: 8, background: '#26816B', justifyContent: 'center', alignItems: 'center' }}&gt;&#10;                    &lt;Text style={{ fontSize: 20, fontWeight: 'bold', color: '#FFFFFF' }}&gt;3&lt;/Text&gt;&#10;                &lt;/Box&gt;&#10;                &lt;Text style={{ fontSize: 19, fontWeight: 'bold', color: '#26816B', lineHeight: 1.4 }}&gt;产品路线正确读取材料&lt;/Text&gt;&#10;                &lt;Text style={{ fontSize: 14, color: '#546779', lineHeight: 1.6 }}&gt;能正确读取指定材料，或明确记录尚未实测。&lt;/Text&gt;&#10;            &lt;/Box&gt;&#10;&#10;        &lt;/Box&gt;&#10;&#10;        &lt;Box style={{ flexDirection: 'row', height: 108, background: '#FFF4E6', borderRadius: 12, padding: '18px 24px', alignItems: 'center', gap: 24 }}&gt;&#10;            &lt;Box style={{ width: 4, height: 66, background: '#CB6B28' }} /&gt;&#10;            &lt;Box style={{ flex: 1, flexDirection: 'column', gap: 5 }}&gt;&#10;                &lt;Text style={{ fontSize: 18, fontWeight: 'bold', color: '#CB6B28' }}&gt;两条路线互相帮助理解，但不互相代替验收&lt;/Text&gt;&#10;                &lt;Text style={{ fontSize: 15, color: '#546779', lineHeight: 1.55 }}&gt;三项都要求留下证据：文件、报告与退出码，而不是印象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中完成第一次任务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466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本节完成的标志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215265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819150" y="2343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71550" y="2438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19150" y="2838450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本地校验器可以运行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32194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参考排期退出码为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；错误样本返回非零并给出具体错误。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4343400" y="215265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4552950" y="2343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705350" y="2438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552950" y="2838450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路线存下一次真实响应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552950" y="32194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能保存一次真实响应，或明确记录尚未配置——不要留空白。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8077200" y="215265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8286750" y="2343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439150" y="2438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286750" y="2838450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产品路线正确读取材料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286750" y="32194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能正确读取指定材料，或明确记录尚未实测。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4248150"/>
            <a:ext cx="10972800" cy="10287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838200" y="4448175"/>
            <a:ext cx="38100" cy="628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04900" y="4505325"/>
            <a:ext cx="10248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两条路线互相帮助理解，但不互相代替验收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104900" y="4762500"/>
            <a:ext cx="10248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三项都要求留下证据：文件、报告与退出码，而不是印象。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40" name="" descr="&lt;Slide notes={`这一节讲完了，我把要带走的东西收成三步。&#10;&#10;第一步，环境跑通。用人工写好的参考排期，确认校验器能给出&quot;通过&quot;和&quot;不通过&quot;两种结果。这一步不需要联网，也不需要密钥。&#10;&#10;第二步，一次真实响应。把密钥和模型名准备好，发出第一次调用，并且把返回的内容保存下来——保存下来它才是证据，看一眼就关掉不算。&#10;&#10;第三步，同一份材料。产品路线里读到的文件，必须和我们前面用的材料是同一份，否则两次结果没法比。&#10;&#10;这三步的顺序很重要：先本地，再联网，最后对照组。倒过来做，出了问题你会同时怀疑三件事。&#10;&#10;下一节我们处理一个更常见的问题：怎么把心里想要的东西，写成一段真正可执行的任务描述，也就是 Prompt。`} style={{ width: 1280, height: 720, background: '#FFFFFF', flexDirection: 'column', padding: '20px 64px' }}&gt;&#10;&#10;    &lt;Box style={{ height: 540, flexDirection: 'column', justifyContent: 'center', gap: 24 }}&gt;&#10;&#10;        &lt;Box style={{ flexDirection: 'column', alignItems: 'center', gap: 12 }}&gt;&#10;            &lt;Text style={{ fontSize: 15, color: '#546779' }}&gt;2.1　小结&lt;/Text&gt;&#10;            &lt;Text style={{ fontSize: 44, fontWeight: 'bold', color: '#20344B', lineHeight: 1.25, textAlign: 'center' }}&gt;这一次调用，先证明三件事&lt;/Text&gt;&#10;            &lt;Box style={{ width: 72, height: 4, background: '#276FBF' }} /&gt;&#10;        &lt;/Box&gt;&#10;&#10;        &lt;Box style={{ flexDirection: 'row', justifyContent: 'center', alignItems: 'center' }}&gt;&#10;            &lt;Box style={{ width: 330, height: 132, background: '#EDF4FC', borderRadius: 10, padding: '18px 20px', flexDirection: 'column', gap: 6, justifyContent: 'center' }}&gt;&#10;                &lt;Text style={{ fontSize: 20, fontWeight: 'bold', color: '#276FBF' }}&gt;环境跑通&lt;/Text&gt;&#10;                &lt;Text style={{ fontSize: 14, color: '#546779', lineHeight: 1.55 }}&gt;参考排期退出码 0，错误样本返回非零&lt;/Text&gt;&#10;            &lt;/Box&gt;&#10;            &lt;Box style={{ width: 44, height: 132, justifyContent: 'center', alignItems: 'center' }}&gt;&lt;Text style={{ fontSize: 26, color: '#276FBF' }}&gt;›&lt;/Text&gt;&lt;/Box&gt;&#10;            &lt;Box style={{ width: 330, height: 132, background: '#EDF4FC', borderRadius: 10, padding: '18px 20px', flexDirection: 'column', gap: 6, justifyContent: 'center' }}&gt;&#10;                &lt;Text style={{ fontSize: 20, fontWeight: 'bold', color: '#276FBF' }}&gt;一次真实响应&lt;/Text&gt;&#10;                &lt;Text style={{ fontSize: 14, color: '#546779', lineHeight: 1.55 }}&gt;发出调用并把返回内容保存下来&lt;/Text&gt;&#10;            &lt;/Box&gt;&#10;            &lt;Box style={{ width: 44, height: 132, justifyContent: 'center', alignItems: 'center' }}&gt;&lt;Text style={{ fontSize: 26, color: '#26816B' }}&gt;›&lt;/Text&gt;&lt;/Box&gt;&#10;            &lt;Box style={{ width: 330, height: 132, background: '#ECF7F2', borderRadius: 10, padding: '18px 20px', flexDirection: 'column', gap: 6, justifyContent: 'center' }}&gt;&#10;                &lt;Text style={{ fontSize: 20, fontWeight: 'bold', color: '#26816B' }}&gt;同一份材料&lt;/Text&gt;&#10;                &lt;Text style={{ fontSize: 14, color: '#546779', lineHeight: 1.55 }}&gt;产品路线读到的文件与前面完全一致&lt;/Text&gt;&#10;            &lt;/Box&gt;&#10;        &lt;/Box&gt;&#10;&#10;        &lt;Box style={{ flexDirection: 'row', height: 82, background: '#FFF4E6', borderRadius: 10, padding: '14px 22px', alignItems: 'center', gap: 16 }}&gt;&#10;            &lt;Box style={{ width: 4, height: 50, background: '#CB6B28' }} /&gt;&#10;            &lt;Box style={{ flex: 1, flexDirection: 'column', gap: 4 }}&gt;&#10;                &lt;Text style={{ fontSize: 16, fontWeight: 'bold', color: '#CB6B28' }}&gt;顺序不能倒过来：先本地，再联网，最后对照组&lt;/Text&gt;&#10;                &lt;Text style={{ fontSize: 14, color: '#546779' }}&gt;倒过来做，一次失败要同时怀疑三件事，很难定位。&lt;/Text&gt;&#10;            &lt;/Box&gt;&#10;        &lt;/Box&gt;&#10;&#10;        &lt;Box style={{ flexDirection: 'row', alignItems: 'center', gap: 12 }}&gt;&#10;            &lt;Box style={{ width: 3, height: 26, background: '#26816B' }} /&gt;&#10;            &lt;Text style={{ fontSize: 16, color: '#546779' }}&gt;下一节　2.2　Prompt：把愿望写成可执行任务&lt;/Text&gt;&#10;        &lt;/Box&gt;&#10;&#10;    &lt;/Box&gt;&#10;&#10;    &lt;Box style={{ height: 40, flexDirection: 'row', justifyContent: 'space-between', alignItems: 'center' }}&gt;&#10;        &lt;Text style={{ fontSize: 14, color: '#546779' }}&gt;2.1 环境与第一次调用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781675" y="742950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581400" y="1028700"/>
            <a:ext cx="50292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这一次调用，先证明三件事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5753100" y="17716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962025" y="2038350"/>
            <a:ext cx="31432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52525" y="24003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环境跑通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52525" y="26860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参考排期退出码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，错误样本返回非零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76725" y="2514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524375" y="2038350"/>
            <a:ext cx="31432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714875" y="24003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一次真实响应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714875" y="26860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发出调用并把返回内容保存下来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839075" y="2514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086725" y="2038350"/>
            <a:ext cx="314325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277225" y="24003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同一份材料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277225" y="26860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产品路线读到的文件与前面完全一致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35242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819150" y="36766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009650" y="372427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顺序不能倒过来：先本地，再联网，最后对照组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09650" y="395287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倒过来做，一次失败要同时怀疑三件事，很难定位。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45339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52475" y="45624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Prompt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：把愿望写成可执行任务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环境与第一次调用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2026-09-29T03:11:04Z</dcterms:created>
  <dcterms:modified xsi:type="dcterms:W3CDTF">2026-09-29T03:11:04Z</dcterms:modified>
</cp:coreProperties>
</file>