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2.xml" ContentType="application/vnd.openxmlformats-officedocument.presentationml.slide+xml"/>
  <Override PartName="/ppt/slides/slide22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22" Type="http://schemas.openxmlformats.org/officeDocument/2006/relationships/slide" Target="slides/slide22.xml" /><Relationship Id="rId12" Type="http://schemas.openxmlformats.org/officeDocument/2006/relationships/slide" Target="slides/slide12.xml" /><Relationship Id="rId0" Type="http://schemas.openxmlformats.org/officeDocument/2006/relationships/slideMaster" Target="slideMasters/slideMaster1.xml" /><Relationship Id="rId13" Type="http://schemas.openxmlformats.org/officeDocument/2006/relationships/slide" Target="slides/slide13.xml" /><Relationship Id="rId5" Type="http://schemas.openxmlformats.org/officeDocument/2006/relationships/slide" Target="slides/slide5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9" Type="http://schemas.openxmlformats.org/officeDocument/2006/relationships/slide" Target="slides/slide9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5" Type="http://schemas.openxmlformats.org/officeDocument/2006/relationships/slide" Target="slides/slide15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28" Type="http://schemas.openxmlformats.org/officeDocument/2006/relationships/viewProps" Target="viewProps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5" Type="http://schemas.openxmlformats.org/officeDocument/2006/relationships/notesMaster" Target="notesMasters/notesMaster1.xml" 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助手已经会读材料、会调用工具了，但这还不够。真正让一段任务能自己往前走、又能在该停的时候停下来，靠的是一段控制逻辑。</a:t>
            </a:r>
          </a:p>
          <a:p>
            <a:r>
              <a:rPr lang="zh-CN" dirty="0"/>
              <a:t>一轮闭环里有四个动作。先观察——用户提了什么任务、材料是什么、上一次工具真实返回了什么。再决定——这一步是模型的强项，它生成候选、挑下一个要查的东西。然后是执行——这件事必须由应用来做，校验身份和参数，运行被允许的操作。最后是核验——检查约束有没有满足，进度有没有推进。</a:t>
            </a:r>
          </a:p>
          <a:p>
            <a:r>
              <a:rPr lang="zh-CN" dirty="0"/>
              <a:t>核验这一步最容易被跳过。一句话说得再漂亮，也只是模型的输出；只有校验器真的返回通过，才说明我们编码的约束被满足了。</a:t>
            </a:r>
          </a:p>
          <a:p>
            <a:r>
              <a:rPr lang="zh-CN" dirty="0"/>
              <a:t>还要提醒一句：整段循环里，程序始终握着执行边界这条线。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我们先给自己一张地图。这一节我分四块来讲。</a:t>
            </a:r>
          </a:p>
          <a:p>
            <a:r>
              <a:rPr lang="zh-CN" dirty="0"/>
              <a:t>第一块是一轮闭环：观察、决定、执行、核验这四个动作分别由谁承接，其中核验最容易被忽略。</a:t>
            </a:r>
          </a:p>
          <a:p>
            <a:r>
              <a:rPr lang="zh-CN" dirty="0"/>
              <a:t>第二块是三种组织任务的方法——规划、ReAct 和反思，它们各自增加的是什么，还有一个很实际的判断：什么时候固定的工作流就已经够用了。</a:t>
            </a:r>
          </a:p>
          <a:p>
            <a:r>
              <a:rPr lang="zh-CN" dirty="0"/>
              <a:t>第三块是把停止条件写进程序：什么叫成功、什么叫继续、什么叫有原因地停止，以及轮数、工具请求数和实际执行数为什么必须分开记。</a:t>
            </a:r>
          </a:p>
          <a:p>
            <a:r>
              <a:rPr lang="zh-CN" dirty="0"/>
              <a:t>第四块讲三种「记住」的边界，最后回到可以动手体验的三种任务模式。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先看最基础的一轮闭环。一次回答，是模型生成一段文字就结束了；一段闭环不一样，它要按真实结果决定下一步做什么。</a:t>
            </a:r>
          </a:p>
          <a:p>
            <a:r>
              <a:rPr lang="zh-CN" dirty="0"/>
              <a:t>按顺序走一遍：观察用户的任务、材料和上一次工具的真实结果；决定下一轮查什么、生成什么候选；由应用去执行被允许的工具；最后核验目标有没有满足，是继续，还是有原因地停下。</a:t>
            </a:r>
          </a:p>
          <a:p>
            <a:r>
              <a:rPr lang="zh-CN" dirty="0"/>
              <a:t>这里我要强调两点。第一，执行这一步是应用在做，不是模型在做，模型只能提出请求。第二，核验不是走过场。「我已安排好全部活动」是一句模型输出；只有校验器返回通过，才说明我们编码的排期约束得到了满足。</a:t>
            </a:r>
          </a:p>
          <a:p>
            <a:r>
              <a:rPr lang="zh-CN" dirty="0"/>
              <a:t>至于现实中的房间有没有真的被预订，本节这些工具还没有那个能力，也不应该拿它当成功证据。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把四个动作摆到一条线上，再补上两个出口。</a:t>
            </a:r>
          </a:p>
          <a:p>
            <a:r>
              <a:rPr lang="zh-CN" dirty="0"/>
              <a:t>观察，看的是用户提的任务、材料，以及上一次工具真实返回了什么。决定，是模型生成候选、挑下一个要查的东西。应用执行，是程序校验身份和参数之后运行受控操作。核验，检查约束和进度，然后决定继续还是停。</a:t>
            </a:r>
          </a:p>
          <a:p>
            <a:r>
              <a:rPr lang="zh-CN" dirty="0"/>
              <a:t>如果核验发现有解不开的问题、而且预算还允许，就把真实结果带回去，回到观察，再走一轮。这就是回路的意义：不是推倒重来，是带着新的事实再判断一次。</a:t>
            </a:r>
          </a:p>
          <a:p>
            <a:r>
              <a:rPr lang="zh-CN" dirty="0"/>
              <a:t>什么时候结束？四种情况都算有结果——通过、失败、无进展、预算耗尽，每一种都要保留记录。</a:t>
            </a:r>
          </a:p>
          <a:p>
            <a:r>
              <a:rPr lang="zh-CN" dirty="0"/>
              <a:t>最后记住两句话：模型提出工具请求，不等于工具已经执行；一段文字总结，不等于业务已经验证。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核验这一环，最容易被一句话糊弄过去。</a:t>
            </a:r>
          </a:p>
          <a:p>
            <a:r>
              <a:rPr lang="zh-CN" dirty="0"/>
              <a:t>「我已安排好全部活动」，这是模型说的，它只是一段文本。文本可以很流畅、很像结论，但它本身不构成证据。</a:t>
            </a:r>
          </a:p>
          <a:p>
            <a:r>
              <a:rPr lang="zh-CN" dirty="0"/>
              <a:t>要成为证据，得看工具真实返回了什么。我们调用 validate_schedule，它返回通过，这说明本章编码的排期约束被满足了。注意范围——是这一套约束被满足，不是所有约束都被满足。</a:t>
            </a:r>
          </a:p>
          <a:p>
            <a:r>
              <a:rPr lang="zh-CN" dirty="0"/>
              <a:t>再往外一层是现实状态：房间到底有没有被预订。本节这些工具只有查询和校验能力，产物是一份本地筹备文件，它管不到现实里的预订系统。</a:t>
            </a:r>
          </a:p>
          <a:p>
            <a:r>
              <a:rPr lang="zh-CN" dirty="0"/>
              <a:t>所以做题时养成习惯：把「模型说的」「校验器返回的」「现实里发生的」分开写，不要混成一句「已经完成」。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有人会担心：既然模型可以灵活决定下一步，那它是不是也能绕过规则？答案是不能，因为规则根本不在模型手里。</a:t>
            </a:r>
          </a:p>
          <a:p>
            <a:r>
              <a:rPr lang="zh-CN" dirty="0"/>
              <a:t>有四件事始终由程序掌握。第一是工具白名单——允许调用哪些工具，是程序声明的，模型只能在名单里挑。第二是参数校验——房间 ID、时间段这些参数进来先校验，非法输入不进入执行。</a:t>
            </a:r>
          </a:p>
          <a:p>
            <a:r>
              <a:rPr lang="zh-CN" dirty="0"/>
              <a:t>第三是调用预算——轮数、工具数、时间上限，都由程序计数和截断。第四是文件保存条件——什么情况下允许写交付文件、写到哪里，也是程序说了算，不是模型要求写就能写。</a:t>
            </a:r>
          </a:p>
          <a:p>
            <a:r>
              <a:rPr lang="zh-CN" dirty="0"/>
              <a:t>所以模型的灵活只体现在「决定下一步」，不体现在「改变规则」。灵活地决定步骤，不能覆盖执行规则。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助手要自己往前走，光有四个动作还不够，还得有组织任务的方法。这一节讲三种方法，它们增加的东西并不一样。</a:t>
            </a:r>
          </a:p>
          <a:p>
            <a:r>
              <a:rPr lang="zh-CN" dirty="0"/>
              <a:t>规划，是把目标拆成可以检查的子目标：确认输入完整、核对可用时段、生成候选、检查冲突、交付。关键在最后一句——计划允许被事实修正。</a:t>
            </a:r>
          </a:p>
          <a:p>
            <a:r>
              <a:rPr lang="zh-CN" dirty="0"/>
              <a:t>ReAct 强调的是推理和行动交替：根据当前的观察选行动，再根据行动结果更新下一步。这里要澄清一个常见误解：不需要模型公开完整的内部推理链，可观察到的证据是工具请求、参数和结果。让它简要说明「为什么查这个房间、下一步检查什么」，就够用了。</a:t>
            </a:r>
          </a:p>
          <a:p>
            <a:r>
              <a:rPr lang="zh-CN" dirty="0"/>
              <a:t>反思，是让模型回顾失败并提出调整。但它提出调整之后，仍然需要下一次真实校验。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规划要做的事情，是把一个目标拆成可以逐条检查的子目标。拆得好不好，标准只有一个：每一步能不能被验证。</a:t>
            </a:r>
          </a:p>
          <a:p>
            <a:r>
              <a:rPr lang="zh-CN" dirty="0"/>
              <a:t>我把这套拆法走一遍。先确认输入完整——人数、时长、开放时间这些材料齐了没有。再核对可用时段——每天什么时候开放、哪些时段已经被占用。然后生成候选——把时段、房间和活动组合起来。接着检查冲突——候选如果落在已有预约上，就否掉。最后交付——写出排期文件和说明。</a:t>
            </a:r>
          </a:p>
          <a:p>
            <a:r>
              <a:rPr lang="zh-CN" dirty="0"/>
              <a:t>重点在最后那句话：计划允许被事实修正。如果查询发现手作室 10:00 到 10:30 已经被占用，助手就应该重新安排，而不是把原来那份计划当成已经发生的事实继续往下推。</a:t>
            </a:r>
          </a:p>
          <a:p>
            <a:r>
              <a:rPr lang="zh-CN" dirty="0"/>
              <a:t>计划是给下一步用的，不是给汇报用的。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ReAct 和反思经常被放在一起讲，但它们做的事其实不一样。</a:t>
            </a:r>
          </a:p>
          <a:p>
            <a:r>
              <a:rPr lang="zh-CN" dirty="0"/>
              <a:t>ReAct 强调的是推理和行动交替。根据当前的观察选一个行动，再根据行动的结果更新下一步。这里我要澄清一个常见误解：不需要模型公开完整的内部推理链。可观察到的证据，是工具请求、参数和结果。让助手简要说明「为什么查这个房间」和「下一步检查什么」，就够了。</a:t>
            </a:r>
          </a:p>
          <a:p>
            <a:r>
              <a:rPr lang="zh-CN" dirty="0"/>
              <a:t>反思不一样，它是让模型回顾失败、提出调整。比如发现手作活动被安排在 09:30 到 10:30，模型可以指出它和已有预约重叠了。</a:t>
            </a:r>
          </a:p>
          <a:p>
            <a:r>
              <a:rPr lang="zh-CN" dirty="0"/>
              <a:t>但请注意反思的边界：反思文本仍然需要下一次真实校验。如果只是反复改写「我应该更加谨慎」，排期文件没有任何变化，那任务就没有取得进展。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学完三种方法，很容易走到另一个极端：什么都想做成循环。其实多数任务根本不需要。</a:t>
            </a:r>
          </a:p>
          <a:p>
            <a:r>
              <a:rPr lang="zh-CN" dirty="0"/>
              <a:t>判断标准很朴素：下一步能不能提前写死。</a:t>
            </a:r>
          </a:p>
          <a:p>
            <a:r>
              <a:rPr lang="zh-CN" dirty="0"/>
              <a:t>如果只有三项活动，步骤也是已知的——读取材料、生成候选、跑一次校验——那么固定的工作流就够用，快、好查、好复现。如果材料齐全、规则明确，一次生成加一次校验也能收工。</a:t>
            </a:r>
          </a:p>
          <a:p>
            <a:r>
              <a:rPr lang="zh-CN" dirty="0"/>
              <a:t>真正需要循环的，是下一步依赖未知信息的时候：不查一下根本不知道房间在不在、时段空不空。或者下一步依赖工具返回的结果、依赖用户的决定，这种分支没法预先编排。</a:t>
            </a:r>
          </a:p>
          <a:p>
            <a:r>
              <a:rPr lang="zh-CN" dirty="0"/>
              <a:t>所以顺序是：先问能不能写死，再问要不要循环。别一上手就上最复杂的结构。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循环转起来之后，最难的不是让它转，而是让它停。</a:t>
            </a:r>
          </a:p>
          <a:p>
            <a:r>
              <a:rPr lang="zh-CN" dirty="0"/>
              <a:t>我先把这个判断交给程序：什么时候算成功、什么时候可以继续、什么时候必须停，这三件事都不能留给模型临场决定。</a:t>
            </a:r>
          </a:p>
          <a:p>
            <a:r>
              <a:rPr lang="zh-CN" dirty="0"/>
              <a:t>一条底线要记住：模型结束、候选校验通过、交付文件齐全，这三件事必须同时核对。只拿到一次通过的工具结果，还不能替代整段工具循环的结束和文件保存。</a:t>
            </a:r>
          </a:p>
          <a:p>
            <a:r>
              <a:rPr lang="zh-CN" dirty="0"/>
              <a:t>还有一组很容易混的单位，我提前说一下：模型的轮数、工具请求数、实际执行数，是三个数，不是一个数。一次响应里可能包含多个工具请求，报错或阻断的请求也可能已经消耗了预算。</a:t>
            </a:r>
          </a:p>
          <a:p>
            <a:r>
              <a:rPr lang="zh-CN" dirty="0"/>
              <a:t>单次超时也不限制任务总时长。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循环有三种去向，各自有自己的条件。</a:t>
            </a:r>
          </a:p>
          <a:p>
            <a:r>
              <a:rPr lang="zh-CN" dirty="0"/>
              <a:t>起点是这一轮的真实结果：观察到的、工具返回的、以及模型提出的候选。所有判断都从这里出发，不从模型的说法出发。</a:t>
            </a:r>
          </a:p>
          <a:p>
            <a:r>
              <a:rPr lang="zh-CN" dirty="0"/>
              <a:t>如果满足完成条件——模型结束了、候选通过了业务校验、交付文件也齐全——那就是成功交付，保存可追溯的结果，并说明验证范围到哪里。</a:t>
            </a:r>
          </a:p>
          <a:p>
            <a:r>
              <a:rPr lang="zh-CN" dirty="0"/>
              <a:t>如果有新信息、而且预算还够，那就继续修正：把这一轮的真实观察带进下一轮。</a:t>
            </a:r>
          </a:p>
          <a:p>
            <a:r>
              <a:rPr lang="zh-CN" dirty="0"/>
              <a:t>如果达到停止条件，就有原因地停下来：没有进展、到了上限、或者拿不出有效候选。</a:t>
            </a:r>
          </a:p>
          <a:p>
            <a:r>
              <a:rPr lang="zh-CN" dirty="0"/>
              <a:t>这里有一组单位必须分清：模型轮数不等于工具请求数，一次响应可以包含多个请求。单次超时也不等于任务总预算，实际产品还需要总时间预算和取消信号。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写成代码之后，结束规则要一条一条写清楚。我列四条。</a:t>
            </a:r>
          </a:p>
          <a:p>
            <a:r>
              <a:rPr lang="zh-CN" dirty="0"/>
              <a:t>第一条，模型结束，而且候选通过了业务校验：保存可追溯的结果，并报告已经验证到什么范围。</a:t>
            </a:r>
          </a:p>
          <a:p>
            <a:r>
              <a:rPr lang="zh-CN" dirty="0"/>
              <a:t>第二条，模型结束了，但拿不出有效候选：标记为未完成，不能凭它的一段总结就判成功。这条最容易出错，所以要格外留意。</a:t>
            </a:r>
          </a:p>
          <a:p>
            <a:r>
              <a:rPr lang="zh-CN" dirty="0"/>
              <a:t>第三条，达到轮数、工具数或者时间预算：有原因地停止，同时保留已经获得的诊断信息，别把线索一起丢掉。</a:t>
            </a:r>
          </a:p>
          <a:p>
            <a:r>
              <a:rPr lang="zh-CN" dirty="0"/>
              <a:t>第四条，同一个调用反复出现、结果没有变化：判断为无进展，停下来，或者请求新的输入。</a:t>
            </a:r>
          </a:p>
          <a:p>
            <a:r>
              <a:rPr lang="zh-CN" dirty="0"/>
              <a:t>四条规则的共同点是：都在程序里判断，而不是等模型说「我做完了」。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再讲一组特别容易混的数字。这一组有四个口径，必须分开记。</a:t>
            </a:r>
          </a:p>
          <a:p>
            <a:r>
              <a:rPr lang="zh-CN" dirty="0"/>
              <a:t>第一，模型轮数，就是模型返回了几次。第二，工具请求数——本章脚本在解析和执行之前就递增这个计数，所以报错或者被阻断的请求，也可能已经消耗了预算。</a:t>
            </a:r>
          </a:p>
          <a:p>
            <a:r>
              <a:rPr lang="zh-CN" dirty="0"/>
              <a:t>第三，实际执行数。要判断一次工具到底有没有真的跑，得看工具结果和 not_executed 记录，不能拿请求数去顶。</a:t>
            </a:r>
          </a:p>
          <a:p>
            <a:r>
              <a:rPr lang="zh-CN" dirty="0"/>
              <a:t>第四，单次超时。它只限制某一次调用，不限制整个任务的总时长。真实产品里还需要另外一层总时间预算和取消信号。</a:t>
            </a:r>
          </a:p>
          <a:p>
            <a:r>
              <a:rPr lang="zh-CN" dirty="0"/>
              <a:t>为什么强调这个？因为一次响应里可能包含多个工具请求。如果你把轮数和请求数当成一个数、把两类上限混着用，预算就会算错。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失败也需要分类处理，因为它们的结局根本不一样。</a:t>
            </a:r>
          </a:p>
          <a:p>
            <a:r>
              <a:rPr lang="zh-CN" dirty="0"/>
              <a:t>如果模型给的参数错了，错误回传应该帮它修正输入：明确告诉它这是个未知房间，并附上允许的房间 ID 列表。这样下一轮它才有机会改对。</a:t>
            </a:r>
          </a:p>
          <a:p>
            <a:r>
              <a:rPr lang="zh-CN" dirty="0"/>
              <a:t>如果模型拒绝回答，这是模型的判断，应该记录拒绝原因，交回用户来决定，而不是自动再试一次。</a:t>
            </a:r>
          </a:p>
          <a:p>
            <a:r>
              <a:rPr lang="zh-CN" dirty="0"/>
              <a:t>如果输出中断或者网络失败，要记录错误的类型和发生的位置，但不要把服务器堆栈、凭据这些东西塞回上下文。</a:t>
            </a:r>
          </a:p>
          <a:p>
            <a:r>
              <a:rPr lang="zh-CN" dirty="0"/>
              <a:t>如果是业务校验失败，就回传那条校验失败项，让模型知道具体哪一条不满足。不要把无限增长的旧错误反复堆进去，上下文会被撑满。</a:t>
            </a:r>
          </a:p>
          <a:p>
            <a:r>
              <a:rPr lang="zh-CN" dirty="0"/>
              <a:t>模型拒绝、输出中断、网络失败、业务校验失败，这四种是不同结局，不能都用一句「再试一次」处理。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如果一个任务被中断了，我们想接着往下做，需要留下什么？这一条讲的是恢复的前提。</a:t>
            </a:r>
          </a:p>
          <a:p>
            <a:r>
              <a:rPr lang="zh-CN" dirty="0"/>
              <a:t>要保存的东西有：输入摘要、候选版本、每次查询的时间、校验结果，以及已经用掉的预算。没有这些，恢复之后根本不知道上次做到哪里。</a:t>
            </a:r>
          </a:p>
          <a:p>
            <a:r>
              <a:rPr lang="zh-CN" dirty="0"/>
              <a:t>其次，恢复时要定义可重复执行的只读操作，并且在执行之前确认事实没有变化。查询是只读的，可以重跑；但重跑之前得确认数据还是上次那份。</a:t>
            </a:r>
          </a:p>
          <a:p>
            <a:r>
              <a:rPr lang="zh-CN" dirty="0"/>
              <a:t>最后，对付款、发信、预约这一类有副作用的动作，要另外设幂等标识，并用真实结果去核对。绝对不能依靠「模型记得自己做过」。</a:t>
            </a:r>
          </a:p>
          <a:p>
            <a:r>
              <a:rPr lang="zh-CN" dirty="0"/>
              <a:t>这里我要明确一句边界：本章的示例，中断之后再执行是一次新的尝试，没有实现跨进程的断点续跑。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「记住」这个词在日常对话里很含糊，但在系统里它至少对应三种不同的东西。</a:t>
            </a:r>
          </a:p>
          <a:p>
            <a:r>
              <a:rPr lang="zh-CN" dirty="0"/>
              <a:t>一种是把历史真的传进这次请求，这叫会话上下文。另一种是程序自己记录的进度，比如哪份候选通过了校验、还缺什么、预算剩多少，这叫应用任务状态。还有一种是跨任务读出来的偏好和记录，那才是长期记忆。</a:t>
            </a:r>
          </a:p>
          <a:p>
            <a:r>
              <a:rPr lang="zh-CN" dirty="0"/>
              <a:t>它们的可用范围完全不同：上下文只在真的传进去时才有用，任务状态由程序掌握，长期记忆可以跨任务检索，但也可能是过期的。</a:t>
            </a:r>
          </a:p>
          <a:p>
            <a:r>
              <a:rPr lang="zh-CN" dirty="0"/>
              <a:t>「继续工作」可能是下一轮调用，也可能是新任务接手。先分清是哪一种「记住」，再决定哪些事实需要重新确认。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三种「记住」汇到一个地方：继续工作之前，先核对。</a:t>
            </a:r>
          </a:p>
          <a:p>
            <a:r>
              <a:rPr lang="zh-CN" dirty="0"/>
              <a:t>会话上下文里装的是上一轮的查询结果、模型提出的候选方案。它只在实际传入这次请求的时候才可用，而且旧结果可能已经过期了。</a:t>
            </a:r>
          </a:p>
          <a:p>
            <a:r>
              <a:rPr lang="zh-CN" dirty="0"/>
              <a:t>应用任务状态由程序记录：哪份候选通过了校验、还缺什么、预算还剩多少。恢复的时候，仍然要检查输入有没有变化。</a:t>
            </a:r>
          </a:p>
          <a:p>
            <a:r>
              <a:rPr lang="zh-CN" dirty="0"/>
              <a:t>长期记忆可以跨任务检索，比如「用户偏好用中文表格汇报」。但记忆不能覆盖当次规则，规则永远优先。</a:t>
            </a:r>
          </a:p>
          <a:p>
            <a:r>
              <a:rPr lang="zh-CN" dirty="0"/>
              <a:t>举一个能说明区别的例子：「用户喜欢上午活动」可以是记忆；「10:00 手作室空闲」应当是带日期和来源的查询事实。把后者长期保存却没有有效期，下一次开放日就容易复用一条过期的预约。</a:t>
            </a:r>
          </a:p>
          <a:p>
            <a:r>
              <a:rPr lang="zh-CN" dirty="0"/>
              <a:t>这正是「继续工作前核对」存在的理由。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把三种「记住」并排放在一起，差别就很清楚了。</a:t>
            </a:r>
          </a:p>
          <a:p>
            <a:r>
              <a:rPr lang="zh-CN" dirty="0"/>
              <a:t>会话上下文里是上一轮的查询结果和模型提出的候选方案。它的边界是：只在实际传入上下文的时候可用，而且旧结果可能已经过期。</a:t>
            </a:r>
          </a:p>
          <a:p>
            <a:r>
              <a:rPr lang="zh-CN" dirty="0"/>
              <a:t>应用任务状态记的是哪份候选通过了校验、还缺什么、剩余预算有多少。它由程序记录，恢复的时候仍然要检查输入有没有变化。</a:t>
            </a:r>
          </a:p>
          <a:p>
            <a:r>
              <a:rPr lang="zh-CN" dirty="0"/>
              <a:t>长期记忆可以跨任务检索，比如记住「用户偏好用中文表格汇报」。但要记住：偏好不能覆盖当次规则。</a:t>
            </a:r>
          </a:p>
          <a:p>
            <a:r>
              <a:rPr lang="zh-CN" dirty="0"/>
              <a:t>最危险的是把查询事实当偏好存起来。把「10:00 手作室空闲」长期保存，却不带日期和来源、不设有效期，系统在下一个开放日就可能复用一条早就过期的预约。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那恢复工作之前，到底要核对什么？我把它压成三个动作。</a:t>
            </a:r>
          </a:p>
          <a:p>
            <a:r>
              <a:rPr lang="zh-CN" dirty="0"/>
              <a:t>第一，核查指令的继承规则。新的一次请求里，原来的系统指令有没有被继承、以哪一份为准，这些要写清楚。不管你用的是手工拼历史，还是用 previous_response_id 这类会话状态机制，都要单独核对。</a:t>
            </a:r>
          </a:p>
          <a:p>
            <a:r>
              <a:rPr lang="zh-CN" dirty="0"/>
              <a:t>第二，确认外部事实没变。只读查询是可以重跑的，但重跑之前先确认数据还是那一份、时间范围还是那个范围，否则结果不可比。</a:t>
            </a:r>
          </a:p>
          <a:p>
            <a:r>
              <a:rPr lang="zh-CN" dirty="0"/>
              <a:t>第三，对副作用另设幂等标识。付款、发信、预约这类动作，要用真实结果去核对，不能依靠记忆。</a:t>
            </a:r>
          </a:p>
          <a:p>
            <a:r>
              <a:rPr lang="zh-CN" dirty="0"/>
              <a:t>还有一句要说明：会话状态机制能帮应用延续对话，但它不会替开发者建立业务状态机。业务状态是你自己的责任。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前面讲的都是原理，最后落到可以动手的地方。WorkBuddy 的输入框里有一个「模式」入口，提供了三种任务模式。</a:t>
            </a:r>
          </a:p>
          <a:p>
            <a:r>
              <a:rPr lang="zh-CN" dirty="0"/>
              <a:t>Ask，仅问答。它只回答，不动文件。适合拿来问问题，比如引用活动材料，问完成筹备还缺哪些东西，看看有没有遗漏预约事实。</a:t>
            </a:r>
          </a:p>
          <a:p>
            <a:r>
              <a:rPr lang="zh-CN" dirty="0"/>
              <a:t>Agent 是默认模式。它会读文件、调工具、生成候选，按真实结果继续往下走。</a:t>
            </a:r>
          </a:p>
          <a:p>
            <a:r>
              <a:rPr lang="zh-CN" dirty="0"/>
              <a:t>Plan，先给方案。它先把输入、步骤、产物和验收条件列出来，你审阅之后可以选「开始执行」，也可以「调整计划」。</a:t>
            </a:r>
          </a:p>
          <a:p>
            <a:r>
              <a:rPr lang="zh-CN" dirty="0"/>
              <a:t>这里要说明一句：这是产品的交互流程，不是模型内部推理的显示开关。Plan 让你有机会在执行之前先看方案，这和「能不能看到模型在想什么」是两回事。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光看不行，要动手走一遍。四步，每步都有要观察的东西。</a:t>
            </a:r>
          </a:p>
          <a:p>
            <a:r>
              <a:rPr lang="zh-CN" dirty="0"/>
              <a:t>第一步，在 Ask 里引用活动材料，问完成筹备还需要哪些材料，然后检查它有没有遗漏预约事实。这一步看的是提问能不能暴露缺口。</a:t>
            </a:r>
          </a:p>
          <a:p>
            <a:r>
              <a:rPr lang="zh-CN" dirty="0"/>
              <a:t>第二步，切换到 Plan，要求它给出输入、步骤、产物和验收条件，并且把「校验通过后才能交付」这句话写进计划。这一步看的是方案的验收标准清不清楚。</a:t>
            </a:r>
          </a:p>
          <a:p>
            <a:r>
              <a:rPr lang="zh-CN" dirty="0"/>
              <a:t>第三步，审阅之后开始执行，让它读取材料、生成候选，再运行校验器。这一步要盯的是真实的工具调用和文件变化，不是它说了什么。</a:t>
            </a:r>
          </a:p>
          <a:p>
            <a:r>
              <a:rPr lang="zh-CN" dirty="0"/>
              <a:t>第四步，如果失败，把实际的错误报告给它，要求只修正相关的安排，然后再次运行校验。千万不要用聊天里的一句「已修复」当结论。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本节最后留两个反例，请大家自己想清楚再动手试。</a:t>
            </a:r>
          </a:p>
          <a:p>
            <a:r>
              <a:rPr lang="zh-CN" dirty="0"/>
              <a:t>第一个：让助手连续三次查询同一个房间，却不修改排期。这是合理复核，还是无进展？</a:t>
            </a:r>
          </a:p>
          <a:p>
            <a:r>
              <a:rPr lang="zh-CN" dirty="0"/>
              <a:t>答案取决于查询有没有可能获得新的事实。如果数据文件是固定的、查询参数相同、输出也相同，那就不应该无限继续。这时候继续查，只是在消耗预算。</a:t>
            </a:r>
          </a:p>
          <a:p>
            <a:r>
              <a:rPr lang="zh-CN" dirty="0"/>
              <a:t>第二个：把 plan.md 改成「全部通过」，同时保留一份有预约冲突的 schedule.json。然后重新运行校验。</a:t>
            </a:r>
          </a:p>
          <a:p>
            <a:r>
              <a:rPr lang="zh-CN" dirty="0"/>
              <a:t>你会看到，校验器不认文本。执行状态、文本总结和业务完成度，这三件事必须分别记录。</a:t>
            </a:r>
          </a:p>
          <a:p>
            <a:r>
              <a:rPr lang="zh-CN" dirty="0"/>
              <a:t>这一条我建议每个人都亲手做一遍：改一句描述，看看结果会不会变。它最能说明为什么「说得对」不等于「做对了」。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这一节讲完了，我把要带走的东西收成三句话。</a:t>
            </a:r>
          </a:p>
          <a:p>
            <a:r>
              <a:rPr lang="zh-CN" dirty="0"/>
              <a:t>第一句，谁决定下一步。观察和决定可以由模型参与，但执行和核验必须由程序把关。模型提出的工具请求，不等于工具已经执行。</a:t>
            </a:r>
          </a:p>
          <a:p>
            <a:r>
              <a:rPr lang="zh-CN" dirty="0"/>
              <a:t>第二句，什么时候停。模型结束、候选通过业务校验、交付文件齐全，这三件事要同时核对。只凭一次工具结果或者一段总结，都不能算任务完成。</a:t>
            </a:r>
          </a:p>
          <a:p>
            <a:r>
              <a:rPr lang="zh-CN" dirty="0"/>
              <a:t>第三句，哪些事实要重新确认。会话上下文、应用任务状态、长期记忆，是三种不同的「记住」；记忆可以跨任务，但事实必须带日期和来源。</a:t>
            </a:r>
          </a:p>
          <a:p>
            <a:r>
              <a:rPr lang="zh-CN" dirty="0"/>
              <a:t>这三句话不只适用于这一节，后面做更复杂的系统时同样用得上。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助手已经会读材料、会调用工具了，但这还不够。真正让一段任务能自己往前走、又能在该停的时候停下来，靠的是一段控制逻辑。&#10;&#10;一轮闭环里有四个动作。先观察——用户提了什么任务、材料是什么、上一次工具真实返回了什么。再决定——这一步是模型的强项，它生成候选、挑下一个要查的东西。然后是执行——这件事必须由应用来做，校验身份和参数，运行被允许的操作。最后是核验——检查约束有没有满足，进度有没有推进。&#10;&#10;核验这一步最容易被跳过。一句话说得再漂亮，也只是模型的输出；只有校验器真的返回通过，才说明我们编码的约束被满足了。&#10;&#10;还要提醒一句：整段循环里，程序始终握着执行边界这条线。`} style={{ width: 1280, height: 720, background: '#FFFFFF', flexDirection: 'column', padding: '20px 64px' }}&gt;&#10;&#10;    &lt;Box style={{ height: 100, flexDirection: 'row', alignItems: 'center', gap: 12 }}&gt;&#10;        &lt;Box style={{ width: 4, height: 20, background: '#276FBF' }} /&gt;&#10;        &lt;Text style={{ fontSize: 15, color: '#546779' }}&gt;第二章　从对话到智能体：技术、OpenAI API 与 WorkBuddy　·　2.10&lt;/Text&gt;&#10;    &lt;/Box&gt;&#10;&#10;    &lt;Box style={{ height: 540, flexDirection: 'row', alignItems: 'center', gap: 32 }}&gt;&#10;&#10;        &lt;Box style={{ width: 592, flexDirection: 'column', justifyContent: 'center', gap: 14 }}&gt;&#10;            &lt;Text style={{ fontSize: 52, fontWeight: 'bold', color: '#20344B', lineHeight: 1.2 }}&gt;Agent 循环、&lt;/Text&gt;&#10;            &lt;Text style={{ fontSize: 52, fontWeight: 'bold', color: '#20344B', lineHeight: 1.2 }}&gt;规划与记忆&lt;/Text&gt;&#10;            &lt;Box style={{ width: 72, height: 4, background: '#276FBF' }} /&gt;&#10;            &lt;Text style={{ fontSize: 18, color: '#546779', lineHeight: 1.7, width: 580 }}&gt;会读材料、会调工具之后，还缺一段能自己转起来、又停得住的控制逻辑。四个动作谁来做、什么时候停、哪些事实要重新确认，就是本节全部内容。&lt;/Text&gt;&#10;            &lt;Box style={{ flexDirection: 'row', gap: 14, marginTop: 6 }}&gt;&#10;                &lt;Box style={{ width: 180, height: 44, background: '#EDF4FC', borderRadius: 8, justifyContent: 'center', alignItems: 'center' }}&gt;&#10;                    &lt;Text style={{ fontSize: 15, color: '#276FBF' }}&gt;谁决定下一步&lt;/Text&gt;&#10;                &lt;/Box&gt;&#10;                &lt;Box style={{ width: 180, height: 44, background: '#EDF4FC', borderRadius: 8, justifyContent: 'center', alignItems: 'center' }}&gt;&#10;                    &lt;Text style={{ fontSize: 15, color: '#276FBF' }}&gt;谁来执行&lt;/Text&gt;&#10;                &lt;/Box&gt;&#10;                &lt;Box style={{ width: 180, height: 44, background: '#FFF4E6', borderRadius: 8, justifyContent: 'center', alignItems: 'center' }}&gt;&#10;                    &lt;Text style={{ fontSize: 15, color: '#CB6B28' }}&gt;什么时候停&lt;/Text&gt;&#10;                &lt;/Box&gt;&#10;            &lt;/Box&gt;&#10;        &lt;/Box&gt;&#10;&#10;        &lt;Box style={{ width: 528, flexDirection: 'column', justifyContent: 'center' }}&gt;&#10;            &lt;Box style={{ width: 528, height: 80, background: '#EDF4FC', borderRadius: 8, padding: '12px 18px', flexDirection: 'column', gap: 4, justifyContent: 'center' }}&gt;&#10;                &lt;Text style={{ fontSize: 20, fontWeight: 'bold', color: '#276FBF' }}&gt;观察&lt;/Text&gt;&#10;                &lt;Text style={{ fontSize: 14, color: '#546779' }}&gt;用户任务、材料与真实工具结果&lt;/Text&gt;&#10;            &lt;/Box&gt;&#10;            &lt;Box style={{ width: 528, height: 22, justifyContent: 'center', alignItems: 'center' }}&gt;&lt;Text style={{ fontSize: 16, color: '#276FBF' }}&gt;↓&lt;/Text&gt;&lt;/Box&gt;&#10;            &lt;Box style={{ width: 528, height: 80, background: '#EDF4FC', borderRadius: 8, padding: '12px 18px', flexDirection: 'column', gap: 4, justifyContent: 'center' }}&gt;&#10;                &lt;Text style={{ fontSize: 20, fontWeight: 'bold', color: '#276FBF' }}&gt;决定&lt;/Text&gt;&#10;                &lt;Text style={{ fontSize: 14, color: '#546779' }}&gt;生成候选，选择下一个工具&lt;/Text&gt;&#10;            &lt;/Box&gt;&#10;            &lt;Box style={{ width: 528, height: 22, justifyContent: 'center', alignItems: 'center' }}&gt;&lt;Text style={{ fontSize: 16, color: '#276FBF' }}&gt;↓&lt;/Text&gt;&lt;/Box&gt;&#10;            &lt;Box style={{ width: 528, height: 80, background: '#EDF4FC', borderRadius: 8, padding: '12px 18px', flexDirection: 'column', gap: 4, justifyContent: 'center' }}&gt;&#10;                &lt;Text style={{ fontSize: 20, fontWeight: 'bold', color: '#276FBF' }}&gt;应用执行&lt;/Text&gt;&#10;                &lt;Text style={{ fontSize: 14, color: '#546779' }}&gt;校验身份与参数，运行受控操作&lt;/Text&gt;&#10;            &lt;/Box&gt;&#10;            &lt;Box style={{ width: 528, height: 22, justifyContent: 'center', alignItems: 'center' }}&gt;&lt;Text style={{ fontSize: 16, color: '#26816B' }}&gt;↓&lt;/Text&gt;&lt;/Box&gt;&#10;            &lt;Box style={{ width: 528, height: 80, background: '#ECF7F2', borderRadius: 8, padding: '12px 18px', flexDirection: 'column', gap: 4, justifyContent: 'center' }}&gt;&#10;                &lt;Text style={{ fontSize: 20, fontWeight: 'bold', color: '#26816B' }}&gt;核验&lt;/Text&gt;&#10;                &lt;Text style={{ fontSize: 14, color: '#546779' }}&gt;检查约束与进度，决定继续或停止&lt;/Text&gt;&#10;            &lt;/Box&gt;&#10;            &lt;Box style={{ width: 528, height: 48, background: '#FFF4E6', borderRadius: 8, padding: '0px 18px', flexDirection: 'row', alignItems: 'center', marginTop: 10 }}&gt;&#10;                &lt;Text style={{ fontSize: 14, color: '#CB6B28' }}&gt;仍有问题且预算允许：带回真实结果，回到观察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0 Agent 循环、规划与记忆&lt;/Text&gt;&#10;        &lt;Text style={{ fontSize: 14, color: '#546779' }}&gt;教学课件　GenerativeAgentsCN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571500"/>
            <a:ext cx="38100" cy="190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457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第二章　从对话到智能体：技术、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OpenAI API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2.10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1952625"/>
            <a:ext cx="5638800" cy="7143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9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循环、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2800350"/>
            <a:ext cx="5638800" cy="7143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规划与记忆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09600" y="36480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3819525"/>
            <a:ext cx="5524500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会读材料、会调工具之后，还缺一段能自己转起来、又停得住的控制逻辑。四个动作谁来做、什么时候停、哪些事实要重新确认，就是本节全部内容。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09600" y="5067300"/>
            <a:ext cx="171450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1038225" y="51911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谁决定下一步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2457450" y="5067300"/>
            <a:ext cx="171450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3028950" y="51911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谁来执行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4305300" y="5067300"/>
            <a:ext cx="1714500" cy="419100"/>
          </a:xfrm>
          <a:prstGeom prst="roundRect">
            <a:avLst>
              <a:gd name="adj" fmla="val 1818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810125" y="519112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什么时候停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6553200" y="1600200"/>
            <a:ext cx="5029200" cy="7620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724650" y="1771650"/>
            <a:ext cx="4686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观察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724650" y="2038350"/>
            <a:ext cx="468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用户任务、材料与真实工具结果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9029700" y="2371725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553200" y="2571750"/>
            <a:ext cx="5029200" cy="7620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724650" y="2743200"/>
            <a:ext cx="4686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决定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724650" y="3009900"/>
            <a:ext cx="468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生成候选，选择下一个工具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9029700" y="3343275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6553200" y="3543300"/>
            <a:ext cx="5029200" cy="7620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724650" y="3714750"/>
            <a:ext cx="4686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应用执行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724650" y="3981450"/>
            <a:ext cx="468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校验身份与参数，运行受控操作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9029700" y="4314825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6553200" y="4514850"/>
            <a:ext cx="5029200" cy="762000"/>
          </a:xfrm>
          <a:prstGeom prst="roundRect">
            <a:avLst>
              <a:gd name="adj" fmla="val 1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724650" y="4686300"/>
            <a:ext cx="4686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核验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724650" y="4953000"/>
            <a:ext cx="468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检查约束与进度，决定继续或停止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553200" y="5372100"/>
            <a:ext cx="5029200" cy="457200"/>
          </a:xfrm>
          <a:prstGeom prst="roundRect">
            <a:avLst>
              <a:gd name="adj" fmla="val 1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724650" y="5524500"/>
            <a:ext cx="2800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仍有问题且预算允许：带回真实结果，回到观察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00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2.10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循环、规划与记忆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9582150" y="6400800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教学课件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GenerativeAgentsCN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32" name="" descr="&lt;Slide notes={`我们先给自己一张地图。这一节我分四块来讲。&#10;&#10;第一块是一轮闭环：观察、决定、执行、核验这四个动作分别由谁承接，其中核验最容易被忽略。&#10;&#10;第二块是三种组织任务的方法——规划、ReAct 和反思，它们各自增加的是什么，还有一个很实际的判断：什么时候固定的工作流就已经够用了。&#10;&#10;第三块是把停止条件写进程序：什么叫成功、什么叫继续、什么叫有原因地停止，以及轮数、工具请求数和实际执行数为什么必须分开记。&#10;&#10;第四块讲三种「记住」的边界，最后回到可以动手体验的三种任务模式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本节地图&lt;/Text&gt;&#10;            &lt;Text style={{ fontSize: 34, fontWeight: 'bold', color: '#20344B' }}&gt;本节要看清的四件事&lt;/Text&gt;&#10;        &lt;/Box&gt;&#10;    &lt;/Box&gt;&#10;&#10;    &lt;Box style={{ height: 540, flexDirection: 'row', alignItems: 'center', gap: 24 }}&gt;&#10;&#10;        &lt;Box style={{ width: 306, flexDirection: 'column', justifyContent: 'center', gap: 14 }}&gt;&#10;            &lt;Text style={{ fontSize: 24, fontWeight: 'bold', color: '#20344B', lineHeight: 1.35 }}&gt;四个知识块&lt;/Text&gt;&#10;            &lt;Box style={{ width: 64, height: 4, background: '#276FBF' }} /&gt;&#10;            &lt;Text style={{ fontSize: 15, color: '#546779', lineHeight: 1.75 }}&gt;从「一轮闭环怎么转起来」，到「凭什么更聪明」、「什么时候停」，最后到「什么算记得」。&lt;/Text&gt;&#10;            &lt;Box style={{ flexDirection: 'column', gap: 10, marginTop: 4 }}&gt;&#10;                &lt;Box style={{ width: 200, height: 30, background: '#EDF4FC', borderRadius: 6, justifyContent: 'center', padding: '0px 14px' }}&gt;&#10;                    &lt;Text style={{ fontSize: 14, color: '#276FBF' }}&gt;① 谁承接哪一步&lt;/Text&gt;&#10;                &lt;/Box&gt;&#10;                &lt;Box style={{ width: 200, height: 30, background: '#EDF4FC', borderRadius: 6, justifyContent: 'center', padding: '0px 14px' }}&gt;&#10;                    &lt;Text style={{ fontSize: 14, color: '#276FBF' }}&gt;② 凭什么更聪明&lt;/Text&gt;&#10;                &lt;/Box&gt;&#10;                &lt;Box style={{ width: 200, height: 30, background: '#EDF4FC', borderRadius: 6, justifyContent: 'center', padding: '0px 14px' }}&gt;&#10;                    &lt;Text style={{ fontSize: 14, color: '#276FBF' }}&gt;③ 什么时候停&lt;/Text&gt;&#10;                &lt;/Box&gt;&#10;                &lt;Box style={{ width: 200, height: 30, background: '#FFF4E6', borderRadius: 6, justifyContent: 'center', padding: '0px 14px' }}&gt;&#10;                    &lt;Text style={{ fontSize: 14, color: '#CB6B28' }}&gt;④ 什么算记得&lt;/Text&gt;&#10;                &lt;/Box&gt;&#10;            &lt;/Box&gt;&#10;        &lt;/Box&gt;&#10;&#10;        &lt;Box style={{ width: 822, flexDirection: 'column', gap: 18 }}&gt;&#10;&#10;            &lt;Box style={{ flexDirection: 'row', gap: 18 }}&gt;&#10;                &lt;Box style={{ width: 402, height: 251, background: '#EDF4FC', borderRadius: 10, padding: '18px 20px', flexDirection: 'column', gap: 10 }}&gt;&#10;                    &lt;Box style={{ flexDirection: 'row', alignItems: 'center', gap: 12 }}&gt;&#10;                        &lt;Box style={{ width: 44, height: 44, background: '#276FBF', borderRadius: 8, justifyContent: 'center', alignItems: 'center' }}&gt;&#10;                            &lt;Text style={{ fontSize: 20, fontWeight: 'bold', color: '#FFFFFF' }}&gt;①&lt;/Text&gt;&#10;                        &lt;/Box&gt;&#10;                        &lt;Text style={{ fontSize: 20, fontWeight: 'bold', color: '#276FBF' }}&gt;从一次回答到闭环&lt;/Text&gt;&#10;                    &lt;/Box&gt;&#10;                    &lt;Text style={{ fontSize: 14, color: '#546779', lineHeight: 1.7 }}&gt;观察、决定、执行、核验四个动作谁来做；为什么核验最容易被跳过，也最不能跳过。&lt;/Text&gt;&#10;                &lt;/Box&gt;&#10;                &lt;Box style={{ width: 402, height: 251, background: '#EDF4FC', borderRadius: 10, padding: '18px 20px', flexDirection: 'column', gap: 10 }}&gt;&#10;                    &lt;Box style={{ flexDirection: 'row', alignItems: 'center', gap: 12 }}&gt;&#10;                        &lt;Box style={{ width: 44, height: 44, background: '#276FBF', borderRadius: 8, justifyContent: 'center', alignItems: 'center' }}&gt;&#10;                            &lt;Text style={{ fontSize: 20, fontWeight: 'bold', color: '#FFFFFF' }}&gt;②&lt;/Text&gt;&#10;                        &lt;/Box&gt;&#10;                        &lt;Text style={{ fontSize: 20, fontWeight: 'bold', color: '#276FBF' }}&gt;三种组织任务的方法&lt;/Text&gt;&#10;                    &lt;/Box&gt;&#10;                    &lt;Text style={{ fontSize: 14, color: '#546779', lineHeight: 1.7 }}&gt;规划、ReAct 与反思各增加什么；什么时候固定工作流就已经够用，不必上循环。&lt;/Text&gt;&#10;                &lt;/Box&gt;&#10;            &lt;/Box&gt;&#10;&#10;            &lt;Box style={{ flexDirection: 'row', gap: 18 }}&gt;&#10;                &lt;Box style={{ width: 402, height: 251, background: '#EDF4FC', borderRadius: 10, padding: '18px 20px', flexDirection: 'column', gap: 10 }}&gt;&#10;                    &lt;Box style={{ flexDirection: 'row', alignItems: 'center', gap: 12 }}&gt;&#10;                        &lt;Box style={{ width: 44, height: 44, background: '#276FBF', borderRadius: 8, justifyContent: 'center', alignItems: 'center' }}&gt;&#10;                            &lt;Text style={{ fontSize: 20, fontWeight: 'bold', color: '#FFFFFF' }}&gt;③&lt;/Text&gt;&#10;                        &lt;/Box&gt;&#10;                        &lt;Text style={{ fontSize: 20, fontWeight: 'bold', color: '#276FBF' }}&gt;把停止条件写进程序&lt;/Text&gt;&#10;                    &lt;/Box&gt;&#10;                    &lt;Text style={{ fontSize: 14, color: '#546779', lineHeight: 1.7 }}&gt;成功、继续与有原因地停止；轮数、工具请求数、实际执行数为什么不能混用上限。&lt;/Text&gt;&#10;                &lt;/Box&gt;&#10;                &lt;Box style={{ width: 402, height: 251, background: '#FFF4E6', borderRadius: 10, padding: '18px 20px', flexDirection: 'column', gap: 10 }}&gt;&#10;                    &lt;Box style={{ flexDirection: 'row', alignItems: 'center', gap: 12 }}&gt;&#10;                        &lt;Box style={{ width: 44, height: 44, background: '#CB6B28', borderRadius: 8, justifyContent: 'center', alignItems: 'center' }}&gt;&#10;                            &lt;Text style={{ fontSize: 20, fontWeight: 'bold', color: '#FFFFFF' }}&gt;④&lt;/Text&gt;&#10;                        &lt;/Box&gt;&#10;                        &lt;Text style={{ fontSize: 20, fontWeight: 'bold', color: '#CB6B28' }}&gt;三种「记住」与体验&lt;/Text&gt;&#10;                    &lt;/Box&gt;&#10;                    &lt;Text style={{ fontSize: 14, color: '#546779', lineHeight: 1.7 }}&gt;会话上下文、应用任务状态、长期记忆的边界，以及 WorkBuddy 三种任务模式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0 Agent 循环、规划与记忆&lt;/Text&gt;&#10;        &lt;Text style={{ fontSize: 14, color: '#546779' }}&gt;0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本节地图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本节要看清的四件事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609600" y="2124075"/>
            <a:ext cx="2914650" cy="3714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800" b="1">
                <a:solidFill>
                  <a:srgbClr val="20344B"/>
                </a:solidFill>
                <a:latin typeface="Microsoft YaHei"/>
                <a:ea typeface="Microsoft YaHei"/>
              </a:rPr>
              <a:t>四个知识块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609600" y="2628900"/>
            <a:ext cx="6096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609600" y="2800350"/>
            <a:ext cx="291465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从「一轮闭环怎么转起来」，到「凭什么更聪明」、「什么时候停」，最后到「什么算记得」。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609600" y="3876675"/>
            <a:ext cx="1905000" cy="285750"/>
          </a:xfrm>
          <a:prstGeom prst="roundRect">
            <a:avLst>
              <a:gd name="adj" fmla="val 2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742950" y="3943350"/>
            <a:ext cx="163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谁承接哪一步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609600" y="4257675"/>
            <a:ext cx="1905000" cy="285750"/>
          </a:xfrm>
          <a:prstGeom prst="roundRect">
            <a:avLst>
              <a:gd name="adj" fmla="val 2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742950" y="4324350"/>
            <a:ext cx="163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凭什么更聪明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609600" y="4638675"/>
            <a:ext cx="1905000" cy="285750"/>
          </a:xfrm>
          <a:prstGeom prst="roundRect">
            <a:avLst>
              <a:gd name="adj" fmla="val 2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742950" y="4705350"/>
            <a:ext cx="163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什么时候停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609600" y="5019675"/>
            <a:ext cx="1905000" cy="285750"/>
          </a:xfrm>
          <a:prstGeom prst="roundRect">
            <a:avLst>
              <a:gd name="adj" fmla="val 2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742950" y="5086350"/>
            <a:ext cx="163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什么算记得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3752850" y="1238250"/>
            <a:ext cx="3829050" cy="2390775"/>
          </a:xfrm>
          <a:prstGeom prst="roundRect">
            <a:avLst>
              <a:gd name="adj" fmla="val 398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49" name=""/>
          <p:cNvSpPr/>
          <p:nvPr/>
        </p:nvSpPr>
        <p:spPr>
          <a:xfrm rot="0" flipH="0" flipV="0">
            <a:off x="3943350" y="14097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4057650" y="15049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4476750" y="1504950"/>
            <a:ext cx="1524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从一次回答到闭环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3943350" y="1924050"/>
            <a:ext cx="34480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观察、决定、执行、核验四个动作谁来做；为什么核验最容易被跳过，也最不能跳过。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7753350" y="1238250"/>
            <a:ext cx="3829050" cy="2390775"/>
          </a:xfrm>
          <a:prstGeom prst="roundRect">
            <a:avLst>
              <a:gd name="adj" fmla="val 398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54" name=""/>
          <p:cNvSpPr/>
          <p:nvPr/>
        </p:nvSpPr>
        <p:spPr>
          <a:xfrm rot="0" flipH="0" flipV="0">
            <a:off x="7943850" y="14097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8058150" y="15049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8477250" y="1504950"/>
            <a:ext cx="1714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三种组织任务的方法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7943850" y="1924050"/>
            <a:ext cx="34480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规划、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ReAct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与反思各增加什么；什么时候固定工作流就已经够用，不必上循环。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3752850" y="3800475"/>
            <a:ext cx="3829050" cy="2390775"/>
          </a:xfrm>
          <a:prstGeom prst="roundRect">
            <a:avLst>
              <a:gd name="adj" fmla="val 398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59" name=""/>
          <p:cNvSpPr/>
          <p:nvPr/>
        </p:nvSpPr>
        <p:spPr>
          <a:xfrm rot="0" flipH="0" flipV="0">
            <a:off x="3943350" y="39719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4057650" y="406717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4476750" y="4067175"/>
            <a:ext cx="1714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把停止条件写进程序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3943350" y="4486275"/>
            <a:ext cx="34480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成功、继续与有原因地停止；轮数、工具请求数、实际执行数为什么不能混用上限。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7753350" y="3800475"/>
            <a:ext cx="3829050" cy="2390775"/>
          </a:xfrm>
          <a:prstGeom prst="roundRect">
            <a:avLst>
              <a:gd name="adj" fmla="val 398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64" name=""/>
          <p:cNvSpPr/>
          <p:nvPr/>
        </p:nvSpPr>
        <p:spPr>
          <a:xfrm rot="0" flipH="0" flipV="0">
            <a:off x="7943850" y="39719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8058150" y="406717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8477250" y="4067175"/>
            <a:ext cx="1714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三种「记住」与体验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7943850" y="4486275"/>
            <a:ext cx="34480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会话上下文、应用任务状态、长期记忆的边界，以及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三种任务模式。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00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2.10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循环、规划与记忆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99" name="" descr="&lt;Slide notes={`先看最基础的一轮闭环。一次回答，是模型生成一段文字就结束了；一段闭环不一样，它要按真实结果决定下一步做什么。&#10;&#10;按顺序走一遍：观察用户的任务、材料和上一次工具的真实结果；决定下一轮查什么、生成什么候选；由应用去执行被允许的工具；最后核验目标有没有满足，是继续，还是有原因地停下。&#10;&#10;这里我要强调两点。第一，执行这一步是应用在做，不是模型在做，模型只能提出请求。第二，核验不是走过场。「我已安排好全部活动」是一句模型输出；只有校验器返回通过，才说明我们编码的排期约束得到了满足。&#10;&#10;至于现实中的房间有没有真的被预订，本节这些工具还没有那个能力，也不应该拿它当成功证据。`} style={{ width: 1280, height: 720, background: '#FFFFFF', flexDirection: 'column', padding: '20px 64px' }}&gt;&#10;&#10;    &lt;Box style={{ height: 540, flexDirection: 'column', justifyContent: 'center', gap: 18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6, fontWeight: 'bold', color: '#FFFFFF' }}&gt;①&lt;/Text&gt;&#10;            &lt;/Box&gt;&#10;            &lt;Text style={{ fontSize: 16, color: '#546779' }}&gt;2.10.1&lt;/Text&gt;&#10;        &lt;/Box&gt;&#10;&#10;        &lt;Text style={{ fontSize: 56, fontWeight: 'bold', color: '#20344B', lineHeight: 1.15 }}&gt;从一次回答到一个闭环&lt;/Text&gt;&#10;&#10;        &lt;Box style={{ width: 640, height: 4, background: '#276FBF' }} /&gt;&#10;&#10;        &lt;Text style={{ fontSize: 19, color: '#546779', lineHeight: 1.7 }}&gt;助手按真实结果决定下一步，程序守住执行边界。&lt;/Text&gt;&#10;&#10;        &lt;Box style={{ flexDirection: 'row', justifyContent: 'center', alignItems: 'center', marginTop: 6 }}&gt;&#10;            &lt;Box style={{ width: 224, height: 60, background: '#EDF4FC', borderRadius: 8, justifyContent: 'center', alignItems: 'center' }}&gt;&#10;                &lt;Text style={{ fontSize: 17, fontWeight: 'bold', color: '#276FBF' }}&gt;观察&lt;/Text&gt;&#10;            &lt;/Box&gt;&#10;            &lt;Box style={{ width: 44, height: 60, justifyContent: 'center', alignItems: 'center' }}&gt;&lt;Text style={{ fontSize: 26, color: '#276FBF' }}&gt;›&lt;/Text&gt;&lt;/Box&gt;&#10;            &lt;Box style={{ width: 224, height: 60, background: '#EDF4FC', borderRadius: 8, justifyContent: 'center', alignItems: 'center' }}&gt;&#10;                &lt;Text style={{ fontSize: 17, fontWeight: 'bold', color: '#276FBF' }}&gt;决定&lt;/Text&gt;&#10;            &lt;/Box&gt;&#10;            &lt;Box style={{ width: 44, height: 60, justifyContent: 'center', alignItems: 'center' }}&gt;&lt;Text style={{ fontSize: 26, color: '#276FBF' }}&gt;›&lt;/Text&gt;&lt;/Box&gt;&#10;            &lt;Box style={{ width: 224, height: 60, background: '#EDF4FC', borderRadius: 8, justifyContent: 'center', alignItems: 'center' }}&gt;&#10;                &lt;Text style={{ fontSize: 17, fontWeight: 'bold', color: '#276FBF' }}&gt;应用执行&lt;/Text&gt;&#10;            &lt;/Box&gt;&#10;            &lt;Box style={{ width: 44, height: 60, justifyContent: 'center', alignItems: 'center' }}&gt;&lt;Text style={{ fontSize: 26, color: '#26816B' }}&gt;›&lt;/Text&gt;&lt;/Box&gt;&#10;            &lt;Box style={{ width: 224, height: 60, background: '#ECF7F2', borderRadius: 8, justifyContent: 'center', alignItems: 'center' }}&gt;&#10;                &lt;Text style={{ fontSize: 17, fontWeight: 'bold', color: '#26816B' }}&gt;核验&lt;/Text&gt;&#10;            &lt;/Box&gt;&#10;        &lt;/Box&gt;&#10;&#10;        &lt;Box style={{ flexDirection: 'row', justifyContent: 'center' }}&gt;&#10;            &lt;Box style={{ width: 960, height: 48, background: '#FFF4E6', borderRadius: 8, justifyContent: 'center', alignItems: 'center' }}&gt;&#10;                &lt;Text style={{ fontSize: 16, fontWeight: 'bold', color: '#CB6B28' }}&gt;核验决定继续还是有原因地停止，它不属于模型，属于程序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0 Agent 循环、规划与记忆&lt;/Text&gt;&#10;        &lt;Text style={{ fontSize: 14, color: '#546779' }}&gt;0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1" name=""/>
          <p:cNvSpPr/>
          <p:nvPr/>
        </p:nvSpPr>
        <p:spPr>
          <a:xfrm rot="0" flipH="0" flipV="0">
            <a:off x="609600" y="9525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752475" y="1066800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1295400" y="1123950"/>
            <a:ext cx="438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2.10.1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609600" y="16573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从一次回答到一个闭环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609600" y="257175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609600" y="27813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助手按真实结果决定下一步，程序守住执行边界。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1200150" y="3381375"/>
            <a:ext cx="2133600" cy="571500"/>
          </a:xfrm>
          <a:prstGeom prst="roundRect">
            <a:avLst>
              <a:gd name="adj" fmla="val 13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2105025" y="357187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观察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3505200" y="35147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3752850" y="3381375"/>
            <a:ext cx="2133600" cy="571500"/>
          </a:xfrm>
          <a:prstGeom prst="roundRect">
            <a:avLst>
              <a:gd name="adj" fmla="val 13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4657725" y="357187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决定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6057900" y="35147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13" name=""/>
          <p:cNvSpPr/>
          <p:nvPr/>
        </p:nvSpPr>
        <p:spPr>
          <a:xfrm rot="0" flipH="0" flipV="0">
            <a:off x="6305550" y="3381375"/>
            <a:ext cx="2133600" cy="571500"/>
          </a:xfrm>
          <a:prstGeom prst="roundRect">
            <a:avLst>
              <a:gd name="adj" fmla="val 13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7048500" y="357187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应用执行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8610600" y="35147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16" name=""/>
          <p:cNvSpPr/>
          <p:nvPr/>
        </p:nvSpPr>
        <p:spPr>
          <a:xfrm rot="0" flipH="0" flipV="0">
            <a:off x="8858250" y="3381375"/>
            <a:ext cx="2133600" cy="571500"/>
          </a:xfrm>
          <a:prstGeom prst="roundRect">
            <a:avLst>
              <a:gd name="adj" fmla="val 13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9763125" y="357187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核验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1524000" y="4124325"/>
            <a:ext cx="9144000" cy="457200"/>
          </a:xfrm>
          <a:prstGeom prst="roundRect">
            <a:avLst>
              <a:gd name="adj" fmla="val 1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4114800" y="4257675"/>
            <a:ext cx="396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核验决定继续还是有原因地停止，它不属于模型，属于程序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1800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2.10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循环、规划与记忆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522" name="" descr="&lt;Slide notes={`把四个动作摆到一条线上，再补上两个出口。&#10;&#10;观察，看的是用户提的任务、材料，以及上一次工具真实返回了什么。决定，是模型生成候选、挑下一个要查的东西。应用执行，是程序校验身份和参数之后运行受控操作。核验，检查约束和进度，然后决定继续还是停。&#10;&#10;如果核验发现有解不开的问题、而且预算还允许，就把真实结果带回去，回到观察，再走一轮。这就是回路的意义：不是推倒重来，是带着新的事实再判断一次。&#10;&#10;什么时候结束？四种情况都算有结果——通过、失败、无进展、预算耗尽，每一种都要保留记录。&#10;&#10;最后记住两句话：模型提出工具请求，不等于工具已经执行；一段文字总结，不等于业务已经验证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0.1　从一次回答到一个闭环&lt;/Text&gt;&#10;            &lt;Text style={{ fontSize: 34, fontWeight: 'bold', color: '#20344B' }}&gt;观察、决定、执行、核验&lt;/Text&gt;&#10;        &lt;/Box&gt;&#10;    &lt;/Box&gt;&#10;&#10;    &lt;Box style={{ height: 540, flexDirection: 'column', justifyContent: 'center', gap: 14 }}&gt;&#10;&#10;        &lt;Text style={{ fontSize: 16, color: '#546779' }}&gt;一轮闭环：带真实结果再判断，核验通过或到达停止条件才结束。&lt;/Text&gt;&#10;&#10;        &lt;Box style={{ flexDirection: 'row', alignItems: 'center' }}&gt;&#10;            &lt;Box style={{ width: 244, height: 158, background: '#EDF4FC', borderRadius: 8, padding: '16px 16px', flexDirection: 'column', gap: 6 }}&gt;&#10;                &lt;Text style={{ fontSize: 20, fontWeight: 'bold', color: '#276FBF' }}&gt;观察&lt;/Text&gt;&#10;                &lt;Text style={{ fontSize: 14, color: '#546779', lineHeight: 1.6 }}&gt;用户任务、材料{'\n'}与真实工具结果&lt;/Text&gt;&#10;            &lt;/Box&gt;&#10;            &lt;Box style={{ width: 44, height: 158, justifyContent: 'center', alignItems: 'center' }}&gt;&lt;Text style={{ fontSize: 26, color: '#276FBF' }}&gt;›&lt;/Text&gt;&lt;/Box&gt;&#10;            &lt;Box style={{ width: 244, height: 158, background: '#EDF4FC', borderRadius: 8, padding: '16px 16px', flexDirection: 'column', gap: 6 }}&gt;&#10;                &lt;Text style={{ fontSize: 20, fontWeight: 'bold', color: '#276FBF' }}&gt;决定&lt;/Text&gt;&#10;                &lt;Text style={{ fontSize: 14, color: '#546779', lineHeight: 1.6 }}&gt;生成候选{'\n'}选择下一个工具&lt;/Text&gt;&#10;            &lt;/Box&gt;&#10;            &lt;Box style={{ width: 44, height: 158, justifyContent: 'center', alignItems: 'center' }}&gt;&lt;Text style={{ fontSize: 26, color: '#276FBF' }}&gt;›&lt;/Text&gt;&lt;/Box&gt;&#10;            &lt;Box style={{ width: 244, height: 158, background: '#EDF4FC', borderRadius: 8, padding: '16px 16px', flexDirection: 'column', gap: 6 }}&gt;&#10;                &lt;Text style={{ fontSize: 20, fontWeight: 'bold', color: '#276FBF' }}&gt;应用执行&lt;/Text&gt;&#10;                &lt;Text style={{ fontSize: 14, color: '#546779', lineHeight: 1.6 }}&gt;校验身份与参数{'\n'}运行受控操作&lt;/Text&gt;&#10;            &lt;/Box&gt;&#10;            &lt;Box style={{ width: 44, height: 158, justifyContent: 'center', alignItems: 'center' }}&gt;&lt;Text style={{ fontSize: 26, color: '#26816B' }}&gt;›&lt;/Text&gt;&lt;/Box&gt;&#10;            &lt;Box style={{ width: 244, height: 158, background: '#ECF7F2', borderRadius: 8, padding: '16px 16px', flexDirection: 'column', gap: 6 }}&gt;&#10;                &lt;Text style={{ fontSize: 20, fontWeight: 'bold', color: '#26816B' }}&gt;核验&lt;/Text&gt;&#10;                &lt;Text style={{ fontSize: 14, color: '#546779', lineHeight: 1.6 }}&gt;检查约束与进度{'\n'}决定继续或停止&lt;/Text&gt;&#10;            &lt;/Box&gt;&#10;        &lt;/Box&gt;&#10;&#10;        &lt;Box style={{ width: 1108, height: 54, background: '#EDF4FC', borderRadius: 8, flexDirection: 'row', alignItems: 'center', padding: '0px 20px', gap: 14 }}&gt;&#10;            &lt;Text style={{ fontSize: 15, fontWeight: 'bold', color: '#276FBF' }}&gt;仍有问题且预算允许&lt;/Text&gt;&#10;            &lt;Text style={{ fontSize: 16, color: '#276FBF' }}&gt;›&lt;/Text&gt;&#10;            &lt;Text style={{ fontSize: 15, color: '#546779' }}&gt;带回真实结果，回到「观察」，再走一轮&lt;/Text&gt;&#10;        &lt;/Box&gt;&#10;&#10;        &lt;Box style={{ flexDirection: 'row', alignItems: 'center', gap: 14, marginTop: 4 }}&gt;&#10;            &lt;Text style={{ fontSize: 15, fontWeight: 'bold', color: '#20344B', width: 150 }}&gt;结束并保留记录&lt;/Text&gt;&#10;            &lt;Box style={{ width: 216, height: 48, background: '#ECF7F2', borderRadius: 8, justifyContent: 'center', alignItems: 'center' }}&gt;&#10;                &lt;Text style={{ fontSize: 16, fontWeight: 'bold', color: '#26816B' }}&gt;通过&lt;/Text&gt;&#10;            &lt;/Box&gt;&#10;            &lt;Box style={{ width: 216, height: 48, background: '#F4F7FA', borderRadius: 8, justifyContent: 'center', alignItems: 'center' }}&gt;&#10;                &lt;Text style={{ fontSize: 16, fontWeight: 'bold', color: '#546779' }}&gt;失败&lt;/Text&gt;&#10;            &lt;/Box&gt;&#10;            &lt;Box style={{ width: 216, height: 48, background: '#FFF4E6', borderRadius: 8, justifyContent: 'center', alignItems: 'center' }}&gt;&#10;                &lt;Text style={{ fontSize: 16, fontWeight: 'bold', color: '#CB6B28' }}&gt;无进展&lt;/Text&gt;&#10;            &lt;/Box&gt;&#10;            &lt;Box style={{ width: 216, height: 48, background: '#FFF4E6', borderRadius: 8, justifyContent: 'center', alignItems: 'center' }}&gt;&#10;                &lt;Text style={{ fontSize: 16, fontWeight: 'bold', color: '#CB6B28' }}&gt;预算耗尽&lt;/Text&gt;&#10;            &lt;/Box&gt;&#10;        &lt;/Box&gt;&#10;&#10;        &lt;Box style={{ flexDirection: 'row', alignItems: 'center', gap: 14, background: '#F4F7FA', borderRadius: 10, padding: '14px 20px' }}&gt;&#10;            &lt;Box style={{ width: 4, height: 40, background: '#CB6B28' }} /&gt;&#10;            &lt;Box style={{ flex: 1, flexDirection: 'column', gap: 3 }}&gt;&#10;                &lt;Text style={{ fontSize: 16, fontWeight: 'bold', color: '#CB6B28' }}&gt;工具请求不等于已执行操作　·　文字总结不等于业务验证&lt;/Text&gt;&#10;                &lt;Text style={{ fontSize: 14, color: '#546779' }}&gt;本章工具只有查询和校验能力，产物是本地筹备文件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0 Agent 循环、规划与记忆&lt;/Text&gt;&#10;        &lt;Text style={{ fontSize: 14, color: '#546779' }}&gt;0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2.10.1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从一次回答到一个闭环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观察、决定、执行、核验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609600" y="177165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一轮闭环：带真实结果再判断，核验通过或到达停止条件才结束。</a:t>
            </a:r>
            <a:endParaRPr/>
          </a:p>
        </p:txBody>
      </p:sp>
      <p:sp>
        <p:nvSpPr>
          <p:cNvPr id="528" name=""/>
          <p:cNvSpPr/>
          <p:nvPr/>
        </p:nvSpPr>
        <p:spPr>
          <a:xfrm rot="0" flipH="0" flipV="0">
            <a:off x="609600" y="2095500"/>
            <a:ext cx="2324100" cy="1504950"/>
          </a:xfrm>
          <a:prstGeom prst="roundRect">
            <a:avLst>
              <a:gd name="adj" fmla="val 506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762000" y="2247900"/>
            <a:ext cx="2019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观察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762000" y="2533650"/>
            <a:ext cx="201930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用户任务、材料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与真实工具结果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3105150" y="26955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32" name=""/>
          <p:cNvSpPr/>
          <p:nvPr/>
        </p:nvSpPr>
        <p:spPr>
          <a:xfrm rot="0" flipH="0" flipV="0">
            <a:off x="3352800" y="2095500"/>
            <a:ext cx="2324100" cy="1504950"/>
          </a:xfrm>
          <a:prstGeom prst="roundRect">
            <a:avLst>
              <a:gd name="adj" fmla="val 506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3505200" y="2247900"/>
            <a:ext cx="2019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决定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3505200" y="2533650"/>
            <a:ext cx="201930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生成候选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选择下一个工具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5848350" y="26955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36" name=""/>
          <p:cNvSpPr/>
          <p:nvPr/>
        </p:nvSpPr>
        <p:spPr>
          <a:xfrm rot="0" flipH="0" flipV="0">
            <a:off x="6096000" y="2095500"/>
            <a:ext cx="2324100" cy="1504950"/>
          </a:xfrm>
          <a:prstGeom prst="roundRect">
            <a:avLst>
              <a:gd name="adj" fmla="val 506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6248400" y="2247900"/>
            <a:ext cx="2019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应用执行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6248400" y="2533650"/>
            <a:ext cx="201930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校验身份与参数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运行受控操作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8591550" y="26955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40" name=""/>
          <p:cNvSpPr/>
          <p:nvPr/>
        </p:nvSpPr>
        <p:spPr>
          <a:xfrm rot="0" flipH="0" flipV="0">
            <a:off x="8839200" y="2095500"/>
            <a:ext cx="2324100" cy="1504950"/>
          </a:xfrm>
          <a:prstGeom prst="roundRect">
            <a:avLst>
              <a:gd name="adj" fmla="val 506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8991600" y="2247900"/>
            <a:ext cx="2019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核验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8991600" y="2533650"/>
            <a:ext cx="201930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检查约束与进度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决定继续或停止</a:t>
            </a:r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609600" y="3733800"/>
            <a:ext cx="10553700" cy="514350"/>
          </a:xfrm>
          <a:prstGeom prst="roundRect">
            <a:avLst>
              <a:gd name="adj" fmla="val 148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800100" y="390525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仍有问题且预算允许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2219325" y="3895725"/>
            <a:ext cx="57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2409825" y="3905250"/>
            <a:ext cx="2571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带回真实结果，回到「观察」，再走一轮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609600" y="456247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结束并保留记录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2171700" y="4419600"/>
            <a:ext cx="2057400" cy="457200"/>
          </a:xfrm>
          <a:prstGeom prst="roundRect">
            <a:avLst>
              <a:gd name="adj" fmla="val 1666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3048000" y="455295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通过</a:t>
            </a:r>
            <a:endParaRPr/>
          </a:p>
        </p:txBody>
      </p:sp>
      <p:sp>
        <p:nvSpPr>
          <p:cNvPr id="550" name=""/>
          <p:cNvSpPr/>
          <p:nvPr/>
        </p:nvSpPr>
        <p:spPr>
          <a:xfrm rot="0" flipH="0" flipV="0">
            <a:off x="4362450" y="4419600"/>
            <a:ext cx="2057400" cy="45720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5238750" y="455295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546779"/>
                </a:solidFill>
                <a:latin typeface="Microsoft YaHei"/>
                <a:ea typeface="Microsoft YaHei"/>
              </a:rPr>
              <a:t>失败</a:t>
            </a:r>
            <a:endParaRPr/>
          </a:p>
        </p:txBody>
      </p:sp>
      <p:sp>
        <p:nvSpPr>
          <p:cNvPr id="552" name=""/>
          <p:cNvSpPr/>
          <p:nvPr/>
        </p:nvSpPr>
        <p:spPr>
          <a:xfrm rot="0" flipH="0" flipV="0">
            <a:off x="6553200" y="4419600"/>
            <a:ext cx="2057400" cy="457200"/>
          </a:xfrm>
          <a:prstGeom prst="roundRect">
            <a:avLst>
              <a:gd name="adj" fmla="val 1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7353300" y="455295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无进展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8743950" y="4419600"/>
            <a:ext cx="2057400" cy="457200"/>
          </a:xfrm>
          <a:prstGeom prst="roundRect">
            <a:avLst>
              <a:gd name="adj" fmla="val 1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9467850" y="45529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预算耗尽</a:t>
            </a:r>
            <a:endParaRPr/>
          </a:p>
        </p:txBody>
      </p:sp>
      <p:sp>
        <p:nvSpPr>
          <p:cNvPr id="556" name=""/>
          <p:cNvSpPr/>
          <p:nvPr/>
        </p:nvSpPr>
        <p:spPr>
          <a:xfrm rot="0" flipH="0" flipV="0">
            <a:off x="609600" y="5010150"/>
            <a:ext cx="10972800" cy="647700"/>
          </a:xfrm>
          <a:prstGeom prst="roundRect">
            <a:avLst>
              <a:gd name="adj" fmla="val 1470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57" name=""/>
          <p:cNvSpPr/>
          <p:nvPr/>
        </p:nvSpPr>
        <p:spPr>
          <a:xfrm rot="0" flipH="0" flipV="0">
            <a:off x="800100" y="514350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971550" y="5143500"/>
            <a:ext cx="10420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工具请求不等于已执行操作　·　文字总结不等于业务验证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971550" y="5362575"/>
            <a:ext cx="10420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本章工具只有查询和校验能力，产物是本地筹备文件。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00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2.10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循环、规划与记忆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562" name="" descr="&lt;Slide notes={`核验这一环，最容易被一句话糊弄过去。&#10;&#10;「我已安排好全部活动」，这是模型说的，它只是一段文本。文本可以很流畅、很像结论，但它本身不构成证据。&#10;&#10;要成为证据，得看工具真实返回了什么。我们调用 validate_schedule，它返回通过，这说明本章编码的排期约束被满足了。注意范围——是这一套约束被满足，不是所有约束都被满足。&#10;&#10;再往外一层是现实状态：房间到底有没有被预订。本节这些工具只有查询和校验能力，产物是一份本地筹备文件，它管不到现实里的预订系统。&#10;&#10;所以做题时养成习惯：把「模型说的」「校验器返回的」「现实里发生的」分开写，不要混成一句「已经完成」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0.1　从一次回答到一个闭环&lt;/Text&gt;&#10;            &lt;Text style={{ fontSize: 34, fontWeight: 'bold', color: '#20344B' }}&gt;核验最容易被忽略&lt;/Text&gt;&#10;        &lt;/Box&gt;&#10;    &lt;/Box&gt;&#10;&#10;    &lt;Box style={{ height: 540, flexDirection: 'column', justifyContent: 'center', gap: 14 }}&gt;&#10;&#10;        &lt;Text style={{ fontSize: 16, color: '#546779' }}&gt;三种「看起来完成了」，可信度完全不同。&lt;/Text&gt;&#10;&#10;        &lt;Box style={{ flexDirection: 'row', alignItems: 'center', height: 116, background: '#FFF4E6', borderRadius: 10, padding: '0px 20px' }}&gt;&#10;            &lt;Box style={{ width: 190, flexDirection: 'column', gap: 4 }}&gt;&#10;                &lt;Text style={{ fontSize: 19, fontWeight: 'bold', color: '#CB6B28' }}&gt;模型说&lt;/Text&gt;&#10;                &lt;Text style={{ fontSize: 14, color: '#546779' }}&gt;一句话，一段文本&lt;/Text&gt;&#10;            &lt;/Box&gt;&#10;            &lt;Box style={{ width: 3, height: 72, background: '#CB6B28', marginRight: 20 }} /&gt;&#10;            &lt;Box style={{ flex: 1, flexDirection: 'column', gap: 5 }}&gt;&#10;                &lt;Text style={{ fontSize: 16, color: '#20344B' }}&gt;「我已安排好全部活动」&lt;/Text&gt;&#10;                &lt;Text style={{ fontSize: 14, color: '#546779', lineHeight: 1.55 }}&gt;模型输出可以很像结论，但它只是输出，没有核对过任何外部条件。&lt;/Text&gt;&#10;            &lt;/Box&gt;&#10;            &lt;Box style={{ width: 268, height: 52, background: '#FFFFFF', borderRadius: 8, justifyContent: 'center', alignItems: 'center' }}&gt;&#10;                &lt;Text style={{ fontSize: 15, fontWeight: 'bold', color: '#CB6B28' }}&gt;不能作为通过依据&lt;/Text&gt;&#10;            &lt;/Box&gt;&#10;        &lt;/Box&gt;&#10;&#10;        &lt;Box style={{ flexDirection: 'row', alignItems: 'center', height: 116, background: '#ECF7F2', borderRadius: 10, padding: '0px 20px' }}&gt;&#10;            &lt;Box style={{ width: 190, flexDirection: 'column', gap: 4 }}&gt;&#10;                &lt;Text style={{ fontSize: 19, fontWeight: 'bold', color: '#26816B' }}&gt;工具返回&lt;/Text&gt;&#10;                &lt;Text style={{ fontSize: 14, color: '#546779' }}&gt;可复核的真实结果&lt;/Text&gt;&#10;            &lt;/Box&gt;&#10;            &lt;Box style={{ width: 3, height: 72, background: '#26816B', marginRight: 20 }} /&gt;&#10;            &lt;Box style={{ flex: 1, flexDirection: 'column', gap: 5 }}&gt;&#10;                &lt;Text style={{ fontSize: 16, color: '#20344B', fontFamily: 'Consolas, monospace' }}&gt;validate_schedule 返回通过&lt;/Text&gt;&#10;                &lt;Text style={{ fontSize: 14, color: '#546779', lineHeight: 1.55 }}&gt;说明本章编码的排期约束得到满足，范围限于这套约束。&lt;/Text&gt;&#10;            &lt;/Box&gt;&#10;            &lt;Box style={{ width: 268, height: 52, background: '#FFFFFF', borderRadius: 8, justifyContent: 'center', alignItems: 'center' }}&gt;&#10;                &lt;Text style={{ fontSize: 15, fontWeight: 'bold', color: '#26816B' }}&gt;可以作为核验依据&lt;/Text&gt;&#10;            &lt;/Box&gt;&#10;        &lt;/Box&gt;&#10;&#10;        &lt;Box style={{ flexDirection: 'row', alignItems: 'center', height: 116, background: '#F4F7FA', borderRadius: 10, padding: '0px 20px' }}&gt;&#10;            &lt;Box style={{ width: 190, flexDirection: 'column', gap: 4 }}&gt;&#10;                &lt;Text style={{ fontSize: 19, fontWeight: 'bold', color: '#546779' }}&gt;现实状态&lt;/Text&gt;&#10;                &lt;Text style={{ fontSize: 14, color: '#546779' }}&gt;房间是否被预订&lt;/Text&gt;&#10;            &lt;/Box&gt;&#10;            &lt;Box style={{ width: 3, height: 72, background: '#B5C7D8', marginRight: 20 }} /&gt;&#10;            &lt;Box style={{ flex: 1, flexDirection: 'column', gap: 5 }}&gt;&#10;                &lt;Text style={{ fontSize: 16, color: '#20344B' }}&gt;这一层本节没有工具可以证明&lt;/Text&gt;&#10;                &lt;Text style={{ fontSize: 14, color: '#546779', lineHeight: 1.55 }}&gt;本章工具只有查询与校验能力，产物是本地筹备文件。&lt;/Text&gt;&#10;            &lt;/Box&gt;&#10;            &lt;Box style={{ width: 268, height: 52, background: '#FFFFFF', borderRadius: 8, justifyContent: 'center', alignItems: 'center' }}&gt;&#10;                &lt;Text style={{ fontSize: 15, fontWeight: 'bold', color: '#546779' }}&gt;超出本节证据范围&lt;/Text&gt;&#10;            &lt;/Box&gt;&#10;        &lt;/Box&gt;&#10;&#10;        &lt;Box style={{ flexDirection: 'row', alignItems: 'center', gap: 16, background: '#F7F3E8', borderRadius: 10, padding: '16px 22px' }}&gt;&#10;            &lt;Box style={{ width: 4, height: 46, background: '#CB6B28' }} /&gt;&#10;            &lt;Box style={{ flex: 1, flexDirection: 'column', gap: 3 }}&gt;&#10;                &lt;Text style={{ fontSize: 16, fontWeight: 'bold', color: '#CB6B28' }}&gt;三者都不能证明现实中的房间已经被预订&lt;/Text&gt;&#10;                &lt;Text style={{ fontSize: 14, color: '#546779' }}&gt;模型的话不是证据，校验通过也只能说明编码的约束被满足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0 Agent 循环、规划与记忆&lt;/Text&gt;&#10;        &lt;Text style={{ fontSize: 14, color: '#546779' }}&gt;0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2.10.1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从一次回答到一个闭环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核验最容易被忽略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609600" y="132397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三种「看起来完成了」，可信度完全不同。</a:t>
            </a:r>
            <a:endParaRPr/>
          </a:p>
        </p:txBody>
      </p:sp>
      <p:sp>
        <p:nvSpPr>
          <p:cNvPr id="568" name=""/>
          <p:cNvSpPr/>
          <p:nvPr/>
        </p:nvSpPr>
        <p:spPr>
          <a:xfrm rot="0" flipH="0" flipV="0">
            <a:off x="609600" y="1647825"/>
            <a:ext cx="10972800" cy="1104900"/>
          </a:xfrm>
          <a:prstGeom prst="roundRect">
            <a:avLst>
              <a:gd name="adj" fmla="val 86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800100" y="1990725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模型说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800100" y="2247900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一句话，一段文本</a:t>
            </a:r>
            <a:endParaRPr/>
          </a:p>
        </p:txBody>
      </p:sp>
      <p:sp>
        <p:nvSpPr>
          <p:cNvPr id="571" name=""/>
          <p:cNvSpPr/>
          <p:nvPr/>
        </p:nvSpPr>
        <p:spPr>
          <a:xfrm rot="0" flipH="0" flipV="0">
            <a:off x="2609850" y="1857375"/>
            <a:ext cx="28575" cy="6858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2828925" y="1952625"/>
            <a:ext cx="6010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「我已安排好全部活动」</a:t>
            </a:r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2828925" y="2190750"/>
            <a:ext cx="6010275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模型输出可以很像结论，但它只是输出，没有核对过任何外部条件。</a:t>
            </a:r>
            <a:endParaRPr/>
          </a:p>
        </p:txBody>
      </p:sp>
      <p:sp>
        <p:nvSpPr>
          <p:cNvPr id="574" name=""/>
          <p:cNvSpPr/>
          <p:nvPr/>
        </p:nvSpPr>
        <p:spPr>
          <a:xfrm rot="0" flipH="0" flipV="0">
            <a:off x="8839200" y="1952625"/>
            <a:ext cx="25527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9544050" y="211455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不能作为通过依据</a:t>
            </a:r>
            <a:endParaRPr/>
          </a:p>
        </p:txBody>
      </p:sp>
      <p:sp>
        <p:nvSpPr>
          <p:cNvPr id="576" name=""/>
          <p:cNvSpPr/>
          <p:nvPr/>
        </p:nvSpPr>
        <p:spPr>
          <a:xfrm rot="0" flipH="0" flipV="0">
            <a:off x="609600" y="2886075"/>
            <a:ext cx="10972800" cy="1104900"/>
          </a:xfrm>
          <a:prstGeom prst="roundRect">
            <a:avLst>
              <a:gd name="adj" fmla="val 862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800100" y="3228975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工具返回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800100" y="3486150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可复核的真实结果</a:t>
            </a:r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2609850" y="3095625"/>
            <a:ext cx="28575" cy="6858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2828925" y="3190875"/>
            <a:ext cx="6010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Consolas"/>
                <a:ea typeface="Consolas"/>
              </a:rPr>
              <a:t xml:space="preserve">validate_schedule </a:t>
            </a:r>
            <a:r>
              <a:rPr lang="zh-CN" sz="1200">
                <a:solidFill>
                  <a:srgbClr val="20344B"/>
                </a:solidFill>
                <a:latin typeface="Consolas"/>
                <a:ea typeface="Consolas"/>
              </a:rPr>
              <a:t>返回通过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2828925" y="3429000"/>
            <a:ext cx="6010275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说明本章编码的排期约束得到满足，范围限于这套约束。</a:t>
            </a:r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8839200" y="3190875"/>
            <a:ext cx="25527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9544050" y="335280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可以作为核验依据</a:t>
            </a:r>
            <a:endParaRPr/>
          </a:p>
        </p:txBody>
      </p:sp>
      <p:sp>
        <p:nvSpPr>
          <p:cNvPr id="584" name=""/>
          <p:cNvSpPr/>
          <p:nvPr/>
        </p:nvSpPr>
        <p:spPr>
          <a:xfrm rot="0" flipH="0" flipV="0">
            <a:off x="609600" y="4124325"/>
            <a:ext cx="109728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800100" y="4467225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546779"/>
                </a:solidFill>
                <a:latin typeface="Microsoft YaHei"/>
                <a:ea typeface="Microsoft YaHei"/>
              </a:rPr>
              <a:t>现实状态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800100" y="4724400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房间是否被预订</a:t>
            </a:r>
            <a:endParaRPr/>
          </a:p>
        </p:txBody>
      </p:sp>
      <p:sp>
        <p:nvSpPr>
          <p:cNvPr id="587" name=""/>
          <p:cNvSpPr/>
          <p:nvPr/>
        </p:nvSpPr>
        <p:spPr>
          <a:xfrm rot="0" flipH="0" flipV="0">
            <a:off x="2609850" y="4333875"/>
            <a:ext cx="28575" cy="6858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2828925" y="4429125"/>
            <a:ext cx="6010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这一层本节没有工具可以证明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2828925" y="4667250"/>
            <a:ext cx="6010275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本章工具只有查询与校验能力，产物是本地筹备文件。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8839200" y="4429125"/>
            <a:ext cx="25527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9544050" y="459105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超出本节证据范围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609600" y="5362575"/>
            <a:ext cx="10972800" cy="742950"/>
          </a:xfrm>
          <a:prstGeom prst="roundRect">
            <a:avLst>
              <a:gd name="adj" fmla="val 1282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93" name=""/>
          <p:cNvSpPr/>
          <p:nvPr/>
        </p:nvSpPr>
        <p:spPr>
          <a:xfrm rot="0" flipH="0" flipV="0">
            <a:off x="819150" y="5514975"/>
            <a:ext cx="38100" cy="4381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1009650" y="5543550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三者都不能证明现实中的房间已经被预订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1009650" y="5762625"/>
            <a:ext cx="1036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模型的话不是证据，校验通过也只能说明编码的约束被满足。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00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2.10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循环、规划与记忆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598" name="" descr="&lt;Slide notes={`有人会担心：既然模型可以灵活决定下一步，那它是不是也能绕过规则？答案是不能，因为规则根本不在模型手里。&#10;&#10;有四件事始终由程序掌握。第一是工具白名单——允许调用哪些工具，是程序声明的，模型只能在名单里挑。第二是参数校验——房间 ID、时间段这些参数进来先校验，非法输入不进入执行。&#10;&#10;第三是调用预算——轮数、工具数、时间上限，都由程序计数和截断。第四是文件保存条件——什么情况下允许写交付文件、写到哪里，也是程序说了算，不是模型要求写就能写。&#10;&#10;所以模型的灵活只体现在「决定下一步」，不体现在「改变规则」。灵活地决定步骤，不能覆盖执行规则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0.1　从一次回答到一个闭环&lt;/Text&gt;&#10;            &lt;Text style={{ fontSize: 34, fontWeight: 'bold', color: '#20344B' }}&gt;执行边界由程序掌握&lt;/Text&gt;&#10;        &lt;/Box&gt;&#10;    &lt;/Box&gt;&#10;&#10;    &lt;Box style={{ height: 540, flexDirection: 'row', alignItems: 'center', gap: 24 }}&gt;&#10;&#10;        &lt;Box style={{ width: 430, flexDirection: 'column', justifyContent: 'center', gap: 14 }}&gt;&#10;            &lt;Text style={{ fontSize: 22, fontWeight: 'bold', color: '#20344B', lineHeight: 1.4 }}&gt;模型改不了的四条规则&lt;/Text&gt;&#10;            &lt;Box style={{ width: 64, height: 4, background: '#276FBF' }} /&gt;&#10;            &lt;Text style={{ fontSize: 15, color: '#546779', lineHeight: 1.75 }}&gt;灵活决定步骤，只发生在程序允许的范围内。模型可以请求，程序才决定要不要真的执行。&lt;/Text&gt;&#10;            &lt;Box style={{ background: '#F4F7FA', borderRadius: 8, padding: '12px 16px' }}&gt;&#10;                &lt;Text style={{ fontSize: 13, color: '#20344B', fontFamily: 'Consolas, monospace' }}&gt;validate_schedule(schedule.json)&lt;/Text&gt;&#10;            &lt;/Box&gt;&#10;            &lt;Box style={{ flexDirection: 'row', alignItems: 'center', gap: 14, background: '#FFF4E6', borderRadius: 10, padding: '16px 18px' }}&gt;&#10;                &lt;Box style={{ width: 4, height: 44, background: '#CB6B28' }} /&gt;&#10;                &lt;Text style={{ fontSize: 16, fontWeight: 'bold', color: '#CB6B28', lineHeight: 1.5 }}&gt;灵活决定步骤{'\n'}不能覆盖执行规则&lt;/Text&gt;&#10;            &lt;/Box&gt;&#10;        &lt;/Box&gt;&#10;&#10;        &lt;Box style={{ width: 698, flexDirection: 'column', justifyContent: 'center', gap: 12 }}&gt;&#10;&#10;            &lt;Box style={{ height: 118, background: '#EDF4FC', borderRadius: 10, padding: '0px 20px', flexDirection: 'row', alignItems: 'center', gap: 16 }}&gt;&#10;                &lt;Box style={{ width: 4, height: 58, background: '#276FBF' }} /&gt;&#10;                &lt;Box style={{ flex: 1, flexDirection: 'column', gap: 5 }}&gt;&#10;                    &lt;Text style={{ fontSize: 20, fontWeight: 'bold', color: '#276FBF' }}&gt;工具白名单&lt;/Text&gt;&#10;                    &lt;Text style={{ fontSize: 14, color: '#546779', lineHeight: 1.55 }}&gt;允许调用哪些工具由程序声明，模型只能在名单里挑选。&lt;/Text&gt;&#10;                &lt;/Box&gt;&#10;            &lt;/Box&gt;&#10;&#10;            &lt;Box style={{ height: 118, background: '#EDF4FC', borderRadius: 10, padding: '0px 20px', flexDirection: 'row', alignItems: 'center', gap: 16 }}&gt;&#10;                &lt;Box style={{ width: 4, height: 58, background: '#276FBF' }} /&gt;&#10;                &lt;Box style={{ flex: 1, flexDirection: 'column', gap: 5 }}&gt;&#10;                    &lt;Text style={{ fontSize: 20, fontWeight: 'bold', color: '#276FBF' }}&gt;参数校验&lt;/Text&gt;&#10;                    &lt;Text style={{ fontSize: 14, color: '#546779', lineHeight: 1.55 }}&gt;房间 ID、时间段等参数先校验，非法输入不进入执行。&lt;/Text&gt;&#10;                &lt;/Box&gt;&#10;            &lt;/Box&gt;&#10;&#10;            &lt;Box style={{ height: 118, background: '#FFF4E6', borderRadius: 10, padding: '0px 20px', flexDirection: 'row', alignItems: 'center', gap: 16 }}&gt;&#10;                &lt;Box style={{ width: 4, height: 58, background: '#CB6B28' }} /&gt;&#10;                &lt;Box style={{ flex: 1, flexDirection: 'column', gap: 5 }}&gt;&#10;                    &lt;Text style={{ fontSize: 20, fontWeight: 'bold', color: '#CB6B28' }}&gt;调用预算&lt;/Text&gt;&#10;                    &lt;Text style={{ fontSize: 14, color: '#546779', lineHeight: 1.55 }}&gt;轮数、工具数、时间上限由程序计数与截断，模型无权加预算。&lt;/Text&gt;&#10;                &lt;/Box&gt;&#10;            &lt;/Box&gt;&#10;&#10;            &lt;Box style={{ height: 118, background: '#ECF7F2', borderRadius: 10, padding: '0px 20px', flexDirection: 'row', alignItems: 'center', gap: 16 }}&gt;&#10;                &lt;Box style={{ width: 4, height: 58, background: '#26816B' }} /&gt;&#10;                &lt;Box style={{ flex: 1, flexDirection: 'column', gap: 5 }}&gt;&#10;                    &lt;Text style={{ fontSize: 20, fontWeight: 'bold', color: '#26816B' }}&gt;文件保存条件&lt;/Text&gt;&#10;                    &lt;Text style={{ fontSize: 14, color: '#546779', lineHeight: 1.55 }}&gt;什么情况允许写交付文件、写到哪里，由程序决定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0 Agent 循环、规划与记忆&lt;/Text&gt;&#10;        &lt;Text style={{ fontSize: 14, color: '#546779' }}&gt;0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2.10.1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从一次回答到一个闭环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执行边界由程序掌握</a:t>
            </a:r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609600" y="2333625"/>
            <a:ext cx="409575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模型改不了的四条规则</a:t>
            </a:r>
            <a:endParaRPr/>
          </a:p>
        </p:txBody>
      </p:sp>
      <p:sp>
        <p:nvSpPr>
          <p:cNvPr id="604" name=""/>
          <p:cNvSpPr/>
          <p:nvPr/>
        </p:nvSpPr>
        <p:spPr>
          <a:xfrm rot="0" flipH="0" flipV="0">
            <a:off x="609600" y="2819400"/>
            <a:ext cx="6096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609600" y="2990850"/>
            <a:ext cx="409575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灵活决定步骤，只发生在程序允许的范围内。模型可以请求，程序才决定要不要真的执行。</a:t>
            </a:r>
            <a:endParaRPr/>
          </a:p>
        </p:txBody>
      </p:sp>
      <p:sp>
        <p:nvSpPr>
          <p:cNvPr id="606" name=""/>
          <p:cNvSpPr/>
          <p:nvPr/>
        </p:nvSpPr>
        <p:spPr>
          <a:xfrm rot="0" flipH="0" flipV="0">
            <a:off x="609600" y="3724275"/>
            <a:ext cx="4095750" cy="381000"/>
          </a:xfrm>
          <a:prstGeom prst="roundRect">
            <a:avLst>
              <a:gd name="adj" fmla="val 2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762000" y="3838575"/>
            <a:ext cx="3790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0344B"/>
                </a:solidFill>
                <a:latin typeface="Consolas"/>
                <a:ea typeface="Consolas"/>
              </a:rPr>
              <a:t>validate_schedule(schedule.json)</a:t>
            </a:r>
            <a:endParaRPr/>
          </a:p>
        </p:txBody>
      </p:sp>
      <p:sp>
        <p:nvSpPr>
          <p:cNvPr id="608" name=""/>
          <p:cNvSpPr/>
          <p:nvPr/>
        </p:nvSpPr>
        <p:spPr>
          <a:xfrm rot="0" flipH="0" flipV="0">
            <a:off x="609600" y="4238625"/>
            <a:ext cx="4095750" cy="85725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09" name=""/>
          <p:cNvSpPr/>
          <p:nvPr/>
        </p:nvSpPr>
        <p:spPr>
          <a:xfrm rot="0" flipH="0" flipV="0">
            <a:off x="781050" y="445770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952500" y="4391025"/>
            <a:ext cx="1219200" cy="5524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灵活决定步骤</a:t>
            </a:r>
            <a:endParaRPr/>
          </a:p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不能覆盖执行规则</a:t>
            </a:r>
            <a:endParaRPr/>
          </a:p>
        </p:txBody>
      </p:sp>
      <p:sp>
        <p:nvSpPr>
          <p:cNvPr id="611" name=""/>
          <p:cNvSpPr/>
          <p:nvPr/>
        </p:nvSpPr>
        <p:spPr>
          <a:xfrm rot="0" flipH="0" flipV="0">
            <a:off x="4933950" y="1295400"/>
            <a:ext cx="6648450" cy="1123950"/>
          </a:xfrm>
          <a:prstGeom prst="roundRect">
            <a:avLst>
              <a:gd name="adj" fmla="val 847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12" name=""/>
          <p:cNvSpPr/>
          <p:nvPr/>
        </p:nvSpPr>
        <p:spPr>
          <a:xfrm rot="0" flipH="0" flipV="0">
            <a:off x="5124450" y="1581150"/>
            <a:ext cx="38100" cy="5524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5314950" y="1590675"/>
            <a:ext cx="6076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工具白名单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5314950" y="1866900"/>
            <a:ext cx="60769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允许调用哪些工具由程序声明，模型只能在名单里挑选。</a:t>
            </a:r>
            <a:endParaRPr/>
          </a:p>
        </p:txBody>
      </p:sp>
      <p:sp>
        <p:nvSpPr>
          <p:cNvPr id="615" name=""/>
          <p:cNvSpPr/>
          <p:nvPr/>
        </p:nvSpPr>
        <p:spPr>
          <a:xfrm rot="0" flipH="0" flipV="0">
            <a:off x="4933950" y="2533650"/>
            <a:ext cx="6648450" cy="1123950"/>
          </a:xfrm>
          <a:prstGeom prst="roundRect">
            <a:avLst>
              <a:gd name="adj" fmla="val 847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16" name=""/>
          <p:cNvSpPr/>
          <p:nvPr/>
        </p:nvSpPr>
        <p:spPr>
          <a:xfrm rot="0" flipH="0" flipV="0">
            <a:off x="5124450" y="2819400"/>
            <a:ext cx="38100" cy="5524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5314950" y="2828925"/>
            <a:ext cx="6076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参数校验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5314950" y="3105150"/>
            <a:ext cx="60769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房间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、时间段等参数先校验，非法输入不进入执行。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4933950" y="3771900"/>
            <a:ext cx="6648450" cy="1123950"/>
          </a:xfrm>
          <a:prstGeom prst="roundRect">
            <a:avLst>
              <a:gd name="adj" fmla="val 847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20" name=""/>
          <p:cNvSpPr/>
          <p:nvPr/>
        </p:nvSpPr>
        <p:spPr>
          <a:xfrm rot="0" flipH="0" flipV="0">
            <a:off x="5124450" y="4057650"/>
            <a:ext cx="38100" cy="5524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5314950" y="4067175"/>
            <a:ext cx="6076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调用预算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5314950" y="4343400"/>
            <a:ext cx="60769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轮数、工具数、时间上限由程序计数与截断，模型无权加预算。</a:t>
            </a:r>
            <a:endParaRPr/>
          </a:p>
        </p:txBody>
      </p:sp>
      <p:sp>
        <p:nvSpPr>
          <p:cNvPr id="623" name=""/>
          <p:cNvSpPr/>
          <p:nvPr/>
        </p:nvSpPr>
        <p:spPr>
          <a:xfrm rot="0" flipH="0" flipV="0">
            <a:off x="4933950" y="5010150"/>
            <a:ext cx="6648450" cy="1123950"/>
          </a:xfrm>
          <a:prstGeom prst="roundRect">
            <a:avLst>
              <a:gd name="adj" fmla="val 847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24" name=""/>
          <p:cNvSpPr/>
          <p:nvPr/>
        </p:nvSpPr>
        <p:spPr>
          <a:xfrm rot="0" flipH="0" flipV="0">
            <a:off x="5124450" y="5295900"/>
            <a:ext cx="38100" cy="5524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5314950" y="5305425"/>
            <a:ext cx="6076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文件保存条件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5314950" y="5581650"/>
            <a:ext cx="60769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什么情况允许写交付文件、写到哪里，由程序决定。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00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2.10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循环、规划与记忆</a:t>
            </a:r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629" name="" descr="&lt;Slide notes={`助手要自己往前走，光有四个动作还不够，还得有组织任务的方法。这一节讲三种方法，它们增加的东西并不一样。&#10;&#10;规划，是把目标拆成可以检查的子目标：确认输入完整、核对可用时段、生成候选、检查冲突、交付。关键在最后一句——计划允许被事实修正。&#10;&#10;ReAct 强调的是推理和行动交替：根据当前的观察选行动，再根据行动结果更新下一步。这里要澄清一个常见误解：不需要模型公开完整的内部推理链，可观察到的证据是工具请求、参数和结果。让它简要说明「为什么查这个房间、下一步检查什么」，就够用了。&#10;&#10;反思，是让模型回顾失败并提出调整。但它提出调整之后，仍然需要下一次真实校验。`} style={{ width: 1280, height: 720, background: '#FFFFFF', flexDirection: 'column', padding: '20px 64px' }}&gt;&#10;&#10;    &lt;Box style={{ height: 540, flexDirection: 'column', justifyContent: 'center', gap: 18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6, fontWeight: 'bold', color: '#FFFFFF' }}&gt;②&lt;/Text&gt;&#10;            &lt;/Box&gt;&#10;            &lt;Text style={{ fontSize: 16, color: '#546779' }}&gt;2.10.2&lt;/Text&gt;&#10;        &lt;/Box&gt;&#10;&#10;        &lt;Text style={{ fontSize: 56, fontWeight: 'bold', color: '#20344B', lineHeight: 1.15 }}&gt;规划、ReAct 与反思&lt;/Text&gt;&#10;&#10;        &lt;Box style={{ width: 640, height: 4, background: '#276FBF' }} /&gt;&#10;&#10;        &lt;Text style={{ fontSize: 19, color: '#546779', lineHeight: 1.7 }}&gt;三种组织任务的方法，各自增加的东西并不一样。&lt;/Text&gt;&#10;&#10;        &lt;Box style={{ flexDirection: 'row', justifyContent: 'center', alignItems: 'center', marginTop: 6 }}&gt;&#10;            &lt;Box style={{ width: 320, height: 120, background: '#EDF4FC', borderRadius: 8, padding: '16px 18px', flexDirection: 'column', gap: 6, justifyContent: 'center' }}&gt;&#10;                &lt;Text style={{ fontSize: 20, fontWeight: 'bold', color: '#276FBF' }}&gt;规划&lt;/Text&gt;&#10;                &lt;Text style={{ fontSize: 14, color: '#546779', lineHeight: 1.55 }}&gt;把目标拆成可检查的子目标&lt;/Text&gt;&#10;            &lt;/Box&gt;&#10;            &lt;Box style={{ width: 44, height: 120, justifyContent: 'center', alignItems: 'center' }}&gt;&lt;Text style={{ fontSize: 26, color: '#276FBF' }}&gt;›&lt;/Text&gt;&lt;/Box&gt;&#10;            &lt;Box style={{ width: 320, height: 120, background: '#EDF4FC', borderRadius: 8, padding: '16px 18px', flexDirection: 'column', gap: 6, justifyContent: 'center' }}&gt;&#10;                &lt;Text style={{ fontSize: 20, fontWeight: 'bold', color: '#276FBF' }}&gt;ReAct&lt;/Text&gt;&#10;                &lt;Text style={{ fontSize: 14, color: '#546779', lineHeight: 1.55 }}&gt;推理与行动按真实结果交替&lt;/Text&gt;&#10;            &lt;/Box&gt;&#10;            &lt;Box style={{ width: 44, height: 120, justifyContent: 'center', alignItems: 'center' }}&gt;&lt;Text style={{ fontSize: 26, color: '#26816B' }}&gt;›&lt;/Text&gt;&lt;/Box&gt;&#10;            &lt;Box style={{ width: 320, height: 120, background: '#ECF7F2', borderRadius: 8, padding: '16px 18px', flexDirection: 'column', gap: 6, justifyContent: 'center' }}&gt;&#10;                &lt;Text style={{ fontSize: 20, fontWeight: 'bold', color: '#26816B' }}&gt;反思&lt;/Text&gt;&#10;                &lt;Text style={{ fontSize: 14, color: '#546779', lineHeight: 1.55 }}&gt;回顾失败并提出调整方向&lt;/Text&gt;&#10;            &lt;/Box&gt;&#10;        &lt;/Box&gt;&#10;&#10;        &lt;Box style={{ flexDirection: 'row', justifyContent: 'center' }}&gt;&#10;            &lt;Box style={{ width: 960, height: 48, background: '#F7F3E8', borderRadius: 8, justifyContent: 'center', alignItems: 'center' }}&gt;&#10;                &lt;Text style={{ fontSize: 16, fontWeight: 'bold', color: '#20344B' }}&gt;三者都是组织任务的方法，不是能力开关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0 Agent 循环、规划与记忆&lt;/Text&gt;&#10;        &lt;Text style={{ fontSize: 14, color: '#546779' }}&gt;0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1" name=""/>
          <p:cNvSpPr/>
          <p:nvPr/>
        </p:nvSpPr>
        <p:spPr>
          <a:xfrm rot="0" flipH="0" flipV="0">
            <a:off x="609600" y="66675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752475" y="781050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1295400" y="838200"/>
            <a:ext cx="438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2.10.2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609600" y="13716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规划、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ReAct 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与反思</a:t>
            </a:r>
            <a:endParaRPr/>
          </a:p>
        </p:txBody>
      </p:sp>
      <p:sp>
        <p:nvSpPr>
          <p:cNvPr id="635" name=""/>
          <p:cNvSpPr/>
          <p:nvPr/>
        </p:nvSpPr>
        <p:spPr>
          <a:xfrm rot="0" flipH="0" flipV="0">
            <a:off x="609600" y="228600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609600" y="249555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三种组织任务的方法，各自增加的东西并不一样。</a:t>
            </a:r>
            <a:endParaRPr/>
          </a:p>
        </p:txBody>
      </p:sp>
      <p:sp>
        <p:nvSpPr>
          <p:cNvPr id="637" name=""/>
          <p:cNvSpPr/>
          <p:nvPr/>
        </p:nvSpPr>
        <p:spPr>
          <a:xfrm rot="0" flipH="0" flipV="0">
            <a:off x="1104900" y="3095625"/>
            <a:ext cx="3048000" cy="114300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1276350" y="3400425"/>
            <a:ext cx="2705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规划</a:t>
            </a:r>
            <a:endParaRPr/>
          </a:p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1276350" y="3686175"/>
            <a:ext cx="27051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把目标拆成可检查的子目标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4324350" y="35147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41" name=""/>
          <p:cNvSpPr/>
          <p:nvPr/>
        </p:nvSpPr>
        <p:spPr>
          <a:xfrm rot="0" flipH="0" flipV="0">
            <a:off x="4572000" y="3095625"/>
            <a:ext cx="3048000" cy="114300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4743450" y="3400425"/>
            <a:ext cx="2705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ReAct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4743450" y="3686175"/>
            <a:ext cx="27051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推理与行动按真实结果交替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7791450" y="35147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45" name=""/>
          <p:cNvSpPr/>
          <p:nvPr/>
        </p:nvSpPr>
        <p:spPr>
          <a:xfrm rot="0" flipH="0" flipV="0">
            <a:off x="8039100" y="3095625"/>
            <a:ext cx="3048000" cy="1143000"/>
          </a:xfrm>
          <a:prstGeom prst="roundRect">
            <a:avLst>
              <a:gd name="adj" fmla="val 666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8210550" y="3400425"/>
            <a:ext cx="2705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反思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8210550" y="3686175"/>
            <a:ext cx="27051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回顾失败并提出调整方向</a:t>
            </a:r>
            <a:endParaRPr/>
          </a:p>
        </p:txBody>
      </p:sp>
      <p:sp>
        <p:nvSpPr>
          <p:cNvPr id="648" name=""/>
          <p:cNvSpPr/>
          <p:nvPr/>
        </p:nvSpPr>
        <p:spPr>
          <a:xfrm rot="0" flipH="0" flipV="0">
            <a:off x="1524000" y="4410075"/>
            <a:ext cx="9144000" cy="457200"/>
          </a:xfrm>
          <a:prstGeom prst="roundRect">
            <a:avLst>
              <a:gd name="adj" fmla="val 16667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4724400" y="4543425"/>
            <a:ext cx="274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三者都是组织任务的方法，不是能力开关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1800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2.10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循环、规划与记忆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652" name="" descr="&lt;Slide notes={`规划要做的事情，是把一个目标拆成可以逐条检查的子目标。拆得好不好，标准只有一个：每一步能不能被验证。&#10;&#10;我把这套拆法走一遍。先确认输入完整——人数、时长、开放时间这些材料齐了没有。再核对可用时段——每天什么时候开放、哪些时段已经被占用。然后生成候选——把时段、房间和活动组合起来。接着检查冲突——候选如果落在已有预约上，就否掉。最后交付——写出排期文件和说明。&#10;&#10;重点在最后那句话：计划允许被事实修正。如果查询发现手作室 10:00 到 10:30 已经被占用，助手就应该重新安排，而不是把原来那份计划当成已经发生的事实继续往下推。&#10;&#10;计划是给下一步用的，不是给汇报用的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0.2　规划、ReAct 与反思分别增加什么&lt;/Text&gt;&#10;            &lt;Text style={{ fontSize: 34, fontWeight: 'bold', color: '#20344B' }}&gt;把目标拆成可检查的子目标&lt;/Text&gt;&#10;        &lt;/Box&gt;&#10;    &lt;/Box&gt;&#10;&#10;    &lt;Box style={{ height: 540, flexDirection: 'column', justifyContent: 'center', gap: 16 }}&gt;&#10;&#10;        &lt;Box style={{ flexDirection: 'row', alignItems: 'center', gap: 20 }}&gt;&#10;            &lt;Text style={{ fontSize: 88, fontWeight: 'bold', color: '#276FBF', lineHeight: 1.0 }}&gt;01&lt;/Text&gt;&#10;            &lt;Box style={{ flexDirection: 'column', gap: 5 }}&gt;&#10;                &lt;Text style={{ fontSize: 19, fontWeight: 'bold', color: '#20344B' }}&gt;规划把目标拆成可检查的子目标&lt;/Text&gt;&#10;                &lt;Text style={{ fontSize: 14, color: '#546779' }}&gt;每一步都要能被下一次观察或校验证伪。&lt;/Text&gt;&#10;            &lt;/Box&gt;&#10;        &lt;/Box&gt;&#10;&#10;        &lt;Box style={{ flexDirection: 'row', alignItems: 'center' }}&gt;&#10;            &lt;Box style={{ width: 190, height: 180, background: '#EDF4FC', borderRadius: 8, padding: '14px 14px', flexDirection: 'column', gap: 6 }}&gt;&#10;                &lt;Text style={{ fontSize: 19, fontWeight: 'bold', color: '#276FBF' }}&gt;确认输入完整&lt;/Text&gt;&#10;                &lt;Text style={{ fontSize: 14, color: '#546779', lineHeight: 1.6 }}&gt;人数、时长{'\n'}与开放时间&lt;/Text&gt;&#10;            &lt;/Box&gt;&#10;            &lt;Box style={{ width: 44, height: 180, justifyContent: 'center', alignItems: 'center' }}&gt;&lt;Text style={{ fontSize: 26, color: '#276FBF' }}&gt;›&lt;/Text&gt;&lt;/Box&gt;&#10;            &lt;Box style={{ width: 190, height: 180, background: '#EDF4FC', borderRadius: 8, padding: '14px 14px', flexDirection: 'column', gap: 6 }}&gt;&#10;                &lt;Text style={{ fontSize: 19, fontWeight: 'bold', color: '#276FBF' }}&gt;核对可用时段&lt;/Text&gt;&#10;                &lt;Text style={{ fontSize: 14, color: '#546779', lineHeight: 1.6 }}&gt;开放时间{'\n'}与已有预约&lt;/Text&gt;&#10;            &lt;/Box&gt;&#10;            &lt;Box style={{ width: 44, height: 180, justifyContent: 'center', alignItems: 'center' }}&gt;&lt;Text style={{ fontSize: 26, color: '#276FBF' }}&gt;›&lt;/Text&gt;&lt;/Box&gt;&#10;            &lt;Box style={{ width: 190, height: 180, background: '#EDF4FC', borderRadius: 8, padding: '14px 14px', flexDirection: 'column', gap: 6 }}&gt;&#10;                &lt;Text style={{ fontSize: 19, fontWeight: 'bold', color: '#276FBF' }}&gt;生成候选&lt;/Text&gt;&#10;                &lt;Text style={{ fontSize: 14, color: '#546779', lineHeight: 1.6 }}&gt;时段、房间{'\n'}与活动的组合&lt;/Text&gt;&#10;            &lt;/Box&gt;&#10;            &lt;Box style={{ width: 44, height: 180, justifyContent: 'center', alignItems: 'center' }}&gt;&lt;Text style={{ fontSize: 26, color: '#276FBF' }}&gt;›&lt;/Text&gt;&lt;/Box&gt;&#10;            &lt;Box style={{ width: 190, height: 180, background: '#EDF4FC', borderRadius: 8, padding: '14px 14px', flexDirection: 'column', gap: 6 }}&gt;&#10;                &lt;Text style={{ fontSize: 19, fontWeight: 'bold', color: '#276FBF' }}&gt;检查冲突&lt;/Text&gt;&#10;                &lt;Text style={{ fontSize: 14, color: '#546779', lineHeight: 1.6 }}&gt;落在已有预约{'\n'}上的候选否掉&lt;/Text&gt;&#10;            &lt;/Box&gt;&#10;            &lt;Box style={{ width: 44, height: 180, justifyContent: 'center', alignItems: 'center' }}&gt;&lt;Text style={{ fontSize: 26, color: '#26816B' }}&gt;›&lt;/Text&gt;&lt;/Box&gt;&#10;            &lt;Box style={{ width: 190, height: 180, background: '#ECF7F2', borderRadius: 8, padding: '14px 14px', flexDirection: 'column', gap: 6 }}&gt;&#10;                &lt;Text style={{ fontSize: 19, fontWeight: 'bold', color: '#26816B' }}&gt;交付&lt;/Text&gt;&#10;                &lt;Text style={{ fontSize: 14, color: '#546779', lineHeight: 1.6 }}&gt;排期文件{'\n'}与说明&lt;/Text&gt;&#10;            &lt;/Box&gt;&#10;        &lt;/Box&gt;&#10;&#10;        &lt;Box style={{ flexDirection: 'row', alignItems: 'center', gap: 16, background: '#FFF4E6', borderRadius: 10, padding: '14px 20px' }}&gt;&#10;            &lt;Box style={{ width: 4, height: 40, background: '#CB6B28' }} /&gt;&#10;            &lt;Box style={{ flex: 1, flexDirection: 'column', gap: 3 }}&gt;&#10;                &lt;Text style={{ fontSize: 16, fontWeight: 'bold', color: '#CB6B28' }}&gt;计划允许被事实修正&lt;/Text&gt;&#10;                &lt;Text style={{ fontSize: 14, color: '#546779' }}&gt;查询发现手作室 10:00—10:30 被占用，就应重新安排，不能把原计划当成已经发生的事实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0 Agent 循环、规划与记忆&lt;/Text&gt;&#10;        &lt;Text style={{ fontSize: 14, color: '#546779' }}&gt;0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2.10.2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规划、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ReAct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与反思分别增加什么</a:t>
            </a:r>
            <a:endParaRPr/>
          </a:p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把目标拆成可检查的子目标</a:t>
            </a:r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609600" y="1876425"/>
            <a:ext cx="1038225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276FB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1838325" y="2171700"/>
            <a:ext cx="2533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规划把目标拆成可检查的子目标</a:t>
            </a:r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1838325" y="2438400"/>
            <a:ext cx="2533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每一步都要能被下一次观察或校验证伪。</a:t>
            </a:r>
            <a:endParaRPr/>
          </a:p>
        </p:txBody>
      </p:sp>
      <p:sp>
        <p:nvSpPr>
          <p:cNvPr id="660" name=""/>
          <p:cNvSpPr/>
          <p:nvPr/>
        </p:nvSpPr>
        <p:spPr>
          <a:xfrm rot="0" flipH="0" flipV="0">
            <a:off x="609600" y="3038475"/>
            <a:ext cx="1809750" cy="1714500"/>
          </a:xfrm>
          <a:prstGeom prst="roundRect">
            <a:avLst>
              <a:gd name="adj" fmla="val 444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742950" y="3171825"/>
            <a:ext cx="1543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确认输入完整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742950" y="3448050"/>
            <a:ext cx="154305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人数、时长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与开放时间</a:t>
            </a:r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2590800" y="37433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64" name=""/>
          <p:cNvSpPr/>
          <p:nvPr/>
        </p:nvSpPr>
        <p:spPr>
          <a:xfrm rot="0" flipH="0" flipV="0">
            <a:off x="2838450" y="3038475"/>
            <a:ext cx="1809750" cy="1714500"/>
          </a:xfrm>
          <a:prstGeom prst="roundRect">
            <a:avLst>
              <a:gd name="adj" fmla="val 444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2971800" y="3171825"/>
            <a:ext cx="1543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核对可用时段</a:t>
            </a:r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2971800" y="3448050"/>
            <a:ext cx="154305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开放时间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与已有预约</a:t>
            </a:r>
            <a:endParaRPr/>
          </a:p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4819650" y="37433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68" name=""/>
          <p:cNvSpPr/>
          <p:nvPr/>
        </p:nvSpPr>
        <p:spPr>
          <a:xfrm rot="0" flipH="0" flipV="0">
            <a:off x="5067300" y="3038475"/>
            <a:ext cx="1809750" cy="1714500"/>
          </a:xfrm>
          <a:prstGeom prst="roundRect">
            <a:avLst>
              <a:gd name="adj" fmla="val 444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5200650" y="3171825"/>
            <a:ext cx="1543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生成候选</a:t>
            </a:r>
            <a:endParaRPr/>
          </a:p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5200650" y="3448050"/>
            <a:ext cx="154305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时段、房间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与活动的组合</a:t>
            </a:r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7048500" y="37433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72" name=""/>
          <p:cNvSpPr/>
          <p:nvPr/>
        </p:nvSpPr>
        <p:spPr>
          <a:xfrm rot="0" flipH="0" flipV="0">
            <a:off x="7296150" y="3038475"/>
            <a:ext cx="1809750" cy="1714500"/>
          </a:xfrm>
          <a:prstGeom prst="roundRect">
            <a:avLst>
              <a:gd name="adj" fmla="val 444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7429500" y="3171825"/>
            <a:ext cx="1543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检查冲突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7429500" y="3448050"/>
            <a:ext cx="154305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落在已有预约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上的候选否掉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9277350" y="37433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76" name=""/>
          <p:cNvSpPr/>
          <p:nvPr/>
        </p:nvSpPr>
        <p:spPr>
          <a:xfrm rot="0" flipH="0" flipV="0">
            <a:off x="9525000" y="3038475"/>
            <a:ext cx="1809750" cy="1714500"/>
          </a:xfrm>
          <a:prstGeom prst="roundRect">
            <a:avLst>
              <a:gd name="adj" fmla="val 444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9658350" y="3171825"/>
            <a:ext cx="1543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交付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9658350" y="3448050"/>
            <a:ext cx="154305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排期文件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与说明</a:t>
            </a:r>
            <a:endParaRPr/>
          </a:p>
        </p:txBody>
      </p:sp>
      <p:sp>
        <p:nvSpPr>
          <p:cNvPr id="679" name=""/>
          <p:cNvSpPr/>
          <p:nvPr/>
        </p:nvSpPr>
        <p:spPr>
          <a:xfrm rot="0" flipH="0" flipV="0">
            <a:off x="609600" y="4905375"/>
            <a:ext cx="10972800" cy="647700"/>
          </a:xfrm>
          <a:prstGeom prst="roundRect">
            <a:avLst>
              <a:gd name="adj" fmla="val 1470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80" name=""/>
          <p:cNvSpPr/>
          <p:nvPr/>
        </p:nvSpPr>
        <p:spPr>
          <a:xfrm rot="0" flipH="0" flipV="0">
            <a:off x="800100" y="5038725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990600" y="5038725"/>
            <a:ext cx="10401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计划允许被事实修正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990600" y="5257800"/>
            <a:ext cx="10401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查询发现手作室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10:00—10:30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被占用，就应重新安排，不能把原计划当成已经发生的事实。</a:t>
            </a:r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00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2.10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循环、规划与记忆</a:t>
            </a:r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685" name="" descr="&lt;Slide notes={`ReAct 和反思经常被放在一起讲，但它们做的事其实不一样。&#10;&#10;ReAct 强调的是推理和行动交替。根据当前的观察选一个行动，再根据行动的结果更新下一步。这里我要澄清一个常见误解：不需要模型公开完整的内部推理链。可观察到的证据，是工具请求、参数和结果。让助手简要说明「为什么查这个房间」和「下一步检查什么」，就够了。&#10;&#10;反思不一样，它是让模型回顾失败、提出调整。比如发现手作活动被安排在 09:30 到 10:30，模型可以指出它和已有预约重叠了。&#10;&#10;但请注意反思的边界：反思文本仍然需要下一次真实校验。如果只是反复改写「我应该更加谨慎」，排期文件没有任何变化，那任务就没有取得进展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0.2　规划、ReAct 与反思分别增加什么&lt;/Text&gt;&#10;            &lt;Text style={{ fontSize: 34, fontWeight: 'bold', color: '#20344B' }}&gt;推理与行动交替，反思提出调整&lt;/Text&gt;&#10;        &lt;/Box&gt;&#10;    &lt;/Box&gt;&#10;&#10;    &lt;Box style={{ height: 540, flexDirection: 'column', justifyContent: 'center', gap: 14 }}&gt;&#10;&#10;        &lt;Box style={{ flexDirection: 'row', gap: 20 }}&gt;&#10;            &lt;Box style={{ width: 566, height: 52, background: '#276FBF', borderRadius: 8, justifyContent: 'center', padding: '0px 20px' }}&gt;&#10;                &lt;Text style={{ fontSize: 19, fontWeight: 'bold', color: '#FFFFFF' }}&gt;ReAct　推理与行动交替&lt;/Text&gt;&#10;            &lt;/Box&gt;&#10;            &lt;Box style={{ width: 566, height: 52, background: '#26816B', borderRadius: 8, justifyContent: 'center', padding: '0px 20px' }}&gt;&#10;                &lt;Text style={{ fontSize: 19, fontWeight: 'bold', color: '#FFFFFF' }}&gt;反思　回顾失败并提出调整&lt;/Text&gt;&#10;            &lt;/Box&gt;&#10;        &lt;/Box&gt;&#10;&#10;        &lt;Box style={{ flexDirection: 'row', gap: 20, alignItems: 'flex-start' }}&gt;&#10;            &lt;Box style={{ width: 566, flexDirection: 'column', gap: 12 }}&gt;&#10;                &lt;Box style={{ width: 566, height: 118, background: '#EDF4FC', borderRadius: 8, padding: '14px 18px', flexDirection: 'column', gap: 5 }}&gt;&#10;                    &lt;Text style={{ fontSize: 17, fontWeight: 'bold', color: '#276FBF' }}&gt;看什么证据&lt;/Text&gt;&#10;                    &lt;Text style={{ fontSize: 14, color: '#546779', lineHeight: 1.55 }}&gt;工具请求、参数和真实返回的结果，都可以被观察到。&lt;/Text&gt;&#10;                &lt;/Box&gt;&#10;                &lt;Box style={{ width: 566, height: 118, background: '#EDF4FC', borderRadius: 8, padding: '14px 18px', flexDirection: 'column', gap: 5 }}&gt;&#10;                    &lt;Text style={{ fontSize: 17, fontWeight: 'bold', color: '#276FBF' }}&gt;要不要公开推理链&lt;/Text&gt;&#10;                    &lt;Text style={{ fontSize: 14, color: '#546779', lineHeight: 1.55 }}&gt;不需要公开完整的内部推理链，可观察的证据已经足够。&lt;/Text&gt;&#10;                &lt;/Box&gt;&#10;                &lt;Box style={{ width: 566, height: 118, background: '#EDF4FC', borderRadius: 8, padding: '14px 18px', flexDirection: 'column', gap: 5 }}&gt;&#10;                    &lt;Text style={{ fontSize: 17, fontWeight: 'bold', color: '#276FBF' }}&gt;说什么就够用&lt;/Text&gt;&#10;                    &lt;Text style={{ fontSize: 14, color: '#546779', lineHeight: 1.55 }}&gt;简要说明为什么查这个房间、下一步准备检查什么。&lt;/Text&gt;&#10;                &lt;/Box&gt;&#10;            &lt;/Box&gt;&#10;&#10;            &lt;Box style={{ width: 566, flexDirection: 'column', gap: 12 }}&gt;&#10;                &lt;Box style={{ width: 566, height: 118, background: '#ECF7F2', borderRadius: 8, padding: '14px 18px', flexDirection: 'column', gap: 5 }}&gt;&#10;                    &lt;Text style={{ fontSize: 17, fontWeight: 'bold', color: '#26816B' }}&gt;它做什么&lt;/Text&gt;&#10;                    &lt;Text style={{ fontSize: 14, color: '#546779', lineHeight: 1.55 }}&gt;让模型回顾失败，提出下一步可以怎样调整。&lt;/Text&gt;&#10;                &lt;/Box&gt;&#10;                &lt;Box style={{ width: 566, height: 118, background: '#ECF7F2', borderRadius: 8, padding: '14px 18px', flexDirection: 'column', gap: 5 }}&gt;&#10;                    &lt;Text style={{ fontSize: 17, fontWeight: 'bold', color: '#26816B' }}&gt;一个具体例子&lt;/Text&gt;&#10;                    &lt;Text style={{ fontSize: 14, color: '#546779', lineHeight: 1.55 }}&gt;手作活动安排在 09:30—10:30，与已有预约重叠，需要改期。&lt;/Text&gt;&#10;                &lt;/Box&gt;&#10;                &lt;Box style={{ width: 566, height: 118, background: '#FFF4E6', borderRadius: 8, padding: '14px 18px', flexDirection: 'column', gap: 5 }}&gt;&#10;                    &lt;Text style={{ fontSize: 17, fontWeight: 'bold', color: '#CB6B28' }}&gt;它的边界&lt;/Text&gt;&#10;                    &lt;Text style={{ fontSize: 14, color: '#546779', lineHeight: 1.55 }}&gt;反思文本仍需下一次真实校验；只改措辞，文件没变化，就是没进展。&lt;/Text&gt;&#10;                &lt;/Box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0 Agent 循环、规划与记忆&lt;/Text&gt;&#10;        &lt;Text style={{ fontSize: 14, color: '#546779' }}&gt;0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2.10.2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规划、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ReAct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与反思分别增加什么</a:t>
            </a:r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推理与行动交替，反思提出调整</a:t>
            </a:r>
            <a:endParaRPr/>
          </a:p>
        </p:txBody>
      </p:sp>
      <p:sp>
        <p:nvSpPr>
          <p:cNvPr id="690" name=""/>
          <p:cNvSpPr/>
          <p:nvPr/>
        </p:nvSpPr>
        <p:spPr>
          <a:xfrm rot="0" flipH="0" flipV="0">
            <a:off x="609600" y="1600200"/>
            <a:ext cx="5391150" cy="495300"/>
          </a:xfrm>
          <a:prstGeom prst="roundRect">
            <a:avLst>
              <a:gd name="adj" fmla="val 15385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800100" y="1743075"/>
            <a:ext cx="5010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ReAct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　推理与行动交替</a:t>
            </a:r>
            <a:endParaRPr/>
          </a:p>
        </p:txBody>
      </p:sp>
      <p:sp>
        <p:nvSpPr>
          <p:cNvPr id="692" name=""/>
          <p:cNvSpPr/>
          <p:nvPr/>
        </p:nvSpPr>
        <p:spPr>
          <a:xfrm rot="0" flipH="0" flipV="0">
            <a:off x="6191250" y="1600200"/>
            <a:ext cx="5391150" cy="495300"/>
          </a:xfrm>
          <a:prstGeom prst="roundRect">
            <a:avLst>
              <a:gd name="adj" fmla="val 15385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6381750" y="1743075"/>
            <a:ext cx="5010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反思　回顾失败并提出调整</a:t>
            </a:r>
            <a:endParaRPr/>
          </a:p>
        </p:txBody>
      </p:sp>
      <p:sp>
        <p:nvSpPr>
          <p:cNvPr id="694" name=""/>
          <p:cNvSpPr/>
          <p:nvPr/>
        </p:nvSpPr>
        <p:spPr>
          <a:xfrm rot="0" flipH="0" flipV="0">
            <a:off x="609600" y="2228850"/>
            <a:ext cx="5391150" cy="1123950"/>
          </a:xfrm>
          <a:prstGeom prst="roundRect">
            <a:avLst>
              <a:gd name="adj" fmla="val 678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781050" y="2362200"/>
            <a:ext cx="504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看什么证据</a:t>
            </a:r>
            <a:endParaRPr/>
          </a:p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781050" y="2609850"/>
            <a:ext cx="50482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工具请求、参数和真实返回的结果，都可以被观察到。</a:t>
            </a:r>
            <a:endParaRPr/>
          </a:p>
        </p:txBody>
      </p:sp>
      <p:sp>
        <p:nvSpPr>
          <p:cNvPr id="697" name=""/>
          <p:cNvSpPr/>
          <p:nvPr/>
        </p:nvSpPr>
        <p:spPr>
          <a:xfrm rot="0" flipH="0" flipV="0">
            <a:off x="609600" y="3467100"/>
            <a:ext cx="5391150" cy="1123950"/>
          </a:xfrm>
          <a:prstGeom prst="roundRect">
            <a:avLst>
              <a:gd name="adj" fmla="val 678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781050" y="3600450"/>
            <a:ext cx="504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要不要公开推理链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781050" y="3848100"/>
            <a:ext cx="50482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不需要公开完整的内部推理链，可观察的证据已经足够。</a:t>
            </a:r>
            <a:endParaRPr/>
          </a:p>
        </p:txBody>
      </p:sp>
      <p:sp>
        <p:nvSpPr>
          <p:cNvPr id="700" name=""/>
          <p:cNvSpPr/>
          <p:nvPr/>
        </p:nvSpPr>
        <p:spPr>
          <a:xfrm rot="0" flipH="0" flipV="0">
            <a:off x="609600" y="4705350"/>
            <a:ext cx="5391150" cy="1123950"/>
          </a:xfrm>
          <a:prstGeom prst="roundRect">
            <a:avLst>
              <a:gd name="adj" fmla="val 678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781050" y="4838700"/>
            <a:ext cx="504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说什么就够用</a:t>
            </a:r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781050" y="5086350"/>
            <a:ext cx="50482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简要说明为什么查这个房间、下一步准备检查什么。</a:t>
            </a:r>
            <a:endParaRPr/>
          </a:p>
        </p:txBody>
      </p:sp>
      <p:sp>
        <p:nvSpPr>
          <p:cNvPr id="703" name=""/>
          <p:cNvSpPr/>
          <p:nvPr/>
        </p:nvSpPr>
        <p:spPr>
          <a:xfrm rot="0" flipH="0" flipV="0">
            <a:off x="6191250" y="2228850"/>
            <a:ext cx="5391150" cy="1123950"/>
          </a:xfrm>
          <a:prstGeom prst="roundRect">
            <a:avLst>
              <a:gd name="adj" fmla="val 678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6362700" y="2362200"/>
            <a:ext cx="504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它做什么</a:t>
            </a:r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6362700" y="2609850"/>
            <a:ext cx="50482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让模型回顾失败，提出下一步可以怎样调整。</a:t>
            </a:r>
            <a:endParaRPr/>
          </a:p>
        </p:txBody>
      </p:sp>
      <p:sp>
        <p:nvSpPr>
          <p:cNvPr id="706" name=""/>
          <p:cNvSpPr/>
          <p:nvPr/>
        </p:nvSpPr>
        <p:spPr>
          <a:xfrm rot="0" flipH="0" flipV="0">
            <a:off x="6191250" y="3467100"/>
            <a:ext cx="5391150" cy="1123950"/>
          </a:xfrm>
          <a:prstGeom prst="roundRect">
            <a:avLst>
              <a:gd name="adj" fmla="val 678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6362700" y="3600450"/>
            <a:ext cx="504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一个具体例子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6362700" y="3848100"/>
            <a:ext cx="50482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手作活动安排在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09:30—10:30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，与已有预约重叠，需要改期。</a:t>
            </a:r>
            <a:endParaRPr/>
          </a:p>
        </p:txBody>
      </p:sp>
      <p:sp>
        <p:nvSpPr>
          <p:cNvPr id="709" name=""/>
          <p:cNvSpPr/>
          <p:nvPr/>
        </p:nvSpPr>
        <p:spPr>
          <a:xfrm rot="0" flipH="0" flipV="0">
            <a:off x="6191250" y="4705350"/>
            <a:ext cx="5391150" cy="1123950"/>
          </a:xfrm>
          <a:prstGeom prst="roundRect">
            <a:avLst>
              <a:gd name="adj" fmla="val 678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6362700" y="4838700"/>
            <a:ext cx="504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它的边界</a:t>
            </a:r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6362700" y="5086350"/>
            <a:ext cx="50482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反思文本仍需下一次真实校验；只改措辞，文件没变化，就是没进展。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00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2.10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循环、规划与记忆</a:t>
            </a:r>
            <a:endParaRPr/>
          </a:p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34" name="" descr="&lt;Slide notes={`学完三种方法，很容易走到另一个极端：什么都想做成循环。其实多数任务根本不需要。&#10;&#10;判断标准很朴素：下一步能不能提前写死。&#10;&#10;如果只有三项活动，步骤也是已知的——读取材料、生成候选、跑一次校验——那么固定的工作流就够用，快、好查、好复现。如果材料齐全、规则明确，一次生成加一次校验也能收工。&#10;&#10;真正需要循环的，是下一步依赖未知信息的时候：不查一下根本不知道房间在不在、时段空不空。或者下一步依赖工具返回的结果、依赖用户的决定，这种分支没法预先编排。&#10;&#10;所以顺序是：先问能不能写死，再问要不要循环。别一上手就上最复杂的结构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0.2　规划、ReAct 与反思分别增加什么&lt;/Text&gt;&#10;            &lt;Text style={{ fontSize: 34, fontWeight: 'bold', color: '#20344B' }}&gt;什么时候才值得用循环&lt;/Text&gt;&#10;        &lt;/Box&gt;&#10;    &lt;/Box&gt;&#10;&#10;    &lt;Box style={{ height: 540, flexDirection: 'column', justifyContent: 'center', gap: 14 }}&gt;&#10;&#10;        &lt;Text style={{ fontSize: 16, color: '#546779' }}&gt;先问「下一步能不能提前写死」，再问「要不要循环」。&lt;/Text&gt;&#10;&#10;        &lt;Box style={{ flexDirection: 'row', alignItems: 'center', height: 92, background: '#F4F7FA', borderRadius: 10, padding: '0px 20px', gap: 18 }}&gt;&#10;            &lt;Box style={{ width: 4, height: 48, background: '#276FBF' }} /&gt;&#10;            &lt;Box style={{ width: 330 }}&gt;&lt;Text style={{ fontSize: 17, color: '#20344B' }}&gt;三项活动，步骤已知&lt;/Text&gt;&lt;/Box&gt;&#10;            &lt;Box style={{ flex: 1 }}&gt;&lt;Text style={{ fontSize: 14, color: '#546779' }}&gt;读取—生成—校验，一遍就能走完&lt;/Text&gt;&lt;/Box&gt;&#10;            &lt;Box style={{ width: 236, height: 48, background: '#EDF4FC', borderRadius: 8, justifyContent: 'center', alignItems: 'center' }}&gt;&#10;                &lt;Text style={{ fontSize: 15, fontWeight: 'bold', color: '#276FBF' }}&gt;固定工作流够用&lt;/Text&gt;&#10;            &lt;/Box&gt;&#10;        &lt;/Box&gt;&#10;&#10;        &lt;Box style={{ flexDirection: 'row', alignItems: 'center', height: 92, background: '#F4F7FA', borderRadius: 10, padding: '0px 20px', gap: 18 }}&gt;&#10;            &lt;Box style={{ width: 4, height: 48, background: '#276FBF' }} /&gt;&#10;            &lt;Box style={{ width: 330 }}&gt;&lt;Text style={{ fontSize: 17, color: '#20344B' }}&gt;材料齐全，规则明确&lt;/Text&gt;&lt;/Box&gt;&#10;            &lt;Box style={{ flex: 1 }}&gt;&lt;Text style={{ fontSize: 14, color: '#546779' }}&gt;一次生成加一次校验即可收工&lt;/Text&gt;&lt;/Box&gt;&#10;            &lt;Box style={{ width: 236, height: 48, background: '#EDF4FC', borderRadius: 8, justifyContent: 'center', alignItems: 'center' }}&gt;&#10;                &lt;Text style={{ fontSize: 15, fontWeight: 'bold', color: '#276FBF' }}&gt;固定工作流够用&lt;/Text&gt;&#10;            &lt;/Box&gt;&#10;        &lt;/Box&gt;&#10;&#10;        &lt;Box style={{ flexDirection: 'row', alignItems: 'center', height: 92, background: '#FFF4E6', borderRadius: 10, padding: '0px 20px', gap: 18 }}&gt;&#10;            &lt;Box style={{ width: 4, height: 48, background: '#CB6B28' }} /&gt;&#10;            &lt;Box style={{ width: 330 }}&gt;&lt;Text style={{ fontSize: 17, color: '#20344B' }}&gt;下一步依赖未知信息&lt;/Text&gt;&lt;/Box&gt;&#10;            &lt;Box style={{ flex: 1 }}&gt;&lt;Text style={{ fontSize: 14, color: '#546779' }}&gt;不查一下，就不知道房间与时段是否可用&lt;/Text&gt;&lt;/Box&gt;&#10;            &lt;Box style={{ width: 236, height: 48, background: '#FFFFFF', borderRadius: 8, justifyContent: 'center', alignItems: 'center' }}&gt;&#10;                &lt;Text style={{ fontSize: 15, fontWeight: 'bold', color: '#CB6B28' }}&gt;需要循环&lt;/Text&gt;&#10;            &lt;/Box&gt;&#10;        &lt;/Box&gt;&#10;&#10;        &lt;Box style={{ flexDirection: 'row', alignItems: 'center', height: 92, background: '#FFF4E6', borderRadius: 10, padding: '0px 20px', gap: 18 }}&gt;&#10;            &lt;Box style={{ width: 4, height: 48, background: '#CB6B28' }} /&gt;&#10;            &lt;Box style={{ width: 330 }}&gt;&lt;Text style={{ fontSize: 17, color: '#20344B' }}&gt;下一步依赖工具结果或用户决定&lt;/Text&gt;&lt;/Box&gt;&#10;            &lt;Box style={{ flex: 1 }}&gt;&lt;Text style={{ fontSize: 14, color: '#546779' }}&gt;分支无法预先编排，只能按结果走&lt;/Text&gt;&lt;/Box&gt;&#10;            &lt;Box style={{ width: 236, height: 48, background: '#FFFFFF', borderRadius: 8, justifyContent: 'center', alignItems: 'center' }}&gt;&#10;                &lt;Text style={{ fontSize: 15, fontWeight: 'bold', color: '#CB6B28' }}&gt;需要循环&lt;/Text&gt;&#10;            &lt;/Box&gt;&#10;        &lt;/Box&gt;&#10;&#10;        &lt;Box style={{ flexDirection: 'row', alignItems: 'center', gap: 16, background: '#F7F3E8', borderRadius: 10, padding: '14px 20px' }}&gt;&#10;            &lt;Box style={{ width: 4, height: 40, background: '#276FBF' }} /&gt;&#10;            &lt;Text style={{ fontSize: 15, color: '#20344B', flex: 1 }}&gt;对只有三项活动的问题，固定的「读取—生成—校验」工作流可能已经够用。结构越简单，越好验证。&lt;/Text&gt;&#10;        &lt;/Box&gt;&#10;&#10;    &lt;/Box&gt;&#10;&#10;    &lt;Box style={{ height: 40, flexDirection: 'row', justifyContent: 'space-between', alignItems: 'center' }}&gt;&#10;        &lt;Text style={{ fontSize: 14, color: '#546779' }}&gt;2.10 Agent 循环、规划与记忆&lt;/Text&gt;&#10;        &lt;Text style={{ fontSize: 14, color: '#546779' }}&gt;1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2.10.2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规划、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ReAct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与反思分别增加什么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什么时候才值得用循环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09600" y="120967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先问「下一步能不能提前写死」，再问「要不要循环」。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09600" y="1533525"/>
            <a:ext cx="109728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1" name=""/>
          <p:cNvSpPr/>
          <p:nvPr/>
        </p:nvSpPr>
        <p:spPr>
          <a:xfrm rot="0" flipH="0" flipV="0">
            <a:off x="800100" y="1743075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009650" y="1876425"/>
            <a:ext cx="3143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三项活动，步骤已知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4324350" y="1895475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读取—生成—校验，一遍就能走完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9144000" y="1743075"/>
            <a:ext cx="2247900" cy="457200"/>
          </a:xfrm>
          <a:prstGeom prst="roundRect">
            <a:avLst>
              <a:gd name="adj" fmla="val 1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9772650" y="188595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固定工作流够用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09600" y="2543175"/>
            <a:ext cx="109728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7" name=""/>
          <p:cNvSpPr/>
          <p:nvPr/>
        </p:nvSpPr>
        <p:spPr>
          <a:xfrm rot="0" flipH="0" flipV="0">
            <a:off x="800100" y="2752725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009650" y="2886075"/>
            <a:ext cx="3143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材料齐全，规则明确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4324350" y="2905125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一次生成加一次校验即可收工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9144000" y="2752725"/>
            <a:ext cx="2247900" cy="457200"/>
          </a:xfrm>
          <a:prstGeom prst="roundRect">
            <a:avLst>
              <a:gd name="adj" fmla="val 1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9772650" y="289560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固定工作流够用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609600" y="3552825"/>
            <a:ext cx="10972800" cy="876300"/>
          </a:xfrm>
          <a:prstGeom prst="roundRect">
            <a:avLst>
              <a:gd name="adj" fmla="val 1087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3" name=""/>
          <p:cNvSpPr/>
          <p:nvPr/>
        </p:nvSpPr>
        <p:spPr>
          <a:xfrm rot="0" flipH="0" flipV="0">
            <a:off x="800100" y="3762375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009650" y="3895725"/>
            <a:ext cx="3143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下一步依赖未知信息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324350" y="3914775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不查一下，就不知道房间与时段是否可用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9144000" y="3762375"/>
            <a:ext cx="22479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9982200" y="39052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需要循环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609600" y="4562475"/>
            <a:ext cx="10972800" cy="876300"/>
          </a:xfrm>
          <a:prstGeom prst="roundRect">
            <a:avLst>
              <a:gd name="adj" fmla="val 1087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800100" y="4772025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1009650" y="4905375"/>
            <a:ext cx="3143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下一步依赖工具结果或用户决定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4324350" y="4924425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分支无法预先编排，只能按结果走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9144000" y="4772025"/>
            <a:ext cx="22479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998220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需要循环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09600" y="5572125"/>
            <a:ext cx="10972800" cy="647700"/>
          </a:xfrm>
          <a:prstGeom prst="roundRect">
            <a:avLst>
              <a:gd name="adj" fmla="val 14706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800100" y="570547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990600" y="5810250"/>
            <a:ext cx="10401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对只有三项活动的问题，固定的「读取—生成—校验」工作流可能已经够用。结构越简单，越好验证。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00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2.10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循环、规划与记忆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69" name="" descr="&lt;Slide notes={`循环转起来之后，最难的不是让它转，而是让它停。&#10;&#10;我先把这个判断交给程序：什么时候算成功、什么时候可以继续、什么时候必须停，这三件事都不能留给模型临场决定。&#10;&#10;一条底线要记住：模型结束、候选校验通过、交付文件齐全，这三件事必须同时核对。只拿到一次通过的工具结果，还不能替代整段工具循环的结束和文件保存。&#10;&#10;还有一组很容易混的单位，我提前说一下：模型的轮数、工具请求数、实际执行数，是三个数，不是一个数。一次响应里可能包含多个工具请求，报错或阻断的请求也可能已经消耗了预算。&#10;&#10;单次超时也不限制任务总时长。`} style={{ width: 1280, height: 720, background: '#FFFFFF', flexDirection: 'column', padding: '20px 64px' }}&gt;&#10;&#10;    &lt;Box style={{ height: 540, flexDirection: 'column', justifyContent: 'center', gap: 18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6, fontWeight: 'bold', color: '#FFFFFF' }}&gt;③&lt;/Text&gt;&#10;            &lt;/Box&gt;&#10;            &lt;Text style={{ fontSize: 16, color: '#546779' }}&gt;2.10.3&lt;/Text&gt;&#10;        &lt;/Box&gt;&#10;&#10;        &lt;Text style={{ fontSize: 56, fontWeight: 'bold', color: '#20344B', lineHeight: 1.15 }}&gt;把停止条件写在程序里&lt;/Text&gt;&#10;&#10;        &lt;Box style={{ width: 640, height: 4, background: '#276FBF' }} /&gt;&#10;&#10;        &lt;Text style={{ fontSize: 19, color: '#546779', lineHeight: 1.7 }}&gt;结束不是模型说了算，是程序核对条件之后说了算。&lt;/Text&gt;&#10;&#10;        &lt;Box style={{ flexDirection: 'row', justifyContent: 'center', alignItems: 'center', marginTop: 6 }}&gt;&#10;            &lt;Box style={{ width: 300, height: 108, background: '#ECF7F2', borderRadius: 8, padding: '14px 18px', flexDirection: 'column', gap: 6, justifyContent: 'center' }}&gt;&#10;                &lt;Text style={{ fontSize: 20, fontWeight: 'bold', color: '#26816B' }}&gt;成功交付&lt;/Text&gt;&#10;                &lt;Text style={{ fontSize: 14, color: '#546779', lineHeight: 1.5 }}&gt;条件同时满足才收工&lt;/Text&gt;&#10;            &lt;/Box&gt;&#10;            &lt;Box style={{ width: 44, height: 108, justifyContent: 'center', alignItems: 'center' }}&gt;&lt;Text style={{ fontSize: 26, color: '#276FBF' }}&gt;›&lt;/Text&gt;&lt;/Box&gt;&#10;            &lt;Box style={{ width: 300, height: 108, background: '#EDF4FC', borderRadius: 8, padding: '14px 18px', flexDirection: 'column', gap: 6, justifyContent: 'center' }}&gt;&#10;                &lt;Text style={{ fontSize: 20, fontWeight: 'bold', color: '#276FBF' }}&gt;继续修正&lt;/Text&gt;&#10;                &lt;Text style={{ fontSize: 14, color: '#546779', lineHeight: 1.5 }}&gt;有新信息且仍有预算&lt;/Text&gt;&#10;            &lt;/Box&gt;&#10;            &lt;Box style={{ width: 44, height: 108, justifyContent: 'center', alignItems: 'center' }}&gt;&lt;Text style={{ fontSize: 26, color: '#CB6B28' }}&gt;›&lt;/Text&gt;&lt;/Box&gt;&#10;            &lt;Box style={{ width: 300, height: 108, background: '#FFF4E6', borderRadius: 8, padding: '14px 18px', flexDirection: 'column', gap: 6, justifyContent: 'center' }}&gt;&#10;                &lt;Text style={{ fontSize: 20, fontWeight: 'bold', color: '#CB6B28' }}&gt;有原因地停止&lt;/Text&gt;&#10;                &lt;Text style={{ fontSize: 14, color: '#546779', lineHeight: 1.5 }}&gt;无进展、到上限、无有效候选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0 Agent 循环、规划与记忆&lt;/Text&gt;&#10;        &lt;Text style={{ fontSize: 14, color: '#546779' }}&gt;1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1" name=""/>
          <p:cNvSpPr/>
          <p:nvPr/>
        </p:nvSpPr>
        <p:spPr>
          <a:xfrm rot="0" flipH="0" flipV="0">
            <a:off x="609600" y="103822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752475" y="1152525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295400" y="1209675"/>
            <a:ext cx="438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2.10.3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09600" y="17430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把停止条件写在程序里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609600" y="265747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09600" y="286702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结束不是模型说了算，是程序核对条件之后说了算。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1390650" y="3467100"/>
            <a:ext cx="2857500" cy="1028700"/>
          </a:xfrm>
          <a:prstGeom prst="roundRect">
            <a:avLst>
              <a:gd name="adj" fmla="val 740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562100" y="3714750"/>
            <a:ext cx="2514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成功交付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562100" y="4000500"/>
            <a:ext cx="2514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条件同时满足才收工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4419600" y="3829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4667250" y="3467100"/>
            <a:ext cx="2857500" cy="1028700"/>
          </a:xfrm>
          <a:prstGeom prst="roundRect">
            <a:avLst>
              <a:gd name="adj" fmla="val 740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4838700" y="3714750"/>
            <a:ext cx="2514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继续修正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838700" y="4000500"/>
            <a:ext cx="2514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有新信息且仍有预算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696200" y="3829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7943850" y="3467100"/>
            <a:ext cx="2857500" cy="1028700"/>
          </a:xfrm>
          <a:prstGeom prst="roundRect">
            <a:avLst>
              <a:gd name="adj" fmla="val 740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115300" y="3714750"/>
            <a:ext cx="2514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有原因地停止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115300" y="4000500"/>
            <a:ext cx="2514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无进展、到上限、无有效候选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1800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2.10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循环、规划与记忆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90" name="" descr="&lt;Slide notes={`循环有三种去向，各自有自己的条件。&#10;&#10;起点是这一轮的真实结果：观察到的、工具返回的、以及模型提出的候选。所有判断都从这里出发，不从模型的说法出发。&#10;&#10;如果满足完成条件——模型结束了、候选通过了业务校验、交付文件也齐全——那就是成功交付，保存可追溯的结果，并说明验证范围到哪里。&#10;&#10;如果有新信息、而且预算还够，那就继续修正：把这一轮的真实观察带进下一轮。&#10;&#10;如果达到停止条件，就有原因地停下来：没有进展、到了上限、或者拿不出有效候选。&#10;&#10;这里有一组单位必须分清：模型轮数不等于工具请求数，一次响应可以包含多个请求。单次超时也不等于任务总预算，实际产品还需要总时间预算和取消信号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0.3　OpenAI API：把停止条件写在程序里&lt;/Text&gt;&#10;            &lt;Text style={{ fontSize: 34, fontWeight: 'bold', color: '#20344B' }}&gt;成功、继续与有原因地停止&lt;/Text&gt;&#10;        &lt;/Box&gt;&#10;    &lt;/Box&gt;&#10;&#10;    &lt;Box style={{ height: 540, flexDirection: 'column', justifyContent: 'center', gap: 16 }}&gt;&#10;&#10;        &lt;Text style={{ fontSize: 16, color: '#546779' }}&gt;一切判断都从「这一轮真实结果」出发，不从模型的说法出发。&lt;/Text&gt;&#10;&#10;        &lt;Box style={{ width: 1108, height: 70, background: '#EDF4FC', borderRadius: 10, flexDirection: 'row', alignItems: 'center', padding: '0px 22px', gap: 16 }}&gt;&#10;            &lt;Text style={{ fontSize: 20, fontWeight: 'bold', color: '#276FBF' }}&gt;本轮真实结果&lt;/Text&gt;&#10;            &lt;Text style={{ fontSize: 14, color: '#546779' }}&gt;观察到的、工具返回的，以及模型提出的候选&lt;/Text&gt;&#10;        &lt;/Box&gt;&#10;&#10;        &lt;Box style={{ flexDirection: 'row', alignItems: 'center', gap: 26 }}&gt;&#10;            &lt;Box style={{ width: 352, height: 152, background: '#ECF7F2', borderRadius: 10, padding: '18px 20px', flexDirection: 'column', gap: 6 }}&gt;&#10;                &lt;Text style={{ fontSize: 20, fontWeight: 'bold', color: '#26816B' }}&gt;成功交付&lt;/Text&gt;&#10;                &lt;Text style={{ fontSize: 14, color: '#546779', lineHeight: 1.6 }}&gt;模型结束、候选通过、保存齐全交付文件。三条同时满足才收工。&lt;/Text&gt;&#10;            &lt;/Box&gt;&#10;            &lt;Box style={{ width: 352, height: 152, background: '#EDF4FC', borderRadius: 10, padding: '18px 20px', flexDirection: 'column', gap: 6 }}&gt;&#10;                &lt;Text style={{ fontSize: 20, fontWeight: 'bold', color: '#276FBF' }}&gt;继续修正&lt;/Text&gt;&#10;                &lt;Text style={{ fontSize: 14, color: '#546779', lineHeight: 1.6 }}&gt;有新信息且仍有预算，带回真实结果再走一轮。&lt;/Text&gt;&#10;            &lt;/Box&gt;&#10;            &lt;Box style={{ width: 352, height: 152, background: '#FFF4E6', borderRadius: 10, padding: '18px 20px', flexDirection: 'column', gap: 6 }}&gt;&#10;                &lt;Text style={{ fontSize: 20, fontWeight: 'bold', color: '#CB6B28' }}&gt;有原因地停止&lt;/Text&gt;&#10;                &lt;Text style={{ fontSize: 14, color: '#546779', lineHeight: 1.6 }}&gt;无进展、达到上限，或拿不出有效候选。&lt;/Text&gt;&#10;            &lt;/Box&gt;&#10;        &lt;/Box&gt;&#10;&#10;        &lt;Box style={{ width: 1108, height: 50, background: '#F4F7FA', borderRadius: 8, flexDirection: 'row', alignItems: 'center', padding: '0px 20px', gap: 14 }}&gt;&#10;            &lt;Text style={{ fontSize: 15, fontWeight: 'bold', color: '#276FBF' }}&gt;继续修正&lt;/Text&gt;&#10;            &lt;Text style={{ fontSize: 16, color: '#276FBF' }}&gt;↓&lt;/Text&gt;&#10;            &lt;Text style={{ fontSize: 15, color: '#546779' }}&gt;下一轮真实观察，回到「本轮真实结果」重新判断&lt;/Text&gt;&#10;        &lt;/Box&gt;&#10;&#10;        &lt;Box style={{ flexDirection: 'row', alignItems: 'center', gap: 16, background: '#FFF4E6', borderRadius: 10, padding: '14px 20px' }}&gt;&#10;            &lt;Box style={{ width: 4, height: 40, background: '#CB6B28' }} /&gt;&#10;            &lt;Box style={{ flex: 1, flexDirection: 'column', gap: 3 }}&gt;&#10;                &lt;Text style={{ fontSize: 16, fontWeight: 'bold', color: '#CB6B28' }}&gt;模型轮数不等于工具请求数　·　单次超时不等于任务总预算&lt;/Text&gt;&#10;                &lt;Text style={{ fontSize: 14, color: '#546779' }}&gt;一次响应可以包含多个工具请求，两类上限不能混用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0 Agent 循环、规划与记忆&lt;/Text&gt;&#10;        &lt;Text style={{ fontSize: 14, color: '#546779' }}&gt;1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2.10.3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OpenAI API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：把停止条件写在程序里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成功、继续与有原因地停止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09600" y="169545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一切判断都从「这一轮真实结果」出发，不从模型的说法出发。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609600" y="2038350"/>
            <a:ext cx="10553700" cy="66675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19150" y="2257425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本轮真实结果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2114550" y="2295525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观察到的、工具返回的，以及模型提出的候选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609600" y="2857500"/>
            <a:ext cx="3352800" cy="1447800"/>
          </a:xfrm>
          <a:prstGeom prst="roundRect">
            <a:avLst>
              <a:gd name="adj" fmla="val 657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00100" y="302895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成功交付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00100" y="3314700"/>
            <a:ext cx="29718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模型结束、候选通过、保存齐全交付文件。三条同时满足才收工。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4210050" y="2857500"/>
            <a:ext cx="3352800" cy="1447800"/>
          </a:xfrm>
          <a:prstGeom prst="roundRect">
            <a:avLst>
              <a:gd name="adj" fmla="val 657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4400550" y="302895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继续修正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4400550" y="3314700"/>
            <a:ext cx="29718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有新信息且仍有预算，带回真实结果再走一轮。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7810500" y="2857500"/>
            <a:ext cx="3352800" cy="1447800"/>
          </a:xfrm>
          <a:prstGeom prst="roundRect">
            <a:avLst>
              <a:gd name="adj" fmla="val 657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001000" y="302895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有原因地停止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8001000" y="3314700"/>
            <a:ext cx="29718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无进展、达到上限，或拿不出有效候选。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09600" y="4457700"/>
            <a:ext cx="10553700" cy="47625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800100" y="46101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继续修正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504950" y="4600575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714500" y="4610100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下一轮真实观察，回到「本轮真实结果」重新判断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609600" y="5086350"/>
            <a:ext cx="10972800" cy="647700"/>
          </a:xfrm>
          <a:prstGeom prst="roundRect">
            <a:avLst>
              <a:gd name="adj" fmla="val 1470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13" name=""/>
          <p:cNvSpPr/>
          <p:nvPr/>
        </p:nvSpPr>
        <p:spPr>
          <a:xfrm rot="0" flipH="0" flipV="0">
            <a:off x="800100" y="521970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990600" y="5219700"/>
            <a:ext cx="10401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模型轮数不等于工具请求数　·　单次超时不等于任务总预算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990600" y="5438775"/>
            <a:ext cx="10401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一次响应可以包含多个工具请求，两类上限不能混用。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00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2.10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循环、规划与记忆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18" name="" descr="&lt;Slide notes={`写成代码之后，结束规则要一条一条写清楚。我列四条。&#10;&#10;第一条，模型结束，而且候选通过了业务校验：保存可追溯的结果，并报告已经验证到什么范围。&#10;&#10;第二条，模型结束了，但拿不出有效候选：标记为未完成，不能凭它的一段总结就判成功。这条最容易出错，所以要格外留意。&#10;&#10;第三条，达到轮数、工具数或者时间预算：有原因地停止，同时保留已经获得的诊断信息，别把线索一起丢掉。&#10;&#10;第四条，同一个调用反复出现、结果没有变化：判断为无进展，停下来，或者请求新的输入。&#10;&#10;四条规则的共同点是：都在程序里判断，而不是等模型说「我做完了」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0.3　OpenAI API：把停止条件写在程序里&lt;/Text&gt;&#10;            &lt;Text style={{ fontSize: 34, fontWeight: 'bold', color: '#20344B' }}&gt;四条结束规则&lt;/Text&gt;&#10;        &lt;/Box&gt;&#10;    &lt;/Box&gt;&#10;&#10;    &lt;Box style={{ height: 540, flexDirection: 'row', alignItems: 'center', gap: 24 }}&gt;&#10;&#10;        &lt;Box style={{ width: 448, flexDirection: 'column', justifyContent: 'center', gap: 14 }}&gt;&#10;            &lt;Text style={{ fontSize: 22, fontWeight: 'bold', color: '#20344B', lineHeight: 1.4 }}&gt;结束条件与处理方式&lt;/Text&gt;&#10;            &lt;Box style={{ width: 64, height: 4, background: '#276FBF' }} /&gt;&#10;            &lt;Text style={{ fontSize: 15, color: '#546779', lineHeight: 1.75 }}&gt;每条规则都写在程序里。模型可以结束它的输出，但应用必须自己核对状态，再决定收工还是继续。&lt;/Text&gt;&#10;            &lt;Box style={{ flexDirection: 'row', alignItems: 'center', gap: 14, background: '#F7F3E8', borderRadius: 10, padding: '16px 18px' }}&gt;&#10;                &lt;Box style={{ width: 4, height: 56, background: '#276FBF' }} /&gt;&#10;                &lt;Text style={{ fontSize: 15, color: '#20344B', lineHeight: 1.6 }}&gt;一次通过的工具结果，{'\n'}不能替代整段循环的结束与文件保存。&lt;/Text&gt;&#10;            &lt;/Box&gt;&#10;        &lt;/Box&gt;&#10;&#10;        &lt;Box style={{ width: 680, flexDirection: 'column', justifyContent: 'center', gap: 12 }}&gt;&#10;&#10;            &lt;Box style={{ height: 118, background: '#ECF7F2', borderRadius: 10, padding: '0px 20px', flexDirection: 'row', alignItems: 'center', gap: 16 }}&gt;&#10;                &lt;Box style={{ width: 4, height: 58, background: '#26816B' }} /&gt;&#10;                &lt;Box style={{ flex: 1, flexDirection: 'column', gap: 5 }}&gt;&#10;                    &lt;Text style={{ fontSize: 17, fontWeight: 'bold', color: '#26816B' }}&gt;模型结束且候选通过业务校验&lt;/Text&gt;&#10;                    &lt;Text style={{ fontSize: 14, color: '#546779', lineHeight: 1.55 }}&gt;保存可追溯的结果，报告已验证范围。&lt;/Text&gt;&#10;                &lt;/Box&gt;&#10;            &lt;/Box&gt;&#10;&#10;            &lt;Box style={{ height: 118, background: '#FFF4E6', borderRadius: 10, padding: '0px 20px', flexDirection: 'row', alignItems: 'center', gap: 16 }}&gt;&#10;                &lt;Box style={{ width: 4, height: 58, background: '#CB6B28' }} /&gt;&#10;                &lt;Box style={{ flex: 1, flexDirection: 'column', gap: 5 }}&gt;&#10;                    &lt;Text style={{ fontSize: 17, fontWeight: 'bold', color: '#CB6B28' }}&gt;模型结束但没有有效候选&lt;/Text&gt;&#10;                    &lt;Text style={{ fontSize: 14, color: '#546779', lineHeight: 1.55 }}&gt;标记未完成，不能凭总结判成功。&lt;/Text&gt;&#10;                &lt;/Box&gt;&#10;            &lt;/Box&gt;&#10;&#10;            &lt;Box style={{ height: 118, background: '#EDF4FC', borderRadius: 10, padding: '0px 20px', flexDirection: 'row', alignItems: 'center', gap: 16 }}&gt;&#10;                &lt;Box style={{ width: 4, height: 58, background: '#276FBF' }} /&gt;&#10;                &lt;Box style={{ flex: 1, flexDirection: 'column', gap: 5 }}&gt;&#10;                    &lt;Text style={{ fontSize: 17, fontWeight: 'bold', color: '#276FBF' }}&gt;达到轮数、工具数或时间预算&lt;/Text&gt;&#10;                    &lt;Text style={{ fontSize: 14, color: '#546779', lineHeight: 1.55 }}&gt;有原因地停止，保留已获得的诊断。&lt;/Text&gt;&#10;                &lt;/Box&gt;&#10;            &lt;/Box&gt;&#10;&#10;            &lt;Box style={{ height: 118, background: '#EDF4FC', borderRadius: 10, padding: '0px 20px', flexDirection: 'row', alignItems: 'center', gap: 16 }}&gt;&#10;                &lt;Box style={{ width: 4, height: 58, background: '#276FBF' }} /&gt;&#10;                &lt;Box style={{ flex: 1, flexDirection: 'column', gap: 5 }}&gt;&#10;                    &lt;Text style={{ fontSize: 17, fontWeight: 'bold', color: '#276FBF' }}&gt;同一调用反复出现、结果没有变化&lt;/Text&gt;&#10;                    &lt;Text style={{ fontSize: 14, color: '#546779', lineHeight: 1.55 }}&gt;判断无进展，停止或请求新的输入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0 Agent 循环、规划与记忆&lt;/Text&gt;&#10;        &lt;Text style={{ fontSize: 14, color: '#546779' }}&gt;1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724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2.10.3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OpenAI API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：把停止条件写在程序里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7241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四条结束规则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09600" y="2590800"/>
            <a:ext cx="426720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结束条件与处理方式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09600" y="3076575"/>
            <a:ext cx="6096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09600" y="3248025"/>
            <a:ext cx="42672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每条规则都写在程序里。模型可以结束它的输出，但应用必须自己核对状态，再决定收工还是继续。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609600" y="3981450"/>
            <a:ext cx="4267200" cy="857250"/>
          </a:xfrm>
          <a:prstGeom prst="roundRect">
            <a:avLst>
              <a:gd name="adj" fmla="val 1111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781050" y="414337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952500" y="4133850"/>
            <a:ext cx="2428875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一次通过的工具结果，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不能替代整段循环的结束与文件保存。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5105400" y="1295400"/>
            <a:ext cx="6477000" cy="1123950"/>
          </a:xfrm>
          <a:prstGeom prst="roundRect">
            <a:avLst>
              <a:gd name="adj" fmla="val 847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30" name=""/>
          <p:cNvSpPr/>
          <p:nvPr/>
        </p:nvSpPr>
        <p:spPr>
          <a:xfrm rot="0" flipH="0" flipV="0">
            <a:off x="5295900" y="1581150"/>
            <a:ext cx="38100" cy="5524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5486400" y="1609725"/>
            <a:ext cx="590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模型结束且候选通过业务校验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486400" y="1857375"/>
            <a:ext cx="59055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保存可追溯的结果，报告已验证范围。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5105400" y="2533650"/>
            <a:ext cx="6477000" cy="1123950"/>
          </a:xfrm>
          <a:prstGeom prst="roundRect">
            <a:avLst>
              <a:gd name="adj" fmla="val 847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34" name=""/>
          <p:cNvSpPr/>
          <p:nvPr/>
        </p:nvSpPr>
        <p:spPr>
          <a:xfrm rot="0" flipH="0" flipV="0">
            <a:off x="5295900" y="2819400"/>
            <a:ext cx="38100" cy="5524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5486400" y="2847975"/>
            <a:ext cx="590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模型结束但没有有效候选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5486400" y="3095625"/>
            <a:ext cx="59055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标记未完成，不能凭总结判成功。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5105400" y="3771900"/>
            <a:ext cx="6477000" cy="1123950"/>
          </a:xfrm>
          <a:prstGeom prst="roundRect">
            <a:avLst>
              <a:gd name="adj" fmla="val 847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38" name=""/>
          <p:cNvSpPr/>
          <p:nvPr/>
        </p:nvSpPr>
        <p:spPr>
          <a:xfrm rot="0" flipH="0" flipV="0">
            <a:off x="5295900" y="4057650"/>
            <a:ext cx="38100" cy="5524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5486400" y="4086225"/>
            <a:ext cx="590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达到轮数、工具数或时间预算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5486400" y="4333875"/>
            <a:ext cx="59055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有原因地停止，保留已获得的诊断。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5105400" y="5010150"/>
            <a:ext cx="6477000" cy="1123950"/>
          </a:xfrm>
          <a:prstGeom prst="roundRect">
            <a:avLst>
              <a:gd name="adj" fmla="val 847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5295900" y="5295900"/>
            <a:ext cx="38100" cy="5524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5486400" y="5324475"/>
            <a:ext cx="590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同一调用反复出现、结果没有变化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5486400" y="5572125"/>
            <a:ext cx="59055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判断无进展，停止或请求新的输入。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00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2.10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循环、规划与记忆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47" name="" descr="&lt;Slide notes={`再讲一组特别容易混的数字。这一组有四个口径，必须分开记。&#10;&#10;第一，模型轮数，就是模型返回了几次。第二，工具请求数——本章脚本在解析和执行之前就递增这个计数，所以报错或者被阻断的请求，也可能已经消耗了预算。&#10;&#10;第三，实际执行数。要判断一次工具到底有没有真的跑，得看工具结果和 not_executed 记录，不能拿请求数去顶。&#10;&#10;第四，单次超时。它只限制某一次调用，不限制整个任务的总时长。真实产品里还需要另外一层总时间预算和取消信号。&#10;&#10;为什么强调这个？因为一次响应里可能包含多个工具请求。如果你把轮数和请求数当成一个数、把两类上限混着用，预算就会算错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0.3　OpenAI API：把停止条件写在程序里&lt;/Text&gt;&#10;            &lt;Text style={{ fontSize: 34, fontWeight: 'bold', color: '#20344B' }}&gt;三种计数分别记录&lt;/Text&gt;&#10;        &lt;/Box&gt;&#10;    &lt;/Box&gt;&#10;&#10;    &lt;Box style={{ height: 540, flexDirection: 'column', justifyContent: 'center', gap: 12 }}&gt;&#10;&#10;        &lt;Text style={{ fontSize: 16, color: '#546779' }}&gt;轮数、请求数、执行数是三个数，不是一个数。&lt;/Text&gt;&#10;&#10;        &lt;Box style={{ flexDirection: 'row', alignItems: 'center', height: 96, background: '#EDF4FC', borderRadius: 10, padding: '0px 20px', gap: 16 }}&gt;&#10;            &lt;Box style={{ width: 4, height: 48, background: '#276FBF' }} /&gt;&#10;            &lt;Text style={{ fontSize: 18, fontWeight: 'bold', color: '#276FBF', width: 180 }}&gt;模型轮数&lt;/Text&gt;&#10;            &lt;Text style={{ fontSize: 14, color: '#546779', flex: 1 }}&gt;模型一共返回了几次，与工具请求数不是一回事。&lt;/Text&gt;&#10;            &lt;Box style={{ width: 264, height: 44, background: '#FFFFFF', borderRadius: 8, justifyContent: 'center', alignItems: 'center' }}&gt;&#10;                &lt;Text style={{ fontSize: 15, fontWeight: 'bold', color: '#276FBF' }}&gt;单独计数&lt;/Text&gt;&#10;            &lt;/Box&gt;&#10;        &lt;/Box&gt;&#10;&#10;        &lt;Box style={{ flexDirection: 'row', alignItems: 'center', height: 96, background: '#EDF4FC', borderRadius: 10, padding: '0px 20px', gap: 16 }}&gt;&#10;            &lt;Box style={{ width: 4, height: 48, background: '#276FBF' }} /&gt;&#10;            &lt;Text style={{ fontSize: 18, fontWeight: 'bold', color: '#276FBF', width: 180 }}&gt;工具请求数&lt;/Text&gt;&#10;            &lt;Text style={{ fontSize: 14, color: '#546779', flex: 1 }}&gt;解析与执行前递增；错误或阻断的请求也可能消耗预算。&lt;/Text&gt;&#10;            &lt;Box style={{ width: 264, height: 44, background: '#FFFFFF', borderRadius: 8, justifyContent: 'center', alignItems: 'center' }}&gt;&#10;                &lt;Text style={{ fontSize: 15, fontWeight: 'bold', color: '#276FBF' }}&gt;一次响应可含多个&lt;/Text&gt;&#10;            &lt;/Box&gt;&#10;        &lt;/Box&gt;&#10;&#10;        &lt;Box style={{ flexDirection: 'row', alignItems: 'center', height: 96, background: '#ECF7F2', borderRadius: 10, padding: '0px 20px', gap: 16 }}&gt;&#10;            &lt;Box style={{ width: 4, height: 48, background: '#26816B' }} /&gt;&#10;            &lt;Text style={{ fontSize: 18, fontWeight: 'bold', color: '#26816B', width: 180 }}&gt;实际执行数&lt;/Text&gt;&#10;            &lt;Text style={{ fontSize: 14, color: '#546779', flex: 1 }}&gt;看工具结果与 not_executed 记录，只有真正跑完的才算。&lt;/Text&gt;&#10;            &lt;Box style={{ width: 264, height: 44, background: '#FFFFFF', borderRadius: 8, justifyContent: 'center', alignItems: 'center' }}&gt;&#10;                &lt;Text style={{ fontSize: 15, fontWeight: 'bold', color: '#26816B' }}&gt;以结果为准&lt;/Text&gt;&#10;            &lt;/Box&gt;&#10;        &lt;/Box&gt;&#10;&#10;        &lt;Box style={{ flexDirection: 'row', alignItems: 'center', height: 96, background: '#FFF4E6', borderRadius: 10, padding: '0px 20px', gap: 16 }}&gt;&#10;            &lt;Box style={{ width: 4, height: 48, background: '#CB6B28' }} /&gt;&#10;            &lt;Text style={{ fontSize: 18, fontWeight: 'bold', color: '#CB6B28', width: 180 }}&gt;单次超时&lt;/Text&gt;&#10;            &lt;Text style={{ fontSize: 14, color: '#546779', flex: 1 }}&gt;只限制一次调用，不限制任务总时长。&lt;/Text&gt;&#10;            &lt;Box style={{ width: 264, height: 44, background: '#FFFFFF', borderRadius: 8, justifyContent: 'center', alignItems: 'center' }}&gt;&#10;                &lt;Text style={{ fontSize: 15, fontWeight: 'bold', color: '#CB6B28' }}&gt;还需总时间预算&lt;/Text&gt;&#10;            &lt;/Box&gt;&#10;        &lt;/Box&gt;&#10;&#10;        &lt;Box style={{ flexDirection: 'row', alignItems: 'center', gap: 16, background: '#F4F7FA', borderRadius: 10, padding: '10px 20px' }}&gt;&#10;            &lt;Box style={{ width: 4, height: 30, background: '#CB6B28' }} /&gt;&#10;            &lt;Text style={{ fontSize: 15, color: '#20344B', flex: 1 }}&gt;两类上限不能混用；实际产品还需要总时间预算与取消信号。&lt;/Text&gt;&#10;        &lt;/Box&gt;&#10;&#10;    &lt;/Box&gt;&#10;&#10;    &lt;Box style={{ height: 40, flexDirection: 'row', justifyContent: 'space-between', alignItems: 'center' }}&gt;&#10;        &lt;Text style={{ fontSize: 14, color: '#546779' }}&gt;2.10 Agent 循环、规划与记忆&lt;/Text&gt;&#10;        &lt;Text style={{ fontSize: 14, color: '#546779' }}&gt;1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724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2.10.3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OpenAI API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：把停止条件写在程序里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7241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三种计数分别记录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09600" y="126682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轮数、请求数、执行数是三个数，不是一个数。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609600" y="157162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54" name=""/>
          <p:cNvSpPr/>
          <p:nvPr/>
        </p:nvSpPr>
        <p:spPr>
          <a:xfrm rot="0" flipH="0" flipV="0">
            <a:off x="800100" y="1800225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990600" y="1924050"/>
            <a:ext cx="171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模型轮数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2857500" y="1952625"/>
            <a:ext cx="586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模型一共返回了几次，与工具请求数不是一回事。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8877300" y="1819275"/>
            <a:ext cx="25146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9848850" y="19431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单独计数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609600" y="260032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800100" y="2828925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990600" y="2952750"/>
            <a:ext cx="171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工具请求数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2857500" y="2981325"/>
            <a:ext cx="586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解析与执行前递增；错误或阻断的请求也可能消耗预算。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8877300" y="2847975"/>
            <a:ext cx="25146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9563100" y="297180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一次响应可含多个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609600" y="362902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66" name=""/>
          <p:cNvSpPr/>
          <p:nvPr/>
        </p:nvSpPr>
        <p:spPr>
          <a:xfrm rot="0" flipH="0" flipV="0">
            <a:off x="800100" y="3857625"/>
            <a:ext cx="38100" cy="4572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990600" y="3981450"/>
            <a:ext cx="171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实际执行数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2857500" y="4010025"/>
            <a:ext cx="586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看工具结果与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not_executed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记录，只有真正跑完的才算。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8877300" y="3876675"/>
            <a:ext cx="25146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9782175" y="40005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以结果为准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609600" y="465772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72" name=""/>
          <p:cNvSpPr/>
          <p:nvPr/>
        </p:nvSpPr>
        <p:spPr>
          <a:xfrm rot="0" flipH="0" flipV="0">
            <a:off x="800100" y="4886325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990600" y="5010150"/>
            <a:ext cx="171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单次超时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2857500" y="5038725"/>
            <a:ext cx="586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只限制一次调用，不限制任务总时长。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8877300" y="4905375"/>
            <a:ext cx="25146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9639300" y="502920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还需总时间预算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609600" y="5686425"/>
            <a:ext cx="10972800" cy="476250"/>
          </a:xfrm>
          <a:prstGeom prst="roundRect">
            <a:avLst>
              <a:gd name="adj" fmla="val 2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78" name=""/>
          <p:cNvSpPr/>
          <p:nvPr/>
        </p:nvSpPr>
        <p:spPr>
          <a:xfrm rot="0" flipH="0" flipV="0">
            <a:off x="800100" y="5781675"/>
            <a:ext cx="38100" cy="2857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990600" y="5838825"/>
            <a:ext cx="10401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两类上限不能混用；实际产品还需要总时间预算与取消信号。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00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2.10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循环、规划与记忆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24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82" name="" descr="&lt;Slide notes={`失败也需要分类处理，因为它们的结局根本不一样。&#10;&#10;如果模型给的参数错了，错误回传应该帮它修正输入：明确告诉它这是个未知房间，并附上允许的房间 ID 列表。这样下一轮它才有机会改对。&#10;&#10;如果模型拒绝回答，这是模型的判断，应该记录拒绝原因，交回用户来决定，而不是自动再试一次。&#10;&#10;如果输出中断或者网络失败，要记录错误的类型和发生的位置，但不要把服务器堆栈、凭据这些东西塞回上下文。&#10;&#10;如果是业务校验失败，就回传那条校验失败项，让模型知道具体哪一条不满足。不要把无限增长的旧错误反复堆进去，上下文会被撑满。&#10;&#10;模型拒绝、输出中断、网络失败、业务校验失败，这四种是不同结局，不能都用一句「再试一次」处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0.3　OpenAI API：把停止条件写在程序里&lt;/Text&gt;&#10;            &lt;Text style={{ fontSize: 34, fontWeight: 'bold', color: '#20344B' }}&gt;不同结局要有不同的处理&lt;/Text&gt;&#10;        &lt;/Box&gt;&#10;    &lt;/Box&gt;&#10;&#10;    &lt;Box style={{ height: 540, flexDirection: 'row', alignItems: 'center', gap: 24 }}&gt;&#10;&#10;        &lt;Box style={{ width: 620, flexDirection: 'column', gap: 14 }}&gt;&#10;&#10;            &lt;Box style={{ flexDirection: 'row', gap: 20, alignItems: 'center' }}&gt;&#10;                &lt;Box style={{ width: 436, height: 44, background: '#276FBF', borderRadius: 8, justifyContent: 'center', padding: '0px 18px' }}&gt;&#10;                    &lt;Text style={{ fontSize: 17, fontWeight: 'bold', color: '#FFFFFF' }}&gt;结局　与回传什么&lt;/Text&gt;&#10;                &lt;/Box&gt;&#10;                &lt;Box style={{ width: 164, height: 44, background: '#CB6B28', borderRadius: 8, justifyContent: 'center', alignItems: 'center' }}&gt;&#10;                    &lt;Text style={{ fontSize: 17, fontWeight: 'bold', color: '#FFFFFF' }}&gt;不要怎么做&lt;/Text&gt;&#10;                &lt;/Box&gt;&#10;            &lt;/Box&gt;&#10;&#10;            &lt;Box style={{ flexDirection: 'row', gap: 20 }}&gt;&#10;                &lt;Box style={{ width: 436, height: 104, background: '#EDF4FC', borderRadius: 8, padding: '0px 18px', flexDirection: 'row', alignItems: 'center', gap: 14 }}&gt;&#10;                    &lt;Box style={{ width: 4, height: 52, background: '#276FBF' }} /&gt;&#10;                    &lt;Box style={{ flex: 1, flexDirection: 'column', gap: 4 }}&gt;&#10;                        &lt;Text style={{ fontSize: 17, fontWeight: 'bold', color: '#276FBF' }}&gt;参数错误&lt;/Text&gt;&#10;                        &lt;Text style={{ fontSize: 14, color: '#546779', lineHeight: 1.5 }}&gt;回传 UNKNOWN_ROOM 与允许的房间 ID&lt;/Text&gt;&#10;                    &lt;/Box&gt;&#10;                &lt;/Box&gt;&#10;                &lt;Box style={{ width: 164, height: 104, background: '#FFF4E6', borderRadius: 8, justifyContent: 'center', padding: '0px 16px' }}&gt;&#10;                    &lt;Text style={{ fontSize: 14, color: '#CB6B28', lineHeight: 1.55 }}&gt;不要只说{'\n'}再试一次&lt;/Text&gt;&#10;                &lt;/Box&gt;&#10;            &lt;/Box&gt;&#10;&#10;            &lt;Box style={{ flexDirection: 'row', gap: 20 }}&gt;&#10;                &lt;Box style={{ width: 436, height: 104, background: '#EDF4FC', borderRadius: 8, padding: '0px 18px', flexDirection: 'row', alignItems: 'center', gap: 14 }}&gt;&#10;                    &lt;Box style={{ width: 4, height: 52, background: '#276FBF' }} /&gt;&#10;                    &lt;Box style={{ flex: 1, flexDirection: 'column', gap: 4 }}&gt;&#10;                        &lt;Text style={{ fontSize: 17, fontWeight: 'bold', color: '#276FBF' }}&gt;模型拒绝&lt;/Text&gt;&#10;                        &lt;Text style={{ fontSize: 14, color: '#546779', lineHeight: 1.5 }}&gt;记录拒绝原因，交回用户决定&lt;/Text&gt;&#10;                    &lt;/Box&gt;&#10;                &lt;/Box&gt;&#10;                &lt;Box style={{ width: 164, height: 104, background: '#FFF4E6', borderRadius: 8, justifyContent: 'center', padding: '0px 16px' }}&gt;&#10;                    &lt;Text style={{ fontSize: 14, color: '#CB6B28', lineHeight: 1.55 }}&gt;不要{'\n'}自动重试&lt;/Text&gt;&#10;                &lt;/Box&gt;&#10;            &lt;/Box&gt;&#10;&#10;            &lt;Box style={{ flexDirection: 'row', gap: 20 }}&gt;&#10;                &lt;Box style={{ width: 436, height: 104, background: '#EDF4FC', borderRadius: 8, padding: '0px 18px', flexDirection: 'row', alignItems: 'center', gap: 14 }}&gt;&#10;                    &lt;Box style={{ width: 4, height: 52, background: '#276FBF' }} /&gt;&#10;                    &lt;Box style={{ flex: 1, flexDirection: 'column', gap: 4 }}&gt;&#10;                        &lt;Text style={{ fontSize: 17, fontWeight: 'bold', color: '#276FBF' }}&gt;输出中断或网络失败&lt;/Text&gt;&#10;                        &lt;Text style={{ fontSize: 14, color: '#546779', lineHeight: 1.5 }}&gt;记录错误类型与发生位置&lt;/Text&gt;&#10;                    &lt;/Box&gt;&#10;                &lt;/Box&gt;&#10;                &lt;Box style={{ width: 164, height: 104, background: '#FFF4E6', borderRadius: 8, justifyContent: 'center', padding: '0px 16px' }}&gt;&#10;                    &lt;Text style={{ fontSize: 14, color: '#CB6B28', lineHeight: 1.55 }}&gt;不要塞回{'\n'}堆栈与凭据&lt;/Text&gt;&#10;                &lt;/Box&gt;&#10;            &lt;/Box&gt;&#10;&#10;            &lt;Box style={{ flexDirection: 'row', gap: 20 }}&gt;&#10;                &lt;Box style={{ width: 436, height: 104, background: '#ECF7F2', borderRadius: 8, padding: '0px 18px', flexDirection: 'row', alignItems: 'center', gap: 14 }}&gt;&#10;                    &lt;Box style={{ width: 4, height: 52, background: '#26816B' }} /&gt;&#10;                    &lt;Box style={{ flex: 1, flexDirection: 'column', gap: 4 }}&gt;&#10;                        &lt;Text style={{ fontSize: 17, fontWeight: 'bold', color: '#26816B' }}&gt;业务校验失败&lt;/Text&gt;&#10;                        &lt;Text style={{ fontSize: 14, color: '#546779', lineHeight: 1.5 }}&gt;回传唯一的那条校验失败项&lt;/Text&gt;&#10;                    &lt;/Box&gt;&#10;                &lt;/Box&gt;&#10;                &lt;Box style={{ width: 164, height: 104, background: '#FFF4E6', borderRadius: 8, justifyContent: 'center', padding: '0px 16px' }}&gt;&#10;                    &lt;Text style={{ fontSize: 14, color: '#CB6B28', lineHeight: 1.55 }}&gt;不要回传{'\n'}无限旧错误&lt;/Text&gt;&#10;                &lt;/Box&gt;&#10;            &lt;/Box&gt;&#10;&#10;        &lt;/Box&gt;&#10;&#10;        &lt;Box style={{ width: 508, height: 510, background: '#F7F3E8', borderRadius: 12, padding: '24px 24px', flexDirection: 'column', gap: 16, justifyContent: 'center' }}&gt;&#10;            &lt;Text style={{ fontSize: 22, fontWeight: 'bold', color: '#20344B', lineHeight: 1.4 }}&gt;四种结局，不是同一件事&lt;/Text&gt;&#10;            &lt;Box style={{ width: 64, height: 4, background: '#CB6B28' }} /&gt;&#10;            &lt;Text style={{ fontSize: 15, color: '#546779', lineHeight: 1.85 }}&gt;模型拒绝、输出中断、网络失败、业务校验失败，原因和处置都不一样。&lt;/Text&gt;&#10;            &lt;Text style={{ fontSize: 15, color: '#546779', lineHeight: 1.85 }}&gt;回传的目的是帮模型修正输入，不是把服务器的内部细节倒进上下文。&lt;/Text&gt;&#10;            &lt;Box style={{ flexDirection: 'row', alignItems: 'center', gap: 14, background: '#FFF4E6', borderRadius: 10, padding: '16px 18px' }}&gt;&#10;                &lt;Box style={{ width: 4, height: 44, background: '#CB6B28' }} /&gt;&#10;                &lt;Text style={{ fontSize: 16, fontWeight: 'bold', color: '#CB6B28', lineHeight: 1.5 }}&gt;不要用「再试一次」{'\n'}统一处理四种结局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0 Agent 循环、规划与记忆&lt;/Text&gt;&#10;        &lt;Text style={{ fontSize: 14, color: '#546779' }}&gt;1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2.10.3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OpenAI API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：把停止条件写在程序里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不同结局要有不同的处理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609600" y="1257300"/>
            <a:ext cx="41529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781050" y="1371600"/>
            <a:ext cx="3810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结局　与回传什么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4953000" y="1257300"/>
            <a:ext cx="1562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5334000" y="1371600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不要怎么做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609600" y="1809750"/>
            <a:ext cx="4152900" cy="99060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2" name=""/>
          <p:cNvSpPr/>
          <p:nvPr/>
        </p:nvSpPr>
        <p:spPr>
          <a:xfrm rot="0" flipH="0" flipV="0">
            <a:off x="781050" y="2057400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952500" y="2066925"/>
            <a:ext cx="3638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参数错误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952500" y="2305050"/>
            <a:ext cx="36385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回传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UNKNOWN_ROOM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与允许的房间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4953000" y="1809750"/>
            <a:ext cx="1562100" cy="99060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5105400" y="2057400"/>
            <a:ext cx="1257300" cy="5048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不要只说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再试一次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609600" y="2933700"/>
            <a:ext cx="4152900" cy="99060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8" name=""/>
          <p:cNvSpPr/>
          <p:nvPr/>
        </p:nvSpPr>
        <p:spPr>
          <a:xfrm rot="0" flipH="0" flipV="0">
            <a:off x="781050" y="3181350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952500" y="3190875"/>
            <a:ext cx="3638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模型拒绝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952500" y="3429000"/>
            <a:ext cx="36385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记录拒绝原因，交回用户决定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4953000" y="2933700"/>
            <a:ext cx="1562100" cy="99060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5105400" y="3181350"/>
            <a:ext cx="1257300" cy="5048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不要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自动重试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609600" y="4057650"/>
            <a:ext cx="4152900" cy="99060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4" name=""/>
          <p:cNvSpPr/>
          <p:nvPr/>
        </p:nvSpPr>
        <p:spPr>
          <a:xfrm rot="0" flipH="0" flipV="0">
            <a:off x="781050" y="4305300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952500" y="4314825"/>
            <a:ext cx="3638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输出中断或网络失败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952500" y="4552950"/>
            <a:ext cx="36385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记录错误类型与发生位置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4953000" y="4057650"/>
            <a:ext cx="1562100" cy="99060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5105400" y="4305300"/>
            <a:ext cx="1257300" cy="5048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不要塞回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堆栈与凭据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609600" y="5181600"/>
            <a:ext cx="4152900" cy="990600"/>
          </a:xfrm>
          <a:prstGeom prst="roundRect">
            <a:avLst>
              <a:gd name="adj" fmla="val 769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10" name=""/>
          <p:cNvSpPr/>
          <p:nvPr/>
        </p:nvSpPr>
        <p:spPr>
          <a:xfrm rot="0" flipH="0" flipV="0">
            <a:off x="781050" y="5429250"/>
            <a:ext cx="38100" cy="495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952500" y="5438775"/>
            <a:ext cx="3638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业务校验失败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952500" y="5676900"/>
            <a:ext cx="36385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回传唯一的那条校验失败项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4953000" y="5181600"/>
            <a:ext cx="1562100" cy="99060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5105400" y="5429250"/>
            <a:ext cx="1257300" cy="5048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不要回传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无限旧错误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6743700" y="1285875"/>
            <a:ext cx="4838700" cy="4857750"/>
          </a:xfrm>
          <a:prstGeom prst="roundRect">
            <a:avLst>
              <a:gd name="adj" fmla="val 2362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6972300" y="2152650"/>
            <a:ext cx="438150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四种结局，不是同一件事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6972300" y="2657475"/>
            <a:ext cx="609600" cy="38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972300" y="2847975"/>
            <a:ext cx="43815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模型拒绝、输出中断、网络失败、业务校验失败，原因和处置都不一样。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6972300" y="3638550"/>
            <a:ext cx="43815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回传的目的是帮模型修正输入，不是把服务器的内部细节倒进上下文。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6972300" y="4429125"/>
            <a:ext cx="4381500" cy="85725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21" name=""/>
          <p:cNvSpPr/>
          <p:nvPr/>
        </p:nvSpPr>
        <p:spPr>
          <a:xfrm rot="0" flipH="0" flipV="0">
            <a:off x="7143750" y="464820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7315200" y="4581525"/>
            <a:ext cx="1371600" cy="5524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不要用「再试一次」</a:t>
            </a:r>
            <a:endParaRPr/>
          </a:p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统一处理四种结局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00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2.10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循环、规划与记忆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24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25" name="" descr="&lt;Slide notes={`如果一个任务被中断了，我们想接着往下做，需要留下什么？这一条讲的是恢复的前提。&#10;&#10;要保存的东西有：输入摘要、候选版本、每次查询的时间、校验结果，以及已经用掉的预算。没有这些，恢复之后根本不知道上次做到哪里。&#10;&#10;其次，恢复时要定义可重复执行的只读操作，并且在执行之前确认事实没有变化。查询是只读的，可以重跑；但重跑之前得确认数据还是上次那份。&#10;&#10;最后，对付款、发信、预约这一类有副作用的动作，要另外设幂等标识，并用真实结果去核对。绝对不能依靠「模型记得自己做过」。&#10;&#10;这里我要明确一句边界：本章的示例，中断之后再执行是一次新的尝试，没有实现跨进程的断点续跑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0.3　OpenAI API：把停止条件写在程序里&lt;/Text&gt;&#10;            &lt;Text style={{ fontSize: 34, fontWeight: 'bold', color: '#20344B' }}&gt;暂停与恢复要留下什么&lt;/Text&gt;&#10;        &lt;/Box&gt;&#10;    &lt;/Box&gt;&#10;&#10;    &lt;Box style={{ height: 540, flexDirection: 'column', justifyContent: 'center', gap: 20 }}&gt;&#10;&#10;        &lt;Box style={{ flexDirection: 'row', alignItems: 'center', gap: 24 }}&gt;&#10;&#10;            &lt;Box style={{ width: 360, flexDirection: 'column', gap: 14, justifyContent: 'center' }}&gt;&#10;                &lt;Text style={{ fontSize: 22, fontWeight: 'bold', color: '#20344B', lineHeight: 1.4 }}&gt;恢复工作前，先把状态留下&lt;/Text&gt;&#10;                &lt;Box style={{ width: 64, height: 4, background: '#276FBF' }} /&gt;&#10;                &lt;Text style={{ fontSize: 15, color: '#546779', lineHeight: 1.75 }}&gt;中断之后继续，不是重新开始，而是要接着上一轮的真实进度走。所以状态必须由程序记录，不能靠对话记忆。&lt;/Text&gt;&#10;            &lt;/Box&gt;&#10;&#10;            &lt;Box style={{ width: 768, flexDirection: 'column', gap: 14 }}&gt;&#10;&#10;                &lt;Box style={{ height: 130, background: '#EDF4FC', borderRadius: 10, padding: '16px 20px', flexDirection: 'row', alignItems: 'center', gap: 16 }}&gt;&#10;                    &lt;Box style={{ width: 44, height: 44, background: '#276FBF', borderRadius: 8, justifyContent: 'center', alignItems: 'center' }}&gt;&#10;                        &lt;Text style={{ fontSize: 18, fontWeight: 'bold', color: '#FFFFFF' }}&gt;一&lt;/Text&gt;&#10;                    &lt;/Box&gt;&#10;                    &lt;Box style={{ flex: 1, flexDirection: 'column', gap: 4 }}&gt;&#10;                        &lt;Text style={{ fontSize: 18, fontWeight: 'bold', color: '#276FBF' }}&gt;保存可恢复的状态&lt;/Text&gt;&#10;                        &lt;Text style={{ fontSize: 14, color: '#546779', lineHeight: 1.55 }}&gt;输入摘要、候选版本、查询时间、校验结果与预算。&lt;/Text&gt;&#10;                    &lt;/Box&gt;&#10;                &lt;/Box&gt;&#10;&#10;                &lt;Box style={{ height: 130, background: '#EDF4FC', borderRadius: 10, padding: '16px 20px', flexDirection: 'row', alignItems: 'center', gap: 16 }}&gt;&#10;                    &lt;Box style={{ width: 44, height: 44, background: '#276FBF', borderRadius: 8, justifyContent: 'center', alignItems: 'center' }}&gt;&#10;                        &lt;Text style={{ fontSize: 18, fontWeight: 'bold', color: '#FFFFFF' }}&gt;二&lt;/Text&gt;&#10;                    &lt;/Box&gt;&#10;                    &lt;Box style={{ flex: 1, flexDirection: 'column', gap: 4 }}&gt;&#10;                        &lt;Text style={{ fontSize: 18, fontWeight: 'bold', color: '#276FBF' }}&gt;只读操作可以重跑&lt;/Text&gt;&#10;                        &lt;Text style={{ fontSize: 14, color: '#546779', lineHeight: 1.55 }}&gt;定义可重复执行的只读操作，并在执行前确认事实未变。&lt;/Text&gt;&#10;                    &lt;/Box&gt;&#10;                &lt;/Box&gt;&#10;&#10;                &lt;Box style={{ height: 130, background: '#FFF4E6', borderRadius: 10, padding: '16px 20px', flexDirection: 'row', alignItems: 'center', gap: 16 }}&gt;&#10;                    &lt;Box style={{ width: 44, height: 44, background: '#CB6B28', borderRadius: 8, justifyContent: 'center', alignItems: 'center' }}&gt;&#10;                        &lt;Text style={{ fontSize: 18, fontWeight: 'bold', color: '#FFFFFF' }}&gt;三&lt;/Text&gt;&#10;                    &lt;/Box&gt;&#10;                    &lt;Box style={{ flex: 1, flexDirection: 'column', gap: 4 }}&gt;&#10;                        &lt;Text style={{ fontSize: 18, fontWeight: 'bold', color: '#CB6B28' }}&gt;副作用要另设幂等标识&lt;/Text&gt;&#10;                        &lt;Text style={{ fontSize: 14, color: '#546779', lineHeight: 1.55 }}&gt;付款、发信、预约等动作，用真实结果核对，不能靠「模型记得做过」。&lt;/Text&gt;&#10;                    &lt;/Box&gt;&#10;                &lt;/Box&gt;&#10;&#10;            &lt;/Box&gt;&#10;&#10;        &lt;/Box&gt;&#10;&#10;        &lt;Box style={{ flexDirection: 'row', alignItems: 'center', gap: 16, background: '#F7F3E8', borderRadius: 10, padding: '16px 22px' }}&gt;&#10;            &lt;Box style={{ width: 4, height: 42, background: '#CB6B28' }} /&gt;&#10;            &lt;Box style={{ flex: 1, flexDirection: 'column', gap: 3 }}&gt;&#10;                &lt;Text style={{ fontSize: 16, fontWeight: 'bold', color: '#CB6B28' }}&gt;本章示例没有实现跨进程断点续跑&lt;/Text&gt;&#10;                &lt;Text style={{ fontSize: 14, color: '#546779' }}&gt;中断后再执行是一次新的尝试，恢复能力需要自己补齐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0 Agent 循环、规划与记忆&lt;/Text&gt;&#10;        &lt;Text style={{ fontSize: 14, color: '#546779' }}&gt;1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2.10.3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OpenAI API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：把停止条件写在程序里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暂停与恢复要留下什么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609600" y="2486025"/>
            <a:ext cx="342900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恢复工作前，先把状态留下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609600" y="2971800"/>
            <a:ext cx="6096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09600" y="3143250"/>
            <a:ext cx="34290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中断之后继续，不是重新开始，而是要接着上一轮的真实进度走。所以状态必须由程序记录，不能靠对话记忆。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4267200" y="1276350"/>
            <a:ext cx="7315200" cy="123825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34" name=""/>
          <p:cNvSpPr/>
          <p:nvPr/>
        </p:nvSpPr>
        <p:spPr>
          <a:xfrm rot="0" flipH="0" flipV="0">
            <a:off x="4457700" y="16859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4581525" y="179070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一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5029200" y="1647825"/>
            <a:ext cx="6362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保存可恢复的状态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5029200" y="1895475"/>
            <a:ext cx="63627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输入摘要、候选版本、查询时间、校验结果与预算。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4267200" y="2647950"/>
            <a:ext cx="7315200" cy="123825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39" name=""/>
          <p:cNvSpPr/>
          <p:nvPr/>
        </p:nvSpPr>
        <p:spPr>
          <a:xfrm rot="0" flipH="0" flipV="0">
            <a:off x="4457700" y="30575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4581525" y="316230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二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5029200" y="3019425"/>
            <a:ext cx="6362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只读操作可以重跑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5029200" y="3267075"/>
            <a:ext cx="63627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定义可重复执行的只读操作，并在执行前确认事实未变。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4267200" y="4019550"/>
            <a:ext cx="7315200" cy="123825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4457700" y="44291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4581525" y="453390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三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5029200" y="4391025"/>
            <a:ext cx="6362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副作用要另设幂等标识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5029200" y="4638675"/>
            <a:ext cx="63627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付款、发信、预约等动作，用真实结果核对，不能靠「模型记得做过」。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609600" y="5448300"/>
            <a:ext cx="10972800" cy="704850"/>
          </a:xfrm>
          <a:prstGeom prst="roundRect">
            <a:avLst>
              <a:gd name="adj" fmla="val 13514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249" name=""/>
          <p:cNvSpPr/>
          <p:nvPr/>
        </p:nvSpPr>
        <p:spPr>
          <a:xfrm rot="0" flipH="0" flipV="0">
            <a:off x="819150" y="5600700"/>
            <a:ext cx="38100" cy="4000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1009650" y="5610225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本章示例没有实现跨进程断点续跑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009650" y="5829300"/>
            <a:ext cx="1036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中断后再执行是一次新的尝试，恢复能力需要自己补齐。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00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2.10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循环、规划与记忆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24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54" name="" descr="&lt;Slide notes={`「记住」这个词在日常对话里很含糊，但在系统里它至少对应三种不同的东西。&#10;&#10;一种是把历史真的传进这次请求，这叫会话上下文。另一种是程序自己记录的进度，比如哪份候选通过了校验、还缺什么、预算剩多少，这叫应用任务状态。还有一种是跨任务读出来的偏好和记录，那才是长期记忆。&#10;&#10;它们的可用范围完全不同：上下文只在真的传进去时才有用，任务状态由程序掌握，长期记忆可以跨任务检索，但也可能是过期的。&#10;&#10;「继续工作」可能是下一轮调用，也可能是新任务接手。先分清是哪一种「记住」，再决定哪些事实需要重新确认。`} style={{ width: 1280, height: 720, background: '#FFFFFF', flexDirection: 'column', padding: '20px 64px' }}&gt;&#10;&#10;    &lt;Box style={{ height: 540, flexDirection: 'column', justifyContent: 'center', gap: 18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6, fontWeight: 'bold', color: '#FFFFFF' }}&gt;④&lt;/Text&gt;&#10;            &lt;/Box&gt;&#10;            &lt;Text style={{ fontSize: 16, color: '#546779' }}&gt;2.10.4 — 2.10.6&lt;/Text&gt;&#10;        &lt;/Box&gt;&#10;&#10;        &lt;Text style={{ fontSize: 56, fontWeight: 'bold', color: '#20344B', lineHeight: 1.15 }}&gt;三种「记住」与动手体验&lt;/Text&gt;&#10;&#10;        &lt;Box style={{ width: 640, height: 4, background: '#276FBF' }} /&gt;&#10;&#10;        &lt;Text style={{ fontSize: 19, color: '#546779', lineHeight: 1.7 }}&gt;先分清是哪一种「记住」，再决定哪些事实需要重新确认。&lt;/Text&gt;&#10;&#10;        &lt;Box style={{ flexDirection: 'row', justifyContent: 'center', alignItems: 'center', gap: 72, marginTop: 6 }}&gt;&#10;            &lt;Box style={{ width: 336, height: 96, background: '#EDF4FC', borderRadius: 8, padding: '14px 18px', flexDirection: 'column', gap: 6, justifyContent: 'center' }}&gt;&#10;                &lt;Text style={{ fontSize: 19, fontWeight: 'bold', color: '#276FBF' }}&gt;会话上下文&lt;/Text&gt;&#10;                &lt;Text style={{ fontSize: 14, color: '#546779', lineHeight: 1.5 }}&gt;实际传入的历史与工具结果&lt;/Text&gt;&#10;            &lt;/Box&gt;&#10;            &lt;Box style={{ width: 336, height: 96, background: '#ECF7F2', borderRadius: 8, padding: '14px 18px', flexDirection: 'column', gap: 6, justifyContent: 'center' }}&gt;&#10;                &lt;Text style={{ fontSize: 19, fontWeight: 'bold', color: '#26816B' }}&gt;应用任务状态&lt;/Text&gt;&#10;                &lt;Text style={{ fontSize: 14, color: '#546779', lineHeight: 1.5 }}&gt;候选、输入摘要、校验与预算&lt;/Text&gt;&#10;            &lt;/Box&gt;&#10;            &lt;Box style={{ width: 336, height: 96, background: '#F7F3E8', borderRadius: 8, padding: '14px 18px', flexDirection: 'column', gap: 6, justifyContent: 'center' }}&gt;&#10;                &lt;Text style={{ fontSize: 19, fontWeight: 'bold', color: '#20344B' }}&gt;长期记忆&lt;/Text&gt;&#10;                &lt;Text style={{ fontSize: 14, color: '#546779', lineHeight: 1.5 }}&gt;跨任务读取的偏好与记录&lt;/Text&gt;&#10;            &lt;/Box&gt;&#10;        &lt;/Box&gt;&#10;&#10;        &lt;Box style={{ flexDirection: 'row', justifyContent: 'center' }}&gt;&#10;            &lt;Box style={{ width: 336, height: 26, justifyContent: 'center', alignItems: 'center' }}&gt;&lt;Text style={{ fontSize: 18, color: '#CB6B28' }}&gt;↓&lt;/Text&gt;&lt;/Box&gt;&#10;        &lt;/Box&gt;&#10;&#10;        &lt;Box style={{ flexDirection: 'row', justifyContent: 'center' }}&gt;&#10;            &lt;Box style={{ width: 960, height: 48, background: '#FFF4E6', borderRadius: 8, justifyContent: 'center', alignItems: 'center' }}&gt;&#10;                &lt;Text style={{ fontSize: 16, fontWeight: 'bold', color: '#CB6B28' }}&gt;分不清边界，就会把过期的事实当成当前的事实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0 Agent 循环、规划与记忆&lt;/Text&gt;&#10;        &lt;Text style={{ fontSize: 14, color: '#546779' }}&gt;1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6" name=""/>
          <p:cNvSpPr/>
          <p:nvPr/>
        </p:nvSpPr>
        <p:spPr>
          <a:xfrm rot="0" flipH="0" flipV="0">
            <a:off x="609600" y="5715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752475" y="685800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295400" y="742950"/>
            <a:ext cx="1123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2.10.4 — 2.10.6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09600" y="12763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三种「记住」与动手体验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609600" y="219075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09600" y="24003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先分清是哪一种「记住」，再决定哪些事实需要重新确认。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609600" y="3000375"/>
            <a:ext cx="3200400" cy="9144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781050" y="3200400"/>
            <a:ext cx="2857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会话上下文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781050" y="3476625"/>
            <a:ext cx="2857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实际传入的历史与工具结果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4495800" y="3000375"/>
            <a:ext cx="3200400" cy="9144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4667250" y="3200400"/>
            <a:ext cx="2857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应用任务状态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4667250" y="3476625"/>
            <a:ext cx="2857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候选、输入摘要、校验与预算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8382000" y="3000375"/>
            <a:ext cx="3200400" cy="914400"/>
          </a:xfrm>
          <a:prstGeom prst="roundRect">
            <a:avLst>
              <a:gd name="adj" fmla="val 8333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8553450" y="3200400"/>
            <a:ext cx="2857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长期记忆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8553450" y="3476625"/>
            <a:ext cx="2857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跨任务读取的偏好与记录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6057900" y="4105275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CB6B2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1524000" y="4505325"/>
            <a:ext cx="9144000" cy="457200"/>
          </a:xfrm>
          <a:prstGeom prst="roundRect">
            <a:avLst>
              <a:gd name="adj" fmla="val 1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4495800" y="4638675"/>
            <a:ext cx="320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分不清边界，就会把过期的事实当成当前的事实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1800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2.10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循环、规划与记忆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24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76" name="" descr="&lt;Slide notes={`三种「记住」汇到一个地方：继续工作之前，先核对。&#10;&#10;会话上下文里装的是上一轮的查询结果、模型提出的候选方案。它只在实际传入这次请求的时候才可用，而且旧结果可能已经过期了。&#10;&#10;应用任务状态由程序记录：哪份候选通过了校验、还缺什么、预算还剩多少。恢复的时候，仍然要检查输入有没有变化。&#10;&#10;长期记忆可以跨任务检索，比如「用户偏好用中文表格汇报」。但记忆不能覆盖当次规则，规则永远优先。&#10;&#10;举一个能说明区别的例子：「用户喜欢上午活动」可以是记忆；「10:00 手作室空闲」应当是带日期和来源的查询事实。把后者长期保存却没有有效期，下一次开放日就容易复用一条过期的预约。&#10;&#10;这正是「继续工作前核对」存在的理由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0.4　三种「记住」不能混在一起&lt;/Text&gt;&#10;            &lt;Text style={{ fontSize: 34, fontWeight: 'bold', color: '#20344B' }}&gt;会话、任务状态与长期记忆&lt;/Text&gt;&#10;        &lt;/Box&gt;&#10;    &lt;/Box&gt;&#10;&#10;    &lt;Box style={{ height: 540, flexDirection: 'column', justifyContent: 'center', gap: 18 }}&gt;&#10;&#10;        &lt;Text style={{ fontSize: 16, color: '#546779' }}&gt;三种来源汇到同一个动作：继续工作前，先核对事实。&lt;/Text&gt;&#10;&#10;        &lt;Box style={{ flexDirection: 'row', alignItems: 'center' }}&gt;&#10;&#10;            &lt;Box style={{ width: 600, flexDirection: 'column', gap: 16 }}&gt;&#10;                &lt;Box style={{ width: 600, height: 96, background: '#EDF4FC', borderRadius: 8, padding: '14px 18px', flexDirection: 'column', gap: 5, justifyContent: 'center' }}&gt;&#10;                    &lt;Text style={{ fontSize: 18, fontWeight: 'bold', color: '#276FBF' }}&gt;会话上下文&lt;/Text&gt;&#10;                    &lt;Text style={{ fontSize: 14, color: '#546779' }}&gt;上轮查询结果、模型提出的候选方案&lt;/Text&gt;&#10;                &lt;/Box&gt;&#10;                &lt;Box style={{ width: 600, height: 96, background: '#ECF7F2', borderRadius: 8, padding: '14px 18px', flexDirection: 'column', gap: 5, justifyContent: 'center' }}&gt;&#10;                    &lt;Text style={{ fontSize: 18, fontWeight: 'bold', color: '#26816B' }}&gt;应用任务状态&lt;/Text&gt;&#10;                    &lt;Text style={{ fontSize: 14, color: '#546779' }}&gt;哪份候选通过校验、还缺什么、剩余预算&lt;/Text&gt;&#10;                &lt;/Box&gt;&#10;                &lt;Box style={{ width: 600, height: 96, background: '#F7F3E8', borderRadius: 8, padding: '14px 18px', flexDirection: 'column', gap: 5, justifyContent: 'center' }}&gt;&#10;                    &lt;Text style={{ fontSize: 18, fontWeight: 'bold', color: '#20344B' }}&gt;长期记忆&lt;/Text&gt;&#10;                    &lt;Text style={{ fontSize: 14, color: '#546779' }}&gt;跨任务读取的偏好，例如用中文表格汇报&lt;/Text&gt;&#10;                &lt;/Box&gt;&#10;            &lt;/Box&gt;&#10;&#10;            &lt;Box style={{ width: 22, height: 320 }} /&gt;&#10;            &lt;Box style={{ width: 44, height: 320, justifyContent: 'center', alignItems: 'center' }}&gt;&lt;Text style={{ fontSize: 26, color: '#CB6B28' }}&gt;›&lt;/Text&gt;&lt;/Box&gt;&#10;            &lt;Box style={{ width: 22, height: 320 }} /&gt;&#10;&#10;            &lt;Box style={{ width: 464, height: 320, background: '#FFF4E6', borderRadius: 12, padding: '24px 24px', flexDirection: 'column', gap: 14, justifyContent: 'center' }}&gt;&#10;                &lt;Text style={{ fontSize: 22, fontWeight: 'bold', color: '#CB6B28', lineHeight: 1.4 }}&gt;继续工作前核对&lt;/Text&gt;&#10;                &lt;Box style={{ width: 64, height: 4, background: '#CB6B28' }} /&gt;&#10;                &lt;Text style={{ fontSize: 16, color: '#20344B', lineHeight: 1.6 }}&gt;事实是否过期？&lt;/Text&gt;&#10;                &lt;Text style={{ fontSize: 16, color: '#20344B', lineHeight: 1.6 }}&gt;输入是否变化？&lt;/Text&gt;&#10;                &lt;Text style={{ fontSize: 14, color: '#546779', lineHeight: 1.7 }}&gt;偏好不能覆盖当次规则；旧结果不能当成当前状态。&lt;/Text&gt;&#10;            &lt;/Box&gt;&#10;&#10;        &lt;/Box&gt;&#10;&#10;        &lt;Box style={{ flexDirection: 'row', gap: 24 }}&gt;&#10;            &lt;Box style={{ width: 564, height: 60, background: '#ECF7F2', borderRadius: 8, flexDirection: 'row', alignItems: 'center', padding: '0px 20px', gap: 12 }}&gt;&#10;                &lt;Text style={{ fontSize: 15, fontWeight: 'bold', color: '#26816B' }}&gt;偏好&lt;/Text&gt;&#10;                &lt;Text style={{ fontSize: 14, color: '#546779' }}&gt;「用户喜欢上午活动」可以长期保存&lt;/Text&gt;&#10;            &lt;/Box&gt;&#10;            &lt;Box style={{ width: 564, height: 60, background: '#FFF4E6', borderRadius: 8, flexDirection: 'row', alignItems: 'center', padding: '0px 20px', gap: 12 }}&gt;&#10;                &lt;Text style={{ fontSize: 15, fontWeight: 'bold', color: '#CB6B28' }}&gt;事实&lt;/Text&gt;&#10;                &lt;Text style={{ fontSize: 14, color: '#546779' }}&gt;「10:00 手作室空闲」必须带日期与来源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0 Agent 循环、规划与记忆&lt;/Text&gt;&#10;        &lt;Text style={{ fontSize: 14, color: '#546779' }}&gt;1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2.10.4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三种「记住」不能混在一起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会话、任务状态与长期记忆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09600" y="16383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三种来源汇到同一个动作：继续工作前，先核对事实。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609600" y="2000250"/>
            <a:ext cx="5715000" cy="9144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781050" y="2247900"/>
            <a:ext cx="5372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会话上下文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81050" y="2505075"/>
            <a:ext cx="537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上轮查询结果、模型提出的候选方案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609600" y="3067050"/>
            <a:ext cx="5715000" cy="9144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781050" y="3314700"/>
            <a:ext cx="5372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应用任务状态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781050" y="3571875"/>
            <a:ext cx="537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哪份候选通过校验、还缺什么、剩余预算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609600" y="4133850"/>
            <a:ext cx="5715000" cy="914400"/>
          </a:xfrm>
          <a:prstGeom prst="roundRect">
            <a:avLst>
              <a:gd name="adj" fmla="val 8333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781050" y="4381500"/>
            <a:ext cx="5372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长期记忆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781050" y="4638675"/>
            <a:ext cx="537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跨任务读取的偏好，例如用中文表格汇报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6705600" y="33718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7162800" y="2000250"/>
            <a:ext cx="4419600" cy="3048000"/>
          </a:xfrm>
          <a:prstGeom prst="roundRect">
            <a:avLst>
              <a:gd name="adj" fmla="val 375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7391400" y="2628900"/>
            <a:ext cx="396240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继续工作前核对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7391400" y="3114675"/>
            <a:ext cx="609600" cy="38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7391400" y="3286125"/>
            <a:ext cx="39624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事实是否过期？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7391400" y="3714750"/>
            <a:ext cx="39624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输入是否变化？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7391400" y="4143375"/>
            <a:ext cx="39624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偏好不能覆盖当次规则；旧结果不能当成当前状态。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609600" y="5219700"/>
            <a:ext cx="5372100" cy="571500"/>
          </a:xfrm>
          <a:prstGeom prst="roundRect">
            <a:avLst>
              <a:gd name="adj" fmla="val 13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800100" y="54197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偏好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200150" y="542925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「用户喜欢上午活动」可以长期保存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6210300" y="5219700"/>
            <a:ext cx="5372100" cy="571500"/>
          </a:xfrm>
          <a:prstGeom prst="roundRect">
            <a:avLst>
              <a:gd name="adj" fmla="val 13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6400800" y="54197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事实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6800850" y="5429250"/>
            <a:ext cx="2390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10:00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手作室空闲」必须带日期与来源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00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2.10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循环、规划与记忆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24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306" name="" descr="&lt;Slide notes={`把三种「记住」并排放在一起，差别就很清楚了。&#10;&#10;会话上下文里是上一轮的查询结果和模型提出的候选方案。它的边界是：只在实际传入上下文的时候可用，而且旧结果可能已经过期。&#10;&#10;应用任务状态记的是哪份候选通过了校验、还缺什么、剩余预算有多少。它由程序记录，恢复的时候仍然要检查输入有没有变化。&#10;&#10;长期记忆可以跨任务检索，比如记住「用户偏好用中文表格汇报」。但要记住：偏好不能覆盖当次规则。&#10;&#10;最危险的是把查询事实当偏好存起来。把「10:00 手作室空闲」长期保存，却不带日期和来源、不设有效期，系统在下一个开放日就可能复用一条早就过期的预约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0.4　三种「记住」不能混在一起&lt;/Text&gt;&#10;            &lt;Text style={{ fontSize: 34, fontWeight: 'bold', color: '#20344B' }}&gt;三种记忆各能信到什么程度&lt;/Text&gt;&#10;        &lt;/Box&gt;&#10;    &lt;/Box&gt;&#10;&#10;    &lt;Box style={{ height: 540, flexDirection: 'column', justifyContent: 'center', gap: 14 }}&gt;&#10;&#10;        &lt;Text style={{ fontSize: 16, color: '#546779' }}&gt;同样是「记得」，可用的范围却完全不同。&lt;/Text&gt;&#10;&#10;        &lt;Box style={{ flexDirection: 'row', alignItems: 'center', height: 126, background: '#EDF4FC', borderRadius: 10, padding: '0px 20px', gap: 16 }}&gt;&#10;            &lt;Text style={{ fontSize: 17, fontWeight: 'bold', color: '#276FBF', width: 180 }}&gt;会话上下文&lt;/Text&gt;&#10;            &lt;Text style={{ fontSize: 14, color: '#546779', flex: 1 }}&gt;上轮查询结果、模型提出的候选方案&lt;/Text&gt;&#10;            &lt;Box style={{ width: 356, height: 84, background: '#FFFFFF', borderRadius: 8, justifyContent: 'center', padding: '0px 16px' }}&gt;&#10;                &lt;Text style={{ fontSize: 14, color: '#546779', lineHeight: 1.55 }}&gt;只在实际传入上下文时可用；旧结果可能过期&lt;/Text&gt;&#10;            &lt;/Box&gt;&#10;        &lt;/Box&gt;&#10;&#10;        &lt;Box style={{ flexDirection: 'row', alignItems: 'center', height: 126, background: '#ECF7F2', borderRadius: 10, padding: '0px 20px', gap: 16 }}&gt;&#10;            &lt;Text style={{ fontSize: 17, fontWeight: 'bold', color: '#26816B', width: 180 }}&gt;应用任务状态&lt;/Text&gt;&#10;            &lt;Text style={{ fontSize: 14, color: '#546779', flex: 1 }}&gt;哪份候选通过校验、还缺什么、剩余预算&lt;/Text&gt;&#10;            &lt;Box style={{ width: 356, height: 84, background: '#FFFFFF', borderRadius: 8, justifyContent: 'center', padding: '0px 16px' }}&gt;&#10;                &lt;Text style={{ fontSize: 14, color: '#546779', lineHeight: 1.55 }}&gt;由程序记录；恢复时仍要检查输入是否变化&lt;/Text&gt;&#10;            &lt;/Box&gt;&#10;        &lt;/Box&gt;&#10;&#10;        &lt;Box style={{ flexDirection: 'row', alignItems: 'center', height: 126, background: '#FFF4E6', borderRadius: 10, padding: '0px 20px', gap: 16 }}&gt;&#10;            &lt;Text style={{ fontSize: 17, fontWeight: 'bold', color: '#CB6B28', width: 180 }}&gt;长期记忆&lt;/Text&gt;&#10;            &lt;Text style={{ fontSize: 14, color: '#546779', flex: 1 }}&gt;用户偏好，例如用中文表格汇报&lt;/Text&gt;&#10;            &lt;Box style={{ width: 356, height: 84, background: '#FFFFFF', borderRadius: 8, justifyContent: 'center', padding: '0px 16px' }}&gt;&#10;                &lt;Text style={{ fontSize: 14, color: '#CB6B28', lineHeight: 1.55 }}&gt;可以跨任务检索；偏好不能覆盖当次规则&lt;/Text&gt;&#10;            &lt;/Box&gt;&#10;        &lt;/Box&gt;&#10;&#10;        &lt;Box style={{ flexDirection: 'row', alignItems: 'center', gap: 16, background: '#F7F3E8', borderRadius: 10, padding: '16px 22px' }}&gt;&#10;            &lt;Box style={{ width: 4, height: 42, background: '#CB6B28' }} /&gt;&#10;            &lt;Text style={{ fontSize: 15, color: '#20344B', flex: 1, lineHeight: 1.55 }}&gt;把「10:00 手作室空闲」长期保存却不带日期与来源，系统可能在下一次开放日复用旧预约。&lt;/Text&gt;&#10;        &lt;/Box&gt;&#10;&#10;    &lt;/Box&gt;&#10;&#10;    &lt;Box style={{ height: 40, flexDirection: 'row', justifyContent: 'space-between', alignItems: 'center' }}&gt;&#10;        &lt;Text style={{ fontSize: 14, color: '#546779' }}&gt;2.10 Agent 循环、规划与记忆&lt;/Text&gt;&#10;        &lt;Text style={{ fontSize: 14, color: '#546779' }}&gt;1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2.10.4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三种「记住」不能混在一起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三种记忆各能信到什么程度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609600" y="120015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同样是「记得」，可用的范围却完全不同。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609600" y="1524000"/>
            <a:ext cx="10972800" cy="1200150"/>
          </a:xfrm>
          <a:prstGeom prst="roundRect">
            <a:avLst>
              <a:gd name="adj" fmla="val 793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800100" y="2028825"/>
            <a:ext cx="1714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会话上下文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2667000" y="2047875"/>
            <a:ext cx="5181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上轮查询结果、模型提出的候选方案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8001000" y="1724025"/>
            <a:ext cx="33909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8153400" y="2000250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只在实际传入上下文时可用；旧结果可能过期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609600" y="2857500"/>
            <a:ext cx="10972800" cy="1200150"/>
          </a:xfrm>
          <a:prstGeom prst="roundRect">
            <a:avLst>
              <a:gd name="adj" fmla="val 793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800100" y="3362325"/>
            <a:ext cx="1714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应用任务状态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2667000" y="3381375"/>
            <a:ext cx="5181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哪份候选通过校验、还缺什么、剩余预算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8001000" y="3057525"/>
            <a:ext cx="33909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8153400" y="3333750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由程序记录；恢复时仍要检查输入是否变化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609600" y="4191000"/>
            <a:ext cx="10972800" cy="1200150"/>
          </a:xfrm>
          <a:prstGeom prst="roundRect">
            <a:avLst>
              <a:gd name="adj" fmla="val 793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800100" y="4695825"/>
            <a:ext cx="1714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长期记忆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2667000" y="4714875"/>
            <a:ext cx="5181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用户偏好，例如用中文表格汇报</a:t>
            </a:r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8001000" y="4391025"/>
            <a:ext cx="33909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8153400" y="4667250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可以跨任务检索；偏好不能覆盖当次规则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609600" y="5524500"/>
            <a:ext cx="10972800" cy="704850"/>
          </a:xfrm>
          <a:prstGeom prst="roundRect">
            <a:avLst>
              <a:gd name="adj" fmla="val 13514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28" name=""/>
          <p:cNvSpPr/>
          <p:nvPr/>
        </p:nvSpPr>
        <p:spPr>
          <a:xfrm rot="0" flipH="0" flipV="0">
            <a:off x="819150" y="5676900"/>
            <a:ext cx="38100" cy="4000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1009650" y="5743575"/>
            <a:ext cx="103632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把「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10:00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手作室空闲」长期保存却不带日期与来源，系统可能在下一次开放日复用旧预约。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00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2.10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循环、规划与记忆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24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70" name="" descr="&lt;Slide notes={`那恢复工作之前，到底要核对什么？我把它压成三个动作。&#10;&#10;第一，核查指令的继承规则。新的一次请求里，原来的系统指令有没有被继承、以哪一份为准，这些要写清楚。不管你用的是手工拼历史，还是用 previous_response_id 这类会话状态机制，都要单独核对。&#10;&#10;第二，确认外部事实没变。只读查询是可以重跑的，但重跑之前先确认数据还是那一份、时间范围还是那个范围，否则结果不可比。&#10;&#10;第三，对副作用另设幂等标识。付款、发信、预约这类动作，要用真实结果去核对，不能依靠记忆。&#10;&#10;还有一句要说明：会话状态机制能帮应用延续对话，但它不会替开发者建立业务状态机。业务状态是你自己的责任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0.4　三种「记住」不能混在一起&lt;/Text&gt;&#10;            &lt;Text style={{ fontSize: 34, fontWeight: 'bold', color: '#20344B' }}&gt;恢复工作前要核对三个事实&lt;/Text&gt;&#10;        &lt;/Box&gt;&#10;    &lt;/Box&gt;&#10;&#10;    &lt;Box style={{ height: 540, flexDirection: 'row', alignItems: 'center', gap: 24 }}&gt;&#10;&#10;        &lt;Box style={{ width: 680, flexDirection: 'column', justifyContent: 'center', gap: 14 }}&gt;&#10;&#10;            &lt;Box style={{ height: 150, background: '#EDF4FC', borderRadius: 10, padding: '18px 20px', flexDirection: 'row', alignItems: 'center', gap: 16 }}&gt;&#10;                &lt;Box style={{ width: 4, height: 76, background: '#276FBF' }} /&gt;&#10;                &lt;Box style={{ flex: 1, flexDirection: 'column', gap: 5 }}&gt;&#10;                    &lt;Text style={{ fontSize: 18, fontWeight: 'bold', color: '#276FBF' }}&gt;核查指令的继承规则&lt;/Text&gt;&#10;                    &lt;Text style={{ fontSize: 14, color: '#546779', lineHeight: 1.6 }}&gt;新一次请求里，原来的规则有没有被继承、以哪一份为准。&lt;/Text&gt;&#10;                &lt;/Box&gt;&#10;            &lt;/Box&gt;&#10;&#10;            &lt;Box style={{ height: 150, background: '#EDF4FC', borderRadius: 10, padding: '18px 20px', flexDirection: 'row', alignItems: 'center', gap: 16 }}&gt;&#10;                &lt;Box style={{ width: 4, height: 76, background: '#276FBF' }} /&gt;&#10;                &lt;Box style={{ flex: 1, flexDirection: 'column', gap: 5 }}&gt;&#10;                    &lt;Text style={{ fontSize: 18, fontWeight: 'bold', color: '#276FBF' }}&gt;确认外部事实没有变化&lt;/Text&gt;&#10;                    &lt;Text style={{ fontSize: 14, color: '#546779', lineHeight: 1.6 }}&gt;只读查询可以重跑，重跑前先确认数据仍是那一份。&lt;/Text&gt;&#10;                &lt;/Box&gt;&#10;            &lt;/Box&gt;&#10;&#10;            &lt;Box style={{ height: 150, background: '#FFF4E6', borderRadius: 10, padding: '18px 20px', flexDirection: 'row', alignItems: 'center', gap: 16 }}&gt;&#10;                &lt;Box style={{ width: 4, height: 76, background: '#CB6B28' }} /&gt;&#10;                &lt;Box style={{ flex: 1, flexDirection: 'column', gap: 5 }}&gt;&#10;                    &lt;Text style={{ fontSize: 18, fontWeight: 'bold', color: '#CB6B28' }}&gt;副作用另设幂等标识&lt;/Text&gt;&#10;                    &lt;Text style={{ fontSize: 14, color: '#546779', lineHeight: 1.6 }}&gt;付款、发信、预约要用真实结果核对，不能靠记忆。&lt;/Text&gt;&#10;                &lt;/Box&gt;&#10;            &lt;/Box&gt;&#10;&#10;        &lt;/Box&gt;&#10;&#10;        &lt;Box style={{ width: 448, height: 478, background: '#F7F3E8', borderRadius: 12, padding: '24px 24px', flexDirection: 'column', gap: 16, justifyContent: 'center' }}&gt;&#10;            &lt;Text style={{ fontSize: 22, fontWeight: 'bold', color: '#20344B', lineHeight: 1.4 }}&gt;为什么必须自己核对&lt;/Text&gt;&#10;            &lt;Box style={{ width: 64, height: 4, background: '#276FBF' }} /&gt;&#10;            &lt;Text style={{ fontSize: 15, color: '#546779', lineHeight: 1.8 }}&gt;无论用手工历史，还是用会话状态机制，应用都应单独保存需要恢复的任务状态。&lt;/Text&gt;&#10;            &lt;Text style={{ fontSize: 15, color: '#546779', lineHeight: 1.8 }}&gt;模型知道对话，程序才知道任务做到哪一步。&lt;/Text&gt;&#10;            &lt;Box style={{ flexDirection: 'row', alignItems: 'center', gap: 14, background: '#FFF4E6', borderRadius: 10, padding: '16px 18px' }}&gt;&#10;                &lt;Box style={{ width: 4, height: 58, background: '#CB6B28' }} /&gt;&#10;                &lt;Text style={{ fontSize: 15, fontWeight: 'bold', color: '#CB6B28', lineHeight: 1.55 }}&gt;会话状态延续对话，{'\n'}但不建立业务状态机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0 Agent 循环、规划与记忆&lt;/Text&gt;&#10;        &lt;Text style={{ fontSize: 14, color: '#546779' }}&gt;2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2.10.4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三种「记住」不能混在一起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恢复工作前要核对三个事实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609600" y="1438275"/>
            <a:ext cx="647700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76" name=""/>
          <p:cNvSpPr/>
          <p:nvPr/>
        </p:nvSpPr>
        <p:spPr>
          <a:xfrm rot="0" flipH="0" flipV="0">
            <a:off x="800100" y="1790700"/>
            <a:ext cx="38100" cy="723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990600" y="1895475"/>
            <a:ext cx="590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核查指令的继承规则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990600" y="2152650"/>
            <a:ext cx="59055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新一次请求里，原来的规则有没有被继承、以哪一份为准。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609600" y="3000375"/>
            <a:ext cx="647700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80" name=""/>
          <p:cNvSpPr/>
          <p:nvPr/>
        </p:nvSpPr>
        <p:spPr>
          <a:xfrm rot="0" flipH="0" flipV="0">
            <a:off x="800100" y="3352800"/>
            <a:ext cx="38100" cy="723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990600" y="3457575"/>
            <a:ext cx="590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确认外部事实没有变化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990600" y="3714750"/>
            <a:ext cx="59055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只读查询可以重跑，重跑前先确认数据仍是那一份。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609600" y="4562475"/>
            <a:ext cx="6477000" cy="1428750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84" name=""/>
          <p:cNvSpPr/>
          <p:nvPr/>
        </p:nvSpPr>
        <p:spPr>
          <a:xfrm rot="0" flipH="0" flipV="0">
            <a:off x="800100" y="4914900"/>
            <a:ext cx="38100" cy="723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990600" y="5019675"/>
            <a:ext cx="590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副作用另设幂等标识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990600" y="5276850"/>
            <a:ext cx="59055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付款、发信、预约要用真实结果核对，不能靠记忆。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7315200" y="1438275"/>
            <a:ext cx="4267200" cy="4552950"/>
          </a:xfrm>
          <a:prstGeom prst="roundRect">
            <a:avLst>
              <a:gd name="adj" fmla="val 2679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7543800" y="2324100"/>
            <a:ext cx="381000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为什么必须自己核对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7543800" y="2828925"/>
            <a:ext cx="6096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7543800" y="3019425"/>
            <a:ext cx="38100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无论用手工历史，还是用会话状态机制，应用都应单独保存需要恢复的任务状态。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7543800" y="3790950"/>
            <a:ext cx="3810000" cy="3143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模型知道对话，程序才知道任务做到哪一步。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7543800" y="4257675"/>
            <a:ext cx="3810000" cy="85725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93" name=""/>
          <p:cNvSpPr/>
          <p:nvPr/>
        </p:nvSpPr>
        <p:spPr>
          <a:xfrm rot="0" flipH="0" flipV="0">
            <a:off x="7715250" y="4410075"/>
            <a:ext cx="38100" cy="5524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7886700" y="4419600"/>
            <a:ext cx="1285875" cy="5334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会话状态延续对话，</a:t>
            </a:r>
            <a:endParaRPr/>
          </a:p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但不建立业务状态机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00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2.10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循环、规划与记忆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24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97" name="" descr="&lt;Slide notes={`前面讲的都是原理，最后落到可以动手的地方。WorkBuddy 的输入框里有一个「模式」入口，提供了三种任务模式。&#10;&#10;Ask，仅问答。它只回答，不动文件。适合拿来问问题，比如引用活动材料，问完成筹备还缺哪些东西，看看有没有遗漏预约事实。&#10;&#10;Agent 是默认模式。它会读文件、调工具、生成候选，按真实结果继续往下走。&#10;&#10;Plan，先给方案。它先把输入、步骤、产物和验收条件列出来，你审阅之后可以选「开始执行」，也可以「调整计划」。&#10;&#10;这里要说明一句：这是产品的交互流程，不是模型内部推理的显示开关。Plan 让你有机会在执行之前先看方案，这和「能不能看到模型在想什么」是两回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0.5　在 WorkBuddy 中体验三种任务模式&lt;/Text&gt;&#10;            &lt;Text style={{ fontSize: 34, fontWeight: 'bold', color: '#20344B' }}&gt;WorkBuddy 里的三种任务模式&lt;/Text&gt;&#10;        &lt;/Box&gt;&#10;    &lt;/Box&gt;&#10;&#10;    &lt;Box style={{ height: 540, flexDirection: 'column', justifyContent: 'center', gap: 16 }}&gt;&#10;&#10;        &lt;Text style={{ fontSize: 16, color: '#546779' }}&gt;输入框的「＋ → 模式」提供三个入口，默认是 Agent。&lt;/Text&gt;&#10;&#10;        &lt;Box style={{ flexDirection: 'row', gap: 26 }}&gt;&#10;&#10;            &lt;Box style={{ width: 352, height: 236, background: '#EDF4FC', borderRadius: 10, padding: '20px 20px', flexDirection: 'column', gap: 8 }}&gt;&#10;                &lt;Text style={{ fontSize: 44, fontWeight: 'bold', color: '#276FBF', lineHeight: 1.0 }}&gt;01&lt;/Text&gt;&#10;                &lt;Text style={{ fontSize: 20, fontWeight: 'bold', color: '#276FBF' }}&gt;Ask　仅问答&lt;/Text&gt;&#10;                &lt;Text style={{ fontSize: 14, color: '#546779', lineHeight: 1.65 }}&gt;只回答问题，不动文件。适合核对材料、检查有没有遗漏的预约事实。&lt;/Text&gt;&#10;            &lt;/Box&gt;&#10;&#10;            &lt;Box style={{ width: 352, height: 236, background: '#ECF7F2', borderRadius: 10, padding: '20px 20px', flexDirection: 'column', gap: 8 }}&gt;&#10;                &lt;Text style={{ fontSize: 44, fontWeight: 'bold', color: '#26816B', lineHeight: 1.0 }}&gt;02&lt;/Text&gt;&#10;                &lt;Text style={{ fontSize: 20, fontWeight: 'bold', color: '#26816B' }}&gt;Agent　默认模式&lt;/Text&gt;&#10;                &lt;Text style={{ fontSize: 14, color: '#546779', lineHeight: 1.65 }}&gt;读取材料、调用工具、生成候选，按真实结果继续或停止。&lt;/Text&gt;&#10;            &lt;/Box&gt;&#10;&#10;            &lt;Box style={{ width: 352, height: 236, background: '#FFF4E6', borderRadius: 10, padding: '20px 20px', flexDirection: 'column', gap: 8 }}&gt;&#10;                &lt;Text style={{ fontSize: 44, fontWeight: 'bold', color: '#CB6B28', lineHeight: 1.0 }}&gt;03&lt;/Text&gt;&#10;                &lt;Text style={{ fontSize: 20, fontWeight: 'bold', color: '#CB6B28' }}&gt;Plan　先给方案&lt;/Text&gt;&#10;                &lt;Text style={{ fontSize: 14, color: '#546779', lineHeight: 1.65 }}&gt;先列出输入、步骤、产物与验收条件，审阅之后再决定怎么做。&lt;/Text&gt;&#10;            &lt;/Box&gt;&#10;&#10;        &lt;/Box&gt;&#10;&#10;        &lt;Box style={{ width: 1108, height: 66, background: '#F7F3E8', borderRadius: 10, flexDirection: 'row', alignItems: 'center', padding: '0px 22px', gap: 16 }}&gt;&#10;            &lt;Text style={{ fontSize: 15, fontWeight: 'bold', color: '#CB6B28' }}&gt;Plan 的审阅动作&lt;/Text&gt;&#10;            &lt;Text style={{ fontSize: 15, color: '#546779' }}&gt;用户看完方案后，可以选「开始执行」，也可以「调整计划」。&lt;/Text&gt;&#10;        &lt;/Box&gt;&#10;&#10;        &lt;Box style={{ flexDirection: 'row', alignItems: 'center', gap: 16, background: '#F4F7FA', borderRadius: 10, padding: '14px 20px' }}&gt;&#10;            &lt;Box style={{ width: 4, height: 40, background: '#276FBF' }} /&gt;&#10;            &lt;Text style={{ fontSize: 15, color: '#20344B', flex: 1 }}&gt;这是产品的交互流程，不是模型内部推理的显示开关。&lt;/Text&gt;&#10;        &lt;/Box&gt;&#10;&#10;    &lt;/Box&gt;&#10;&#10;    &lt;Box style={{ height: 40, flexDirection: 'row', justifyContent: 'space-between', alignItems: 'center' }}&gt;&#10;        &lt;Text style={{ fontSize: 14, color: '#546779' }}&gt;2.10 Agent 循环、规划与记忆&lt;/Text&gt;&#10;        &lt;Text style={{ fontSize: 14, color: '#546779' }}&gt;2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619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2.10.5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中体验三种任务模式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6196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WorkBuddy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里的三种任务模式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609600" y="162877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输入框的「＋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模式」提供三个入口，默认是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609600" y="1971675"/>
            <a:ext cx="3352800" cy="2247900"/>
          </a:xfrm>
          <a:prstGeom prst="roundRect">
            <a:avLst>
              <a:gd name="adj" fmla="val 423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800100" y="2162175"/>
            <a:ext cx="29718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76FB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800100" y="274320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Ask</a:t>
            </a: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　仅问答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800100" y="3048000"/>
            <a:ext cx="2971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只回答问题，不动文件。适合核对材料、检查有没有遗漏的预约事实。</a:t>
            </a:r>
            <a:endParaRPr/>
          </a:p>
        </p:txBody>
      </p:sp>
      <p:sp>
        <p:nvSpPr>
          <p:cNvPr id="407" name=""/>
          <p:cNvSpPr/>
          <p:nvPr/>
        </p:nvSpPr>
        <p:spPr>
          <a:xfrm rot="0" flipH="0" flipV="0">
            <a:off x="4210050" y="1971675"/>
            <a:ext cx="3352800" cy="2247900"/>
          </a:xfrm>
          <a:prstGeom prst="roundRect">
            <a:avLst>
              <a:gd name="adj" fmla="val 423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4400550" y="2162175"/>
            <a:ext cx="29718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6816B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4400550" y="274320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>Agent</a:t>
            </a: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　默认模式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4400550" y="3048000"/>
            <a:ext cx="2971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读取材料、调用工具、生成候选，按真实结果继续或停止。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7810500" y="1971675"/>
            <a:ext cx="3352800" cy="2247900"/>
          </a:xfrm>
          <a:prstGeom prst="roundRect">
            <a:avLst>
              <a:gd name="adj" fmla="val 423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8001000" y="2162175"/>
            <a:ext cx="29718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CB6B2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8001000" y="274320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CB6B28"/>
                </a:solidFill>
                <a:latin typeface="Microsoft YaHei"/>
                <a:ea typeface="Microsoft YaHei"/>
              </a:rPr>
              <a:t>Plan</a:t>
            </a: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　先给方案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8001000" y="3048000"/>
            <a:ext cx="2971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先列出输入、步骤、产物与验收条件，审阅之后再决定怎么做。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609600" y="4371975"/>
            <a:ext cx="10553700" cy="628650"/>
          </a:xfrm>
          <a:prstGeom prst="roundRect">
            <a:avLst>
              <a:gd name="adj" fmla="val 15152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819150" y="4600575"/>
            <a:ext cx="1076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Plan </a:t>
            </a: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的审阅动作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2047875" y="4600575"/>
            <a:ext cx="400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用户看完方案后，可以选「开始执行」，也可以「调整计划」。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609600" y="5153025"/>
            <a:ext cx="10972800" cy="647700"/>
          </a:xfrm>
          <a:prstGeom prst="roundRect">
            <a:avLst>
              <a:gd name="adj" fmla="val 1470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19" name=""/>
          <p:cNvSpPr/>
          <p:nvPr/>
        </p:nvSpPr>
        <p:spPr>
          <a:xfrm rot="0" flipH="0" flipV="0">
            <a:off x="800100" y="528637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990600" y="5391150"/>
            <a:ext cx="10401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这是产品的交互流程，不是模型内部推理的显示开关。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00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2.10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循环、规划与记忆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24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423" name="" descr="&lt;Slide notes={`光看不行，要动手走一遍。四步，每步都有要观察的东西。&#10;&#10;第一步，在 Ask 里引用活动材料，问完成筹备还需要哪些材料，然后检查它有没有遗漏预约事实。这一步看的是提问能不能暴露缺口。&#10;&#10;第二步，切换到 Plan，要求它给出输入、步骤、产物和验收条件，并且把「校验通过后才能交付」这句话写进计划。这一步看的是方案的验收标准清不清楚。&#10;&#10;第三步，审阅之后开始执行，让它读取材料、生成候选，再运行校验器。这一步要盯的是真实的工具调用和文件变化，不是它说了什么。&#10;&#10;第四步，如果失败，把实际的错误报告给它，要求只修正相关的安排，然后再次运行校验。千万不要用聊天里的一句「已修复」当结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0.5　在 WorkBuddy 中体验三种任务模式&lt;/Text&gt;&#10;            &lt;Text style={{ fontSize: 34, fontWeight: 'bold', color: '#20344B' }}&gt;四步练习：从提问到重新校验&lt;/Text&gt;&#10;        &lt;/Box&gt;&#10;    &lt;/Box&gt;&#10;&#10;    &lt;Box style={{ height: 540, flexDirection: 'column', justifyContent: 'center', gap: 14 }}&gt;&#10;&#10;        &lt;Box style={{ flexDirection: 'row', gap: 20, alignItems: 'center' }}&gt;&#10;            &lt;Box style={{ width: 508, height: 40, background: '#276FBF', borderRadius: 8, justifyContent: 'center', padding: '0px 18px' }}&gt;&#10;                &lt;Text style={{ fontSize: 16, fontWeight: 'bold', color: '#FFFFFF' }}&gt;做什么&lt;/Text&gt;&#10;            &lt;/Box&gt;&#10;            &lt;Box style={{ width: 620, height: 40, background: '#26816B', borderRadius: 8, justifyContent: 'center', padding: '0px 18px' }}&gt;&#10;                &lt;Text style={{ fontSize: 16, fontWeight: 'bold', color: '#FFFFFF' }}&gt;观察什么真实变化&lt;/Text&gt;&#10;            &lt;/Box&gt;&#10;        &lt;/Box&gt;&#10;&#10;        &lt;Box style={{ flexDirection: 'row', gap: 20 }}&gt;&#10;            &lt;Box style={{ width: 508, height: 104, background: '#EDF4FC', borderRadius: 8, padding: '0px 18px', flexDirection: 'row', alignItems: 'center', gap: 14 }}&gt;&#10;                &lt;Text style={{ fontSize: 20, fontWeight: 'bold', color: '#276FBF' }}&gt;01&lt;/Text&gt;&#10;                &lt;Text style={{ fontSize: 15, color: '#20344B', lineHeight: 1.5 }}&gt;在 Ask 中引用 data/brief.md，{'\n'}问还缺哪些材料&lt;/Text&gt;&#10;            &lt;/Box&gt;&#10;            &lt;Box style={{ width: 620, height: 104, background: '#F4F7FA', borderRadius: 8, padding: '0px 18px', justifyContent: 'center' }}&gt;&#10;                &lt;Text style={{ fontSize: 14, color: '#546779', lineHeight: 1.6 }}&gt;检查它的回答是否遗漏了预约事实。&lt;/Text&gt;&#10;            &lt;/Box&gt;&#10;        &lt;/Box&gt;&#10;&#10;        &lt;Box style={{ flexDirection: 'row', gap: 20 }}&gt;&#10;            &lt;Box style={{ width: 508, height: 104, background: '#EDF4FC', borderRadius: 8, padding: '0px 18px', flexDirection: 'row', alignItems: 'center', gap: 14 }}&gt;&#10;                &lt;Text style={{ fontSize: 20, fontWeight: 'bold', color: '#276FBF' }}&gt;02&lt;/Text&gt;&#10;                &lt;Text style={{ fontSize: 15, color: '#20344B', lineHeight: 1.5 }}&gt;切换 Plan，要求给出输入、步骤、{'\n'}产物与验收条件&lt;/Text&gt;&#10;            &lt;/Box&gt;&#10;            &lt;Box style={{ width: 620, height: 104, background: '#F4F7FA', borderRadius: 8, padding: '0px 18px', justifyContent: 'center' }}&gt;&#10;                &lt;Text style={{ fontSize: 14, color: '#546779', lineHeight: 1.6 }}&gt;计划里是否写入了「校验通过后才能交付」。&lt;/Text&gt;&#10;            &lt;/Box&gt;&#10;        &lt;/Box&gt;&#10;&#10;        &lt;Box style={{ flexDirection: 'row', gap: 20 }}&gt;&#10;            &lt;Box style={{ width: 508, height: 104, background: '#EDF4FC', borderRadius: 8, padding: '0px 18px', flexDirection: 'row', alignItems: 'center', gap: 14 }}&gt;&#10;                &lt;Text style={{ fontSize: 20, fontWeight: 'bold', color: '#276FBF' }}&gt;03&lt;/Text&gt;&#10;                &lt;Text style={{ fontSize: 15, color: '#20344B', lineHeight: 1.5 }}&gt;审阅后开始执行，生成候选{'\n'}再运行校验器&lt;/Text&gt;&#10;            &lt;/Box&gt;&#10;            &lt;Box style={{ width: 620, height: 104, background: '#F4F7FA', borderRadius: 8, padding: '0px 18px', justifyContent: 'center' }}&gt;&#10;                &lt;Text style={{ fontSize: 14, color: '#546779', lineHeight: 1.6 }}&gt;真实工具被调用了吗？文件真的变化了吗？&lt;/Text&gt;&#10;            &lt;/Box&gt;&#10;        &lt;/Box&gt;&#10;&#10;        &lt;Box style={{ flexDirection: 'row', gap: 20 }}&gt;&#10;            &lt;Box style={{ width: 508, height: 104, background: '#FFF4E6', borderRadius: 8, padding: '0px 18px', flexDirection: 'row', alignItems: 'center', gap: 14 }}&gt;&#10;                &lt;Text style={{ fontSize: 20, fontWeight: 'bold', color: '#CB6B28' }}&gt;04&lt;/Text&gt;&#10;                &lt;Text style={{ fontSize: 15, color: '#20344B', lineHeight: 1.5 }}&gt;给出实际错误报告，{'\n'}要求只修正相关安排&lt;/Text&gt;&#10;            &lt;/Box&gt;&#10;            &lt;Box style={{ width: 620, height: 104, background: '#FFF4E6', borderRadius: 8, padding: '0px 18px', justifyContent: 'center' }}&gt;&#10;                &lt;Text style={{ fontSize: 14, color: '#CB6B28', lineHeight: 1.6 }}&gt;不用聊天里的「已修复」作结论，再次运行校验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0 Agent 循环、规划与记忆&lt;/Text&gt;&#10;        &lt;Text style={{ fontSize: 14, color: '#546779' }}&gt;2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2.10.5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中体验三种任务模式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四步练习：从提问到重新校验</a:t>
            </a:r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609600" y="1276350"/>
            <a:ext cx="48387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781050" y="1371600"/>
            <a:ext cx="4495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做什么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5638800" y="1276350"/>
            <a:ext cx="5905500" cy="381000"/>
          </a:xfrm>
          <a:prstGeom prst="roundRect">
            <a:avLst>
              <a:gd name="adj" fmla="val 2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5810250" y="1371600"/>
            <a:ext cx="5562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观察什么真实变化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609600" y="1790700"/>
            <a:ext cx="4838700" cy="99060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781050" y="217170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1152525" y="2028825"/>
            <a:ext cx="201930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在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Ask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中引用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data/brief.md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，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问还缺哪些材料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5638800" y="1790700"/>
            <a:ext cx="5905500" cy="990600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5810250" y="2162175"/>
            <a:ext cx="55626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检查它的回答是否遗漏了预约事实。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609600" y="2914650"/>
            <a:ext cx="4838700" cy="99060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781050" y="329565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1152525" y="3152775"/>
            <a:ext cx="2200275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切换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Plan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，要求给出输入、步骤、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产物与验收条件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5638800" y="2914650"/>
            <a:ext cx="5905500" cy="990600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5810250" y="3286125"/>
            <a:ext cx="55626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计划里是否写入了「校验通过后才能交付」。</a:t>
            </a:r>
            <a:endParaRPr/>
          </a:p>
        </p:txBody>
      </p:sp>
      <p:sp>
        <p:nvSpPr>
          <p:cNvPr id="442" name=""/>
          <p:cNvSpPr/>
          <p:nvPr/>
        </p:nvSpPr>
        <p:spPr>
          <a:xfrm rot="0" flipH="0" flipV="0">
            <a:off x="609600" y="4038600"/>
            <a:ext cx="4838700" cy="99060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781050" y="441960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1152525" y="4276725"/>
            <a:ext cx="171450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审阅后开始执行，生成候选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再运行校验器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5638800" y="4038600"/>
            <a:ext cx="5905500" cy="990600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5810250" y="4410075"/>
            <a:ext cx="55626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真实工具被调用了吗？文件真的变化了吗？</a:t>
            </a:r>
            <a:endParaRPr/>
          </a:p>
        </p:txBody>
      </p:sp>
      <p:sp>
        <p:nvSpPr>
          <p:cNvPr id="447" name=""/>
          <p:cNvSpPr/>
          <p:nvPr/>
        </p:nvSpPr>
        <p:spPr>
          <a:xfrm rot="0" flipH="0" flipV="0">
            <a:off x="609600" y="5162550"/>
            <a:ext cx="4838700" cy="99060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781050" y="554355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CB6B28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1152525" y="5400675"/>
            <a:ext cx="1285875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给出实际错误报告，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要求只修正相关安排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5638800" y="5162550"/>
            <a:ext cx="5905500" cy="99060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5810250" y="5534025"/>
            <a:ext cx="55626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不用聊天里的「已修复」作结论，再次运行校验。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00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2.10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循环、规划与记忆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24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54" name="" descr="&lt;Slide notes={`本节最后留两个反例，请大家自己想清楚再动手试。&#10;&#10;第一个：让助手连续三次查询同一个房间，却不修改排期。这是合理复核，还是无进展？&#10;&#10;答案取决于查询有没有可能获得新的事实。如果数据文件是固定的、查询参数相同、输出也相同，那就不应该无限继续。这时候继续查，只是在消耗预算。&#10;&#10;第二个：把 plan.md 改成「全部通过」，同时保留一份有预约冲突的 schedule.json。然后重新运行校验。&#10;&#10;你会看到，校验器不认文本。执行状态、文本总结和业务完成度，这三件事必须分别记录。&#10;&#10;这一条我建议每个人都亲手做一遍：改一句描述，看看结果会不会变。它最能说明为什么「说得对」不等于「做对了」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0.6　本节练习&lt;/Text&gt;&#10;            &lt;Text style={{ fontSize: 34, fontWeight: 'bold', color: '#20344B' }}&gt;两个反例：复核还是无进展&lt;/Text&gt;&#10;        &lt;/Box&gt;&#10;    &lt;/Box&gt;&#10;&#10;    &lt;Box style={{ height: 540, flexDirection: 'column', justifyContent: 'center', gap: 16 }}&gt;&#10;&#10;        &lt;Text style={{ fontSize: 16, color: '#546779' }}&gt;先自己判断，再动手验证。&lt;/Text&gt;&#10;&#10;        &lt;Box style={{ flexDirection: 'row', alignItems: 'center', height: 170, background: '#EDF4FC', borderRadius: 10, padding: '0px 22px', gap: 20 }}&gt;&#10;            &lt;Box style={{ width: 200, flexDirection: 'column', gap: 6 }}&gt;&#10;                &lt;Text style={{ fontSize: 20, fontWeight: 'bold', color: '#276FBF' }}&gt;反例一&lt;/Text&gt;&#10;                &lt;Text style={{ fontSize: 14, color: '#546779', lineHeight: 1.5 }}&gt;连续查询同一个房间{'\n'}却不修改排期&lt;/Text&gt;&#10;            &lt;/Box&gt;&#10;            &lt;Box style={{ width: 3, height: 118, background: '#276FBF' }} /&gt;&#10;            &lt;Box style={{ flex: 1, flexDirection: 'column', gap: 8 }}&gt;&#10;                &lt;Text style={{ fontSize: 17, fontWeight: 'bold', color: '#276FBF' }}&gt;取决于查询是否可能获得新事实&lt;/Text&gt;&#10;                &lt;Text style={{ fontSize: 14, color: '#546779', lineHeight: 1.65 }}&gt;数据文件固定、查询参数相同、输出也相同，就不应无限继续；这时候继续查只是在消耗预算。&lt;/Text&gt;&#10;            &lt;/Box&gt;&#10;        &lt;/Box&gt;&#10;&#10;        &lt;Box style={{ flexDirection: 'row', alignItems: 'center', height: 170, background: '#FFF4E6', borderRadius: 10, padding: '0px 22px', gap: 20 }}&gt;&#10;            &lt;Box style={{ width: 200, flexDirection: 'column', gap: 6 }}&gt;&#10;                &lt;Text style={{ fontSize: 20, fontWeight: 'bold', color: '#CB6B28' }}&gt;反例二&lt;/Text&gt;&#10;                &lt;Text style={{ fontSize: 14, color: '#546779', lineHeight: 1.5 }}&gt;plan.md 改成{'\n'}「全部通过」&lt;/Text&gt;&#10;            &lt;/Box&gt;&#10;            &lt;Box style={{ width: 3, height: 118, background: '#CB6B28' }} /&gt;&#10;            &lt;Box style={{ flex: 1, flexDirection: 'column', gap: 8 }}&gt;&#10;                &lt;Text style={{ fontSize: 17, fontWeight: 'bold', color: '#CB6B28' }}&gt;文本改了，冲突还在&lt;/Text&gt;&#10;                &lt;Text style={{ fontSize: 14, color: '#546779', lineHeight: 1.65 }}&gt;保留有预约冲突的 schedule.json 重新运行校验：执行状态、文本总结与业务完成度要分别记录。&lt;/Text&gt;&#10;            &lt;/Box&gt;&#10;        &lt;/Box&gt;&#10;&#10;        &lt;Box style={{ flexDirection: 'row', alignItems: 'center', gap: 16, background: '#F7F3E8', borderRadius: 10, padding: '16px 22px' }}&gt;&#10;            &lt;Box style={{ width: 4, height: 44, background: '#276FBF' }} /&gt;&#10;            &lt;Box style={{ flex: 1, flexDirection: 'column', gap: 3 }}&gt;&#10;                &lt;Text style={{ fontSize: 16, fontWeight: 'bold', color: '#20344B' }}&gt;让文件与结果说话，不是让总结说话&lt;/Text&gt;&#10;                &lt;Text style={{ fontSize: 14, color: '#546779' }}&gt;「说得对」不等于「做对了」，两者要分开记录、分开核对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0 Agent 循环、规划与记忆&lt;/Text&gt;&#10;        &lt;Text style={{ fontSize: 14, color: '#546779' }}&gt;2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2.10.6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本节练习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两个反例：复核还是无进展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609600" y="14097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先自己判断，再动手验证。</a:t>
            </a:r>
            <a:endParaRPr/>
          </a:p>
        </p:txBody>
      </p:sp>
      <p:sp>
        <p:nvSpPr>
          <p:cNvPr id="460" name=""/>
          <p:cNvSpPr/>
          <p:nvPr/>
        </p:nvSpPr>
        <p:spPr>
          <a:xfrm rot="0" flipH="0" flipV="0">
            <a:off x="609600" y="1752600"/>
            <a:ext cx="10972800" cy="1619250"/>
          </a:xfrm>
          <a:prstGeom prst="roundRect">
            <a:avLst>
              <a:gd name="adj" fmla="val 58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819150" y="2181225"/>
            <a:ext cx="190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反例一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819150" y="2466975"/>
            <a:ext cx="1905000" cy="4857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连续查询同一个房间</a:t>
            </a:r>
            <a:endParaRPr/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却不修改排期</a:t>
            </a:r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2914650" y="2000250"/>
            <a:ext cx="28575" cy="11239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3133725" y="2295525"/>
            <a:ext cx="8239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取决于查询是否可能获得新事实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3133725" y="2571750"/>
            <a:ext cx="8239125" cy="266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数据文件固定、查询参数相同、输出也相同，就不应无限继续；这时候继续查只是在消耗预算。</a:t>
            </a:r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609600" y="3524250"/>
            <a:ext cx="10972800" cy="1619250"/>
          </a:xfrm>
          <a:prstGeom prst="roundRect">
            <a:avLst>
              <a:gd name="adj" fmla="val 588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819150" y="3952875"/>
            <a:ext cx="190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反例二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819150" y="4238625"/>
            <a:ext cx="1905000" cy="4857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plan.md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改成</a:t>
            </a:r>
            <a:endParaRPr/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「全部通过」</a:t>
            </a:r>
            <a:endParaRPr/>
          </a:p>
        </p:txBody>
      </p:sp>
      <p:sp>
        <p:nvSpPr>
          <p:cNvPr id="469" name=""/>
          <p:cNvSpPr/>
          <p:nvPr/>
        </p:nvSpPr>
        <p:spPr>
          <a:xfrm rot="0" flipH="0" flipV="0">
            <a:off x="2914650" y="3771900"/>
            <a:ext cx="28575" cy="11239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3133725" y="4067175"/>
            <a:ext cx="8239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文本改了，冲突还在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3133725" y="4343400"/>
            <a:ext cx="8239125" cy="266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保留有预约冲突的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schedule.json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重新运行校验：执行状态、文本总结与业务完成度要分别记录。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609600" y="529590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473" name=""/>
          <p:cNvSpPr/>
          <p:nvPr/>
        </p:nvSpPr>
        <p:spPr>
          <a:xfrm rot="0" flipH="0" flipV="0">
            <a:off x="819150" y="54483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1009650" y="5467350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让文件与结果说话，不是让总结说话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1009650" y="5686425"/>
            <a:ext cx="1036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「说得对」不等于「做对了」，两者要分开记录、分开核对。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00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2.10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循环、规划与记忆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24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478" name="" descr="&lt;Slide notes={`这一节讲完了，我把要带走的东西收成三句话。&#10;&#10;第一句，谁决定下一步。观察和决定可以由模型参与，但执行和核验必须由程序把关。模型提出的工具请求，不等于工具已经执行。&#10;&#10;第二句，什么时候停。模型结束、候选通过业务校验、交付文件齐全，这三件事要同时核对。只凭一次工具结果或者一段总结，都不能算任务完成。&#10;&#10;第三句，哪些事实要重新确认。会话上下文、应用任务状态、长期记忆，是三种不同的「记住」；记忆可以跨任务，但事实必须带日期和来源。&#10;&#10;这三句话不只适用于这一节，后面做更复杂的系统时同样用得上。`} style={{ width: 1280, height: 720, background: '#FFFFFF', flexDirection: 'column', padding: '20px 64px' }}&gt;&#10;&#10;    &lt;Box style={{ height: 540, flexDirection: 'column', justifyContent: 'center', gap: 20 }}&gt;&#10;&#10;        &lt;Box style={{ flexDirection: 'column', alignItems: 'center', gap: 12 }}&gt;&#10;            &lt;Text style={{ fontSize: 15, color: '#546779' }}&gt;2.10　小结&lt;/Text&gt;&#10;            &lt;Text style={{ fontSize: 44, fontWeight: 'bold', color: '#20344B', lineHeight: 1.25, textAlign: 'center' }}&gt;带走三句话&lt;/Text&gt;&#10;            &lt;Box style={{ width: 72, height: 4, background: '#276FBF' }} /&gt;&#10;        &lt;/Box&gt;&#10;&#10;        &lt;Box style={{ flexDirection: 'row', justifyContent: 'center', gap: 24 }}&gt;&#10;            &lt;Box style={{ width: 340, height: 170, background: '#EDF4FC', borderRadius: 10, padding: '18px 20px', flexDirection: 'column', gap: 6 }}&gt;&#10;                &lt;Text style={{ fontSize: 20, fontWeight: 'bold', color: '#276FBF' }}&gt;谁决定下一步&lt;/Text&gt;&#10;                &lt;Text style={{ fontSize: 14, color: '#546779', lineHeight: 1.6 }}&gt;观察与决定可以由模型参与，执行与核验必须由程序把关。&lt;/Text&gt;&#10;            &lt;/Box&gt;&#10;            &lt;Box style={{ width: 340, height: 170, background: '#EDF4FC', borderRadius: 10, padding: '18px 20px', flexDirection: 'column', gap: 6 }}&gt;&#10;                &lt;Text style={{ fontSize: 20, fontWeight: 'bold', color: '#276FBF' }}&gt;什么时候停&lt;/Text&gt;&#10;                &lt;Text style={{ fontSize: 14, color: '#546779', lineHeight: 1.6 }}&gt;模型结束、候选通过、文件齐全，这三件事要同时核对。&lt;/Text&gt;&#10;            &lt;/Box&gt;&#10;            &lt;Box style={{ width: 340, height: 170, background: '#FFF4E6', borderRadius: 10, padding: '18px 20px', flexDirection: 'column', gap: 6 }}&gt;&#10;                &lt;Text style={{ fontSize: 20, fontWeight: 'bold', color: '#CB6B28' }}&gt;哪些事实要重新确认&lt;/Text&gt;&#10;                &lt;Text style={{ fontSize: 14, color: '#546779', lineHeight: 1.6 }}&gt;记忆可以跨任务；事实必须带日期与来源，用前先核对。&lt;/Text&gt;&#10;            &lt;/Box&gt;&#10;        &lt;/Box&gt;&#10;&#10;        &lt;Box style={{ flexDirection: 'row', alignItems: 'center', gap: 16, background: '#ECF7F2', borderRadius: 10, padding: '16px 22px' }}&gt;&#10;            &lt;Box style={{ width: 4, height: 40, background: '#26816B' }} /&gt;&#10;            &lt;Text style={{ fontSize: 16, fontWeight: 'bold', color: '#26816B', flex: 1 }}&gt;说得对不等于做对了：执行状态、文本总结与业务完成度要分别记录。&lt;/Text&gt;&#10;        &lt;/Box&gt;&#10;&#10;        &lt;Box style={{ flexDirection: 'row', alignItems: 'center', gap: 12 }}&gt;&#10;            &lt;Box style={{ width: 3, height: 26, background: '#276FBF' }} /&gt;&#10;            &lt;Text style={{ fontSize: 16, color: '#546779' }}&gt;下一节　2.11　多模态与计算机交互&lt;/Text&gt;&#10;        &lt;/Box&gt;&#10;&#10;    &lt;/Box&gt;&#10;&#10;    &lt;Box style={{ height: 40, flexDirection: 'row', justifyContent: 'space-between', alignItems: 'center' }}&gt;&#10;        &lt;Text style={{ fontSize: 14, color: '#546779' }}&gt;2.10 Agent 循环、规划与记忆&lt;/Text&gt;&#10;        &lt;Text style={{ fontSize: 14, color: '#546779' }}&gt;2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5734050" y="666750"/>
            <a:ext cx="72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2.10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小结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5048250" y="952500"/>
            <a:ext cx="2095500" cy="628650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3300" b="1">
                <a:solidFill>
                  <a:srgbClr val="20344B"/>
                </a:solidFill>
                <a:latin typeface="Microsoft YaHei"/>
                <a:ea typeface="Microsoft YaHei"/>
              </a:rPr>
              <a:t>带走三句话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5753100" y="16954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3" name=""/>
          <p:cNvSpPr/>
          <p:nvPr/>
        </p:nvSpPr>
        <p:spPr>
          <a:xfrm rot="0" flipH="0" flipV="0">
            <a:off x="1009650" y="1924050"/>
            <a:ext cx="3238500" cy="1619250"/>
          </a:xfrm>
          <a:prstGeom prst="roundRect">
            <a:avLst>
              <a:gd name="adj" fmla="val 58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1200150" y="2095500"/>
            <a:ext cx="285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谁决定下一步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1200150" y="2381250"/>
            <a:ext cx="2857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观察与决定可以由模型参与，执行与核验必须由程序把关。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4476750" y="1924050"/>
            <a:ext cx="3238500" cy="1619250"/>
          </a:xfrm>
          <a:prstGeom prst="roundRect">
            <a:avLst>
              <a:gd name="adj" fmla="val 58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4667250" y="2095500"/>
            <a:ext cx="285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什么时候停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4667250" y="2381250"/>
            <a:ext cx="2857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模型结束、候选通过、文件齐全，这三件事要同时核对。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7943850" y="1924050"/>
            <a:ext cx="3238500" cy="1619250"/>
          </a:xfrm>
          <a:prstGeom prst="roundRect">
            <a:avLst>
              <a:gd name="adj" fmla="val 588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8134350" y="2095500"/>
            <a:ext cx="285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哪些事实要重新确认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8134350" y="2381250"/>
            <a:ext cx="2857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记忆可以跨任务；事实必须带日期与来源，用前先核对。</a:t>
            </a:r>
            <a:endParaRPr/>
          </a:p>
        </p:txBody>
      </p:sp>
      <p:sp>
        <p:nvSpPr>
          <p:cNvPr id="492" name=""/>
          <p:cNvSpPr/>
          <p:nvPr/>
        </p:nvSpPr>
        <p:spPr>
          <a:xfrm rot="0" flipH="0" flipV="0">
            <a:off x="609600" y="373380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93" name=""/>
          <p:cNvSpPr/>
          <p:nvPr/>
        </p:nvSpPr>
        <p:spPr>
          <a:xfrm rot="0" flipH="0" flipV="0">
            <a:off x="819150" y="3886200"/>
            <a:ext cx="38100" cy="3810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1009650" y="3981450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说得对不等于做对了：执行状态、文本总结与业务完成度要分别记录。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609600" y="4610100"/>
            <a:ext cx="28575" cy="2476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752475" y="4638675"/>
            <a:ext cx="2438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下一节　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2.11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　多模态与计算机交互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1800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2.10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循环、规划与记忆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24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2026-09-29T04:00:02Z</dcterms:created>
  <dcterms:modified xsi:type="dcterms:W3CDTF">2026-09-29T04:00:02Z</dcterms:modified>
</cp:coreProperties>
</file>