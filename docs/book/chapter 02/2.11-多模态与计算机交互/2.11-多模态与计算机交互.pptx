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8" Type="http://schemas.openxmlformats.org/officeDocument/2006/relationships/slide" Target="slides/slide8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5" Type="http://schemas.openxmlformats.org/officeDocument/2006/relationships/slide" Target="slides/slide15.xml" /><Relationship Id="rId24" Type="http://schemas.openxmlformats.org/officeDocument/2006/relationships/slide" Target="slides/slide24.xml" /><Relationship Id="rId22" Type="http://schemas.openxmlformats.org/officeDocument/2006/relationships/slide" Target="slides/slide22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30" Type="http://schemas.openxmlformats.org/officeDocument/2006/relationships/viewProps" Target="viewProps.xml" /><Relationship Id="rId21" Type="http://schemas.openxmlformats.org/officeDocument/2006/relationships/slide" Target="slides/slide21.xml" /><Relationship Id="rId23" Type="http://schemas.openxmlformats.org/officeDocument/2006/relationships/slide" Target="slides/slide23.xml" /><Relationship Id="rId7" Type="http://schemas.openxmlformats.org/officeDocument/2006/relationships/slide" Target="slides/slide7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7" Type="http://schemas.openxmlformats.org/officeDocument/2006/relationships/notesMaster" Target="notesMasters/notesMaster1.xml" /><Relationship Id="rId5" Type="http://schemas.openxmlformats.org/officeDocument/2006/relationships/slide" Target="slides/slide5.xml" /><Relationship Id="rId28" Type="http://schemas.openxmlformats.org/officeDocument/2006/relationships/presProps" Target="presProps.xml" /><Relationship Id="rId29" Type="http://schemas.openxmlformats.org/officeDocument/2006/relationships/tableStyles" Target="tableStyle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图片、录音和网页会同时出现在一个任务里，但它们带来的麻烦并不一样。图片和录音负责让我们看懂输入，网页这类只有入口的任务，还得靠工具去替我们执行动作。</a:t>
            </a:r>
          </a:p>
          <a:p>
            <a:r>
              <a:rPr lang="zh-CN" dirty="0"/>
              <a:t>先把一句话立住：看懂，和做到，是两件事，验收的对象也完全不同。</a:t>
            </a:r>
          </a:p>
          <a:p>
            <a:r>
              <a:rPr lang="zh-CN" dirty="0"/>
              <a:t>青禾社区学习中心的开放日筹备正好走这三条线。教学平面示意图帮我们辨认房间名称和相对位置，负责人的录音把口头需求变成可以核对的文字，教学网页让我们练习展开详情、读取信息。每走一步都要说清楚，这件事证明了什么，还有什么没有被证明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这一节有六个知识块，它们都在回答同一个问题：看见的和做到的，凭什么算数。</a:t>
            </a:r>
          </a:p>
          <a:p>
            <a:r>
              <a:rPr lang="zh-CN" dirty="0"/>
              <a:t>第一个知识块先给读图划边界。教学平面示意图只能帮我们认房间、看相对位置，容量和预约这两类业务数据它一概没有，相邻的两个房间也不代表中间有门。</a:t>
            </a:r>
          </a:p>
          <a:p>
            <a:r>
              <a:rPr lang="zh-CN" dirty="0"/>
              <a:t>第二个知识块讲图片怎么送进模型，三种提供方式和请求结构都要分清。接着是语音，先转写，再核对数字、时间、否定词和人名，不能因为来自录音就跳过校验。</a:t>
            </a:r>
          </a:p>
          <a:p>
            <a:r>
              <a:rPr lang="zh-CN" dirty="0"/>
              <a:t>最后三个知识块是动手的部分，用计算机工具做动作闭环，在 WorkBuddy 里分别练读图和网页操作，再通过三道练习把证据意识练出来。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我们从一张最普通的图开始：青禾社区学习中心的教学平面示意图，上面标着三个房间和一条公共走廊。</a:t>
            </a:r>
          </a:p>
          <a:p>
            <a:r>
              <a:rPr lang="zh-CN" dirty="0"/>
              <a:t>这张图的身份要先说清楚。它是教材绘制的概念图，不是测量图，不是施工图，也不是本系统可以导航的地图。它表达的是房间在哪里、彼此什么关系。</a:t>
            </a:r>
          </a:p>
          <a:p>
            <a:r>
              <a:rPr lang="zh-CN" dirty="0"/>
              <a:t>正因为它是概念图，它能承担的任务就非常有限。它能帮我们认出"手作室"这三个字写在哪个方框里，能帮我们看出哪个房间挨着走廊。除此之外，它给不出任何业务结论。</a:t>
            </a:r>
          </a:p>
          <a:p>
            <a:r>
              <a:rPr lang="zh-CN" dirty="0"/>
              <a:t>所以读图之前先问一句：我打算让这张图回答什么？如果答案是容量或者预约状态，那它根本不在图里。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把这张平面示意的三个房间摆开看。手作室、阅读室、交流室，各自只有名称标注，底下横着一条公共走廊。</a:t>
            </a:r>
          </a:p>
          <a:p>
            <a:r>
              <a:rPr lang="zh-CN" dirty="0"/>
              <a:t>我特别强调一件事：图里没有容量数字，也没有预约状态。看到空白就以为容量不限、以为随时可约，这是最常见的误读。</a:t>
            </a:r>
          </a:p>
          <a:p>
            <a:r>
              <a:rPr lang="zh-CN" dirty="0"/>
              <a:t>还有一条更容易被忽略。两个方框挨在一起，只说明它们在版面上一左一右，不说明中间有门，更不说明可以走通。要判断通行，得看真实的建筑资料，而这幅图不是建筑资料。</a:t>
            </a:r>
          </a:p>
          <a:p>
            <a:r>
              <a:rPr lang="zh-CN" dirty="0"/>
              <a:t>那么容量从哪里来？查 rooms.csv。预约从哪里来？查 availability.json。图负责认路，表格负责报数，两个来源各管一段，谁也不能替代谁。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同样是处理图片，其实是三类不同的工作，验收对象也各不相同。</a:t>
            </a:r>
          </a:p>
          <a:p>
            <a:r>
              <a:rPr lang="zh-CN" dirty="0"/>
              <a:t>第一类是 OCR，目标是读出图中的字符。它的产物就是文字，典型错误是把房间名称认错，比如把"手作室"读成"手工作"。</a:t>
            </a:r>
          </a:p>
          <a:p>
            <a:r>
              <a:rPr lang="zh-CN" dirty="0"/>
              <a:t>第二类是视觉理解，目标是弄懂布局、对象和它们之间的关系。它不产出文字清单，而是产出一段描述。它的典型错误是想多了——从版面相邻推断出门口在哪，或者推断出一条实际并不存在的路线。</a:t>
            </a:r>
          </a:p>
          <a:p>
            <a:r>
              <a:rPr lang="zh-CN" dirty="0"/>
              <a:t>第三类是图像生成，目标是创作一张新的图。它的典型错误反过来，是凭空增加原本没有的设施。</a:t>
            </a:r>
          </a:p>
          <a:p>
            <a:r>
              <a:rPr lang="zh-CN" dirty="0"/>
              <a:t>三类工作的产物完全不同，所以验收时不能都用一句"看得准"来概括。要看的是：它答的这道题，是不是我问的那道题。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读图这件事，最容易出错的地方不在识别，而在越界。</a:t>
            </a:r>
          </a:p>
          <a:p>
            <a:r>
              <a:rPr lang="zh-CN" dirty="0"/>
              <a:t>第一条结论：这张图能支持的，是房间名称和相对位置。它支持的结论就到这里为止。</a:t>
            </a:r>
          </a:p>
          <a:p>
            <a:r>
              <a:rPr lang="zh-CN" dirty="0"/>
              <a:t>第二条结论：容量和预约这两类业务事实，必须去别的地方取。容量查 rooms.csv，预约查 availability.json。图里没有这两样东西，看一眼图是推不出来的。</a:t>
            </a:r>
          </a:p>
          <a:p>
            <a:r>
              <a:rPr lang="zh-CN" dirty="0"/>
              <a:t>第三条结论：版面相邻不等于可以通行。两个方框贴在一起，只说明在图上画得挨着，不说明中间真有门。</a:t>
            </a:r>
          </a:p>
          <a:p>
            <a:r>
              <a:rPr lang="zh-CN" dirty="0"/>
              <a:t>所以正确的用法是：先让模型描述它看到什么，再拿数据文件去回答业务问题。把这两步混在一起，就会得到一段听起来很顺、但没有任何依据的场馆介绍。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读图的边界划清之后，接下来的问题是：这张图怎么送进模型。</a:t>
            </a:r>
          </a:p>
          <a:p>
            <a:r>
              <a:rPr lang="zh-CN" dirty="0"/>
              <a:t>Responses 接口可以在支持视觉输入的模型上同时接收文本和图片两种内容。文本那一项承载我们的要求，图片那一项承载要看的画面，两者放在同一条消息里。</a:t>
            </a:r>
          </a:p>
          <a:p>
            <a:r>
              <a:rPr lang="zh-CN" dirty="0"/>
              <a:t>提供图片有三种方式：一个模型服务可以访问的 URL，一段 Base64 数据 URL，或者文档支持的文件方式。三种方式适用的场合不一样，选哪一种取决于图片放在哪里、能不能被外部访问。</a:t>
            </a:r>
          </a:p>
          <a:p>
            <a:r>
              <a:rPr lang="zh-CN" dirty="0"/>
              <a:t>要特别注意一点：不能直接把本机的文件路径填进去，指望远端服务去读你电脑上的磁盘。路径必须由我们的脚本读成内容，再编码后发送出去。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三种提供方式，选哪一种取决于图片放在哪里。</a:t>
            </a:r>
          </a:p>
          <a:p>
            <a:r>
              <a:rPr lang="zh-CN" dirty="0"/>
              <a:t>图片已经在公网可读，可以直接给一个 URL，服务端自己去取，最简单。图片在本机、又不方便上传，就把它读成字节再编码成 Base64 数据 URL，跟请求一起发出去。还有一种情况是文档支持按文件方式提供，这要按当时的文档核对。</a:t>
            </a:r>
          </a:p>
          <a:p>
            <a:r>
              <a:rPr lang="zh-CN" dirty="0"/>
              <a:t>配套脚本走的是第二条路：读取本地 PNG，编码后随请求发送。命令就一行。</a:t>
            </a:r>
          </a:p>
          <a:p>
            <a:r>
              <a:rPr lang="zh-CN" dirty="0"/>
              <a:t>运行之前有一件事必须先确认：这份资料适不适合发送到你所选的服务。教学示意图当然可以，但换成客户资料或别人的隐私文件，先停下来想清楚再发。</a:t>
            </a:r>
          </a:p>
          <a:p>
            <a:r>
              <a:rPr lang="zh-CN" dirty="0"/>
              <a:t>还有一点：不能把 Windows 的本地文件路径直接填进请求，期待远端服务去读你的磁盘。它读不到，也不该读到。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一次读图请求其实只有四项要交代清楚。</a:t>
            </a:r>
          </a:p>
          <a:p>
            <a:r>
              <a:rPr lang="zh-CN" dirty="0"/>
              <a:t>model 决定这次用哪个模型，而它必须支持视觉输入，否则图片这一项不会被处理。</a:t>
            </a:r>
          </a:p>
          <a:p>
            <a:r>
              <a:rPr lang="zh-CN" dirty="0"/>
              <a:t>instructions 是本次的行为要求，这里写的是"描述可见信息，区分图片观察与未知事实"。这句话不是客套，它直接决定模型会不会把推测说成观察。</a:t>
            </a:r>
          </a:p>
          <a:p>
            <a:r>
              <a:rPr lang="zh-CN" dirty="0"/>
              <a:t>input 是一条 user 消息，里面装两个内容项：input_text 提出要问的问题，input_image 给出要看的那张图。图片那一项用的是脚本生成的数据 URL。</a:t>
            </a:r>
          </a:p>
          <a:p>
            <a:r>
              <a:rPr lang="zh-CN" dirty="0"/>
              <a:t>图像尺寸、细节设置和输入用量都会影响耗时和费用。宁可清晰、方向正确，也不要把关键文字压到认不出来。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模型回了一段很流畅的场馆介绍，这时候最容易放松。要挡住这种感觉，就把验收拆成三个问题分别问。</a:t>
            </a:r>
          </a:p>
          <a:p>
            <a:r>
              <a:rPr lang="zh-CN" dirty="0"/>
              <a:t>第一个问题：三个房间都识别对了吗？这是 OCR 层面的核对，逐个比对名称就行。</a:t>
            </a:r>
          </a:p>
          <a:p>
            <a:r>
              <a:rPr lang="zh-CN" dirty="0"/>
              <a:t>第二个问题：图中相对位置描述对了吗？比如哪些房间挨着走廊。这属于视觉理解，要对着图看它有没有说反。</a:t>
            </a:r>
          </a:p>
          <a:p>
            <a:r>
              <a:rPr lang="zh-CN" dirty="0"/>
              <a:t>第三个问题，也是最关键的一个：它有没有承认，真实的预约情况从图里看不出来？如果它对预约状态说得头头是道，那说明它在编。</a:t>
            </a:r>
          </a:p>
          <a:p>
            <a:r>
              <a:rPr lang="zh-CN" dirty="0"/>
              <a:t>三个问题各管一段，只要有一段没过，就不能说这次读图通过了。不要因为整段话读起来顺，就默认所有视觉问题都已经解决。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从读图转向语音，要处理的其实是同一类问题：这段输入能证明什么。</a:t>
            </a:r>
          </a:p>
          <a:p>
            <a:r>
              <a:rPr lang="zh-CN" dirty="0"/>
              <a:t>录音和图片不一样，它是时间的、连续的，机器要先把它变成文字才能进入后面的流程。这一步叫转写。转写完成不等于事情办完，它只是把声音换了一种形式。</a:t>
            </a:r>
          </a:p>
          <a:p>
            <a:r>
              <a:rPr lang="zh-CN" dirty="0"/>
              <a:t>负责人说"手作体验十个人，十点半开始"，转写出来是一句话。这句话里有几个数字和时点，恰恰是最容易出错的地方。</a:t>
            </a:r>
          </a:p>
          <a:p>
            <a:r>
              <a:rPr lang="zh-CN" dirty="0"/>
              <a:t>后面还有两条不同的路线：把已经确认的方案读出来，属于语音合成；要实时双向对话，还要处理会话、流式音频、打断和延迟。</a:t>
            </a:r>
          </a:p>
          <a:p>
            <a:r>
              <a:rPr lang="zh-CN" dirty="0"/>
              <a:t>音频任务不能用一个文本模型配置全部套上去。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把图片、录音和网页截图放在一起看，它们的取证边界其实差得很远。</a:t>
            </a:r>
          </a:p>
          <a:p>
            <a:r>
              <a:rPr lang="zh-CN" dirty="0"/>
              <a:t>先看图片。它能证明的是图上写了哪些名称，以及谁挨着走廊。业务事实它一个都证明不了，容量要去 rooms.csv 查，预约要去 availability.json 查。</a:t>
            </a:r>
          </a:p>
          <a:p>
            <a:r>
              <a:rPr lang="zh-CN" dirty="0"/>
              <a:t>再看录音。转写之后我们拿到的是文字，能证明这个人说了什么。但数字和时点特别容易错，"十点"和"十点半"只差一个字，业务结果完全不同，所以人数、时间、否定词和人名都要回听原音频确认。</a:t>
            </a:r>
          </a:p>
          <a:p>
            <a:r>
              <a:rPr lang="zh-CN" dirty="0"/>
              <a:t>最后是网页截图。它只能证明这一次页面上显示成什么样。哪怕页面明明白白写着空闲，也不能证明后台的预约已经提交——这两件事之间隔着一次真正的写入。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录音转成文字以后，还不能直接交给排期助手。要先把几类特别容易出错的项挑出来核对。</a:t>
            </a:r>
          </a:p>
          <a:p>
            <a:r>
              <a:rPr lang="zh-CN" dirty="0"/>
              <a:t>第一类是人名。负责人是谁，直接影响这条需求由谁确认，听错了后续就找不到人。</a:t>
            </a:r>
          </a:p>
          <a:p>
            <a:r>
              <a:rPr lang="zh-CN" dirty="0"/>
              <a:t>第二类是时间。负责人说"十点半开始"，如果转写成"十点开始"，机器照做，排出来的场次就全错了。这两个说法只差几个字，业务结果完全不同。</a:t>
            </a:r>
          </a:p>
          <a:p>
            <a:r>
              <a:rPr lang="zh-CN" dirty="0"/>
              <a:t>第三类是人数。十个人还是一个班的人，决定了哪个房间放得下。</a:t>
            </a:r>
          </a:p>
          <a:p>
            <a:r>
              <a:rPr lang="zh-CN" dirty="0"/>
              <a:t>第四类是否定词。中文里"不用加椅子""不安排在上午"，一个"不"字听漏了，意思就反过来了。</a:t>
            </a:r>
          </a:p>
          <a:p>
            <a:r>
              <a:rPr lang="zh-CN" dirty="0"/>
              <a:t>这四类都要回听原音频确认。确认之后的文本，才可以进入后面的结构化流程。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有些查询任务只有一个网页入口，没有接口可调。这种情况下，我们只能走"截图—动作请求—宿主执行—新截图"这条路。</a:t>
            </a:r>
          </a:p>
          <a:p>
            <a:r>
              <a:rPr lang="zh-CN" dirty="0"/>
              <a:t>这里有一条最容易搞混的分界线，我强调一下：模型给出坐标，只证明它提出了一个动作。页面有没有真的变，得看执行之后的新截图。</a:t>
            </a:r>
          </a:p>
          <a:p>
            <a:r>
              <a:rPr lang="zh-CN" dirty="0"/>
              <a:t>所以我们把角色分工说清楚。应用或者说宿主，负责取得真实屏幕观察，也负责真正执行点击和输入。模型服务负责根据任务和截图，返回动作请求，以及一个真实的 call_id。</a:t>
            </a:r>
          </a:p>
          <a:p>
            <a:r>
              <a:rPr lang="zh-CN" dirty="0"/>
              <a:t>应用在动手之前还要自己检查一遍：这个坐标落在页面范围内吗，这次动作在授权范围内吗。</a:t>
            </a:r>
          </a:p>
          <a:p>
            <a:r>
              <a:rPr lang="zh-CN" dirty="0"/>
              <a:t>动作执行完，把新截图作为结果回传，并且要匹配原来那个 call_id。这样才对得上号。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把这四个角色串起来看，就是一条闭环。</a:t>
            </a:r>
          </a:p>
          <a:p>
            <a:r>
              <a:rPr lang="zh-CN" dirty="0"/>
              <a:t>宿主先取得真实的屏幕观察，得到一张截图。它把当前任务和这张截图一起交给模型服务。模型服务返回的不是最终答案，而是一个动作请求，以及一个真实的 call_id。</a:t>
            </a:r>
          </a:p>
          <a:p>
            <a:r>
              <a:rPr lang="zh-CN" dirty="0"/>
              <a:t>接下来这一步经常被跳过：应用自己要先检查。这个动作在页面范围内吗，坐标合不合理，有没有超出这次任务允许的操作。</a:t>
            </a:r>
          </a:p>
          <a:p>
            <a:r>
              <a:rPr lang="zh-CN" dirty="0"/>
              <a:t>检查通过，才真正去执行点击或输入。执行之后，页面会变，宿主再取得一张新截图，用匹配原来 call_id 的 computer_call_output 回传回去，然后根据新截图核对状态，决定下一步。</a:t>
            </a:r>
          </a:p>
          <a:p>
            <a:r>
              <a:rPr lang="zh-CN" dirty="0"/>
              <a:t>还有一层边界要守住：页面上的文字属于外部数据，它说"忽略原任务"，不构成任何新授权。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这一步只展示回传已经取得的截图，动作本身不在这一段里。</a:t>
            </a:r>
          </a:p>
          <a:p>
            <a:r>
              <a:rPr lang="zh-CN" dirty="0"/>
              <a:t>先看两个标识。previous_response_id 指向上一轮响应，把这次回传接到同一条链上；call_id 必须匹配模型刚才返回的那个动作请求，不能自己编一个。</a:t>
            </a:r>
          </a:p>
          <a:p>
            <a:r>
              <a:rPr lang="zh-CN" dirty="0"/>
              <a:t>再看 output 里的内容：类型是 computer_screenshot，图片是一段数据 URL，detail 设为 original。</a:t>
            </a:r>
          </a:p>
          <a:p>
            <a:r>
              <a:rPr lang="zh-CN" dirty="0"/>
              <a:t>有一条纪律要守住：response_id、call_id 和截图都必须来自真实运行，自己拼一个看起来像样的值，什么也验证不了。</a:t>
            </a:r>
          </a:p>
          <a:p>
            <a:r>
              <a:rPr lang="zh-CN" dirty="0"/>
              <a:t>这套东西不是完整的桌面控制程序，独立环境、坐标映射、页面范围限制和中断处理都要单独做。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坐标这件事，必须说透。</a:t>
            </a:r>
          </a:p>
          <a:p>
            <a:r>
              <a:rPr lang="zh-CN" dirty="0"/>
              <a:t>模型看到一张截图，说"点击 412、286 这个位置"。这句话的全部含义是：它提出了一个动作。至于那个位置在真实页面上是什么，它并不知道，它只知道截图上的像素。</a:t>
            </a:r>
          </a:p>
          <a:p>
            <a:r>
              <a:rPr lang="zh-CN" dirty="0"/>
              <a:t>所以会出三种错法。</a:t>
            </a:r>
          </a:p>
          <a:p>
            <a:r>
              <a:rPr lang="zh-CN" dirty="0"/>
              <a:t>第一种是按钮移位。上一次截图里按钮在上方，这一次页面内容变了，按钮下移了，同一个坐标就落在空白处。</a:t>
            </a:r>
          </a:p>
          <a:p>
            <a:r>
              <a:rPr lang="zh-CN" dirty="0"/>
              <a:t>第二种是页面滚动。截图是滚动前的，坐标是滚动前算的，滚动一发生就全偏了。</a:t>
            </a:r>
          </a:p>
          <a:p>
            <a:r>
              <a:rPr lang="zh-CN" dirty="0"/>
              <a:t>第三种是内容遮挡。目标按钮被弹层盖住，点下去点的是弹层。</a:t>
            </a:r>
          </a:p>
          <a:p>
            <a:r>
              <a:rPr lang="zh-CN" dirty="0"/>
              <a:t>因此执行完必须回头看页面：目标对不对，状态是不是我们想要的那一个。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接下来把两条路线都放进 WorkBuddy 里练一遍，但它们要分开练、分开记。</a:t>
            </a:r>
          </a:p>
          <a:p>
            <a:r>
              <a:rPr lang="zh-CN" dirty="0"/>
              <a:t>先说清楚为什么不能合并。读图练的是"看见什么"，浏览器操作练的是"做到什么"。这两件事的判断标准完全不同：前者看它说的和图上对不对得上，后者看页面有没有真的变。</a:t>
            </a:r>
          </a:p>
          <a:p>
            <a:r>
              <a:rPr lang="zh-CN" dirty="0"/>
              <a:t>所以练习的时候，附件、模型能力和具体工具要分别确认。上传成功是一件事，图片内容被正确理解是另一件事，中间还隔着模型是否支持图片输入这一环。</a:t>
            </a:r>
          </a:p>
          <a:p>
            <a:r>
              <a:rPr lang="zh-CN" dirty="0"/>
              <a:t>浏览器那一边也一样。能在右侧显示一个网页预览，和能够打开、滚动、点击、截图，是两种不同的能力，不能互相顶替。</a:t>
            </a:r>
          </a:p>
          <a:p>
            <a:r>
              <a:rPr lang="zh-CN" dirty="0"/>
              <a:t>两条线各自留证据，最后再对比。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第一条练习线是读图。做法很简单：把教学平面示意图拖进输入框，或者直接粘贴一张截图，然后选一个明确支持图片输入的模型。</a:t>
            </a:r>
          </a:p>
          <a:p>
            <a:r>
              <a:rPr lang="zh-CN" dirty="0"/>
              <a:t>我问的第一个问题是："哪些信息直接可见，哪些需要查表或查询工具？"这个问题故意留了后半段，就是要看它会不会主动承认图里没有的东西。</a:t>
            </a:r>
          </a:p>
          <a:p>
            <a:r>
              <a:rPr lang="zh-CN" dirty="0"/>
              <a:t>接着我再加上房间表，要求它把两类依据分开写：哪一句来自图片，哪一句来自表格。</a:t>
            </a:r>
          </a:p>
          <a:p>
            <a:r>
              <a:rPr lang="zh-CN" dirty="0"/>
              <a:t>这里有一个很容易被忽略的坑：上传成功不等于图片内容已经被正确理解。附件上传是界面上的事，模型是不是真的看到了图、看对了，要另外验。</a:t>
            </a:r>
          </a:p>
          <a:p>
            <a:r>
              <a:rPr lang="zh-CN" dirty="0"/>
              <a:t>所以最后拿到回答，还要回头核对：它标的图片依据，图上真有吗？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第二条练习线是网页操作。要动浏览器，就要先装一个能操作浏览器的 Skill。</a:t>
            </a:r>
          </a:p>
          <a:p>
            <a:r>
              <a:rPr lang="zh-CN" dirty="0"/>
              <a:t>在技能里找官方介绍过的 agent-browser。找的过程本身就是一次练习：先核对来源，是不是官方的；再读说明，看它到底能做什么；然后看依赖，装之前要知道它会带来什么。三件事确认完，再启用。</a:t>
            </a:r>
          </a:p>
          <a:p>
            <a:r>
              <a:rPr lang="zh-CN" dirty="0"/>
              <a:t>这里要划一条清楚的界线。右侧能显示一个网页预览，那是给人看的；agent-browser 做的是打开、滚动、点击、截图，那是让程序去操作页面。这两件事不是一回事，谁也不能顶替谁。</a:t>
            </a:r>
          </a:p>
          <a:p>
            <a:r>
              <a:rPr lang="zh-CN" dirty="0"/>
              <a:t>如果环境里没有可用的浏览器 Skill，也可以人工把同样的动作做一遍，但记录时必须写清楚这是人工操作，不能声称模型控制了浏览器。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教学页面要在本地 HTTP 服务下才能正常打开。在 examples 目录里跑一条命令：用 Python 的 http.server，绑定 127.0.0.1，端口 8765，把 data 目录作为站点根目录。</a:t>
            </a:r>
          </a:p>
          <a:p>
            <a:r>
              <a:rPr lang="zh-CN" dirty="0"/>
              <a:t>绑定 127.0.0.1 是故意的，它只对本机开放，不对外网暴露。服务只在命令运行期间存在，终端一关就没了。</a:t>
            </a:r>
          </a:p>
          <a:p>
            <a:r>
              <a:rPr lang="zh-CN" dirty="0"/>
              <a:t>然后访问 127.0.0.1:8765 下面的 review-page.html。预约信息折叠在房间详情里，要让它先展开手作室详情，再读预约区间并截图，最后跟 availability.json 对一遍。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三个知识块讲完了，现在轮到我们自己动手设陷。</a:t>
            </a:r>
          </a:p>
          <a:p>
            <a:r>
              <a:rPr lang="zh-CN" dirty="0"/>
              <a:t>第一道练习是制造冲突。在示意图的练习副本上加一个容量数字，故意让它跟表格对不上，同时把原图留着做对照。我想看的是：助手会不会指出冲突，会不会把两个来源都列出来，会不会按题目指定的表格来源处理。</a:t>
            </a:r>
          </a:p>
          <a:p>
            <a:r>
              <a:rPr lang="zh-CN" dirty="0"/>
              <a:t>第二道练习是制造缺失。把图里一个房间的名称遮住。好的回答应该把"能认出来的标注"和"不确定的区域"分开说，而不是从熟悉的场馆布局里，把缺的那块补出来。</a:t>
            </a:r>
          </a:p>
          <a:p>
            <a:r>
              <a:rPr lang="zh-CN" dirty="0"/>
              <a:t>第三道练习是追问。为什么一张成功的网页截图，能证明页面已经显示，却不能证明后台预约已经提交？</a:t>
            </a:r>
          </a:p>
          <a:p>
            <a:r>
              <a:rPr lang="zh-CN" dirty="0"/>
              <a:t>三道题都指向同一件事：把证据的边界说清楚。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第一道练习，我们主动往图里放一个错。</a:t>
            </a:r>
          </a:p>
          <a:p>
            <a:r>
              <a:rPr lang="zh-CN" dirty="0"/>
              <a:t>做法是这样的：复制一份示意图作为练习副本，在上面加一个容量数字，故意让它和表格里写的对不上。原图留着不动，作为对照。</a:t>
            </a:r>
          </a:p>
          <a:p>
            <a:r>
              <a:rPr lang="zh-CN" dirty="0"/>
              <a:t>这时候助手会同时拿到两个互相矛盾的来源：一个是图上的数字，一个是表格里的数字。我要看的不是它选哪个，而是它有没有意识到这里有矛盾。</a:t>
            </a:r>
          </a:p>
          <a:p>
            <a:r>
              <a:rPr lang="zh-CN" dirty="0"/>
              <a:t>理想的回答分三步：先指出冲突确实存在；再把两个来源都列出来，说明一个来自示意图、一个来自表格；最后按题目指定的表格来源处理。</a:t>
            </a:r>
          </a:p>
          <a:p>
            <a:r>
              <a:rPr lang="zh-CN" dirty="0"/>
              <a:t>这里有一条底线：不要让它凭视觉去猜哪个更"真实"。看起来更合理的那个，未必是对的。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第二道练习，我们制造一处缺失。</a:t>
            </a:r>
          </a:p>
          <a:p>
            <a:r>
              <a:rPr lang="zh-CN" dirty="0"/>
              <a:t>把示意图里一个房间的名称遮住，然后问："图上有几个房间，分别是什么？"</a:t>
            </a:r>
          </a:p>
          <a:p>
            <a:r>
              <a:rPr lang="zh-CN" dirty="0"/>
              <a:t>这一题想看的是它会不会补齐。人看到一张场馆平面图，很容易凭经验想"这里大概是阅读室吧"，然后很自然地把缺的那块填上。模型也会这样。</a:t>
            </a:r>
          </a:p>
          <a:p>
            <a:r>
              <a:rPr lang="zh-CN" dirty="0"/>
              <a:t>好的回答应该分成两栏。一栏是能认出来的：另外两个房间的名称，以及它们和走廊的相对位置。另一栏是不确定的：被遮住的那块区域，从图里无法判断是什么房间。</a:t>
            </a:r>
          </a:p>
          <a:p>
            <a:r>
              <a:rPr lang="zh-CN" dirty="0"/>
              <a:t>两栏分开说，结论才站得住。如果它直接给出三个房间名称，那第三个就是它自己补的，不管看起来多合理，都不能算读出来的。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第三道练习是一个追问，也是这一节的落点。</a:t>
            </a:r>
          </a:p>
          <a:p>
            <a:r>
              <a:rPr lang="zh-CN" dirty="0"/>
              <a:t>问题是这样：为什么一张网页成功截图，可以证明页面已经显示，却不能证明后台预约已经提交？</a:t>
            </a:r>
          </a:p>
          <a:p>
            <a:r>
              <a:rPr lang="zh-CN" dirty="0"/>
              <a:t>把"能证明"和"不能证明"分开看就清楚了。</a:t>
            </a:r>
          </a:p>
          <a:p>
            <a:r>
              <a:rPr lang="zh-CN" dirty="0"/>
              <a:t>一张截图能证明的，是这一刻页面渲染出来的内容，是页面上各个元素的位置和状态，还有就是浏览器确实把这个页面加载出来了。它记录的是屏幕上的事实。</a:t>
            </a:r>
          </a:p>
          <a:p>
            <a:r>
              <a:rPr lang="zh-CN" dirty="0"/>
              <a:t>它不能证明的，是后台的预约已经提交成功。它也不能证明数据已经写进服务端，更不能证明别人看到的状态和这里一样。屏幕和后台之间隔着一整条链路：请求有没有发出去，服务端有没有收下，有没有真的写进去。</a:t>
            </a:r>
          </a:p>
          <a:p>
            <a:r>
              <a:rPr lang="zh-CN" dirty="0"/>
              <a:t>截图是"看见"的证据，不是"做到"的证据。这两类证据不能互换。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这一节讲完了，我把要带走的东西收成三步。</a:t>
            </a:r>
          </a:p>
          <a:p>
            <a:r>
              <a:rPr lang="zh-CN" dirty="0"/>
              <a:t>第一步，看懂输入。图片能证明房间标注和相对位置，容量和预约要去查数据文件；录音先转写，数字、时间、否定词和人名都要回听原音频；网页截图只说明这一次页面显示成什么样。</a:t>
            </a:r>
          </a:p>
          <a:p>
            <a:r>
              <a:rPr lang="zh-CN" dirty="0"/>
              <a:t>第二步，转写之后必须核对。确认过的文本才可以进入排期流程，不能因为它是从语音来的，就把人数、日期和预约的校验跳过去。</a:t>
            </a:r>
          </a:p>
          <a:p>
            <a:r>
              <a:rPr lang="zh-CN" dirty="0"/>
              <a:t>第三步，执行要留下痕迹。模型给出坐标只代表它提出了动作，页面变了并且核对过，才提供执行证据。</a:t>
            </a:r>
          </a:p>
          <a:p>
            <a:r>
              <a:rPr lang="zh-CN" dirty="0"/>
              <a:t>把顺序记住：看懂输入，核对关键事实，执行留痕，最后才谈结果。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6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图片、录音和网页会同时出现在一个任务里，但它们带来的麻烦并不一样。图片和录音负责让我们看懂输入，网页这类只有入口的任务，还得靠工具去替我们执行动作。&#10;&#10;先把一句话立住：看懂，和做到，是两件事，验收的对象也完全不同。&#10;&#10;青禾社区学习中心的开放日筹备正好走这三条线。教学平面示意图帮我们辨认房间名称和相对位置，负责人的录音把口头需求变成可以核对的文字，教学网页让我们练习展开详情、读取信息。每走一步都要说清楚，这件事证明了什么，还有什么没有被证明。`} style={{ width: 1280, height: 720, background: '#FFFFFF', flexDirection: 'column', padding: '20px 64px' }}&gt;&#10;&#10;    &lt;Box style={{ height: 100, flexDirection: 'row', alignItems: 'center', gap: 12 }}&gt;&#10;        &lt;Box style={{ width: 4, height: 20, background: '#276FBF' }} /&gt;&#10;        &lt;Text style={{ fontSize: 15, color: '#546779' }}&gt;第二章　从对话到智能体：技术、OpenAI API 与 WorkBuddy　·　2.11&lt;/Text&gt;&#10;    &lt;/Box&gt;&#10;&#10;    &lt;Box style={{ height: 540, flexDirection: 'row', alignItems: 'center', gap: 32 }}&gt;&#10;&#10;        &lt;Box style={{ width: 620, flexDirection: 'column', justifyContent: 'center', gap: 16 }}&gt;&#10;            &lt;Text style={{ fontSize: 52, fontWeight: 'bold', color: '#20344B', lineHeight: 1.2 }}&gt;多模态与计算机交互&lt;/Text&gt;&#10;            &lt;Box style={{ width: 72, height: 4, background: '#276FBF' }} /&gt;&#10;            &lt;Text style={{ fontSize: 18, color: '#546779', lineHeight: 1.7, width: 600 }}&gt;图片、录音和网页分别带来视觉、语音与界面任务。多模态帮助理解输入，计算机工具帮助宿主执行动作。&lt;/Text&gt;&#10;            &lt;Box style={{ flexDirection: 'row', gap: 16, marginTop: 6 }}&gt;&#10;                &lt;Box style={{ width: 190, height: 44, background: '#EDF4FC', borderRadius: 8, justifyContent: 'center', alignItems: 'center' }}&gt;&#10;                    &lt;Text style={{ fontSize: 15, color: '#276FBF' }}&gt;图里读出了什么&lt;/Text&gt;&#10;                &lt;/Box&gt;&#10;                &lt;Box style={{ width: 190, height: 44, background: '#EDF4FC', borderRadius: 8, justifyContent: 'center', alignItems: 'center' }}&gt;&#10;                    &lt;Text style={{ fontSize: 15, color: '#276FBF' }}&gt;录音核对了吗&lt;/Text&gt;&#10;                &lt;/Box&gt;&#10;                &lt;Box style={{ width: 190, height: 44, background: '#FFF4E6', borderRadius: 8, justifyContent: 'center', alignItems: 'center' }}&gt;&#10;                    &lt;Text style={{ fontSize: 15, color: '#CB6B28' }}&gt;动作真的执行了吗&lt;/Text&gt;&#10;                &lt;/Box&gt;&#10;            &lt;/Box&gt;&#10;        &lt;/Box&gt;&#10;&#10;        &lt;Box style={{ width: 500, flexDirection: 'column', justifyContent: 'center' }}&gt;&#10;&#10;            &lt;Box style={{ width: 500, background: '#F4F7FA', borderRadius: 12, padding: 14, flexDirection: 'column', gap: 12 }}&gt;&#10;&#10;                &lt;Box style={{ flexDirection: 'row', justifyContent: 'space-between', alignItems: 'center' }}&gt;&#10;                    &lt;Text style={{ fontSize: 14, color: '#546779' }}&gt;教学平面示意　非比例&lt;/Text&gt;&#10;                    &lt;Box style={{ width: 92, height: 24, background: '#EDF4FC', borderRadius: 6, justifyContent: 'center', alignItems: 'center' }}&gt;&#10;                        &lt;Text style={{ fontSize: 13, color: '#546779' }}&gt;示意&lt;/Text&gt;&#10;                    &lt;/Box&gt;&#10;                &lt;/Box&gt;&#10;&#10;                &lt;Box style={{ flexDirection: 'row', gap: 12 }}&gt;&#10;                    &lt;Box style={{ width: 149, height: 92, background: '#FFFFFF', borderRadius: 8, flexDirection: 'column', justifyContent: 'center', alignItems: 'center', gap: 4 }}&gt;&#10;                        &lt;Text style={{ fontSize: 16, fontWeight: 'bold', color: '#276FBF' }}&gt;手作室&lt;/Text&gt;&#10;                        &lt;Text style={{ fontSize: 12, color: '#546779' }}&gt;仅有名称标注&lt;/Text&gt;&#10;                    &lt;/Box&gt;&#10;                    &lt;Box style={{ width: 149, height: 92, background: '#FFFFFF', borderRadius: 8, flexDirection: 'column', justifyContent: 'center', alignItems: 'center', gap: 4 }}&gt;&#10;                        &lt;Text style={{ fontSize: 16, fontWeight: 'bold', color: '#276FBF' }}&gt;阅读室&lt;/Text&gt;&#10;                        &lt;Text style={{ fontSize: 12, color: '#546779' }}&gt;仅有名称标注&lt;/Text&gt;&#10;                    &lt;/Box&gt;&#10;                    &lt;Box style={{ width: 149, height: 92, background: '#FFFFFF', borderRadius: 8, flexDirection: 'column', justifyContent: 'center', alignItems: 'center', gap: 4 }}&gt;&#10;                        &lt;Text style={{ fontSize: 16, fontWeight: 'bold', color: '#276FBF' }}&gt;交流室&lt;/Text&gt;&#10;                        &lt;Text style={{ fontSize: 12, color: '#546779' }}&gt;仅有名称标注&lt;/Text&gt;&#10;                    &lt;/Box&gt;&#10;                &lt;/Box&gt;&#10;&#10;                &lt;Box style={{ height: 40, background: '#F7F3E8', borderRadius: 8, justifyContent: 'center', alignItems: 'center' }}&gt;&#10;                    &lt;Text style={{ fontSize: 14, color: '#546779' }}&gt;公共走廊&lt;/Text&gt;&#10;                &lt;/Box&gt;&#10;&#10;                &lt;Box style={{ height: 34, background: '#ECF7F2', borderRadius: 8, justifyContent: 'center', alignItems: 'center' }}&gt;&#10;                    &lt;Text style={{ fontSize: 13, color: '#26816B' }}&gt;图片依据：房间标注与相对位置&lt;/Text&gt;&#10;                &lt;/Box&gt;&#10;&#10;                &lt;Box style={{ height: 34, background: '#FFF4E6', borderRadius: 8, justifyContent: 'center', alignItems: 'center' }}&gt;&#10;                    &lt;Text style={{ fontSize: 13, color: '#CB6B28' }}&gt;图中没有容量数字，也没有预约状态&lt;/Text&gt;&#10;                &lt;/Box&gt;&#10;&#10;            &lt;/Box&gt;&#10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571500"/>
            <a:ext cx="38100" cy="190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457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第二章　从对话到智能体：技术、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OpenAI API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2.11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524125"/>
            <a:ext cx="59055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3909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581400"/>
            <a:ext cx="57150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图片、录音和网页分别带来视觉、语音与界面任务。多模态帮助理解输入，计算机工具帮助宿主执行动作。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495800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019175" y="461962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图里读出了什么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2571750" y="4495800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3048000" y="46196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录音核对了吗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4533900" y="4495800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4867275" y="461962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动作真的执行了吗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819900" y="2286000"/>
            <a:ext cx="4762500" cy="28575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953250" y="24574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教学平面示意　非比例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10572750" y="2419350"/>
            <a:ext cx="876300" cy="228600"/>
          </a:xfrm>
          <a:prstGeom prst="roundRect">
            <a:avLst>
              <a:gd name="adj" fmla="val 2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0887075" y="24574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953250" y="2762250"/>
            <a:ext cx="141922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439025" y="301942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手作室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324725" y="324802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仅有名称标注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8486775" y="2762250"/>
            <a:ext cx="141922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972550" y="301942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阅读室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8858250" y="324802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仅有名称标注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10020300" y="2762250"/>
            <a:ext cx="141922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0506075" y="301942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交流室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0391775" y="324802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仅有名称标注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953250" y="3752850"/>
            <a:ext cx="4495800" cy="381000"/>
          </a:xfrm>
          <a:prstGeom prst="roundRect">
            <a:avLst>
              <a:gd name="adj" fmla="val 200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934450" y="38671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公共走廊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953250" y="4248150"/>
            <a:ext cx="4495800" cy="323850"/>
          </a:xfrm>
          <a:prstGeom prst="roundRect">
            <a:avLst>
              <a:gd name="adj" fmla="val 235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334375" y="4333875"/>
            <a:ext cx="1733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图片依据：房间标注与相对位置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953250" y="4686300"/>
            <a:ext cx="4495800" cy="323850"/>
          </a:xfrm>
          <a:prstGeom prst="roundRect">
            <a:avLst>
              <a:gd name="adj" fmla="val 235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210550" y="4772025"/>
            <a:ext cx="1981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图中没有容量数字，也没有预约状态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32" name="" descr="&lt;Slide notes={`这一节有六个知识块，它们都在回答同一个问题：看见的和做到的，凭什么算数。&#10;&#10;第一个知识块先给读图划边界。教学平面示意图只能帮我们认房间、看相对位置，容量和预约这两类业务数据它一概没有，相邻的两个房间也不代表中间有门。&#10;&#10;第二个知识块讲图片怎么送进模型，三种提供方式和请求结构都要分清。接着是语音，先转写，再核对数字、时间、否定词和人名，不能因为来自录音就跳过校验。&#10;&#10;最后三个知识块是动手的部分，用计算机工具做动作闭环，在 WorkBuddy 里分别练读图和网页操作，再通过三道练习把证据意识练出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本节导读&lt;/Text&gt;&#10;            &lt;Text style={{ fontSize: 34, fontWeight: 'bold', color: '#20344B' }}&gt;看见什么，与执行什么&lt;/Text&gt;&#10;        &lt;/Box&gt;&#10;    &lt;/Box&gt;&#10;&#10;    &lt;Box style={{ height: 540, flexDirection: 'row', gap: 40 }}&gt;&#10;&#10;        &lt;Box style={{ width: 340, flexDirection: 'column', justifyContent: 'center', gap: 16 }}&gt;&#10;            &lt;Text style={{ fontSize: 25, fontWeight: 'bold', color: '#276FBF', lineHeight: 1.45 }}&gt;把证据范围说清楚&lt;/Text&gt;&#10;            &lt;Box style={{ width: 56, height: 3, background: '#26816B' }} /&gt;&#10;            &lt;Text style={{ fontSize: 17, color: '#546779', lineHeight: 1.75 }}&gt;六个知识块从&quot;图里能读出什么&quot;走到&quot;怎样练出证据意识&quot;：先给读图划边界，再让图片进模型、让录音变成文字，然后用工具走一遍动作闭环，最后在两条练习线上把主动权交回自己手里。&lt;/Text&gt;&#10;        &lt;/Box&gt;&#10;&#10;        &lt;Box style={{ flex: 1, flexDirection: 'column', justifyContent: 'center', gap: 11 }}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1&lt;/Text&gt;&#10;                &lt;/Box&gt;&#10;                &lt;Box style={{ flexDirection: 'column', gap: 2 }}&gt;&#10;                    &lt;Text style={{ fontSize: 20, fontWeight: 'bold', color: '#20344B' }}&gt;从图片读出什么，不能读出什么&lt;/Text&gt;&#10;                    &lt;Text style={{ fontSize: 16, color: '#546779' }}&gt;只能认标注与相对位置，容量与预约要另查两个数据文件&lt;/Text&gt;&#10;                &lt;/Box&gt;&#10;            &lt;/Box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2&lt;/Text&gt;&#10;                &lt;/Box&gt;&#10;                &lt;Box style={{ flexDirection: 'column', gap: 2 }}&gt;&#10;                    &lt;Text style={{ fontSize: 20, fontWeight: 'bold', color: '#20344B' }}&gt;OpenAI API：把图片作为输入内容&lt;/Text&gt;&#10;                    &lt;Text style={{ fontSize: 16, color: '#546779' }}&gt;三种提供方式与请求结构，验收要拆成三个问题分别问&lt;/Text&gt;&#10;                &lt;/Box&gt;&#10;            &lt;/Box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3&lt;/Text&gt;&#10;                &lt;/Box&gt;&#10;                &lt;Box style={{ flexDirection: 'column', gap: 2 }}&gt;&#10;                    &lt;Text style={{ fontSize: 20, fontWeight: 'bold', color: '#20344B' }}&gt;语音：先转写，再确认关键事实&lt;/Text&gt;&#10;                    &lt;Text style={{ fontSize: 16, color: '#546779' }}&gt;数字、时间、否定词与人名回听原音频，再交给排期助手&lt;/Text&gt;&#10;                &lt;/Box&gt;&#10;            &lt;/Box&gt;&#10;&#10;            &lt;Box style={{ flexDirection: 'row', gap: 16, alignItems: 'center' }}&gt;&#10;                &lt;Box style={{ width: 44, height: 44, borderRadius: 8, background: '#26816B', justifyContent: 'center', alignItems: 'center' }}&gt;&#10;                    &lt;Text style={{ fontSize: 18, fontWeight: 'bold', color: '#FFFFFF' }}&gt;04&lt;/Text&gt;&#10;                &lt;/Box&gt;&#10;                &lt;Box style={{ flexDirection: 'column', gap: 2 }}&gt;&#10;                    &lt;Text style={{ fontSize: 20, fontWeight: 'bold', color: '#20344B' }}&gt;计算机工具：从动作请求到真实页面&lt;/Text&gt;&#10;                    &lt;Text style={{ fontSize: 16, color: '#546779' }}&gt;截图、动作请求、宿主执行、新截图，四步才算一个闭环&lt;/Text&gt;&#10;                &lt;/Box&gt;&#10;            &lt;/Box&gt;&#10;&#10;            &lt;Box style={{ flexDirection: 'row', gap: 16, alignItems: 'center' }}&gt;&#10;                &lt;Box style={{ width: 44, height: 44, borderRadius: 8, background: '#26816B', justifyContent: 'center', alignItems: 'center' }}&gt;&#10;                    &lt;Text style={{ fontSize: 18, fontWeight: 'bold', color: '#FFFFFF' }}&gt;05&lt;/Text&gt;&#10;                &lt;/Box&gt;&#10;                &lt;Box style={{ flexDirection: 'column', gap: 2 }}&gt;&#10;                    &lt;Text style={{ fontSize: 20, fontWeight: 'bold', color: '#20344B' }}&gt;在 WorkBuddy 中分别练习读图与网页操作&lt;/Text&gt;&#10;                    &lt;Text style={{ fontSize: 16, color: '#546779' }}&gt;附件、模型能力、浏览器 Skill 三件事分别确认，不合并判断&lt;/Text&gt;&#10;                &lt;/Box&gt;&#10;            &lt;/Box&gt;&#10;&#10;            &lt;Box style={{ flexDirection: 'row', gap: 16, alignItems: 'center' }}&gt;&#10;                &lt;Box style={{ width: 44, height: 44, borderRadius: 8, background: '#CB6B28', justifyContent: 'center', alignItems: 'center' }}&gt;&#10;                    &lt;Text style={{ fontSize: 18, fontWeight: 'bold', color: '#FFFFFF' }}&gt;06&lt;/Text&gt;&#10;                &lt;/Box&gt;&#10;                &lt;Box style={{ flexDirection: 'column', gap: 2 }}&gt;&#10;                    &lt;Text style={{ fontSize: 20, fontWeight: 'bold', color: '#20344B' }}&gt;本节练习：制造冲突、制造缺失&lt;/Text&gt;&#10;                    &lt;Text style={{ fontSize: 16, color: '#546779' }}&gt;加一个与表格冲突的容量数字，再遮住一个房间名称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02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本节导读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看见什么，与执行什么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09600" y="2486025"/>
            <a:ext cx="3238500" cy="419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把证据范围说清楚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609600" y="305752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09600" y="3238500"/>
            <a:ext cx="3238500" cy="1704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六个知识块从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图里能读出什么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走到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怎样练出证据意识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：先给读图划边界，再让图片进模型、让录音变成文字，然后用工具走一遍动作闭环，最后在两条练习线上把主动权交回自己手里。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4229100" y="21526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333875" y="225742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4800600" y="214312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从图片读出什么，不能读出什么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800600" y="2390775"/>
            <a:ext cx="381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只能认标注与相对位置，容量与预约要另查两个数据文件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4229100" y="26955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4333875" y="28003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4800600" y="2686050"/>
            <a:ext cx="3657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OpenAI API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：把图片作为输入内容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4800600" y="2933700"/>
            <a:ext cx="3657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三种提供方式与请求结构，验收要拆成三个问题分别问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4229100" y="32385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4333875" y="334327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4800600" y="322897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语音：先转写，再确认关键事实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4800600" y="3476625"/>
            <a:ext cx="381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数字、时间、否定词与人名回听原音频，再交给排期助手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4229100" y="37814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4333875" y="38862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4800600" y="3771900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计算机工具：从动作请求到真实页面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4800600" y="4019550"/>
            <a:ext cx="381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截图、动作请求、宿主执行、新截图，四步才算一个闭环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4229100" y="43243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4333875" y="442912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4800600" y="4314825"/>
            <a:ext cx="404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在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中分别练习读图与网页操作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4800600" y="4562475"/>
            <a:ext cx="4048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附件、模型能力、浏览器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三件事分别确认，不合并判断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4229100" y="48672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4333875" y="49720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4800600" y="4857750"/>
            <a:ext cx="3505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本节练习：制造冲突、制造缺失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4800600" y="5105400"/>
            <a:ext cx="350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加一个与表格冲突的容量数字，再遮住一个房间名称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43" name="" descr="&lt;Slide notes={`我们从一张最普通的图开始：青禾社区学习中心的教学平面示意图，上面标着三个房间和一条公共走廊。&#10;&#10;这张图的身份要先说清楚。它是教材绘制的概念图，不是测量图，不是施工图，也不是本系统可以导航的地图。它表达的是房间在哪里、彼此什么关系。&#10;&#10;正因为它是概念图，它能承担的任务就非常有限。它能帮我们认出&quot;手作室&quot;这三个字写在哪个方框里，能帮我们看出哪个房间挨着走廊。除此之外，它给不出任何业务结论。&#10;&#10;所以读图之前先问一句：我打算让这张图回答什么？如果答案是容量或者预约状态，那它根本不在图里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1&lt;/Text&gt;&#10;            &lt;/Box&gt;&#10;            &lt;Text style={{ fontSize: 16, color: '#546779' }}&gt;2.11.1&lt;/Text&gt;&#10;        &lt;/Box&gt;&#10;&#10;        &lt;Text style={{ fontSize: 56, fontWeight: 'bold', color: '#20344B', lineHeight: 1.15 }}&gt;从图片读出什么，不能读出什么&lt;/Text&gt;&#10;&#10;        &lt;Box style={{ width: 640, height: 4, background: '#276FBF' }} /&gt;&#10;&#10;        &lt;Text style={{ fontSize: 19, color: '#546779', lineHeight: 1.7 }}&gt;图片只用于辨认房间标注与相对位置，业务事实另查数据文件。&lt;/Text&gt;&#10;&#10;        &lt;Box style={{ marginTop: 8, flexDirection: 'row', gap: 16 }}&gt;&#10;            &lt;Box style={{ width: 300, height: 56, background: '#EDF4FC', borderRadius: 8, flexDirection: 'column', justifyContent: 'center', alignItems: 'center', gap: 2 }}&gt;&#10;                &lt;Text style={{ fontSize: 15, fontWeight: 'bold', color: '#276FBF' }}&gt;可见　房间标注&lt;/Text&gt;&#10;                &lt;Text style={{ fontSize: 13, color: '#546779' }}&gt;方框里的名称&lt;/Text&gt;&#10;            &lt;/Box&gt;&#10;            &lt;Box style={{ width: 300, height: 56, background: '#EDF4FC', borderRadius: 8, flexDirection: 'column', justifyContent: 'center', alignItems: 'center', gap: 2 }}&gt;&#10;                &lt;Text style={{ fontSize: 15, fontWeight: 'bold', color: '#276FBF' }}&gt;可见　相对位置&lt;/Text&gt;&#10;                &lt;Text style={{ fontSize: 13, color: '#546779' }}&gt;谁挨着走廊&lt;/Text&gt;&#10;            &lt;/Box&gt;&#10;            &lt;Box style={{ width: 300, height: 56, background: '#FFF4E6', borderRadius: 8, flexDirection: 'column', justifyContent: 'center', alignItems: 'center', gap: 2 }}&gt;&#10;                &lt;Text style={{ fontSize: 15, fontWeight: 'bold', color: '#CB6B28' }}&gt;不可见　容量与预约&lt;/Text&gt;&#10;                &lt;Text style={{ fontSize: 13, color: '#546779' }}&gt;图里没有这两种数据&lt;/Text&gt;&#10;            &lt;/Box&gt;&#10;        &lt;/Box&gt;&#10;&#10;        &lt;Box style={{ flexDirection: 'row', justifyContent: 'center' }}&gt;&#10;            &lt;Box style={{ width: 300, height: 26, justifyContent: 'center', alignItems: 'center' }}&gt;&lt;Text style={{ fontSize: 18, color: '#26816B' }}&gt;↓&lt;/Text&gt;&lt;/Box&gt;&#10;        &lt;/Box&gt;&#10;&#10;        &lt;Box style={{ flexDirection: 'row', justifyContent: 'center' }}&gt;&#10;            &lt;Box style={{ width: 620, height: 56, background: '#ECF7F2', borderRadius: 8, justifyContent: 'center', alignItems: 'center' }}&gt;&#10;                &lt;Text style={{ fontSize: 17, fontWeight: 'bold', color: '#26816B' }}&gt;读图之前先问：我打算让它回答什么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03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5" name=""/>
          <p:cNvSpPr/>
          <p:nvPr/>
        </p:nvSpPr>
        <p:spPr>
          <a:xfrm rot="0" flipH="0" flipV="0">
            <a:off x="609600" y="6572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714375" y="7620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1295400" y="828675"/>
            <a:ext cx="43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2.11.1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从图片读出什么，不能读出什么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609600" y="231457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609600" y="25431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图片只用于辨认房间标注与相对位置，业务事实另查数据文件。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609600" y="3181350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1543050" y="327660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可见　房间标注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1666875" y="346710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方框里的名称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3619500" y="3181350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4552950" y="327660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可见　相对位置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4743450" y="346710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谁挨着走廊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6629400" y="3181350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7419975" y="327660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不可见　容量与预约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7505700" y="34671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图里没有这两种数据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6057900" y="39243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3143250" y="4343400"/>
            <a:ext cx="59055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4800600" y="4514850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读图之前先问：我打算让它回答什么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26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65" name="" descr="&lt;Slide notes={`把这张平面示意的三个房间摆开看。手作室、阅读室、交流室，各自只有名称标注，底下横着一条公共走廊。&#10;&#10;我特别强调一件事：图里没有容量数字，也没有预约状态。看到空白就以为容量不限、以为随时可约，这是最常见的误读。&#10;&#10;还有一条更容易被忽略。两个方框挨在一起，只说明它们在版面上一左一右，不说明中间有门，更不说明可以走通。要判断通行，得看真实的建筑资料，而这幅图不是建筑资料。&#10;&#10;那么容量从哪里来？查 rooms.csv。预约从哪里来？查 availability.json。图负责认路，表格负责报数，两个来源各管一段，谁也不能替代谁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1.1　从图片读出什么，不能读出什么&lt;/Text&gt;&#10;            &lt;Text style={{ fontSize: 34, fontWeight: 'bold', color: '#20344B' }}&gt;三个房间与一条公共走廊&lt;/Text&gt;&#10;        &lt;/Box&gt;&#10;    &lt;/Box&gt;&#10;&#10;    &lt;Box style={{ height: 540, flexDirection: 'column', justifyContent: 'center', gap: 16 }}&gt;&#10;&#10;        &lt;Box style={{ background: '#F4F7FA', borderRadius: 12, padding: 20, flexDirection: 'column', gap: 12 }}&gt;&#10;&#10;            &lt;Box style={{ flexDirection: 'row', justifyContent: 'space-between', alignItems: 'center' }}&gt;&#10;                &lt;Text style={{ fontSize: 14, color: '#546779' }}&gt;青禾社区学习中心　教学平面示意　非比例图&lt;/Text&gt;&#10;                &lt;Box style={{ width: 96, height: 26, background: '#EDF4FC', borderRadius: 6, justifyContent: 'center', alignItems: 'center' }}&gt;&#10;                    &lt;Text style={{ fontSize: 13, color: '#546779' }}&gt;示意&lt;/Text&gt;&#10;                &lt;/Box&gt;&#10;            &lt;/Box&gt;&#10;&#10;            &lt;Box style={{ flexDirection: 'row', gap: 16 }}&gt;&#10;                &lt;Box style={{ width: 360, height: 150, background: '#FFFFFF', borderRadius: 8, padding: '16px 18px', flexDirection: 'column', justifyContent: 'center', gap: 6 }}&gt;&#10;                    &lt;Text style={{ fontSize: 20, fontWeight: 'bold', color: '#276FBF' }}&gt;手作室&lt;/Text&gt;&#10;                    &lt;Text style={{ fontSize: 14, color: '#546779', lineHeight: 1.5 }}&gt;可见标注：房间名称&lt;/Text&gt;&#10;                    &lt;Text style={{ fontSize: 14, color: '#546779', lineHeight: 1.5 }}&gt;容量：图中未标&lt;/Text&gt;&#10;                    &lt;Text style={{ fontSize: 14, color: '#546779', lineHeight: 1.5 }}&gt;预约：图中未标&lt;/Text&gt;&#10;                &lt;/Box&gt;&#10;                &lt;Box style={{ width: 360, height: 150, background: '#FFFFFF', borderRadius: 8, padding: '16px 18px', flexDirection: 'column', justifyContent: 'center', gap: 6 }}&gt;&#10;                    &lt;Text style={{ fontSize: 20, fontWeight: 'bold', color: '#276FBF' }}&gt;阅读室&lt;/Text&gt;&#10;                    &lt;Text style={{ fontSize: 14, color: '#546779', lineHeight: 1.5 }}&gt;可见标注：房间名称&lt;/Text&gt;&#10;                    &lt;Text style={{ fontSize: 14, color: '#546779', lineHeight: 1.5 }}&gt;容量：图中未标&lt;/Text&gt;&#10;                    &lt;Text style={{ fontSize: 14, color: '#546779', lineHeight: 1.5 }}&gt;预约：图中未标&lt;/Text&gt;&#10;                &lt;/Box&gt;&#10;                &lt;Box style={{ width: 360, height: 150, background: '#FFFFFF', borderRadius: 8, padding: '16px 18px', flexDirection: 'column', justifyContent: 'center', gap: 6 }}&gt;&#10;                    &lt;Text style={{ fontSize: 20, fontWeight: 'bold', color: '#276FBF' }}&gt;交流室&lt;/Text&gt;&#10;                    &lt;Text style={{ fontSize: 14, color: '#546779', lineHeight: 1.5 }}&gt;可见标注：房间名称&lt;/Text&gt;&#10;                    &lt;Text style={{ fontSize: 14, color: '#546779', lineHeight: 1.5 }}&gt;容量：图中未标&lt;/Text&gt;&#10;                    &lt;Text style={{ fontSize: 14, color: '#546779', lineHeight: 1.5 }}&gt;预约：图中未标&lt;/Text&gt;&#10;                &lt;/Box&gt;&#10;            &lt;/Box&gt;&#10;&#10;            &lt;Box style={{ height: 44, background: '#F7F3E8', borderRadius: 8, justifyContent: 'center', alignItems: 'center' }}&gt;&#10;                &lt;Text style={{ fontSize: 15, color: '#546779' }}&gt;公共走廊　连接三个房间&lt;/Text&gt;&#10;            &lt;/Box&gt;&#10;&#10;            &lt;Box style={{ flexDirection: 'row', gap: 16 }}&gt;&#10;                &lt;Box style={{ flex: 1, height: 36, background: '#EDF4FC', borderRadius: 8, justifyContent: 'center', alignItems: 'center' }}&gt;&#10;                    &lt;Text style={{ fontSize: 14, color: '#276FBF' }}&gt;容量依据　rooms.csv&lt;/Text&gt;&#10;                &lt;/Box&gt;&#10;                &lt;Box style={{ flex: 1, height: 36, background: '#ECF7F2', borderRadius: 8, justifyContent: 'center', alignItems: 'center' }}&gt;&#10;                    &lt;Text style={{ fontSize: 14, color: '#26816B' }}&gt;预约依据　availability.json&lt;/Text&gt;&#10;                &lt;/Box&gt;&#10;                &lt;Box style={{ flex: 1, height: 36, background: '#FFF4E6', borderRadius: 8, justifyContent: 'center', alignItems: 'center' }}&gt;&#10;                    &lt;Text style={{ fontSize: 14, color: '#CB6B28' }}&gt;矩形相邻不能证明门可通行&lt;/Text&gt;&#10;                &lt;/Box&gt;&#10;            &lt;/Box&gt;&#10;&#10;        &lt;/Box&gt;&#10;&#10;        &lt;Text style={{ fontSize: 14, color: '#546779' }}&gt;图 2.11-1 重绘　教学平面示意：非比例图，不含可导航地图数据；作者教学图，非界面截图，也不代表任何模型成绩。&lt;/Text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04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2.11.1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从图片读出什么，不能读出什么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三个房间与一条公共走廊</a:t>
            </a:r>
            <a:endParaRPr/>
          </a:p>
        </p:txBody>
      </p:sp>
      <p:sp>
        <p:nvSpPr>
          <p:cNvPr id="570" name=""/>
          <p:cNvSpPr/>
          <p:nvPr/>
        </p:nvSpPr>
        <p:spPr>
          <a:xfrm rot="0" flipH="0" flipV="0">
            <a:off x="609600" y="1981200"/>
            <a:ext cx="10972800" cy="3162300"/>
          </a:xfrm>
          <a:prstGeom prst="roundRect">
            <a:avLst>
              <a:gd name="adj" fmla="val 361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800100" y="2219325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青禾社区学习中心　教学平面示意　非比例图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10477500" y="2171700"/>
            <a:ext cx="914400" cy="247650"/>
          </a:xfrm>
          <a:prstGeom prst="roundRect">
            <a:avLst>
              <a:gd name="adj" fmla="val 2307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10810875" y="22193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800100" y="2533650"/>
            <a:ext cx="3429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971550" y="2676525"/>
            <a:ext cx="3086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手作室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971550" y="2962275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可见标注：房间名称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971550" y="3267075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容量：图中未标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971550" y="3571875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预约：图中未标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4381500" y="2533650"/>
            <a:ext cx="3429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4552950" y="2676525"/>
            <a:ext cx="3086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阅读室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4552950" y="2962275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可见标注：房间名称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4552950" y="3267075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容量：图中未标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4552950" y="3571875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预约：图中未标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7962900" y="2533650"/>
            <a:ext cx="3429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8134350" y="2676525"/>
            <a:ext cx="3086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交流室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8134350" y="2962275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可见标注：房间名称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8134350" y="3267075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容量：图中未标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8134350" y="3571875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预约：图中未标</a:t>
            </a:r>
            <a:endParaRPr/>
          </a:p>
        </p:txBody>
      </p:sp>
      <p:sp>
        <p:nvSpPr>
          <p:cNvPr id="589" name=""/>
          <p:cNvSpPr/>
          <p:nvPr/>
        </p:nvSpPr>
        <p:spPr>
          <a:xfrm rot="0" flipH="0" flipV="0">
            <a:off x="800100" y="4076700"/>
            <a:ext cx="10591800" cy="419100"/>
          </a:xfrm>
          <a:prstGeom prst="roundRect">
            <a:avLst>
              <a:gd name="adj" fmla="val 18182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5314950" y="4200525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公共走廊　连接三个房间</a:t>
            </a:r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800100" y="4610100"/>
            <a:ext cx="3429000" cy="342900"/>
          </a:xfrm>
          <a:prstGeom prst="roundRect">
            <a:avLst>
              <a:gd name="adj" fmla="val 2222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1866900" y="4705350"/>
            <a:ext cx="1304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容量依据　</a:t>
            </a: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rooms.csv</a:t>
            </a:r>
            <a:endParaRPr/>
          </a:p>
        </p:txBody>
      </p:sp>
      <p:sp>
        <p:nvSpPr>
          <p:cNvPr id="593" name=""/>
          <p:cNvSpPr/>
          <p:nvPr/>
        </p:nvSpPr>
        <p:spPr>
          <a:xfrm rot="0" flipH="0" flipV="0">
            <a:off x="4381500" y="4610100"/>
            <a:ext cx="3429000" cy="342900"/>
          </a:xfrm>
          <a:prstGeom prst="roundRect">
            <a:avLst>
              <a:gd name="adj" fmla="val 2222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5286375" y="4705350"/>
            <a:ext cx="1628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预约依据　</a:t>
            </a: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>availability.json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7962900" y="4610100"/>
            <a:ext cx="3429000" cy="342900"/>
          </a:xfrm>
          <a:prstGeom prst="roundRect">
            <a:avLst>
              <a:gd name="adj" fmla="val 2222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8877300" y="470535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矩形相邻不能证明门可通行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609600" y="529590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2.11-1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重绘　教学平面示意：非比例图，不含可导航地图数据；作者教学图，非界面截图，也不代表任何模型成绩。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600" name="" descr="&lt;Slide notes={`同样是处理图片，其实是三类不同的工作，验收对象也各不相同。&#10;&#10;第一类是 OCR，目标是读出图中的字符。它的产物就是文字，典型错误是把房间名称认错，比如把&quot;手作室&quot;读成&quot;手工作&quot;。&#10;&#10;第二类是视觉理解，目标是弄懂布局、对象和它们之间的关系。它不产出文字清单，而是产出一段描述。它的典型错误是想多了——从版面相邻推断出门口在哪，或者推断出一条实际并不存在的路线。&#10;&#10;第三类是图像生成，目标是创作一张新的图。它的典型错误反过来，是凭空增加原本没有的设施。&#10;&#10;三类工作的产物完全不同，所以验收时不能都用一句&quot;看得准&quot;来概括。要看的是：它答的这道题，是不是我问的那道题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1.1　从图片读出什么，不能读出什么&lt;/Text&gt;&#10;            &lt;Text style={{ fontSize: 34, fontWeight: 'bold', color: '#20344B' }}&gt;三类视觉工作，三种验收对象&lt;/Text&gt;&#10;        &lt;/Box&gt;&#10;    &lt;/Box&gt;&#10;&#10;    &lt;Box style={{ height: 540, flexDirection: 'row', justifyContent: 'center', alignItems: 'center', gap: 20 }}&gt;&#10;&#10;        &lt;Box style={{ width: 700, flexDirection: 'column', gap: 16 }}&gt;&#10;&#10;            &lt;Box style={{ flexDirection: 'row', gap: 14, background: '#F4F7FA', borderRadius: 10, padding: '18px 20px', alignItems: 'center' }}&gt;&#10;                &lt;Box style={{ width: 4, height: 84, background: '#276FBF' }} /&gt;&#10;                &lt;Box style={{ flex: 1, flexDirection: 'column', gap: 5 }}&gt;&#10;                    &lt;Text style={{ fontSize: 20, fontWeight: 'bold', color: '#20344B' }}&gt;OCR　把字读出来&lt;/Text&gt;&#10;                    &lt;Text style={{ fontSize: 15, color: '#546779' }}&gt;产物：图中的字符&lt;/Text&gt;&#10;                    &lt;Text style={{ fontSize: 14, color: '#CB6B28' }}&gt;典型错误：房间名称识别错&lt;/Text&gt;&#10;                &lt;/Box&gt;&#10;            &lt;/Box&gt;&#10;&#10;            &lt;Box style={{ flexDirection: 'row', gap: 14, background: '#F4F7FA', borderRadius: 10, padding: '18px 20px', alignItems: 'center' }}&gt;&#10;                &lt;Box style={{ width: 4, height: 84, background: '#276FBF' }} /&gt;&#10;                &lt;Box style={{ flex: 1, flexDirection: 'column', gap: 5 }}&gt;&#10;                    &lt;Text style={{ fontSize: 20, fontWeight: 'bold', color: '#20344B' }}&gt;视觉理解　把关系看明白&lt;/Text&gt;&#10;                    &lt;Text style={{ fontSize: 15, color: '#546779' }}&gt;产物：布局、对象与关系&lt;/Text&gt;&#10;                    &lt;Text style={{ fontSize: 14, color: '#CB6B28' }}&gt;典型错误：门口或路线推断错&lt;/Text&gt;&#10;                &lt;/Box&gt;&#10;            &lt;/Box&gt;&#10;&#10;            &lt;Box style={{ flexDirection: 'row', gap: 14, background: '#F4F7FA', borderRadius: 10, padding: '18px 20px', alignItems: 'center' }}&gt;&#10;                &lt;Box style={{ width: 4, height: 84, background: '#26816B' }} /&gt;&#10;                &lt;Box style={{ flex: 1, flexDirection: 'column', gap: 5 }}&gt;&#10;                    &lt;Text style={{ fontSize: 20, fontWeight: 'bold', color: '#20344B' }}&gt;图像生成　造一张新的图&lt;/Text&gt;&#10;                    &lt;Text style={{ fontSize: 15, color: '#546779' }}&gt;产物：创作的新图&lt;/Text&gt;&#10;                    &lt;Text style={{ fontSize: 14, color: '#CB6B28' }}&gt;典型错误：凭空增加设施&lt;/Text&gt;&#10;                &lt;/Box&gt;&#10;            &lt;/Box&gt;&#10;&#10;        &lt;/Box&gt;&#10;&#10;        &lt;Box style={{ width: 432, flexDirection: 'column', gap: 16 }}&gt;&#10;&#10;            &lt;Box style={{ background: '#EDF4FC', borderRadius: 10, padding: '20px', flexDirection: 'column', gap: 10 }}&gt;&#10;                &lt;Text style={{ fontSize: 20, fontWeight: 'bold', color: '#276FBF' }}&gt;产物不同，问法就不同&lt;/Text&gt;&#10;                &lt;Text style={{ fontSize: 15, color: '#546779', lineHeight: 1.65 }}&gt;读字符要核对逐字对不对；看关系要核对结论有没有超出图面；作图要看有没有多出东西。三类工作共用一个模型，却不能共用一份验收清单。&lt;/Text&gt;&#10;            &lt;/Box&gt;&#10;&#10;            &lt;Box style={{ background: '#FFF4E6', borderRadius: 10, padding: '18px 20px', flexDirection: 'row', gap: 12, alignItems: 'center' }}&gt;&#10;                &lt;Box style={{ width: 4, height: 52, background: '#CB6B28' }} /&gt;&#10;                &lt;Text style={{ fontSize: 15, color: '#CB6B28', lineHeight: 1.6 }}&gt;一句&quot;看得挺准&quot;概括不了三类工作，验收要落到具体产物上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05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2.11.1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从图片读出什么，不能读出什么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三类视觉工作，三种验收对象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609600" y="1847850"/>
            <a:ext cx="6667500" cy="11430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6" name=""/>
          <p:cNvSpPr/>
          <p:nvPr/>
        </p:nvSpPr>
        <p:spPr>
          <a:xfrm rot="0" flipH="0" flipV="0">
            <a:off x="800100" y="2019300"/>
            <a:ext cx="38100" cy="800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971550" y="2095500"/>
            <a:ext cx="6115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OCR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　把字读出来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971550" y="2371725"/>
            <a:ext cx="6115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产物：图中的字符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971550" y="2590800"/>
            <a:ext cx="611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典型错误：房间名称识别错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609600" y="3143250"/>
            <a:ext cx="6667500" cy="11430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1" name=""/>
          <p:cNvSpPr/>
          <p:nvPr/>
        </p:nvSpPr>
        <p:spPr>
          <a:xfrm rot="0" flipH="0" flipV="0">
            <a:off x="800100" y="3314700"/>
            <a:ext cx="38100" cy="800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971550" y="3390900"/>
            <a:ext cx="6115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视觉理解　把关系看明白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971550" y="3667125"/>
            <a:ext cx="6115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产物：布局、对象与关系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971550" y="3886200"/>
            <a:ext cx="611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典型错误：门口或路线推断错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609600" y="4438650"/>
            <a:ext cx="6667500" cy="11430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6" name=""/>
          <p:cNvSpPr/>
          <p:nvPr/>
        </p:nvSpPr>
        <p:spPr>
          <a:xfrm rot="0" flipH="0" flipV="0">
            <a:off x="800100" y="4610100"/>
            <a:ext cx="38100" cy="800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971550" y="4686300"/>
            <a:ext cx="6115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图像生成　造一张新的图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971550" y="4962525"/>
            <a:ext cx="6115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产物：创作的新图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971550" y="5181600"/>
            <a:ext cx="611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典型错误：凭空增加设施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7467600" y="2409825"/>
            <a:ext cx="4114800" cy="1562100"/>
          </a:xfrm>
          <a:prstGeom prst="roundRect">
            <a:avLst>
              <a:gd name="adj" fmla="val 609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7658100" y="2600325"/>
            <a:ext cx="3733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产物不同，问法就不同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7658100" y="2924175"/>
            <a:ext cx="37338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读字符要核对逐字对不对；看关系要核对结论有没有超出图面；作图要看有没有多出东西。三类工作共用一个模型，却不能共用一份验收清单。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7467600" y="4124325"/>
            <a:ext cx="4114800" cy="895350"/>
          </a:xfrm>
          <a:prstGeom prst="roundRect">
            <a:avLst>
              <a:gd name="adj" fmla="val 1063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24" name=""/>
          <p:cNvSpPr/>
          <p:nvPr/>
        </p:nvSpPr>
        <p:spPr>
          <a:xfrm rot="0" flipH="0" flipV="0">
            <a:off x="7658100" y="4324350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7810500" y="4295775"/>
            <a:ext cx="3581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一句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看得挺准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概括不了三类工作，验收要落到具体产物上。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28" name="" descr="&lt;Slide notes={`读图这件事，最容易出错的地方不在识别，而在越界。&#10;&#10;第一条结论：这张图能支持的，是房间名称和相对位置。它支持的结论就到这里为止。&#10;&#10;第二条结论：容量和预约这两类业务事实，必须去别的地方取。容量查 rooms.csv，预约查 availability.json。图里没有这两样东西，看一眼图是推不出来的。&#10;&#10;第三条结论：版面相邻不等于可以通行。两个方框贴在一起，只说明在图上画得挨着，不说明中间真有门。&#10;&#10;所以正确的用法是：先让模型描述它看到什么，再拿数据文件去回答业务问题。把这两步混在一起，就会得到一段听起来很顺、但没有任何依据的场馆介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1.1　从图片读出什么，不能读出什么&lt;/Text&gt;&#10;            &lt;Text style={{ fontSize: 34, fontWeight: 'bold', color: '#20344B' }}&gt;图能支持什么，不能支持什么&lt;/Text&gt;&#10;        &lt;/Box&gt;&#10;    &lt;/Box&gt;&#10;&#10;    &lt;Box style={{ height: 540, flexDirection: 'row', gap: 40 }}&gt;&#10;&#10;        &lt;Box style={{ width: 320, flexDirection: 'column', justifyContent: 'center', gap: 14 }}&gt;&#10;            &lt;Text style={{ fontSize: 24, fontWeight: 'bold', color: '#276FBF', lineHeight: 1.45 }}&gt;先描述，再查证&lt;/Text&gt;&#10;            &lt;Box style={{ width: 56, height: 3, background: '#26816B' }} /&gt;&#10;            &lt;Text style={{ fontSize: 16, color: '#546779', lineHeight: 1.7 }}&gt;让模型先说出它在图上看到了什么，再让数据文件去回答业务问题。顺序一旦颠倒，流畅的描述就会盖住空白的依据。&lt;/Text&gt;&#10;        &lt;/Box&gt;&#10;&#10;        &lt;Box style={{ flex: 1, flexDirection: 'column', justifyContent: 'center', gap: 16 }}&gt;&#10;&#10;            &lt;Box style={{ flexDirection: 'row', gap: 14, alignItems: 'center' }}&gt;&#10;                &lt;Box style={{ width: 3, height: 58, background: '#276FBF' }} /&gt;&#10;                &lt;Box style={{ flex: 1, flexDirection: 'column', gap: 3 }}&gt;&#10;                    &lt;Text style={{ fontSize: 18, fontWeight: 'bold', color: '#20344B' }}&gt;图支持　房间标注与相对位置&lt;/Text&gt;&#10;                    &lt;Text style={{ fontSize: 15, color: '#546779', lineHeight: 1.5 }}&gt;图上写着名称，也看得出谁挨着走廊；结论到此为止。&lt;/Text&gt;&#10;                &lt;/Box&gt;&#10;            &lt;/Box&gt;&#10;&#10;            &lt;Box style={{ flexDirection: 'row', gap: 14, alignItems: 'center' }}&gt;&#10;                &lt;Box style={{ width: 3, height: 58, background: '#276FBF' }} /&gt;&#10;                &lt;Box style={{ flex: 1, flexDirection: 'column', gap: 3 }}&gt;&#10;                    &lt;Text style={{ fontSize: 18, fontWeight: 'bold', color: '#20344B' }}&gt;图不支持　容量与预约状态&lt;/Text&gt;&#10;                    &lt;Text style={{ fontSize: 15, color: '#546779', lineHeight: 1.5 }}&gt;容量依据 rooms.csv，预约依据 availability.json，都不在图里。&lt;/Text&gt;&#10;                &lt;/Box&gt;&#10;            &lt;/Box&gt;&#10;&#10;            &lt;Box style={{ flexDirection: 'row', gap: 14, alignItems: 'center' }}&gt;&#10;                &lt;Box style={{ width: 3, height: 58, background: '#276FBF' }} /&gt;&#10;                &lt;Box style={{ flex: 1, flexDirection: 'column', gap: 3 }}&gt;&#10;                    &lt;Text style={{ fontSize: 18, fontWeight: 'bold', color: '#20344B' }}&gt;图不支持　门口与可通行路线&lt;/Text&gt;&#10;                    &lt;Text style={{ fontSize: 15, color: '#546779', lineHeight: 1.5 }}&gt;它是概念图，不是施工图，画得挨着不代表走得通。&lt;/Text&gt;&#10;                &lt;/Box&gt;&#10;            &lt;/Box&gt;&#10;&#10;            &lt;Box style={{ flexDirection: 'row', alignItems: 'center', gap: 14, background: '#FFF4E6', borderRadius: 10, padding: '15px 20px' }}&gt;&#10;                &lt;Box style={{ width: 4, height: 52, background: '#CB6B28' }} /&gt;&#10;                &lt;Box style={{ flex: 1, flexDirection: 'column', gap: 3 }}&gt;&#10;                    &lt;Text style={{ fontSize: 16, fontWeight: 'bold', color: '#CB6B28' }}&gt;矩形相邻不能证明门可通行&lt;/Text&gt;&#10;                    &lt;Text style={{ fontSize: 14, color: '#546779' }}&gt;同理，图上空白也不能反推出容量不限、随时可约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06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2.11.1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从图片读出什么，不能读出什么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图能支持什么，不能支持什么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609600" y="2905125"/>
            <a:ext cx="3048000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276FBF"/>
                </a:solidFill>
                <a:latin typeface="Microsoft YaHei"/>
                <a:ea typeface="Microsoft YaHei"/>
              </a:rPr>
              <a:t>先描述，再查证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609600" y="343852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609600" y="3600450"/>
            <a:ext cx="30480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让模型先说出它在图上看到了什么，再让数据文件去回答业务问题。顺序一旦颠倒，流畅的描述就会盖住空白的依据。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4038600" y="2266950"/>
            <a:ext cx="28575" cy="5524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4200525" y="2295525"/>
            <a:ext cx="7381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图支持　房间标注与相对位置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4200525" y="2533650"/>
            <a:ext cx="7381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图上写着名称，也看得出谁挨着走廊；结论到此为止。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4038600" y="2971800"/>
            <a:ext cx="28575" cy="5524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4200525" y="3000375"/>
            <a:ext cx="7381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图不支持　容量与预约状态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4200525" y="3238500"/>
            <a:ext cx="7381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容量依据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rooms.csv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，预约依据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availability.json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，都不在图里。</a:t>
            </a:r>
            <a:endParaRPr/>
          </a:p>
        </p:txBody>
      </p:sp>
      <p:sp>
        <p:nvSpPr>
          <p:cNvPr id="642" name=""/>
          <p:cNvSpPr/>
          <p:nvPr/>
        </p:nvSpPr>
        <p:spPr>
          <a:xfrm rot="0" flipH="0" flipV="0">
            <a:off x="4038600" y="3676650"/>
            <a:ext cx="28575" cy="5524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4200525" y="3705225"/>
            <a:ext cx="7381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图不支持　门口与可通行路线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4200525" y="3943350"/>
            <a:ext cx="7381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它是概念图，不是施工图，画得挨着不代表走得通。</a:t>
            </a:r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4038600" y="4381500"/>
            <a:ext cx="7543800" cy="781050"/>
          </a:xfrm>
          <a:prstGeom prst="roundRect">
            <a:avLst>
              <a:gd name="adj" fmla="val 1219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46" name=""/>
          <p:cNvSpPr/>
          <p:nvPr/>
        </p:nvSpPr>
        <p:spPr>
          <a:xfrm rot="0" flipH="0" flipV="0">
            <a:off x="4229100" y="4524375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4400550" y="4581525"/>
            <a:ext cx="6991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矩形相邻不能证明门可通行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4400550" y="4800600"/>
            <a:ext cx="6991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同理，图上空白也不能反推出容量不限、随时可约。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26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51" name="" descr="&lt;Slide notes={`读图的边界划清之后，接下来的问题是：这张图怎么送进模型。&#10;&#10;Responses 接口可以在支持视觉输入的模型上同时接收文本和图片两种内容。文本那一项承载我们的要求，图片那一项承载要看的画面，两者放在同一条消息里。&#10;&#10;提供图片有三种方式：一个模型服务可以访问的 URL，一段 Base64 数据 URL，或者文档支持的文件方式。三种方式适用的场合不一样，选哪一种取决于图片放在哪里、能不能被外部访问。&#10;&#10;要特别注意一点：不能直接把本机的文件路径填进去，指望远端服务去读你电脑上的磁盘。路径必须由我们的脚本读成内容，再编码后发送出去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2&lt;/Text&gt;&#10;            &lt;/Box&gt;&#10;            &lt;Text style={{ fontSize: 16, color: '#546779' }}&gt;2.11.2&lt;/Text&gt;&#10;        &lt;/Box&gt;&#10;&#10;        &lt;Text style={{ fontSize: 56, fontWeight: 'bold', color: '#20344B', lineHeight: 1.15 }}&gt;把图片作为输入内容&lt;/Text&gt;&#10;&#10;        &lt;Box style={{ width: 640, height: 4, background: '#276FBF' }} /&gt;&#10;&#10;        &lt;Text style={{ fontSize: 19, color: '#546779', lineHeight: 1.7 }}&gt;文本与图片放在同一条消息里，一起交给支持视觉输入的模型。&lt;/Text&gt;&#10;&#10;        &lt;Box style={{ marginTop: 8, flexDirection: 'row', gap: 16 }}&gt;&#10;            &lt;Box style={{ width: 300, height: 56, background: '#EDF4FC', borderRadius: 8, flexDirection: 'column', justifyContent: 'center', alignItems: 'center', gap: 2 }}&gt;&#10;                &lt;Text style={{ fontSize: 15, fontWeight: 'bold', color: '#276FBF' }}&gt;可访问 URL&lt;/Text&gt;&#10;                &lt;Text style={{ fontSize: 13, color: '#546779' }}&gt;图片已在公网可读&lt;/Text&gt;&#10;            &lt;/Box&gt;&#10;            &lt;Box style={{ width: 300, height: 56, background: '#EDF4FC', borderRadius: 8, flexDirection: 'column', justifyContent: 'center', alignItems: 'center', gap: 2 }}&gt;&#10;                &lt;Text style={{ fontSize: 15, fontWeight: 'bold', color: '#276FBF' }}&gt;Base64 数据 URL&lt;/Text&gt;&#10;                &lt;Text style={{ fontSize: 13, color: '#546779' }}&gt;由脚本编码后随请求发送&lt;/Text&gt;&#10;            &lt;/Box&gt;&#10;            &lt;Box style={{ width: 300, height: 56, background: '#EDF4FC', borderRadius: 8, flexDirection: 'column', justifyContent: 'center', alignItems: 'center', gap: 2 }}&gt;&#10;                &lt;Text style={{ fontSize: 15, fontWeight: 'bold', color: '#276FBF' }}&gt;文档支持的文件方式&lt;/Text&gt;&#10;                &lt;Text style={{ fontSize: 13, color: '#546779' }}&gt;按执行时的文档核对&lt;/Text&gt;&#10;            &lt;/Box&gt;&#10;        &lt;/Box&gt;&#10;&#10;        &lt;Box style={{ flexDirection: 'row', justifyContent: 'center' }}&gt;&#10;            &lt;Box style={{ width: 300, height: 26, justifyContent: 'center', alignItems: 'center' }}&gt;&lt;Text style={{ fontSize: 18, color: '#26816B' }}&gt;↓&lt;/Text&gt;&lt;/Box&gt;&#10;        &lt;/Box&gt;&#10;&#10;        &lt;Box style={{ flexDirection: 'row', justifyContent: 'center' }}&gt;&#10;            &lt;Box style={{ width: 620, height: 56, background: '#ECF7F2', borderRadius: 8, justifyContent: 'center', alignItems: 'center' }}&gt;&#10;                &lt;Text style={{ fontSize: 17, fontWeight: 'bold', color: '#26816B' }}&gt;input_text 提要求，input_image 给画面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07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3" name=""/>
          <p:cNvSpPr/>
          <p:nvPr/>
        </p:nvSpPr>
        <p:spPr>
          <a:xfrm rot="0" flipH="0" flipV="0">
            <a:off x="609600" y="6572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714375" y="7620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1295400" y="828675"/>
            <a:ext cx="43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2.11.2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把图片作为输入内容</a:t>
            </a:r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609600" y="231457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609600" y="25431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文本与图片放在同一条消息里，一起交给支持视觉输入的模型。</a:t>
            </a:r>
            <a:endParaRPr/>
          </a:p>
        </p:txBody>
      </p:sp>
      <p:sp>
        <p:nvSpPr>
          <p:cNvPr id="659" name=""/>
          <p:cNvSpPr/>
          <p:nvPr/>
        </p:nvSpPr>
        <p:spPr>
          <a:xfrm rot="0" flipH="0" flipV="0">
            <a:off x="609600" y="3181350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1657350" y="3276600"/>
            <a:ext cx="76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可访问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URL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1543050" y="3467100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图片已在公网可读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3619500" y="3181350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4467225" y="3276600"/>
            <a:ext cx="1171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Base64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数据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URL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4371975" y="3467100"/>
            <a:ext cx="1362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由脚本编码后随请求发送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6629400" y="3181350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7419975" y="327660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文档支持的文件方式</a:t>
            </a:r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7505700" y="34671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按执行时的文档核对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6057900" y="39243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69" name=""/>
          <p:cNvSpPr/>
          <p:nvPr/>
        </p:nvSpPr>
        <p:spPr>
          <a:xfrm rot="0" flipH="0" flipV="0">
            <a:off x="3143250" y="4343400"/>
            <a:ext cx="59055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4562475" y="4514850"/>
            <a:ext cx="3067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input_text </a:t>
            </a: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提要求，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input_image </a:t>
            </a: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给画面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26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73" name="" descr="&lt;Slide notes={`三种提供方式，选哪一种取决于图片放在哪里。&#10;&#10;图片已经在公网可读，可以直接给一个 URL，服务端自己去取，最简单。图片在本机、又不方便上传，就把它读成字节再编码成 Base64 数据 URL，跟请求一起发出去。还有一种情况是文档支持按文件方式提供，这要按当时的文档核对。&#10;&#10;配套脚本走的是第二条路：读取本地 PNG，编码后随请求发送。命令就一行。&#10;&#10;运行之前有一件事必须先确认：这份资料适不适合发送到你所选的服务。教学示意图当然可以，但换成客户资料或别人的隐私文件，先停下来想清楚再发。&#10;&#10;还有一点：不能把 Windows 的本地文件路径直接填进请求，期待远端服务去读你的磁盘。它读不到，也不该读到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1.2　OpenAI API：把图片作为输入内容&lt;/Text&gt;&#10;            &lt;Text style={{ fontSize: 34, fontWeight: 'bold', color: '#20344B' }}&gt;图片进模型的三种提供方式&lt;/Text&gt;&#10;        &lt;/Box&gt;&#10;    &lt;/Box&gt;&#10;&#10;    &lt;Box style={{ height: 540, flexDirection: 'row', justifyContent: 'center', alignItems: 'center', gap: 20 }}&gt;&#10;&#10;        &lt;Box style={{ width: 432, flexDirection: 'column', gap: 16 }}&gt;&#10;&#10;            &lt;Box style={{ background: '#F4F7FA', borderRadius: 10, padding: '16px 18px', flexDirection: 'row', gap: 12, alignItems: 'center' }}&gt;&#10;                &lt;Box style={{ width: 4, height: 84, background: '#276FBF' }} /&gt;&#10;                &lt;Box style={{ flex: 1, flexDirection: 'column', gap: 4 }}&gt;&#10;                    &lt;Text style={{ fontSize: 19, fontWeight: 'bold', color: '#20344B' }}&gt;可访问的 URL&lt;/Text&gt;&#10;                    &lt;Text style={{ fontSize: 14, color: '#546779', lineHeight: 1.5 }}&gt;图片已经能被外部读取，直接把地址交给服务端去取。&lt;/Text&gt;&#10;                &lt;/Box&gt;&#10;            &lt;/Box&gt;&#10;&#10;            &lt;Box style={{ background: '#F4F7FA', borderRadius: 10, padding: '16px 18px', flexDirection: 'row', gap: 12, alignItems: 'center' }}&gt;&#10;                &lt;Box style={{ width: 4, height: 84, background: '#276FBF' }} /&gt;&#10;                &lt;Box style={{ flex: 1, flexDirection: 'column', gap: 4 }}&gt;&#10;                    &lt;Text style={{ fontSize: 19, fontWeight: 'bold', color: '#20344B' }}&gt;Base64 数据 URL&lt;/Text&gt;&#10;                    &lt;Text style={{ fontSize: 14, color: '#546779', lineHeight: 1.5 }}&gt;本机图片编码成一段文本，随请求一起发送，配套脚本走这条路。&lt;/Text&gt;&#10;                &lt;/Box&gt;&#10;            &lt;/Box&gt;&#10;&#10;            &lt;Box style={{ background: '#F4F7FA', borderRadius: 10, padding: '16px 18px', flexDirection: 'row', gap: 12, alignItems: 'center' }}&gt;&#10;                &lt;Box style={{ width: 4, height: 84, background: '#276FBF' }} /&gt;&#10;                &lt;Box style={{ flex: 1, flexDirection: 'column', gap: 4 }}&gt;&#10;                    &lt;Text style={{ fontSize: 19, fontWeight: 'bold', color: '#20344B' }}&gt;文档支持的文件方式&lt;/Text&gt;&#10;                    &lt;Text style={{ fontSize: 14, color: '#546779', lineHeight: 1.5 }}&gt;是否可用取决于当前服务；以执行时的文档为准，不凭记忆。&lt;/Text&gt;&#10;                &lt;/Box&gt;&#10;            &lt;/Box&gt;&#10;&#10;        &lt;/Box&gt;&#10;&#10;        &lt;Box style={{ width: 700, flexDirection: 'column', gap: 16, justifyContent: 'center' }}&gt;&#10;&#10;            &lt;Box style={{ background: '#F4F7FA', borderRadius: 10, padding: '18px 22px', flexDirection: 'column', gap: 6 }}&gt;&#10;                &lt;Text style={{ fontSize: 13, fontFamily: 'Consolas', color: '#546779' }}&gt;# 读取本地 PNG，编码后随请求发送&lt;/Text&gt;&#10;                &lt;Text style={{ fontSize: 15, fontFamily: 'Consolas', color: '#20344B' }}&gt;python multimodal.py image data/reference-layout.png&lt;/Text&gt;&#10;            &lt;/Box&gt;&#10;&#10;            &lt;Box style={{ flexDirection: 'row', gap: 14, alignItems: 'center', background: '#EDF4FC', borderRadius: 10, padding: '16px 20px' }}&gt;&#10;                &lt;Box style={{ width: 4, height: 56, background: '#276FBF' }} /&gt;&#10;                &lt;Box style={{ flex: 1, flexDirection: 'column', gap: 3 }}&gt;&#10;                    &lt;Text style={{ fontSize: 16, fontWeight: 'bold', color: '#276FBF' }}&gt;运行前先确认资料适合发送&lt;/Text&gt;&#10;                    &lt;Text style={{ fontSize: 14, color: '#546779' }}&gt;教学示意图可以直接发；换成客户资料或他人隐私文件，先停下来判断。&lt;/Text&gt;&#10;                &lt;/Box&gt;&#10;            &lt;/Box&gt;&#10;&#10;            &lt;Box style={{ flexDirection: 'row', gap: 14, alignItems: 'center', background: '#FFF4E6', borderRadius: 10, padding: '16px 20px' }}&gt;&#10;                &lt;Box style={{ width: 4, height: 56, background: '#CB6B28' }} /&gt;&#10;                &lt;Box style={{ flex: 1, flexDirection: 'column', gap: 3 }}&gt;&#10;                    &lt;Text style={{ fontSize: 16, fontWeight: 'bold', color: '#CB6B28' }}&gt;不能填本机文件路径&lt;/Text&gt;&#10;                    &lt;Text style={{ fontSize: 14, color: '#546779' }}&gt;远端服务读不到你的磁盘；路径要由脚本读成内容再编码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08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2.11.2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OpenAI API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：把图片作为输入内容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图片进模型的三种提供方式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609600" y="1905000"/>
            <a:ext cx="41148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9" name=""/>
          <p:cNvSpPr/>
          <p:nvPr/>
        </p:nvSpPr>
        <p:spPr>
          <a:xfrm rot="0" flipH="0" flipV="0">
            <a:off x="781050" y="2057400"/>
            <a:ext cx="38100" cy="800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933450" y="2209800"/>
            <a:ext cx="3619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可访问的</a:t>
            </a:r>
            <a:r>
              <a:rPr lang="en-US" sz="14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URL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933450" y="2466975"/>
            <a:ext cx="3619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图片已经能被外部读取，直接把地址交给服务端去取。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609600" y="3162300"/>
            <a:ext cx="41148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3" name=""/>
          <p:cNvSpPr/>
          <p:nvPr/>
        </p:nvSpPr>
        <p:spPr>
          <a:xfrm rot="0" flipH="0" flipV="0">
            <a:off x="781050" y="3314700"/>
            <a:ext cx="38100" cy="800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933450" y="3343275"/>
            <a:ext cx="3619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Base64 </a:t>
            </a: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数据</a:t>
            </a:r>
            <a:r>
              <a:rPr lang="en-US" sz="14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URL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933450" y="3600450"/>
            <a:ext cx="36195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本机图片编码成一段文本，随请求一起发送，配套脚本走这条路。</a:t>
            </a:r>
            <a:endParaRPr/>
          </a:p>
        </p:txBody>
      </p:sp>
      <p:sp>
        <p:nvSpPr>
          <p:cNvPr id="686" name=""/>
          <p:cNvSpPr/>
          <p:nvPr/>
        </p:nvSpPr>
        <p:spPr>
          <a:xfrm rot="0" flipH="0" flipV="0">
            <a:off x="609600" y="4419600"/>
            <a:ext cx="41148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7" name=""/>
          <p:cNvSpPr/>
          <p:nvPr/>
        </p:nvSpPr>
        <p:spPr>
          <a:xfrm rot="0" flipH="0" flipV="0">
            <a:off x="781050" y="4572000"/>
            <a:ext cx="38100" cy="800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933450" y="4724400"/>
            <a:ext cx="3619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文档支持的文件方式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933450" y="4981575"/>
            <a:ext cx="3619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是否可用取决于当前服务；以执行时的文档为准，不凭记忆。</a:t>
            </a:r>
            <a:endParaRPr/>
          </a:p>
        </p:txBody>
      </p:sp>
      <p:sp>
        <p:nvSpPr>
          <p:cNvPr id="690" name=""/>
          <p:cNvSpPr/>
          <p:nvPr/>
        </p:nvSpPr>
        <p:spPr>
          <a:xfrm rot="0" flipH="0" flipV="0">
            <a:off x="4914900" y="2362200"/>
            <a:ext cx="66675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5124450" y="2533650"/>
            <a:ext cx="6248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 xml:space="preserve"># </a:t>
            </a:r>
            <a:r>
              <a:rPr lang="zh-CN" sz="975">
                <a:solidFill>
                  <a:srgbClr val="546779"/>
                </a:solidFill>
                <a:latin typeface="Consolas"/>
                <a:ea typeface="Consolas"/>
              </a:rPr>
              <a:t>读取本地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 xml:space="preserve"> PNG</a:t>
            </a:r>
            <a:r>
              <a:rPr lang="zh-CN" sz="975">
                <a:solidFill>
                  <a:srgbClr val="546779"/>
                </a:solidFill>
                <a:latin typeface="Consolas"/>
                <a:ea typeface="Consolas"/>
              </a:rPr>
              <a:t>，编码后随请求发送</a:t>
            </a:r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5124450" y="2743200"/>
            <a:ext cx="6248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>python multimodal.py image data/reference-layout.png</a:t>
            </a:r>
            <a:endParaRPr/>
          </a:p>
        </p:txBody>
      </p:sp>
      <p:sp>
        <p:nvSpPr>
          <p:cNvPr id="693" name=""/>
          <p:cNvSpPr/>
          <p:nvPr/>
        </p:nvSpPr>
        <p:spPr>
          <a:xfrm rot="0" flipH="0" flipV="0">
            <a:off x="4914900" y="3238500"/>
            <a:ext cx="66675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94" name=""/>
          <p:cNvSpPr/>
          <p:nvPr/>
        </p:nvSpPr>
        <p:spPr>
          <a:xfrm rot="0" flipH="0" flipV="0">
            <a:off x="5105400" y="339090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5276850" y="3467100"/>
            <a:ext cx="6115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运行前先确认资料适合发送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5276850" y="3686175"/>
            <a:ext cx="611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教学示意图可以直接发；换成客户资料或他人隐私文件，先停下来判断。</a:t>
            </a:r>
            <a:endParaRPr/>
          </a:p>
        </p:txBody>
      </p:sp>
      <p:sp>
        <p:nvSpPr>
          <p:cNvPr id="697" name=""/>
          <p:cNvSpPr/>
          <p:nvPr/>
        </p:nvSpPr>
        <p:spPr>
          <a:xfrm rot="0" flipH="0" flipV="0">
            <a:off x="4914900" y="4229100"/>
            <a:ext cx="66675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98" name=""/>
          <p:cNvSpPr/>
          <p:nvPr/>
        </p:nvSpPr>
        <p:spPr>
          <a:xfrm rot="0" flipH="0" flipV="0">
            <a:off x="5105400" y="438150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5276850" y="4457700"/>
            <a:ext cx="6115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不能填本机文件路径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5276850" y="4676775"/>
            <a:ext cx="611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远端服务读不到你的磁盘；路径要由脚本读成内容再编码。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26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703" name="" descr="&lt;Slide notes={`一次读图请求其实只有四项要交代清楚。&#10;&#10;model 决定这次用哪个模型，而它必须支持视觉输入，否则图片这一项不会被处理。&#10;&#10;instructions 是本次的行为要求，这里写的是&quot;描述可见信息，区分图片观察与未知事实&quot;。这句话不是客套，它直接决定模型会不会把推测说成观察。&#10;&#10;input 是一条 user 消息，里面装两个内容项：input_text 提出要问的问题，input_image 给出要看的那张图。图片那一项用的是脚本生成的数据 URL。&#10;&#10;图像尺寸、细节设置和输入用量都会影响耗时和费用。宁可清晰、方向正确，也不要把关键文字压到认不出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1.2　OpenAI API：把图片作为输入内容&lt;/Text&gt;&#10;            &lt;Text style={{ fontSize: 34, fontWeight: 'bold', color: '#20344B' }}&gt;一次读图请求的四个要素&lt;/Text&gt;&#10;        &lt;/Box&gt;&#10;    &lt;/Box&gt;&#10;&#10;    &lt;Box style={{ height: 540, flexDirection: 'column', justifyContent: 'center', gap: 16 }}&gt;&#10;&#10;        &lt;Box style={{ flexDirection: 'row', alignItems: 'center', gap: 12 }}&gt;&#10;            &lt;Box style={{ width: 4, height: 20, background: '#CB6B28' }} /&gt;&#10;            &lt;Text style={{ fontSize: 15, color: '#CB6B28' }}&gt;图片尺寸、细节设置与输入用量会影响耗时和费用；先用清晰、方向正确、信息充分的图。&lt;/Text&gt;&#10;        &lt;/Box&gt;&#10;&#10;        &lt;Box style={{ background: '#F4F7FA', borderRadius: 10, padding: '18px 24px', flexDirection: 'column', gap: 3 }}&gt;&#10;            &lt;Text style={{ fontSize: 15, fontFamily: 'Consolas', color: '#20344B' }}&gt;response = client.responses.create(&lt;/Text&gt;&#10;            &lt;Text style={{ fontSize: 15, fontFamily: 'Consolas', color: '#276FBF' }}&gt;    model         = model　　# 必须支持视觉输入&lt;/Text&gt;&#10;            &lt;Text style={{ fontSize: 15, fontFamily: 'Consolas', color: '#276FBF' }}&gt;    instructions  = '描述可见信息，区分图片观察与未知事实。'&lt;/Text&gt;&#10;            &lt;Text style={{ fontSize: 15, fontFamily: 'Consolas', color: '#20344B' }}&gt;    input         = 一条 user 消息，content 里有两个内容项&lt;/Text&gt;&#10;            &lt;Text style={{ fontSize: 15, fontFamily: 'Consolas', color: '#20344B' }}&gt;        type      = input_text　　列出图中的房间，说明哪些预约事实无法从图中判断&lt;/Text&gt;&#10;            &lt;Text style={{ fontSize: 15, fontFamily: 'Consolas', color: '#26816B' }}&gt;        type      = input_image　图片内容，用脚本生成的 image_data_url&lt;/Text&gt;&#10;            &lt;Text style={{ fontSize: 15, fontFamily: 'Consolas', color: '#20344B' }}&gt;)&lt;/Text&gt;&#10;        &lt;/Box&gt;&#10;&#10;        &lt;Box style={{ flexDirection: 'row', gap: 20 }}&gt;&#10;&#10;            &lt;Box style={{ width: 273, height: 148, background: '#EDF4FC', borderRadius: 10, padding: '16px 18px', flexDirection: 'column', gap: 6 }}&gt;&#10;                &lt;Text style={{ fontSize: 20, fontWeight: 'bold', color: '#276FBF' }}&gt;model&lt;/Text&gt;&#10;                &lt;Text style={{ fontSize: 14, color: '#546779', lineHeight: 1.55 }}&gt;这次用哪个模型，必须是账户可用且支持视觉输入的模型。&lt;/Text&gt;&#10;            &lt;/Box&gt;&#10;&#10;            &lt;Box style={{ width: 273, height: 148, background: '#EDF4FC', borderRadius: 10, padding: '16px 18px', flexDirection: 'column', gap: 6 }}&gt;&#10;                &lt;Text style={{ fontSize: 20, fontWeight: 'bold', color: '#276FBF' }}&gt;instructions&lt;/Text&gt;&#10;                &lt;Text style={{ fontSize: 14, color: '#546779', lineHeight: 1.55 }}&gt;本次行为要求：只说可见信息，把图片观察和未知事实分开。&lt;/Text&gt;&#10;            &lt;/Box&gt;&#10;&#10;            &lt;Box style={{ width: 273, height: 148, background: '#EDF4FC', borderRadius: 10, padding: '16px 18px', flexDirection: 'column', gap: 6 }}&gt;&#10;                &lt;Text style={{ fontSize: 20, fontWeight: 'bold', color: '#276FBF' }}&gt;input_text&lt;/Text&gt;&#10;                &lt;Text style={{ fontSize: 14, color: '#546779', lineHeight: 1.55 }}&gt;本次要问的问题：列出房间，并说明哪些预约事实图里答不了。&lt;/Text&gt;&#10;            &lt;/Box&gt;&#10;&#10;            &lt;Box style={{ width: 273, height: 148, background: '#ECF7F2', borderRadius: 10, padding: '16px 18px', flexDirection: 'column', gap: 6 }}&gt;&#10;                &lt;Text style={{ fontSize: 20, fontWeight: 'bold', color: '#26816B' }}&gt;input_image&lt;/Text&gt;&#10;                &lt;Text style={{ fontSize: 14, color: '#546779', lineHeight: 1.55 }}&gt;要看的那张图，内容来自脚本生成的 image_data_url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09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2.11.2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OpenAI API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：把图片作为输入内容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一次读图请求的四个要素</a:t>
            </a:r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609600" y="1905000"/>
            <a:ext cx="38100" cy="190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762000" y="1914525"/>
            <a:ext cx="571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图片尺寸、细节设置与输入用量会影响耗时和费用；先用清晰、方向正确、信息充分的图。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609600" y="2247900"/>
            <a:ext cx="10972800" cy="171450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838200" y="2419350"/>
            <a:ext cx="1051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>response = client.responses.create(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838200" y="2619375"/>
            <a:ext cx="1051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Consolas"/>
                <a:ea typeface="Consolas"/>
              </a:rPr>
              <a:t xml:space="preserve">    model         = model</a:t>
            </a:r>
            <a:r>
              <a:rPr lang="zh-CN" sz="1125">
                <a:solidFill>
                  <a:srgbClr val="276FBF"/>
                </a:solidFill>
                <a:latin typeface="Consolas"/>
                <a:ea typeface="Consolas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Consolas"/>
                <a:ea typeface="Consolas"/>
              </a:rPr>
              <a:t xml:space="preserve"># </a:t>
            </a:r>
            <a:r>
              <a:rPr lang="zh-CN" sz="1125">
                <a:solidFill>
                  <a:srgbClr val="276FBF"/>
                </a:solidFill>
                <a:latin typeface="Consolas"/>
                <a:ea typeface="Consolas"/>
              </a:rPr>
              <a:t>必须支持视觉输入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838200" y="2819400"/>
            <a:ext cx="1051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Consolas"/>
                <a:ea typeface="Consolas"/>
              </a:rPr>
              <a:t xml:space="preserve">    instructions  = '</a:t>
            </a:r>
            <a:r>
              <a:rPr lang="zh-CN" sz="1125">
                <a:solidFill>
                  <a:srgbClr val="276FBF"/>
                </a:solidFill>
                <a:latin typeface="Consolas"/>
                <a:ea typeface="Consolas"/>
              </a:rPr>
              <a:t>描述可见信息，区分图片观察与未知事实。</a:t>
            </a:r>
            <a:r>
              <a:rPr lang="en-US" sz="1125">
                <a:solidFill>
                  <a:srgbClr val="276FBF"/>
                </a:solidFill>
                <a:latin typeface="Consolas"/>
                <a:ea typeface="Consolas"/>
              </a:rPr>
              <a:t>'</a:t>
            </a:r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838200" y="3019425"/>
            <a:ext cx="1051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 xml:space="preserve">    input         = </a:t>
            </a:r>
            <a:r>
              <a:rPr lang="zh-CN" sz="1125">
                <a:solidFill>
                  <a:srgbClr val="20344B"/>
                </a:solidFill>
                <a:latin typeface="Consolas"/>
                <a:ea typeface="Consolas"/>
              </a:rPr>
              <a:t>一条</a:t>
            </a: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 xml:space="preserve"> user </a:t>
            </a:r>
            <a:r>
              <a:rPr lang="zh-CN" sz="1125">
                <a:solidFill>
                  <a:srgbClr val="20344B"/>
                </a:solidFill>
                <a:latin typeface="Consolas"/>
                <a:ea typeface="Consolas"/>
              </a:rPr>
              <a:t>消息，</a:t>
            </a: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 xml:space="preserve">content </a:t>
            </a:r>
            <a:r>
              <a:rPr lang="zh-CN" sz="1125">
                <a:solidFill>
                  <a:srgbClr val="20344B"/>
                </a:solidFill>
                <a:latin typeface="Consolas"/>
                <a:ea typeface="Consolas"/>
              </a:rPr>
              <a:t>里有两个内容项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838200" y="3219450"/>
            <a:ext cx="1051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 xml:space="preserve">        type      = input_text</a:t>
            </a:r>
            <a:r>
              <a:rPr lang="zh-CN" sz="1125">
                <a:solidFill>
                  <a:srgbClr val="20344B"/>
                </a:solidFill>
                <a:latin typeface="Consolas"/>
                <a:ea typeface="Consolas"/>
              </a:rPr>
              <a:t>　　列出图中的房间，说明哪些预约事实无法从图中判断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838200" y="3419475"/>
            <a:ext cx="1051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Consolas"/>
                <a:ea typeface="Consolas"/>
              </a:rPr>
              <a:t xml:space="preserve">        type      = input_image</a:t>
            </a:r>
            <a:r>
              <a:rPr lang="zh-CN" sz="1125">
                <a:solidFill>
                  <a:srgbClr val="26816B"/>
                </a:solidFill>
                <a:latin typeface="Consolas"/>
                <a:ea typeface="Consolas"/>
              </a:rPr>
              <a:t>　图片内容，用脚本生成的</a:t>
            </a:r>
            <a:r>
              <a:rPr lang="en-US" sz="1125">
                <a:solidFill>
                  <a:srgbClr val="26816B"/>
                </a:solidFill>
                <a:latin typeface="Consolas"/>
                <a:ea typeface="Consolas"/>
              </a:rPr>
              <a:t xml:space="preserve"> image_data_url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838200" y="3619500"/>
            <a:ext cx="1051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>)</a:t>
            </a:r>
            <a:endParaRPr/>
          </a:p>
        </p:txBody>
      </p:sp>
      <p:sp>
        <p:nvSpPr>
          <p:cNvPr id="718" name=""/>
          <p:cNvSpPr/>
          <p:nvPr/>
        </p:nvSpPr>
        <p:spPr>
          <a:xfrm rot="0" flipH="0" flipV="0">
            <a:off x="609600" y="4114800"/>
            <a:ext cx="2600325" cy="1409700"/>
          </a:xfrm>
          <a:prstGeom prst="roundRect">
            <a:avLst>
              <a:gd name="adj" fmla="val 675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781050" y="4267200"/>
            <a:ext cx="2257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model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781050" y="4552950"/>
            <a:ext cx="22574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这次用哪个模型，必须是账户可用且支持视觉输入的模型。</a:t>
            </a:r>
            <a:endParaRPr/>
          </a:p>
        </p:txBody>
      </p:sp>
      <p:sp>
        <p:nvSpPr>
          <p:cNvPr id="721" name=""/>
          <p:cNvSpPr/>
          <p:nvPr/>
        </p:nvSpPr>
        <p:spPr>
          <a:xfrm rot="0" flipH="0" flipV="0">
            <a:off x="3400425" y="4114800"/>
            <a:ext cx="2600325" cy="1409700"/>
          </a:xfrm>
          <a:prstGeom prst="roundRect">
            <a:avLst>
              <a:gd name="adj" fmla="val 675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3571875" y="4267200"/>
            <a:ext cx="2257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instructions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3571875" y="4552950"/>
            <a:ext cx="22574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本次行为要求：只说可见信息，把图片观察和未知事实分开。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6191250" y="4114800"/>
            <a:ext cx="2600325" cy="1409700"/>
          </a:xfrm>
          <a:prstGeom prst="roundRect">
            <a:avLst>
              <a:gd name="adj" fmla="val 675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6362700" y="4267200"/>
            <a:ext cx="2257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input_text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6362700" y="4552950"/>
            <a:ext cx="22574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本次要问的问题：列出房间，并说明哪些预约事实图里答不了。</a:t>
            </a:r>
            <a:endParaRPr/>
          </a:p>
        </p:txBody>
      </p:sp>
      <p:sp>
        <p:nvSpPr>
          <p:cNvPr id="727" name=""/>
          <p:cNvSpPr/>
          <p:nvPr/>
        </p:nvSpPr>
        <p:spPr>
          <a:xfrm rot="0" flipH="0" flipV="0">
            <a:off x="8982075" y="4114800"/>
            <a:ext cx="2600325" cy="1409700"/>
          </a:xfrm>
          <a:prstGeom prst="roundRect">
            <a:avLst>
              <a:gd name="adj" fmla="val 675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9153525" y="4267200"/>
            <a:ext cx="2257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>input_image</a:t>
            </a:r>
            <a:endParaRPr/>
          </a:p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9153525" y="4552950"/>
            <a:ext cx="22574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要看的那张图，内容来自脚本生成的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image_data_url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26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3" name="" descr="&lt;Slide notes={`模型回了一段很流畅的场馆介绍，这时候最容易放松。要挡住这种感觉，就把验收拆成三个问题分别问。&#10;&#10;第一个问题：三个房间都识别对了吗？这是 OCR 层面的核对，逐个比对名称就行。&#10;&#10;第二个问题：图中相对位置描述对了吗？比如哪些房间挨着走廊。这属于视觉理解，要对着图看它有没有说反。&#10;&#10;第三个问题，也是最关键的一个：它有没有承认，真实的预约情况从图里看不出来？如果它对预约状态说得头头是道，那说明它在编。&#10;&#10;三个问题各管一段，只要有一段没过，就不能说这次读图通过了。不要因为整段话读起来顺，就默认所有视觉问题都已经解决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1.2　OpenAI API：把图片作为输入内容&lt;/Text&gt;&#10;            &lt;Text style={{ fontSize: 34, fontWeight: 'bold', color: '#20344B' }}&gt;验收要把问题拆开问&lt;/Text&gt;&#10;        &lt;/Box&gt;&#10;    &lt;/Box&gt;&#10;&#10;    &lt;Box style={{ height: 540, flexDirection: 'column', justifyContent: 'center', gap: 18 }}&gt;&#10;&#10;        &lt;Box style={{ flexDirection: 'row', gap: 24 }}&gt;&#10;&#10;            &lt;Box style={{ width: 368, height: 210, background: '#EDF4FC', borderRadius: 10, padding: '20px 22px', flexDirection: 'column', gap: 8 }}&gt;&#10;                &lt;Text style={{ fontSize: 22, fontWeight: 'bold', color: '#276FBF' }}&gt;房间认得准吗&lt;/Text&gt;&#10;                &lt;Box style={{ width: 48, height: 3, background: '#276FBF' }} /&gt;&#10;                &lt;Text style={{ fontSize: 15, color: '#546779', lineHeight: 1.6 }}&gt;逐个比对名称，看有没有把三个房间识别错。这一层只管字符对不对。&lt;/Text&gt;&#10;            &lt;/Box&gt;&#10;&#10;            &lt;Box style={{ width: 368, height: 210, background: '#EDF4FC', borderRadius: 10, padding: '20px 22px', flexDirection: 'column', gap: 8 }}&gt;&#10;                &lt;Text style={{ fontSize: 22, fontWeight: 'bold', color: '#276FBF' }}&gt;位置说对了吗&lt;/Text&gt;&#10;                &lt;Box style={{ width: 48, height: 3, background: '#276FBF' }} /&gt;&#10;                &lt;Text style={{ fontSize: 15, color: '#546779', lineHeight: 1.6 }}&gt;对着图检查相对位置有没有说反，有没有从相邻推出实际不存在的门。&lt;/Text&gt;&#10;            &lt;/Box&gt;&#10;&#10;            &lt;Box style={{ width: 368, height: 210, background: '#FFF4E6', borderRadius: 10, padding: '20px 22px', flexDirection: 'column', gap: 8 }}&gt;&#10;                &lt;Text style={{ fontSize: 22, fontWeight: 'bold', color: '#CB6B28' }}&gt;承认看不出预约吗&lt;/Text&gt;&#10;                &lt;Box style={{ width: 48, height: 3, background: '#CB6B28' }} /&gt;&#10;                &lt;Text style={{ fontSize: 15, color: '#546779', lineHeight: 1.6 }}&gt;这是最关键的一问。如果它对预约状态说得头头是道，那是在编，不是在读。&lt;/Text&gt;&#10;            &lt;/Box&gt;&#10;&#10;        &lt;/Box&gt;&#10;&#10;        &lt;Box style={{ flexDirection: 'row', alignItems: 'center', gap: 16, background: '#F4F7FA', borderRadius: 10, padding: '18px 22px' }}&gt;&#10;            &lt;Box style={{ width: 4, height: 44, background: '#CB6B28' }} /&gt;&#10;            &lt;Box style={{ flex: 1, flexDirection: 'column', gap: 3 }}&gt;&#10;                &lt;Text style={{ fontSize: 17, fontWeight: 'bold', color: '#CB6B28' }}&gt;不要因一段流畅的场馆介绍，就判所有视觉问题都已通过&lt;/Text&gt;&#10;                &lt;Text style={{ fontSize: 14, color: '#546779' }}&gt;三个问题各管一段，任何一段没过，这次读图就没有通过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10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2.11.2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OpenAI API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：把图片作为输入内容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验收要把问题拆开问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09600" y="2247900"/>
            <a:ext cx="3505200" cy="2000250"/>
          </a:xfrm>
          <a:prstGeom prst="roundRect">
            <a:avLst>
              <a:gd name="adj" fmla="val 476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19150" y="2438400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房间认得准吗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819150" y="2771775"/>
            <a:ext cx="457200" cy="28575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19150" y="2876550"/>
            <a:ext cx="3086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逐个比对名称，看有没有把三个房间识别错。这一层只管字符对不对。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4343400" y="2247900"/>
            <a:ext cx="3505200" cy="2000250"/>
          </a:xfrm>
          <a:prstGeom prst="roundRect">
            <a:avLst>
              <a:gd name="adj" fmla="val 476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4552950" y="2438400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位置说对了吗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4552950" y="2771775"/>
            <a:ext cx="457200" cy="28575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4552950" y="2876550"/>
            <a:ext cx="3086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对着图检查相对位置有没有说反，有没有从相邻推出实际不存在的门。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8077200" y="2247900"/>
            <a:ext cx="3505200" cy="2000250"/>
          </a:xfrm>
          <a:prstGeom prst="roundRect">
            <a:avLst>
              <a:gd name="adj" fmla="val 476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286750" y="2438400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承认看不出预约吗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8286750" y="2771775"/>
            <a:ext cx="457200" cy="28575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286750" y="2876550"/>
            <a:ext cx="3086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这是最关键的一问。如果它对预约状态说得头头是道，那是在编，不是在读。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09600" y="4419600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819150" y="459105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009650" y="4610100"/>
            <a:ext cx="10363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不要因一段流畅的场馆介绍，就判所有视觉问题都已通过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009650" y="4838700"/>
            <a:ext cx="1036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三个问题各管一段，任何一段没过，这次读图就没有通过。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26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6" name="" descr="&lt;Slide notes={`从读图转向语音，要处理的其实是同一类问题：这段输入能证明什么。&#10;&#10;录音和图片不一样，它是时间的、连续的，机器要先把它变成文字才能进入后面的流程。这一步叫转写。转写完成不等于事情办完，它只是把声音换了一种形式。&#10;&#10;负责人说&quot;手作体验十个人，十点半开始&quot;，转写出来是一句话。这句话里有几个数字和时点，恰恰是最容易出错的地方。&#10;&#10;后面还有两条不同的路线：把已经确认的方案读出来，属于语音合成；要实时双向对话，还要处理会话、流式音频、打断和延迟。&#10;&#10;音频任务不能用一个文本模型配置全部套上去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3&lt;/Text&gt;&#10;            &lt;/Box&gt;&#10;            &lt;Text style={{ fontSize: 16, color: '#546779' }}&gt;2.11.3&lt;/Text&gt;&#10;        &lt;/Box&gt;&#10;&#10;        &lt;Text style={{ fontSize: 56, fontWeight: 'bold', color: '#20344B', lineHeight: 1.15 }}&gt;先转写，再确认关键事实&lt;/Text&gt;&#10;&#10;        &lt;Box style={{ width: 640, height: 4, background: '#276FBF' }} /&gt;&#10;&#10;        &lt;Text style={{ fontSize: 19, color: '#546779', lineHeight: 1.7 }}&gt;转写把声音变成文字，核对仍然要人来做。&lt;/Text&gt;&#10;&#10;        &lt;Box style={{ marginTop: 8, flexDirection: 'row', gap: 16 }}&gt;&#10;            &lt;Box style={{ width: 300, height: 56, background: '#EDF4FC', borderRadius: 8, flexDirection: 'column', justifyContent: 'center', alignItems: 'center', gap: 2 }}&gt;&#10;                &lt;Text style={{ fontSize: 15, fontWeight: 'bold', color: '#276FBF' }}&gt;文件转写&lt;/Text&gt;&#10;                &lt;Text style={{ fontSize: 13, color: '#546779' }}&gt;录音变成文本&lt;/Text&gt;&#10;            &lt;/Box&gt;&#10;            &lt;Box style={{ width: 300, height: 56, background: '#EDF4FC', borderRadius: 8, flexDirection: 'column', justifyContent: 'center', alignItems: 'center', gap: 2 }}&gt;&#10;                &lt;Text style={{ fontSize: 15, fontWeight: 'bold', color: '#276FBF' }}&gt;语音合成&lt;/Text&gt;&#10;                &lt;Text style={{ fontSize: 13, color: '#546779' }}&gt;把确认的方案读出来&lt;/Text&gt;&#10;            &lt;/Box&gt;&#10;            &lt;Box style={{ width: 300, height: 56, background: '#EDF4FC', borderRadius: 8, flexDirection: 'column', justifyContent: 'center', alignItems: 'center', gap: 2 }}&gt;&#10;                &lt;Text style={{ fontSize: 15, fontWeight: 'bold', color: '#276FBF' }}&gt;实时会话&lt;/Text&gt;&#10;                &lt;Text style={{ fontSize: 13, color: '#546779' }}&gt;还要处理打断与延迟&lt;/Text&gt;&#10;            &lt;/Box&gt;&#10;        &lt;/Box&gt;&#10;&#10;        &lt;Box style={{ flexDirection: 'row', justifyContent: 'center' }}&gt;&#10;            &lt;Box style={{ width: 300, height: 26, justifyContent: 'center', alignItems: 'center' }}&gt;&lt;Text style={{ fontSize: 18, color: '#26816B' }}&gt;↓&lt;/Text&gt;&lt;/Box&gt;&#10;        &lt;/Box&gt;&#10;&#10;        &lt;Box style={{ flexDirection: 'row', justifyContent: 'center' }}&gt;&#10;            &lt;Box style={{ width: 620, height: 56, background: '#ECF7F2', borderRadius: 8, justifyContent: 'center', alignItems: 'center' }}&gt;&#10;                &lt;Text style={{ fontSize: 17, fontWeight: 'bold', color: '#26816B' }}&gt;数字、时间、否定词与人名，回听原音频核对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11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609600" y="6572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14375" y="7620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295400" y="828675"/>
            <a:ext cx="43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2.11.3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先转写，再确认关键事实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09600" y="231457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09600" y="25431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转写把声音变成文字，核对仍然要人来做。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09600" y="3181350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752600" y="32766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文件转写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666875" y="346710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录音变成文本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3619500" y="3181350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762500" y="32766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语音合成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495800" y="34671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把确认的方案读出来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6629400" y="3181350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772400" y="32766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实时会话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505700" y="34671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还要处理打断与延迟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057900" y="39243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3143250" y="4343400"/>
            <a:ext cx="59055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476750" y="451485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数字、时间、否定词与人名，回听原音频核对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26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78" name="" descr="&lt;Slide notes={`把图片、录音和网页截图放在一起看，它们的取证边界其实差得很远。&#10;&#10;先看图片。它能证明的是图上写了哪些名称，以及谁挨着走廊。业务事实它一个都证明不了，容量要去 rooms.csv 查，预约要去 availability.json 查。&#10;&#10;再看录音。转写之后我们拿到的是文字，能证明这个人说了什么。但数字和时点特别容易错，&quot;十点&quot;和&quot;十点半&quot;只差一个字，业务结果完全不同，所以人数、时间、否定词和人名都要回听原音频确认。&#10;&#10;最后是网页截图。它只能证明这一次页面上显示成什么样。哪怕页面明明白白写着空闲，也不能证明后台的预约已经提交——这两件事之间隔着一次真正的写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1.3　语音：先转写，再确认关键事实&lt;/Text&gt;&#10;            &lt;Text style={{ fontSize: 34, fontWeight: 'bold', color: '#20344B' }}&gt;图像、语音与截图的证据范围&lt;/Text&gt;&#10;        &lt;/Box&gt;&#10;    &lt;/Box&gt;&#10;&#10;    &lt;Box style={{ height: 540, flexDirection: 'column', justifyContent: 'center', gap: 14 }}&gt;&#10;&#10;        &lt;Box style={{ flexDirection: 'row', justifyContent: 'center', gap: 24 }}&gt;&#10;&#10;            &lt;Box style={{ width: 368, background: '#F4F7FA', borderRadius: 12, padding: 18, flexDirection: 'column', gap: 10 }}&gt;&#10;                &lt;Box style={{ height: 56, background: '#EDF4FC', borderRadius: 8, justifyContent: 'center', alignItems: 'center' }}&gt;&#10;                    &lt;Text style={{ fontSize: 20, fontWeight: 'bold', color: '#276FBF' }}&gt;图片　平面示意&lt;/Text&gt;&#10;                &lt;/Box&gt;&#10;                &lt;Text style={{ fontSize: 14, color: '#546779' }}&gt;可以证明&lt;/Text&gt;&#10;                &lt;Box style={{ height: 90, background: '#FFFFFF', borderRadius: 8, padding: '12px 14px' }}&gt;&#10;                    &lt;Text style={{ fontSize: 15, color: '#20344B', lineHeight: 1.55 }}&gt;图上写了哪些房间名称，谁挨着公共走廊。&lt;/Text&gt;&#10;                &lt;/Box&gt;&#10;                &lt;Text style={{ fontSize: 14, color: '#546779' }}&gt;还要另查&lt;/Text&gt;&#10;                &lt;Box style={{ height: 112, background: '#ECF7F2', borderRadius: 8, padding: '12px 14px' }}&gt;&#10;                    &lt;Text style={{ fontSize: 15, color: '#26816B', lineHeight: 1.55 }}&gt;容量查 rooms.csv，预约查 availability.json。&lt;/Text&gt;&#10;                &lt;/Box&gt;&#10;            &lt;/Box&gt;&#10;&#10;            &lt;Box style={{ width: 368, background: '#F4F7FA', borderRadius: 12, padding: 18, flexDirection: 'column', gap: 10 }}&gt;&#10;                &lt;Box style={{ height: 56, background: '#EDF4FC', borderRadius: 8, justifyContent: 'center', alignItems: 'center' }}&gt;&#10;                    &lt;Text style={{ fontSize: 20, fontWeight: 'bold', color: '#276FBF' }}&gt;录音　负责人口述&lt;/Text&gt;&#10;                &lt;/Box&gt;&#10;                &lt;Text style={{ fontSize: 14, color: '#546779' }}&gt;可以证明&lt;/Text&gt;&#10;                &lt;Box style={{ height: 90, background: '#FFFFFF', borderRadius: 8, padding: '12px 14px' }}&gt;&#10;                    &lt;Text style={{ fontSize: 15, color: '#20344B', lineHeight: 1.55 }}&gt;把声音转成文字之后，能读到这个人说了什么。&lt;/Text&gt;&#10;                &lt;/Box&gt;&#10;                &lt;Text style={{ fontSize: 14, color: '#546779' }}&gt;还要另查&lt;/Text&gt;&#10;                &lt;Box style={{ height: 112, background: '#ECF7F2', borderRadius: 8, padding: '12px 14px' }}&gt;&#10;                    &lt;Text style={{ fontSize: 15, color: '#26816B', lineHeight: 1.55 }}&gt;人数、时间、否定词与人名，回听原音频确认。&lt;/Text&gt;&#10;                &lt;/Box&gt;&#10;            &lt;/Box&gt;&#10;&#10;            &lt;Box style={{ width: 368, background: '#F4F7FA', borderRadius: 12, padding: 18, flexDirection: 'column', gap: 10 }}&gt;&#10;                &lt;Box style={{ height: 56, background: '#FFF4E6', borderRadius: 8, justifyContent: 'center', alignItems: 'center' }}&gt;&#10;                    &lt;Text style={{ fontSize: 20, fontWeight: 'bold', color: '#CB6B28' }}&gt;网页截图　本次可见&lt;/Text&gt;&#10;                &lt;/Box&gt;&#10;                &lt;Text style={{ fontSize: 14, color: '#546779' }}&gt;可以证明&lt;/Text&gt;&#10;                &lt;Box style={{ height: 90, background: '#FFFFFF', borderRadius: 8, padding: '12px 14px' }}&gt;&#10;                    &lt;Text style={{ fontSize: 15, color: '#20344B', lineHeight: 1.55 }}&gt;这一次页面上显示成什么样，仅此而已。&lt;/Text&gt;&#10;                &lt;/Box&gt;&#10;                &lt;Text style={{ fontSize: 14, color: '#546779' }}&gt;还要另查&lt;/Text&gt;&#10;                &lt;Box style={{ height: 112, background: '#FFF4E6', borderRadius: 8, padding: '12px 14px' }}&gt;&#10;                    &lt;Text style={{ fontSize: 15, color: '#CB6B28', lineHeight: 1.55 }}&gt;即使页面显示空闲，也不证明后台预约已提交。&lt;/Text&gt;&#10;                &lt;/Box&gt;&#10;            &lt;/Box&gt;&#10;&#10;        &lt;/Box&gt;&#10;&#10;        &lt;Box style={{ flexDirection: 'row', alignItems: 'center', gap: 16, background: '#F4F7FA', borderRadius: 10, padding: '16px 22px' }}&gt;&#10;            &lt;Box style={{ width: 4, height: 40, background: '#276FBF' }} /&gt;&#10;            &lt;Text style={{ fontSize: 16, color: '#20344B', lineHeight: 1.5 }}&gt;三种输入，三种边界：图片只看标注与相对位置，录音先转写再回听，截图只说明本次页面状态。&lt;/Text&gt;&#10;        &lt;/Box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12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2.11.3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语音：先转写，再确认关键事实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图像、语音与截图的证据范围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609600" y="1552575"/>
            <a:ext cx="3505200" cy="3505200"/>
          </a:xfrm>
          <a:prstGeom prst="roundRect">
            <a:avLst>
              <a:gd name="adj" fmla="val 326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4" name=""/>
          <p:cNvSpPr/>
          <p:nvPr/>
        </p:nvSpPr>
        <p:spPr>
          <a:xfrm rot="0" flipH="0" flipV="0">
            <a:off x="781050" y="1724025"/>
            <a:ext cx="31623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695450" y="1876425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图片　平面示意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781050" y="2352675"/>
            <a:ext cx="3162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可以证明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781050" y="2609850"/>
            <a:ext cx="31623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914400" y="2724150"/>
            <a:ext cx="28956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图上写了哪些房间名称，谁挨着公共走廊。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81050" y="3562350"/>
            <a:ext cx="3162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还要另查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781050" y="3819525"/>
            <a:ext cx="3162300" cy="1066800"/>
          </a:xfrm>
          <a:prstGeom prst="roundRect">
            <a:avLst>
              <a:gd name="adj" fmla="val 71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914400" y="3933825"/>
            <a:ext cx="28956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容量查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 rooms.csv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，预约查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 availability.json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4343400" y="1552575"/>
            <a:ext cx="3505200" cy="3505200"/>
          </a:xfrm>
          <a:prstGeom prst="roundRect">
            <a:avLst>
              <a:gd name="adj" fmla="val 326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4514850" y="1724025"/>
            <a:ext cx="31623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5334000" y="1876425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录音　负责人口述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514850" y="2352675"/>
            <a:ext cx="3162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可以证明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4514850" y="2609850"/>
            <a:ext cx="31623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4648200" y="2724150"/>
            <a:ext cx="28956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把声音转成文字之后，能读到这个人说了什么。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4514850" y="3562350"/>
            <a:ext cx="3162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还要另查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4514850" y="3819525"/>
            <a:ext cx="3162300" cy="1066800"/>
          </a:xfrm>
          <a:prstGeom prst="roundRect">
            <a:avLst>
              <a:gd name="adj" fmla="val 71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4648200" y="3933825"/>
            <a:ext cx="28956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人数、时间、否定词与人名，回听原音频确认。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8077200" y="1552575"/>
            <a:ext cx="3505200" cy="3505200"/>
          </a:xfrm>
          <a:prstGeom prst="roundRect">
            <a:avLst>
              <a:gd name="adj" fmla="val 326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2" name=""/>
          <p:cNvSpPr/>
          <p:nvPr/>
        </p:nvSpPr>
        <p:spPr>
          <a:xfrm rot="0" flipH="0" flipV="0">
            <a:off x="8248650" y="1724025"/>
            <a:ext cx="316230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972550" y="1876425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网页截图　本次可见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248650" y="2352675"/>
            <a:ext cx="3162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可以证明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8248650" y="2609850"/>
            <a:ext cx="31623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382000" y="2724150"/>
            <a:ext cx="28956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这一次页面上显示成什么样，仅此而已。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248650" y="3562350"/>
            <a:ext cx="3162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还要另查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8248650" y="3819525"/>
            <a:ext cx="3162300" cy="10668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382000" y="3933825"/>
            <a:ext cx="28956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即使页面显示空闲，也不证明后台预约已提交。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09600" y="519112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819150" y="53435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009650" y="5400675"/>
            <a:ext cx="6553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三种输入，三种边界：图片只看标注与相对位置，录音先转写再回听，截图只说明本次页面状态。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26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15" name="" descr="&lt;Slide notes={`录音转成文字以后，还不能直接交给排期助手。要先把几类特别容易出错的项挑出来核对。&#10;&#10;第一类是人名。负责人是谁，直接影响这条需求由谁确认，听错了后续就找不到人。&#10;&#10;第二类是时间。负责人说&quot;十点半开始&quot;，如果转写成&quot;十点开始&quot;，机器照做，排出来的场次就全错了。这两个说法只差几个字，业务结果完全不同。&#10;&#10;第三类是人数。十个人还是一个班的人，决定了哪个房间放得下。&#10;&#10;第四类是否定词。中文里&quot;不用加椅子&quot;&quot;不安排在上午&quot;，一个&quot;不&quot;字听漏了，意思就反过来了。&#10;&#10;这四类都要回听原音频确认。确认之后的文本，才可以进入后面的结构化流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1.3　语音：先转写，再确认关键事实&lt;/Text&gt;&#10;            &lt;Text style={{ fontSize: 34, fontWeight: 'bold', color: '#20344B' }}&gt;从录音到可核对的结构化需求&lt;/Text&gt;&#10;        &lt;/Box&gt;&#10;    &lt;/Box&gt;&#10;&#10;    &lt;Box style={{ height: 540, flexDirection: 'row', justifyContent: 'center', alignItems: 'center', gap: 20 }}&gt;&#10;&#10;        &lt;Box style={{ width: 620, flexDirection: 'column', gap: 14 }}&gt;&#10;&#10;            &lt;Box style={{ background: '#F4F7FA', borderRadius: 10, padding: '14px 18px', flexDirection: 'row', gap: 12, alignItems: 'center' }}&gt;&#10;                &lt;Box style={{ width: 4, height: 66, background: '#276FBF' }} /&gt;&#10;                &lt;Box style={{ flex: 1, flexDirection: 'column', gap: 3 }}&gt;&#10;                    &lt;Text style={{ fontSize: 19, fontWeight: 'bold', color: '#20344B' }}&gt;人名&lt;/Text&gt;&#10;                    &lt;Text style={{ fontSize: 14, color: '#546779' }}&gt;决定这条需求由谁确认，后面对不上号就找不到人。&lt;/Text&gt;&#10;                &lt;/Box&gt;&#10;            &lt;/Box&gt;&#10;&#10;            &lt;Box style={{ background: '#F4F7FA', borderRadius: 10, padding: '14px 18px', flexDirection: 'row', gap: 12, alignItems: 'center' }}&gt;&#10;                &lt;Box style={{ width: 4, height: 66, background: '#276FBF' }} /&gt;&#10;                &lt;Box style={{ flex: 1, flexDirection: 'column', gap: 3 }}&gt;&#10;                    &lt;Text style={{ fontSize: 19, fontWeight: 'bold', color: '#20344B' }}&gt;时间&lt;/Text&gt;&#10;                    &lt;Text style={{ fontSize: 14, color: '#546779' }}&gt;&quot;十点&quot;与&quot;十点半&quot;只差几个字，排出来的场次完全不同。&lt;/Text&gt;&#10;                &lt;/Box&gt;&#10;            &lt;/Box&gt;&#10;&#10;            &lt;Box style={{ background: '#F4F7FA', borderRadius: 10, padding: '14px 18px', flexDirection: 'row', gap: 12, alignItems: 'center' }}&gt;&#10;                &lt;Box style={{ width: 4, height: 66, background: '#276FBF' }} /&gt;&#10;                &lt;Box style={{ flex: 1, flexDirection: 'column', gap: 3 }}&gt;&#10;                    &lt;Text style={{ fontSize: 19, fontWeight: 'bold', color: '#20344B' }}&gt;人数&lt;/Text&gt;&#10;                    &lt;Text style={{ fontSize: 14, color: '#546779' }}&gt;十个人还是十来个，直接决定哪个房间放得下。&lt;/Text&gt;&#10;                &lt;/Box&gt;&#10;            &lt;/Box&gt;&#10;&#10;            &lt;Box style={{ background: '#F4F7FA', borderRadius: 10, padding: '14px 18px', flexDirection: 'row', gap: 12, alignItems: 'center' }}&gt;&#10;                &lt;Box style={{ width: 4, height: 66, background: '#276FBF' }} /&gt;&#10;                &lt;Box style={{ flex: 1, flexDirection: 'column', gap: 3 }}&gt;&#10;                    &lt;Text style={{ fontSize: 19, fontWeight: 'bold', color: '#20344B' }}&gt;否定词&lt;/Text&gt;&#10;                    &lt;Text style={{ fontSize: 14, color: '#546779' }}&gt;&quot;不安排在上午&quot;漏掉一个&quot;不&quot;，意思正好反过来。&lt;/Text&gt;&#10;                &lt;/Box&gt;&#10;            &lt;/Box&gt;&#10;&#10;        &lt;/Box&gt;&#10;&#10;        &lt;Box style={{ width: 512, flexDirection: 'column', gap: 16 }}&gt;&#10;&#10;            &lt;Box style={{ background: '#F4F7FA', borderRadius: 10, padding: '18px 22px', flexDirection: 'column', gap: 5 }}&gt;&#10;                &lt;Text style={{ fontSize: 13, fontFamily: 'Consolas', color: '#546779' }}&gt;# 上传自己准备的短录音，不附带他人真实语音&lt;/Text&gt;&#10;                &lt;Text style={{ fontSize: 13, fontFamily: 'Consolas', color: '#CB6B28' }}&gt;$env:OPENAI_TRANSCRIPTION_MODEL = '替换为账户支持文件转写的模型ID'&lt;/Text&gt;&#10;                &lt;Text style={{ fontSize: 13, fontFamily: 'Consolas', color: '#20344B' }}&gt;python multimodal.py transcribe '自己的教学录音.wav'&lt;/Text&gt;&#10;                &lt;Text style={{ fontSize: 13, fontFamily: 'Consolas', color: '#546779' }}&gt;transcript = client.audio.transcriptions.create(&lt;/Text&gt;&#10;                &lt;Text style={{ fontSize: 13, fontFamily: 'Consolas', color: '#276FBF' }}&gt;    model = transcription_model&lt;/Text&gt;&#10;                &lt;Text style={{ fontSize: 13, fontFamily: 'Consolas', color: '#276FBF' }}&gt;    file  = audio_file&lt;/Text&gt;&#10;                &lt;Text style={{ fontSize: 13, fontFamily: 'Consolas', color: '#546779' }}&gt;)　print(transcript.text)&lt;/Text&gt;&#10;            &lt;/Box&gt;&#10;&#10;            &lt;Box style={{ flexDirection: 'row', gap: 12, alignItems: 'center', background: '#ECF7F2', borderRadius: 10, padding: '14px 18px' }}&gt;&#10;                &lt;Box style={{ width: 4, height: 46, background: '#26816B' }} /&gt;&#10;                &lt;Text style={{ fontSize: 14, color: '#546779', lineHeight: 1.55 }}&gt;转写结果保存后，先核对原音频，再把确认过的文本交给排期助手。&lt;/Text&gt;&#10;            &lt;/Box&gt;&#10;&#10;            &lt;Box style={{ flexDirection: 'row', gap: 12, alignItems: 'center', background: '#FFF4E6', borderRadius: 10, padding: '14px 18px' }}&gt;&#10;                &lt;Box style={{ width: 4, height: 46, background: '#CB6B28' }} /&gt;&#10;                &lt;Text style={{ fontSize: 14, color: '#CB6B28', lineHeight: 1.55 }}&gt;不能因为它来自语音，就绕过人数、日期与预约校验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13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2.11.3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语音：先转写，再确认关键事实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从录音到可核对的结构化需求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09600" y="1724025"/>
            <a:ext cx="5905500" cy="895350"/>
          </a:xfrm>
          <a:prstGeom prst="roundRect">
            <a:avLst>
              <a:gd name="adj" fmla="val 1063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781050" y="1857375"/>
            <a:ext cx="38100" cy="628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933450" y="1971675"/>
            <a:ext cx="5410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人名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933450" y="2219325"/>
            <a:ext cx="541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决定这条需求由谁确认，后面对不上号就找不到人。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09600" y="2752725"/>
            <a:ext cx="5905500" cy="895350"/>
          </a:xfrm>
          <a:prstGeom prst="roundRect">
            <a:avLst>
              <a:gd name="adj" fmla="val 1063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781050" y="2886075"/>
            <a:ext cx="38100" cy="628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933450" y="3000375"/>
            <a:ext cx="5410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时间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933450" y="3248025"/>
            <a:ext cx="541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十点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十点半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只差几个字，排出来的场次完全不同。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09600" y="3781425"/>
            <a:ext cx="5905500" cy="895350"/>
          </a:xfrm>
          <a:prstGeom prst="roundRect">
            <a:avLst>
              <a:gd name="adj" fmla="val 1063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781050" y="3914775"/>
            <a:ext cx="38100" cy="628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933450" y="4029075"/>
            <a:ext cx="5410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人数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933450" y="4276725"/>
            <a:ext cx="541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十个人还是十来个，直接决定哪个房间放得下。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09600" y="4810125"/>
            <a:ext cx="5905500" cy="895350"/>
          </a:xfrm>
          <a:prstGeom prst="roundRect">
            <a:avLst>
              <a:gd name="adj" fmla="val 1063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3" name=""/>
          <p:cNvSpPr/>
          <p:nvPr/>
        </p:nvSpPr>
        <p:spPr>
          <a:xfrm rot="0" flipH="0" flipV="0">
            <a:off x="781050" y="4943475"/>
            <a:ext cx="38100" cy="628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33450" y="5057775"/>
            <a:ext cx="5410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否定词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933450" y="5305425"/>
            <a:ext cx="541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不安排在上午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漏掉一个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，意思正好反过来。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705600" y="1933575"/>
            <a:ext cx="4876800" cy="1847850"/>
          </a:xfrm>
          <a:prstGeom prst="roundRect">
            <a:avLst>
              <a:gd name="adj" fmla="val 515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915150" y="2105025"/>
            <a:ext cx="445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 xml:space="preserve"># </a:t>
            </a:r>
            <a:r>
              <a:rPr lang="zh-CN" sz="975">
                <a:solidFill>
                  <a:srgbClr val="546779"/>
                </a:solidFill>
                <a:latin typeface="Consolas"/>
                <a:ea typeface="Consolas"/>
              </a:rPr>
              <a:t>上传自己准备的短录音，不附带他人真实语音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915150" y="2305050"/>
            <a:ext cx="445770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75">
                <a:solidFill>
                  <a:srgbClr val="CB6B28"/>
                </a:solidFill>
                <a:latin typeface="Consolas"/>
                <a:ea typeface="Consolas"/>
              </a:rPr>
              <a:t>$env:OPENAI_TRANSCRIPTION_MODEL = '</a:t>
            </a:r>
            <a:r>
              <a:rPr lang="zh-CN" sz="975">
                <a:solidFill>
                  <a:srgbClr val="CB6B28"/>
                </a:solidFill>
                <a:latin typeface="Consolas"/>
                <a:ea typeface="Consolas"/>
              </a:rPr>
              <a:t>替换为账户支持文件转写的模型</a:t>
            </a:r>
            <a:r>
              <a:rPr lang="en-US" sz="975">
                <a:solidFill>
                  <a:srgbClr val="CB6B28"/>
                </a:solidFill>
                <a:latin typeface="Consolas"/>
                <a:ea typeface="Consolas"/>
              </a:rPr>
              <a:t>ID'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915150" y="2657475"/>
            <a:ext cx="445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python multimodal.py transcribe '</a:t>
            </a:r>
            <a:r>
              <a:rPr lang="zh-CN" sz="975">
                <a:solidFill>
                  <a:srgbClr val="20344B"/>
                </a:solidFill>
                <a:latin typeface="Consolas"/>
                <a:ea typeface="Consolas"/>
              </a:rPr>
              <a:t>自己的教学录音</a:t>
            </a: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.wav'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915150" y="2857500"/>
            <a:ext cx="445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transcript = client.audio.transcriptions.create(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915150" y="3057525"/>
            <a:ext cx="445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Consolas"/>
                <a:ea typeface="Consolas"/>
              </a:rPr>
              <a:t xml:space="preserve">    model = transcription_model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915150" y="3257550"/>
            <a:ext cx="445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Consolas"/>
                <a:ea typeface="Consolas"/>
              </a:rPr>
              <a:t xml:space="preserve">    file  = audio_file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915150" y="3457575"/>
            <a:ext cx="445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)</a:t>
            </a:r>
            <a:r>
              <a:rPr lang="zh-CN" sz="975">
                <a:solidFill>
                  <a:srgbClr val="546779"/>
                </a:solidFill>
                <a:latin typeface="Consolas"/>
                <a:ea typeface="Consolas"/>
              </a:rPr>
              <a:t>　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print(transcript.text)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6705600" y="3933825"/>
            <a:ext cx="4876800" cy="704850"/>
          </a:xfrm>
          <a:prstGeom prst="roundRect">
            <a:avLst>
              <a:gd name="adj" fmla="val 1351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5" name=""/>
          <p:cNvSpPr/>
          <p:nvPr/>
        </p:nvSpPr>
        <p:spPr>
          <a:xfrm rot="0" flipH="0" flipV="0">
            <a:off x="6877050" y="4067175"/>
            <a:ext cx="38100" cy="4381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029450" y="4162425"/>
            <a:ext cx="40005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转写结果保存后，先核对原音频，再把确认过的文本交给排期助手。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705600" y="4791075"/>
            <a:ext cx="4876800" cy="704850"/>
          </a:xfrm>
          <a:prstGeom prst="roundRect">
            <a:avLst>
              <a:gd name="adj" fmla="val 1351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6877050" y="4924425"/>
            <a:ext cx="38100" cy="4381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029450" y="5019675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不能因为它来自语音，就绕过人数、日期与预约校验。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26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52" name="" descr="&lt;Slide notes={`有些查询任务只有一个网页入口，没有接口可调。这种情况下，我们只能走&quot;截图—动作请求—宿主执行—新截图&quot;这条路。&#10;&#10;这里有一条最容易搞混的分界线，我强调一下：模型给出坐标，只证明它提出了一个动作。页面有没有真的变，得看执行之后的新截图。&#10;&#10;所以我们把角色分工说清楚。应用或者说宿主，负责取得真实屏幕观察，也负责真正执行点击和输入。模型服务负责根据任务和截图，返回动作请求，以及一个真实的 call_id。&#10;&#10;应用在动手之前还要自己检查一遍：这个坐标落在页面范围内吗，这次动作在授权范围内吗。&#10;&#10;动作执行完，把新截图作为结果回传，并且要匹配原来那个 call_id。这样才对得上号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4&lt;/Text&gt;&#10;            &lt;/Box&gt;&#10;            &lt;Text style={{ fontSize: 16, color: '#546779' }}&gt;2.11.4&lt;/Text&gt;&#10;        &lt;/Box&gt;&#10;&#10;        &lt;Text style={{ fontSize: 56, fontWeight: 'bold', color: '#20344B', lineHeight: 1.15 }}&gt;从动作请求到真实页面&lt;/Text&gt;&#10;&#10;        &lt;Box style={{ width: 640, height: 4, background: '#276FBF' }} /&gt;&#10;&#10;        &lt;Text style={{ fontSize: 19, color: '#546779', lineHeight: 1.7 }}&gt;模型只负责提出动作，宿主负责真正执行。&lt;/Text&gt;&#10;&#10;        &lt;Box style={{ marginTop: 8, flexDirection: 'row', justifyContent: 'center', alignItems: 'center' }}&gt;&#10;            &lt;Box style={{ width: 255, height: 122, background: '#EDF4FC', borderRadius: 8, padding: '14px 16px', flexDirection: 'column', gap: 5, justifyContent: 'center' }}&gt;&#10;                &lt;Text style={{ fontSize: 19, fontWeight: 'bold', color: '#276FBF' }}&gt;应用 / 宿主&lt;/Text&gt;&#10;                &lt;Text style={{ fontSize: 14, color: '#546779', lineHeight: 1.5 }}&gt;取得观察{'\n'}真正执行动作&lt;/Text&gt;&#10;            &lt;/Box&gt;&#10;            &lt;Box style={{ width: 44, height: 122, justifyContent: 'center', alignItems: 'center' }}&gt;&lt;Text style={{ fontSize: 26, color: '#276FBF' }}&gt;›&lt;/Text&gt;&lt;/Box&gt;&#10;            &lt;Box style={{ width: 255, height: 122, background: '#EDF4FC', borderRadius: 8, padding: '14px 16px', flexDirection: 'column', gap: 5, justifyContent: 'center' }}&gt;&#10;                &lt;Text style={{ fontSize: 19, fontWeight: 'bold', color: '#276FBF' }}&gt;模型服务&lt;/Text&gt;&#10;                &lt;Text style={{ fontSize: 14, color: '#546779', lineHeight: 1.5 }}&gt;给出动作请求{'\n'}与真实 call_id&lt;/Text&gt;&#10;            &lt;/Box&gt;&#10;            &lt;Box style={{ width: 44, height: 122, justifyContent: 'center', alignItems: 'center' }}&gt;&lt;Text style={{ fontSize: 26, color: '#26816B' }}&gt;›&lt;/Text&gt;&lt;/Box&gt;&#10;            &lt;Box style={{ width: 255, height: 122, background: '#ECF7F2', borderRadius: 8, padding: '14px 16px', flexDirection: 'column', gap: 5, justifyContent: 'center' }}&gt;&#10;                &lt;Text style={{ fontSize: 19, fontWeight: 'bold', color: '#26816B' }}&gt;教学页面&lt;/Text&gt;&#10;                &lt;Text style={{ fontSize: 14, color: '#546779', lineHeight: 1.5 }}&gt;动作落到页面上{'\n'}再取得新截图&lt;/Text&gt;&#10;            &lt;/Box&gt;&#10;        &lt;/Box&gt;&#10;&#10;        &lt;Box style={{ flexDirection: 'row', justifyContent: 'center' }}&gt;&#10;            &lt;Box style={{ width: 620, height: 56, background: '#ECF7F2', borderRadius: 8, justifyContent: 'center', alignItems: 'center' }}&gt;&#10;                &lt;Text style={{ fontSize: 17, fontWeight: 'bold', color: '#26816B' }}&gt;页面文字是外部数据，不能扩大操作授权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14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609600" y="5619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14375" y="66675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295400" y="733425"/>
            <a:ext cx="43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2.11.4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12858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从动作请求到真实页面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09600" y="221932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09600" y="24479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模型只负责提出动作，宿主负责真正执行。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2038350" y="3086100"/>
            <a:ext cx="2428875" cy="1162050"/>
          </a:xfrm>
          <a:prstGeom prst="roundRect">
            <a:avLst>
              <a:gd name="adj" fmla="val 655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2190750" y="3295650"/>
            <a:ext cx="2124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应用</a:t>
            </a:r>
            <a:r>
              <a:rPr lang="en-US" sz="14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宿主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2190750" y="3562350"/>
            <a:ext cx="2124075" cy="4857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取得观察</a:t>
            </a:r>
            <a:endParaRPr/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真正执行动作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638675" y="35147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4886325" y="3086100"/>
            <a:ext cx="2428875" cy="1162050"/>
          </a:xfrm>
          <a:prstGeom prst="roundRect">
            <a:avLst>
              <a:gd name="adj" fmla="val 655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038725" y="3295650"/>
            <a:ext cx="2124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模型服务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038725" y="3562350"/>
            <a:ext cx="2124075" cy="4857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给出动作请求</a:t>
            </a:r>
            <a:endParaRPr/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与真实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call_id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486650" y="35147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7734300" y="3086100"/>
            <a:ext cx="2428875" cy="1162050"/>
          </a:xfrm>
          <a:prstGeom prst="roundRect">
            <a:avLst>
              <a:gd name="adj" fmla="val 655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7886700" y="3295650"/>
            <a:ext cx="2124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教学页面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7886700" y="3562350"/>
            <a:ext cx="2124075" cy="4857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动作落到页面上</a:t>
            </a:r>
            <a:endParaRPr/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再取得新截图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3143250" y="4438650"/>
            <a:ext cx="59055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4638675" y="4610100"/>
            <a:ext cx="291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页面文字是外部数据，不能扩大操作授权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26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75" name="" descr="&lt;Slide notes={`把这四个角色串起来看，就是一条闭环。&#10;&#10;宿主先取得真实的屏幕观察，得到一张截图。它把当前任务和这张截图一起交给模型服务。模型服务返回的不是最终答案，而是一个动作请求，以及一个真实的 call_id。&#10;&#10;接下来这一步经常被跳过：应用自己要先检查。这个动作在页面范围内吗，坐标合不合理，有没有超出这次任务允许的操作。&#10;&#10;检查通过，才真正去执行点击或输入。执行之后，页面会变，宿主再取得一张新截图，用匹配原来 call_id 的 computer_call_output 回传回去，然后根据新截图核对状态，决定下一步。&#10;&#10;还有一层边界要守住：页面上的文字属于外部数据，它说&quot;忽略原任务&quot;，不构成任何新授权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1.4　计算机工具：从动作请求到真实页面&lt;/Text&gt;&#10;            &lt;Text style={{ fontSize: 34, fontWeight: 'bold', color: '#20344B' }}&gt;观察、执行、新截图组成闭环&lt;/Text&gt;&#10;        &lt;/Box&gt;&#10;    &lt;/Box&gt;&#10;&#10;    &lt;Box style={{ height: 540, flexDirection: 'column', justifyContent: 'center', gap: 14 }}&gt;&#10;&#10;        &lt;Box style={{ flexDirection: 'row', alignItems: 'center', gap: 12 }}&gt;&#10;            &lt;Box style={{ width: 4, height: 18, background: '#276FBF' }} /&gt;&#10;            &lt;Text style={{ fontSize: 15, color: '#546779' }}&gt;只有网页入口的查询任务，只能走这条路；本节的练习对象是只读的静态教学页面。&lt;/Text&gt;&#10;        &lt;/Box&gt;&#10;&#10;        &lt;Box style={{ flexDirection: 'row', alignItems: 'center' }}&gt;&#10;            &lt;Box style={{ width: 255, height: 190, background: '#EDF4FC', borderRadius: 8, padding: '16px 18px', flexDirection: 'column', gap: 6, justifyContent: 'center' }}&gt;&#10;                &lt;Text style={{ fontSize: 19, fontWeight: 'bold', color: '#276FBF' }}&gt;取得真实屏幕观察&lt;/Text&gt;&#10;                &lt;Text style={{ fontSize: 14, color: '#546779', lineHeight: 1.55 }}&gt;宿主在小范围页面内截图，作为本次的全部视野。&lt;/Text&gt;&#10;            &lt;/Box&gt;&#10;            &lt;Box style={{ width: 44, height: 190, justifyContent: 'center', alignItems: 'center' }}&gt;&lt;Text style={{ fontSize: 26, color: '#276FBF' }}&gt;›&lt;/Text&gt;&lt;/Box&gt;&#10;            &lt;Box style={{ width: 255, height: 190, background: '#EDF4FC', borderRadius: 8, padding: '16px 18px', flexDirection: 'column', gap: 6, justifyContent: 'center' }}&gt;&#10;                &lt;Text style={{ fontSize: 19, fontWeight: 'bold', color: '#276FBF' }}&gt;提交任务与截图&lt;/Text&gt;&#10;                &lt;Text style={{ fontSize: 14, color: '#546779', lineHeight: 1.55 }}&gt;把当前任务和这张截图一起发给模型服务。&lt;/Text&gt;&#10;            &lt;/Box&gt;&#10;            &lt;Box style={{ width: 44, height: 190, justifyContent: 'center', alignItems: 'center' }}&gt;&lt;Text style={{ fontSize: 26, color: '#276FBF' }}&gt;›&lt;/Text&gt;&lt;/Box&gt;&#10;            &lt;Box style={{ width: 255, height: 190, background: '#EDF4FC', borderRadius: 8, padding: '16px 18px', flexDirection: 'column', gap: 6, justifyContent: 'center' }}&gt;&#10;                &lt;Text style={{ fontSize: 19, fontWeight: 'bold', color: '#276FBF' }}&gt;返回动作请求&lt;/Text&gt;&#10;                &lt;Text style={{ fontSize: 14, color: '#546779', lineHeight: 1.55 }}&gt;模型给出动作与坐标，以及一个真实的 call_id。动作可能成批返回。&lt;/Text&gt;&#10;            &lt;/Box&gt;&#10;            &lt;Box style={{ width: 44, height: 190, justifyContent: 'center', alignItems: 'center' }}&gt;&lt;Text style={{ fontSize: 26, color: '#26816B' }}&gt;›&lt;/Text&gt;&lt;/Box&gt;&#10;            &lt;Box style={{ width: 255, height: 190, background: '#ECF7F2', borderRadius: 8, padding: '16px 18px', flexDirection: 'column', gap: 6, justifyContent: 'center' }}&gt;&#10;                &lt;Text style={{ fontSize: 19, fontWeight: 'bold', color: '#26816B' }}&gt;检查并实际执行&lt;/Text&gt;&#10;                &lt;Text style={{ fontSize: 14, color: '#546779', lineHeight: 1.55 }}&gt;宿主核对页面范围、坐标与权限，再真正执行点击或输入。&lt;/Text&gt;&#10;            &lt;/Box&gt;&#10;        &lt;/Box&gt;&#10;&#10;        &lt;Box style={{ flexDirection: 'row', alignItems: 'center', gap: 14, background: '#ECF7F2', borderRadius: 8, height: 46, padding: '0 20px' }}&gt;&#10;            &lt;Text style={{ fontSize: 18, color: '#26816B' }}&gt;↑&lt;/Text&gt;&#10;            &lt;Text style={{ fontSize: 15, color: '#26816B' }}&gt;执行后的新截图回传：computer_call_output 匹配原 call_id，再据新截图核对状态、决定下一步。&lt;/Text&gt;&#10;        &lt;/Box&gt;&#10;&#10;        &lt;Box style={{ flexDirection: 'row', gap: 20 }}&gt;&#10;            &lt;Box style={{ width: 566, background: '#FFF4E6', borderRadius: 10, padding: '14px 20px', flexDirection: 'row', gap: 12, alignItems: 'center' }}&gt;&#10;                &lt;Box style={{ width: 4, height: 48, background: '#CB6B28' }} /&gt;&#10;                &lt;Text style={{ fontSize: 15, color: '#CB6B28', lineHeight: 1.55 }}&gt;模型给出坐标，只证明它提出了动作；页面没有变，就等于没执行。&lt;/Text&gt;&#10;            &lt;/Box&gt;&#10;            &lt;Box style={{ width: 566, background: '#EDF4FC', borderRadius: 10, padding: '14px 20px', flexDirection: 'row', gap: 12, alignItems: 'center' }}&gt;&#10;                &lt;Box style={{ width: 4, height: 48, background: '#276FBF' }} /&gt;&#10;                &lt;Text style={{ fontSize: 15, color: '#276FBF', lineHeight: 1.55 }}&gt;页面改变，加上后续核对，才提供执行证据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15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2.11.4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计算机工具：从动作请求到真实页面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观察、执行、新截图组成闭环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09600" y="1943100"/>
            <a:ext cx="38100" cy="1714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62000" y="1943100"/>
            <a:ext cx="5286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只有网页入口的查询任务，只能走这条路；本节的练习对象是只读的静态教学页面。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09600" y="2247900"/>
            <a:ext cx="2428875" cy="1809750"/>
          </a:xfrm>
          <a:prstGeom prst="roundRect">
            <a:avLst>
              <a:gd name="adj" fmla="val 42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81050" y="2762250"/>
            <a:ext cx="2085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取得真实屏幕观察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81050" y="3038475"/>
            <a:ext cx="208597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宿主在小范围页面内截图，作为本次的全部视野。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3209925" y="30003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3457575" y="2247900"/>
            <a:ext cx="2428875" cy="1809750"/>
          </a:xfrm>
          <a:prstGeom prst="roundRect">
            <a:avLst>
              <a:gd name="adj" fmla="val 42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3629025" y="2762250"/>
            <a:ext cx="2085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提交任务与截图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3629025" y="3038475"/>
            <a:ext cx="208597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把当前任务和这张截图一起发给模型服务。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057900" y="30003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305550" y="2247900"/>
            <a:ext cx="2428875" cy="1809750"/>
          </a:xfrm>
          <a:prstGeom prst="roundRect">
            <a:avLst>
              <a:gd name="adj" fmla="val 42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477000" y="2762250"/>
            <a:ext cx="2085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返回动作请求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477000" y="3038475"/>
            <a:ext cx="208597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模型给出动作与坐标，以及一个真实的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call_id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。动作可能成批返回。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905875" y="30003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9153525" y="2247900"/>
            <a:ext cx="2428875" cy="1809750"/>
          </a:xfrm>
          <a:prstGeom prst="roundRect">
            <a:avLst>
              <a:gd name="adj" fmla="val 42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9324975" y="2762250"/>
            <a:ext cx="2085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检查并实际执行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9324975" y="3038475"/>
            <a:ext cx="208597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宿主核对页面范围、坐标与权限，再真正执行点击或输入。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09600" y="4191000"/>
            <a:ext cx="10972800" cy="438150"/>
          </a:xfrm>
          <a:prstGeom prst="roundRect">
            <a:avLst>
              <a:gd name="adj" fmla="val 173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00100" y="43053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↑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019175" y="4324350"/>
            <a:ext cx="6276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执行后的新截图回传：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computer_call_output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匹配原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 call_id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，再据新截图核对状态、决定下一步。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09600" y="4762500"/>
            <a:ext cx="539115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01" name=""/>
          <p:cNvSpPr/>
          <p:nvPr/>
        </p:nvSpPr>
        <p:spPr>
          <a:xfrm rot="0" flipH="0" flipV="0">
            <a:off x="800100" y="489585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952500" y="4991100"/>
            <a:ext cx="42862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模型给出坐标，只证明它提出了动作；页面没有变，就等于没执行。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191250" y="4762500"/>
            <a:ext cx="539115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6381750" y="489585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534150" y="4991100"/>
            <a:ext cx="2857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页面改变，加上后续核对，才提供执行证据。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26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08" name="" descr="&lt;Slide notes={`这一步只展示回传已经取得的截图，动作本身不在这一段里。&#10;&#10;先看两个标识。previous_response_id 指向上一轮响应，把这次回传接到同一条链上；call_id 必须匹配模型刚才返回的那个动作请求，不能自己编一个。&#10;&#10;再看 output 里的内容：类型是 computer_screenshot，图片是一段数据 URL，detail 设为 original。&#10;&#10;有一条纪律要守住：response_id、call_id 和截图都必须来自真实运行，自己拼一个看起来像样的值，什么也验证不了。&#10;&#10;这套东西不是完整的桌面控制程序，独立环境、坐标映射、页面范围限制和中断处理都要单独做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1.4　计算机工具：从动作请求到真实页面&lt;/Text&gt;&#10;            &lt;Text style={{ fontSize: 34, fontWeight: 'bold', color: '#20344B' }}&gt;回传截图必须匹配 call_id&lt;/Text&gt;&#10;        &lt;/Box&gt;&#10;    &lt;/Box&gt;&#10;&#10;    &lt;Box style={{ height: 540, flexDirection: 'row', justifyContent: 'center', alignItems: 'center', gap: 40 }}&gt;&#10;&#10;        &lt;Box style={{ width: 340, flexDirection: 'column', gap: 14 }}&gt;&#10;&#10;            &lt;Text style={{ fontSize: 24, fontWeight: 'bold', color: '#276FBF', lineHeight: 1.45 }}&gt;回传这一步的纪律&lt;/Text&gt;&#10;            &lt;Box style={{ width: 56, height: 3, background: '#26816B' }} /&gt;&#10;&#10;            &lt;Box style={{ flexDirection: 'row', gap: 12, alignItems: 'center' }}&gt;&#10;                &lt;Box style={{ width: 3, height: 54, background: '#276FBF' }} /&gt;&#10;                &lt;Box style={{ flex: 1, flexDirection: 'column', gap: 2 }}&gt;&#10;                    &lt;Text style={{ fontSize: 16, fontWeight: 'bold', color: '#20344B' }}&gt;接回同一条链&lt;/Text&gt;&#10;                    &lt;Text style={{ fontSize: 14, color: '#546779', lineHeight: 1.5 }}&gt;previous_response_id 指向上一次响应。&lt;/Text&gt;&#10;                &lt;/Box&gt;&#10;            &lt;/Box&gt;&#10;&#10;            &lt;Box style={{ flexDirection: 'row', gap: 12, alignItems: 'center' }}&gt;&#10;                &lt;Box style={{ width: 3, height: 54, background: '#276FBF' }} /&gt;&#10;                &lt;Box style={{ flex: 1, flexDirection: 'column', gap: 2 }}&gt;&#10;                    &lt;Text style={{ fontSize: 16, fontWeight: 'bold', color: '#20344B' }}&gt;动作可能成批返回&lt;/Text&gt;&#10;                    &lt;Text style={{ fontSize: 14, color: '#546779', lineHeight: 1.5 }}&gt;宿主必须按实际协议逐项处理，不能当一次文本调用。&lt;/Text&gt;&#10;                &lt;/Box&gt;&#10;            &lt;/Box&gt;&#10;&#10;            &lt;Box style={{ flexDirection: 'row', gap: 12, alignItems: 'center' }}&gt;&#10;                &lt;Box style={{ width: 3, height: 54, background: '#276FBF' }} /&gt;&#10;                &lt;Box style={{ flex: 1, flexDirection: 'column', gap: 2 }}&gt;&#10;                    &lt;Text style={{ fontSize: 16, fontWeight: 'bold', color: '#20344B' }}&gt;截图用原始细节&lt;/Text&gt;&#10;                    &lt;Text style={{ fontSize: 14, color: '#546779', lineHeight: 1.5 }}&gt;detail 设为 original，便于逐处比对页面变化。&lt;/Text&gt;&#10;                &lt;/Box&gt;&#10;            &lt;/Box&gt;&#10;&#10;            &lt;Box style={{ background: '#FFF4E6', borderRadius: 10, padding: '14px 18px', marginTop: 4 }}&gt;&#10;                &lt;Text style={{ fontSize: 15, color: '#CB6B28', lineHeight: 1.6 }}&gt;response_id、call_id 与截图均须来自真实运行，不能自行编造。&lt;/Text&gt;&#10;            &lt;/Box&gt;&#10;&#10;        &lt;/Box&gt;&#10;&#10;        &lt;Box style={{ width: 772, flexDirection: 'column', gap: 14 }}&gt;&#10;&#10;            &lt;Box style={{ background: '#F4F7FA', borderRadius: 10, padding: '20px 22px', flexDirection: 'column', gap: 5 }}&gt;&#10;                &lt;Text style={{ fontSize: 14, fontFamily: 'Consolas', color: '#20344B' }}&gt;followup = client.responses.create(&lt;/Text&gt;&#10;                &lt;Text style={{ fontSize: 14, fontFamily: 'Consolas', color: '#276FBF' }}&gt;    model                = computer_model&lt;/Text&gt;&#10;                &lt;Text style={{ fontSize: 14, fontFamily: 'Consolas', color: '#276FBF' }}&gt;    tools                = computer 工具一项&lt;/Text&gt;&#10;                &lt;Text style={{ fontSize: 14, fontFamily: 'Consolas', color: '#276FBF' }}&gt;    previous_response_id = response_id&lt;/Text&gt;&#10;                &lt;Text style={{ fontSize: 14, fontFamily: 'Consolas', color: '#546779' }}&gt;    instructions         = '仅在本次教学页面查看信息；根据真实页面判断结果。'&lt;/Text&gt;&#10;                &lt;Text style={{ fontSize: 14, fontFamily: 'Consolas', color: '#20344B' }}&gt;    input                = 一项 computer_call_output&lt;/Text&gt;&#10;                &lt;Text style={{ fontSize: 14, fontFamily: 'Consolas', color: '#CB6B28' }}&gt;        call_id          = call_id　　匹配原动作请求&lt;/Text&gt;&#10;                &lt;Text style={{ fontSize: 14, fontFamily: 'Consolas', color: '#26816B' }}&gt;        output.type      = computer_screenshot&lt;/Text&gt;&#10;                &lt;Text style={{ fontSize: 14, fontFamily: 'Consolas', color: '#26816B' }}&gt;        output.image_url = screenshot_data_url&lt;/Text&gt;&#10;                &lt;Text style={{ fontSize: 14, fontFamily: 'Consolas', color: '#26816B' }}&gt;        output.detail    = original&lt;/Text&gt;&#10;                &lt;Text style={{ fontSize: 14, fontFamily: 'Consolas', color: '#20344B' }}&gt;)&lt;/Text&gt;&#10;            &lt;/Box&gt;&#10;&#10;            &lt;Box style={{ flexDirection: 'row', alignItems: 'center', gap: 14, background: '#EDF4FC', borderRadius: 10, padding: '14px 20px' }}&gt;&#10;                &lt;Box style={{ width: 4, height: 44, background: '#276FBF' }} /&gt;&#10;                &lt;Box style={{ flex: 1, flexDirection: 'column', gap: 3 }}&gt;&#10;                    &lt;Text style={{ fontSize: 15, fontWeight: 'bold', color: '#276FBF' }}&gt;这不是完整的桌面控制程序&lt;/Text&gt;&#10;                    &lt;Text style={{ fontSize: 14, color: '#546779' }}&gt;独立环境、截图、动作处理、坐标映射、页面范围限制与中断处理都要单独做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16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695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2.11.4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计算机工具：从动作请求到真实页面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695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回传截图必须匹配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call_id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09600" y="1876425"/>
            <a:ext cx="3238500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276FBF"/>
                </a:solidFill>
                <a:latin typeface="Microsoft YaHei"/>
                <a:ea typeface="Microsoft YaHei"/>
              </a:rPr>
              <a:t>回传这一步的纪律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609600" y="240982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15" name=""/>
          <p:cNvSpPr/>
          <p:nvPr/>
        </p:nvSpPr>
        <p:spPr>
          <a:xfrm rot="0" flipH="0" flipV="0">
            <a:off x="609600" y="2571750"/>
            <a:ext cx="28575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52475" y="2600325"/>
            <a:ext cx="3095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接回同一条链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52475" y="2809875"/>
            <a:ext cx="30956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previous_response_id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指向上一次响应。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609600" y="3314700"/>
            <a:ext cx="28575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52475" y="3219450"/>
            <a:ext cx="3095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动作可能成批返回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52475" y="3429000"/>
            <a:ext cx="30956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宿主必须按实际协议逐项处理，不能当一次文本调用。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09600" y="4048125"/>
            <a:ext cx="28575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752475" y="4076700"/>
            <a:ext cx="3095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截图用原始细节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752475" y="4286250"/>
            <a:ext cx="30956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detail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original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，便于逐处比对页面变化。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09600" y="4733925"/>
            <a:ext cx="3238500" cy="819150"/>
          </a:xfrm>
          <a:prstGeom prst="roundRect">
            <a:avLst>
              <a:gd name="adj" fmla="val 1162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781050" y="4867275"/>
            <a:ext cx="2895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>response_id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call_id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与截图均须来自真实运行，不能自行编造。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4229100" y="1990725"/>
            <a:ext cx="7353300" cy="2638425"/>
          </a:xfrm>
          <a:prstGeom prst="roundRect">
            <a:avLst>
              <a:gd name="adj" fmla="val 361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438650" y="2181225"/>
            <a:ext cx="693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>followup = client.responses.create(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4438650" y="2390775"/>
            <a:ext cx="693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Consolas"/>
                <a:ea typeface="Consolas"/>
              </a:rPr>
              <a:t xml:space="preserve">    model                = computer_model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4438650" y="2600325"/>
            <a:ext cx="693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Consolas"/>
                <a:ea typeface="Consolas"/>
              </a:rPr>
              <a:t xml:space="preserve">    tools                = computer </a:t>
            </a:r>
            <a:r>
              <a:rPr lang="zh-CN" sz="1050">
                <a:solidFill>
                  <a:srgbClr val="276FBF"/>
                </a:solidFill>
                <a:latin typeface="Consolas"/>
                <a:ea typeface="Consolas"/>
              </a:rPr>
              <a:t>工具一项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438650" y="2809875"/>
            <a:ext cx="693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Consolas"/>
                <a:ea typeface="Consolas"/>
              </a:rPr>
              <a:t xml:space="preserve">    previous_response_id = response_id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4438650" y="3019425"/>
            <a:ext cx="693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Consolas"/>
                <a:ea typeface="Consolas"/>
              </a:rPr>
              <a:t xml:space="preserve">    instructions         = '</a:t>
            </a:r>
            <a:r>
              <a:rPr lang="zh-CN" sz="1050">
                <a:solidFill>
                  <a:srgbClr val="546779"/>
                </a:solidFill>
                <a:latin typeface="Consolas"/>
                <a:ea typeface="Consolas"/>
              </a:rPr>
              <a:t>仅在本次教学页面查看信息；根据真实页面判断结果。</a:t>
            </a:r>
            <a:r>
              <a:rPr lang="en-US" sz="1050">
                <a:solidFill>
                  <a:srgbClr val="546779"/>
                </a:solidFill>
                <a:latin typeface="Consolas"/>
                <a:ea typeface="Consolas"/>
              </a:rPr>
              <a:t>'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438650" y="3228975"/>
            <a:ext cx="693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 xml:space="preserve">    input                = </a:t>
            </a:r>
            <a:r>
              <a:rPr lang="zh-CN" sz="1050">
                <a:solidFill>
                  <a:srgbClr val="20344B"/>
                </a:solidFill>
                <a:latin typeface="Consolas"/>
                <a:ea typeface="Consolas"/>
              </a:rPr>
              <a:t>一项</a:t>
            </a: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 xml:space="preserve"> computer_call_output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4438650" y="3438525"/>
            <a:ext cx="693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CB6B28"/>
                </a:solidFill>
                <a:latin typeface="Consolas"/>
                <a:ea typeface="Consolas"/>
              </a:rPr>
              <a:t xml:space="preserve">        call_id          = call_id</a:t>
            </a:r>
            <a:r>
              <a:rPr lang="zh-CN" sz="1050">
                <a:solidFill>
                  <a:srgbClr val="CB6B28"/>
                </a:solidFill>
                <a:latin typeface="Consolas"/>
                <a:ea typeface="Consolas"/>
              </a:rPr>
              <a:t>　　匹配原动作请求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4438650" y="3648075"/>
            <a:ext cx="693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6816B"/>
                </a:solidFill>
                <a:latin typeface="Consolas"/>
                <a:ea typeface="Consolas"/>
              </a:rPr>
              <a:t xml:space="preserve">        output.type      = computer_screenshot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4438650" y="3857625"/>
            <a:ext cx="693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6816B"/>
                </a:solidFill>
                <a:latin typeface="Consolas"/>
                <a:ea typeface="Consolas"/>
              </a:rPr>
              <a:t xml:space="preserve">        output.image_url = screenshot_data_url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4438650" y="4067175"/>
            <a:ext cx="693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6816B"/>
                </a:solidFill>
                <a:latin typeface="Consolas"/>
                <a:ea typeface="Consolas"/>
              </a:rPr>
              <a:t xml:space="preserve">        output.detail    = original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4438650" y="4276725"/>
            <a:ext cx="693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>)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4229100" y="4762500"/>
            <a:ext cx="73533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4419600" y="48958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4591050" y="4924425"/>
            <a:ext cx="6800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这不是完整的桌面控制程序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4591050" y="5124450"/>
            <a:ext cx="6800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独立环境、截图、动作处理、坐标映射、页面范围限制与中断处理都要单独做。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26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44" name="" descr="&lt;Slide notes={`坐标这件事，必须说透。&#10;&#10;模型看到一张截图，说&quot;点击 412、286 这个位置&quot;。这句话的全部含义是：它提出了一个动作。至于那个位置在真实页面上是什么，它并不知道，它只知道截图上的像素。&#10;&#10;所以会出三种错法。&#10;&#10;第一种是按钮移位。上一次截图里按钮在上方，这一次页面内容变了，按钮下移了，同一个坐标就落在空白处。&#10;&#10;第二种是页面滚动。截图是滚动前的，坐标是滚动前算的，滚动一发生就全偏了。&#10;&#10;第三种是内容遮挡。目标按钮被弹层盖住，点下去点的是弹层。&#10;&#10;因此执行完必须回头看页面：目标对不对，状态是不是我们想要的那一个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1.4　计算机工具：从动作请求到真实页面&lt;/Text&gt;&#10;            &lt;Text style={{ fontSize: 34, fontWeight: 'bold', color: '#20344B' }}&gt;坐标只是动作请求，不是执行证据&lt;/Text&gt;&#10;        &lt;/Box&gt;&#10;    &lt;/Box&gt;&#10;&#10;    &lt;Box style={{ height: 540, flexDirection: 'row', justifyContent: 'center', alignItems: 'center', gap: 22 }}&gt;&#10;&#10;        &lt;Box style={{ width: 500, background: '#F4F7FA', borderRadius: 10, padding: 14, flexDirection: 'column', gap: 10 }}&gt;&#10;&#10;            &lt;Box style={{ flexDirection: 'row', justifyContent: 'space-between', alignItems: 'center' }}&gt;&#10;                &lt;Text style={{ fontSize: 14, color: '#546779' }}&gt;教学页面窗口　只读本地页面&lt;/Text&gt;&#10;                &lt;Box style={{ width: 88, height: 24, background: '#EDF4FC', borderRadius: 6, justifyContent: 'center', alignItems: 'center' }}&gt;&#10;                    &lt;Text style={{ fontSize: 13, color: '#546779' }}&gt;示意&lt;/Text&gt;&#10;                &lt;/Box&gt;&#10;            &lt;/Box&gt;&#10;&#10;            &lt;Box style={{ background: '#FFFFFF', borderRadius: 8, padding: 12, flexDirection: 'column', gap: 8 }}&gt;&#10;                &lt;Text style={{ fontSize: 14, color: '#546779' }}&gt;手作室详情（折叠状态）&lt;/Text&gt;&#10;                &lt;Box style={{ width: 190, height: 34, background: '#EDF4FC', borderRadius: 6, justifyContent: 'center', alignItems: 'center' }}&gt;&#10;                    &lt;Text style={{ fontSize: 13, color: '#276FBF' }}&gt;展开详情　按钮原位置&lt;/Text&gt;&#10;                &lt;/Box&gt;&#10;                &lt;Box style={{ width: 190, height: 34, background: '#FFF4E6', borderRadius: 6, justifyContent: 'center', alignItems: 'center' }}&gt;&#10;                    &lt;Text style={{ fontSize: 13, color: '#CB6B28' }}&gt;模型坐标落点 x 412 y 286&lt;/Text&gt;&#10;                &lt;/Box&gt;&#10;                &lt;Text style={{ fontSize: 12, color: '#CB6B28', lineHeight: 1.5 }}&gt;页面内容下移后，同一坐标落在按钮下方的空白区域。&lt;/Text&gt;&#10;            &lt;/Box&gt;&#10;&#10;            &lt;Box style={{ flexDirection: 'row', justifyContent: 'space-between', alignItems: 'center' }}&gt;&#10;                &lt;Text style={{ fontSize: 13, fontFamily: 'Consolas', color: '#546779' }}&gt;x = 412　y = 286&lt;/Text&gt;&#10;                &lt;Text style={{ fontSize: 13, color: '#546779' }}&gt;坐标以本次截图为基准&lt;/Text&gt;&#10;            &lt;/Box&gt;&#10;&#10;        &lt;/Box&gt;&#10;&#10;        &lt;Box style={{ width: 630, flexDirection: 'column', gap: 12 }}&gt;&#10;&#10;            &lt;Text style={{ fontSize: 24, fontWeight: 'bold', color: '#276FBF', lineHeight: 1.45 }}&gt;三种让动作落空的常见情形&lt;/Text&gt;&#10;&#10;            &lt;Box style={{ flexDirection: 'row', gap: 12, alignItems: 'center', background: '#F4F7FA', borderRadius: 10, padding: '13px 18px' }}&gt;&#10;                &lt;Box style={{ width: 3, height: 62, background: '#276FBF' }} /&gt;&#10;                &lt;Box style={{ flex: 1, flexDirection: 'column', gap: 3 }}&gt;&#10;                    &lt;Text style={{ fontSize: 17, fontWeight: 'bold', color: '#20344B' }}&gt;按钮移位&lt;/Text&gt;&#10;                    &lt;Text style={{ fontSize: 14, color: '#546779', lineHeight: 1.5 }}&gt;页面重新渲染后原坐标落在空白处，点了等于没点。&lt;/Text&gt;&#10;                &lt;/Box&gt;&#10;            &lt;/Box&gt;&#10;&#10;            &lt;Box style={{ flexDirection: 'row', gap: 12, alignItems: 'center', background: '#F4F7FA', borderRadius: 10, padding: '13px 18px' }}&gt;&#10;                &lt;Box style={{ width: 3, height: 62, background: '#276FBF' }} /&gt;&#10;                &lt;Box style={{ flex: 1, flexDirection: 'column', gap: 3 }}&gt;&#10;                    &lt;Text style={{ fontSize: 17, fontWeight: 'bold', color: '#20344B' }}&gt;页面滚动&lt;/Text&gt;&#10;                    &lt;Text style={{ fontSize: 14, color: '#546779', lineHeight: 1.5 }}&gt;坐标按滚动前的截图算出，一滚动就整体偏移。&lt;/Text&gt;&#10;                &lt;/Box&gt;&#10;            &lt;/Box&gt;&#10;&#10;            &lt;Box style={{ flexDirection: 'row', gap: 12, alignItems: 'center', background: '#F4F7FA', borderRadius: 10, padding: '13px 18px' }}&gt;&#10;                &lt;Box style={{ width: 3, height: 62, background: '#276FBF' }} /&gt;&#10;                &lt;Box style={{ flex: 1, flexDirection: 'column', gap: 3 }}&gt;&#10;                    &lt;Text style={{ fontSize: 17, fontWeight: 'bold', color: '#20344B' }}&gt;内容遮挡&lt;/Text&gt;&#10;                    &lt;Text style={{ fontSize: 14, color: '#546779', lineHeight: 1.5 }}&gt;目标被浮层盖住，点到的是覆盖在上面的那一个元素。&lt;/Text&gt;&#10;                &lt;/Box&gt;&#10;            &lt;/Box&gt;&#10;&#10;            &lt;Box style={{ flexDirection: 'row', alignItems: 'center', gap: 14, background: '#FFF4E6', borderRadius: 10, padding: '15px 20px' }}&gt;&#10;                &lt;Box style={{ width: 4, height: 48, background: '#CB6B28' }} /&gt;&#10;                &lt;Text style={{ fontSize: 15, color: '#CB6B28', lineHeight: 1.55 }}&gt;执行后仍要核对目标与页面状态：按钮移位、滚动或遮挡，都可能让动作落错位置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17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2.11.4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计算机工具：从动作请求到真实页面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坐标只是动作请求，不是执行证据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609600" y="2562225"/>
            <a:ext cx="4762500" cy="2314575"/>
          </a:xfrm>
          <a:prstGeom prst="roundRect">
            <a:avLst>
              <a:gd name="adj" fmla="val 41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742950" y="2733675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教学页面窗口　只读本地页面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4400550" y="2695575"/>
            <a:ext cx="838200" cy="228600"/>
          </a:xfrm>
          <a:prstGeom prst="roundRect">
            <a:avLst>
              <a:gd name="adj" fmla="val 2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4695825" y="27336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742950" y="3019425"/>
            <a:ext cx="449580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857250" y="3133725"/>
            <a:ext cx="426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手作室详情（折叠状态）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857250" y="3371850"/>
            <a:ext cx="1809750" cy="323850"/>
          </a:xfrm>
          <a:prstGeom prst="roundRect">
            <a:avLst>
              <a:gd name="adj" fmla="val 1764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143000" y="3457575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展开详情　按钮原位置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857250" y="3771900"/>
            <a:ext cx="1809750" cy="323850"/>
          </a:xfrm>
          <a:prstGeom prst="roundRect">
            <a:avLst>
              <a:gd name="adj" fmla="val 1764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038225" y="3857625"/>
            <a:ext cx="1457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模型坐标落点</a:t>
            </a:r>
            <a:r>
              <a:rPr lang="en-US" sz="975">
                <a:solidFill>
                  <a:srgbClr val="CB6B28"/>
                </a:solidFill>
                <a:latin typeface="Microsoft YaHei"/>
                <a:ea typeface="Microsoft YaHei"/>
              </a:rPr>
              <a:t xml:space="preserve"> x 412 y 286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57250" y="4171950"/>
            <a:ext cx="42672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CB6B28"/>
                </a:solidFill>
                <a:latin typeface="Microsoft YaHei"/>
                <a:ea typeface="Microsoft YaHei"/>
              </a:rPr>
              <a:t>页面内容下移后，同一坐标落在按钮下方的空白区域。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742950" y="4591050"/>
            <a:ext cx="108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x = 412</a:t>
            </a:r>
            <a:r>
              <a:rPr lang="zh-CN" sz="975">
                <a:solidFill>
                  <a:srgbClr val="546779"/>
                </a:solidFill>
                <a:latin typeface="Consolas"/>
                <a:ea typeface="Consolas"/>
              </a:rPr>
              <a:t>　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y = 286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4000500" y="459105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坐标以本次截图为基准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5581650" y="1657350"/>
            <a:ext cx="6000750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276FBF"/>
                </a:solidFill>
                <a:latin typeface="Microsoft YaHei"/>
                <a:ea typeface="Microsoft YaHei"/>
              </a:rPr>
              <a:t>三种让动作落空的常见情形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5581650" y="2171700"/>
            <a:ext cx="600075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5753100" y="2295525"/>
            <a:ext cx="28575" cy="590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5895975" y="2352675"/>
            <a:ext cx="5514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按钮移位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5895975" y="2581275"/>
            <a:ext cx="55149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页面重新渲染后原坐标落在空白处，点了等于没点。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5581650" y="3124200"/>
            <a:ext cx="600075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8" name=""/>
          <p:cNvSpPr/>
          <p:nvPr/>
        </p:nvSpPr>
        <p:spPr>
          <a:xfrm rot="0" flipH="0" flipV="0">
            <a:off x="5753100" y="3248025"/>
            <a:ext cx="28575" cy="590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5895975" y="3305175"/>
            <a:ext cx="5514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页面滚动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5895975" y="3533775"/>
            <a:ext cx="55149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坐标按滚动前的截图算出，一滚动就整体偏移。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5581650" y="4076700"/>
            <a:ext cx="600075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2" name=""/>
          <p:cNvSpPr/>
          <p:nvPr/>
        </p:nvSpPr>
        <p:spPr>
          <a:xfrm rot="0" flipH="0" flipV="0">
            <a:off x="5753100" y="4200525"/>
            <a:ext cx="28575" cy="590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5895975" y="4257675"/>
            <a:ext cx="5514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内容遮挡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895975" y="4486275"/>
            <a:ext cx="55149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目标被浮层盖住，点到的是覆盖在上面的那一个元素。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5581650" y="5029200"/>
            <a:ext cx="6000750" cy="742950"/>
          </a:xfrm>
          <a:prstGeom prst="roundRect">
            <a:avLst>
              <a:gd name="adj" fmla="val 128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76" name=""/>
          <p:cNvSpPr/>
          <p:nvPr/>
        </p:nvSpPr>
        <p:spPr>
          <a:xfrm rot="0" flipH="0" flipV="0">
            <a:off x="5772150" y="517207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5943600" y="5267325"/>
            <a:ext cx="52863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执行后仍要核对目标与页面状态：按钮移位、滚动或遮挡，都可能让动作落错位置。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26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80" name="" descr="&lt;Slide notes={`接下来把两条路线都放进 WorkBuddy 里练一遍，但它们要分开练、分开记。&#10;&#10;先说清楚为什么不能合并。读图练的是&quot;看见什么&quot;，浏览器操作练的是&quot;做到什么&quot;。这两件事的判断标准完全不同：前者看它说的和图上对不对得上，后者看页面有没有真的变。&#10;&#10;所以练习的时候，附件、模型能力和具体工具要分别确认。上传成功是一件事，图片内容被正确理解是另一件事，中间还隔着模型是否支持图片输入这一环。&#10;&#10;浏览器那一边也一样。能在右侧显示一个网页预览，和能够打开、滚动、点击、截图，是两种不同的能力，不能互相顶替。&#10;&#10;两条线各自留证据，最后再对比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5&lt;/Text&gt;&#10;            &lt;/Box&gt;&#10;            &lt;Text style={{ fontSize: 16, color: '#546779' }}&gt;2.11.5&lt;/Text&gt;&#10;        &lt;/Box&gt;&#10;&#10;        &lt;Text style={{ fontSize: 56, fontWeight: 'bold', color: '#20344B', lineHeight: 1.15 }}&gt;分别练习读图与网页操作&lt;/Text&gt;&#10;&#10;        &lt;Box style={{ width: 640, height: 4, background: '#276FBF' }} /&gt;&#10;&#10;        &lt;Text style={{ fontSize: 19, color: '#546779', lineHeight: 1.7 }}&gt;一条线看它读得对不对，一条线看页面有没有真的变。&lt;/Text&gt;&#10;&#10;        &lt;Box style={{ marginTop: 8, flexDirection: 'row', gap: 16 }}&gt;&#10;            &lt;Box style={{ width: 300, height: 56, background: '#EDF4FC', borderRadius: 8, flexDirection: 'column', justifyContent: 'center', alignItems: 'center', gap: 2 }}&gt;&#10;                &lt;Text style={{ fontSize: 15, fontWeight: 'bold', color: '#276FBF' }}&gt;读图练习&lt;/Text&gt;&#10;                &lt;Text style={{ fontSize: 13, color: '#546779' }}&gt;图片依据与表格依据分开写&lt;/Text&gt;&#10;            &lt;/Box&gt;&#10;            &lt;Box style={{ width: 300, height: 56, background: '#EDF4FC', borderRadius: 8, flexDirection: 'column', justifyContent: 'center', alignItems: 'center', gap: 2 }}&gt;&#10;                &lt;Text style={{ fontSize: 15, fontWeight: 'bold', color: '#276FBF' }}&gt;浏览器 Skill&lt;/Text&gt;&#10;                &lt;Text style={{ fontSize: 13, color: '#546779' }}&gt;打开、滚动、点击、截图&lt;/Text&gt;&#10;            &lt;/Box&gt;&#10;            &lt;Box style={{ width: 300, height: 56, background: '#EDF4FC', borderRadius: 8, flexDirection: 'column', justifyContent: 'center', alignItems: 'center', gap: 2 }}&gt;&#10;                &lt;Text style={{ fontSize: 15, fontWeight: 'bold', color: '#276FBF' }}&gt;本地教学页面&lt;/Text&gt;&#10;                &lt;Text style={{ fontSize: 13, color: '#546779' }}&gt;服务只在命令运行期间存在&lt;/Text&gt;&#10;            &lt;/Box&gt;&#10;        &lt;/Box&gt;&#10;&#10;        &lt;Box style={{ flexDirection: 'row', justifyContent: 'center' }}&gt;&#10;            &lt;Box style={{ width: 300, height: 26, justifyContent: 'center', alignItems: 'center' }}&gt;&lt;Text style={{ fontSize: 18, color: '#26816B' }}&gt;↓&lt;/Text&gt;&lt;/Box&gt;&#10;        &lt;/Box&gt;&#10;&#10;        &lt;Box style={{ flexDirection: 'row', justifyContent: 'center' }}&gt;&#10;            &lt;Box style={{ width: 620, height: 56, background: '#ECF7F2', borderRadius: 8, justifyContent: 'center', alignItems: 'center' }}&gt;&#10;                &lt;Text style={{ fontSize: 17, fontWeight: 'bold', color: '#26816B' }}&gt;附件、模型能力与工具分别确认，不合起来判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18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609600" y="6572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14375" y="7620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295400" y="828675"/>
            <a:ext cx="43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2.11.5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分别练习读图与网页操作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609600" y="231457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09600" y="25431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一条线看它读得对不对，一条线看页面有没有真的变。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609600" y="3181350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752600" y="32766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读图练习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295400" y="3467100"/>
            <a:ext cx="1485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图片依据与表格依据分开写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3619500" y="3181350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4667250" y="3276600"/>
            <a:ext cx="771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浏览器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4371975" y="3467100"/>
            <a:ext cx="1362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打开、滚动、点击、截图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6629400" y="3181350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7629525" y="32766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本地教学页面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7315200" y="3467100"/>
            <a:ext cx="1485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服务只在命令运行期间存在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057900" y="39243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3143250" y="4343400"/>
            <a:ext cx="59055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476750" y="451485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附件、模型能力与工具分别确认，不合起来判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26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02" name="" descr="&lt;Slide notes={`第一条练习线是读图。做法很简单：把教学平面示意图拖进输入框，或者直接粘贴一张截图，然后选一个明确支持图片输入的模型。&#10;&#10;我问的第一个问题是：&quot;哪些信息直接可见，哪些需要查表或查询工具？&quot;这个问题故意留了后半段，就是要看它会不会主动承认图里没有的东西。&#10;&#10;接着我再加上房间表，要求它把两类依据分开写：哪一句来自图片，哪一句来自表格。&#10;&#10;这里有一个很容易被忽略的坑：上传成功不等于图片内容已经被正确理解。附件上传是界面上的事，模型是不是真的看到了图、看对了，要另外验。&#10;&#10;所以最后拿到回答，还要回头核对：它标的图片依据，图上真有吗？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1.5　在 WorkBuddy 中分别练习读图与网页操作&lt;/Text&gt;&#10;            &lt;Text style={{ fontSize: 34, fontWeight: 'bold', color: '#20344B' }}&gt;把图片依据和表格依据分开写&lt;/Text&gt;&#10;        &lt;/Box&gt;&#10;    &lt;/Box&gt;&#10;&#10;    &lt;Box style={{ height: 540, flexDirection: 'row', justifyContent: 'center', alignItems: 'center', gap: 20 }}&gt;&#10;&#10;        &lt;Box style={{ width: 700, flexDirection: 'column', gap: 16 }}&gt;&#10;&#10;            &lt;Box style={{ background: '#F4F7FA', borderRadius: 10, padding: 16, flexDirection: 'column', gap: 12 }}&gt;&#10;&#10;                &lt;Box style={{ flexDirection: 'row', justifyContent: 'space-between', alignItems: 'center' }}&gt;&#10;                    &lt;Text style={{ fontSize: 14, color: '#546779' }}&gt;任务输入区　拖入图片或粘贴截图&lt;/Text&gt;&#10;                    &lt;Box style={{ width: 88, height: 24, background: '#EDF4FC', borderRadius: 6, justifyContent: 'center', alignItems: 'center' }}&gt;&#10;                        &lt;Text style={{ fontSize: 13, color: '#546779' }}&gt;示意&lt;/Text&gt;&#10;                    &lt;/Box&gt;&#10;                &lt;/Box&gt;&#10;&#10;                &lt;Box style={{ background: '#FFFFFF', borderRadius: 8, padding: 14, flexDirection: 'column', gap: 10 }}&gt;&#10;                    &lt;Box style={{ height: 70, background: '#EDF4FC', borderRadius: 6, justifyContent: 'center', alignItems: 'center' }}&gt;&#10;                        &lt;Text style={{ fontSize: 14, color: '#276FBF' }}&gt;图片附件　教学平面示意（色块占位）&lt;/Text&gt;&#10;                    &lt;/Box&gt;&#10;                    &lt;Text style={{ fontSize: 15, color: '#20344B', lineHeight: 1.55 }}&gt;追问：哪些信息直接可见，哪些需要查表或查询工具？&lt;/Text&gt;&#10;                &lt;/Box&gt;&#10;&#10;                &lt;Box style={{ height: 52, background: '#ECF7F2', borderRadius: 8, justifyContent: 'center', alignItems: 'center' }}&gt;&#10;                    &lt;Text style={{ fontSize: 14, color: '#26816B' }}&gt;追加要求：附上房间表，分别标明图片依据与表格依据&lt;/Text&gt;&#10;                &lt;/Box&gt;&#10;&#10;            &lt;/Box&gt;&#10;&#10;            &lt;Box style={{ flexDirection: 'row', alignItems: 'center', gap: 14, background: '#EDF4FC', borderRadius: 10, padding: '14px 20px' }}&gt;&#10;                &lt;Box style={{ width: 4, height: 46, background: '#276FBF' }} /&gt;&#10;                &lt;Box style={{ flex: 1, flexDirection: 'column', gap: 3 }}&gt;&#10;                    &lt;Text style={{ fontSize: 15, fontWeight: 'bold', color: '#276FBF' }}&gt;模型必须支持图片输入&lt;/Text&gt;&#10;                    &lt;Text style={{ fontSize: 14, color: '#546779' }}&gt;附件能否上传、模型能否看图、工具能否查表，是三次独立确认。&lt;/Text&gt;&#10;                &lt;/Box&gt;&#10;            &lt;/Box&gt;&#10;&#10;        &lt;/Box&gt;&#10;&#10;        &lt;Box style={{ width: 432, flexDirection: 'column', gap: 16 }}&gt;&#10;&#10;            &lt;Box style={{ background: '#EDF4FC', borderRadius: 10, padding: '20px', flexDirection: 'column', gap: 8 }}&gt;&#10;                &lt;Text style={{ fontSize: 20, fontWeight: 'bold', color: '#276FBF' }}&gt;图片依据&lt;/Text&gt;&#10;                &lt;Text style={{ fontSize: 15, color: '#546779', lineHeight: 1.6 }}&gt;房间名称写在哪个位置；哪个房间挨着公共走廊。&lt;/Text&gt;&#10;            &lt;/Box&gt;&#10;&#10;            &lt;Box style={{ background: '#ECF7F2', borderRadius: 10, padding: '20px', flexDirection: 'column', gap: 8 }}&gt;&#10;                &lt;Text style={{ fontSize: 20, fontWeight: 'bold', color: '#26816B' }}&gt;表格依据&lt;/Text&gt;&#10;                &lt;Text style={{ fontSize: 15, color: '#546779', lineHeight: 1.6 }}&gt;每个房间的容量；各个时段的预约状态。&lt;/Text&gt;&#10;            &lt;/Box&gt;&#10;&#10;            &lt;Box style={{ background: '#FFF4E6', borderRadius: 10, padding: '16px 20px', flexDirection: 'row', gap: 12, alignItems: 'center' }}&gt;&#10;                &lt;Box style={{ width: 4, height: 58, background: '#CB6B28' }} /&gt;&#10;                &lt;Text style={{ fontSize: 15, color: '#CB6B28', lineHeight: 1.6 }}&gt;上传成功不等于图片内容已被正确理解，两类依据要分开核对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19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2.11.5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中分别练习读图与网页操作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把图片依据和表格依据分开写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609600" y="2009775"/>
            <a:ext cx="6667500" cy="2552700"/>
          </a:xfrm>
          <a:prstGeom prst="roundRect">
            <a:avLst>
              <a:gd name="adj" fmla="val 373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762000" y="220027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任务输入区　拖入图片或粘贴截图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6286500" y="2162175"/>
            <a:ext cx="838200" cy="228600"/>
          </a:xfrm>
          <a:prstGeom prst="roundRect">
            <a:avLst>
              <a:gd name="adj" fmla="val 2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581775" y="22002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762000" y="2505075"/>
            <a:ext cx="636270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895350" y="2638425"/>
            <a:ext cx="6096000" cy="666750"/>
          </a:xfrm>
          <a:prstGeom prst="roundRect">
            <a:avLst>
              <a:gd name="adj" fmla="val 857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2809875" y="289560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图片附件　教学平面示意（色块占位）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895350" y="3400425"/>
            <a:ext cx="6096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追问：哪些信息直接可见，哪些需要查表或查询工具？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762000" y="3914775"/>
            <a:ext cx="6362700" cy="495300"/>
          </a:xfrm>
          <a:prstGeom prst="roundRect">
            <a:avLst>
              <a:gd name="adj" fmla="val 1538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2343150" y="4086225"/>
            <a:ext cx="320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追加要求：附上房间表，分别标明图片依据与表格依据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609600" y="4714875"/>
            <a:ext cx="6667500" cy="704850"/>
          </a:xfrm>
          <a:prstGeom prst="roundRect">
            <a:avLst>
              <a:gd name="adj" fmla="val 135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18" name=""/>
          <p:cNvSpPr/>
          <p:nvPr/>
        </p:nvSpPr>
        <p:spPr>
          <a:xfrm rot="0" flipH="0" flipV="0">
            <a:off x="800100" y="4848225"/>
            <a:ext cx="38100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971550" y="4886325"/>
            <a:ext cx="6115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模型必须支持图片输入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971550" y="5086350"/>
            <a:ext cx="611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附件能否上传、模型能否看图、工具能否查表，是三次独立确认。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7467600" y="2171700"/>
            <a:ext cx="4114800" cy="962025"/>
          </a:xfrm>
          <a:prstGeom prst="roundRect">
            <a:avLst>
              <a:gd name="adj" fmla="val 990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7658100" y="2362200"/>
            <a:ext cx="3733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图片依据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7658100" y="2667000"/>
            <a:ext cx="3733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房间名称写在哪个位置；哪个房间挨着公共走廊。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7467600" y="3286125"/>
            <a:ext cx="4114800" cy="962025"/>
          </a:xfrm>
          <a:prstGeom prst="roundRect">
            <a:avLst>
              <a:gd name="adj" fmla="val 990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7658100" y="3476625"/>
            <a:ext cx="3733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表格依据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7658100" y="3781425"/>
            <a:ext cx="3733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每个房间的容量；各个时段的预约状态。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7467600" y="4400550"/>
            <a:ext cx="4114800" cy="85725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7658100" y="4552950"/>
            <a:ext cx="38100" cy="5524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7810500" y="4552950"/>
            <a:ext cx="3581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上传成功不等于图片内容已被正确理解，两类依据要分开核对。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26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66" name="" descr="&lt;Slide notes={`第二条练习线是网页操作。要动浏览器，就要先装一个能操作浏览器的 Skill。&#10;&#10;在技能里找官方介绍过的 agent-browser。找的过程本身就是一次练习：先核对来源，是不是官方的；再读说明，看它到底能做什么；然后看依赖，装之前要知道它会带来什么。三件事确认完，再启用。&#10;&#10;这里要划一条清楚的界线。右侧能显示一个网页预览，那是给人看的；agent-browser 做的是打开、滚动、点击、截图，那是让程序去操作页面。这两件事不是一回事，谁也不能顶替谁。&#10;&#10;如果环境里没有可用的浏览器 Skill，也可以人工把同样的动作做一遍，但记录时必须写清楚这是人工操作，不能声称模型控制了浏览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1.5　在 WorkBuddy 中分别练习读图与网页操作&lt;/Text&gt;&#10;            &lt;Text style={{ fontSize: 34, fontWeight: 'bold', color: '#20344B' }}&gt;浏览器 Skill 与页面预览不是一件事&lt;/Text&gt;&#10;        &lt;/Box&gt;&#10;    &lt;/Box&gt;&#10;&#10;    &lt;Box style={{ height: 540, flexDirection: 'row', gap: 40 }}&gt;&#10;&#10;        &lt;Box style={{ width: 320, flexDirection: 'column', justifyContent: 'center', gap: 14 }}&gt;&#10;            &lt;Text style={{ fontSize: 24, fontWeight: 'bold', color: '#276FBF', lineHeight: 1.45 }}&gt;装之前先核对三件事&lt;/Text&gt;&#10;            &lt;Box style={{ width: 56, height: 3, background: '#26816B' }} /&gt;&#10;            &lt;Text style={{ fontSize: 16, color: '#546779', lineHeight: 1.7 }}&gt;来源、说明与依赖，这三样确认清楚再启用。装好之后，它负责打开、滚动、点击和截图。&lt;/Text&gt;&#10;        &lt;/Box&gt;&#10;&#10;        &lt;Box style={{ flex: 1, flexDirection: 'column', justifyContent: 'center', gap: 16 }}&gt;&#10;&#10;            &lt;Box style={{ flexDirection: 'row', gap: 14, alignItems: 'center' }}&gt;&#10;                &lt;Box style={{ width: 3, height: 58, background: '#276FBF' }} /&gt;&#10;                &lt;Box style={{ flex: 1, flexDirection: 'column', gap: 3 }}&gt;&#10;                    &lt;Text style={{ fontSize: 18, fontWeight: 'bold', color: '#20344B' }}&gt;核对来源　是不是官方介绍的那个&lt;/Text&gt;&#10;                    &lt;Text style={{ fontSize: 15, color: '#546779', lineHeight: 1.5 }}&gt;名字像不代表同一个；以官方说明页为准。&lt;/Text&gt;&#10;                &lt;/Box&gt;&#10;            &lt;/Box&gt;&#10;&#10;            &lt;Box style={{ flexDirection: 'row', gap: 14, alignItems: 'center' }}&gt;&#10;                &lt;Box style={{ width: 3, height: 58, background: '#276FBF' }} /&gt;&#10;                &lt;Box style={{ flex: 1, flexDirection: 'column', gap: 3 }}&gt;&#10;                    &lt;Text style={{ fontSize: 18, fontWeight: 'bold', color: '#20344B' }}&gt;读说明　它能做哪几类页面动作&lt;/Text&gt;&#10;                    &lt;Text style={{ fontSize: 15, color: '#546779', lineHeight: 1.5 }}&gt;打开、滚动、点击、截图，各对应练习里的哪一步。&lt;/Text&gt;&#10;                &lt;/Box&gt;&#10;            &lt;/Box&gt;&#10;&#10;            &lt;Box style={{ flexDirection: 'row', gap: 14, alignItems: 'center' }}&gt;&#10;                &lt;Box style={{ width: 3, height: 58, background: '#276FBF' }} /&gt;&#10;                &lt;Box style={{ flex: 1, flexDirection: 'column', gap: 3 }}&gt;&#10;                    &lt;Text style={{ fontSize: 18, fontWeight: 'bold', color: '#20344B' }}&gt;看依赖　装完会带来什么&lt;/Text&gt;&#10;                    &lt;Text style={{ fontSize: 15, color: '#546779', lineHeight: 1.5 }}&gt;确认它运行在哪里，需要的运行环境与权限是什么。&lt;/Text&gt;&#10;                &lt;/Box&gt;&#10;            &lt;/Box&gt;&#10;&#10;            &lt;Box style={{ flexDirection: 'row', alignItems: 'center', gap: 14, background: '#FFF4E6', borderRadius: 10, padding: '15px 20px' }}&gt;&#10;                &lt;Box style={{ width: 4, height: 52, background: '#CB6B28' }} /&gt;&#10;                &lt;Box style={{ flex: 1, flexDirection: 'column', gap: 3 }}&gt;&#10;                    &lt;Text style={{ fontSize: 16, fontWeight: 'bold', color: '#CB6B28' }}&gt;显示一个网页预览，不等于能操作浏览器&lt;/Text&gt;&#10;                    &lt;Text style={{ fontSize: 14, color: '#546779' }}&gt;没有可用 Skill 时可人工完成，但要记录为人工操作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20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086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2.11.5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中分别练习读图与网页操作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086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浏览器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与页面预览不是一件事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609600" y="3057525"/>
            <a:ext cx="3048000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276FBF"/>
                </a:solidFill>
                <a:latin typeface="Microsoft YaHei"/>
                <a:ea typeface="Microsoft YaHei"/>
              </a:rPr>
              <a:t>装之前先核对三件事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609600" y="359092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609600" y="3752850"/>
            <a:ext cx="3048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来源、说明与依赖，这三样确认清楚再启用。装好之后，它负责打开、滚动、点击和截图。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4038600" y="2266950"/>
            <a:ext cx="28575" cy="5524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4200525" y="2295525"/>
            <a:ext cx="7381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核对来源　是不是官方介绍的那个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4200525" y="2533650"/>
            <a:ext cx="7381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名字像不代表同一个；以官方说明页为准。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4038600" y="2971800"/>
            <a:ext cx="28575" cy="5524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4200525" y="3000375"/>
            <a:ext cx="7381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读说明　它能做哪几类页面动作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4200525" y="3238500"/>
            <a:ext cx="7381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打开、滚动、点击、截图，各对应练习里的哪一步。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4038600" y="3676650"/>
            <a:ext cx="28575" cy="5524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4200525" y="3705225"/>
            <a:ext cx="7381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看依赖　装完会带来什么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4200525" y="3943350"/>
            <a:ext cx="7381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确认它运行在哪里，需要的运行环境与权限是什么。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4038600" y="4381500"/>
            <a:ext cx="7543800" cy="781050"/>
          </a:xfrm>
          <a:prstGeom prst="roundRect">
            <a:avLst>
              <a:gd name="adj" fmla="val 1219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84" name=""/>
          <p:cNvSpPr/>
          <p:nvPr/>
        </p:nvSpPr>
        <p:spPr>
          <a:xfrm rot="0" flipH="0" flipV="0">
            <a:off x="4229100" y="4524375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4400550" y="4581525"/>
            <a:ext cx="6991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显示一个网页预览，不等于能操作浏览器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4400550" y="4800600"/>
            <a:ext cx="6991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没有可用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时可人工完成，但要记录为人工操作。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26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89" name="" descr="&lt;Slide notes={`教学页面要在本地 HTTP 服务下才能正常打开。在 examples 目录里跑一条命令：用 Python 的 http.server，绑定 127.0.0.1，端口 8765，把 data 目录作为站点根目录。&#10;&#10;绑定 127.0.0.1 是故意的，它只对本机开放，不对外网暴露。服务只在命令运行期间存在，终端一关就没了。&#10;&#10;然后访问 127.0.0.1:8765 下面的 review-page.html。预约信息折叠在房间详情里，要让它先展开手作室详情，再读预约区间并截图，最后跟 availability.json 对一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1.5　在 WorkBuddy 中分别练习读图与网页操作&lt;/Text&gt;&#10;            &lt;Text style={{ fontSize: 34, fontWeight: 'bold', color: '#20344B' }}&gt;本地服务的边界与停止方式&lt;/Text&gt;&#10;        &lt;/Box&gt;&#10;    &lt;/Box&gt;&#10;&#10;    &lt;Box style={{ height: 540, flexDirection: 'column', justifyContent: 'center', gap: 14 }}&gt;&#10;&#10;        &lt;Box style={{ flexDirection: 'row', gap: 16, background: '#F4F7FA', borderRadius: 10, padding: '16px 20px', alignItems: 'center' }}&gt;&#10;            &lt;Box style={{ width: 150, flexDirection: 'column', gap: 3 }}&gt;&#10;                &lt;Text style={{ fontSize: 18, fontWeight: 'bold', color: '#20344B' }}&gt;启动本地服务&lt;/Text&gt;&#10;                &lt;Text style={{ fontSize: 13, color: '#546779' }}&gt;只对本机开放&lt;/Text&gt;&#10;            &lt;/Box&gt;&#10;            &lt;Box style={{ width: 610 }}&gt;&#10;                &lt;Text style={{ fontSize: 13, fontFamily: 'Consolas', color: '#276FBF' }}&gt;python -m http.server 8765 --bind 127.0.0.1 --directory data&lt;/Text&gt;&#10;            &lt;/Box&gt;&#10;            &lt;Box style={{ width: 320 }}&gt;&#10;                &lt;Text style={{ fontSize: 14, color: '#546779', lineHeight: 1.5 }}&gt;服务只在命令运行期间存在，终端关闭即结束。&lt;/Text&gt;&#10;            &lt;/Box&gt;&#10;        &lt;/Box&gt;&#10;&#10;        &lt;Box style={{ flexDirection: 'row', gap: 16, background: '#F4F7FA', borderRadius: 10, padding: '16px 20px', alignItems: 'center' }}&gt;&#10;            &lt;Box style={{ width: 150, flexDirection: 'column', gap: 3 }}&gt;&#10;                &lt;Text style={{ fontSize: 18, fontWeight: 'bold', color: '#20344B' }}&gt;打开教学页面&lt;/Text&gt;&#10;                &lt;Text style={{ fontSize: 13, color: '#546779' }}&gt;浏览器访问&lt;/Text&gt;&#10;            &lt;/Box&gt;&#10;            &lt;Box style={{ width: 610 }}&gt;&#10;                &lt;Text style={{ fontSize: 13, fontFamily: 'Consolas', color: '#276FBF' }}&gt;http://127.0.0.1:8765/review-page.html&lt;/Text&gt;&#10;            &lt;/Box&gt;&#10;            &lt;Box style={{ width: 320 }}&gt;&#10;                &lt;Text style={{ fontSize: 14, color: '#546779', lineHeight: 1.5 }}&gt;让助手展开手作室详情，读取预约区间并截图。&lt;/Text&gt;&#10;            &lt;/Box&gt;&#10;        &lt;/Box&gt;&#10;&#10;        &lt;Box style={{ flexDirection: 'row', gap: 16, background: '#F4F7FA', borderRadius: 10, padding: '16px 20px', alignItems: 'center' }}&gt;&#10;            &lt;Box style={{ width: 150, flexDirection: 'column', gap: 3 }}&gt;&#10;                &lt;Text style={{ fontSize: 18, fontWeight: 'bold', color: '#20344B' }}&gt;核对与结束&lt;/Text&gt;&#10;                &lt;Text style={{ fontSize: 13, color: '#546779' }}&gt;对照数据文件&lt;/Text&gt;&#10;            &lt;/Box&gt;&#10;            &lt;Box style={{ width: 610 }}&gt;&#10;                &lt;Text style={{ fontSize: 14, color: '#26816B' }}&gt;把展开后的真实页面与 availability.json 逐项对照。&lt;/Text&gt;&#10;            &lt;/Box&gt;&#10;            &lt;Box style={{ width: 320 }}&gt;&#10;                &lt;Text style={{ fontSize: 14, color: '#546779', lineHeight: 1.5 }}&gt;练习结束，在该终端按 Ctrl+C 停止服务。&lt;/Text&gt;&#10;            &lt;/Box&gt;&#10;        &lt;/Box&gt;&#10;&#10;        &lt;Box style={{ flexDirection: 'row', alignItems: 'center', gap: 16, background: '#FFF4E6', borderRadius: 10, padding: '16px 22px' }}&gt;&#10;            &lt;Box style={{ width: 4, height: 52, background: '#CB6B28' }} /&gt;&#10;            &lt;Box style={{ flex: 1, flexDirection: 'column', gap: 3 }}&gt;&#10;                &lt;Text style={{ fontSize: 16, fontWeight: 'bold', color: '#CB6B28' }}&gt;远端环境里的 localhost 不是读者电脑&lt;/Text&gt;&#10;                &lt;Text style={{ fontSize: 14, color: '#546779' }}&gt;若浏览器工具运行在远端，先确认它的执行位置；这是静态教学页面，没有登录、发送或预约提交按钮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21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2.11.5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中分别练习读图与网页操作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本地服务的边界与停止方式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609600" y="2076450"/>
            <a:ext cx="10972800" cy="695325"/>
          </a:xfrm>
          <a:prstGeom prst="roundRect">
            <a:avLst>
              <a:gd name="adj" fmla="val 1369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800100" y="222885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启动本地服务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00100" y="2466975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只对本机开放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2381250" y="2352675"/>
            <a:ext cx="5810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Consolas"/>
                <a:ea typeface="Consolas"/>
              </a:rPr>
              <a:t>python -m http.server 8765 --bind 127.0.0.1 --directory data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8343900" y="2305050"/>
            <a:ext cx="3048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服务只在命令运行期间存在，终端关闭即结束。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609600" y="2905125"/>
            <a:ext cx="10972800" cy="695325"/>
          </a:xfrm>
          <a:prstGeom prst="roundRect">
            <a:avLst>
              <a:gd name="adj" fmla="val 1369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800100" y="305752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打开教学页面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800100" y="32956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浏览器访问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2381250" y="3181350"/>
            <a:ext cx="5810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Consolas"/>
                <a:ea typeface="Consolas"/>
              </a:rPr>
              <a:t>http://127.0.0.1:8765/review-page.html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8343900" y="3133725"/>
            <a:ext cx="3048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让助手展开手作室详情，读取预约区间并截图。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609600" y="3733800"/>
            <a:ext cx="10972800" cy="695325"/>
          </a:xfrm>
          <a:prstGeom prst="roundRect">
            <a:avLst>
              <a:gd name="adj" fmla="val 1369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800100" y="388620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核对与结束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00100" y="4124325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对照数据文件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2381250" y="4000500"/>
            <a:ext cx="581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把展开后的真实页面与</a:t>
            </a: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 availability.json </a:t>
            </a: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逐项对照。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8343900" y="3962400"/>
            <a:ext cx="3048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练习结束，在该终端按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Ctrl+C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停止服务。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609600" y="45624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0" name=""/>
          <p:cNvSpPr/>
          <p:nvPr/>
        </p:nvSpPr>
        <p:spPr>
          <a:xfrm rot="0" flipH="0" flipV="0">
            <a:off x="819150" y="4714875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1009650" y="4772025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远端环境里的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localhost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不是读者电脑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1009650" y="4991100"/>
            <a:ext cx="1036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若浏览器工具运行在远端，先确认它的执行位置；这是静态教学页面，没有登录、发送或预约提交按钮。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26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15" name="" descr="&lt;Slide notes={`三个知识块讲完了，现在轮到我们自己动手设陷。&#10;&#10;第一道练习是制造冲突。在示意图的练习副本上加一个容量数字，故意让它跟表格对不上，同时把原图留着做对照。我想看的是：助手会不会指出冲突，会不会把两个来源都列出来，会不会按题目指定的表格来源处理。&#10;&#10;第二道练习是制造缺失。把图里一个房间的名称遮住。好的回答应该把&quot;能认出来的标注&quot;和&quot;不确定的区域&quot;分开说，而不是从熟悉的场馆布局里，把缺的那块补出来。&#10;&#10;第三道练习是追问。为什么一张成功的网页截图，能证明页面已经显示，却不能证明后台预约已经提交？&#10;&#10;三道题都指向同一件事：把证据的边界说清楚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6&lt;/Text&gt;&#10;            &lt;/Box&gt;&#10;            &lt;Text style={{ fontSize: 16, color: '#546779' }}&gt;2.11.6&lt;/Text&gt;&#10;        &lt;/Box&gt;&#10;&#10;        &lt;Text style={{ fontSize: 56, fontWeight: 'bold', color: '#20344B', lineHeight: 1.15 }}&gt;制造冲突，也制造缺失&lt;/Text&gt;&#10;&#10;        &lt;Box style={{ width: 640, height: 4, background: '#276FBF' }} /&gt;&#10;&#10;        &lt;Text style={{ fontSize: 19, color: '#546779', lineHeight: 1.7 }}&gt;主动把错误与空白放进去，看它会不会指出来。&lt;/Text&gt;&#10;&#10;        &lt;Box style={{ marginTop: 8, flexDirection: 'row', gap: 16 }}&gt;&#10;            &lt;Box style={{ width: 300, height: 56, background: '#EDF4FC', borderRadius: 8, flexDirection: 'column', justifyContent: 'center', alignItems: 'center', gap: 2 }}&gt;&#10;                &lt;Text style={{ fontSize: 15, fontWeight: 'bold', color: '#276FBF' }}&gt;练习一　容量冲突&lt;/Text&gt;&#10;                &lt;Text style={{ fontSize: 13, color: '#546779' }}&gt;指出冲突并列出两个来源&lt;/Text&gt;&#10;            &lt;/Box&gt;&#10;            &lt;Box style={{ width: 300, height: 56, background: '#EDF4FC', borderRadius: 8, flexDirection: 'column', justifyContent: 'center', alignItems: 'center', gap: 2 }}&gt;&#10;                &lt;Text style={{ fontSize: 15, fontWeight: 'bold', color: '#276FBF' }}&gt;练习二　遮挡名称&lt;/Text&gt;&#10;                &lt;Text style={{ fontSize: 13, color: '#546779' }}&gt;可辨认与不确定要分开&lt;/Text&gt;&#10;            &lt;/Box&gt;&#10;            &lt;Box style={{ width: 300, height: 56, background: '#FFF4E6', borderRadius: 8, flexDirection: 'column', justifyContent: 'center', alignItems: 'center', gap: 2 }}&gt;&#10;                &lt;Text style={{ fontSize: 15, fontWeight: 'bold', color: '#CB6B28' }}&gt;练习三　追问截图&lt;/Text&gt;&#10;                &lt;Text style={{ fontSize: 13, color: '#546779' }}&gt;显示过，不等于提交过&lt;/Text&gt;&#10;            &lt;/Box&gt;&#10;        &lt;/Box&gt;&#10;&#10;        &lt;Box style={{ flexDirection: 'row', justifyContent: 'center' }}&gt;&#10;            &lt;Box style={{ width: 300, height: 26, justifyContent: 'center', alignItems: 'center' }}&gt;&lt;Text style={{ fontSize: 18, color: '#26816B' }}&gt;↓&lt;/Text&gt;&lt;/Box&gt;&#10;        &lt;/Box&gt;&#10;&#10;        &lt;Box style={{ flexDirection: 'row', justifyContent: 'center' }}&gt;&#10;            &lt;Box style={{ width: 620, height: 56, background: '#ECF7F2', borderRadius: 8, justifyContent: 'center', alignItems: 'center' }}&gt;&#10;                &lt;Text style={{ fontSize: 17, fontWeight: 'bold', color: '#26816B' }}&gt;先让它说出依据，再判断这个依据够不够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22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7" name=""/>
          <p:cNvSpPr/>
          <p:nvPr/>
        </p:nvSpPr>
        <p:spPr>
          <a:xfrm rot="0" flipH="0" flipV="0">
            <a:off x="609600" y="6572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714375" y="7620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1295400" y="828675"/>
            <a:ext cx="43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2.11.6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制造冲突，也制造缺失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609600" y="231457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609600" y="25431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主动把错误与空白放进去，看它会不会指出来。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609600" y="3181350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1466850" y="327660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练习一　容量冲突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1362075" y="3467100"/>
            <a:ext cx="1362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指出冲突并列出两个来源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3619500" y="3181350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4476750" y="327660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练习二　遮挡名称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4429125" y="346710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可辨认与不确定要分开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6629400" y="3181350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7486650" y="327660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练习三　追问截图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7439025" y="346710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显示过，不等于提交过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6057900" y="39243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3143250" y="4343400"/>
            <a:ext cx="59055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4638675" y="4514850"/>
            <a:ext cx="291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先让它说出依据，再判断这个依据够不够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26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37" name="" descr="&lt;Slide notes={`第一道练习，我们主动往图里放一个错。&#10;&#10;做法是这样的：复制一份示意图作为练习副本，在上面加一个容量数字，故意让它和表格里写的对不上。原图留着不动，作为对照。&#10;&#10;这时候助手会同时拿到两个互相矛盾的来源：一个是图上的数字，一个是表格里的数字。我要看的不是它选哪个，而是它有没有意识到这里有矛盾。&#10;&#10;理想的回答分三步：先指出冲突确实存在；再把两个来源都列出来，说明一个来自示意图、一个来自表格；最后按题目指定的表格来源处理。&#10;&#10;这里有一条底线：不要让它凭视觉去猜哪个更&quot;真实&quot;。看起来更合理的那个，未必是对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1.6　本节练习&lt;/Text&gt;&#10;            &lt;Text style={{ fontSize: 34, fontWeight: 'bold', color: '#20344B' }}&gt;练习一：制造一处容量冲突&lt;/Text&gt;&#10;        &lt;/Box&gt;&#10;    &lt;/Box&gt;&#10;&#10;    &lt;Box style={{ height: 540, flexDirection: 'column', justifyContent: 'center', gap: 16 }}&gt;&#10;&#10;        &lt;Box style={{ flexDirection: 'row', alignItems: 'center', gap: 12 }}&gt;&#10;            &lt;Box style={{ width: 4, height: 18, background: '#CB6B28' }} /&gt;&#10;            &lt;Text style={{ fontSize: 15, color: '#546779' }}&gt;在示意图的练习副本上添加容量数字，保留原图作为对照。&lt;/Text&gt;&#10;        &lt;/Box&gt;&#10;&#10;        &lt;Box style={{ flexDirection: 'row', alignItems: 'center' }}&gt;&#10;&#10;            &lt;Box style={{ width: 540, height: 232, background: '#ECF7F2', borderRadius: 12, padding: 20, flexDirection: 'column', gap: 8 }}&gt;&#10;                &lt;Text style={{ fontSize: 20, fontWeight: 'bold', color: '#26816B' }}&gt;表格来源　rooms.csv&lt;/Text&gt;&#10;                &lt;Text style={{ fontSize: 14, fontFamily: 'Consolas', color: '#546779' }}&gt;data/rooms.csv&lt;/Text&gt;&#10;                &lt;Text style={{ fontSize: 15, color: '#20344B', lineHeight: 1.55 }}&gt;手作室的容量以表格为准；预约状态另查 availability.json。&lt;/Text&gt;&#10;                &lt;Text style={{ fontSize: 14, color: '#546779', lineHeight: 1.5 }}&gt;这是本题指定的处理来源。&lt;/Text&gt;&#10;            &lt;/Box&gt;&#10;&#10;            &lt;Box style={{ width: 72, height: 232, justifyContent: 'center', alignItems: 'center' }}&gt;&#10;                &lt;Box style={{ width: 60, height: 60, borderRadius: 30, background: '#CB6B28', justifyContent: 'center', alignItems: 'center' }}&gt;&#10;                    &lt;Text style={{ fontSize: 16, fontWeight: 'bold', color: '#FFFFFF' }}&gt;冲突&lt;/Text&gt;&#10;                &lt;/Box&gt;&#10;            &lt;/Box&gt;&#10;&#10;            &lt;Box style={{ width: 540, height: 232, background: '#FFF4E6', borderRadius: 12, padding: 20, flexDirection: 'column', gap: 8 }}&gt;&#10;                &lt;Box style={{ flexDirection: 'row', justifyContent: 'space-between', alignItems: 'center' }}&gt;&#10;                    &lt;Text style={{ fontSize: 20, fontWeight: 'bold', color: '#CB6B28' }}&gt;练习副本　平面上加写数字&lt;/Text&gt;&#10;                    &lt;Box style={{ width: 80, height: 24, background: '#FFFFFF', borderRadius: 6, justifyContent: 'center', alignItems: 'center' }}&gt;&#10;                        &lt;Text style={{ fontSize: 13, color: '#546779' }}&gt;示意&lt;/Text&gt;&#10;                    &lt;/Box&gt;&#10;                &lt;/Box&gt;&#10;                &lt;Text style={{ fontSize: 15, color: '#20344B', lineHeight: 1.55 }}&gt;副本上写入一个容量数字，与 rooms.csv 的记录不一致。&lt;/Text&gt;&#10;                &lt;Text style={{ fontSize: 14, color: '#CB6B28', lineHeight: 1.5 }}&gt;原图保留不动，两处数字摆在一起对照。&lt;/Text&gt;&#10;            &lt;/Box&gt;&#10;&#10;        &lt;/Box&gt;&#10;&#10;        &lt;Box style={{ flexDirection: 'row', alignItems: 'center', gap: 16, background: '#F4F7FA', borderRadius: 10, padding: '16px 22px' }}&gt;&#10;            &lt;Box style={{ width: 4, height: 50, background: '#CB6B28' }} /&gt;&#10;            &lt;Box style={{ flex: 1, flexDirection: 'column', gap: 3 }}&gt;&#10;                &lt;Text style={{ fontSize: 16, fontWeight: 'bold', color: '#CB6B28' }}&gt;要求：指出冲突，列出两个来源，再按本题指定的表格来源处理&lt;/Text&gt;&#10;                &lt;Text style={{ fontSize: 14, color: '#546779' }}&gt;不要让它凭视觉猜测哪个数字更&quot;真实&quot;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23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2.11.6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本节练习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练习一：制造一处容量冲突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609600" y="1981200"/>
            <a:ext cx="38100" cy="1714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762000" y="1981200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在示意图的练习副本上添加容量数字，保留原图作为对照。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609600" y="2305050"/>
            <a:ext cx="5143500" cy="2209800"/>
          </a:xfrm>
          <a:prstGeom prst="roundRect">
            <a:avLst>
              <a:gd name="adj" fmla="val 517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800100" y="2495550"/>
            <a:ext cx="476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表格来源　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>rooms.csv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800100" y="2800350"/>
            <a:ext cx="476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Consolas"/>
                <a:ea typeface="Consolas"/>
              </a:rPr>
              <a:t>data/rooms.csv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800100" y="3038475"/>
            <a:ext cx="4762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手作室的容量以表格为准；预约状态另查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availability.json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800100" y="3381375"/>
            <a:ext cx="4762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这是本题指定的处理来源。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5810250" y="31242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5943600" y="33147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冲突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6438900" y="2305050"/>
            <a:ext cx="5143500" cy="2209800"/>
          </a:xfrm>
          <a:prstGeom prst="roundRect">
            <a:avLst>
              <a:gd name="adj" fmla="val 517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6629400" y="2495550"/>
            <a:ext cx="2286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练习副本　平面上加写数字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10629900" y="2495550"/>
            <a:ext cx="76200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10887075" y="25336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6629400" y="2800350"/>
            <a:ext cx="4762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副本上写入一个容量数字，与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rooms.csv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的记录不一致。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6629400" y="3143250"/>
            <a:ext cx="4762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原图保留不动，两处数字摆在一起对照。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609600" y="4667250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58" name=""/>
          <p:cNvSpPr/>
          <p:nvPr/>
        </p:nvSpPr>
        <p:spPr>
          <a:xfrm rot="0" flipH="0" flipV="0">
            <a:off x="819150" y="4819650"/>
            <a:ext cx="38100" cy="4762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1009650" y="4867275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要求：指出冲突，列出两个来源，再按本题指定的表格来源处理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1009650" y="5086350"/>
            <a:ext cx="1036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不要让它凭视觉猜测哪个数字更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真实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26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63" name="" descr="&lt;Slide notes={`第二道练习，我们制造一处缺失。&#10;&#10;把示意图里一个房间的名称遮住，然后问：&quot;图上有几个房间，分别是什么？&quot;&#10;&#10;这一题想看的是它会不会补齐。人看到一张场馆平面图，很容易凭经验想&quot;这里大概是阅读室吧&quot;，然后很自然地把缺的那块填上。模型也会这样。&#10;&#10;好的回答应该分成两栏。一栏是能认出来的：另外两个房间的名称，以及它们和走廊的相对位置。另一栏是不确定的：被遮住的那块区域，从图里无法判断是什么房间。&#10;&#10;两栏分开说，结论才站得住。如果它直接给出三个房间名称，那第三个就是它自己补的，不管看起来多合理，都不能算读出来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1.6　本节练习&lt;/Text&gt;&#10;            &lt;Text style={{ fontSize: 34, fontWeight: 'bold', color: '#20344B' }}&gt;练习二：遮住一个房间名称&lt;/Text&gt;&#10;        &lt;/Box&gt;&#10;    &lt;/Box&gt;&#10;&#10;    &lt;Box style={{ height: 540, flexDirection: 'row', justifyContent: 'center', alignItems: 'center', gap: 22 }}&gt;&#10;&#10;        &lt;Box style={{ width: 460, background: '#F4F7FA', borderRadius: 10, padding: 14, flexDirection: 'column', gap: 10 }}&gt;&#10;&#10;            &lt;Box style={{ flexDirection: 'row', justifyContent: 'space-between', alignItems: 'center' }}&gt;&#10;                &lt;Text style={{ fontSize: 14, color: '#546779' }}&gt;教学平面示意　练习副本&lt;/Text&gt;&#10;                &lt;Box style={{ width: 80, height: 24, background: '#EDF4FC', borderRadius: 6, justifyContent: 'center', alignItems: 'center' }}&gt;&#10;                    &lt;Text style={{ fontSize: 13, color: '#546779' }}&gt;示意&lt;/Text&gt;&#10;                &lt;/Box&gt;&#10;            &lt;/Box&gt;&#10;&#10;            &lt;Box style={{ background: '#FFFFFF', borderRadius: 8, padding: 12, flexDirection: 'column', gap: 8 }}&gt;&#10;                &lt;Box style={{ height: 44, background: '#EDF4FC', borderRadius: 6, justifyContent: 'center', alignItems: 'center' }}&gt;&#10;                    &lt;Text style={{ fontSize: 15, color: '#276FBF' }}&gt;手作室&lt;/Text&gt;&#10;                &lt;/Box&gt;&#10;                &lt;Box style={{ height: 44, background: '#B5C7D8', borderRadius: 6, justifyContent: 'center', alignItems: 'center' }}&gt;&#10;                    &lt;Text style={{ fontSize: 13, color: '#20344B' }}&gt;遮挡块　覆盖房间名称&lt;/Text&gt;&#10;                &lt;/Box&gt;&#10;                &lt;Box style={{ height: 44, background: '#EDF4FC', borderRadius: 6, justifyContent: 'center', alignItems: 'center' }}&gt;&#10;                    &lt;Text style={{ fontSize: 15, color: '#276FBF' }}&gt;交流室&lt;/Text&gt;&#10;                &lt;/Box&gt;&#10;                &lt;Text style={{ fontSize: 12, color: '#546779', lineHeight: 1.5 }}&gt;被覆盖的区域，从图面无法判断是什么房间。&lt;/Text&gt;&#10;            &lt;/Box&gt;&#10;&#10;        &lt;/Box&gt;&#10;&#10;        &lt;Box style={{ width: 670, flexDirection: 'column', gap: 14 }}&gt;&#10;&#10;            &lt;Text style={{ fontSize: 24, fontWeight: 'bold', color: '#276FBF', lineHeight: 1.45 }}&gt;好的回答会分成两栏来说&lt;/Text&gt;&#10;&#10;            &lt;Box style={{ background: '#ECF7F2', borderRadius: 10, padding: '18px 20px', flexDirection: 'column', gap: 6 }}&gt;&#10;                &lt;Text style={{ fontSize: 19, fontWeight: 'bold', color: '#26816B' }}&gt;可辨认&lt;/Text&gt;&#10;                &lt;Text style={{ fontSize: 15, color: '#546779', lineHeight: 1.6 }}&gt;另外两个房间的名称，以及它们与公共走廊的相对位置。&lt;/Text&gt;&#10;            &lt;/Box&gt;&#10;&#10;            &lt;Box style={{ background: '#FFF4E6', borderRadius: 10, padding: '18px 20px', flexDirection: 'column', gap: 6 }}&gt;&#10;                &lt;Text style={{ fontSize: 19, fontWeight: 'bold', color: '#CB6B28' }}&gt;不确定&lt;/Text&gt;&#10;                &lt;Text style={{ fontSize: 15, color: '#546779', lineHeight: 1.6 }}&gt;被遮挡的那一块，图上没有信息，不能给出房间名称。&lt;/Text&gt;&#10;            &lt;/Box&gt;&#10;&#10;            &lt;Box style={{ flexDirection: 'row', alignItems: 'center', gap: 14, background: '#F4F7FA', borderRadius: 10, padding: '14px 20px' }}&gt;&#10;                &lt;Box style={{ width: 4, height: 48, background: '#CB6B28' }} /&gt;&#10;                &lt;Text style={{ fontSize: 15, color: '#CB6B28', lineHeight: 1.55 }}&gt;不要从熟悉的场馆布局补出缺失信息，补出来的不算读出来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24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2.11.6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本节练习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练习二：遮住一个房间名称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609600" y="2457450"/>
            <a:ext cx="4381500" cy="2514600"/>
          </a:xfrm>
          <a:prstGeom prst="roundRect">
            <a:avLst>
              <a:gd name="adj" fmla="val 378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742950" y="262890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教学平面示意　练习副本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4095750" y="2590800"/>
            <a:ext cx="762000" cy="228600"/>
          </a:xfrm>
          <a:prstGeom prst="roundRect">
            <a:avLst>
              <a:gd name="adj" fmla="val 2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4352925" y="26289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742950" y="2914650"/>
            <a:ext cx="4114800" cy="19240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3" name=""/>
          <p:cNvSpPr/>
          <p:nvPr/>
        </p:nvSpPr>
        <p:spPr>
          <a:xfrm rot="0" flipH="0" flipV="0">
            <a:off x="857250" y="3028950"/>
            <a:ext cx="3886200" cy="419100"/>
          </a:xfrm>
          <a:prstGeom prst="roundRect">
            <a:avLst>
              <a:gd name="adj" fmla="val 1363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2590800" y="31527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手作室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857250" y="3524250"/>
            <a:ext cx="3886200" cy="419100"/>
          </a:xfrm>
          <a:prstGeom prst="roundRect">
            <a:avLst>
              <a:gd name="adj" fmla="val 13636"/>
            </a:avLst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2181225" y="365760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遮挡块　覆盖房间名称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857250" y="4019550"/>
            <a:ext cx="3886200" cy="419100"/>
          </a:xfrm>
          <a:prstGeom prst="roundRect">
            <a:avLst>
              <a:gd name="adj" fmla="val 1363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2590800" y="41433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交流室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857250" y="4514850"/>
            <a:ext cx="38862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被覆盖的区域，从图面无法判断是什么房间。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5200650" y="2057400"/>
            <a:ext cx="6381750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276FBF"/>
                </a:solidFill>
                <a:latin typeface="Microsoft YaHei"/>
                <a:ea typeface="Microsoft YaHei"/>
              </a:rPr>
              <a:t>好的回答会分成两栏来说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5200650" y="2590800"/>
            <a:ext cx="6381750" cy="895350"/>
          </a:xfrm>
          <a:prstGeom prst="roundRect">
            <a:avLst>
              <a:gd name="adj" fmla="val 1063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5391150" y="2762250"/>
            <a:ext cx="6000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可辨认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5391150" y="3038475"/>
            <a:ext cx="60007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另外两个房间的名称，以及它们与公共走廊的相对位置。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5200650" y="3619500"/>
            <a:ext cx="6381750" cy="895350"/>
          </a:xfrm>
          <a:prstGeom prst="roundRect">
            <a:avLst>
              <a:gd name="adj" fmla="val 1063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5391150" y="3790950"/>
            <a:ext cx="6000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不确定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5391150" y="4067175"/>
            <a:ext cx="60007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被遮挡的那一块，图上没有信息，不能给出房间名称。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5200650" y="4648200"/>
            <a:ext cx="638175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8" name=""/>
          <p:cNvSpPr/>
          <p:nvPr/>
        </p:nvSpPr>
        <p:spPr>
          <a:xfrm rot="0" flipH="0" flipV="0">
            <a:off x="5391150" y="478155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5562600" y="4876800"/>
            <a:ext cx="38576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不要从熟悉的场馆布局补出缺失信息，补出来的不算读出来。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26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492" name="" descr="&lt;Slide notes={`第三道练习是一个追问，也是这一节的落点。&#10;&#10;问题是这样：为什么一张网页成功截图，可以证明页面已经显示，却不能证明后台预约已经提交？&#10;&#10;把&quot;能证明&quot;和&quot;不能证明&quot;分开看就清楚了。&#10;&#10;一张截图能证明的，是这一刻页面渲染出来的内容，是页面上各个元素的位置和状态，还有就是浏览器确实把这个页面加载出来了。它记录的是屏幕上的事实。&#10;&#10;它不能证明的，是后台的预约已经提交成功。它也不能证明数据已经写进服务端，更不能证明别人看到的状态和这里一样。屏幕和后台之间隔着一整条链路：请求有没有发出去，服务端有没有收下，有没有真的写进去。&#10;&#10;截图是&quot;看见&quot;的证据，不是&quot;做到&quot;的证据。这两类证据不能互换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1.6　本节练习&lt;/Text&gt;&#10;            &lt;Text style={{ fontSize: 34, fontWeight: 'bold', color: '#20344B' }}&gt;练习三：截图证明了什么&lt;/Text&gt;&#10;        &lt;/Box&gt;&#10;    &lt;/Box&gt;&#10;&#10;    &lt;Box style={{ height: 540, flexDirection: 'column', justifyContent: 'center', gap: 16 }}&gt;&#10;&#10;        &lt;Box style={{ flexDirection: 'row', justifyContent: 'center', gap: 24 }}&gt;&#10;&#10;            &lt;Box style={{ width: 564, flexDirection: 'column', gap: 12 }}&gt;&#10;                &lt;Box style={{ height: 56, background: '#ECF7F2', borderRadius: 8, justifyContent: 'center', alignItems: 'center' }}&gt;&#10;                    &lt;Text style={{ fontSize: 20, fontWeight: 'bold', color: '#26816B' }}&gt;截图能证明&lt;/Text&gt;&#10;                &lt;/Box&gt;&#10;                &lt;Box style={{ height: 92, background: '#F4F7FA', borderRadius: 8, padding: '16px 18px', justifyContent: 'center' }}&gt;&#10;                    &lt;Text style={{ fontSize: 15, color: '#20344B', lineHeight: 1.5 }}&gt;这一刻页面渲染出来的内容&lt;/Text&gt;&#10;                &lt;/Box&gt;&#10;                &lt;Box style={{ height: 92, background: '#F4F7FA', borderRadius: 8, padding: '16px 18px', justifyContent: 'center' }}&gt;&#10;                    &lt;Text style={{ fontSize: 15, color: '#20344B', lineHeight: 1.5 }}&gt;页面元素的位置与当前状态&lt;/Text&gt;&#10;                &lt;/Box&gt;&#10;                &lt;Box style={{ height: 92, background: '#F4F7FA', borderRadius: 8, padding: '16px 18px', justifyContent: 'center' }}&gt;&#10;                    &lt;Text style={{ fontSize: 15, color: '#20344B', lineHeight: 1.5 }}&gt;浏览器确实加载了这个页面&lt;/Text&gt;&#10;                &lt;/Box&gt;&#10;            &lt;/Box&gt;&#10;&#10;            &lt;Box style={{ width: 564, flexDirection: 'column', gap: 12 }}&gt;&#10;                &lt;Box style={{ height: 56, background: '#FFF4E6', borderRadius: 8, justifyContent: 'center', alignItems: 'center' }}&gt;&#10;                    &lt;Text style={{ fontSize: 20, fontWeight: 'bold', color: '#CB6B28' }}&gt;截图不能证明&lt;/Text&gt;&#10;                &lt;/Box&gt;&#10;                &lt;Box style={{ height: 92, background: '#F4F7FA', borderRadius: 8, padding: '16px 18px', justifyContent: 'center' }}&gt;&#10;                    &lt;Text style={{ fontSize: 15, color: '#CB6B28', lineHeight: 1.5 }}&gt;后台的预约已经提交&lt;/Text&gt;&#10;                &lt;/Box&gt;&#10;                &lt;Box style={{ height: 92, background: '#F4F7FA', borderRadius: 8, padding: '16px 18px', justifyContent: 'center' }}&gt;&#10;                    &lt;Text style={{ fontSize: 15, color: '#CB6B28', lineHeight: 1.5 }}&gt;数据已经写进服务端&lt;/Text&gt;&#10;                &lt;/Box&gt;&#10;                &lt;Box style={{ height: 92, background: '#F4F7FA', borderRadius: 8, padding: '16px 18px', justifyContent: 'center' }}&gt;&#10;                    &lt;Text style={{ fontSize: 15, color: '#CB6B28', lineHeight: 1.5 }}&gt;其他人看到的是同样的状态&lt;/Text&gt;&#10;                &lt;/Box&gt;&#10;            &lt;/Box&gt;&#10;&#10;        &lt;/Box&gt;&#10;&#10;        &lt;Box style={{ flexDirection: 'row', alignItems: 'center', gap: 16, background: '#EDF4FC', borderRadius: 10, padding: '16px 22px' }}&gt;&#10;            &lt;Box style={{ width: 4, height: 44, background: '#276FBF' }} /&gt;&#10;            &lt;Box style={{ flex: 1, flexDirection: 'column', gap: 3 }}&gt;&#10;                &lt;Text style={{ fontSize: 16, fontWeight: 'bold', color: '#276FBF' }}&gt;截图是&quot;看见&quot;的证据，不是&quot;做到&quot;的证据&lt;/Text&gt;&#10;                &lt;Text style={{ fontSize: 14, color: '#546779' }}&gt;屏幕和后台之间隔着请求、接收与写入，这三步要靠各自的证据去证明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25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2.11.6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本节练习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练习三：截图证明了什么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609600" y="1524000"/>
            <a:ext cx="53721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2819400" y="167640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截图能证明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609600" y="2171700"/>
            <a:ext cx="53721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781050" y="2486025"/>
            <a:ext cx="5029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这一刻页面渲染出来的内容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609600" y="3162300"/>
            <a:ext cx="53721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781050" y="3476625"/>
            <a:ext cx="5029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页面元素的位置与当前状态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609600" y="4152900"/>
            <a:ext cx="53721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781050" y="4467225"/>
            <a:ext cx="5029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浏览器确实加载了这个页面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6210300" y="1524000"/>
            <a:ext cx="537210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8324850" y="167640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截图不能证明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6210300" y="2171700"/>
            <a:ext cx="53721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6381750" y="2486025"/>
            <a:ext cx="5029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后台的预约已经提交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6210300" y="3162300"/>
            <a:ext cx="53721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6381750" y="3476625"/>
            <a:ext cx="5029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数据已经写进服务端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6210300" y="4152900"/>
            <a:ext cx="53721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6381750" y="4467225"/>
            <a:ext cx="5029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其他人看到的是同样的状态</a:t>
            </a:r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609600" y="518160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4" name=""/>
          <p:cNvSpPr/>
          <p:nvPr/>
        </p:nvSpPr>
        <p:spPr>
          <a:xfrm rot="0" flipH="0" flipV="0">
            <a:off x="819150" y="53340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1009650" y="535305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截图是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看见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的证据，不是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做到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的证据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1009650" y="5572125"/>
            <a:ext cx="1036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屏幕和后台之间隔着请求、接收与写入，这三步要靠各自的证据去证明。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26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519" name="" descr="&lt;Slide notes={`这一节讲完了，我把要带走的东西收成三步。&#10;&#10;第一步，看懂输入。图片能证明房间标注和相对位置，容量和预约要去查数据文件；录音先转写，数字、时间、否定词和人名都要回听原音频；网页截图只说明这一次页面显示成什么样。&#10;&#10;第二步，转写之后必须核对。确认过的文本才可以进入排期流程，不能因为它是从语音来的，就把人数、日期和预约的校验跳过去。&#10;&#10;第三步，执行要留下痕迹。模型给出坐标只代表它提出了动作，页面变了并且核对过，才提供执行证据。&#10;&#10;把顺序记住：看懂输入，核对关键事实，执行留痕，最后才谈结果。`} style={{ width: 1280, height: 720, background: '#FFFFFF', flexDirection: 'column', padding: '20px 64px' }}&gt;&#10;&#10;    &lt;Box style={{ height: 540, flexDirection: 'column', justifyContent: 'center', gap: 24 }}&gt;&#10;&#10;        &lt;Box style={{ flexDirection: 'column', alignItems: 'center', gap: 12 }}&gt;&#10;            &lt;Text style={{ fontSize: 15, color: '#546779' }}&gt;2.11　小结&lt;/Text&gt;&#10;            &lt;Text style={{ fontSize: 44, fontWeight: 'bold', color: '#20344B', lineHeight: 1.25, textAlign: 'center' }}&gt;看见什么与执行什么，分开验收&lt;/Text&gt;&#10;            &lt;Box style={{ width: 72, height: 4, background: '#276FBF' }} /&gt;&#10;        &lt;/Box&gt;&#10;&#10;        &lt;Box style={{ flexDirection: 'row', justifyContent: 'center', alignItems: 'center' }}&gt;&#10;            &lt;Box style={{ width: 354, height: 132, background: '#EDF4FC', borderRadius: 10, padding: '18px 20px', flexDirection: 'column', gap: 6, justifyContent: 'center' }}&gt;&#10;                &lt;Text style={{ fontSize: 20, fontWeight: 'bold', color: '#276FBF' }}&gt;看懂输入&lt;/Text&gt;&#10;                &lt;Text style={{ fontSize: 14, color: '#546779', lineHeight: 1.55 }}&gt;图看标注与相对位置，业务事实另查两个数据文件&lt;/Text&gt;&#10;            &lt;/Box&gt;&#10;            &lt;Box style={{ width: 44, height: 132, justifyContent: 'center', alignItems: 'center' }}&gt;&lt;Text style={{ fontSize: 26, color: '#276FBF' }}&gt;›&lt;/Text&gt;&lt;/Box&gt;&#10;            &lt;Box style={{ width: 354, height: 132, background: '#EDF4FC', borderRadius: 10, padding: '18px 20px', flexDirection: 'column', gap: 6, justifyContent: 'center' }}&gt;&#10;                &lt;Text style={{ fontSize: 20, fontWeight: 'bold', color: '#276FBF' }}&gt;核对关键事实&lt;/Text&gt;&#10;                &lt;Text style={{ fontSize: 14, color: '#546779', lineHeight: 1.55 }}&gt;转写结果回听原音频，人数、时间与否定词逐项确认&lt;/Text&gt;&#10;            &lt;/Box&gt;&#10;            &lt;Box style={{ width: 44, height: 132, justifyContent: 'center', alignItems: 'center' }}&gt;&lt;Text style={{ fontSize: 26, color: '#26816B' }}&gt;›&lt;/Text&gt;&lt;/Box&gt;&#10;            &lt;Box style={{ width: 354, height: 132, background: '#ECF7F2', borderRadius: 10, padding: '18px 20px', flexDirection: 'column', gap: 6, justifyContent: 'center' }}&gt;&#10;                &lt;Text style={{ fontSize: 20, fontWeight: 'bold', color: '#26816B' }}&gt;执行留痕&lt;/Text&gt;&#10;                &lt;Text style={{ fontSize: 14, color: '#546779', lineHeight: 1.55 }}&gt;页面真的变了并核对过，动作才算执行到位&lt;/Text&gt;&#10;            &lt;/Box&gt;&#10;        &lt;/Box&gt;&#10;&#10;        &lt;Box style={{ flexDirection: 'row', height: 82, background: '#FFF4E6', borderRadius: 10, padding: '14px 22px', alignItems: 'center', gap: 16 }}&gt;&#10;            &lt;Box style={{ width: 4, height: 50, background: '#CB6B28' }} /&gt;&#10;            &lt;Box style={{ flex: 1, flexDirection: 'column', gap: 4 }}&gt;&#10;                &lt;Text style={{ fontSize: 16, fontWeight: 'bold', color: '#CB6B28' }}&gt;先把证据的边界说清楚，再谈结果&lt;/Text&gt;&#10;                &lt;Text style={{ fontSize: 14, color: '#546779' }}&gt;一段流畅的介绍、一张漂亮的截图、一个准确的坐标，都不是结论本身。&lt;/Text&gt;&#10;            &lt;/Box&gt;&#10;        &lt;/Box&gt;&#10;&#10;        &lt;Box style={{ flexDirection: 'row', alignItems: 'center', gap: 12 }}&gt;&#10;            &lt;Box style={{ width: 3, height: 26, background: '#26816B' }} /&gt;&#10;            &lt;Text style={{ fontSize: 16, color: '#546779' }}&gt;下一节　2.12　多 Agent 协作与工作流&lt;/Text&gt;&#10;        &lt;/Box&gt;&#10;&#10;    &lt;/Box&gt;&#10;&#10;    &lt;Box style={{ height: 40, flexDirection: 'row', justifyContent: 'space-between', alignItems: 'center' }}&gt;&#10;        &lt;Text style={{ fontSize: 14, color: '#546779' }}&gt;2.11 多模态与计算机交互&lt;/Text&gt;&#10;        &lt;Text style={{ fontSize: 14, color: '#546779' }}&gt;26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5734050" y="742950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2.11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小结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3162300" y="1028700"/>
            <a:ext cx="5867400" cy="628650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3300" b="1">
                <a:solidFill>
                  <a:srgbClr val="20344B"/>
                </a:solidFill>
                <a:latin typeface="Microsoft YaHei"/>
                <a:ea typeface="Microsoft YaHei"/>
              </a:rPr>
              <a:t>看见什么与执行什么，分开验收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5753100" y="17716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4" name=""/>
          <p:cNvSpPr/>
          <p:nvPr/>
        </p:nvSpPr>
        <p:spPr>
          <a:xfrm rot="0" flipH="0" flipV="0">
            <a:off x="619125" y="2038350"/>
            <a:ext cx="3371850" cy="1257300"/>
          </a:xfrm>
          <a:prstGeom prst="roundRect">
            <a:avLst>
              <a:gd name="adj" fmla="val 757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809625" y="2400300"/>
            <a:ext cx="2990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看懂输入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809625" y="2686050"/>
            <a:ext cx="29908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图看标注与相对位置，业务事实另查两个数据文件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4162425" y="25146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4410075" y="2038350"/>
            <a:ext cx="3371850" cy="1257300"/>
          </a:xfrm>
          <a:prstGeom prst="roundRect">
            <a:avLst>
              <a:gd name="adj" fmla="val 757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4600575" y="2276475"/>
            <a:ext cx="2990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核对关键事实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4600575" y="2562225"/>
            <a:ext cx="29908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转写结果回听原音频，人数、时间与否定词逐项确认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7953375" y="25146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8201025" y="2038350"/>
            <a:ext cx="3371850" cy="1257300"/>
          </a:xfrm>
          <a:prstGeom prst="roundRect">
            <a:avLst>
              <a:gd name="adj" fmla="val 757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8391525" y="2400300"/>
            <a:ext cx="2990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执行留痕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8391525" y="2686050"/>
            <a:ext cx="29908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页面真的变了并核对过，动作才算执行到位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609600" y="3524250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36" name=""/>
          <p:cNvSpPr/>
          <p:nvPr/>
        </p:nvSpPr>
        <p:spPr>
          <a:xfrm rot="0" flipH="0" flipV="0">
            <a:off x="819150" y="3676650"/>
            <a:ext cx="38100" cy="4762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1009650" y="3724275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先把证据的边界说清楚，再谈结果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1009650" y="3952875"/>
            <a:ext cx="1036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一段流畅的介绍、一张漂亮的截图、一个准确的坐标，都不是结论本身。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609600" y="4533900"/>
            <a:ext cx="28575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752475" y="4562475"/>
            <a:ext cx="2667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下一节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2.12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多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多模态与计算机交互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26 / 26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2026-09-29T04:04:58Z</dcterms:created>
  <dcterms:modified xsi:type="dcterms:W3CDTF">2026-09-29T04:04:58Z</dcterms:modified>
</cp:coreProperties>
</file>