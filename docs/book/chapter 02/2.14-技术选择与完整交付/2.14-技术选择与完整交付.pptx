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9" Type="http://schemas.openxmlformats.org/officeDocument/2006/relationships/slide" Target="slides/slide19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25" Type="http://schemas.openxmlformats.org/officeDocument/2006/relationships/slide" Target="slides/slide25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7" Type="http://schemas.openxmlformats.org/officeDocument/2006/relationships/presProps" Target="presProps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6" Type="http://schemas.openxmlformats.org/officeDocument/2006/relationships/slide" Target="slides/slide6.xml" /><Relationship Id="rId26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前面十三节我们一门一门地把技术装进来了：请求怎么写、材料怎么管、输出怎么约束、工具怎么调、资料怎么找、循环怎么停。到收尾这一步，我要换一个问法。</a:t>
            </a:r>
          </a:p>
          <a:p>
            <a:r>
              <a:rPr lang="zh-CN" dirty="0"/>
              <a:t>不再问"还有哪些技术没学"，而是问"这个任务到底缺什么"。缺材料就补输入，缺当前事实就补工具，缺可复现就补命令行，缺复用就补方法，缺证据就补校验。</a:t>
            </a:r>
          </a:p>
          <a:p>
            <a:r>
              <a:rPr lang="zh-CN" dirty="0"/>
              <a:t>两条路线各跑一遍：OpenAI API 那条把请求、执行和结果连起来；WorkBuddy 那条把文件、任务和工具放在工作空间里看。两条路线用的是同一组教学材料，所以可以互相核对。</a:t>
            </a:r>
          </a:p>
          <a:p>
            <a:r>
              <a:rPr lang="zh-CN" dirty="0"/>
              <a:t>最后用一张交付清单把"完成"说清楚。清单之外的东西，宁可写清楚还没有做到。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收尾这件事，我把它拆成四块。</a:t>
            </a:r>
          </a:p>
          <a:p>
            <a:r>
              <a:rPr lang="zh-CN" dirty="0"/>
              <a:t>第一块是选择。前面每节都讲了一种技术，但真实任务里不是全都要用。先分清任务缺的是输入、事实、执行、方法还是验证，再决定补哪一层。</a:t>
            </a:r>
          </a:p>
          <a:p>
            <a:r>
              <a:rPr lang="zh-CN" dirty="0"/>
              <a:t>第二块是 API 主线。从 unittest 和规则校验器开始，先确认本地这一层是对的，再依次跑普通文本、受约束的候选、带工具反馈的完整循环，最后用独立命令复验。</a:t>
            </a:r>
          </a:p>
          <a:p>
            <a:r>
              <a:rPr lang="zh-CN" dirty="0"/>
              <a:t>第三块是 WorkBuddy 主线。把任务写成一份合同，说清材料来源、产物路径、校验方式和修正上限，再看工作空间里到底生成了什么。</a:t>
            </a:r>
          </a:p>
          <a:p>
            <a:r>
              <a:rPr lang="zh-CN" dirty="0"/>
              <a:t>第四块是边界。交付清单列的是文件，不是结论；哪些能带进第三章、哪些必须重新配置，都要先说清楚。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选技术这件事，最常见的错误是从技术清单出发：先把 MCP、Agent、多 Agent 都装上，再去找地方用。这条路走不通。</a:t>
            </a:r>
          </a:p>
          <a:p>
            <a:r>
              <a:rPr lang="zh-CN" dirty="0"/>
              <a:t>我建议从缺口出发。一个任务做不出来，跑不掉五种原因：该给的材料没进输入；需要当前的事实而模型拿不到；计算、转换和读写要真的被执行；一套做法要反复使用；出了问题不知道是哪一次调用出的。</a:t>
            </a:r>
          </a:p>
          <a:p>
            <a:r>
              <a:rPr lang="zh-CN" dirty="0"/>
              <a:t>这五类缺口对应的是不同层，不是一个层里的不同档位。补错了层，力气就白花了。</a:t>
            </a:r>
          </a:p>
          <a:p>
            <a:r>
              <a:rPr lang="zh-CN" dirty="0"/>
              <a:t>从这一节开始，每讲一种技术，都先问它对应哪一类缺口。答得上来，再谈怎么用。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五类缺口分别长什么样，我一个个说。</a:t>
            </a:r>
          </a:p>
          <a:p>
            <a:r>
              <a:rPr lang="zh-CN" dirty="0"/>
              <a:t>输入缺口，是这份材料明明存在，却没有真正进入这次输入；或者进来了，但来源和有效时间说不清。这类问题在提示和上下文那一层解决。</a:t>
            </a:r>
          </a:p>
          <a:p>
            <a:r>
              <a:rPr lang="zh-CN" dirty="0"/>
              <a:t>事实缺口，是任务需要当前的、外部的事实，比如房间的预约状态，而模型的知识里没有。这时候无论把提示写得多细，都换不来一条真事实。</a:t>
            </a:r>
          </a:p>
          <a:p>
            <a:r>
              <a:rPr lang="zh-CN" dirty="0"/>
              <a:t>执行缺口，是计算、转换、读写文件这些动作要真的发生。模型可以描述一次计算，但描述不等于执行。</a:t>
            </a:r>
          </a:p>
          <a:p>
            <a:r>
              <a:rPr lang="zh-CN" dirty="0"/>
              <a:t>方法缺口，是同一套做法要反复使用，步骤、脚本和停止条件都需要固定下来。</a:t>
            </a:r>
          </a:p>
          <a:p>
            <a:r>
              <a:rPr lang="zh-CN" dirty="0"/>
              <a:t>验证缺口，是结果出来了，但没人能说清它是哪一次尝试产生的，输入、响应和产物对不上号。这五类缺口，各自对应不同的技术层。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把所有技术摆成一张图看：左边是先找缺口，右边是五条不同的分支。这不是一条流水线，而是从同一个入口分出去的五条路。</a:t>
            </a:r>
          </a:p>
          <a:p>
            <a:r>
              <a:rPr lang="zh-CN" dirty="0"/>
              <a:t>要求写得含糊、输出老是偏题，走要求与格式这条，用 Prompt 和例子去补，格式要让程序读得懂就再加结构化输出。</a:t>
            </a:r>
          </a:p>
          <a:p>
            <a:r>
              <a:rPr lang="zh-CN" dirty="0"/>
              <a:t>需要当前预约这类外部事实，走资料与外部事实这条，靠检索、Function Calling 和 MCP。</a:t>
            </a:r>
          </a:p>
          <a:p>
            <a:r>
              <a:rPr lang="zh-CN" dirty="0"/>
              <a:t>重复的计算、转换和检查很多，走可复用执行这条，用命令行和 Skill。</a:t>
            </a:r>
          </a:p>
          <a:p>
            <a:r>
              <a:rPr lang="zh-CN" dirty="0"/>
              <a:t>输入本身是图、录音或者需要操作页面，那是额外感知与分工。最后一条是过程关联与诊断，它不解决任务本身，只解决哪一次出的错。</a:t>
            </a:r>
          </a:p>
          <a:p>
            <a:r>
              <a:rPr lang="zh-CN" dirty="0"/>
              <a:t>五条分支可以只走一条，也可以组合，但每一条都要有对应的缺口。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六种常见技术，我按它们经常解决的缺口排一下。</a:t>
            </a:r>
          </a:p>
          <a:p>
            <a:r>
              <a:rPr lang="zh-CN" dirty="0"/>
              <a:t>要求含糊、输出偏题，用 Prompt 和例子去补，看同一批材料下输出是不是更稳定地满足评分表。</a:t>
            </a:r>
          </a:p>
          <a:p>
            <a:r>
              <a:rPr lang="zh-CN" dirty="0"/>
              <a:t>格式程序读不了，用结构化输出。能被解析只是第一步，还要另外过一次业务校验，字段对了不代表内容对。</a:t>
            </a:r>
          </a:p>
          <a:p>
            <a:r>
              <a:rPr lang="zh-CN" dirty="0"/>
              <a:t>需要当前预约这种外部事实，用 Function Calling，关键是它真的执行了工具、并且用了返回的结果。</a:t>
            </a:r>
          </a:p>
          <a:p>
            <a:r>
              <a:rPr lang="zh-CN" dirty="0"/>
              <a:t>同一只读能力要被多个宿主接入，才轮到 MCP；判断要看协议、传输、认证和工具合同是否真的兼容。</a:t>
            </a:r>
          </a:p>
          <a:p>
            <a:r>
              <a:rPr lang="zh-CN" dirty="0"/>
              <a:t>重复的计算和检查交给命令行，看固定输入能否复现、退出码对不对。做法反复使用就用 Skill，看它有没有正确选用步骤、脚本和验收条件。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剩下五种技术，判断方式也是同一个套路。</a:t>
            </a:r>
          </a:p>
          <a:p>
            <a:r>
              <a:rPr lang="zh-CN" dirty="0"/>
              <a:t>资料多到不可能全塞进上下文，才需要检索和 RAG。这时要分两步检查：依据有没有找全，引用的内容是否真的支持结论。</a:t>
            </a:r>
          </a:p>
          <a:p>
            <a:r>
              <a:rPr lang="zh-CN" dirty="0"/>
              <a:t>下一步做什么取决于上一步结果，用 Agent 循环。看它会不会根据观察调整，有没有在边界内停下来。</a:t>
            </a:r>
          </a:p>
          <a:p>
            <a:r>
              <a:rPr lang="zh-CN" dirty="0"/>
              <a:t>输入是图、是录音、或需要操作页面，用多模态和计算机工具。感知、执行和最终状态要分别核实。</a:t>
            </a:r>
          </a:p>
          <a:p>
            <a:r>
              <a:rPr lang="zh-CN" dirty="0"/>
              <a:t>子任务可以拆开独立处理，考虑多 Agent 工作流，但先要算清楚收益是否超过协调成本。</a:t>
            </a:r>
          </a:p>
          <a:p>
            <a:r>
              <a:rPr lang="zh-CN" dirty="0"/>
              <a:t>最后是可观测性，它不解决任务，只解决错在哪一次，要把这次的 Trace、输入、模型调用、校验和产物串起来。这些技术可以组合，每加一种都要说得出它解决了什么。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选完技术，接下来要把它们真的跑一遍。API 这条路线一共五步，我按顺序说。</a:t>
            </a:r>
          </a:p>
          <a:p>
            <a:r>
              <a:rPr lang="zh-CN" dirty="0"/>
              <a:t>第一步是本地检查：跑单元测试，再用规则校验器检查 fixtures 里的样板排期。这两条命令都不访问模型，它们只回答一个问题——资料和本地逻辑是不是对的。</a:t>
            </a:r>
          </a:p>
          <a:p>
            <a:r>
              <a:rPr lang="zh-CN" dirty="0"/>
              <a:t>第二步是普通文本，先看一次最基本的响应长什么样。</a:t>
            </a:r>
          </a:p>
          <a:p>
            <a:r>
              <a:rPr lang="zh-CN" dirty="0"/>
              <a:t>第三步是受约束的候选，让模型按 Schema 输出一份排期。</a:t>
            </a:r>
          </a:p>
          <a:p>
            <a:r>
              <a:rPr lang="zh-CN" dirty="0"/>
              <a:t>第四步是带工具反馈的完整循环，模型可以看到查询结果再调整。</a:t>
            </a:r>
          </a:p>
          <a:p>
            <a:r>
              <a:rPr lang="zh-CN" dirty="0"/>
              <a:t>第五步是独立校验，用同一条命令行重新检查最终排期。</a:t>
            </a:r>
          </a:p>
          <a:p>
            <a:r>
              <a:rPr lang="zh-CN" dirty="0"/>
              <a:t>顺序很重要：先确认本地这一层，再评价模型。反过来做，出了问题你分不清是材料错了还是模型错了。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在评价模型之前，先确认本地这一层。按 2.1 把独立的 Python 环境准备好，然后到 examples 目录里按顺序执行。</a:t>
            </a:r>
          </a:p>
          <a:p>
            <a:r>
              <a:rPr lang="zh-CN" dirty="0"/>
              <a:t>第一条命令跑单元测试，检查脚本本身有没有写对。第二条用 fixtures 里准备好的样板排期，走一遍规则校验器，并把检查结果写到 output 目录里。</a:t>
            </a:r>
          </a:p>
          <a:p>
            <a:r>
              <a:rPr lang="zh-CN" dirty="0"/>
              <a:t>这两条都不访问模型，所以它们给出的结论只说明一件事：材料读得到，本地逻辑是对的。</a:t>
            </a:r>
          </a:p>
          <a:p>
            <a:r>
              <a:rPr lang="zh-CN" dirty="0"/>
              <a:t>这一点很关键。如果一上来就跑模型，最后发现结果不对，你其实分不清是材料错了、规则写错了，还是模型没做好。先把本地这一层固定下来，后面出问题就只剩模型和服务这一段。</a:t>
            </a:r>
          </a:p>
          <a:p>
            <a:r>
              <a:rPr lang="zh-CN" dirty="0"/>
              <a:t>反过来说，这两条通过也不代表模型会通过。它只是把变量减少了一个。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本地这一层固定住之后，再按顺序把模型拉进来。四条命令，一步一步加东西。</a:t>
            </a:r>
          </a:p>
          <a:p>
            <a:r>
              <a:rPr lang="zh-CN" dirty="0"/>
              <a:t>第一条是本地检查，不访问模型。第二条跑第一次响应，看一次最普通的文本返回，目的是确认服务这一段是通的：认证、配额、模型名字都对。</a:t>
            </a:r>
          </a:p>
          <a:p>
            <a:r>
              <a:rPr lang="zh-CN" dirty="0"/>
              <a:t>第三条让模型按 Schema 输出一份排期候选。输出形状受约束了，但里面的事实仍来自模型自己的判断。</a:t>
            </a:r>
          </a:p>
          <a:p>
            <a:r>
              <a:rPr lang="zh-CN" dirty="0"/>
              <a:t>第四条是带工具反馈的完整循环，模型能看到查询结果再调整，跑完之后用同一个校验器独立复核。</a:t>
            </a:r>
          </a:p>
          <a:p>
            <a:r>
              <a:rPr lang="zh-CN" dirty="0"/>
              <a:t>有一条要特别注意：中间脚本产出的候选不能直接当成交付物。交付的是最后一次运行目录里的文件，加上紧跟着的独立校验。也不要批量跑完只看最后一行，哪一步失败就先看哪一步的实际输出。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跑完四条命令只是拿到了文件，还差一步：宣布完成之前，按四项核对一遍。</a:t>
            </a:r>
          </a:p>
          <a:p>
            <a:r>
              <a:rPr lang="zh-CN" dirty="0"/>
              <a:t>第一项，三项活动是否齐全，并且独立校验通过。齐全和通过都要由校验器给出，不能由模型自己声明。</a:t>
            </a:r>
          </a:p>
          <a:p>
            <a:r>
              <a:rPr lang="zh-CN" dirty="0"/>
              <a:t>第二项，plan.md 和同目录下的 schedule.json 是否一致。说明文件给人看，结构化排期给程序看，两边必须指向同一件事。</a:t>
            </a:r>
          </a:p>
          <a:p>
            <a:r>
              <a:rPr lang="zh-CN" dirty="0"/>
              <a:t>第三项，这一次的查询、响应和文件能不能互相对应，也就是这批产物能指认到具体的输入和输出，而不是混着上一次的。</a:t>
            </a:r>
          </a:p>
          <a:p>
            <a:r>
              <a:rPr lang="zh-CN" dirty="0"/>
              <a:t>第四项最容易出错：不能出现已经预约成功这类说法。本章里根本没有提交预约的写入工具，任何这类表述都没有执行依据。</a:t>
            </a:r>
          </a:p>
          <a:p>
            <a:r>
              <a:rPr lang="zh-CN" dirty="0"/>
              <a:t>前三项是问有没有做到，第四项是问有没有说过头。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实验一定会做很多次，所以从第一次开始就要把证据留好。</a:t>
            </a:r>
          </a:p>
          <a:p>
            <a:r>
              <a:rPr lang="zh-CN" dirty="0"/>
              <a:t>最直接的一条是每次换一个新的输出目录。再跑一遍的时候，不要覆盖上一次的结果。一个目录对应一次尝试，以后回头看，你能说清哪一轮通过、哪一轮失败、中间改了什么。目录混在一起，事后就没法归因。</a:t>
            </a:r>
          </a:p>
          <a:p>
            <a:r>
              <a:rPr lang="zh-CN" dirty="0"/>
              <a:t>第二条是关于 Langfuse 的。它观察的是它自己运行的那一次，不会自动把之前的调用补录进去。所以要让 Trace 和业务报告指向同一次尝试，才能互相对照。</a:t>
            </a:r>
          </a:p>
          <a:p>
            <a:r>
              <a:rPr lang="zh-CN" dirty="0"/>
              <a:t>还有一件事我想强调：不要一次把命令都跑完，然后只看最后一行。哪一步失败，就先看哪一步的实际输出，再决定改哪里。这个习惯能省掉大量猜测。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每次想往任务里加一样新技术之前，我会先问三个问题。</a:t>
            </a:r>
          </a:p>
          <a:p>
            <a:r>
              <a:rPr lang="zh-CN" dirty="0"/>
              <a:t>第一个，它解决哪一类缺口？对应的是输入、事实、执行、方法还是验证？如果一类都对不上，那它只是让流程看起来更完整。</a:t>
            </a:r>
          </a:p>
          <a:p>
            <a:r>
              <a:rPr lang="zh-CN" dirty="0"/>
              <a:t>第二个，有可比较的收益吗？同一批任务下，正确率、耗时或者人工复核量有没有变化。只拿一次成功案例说明不了问题。</a:t>
            </a:r>
          </a:p>
          <a:p>
            <a:r>
              <a:rPr lang="zh-CN" dirty="0"/>
              <a:t>第三个，代价算进去了吗？多一次检索、多一轮重试、多一个要维护的接口，这些都是成本。</a:t>
            </a:r>
          </a:p>
          <a:p>
            <a:r>
              <a:rPr lang="zh-CN" dirty="0"/>
              <a:t>RAG、MCP、多模态和多角色脚本都属于扩展路线。这个小型排期任务不依赖全部扩展才能完成，也不应该为了展示工具数量，去重复查询、重复上传、重复生成文件。</a:t>
            </a:r>
          </a:p>
          <a:p>
            <a:r>
              <a:rPr lang="zh-CN" dirty="0"/>
              <a:t>先让它跑通，再让真实瓶颈告诉你该加什么。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 那条路线是命令行式的，什么都看得见。WorkBuddy 那条路线不一样，它把任务放在一个工作空间里，用对话推进，所以约束要写在任务本身里。</a:t>
            </a:r>
          </a:p>
          <a:p>
            <a:r>
              <a:rPr lang="zh-CN" dirty="0"/>
              <a:t>顺序是这样：先把本章的练习目录复制一份，选它作为任务工作空间，这样原始材料不会被改动。</a:t>
            </a:r>
          </a:p>
          <a:p>
            <a:r>
              <a:rPr lang="zh-CN" dirty="0"/>
              <a:t>然后用 Ask 熟悉资料，先看清 data 目录里有什么。</a:t>
            </a:r>
          </a:p>
          <a:p>
            <a:r>
              <a:rPr lang="zh-CN" dirty="0"/>
              <a:t>接着用 Plan 审阅一遍执行方案，看看助手打算怎么走。如果任务已经很明确，也可以直接使用默认 Agent，不必绕这一圈。</a:t>
            </a:r>
          </a:p>
          <a:p>
            <a:r>
              <a:rPr lang="zh-CN" dirty="0"/>
              <a:t>两边用的判断标准是一样的：data 目录里的材料是权威来源，fixtures 里的答案是给程序自检用的，不能拿来当生成的依据。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WorkBuddy 里，约束不能靠临时提醒，要写进任务本身。</a:t>
            </a:r>
          </a:p>
          <a:p>
            <a:r>
              <a:rPr lang="zh-CN" dirty="0"/>
              <a:t>开头交代任务和材料：哪一天、哪个场地，data 下的哪几个文件是材料，哪个是预约事实；接了教学 MCP 就让它去查工具。</a:t>
            </a:r>
          </a:p>
          <a:p>
            <a:r>
              <a:rPr lang="zh-CN" dirty="0"/>
              <a:t>最关键的一句是：读取以 data 目录为准，不使用 fixtures 里的答案作为生成依据。fixtures 是给程序自检的，不是给生成用的。</a:t>
            </a:r>
          </a:p>
          <a:p>
            <a:r>
              <a:rPr lang="zh-CN" dirty="0"/>
              <a:t>接着约定产物和校验：先把约束与缺失项整理到 constraints.json，再提出 schedule.json，用校验器独立检查并保存报告；失败按真实错误改，最多三轮。</a:t>
            </a:r>
          </a:p>
          <a:p>
            <a:r>
              <a:rPr lang="zh-CN" dirty="0"/>
              <a:t>constraints.json 是本次练习的自定义产物，不与排期 Schema 混用。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对话里说得再好听，最后都要回到文件上确认。WorkBuddy 的界面右侧有几个面板，我用它们来核对。</a:t>
            </a:r>
          </a:p>
          <a:p>
            <a:r>
              <a:rPr lang="zh-CN" dirty="0"/>
              <a:t>第一个是工作空间文件。打开 data 和 output 目录，看实际读的是什么、写出来的在哪里。这是最权威的一层。</a:t>
            </a:r>
          </a:p>
          <a:p>
            <a:r>
              <a:rPr lang="zh-CN" dirty="0"/>
              <a:t>第二个是变更。看这一轮到底改了哪些文件，候选和最终排期是不是同一份，失败和修正的记录在不在。</a:t>
            </a:r>
          </a:p>
          <a:p>
            <a:r>
              <a:rPr lang="zh-CN" dirty="0"/>
              <a:t>第三个是产物。交付文件的实际位置在这里，它应该和对话里给出的下载链接互相对应。</a:t>
            </a:r>
          </a:p>
          <a:p>
            <a:r>
              <a:rPr lang="zh-CN" dirty="0"/>
              <a:t>如果用了浏览器预览，还要回到文件本身确认保存位置。因为预览看到的是渲染结果，不代表文件真的落到了那个路径上。</a:t>
            </a:r>
          </a:p>
          <a:p>
            <a:r>
              <a:rPr lang="zh-CN" dirty="0"/>
              <a:t>一句话，对话里的说法和文件里的内容要能互相指认。对不上就以文件为准。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真实环境里总会遇到障碍，处理方式要事先想好。</a:t>
            </a:r>
          </a:p>
          <a:p>
            <a:r>
              <a:rPr lang="zh-CN" dirty="0"/>
              <a:t>第一种，没有配置 MCP。那就直接读取本地预约文件、运行校验器，并在记录里写明这是一次文件路线。</a:t>
            </a:r>
          </a:p>
          <a:p>
            <a:r>
              <a:rPr lang="zh-CN" dirty="0"/>
              <a:t>第二种，Python 或某个技能依赖不可用。先记录缺的是哪个依赖，安装好之后重试，当时的环境状态也要写进记录。</a:t>
            </a:r>
          </a:p>
          <a:p>
            <a:r>
              <a:rPr lang="zh-CN" dirty="0"/>
              <a:t>第三种，按真实错误改了还是过不了。合同里写的是最多三轮，三轮之后仍失败，就说明未解决项，而不是回头改材料迁就结果。</a:t>
            </a:r>
          </a:p>
          <a:p>
            <a:r>
              <a:rPr lang="zh-CN" dirty="0"/>
              <a:t>有一条红线：不能在没有执行命令的情况下写校验通过。结论必须来自真的跑过一次的命令和它的退出码。记录里还要写清哪一步用的是模拟响应，哪一步真的调用了服务，哪些依赖当时不可用。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两条路线都跑完之后，"完成"这件事还需要一个明确的边界。</a:t>
            </a:r>
          </a:p>
          <a:p>
            <a:r>
              <a:rPr lang="zh-CN" dirty="0"/>
              <a:t>本章交付的东西分三组：需求与来源，也就是事实、规则和缺失项；排期与校验，也就是排期文件和那份独立报告；说明与记录，也就是方案说明、请求和工具记录。</a:t>
            </a:r>
          </a:p>
          <a:p>
            <a:r>
              <a:rPr lang="zh-CN" dirty="0"/>
              <a:t>注意这三组都是文件，不是结论。它们能证明有人把材料读进去了、把规则编码了、把校验跑过了，但它们不能证明别的。</a:t>
            </a:r>
          </a:p>
          <a:p>
            <a:r>
              <a:rPr lang="zh-CN" dirty="0"/>
              <a:t>还有一步要提前讲清：这些文件进到仿真系统之前，必须重新配置和重新执行。地图、坐标、角色、Brain、Skill、模型用途，以及实验装配，都要通过系统规定的流程建立。</a:t>
            </a:r>
          </a:p>
          <a:p>
            <a:r>
              <a:rPr lang="zh-CN" dirty="0"/>
              <a:t>这一节剩下的内容就是围绕这条边界展开的：先给交付清单，再说清什么时候才去研究微调、蒸馏和部署，最后是章末练习。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五类交付物归成三组，每组承担一段证据。</a:t>
            </a:r>
          </a:p>
          <a:p>
            <a:r>
              <a:rPr lang="zh-CN" dirty="0"/>
              <a:t>第一组是需求与来源，也就是约束和来源。检查方式是回到原始材料逐条对照，把缺失项列出来，它证明的是我读懂了任务。</a:t>
            </a:r>
          </a:p>
          <a:p>
            <a:r>
              <a:rPr lang="zh-CN" dirty="0"/>
              <a:t>第二组是排期与校验：候选及最终排期，加上那份独立报告。检查要看独立命令、退出码和具体错误，它证明的是我算对了规则。</a:t>
            </a:r>
          </a:p>
          <a:p>
            <a:r>
              <a:rPr lang="zh-CN" dirty="0"/>
              <a:t>第三组是说明与记录：方案说明和运行记录。说明要和最终排期逐项一致，记录要含模型、输入、响应、工具、版本和日期，它证明的是我能说清这一次是怎么发生的。</a:t>
            </a:r>
          </a:p>
          <a:p>
            <a:r>
              <a:rPr lang="zh-CN" dirty="0"/>
              <a:t>我反复强调先落到文件，是因为文件可以被打开、被复跑、被核对。这些文件都是作者材料，进仿真前地图、角色和实验装配仍要按第三章的流程重新建立。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每一类交付物都有它推不出来的结论，这句话我想单独强调一遍。</a:t>
            </a:r>
          </a:p>
          <a:p>
            <a:r>
              <a:rPr lang="zh-CN" dirty="0"/>
              <a:t>约束与来源，可以对照原始材料、列出缺失项，但它不能证明已经执行过查询或操作。写了已查询不等于查过。</a:t>
            </a:r>
          </a:p>
          <a:p>
            <a:r>
              <a:rPr lang="zh-CN" dirty="0"/>
              <a:t>候选及最终排期，可以解析 JSON、核对活动和时间，但合法 JSON 不等于可行排期，字段都对，活动照样可能撞车。</a:t>
            </a:r>
          </a:p>
          <a:p>
            <a:r>
              <a:rPr lang="zh-CN" dirty="0"/>
              <a:t>校验报告有独立命令、退出码和具体错误，这是最硬的一份。可它只覆盖已经编码进校验器的规则。</a:t>
            </a:r>
          </a:p>
          <a:p>
            <a:r>
              <a:rPr lang="zh-CN" dirty="0"/>
              <a:t>方案说明能和最终排期逐项一致，但不能证明真实通知、预订或发布已经完成。运行记录写着模型、输入、响应、工具与日期，可本地模拟测试不能证明远端服务可用。</a:t>
            </a:r>
          </a:p>
          <a:p>
            <a:r>
              <a:rPr lang="zh-CN" dirty="0"/>
              <a:t>所以每份文件都要说清它支持哪一句结论，以及到此为止。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走到下一章，边界要说清楚，否则很容易把文件当成已经发生过的事。</a:t>
            </a:r>
          </a:p>
          <a:p>
            <a:r>
              <a:rPr lang="zh-CN" dirty="0"/>
              <a:t>先说可以带走的：活动主题、人物描述与需求，房间与规则材料，排期与校验方法。</a:t>
            </a:r>
          </a:p>
          <a:p>
            <a:r>
              <a:rPr lang="zh-CN" dirty="0"/>
              <a:t>再说必须重新做的：地图、坐标、Agent、Brain、Skill、模型用途，以及实验怎么装配，都要按系统流程重新建立。</a:t>
            </a:r>
          </a:p>
          <a:p>
            <a:r>
              <a:rPr lang="zh-CN" dirty="0"/>
              <a:t>最后说本章文件里没有的东西。没有 run_id，没有已提交的 StepResult，也没有回放事实。本章只校验已编码的规则，不证明真实预订发生过，也不证明仿真跑过。</a:t>
            </a:r>
          </a:p>
          <a:p>
            <a:r>
              <a:rPr lang="zh-CN" dirty="0"/>
              <a:t>顺便提一句：题目允许不同房间同时举行活动，因为这次没配置共享主持人和设备约束。现实任务若有设备、主持人、清洁间隔或无障碍需求，须先补齐输入和规则，再扩展校验器。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有三种技术经常被过早提起：微调、蒸馏和部署。我把它们各自的前置条件说清楚。</a:t>
            </a:r>
          </a:p>
          <a:p>
            <a:r>
              <a:rPr lang="zh-CN" dirty="0"/>
              <a:t>微调。模型持续误用术语、格式或领域风格时，先排查提示、示例和数据质量，这三样往往才是原因。等手上有足够多的高质量样本和一个独立测试集，再考虑微调。它改变的是模型对任务模式的适应，不该替代实时事实获取。</a:t>
            </a:r>
          </a:p>
          <a:p>
            <a:r>
              <a:rPr lang="zh-CN" dirty="0"/>
              <a:t>蒸馏。做法是让较强系统生成示例，筛选后训练一个较小的模型，目标通常是降延迟、降成本。注意教师的回答本身也可能有错，训练数据仍要验证；训练集和评价集混在一起，会让改进看起来比实际好。</a:t>
            </a:r>
          </a:p>
          <a:p>
            <a:r>
              <a:rPr lang="zh-CN" dirty="0"/>
              <a:t>部署还包括身份认证、配置、服务监控、数据保存、并发和密钥管理。命令行程序只是学习样本，优先级应由真实瓶颈决定。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先看前两道练习。</a:t>
            </a:r>
          </a:p>
          <a:p>
            <a:r>
              <a:rPr lang="zh-CN" dirty="0"/>
              <a:t>第一道是找出能力归属。助手从 PDF 找到房间容量，调用接口查预约，运行脚本后生成文件，要分别标出模型、资料检索、工具执行和应用校验各做了什么。</a:t>
            </a:r>
          </a:p>
          <a:p>
            <a:r>
              <a:rPr lang="zh-CN" dirty="0"/>
              <a:t>参考思路：理解和组织输出由模型参与；找到材料靠实际读取或检索；接口和命令由宿主执行；容量与冲突由校验器判定。某一环节的结果不能替代另一环节的证据。</a:t>
            </a:r>
          </a:p>
          <a:p>
            <a:r>
              <a:rPr lang="zh-CN" dirty="0"/>
              <a:t>第二道是设计一次失败。把手作候选放到 09:30 到 10:30，要求助手修正；再把人数改到超过房间容量且没有替代房间。</a:t>
            </a:r>
          </a:p>
          <a:p>
            <a:r>
              <a:rPr lang="zh-CN" dirty="0"/>
              <a:t>参考思路：前者还有别的时段可用，可以修正；后者可能本来就不可行，应说明冲突和待调整条件，不能擅自减少人数。构造第二个任务时，要在材料副本里同步改需求。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后两道练习：一道关于少，一道关于下一步。</a:t>
            </a:r>
          </a:p>
          <a:p>
            <a:r>
              <a:rPr lang="zh-CN" dirty="0"/>
              <a:t>练习三：只有三个短文件、没有外部变化，要不要上向量数据库、MCP 和多个 Agent？</a:t>
            </a:r>
          </a:p>
          <a:p>
            <a:r>
              <a:rPr lang="zh-CN" dirty="0"/>
              <a:t>参考思路：普通文件读取、一次模型调用和确定性校验可能就够了。加别的技术要有明确理由，比如复用工具接口或分工带来可测收益。</a:t>
            </a:r>
          </a:p>
          <a:p>
            <a:r>
              <a:rPr lang="zh-CN" dirty="0"/>
              <a:t>练习四是准备第三章，列出哪些资料可以复用、哪些必须重新配置。</a:t>
            </a:r>
          </a:p>
          <a:p>
            <a:r>
              <a:rPr lang="zh-CN" dirty="0"/>
              <a:t>参考思路：活动主题、人物描述和需求可作为作者材料；地图、坐标、Agent、Brain、Skill、模型用途与实验装配仍须按系统流程建立。筹备文件没有 run_id 和回放事实，不能证明仿真跑过。</a:t>
            </a:r>
          </a:p>
          <a:p>
            <a:r>
              <a:rPr lang="zh-CN" dirty="0"/>
              <a:t>到了第三章，安排了一个活动和角色真的走到房间，是两件不同的事。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第二章到这里结束。十四节收成一句话：每一项技术都对应任务里的一个缺口，也都留下自己的证据。</a:t>
            </a:r>
          </a:p>
          <a:p>
            <a:r>
              <a:rPr lang="zh-CN" dirty="0"/>
              <a:t>整章分成四段。请求与表达，从环境与第一次调用到 Prompt、上下文工程、结构化输出，解决话怎么说清楚。</a:t>
            </a:r>
          </a:p>
          <a:p>
            <a:r>
              <a:rPr lang="zh-CN" dirty="0"/>
              <a:t>工具与执行，Function Calling、MCP、CLI 与 Shell、Skill，解决事情怎么真的做成。资料与自主，检索与 RAG、Agent 循环、多模态、多 Agent。</a:t>
            </a:r>
          </a:p>
          <a:p>
            <a:r>
              <a:rPr lang="zh-CN" dirty="0"/>
              <a:t>诊断与收口，可观测性、评估与成本，最后落到技术选择与完整交付，解决怎么知道它真的做对了。</a:t>
            </a:r>
          </a:p>
          <a:p>
            <a:r>
              <a:rPr lang="zh-CN" dirty="0"/>
              <a:t>第三章换一个世界，把同一个开放日交给可感知、可行动、可回放的环境。那时标准会多一条：不只文件要对，角色还要真的走过去。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前面十三节我们一门一门地把技术装进来了：请求怎么写、材料怎么管、输出怎么约束、工具怎么调、资料怎么找、循环怎么停。到收尾这一步，我要换一个问法。&#10;&#10;不再问&quot;还有哪些技术没学&quot;，而是问&quot;这个任务到底缺什么&quot;。缺材料就补输入，缺当前事实就补工具，缺可复现就补命令行，缺复用就补方法，缺证据就补校验。&#10;&#10;两条路线各跑一遍：OpenAI API 那条把请求、执行和结果连起来；WorkBuddy 那条把文件、任务和工具放在工作空间里看。两条路线用的是同一组教学材料，所以可以互相核对。&#10;&#10;最后用一张交付清单把&quot;完成&quot;说清楚。清单之外的东西，宁可写清楚还没有做到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14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技术选择与完整交付&lt;/Text&gt;&#10;            &lt;Box style={{ width: 72, height: 4, background: '#276FBF' }} /&gt;&#10;            &lt;Text style={{ fontSize: 18, color: '#546779', lineHeight: 1.7, width: 600 }}&gt;前面各节把请求、材料、工具、检索与校验逐层展开。收尾只回答一件事：面对一个真实任务，该用哪些、为什么用、怎样证明它确实起作用。&lt;/Text&gt;&#10;            &lt;Box style={{ flexDirection: 'row', gap: 10 }}&gt;&#10;                &lt;Box style={{ width: 200, height: 44, background: '#EDF4FC', borderRadius: 8, justifyContent: 'center', alignItems: 'center' }}&gt;&#10;                    &lt;Text style={{ fontSize: 15, color: '#276FBF' }}&gt;缺什么补什么&lt;/Text&gt;&#10;                &lt;/Box&gt;&#10;                &lt;Box style={{ width: 200, height: 44, background: '#EDF4FC', borderRadius: 8, justifyContent: 'center', alignItems: 'center' }}&gt;&#10;                    &lt;Text style={{ fontSize: 15, color: '#276FBF' }}&gt;两条路线各留证据&lt;/Text&gt;&#10;                &lt;/Box&gt;&#10;                &lt;Box style={{ width: 200, height: 44, background: '#FFF4E6', borderRadius: 8, justifyContent: 'center', alignItems: 'center' }}&gt;&#10;                    &lt;Text style={{ fontSize: 15, color: '#CB6B28' }}&gt;没跑的不能写通过&lt;/Text&gt;&#10;                &lt;/Box&gt;&#10;            &lt;/Box&gt;&#10;        &lt;/Box&gt;&#10;&#10;        &lt;Box style={{ width: 500, flexDirection: 'column', justifyContent: 'center' }}&gt;&#10;            &lt;Box style={{ width: 500, height: 76, background: '#EDF4FC', borderRadius: 8, padding: '12px 18px', flexDirection: 'column', gap: 4, justifyContent: 'center' }}&gt;&#10;                &lt;Text style={{ fontSize: 20, fontWeight: 'bold', color: '#276FBF' }}&gt;先找缺口&lt;/Text&gt;&#10;                &lt;Text style={{ fontSize: 14, color: '#546779' }}&gt;输入、事实、执行、方法、验证&lt;/Text&gt;&#10;            &lt;/Box&gt;&#10;            &lt;Box style={{ width: 500, height: 24, justifyContent: 'center', alignItems: 'center' }}&gt;&lt;Text style={{ fontSize: 18, color: '#276FBF' }}&gt;↓&lt;/Text&gt;&lt;/Box&gt;&#10;            &lt;Box style={{ width: 500, height: 76, background: '#EDF4FC', borderRadius: 8, padding: '12px 18px', flexDirection: 'column', gap: 4, justifyContent: 'center' }}&gt;&#10;                &lt;Text style={{ fontSize: 20, fontWeight: 'bold', color: '#276FBF' }}&gt;再选技术&lt;/Text&gt;&#10;                &lt;Text style={{ fontSize: 14, color: '#546779' }}&gt;Prompt、Schema、检索、CLI、Skill、循环&lt;/Text&gt;&#10;            &lt;/Box&gt;&#10;            &lt;Box style={{ width: 500, height: 24, justifyContent: 'center', alignItems: 'center' }}&gt;&lt;Text style={{ fontSize: 18, color: '#276FBF' }}&gt;↓&lt;/Text&gt;&lt;/Box&gt;&#10;            &lt;Box style={{ width: 500, height: 76, background: '#EDF4FC', borderRadius: 8, padding: '12px 18px', flexDirection: 'column', gap: 4, justifyContent: 'center' }}&gt;&#10;                &lt;Text style={{ fontSize: 20, fontWeight: 'bold', color: '#276FBF' }}&gt;跑通两条路线&lt;/Text&gt;&#10;                &lt;Text style={{ fontSize: 14, color: '#546779' }}&gt;OpenAI API 主线 · WorkBuddy 主线&lt;/Text&gt;&#10;            &lt;/Box&gt;&#10;            &lt;Box style={{ width: 500, height: 24, justifyContent: 'center', alignItems: 'center' }}&gt;&lt;Text style={{ fontSize: 18, color: '#26816B' }}&gt;↓&lt;/Text&gt;&lt;/Box&gt;&#10;            &lt;Box style={{ width: 500, height: 76, background: '#ECF7F2', borderRadius: 8, padding: '12px 18px', flexDirection: 'column', gap: 4, justifyContent: 'center' }}&gt;&#10;                &lt;Text style={{ fontSize: 20, fontWeight: 'bold', color: '#26816B' }}&gt;用清单收口&lt;/Text&gt;&#10;                &lt;Text style={{ fontSize: 14, color: '#546779' }}&gt;需求来源、排期校验、说明记录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2.14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194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前面各节把请求、材料、工具、检索与校验逐层展开。收尾只回答一件事：面对一个真实任务，该用哪些、为什么用、怎样证明它确实起作用。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67225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33475" y="45910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缺什么补什么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609850" y="4467225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990850" y="45910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两条路线各留证据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610100" y="4467225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991100" y="45910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没跑的不能写通过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1924050"/>
            <a:ext cx="476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20764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先找缺口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991350" y="23431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输入、事实、执行、方法、验证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63050" y="26574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19900" y="2876550"/>
            <a:ext cx="476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30289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再选技术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91350" y="32956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Schema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、检索、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CLI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、循环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63050" y="36099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19900" y="3829050"/>
            <a:ext cx="476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991350" y="39814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跑通两条路线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991350" y="42481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主线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主线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63050" y="45624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19900" y="4781550"/>
            <a:ext cx="4762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991350" y="49339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用清单收口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91350" y="52006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需求来源、排期校验、说明记录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2" name="" descr="&lt;Slide notes={`收尾这件事，我把它拆成四块。&#10;&#10;第一块是选择。前面每节都讲了一种技术，但真实任务里不是全都要用。先分清任务缺的是输入、事实、执行、方法还是验证，再决定补哪一层。&#10;&#10;第二块是 API 主线。从 unittest 和规则校验器开始，先确认本地这一层是对的，再依次跑普通文本、受约束的候选、带工具反馈的完整循环，最后用独立命令复验。&#10;&#10;第三块是 WorkBuddy 主线。把任务写成一份合同，说清材料来源、产物路径、校验方式和修正上限，再看工作空间里到底生成了什么。&#10;&#10;第四块是边界。交付清单列的是文件，不是结论；哪些能带进第三章、哪些必须重新配置，都要先说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　技术选择与完整交付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20, flexDirection: 'column', gap: 14 }}&gt;&#10;            &lt;Text style={{ fontSize: 17, color: '#546779', lineHeight: 1.85 }}&gt;前面十三节各解决一类缺口。收尾时把它们摆在一张表上，按缺口取用，而不是按顺序堆齐。&lt;/Text&gt;&#10;            &lt;Box style={{ width: 72, height: 4, background: '#276FBF' }} /&gt;&#10;            &lt;Text style={{ fontSize: 14, color: '#546779', lineHeight: 1.7 }}&gt;编号 ①②③④ 与后面四张扉页一一对应。&lt;/Text&gt;&#10;        &lt;/Box&gt;&#10;&#10;        &lt;Box style={{ width: 800, flexDirection: 'column', gap: 14 }}&gt;&#10;&#10;            &lt;Box style={{ height: 108, background: '#F4F7FA', borderRadius: 10, padding: '0 22px', flexDirection: 'row', alignItems: 'center', gap: 16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按问题选择技术&lt;/Text&gt;&#10;                    &lt;Text style={{ fontSize: 15, color: '#546779' }}&gt;先分清输入、事实、执行、方法、验证五类缺口，再决定补哪一层。&lt;/Text&gt;&#10;                &lt;/Box&gt;&#10;            &lt;/Box&gt;&#10;&#10;            &lt;Box style={{ height: 108, background: '#F4F7FA', borderRadius: 10, padding: '0 22px', flexDirection: 'row', alignItems: 'center', gap: 16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一次完整的 API 路线&lt;/Text&gt;&#10;                    &lt;Text style={{ fontSize: 15, color: '#546779' }}&gt;本地检查、普通文本、受约束候选、工具闭环，最后独立校验。&lt;/Text&gt;&#10;                &lt;/Box&gt;&#10;            &lt;/Box&gt;&#10;&#10;            &lt;Box style={{ height: 108, background: '#F4F7FA', borderRadius: 10, padding: '0 22px', flexDirection: 'row', alignItems: 'center', gap: 16 }}&gt;&#10;                &lt;Box style={{ width: 46, height: 46, borderRadius: 8, background: '#276FBF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20344B' }}&gt;一次完整的 WorkBuddy 路线&lt;/Text&gt;&#10;                    &lt;Text style={{ fontSize: 15, color: '#546779' }}&gt;用任务合同约束工作空间，再逐项回看文件、变更与产物。&lt;/Text&gt;&#10;                &lt;/Box&gt;&#10;            &lt;/Box&gt;&#10;&#10;            &lt;Box style={{ height: 108, background: '#F4F7FA', borderRadius: 10, padding: '0 22px', flexDirection: 'row', alignItems: 'center', gap: 16 }}&gt;&#10;                &lt;Box style={{ width: 46, height: 46, borderRadius: 8, background: '#276FBF', justifyContent: 'center', alignItems: 'center' }}&gt;&#10;                    &lt;Text style={{ fontSize: 22, fontWeight: 'bold', color: '#FFFFFF' }}&gt;4&lt;/Text&gt;&#10;                &lt;/Box&gt;&#10;                &lt;Box style={{ flex: 1, flexDirection: 'column', gap: 4 }}&gt;&#10;                    &lt;Text style={{ fontSize: 21, fontWeight: 'bold', color: '#20344B' }}&gt;交付清单与后续判断&lt;/Text&gt;&#10;                    &lt;Text style={{ fontSize: 15, color: '#546779' }}&gt;说清交付边界，再决定何时研究微调、蒸馏与部署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技术选择与完整交付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3048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前面十三节各解决一类缺口。收尾时把它们摆在一张表上，按缺口取用，而不是按顺序堆齐。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4276725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编号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①②③④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与后面四张扉页一一对应。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962400" y="1457325"/>
            <a:ext cx="7620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4171950" y="17526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324350" y="18478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762500" y="1743075"/>
            <a:ext cx="661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按问题选择技术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762500" y="2028825"/>
            <a:ext cx="661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先分清输入、事实、执行、方法、验证五类缺口，再决定补哪一层。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962400" y="2619375"/>
            <a:ext cx="7620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171950" y="2914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324350" y="30099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762500" y="2905125"/>
            <a:ext cx="661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一次完整的</a:t>
            </a:r>
            <a:r>
              <a:rPr lang="en-US" sz="15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762500" y="3190875"/>
            <a:ext cx="661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本地检查、普通文本、受约束候选、工具闭环，最后独立校验。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962400" y="3781425"/>
            <a:ext cx="7620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4171950" y="40767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324350" y="41719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762500" y="4067175"/>
            <a:ext cx="661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一次完整的</a:t>
            </a:r>
            <a:r>
              <a:rPr lang="en-US" sz="15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762500" y="4352925"/>
            <a:ext cx="661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用任务合同约束工作空间，再逐项回看文件、变更与产物。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962400" y="4943475"/>
            <a:ext cx="7620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4171950" y="52387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324350" y="53340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762500" y="5229225"/>
            <a:ext cx="661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交付清单与后续判断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762500" y="5514975"/>
            <a:ext cx="661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说清交付边界，再决定何时研究微调、蒸馏与部署。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55" name="" descr="&lt;Slide notes={`选技术这件事，最常见的错误是从技术清单出发：先把 MCP、Agent、多 Agent 都装上，再去找地方用。这条路走不通。&#10;&#10;我建议从缺口出发。一个任务做不出来，跑不掉五种原因：该给的材料没进输入；需要当前的事实而模型拿不到；计算、转换和读写要真的被执行；一套做法要反复使用；出了问题不知道是哪一次调用出的。&#10;&#10;这五类缺口对应的是不同层，不是一个层里的不同档位。补错了层，力气就白花了。&#10;&#10;从这一节开始，每讲一种技术，都先问它对应哪一类缺口。答得上来，再谈怎么用。`} style={{ width: 1280, height: 720, background: '#FFFFFF', flexDirection: 'column', padding: '20px 64px' }}&gt;&#10;&#10;    &lt;Box style={{ height: 100 }} /&gt;&#10;&#10;    &lt;Box style={{ height: 540, flexDirection: 'column', justifyContent: 'center', gap: 28 }}&gt;&#10;&#10;        &lt;Box style={{ flexDirection: 'column', alignItems: 'center', gap: 12 }}&gt;&#10;            &lt;Text style={{ fontSize: 15, color: '#546779' }}&gt;2.14.1　按问题选择技术&lt;/Text&gt;&#10;            &lt;Text style={{ fontSize: 56, fontWeight: 'bold', color: '#20344B', lineHeight: 1.15, textAlign: 'center' }}&gt;先找缺口，再选技术&lt;/Text&gt;&#10;            &lt;Box style={{ width: 72, height: 4, background: '#276FBF' }} /&gt;&#10;        &lt;/Box&gt;&#10;&#10;        &lt;Box style={{ flexDirection: 'row', justifyContent: 'center', alignItems: 'center', gap: 28 }}&gt;&#10;            &lt;Box style={{ width: 208, height: 84, background: '#EDF4FC', borderRadius: 10, justifyContent: 'center', alignItems: 'center' }}&gt;&#10;                &lt;Text style={{ fontSize: 22, fontWeight: 'bold', color: '#276FBF' }}&gt;输入缺口&lt;/Text&gt;&#10;            &lt;/Box&gt;&#10;            &lt;Box style={{ width: 208, height: 84, background: '#EDF4FC', borderRadius: 10, justifyContent: 'center', alignItems: 'center' }}&gt;&#10;                &lt;Text style={{ fontSize: 22, fontWeight: 'bold', color: '#276FBF' }}&gt;事实缺口&lt;/Text&gt;&#10;            &lt;/Box&gt;&#10;            &lt;Box style={{ width: 208, height: 84, background: '#EDF4FC', borderRadius: 10, justifyContent: 'center', alignItems: 'center' }}&gt;&#10;                &lt;Text style={{ fontSize: 22, fontWeight: 'bold', color: '#276FBF' }}&gt;执行缺口&lt;/Text&gt;&#10;            &lt;/Box&gt;&#10;            &lt;Box style={{ width: 208, height: 84, background: '#EDF4FC', borderRadius: 10, justifyContent: 'center', alignItems: 'center' }}&gt;&#10;                &lt;Text style={{ fontSize: 22, fontWeight: 'bold', color: '#276FBF' }}&gt;方法缺口&lt;/Text&gt;&#10;            &lt;/Box&gt;&#10;            &lt;Box style={{ width: 208, height: 84, background: '#EDF4FC', borderRadius: 10, justifyContent: 'center', alignItems: 'center' }}&gt;&#10;                &lt;Text style={{ fontSize: 22, fontWeight: 'bold', color: '#276FBF' }}&gt;验证缺口&lt;/Text&gt;&#10;            &lt;/Box&gt;&#10;        &lt;/Box&gt;&#10;&#10;        &lt;Text style={{ fontSize: 16, color: '#546779', textAlign: 'center' }}&gt;五类缺口不是都要补，缺哪一类才补哪一层。&lt;/Text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324475" y="236220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2.14.1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按问题选择技术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695700" y="2647950"/>
            <a:ext cx="48006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先找缺口，再选技术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753100" y="35052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609600" y="3810000"/>
            <a:ext cx="19812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81100" y="40862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输入缺口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2857500" y="3810000"/>
            <a:ext cx="19812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429000" y="40862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事实缺口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5105400" y="3810000"/>
            <a:ext cx="19812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676900" y="40862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执行缺口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7353300" y="3810000"/>
            <a:ext cx="19812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924800" y="40862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方法缺口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9601200" y="3810000"/>
            <a:ext cx="19812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0172700" y="40862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验证缺口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9600" y="4876800"/>
            <a:ext cx="109728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五类缺口不是都要补，缺哪一类才补哪一层。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73" name="" descr="&lt;Slide notes={`五类缺口分别长什么样，我一个个说。&#10;&#10;输入缺口，是这份材料明明存在，却没有真正进入这次输入；或者进来了，但来源和有效时间说不清。这类问题在提示和上下文那一层解决。&#10;&#10;事实缺口，是任务需要当前的、外部的事实，比如房间的预约状态，而模型的知识里没有。这时候无论把提示写得多细，都换不来一条真事实。&#10;&#10;执行缺口，是计算、转换、读写文件这些动作要真的发生。模型可以描述一次计算，但描述不等于执行。&#10;&#10;方法缺口，是同一套做法要反复使用，步骤、脚本和停止条件都需要固定下来。&#10;&#10;验证缺口，是结果出来了，但没人能说清它是哪一次尝试产生的，输入、响应和产物对不上号。这五类缺口，各自对应不同的技术层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1　按问题选择技术&lt;/Text&gt;&#10;            &lt;Text style={{ fontSize: 34, fontWeight: 'bold', color: '#20344B' }}&gt;先找缺口：五类缺口各缺什么&lt;/Text&gt;&#10;        &lt;/Box&gt;&#10;    &lt;/Box&gt;&#10;&#10;    &lt;Box style={{ height: 540, flexDirection: 'row', alignItems: 'center', gap: 32 }}&gt;&#10;&#10;        &lt;Box style={{ width: 700, flexDirection: 'column', gap: 12 }}&gt;&#10;&#10;            &lt;Box style={{ height: 84, background: '#F4F7FA', borderRadius: 8, padding: '0 20px', flexDirection: 'row', alignItems: 'center', gap: 16 }}&gt;&#10;                &lt;Box style={{ width: 4, height: 52, background: '#276FBF' }} /&gt;&#10;                &lt;Text style={{ width: 130, fontSize: 19, fontWeight: 'bold', color: '#20344B' }}&gt;输入缺口&lt;/Text&gt;&#10;                &lt;Text style={{ flex: 1, fontSize: 14, color: '#546779', lineHeight: 1.5 }}&gt;该给的材料没进输入，或来源与有效时间不清楚&lt;/Text&gt;&#10;            &lt;/Box&gt;&#10;&#10;            &lt;Box style={{ height: 84, background: '#F4F7FA', borderRadius: 8, padding: '0 20px', flexDirection: 'row', alignItems: 'center', gap: 16 }}&gt;&#10;                &lt;Box style={{ width: 4, height: 52, background: '#276FBF' }} /&gt;&#10;                &lt;Text style={{ width: 130, fontSize: 19, fontWeight: 'bold', color: '#20344B' }}&gt;事实缺口&lt;/Text&gt;&#10;                &lt;Text style={{ flex: 1, fontSize: 14, color: '#546779', lineHeight: 1.5 }}&gt;需要当前预约、容量这类外部事实，模型自己答不出来&lt;/Text&gt;&#10;            &lt;/Box&gt;&#10;&#10;            &lt;Box style={{ height: 84, background: '#F4F7FA', borderRadius: 8, padding: '0 20px', flexDirection: 'row', alignItems: 'center', gap: 16 }}&gt;&#10;                &lt;Box style={{ width: 4, height: 52, background: '#276FBF' }} /&gt;&#10;                &lt;Text style={{ width: 130, fontSize: 19, fontWeight: 'bold', color: '#20344B' }}&gt;执行缺口&lt;/Text&gt;&#10;                &lt;Text style={{ flex: 1, fontSize: 14, color: '#546779', lineHeight: 1.5 }}&gt;计算、转换、读写文件要真的被执行，不是被描述&lt;/Text&gt;&#10;            &lt;/Box&gt;&#10;&#10;            &lt;Box style={{ height: 84, background: '#F4F7FA', borderRadius: 8, padding: '0 20px', flexDirection: 'row', alignItems: 'center', gap: 16 }}&gt;&#10;                &lt;Box style={{ width: 4, height: 52, background: '#276FBF' }} /&gt;&#10;                &lt;Text style={{ width: 130, fontSize: 19, fontWeight: 'bold', color: '#20344B' }}&gt;方法缺口&lt;/Text&gt;&#10;                &lt;Text style={{ flex: 1, fontSize: 14, color: '#546779', lineHeight: 1.5 }}&gt;一套做法要重复使用，步骤、脚本与停止条件需要固定&lt;/Text&gt;&#10;            &lt;/Box&gt;&#10;&#10;            &lt;Box style={{ height: 84, background: '#FFF4E6', borderRadius: 8, padding: '0 20px', flexDirection: 'row', alignItems: 'center', gap: 16 }}&gt;&#10;                &lt;Box style={{ width: 4, height: 52, background: '#CB6B28' }} /&gt;&#10;                &lt;Text style={{ width: 130, fontSize: 19, fontWeight: 'bold', color: '#CB6B28' }}&gt;验证缺口&lt;/Text&gt;&#10;                &lt;Text style={{ flex: 1, fontSize: 14, color: '#546779', lineHeight: 1.5 }}&gt;不知道错误出在哪次调用，输入、响应与产物对不上&lt;/Text&gt;&#10;            &lt;/Box&gt;&#10;&#10;        &lt;/Box&gt;&#10;&#10;        &lt;Box style={{ width: 420, flexDirection: 'column', gap: 20 }}&gt;&#10;&#10;            &lt;Box style={{ height: 200, background: '#EDF4FC', borderRadius: 10, padding: '18px 20px', flexDirection: 'column', gap: 8, justifyContent: 'center' }}&gt;&#10;                &lt;Text style={{ fontSize: 19, fontWeight: 'bold', color: '#276FBF' }}&gt;缺哪一类，补哪一层&lt;/Text&gt;&#10;                &lt;Text style={{ fontSize: 14, color: '#546779', lineHeight: 1.7 }}&gt;五类缺口落在不同层上。把所有工具先装一遍，再去找地方用，是最常见的浪费。&lt;/Text&gt;&#10;            &lt;/Box&gt;&#10;&#10;            &lt;Box style={{ height: 200, background: '#FFF4E6', borderRadius: 10, padding: '18px 20px', flexDirection: 'column', gap: 8, justifyContent: 'center' }}&gt;&#10;                &lt;Text style={{ fontSize: 19, fontWeight: 'bold', color: '#CB6B28' }}&gt;每新增一种都要说清&lt;/Text&gt;&#10;                &lt;Text style={{ fontSize: 14, color: '#546779', lineHeight: 1.7 }}&gt;它解决的是哪一类缺口。说不出来，就说明这次引入还没有必要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按问题选择技术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先找缺口：五类缺口各缺什么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1485900"/>
            <a:ext cx="66675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800100" y="16383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990600" y="17811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输入缺口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2381250" y="17621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该给的材料没进输入，或来源与有效时间不清楚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2400300"/>
            <a:ext cx="66675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800100" y="25527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90600" y="26955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事实缺口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381250" y="26765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需要当前预约、容量这类外部事实，模型自己答不出来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3314700"/>
            <a:ext cx="66675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800100" y="34671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90600" y="36099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执行缺口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2381250" y="35909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计算、转换、读写文件要真的被执行，不是被描述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4229100"/>
            <a:ext cx="66675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800100" y="43815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90600" y="45243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方法缺口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2381250" y="45053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一套做法要重复使用，步骤、脚本与停止条件需要固定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5143500"/>
            <a:ext cx="66675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800100" y="52959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90600" y="54387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验证缺口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381250" y="54197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不知道错误出在哪次调用，输入、响应与产物对不上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581900" y="1714500"/>
            <a:ext cx="40005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772400" y="2247900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缺哪一类，补哪一层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772400" y="25431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五类缺口落在不同层上。把所有工具先装一遍，再去找地方用，是最常见的浪费。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7581900" y="3810000"/>
            <a:ext cx="40005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772400" y="4343400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每新增一种都要说清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772400" y="46386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它解决的是哪一类缺口。说不出来，就说明这次引入还没有必要。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06" name="" descr="&lt;Slide notes={`把所有技术摆成一张图看：左边是先找缺口，右边是五条不同的分支。这不是一条流水线，而是从同一个入口分出去的五条路。&#10;&#10;要求写得含糊、输出老是偏题，走要求与格式这条，用 Prompt 和例子去补，格式要让程序读得懂就再加结构化输出。&#10;&#10;需要当前预约这类外部事实，走资料与外部事实这条，靠检索、Function Calling 和 MCP。&#10;&#10;重复的计算、转换和检查很多，走可复用执行这条，用命令行和 Skill。&#10;&#10;输入本身是图、录音或者需要操作页面，那是额外感知与分工。最后一条是过程关联与诊断，它不解决任务本身，只解决哪一次出的错。&#10;&#10;五条分支可以只走一条，也可以组合，但每一条都要有对应的缺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1　按问题选择技术&lt;/Text&gt;&#10;            &lt;Text style={{ fontSize: 34, fontWeight: 'bold', color: '#20344B' }}&gt;一个缺口，对应一层技术&lt;/Text&gt;&#10;        &lt;/Box&gt;&#10;    &lt;/Box&gt;&#10;&#10;    &lt;Box style={{ height: 540, flexDirection: 'row', justifyContent: 'center', alignItems: 'center', gap: 12 }}&gt;&#10;&#10;        &lt;Box style={{ width: 300, height: 280, background: '#276FBF', borderRadius: 10, padding: '24px 22px', flexDirection: 'column', gap: 12, justifyContent: 'center' }}&gt;&#10;            &lt;Text style={{ fontSize: 26, fontWeight: 'bold', color: '#FFFFFF' }}&gt;先找缺口&lt;/Text&gt;&#10;            &lt;Box style={{ width: 56, height: 3, background: '#FFFFFF' }} /&gt;&#10;            &lt;Text style={{ fontSize: 14, color: '#EDF4FC', lineHeight: 1.7 }}&gt;输入、事实、执行、方法、验证，五类缺口共用同一个入口。&lt;/Text&gt;&#10;            &lt;Text style={{ fontSize: 15, fontWeight: 'bold', color: '#FFFFFF', lineHeight: 1.6 }}&gt;按缺口取用，不是全部必经。&lt;/Text&gt;&#10;        &lt;/Box&gt;&#10;&#10;        &lt;Box style={{ width: 44, height: 280, justifyContent: 'center', alignItems: 'center' }}&gt;&#10;            &lt;Text style={{ fontSize: 26, color: '#276FBF' }}&gt;›&lt;/Text&gt;&#10;        &lt;/Box&gt;&#10;&#10;        &lt;Box style={{ width: 784, flexDirection: 'column', gap: 12 }}&gt;&#10;&#10;            &lt;Box style={{ height: 88, background: '#EDF4FC', borderRadius: 8, padding: '12px 18px', flexDirection: 'row', alignItems: 'center', gap: 18 }}&gt;&#10;                &lt;Box style={{ width: 4, height: 50, background: '#276FBF' }} /&gt;&#10;                &lt;Box style={{ flex: 1, flexDirection: 'column', gap: 4 }}&gt;&#10;                    &lt;Text style={{ fontSize: 19, fontWeight: 'bold', color: '#20344B' }}&gt;要求与格式&lt;/Text&gt;&#10;                    &lt;Text style={{ fontSize: 14, color: '#546779' }}&gt;Prompt、上下文、Schema&lt;/Text&gt;&#10;                &lt;/Box&gt;&#10;            &lt;/Box&gt;&#10;&#10;            &lt;Box style={{ height: 88, background: '#EDF4FC', borderRadius: 8, padding: '12px 18px', flexDirection: 'row', alignItems: 'center', gap: 18 }}&gt;&#10;                &lt;Box style={{ width: 4, height: 50, background: '#276FBF' }} /&gt;&#10;                &lt;Box style={{ flex: 1, flexDirection: 'column', gap: 4 }}&gt;&#10;                    &lt;Text style={{ fontSize: 19, fontWeight: 'bold', color: '#20344B' }}&gt;资料与外部事实&lt;/Text&gt;&#10;                    &lt;Text style={{ fontSize: 14, color: '#546779' }}&gt;检索、Function Calling、MCP&lt;/Text&gt;&#10;                &lt;/Box&gt;&#10;            &lt;/Box&gt;&#10;&#10;            &lt;Box style={{ height: 88, background: '#EDF4FC', borderRadius: 8, padding: '12px 18px', flexDirection: 'row', alignItems: 'center', gap: 18 }}&gt;&#10;                &lt;Box style={{ width: 4, height: 50, background: '#276FBF' }} /&gt;&#10;                &lt;Box style={{ flex: 1, flexDirection: 'column', gap: 4 }}&gt;&#10;                    &lt;Text style={{ fontSize: 19, fontWeight: 'bold', color: '#20344B' }}&gt;可复用执行&lt;/Text&gt;&#10;                    &lt;Text style={{ fontSize: 14, color: '#546779' }}&gt;CLI、Skill、Agent 循环&lt;/Text&gt;&#10;                &lt;/Box&gt;&#10;            &lt;/Box&gt;&#10;&#10;            &lt;Box style={{ height: 88, background: '#EDF4FC', borderRadius: 8, padding: '12px 18px', flexDirection: 'row', alignItems: 'center', gap: 18 }}&gt;&#10;                &lt;Box style={{ width: 4, height: 50, background: '#276FBF' }} /&gt;&#10;                &lt;Box style={{ flex: 1, flexDirection: 'column', gap: 4 }}&gt;&#10;                    &lt;Text style={{ fontSize: 19, fontWeight: 'bold', color: '#20344B' }}&gt;额外感知与分工&lt;/Text&gt;&#10;                    &lt;Text style={{ fontSize: 14, color: '#546779' }}&gt;多模态、计算机工具、多 Agent&lt;/Text&gt;&#10;                &lt;/Box&gt;&#10;            &lt;/Box&gt;&#10;&#10;            &lt;Box style={{ height: 88, background: '#ECF7F2', borderRadius: 8, padding: '12px 18px', flexDirection: 'row', alignItems: 'center', gap: 18 }}&gt;&#10;                &lt;Box style={{ width: 4, height: 50, background: '#26816B' }} /&gt;&#10;                &lt;Box style={{ flex: 1, flexDirection: 'column', gap: 4 }}&gt;&#10;                    &lt;Text style={{ fontSize: 19, fontWeight: 'bold', color: '#20344B' }}&gt;过程关联与诊断&lt;/Text&gt;&#10;                    &lt;Text style={{ fontSize: 14, color: '#546779' }}&gt;可观测性、Langfuse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按问题选择技术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一个缺口，对应一层技术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2381250"/>
            <a:ext cx="2857500" cy="2667000"/>
          </a:xfrm>
          <a:prstGeom prst="roundRect">
            <a:avLst>
              <a:gd name="adj" fmla="val 357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2438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先找缺口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819150" y="3381375"/>
            <a:ext cx="5334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19150" y="3524250"/>
            <a:ext cx="2438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EDF4FC"/>
                </a:solidFill>
                <a:latin typeface="Microsoft YaHei"/>
                <a:ea typeface="Microsoft YaHei"/>
              </a:rPr>
              <a:t>输入、事实、执行、方法、验证，五类缺口共用同一个入口。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19150" y="4191000"/>
            <a:ext cx="2438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按缺口取用，不是全部必经。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752850" y="35623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4114800" y="1390650"/>
            <a:ext cx="746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4286250" y="15716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495800" y="160020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要求与格式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495800" y="1857375"/>
            <a:ext cx="691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、上下文、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Schema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114800" y="2343150"/>
            <a:ext cx="746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4286250" y="25241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495800" y="255270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资料与外部事实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495800" y="2809875"/>
            <a:ext cx="691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Function Calling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114800" y="3295650"/>
            <a:ext cx="746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4286250" y="34766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495800" y="350520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可复用执行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495800" y="3762375"/>
            <a:ext cx="691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CLI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4114800" y="4248150"/>
            <a:ext cx="746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4286250" y="44291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495800" y="445770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额外感知与分工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4495800" y="4714875"/>
            <a:ext cx="691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多模态、计算机工具、多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4114800" y="5200650"/>
            <a:ext cx="74676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4286250" y="5381625"/>
            <a:ext cx="38100" cy="476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4495800" y="541020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过程关联与诊断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495800" y="5667375"/>
            <a:ext cx="691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Langfuse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39" name="" descr="&lt;Slide notes={`六种常见技术，我按它们经常解决的缺口排一下。&#10;&#10;要求含糊、输出偏题，用 Prompt 和例子去补，看同一批材料下输出是不是更稳定地满足评分表。&#10;&#10;格式程序读不了，用结构化输出。能被解析只是第一步，还要另外过一次业务校验，字段对了不代表内容对。&#10;&#10;需要当前预约这种外部事实，用 Function Calling，关键是它真的执行了工具、并且用了返回的结果。&#10;&#10;同一只读能力要被多个宿主接入，才轮到 MCP；判断要看协议、传输、认证和工具合同是否真的兼容。&#10;&#10;重复的计算和检查交给命令行，看固定输入能否复现、退出码对不对。做法反复使用就用 Skill，看它有没有正确选用步骤、脚本和验收条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1　按问题选择技术&lt;/Text&gt;&#10;            &lt;Text style={{ fontSize: 34, fontWeight: 'bold', color: '#20344B' }}&gt;单次任务用得上的六种技术&lt;/Text&gt;&#10;        &lt;/Box&gt;&#10;    &lt;/Box&gt;&#10;&#10;    &lt;Box style={{ height: 540, flexDirection: 'row', alignItems: 'center', gap: 24 }}&gt;&#10;&#10;        &lt;Box style={{ width: 440, flexDirection: 'column', gap: 16 }}&gt;&#10;&#10;            &lt;Box style={{ height: 200, background: '#EDF4FC', borderRadius: 10, padding: '18px 20px', flexDirection: 'column', gap: 8, justifyContent: 'center' }}&gt;&#10;                &lt;Text style={{ fontSize: 19, fontWeight: 'bold', color: '#276FBF' }}&gt;判断的标准只有一个&lt;/Text&gt;&#10;                &lt;Text style={{ fontSize: 14, color: '#546779', lineHeight: 1.7 }}&gt;相同材料、相同任务下，换掉这项技术之后，结果是否更稳定、更可核对。达不到这一点，换来的只是流程更复杂。&lt;/Text&gt;&#10;            &lt;/Box&gt;&#10;&#10;            &lt;Box style={{ height: 200, background: '#FFF4E6', borderRadius: 10, padding: '18px 20px', flexDirection: 'column', gap: 8, justifyContent: 'center' }}&gt;&#10;                &lt;Text style={{ fontSize: 19, fontWeight: 'bold', color: '#CB6B28' }}&gt;说不清缺口的，先不加&lt;/Text&gt;&#10;                &lt;Text style={{ fontSize: 14, color: '#546779', lineHeight: 1.7 }}&gt;要求含糊补 Prompt，格式不可解析补 Schema，缺事实补工具，缺复用补 Skill。一次只补一类缺口。&lt;/Text&gt;&#10;            &lt;/Box&gt;&#10;&#10;        &lt;/Box&gt;&#10;&#10;        &lt;Box style={{ width: 688, flexDirection: 'column', gap: 10 }}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Prompt 与例子&lt;/Text&gt;&#10;                    &lt;Text style={{ fontSize: 12, color: '#546779' }}&gt;要求含糊，输出偏题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相同材料下是否更稳定满足评分表&lt;/Text&gt;&#10;            &lt;/Box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Structured Outputs&lt;/Text&gt;&#10;                    &lt;Text style={{ fontSize: 12, color: '#546779' }}&gt;格式无法被程序消费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是否可解析、符合 Schema，且另行通过业务校验&lt;/Text&gt;&#10;            &lt;/Box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Function Calling&lt;/Text&gt;&#10;                    &lt;Text style={{ fontSize: 12, color: '#546779' }}&gt;需要当前预约等外部事实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是否真实执行工具并使用返回结果&lt;/Text&gt;&#10;            &lt;/Box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MCP&lt;/Text&gt;&#10;                    &lt;Text style={{ fontSize: 12, color: '#546779' }}&gt;相同能力要被多个宿主接入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协议、传输、认证与工具合同是否实际兼容&lt;/Text&gt;&#10;            &lt;/Box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CLI 或受控 Shell&lt;/Text&gt;&#10;                    &lt;Text style={{ fontSize: 12, color: '#546779' }}&gt;重复的计算、转换和检查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固定输入下能否复现，退出码是否正确&lt;/Text&gt;&#10;            &lt;/Box&gt;&#10;&#10;            &lt;Box style={{ height: 72, background: '#F4F7FA', borderRadius: 8, padding: '0 16px', flexDirection: 'row', alignItems: 'center', gap: 12 }}&gt;&#10;                &lt;Box style={{ width: 4, height: 44, background: '#276FBF' }} /&gt;&#10;                &lt;Box style={{ width: 220, flexDirection: 'column', gap: 3 }}&gt;&#10;                    &lt;Text style={{ fontSize: 16, fontWeight: 'bold', color: '#20344B' }}&gt;Skill&lt;/Text&gt;&#10;                    &lt;Text style={{ fontSize: 12, color: '#546779' }}&gt;做法需要重复使用&lt;/Text&gt;&#10;                &lt;/Box&gt;&#10;                &lt;Box style={{ width: 44, justifyContent: 'center', alignItems: 'center' }}&gt;&lt;Text style={{ fontSize: 18, color: '#276FBF' }}&gt;›&lt;/Text&gt;&lt;/Box&gt;&#10;                &lt;Text style={{ flex: 1, fontSize: 13, color: '#546779', lineHeight: 1.5 }}&gt;是否正确选用 SOP、脚本与验收步骤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按问题选择技术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单次任务用得上的六种技术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1733550"/>
            <a:ext cx="41910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00100" y="22669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判断的标准只有一个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相同材料、相同任务下，换掉这项技术之后，结果是否更稳定、更可核对。达不到这一点，换来的只是流程更复杂。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3790950"/>
            <a:ext cx="41910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00100" y="43243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说不清缺口的，先不加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00100" y="4619625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要求含糊补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，格式不可解析补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，缺事实补工具，缺复用补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。一次只补一类缺口。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5029200" y="141922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5181600" y="15525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334000" y="15811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Prompt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与例子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334000" y="180022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要求含糊，输出偏题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724775" y="16573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077200" y="164782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相同材料下是否更稳定满足评分表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029200" y="220027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5181600" y="23336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334000" y="23622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Structured Outputs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334000" y="258127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格式无法被程序消费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724775" y="24384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077200" y="242887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是否可解析、符合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，且另行通过业务校验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5029200" y="298132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5181600" y="31146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334000" y="31432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Function Calling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334000" y="336232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需要当前预约等外部事实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724775" y="32194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077200" y="320992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是否真实执行工具并使用返回结果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5029200" y="376237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5181600" y="38957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334000" y="39243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334000" y="414337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相同能力要被多个宿主接入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724775" y="40005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077200" y="399097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协议、传输、认证与工具合同是否实际兼容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5029200" y="454342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5181600" y="46767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0" y="47053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或受控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334000" y="492442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重复的计算、转换和检查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724775" y="47815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077200" y="477202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固定输入下能否复现，退出码是否正确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5029200" y="5324475"/>
            <a:ext cx="6553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5181600" y="54578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334000" y="54864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Skill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5334000" y="5705475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做法需要重复使用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724775" y="55626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077200" y="555307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是否正确选用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、脚本与验收步骤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88" name="" descr="&lt;Slide notes={`剩下五种技术，判断方式也是同一个套路。&#10;&#10;资料多到不可能全塞进上下文，才需要检索和 RAG。这时要分两步检查：依据有没有找全，引用的内容是否真的支持结论。&#10;&#10;下一步做什么取决于上一步结果，用 Agent 循环。看它会不会根据观察调整，有没有在边界内停下来。&#10;&#10;输入是图、是录音、或需要操作页面，用多模态和计算机工具。感知、执行和最终状态要分别核实。&#10;&#10;子任务可以拆开独立处理，考虑多 Agent 工作流，但先要算清楚收益是否超过协调成本。&#10;&#10;最后是可观测性，它不解决任务，只解决错在哪一次，要把这次的 Trace、输入、模型调用、校验和产物串起来。这些技术可以组合，每加一种都要说得出它解决了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1　按问题选择技术&lt;/Text&gt;&#10;            &lt;Text style={{ fontSize: 34, fontWeight: 'bold', color: '#20344B' }}&gt;扩展路线的五种技术，以及组合方式&lt;/Text&gt;&#10;        &lt;/Box&gt;&#10;    &lt;/Box&gt;&#10;&#10;    &lt;Box style={{ height: 540, flexDirection: 'column', justifyContent: 'center', gap: 16 }}&gt;&#10;&#10;        &lt;Box style={{ height: 72, background: '#F4F7FA', borderRadius: 8, padding: '0 20px', flexDirection: 'row', alignItems: 'center', gap: 14 }}&gt;&#10;            &lt;Box style={{ width: 4, height: 44, background: '#26816B' }} /&gt;&#10;            &lt;Box style={{ width: 260, flexDirection: 'column', gap: 3 }}&gt;&#10;                &lt;Text style={{ fontSize: 16, fontWeight: 'bold', color: '#20344B' }}&gt;检索与 RAG&lt;/Text&gt;&#10;                &lt;Text style={{ fontSize: 12, color: '#546779' }}&gt;资料很多，不能全部放入上下文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, lineHeight: 1.5 }}&gt;是否找全依据，引用是否支持结论&lt;/Text&gt;&#10;        &lt;/Box&gt;&#10;&#10;        &lt;Box style={{ height: 72, background: '#F4F7FA', borderRadius: 8, padding: '0 20px', flexDirection: 'row', alignItems: 'center', gap: 14 }}&gt;&#10;            &lt;Box style={{ width: 4, height: 44, background: '#26816B' }} /&gt;&#10;            &lt;Box style={{ width: 260, flexDirection: 'column', gap: 3 }}&gt;&#10;                &lt;Text style={{ fontSize: 16, fontWeight: 'bold', color: '#20344B' }}&gt;Agent 循环&lt;/Text&gt;&#10;                &lt;Text style={{ fontSize: 12, color: '#546779' }}&gt;下一步依赖未知结果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, lineHeight: 1.5 }}&gt;是否根据观察调整，并在边界内停止&lt;/Text&gt;&#10;        &lt;/Box&gt;&#10;&#10;        &lt;Box style={{ height: 72, background: '#F4F7FA', borderRadius: 8, padding: '0 20px', flexDirection: 'row', alignItems: 'center', gap: 14 }}&gt;&#10;            &lt;Box style={{ width: 4, height: 44, background: '#26816B' }} /&gt;&#10;            &lt;Box style={{ width: 260, flexDirection: 'column', gap: 3 }}&gt;&#10;                &lt;Text style={{ fontSize: 16, fontWeight: 'bold', color: '#20344B' }}&gt;多模态与计算机工具&lt;/Text&gt;&#10;                &lt;Text style={{ fontSize: 12, color: '#546779' }}&gt;需要读图、听录音或操作页面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, lineHeight: 1.5 }}&gt;感知、执行和最终状态是否分别核实&lt;/Text&gt;&#10;        &lt;/Box&gt;&#10;&#10;        &lt;Box style={{ height: 72, background: '#F4F7FA', borderRadius: 8, padding: '0 20px', flexDirection: 'row', alignItems: 'center', gap: 14 }}&gt;&#10;            &lt;Box style={{ width: 4, height: 44, background: '#26816B' }} /&gt;&#10;            &lt;Box style={{ width: 260, flexDirection: 'column', gap: 3 }}&gt;&#10;                &lt;Text style={{ fontSize: 16, fontWeight: 'bold', color: '#20344B' }}&gt;多 Agent 工作流&lt;/Text&gt;&#10;                &lt;Text style={{ fontSize: 12, color: '#546779' }}&gt;可分离的子任务需要独立处理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, lineHeight: 1.5 }}&gt;质量或耗时收益是否超过协调成本&lt;/Text&gt;&#10;        &lt;/Box&gt;&#10;&#10;        &lt;Box style={{ height: 72, background: '#F4F7FA', borderRadius: 8, padding: '0 20px', flexDirection: 'row', alignItems: 'center', gap: 14 }}&gt;&#10;            &lt;Box style={{ width: 4, height: 44, background: '#26816B' }} /&gt;&#10;            &lt;Box style={{ width: 260, flexDirection: 'column', gap: 3 }}&gt;&#10;                &lt;Text style={{ fontSize: 16, fontWeight: 'bold', color: '#20344B' }}&gt;可观测性与 Langfuse&lt;/Text&gt;&#10;                &lt;Text style={{ fontSize: 12, color: '#546779' }}&gt;不清楚错误发生在哪次调用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, lineHeight: 1.5 }}&gt;本次 Trace、输入、模型调用、校验和产物能否关联&lt;/Text&gt;&#10;        &lt;/Box&gt;&#10;&#10;        &lt;Box style={{ height: 92, background: '#FFF4E6', borderRadius: 10, padding: '16px 22px', flexDirection: 'row', alignItems: 'center', gap: 16 }}&gt;&#10;            &lt;Box style={{ width: 4, height: 48, background: '#CB6B28' }} /&gt;&#10;            &lt;Box style={{ flex: 1, flexDirection: 'column', gap: 4 }}&gt;&#10;                &lt;Text style={{ fontSize: 17, fontWeight: 'bold', color: '#CB6B28' }}&gt;技术可以组合&lt;/Text&gt;&#10;                &lt;Text style={{ fontSize: 14, color: '#546779', lineHeight: 1.6 }}&gt;MCP 连接包装 CLI 的服务，Skill 指导调用方法，Agent 循环选择下一步，结构化输出约束交付格式。每新增一种，都要说清它解决了什么问题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按问题选择技术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扩展路线的五种技术，以及组合方式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11811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4" name=""/>
          <p:cNvSpPr/>
          <p:nvPr/>
        </p:nvSpPr>
        <p:spPr>
          <a:xfrm rot="0" flipH="0" flipV="0">
            <a:off x="800100" y="13144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971550" y="13430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检索与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971550" y="1562100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资料很多，不能全部放入上下文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762375" y="14192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133850" y="140017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是否找全依据，引用是否支持结论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20193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800100" y="21526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971550" y="21812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循环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971550" y="2400300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下一步依赖未知结果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762375" y="22574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133850" y="223837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是否根据观察调整，并在边界内停止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28575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800100" y="29908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71550" y="30194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多模态与计算机工具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971550" y="3238500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需要读图、听录音或操作页面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3762375" y="30956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4133850" y="307657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感知、执行和最终状态是否分别核实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36957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800100" y="38290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71550" y="38576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多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71550" y="4076700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可分离的子任务需要独立处理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133850" y="391477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质量或耗时收益是否超过协调成本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45339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800100" y="46672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71550" y="46958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可观测性与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Langfuse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71550" y="4914900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不清楚错误发生在哪次调用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762375" y="47720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133850" y="475297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、输入、模型调用、校验和产物能否关联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53721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819150" y="55816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009650" y="55626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技术可以组合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09650" y="58007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连接包装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的服务，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指导调用方法，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循环选择下一步，结构化输出约束交付格式。每新增一种，都要说清它解决了什么问题。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选完技术，接下来要把它们真的跑一遍。API 这条路线一共五步，我按顺序说。&#10;&#10;第一步是本地检查：跑单元测试，再用规则校验器检查 fixtures 里的样板排期。这两条命令都不访问模型，它们只回答一个问题——资料和本地逻辑是不是对的。&#10;&#10;第二步是普通文本，先看一次最基本的响应长什么样。&#10;&#10;第三步是受约束的候选，让模型按 Schema 输出一份排期。&#10;&#10;第四步是带工具反馈的完整循环，模型可以看到查询结果再调整。&#10;&#10;第五步是独立校验，用同一条命令行重新检查最终排期。&#10;&#10;顺序很重要：先确认本地这一层，再评价模型。反过来做，出了问题你分不清是材料错了还是模型错了。`} style={{ width: 1280, height: 720, background: '#FFFFFF', flexDirection: 'column', padding: '20px 64px' }}&gt;&#10;&#10;    &lt;Box style={{ height: 100 }} /&gt;&#10;&#10;    &lt;Box style={{ height: 540, flexDirection: 'column', justifyContent: 'center', gap: 26 }}&gt;&#10;&#10;        &lt;Box style={{ flexDirection: 'column', alignItems: 'center', gap: 12 }}&gt;&#10;            &lt;Text style={{ fontSize: 15, color: '#546779' }}&gt;2.14.2　一次完整的 API 路线&lt;/Text&gt;&#10;            &lt;Text style={{ fontSize: 56, fontWeight: 'bold', color: '#20344B', lineHeight: 1.15, textAlign: 'center' }}&gt;先跑本地，再跑模型&lt;/Text&gt;&#10;            &lt;Box style={{ width: 72, height: 4, background: '#276FBF' }} /&gt;&#10;        &lt;/Box&gt;&#10;&#10;        &lt;Box style={{ flexDirection: 'row', justifyContent: 'center', alignItems: 'center' }}&gt;&#10;&#10;            &lt;Box style={{ width: 208, height: 96, background: '#EDF4FC', borderRadius: 10, justifyContent: 'center', alignItems: 'center' }}&gt;&#10;                &lt;Text style={{ fontSize: 19, fontWeight: 'bold', color: '#276FBF' }}&gt;本地检查&lt;/Text&gt;&#10;            &lt;/Box&gt;&#10;            &lt;Box style={{ width: 28, height: 96, justifyContent: 'center', alignItems: 'center' }}&gt;&lt;Text style={{ fontSize: 22, color: '#276FBF' }}&gt;›&lt;/Text&gt;&lt;/Box&gt;&#10;&#10;            &lt;Box style={{ width: 208, height: 96, background: '#EDF4FC', borderRadius: 10, justifyContent: 'center', alignItems: 'center' }}&gt;&#10;                &lt;Text style={{ fontSize: 19, fontWeight: 'bold', color: '#276FBF' }}&gt;普通文本&lt;/Text&gt;&#10;            &lt;/Box&gt;&#10;            &lt;Box style={{ width: 28, height: 96, justifyContent: 'center', alignItems: 'center' }}&gt;&lt;Text style={{ fontSize: 22, color: '#276FBF' }}&gt;›&lt;/Text&gt;&lt;/Box&gt;&#10;&#10;            &lt;Box style={{ width: 208, height: 96, background: '#EDF4FC', borderRadius: 10, justifyContent: 'center', alignItems: 'center' }}&gt;&#10;                &lt;Text style={{ fontSize: 19, fontWeight: 'bold', color: '#276FBF' }}&gt;受约束候选&lt;/Text&gt;&#10;            &lt;/Box&gt;&#10;            &lt;Box style={{ width: 28, height: 96, justifyContent: 'center', alignItems: 'center' }}&gt;&lt;Text style={{ fontSize: 22, color: '#276FBF' }}&gt;›&lt;/Text&gt;&lt;/Box&gt;&#10;&#10;            &lt;Box style={{ width: 208, height: 96, background: '#EDF4FC', borderRadius: 10, justifyContent: 'center', alignItems: 'center' }}&gt;&#10;                &lt;Text style={{ fontSize: 19, fontWeight: 'bold', color: '#276FBF' }}&gt;工具闭环&lt;/Text&gt;&#10;            &lt;/Box&gt;&#10;            &lt;Box style={{ width: 28, height: 96, justifyContent: 'center', alignItems: 'center' }}&gt;&lt;Text style={{ fontSize: 22, color: '#26816B' }}&gt;›&lt;/Text&gt;&lt;/Box&gt;&#10;&#10;            &lt;Box style={{ width: 208, height: 96, background: '#ECF7F2', borderRadius: 10, justifyContent: 'center', alignItems: 'center' }}&gt;&#10;                &lt;Text style={{ fontSize: 19, fontWeight: 'bold', color: '#26816B' }}&gt;独立校验&lt;/Text&gt;&#10;            &lt;/Box&gt;&#10;&#10;        &lt;/Box&gt;&#10;&#10;        &lt;Text style={{ fontSize: 16, color: '#546779', textAlign: 'center' }}&gt;前两步不访问模型，中间两步访问服务，最后一步由命令行独立复核。&lt;/Text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5162550" y="23241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695700" y="2609850"/>
            <a:ext cx="48006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先跑本地，再跑模型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5753100" y="34671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09600" y="3752850"/>
            <a:ext cx="1981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238250" y="41052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本地检查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2686050" y="40862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2857500" y="3752850"/>
            <a:ext cx="1981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3486150" y="41052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普通文本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4933950" y="40862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5105400" y="3752850"/>
            <a:ext cx="1981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648325" y="41052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受约束候选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7181850" y="40862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7353300" y="3752850"/>
            <a:ext cx="1981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981950" y="41052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工具闭环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429750" y="40862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9601200" y="3752850"/>
            <a:ext cx="19812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0229850" y="41052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独立校验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109728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前两步不访问模型，中间两步访问服务，最后一步由命令行独立复核。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51" name="" descr="&lt;Slide notes={`在评价模型之前，先确认本地这一层。按 2.1 把独立的 Python 环境准备好，然后到 examples 目录里按顺序执行。&#10;&#10;第一条命令跑单元测试，检查脚本本身有没有写对。第二条用 fixtures 里准备好的样板排期，走一遍规则校验器，并把检查结果写到 output 目录里。&#10;&#10;这两条都不访问模型，所以它们给出的结论只说明一件事：材料读得到，本地逻辑是对的。&#10;&#10;这一点很关键。如果一上来就跑模型，最后发现结果不对，你其实分不清是材料错了、规则写错了，还是模型没做好。先把本地这一层固定下来，后面出问题就只剩模型和服务这一段。&#10;&#10;反过来说，这两条通过也不代表模型会通过。它只是把变量减少了一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2　一次完整的 API 路线&lt;/Text&gt;&#10;            &lt;Text style={{ fontSize: 34, fontWeight: 'bold', color: '#20344B' }}&gt;两条不访问模型的命令&lt;/Text&gt;&#10;        &lt;/Box&gt;&#10;    &lt;/Box&gt;&#10;&#10;    &lt;Box style={{ height: 540, flexDirection: 'row', alignItems: 'center', gap: 24 }}&gt;&#10;&#10;        &lt;Box style={{ width: 380, flexDirection: 'column', gap: 14 }}&gt;&#10;&#10;            &lt;Text style={{ fontSize: 16, color: '#546779', lineHeight: 1.8 }}&gt;按 2.1 准备好独立 Python 环境，从 examples 目录按顺序执行。&lt;/Text&gt;&#10;&#10;            &lt;Box style={{ height: 170, background: '#ECF7F2', borderRadius: 10, padding: '18px 20px', flexDirection: 'column', gap: 8, justifyContent: 'center' }}&gt;&#10;                &lt;Text style={{ fontSize: 19, fontWeight: 'bold', color: '#26816B' }}&gt;这一步确认什么&lt;/Text&gt;&#10;                &lt;Text style={{ fontSize: 14, color: '#546779', lineHeight: 1.7 }}&gt;资料读得到，本地逻辑是对的。此时还没有评价模型。&lt;/Text&gt;&#10;            &lt;/Box&gt;&#10;&#10;            &lt;Box style={{ height: 170, background: '#FFF4E6', borderRadius: 10, padding: '18px 20px', flexDirection: 'column', gap: 8, justifyContent: 'center' }}&gt;&#10;                &lt;Text style={{ fontSize: 19, fontWeight: 'bold', color: '#CB6B28' }}&gt;还不能说什么&lt;/Text&gt;&#10;                &lt;Text style={{ fontSize: 14, color: '#546779', lineHeight: 1.7 }}&gt;不能说模型就不会出问题。缺事实、违反约束这些失败，要跑完后面几步才会暴露。&lt;/Text&gt;&#10;            &lt;/Box&gt;&#10;&#10;        &lt;/Box&gt;&#10;&#10;        &lt;Box style={{ width: 748, flexDirection: 'column', gap: 14 }}&gt;&#10;&#10;            &lt;Box style={{ height: 64, background: '#EDF4FC', borderRadius: 10, padding: '0 22px', flexDirection: 'row', alignItems: 'center', gap: 14 }}&gt;&#10;                &lt;Box style={{ width: 4, height: 40, background: '#276FBF' }} /&gt;&#10;                &lt;Text style={{ fontSize: 17, fontWeight: 'bold', color: '#276FBF' }}&gt;本地检查：两条命令，都不访问模型&lt;/Text&gt;&#10;            &lt;/Box&gt;&#10;&#10;            &lt;Box style={{ height: 150, background: '#F4F7FA', borderRadius: 10, padding: '18px 22px', flexDirection: 'column', gap: 10, justifyContent: 'center' }}&gt;&#10;                &lt;Text style={{ fontSize: 13, color: '#546779' }}&gt;# 检查脚本本身，再用样板排期走一遍规则校验器&lt;/Text&gt;&#10;                &lt;Text style={{ fontSize: 13, color: '#20344B' }}&gt;python -m unittest discover -s tests -v&lt;/Text&gt;&#10;                &lt;Text style={{ fontSize: 13, color: '#20344B' }}&gt;python validate_schedule.py fixtures/valid-schedule.json&lt;/Text&gt;&#10;                &lt;Text style={{ fontSize: 13, color: '#20344B' }}&gt;    --output output/reference-check.json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两条不访问模型的命令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1628775"/>
            <a:ext cx="3619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准备好独立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环境，从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examples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目录按顺序执行。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2428875"/>
            <a:ext cx="3619500" cy="161925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这一步确认什么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32385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资料读得到，本地逻辑是对的。此时还没有评价模型。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" y="4181475"/>
            <a:ext cx="36195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00100" y="45720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还不能说什么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00100" y="4867275"/>
            <a:ext cx="3238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不能说模型就不会出问题。缺事实、违反约束这些失败，要跑完后面几步才会暴露。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4457700" y="2628900"/>
            <a:ext cx="71247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4" name=""/>
          <p:cNvSpPr/>
          <p:nvPr/>
        </p:nvSpPr>
        <p:spPr>
          <a:xfrm rot="0" flipH="0" flipV="0">
            <a:off x="4667250" y="27432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4838700" y="28384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本地检查：两条命令，都不访问模型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4457700" y="3371850"/>
            <a:ext cx="71247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4667250" y="3638550"/>
            <a:ext cx="670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#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检查脚本本身，再用样板排期走一遍规则校验器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667250" y="3886200"/>
            <a:ext cx="670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python -m unittest discover -s tests -v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667250" y="4133850"/>
            <a:ext cx="670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python validate_schedule.py fixtures/valid-schedule.json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667250" y="4381500"/>
            <a:ext cx="670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   --output output/reference-check.json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notes={`本地这一层固定住之后，再按顺序把模型拉进来。四条命令，一步一步加东西。&#10;&#10;第一条是本地检查，不访问模型。第二条跑第一次响应，看一次最普通的文本返回，目的是确认服务这一段是通的：认证、配额、模型名字都对。&#10;&#10;第三条让模型按 Schema 输出一份排期候选。输出形状受约束了，但里面的事实仍来自模型自己的判断。&#10;&#10;第四条是带工具反馈的完整循环，模型能看到查询结果再调整，跑完之后用同一个校验器独立复核。&#10;&#10;有一条要特别注意：中间脚本产出的候选不能直接当成交付物。交付的是最后一次运行目录里的文件，加上紧跟着的独立校验。也不要批量跑完只看最后一行，哪一步失败就先看哪一步的实际输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2　一次完整的 API 路线&lt;/Text&gt;&#10;            &lt;Text style={{ fontSize: 34, fontWeight: 'bold', color: '#20344B' }}&gt;四条命令跑通一次完整路线&lt;/Text&gt;&#10;        &lt;/Box&gt;&#10;    &lt;/Box&gt;&#10;&#10;    &lt;Box style={{ height: 540, flexDirection: 'column', justifyContent: 'center', gap: 16 }}&gt;&#10;&#10;        &lt;Box style={{ flexDirection: 'row', alignItems: 'center' }}&gt;&#10;&#10;            &lt;Box style={{ width: 255, height: 160, background: '#EDF4FC', borderRadius: 10, padding: '16px 18px', flexDirection: 'column', gap: 8, justifyContent: 'center' }}&gt;&#10;                &lt;Box style={{ width: 34, height: 34, borderRadius: 8, background: '#276FBF', justifyContent: 'center', alignItems: 'center' }}&gt;&#10;                    &lt;Text style={{ fontSize: 16, fontWeight: 'bold', color: '#FFFFFF' }}&gt;1&lt;/Text&gt;&#10;                &lt;/Box&gt;&#10;                &lt;Text style={{ fontSize: 19, fontWeight: 'bold', color: '#276FBF' }}&gt;本地检查&lt;/Text&gt;&#10;                &lt;Text style={{ fontSize: 13, color: '#546779', lineHeight: 1.5 }}&gt;unittest 与规则校验器{'\n'}不访问模型&lt;/Text&gt;&#10;            &lt;/Box&gt;&#10;            &lt;Box style={{ width: 44, height: 160, justifyContent: 'center', alignItems: 'center' }}&gt;&lt;Text style={{ fontSize: 26, color: '#276FBF' }}&gt;›&lt;/Text&gt;&lt;/Box&gt;&#10;&#10;            &lt;Box style={{ width: 255, height: 160, background: '#EDF4FC', borderRadius: 10, padding: '16px 18px', flexDirection: 'column', gap: 8, justifyContent: 'center' }}&gt;&#10;                &lt;Box style={{ width: 34, height: 34, borderRadius: 8, background: '#276FBF', justifyContent: 'center', alignItems: 'center' }}&gt;&#10;                    &lt;Text style={{ fontSize: 16, fontWeight: 'bold', color: '#FFFFFF' }}&gt;2&lt;/Text&gt;&#10;                &lt;/Box&gt;&#10;                &lt;Text style={{ fontSize: 19, fontWeight: 'bold', color: '#276FBF' }}&gt;普通文本&lt;/Text&gt;&#10;                &lt;Text style={{ fontSize: 13, color: '#546779', lineHeight: 1.5 }}&gt;first_response.py{'\n'}先看一次基础响应&lt;/Text&gt;&#10;            &lt;/Box&gt;&#10;            &lt;Box style={{ width: 44, height: 160, justifyContent: 'center', alignItems: 'center' }}&gt;&lt;Text style={{ fontSize: 26, color: '#276FBF' }}&gt;›&lt;/Text&gt;&lt;/Box&gt;&#10;&#10;            &lt;Box style={{ width: 255, height: 160, background: '#EDF4FC', borderRadius: 10, padding: '16px 18px', flexDirection: 'column', gap: 8, justifyContent: 'center' }}&gt;&#10;                &lt;Box style={{ width: 34, height: 34, borderRadius: 8, background: '#276FBF', justifyContent: 'center', alignItems: 'center' }}&gt;&#10;                    &lt;Text style={{ fontSize: 16, fontWeight: 'bold', color: '#FFFFFF' }}&gt;3&lt;/Text&gt;&#10;                &lt;/Box&gt;&#10;                &lt;Text style={{ fontSize: 19, fontWeight: 'bold', color: '#276FBF' }}&gt;受约束候选&lt;/Text&gt;&#10;                &lt;Text style={{ fontSize: 13, color: '#546779', lineHeight: 1.5 }}&gt;structured_schedule.py{'\n'}按 Schema 输出候选&lt;/Text&gt;&#10;            &lt;/Box&gt;&#10;            &lt;Box style={{ width: 44, height: 160, justifyContent: 'center', alignItems: 'center' }}&gt;&lt;Text style={{ fontSize: 26, color: '#26816B' }}&gt;›&lt;/Text&gt;&lt;/Box&gt;&#10;&#10;            &lt;Box style={{ width: 255, height: 160, background: '#ECF7F2', borderRadius: 10, padding: '16px 18px', flexDirection: 'column', gap: 8, justifyContent: 'center' }}&gt;&#10;                &lt;Box style={{ width: 34, height: 34, borderRadius: 8, background: '#26816B', justifyContent: 'center', alignItems: 'center' }}&gt;&#10;                    &lt;Text style={{ fontSize: 16, fontWeight: 'bold', color: '#FFFFFF' }}&gt;4&lt;/Text&gt;&#10;                &lt;/Box&gt;&#10;                &lt;Text style={{ fontSize: 19, fontWeight: 'bold', color: '#26816B' }}&gt;工具闭环与校验&lt;/Text&gt;&#10;                &lt;Text style={{ fontSize: 13, color: '#546779', lineHeight: 1.5 }}&gt;function_calling.py{'\n'}再用校验器独立复核&lt;/Text&gt;&#10;            &lt;/Box&gt;&#10;&#10;        &lt;/Box&gt;&#10;&#10;        &lt;Box style={{ height: 96, background: '#FFF4E6', borderRadius: 10, padding: '16px 22px', flexDirection: 'row', alignItems: 'center', gap: 16 }}&gt;&#10;            &lt;Box style={{ width: 4, height: 48, background: '#CB6B28' }} /&gt;&#10;            &lt;Box style={{ flex: 1, flexDirection: 'column', gap: 4 }}&gt;&#10;                &lt;Text style={{ fontSize: 17, fontWeight: 'bold', color: '#CB6B28' }}&gt;中间的候选不是交付物&lt;/Text&gt;&#10;                &lt;Text style={{ fontSize: 14, color: '#546779', lineHeight: 1.6 }}&gt;最后一步用 --output-dir output/final-run 指定本轮目录，交付以该目录的产物与紧随其后的独立校验为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四条命令跑通一次完整路线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2419350"/>
            <a:ext cx="2428875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781050" y="26098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95350" y="2676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本地检查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3305175"/>
            <a:ext cx="20859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unittest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与规则校验器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不访问模型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209925" y="30289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457575" y="2419350"/>
            <a:ext cx="2428875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3629025" y="26098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743325" y="2676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629025" y="300990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普通文本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629025" y="3305175"/>
            <a:ext cx="20859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first_response.py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先看一次基础响应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57900" y="30289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05550" y="2419350"/>
            <a:ext cx="2428875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477000" y="26098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591300" y="2676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77000" y="300990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受约束候选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477000" y="3305175"/>
            <a:ext cx="20859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structured_schedule.py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输出候选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905875" y="30289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9153525" y="2419350"/>
            <a:ext cx="2428875" cy="1524000"/>
          </a:xfrm>
          <a:prstGeom prst="roundRect">
            <a:avLst>
              <a:gd name="adj" fmla="val 62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9324975" y="26098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439275" y="2676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324975" y="3009900"/>
            <a:ext cx="2085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工具闭环与校验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324975" y="3305175"/>
            <a:ext cx="20859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function_calling.py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再用校验器独立复核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40957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819150" y="43243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09650" y="43053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中间的候选不是交付物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09650" y="45434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最后一步用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--output-dir output/final-run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指定本轮目录，交付以该目录的产物与紧随其后的独立校验为准。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跑完四条命令只是拿到了文件，还差一步：宣布完成之前，按四项核对一遍。&#10;&#10;第一项，三项活动是否齐全，并且独立校验通过。齐全和通过都要由校验器给出，不能由模型自己声明。&#10;&#10;第二项，plan.md 和同目录下的 schedule.json 是否一致。说明文件给人看，结构化排期给程序看，两边必须指向同一件事。&#10;&#10;第三项，这一次的查询、响应和文件能不能互相对应，也就是这批产物能指认到具体的输入和输出，而不是混着上一次的。&#10;&#10;第四项最容易出错：不能出现已经预约成功这类说法。本章里根本没有提交预约的写入工具，任何这类表述都没有执行依据。&#10;&#10;前三项是问有没有做到，第四项是问有没有说过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2　一次完整的 API 路线&lt;/Text&gt;&#10;            &lt;Text style={{ fontSize: 34, fontWeight: 'bold', color: '#20344B' }}&gt;交付前按四项核对&lt;/Text&gt;&#10;        &lt;/Box&gt;&#10;    &lt;/Box&gt;&#10;&#10;    &lt;Box style={{ height: 540, flexDirection: 'column', justifyContent: 'center', gap: 12 }}&gt;&#10;&#10;        &lt;Text style={{ fontSize: 17, color: '#546779' }}&gt;最后一次校验通过之后，再逐条核对，然后才宣布完成。&lt;/Text&gt;&#10;&#10;        &lt;Box style={{ height: 86, background: '#EDF4FC', borderRadius: 10, padding: '0 22px', flexDirection: 'row', alignItems: 'center', gap: 16 }}&gt;&#10;            &lt;Box style={{ width: 44, height: 44, borderRadius: 8, background: '#276FBF', justifyContent: 'center', alignItems: 'center' }}&gt;&#10;                &lt;Text style={{ fontSize: 20, fontWeight: 'bold', color: '#FFFFFF' }}&gt;1&lt;/Text&gt;&#10;            &lt;/Box&gt;&#10;            &lt;Box style={{ flex: 1, flexDirection: 'column', gap: 4 }}&gt;&#10;                &lt;Text style={{ fontSize: 18, fontWeight: 'bold', color: '#20344B' }}&gt;三项活动齐全，独立校验通过&lt;/Text&gt;&#10;                &lt;Text style={{ fontSize: 14, color: '#546779' }}&gt;齐全与通过与否，都由校验器判定，不由模型声明。&lt;/Text&gt;&#10;            &lt;/Box&gt;&#10;        &lt;/Box&gt;&#10;&#10;        &lt;Box style={{ height: 86, background: '#EDF4FC', borderRadius: 10, padding: '0 22px', flexDirection: 'row', alignItems: 'center', gap: 16 }}&gt;&#10;            &lt;Box style={{ width: 44, height: 44, borderRadius: 8, background: '#276FBF', justifyContent: 'center', alignItems: 'center' }}&gt;&#10;                &lt;Text style={{ fontSize: 20, fontWeight: 'bold', color: '#FFFFFF' }}&gt;2&lt;/Text&gt;&#10;            &lt;/Box&gt;&#10;            &lt;Box style={{ flex: 1, flexDirection: 'column', gap: 4 }}&gt;&#10;                &lt;Text style={{ fontSize: 18, fontWeight: 'bold', color: '#20344B' }}&gt;plan.md 与同目录 schedule.json 一致&lt;/Text&gt;&#10;                &lt;Text style={{ fontSize: 14, color: '#546779' }}&gt;说明文件里的每一项，都能在同目录的结构化排期里找到。&lt;/Text&gt;&#10;            &lt;/Box&gt;&#10;        &lt;/Box&gt;&#10;&#10;        &lt;Box style={{ height: 86, background: '#EDF4FC', borderRadius: 10, padding: '0 22px', flexDirection: 'row', alignItems: 'center', gap: 16 }}&gt;&#10;            &lt;Box style={{ width: 44, height: 44, borderRadius: 8, background: '#276FBF', justifyContent: 'center', alignItems: 'center' }}&gt;&#10;                &lt;Text style={{ fontSize: 20, fontWeight: 'bold', color: '#FFFFFF' }}&gt;3&lt;/Text&gt;&#10;            &lt;/Box&gt;&#10;            &lt;Box style={{ flex: 1, flexDirection: 'column', gap: 4 }}&gt;&#10;                &lt;Text style={{ fontSize: 18, fontWeight: 'bold', color: '#20344B' }}&gt;本次查询、响应与文件相互对应&lt;/Text&gt;&#10;                &lt;Text style={{ fontSize: 14, color: '#546779' }}&gt;一次尝试的输入、响应与产物能互相指认，不混入上一轮。&lt;/Text&gt;&#10;            &lt;/Box&gt;&#10;        &lt;/Box&gt;&#10;&#10;        &lt;Box style={{ height: 86, background: '#FFF4E6', borderRadius: 10, padding: '0 22px', flexDirection: 'row', alignItems: 'center', gap: 16 }}&gt;&#10;            &lt;Box style={{ width: 44, height: 44, borderRadius: 8, background: '#CB6B28', justifyContent: 'center', alignItems: 'center' }}&gt;&#10;                &lt;Text style={{ fontSize: 20, fontWeight: 'bold', color: '#FFFFFF' }}&gt;4&lt;/Text&gt;&#10;            &lt;/Box&gt;&#10;            &lt;Box style={{ flex: 1, flexDirection: 'column', gap: 4 }}&gt;&#10;                &lt;Text style={{ fontSize: 18, fontWeight: 'bold', color: '#CB6B28' }}&gt;没有&quot;已经预约成功&quot;这类表述&lt;/Text&gt;&#10;                &lt;Text style={{ fontSize: 14, color: '#546779' }}&gt;本章没有提交预约的写入工具，任何这类说法都没有执行依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交付前按四项核对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最后一次校验通过之后，再逐条核对，然后才宣布完成。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206692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9150" y="2266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71550" y="2362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390650" y="227647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三项活动齐全，独立校验通过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390650" y="2524125"/>
            <a:ext cx="998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齐全与通过与否，都由校验器判定，不由模型声明。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30003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19150" y="3200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71550" y="32956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390650" y="320992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plan.md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与同目录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schedule.json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390650" y="3457575"/>
            <a:ext cx="998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说明文件里的每一项，都能在同目录的结构化排期里找到。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393382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819150" y="41338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71550" y="42291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390650" y="414337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本次查询、响应与文件相互对应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390650" y="4391025"/>
            <a:ext cx="998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一次尝试的输入、响应与产物能互相指认，不混入上一轮。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48672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19150" y="5067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71550" y="51625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390650" y="507682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没有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已经预约成功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这类表述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390650" y="5324475"/>
            <a:ext cx="998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本章没有提交预约的写入工具，任何这类说法都没有执行依据。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notes={`实验一定会做很多次，所以从第一次开始就要把证据留好。&#10;&#10;最直接的一条是每次换一个新的输出目录。再跑一遍的时候，不要覆盖上一次的结果。一个目录对应一次尝试，以后回头看，你能说清哪一轮通过、哪一轮失败、中间改了什么。目录混在一起，事后就没法归因。&#10;&#10;第二条是关于 Langfuse 的。它观察的是它自己运行的那一次，不会自动把之前的调用补录进去。所以要让 Trace 和业务报告指向同一次尝试，才能互相对照。&#10;&#10;还有一件事我想强调：不要一次把命令都跑完，然后只看最后一行。哪一步失败，就先看哪一步的实际输出，再决定改哪里。这个习惯能省掉大量猜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2　一次完整的 API 路线&lt;/Text&gt;&#10;            &lt;Text style={{ fontSize: 34, fontWeight: 'bold', color: '#20344B' }}&gt;换新目录，留下这一次的证据&lt;/Text&gt;&#10;        &lt;/Box&gt;&#10;    &lt;/Box&gt;&#10;&#10;    &lt;Box style={{ height: 540, flexDirection: 'row', alignItems: 'center', gap: 32 }}&gt;&#10;&#10;        &lt;Box style={{ width: 620, flexDirection: 'column', gap: 16 }}&gt;&#10;&#10;            &lt;Box style={{ height: 196, background: '#F4F7FA', borderRadius: 10, padding: '18px 22px', flexDirection: 'column', gap: 8, justifyContent: 'center' }}&gt;&#10;                &lt;Text style={{ fontSize: 19, fontWeight: 'bold', color: '#20344B' }}&gt;每次实验换一个新的输出目录&lt;/Text&gt;&#10;                &lt;Text style={{ fontSize: 14, color: '#546779', lineHeight: 1.7 }}&gt;再次实验时用新的 --output-dir，把上一轮的证据保留下来。覆盖旧目录会让两次尝试混在一起，之后说不清哪一轮通过、哪一轮失败。&lt;/Text&gt;&#10;            &lt;/Box&gt;&#10;&#10;            &lt;Box style={{ height: 196, background: '#EDF4FC', borderRadius: 10, padding: '18px 22px', flexDirection: 'column', gap: 8, justifyContent: 'center' }}&gt;&#10;                &lt;Text style={{ fontSize: 19, fontWeight: 'bold', color: '#276FBF' }}&gt;Langfuse 观察的是它自己那一次&lt;/Text&gt;&#10;                &lt;Text style={{ fontSize: 14, color: '#546779', lineHeight: 1.7 }}&gt;按 2.13.7 单独运行 Langfuse 示例，它不会自动补录此前脚本的调用。Trace 与业务报告都要指向同一次尝试，才能互相对照。&lt;/Text&gt;&#10;            &lt;/Box&gt;&#10;&#10;        &lt;/Box&gt;&#10;&#10;        &lt;Box style={{ width: 500, flexDirection: 'column', gap: 16 }}&gt;&#10;&#10;            &lt;Box style={{ height: 260, background: '#EDF4FC', borderRadius: 10, padding: '18px 22px', flexDirection: 'column', gap: 10, justifyContent: 'center' }}&gt;&#10;                &lt;Text style={{ fontSize: 19, fontWeight: 'bold', color: '#276FBF' }}&gt;一次尝试要留下的东西&lt;/Text&gt;&#10;                &lt;Text style={{ fontSize: 14, color: '#546779', lineHeight: 1.6 }}&gt;模型与提示配置&lt;/Text&gt;&#10;                &lt;Text style={{ fontSize: 14, color: '#546779', lineHeight: 1.6 }}&gt;输入材料与工具调用&lt;/Text&gt;&#10;                &lt;Text style={{ fontSize: 14, color: '#546779', lineHeight: 1.6 }}&gt;输出产物与文件位置&lt;/Text&gt;&#10;                &lt;Text style={{ fontSize: 14, color: '#546779', lineHeight: 1.6 }}&gt;校验命令、退出码与结果&lt;/Text&gt;&#10;            &lt;/Box&gt;&#10;&#10;            &lt;Box style={{ height: 132, background: '#FFF4E6', borderRadius: 10, padding: '18px 22px', flexDirection: 'column', gap: 6, justifyContent: 'center' }}&gt;&#10;                &lt;Text style={{ fontSize: 19, fontWeight: 'bold', color: '#CB6B28' }}&gt;不要只看最后一行&lt;/Text&gt;&#10;                &lt;Text style={{ fontSize: 14, color: '#546779', lineHeight: 1.6 }}&gt;任何一步失败，先看这一步的实际输出，再决定改哪里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换新目录，留下这一次的证据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1771650"/>
            <a:ext cx="590550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9150" y="22860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每次实验换一个新的输出目录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19150" y="2581275"/>
            <a:ext cx="5486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再次实验时用新的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--output-dir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，把上一轮的证据保留下来。覆盖旧目录会让两次尝试混在一起，之后说不清哪一轮通过、哪一轮失败。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3790950"/>
            <a:ext cx="5905500" cy="18669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9150" y="43053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Langfuse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观察的是它自己那一次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5486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2.13.7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单独运行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示例，它不会自动补录此前脚本的调用。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Trace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与业务报告都要指向同一次尝试，才能互相对照。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819900" y="1771650"/>
            <a:ext cx="4762500" cy="2476500"/>
          </a:xfrm>
          <a:prstGeom prst="roundRect">
            <a:avLst>
              <a:gd name="adj" fmla="val 384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029450" y="2200275"/>
            <a:ext cx="434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一次尝试要留下的东西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029450" y="251460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模型与提示配置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029450" y="28670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输入材料与工具调用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029450" y="321945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输出产物与文件位置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029450" y="357187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校验命令、退出码与结果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819900" y="4400550"/>
            <a:ext cx="47625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029450" y="4762500"/>
            <a:ext cx="434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不要只看最后一行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029450" y="50387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任何一步失败，先看这一步的实际输出，再决定改哪里。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notes={`每次想往任务里加一样新技术之前，我会先问三个问题。&#10;&#10;第一个，它解决哪一类缺口？对应的是输入、事实、执行、方法还是验证？如果一类都对不上，那它只是让流程看起来更完整。&#10;&#10;第二个，有可比较的收益吗？同一批任务下，正确率、耗时或者人工复核量有没有变化。只拿一次成功案例说明不了问题。&#10;&#10;第三个，代价算进去了吗？多一次检索、多一轮重试、多一个要维护的接口，这些都是成本。&#10;&#10;RAG、MCP、多模态和多角色脚本都属于扩展路线。这个小型排期任务不依赖全部扩展才能完成，也不应该为了展示工具数量，去重复查询、重复上传、重复生成文件。&#10;&#10;先让它跑通，再让真实瓶颈告诉你该加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2　一次完整的 API 路线&lt;/Text&gt;&#10;            &lt;Text style={{ fontSize: 34, fontWeight: 'bold', color: '#20344B' }}&gt;加技术之前先问三个问题&lt;/Text&gt;&#10;        &lt;/Box&gt;&#10;    &lt;/Box&gt;&#10;&#10;    &lt;Box style={{ height: 540, flexDirection: 'row', alignItems: 'center', gap: 24 }}&gt;&#10;&#10;        &lt;Box style={{ width: 440, flexDirection: 'column', gap: 14 }}&gt;&#10;            &lt;Text style={{ fontSize: 15, color: '#546779' }}&gt;扩展路线是可选的&lt;/Text&gt;&#10;            &lt;Text style={{ fontSize: 27, fontWeight: 'bold', color: '#20344B', lineHeight: 1.35 }}&gt;小任务不需要把技术堆齐&lt;/Text&gt;&#10;            &lt;Box style={{ width: 72, height: 4, background: '#276FBF' }} /&gt;&#10;            &lt;Text style={{ fontSize: 16, color: '#546779', lineHeight: 1.8 }}&gt;RAG、MCP、多模态与多角色脚本是扩展路线。这个排期任务不依赖全部扩展才能完成。&lt;/Text&gt;&#10;        &lt;/Box&gt;&#10;&#10;        &lt;Box style={{ width: 688, flexDirection: 'column', gap: 14 }}&gt;&#10;&#10;            &lt;Box style={{ height: 76, background: '#F4F7FA', borderRadius: 8, padding: '12px 18px', flexDirection: 'row', alignItems: 'center', gap: 16 }}&gt;&#10;                &lt;Box style={{ width: 4, height: 50, background: '#276FBF' }} /&gt;&#10;                &lt;Box style={{ flex: 1, flexDirection: 'column', gap: 4 }}&gt;&#10;                    &lt;Text style={{ fontSize: 17, fontWeight: 'bold', color: '#20344B' }}&gt;它解决哪一类缺口&lt;/Text&gt;&#10;                    &lt;Text style={{ fontSize: 13, color: '#546779' }}&gt;对应输入、事实、执行、方法还是验证&lt;/Text&gt;&#10;                &lt;/Box&gt;&#10;            &lt;/Box&gt;&#10;&#10;            &lt;Box style={{ height: 76, background: '#F4F7FA', borderRadius: 8, padding: '12px 18px', flexDirection: 'row', alignItems: 'center', gap: 16 }}&gt;&#10;                &lt;Box style={{ width: 4, height: 50, background: '#276FBF' }} /&gt;&#10;                &lt;Box style={{ flex: 1, flexDirection: 'column', gap: 4 }}&gt;&#10;                    &lt;Text style={{ fontSize: 17, fontWeight: 'bold', color: '#20344B' }}&gt;有可比较的收益吗&lt;/Text&gt;&#10;                    &lt;Text style={{ fontSize: 13, color: '#546779' }}&gt;同一任务下的正确率、耗时或人工复核有没有变化&lt;/Text&gt;&#10;                &lt;/Box&gt;&#10;            &lt;/Box&gt;&#10;&#10;            &lt;Box style={{ height: 76, background: '#F4F7FA', borderRadius: 8, padding: '12px 18px', flexDirection: 'row', alignItems: 'center', gap: 16 }}&gt;&#10;                &lt;Box style={{ width: 4, height: 50, background: '#276FBF' }} /&gt;&#10;                &lt;Box style={{ flex: 1, flexDirection: 'column', gap: 4 }}&gt;&#10;                    &lt;Text style={{ fontSize: 17, fontWeight: 'bold', color: '#20344B' }}&gt;代价算进去了吗&lt;/Text&gt;&#10;                    &lt;Text style={{ fontSize: 13, color: '#546779' }}&gt;重试、检索、工具等待与维护都算在总成本里&lt;/Text&gt;&#10;                &lt;/Box&gt;&#10;            &lt;/Box&gt;&#10;&#10;            &lt;Box style={{ height: 96, background: '#FFF4E6', borderRadius: 10, padding: '16px 20px', flexDirection: 'row', alignItems: 'center', gap: 14 }}&gt;&#10;                &lt;Box style={{ width: 4, height: 52, background: '#CB6B28' }} /&gt;&#10;                &lt;Box style={{ flex: 1, flexDirection: 'column', gap: 4 }}&gt;&#10;                    &lt;Text style={{ fontSize: 16, fontWeight: 'bold', color: '#CB6B28' }}&gt;不为展示工具数量加东西&lt;/Text&gt;&#10;                    &lt;Text style={{ fontSize: 14, color: '#546779', lineHeight: 1.6 }}&gt;不重复查询、上传或生成文件，每一步都应该有它要回答的问题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加技术之前先问三个问题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扩展路线是可选的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4191000" cy="4191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20344B"/>
                </a:solidFill>
                <a:latin typeface="Microsoft YaHei"/>
                <a:ea typeface="Microsoft YaHei"/>
              </a:rPr>
              <a:t>小任务不需要把技术堆齐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3724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4191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RAG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、多模态与多角色脚本是扩展路线。这个排期任务不依赖全部扩展才能完成。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029200" y="1971675"/>
            <a:ext cx="65532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200650" y="209550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91150" y="214312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它解决哪一类缺口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391150" y="23812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对应输入、事实、执行、方法还是验证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029200" y="2828925"/>
            <a:ext cx="65532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5200650" y="295275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391150" y="300037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有可比较的收益吗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391150" y="323850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同一任务下的正确率、耗时或人工复核有没有变化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029200" y="3686175"/>
            <a:ext cx="65532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5200650" y="381000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91150" y="385762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代价算进去了吗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91150" y="40957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重试、检索、工具等待与维护都算在总成本里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029200" y="4543425"/>
            <a:ext cx="65532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219700" y="47529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391150" y="4762500"/>
            <a:ext cx="600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不为展示工具数量加东西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391150" y="4991100"/>
            <a:ext cx="6000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不重复查询、上传或生成文件，每一步都应该有它要回答的问题。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notes={`API 那条路线是命令行式的，什么都看得见。WorkBuddy 那条路线不一样，它把任务放在一个工作空间里，用对话推进，所以约束要写在任务本身里。&#10;&#10;顺序是这样：先把本章的练习目录复制一份，选它作为任务工作空间，这样原始材料不会被改动。&#10;&#10;然后用 Ask 熟悉资料，先看清 data 目录里有什么。&#10;&#10;接着用 Plan 审阅一遍执行方案，看看助手打算怎么走。如果任务已经很明确，也可以直接使用默认 Agent，不必绕这一圈。&#10;&#10;两边用的判断标准是一样的：data 目录里的材料是权威来源，fixtures 里的答案是给程序自检用的，不能拿来当生成的依据。`} style={{ width: 1280, height: 720, background: '#FFFFFF', flexDirection: 'column', padding: '20px 64px' }}&gt;&#10;&#10;    &lt;Box style={{ height: 100 }} /&gt;&#10;&#10;    &lt;Box style={{ height: 540, flexDirection: 'column', justifyContent: 'center', gap: 28 }}&gt;&#10;&#10;        &lt;Box style={{ flexDirection: 'column', alignItems: 'center', gap: 12 }}&gt;&#10;            &lt;Text style={{ fontSize: 15, color: '#546779' }}&gt;2.14.3　一次完整的 WorkBuddy 路线&lt;/Text&gt;&#10;            &lt;Text style={{ fontSize: 56, fontWeight: 'bold', color: '#20344B', lineHeight: 1.15, textAlign: 'center' }}&gt;把任务写成合同&lt;/Text&gt;&#10;            &lt;Box style={{ width: 72, height: 4, background: '#276FBF' }} /&gt;&#10;        &lt;/Box&gt;&#10;&#10;        &lt;Box style={{ flexDirection: 'row', justifyContent: 'center', alignItems: 'center' }}&gt;&#10;&#10;            &lt;Box style={{ width: 354, height: 110, background: '#EDF4FC', borderRadius: 10, justifyContent: 'center', alignItems: 'center' }}&gt;&#10;                &lt;Text style={{ fontSize: 22, fontWeight: 'bold', color: '#276FBF' }}&gt;先用 Ask 熟悉资料&lt;/Text&gt;&#10;            &lt;/Box&gt;&#10;            &lt;Box style={{ width: 45, height: 110, justifyContent: 'center', alignItems: 'center' }}&gt;&lt;Text style={{ fontSize: 26, color: '#276FBF' }}&gt;›&lt;/Text&gt;&lt;/Box&gt;&#10;&#10;            &lt;Box style={{ width: 354, height: 110, background: '#EDF4FC', borderRadius: 10, justifyContent: 'center', alignItems: 'center' }}&gt;&#10;                &lt;Text style={{ fontSize: 22, fontWeight: 'bold', color: '#276FBF' }}&gt;再用 Plan 审阅方案&lt;/Text&gt;&#10;            &lt;/Box&gt;&#10;            &lt;Box style={{ width: 45, height: 110, justifyContent: 'center', alignItems: 'center' }}&gt;&lt;Text style={{ fontSize: 26, color: '#26816B' }}&gt;›&lt;/Text&gt;&lt;/Box&gt;&#10;&#10;            &lt;Box style={{ width: 354, height: 110, background: '#ECF7F2', borderRadius: 10, justifyContent: 'center', alignItems: 'center' }}&gt;&#10;                &lt;Text style={{ fontSize: 22, fontWeight: 'bold', color: '#26816B' }}&gt;最后提交任务合同&lt;/Text&gt;&#10;            &lt;/Box&gt;&#10;&#10;        &lt;/Box&gt;&#10;&#10;        &lt;Text style={{ fontSize: 16, color: '#546779', textAlign: 'center' }}&gt;以 data/ 目录为准，不拿 fixtures/ 中的答案当生成依据。&lt;/Text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876800" y="223837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2.14.3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229100" y="2524125"/>
            <a:ext cx="37338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把任务写成合同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53100" y="3381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09600" y="368617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409700" y="40862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先用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Ask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熟悉资料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152900" y="4057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4410075" y="368617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172075" y="4086225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再用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Plan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审阅方案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953375" y="4057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8210550" y="368617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058275" y="40862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最后提交任务合同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109728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以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data/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目录为准，不拿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fixtures/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中的答案当生成依据。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notes={`在 WorkBuddy 里，约束不能靠临时提醒，要写进任务本身。&#10;&#10;开头交代任务和材料：哪一天、哪个场地，data 下的哪几个文件是材料，哪个是预约事实；接了教学 MCP 就让它去查工具。&#10;&#10;最关键的一句是：读取以 data 目录为准，不使用 fixtures 里的答案作为生成依据。fixtures 是给程序自检的，不是给生成用的。&#10;&#10;接着约定产物和校验：先把约束与缺失项整理到 constraints.json，再提出 schedule.json，用校验器独立检查并保存报告；失败按真实错误改，最多三轮。&#10;&#10;constraints.json 是本次练习的自定义产物，不与排期 Schema 混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3　一次完整的 WorkBuddy 路线&lt;/Text&gt;&#10;            &lt;Text style={{ fontSize: 34, fontWeight: 'bold', color: '#20344B' }}&gt;一份可以照抄的任务合同&lt;/Text&gt;&#10;        &lt;/Box&gt;&#10;    &lt;/Box&gt;&#10;&#10;    &lt;Box style={{ height: 540, flexDirection: 'column', justifyContent: 'center', gap: 16 }}&gt;&#10;&#10;        &lt;Text style={{ fontSize: 17, color: '#546779' }}&gt;向助手提交的合同，把材料来源、产物路径、校验方式与修正上限一次说清。&lt;/Text&gt;&#10;&#10;        &lt;Box style={{ height: 266, background: '#F4F7FA', borderRadius: 10, padding: '18px 24px', flexDirection: 'column', gap: 6, justifyContent: 'center' }}&gt;&#10;            &lt;Text style={{ fontSize: 13, color: '#20344B', lineHeight: 1.5 }}&gt;请完成青禾社区学习中心 2026-10-17 的开放日筹备。&lt;/Text&gt;&#10;            &lt;Text style={{ fontSize: 13, color: '#20344B', lineHeight: 1.5 }}&gt;工作空间中的 data/brief.md、rooms.csv、rules.md、requests.csv 是任务材料，&lt;/Text&gt;&#10;            &lt;Text style={{ fontSize: 13, color: '#20344B', lineHeight: 1.5 }}&gt;data/availability.json 是本次教学预约事实；如果连接了教学 MCP，请查询对应工具。&lt;/Text&gt;&#10;            &lt;Text style={{ fontSize: 13, color: '#20344B', lineHeight: 1.5 }}&gt;读取文件时以 data/ 目录为准，不使用 fixtures/ 中的答案作为生成依据。&lt;/Text&gt;&#10;            &lt;Text style={{ fontSize: 13, color: '#20344B', lineHeight: 1.5 }}&gt;先整理约束和缺失项到 output/constraints.json，再提出 output/schedule.json。&lt;/Text&gt;&#10;            &lt;Text style={{ fontSize: 13, color: '#20344B', lineHeight: 1.5 }}&gt;用 validate_schedule.py 独立检查，保存 output/validation-report.json；&lt;/Text&gt;&#10;            &lt;Text style={{ fontSize: 13, color: '#20344B', lineHeight: 1.5 }}&gt;失败时按真实错误修改后重验，最多修正三轮，仍失败则说明未解决项。&lt;/Text&gt;&#10;            &lt;Text style={{ fontSize: 13, color: '#20344B', lineHeight: 1.5 }}&gt;最后生成 output/plan.md，引用材料与校验结果，只说明有证据支持的完成事项。&lt;/Text&gt;&#10;            &lt;Text style={{ fontSize: 13, color: '#20344B', lineHeight: 1.5 }}&gt;本任务只交付筹备文件。请保留候选、错误与修正记录，便于我复核。&lt;/Text&gt;&#10;        &lt;/Box&gt;&#10;&#10;        &lt;Box style={{ flexDirection: 'row', gap: 20 }}&gt;&#10;&#10;            &lt;Box style={{ width: 566, height: 130, background: '#EDF4FC', borderRadius: 10, padding: '16px 20px', flexDirection: 'column', gap: 6, justifyContent: 'center' }}&gt;&#10;                &lt;Text style={{ fontSize: 17, fontWeight: 'bold', color: '#276FBF' }}&gt;constraints.json 是这次练习的产物&lt;/Text&gt;&#10;                &lt;Text style={{ fontSize: 14, color: '#546779', lineHeight: 1.6 }}&gt;用来展示约束整理，按&quot;约束、来源、待确认项&quot;组织，不要与排期 Schema 混淆。&lt;/Text&gt;&#10;            &lt;/Box&gt;&#10;&#10;            &lt;Box style={{ width: 566, height: 130, background: '#F4F7FA', borderRadius: 10, padding: '16px 20px', flexDirection: 'column', gap: 6, justifyContent: 'center' }}&gt;&#10;                &lt;Text style={{ fontSize: 17, fontWeight: 'bold', color: '#20344B' }}&gt;API 主线没有这一步&lt;/Text&gt;&#10;                &lt;Text style={{ fontSize: 14, color: '#546779', lineHeight: 1.6 }}&gt;API 主线直接读取同一组材料，没有把约束抽取当成必须由模型执行的前置步骤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一份可以照抄的任务合同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15811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向助手提交的合同，把材料来源、产物路径、校验方式与修正上限一次说清。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09600" y="1933575"/>
            <a:ext cx="10972800" cy="2533650"/>
          </a:xfrm>
          <a:prstGeom prst="roundRect">
            <a:avLst>
              <a:gd name="adj" fmla="val 37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请完成青禾社区学习中心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2026-10-17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的开放日筹备。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工作空间中的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data/brief.md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rooms.csv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rules.md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requests.csv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是任务材料，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25146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data/availability.json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是本次教学预约事实；如果连接了教学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，请查询对应工具。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28003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读取文件时以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data/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目录为准，不使用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fixtures/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中的答案作为生成依据。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30861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先整理约束和缺失项到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output/constraints.json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，再提出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output/schedule.json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38200" y="33718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validate_schedule.py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独立检查，保存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output/validation-report.json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；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失败时按真实错误修改后重验，最多修正三轮，仍失败则说明未解决项。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8200" y="39433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最后生成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output/plan.md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，引用材料与校验结果，只说明有证据支持的完成事项。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本任务只交付筹备文件。请保留候选、错误与修正记录，便于我复核。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4619625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498157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constraints.json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是这次练习的产物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0100" y="523875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用来展示约束整理，按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约束、来源、待确认项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组织，不要与排期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混淆。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191250" y="4619625"/>
            <a:ext cx="539115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381750" y="498157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主线没有这一步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381750" y="523875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主线直接读取同一组材料，没有把约束抽取当成必须由模型执行的前置步骤。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notes={`对话里说得再好听，最后都要回到文件上确认。WorkBuddy 的界面右侧有几个面板，我用它们来核对。&#10;&#10;第一个是工作空间文件。打开 data 和 output 目录，看实际读的是什么、写出来的在哪里。这是最权威的一层。&#10;&#10;第二个是变更。看这一轮到底改了哪些文件，候选和最终排期是不是同一份，失败和修正的记录在不在。&#10;&#10;第三个是产物。交付文件的实际位置在这里，它应该和对话里给出的下载链接互相对应。&#10;&#10;如果用了浏览器预览，还要回到文件本身确认保存位置。因为预览看到的是渲染结果，不代表文件真的落到了那个路径上。&#10;&#10;一句话，对话里的说法和文件里的内容要能互相指认。对不上就以文件为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3　一次完整的 WorkBuddy 路线&lt;/Text&gt;&#10;            &lt;Text style={{ fontSize: 34, fontWeight: 'bold', color: '#20344B' }}&gt;对话之外，回到文件确认&lt;/Text&gt;&#10;        &lt;/Box&gt;&#10;    &lt;/Box&gt;&#10;&#10;    &lt;Box style={{ height: 540, flexDirection: 'row', alignItems: 'center', gap: 24 }}&gt;&#10;&#10;        &lt;Box style={{ width: 480, flexDirection: 'column', gap: 14 }}&gt;&#10;&#10;            &lt;Box style={{ height: 220, background: '#EDF4FC', borderRadius: 10, padding: '18px 22px', flexDirection: 'column', gap: 10, justifyContent: 'center' }}&gt;&#10;                &lt;Text style={{ fontSize: 20, fontWeight: 'bold', color: '#276FBF' }}&gt;工作空间文件&lt;/Text&gt;&#10;                &lt;Box style={{ flexDirection: 'row', gap: 10, alignItems: 'center' }}&gt;&#10;                    &lt;Box style={{ width: 3, height: 22, background: '#276FBF' }} /&gt;&#10;                    &lt;Text style={{ flex: 1, fontSize: 14, color: '#546779' }}&gt;data/ 是任务材料的权威来源&lt;/Text&gt;&#10;                &lt;/Box&gt;&#10;                &lt;Box style={{ flexDirection: 'row', gap: 10, alignItems: 'center' }}&gt;&#10;                    &lt;Box style={{ width: 3, height: 22, background: '#276FBF' }} /&gt;&#10;                    &lt;Text style={{ flex: 1, fontSize: 14, color: '#546779' }}&gt;output/ 放本轮的产物与校验报告&lt;/Text&gt;&#10;                &lt;/Box&gt;&#10;                &lt;Box style={{ flexDirection: 'row', gap: 10, alignItems: 'center' }}&gt;&#10;                    &lt;Box style={{ width: 3, height: 22, background: '#276FBF' }} /&gt;&#10;                    &lt;Text style={{ flex: 1, fontSize: 14, color: '#546779' }}&gt;读取以 data/ 为准，不用 fixtures/&lt;/Text&gt;&#10;                &lt;/Box&gt;&#10;            &lt;/Box&gt;&#10;&#10;            &lt;Box style={{ height: 160, background: '#F4F7FA', borderRadius: 10, padding: '18px 22px', flexDirection: 'column', gap: 8, justifyContent: 'center' }}&gt;&#10;                &lt;Text style={{ fontSize: 18, fontWeight: 'bold', color: '#20344B' }}&gt;先建立工作空间&lt;/Text&gt;&#10;                &lt;Text style={{ fontSize: 14, color: '#546779', lineHeight: 1.7 }}&gt;复制本章练习目录，选副本作为任务工作空间，原始材料就不会被改动。&lt;/Text&gt;&#10;            &lt;/Box&gt;&#10;&#10;        &lt;/Box&gt;&#10;&#10;        &lt;Box style={{ width: 648, flexDirection: 'column', gap: 14 }}&gt;&#10;&#10;            &lt;Box style={{ height: 190, background: '#EDF4FC', borderRadius: 10, padding: '18px 22px', flexDirection: 'column', gap: 8, justifyContent: 'center' }}&gt;&#10;                &lt;Text style={{ fontSize: 20, fontWeight: 'bold', color: '#276FBF' }}&gt;变更&lt;/Text&gt;&#10;                &lt;Text style={{ fontSize: 14, color: '#546779', lineHeight: 1.7 }}&gt;看这一轮改了哪些文件，候选与最终排期是不是同一份，失败与修正记录有没有留下。&lt;/Text&gt;&#10;            &lt;/Box&gt;&#10;&#10;            &lt;Box style={{ height: 190, background: '#ECF7F2', borderRadius: 10, padding: '18px 22px', flexDirection: 'column', gap: 8, justifyContent: 'center' }}&gt;&#10;                &lt;Text style={{ fontSize: 20, fontWeight: 'bold', color: '#26816B' }}&gt;产物&lt;/Text&gt;&#10;                &lt;Text style={{ fontSize: 14, color: '#546779', lineHeight: 1.7 }}&gt;交付文件的实际位置在这里，它应与对话中的下载链接、工具卡片互相对应。用浏览器预览后，仍要回到文件确认保存位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对话之外，回到文件确认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1838325"/>
            <a:ext cx="4572000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19150" y="2314575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工作空间文件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19150" y="26384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42975" y="2667000"/>
            <a:ext cx="4029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data/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是任务材料的权威来源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19150" y="29432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42975" y="2971800"/>
            <a:ext cx="4029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output/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放本轮的产物与校验报告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19150" y="32480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42975" y="3276600"/>
            <a:ext cx="4029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data/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为准，不用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fixtures/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4067175"/>
            <a:ext cx="4572000" cy="15240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415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先建立工作空间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469582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复制本章练习目录，选副本作为任务工作空间，原始材料就不会被改动。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410200" y="1838325"/>
            <a:ext cx="617220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619750" y="2457450"/>
            <a:ext cx="575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变更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619750" y="2762250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看这一轮改了哪些文件，候选与最终排期是不是同一份，失败与修正记录有没有留下。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410200" y="3781425"/>
            <a:ext cx="6172200" cy="1809750"/>
          </a:xfrm>
          <a:prstGeom prst="roundRect">
            <a:avLst>
              <a:gd name="adj" fmla="val 52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619750" y="4257675"/>
            <a:ext cx="575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产物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619750" y="4562475"/>
            <a:ext cx="5753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交付文件的实际位置在这里，它应与对话中的下载链接、工具卡片互相对应。用浏览器预览后，仍要回到文件确认保存位置。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真实环境里总会遇到障碍，处理方式要事先想好。&#10;&#10;第一种，没有配置 MCP。那就直接读取本地预约文件、运行校验器，并在记录里写明这是一次文件路线。&#10;&#10;第二种，Python 或某个技能依赖不可用。先记录缺的是哪个依赖，安装好之后重试，当时的环境状态也要写进记录。&#10;&#10;第三种，按真实错误改了还是过不了。合同里写的是最多三轮，三轮之后仍失败，就说明未解决项，而不是回头改材料迁就结果。&#10;&#10;有一条红线：不能在没有执行命令的情况下写校验通过。结论必须来自真的跑过一次的命令和它的退出码。记录里还要写清哪一步用的是模拟响应，哪一步真的调用了服务，哪些依赖当时不可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3　一次完整的 WorkBuddy 路线&lt;/Text&gt;&#10;            &lt;Text style={{ fontSize: 34, fontWeight: 'bold', color: '#20344B' }}&gt;失败、缺依赖与不能写的话&lt;/Text&gt;&#10;        &lt;/Box&gt;&#10;    &lt;/Box&gt;&#10;&#10;    &lt;Box style={{ height: 540, flexDirection: 'row', alignItems: 'center', gap: 32 }}&gt;&#10;&#10;        &lt;Box style={{ width: 512, flexDirection: 'column', gap: 14 }}&gt;&#10;&#10;            &lt;Box style={{ height: 108, background: '#F4F7FA', borderRadius: 8, padding: '14px 18px', flexDirection: 'column', gap: 5, justifyContent: 'center' }}&gt;&#10;                &lt;Text style={{ fontSize: 16, fontWeight: 'bold', color: '#20344B' }}&gt;没有配置 MCP&lt;/Text&gt;&#10;                &lt;Text style={{ fontSize: 13, color: '#546779', lineHeight: 1.5 }}&gt;直接读取本地预约文件并运行校验器，记录这是文件路线&lt;/Text&gt;&#10;            &lt;/Box&gt;&#10;&#10;            &lt;Box style={{ height: 108, background: '#F4F7FA', borderRadius: 8, padding: '14px 18px', flexDirection: 'column', gap: 5, justifyContent: 'center' }}&gt;&#10;                &lt;Text style={{ fontSize: 16, fontWeight: 'bold', color: '#20344B' }}&gt;依赖不可用&lt;/Text&gt;&#10;                &lt;Text style={{ fontSize: 13, color: '#546779', lineHeight: 1.5 }}&gt;记录缺少的依赖，完成安装后重试，并把当时状态写进记录&lt;/Text&gt;&#10;            &lt;/Box&gt;&#10;&#10;            &lt;Box style={{ height: 108, background: '#F4F7FA', borderRadius: 8, padding: '14px 18px', flexDirection: 'column', gap: 5, justifyContent: 'center' }}&gt;&#10;                &lt;Text style={{ fontSize: 16, fontWeight: 'bold', color: '#20344B' }}&gt;三轮之后仍未通过&lt;/Text&gt;&#10;                &lt;Text style={{ fontSize: 13, color: '#546779', lineHeight: 1.5 }}&gt;说明未解决项，不修改材料去迁就结果&lt;/Text&gt;&#10;            &lt;/Box&gt;&#10;&#10;        &lt;/Box&gt;&#10;&#10;        &lt;Box style={{ width: 608, flexDirection: 'column', gap: 16 }}&gt;&#10;&#10;            &lt;Box style={{ height: 220, background: '#FFF4E6', borderRadius: 10, padding: '20px 24px', flexDirection: 'column', gap: 10, justifyContent: 'center' }}&gt;&#10;                &lt;Text style={{ fontSize: 21, fontWeight: 'bold', color: '#CB6B28', lineHeight: 1.4 }}&gt;不能在没有执行命令的情况下写&quot;校验通过&quot;&lt;/Text&gt;&#10;                &lt;Text style={{ fontSize: 15, color: '#546779', lineHeight: 1.8 }}&gt;校验结论必须来自真的跑过一次的命令和它的退出码，不能由模型口头保证。&lt;/Text&gt;&#10;            &lt;/Box&gt;&#10;&#10;            &lt;Box style={{ height: 116, background: '#F4F7FA', borderRadius: 10, padding: '16px 24px', flexDirection: 'column', gap: 6, justifyContent: 'center' }}&gt;&#10;                &lt;Text style={{ fontSize: 17, fontWeight: 'bold', color: '#20344B' }}&gt;记录里要写明&lt;/Text&gt;&#10;                &lt;Text style={{ fontSize: 14, color: '#546779', lineHeight: 1.6 }}&gt;哪一步用了模拟响应，哪一步真的调用了服务，哪些依赖当时不可用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一次完整的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失败、缺依赖与不能写的话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203835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81050" y="23241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没有配置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1050" y="25622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直接读取本地预约文件并运行校验器，记录这是文件路线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32004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依赖不可用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记录缺少的依赖，完成安装后重试，并把当时状态写进记录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436245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1050" y="46482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三轮之后仍未通过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1050" y="48863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说明未解决项，不修改材料去迁就结果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791200" y="2038350"/>
            <a:ext cx="5791200" cy="209550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19800" y="2714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不能在没有执行命令的情况下写</a:t>
            </a:r>
            <a:r>
              <a:rPr lang="en-US" sz="15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校验通过</a:t>
            </a:r>
            <a:r>
              <a:rPr lang="en-US" sz="15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19800" y="3152775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校验结论必须来自真的跑过一次的命令和它的退出码，不能由模型口头保证。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91200" y="4286250"/>
            <a:ext cx="57912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19800" y="4581525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记录里要写明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19800" y="483870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哪一步用了模拟响应，哪一步真的调用了服务，哪些依赖当时不可用。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notes={`两条路线都跑完之后，&quot;完成&quot;这件事还需要一个明确的边界。&#10;&#10;本章交付的东西分三组：需求与来源，也就是事实、规则和缺失项；排期与校验，也就是排期文件和那份独立报告；说明与记录，也就是方案说明、请求和工具记录。&#10;&#10;注意这三组都是文件，不是结论。它们能证明有人把材料读进去了、把规则编码了、把校验跑过了，但它们不能证明别的。&#10;&#10;还有一步要提前讲清：这些文件进到仿真系统之前，必须重新配置和重新执行。地图、坐标、角色、Brain、Skill、模型用途，以及实验装配，都要通过系统规定的流程建立。&#10;&#10;这一节剩下的内容就是围绕这条边界展开的：先给交付清单，再说清什么时候才去研究微调、蒸馏和部署，最后是章末练习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column', alignItems: 'center', gap: 10 }}&gt;&#10;            &lt;Text style={{ fontSize: 15, color: '#546779' }}&gt;2.14.4　用交付清单明确完成边界&lt;/Text&gt;&#10;            &lt;Text style={{ fontSize: 56, fontWeight: 'bold', color: '#20344B', lineHeight: 1.15, textAlign: 'center' }}&gt;先落到文件，再谈完成&lt;/Text&gt;&#10;            &lt;Box style={{ width: 72, height: 4, background: '#276FBF' }} /&gt;&#10;        &lt;/Box&gt;&#10;&#10;        &lt;Box style={{ flexDirection: 'row', justifyContent: 'center', alignItems: 'center', gap: 24 }}&gt;&#10;            &lt;Box style={{ width: 368, height: 120, background: '#ECF7F2', borderRadius: 10, justifyContent: 'center', alignItems: 'center' }}&gt;&#10;                &lt;Text style={{ fontSize: 22, fontWeight: 'bold', color: '#26816B' }}&gt;需求与来源&lt;/Text&gt;&#10;            &lt;/Box&gt;&#10;            &lt;Box style={{ width: 368, height: 120, background: '#ECF7F2', borderRadius: 10, justifyContent: 'center', alignItems: 'center' }}&gt;&#10;                &lt;Text style={{ fontSize: 22, fontWeight: 'bold', color: '#26816B' }}&gt;排期与校验&lt;/Text&gt;&#10;            &lt;/Box&gt;&#10;            &lt;Box style={{ width: 368, height: 120, background: '#ECF7F2', borderRadius: 10, justifyContent: 'center', alignItems: 'center' }}&gt;&#10;                &lt;Text style={{ fontSize: 22, fontWeight: 'bold', color: '#26816B' }}&gt;说明与记录&lt;/Text&gt;&#10;            &lt;/Box&gt;&#10;        &lt;/Box&gt;&#10;&#10;        &lt;Box style={{ height: 24, justifyContent: 'center', alignItems: 'center' }}&gt;&lt;Text style={{ fontSize: 20, color: '#276FBF' }}&gt;↓&lt;/Text&gt;&lt;/Box&gt;&#10;&#10;        &lt;Box style={{ height: 84, background: '#EDF4FC', borderRadius: 10, padding: '0 24px', flexDirection: 'row', alignItems: 'center', gap: 16 }}&gt;&#10;            &lt;Box style={{ width: 4, height: 52, background: '#276FBF' }} /&gt;&#10;            &lt;Box style={{ flex: 1, flexDirection: 'column', gap: 4 }}&gt;&#10;                &lt;Text style={{ fontSize: 18, fontWeight: 'bold', color: '#276FBF' }}&gt;第三章重新配置与执行&lt;/Text&gt;&#10;                &lt;Text style={{ fontSize: 14, color: '#546779' }}&gt;地图、角色、Skill、模型用途与实验装配，都要通过系统规定的流程建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038725" y="1771650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2.14.4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用交付清单明确完成边界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429000" y="2038350"/>
            <a:ext cx="53340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先落到文件，再谈完成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753100" y="2876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3105150"/>
            <a:ext cx="35052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838325" y="35528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需求与来源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343400" y="3105150"/>
            <a:ext cx="35052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72125" y="35528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排期与校验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8077200" y="3105150"/>
            <a:ext cx="35052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305925" y="35528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说明与记录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48375" y="44386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48577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838200" y="50101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028700" y="5057775"/>
            <a:ext cx="1032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第三章重新配置与执行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28700" y="5305425"/>
            <a:ext cx="1032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地图、角色、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、模型用途与实验装配，都要通过系统规定的流程建立。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notes={`五类交付物归成三组，每组承担一段证据。&#10;&#10;第一组是需求与来源，也就是约束和来源。检查方式是回到原始材料逐条对照，把缺失项列出来，它证明的是我读懂了任务。&#10;&#10;第二组是排期与校验：候选及最终排期，加上那份独立报告。检查要看独立命令、退出码和具体错误，它证明的是我算对了规则。&#10;&#10;第三组是说明与记录：方案说明和运行记录。说明要和最终排期逐项一致，记录要含模型、输入、响应、工具、版本和日期，它证明的是我能说清这一次是怎么发生的。&#10;&#10;我反复强调先落到文件，是因为文件可以被打开、被复跑、被核对。这些文件都是作者材料，进仿真前地图、角色和实验装配仍要按第三章的流程重新建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4　用交付清单明确完成边界&lt;/Text&gt;&#10;            &lt;Text style={{ fontSize: 34, fontWeight: 'bold', color: '#20344B' }}&gt;三类交付物，各自承担一段证据&lt;/Text&gt;&#10;        &lt;/Box&gt;&#10;    &lt;/Box&gt;&#10;&#10;    &lt;Box style={{ height: 540, flexDirection: 'row', alignItems: 'center', gap: 24 }}&gt;&#10;&#10;        &lt;Box style={{ width: 700, flexDirection: 'column', gap: 14 }}&gt;&#10;&#10;            &lt;Box style={{ height: 140, background: '#ECF7F2', borderRadius: 10, padding: '16px 20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1&lt;/Text&gt;&#10;                &lt;/Box&gt;&#10;                &lt;Box style={{ flex: 1, flexDirection: 'column', gap: 6 }}&gt;&#10;                    &lt;Text style={{ fontSize: 19, fontWeight: 'bold', color: '#26816B' }}&gt;需求与来源&lt;/Text&gt;&#10;                    &lt;Text style={{ fontSize: 14, color: '#546779', lineHeight: 1.5 }}&gt;事实、规则、缺失项；代表交付项是约束与来源，检查时对照原始材料。&lt;/Text&gt;&#10;                &lt;/Box&gt;&#10;            &lt;/Box&gt;&#10;&#10;            &lt;Box style={{ height: 140, background: '#ECF7F2', borderRadius: 10, padding: '16px 20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2&lt;/Text&gt;&#10;                &lt;/Box&gt;&#10;                &lt;Box style={{ flex: 1, flexDirection: 'column', gap: 6 }}&gt;&#10;                    &lt;Text style={{ fontSize: 19, fontWeight: 'bold', color: '#26816B' }}&gt;排期与校验&lt;/Text&gt;&#10;                    &lt;Text style={{ fontSize: 14, color: '#546779', lineHeight: 1.5 }}&gt;schedule 与独立报告；代表交付项是候选及最终排期、校验报告。&lt;/Text&gt;&#10;                &lt;/Box&gt;&#10;            &lt;/Box&gt;&#10;&#10;            &lt;Box style={{ height: 140, background: '#ECF7F2', borderRadius: 10, padding: '16px 20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3&lt;/Text&gt;&#10;                &lt;/Box&gt;&#10;                &lt;Box style={{ flex: 1, flexDirection: 'column', gap: 6 }}&gt;&#10;                    &lt;Text style={{ fontSize: 19, fontWeight: 'bold', color: '#26816B' }}&gt;说明与记录&lt;/Text&gt;&#10;                    &lt;Text style={{ fontSize: 14, color: '#546779', lineHeight: 1.5 }}&gt;plan、请求与工具记录；代表交付项是方案说明、运行记录。&lt;/Text&gt;&#10;                &lt;/Box&gt;&#10;            &lt;/Box&gt;&#10;&#10;        &lt;/Box&gt;&#10;&#10;        &lt;Box style={{ width: 428, flexDirection: 'column', gap: 16 }}&gt;&#10;&#10;            &lt;Box style={{ height: 200, background: '#EDF4FC', borderRadius: 10, padding: '18px 20px', flexDirection: 'column', gap: 8, justifyContent: 'center' }}&gt;&#10;                &lt;Text style={{ fontSize: 18, fontWeight: 'bold', color: '#276FBF' }}&gt;先落到文件&lt;/Text&gt;&#10;                &lt;Text style={{ fontSize: 14, color: '#546779', lineHeight: 1.7 }}&gt;每一类交付物都对应一个可以打开的文件，或一条可以复跑的命令。检查时先看文件，再看它支持什么结论。&lt;/Text&gt;&#10;            &lt;/Box&gt;&#10;&#10;            &lt;Box style={{ height: 200, background: '#FFF4E6', borderRadius: 10, padding: '18px 20px', flexDirection: 'column', gap: 8, justifyContent: 'center' }}&gt;&#10;                &lt;Text style={{ fontSize: 18, fontWeight: 'bold', color: '#CB6B28' }}&gt;进入仿真前仍要重新配置&lt;/Text&gt;&#10;                &lt;Text style={{ fontSize: 14, color: '#546779', lineHeight: 1.7 }}&gt;这些文件是作者材料，不是仿真已经运行的证据。地图、角色与实验装配仍须按第三章的流程建立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用交付清单明确完成边界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三类交付物，各自承担一段证据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158115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800100" y="2038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2500" y="21336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371600" y="19907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需求与来源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371600" y="22669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事实、规则、缺失项；代表交付项是约束与来源，检查时对照原始材料。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304800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8001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5250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371600" y="345757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排期与校验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371600" y="373380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schedule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与独立报告；代表交付项是候选及最终排期、校验报告。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451485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00100" y="49720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52500" y="50673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71600" y="49244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说明与记录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371600" y="52006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plan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、请求与工具记录；代表交付项是方案说明、运行记录。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505700" y="1733550"/>
            <a:ext cx="40767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696200" y="226695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先落到文件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696200" y="2552700"/>
            <a:ext cx="3695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每一类交付物都对应一个可以打开的文件，或一条可以复跑的命令。检查时先看文件，再看它支持什么结论。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505700" y="3790950"/>
            <a:ext cx="40767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696200" y="432435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进入仿真前仍要重新配置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696200" y="4610100"/>
            <a:ext cx="3695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这些文件是作者材料，不是仿真已经运行的证据。地图、角色与实验装配仍须按第三章的流程建立。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notes={`每一类交付物都有它推不出来的结论，这句话我想单独强调一遍。&#10;&#10;约束与来源，可以对照原始材料、列出缺失项，但它不能证明已经执行过查询或操作。写了已查询不等于查过。&#10;&#10;候选及最终排期，可以解析 JSON、核对活动和时间，但合法 JSON 不等于可行排期，字段都对，活动照样可能撞车。&#10;&#10;校验报告有独立命令、退出码和具体错误，这是最硬的一份。可它只覆盖已经编码进校验器的规则。&#10;&#10;方案说明能和最终排期逐项一致，但不能证明真实通知、预订或发布已经完成。运行记录写着模型、输入、响应、工具与日期，可本地模拟测试不能证明远端服务可用。&#10;&#10;所以每份文件都要说清它支持哪一句结论，以及到此为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4　用交付清单明确完成边界&lt;/Text&gt;&#10;            &lt;Text style={{ fontSize: 34, fontWeight: 'bold', color: '#20344B' }}&gt;每一类交付物都有它推不出的结论&lt;/Text&gt;&#10;        &lt;/Box&gt;&#10;    &lt;/Box&gt;&#10;&#10;    &lt;Box style={{ height: 540, flexDirection: 'column', justifyContent: 'center', gap: 10 }}&gt;&#10;&#10;        &lt;Box style={{ height: 88, background: '#F4F7FA', borderRadius: 8, padding: '0 20px', flexDirection: 'row', alignItems: 'center', gap: 16 }}&gt;&#10;            &lt;Box style={{ width: 4, height: 48, background: '#CB6B28' }} /&gt;&#10;            &lt;Box style={{ width: 240, flexDirection: 'column', gap: 3 }}&gt;&#10;                &lt;Text style={{ fontSize: 16, fontWeight: 'bold', color: '#20344B' }}&gt;约束与来源&lt;/Text&gt;&#10;                &lt;Text style={{ fontSize: 12, color: '#546779' }}&gt;对照原始材料，列出缺失项&lt;/Text&gt;&#10;            &lt;/Box&gt;&#10;            &lt;Box style={{ width: 44, justifyContent: 'center', alignItems: 'center' }}&gt;&lt;Text style={{ fontSize: 18, color: '#CB6B28' }}&gt;›&lt;/Text&gt;&lt;/Box&gt;&#10;            &lt;Text style={{ flex: 1, fontSize: 14, color: '#546779', lineHeight: 1.5 }}&gt;不能证明已执行查询或操作&lt;/Text&gt;&#10;        &lt;/Box&gt;&#10;&#10;        &lt;Box style={{ height: 88, background: '#F4F7FA', borderRadius: 8, padding: '0 20px', flexDirection: 'row', alignItems: 'center', gap: 16 }}&gt;&#10;            &lt;Box style={{ width: 4, height: 48, background: '#CB6B28' }} /&gt;&#10;            &lt;Box style={{ width: 240, flexDirection: 'column', gap: 3 }}&gt;&#10;                &lt;Text style={{ fontSize: 16, fontWeight: 'bold', color: '#20344B' }}&gt;候选及最终排期&lt;/Text&gt;&#10;                &lt;Text style={{ fontSize: 12, color: '#546779' }}&gt;解析 JSON、核对活动和时间&lt;/Text&gt;&#10;            &lt;/Box&gt;&#10;            &lt;Box style={{ width: 44, justifyContent: 'center', alignItems: 'center' }}&gt;&lt;Text style={{ fontSize: 18, color: '#CB6B28' }}&gt;›&lt;/Text&gt;&lt;/Box&gt;&#10;            &lt;Text style={{ flex: 1, fontSize: 14, color: '#546779', lineHeight: 1.5 }}&gt;合法 JSON 不等于可行排期&lt;/Text&gt;&#10;        &lt;/Box&gt;&#10;&#10;        &lt;Box style={{ height: 88, background: '#F4F7FA', borderRadius: 8, padding: '0 20px', flexDirection: 'row', alignItems: 'center', gap: 16 }}&gt;&#10;            &lt;Box style={{ width: 4, height: 48, background: '#CB6B28' }} /&gt;&#10;            &lt;Box style={{ width: 240, flexDirection: 'column', gap: 3 }}&gt;&#10;                &lt;Text style={{ fontSize: 16, fontWeight: 'bold', color: '#20344B' }}&gt;校验报告&lt;/Text&gt;&#10;                &lt;Text style={{ fontSize: 12, color: '#546779' }}&gt;独立命令、退出码、具体错误&lt;/Text&gt;&#10;            &lt;/Box&gt;&#10;            &lt;Box style={{ width: 44, justifyContent: 'center', alignItems: 'center' }}&gt;&lt;Text style={{ fontSize: 18, color: '#CB6B28' }}&gt;›&lt;/Text&gt;&lt;/Box&gt;&#10;            &lt;Text style={{ flex: 1, fontSize: 14, color: '#546779', lineHeight: 1.5 }}&gt;不能证明未编码的规则也满足&lt;/Text&gt;&#10;        &lt;/Box&gt;&#10;&#10;        &lt;Box style={{ height: 88, background: '#F4F7FA', borderRadius: 8, padding: '0 20px', flexDirection: 'row', alignItems: 'center', gap: 16 }}&gt;&#10;            &lt;Box style={{ width: 4, height: 48, background: '#CB6B28' }} /&gt;&#10;            &lt;Box style={{ width: 240, flexDirection: 'column', gap: 3 }}&gt;&#10;                &lt;Text style={{ fontSize: 16, fontWeight: 'bold', color: '#20344B' }}&gt;方案说明&lt;/Text&gt;&#10;                &lt;Text style={{ fontSize: 12, color: '#546779' }}&gt;与最终排期逐项一致&lt;/Text&gt;&#10;            &lt;/Box&gt;&#10;            &lt;Box style={{ width: 44, justifyContent: 'center', alignItems: 'center' }}&gt;&lt;Text style={{ fontSize: 18, color: '#CB6B28' }}&gt;›&lt;/Text&gt;&lt;/Box&gt;&#10;            &lt;Text style={{ flex: 1, fontSize: 14, color: '#546779', lineHeight: 1.5 }}&gt;不能证明真实通知、预订或发布完成&lt;/Text&gt;&#10;        &lt;/Box&gt;&#10;&#10;        &lt;Box style={{ height: 88, background: '#F4F7FA', borderRadius: 8, padding: '0 20px', flexDirection: 'row', alignItems: 'center', gap: 16 }}&gt;&#10;            &lt;Box style={{ width: 4, height: 48, background: '#CB6B28' }} /&gt;&#10;            &lt;Box style={{ width: 240, flexDirection: 'column', gap: 3 }}&gt;&#10;                &lt;Text style={{ fontSize: 16, fontWeight: 'bold', color: '#20344B' }}&gt;运行记录&lt;/Text&gt;&#10;                &lt;Text style={{ fontSize: 12, color: '#546779' }}&gt;模型、输入、响应、工具、版本与日期&lt;/Text&gt;&#10;            &lt;/Box&gt;&#10;            &lt;Box style={{ width: 44, justifyContent: 'center', alignItems: 'center' }}&gt;&lt;Text style={{ fontSize: 18, color: '#CB6B28' }}&gt;›&lt;/Text&gt;&lt;/Box&gt;&#10;            &lt;Text style={{ flex: 1, fontSize: 14, color: '#546779', lineHeight: 1.5 }}&gt;本地模拟测试不能证明远端服务可用&lt;/Text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用交付清单明确完成边界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每一类交付物都有它推不出的结论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14287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800100" y="16192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90600" y="16668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约束与来源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90600" y="18859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对照原始材料，列出缺失项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609975" y="17430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000500" y="1724025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不能证明已执行查询或操作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23622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800100" y="25527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90600" y="26003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候选及最终排期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90600" y="281940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解析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、核对活动和时间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609975" y="26765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000500" y="2657475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不等于可行排期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32956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800100" y="34861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90600" y="35337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校验报告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90600" y="37528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独立命令、退出码、具体错误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609975" y="36099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000500" y="3590925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不能证明未编码的规则也满足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42291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800100" y="44196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90600" y="44672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方案说明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90600" y="468630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与最终排期逐项一致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609975" y="454342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000500" y="4524375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不能证明真实通知、预订或发布完成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51625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0100" y="53530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90600" y="54006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运行记录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90600" y="5619750"/>
            <a:ext cx="228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模型、输入、响应、工具、版本与日期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609975" y="54768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000500" y="5457825"/>
            <a:ext cx="739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本地模拟测试不能证明远端服务可用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9" name="" descr="&lt;Slide notes={`走到下一章，边界要说清楚，否则很容易把文件当成已经发生过的事。&#10;&#10;先说可以带走的：活动主题、人物描述与需求，房间与规则材料，排期与校验方法。&#10;&#10;再说必须重新做的：地图、坐标、Agent、Brain、Skill、模型用途，以及实验怎么装配，都要按系统流程重新建立。&#10;&#10;最后说本章文件里没有的东西。没有 run_id，没有已提交的 StepResult，也没有回放事实。本章只校验已编码的规则，不证明真实预订发生过，也不证明仿真跑过。&#10;&#10;顺便提一句：题目允许不同房间同时举行活动，因为这次没配置共享主持人和设备约束。现实任务若有设备、主持人、清洁间隔或无障碍需求，须先补齐输入和规则，再扩展校验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4　用交付清单明确完成边界&lt;/Text&gt;&#10;            &lt;Text style={{ fontSize: 34, fontWeight: 'bold', color: '#20344B' }}&gt;进入第三章之前，边界要说清楚&lt;/Text&gt;&#10;        &lt;/Box&gt;&#10;    &lt;/Box&gt;&#10;&#10;    &lt;Box style={{ height: 540, flexDirection: 'column', justifyContent: 'center', gap: 16 }}&gt;&#10;&#10;        &lt;Text style={{ fontSize: 17, color: '#546779' }}&gt;本章交付的筹备文件是作者材料，不是仿真已经运行的证据。&lt;/Text&gt;&#10;&#10;        &lt;Box style={{ height: 120, background: '#ECF7F2', borderRadius: 10, padding: '18px 24px', flexDirection: 'row', alignItems: 'center', gap: 20 }}&gt;&#10;            &lt;Box style={{ width: 4, height: 80, background: '#26816B' }} /&gt;&#10;            &lt;Box style={{ flex: 1, flexDirection: 'column', gap: 6 }}&gt;&#10;                &lt;Text style={{ fontSize: 19, fontWeight: 'bold', color: '#26816B' }}&gt;可以在第三章复用的&lt;/Text&gt;&#10;                &lt;Text style={{ fontSize: 14, color: '#546779', lineHeight: 1.6 }}&gt;活动主题、人物描述与需求；房间与规则材料；排期与校验方法；两条路线的运行记录。&lt;/Text&gt;&#10;            &lt;/Box&gt;&#10;        &lt;/Box&gt;&#10;&#10;        &lt;Box style={{ height: 120, background: '#EDF4FC', borderRadius: 10, padding: '18px 24px', flexDirection: 'row', alignItems: 'center', gap: 20 }}&gt;&#10;            &lt;Box style={{ width: 4, height: 80, background: '#276FBF' }} /&gt;&#10;            &lt;Box style={{ flex: 1, flexDirection: 'column', gap: 6 }}&gt;&#10;                &lt;Text style={{ fontSize: 19, fontWeight: 'bold', color: '#276FBF' }}&gt;必须重新配置的&lt;/Text&gt;&#10;                &lt;Text style={{ fontSize: 14, color: '#546779', lineHeight: 1.6 }}&gt;地图、坐标、Agent、Brain、Skill、模型用途与实验装配，都要按系统规定的流程重新建立。&lt;/Text&gt;&#10;            &lt;/Box&gt;&#10;        &lt;/Box&gt;&#10;&#10;        &lt;Box style={{ height: 150, background: '#FFF4E6', borderRadius: 10, padding: '20px 24px', flexDirection: 'row', alignItems: 'center', gap: 20 }}&gt;&#10;            &lt;Box style={{ width: 4, height: 100, background: '#CB6B28' }} /&gt;&#10;            &lt;Box style={{ flex: 1, flexDirection: 'column', gap: 6 }}&gt;&#10;                &lt;Text style={{ fontSize: 19, fontWeight: 'bold', color: '#CB6B28' }}&gt;本章文件里没有的&lt;/Text&gt;&#10;                &lt;Text style={{ fontSize: 14, color: '#546779', lineHeight: 1.7 }}&gt;没有 run_id、没有已提交的 StepResult、也没有回放事实。本章校验只覆盖已编码规则，不证明真实预订或仿真已运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用交付清单明确完成边界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进入第三章之前，边界要说清楚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本章交付的筹备文件是作者材料，不是仿真已经运行的证据。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18859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838200" y="2076450"/>
            <a:ext cx="38100" cy="762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66800" y="2190750"/>
            <a:ext cx="1028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可以在第三章复用的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66800" y="2466975"/>
            <a:ext cx="1028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活动主题、人物描述与需求；房间与规则材料；排期与校验方法；两条路线的运行记录。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31813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838200" y="3371850"/>
            <a:ext cx="38100" cy="762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66800" y="3486150"/>
            <a:ext cx="1028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必须重新配置的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66800" y="3762375"/>
            <a:ext cx="1028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地图、坐标、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、模型用途与实验装配，都要按系统规定的流程重新建立。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4476750"/>
            <a:ext cx="109728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838200" y="4714875"/>
            <a:ext cx="38100" cy="952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066800" y="4914900"/>
            <a:ext cx="1028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本章文件里没有的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66800" y="5191125"/>
            <a:ext cx="10287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、没有已提交的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StepResult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、也没有回放事实。本章校验只覆盖已编码规则，不证明真实预订或仿真已运行。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9" name="" descr="&lt;Slide notes={`有三种技术经常被过早提起：微调、蒸馏和部署。我把它们各自的前置条件说清楚。&#10;&#10;微调。模型持续误用术语、格式或领域风格时，先排查提示、示例和数据质量，这三样往往才是原因。等手上有足够多的高质量样本和一个独立测试集，再考虑微调。它改变的是模型对任务模式的适应，不该替代实时事实获取。&#10;&#10;蒸馏。做法是让较强系统生成示例，筛选后训练一个较小的模型，目标通常是降延迟、降成本。注意教师的回答本身也可能有错，训练数据仍要验证；训练集和评价集混在一起，会让改进看起来比实际好。&#10;&#10;部署还包括身份认证、配置、服务监控、数据保存、并发和密钥管理。命令行程序只是学习样本，优先级应由真实瓶颈决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5　何时研究微调、蒸馏和部署&lt;/Text&gt;&#10;            &lt;Text style={{ fontSize: 34, fontWeight: 'bold', color: '#20344B' }}&gt;什么时候才研究微调、蒸馏和部署&lt;/Text&gt;&#10;        &lt;/Box&gt;&#10;    &lt;/Box&gt;&#10;&#10;    &lt;Box style={{ height: 540, flexDirection: 'column', justifyContent: 'center', gap: 16 }}&gt;&#10;&#10;        &lt;Text style={{ fontSize: 17, color: '#546779' }}&gt;这三件事都有明确的前置条件，凑齐条件之前动手，收益很难说清。&lt;/Text&gt;&#10;&#10;        &lt;Box style={{ height: 140, background: '#EDF4FC', borderRadius: 10, padding: '16px 22px', flexDirection: 'row', alignItems: 'center', gap: 20 }}&gt;&#10;            &lt;Box style={{ width: 120, height: 108, background: '#276FBF', borderRadius: 8, justifyContent: 'center', alignItems: 'center' }}&gt;&#10;                &lt;Text style={{ fontSize: 22, fontWeight: 'bold', color: '#FFFFFF' }}&gt;微调&lt;/Text&gt;&#10;            &lt;/Box&gt;&#10;            &lt;Box style={{ flex: 1, flexDirection: 'column', gap: 6 }}&gt;&#10;                &lt;Text style={{ fontSize: 16, fontWeight: 'bold', color: '#20344B' }}&gt;先排查提示、示例与数据质量&lt;/Text&gt;&#10;                &lt;Text style={{ fontSize: 14, color: '#546779', lineHeight: 1.6 }}&gt;有足够多高质量训练样本和独立测试集再考虑微调。它改变的是模型对任务模式的适应，不应替代实时预约查询。&lt;/Text&gt;&#10;            &lt;/Box&gt;&#10;        &lt;/Box&gt;&#10;&#10;        &lt;Box style={{ height: 140, background: '#EDF4FC', borderRadius: 10, padding: '16px 22px', flexDirection: 'row', alignItems: 'center', gap: 20 }}&gt;&#10;            &lt;Box style={{ width: 120, height: 108, background: '#276FBF', borderRadius: 8, justifyContent: 'center', alignItems: 'center' }}&gt;&#10;                &lt;Text style={{ fontSize: 22, fontWeight: 'bold', color: '#FFFFFF' }}&gt;蒸馏&lt;/Text&gt;&#10;            &lt;/Box&gt;&#10;            &lt;Box style={{ flex: 1, flexDirection: 'column', gap: 6 }}&gt;&#10;                &lt;Text style={{ fontSize: 16, fontWeight: 'bold', color: '#20344B' }}&gt;教师回答也可能有错，训练数据仍需验证&lt;/Text&gt;&#10;                &lt;Text style={{ fontSize: 14, color: '#546779', lineHeight: 1.6 }}&gt;通常把较强系统生成并经过筛选的示例用于训练较小模型，目标可能是降低延迟和成本；训练集与评价集混在一起会夸大改进效果。&lt;/Text&gt;&#10;            &lt;/Box&gt;&#10;        &lt;/Box&gt;&#10;&#10;        &lt;Box style={{ height: 140, background: '#FFF4E6', borderRadius: 10, padding: '16px 22px', flexDirection: 'row', alignItems: 'center', gap: 20 }}&gt;&#10;            &lt;Box style={{ width: 120, height: 108, background: '#CB6B28', borderRadius: 8, justifyContent: 'center', alignItems: 'center' }}&gt;&#10;                &lt;Text style={{ fontSize: 22, fontWeight: 'bold', color: '#FFFFFF' }}&gt;部署&lt;/Text&gt;&#10;            &lt;/Box&gt;&#10;            &lt;Box style={{ flex: 1, flexDirection: 'column', gap: 6 }}&gt;&#10;                &lt;Text style={{ fontSize: 16, fontWeight: 'bold', color: '#CB6B28' }}&gt;扩展的优先级由真实瓶颈决定&lt;/Text&gt;&#10;                &lt;Text style={{ fontSize: 14, color: '#546779', lineHeight: 1.6 }}&gt;还包括身份认证、配置、服务监控、数据保存、并发与密钥管理。命令行程序是学习样本，不是多租户服务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何时研究微调、蒸馏和部署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什么时候才研究微调、蒸馏和部署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这三件事都有明确的前置条件，凑齐条件之前动手，收益很难说清。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1743075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819150" y="1895475"/>
            <a:ext cx="1143000" cy="1028700"/>
          </a:xfrm>
          <a:prstGeom prst="roundRect">
            <a:avLst>
              <a:gd name="adj" fmla="val 740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81100" y="22860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微调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152650" y="2162175"/>
            <a:ext cx="922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先排查提示、示例与数据质量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2152650" y="2409825"/>
            <a:ext cx="9220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有足够多高质量训练样本和独立测试集再考虑微调。它改变的是模型对任务模式的适应，不应替代实时预约查询。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228975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819150" y="3381375"/>
            <a:ext cx="1143000" cy="1028700"/>
          </a:xfrm>
          <a:prstGeom prst="roundRect">
            <a:avLst>
              <a:gd name="adj" fmla="val 740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811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蒸馏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2152650" y="3648075"/>
            <a:ext cx="922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教师回答也可能有错，训练数据仍需验证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152650" y="3895725"/>
            <a:ext cx="9220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通常把较强系统生成并经过筛选的示例用于训练较小模型，目标可能是降低延迟和成本；训练集与评价集混在一起会夸大改进效果。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4714875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819150" y="4867275"/>
            <a:ext cx="1143000" cy="1028700"/>
          </a:xfrm>
          <a:prstGeom prst="roundRect">
            <a:avLst>
              <a:gd name="adj" fmla="val 740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81100" y="52578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部署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2152650" y="5133975"/>
            <a:ext cx="922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扩展的优先级由真实瓶颈决定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152650" y="5381625"/>
            <a:ext cx="9220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还包括身份认证、配置、服务监控、数据保存、并发与密钥管理。命令行程序是学习样本，不是多租户服务。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82" name="" descr="&lt;Slide notes={`先看前两道练习。&#10;&#10;第一道是找出能力归属。助手从 PDF 找到房间容量，调用接口查预约，运行脚本后生成文件，要分别标出模型、资料检索、工具执行和应用校验各做了什么。&#10;&#10;参考思路：理解和组织输出由模型参与；找到材料靠实际读取或检索；接口和命令由宿主执行；容量与冲突由校验器判定。某一环节的结果不能替代另一环节的证据。&#10;&#10;第二道是设计一次失败。把手作候选放到 09:30 到 10:30，要求助手修正；再把人数改到超过房间容量且没有替代房间。&#10;&#10;参考思路：前者还有别的时段可用，可以修正；后者可能本来就不可行，应说明冲突和待调整条件，不能擅自减少人数。构造第二个任务时，要在材料副本里同步改需求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6　章末练习与参考思路&lt;/Text&gt;&#10;            &lt;Text style={{ fontSize: 34, fontWeight: 'bold', color: '#20344B' }}&gt;章末练习：找出能力归属，设计一次失败&lt;/Text&gt;&#10;        &lt;/Box&gt;&#10;    &lt;/Box&gt;&#10;&#10;    &lt;Box style={{ height: 540, flexDirection: 'column', justifyContent: 'center', gap: 18 }}&gt;&#10;&#10;        &lt;Box style={{ height: 225, background: '#EDF4FC', borderRadius: 10, padding: '20px 24px', flexDirection: 'column', gap: 8, justifyContent: 'center' }}&gt;&#10;            &lt;Text style={{ fontSize: 19, fontWeight: 'bold', color: '#276FBF' }}&gt;练习一　找出能力归属&lt;/Text&gt;&#10;            &lt;Text style={{ fontSize: 15, color: '#20344B', lineHeight: 1.6 }}&gt;助手从 PDF 中找到房间容量，调用接口查询预约，运行脚本后生成文件。分别标出模型、资料检索、工具执行和应用校验承担的工作。&lt;/Text&gt;&#10;            &lt;Box style={{ height: 1, background: '#B5C7D8' }} /&gt;&#10;            &lt;Text style={{ fontSize: 14, color: '#546779', lineHeight: 1.6 }}&gt;参考思路：理解与组织输出由模型参与；找到材料靠实际读取或检索机制；接口和命令由宿主执行；容量与冲突约束由校验器判定。某一环节的结果不能替代另一环节的证据。&lt;/Text&gt;&#10;        &lt;/Box&gt;&#10;&#10;        &lt;Box style={{ height: 225, background: '#F4F7FA', borderRadius: 10, padding: '20px 24px', flexDirection: 'column', gap: 8, justifyContent: 'center' }}&gt;&#10;            &lt;Text style={{ fontSize: 19, fontWeight: 'bold', color: '#20344B' }}&gt;练习二　设计一次失败&lt;/Text&gt;&#10;            &lt;Text style={{ fontSize: 15, color: '#20344B', lineHeight: 1.6 }}&gt;把手作候选放到 09:30—10:30，要求助手修正；再把参与人数改到超过房间容量且没有替代房间。两次任务应有什么不同结局？&lt;/Text&gt;&#10;            &lt;Box style={{ height: 1, background: '#B5C7D8' }} /&gt;&#10;            &lt;Text style={{ fontSize: 14, color: '#546779', lineHeight: 1.6 }}&gt;参考思路：前者在原规则下有其他时段可用，可以修正；后者在给定材料下可能不可行，应说明冲突和待调整条件，不能擅自减少人数。构造第二个任务时，要在材料副本中同步变更需求。&lt;/Text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829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章末练习：找出能力归属，设计一次失败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09600" y="1485900"/>
            <a:ext cx="10972800" cy="2143125"/>
          </a:xfrm>
          <a:prstGeom prst="roundRect">
            <a:avLst>
              <a:gd name="adj" fmla="val 444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2066925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练习一　找出能力归属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8200" y="2362200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助手从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中找到房间容量，调用接口查询预约，运行脚本后生成文件。分别标出模型、资料检索、工具执行和应用校验承担的工作。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38200" y="2714625"/>
            <a:ext cx="105156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280035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参考思路：理解与组织输出由模型参与；找到材料靠实际读取或检索机制；接口和命令由宿主执行；容量与冲突约束由校验器判定。某一环节的结果不能替代另一环节的证据。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3800475"/>
            <a:ext cx="10972800" cy="2143125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4248150"/>
            <a:ext cx="1051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练习二　设计一次失败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8200" y="454342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把手作候选放到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09:30—10:30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，要求助手修正；再把参与人数改到超过房间容量且没有替代房间。两次任务应有什么不同结局？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838200" y="4895850"/>
            <a:ext cx="105156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4981575"/>
            <a:ext cx="1051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参考思路：前者在原规则下有其他时段可用，可以修正；后者在给定材料下可能不可行，应说明冲突和待调整条件，不能擅自减少人数。构造第二个任务时，要在材料副本中同步变更需求。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99" name="" descr="&lt;Slide notes={`后两道练习：一道关于少，一道关于下一步。&#10;&#10;练习三：只有三个短文件、没有外部变化，要不要上向量数据库、MCP 和多个 Agent？&#10;&#10;参考思路：普通文件读取、一次模型调用和确定性校验可能就够了。加别的技术要有明确理由，比如复用工具接口或分工带来可测收益。&#10;&#10;练习四是准备第三章，列出哪些资料可以复用、哪些必须重新配置。&#10;&#10;参考思路：活动主题、人物描述和需求可作为作者材料；地图、坐标、Agent、Brain、Skill、模型用途与实验装配仍须按系统流程建立。筹备文件没有 run_id 和回放事实，不能证明仿真跑过。&#10;&#10;到了第三章，安排了一个活动和角色真的走到房间，是两件不同的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4.6　章末练习与参考思路&lt;/Text&gt;&#10;            &lt;Text style={{ fontSize: 34, fontWeight: 'bold', color: '#20344B' }}&gt;章末练习：最小组合，准备第三章&lt;/Text&gt;&#10;        &lt;/Box&gt;&#10;    &lt;/Box&gt;&#10;&#10;    &lt;Box style={{ height: 540, flexDirection: 'column', justifyContent: 'center', gap: 20 }}&gt;&#10;&#10;        &lt;Box style={{ flexDirection: 'row', gap: 24 }}&gt;&#10;&#10;            &lt;Box style={{ width: 564, height: 340, background: '#EDF4FC', borderRadius: 10, padding: '20px 22px', flexDirection: 'column', gap: 10, justifyContent: 'center' }}&gt;&#10;                &lt;Text style={{ fontSize: 19, fontWeight: 'bold', color: '#276FBF' }}&gt;练习三　选择最小技术组合&lt;/Text&gt;&#10;                &lt;Text style={{ fontSize: 15, color: '#20344B', lineHeight: 1.6 }}&gt;只有三个短文件、没有外部变化，是否需要向量数据库、MCP 和多个 Agent？&lt;/Text&gt;&#10;                &lt;Box style={{ height: 1, background: '#B5C7D8' }} /&gt;&#10;                &lt;Text style={{ fontSize: 14, color: '#546779', lineHeight: 1.7 }}&gt;参考思路：普通文件读取、一次模型调用和确定性校验可能足够。引入其他技术应有明确理由，例如复用工具接口、资料规模增大或分工带来可测收益。&lt;/Text&gt;&#10;            &lt;/Box&gt;&#10;&#10;            &lt;Box style={{ width: 564, height: 340, background: '#ECF7F2', borderRadius: 10, padding: '20px 22px', flexDirection: 'column', gap: 10, justifyContent: 'center' }}&gt;&#10;                &lt;Text style={{ fontSize: 19, fontWeight: 'bold', color: '#26816B' }}&gt;练习四　准备第三章&lt;/Text&gt;&#10;                &lt;Text style={{ fontSize: 15, color: '#20344B', lineHeight: 1.6 }}&gt;列出本章可以复用的资料，以及必须在仿真系统重新配置的内容。&lt;/Text&gt;&#10;                &lt;Box style={{ height: 1, background: '#B5C7D8' }} /&gt;&#10;                &lt;Text style={{ fontSize: 14, color: '#546779', lineHeight: 1.7 }}&gt;参考思路：活动主题、人物描述和需求可以作为作者材料；地图、坐标、Agent、Brain、Skill、模型用途以及实验装配仍须通过系统规定的流程建立。&lt;/Text&gt;&#10;            &lt;/Box&gt;&#10;&#10;        &lt;/Box&gt;&#10;&#10;        &lt;Box style={{ height: 110, background: '#F4F7FA', borderRadius: 10, padding: '0 24px', flexDirection: 'row', alignItems: 'center', gap: 20 }}&gt;&#10;            &lt;Box style={{ width: 4, height: 72, background: '#276FBF' }} /&gt;&#10;            &lt;Box style={{ flex: 1, flexDirection: 'column', gap: 5 }}&gt;&#10;                &lt;Text style={{ fontSize: 17, fontWeight: 'bold', color: '#20344B' }}&gt;第三章将把同一个开放日放进可感知、可行动、可回放的世界&lt;/Text&gt;&#10;                &lt;Text style={{ fontSize: 14, color: '#546779', lineHeight: 1.6 }}&gt;&quot;安排了一个活动&quot;与&quot;角色已经走到房间并实施活动&quot;之间的区别，会成为新的学习重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章末练习：最小组合，准备第三章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1476375"/>
            <a:ext cx="5372100" cy="3238500"/>
          </a:xfrm>
          <a:prstGeom prst="roundRect">
            <a:avLst>
              <a:gd name="adj" fmla="val 294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" y="228600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练习三　选择最小技术组合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19150" y="2600325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只有三个短文件、没有外部变化，是否需要向量数据库、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和多个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819150" y="3248025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19150" y="335280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参考思路：普通文件读取、一次模型调用和确定性校验可能足够。引入其他技术应有明确理由，例如复用工具接口、资料规模增大或分工带来可测收益。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210300" y="1476375"/>
            <a:ext cx="5372100" cy="3238500"/>
          </a:xfrm>
          <a:prstGeom prst="roundRect">
            <a:avLst>
              <a:gd name="adj" fmla="val 294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419850" y="2428875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练习四　准备第三章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419850" y="274320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列出本章可以复用的资料，以及必须在仿真系统重新配置的内容。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419850" y="3114675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419850" y="321945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参考思路：活动主题、人物描述和需求可以作为作者材料；地图、坐标、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、模型用途以及实验装配仍须通过系统规定的流程建立。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49053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838200" y="50863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66800" y="5181600"/>
            <a:ext cx="1028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第三章将把同一个开放日放进可感知、可行动、可回放的世界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66800" y="5429250"/>
            <a:ext cx="1028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安排了一个活动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角色已经走到房间并实施活动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之间的区别，会成为新的学习重点。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20" name="" descr="&lt;Slide notes={`第二章到这里结束。十四节收成一句话：每一项技术都对应任务里的一个缺口，也都留下自己的证据。&#10;&#10;整章分成四段。请求与表达，从环境与第一次调用到 Prompt、上下文工程、结构化输出，解决话怎么说清楚。&#10;&#10;工具与执行，Function Calling、MCP、CLI 与 Shell、Skill，解决事情怎么真的做成。资料与自主，检索与 RAG、Agent 循环、多模态、多 Agent。&#10;&#10;诊断与收口，可观测性、评估与成本，最后落到技术选择与完整交付，解决怎么知道它真的做对了。&#10;&#10;第三章换一个世界，把同一个开放日交给可感知、可行动、可回放的环境。那时标准会多一条：不只文件要对，角色还要真的走过去。`} style={{ width: 1280, height: 720, background: '#FFFFFF', flexDirection: 'column', padding: '20px 64px' }}&gt;&#10;&#10;    &lt;Box style={{ height: 100 }} /&gt;&#10;&#10;    &lt;Box style={{ height: 540, flexDirection: 'column', justifyContent: 'center', gap: 14 }}&gt;&#10;&#10;        &lt;Box style={{ flexDirection: 'column', alignItems: 'center', gap: 8 }}&gt;&#10;            &lt;Text style={{ fontSize: 15, color: '#546779' }}&gt;第二章　小结&lt;/Text&gt;&#10;            &lt;Text style={{ fontSize: 42, fontWeight: 'bold', color: '#20344B', lineHeight: 1.2, textAlign: 'center' }}&gt;十四节技术，一张缺口地图&lt;/Text&gt;&#10;            &lt;Box style={{ width: 72, height: 4, background: '#276FBF' }} /&gt;&#10;        &lt;/Box&gt;&#10;&#10;        &lt;Box style={{ height: 72, background: '#F4F7FA', borderRadius: 8, padding: '0 22px', flexDirection: 'row', alignItems: 'center', gap: 18 }}&gt;&#10;            &lt;Box style={{ width: 4, height: 44, background: '#276FBF' }} /&gt;&#10;            &lt;Box style={{ width: 130, flexDirection: 'column', gap: 2 }}&gt;&#10;                &lt;Text style={{ fontSize: 13, color: '#546779' }}&gt;2.1 – 2.4&lt;/Text&gt;&#10;                &lt;Text style={{ fontSize: 17, fontWeight: 'bold', color: '#20344B' }}&gt;请求与表达&lt;/Text&gt;&#10;            &lt;/Box&gt;&#10;            &lt;Box style={{ width: 44, justifyContent: 'center', alignItems: 'center' }}&gt;&lt;Text style={{ fontSize: 18, color: '#276FBF' }}&gt;›&lt;/Text&gt;&lt;/Box&gt;&#10;            &lt;Text style={{ flex: 1, fontSize: 14, color: '#546779' }}&gt;环境与第一次调用 · Prompt · 上下文工程 · 结构化输出与业务校验&lt;/Text&gt;&#10;        &lt;/Box&gt;&#10;&#10;        &lt;Box style={{ height: 72, background: '#F4F7FA', borderRadius: 8, padding: '0 22px', flexDirection: 'row', alignItems: 'center', gap: 18 }}&gt;&#10;            &lt;Box style={{ width: 4, height: 44, background: '#276FBF' }} /&gt;&#10;            &lt;Box style={{ width: 130, flexDirection: 'column', gap: 2 }}&gt;&#10;                &lt;Text style={{ fontSize: 13, color: '#546779' }}&gt;2.5 – 2.8&lt;/Text&gt;&#10;                &lt;Text style={{ fontSize: 17, fontWeight: 'bold', color: '#20344B' }}&gt;工具与执行&lt;/Text&gt;&#10;            &lt;/Box&gt;&#10;            &lt;Box style={{ width: 44, justifyContent: 'center', alignItems: 'center' }}&gt;&lt;Text style={{ fontSize: 18, color: '#276FBF' }}&gt;›&lt;/Text&gt;&lt;/Box&gt;&#10;            &lt;Text style={{ flex: 1, fontSize: 14, color: '#546779' }}&gt;Function Calling · MCP · CLI 与 Shell · Skill&lt;/Text&gt;&#10;        &lt;/Box&gt;&#10;&#10;        &lt;Box style={{ height: 72, background: '#F4F7FA', borderRadius: 8, padding: '0 22px', flexDirection: 'row', alignItems: 'center', gap: 18 }}&gt;&#10;            &lt;Box style={{ width: 4, height: 44, background: '#276FBF' }} /&gt;&#10;            &lt;Box style={{ width: 130, flexDirection: 'column', gap: 2 }}&gt;&#10;                &lt;Text style={{ fontSize: 13, color: '#546779' }}&gt;2.9 – 2.12&lt;/Text&gt;&#10;                &lt;Text style={{ fontSize: 17, fontWeight: 'bold', color: '#20344B' }}&gt;资料与自主&lt;/Text&gt;&#10;            &lt;/Box&gt;&#10;            &lt;Box style={{ width: 44, justifyContent: 'center', alignItems: 'center' }}&gt;&lt;Text style={{ fontSize: 18, color: '#276FBF' }}&gt;›&lt;/Text&gt;&lt;/Box&gt;&#10;            &lt;Text style={{ flex: 1, fontSize: 14, color: '#546779' }}&gt;检索与 RAG · Agent 循环 · 多模态 · 多 Agent 工作流&lt;/Text&gt;&#10;        &lt;/Box&gt;&#10;&#10;        &lt;Box style={{ height: 72, background: '#ECF7F2', borderRadius: 8, padding: '0 22px', flexDirection: 'row', alignItems: 'center', gap: 18 }}&gt;&#10;            &lt;Box style={{ width: 4, height: 44, background: '#26816B' }} /&gt;&#10;            &lt;Box style={{ width: 130, flexDirection: 'column', gap: 2 }}&gt;&#10;                &lt;Text style={{ fontSize: 13, color: '#546779' }}&gt;2.13 – 2.14&lt;/Text&gt;&#10;                &lt;Text style={{ fontSize: 17, fontWeight: 'bold', color: '#20344B' }}&gt;诊断与收口&lt;/Text&gt;&#10;            &lt;/Box&gt;&#10;            &lt;Box style={{ width: 44, justifyContent: 'center', alignItems: 'center' }}&gt;&lt;Text style={{ fontSize: 18, color: '#26816B' }}&gt;›&lt;/Text&gt;&lt;/Box&gt;&#10;            &lt;Text style={{ flex: 1, fontSize: 14, color: '#546779' }}&gt;可观测性、评估、可靠性与成本 · 技术选择与完整交付&lt;/Text&gt;&#10;        &lt;/Box&gt;&#10;&#10;        &lt;Box style={{ height: 68, background: '#EDF4FC', borderRadius: 10, padding: '0 22px', flexDirection: 'row', alignItems: 'center', gap: 16 }}&gt;&#10;            &lt;Box style={{ width: 4, height: 44, background: '#276FBF' }} /&gt;&#10;            &lt;Box style={{ flex: 1, flexDirection: 'column', gap: 3 }}&gt;&#10;                &lt;Text style={{ fontSize: 15, fontWeight: 'bold', color: '#276FBF' }}&gt;每一项技术都对应一个缺口，也都留下自己的证据&lt;/Text&gt;&#10;                &lt;Text style={{ fontSize: 13, color: '#546779' }}&gt;下一章把同一个开放日交给可感知、可行动、可回放的世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4 技术选择与完整交付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667375" y="12192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小结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695700" y="1466850"/>
            <a:ext cx="4800600" cy="5810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150" b="1">
                <a:solidFill>
                  <a:srgbClr val="20344B"/>
                </a:solidFill>
                <a:latin typeface="Microsoft YaHei"/>
                <a:ea typeface="Microsoft YaHei"/>
              </a:rPr>
              <a:t>十四节技术，一张缺口地图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753100" y="21240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9600" y="229552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819150" y="24288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028700" y="24574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2.1 – 2.4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028700" y="26289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请求与表达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2619375" y="25336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3028950" y="2562225"/>
            <a:ext cx="834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Prompt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结构化输出与业务校验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311467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19150" y="32480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28700" y="32766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2.5 – 2.8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28700" y="34480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工具与执行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2619375" y="33528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028950" y="3381375"/>
            <a:ext cx="834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Function Calling · MCP ·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· Skill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393382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819150" y="40671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028700" y="40957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2.9 – 2.12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028700" y="42672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资料与自主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2619375" y="417195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028950" y="4200525"/>
            <a:ext cx="834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RAG ·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多模态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09600" y="475297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819150" y="48863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028700" y="49149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2.13 – 2.14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28700" y="50863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诊断与收口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2619375" y="49911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028950" y="5019675"/>
            <a:ext cx="834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55721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819150" y="56864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每一项技术都对应一个缺口，也都留下自己的证据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09650" y="5924550"/>
            <a:ext cx="1036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下一章把同一个开放日交给可感知、可行动、可回放的世界。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技术选择与完整交付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2026-09-29T04:23:54Z</dcterms:created>
  <dcterms:modified xsi:type="dcterms:W3CDTF">2026-09-29T04:23:54Z</dcterms:modified>
</cp:coreProperties>
</file>