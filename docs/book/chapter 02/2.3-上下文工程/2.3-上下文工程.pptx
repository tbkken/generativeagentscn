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24.xml" ContentType="application/vnd.openxmlformats-officedocument.presentationml.slide+xml"/>
  <Override PartName="/ppt/slides/slide19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3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3.xml" ContentType="application/vnd.openxmlformats-officedocument.presentationml.slide+xml"/>
  <Override PartName="/ppt/slides/slide5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6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1" Type="http://schemas.openxmlformats.org/officeDocument/2006/relationships/slide" Target="slides/slide11.xml" /><Relationship Id="rId29" Type="http://schemas.openxmlformats.org/officeDocument/2006/relationships/viewProps" Target="viewProps.xml" /><Relationship Id="rId10" Type="http://schemas.openxmlformats.org/officeDocument/2006/relationships/slide" Target="slides/slide10.xml" /><Relationship Id="rId1" Type="http://schemas.openxmlformats.org/officeDocument/2006/relationships/slide" Target="slides/slide1.xml" /><Relationship Id="rId9" Type="http://schemas.openxmlformats.org/officeDocument/2006/relationships/slide" Target="slides/slide9.xml" /><Relationship Id="rId12" Type="http://schemas.openxmlformats.org/officeDocument/2006/relationships/slide" Target="slides/slide12.xml" /><Relationship Id="rId24" Type="http://schemas.openxmlformats.org/officeDocument/2006/relationships/slide" Target="slides/slide24.xml" /><Relationship Id="rId19" Type="http://schemas.openxmlformats.org/officeDocument/2006/relationships/slide" Target="slides/slide19.xml" /><Relationship Id="rId14" Type="http://schemas.openxmlformats.org/officeDocument/2006/relationships/slide" Target="slides/slide14.xml" /><Relationship Id="rId15" Type="http://schemas.openxmlformats.org/officeDocument/2006/relationships/slide" Target="slides/slide15.xml" /><Relationship Id="rId13" Type="http://schemas.openxmlformats.org/officeDocument/2006/relationships/slide" Target="slides/slide13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2" Type="http://schemas.openxmlformats.org/officeDocument/2006/relationships/slide" Target="slides/slide2.xml" /><Relationship Id="rId20" Type="http://schemas.openxmlformats.org/officeDocument/2006/relationships/slide" Target="slides/slide20.xml" /><Relationship Id="rId21" Type="http://schemas.openxmlformats.org/officeDocument/2006/relationships/slide" Target="slides/slide21.xml" /><Relationship Id="rId22" Type="http://schemas.openxmlformats.org/officeDocument/2006/relationships/slide" Target="slides/slide22.xml" /><Relationship Id="rId23" Type="http://schemas.openxmlformats.org/officeDocument/2006/relationships/slide" Target="slides/slide23.xml" /><Relationship Id="rId25" Type="http://schemas.openxmlformats.org/officeDocument/2006/relationships/slide" Target="slides/slide25.xml" /><Relationship Id="rId26" Type="http://schemas.openxmlformats.org/officeDocument/2006/relationships/notesMaster" Target="notesMasters/notesMaster1.xml" /><Relationship Id="rId27" Type="http://schemas.openxmlformats.org/officeDocument/2006/relationships/presProps" Target="presProps.xml" /><Relationship Id="rId28" Type="http://schemas.openxmlformats.org/officeDocument/2006/relationships/tableStyles" Target="tableStyle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这一节要处理一个很具体的问题：一句话里的信息，怎样才算真的送到了模型面前。</a:t>
            </a:r>
          </a:p>
          <a:p>
            <a:r>
              <a:rPr lang="zh-CN" dirty="0"/>
              <a:t>组织者说，还是上次那个房间，人数以新表为准。这句话听上去完整，其实藏着三件事：上次的任务是什么，房间指的是哪一个，新表和旧表之间是什么关系。这三件事如果没有实际进入本轮请求，模型就只能靠猜。</a:t>
            </a:r>
          </a:p>
          <a:p>
            <a:r>
              <a:rPr lang="zh-CN" dirty="0"/>
              <a:t>所以上下文工程管的不是我们手上有多少资料，而是每一轮请求里实际带上了哪些指令、历史、文件和工具结果，它们怎么组织、怎么更新，又怎么被移出去。</a:t>
            </a:r>
          </a:p>
          <a:p>
            <a:r>
              <a:rPr lang="zh-CN" dirty="0"/>
              <a:t>还有一个容易忽略的地方：带上信息的同时，要给模型的输出留出空间。带得越满，能留给回答的余地就越少。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这一节有六个知识块，回答同一组问题：每一轮请求，到底该带上什么。</a:t>
            </a:r>
          </a:p>
          <a:p>
            <a:r>
              <a:rPr lang="zh-CN" dirty="0"/>
              <a:t>第一个知识块先分来源。行为要求、任务资料、外部查询结果和工作状态写在同一段文字里，读起来很顺，但来源不能混，否则分不清哪句是查到的、哪句是猜的。</a:t>
            </a:r>
          </a:p>
          <a:p>
            <a:r>
              <a:rPr lang="zh-CN" dirty="0"/>
              <a:t>第二个知识块讲容量。上下文窗口有限，还要给输出留空间，所以全部聊天、文件和工具结果不能一直追加。</a:t>
            </a:r>
          </a:p>
          <a:p>
            <a:r>
              <a:rPr lang="zh-CN" dirty="0"/>
              <a:t>第三和第四个知识块讲状态怎么传。一条是应用自己保存历史，把上一轮完整输出加到下一次输入里；另一条是用响应 ID 让服务端接起两轮。选一条就够，不必叠加。</a:t>
            </a:r>
          </a:p>
          <a:p>
            <a:r>
              <a:rPr lang="zh-CN" dirty="0"/>
              <a:t>第五个知识块换到产品里：用文件引用和追问，检验新事实出现后旧结论会不会被撤回。</a:t>
            </a:r>
          </a:p>
          <a:p>
            <a:r>
              <a:rPr lang="zh-CN" dirty="0"/>
              <a:t>最后一个知识块是练习：写一份两百字以内的交接摘要，交给一个独立任务。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先说第一个知识块，它是后面所有讨论的地基。</a:t>
            </a:r>
          </a:p>
          <a:p>
            <a:r>
              <a:rPr lang="zh-CN" dirty="0"/>
              <a:t>我们平时写提示，是把很多东西写在同一段文字里的：有对做事方法的要求，有这次任务用到的资料，有工具查回来的结果，还有当前做到哪一步的状态。它们写在一起读起来很顺，但来源其实是四件不同的事。</a:t>
            </a:r>
          </a:p>
          <a:p>
            <a:r>
              <a:rPr lang="zh-CN" dirty="0"/>
              <a:t>来源分开，才能回答关键的问题。查回来的结果，要能说出是哪个工具、查的是哪一天、范围到哪里；工作状态只能说"已经提取约束、方案还没校验"，不能冒充成已经完成的事实。</a:t>
            </a:r>
          </a:p>
          <a:p>
            <a:r>
              <a:rPr lang="zh-CN" dirty="0"/>
              <a:t>一旦这些来源被混成一句话，我们就失去了追问的入口。后面出现错误的时候，也分不清是资料本身不对、查询范围不对，还是方案根本没校验过。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青禾助手至少需要辨认四类内容，我一条一条说它们的用法。</a:t>
            </a:r>
          </a:p>
          <a:p>
            <a:r>
              <a:rPr lang="zh-CN" dirty="0"/>
              <a:t>第一类是行为要求，比如不编造预约、提交之前先运行检查。它管的是这次工作用什么方法，不提供事实。</a:t>
            </a:r>
          </a:p>
          <a:p>
            <a:r>
              <a:rPr lang="zh-CN" dirty="0"/>
              <a:t>第二类是任务资料，比如活动人数、房间容量、允许时段。它是我们生成候选方案的依据。</a:t>
            </a:r>
          </a:p>
          <a:p>
            <a:r>
              <a:rPr lang="zh-CN" dirty="0"/>
              <a:t>第三类是外部查询结果，比如某个日期某个房间已经有预约。这一类的使用方式最讲究：必须按工具来源和查询范围来解释，不能把它当成永久事实。</a:t>
            </a:r>
          </a:p>
          <a:p>
            <a:r>
              <a:rPr lang="zh-CN" dirty="0"/>
              <a:t>第四类是工作状态，比如已经提取了约束、方案还没校验。它决定下一步做什么，而不能冒充成已经完成的事实。</a:t>
            </a:r>
          </a:p>
          <a:p>
            <a:r>
              <a:rPr lang="zh-CN" dirty="0"/>
              <a:t>把这四条分开，好处是出了问题能定位。是资料本身写错了，是查询范围没覆盖，还是方案压根没校验过，一看就知道。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这里要特别提醒一个容易犯的错：把不同状态压成同一句话。</a:t>
            </a:r>
          </a:p>
          <a:p>
            <a:r>
              <a:rPr lang="zh-CN" dirty="0"/>
              <a:t>十点半开始也许合适，这是候选意见，是待验证的。预约工具返回十点至十点半不可用，这是查询结果，它带着来源和查询范围。方案通过校验，这不是一句结论能写完的，它必须有对应候选的实际报告。</a:t>
            </a:r>
          </a:p>
          <a:p>
            <a:r>
              <a:rPr lang="zh-CN" dirty="0"/>
              <a:t>这三种东西一旦被压成「时间已确认」，来源没了，适用范围没了，出了问题也没有回查的入口。</a:t>
            </a:r>
          </a:p>
          <a:p>
            <a:r>
              <a:rPr lang="zh-CN" dirty="0"/>
              <a:t>我的经验是，写工作记录时宁可啰嗦一点，也要把状态词留住：候选、已查、未校验、待确认。这些词看着不起眼，但它们决定了下一步该做什么，也决定了别人能不能复核你的结果。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来源要分开，还有一个实践里特别常见的坑：文件名相同，内容已经变了。</a:t>
            </a:r>
          </a:p>
          <a:p>
            <a:r>
              <a:rPr lang="zh-CN" dirty="0"/>
              <a:t>更新材料的时候，我建议留住三样东西。第一是身份，这是哪一份文件、属于哪个任务。第二是日期。第三是输入副本，或者至少一个摘要指纹，用来说明这次用的到底是哪一版。</a:t>
            </a:r>
          </a:p>
          <a:p>
            <a:r>
              <a:rPr lang="zh-CN" dirty="0"/>
              <a:t>有了这三样，才谈得上替换。替换要靠明确的新资料去做，不能把两份同名文件一起丢进去，让模型自己判断哪一份更权威——模型没有权限替我们决定这件事。</a:t>
            </a:r>
          </a:p>
          <a:p>
            <a:r>
              <a:rPr lang="zh-CN" dirty="0"/>
              <a:t>青禾这件事里，人数从十人改成十三人，恰恰就是一份同名文件的内容变了。如果分不清版本，后面所有的校验都建立在不牢靠的基础上。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第二块讲容量。上下文窗口限制的是单次请求能够处理的 Token 规模，而且这个窗口不是全部给输入的——输出要有位置，模型自己做推理也有开销。</a:t>
            </a:r>
          </a:p>
          <a:p>
            <a:r>
              <a:rPr lang="zh-CN" dirty="0"/>
              <a:t>所以把全部聊天记录、全部文件、全部工具结果一直往下追加，是会出问题的。它可能直接超限，也可能没超，但费用上去了，无关信息也掺了进来，反而干扰判断。</a:t>
            </a:r>
          </a:p>
          <a:p>
            <a:r>
              <a:rPr lang="zh-CN" dirty="0"/>
              <a:t>这里要强调一句：具体窗口多大、输出限制多少，要查你选的那个模型，不能把某一个模型的数值当成所有模型共有的属性。</a:t>
            </a:r>
          </a:p>
          <a:p>
            <a:r>
              <a:rPr lang="zh-CN" dirty="0"/>
              <a:t>知道了容量有限，下一步的动作自然就是筛选和压缩。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三项来源进来以后，不能直接倒给模型，中间要过一道筛选与压缩。</a:t>
            </a:r>
          </a:p>
          <a:p>
            <a:r>
              <a:rPr lang="zh-CN" dirty="0"/>
              <a:t>顺序是先筛，再压。拿三项活动这件事说，不需要每一轮都带着十年的宣传稿；整月的预约记录，可以由程序按日期、房间和时段筛一遍，只把命中的部分带进来，同时把来源和筛选条件保留下来。</a:t>
            </a:r>
          </a:p>
          <a:p>
            <a:r>
              <a:rPr lang="zh-CN" dirty="0"/>
              <a:t>筛完压缩过的结果，才构成本轮输入：事实、来源、状态，关键约束要完整保留，不能为了短而把约束删掉。</a:t>
            </a:r>
          </a:p>
          <a:p>
            <a:r>
              <a:rPr lang="zh-CN" dirty="0"/>
              <a:t>还有一处必须留出余地，就是输出。窗口不是全部给输入的，模型还要生成回答。所以各个色块占多大面积只是示意，它并不对应真实的 Token 比例。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筛选和摘要是两个不同的动作，顺序不能颠倒。</a:t>
            </a:r>
          </a:p>
          <a:p>
            <a:r>
              <a:rPr lang="zh-CN" dirty="0"/>
              <a:t>筛选是挑，把无关的挡在外面。三项活动这件事，不需要每一轮都带十年宣传稿；整月预约的记录，可以按日期、房间和时段筛一遍，只把命中的那部分带进来，同时把来源和筛选条件留下。</a:t>
            </a:r>
          </a:p>
          <a:p>
            <a:r>
              <a:rPr lang="zh-CN" dirty="0"/>
              <a:t>摘要是在筛完以后压，它要保留事实、来源和还没有解决的事情。比如这样一句：阅读分享二十四人，来源 requests.csv；预约已查；候选未通过。句子很短，但每一段都能对上出处。</a:t>
            </a:r>
          </a:p>
          <a:p>
            <a:r>
              <a:rPr lang="zh-CN" dirty="0"/>
              <a:t>最后一句要记住：摘要是派生结果，重要的事实仍然要能回查原文件，摘要不能变成唯一的证据。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摘要写得好不好，我很反对只用「简短」这一个标准来评价。</a:t>
            </a:r>
          </a:p>
          <a:p>
            <a:r>
              <a:rPr lang="zh-CN" dirty="0"/>
              <a:t>更实际的做法是给摘要规定固定字段，然后抽查：日期对不对，人数对不对，活动的持续时间有没有留下，来源写清了没有，还有哪些事没有完成。</a:t>
            </a:r>
          </a:p>
          <a:p>
            <a:r>
              <a:rPr lang="zh-CN" dirty="0"/>
              <a:t>我给一个具体的后果。如果摘要把那个手作活动的六十分钟时长丢掉了，后面无论写得多流畅都补救不回来，因为后面所有的安排都建立在一个错误的时长上。</a:t>
            </a:r>
          </a:p>
          <a:p>
            <a:r>
              <a:rPr lang="zh-CN" dirty="0"/>
              <a:t>所以检查摘要时我去核对的是这几项，而不是去评价它读起来顺不顺、是不是够短。字段固定了，抽查才有依据，摘要也才是一份可以交接的工作记录。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接下来看跨轮的状态怎么传。这一块先讲手工保留。</a:t>
            </a:r>
          </a:p>
          <a:p>
            <a:r>
              <a:rPr lang="zh-CN" dirty="0"/>
              <a:t>有一个基本事实要先说清楚：直接发一个请求过去，服务端不会自动知道你的应用上一次发送了什么。它没有这个上下文，除非你把它带上去。</a:t>
            </a:r>
          </a:p>
          <a:p>
            <a:r>
              <a:rPr lang="zh-CN" dirty="0"/>
              <a:t>所以手工管理的做法是，自己保存原输入，把上一轮的完整输出加到下一次的输入里，再追加用户的新消息。这里的关键词是「完整」：完整输出可能包括工具调用、推理相关条目和消息元数据，只保存最后那段文本，这些东西就丢了。</a:t>
            </a:r>
          </a:p>
          <a:p>
            <a:r>
              <a:rPr lang="zh-CN" dirty="0"/>
              <a:t>书稿里给了两条路线，这一条是手工保留历史，下一条是用响应 ID 关联。两条都是可选项，选定一条就够了，但无论选哪条，都要说得清本轮实际获得的输入到底是什么。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两条路线放在一起看，差别在于状态保存在哪一边。</a:t>
            </a:r>
          </a:p>
          <a:p>
            <a:r>
              <a:rPr lang="zh-CN" dirty="0"/>
              <a:t>路线一，手工管理历史。本轮输入是历史加新材料；模型返回之后，我们把完整的 response.output 留下来，下一轮把它作为输入的一部分再发出去。应用要自己保管历史，也要自己控制它别长到超限。</a:t>
            </a:r>
          </a:p>
          <a:p>
            <a:r>
              <a:rPr lang="zh-CN" dirty="0"/>
              <a:t>路线二，关联前一次响应。上一轮响应有一个真实的 id，下一次请求带上 previous_response_id，服务端就知道接在哪一轮后面。例外是：行为要求不会自动继承，这一次仍要用 instructions 显式再发一遍。</a:t>
            </a:r>
          </a:p>
          <a:p>
            <a:r>
              <a:rPr lang="zh-CN" dirty="0"/>
              <a:t>最后几句是边界：只保存 output_text 会丢掉工具调用这类条目；关联响应不等于前面那些 Token 免费；业务进度仍要由应用自己保存。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这段代码是手工管理的最小形态，我把关键几步拆开说。</a:t>
            </a:r>
          </a:p>
          <a:p>
            <a:r>
              <a:rPr lang="zh-CN" dirty="0"/>
              <a:t>第一条消息先把资料和人数写进去，让模型检查一次。拿到结果以后，最关键的一步是把完整的输出项接回历史里，而不是只挑出那段给人看的文本。</a:t>
            </a:r>
          </a:p>
          <a:p>
            <a:r>
              <a:rPr lang="zh-CN" dirty="0"/>
              <a:t>然后追加用户的新消息：人数在正式需求里改成十三人，请按新人数重新检查，不沿用旧结论。</a:t>
            </a:r>
          </a:p>
          <a:p>
            <a:r>
              <a:rPr lang="zh-CN" dirty="0"/>
              <a:t>第二次请求把整段历史再发出去，所以模型这一次看到的，既有上一轮的全部输出，也有这条新消息。</a:t>
            </a:r>
          </a:p>
          <a:p>
            <a:r>
              <a:rPr lang="zh-CN" dirty="0"/>
              <a:t>这段例子的观察目标很明确：十三人大于十二人的容量，正确的回答应该指出冲突，不能继续说人数符合要求。真实应用还要同步更新任务的正式数据并重新运行检查，不能只改聊天记录。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代码里有一个参数容易被过度解读，就是 store=False。</a:t>
            </a:r>
          </a:p>
          <a:p>
            <a:r>
              <a:rPr lang="zh-CN" dirty="0"/>
              <a:t>它表示不使用该响应对象的默认存储方式，仅此而已。它不是「这次请求没有发到服务端」，更不是「服务方不会处理我的数据」。网络请求该发生还是发生了。</a:t>
            </a:r>
          </a:p>
          <a:p>
            <a:r>
              <a:rPr lang="zh-CN" dirty="0"/>
              <a:t>所以从这一个开关，我们不能推导出整个服务的数据处理政策。数据怎么保存、保存多久、能不能用于其他用途，这些要看服务方的文档约定，不能靠一个参数去猜。</a:t>
            </a:r>
          </a:p>
          <a:p>
            <a:r>
              <a:rPr lang="zh-CN" dirty="0"/>
              <a:t>书稿里用这种方式来讲手工管理，是为了把状态放在应用这一侧，让你看清每一步实际带上了什么。至于具体的数据约定，那是另一件事，要单独查。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换一个方向看同一件事。前一种做法把历史存在应用自己这一侧，这一种做法把它交给服务端。</a:t>
            </a:r>
          </a:p>
          <a:p>
            <a:r>
              <a:rPr lang="zh-CN" dirty="0"/>
              <a:t>需要服务端衔接会话的时候，可以用 previous_response_id 这个参数。第一轮请求正常发出，拿到一个响应对象，它有自己真实的 id；第二轮请求带上这个 id，服务端就知道这一轮要接在哪一轮后面。</a:t>
            </a:r>
          </a:p>
          <a:p>
            <a:r>
              <a:rPr lang="zh-CN" dirty="0"/>
              <a:t>这条路线的边界也要说清楚。引用响应 ID 主要改变的是状态传递方式，它不意味着前面那些上下文 Token 变得免费了。还有一点更关键：行为要求不会自动继承，第二轮仍然要显式发送 instructions。</a:t>
            </a:r>
          </a:p>
          <a:p>
            <a:r>
              <a:rPr lang="zh-CN" dirty="0"/>
              <a:t>另外，如果对象要跨会话、跨作业长期存在，官方还提供了持久会话的接口。初学阶段不用都上，选定一种就够了。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这段代码把两轮调用并排放，好对照着看差别。</a:t>
            </a:r>
          </a:p>
          <a:p>
            <a:r>
              <a:rPr lang="zh-CN" dirty="0"/>
              <a:t>第一轮，正常发请求，instructions 里放行为要求，input 里放这条材料，store 设为真，让服务端保留这一轮。拿到返回之后，first.id 就是这一轮响应的真实标识。</a:t>
            </a:r>
          </a:p>
          <a:p>
            <a:r>
              <a:rPr lang="zh-CN" dirty="0"/>
              <a:t>第二轮，关键是 previous_response_id 这一行，把它设成 first.id，服务端就知道要接在第一轮后面。input 里只放新的那条消息，正式人数改成十三人，请重新检查。</a:t>
            </a:r>
          </a:p>
          <a:p>
            <a:r>
              <a:rPr lang="zh-CN" dirty="0"/>
              <a:t>但请注意：instructions 这里又写了一遍。上一轮的 instructions 不会自动作为当前轮的指令继承，这是官方文档明确说明的。每写一轮都要问自己：这次的行为要求送到了吗。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把关联响应用起来，有三件事并不会因此省掉。</a:t>
            </a:r>
          </a:p>
          <a:p>
            <a:r>
              <a:rPr lang="zh-CN" dirty="0"/>
              <a:t>第一件，行为要求还得显式发送。每一轮都要问自己：这次的规定送到了吗？上一轮送过，不等于这一轮还有。</a:t>
            </a:r>
          </a:p>
          <a:p>
            <a:r>
              <a:rPr lang="zh-CN" dirty="0"/>
              <a:t>第二件，Token 不免费。引用一个 ID 改变的是状态怎么传，语义上它仍然是把这些内容放进了这一轮的请求，费用和窗口都要照算。</a:t>
            </a:r>
          </a:p>
          <a:p>
            <a:r>
              <a:rPr lang="zh-CN" dirty="0"/>
              <a:t>第三件，归属还得应用自己记。这个响应、这份资料属于哪个用户、哪个任务，必须由我们记录，否则很容易把青禾任务的资料接到另一位用户的对话里去。</a:t>
            </a:r>
          </a:p>
          <a:p>
            <a:r>
              <a:rPr lang="zh-CN" dirty="0"/>
              <a:t>所以初学阶段，手工历史、响应链、持久会话这三样选定一种就够了，不要把三种方式同时叠在一件事上，那样出了问题很难定位。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讲完接口层面的两种状态传递方式，我们换到产品里看同一件事。</a:t>
            </a:r>
          </a:p>
          <a:p>
            <a:r>
              <a:rPr lang="zh-CN" dirty="0"/>
              <a:t>这次我用的还是青禾这件事，但动作换成了在界面上做：新建一个任务，用 @ 引用 requests.csv、rooms.csv 和 rules.md 这三份材料，先让它生成一张事实与来源的对照表。</a:t>
            </a:r>
          </a:p>
          <a:p>
            <a:r>
              <a:rPr lang="zh-CN" dirty="0"/>
              <a:t>这一步的目的是建立证据。它得说清楚每一条事实是从哪份文件的哪一部分来的。</a:t>
            </a:r>
          </a:p>
          <a:p>
            <a:r>
              <a:rPr lang="zh-CN" dirty="0"/>
              <a:t>然后追加一句追问：只讨论手作体验，请说明还缺哪些资料才能确定时间。这时候它应该意识到，预约状态还没有核对过。</a:t>
            </a:r>
          </a:p>
          <a:p>
            <a:r>
              <a:rPr lang="zh-CN" dirty="0"/>
              <a:t>最后才是在材料的练习副本里，把手作人数从十人改成十三人，明确要求重新读取文件。要看的是：旧的那个容量可行的结论，会不会被撤回。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新事实进来之后，旧结论必须失效——这是这一块最想让大家看到的一件事。</a:t>
            </a:r>
          </a:p>
          <a:p>
            <a:r>
              <a:rPr lang="zh-CN" dirty="0"/>
              <a:t>原来是什么样？材料里手作是十人，房间容量是十二人，所以旧候选看起来是满足容量的，这个结论本身没错，它建立在当时的输入上。</a:t>
            </a:r>
          </a:p>
          <a:p>
            <a:r>
              <a:rPr lang="zh-CN" dirty="0"/>
              <a:t>现在独立的材料副本里，需求更新为十三人。关键动作是重新读取文件：只有真的把文件重读一遍，模型才有机会撤回旧的结论，再校验一次。校验的结果很清楚，十三大于十二，原来的安排不可行。</a:t>
            </a:r>
          </a:p>
          <a:p>
            <a:r>
              <a:rPr lang="zh-CN" dirty="0"/>
              <a:t>还有一条旁路要强调：容量仍然是十二人。如果找不到替代房间，就不能擅自去改人数来迁就方案。这个约束不能丢，它决定了我们接下来是换房间、还是缩小规模、还是另约时间。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这个追问练习怎么做，我把动作拆成三步。</a:t>
            </a:r>
          </a:p>
          <a:p>
            <a:r>
              <a:rPr lang="zh-CN" dirty="0"/>
              <a:t>第一步，在教学目录里新建任务，通过 @ 引用三份材料：requests.csv、rooms.csv 和 rules.md，然后先要求它生成一张事实与来源的对照表。</a:t>
            </a:r>
          </a:p>
          <a:p>
            <a:r>
              <a:rPr lang="zh-CN" dirty="0"/>
              <a:t>第二步，追加一句：只讨论手作体验，请说明还缺哪些资料才能确定时间。这时候它应该意识到，预约状态还没有核对过。</a:t>
            </a:r>
          </a:p>
          <a:p>
            <a:r>
              <a:rPr lang="zh-CN" dirty="0"/>
              <a:t>第三步，只在练习副本里把手作人数改成十三，明确要求重新读取文件。</a:t>
            </a:r>
          </a:p>
          <a:p>
            <a:r>
              <a:rPr lang="zh-CN" dirty="0"/>
              <a:t>接下来要看三件事。它有没有引用新值？有没有撤回容量可行的旧结论？修改前后的文件和回答有没有保留下来？</a:t>
            </a:r>
          </a:p>
          <a:p>
            <a:r>
              <a:rPr lang="zh-CN" dirty="0"/>
              <a:t>如果它继续使用十人，先核对三个动手环节：目录是不是打开了正确的那个，有没有选中同名的旧文件，以及重新读取这个动作到底有没有真的完成。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从一个任务换到另一个任务的时候，最容易犯的错是假定上下文会自动跟过去。</a:t>
            </a:r>
          </a:p>
          <a:p>
            <a:r>
              <a:rPr lang="zh-CN" dirty="0"/>
              <a:t>新建任务时不要这样假定。比较稳妥的做法是准备一份简短的交接说明，写清四件事：输入是哪些文件，已经确认了哪些约束，哪些工作还没完成，输出放在哪里。写完这四样，再去引用原始资料。</a:t>
            </a:r>
          </a:p>
          <a:p>
            <a:r>
              <a:rPr lang="zh-CN" dirty="0"/>
              <a:t>为什么不直接靠产品的记忆？因为记忆这件事要分开看。个人偏好这类稳定信息，记忆确实方便；但活动预约是会变的，人数会改，时段会被人占，所以当前查询不能被长期记忆替代。</a:t>
            </a:r>
          </a:p>
          <a:p>
            <a:r>
              <a:rPr lang="zh-CN" dirty="0"/>
              <a:t>另外，这一节没有假定 WorkBuddy 底层用哪种响应链、哪种摘要算法或哪种向量数据库。我们能验证的是它实际引用了哪些材料、生成了什么文件，以及继续追问时有没有正确使用新事实。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最后一个知识块是一次练习，也是这一节的自我检查。</a:t>
            </a:r>
          </a:p>
          <a:p>
            <a:r>
              <a:rPr lang="zh-CN" dirty="0"/>
              <a:t>我会让你为当前任务写一份不超过两百字的交接摘要，然后把它交给一个独立的任务。这里的关键词是「独立」：第二个任务只能看到这份摘要和它自己引用的资料，看不到你们之前的对话。</a:t>
            </a:r>
          </a:p>
          <a:p>
            <a:r>
              <a:rPr lang="zh-CN" dirty="0"/>
              <a:t>检查的清单有五项：活动日期留住了没有，三项活动的时长有没有，房间限制写清了没有，预约状态是不是标的「待查」，待交付的东西说明白了吗。</a:t>
            </a:r>
          </a:p>
          <a:p>
            <a:r>
              <a:rPr lang="zh-CN" dirty="0"/>
              <a:t>然后让第二个任务根据摘要回答：还需要读取哪些文件才能往下做。</a:t>
            </a:r>
          </a:p>
          <a:p>
            <a:r>
              <a:rPr lang="zh-CN" dirty="0"/>
              <a:t>这份练习真正检验的不是你的文笔，而是你对任务状态的把握。一个只会复述结论的摘要，会让第二个任务误以为事情已经办完了。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这份两百字的摘要要留住什么，我列成五项，你可以照着检查。</a:t>
            </a:r>
          </a:p>
          <a:p>
            <a:r>
              <a:rPr lang="zh-CN" dirty="0"/>
              <a:t>活动日期。三项活动的时长分别多久，这一项最容易在压缩时被丢掉。房间限制，容量多少人。预约状态，是已经查过了，还是待查。最后是待交付物，也就是这个任务最后要交出去的是什么。</a:t>
            </a:r>
          </a:p>
          <a:p>
            <a:r>
              <a:rPr lang="zh-CN" dirty="0"/>
              <a:t>写完以后交给一个独立任务，让它根据摘要回答：还需要读取哪些文件才能把方案定下来。</a:t>
            </a:r>
          </a:p>
          <a:p>
            <a:r>
              <a:rPr lang="zh-CN" dirty="0"/>
              <a:t>这个动作能暴露很多问题。如果它读完摘要就说不用再看别的了，那说明你的摘要把「待查」写成了「已确认」，完成状态被过度压缩了。</a:t>
            </a:r>
          </a:p>
          <a:p>
            <a:r>
              <a:rPr lang="zh-CN" dirty="0"/>
              <a:t>所以不要只看摘要够不够短。要看它有没有留下重新取证的入口：指向文件、指向未完成项。这两样在，第二个任务才知道自己该从哪里接手。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那什么样的摘要算好？我给两条判断标准。</a:t>
            </a:r>
          </a:p>
          <a:p>
            <a:r>
              <a:rPr lang="zh-CN" dirty="0"/>
              <a:t>第一条，看它减少不减少重复沟通，同时保留重新取证的入口。好的摘要不把所有原文复制一遍，但它会明确告诉你事实出自哪份文件、还有哪些事没有解决。第二个任务拿到它，知道从哪里接、还要读什么。</a:t>
            </a:r>
          </a:p>
          <a:p>
            <a:r>
              <a:rPr lang="zh-CN" dirty="0"/>
              <a:t>第二条，看它有没有过度压缩完成状态。如果新任务仅凭摘要就宣称所有安排都已经验证过了，这就是一个明确的信号：要么摘要把「待查」写成了「已确认」，把状态压扁了；要么这个任务根本没有建立证据检查。</a:t>
            </a:r>
          </a:p>
          <a:p>
            <a:r>
              <a:rPr lang="zh-CN" dirty="0"/>
              <a:t>这两种情况的处理方式是一样的：去修正摘要和验证流程，而不是继续延长对话、反复追问。因为问题不在沟通次数，而在状态和证据有没有被如实保留。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这一节讲完了，我留下三个可以反复使用的问题。</a:t>
            </a:r>
          </a:p>
          <a:p>
            <a:r>
              <a:rPr lang="zh-CN" dirty="0"/>
              <a:t>第一个问题，这一轮实际获得了哪些输入？指令、资料、工具结果、工作状态，具体是哪些进了这次请求。问这一句，是为了避免把「我手上有这份文件」误当成「模型看到了这份文件」。</a:t>
            </a:r>
          </a:p>
          <a:p>
            <a:r>
              <a:rPr lang="zh-CN" dirty="0"/>
              <a:t>第二个问题，哪份资料更新了？文件是不是同名的，身份、日期和指纹对不对得上。更新要靠明确的新资料去替换，不能让模型自己去猜哪一份更权威。</a:t>
            </a:r>
          </a:p>
          <a:p>
            <a:r>
              <a:rPr lang="zh-CN" dirty="0"/>
              <a:t>第三个问题，摘要保留了哪些字段，能不能回查原文件？如果一份摘要丢掉了关键约束，后面写得再流畅也补救不回来。</a:t>
            </a:r>
          </a:p>
          <a:p>
            <a:r>
              <a:rPr lang="zh-CN" dirty="0"/>
              <a:t>这三个问题的共同点是：它们都指向可以核对的东西，而不是一种感觉。下一节我们进入 2.4，讨论结构化输出与业务校验。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5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notes={`这一节要处理一个很具体的问题：一句话里的信息，怎样才算真的送到了模型面前。&#10;&#10;组织者说，还是上次那个房间，人数以新表为准。这句话听上去完整，其实藏着三件事：上次的任务是什么，房间指的是哪一个，新表和旧表之间是什么关系。这三件事如果没有实际进入本轮请求，模型就只能靠猜。&#10;&#10;所以上下文工程管的不是我们手上有多少资料，而是每一轮请求里实际带上了哪些指令、历史、文件和工具结果，它们怎么组织、怎么更新，又怎么被移出去。&#10;&#10;还有一个容易忽略的地方：带上信息的同时，要给模型的输出留出空间。带得越满，能留给回答的余地就越少。`} style={{ width: 1280, height: 720, background: '#FFFFFF', flexDirection: 'column', padding: '20px 64px' }}&gt;&#10;&#10;    &lt;Box style={{ height: 268, flexDirection: 'column', justifyContent: 'center', gap: 12 }}&gt;&#10;        &lt;Box style={{ flexDirection: 'row', alignItems: 'center', gap: 12 }}&gt;&#10;            &lt;Box style={{ width: 4, height: 20, background: '#276FBF' }} /&gt;&#10;            &lt;Text style={{ fontSize: 15, color: '#546779' }}&gt;第二章　从对话到智能体　·　2.3&lt;/Text&gt;&#10;        &lt;/Box&gt;&#10;        &lt;Text style={{ fontSize: 52, fontWeight: 'bold', color: '#20344B', lineHeight: 1.2 }}&gt;上下文工程：让模型在这一轮获得合适的信息&lt;/Text&gt;&#10;        &lt;Text style={{ fontSize: 18, color: '#546779', lineHeight: 1.65, width: 1000 }}&gt;「还是上次那个房间，人数以新表为准。」要可靠处理这句话，上次的任务、房间的身份、新旧资料的关系，都必须真正进入本轮请求。&lt;/Text&gt;&#10;    &lt;/Box&gt;&#10;&#10;    &lt;Box style={{ height: 412, flexDirection: 'column', justifyContent: 'center', gap: 16 }}&gt;&#10;&#10;        &lt;Box style={{ flexDirection: 'row', alignItems: 'center', gap: 16 }}&gt;&#10;&#10;            &lt;Box style={{ width: 300, flexDirection: 'column', gap: 10 }}&gt;&#10;                &lt;Box style={{ height: 76, background: '#EDF4FC', borderRadius: 10, padding: '0 18px', justifyContent: 'center' }}&gt;&#10;                    &lt;Text style={{ fontSize: 17, fontWeight: 'bold', color: '#276FBF' }}&gt;任务要求&lt;/Text&gt;&#10;                    &lt;Text style={{ fontSize: 14, color: '#546779' }}&gt;指令与硬约束&lt;/Text&gt;&#10;                &lt;/Box&gt;&#10;                &lt;Box style={{ height: 76, background: '#F4F7FA', borderRadius: 10, padding: '0 18px', justifyContent: 'center' }}&gt;&#10;                    &lt;Text style={{ fontSize: 17, fontWeight: 'bold', color: '#20344B' }}&gt;资料与工具结果&lt;/Text&gt;&#10;                    &lt;Text style={{ fontSize: 14, color: '#546779' }}&gt;来源、日期、适用范围&lt;/Text&gt;&#10;                &lt;/Box&gt;&#10;                &lt;Box style={{ height: 76, background: '#ECF7F2', borderRadius: 10, padding: '0 18px', justifyContent: 'center' }}&gt;&#10;                    &lt;Text style={{ fontSize: 17, fontWeight: 'bold', color: '#26816B' }}&gt;当前工作状态&lt;/Text&gt;&#10;                    &lt;Text style={{ fontSize: 14, color: '#546779' }}&gt;候选、错误与待确认项&lt;/Text&gt;&#10;                &lt;/Box&gt;&#10;            &lt;/Box&gt;&#10;&#10;            &lt;Box style={{ width: 44, justifyContent: 'center', alignItems: 'center' }}&gt;&#10;                &lt;Text style={{ fontSize: 30, color: '#276FBF' }}&gt;›&lt;/Text&gt;&#10;            &lt;/Box&gt;&#10;&#10;            &lt;Box style={{ width: 200, height: 248, background: '#ECF7F2', borderRadius: 12, padding: '0 20px', justifyContent: 'center' }}&gt;&#10;                &lt;Text style={{ fontSize: 20, fontWeight: 'bold', color: '#26816B' }}&gt;筛选与压缩&lt;/Text&gt;&#10;                &lt;Text style={{ fontSize: 15, color: '#20344B', lineHeight: 1.65 }}&gt;先去无关，{'\n'}再保留证据&lt;/Text&gt;&#10;            &lt;/Box&gt;&#10;&#10;            &lt;Box style={{ width: 44, justifyContent: 'center', alignItems: 'center' }}&gt;&#10;                &lt;Text style={{ fontSize: 30, color: '#276FBF' }}&gt;›&lt;/Text&gt;&#10;            &lt;/Box&gt;&#10;&#10;            &lt;Box style={{ width: 440, height: 248, background: '#EDF4FC', borderRadius: 12, padding: '0 24px', justifyContent: 'center' }}&gt;&#10;                &lt;Text style={{ fontSize: 20, fontWeight: 'bold', color: '#276FBF' }}&gt;本轮输入&lt;/Text&gt;&#10;                &lt;Text style={{ fontSize: 15, color: '#20344B', lineHeight: 1.7 }}&gt;事实、来源、状态{'\n'}完整保留关键约束&lt;/Text&gt;&#10;            &lt;/Box&gt;&#10;&#10;        &lt;/Box&gt;&#10;&#10;        &lt;Box style={{ flexDirection: 'row', alignItems: 'center', gap: 14, background: '#FFF4E6', borderRadius: 10, padding: '14px 20px' }}&gt;&#10;            &lt;Box style={{ width: 3, height: 34, background: '#CB6B28' }} /&gt;&#10;            &lt;Text style={{ fontSize: 16, color: '#CB6B28', lineHeight: 1.6 }}&gt;另为输出预留空间；图形面积不表示 Token 比例&lt;/Text&gt;&#10;        &lt;/Box&gt;&#10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609600" y="561975"/>
            <a:ext cx="38100" cy="190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762000" y="571500"/>
            <a:ext cx="2095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第二章　从对话到智能体　·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2.3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866775"/>
            <a:ext cx="10972800" cy="7143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上下文工程：让模型在这一轮获得合适的信息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09600" y="1695450"/>
            <a:ext cx="95250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「还是上次那个房间，人数以新表为准。」要可靠处理这句话，上次的任务、房间的身份、新旧资料的关系，都必须真正进入本轮请求。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609600" y="3152775"/>
            <a:ext cx="2857500" cy="723900"/>
          </a:xfrm>
          <a:prstGeom prst="roundRect">
            <a:avLst>
              <a:gd name="adj" fmla="val 1315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781050" y="3333750"/>
            <a:ext cx="2514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任务要求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781050" y="3533775"/>
            <a:ext cx="2514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指令与硬约束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609600" y="3971925"/>
            <a:ext cx="2857500" cy="723900"/>
          </a:xfrm>
          <a:prstGeom prst="roundRect">
            <a:avLst>
              <a:gd name="adj" fmla="val 1315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781050" y="4152900"/>
            <a:ext cx="2514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资料与工具结果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781050" y="4352925"/>
            <a:ext cx="2514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来源、日期、适用范围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609600" y="4791075"/>
            <a:ext cx="2857500" cy="723900"/>
          </a:xfrm>
          <a:prstGeom prst="roundRect">
            <a:avLst>
              <a:gd name="adj" fmla="val 1315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781050" y="4972050"/>
            <a:ext cx="2514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当前工作状态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781050" y="5172075"/>
            <a:ext cx="2514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候选、错误与待确认项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3781425" y="4162425"/>
            <a:ext cx="1047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4191000" y="3152775"/>
            <a:ext cx="1905000" cy="2362200"/>
          </a:xfrm>
          <a:prstGeom prst="roundRect">
            <a:avLst>
              <a:gd name="adj" fmla="val 6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4381500" y="3933825"/>
            <a:ext cx="1524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筛选与压缩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4381500" y="4162425"/>
            <a:ext cx="1524000" cy="5715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先去无关，</a:t>
            </a:r>
            <a:endParaRPr/>
          </a:p>
          <a:p>
            <a:pPr>
              <a:lnSpc>
                <a:spcPct val="16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再保留证据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6410325" y="4162425"/>
            <a:ext cx="1047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6819900" y="3152775"/>
            <a:ext cx="4191000" cy="2362200"/>
          </a:xfrm>
          <a:prstGeom prst="roundRect">
            <a:avLst>
              <a:gd name="adj" fmla="val 483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7048500" y="3924300"/>
            <a:ext cx="3733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本轮输入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7048500" y="4152900"/>
            <a:ext cx="3733800" cy="590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事实、来源、状态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完整保留关键约束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609600" y="5667375"/>
            <a:ext cx="10972800" cy="590550"/>
          </a:xfrm>
          <a:prstGeom prst="roundRect">
            <a:avLst>
              <a:gd name="adj" fmla="val 1612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5" name=""/>
          <p:cNvSpPr/>
          <p:nvPr/>
        </p:nvSpPr>
        <p:spPr>
          <a:xfrm rot="0" flipH="0" flipV="0">
            <a:off x="800100" y="5800725"/>
            <a:ext cx="28575" cy="3238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962025" y="5819775"/>
            <a:ext cx="326707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另为输出预留空间；图形面积不表示</a:t>
            </a:r>
            <a:r>
              <a:rPr lang="en-US" sz="1200">
                <a:solidFill>
                  <a:srgbClr val="CB6B28"/>
                </a:solidFill>
                <a:latin typeface="Microsoft YaHei"/>
                <a:ea typeface="Microsoft YaHei"/>
              </a:rPr>
              <a:t xml:space="preserve"> Token </a:t>
            </a: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比例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306" name="" descr="&lt;Slide notes={`这一节有六个知识块，回答同一组问题：每一轮请求，到底该带上什么。&#10;&#10;第一个知识块先分来源。行为要求、任务资料、外部查询结果和工作状态写在同一段文字里，读起来很顺，但来源不能混，否则分不清哪句是查到的、哪句是猜的。&#10;&#10;第二个知识块讲容量。上下文窗口有限，还要给输出留空间，所以全部聊天、文件和工具结果不能一直追加。&#10;&#10;第三和第四个知识块讲状态怎么传。一条是应用自己保存历史，把上一轮完整输出加到下一次输入里；另一条是用响应 ID 让服务端接起两轮。选一条就够，不必叠加。&#10;&#10;第五个知识块换到产品里：用文件引用和追问，检验新事实出现后旧结论会不会被撤回。&#10;&#10;最后一个知识块是练习：写一份两百字以内的交接摘要，交给一个独立任务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本节导读&lt;/Text&gt;&#10;            &lt;Text style={{ fontSize: 34, fontWeight: 'bold', color: '#20344B' }}&gt;每轮请求，都要重新决定带上什么&lt;/Text&gt;&#10;        &lt;/Box&gt;&#10;    &lt;/Box&gt;&#10;&#10;    &lt;Box style={{ height: 540, flexDirection: 'row', gap: 40 }}&gt;&#10;&#10;        &lt;Box style={{ width: 340, flexDirection: 'column', justifyContent: 'center', gap: 16 }}&gt;&#10;            &lt;Text style={{ fontSize: 25, fontWeight: 'bold', color: '#276FBF', lineHeight: 1.45 }}&gt;这次到底带上了什么？&lt;/Text&gt;&#10;            &lt;Box style={{ width: 56, height: 3, background: '#26816B' }} /&gt;&#10;            &lt;Text style={{ fontSize: 17, color: '#546779', lineHeight: 1.75 }}&gt;六个知识块从「怎么分」走到「怎么判断」：先分清来源，再处理容量，然后看两条状态传递路线，换到产品里追问一次，最后用一份交接摘要收口。&lt;/Text&gt;&#10;        &lt;/Box&gt;&#10;&#10;        &lt;Box style={{ flex: 1, flexDirection: 'column', justifyContent: 'center', gap: 10 }}&gt;&#10;&#10;            &lt;Box style={{ flexDirection: 'row', gap: 16, alignItems: 'center' }}&gt;&#10;                &lt;Box style={{ width: 44, height: 44, borderRadius: 8, background: '#276FBF', justifyContent: 'center', alignItems: 'center' }}&gt;&#10;                    &lt;Text style={{ fontSize: 18, fontWeight: 'bold', color: '#FFFFFF' }}&gt;01&lt;/Text&gt;&#10;                &lt;/Box&gt;&#10;                &lt;Box style={{ flexDirection: 'column', gap: 2 }}&gt;&#10;                    &lt;Text style={{ fontSize: 20, fontWeight: 'bold', color: '#20344B' }}&gt;内容可以放在一起，来源不能混在一起&lt;/Text&gt;&#10;                    &lt;Text style={{ fontSize: 16, color: '#546779' }}&gt;四种内容各是什么，各自该怎样使用&lt;/Text&gt;&#10;                &lt;/Box&gt;&#10;            &lt;/Box&gt;&#10;&#10;            &lt;Box style={{ flexDirection: 'row', gap: 16, alignItems: 'center' }}&gt;&#10;                &lt;Box style={{ width: 44, height: 44, borderRadius: 8, background: '#276FBF', justifyContent: 'center', alignItems: 'center' }}&gt;&#10;                    &lt;Text style={{ fontSize: 18, fontWeight: 'bold', color: '#FFFFFF' }}&gt;02&lt;/Text&gt;&#10;                &lt;/Box&gt;&#10;                &lt;Box style={{ flexDirection: 'column', gap: 2 }}&gt;&#10;                    &lt;Text style={{ fontSize: 20, fontWeight: 'bold', color: '#20344B' }}&gt;长上下文不是无限记忆&lt;/Text&gt;&#10;                    &lt;Text style={{ fontSize: 16, color: '#546779' }}&gt;窗口有限，还要给输出与推理留出空间&lt;/Text&gt;&#10;                &lt;/Box&gt;&#10;            &lt;/Box&gt;&#10;&#10;            &lt;Box style={{ flexDirection: 'row', gap: 16, alignItems: 'center' }}&gt;&#10;                &lt;Box style={{ width: 44, height: 44, borderRadius: 8, background: '#276FBF', justifyContent: 'center', alignItems: 'center' }}&gt;&#10;                    &lt;Text style={{ fontSize: 18, fontWeight: 'bold', color: '#FFFFFF' }}&gt;03&lt;/Text&gt;&#10;                &lt;/Box&gt;&#10;                &lt;Box style={{ flexDirection: 'column', gap: 2 }}&gt;&#10;                    &lt;Text style={{ fontSize: 20, fontWeight: 'bold', color: '#20344B' }}&gt;OpenAI API：手工保留多轮状态&lt;/Text&gt;&#10;                    &lt;Text style={{ fontSize: 16, color: '#546779' }}&gt;保存原输入，把完整输出加入下一次输入&lt;/Text&gt;&#10;                &lt;/Box&gt;&#10;            &lt;/Box&gt;&#10;&#10;            &lt;Box style={{ flexDirection: 'row', gap: 16, alignItems: 'center' }}&gt;&#10;                &lt;Box style={{ width: 44, height: 44, borderRadius: 8, background: '#26816B', justifyContent: 'center', alignItems: 'center' }}&gt;&#10;                    &lt;Text style={{ fontSize: 18, fontWeight: 'bold', color: '#FFFFFF' }}&gt;04&lt;/Text&gt;&#10;                &lt;/Box&gt;&#10;                &lt;Box style={{ flexDirection: 'column', gap: 2 }}&gt;&#10;                    &lt;Text style={{ fontSize: 20, fontWeight: 'bold', color: '#20344B' }}&gt;另一种方式：引用前一次响应&lt;/Text&gt;&#10;                    &lt;Text style={{ fontSize: 16, color: '#546779' }}&gt;用 previous_response_id 衔接会话，边界要清楚&lt;/Text&gt;&#10;                &lt;/Box&gt;&#10;            &lt;/Box&gt;&#10;&#10;            &lt;Box style={{ flexDirection: 'row', gap: 16, alignItems: 'center' }}&gt;&#10;                &lt;Box style={{ width: 44, height: 44, borderRadius: 8, background: '#26816B', justifyContent: 'center', alignItems: 'center' }}&gt;&#10;                    &lt;Text style={{ fontSize: 18, fontWeight: 'bold', color: '#FFFFFF' }}&gt;05&lt;/Text&gt;&#10;                &lt;/Box&gt;&#10;                &lt;Box style={{ flexDirection: 'column', gap: 2 }}&gt;&#10;                    &lt;Text style={{ fontSize: 20, fontWeight: 'bold', color: '#20344B' }}&gt;WorkBuddy：文件引用、追问与交接&lt;/Text&gt;&#10;                    &lt;Text style={{ fontSize: 16, color: '#546779' }}&gt;新事实出现后，旧结论会不会被撤回&lt;/Text&gt;&#10;                &lt;/Box&gt;&#10;            &lt;/Box&gt;&#10;&#10;            &lt;Box style={{ flexDirection: 'row', gap: 16, alignItems: 'center' }}&gt;&#10;                &lt;Box style={{ width: 44, height: 44, borderRadius: 8, background: '#CB6B28', justifyContent: 'center', alignItems: 'center' }}&gt;&#10;                    &lt;Text style={{ fontSize: 18, fontWeight: 'bold', color: '#FFFFFF' }}&gt;06&lt;/Text&gt;&#10;                &lt;/Box&gt;&#10;                &lt;Box style={{ flexDirection: 'column', gap: 2 }}&gt;&#10;                    &lt;Text style={{ fontSize: 20, fontWeight: 'bold', color: '#20344B' }}&gt;失败诊断与练习&lt;/Text&gt;&#10;                    &lt;Text style={{ fontSize: 16, color: '#546779' }}&gt;二百字交接摘要，交给一个独立任务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3 上下文工程&lt;/Text&gt;&#10;        &lt;Text style={{ fontSize: 14, color: '#546779' }}&gt;02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85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本节导读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8577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每轮请求，都要重新决定带上什么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609600" y="2657475"/>
            <a:ext cx="3238500" cy="4191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875" b="1">
                <a:solidFill>
                  <a:srgbClr val="276FBF"/>
                </a:solidFill>
                <a:latin typeface="Microsoft YaHei"/>
                <a:ea typeface="Microsoft YaHei"/>
              </a:rPr>
              <a:t>这次到底带上了什么？</a:t>
            </a:r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609600" y="3228975"/>
            <a:ext cx="533400" cy="28575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609600" y="3409950"/>
            <a:ext cx="3238500" cy="1362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六个知识块从「怎么分」走到「怎么判断」：先分清来源，再处理容量，然后看两条状态传递路线，换到产品里追问一次，最后用一份交接摘要收口。</a:t>
            </a:r>
            <a:endParaRPr/>
          </a:p>
        </p:txBody>
      </p:sp>
      <p:sp>
        <p:nvSpPr>
          <p:cNvPr id="314" name=""/>
          <p:cNvSpPr/>
          <p:nvPr/>
        </p:nvSpPr>
        <p:spPr>
          <a:xfrm rot="0" flipH="0" flipV="0">
            <a:off x="4229100" y="21717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4333875" y="2276475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4800600" y="2162175"/>
            <a:ext cx="3238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内容可以放在一起，来源不能混在一起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4800600" y="2409825"/>
            <a:ext cx="3238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四种内容各是什么，各自该怎样使用</a:t>
            </a:r>
            <a:endParaRPr/>
          </a:p>
        </p:txBody>
      </p:sp>
      <p:sp>
        <p:nvSpPr>
          <p:cNvPr id="318" name=""/>
          <p:cNvSpPr/>
          <p:nvPr/>
        </p:nvSpPr>
        <p:spPr>
          <a:xfrm rot="0" flipH="0" flipV="0">
            <a:off x="4229100" y="27051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4333875" y="2809875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4800600" y="2695575"/>
            <a:ext cx="2590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长上下文不是无限记忆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4800600" y="2943225"/>
            <a:ext cx="2590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窗口有限，还要给输出与推理留出空间</a:t>
            </a:r>
            <a:endParaRPr/>
          </a:p>
        </p:txBody>
      </p:sp>
      <p:sp>
        <p:nvSpPr>
          <p:cNvPr id="322" name=""/>
          <p:cNvSpPr/>
          <p:nvPr/>
        </p:nvSpPr>
        <p:spPr>
          <a:xfrm rot="0" flipH="0" flipV="0">
            <a:off x="4229100" y="32385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4333875" y="3343275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4800600" y="3228975"/>
            <a:ext cx="28289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>OpenAI API</a:t>
            </a: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：手工保留多轮状态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4800600" y="3476625"/>
            <a:ext cx="2828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保存原输入，把完整输出加入下一次输入</a:t>
            </a:r>
            <a:endParaRPr/>
          </a:p>
        </p:txBody>
      </p:sp>
      <p:sp>
        <p:nvSpPr>
          <p:cNvPr id="326" name=""/>
          <p:cNvSpPr/>
          <p:nvPr/>
        </p:nvSpPr>
        <p:spPr>
          <a:xfrm rot="0" flipH="0" flipV="0">
            <a:off x="4229100" y="37719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4333875" y="3876675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4800600" y="3762375"/>
            <a:ext cx="3324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另一种方式：引用前一次响应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4800600" y="4010025"/>
            <a:ext cx="33242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用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previous_response_id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衔接会话，边界要清楚</a:t>
            </a:r>
            <a:endParaRPr/>
          </a:p>
        </p:txBody>
      </p:sp>
      <p:sp>
        <p:nvSpPr>
          <p:cNvPr id="330" name=""/>
          <p:cNvSpPr/>
          <p:nvPr/>
        </p:nvSpPr>
        <p:spPr>
          <a:xfrm rot="0" flipH="0" flipV="0">
            <a:off x="4229100" y="43053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4333875" y="4410075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4800600" y="4295775"/>
            <a:ext cx="3238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>WorkBuddy</a:t>
            </a: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：文件引用、追问与交接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4800600" y="4543425"/>
            <a:ext cx="3238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新事实出现后，旧结论会不会被撤回</a:t>
            </a:r>
            <a:endParaRPr/>
          </a:p>
        </p:txBody>
      </p:sp>
      <p:sp>
        <p:nvSpPr>
          <p:cNvPr id="334" name=""/>
          <p:cNvSpPr/>
          <p:nvPr/>
        </p:nvSpPr>
        <p:spPr>
          <a:xfrm rot="0" flipH="0" flipV="0">
            <a:off x="4229100" y="48387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4333875" y="4943475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4800600" y="4829175"/>
            <a:ext cx="2438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失败诊断与练习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4800600" y="5076825"/>
            <a:ext cx="2438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二百字交接摘要，交给一个独立任务</a:t>
            </a:r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上下文工程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02 / 25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504" name="" descr="&lt;Slide notes={`先说第一个知识块，它是后面所有讨论的地基。&#10;&#10;我们平时写提示，是把很多东西写在同一段文字里的：有对做事方法的要求，有这次任务用到的资料，有工具查回来的结果，还有当前做到哪一步的状态。它们写在一起读起来很顺，但来源其实是四件不同的事。&#10;&#10;来源分开，才能回答关键的问题。查回来的结果，要能说出是哪个工具、查的是哪一天、范围到哪里；工作状态只能说&quot;已经提取约束、方案还没校验&quot;，不能冒充成已经完成的事实。&#10;&#10;一旦这些来源被混成一句话，我们就失去了追问的入口。后面出现错误的时候，也分不清是资料本身不对、查询范围不对，还是方案根本没校验过。`} style={{ width: 1280, height: 720, background: '#FFFFFF', flexDirection: 'column', padding: '20px 64px' }}&gt;&#10;&#10;    &lt;Box style={{ height: 540, flexDirection: 'column', justifyContent: 'center', gap: 20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8, fontWeight: 'bold', color: '#FFFFFF' }}&gt;01&lt;/Text&gt;&#10;            &lt;/Box&gt;&#10;            &lt;Text style={{ fontSize: 16, color: '#546779' }}&gt;2.3.1&lt;/Text&gt;&#10;        &lt;/Box&gt;&#10;&#10;        &lt;Text style={{ fontSize: 56, fontWeight: 'bold', color: '#20344B', lineHeight: 1.15 }}&gt;内容可以放在一起，来源不能混在一起&lt;/Text&gt;&#10;&#10;        &lt;Box style={{ width: 640, height: 4, background: '#276FBF' }} /&gt;&#10;&#10;        &lt;Text style={{ fontSize: 19, color: '#546779', lineHeight: 1.7 }}&gt;一段文字里混着四种来源，读起来顺，不等于分得清。&lt;/Text&gt;&#10;&#10;        &lt;Box style={{ marginTop: 8, flexDirection: 'row', alignItems: 'center', gap: 12 }}&gt;&#10;            &lt;Box style={{ width: 250, height: 56, background: '#EDF4FC', borderRadius: 8, justifyContent: 'center', alignItems: 'center' }}&gt;&#10;                &lt;Text style={{ fontSize: 15, color: '#276FBF' }}&gt;行为要求&lt;/Text&gt;&#10;            &lt;/Box&gt;&#10;            &lt;Box style={{ width: 250, height: 56, background: '#F4F7FA', borderRadius: 8, justifyContent: 'center', alignItems: 'center' }}&gt;&#10;                &lt;Text style={{ fontSize: 15, color: '#20344B' }}&gt;任务资料&lt;/Text&gt;&#10;            &lt;/Box&gt;&#10;            &lt;Box style={{ width: 250, height: 56, background: '#ECF7F2', borderRadius: 8, justifyContent: 'center', alignItems: 'center' }}&gt;&#10;                &lt;Text style={{ fontSize: 15, color: '#26816B' }}&gt;外部查询结果&lt;/Text&gt;&#10;            &lt;/Box&gt;&#10;            &lt;Box style={{ width: 250, height: 56, background: '#FFF4E6', borderRadius: 8, justifyContent: 'center', alignItems: 'center' }}&gt;&#10;                &lt;Text style={{ fontSize: 15, color: '#CB6B28' }}&gt;工作状态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3 上下文工程&lt;/Text&gt;&#10;        &lt;Text style={{ fontSize: 14, color: '#546779' }}&gt;03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6" name=""/>
          <p:cNvSpPr/>
          <p:nvPr/>
        </p:nvSpPr>
        <p:spPr>
          <a:xfrm rot="0" flipH="0" flipV="0">
            <a:off x="609600" y="1238250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714375" y="1343025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1295400" y="1409700"/>
            <a:ext cx="34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2.3.1</a:t>
            </a:r>
            <a:endParaRPr/>
          </a:p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609600" y="196215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内容可以放在一起，来源不能混在一起</a:t>
            </a:r>
            <a:endParaRPr/>
          </a:p>
        </p:txBody>
      </p:sp>
      <p:sp>
        <p:nvSpPr>
          <p:cNvPr id="510" name=""/>
          <p:cNvSpPr/>
          <p:nvPr/>
        </p:nvSpPr>
        <p:spPr>
          <a:xfrm rot="0" flipH="0" flipV="0">
            <a:off x="609600" y="2895600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609600" y="31242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一段文字里混着四种来源，读起来顺，不等于分得清。</a:t>
            </a:r>
            <a:endParaRPr/>
          </a:p>
        </p:txBody>
      </p:sp>
      <p:sp>
        <p:nvSpPr>
          <p:cNvPr id="512" name=""/>
          <p:cNvSpPr/>
          <p:nvPr/>
        </p:nvSpPr>
        <p:spPr>
          <a:xfrm rot="0" flipH="0" flipV="0">
            <a:off x="609600" y="3762375"/>
            <a:ext cx="238125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1514475" y="39433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行为要求</a:t>
            </a:r>
            <a:endParaRPr/>
          </a:p>
        </p:txBody>
      </p:sp>
      <p:sp>
        <p:nvSpPr>
          <p:cNvPr id="514" name=""/>
          <p:cNvSpPr/>
          <p:nvPr/>
        </p:nvSpPr>
        <p:spPr>
          <a:xfrm rot="0" flipH="0" flipV="0">
            <a:off x="3105150" y="3762375"/>
            <a:ext cx="2381250" cy="533400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4010025" y="39433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任务资料</a:t>
            </a:r>
            <a:endParaRPr/>
          </a:p>
        </p:txBody>
      </p:sp>
      <p:sp>
        <p:nvSpPr>
          <p:cNvPr id="516" name=""/>
          <p:cNvSpPr/>
          <p:nvPr/>
        </p:nvSpPr>
        <p:spPr>
          <a:xfrm rot="0" flipH="0" flipV="0">
            <a:off x="5600700" y="3762375"/>
            <a:ext cx="2381250" cy="533400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6362700" y="394335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外部查询结果</a:t>
            </a:r>
            <a:endParaRPr/>
          </a:p>
        </p:txBody>
      </p:sp>
      <p:sp>
        <p:nvSpPr>
          <p:cNvPr id="518" name=""/>
          <p:cNvSpPr/>
          <p:nvPr/>
        </p:nvSpPr>
        <p:spPr>
          <a:xfrm rot="0" flipH="0" flipV="0">
            <a:off x="8096250" y="3762375"/>
            <a:ext cx="2381250" cy="533400"/>
          </a:xfrm>
          <a:prstGeom prst="roundRect">
            <a:avLst>
              <a:gd name="adj" fmla="val 1428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9001125" y="39433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工作状态</a:t>
            </a:r>
            <a:endParaRPr/>
          </a:p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609600" y="54483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上下文工程</a:t>
            </a:r>
            <a:endParaRPr/>
          </a:p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11125200" y="5448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03 / 25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522" name="" descr="&lt;Slide notes={`青禾助手至少需要辨认四类内容，我一条一条说它们的用法。&#10;&#10;第一类是行为要求，比如不编造预约、提交之前先运行检查。它管的是这次工作用什么方法，不提供事实。&#10;&#10;第二类是任务资料，比如活动人数、房间容量、允许时段。它是我们生成候选方案的依据。&#10;&#10;第三类是外部查询结果，比如某个日期某个房间已经有预约。这一类的使用方式最讲究：必须按工具来源和查询范围来解释，不能把它当成永久事实。&#10;&#10;第四类是工作状态，比如已经提取了约束、方案还没校验。它决定下一步做什么，而不能冒充成已经完成的事实。&#10;&#10;把这四条分开，好处是出了问题能定位。是资料本身写错了，是查询范围没覆盖，还是方案压根没校验过，一看就知道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3.1　内容可以放在一起，来源不能混在一起&lt;/Text&gt;&#10;            &lt;Text style={{ fontSize: 34, fontWeight: 'bold', color: '#20344B' }}&gt;四类内容，各自怎样使用&lt;/Text&gt;&#10;        &lt;/Box&gt;&#10;    &lt;/Box&gt;&#10;&#10;    &lt;Box style={{ height: 540, flexDirection: 'column', justifyContent: 'center', gap: 12 }}&gt;&#10;&#10;        &lt;Box style={{ flexDirection: 'row', padding: '0 18px', gap: 18, alignItems: 'center' }}&gt;&#10;            &lt;Box style={{ width: 4 }} /&gt;&#10;            &lt;Box style={{ width: 150 }}&gt;&lt;Text style={{ fontSize: 15, fontWeight: 'bold', color: '#546779' }}&gt;内容&lt;/Text&gt;&lt;/Box&gt;&#10;            &lt;Box style={{ width: 330 }}&gt;&lt;Text style={{ fontSize: 15, fontWeight: 'bold', color: '#546779' }}&gt;例子&lt;/Text&gt;&lt;/Box&gt;&#10;            &lt;Box style={{ width: 520 }}&gt;&lt;Text style={{ fontSize: 15, fontWeight: 'bold', color: '#546779' }}&gt;应当怎样使用&lt;/Text&gt;&lt;/Box&gt;&#10;        &lt;/Box&gt;&#10;&#10;        &lt;Box style={{ flexDirection: 'row', height: 96, background: '#F4F7FA', borderRadius: 10, padding: '0 18px', alignItems: 'center', gap: 18 }}&gt;&#10;            &lt;Box style={{ width: 4, height: 56, background: '#276FBF' }} /&gt;&#10;            &lt;Box style={{ width: 150 }}&gt;&lt;Text style={{ fontSize: 20, fontWeight: 'bold', color: '#20344B' }}&gt;行为要求&lt;/Text&gt;&lt;/Box&gt;&#10;            &lt;Box style={{ width: 330 }}&gt;&lt;Text style={{ fontSize: 15, color: '#546779', lineHeight: 1.6 }}&gt;不编造预约；提交前运行检查&lt;/Text&gt;&lt;/Box&gt;&#10;            &lt;Box style={{ width: 520 }}&gt;&lt;Text style={{ fontSize: 16, color: '#20344B', lineHeight: 1.6 }}&gt;指导本次工作方法&lt;/Text&gt;&lt;/Box&gt;&#10;        &lt;/Box&gt;&#10;&#10;        &lt;Box style={{ flexDirection: 'row', height: 96, background: '#F4F7FA', borderRadius: 10, padding: '0 18px', alignItems: 'center', gap: 18 }}&gt;&#10;            &lt;Box style={{ width: 4, height: 56, background: '#276FBF' }} /&gt;&#10;            &lt;Box style={{ width: 150 }}&gt;&lt;Text style={{ fontSize: 20, fontWeight: 'bold', color: '#20344B' }}&gt;任务资料&lt;/Text&gt;&lt;/Box&gt;&#10;            &lt;Box style={{ width: 330 }}&gt;&lt;Text style={{ fontSize: 15, color: '#546779', lineHeight: 1.6 }}&gt;活动人数、房间容量、允许时间&lt;/Text&gt;&lt;/Box&gt;&#10;            &lt;Box style={{ width: 520 }}&gt;&lt;Text style={{ fontSize: 16, color: '#20344B', lineHeight: 1.6 }}&gt;作为生成候选的依据&lt;/Text&gt;&lt;/Box&gt;&#10;        &lt;/Box&gt;&#10;&#10;        &lt;Box style={{ flexDirection: 'row', height: 96, background: '#ECF7F2', borderRadius: 10, padding: '0 18px', alignItems: 'center', gap: 18 }}&gt;&#10;            &lt;Box style={{ width: 4, height: 56, background: '#26816B' }} /&gt;&#10;            &lt;Box style={{ width: 150 }}&gt;&lt;Text style={{ fontSize: 20, fontWeight: 'bold', color: '#26816B' }}&gt;外部查询结果&lt;/Text&gt;&lt;/Box&gt;&#10;            &lt;Box style={{ width: 330 }}&gt;&lt;Text style={{ fontSize: 15, color: '#546779', lineHeight: 1.6 }}&gt;某日期某房间已有预约&lt;/Text&gt;&lt;/Box&gt;&#10;            &lt;Box style={{ width: 520 }}&gt;&lt;Text style={{ fontSize: 16, color: '#20344B', lineHeight: 1.6 }}&gt;按工具来源和查询范围解释&lt;/Text&gt;&lt;/Box&gt;&#10;        &lt;/Box&gt;&#10;&#10;        &lt;Box style={{ flexDirection: 'row', height: 96, background: '#F4F7FA', borderRadius: 10, padding: '0 18px', alignItems: 'center', gap: 18 }}&gt;&#10;            &lt;Box style={{ width: 4, height: 56, background: '#26816B' }} /&gt;&#10;            &lt;Box style={{ width: 150 }}&gt;&lt;Text style={{ fontSize: 20, fontWeight: 'bold', color: '#20344B' }}&gt;工作状态&lt;/Text&gt;&lt;/Box&gt;&#10;            &lt;Box style={{ width: 330 }}&gt;&lt;Text style={{ fontSize: 15, color: '#546779', lineHeight: 1.6 }}&gt;已提取约束，方案尚未校验&lt;/Text&gt;&lt;/Box&gt;&#10;            &lt;Box style={{ width: 520 }}&gt;&lt;Text style={{ fontSize: 16, color: '#20344B', lineHeight: 1.6 }}&gt;决定下一步，不冒充完成事实&lt;/Text&gt;&lt;/Box&gt;&#10;        &lt;/Box&gt;&#10;&#10;    &lt;/Box&gt;&#10;&#10;    &lt;Box style={{ height: 40, flexDirection: 'row', justifyContent: 'space-between', alignItems: 'center' }}&gt;&#10;        &lt;Text style={{ fontSize: 14, color: '#546779' }}&gt;2.3 上下文工程&lt;/Text&gt;&#10;        &lt;Text style={{ fontSize: 14, color: '#546779' }}&gt;04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2.3.1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内容可以放在一起，来源不能混在一起</a:t>
            </a:r>
            <a:endParaRPr/>
          </a:p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四类内容，各自怎样使用</a:t>
            </a:r>
            <a:endParaRPr/>
          </a:p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990600" y="1571625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内容</a:t>
            </a:r>
            <a:endParaRPr/>
          </a:p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2590800" y="1571625"/>
            <a:ext cx="3143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例子</a:t>
            </a:r>
            <a:endParaRPr/>
          </a:p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5905500" y="1571625"/>
            <a:ext cx="495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应当怎样使用</a:t>
            </a:r>
            <a:endParaRPr/>
          </a:p>
        </p:txBody>
      </p:sp>
      <p:sp>
        <p:nvSpPr>
          <p:cNvPr id="530" name=""/>
          <p:cNvSpPr/>
          <p:nvPr/>
        </p:nvSpPr>
        <p:spPr>
          <a:xfrm rot="0" flipH="0" flipV="0">
            <a:off x="609600" y="1857375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31" name=""/>
          <p:cNvSpPr/>
          <p:nvPr/>
        </p:nvSpPr>
        <p:spPr>
          <a:xfrm rot="0" flipH="0" flipV="0">
            <a:off x="781050" y="2047875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990600" y="2200275"/>
            <a:ext cx="1428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行为要求</a:t>
            </a:r>
            <a:endParaRPr/>
          </a:p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2590800" y="2181225"/>
            <a:ext cx="31432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不编造预约；提交前运行检查</a:t>
            </a:r>
            <a:endParaRPr/>
          </a:p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5905500" y="2171700"/>
            <a:ext cx="49530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指导本次工作方法</a:t>
            </a:r>
            <a:endParaRPr/>
          </a:p>
        </p:txBody>
      </p:sp>
      <p:sp>
        <p:nvSpPr>
          <p:cNvPr id="535" name=""/>
          <p:cNvSpPr/>
          <p:nvPr/>
        </p:nvSpPr>
        <p:spPr>
          <a:xfrm rot="0" flipH="0" flipV="0">
            <a:off x="609600" y="2886075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36" name=""/>
          <p:cNvSpPr/>
          <p:nvPr/>
        </p:nvSpPr>
        <p:spPr>
          <a:xfrm rot="0" flipH="0" flipV="0">
            <a:off x="781050" y="3076575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990600" y="3228975"/>
            <a:ext cx="1428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任务资料</a:t>
            </a:r>
            <a:endParaRPr/>
          </a:p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2590800" y="3209925"/>
            <a:ext cx="31432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活动人数、房间容量、允许时间</a:t>
            </a:r>
            <a:endParaRPr/>
          </a:p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5905500" y="3200400"/>
            <a:ext cx="49530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作为生成候选的依据</a:t>
            </a:r>
            <a:endParaRPr/>
          </a:p>
        </p:txBody>
      </p:sp>
      <p:sp>
        <p:nvSpPr>
          <p:cNvPr id="540" name=""/>
          <p:cNvSpPr/>
          <p:nvPr/>
        </p:nvSpPr>
        <p:spPr>
          <a:xfrm rot="0" flipH="0" flipV="0">
            <a:off x="609600" y="3914775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41" name=""/>
          <p:cNvSpPr/>
          <p:nvPr/>
        </p:nvSpPr>
        <p:spPr>
          <a:xfrm rot="0" flipH="0" flipV="0">
            <a:off x="781050" y="4105275"/>
            <a:ext cx="38100" cy="5334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42" name="" descr="{&quot;isTemplate&quot;:true,&quot;type&quot;:&quot;text&quot;}"/>
          <p:cNvSpPr txBox="1"/>
          <p:nvPr/>
        </p:nvSpPr>
        <p:spPr>
          <a:xfrm rot="0" flipH="0" flipV="0">
            <a:off x="990600" y="4257675"/>
            <a:ext cx="1428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外部查询结果</a:t>
            </a:r>
            <a:endParaRPr/>
          </a:p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2590800" y="4238625"/>
            <a:ext cx="31432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某日期某房间已有预约</a:t>
            </a:r>
            <a:endParaRPr/>
          </a:p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5905500" y="4229100"/>
            <a:ext cx="49530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按工具来源和查询范围解释</a:t>
            </a:r>
            <a:endParaRPr/>
          </a:p>
        </p:txBody>
      </p:sp>
      <p:sp>
        <p:nvSpPr>
          <p:cNvPr id="545" name=""/>
          <p:cNvSpPr/>
          <p:nvPr/>
        </p:nvSpPr>
        <p:spPr>
          <a:xfrm rot="0" flipH="0" flipV="0">
            <a:off x="609600" y="4943475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46" name=""/>
          <p:cNvSpPr/>
          <p:nvPr/>
        </p:nvSpPr>
        <p:spPr>
          <a:xfrm rot="0" flipH="0" flipV="0">
            <a:off x="781050" y="5133975"/>
            <a:ext cx="38100" cy="5334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990600" y="5286375"/>
            <a:ext cx="1428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工作状态</a:t>
            </a:r>
            <a:endParaRPr/>
          </a:p>
        </p:txBody>
      </p:sp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2590800" y="5267325"/>
            <a:ext cx="31432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已提取约束，方案尚未校验</a:t>
            </a:r>
            <a:endParaRPr/>
          </a:p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5905500" y="5257800"/>
            <a:ext cx="49530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决定下一步，不冒充完成事实</a:t>
            </a:r>
            <a:endParaRPr/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上下文工程</a:t>
            </a:r>
            <a:endParaRPr/>
          </a:p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04 / 25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552" name="" descr="&lt;Slide notes={`这里要特别提醒一个容易犯的错：把不同状态压成同一句话。&#10;&#10;十点半开始也许合适，这是候选意见，是待验证的。预约工具返回十点至十点半不可用，这是查询结果，它带着来源和查询范围。方案通过校验，这不是一句结论能写完的，它必须有对应候选的实际报告。&#10;&#10;这三种东西一旦被压成「时间已确认」，来源没了，适用范围没了，出了问题也没有回查的入口。&#10;&#10;我的经验是，写工作记录时宁可啰嗦一点，也要把状态词留住：候选、已查、未校验、待确认。这些词看着不起眼，但它们决定了下一步该做什么，也决定了别人能不能复核你的结果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3.1　内容可以放在一起，来源不能混在一起&lt;/Text&gt;&#10;            &lt;Text style={{ fontSize: 34, fontWeight: 'bold', color: '#20344B' }}&gt;三种说法，不是同一种状态&lt;/Text&gt;&#10;        &lt;/Box&gt;&#10;    &lt;/Box&gt;&#10;&#10;    &lt;Box style={{ height: 540, flexDirection: 'row', justifyContent: 'center', alignItems: 'center', gap: 20 }}&gt;&#10;&#10;        &lt;Box style={{ width: 620, flexDirection: 'column', gap: 14 }}&gt;&#10;&#10;            &lt;Box style={{ height: 110, background: '#EDF4FC', borderRadius: 10, padding: '0 20px', flexDirection: 'row', alignItems: 'center', gap: 16 }}&gt;&#10;                &lt;Box style={{ width: 4, height: 60, background: '#276FBF' }} /&gt;&#10;                &lt;Box style={{ flex: 1 }}&gt;&lt;Text style={{ fontSize: 17, color: '#20344B', lineHeight: 1.55 }}&gt;十点半开始也许合适&lt;/Text&gt;&lt;/Box&gt;&#10;                &lt;Box style={{ width: 150, height: 44, background: '#FFFFFF', borderRadius: 8, justifyContent: 'center', alignItems: 'center' }}&gt;&#10;                    &lt;Text style={{ fontSize: 15, fontWeight: 'bold', color: '#276FBF' }}&gt;候选意见&lt;/Text&gt;&#10;                &lt;/Box&gt;&#10;            &lt;/Box&gt;&#10;&#10;            &lt;Box style={{ height: 110, background: '#ECF7F2', borderRadius: 10, padding: '0 20px', flexDirection: 'row', alignItems: 'center', gap: 16 }}&gt;&#10;                &lt;Box style={{ width: 4, height: 60, background: '#26816B' }} /&gt;&#10;                &lt;Box style={{ flex: 1 }}&gt;&lt;Text style={{ fontSize: 17, color: '#20344B', lineHeight: 1.55 }}&gt;预约工具返回十点至十点半不可用&lt;/Text&gt;&lt;/Box&gt;&#10;                &lt;Box style={{ width: 150, height: 44, background: '#FFFFFF', borderRadius: 8, justifyContent: 'center', alignItems: 'center' }}&gt;&#10;                    &lt;Text style={{ fontSize: 15, fontWeight: 'bold', color: '#26816B' }}&gt;查询结果&lt;/Text&gt;&#10;                &lt;/Box&gt;&#10;            &lt;/Box&gt;&#10;&#10;            &lt;Box style={{ height: 110, background: '#FFF4E6', borderRadius: 10, padding: '0 20px', flexDirection: 'row', alignItems: 'center', gap: 16 }}&gt;&#10;                &lt;Box style={{ width: 4, height: 60, background: '#CB6B28' }} /&gt;&#10;                &lt;Box style={{ flex: 1 }}&gt;&lt;Text style={{ fontSize: 17, color: '#20344B', lineHeight: 1.55 }}&gt;方案通过校验&lt;/Text&gt;&lt;/Box&gt;&#10;                &lt;Box style={{ width: 150, height: 44, background: '#FFFFFF', borderRadius: 8, justifyContent: 'center', alignItems: 'center' }}&gt;&#10;                    &lt;Text style={{ fontSize: 15, fontWeight: 'bold', color: '#CB6B28' }}&gt;须有实际报告&lt;/Text&gt;&#10;                &lt;/Box&gt;&#10;            &lt;/Box&gt;&#10;&#10;        &lt;/Box&gt;&#10;&#10;        &lt;Box style={{ width: 44, justifyContent: 'center', alignItems: 'center' }}&gt;&#10;            &lt;Text style={{ fontSize: 30, color: '#CB6B28' }}&gt;›&lt;/Text&gt;&#10;        &lt;/Box&gt;&#10;&#10;        &lt;Box style={{ width: 400, height: 358, background: '#FFF4E6', borderRadius: 12, padding: 24, flexDirection: 'column', gap: 14 }}&gt;&#10;            &lt;Text style={{ fontSize: 15, color: '#CB6B28' }}&gt;常见写法是把它压成一句&lt;/Text&gt;&#10;            &lt;Box style={{ height: 92, background: '#FFFFFF', borderRadius: 10, justifyContent: 'center', alignItems: 'center', flexDirection: 'column', gap: 4 }}&gt;&#10;                &lt;Text style={{ fontSize: 26, fontWeight: 'bold', color: '#CB6B28' }}&gt;时间已确认&lt;/Text&gt;&#10;                &lt;Text style={{ fontSize: 14, color: '#546779' }}&gt;只剩一句结论&lt;/Text&gt;&#10;            &lt;/Box&gt;&#10;            &lt;Box style={{ height: 1, background: '#B5C7D8' }} /&gt;&#10;            &lt;Text style={{ fontSize: 16, color: '#20344B', lineHeight: 1.7 }}&gt;候选、查询结果和校验报告被抹平成同一句话，来源、适用范围和回查入口一起丢掉。&lt;/Text&gt;&#10;        &lt;/Box&gt;&#10;&#10;    &lt;/Box&gt;&#10;&#10;    &lt;Box style={{ height: 40, flexDirection: 'row', justifyContent: 'space-between', alignItems: 'center' }}&gt;&#10;        &lt;Text style={{ fontSize: 14, color: '#546779' }}&gt;2.3 上下文工程&lt;/Text&gt;&#10;        &lt;Text style={{ fontSize: 14, color: '#546779' }}&gt;05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5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2.3.1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内容可以放在一起，来源不能混在一起</a:t>
            </a:r>
            <a:endParaRPr/>
          </a:p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三种说法，不是同一种状态</a:t>
            </a:r>
            <a:endParaRPr/>
          </a:p>
        </p:txBody>
      </p:sp>
      <p:sp>
        <p:nvSpPr>
          <p:cNvPr id="557" name=""/>
          <p:cNvSpPr/>
          <p:nvPr/>
        </p:nvSpPr>
        <p:spPr>
          <a:xfrm rot="0" flipH="0" flipV="0">
            <a:off x="838200" y="2009775"/>
            <a:ext cx="5905500" cy="1047750"/>
          </a:xfrm>
          <a:prstGeom prst="roundRect">
            <a:avLst>
              <a:gd name="adj" fmla="val 909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58" name=""/>
          <p:cNvSpPr/>
          <p:nvPr/>
        </p:nvSpPr>
        <p:spPr>
          <a:xfrm rot="0" flipH="0" flipV="0">
            <a:off x="1028700" y="2247900"/>
            <a:ext cx="38100" cy="571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1219200" y="2381250"/>
            <a:ext cx="3752850" cy="3048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十点半开始也许合适</a:t>
            </a:r>
            <a:endParaRPr/>
          </a:p>
        </p:txBody>
      </p:sp>
      <p:sp>
        <p:nvSpPr>
          <p:cNvPr id="560" name=""/>
          <p:cNvSpPr/>
          <p:nvPr/>
        </p:nvSpPr>
        <p:spPr>
          <a:xfrm rot="0" flipH="0" flipV="0">
            <a:off x="5124450" y="2324100"/>
            <a:ext cx="14287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5553075" y="244792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候选意见</a:t>
            </a:r>
            <a:endParaRPr/>
          </a:p>
        </p:txBody>
      </p:sp>
      <p:sp>
        <p:nvSpPr>
          <p:cNvPr id="562" name=""/>
          <p:cNvSpPr/>
          <p:nvPr/>
        </p:nvSpPr>
        <p:spPr>
          <a:xfrm rot="0" flipH="0" flipV="0">
            <a:off x="838200" y="3190875"/>
            <a:ext cx="5905500" cy="1047750"/>
          </a:xfrm>
          <a:prstGeom prst="roundRect">
            <a:avLst>
              <a:gd name="adj" fmla="val 909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63" name=""/>
          <p:cNvSpPr/>
          <p:nvPr/>
        </p:nvSpPr>
        <p:spPr>
          <a:xfrm rot="0" flipH="0" flipV="0">
            <a:off x="1028700" y="3429000"/>
            <a:ext cx="38100" cy="5715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1219200" y="3562350"/>
            <a:ext cx="3752850" cy="3048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预约工具返回十点至十点半不可用</a:t>
            </a:r>
            <a:endParaRPr/>
          </a:p>
        </p:txBody>
      </p:sp>
      <p:sp>
        <p:nvSpPr>
          <p:cNvPr id="565" name=""/>
          <p:cNvSpPr/>
          <p:nvPr/>
        </p:nvSpPr>
        <p:spPr>
          <a:xfrm rot="0" flipH="0" flipV="0">
            <a:off x="5124450" y="3505200"/>
            <a:ext cx="14287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5553075" y="362902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查询结果</a:t>
            </a:r>
            <a:endParaRPr/>
          </a:p>
        </p:txBody>
      </p:sp>
      <p:sp>
        <p:nvSpPr>
          <p:cNvPr id="567" name=""/>
          <p:cNvSpPr/>
          <p:nvPr/>
        </p:nvSpPr>
        <p:spPr>
          <a:xfrm rot="0" flipH="0" flipV="0">
            <a:off x="838200" y="4371975"/>
            <a:ext cx="5905500" cy="1047750"/>
          </a:xfrm>
          <a:prstGeom prst="roundRect">
            <a:avLst>
              <a:gd name="adj" fmla="val 909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68" name=""/>
          <p:cNvSpPr/>
          <p:nvPr/>
        </p:nvSpPr>
        <p:spPr>
          <a:xfrm rot="0" flipH="0" flipV="0">
            <a:off x="1028700" y="4610100"/>
            <a:ext cx="38100" cy="5715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1219200" y="4743450"/>
            <a:ext cx="3752850" cy="3048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方案通过校验</a:t>
            </a:r>
            <a:endParaRPr/>
          </a:p>
        </p:txBody>
      </p:sp>
      <p:sp>
        <p:nvSpPr>
          <p:cNvPr id="570" name=""/>
          <p:cNvSpPr/>
          <p:nvPr/>
        </p:nvSpPr>
        <p:spPr>
          <a:xfrm rot="0" flipH="0" flipV="0">
            <a:off x="5124450" y="4686300"/>
            <a:ext cx="14287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5410200" y="4810125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须有实际报告</a:t>
            </a:r>
            <a:endParaRPr/>
          </a:p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7096125" y="3543300"/>
            <a:ext cx="1047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>
                <a:solidFill>
                  <a:srgbClr val="CB6B28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73" name=""/>
          <p:cNvSpPr/>
          <p:nvPr/>
        </p:nvSpPr>
        <p:spPr>
          <a:xfrm rot="0" flipH="0" flipV="0">
            <a:off x="7543800" y="2009775"/>
            <a:ext cx="3810000" cy="3409950"/>
          </a:xfrm>
          <a:prstGeom prst="roundRect">
            <a:avLst>
              <a:gd name="adj" fmla="val 335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7772400" y="2238375"/>
            <a:ext cx="335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常见写法是把它压成一句</a:t>
            </a:r>
            <a:endParaRPr/>
          </a:p>
        </p:txBody>
      </p:sp>
      <p:sp>
        <p:nvSpPr>
          <p:cNvPr id="575" name=""/>
          <p:cNvSpPr/>
          <p:nvPr/>
        </p:nvSpPr>
        <p:spPr>
          <a:xfrm rot="0" flipH="0" flipV="0">
            <a:off x="7772400" y="2543175"/>
            <a:ext cx="3352800" cy="87630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8829675" y="2733675"/>
            <a:ext cx="1238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CB6B28"/>
                </a:solidFill>
                <a:latin typeface="Microsoft YaHei"/>
                <a:ea typeface="Microsoft YaHei"/>
              </a:rPr>
              <a:t>时间已确认</a:t>
            </a:r>
            <a:endParaRPr/>
          </a:p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9048750" y="3076575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只剩一句结论</a:t>
            </a:r>
            <a:endParaRPr/>
          </a:p>
        </p:txBody>
      </p:sp>
      <p:sp>
        <p:nvSpPr>
          <p:cNvPr id="578" name=""/>
          <p:cNvSpPr/>
          <p:nvPr/>
        </p:nvSpPr>
        <p:spPr>
          <a:xfrm rot="0" flipH="0" flipV="0">
            <a:off x="7772400" y="3552825"/>
            <a:ext cx="335280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7772400" y="3695700"/>
            <a:ext cx="33528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候选、查询结果和校验报告被抹平成同一句话，来源、适用范围和回查入口一起丢掉。</a:t>
            </a:r>
            <a:endParaRPr/>
          </a:p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上下文工程</a:t>
            </a:r>
            <a:endParaRPr/>
          </a:p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05 / 25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582" name="" descr="&lt;Slide notes={`来源要分开，还有一个实践里特别常见的坑：文件名相同，内容已经变了。&#10;&#10;更新材料的时候，我建议留住三样东西。第一是身份，这是哪一份文件、属于哪个任务。第二是日期。第三是输入副本，或者至少一个摘要指纹，用来说明这次用的到底是哪一版。&#10;&#10;有了这三样，才谈得上替换。替换要靠明确的新资料去做，不能把两份同名文件一起丢进去，让模型自己判断哪一份更权威——模型没有权限替我们决定这件事。&#10;&#10;青禾这件事里，人数从十人改成十三人，恰恰就是一份同名文件的内容变了。如果分不清版本，后面所有的校验都建立在不牢靠的基础上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3.1　内容可以放在一起，来源不能混在一起&lt;/Text&gt;&#10;            &lt;Text style={{ fontSize: 34, fontWeight: 'bold', color: '#20344B' }}&gt;更新材料时，留住身份与指纹&lt;/Text&gt;&#10;        &lt;/Box&gt;&#10;    &lt;/Box&gt;&#10;&#10;    &lt;Box style={{ height: 540, flexDirection: 'row', justifyContent: 'center', alignItems: 'center', gap: 32 }}&gt;&#10;&#10;        &lt;Box style={{ flex: 60, flexDirection: 'column', gap: 12 }}&gt;&#10;            &lt;Text style={{ fontSize: 22, fontWeight: 'bold', color: '#20344B' }}&gt;替换材料前，先固定三件事&lt;/Text&gt;&#10;&#10;            &lt;Box style={{ height: 96, background: '#F4F7FA', borderRadius: 10, padding: '0 18px', flexDirection: 'row', alignItems: 'center', gap: 16 }}&gt;&#10;                &lt;Box style={{ width: 4, height: 54, background: '#276FBF' }} /&gt;&#10;                &lt;Box style={{ flexDirection: 'column', gap: 4 }}&gt;&#10;                    &lt;Text style={{ fontSize: 19, fontWeight: 'bold', color: '#20344B' }}&gt;身份与日期&lt;/Text&gt;&#10;                    &lt;Text style={{ fontSize: 16, color: '#546779' }}&gt;哪一份资料、属于哪个任务与哪一天&lt;/Text&gt;&#10;                &lt;/Box&gt;&#10;            &lt;/Box&gt;&#10;&#10;            &lt;Box style={{ height: 96, background: '#F4F7FA', borderRadius: 10, padding: '0 18px', flexDirection: 'row', alignItems: 'center', gap: 16 }}&gt;&#10;                &lt;Box style={{ width: 4, height: 54, background: '#276FBF' }} /&gt;&#10;                &lt;Box style={{ flexDirection: 'column', gap: 4 }}&gt;&#10;                    &lt;Text style={{ fontSize: 19, fontWeight: 'bold', color: '#20344B' }}&gt;输入副本或摘要指纹&lt;/Text&gt;&#10;                    &lt;Text style={{ fontSize: 16, color: '#546779' }}&gt;这次实际用的是哪一版，可以比对&lt;/Text&gt;&#10;                &lt;/Box&gt;&#10;            &lt;/Box&gt;&#10;&#10;            &lt;Box style={{ height: 96, background: '#FFF4E6', borderRadius: 10, padding: '0 18px', flexDirection: 'row', alignItems: 'center', gap: 16 }}&gt;&#10;                &lt;Box style={{ width: 4, height: 54, background: '#CB6B28' }} /&gt;&#10;                &lt;Box style={{ flexDirection: 'column', gap: 4 }}&gt;&#10;                    &lt;Text style={{ fontSize: 19, fontWeight: 'bold', color: '#CB6B28' }}&gt;同名文件可能已变&lt;/Text&gt;&#10;                    &lt;Text style={{ fontSize: 16, color: '#546779' }}&gt;由明确的新资料替换旧资料，不让模型猜&lt;/Text&gt;&#10;                &lt;/Box&gt;&#10;            &lt;/Box&gt;&#10;        &lt;/Box&gt;&#10;&#10;        &lt;Box style={{ flex: 40, height: 358, background: '#F4F7FA', borderRadius: 12, padding: 22, flexDirection: 'column', gap: 12 }}&gt;&#10;            &lt;Text style={{ fontSize: 20, fontWeight: 'bold', color: '#20344B' }}&gt;requests.csv&lt;/Text&gt;&#10;            &lt;Text style={{ fontSize: 14, color: '#546779' }}&gt;两次打开，同名却不同内容&lt;/Text&gt;&#10;&#10;            &lt;Box style={{ height: 76, background: '#FFFFFF', borderRadius: 10, padding: '0 18px', justifyContent: 'center' }}&gt;&#10;                &lt;Text style={{ fontSize: 16, fontWeight: 'bold', color: '#546779' }}&gt;上周副本&lt;/Text&gt;&#10;                &lt;Text style={{ fontSize: 14, color: '#546779' }}&gt;手作 10 人　·　指纹 A1C3&lt;/Text&gt;&#10;            &lt;/Box&gt;&#10;&#10;            &lt;Box style={{ height: 76, background: '#FFFFFF', borderRadius: 10, padding: '0 18px', justifyContent: 'center' }}&gt;&#10;                &lt;Text style={{ fontSize: 16, fontWeight: 'bold', color: '#CB6B28' }}&gt;本周副本&lt;/Text&gt;&#10;                &lt;Text style={{ fontSize: 14, color: '#546779' }}&gt;手作 13 人　·　指纹 7E90&lt;/Text&gt;&#10;            &lt;/Box&gt;&#10;&#10;            &lt;Box style={{ flexDirection: 'row', alignItems: 'center', gap: 10 }}&gt;&#10;                &lt;Box style={{ width: 3, height: 30, background: '#CB6B28' }} /&gt;&#10;                &lt;Text style={{ fontSize: 15, color: '#CB6B28', lineHeight: 1.5 }}&gt;同名不等于同内容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3 上下文工程&lt;/Text&gt;&#10;        &lt;Text style={{ fontSize: 14, color: '#546779' }}&gt;06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8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2.3.1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内容可以放在一起，来源不能混在一起</a:t>
            </a:r>
            <a:endParaRPr/>
          </a:p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更新材料时，留住身份与指纹</a:t>
            </a:r>
            <a:endParaRPr/>
          </a:p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609600" y="2047875"/>
            <a:ext cx="6400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替换材料前，先固定三件事</a:t>
            </a:r>
            <a:endParaRPr/>
          </a:p>
        </p:txBody>
      </p:sp>
      <p:sp>
        <p:nvSpPr>
          <p:cNvPr id="588" name=""/>
          <p:cNvSpPr/>
          <p:nvPr/>
        </p:nvSpPr>
        <p:spPr>
          <a:xfrm rot="0" flipH="0" flipV="0">
            <a:off x="609600" y="2419350"/>
            <a:ext cx="6400800" cy="914400"/>
          </a:xfrm>
          <a:prstGeom prst="roundRect">
            <a:avLst>
              <a:gd name="adj" fmla="val 1041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89" name=""/>
          <p:cNvSpPr/>
          <p:nvPr/>
        </p:nvSpPr>
        <p:spPr>
          <a:xfrm rot="0" flipH="0" flipV="0">
            <a:off x="781050" y="2619375"/>
            <a:ext cx="38100" cy="5143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971550" y="2657475"/>
            <a:ext cx="2438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身份与日期</a:t>
            </a:r>
            <a:endParaRPr/>
          </a:p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971550" y="2914650"/>
            <a:ext cx="2438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哪一份资料、属于哪个任务与哪一天</a:t>
            </a:r>
            <a:endParaRPr/>
          </a:p>
        </p:txBody>
      </p:sp>
      <p:sp>
        <p:nvSpPr>
          <p:cNvPr id="592" name=""/>
          <p:cNvSpPr/>
          <p:nvPr/>
        </p:nvSpPr>
        <p:spPr>
          <a:xfrm rot="0" flipH="0" flipV="0">
            <a:off x="609600" y="3448050"/>
            <a:ext cx="6400800" cy="914400"/>
          </a:xfrm>
          <a:prstGeom prst="roundRect">
            <a:avLst>
              <a:gd name="adj" fmla="val 1041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93" name=""/>
          <p:cNvSpPr/>
          <p:nvPr/>
        </p:nvSpPr>
        <p:spPr>
          <a:xfrm rot="0" flipH="0" flipV="0">
            <a:off x="781050" y="3648075"/>
            <a:ext cx="38100" cy="5143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971550" y="3686175"/>
            <a:ext cx="2286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输入副本或摘要指纹</a:t>
            </a:r>
            <a:endParaRPr/>
          </a:p>
        </p:txBody>
      </p:sp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971550" y="3943350"/>
            <a:ext cx="2286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这次实际用的是哪一版，可以比对</a:t>
            </a:r>
            <a:endParaRPr/>
          </a:p>
        </p:txBody>
      </p:sp>
      <p:sp>
        <p:nvSpPr>
          <p:cNvPr id="596" name=""/>
          <p:cNvSpPr/>
          <p:nvPr/>
        </p:nvSpPr>
        <p:spPr>
          <a:xfrm rot="0" flipH="0" flipV="0">
            <a:off x="609600" y="4476750"/>
            <a:ext cx="6400800" cy="914400"/>
          </a:xfrm>
          <a:prstGeom prst="roundRect">
            <a:avLst>
              <a:gd name="adj" fmla="val 1041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97" name=""/>
          <p:cNvSpPr/>
          <p:nvPr/>
        </p:nvSpPr>
        <p:spPr>
          <a:xfrm rot="0" flipH="0" flipV="0">
            <a:off x="781050" y="4676775"/>
            <a:ext cx="38100" cy="5143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971550" y="4714875"/>
            <a:ext cx="2743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同名文件可能已变</a:t>
            </a:r>
            <a:endParaRPr/>
          </a:p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971550" y="4972050"/>
            <a:ext cx="274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由明确的新资料替换旧资料，不让模型猜</a:t>
            </a:r>
            <a:endParaRPr/>
          </a:p>
        </p:txBody>
      </p:sp>
      <p:sp>
        <p:nvSpPr>
          <p:cNvPr id="600" name=""/>
          <p:cNvSpPr/>
          <p:nvPr/>
        </p:nvSpPr>
        <p:spPr>
          <a:xfrm rot="0" flipH="0" flipV="0">
            <a:off x="7315200" y="2009775"/>
            <a:ext cx="4267200" cy="3409950"/>
          </a:xfrm>
          <a:prstGeom prst="roundRect">
            <a:avLst>
              <a:gd name="adj" fmla="val 335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7524750" y="2219325"/>
            <a:ext cx="3848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>requests.csv</a:t>
            </a:r>
            <a:endParaRPr/>
          </a:p>
        </p:txBody>
      </p:sp>
      <p:sp>
        <p:nvSpPr>
          <p:cNvPr id="602" name="" descr="{&quot;isTemplate&quot;:true,&quot;type&quot;:&quot;text&quot;}"/>
          <p:cNvSpPr txBox="1"/>
          <p:nvPr/>
        </p:nvSpPr>
        <p:spPr>
          <a:xfrm rot="0" flipH="0" flipV="0">
            <a:off x="7524750" y="2562225"/>
            <a:ext cx="3848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两次打开，同名却不同内容</a:t>
            </a:r>
            <a:endParaRPr/>
          </a:p>
        </p:txBody>
      </p:sp>
      <p:sp>
        <p:nvSpPr>
          <p:cNvPr id="603" name=""/>
          <p:cNvSpPr/>
          <p:nvPr/>
        </p:nvSpPr>
        <p:spPr>
          <a:xfrm rot="0" flipH="0" flipV="0">
            <a:off x="7524750" y="2838450"/>
            <a:ext cx="3848100" cy="723900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7696200" y="3028950"/>
            <a:ext cx="3505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546779"/>
                </a:solidFill>
                <a:latin typeface="Microsoft YaHei"/>
                <a:ea typeface="Microsoft YaHei"/>
              </a:rPr>
              <a:t>上周副本</a:t>
            </a:r>
            <a:endParaRPr/>
          </a:p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7696200" y="3219450"/>
            <a:ext cx="3505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手作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人　·　指纹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A1C3</a:t>
            </a:r>
            <a:endParaRPr/>
          </a:p>
        </p:txBody>
      </p:sp>
      <p:sp>
        <p:nvSpPr>
          <p:cNvPr id="606" name=""/>
          <p:cNvSpPr/>
          <p:nvPr/>
        </p:nvSpPr>
        <p:spPr>
          <a:xfrm rot="0" flipH="0" flipV="0">
            <a:off x="7524750" y="3676650"/>
            <a:ext cx="3848100" cy="723900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7696200" y="3867150"/>
            <a:ext cx="3505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本周副本</a:t>
            </a:r>
            <a:endParaRPr/>
          </a:p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7696200" y="4057650"/>
            <a:ext cx="3505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手作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13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人　·　指纹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7E90</a:t>
            </a:r>
            <a:endParaRPr/>
          </a:p>
        </p:txBody>
      </p:sp>
      <p:sp>
        <p:nvSpPr>
          <p:cNvPr id="609" name=""/>
          <p:cNvSpPr/>
          <p:nvPr/>
        </p:nvSpPr>
        <p:spPr>
          <a:xfrm rot="0" flipH="0" flipV="0">
            <a:off x="7524750" y="4514850"/>
            <a:ext cx="28575" cy="2857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7648575" y="4533900"/>
            <a:ext cx="1143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同名不等于同内容</a:t>
            </a:r>
            <a:endParaRPr/>
          </a:p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上下文工程</a:t>
            </a:r>
            <a:endParaRPr/>
          </a:p>
        </p:txBody>
      </p:sp>
      <p:sp>
        <p:nvSpPr>
          <p:cNvPr id="61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06 / 25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613" name="" descr="&lt;Slide notes={`第二块讲容量。上下文窗口限制的是单次请求能够处理的 Token 规模，而且这个窗口不是全部给输入的——输出要有位置，模型自己做推理也有开销。&#10;&#10;所以把全部聊天记录、全部文件、全部工具结果一直往下追加，是会出问题的。它可能直接超限，也可能没超，但费用上去了，无关信息也掺了进来，反而干扰判断。&#10;&#10;这里要强调一句：具体窗口多大、输出限制多少，要查你选的那个模型，不能把某一个模型的数值当成所有模型共有的属性。&#10;&#10;知道了容量有限，下一步的动作自然就是筛选和压缩。`} style={{ width: 1280, height: 720, background: '#FFFFFF', flexDirection: 'column', padding: '20px 64px' }}&gt;&#10;&#10;    &lt;Box style={{ height: 540, flexDirection: 'column', justifyContent: 'center', gap: 20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8, fontWeight: 'bold', color: '#FFFFFF' }}&gt;02&lt;/Text&gt;&#10;            &lt;/Box&gt;&#10;            &lt;Text style={{ fontSize: 16, color: '#546779' }}&gt;2.3.2&lt;/Text&gt;&#10;        &lt;/Box&gt;&#10;&#10;        &lt;Text style={{ fontSize: 56, fontWeight: 'bold', color: '#20344B', lineHeight: 1.15 }}&gt;长上下文不是无限记忆&lt;/Text&gt;&#10;&#10;        &lt;Box style={{ width: 640, height: 4, background: '#276FBF' }} /&gt;&#10;&#10;        &lt;Text style={{ fontSize: 19, color: '#546779', lineHeight: 1.7 }}&gt;全部聊天、全部文件、全部工具结果一直追加，会超限，也会变贵。&lt;/Text&gt;&#10;&#10;        &lt;Box style={{ marginTop: 8, flexDirection: 'row', alignItems: 'center', gap: 0 }}&gt;&#10;            &lt;Box style={{ width: 700, height: 52, background: '#EDF4FC', borderRadius: 6, justifyContent: 'center', alignItems: 'center' }}&gt;&#10;                &lt;Text style={{ fontSize: 15, color: '#276FBF' }}&gt;不断追加的历史、文件与工具结果&lt;/Text&gt;&#10;            &lt;/Box&gt;&#10;            &lt;Box style={{ width: 220, height: 52, background: '#FFF4E6', justifyContent: 'center', alignItems: 'center' }}&gt;&#10;                &lt;Text style={{ fontSize: 15, color: '#CB6B28' }}&gt;另为输出预留空间&lt;/Text&gt;&#10;            &lt;/Box&gt;&#10;            &lt;Box style={{ width: 180, height: 52, background: '#F4F7FA', borderRadius: 6, justifyContent: 'center', alignItems: 'center' }}&gt;&#10;                &lt;Text style={{ fontSize: 15, color: '#CB6B28' }}&gt;超出即不可用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3 上下文工程&lt;/Text&gt;&#10;        &lt;Text style={{ fontSize: 14, color: '#546779' }}&gt;07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15" name=""/>
          <p:cNvSpPr/>
          <p:nvPr/>
        </p:nvSpPr>
        <p:spPr>
          <a:xfrm rot="0" flipH="0" flipV="0">
            <a:off x="609600" y="1257300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714375" y="1362075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1295400" y="1428750"/>
            <a:ext cx="34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2.3.2</a:t>
            </a:r>
            <a:endParaRPr/>
          </a:p>
        </p:txBody>
      </p:sp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609600" y="198120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长上下文不是无限记忆</a:t>
            </a:r>
            <a:endParaRPr/>
          </a:p>
        </p:txBody>
      </p:sp>
      <p:sp>
        <p:nvSpPr>
          <p:cNvPr id="619" name=""/>
          <p:cNvSpPr/>
          <p:nvPr/>
        </p:nvSpPr>
        <p:spPr>
          <a:xfrm rot="0" flipH="0" flipV="0">
            <a:off x="609600" y="2914650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20" name="" descr="{&quot;isTemplate&quot;:true,&quot;type&quot;:&quot;text&quot;}"/>
          <p:cNvSpPr txBox="1"/>
          <p:nvPr/>
        </p:nvSpPr>
        <p:spPr>
          <a:xfrm rot="0" flipH="0" flipV="0">
            <a:off x="609600" y="314325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全部聊天、全部文件、全部工具结果一直追加，会超限，也会变贵。</a:t>
            </a:r>
            <a:endParaRPr/>
          </a:p>
        </p:txBody>
      </p:sp>
      <p:sp>
        <p:nvSpPr>
          <p:cNvPr id="621" name=""/>
          <p:cNvSpPr/>
          <p:nvPr/>
        </p:nvSpPr>
        <p:spPr>
          <a:xfrm rot="0" flipH="0" flipV="0">
            <a:off x="609600" y="3781425"/>
            <a:ext cx="6667500" cy="495300"/>
          </a:xfrm>
          <a:prstGeom prst="roundRect">
            <a:avLst>
              <a:gd name="adj" fmla="val 1153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22" name="" descr="{&quot;isTemplate&quot;:true,&quot;type&quot;:&quot;text&quot;}"/>
          <p:cNvSpPr txBox="1"/>
          <p:nvPr/>
        </p:nvSpPr>
        <p:spPr>
          <a:xfrm rot="0" flipH="0" flipV="0">
            <a:off x="2876550" y="3943350"/>
            <a:ext cx="2143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不断追加的历史、文件与工具结果</a:t>
            </a:r>
            <a:endParaRPr/>
          </a:p>
        </p:txBody>
      </p:sp>
      <p:sp>
        <p:nvSpPr>
          <p:cNvPr id="623" name=""/>
          <p:cNvSpPr/>
          <p:nvPr/>
        </p:nvSpPr>
        <p:spPr>
          <a:xfrm rot="0" flipH="0" flipV="0">
            <a:off x="7277100" y="3781425"/>
            <a:ext cx="2095500" cy="495300"/>
          </a:xfrm>
          <a:prstGeom prst="rect">
            <a:avLst/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7753350" y="3943350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另为输出预留空间</a:t>
            </a:r>
            <a:endParaRPr/>
          </a:p>
        </p:txBody>
      </p:sp>
      <p:sp>
        <p:nvSpPr>
          <p:cNvPr id="625" name=""/>
          <p:cNvSpPr/>
          <p:nvPr/>
        </p:nvSpPr>
        <p:spPr>
          <a:xfrm rot="0" flipH="0" flipV="0">
            <a:off x="9372600" y="3781425"/>
            <a:ext cx="1714500" cy="495300"/>
          </a:xfrm>
          <a:prstGeom prst="roundRect">
            <a:avLst>
              <a:gd name="adj" fmla="val 1153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9801225" y="394335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超出即不可用</a:t>
            </a:r>
            <a:endParaRPr/>
          </a:p>
        </p:txBody>
      </p:sp>
      <p:sp>
        <p:nvSpPr>
          <p:cNvPr id="627" name="" descr="{&quot;isTemplate&quot;:true,&quot;type&quot;:&quot;text&quot;}"/>
          <p:cNvSpPr txBox="1"/>
          <p:nvPr/>
        </p:nvSpPr>
        <p:spPr>
          <a:xfrm rot="0" flipH="0" flipV="0">
            <a:off x="609600" y="54483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上下文工程</a:t>
            </a:r>
            <a:endParaRPr/>
          </a:p>
        </p:txBody>
      </p:sp>
      <p:sp>
        <p:nvSpPr>
          <p:cNvPr id="628" name="" descr="{&quot;isTemplate&quot;:true,&quot;type&quot;:&quot;text&quot;}"/>
          <p:cNvSpPr txBox="1"/>
          <p:nvPr/>
        </p:nvSpPr>
        <p:spPr>
          <a:xfrm rot="0" flipH="0" flipV="0">
            <a:off x="11125200" y="5448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07 / 25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629" name="" descr="&lt;Slide notes={`三项来源进来以后，不能直接倒给模型，中间要过一道筛选与压缩。&#10;&#10;顺序是先筛，再压。拿三项活动这件事说，不需要每一轮都带着十年的宣传稿；整月的预约记录，可以由程序按日期、房间和时段筛一遍，只把命中的部分带进来，同时把来源和筛选条件保留下来。&#10;&#10;筛完压缩过的结果，才构成本轮输入：事实、来源、状态，关键约束要完整保留，不能为了短而把约束删掉。&#10;&#10;还有一处必须留出余地，就是输出。窗口不是全部给输入的，模型还要生成回答。所以各个色块占多大面积只是示意，它并不对应真实的 Token 比例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3.2　长上下文不是无限记忆&lt;/Text&gt;&#10;            &lt;Text style={{ fontSize: 34, fontWeight: 'bold', color: '#20344B' }}&gt;筛选、压缩与本轮上下文&lt;/Text&gt;&#10;        &lt;/Box&gt;&#10;    &lt;/Box&gt;&#10;&#10;    &lt;Box style={{ height: 540, flexDirection: 'column', justifyContent: 'center', gap: 14 }}&gt;&#10;&#10;        &lt;Box style={{ flexDirection: 'row', gap: 16 }}&gt;&#10;            &lt;Box style={{ flex: 1, height: 130, background: '#EDF4FC', borderRadius: 10, padding: '0 20px', justifyContent: 'center' }}&gt;&#10;                &lt;Text style={{ fontSize: 20, fontWeight: 'bold', color: '#276FBF' }}&gt;任务要求&lt;/Text&gt;&#10;                &lt;Text style={{ fontSize: 16, color: '#20344B' }}&gt;指令与硬约束&lt;/Text&gt;&#10;            &lt;/Box&gt;&#10;            &lt;Box style={{ flex: 1, height: 130, background: '#F4F7FA', borderRadius: 10, padding: '0 20px', justifyContent: 'center' }}&gt;&#10;                &lt;Text style={{ fontSize: 20, fontWeight: 'bold', color: '#20344B' }}&gt;资料与工具结果&lt;/Text&gt;&#10;                &lt;Text style={{ fontSize: 16, color: '#546779' }}&gt;来源、日期、适用范围&lt;/Text&gt;&#10;            &lt;/Box&gt;&#10;            &lt;Box style={{ flex: 1, height: 130, background: '#ECF7F2', borderRadius: 10, padding: '0 20px', justifyContent: 'center' }}&gt;&#10;                &lt;Text style={{ fontSize: 20, fontWeight: 'bold', color: '#26816B' }}&gt;当前工作状态&lt;/Text&gt;&#10;                &lt;Text style={{ fontSize: 16, color: '#546779' }}&gt;候选、错误与待确认项&lt;/Text&gt;&#10;            &lt;/Box&gt;&#10;        &lt;/Box&gt;&#10;&#10;        &lt;Box style={{ flexDirection: 'row', gap: 16, height: 36 }}&gt;&#10;            &lt;Box style={{ flex: 1, justifyContent: 'center', alignItems: 'center' }}&gt;&#10;                &lt;Box style={{ width: 44, alignItems: 'center' }}&gt;&lt;Text style={{ fontSize: 24, color: '#276FBF' }}&gt;↓&lt;/Text&gt;&lt;/Box&gt;&#10;            &lt;/Box&gt;&#10;            &lt;Box style={{ flex: 1, justifyContent: 'center', alignItems: 'center' }}&gt;&#10;                &lt;Box style={{ width: 44, alignItems: 'center' }}&gt;&lt;Text style={{ fontSize: 24, color: '#276FBF' }}&gt;↓&lt;/Text&gt;&lt;/Box&gt;&#10;            &lt;/Box&gt;&#10;            &lt;Box style={{ flex: 1, justifyContent: 'center', alignItems: 'center' }}&gt;&#10;                &lt;Box style={{ width: 44, alignItems: 'center' }}&gt;&lt;Text style={{ fontSize: 24, color: '#276FBF' }}&gt;↓&lt;/Text&gt;&lt;/Box&gt;&#10;            &lt;/Box&gt;&#10;        &lt;/Box&gt;&#10;&#10;        &lt;Box style={{ height: 72, background: '#ECF7F2', borderRadius: 10, padding: '0 24px', flexDirection: 'row', alignItems: 'center', gap: 18 }}&gt;&#10;            &lt;Text style={{ fontSize: 20, fontWeight: 'bold', color: '#26816B' }}&gt;筛选与压缩&lt;/Text&gt;&#10;            &lt;Box style={{ width: 1, height: 30, background: '#B5C7D8' }} /&gt;&#10;            &lt;Text style={{ fontSize: 17, color: '#20344B' }}&gt;先去无关，再保留证据&lt;/Text&gt;&#10;        &lt;/Box&gt;&#10;&#10;        &lt;Box style={{ height: 36, justifyContent: 'center', alignItems: 'center' }}&gt;&#10;            &lt;Box style={{ width: 44, alignItems: 'center' }}&gt;&lt;Text style={{ fontSize: 24, color: '#276FBF' }}&gt;↓&lt;/Text&gt;&lt;/Box&gt;&#10;        &lt;/Box&gt;&#10;&#10;        &lt;Box style={{ height: 104, background: '#EDF4FC', borderRadius: 10, padding: '0 24px', flexDirection: 'row', alignItems: 'center', gap: 18 }}&gt;&#10;            &lt;Text style={{ fontSize: 22, fontWeight: 'bold', color: '#276FBF' }}&gt;本轮输入&lt;/Text&gt;&#10;            &lt;Box style={{ width: 1, height: 40, background: '#B5C7D8' }} /&gt;&#10;            &lt;Box style={{ flexDirection: 'column', gap: 2 }}&gt;&#10;                &lt;Text style={{ fontSize: 17, color: '#20344B' }}&gt;事实、来源、状态&lt;/Text&gt;&#10;                &lt;Text style={{ fontSize: 17, color: '#20344B' }}&gt;完整保留关键约束&lt;/Text&gt;&#10;            &lt;/Box&gt;&#10;        &lt;/Box&gt;&#10;&#10;        &lt;Box style={{ flexDirection: 'row', alignItems: 'center', gap: 14, background: '#FFF4E6', borderRadius: 10, padding: '12px 20px' }}&gt;&#10;            &lt;Box style={{ width: 3, height: 30, background: '#CB6B28' }} /&gt;&#10;            &lt;Text style={{ fontSize: 16, color: '#CB6B28', lineHeight: 1.6 }}&gt;另为输出预留空间；各块面积只是示意，不对应 Token 比例。&lt;/Text&gt;&#10;        &lt;/Box&gt;&#10;&#10;    &lt;/Box&gt;&#10;&#10;    &lt;Box style={{ height: 40, flexDirection: 'row', justifyContent: 'space-between', alignItems: 'center' }}&gt;&#10;        &lt;Text style={{ fontSize: 14, color: '#546779' }}&gt;2.3 上下文工程&lt;/Text&gt;&#10;        &lt;Text style={{ fontSize: 14, color: '#546779' }}&gt;08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3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2.3.2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长上下文不是无限记忆</a:t>
            </a:r>
            <a:endParaRPr/>
          </a:p>
        </p:txBody>
      </p:sp>
      <p:sp>
        <p:nvSpPr>
          <p:cNvPr id="63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筛选、压缩与本轮上下文</a:t>
            </a:r>
            <a:endParaRPr/>
          </a:p>
        </p:txBody>
      </p:sp>
      <p:sp>
        <p:nvSpPr>
          <p:cNvPr id="634" name=""/>
          <p:cNvSpPr/>
          <p:nvPr/>
        </p:nvSpPr>
        <p:spPr>
          <a:xfrm rot="0" flipH="0" flipV="0">
            <a:off x="609600" y="1323975"/>
            <a:ext cx="3552825" cy="1238250"/>
          </a:xfrm>
          <a:prstGeom prst="roundRect">
            <a:avLst>
              <a:gd name="adj" fmla="val 769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800100" y="1733550"/>
            <a:ext cx="3171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任务要求</a:t>
            </a:r>
            <a:endParaRPr/>
          </a:p>
        </p:txBody>
      </p:sp>
      <p:sp>
        <p:nvSpPr>
          <p:cNvPr id="636" name="" descr="{&quot;isTemplate&quot;:true,&quot;type&quot;:&quot;text&quot;}"/>
          <p:cNvSpPr txBox="1"/>
          <p:nvPr/>
        </p:nvSpPr>
        <p:spPr>
          <a:xfrm rot="0" flipH="0" flipV="0">
            <a:off x="800100" y="1962150"/>
            <a:ext cx="3171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指令与硬约束</a:t>
            </a:r>
            <a:endParaRPr/>
          </a:p>
        </p:txBody>
      </p:sp>
      <p:sp>
        <p:nvSpPr>
          <p:cNvPr id="637" name=""/>
          <p:cNvSpPr/>
          <p:nvPr/>
        </p:nvSpPr>
        <p:spPr>
          <a:xfrm rot="0" flipH="0" flipV="0">
            <a:off x="4314825" y="1323975"/>
            <a:ext cx="3562350" cy="1238250"/>
          </a:xfrm>
          <a:prstGeom prst="roundRect">
            <a:avLst>
              <a:gd name="adj" fmla="val 769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38" name="" descr="{&quot;isTemplate&quot;:true,&quot;type&quot;:&quot;text&quot;}"/>
          <p:cNvSpPr txBox="1"/>
          <p:nvPr/>
        </p:nvSpPr>
        <p:spPr>
          <a:xfrm rot="0" flipH="0" flipV="0">
            <a:off x="4505325" y="1733550"/>
            <a:ext cx="3181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资料与工具结果</a:t>
            </a:r>
            <a:endParaRPr/>
          </a:p>
        </p:txBody>
      </p:sp>
      <p:sp>
        <p:nvSpPr>
          <p:cNvPr id="639" name="" descr="{&quot;isTemplate&quot;:true,&quot;type&quot;:&quot;text&quot;}"/>
          <p:cNvSpPr txBox="1"/>
          <p:nvPr/>
        </p:nvSpPr>
        <p:spPr>
          <a:xfrm rot="0" flipH="0" flipV="0">
            <a:off x="4505325" y="1962150"/>
            <a:ext cx="3181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来源、日期、适用范围</a:t>
            </a:r>
            <a:endParaRPr/>
          </a:p>
        </p:txBody>
      </p:sp>
      <p:sp>
        <p:nvSpPr>
          <p:cNvPr id="640" name=""/>
          <p:cNvSpPr/>
          <p:nvPr/>
        </p:nvSpPr>
        <p:spPr>
          <a:xfrm rot="0" flipH="0" flipV="0">
            <a:off x="8029575" y="1323975"/>
            <a:ext cx="3552825" cy="1238250"/>
          </a:xfrm>
          <a:prstGeom prst="roundRect">
            <a:avLst>
              <a:gd name="adj" fmla="val 769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8220075" y="1733550"/>
            <a:ext cx="3171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当前工作状态</a:t>
            </a:r>
            <a:endParaRPr/>
          </a:p>
        </p:txBody>
      </p:sp>
      <p:sp>
        <p:nvSpPr>
          <p:cNvPr id="642" name="" descr="{&quot;isTemplate&quot;:true,&quot;type&quot;:&quot;text&quot;}"/>
          <p:cNvSpPr txBox="1"/>
          <p:nvPr/>
        </p:nvSpPr>
        <p:spPr>
          <a:xfrm rot="0" flipH="0" flipV="0">
            <a:off x="8220075" y="1962150"/>
            <a:ext cx="3171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候选、错误与待确认项</a:t>
            </a:r>
            <a:endParaRPr/>
          </a:p>
        </p:txBody>
      </p:sp>
      <p:sp>
        <p:nvSpPr>
          <p:cNvPr id="643" name="" descr="{&quot;isTemplate&quot;:true,&quot;type&quot;:&quot;text&quot;}"/>
          <p:cNvSpPr txBox="1"/>
          <p:nvPr/>
        </p:nvSpPr>
        <p:spPr>
          <a:xfrm rot="0" flipH="0" flipV="0">
            <a:off x="2333625" y="2733675"/>
            <a:ext cx="1143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644" name="" descr="{&quot;isTemplate&quot;:true,&quot;type&quot;:&quot;text&quot;}"/>
          <p:cNvSpPr txBox="1"/>
          <p:nvPr/>
        </p:nvSpPr>
        <p:spPr>
          <a:xfrm rot="0" flipH="0" flipV="0">
            <a:off x="6038850" y="2733675"/>
            <a:ext cx="1143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645" name="" descr="{&quot;isTemplate&quot;:true,&quot;type&quot;:&quot;text&quot;}"/>
          <p:cNvSpPr txBox="1"/>
          <p:nvPr/>
        </p:nvSpPr>
        <p:spPr>
          <a:xfrm rot="0" flipH="0" flipV="0">
            <a:off x="9753600" y="2733675"/>
            <a:ext cx="1143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646" name=""/>
          <p:cNvSpPr/>
          <p:nvPr/>
        </p:nvSpPr>
        <p:spPr>
          <a:xfrm rot="0" flipH="0" flipV="0">
            <a:off x="609600" y="3171825"/>
            <a:ext cx="10972800" cy="685800"/>
          </a:xfrm>
          <a:prstGeom prst="roundRect">
            <a:avLst>
              <a:gd name="adj" fmla="val 1388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47" name="" descr="{&quot;isTemplate&quot;:true,&quot;type&quot;:&quot;text&quot;}"/>
          <p:cNvSpPr txBox="1"/>
          <p:nvPr/>
        </p:nvSpPr>
        <p:spPr>
          <a:xfrm rot="0" flipH="0" flipV="0">
            <a:off x="838200" y="3400425"/>
            <a:ext cx="952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筛选与压缩</a:t>
            </a:r>
            <a:endParaRPr/>
          </a:p>
        </p:txBody>
      </p:sp>
      <p:sp>
        <p:nvSpPr>
          <p:cNvPr id="648" name=""/>
          <p:cNvSpPr/>
          <p:nvPr/>
        </p:nvSpPr>
        <p:spPr>
          <a:xfrm rot="0" flipH="0" flipV="0">
            <a:off x="1962150" y="3371850"/>
            <a:ext cx="9525" cy="28575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649" name="" descr="{&quot;isTemplate&quot;:true,&quot;type&quot;:&quot;text&quot;}"/>
          <p:cNvSpPr txBox="1"/>
          <p:nvPr/>
        </p:nvSpPr>
        <p:spPr>
          <a:xfrm rot="0" flipH="0" flipV="0">
            <a:off x="2143125" y="3419475"/>
            <a:ext cx="1619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先去无关，再保留证据</a:t>
            </a:r>
            <a:endParaRPr/>
          </a:p>
        </p:txBody>
      </p:sp>
      <p:sp>
        <p:nvSpPr>
          <p:cNvPr id="650" name="" descr="{&quot;isTemplate&quot;:true,&quot;type&quot;:&quot;text&quot;}"/>
          <p:cNvSpPr txBox="1"/>
          <p:nvPr/>
        </p:nvSpPr>
        <p:spPr>
          <a:xfrm rot="0" flipH="0" flipV="0">
            <a:off x="6038850" y="4029075"/>
            <a:ext cx="1143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651" name=""/>
          <p:cNvSpPr/>
          <p:nvPr/>
        </p:nvSpPr>
        <p:spPr>
          <a:xfrm rot="0" flipH="0" flipV="0">
            <a:off x="609600" y="4467225"/>
            <a:ext cx="10972800" cy="990600"/>
          </a:xfrm>
          <a:prstGeom prst="roundRect">
            <a:avLst>
              <a:gd name="adj" fmla="val 961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52" name="" descr="{&quot;isTemplate&quot;:true,&quot;type&quot;:&quot;text&quot;}"/>
          <p:cNvSpPr txBox="1"/>
          <p:nvPr/>
        </p:nvSpPr>
        <p:spPr>
          <a:xfrm rot="0" flipH="0" flipV="0">
            <a:off x="838200" y="4838700"/>
            <a:ext cx="838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本轮输入</a:t>
            </a:r>
            <a:endParaRPr/>
          </a:p>
        </p:txBody>
      </p:sp>
      <p:sp>
        <p:nvSpPr>
          <p:cNvPr id="653" name=""/>
          <p:cNvSpPr/>
          <p:nvPr/>
        </p:nvSpPr>
        <p:spPr>
          <a:xfrm rot="0" flipH="0" flipV="0">
            <a:off x="1847850" y="4772025"/>
            <a:ext cx="9525" cy="38100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2028825" y="4752975"/>
            <a:ext cx="1295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事实、来源、状态</a:t>
            </a:r>
            <a:endParaRPr/>
          </a:p>
        </p:txBody>
      </p:sp>
      <p:sp>
        <p:nvSpPr>
          <p:cNvPr id="655" name="" descr="{&quot;isTemplate&quot;:true,&quot;type&quot;:&quot;text&quot;}"/>
          <p:cNvSpPr txBox="1"/>
          <p:nvPr/>
        </p:nvSpPr>
        <p:spPr>
          <a:xfrm rot="0" flipH="0" flipV="0">
            <a:off x="2028825" y="4972050"/>
            <a:ext cx="1295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完整保留关键约束</a:t>
            </a:r>
            <a:endParaRPr/>
          </a:p>
        </p:txBody>
      </p:sp>
      <p:sp>
        <p:nvSpPr>
          <p:cNvPr id="656" name=""/>
          <p:cNvSpPr/>
          <p:nvPr/>
        </p:nvSpPr>
        <p:spPr>
          <a:xfrm rot="0" flipH="0" flipV="0">
            <a:off x="609600" y="5591175"/>
            <a:ext cx="10972800" cy="523875"/>
          </a:xfrm>
          <a:prstGeom prst="roundRect">
            <a:avLst>
              <a:gd name="adj" fmla="val 1818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57" name=""/>
          <p:cNvSpPr/>
          <p:nvPr/>
        </p:nvSpPr>
        <p:spPr>
          <a:xfrm rot="0" flipH="0" flipV="0">
            <a:off x="800100" y="5715000"/>
            <a:ext cx="28575" cy="2857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58" name="" descr="{&quot;isTemplate&quot;:true,&quot;type&quot;:&quot;text&quot;}"/>
          <p:cNvSpPr txBox="1"/>
          <p:nvPr/>
        </p:nvSpPr>
        <p:spPr>
          <a:xfrm rot="0" flipH="0" flipV="0">
            <a:off x="962025" y="5705475"/>
            <a:ext cx="418147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另为输出预留空间；各块面积只是示意，不对应</a:t>
            </a:r>
            <a:r>
              <a:rPr lang="en-US" sz="1200">
                <a:solidFill>
                  <a:srgbClr val="CB6B28"/>
                </a:solidFill>
                <a:latin typeface="Microsoft YaHei"/>
                <a:ea typeface="Microsoft YaHei"/>
              </a:rPr>
              <a:t xml:space="preserve"> Token </a:t>
            </a: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比例。</a:t>
            </a:r>
            <a:endParaRPr/>
          </a:p>
        </p:txBody>
      </p:sp>
      <p:sp>
        <p:nvSpPr>
          <p:cNvPr id="65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上下文工程</a:t>
            </a:r>
            <a:endParaRPr/>
          </a:p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08 / 25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661" name="" descr="&lt;Slide notes={`筛选和摘要是两个不同的动作，顺序不能颠倒。&#10;&#10;筛选是挑，把无关的挡在外面。三项活动这件事，不需要每一轮都带十年宣传稿；整月预约的记录，可以按日期、房间和时段筛一遍，只把命中的那部分带进来，同时把来源和筛选条件留下。&#10;&#10;摘要是在筛完以后压，它要保留事实、来源和还没有解决的事情。比如这样一句：阅读分享二十四人，来源 requests.csv；预约已查；候选未通过。句子很短，但每一段都能对上出处。&#10;&#10;最后一句要记住：摘要是派生结果，重要的事实仍然要能回查原文件，摘要不能变成唯一的证据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3.2　长上下文不是无限记忆&lt;/Text&gt;&#10;            &lt;Text style={{ fontSize: 34, fontWeight: 'bold', color: '#20344B' }}&gt;先筛选，再摘要&lt;/Text&gt;&#10;        &lt;/Box&gt;&#10;    &lt;/Box&gt;&#10;&#10;    &lt;Box style={{ height: 540, flexDirection: 'column', justifyContent: 'center', gap: 16 }}&gt;&#10;&#10;        &lt;Box style={{ flexDirection: 'row', gap: 24 }}&gt;&#10;&#10;            &lt;Box style={{ flex: 55, height: 200, background: '#EDF4FC', borderRadius: 12, padding: 22, flexDirection: 'column', gap: 10 }}&gt;&#10;                &lt;Text style={{ fontSize: 22, fontWeight: 'bold', color: '#276FBF' }}&gt;筛选　·　把无关的挡在外面&lt;/Text&gt;&#10;                &lt;Text style={{ fontSize: 16, color: '#20344B', lineHeight: 1.65 }}&gt;三项活动无需每轮携带十年宣传稿；整月预约可由程序按日期、房间和时段筛选。&lt;/Text&gt;&#10;                &lt;Text style={{ fontSize: 16, color: '#546779', lineHeight: 1.65 }}&gt;保留来源与筛选条件，别人才能复核这次到底看了哪些记录。&lt;/Text&gt;&#10;            &lt;/Box&gt;&#10;&#10;            &lt;Box style={{ flex: 45, height: 200, background: '#F4F7FA', borderRadius: 12, padding: 22, flexDirection: 'column', gap: 10 }}&gt;&#10;                &lt;Text style={{ fontSize: 22, fontWeight: 'bold', color: '#20344B' }}&gt;摘要　·　留下事实与未解决项&lt;/Text&gt;&#10;                &lt;Text style={{ fontSize: 16, color: '#20344B', lineHeight: 1.65 }}&gt;保留事实、来源和尚未解决的事项。&lt;/Text&gt;&#10;                &lt;Text style={{ fontSize: 16, color: '#546779', lineHeight: 1.65 }}&gt;摘要压缩的是篇幅，不是证据链。&lt;/Text&gt;&#10;            &lt;/Box&gt;&#10;&#10;        &lt;/Box&gt;&#10;&#10;        &lt;Box style={{ flexDirection: 'row', height: 92, background: '#F4F7FA', borderRadius: 10, padding: '0 20px', alignItems: 'center', gap: 16 }}&gt;&#10;            &lt;Box style={{ width: 4, height: 56, background: '#26816B' }} /&gt;&#10;            &lt;Box style={{ flexDirection: 'column', gap: 4 }}&gt;&#10;                &lt;Text style={{ fontSize: 14, color: '#546779' }}&gt;一条合格的摘要示例&lt;/Text&gt;&#10;                &lt;Text style={{ fontSize: 17, color: '#20344B' }}&gt;阅读分享二十四人，来源 requests.csv；预约已查；候选未通过&lt;/Text&gt;&#10;            &lt;/Box&gt;&#10;        &lt;/Box&gt;&#10;&#10;        &lt;Box style={{ flexDirection: 'row', height: 56, background: '#EDF4FC', borderRadius: 10, padding: '0 20px', alignItems: 'center', gap: 14 }}&gt;&#10;            &lt;Box style={{ width: 3, height: 30, background: '#276FBF' }} /&gt;&#10;            &lt;Text style={{ fontSize: 16, color: '#276FBF' }}&gt;摘要是派生结果；重要事实仍须能回查原文件。&lt;/Text&gt;&#10;        &lt;/Box&gt;&#10;&#10;    &lt;/Box&gt;&#10;&#10;    &lt;Box style={{ height: 40, flexDirection: 'row', justifyContent: 'space-between', alignItems: 'center' }}&gt;&#10;        &lt;Text style={{ fontSize: 14, color: '#546779' }}&gt;2.3 上下文工程&lt;/Text&gt;&#10;        &lt;Text style={{ fontSize: 14, color: '#546779' }}&gt;09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6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6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266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2.3.2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长上下文不是无限记忆</a:t>
            </a:r>
            <a:endParaRPr/>
          </a:p>
        </p:txBody>
      </p:sp>
      <p:sp>
        <p:nvSpPr>
          <p:cNvPr id="66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2669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先筛选，再摘要</a:t>
            </a:r>
            <a:endParaRPr/>
          </a:p>
        </p:txBody>
      </p:sp>
      <p:sp>
        <p:nvSpPr>
          <p:cNvPr id="666" name=""/>
          <p:cNvSpPr/>
          <p:nvPr/>
        </p:nvSpPr>
        <p:spPr>
          <a:xfrm rot="0" flipH="0" flipV="0">
            <a:off x="609600" y="1905000"/>
            <a:ext cx="5905500" cy="1905000"/>
          </a:xfrm>
          <a:prstGeom prst="roundRect">
            <a:avLst>
              <a:gd name="adj" fmla="val 6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67" name="" descr="{&quot;isTemplate&quot;:true,&quot;type&quot;:&quot;text&quot;}"/>
          <p:cNvSpPr txBox="1"/>
          <p:nvPr/>
        </p:nvSpPr>
        <p:spPr>
          <a:xfrm rot="0" flipH="0" flipV="0">
            <a:off x="819150" y="2114550"/>
            <a:ext cx="5486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筛选　·　把无关的挡在外面</a:t>
            </a:r>
            <a:endParaRPr/>
          </a:p>
        </p:txBody>
      </p:sp>
      <p:sp>
        <p:nvSpPr>
          <p:cNvPr id="668" name="" descr="{&quot;isTemplate&quot;:true,&quot;type&quot;:&quot;text&quot;}"/>
          <p:cNvSpPr txBox="1"/>
          <p:nvPr/>
        </p:nvSpPr>
        <p:spPr>
          <a:xfrm rot="0" flipH="0" flipV="0">
            <a:off x="819150" y="2466975"/>
            <a:ext cx="5486400" cy="3048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三项活动无需每轮携带十年宣传稿；整月预约可由程序按日期、房间和时段筛选。</a:t>
            </a:r>
            <a:endParaRPr/>
          </a:p>
        </p:txBody>
      </p:sp>
      <p:sp>
        <p:nvSpPr>
          <p:cNvPr id="669" name="" descr="{&quot;isTemplate&quot;:true,&quot;type&quot;:&quot;text&quot;}"/>
          <p:cNvSpPr txBox="1"/>
          <p:nvPr/>
        </p:nvSpPr>
        <p:spPr>
          <a:xfrm rot="0" flipH="0" flipV="0">
            <a:off x="819150" y="2867025"/>
            <a:ext cx="5486400" cy="3048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保留来源与筛选条件，别人才能复核这次到底看了哪些记录。</a:t>
            </a:r>
            <a:endParaRPr/>
          </a:p>
        </p:txBody>
      </p:sp>
      <p:sp>
        <p:nvSpPr>
          <p:cNvPr id="670" name=""/>
          <p:cNvSpPr/>
          <p:nvPr/>
        </p:nvSpPr>
        <p:spPr>
          <a:xfrm rot="0" flipH="0" flipV="0">
            <a:off x="6743700" y="1905000"/>
            <a:ext cx="4838700" cy="19050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71" name="" descr="{&quot;isTemplate&quot;:true,&quot;type&quot;:&quot;text&quot;}"/>
          <p:cNvSpPr txBox="1"/>
          <p:nvPr/>
        </p:nvSpPr>
        <p:spPr>
          <a:xfrm rot="0" flipH="0" flipV="0">
            <a:off x="6953250" y="2114550"/>
            <a:ext cx="4419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摘要　·　留下事实与未解决项</a:t>
            </a:r>
            <a:endParaRPr/>
          </a:p>
        </p:txBody>
      </p:sp>
      <p:sp>
        <p:nvSpPr>
          <p:cNvPr id="672" name="" descr="{&quot;isTemplate&quot;:true,&quot;type&quot;:&quot;text&quot;}"/>
          <p:cNvSpPr txBox="1"/>
          <p:nvPr/>
        </p:nvSpPr>
        <p:spPr>
          <a:xfrm rot="0" flipH="0" flipV="0">
            <a:off x="6953250" y="2466975"/>
            <a:ext cx="4419600" cy="3048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保留事实、来源和尚未解决的事项。</a:t>
            </a:r>
            <a:endParaRPr/>
          </a:p>
        </p:txBody>
      </p:sp>
      <p:sp>
        <p:nvSpPr>
          <p:cNvPr id="673" name="" descr="{&quot;isTemplate&quot;:true,&quot;type&quot;:&quot;text&quot;}"/>
          <p:cNvSpPr txBox="1"/>
          <p:nvPr/>
        </p:nvSpPr>
        <p:spPr>
          <a:xfrm rot="0" flipH="0" flipV="0">
            <a:off x="6953250" y="2867025"/>
            <a:ext cx="4419600" cy="3048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摘要压缩的是篇幅，不是证据链。</a:t>
            </a:r>
            <a:endParaRPr/>
          </a:p>
        </p:txBody>
      </p:sp>
      <p:sp>
        <p:nvSpPr>
          <p:cNvPr id="674" name=""/>
          <p:cNvSpPr/>
          <p:nvPr/>
        </p:nvSpPr>
        <p:spPr>
          <a:xfrm rot="0" flipH="0" flipV="0">
            <a:off x="609600" y="3962400"/>
            <a:ext cx="10972800" cy="876300"/>
          </a:xfrm>
          <a:prstGeom prst="roundRect">
            <a:avLst>
              <a:gd name="adj" fmla="val 1087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75" name=""/>
          <p:cNvSpPr/>
          <p:nvPr/>
        </p:nvSpPr>
        <p:spPr>
          <a:xfrm rot="0" flipH="0" flipV="0">
            <a:off x="800100" y="4133850"/>
            <a:ext cx="38100" cy="5334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76" name="" descr="{&quot;isTemplate&quot;:true,&quot;type&quot;:&quot;text&quot;}"/>
          <p:cNvSpPr txBox="1"/>
          <p:nvPr/>
        </p:nvSpPr>
        <p:spPr>
          <a:xfrm rot="0" flipH="0" flipV="0">
            <a:off x="990600" y="4200525"/>
            <a:ext cx="4552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一条合格的摘要示例</a:t>
            </a:r>
            <a:endParaRPr/>
          </a:p>
        </p:txBody>
      </p:sp>
      <p:sp>
        <p:nvSpPr>
          <p:cNvPr id="677" name="" descr="{&quot;isTemplate&quot;:true,&quot;type&quot;:&quot;text&quot;}"/>
          <p:cNvSpPr txBox="1"/>
          <p:nvPr/>
        </p:nvSpPr>
        <p:spPr>
          <a:xfrm rot="0" flipH="0" flipV="0">
            <a:off x="990600" y="4400550"/>
            <a:ext cx="4552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阅读分享二十四人，来源</a:t>
            </a:r>
            <a:r>
              <a:rPr lang="en-US" sz="1275">
                <a:solidFill>
                  <a:srgbClr val="20344B"/>
                </a:solidFill>
                <a:latin typeface="Microsoft YaHei"/>
                <a:ea typeface="Microsoft YaHei"/>
              </a:rPr>
              <a:t xml:space="preserve"> requests.csv</a:t>
            </a: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；预约已查；候选未通过</a:t>
            </a:r>
            <a:endParaRPr/>
          </a:p>
        </p:txBody>
      </p:sp>
      <p:sp>
        <p:nvSpPr>
          <p:cNvPr id="678" name=""/>
          <p:cNvSpPr/>
          <p:nvPr/>
        </p:nvSpPr>
        <p:spPr>
          <a:xfrm rot="0" flipH="0" flipV="0">
            <a:off x="609600" y="4991100"/>
            <a:ext cx="10972800" cy="533400"/>
          </a:xfrm>
          <a:prstGeom prst="roundRect">
            <a:avLst>
              <a:gd name="adj" fmla="val 1785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79" name=""/>
          <p:cNvSpPr/>
          <p:nvPr/>
        </p:nvSpPr>
        <p:spPr>
          <a:xfrm rot="0" flipH="0" flipV="0">
            <a:off x="800100" y="5114925"/>
            <a:ext cx="28575" cy="2857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80" name="" descr="{&quot;isTemplate&quot;:true,&quot;type&quot;:&quot;text&quot;}"/>
          <p:cNvSpPr txBox="1"/>
          <p:nvPr/>
        </p:nvSpPr>
        <p:spPr>
          <a:xfrm rot="0" flipH="0" flipV="0">
            <a:off x="962025" y="5162550"/>
            <a:ext cx="3200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摘要是派生结果；重要事实仍须能回查原文件。</a:t>
            </a:r>
            <a:endParaRPr/>
          </a:p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上下文工程</a:t>
            </a:r>
            <a:endParaRPr/>
          </a:p>
        </p:txBody>
      </p:sp>
      <p:sp>
        <p:nvSpPr>
          <p:cNvPr id="68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09 / 25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27" name="" descr="&lt;Slide notes={`摘要写得好不好，我很反对只用「简短」这一个标准来评价。&#10;&#10;更实际的做法是给摘要规定固定字段，然后抽查：日期对不对，人数对不对，活动的持续时间有没有留下，来源写清了没有，还有哪些事没有完成。&#10;&#10;我给一个具体的后果。如果摘要把那个手作活动的六十分钟时长丢掉了，后面无论写得多流畅都补救不回来，因为后面所有的安排都建立在一个错误的时长上。&#10;&#10;所以检查摘要时我去核对的是这几项，而不是去评价它读起来顺不顺、是不是够短。字段固定了，抽查才有依据，摘要也才是一份可以交接的工作记录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3.2　长上下文不是无限记忆&lt;/Text&gt;&#10;            &lt;Text style={{ fontSize: 34, fontWeight: 'bold', color: '#20344B' }}&gt;摘要要能抽查，不只要短&lt;/Text&gt;&#10;        &lt;/Box&gt;&#10;    &lt;/Box&gt;&#10;&#10;    &lt;Box style={{ height: 540, flexDirection: 'column', justifyContent: 'center', gap: 14 }}&gt;&#10;&#10;        &lt;Box style={{ flexDirection: 'row', gap: 40 }}&gt;&#10;&#10;            &lt;Box style={{ width: 340, flexDirection: 'column', gap: 14 }}&gt;&#10;                &lt;Text style={{ fontSize: 25, fontWeight: 'bold', color: '#276FBF', lineHeight: 1.45 }}&gt;给摘要规定固定字段，然后抽查&lt;/Text&gt;&#10;                &lt;Box style={{ width: 56, height: 3, background: '#26816B' }} /&gt;&#10;                &lt;Text style={{ fontSize: 17, color: '#546779', lineHeight: 1.75 }}&gt;评价摘要的标准不是「够不够短」，而是「关键事实还在不在」。字段固定下来，抽查才有依据。&lt;/Text&gt;&#10;            &lt;/Box&gt;&#10;&#10;            &lt;Box style={{ flex: 1, flexDirection: 'column', gap: 10 }}&gt;&#10;&#10;                &lt;Box style={{ height: 76, background: '#F4F7FA', borderRadius: 10, padding: '0 18px', flexDirection: 'row', alignItems: 'center', gap: 16 }}&gt;&#10;                    &lt;Box style={{ width: 4, height: 44, background: '#276FBF' }} /&gt;&#10;                    &lt;Box style={{ width: 120 }}&gt;&lt;Text style={{ fontSize: 18, fontWeight: 'bold', color: '#20344B' }}&gt;日期&lt;/Text&gt;&lt;/Box&gt;&#10;                    &lt;Box style={{ flex: 1 }}&gt;&lt;Text style={{ fontSize: 16, color: '#546779' }}&gt;活动发生在哪一天&lt;/Text&gt;&lt;/Box&gt;&#10;                &lt;/Box&gt;&#10;&#10;                &lt;Box style={{ height: 76, background: '#F4F7FA', borderRadius: 10, padding: '0 18px', flexDirection: 'row', alignItems: 'center', gap: 16 }}&gt;&#10;                    &lt;Box style={{ width: 4, height: 44, background: '#276FBF' }} /&gt;&#10;                    &lt;Box style={{ width: 120 }}&gt;&lt;Text style={{ fontSize: 18, fontWeight: 'bold', color: '#20344B' }}&gt;人数&lt;/Text&gt;&lt;/Box&gt;&#10;                    &lt;Box style={{ flex: 1 }}&gt;&lt;Text style={{ fontSize: 16, color: '#546779' }}&gt;用哪一版数字，来自哪份材料&lt;/Text&gt;&lt;/Box&gt;&#10;                &lt;/Box&gt;&#10;&#10;                &lt;Box style={{ height: 76, background: '#F4F7FA', borderRadius: 10, padding: '0 18px', flexDirection: 'row', alignItems: 'center', gap: 16 }}&gt;&#10;                    &lt;Box style={{ width: 4, height: 44, background: '#276FBF' }} /&gt;&#10;                    &lt;Box style={{ width: 120 }}&gt;&lt;Text style={{ fontSize: 18, fontWeight: 'bold', color: '#20344B' }}&gt;持续时间&lt;/Text&gt;&lt;/Box&gt;&#10;                    &lt;Box style={{ flex: 1 }}&gt;&lt;Text style={{ fontSize: 16, color: '#546779' }}&gt;各项活动各占多久&lt;/Text&gt;&lt;/Box&gt;&#10;                &lt;/Box&gt;&#10;&#10;                &lt;Box style={{ height: 76, background: '#F4F7FA', borderRadius: 10, padding: '0 18px', flexDirection: 'row', alignItems: 'center', gap: 16 }}&gt;&#10;                    &lt;Box style={{ width: 4, height: 44, background: '#26816B' }} /&gt;&#10;                    &lt;Box style={{ width: 120 }}&gt;&lt;Text style={{ fontSize: 18, fontWeight: 'bold', color: '#20344B' }}&gt;来源&lt;/Text&gt;&lt;/Box&gt;&#10;                    &lt;Box style={{ flex: 1 }}&gt;&lt;Text style={{ fontSize: 16, color: '#546779' }}&gt;事实依据出自哪份文件&lt;/Text&gt;&lt;/Box&gt;&#10;                &lt;/Box&gt;&#10;&#10;                &lt;Box style={{ height: 76, background: '#F4F7FA', borderRadius: 10, padding: '0 18px', flexDirection: 'row', alignItems: 'center', gap: 16 }}&gt;&#10;                    &lt;Box style={{ width: 4, height: 44, background: '#26816B' }} /&gt;&#10;                    &lt;Box style={{ width: 120 }}&gt;&lt;Text style={{ fontSize: 18, fontWeight: 'bold', color: '#20344B' }}&gt;未完成项&lt;/Text&gt;&lt;/Box&gt;&#10;                    &lt;Box style={{ flex: 1 }}&gt;&lt;Text style={{ fontSize: 16, color: '#546779' }}&gt;还有哪些事情没有解决&lt;/Text&gt;&lt;/Box&gt;&#10;                &lt;/Box&gt;&#10;&#10;            &lt;/Box&gt;&#10;&#10;        &lt;/Box&gt;&#10;&#10;        &lt;Box style={{ flexDirection: 'row', background: '#FFF4E6', borderRadius: 10, padding: '14px 20px', alignItems: 'center', gap: 14 }}&gt;&#10;            &lt;Box style={{ width: 3, height: 30, background: '#CB6B28' }} /&gt;&#10;            &lt;Text style={{ fontSize: 16, color: '#CB6B28', lineHeight: 1.6 }}&gt;摘要丢掉手作活动的六十分钟时长，后面写得再流畅也补救不回来。&lt;/Text&gt;&#10;        &lt;/Box&gt;&#10;&#10;    &lt;/Box&gt;&#10;&#10;    &lt;Box style={{ height: 40, flexDirection: 'row', justifyContent: 'space-between', alignItems: 'center' }}&gt;&#10;        &lt;Text style={{ fontSize: 14, color: '#546779' }}&gt;2.3 上下文工程&lt;/Text&gt;&#10;        &lt;Text style={{ fontSize: 14, color: '#546779' }}&gt;10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2.3.2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长上下文不是无限记忆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摘要要能抽查，不只要短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09600" y="1371600"/>
            <a:ext cx="32385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875" b="1">
                <a:solidFill>
                  <a:srgbClr val="276FBF"/>
                </a:solidFill>
                <a:latin typeface="Microsoft YaHei"/>
                <a:ea typeface="Microsoft YaHei"/>
              </a:rPr>
              <a:t>给摘要规定固定字段，然后抽查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609600" y="2333625"/>
            <a:ext cx="533400" cy="28575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609600" y="2495550"/>
            <a:ext cx="3238500" cy="1028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评价摘要的标准不是「够不够短」，而是「关键事实还在不在」。字段固定下来，抽查才有依据。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4229100" y="1371600"/>
            <a:ext cx="7353300" cy="723900"/>
          </a:xfrm>
          <a:prstGeom prst="roundRect">
            <a:avLst>
              <a:gd name="adj" fmla="val 1315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6" name=""/>
          <p:cNvSpPr/>
          <p:nvPr/>
        </p:nvSpPr>
        <p:spPr>
          <a:xfrm rot="0" flipH="0" flipV="0">
            <a:off x="4400550" y="15240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4591050" y="1628775"/>
            <a:ext cx="1143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日期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5886450" y="1638300"/>
            <a:ext cx="5524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活动发生在哪一天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4229100" y="2190750"/>
            <a:ext cx="7353300" cy="723900"/>
          </a:xfrm>
          <a:prstGeom prst="roundRect">
            <a:avLst>
              <a:gd name="adj" fmla="val 1315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0" name=""/>
          <p:cNvSpPr/>
          <p:nvPr/>
        </p:nvSpPr>
        <p:spPr>
          <a:xfrm rot="0" flipH="0" flipV="0">
            <a:off x="4400550" y="234315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4591050" y="2447925"/>
            <a:ext cx="1143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人数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5886450" y="2457450"/>
            <a:ext cx="5524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用哪一版数字，来自哪份材料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4229100" y="3009900"/>
            <a:ext cx="7353300" cy="723900"/>
          </a:xfrm>
          <a:prstGeom prst="roundRect">
            <a:avLst>
              <a:gd name="adj" fmla="val 1315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4" name=""/>
          <p:cNvSpPr/>
          <p:nvPr/>
        </p:nvSpPr>
        <p:spPr>
          <a:xfrm rot="0" flipH="0" flipV="0">
            <a:off x="4400550" y="31623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4591050" y="3267075"/>
            <a:ext cx="1143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持续时间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5886450" y="3276600"/>
            <a:ext cx="5524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各项活动各占多久</a:t>
            </a:r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4229100" y="3829050"/>
            <a:ext cx="7353300" cy="723900"/>
          </a:xfrm>
          <a:prstGeom prst="roundRect">
            <a:avLst>
              <a:gd name="adj" fmla="val 1315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8" name=""/>
          <p:cNvSpPr/>
          <p:nvPr/>
        </p:nvSpPr>
        <p:spPr>
          <a:xfrm rot="0" flipH="0" flipV="0">
            <a:off x="4400550" y="3981450"/>
            <a:ext cx="38100" cy="419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4591050" y="4086225"/>
            <a:ext cx="1143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来源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5886450" y="4095750"/>
            <a:ext cx="5524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事实依据出自哪份文件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4229100" y="4648200"/>
            <a:ext cx="7353300" cy="723900"/>
          </a:xfrm>
          <a:prstGeom prst="roundRect">
            <a:avLst>
              <a:gd name="adj" fmla="val 1315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2" name=""/>
          <p:cNvSpPr/>
          <p:nvPr/>
        </p:nvSpPr>
        <p:spPr>
          <a:xfrm rot="0" flipH="0" flipV="0">
            <a:off x="4400550" y="4800600"/>
            <a:ext cx="38100" cy="419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4591050" y="4905375"/>
            <a:ext cx="1143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未完成项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5886450" y="4914900"/>
            <a:ext cx="5524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还有哪些事情没有解决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609600" y="5505450"/>
            <a:ext cx="10972800" cy="561975"/>
          </a:xfrm>
          <a:prstGeom prst="roundRect">
            <a:avLst>
              <a:gd name="adj" fmla="val 1694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6" name=""/>
          <p:cNvSpPr/>
          <p:nvPr/>
        </p:nvSpPr>
        <p:spPr>
          <a:xfrm rot="0" flipH="0" flipV="0">
            <a:off x="800100" y="5648325"/>
            <a:ext cx="28575" cy="2857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962025" y="5638800"/>
            <a:ext cx="45720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摘要丢掉手作活动的六十分钟时长，后面写得再流畅也补救不回来。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上下文工程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10 / 25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60" name="" descr="&lt;Slide notes={`接下来看跨轮的状态怎么传。这一块先讲手工保留。&#10;&#10;有一个基本事实要先说清楚：直接发一个请求过去，服务端不会自动知道你的应用上一次发送了什么。它没有这个上下文，除非你把它带上去。&#10;&#10;所以手工管理的做法是，自己保存原输入，把上一轮的完整输出加到下一次的输入里，再追加用户的新消息。这里的关键词是「完整」：完整输出可能包括工具调用、推理相关条目和消息元数据，只保存最后那段文本，这些东西就丢了。&#10;&#10;书稿里给了两条路线，这一条是手工保留历史，下一条是用响应 ID 关联。两条都是可选项，选定一条就够了，但无论选哪条，都要说得清本轮实际获得的输入到底是什么。`} style={{ width: 1280, height: 720, background: '#FFFFFF', flexDirection: 'column', padding: '20px 64px' }}&gt;&#10;&#10;    &lt;Box style={{ height: 540, flexDirection: 'column', justifyContent: 'center', gap: 20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8, fontWeight: 'bold', color: '#FFFFFF' }}&gt;03&lt;/Text&gt;&#10;            &lt;/Box&gt;&#10;            &lt;Text style={{ fontSize: 16, color: '#546779' }}&gt;2.3.3&lt;/Text&gt;&#10;        &lt;/Box&gt;&#10;&#10;        &lt;Text style={{ fontSize: 56, fontWeight: 'bold', color: '#20344B', lineHeight: 1.15 }}&gt;OpenAI API：手工保留多轮状态&lt;/Text&gt;&#10;&#10;        &lt;Box style={{ width: 640, height: 4, background: '#276FBF' }} /&gt;&#10;&#10;        &lt;Text style={{ fontSize: 19, color: '#546779', lineHeight: 1.7 }}&gt;直接请求不会自动知道应用上一次发送了什么。&lt;/Text&gt;&#10;&#10;        &lt;Box style={{ marginTop: 8, flexDirection: 'row', alignItems: 'center', gap: 14 }}&gt;&#10;            &lt;Box style={{ width: 340, height: 56, background: '#EDF4FC', borderRadius: 8, justifyContent: 'center', alignItems: 'center' }}&gt;&#10;                &lt;Text style={{ fontSize: 15, color: '#276FBF' }}&gt;本轮输入：历史与新材料&lt;/Text&gt;&#10;            &lt;/Box&gt;&#10;            &lt;Box style={{ width: 44, justifyContent: 'center', alignItems: 'center' }}&gt;&#10;                &lt;Text style={{ fontSize: 26, color: '#276FBF' }}&gt;›&lt;/Text&gt;&#10;            &lt;/Box&gt;&#10;            &lt;Box style={{ width: 300, height: 56, background: '#ECF7F2', borderRadius: 8, justifyContent: 'center', alignItems: 'center' }}&gt;&#10;                &lt;Text style={{ fontSize: 15, color: '#26816B' }}&gt;保留完整输出项&lt;/Text&gt;&#10;            &lt;/Box&gt;&#10;            &lt;Box style={{ width: 44, justifyContent: 'center', alignItems: 'center' }}&gt;&#10;                &lt;Text style={{ fontSize: 26, color: '#276FBF' }}&gt;›&lt;/Text&gt;&#10;            &lt;/Box&gt;&#10;            &lt;Box style={{ width: 340, height: 56, background: '#EDF4FC', borderRadius: 8, justifyContent: 'center', alignItems: 'center' }}&gt;&#10;                &lt;Text style={{ fontSize: 15, color: '#276FBF' }}&gt;下轮输入：完整历史加新消息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3 上下文工程&lt;/Text&gt;&#10;        &lt;Text style={{ fontSize: 14, color: '#546779' }}&gt;11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2" name=""/>
          <p:cNvSpPr/>
          <p:nvPr/>
        </p:nvSpPr>
        <p:spPr>
          <a:xfrm rot="0" flipH="0" flipV="0">
            <a:off x="609600" y="1238250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714375" y="1343025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1295400" y="1409700"/>
            <a:ext cx="34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2.3.3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609600" y="196215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4200" b="1">
                <a:solidFill>
                  <a:srgbClr val="20344B"/>
                </a:solidFill>
                <a:latin typeface="Microsoft YaHei"/>
                <a:ea typeface="Microsoft YaHei"/>
              </a:rPr>
              <a:t>OpenAI API</a:t>
            </a: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：手工保留多轮状态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609600" y="2895600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609600" y="31242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直接请求不会自动知道应用上一次发送了什么。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609600" y="3762375"/>
            <a:ext cx="323850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1447800" y="3943350"/>
            <a:ext cx="1571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本轮输入：历史与新材料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4152900" y="387667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4533900" y="3762375"/>
            <a:ext cx="2857500" cy="533400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5467350" y="3943350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保留完整输出项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7696200" y="387667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8077200" y="3762375"/>
            <a:ext cx="323850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8772525" y="3943350"/>
            <a:ext cx="1857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下轮输入：完整历史加新消息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609600" y="54483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上下文工程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11125200" y="5448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11 / 25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78" name="" descr="&lt;Slide notes={`两条路线放在一起看，差别在于状态保存在哪一边。&#10;&#10;路线一，手工管理历史。本轮输入是历史加新材料；模型返回之后，我们把完整的 response.output 留下来，下一轮把它作为输入的一部分再发出去。应用要自己保管历史，也要自己控制它别长到超限。&#10;&#10;路线二，关联前一次响应。上一轮响应有一个真实的 id，下一次请求带上 previous_response_id，服务端就知道接在哪一轮后面。例外是：行为要求不会自动继承，这一次仍要用 instructions 显式再发一遍。&#10;&#10;最后几句是边界：只保存 output_text 会丢掉工具调用这类条目；关联响应不等于前面那些 Token 免费；业务进度仍要由应用自己保存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3.3　OpenAI API：手工保留多轮状态&lt;/Text&gt;&#10;            &lt;Text style={{ fontSize: 34, fontWeight: 'bold', color: '#20344B' }}&gt;两条路线，都要明确本轮输入&lt;/Text&gt;&#10;        &lt;/Box&gt;&#10;    &lt;/Box&gt;&#10;&#10;    &lt;Box style={{ height: 540, flexDirection: 'column', justifyContent: 'center', gap: 16 }}&gt;&#10;&#10;        &lt;Box style={{ flexDirection: 'row', gap: 40 }}&gt;&#10;&#10;            &lt;Box style={{ flex: 50, flexDirection: 'column', gap: 8 }}&gt;&#10;&#10;                &lt;Text style={{ fontSize: 22, fontWeight: 'bold', color: '#276FBF' }}&gt;路线一　手工管理历史&lt;/Text&gt;&#10;&#10;                &lt;Box style={{ height: 92, background: '#EDF4FC', borderRadius: 10, padding: '0 20px', justifyContent: 'center' }}&gt;&#10;                    &lt;Text style={{ fontSize: 17, fontWeight: 'bold', color: '#20344B' }}&gt;本轮输入&lt;/Text&gt;&#10;                    &lt;Text style={{ fontSize: 15, color: '#546779' }}&gt;历史与新材料&lt;/Text&gt;&#10;                &lt;/Box&gt;&#10;&#10;                &lt;Box style={{ height: 30, justifyContent: 'center', alignItems: 'center' }}&gt;&#10;                    &lt;Box style={{ width: 44, alignItems: 'center' }}&gt;&lt;Text style={{ fontSize: 22, color: '#276FBF' }}&gt;↓&lt;/Text&gt;&lt;/Box&gt;&#10;                &lt;/Box&gt;&#10;&#10;                &lt;Box style={{ height: 92, background: '#ECF7F2', borderRadius: 10, padding: '0 20px', justifyContent: 'center' }}&gt;&#10;                    &lt;Text style={{ fontSize: 17, fontWeight: 'bold', color: '#26816B' }}&gt;保留完整输出项&lt;/Text&gt;&#10;                    &lt;Text style={{ fontSize: 15, color: '#546779' }}&gt;response.output&lt;/Text&gt;&#10;                &lt;/Box&gt;&#10;&#10;                &lt;Box style={{ height: 30, justifyContent: 'center', alignItems: 'center' }}&gt;&#10;                    &lt;Box style={{ width: 44, alignItems: 'center' }}&gt;&lt;Text style={{ fontSize: 22, color: '#276FBF' }}&gt;↓&lt;/Text&gt;&lt;/Box&gt;&#10;                &lt;/Box&gt;&#10;&#10;                &lt;Box style={{ height: 92, background: '#EDF4FC', borderRadius: 10, padding: '0 20px', justifyContent: 'center' }}&gt;&#10;                    &lt;Text style={{ fontSize: 17, fontWeight: 'bold', color: '#20344B' }}&gt;下轮输入&lt;/Text&gt;&#10;                    &lt;Text style={{ fontSize: 15, color: '#546779' }}&gt;完整历史加新消息&lt;/Text&gt;&#10;                &lt;/Box&gt;&#10;&#10;            &lt;/Box&gt;&#10;&#10;            &lt;Box style={{ flex: 50, flexDirection: 'column', gap: 8 }}&gt;&#10;&#10;                &lt;Text style={{ fontSize: 22, fontWeight: 'bold', color: '#26816B' }}&gt;路线二　关联前一次响应&lt;/Text&gt;&#10;&#10;                &lt;Box style={{ height: 92, background: '#ECF7F2', borderRadius: 10, padding: '0 20px', justifyContent: 'center' }}&gt;&#10;                    &lt;Text style={{ fontSize: 17, fontWeight: 'bold', color: '#20344B' }}&gt;上一轮响应&lt;/Text&gt;&#10;                    &lt;Text style={{ fontSize: 15, color: '#546779' }}&gt;真实的 response.id&lt;/Text&gt;&#10;                &lt;/Box&gt;&#10;&#10;                &lt;Box style={{ height: 30, justifyContent: 'center', alignItems: 'center' }}&gt;&#10;                    &lt;Box style={{ width: 44, alignItems: 'center' }}&gt;&lt;Text style={{ fontSize: 22, color: '#26816B' }}&gt;↓&lt;/Text&gt;&lt;/Box&gt;&#10;                &lt;/Box&gt;&#10;&#10;                &lt;Box style={{ height: 92, background: '#FFF4E6', borderRadius: 10, padding: '0 20px', justifyContent: 'center' }}&gt;&#10;                    &lt;Text style={{ fontSize: 17, fontWeight: 'bold', color: '#CB6B28' }}&gt;行为要求&lt;/Text&gt;&#10;                    &lt;Text style={{ fontSize: 15, color: '#546779' }}&gt;本次仍要显式提供 instructions&lt;/Text&gt;&#10;                &lt;/Box&gt;&#10;&#10;                &lt;Box style={{ height: 30, justifyContent: 'center', alignItems: 'center' }}&gt;&#10;                    &lt;Box style={{ width: 44, alignItems: 'center' }}&gt;&lt;Text style={{ fontSize: 22, color: '#26816B' }}&gt;↓&lt;/Text&gt;&lt;/Box&gt;&#10;                &lt;/Box&gt;&#10;&#10;                &lt;Box style={{ height: 92, background: '#EDF4FC', borderRadius: 10, padding: '0 20px', justifyContent: 'center' }}&gt;&#10;                    &lt;Text style={{ fontSize: 17, fontWeight: 'bold', color: '#20344B' }}&gt;下轮请求&lt;/Text&gt;&#10;                    &lt;Text style={{ fontSize: 15, color: '#546779' }}&gt;previous_response_id&lt;/Text&gt;&#10;                &lt;/Box&gt;&#10;&#10;            &lt;/Box&gt;&#10;&#10;        &lt;/Box&gt;&#10;&#10;        &lt;Box style={{ flexDirection: 'row', background: '#FFF4E6', borderRadius: 10, padding: '14px 20px', alignItems: 'center', gap: 14 }}&gt;&#10;            &lt;Box style={{ width: 3, height: 30, background: '#CB6B28' }} /&gt;&#10;            &lt;Text style={{ fontSize: 16, color: '#CB6B28', lineHeight: 1.6 }}&gt;只保留 output_text 会丢工具项；关联响应不等于免费 Token；业务进度仍由应用单独保存。&lt;/Text&gt;&#10;        &lt;/Box&gt;&#10;&#10;    &lt;/Box&gt;&#10;&#10;    &lt;Box style={{ height: 40, flexDirection: 'row', justifyContent: 'space-between', alignItems: 'center' }}&gt;&#10;        &lt;Text style={{ fontSize: 14, color: '#546779' }}&gt;2.3 上下文工程&lt;/Text&gt;&#10;        &lt;Text style={{ fontSize: 14, color: '#546779' }}&gt;12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2.3.3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OpenAI API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：手工保留多轮状态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两条路线，都要明确本轮输入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609600" y="1438275"/>
            <a:ext cx="5295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路线一　手工管理历史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609600" y="1771650"/>
            <a:ext cx="5295900" cy="876300"/>
          </a:xfrm>
          <a:prstGeom prst="roundRect">
            <a:avLst>
              <a:gd name="adj" fmla="val 1087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800100" y="2028825"/>
            <a:ext cx="4914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本轮输入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800100" y="2228850"/>
            <a:ext cx="4914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历史与新材料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3209925" y="2743200"/>
            <a:ext cx="104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609600" y="3086100"/>
            <a:ext cx="5295900" cy="876300"/>
          </a:xfrm>
          <a:prstGeom prst="roundRect">
            <a:avLst>
              <a:gd name="adj" fmla="val 1087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800100" y="3343275"/>
            <a:ext cx="4914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保留完整输出项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800100" y="3543300"/>
            <a:ext cx="4914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response.output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3209925" y="4057650"/>
            <a:ext cx="104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609600" y="4400550"/>
            <a:ext cx="5295900" cy="876300"/>
          </a:xfrm>
          <a:prstGeom prst="roundRect">
            <a:avLst>
              <a:gd name="adj" fmla="val 1087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800100" y="4657725"/>
            <a:ext cx="4914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下轮输入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800100" y="4857750"/>
            <a:ext cx="4914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完整历史加新消息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6286500" y="1438275"/>
            <a:ext cx="5295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6816B"/>
                </a:solidFill>
                <a:latin typeface="Microsoft YaHei"/>
                <a:ea typeface="Microsoft YaHei"/>
              </a:rPr>
              <a:t>路线二　关联前一次响应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6286500" y="1771650"/>
            <a:ext cx="5295900" cy="876300"/>
          </a:xfrm>
          <a:prstGeom prst="roundRect">
            <a:avLst>
              <a:gd name="adj" fmla="val 1087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6477000" y="2028825"/>
            <a:ext cx="4914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上一轮响应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6477000" y="2228850"/>
            <a:ext cx="4914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真实的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response.id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8886825" y="2743200"/>
            <a:ext cx="104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6286500" y="3086100"/>
            <a:ext cx="5295900" cy="876300"/>
          </a:xfrm>
          <a:prstGeom prst="roundRect">
            <a:avLst>
              <a:gd name="adj" fmla="val 1087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6477000" y="3343275"/>
            <a:ext cx="4914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行为要求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6477000" y="3543300"/>
            <a:ext cx="4914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本次仍要显式提供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instructions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8886825" y="4057650"/>
            <a:ext cx="104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04" name=""/>
          <p:cNvSpPr/>
          <p:nvPr/>
        </p:nvSpPr>
        <p:spPr>
          <a:xfrm rot="0" flipH="0" flipV="0">
            <a:off x="6286500" y="4400550"/>
            <a:ext cx="5295900" cy="876300"/>
          </a:xfrm>
          <a:prstGeom prst="roundRect">
            <a:avLst>
              <a:gd name="adj" fmla="val 1087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6477000" y="4657725"/>
            <a:ext cx="4914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下轮请求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6477000" y="4857750"/>
            <a:ext cx="4914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previous_response_id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609600" y="5429250"/>
            <a:ext cx="10972800" cy="561975"/>
          </a:xfrm>
          <a:prstGeom prst="roundRect">
            <a:avLst>
              <a:gd name="adj" fmla="val 1694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08" name=""/>
          <p:cNvSpPr/>
          <p:nvPr/>
        </p:nvSpPr>
        <p:spPr>
          <a:xfrm rot="0" flipH="0" flipV="0">
            <a:off x="800100" y="5572125"/>
            <a:ext cx="28575" cy="2857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962025" y="5562600"/>
            <a:ext cx="62865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只保留</a:t>
            </a:r>
            <a:r>
              <a:rPr lang="en-US" sz="1200">
                <a:solidFill>
                  <a:srgbClr val="CB6B28"/>
                </a:solidFill>
                <a:latin typeface="Microsoft YaHei"/>
                <a:ea typeface="Microsoft YaHei"/>
              </a:rPr>
              <a:t xml:space="preserve"> output_text </a:t>
            </a: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会丢工具项；关联响应不等于免费</a:t>
            </a:r>
            <a:r>
              <a:rPr lang="en-US" sz="1200">
                <a:solidFill>
                  <a:srgbClr val="CB6B28"/>
                </a:solidFill>
                <a:latin typeface="Microsoft YaHei"/>
                <a:ea typeface="Microsoft YaHei"/>
              </a:rPr>
              <a:t xml:space="preserve"> Token</a:t>
            </a: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；业务进度仍由应用单独保存。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上下文工程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12 / 25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12" name="" descr="&lt;Slide notes={`这段代码是手工管理的最小形态，我把关键几步拆开说。&#10;&#10;第一条消息先把资料和人数写进去，让模型检查一次。拿到结果以后，最关键的一步是把完整的输出项接回历史里，而不是只挑出那段给人看的文本。&#10;&#10;然后追加用户的新消息：人数在正式需求里改成十三人，请按新人数重新检查，不沿用旧结论。&#10;&#10;第二次请求把整段历史再发出去，所以模型这一次看到的，既有上一轮的全部输出，也有这条新消息。&#10;&#10;这段例子的观察目标很明确：十三人大于十二人的容量，正确的回答应该指出冲突，不能继续说人数符合要求。真实应用还要同步更新任务的正式数据并重新运行检查，不能只改聊天记录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3.3　OpenAI API：手工保留多轮状态&lt;/Text&gt;&#10;            &lt;Text style={{ fontSize: 34, fontWeight: 'bold', color: '#20344B' }}&gt;手工管理：保存什么，追加什么&lt;/Text&gt;&#10;        &lt;/Box&gt;&#10;    &lt;/Box&gt;&#10;&#10;    &lt;Box style={{ height: 540, flexDirection: 'row', justifyContent: 'center', alignItems: 'center', gap: 24 }}&gt;&#10;&#10;        &lt;Box style={{ flex: 60, flexDirection: 'column', gap: 10 }}&gt;&#10;            &lt;Text style={{ fontSize: 18, fontWeight: 'bold', color: '#546779' }}&gt;一次请求里，历史是怎样接上的&lt;/Text&gt;&#10;&#10;            &lt;Box style={{ background: '#EDF4FC', borderRadius: 10, padding: '18px 20px', flexDirection: 'column' }}&gt;&#10;                &lt;Text style={{ fontSize: 13, color: '#20344B', fontFamily: 'Consolas, monospace', lineHeight: 1.75 }}&gt;rules = &quot;依据已提供资料回答；候选、查询结果和已验证事实须明确区分。&quot;&lt;/Text&gt;&#10;                &lt;Text style={{ fontSize: 13, color: '#20344B', fontFamily: 'Consolas, monospace', lineHeight: 1.75 }}&gt;history = [{'{'}&quot;role&quot;: &quot;user&quot;, &quot;content&quot;: &quot;手作室容量12人，活动10人。先检查人数。&quot;{'}'}]&lt;/Text&gt;&#10;                &lt;Text style={{ fontSize: 13, color: '#20344B', fontFamily: 'Consolas, monospace', lineHeight: 1.75 }}&gt;first = client.responses.create(&lt;/Text&gt;&#10;                &lt;Text style={{ fontSize: 13, color: '#546779', fontFamily: 'Consolas, monospace', lineHeight: 1.75 }}&gt;{'    '}model=os.environ[&quot;OPENAI_MODEL&quot;],&lt;/Text&gt;&#10;                &lt;Text style={{ fontSize: 13, color: '#546779', fontFamily: 'Consolas, monospace', lineHeight: 1.75 }}&gt;{'    '}instructions=rules, input=history, store=False,&lt;/Text&gt;&#10;                &lt;Text style={{ fontSize: 13, color: '#20344B', fontFamily: 'Consolas, monospace', lineHeight: 1.75 }}&gt;)&lt;/Text&gt;&#10;                &lt;Text style={{ fontSize: 13, color: '#26816B', fontFamily: 'Consolas, monospace', lineHeight: 1.75 }}&gt;history.extend(first.output){'        '}# 保留完整输出项&lt;/Text&gt;&#10;                &lt;Text style={{ fontSize: 13, color: '#20344B', fontFamily: 'Consolas, monospace', lineHeight: 1.75 }}&gt;history.append({'{'}&lt;/Text&gt;&#10;                &lt;Text style={{ fontSize: 13, color: '#546779', fontFamily: 'Consolas, monospace', lineHeight: 1.75 }}&gt;{'    '}&quot;role&quot;: &quot;user&quot;,&lt;/Text&gt;&#10;                &lt;Text style={{ fontSize: 13, color: '#546779', fontFamily: 'Consolas, monospace', lineHeight: 1.75 }}&gt;{'    '}&quot;content&quot;: &quot;人数改成13人，请重新检查，不沿用旧结论。&quot;,&lt;/Text&gt;&#10;                &lt;Text style={{ fontSize: 13, color: '#20344B', fontFamily: 'Consolas, monospace', lineHeight: 1.75 }}&gt;{'}'})&lt;/Text&gt;&#10;                &lt;Text style={{ fontSize: 13, color: '#20344B', fontFamily: 'Consolas, monospace', lineHeight: 1.75 }}&gt;second = client.responses.create(&lt;/Text&gt;&#10;                &lt;Text style={{ fontSize: 13, color: '#546779', fontFamily: 'Consolas, monospace', lineHeight: 1.75 }}&gt;{'    '}model=os.environ[&quot;OPENAI_MODEL&quot;],&lt;/Text&gt;&#10;                &lt;Text style={{ fontSize: 13, color: '#546779', fontFamily: 'Consolas, monospace', lineHeight: 1.75 }}&gt;{'    '}instructions=rules, input=history, store=False,&lt;/Text&gt;&#10;                &lt;Text style={{ fontSize: 13, color: '#20344B', fontFamily: 'Consolas, monospace', lineHeight: 1.75 }}&gt;)&lt;/Text&gt;&#10;            &lt;/Box&gt;&#10;        &lt;/Box&gt;&#10;&#10;        &lt;Box style={{ flex: 40, flexDirection: 'column', gap: 12 }}&gt;&#10;&#10;            &lt;Box style={{ height: 108, background: '#F4F7FA', borderRadius: 10, padding: '0 18px', justifyContent: 'center' }}&gt;&#10;                &lt;Text style={{ fontSize: 17, fontWeight: 'bold', color: '#20344B' }}&gt;保存原输入&lt;/Text&gt;&#10;                &lt;Text style={{ fontSize: 15, color: '#546779', lineHeight: 1.55 }}&gt;不要只留最后一句给用户看的文本&lt;/Text&gt;&#10;            &lt;/Box&gt;&#10;&#10;            &lt;Box style={{ height: 108, background: '#ECF7F2', borderRadius: 10, padding: '0 18px', justifyContent: 'center' }}&gt;&#10;                &lt;Text style={{ fontSize: 17, fontWeight: 'bold', color: '#26816B' }}&gt;加入完整输出&lt;/Text&gt;&#10;                &lt;Text style={{ fontSize: 15, color: '#546779', lineHeight: 1.55 }}&gt;工具调用、推理条目与消息元数据都在里面&lt;/Text&gt;&#10;            &lt;/Box&gt;&#10;&#10;            &lt;Box style={{ height: 108, background: '#EDF4FC', borderRadius: 10, padding: '0 18px', justifyContent: 'center' }}&gt;&#10;                &lt;Text style={{ fontSize: 17, fontWeight: 'bold', color: '#276FBF' }}&gt;再追加新消息&lt;/Text&gt;&#10;                &lt;Text style={{ fontSize: 15, color: '#546779', lineHeight: 1.55 }}&gt;明确要求按新人数重新检查&lt;/Text&gt;&#10;            &lt;/Box&gt;&#10;&#10;            &lt;Box style={{ flexDirection: 'row', background: '#FFF4E6', borderRadius: 10, padding: '14px 18px', alignItems: 'center', gap: 12 }}&gt;&#10;                &lt;Box style={{ width: 3, height: 30, background: '#CB6B28' }} /&gt;&#10;                &lt;Text style={{ fontSize: 15, color: '#CB6B28', lineHeight: 1.55 }}&gt;十三人大于十二人容量，正确回答应指出冲突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3 上下文工程&lt;/Text&gt;&#10;        &lt;Text style={{ fontSize: 14, color: '#546779' }}&gt;13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53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2.3.3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OpenAI API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：手工保留多轮状态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手工管理：保存什么，追加什么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609600" y="1390650"/>
            <a:ext cx="64484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546779"/>
                </a:solidFill>
                <a:latin typeface="Microsoft YaHei"/>
                <a:ea typeface="Microsoft YaHei"/>
              </a:rPr>
              <a:t>一次请求里，历史是怎样接上的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609600" y="1695450"/>
            <a:ext cx="6448425" cy="4343400"/>
          </a:xfrm>
          <a:prstGeom prst="roundRect">
            <a:avLst>
              <a:gd name="adj" fmla="val 219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800100" y="1866900"/>
            <a:ext cx="6067425" cy="2667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20344B"/>
                </a:solidFill>
                <a:latin typeface="Consolas"/>
                <a:ea typeface="Consolas"/>
              </a:rPr>
              <a:t>rules = "</a:t>
            </a:r>
            <a:r>
              <a:rPr lang="zh-CN" sz="975">
                <a:solidFill>
                  <a:srgbClr val="20344B"/>
                </a:solidFill>
                <a:latin typeface="Consolas"/>
                <a:ea typeface="Consolas"/>
              </a:rPr>
              <a:t>依据已提供资料回答；候选、查询结果和已验证事实须明确区分。</a:t>
            </a:r>
            <a:r>
              <a:rPr lang="en-US" sz="975">
                <a:solidFill>
                  <a:srgbClr val="20344B"/>
                </a:solidFill>
                <a:latin typeface="Consolas"/>
                <a:ea typeface="Consolas"/>
              </a:rPr>
              <a:t>"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800100" y="2133600"/>
            <a:ext cx="6067425" cy="2667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20344B"/>
                </a:solidFill>
                <a:latin typeface="Consolas"/>
                <a:ea typeface="Consolas"/>
              </a:rPr>
              <a:t>history = [</a:t>
            </a:r>
            <a:r>
              <a:rPr lang="en-US" sz="975">
                <a:solidFill>
                  <a:srgbClr val="20344B"/>
                </a:solidFill>
                <a:latin typeface="Consolas"/>
                <a:ea typeface="Consolas"/>
              </a:rPr>
              <a:t>{</a:t>
            </a:r>
            <a:r>
              <a:rPr lang="en-US" sz="975">
                <a:solidFill>
                  <a:srgbClr val="20344B"/>
                </a:solidFill>
                <a:latin typeface="Consolas"/>
                <a:ea typeface="Consolas"/>
              </a:rPr>
              <a:t>"role": "user", "content": "</a:t>
            </a:r>
            <a:r>
              <a:rPr lang="zh-CN" sz="975">
                <a:solidFill>
                  <a:srgbClr val="20344B"/>
                </a:solidFill>
                <a:latin typeface="Consolas"/>
                <a:ea typeface="Consolas"/>
              </a:rPr>
              <a:t>手作室容量</a:t>
            </a:r>
            <a:r>
              <a:rPr lang="en-US" sz="975">
                <a:solidFill>
                  <a:srgbClr val="20344B"/>
                </a:solidFill>
                <a:latin typeface="Consolas"/>
                <a:ea typeface="Consolas"/>
              </a:rPr>
              <a:t>12</a:t>
            </a:r>
            <a:r>
              <a:rPr lang="zh-CN" sz="975">
                <a:solidFill>
                  <a:srgbClr val="20344B"/>
                </a:solidFill>
                <a:latin typeface="Consolas"/>
                <a:ea typeface="Consolas"/>
              </a:rPr>
              <a:t>人，活动</a:t>
            </a:r>
            <a:r>
              <a:rPr lang="en-US" sz="975">
                <a:solidFill>
                  <a:srgbClr val="20344B"/>
                </a:solidFill>
                <a:latin typeface="Consolas"/>
                <a:ea typeface="Consolas"/>
              </a:rPr>
              <a:t>10</a:t>
            </a:r>
            <a:r>
              <a:rPr lang="zh-CN" sz="975">
                <a:solidFill>
                  <a:srgbClr val="20344B"/>
                </a:solidFill>
                <a:latin typeface="Consolas"/>
                <a:ea typeface="Consolas"/>
              </a:rPr>
              <a:t>人。先检查人数。</a:t>
            </a:r>
            <a:r>
              <a:rPr lang="en-US" sz="975">
                <a:solidFill>
                  <a:srgbClr val="20344B"/>
                </a:solidFill>
                <a:latin typeface="Consolas"/>
                <a:ea typeface="Consolas"/>
              </a:rPr>
              <a:t>"</a:t>
            </a:r>
            <a:r>
              <a:rPr lang="en-US" sz="975">
                <a:solidFill>
                  <a:srgbClr val="20344B"/>
                </a:solidFill>
                <a:latin typeface="Consolas"/>
                <a:ea typeface="Consolas"/>
              </a:rPr>
              <a:t>}</a:t>
            </a:r>
            <a:r>
              <a:rPr lang="en-US" sz="975">
                <a:solidFill>
                  <a:srgbClr val="20344B"/>
                </a:solidFill>
                <a:latin typeface="Consolas"/>
                <a:ea typeface="Consolas"/>
              </a:rPr>
              <a:t>]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800100" y="2400300"/>
            <a:ext cx="6067425" cy="2667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20344B"/>
                </a:solidFill>
                <a:latin typeface="Consolas"/>
                <a:ea typeface="Consolas"/>
              </a:rPr>
              <a:t>first = client.responses.create(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800100" y="2667000"/>
            <a:ext cx="6067425" cy="2667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546779"/>
                </a:solidFill>
                <a:latin typeface="Consolas"/>
                <a:ea typeface="Consolas"/>
              </a:rPr>
              <a:t xml:space="preserve">    </a:t>
            </a:r>
            <a:r>
              <a:rPr lang="en-US" sz="975">
                <a:solidFill>
                  <a:srgbClr val="546779"/>
                </a:solidFill>
                <a:latin typeface="Consolas"/>
                <a:ea typeface="Consolas"/>
              </a:rPr>
              <a:t>model=os.environ["OPENAI_MODEL"],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800100" y="2933700"/>
            <a:ext cx="6067425" cy="2667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546779"/>
                </a:solidFill>
                <a:latin typeface="Consolas"/>
                <a:ea typeface="Consolas"/>
              </a:rPr>
              <a:t xml:space="preserve">    </a:t>
            </a:r>
            <a:r>
              <a:rPr lang="en-US" sz="975">
                <a:solidFill>
                  <a:srgbClr val="546779"/>
                </a:solidFill>
                <a:latin typeface="Consolas"/>
                <a:ea typeface="Consolas"/>
              </a:rPr>
              <a:t>instructions=rules, input=history, store=False,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800100" y="3200400"/>
            <a:ext cx="6067425" cy="2667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20344B"/>
                </a:solidFill>
                <a:latin typeface="Consolas"/>
                <a:ea typeface="Consolas"/>
              </a:rPr>
              <a:t>)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800100" y="3467100"/>
            <a:ext cx="6067425" cy="2667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26816B"/>
                </a:solidFill>
                <a:latin typeface="Consolas"/>
                <a:ea typeface="Consolas"/>
              </a:rPr>
              <a:t>history.extend(first.output)</a:t>
            </a:r>
            <a:r>
              <a:rPr lang="en-US" sz="975">
                <a:solidFill>
                  <a:srgbClr val="26816B"/>
                </a:solidFill>
                <a:latin typeface="Consolas"/>
                <a:ea typeface="Consolas"/>
              </a:rPr>
              <a:t xml:space="preserve">        </a:t>
            </a:r>
            <a:r>
              <a:rPr lang="en-US" sz="975">
                <a:solidFill>
                  <a:srgbClr val="26816B"/>
                </a:solidFill>
                <a:latin typeface="Consolas"/>
                <a:ea typeface="Consolas"/>
              </a:rPr>
              <a:t xml:space="preserve"># </a:t>
            </a:r>
            <a:r>
              <a:rPr lang="zh-CN" sz="975">
                <a:solidFill>
                  <a:srgbClr val="26816B"/>
                </a:solidFill>
                <a:latin typeface="Consolas"/>
                <a:ea typeface="Consolas"/>
              </a:rPr>
              <a:t>保留完整输出项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800100" y="3733800"/>
            <a:ext cx="6067425" cy="2667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20344B"/>
                </a:solidFill>
                <a:latin typeface="Consolas"/>
                <a:ea typeface="Consolas"/>
              </a:rPr>
              <a:t>history.append(</a:t>
            </a:r>
            <a:r>
              <a:rPr lang="en-US" sz="975">
                <a:solidFill>
                  <a:srgbClr val="20344B"/>
                </a:solidFill>
                <a:latin typeface="Consolas"/>
                <a:ea typeface="Consolas"/>
              </a:rPr>
              <a:t>{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800100" y="4000500"/>
            <a:ext cx="6067425" cy="2667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546779"/>
                </a:solidFill>
                <a:latin typeface="Consolas"/>
                <a:ea typeface="Consolas"/>
              </a:rPr>
              <a:t xml:space="preserve">    </a:t>
            </a:r>
            <a:r>
              <a:rPr lang="en-US" sz="975">
                <a:solidFill>
                  <a:srgbClr val="546779"/>
                </a:solidFill>
                <a:latin typeface="Consolas"/>
                <a:ea typeface="Consolas"/>
              </a:rPr>
              <a:t>"role": "user",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800100" y="4267200"/>
            <a:ext cx="6067425" cy="2667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546779"/>
                </a:solidFill>
                <a:latin typeface="Consolas"/>
                <a:ea typeface="Consolas"/>
              </a:rPr>
              <a:t xml:space="preserve">    </a:t>
            </a:r>
            <a:r>
              <a:rPr lang="en-US" sz="975">
                <a:solidFill>
                  <a:srgbClr val="546779"/>
                </a:solidFill>
                <a:latin typeface="Consolas"/>
                <a:ea typeface="Consolas"/>
              </a:rPr>
              <a:t>"content": "</a:t>
            </a:r>
            <a:r>
              <a:rPr lang="zh-CN" sz="975">
                <a:solidFill>
                  <a:srgbClr val="546779"/>
                </a:solidFill>
                <a:latin typeface="Consolas"/>
                <a:ea typeface="Consolas"/>
              </a:rPr>
              <a:t>人数改成</a:t>
            </a:r>
            <a:r>
              <a:rPr lang="en-US" sz="975">
                <a:solidFill>
                  <a:srgbClr val="546779"/>
                </a:solidFill>
                <a:latin typeface="Consolas"/>
                <a:ea typeface="Consolas"/>
              </a:rPr>
              <a:t>13</a:t>
            </a:r>
            <a:r>
              <a:rPr lang="zh-CN" sz="975">
                <a:solidFill>
                  <a:srgbClr val="546779"/>
                </a:solidFill>
                <a:latin typeface="Consolas"/>
                <a:ea typeface="Consolas"/>
              </a:rPr>
              <a:t>人，请重新检查，不沿用旧结论。</a:t>
            </a:r>
            <a:r>
              <a:rPr lang="en-US" sz="975">
                <a:solidFill>
                  <a:srgbClr val="546779"/>
                </a:solidFill>
                <a:latin typeface="Consolas"/>
                <a:ea typeface="Consolas"/>
              </a:rPr>
              <a:t>",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800100" y="4533900"/>
            <a:ext cx="6067425" cy="2667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20344B"/>
                </a:solidFill>
                <a:latin typeface="Consolas"/>
                <a:ea typeface="Consolas"/>
              </a:rPr>
              <a:t>}</a:t>
            </a:r>
            <a:r>
              <a:rPr lang="en-US" sz="975">
                <a:solidFill>
                  <a:srgbClr val="20344B"/>
                </a:solidFill>
                <a:latin typeface="Consolas"/>
                <a:ea typeface="Consolas"/>
              </a:rPr>
              <a:t>)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800100" y="4800600"/>
            <a:ext cx="6067425" cy="2667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20344B"/>
                </a:solidFill>
                <a:latin typeface="Consolas"/>
                <a:ea typeface="Consolas"/>
              </a:rPr>
              <a:t>second = client.responses.create(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800100" y="5067300"/>
            <a:ext cx="6067425" cy="2667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546779"/>
                </a:solidFill>
                <a:latin typeface="Consolas"/>
                <a:ea typeface="Consolas"/>
              </a:rPr>
              <a:t xml:space="preserve">    </a:t>
            </a:r>
            <a:r>
              <a:rPr lang="en-US" sz="975">
                <a:solidFill>
                  <a:srgbClr val="546779"/>
                </a:solidFill>
                <a:latin typeface="Consolas"/>
                <a:ea typeface="Consolas"/>
              </a:rPr>
              <a:t>model=os.environ["OPENAI_MODEL"],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800100" y="5334000"/>
            <a:ext cx="6067425" cy="2667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546779"/>
                </a:solidFill>
                <a:latin typeface="Consolas"/>
                <a:ea typeface="Consolas"/>
              </a:rPr>
              <a:t xml:space="preserve">    </a:t>
            </a:r>
            <a:r>
              <a:rPr lang="en-US" sz="975">
                <a:solidFill>
                  <a:srgbClr val="546779"/>
                </a:solidFill>
                <a:latin typeface="Consolas"/>
                <a:ea typeface="Consolas"/>
              </a:rPr>
              <a:t>instructions=rules, input=history, store=False,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800100" y="5600700"/>
            <a:ext cx="6067425" cy="2667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20344B"/>
                </a:solidFill>
                <a:latin typeface="Consolas"/>
                <a:ea typeface="Consolas"/>
              </a:rPr>
              <a:t>)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7286625" y="1724025"/>
            <a:ext cx="4295775" cy="1028700"/>
          </a:xfrm>
          <a:prstGeom prst="roundRect">
            <a:avLst>
              <a:gd name="adj" fmla="val 925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7458075" y="2009775"/>
            <a:ext cx="3952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保存原输入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7458075" y="2209800"/>
            <a:ext cx="395287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不要只留最后一句给用户看的文本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7286625" y="2867025"/>
            <a:ext cx="4295775" cy="1028700"/>
          </a:xfrm>
          <a:prstGeom prst="roundRect">
            <a:avLst>
              <a:gd name="adj" fmla="val 925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7458075" y="3152775"/>
            <a:ext cx="3952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加入完整输出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7458075" y="3352800"/>
            <a:ext cx="395287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工具调用、推理条目与消息元数据都在里面</a:t>
            </a:r>
            <a:endParaRPr/>
          </a:p>
        </p:txBody>
      </p:sp>
      <p:sp>
        <p:nvSpPr>
          <p:cNvPr id="140" name=""/>
          <p:cNvSpPr/>
          <p:nvPr/>
        </p:nvSpPr>
        <p:spPr>
          <a:xfrm rot="0" flipH="0" flipV="0">
            <a:off x="7286625" y="4010025"/>
            <a:ext cx="4295775" cy="1028700"/>
          </a:xfrm>
          <a:prstGeom prst="roundRect">
            <a:avLst>
              <a:gd name="adj" fmla="val 925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7458075" y="4295775"/>
            <a:ext cx="3952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再追加新消息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7458075" y="4495800"/>
            <a:ext cx="395287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明确要求按新人数重新检查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7286625" y="5153025"/>
            <a:ext cx="4295775" cy="552450"/>
          </a:xfrm>
          <a:prstGeom prst="roundRect">
            <a:avLst>
              <a:gd name="adj" fmla="val 1724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44" name=""/>
          <p:cNvSpPr/>
          <p:nvPr/>
        </p:nvSpPr>
        <p:spPr>
          <a:xfrm rot="0" flipH="0" flipV="0">
            <a:off x="7458075" y="5286375"/>
            <a:ext cx="28575" cy="2857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7600950" y="5295900"/>
            <a:ext cx="300037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十三人大于十二人容量，正确回答应指出冲突。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上下文工程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13 / 25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48" name="" descr="&lt;Slide notes={`代码里有一个参数容易被过度解读，就是 store=False。&#10;&#10;它表示不使用该响应对象的默认存储方式，仅此而已。它不是「这次请求没有发到服务端」，更不是「服务方不会处理我的数据」。网络请求该发生还是发生了。&#10;&#10;所以从这一个开关，我们不能推导出整个服务的数据处理政策。数据怎么保存、保存多久、能不能用于其他用途，这些要看服务方的文档约定，不能靠一个参数去猜。&#10;&#10;书稿里用这种方式来讲手工管理，是为了把状态放在应用这一侧，让你看清每一步实际带上了什么。至于具体的数据约定，那是另一件事，要单独查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3.3　OpenAI API：手工保留多轮状态&lt;/Text&gt;&#10;            &lt;Text style={{ fontSize: 34, fontWeight: 'bold', color: '#20344B' }}&gt;store=False 说明了什么&lt;/Text&gt;&#10;        &lt;/Box&gt;&#10;    &lt;/Box&gt;&#10;&#10;    &lt;Box style={{ height: 540, flexDirection: 'row', justifyContent: 'center', alignItems: 'center', gap: 32 }}&gt;&#10;&#10;        &lt;Box style={{ flex: 58, flexDirection: 'column', gap: 14 }}&gt;&#10;&#10;            &lt;Text style={{ fontSize: 20, fontWeight: 'bold', color: '#276FBF' }}&gt;它能说明的一件事&lt;/Text&gt;&#10;&#10;            &lt;Box style={{ height: 124, background: '#EDF4FC', borderRadius: 10, padding: '0 22px', justifyContent: 'center', flexDirection: 'column', gap: 6 }}&gt;&#10;                &lt;Text style={{ fontSize: 19, fontWeight: 'bold', color: '#276FBF' }}&gt;不使用该响应对象的默认存储方式&lt;/Text&gt;&#10;                &lt;Text style={{ fontSize: 16, color: '#546779', lineHeight: 1.55 }}&gt;这一次由应用自己保管历史，而不是交给默认通道&lt;/Text&gt;&#10;            &lt;/Box&gt;&#10;&#10;            &lt;Text style={{ fontSize: 20, fontWeight: 'bold', color: '#CB6B28', marginTop: 6 }}&gt;它不能说明的两件事&lt;/Text&gt;&#10;&#10;            &lt;Box style={{ height: 124, background: '#FFF4E6', borderRadius: 10, padding: '0 22px', justifyContent: 'center', flexDirection: 'column', gap: 6 }}&gt;&#10;                &lt;Text style={{ fontSize: 19, fontWeight: 'bold', color: '#CB6B28' }}&gt;不代表网络请求没有发生&lt;/Text&gt;&#10;                &lt;Text style={{ fontSize: 16, color: '#546779', lineHeight: 1.55 }}&gt;请求照常发出并返回，只是没有走默认保存&lt;/Text&gt;&#10;            &lt;/Box&gt;&#10;&#10;            &lt;Box style={{ height: 124, background: '#FFF4E6', borderRadius: 10, padding: '0 22px', justifyContent: 'center', flexDirection: 'column', gap: 6 }}&gt;&#10;                &lt;Text style={{ fontSize: 19, fontWeight: 'bold', color: '#CB6B28' }}&gt;不能据此推导数据政策&lt;/Text&gt;&#10;                &lt;Text style={{ fontSize: 16, color: '#546779', lineHeight: 1.55 }}&gt;整个服务如何处理数据，要另查服务文档&lt;/Text&gt;&#10;            &lt;/Box&gt;&#10;&#10;        &lt;/Box&gt;&#10;&#10;        &lt;Box style={{ flex: 42, height: 420, background: '#F4F7FA', borderRadius: 12, padding: 24, flexDirection: 'column', gap: 14 }}&gt;&#10;            &lt;Text style={{ fontSize: 20, fontWeight: 'bold', color: '#20344B' }}&gt;一个参数能承担多少判断&lt;/Text&gt;&#10;            &lt;Box style={{ height: 1, background: '#B5C7D8' }} /&gt;&#10;            &lt;Text style={{ fontSize: 16, color: '#20344B', lineHeight: 1.7 }}&gt;参数名描述的是这一个请求对象的行为，不是整个服务的承诺。&lt;/Text&gt;&#10;            &lt;Text style={{ fontSize: 16, color: '#20344B', lineHeight: 1.7 }}&gt;把后者说成前者，会让学生把技术开关误当成合规结论。&lt;/Text&gt;&#10;            &lt;Box style={{ flex: 1 }} /&gt;&#10;            &lt;Box style={{ flexDirection: 'row', alignItems: 'center', gap: 12 }}&gt;&#10;                &lt;Box style={{ width: 3, height: 30, background: '#26816B' }} /&gt;&#10;                &lt;Text style={{ fontSize: 15, color: '#546779', lineHeight: 1.55 }}&gt;本书用它说明手工管理方式，数据约定另查官方文档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3 上下文工程&lt;/Text&gt;&#10;        &lt;Text style={{ fontSize: 14, color: '#546779' }}&gt;14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600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2.3.3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OpenAI API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：手工保留多轮状态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6004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store=False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说明了什么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609600" y="1419225"/>
            <a:ext cx="6191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它能说明的一件事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609600" y="1781175"/>
            <a:ext cx="6191250" cy="1181100"/>
          </a:xfrm>
          <a:prstGeom prst="roundRect">
            <a:avLst>
              <a:gd name="adj" fmla="val 806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819150" y="2095500"/>
            <a:ext cx="57721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不使用该响应对象的默认存储方式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819150" y="2371725"/>
            <a:ext cx="57721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这一次由应用自己保管历史，而不是交给默认通道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609600" y="3152775"/>
            <a:ext cx="6191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它不能说明的两件事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609600" y="3514725"/>
            <a:ext cx="6191250" cy="1181100"/>
          </a:xfrm>
          <a:prstGeom prst="roundRect">
            <a:avLst>
              <a:gd name="adj" fmla="val 806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819150" y="3829050"/>
            <a:ext cx="57721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不代表网络请求没有发生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819150" y="4105275"/>
            <a:ext cx="57721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请求照常发出并返回，只是没有走默认保存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609600" y="4829175"/>
            <a:ext cx="6191250" cy="1181100"/>
          </a:xfrm>
          <a:prstGeom prst="roundRect">
            <a:avLst>
              <a:gd name="adj" fmla="val 806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819150" y="5143500"/>
            <a:ext cx="57721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不能据此推导数据政策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819150" y="5419725"/>
            <a:ext cx="57721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整个服务如何处理数据，要另查服务文档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7105650" y="1714500"/>
            <a:ext cx="4476750" cy="4000500"/>
          </a:xfrm>
          <a:prstGeom prst="roundRect">
            <a:avLst>
              <a:gd name="adj" fmla="val 285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7334250" y="1943100"/>
            <a:ext cx="40195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一个参数能承担多少判断</a:t>
            </a:r>
            <a:endParaRPr/>
          </a:p>
        </p:txBody>
      </p:sp>
      <p:sp>
        <p:nvSpPr>
          <p:cNvPr id="166" name=""/>
          <p:cNvSpPr/>
          <p:nvPr/>
        </p:nvSpPr>
        <p:spPr>
          <a:xfrm rot="0" flipH="0" flipV="0">
            <a:off x="7334250" y="2305050"/>
            <a:ext cx="401955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7334250" y="2447925"/>
            <a:ext cx="401955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参数名描述的是这一个请求对象的行为，不是整个服务的承诺。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7334250" y="3209925"/>
            <a:ext cx="4019550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把后者说成前者，会让学生把技术开关误当成合规结论。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7334250" y="5200650"/>
            <a:ext cx="28575" cy="2857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7477125" y="5210175"/>
            <a:ext cx="34290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本书用它说明手工管理方式，数据约定另查官方文档。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上下文工程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14 / 25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73" name="" descr="&lt;Slide notes={`换一个方向看同一件事。前一种做法把历史存在应用自己这一侧，这一种做法把它交给服务端。&#10;&#10;需要服务端衔接会话的时候，可以用 previous_response_id 这个参数。第一轮请求正常发出，拿到一个响应对象，它有自己真实的 id；第二轮请求带上这个 id，服务端就知道这一轮要接在哪一轮后面。&#10;&#10;这条路线的边界也要说清楚。引用响应 ID 主要改变的是状态传递方式，它不意味着前面那些上下文 Token 变得免费了。还有一点更关键：行为要求不会自动继承，第二轮仍然要显式发送 instructions。&#10;&#10;另外，如果对象要跨会话、跨作业长期存在，官方还提供了持久会话的接口。初学阶段不用都上，选定一种就够了。`} style={{ width: 1280, height: 720, background: '#FFFFFF', flexDirection: 'column', padding: '20px 64px' }}&gt;&#10;&#10;    &lt;Box style={{ height: 540, flexDirection: 'column', justifyContent: 'center', gap: 20 }}&gt;&#10;&#10;        &lt;Box style={{ flexDirection: 'row', alignItems: 'center', gap: 16 }}&gt;&#10;            &lt;Box style={{ width: 56, height: 56, borderRadius: 10, background: '#26816B', justifyContent: 'center', alignItems: 'center' }}&gt;&#10;                &lt;Text style={{ fontSize: 28, fontWeight: 'bold', color: '#FFFFFF' }}&gt;04&lt;/Text&gt;&#10;            &lt;/Box&gt;&#10;            &lt;Text style={{ fontSize: 16, color: '#546779' }}&gt;2.3.4&lt;/Text&gt;&#10;        &lt;/Box&gt;&#10;&#10;        &lt;Text style={{ fontSize: 56, fontWeight: 'bold', color: '#20344B', lineHeight: 1.15 }}&gt;另一种方式：引用前一次响应&lt;/Text&gt;&#10;&#10;        &lt;Box style={{ width: 640, height: 4, background: '#26816B' }} /&gt;&#10;&#10;        &lt;Text style={{ fontSize: 19, color: '#546779', lineHeight: 1.7 }}&gt;需要服务端衔接会话时，用 previous_response_id 把两轮接起来。&lt;/Text&gt;&#10;&#10;        &lt;Box style={{ marginTop: 8, flexDirection: 'column', gap: 14 }}&gt;&#10;&#10;            &lt;Box style={{ flexDirection: 'row', alignItems: 'center', gap: 14 }}&gt;&#10;                &lt;Box style={{ width: 400, height: 52, background: '#ECF7F2', borderRadius: 8, justifyContent: 'center', alignItems: 'center' }}&gt;&#10;                    &lt;Text style={{ fontSize: 15, color: '#26816B' }}&gt;上一轮响应　·　真实的 response.id&lt;/Text&gt;&#10;                &lt;/Box&gt;&#10;                &lt;Box style={{ width: 44, justifyContent: 'center', alignItems: 'center' }}&gt;&#10;                    &lt;Text style={{ fontSize: 24, color: '#26816B' }}&gt;›&lt;/Text&gt;&#10;                &lt;/Box&gt;&#10;                &lt;Box style={{ width: 460, height: 52, background: '#EDF4FC', borderRadius: 8, justifyContent: 'center', alignItems: 'center' }}&gt;&#10;                    &lt;Text style={{ fontSize: 15, color: '#276FBF' }}&gt;下轮请求　·　previous_response_id&lt;/Text&gt;&#10;                &lt;/Box&gt;&#10;            &lt;/Box&gt;&#10;&#10;            &lt;Box style={{ flexDirection: 'row', alignItems: 'center', gap: 14 }}&gt;&#10;                &lt;Box style={{ width: 400, height: 52, background: '#FFF4E6', borderRadius: 8, justifyContent: 'center', alignItems: 'center' }}&gt;&#10;                    &lt;Text style={{ fontSize: 15, color: '#CB6B28' }}&gt;行为要求　·　本次仍要显式发送&lt;/Text&gt;&#10;                &lt;/Box&gt;&#10;                &lt;Box style={{ width: 44, justifyContent: 'center', alignItems: 'center' }}&gt;&#10;                    &lt;Text style={{ fontSize: 24, color: '#CB6B28' }}&gt;›&lt;/Text&gt;&#10;                &lt;/Box&gt;&#10;                &lt;Box style={{ width: 460, height: 52, background: '#F4F7FA', borderRadius: 8, justifyContent: 'center', alignItems: 'center' }}&gt;&#10;                    &lt;Text style={{ fontSize: 15, color: '#546779' }}&gt;不会自动继承上一轮的 instructions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3 上下文工程&lt;/Text&gt;&#10;        &lt;Text style={{ fontSize: 14, color: '#546779' }}&gt;15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5" name=""/>
          <p:cNvSpPr/>
          <p:nvPr/>
        </p:nvSpPr>
        <p:spPr>
          <a:xfrm rot="0" flipH="0" flipV="0">
            <a:off x="609600" y="942975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714375" y="1047750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1295400" y="1114425"/>
            <a:ext cx="34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2.3.4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609600" y="16668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另一种方式：引用前一次响应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609600" y="2600325"/>
            <a:ext cx="6096000" cy="38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609600" y="2828925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需要服务端衔接会话时，用</a:t>
            </a:r>
            <a:r>
              <a:rPr lang="en-US" sz="1425">
                <a:solidFill>
                  <a:srgbClr val="546779"/>
                </a:solidFill>
                <a:latin typeface="Microsoft YaHei"/>
                <a:ea typeface="Microsoft YaHei"/>
              </a:rPr>
              <a:t xml:space="preserve"> previous_response_id </a:t>
            </a: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把两轮接起来。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609600" y="3467100"/>
            <a:ext cx="3810000" cy="495300"/>
          </a:xfrm>
          <a:prstGeom prst="roundRect">
            <a:avLst>
              <a:gd name="adj" fmla="val 1538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1371600" y="3629025"/>
            <a:ext cx="2295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上一轮响应　·　真实的</a:t>
            </a:r>
            <a:r>
              <a:rPr lang="en-US" sz="1125">
                <a:solidFill>
                  <a:srgbClr val="26816B"/>
                </a:solidFill>
                <a:latin typeface="Microsoft YaHei"/>
                <a:ea typeface="Microsoft YaHei"/>
              </a:rPr>
              <a:t xml:space="preserve"> response.id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4724400" y="358140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5105400" y="3467100"/>
            <a:ext cx="4381500" cy="495300"/>
          </a:xfrm>
          <a:prstGeom prst="roundRect">
            <a:avLst>
              <a:gd name="adj" fmla="val 1538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6124575" y="3629025"/>
            <a:ext cx="2352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下轮请求　·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previous_response_id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609600" y="4095750"/>
            <a:ext cx="3810000" cy="495300"/>
          </a:xfrm>
          <a:prstGeom prst="roundRect">
            <a:avLst>
              <a:gd name="adj" fmla="val 1538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1495425" y="4257675"/>
            <a:ext cx="2038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行为要求　·　本次仍要显式发送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4724400" y="421005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CB6B28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5105400" y="4095750"/>
            <a:ext cx="4381500" cy="495300"/>
          </a:xfrm>
          <a:prstGeom prst="roundRect">
            <a:avLst>
              <a:gd name="adj" fmla="val 1538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6162675" y="4257675"/>
            <a:ext cx="2276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不会自动继承上一轮的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instructions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609600" y="54483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上下文工程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11125200" y="5448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15 / 25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93" name="" descr="&lt;Slide notes={`这段代码把两轮调用并排放，好对照着看差别。&#10;&#10;第一轮，正常发请求，instructions 里放行为要求，input 里放这条材料，store 设为真，让服务端保留这一轮。拿到返回之后，first.id 就是这一轮响应的真实标识。&#10;&#10;第二轮，关键是 previous_response_id 这一行，把它设成 first.id，服务端就知道要接在第一轮后面。input 里只放新的那条消息，正式人数改成十三人，请重新检查。&#10;&#10;但请注意：instructions 这里又写了一遍。上一轮的 instructions 不会自动作为当前轮的指令继承，这是官方文档明确说明的。每写一轮都要问自己：这次的行为要求送到了吗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3.4　另一种方式：引用前一次响应&lt;/Text&gt;&#10;            &lt;Text style={{ fontSize: 34, fontWeight: 'bold', color: '#20344B' }}&gt;previous_response_id 的请求结构&lt;/Text&gt;&#10;        &lt;/Box&gt;&#10;    &lt;/Box&gt;&#10;&#10;    &lt;Box style={{ height: 540, flexDirection: 'row', justifyContent: 'center', alignItems: 'center', gap: 28 }}&gt;&#10;&#10;        &lt;Box style={{ flex: 64, flexDirection: 'column', gap: 12 }}&gt;&#10;&#10;            &lt;Box style={{ background: '#ECF7F2', borderRadius: 10, padding: '16px 20px', flexDirection: 'column' }}&gt;&#10;                &lt;Text style={{ fontSize: 14, fontWeight: 'bold', color: '#26816B' }}&gt;第一轮　取得响应 id&lt;/Text&gt;&#10;                &lt;Text style={{ fontSize: 13, color: '#20344B', fontFamily: 'Consolas, monospace', lineHeight: 1.75 }}&gt;first = client.responses.create(&lt;/Text&gt;&#10;                &lt;Text style={{ fontSize: 13, color: '#546779', fontFamily: 'Consolas, monospace', lineHeight: 1.75 }}&gt;{'    '}model=os.environ[&quot;OPENAI_MODEL&quot;],&lt;/Text&gt;&#10;                &lt;Text style={{ fontSize: 13, color: '#546779', fontFamily: 'Consolas, monospace', lineHeight: 1.75 }}&gt;{'    '}instructions=rules,&lt;/Text&gt;&#10;                &lt;Text style={{ fontSize: 13, color: '#546779', fontFamily: 'Consolas, monospace', lineHeight: 1.75 }}&gt;{'    '}input=&quot;手作室容量12人，候选安排10人。请检查人数。&quot;,&lt;/Text&gt;&#10;                &lt;Text style={{ fontSize: 13, color: '#546779', fontFamily: 'Consolas, monospace', lineHeight: 1.75 }}&gt;{'    '}store=True,&lt;/Text&gt;&#10;                &lt;Text style={{ fontSize: 13, color: '#20344B', fontFamily: 'Consolas, monospace', lineHeight: 1.75 }}&gt;)&lt;/Text&gt;&#10;            &lt;/Box&gt;&#10;&#10;            &lt;Box style={{ background: '#EDF4FC', borderRadius: 10, padding: '16px 20px', flexDirection: 'column' }}&gt;&#10;                &lt;Text style={{ fontSize: 14, fontWeight: 'bold', color: '#276FBF' }}&gt;第二轮　关联并重发行为要求&lt;/Text&gt;&#10;                &lt;Text style={{ fontSize: 13, color: '#20344B', fontFamily: 'Consolas, monospace', lineHeight: 1.75 }}&gt;second = client.responses.create(&lt;/Text&gt;&#10;                &lt;Text style={{ fontSize: 13, color: '#546779', fontFamily: 'Consolas, monospace', lineHeight: 1.75 }}&gt;{'    '}model=os.environ[&quot;OPENAI_MODEL&quot;],&lt;/Text&gt;&#10;                &lt;Text style={{ fontSize: 13, color: '#26816B', fontFamily: 'Consolas, monospace', lineHeight: 1.75 }}&gt;{'    '}previous_response_id=first.id,&lt;/Text&gt;&#10;                &lt;Text style={{ fontSize: 13, color: '#CB6B28', fontFamily: 'Consolas, monospace', lineHeight: 1.75 }}&gt;{'    '}instructions=rules,&lt;/Text&gt;&#10;                &lt;Text style={{ fontSize: 13, color: '#546779', fontFamily: 'Consolas, monospace', lineHeight: 1.75 }}&gt;{'    '}input=&quot;正式人数改成13人，请重新检查。&quot;,&lt;/Text&gt;&#10;                &lt;Text style={{ fontSize: 13, color: '#546779', fontFamily: 'Consolas, monospace', lineHeight: 1.75 }}&gt;{'    '}store=True,&lt;/Text&gt;&#10;                &lt;Text style={{ fontSize: 13, color: '#20344B', fontFamily: 'Consolas, monospace', lineHeight: 1.75 }}&gt;)&lt;/Text&gt;&#10;            &lt;/Box&gt;&#10;&#10;        &lt;/Box&gt;&#10;&#10;        &lt;Box style={{ flex: 36, flexDirection: 'column', gap: 12 }}&gt;&#10;&#10;            &lt;Box style={{ height: 96, background: '#FFF4E6', borderRadius: 10, padding: '0 18px', justifyContent: 'center' }}&gt;&#10;                &lt;Text style={{ fontSize: 18, fontWeight: 'bold', color: '#CB6B28' }}&gt;instructions 仍要显式发送&lt;/Text&gt;&#10;                &lt;Text style={{ fontSize: 15, color: '#546779', lineHeight: 1.5 }}&gt;上一轮这一参数不会自动继承&lt;/Text&gt;&#10;            &lt;/Box&gt;&#10;&#10;            &lt;Box style={{ height: 96, background: '#F4F7FA', borderRadius: 10, padding: '0 18px', justifyContent: 'center' }}&gt;&#10;                &lt;Text style={{ fontSize: 18, fontWeight: 'bold', color: '#20344B' }}&gt;store=True 保留这一轮&lt;/Text&gt;&#10;                &lt;Text style={{ fontSize: 15, color: '#546779', lineHeight: 1.5 }}&gt;服务端持有，才谈得上被下一轮引用&lt;/Text&gt;&#10;            &lt;/Box&gt;&#10;&#10;            &lt;Box style={{ height: 96, background: '#ECF7F2', borderRadius: 10, padding: '0 18px', justifyContent: 'center' }}&gt;&#10;                &lt;Text style={{ fontSize: 18, fontWeight: 'bold', color: '#26816B' }}&gt;第二轮只发新消息&lt;/Text&gt;&#10;                &lt;Text style={{ fontSize: 15, color: '#546779', lineHeight: 1.5 }}&gt;历史由响应关联带过去，不重复粘贴&lt;/Text&gt;&#10;            &lt;/Box&gt;&#10;&#10;            &lt;Box style={{ height: 96, background: '#F4F7FA', borderRadius: 10, padding: '0 18px', justifyContent: 'center' }}&gt;&#10;                &lt;Text style={{ fontSize: 18, fontWeight: 'bold', color: '#20344B' }}&gt;改变的是传递方式&lt;/Text&gt;&#10;                &lt;Text style={{ fontSize: 15, color: '#546779', lineHeight: 1.5 }}&gt;不代表前面的上下文 Token 免费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3 上下文工程&lt;/Text&gt;&#10;        &lt;Text style={{ fontSize: 14, color: '#546779' }}&gt;16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5200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2.3.4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另一种方式：引用前一次响应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5200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previous_response_id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的请求结构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609600" y="1457325"/>
            <a:ext cx="6848475" cy="2066925"/>
          </a:xfrm>
          <a:prstGeom prst="roundRect">
            <a:avLst>
              <a:gd name="adj" fmla="val 460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800100" y="1609725"/>
            <a:ext cx="6467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6816B"/>
                </a:solidFill>
                <a:latin typeface="Microsoft YaHei"/>
                <a:ea typeface="Microsoft YaHei"/>
              </a:rPr>
              <a:t>第一轮　取得响应</a:t>
            </a:r>
            <a:r>
              <a:rPr lang="en-US" sz="105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id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800100" y="1771650"/>
            <a:ext cx="6467475" cy="2667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20344B"/>
                </a:solidFill>
                <a:latin typeface="Consolas"/>
                <a:ea typeface="Consolas"/>
              </a:rPr>
              <a:t>first = client.responses.create(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800100" y="2038350"/>
            <a:ext cx="6467475" cy="2667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546779"/>
                </a:solidFill>
                <a:latin typeface="Consolas"/>
                <a:ea typeface="Consolas"/>
              </a:rPr>
              <a:t xml:space="preserve">    </a:t>
            </a:r>
            <a:r>
              <a:rPr lang="en-US" sz="975">
                <a:solidFill>
                  <a:srgbClr val="546779"/>
                </a:solidFill>
                <a:latin typeface="Consolas"/>
                <a:ea typeface="Consolas"/>
              </a:rPr>
              <a:t>model=os.environ["OPENAI_MODEL"],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800100" y="2305050"/>
            <a:ext cx="6467475" cy="2667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546779"/>
                </a:solidFill>
                <a:latin typeface="Consolas"/>
                <a:ea typeface="Consolas"/>
              </a:rPr>
              <a:t xml:space="preserve">    </a:t>
            </a:r>
            <a:r>
              <a:rPr lang="en-US" sz="975">
                <a:solidFill>
                  <a:srgbClr val="546779"/>
                </a:solidFill>
                <a:latin typeface="Consolas"/>
                <a:ea typeface="Consolas"/>
              </a:rPr>
              <a:t>instructions=rules,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800100" y="2571750"/>
            <a:ext cx="6467475" cy="2667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546779"/>
                </a:solidFill>
                <a:latin typeface="Consolas"/>
                <a:ea typeface="Consolas"/>
              </a:rPr>
              <a:t xml:space="preserve">    </a:t>
            </a:r>
            <a:r>
              <a:rPr lang="en-US" sz="975">
                <a:solidFill>
                  <a:srgbClr val="546779"/>
                </a:solidFill>
                <a:latin typeface="Consolas"/>
                <a:ea typeface="Consolas"/>
              </a:rPr>
              <a:t>input="</a:t>
            </a:r>
            <a:r>
              <a:rPr lang="zh-CN" sz="975">
                <a:solidFill>
                  <a:srgbClr val="546779"/>
                </a:solidFill>
                <a:latin typeface="Consolas"/>
                <a:ea typeface="Consolas"/>
              </a:rPr>
              <a:t>手作室容量</a:t>
            </a:r>
            <a:r>
              <a:rPr lang="en-US" sz="975">
                <a:solidFill>
                  <a:srgbClr val="546779"/>
                </a:solidFill>
                <a:latin typeface="Consolas"/>
                <a:ea typeface="Consolas"/>
              </a:rPr>
              <a:t>12</a:t>
            </a:r>
            <a:r>
              <a:rPr lang="zh-CN" sz="975">
                <a:solidFill>
                  <a:srgbClr val="546779"/>
                </a:solidFill>
                <a:latin typeface="Consolas"/>
                <a:ea typeface="Consolas"/>
              </a:rPr>
              <a:t>人，候选安排</a:t>
            </a:r>
            <a:r>
              <a:rPr lang="en-US" sz="975">
                <a:solidFill>
                  <a:srgbClr val="546779"/>
                </a:solidFill>
                <a:latin typeface="Consolas"/>
                <a:ea typeface="Consolas"/>
              </a:rPr>
              <a:t>10</a:t>
            </a:r>
            <a:r>
              <a:rPr lang="zh-CN" sz="975">
                <a:solidFill>
                  <a:srgbClr val="546779"/>
                </a:solidFill>
                <a:latin typeface="Consolas"/>
                <a:ea typeface="Consolas"/>
              </a:rPr>
              <a:t>人。请检查人数。</a:t>
            </a:r>
            <a:r>
              <a:rPr lang="en-US" sz="975">
                <a:solidFill>
                  <a:srgbClr val="546779"/>
                </a:solidFill>
                <a:latin typeface="Consolas"/>
                <a:ea typeface="Consolas"/>
              </a:rPr>
              <a:t>",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800100" y="2838450"/>
            <a:ext cx="6467475" cy="2667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546779"/>
                </a:solidFill>
                <a:latin typeface="Consolas"/>
                <a:ea typeface="Consolas"/>
              </a:rPr>
              <a:t xml:space="preserve">    </a:t>
            </a:r>
            <a:r>
              <a:rPr lang="en-US" sz="975">
                <a:solidFill>
                  <a:srgbClr val="546779"/>
                </a:solidFill>
                <a:latin typeface="Consolas"/>
                <a:ea typeface="Consolas"/>
              </a:rPr>
              <a:t>store=True,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800100" y="3105150"/>
            <a:ext cx="6467475" cy="2667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20344B"/>
                </a:solidFill>
                <a:latin typeface="Consolas"/>
                <a:ea typeface="Consolas"/>
              </a:rPr>
              <a:t>)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609600" y="3638550"/>
            <a:ext cx="6848475" cy="2333625"/>
          </a:xfrm>
          <a:prstGeom prst="roundRect">
            <a:avLst>
              <a:gd name="adj" fmla="val 408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800100" y="3790950"/>
            <a:ext cx="6467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76FBF"/>
                </a:solidFill>
                <a:latin typeface="Microsoft YaHei"/>
                <a:ea typeface="Microsoft YaHei"/>
              </a:rPr>
              <a:t>第二轮　关联并重发行为要求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800100" y="3952875"/>
            <a:ext cx="6467475" cy="2667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20344B"/>
                </a:solidFill>
                <a:latin typeface="Consolas"/>
                <a:ea typeface="Consolas"/>
              </a:rPr>
              <a:t>second = client.responses.create(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800100" y="4219575"/>
            <a:ext cx="6467475" cy="2667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546779"/>
                </a:solidFill>
                <a:latin typeface="Consolas"/>
                <a:ea typeface="Consolas"/>
              </a:rPr>
              <a:t xml:space="preserve">    </a:t>
            </a:r>
            <a:r>
              <a:rPr lang="en-US" sz="975">
                <a:solidFill>
                  <a:srgbClr val="546779"/>
                </a:solidFill>
                <a:latin typeface="Consolas"/>
                <a:ea typeface="Consolas"/>
              </a:rPr>
              <a:t>model=os.environ["OPENAI_MODEL"],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800100" y="4486275"/>
            <a:ext cx="6467475" cy="2667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26816B"/>
                </a:solidFill>
                <a:latin typeface="Consolas"/>
                <a:ea typeface="Consolas"/>
              </a:rPr>
              <a:t xml:space="preserve">    </a:t>
            </a:r>
            <a:r>
              <a:rPr lang="en-US" sz="975">
                <a:solidFill>
                  <a:srgbClr val="26816B"/>
                </a:solidFill>
                <a:latin typeface="Consolas"/>
                <a:ea typeface="Consolas"/>
              </a:rPr>
              <a:t>previous_response_id=first.id,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800100" y="4752975"/>
            <a:ext cx="6467475" cy="2667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CB6B28"/>
                </a:solidFill>
                <a:latin typeface="Consolas"/>
                <a:ea typeface="Consolas"/>
              </a:rPr>
              <a:t xml:space="preserve">    </a:t>
            </a:r>
            <a:r>
              <a:rPr lang="en-US" sz="975">
                <a:solidFill>
                  <a:srgbClr val="CB6B28"/>
                </a:solidFill>
                <a:latin typeface="Consolas"/>
                <a:ea typeface="Consolas"/>
              </a:rPr>
              <a:t>instructions=rules,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800100" y="5019675"/>
            <a:ext cx="6467475" cy="2667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546779"/>
                </a:solidFill>
                <a:latin typeface="Consolas"/>
                <a:ea typeface="Consolas"/>
              </a:rPr>
              <a:t xml:space="preserve">    </a:t>
            </a:r>
            <a:r>
              <a:rPr lang="en-US" sz="975">
                <a:solidFill>
                  <a:srgbClr val="546779"/>
                </a:solidFill>
                <a:latin typeface="Consolas"/>
                <a:ea typeface="Consolas"/>
              </a:rPr>
              <a:t>input="</a:t>
            </a:r>
            <a:r>
              <a:rPr lang="zh-CN" sz="975">
                <a:solidFill>
                  <a:srgbClr val="546779"/>
                </a:solidFill>
                <a:latin typeface="Consolas"/>
                <a:ea typeface="Consolas"/>
              </a:rPr>
              <a:t>正式人数改成</a:t>
            </a:r>
            <a:r>
              <a:rPr lang="en-US" sz="975">
                <a:solidFill>
                  <a:srgbClr val="546779"/>
                </a:solidFill>
                <a:latin typeface="Consolas"/>
                <a:ea typeface="Consolas"/>
              </a:rPr>
              <a:t>13</a:t>
            </a:r>
            <a:r>
              <a:rPr lang="zh-CN" sz="975">
                <a:solidFill>
                  <a:srgbClr val="546779"/>
                </a:solidFill>
                <a:latin typeface="Consolas"/>
                <a:ea typeface="Consolas"/>
              </a:rPr>
              <a:t>人，请重新检查。</a:t>
            </a:r>
            <a:r>
              <a:rPr lang="en-US" sz="975">
                <a:solidFill>
                  <a:srgbClr val="546779"/>
                </a:solidFill>
                <a:latin typeface="Consolas"/>
                <a:ea typeface="Consolas"/>
              </a:rPr>
              <a:t>",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800100" y="5286375"/>
            <a:ext cx="6467475" cy="2667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546779"/>
                </a:solidFill>
                <a:latin typeface="Consolas"/>
                <a:ea typeface="Consolas"/>
              </a:rPr>
              <a:t xml:space="preserve">    </a:t>
            </a:r>
            <a:r>
              <a:rPr lang="en-US" sz="975">
                <a:solidFill>
                  <a:srgbClr val="546779"/>
                </a:solidFill>
                <a:latin typeface="Consolas"/>
                <a:ea typeface="Consolas"/>
              </a:rPr>
              <a:t>store=True,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800100" y="5553075"/>
            <a:ext cx="6467475" cy="2667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20344B"/>
                </a:solidFill>
                <a:latin typeface="Consolas"/>
                <a:ea typeface="Consolas"/>
              </a:rPr>
              <a:t>)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7724775" y="1714500"/>
            <a:ext cx="3857625" cy="914400"/>
          </a:xfrm>
          <a:prstGeom prst="roundRect">
            <a:avLst>
              <a:gd name="adj" fmla="val 1041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7896225" y="1943100"/>
            <a:ext cx="3514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instructions </a:t>
            </a: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仍要显式发送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7896225" y="2152650"/>
            <a:ext cx="35147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上一轮这一参数不会自动继承</a:t>
            </a:r>
            <a:endParaRPr/>
          </a:p>
        </p:txBody>
      </p:sp>
      <p:sp>
        <p:nvSpPr>
          <p:cNvPr id="218" name=""/>
          <p:cNvSpPr/>
          <p:nvPr/>
        </p:nvSpPr>
        <p:spPr>
          <a:xfrm rot="0" flipH="0" flipV="0">
            <a:off x="7724775" y="2743200"/>
            <a:ext cx="3857625" cy="914400"/>
          </a:xfrm>
          <a:prstGeom prst="roundRect">
            <a:avLst>
              <a:gd name="adj" fmla="val 1041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7896225" y="2971800"/>
            <a:ext cx="3514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store=True 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保留这一轮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7896225" y="3181350"/>
            <a:ext cx="35147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服务端持有，才谈得上被下一轮引用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7724775" y="3771900"/>
            <a:ext cx="3857625" cy="914400"/>
          </a:xfrm>
          <a:prstGeom prst="roundRect">
            <a:avLst>
              <a:gd name="adj" fmla="val 1041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7896225" y="4000500"/>
            <a:ext cx="3514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第二轮只发新消息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7896225" y="4210050"/>
            <a:ext cx="35147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历史由响应关联带过去，不重复粘贴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7724775" y="4800600"/>
            <a:ext cx="3857625" cy="914400"/>
          </a:xfrm>
          <a:prstGeom prst="roundRect">
            <a:avLst>
              <a:gd name="adj" fmla="val 1041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7896225" y="5029200"/>
            <a:ext cx="3514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改变的是传递方式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7896225" y="5238750"/>
            <a:ext cx="35147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不代表前面的上下文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Token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免费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上下文工程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16 / 25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229" name="" descr="&lt;Slide notes={`把关联响应用起来，有三件事并不会因此省掉。&#10;&#10;第一件，行为要求还得显式发送。每一轮都要问自己：这次的规定送到了吗？上一轮送过，不等于这一轮还有。&#10;&#10;第二件，Token 不免费。引用一个 ID 改变的是状态怎么传，语义上它仍然是把这些内容放进了这一轮的请求，费用和窗口都要照算。&#10;&#10;第三件，归属还得应用自己记。这个响应、这份资料属于哪个用户、哪个任务，必须由我们记录，否则很容易把青禾任务的资料接到另一位用户的对话里去。&#10;&#10;所以初学阶段，手工历史、响应链、持久会话这三样选定一种就够了，不要把三种方式同时叠在一件事上，那样出了问题很难定位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3.4　另一种方式：引用前一次响应&lt;/Text&gt;&#10;            &lt;Text style={{ fontSize: 34, fontWeight: 'bold', color: '#20344B' }}&gt;关联响应不等于省掉三件事&lt;/Text&gt;&#10;        &lt;/Box&gt;&#10;    &lt;/Box&gt;&#10;&#10;    &lt;Box style={{ height: 540, flexDirection: 'column', justifyContent: 'center', gap: 12 }}&gt;&#10;&#10;        &lt;Box style={{ height: 110, background: '#FFF4E6', borderRadius: 10, padding: '0 20px', flexDirection: 'row', alignItems: 'center', gap: 16 }}&gt;&#10;            &lt;Box style={{ width: 4, height: 60, background: '#CB6B28' }} /&gt;&#10;            &lt;Box style={{ width: 280 }}&gt;&lt;Text style={{ fontSize: 19, fontWeight: 'bold', color: '#CB6B28' }}&gt;行为要求不自动继承&lt;/Text&gt;&lt;/Box&gt;&#10;            &lt;Box style={{ width: 1, height: 46, background: '#B5C7D8' }} /&gt;&#10;            &lt;Box style={{ flex: 1 }}&gt;&lt;Text style={{ fontSize: 16, color: '#20344B', lineHeight: 1.6 }}&gt;每一轮都要显式发送 instructions，上一轮送过不等于这一轮还有&lt;/Text&gt;&lt;/Box&gt;&#10;        &lt;/Box&gt;&#10;&#10;        &lt;Box style={{ height: 110, background: '#FFF4E6', borderRadius: 10, padding: '0 20px', flexDirection: 'row', alignItems: 'center', gap: 16 }}&gt;&#10;            &lt;Box style={{ width: 4, height: 60, background: '#CB6B28' }} /&gt;&#10;            &lt;Box style={{ width: 280 }}&gt;&lt;Text style={{ fontSize: 19, fontWeight: 'bold', color: '#CB6B28' }}&gt;上下文 Token 不免费&lt;/Text&gt;&lt;/Box&gt;&#10;            &lt;Box style={{ width: 1, height: 46, background: '#B5C7D8' }} /&gt;&#10;            &lt;Box style={{ flex: 1 }}&gt;&lt;Text style={{ fontSize: 16, color: '#20344B', lineHeight: 1.6 }}&gt;引用响应 ID 改变的是状态传递方式，窗口与费用照算&lt;/Text&gt;&lt;/Box&gt;&#10;        &lt;/Box&gt;&#10;&#10;        &lt;Box style={{ height: 110, background: '#F4F7FA', borderRadius: 10, padding: '0 20px', flexDirection: 'row', alignItems: 'center', gap: 16 }}&gt;&#10;            &lt;Box style={{ width: 4, height: 60, background: '#276FBF' }} /&gt;&#10;            &lt;Box style={{ width: 280 }}&gt;&lt;Text style={{ fontSize: 19, fontWeight: 'bold', color: '#20344B' }}&gt;归属仍由应用记录&lt;/Text&gt;&lt;/Box&gt;&#10;            &lt;Box style={{ width: 1, height: 46, background: '#B5C7D8' }} /&gt;&#10;            &lt;Box style={{ flex: 1 }}&gt;&lt;Text style={{ fontSize: 16, color: '#20344B', lineHeight: 1.6 }}&gt;对象属于哪个用户、哪个任务，要防止把一个人的资料接到另一个人的对话里&lt;/Text&gt;&lt;/Box&gt;&#10;        &lt;/Box&gt;&#10;&#10;        &lt;Box style={{ flexDirection: 'row', height: 76, background: '#EDF4FC', borderRadius: 10, padding: '0 20px', alignItems: 'center', gap: 14 }}&gt;&#10;            &lt;Box style={{ width: 3, height: 34, background: '#276FBF' }} /&gt;&#10;            &lt;Text style={{ fontSize: 16, color: '#276FBF', lineHeight: 1.55 }}&gt;初学阶段选定一种状态管理方式即可，不必把手工历史、响应链和持久会话同时叠加。&lt;/Text&gt;&#10;        &lt;/Box&gt;&#10;&#10;    &lt;/Box&gt;&#10;&#10;    &lt;Box style={{ height: 40, flexDirection: 'row', justifyContent: 'space-between', alignItems: 'center' }}&gt;&#10;        &lt;Text style={{ fontSize: 14, color: '#546779' }}&gt;2.3 上下文工程&lt;/Text&gt;&#10;        &lt;Text style={{ fontSize: 14, color: '#546779' }}&gt;17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2.3.4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另一种方式：引用前一次响应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关联响应不等于省掉三件事</a:t>
            </a:r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609600" y="1609725"/>
            <a:ext cx="10972800" cy="1047750"/>
          </a:xfrm>
          <a:prstGeom prst="roundRect">
            <a:avLst>
              <a:gd name="adj" fmla="val 909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35" name=""/>
          <p:cNvSpPr/>
          <p:nvPr/>
        </p:nvSpPr>
        <p:spPr>
          <a:xfrm rot="0" flipH="0" flipV="0">
            <a:off x="800100" y="1847850"/>
            <a:ext cx="38100" cy="5715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990600" y="2028825"/>
            <a:ext cx="2667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行为要求不自动继承</a:t>
            </a:r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3810000" y="1914525"/>
            <a:ext cx="9525" cy="43815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3971925" y="1990725"/>
            <a:ext cx="741997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每一轮都要显式发送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instructions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，上一轮送过不等于这一轮还有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609600" y="2771775"/>
            <a:ext cx="10972800" cy="1047750"/>
          </a:xfrm>
          <a:prstGeom prst="roundRect">
            <a:avLst>
              <a:gd name="adj" fmla="val 909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40" name=""/>
          <p:cNvSpPr/>
          <p:nvPr/>
        </p:nvSpPr>
        <p:spPr>
          <a:xfrm rot="0" flipH="0" flipV="0">
            <a:off x="800100" y="3009900"/>
            <a:ext cx="38100" cy="5715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990600" y="3190875"/>
            <a:ext cx="2667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上下文</a:t>
            </a:r>
            <a:r>
              <a:rPr lang="en-US" sz="142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Token </a:t>
            </a: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不免费</a:t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3810000" y="3076575"/>
            <a:ext cx="9525" cy="43815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3971925" y="3152775"/>
            <a:ext cx="741997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引用响应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ID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改变的是状态传递方式，窗口与费用照算</a:t>
            </a:r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609600" y="3933825"/>
            <a:ext cx="10972800" cy="1047750"/>
          </a:xfrm>
          <a:prstGeom prst="roundRect">
            <a:avLst>
              <a:gd name="adj" fmla="val 909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45" name=""/>
          <p:cNvSpPr/>
          <p:nvPr/>
        </p:nvSpPr>
        <p:spPr>
          <a:xfrm rot="0" flipH="0" flipV="0">
            <a:off x="800100" y="4171950"/>
            <a:ext cx="38100" cy="571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990600" y="4352925"/>
            <a:ext cx="2667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归属仍由应用记录</a:t>
            </a:r>
            <a:endParaRPr/>
          </a:p>
        </p:txBody>
      </p:sp>
      <p:sp>
        <p:nvSpPr>
          <p:cNvPr id="247" name=""/>
          <p:cNvSpPr/>
          <p:nvPr/>
        </p:nvSpPr>
        <p:spPr>
          <a:xfrm rot="0" flipH="0" flipV="0">
            <a:off x="3810000" y="4238625"/>
            <a:ext cx="9525" cy="43815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3971925" y="4314825"/>
            <a:ext cx="741997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对象属于哪个用户、哪个任务，要防止把一个人的资料接到另一个人的对话里</a:t>
            </a:r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609600" y="5095875"/>
            <a:ext cx="10972800" cy="723900"/>
          </a:xfrm>
          <a:prstGeom prst="roundRect">
            <a:avLst>
              <a:gd name="adj" fmla="val 1315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50" name=""/>
          <p:cNvSpPr/>
          <p:nvPr/>
        </p:nvSpPr>
        <p:spPr>
          <a:xfrm rot="0" flipH="0" flipV="0">
            <a:off x="800100" y="5295900"/>
            <a:ext cx="28575" cy="3238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962025" y="5314950"/>
            <a:ext cx="579120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初学阶段选定一种状态管理方式即可，不必把手工历史、响应链和持久会话同时叠加。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上下文工程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17 / 25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254" name="" descr="&lt;Slide notes={`讲完接口层面的两种状态传递方式，我们换到产品里看同一件事。&#10;&#10;这次我用的还是青禾这件事，但动作换成了在界面上做：新建一个任务，用 @ 引用 requests.csv、rooms.csv 和 rules.md 这三份材料，先让它生成一张事实与来源的对照表。&#10;&#10;这一步的目的是建立证据。它得说清楚每一条事实是从哪份文件的哪一部分来的。&#10;&#10;然后追加一句追问：只讨论手作体验，请说明还缺哪些资料才能确定时间。这时候它应该意识到，预约状态还没有核对过。&#10;&#10;最后才是在材料的练习副本里，把手作人数从十人改成十三人，明确要求重新读取文件。要看的是：旧的那个容量可行的结论，会不会被撤回。`} style={{ width: 1280, height: 720, background: '#FFFFFF', flexDirection: 'column', padding: '20px 64px' }}&gt;&#10;&#10;    &lt;Box style={{ height: 540, flexDirection: 'column', justifyContent: 'center', gap: 20 }}&gt;&#10;&#10;        &lt;Box style={{ flexDirection: 'row', alignItems: 'center', gap: 16 }}&gt;&#10;            &lt;Box style={{ width: 56, height: 56, borderRadius: 10, background: '#26816B', justifyContent: 'center', alignItems: 'center' }}&gt;&#10;                &lt;Text style={{ fontSize: 28, fontWeight: 'bold', color: '#FFFFFF' }}&gt;05&lt;/Text&gt;&#10;            &lt;/Box&gt;&#10;            &lt;Text style={{ fontSize: 16, color: '#546779' }}&gt;2.3.5&lt;/Text&gt;&#10;        &lt;/Box&gt;&#10;&#10;        &lt;Text style={{ fontSize: 56, fontWeight: 'bold', color: '#20344B', lineHeight: 1.15 }}&gt;WorkBuddy：文件引用、追问与任务交接&lt;/Text&gt;&#10;&#10;        &lt;Box style={{ width: 640, height: 4, background: '#26816B' }} /&gt;&#10;&#10;        &lt;Text style={{ fontSize: 19, color: '#546779', lineHeight: 1.7 }}&gt;把人数从 10 改成 13，看旧的「容量可行」结论会不会被撤回。&lt;/Text&gt;&#10;&#10;        &lt;Box style={{ marginTop: 8, flexDirection: 'row', alignItems: 'center', gap: 14 }}&gt;&#10;            &lt;Box style={{ width: 330, height: 76, background: '#EDF4FC', borderRadius: 8, justifyContent: 'center', alignItems: 'center', flexDirection: 'column', gap: 2 }}&gt;&#10;                &lt;Text style={{ fontSize: 15, fontWeight: 'bold', color: '#276FBF' }}&gt;① 引用三份材料&lt;/Text&gt;&#10;                &lt;Text style={{ fontSize: 14, color: '#546779' }}&gt;先生成「事实—来源」表&lt;/Text&gt;&#10;            &lt;/Box&gt;&#10;            &lt;Box style={{ width: 44, justifyContent: 'center', alignItems: 'center' }}&gt;&#10;                &lt;Text style={{ fontSize: 26, color: '#276FBF' }}&gt;›&lt;/Text&gt;&#10;            &lt;/Box&gt;&#10;            &lt;Box style={{ width: 320, height: 76, background: '#F4F7FA', borderRadius: 8, justifyContent: 'center', alignItems: 'center', flexDirection: 'column', gap: 2 }}&gt;&#10;                &lt;Text style={{ fontSize: 15, fontWeight: 'bold', color: '#20344B' }}&gt;② 追问还缺什么&lt;/Text&gt;&#10;                &lt;Text style={{ fontSize: 14, color: '#546779' }}&gt;预约状态尚未核对&lt;/Text&gt;&#10;            &lt;/Box&gt;&#10;            &lt;Box style={{ width: 44, justifyContent: 'center', alignItems: 'center' }}&gt;&#10;                &lt;Text style={{ fontSize: 26, color: '#CB6B28' }}&gt;›&lt;/Text&gt;&#10;            &lt;/Box&gt;&#10;            &lt;Box style={{ width: 340, height: 76, background: '#FFF4E6', borderRadius: 8, justifyContent: 'center', alignItems: 'center', flexDirection: 'column', gap: 2 }}&gt;&#10;                &lt;Text style={{ fontSize: 15, fontWeight: 'bold', color: '#CB6B28' }}&gt;③ 只在副本中改人数&lt;/Text&gt;&#10;                &lt;Text style={{ fontSize: 14, color: '#546779' }}&gt;要求重新读取文件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3 上下文工程&lt;/Text&gt;&#10;        &lt;Text style={{ fontSize: 14, color: '#546779' }}&gt;18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6" name=""/>
          <p:cNvSpPr/>
          <p:nvPr/>
        </p:nvSpPr>
        <p:spPr>
          <a:xfrm rot="0" flipH="0" flipV="0">
            <a:off x="609600" y="1143000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714375" y="1247775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1295400" y="1314450"/>
            <a:ext cx="34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2.3.5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609600" y="186690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4200" b="1">
                <a:solidFill>
                  <a:srgbClr val="20344B"/>
                </a:solidFill>
                <a:latin typeface="Microsoft YaHei"/>
                <a:ea typeface="Microsoft YaHei"/>
              </a:rPr>
              <a:t>WorkBuddy</a:t>
            </a: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：文件引用、追问与任务交接</a:t>
            </a:r>
            <a:endParaRPr/>
          </a:p>
        </p:txBody>
      </p:sp>
      <p:sp>
        <p:nvSpPr>
          <p:cNvPr id="260" name=""/>
          <p:cNvSpPr/>
          <p:nvPr/>
        </p:nvSpPr>
        <p:spPr>
          <a:xfrm rot="0" flipH="0" flipV="0">
            <a:off x="609600" y="2800350"/>
            <a:ext cx="6096000" cy="38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609600" y="302895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把人数从</a:t>
            </a:r>
            <a:r>
              <a:rPr lang="en-US" sz="1425">
                <a:solidFill>
                  <a:srgbClr val="546779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改成</a:t>
            </a:r>
            <a:r>
              <a:rPr lang="en-US" sz="1425">
                <a:solidFill>
                  <a:srgbClr val="546779"/>
                </a:solidFill>
                <a:latin typeface="Microsoft YaHei"/>
                <a:ea typeface="Microsoft YaHei"/>
              </a:rPr>
              <a:t xml:space="preserve"> 13</a:t>
            </a: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，看旧的「容量可行」结论会不会被撤回。</a:t>
            </a:r>
            <a:endParaRPr/>
          </a:p>
        </p:txBody>
      </p:sp>
      <p:sp>
        <p:nvSpPr>
          <p:cNvPr id="262" name=""/>
          <p:cNvSpPr/>
          <p:nvPr/>
        </p:nvSpPr>
        <p:spPr>
          <a:xfrm rot="0" flipH="0" flipV="0">
            <a:off x="609600" y="3667125"/>
            <a:ext cx="3143250" cy="723900"/>
          </a:xfrm>
          <a:prstGeom prst="roundRect">
            <a:avLst>
              <a:gd name="adj" fmla="val 1052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1657350" y="3857625"/>
            <a:ext cx="1047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引用三份材料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1438275" y="4048125"/>
            <a:ext cx="1485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先生成「事实—来源」表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4057650" y="387667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66" name=""/>
          <p:cNvSpPr/>
          <p:nvPr/>
        </p:nvSpPr>
        <p:spPr>
          <a:xfrm rot="0" flipH="0" flipV="0">
            <a:off x="4438650" y="3667125"/>
            <a:ext cx="3048000" cy="723900"/>
          </a:xfrm>
          <a:prstGeom prst="roundRect">
            <a:avLst>
              <a:gd name="adj" fmla="val 1052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5438775" y="3857625"/>
            <a:ext cx="1047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② </a:t>
            </a: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追问还缺什么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5429250" y="4048125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预约状态尚未核对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7791450" y="387667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CB6B28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70" name=""/>
          <p:cNvSpPr/>
          <p:nvPr/>
        </p:nvSpPr>
        <p:spPr>
          <a:xfrm rot="0" flipH="0" flipV="0">
            <a:off x="8172450" y="3667125"/>
            <a:ext cx="3238500" cy="723900"/>
          </a:xfrm>
          <a:prstGeom prst="roundRect">
            <a:avLst>
              <a:gd name="adj" fmla="val 1052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9124950" y="3857625"/>
            <a:ext cx="1333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③ </a:t>
            </a: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只在副本中改人数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9258300" y="4048125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要求重新读取文件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609600" y="54483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上下文工程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11125200" y="5448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18 / 25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275" name="" descr="&lt;Slide notes={`新事实进来之后，旧结论必须失效——这是这一块最想让大家看到的一件事。&#10;&#10;原来是什么样？材料里手作是十人，房间容量是十二人，所以旧候选看起来是满足容量的，这个结论本身没错，它建立在当时的输入上。&#10;&#10;现在独立的材料副本里，需求更新为十三人。关键动作是重新读取文件：只有真的把文件重读一遍，模型才有机会撤回旧的结论，再校验一次。校验的结果很清楚，十三大于十二，原来的安排不可行。&#10;&#10;还有一条旁路要强调：容量仍然是十二人。如果找不到替代房间，就不能擅自去改人数来迁就方案。这个约束不能丢，它决定了我们接下来是换房间、还是缩小规模、还是另约时间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3.5　WorkBuddy：文件引用、追问与任务交接&lt;/Text&gt;&#10;            &lt;Text style={{ fontSize: 34, fontWeight: 'bold', color: '#20344B' }}&gt;新事实使旧校验结论失效&lt;/Text&gt;&#10;        &lt;/Box&gt;&#10;    &lt;/Box&gt;&#10;&#10;    &lt;Box style={{ height: 540, flexDirection: 'column', justifyContent: 'center', gap: 14 }}&gt;&#10;&#10;        &lt;Box style={{ flexDirection: 'row', alignItems: 'center', gap: 14 }}&gt;&#10;            &lt;Box style={{ width: 290, height: 104, background: '#EDF4FC', borderRadius: 10, justifyContent: 'center', alignItems: 'center', flexDirection: 'column', gap: 2 }}&gt;&#10;                &lt;Text style={{ fontSize: 20, fontWeight: 'bold', color: '#276FBF' }}&gt;手作 10 人&lt;/Text&gt;&#10;                &lt;Text style={{ fontSize: 14, color: '#546779' }}&gt;原材料&lt;/Text&gt;&#10;            &lt;/Box&gt;&#10;            &lt;Box style={{ width: 310, height: 104, background: '#EDF4FC', borderRadius: 10, justifyContent: 'center', alignItems: 'center', flexDirection: 'column', gap: 2 }}&gt;&#10;                &lt;Text style={{ fontSize: 20, fontWeight: 'bold', color: '#276FBF' }}&gt;房间容量 12 人&lt;/Text&gt;&#10;                &lt;Text style={{ fontSize: 14, color: '#546779' }}&gt;容量约束&lt;/Text&gt;&#10;            &lt;/Box&gt;&#10;            &lt;Box style={{ width: 44, justifyContent: 'center', alignItems: 'center' }}&gt;&#10;                &lt;Text style={{ fontSize: 26, color: '#276FBF' }}&gt;›&lt;/Text&gt;&#10;            &lt;/Box&gt;&#10;            &lt;Box style={{ width: 400, height: 104, background: '#ECF7F2', borderRadius: 10, justifyContent: 'center', alignItems: 'center', flexDirection: 'column', gap: 2 }}&gt;&#10;                &lt;Text style={{ fontSize: 20, fontWeight: 'bold', color: '#26816B' }}&gt;旧候选可能满足容量&lt;/Text&gt;&#10;                &lt;Text style={{ fontSize: 14, color: '#546779' }}&gt;建立在当时的输入之上&lt;/Text&gt;&#10;            &lt;/Box&gt;&#10;        &lt;/Box&gt;&#10;&#10;        &lt;Box style={{ height: 34, justifyContent: 'center', alignItems: 'center' }}&gt;&#10;            &lt;Box style={{ width: 44, alignItems: 'center' }}&gt;&lt;Text style={{ fontSize: 24, color: '#CB6B28' }}&gt;↓&lt;/Text&gt;&lt;/Box&gt;&#10;        &lt;/Box&gt;&#10;&#10;        &lt;Box style={{ flexDirection: 'row', alignItems: 'center', gap: 14 }}&gt;&#10;            &lt;Box style={{ width: 290, height: 104, background: '#FFF4E6', borderRadius: 10, justifyContent: 'center', alignItems: 'center', flexDirection: 'column', gap: 2 }}&gt;&#10;                &lt;Text style={{ fontSize: 20, fontWeight: 'bold', color: '#CB6B28' }}&gt;需求更新为 13 人&lt;/Text&gt;&#10;                &lt;Text style={{ fontSize: 14, color: '#546779' }}&gt;独立材料副本&lt;/Text&gt;&#10;            &lt;/Box&gt;&#10;            &lt;Box style={{ width: 310, height: 104, background: '#F4F7FA', borderRadius: 10, justifyContent: 'center', alignItems: 'center', flexDirection: 'column', gap: 2 }}&gt;&#10;                &lt;Text style={{ fontSize: 20, fontWeight: 'bold', color: '#20344B' }}&gt;重新读取文件&lt;/Text&gt;&#10;                &lt;Text style={{ fontSize: 14, color: '#546779' }}&gt;撤回旧结论并重新校验&lt;/Text&gt;&#10;            &lt;/Box&gt;&#10;            &lt;Box style={{ width: 44, justifyContent: 'center', alignItems: 'center' }}&gt;&#10;                &lt;Text style={{ fontSize: 26, color: '#CB6B28' }}&gt;›&lt;/Text&gt;&#10;            &lt;/Box&gt;&#10;            &lt;Box style={{ width: 400, height: 104, background: '#FFF4E6', borderRadius: 10, justifyContent: 'center', alignItems: 'center', flexDirection: 'column', gap: 2 }}&gt;&#10;                &lt;Text style={{ fontSize: 20, fontWeight: 'bold', color: '#CB6B28' }}&gt;13 大于 12，原安排不可行&lt;/Text&gt;&#10;                &lt;Text style={{ fontSize: 14, color: '#546779' }}&gt;必须换方案，不能硬套&lt;/Text&gt;&#10;            &lt;/Box&gt;&#10;        &lt;/Box&gt;&#10;&#10;        &lt;Box style={{ flexDirection: 'row', background: '#FFF4E6', borderRadius: 10, padding: '14px 20px', alignItems: 'center', gap: 14 }}&gt;&#10;            &lt;Box style={{ width: 3, height: 30, background: '#CB6B28' }} /&gt;&#10;            &lt;Text style={{ fontSize: 16, color: '#CB6B28', lineHeight: 1.6 }}&gt;容量仍为 12 人；没有替代房间时，不能擅改人数来迁就原方案。&lt;/Text&gt;&#10;        &lt;/Box&gt;&#10;&#10;    &lt;/Box&gt;&#10;&#10;    &lt;Box style={{ height: 40, flexDirection: 'row', justifyContent: 'space-between', alignItems: 'center' }}&gt;&#10;        &lt;Text style={{ fontSize: 14, color: '#546779' }}&gt;2.3 上下文工程&lt;/Text&gt;&#10;        &lt;Text style={{ fontSize: 14, color: '#546779' }}&gt;19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2.3.5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WorkBuddy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：文件引用、追问与任务交接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新事实使旧校验结论失效</a:t>
            </a:r>
            <a:endParaRPr/>
          </a:p>
        </p:txBody>
      </p:sp>
      <p:sp>
        <p:nvSpPr>
          <p:cNvPr id="280" name=""/>
          <p:cNvSpPr/>
          <p:nvPr/>
        </p:nvSpPr>
        <p:spPr>
          <a:xfrm rot="0" flipH="0" flipV="0">
            <a:off x="609600" y="2085975"/>
            <a:ext cx="2762250" cy="990600"/>
          </a:xfrm>
          <a:prstGeom prst="roundRect">
            <a:avLst>
              <a:gd name="adj" fmla="val 961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1533525" y="2381250"/>
            <a:ext cx="9239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手作</a:t>
            </a: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人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1790700" y="262890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原材料</a:t>
            </a:r>
            <a:endParaRPr/>
          </a:p>
        </p:txBody>
      </p:sp>
      <p:sp>
        <p:nvSpPr>
          <p:cNvPr id="283" name=""/>
          <p:cNvSpPr/>
          <p:nvPr/>
        </p:nvSpPr>
        <p:spPr>
          <a:xfrm rot="0" flipH="0" flipV="0">
            <a:off x="3505200" y="2085975"/>
            <a:ext cx="2952750" cy="990600"/>
          </a:xfrm>
          <a:prstGeom prst="roundRect">
            <a:avLst>
              <a:gd name="adj" fmla="val 961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4333875" y="2381250"/>
            <a:ext cx="13049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房间容量</a:t>
            </a: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12 </a:t>
            </a: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人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4714875" y="26289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容量约束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6762750" y="242887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87" name=""/>
          <p:cNvSpPr/>
          <p:nvPr/>
        </p:nvSpPr>
        <p:spPr>
          <a:xfrm rot="0" flipH="0" flipV="0">
            <a:off x="7143750" y="2085975"/>
            <a:ext cx="3810000" cy="990600"/>
          </a:xfrm>
          <a:prstGeom prst="roundRect">
            <a:avLst>
              <a:gd name="adj" fmla="val 961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8191500" y="2381250"/>
            <a:ext cx="1714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旧候选可能满足容量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8382000" y="262890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建立在当时的输入之上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6038850" y="3238500"/>
            <a:ext cx="1143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CB6B28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91" name=""/>
          <p:cNvSpPr/>
          <p:nvPr/>
        </p:nvSpPr>
        <p:spPr>
          <a:xfrm rot="0" flipH="0" flipV="0">
            <a:off x="609600" y="3667125"/>
            <a:ext cx="2762250" cy="990600"/>
          </a:xfrm>
          <a:prstGeom prst="roundRect">
            <a:avLst>
              <a:gd name="adj" fmla="val 961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1247775" y="3962400"/>
            <a:ext cx="14954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需求更新为</a:t>
            </a:r>
            <a:r>
              <a:rPr lang="en-US" sz="15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13 </a:t>
            </a: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人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1590675" y="421005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独立材料副本</a:t>
            </a:r>
            <a:endParaRPr/>
          </a:p>
        </p:txBody>
      </p:sp>
      <p:sp>
        <p:nvSpPr>
          <p:cNvPr id="294" name=""/>
          <p:cNvSpPr/>
          <p:nvPr/>
        </p:nvSpPr>
        <p:spPr>
          <a:xfrm rot="0" flipH="0" flipV="0">
            <a:off x="3505200" y="3667125"/>
            <a:ext cx="2952750" cy="990600"/>
          </a:xfrm>
          <a:prstGeom prst="roundRect">
            <a:avLst>
              <a:gd name="adj" fmla="val 961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4410075" y="3962400"/>
            <a:ext cx="1143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重新读取文件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4314825" y="421005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撤回旧结论并重新校验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6762750" y="40100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CB6B28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98" name=""/>
          <p:cNvSpPr/>
          <p:nvPr/>
        </p:nvSpPr>
        <p:spPr>
          <a:xfrm rot="0" flipH="0" flipV="0">
            <a:off x="7143750" y="3667125"/>
            <a:ext cx="3810000" cy="990600"/>
          </a:xfrm>
          <a:prstGeom prst="roundRect">
            <a:avLst>
              <a:gd name="adj" fmla="val 961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7896225" y="3962400"/>
            <a:ext cx="2305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13 </a:t>
            </a: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大于</a:t>
            </a:r>
            <a:r>
              <a:rPr lang="en-US" sz="15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12</a:t>
            </a: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，原安排不可行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8382000" y="421005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必须换方案，不能硬套</a:t>
            </a:r>
            <a:endParaRPr/>
          </a:p>
        </p:txBody>
      </p:sp>
      <p:sp>
        <p:nvSpPr>
          <p:cNvPr id="301" name=""/>
          <p:cNvSpPr/>
          <p:nvPr/>
        </p:nvSpPr>
        <p:spPr>
          <a:xfrm rot="0" flipH="0" flipV="0">
            <a:off x="609600" y="4791075"/>
            <a:ext cx="10972800" cy="561975"/>
          </a:xfrm>
          <a:prstGeom prst="roundRect">
            <a:avLst>
              <a:gd name="adj" fmla="val 1694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02" name=""/>
          <p:cNvSpPr/>
          <p:nvPr/>
        </p:nvSpPr>
        <p:spPr>
          <a:xfrm rot="0" flipH="0" flipV="0">
            <a:off x="800100" y="4933950"/>
            <a:ext cx="28575" cy="2857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962025" y="4924425"/>
            <a:ext cx="439102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容量仍为</a:t>
            </a:r>
            <a:r>
              <a:rPr lang="en-US" sz="1200">
                <a:solidFill>
                  <a:srgbClr val="CB6B28"/>
                </a:solidFill>
                <a:latin typeface="Microsoft YaHei"/>
                <a:ea typeface="Microsoft YaHei"/>
              </a:rPr>
              <a:t xml:space="preserve"> 12 </a:t>
            </a: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人；没有替代房间时，不能擅改人数来迁就原方案。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上下文工程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19 / 25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340" name="" descr="&lt;Slide notes={`这个追问练习怎么做，我把动作拆成三步。&#10;&#10;第一步，在教学目录里新建任务，通过 @ 引用三份材料：requests.csv、rooms.csv 和 rules.md，然后先要求它生成一张事实与来源的对照表。&#10;&#10;第二步，追加一句：只讨论手作体验，请说明还缺哪些资料才能确定时间。这时候它应该意识到，预约状态还没有核对过。&#10;&#10;第三步，只在练习副本里把手作人数改成十三，明确要求重新读取文件。&#10;&#10;接下来要看三件事。它有没有引用新值？有没有撤回容量可行的旧结论？修改前后的文件和回答有没有保留下来？&#10;&#10;如果它继续使用十人，先核对三个动手环节：目录是不是打开了正确的那个，有没有选中同名的旧文件，以及重新读取这个动作到底有没有真的完成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3.5　WorkBuddy：文件引用、追问与任务交接&lt;/Text&gt;&#10;            &lt;Text style={{ fontSize: 34, fontWeight: 'bold', color: '#20344B' }}&gt;追问时，要看哪三件事&lt;/Text&gt;&#10;        &lt;/Box&gt;&#10;    &lt;/Box&gt;&#10;&#10;    &lt;Box style={{ height: 540, flexDirection: 'row', justifyContent: 'center', alignItems: 'center', gap: 32 }}&gt;&#10;&#10;        &lt;Box style={{ flex: 40, flexDirection: 'column', gap: 12 }}&gt;&#10;            &lt;Text style={{ fontSize: 22, fontWeight: 'bold', color: '#276FBF' }}&gt;三步动作&lt;/Text&gt;&#10;&#10;            &lt;Box style={{ height: 120, background: '#EDF4FC', borderRadius: 10, padding: '0 18px', justifyContent: 'center', gap: 4 }}&gt;&#10;                &lt;Text style={{ fontSize: 17, fontWeight: 'bold', color: '#276FBF' }}&gt;① 引用三份材料&lt;/Text&gt;&#10;                &lt;Text style={{ fontSize: 15, color: '#546779', lineHeight: 1.55 }}&gt;requests.csv、rooms.csv、rules.md&lt;/Text&gt;&#10;            &lt;/Box&gt;&#10;&#10;            &lt;Box style={{ height: 120, background: '#EDF4FC', borderRadius: 10, padding: '0 18px', justifyContent: 'center', gap: 4 }}&gt;&#10;                &lt;Text style={{ fontSize: 17, fontWeight: 'bold', color: '#276FBF' }}&gt;② 先生成事实来源表&lt;/Text&gt;&#10;                &lt;Text style={{ fontSize: 15, color: '#546779', lineHeight: 1.55 }}&gt;每条事实写清出自哪份文件&lt;/Text&gt;&#10;            &lt;/Box&gt;&#10;&#10;            &lt;Box style={{ height: 120, background: '#EDF4FC', borderRadius: 10, padding: '0 18px', justifyContent: 'center', gap: 4 }}&gt;&#10;                &lt;Text style={{ fontSize: 17, fontWeight: 'bold', color: '#276FBF' }}&gt;③ 再追加限制条件&lt;/Text&gt;&#10;                &lt;Text style={{ fontSize: 15, color: '#546779', lineHeight: 1.55 }}&gt;只讨论手作体验，还缺哪些资料&lt;/Text&gt;&#10;            &lt;/Box&gt;&#10;        &lt;/Box&gt;&#10;&#10;        &lt;Box style={{ flex: 60, flexDirection: 'column', gap: 12 }}&gt;&#10;            &lt;Text style={{ fontSize: 22, fontWeight: 'bold', color: '#26816B' }}&gt;要看的变化&lt;/Text&gt;&#10;&#10;            &lt;Box style={{ height: 88, background: '#ECF7F2', borderRadius: 10, padding: '0 18px', flexDirection: 'row', alignItems: 'center', gap: 14 }}&gt;&#10;                &lt;Box style={{ width: 4, height: 50, background: '#26816B' }} /&gt;&#10;                &lt;Box style={{ flexDirection: 'column', gap: 2 }}&gt;&#10;                    &lt;Text style={{ fontSize: 17, fontWeight: 'bold', color: '#20344B' }}&gt;有没有引用新值&lt;/Text&gt;&#10;                    &lt;Text style={{ fontSize: 15, color: '#546779' }}&gt;回答里出现的是 13 人还是 10 人&lt;/Text&gt;&#10;                &lt;/Box&gt;&#10;            &lt;/Box&gt;&#10;&#10;            &lt;Box style={{ height: 88, background: '#ECF7F2', borderRadius: 10, padding: '0 18px', flexDirection: 'row', alignItems: 'center', gap: 14 }}&gt;&#10;                &lt;Box style={{ width: 4, height: 50, background: '#26816B' }} /&gt;&#10;                &lt;Box style={{ flexDirection: 'column', gap: 2 }}&gt;&#10;                    &lt;Text style={{ fontSize: 17, fontWeight: 'bold', color: '#20344B' }}&gt;有没有撤回旧结论&lt;/Text&gt;&#10;                    &lt;Text style={{ fontSize: 15, color: '#546779' }}&gt;「容量可行」是否被明确取消&lt;/Text&gt;&#10;                &lt;/Box&gt;&#10;            &lt;/Box&gt;&#10;&#10;            &lt;Box style={{ height: 88, background: '#ECF7F2', borderRadius: 10, padding: '0 18px', flexDirection: 'row', alignItems: 'center', gap: 14 }}&gt;&#10;                &lt;Box style={{ width: 4, height: 50, background: '#26816B' }} /&gt;&#10;                &lt;Box style={{ flexDirection: 'column', gap: 2 }}&gt;&#10;                    &lt;Text style={{ fontSize: 17, fontWeight: 'bold', color: '#20344B' }}&gt;有没有留下记录&lt;/Text&gt;&#10;                    &lt;Text style={{ fontSize: 15, color: '#546779' }}&gt;保留修改前后的文件与回答&lt;/Text&gt;&#10;                &lt;/Box&gt;&#10;            &lt;/Box&gt;&#10;&#10;            &lt;Box style={{ height: 88, background: '#FFF4E6', borderRadius: 10, padding: '0 18px', flexDirection: 'row', alignItems: 'center', gap: 14 }}&gt;&#10;                &lt;Box style={{ width: 4, height: 50, background: '#CB6B28' }} /&gt;&#10;                &lt;Box style={{ flexDirection: 'column', gap: 2 }}&gt;&#10;                    &lt;Text style={{ fontSize: 17, fontWeight: 'bold', color: '#CB6B28' }}&gt;若仍用旧人数，先查三处&lt;/Text&gt;&#10;                    &lt;Text style={{ fontSize: 15, color: '#546779' }}&gt;目录、同名旧文件、是否真正重新读取&lt;/Text&gt;&#10;                &lt;/Box&gt;&#10;            &lt;/Box&gt;&#10;        &lt;/Box&gt;&#10;&#10;    &lt;/Box&gt;&#10;&#10;    &lt;Box style={{ height: 40, flexDirection: 'row', justifyContent: 'space-between', alignItems: 'center' }}&gt;&#10;        &lt;Text style={{ fontSize: 14, color: '#546779' }}&gt;2.3 上下文工程&lt;/Text&gt;&#10;        &lt;Text style={{ fontSize: 14, color: '#546779' }}&gt;20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2.3.5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WorkBuddy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：文件引用、追问与任务交接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追问时，要看哪三件事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609600" y="1704975"/>
            <a:ext cx="4267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三步动作</a:t>
            </a:r>
            <a:endParaRPr/>
          </a:p>
        </p:txBody>
      </p:sp>
      <p:sp>
        <p:nvSpPr>
          <p:cNvPr id="346" name=""/>
          <p:cNvSpPr/>
          <p:nvPr/>
        </p:nvSpPr>
        <p:spPr>
          <a:xfrm rot="0" flipH="0" flipV="0">
            <a:off x="609600" y="2076450"/>
            <a:ext cx="4267200" cy="1143000"/>
          </a:xfrm>
          <a:prstGeom prst="roundRect">
            <a:avLst>
              <a:gd name="adj" fmla="val 8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781050" y="2400300"/>
            <a:ext cx="3924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引用三份材料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781050" y="2638425"/>
            <a:ext cx="39243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requests.csv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rooms.csv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rules.md</a:t>
            </a:r>
            <a:endParaRPr/>
          </a:p>
        </p:txBody>
      </p:sp>
      <p:sp>
        <p:nvSpPr>
          <p:cNvPr id="349" name=""/>
          <p:cNvSpPr/>
          <p:nvPr/>
        </p:nvSpPr>
        <p:spPr>
          <a:xfrm rot="0" flipH="0" flipV="0">
            <a:off x="609600" y="3333750"/>
            <a:ext cx="4267200" cy="1143000"/>
          </a:xfrm>
          <a:prstGeom prst="roundRect">
            <a:avLst>
              <a:gd name="adj" fmla="val 8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781050" y="3657600"/>
            <a:ext cx="3924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② </a:t>
            </a: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先生成事实来源表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781050" y="3895725"/>
            <a:ext cx="39243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每条事实写清出自哪份文件</a:t>
            </a:r>
            <a:endParaRPr/>
          </a:p>
        </p:txBody>
      </p:sp>
      <p:sp>
        <p:nvSpPr>
          <p:cNvPr id="352" name=""/>
          <p:cNvSpPr/>
          <p:nvPr/>
        </p:nvSpPr>
        <p:spPr>
          <a:xfrm rot="0" flipH="0" flipV="0">
            <a:off x="609600" y="4591050"/>
            <a:ext cx="4267200" cy="1143000"/>
          </a:xfrm>
          <a:prstGeom prst="roundRect">
            <a:avLst>
              <a:gd name="adj" fmla="val 8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781050" y="4914900"/>
            <a:ext cx="3924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③ </a:t>
            </a: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再追加限制条件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781050" y="5153025"/>
            <a:ext cx="39243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只讨论手作体验，还缺哪些资料</a:t>
            </a:r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5181600" y="1685925"/>
            <a:ext cx="6400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6816B"/>
                </a:solidFill>
                <a:latin typeface="Microsoft YaHei"/>
                <a:ea typeface="Microsoft YaHei"/>
              </a:rPr>
              <a:t>要看的变化</a:t>
            </a:r>
            <a:endParaRPr/>
          </a:p>
        </p:txBody>
      </p:sp>
      <p:sp>
        <p:nvSpPr>
          <p:cNvPr id="356" name=""/>
          <p:cNvSpPr/>
          <p:nvPr/>
        </p:nvSpPr>
        <p:spPr>
          <a:xfrm rot="0" flipH="0" flipV="0">
            <a:off x="5181600" y="2057400"/>
            <a:ext cx="6400800" cy="838200"/>
          </a:xfrm>
          <a:prstGeom prst="roundRect">
            <a:avLst>
              <a:gd name="adj" fmla="val 1136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57" name=""/>
          <p:cNvSpPr/>
          <p:nvPr/>
        </p:nvSpPr>
        <p:spPr>
          <a:xfrm rot="0" flipH="0" flipV="0">
            <a:off x="5353050" y="2238375"/>
            <a:ext cx="38100" cy="4762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5524500" y="2286000"/>
            <a:ext cx="2076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有没有引用新值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5524500" y="2505075"/>
            <a:ext cx="2076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回答里出现的是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13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人还是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人</a:t>
            </a:r>
            <a:endParaRPr/>
          </a:p>
        </p:txBody>
      </p:sp>
      <p:sp>
        <p:nvSpPr>
          <p:cNvPr id="360" name=""/>
          <p:cNvSpPr/>
          <p:nvPr/>
        </p:nvSpPr>
        <p:spPr>
          <a:xfrm rot="0" flipH="0" flipV="0">
            <a:off x="5181600" y="3009900"/>
            <a:ext cx="6400800" cy="838200"/>
          </a:xfrm>
          <a:prstGeom prst="roundRect">
            <a:avLst>
              <a:gd name="adj" fmla="val 1136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61" name=""/>
          <p:cNvSpPr/>
          <p:nvPr/>
        </p:nvSpPr>
        <p:spPr>
          <a:xfrm rot="0" flipH="0" flipV="0">
            <a:off x="5353050" y="3190875"/>
            <a:ext cx="38100" cy="4762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5524500" y="3238500"/>
            <a:ext cx="18573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有没有撤回旧结论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5524500" y="3457575"/>
            <a:ext cx="1857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「容量可行」是否被明确取消</a:t>
            </a:r>
            <a:endParaRPr/>
          </a:p>
        </p:txBody>
      </p:sp>
      <p:sp>
        <p:nvSpPr>
          <p:cNvPr id="364" name=""/>
          <p:cNvSpPr/>
          <p:nvPr/>
        </p:nvSpPr>
        <p:spPr>
          <a:xfrm rot="0" flipH="0" flipV="0">
            <a:off x="5181600" y="3962400"/>
            <a:ext cx="6400800" cy="838200"/>
          </a:xfrm>
          <a:prstGeom prst="roundRect">
            <a:avLst>
              <a:gd name="adj" fmla="val 1136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65" name=""/>
          <p:cNvSpPr/>
          <p:nvPr/>
        </p:nvSpPr>
        <p:spPr>
          <a:xfrm rot="0" flipH="0" flipV="0">
            <a:off x="5353050" y="4143375"/>
            <a:ext cx="38100" cy="4762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5524500" y="4191000"/>
            <a:ext cx="1714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有没有留下记录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5524500" y="4410075"/>
            <a:ext cx="1714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保留修改前后的文件与回答</a:t>
            </a:r>
            <a:endParaRPr/>
          </a:p>
        </p:txBody>
      </p:sp>
      <p:sp>
        <p:nvSpPr>
          <p:cNvPr id="368" name=""/>
          <p:cNvSpPr/>
          <p:nvPr/>
        </p:nvSpPr>
        <p:spPr>
          <a:xfrm rot="0" flipH="0" flipV="0">
            <a:off x="5181600" y="4914900"/>
            <a:ext cx="6400800" cy="838200"/>
          </a:xfrm>
          <a:prstGeom prst="roundRect">
            <a:avLst>
              <a:gd name="adj" fmla="val 1136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69" name=""/>
          <p:cNvSpPr/>
          <p:nvPr/>
        </p:nvSpPr>
        <p:spPr>
          <a:xfrm rot="0" flipH="0" flipV="0">
            <a:off x="5353050" y="5095875"/>
            <a:ext cx="38100" cy="4762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5524500" y="5143500"/>
            <a:ext cx="2428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若仍用旧人数，先查三处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5524500" y="5362575"/>
            <a:ext cx="2428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目录、同名旧文件、是否真正重新读取</a:t>
            </a:r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上下文工程</a:t>
            </a:r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20 / 25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374" name="" descr="&lt;Slide notes={`从一个任务换到另一个任务的时候，最容易犯的错是假定上下文会自动跟过去。&#10;&#10;新建任务时不要这样假定。比较稳妥的做法是准备一份简短的交接说明，写清四件事：输入是哪些文件，已经确认了哪些约束，哪些工作还没完成，输出放在哪里。写完这四样，再去引用原始资料。&#10;&#10;为什么不直接靠产品的记忆？因为记忆这件事要分开看。个人偏好这类稳定信息，记忆确实方便；但活动预约是会变的，人数会改，时段会被人占，所以当前查询不能被长期记忆替代。&#10;&#10;另外，这一节没有假定 WorkBuddy 底层用哪种响应链、哪种摘要算法或哪种向量数据库。我们能验证的是它实际引用了哪些材料、生成了什么文件，以及继续追问时有没有正确使用新事实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3.5　WorkBuddy：文件引用、追问与任务交接&lt;/Text&gt;&#10;            &lt;Text style={{ fontSize: 34, fontWeight: 'bold', color: '#20344B' }}&gt;新建任务前，先写一份交接说明&lt;/Text&gt;&#10;        &lt;/Box&gt;&#10;    &lt;/Box&gt;&#10;&#10;    &lt;Box style={{ height: 540, flexDirection: 'column', justifyContent: 'center', gap: 14 }}&gt;&#10;&#10;        &lt;Box style={{ flexDirection: 'row', gap: 32 }}&gt;&#10;&#10;            &lt;Box style={{ flex: 42, flexDirection: 'column', gap: 14, justifyContent: 'center' }}&gt;&#10;                &lt;Text style={{ fontSize: 24, fontWeight: 'bold', color: '#276FBF', lineHeight: 1.4 }}&gt;不要假定旧任务的上下文已经转移&lt;/Text&gt;&#10;                &lt;Box style={{ width: 56, height: 3, background: '#26816B' }} /&gt;&#10;                &lt;Text style={{ fontSize: 17, color: '#546779', lineHeight: 1.75 }}&gt;交接说明写清四件事，然后再引用原始资料重建上下文。这样第二个任务看到的是明确的状态，而不是对前一个任务的猜测。&lt;/Text&gt;&#10;            &lt;/Box&gt;&#10;&#10;            &lt;Box style={{ flex: 58, flexDirection: 'column', gap: 12 }}&gt;&#10;                &lt;Box style={{ height: 88, background: '#EDF4FC', borderRadius: 10, padding: '0 18px', flexDirection: 'row', alignItems: 'center', gap: 14 }}&gt;&#10;                    &lt;Box style={{ width: 4, height: 50, background: '#276FBF' }} /&gt;&#10;                    &lt;Box style={{ width: 150 }}&gt;&lt;Text style={{ fontSize: 18, fontWeight: 'bold', color: '#20344B' }}&gt;输入文件&lt;/Text&gt;&lt;/Box&gt;&#10;                    &lt;Box style={{ flex: 1 }}&gt;&lt;Text style={{ fontSize: 16, color: '#546779' }}&gt;这次任务要读哪些材料&lt;/Text&gt;&lt;/Box&gt;&#10;                &lt;/Box&gt;&#10;                &lt;Box style={{ height: 88, background: '#EDF4FC', borderRadius: 10, padding: '0 18px', flexDirection: 'row', alignItems: 'center', gap: 14 }}&gt;&#10;                    &lt;Box style={{ width: 4, height: 50, background: '#276FBF' }} /&gt;&#10;                    &lt;Box style={{ width: 150 }}&gt;&lt;Text style={{ fontSize: 18, fontWeight: 'bold', color: '#20344B' }}&gt;已确认约束&lt;/Text&gt;&lt;/Box&gt;&#10;                    &lt;Box style={{ flex: 1 }}&gt;&lt;Text style={{ fontSize: 16, color: '#546779' }}&gt;已经核对过的条件与数值&lt;/Text&gt;&lt;/Box&gt;&#10;                &lt;/Box&gt;&#10;                &lt;Box style={{ height: 88, background: '#EDF4FC', borderRadius: 10, padding: '0 18px', flexDirection: 'row', alignItems: 'center', gap: 14 }}&gt;&#10;                    &lt;Box style={{ width: 4, height: 50, background: '#276FBF' }} /&gt;&#10;                    &lt;Box style={{ width: 150 }}&gt;&lt;Text style={{ fontSize: 18, fontWeight: 'bold', color: '#20344B' }}&gt;未完成的工作&lt;/Text&gt;&lt;/Box&gt;&#10;                    &lt;Box style={{ flex: 1 }}&gt;&lt;Text style={{ fontSize: 16, color: '#546779' }}&gt;还差哪些步骤没有做&lt;/Text&gt;&lt;/Box&gt;&#10;                &lt;/Box&gt;&#10;                &lt;Box style={{ height: 88, background: '#EDF4FC', borderRadius: 10, padding: '0 18px', flexDirection: 'row', alignItems: 'center', gap: 14 }}&gt;&#10;                    &lt;Box style={{ width: 4, height: 50, background: '#276FBF' }} /&gt;&#10;                    &lt;Box style={{ width: 150 }}&gt;&lt;Text style={{ fontSize: 18, fontWeight: 'bold', color: '#20344B' }}&gt;输出位置&lt;/Text&gt;&lt;/Box&gt;&#10;                    &lt;Box style={{ flex: 1 }}&gt;&lt;Text style={{ fontSize: 16, color: '#546779' }}&gt;结果应该写到哪里，交给谁&lt;/Text&gt;&lt;/Box&gt;&#10;                &lt;/Box&gt;&#10;            &lt;/Box&gt;&#10;&#10;        &lt;/Box&gt;&#10;&#10;        &lt;Box style={{ flexDirection: 'row', background: '#FFF4E6', borderRadius: 10, padding: '14px 20px', alignItems: 'center', gap: 14 }}&gt;&#10;            &lt;Box style={{ width: 3, height: 30, background: '#CB6B28' }} /&gt;&#10;            &lt;Text style={{ fontSize: 16, color: '#CB6B28', lineHeight: 1.6 }}&gt;个人记忆可以保存偏好，但活动预约会变化，不能用长期记忆取代当前查询。&lt;/Text&gt;&#10;        &lt;/Box&gt;&#10;&#10;    &lt;/Box&gt;&#10;&#10;    &lt;Box style={{ height: 40, flexDirection: 'row', justifyContent: 'space-between', alignItems: 'center' }}&gt;&#10;        &lt;Text style={{ fontSize: 14, color: '#546779' }}&gt;2.3 上下文工程&lt;/Text&gt;&#10;        &lt;Text style={{ fontSize: 14, color: '#546779' }}&gt;21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53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2.3.5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WorkBuddy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：文件引用、追问与任务交接</a:t>
            </a:r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新建任务前，先写一份交接说明</a:t>
            </a:r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609600" y="2514600"/>
            <a:ext cx="4476750" cy="390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800" b="1">
                <a:solidFill>
                  <a:srgbClr val="276FBF"/>
                </a:solidFill>
                <a:latin typeface="Microsoft YaHei"/>
                <a:ea typeface="Microsoft YaHei"/>
              </a:rPr>
              <a:t>不要假定旧任务的上下文已经转移</a:t>
            </a:r>
            <a:endParaRPr/>
          </a:p>
        </p:txBody>
      </p:sp>
      <p:sp>
        <p:nvSpPr>
          <p:cNvPr id="380" name=""/>
          <p:cNvSpPr/>
          <p:nvPr/>
        </p:nvSpPr>
        <p:spPr>
          <a:xfrm rot="0" flipH="0" flipV="0">
            <a:off x="609600" y="3038475"/>
            <a:ext cx="533400" cy="28575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609600" y="3200400"/>
            <a:ext cx="4476750" cy="1028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交接说明写清四件事，然后再引用原始资料重建上下文。这样第二个任务看到的是明确的状态，而不是对前一个任务的猜测。</a:t>
            </a:r>
            <a:endParaRPr/>
          </a:p>
        </p:txBody>
      </p:sp>
      <p:sp>
        <p:nvSpPr>
          <p:cNvPr id="382" name=""/>
          <p:cNvSpPr/>
          <p:nvPr/>
        </p:nvSpPr>
        <p:spPr>
          <a:xfrm rot="0" flipH="0" flipV="0">
            <a:off x="5391150" y="1524000"/>
            <a:ext cx="6191250" cy="838200"/>
          </a:xfrm>
          <a:prstGeom prst="roundRect">
            <a:avLst>
              <a:gd name="adj" fmla="val 1136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83" name=""/>
          <p:cNvSpPr/>
          <p:nvPr/>
        </p:nvSpPr>
        <p:spPr>
          <a:xfrm rot="0" flipH="0" flipV="0">
            <a:off x="5562600" y="1704975"/>
            <a:ext cx="38100" cy="4762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5734050" y="1838325"/>
            <a:ext cx="1428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输入文件</a:t>
            </a:r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7296150" y="1847850"/>
            <a:ext cx="411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这次任务要读哪些材料</a:t>
            </a:r>
            <a:endParaRPr/>
          </a:p>
        </p:txBody>
      </p:sp>
      <p:sp>
        <p:nvSpPr>
          <p:cNvPr id="386" name=""/>
          <p:cNvSpPr/>
          <p:nvPr/>
        </p:nvSpPr>
        <p:spPr>
          <a:xfrm rot="0" flipH="0" flipV="0">
            <a:off x="5391150" y="2476500"/>
            <a:ext cx="6191250" cy="838200"/>
          </a:xfrm>
          <a:prstGeom prst="roundRect">
            <a:avLst>
              <a:gd name="adj" fmla="val 1136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87" name=""/>
          <p:cNvSpPr/>
          <p:nvPr/>
        </p:nvSpPr>
        <p:spPr>
          <a:xfrm rot="0" flipH="0" flipV="0">
            <a:off x="5562600" y="2657475"/>
            <a:ext cx="38100" cy="4762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5734050" y="2790825"/>
            <a:ext cx="1428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已确认约束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7296150" y="2800350"/>
            <a:ext cx="411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已经核对过的条件与数值</a:t>
            </a:r>
            <a:endParaRPr/>
          </a:p>
        </p:txBody>
      </p:sp>
      <p:sp>
        <p:nvSpPr>
          <p:cNvPr id="390" name=""/>
          <p:cNvSpPr/>
          <p:nvPr/>
        </p:nvSpPr>
        <p:spPr>
          <a:xfrm rot="0" flipH="0" flipV="0">
            <a:off x="5391150" y="3429000"/>
            <a:ext cx="6191250" cy="838200"/>
          </a:xfrm>
          <a:prstGeom prst="roundRect">
            <a:avLst>
              <a:gd name="adj" fmla="val 1136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91" name=""/>
          <p:cNvSpPr/>
          <p:nvPr/>
        </p:nvSpPr>
        <p:spPr>
          <a:xfrm rot="0" flipH="0" flipV="0">
            <a:off x="5562600" y="3609975"/>
            <a:ext cx="38100" cy="4762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5734050" y="3743325"/>
            <a:ext cx="1428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未完成的工作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7296150" y="3752850"/>
            <a:ext cx="411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还差哪些步骤没有做</a:t>
            </a:r>
            <a:endParaRPr/>
          </a:p>
        </p:txBody>
      </p:sp>
      <p:sp>
        <p:nvSpPr>
          <p:cNvPr id="394" name=""/>
          <p:cNvSpPr/>
          <p:nvPr/>
        </p:nvSpPr>
        <p:spPr>
          <a:xfrm rot="0" flipH="0" flipV="0">
            <a:off x="5391150" y="4381500"/>
            <a:ext cx="6191250" cy="838200"/>
          </a:xfrm>
          <a:prstGeom prst="roundRect">
            <a:avLst>
              <a:gd name="adj" fmla="val 1136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95" name=""/>
          <p:cNvSpPr/>
          <p:nvPr/>
        </p:nvSpPr>
        <p:spPr>
          <a:xfrm rot="0" flipH="0" flipV="0">
            <a:off x="5562600" y="4562475"/>
            <a:ext cx="38100" cy="4762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5734050" y="4695825"/>
            <a:ext cx="1428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输出位置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7296150" y="4705350"/>
            <a:ext cx="411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结果应该写到哪里，交给谁</a:t>
            </a:r>
            <a:endParaRPr/>
          </a:p>
        </p:txBody>
      </p:sp>
      <p:sp>
        <p:nvSpPr>
          <p:cNvPr id="398" name=""/>
          <p:cNvSpPr/>
          <p:nvPr/>
        </p:nvSpPr>
        <p:spPr>
          <a:xfrm rot="0" flipH="0" flipV="0">
            <a:off x="609600" y="5353050"/>
            <a:ext cx="10972800" cy="561975"/>
          </a:xfrm>
          <a:prstGeom prst="roundRect">
            <a:avLst>
              <a:gd name="adj" fmla="val 1694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99" name=""/>
          <p:cNvSpPr/>
          <p:nvPr/>
        </p:nvSpPr>
        <p:spPr>
          <a:xfrm rot="0" flipH="0" flipV="0">
            <a:off x="800100" y="5495925"/>
            <a:ext cx="28575" cy="2857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962025" y="5486400"/>
            <a:ext cx="51816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个人记忆可以保存偏好，但活动预约会变化，不能用长期记忆取代当前查询。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上下文工程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21 / 25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403" name="" descr="&lt;Slide notes={`最后一个知识块是一次练习，也是这一节的自我检查。&#10;&#10;我会让你为当前任务写一份不超过两百字的交接摘要，然后把它交给一个独立的任务。这里的关键词是「独立」：第二个任务只能看到这份摘要和它自己引用的资料，看不到你们之前的对话。&#10;&#10;检查的清单有五项：活动日期留住了没有，三项活动的时长有没有，房间限制写清了没有，预约状态是不是标的「待查」，待交付的东西说明白了吗。&#10;&#10;然后让第二个任务根据摘要回答：还需要读取哪些文件才能往下做。&#10;&#10;这份练习真正检验的不是你的文笔，而是你对任务状态的把握。一个只会复述结论的摘要，会让第二个任务误以为事情已经办完了。`} style={{ width: 1280, height: 720, background: '#FFFFFF', flexDirection: 'column', padding: '20px 64px' }}&gt;&#10;&#10;    &lt;Box style={{ height: 540, flexDirection: 'column', justifyContent: 'center', gap: 20 }}&gt;&#10;&#10;        &lt;Box style={{ flexDirection: 'row', alignItems: 'center', gap: 16 }}&gt;&#10;            &lt;Box style={{ width: 56, height: 56, borderRadius: 10, background: '#CB6B28', justifyContent: 'center', alignItems: 'center' }}&gt;&#10;                &lt;Text style={{ fontSize: 28, fontWeight: 'bold', color: '#FFFFFF' }}&gt;06&lt;/Text&gt;&#10;            &lt;/Box&gt;&#10;            &lt;Text style={{ fontSize: 16, color: '#546779' }}&gt;2.3.6&lt;/Text&gt;&#10;        &lt;/Box&gt;&#10;&#10;        &lt;Text style={{ fontSize: 56, fontWeight: 'bold', color: '#20344B', lineHeight: 1.15 }}&gt;失败诊断与练习&lt;/Text&gt;&#10;&#10;        &lt;Box style={{ width: 640, height: 4, background: '#CB6B28' }} /&gt;&#10;&#10;        &lt;Text style={{ fontSize: 19, color: '#546779', lineHeight: 1.7 }}&gt;写一份不超过两百字的交接摘要，交给一个独立任务。&lt;/Text&gt;&#10;&#10;        &lt;Box style={{ marginTop: 8, flexDirection: 'row', alignItems: 'center', gap: 14 }}&gt;&#10;            &lt;Box style={{ width: 300, height: 76, background: '#F4F7FA', borderRadius: 8, justifyContent: 'center', alignItems: 'center', flexDirection: 'column', gap: 2 }}&gt;&#10;                &lt;Text style={{ fontSize: 15, fontWeight: 'bold', color: '#20344B' }}&gt;交接摘要 ≤ 200 字&lt;/Text&gt;&#10;                &lt;Text style={{ fontSize: 14, color: '#546779' }}&gt;五个关键项要在里面&lt;/Text&gt;&#10;            &lt;/Box&gt;&#10;            &lt;Box style={{ width: 44, justifyContent: 'center', alignItems: 'center' }}&gt;&#10;                &lt;Text style={{ fontSize: 26, color: '#CB6B28' }}&gt;›&lt;/Text&gt;&#10;            &lt;/Box&gt;&#10;            &lt;Box style={{ width: 300, height: 76, background: '#EDF4FC', borderRadius: 8, justifyContent: 'center', alignItems: 'center', flexDirection: 'column', gap: 2 }}&gt;&#10;                &lt;Text style={{ fontSize: 15, fontWeight: 'bold', color: '#276FBF' }}&gt;独立任务&lt;/Text&gt;&#10;                &lt;Text style={{ fontSize: 14, color: '#546779' }}&gt;看不到之前的对话&lt;/Text&gt;&#10;            &lt;/Box&gt;&#10;            &lt;Box style={{ width: 44, justifyContent: 'center', alignItems: 'center' }}&gt;&#10;                &lt;Text style={{ fontSize: 26, color: '#276FBF' }}&gt;›&lt;/Text&gt;&#10;            &lt;/Box&gt;&#10;            &lt;Box style={{ width: 300, height: 76, background: '#ECF7F2', borderRadius: 8, justifyContent: 'center', alignItems: 'center', flexDirection: 'column', gap: 2 }}&gt;&#10;                &lt;Text style={{ fontSize: 15, fontWeight: 'bold', color: '#26816B' }}&gt;指出还需读哪些文件&lt;/Text&gt;&#10;                &lt;Text style={{ fontSize: 14, color: '#546779' }}&gt;这是检验点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3 上下文工程&lt;/Text&gt;&#10;        &lt;Text style={{ fontSize: 14, color: '#546779' }}&gt;22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5" name=""/>
          <p:cNvSpPr/>
          <p:nvPr/>
        </p:nvSpPr>
        <p:spPr>
          <a:xfrm rot="0" flipH="0" flipV="0">
            <a:off x="609600" y="1143000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714375" y="1247775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1295400" y="1314450"/>
            <a:ext cx="34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2.3.6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609600" y="186690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失败诊断与练习</a:t>
            </a:r>
            <a:endParaRPr/>
          </a:p>
        </p:txBody>
      </p:sp>
      <p:sp>
        <p:nvSpPr>
          <p:cNvPr id="409" name=""/>
          <p:cNvSpPr/>
          <p:nvPr/>
        </p:nvSpPr>
        <p:spPr>
          <a:xfrm rot="0" flipH="0" flipV="0">
            <a:off x="609600" y="2800350"/>
            <a:ext cx="6096000" cy="38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609600" y="302895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写一份不超过两百字的交接摘要，交给一个独立任务。</a:t>
            </a:r>
            <a:endParaRPr/>
          </a:p>
        </p:txBody>
      </p:sp>
      <p:sp>
        <p:nvSpPr>
          <p:cNvPr id="411" name=""/>
          <p:cNvSpPr/>
          <p:nvPr/>
        </p:nvSpPr>
        <p:spPr>
          <a:xfrm rot="0" flipH="0" flipV="0">
            <a:off x="609600" y="3667125"/>
            <a:ext cx="2857500" cy="723900"/>
          </a:xfrm>
          <a:prstGeom prst="roundRect">
            <a:avLst>
              <a:gd name="adj" fmla="val 1052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1428750" y="3857625"/>
            <a:ext cx="1219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交接摘要</a:t>
            </a:r>
            <a:r>
              <a:rPr lang="en-US" sz="112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≤ 200 </a:t>
            </a: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字</a:t>
            </a:r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1438275" y="4048125"/>
            <a:ext cx="1200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五个关键项要在里面</a:t>
            </a:r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3771900" y="387667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CB6B28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15" name=""/>
          <p:cNvSpPr/>
          <p:nvPr/>
        </p:nvSpPr>
        <p:spPr>
          <a:xfrm rot="0" flipH="0" flipV="0">
            <a:off x="4152900" y="3667125"/>
            <a:ext cx="2857500" cy="723900"/>
          </a:xfrm>
          <a:prstGeom prst="roundRect">
            <a:avLst>
              <a:gd name="adj" fmla="val 1052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5295900" y="385762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独立任务</a:t>
            </a:r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5048250" y="4048125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看不到之前的对话</a:t>
            </a:r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7315200" y="387667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19" name=""/>
          <p:cNvSpPr/>
          <p:nvPr/>
        </p:nvSpPr>
        <p:spPr>
          <a:xfrm rot="0" flipH="0" flipV="0">
            <a:off x="7696200" y="3667125"/>
            <a:ext cx="2857500" cy="723900"/>
          </a:xfrm>
          <a:prstGeom prst="roundRect">
            <a:avLst>
              <a:gd name="adj" fmla="val 1052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8486775" y="3857625"/>
            <a:ext cx="128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指出还需读哪些文件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8791575" y="4048125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这是检验点</a:t>
            </a:r>
            <a:endParaRPr/>
          </a:p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609600" y="54483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上下文工程</a:t>
            </a:r>
            <a:endParaRPr/>
          </a:p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11125200" y="5448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22 / 25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424" name="" descr="&lt;Slide notes={`这份两百字的摘要要留住什么，我列成五项，你可以照着检查。&#10;&#10;活动日期。三项活动的时长分别多久，这一项最容易在压缩时被丢掉。房间限制，容量多少人。预约状态，是已经查过了，还是待查。最后是待交付物，也就是这个任务最后要交出去的是什么。&#10;&#10;写完以后交给一个独立任务，让它根据摘要回答：还需要读取哪些文件才能把方案定下来。&#10;&#10;这个动作能暴露很多问题。如果它读完摘要就说不用再看别的了，那说明你的摘要把「待查」写成了「已确认」，完成状态被过度压缩了。&#10;&#10;所以不要只看摘要够不够短。要看它有没有留下重新取证的入口：指向文件、指向未完成项。这两样在，第二个任务才知道自己该从哪里接手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3.6　失败诊断与练习&lt;/Text&gt;&#10;            &lt;Text style={{ fontSize: 34, fontWeight: 'bold', color: '#20344B' }}&gt;二百字摘要要留住什么&lt;/Text&gt;&#10;        &lt;/Box&gt;&#10;    &lt;/Box&gt;&#10;&#10;    &lt;Box style={{ height: 540, flexDirection: 'column', justifyContent: 'center', gap: 14 }}&gt;&#10;&#10;        &lt;Box style={{ flexDirection: 'row', gap: 40 }}&gt;&#10;&#10;            &lt;Box style={{ width: 340, flexDirection: 'column', gap: 14 }}&gt;&#10;                &lt;Text style={{ fontSize: 25, fontWeight: 'bold', color: '#276FBF', lineHeight: 1.45 }}&gt;五项关键项，一项都不能省&lt;/Text&gt;&#10;                &lt;Box style={{ width: 56, height: 3, background: '#26816B' }} /&gt;&#10;                &lt;Text style={{ fontSize: 17, color: '#546779', lineHeight: 1.75 }}&gt;摘要不必复制原文，但它必须让接手的人知道：现在确定了什么，还有什么是没有确定的。&lt;/Text&gt;&#10;            &lt;/Box&gt;&#10;&#10;            &lt;Box style={{ flex: 1, flexDirection: 'column', gap: 10 }}&gt;&#10;&#10;                &lt;Box style={{ height: 76, background: '#F4F7FA', borderRadius: 10, padding: '0 18px', flexDirection: 'row', alignItems: 'center', gap: 16 }}&gt;&#10;                    &lt;Box style={{ width: 4, height: 44, background: '#276FBF' }} /&gt;&#10;                    &lt;Box style={{ width: 140 }}&gt;&lt;Text style={{ fontSize: 18, fontWeight: 'bold', color: '#20344B' }}&gt;活动日期&lt;/Text&gt;&lt;/Box&gt;&#10;                    &lt;Box style={{ flex: 1 }}&gt;&lt;Text style={{ fontSize: 16, color: '#546779' }}&gt;这次安排针对哪一天&lt;/Text&gt;&lt;/Box&gt;&#10;                &lt;/Box&gt;&#10;&#10;                &lt;Box style={{ height: 76, background: '#F4F7FA', borderRadius: 10, padding: '0 18px', flexDirection: 'row', alignItems: 'center', gap: 16 }}&gt;&#10;                    &lt;Box style={{ width: 4, height: 44, background: '#276FBF' }} /&gt;&#10;                    &lt;Box style={{ width: 140 }}&gt;&lt;Text style={{ fontSize: 18, fontWeight: 'bold', color: '#20344B' }}&gt;三项时长&lt;/Text&gt;&lt;/Box&gt;&#10;                    &lt;Box style={{ flex: 1 }}&gt;&lt;Text style={{ fontSize: 16, color: '#546779' }}&gt;每项活动各占多久，压缩时最易丢失&lt;/Text&gt;&lt;/Box&gt;&#10;                &lt;/Box&gt;&#10;&#10;                &lt;Box style={{ height: 76, background: '#F4F7FA', borderRadius: 10, padding: '0 18px', flexDirection: 'row', alignItems: 'center', gap: 16 }}&gt;&#10;                    &lt;Box style={{ width: 4, height: 44, background: '#276FBF' }} /&gt;&#10;                    &lt;Box style={{ width: 140 }}&gt;&lt;Text style={{ fontSize: 18, fontWeight: 'bold', color: '#20344B' }}&gt;房间限制&lt;/Text&gt;&lt;/Box&gt;&#10;                    &lt;Box style={{ flex: 1 }}&gt;&lt;Text style={{ fontSize: 16, color: '#546779' }}&gt;容量与开放时段&lt;/Text&gt;&lt;/Box&gt;&#10;                &lt;/Box&gt;&#10;&#10;                &lt;Box style={{ height: 76, background: '#FFF4E6', borderRadius: 10, padding: '0 18px', flexDirection: 'row', alignItems: 'center', gap: 16 }}&gt;&#10;                    &lt;Box style={{ width: 4, height: 44, background: '#CB6B28' }} /&gt;&#10;                    &lt;Box style={{ width: 140 }}&gt;&lt;Text style={{ fontSize: 18, fontWeight: 'bold', color: '#CB6B28' }}&gt;预约待查状态&lt;/Text&gt;&lt;/Box&gt;&#10;                    &lt;Box style={{ flex: 1 }}&gt;&lt;Text style={{ fontSize: 16, color: '#546779' }}&gt;写明「待查」，不要写成已确认&lt;/Text&gt;&lt;/Box&gt;&#10;                &lt;/Box&gt;&#10;&#10;                &lt;Box style={{ height: 76, background: '#F4F7FA', borderRadius: 10, padding: '0 18px', flexDirection: 'row', alignItems: 'center', gap: 16 }}&gt;&#10;                    &lt;Box style={{ width: 4, height: 44, background: '#276FBF' }} /&gt;&#10;                    &lt;Box style={{ width: 140 }}&gt;&lt;Text style={{ fontSize: 18, fontWeight: 'bold', color: '#20344B' }}&gt;待交付物&lt;/Text&gt;&lt;/Box&gt;&#10;                    &lt;Box style={{ flex: 1 }}&gt;&lt;Text style={{ fontSize: 16, color: '#546779' }}&gt;最后要交出的是哪几份东西&lt;/Text&gt;&lt;/Box&gt;&#10;                &lt;/Box&gt;&#10;&#10;            &lt;/Box&gt;&#10;&#10;        &lt;/Box&gt;&#10;&#10;        &lt;Box style={{ flexDirection: 'row', background: '#EDF4FC', borderRadius: 10, padding: '14px 20px', alignItems: 'center', gap: 14 }}&gt;&#10;            &lt;Box style={{ width: 3, height: 30, background: '#276FBF' }} /&gt;&#10;            &lt;Text style={{ fontSize: 16, color: '#276FBF', lineHeight: 1.6 }}&gt;让第二个任务根据摘要指出：还需要读取哪些文件才能把方案定下来。&lt;/Text&gt;&#10;        &lt;/Box&gt;&#10;&#10;    &lt;/Box&gt;&#10;&#10;    &lt;Box style={{ height: 40, flexDirection: 'row', justifyContent: 'space-between', alignItems: 'center' }}&gt;&#10;        &lt;Text style={{ fontSize: 14, color: '#546779' }}&gt;2.3 上下文工程&lt;/Text&gt;&#10;        &lt;Text style={{ fontSize: 14, color: '#546779' }}&gt;23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2.3.6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失败诊断与练习</a:t>
            </a:r>
            <a:endParaRPr/>
          </a:p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二百字摘要要留住什么</a:t>
            </a:r>
            <a:endParaRPr/>
          </a:p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609600" y="1371600"/>
            <a:ext cx="3238500" cy="4191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875" b="1">
                <a:solidFill>
                  <a:srgbClr val="276FBF"/>
                </a:solidFill>
                <a:latin typeface="Microsoft YaHei"/>
                <a:ea typeface="Microsoft YaHei"/>
              </a:rPr>
              <a:t>五项关键项，一项都不能省</a:t>
            </a:r>
            <a:endParaRPr/>
          </a:p>
        </p:txBody>
      </p:sp>
      <p:sp>
        <p:nvSpPr>
          <p:cNvPr id="430" name=""/>
          <p:cNvSpPr/>
          <p:nvPr/>
        </p:nvSpPr>
        <p:spPr>
          <a:xfrm rot="0" flipH="0" flipV="0">
            <a:off x="609600" y="1924050"/>
            <a:ext cx="533400" cy="28575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609600" y="2085975"/>
            <a:ext cx="3238500" cy="1028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摘要不必复制原文，但它必须让接手的人知道：现在确定了什么，还有什么是没有确定的。</a:t>
            </a:r>
            <a:endParaRPr/>
          </a:p>
        </p:txBody>
      </p:sp>
      <p:sp>
        <p:nvSpPr>
          <p:cNvPr id="432" name=""/>
          <p:cNvSpPr/>
          <p:nvPr/>
        </p:nvSpPr>
        <p:spPr>
          <a:xfrm rot="0" flipH="0" flipV="0">
            <a:off x="4229100" y="1371600"/>
            <a:ext cx="7353300" cy="723900"/>
          </a:xfrm>
          <a:prstGeom prst="roundRect">
            <a:avLst>
              <a:gd name="adj" fmla="val 1315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33" name=""/>
          <p:cNvSpPr/>
          <p:nvPr/>
        </p:nvSpPr>
        <p:spPr>
          <a:xfrm rot="0" flipH="0" flipV="0">
            <a:off x="4400550" y="15240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4591050" y="1628775"/>
            <a:ext cx="1333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活动日期</a:t>
            </a:r>
            <a:endParaRPr/>
          </a:p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6076950" y="1638300"/>
            <a:ext cx="5334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这次安排针对哪一天</a:t>
            </a:r>
            <a:endParaRPr/>
          </a:p>
        </p:txBody>
      </p:sp>
      <p:sp>
        <p:nvSpPr>
          <p:cNvPr id="436" name=""/>
          <p:cNvSpPr/>
          <p:nvPr/>
        </p:nvSpPr>
        <p:spPr>
          <a:xfrm rot="0" flipH="0" flipV="0">
            <a:off x="4229100" y="2190750"/>
            <a:ext cx="7353300" cy="723900"/>
          </a:xfrm>
          <a:prstGeom prst="roundRect">
            <a:avLst>
              <a:gd name="adj" fmla="val 1315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37" name=""/>
          <p:cNvSpPr/>
          <p:nvPr/>
        </p:nvSpPr>
        <p:spPr>
          <a:xfrm rot="0" flipH="0" flipV="0">
            <a:off x="4400550" y="234315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4591050" y="2447925"/>
            <a:ext cx="1333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三项时长</a:t>
            </a:r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6076950" y="2457450"/>
            <a:ext cx="5334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每项活动各占多久，压缩时最易丢失</a:t>
            </a:r>
            <a:endParaRPr/>
          </a:p>
        </p:txBody>
      </p:sp>
      <p:sp>
        <p:nvSpPr>
          <p:cNvPr id="440" name=""/>
          <p:cNvSpPr/>
          <p:nvPr/>
        </p:nvSpPr>
        <p:spPr>
          <a:xfrm rot="0" flipH="0" flipV="0">
            <a:off x="4229100" y="3009900"/>
            <a:ext cx="7353300" cy="723900"/>
          </a:xfrm>
          <a:prstGeom prst="roundRect">
            <a:avLst>
              <a:gd name="adj" fmla="val 1315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41" name=""/>
          <p:cNvSpPr/>
          <p:nvPr/>
        </p:nvSpPr>
        <p:spPr>
          <a:xfrm rot="0" flipH="0" flipV="0">
            <a:off x="4400550" y="31623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4591050" y="3267075"/>
            <a:ext cx="1333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房间限制</a:t>
            </a:r>
            <a:endParaRPr/>
          </a:p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6076950" y="3276600"/>
            <a:ext cx="5334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容量与开放时段</a:t>
            </a:r>
            <a:endParaRPr/>
          </a:p>
        </p:txBody>
      </p:sp>
      <p:sp>
        <p:nvSpPr>
          <p:cNvPr id="444" name=""/>
          <p:cNvSpPr/>
          <p:nvPr/>
        </p:nvSpPr>
        <p:spPr>
          <a:xfrm rot="0" flipH="0" flipV="0">
            <a:off x="4229100" y="3829050"/>
            <a:ext cx="7353300" cy="723900"/>
          </a:xfrm>
          <a:prstGeom prst="roundRect">
            <a:avLst>
              <a:gd name="adj" fmla="val 1315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45" name=""/>
          <p:cNvSpPr/>
          <p:nvPr/>
        </p:nvSpPr>
        <p:spPr>
          <a:xfrm rot="0" flipH="0" flipV="0">
            <a:off x="4400550" y="3981450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4591050" y="4086225"/>
            <a:ext cx="1333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预约待查状态</a:t>
            </a:r>
            <a:endParaRPr/>
          </a:p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6076950" y="4095750"/>
            <a:ext cx="5334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写明「待查」，不要写成已确认</a:t>
            </a:r>
            <a:endParaRPr/>
          </a:p>
        </p:txBody>
      </p:sp>
      <p:sp>
        <p:nvSpPr>
          <p:cNvPr id="448" name=""/>
          <p:cNvSpPr/>
          <p:nvPr/>
        </p:nvSpPr>
        <p:spPr>
          <a:xfrm rot="0" flipH="0" flipV="0">
            <a:off x="4229100" y="4648200"/>
            <a:ext cx="7353300" cy="723900"/>
          </a:xfrm>
          <a:prstGeom prst="roundRect">
            <a:avLst>
              <a:gd name="adj" fmla="val 1315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49" name=""/>
          <p:cNvSpPr/>
          <p:nvPr/>
        </p:nvSpPr>
        <p:spPr>
          <a:xfrm rot="0" flipH="0" flipV="0">
            <a:off x="4400550" y="48006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4591050" y="4905375"/>
            <a:ext cx="1333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待交付物</a:t>
            </a:r>
            <a:endParaRPr/>
          </a:p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6076950" y="4914900"/>
            <a:ext cx="5334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最后要交出的是哪几份东西</a:t>
            </a:r>
            <a:endParaRPr/>
          </a:p>
        </p:txBody>
      </p:sp>
      <p:sp>
        <p:nvSpPr>
          <p:cNvPr id="452" name=""/>
          <p:cNvSpPr/>
          <p:nvPr/>
        </p:nvSpPr>
        <p:spPr>
          <a:xfrm rot="0" flipH="0" flipV="0">
            <a:off x="609600" y="5505450"/>
            <a:ext cx="10972800" cy="561975"/>
          </a:xfrm>
          <a:prstGeom prst="roundRect">
            <a:avLst>
              <a:gd name="adj" fmla="val 1694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53" name=""/>
          <p:cNvSpPr/>
          <p:nvPr/>
        </p:nvSpPr>
        <p:spPr>
          <a:xfrm rot="0" flipH="0" flipV="0">
            <a:off x="800100" y="5648325"/>
            <a:ext cx="28575" cy="2857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962025" y="5638800"/>
            <a:ext cx="47244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让第二个任务根据摘要指出：还需要读取哪些文件才能把方案定下来。</a:t>
            </a:r>
            <a:endParaRPr/>
          </a:p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上下文工程</a:t>
            </a:r>
            <a:endParaRPr/>
          </a:p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23 / 25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457" name="" descr="&lt;Slide notes={`那什么样的摘要算好？我给两条判断标准。&#10;&#10;第一条，看它减少不减少重复沟通，同时保留重新取证的入口。好的摘要不把所有原文复制一遍，但它会明确告诉你事实出自哪份文件、还有哪些事没有解决。第二个任务拿到它，知道从哪里接、还要读什么。&#10;&#10;第二条，看它有没有过度压缩完成状态。如果新任务仅凭摘要就宣称所有安排都已经验证过了，这就是一个明确的信号：要么摘要把「待查」写成了「已确认」，把状态压扁了；要么这个任务根本没有建立证据检查。&#10;&#10;这两种情况的处理方式是一样的：去修正摘要和验证流程，而不是继续延长对话、反复追问。因为问题不在沟通次数，而在状态和证据有没有被如实保留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3.6　失败诊断与练习&lt;/Text&gt;&#10;            &lt;Text style={{ fontSize: 34, fontWeight: 'bold', color: '#20344B' }}&gt;好摘要省沟通，也留下取证入口&lt;/Text&gt;&#10;        &lt;/Box&gt;&#10;    &lt;/Box&gt;&#10;&#10;    &lt;Box style={{ height: 540, flexDirection: 'column', justifyContent: 'center', gap: 16 }}&gt;&#10;&#10;        &lt;Box style={{ flexDirection: 'row', height: 150, background: '#ECF7F2', borderRadius: 12, padding: '0 24px', alignItems: 'center', gap: 20 }}&gt;&#10;            &lt;Box style={{ width: 4, height: 92, background: '#26816B' }} /&gt;&#10;            &lt;Box style={{ width: 260 }}&gt;&#10;                &lt;Text style={{ fontSize: 22, fontWeight: 'bold', color: '#26816B' }}&gt;好的摘要&lt;/Text&gt;&#10;                &lt;Text style={{ fontSize: 15, color: '#546779' }}&gt;两端都照顾到&lt;/Text&gt;&#10;            &lt;/Box&gt;&#10;            &lt;Box style={{ flex: 1, flexDirection: 'column', gap: 6 }}&gt;&#10;                &lt;Text style={{ fontSize: 17, color: '#20344B', lineHeight: 1.6 }}&gt;减少重复沟通，同时保留重新取证的入口。&lt;/Text&gt;&#10;                &lt;Text style={{ fontSize: 17, color: '#546779', lineHeight: 1.6 }}&gt;它不需要把所有原文复制一遍，但要指向文件与未完成项。&lt;/Text&gt;&#10;            &lt;/Box&gt;&#10;        &lt;/Box&gt;&#10;&#10;        &lt;Box style={{ flexDirection: 'row', height: 150, background: '#FFF4E6', borderRadius: 12, padding: '0 24px', alignItems: 'center', gap: 20 }}&gt;&#10;            &lt;Box style={{ width: 4, height: 92, background: '#CB6B28' }} /&gt;&#10;            &lt;Box style={{ width: 260 }}&gt;&#10;                &lt;Text style={{ fontSize: 22, fontWeight: 'bold', color: '#CB6B28' }}&gt;需要警惕的摘要&lt;/Text&gt;&#10;                &lt;Text style={{ fontSize: 15, color: '#546779' }}&gt;状态被压扁&lt;/Text&gt;&#10;            &lt;/Box&gt;&#10;            &lt;Box style={{ flex: 1, flexDirection: 'column', gap: 6 }}&gt;&#10;                &lt;Text style={{ fontSize: 17, color: '#20344B', lineHeight: 1.6 }}&gt;新任务仅凭摘要便宣称所有安排已验证。&lt;/Text&gt;&#10;                &lt;Text style={{ fontSize: 17, color: '#546779', lineHeight: 1.6 }}&gt;说明完成状态被过度压缩，或任务没有建立证据检查。&lt;/Text&gt;&#10;            &lt;/Box&gt;&#10;        &lt;/Box&gt;&#10;&#10;        &lt;Box style={{ flexDirection: 'row', height: 76, background: '#EDF4FC', borderRadius: 10, padding: '0 20px', alignItems: 'center', gap: 14 }}&gt;&#10;            &lt;Box style={{ width: 3, height: 34, background: '#276FBF' }} /&gt;&#10;            &lt;Text style={{ fontSize: 16, color: '#276FBF', lineHeight: 1.55 }}&gt;修正摘要和验证流程，比继续延长对话更有效。&lt;/Text&gt;&#10;        &lt;/Box&gt;&#10;&#10;    &lt;/Box&gt;&#10;&#10;    &lt;Box style={{ height: 40, flexDirection: 'row', justifyContent: 'space-between', alignItems: 'center' }}&gt;&#10;        &lt;Text style={{ fontSize: 14, color: '#546779' }}&gt;2.3 上下文工程&lt;/Text&gt;&#10;        &lt;Text style={{ fontSize: 14, color: '#546779' }}&gt;24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5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53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2.3.6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失败诊断与练习</a:t>
            </a:r>
            <a:endParaRPr/>
          </a:p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好摘要省沟通，也留下取证入口</a:t>
            </a:r>
            <a:endParaRPr/>
          </a:p>
        </p:txBody>
      </p:sp>
      <p:sp>
        <p:nvSpPr>
          <p:cNvPr id="462" name=""/>
          <p:cNvSpPr/>
          <p:nvPr/>
        </p:nvSpPr>
        <p:spPr>
          <a:xfrm rot="0" flipH="0" flipV="0">
            <a:off x="609600" y="1771650"/>
            <a:ext cx="10972800" cy="1428750"/>
          </a:xfrm>
          <a:prstGeom prst="roundRect">
            <a:avLst>
              <a:gd name="adj" fmla="val 8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63" name=""/>
          <p:cNvSpPr/>
          <p:nvPr/>
        </p:nvSpPr>
        <p:spPr>
          <a:xfrm rot="0" flipH="0" flipV="0">
            <a:off x="838200" y="2047875"/>
            <a:ext cx="38100" cy="8763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1066800" y="2276475"/>
            <a:ext cx="2476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6816B"/>
                </a:solidFill>
                <a:latin typeface="Microsoft YaHei"/>
                <a:ea typeface="Microsoft YaHei"/>
              </a:rPr>
              <a:t>好的摘要</a:t>
            </a:r>
            <a:endParaRPr/>
          </a:p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1066800" y="2533650"/>
            <a:ext cx="2476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两端都照顾到</a:t>
            </a:r>
            <a:endParaRPr/>
          </a:p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3733800" y="2143125"/>
            <a:ext cx="76200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减少重复沟通，同时保留重新取证的入口。</a:t>
            </a:r>
            <a:endParaRPr/>
          </a:p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3733800" y="2514600"/>
            <a:ext cx="76200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它不需要把所有原文复制一遍，但要指向文件与未完成项。</a:t>
            </a:r>
            <a:endParaRPr/>
          </a:p>
        </p:txBody>
      </p:sp>
      <p:sp>
        <p:nvSpPr>
          <p:cNvPr id="468" name=""/>
          <p:cNvSpPr/>
          <p:nvPr/>
        </p:nvSpPr>
        <p:spPr>
          <a:xfrm rot="0" flipH="0" flipV="0">
            <a:off x="609600" y="3352800"/>
            <a:ext cx="10972800" cy="1428750"/>
          </a:xfrm>
          <a:prstGeom prst="roundRect">
            <a:avLst>
              <a:gd name="adj" fmla="val 8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69" name=""/>
          <p:cNvSpPr/>
          <p:nvPr/>
        </p:nvSpPr>
        <p:spPr>
          <a:xfrm rot="0" flipH="0" flipV="0">
            <a:off x="838200" y="3629025"/>
            <a:ext cx="38100" cy="8763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1066800" y="3857625"/>
            <a:ext cx="2476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CB6B28"/>
                </a:solidFill>
                <a:latin typeface="Microsoft YaHei"/>
                <a:ea typeface="Microsoft YaHei"/>
              </a:rPr>
              <a:t>需要警惕的摘要</a:t>
            </a:r>
            <a:endParaRPr/>
          </a:p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1066800" y="4114800"/>
            <a:ext cx="2476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状态被压扁</a:t>
            </a:r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3733800" y="3724275"/>
            <a:ext cx="76200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新任务仅凭摘要便宣称所有安排已验证。</a:t>
            </a:r>
            <a:endParaRPr/>
          </a:p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3733800" y="4095750"/>
            <a:ext cx="76200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说明完成状态被过度压缩，或任务没有建立证据检查。</a:t>
            </a:r>
            <a:endParaRPr/>
          </a:p>
        </p:txBody>
      </p:sp>
      <p:sp>
        <p:nvSpPr>
          <p:cNvPr id="474" name=""/>
          <p:cNvSpPr/>
          <p:nvPr/>
        </p:nvSpPr>
        <p:spPr>
          <a:xfrm rot="0" flipH="0" flipV="0">
            <a:off x="609600" y="4933950"/>
            <a:ext cx="10972800" cy="723900"/>
          </a:xfrm>
          <a:prstGeom prst="roundRect">
            <a:avLst>
              <a:gd name="adj" fmla="val 1315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75" name=""/>
          <p:cNvSpPr/>
          <p:nvPr/>
        </p:nvSpPr>
        <p:spPr>
          <a:xfrm rot="0" flipH="0" flipV="0">
            <a:off x="800100" y="5133975"/>
            <a:ext cx="28575" cy="3238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962025" y="5153025"/>
            <a:ext cx="320040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修正摘要和验证流程，比继续延长对话更有效。</a:t>
            </a:r>
            <a:endParaRPr/>
          </a:p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上下文工程</a:t>
            </a:r>
            <a:endParaRPr/>
          </a:p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24 / 25</a:t>
            </a:r>
            <a:endParaRPr/>
          </a:p>
        </p:txBody>
      </p:sp>
    </p:spTree>
  </p:cSld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479" name="" descr="&lt;Slide notes={`这一节讲完了，我留下三个可以反复使用的问题。&#10;&#10;第一个问题，这一轮实际获得了哪些输入？指令、资料、工具结果、工作状态，具体是哪些进了这次请求。问这一句，是为了避免把「我手上有这份文件」误当成「模型看到了这份文件」。&#10;&#10;第二个问题，哪份资料更新了？文件是不是同名的，身份、日期和指纹对不对得上。更新要靠明确的新资料去替换，不能让模型自己去猜哪一份更权威。&#10;&#10;第三个问题，摘要保留了哪些字段，能不能回查原文件？如果一份摘要丢掉了关键约束，后面写得再流畅也补救不回来。&#10;&#10;这三个问题的共同点是：它们都指向可以核对的东西，而不是一种感觉。下一节我们进入 2.4，讨论结构化输出与业务校验。`} style={{ width: 1280, height: 720, background: '#FFFFFF', flexDirection: 'column', padding: '20px 64px' }}&gt;&#10;&#10;    &lt;Box style={{ height: 540, flexDirection: 'row', justifyContent: 'center', alignItems: 'center', gap: 48 }}&gt;&#10;&#10;        &lt;Box style={{ width: 400, flexDirection: 'column', gap: 16 }}&gt;&#10;            &lt;Text style={{ fontSize: 15, color: '#546779' }}&gt;2.3　小结&lt;/Text&gt;&#10;            &lt;Text style={{ fontSize: 44, fontWeight: 'bold', color: '#20344B', lineHeight: 1.25 }}&gt;记住三个可核对的问题&lt;/Text&gt;&#10;            &lt;Box style={{ width: 72, height: 4, background: '#276FBF' }} /&gt;&#10;            &lt;Text style={{ fontSize: 17, color: '#546779', lineHeight: 1.8 }}&gt;每轮请求都要重新决定带上什么，带上的东西必须分得清来源。判断之前，先把这三个问题问一遍。&lt;/Text&gt;&#10;        &lt;/Box&gt;&#10;&#10;        &lt;Box style={{ flex: 1, flexDirection: 'column', gap: 14 }}&gt;&#10;&#10;            &lt;Box style={{ flexDirection: 'row', gap: 16, height: 106, background: '#EDF4FC', borderRadius: 12, padding: '0 22px', alignItems: 'center' }}&gt;&#10;                &lt;Box style={{ width: 46, height: 46, borderRadius: 8, background: '#276FBF', justifyContent: 'center', alignItems: 'center' }}&gt;&#10;                    &lt;Text style={{ fontSize: 22, fontWeight: 'bold', color: '#FFFFFF' }}&gt;1&lt;/Text&gt;&#10;                &lt;/Box&gt;&#10;                &lt;Box style={{ flex: 1, flexDirection: 'column', gap: 4 }}&gt;&#10;                    &lt;Text style={{ fontSize: 21, fontWeight: 'bold', color: '#20344B' }}&gt;这一轮实际获得了哪些输入？&lt;/Text&gt;&#10;                    &lt;Text style={{ fontSize: 15, color: '#546779' }}&gt;指令、资料、工具结果与工作状态，各自进来了没有&lt;/Text&gt;&#10;                &lt;/Box&gt;&#10;            &lt;/Box&gt;&#10;&#10;            &lt;Box style={{ flexDirection: 'row', gap: 16, height: 106, background: '#EDF4FC', borderRadius: 12, padding: '0 22px', alignItems: 'center' }}&gt;&#10;                &lt;Box style={{ width: 46, height: 46, borderRadius: 8, background: '#276FBF', justifyContent: 'center', alignItems: 'center' }}&gt;&#10;                    &lt;Text style={{ fontSize: 22, fontWeight: 'bold', color: '#FFFFFF' }}&gt;2&lt;/Text&gt;&#10;                &lt;/Box&gt;&#10;                &lt;Box style={{ flex: 1, flexDirection: 'column', gap: 4 }}&gt;&#10;                    &lt;Text style={{ fontSize: 21, fontWeight: 'bold', color: '#20344B' }}&gt;哪份资料更新了？&lt;/Text&gt;&#10;                    &lt;Text style={{ fontSize: 15, color: '#546779' }}&gt;身份、日期与指纹对得上吗，是明确替换还是让模型猜&lt;/Text&gt;&#10;                &lt;/Box&gt;&#10;            &lt;/Box&gt;&#10;&#10;            &lt;Box style={{ flexDirection: 'row', gap: 16, height: 106, background: '#FFF4E6', borderRadius: 12, padding: '0 22px', alignItems: 'center' }}&gt;&#10;                &lt;Box style={{ width: 46, height: 46, borderRadius: 8, background: '#CB6B28', justifyContent: 'center', alignItems: 'center' }}&gt;&#10;                    &lt;Text style={{ fontSize: 22, fontWeight: 'bold', color: '#FFFFFF' }}&gt;3&lt;/Text&gt;&#10;                &lt;/Box&gt;&#10;                &lt;Box style={{ flex: 1, flexDirection: 'column', gap: 4 }}&gt;&#10;                    &lt;Text style={{ fontSize: 21, fontWeight: 'bold', color: '#CB6B28' }}&gt;摘要留下了什么，能否回查？&lt;/Text&gt;&#10;                    &lt;Text style={{ fontSize: 15, color: '#546779' }}&gt;关键约束与未完成项在不在，原文件还找得到吗&lt;/Text&gt;&#10;                &lt;/Box&gt;&#10;            &lt;/Box&gt;&#10;&#10;            &lt;Box style={{ flexDirection: 'row', alignItems: 'center', gap: 12, paddingTop: 6 }}&gt;&#10;                &lt;Box style={{ width: 3, height: 26, background: '#26816B' }} /&gt;&#10;                &lt;Text style={{ fontSize: 16, color: '#546779' }}&gt;下一节　2.4　结构化输出与业务校验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3 上下文工程&lt;/Text&gt;&#10;        &lt;Text style={{ fontSize: 14, color: '#546779' }}&gt;25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609600" y="1447800"/>
            <a:ext cx="3810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2.3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小结</a:t>
            </a:r>
            <a:endParaRPr/>
          </a:p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609600" y="1771650"/>
            <a:ext cx="3810000" cy="1257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25000"/>
              </a:lnSpc>
            </a:pPr>
            <a:r>
              <a:rPr lang="zh-CN" sz="3300" b="1">
                <a:solidFill>
                  <a:srgbClr val="20344B"/>
                </a:solidFill>
                <a:latin typeface="Microsoft YaHei"/>
                <a:ea typeface="Microsoft YaHei"/>
              </a:rPr>
              <a:t>记住三个可核对的问题</a:t>
            </a:r>
            <a:endParaRPr/>
          </a:p>
        </p:txBody>
      </p:sp>
      <p:sp>
        <p:nvSpPr>
          <p:cNvPr id="483" name=""/>
          <p:cNvSpPr/>
          <p:nvPr/>
        </p:nvSpPr>
        <p:spPr>
          <a:xfrm rot="0" flipH="0" flipV="0">
            <a:off x="609600" y="31813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609600" y="3371850"/>
            <a:ext cx="38100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每轮请求都要重新决定带上什么，带上的东西必须分得清来源。判断之前，先把这三个问题问一遍。</a:t>
            </a:r>
            <a:endParaRPr/>
          </a:p>
        </p:txBody>
      </p:sp>
      <p:sp>
        <p:nvSpPr>
          <p:cNvPr id="485" name=""/>
          <p:cNvSpPr/>
          <p:nvPr/>
        </p:nvSpPr>
        <p:spPr>
          <a:xfrm rot="0" flipH="0" flipV="0">
            <a:off x="4876800" y="895350"/>
            <a:ext cx="6705600" cy="1009650"/>
          </a:xfrm>
          <a:prstGeom prst="roundRect">
            <a:avLst>
              <a:gd name="adj" fmla="val 1132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86" name=""/>
          <p:cNvSpPr/>
          <p:nvPr/>
        </p:nvSpPr>
        <p:spPr>
          <a:xfrm rot="0" flipH="0" flipV="0">
            <a:off x="5086350" y="118110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5238750" y="1276350"/>
            <a:ext cx="133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5676900" y="1171575"/>
            <a:ext cx="56959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0344B"/>
                </a:solidFill>
                <a:latin typeface="Microsoft YaHei"/>
                <a:ea typeface="Microsoft YaHei"/>
              </a:rPr>
              <a:t>这一轮实际获得了哪些输入？</a:t>
            </a:r>
            <a:endParaRPr/>
          </a:p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5676900" y="1457325"/>
            <a:ext cx="5695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指令、资料、工具结果与工作状态，各自进来了没有</a:t>
            </a:r>
            <a:endParaRPr/>
          </a:p>
        </p:txBody>
      </p:sp>
      <p:sp>
        <p:nvSpPr>
          <p:cNvPr id="490" name=""/>
          <p:cNvSpPr/>
          <p:nvPr/>
        </p:nvSpPr>
        <p:spPr>
          <a:xfrm rot="0" flipH="0" flipV="0">
            <a:off x="4876800" y="2038350"/>
            <a:ext cx="6705600" cy="1009650"/>
          </a:xfrm>
          <a:prstGeom prst="roundRect">
            <a:avLst>
              <a:gd name="adj" fmla="val 1132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91" name=""/>
          <p:cNvSpPr/>
          <p:nvPr/>
        </p:nvSpPr>
        <p:spPr>
          <a:xfrm rot="0" flipH="0" flipV="0">
            <a:off x="5086350" y="232410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5238750" y="2419350"/>
            <a:ext cx="133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5676900" y="2314575"/>
            <a:ext cx="56959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0344B"/>
                </a:solidFill>
                <a:latin typeface="Microsoft YaHei"/>
                <a:ea typeface="Microsoft YaHei"/>
              </a:rPr>
              <a:t>哪份资料更新了？</a:t>
            </a:r>
            <a:endParaRPr/>
          </a:p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5676900" y="2600325"/>
            <a:ext cx="5695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身份、日期与指纹对得上吗，是明确替换还是让模型猜</a:t>
            </a:r>
            <a:endParaRPr/>
          </a:p>
        </p:txBody>
      </p:sp>
      <p:sp>
        <p:nvSpPr>
          <p:cNvPr id="495" name=""/>
          <p:cNvSpPr/>
          <p:nvPr/>
        </p:nvSpPr>
        <p:spPr>
          <a:xfrm rot="0" flipH="0" flipV="0">
            <a:off x="4876800" y="3181350"/>
            <a:ext cx="6705600" cy="1009650"/>
          </a:xfrm>
          <a:prstGeom prst="roundRect">
            <a:avLst>
              <a:gd name="adj" fmla="val 1132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96" name=""/>
          <p:cNvSpPr/>
          <p:nvPr/>
        </p:nvSpPr>
        <p:spPr>
          <a:xfrm rot="0" flipH="0" flipV="0">
            <a:off x="5086350" y="346710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5238750" y="3562350"/>
            <a:ext cx="133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5676900" y="3457575"/>
            <a:ext cx="56959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CB6B28"/>
                </a:solidFill>
                <a:latin typeface="Microsoft YaHei"/>
                <a:ea typeface="Microsoft YaHei"/>
              </a:rPr>
              <a:t>摘要留下了什么，能否回查？</a:t>
            </a:r>
            <a:endParaRPr/>
          </a:p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5676900" y="3743325"/>
            <a:ext cx="5695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关键约束与未完成项在不在，原文件还找得到吗</a:t>
            </a:r>
            <a:endParaRPr/>
          </a:p>
        </p:txBody>
      </p:sp>
      <p:sp>
        <p:nvSpPr>
          <p:cNvPr id="500" name=""/>
          <p:cNvSpPr/>
          <p:nvPr/>
        </p:nvSpPr>
        <p:spPr>
          <a:xfrm rot="0" flipH="0" flipV="0">
            <a:off x="4876800" y="4381500"/>
            <a:ext cx="28575" cy="2476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5019675" y="4410075"/>
            <a:ext cx="25050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下一节　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2.4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　结构化输出与业务校验</a:t>
            </a:r>
            <a:endParaRPr/>
          </a:p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609600" y="54483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上下文工程</a:t>
            </a:r>
            <a:endParaRPr/>
          </a:p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11125200" y="5448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25 / 25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2026-09-29T03:09:09Z</dcterms:created>
  <dcterms:modified xsi:type="dcterms:W3CDTF">2026-09-29T03:09:09Z</dcterms:modified>
</cp:coreProperties>
</file>