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5" Type="http://schemas.openxmlformats.org/officeDocument/2006/relationships/slide" Target="slides/slide5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8" Type="http://schemas.openxmlformats.org/officeDocument/2006/relationships/slide" Target="slides/slide8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15" Type="http://schemas.openxmlformats.org/officeDocument/2006/relationships/slide" Target="slides/slide15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25" Type="http://schemas.openxmlformats.org/officeDocument/2006/relationships/presProps" Target="presProps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4" Type="http://schemas.openxmlformats.org/officeDocument/2006/relationships/slide" Target="slides/slide14.xml" /><Relationship Id="rId22" Type="http://schemas.openxmlformats.org/officeDocument/2006/relationships/slide" Target="slides/slide22.xml" /><Relationship Id="rId21" Type="http://schemas.openxmlformats.org/officeDocument/2006/relationships/slide" Target="slides/slide21.xml" /><Relationship Id="rId17" Type="http://schemas.openxmlformats.org/officeDocument/2006/relationships/slide" Target="slides/slide17.xml" /><Relationship Id="rId3" Type="http://schemas.openxmlformats.org/officeDocument/2006/relationships/slide" Target="slides/slide3.xml" /><Relationship Id="rId18" Type="http://schemas.openxmlformats.org/officeDocument/2006/relationships/slide" Target="slides/slide18.xml" /><Relationship Id="rId23" Type="http://schemas.openxmlformats.org/officeDocument/2006/relationships/slide" Target="slides/slide23.xml" /><Relationship Id="rId19" Type="http://schemas.openxmlformats.org/officeDocument/2006/relationships/slide" Target="slides/slide19.xml" /><Relationship Id="rId20" Type="http://schemas.openxmlformats.org/officeDocument/2006/relationships/slide" Target="slides/slide20.xml" /><Relationship Id="rId24" Type="http://schemas.openxmlformats.org/officeDocument/2006/relationships/notesMaster" Target="notesMasters/notesMaster1.xml" /><Relationship Id="rId26" Type="http://schemas.openxmlformats.org/officeDocument/2006/relationships/tableStyles" Target="tableStyles.xml" /><Relationship Id="rId7" Type="http://schemas.openxmlformats.org/officeDocument/2006/relationships/slide" Target="slides/slide7.xml" /><Relationship Id="rId27" Type="http://schemas.openxmlformats.org/officeDocument/2006/relationships/viewProps" Target="viewProps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我们在这一章要交付的，是一份可以被检查的开放日筹备方案。上一节把材料、历史、指令整理清楚了，可只要结果还是自然语言，程序就没法接着往下处理。</a:t>
            </a:r>
          </a:p>
          <a:p>
            <a:r>
              <a:rPr lang="zh-CN" dirty="0"/>
              <a:t>「上午先阅读，稍后手作」这句话人看得懂，程序看不懂。它不知道上午是几点，也不知道稍后隔多久。结构化输出要做的，就是把这些含义放进约定好的字段：活动编号、房间编号、开始时间、结束时间、参加人数。</a:t>
            </a:r>
          </a:p>
          <a:p>
            <a:r>
              <a:rPr lang="zh-CN" dirty="0"/>
              <a:t>字段一旦约定，程序就能排序、能比对、能算冲突。还要特别注意末尾那个时区偏移，它不是装饰——缺了它，同一份记录换一台电脑运行，含义就会变。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这一节我按四个问题往下讲，它们是有顺序的。</a:t>
            </a:r>
          </a:p>
          <a:p>
            <a:r>
              <a:rPr lang="zh-CN" dirty="0"/>
              <a:t>第一，检查分几层。很多人一听到「格式对不对」就当成一件事，其实是四件事：响应本身可用吗、JSON 语法过关吗、字段和类型符合合同吗、业务和来源站得住吗。分开看，才知道该查什么。</a:t>
            </a:r>
          </a:p>
          <a:p>
            <a:r>
              <a:rPr lang="zh-CN" dirty="0"/>
              <a:t>第二，合同怎么写。必填字段、允许的枚举值、禁止额外字段，这些写清楚了，程序才能替我们挡住一部分错误。</a:t>
            </a:r>
          </a:p>
          <a:p>
            <a:r>
              <a:rPr lang="zh-CN" dirty="0"/>
              <a:t>第三，怎么把合同放进请求里。Responses 接口用的是 text.format，请求发出去以后，先看状态和拒绝，再解析。</a:t>
            </a:r>
          </a:p>
          <a:p>
            <a:r>
              <a:rPr lang="zh-CN" dirty="0"/>
              <a:t>第四，谁来裁定对错。时间冲突这类规则不能让模型自己说了算，得交给独立程序算。四个问题合起来，就是这一节要交付的能力。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我们从一个特别常见的误会说起。很多人说「格式不对」，其实把好几件事混成了一件。</a:t>
            </a:r>
          </a:p>
          <a:p>
            <a:r>
              <a:rPr lang="zh-CN" dirty="0"/>
              <a:t>响应本身可能是中断的，也可能模型直接拒绝。这时候连内容都没拿到，谈不上格式。拿到了内容，还要看 JSON 语法能不能解析——引号、逗号、括号合不合法。</a:t>
            </a:r>
          </a:p>
          <a:p>
            <a:r>
              <a:rPr lang="zh-CN" dirty="0"/>
              <a:t>语法过关了，再看 Schema 结构：字段有没有遗漏，类型对不对，房间 ID 是不是在允许的那几个值里面。</a:t>
            </a:r>
          </a:p>
          <a:p>
            <a:r>
              <a:rPr lang="zh-CN" dirty="0"/>
              <a:t>这两步都过了，才轮到业务：人数放不放得下，时长对不对，有没有和别人的预约撞上。最后还有一层是来源：这些数字从哪来，那份预约表是不是本次任务该用的那一份。</a:t>
            </a:r>
          </a:p>
          <a:p>
            <a:r>
              <a:rPr lang="zh-CN" dirty="0"/>
              <a:t>四层分开查，出错的时候才知道该回哪一层。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这四层是四道关卡，注意它们是串行往下走的。</a:t>
            </a:r>
          </a:p>
          <a:p>
            <a:r>
              <a:rPr lang="zh-CN" dirty="0"/>
              <a:t>第一关是响应可用：先看 status 是不是 completed，有没有拒绝，有没有被中断。这一步不做，后面全是空谈。</a:t>
            </a:r>
          </a:p>
          <a:p>
            <a:r>
              <a:rPr lang="zh-CN" dirty="0"/>
              <a:t>第二关是格式正确。JSON 语法和 Schema 结构合成一道，是因为它们都只回答同一件事：这份数据的形式能不能被程序读进去。</a:t>
            </a:r>
          </a:p>
          <a:p>
            <a:r>
              <a:rPr lang="zh-CN" dirty="0"/>
              <a:t>第三关是业务可行：人数、时间、预约这些记录之间，以及记录与规则之间，相不相容。</a:t>
            </a:r>
          </a:p>
          <a:p>
            <a:r>
              <a:rPr lang="zh-CN" dirty="0"/>
              <a:t>第四关是来源有效：日期、文件与适用范围对不对。</a:t>
            </a:r>
          </a:p>
          <a:p>
            <a:r>
              <a:rPr lang="zh-CN" dirty="0"/>
              <a:t>关键是这一条：任何一关失败，都不要硬往下走。正确的做法是保留失败原因，回去修正输入，或者直接停住。来源的日期与适用范围要在生成前就核实，不能等结果出来再去挑材料。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我们看一条实际会出现的记录。它是一场手作活动，房间是手工室，十月十七号上午十点到十一点，十个人参加。</a:t>
            </a:r>
          </a:p>
          <a:p>
            <a:r>
              <a:rPr lang="zh-CN" dirty="0"/>
              <a:t>先说好消息：它是有效的 JSON，引号、逗号、括号全都合法；字段也完全符合约定的结构，人数是整数，房间编号在允许的枚举里面。</a:t>
            </a:r>
          </a:p>
          <a:p>
            <a:r>
              <a:rPr lang="zh-CN" dirty="0"/>
              <a:t>但这条记录不能用。手工室十点到十点半已经有预约了，这段候选正好整段落进去，业务上冲突。</a:t>
            </a:r>
          </a:p>
          <a:p>
            <a:r>
              <a:rPr lang="zh-CN" dirty="0"/>
              <a:t>还有一个更隐蔽的改法：把人数改成十三。语法照样正确，结构照样合规，可房间容量是十二人，人数和容量对不上。这个错误要到更晚一层才会暴露出来。</a:t>
            </a:r>
          </a:p>
          <a:p>
            <a:r>
              <a:rPr lang="zh-CN" dirty="0"/>
              <a:t>同样是「看起来没问题」的结果，问题可能出在完全不同的层。所以别只盯着第一层看。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这四个层次，每一层回答的问题是不一样的。</a:t>
            </a:r>
          </a:p>
          <a:p>
            <a:r>
              <a:rPr lang="zh-CN" dirty="0"/>
              <a:t>JSON 语法只问一件事：能不能解析。引号、逗号、括号是否合法，就这些。</a:t>
            </a:r>
          </a:p>
          <a:p>
            <a:r>
              <a:rPr lang="zh-CN" dirty="0"/>
              <a:t>Schema 结构问的是字段和类型符不符合合同。人数必须是整数，房间编号必须落在允许的那几个值里。它管的是形式，不管内容对不对。</a:t>
            </a:r>
          </a:p>
          <a:p>
            <a:r>
              <a:rPr lang="zh-CN" dirty="0"/>
              <a:t>业务规则问的是记录之间、以及记录和规则之间相不相容。时长对不对、容量够不够、活动完整不完整、有没有预约冲突，这些都在这儿。</a:t>
            </a:r>
          </a:p>
          <a:p>
            <a:r>
              <a:rPr lang="zh-CN" dirty="0"/>
              <a:t>事实来源问的是另一件事：你用的数据有没有依据，是不是适用于本次任务。人数要来自当前需求，预约要来自指定日期的查询。一层只管一件事，这是排查时最省力的做法。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这里要把两种要求分清楚。</a:t>
            </a:r>
          </a:p>
          <a:p>
            <a:r>
              <a:rPr lang="zh-CN" dirty="0"/>
              <a:t>第一种是「返回 JSON」。它只是对输出形式的要求：别用散文，给我一段 JSON。至于字段叫什么、类型对不对，它没有约定。</a:t>
            </a:r>
          </a:p>
          <a:p>
            <a:r>
              <a:rPr lang="zh-CN" dirty="0"/>
              <a:t>第二种是严格结构化输出。它进一步要求模型按照一个受支持的 JSON Schema 来生成结果，字段名、类型、必填项都写死在合同里。</a:t>
            </a:r>
          </a:p>
          <a:p>
            <a:r>
              <a:rPr lang="zh-CN" dirty="0"/>
              <a:t>但请注意下面这两条：无论哪一种，都不能证明预约已经成立。预约成不成立，要拿真实的预约记录去算。无论哪一种，也不能凭空填补缺失的资料——模型不知道的数字，它凑出来的也只是看起来合理。</a:t>
            </a:r>
          </a:p>
          <a:p>
            <a:r>
              <a:rPr lang="zh-CN" dirty="0"/>
              <a:t>形式的要求解决的是「程序能不能读」，不解决「事情对不对」，这两件事必须分开看。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第二个问题是：合同到底怎么写。</a:t>
            </a:r>
          </a:p>
          <a:p>
            <a:r>
              <a:rPr lang="zh-CN" dirty="0"/>
              <a:t>很多团队写 Schema 的时候很随意，字段想起来就加，类型随手写个 string 就算完。这样写出来的合同挡不住错误，因为程序能核对的，只有你写清楚的那部分。</a:t>
            </a:r>
          </a:p>
          <a:p>
            <a:r>
              <a:rPr lang="zh-CN" dirty="0"/>
              <a:t>一份适合程序使用的合同，至少要回答三件事：哪些字段必须出现，哪些字段只能取有限几个值，以及能不能临时加字段。</a:t>
            </a:r>
          </a:p>
          <a:p>
            <a:r>
              <a:rPr lang="zh-CN" dirty="0"/>
              <a:t>这三件事看起来琐碎，但它们决定了错误会在哪一层被拦住。必填项写清楚，缺字段就不会一路跑到下游；枚举写清楚，房间名就不会一会儿叫阅读室、一会儿叫阅览室。</a:t>
            </a:r>
          </a:p>
          <a:p>
            <a:r>
              <a:rPr lang="zh-CN" dirty="0"/>
              <a:t>下面我们就把本章这份合同拆开来看。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这是本章方案的实际结构，我们一层一层看。</a:t>
            </a:r>
          </a:p>
          <a:p>
            <a:r>
              <a:rPr lang="zh-CN" dirty="0"/>
              <a:t>最外面是根对象，固定三个字段：date、timezone 和 activities，分别说明日期、时区和活动列表。三个之外不能再临时添加字段。</a:t>
            </a:r>
          </a:p>
          <a:p>
            <a:r>
              <a:rPr lang="zh-CN" dirty="0"/>
              <a:t>再往里，activities 列表里的每一项活动包含五个字段：活动编号、房间编号、开始时间、结束时间、参加人数。前面那条手作记录，就是列表里的一项。</a:t>
            </a:r>
          </a:p>
          <a:p>
            <a:r>
              <a:rPr lang="zh-CN" dirty="0"/>
              <a:t>第三个设计最容易被忽略：房间不用中文名，用稳定的英文 ID——reading、craft、discussion。展示名称另从房间表读取。如果直接把名字写进结果，模型可能写成阅读室，也可能写成阅览室，程序会把它们当成两个不同的地方，排期立刻乱掉。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合同里真正起作用的是三个关键字。</a:t>
            </a:r>
          </a:p>
          <a:p>
            <a:r>
              <a:rPr lang="zh-CN" dirty="0"/>
              <a:t>required 说明哪些字段必须出现。严格模式下更紧：你定义的字段都要列进必填，别指望「不填就默认」。</a:t>
            </a:r>
          </a:p>
          <a:p>
            <a:r>
              <a:rPr lang="zh-CN" dirty="0"/>
              <a:t>enum 限定离散值。房间 ID 只能取允许的三个值，模型不能自己造一个新房间出来。</a:t>
            </a:r>
          </a:p>
          <a:p>
            <a:r>
              <a:rPr lang="zh-CN" dirty="0"/>
              <a:t>additionalProperties 设成 false，是用来阻止模型临时发明字段的。模型有时候会热情过头，多加一个 note 字段，下游程序一看没有这个字段，直接崩掉。</a:t>
            </a:r>
          </a:p>
          <a:p>
            <a:r>
              <a:rPr lang="zh-CN" dirty="0"/>
              <a:t>还要提醒一句：不同接口对 JSON Schema 的支持只是子集，可空值一般用包含 null 的联合类型表达。写合同时按接口实际支持的来，不要把通用规范的全部特性都假定能用。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关于空值，我想强调一个常被忽略的点：null 本身也要有业务含义。</a:t>
            </a:r>
          </a:p>
          <a:p>
            <a:r>
              <a:rPr lang="zh-CN" dirty="0"/>
              <a:t>举个书里的例子。「待确认负责人」这个字段允许为空，因为业务上确实可能还没定人，空着表示「待确认」，这是一个有信息量的状态。</a:t>
            </a:r>
          </a:p>
          <a:p>
            <a:r>
              <a:rPr lang="zh-CN" dirty="0"/>
              <a:t>但本章的合同里根本没有这个字段——不需要，就不加。缺开始时间更不能算正式排程：时间空着，这场活动什么时候发生都不知道，它没有意义。</a:t>
            </a:r>
          </a:p>
          <a:p>
            <a:r>
              <a:rPr lang="zh-CN" dirty="0"/>
              <a:t>所以规则是这样：缺资料的时候先阻断生成，把没解决的问题写进说明，让人去补。</a:t>
            </a:r>
          </a:p>
          <a:p>
            <a:r>
              <a:rPr lang="zh-CN" dirty="0"/>
              <a:t>如果确实需要一份不完整的草稿，那就为草稿另外设计一份合同，把「这里可以空」写清楚。不要让「能空」变成「随便空」。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时间字段是合同里最容易偷懒的地方。</a:t>
            </a:r>
          </a:p>
          <a:p>
            <a:r>
              <a:rPr lang="zh-CN" dirty="0"/>
              <a:t>首先，时间必须带完整日期和时区偏移。写成 2026-10-17T10:00:00+08:00，这一串里包含日期、时刻，以及它属于东八区。程序拿到它，换算到任何时区都不会错。</a:t>
            </a:r>
          </a:p>
          <a:p>
            <a:r>
              <a:rPr lang="zh-CN" dirty="0"/>
              <a:t>其次要提醒的是：字符串类型检查不能替代业务解析。Schema 说这个字段是 string，它只说明这是一段文字，不说明这段文字是个合法时间。</a:t>
            </a:r>
          </a:p>
          <a:p>
            <a:r>
              <a:rPr lang="zh-CN" dirty="0"/>
              <a:t>所以还要再做四项检查：活动的日期对不对，时区对不对，开始时间是不是早于结束时间，持续时长是不是准确。</a:t>
            </a:r>
          </a:p>
          <a:p>
            <a:r>
              <a:rPr lang="zh-CN" dirty="0"/>
              <a:t>这四条都不能靠「类型对了」推出来。类型检查只是入口，业务解析才是真正的核对。少了后者，一个格式漂亮但时间颠倒的记录，照样能一路通过。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第三个问题是把合同放进请求。</a:t>
            </a:r>
          </a:p>
          <a:p>
            <a:r>
              <a:rPr lang="zh-CN" dirty="0"/>
              <a:t>OpenAI 的 Responses 接口里，控制输出格式的参数放在 text 下面的 format 里。type 指定 json_schema，name 给这份合同起个名字，strict 决定要不要严格按合同生成，schema 就是合同本身。</a:t>
            </a:r>
          </a:p>
          <a:p>
            <a:r>
              <a:rPr lang="zh-CN" dirty="0"/>
              <a:t>这四个参数各有分工：type 回答用哪种格式，name 是这次请求里这份合同的标识，strict 决定约束有多硬，schema 是具体规则。</a:t>
            </a:r>
          </a:p>
          <a:p>
            <a:r>
              <a:rPr lang="zh-CN" dirty="0"/>
              <a:t>把这四件事分开讲，是因为很多同学在这里出问题——不是合同写错了，而是参数放错了位置。位置对了，模型才会真的按合同生成候选。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合同放进请求是这样写的。</a:t>
            </a:r>
          </a:p>
          <a:p>
            <a:r>
              <a:rPr lang="zh-CN" dirty="0"/>
              <a:t>用的是 responses.create，model 由环境变量 OPENAI_MODEL 指定。instructions 约束行为：只依据材料安排活动，严格保留人数、时长和房间限制；input 放材料。</a:t>
            </a:r>
          </a:p>
          <a:p>
            <a:r>
              <a:rPr lang="zh-CN" dirty="0"/>
              <a:t>关键是 text 这一段：type 是 json_schema，name 起名 open_day_schedule，strict 为 True，schema 就是从文件读入的合同。</a:t>
            </a:r>
          </a:p>
          <a:p>
            <a:r>
              <a:rPr lang="zh-CN" dirty="0"/>
              <a:t>这是 structured_schedule.py 请求结构的简化摘示，materials 与 schema 由脚本从文件读取。所选模型必须实际支持该功能。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请求发回来以后，处理顺序很重要，分三步。</a:t>
            </a:r>
          </a:p>
          <a:p>
            <a:r>
              <a:rPr lang="zh-CN" dirty="0"/>
              <a:t>第一步看响应状态。response.status 不等于 completed 就直接抛错，因为拿到的可能是被截断的结果。</a:t>
            </a:r>
          </a:p>
          <a:p>
            <a:r>
              <a:rPr lang="zh-CN" dirty="0"/>
              <a:t>第二步看有没有拒绝。拒绝的内容会出现在 output 的 refusal 部分，要显式判断并抛错——拒绝的文字不能当作排程结果。</a:t>
            </a:r>
          </a:p>
          <a:p>
            <a:r>
              <a:rPr lang="zh-CN" dirty="0"/>
              <a:t>第三步才是解析 JSON，用 json.loads 把 output_text 变成结构化数据。</a:t>
            </a:r>
          </a:p>
          <a:p>
            <a:r>
              <a:rPr lang="zh-CN" dirty="0"/>
              <a:t>还有一条纪律：中断时不要自己补括号、补引号硬凑成合法 JSON，那不是模型的输出。</a:t>
            </a:r>
          </a:p>
          <a:p>
            <a:r>
              <a:rPr lang="zh-CN" dirty="0"/>
              <a:t>完整实现还应该保留 incomplete_details 和请求信息，用来区分预算不足、内容受限还是别的异常。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有三个容易出错的地方，我逐个说。</a:t>
            </a:r>
          </a:p>
          <a:p>
            <a:r>
              <a:rPr lang="zh-CN" dirty="0"/>
              <a:t>第一，接口位置不能搬。Responses 接口用的是 text.format，另一个接口用的是 response_format。名字像，位置和结构都不一样，直接把后者整段搬到这个请求位置，一定会失败。</a:t>
            </a:r>
          </a:p>
          <a:p>
            <a:r>
              <a:rPr lang="zh-CN" dirty="0"/>
              <a:t>第二，完整实现要保留 incomplete_details 和请求信息。为什么要留？因为失败的原因不只一种：可能是输出预算不够被截断，可能是内容被限制，也可能是别的问题。留下这些字段，才能区分。</a:t>
            </a:r>
          </a:p>
          <a:p>
            <a:r>
              <a:rPr lang="zh-CN" dirty="0"/>
              <a:t>第三，日志纪律。调试信息留得越全越好，但 API 密钥绝对不能写进日志。</a:t>
            </a:r>
          </a:p>
          <a:p>
            <a:r>
              <a:rPr lang="zh-CN" dirty="0"/>
              <a:t>最后补一句：参数写了不等于生效，所选模型必须真的支持结构化输出。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现在进入这一节最实的一块：业务规则由谁来裁定。</a:t>
            </a:r>
          </a:p>
          <a:p>
            <a:r>
              <a:rPr lang="zh-CN" dirty="0"/>
              <a:t>答案是不能让模型自己说了算。模型可以生成候选，但「这段候选和别人已有的预约撞不撞」是一个确定的数学问题，应该交给一段确定性的程序来算。</a:t>
            </a:r>
          </a:p>
          <a:p>
            <a:r>
              <a:rPr lang="zh-CN" dirty="0"/>
              <a:t>要算清楚，先要有共同的约定。我们把每一段活动都看成一个左闭右开的区间：包含起点，不包含终点。候选记作 [a, b)，已有预约记作 [c, d)。</a:t>
            </a:r>
          </a:p>
          <a:p>
            <a:r>
              <a:rPr lang="zh-CN" dirty="0"/>
              <a:t>为什么强调「不包含终点」？因为这样十点半这一刻，只属于从十点半开始的那一段。上一段在十点半结束，不会把它占住。</a:t>
            </a:r>
          </a:p>
          <a:p>
            <a:r>
              <a:rPr lang="zh-CN" dirty="0"/>
              <a:t>有了这个约定，两段区间相不相交，就有唯一答案，不会因为谁来读而有不同结论。接下来我们用它算三段候选。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这一段是本节最关键的一个判断。</a:t>
            </a:r>
          </a:p>
          <a:p>
            <a:r>
              <a:rPr lang="zh-CN" dirty="0"/>
              <a:t>背景是十月十七号、上海时区，手工室已经有人约了十点到十点半。</a:t>
            </a:r>
          </a:p>
          <a:p>
            <a:r>
              <a:rPr lang="zh-CN" dirty="0"/>
              <a:t>现在有三段六十分钟的候选。候选 A 从九点到十点，候选 B 从十点到十一点，候选 C 从十点半到十一点半。</a:t>
            </a:r>
          </a:p>
          <a:p>
            <a:r>
              <a:rPr lang="zh-CN" dirty="0"/>
              <a:t>我们把区间写成左闭右开：候选是 [a, b)，预约是 [c, d)，包含起点、不包含终点。这个约定决定了十点半这一刻属于哪一边。</a:t>
            </a:r>
          </a:p>
          <a:p>
            <a:r>
              <a:rPr lang="zh-CN" dirty="0"/>
              <a:t>候选 A 的终点正是十点，预约的起点也是十点，端点相接，不算重叠。候选 C 的起点是十点半，预约的终点也是十点半，同样相接。候选 B 从十点开始，正好压在预约上，冲突。</a:t>
            </a:r>
          </a:p>
          <a:p>
            <a:r>
              <a:rPr lang="zh-CN" dirty="0"/>
              <a:t>最后记住：不重叠只说明时间上不冲突，时长和人数还得继续满足。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我们把这两个记号读清楚，业务判断就不会再靠感觉。</a:t>
            </a:r>
          </a:p>
          <a:p>
            <a:r>
              <a:rPr lang="zh-CN" dirty="0"/>
              <a:t>[a, b) 表示包含 a、不包含 b。所以候选 A 从九点到十点，它的最后一个时刻是十点前的一瞬，十点整不属于它；预约从十点开始，十点整属于预约。两段正好接上，中间没有空档，也没有重叠。</a:t>
            </a:r>
          </a:p>
          <a:p>
            <a:r>
              <a:rPr lang="zh-CN" dirty="0"/>
              <a:t>候选 C 的情况一样：预约在十点半结束，十点半属于候选 C。相接，不冲突。</a:t>
            </a:r>
          </a:p>
          <a:p>
            <a:r>
              <a:rPr lang="zh-CN" dirty="0"/>
              <a:t>如果改成十点十五分开始，它就落进预约区间内部了。用公式判断：a 小于 d，并且 c 小于 b，两个条件同时成立就是冲突。</a:t>
            </a:r>
          </a:p>
          <a:p>
            <a:r>
              <a:rPr lang="zh-CN" dirty="0"/>
              <a:t>最后提醒一句：这里只算出了「时间上不冲突」。时长对不对、人数够不够，还要另外查。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业务规则交给谁算？交给一段清清楚楚的程序。</a:t>
            </a:r>
          </a:p>
          <a:p>
            <a:r>
              <a:rPr lang="zh-CN" dirty="0"/>
              <a:t>本章的确定性检查器读取原始的房间、需求和预约材料，再检查方案。它有一个重要特性：不会因为模型在结果里写了「已经全面核对」，就跳过检查。检查器只看数据。</a:t>
            </a:r>
          </a:p>
          <a:p>
            <a:r>
              <a:rPr lang="zh-CN" dirty="0"/>
              <a:t>先运行人工编写的有效夹具，把程序本身的行为验一遍。这份夹具里，阅读分享九点到十点，手作体验十点半到十一点半，交流活动九点到九点四十五分。三项活动在不同房间同时开展是允许的，本章没有设置跨房间的共同主持人约束。</a:t>
            </a:r>
          </a:p>
          <a:p>
            <a:r>
              <a:rPr lang="zh-CN" dirty="0"/>
              <a:t>再强调一遍：夹具是用来检查程序行为的，不是某次模型生成成功的证据。</a:t>
            </a:r>
          </a:p>
          <a:p>
            <a:r>
              <a:rPr lang="zh-CN" dirty="0"/>
              <a:t>检查器还要确认：活动恰好出现一次、人数与正式需求一致、使用允许的房间、持续时间正确、处于开放窗口内。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这是一段可以照抄的指令，我在教学空间里用它交给 WorkBuddy。</a:t>
            </a:r>
          </a:p>
          <a:p>
            <a:r>
              <a:rPr lang="zh-CN" dirty="0"/>
              <a:t>五句话各管什么？第一句说清产物：生成 output/schedule.json，严格采用那份 Schema 的字段。第二句列出不能改的：原始人数和持续时间。第三句要求跑现成的校验脚本并保存报告。第四句规定失败时怎么办——先列错误，再修正方案，绝不修改校验规则来让结果通过。最后一句要求交代：跑了什么命令、产出了什么文件、还有什么没解决。</a:t>
            </a:r>
          </a:p>
          <a:p>
            <a:r>
              <a:rPr lang="zh-CN" dirty="0"/>
              <a:t>第二句和第四句最关键。不限制原始人数，模型可能为了让方案通过而悄悄改数字；不禁止改规则，校验就失去了意义。</a:t>
            </a:r>
          </a:p>
          <a:p>
            <a:r>
              <a:rPr lang="zh-CN" dirty="0"/>
              <a:t>跑完以后，在「工作空间文件」里打开方案和报告，用「变更」核对它改了哪些文件。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最后说清产品边界，再做诊断。</a:t>
            </a:r>
          </a:p>
          <a:p>
            <a:r>
              <a:rPr lang="zh-CN" dirty="0"/>
              <a:t>WorkBuddy 在这一步做的是文件生成和脚本验证：按合同生成了文件、跑通了校验脚本；但不能因此声称它开启了 strict 参数。两者的模型配置、传输协议和内部生成方式可能不同。</a:t>
            </a:r>
          </a:p>
          <a:p>
            <a:r>
              <a:rPr lang="zh-CN" dirty="0"/>
              <a:t>两条路线真正共用的，是那份交付合同和那套确定性校验规则。</a:t>
            </a:r>
          </a:p>
          <a:p>
            <a:r>
              <a:rPr lang="zh-CN" dirty="0"/>
              <a:t>诊断方法：复制一份有效夹具，每次只改一个因素。手工活动改成十点到十一点，应报预约冲突；删掉一项活动，应报活动缺失；重复一个合法活动，应报活动重复。</a:t>
            </a:r>
          </a:p>
          <a:p>
            <a:r>
              <a:rPr lang="zh-CN" dirty="0"/>
              <a:t>最后：把时间改成不带时区的写法，程序应直接指出时间合同不满足，而不是按运行电脑的时区默默补值。</a:t>
            </a:r>
          </a:p>
          <a:p>
            <a:r>
              <a:rPr lang="zh-CN" dirty="0"/>
              <a:t>这些练习说明，结构化输出让错误更容易被定位，而不是让错误变得不可能。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这一节我们做的事情，可以用三个反问收住。</a:t>
            </a:r>
          </a:p>
          <a:p>
            <a:r>
              <a:rPr lang="zh-CN" dirty="0"/>
              <a:t>第一，拿到结果之前先问：响应本身可用吗？状态是不是完成，有没有拒绝，有没有被中断。这一步没过，后面都不用谈。</a:t>
            </a:r>
          </a:p>
          <a:p>
            <a:r>
              <a:rPr lang="zh-CN" dirty="0"/>
              <a:t>第二，写完合同之后问：这份合同写得够明确吗？必填项列全了吗，枚举封住了吗，额外字段禁止了吗，时间带时区了吗。写得越明确，程序替你挡住的错误就越多。</a:t>
            </a:r>
          </a:p>
          <a:p>
            <a:r>
              <a:rPr lang="zh-CN" dirty="0"/>
              <a:t>第三，判定对错的时候问：谁来独立裁定业务规则？预约冲不冲突，不该由生成结果的模型自己下结论，要交给一段确定的程序。</a:t>
            </a:r>
          </a:p>
          <a:p>
            <a:r>
              <a:rPr lang="zh-CN" dirty="0"/>
              <a:t>结构化输出不会让错误变得不可能，它让错误更容易被定位。这就是它的价值。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在这一章要交付的，是一份可以被检查的开放日筹备方案。上一节把材料、历史、指令整理清楚了，可只要结果还是自然语言，程序就没法接着往下处理。&#10;&#10;「上午先阅读，稍后手作」这句话人看得懂，程序看不懂。它不知道上午是几点，也不知道稍后隔多久。结构化输出要做的，就是把这些含义放进约定好的字段：活动编号、房间编号、开始时间、结束时间、参加人数。&#10;&#10;字段一旦约定，程序就能排序、能比对、能算冲突。还要特别注意末尾那个时区偏移，它不是装饰——缺了它，同一份记录换一台电脑运行，含义就会变。`} style={{ width: 1280, height: 720, background: '#FFFFFF', flexDirection: 'column', padding: '20px 64px' }}&gt;&#10;&#10;    &lt;Box style={{ height: 300, flexDirection: 'column', justifyContent: 'center', gap: 16 }}&gt;&#10;        &lt;Box style={{ flexDirection: 'row', alignItems: 'center', gap: 12 }}&gt;&#10;            &lt;Box style={{ width: 4, height: 20, background: '#276FBF' }} /&gt;&#10;            &lt;Text style={{ fontSize: 15, color: '#546779' }}&gt;第二章　从对话到智能体　·　2.4&lt;/Text&gt;&#10;        &lt;/Box&gt;&#10;        &lt;Text style={{ fontSize: 52, fontWeight: 'bold', color: '#20344B', lineHeight: 1.2 }}&gt;结构化输出：让结果可以被程序接收&lt;/Text&gt;&#10;        &lt;Text style={{ fontSize: 18, color: '#546779', lineHeight: 1.65, width: 960 }}&gt;把活动、房间、起止时间和人数放进约定字段，程序不必再猜「上午先阅读，稍后手作」的含义。先把约定写成合同，再分别检查语法、结构、业务与事实来源。&lt;/Text&gt;&#10;    &lt;/Box&gt;&#10;&#10;    &lt;Box style={{ height: 340, flexDirection: 'row', alignItems: 'center', gap: 24 }}&gt;&#10;&#10;        &lt;Box style={{ width: 620, height: 336, background: '#F4F7FA', borderRadius: 12, padding: '18px 20px', flexDirection: 'column', gap: 8 }}&gt;&#10;            &lt;Box style={{ flexDirection: 'row', alignItems: 'center', gap: 10, height: 26 }}&gt;&#10;                &lt;Box style={{ width: 3, height: 18, background: '#276FBF' }} /&gt;&#10;                &lt;Text style={{ fontSize: 18, fontWeight: 'bold', color: '#20344B' }}&gt;合同里的字段&lt;/Text&gt;&#10;            &lt;/Box&gt;&#10;            &lt;Box style={{ flexDirection: 'row', padding: '0 14px', gap: 12, height: 20 }}&gt;&#10;                &lt;Box style={{ width: 150 }}&gt;&lt;Text style={{ fontSize: 14, color: '#546779' }}&gt;字段&lt;/Text&gt;&lt;/Box&gt;&#10;                &lt;Box style={{ flex: 1 }}&gt;&lt;Text style={{ fontSize: 14, color: '#546779' }}&gt;值&lt;/Text&gt;&lt;/Box&gt;&#10;            &lt;/Box&gt;&#10;            &lt;Box style={{ flexDirection: 'row', height: 38, background: '#FFFFFF', borderRadius: 6, padding: '0 14px', alignItems: 'center', gap: 12 }}&gt;&#10;                &lt;Box style={{ width: 150 }}&gt;&lt;Text style={{ fontSize: 15, fontFamily: 'Consolas, monospace', color: '#546779' }}&gt;activity_id&lt;/Text&gt;&lt;/Box&gt;&#10;                &lt;Box style={{ flex: 1 }}&gt;&lt;Text style={{ fontSize: 15, fontFamily: 'Consolas, monospace', color: '#20344B' }}&gt;&quot;craft_workshop&quot;&lt;/Text&gt;&lt;/Box&gt;&#10;            &lt;/Box&gt;&#10;            &lt;Box style={{ flexDirection: 'row', height: 38, background: '#FFFFFF', borderRadius: 6, padding: '0 14px', alignItems: 'center', gap: 12 }}&gt;&#10;                &lt;Box style={{ width: 150 }}&gt;&lt;Text style={{ fontSize: 15, fontFamily: 'Consolas, monospace', color: '#546779' }}&gt;room_id&lt;/Text&gt;&lt;/Box&gt;&#10;                &lt;Box style={{ flex: 1 }}&gt;&lt;Text style={{ fontSize: 15, fontFamily: 'Consolas, monospace', color: '#20344B' }}&gt;&quot;craft&quot;&lt;/Text&gt;&lt;/Box&gt;&#10;            &lt;/Box&gt;&#10;            &lt;Box style={{ flexDirection: 'row', height: 38, background: '#FFFFFF', borderRadius: 6, padding: '0 14px', alignItems: 'center', gap: 12 }}&gt;&#10;                &lt;Box style={{ width: 150 }}&gt;&lt;Text style={{ fontSize: 15, fontFamily: 'Consolas, monospace', color: '#546779' }}&gt;start&lt;/Text&gt;&lt;/Box&gt;&#10;                &lt;Box style={{ flex: 1 }}&gt;&lt;Text style={{ fontSize: 15, fontFamily: 'Consolas, monospace', color: '#20344B' }}&gt;&quot;2026-10-17T10:00:00+08:00&quot;&lt;/Text&gt;&lt;/Box&gt;&#10;            &lt;/Box&gt;&#10;            &lt;Box style={{ flexDirection: 'row', height: 38, background: '#FFFFFF', borderRadius: 6, padding: '0 14px', alignItems: 'center', gap: 12 }}&gt;&#10;                &lt;Box style={{ width: 150 }}&gt;&lt;Text style={{ fontSize: 15, fontFamily: 'Consolas, monospace', color: '#546779' }}&gt;end&lt;/Text&gt;&lt;/Box&gt;&#10;                &lt;Box style={{ flex: 1 }}&gt;&lt;Text style={{ fontSize: 15, fontFamily: 'Consolas, monospace', color: '#20344B' }}&gt;&quot;2026-10-17T11:00:00+08:00&quot;&lt;/Text&gt;&lt;/Box&gt;&#10;            &lt;/Box&gt;&#10;            &lt;Box style={{ flexDirection: 'row', height: 38, background: '#FFFFFF', borderRadius: 6, padding: '0 14px', alignItems: 'center', gap: 12 }}&gt;&#10;                &lt;Box style={{ width: 150 }}&gt;&lt;Text style={{ fontSize: 15, fontFamily: 'Consolas, monospace', color: '#546779' }}&gt;participants&lt;/Text&gt;&lt;/Box&gt;&#10;                &lt;Box style={{ flex: 1 }}&gt;&lt;Text style={{ fontSize: 15, fontFamily: 'Consolas, monospace', color: '#26816B' }}&gt;10&lt;/Text&gt;&lt;/Box&gt;&#10;            &lt;/Box&gt;&#10;        &lt;/Box&gt;&#10;&#10;        &lt;Box style={{ width: 44, height: 44, background: '#EDF4FC', borderRadius: 22, justifyContent: 'center', alignItems: 'center' }}&gt;&#10;            &lt;Text style={{ fontSize: 30, color: '#276FBF' }}&gt;›&lt;/Text&gt;&#10;        &lt;/Box&gt;&#10;&#10;        &lt;Box style={{ width: 400, height: 320, background: '#EDF4FC', borderRadius: 12, padding: 22, flexDirection: 'column', gap: 14 }}&gt;&#10;            &lt;Text style={{ fontSize: 20, fontWeight: 'bold', color: '#276FBF' }}&gt;程序可以直接接收&lt;/Text&gt;&#10;            &lt;Text style={{ fontSize: 16, color: '#20344B', lineHeight: 1.75 }}&gt;活动的含义由字段承载：哪一场活动、在哪间房、什么时候开始、什么时候结束、几个人参加。&lt;/Text&gt;&#10;            &lt;Box style={{ height: 1, background: '#B5C7D8' }} /&gt;&#10;            &lt;Text style={{ fontSize: 15, color: '#546779', lineHeight: 1.7 }}&gt;程序能排序、比对、算冲突；含义不再藏在句子里。&lt;/Text&gt;&#10;            &lt;Box style={{ flex: 1 }} /&gt;&#10;            &lt;Text style={{ fontSize: 14, color: '#546779', lineHeight: 1.6 }}&gt;字段符合合同，只说明形式对了；业务上是否成立，还要另算。&lt;/Text&gt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01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676275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685800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第二章　从对话到智能体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2.4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019175"/>
            <a:ext cx="109728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结构化输出：让结果可以被程序接收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1885950"/>
            <a:ext cx="91440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把活动、房间、起止时间和人数放进约定字段，程序不必再猜「上午先阅读，稍后手作」的含义。先把约定写成合同，再分别检查语法、结构、业务与事实来源。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3067050"/>
            <a:ext cx="5905500" cy="3200400"/>
          </a:xfrm>
          <a:prstGeom prst="roundRect">
            <a:avLst>
              <a:gd name="adj" fmla="val 357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" name=""/>
          <p:cNvSpPr/>
          <p:nvPr/>
        </p:nvSpPr>
        <p:spPr>
          <a:xfrm rot="0" flipH="0" flipV="0">
            <a:off x="800100" y="3276600"/>
            <a:ext cx="28575" cy="171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23925" y="32575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合同里的字段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33450" y="3562350"/>
            <a:ext cx="142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字段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476500" y="3562350"/>
            <a:ext cx="3714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值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800100" y="3829050"/>
            <a:ext cx="55245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933450" y="392430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Consolas"/>
                <a:ea typeface="Consolas"/>
              </a:rPr>
              <a:t>activity_id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476500" y="3924300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"craft_workshop"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800100" y="4267200"/>
            <a:ext cx="55245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933450" y="43624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Consolas"/>
                <a:ea typeface="Consolas"/>
              </a:rPr>
              <a:t>room_id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2476500" y="4362450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"craft"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800100" y="4705350"/>
            <a:ext cx="55245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33450" y="480060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Consolas"/>
                <a:ea typeface="Consolas"/>
              </a:rPr>
              <a:t>start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476500" y="4800600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"2026-10-17T10:00:00+08:00"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800100" y="5143500"/>
            <a:ext cx="55245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933450" y="52387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Consolas"/>
                <a:ea typeface="Consolas"/>
              </a:rPr>
              <a:t>end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2476500" y="5238750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"2026-10-17T11:00:00+08:00"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800100" y="5581650"/>
            <a:ext cx="5524500" cy="3619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33450" y="567690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Consolas"/>
                <a:ea typeface="Consolas"/>
              </a:rPr>
              <a:t>participants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2476500" y="5676900"/>
            <a:ext cx="3714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Consolas"/>
                <a:ea typeface="Consolas"/>
              </a:rPr>
              <a:t>10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743700" y="44577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905625" y="449580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7391400" y="3143250"/>
            <a:ext cx="3810000" cy="3048000"/>
          </a:xfrm>
          <a:prstGeom prst="roundRect">
            <a:avLst>
              <a:gd name="adj" fmla="val 375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600950" y="3352800"/>
            <a:ext cx="3390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程序可以直接接收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600950" y="3714750"/>
            <a:ext cx="33909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活动的含义由字段承载：哪一场活动、在哪间房、什么时候开始、什么时候结束、几个人参加。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7600950" y="4495800"/>
            <a:ext cx="33909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600950" y="4638675"/>
            <a:ext cx="33909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程序能排序、比对、算冲突；含义不再藏在句子里。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600950" y="5467350"/>
            <a:ext cx="3390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字段符合合同，只说明形式对了；业务上是否成立，还要另算。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23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17" name="" descr="&lt;Slide notes={`这一节我按四个问题往下讲，它们是有顺序的。&#10;&#10;第一，检查分几层。很多人一听到「格式对不对」就当成一件事，其实是四件事：响应本身可用吗、JSON 语法过关吗、字段和类型符合合同吗、业务和来源站得住吗。分开看，才知道该查什么。&#10;&#10;第二，合同怎么写。必填字段、允许的枚举值、禁止额外字段，这些写清楚了，程序才能替我们挡住一部分错误。&#10;&#10;第三，怎么把合同放进请求里。Responses 接口用的是 text.format，请求发出去以后，先看状态和拒绝，再解析。&#10;&#10;第四，谁来裁定对错。时间冲突这类规则不能让模型自己说了算，得交给独立程序算。四个问题合起来，就是这一节要交付的能力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4　结构化输出：让结果可以被程序接收&lt;/Text&gt;&#10;            &lt;Text style={{ fontSize: 34, fontWeight: 'bold', color: '#20344B' }}&gt;本节要看清的四件事&lt;/Text&gt;&#10;        &lt;/Box&gt;&#10;    &lt;/Box&gt;&#10;&#10;    &lt;Box style={{ height: 540, flexDirection: 'row', gap: 32 }}&gt;&#10;&#10;        &lt;Box style={{ width: 360, flexDirection: 'column', justifyContent: 'center', gap: 16 }}&gt;&#10;            &lt;Text style={{ fontSize: 20, fontWeight: 'bold', color: '#20344B' }}&gt;一句话主线&lt;/Text&gt;&#10;            &lt;Text style={{ fontSize: 17, color: '#276FBF', lineHeight: 1.75 }}&gt;把结果写成程序能读的合同，再让独立程序裁定它对不对。&lt;/Text&gt;&#10;            &lt;Box style={{ height: 1, background: '#B5C7D8' }} /&gt;&#10;            &lt;Text style={{ fontSize: 15, color: '#546779', lineHeight: 1.8 }}&gt;沿用青禾开放日：10 人、手作室 10:00—10:30 已有预约、六十分钟候选三段。&lt;/Text&gt;&#10;            &lt;Text style={{ fontSize: 15, color: '#546779', lineHeight: 1.8 }}&gt;四个问题由外向内：先看结果可不可用，再看约定严不严，最后看谁来裁定。&lt;/Text&gt;&#10;        &lt;/Box&gt;&#10;&#10;        &lt;Box style={{ width: 760, flexDirection: 'column', gap: 14 }}&gt;&#10;&#10;            &lt;Box style={{ height: 124, background: '#F4F7FA', borderRadius: 10, padding: '0 18px', flexDirection: 'row', alignItems: 'center', gap: 16 }}&gt;&#10;                &lt;Box style={{ width: 44, height: 44, background: '#276FBF', borderRadius: 10, justifyContent: 'center', alignItems: 'center' }}&gt;&#10;                    &lt;Text style={{ fontSize: 20, fontWeight: 'bold', color: '#FFFFFF' }}&gt;①&lt;/Text&gt;&#10;                &lt;/Box&gt;&#10;                &lt;Box style={{ width: 230, flexDirection: 'column', gap: 4 }}&gt;&#10;                    &lt;Text style={{ fontSize: 20, fontWeight: 'bold', color: '#20344B' }}&gt;检查分四层&lt;/Text&gt;&#10;                    &lt;Text style={{ fontSize: 14, color: '#546779' }}&gt;2.4.1&lt;/Text&gt;&#10;                &lt;/Box&gt;&#10;                &lt;Box style={{ flex: 1 }}&gt;&#10;                    &lt;Text style={{ fontSize: 16, color: '#546779', lineHeight: 1.65 }}&gt;响应、格式、业务、来源各回答一个问题，不能合并成一句「格式对不对」。&lt;/Text&gt;&#10;                &lt;/Box&gt;&#10;            &lt;/Box&gt;&#10;&#10;            &lt;Box style={{ height: 124, background: '#F4F7FA', borderRadius: 10, padding: '0 18px', flexDirection: 'row', alignItems: 'center', gap: 16 }}&gt;&#10;                &lt;Box style={{ width: 44, height: 44, background: '#276FBF', borderRadius: 10, justifyContent: 'center', alignItems: 'center' }}&gt;&#10;                    &lt;Text style={{ fontSize: 20, fontWeight: 'bold', color: '#FFFFFF' }}&gt;②&lt;/Text&gt;&#10;                &lt;/Box&gt;&#10;                &lt;Box style={{ width: 230, flexDirection: 'column', gap: 4 }}&gt;&#10;                    &lt;Text style={{ fontSize: 20, fontWeight: 'bold', color: '#20344B' }}&gt;设计一份合同&lt;/Text&gt;&#10;                    &lt;Text style={{ fontSize: 14, color: '#546779' }}&gt;2.4.2&lt;/Text&gt;&#10;                &lt;/Box&gt;&#10;                &lt;Box style={{ flex: 1 }}&gt;&#10;                    &lt;Text style={{ fontSize: 16, color: '#546779', lineHeight: 1.65 }}&gt;必填、枚举、禁止额外字段；可空值与时间都必须带业务含义。&lt;/Text&gt;&#10;                &lt;/Box&gt;&#10;            &lt;/Box&gt;&#10;&#10;            &lt;Box style={{ height: 124, background: '#F4F7FA', borderRadius: 10, padding: '0 18px', flexDirection: 'row', alignItems: 'center', gap: 16 }}&gt;&#10;                &lt;Box style={{ width: 44, height: 44, background: '#276FBF', borderRadius: 10, justifyContent: 'center', alignItems: 'center' }}&gt;&#10;                    &lt;Text style={{ fontSize: 20, fontWeight: 'bold', color: '#FFFFFF' }}&gt;③&lt;/Text&gt;&#10;                &lt;/Box&gt;&#10;                &lt;Box style={{ width: 230, flexDirection: 'column', gap: 4 }}&gt;&#10;                    &lt;Text style={{ fontSize: 20, fontWeight: 'bold', color: '#20344B' }}&gt;按合同请求并验收&lt;/Text&gt;&#10;                    &lt;Text style={{ fontSize: 14, color: '#546779' }}&gt;2.4.3&lt;/Text&gt;&#10;                &lt;/Box&gt;&#10;                &lt;Box style={{ flex: 1 }}&gt;&#10;                    &lt;Text style={{ fontSize: 16, color: '#546779', lineHeight: 1.65 }}&gt;把合同放进 Responses 的 text.format，先看状态与拒绝，再解析。&lt;/Text&gt;&#10;                &lt;/Box&gt;&#10;            &lt;/Box&gt;&#10;&#10;            &lt;Box style={{ height: 124, background: '#FFF4E6', borderRadius: 10, padding: '0 18px', flexDirection: 'row', alignItems: 'center', gap: 16 }}&gt;&#10;                &lt;Box style={{ width: 44, height: 44, background: '#CB6B28', borderRadius: 10, justifyContent: 'center', alignItems: 'center' }}&gt;&#10;                    &lt;Text style={{ fontSize: 20, fontWeight: 'bold', color: '#FFFFFF' }}&gt;④&lt;/Text&gt;&#10;                &lt;/Box&gt;&#10;                &lt;Box style={{ width: 230, flexDirection: 'column', gap: 4 }}&gt;&#10;                    &lt;Text style={{ fontSize: 20, fontWeight: 'bold', color: '#20344B' }}&gt;独立裁定与失败诊断&lt;/Text&gt;&#10;                    &lt;Text style={{ fontSize: 14, color: '#546779' }}&gt;2.4.4 — 2.4.6&lt;/Text&gt;&#10;                &lt;/Box&gt;&#10;                &lt;Box style={{ flex: 1 }}&gt;&#10;                    &lt;Text style={{ fontSize: 16, color: '#546779', lineHeight: 1.65 }}&gt;半开区间判冲突，确定性校验器裁定，每次只改一个因素定位错误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02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结构化输出：让结果可以被程序接收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09600" y="233362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一句话主线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09600" y="2714625"/>
            <a:ext cx="34290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把结果写成程序能读的合同，再让独立程序裁定它对不对。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609600" y="3552825"/>
            <a:ext cx="34290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09600" y="3714750"/>
            <a:ext cx="3429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沿用青禾开放日：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人、手作室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10:00—10:30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已有预约、六十分钟候选三段。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09600" y="4486275"/>
            <a:ext cx="3429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四个问题由外向内：先看结果可不可用，再看约定严不严，最后看谁来裁定。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4343400" y="1143000"/>
            <a:ext cx="7239000" cy="1181100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4514850" y="15240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629150" y="16192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086350" y="1524000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检查分四层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5086350" y="179070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2.4.1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429500" y="1428750"/>
            <a:ext cx="39814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响应、格式、业务、来源各回答一个问题，不能合并成一句「格式对不对」。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4343400" y="2457450"/>
            <a:ext cx="7239000" cy="1181100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4514850" y="28384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629150" y="29337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5086350" y="2838450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设计一份合同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5086350" y="31051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2.4.2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7429500" y="2743200"/>
            <a:ext cx="39814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必填、枚举、禁止额外字段；可空值与时间都必须带业务含义。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4343400" y="3771900"/>
            <a:ext cx="7239000" cy="1181100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0" name=""/>
          <p:cNvSpPr/>
          <p:nvPr/>
        </p:nvSpPr>
        <p:spPr>
          <a:xfrm rot="0" flipH="0" flipV="0">
            <a:off x="4514850" y="41529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629150" y="42481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5086350" y="4152900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按合同请求并验收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5086350" y="441960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2.4.3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429500" y="4057650"/>
            <a:ext cx="39814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把合同放进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Responses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的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text.format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，先看状态与拒绝，再解析。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4343400" y="5086350"/>
            <a:ext cx="7239000" cy="1181100"/>
          </a:xfrm>
          <a:prstGeom prst="roundRect">
            <a:avLst>
              <a:gd name="adj" fmla="val 806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4514850" y="54673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629150" y="55626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086350" y="5467350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独立裁定与失败诊断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5086350" y="573405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2.4.4 — 2.4.6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7429500" y="5372100"/>
            <a:ext cx="39814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半开区间判冲突，确定性校验器裁定，每次只改一个因素定位错误。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63" name="" descr="&lt;Slide notes={`我们从一个特别常见的误会说起。很多人说「格式不对」，其实把好几件事混成了一件。&#10;&#10;响应本身可能是中断的，也可能模型直接拒绝。这时候连内容都没拿到，谈不上格式。拿到了内容，还要看 JSON 语法能不能解析——引号、逗号、括号合不合法。&#10;&#10;语法过关了，再看 Schema 结构：字段有没有遗漏，类型对不对，房间 ID 是不是在允许的那几个值里面。&#10;&#10;这两步都过了，才轮到业务：人数放不放得下，时长对不对，有没有和别人的预约撞上。最后还有一层是来源：这些数字从哪来，那份预约表是不是本次任务该用的那一份。&#10;&#10;四层分开查，出错的时候才知道该回哪一层。`} style={{ width: 1280, height: 720, background: '#FFFFFF', flexDirection: 'column', padding: '20px 64px' }}&gt;&#10;&#10;    &lt;Box style={{ height: 260, flexDirection: 'column', justifyContent: 'center', gap: 14 }}&gt;&#10;        &lt;Box style={{ flexDirection: 'row', alignItems: 'center', gap: 12 }}&gt;&#10;            &lt;Box style={{ width: 44, height: 44, background: '#276FBF', borderRadius: 10, justifyContent: 'center', alignItems: 'center' }}&gt;&#10;                &lt;Text style={{ fontSize: 22, fontWeight: 'bold', color: '#FFFFFF' }}&gt;①&lt;/Text&gt;&#10;            &lt;/Box&gt;&#10;            &lt;Text style={{ fontSize: 15, color: '#546779' }}&gt;2.4.1　语法、结构、业务、来源是四个不同问题&lt;/Text&gt;&#10;        &lt;/Box&gt;&#10;        &lt;Text style={{ fontSize: 56, fontWeight: 'bold', color: '#20344B', lineHeight: 1.15 }}&gt;语法、结构、业务、来源&lt;/Text&gt;&#10;        &lt;Text style={{ fontSize: 56, fontWeight: 'bold', color: '#276FBF', lineHeight: 1.15 }}&gt;是四个不同问题&lt;/Text&gt;&#10;    &lt;/Box&gt;&#10;&#10;    &lt;Box style={{ height: 380, flexDirection: 'row', gap: 20, alignItems: 'center' }}&gt;&#10;&#10;        &lt;Box style={{ width: 256, height: 240, background: '#EDF4FC', borderRadius: 14, padding: 20, flexDirection: 'column', gap: 12, alignItems: 'center', justifyContent: 'center' }}&gt;&#10;            &lt;Box style={{ width: 56, height: 56, background: '#276FBF', borderRadius: 14, justifyContent: 'center', alignItems: 'center' }}&gt;&#10;                &lt;Text style={{ fontSize: 26, fontWeight: 'bold', color: '#FFFFFF' }}&gt;响&lt;/Text&gt;&#10;            &lt;/Box&gt;&#10;            &lt;Text style={{ fontSize: 22, fontWeight: 'bold', color: '#20344B' }}&gt;响应可用&lt;/Text&gt;&#10;            &lt;Text style={{ fontSize: 14, color: '#546779', lineHeight: 1.6 }}&gt;状态、拒绝与中断&lt;/Text&gt;&#10;        &lt;/Box&gt;&#10;&#10;        &lt;Box style={{ width: 256, height: 240, background: '#EDF4FC', borderRadius: 14, padding: 20, flexDirection: 'column', gap: 12, alignItems: 'center', justifyContent: 'center' }}&gt;&#10;            &lt;Box style={{ width: 56, height: 56, background: '#276FBF', borderRadius: 14, justifyContent: 'center', alignItems: 'center' }}&gt;&#10;                &lt;Text style={{ fontSize: 26, fontWeight: 'bold', color: '#FFFFFF' }}&gt;格&lt;/Text&gt;&#10;            &lt;/Box&gt;&#10;            &lt;Text style={{ fontSize: 22, fontWeight: 'bold', color: '#20344B' }}&gt;格式正确&lt;/Text&gt;&#10;            &lt;Text style={{ fontSize: 14, color: '#546779', lineHeight: 1.6 }}&gt;JSON 语法与 Schema&lt;/Text&gt;&#10;        &lt;/Box&gt;&#10;&#10;        &lt;Box style={{ width: 256, height: 240, background: '#EDF4FC', borderRadius: 14, padding: 20, flexDirection: 'column', gap: 12, alignItems: 'center', justifyContent: 'center' }}&gt;&#10;            &lt;Box style={{ width: 56, height: 56, background: '#276FBF', borderRadius: 14, justifyContent: 'center', alignItems: 'center' }}&gt;&#10;                &lt;Text style={{ fontSize: 26, fontWeight: 'bold', color: '#FFFFFF' }}&gt;业&lt;/Text&gt;&#10;            &lt;/Box&gt;&#10;            &lt;Text style={{ fontSize: 22, fontWeight: 'bold', color: '#20344B' }}&gt;业务可行&lt;/Text&gt;&#10;            &lt;Text style={{ fontSize: 14, color: '#546779', lineHeight: 1.6 }}&gt;人数、时间、预约&lt;/Text&gt;&#10;        &lt;/Box&gt;&#10;&#10;        &lt;Box style={{ width: 256, height: 240, background: '#ECF7F2', borderRadius: 14, padding: 20, flexDirection: 'column', gap: 12, alignItems: 'center', justifyContent: 'center' }}&gt;&#10;            &lt;Box style={{ width: 56, height: 56, background: '#26816B', borderRadius: 14, justifyContent: 'center', alignItems: 'center' }}&gt;&#10;                &lt;Text style={{ fontSize: 26, fontWeight: 'bold', color: '#FFFFFF' }}&gt;源&lt;/Text&gt;&#10;            &lt;/Box&gt;&#10;            &lt;Text style={{ fontSize: 22, fontWeight: 'bold', color: '#20344B' }}&gt;来源有效&lt;/Text&gt;&#10;            &lt;Text style={{ fontSize: 14, color: '#546779', lineHeight: 1.6 }}&gt;日期、文件与范围&lt;/Text&gt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03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5" name=""/>
          <p:cNvSpPr/>
          <p:nvPr/>
        </p:nvSpPr>
        <p:spPr>
          <a:xfrm rot="0" flipH="0" flipV="0">
            <a:off x="609600" y="3429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714375" y="4286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143000" y="466725"/>
            <a:ext cx="3038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2.4.1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语法、结构、业务、来源是四个不同问题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609600" y="895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语法、结构、业务、来源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09600" y="17716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76FBF"/>
                </a:solidFill>
                <a:latin typeface="Microsoft YaHei"/>
                <a:ea typeface="Microsoft YaHei"/>
              </a:rPr>
              <a:t>是四个不同问题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609600" y="3333750"/>
            <a:ext cx="2438400" cy="228600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1" name=""/>
          <p:cNvSpPr/>
          <p:nvPr/>
        </p:nvSpPr>
        <p:spPr>
          <a:xfrm rot="0" flipH="0" flipV="0">
            <a:off x="1562100" y="38385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1704975" y="3952875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响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1409700" y="4486275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响应可用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1295400" y="4857750"/>
            <a:ext cx="10668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状态、拒绝与中断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3238500" y="3333750"/>
            <a:ext cx="2438400" cy="228600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6" name=""/>
          <p:cNvSpPr/>
          <p:nvPr/>
        </p:nvSpPr>
        <p:spPr>
          <a:xfrm rot="0" flipH="0" flipV="0">
            <a:off x="4191000" y="38385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4333875" y="3952875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格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4038600" y="4486275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格式正确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3790950" y="4857750"/>
            <a:ext cx="13335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JSON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语法与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Schema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5867400" y="3333750"/>
            <a:ext cx="2438400" cy="228600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1" name=""/>
          <p:cNvSpPr/>
          <p:nvPr/>
        </p:nvSpPr>
        <p:spPr>
          <a:xfrm rot="0" flipH="0" flipV="0">
            <a:off x="6819900" y="38385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962775" y="3952875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业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6667500" y="4486275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业务可行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6553200" y="4857750"/>
            <a:ext cx="10668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人数、时间、预约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8496300" y="3333750"/>
            <a:ext cx="2438400" cy="2286000"/>
          </a:xfrm>
          <a:prstGeom prst="roundRect">
            <a:avLst>
              <a:gd name="adj" fmla="val 58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6" name=""/>
          <p:cNvSpPr/>
          <p:nvPr/>
        </p:nvSpPr>
        <p:spPr>
          <a:xfrm rot="0" flipH="0" flipV="0">
            <a:off x="9448800" y="38385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9591675" y="3952875"/>
            <a:ext cx="247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源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9296400" y="4486275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来源有效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9182100" y="4857750"/>
            <a:ext cx="10668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日期、文件与范围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23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92" name="" descr="&lt;Slide notes={`这四层是四道关卡，注意它们是串行往下走的。&#10;&#10;第一关是响应可用：先看 status 是不是 completed，有没有拒绝，有没有被中断。这一步不做，后面全是空谈。&#10;&#10;第二关是格式正确。JSON 语法和 Schema 结构合成一道，是因为它们都只回答同一件事：这份数据的形式能不能被程序读进去。&#10;&#10;第三关是业务可行：人数、时间、预约这些记录之间，以及记录与规则之间，相不相容。&#10;&#10;第四关是来源有效：日期、文件与适用范围对不对。&#10;&#10;关键是这一条：任何一关失败，都不要硬往下走。正确的做法是保留失败原因，回去修正输入，或者直接停住。来源的日期与适用范围要在生成前就核实，不能等结果出来再去挑材料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4.1　检查分四层&lt;/Text&gt;&#10;            &lt;Text style={{ fontSize: 34, fontWeight: 'bold', color: '#20344B' }}&gt;四道验收关，缺一不可&lt;/Text&gt;&#10;        &lt;/Box&gt;&#10;    &lt;/Box&gt;&#10;&#10;    &lt;Box style={{ height: 540, flexDirection: 'column', justifyContent: 'center', gap: 14 }}&gt;&#10;&#10;        &lt;Box style={{ height: 52, flexDirection: 'row', alignItems: 'center', gap: 10 }}&gt;&#10;            &lt;Box style={{ width: 3, height: 30, background: '#276FBF' }} /&gt;&#10;            &lt;Text style={{ fontSize: 16, color: '#546779', lineHeight: 1.6 }}&gt;验收返回结果前，先确认响应没有拒绝或中断；业务可行性与资料来源要在一份结果里分别核对。&lt;/Text&gt;&#10;        &lt;/Box&gt;&#10;&#10;        &lt;Box style={{ height: 250, flexDirection: 'row', gap: 12, alignItems: 'center' }}&gt;&#10;&#10;            &lt;Box style={{ width: 236, height: 250, background: '#EDF4FC', borderRadius: 10, padding: 18, flexDirection: 'column', gap: 10 }}&gt;&#10;                &lt;Box style={{ width: 44, height: 44, background: '#276FBF', borderRadius: 10, justifyContent: 'center', alignItems: 'center' }}&gt;&#10;                    &lt;Text style={{ fontSize: 22, fontWeight: 'bold', color: '#FFFFFF' }}&gt;响&lt;/Text&gt;&#10;                &lt;/Box&gt;&#10;                &lt;Text style={{ fontSize: 20, fontWeight: 'bold', color: '#20344B' }}&gt;响应可用&lt;/Text&gt;&#10;                &lt;Text style={{ fontSize: 15, color: '#546779', lineHeight: 1.7 }}&gt;检查状态、拒绝与中断&lt;/Text&gt;&#10;                &lt;Box style={{ flex: 1 }} /&gt;&#10;                &lt;Text style={{ fontSize: 14, color: '#276FBF' }}&gt;status 必须 completed&lt;/Text&gt;&#10;            &lt;/Box&gt;&#10;&#10;            &lt;Box style={{ width: 44, height: 44, justifyContent: 'center', alignItems: 'center' }}&gt;&#10;                &lt;Text style={{ fontSize: 30, color: '#276FBF' }}&gt;›&lt;/Text&gt;&#10;            &lt;/Box&gt;&#10;&#10;            &lt;Box style={{ width: 236, height: 250, background: '#EDF4FC', borderRadius: 10, padding: 18, flexDirection: 'column', gap: 10 }}&gt;&#10;                &lt;Box style={{ width: 44, height: 44, background: '#276FBF', borderRadius: 10, justifyContent: 'center', alignItems: 'center' }}&gt;&#10;                    &lt;Text style={{ fontSize: 22, fontWeight: 'bold', color: '#FFFFFF' }}&gt;格&lt;/Text&gt;&#10;                &lt;/Box&gt;&#10;                &lt;Text style={{ fontSize: 20, fontWeight: 'bold', color: '#20344B' }}&gt;格式正确&lt;/Text&gt;&#10;                &lt;Text style={{ fontSize: 15, color: '#546779', lineHeight: 1.7 }}&gt;JSON 语法与 Schema 结构&lt;/Text&gt;&#10;                &lt;Box style={{ flex: 1 }} /&gt;&#10;                &lt;Text style={{ fontSize: 14, color: '#276FBF' }}&gt;能否解析、字段合规&lt;/Text&gt;&#10;            &lt;/Box&gt;&#10;&#10;            &lt;Box style={{ width: 44, height: 44, justifyContent: 'center', alignItems: 'center' }}&gt;&#10;                &lt;Text style={{ fontSize: 30, color: '#276FBF' }}&gt;›&lt;/Text&gt;&#10;            &lt;/Box&gt;&#10;&#10;            &lt;Box style={{ width: 236, height: 250, background: '#EDF4FC', borderRadius: 10, padding: 18, flexDirection: 'column', gap: 10 }}&gt;&#10;                &lt;Box style={{ width: 44, height: 44, background: '#276FBF', borderRadius: 10, justifyContent: 'center', alignItems: 'center' }}&gt;&#10;                    &lt;Text style={{ fontSize: 22, fontWeight: 'bold', color: '#FFFFFF' }}&gt;业&lt;/Text&gt;&#10;                &lt;/Box&gt;&#10;                &lt;Text style={{ fontSize: 20, fontWeight: 'bold', color: '#20344B' }}&gt;业务可行&lt;/Text&gt;&#10;                &lt;Text style={{ fontSize: 15, color: '#546779', lineHeight: 1.7 }}&gt;记录之间及记录与规则是否相容&lt;/Text&gt;&#10;                &lt;Box style={{ flex: 1 }} /&gt;&#10;                &lt;Text style={{ fontSize: 14, color: '#276FBF' }}&gt;人数、时长、预约冲突&lt;/Text&gt;&#10;            &lt;/Box&gt;&#10;&#10;            &lt;Box style={{ width: 44, height: 44, justifyContent: 'center', alignItems: 'center' }}&gt;&#10;                &lt;Text style={{ fontSize: 30, color: '#276FBF' }}&gt;›&lt;/Text&gt;&#10;            &lt;/Box&gt;&#10;&#10;            &lt;Box style={{ width: 236, height: 250, background: '#ECF7F2', borderRadius: 10, padding: 18, flexDirection: 'column', gap: 10 }}&gt;&#10;                &lt;Box style={{ width: 44, height: 44, background: '#26816B', borderRadius: 10, justifyContent: 'center', alignItems: 'center' }}&gt;&#10;                    &lt;Text style={{ fontSize: 22, fontWeight: 'bold', color: '#FFFFFF' }}&gt;源&lt;/Text&gt;&#10;                &lt;/Box&gt;&#10;                &lt;Text style={{ fontSize: 20, fontWeight: 'bold', color: '#20344B' }}&gt;来源有效&lt;/Text&gt;&#10;                &lt;Text style={{ fontSize: 15, color: '#546779', lineHeight: 1.7 }}&gt;数据有依据且适用于本次任务&lt;/Text&gt;&#10;                &lt;Box style={{ flex: 1 }} /&gt;&#10;                &lt;Text style={{ fontSize: 14, color: '#26816B' }}&gt;日期、文件与适用范围&lt;/Text&gt;&#10;            &lt;/Box&gt;&#10;&#10;        &lt;/Box&gt;&#10;&#10;        &lt;Box style={{ height: 36, flexDirection: 'row', gap: 12, alignItems: 'center' }}&gt;&#10;            &lt;Box style={{ width: 236, height: 36, justifyContent: 'center', alignItems: 'center' }}&gt;&#10;                &lt;Text style={{ fontSize: 20, color: '#CB6B28' }}&gt;↓&lt;/Text&gt;&#10;            &lt;/Box&gt;&#10;            &lt;Box style={{ width: 44 }} /&gt;&#10;            &lt;Box style={{ width: 236, height: 36, justifyContent: 'center', alignItems: 'center' }}&gt;&#10;                &lt;Text style={{ fontSize: 20, color: '#CB6B28' }}&gt;↓&lt;/Text&gt;&#10;            &lt;/Box&gt;&#10;            &lt;Box style={{ width: 44 }} /&gt;&#10;            &lt;Box style={{ width: 236, height: 36, justifyContent: 'center', alignItems: 'center' }}&gt;&#10;                &lt;Text style={{ fontSize: 20, color: '#CB6B28' }}&gt;↓&lt;/Text&gt;&#10;            &lt;/Box&gt;&#10;            &lt;Box style={{ width: 44 }} /&gt;&#10;            &lt;Box style={{ width: 236, height: 36, justifyContent: 'center', alignItems: 'center' }}&gt;&#10;                &lt;Text style={{ fontSize: 20, color: '#CB6B28' }}&gt;↓&lt;/Text&gt;&#10;            &lt;/Box&gt;&#10;        &lt;/Box&gt;&#10;&#10;        &lt;Box style={{ height: 118, background: '#FFF4E6', borderRadius: 10, padding: '18px 22px', flexDirection: 'row', gap: 16, alignItems: 'center' }}&gt;&#10;            &lt;Box style={{ width: 4, height: 76, background: '#CB6B28' }} /&gt;&#10;            &lt;Box style={{ flex: 1, flexDirection: 'column', gap: 8 }}&gt;&#10;                &lt;Text style={{ fontSize: 19, fontWeight: 'bold', color: '#CB6B28' }}&gt;任一必要检查失败：保留原因，修正输入或停止&lt;/Text&gt;&#10;                &lt;Text style={{ fontSize: 16, color: '#546779', lineHeight: 1.65 }}&gt;来源的日期与适用范围也应在生成前核实；把来源放在最后核对，不表示可以等生成结束后才决定使用哪份材料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04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检查分四层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四道验收关，缺一不可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609600" y="1447800"/>
            <a:ext cx="28575" cy="285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733425" y="1447800"/>
            <a:ext cx="6553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验收返回结果前，先确认响应没有拒绝或中断；业务可行性与资料来源要在一份结果里分别核对。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609600" y="1971675"/>
            <a:ext cx="2247900" cy="2381250"/>
          </a:xfrm>
          <a:prstGeom prst="roundRect">
            <a:avLst>
              <a:gd name="adj" fmla="val 423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0" name=""/>
          <p:cNvSpPr/>
          <p:nvPr/>
        </p:nvSpPr>
        <p:spPr>
          <a:xfrm rot="0" flipH="0" flipV="0">
            <a:off x="781050" y="214312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885825" y="22288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响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781050" y="2657475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响应可用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781050" y="2981325"/>
            <a:ext cx="19050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检查状态、拒绝与中断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781050" y="401955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status 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必须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completed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3133725" y="299085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3505200" y="1971675"/>
            <a:ext cx="2247900" cy="2381250"/>
          </a:xfrm>
          <a:prstGeom prst="roundRect">
            <a:avLst>
              <a:gd name="adj" fmla="val 423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7" name=""/>
          <p:cNvSpPr/>
          <p:nvPr/>
        </p:nvSpPr>
        <p:spPr>
          <a:xfrm rot="0" flipH="0" flipV="0">
            <a:off x="3676650" y="214312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3781425" y="22288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格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3676650" y="2657475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格式正确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3676650" y="2981325"/>
            <a:ext cx="19050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JSON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语法与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Schema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结构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3676650" y="401955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能否解析、字段合规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6029325" y="299085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6400800" y="1971675"/>
            <a:ext cx="2247900" cy="2381250"/>
          </a:xfrm>
          <a:prstGeom prst="roundRect">
            <a:avLst>
              <a:gd name="adj" fmla="val 423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4" name=""/>
          <p:cNvSpPr/>
          <p:nvPr/>
        </p:nvSpPr>
        <p:spPr>
          <a:xfrm rot="0" flipH="0" flipV="0">
            <a:off x="6572250" y="214312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677025" y="22288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业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572250" y="2657475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业务可行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6572250" y="2981325"/>
            <a:ext cx="19050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记录之间及记录与规则是否相容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6572250" y="401955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人数、时长、预约冲突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8924925" y="299085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9296400" y="1971675"/>
            <a:ext cx="2247900" cy="2381250"/>
          </a:xfrm>
          <a:prstGeom prst="roundRect">
            <a:avLst>
              <a:gd name="adj" fmla="val 423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21" name=""/>
          <p:cNvSpPr/>
          <p:nvPr/>
        </p:nvSpPr>
        <p:spPr>
          <a:xfrm rot="0" flipH="0" flipV="0">
            <a:off x="9467850" y="214312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9572625" y="22288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源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9467850" y="2657475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来源有效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9467850" y="2981325"/>
            <a:ext cx="19050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数据有依据且适用于本次任务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9467850" y="401955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日期、文件与适用范围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1685925" y="454342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4581525" y="454342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7477125" y="454342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10372725" y="454342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CB6B2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609600" y="4962525"/>
            <a:ext cx="1097280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1" name=""/>
          <p:cNvSpPr/>
          <p:nvPr/>
        </p:nvSpPr>
        <p:spPr>
          <a:xfrm rot="0" flipH="0" flipV="0">
            <a:off x="819150" y="5162550"/>
            <a:ext cx="38100" cy="723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1009650" y="5229225"/>
            <a:ext cx="10363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任一必要检查失败：保留原因，修正输入或停止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1009650" y="5524500"/>
            <a:ext cx="103632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来源的日期与适用范围也应在生成前核实；把来源放在最后核对，不表示可以等生成结束后才决定使用哪份材料。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23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36" name="" descr="&lt;Slide notes={`我们看一条实际会出现的记录。它是一场手作活动，房间是手工室，十月十七号上午十点到十一点，十个人参加。&#10;&#10;先说好消息：它是有效的 JSON，引号、逗号、括号全都合法；字段也完全符合约定的结构，人数是整数，房间编号在允许的枚举里面。&#10;&#10;但这条记录不能用。手工室十点到十点半已经有预约了，这段候选正好整段落进去，业务上冲突。&#10;&#10;还有一个更隐蔽的改法：把人数改成十三。语法照样正确，结构照样合规，可房间容量是十二人，人数和容量对不上。这个错误要到更晚一层才会暴露出来。&#10;&#10;同样是「看起来没问题」的结果，问题可能出在完全不同的层。所以别只盯着第一层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4.1　检查分四层&lt;/Text&gt;&#10;            &lt;Text style={{ fontSize: 34, fontWeight: 'bold', color: '#20344B' }}&gt;一条看似合法的活动记录&lt;/Text&gt;&#10;        &lt;/Box&gt;&#10;    &lt;/Box&gt;&#10;&#10;    &lt;Box style={{ height: 540, flexDirection: 'row', gap: 32 }}&gt;&#10;&#10;        &lt;Box style={{ width: 640, flexDirection: 'column', justifyContent: 'center', gap: 8 }}&gt;&#10;            &lt;Box style={{ flexDirection: 'row', alignItems: 'center', gap: 10, height: 24 }}&gt;&#10;                &lt;Box style={{ width: 3, height: 18, background: '#276FBF' }} /&gt;&#10;                &lt;Text style={{ fontSize: 17, fontWeight: 'bold', color: '#20344B' }}&gt;一条手作活动记录&lt;/Text&gt;&#10;            &lt;/Box&gt;&#10;            &lt;Box style={{ flexDirection: 'row', padding: '0 16px', gap: 12, height: 20 }}&gt;&#10;                &lt;Box style={{ width: 160 }}&gt;&lt;Text style={{ fontSize: 14, color: '#546779' }}&gt;字段&lt;/Text&gt;&lt;/Box&gt;&#10;                &lt;Box style={{ flex: 1 }}&gt;&lt;Text style={{ fontSize: 14, color: '#546779' }}&gt;值&lt;/Text&gt;&lt;/Box&gt;&#10;            &lt;/Box&gt;&#10;            &lt;Box style={{ flexDirection: 'row', height: 58, background: '#F4F7FA', borderRadius: 8, padding: '0 16px', alignItems: 'center', gap: 12 }}&gt;&#10;                &lt;Box style={{ width: 160 }}&gt;&lt;Text style={{ fontSize: 15, fontFamily: 'Consolas, monospace', color: '#546779' }}&gt;activity_id&lt;/Text&gt;&lt;/Box&gt;&#10;                &lt;Box style={{ flex: 1 }}&gt;&lt;Text style={{ fontSize: 15, fontFamily: 'Consolas, monospace', color: '#20344B' }}&gt;&quot;craft_workshop&quot;&lt;/Text&gt;&lt;/Box&gt;&#10;            &lt;/Box&gt;&#10;            &lt;Box style={{ flexDirection: 'row', height: 58, background: '#F4F7FA', borderRadius: 8, padding: '0 16px', alignItems: 'center', gap: 12 }}&gt;&#10;                &lt;Box style={{ width: 160 }}&gt;&lt;Text style={{ fontSize: 15, fontFamily: 'Consolas, monospace', color: '#546779' }}&gt;room_id&lt;/Text&gt;&lt;/Box&gt;&#10;                &lt;Box style={{ flex: 1 }}&gt;&lt;Text style={{ fontSize: 15, fontFamily: 'Consolas, monospace', color: '#20344B' }}&gt;&quot;craft&quot;&lt;/Text&gt;&lt;/Box&gt;&#10;            &lt;/Box&gt;&#10;            &lt;Box style={{ flexDirection: 'row', height: 58, background: '#F4F7FA', borderRadius: 8, padding: '0 16px', alignItems: 'center', gap: 12 }}&gt;&#10;                &lt;Box style={{ width: 160 }}&gt;&lt;Text style={{ fontSize: 15, fontFamily: 'Consolas, monospace', color: '#546779' }}&gt;start&lt;/Text&gt;&lt;/Box&gt;&#10;                &lt;Box style={{ flex: 1 }}&gt;&lt;Text style={{ fontSize: 15, fontFamily: 'Consolas, monospace', color: '#20344B' }}&gt;&quot;2026-10-17T10:00:00+08:00&quot;&lt;/Text&gt;&lt;/Box&gt;&#10;            &lt;/Box&gt;&#10;            &lt;Box style={{ flexDirection: 'row', height: 58, background: '#F4F7FA', borderRadius: 8, padding: '0 16px', alignItems: 'center', gap: 12 }}&gt;&#10;                &lt;Box style={{ width: 160 }}&gt;&lt;Text style={{ fontSize: 15, fontFamily: 'Consolas, monospace', color: '#546779' }}&gt;end&lt;/Text&gt;&lt;/Box&gt;&#10;                &lt;Box style={{ flex: 1 }}&gt;&lt;Text style={{ fontSize: 15, fontFamily: 'Consolas, monospace', color: '#20344B' }}&gt;&quot;2026-10-17T11:00:00+08:00&quot;&lt;/Text&gt;&lt;/Box&gt;&#10;            &lt;/Box&gt;&#10;            &lt;Box style={{ flexDirection: 'row', height: 58, background: '#F4F7FA', borderRadius: 8, padding: '0 16px', alignItems: 'center', gap: 12 }}&gt;&#10;                &lt;Box style={{ width: 160 }}&gt;&lt;Text style={{ fontSize: 15, fontFamily: 'Consolas, monospace', color: '#546779' }}&gt;participants&lt;/Text&gt;&lt;/Box&gt;&#10;                &lt;Box style={{ flex: 1 }}&gt;&lt;Text style={{ fontSize: 15, fontFamily: 'Consolas, monospace', color: '#20344B' }}&gt;10&lt;/Text&gt;&lt;/Box&gt;&#10;            &lt;/Box&gt;&#10;        &lt;/Box&gt;&#10;&#10;        &lt;Box style={{ width: 480, flexDirection: 'column', justifyContent: 'center', gap: 14 }}&gt;&#10;&#10;            &lt;Text style={{ fontSize: 20, fontWeight: 'bold', color: '#20344B' }}&gt;看起来没问题，其实有两处&lt;/Text&gt;&#10;&#10;            &lt;Box style={{ height: 92, background: '#ECF7F2', borderRadius: 10, padding: '16px 20px', flexDirection: 'column', gap: 6 }}&gt;&#10;                &lt;Text style={{ fontSize: 18, fontWeight: 'bold', color: '#26816B' }}&gt;语法与结构都通过&lt;/Text&gt;&#10;                &lt;Text style={{ fontSize: 15, color: '#546779', lineHeight: 1.6 }}&gt;引号、逗号、括号合法；人数为整数，房间 ID 属于允许枚举。&lt;/Text&gt;&#10;            &lt;/Box&gt;&#10;&#10;            &lt;Box style={{ height: 168, background: '#FFF4E6', borderRadius: 10, padding: '16px 20px', flexDirection: 'column', gap: 6 }}&gt;&#10;                &lt;Text style={{ fontSize: 18, fontWeight: 'bold', color: '#CB6B28' }}&gt;与手作室预约重叠&lt;/Text&gt;&#10;                &lt;Text style={{ fontSize: 15, color: '#546779', lineHeight: 1.6 }}&gt;手工室 10:00—10:30 已有预约，这段候选整段落在里面。格式没有救它，业务这一层不成立。&lt;/Text&gt;&#10;                &lt;Box style={{ flex: 1 }} /&gt;&#10;                &lt;Text style={{ fontSize: 14, color: '#CB6B28' }}&gt;业务规则 · 预约冲突&lt;/Text&gt;&#10;            &lt;/Box&gt;&#10;&#10;            &lt;Box style={{ height: 168, background: '#FFF4E6', borderRadius: 10, padding: '16px 20px', flexDirection: 'column', gap: 6 }}&gt;&#10;                &lt;Text style={{ fontSize: 18, fontWeight: 'bold', color: '#CB6B28' }}&gt;把人数改成 13 也一样&lt;/Text&gt;&#10;                &lt;Text style={{ fontSize: 15, color: '#546779', lineHeight: 1.6 }}&gt;语法仍然正确，却多出容量与需求人数不一致的问题：房间容量 12 人，需求人数 13 人。&lt;/Text&gt;&#10;                &lt;Box style={{ flex: 1 }} /&gt;&#10;                &lt;Text style={{ fontSize: 14, color: '#CB6B28' }}&gt;业务规则 · 容量不符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05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检查分四层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一条看似合法的活动记录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609600" y="1924050"/>
            <a:ext cx="28575" cy="1714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733425" y="191452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一条手作活动记录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762000" y="2200275"/>
            <a:ext cx="152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字段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2400300" y="2200275"/>
            <a:ext cx="415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值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609600" y="2466975"/>
            <a:ext cx="6096000" cy="552450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62000" y="26574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Consolas"/>
                <a:ea typeface="Consolas"/>
              </a:rPr>
              <a:t>activity_id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2400300" y="2657475"/>
            <a:ext cx="415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"craft_workshop"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609600" y="3095625"/>
            <a:ext cx="6096000" cy="552450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62000" y="328612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Consolas"/>
                <a:ea typeface="Consolas"/>
              </a:rPr>
              <a:t>room_id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2400300" y="3286125"/>
            <a:ext cx="415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"craft"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609600" y="3724275"/>
            <a:ext cx="6096000" cy="552450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762000" y="39147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Consolas"/>
                <a:ea typeface="Consolas"/>
              </a:rPr>
              <a:t>start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2400300" y="3914775"/>
            <a:ext cx="415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"2026-10-17T10:00:00+08:00"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609600" y="4352925"/>
            <a:ext cx="6096000" cy="552450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762000" y="454342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Consolas"/>
                <a:ea typeface="Consolas"/>
              </a:rPr>
              <a:t>end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2400300" y="4543425"/>
            <a:ext cx="415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"2026-10-17T11:00:00+08:00"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609600" y="4981575"/>
            <a:ext cx="6096000" cy="552450"/>
          </a:xfrm>
          <a:prstGeom prst="roundRect">
            <a:avLst>
              <a:gd name="adj" fmla="val 1379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762000" y="5172075"/>
            <a:ext cx="152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Consolas"/>
                <a:ea typeface="Consolas"/>
              </a:rPr>
              <a:t>participants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2400300" y="5172075"/>
            <a:ext cx="415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10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7010400" y="1362075"/>
            <a:ext cx="457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看起来没问题，其实有两处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7010400" y="1724025"/>
            <a:ext cx="4572000" cy="876300"/>
          </a:xfrm>
          <a:prstGeom prst="roundRect">
            <a:avLst>
              <a:gd name="adj" fmla="val 1087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7200900" y="1876425"/>
            <a:ext cx="4191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语法与结构都通过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7200900" y="2143125"/>
            <a:ext cx="4191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引号、逗号、括号合法；人数为整数，房间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属于允许枚举。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7010400" y="2733675"/>
            <a:ext cx="4572000" cy="1600200"/>
          </a:xfrm>
          <a:prstGeom prst="roundRect">
            <a:avLst>
              <a:gd name="adj" fmla="val 595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7200900" y="2886075"/>
            <a:ext cx="4191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与手作室预约重叠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7200900" y="3152775"/>
            <a:ext cx="4191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手工室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10:00—10:30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已有预约，这段候选整段落在里面。格式没有救它，业务这一层不成立。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7200900" y="4019550"/>
            <a:ext cx="4191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业务规则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预约冲突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7010400" y="4467225"/>
            <a:ext cx="4572000" cy="1600200"/>
          </a:xfrm>
          <a:prstGeom prst="roundRect">
            <a:avLst>
              <a:gd name="adj" fmla="val 595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7200900" y="4619625"/>
            <a:ext cx="4191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把人数改成</a:t>
            </a: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13 </a:t>
            </a: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也一样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7200900" y="4886325"/>
            <a:ext cx="4191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语法仍然正确，却多出容量与需求人数不一致的问题：房间容量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人，需求人数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13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人。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7200900" y="5753100"/>
            <a:ext cx="4191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业务规则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容量不符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23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74" name="" descr="&lt;Slide notes={`这四个层次，每一层回答的问题是不一样的。&#10;&#10;JSON 语法只问一件事：能不能解析。引号、逗号、括号是否合法，就这些。&#10;&#10;Schema 结构问的是字段和类型符不符合合同。人数必须是整数，房间编号必须落在允许的那几个值里。它管的是形式，不管内容对不对。&#10;&#10;业务规则问的是记录之间、以及记录和规则之间相不相容。时长对不对、容量够不够、活动完整不完整、有没有预约冲突，这些都在这儿。&#10;&#10;事实来源问的是另一件事：你用的数据有没有依据，是不是适用于本次任务。人数要来自当前需求，预约要来自指定日期的查询。一层只管一件事，这是排查时最省力的做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4.1　检查分四层&lt;/Text&gt;&#10;            &lt;Text style={{ fontSize: 34, fontWeight: 'bold', color: '#20344B' }}&gt;四个层次，各回答一个问题&lt;/Text&gt;&#10;        &lt;/Box&gt;&#10;    &lt;/Box&gt;&#10;&#10;    &lt;Box style={{ height: 540, flexDirection: 'column', justifyContent: 'center', gap: 12 }}&gt;&#10;&#10;        &lt;Box style={{ flexDirection: 'row', padding: '0 18px', gap: 16, height: 26, alignItems: 'center' }}&gt;&#10;            &lt;Box style={{ width: 4 }} /&gt;&#10;            &lt;Box style={{ width: 200 }}&gt;&lt;Text style={{ fontSize: 14, color: '#546779' }}&gt;检查层次&lt;/Text&gt;&lt;/Box&gt;&#10;            &lt;Box style={{ flex: 1 }}&gt;&lt;Text style={{ fontSize: 14, color: '#546779' }}&gt;要回答的问题&lt;/Text&gt;&lt;/Box&gt;&#10;            &lt;Box style={{ width: 420 }}&gt;&lt;Text style={{ fontSize: 14, color: '#546779' }}&gt;青禾的例子&lt;/Text&gt;&lt;/Box&gt;&#10;        &lt;/Box&gt;&#10;&#10;        &lt;Box style={{ height: 96, flexDirection: 'row', background: '#F4F7FA', borderRadius: 10, padding: '0 18px', gap: 16, alignItems: 'center' }}&gt;&#10;            &lt;Box style={{ width: 4, height: 56, background: '#276FBF' }} /&gt;&#10;            &lt;Box style={{ width: 200 }}&gt;&lt;Text style={{ fontSize: 20, fontWeight: 'bold', color: '#20344B' }}&gt;JSON 语法&lt;/Text&gt;&lt;/Box&gt;&#10;            &lt;Box style={{ flex: 1 }}&gt;&lt;Text style={{ fontSize: 16, color: '#20344B', lineHeight: 1.6 }}&gt;能否解析&lt;/Text&gt;&lt;/Box&gt;&#10;            &lt;Box style={{ width: 420 }}&gt;&lt;Text style={{ fontSize: 16, color: '#546779', lineHeight: 1.6 }}&gt;引号、逗号、括号是否合法&lt;/Text&gt;&lt;/Box&gt;&#10;        &lt;/Box&gt;&#10;&#10;        &lt;Box style={{ height: 96, flexDirection: 'row', background: '#F4F7FA', borderRadius: 10, padding: '0 18px', gap: 16, alignItems: 'center' }}&gt;&#10;            &lt;Box style={{ width: 4, height: 56, background: '#276FBF' }} /&gt;&#10;            &lt;Box style={{ width: 200 }}&gt;&lt;Text style={{ fontSize: 20, fontWeight: 'bold', color: '#20344B' }}&gt;Schema 结构&lt;/Text&gt;&lt;/Box&gt;&#10;            &lt;Box style={{ flex: 1 }}&gt;&lt;Text style={{ fontSize: 16, color: '#20344B', lineHeight: 1.6 }}&gt;字段和类型是否符合合同&lt;/Text&gt;&lt;/Box&gt;&#10;            &lt;Box style={{ width: 420 }}&gt;&lt;Text style={{ fontSize: 16, color: '#546779', lineHeight: 1.6 }}&gt;人数为整数，房间 ID 属于允许枚举&lt;/Text&gt;&lt;/Box&gt;&#10;        &lt;/Box&gt;&#10;&#10;        &lt;Box style={{ height: 96, flexDirection: 'row', background: '#FFF4E6', borderRadius: 10, padding: '0 18px', gap: 16, alignItems: 'center' }}&gt;&#10;            &lt;Box style={{ width: 4, height: 56, background: '#CB6B28' }} /&gt;&#10;            &lt;Box style={{ width: 200 }}&gt;&lt;Text style={{ fontSize: 20, fontWeight: 'bold', color: '#CB6B28' }}&gt;业务规则&lt;/Text&gt;&lt;/Box&gt;&#10;            &lt;Box style={{ flex: 1 }}&gt;&lt;Text style={{ fontSize: 16, color: '#20344B', lineHeight: 1.6 }}&gt;记录之间及记录与规则是否相容&lt;/Text&gt;&lt;/Box&gt;&#10;            &lt;Box style={{ width: 420 }}&gt;&lt;Text style={{ fontSize: 16, color: '#546779', lineHeight: 1.6 }}&gt;时长、容量、活动完整性、预约冲突&lt;/Text&gt;&lt;/Box&gt;&#10;        &lt;/Box&gt;&#10;&#10;        &lt;Box style={{ height: 96, flexDirection: 'row', background: '#ECF7F2', borderRadius: 10, padding: '0 18px', gap: 16, alignItems: 'center' }}&gt;&#10;            &lt;Box style={{ width: 4, height: 56, background: '#26816B' }} /&gt;&#10;            &lt;Box style={{ width: 200 }}&gt;&lt;Text style={{ fontSize: 20, fontWeight: 'bold', color: '#20344B' }}&gt;事实来源&lt;/Text&gt;&lt;/Box&gt;&#10;            &lt;Box style={{ flex: 1 }}&gt;&lt;Text style={{ fontSize: 16, color: '#20344B', lineHeight: 1.6 }}&gt;数据有依据且适用于本次任务&lt;/Text&gt;&lt;/Box&gt;&#10;            &lt;Box style={{ width: 420 }}&gt;&lt;Text style={{ fontSize: 16, color: '#546779', lineHeight: 1.6 }}&gt;人数来自当前需求，预约来自指定日期的查询&lt;/Text&gt;&lt;/Box&gt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06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检查分四层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四个层次，各回答一个问题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971550" y="158115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检查层次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3028950" y="1581150"/>
            <a:ext cx="422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要回答的问题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7410450" y="1581150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青禾的例子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609600" y="18954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3" name=""/>
          <p:cNvSpPr/>
          <p:nvPr/>
        </p:nvSpPr>
        <p:spPr>
          <a:xfrm rot="0" flipH="0" flipV="0">
            <a:off x="781050" y="20859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971550" y="2238375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JSON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语法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3028950" y="2209800"/>
            <a:ext cx="4229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能否解析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7410450" y="2209800"/>
            <a:ext cx="4000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引号、逗号、括号是否合法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609600" y="29241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8" name=""/>
          <p:cNvSpPr/>
          <p:nvPr/>
        </p:nvSpPr>
        <p:spPr>
          <a:xfrm rot="0" flipH="0" flipV="0">
            <a:off x="781050" y="31146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971550" y="3267075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Schema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结构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3028950" y="3238500"/>
            <a:ext cx="4229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字段和类型是否符合合同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7410450" y="3238500"/>
            <a:ext cx="4000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人数为整数，房间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属于允许枚举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609600" y="39528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3" name=""/>
          <p:cNvSpPr/>
          <p:nvPr/>
        </p:nvSpPr>
        <p:spPr>
          <a:xfrm rot="0" flipH="0" flipV="0">
            <a:off x="781050" y="414337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971550" y="4295775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业务规则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3028950" y="4267200"/>
            <a:ext cx="4229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记录之间及记录与规则是否相容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7410450" y="4267200"/>
            <a:ext cx="4000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时长、容量、活动完整性、预约冲突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609600" y="49815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98" name=""/>
          <p:cNvSpPr/>
          <p:nvPr/>
        </p:nvSpPr>
        <p:spPr>
          <a:xfrm rot="0" flipH="0" flipV="0">
            <a:off x="781050" y="5172075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971550" y="5324475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事实来源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3028950" y="5295900"/>
            <a:ext cx="4229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数据有依据且适用于本次任务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7410450" y="5295900"/>
            <a:ext cx="4000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人数来自当前需求，预约来自指定日期的查询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23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04" name="" descr="&lt;Slide notes={`这里要把两种要求分清楚。&#10;&#10;第一种是「返回 JSON」。它只是对输出形式的要求：别用散文，给我一段 JSON。至于字段叫什么、类型对不对，它没有约定。&#10;&#10;第二种是严格结构化输出。它进一步要求模型按照一个受支持的 JSON Schema 来生成结果，字段名、类型、必填项都写死在合同里。&#10;&#10;但请注意下面这两条：无论哪一种，都不能证明预约已经成立。预约成不成立，要拿真实的预约记录去算。无论哪一种，也不能凭空填补缺失的资料——模型不知道的数字，它凑出来的也只是看起来合理。&#10;&#10;形式的要求解决的是「程序能不能读」，不解决「事情对不对」，这两件事必须分开看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4.1　检查分四层&lt;/Text&gt;&#10;            &lt;Text style={{ fontSize: 34, fontWeight: 'bold', color: '#20344B' }}&gt;「返回 JSON」不等于「预约成立」&lt;/Text&gt;&#10;        &lt;/Box&gt;&#10;    &lt;/Box&gt;&#10;&#10;    &lt;Box style={{ height: 540, flexDirection: 'row', gap: 32 }}&gt;&#10;&#10;        &lt;Box style={{ width: 448, flexDirection: 'column', justifyContent: 'center', gap: 14 }}&gt;&#10;&#10;            &lt;Text style={{ fontSize: 20, fontWeight: 'bold', color: '#20344B' }}&gt;两种要求，两个层次&lt;/Text&gt;&#10;&#10;            &lt;Box style={{ height: 136, background: '#EDF4FC', borderRadius: 10, padding: '18px 20px', flexDirection: 'column', gap: 8 }}&gt;&#10;                &lt;Text style={{ fontSize: 18, fontWeight: 'bold', color: '#276FBF' }}&gt;「返回 JSON」&lt;/Text&gt;&#10;                &lt;Text style={{ fontSize: 15, color: '#546779', lineHeight: 1.65 }}&gt;只对输出形式提要求：结果是可解析的 JSON，而不是一段散文。&lt;/Text&gt;&#10;            &lt;/Box&gt;&#10;&#10;            &lt;Box style={{ height: 136, background: '#ECF7F2', borderRadius: 10, padding: '18px 20px', flexDirection: 'column', gap: 8 }}&gt;&#10;                &lt;Text style={{ fontSize: 18, fontWeight: 'bold', color: '#26816B' }}&gt;严格结构化输出&lt;/Text&gt;&#10;                &lt;Text style={{ fontSize: 15, color: '#546779', lineHeight: 1.65 }}&gt;进一步要求模型按支持的 JSON Schema 生成结果，字段与类型都受约束。&lt;/Text&gt;&#10;            &lt;/Box&gt;&#10;&#10;            &lt;Text style={{ fontSize: 14, color: '#546779', lineHeight: 1.65 }}&gt;两者都只回答「程序能不能读」，不回答「事情对不对」。&lt;/Text&gt;&#10;&#10;        &lt;/Box&gt;&#10;&#10;        &lt;Box style={{ width: 672, flexDirection: 'column', justifyContent: 'center', gap: 14 }}&gt;&#10;&#10;            &lt;Text style={{ fontSize: 20, fontWeight: 'bold', color: '#20344B' }}&gt;这两件事它们都证明不了&lt;/Text&gt;&#10;&#10;            &lt;Box style={{ height: 152, background: '#FFF4E6', borderRadius: 10, padding: '18px 22px', flexDirection: 'column', gap: 8 }}&gt;&#10;                &lt;Text style={{ fontSize: 18, fontWeight: 'bold', color: '#CB6B28' }}&gt;不能证明预约已经成立&lt;/Text&gt;&#10;                &lt;Text style={{ fontSize: 15, color: '#546779', lineHeight: 1.65 }}&gt;记录可以完全符合合同，同时与手工室 10:00—10:30 的已有预约重叠。合约合规不等于业务可行，要拿真实预约记录去算。&lt;/Text&gt;&#10;            &lt;/Box&gt;&#10;&#10;            &lt;Box style={{ height: 152, background: '#FFF4E6', borderRadius: 10, padding: '18px 22px', flexDirection: 'column', gap: 8 }}&gt;&#10;                &lt;Text style={{ fontSize: 18, fontWeight: 'bold', color: '#CB6B28' }}&gt;不能凭空填补缺失的资料&lt;/Text&gt;&#10;                &lt;Text style={{ fontSize: 15, color: '#546779', lineHeight: 1.65 }}&gt;合同限定了字段与类型，却不会告诉模型「人数是多少」。资料没给，补出来的只是看起来合理的数字。&lt;/Text&gt;&#10;            &lt;/Box&gt;&#10;&#10;            &lt;Box style={{ background: '#F4F7FA', borderRadius: 10, padding: '16px 22px', flexDirection: 'row', gap: 14, alignItems: 'center' }}&gt;&#10;                &lt;Box style={{ width: 4, height: 46, background: '#276FBF' }} /&gt;&#10;                &lt;Text style={{ fontSize: 16, color: '#20344B', lineHeight: 1.6 }}&gt;合同管形式，校验管事实，两者缺一不可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07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200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检查分四层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200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「返回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JSON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」不等于「预约成立」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4267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两种要求，两个层次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609600" y="2333625"/>
            <a:ext cx="4267200" cy="1295400"/>
          </a:xfrm>
          <a:prstGeom prst="roundRect">
            <a:avLst>
              <a:gd name="adj" fmla="val 735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800100" y="2505075"/>
            <a:ext cx="3886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「返回</a:t>
            </a: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JSON</a:t>
            </a: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」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800100" y="2790825"/>
            <a:ext cx="38862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只对输出形式提要求：结果是可解析的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JSON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，而不是一段散文。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09600" y="3762375"/>
            <a:ext cx="4267200" cy="1295400"/>
          </a:xfrm>
          <a:prstGeom prst="roundRect">
            <a:avLst>
              <a:gd name="adj" fmla="val 735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800100" y="3933825"/>
            <a:ext cx="3886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严格结构化输出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800100" y="4219575"/>
            <a:ext cx="38862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进一步要求模型按支持的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JSON Schema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生成结果，字段与类型都受约束。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609600" y="5191125"/>
            <a:ext cx="4267200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两者都只回答「程序能不能读」，不回答「事情对不对」。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5181600" y="1581150"/>
            <a:ext cx="640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这两件事它们都证明不了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5181600" y="1943100"/>
            <a:ext cx="6400800" cy="1447800"/>
          </a:xfrm>
          <a:prstGeom prst="roundRect">
            <a:avLst>
              <a:gd name="adj" fmla="val 657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5391150" y="2114550"/>
            <a:ext cx="5981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不能证明预约已经成立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5391150" y="2400300"/>
            <a:ext cx="59817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记录可以完全符合合同，同时与手工室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10:00—10:30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的已有预约重叠。合约合规不等于业务可行，要拿真实预约记录去算。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5181600" y="3524250"/>
            <a:ext cx="6400800" cy="1447800"/>
          </a:xfrm>
          <a:prstGeom prst="roundRect">
            <a:avLst>
              <a:gd name="adj" fmla="val 657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5391150" y="3695700"/>
            <a:ext cx="5981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不能凭空填补缺失的资料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5391150" y="3981450"/>
            <a:ext cx="59817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合同限定了字段与类型，却不会告诉模型「人数是多少」。资料没给，补出来的只是看起来合理的数字。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5181600" y="5105400"/>
            <a:ext cx="64008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5" name=""/>
          <p:cNvSpPr/>
          <p:nvPr/>
        </p:nvSpPr>
        <p:spPr>
          <a:xfrm rot="0" flipH="0" flipV="0">
            <a:off x="5391150" y="5257800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5562600" y="5334000"/>
            <a:ext cx="28956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合同管形式，校验管事实，两者缺一不可。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23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29" name="" descr="&lt;Slide notes={`第二个问题是：合同到底怎么写。&#10;&#10;很多团队写 Schema 的时候很随意，字段想起来就加，类型随手写个 string 就算完。这样写出来的合同挡不住错误，因为程序能核对的，只有你写清楚的那部分。&#10;&#10;一份适合程序使用的合同，至少要回答三件事：哪些字段必须出现，哪些字段只能取有限几个值，以及能不能临时加字段。&#10;&#10;这三件事看起来琐碎，但它们决定了错误会在哪一层被拦住。必填项写清楚，缺字段就不会一路跑到下游；枚举写清楚，房间名就不会一会儿叫阅读室、一会儿叫阅览室。&#10;&#10;下面我们就把本章这份合同拆开来看。`} style={{ width: 1280, height: 720, background: '#FFFFFF', flexDirection: 'column', padding: '20px 64px' }}&gt;&#10;&#10;    &lt;Box style={{ height: 280, flexDirection: 'column', justifyContent: 'center', gap: 14 }}&gt;&#10;        &lt;Box style={{ flexDirection: 'row', alignItems: 'center', gap: 12 }}&gt;&#10;            &lt;Box style={{ width: 44, height: 44, background: '#276FBF', borderRadius: 10, justifyContent: 'center', alignItems: 'center' }}&gt;&#10;                &lt;Text style={{ fontSize: 22, fontWeight: 'bold', color: '#FFFFFF' }}&gt;②&lt;/Text&gt;&#10;            &lt;/Box&gt;&#10;            &lt;Text style={{ fontSize: 15, color: '#546779' }}&gt;2.4.2　设计适合程序使用的合同&lt;/Text&gt;&#10;        &lt;/Box&gt;&#10;        &lt;Text style={{ fontSize: 56, fontWeight: 'bold', color: '#20344B', lineHeight: 1.15 }}&gt;设计适合程序使用的合同&lt;/Text&gt;&#10;        &lt;Text style={{ fontSize: 17, color: '#546779' }}&gt;合同写得越明确，程序越早发现错误，模型也越难自由发挥。&lt;/Text&gt;&#10;    &lt;/Box&gt;&#10;&#10;    &lt;Box style={{ height: 360, background: '#EDF4FC', borderRadius: 14, padding: 24, flexDirection: 'column', gap: 14, justifyContent: 'center' }}&gt;&#10;        &lt;Text style={{ fontSize: 16, color: '#276FBF', fontWeight: 'bold' }}&gt;根对象的三个固定字段&lt;/Text&gt;&#10;        &lt;Box style={{ flexDirection: 'row', gap: 32 }}&gt;&#10;            &lt;Box style={{ width: 344, height: 156, background: '#FFFFFF', borderRadius: 10, padding: 18, flexDirection: 'column', gap: 8 }}&gt;&#10;                &lt;Text style={{ fontSize: 20, fontWeight: 'bold', color: '#20344B' }}&gt;date&lt;/Text&gt;&#10;                &lt;Text style={{ fontSize: 15, color: '#546779', lineHeight: 1.6 }}&gt;方案针对哪一天&lt;/Text&gt;&#10;                &lt;Box style={{ flex: 1 }} /&gt;&#10;                &lt;Text style={{ fontSize: 14, fontFamily: 'Consolas, monospace', color: '#276FBF' }}&gt;&quot;2026-10-17&quot;&lt;/Text&gt;&#10;            &lt;/Box&gt;&#10;            &lt;Box style={{ width: 344, height: 156, background: '#FFFFFF', borderRadius: 10, padding: 18, flexDirection: 'column', gap: 8 }}&gt;&#10;                &lt;Text style={{ fontSize: 20, fontWeight: 'bold', color: '#20344B' }}&gt;timezone&lt;/Text&gt;&#10;                &lt;Text style={{ fontSize: 15, color: '#546779', lineHeight: 1.6 }}&gt;所有时刻按哪个时区理解&lt;/Text&gt;&#10;                &lt;Box style={{ flex: 1 }} /&gt;&#10;                &lt;Text style={{ fontSize: 14, fontFamily: 'Consolas, monospace', color: '#276FBF' }}&gt;&quot;Asia/Shanghai&quot;&lt;/Text&gt;&#10;            &lt;/Box&gt;&#10;            &lt;Box style={{ width: 344, height: 156, background: '#FFFFFF', borderRadius: 10, padding: 18, flexDirection: 'column', gap: 8 }}&gt;&#10;                &lt;Text style={{ fontSize: 20, fontWeight: 'bold', color: '#20344B' }}&gt;activities&lt;/Text&gt;&#10;                &lt;Text style={{ fontSize: 15, color: '#546779', lineHeight: 1.6 }}&gt;方案里的活动列表&lt;/Text&gt;&#10;                &lt;Box style={{ flex: 1 }} /&gt;&#10;                &lt;Text style={{ fontSize: 14, fontFamily: 'Consolas, monospace', color: '#276FBF' }}&gt;[ ... ]&lt;/Text&gt;&#10;            &lt;/Box&gt;&#10;        &lt;/Box&gt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08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1" name=""/>
          <p:cNvSpPr/>
          <p:nvPr/>
        </p:nvSpPr>
        <p:spPr>
          <a:xfrm rot="0" flipH="0" flipV="0">
            <a:off x="609600" y="7143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714375" y="8001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1143000" y="838200"/>
            <a:ext cx="2038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2.4.2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设计适合程序使用的合同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609600" y="12668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设计适合程序使用的合同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09600" y="21431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合同写得越明确，程序越早发现错误，模型也越难自由发挥。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609600" y="2857500"/>
            <a:ext cx="10972800" cy="3429000"/>
          </a:xfrm>
          <a:prstGeom prst="roundRect">
            <a:avLst>
              <a:gd name="adj" fmla="val 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838200" y="3667125"/>
            <a:ext cx="1051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根对象的三个固定字段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838200" y="3990975"/>
            <a:ext cx="327660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1009650" y="4162425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date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1009650" y="4467225"/>
            <a:ext cx="29337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方案针对哪一天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1009650" y="51435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Consolas"/>
                <a:ea typeface="Consolas"/>
              </a:rPr>
              <a:t>"2026-10-17"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4419600" y="3990975"/>
            <a:ext cx="327660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4591050" y="4162425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timezone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4591050" y="4467225"/>
            <a:ext cx="29337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所有时刻按哪个时区理解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4591050" y="51435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Consolas"/>
                <a:ea typeface="Consolas"/>
              </a:rPr>
              <a:t>"Asia/Shanghai"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8001000" y="3990975"/>
            <a:ext cx="3276600" cy="14859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8172450" y="4162425"/>
            <a:ext cx="2933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activities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8172450" y="4467225"/>
            <a:ext cx="29337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方案里的活动列表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8172450" y="51435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Consolas"/>
                <a:ea typeface="Consolas"/>
              </a:rPr>
              <a:t>[ ... ]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23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52" name="" descr="&lt;Slide notes={`这是本章方案的实际结构，我们一层一层看。&#10;&#10;最外面是根对象，固定三个字段：date、timezone 和 activities，分别说明日期、时区和活动列表。三个之外不能再临时添加字段。&#10;&#10;再往里，activities 列表里的每一项活动包含五个字段：活动编号、房间编号、开始时间、结束时间、参加人数。前面那条手作记录，就是列表里的一项。&#10;&#10;第三个设计最容易被忽略：房间不用中文名，用稳定的英文 ID——reading、craft、discussion。展示名称另从房间表读取。如果直接把名字写进结果，模型可能写成阅读室，也可能写成阅览室，程序会把它们当成两个不同的地方，排期立刻乱掉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4.2　设计适合程序使用的合同&lt;/Text&gt;&#10;            &lt;Text style={{ fontSize: 34, fontWeight: 'bold', color: '#20344B' }}&gt;合同的三层结构&lt;/Text&gt;&#10;        &lt;/Box&gt;&#10;    &lt;/Box&gt;&#10;&#10;    &lt;Box style={{ height: 540, flexDirection: 'column', justifyContent: 'center', gap: 16 }}&gt;&#10;&#10;        &lt;Box style={{ height: 40, flexDirection: 'row', alignItems: 'center', gap: 10 }}&gt;&#10;            &lt;Box style={{ width: 3, height: 26, background: '#276FBF' }} /&gt;&#10;            &lt;Text style={{ fontSize: 16, color: '#546779' }}&gt;房间用稳定 ID、展示名称另取；时间必须含完整日期与时区偏移。&lt;/Text&gt;&#10;        &lt;/Box&gt;&#10;&#10;        &lt;Box style={{ height: 440, flexDirection: 'row', gap: 32 }}&gt;&#10;&#10;            &lt;Box style={{ width: 344, height: 440, background: '#EDF4FC', borderRadius: 12, padding: 20, flexDirection: 'column', gap: 12 }}&gt;&#10;                &lt;Text style={{ fontSize: 20, fontWeight: 'bold', color: '#276FBF' }}&gt;根对象（固定三字段）&lt;/Text&gt;&#10;                &lt;Box style={{ height: 56, background: '#FFFFFF', borderRadius: 8, padding: '0 14px', justifyContent: 'center' }}&gt;&#10;                    &lt;Text style={{ fontSize: 16, fontFamily: 'Consolas, monospace', color: '#20344B' }}&gt;date&lt;/Text&gt;&#10;                &lt;/Box&gt;&#10;                &lt;Box style={{ height: 56, background: '#FFFFFF', borderRadius: 8, padding: '0 14px', justifyContent: 'center' }}&gt;&#10;                    &lt;Text style={{ fontSize: 16, fontFamily: 'Consolas, monospace', color: '#20344B' }}&gt;timezone&lt;/Text&gt;&#10;                &lt;/Box&gt;&#10;                &lt;Box style={{ height: 56, background: '#FFFFFF', borderRadius: 8, padding: '0 14px', justifyContent: 'center' }}&gt;&#10;                    &lt;Text style={{ fontSize: 16, fontFamily: 'Consolas, monospace', color: '#20344B' }}&gt;activities&lt;/Text&gt;&#10;                &lt;/Box&gt;&#10;                &lt;Box style={{ flex: 1 }} /&gt;&#10;                &lt;Text style={{ fontSize: 14, color: '#546779', lineHeight: 1.6 }}&gt;三个字段之外，不能临时发明未约定的字段。&lt;/Text&gt;&#10;            &lt;/Box&gt;&#10;&#10;            &lt;Box style={{ width: 424, height: 440, background: '#F4F7FA', borderRadius: 12, padding: 20, flexDirection: 'column', gap: 12 }}&gt;&#10;                &lt;Text style={{ fontSize: 20, fontWeight: 'bold', color: '#20344B' }}&gt;每项活动包含五个字段&lt;/Text&gt;&#10;                &lt;Box style={{ height: 48, background: '#FFFFFF', borderRadius: 8, padding: '0 14px', justifyContent: 'center' }}&gt;&#10;                    &lt;Text style={{ fontSize: 15, fontFamily: 'Consolas, monospace', color: '#20344B' }}&gt;activity_id&lt;/Text&gt;&#10;                &lt;/Box&gt;&#10;                &lt;Box style={{ height: 48, background: '#FFFFFF', borderRadius: 8, padding: '0 14px', justifyContent: 'center' }}&gt;&#10;                    &lt;Text style={{ fontSize: 15, fontFamily: 'Consolas, monospace', color: '#20344B' }}&gt;room_id&lt;/Text&gt;&#10;                &lt;/Box&gt;&#10;                &lt;Box style={{ height: 48, background: '#FFFFFF', borderRadius: 8, padding: '0 14px', justifyContent: 'center' }}&gt;&#10;                    &lt;Text style={{ fontSize: 15, fontFamily: 'Consolas, monospace', color: '#20344B' }}&gt;start&lt;/Text&gt;&#10;                &lt;/Box&gt;&#10;                &lt;Box style={{ height: 48, background: '#FFFFFF', borderRadius: 8, padding: '0 14px', justifyContent: 'center' }}&gt;&#10;                    &lt;Text style={{ fontSize: 15, fontFamily: 'Consolas, monospace', color: '#20344B' }}&gt;end&lt;/Text&gt;&#10;                &lt;/Box&gt;&#10;                &lt;Box style={{ height: 48, background: '#FFFFFF', borderRadius: 8, padding: '0 14px', justifyContent: 'center' }}&gt;&#10;                    &lt;Text style={{ fontSize: 15, fontFamily: 'Consolas, monospace', color: '#20344B' }}&gt;participants&lt;/Text&gt;&#10;                &lt;/Box&gt;&#10;                &lt;Box style={{ flex: 1 }} /&gt;&#10;                &lt;Text style={{ fontSize: 14, color: '#546779', lineHeight: 1.6 }}&gt;完整合同见 schedule.schema.json。&lt;/Text&gt;&#10;            &lt;/Box&gt;&#10;&#10;            &lt;Box style={{ width: 320, height: 440, background: '#ECF7F2', borderRadius: 12, padding: 20, flexDirection: 'column', gap: 12 }}&gt;&#10;                &lt;Text style={{ fontSize: 20, fontWeight: 'bold', color: '#26816B' }}&gt;房间使用稳定 ID&lt;/Text&gt;&#10;                &lt;Box style={{ height: 52, background: '#FFFFFF', borderRadius: 8, padding: '0 14px', justifyContent: 'center' }}&gt;&#10;                    &lt;Text style={{ fontSize: 15, fontFamily: 'Consolas, monospace', color: '#20344B' }}&gt;&quot;reading&quot;&lt;/Text&gt;&#10;                &lt;/Box&gt;&#10;                &lt;Box style={{ height: 52, background: '#FFFFFF', borderRadius: 8, padding: '0 14px', justifyContent: 'center' }}&gt;&#10;                    &lt;Text style={{ fontSize: 15, fontFamily: 'Consolas, monospace', color: '#20344B' }}&gt;&quot;craft&quot;&lt;/Text&gt;&#10;                &lt;/Box&gt;&#10;                &lt;Box style={{ height: 52, background: '#FFFFFF', borderRadius: 8, padding: '0 14px', justifyContent: 'center' }}&gt;&#10;                    &lt;Text style={{ fontSize: 15, fontFamily: 'Consolas, monospace', color: '#20344B' }}&gt;&quot;discussion&quot;&lt;/Text&gt;&#10;                &lt;/Box&gt;&#10;                &lt;Box style={{ flex: 1 }} /&gt;&#10;                &lt;Text style={{ fontSize: 14, color: '#546779', lineHeight: 1.6 }}&gt;展示名称另从房间表读取，避免「阅读室」「阅览室」被程序误认成两个地方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09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设计适合程序使用的合同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合同的三层结构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609600" y="1419225"/>
            <a:ext cx="28575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733425" y="1447800"/>
            <a:ext cx="4476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房间用稳定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、展示名称另取；时间必须含完整日期与时区偏移。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609600" y="1885950"/>
            <a:ext cx="3276600" cy="4191000"/>
          </a:xfrm>
          <a:prstGeom prst="roundRect">
            <a:avLst>
              <a:gd name="adj" fmla="val 348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800100" y="2076450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根对象（固定三字段）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800100" y="2419350"/>
            <a:ext cx="28956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933450" y="2590800"/>
            <a:ext cx="262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Consolas"/>
                <a:ea typeface="Consolas"/>
              </a:rPr>
              <a:t>date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800100" y="3067050"/>
            <a:ext cx="28956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933450" y="3238500"/>
            <a:ext cx="262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Consolas"/>
                <a:ea typeface="Consolas"/>
              </a:rPr>
              <a:t>timezone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800100" y="3714750"/>
            <a:ext cx="28956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933450" y="3886200"/>
            <a:ext cx="2628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Consolas"/>
                <a:ea typeface="Consolas"/>
              </a:rPr>
              <a:t>activities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800100" y="5629275"/>
            <a:ext cx="2895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三个字段之外，不能临时发明未约定的字段。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4191000" y="1885950"/>
            <a:ext cx="4038600" cy="4191000"/>
          </a:xfrm>
          <a:prstGeom prst="roundRect">
            <a:avLst>
              <a:gd name="adj" fmla="val 283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4381500" y="2076450"/>
            <a:ext cx="3657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每项活动包含五个字段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4381500" y="2419350"/>
            <a:ext cx="36576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4514850" y="2562225"/>
            <a:ext cx="339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activity_id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4381500" y="2990850"/>
            <a:ext cx="36576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4514850" y="3133725"/>
            <a:ext cx="339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room_id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4381500" y="3562350"/>
            <a:ext cx="36576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4514850" y="3705225"/>
            <a:ext cx="339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start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4381500" y="4133850"/>
            <a:ext cx="36576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4514850" y="4276725"/>
            <a:ext cx="339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end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4381500" y="4705350"/>
            <a:ext cx="36576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4514850" y="4848225"/>
            <a:ext cx="339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participants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4381500" y="5629275"/>
            <a:ext cx="3657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完整合同见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schedule.schema.json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81" name=""/>
          <p:cNvSpPr/>
          <p:nvPr/>
        </p:nvSpPr>
        <p:spPr>
          <a:xfrm rot="0" flipH="0" flipV="0">
            <a:off x="8534400" y="1885950"/>
            <a:ext cx="3048000" cy="4191000"/>
          </a:xfrm>
          <a:prstGeom prst="roundRect">
            <a:avLst>
              <a:gd name="adj" fmla="val 375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8724900" y="2076450"/>
            <a:ext cx="2667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房间使用稳定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8724900" y="2419350"/>
            <a:ext cx="2667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8858250" y="2581275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"reading"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8724900" y="3028950"/>
            <a:ext cx="2667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8858250" y="3190875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"craft"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8724900" y="3638550"/>
            <a:ext cx="2667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8858250" y="3800475"/>
            <a:ext cx="2400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"discussion"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8724900" y="5372100"/>
            <a:ext cx="2667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展示名称另从房间表读取，避免「阅读室」「阅览室」被程序误认成两个地方。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23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7" name="" descr="&lt;Slide notes={`合同里真正起作用的是三个关键字。&#10;&#10;required 说明哪些字段必须出现。严格模式下更紧：你定义的字段都要列进必填，别指望「不填就默认」。&#10;&#10;enum 限定离散值。房间 ID 只能取允许的三个值，模型不能自己造一个新房间出来。&#10;&#10;additionalProperties 设成 false，是用来阻止模型临时发明字段的。模型有时候会热情过头，多加一个 note 字段，下游程序一看没有这个字段，直接崩掉。&#10;&#10;还要提醒一句：不同接口对 JSON Schema 的支持只是子集，可空值一般用包含 null 的联合类型表达。写合同时按接口实际支持的来，不要把通用规范的全部特性都假定能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4.2　设计适合程序使用的合同&lt;/Text&gt;&#10;            &lt;Text style={{ fontSize: 34, fontWeight: 'bold', color: '#20344B' }}&gt;三个关键字决定合同有多严&lt;/Text&gt;&#10;        &lt;/Box&gt;&#10;    &lt;/Box&gt;&#10;&#10;    &lt;Box style={{ height: 540, flexDirection: 'row', gap: 32 }}&gt;&#10;&#10;        &lt;Box style={{ width: 632, flexDirection: 'column', justifyContent: 'center', gap: 14 }}&gt;&#10;&#10;            &lt;Box style={{ height: 140, background: '#F4F7FA', borderRadius: 10, padding: '0 18px', flexDirection: 'row', alignItems: 'center', gap: 16 }}&gt;&#10;                &lt;Box style={{ width: 250 }}&gt;&#10;                    &lt;Text style={{ fontSize: 16, fontFamily: 'Consolas, monospace', color: '#276FBF' }}&gt;required&lt;/Text&gt;&#10;                &lt;/Box&gt;&#10;                &lt;Box style={{ flex: 1 }}&gt;&#10;                    &lt;Text style={{ fontSize: 15, color: '#546779', lineHeight: 1.65 }}&gt;哪些字段必须出现；严格模式下所定义的字段都要列为必填。&lt;/Text&gt;&#10;                &lt;/Box&gt;&#10;            &lt;/Box&gt;&#10;&#10;            &lt;Box style={{ height: 140, background: '#F4F7FA', borderRadius: 10, padding: '0 18px', flexDirection: 'row', alignItems: 'center', gap: 16 }}&gt;&#10;                &lt;Box style={{ width: 250 }}&gt;&#10;                    &lt;Text style={{ fontSize: 16, fontFamily: 'Consolas, monospace', color: '#276FBF' }}&gt;enum&lt;/Text&gt;&#10;                &lt;/Box&gt;&#10;                &lt;Box style={{ flex: 1 }}&gt;&#10;                    &lt;Text style={{ fontSize: 15, color: '#546779', lineHeight: 1.65 }}&gt;限定离散值；房间 ID 只能取允许的那几个，不能自造。&lt;/Text&gt;&#10;                &lt;/Box&gt;&#10;            &lt;/Box&gt;&#10;&#10;            &lt;Box style={{ height: 140, background: '#FFF4E6', borderRadius: 10, padding: '0 18px', flexDirection: 'row', alignItems: 'center', gap: 16 }}&gt;&#10;                &lt;Box style={{ width: 250 }}&gt;&#10;                    &lt;Text style={{ fontSize: 16, fontFamily: 'Consolas, monospace', color: '#CB6B28' }}&gt;additionalProperties&lt;/Text&gt;&#10;                &lt;/Box&gt;&#10;                &lt;Box style={{ flex: 1 }}&gt;&#10;                    &lt;Text style={{ fontSize: 15, color: '#546779', lineHeight: 1.65 }}&gt;设为 false，阻止模型临时发明未约定的字段。&lt;/Text&gt;&#10;                &lt;/Box&gt;&#10;            &lt;/Box&gt;&#10;&#10;        &lt;/Box&gt;&#10;&#10;        &lt;Box style={{ width: 488, flexDirection: 'column', justifyContent: 'center', gap: 14 }}&gt;&#10;&#10;            &lt;Box style={{ height: 176, background: '#EDF4FC', borderRadius: 10, padding: '18px 20px', flexDirection: 'column', gap: 8 }}&gt;&#10;                &lt;Text style={{ fontSize: 18, fontWeight: 'bold', color: '#276FBF' }}&gt;严格结构化模式的写法&lt;/Text&gt;&#10;                &lt;Text style={{ fontSize: 15, color: '#546779', lineHeight: 1.7 }}&gt;对象要显式禁止额外字段；所定义的字段需要列为必填；需要表达可空值时，使用包含 null 的联合类型。&lt;/Text&gt;&#10;            &lt;/Box&gt;&#10;&#10;            &lt;Box style={{ height: 130, background: '#F4F7FA', borderRadius: 10, padding: '18px 20px', flexDirection: 'column', gap: 8 }}&gt;&#10;                &lt;Text style={{ fontSize: 18, fontWeight: 'bold', color: '#20344B' }}&gt;接口支持的是子集&lt;/Text&gt;&#10;                &lt;Text style={{ fontSize: 15, color: '#546779', lineHeight: 1.7 }}&gt;一般 JSON Schema 的不少特性，在这个子集里并不存在。&lt;/Text&gt;&#10;            &lt;/Box&gt;&#10;&#10;            &lt;Box style={{ height: 96, background: '#FFF4E6', borderRadius: 10, padding: '16px 20px', flexDirection: 'row', gap: 14, alignItems: 'center' }}&gt;&#10;                &lt;Box style={{ width: 4, height: 56, background: '#CB6B28' }} /&gt;&#10;                &lt;Text style={{ fontSize: 15, color: '#546779', lineHeight: 1.6 }}&gt;不要把一般 JSON Schema 的全部特性，都假定为接口支持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10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设计适合程序使用的合同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三个关键字决定合同有多严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1581150"/>
            <a:ext cx="60198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81050" y="215265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Consolas"/>
                <a:ea typeface="Consolas"/>
              </a:rPr>
              <a:t>required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314700" y="1962150"/>
            <a:ext cx="3143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哪些字段必须出现；严格模式下所定义的字段都要列为必填。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09600" y="3048000"/>
            <a:ext cx="60198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81050" y="361950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Consolas"/>
                <a:ea typeface="Consolas"/>
              </a:rPr>
              <a:t>enum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314700" y="3429000"/>
            <a:ext cx="3143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限定离散值；房间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只能取允许的那几个，不能自造。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09600" y="4514850"/>
            <a:ext cx="60198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81050" y="508635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B6B28"/>
                </a:solidFill>
                <a:latin typeface="Consolas"/>
                <a:ea typeface="Consolas"/>
              </a:rPr>
              <a:t>additionalProperties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3314700" y="5038725"/>
            <a:ext cx="31432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设为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false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，阻止模型临时发明未约定的字段。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934200" y="1666875"/>
            <a:ext cx="4648200" cy="1676400"/>
          </a:xfrm>
          <a:prstGeom prst="roundRect">
            <a:avLst>
              <a:gd name="adj" fmla="val 56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24700" y="1838325"/>
            <a:ext cx="4267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严格结构化模式的写法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124700" y="2124075"/>
            <a:ext cx="4267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对象要显式禁止额外字段；所定义的字段需要列为必填；需要表达可空值时，使用包含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null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的联合类型。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934200" y="3476625"/>
            <a:ext cx="4648200" cy="123825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124700" y="3648075"/>
            <a:ext cx="4267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接口支持的是子集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124700" y="3933825"/>
            <a:ext cx="42672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一般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JSON Schema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的不少特性，在这个子集里并不存在。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934200" y="4848225"/>
            <a:ext cx="46482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7124700" y="503872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296150" y="5172075"/>
            <a:ext cx="38957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不要把一般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JSON Schema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的全部特性，都假定为接口支持。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2" name="" descr="&lt;Slide notes={`关于空值，我想强调一个常被忽略的点：null 本身也要有业务含义。&#10;&#10;举个书里的例子。「待确认负责人」这个字段允许为空，因为业务上确实可能还没定人，空着表示「待确认」，这是一个有信息量的状态。&#10;&#10;但本章的合同里根本没有这个字段——不需要，就不加。缺开始时间更不能算正式排程：时间空着，这场活动什么时候发生都不知道，它没有意义。&#10;&#10;所以规则是这样：缺资料的时候先阻断生成，把没解决的问题写进说明，让人去补。&#10;&#10;如果确实需要一份不完整的草稿，那就为草稿另外设计一份合同，把「这里可以空」写清楚。不要让「能空」变成「随便空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4.2　设计适合程序使用的合同&lt;/Text&gt;&#10;            &lt;Text style={{ fontSize: 34, fontWeight: 'bold', color: '#20344B' }}&gt;null 也要有业务含义&lt;/Text&gt;&#10;        &lt;/Box&gt;&#10;    &lt;/Box&gt;&#10;&#10;    &lt;Box style={{ height: 540, flexDirection: 'row', gap: 32 }}&gt;&#10;&#10;        &lt;Box style={{ width: 380, flexDirection: 'column', justifyContent: 'center', gap: 16 }}&gt;&#10;            &lt;Text style={{ fontSize: 20, fontWeight: 'bold', color: '#20344B' }}&gt;空值要有含义&lt;/Text&gt;&#10;            &lt;Text style={{ fontSize: 17, color: '#276FBF', lineHeight: 1.75 }}&gt;一个字段允许为空，前提是「空」本身在业务上说得通。&lt;/Text&gt;&#10;            &lt;Box style={{ height: 1, background: '#B5C7D8' }} /&gt;&#10;            &lt;Text style={{ fontSize: 15, color: '#546779', lineHeight: 1.75 }}&gt;合同里写一个字段，是因为业务流程里真的需要它；不需要的字段，不该为了好看留在里面。&lt;/Text&gt;&#10;        &lt;/Box&gt;&#10;&#10;        &lt;Box style={{ width: 740, flexDirection: 'column', justifyContent: 'center', gap: 14 }}&gt;&#10;&#10;            &lt;Box style={{ height: 118, background: '#EDF4FC', borderRadius: 10, padding: '0 20px', flexDirection: 'row', alignItems: 'center', gap: 18 }}&gt;&#10;                &lt;Box style={{ width: 4, height: 64, background: '#276FBF' }} /&gt;&#10;                &lt;Box style={{ width: 240 }}&gt;&#10;                    &lt;Text style={{ fontSize: 17, fontWeight: 'bold', color: '#20344B' }}&gt;「待确认负责人」可以为空&lt;/Text&gt;&#10;                &lt;/Box&gt;&#10;                &lt;Box style={{ flex: 1 }}&gt;&#10;                    &lt;Text style={{ fontSize: 15, color: '#546779', lineHeight: 1.65 }}&gt;业务上确实可能还没定人，空着本身就是一种状态。&lt;/Text&gt;&#10;                &lt;/Box&gt;&#10;            &lt;/Box&gt;&#10;&#10;            &lt;Box style={{ height: 118, background: '#FFF4E6', borderRadius: 10, padding: '0 20px', flexDirection: 'row', alignItems: 'center', gap: 18 }}&gt;&#10;                &lt;Box style={{ width: 4, height: 64, background: '#CB6B28' }} /&gt;&#10;                &lt;Box style={{ width: 240 }}&gt;&#10;                    &lt;Text style={{ fontSize: 17, fontWeight: 'bold', color: '#CB6B28' }}&gt;缺开始时间不算正式排程&lt;/Text&gt;&#10;                &lt;/Box&gt;&#10;                &lt;Box style={{ flex: 1 }}&gt;&#10;                    &lt;Text style={{ fontSize: 15, color: '#546779', lineHeight: 1.65 }}&gt;时间空着就不知道这场活动何时发生，这条记录没有意义。&lt;/Text&gt;&#10;                &lt;/Box&gt;&#10;            &lt;/Box&gt;&#10;&#10;            &lt;Box style={{ height: 118, background: '#F4F7FA', borderRadius: 10, padding: '0 20px', flexDirection: 'row', alignItems: 'center', gap: 18 }}&gt;&#10;                &lt;Box style={{ width: 4, height: 64, background: '#276FBF' }} /&gt;&#10;                &lt;Box style={{ width: 240 }}&gt;&#10;                    &lt;Text style={{ fontSize: 17, fontWeight: 'bold', color: '#20344B' }}&gt;缺资料先阻断生成&lt;/Text&gt;&#10;                &lt;/Box&gt;&#10;                &lt;Box style={{ flex: 1 }}&gt;&#10;                    &lt;Text style={{ fontSize: 15, color: '#546779', lineHeight: 1.65 }}&gt;未解决项写入说明；需要不完整草稿时，另设一份合同。&lt;/Text&gt;&#10;                &lt;/Box&gt;&#10;            &lt;/Box&gt;&#10;&#10;            &lt;Box style={{ height: 106, background: '#FFF4E6', borderRadius: 10, padding: '16px 22px', flexDirection: 'row', gap: 16, alignItems: 'center' }}&gt;&#10;                &lt;Box style={{ width: 4, height: 60, background: '#CB6B28' }} /&gt;&#10;                &lt;Box style={{ flex: 1, flexDirection: 'column', gap: 6 }}&gt;&#10;                    &lt;Text style={{ fontSize: 18, fontWeight: 'bold', color: '#CB6B28' }}&gt;不要把「能空」变成「随便空」&lt;/Text&gt;&#10;                    &lt;Text style={{ fontSize: 15, color: '#546779', lineHeight: 1.6 }}&gt;本章的合同里并没有「待确认负责人」这个字段——不需要的字段就不加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11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81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设计适合程序使用的合同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813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null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也要有业务含义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2724150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空值要有含义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3105150"/>
            <a:ext cx="36195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一个字段允许为空，前提是「空」本身在业务上说得通。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09600" y="3943350"/>
            <a:ext cx="36195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4105275"/>
            <a:ext cx="36195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合同里写一个字段，是因为业务流程里真的需要它；不需要的字段，不该为了好看留在里面。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4533900" y="1323975"/>
            <a:ext cx="7048500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4724400" y="158115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933950" y="1790700"/>
            <a:ext cx="228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「待确认负责人」可以为空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391400" y="1743075"/>
            <a:ext cx="40005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业务上确实可能还没定人，空着本身就是一种状态。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4533900" y="2581275"/>
            <a:ext cx="704850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4724400" y="2838450"/>
            <a:ext cx="38100" cy="6096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933950" y="3048000"/>
            <a:ext cx="228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缺开始时间不算正式排程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391400" y="3000375"/>
            <a:ext cx="40005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时间空着就不知道这场活动何时发生，这条记录没有意义。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4533900" y="3838575"/>
            <a:ext cx="7048500" cy="1123950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4724400" y="409575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933950" y="4305300"/>
            <a:ext cx="228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缺资料先阻断生成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391400" y="4257675"/>
            <a:ext cx="40005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未解决项写入说明；需要不完整草稿时，另设一份合同。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4533900" y="5095875"/>
            <a:ext cx="7048500" cy="1009650"/>
          </a:xfrm>
          <a:prstGeom prst="roundRect">
            <a:avLst>
              <a:gd name="adj" fmla="val 943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4743450" y="531495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933950" y="5334000"/>
            <a:ext cx="6438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不要把「能空」变成「随便空」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933950" y="5600700"/>
            <a:ext cx="6438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本章的合同里并没有「待确认负责人」这个字段——不需要的字段就不加。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23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9" name="" descr="&lt;Slide notes={`时间字段是合同里最容易偷懒的地方。&#10;&#10;首先，时间必须带完整日期和时区偏移。写成 2026-10-17T10:00:00+08:00，这一串里包含日期、时刻，以及它属于东八区。程序拿到它，换算到任何时区都不会错。&#10;&#10;其次要提醒的是：字符串类型检查不能替代业务解析。Schema 说这个字段是 string，它只说明这是一段文字，不说明这段文字是个合法时间。&#10;&#10;所以还要再做四项检查：活动的日期对不对，时区对不对，开始时间是不是早于结束时间，持续时长是不是准确。&#10;&#10;这四条都不能靠「类型对了」推出来。类型检查只是入口，业务解析才是真正的核对。少了后者，一个格式漂亮但时间颠倒的记录，照样能一路通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4.2　设计适合程序使用的合同&lt;/Text&gt;&#10;            &lt;Text style={{ fontSize: 34, fontWeight: 'bold', color: '#20344B' }}&gt;时间不能只做字符串检查&lt;/Text&gt;&#10;        &lt;/Box&gt;&#10;    &lt;/Box&gt;&#10;&#10;    &lt;Box style={{ height: 540, flexDirection: 'column', justifyContent: 'center', gap: 14 }}&gt;&#10;&#10;        &lt;Box style={{ height: 108, background: '#EDF4FC', borderRadius: 10, padding: '0 20px', flexDirection: 'row', alignItems: 'center', gap: 18 }}&gt;&#10;            &lt;Box style={{ width: 4, height: 60, background: '#276FBF' }} /&gt;&#10;            &lt;Box style={{ width: 300 }}&gt;&#10;                &lt;Text style={{ fontSize: 17, fontWeight: 'bold', color: '#20344B' }}&gt;必须含完整日期与时区偏移&lt;/Text&gt;&#10;            &lt;/Box&gt;&#10;            &lt;Box style={{ flex: 1, flexDirection: 'row', alignItems: 'center', gap: 14 }}&gt;&#10;                &lt;Text style={{ fontSize: 15, color: '#546779' }}&gt;只写「十点」，程序不知道是哪一天、哪个时区。&lt;/Text&gt;&#10;                &lt;Box style={{ width: 300, height: 40, background: '#FFFFFF', borderRadius: 6, justifyContent: 'center', padding: '0 14px' }}&gt;&#10;                    &lt;Text style={{ fontSize: 14, fontFamily: 'Consolas, monospace', color: '#276FBF' }}&gt;&quot;2026-10-17T10:00:00+08:00&quot;&lt;/Text&gt;&#10;                &lt;/Box&gt;&#10;            &lt;/Box&gt;&#10;        &lt;/Box&gt;&#10;&#10;        &lt;Box style={{ height: 108, background: '#F4F7FA', borderRadius: 10, padding: '0 20px', flexDirection: 'row', alignItems: 'center', gap: 18 }}&gt;&#10;            &lt;Box style={{ width: 4, height: 60, background: '#CB6B28' }} /&gt;&#10;            &lt;Box style={{ width: 300 }}&gt;&#10;                &lt;Text style={{ fontSize: 17, fontWeight: 'bold', color: '#CB6B28' }}&gt;类型检查不能替代业务解析&lt;/Text&gt;&#10;            &lt;/Box&gt;&#10;            &lt;Box style={{ flex: 1 }}&gt;&#10;                &lt;Text style={{ fontSize: 15, color: '#546779', lineHeight: 1.65 }}&gt;Schema 说这个字段是 string，只说明它是一段文字，不说明它是合法时间。&lt;/Text&gt;&#10;            &lt;/Box&gt;&#10;        &lt;/Box&gt;&#10;&#10;        &lt;Box style={{ height: 108, background: '#ECF7F2', borderRadius: 10, padding: '0 20px', flexDirection: 'row', alignItems: 'center', gap: 18 }}&gt;&#10;            &lt;Box style={{ width: 4, height: 60, background: '#26816B' }} /&gt;&#10;            &lt;Box style={{ width: 300 }}&gt;&#10;                &lt;Text style={{ fontSize: 17, fontWeight: 'bold', color: '#20344B' }}&gt;还要逐项解析这四件事&lt;/Text&gt;&#10;            &lt;/Box&gt;&#10;            &lt;Box style={{ flex: 1 }}&gt;&#10;                &lt;Text style={{ fontSize: 15, color: '#546779', lineHeight: 1.65 }}&gt;活动日期、时区、开始早于结束、准确时长。&lt;/Text&gt;&#10;            &lt;/Box&gt;&#10;        &lt;/Box&gt;&#10;&#10;        &lt;Box style={{ height: 120, background: '#FFF4E6', borderRadius: 10, padding: '18px 22px', flexDirection: 'row', gap: 16, alignItems: 'center' }}&gt;&#10;            &lt;Box style={{ width: 4, height: 72, background: '#CB6B28' }} /&gt;&#10;            &lt;Box style={{ flex: 1, flexDirection: 'column', gap: 6 }}&gt;&#10;                &lt;Text style={{ fontSize: 19, fontWeight: 'bold', color: '#CB6B28' }}&gt;类型对了，不代表时间可用&lt;/Text&gt;&#10;                &lt;Text style={{ fontSize: 16, color: '#546779', lineHeight: 1.65 }}&gt;格式漂亮但开始晚于结束的记录，仍要靠业务解析才能拦住；只做类型检查会把它放过去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12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设计适合程序使用的合同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时间不能只做字符串检查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09600" y="1400175"/>
            <a:ext cx="10972800" cy="1028700"/>
          </a:xfrm>
          <a:prstGeom prst="roundRect">
            <a:avLst>
              <a:gd name="adj" fmla="val 925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800100" y="162877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009650" y="1819275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必须含完整日期与时区偏移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038600" y="182880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只写「十点」，程序不知道是哪一天、哪个时区。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7315200" y="1724025"/>
            <a:ext cx="28575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448550" y="183832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Consolas"/>
                <a:ea typeface="Consolas"/>
              </a:rPr>
              <a:t>"2026-10-17T10:00:00+08:00"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09600" y="2562225"/>
            <a:ext cx="109728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800100" y="2790825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009650" y="2981325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类型检查不能替代业务解析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038600" y="2933700"/>
            <a:ext cx="73533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Schema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说这个字段是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string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，只说明它是一段文字，不说明它是合法时间。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09600" y="3724275"/>
            <a:ext cx="10972800" cy="1028700"/>
          </a:xfrm>
          <a:prstGeom prst="roundRect">
            <a:avLst>
              <a:gd name="adj" fmla="val 925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800100" y="3952875"/>
            <a:ext cx="38100" cy="571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009650" y="4143375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还要逐项解析这四件事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038600" y="4095750"/>
            <a:ext cx="73533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活动日期、时区、开始早于结束、准确时长。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4886325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819150" y="5114925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09650" y="5172075"/>
            <a:ext cx="10363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类型对了，不代表时间可用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009650" y="5448300"/>
            <a:ext cx="103632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格式漂亮但开始晚于结束的记录，仍要靠业务解析才能拦住；只做类型检查会把它放过去。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23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4" name="" descr="&lt;Slide notes={`第三个问题是把合同放进请求。&#10;&#10;OpenAI 的 Responses 接口里，控制输出格式的参数放在 text 下面的 format 里。type 指定 json_schema，name 给这份合同起个名字，strict 决定要不要严格按合同生成，schema 就是合同本身。&#10;&#10;这四个参数各有分工：type 回答用哪种格式，name 是这次请求里这份合同的标识，strict 决定约束有多硬，schema 是具体规则。&#10;&#10;把这四件事分开讲，是因为很多同学在这里出问题——不是合同写错了，而是参数放错了位置。位置对了，模型才会真的按合同生成候选。`} style={{ width: 1280, height: 720, background: '#FFFFFF', flexDirection: 'column', padding: '20px 64px' }}&gt;&#10;&#10;    &lt;Box style={{ height: 300, flexDirection: 'column', justifyContent: 'center', gap: 14 }}&gt;&#10;        &lt;Box style={{ flexDirection: 'row', alignItems: 'center', gap: 12 }}&gt;&#10;            &lt;Box style={{ width: 44, height: 44, background: '#276FBF', borderRadius: 10, justifyContent: 'center', alignItems: 'center' }}&gt;&#10;                &lt;Text style={{ fontSize: 22, fontWeight: 'bold', color: '#FFFFFF' }}&gt;③&lt;/Text&gt;&#10;            &lt;/Box&gt;&#10;            &lt;Text style={{ fontSize: 15, color: '#546779' }}&gt;2.4.3　OpenAI API：使用 Responses 的 text.format&lt;/Text&gt;&#10;        &lt;/Box&gt;&#10;        &lt;Text style={{ fontSize: 56, fontWeight: 'bold', color: '#20344B', lineHeight: 1.15 }}&gt;把合同放进请求&lt;/Text&gt;&#10;        &lt;Text style={{ fontSize: 17, color: '#546779' }}&gt;四个参数各有分工，位置放对了，约束才会真的生效。&lt;/Text&gt;&#10;    &lt;/Box&gt;&#10;&#10;    &lt;Box style={{ height: 340, background: '#EDF4FC', borderRadius: 14, padding: 24, justifyContent: 'center' }}&gt;&#10;        &lt;Box style={{ flexDirection: 'row', gap: 20 }}&gt;&#10;            &lt;Box style={{ width: 261, height: 238, background: '#FFFFFF', borderRadius: 10, padding: 18, flexDirection: 'column', gap: 10 }}&gt;&#10;                &lt;Text style={{ fontSize: 18, fontFamily: 'Consolas, monospace', fontWeight: 'bold', color: '#276FBF' }}&gt;type&lt;/Text&gt;&#10;                &lt;Text style={{ fontSize: 15, color: '#546779', lineHeight: 1.65 }}&gt;用哪种格式：这里取 json_schema。&lt;/Text&gt;&#10;                &lt;Box style={{ flex: 1 }} /&gt;&#10;                &lt;Text style={{ fontSize: 14, fontFamily: 'Consolas, monospace', color: '#20344B' }}&gt;&quot;json_schema&quot;&lt;/Text&gt;&#10;            &lt;/Box&gt;&#10;            &lt;Box style={{ width: 261, height: 238, background: '#FFFFFF', borderRadius: 10, padding: 18, flexDirection: 'column', gap: 10 }}&gt;&#10;                &lt;Text style={{ fontSize: 18, fontFamily: 'Consolas, monospace', fontWeight: 'bold', color: '#276FBF' }}&gt;name&lt;/Text&gt;&#10;                &lt;Text style={{ fontSize: 15, color: '#546779', lineHeight: 1.65 }}&gt;这份合同在本次请求里的标识。&lt;/Text&gt;&#10;                &lt;Box style={{ flex: 1 }} /&gt;&#10;                &lt;Text style={{ fontSize: 14, fontFamily: 'Consolas, monospace', color: '#20344B' }}&gt;&quot;open_day_schedule&quot;&lt;/Text&gt;&#10;            &lt;/Box&gt;&#10;            &lt;Box style={{ width: 261, height: 238, background: '#FFFFFF', borderRadius: 10, padding: 18, flexDirection: 'column', gap: 10 }}&gt;&#10;                &lt;Text style={{ fontSize: 18, fontFamily: 'Consolas, monospace', fontWeight: 'bold', color: '#276FBF' }}&gt;strict&lt;/Text&gt;&#10;                &lt;Text style={{ fontSize: 15, color: '#546779', lineHeight: 1.65 }}&gt;是否严格按合同生成结果。&lt;/Text&gt;&#10;                &lt;Box style={{ flex: 1 }} /&gt;&#10;                &lt;Text style={{ fontSize: 14, fontFamily: 'Consolas, monospace', color: '#20344B' }}&gt;True&lt;/Text&gt;&#10;            &lt;/Box&gt;&#10;            &lt;Box style={{ width: 261, height: 238, background: '#FFFFFF', borderRadius: 10, padding: 18, flexDirection: 'column', gap: 10 }}&gt;&#10;                &lt;Text style={{ fontSize: 18, fontFamily: 'Consolas, monospace', fontWeight: 'bold', color: '#276FBF' }}&gt;schema&lt;/Text&gt;&#10;                &lt;Text style={{ fontSize: 15, color: '#546779', lineHeight: 1.65 }}&gt;合同本身，由脚本从文件读入。&lt;/Text&gt;&#10;                &lt;Box style={{ flex: 1 }} /&gt;&#10;                &lt;Text style={{ fontSize: 14, fontFamily: 'Consolas, monospace', color: '#20344B' }}&gt;schema&lt;/Text&gt;&#10;            &lt;/Box&gt;&#10;        &lt;/Box&gt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13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609600" y="80962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14375" y="8953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43000" y="933450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2.4.3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OpenAI API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：使用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Responses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text.format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把合同放进请求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22383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四个参数各有分工，位置放对了，约束才会真的生效。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09600" y="3048000"/>
            <a:ext cx="10972800" cy="3238500"/>
          </a:xfrm>
          <a:prstGeom prst="roundRect">
            <a:avLst>
              <a:gd name="adj" fmla="val 411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838200" y="3533775"/>
            <a:ext cx="2486025" cy="226695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009650" y="3705225"/>
            <a:ext cx="2143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Consolas"/>
                <a:ea typeface="Consolas"/>
              </a:rPr>
              <a:t>type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009650" y="4010025"/>
            <a:ext cx="21431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用哪种格式：这里取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json_schema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009650" y="5467350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>"json_schema"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3514725" y="3533775"/>
            <a:ext cx="2486025" cy="226695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3686175" y="3705225"/>
            <a:ext cx="2143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Consolas"/>
                <a:ea typeface="Consolas"/>
              </a:rPr>
              <a:t>name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686175" y="4010025"/>
            <a:ext cx="21431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这份合同在本次请求里的标识。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686175" y="5467350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>"open_day_schedule"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191250" y="3533775"/>
            <a:ext cx="2486025" cy="226695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362700" y="3705225"/>
            <a:ext cx="2143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Consolas"/>
                <a:ea typeface="Consolas"/>
              </a:rPr>
              <a:t>strict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362700" y="4010025"/>
            <a:ext cx="21431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是否严格按合同生成结果。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362700" y="5467350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>True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8867775" y="3533775"/>
            <a:ext cx="2486025" cy="2266950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9039225" y="3705225"/>
            <a:ext cx="2143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Consolas"/>
                <a:ea typeface="Consolas"/>
              </a:rPr>
              <a:t>schema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9039225" y="4010025"/>
            <a:ext cx="21431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合同本身，由脚本从文件读入。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039225" y="5467350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>schema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23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40" name="" descr="&lt;Slide notes={`合同放进请求是这样写的。&#10;&#10;用的是 responses.create，model 由环境变量 OPENAI_MODEL 指定。instructions 约束行为：只依据材料安排活动，严格保留人数、时长和房间限制；input 放材料。&#10;&#10;关键是 text 这一段：type 是 json_schema，name 起名 open_day_schedule，strict 为 True，schema 就是从文件读入的合同。&#10;&#10;这是 structured_schedule.py 请求结构的简化摘示，materials 与 schema 由脚本从文件读取。所选模型必须实际支持该功能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4.3　使用 Responses 的 text.format&lt;/Text&gt;&#10;            &lt;Text style={{ fontSize: 34, fontWeight: 'bold', color: '#20344B' }}&gt;把合同放进请求&lt;/Text&gt;&#10;        &lt;/Box&gt;&#10;    &lt;/Box&gt;&#10;&#10;    &lt;Box style={{ height: 540, flexDirection: 'column', justifyContent: 'center', gap: 16 }}&gt;&#10;&#10;        &lt;Box style={{ height: 300, background: '#F4F7FA', borderRadius: 12, padding: '22px 26px', flexDirection: 'column', justifyContent: 'center' }}&gt;&#10;            &lt;Text style={{ fontSize: 15, fontFamily: 'Consolas, monospace', color: '#20344B', lineHeight: 1.9 }}&gt;{'response = client.responses.create('}&lt;/Text&gt;&#10;            &lt;Text style={{ fontSize: 15, fontFamily: 'Consolas, monospace', color: '#20344B', lineHeight: 1.9 }}&gt;{'    model=os.environ[&quot;OPENAI_MODEL&quot;],'}&lt;/Text&gt;&#10;            &lt;Text style={{ fontSize: 15, fontFamily: 'Consolas, monospace', color: '#276FBF', lineHeight: 1.9 }}&gt;{'    instructions=&quot;只依据提供材料安排活动，严格保留人数、时长和房间限制。&quot;,'}&lt;/Text&gt;&#10;            &lt;Text style={{ fontSize: 15, fontFamily: 'Consolas, monospace', color: '#20344B', lineHeight: 1.9 }}&gt;{'    input=materials,'}&lt;/Text&gt;&#10;            &lt;Text style={{ fontSize: 15, fontFamily: 'Consolas, monospace', color: '#CB6B28', lineHeight: 1.9 }}&gt;{'    text={&quot;format&quot;: {&quot;type&quot;: &quot;json_schema&quot;,'}&lt;/Text&gt;&#10;            &lt;Text style={{ fontSize: 15, fontFamily: 'Consolas, monospace', color: '#CB6B28', lineHeight: 1.9 }}&gt;{'                     &quot;name&quot;: &quot;open_day_schedule&quot;,'}&lt;/Text&gt;&#10;            &lt;Text style={{ fontSize: 15, fontFamily: 'Consolas, monospace', color: '#CB6B28', lineHeight: 1.9 }}&gt;{'                     &quot;strict&quot;: True, &quot;schema&quot;: schema}},'}&lt;/Text&gt;&#10;            &lt;Text style={{ fontSize: 15, fontFamily: 'Consolas, monospace', color: '#20344B', lineHeight: 1.9 }}&gt;{')'}&lt;/Text&gt;&#10;        &lt;/Box&gt;&#10;&#10;        &lt;Box style={{ height: 130, flexDirection: 'row', gap: 32 }}&gt;&#10;            &lt;Box style={{ width: 560, height: 130, background: '#EDF4FC', borderRadius: 10, padding: '16px 20px', flexDirection: 'column', gap: 6 }}&gt;&#10;                &lt;Text style={{ fontSize: 17, fontWeight: 'bold', color: '#276FBF' }}&gt;参数各管一段&lt;/Text&gt;&#10;                &lt;Text style={{ fontSize: 15, color: '#546779', lineHeight: 1.6 }}&gt;instructions 约束依据与保留项，input 放教学材料，text.format 放合同。&lt;/Text&gt;&#10;            &lt;/Box&gt;&#10;            &lt;Box style={{ width: 560, height: 130, background: '#FFF4E6', borderRadius: 10, padding: '16px 20px', flexDirection: 'column', gap: 6 }}&gt;&#10;                &lt;Text style={{ fontSize: 17, fontWeight: 'bold', color: '#CB6B28' }}&gt;这是简化摘示&lt;/Text&gt;&#10;                &lt;Text style={{ fontSize: 15, color: '#546779', lineHeight: 1.6 }}&gt;materials 与 schema 由脚本从文件读取；模型由 OPENAI_MODEL 指定，且需实际支持该功能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14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333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使用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Responses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text.format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3336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把合同放进请求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09600" y="1590675"/>
            <a:ext cx="10972800" cy="28575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57250" y="1685925"/>
            <a:ext cx="104775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response = client.responses.create(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57250" y="2019300"/>
            <a:ext cx="104775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 xml:space="preserve">    model=os.environ["OPENAI_MODEL"],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57250" y="2352675"/>
            <a:ext cx="104775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76FBF"/>
                </a:solidFill>
                <a:latin typeface="Consolas"/>
                <a:ea typeface="Consolas"/>
              </a:rPr>
              <a:t xml:space="preserve">    instructions="</a:t>
            </a:r>
            <a:r>
              <a:rPr lang="zh-CN" sz="1125">
                <a:solidFill>
                  <a:srgbClr val="276FBF"/>
                </a:solidFill>
                <a:latin typeface="Consolas"/>
                <a:ea typeface="Consolas"/>
              </a:rPr>
              <a:t>只依据提供材料安排活动，严格保留人数、时长和房间限制。</a:t>
            </a:r>
            <a:r>
              <a:rPr lang="en-US" sz="1125">
                <a:solidFill>
                  <a:srgbClr val="276FBF"/>
                </a:solidFill>
                <a:latin typeface="Consolas"/>
                <a:ea typeface="Consolas"/>
              </a:rPr>
              <a:t>",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57250" y="2686050"/>
            <a:ext cx="104775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 xml:space="preserve">    input=materials,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57250" y="3019425"/>
            <a:ext cx="104775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CB6B28"/>
                </a:solidFill>
                <a:latin typeface="Consolas"/>
                <a:ea typeface="Consolas"/>
              </a:rPr>
              <a:t xml:space="preserve">    text={"format": {"type": "json_schema",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57250" y="3352800"/>
            <a:ext cx="104775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CB6B28"/>
                </a:solidFill>
                <a:latin typeface="Consolas"/>
                <a:ea typeface="Consolas"/>
              </a:rPr>
              <a:t xml:space="preserve">                     "name": "open_day_schedule",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57250" y="3686175"/>
            <a:ext cx="104775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CB6B28"/>
                </a:solidFill>
                <a:latin typeface="Consolas"/>
                <a:ea typeface="Consolas"/>
              </a:rPr>
              <a:t xml:space="preserve">                     "strict": True, "schema": schema}},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57250" y="4019550"/>
            <a:ext cx="104775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0344B"/>
                </a:solidFill>
                <a:latin typeface="Consolas"/>
                <a:ea typeface="Consolas"/>
              </a:rPr>
              <a:t>)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09600" y="4600575"/>
            <a:ext cx="53340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00100" y="4752975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参数各管一段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00100" y="5010150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instructions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约束依据与保留项，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input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放教学材料，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text.format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放合同。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248400" y="4600575"/>
            <a:ext cx="53340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438900" y="4752975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这是简化摘示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438900" y="5010150"/>
            <a:ext cx="4953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materials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schema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由脚本从文件读取；模型由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OPENAI_MODEL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指定，且需实际支持该功能。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23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62" name="" descr="&lt;Slide notes={`请求发回来以后，处理顺序很重要，分三步。&#10;&#10;第一步看响应状态。response.status 不等于 completed 就直接抛错，因为拿到的可能是被截断的结果。&#10;&#10;第二步看有没有拒绝。拒绝的内容会出现在 output 的 refusal 部分，要显式判断并抛错——拒绝的文字不能当作排程结果。&#10;&#10;第三步才是解析 JSON，用 json.loads 把 output_text 变成结构化数据。&#10;&#10;还有一条纪律：中断时不要自己补括号、补引号硬凑成合法 JSON，那不是模型的输出。&#10;&#10;完整实现还应该保留 incomplete_details 和请求信息，用来区分预算不足、内容受限还是别的异常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4.3　使用 Responses 的 text.format&lt;/Text&gt;&#10;            &lt;Text style={{ fontSize: 34, fontWeight: 'bold', color: '#20344B' }}&gt;先看状态与拒绝，再解析&lt;/Text&gt;&#10;        &lt;/Box&gt;&#10;    &lt;/Box&gt;&#10;&#10;    &lt;Box style={{ height: 540, flexDirection: 'row', gap: 32 }}&gt;&#10;&#10;        &lt;Box style={{ width: 500, flexDirection: 'column', justifyContent: 'center', gap: 14 }}&gt;&#10;&#10;            &lt;Text style={{ fontSize: 20, fontWeight: 'bold', color: '#20344B' }}&gt;三步，顺序不能反&lt;/Text&gt;&#10;&#10;            &lt;Box style={{ height: 118, background: '#EDF4FC', borderRadius: 10, padding: '0 18px', flexDirection: 'row', alignItems: 'center', gap: 16 }}&gt;&#10;                &lt;Box style={{ width: 40, height: 40, background: '#276FBF', borderRadius: 20, justifyContent: 'center', alignItems: 'center' }}&gt;&#10;                    &lt;Text style={{ fontSize: 18, fontWeight: 'bold', color: '#FFFFFF' }}&gt;1&lt;/Text&gt;&#10;                &lt;/Box&gt;&#10;                &lt;Box style={{ flex: 1, flexDirection: 'column', gap: 4 }}&gt;&#10;                    &lt;Text style={{ fontSize: 17, fontWeight: 'bold', color: '#20344B' }}&gt;先看响应状态&lt;/Text&gt;&#10;                    &lt;Text style={{ fontSize: 14, color: '#546779', lineHeight: 1.6 }}&gt;status 不是 completed，就不要往下走。&lt;/Text&gt;&#10;                &lt;/Box&gt;&#10;            &lt;/Box&gt;&#10;&#10;            &lt;Box style={{ height: 118, background: '#FFF4E6', borderRadius: 10, padding: '0 18px', flexDirection: 'row', alignItems: 'center', gap: 16 }}&gt;&#10;                &lt;Box style={{ width: 40, height: 40, background: '#CB6B28', borderRadius: 20, justifyContent: 'center', alignItems: 'center' }}&gt;&#10;                    &lt;Text style={{ fontSize: 18, fontWeight: 'bold', color: '#FFFFFF' }}&gt;2&lt;/Text&gt;&#10;                &lt;/Box&gt;&#10;                &lt;Box style={{ flex: 1, flexDirection: 'column', gap: 4 }}&gt;&#10;                    &lt;Text style={{ fontSize: 17, fontWeight: 'bold', color: '#CB6B28' }}&gt;再看有没有拒绝&lt;/Text&gt;&#10;                    &lt;Text style={{ fontSize: 14, color: '#546779', lineHeight: 1.6 }}&gt;拒绝文字不能充当排程，要显式抛错。&lt;/Text&gt;&#10;                &lt;/Box&gt;&#10;            &lt;/Box&gt;&#10;&#10;            &lt;Box style={{ height: 118, background: '#F4F7FA', borderRadius: 10, padding: '0 18px', flexDirection: 'row', alignItems: 'center', gap: 16 }}&gt;&#10;                &lt;Box style={{ width: 40, height: 40, background: '#276FBF', borderRadius: 20, justifyContent: 'center', alignItems: 'center' }}&gt;&#10;                    &lt;Text style={{ fontSize: 18, fontWeight: 'bold', color: '#FFFFFF' }}&gt;3&lt;/Text&gt;&#10;                &lt;/Box&gt;&#10;                &lt;Box style={{ flex: 1, flexDirection: 'column', gap: 4 }}&gt;&#10;                    &lt;Text style={{ fontSize: 17, fontWeight: 'bold', color: '#20344B' }}&gt;最后解析 JSON&lt;/Text&gt;&#10;                    &lt;Text style={{ fontSize: 14, color: '#546779', lineHeight: 1.6 }}&gt;用 output_text 解析，不自行补括号凑合法。&lt;/Text&gt;&#10;                &lt;/Box&gt;&#10;            &lt;/Box&gt;&#10;&#10;        &lt;/Box&gt;&#10;&#10;        &lt;Box style={{ width: 620, flexDirection: 'column', justifyContent: 'center', gap: 14 }}&gt;&#10;&#10;            &lt;Box style={{ height: 280, background: '#F4F7FA', borderRadius: 12, padding: '20px 22px', flexDirection: 'column', justifyContent: 'center' }}&gt;&#10;                &lt;Text style={{ fontSize: 14, fontFamily: 'Consolas, monospace', color: '#20344B', lineHeight: 1.85 }}&gt;{'if response.status != &quot;completed&quot;:'}&lt;/Text&gt;&#10;                &lt;Text style={{ fontSize: 14, fontFamily: 'Consolas, monospace', color: '#CB6B28', lineHeight: 1.85 }}&gt;{'    raise RuntimeError(f&quot;响应未完成：{response.status}&quot;)'}&lt;/Text&gt;&#10;                &lt;Text style={{ fontSize: 14, fontFamily: 'Consolas, monospace', color: '#20344B', lineHeight: 1.85 }}&gt;{'for item in response.output:'}&lt;/Text&gt;&#10;                &lt;Text style={{ fontSize: 14, fontFamily: 'Consolas, monospace', color: '#20344B', lineHeight: 1.85 }}&gt;{'    if item.type == &quot;message&quot;:'}&lt;/Text&gt;&#10;                &lt;Text style={{ fontSize: 14, fontFamily: 'Consolas, monospace', color: '#20344B', lineHeight: 1.85 }}&gt;{'        for part in item.content:'}&lt;/Text&gt;&#10;                &lt;Text style={{ fontSize: 14, fontFamily: 'Consolas, monospace', color: '#20344B', lineHeight: 1.85 }}&gt;{'            if part.type == &quot;refusal&quot;:'}&lt;/Text&gt;&#10;                &lt;Text style={{ fontSize: 14, fontFamily: 'Consolas, monospace', color: '#CB6B28', lineHeight: 1.85 }}&gt;{'                raise RuntimeError(&quot;模型返回拒绝，未生成候选方案&quot;)'}&lt;/Text&gt;&#10;                &lt;Text style={{ fontSize: 14, fontFamily: 'Consolas, monospace', color: '#276FBF', lineHeight: 1.85 }}&gt;{'schedule = json.loads(response.output_text)'}&lt;/Text&gt;&#10;            &lt;/Box&gt;&#10;&#10;            &lt;Box style={{ height: 120, background: '#EDF4FC', borderRadius: 10, padding: '16px 20px', flexDirection: 'row', gap: 14, alignItems: 'center' }}&gt;&#10;                &lt;Box style={{ width: 4, height: 68, background: '#276FBF' }} /&gt;&#10;                &lt;Box style={{ flex: 1, flexDirection: 'column', gap: 6 }}&gt;&#10;                    &lt;Text style={{ fontSize: 17, fontWeight: 'bold', color: '#276FBF' }}&gt;完整实现还要留证据&lt;/Text&gt;&#10;                    &lt;Text style={{ fontSize: 14, color: '#546779', lineHeight: 1.6 }}&gt;保留可获得的 incomplete_details 与请求信息，用于区分输出预算不足、内容限制和其他异常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15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使用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Responses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text.format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先看状态与拒绝，再解析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09600" y="1714500"/>
            <a:ext cx="476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三步，顺序不能反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09600" y="2076450"/>
            <a:ext cx="4762500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781050" y="24479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14400" y="25336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314450" y="23907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先看响应状态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314450" y="2628900"/>
            <a:ext cx="3886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status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不是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completed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，就不要往下走。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09600" y="3333750"/>
            <a:ext cx="476250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781050" y="37052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14400" y="37909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314450" y="36480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再看有没有拒绝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314450" y="3886200"/>
            <a:ext cx="3886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拒绝文字不能充当排程，要显式抛错。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09600" y="4591050"/>
            <a:ext cx="4762500" cy="1123950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781050" y="49625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914400" y="50482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314450" y="49053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最后解析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JSON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314450" y="5143500"/>
            <a:ext cx="38862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output_text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解析，不自行补括号凑合法。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5676900" y="1743075"/>
            <a:ext cx="5905500" cy="2667000"/>
          </a:xfrm>
          <a:prstGeom prst="roundRect">
            <a:avLst>
              <a:gd name="adj" fmla="val 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5886450" y="1857375"/>
            <a:ext cx="5486400" cy="3048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>if response.status != "completed":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886450" y="2162175"/>
            <a:ext cx="5486400" cy="3048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CB6B28"/>
                </a:solidFill>
                <a:latin typeface="Consolas"/>
                <a:ea typeface="Consolas"/>
              </a:rPr>
              <a:t xml:space="preserve">    raise RuntimeError(f"</a:t>
            </a:r>
            <a:r>
              <a:rPr lang="zh-CN" sz="1050">
                <a:solidFill>
                  <a:srgbClr val="CB6B28"/>
                </a:solidFill>
                <a:latin typeface="Consolas"/>
                <a:ea typeface="Consolas"/>
              </a:rPr>
              <a:t>响应未完成：</a:t>
            </a:r>
            <a:r>
              <a:rPr lang="en-US" sz="1050">
                <a:solidFill>
                  <a:srgbClr val="CB6B28"/>
                </a:solidFill>
                <a:latin typeface="Consolas"/>
                <a:ea typeface="Consolas"/>
              </a:rPr>
              <a:t>{response.status}")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886450" y="2466975"/>
            <a:ext cx="5486400" cy="3048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>for item in response.output: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886450" y="2771775"/>
            <a:ext cx="5486400" cy="3048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 xml:space="preserve">    if item.type == "message":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886450" y="3076575"/>
            <a:ext cx="5486400" cy="3048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 xml:space="preserve">        for part in item.content: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5886450" y="3381375"/>
            <a:ext cx="5486400" cy="3048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 xml:space="preserve">            if part.type == "refusal":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886450" y="3686175"/>
            <a:ext cx="5486400" cy="3048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CB6B28"/>
                </a:solidFill>
                <a:latin typeface="Consolas"/>
                <a:ea typeface="Consolas"/>
              </a:rPr>
              <a:t xml:space="preserve">                raise RuntimeError("</a:t>
            </a:r>
            <a:r>
              <a:rPr lang="zh-CN" sz="1050">
                <a:solidFill>
                  <a:srgbClr val="CB6B28"/>
                </a:solidFill>
                <a:latin typeface="Consolas"/>
                <a:ea typeface="Consolas"/>
              </a:rPr>
              <a:t>模型返回拒绝，未生成候选方案</a:t>
            </a:r>
            <a:r>
              <a:rPr lang="en-US" sz="1050">
                <a:solidFill>
                  <a:srgbClr val="CB6B28"/>
                </a:solidFill>
                <a:latin typeface="Consolas"/>
                <a:ea typeface="Consolas"/>
              </a:rPr>
              <a:t>")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886450" y="3990975"/>
            <a:ext cx="5486400" cy="30480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050">
                <a:solidFill>
                  <a:srgbClr val="276FBF"/>
                </a:solidFill>
                <a:latin typeface="Consolas"/>
                <a:ea typeface="Consolas"/>
              </a:rPr>
              <a:t>schedule = json.loads(response.output_text)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5676900" y="4543425"/>
            <a:ext cx="5905500" cy="11430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5867400" y="4791075"/>
            <a:ext cx="38100" cy="647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038850" y="4733925"/>
            <a:ext cx="5353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完整实现还要留证据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038850" y="4991100"/>
            <a:ext cx="53530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保留可获得的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incomplete_details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与请求信息，用于区分输出预算不足、内容限制和其他异常。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23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98" name="" descr="&lt;Slide notes={`有三个容易出错的地方，我逐个说。&#10;&#10;第一，接口位置不能搬。Responses 接口用的是 text.format，另一个接口用的是 response_format。名字像，位置和结构都不一样，直接把后者整段搬到这个请求位置，一定会失败。&#10;&#10;第二，完整实现要保留 incomplete_details 和请求信息。为什么要留？因为失败的原因不只一种：可能是输出预算不够被截断，可能是内容被限制，也可能是别的问题。留下这些字段，才能区分。&#10;&#10;第三，日志纪律。调试信息留得越全越好，但 API 密钥绝对不能写进日志。&#10;&#10;最后补一句：参数写了不等于生效，所选模型必须真的支持结构化输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4.3　使用 Responses 的 text.format&lt;/Text&gt;&#10;            &lt;Text style={{ fontSize: 34, fontWeight: 'bold', color: '#20344B' }}&gt;请求位置与日志纪律&lt;/Text&gt;&#10;        &lt;/Box&gt;&#10;    &lt;/Box&gt;&#10;&#10;    &lt;Box style={{ height: 540, flexDirection: 'row', gap: 32 }}&gt;&#10;&#10;        &lt;Box style={{ width: 380, flexDirection: 'column', justifyContent: 'center', gap: 16 }}&gt;&#10;            &lt;Text style={{ fontSize: 20, fontWeight: 'bold', color: '#20344B' }}&gt;三件事别做错&lt;/Text&gt;&#10;            &lt;Text style={{ fontSize: 17, color: '#276FBF', lineHeight: 1.75 }}&gt;参数写在正确的位置，才谈得上生效。&lt;/Text&gt;&#10;            &lt;Box style={{ height: 1, background: '#B5C7D8' }} /&gt;&#10;            &lt;Text style={{ fontSize: 15, color: '#546779', lineHeight: 1.8 }}&gt;位置错了，请求会被拒绝或者被忽略；细节丢了，失败时无从判断原因。&lt;/Text&gt;&#10;        &lt;/Box&gt;&#10;&#10;        &lt;Box style={{ width: 740, flexDirection: 'column', justifyContent: 'center', gap: 14 }}&gt;&#10;&#10;            &lt;Box style={{ height: 118, background: '#FFF4E6', borderRadius: 10, padding: '0 20px', flexDirection: 'row', alignItems: 'center', gap: 18 }}&gt;&#10;                &lt;Box style={{ width: 4, height: 64, background: '#CB6B28' }} /&gt;&#10;                &lt;Box style={{ width: 260 }}&gt;&#10;                    &lt;Text style={{ fontSize: 17, fontWeight: 'bold', color: '#CB6B28' }}&gt;接口位置不能搬&lt;/Text&gt;&#10;                &lt;/Box&gt;&#10;                &lt;Box style={{ flex: 1 }}&gt;&#10;                    &lt;Text style={{ fontSize: 15, color: '#546779', lineHeight: 1.65 }}&gt;Responses 用 text.format，另一种接口的 response_format 不能原样搬到这里。&lt;/Text&gt;&#10;                &lt;/Box&gt;&#10;            &lt;/Box&gt;&#10;&#10;            &lt;Box style={{ height: 118, background: '#F4F7FA', borderRadius: 10, padding: '0 20px', flexDirection: 'row', alignItems: 'center', gap: 18 }}&gt;&#10;                &lt;Box style={{ width: 4, height: 64, background: '#276FBF' }} /&gt;&#10;                &lt;Box style={{ width: 260 }}&gt;&#10;                    &lt;Text style={{ fontSize: 17, fontWeight: 'bold', color: '#20344B' }}&gt;保留失败细节&lt;/Text&gt;&#10;                &lt;/Box&gt;&#10;                &lt;Box style={{ flex: 1 }}&gt;&#10;                    &lt;Text style={{ fontSize: 15, color: '#546779', lineHeight: 1.65 }}&gt;保留 incomplete_details 与请求信息，用来区分预算不足、内容限制与其他异常。&lt;/Text&gt;&#10;                &lt;/Box&gt;&#10;            &lt;/Box&gt;&#10;&#10;            &lt;Box style={{ height: 118, background: '#EDF4FC', borderRadius: 10, padding: '0 20px', flexDirection: 'row', alignItems: 'center', gap: 18 }}&gt;&#10;                &lt;Box style={{ width: 4, height: 64, background: '#276FBF' }} /&gt;&#10;                &lt;Box style={{ width: 260 }}&gt;&#10;                    &lt;Text style={{ fontSize: 17, fontWeight: 'bold', color: '#20344B' }}&gt;密钥不进日志&lt;/Text&gt;&#10;                &lt;/Box&gt;&#10;                &lt;Box style={{ flex: 1 }}&gt;&#10;                    &lt;Text style={{ fontSize: 15, color: '#546779', lineHeight: 1.65 }}&gt;调试信息留得越全越好，API 密钥不能写进日志。&lt;/Text&gt;&#10;                &lt;/Box&gt;&#10;            &lt;/Box&gt;&#10;&#10;            &lt;Box style={{ height: 106, background: '#FFF4E6', borderRadius: 10, padding: '16px 22px', flexDirection: 'row', gap: 16, alignItems: 'center' }}&gt;&#10;                &lt;Box style={{ width: 4, height: 60, background: '#CB6B28' }} /&gt;&#10;                &lt;Box style={{ flex: 1, flexDirection: 'column', gap: 6 }}&gt;&#10;                    &lt;Text style={{ fontSize: 18, fontWeight: 'bold', color: '#CB6B28' }}&gt;参数写了不等于生效&lt;/Text&gt;&#10;                    &lt;Text style={{ fontSize: 15, color: '#546779', lineHeight: 1.6 }}&gt;所选模型需实际支持结构化输出，否则参数传进去也不会起作用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16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使用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Responses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text.format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请求位置与日志纪律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三件事别做错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09600" y="3267075"/>
            <a:ext cx="3619500" cy="3429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参数写在正确的位置，才谈得上生效。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609600" y="3762375"/>
            <a:ext cx="36195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09600" y="3924300"/>
            <a:ext cx="36195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位置错了，请求会被拒绝或者被忽略；细节丢了，失败时无从判断原因。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4533900" y="1323975"/>
            <a:ext cx="704850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4724400" y="1581150"/>
            <a:ext cx="38100" cy="6096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933950" y="1790700"/>
            <a:ext cx="247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接口位置不能搬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581900" y="1600200"/>
            <a:ext cx="38100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Responses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text.format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，另一种接口的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response_format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不能原样搬到这里。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4533900" y="2581275"/>
            <a:ext cx="7048500" cy="1123950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4724400" y="283845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4933950" y="3048000"/>
            <a:ext cx="247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保留失败细节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581900" y="2857500"/>
            <a:ext cx="38100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保留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incomplete_details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与请求信息，用来区分预算不足、内容限制与其他异常。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4533900" y="3838575"/>
            <a:ext cx="7048500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4724400" y="4095750"/>
            <a:ext cx="38100" cy="609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933950" y="4305300"/>
            <a:ext cx="247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密钥不进日志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581900" y="4257675"/>
            <a:ext cx="38100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调试信息留得越全越好，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密钥不能写进日志。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4533900" y="5095875"/>
            <a:ext cx="7048500" cy="1009650"/>
          </a:xfrm>
          <a:prstGeom prst="roundRect">
            <a:avLst>
              <a:gd name="adj" fmla="val 943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4743450" y="531495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933950" y="5334000"/>
            <a:ext cx="6438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参数写了不等于生效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933950" y="5600700"/>
            <a:ext cx="6438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所选模型需实际支持结构化输出，否则参数传进去也不会起作用。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23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25" name="" descr="&lt;Slide notes={`现在进入这一节最实的一块：业务规则由谁来裁定。&#10;&#10;答案是不能让模型自己说了算。模型可以生成候选，但「这段候选和别人已有的预约撞不撞」是一个确定的数学问题，应该交给一段确定性的程序来算。&#10;&#10;要算清楚，先要有共同的约定。我们把每一段活动都看成一个左闭右开的区间：包含起点，不包含终点。候选记作 [a, b)，已有预约记作 [c, d)。&#10;&#10;为什么强调「不包含终点」？因为这样十点半这一刻，只属于从十点半开始的那一段。上一段在十点半结束，不会把它占住。&#10;&#10;有了这个约定，两段区间相不相交，就有唯一答案，不会因为谁来读而有不同结论。接下来我们用它算三段候选。`} style={{ width: 1280, height: 720, background: '#FFFFFF', flexDirection: 'column', padding: '20px 64px' }}&gt;&#10;&#10;    &lt;Box style={{ height: 280, flexDirection: 'column', justifyContent: 'center', gap: 14 }}&gt;&#10;        &lt;Box style={{ flexDirection: 'row', alignItems: 'center', gap: 12 }}&gt;&#10;            &lt;Box style={{ width: 44, height: 44, background: '#276FBF', borderRadius: 10, justifyContent: 'center', alignItems: 'center' }}&gt;&#10;                &lt;Text style={{ fontSize: 22, fontWeight: 'bold', color: '#FFFFFF' }}&gt;④&lt;/Text&gt;&#10;            &lt;/Box&gt;&#10;            &lt;Text style={{ fontSize: 15, color: '#546779' }}&gt;2.4.4 — 2.4.6　独立裁定、交付与失败诊断&lt;/Text&gt;&#10;        &lt;/Box&gt;&#10;        &lt;Text style={{ fontSize: 56, fontWeight: 'bold', color: '#20344B', lineHeight: 1.15 }}&gt;让独立程序裁定业务规则&lt;/Text&gt;&#10;        &lt;Text style={{ fontSize: 17, color: '#546779' }}&gt;模型生成候选，冲突由程序按规则算。&lt;/Text&gt;&#10;    &lt;/Box&gt;&#10;&#10;    &lt;Box style={{ height: 360, flexDirection: 'column', justifyContent: 'center', gap: 16 }}&gt;&#10;&#10;        &lt;Box style={{ flexDirection: 'row', gap: 48, justifyContent: 'center' }}&gt;&#10;            &lt;Box style={{ width: 440, height: 200, background: '#ECF7F2', borderRadius: 12, padding: 20, flexDirection: 'column', justifyContent: 'center', gap: 10 }}&gt;&#10;                &lt;Text style={{ fontSize: 24, fontFamily: 'Consolas, monospace', fontWeight: 'bold', color: '#26816B' }}&gt;[a, b)&lt;/Text&gt;&#10;                &lt;Text style={{ fontSize: 18, fontWeight: 'bold', color: '#20344B' }}&gt;候选区间&lt;/Text&gt;&#10;                &lt;Text style={{ fontSize: 15, color: '#546779', lineHeight: 1.6 }}&gt;包含起点 a，不包含终点 b。&lt;/Text&gt;&#10;            &lt;/Box&gt;&#10;            &lt;Box style={{ width: 440, height: 200, background: '#FFF4E6', borderRadius: 12, padding: 20, flexDirection: 'column', justifyContent: 'center', gap: 10 }}&gt;&#10;                &lt;Text style={{ fontSize: 24, fontFamily: 'Consolas, monospace', fontWeight: 'bold', color: '#CB6B28' }}&gt;[c, d)&lt;/Text&gt;&#10;                &lt;Text style={{ fontSize: 18, fontWeight: 'bold', color: '#20344B' }}&gt;已有预约区间&lt;/Text&gt;&#10;                &lt;Text style={{ fontSize: 15, color: '#546779', lineHeight: 1.6 }}&gt;包含起点 c，不包含终点 d。&lt;/Text&gt;&#10;            &lt;/Box&gt;&#10;        &lt;/Box&gt;&#10;&#10;        &lt;Box style={{ height: 70, background: '#EDF4FC', borderRadius: 10, padding: '0 22px', flexDirection: 'row', gap: 16, alignItems: 'center' }}&gt;&#10;            &lt;Box style={{ width: 4, height: 42, background: '#276FBF' }} /&gt;&#10;            &lt;Text style={{ fontSize: 16, color: '#20344B', lineHeight: 1.6 }}&gt;两端都包含起点、不包含终点，所以端点相接的两段区间不会重叠。&lt;/Text&gt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17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609600" y="7143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14375" y="8001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1143000" y="838200"/>
            <a:ext cx="274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2.4.4 — 2.4.6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独立裁定、交付与失败诊断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09600" y="12668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让独立程序裁定业务规则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09600" y="214312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模型生成候选，冲突由程序按规则算。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1676400" y="3209925"/>
            <a:ext cx="4191000" cy="1905000"/>
          </a:xfrm>
          <a:prstGeom prst="roundRect">
            <a:avLst>
              <a:gd name="adj" fmla="val 6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866900" y="3686175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6816B"/>
                </a:solidFill>
                <a:latin typeface="Consolas"/>
                <a:ea typeface="Consolas"/>
              </a:rPr>
              <a:t>[a, b)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866900" y="4057650"/>
            <a:ext cx="381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候选区间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866900" y="4362450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包含起点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，不包含终点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324600" y="3209925"/>
            <a:ext cx="4191000" cy="1905000"/>
          </a:xfrm>
          <a:prstGeom prst="roundRect">
            <a:avLst>
              <a:gd name="adj" fmla="val 6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515100" y="3686175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CB6B28"/>
                </a:solidFill>
                <a:latin typeface="Consolas"/>
                <a:ea typeface="Consolas"/>
              </a:rPr>
              <a:t>[c, d)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515100" y="4057650"/>
            <a:ext cx="381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已有预约区间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515100" y="4362450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包含起点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c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，不包含终点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09600" y="5267325"/>
            <a:ext cx="10972800" cy="66675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819150" y="5400675"/>
            <a:ext cx="38100" cy="4000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009650" y="5457825"/>
            <a:ext cx="4572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两端都包含起点、不包含终点，所以端点相接的两段区间不会重叠。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23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45" name="" descr="&lt;Slide notes={`这一段是本节最关键的一个判断。&#10;&#10;背景是十月十七号、上海时区，手工室已经有人约了十点到十点半。&#10;&#10;现在有三段六十分钟的候选。候选 A 从九点到十点，候选 B 从十点到十一点，候选 C 从十点半到十一点半。&#10;&#10;我们把区间写成左闭右开：候选是 [a, b)，预约是 [c, d)，包含起点、不包含终点。这个约定决定了十点半这一刻属于哪一边。&#10;&#10;候选 A 的终点正是十点，预约的起点也是十点，端点相接，不算重叠。候选 C 的起点是十点半，预约的终点也是十点半，同样相接。候选 B 从十点开始，正好压在预约上，冲突。&#10;&#10;最后记住：不重叠只说明时间上不冲突，时长和人数还得继续满足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4.4　让独立程序裁定业务规则&lt;/Text&gt;&#10;            &lt;Text style={{ fontSize: 34, fontWeight: 'bold', color: '#20344B' }}&gt;半开区间上的三个候选&lt;/Text&gt;&#10;        &lt;/Box&gt;&#10;    &lt;/Box&gt;&#10;&#10;    &lt;Box style={{ height: 540, flexDirection: 'column', justifyContent: 'center', gap: 10 }}&gt;&#10;&#10;        &lt;Box style={{ height: 30, flexDirection: 'row', alignItems: 'center' }}&gt;&#10;            &lt;Text style={{ fontSize: 16, color: '#546779' }}&gt;2026-10-17　·　Asia/Shanghai　·　手工室已有预约（左闭右开）10:00 至 10:30&lt;/Text&gt;&#10;        &lt;/Box&gt;&#10;&#10;        &lt;Box style={{ height: 26, flexDirection: 'row' }}&gt;&#10;            &lt;Box style={{ width: 192 }} /&gt;&#10;            &lt;Box style={{ width: 160, flexDirection: 'column', justifyContent: 'flex-end', gap: 2 }}&gt;&#10;                &lt;Text style={{ fontSize: 13, color: '#546779' }}&gt;09:00&lt;/Text&gt;&#10;                &lt;Box style={{ height: 1, background: '#B5C7D8' }} /&gt;&#10;            &lt;/Box&gt;&#10;            &lt;Box style={{ width: 160, flexDirection: 'column', justifyContent: 'flex-end', gap: 2 }}&gt;&#10;                &lt;Text style={{ fontSize: 13, color: '#546779' }}&gt;09:30&lt;/Text&gt;&#10;                &lt;Box style={{ height: 1, background: '#B5C7D8' }} /&gt;&#10;            &lt;/Box&gt;&#10;            &lt;Box style={{ width: 160, flexDirection: 'column', justifyContent: 'flex-end', gap: 2 }}&gt;&#10;                &lt;Text style={{ fontSize: 13, color: '#546779' }}&gt;10:00&lt;/Text&gt;&#10;                &lt;Box style={{ height: 1, background: '#B5C7D8' }} /&gt;&#10;            &lt;/Box&gt;&#10;            &lt;Box style={{ width: 160, flexDirection: 'column', justifyContent: 'flex-end', gap: 2 }}&gt;&#10;                &lt;Text style={{ fontSize: 13, color: '#546779' }}&gt;10:30&lt;/Text&gt;&#10;                &lt;Box style={{ height: 1, background: '#B5C7D8' }} /&gt;&#10;            &lt;/Box&gt;&#10;            &lt;Box style={{ width: 160, flexDirection: 'column', justifyContent: 'flex-end', gap: 2 }}&gt;&#10;                &lt;Text style={{ fontSize: 13, color: '#546779' }}&gt;11:00&lt;/Text&gt;&#10;                &lt;Box style={{ height: 1, background: '#B5C7D8' }} /&gt;&#10;            &lt;/Box&gt;&#10;            &lt;Box style={{ width: 160, flexDirection: 'column', justifyContent: 'flex-end', gap: 2 }}&gt;&#10;                &lt;Text style={{ fontSize: 13, color: '#546779' }}&gt;11:30 → 12:00&lt;/Text&gt;&#10;                &lt;Box style={{ height: 1, background: '#B5C7D8' }} /&gt;&#10;            &lt;/Box&gt;&#10;        &lt;/Box&gt;&#10;&#10;        &lt;Box style={{ height: 56, flexDirection: 'row' }}&gt;&#10;            &lt;Box style={{ width: 192, flexDirection: 'column', justifyContent: 'center', gap: 2 }}&gt;&#10;                &lt;Text style={{ fontSize: 13, color: '#546779' }}&gt;已有预约&lt;/Text&gt;&#10;                &lt;Text style={{ fontSize: 13, color: '#20344B' }}&gt;10:00—10:30&lt;/Text&gt;&#10;            &lt;/Box&gt;&#10;            &lt;Box style={{ width: 160 }} /&gt;&#10;            &lt;Box style={{ width: 160 }} /&gt;&#10;            &lt;Box style={{ width: 160, background: '#276FBF', borderRadius: 6, justifyContent: 'center', alignItems: 'center' }}&gt;&#10;                &lt;Text style={{ fontSize: 14, color: '#FFFFFF' }}&gt;预约&lt;/Text&gt;&#10;            &lt;/Box&gt;&#10;            &lt;Box style={{ width: 160 }} /&gt;&#10;            &lt;Box style={{ width: 160 }} /&gt;&#10;            &lt;Box style={{ width: 160 }} /&gt;&#10;        &lt;/Box&gt;&#10;&#10;        &lt;Box style={{ height: 60, flexDirection: 'row' }}&gt;&#10;            &lt;Box style={{ width: 192, flexDirection: 'column', justifyContent: 'center', gap: 2 }}&gt;&#10;                &lt;Text style={{ fontSize: 13, color: '#546779' }}&gt;候选 A&lt;/Text&gt;&#10;                &lt;Text style={{ fontSize: 13, color: '#20344B' }}&gt;09:00—10:00&lt;/Text&gt;&#10;            &lt;/Box&gt;&#10;            &lt;Box style={{ width: 320, background: '#26816B', borderRadius: 6, justifyContent: 'center', alignItems: 'center' }}&gt;&#10;                &lt;Text style={{ fontSize: 14, color: '#FFFFFF' }}&gt;端点相接，不重叠&lt;/Text&gt;&#10;            &lt;/Box&gt;&#10;            &lt;Box style={{ width: 160 }} /&gt;&#10;            &lt;Box style={{ width: 160 }} /&gt;&#10;            &lt;Box style={{ width: 160 }} /&gt;&#10;            &lt;Box style={{ width: 160 }} /&gt;&#10;        &lt;/Box&gt;&#10;&#10;        &lt;Box style={{ height: 60, flexDirection: 'row' }}&gt;&#10;            &lt;Box style={{ width: 192, flexDirection: 'column', justifyContent: 'center', gap: 2 }}&gt;&#10;                &lt;Text style={{ fontSize: 13, color: '#546779' }}&gt;候选 B&lt;/Text&gt;&#10;                &lt;Text style={{ fontSize: 13, color: '#20344B' }}&gt;10:00—11:00&lt;/Text&gt;&#10;            &lt;/Box&gt;&#10;            &lt;Box style={{ width: 160 }} /&gt;&#10;            &lt;Box style={{ width: 160 }} /&gt;&#10;            &lt;Box style={{ width: 320, background: '#CB6B28', borderRadius: 6, justifyContent: 'center', alignItems: 'center' }}&gt;&#10;                &lt;Text style={{ fontSize: 14, color: '#FFFFFF' }}&gt;与预约重叠 · 冲突&lt;/Text&gt;&#10;            &lt;/Box&gt;&#10;            &lt;Box style={{ width: 160 }} /&gt;&#10;            &lt;Box style={{ width: 160 }} /&gt;&#10;        &lt;/Box&gt;&#10;&#10;        &lt;Box style={{ height: 60, flexDirection: 'row' }}&gt;&#10;            &lt;Box style={{ width: 192, flexDirection: 'column', justifyContent: 'center', gap: 2 }}&gt;&#10;                &lt;Text style={{ fontSize: 13, color: '#546779' }}&gt;候选 C&lt;/Text&gt;&#10;                &lt;Text style={{ fontSize: 13, color: '#20344B' }}&gt;10:30—11:30&lt;/Text&gt;&#10;            &lt;/Box&gt;&#10;            &lt;Box style={{ width: 160 }} /&gt;&#10;            &lt;Box style={{ width: 160 }} /&gt;&#10;            &lt;Box style={{ width: 160 }} /&gt;&#10;            &lt;Box style={{ width: 320, background: '#26816B', borderRadius: 6, justifyContent: 'center', alignItems: 'center' }}&gt;&#10;                &lt;Text style={{ fontSize: 14, color: '#FFFFFF' }}&gt;端点相接，不重叠&lt;/Text&gt;&#10;            &lt;/Box&gt;&#10;            &lt;Box style={{ width: 160 }} /&gt;&#10;        &lt;/Box&gt;&#10;&#10;        &lt;Box style={{ height: 100, background: '#EDF4FC', borderRadius: 10, padding: '0 22px', flexDirection: 'row', gap: 16, alignItems: 'center' }}&gt;&#10;            &lt;Box style={{ width: 4, height: 60, background: '#276FBF' }} /&gt;&#10;            &lt;Box style={{ flex: 1, flexDirection: 'column', gap: 6 }}&gt;&#10;                &lt;Text style={{ fontSize: 17, fontWeight: 'bold', color: '#20344B' }}&gt;两个半开区间相交的条件&lt;/Text&gt;&#10;                &lt;Text style={{ fontSize: 16, fontFamily: 'Consolas, monospace', color: '#276FBF' }}&gt;{'a &lt; d 且 c &lt; b'}&lt;/Text&gt;&#10;            &lt;/Box&gt;&#10;            &lt;Text style={{ fontSize: 15, color: '#546779' }}&gt;区间都包含起点、不包含终点&lt;/Text&gt;&#10;        &lt;/Box&gt;&#10;&#10;        &lt;Box style={{ height: 74, background: '#FFF4E6', borderRadius: 10, padding: '0 22px', flexDirection: 'row', gap: 16, alignItems: 'center' }}&gt;&#10;            &lt;Box style={{ width: 4, height: 46, background: '#CB6B28' }} /&gt;&#10;            &lt;Text style={{ fontSize: 15, color: '#546779', lineHeight: 1.6 }}&gt;「不重叠」只表示与这条预约不重叠：10:30 可紧接，10:15 开始则冲突；时长、人数和其他规则仍须满足。&lt;/Text&gt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18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让独立程序裁定业务规则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半开区间上的三个候选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09600" y="1209675"/>
            <a:ext cx="5591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2026-10-17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Asia/Shanghai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·　手工室已有预约（左闭右开）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10:00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至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10:30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2438400" y="16097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09:00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2438400" y="1781175"/>
            <a:ext cx="15240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3962400" y="16097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09:30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3962400" y="1781175"/>
            <a:ext cx="15240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486400" y="16097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10:00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5486400" y="1781175"/>
            <a:ext cx="15240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7010400" y="16097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10:30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7010400" y="1781175"/>
            <a:ext cx="15240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534400" y="16097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11:00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8534400" y="1781175"/>
            <a:ext cx="15240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0058400" y="1609725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11:30 → 12:00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10058400" y="1781175"/>
            <a:ext cx="15240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09600" y="1990725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已有预约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609600" y="2162175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10:00—10:30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5486400" y="1885950"/>
            <a:ext cx="1524000" cy="533400"/>
          </a:xfrm>
          <a:prstGeom prst="roundRect">
            <a:avLst>
              <a:gd name="adj" fmla="val 10714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115050" y="20764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预约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09600" y="2638425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候选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A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09600" y="2809875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09:00—10:00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2438400" y="2514600"/>
            <a:ext cx="3048000" cy="571500"/>
          </a:xfrm>
          <a:prstGeom prst="roundRect">
            <a:avLst>
              <a:gd name="adj" fmla="val 1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3429000" y="272415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端点相接，不重叠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09600" y="3305175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候选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09600" y="3476625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10:00—11:00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5486400" y="3181350"/>
            <a:ext cx="3048000" cy="571500"/>
          </a:xfrm>
          <a:prstGeom prst="roundRect">
            <a:avLst>
              <a:gd name="adj" fmla="val 1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486525" y="33909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与预约重叠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冲突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09600" y="3971925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候选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C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09600" y="4143375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10:30—11:30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7010400" y="3848100"/>
            <a:ext cx="3048000" cy="571500"/>
          </a:xfrm>
          <a:prstGeom prst="roundRect">
            <a:avLst>
              <a:gd name="adj" fmla="val 1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001000" y="405765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端点相接，不重叠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09600" y="451485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819150" y="470535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009650" y="4772025"/>
            <a:ext cx="835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两个半开区间相交的条件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009650" y="5029200"/>
            <a:ext cx="8353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76FBF"/>
                </a:solidFill>
                <a:latin typeface="Consolas"/>
                <a:ea typeface="Consolas"/>
              </a:rPr>
              <a:t xml:space="preserve">a &lt; d </a:t>
            </a:r>
            <a:r>
              <a:rPr lang="zh-CN" sz="1200">
                <a:solidFill>
                  <a:srgbClr val="276FBF"/>
                </a:solidFill>
                <a:latin typeface="Consolas"/>
                <a:ea typeface="Consolas"/>
              </a:rPr>
              <a:t>且</a:t>
            </a:r>
            <a:r>
              <a:rPr lang="en-US" sz="1200">
                <a:solidFill>
                  <a:srgbClr val="276FBF"/>
                </a:solidFill>
                <a:latin typeface="Consolas"/>
                <a:ea typeface="Consolas"/>
              </a:rPr>
              <a:t xml:space="preserve"> c &lt; b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9515475" y="490537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区间都包含起点、不包含终点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09600" y="5562600"/>
            <a:ext cx="10972800" cy="704850"/>
          </a:xfrm>
          <a:prstGeom prst="roundRect">
            <a:avLst>
              <a:gd name="adj" fmla="val 1351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819150" y="5695950"/>
            <a:ext cx="38100" cy="4381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009650" y="5781675"/>
            <a:ext cx="68294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「不重叠」只表示与这条预约不重叠：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10:30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可紧接，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10:15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开始则冲突；时长、人数和其他规则仍须满足。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23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89" name="" descr="&lt;Slide notes={`我们把这两个记号读清楚，业务判断就不会再靠感觉。&#10;&#10;[a, b) 表示包含 a、不包含 b。所以候选 A 从九点到十点，它的最后一个时刻是十点前的一瞬，十点整不属于它；预约从十点开始，十点整属于预约。两段正好接上，中间没有空档，也没有重叠。&#10;&#10;候选 C 的情况一样：预约在十点半结束，十点半属于候选 C。相接，不冲突。&#10;&#10;如果改成十点十五分开始，它就落进预约区间内部了。用公式判断：a 小于 d，并且 c 小于 b，两个条件同时成立就是冲突。&#10;&#10;最后提醒一句：这里只算出了「时间上不冲突」。时长对不对、人数够不够，还要另外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4.4　让独立程序裁定业务规则&lt;/Text&gt;&#10;            &lt;Text style={{ fontSize: 34, fontWeight: 'bold', color: '#20344B' }}&gt;端点相接不算重叠&lt;/Text&gt;&#10;        &lt;/Box&gt;&#10;    &lt;/Box&gt;&#10;&#10;    &lt;Box style={{ height: 540, flexDirection: 'row', gap: 32 }}&gt;&#10;&#10;        &lt;Box style={{ width: 560, flexDirection: 'column', justifyContent: 'center', gap: 14 }}&gt;&#10;&#10;            &lt;Text style={{ fontSize: 20, fontWeight: 'bold', color: '#20344B' }}&gt;记号的读法&lt;/Text&gt;&#10;&#10;            &lt;Box style={{ height: 130, background: '#ECF7F2', borderRadius: 10, padding: '18px 22px', flexDirection: 'column', gap: 6 }}&gt;&#10;                &lt;Text style={{ fontSize: 22, fontFamily: 'Consolas, monospace', fontWeight: 'bold', color: '#26816B' }}&gt;[a, b)&lt;/Text&gt;&#10;                &lt;Text style={{ fontSize: 15, color: '#546779', lineHeight: 1.65 }}&gt;候选区间：包含起点 a，不包含终点 b。&lt;/Text&gt;&#10;            &lt;/Box&gt;&#10;&#10;            &lt;Box style={{ height: 130, background: '#EDF4FC', borderRadius: 10, padding: '18px 22px', flexDirection: 'column', gap: 6 }}&gt;&#10;                &lt;Text style={{ fontSize: 22, fontFamily: 'Consolas, monospace', fontWeight: 'bold', color: '#276FBF' }}&gt;[c, d)&lt;/Text&gt;&#10;                &lt;Text style={{ fontSize: 15, color: '#546779', lineHeight: 1.65 }}&gt;预约区间：包含起点 c，不包含终点 d。&lt;/Text&gt;&#10;            &lt;/Box&gt;&#10;&#10;            &lt;Text style={{ fontSize: 15, color: '#546779', lineHeight: 1.7 }}&gt;两段都是左闭右开，端点相接的两段区间没有公共时刻。&lt;/Text&gt;&#10;&#10;        &lt;/Box&gt;&#10;&#10;        &lt;Box style={{ width: 560, flexDirection: 'column', justifyContent: 'center', gap: 14 }}&gt;&#10;&#10;            &lt;Text style={{ fontSize: 20, fontWeight: 'bold', color: '#20344B' }}&gt;什么情况才算冲突&lt;/Text&gt;&#10;&#10;            &lt;Box style={{ height: 130, background: '#FFF4E6', borderRadius: 10, padding: '18px 22px', flexDirection: 'column', gap: 6 }}&gt;&#10;                &lt;Text style={{ fontSize: 16, fontFamily: 'Consolas, monospace', fontWeight: 'bold', color: '#CB6B28' }}&gt;{'a &lt; d 且 c &lt; b'}&lt;/Text&gt;&#10;                &lt;Text style={{ fontSize: 15, color: '#546779', lineHeight: 1.65 }}&gt;两个条件同时成立，两段区间才相交。&lt;/Text&gt;&#10;            &lt;/Box&gt;&#10;&#10;            &lt;Box style={{ height: 84, background: '#ECF7F2', borderRadius: 10, padding: '0 20px', flexDirection: 'row', alignItems: 'center', gap: 16 }}&gt;&#10;                &lt;Text style={{ fontSize: 16, fontFamily: 'Consolas, monospace', color: '#20344B', width: 110 }}&gt;10:30&lt;/Text&gt;&#10;                &lt;Text style={{ fontSize: 15, color: '#26816B' }}&gt;可紧接预约，不重叠&lt;/Text&gt;&#10;            &lt;/Box&gt;&#10;&#10;            &lt;Box style={{ height: 84, background: '#FFF4E6', borderRadius: 10, padding: '0 20px', flexDirection: 'row', alignItems: 'center', gap: 16 }}&gt;&#10;                &lt;Text style={{ fontSize: 16, fontFamily: 'Consolas, monospace', color: '#20344B', width: 110 }}&gt;10:15&lt;/Text&gt;&#10;                &lt;Text style={{ fontSize: 15, color: '#CB6B28' }}&gt;落进预约区间，冲突&lt;/Text&gt;&#10;            &lt;/Box&gt;&#10;&#10;            &lt;Box style={{ height: 106, background: '#F4F7FA', borderRadius: 10, padding: '16px 22px', flexDirection: 'row', gap: 16, alignItems: 'center' }}&gt;&#10;                &lt;Box style={{ width: 4, height: 60, background: '#276FBF' }} /&gt;&#10;                &lt;Text style={{ fontSize: 15, color: '#546779', lineHeight: 1.6 }}&gt;「不重叠」只通过时间相交检查，时长、人数和其他规则仍需满足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19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让独立程序裁定业务规则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端点相接不算重叠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09600" y="2019300"/>
            <a:ext cx="533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记号的读法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609600" y="2381250"/>
            <a:ext cx="5334000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19150" y="2552700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6816B"/>
                </a:solidFill>
                <a:latin typeface="Consolas"/>
                <a:ea typeface="Consolas"/>
              </a:rPr>
              <a:t>[a, b)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19150" y="2867025"/>
            <a:ext cx="49149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候选区间：包含起点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，不包含终点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b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609600" y="3752850"/>
            <a:ext cx="53340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19150" y="3924300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76FBF"/>
                </a:solidFill>
                <a:latin typeface="Consolas"/>
                <a:ea typeface="Consolas"/>
              </a:rPr>
              <a:t>[c, d)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19150" y="4238625"/>
            <a:ext cx="49149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预约区间：包含起点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c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，不包含终点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09600" y="5124450"/>
            <a:ext cx="5334000" cy="295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两段都是左闭右开，端点相接的两段区间没有公共时刻。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248400" y="1409700"/>
            <a:ext cx="533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什么情况才算冲突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6248400" y="1771650"/>
            <a:ext cx="53340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457950" y="194310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B6B28"/>
                </a:solidFill>
                <a:latin typeface="Consolas"/>
                <a:ea typeface="Consolas"/>
              </a:rPr>
              <a:t xml:space="preserve">a &lt; d </a:t>
            </a:r>
            <a:r>
              <a:rPr lang="zh-CN" sz="1200" b="1">
                <a:solidFill>
                  <a:srgbClr val="CB6B28"/>
                </a:solidFill>
                <a:latin typeface="Consolas"/>
                <a:ea typeface="Consolas"/>
              </a:rPr>
              <a:t>且</a:t>
            </a:r>
            <a:r>
              <a:rPr lang="en-US" sz="1200" b="1">
                <a:solidFill>
                  <a:srgbClr val="CB6B28"/>
                </a:solidFill>
                <a:latin typeface="Consolas"/>
                <a:ea typeface="Consolas"/>
              </a:rPr>
              <a:t xml:space="preserve"> c &lt; b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457950" y="2190750"/>
            <a:ext cx="49149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两个条件同时成立，两段区间才相交。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6248400" y="3143250"/>
            <a:ext cx="5334000" cy="800100"/>
          </a:xfrm>
          <a:prstGeom prst="roundRect">
            <a:avLst>
              <a:gd name="adj" fmla="val 1190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438900" y="344805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Consolas"/>
                <a:ea typeface="Consolas"/>
              </a:rPr>
              <a:t>10:30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7639050" y="345757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可紧接预约，不重叠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6248400" y="4076700"/>
            <a:ext cx="53340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438900" y="438150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0344B"/>
                </a:solidFill>
                <a:latin typeface="Consolas"/>
                <a:ea typeface="Consolas"/>
              </a:rPr>
              <a:t>10:15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7639050" y="439102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落进预约区间，冲突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6248400" y="5010150"/>
            <a:ext cx="53340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6457950" y="522922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648450" y="5381625"/>
            <a:ext cx="4286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「不重叠」只通过时间相交检查，时长、人数和其他规则仍需满足。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23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53" name="" descr="&lt;Slide notes={`业务规则交给谁算？交给一段清清楚楚的程序。&#10;&#10;本章的确定性检查器读取原始的房间、需求和预约材料，再检查方案。它有一个重要特性：不会因为模型在结果里写了「已经全面核对」，就跳过检查。检查器只看数据。&#10;&#10;先运行人工编写的有效夹具，把程序本身的行为验一遍。这份夹具里，阅读分享九点到十点，手作体验十点半到十一点半，交流活动九点到九点四十五分。三项活动在不同房间同时开展是允许的，本章没有设置跨房间的共同主持人约束。&#10;&#10;再强调一遍：夹具是用来检查程序行为的，不是某次模型生成成功的证据。&#10;&#10;检查器还要确认：活动恰好出现一次、人数与正式需求一致、使用允许的房间、持续时间正确、处于开放窗口内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4.4　让独立程序裁定业务规则&lt;/Text&gt;&#10;            &lt;Text style={{ fontSize: 34, fontWeight: 'bold', color: '#20344B' }}&gt;让确定性检查器来裁定&lt;/Text&gt;&#10;        &lt;/Box&gt;&#10;    &lt;/Box&gt;&#10;&#10;    &lt;Box style={{ height: 540, flexDirection: 'column', justifyContent: 'center', gap: 12 }}&gt;&#10;&#10;        &lt;Box style={{ height: 84, background: '#F4F7FA', borderRadius: 10, padding: '14px 22px', flexDirection: 'row', gap: 16, alignItems: 'center' }}&gt;&#10;            &lt;Box style={{ width: 4, height: 54, background: '#276FBF' }} /&gt;&#10;            &lt;Box style={{ flex: 1, flexDirection: 'column', gap: 6 }}&gt;&#10;                &lt;Text style={{ fontSize: 14, fontFamily: 'Consolas, monospace', color: '#20344B' }}&gt;python validate_schedule.py fixtures/valid-schedule.json --output output/validation-report.json&lt;/Text&gt;&#10;                &lt;Text style={{ fontSize: 13, color: '#546779' }}&gt;人工编写的有效夹具，用来检查程序行为，不是模型生成成功的证据。&lt;/Text&gt;&#10;            &lt;/Box&gt;&#10;        &lt;/Box&gt;&#10;&#10;        &lt;Box style={{ height: 72, background: '#EDF4FC', borderRadius: 10, padding: '0 20px', flexDirection: 'row', alignItems: 'center', gap: 18 }}&gt;&#10;            &lt;Box style={{ width: 4, height: 44, background: '#276FBF' }} /&gt;&#10;            &lt;Box style={{ width: 300 }}&gt;&lt;Text style={{ fontSize: 17, fontWeight: 'bold', color: '#20344B' }}&gt;活动恰好出现一次&lt;/Text&gt;&lt;/Box&gt;&#10;            &lt;Box style={{ flex: 1 }}&gt;&lt;Text style={{ fontSize: 15, color: '#546779', lineHeight: 1.6 }}&gt;重复出现的合法活动也要报出来。&lt;/Text&gt;&lt;/Box&gt;&#10;        &lt;/Box&gt;&#10;&#10;        &lt;Box style={{ height: 72, background: '#F4F7FA', borderRadius: 10, padding: '0 20px', flexDirection: 'row', alignItems: 'center', gap: 18 }}&gt;&#10;            &lt;Box style={{ width: 4, height: 44, background: '#276FBF' }} /&gt;&#10;            &lt;Box style={{ width: 300 }}&gt;&lt;Text style={{ fontSize: 17, fontWeight: 'bold', color: '#20344B' }}&gt;人数与正式需求一致&lt;/Text&gt;&lt;/Box&gt;&#10;            &lt;Box style={{ flex: 1 }}&gt;&lt;Text style={{ fontSize: 15, color: '#546779', lineHeight: 1.6 }}&gt;不能为了通过检查而悄悄改掉人数。&lt;/Text&gt;&lt;/Box&gt;&#10;        &lt;/Box&gt;&#10;&#10;        &lt;Box style={{ height: 72, background: '#F4F7FA', borderRadius: 10, padding: '0 20px', flexDirection: 'row', alignItems: 'center', gap: 18 }}&gt;&#10;            &lt;Box style={{ width: 4, height: 44, background: '#276FBF' }} /&gt;&#10;            &lt;Box style={{ width: 300 }}&gt;&lt;Text style={{ fontSize: 17, fontWeight: 'bold', color: '#20344B' }}&gt;使用允许的房间&lt;/Text&gt;&lt;/Box&gt;&#10;            &lt;Box style={{ flex: 1 }}&gt;&lt;Text style={{ fontSize: 15, color: '#546779', lineHeight: 1.6 }}&gt;房间 ID 必须落在合同允许的枚举之内。&lt;/Text&gt;&lt;/Box&gt;&#10;        &lt;/Box&gt;&#10;&#10;        &lt;Box style={{ height: 72, background: '#F4F7FA', borderRadius: 10, padding: '0 20px', flexDirection: 'row', alignItems: 'center', gap: 18 }}&gt;&#10;            &lt;Box style={{ width: 4, height: 44, background: '#276FBF' }} /&gt;&#10;            &lt;Box style={{ width: 300 }}&gt;&lt;Text style={{ fontSize: 17, fontWeight: 'bold', color: '#20344B' }}&gt;时长正确且在开放窗口内&lt;/Text&gt;&lt;/Box&gt;&#10;            &lt;Box style={{ flex: 1 }}&gt;&lt;Text style={{ fontSize: 15, color: '#546779', lineHeight: 1.6 }}&gt;整段活动都要落在开放时间之内。&lt;/Text&gt;&lt;/Box&gt;&#10;        &lt;/Box&gt;&#10;&#10;        &lt;Box style={{ height: 104, background: '#FFF4E6', borderRadius: 10, padding: '16px 22px', flexDirection: 'row', gap: 16, alignItems: 'center' }}&gt;&#10;            &lt;Box style={{ width: 4, height: 66, background: '#CB6B28' }} /&gt;&#10;            &lt;Box style={{ flex: 1, flexDirection: 'column', gap: 6 }}&gt;&#10;                &lt;Text style={{ fontSize: 18, fontWeight: 'bold', color: '#CB6B28' }}&gt;通过只说明符合本章已编码的规则&lt;/Text&gt;&#10;                &lt;Text style={{ fontSize: 15, color: '#546779', lineHeight: 1.6 }}&gt;现实中的消防、设备或工作人员限制，要先把要求纳入数据与检查，不能从「通过」推出无限范围的正确性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20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让独立程序裁定业务规则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让确定性检查器来裁定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609600" y="116205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9" name=""/>
          <p:cNvSpPr/>
          <p:nvPr/>
        </p:nvSpPr>
        <p:spPr>
          <a:xfrm rot="0" flipH="0" flipV="0">
            <a:off x="819150" y="1304925"/>
            <a:ext cx="38100" cy="5143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009650" y="1381125"/>
            <a:ext cx="10363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Consolas"/>
                <a:ea typeface="Consolas"/>
              </a:rPr>
              <a:t>python validate_schedule.py fixtures/valid-schedule.json --output output/validation-report.json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009650" y="1600200"/>
            <a:ext cx="10363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人工编写的有效夹具，用来检查程序行为，不是模型生成成功的证据。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609600" y="20764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800100" y="22098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1009650" y="232410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活动恰好出现一次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038600" y="2286000"/>
            <a:ext cx="7353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重复出现的合法活动也要报出来。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609600" y="28765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800100" y="30099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009650" y="312420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人数与正式需求一致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4038600" y="3086100"/>
            <a:ext cx="7353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不能为了通过检查而悄悄改掉人数。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09600" y="36766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800100" y="38100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1009650" y="392430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使用允许的房间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4038600" y="3886200"/>
            <a:ext cx="7353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房间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必须落在合同允许的枚举之内。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09600" y="447675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5" name=""/>
          <p:cNvSpPr/>
          <p:nvPr/>
        </p:nvSpPr>
        <p:spPr>
          <a:xfrm rot="0" flipH="0" flipV="0">
            <a:off x="800100" y="46101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009650" y="472440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时长正确且在开放窗口内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4038600" y="4686300"/>
            <a:ext cx="73533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整段活动都要落在开放时间之内。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609600" y="527685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79" name=""/>
          <p:cNvSpPr/>
          <p:nvPr/>
        </p:nvSpPr>
        <p:spPr>
          <a:xfrm rot="0" flipH="0" flipV="0">
            <a:off x="819150" y="5457825"/>
            <a:ext cx="38100" cy="6286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1009650" y="5505450"/>
            <a:ext cx="1036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通过只说明符合本章已编码的规则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1009650" y="5772150"/>
            <a:ext cx="10363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现实中的消防、设备或工作人员限制，要先把要求纳入数据与检查，不能从「通过」推出无限范围的正确性。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23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84" name="" descr="&lt;Slide notes={`这是一段可以照抄的指令，我在教学空间里用它交给 WorkBuddy。&#10;&#10;五句话各管什么？第一句说清产物：生成 output/schedule.json，严格采用那份 Schema 的字段。第二句列出不能改的：原始人数和持续时间。第三句要求跑现成的校验脚本并保存报告。第四句规定失败时怎么办——先列错误，再修正方案，绝不修改校验规则来让结果通过。最后一句要求交代：跑了什么命令、产出了什么文件、还有什么没解决。&#10;&#10;第二句和第四句最关键。不限制原始人数，模型可能为了让方案通过而悄悄改数字；不禁止改规则，校验就失去了意义。&#10;&#10;跑完以后，在「工作空间文件」里打开方案和报告，用「变更」核对它改了哪些文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4.5　WorkBuddy：生成文件，再执行相同检查&lt;/Text&gt;&#10;            &lt;Text style={{ fontSize: 34, fontWeight: 'bold', color: '#20344B' }}&gt;生成文件，再执行相同检查&lt;/Text&gt;&#10;        &lt;/Box&gt;&#10;    &lt;/Box&gt;&#10;&#10;    &lt;Box style={{ height: 540, flexDirection: 'row', gap: 32 }}&gt;&#10;&#10;        &lt;Box style={{ width: 380, flexDirection: 'column', justifyContent: 'center', gap: 16 }}&gt;&#10;            &lt;Text style={{ fontSize: 20, fontWeight: 'bold', color: '#20344B' }}&gt;五句话各有分工&lt;/Text&gt;&#10;            &lt;Text style={{ fontSize: 17, color: '#276FBF', lineHeight: 1.75 }}&gt;产物、不可改的输入、要跑的检查、失败怎么办、最后交代什么。&lt;/Text&gt;&#10;            &lt;Box style={{ height: 1, background: '#B5C7D8' }} /&gt;&#10;            &lt;Text style={{ fontSize: 15, color: '#546779', lineHeight: 1.8 }}&gt;不限制原始人数，模型可能为了让方案通过而悄悄改数字；不禁止改规则，校验就失去意义。&lt;/Text&gt;&#10;        &lt;/Box&gt;&#10;&#10;        &lt;Box style={{ width: 740, flexDirection: 'column', justifyContent: 'center', gap: 14 }}&gt;&#10;&#10;            &lt;Box style={{ height: 240, background: '#F4F7FA', borderRadius: 12, padding: '20px 22px', flexDirection: 'column', justifyContent: 'center' }}&gt;&#10;                &lt;Text style={{ fontSize: 15, color: '#20344B', lineHeight: 1.9 }}&gt;依据教学材料生成 output/schedule.json，严格采用&lt;/Text&gt;&#10;                &lt;Text style={{ fontSize: 15, color: '#20344B', lineHeight: 1.9 }}&gt;schemas/schedule.schema.json 的字段，不修改原始人数和持续时间。&lt;/Text&gt;&#10;                &lt;Text style={{ fontSize: 15, color: '#20344B', lineHeight: 1.9 }}&gt;然后执行既有 validate_schedule.py 检查这个文件，保存报告。&lt;/Text&gt;&#10;                &lt;Text style={{ fontSize: 15, color: '#CB6B28', lineHeight: 1.9 }}&gt;若检查失败，先列出错误，再修正方案；不要修改校验规则来使结果通过。&lt;/Text&gt;&#10;                &lt;Text style={{ fontSize: 15, color: '#20344B', lineHeight: 1.9 }}&gt;最终说明实际运行的命令、结果文件及仍未解决的问题。&lt;/Text&gt;&#10;            &lt;/Box&gt;&#10;&#10;            &lt;Box style={{ height: 136, background: '#ECF7F2', borderRadius: 10, padding: '18px 22px', flexDirection: 'column', gap: 8 }}&gt;&#10;                &lt;Text style={{ fontSize: 17, fontWeight: 'bold', color: '#26816B' }}&gt;产物怎么看&lt;/Text&gt;&#10;                &lt;Text style={{ fontSize: 15, color: '#546779', lineHeight: 1.65 }}&gt;在右侧「工作空间文件」打开方案和报告，用「变更」核对它改了哪些文件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21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WorkBuddy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：生成文件，再执行相同检查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生成文件，再执行相同检查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609600" y="2714625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五句话各有分工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09600" y="3095625"/>
            <a:ext cx="36195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产物、不可改的输入、要跑的检查、失败怎么办、最后交代什么。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609600" y="3933825"/>
            <a:ext cx="36195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09600" y="4095750"/>
            <a:ext cx="36195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不限制原始人数，模型可能为了让方案通过而悄悄改数字；不禁止改规则，校验就失去意义。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4533900" y="1857375"/>
            <a:ext cx="7048500" cy="22860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4743450" y="2171700"/>
            <a:ext cx="66294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依据教学材料生成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output/schedule.json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，严格采用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4743450" y="2505075"/>
            <a:ext cx="66294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schemas/schedule.schema.json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的字段，不修改原始人数和持续时间。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743450" y="2838450"/>
            <a:ext cx="66294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然后执行既有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validate_schedule.py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检查这个文件，保存报告。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4743450" y="3171825"/>
            <a:ext cx="66294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若检查失败，先列出错误，再修正方案；不要修改校验规则来使结果通过。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4743450" y="3505200"/>
            <a:ext cx="6629400" cy="3333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最终说明实际运行的命令、结果文件及仍未解决的问题。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4533900" y="4276725"/>
            <a:ext cx="7048500" cy="1295400"/>
          </a:xfrm>
          <a:prstGeom prst="roundRect">
            <a:avLst>
              <a:gd name="adj" fmla="val 735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4743450" y="4448175"/>
            <a:ext cx="6629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产物怎么看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4743450" y="4724400"/>
            <a:ext cx="66294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在右侧「工作空间文件」打开方案和报告，用「变更」核对它改了哪些文件。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23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04" name="" descr="&lt;Slide notes={`最后说清产品边界，再做诊断。&#10;&#10;WorkBuddy 在这一步做的是文件生成和脚本验证：按合同生成了文件、跑通了校验脚本；但不能因此声称它开启了 strict 参数。两者的模型配置、传输协议和内部生成方式可能不同。&#10;&#10;两条路线真正共用的，是那份交付合同和那套确定性校验规则。&#10;&#10;诊断方法：复制一份有效夹具，每次只改一个因素。手工活动改成十点到十一点，应报预约冲突；删掉一项活动，应报活动缺失；重复一个合法活动，应报活动重复。&#10;&#10;最后：把时间改成不带时区的写法，程序应直接指出时间合同不满足，而不是按运行电脑的时区默默补值。&#10;&#10;这些练习说明，结构化输出让错误更容易被定位，而不是让错误变得不可能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4.5 — 2.4.6　交付边界与失败诊断&lt;/Text&gt;&#10;            &lt;Text style={{ fontSize: 34, fontWeight: 'bold', color: '#20344B' }}&gt;产品边界与失败诊断&lt;/Text&gt;&#10;        &lt;/Box&gt;&#10;    &lt;/Box&gt;&#10;&#10;    &lt;Box style={{ height: 540, flexDirection: 'row', gap: 32 }}&gt;&#10;&#10;        &lt;Box style={{ width: 420, flexDirection: 'column', justifyContent: 'center', gap: 14 }}&gt;&#10;&#10;            &lt;Text style={{ fontSize: 20, fontWeight: 'bold', color: '#20344B' }}&gt;能说什么，不能说什么&lt;/Text&gt;&#10;&#10;            &lt;Box style={{ height: 150, background: '#FFF4E6', borderRadius: 10, padding: '18px 20px', flexDirection: 'column', gap: 8 }}&gt;&#10;                &lt;Text style={{ fontSize: 17, fontWeight: 'bold', color: '#CB6B28' }}&gt;不能声称已开启 strict&lt;/Text&gt;&#10;                &lt;Text style={{ fontSize: 15, color: '#546779', lineHeight: 1.65 }}&gt;不能据此声称 WorkBuddy 已开启 OpenAI API 的 strict 参数。&lt;/Text&gt;&#10;            &lt;/Box&gt;&#10;&#10;            &lt;Box style={{ height: 140, background: '#F4F7FA', borderRadius: 10, padding: '18px 20px', flexDirection: 'column', gap: 8 }}&gt;&#10;                &lt;Text style={{ fontSize: 17, fontWeight: 'bold', color: '#20344B' }}&gt;两条路线的内部可能不同&lt;/Text&gt;&#10;                &lt;Text style={{ fontSize: 15, color: '#546779', lineHeight: 1.65 }}&gt;模型配置、传输协议和内部生成方式可能都不一样。&lt;/Text&gt;&#10;            &lt;/Box&gt;&#10;&#10;            &lt;Box style={{ height: 140, background: '#ECF7F2', borderRadius: 10, padding: '18px 20px', flexDirection: 'column', gap: 8 }}&gt;&#10;                &lt;Text style={{ fontSize: 17, fontWeight: 'bold', color: '#26816B' }}&gt;真正共用的是这两样&lt;/Text&gt;&#10;                &lt;Text style={{ fontSize: 15, color: '#546779', lineHeight: 1.65 }}&gt;交付合同和确定性的校验规则，两条路线完全一致。&lt;/Text&gt;&#10;            &lt;/Box&gt;&#10;&#10;        &lt;/Box&gt;&#10;&#10;        &lt;Box style={{ width: 700, flexDirection: 'column', justifyContent: 'center', gap: 12 }}&gt;&#10;&#10;            &lt;Box style={{ flexDirection: 'row', padding: '0 20px', gap: 18, height: 26, alignItems: 'center' }}&gt;&#10;                &lt;Box style={{ width: 4 }} /&gt;&#10;                &lt;Box style={{ width: 320 }}&gt;&lt;Text style={{ fontSize: 14, color: '#546779' }}&gt;每次只改一个因素&lt;/Text&gt;&lt;/Box&gt;&#10;                &lt;Box style={{ flex: 1 }}&gt;&lt;Text style={{ fontSize: 14, color: '#546779' }}&gt;应发现的问题&lt;/Text&gt;&lt;/Box&gt;&#10;            &lt;/Box&gt;&#10;&#10;            &lt;Box style={{ height: 92, background: '#FFF4E6', borderRadius: 10, padding: '0 20px', flexDirection: 'row', alignItems: 'center', gap: 18 }}&gt;&#10;                &lt;Box style={{ width: 4, height: 56, background: '#CB6B28' }} /&gt;&#10;                &lt;Box style={{ width: 320 }}&gt;&lt;Text style={{ fontSize: 16, color: '#20344B', lineHeight: 1.6 }}&gt;手作改为 10:00—11:00，保留六十分钟&lt;/Text&gt;&lt;/Box&gt;&#10;                &lt;Box style={{ flex: 1 }}&gt;&lt;Text style={{ fontSize: 16, fontWeight: 'bold', color: '#CB6B28' }}&gt;预约冲突&lt;/Text&gt;&lt;/Box&gt;&#10;            &lt;/Box&gt;&#10;&#10;            &lt;Box style={{ height: 92, background: '#F4F7FA', borderRadius: 10, padding: '0 20px', flexDirection: 'row', alignItems: 'center', gap: 18 }}&gt;&#10;                &lt;Box style={{ width: 4, height: 56, background: '#276FBF' }} /&gt;&#10;                &lt;Box style={{ width: 320 }}&gt;&lt;Text style={{ fontSize: 16, color: '#20344B', lineHeight: 1.6 }}&gt;删除一项活动&lt;/Text&gt;&lt;/Box&gt;&#10;                &lt;Box style={{ flex: 1 }}&gt;&lt;Text style={{ fontSize: 16, fontWeight: 'bold', color: '#CB6B28' }}&gt;活动缺失&lt;/Text&gt;&lt;/Box&gt;&#10;            &lt;/Box&gt;&#10;&#10;            &lt;Box style={{ height: 92, background: '#F4F7FA', borderRadius: 10, padding: '0 20px', flexDirection: 'row', alignItems: 'center', gap: 18 }}&gt;&#10;                &lt;Box style={{ width: 4, height: 56, background: '#276FBF' }} /&gt;&#10;                &lt;Box style={{ width: 320 }}&gt;&lt;Text style={{ fontSize: 16, color: '#20344B', lineHeight: 1.6 }}&gt;重复一个合法活动&lt;/Text&gt;&lt;/Box&gt;&#10;                &lt;Box style={{ flex: 1 }}&gt;&lt;Text style={{ fontSize: 16, fontWeight: 'bold', color: '#CB6B28' }}&gt;活动重复&lt;/Text&gt;&lt;/Box&gt;&#10;            &lt;/Box&gt;&#10;&#10;            &lt;Box style={{ height: 130, background: '#FFF4E6', borderRadius: 10, padding: '16px 22px', flexDirection: 'row', gap: 16, alignItems: 'center' }}&gt;&#10;                &lt;Box style={{ width: 4, height: 84, background: '#CB6B28' }} /&gt;&#10;                &lt;Box style={{ flex: 1, flexDirection: 'column', gap: 6 }}&gt;&#10;                    &lt;Text style={{ fontSize: 17, fontWeight: 'bold', color: '#CB6B28' }}&gt;时区不能默默补值&lt;/Text&gt;&#10;                    &lt;Text style={{ fontSize: 15, color: '#546779', lineHeight: 1.6 }}&gt;把时间改为不含时区的 2026-10-17T10:30:00，程序应指出时间合同不满足，而不是按运行电脑的时区补一个值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22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2.4.5 — 2.4.6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交付边界与失败诊断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产品边界与失败诊断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609600" y="1352550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能说什么，不能说什么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09600" y="1714500"/>
            <a:ext cx="40005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800100" y="1885950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不能声称已开启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strict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00100" y="2162175"/>
            <a:ext cx="3619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不能据此声称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已开启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OpenAI API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strict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参数。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609600" y="3276600"/>
            <a:ext cx="4000500" cy="133350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00100" y="3448050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两条路线的内部可能不同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800100" y="3724275"/>
            <a:ext cx="36195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模型配置、传输协议和内部生成方式可能都不一样。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609600" y="4743450"/>
            <a:ext cx="4000500" cy="13335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800100" y="4914900"/>
            <a:ext cx="3619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真正共用的是这两样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800100" y="5191125"/>
            <a:ext cx="36195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交付合同和确定性的校验规则，两条路线完全一致。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5314950" y="1476375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每次只改一个因素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534400" y="147637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应发现的问题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4914900" y="1790700"/>
            <a:ext cx="6667500" cy="876300"/>
          </a:xfrm>
          <a:prstGeom prst="roundRect">
            <a:avLst>
              <a:gd name="adj" fmla="val 1087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2" name=""/>
          <p:cNvSpPr/>
          <p:nvPr/>
        </p:nvSpPr>
        <p:spPr>
          <a:xfrm rot="0" flipH="0" flipV="0">
            <a:off x="5105400" y="196215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5314950" y="2085975"/>
            <a:ext cx="3048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手作改为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10:00—11:00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，保留六十分钟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534400" y="2133600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预约冲突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4914900" y="2781300"/>
            <a:ext cx="66675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6" name=""/>
          <p:cNvSpPr/>
          <p:nvPr/>
        </p:nvSpPr>
        <p:spPr>
          <a:xfrm rot="0" flipH="0" flipV="0">
            <a:off x="5105400" y="29527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5314950" y="3076575"/>
            <a:ext cx="3048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删除一项活动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534400" y="3124200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活动缺失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4914900" y="3771900"/>
            <a:ext cx="66675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0" name=""/>
          <p:cNvSpPr/>
          <p:nvPr/>
        </p:nvSpPr>
        <p:spPr>
          <a:xfrm rot="0" flipH="0" flipV="0">
            <a:off x="5105400" y="39433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5314950" y="4067175"/>
            <a:ext cx="30480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重复一个合法活动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8534400" y="4114800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活动重复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4914900" y="4762500"/>
            <a:ext cx="66675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4" name=""/>
          <p:cNvSpPr/>
          <p:nvPr/>
        </p:nvSpPr>
        <p:spPr>
          <a:xfrm rot="0" flipH="0" flipV="0">
            <a:off x="5124450" y="4981575"/>
            <a:ext cx="38100" cy="800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5314950" y="4981575"/>
            <a:ext cx="6057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时区不能默默补值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5314950" y="5238750"/>
            <a:ext cx="6057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把时间改为不含时区的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2026-10-17T10:30:00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，程序应指出时间合同不满足，而不是按运行电脑的时区补一个值。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23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39" name="" descr="&lt;Slide notes={`这一节我们做的事情，可以用三个反问收住。&#10;&#10;第一，拿到结果之前先问：响应本身可用吗？状态是不是完成，有没有拒绝，有没有被中断。这一步没过，后面都不用谈。&#10;&#10;第二，写完合同之后问：这份合同写得够明确吗？必填项列全了吗，枚举封住了吗，额外字段禁止了吗，时间带时区了吗。写得越明确，程序替你挡住的错误就越多。&#10;&#10;第三，判定对错的时候问：谁来独立裁定业务规则？预约冲不冲突，不该由生成结果的模型自己下结论，要交给一段确定的程序。&#10;&#10;结构化输出不会让错误变得不可能，它让错误更容易被定位。这就是它的价值。`} style={{ width: 1280, height: 720, background: '#FFFFFF', flexDirection: 'column', padding: '20px 64px' }}&gt;&#10;&#10;    &lt;Box style={{ height: 200, flexDirection: 'row', alignItems: 'center', gap: 24 }}&gt;&#10;        &lt;Text style={{ fontSize: 96, fontWeight: 'bold', color: '#276FBF', lineHeight: 1.0 }}&gt;3&lt;/Text&gt;&#10;        &lt;Box style={{ flexDirection: 'column', gap: 8 }}&gt;&#10;            &lt;Text style={{ fontSize: 15, color: '#546779' }}&gt;2.4 结构化输出　·　本节收束&lt;/Text&gt;&#10;            &lt;Text style={{ fontSize: 56, fontWeight: 'bold', color: '#20344B', lineHeight: 1.15 }}&gt;记住三个反问&lt;/Text&gt;&#10;        &lt;/Box&gt;&#10;    &lt;/Box&gt;&#10;&#10;    &lt;Box style={{ height: 358, flexDirection: 'column', gap: 14 }}&gt;&#10;&#10;        &lt;Box style={{ height: 110, background: '#EDF4FC', borderRadius: 10, padding: '0 24px', flexDirection: 'row', alignItems: 'center', gap: 20 }}&gt;&#10;            &lt;Box style={{ width: 4, height: 60, background: '#276FBF' }} /&gt;&#10;            &lt;Box style={{ width: 90 }}&gt;&#10;                &lt;Text style={{ fontSize: 34, fontWeight: 'bold', color: '#276FBF' }}&gt;一&lt;/Text&gt;&#10;            &lt;/Box&gt;&#10;            &lt;Box style={{ flex: 1, flexDirection: 'column', gap: 6 }}&gt;&#10;                &lt;Text style={{ fontSize: 20, fontWeight: 'bold', color: '#20344B' }}&gt;响应本身可用吗？&lt;/Text&gt;&#10;                &lt;Text style={{ fontSize: 15, color: '#546779', lineHeight: 1.6 }}&gt;状态是否完成，有没有拒绝或中断。&lt;/Text&gt;&#10;            &lt;/Box&gt;&#10;        &lt;/Box&gt;&#10;&#10;        &lt;Box style={{ height: 110, background: '#F4F7FA', borderRadius: 10, padding: '0 24px', flexDirection: 'row', alignItems: 'center', gap: 20 }}&gt;&#10;            &lt;Box style={{ width: 4, height: 60, background: '#276FBF' }} /&gt;&#10;            &lt;Box style={{ width: 90 }}&gt;&#10;                &lt;Text style={{ fontSize: 34, fontWeight: 'bold', color: '#276FBF' }}&gt;二&lt;/Text&gt;&#10;            &lt;/Box&gt;&#10;            &lt;Box style={{ flex: 1, flexDirection: 'column', gap: 6 }}&gt;&#10;                &lt;Text style={{ fontSize: 20, fontWeight: 'bold', color: '#20344B' }}&gt;这份合同写得够明确吗？&lt;/Text&gt;&#10;                &lt;Text style={{ fontSize: 15, color: '#546779', lineHeight: 1.6 }}&gt;必填项、枚举、额外字段、时区，都要写清楚。&lt;/Text&gt;&#10;            &lt;/Box&gt;&#10;        &lt;/Box&gt;&#10;&#10;        &lt;Box style={{ height: 110, background: '#ECF7F2', borderRadius: 10, padding: '0 24px', flexDirection: 'row', alignItems: 'center', gap: 20 }}&gt;&#10;            &lt;Box style={{ width: 4, height: 60, background: '#26816B' }} /&gt;&#10;            &lt;Box style={{ width: 90 }}&gt;&#10;                &lt;Text style={{ fontSize: 34, fontWeight: 'bold', color: '#26816B' }}&gt;三&lt;/Text&gt;&#10;            &lt;/Box&gt;&#10;            &lt;Box style={{ flex: 1, flexDirection: 'column', gap: 6 }}&gt;&#10;                &lt;Text style={{ fontSize: 20, fontWeight: 'bold', color: '#20344B' }}&gt;谁来独立裁定业务规则？&lt;/Text&gt;&#10;                &lt;Text style={{ fontSize: 15, color: '#546779', lineHeight: 1.6 }}&gt;冲突不该由生成结果的模型自己下结论。&lt;/Text&gt;&#10;            &lt;/Box&gt;&#10;        &lt;/Box&gt;&#10;&#10;    &lt;/Box&gt;&#10;&#10;    &lt;Box style={{ height: 82, flexDirection: 'column', justifyContent: 'center', gap: 6 }}&gt;&#10;        &lt;Text style={{ fontSize: 16, color: '#20344B', lineHeight: 1.6 }}&gt;结构化输出不让错误变得不可能，它让错误更容易被定位。&lt;/Text&gt;&#10;        &lt;Text style={{ fontSize: 14, color: '#546779' }}&gt;青禾社区学习中心开放日　·　第二章 从对话到智能体　·　2.4 结构化输出&lt;/Text&gt;&#10;    &lt;/Box&gt;&#10;&#10;    &lt;Box style={{ height: 40, flexDirection: 'row', justifyContent: 'space-between', alignItems: 'center' }}&gt;&#10;        &lt;Text style={{ fontSize: 14, color: '#546779' }}&gt;2.4 结构化输出&lt;/Text&gt;&#10;        &lt;Text style={{ fontSize: 14, color: '#546779' }}&gt;23 / 23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609600" y="590550"/>
            <a:ext cx="5715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1409700" y="647700"/>
            <a:ext cx="320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结构化输出　·　本节收束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1409700" y="895350"/>
            <a:ext cx="32004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记住三个反问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09600" y="2095500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5" name=""/>
          <p:cNvSpPr/>
          <p:nvPr/>
        </p:nvSpPr>
        <p:spPr>
          <a:xfrm rot="0" flipH="0" flipV="0">
            <a:off x="838200" y="233362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066800" y="2428875"/>
            <a:ext cx="857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76FBF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2114550" y="2343150"/>
            <a:ext cx="9239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响应本身可用吗？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2114550" y="2628900"/>
            <a:ext cx="9239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状态是否完成，有没有拒绝或中断。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609600" y="3276600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50" name=""/>
          <p:cNvSpPr/>
          <p:nvPr/>
        </p:nvSpPr>
        <p:spPr>
          <a:xfrm rot="0" flipH="0" flipV="0">
            <a:off x="838200" y="3514725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1066800" y="3609975"/>
            <a:ext cx="857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76FBF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2114550" y="3524250"/>
            <a:ext cx="9239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这份合同写得够明确吗？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2114550" y="3810000"/>
            <a:ext cx="9239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必填项、枚举、额外字段、时区，都要写清楚。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609600" y="4457700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55" name=""/>
          <p:cNvSpPr/>
          <p:nvPr/>
        </p:nvSpPr>
        <p:spPr>
          <a:xfrm rot="0" flipH="0" flipV="0">
            <a:off x="838200" y="4695825"/>
            <a:ext cx="38100" cy="571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066800" y="4791075"/>
            <a:ext cx="857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6816B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2114550" y="4705350"/>
            <a:ext cx="9239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谁来独立裁定业务规则？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2114550" y="4991100"/>
            <a:ext cx="9239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冲突不该由生成结果的模型自己下结论。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09600" y="5638800"/>
            <a:ext cx="10972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结构化输出不让错误变得不可能，它让错误更容易被定位。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09600" y="5991225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青禾社区学习中心开放日　·　第二章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从对话到智能体　·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895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2.4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结构化输出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23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2026-09-29T03:15:40Z</dcterms:created>
  <dcterms:modified xsi:type="dcterms:W3CDTF">2026-09-29T03:15:40Z</dcterms:modified>
</cp:coreProperties>
</file>