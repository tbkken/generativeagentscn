
<file path=[Content_Types].xml><?xml version="1.0" encoding="utf-8"?>
<Types xmlns="http://schemas.openxmlformats.org/package/2006/content-types">
  <Default Extension="rels" ContentType="application/vnd.openxmlformats-package.relationships+xml"/>
  <Default Extension="xml" ContentType="application/xml"/>
  <Override PartName="/ppt/slides/slide21.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presentation.xml" ContentType="application/vnd.openxmlformats-officedocument.presentationml.presentation.main+xml"/>
  <Override PartName="/docProps/core.xml" ContentType="application/vnd.openxmlformats-package.core-properties+xml"/>
  <Override PartName="/ppt/slides/slide13.xml" ContentType="application/vnd.openxmlformats-officedocument.presentationml.slide+xml"/>
  <Override PartName="/ppt/slides/slide5.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presProps.xml" ContentType="application/vnd.openxmlformats-officedocument.presentationml.presProps+xml"/>
  <Override PartName="/ppt/slides/slide15.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3.xml" ContentType="application/vnd.openxmlformats-officedocument.presentationml.slide+xml"/>
  <Override PartName="/ppt/slides/slide23.xml" ContentType="application/vnd.openxmlformats-officedocument.presentationml.slide+xml"/>
  <Override PartName="/ppt/slides/slide20.xml" ContentType="application/vnd.openxmlformats-officedocument.presentationml.slide+xml"/>
  <Override PartName="/ppt/slides/slide6.xml" ContentType="application/vnd.openxmlformats-officedocument.presentationml.slide+xml"/>
  <Override PartName="/ppt/slides/slide26.xml" ContentType="application/vnd.openxmlformats-officedocument.presentationml.slide+xml"/>
  <Override PartName="/ppt/slides/slide4.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bleStyles.xml" ContentType="application/vnd.openxmlformats-officedocument.presentationml.tableStyles+xml"/>
  <Override PartName="/ppt/slides/slide7.xml" ContentType="application/vnd.openxmlformats-officedocument.presentationml.slide+xml"/>
  <Override PartName="/ppt/viewProps.xml" ContentType="application/vnd.openxmlformats-officedocument.presentationml.viewProps+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27"/>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4" Type="http://schemas.openxmlformats.org/officeDocument/2006/relationships/slide" Target="slides/slide14.xml" /><Relationship Id="rId13" Type="http://schemas.openxmlformats.org/officeDocument/2006/relationships/slide" Target="slides/slide13.xml" /><Relationship Id="rId0" Type="http://schemas.openxmlformats.org/officeDocument/2006/relationships/slideMaster" Target="slideMasters/slideMaster1.xml" /><Relationship Id="rId1" Type="http://schemas.openxmlformats.org/officeDocument/2006/relationships/slide" Target="slides/slide1.xml" /><Relationship Id="rId25" Type="http://schemas.openxmlformats.org/officeDocument/2006/relationships/slide" Target="slides/slide25.xml" /><Relationship Id="rId15" Type="http://schemas.openxmlformats.org/officeDocument/2006/relationships/slide" Target="slides/slide15.xml" /><Relationship Id="rId10" Type="http://schemas.openxmlformats.org/officeDocument/2006/relationships/slide" Target="slides/slide10.xml" /><Relationship Id="rId11" Type="http://schemas.openxmlformats.org/officeDocument/2006/relationships/slide" Target="slides/slide11.xml" /><Relationship Id="rId22" Type="http://schemas.openxmlformats.org/officeDocument/2006/relationships/slide" Target="slides/slide22.xml" /><Relationship Id="rId12" Type="http://schemas.openxmlformats.org/officeDocument/2006/relationships/slide" Target="slides/slide12.xml" /><Relationship Id="rId16" Type="http://schemas.openxmlformats.org/officeDocument/2006/relationships/slide" Target="slides/slide16.xml" /><Relationship Id="rId8" Type="http://schemas.openxmlformats.org/officeDocument/2006/relationships/slide" Target="slides/slide8.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3" Type="http://schemas.openxmlformats.org/officeDocument/2006/relationships/slide" Target="slides/slide23.xml" /><Relationship Id="rId2" Type="http://schemas.openxmlformats.org/officeDocument/2006/relationships/slide" Target="slides/slide2.xml" /><Relationship Id="rId20" Type="http://schemas.openxmlformats.org/officeDocument/2006/relationships/slide" Target="slides/slide20.xml" /><Relationship Id="rId21" Type="http://schemas.openxmlformats.org/officeDocument/2006/relationships/slide" Target="slides/slide21.xml" /><Relationship Id="rId26" Type="http://schemas.openxmlformats.org/officeDocument/2006/relationships/slide" Target="slides/slide26.xml" /><Relationship Id="rId24" Type="http://schemas.openxmlformats.org/officeDocument/2006/relationships/slide" Target="slides/slide24.xml" /><Relationship Id="rId27" Type="http://schemas.openxmlformats.org/officeDocument/2006/relationships/notesMaster" Target="notesMasters/notesMaster1.xml" /><Relationship Id="rId28" Type="http://schemas.openxmlformats.org/officeDocument/2006/relationships/presProps" Target="presProps.xml" /><Relationship Id="rId29" Type="http://schemas.openxmlformats.org/officeDocument/2006/relationships/tableStyles" Target="tableStyles.xml" /><Relationship Id="rId3" Type="http://schemas.openxmlformats.org/officeDocument/2006/relationships/slide" Target="slides/slide3.xml" /><Relationship Id="rId30" Type="http://schemas.openxmlformats.org/officeDocument/2006/relationships/viewProps" Target="viewProps.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9" Type="http://schemas.openxmlformats.org/officeDocument/2006/relationships/slide" Target="slides/slide9.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青禾社区学习中心的开放日方案，是靠已经拿到的材料生成的。材料本身没问题，但预约会变：昨天空着的房间，今天可能已经有安排。所以我们要给系统加一件新东西——按指定房间和指定日期，取回当前的预约记录，避免把旧记录当成现在的事实。</a:t>
            </a:r>
          </a:p>
          <a:p>
            <a:r>
              <a:rPr lang="zh-CN" dirty="0"/>
              <a:t>Function Calling 连接两种职责。模型提出一个结构化的请求，说清楚用哪个工具、带哪些参数；宿主检查这个请求能不能执行，真的去执行，再把结果交回模型。</a:t>
            </a:r>
          </a:p>
          <a:p>
            <a:r>
              <a:rPr lang="zh-CN" dirty="0"/>
              <a:t>有一条界线要记牢：模型只生成调用意图。它不会因为提出了查询就真的看到记录，记录是应用这一侧取回来、再送回去的。</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这一节有四个知识块，回答的是同一个问题：一次工具调用，凭什么算真的取到了依据。</a:t>
            </a:r>
          </a:p>
          <a:p>
            <a:r>
              <a:rPr lang="zh-CN" dirty="0"/>
              <a:t>第一个先把工具做小：只做一个只读查询，输入只有房间编号和日期。小到能一眼看出它有没有越界。</a:t>
            </a:r>
          </a:p>
          <a:p>
            <a:r>
              <a:rPr lang="zh-CN" dirty="0"/>
              <a:t>第二个看证据。模型返回的条目带着工具名、JSON 参数和 call_id。call_id 是把结果认回原来那次调用的凭证，不能换成房间编号，也不能拿别的工具的结果来顶。</a:t>
            </a:r>
          </a:p>
          <a:p>
            <a:r>
              <a:rPr lang="zh-CN" dirty="0"/>
              <a:t>第三个讲回路。工具返回后还要继续发起请求，模型才会读到结果、调整或结束。先把完整的输出保留下来，再追加结果。</a:t>
            </a:r>
          </a:p>
          <a:p>
            <a:r>
              <a:rPr lang="zh-CN" dirty="0"/>
              <a:t>第四个讲失败和无进展：参数错了回传诊断，未知工具不执行，预算耗尽或者反复没有新进展就停下。</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做工具的第一步，是把能力收窄。</a:t>
            </a:r>
          </a:p>
          <a:p>
            <a:r>
              <a:rPr lang="zh-CN" dirty="0"/>
              <a:t>本章的第一个工具只做一件事：按房间和日期，查青禾教学数据里已经有的预约记录。它只读，不连接真实预约系统，也不修改任何预约。输入用稳定的英文编号，reading、craft、discussion 三个值写进枚举里，日期也固定在练习用的那一天。</a:t>
            </a:r>
          </a:p>
          <a:p>
            <a:r>
              <a:rPr lang="zh-CN" dirty="0"/>
              <a:t>为什么不直接给模型一个能执行任意查询的口子？因为我们没有办法逐项验证一个没有边界的工具。参数写成枚举、必填项写清楚、不允许额外字段，出错的范围就小得多。</a:t>
            </a:r>
          </a:p>
          <a:p>
            <a:r>
              <a:rPr lang="zh-CN" dirty="0"/>
              <a:t>第二个工具是校验器，它接收一份候选方案，返回确定性的检查结果。一个负责取数据，一个负责判数据，职责分开，后面排查问题的时候才知道该看哪一边。</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Function Calling 把一件事拆给两个角色做，这一点必须先分清。</a:t>
            </a:r>
          </a:p>
          <a:p>
            <a:r>
              <a:rPr lang="zh-CN" dirty="0"/>
              <a:t>模型服务这一侧做的是提出请求。它给出工具的名字、JSON 编码的参数，还带上一个 call_id。请注意，它给出的是"我想调用什么"，不是"我已经调用了什么"。</a:t>
            </a:r>
          </a:p>
          <a:p>
            <a:r>
              <a:rPr lang="zh-CN" dirty="0"/>
              <a:t>应用宿主这一侧做的是检查和执行。检查这个工具在不在允许列表里、参数合不合法、这次调用有没有超出预算；通过之后，才真的去调用本地那个只读函数。</a:t>
            </a:r>
          </a:p>
          <a:p>
            <a:r>
              <a:rPr lang="zh-CN" dirty="0"/>
              <a:t>本地工具这一侧做的是执行，返回真实结果或者受控的错误。</a:t>
            </a:r>
          </a:p>
          <a:p>
            <a:r>
              <a:rPr lang="zh-CN" dirty="0"/>
              <a:t>有条界线要反复强调：报告里不能把"模型说要查"当成"已经查过"。中间隔着一道检查，也隔着一次真实的执行。</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这条往返链路有六个步骤，我按顺序走一遍。</a:t>
            </a:r>
          </a:p>
          <a:p>
            <a:r>
              <a:rPr lang="zh-CN" dirty="0"/>
              <a:t>应用先把输入和工具定义发给模型：材料、约束、可用工具，以及每个工具要什么参数。</a:t>
            </a:r>
          </a:p>
          <a:p>
            <a:r>
              <a:rPr lang="zh-CN" dirty="0"/>
              <a:t>模型回来的不是文字，而是一个 function_call 条目，写着工具名、JSON 参数和一个 call_id。</a:t>
            </a:r>
          </a:p>
          <a:p>
            <a:r>
              <a:rPr lang="zh-CN" dirty="0"/>
              <a:t>应用拿到后先自检：工具在允许列表里吗？参数在范围内吗？有没有超出预算？检查通过，才去执行本地那个只读函数。</a:t>
            </a:r>
          </a:p>
          <a:p>
            <a:r>
              <a:rPr lang="zh-CN" dirty="0"/>
              <a:t>工具返回真实结果，或者返回受控的错误。应用再用原来那个 call_id 把结果包成 function_call_output 送回模型。</a:t>
            </a:r>
          </a:p>
          <a:p>
            <a:r>
              <a:rPr lang="zh-CN" dirty="0"/>
              <a:t>下一轮要保留完整的输出项，模型才能依据结果继续或结束。模型只提出调用，本章工具不会创建真实预约。</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我们准备两个工具，各管一件事。</a:t>
            </a:r>
          </a:p>
          <a:p>
            <a:r>
              <a:rPr lang="zh-CN" dirty="0"/>
              <a:t>第一个叫 get_room_availability。输入是房间编号和日期，返回青禾教学数据里已有的预约记录，同时说明这次查询覆盖的范围。它只读，不连接真实预约系统，也不改任何预约。教学里这么做是为了让行为可以预期：同样的输入，永远得到同样的输出。</a:t>
            </a:r>
          </a:p>
          <a:p>
            <a:r>
              <a:rPr lang="zh-CN" dirty="0"/>
              <a:t>第二个叫 validate_schedule，接收一份候选方案，返回确定性的检查结果。后面那个十点开始、十点结束一比的手作候选，就是靠它发现和现有预约冲突的。</a:t>
            </a:r>
          </a:p>
          <a:p>
            <a:r>
              <a:rPr lang="zh-CN" dirty="0"/>
              <a:t>一个取数据，一个判数据，职责分开。模型在中间只负责决定要问什么，以及拿到答案之后怎么调整方案。</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一个工具能不能被放心调用，取决于它的定义写得够不够清楚。</a:t>
            </a:r>
          </a:p>
          <a:p>
            <a:r>
              <a:rPr lang="zh-CN" dirty="0"/>
              <a:t>参数用稳定的编号，不用中文名称。reading、craft、discussion 直接写进枚举，模型不必去猜"手作教室"对应哪个值。</a:t>
            </a:r>
          </a:p>
          <a:p>
            <a:r>
              <a:rPr lang="zh-CN" dirty="0"/>
              <a:t>用途和适用范围写在说明里：查什么、只读、数据来自青禾教学材料。</a:t>
            </a:r>
          </a:p>
          <a:p>
            <a:r>
              <a:rPr lang="zh-CN" dirty="0"/>
              <a:t>strict 打开以后，调用参数的结构被约束住，不能临时多塞字段。</a:t>
            </a:r>
          </a:p>
          <a:p>
            <a:r>
              <a:rPr lang="zh-CN" dirty="0"/>
              <a:t>但请注意：strict 只管参数结构。这个工具允不允许调用、参数值是否有效、当前身份有没有权限读取，仍然要由执行端检查。工具描述本身不会建立认证和授权机制。</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工具定义好了，接下来要看的是：一次调用结束以后，我们手上留下了什么。</a:t>
            </a:r>
          </a:p>
          <a:p>
            <a:r>
              <a:rPr lang="zh-CN" dirty="0"/>
              <a:t>模型提出查询手作室预约的请求，回来的条目类型是 function_call。这个条目里带着工具名、JSON 编码的参数，还有一个 call_id。</a:t>
            </a:r>
          </a:p>
          <a:p>
            <a:r>
              <a:rPr lang="zh-CN" dirty="0"/>
              <a:t>这三样东西各有用处。工具名说明要调哪个函数；参数说明这次查询的条件；call_id 则是这次调用的身份凭证。</a:t>
            </a:r>
          </a:p>
          <a:p>
            <a:r>
              <a:rPr lang="zh-CN" dirty="0"/>
              <a:t>为什么凭证这么重要？因为一次响应里可能包含多个调用。如果同时查三个房间，就会回来三条 function_call。结果回填的时候，必须让每条结果都能认回它原来那一次调用，否则数据就会串位。</a:t>
            </a:r>
          </a:p>
          <a:p>
            <a:r>
              <a:rPr lang="zh-CN" dirty="0"/>
              <a:t>判断一条工具结果值不值得信，先看它能不能被关联回原来那次调用。</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假设模型提出查询手作室的请求，返回的条目类型是 function_call，里面有三样东西。</a:t>
            </a:r>
          </a:p>
          <a:p>
            <a:r>
              <a:rPr lang="zh-CN" dirty="0"/>
              <a:t>name 是工具名，这里是 get_room_availability。程序拿到以后不会随便调用，而是先对照允许列表。</a:t>
            </a:r>
          </a:p>
          <a:p>
            <a:r>
              <a:rPr lang="zh-CN" dirty="0"/>
              <a:t>arguments 是 JSON 编码的参数：房间是 craft，日期是 2026 年 10 月 17 日。程序要先把这段文本解析成对象，再检查字段和取值。</a:t>
            </a:r>
          </a:p>
          <a:p>
            <a:r>
              <a:rPr lang="zh-CN" dirty="0"/>
              <a:t>call_id 是这次调用的编号。查询执行完以后，结果要用同一个 call_id 包成 function_call_output 送回去，模型才知道这是它刚才那次请求的答案。</a:t>
            </a:r>
          </a:p>
          <a:p>
            <a:r>
              <a:rPr lang="zh-CN" dirty="0"/>
              <a:t>顺序不能乱：先解析参数，再调用函数，最后回填结果。</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把一次调用摊开来看，是这样一条链。</a:t>
            </a:r>
          </a:p>
          <a:p>
            <a:r>
              <a:rPr lang="zh-CN" dirty="0"/>
              <a:t>每条 function_call 带着名称、参数和 call_id 进来，应用实际执行对应的工具，然后用同一份 call_id 把 function_call_output 送出去。下一轮的输入里，要包含完整的输出项和各条工具结果。</a:t>
            </a:r>
          </a:p>
          <a:p>
            <a:r>
              <a:rPr lang="zh-CN" dirty="0"/>
              <a:t>旁边还有一条同样重要的线：保留完整的 response.output。不能只取调用名，也不能只取最后那段给人看的文字。会话需要的其他条目丢掉了，后面的推理就会缺东西，用推理模型时尤其明显。</a:t>
            </a:r>
          </a:p>
          <a:p>
            <a:r>
              <a:rPr lang="zh-CN" dirty="0"/>
              <a:t>最后一条规则是给多调用准备的：一次响应里可能有多个调用，必须逐条关联，不能只处理第一个。</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有三件事不能省，我逐条说。</a:t>
            </a:r>
          </a:p>
          <a:p>
            <a:r>
              <a:rPr lang="zh-CN" dirty="0"/>
              <a:t>第一件，不能拿房间 ID 代替 call_id 去匹配结果。房间是会重复出现的：十分钟前查过一次 craft，现在再查一次，两次的房间编号一模一样。只有 call_id 能说明这条结果是哪一次请求的答案。</a:t>
            </a:r>
          </a:p>
          <a:p>
            <a:r>
              <a:rPr lang="zh-CN" dirty="0"/>
              <a:t>第二件，不能把不同工具的结果随意拼接。查询工具给的是预约记录和查询范围，校验工具给的是通过与否的判定，两者的含义完全不同，混在一起就说不清哪条支持哪个结论。</a:t>
            </a:r>
          </a:p>
          <a:p>
            <a:r>
              <a:rPr lang="zh-CN" dirty="0"/>
              <a:t>第三件才是正确做法：先保留完整的 response.output，再把对应结果追加进去。顺序对了，每条结果各归各位，后面核对的时候才有依据。</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一串工具调用做完，手上应该有四样东西，缺一样都说不清结论是怎么来的。</a:t>
            </a:r>
          </a:p>
          <a:p>
            <a:r>
              <a:rPr lang="zh-CN" dirty="0"/>
              <a:t>第一样，查的是哪一天、哪个房间。日期和房间取自这次调用的参数，不是事后回忆。</a:t>
            </a:r>
          </a:p>
          <a:p>
            <a:r>
              <a:rPr lang="zh-CN" dirty="0"/>
              <a:t>第二样，工具实际返回了什么。真实记录就是真实记录，受控错误就是受控错误，不能换成推测。</a:t>
            </a:r>
          </a:p>
          <a:p>
            <a:r>
              <a:rPr lang="zh-CN" dirty="0"/>
              <a:t>第三样，模型最后采用了哪个时段。哪一段时间被写进了候选，这是模型的判断，要单独记下来。</a:t>
            </a:r>
          </a:p>
          <a:p>
            <a:r>
              <a:rPr lang="zh-CN" dirty="0"/>
              <a:t>第四样，通过检查的那一版候选。校验器给出通过结论的方案，才是可以交付的。</a:t>
            </a:r>
          </a:p>
          <a:p>
            <a:r>
              <a:rPr lang="zh-CN" dirty="0"/>
              <a:t>把这四样串起来，才是一条能核对的证据链。报告里写一句"避开了十点的预约"，替代不了这四行记录，因为别人没有办法顺着这句话回到原始数据。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工具定义好了，证据也认得回来，接下来要把它接成一个回路。</a:t>
            </a:r>
          </a:p>
          <a:p>
            <a:r>
              <a:rPr lang="zh-CN" dirty="0"/>
              <a:t>关键的认识是：工具返回结果，事情并没有结束。应用还要再发起一次请求，把结果交回模型，模型才会读到它，然后决定继续查、修正方案还是给出结论。</a:t>
            </a:r>
          </a:p>
          <a:p>
            <a:r>
              <a:rPr lang="zh-CN" dirty="0"/>
              <a:t>如果不接着发起请求，我们手上只有一堆原始记录，模型并不知道有这些记录。</a:t>
            </a:r>
          </a:p>
          <a:p>
            <a:r>
              <a:rPr lang="zh-CN" dirty="0"/>
              <a:t>回路里还有两个容易忽略的点。一是顺序：先把完整的输出保留下来，再追加工具结果，颠倒过来会丢条目。二是判定的位置：方案最后能不能用，不取决于模型说了什么，而取决于应用这侧的检查有没有通过。</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回路拆开是五步，我按顺序念一遍，每一步都对应脚本里的一行。</a:t>
            </a:r>
          </a:p>
          <a:p>
            <a:r>
              <a:rPr lang="zh-CN" dirty="0"/>
              <a:t>第一步，创建请求。模型、指令、历史输入和工具清单一起发出去。</a:t>
            </a:r>
          </a:p>
          <a:p>
            <a:r>
              <a:rPr lang="zh-CN" dirty="0"/>
              <a:t>第二步，把完整的响应输出接进历史。这一步是后面所有事的基础。</a:t>
            </a:r>
          </a:p>
          <a:p>
            <a:r>
              <a:rPr lang="zh-CN" dirty="0"/>
              <a:t>第三步，从输出里挑出所有类型是 function_call 的条目。注意是"所有"，不是第一条。</a:t>
            </a:r>
          </a:p>
          <a:p>
            <a:r>
              <a:rPr lang="zh-CN" dirty="0"/>
              <a:t>第四步，逐条处理。把 arguments 解析成对象，按照工具名分发到对应的函数去执行。</a:t>
            </a:r>
          </a:p>
          <a:p>
            <a:r>
              <a:rPr lang="zh-CN" dirty="0"/>
              <a:t>第五步，把结果包成 function_call_output 追加回历史，call_id 原样带上，输出内容序列化成 JSON。</a:t>
            </a:r>
          </a:p>
          <a:p>
            <a:r>
              <a:rPr lang="zh-CN" dirty="0"/>
              <a:t>五步走完，历史里就同时有请求、结果和原始输出，下一轮可以直接发出去。</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这段就是回路的骨架，我强调两个细节。</a:t>
            </a:r>
          </a:p>
          <a:p>
            <a:r>
              <a:rPr lang="zh-CN" dirty="0"/>
              <a:t>第一个细节是顺序。history.extend(response.output) 这一句在前，追加 function_call_output 的循环在后。先留住模型这次发出的全部输出条目，再把工具结果补上去。颠倒过来，或者只留下调用名和最后那段文字，会话需要的其他条目就没了。用推理模型的时候，丢掉相关条目会直接影响下一轮。</a:t>
            </a:r>
          </a:p>
          <a:p>
            <a:r>
              <a:rPr lang="zh-CN" dirty="0"/>
              <a:t>第二个细节是范围。这段展示的是调用之后的衔接，不是省略了保护措施的完整运行器。配套的完整脚本还检查响应状态、调用预算、参数和工具错误，任何一项不过关都不会往下走。</a:t>
            </a:r>
          </a:p>
          <a:p>
            <a:r>
              <a:rPr lang="zh-CN" dirty="0"/>
              <a:t>读代码的时候请把这两层分开看：骨架说明顺序，保护措施说明边界。</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工具调用成功，是不是就等于任务做完了？不是，这两件事要分开看。</a:t>
            </a:r>
          </a:p>
          <a:p>
            <a:r>
              <a:rPr lang="zh-CN" dirty="0"/>
              <a:t>工具返回真实结果，只说明我们取数据这一步做对了。方案最后能不能交付，还得看候选有没有通过检查。中间隔着模型的判断，也隔着应用的核验。</a:t>
            </a:r>
          </a:p>
          <a:p>
            <a:r>
              <a:rPr lang="zh-CN" dirty="0"/>
              <a:t>再看模型停止这件事。它可能停在三种地方：一种是继续发请求，说明它读到了结果，正在调整方案；一种是直接给出最终回答，这时候回答的内容仍然要按检查条件核验；还有一种是停止生成，既没有继续查，也没有给出可核验的结论。</a:t>
            </a:r>
          </a:p>
          <a:p>
            <a:r>
              <a:rPr lang="zh-CN" dirty="0"/>
              <a:t>最后一种最需要警觉，它往往意味着提前作答，或者手上的资料不够。停止本身不是完成的证据。</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本章把成功的判定放在应用这一侧，不放模型的措辞里。规则很简单：只有最后一次候选检查通过，才允许作为交付方案保存。</a:t>
            </a:r>
          </a:p>
          <a:p>
            <a:r>
              <a:rPr lang="zh-CN" dirty="0"/>
              <a:t>这条规则要落到三件事上。</a:t>
            </a:r>
          </a:p>
          <a:p>
            <a:r>
              <a:rPr lang="zh-CN" dirty="0"/>
              <a:t>候选通过检查，才允许保存，这是唯一的放行条件。</a:t>
            </a:r>
          </a:p>
          <a:p>
            <a:r>
              <a:rPr lang="zh-CN" dirty="0"/>
              <a:t>候选没通过，就不许保存，哪怕工具调用全部成功。查询成功和方案可用是两回事。</a:t>
            </a:r>
          </a:p>
          <a:p>
            <a:r>
              <a:rPr lang="zh-CN" dirty="0"/>
              <a:t>说明文件也要基于最终那一版候选来生成。这一点容易被忽略：如果文件是先写的，模型后来又改了候选，交付包里就会同时存在旧的文字说明和新的排期，两者对不上。</a:t>
            </a:r>
          </a:p>
          <a:p>
            <a:r>
              <a:rPr lang="zh-CN" dirty="0"/>
              <a:t>把判定条件写成代码里的一个判断，而不是写在报告里的一句话。</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回路接起来了，接下来要处理的是它出错的时候。</a:t>
            </a:r>
          </a:p>
          <a:p>
            <a:r>
              <a:rPr lang="zh-CN" dirty="0"/>
              <a:t>收到一个工具请求，应用要做的判断不是"能不能执行"，而是"应该走哪一条路"。符合条件才执行；参数可以修正的，把诊断信息回传出去；预算耗尽，或者反复没有新进展，就停下来。</a:t>
            </a:r>
          </a:p>
          <a:p>
            <a:r>
              <a:rPr lang="zh-CN" dirty="0"/>
              <a:t>这里面最容易被忽略的是最后一条。停下来不是失败，而是保护：继续跑下去只会消耗预算，还会让报告里多出一堆没有意义的尝试。</a:t>
            </a:r>
          </a:p>
          <a:p>
            <a:r>
              <a:rPr lang="zh-CN" dirty="0"/>
              <a:t>还有一个前提：工具名必须来自允许列表。模型返回的字符串不能直接交给动态执行，未知工具、无效 JSON、字段类型错误都要进入受控的错误分支，而不是拼一把试试看。</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收到工具请求之后，应用面对的是三条分支，不是一条。</a:t>
            </a:r>
          </a:p>
          <a:p>
            <a:r>
              <a:rPr lang="zh-CN" dirty="0"/>
              <a:t>第一条是执行。工具名在允许列表里，参数符合约定，这次调用也没有超出预算，那就真的去调用那个只读函数。</a:t>
            </a:r>
          </a:p>
          <a:p>
            <a:r>
              <a:rPr lang="zh-CN" dirty="0"/>
              <a:t>第二条是回传诊断。参数可以修正的错误，比如房间编号不在枚举里、日期字段类型不对，不能直接执行，也不该当作崩溃处理，而是把明确的错误类别交回模型，让它自己修正输入再试。</a:t>
            </a:r>
          </a:p>
          <a:p>
            <a:r>
              <a:rPr lang="zh-CN" dirty="0"/>
              <a:t>第三条是停止。预算用完了，或者同一件事反复没有新进展，就停下来，并且把停止的原因记下来。停下来不等于失败，它是保护。</a:t>
            </a:r>
          </a:p>
          <a:p>
            <a:r>
              <a:rPr lang="zh-CN" dirty="0"/>
              <a:t>这三条分支有一个共同前提：工具名必须来自允许列表。模型返回的字符串不能直接交给动态执行，未知工具、无效 JSON、字段类型错误都要走受控的错误分支。</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把校验往前放，是这套保护里最重要的一条。</a:t>
            </a:r>
          </a:p>
          <a:p>
            <a:r>
              <a:rPr lang="zh-CN" dirty="0"/>
              <a:t>收到工具请求，先不要执行，先做一次执行前检查：预算还剩多少、call_id 是否成对、参数是否在允许范围内、工具名字是否在允许列表里。检查走完，才分三路。</a:t>
            </a:r>
          </a:p>
          <a:p>
            <a:r>
              <a:rPr lang="zh-CN" dirty="0"/>
              <a:t>可执行的，调用只读函数；可回传的输入错误，返回诊断；触发停止条件的，直接停下并保留原因。真正执行和受控错误，最后都会走到同一步：记录并回传。</a:t>
            </a:r>
          </a:p>
          <a:p>
            <a:r>
              <a:rPr lang="zh-CN" dirty="0"/>
              <a:t>还有两条限制要单独说。教学上限是八轮模型响应、十六条进入处理的工具请求，计数在参数解析与执行前递增，不是成功执行的次数。同一个函数和同一组参数累计出现第三次，就在执行前拦下来，标记为未执行，这样两个工具交替重复也能被发现。</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工具失败的时候，返回什么，比返回得漂不漂亮重要得多。</a:t>
            </a:r>
          </a:p>
          <a:p>
            <a:r>
              <a:rPr lang="zh-CN" dirty="0"/>
              <a:t>这里有两种"空"，一定要分开。第一种是"该日期没有预约"：查询正常执行了，范围内的确没有记录，返回一个空列表是对的。第二种是"这个日期不在本教学数据支持的范围内"：这次查询根本没有做成，它是一个失败，必须返回明确的错误类别。</a:t>
            </a:r>
          </a:p>
          <a:p>
            <a:r>
              <a:rPr lang="zh-CN" dirty="0"/>
              <a:t>为什么要较真？因为如果两种情况都返回空列表，模型看到的结果一模一样，它就有很大概率把"查不了"读成"没有预约"，然后给出一个看起来很合理、实际上没有依据的方案。</a:t>
            </a:r>
          </a:p>
          <a:p>
            <a:r>
              <a:rPr lang="zh-CN" dirty="0"/>
              <a:t>所以工具失败要返回错误类别，不要返回空列表。这也是为什么我们在前面强调参数里要写枚举、执行端要检查范围。</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配套程序里有三个保护参数，我建议把它们记住，因为它们代表了三种不同的"停"。</a:t>
            </a:r>
          </a:p>
          <a:p>
            <a:r>
              <a:rPr lang="zh-CN" dirty="0"/>
              <a:t>第一个是八，最多八轮模型响应。模型每提出一次新的请求就算一轮。</a:t>
            </a:r>
          </a:p>
          <a:p>
            <a:r>
              <a:rPr lang="zh-CN" dirty="0"/>
              <a:t>第二个是十六，最多十六条进入处理的工具请求。注意这个口径：计数在参数解析与执行前递增，也就是说，被拦下、被拒绝的请求一样计数。它不是成功执行的次数。</a:t>
            </a:r>
          </a:p>
          <a:p>
            <a:r>
              <a:rPr lang="zh-CN" dirty="0"/>
              <a:t>第三个是三，同一个函数带着同一组参数累计出现第三次，就在执行前触发无进展保护，标记为未执行。为什么按"函数加参数"来数？因为这样连两个工具交替重复也能发现。</a:t>
            </a:r>
          </a:p>
          <a:p>
            <a:r>
              <a:rPr lang="zh-CN" dirty="0"/>
              <a:t>达到上限就报告已经完成的内容和停止的原因。最后提醒一句：这些是配套程序的保护参数，不是 OpenAI 的统一限制。</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只读查询和写操作的性质完全不同，我把它拆成三行对照。</a:t>
            </a:r>
          </a:p>
          <a:p>
            <a:r>
              <a:rPr lang="zh-CN" dirty="0"/>
              <a:t>看典型操作。查询是去读已有的预约记录；写操作是预订、转账或者发送，它会改变外部世界的状态。</a:t>
            </a:r>
          </a:p>
          <a:p>
            <a:r>
              <a:rPr lang="zh-CN" dirty="0"/>
              <a:t>看重试的代价。只读查询相对容易重试，多查一次不会有副作用。写操作不一样：一次网络超时可能发生在外部操作完成之后，也就是说，对方其实已经收到了，我们这边只是没等到回应。这时候盲目重复，就会造成重复的预订或者重复的付款。</a:t>
            </a:r>
          </a:p>
          <a:p>
            <a:r>
              <a:rPr lang="zh-CN" dirty="0"/>
              <a:t>看还要确认什么。查询主要确认参数和允许范围；写操作还需要额外的幂等设计和状态确认。</a:t>
            </a:r>
          </a:p>
          <a:p>
            <a:r>
              <a:rPr lang="zh-CN" dirty="0"/>
              <a:t>本章不执行这类写操作，但要从一开始就把查询和提交分开对待。</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这一节最后要落到一次真实的观察上。</a:t>
            </a:r>
          </a:p>
          <a:p>
            <a:r>
              <a:rPr lang="zh-CN" dirty="0"/>
              <a:t>WorkBuddy 里的工具通常由宿主或者插件提供。这本书没有发现需要在界面里逐个粘贴任意函数定义的通用入口，所以我不会虚构一个"开启 Function Call"的按钮；同一套只读查询能力，下一节通过 MCP 接进来。</a:t>
            </a:r>
          </a:p>
          <a:p>
            <a:r>
              <a:rPr lang="zh-CN" dirty="0"/>
              <a:t>能做的是一件明确的事：提一个任务，查询 craft 在 2026-10-17 的预约，再为十人、六十分钟的手作体验提出可行安排。然后展开实际执行步骤，核对调用了哪个工具、带的参数，再核对返回的十点到十点半预约和最终候选。</a:t>
            </a:r>
          </a:p>
          <a:p>
            <a:r>
              <a:rPr lang="zh-CN" dirty="0"/>
              <a:t>如果客户端只显示摘要，就不要补造 call_id 和完整响应：把看得见的标成客户端观察，服务日志标成服务端证据。</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最后留三组对照，都是可以自己动手做的。</a:t>
            </a:r>
          </a:p>
          <a:p>
            <a:r>
              <a:rPr lang="zh-CN" dirty="0"/>
              <a:t>第一组是同一句请求、两种条件。先在不提供查询工具的情况下问手作室的预约，再在接入工具之后把同一句话重复一遍。前者应该老实说明无法核实，后者应该拿工具结果说话。比较的对象是证据有没有到位，不是第二次回答得有没有更自信。</a:t>
            </a:r>
          </a:p>
          <a:p>
            <a:r>
              <a:rPr lang="zh-CN" dirty="0"/>
              <a:t>剩下两组是失败对照。查询一个不存在的房间编号，应该返回无效请求或者要求澄清，不能悄悄换成别的房间。校验十点到十一点的手作候选，应该发现和已有预约冲突并要求修正候选，不能去改原来的预约。</a:t>
            </a:r>
          </a:p>
          <a:p>
            <a:r>
              <a:rPr lang="zh-CN" dirty="0"/>
              <a:t>把调用意图、执行结果和最终判定连成一条线，这三组对照就有据可查了。</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把这一节收成三个问题，以后遇到工具调用都可以用它来核对。</a:t>
            </a:r>
          </a:p>
          <a:p>
            <a:r>
              <a:rPr lang="zh-CN" dirty="0"/>
              <a:t>第一个，谁提出调用。是模型提出的，里面带着工具名、参数和 call_id，提出的只是意图。</a:t>
            </a:r>
          </a:p>
          <a:p>
            <a:r>
              <a:rPr lang="zh-CN" dirty="0"/>
              <a:t>第二个，谁实际执行。是应用这一侧执行的。执行之前检查允许列表、参数和预算；执行之后记住，只读查询可以重试，写操作不行。</a:t>
            </a:r>
          </a:p>
          <a:p>
            <a:r>
              <a:rPr lang="zh-CN" dirty="0"/>
              <a:t>第三个，谁判定可用。判定在应用里，不在模型的措辞里。只有最后一次候选检查通过，才允许作为交付方案保存。</a:t>
            </a:r>
          </a:p>
          <a:p>
            <a:r>
              <a:rPr lang="zh-CN" dirty="0"/>
              <a:t>顺着一轮调用往下走：模型请求、应用检查并执行、结果按 call_id 交回，然后再请求一次。下一节，我们把同一套只读能力接到 MCP 上。</a:t>
            </a: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6.xml"/></Relationships>
</file>

<file path=ppt/slides/slide1.xml><?xml version="1.0" encoding="utf-8"?>
<p:sld xmlns:p="http://schemas.openxmlformats.org/presentationml/2006/main" xmlns:a="http://schemas.openxmlformats.org/drawingml/2006/main">
  <p:cSld>
    <p:spTree>
      <p:nvGrpSpPr>
        <p:cNvPr id="1" name="" descr="&lt;Slide notes={`青禾社区学习中心的开放日方案，是靠已经拿到的材料生成的。材料本身没问题，但预约会变：昨天空着的房间，今天可能已经有安排。所以我们要给系统加一件新东西——按指定房间和指定日期，取回当前的预约记录，避免把旧记录当成现在的事实。&#10;&#10;Function Calling 连接两种职责。模型提出一个结构化的请求，说清楚用哪个工具、带哪些参数；宿主检查这个请求能不能执行，真的去执行，再把结果交回模型。&#10;&#10;有一条界线要记牢：模型只生成调用意图。它不会因为提出了查询就真的看到记录，记录是应用这一侧取回来、再送回去的。`} style={{ width: 1280, height: 720, background: '#FFFFFF', flexDirection: 'column', padding: '20px 64px' }}&gt;&#10;&#10;    &lt;Box style={{ height: 100, flexDirection: 'row', alignItems: 'center', gap: 12 }}&gt;&#10;        &lt;Box style={{ width: 4, height: 20, background: '#276FBF' }} /&gt;&#10;        &lt;Text style={{ fontSize: 15, color: '#546779' }}&gt;第二章　从对话到智能体：技术、OpenAI API 与 WorkBuddy　·　2.5&lt;/Text&gt;&#10;    &lt;/Box&gt;&#10;&#10;    &lt;Box style={{ height: 540, flexDirection: 'row', alignItems: 'center', gap: 32 }}&gt;&#10;&#10;        &lt;Box style={{ width: 620, flexDirection: 'column', justifyContent: 'center', gap: 14 }}&gt;&#10;            &lt;Text style={{ fontSize: 52, fontWeight: 'bold', color: '#20344B', lineHeight: 1.2 }}&gt;Function Calling&lt;/Text&gt;&#10;            &lt;Text style={{ fontSize: 22, fontWeight: 'bold', color: '#276FBF' }}&gt;从提出请求到取得工具结果&lt;/Text&gt;&#10;            &lt;Box style={{ width: 72, height: 4, background: '#276FBF' }} /&gt;&#10;            &lt;Text style={{ fontSize: 18, color: '#546779', lineHeight: 1.7, width: 600 }}&gt;模型只生成调用意图，不会查到记录。应用检查这次请求、执行本地只读工具，再按同一个 call_id 把结果交回模型。&lt;/Text&gt;&#10;            &lt;Box style={{ flexDirection: 'row', gap: 16, marginTop: 6 }}&gt;&#10;                &lt;Box style={{ width: 190, height: 44, background: '#EDF4FC', borderRadius: 8, justifyContent: 'center', alignItems: 'center' }}&gt;&#10;                    &lt;Text style={{ fontSize: 15, color: '#276FBF' }}&gt;谁提出调用&lt;/Text&gt;&#10;                &lt;/Box&gt;&#10;                &lt;Box style={{ width: 190, height: 44, background: '#EDF4FC', borderRadius: 8, justifyContent: 'center', alignItems: 'center' }}&gt;&#10;                    &lt;Text style={{ fontSize: 15, color: '#276FBF' }}&gt;谁执行工具&lt;/Text&gt;&#10;                &lt;/Box&gt;&#10;                &lt;Box style={{ width: 190, height: 44, background: '#FFF4E6', borderRadius: 8, justifyContent: 'center', alignItems: 'center' }}&gt;&#10;                    &lt;Text style={{ fontSize: 15, color: '#CB6B28' }}&gt;谁判定可用&lt;/Text&gt;&#10;                &lt;/Box&gt;&#10;            &lt;/Box&gt;&#10;        &lt;/Box&gt;&#10;&#10;        &lt;Box style={{ width: 500, flexDirection: 'column', justifyContent: 'center' }}&gt;&#10;            &lt;Box style={{ width: 500, height: 74, background: '#EDF4FC', borderRadius: 8, padding: '10px 18px', flexDirection: 'column', gap: 2, justifyContent: 'center' }}&gt;&#10;                &lt;Text style={{ fontSize: 19, fontWeight: 'bold', color: '#276FBF' }}&gt;模型提出请求&lt;/Text&gt;&#10;                &lt;Text style={{ fontSize: 14, color: '#546779' }}&gt;名称、JSON 参数与 call_id&lt;/Text&gt;&#10;            &lt;/Box&gt;&#10;            &lt;Box style={{ width: 500, height: 26, justifyContent: 'center', alignItems: 'center' }}&gt;&lt;Text style={{ fontSize: 18, color: '#276FBF' }}&gt;↓&lt;/Text&gt;&lt;/Box&gt;&#10;            &lt;Box style={{ width: 500, height: 74, background: '#EDF4FC', borderRadius: 8, padding: '10px 18px', flexDirection: 'column', gap: 2, justifyContent: 'center' }}&gt;&#10;                &lt;Text style={{ fontSize: 19, fontWeight: 'bold', color: '#276FBF' }}&gt;应用检查这次请求&lt;/Text&gt;&#10;                &lt;Text style={{ fontSize: 14, color: '#546779' }}&gt;允许范围、参数与预算&lt;/Text&gt;&#10;            &lt;/Box&gt;&#10;            &lt;Box style={{ width: 500, height: 26, justifyContent: 'center', alignItems: 'center' }}&gt;&lt;Text style={{ fontSize: 18, color: '#26816B' }}&gt;↓&lt;/Text&gt;&lt;/Box&gt;&#10;            &lt;Box style={{ width: 500, height: 74, background: '#ECF7F2', borderRadius: 8, padding: '10px 18px', flexDirection: 'column', gap: 2, justifyContent: 'center' }}&gt;&#10;                &lt;Text style={{ fontSize: 19, fontWeight: 'bold', color: '#26816B' }}&gt;工具实际执行&lt;/Text&gt;&#10;                &lt;Text style={{ fontSize: 14, color: '#546779' }}&gt;本地只读查询或校验&lt;/Text&gt;&#10;            &lt;/Box&gt;&#10;            &lt;Box style={{ width: 500, height: 26, justifyContent: 'center', alignItems: 'center' }}&gt;&lt;Text style={{ fontSize: 18, color: '#26816B' }}&gt;↓&lt;/Text&gt;&lt;/Box&gt;&#10;            &lt;Box style={{ width: 500, height: 74, background: '#ECF7F2', borderRadius: 8, padding: '10px 18px', flexDirection: 'column', gap: 2, justifyContent: 'center' }}&gt;&#10;                &lt;Text style={{ fontSize: 19, fontWeight: 'bold', color: '#26816B' }}&gt;结果交回模型&lt;/Text&gt;&#10;                &lt;Text style={{ fontSize: 14, color: '#546779' }}&gt;function_call_output&lt;/Text&gt;&#10;            &lt;/Box&gt;&#10;        &lt;/Box&gt;&#10;&#10;    &lt;/Box&gt;&#10;&#10;    &lt;Box style={{ height: 40, flexDirection: 'row', justifyContent: 'space-between', alignItems: 'center' }}&gt;&#10;        &lt;Text style={{ fontSize: 14, color: '#546779' }}&gt;2.5 Function Calling&lt;/Text&gt;&#10;        &lt;Text style={{ fontSize: 14, color: '#546779' }}&gt;01 / 26&lt;/Text&gt;&#10;    &lt;/Box&gt;&#10;&#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sp>
        <p:nvSpPr>
          <p:cNvPr id="3" name=""/>
          <p:cNvSpPr/>
          <p:nvPr/>
        </p:nvSpPr>
        <p:spPr>
          <a:xfrm rot="0" flipH="0" flipV="0">
            <a:off x="609600" y="571500"/>
            <a:ext cx="38100" cy="190500"/>
          </a:xfrm>
          <a:prstGeom prst="rect">
            <a:avLst/>
          </a:prstGeom>
          <a:solidFill>
            <a:srgbClr val="276FBF"/>
          </a:solidFill>
          <a:ln/>
        </p:spPr>
        <p:txBody>
          <a:bodyPr/>
          <a:p/>
        </p:txBody>
      </p:sp>
      <p:sp>
        <p:nvSpPr>
          <p:cNvPr id="4" name="" descr="{&quot;isTemplate&quot;:true,&quot;type&quot;:&quot;text&quot;}"/>
          <p:cNvSpPr txBox="1"/>
          <p:nvPr/>
        </p:nvSpPr>
        <p:spPr>
          <a:xfrm rot="0" flipH="0" flipV="0">
            <a:off x="762000" y="581025"/>
            <a:ext cx="4486275" cy="171450"/>
          </a:xfrm>
          <a:prstGeom prst="rect"/>
        </p:spPr>
        <p:txBody>
          <a:bodyPr wrap="none" lIns="0" tIns="0" rIns="0" bIns="0"/>
          <a:p>
            <a:pPr>
              <a:lnSpc>
                <a:spcPct val="100000"/>
              </a:lnSpc>
            </a:pPr>
            <a:r>
              <a:rPr lang="zh-CN" sz="1125">
                <a:solidFill>
                  <a:srgbClr val="546779"/>
                </a:solidFill>
                <a:latin typeface="Microsoft YaHei"/>
                <a:ea typeface="Microsoft YaHei"/>
              </a:rPr>
              <a:t>第二章　从对话到智能体：技术、</a:t>
            </a:r>
            <a:r>
              <a:rPr lang="en-US" sz="1125">
                <a:solidFill>
                  <a:srgbClr val="546779"/>
                </a:solidFill>
                <a:latin typeface="Microsoft YaHei"/>
                <a:ea typeface="Microsoft YaHei"/>
              </a:rPr>
              <a:t xml:space="preserve">OpenAI API </a:t>
            </a:r>
            <a:r>
              <a:rPr lang="zh-CN" sz="1125">
                <a:solidFill>
                  <a:srgbClr val="546779"/>
                </a:solidFill>
                <a:latin typeface="Microsoft YaHei"/>
                <a:ea typeface="Microsoft YaHei"/>
              </a:rPr>
              <a:t>与</a:t>
            </a:r>
            <a:r>
              <a:rPr lang="en-US" sz="1125">
                <a:solidFill>
                  <a:srgbClr val="546779"/>
                </a:solidFill>
                <a:latin typeface="Microsoft YaHei"/>
                <a:ea typeface="Microsoft YaHei"/>
              </a:rPr>
              <a:t xml:space="preserve"> WorkBuddy</a:t>
            </a:r>
            <a:r>
              <a:rPr lang="zh-CN" sz="1125">
                <a:solidFill>
                  <a:srgbClr val="546779"/>
                </a:solidFill>
                <a:latin typeface="Microsoft YaHei"/>
                <a:ea typeface="Microsoft YaHei"/>
              </a:rPr>
              <a:t>　·　</a:t>
            </a:r>
            <a:r>
              <a:rPr lang="en-US" sz="1125">
                <a:solidFill>
                  <a:srgbClr val="546779"/>
                </a:solidFill>
                <a:latin typeface="Microsoft YaHei"/>
                <a:ea typeface="Microsoft YaHei"/>
              </a:rPr>
              <a:t>2.5</a:t>
            </a:r>
            <a:endParaRPr/>
          </a:p>
        </p:txBody>
      </p:sp>
      <p:sp>
        <p:nvSpPr>
          <p:cNvPr id="5" name="" descr="{&quot;isTemplate&quot;:true,&quot;type&quot;:&quot;text&quot;}"/>
          <p:cNvSpPr txBox="1"/>
          <p:nvPr/>
        </p:nvSpPr>
        <p:spPr>
          <a:xfrm rot="0" flipH="0" flipV="0">
            <a:off x="609600" y="2352675"/>
            <a:ext cx="5905500" cy="714375"/>
          </a:xfrm>
          <a:prstGeom prst="rect"/>
        </p:spPr>
        <p:txBody>
          <a:bodyPr wrap="none" lIns="0" tIns="0" rIns="0" bIns="0"/>
          <a:p>
            <a:pPr>
              <a:lnSpc>
                <a:spcPct val="120000"/>
              </a:lnSpc>
            </a:pPr>
            <a:r>
              <a:rPr lang="en-US" sz="3900" b="1">
                <a:solidFill>
                  <a:srgbClr val="20344B"/>
                </a:solidFill>
                <a:latin typeface="Microsoft YaHei"/>
                <a:ea typeface="Microsoft YaHei"/>
              </a:rPr>
              <a:t>Function Calling</a:t>
            </a:r>
            <a:endParaRPr/>
          </a:p>
        </p:txBody>
      </p:sp>
      <p:sp>
        <p:nvSpPr>
          <p:cNvPr id="6" name="" descr="{&quot;isTemplate&quot;:true,&quot;type&quot;:&quot;text&quot;}"/>
          <p:cNvSpPr txBox="1"/>
          <p:nvPr/>
        </p:nvSpPr>
        <p:spPr>
          <a:xfrm rot="0" flipH="0" flipV="0">
            <a:off x="609600" y="3200400"/>
            <a:ext cx="5905500" cy="257175"/>
          </a:xfrm>
          <a:prstGeom prst="rect"/>
        </p:spPr>
        <p:txBody>
          <a:bodyPr wrap="none" lIns="0" tIns="0" rIns="0" bIns="0"/>
          <a:p>
            <a:pPr>
              <a:lnSpc>
                <a:spcPct val="100000"/>
              </a:lnSpc>
            </a:pPr>
            <a:r>
              <a:rPr lang="zh-CN" sz="1650" b="1">
                <a:solidFill>
                  <a:srgbClr val="276FBF"/>
                </a:solidFill>
                <a:latin typeface="Microsoft YaHei"/>
                <a:ea typeface="Microsoft YaHei"/>
              </a:rPr>
              <a:t>从提出请求到取得工具结果</a:t>
            </a:r>
            <a:endParaRPr/>
          </a:p>
        </p:txBody>
      </p:sp>
      <p:sp>
        <p:nvSpPr>
          <p:cNvPr id="7" name=""/>
          <p:cNvSpPr/>
          <p:nvPr/>
        </p:nvSpPr>
        <p:spPr>
          <a:xfrm rot="0" flipH="0" flipV="0">
            <a:off x="609600" y="3590925"/>
            <a:ext cx="685800" cy="38100"/>
          </a:xfrm>
          <a:prstGeom prst="rect">
            <a:avLst/>
          </a:prstGeom>
          <a:solidFill>
            <a:srgbClr val="276FBF"/>
          </a:solidFill>
          <a:ln/>
        </p:spPr>
        <p:txBody>
          <a:bodyPr/>
          <a:p/>
        </p:txBody>
      </p:sp>
      <p:sp>
        <p:nvSpPr>
          <p:cNvPr id="8" name="" descr="{&quot;isTemplate&quot;:true,&quot;type&quot;:&quot;text&quot;}"/>
          <p:cNvSpPr txBox="1"/>
          <p:nvPr/>
        </p:nvSpPr>
        <p:spPr>
          <a:xfrm rot="0" flipH="0" flipV="0">
            <a:off x="609600" y="3762375"/>
            <a:ext cx="5715000" cy="704850"/>
          </a:xfrm>
          <a:prstGeom prst="rect"/>
        </p:spPr>
        <p:txBody>
          <a:bodyPr wrap="square" lIns="0" tIns="0" rIns="0" bIns="0">
            <a:normAutofit/>
          </a:bodyPr>
          <a:p>
            <a:pPr>
              <a:lnSpc>
                <a:spcPct val="170000"/>
              </a:lnSpc>
            </a:pPr>
            <a:r>
              <a:rPr lang="zh-CN" sz="1350">
                <a:solidFill>
                  <a:srgbClr val="546779"/>
                </a:solidFill>
                <a:latin typeface="Microsoft YaHei"/>
                <a:ea typeface="Microsoft YaHei"/>
              </a:rPr>
              <a:t>模型只生成调用意图，不会查到记录。应用检查这次请求、执行本地只读工具，再按同一个</a:t>
            </a:r>
            <a:r>
              <a:rPr lang="en-US" sz="1350">
                <a:solidFill>
                  <a:srgbClr val="546779"/>
                </a:solidFill>
                <a:latin typeface="Microsoft YaHei"/>
                <a:ea typeface="Microsoft YaHei"/>
              </a:rPr>
              <a:t xml:space="preserve"> call_id </a:t>
            </a:r>
            <a:r>
              <a:rPr lang="zh-CN" sz="1350">
                <a:solidFill>
                  <a:srgbClr val="546779"/>
                </a:solidFill>
                <a:latin typeface="Microsoft YaHei"/>
                <a:ea typeface="Microsoft YaHei"/>
              </a:rPr>
              <a:t>把结果交回模型。</a:t>
            </a:r>
            <a:endParaRPr/>
          </a:p>
        </p:txBody>
      </p:sp>
      <p:sp>
        <p:nvSpPr>
          <p:cNvPr id="9" name=""/>
          <p:cNvSpPr/>
          <p:nvPr/>
        </p:nvSpPr>
        <p:spPr>
          <a:xfrm rot="0" flipH="0" flipV="0">
            <a:off x="609600" y="4657725"/>
            <a:ext cx="1809750" cy="419100"/>
          </a:xfrm>
          <a:prstGeom prst="roundRect">
            <a:avLst>
              <a:gd name="adj" fmla="val 18182"/>
            </a:avLst>
          </a:prstGeom>
          <a:solidFill>
            <a:srgbClr val="EDF4FC"/>
          </a:solidFill>
          <a:ln/>
        </p:spPr>
        <p:txBody>
          <a:bodyPr/>
          <a:p/>
        </p:txBody>
      </p:sp>
      <p:sp>
        <p:nvSpPr>
          <p:cNvPr id="10" name="" descr="{&quot;isTemplate&quot;:true,&quot;type&quot;:&quot;text&quot;}"/>
          <p:cNvSpPr txBox="1"/>
          <p:nvPr/>
        </p:nvSpPr>
        <p:spPr>
          <a:xfrm rot="0" flipH="0" flipV="0">
            <a:off x="1162050" y="4781550"/>
            <a:ext cx="714375" cy="171450"/>
          </a:xfrm>
          <a:prstGeom prst="rect"/>
        </p:spPr>
        <p:txBody>
          <a:bodyPr wrap="none" lIns="0" tIns="0" rIns="0" bIns="0"/>
          <a:p>
            <a:pPr>
              <a:lnSpc>
                <a:spcPct val="100000"/>
              </a:lnSpc>
            </a:pPr>
            <a:r>
              <a:rPr lang="zh-CN" sz="1125">
                <a:solidFill>
                  <a:srgbClr val="276FBF"/>
                </a:solidFill>
                <a:latin typeface="Microsoft YaHei"/>
                <a:ea typeface="Microsoft YaHei"/>
              </a:rPr>
              <a:t>谁提出调用</a:t>
            </a:r>
            <a:endParaRPr/>
          </a:p>
        </p:txBody>
      </p:sp>
      <p:sp>
        <p:nvSpPr>
          <p:cNvPr id="11" name=""/>
          <p:cNvSpPr/>
          <p:nvPr/>
        </p:nvSpPr>
        <p:spPr>
          <a:xfrm rot="0" flipH="0" flipV="0">
            <a:off x="2571750" y="4657725"/>
            <a:ext cx="1809750" cy="419100"/>
          </a:xfrm>
          <a:prstGeom prst="roundRect">
            <a:avLst>
              <a:gd name="adj" fmla="val 18182"/>
            </a:avLst>
          </a:prstGeom>
          <a:solidFill>
            <a:srgbClr val="EDF4FC"/>
          </a:solidFill>
          <a:ln/>
        </p:spPr>
        <p:txBody>
          <a:bodyPr/>
          <a:p/>
        </p:txBody>
      </p:sp>
      <p:sp>
        <p:nvSpPr>
          <p:cNvPr id="12" name="" descr="{&quot;isTemplate&quot;:true,&quot;type&quot;:&quot;text&quot;}"/>
          <p:cNvSpPr txBox="1"/>
          <p:nvPr/>
        </p:nvSpPr>
        <p:spPr>
          <a:xfrm rot="0" flipH="0" flipV="0">
            <a:off x="3124200" y="4781550"/>
            <a:ext cx="714375" cy="171450"/>
          </a:xfrm>
          <a:prstGeom prst="rect"/>
        </p:spPr>
        <p:txBody>
          <a:bodyPr wrap="none" lIns="0" tIns="0" rIns="0" bIns="0"/>
          <a:p>
            <a:pPr>
              <a:lnSpc>
                <a:spcPct val="100000"/>
              </a:lnSpc>
            </a:pPr>
            <a:r>
              <a:rPr lang="zh-CN" sz="1125">
                <a:solidFill>
                  <a:srgbClr val="276FBF"/>
                </a:solidFill>
                <a:latin typeface="Microsoft YaHei"/>
                <a:ea typeface="Microsoft YaHei"/>
              </a:rPr>
              <a:t>谁执行工具</a:t>
            </a:r>
            <a:endParaRPr/>
          </a:p>
        </p:txBody>
      </p:sp>
      <p:sp>
        <p:nvSpPr>
          <p:cNvPr id="13" name=""/>
          <p:cNvSpPr/>
          <p:nvPr/>
        </p:nvSpPr>
        <p:spPr>
          <a:xfrm rot="0" flipH="0" flipV="0">
            <a:off x="4533900" y="4657725"/>
            <a:ext cx="1809750" cy="419100"/>
          </a:xfrm>
          <a:prstGeom prst="roundRect">
            <a:avLst>
              <a:gd name="adj" fmla="val 18182"/>
            </a:avLst>
          </a:prstGeom>
          <a:solidFill>
            <a:srgbClr val="FFF4E6"/>
          </a:solidFill>
          <a:ln/>
        </p:spPr>
        <p:txBody>
          <a:bodyPr/>
          <a:p/>
        </p:txBody>
      </p:sp>
      <p:sp>
        <p:nvSpPr>
          <p:cNvPr id="14" name="" descr="{&quot;isTemplate&quot;:true,&quot;type&quot;:&quot;text&quot;}"/>
          <p:cNvSpPr txBox="1"/>
          <p:nvPr/>
        </p:nvSpPr>
        <p:spPr>
          <a:xfrm rot="0" flipH="0" flipV="0">
            <a:off x="5086350" y="4781550"/>
            <a:ext cx="714375" cy="171450"/>
          </a:xfrm>
          <a:prstGeom prst="rect"/>
        </p:spPr>
        <p:txBody>
          <a:bodyPr wrap="none" lIns="0" tIns="0" rIns="0" bIns="0"/>
          <a:p>
            <a:pPr>
              <a:lnSpc>
                <a:spcPct val="100000"/>
              </a:lnSpc>
            </a:pPr>
            <a:r>
              <a:rPr lang="zh-CN" sz="1125">
                <a:solidFill>
                  <a:srgbClr val="CB6B28"/>
                </a:solidFill>
                <a:latin typeface="Microsoft YaHei"/>
                <a:ea typeface="Microsoft YaHei"/>
              </a:rPr>
              <a:t>谁判定可用</a:t>
            </a:r>
            <a:endParaRPr/>
          </a:p>
        </p:txBody>
      </p:sp>
      <p:sp>
        <p:nvSpPr>
          <p:cNvPr id="15" name=""/>
          <p:cNvSpPr/>
          <p:nvPr/>
        </p:nvSpPr>
        <p:spPr>
          <a:xfrm rot="0" flipH="0" flipV="0">
            <a:off x="6819900" y="1933575"/>
            <a:ext cx="4762500" cy="704850"/>
          </a:xfrm>
          <a:prstGeom prst="roundRect">
            <a:avLst>
              <a:gd name="adj" fmla="val 10811"/>
            </a:avLst>
          </a:prstGeom>
          <a:solidFill>
            <a:srgbClr val="EDF4FC"/>
          </a:solidFill>
          <a:ln/>
        </p:spPr>
        <p:txBody>
          <a:bodyPr/>
          <a:p/>
        </p:txBody>
      </p:sp>
      <p:sp>
        <p:nvSpPr>
          <p:cNvPr id="16" name="" descr="{&quot;isTemplate&quot;:true,&quot;type&quot;:&quot;text&quot;}"/>
          <p:cNvSpPr txBox="1"/>
          <p:nvPr/>
        </p:nvSpPr>
        <p:spPr>
          <a:xfrm rot="0" flipH="0" flipV="0">
            <a:off x="6991350" y="2085975"/>
            <a:ext cx="4419600" cy="219075"/>
          </a:xfrm>
          <a:prstGeom prst="rect"/>
        </p:spPr>
        <p:txBody>
          <a:bodyPr wrap="none" lIns="0" tIns="0" rIns="0" bIns="0"/>
          <a:p>
            <a:pPr>
              <a:lnSpc>
                <a:spcPct val="100000"/>
              </a:lnSpc>
            </a:pPr>
            <a:r>
              <a:rPr lang="zh-CN" sz="1425" b="1">
                <a:solidFill>
                  <a:srgbClr val="276FBF"/>
                </a:solidFill>
                <a:latin typeface="Microsoft YaHei"/>
                <a:ea typeface="Microsoft YaHei"/>
              </a:rPr>
              <a:t>模型提出请求</a:t>
            </a:r>
            <a:endParaRPr/>
          </a:p>
        </p:txBody>
      </p:sp>
      <p:sp>
        <p:nvSpPr>
          <p:cNvPr id="17" name="" descr="{&quot;isTemplate&quot;:true,&quot;type&quot;:&quot;text&quot;}"/>
          <p:cNvSpPr txBox="1"/>
          <p:nvPr/>
        </p:nvSpPr>
        <p:spPr>
          <a:xfrm rot="0" flipH="0" flipV="0">
            <a:off x="6991350" y="2324100"/>
            <a:ext cx="4419600" cy="161925"/>
          </a:xfrm>
          <a:prstGeom prst="rect"/>
        </p:spPr>
        <p:txBody>
          <a:bodyPr wrap="none" lIns="0" tIns="0" rIns="0" bIns="0"/>
          <a:p>
            <a:pPr>
              <a:lnSpc>
                <a:spcPct val="100000"/>
              </a:lnSpc>
            </a:pPr>
            <a:r>
              <a:rPr lang="zh-CN" sz="1050">
                <a:solidFill>
                  <a:srgbClr val="546779"/>
                </a:solidFill>
                <a:latin typeface="Microsoft YaHei"/>
                <a:ea typeface="Microsoft YaHei"/>
              </a:rPr>
              <a:t>名称、</a:t>
            </a:r>
            <a:r>
              <a:rPr lang="en-US" sz="1050">
                <a:solidFill>
                  <a:srgbClr val="546779"/>
                </a:solidFill>
                <a:latin typeface="Microsoft YaHei"/>
                <a:ea typeface="Microsoft YaHei"/>
              </a:rPr>
              <a:t xml:space="preserve">JSON </a:t>
            </a:r>
            <a:r>
              <a:rPr lang="zh-CN" sz="1050">
                <a:solidFill>
                  <a:srgbClr val="546779"/>
                </a:solidFill>
                <a:latin typeface="Microsoft YaHei"/>
                <a:ea typeface="Microsoft YaHei"/>
              </a:rPr>
              <a:t>参数与</a:t>
            </a:r>
            <a:r>
              <a:rPr lang="en-US" sz="1050">
                <a:solidFill>
                  <a:srgbClr val="546779"/>
                </a:solidFill>
                <a:latin typeface="Microsoft YaHei"/>
                <a:ea typeface="Microsoft YaHei"/>
              </a:rPr>
              <a:t xml:space="preserve"> call_id</a:t>
            </a:r>
            <a:endParaRPr/>
          </a:p>
        </p:txBody>
      </p:sp>
      <p:sp>
        <p:nvSpPr>
          <p:cNvPr id="18" name="" descr="{&quot;isTemplate&quot;:true,&quot;type&quot;:&quot;text&quot;}"/>
          <p:cNvSpPr txBox="1"/>
          <p:nvPr/>
        </p:nvSpPr>
        <p:spPr>
          <a:xfrm rot="0" flipH="0" flipV="0">
            <a:off x="9163050" y="2657475"/>
            <a:ext cx="85725" cy="209550"/>
          </a:xfrm>
          <a:prstGeom prst="rect"/>
        </p:spPr>
        <p:txBody>
          <a:bodyPr wrap="none" lIns="0" tIns="0" rIns="0" bIns="0"/>
          <a:p>
            <a:pPr>
              <a:lnSpc>
                <a:spcPct val="100000"/>
              </a:lnSpc>
            </a:pPr>
            <a:r>
              <a:rPr sz="1350">
                <a:solidFill>
                  <a:srgbClr val="276FBF"/>
                </a:solidFill>
                <a:latin typeface="Microsoft YaHei"/>
                <a:ea typeface="Microsoft YaHei"/>
              </a:rPr>
              <a:t>↓</a:t>
            </a:r>
            <a:endParaRPr/>
          </a:p>
        </p:txBody>
      </p:sp>
      <p:sp>
        <p:nvSpPr>
          <p:cNvPr id="19" name=""/>
          <p:cNvSpPr/>
          <p:nvPr/>
        </p:nvSpPr>
        <p:spPr>
          <a:xfrm rot="0" flipH="0" flipV="0">
            <a:off x="6819900" y="2886075"/>
            <a:ext cx="4762500" cy="704850"/>
          </a:xfrm>
          <a:prstGeom prst="roundRect">
            <a:avLst>
              <a:gd name="adj" fmla="val 10811"/>
            </a:avLst>
          </a:prstGeom>
          <a:solidFill>
            <a:srgbClr val="EDF4FC"/>
          </a:solidFill>
          <a:ln/>
        </p:spPr>
        <p:txBody>
          <a:bodyPr/>
          <a:p/>
        </p:txBody>
      </p:sp>
      <p:sp>
        <p:nvSpPr>
          <p:cNvPr id="20" name="" descr="{&quot;isTemplate&quot;:true,&quot;type&quot;:&quot;text&quot;}"/>
          <p:cNvSpPr txBox="1"/>
          <p:nvPr/>
        </p:nvSpPr>
        <p:spPr>
          <a:xfrm rot="0" flipH="0" flipV="0">
            <a:off x="6991350" y="3038475"/>
            <a:ext cx="4419600" cy="219075"/>
          </a:xfrm>
          <a:prstGeom prst="rect"/>
        </p:spPr>
        <p:txBody>
          <a:bodyPr wrap="none" lIns="0" tIns="0" rIns="0" bIns="0"/>
          <a:p>
            <a:pPr>
              <a:lnSpc>
                <a:spcPct val="100000"/>
              </a:lnSpc>
            </a:pPr>
            <a:r>
              <a:rPr lang="zh-CN" sz="1425" b="1">
                <a:solidFill>
                  <a:srgbClr val="276FBF"/>
                </a:solidFill>
                <a:latin typeface="Microsoft YaHei"/>
                <a:ea typeface="Microsoft YaHei"/>
              </a:rPr>
              <a:t>应用检查这次请求</a:t>
            </a:r>
            <a:endParaRPr/>
          </a:p>
        </p:txBody>
      </p:sp>
      <p:sp>
        <p:nvSpPr>
          <p:cNvPr id="21" name="" descr="{&quot;isTemplate&quot;:true,&quot;type&quot;:&quot;text&quot;}"/>
          <p:cNvSpPr txBox="1"/>
          <p:nvPr/>
        </p:nvSpPr>
        <p:spPr>
          <a:xfrm rot="0" flipH="0" flipV="0">
            <a:off x="6991350" y="3276600"/>
            <a:ext cx="4419600" cy="161925"/>
          </a:xfrm>
          <a:prstGeom prst="rect"/>
        </p:spPr>
        <p:txBody>
          <a:bodyPr wrap="none" lIns="0" tIns="0" rIns="0" bIns="0"/>
          <a:p>
            <a:pPr>
              <a:lnSpc>
                <a:spcPct val="100000"/>
              </a:lnSpc>
            </a:pPr>
            <a:r>
              <a:rPr lang="zh-CN" sz="1050">
                <a:solidFill>
                  <a:srgbClr val="546779"/>
                </a:solidFill>
                <a:latin typeface="Microsoft YaHei"/>
                <a:ea typeface="Microsoft YaHei"/>
              </a:rPr>
              <a:t>允许范围、参数与预算</a:t>
            </a:r>
            <a:endParaRPr/>
          </a:p>
        </p:txBody>
      </p:sp>
      <p:sp>
        <p:nvSpPr>
          <p:cNvPr id="22" name="" descr="{&quot;isTemplate&quot;:true,&quot;type&quot;:&quot;text&quot;}"/>
          <p:cNvSpPr txBox="1"/>
          <p:nvPr/>
        </p:nvSpPr>
        <p:spPr>
          <a:xfrm rot="0" flipH="0" flipV="0">
            <a:off x="9163050" y="3609975"/>
            <a:ext cx="85725" cy="209550"/>
          </a:xfrm>
          <a:prstGeom prst="rect"/>
        </p:spPr>
        <p:txBody>
          <a:bodyPr wrap="none" lIns="0" tIns="0" rIns="0" bIns="0"/>
          <a:p>
            <a:pPr>
              <a:lnSpc>
                <a:spcPct val="100000"/>
              </a:lnSpc>
            </a:pPr>
            <a:r>
              <a:rPr sz="1350">
                <a:solidFill>
                  <a:srgbClr val="26816B"/>
                </a:solidFill>
                <a:latin typeface="Microsoft YaHei"/>
                <a:ea typeface="Microsoft YaHei"/>
              </a:rPr>
              <a:t>↓</a:t>
            </a:r>
            <a:endParaRPr/>
          </a:p>
        </p:txBody>
      </p:sp>
      <p:sp>
        <p:nvSpPr>
          <p:cNvPr id="23" name=""/>
          <p:cNvSpPr/>
          <p:nvPr/>
        </p:nvSpPr>
        <p:spPr>
          <a:xfrm rot="0" flipH="0" flipV="0">
            <a:off x="6819900" y="3838575"/>
            <a:ext cx="4762500" cy="704850"/>
          </a:xfrm>
          <a:prstGeom prst="roundRect">
            <a:avLst>
              <a:gd name="adj" fmla="val 10811"/>
            </a:avLst>
          </a:prstGeom>
          <a:solidFill>
            <a:srgbClr val="ECF7F2"/>
          </a:solidFill>
          <a:ln/>
        </p:spPr>
        <p:txBody>
          <a:bodyPr/>
          <a:p/>
        </p:txBody>
      </p:sp>
      <p:sp>
        <p:nvSpPr>
          <p:cNvPr id="24" name="" descr="{&quot;isTemplate&quot;:true,&quot;type&quot;:&quot;text&quot;}"/>
          <p:cNvSpPr txBox="1"/>
          <p:nvPr/>
        </p:nvSpPr>
        <p:spPr>
          <a:xfrm rot="0" flipH="0" flipV="0">
            <a:off x="6991350" y="3990975"/>
            <a:ext cx="4419600" cy="219075"/>
          </a:xfrm>
          <a:prstGeom prst="rect"/>
        </p:spPr>
        <p:txBody>
          <a:bodyPr wrap="none" lIns="0" tIns="0" rIns="0" bIns="0"/>
          <a:p>
            <a:pPr>
              <a:lnSpc>
                <a:spcPct val="100000"/>
              </a:lnSpc>
            </a:pPr>
            <a:r>
              <a:rPr lang="zh-CN" sz="1425" b="1">
                <a:solidFill>
                  <a:srgbClr val="26816B"/>
                </a:solidFill>
                <a:latin typeface="Microsoft YaHei"/>
                <a:ea typeface="Microsoft YaHei"/>
              </a:rPr>
              <a:t>工具实际执行</a:t>
            </a:r>
            <a:endParaRPr/>
          </a:p>
        </p:txBody>
      </p:sp>
      <p:sp>
        <p:nvSpPr>
          <p:cNvPr id="25" name="" descr="{&quot;isTemplate&quot;:true,&quot;type&quot;:&quot;text&quot;}"/>
          <p:cNvSpPr txBox="1"/>
          <p:nvPr/>
        </p:nvSpPr>
        <p:spPr>
          <a:xfrm rot="0" flipH="0" flipV="0">
            <a:off x="6991350" y="4229100"/>
            <a:ext cx="4419600" cy="161925"/>
          </a:xfrm>
          <a:prstGeom prst="rect"/>
        </p:spPr>
        <p:txBody>
          <a:bodyPr wrap="none" lIns="0" tIns="0" rIns="0" bIns="0"/>
          <a:p>
            <a:pPr>
              <a:lnSpc>
                <a:spcPct val="100000"/>
              </a:lnSpc>
            </a:pPr>
            <a:r>
              <a:rPr lang="zh-CN" sz="1050">
                <a:solidFill>
                  <a:srgbClr val="546779"/>
                </a:solidFill>
                <a:latin typeface="Microsoft YaHei"/>
                <a:ea typeface="Microsoft YaHei"/>
              </a:rPr>
              <a:t>本地只读查询或校验</a:t>
            </a:r>
            <a:endParaRPr/>
          </a:p>
        </p:txBody>
      </p:sp>
      <p:sp>
        <p:nvSpPr>
          <p:cNvPr id="26" name="" descr="{&quot;isTemplate&quot;:true,&quot;type&quot;:&quot;text&quot;}"/>
          <p:cNvSpPr txBox="1"/>
          <p:nvPr/>
        </p:nvSpPr>
        <p:spPr>
          <a:xfrm rot="0" flipH="0" flipV="0">
            <a:off x="9163050" y="4562475"/>
            <a:ext cx="85725" cy="209550"/>
          </a:xfrm>
          <a:prstGeom prst="rect"/>
        </p:spPr>
        <p:txBody>
          <a:bodyPr wrap="none" lIns="0" tIns="0" rIns="0" bIns="0"/>
          <a:p>
            <a:pPr>
              <a:lnSpc>
                <a:spcPct val="100000"/>
              </a:lnSpc>
            </a:pPr>
            <a:r>
              <a:rPr sz="1350">
                <a:solidFill>
                  <a:srgbClr val="26816B"/>
                </a:solidFill>
                <a:latin typeface="Microsoft YaHei"/>
                <a:ea typeface="Microsoft YaHei"/>
              </a:rPr>
              <a:t>↓</a:t>
            </a:r>
            <a:endParaRPr/>
          </a:p>
        </p:txBody>
      </p:sp>
      <p:sp>
        <p:nvSpPr>
          <p:cNvPr id="27" name=""/>
          <p:cNvSpPr/>
          <p:nvPr/>
        </p:nvSpPr>
        <p:spPr>
          <a:xfrm rot="0" flipH="0" flipV="0">
            <a:off x="6819900" y="4791075"/>
            <a:ext cx="4762500" cy="704850"/>
          </a:xfrm>
          <a:prstGeom prst="roundRect">
            <a:avLst>
              <a:gd name="adj" fmla="val 10811"/>
            </a:avLst>
          </a:prstGeom>
          <a:solidFill>
            <a:srgbClr val="ECF7F2"/>
          </a:solidFill>
          <a:ln/>
        </p:spPr>
        <p:txBody>
          <a:bodyPr/>
          <a:p/>
        </p:txBody>
      </p:sp>
      <p:sp>
        <p:nvSpPr>
          <p:cNvPr id="28" name="" descr="{&quot;isTemplate&quot;:true,&quot;type&quot;:&quot;text&quot;}"/>
          <p:cNvSpPr txBox="1"/>
          <p:nvPr/>
        </p:nvSpPr>
        <p:spPr>
          <a:xfrm rot="0" flipH="0" flipV="0">
            <a:off x="6991350" y="4943475"/>
            <a:ext cx="4419600" cy="219075"/>
          </a:xfrm>
          <a:prstGeom prst="rect"/>
        </p:spPr>
        <p:txBody>
          <a:bodyPr wrap="none" lIns="0" tIns="0" rIns="0" bIns="0"/>
          <a:p>
            <a:pPr>
              <a:lnSpc>
                <a:spcPct val="100000"/>
              </a:lnSpc>
            </a:pPr>
            <a:r>
              <a:rPr lang="zh-CN" sz="1425" b="1">
                <a:solidFill>
                  <a:srgbClr val="26816B"/>
                </a:solidFill>
                <a:latin typeface="Microsoft YaHei"/>
                <a:ea typeface="Microsoft YaHei"/>
              </a:rPr>
              <a:t>结果交回模型</a:t>
            </a:r>
            <a:endParaRPr/>
          </a:p>
        </p:txBody>
      </p:sp>
      <p:sp>
        <p:nvSpPr>
          <p:cNvPr id="29" name="" descr="{&quot;isTemplate&quot;:true,&quot;type&quot;:&quot;text&quot;}"/>
          <p:cNvSpPr txBox="1"/>
          <p:nvPr/>
        </p:nvSpPr>
        <p:spPr>
          <a:xfrm rot="0" flipH="0" flipV="0">
            <a:off x="6991350" y="5181600"/>
            <a:ext cx="4419600" cy="161925"/>
          </a:xfrm>
          <a:prstGeom prst="rect"/>
        </p:spPr>
        <p:txBody>
          <a:bodyPr wrap="none" lIns="0" tIns="0" rIns="0" bIns="0"/>
          <a:p>
            <a:pPr>
              <a:lnSpc>
                <a:spcPct val="100000"/>
              </a:lnSpc>
            </a:pPr>
            <a:r>
              <a:rPr lang="en-US" sz="1050">
                <a:solidFill>
                  <a:srgbClr val="546779"/>
                </a:solidFill>
                <a:latin typeface="Microsoft YaHei"/>
                <a:ea typeface="Microsoft YaHei"/>
              </a:rPr>
              <a:t>function_call_output</a:t>
            </a:r>
            <a:endParaRPr/>
          </a:p>
        </p:txBody>
      </p:sp>
      <p:sp>
        <p:nvSpPr>
          <p:cNvPr id="30"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31"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01 / 26</a:t>
            </a:r>
            <a:endParaRPr/>
          </a:p>
        </p:txBody>
      </p:sp>
    </p:spTree>
  </p:cSld>
</p:sld>
</file>

<file path=ppt/slides/slide2.xml><?xml version="1.0" encoding="utf-8"?>
<p:sld xmlns:p="http://schemas.openxmlformats.org/presentationml/2006/main" xmlns:a="http://schemas.openxmlformats.org/drawingml/2006/main">
  <p:cSld>
    <p:spTree>
      <p:nvGrpSpPr>
        <p:cNvPr id="293" name="" descr="&lt;Slide notes={`这一节有四个知识块，回答的是同一个问题：一次工具调用，凭什么算真的取到了依据。&#10;&#10;第一个先把工具本身做小。只做一个只读查询，输入只有房间编号和日期，能查的范围写清楚。小到什么程度？小到我们能一眼看出它有没有越界。&#10;&#10;第二个看证据。模型返回的条目里带着工具名、JSON 参数和 call_id。call_id 是把结果认回原来那次调用的凭证，它不能换成房间编号，也不能拿别的工具的结果来顶。&#10;&#10;第三个讲回路。工具返回之后，还要继续发起请求，模型才会读到结果、调整或结束。顺序上有一条硬要求：先把完整的输出保留下来，再追加结果。&#10;&#10;第四个讲失败和无进展。参数错了要回传诊断，未知工具不能执行，预算耗尽或者反复没有新进展就要停下来。`}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本节导读&lt;/Text&gt;&#10;            &lt;Text style={{ fontSize: 34, fontWeight: 'bold', color: '#20344B' }}&gt;一次工具调用留下了什么&lt;/Text&gt;&#10;        &lt;/Box&gt;&#10;    &lt;/Box&gt;&#10;&#10;    &lt;Box style={{ height: 540, flexDirection: 'row', gap: 40 }}&gt;&#10;&#10;        &lt;Box style={{ width: 340, flexDirection: 'column', justifyContent: 'center', gap: 16 }}&gt;&#10;            &lt;Text style={{ fontSize: 25, fontWeight: 'bold', color: '#276FBF', lineHeight: 1.45 }}&gt;先做小工具，再谈回路&lt;/Text&gt;&#10;            &lt;Box style={{ width: 56, height: 3, background: '#26816B' }} /&gt;&#10;            &lt;Text style={{ fontSize: 17, color: '#546779', lineHeight: 1.75 }}&gt;四个知识块从&quot;工具怎么定义&quot;走到&quot;什么时候必须停&quot;：先固定一个只读查询，再看一轮调用留下的凭证，然后接上完整回路，最后处理参数错误、工具失败和无进展。&lt;/Text&gt;&#10;        &lt;/Box&gt;&#10;&#10;        &lt;Box style={{ flex: 1, flexDirection: 'column', justifyContent: 'center', gap: 14 }}&gt;&#10;&#10;            &lt;Box style={{ flexDirection: 'row', gap: 16, alignItems: 'center' }}&gt;&#10;                &lt;Box style={{ width: 44, height: 44, borderRadius: 8, background: '#276FBF', justifyContent: 'center', alignItems: 'center' }}&gt;&#10;                    &lt;Text style={{ fontSize: 18, fontWeight: 'bold', color: '#FFFFFF' }}&gt;01&lt;/Text&gt;&#10;                &lt;/Box&gt;&#10;                &lt;Box style={{ flexDirection: 'column', gap: 2 }}&gt;&#10;                    &lt;Text style={{ fontSize: 20, fontWeight: 'bold', color: '#20344B' }}&gt;先定义一个清楚且有限的工具&lt;/Text&gt;&#10;                    &lt;Text style={{ fontSize: 16, color: '#546779' }}&gt;输入 room_id 与 date，只读本章材料；模型无需猜测手作教室是不是 craft&lt;/Text&gt;&#10;                &lt;/Box&gt;&#10;            &lt;/Box&gt;&#10;&#10;            &lt;Box style={{ flexDirection: 'row', gap: 16, alignItems: 'center' }}&gt;&#10;                &lt;Box style={{ width: 44, height: 44, borderRadius: 8, background: '#276FBF', justifyContent: 'center', alignItems: 'center' }}&gt;&#10;                    &lt;Text style={{ fontSize: 18, fontWeight: 'bold', color: '#FFFFFF' }}&gt;02&lt;/Text&gt;&#10;                &lt;/Box&gt;&#10;                &lt;Box style={{ flexDirection: 'column', gap: 2 }}&gt;&#10;                    &lt;Text style={{ fontSize: 20, fontWeight: 'bold', color: '#20344B' }}&gt;一轮调用包含哪些证据&lt;/Text&gt;&#10;                    &lt;Text style={{ fontSize: 16, color: '#546779' }}&gt;名称、JSON 参数与 call_id 怎样关联，多个调用为什么要逐条处理&lt;/Text&gt;&#10;                &lt;/Box&gt;&#10;            &lt;/Box&gt;&#10;&#10;            &lt;Box style={{ flexDirection: 'row', gap: 16, alignItems: 'center' }}&gt;&#10;                &lt;Box style={{ width: 44, height: 44, borderRadius: 8, background: '#26816B', justifyContent: 'center', alignItems: 'center' }}&gt;&#10;                    &lt;Text style={{ fontSize: 18, fontWeight: 'bold', color: '#FFFFFF' }}&gt;03&lt;/Text&gt;&#10;                &lt;/Box&gt;&#10;                &lt;Box style={{ flexDirection: 'column', gap: 2 }}&gt;&#10;                    &lt;Text style={{ fontSize: 20, fontWeight: 'bold', color: '#20344B' }}&gt;完整回路比单次请求重要&lt;/Text&gt;&#10;                    &lt;Text style={{ fontSize: 16, color: '#546779' }}&gt;先保留完整输出再回填结果，然后继续请求；成功条件放在应用里&lt;/Text&gt;&#10;                &lt;/Box&gt;&#10;            &lt;/Box&gt;&#10;&#10;            &lt;Box style={{ flexDirection: 'row', gap: 16, alignItems: 'center' }}&gt;&#10;                &lt;Box style={{ width: 44, height: 44, borderRadius: 8, background: '#CB6B28', justifyContent: 'center', alignItems: 'center' }}&gt;&#10;                    &lt;Text style={{ fontSize: 18, fontWeight: 'bold', color: '#FFFFFF' }}&gt;04&lt;/Text&gt;&#10;                &lt;/Box&gt;&#10;                &lt;Box style={{ flexDirection: 'column', gap: 2 }}&gt;&#10;                    &lt;Text style={{ fontSize: 20, fontWeight: 'bold', color: '#20344B' }}&gt;参数错误、工具失败与无进展&lt;/Text&gt;&#10;                    &lt;Text style={{ fontSize: 16, color: '#546779' }}&gt;三种去向、两种&quot;空&quot;的区别，八轮十六条与第三次重复的拦截&lt;/Text&gt;&#10;                &lt;/Box&gt;&#10;            &lt;/Box&gt;&#10;&#10;        &lt;/Box&gt;&#10;&#10;    &lt;/Box&gt;&#10;&#10;    &lt;Box style={{ height: 40, flexDirection: 'row', justifyContent: 'space-between', alignItems: 'center' }}&gt;&#10;        &lt;Text style={{ fontSize: 14, color: '#546779' }}&gt;2.5 Function Calling&lt;/Text&gt;&#10;        &lt;Text style={{ fontSize: 14, color: '#546779' }}&gt;02 / 26&lt;/Text&gt;&#10;    &lt;/Box&gt;&#10;&#10;&lt;/Slide&gt;&#10;"/>
        <p:cNvGrpSpPr/>
        <p:nvPr/>
      </p:nvGrpSpPr>
      <p:grpSpPr>
        <a:xfrm>
          <a:off x="0" y="0"/>
          <a:ext cx="0" cy="0"/>
          <a:chOff x="0" y="0"/>
          <a:chExt cx="0" cy="0"/>
        </a:xfrm>
      </p:grpSpPr>
      <p:sp>
        <p:nvSpPr>
          <p:cNvPr id="294" name=""/>
          <p:cNvSpPr/>
          <p:nvPr/>
        </p:nvSpPr>
        <p:spPr>
          <a:xfrm rot="0" flipH="0" flipV="0">
            <a:off x="0" y="0"/>
            <a:ext cx="12192000" cy="6858000"/>
          </a:xfrm>
          <a:prstGeom prst="rect">
            <a:avLst/>
          </a:prstGeom>
          <a:solidFill>
            <a:srgbClr val="FFFFFF"/>
          </a:solidFill>
          <a:ln/>
        </p:spPr>
        <p:txBody>
          <a:bodyPr/>
          <a:p/>
        </p:txBody>
      </p:sp>
      <p:sp>
        <p:nvSpPr>
          <p:cNvPr id="295" name=""/>
          <p:cNvSpPr/>
          <p:nvPr/>
        </p:nvSpPr>
        <p:spPr>
          <a:xfrm rot="0" flipH="0" flipV="0">
            <a:off x="609600" y="457200"/>
            <a:ext cx="38100" cy="419100"/>
          </a:xfrm>
          <a:prstGeom prst="rect">
            <a:avLst/>
          </a:prstGeom>
          <a:solidFill>
            <a:srgbClr val="276FBF"/>
          </a:solidFill>
          <a:ln/>
        </p:spPr>
        <p:txBody>
          <a:bodyPr/>
          <a:p/>
        </p:txBody>
      </p:sp>
      <p:sp>
        <p:nvSpPr>
          <p:cNvPr id="296" name="" descr="{&quot;isTemplate&quot;:true,&quot;type&quot;:&quot;text&quot;}"/>
          <p:cNvSpPr txBox="1"/>
          <p:nvPr/>
        </p:nvSpPr>
        <p:spPr>
          <a:xfrm rot="0" flipH="0" flipV="0">
            <a:off x="838200" y="371475"/>
            <a:ext cx="3562350" cy="161925"/>
          </a:xfrm>
          <a:prstGeom prst="rect"/>
        </p:spPr>
        <p:txBody>
          <a:bodyPr wrap="none" lIns="0" tIns="0" rIns="0" bIns="0"/>
          <a:p>
            <a:pPr>
              <a:lnSpc>
                <a:spcPct val="100000"/>
              </a:lnSpc>
            </a:pPr>
            <a:r>
              <a:rPr lang="zh-CN" sz="1050">
                <a:solidFill>
                  <a:srgbClr val="546779"/>
                </a:solidFill>
                <a:latin typeface="Microsoft YaHei"/>
                <a:ea typeface="Microsoft YaHei"/>
              </a:rPr>
              <a:t>本节导读</a:t>
            </a:r>
            <a:endParaRPr/>
          </a:p>
        </p:txBody>
      </p:sp>
      <p:sp>
        <p:nvSpPr>
          <p:cNvPr id="297" name="" descr="{&quot;isTemplate&quot;:true,&quot;type&quot;:&quot;text&quot;}"/>
          <p:cNvSpPr txBox="1"/>
          <p:nvPr/>
        </p:nvSpPr>
        <p:spPr>
          <a:xfrm rot="0" flipH="0" flipV="0">
            <a:off x="838200" y="571500"/>
            <a:ext cx="3562350" cy="390525"/>
          </a:xfrm>
          <a:prstGeom prst="rect"/>
        </p:spPr>
        <p:txBody>
          <a:bodyPr wrap="none" lIns="0" tIns="0" rIns="0" bIns="0"/>
          <a:p>
            <a:pPr>
              <a:lnSpc>
                <a:spcPct val="100000"/>
              </a:lnSpc>
            </a:pPr>
            <a:r>
              <a:rPr lang="zh-CN" sz="2550" b="1">
                <a:solidFill>
                  <a:srgbClr val="20344B"/>
                </a:solidFill>
                <a:latin typeface="Microsoft YaHei"/>
                <a:ea typeface="Microsoft YaHei"/>
              </a:rPr>
              <a:t>一次工具调用留下了什么</a:t>
            </a:r>
            <a:endParaRPr/>
          </a:p>
        </p:txBody>
      </p:sp>
      <p:sp>
        <p:nvSpPr>
          <p:cNvPr id="298" name="" descr="{&quot;isTemplate&quot;:true,&quot;type&quot;:&quot;text&quot;}"/>
          <p:cNvSpPr txBox="1"/>
          <p:nvPr/>
        </p:nvSpPr>
        <p:spPr>
          <a:xfrm rot="0" flipH="0" flipV="0">
            <a:off x="609600" y="2657475"/>
            <a:ext cx="3238500" cy="419100"/>
          </a:xfrm>
          <a:prstGeom prst="rect"/>
        </p:spPr>
        <p:txBody>
          <a:bodyPr wrap="none" lIns="0" tIns="0" rIns="0" bIns="0"/>
          <a:p>
            <a:pPr>
              <a:lnSpc>
                <a:spcPct val="145000"/>
              </a:lnSpc>
            </a:pPr>
            <a:r>
              <a:rPr lang="zh-CN" sz="1875" b="1">
                <a:solidFill>
                  <a:srgbClr val="276FBF"/>
                </a:solidFill>
                <a:latin typeface="Microsoft YaHei"/>
                <a:ea typeface="Microsoft YaHei"/>
              </a:rPr>
              <a:t>先做小工具，再谈回路</a:t>
            </a:r>
            <a:endParaRPr/>
          </a:p>
        </p:txBody>
      </p:sp>
      <p:sp>
        <p:nvSpPr>
          <p:cNvPr id="299" name=""/>
          <p:cNvSpPr/>
          <p:nvPr/>
        </p:nvSpPr>
        <p:spPr>
          <a:xfrm rot="0" flipH="0" flipV="0">
            <a:off x="609600" y="3228975"/>
            <a:ext cx="533400" cy="28575"/>
          </a:xfrm>
          <a:prstGeom prst="rect">
            <a:avLst/>
          </a:prstGeom>
          <a:solidFill>
            <a:srgbClr val="26816B"/>
          </a:solidFill>
          <a:ln/>
        </p:spPr>
        <p:txBody>
          <a:bodyPr/>
          <a:p/>
        </p:txBody>
      </p:sp>
      <p:sp>
        <p:nvSpPr>
          <p:cNvPr id="300" name="" descr="{&quot;isTemplate&quot;:true,&quot;type&quot;:&quot;text&quot;}"/>
          <p:cNvSpPr txBox="1"/>
          <p:nvPr/>
        </p:nvSpPr>
        <p:spPr>
          <a:xfrm rot="0" flipH="0" flipV="0">
            <a:off x="609600" y="3409950"/>
            <a:ext cx="3238500" cy="1362075"/>
          </a:xfrm>
          <a:prstGeom prst="rect"/>
        </p:spPr>
        <p:txBody>
          <a:bodyPr wrap="square" lIns="0" tIns="0" rIns="0" bIns="0">
            <a:normAutofit/>
          </a:bodyPr>
          <a:p>
            <a:pPr>
              <a:lnSpc>
                <a:spcPct val="175000"/>
              </a:lnSpc>
            </a:pPr>
            <a:r>
              <a:rPr lang="zh-CN" sz="1275">
                <a:solidFill>
                  <a:srgbClr val="546779"/>
                </a:solidFill>
                <a:latin typeface="Microsoft YaHei"/>
                <a:ea typeface="Microsoft YaHei"/>
              </a:rPr>
              <a:t>四个知识块从</a:t>
            </a:r>
            <a:r>
              <a:rPr lang="en-US" sz="1275">
                <a:solidFill>
                  <a:srgbClr val="546779"/>
                </a:solidFill>
                <a:latin typeface="Microsoft YaHei"/>
                <a:ea typeface="Microsoft YaHei"/>
              </a:rPr>
              <a:t>"</a:t>
            </a:r>
            <a:r>
              <a:rPr lang="zh-CN" sz="1275">
                <a:solidFill>
                  <a:srgbClr val="546779"/>
                </a:solidFill>
                <a:latin typeface="Microsoft YaHei"/>
                <a:ea typeface="Microsoft YaHei"/>
              </a:rPr>
              <a:t>工具怎么定义</a:t>
            </a:r>
            <a:r>
              <a:rPr lang="en-US" sz="1275">
                <a:solidFill>
                  <a:srgbClr val="546779"/>
                </a:solidFill>
                <a:latin typeface="Microsoft YaHei"/>
                <a:ea typeface="Microsoft YaHei"/>
              </a:rPr>
              <a:t>"</a:t>
            </a:r>
            <a:r>
              <a:rPr lang="zh-CN" sz="1275">
                <a:solidFill>
                  <a:srgbClr val="546779"/>
                </a:solidFill>
                <a:latin typeface="Microsoft YaHei"/>
                <a:ea typeface="Microsoft YaHei"/>
              </a:rPr>
              <a:t>走到</a:t>
            </a:r>
            <a:r>
              <a:rPr lang="en-US" sz="1275">
                <a:solidFill>
                  <a:srgbClr val="546779"/>
                </a:solidFill>
                <a:latin typeface="Microsoft YaHei"/>
                <a:ea typeface="Microsoft YaHei"/>
              </a:rPr>
              <a:t>"</a:t>
            </a:r>
            <a:r>
              <a:rPr lang="zh-CN" sz="1275">
                <a:solidFill>
                  <a:srgbClr val="546779"/>
                </a:solidFill>
                <a:latin typeface="Microsoft YaHei"/>
                <a:ea typeface="Microsoft YaHei"/>
              </a:rPr>
              <a:t>什么时候必须停</a:t>
            </a:r>
            <a:r>
              <a:rPr lang="en-US" sz="1275">
                <a:solidFill>
                  <a:srgbClr val="546779"/>
                </a:solidFill>
                <a:latin typeface="Microsoft YaHei"/>
                <a:ea typeface="Microsoft YaHei"/>
              </a:rPr>
              <a:t>"</a:t>
            </a:r>
            <a:r>
              <a:rPr lang="zh-CN" sz="1275">
                <a:solidFill>
                  <a:srgbClr val="546779"/>
                </a:solidFill>
                <a:latin typeface="Microsoft YaHei"/>
                <a:ea typeface="Microsoft YaHei"/>
              </a:rPr>
              <a:t>：先固定一个只读查询，再看一轮调用留下的凭证，然后接上完整回路，最后处理参数错误、工具失败和无进展。</a:t>
            </a:r>
            <a:endParaRPr/>
          </a:p>
        </p:txBody>
      </p:sp>
      <p:sp>
        <p:nvSpPr>
          <p:cNvPr id="301" name=""/>
          <p:cNvSpPr/>
          <p:nvPr/>
        </p:nvSpPr>
        <p:spPr>
          <a:xfrm rot="0" flipH="0" flipV="0">
            <a:off x="4229100" y="2647950"/>
            <a:ext cx="419100" cy="419100"/>
          </a:xfrm>
          <a:prstGeom prst="roundRect">
            <a:avLst>
              <a:gd name="adj" fmla="val 18182"/>
            </a:avLst>
          </a:prstGeom>
          <a:solidFill>
            <a:srgbClr val="276FBF"/>
          </a:solidFill>
          <a:ln/>
        </p:spPr>
        <p:txBody>
          <a:bodyPr/>
          <a:p/>
        </p:txBody>
      </p:sp>
      <p:sp>
        <p:nvSpPr>
          <p:cNvPr id="302" name="" descr="{&quot;isTemplate&quot;:true,&quot;type&quot;:&quot;text&quot;}"/>
          <p:cNvSpPr txBox="1"/>
          <p:nvPr/>
        </p:nvSpPr>
        <p:spPr>
          <a:xfrm rot="0" flipH="0" flipV="0">
            <a:off x="4333875" y="2752725"/>
            <a:ext cx="219075" cy="209550"/>
          </a:xfrm>
          <a:prstGeom prst="rect"/>
        </p:spPr>
        <p:txBody>
          <a:bodyPr wrap="none" lIns="0" tIns="0" rIns="0" bIns="0"/>
          <a:p>
            <a:pPr>
              <a:lnSpc>
                <a:spcPct val="100000"/>
              </a:lnSpc>
            </a:pPr>
            <a:r>
              <a:rPr lang="en-US" sz="1350" b="1">
                <a:solidFill>
                  <a:srgbClr val="FFFFFF"/>
                </a:solidFill>
                <a:latin typeface="Microsoft YaHei"/>
                <a:ea typeface="Microsoft YaHei"/>
              </a:rPr>
              <a:t>01</a:t>
            </a:r>
            <a:endParaRPr/>
          </a:p>
        </p:txBody>
      </p:sp>
      <p:sp>
        <p:nvSpPr>
          <p:cNvPr id="303" name="" descr="{&quot;isTemplate&quot;:true,&quot;type&quot;:&quot;text&quot;}"/>
          <p:cNvSpPr txBox="1"/>
          <p:nvPr/>
        </p:nvSpPr>
        <p:spPr>
          <a:xfrm rot="0" flipH="0" flipV="0">
            <a:off x="4800600" y="2638425"/>
            <a:ext cx="5095875" cy="228600"/>
          </a:xfrm>
          <a:prstGeom prst="rect"/>
        </p:spPr>
        <p:txBody>
          <a:bodyPr wrap="none" lIns="0" tIns="0" rIns="0" bIns="0"/>
          <a:p>
            <a:pPr>
              <a:lnSpc>
                <a:spcPct val="100000"/>
              </a:lnSpc>
            </a:pPr>
            <a:r>
              <a:rPr lang="zh-CN" sz="1500" b="1">
                <a:solidFill>
                  <a:srgbClr val="20344B"/>
                </a:solidFill>
                <a:latin typeface="Microsoft YaHei"/>
                <a:ea typeface="Microsoft YaHei"/>
              </a:rPr>
              <a:t>先定义一个清楚且有限的工具</a:t>
            </a:r>
            <a:endParaRPr/>
          </a:p>
        </p:txBody>
      </p:sp>
      <p:sp>
        <p:nvSpPr>
          <p:cNvPr id="304" name="" descr="{&quot;isTemplate&quot;:true,&quot;type&quot;:&quot;text&quot;}"/>
          <p:cNvSpPr txBox="1"/>
          <p:nvPr/>
        </p:nvSpPr>
        <p:spPr>
          <a:xfrm rot="0" flipH="0" flipV="0">
            <a:off x="4800600" y="2886075"/>
            <a:ext cx="5095875" cy="190500"/>
          </a:xfrm>
          <a:prstGeom prst="rect"/>
        </p:spPr>
        <p:txBody>
          <a:bodyPr wrap="none" lIns="0" tIns="0" rIns="0" bIns="0"/>
          <a:p>
            <a:pPr>
              <a:lnSpc>
                <a:spcPct val="100000"/>
              </a:lnSpc>
            </a:pPr>
            <a:r>
              <a:rPr lang="zh-CN" sz="1200">
                <a:solidFill>
                  <a:srgbClr val="546779"/>
                </a:solidFill>
                <a:latin typeface="Microsoft YaHei"/>
                <a:ea typeface="Microsoft YaHei"/>
              </a:rPr>
              <a:t>输入</a:t>
            </a:r>
            <a:r>
              <a:rPr lang="en-US" sz="1200">
                <a:solidFill>
                  <a:srgbClr val="546779"/>
                </a:solidFill>
                <a:latin typeface="Microsoft YaHei"/>
                <a:ea typeface="Microsoft YaHei"/>
              </a:rPr>
              <a:t xml:space="preserve"> room_id </a:t>
            </a:r>
            <a:r>
              <a:rPr lang="zh-CN" sz="1200">
                <a:solidFill>
                  <a:srgbClr val="546779"/>
                </a:solidFill>
                <a:latin typeface="Microsoft YaHei"/>
                <a:ea typeface="Microsoft YaHei"/>
              </a:rPr>
              <a:t>与</a:t>
            </a:r>
            <a:r>
              <a:rPr lang="en-US" sz="1200">
                <a:solidFill>
                  <a:srgbClr val="546779"/>
                </a:solidFill>
                <a:latin typeface="Microsoft YaHei"/>
                <a:ea typeface="Microsoft YaHei"/>
              </a:rPr>
              <a:t xml:space="preserve"> date</a:t>
            </a:r>
            <a:r>
              <a:rPr lang="zh-CN" sz="1200">
                <a:solidFill>
                  <a:srgbClr val="546779"/>
                </a:solidFill>
                <a:latin typeface="Microsoft YaHei"/>
                <a:ea typeface="Microsoft YaHei"/>
              </a:rPr>
              <a:t>，只读本章材料；模型无需猜测手作教室是不是</a:t>
            </a:r>
            <a:r>
              <a:rPr lang="en-US" sz="1200">
                <a:solidFill>
                  <a:srgbClr val="546779"/>
                </a:solidFill>
                <a:latin typeface="Microsoft YaHei"/>
                <a:ea typeface="Microsoft YaHei"/>
              </a:rPr>
              <a:t xml:space="preserve"> craft</a:t>
            </a:r>
            <a:endParaRPr/>
          </a:p>
        </p:txBody>
      </p:sp>
      <p:sp>
        <p:nvSpPr>
          <p:cNvPr id="305" name=""/>
          <p:cNvSpPr/>
          <p:nvPr/>
        </p:nvSpPr>
        <p:spPr>
          <a:xfrm rot="0" flipH="0" flipV="0">
            <a:off x="4229100" y="3219450"/>
            <a:ext cx="419100" cy="419100"/>
          </a:xfrm>
          <a:prstGeom prst="roundRect">
            <a:avLst>
              <a:gd name="adj" fmla="val 18182"/>
            </a:avLst>
          </a:prstGeom>
          <a:solidFill>
            <a:srgbClr val="276FBF"/>
          </a:solidFill>
          <a:ln/>
        </p:spPr>
        <p:txBody>
          <a:bodyPr/>
          <a:p/>
        </p:txBody>
      </p:sp>
      <p:sp>
        <p:nvSpPr>
          <p:cNvPr id="306" name="" descr="{&quot;isTemplate&quot;:true,&quot;type&quot;:&quot;text&quot;}"/>
          <p:cNvSpPr txBox="1"/>
          <p:nvPr/>
        </p:nvSpPr>
        <p:spPr>
          <a:xfrm rot="0" flipH="0" flipV="0">
            <a:off x="4333875" y="3324225"/>
            <a:ext cx="219075" cy="209550"/>
          </a:xfrm>
          <a:prstGeom prst="rect"/>
        </p:spPr>
        <p:txBody>
          <a:bodyPr wrap="none" lIns="0" tIns="0" rIns="0" bIns="0"/>
          <a:p>
            <a:pPr>
              <a:lnSpc>
                <a:spcPct val="100000"/>
              </a:lnSpc>
            </a:pPr>
            <a:r>
              <a:rPr lang="en-US" sz="1350" b="1">
                <a:solidFill>
                  <a:srgbClr val="FFFFFF"/>
                </a:solidFill>
                <a:latin typeface="Microsoft YaHei"/>
                <a:ea typeface="Microsoft YaHei"/>
              </a:rPr>
              <a:t>02</a:t>
            </a:r>
            <a:endParaRPr/>
          </a:p>
        </p:txBody>
      </p:sp>
      <p:sp>
        <p:nvSpPr>
          <p:cNvPr id="307" name="" descr="{&quot;isTemplate&quot;:true,&quot;type&quot;:&quot;text&quot;}"/>
          <p:cNvSpPr txBox="1"/>
          <p:nvPr/>
        </p:nvSpPr>
        <p:spPr>
          <a:xfrm rot="0" flipH="0" flipV="0">
            <a:off x="4800600" y="3209925"/>
            <a:ext cx="4486275" cy="228600"/>
          </a:xfrm>
          <a:prstGeom prst="rect"/>
        </p:spPr>
        <p:txBody>
          <a:bodyPr wrap="none" lIns="0" tIns="0" rIns="0" bIns="0"/>
          <a:p>
            <a:pPr>
              <a:lnSpc>
                <a:spcPct val="100000"/>
              </a:lnSpc>
            </a:pPr>
            <a:r>
              <a:rPr lang="zh-CN" sz="1500" b="1">
                <a:solidFill>
                  <a:srgbClr val="20344B"/>
                </a:solidFill>
                <a:latin typeface="Microsoft YaHei"/>
                <a:ea typeface="Microsoft YaHei"/>
              </a:rPr>
              <a:t>一轮调用包含哪些证据</a:t>
            </a:r>
            <a:endParaRPr/>
          </a:p>
        </p:txBody>
      </p:sp>
      <p:sp>
        <p:nvSpPr>
          <p:cNvPr id="308" name="" descr="{&quot;isTemplate&quot;:true,&quot;type&quot;:&quot;text&quot;}"/>
          <p:cNvSpPr txBox="1"/>
          <p:nvPr/>
        </p:nvSpPr>
        <p:spPr>
          <a:xfrm rot="0" flipH="0" flipV="0">
            <a:off x="4800600" y="3457575"/>
            <a:ext cx="4486275" cy="190500"/>
          </a:xfrm>
          <a:prstGeom prst="rect"/>
        </p:spPr>
        <p:txBody>
          <a:bodyPr wrap="none" lIns="0" tIns="0" rIns="0" bIns="0"/>
          <a:p>
            <a:pPr>
              <a:lnSpc>
                <a:spcPct val="100000"/>
              </a:lnSpc>
            </a:pPr>
            <a:r>
              <a:rPr lang="zh-CN" sz="1200">
                <a:solidFill>
                  <a:srgbClr val="546779"/>
                </a:solidFill>
                <a:latin typeface="Microsoft YaHei"/>
                <a:ea typeface="Microsoft YaHei"/>
              </a:rPr>
              <a:t>名称、</a:t>
            </a:r>
            <a:r>
              <a:rPr lang="en-US" sz="1200">
                <a:solidFill>
                  <a:srgbClr val="546779"/>
                </a:solidFill>
                <a:latin typeface="Microsoft YaHei"/>
                <a:ea typeface="Microsoft YaHei"/>
              </a:rPr>
              <a:t xml:space="preserve">JSON </a:t>
            </a:r>
            <a:r>
              <a:rPr lang="zh-CN" sz="1200">
                <a:solidFill>
                  <a:srgbClr val="546779"/>
                </a:solidFill>
                <a:latin typeface="Microsoft YaHei"/>
                <a:ea typeface="Microsoft YaHei"/>
              </a:rPr>
              <a:t>参数与</a:t>
            </a:r>
            <a:r>
              <a:rPr lang="en-US" sz="1200">
                <a:solidFill>
                  <a:srgbClr val="546779"/>
                </a:solidFill>
                <a:latin typeface="Microsoft YaHei"/>
                <a:ea typeface="Microsoft YaHei"/>
              </a:rPr>
              <a:t xml:space="preserve"> call_id </a:t>
            </a:r>
            <a:r>
              <a:rPr lang="zh-CN" sz="1200">
                <a:solidFill>
                  <a:srgbClr val="546779"/>
                </a:solidFill>
                <a:latin typeface="Microsoft YaHei"/>
                <a:ea typeface="Microsoft YaHei"/>
              </a:rPr>
              <a:t>怎样关联，多个调用为什么要逐条处理</a:t>
            </a:r>
            <a:endParaRPr/>
          </a:p>
        </p:txBody>
      </p:sp>
      <p:sp>
        <p:nvSpPr>
          <p:cNvPr id="309" name=""/>
          <p:cNvSpPr/>
          <p:nvPr/>
        </p:nvSpPr>
        <p:spPr>
          <a:xfrm rot="0" flipH="0" flipV="0">
            <a:off x="4229100" y="3790950"/>
            <a:ext cx="419100" cy="419100"/>
          </a:xfrm>
          <a:prstGeom prst="roundRect">
            <a:avLst>
              <a:gd name="adj" fmla="val 18182"/>
            </a:avLst>
          </a:prstGeom>
          <a:solidFill>
            <a:srgbClr val="26816B"/>
          </a:solidFill>
          <a:ln/>
        </p:spPr>
        <p:txBody>
          <a:bodyPr/>
          <a:p/>
        </p:txBody>
      </p:sp>
      <p:sp>
        <p:nvSpPr>
          <p:cNvPr id="310" name="" descr="{&quot;isTemplate&quot;:true,&quot;type&quot;:&quot;text&quot;}"/>
          <p:cNvSpPr txBox="1"/>
          <p:nvPr/>
        </p:nvSpPr>
        <p:spPr>
          <a:xfrm rot="0" flipH="0" flipV="0">
            <a:off x="4333875" y="3895725"/>
            <a:ext cx="219075" cy="209550"/>
          </a:xfrm>
          <a:prstGeom prst="rect"/>
        </p:spPr>
        <p:txBody>
          <a:bodyPr wrap="none" lIns="0" tIns="0" rIns="0" bIns="0"/>
          <a:p>
            <a:pPr>
              <a:lnSpc>
                <a:spcPct val="100000"/>
              </a:lnSpc>
            </a:pPr>
            <a:r>
              <a:rPr lang="en-US" sz="1350" b="1">
                <a:solidFill>
                  <a:srgbClr val="FFFFFF"/>
                </a:solidFill>
                <a:latin typeface="Microsoft YaHei"/>
                <a:ea typeface="Microsoft YaHei"/>
              </a:rPr>
              <a:t>03</a:t>
            </a:r>
            <a:endParaRPr/>
          </a:p>
        </p:txBody>
      </p:sp>
      <p:sp>
        <p:nvSpPr>
          <p:cNvPr id="311" name="" descr="{&quot;isTemplate&quot;:true,&quot;type&quot;:&quot;text&quot;}"/>
          <p:cNvSpPr txBox="1"/>
          <p:nvPr/>
        </p:nvSpPr>
        <p:spPr>
          <a:xfrm rot="0" flipH="0" flipV="0">
            <a:off x="4800600" y="3781425"/>
            <a:ext cx="4419600" cy="228600"/>
          </a:xfrm>
          <a:prstGeom prst="rect"/>
        </p:spPr>
        <p:txBody>
          <a:bodyPr wrap="none" lIns="0" tIns="0" rIns="0" bIns="0"/>
          <a:p>
            <a:pPr>
              <a:lnSpc>
                <a:spcPct val="100000"/>
              </a:lnSpc>
            </a:pPr>
            <a:r>
              <a:rPr lang="zh-CN" sz="1500" b="1">
                <a:solidFill>
                  <a:srgbClr val="20344B"/>
                </a:solidFill>
                <a:latin typeface="Microsoft YaHei"/>
                <a:ea typeface="Microsoft YaHei"/>
              </a:rPr>
              <a:t>完整回路比单次请求重要</a:t>
            </a:r>
            <a:endParaRPr/>
          </a:p>
        </p:txBody>
      </p:sp>
      <p:sp>
        <p:nvSpPr>
          <p:cNvPr id="312" name="" descr="{&quot;isTemplate&quot;:true,&quot;type&quot;:&quot;text&quot;}"/>
          <p:cNvSpPr txBox="1"/>
          <p:nvPr/>
        </p:nvSpPr>
        <p:spPr>
          <a:xfrm rot="0" flipH="0" flipV="0">
            <a:off x="4800600" y="4029075"/>
            <a:ext cx="4419600" cy="190500"/>
          </a:xfrm>
          <a:prstGeom prst="rect"/>
        </p:spPr>
        <p:txBody>
          <a:bodyPr wrap="none" lIns="0" tIns="0" rIns="0" bIns="0"/>
          <a:p>
            <a:pPr>
              <a:lnSpc>
                <a:spcPct val="100000"/>
              </a:lnSpc>
            </a:pPr>
            <a:r>
              <a:rPr lang="zh-CN" sz="1200">
                <a:solidFill>
                  <a:srgbClr val="546779"/>
                </a:solidFill>
                <a:latin typeface="Microsoft YaHei"/>
                <a:ea typeface="Microsoft YaHei"/>
              </a:rPr>
              <a:t>先保留完整输出再回填结果，然后继续请求；成功条件放在应用里</a:t>
            </a:r>
            <a:endParaRPr/>
          </a:p>
        </p:txBody>
      </p:sp>
      <p:sp>
        <p:nvSpPr>
          <p:cNvPr id="313" name=""/>
          <p:cNvSpPr/>
          <p:nvPr/>
        </p:nvSpPr>
        <p:spPr>
          <a:xfrm rot="0" flipH="0" flipV="0">
            <a:off x="4229100" y="4362450"/>
            <a:ext cx="419100" cy="419100"/>
          </a:xfrm>
          <a:prstGeom prst="roundRect">
            <a:avLst>
              <a:gd name="adj" fmla="val 18182"/>
            </a:avLst>
          </a:prstGeom>
          <a:solidFill>
            <a:srgbClr val="CB6B28"/>
          </a:solidFill>
          <a:ln/>
        </p:spPr>
        <p:txBody>
          <a:bodyPr/>
          <a:p/>
        </p:txBody>
      </p:sp>
      <p:sp>
        <p:nvSpPr>
          <p:cNvPr id="314" name="" descr="{&quot;isTemplate&quot;:true,&quot;type&quot;:&quot;text&quot;}"/>
          <p:cNvSpPr txBox="1"/>
          <p:nvPr/>
        </p:nvSpPr>
        <p:spPr>
          <a:xfrm rot="0" flipH="0" flipV="0">
            <a:off x="4333875" y="4467225"/>
            <a:ext cx="219075" cy="209550"/>
          </a:xfrm>
          <a:prstGeom prst="rect"/>
        </p:spPr>
        <p:txBody>
          <a:bodyPr wrap="none" lIns="0" tIns="0" rIns="0" bIns="0"/>
          <a:p>
            <a:pPr>
              <a:lnSpc>
                <a:spcPct val="100000"/>
              </a:lnSpc>
            </a:pPr>
            <a:r>
              <a:rPr lang="en-US" sz="1350" b="1">
                <a:solidFill>
                  <a:srgbClr val="FFFFFF"/>
                </a:solidFill>
                <a:latin typeface="Microsoft YaHei"/>
                <a:ea typeface="Microsoft YaHei"/>
              </a:rPr>
              <a:t>04</a:t>
            </a:r>
            <a:endParaRPr/>
          </a:p>
        </p:txBody>
      </p:sp>
      <p:sp>
        <p:nvSpPr>
          <p:cNvPr id="315" name="" descr="{&quot;isTemplate&quot;:true,&quot;type&quot;:&quot;text&quot;}"/>
          <p:cNvSpPr txBox="1"/>
          <p:nvPr/>
        </p:nvSpPr>
        <p:spPr>
          <a:xfrm rot="0" flipH="0" flipV="0">
            <a:off x="4800600" y="4352925"/>
            <a:ext cx="4095750" cy="228600"/>
          </a:xfrm>
          <a:prstGeom prst="rect"/>
        </p:spPr>
        <p:txBody>
          <a:bodyPr wrap="none" lIns="0" tIns="0" rIns="0" bIns="0"/>
          <a:p>
            <a:pPr>
              <a:lnSpc>
                <a:spcPct val="100000"/>
              </a:lnSpc>
            </a:pPr>
            <a:r>
              <a:rPr lang="zh-CN" sz="1500" b="1">
                <a:solidFill>
                  <a:srgbClr val="20344B"/>
                </a:solidFill>
                <a:latin typeface="Microsoft YaHei"/>
                <a:ea typeface="Microsoft YaHei"/>
              </a:rPr>
              <a:t>参数错误、工具失败与无进展</a:t>
            </a:r>
            <a:endParaRPr/>
          </a:p>
        </p:txBody>
      </p:sp>
      <p:sp>
        <p:nvSpPr>
          <p:cNvPr id="316" name="" descr="{&quot;isTemplate&quot;:true,&quot;type&quot;:&quot;text&quot;}"/>
          <p:cNvSpPr txBox="1"/>
          <p:nvPr/>
        </p:nvSpPr>
        <p:spPr>
          <a:xfrm rot="0" flipH="0" flipV="0">
            <a:off x="4800600" y="4600575"/>
            <a:ext cx="4095750" cy="190500"/>
          </a:xfrm>
          <a:prstGeom prst="rect"/>
        </p:spPr>
        <p:txBody>
          <a:bodyPr wrap="none" lIns="0" tIns="0" rIns="0" bIns="0"/>
          <a:p>
            <a:pPr>
              <a:lnSpc>
                <a:spcPct val="100000"/>
              </a:lnSpc>
            </a:pPr>
            <a:r>
              <a:rPr lang="zh-CN" sz="1200">
                <a:solidFill>
                  <a:srgbClr val="546779"/>
                </a:solidFill>
                <a:latin typeface="Microsoft YaHei"/>
                <a:ea typeface="Microsoft YaHei"/>
              </a:rPr>
              <a:t>三种去向、两种</a:t>
            </a:r>
            <a:r>
              <a:rPr lang="en-US" sz="1200">
                <a:solidFill>
                  <a:srgbClr val="546779"/>
                </a:solidFill>
                <a:latin typeface="Microsoft YaHei"/>
                <a:ea typeface="Microsoft YaHei"/>
              </a:rPr>
              <a:t>"</a:t>
            </a:r>
            <a:r>
              <a:rPr lang="zh-CN" sz="1200">
                <a:solidFill>
                  <a:srgbClr val="546779"/>
                </a:solidFill>
                <a:latin typeface="Microsoft YaHei"/>
                <a:ea typeface="Microsoft YaHei"/>
              </a:rPr>
              <a:t>空</a:t>
            </a:r>
            <a:r>
              <a:rPr lang="en-US" sz="1200">
                <a:solidFill>
                  <a:srgbClr val="546779"/>
                </a:solidFill>
                <a:latin typeface="Microsoft YaHei"/>
                <a:ea typeface="Microsoft YaHei"/>
              </a:rPr>
              <a:t>"</a:t>
            </a:r>
            <a:r>
              <a:rPr lang="zh-CN" sz="1200">
                <a:solidFill>
                  <a:srgbClr val="546779"/>
                </a:solidFill>
                <a:latin typeface="Microsoft YaHei"/>
                <a:ea typeface="Microsoft YaHei"/>
              </a:rPr>
              <a:t>的区别，八轮十六条与第三次重复的拦截</a:t>
            </a:r>
            <a:endParaRPr/>
          </a:p>
        </p:txBody>
      </p:sp>
      <p:sp>
        <p:nvSpPr>
          <p:cNvPr id="317"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318"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02 / 26</a:t>
            </a:r>
            <a:endParaRPr/>
          </a:p>
        </p:txBody>
      </p:sp>
    </p:spTree>
  </p:cSld>
</p:sld>
</file>

<file path=ppt/slides/slide3.xml><?xml version="1.0" encoding="utf-8"?>
<p:sld xmlns:p="http://schemas.openxmlformats.org/presentationml/2006/main" xmlns:a="http://schemas.openxmlformats.org/drawingml/2006/main">
  <p:cSld>
    <p:spTree>
      <p:nvGrpSpPr>
        <p:cNvPr id="512" name="" descr="&lt;Slide notes={`做工具的第一步，是把能力收窄。&#10;&#10;本章的第一个工具只做一件事：按房间和日期，查青禾教学数据里已经有的预约记录。它只读，不连接真实预约系统，也不修改任何预约。输入用稳定的英文编号，reading、craft、discussion 三个值写进枚举里，日期也固定在练习用的那一天。&#10;&#10;为什么不直接给模型一个能执行任意查询的口子？因为我们没有办法逐项验证一个没有边界的工具。参数写成枚举、必填项写清楚、不允许额外字段，出错的范围就小得多。&#10;&#10;第二个工具是校验器，它接收一份候选方案，返回确定性的检查结果。一个负责取数据，一个负责判数据，职责分开，后面排查问题的时候才知道该看哪一边。`} style={{ width: 1280, height: 720, background: '#FFFFFF', flexDirection: 'column', padding: '20px 64px' }}&gt;&#10;&#10;    &lt;Box style={{ height: 540, flexDirection: 'column', justifyContent: 'center', gap: 20 }}&gt;&#10;&#10;        &lt;Box style={{ flexDirection: 'row', alignItems: 'center', gap: 16 }}&gt;&#10;            &lt;Box style={{ width: 56, height: 56, borderRadius: 10, background: '#276FBF', justifyContent: 'center', alignItems: 'center' }}&gt;&#10;                &lt;Text style={{ fontSize: 28, fontWeight: 'bold', color: '#FFFFFF' }}&gt;01&lt;/Text&gt;&#10;            &lt;/Box&gt;&#10;            &lt;Text style={{ fontSize: 16, color: '#546779' }}&gt;2.5.1&lt;/Text&gt;&#10;        &lt;/Box&gt;&#10;&#10;        &lt;Text style={{ fontSize: 56, fontWeight: 'bold', color: '#20344B', lineHeight: 1.15 }}&gt;先定义一个清楚且有限的工具&lt;/Text&gt;&#10;&#10;        &lt;Box style={{ width: 640, height: 4, background: '#276FBF' }} /&gt;&#10;&#10;        &lt;Text style={{ fontSize: 19, color: '#546779', lineHeight: 1.7 }}&gt;先把查询能力做小，比一开始就暴露任意数据库操作更容易验证。&lt;/Text&gt;&#10;&#10;        &lt;Box style={{ marginTop: 8, flexDirection: 'row', justifyContent: 'center', gap: 16 }}&gt;&#10;            &lt;Box style={{ width: 300, height: 56, background: '#EDF4FC', borderRadius: 8, justifyContent: 'center', alignItems: 'center' }}&gt;&#10;                &lt;Text style={{ fontSize: 17, fontWeight: 'bold', color: '#276FBF' }}&gt;只读查询　不改任何预约&lt;/Text&gt;&#10;            &lt;/Box&gt;&#10;            &lt;Box style={{ width: 300, height: 56, background: '#EDF4FC', borderRadius: 8, justifyContent: 'center', alignItems: 'center' }}&gt;&#10;                &lt;Text style={{ fontSize: 17, fontWeight: 'bold', color: '#276FBF' }}&gt;稳定 ID　reading · craft&lt;/Text&gt;&#10;            &lt;/Box&gt;&#10;            &lt;Box style={{ width: 300, height: 56, background: '#ECF7F2', borderRadius: 8, justifyContent: 'center', alignItems: 'center' }}&gt;&#10;                &lt;Text style={{ fontSize: 17, fontWeight: 'bold', color: '#26816B' }}&gt;固定日期　2026-10-17&lt;/Text&gt;&#10;            &lt;/Box&gt;&#10;        &lt;/Box&gt;&#10;&#10;        &lt;Box style={{ flexDirection: 'row', justifyContent: 'center' }}&gt;&#10;            &lt;Box style={{ width: 300, height: 26, justifyContent: 'center', alignItems: 'center' }}&gt;&lt;Text style={{ fontSize: 18, color: '#26816B' }}&gt;↓&lt;/Text&gt;&lt;/Box&gt;&#10;        &lt;/Box&gt;&#10;&#10;        &lt;Box style={{ flexDirection: 'row', justifyContent: 'center' }}&gt;&#10;            &lt;Box style={{ width: 620, height: 56, background: '#F4F7FA', borderRadius: 8, justifyContent: 'center', alignItems: 'center' }}&gt;&#10;                &lt;Text style={{ fontSize: 17, fontWeight: 'bold', color: '#20344B' }}&gt;一个负责取数据，一个负责判数据&lt;/Text&gt;&#10;            &lt;/Box&gt;&#10;        &lt;/Box&gt;&#10;&#10;    &lt;/Box&gt;&#10;&#10;    &lt;Box style={{ height: 40, flexDirection: 'row', justifyContent: 'space-between', alignItems: 'center' }}&gt;&#10;        &lt;Text style={{ fontSize: 14, color: '#546779' }}&gt;2.5 Function Calling&lt;/Text&gt;&#10;        &lt;Text style={{ fontSize: 14, color: '#546779' }}&gt;03 / 26&lt;/Text&gt;&#10;    &lt;/Box&gt;&#10;&#10;&lt;/Slide&gt;&#10;"/>
        <p:cNvGrpSpPr/>
        <p:nvPr/>
      </p:nvGrpSpPr>
      <p:grpSpPr>
        <a:xfrm>
          <a:off x="0" y="0"/>
          <a:ext cx="0" cy="0"/>
          <a:chOff x="0" y="0"/>
          <a:chExt cx="0" cy="0"/>
        </a:xfrm>
      </p:grpSpPr>
      <p:sp>
        <p:nvSpPr>
          <p:cNvPr id="513" name=""/>
          <p:cNvSpPr/>
          <p:nvPr/>
        </p:nvSpPr>
        <p:spPr>
          <a:xfrm rot="0" flipH="0" flipV="0">
            <a:off x="0" y="0"/>
            <a:ext cx="12192000" cy="6858000"/>
          </a:xfrm>
          <a:prstGeom prst="rect">
            <a:avLst/>
          </a:prstGeom>
          <a:solidFill>
            <a:srgbClr val="FFFFFF"/>
          </a:solidFill>
          <a:ln/>
        </p:spPr>
        <p:txBody>
          <a:bodyPr/>
          <a:p/>
        </p:txBody>
      </p:sp>
      <p:sp>
        <p:nvSpPr>
          <p:cNvPr id="514" name=""/>
          <p:cNvSpPr/>
          <p:nvPr/>
        </p:nvSpPr>
        <p:spPr>
          <a:xfrm rot="0" flipH="0" flipV="0">
            <a:off x="609600" y="657225"/>
            <a:ext cx="533400" cy="533400"/>
          </a:xfrm>
          <a:prstGeom prst="roundRect">
            <a:avLst>
              <a:gd name="adj" fmla="val 17857"/>
            </a:avLst>
          </a:prstGeom>
          <a:solidFill>
            <a:srgbClr val="276FBF"/>
          </a:solidFill>
          <a:ln/>
        </p:spPr>
        <p:txBody>
          <a:bodyPr/>
          <a:p/>
        </p:txBody>
      </p:sp>
      <p:sp>
        <p:nvSpPr>
          <p:cNvPr id="515" name="" descr="{&quot;isTemplate&quot;:true,&quot;type&quot;:&quot;text&quot;}"/>
          <p:cNvSpPr txBox="1"/>
          <p:nvPr/>
        </p:nvSpPr>
        <p:spPr>
          <a:xfrm rot="0" flipH="0" flipV="0">
            <a:off x="714375" y="762000"/>
            <a:ext cx="333375" cy="323850"/>
          </a:xfrm>
          <a:prstGeom prst="rect"/>
        </p:spPr>
        <p:txBody>
          <a:bodyPr wrap="none" lIns="0" tIns="0" rIns="0" bIns="0"/>
          <a:p>
            <a:pPr>
              <a:lnSpc>
                <a:spcPct val="100000"/>
              </a:lnSpc>
            </a:pPr>
            <a:r>
              <a:rPr lang="en-US" sz="2100" b="1">
                <a:solidFill>
                  <a:srgbClr val="FFFFFF"/>
                </a:solidFill>
                <a:latin typeface="Microsoft YaHei"/>
                <a:ea typeface="Microsoft YaHei"/>
              </a:rPr>
              <a:t>01</a:t>
            </a:r>
            <a:endParaRPr/>
          </a:p>
        </p:txBody>
      </p:sp>
      <p:sp>
        <p:nvSpPr>
          <p:cNvPr id="516" name="" descr="{&quot;isTemplate&quot;:true,&quot;type&quot;:&quot;text&quot;}"/>
          <p:cNvSpPr txBox="1"/>
          <p:nvPr/>
        </p:nvSpPr>
        <p:spPr>
          <a:xfrm rot="0" flipH="0" flipV="0">
            <a:off x="1295400" y="828675"/>
            <a:ext cx="342900" cy="190500"/>
          </a:xfrm>
          <a:prstGeom prst="rect"/>
        </p:spPr>
        <p:txBody>
          <a:bodyPr wrap="none" lIns="0" tIns="0" rIns="0" bIns="0"/>
          <a:p>
            <a:pPr>
              <a:lnSpc>
                <a:spcPct val="100000"/>
              </a:lnSpc>
            </a:pPr>
            <a:r>
              <a:rPr lang="en-US" sz="1200">
                <a:solidFill>
                  <a:srgbClr val="546779"/>
                </a:solidFill>
                <a:latin typeface="Microsoft YaHei"/>
                <a:ea typeface="Microsoft YaHei"/>
              </a:rPr>
              <a:t>2.5.1</a:t>
            </a:r>
            <a:endParaRPr/>
          </a:p>
        </p:txBody>
      </p:sp>
      <p:sp>
        <p:nvSpPr>
          <p:cNvPr id="517" name="" descr="{&quot;isTemplate&quot;:true,&quot;type&quot;:&quot;text&quot;}"/>
          <p:cNvSpPr txBox="1"/>
          <p:nvPr/>
        </p:nvSpPr>
        <p:spPr>
          <a:xfrm rot="0" flipH="0" flipV="0">
            <a:off x="609600" y="1381125"/>
            <a:ext cx="10972800" cy="742950"/>
          </a:xfrm>
          <a:prstGeom prst="rect"/>
        </p:spPr>
        <p:txBody>
          <a:bodyPr wrap="none" lIns="0" tIns="0" rIns="0" bIns="0"/>
          <a:p>
            <a:pPr>
              <a:lnSpc>
                <a:spcPct val="114999"/>
              </a:lnSpc>
            </a:pPr>
            <a:r>
              <a:rPr lang="zh-CN" sz="4200" b="1">
                <a:solidFill>
                  <a:srgbClr val="20344B"/>
                </a:solidFill>
                <a:latin typeface="Microsoft YaHei"/>
                <a:ea typeface="Microsoft YaHei"/>
              </a:rPr>
              <a:t>先定义一个清楚且有限的工具</a:t>
            </a:r>
            <a:endParaRPr/>
          </a:p>
        </p:txBody>
      </p:sp>
      <p:sp>
        <p:nvSpPr>
          <p:cNvPr id="518" name=""/>
          <p:cNvSpPr/>
          <p:nvPr/>
        </p:nvSpPr>
        <p:spPr>
          <a:xfrm rot="0" flipH="0" flipV="0">
            <a:off x="609600" y="2314575"/>
            <a:ext cx="6096000" cy="38100"/>
          </a:xfrm>
          <a:prstGeom prst="rect">
            <a:avLst/>
          </a:prstGeom>
          <a:solidFill>
            <a:srgbClr val="276FBF"/>
          </a:solidFill>
          <a:ln/>
        </p:spPr>
        <p:txBody>
          <a:bodyPr/>
          <a:p/>
        </p:txBody>
      </p:sp>
      <p:sp>
        <p:nvSpPr>
          <p:cNvPr id="519" name="" descr="{&quot;isTemplate&quot;:true,&quot;type&quot;:&quot;text&quot;}"/>
          <p:cNvSpPr txBox="1"/>
          <p:nvPr/>
        </p:nvSpPr>
        <p:spPr>
          <a:xfrm rot="0" flipH="0" flipV="0">
            <a:off x="609600" y="2543175"/>
            <a:ext cx="10972800" cy="371475"/>
          </a:xfrm>
          <a:prstGeom prst="rect"/>
        </p:spPr>
        <p:txBody>
          <a:bodyPr wrap="none" lIns="0" tIns="0" rIns="0" bIns="0"/>
          <a:p>
            <a:pPr>
              <a:lnSpc>
                <a:spcPct val="170000"/>
              </a:lnSpc>
            </a:pPr>
            <a:r>
              <a:rPr lang="zh-CN" sz="1425">
                <a:solidFill>
                  <a:srgbClr val="546779"/>
                </a:solidFill>
                <a:latin typeface="Microsoft YaHei"/>
                <a:ea typeface="Microsoft YaHei"/>
              </a:rPr>
              <a:t>先把查询能力做小，比一开始就暴露任意数据库操作更容易验证。</a:t>
            </a:r>
            <a:endParaRPr/>
          </a:p>
        </p:txBody>
      </p:sp>
      <p:sp>
        <p:nvSpPr>
          <p:cNvPr id="520" name=""/>
          <p:cNvSpPr/>
          <p:nvPr/>
        </p:nvSpPr>
        <p:spPr>
          <a:xfrm rot="0" flipH="0" flipV="0">
            <a:off x="1657350" y="3181350"/>
            <a:ext cx="2857500" cy="533400"/>
          </a:xfrm>
          <a:prstGeom prst="roundRect">
            <a:avLst>
              <a:gd name="adj" fmla="val 14286"/>
            </a:avLst>
          </a:prstGeom>
          <a:solidFill>
            <a:srgbClr val="EDF4FC"/>
          </a:solidFill>
          <a:ln/>
        </p:spPr>
        <p:txBody>
          <a:bodyPr/>
          <a:p/>
        </p:txBody>
      </p:sp>
      <p:sp>
        <p:nvSpPr>
          <p:cNvPr id="521" name="" descr="{&quot;isTemplate&quot;:true,&quot;type&quot;:&quot;text&quot;}"/>
          <p:cNvSpPr txBox="1"/>
          <p:nvPr/>
        </p:nvSpPr>
        <p:spPr>
          <a:xfrm rot="0" flipH="0" flipV="0">
            <a:off x="2200275" y="3352800"/>
            <a:ext cx="1781175" cy="200025"/>
          </a:xfrm>
          <a:prstGeom prst="rect"/>
        </p:spPr>
        <p:txBody>
          <a:bodyPr wrap="none" lIns="0" tIns="0" rIns="0" bIns="0"/>
          <a:p>
            <a:pPr>
              <a:lnSpc>
                <a:spcPct val="100000"/>
              </a:lnSpc>
            </a:pPr>
            <a:r>
              <a:rPr lang="zh-CN" sz="1275" b="1">
                <a:solidFill>
                  <a:srgbClr val="276FBF"/>
                </a:solidFill>
                <a:latin typeface="Microsoft YaHei"/>
                <a:ea typeface="Microsoft YaHei"/>
              </a:rPr>
              <a:t>只读查询　不改任何预约</a:t>
            </a:r>
            <a:endParaRPr/>
          </a:p>
        </p:txBody>
      </p:sp>
      <p:sp>
        <p:nvSpPr>
          <p:cNvPr id="522" name=""/>
          <p:cNvSpPr/>
          <p:nvPr/>
        </p:nvSpPr>
        <p:spPr>
          <a:xfrm rot="0" flipH="0" flipV="0">
            <a:off x="4667250" y="3181350"/>
            <a:ext cx="2857500" cy="533400"/>
          </a:xfrm>
          <a:prstGeom prst="roundRect">
            <a:avLst>
              <a:gd name="adj" fmla="val 14286"/>
            </a:avLst>
          </a:prstGeom>
          <a:solidFill>
            <a:srgbClr val="EDF4FC"/>
          </a:solidFill>
          <a:ln/>
        </p:spPr>
        <p:txBody>
          <a:bodyPr/>
          <a:p/>
        </p:txBody>
      </p:sp>
      <p:sp>
        <p:nvSpPr>
          <p:cNvPr id="523" name="" descr="{&quot;isTemplate&quot;:true,&quot;type&quot;:&quot;text&quot;}"/>
          <p:cNvSpPr txBox="1"/>
          <p:nvPr/>
        </p:nvSpPr>
        <p:spPr>
          <a:xfrm rot="0" flipH="0" flipV="0">
            <a:off x="5153025" y="3352800"/>
            <a:ext cx="1895475" cy="200025"/>
          </a:xfrm>
          <a:prstGeom prst="rect"/>
        </p:spPr>
        <p:txBody>
          <a:bodyPr wrap="none" lIns="0" tIns="0" rIns="0" bIns="0"/>
          <a:p>
            <a:pPr>
              <a:lnSpc>
                <a:spcPct val="100000"/>
              </a:lnSpc>
            </a:pPr>
            <a:r>
              <a:rPr lang="zh-CN" sz="1275" b="1">
                <a:solidFill>
                  <a:srgbClr val="276FBF"/>
                </a:solidFill>
                <a:latin typeface="Microsoft YaHei"/>
                <a:ea typeface="Microsoft YaHei"/>
              </a:rPr>
              <a:t>稳定</a:t>
            </a:r>
            <a:r>
              <a:rPr lang="en-US" sz="1275" b="1">
                <a:solidFill>
                  <a:srgbClr val="276FBF"/>
                </a:solidFill>
                <a:latin typeface="Microsoft YaHei"/>
                <a:ea typeface="Microsoft YaHei"/>
              </a:rPr>
              <a:t xml:space="preserve"> ID</a:t>
            </a:r>
            <a:r>
              <a:rPr lang="zh-CN" sz="1275" b="1">
                <a:solidFill>
                  <a:srgbClr val="276FBF"/>
                </a:solidFill>
                <a:latin typeface="Microsoft YaHei"/>
                <a:ea typeface="Microsoft YaHei"/>
              </a:rPr>
              <a:t>　</a:t>
            </a:r>
            <a:r>
              <a:rPr lang="en-US" sz="1275" b="1">
                <a:solidFill>
                  <a:srgbClr val="276FBF"/>
                </a:solidFill>
                <a:latin typeface="Microsoft YaHei"/>
                <a:ea typeface="Microsoft YaHei"/>
              </a:rPr>
              <a:t>reading · craft</a:t>
            </a:r>
            <a:endParaRPr/>
          </a:p>
        </p:txBody>
      </p:sp>
      <p:sp>
        <p:nvSpPr>
          <p:cNvPr id="524" name=""/>
          <p:cNvSpPr/>
          <p:nvPr/>
        </p:nvSpPr>
        <p:spPr>
          <a:xfrm rot="0" flipH="0" flipV="0">
            <a:off x="7677150" y="3181350"/>
            <a:ext cx="2857500" cy="533400"/>
          </a:xfrm>
          <a:prstGeom prst="roundRect">
            <a:avLst>
              <a:gd name="adj" fmla="val 14286"/>
            </a:avLst>
          </a:prstGeom>
          <a:solidFill>
            <a:srgbClr val="ECF7F2"/>
          </a:solidFill>
          <a:ln/>
        </p:spPr>
        <p:txBody>
          <a:bodyPr/>
          <a:p/>
        </p:txBody>
      </p:sp>
      <p:sp>
        <p:nvSpPr>
          <p:cNvPr id="525" name="" descr="{&quot;isTemplate&quot;:true,&quot;type&quot;:&quot;text&quot;}"/>
          <p:cNvSpPr txBox="1"/>
          <p:nvPr/>
        </p:nvSpPr>
        <p:spPr>
          <a:xfrm rot="0" flipH="0" flipV="0">
            <a:off x="8229600" y="3352800"/>
            <a:ext cx="1752600" cy="200025"/>
          </a:xfrm>
          <a:prstGeom prst="rect"/>
        </p:spPr>
        <p:txBody>
          <a:bodyPr wrap="none" lIns="0" tIns="0" rIns="0" bIns="0"/>
          <a:p>
            <a:pPr>
              <a:lnSpc>
                <a:spcPct val="100000"/>
              </a:lnSpc>
            </a:pPr>
            <a:r>
              <a:rPr lang="zh-CN" sz="1275" b="1">
                <a:solidFill>
                  <a:srgbClr val="26816B"/>
                </a:solidFill>
                <a:latin typeface="Microsoft YaHei"/>
                <a:ea typeface="Microsoft YaHei"/>
              </a:rPr>
              <a:t>固定日期　</a:t>
            </a:r>
            <a:r>
              <a:rPr lang="en-US" sz="1275" b="1">
                <a:solidFill>
                  <a:srgbClr val="26816B"/>
                </a:solidFill>
                <a:latin typeface="Microsoft YaHei"/>
                <a:ea typeface="Microsoft YaHei"/>
              </a:rPr>
              <a:t>2026-10-17</a:t>
            </a:r>
            <a:endParaRPr/>
          </a:p>
        </p:txBody>
      </p:sp>
      <p:sp>
        <p:nvSpPr>
          <p:cNvPr id="526" name="" descr="{&quot;isTemplate&quot;:true,&quot;type&quot;:&quot;text&quot;}"/>
          <p:cNvSpPr txBox="1"/>
          <p:nvPr/>
        </p:nvSpPr>
        <p:spPr>
          <a:xfrm rot="0" flipH="0" flipV="0">
            <a:off x="6057900" y="3924300"/>
            <a:ext cx="85725" cy="209550"/>
          </a:xfrm>
          <a:prstGeom prst="rect"/>
        </p:spPr>
        <p:txBody>
          <a:bodyPr wrap="none" lIns="0" tIns="0" rIns="0" bIns="0"/>
          <a:p>
            <a:pPr>
              <a:lnSpc>
                <a:spcPct val="100000"/>
              </a:lnSpc>
            </a:pPr>
            <a:r>
              <a:rPr sz="1350">
                <a:solidFill>
                  <a:srgbClr val="26816B"/>
                </a:solidFill>
                <a:latin typeface="Microsoft YaHei"/>
                <a:ea typeface="Microsoft YaHei"/>
              </a:rPr>
              <a:t>↓</a:t>
            </a:r>
            <a:endParaRPr/>
          </a:p>
        </p:txBody>
      </p:sp>
      <p:sp>
        <p:nvSpPr>
          <p:cNvPr id="527" name=""/>
          <p:cNvSpPr/>
          <p:nvPr/>
        </p:nvSpPr>
        <p:spPr>
          <a:xfrm rot="0" flipH="0" flipV="0">
            <a:off x="3143250" y="4343400"/>
            <a:ext cx="5905500" cy="533400"/>
          </a:xfrm>
          <a:prstGeom prst="roundRect">
            <a:avLst>
              <a:gd name="adj" fmla="val 14286"/>
            </a:avLst>
          </a:prstGeom>
          <a:solidFill>
            <a:srgbClr val="F4F7FA"/>
          </a:solidFill>
          <a:ln/>
        </p:spPr>
        <p:txBody>
          <a:bodyPr/>
          <a:p/>
        </p:txBody>
      </p:sp>
      <p:sp>
        <p:nvSpPr>
          <p:cNvPr id="528" name="" descr="{&quot;isTemplate&quot;:true,&quot;type&quot;:&quot;text&quot;}"/>
          <p:cNvSpPr txBox="1"/>
          <p:nvPr/>
        </p:nvSpPr>
        <p:spPr>
          <a:xfrm rot="0" flipH="0" flipV="0">
            <a:off x="4886325" y="4514850"/>
            <a:ext cx="2428875" cy="200025"/>
          </a:xfrm>
          <a:prstGeom prst="rect"/>
        </p:spPr>
        <p:txBody>
          <a:bodyPr wrap="none" lIns="0" tIns="0" rIns="0" bIns="0"/>
          <a:p>
            <a:pPr>
              <a:lnSpc>
                <a:spcPct val="100000"/>
              </a:lnSpc>
            </a:pPr>
            <a:r>
              <a:rPr lang="zh-CN" sz="1275" b="1">
                <a:solidFill>
                  <a:srgbClr val="20344B"/>
                </a:solidFill>
                <a:latin typeface="Microsoft YaHei"/>
                <a:ea typeface="Microsoft YaHei"/>
              </a:rPr>
              <a:t>一个负责取数据，一个负责判数据</a:t>
            </a:r>
            <a:endParaRPr/>
          </a:p>
        </p:txBody>
      </p:sp>
      <p:sp>
        <p:nvSpPr>
          <p:cNvPr id="529" name="" descr="{&quot;isTemplate&quot;:true,&quot;type&quot;:&quot;text&quot;}"/>
          <p:cNvSpPr txBox="1"/>
          <p:nvPr/>
        </p:nvSpPr>
        <p:spPr>
          <a:xfrm rot="0" flipH="0" flipV="0">
            <a:off x="609600" y="54483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530" name="" descr="{&quot;isTemplate&quot;:true,&quot;type&quot;:&quot;text&quot;}"/>
          <p:cNvSpPr txBox="1"/>
          <p:nvPr/>
        </p:nvSpPr>
        <p:spPr>
          <a:xfrm rot="0" flipH="0" flipV="0">
            <a:off x="11125200" y="54483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03 / 26</a:t>
            </a:r>
            <a:endParaRPr/>
          </a:p>
        </p:txBody>
      </p:sp>
    </p:spTree>
  </p:cSld>
</p:sld>
</file>

<file path=ppt/slides/slide4.xml><?xml version="1.0" encoding="utf-8"?>
<p:sld xmlns:p="http://schemas.openxmlformats.org/presentationml/2006/main" xmlns:a="http://schemas.openxmlformats.org/drawingml/2006/main">
  <p:cSld>
    <p:spTree>
      <p:nvGrpSpPr>
        <p:cNvPr id="531" name="" descr="&lt;Slide notes={`Function Calling 把一件事拆给两个角色做，这一点必须先分清。&#10;&#10;模型服务这一侧做的是提出请求。它给出工具的名字、JSON 编码的参数，还带上一个 call_id。请注意，它给出的是&quot;我想调用什么&quot;，不是&quot;我已经调用了什么&quot;。&#10;&#10;应用宿主这一侧做的是检查和执行。检查这个工具在不在允许列表里、参数合不合法、这次调用有没有超出预算；通过之后，才真的去调用本地那个只读函数。&#10;&#10;本地工具这一侧做的是执行，返回真实结果或者受控的错误。&#10;&#10;有条界线要反复强调：报告里不能把&quot;模型说要查&quot;当成&quot;已经查过&quot;。中间隔着一道检查，也隔着一次真实的执行。`}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1　先定义一个清楚且有限的工具&lt;/Text&gt;&#10;            &lt;Text style={{ fontSize: 34, fontWeight: 'bold', color: '#20344B' }}&gt;模型提请求，宿主做执行&lt;/Text&gt;&#10;        &lt;/Box&gt;&#10;    &lt;/Box&gt;&#10;&#10;    &lt;Box style={{ height: 540, flexDirection: 'column', justifyContent: 'center', gap: 24 }}&gt;&#10;&#10;        &lt;Box style={{ flexDirection: 'row', alignItems: 'center', gap: 16, background: '#F4F7FA', borderRadius: 10, padding: '10px 20px' }}&gt;&#10;            &lt;Box style={{ width: 3, height: 26, background: '#276FBF' }} /&gt;&#10;            &lt;Text style={{ fontSize: 16, color: '#546779' }}&gt;Function Calling 连接两种职责：模型提出结构化请求，宿主检查并执行函数，再交回结果。&lt;/Text&gt;&#10;        &lt;/Box&gt;&#10;&#10;        &lt;Box style={{ flexDirection: 'row', justifyContent: 'center', alignItems: 'center' }}&gt;&#10;            &lt;Box style={{ width: 255, height: 230, background: '#EDF4FC', borderRadius: 8, padding: '18px 16px', flexDirection: 'column', gap: 8, justifyContent: 'center' }}&gt;&#10;                &lt;Text style={{ fontSize: 19, fontWeight: 'bold', color: '#276FBF' }}&gt;模型服务&lt;/Text&gt;&#10;                &lt;Text style={{ fontSize: 14, color: '#546779', lineHeight: 1.6 }}&gt;提出结构化请求{'\n'}给出工具名与 JSON 参数{'\n'}附上 call_id&lt;/Text&gt;&#10;            &lt;/Box&gt;&#10;            &lt;Box style={{ width: 44, height: 230, justifyContent: 'center', alignItems: 'center' }}&gt;&lt;Text style={{ fontSize: 26, color: '#276FBF' }}&gt;›&lt;/Text&gt;&lt;/Box&gt;&#10;            &lt;Box style={{ width: 255, height: 230, background: '#EDF4FC', borderRadius: 8, padding: '18px 16px', flexDirection: 'column', gap: 8, justifyContent: 'center' }}&gt;&#10;                &lt;Text style={{ fontSize: 19, fontWeight: 'bold', color: '#276FBF' }}&gt;应用宿主&lt;/Text&gt;&#10;                &lt;Text style={{ fontSize: 14, color: '#546779', lineHeight: 1.6 }}&gt;检查能否执行{'\n'}允许范围、参数与预算{'\n'}决定执行、回传错误或停止&lt;/Text&gt;&#10;            &lt;/Box&gt;&#10;            &lt;Box style={{ width: 44, height: 230, justifyContent: 'center', alignItems: 'center' }}&gt;&lt;Text style={{ fontSize: 26, color: '#26816B' }}&gt;›&lt;/Text&gt;&lt;/Box&gt;&#10;            &lt;Box style={{ width: 255, height: 230, background: '#ECF7F2', borderRadius: 8, padding: '18px 16px', flexDirection: 'column', gap: 8, justifyContent: 'center' }}&gt;&#10;                &lt;Text style={{ fontSize: 19, fontWeight: 'bold', color: '#26816B' }}&gt;本地只读工具&lt;/Text&gt;&#10;                &lt;Text style={{ fontSize: 14, color: '#546779', lineHeight: 1.6 }}&gt;真的去查记录{'\n'}只读本章教学数据{'\n'}不修改任何预约&lt;/Text&gt;&#10;            &lt;/Box&gt;&#10;        &lt;/Box&gt;&#10;&#10;        &lt;Box style={{ flexDirection: 'row', alignItems: 'center', gap: 16, background: '#FFF4E6', borderRadius: 10, padding: '14px 20px' }}&gt;&#10;            &lt;Box style={{ width: 4, height: 44, background: '#CB6B28' }} /&gt;&#10;            &lt;Box style={{ flex: 1, flexDirection: 'column', gap: 3 }}&gt;&#10;                &lt;Text style={{ fontSize: 16, fontWeight: 'bold', color: '#CB6B28' }}&gt;只生成调用意图，不会查到记录&lt;/Text&gt;&#10;                &lt;Text style={{ fontSize: 14, color: '#546779' }}&gt;报告里不能把&quot;模型说要查&quot;当成&quot;已经查过&quot;：中间隔着一次检查、一次真实执行。&lt;/Text&gt;&#10;            &lt;/Box&gt;&#10;        &lt;/Box&gt;&#10;&#10;    &lt;/Box&gt;&#10;&#10;    &lt;Box style={{ height: 40, flexDirection: 'row', justifyContent: 'space-between', alignItems: 'center' }}&gt;&#10;        &lt;Text style={{ fontSize: 14, color: '#546779' }}&gt;2.5 Function Calling&lt;/Text&gt;&#10;        &lt;Text style={{ fontSize: 14, color: '#546779' }}&gt;04 / 26&lt;/Text&gt;&#10;    &lt;/Box&gt;&#10;&#10;&lt;/Slide&gt;&#10;"/>
        <p:cNvGrpSpPr/>
        <p:nvPr/>
      </p:nvGrpSpPr>
      <p:grpSpPr>
        <a:xfrm>
          <a:off x="0" y="0"/>
          <a:ext cx="0" cy="0"/>
          <a:chOff x="0" y="0"/>
          <a:chExt cx="0" cy="0"/>
        </a:xfrm>
      </p:grpSpPr>
      <p:sp>
        <p:nvSpPr>
          <p:cNvPr id="532" name=""/>
          <p:cNvSpPr/>
          <p:nvPr/>
        </p:nvSpPr>
        <p:spPr>
          <a:xfrm rot="0" flipH="0" flipV="0">
            <a:off x="0" y="0"/>
            <a:ext cx="12192000" cy="6858000"/>
          </a:xfrm>
          <a:prstGeom prst="rect">
            <a:avLst/>
          </a:prstGeom>
          <a:solidFill>
            <a:srgbClr val="FFFFFF"/>
          </a:solidFill>
          <a:ln/>
        </p:spPr>
        <p:txBody>
          <a:bodyPr/>
          <a:p/>
        </p:txBody>
      </p:sp>
      <p:sp>
        <p:nvSpPr>
          <p:cNvPr id="533" name=""/>
          <p:cNvSpPr/>
          <p:nvPr/>
        </p:nvSpPr>
        <p:spPr>
          <a:xfrm rot="0" flipH="0" flipV="0">
            <a:off x="609600" y="457200"/>
            <a:ext cx="38100" cy="419100"/>
          </a:xfrm>
          <a:prstGeom prst="rect">
            <a:avLst/>
          </a:prstGeom>
          <a:solidFill>
            <a:srgbClr val="276FBF"/>
          </a:solidFill>
          <a:ln/>
        </p:spPr>
        <p:txBody>
          <a:bodyPr/>
          <a:p/>
        </p:txBody>
      </p:sp>
      <p:sp>
        <p:nvSpPr>
          <p:cNvPr id="534" name="" descr="{&quot;isTemplate&quot;:true,&quot;type&quot;:&quot;text&quot;}"/>
          <p:cNvSpPr txBox="1"/>
          <p:nvPr/>
        </p:nvSpPr>
        <p:spPr>
          <a:xfrm rot="0" flipH="0" flipV="0">
            <a:off x="838200" y="371475"/>
            <a:ext cx="3562350" cy="161925"/>
          </a:xfrm>
          <a:prstGeom prst="rect"/>
        </p:spPr>
        <p:txBody>
          <a:bodyPr wrap="none" lIns="0" tIns="0" rIns="0" bIns="0"/>
          <a:p>
            <a:pPr>
              <a:lnSpc>
                <a:spcPct val="100000"/>
              </a:lnSpc>
            </a:pPr>
            <a:r>
              <a:rPr lang="en-US" sz="1050">
                <a:solidFill>
                  <a:srgbClr val="546779"/>
                </a:solidFill>
                <a:latin typeface="Microsoft YaHei"/>
                <a:ea typeface="Microsoft YaHei"/>
              </a:rPr>
              <a:t>2.5.1</a:t>
            </a:r>
            <a:r>
              <a:rPr lang="zh-CN" sz="1050">
                <a:solidFill>
                  <a:srgbClr val="546779"/>
                </a:solidFill>
                <a:latin typeface="Microsoft YaHei"/>
                <a:ea typeface="Microsoft YaHei"/>
              </a:rPr>
              <a:t>　先定义一个清楚且有限的工具</a:t>
            </a:r>
            <a:endParaRPr/>
          </a:p>
        </p:txBody>
      </p:sp>
      <p:sp>
        <p:nvSpPr>
          <p:cNvPr id="535" name="" descr="{&quot;isTemplate&quot;:true,&quot;type&quot;:&quot;text&quot;}"/>
          <p:cNvSpPr txBox="1"/>
          <p:nvPr/>
        </p:nvSpPr>
        <p:spPr>
          <a:xfrm rot="0" flipH="0" flipV="0">
            <a:off x="838200" y="571500"/>
            <a:ext cx="3562350" cy="390525"/>
          </a:xfrm>
          <a:prstGeom prst="rect"/>
        </p:spPr>
        <p:txBody>
          <a:bodyPr wrap="none" lIns="0" tIns="0" rIns="0" bIns="0"/>
          <a:p>
            <a:pPr>
              <a:lnSpc>
                <a:spcPct val="100000"/>
              </a:lnSpc>
            </a:pPr>
            <a:r>
              <a:rPr lang="zh-CN" sz="2550" b="1">
                <a:solidFill>
                  <a:srgbClr val="20344B"/>
                </a:solidFill>
                <a:latin typeface="Microsoft YaHei"/>
                <a:ea typeface="Microsoft YaHei"/>
              </a:rPr>
              <a:t>模型提请求，宿主做执行</a:t>
            </a:r>
            <a:endParaRPr/>
          </a:p>
        </p:txBody>
      </p:sp>
      <p:sp>
        <p:nvSpPr>
          <p:cNvPr id="536" name=""/>
          <p:cNvSpPr/>
          <p:nvPr/>
        </p:nvSpPr>
        <p:spPr>
          <a:xfrm rot="0" flipH="0" flipV="0">
            <a:off x="609600" y="1828800"/>
            <a:ext cx="10972800" cy="438150"/>
          </a:xfrm>
          <a:prstGeom prst="roundRect">
            <a:avLst>
              <a:gd name="adj" fmla="val 21739"/>
            </a:avLst>
          </a:prstGeom>
          <a:solidFill>
            <a:srgbClr val="F4F7FA"/>
          </a:solidFill>
          <a:ln/>
        </p:spPr>
        <p:txBody>
          <a:bodyPr/>
          <a:p/>
        </p:txBody>
      </p:sp>
      <p:sp>
        <p:nvSpPr>
          <p:cNvPr id="537" name=""/>
          <p:cNvSpPr/>
          <p:nvPr/>
        </p:nvSpPr>
        <p:spPr>
          <a:xfrm rot="0" flipH="0" flipV="0">
            <a:off x="800100" y="1924050"/>
            <a:ext cx="28575" cy="247650"/>
          </a:xfrm>
          <a:prstGeom prst="rect">
            <a:avLst/>
          </a:prstGeom>
          <a:solidFill>
            <a:srgbClr val="276FBF"/>
          </a:solidFill>
          <a:ln/>
        </p:spPr>
        <p:txBody>
          <a:bodyPr/>
          <a:p/>
        </p:txBody>
      </p:sp>
      <p:sp>
        <p:nvSpPr>
          <p:cNvPr id="538" name="" descr="{&quot;isTemplate&quot;:true,&quot;type&quot;:&quot;text&quot;}"/>
          <p:cNvSpPr txBox="1"/>
          <p:nvPr/>
        </p:nvSpPr>
        <p:spPr>
          <a:xfrm rot="0" flipH="0" flipV="0">
            <a:off x="981075" y="1952625"/>
            <a:ext cx="6257925" cy="190500"/>
          </a:xfrm>
          <a:prstGeom prst="rect"/>
        </p:spPr>
        <p:txBody>
          <a:bodyPr wrap="none" lIns="0" tIns="0" rIns="0" bIns="0"/>
          <a:p>
            <a:pPr>
              <a:lnSpc>
                <a:spcPct val="100000"/>
              </a:lnSpc>
            </a:pPr>
            <a:r>
              <a:rPr lang="en-US" sz="1200">
                <a:solidFill>
                  <a:srgbClr val="546779"/>
                </a:solidFill>
                <a:latin typeface="Microsoft YaHei"/>
                <a:ea typeface="Microsoft YaHei"/>
              </a:rPr>
              <a:t xml:space="preserve">Function Calling </a:t>
            </a:r>
            <a:r>
              <a:rPr lang="zh-CN" sz="1200">
                <a:solidFill>
                  <a:srgbClr val="546779"/>
                </a:solidFill>
                <a:latin typeface="Microsoft YaHei"/>
                <a:ea typeface="Microsoft YaHei"/>
              </a:rPr>
              <a:t>连接两种职责：模型提出结构化请求，宿主检查并执行函数，再交回结果。</a:t>
            </a:r>
            <a:endParaRPr/>
          </a:p>
        </p:txBody>
      </p:sp>
      <p:sp>
        <p:nvSpPr>
          <p:cNvPr id="539" name=""/>
          <p:cNvSpPr/>
          <p:nvPr/>
        </p:nvSpPr>
        <p:spPr>
          <a:xfrm rot="0" flipH="0" flipV="0">
            <a:off x="2038350" y="2495550"/>
            <a:ext cx="2428875" cy="2190750"/>
          </a:xfrm>
          <a:prstGeom prst="roundRect">
            <a:avLst>
              <a:gd name="adj" fmla="val 3478"/>
            </a:avLst>
          </a:prstGeom>
          <a:solidFill>
            <a:srgbClr val="EDF4FC"/>
          </a:solidFill>
          <a:ln/>
        </p:spPr>
        <p:txBody>
          <a:bodyPr/>
          <a:p/>
        </p:txBody>
      </p:sp>
      <p:sp>
        <p:nvSpPr>
          <p:cNvPr id="540" name="" descr="{&quot;isTemplate&quot;:true,&quot;type&quot;:&quot;text&quot;}"/>
          <p:cNvSpPr txBox="1"/>
          <p:nvPr/>
        </p:nvSpPr>
        <p:spPr>
          <a:xfrm rot="0" flipH="0" flipV="0">
            <a:off x="2190750" y="3057525"/>
            <a:ext cx="2124075" cy="219075"/>
          </a:xfrm>
          <a:prstGeom prst="rect"/>
        </p:spPr>
        <p:txBody>
          <a:bodyPr wrap="none" lIns="0" tIns="0" rIns="0" bIns="0"/>
          <a:p>
            <a:pPr>
              <a:lnSpc>
                <a:spcPct val="100000"/>
              </a:lnSpc>
            </a:pPr>
            <a:r>
              <a:rPr lang="zh-CN" sz="1425" b="1">
                <a:solidFill>
                  <a:srgbClr val="276FBF"/>
                </a:solidFill>
                <a:latin typeface="Microsoft YaHei"/>
                <a:ea typeface="Microsoft YaHei"/>
              </a:rPr>
              <a:t>模型服务</a:t>
            </a:r>
            <a:endParaRPr/>
          </a:p>
        </p:txBody>
      </p:sp>
      <p:sp>
        <p:nvSpPr>
          <p:cNvPr id="541" name="" descr="{&quot;isTemplate&quot;:true,&quot;type&quot;:&quot;text&quot;}"/>
          <p:cNvSpPr txBox="1"/>
          <p:nvPr/>
        </p:nvSpPr>
        <p:spPr>
          <a:xfrm rot="0" flipH="0" flipV="0">
            <a:off x="2190750" y="3352800"/>
            <a:ext cx="2124075" cy="771525"/>
          </a:xfrm>
          <a:prstGeom prst="rect"/>
        </p:spPr>
        <p:txBody>
          <a:bodyPr wrap="none" lIns="0" tIns="0" rIns="0" bIns="0"/>
          <a:p>
            <a:pPr>
              <a:lnSpc>
                <a:spcPct val="160000"/>
              </a:lnSpc>
            </a:pPr>
            <a:r>
              <a:rPr lang="zh-CN" sz="1050">
                <a:solidFill>
                  <a:srgbClr val="546779"/>
                </a:solidFill>
                <a:latin typeface="Microsoft YaHei"/>
                <a:ea typeface="Microsoft YaHei"/>
              </a:rPr>
              <a:t>提出结构化请求</a:t>
            </a:r>
            <a:endParaRPr/>
          </a:p>
          <a:p>
            <a:pPr>
              <a:lnSpc>
                <a:spcPct val="160000"/>
              </a:lnSpc>
            </a:pPr>
            <a:r>
              <a:rPr lang="zh-CN" sz="1050">
                <a:solidFill>
                  <a:srgbClr val="546779"/>
                </a:solidFill>
                <a:latin typeface="Microsoft YaHei"/>
                <a:ea typeface="Microsoft YaHei"/>
              </a:rPr>
              <a:t>给出工具名与</a:t>
            </a:r>
            <a:r>
              <a:rPr lang="en-US" sz="1050">
                <a:solidFill>
                  <a:srgbClr val="546779"/>
                </a:solidFill>
                <a:latin typeface="Microsoft YaHei"/>
                <a:ea typeface="Microsoft YaHei"/>
              </a:rPr>
              <a:t xml:space="preserve"> JSON </a:t>
            </a:r>
            <a:r>
              <a:rPr lang="zh-CN" sz="1050">
                <a:solidFill>
                  <a:srgbClr val="546779"/>
                </a:solidFill>
                <a:latin typeface="Microsoft YaHei"/>
                <a:ea typeface="Microsoft YaHei"/>
              </a:rPr>
              <a:t>参数</a:t>
            </a:r>
            <a:endParaRPr/>
          </a:p>
          <a:p>
            <a:pPr>
              <a:lnSpc>
                <a:spcPct val="160000"/>
              </a:lnSpc>
            </a:pPr>
            <a:r>
              <a:rPr lang="zh-CN" sz="1050">
                <a:solidFill>
                  <a:srgbClr val="546779"/>
                </a:solidFill>
                <a:latin typeface="Microsoft YaHei"/>
                <a:ea typeface="Microsoft YaHei"/>
              </a:rPr>
              <a:t>附上</a:t>
            </a:r>
            <a:r>
              <a:rPr lang="en-US" sz="1050">
                <a:solidFill>
                  <a:srgbClr val="546779"/>
                </a:solidFill>
                <a:latin typeface="Microsoft YaHei"/>
                <a:ea typeface="Microsoft YaHei"/>
              </a:rPr>
              <a:t xml:space="preserve"> call_id</a:t>
            </a:r>
            <a:endParaRPr/>
          </a:p>
        </p:txBody>
      </p:sp>
      <p:sp>
        <p:nvSpPr>
          <p:cNvPr id="542" name="" descr="{&quot;isTemplate&quot;:true,&quot;type&quot;:&quot;text&quot;}"/>
          <p:cNvSpPr txBox="1"/>
          <p:nvPr/>
        </p:nvSpPr>
        <p:spPr>
          <a:xfrm rot="0" flipH="0" flipV="0">
            <a:off x="4638675" y="3438525"/>
            <a:ext cx="85725" cy="304800"/>
          </a:xfrm>
          <a:prstGeom prst="rect"/>
        </p:spPr>
        <p:txBody>
          <a:bodyPr wrap="none" lIns="0" tIns="0" rIns="0" bIns="0"/>
          <a:p>
            <a:pPr>
              <a:lnSpc>
                <a:spcPct val="100000"/>
              </a:lnSpc>
            </a:pPr>
            <a:r>
              <a:rPr sz="1950">
                <a:solidFill>
                  <a:srgbClr val="276FBF"/>
                </a:solidFill>
                <a:latin typeface="Microsoft YaHei"/>
                <a:ea typeface="Microsoft YaHei"/>
              </a:rPr>
              <a:t>›</a:t>
            </a:r>
            <a:endParaRPr/>
          </a:p>
        </p:txBody>
      </p:sp>
      <p:sp>
        <p:nvSpPr>
          <p:cNvPr id="543" name=""/>
          <p:cNvSpPr/>
          <p:nvPr/>
        </p:nvSpPr>
        <p:spPr>
          <a:xfrm rot="0" flipH="0" flipV="0">
            <a:off x="4886325" y="2495550"/>
            <a:ext cx="2428875" cy="2190750"/>
          </a:xfrm>
          <a:prstGeom prst="roundRect">
            <a:avLst>
              <a:gd name="adj" fmla="val 3478"/>
            </a:avLst>
          </a:prstGeom>
          <a:solidFill>
            <a:srgbClr val="EDF4FC"/>
          </a:solidFill>
          <a:ln/>
        </p:spPr>
        <p:txBody>
          <a:bodyPr/>
          <a:p/>
        </p:txBody>
      </p:sp>
      <p:sp>
        <p:nvSpPr>
          <p:cNvPr id="544" name="" descr="{&quot;isTemplate&quot;:true,&quot;type&quot;:&quot;text&quot;}"/>
          <p:cNvSpPr txBox="1"/>
          <p:nvPr/>
        </p:nvSpPr>
        <p:spPr>
          <a:xfrm rot="0" flipH="0" flipV="0">
            <a:off x="5038725" y="3057525"/>
            <a:ext cx="2124075" cy="219075"/>
          </a:xfrm>
          <a:prstGeom prst="rect"/>
        </p:spPr>
        <p:txBody>
          <a:bodyPr wrap="none" lIns="0" tIns="0" rIns="0" bIns="0"/>
          <a:p>
            <a:pPr>
              <a:lnSpc>
                <a:spcPct val="100000"/>
              </a:lnSpc>
            </a:pPr>
            <a:r>
              <a:rPr lang="zh-CN" sz="1425" b="1">
                <a:solidFill>
                  <a:srgbClr val="276FBF"/>
                </a:solidFill>
                <a:latin typeface="Microsoft YaHei"/>
                <a:ea typeface="Microsoft YaHei"/>
              </a:rPr>
              <a:t>应用宿主</a:t>
            </a:r>
            <a:endParaRPr/>
          </a:p>
        </p:txBody>
      </p:sp>
      <p:sp>
        <p:nvSpPr>
          <p:cNvPr id="545" name="" descr="{&quot;isTemplate&quot;:true,&quot;type&quot;:&quot;text&quot;}"/>
          <p:cNvSpPr txBox="1"/>
          <p:nvPr/>
        </p:nvSpPr>
        <p:spPr>
          <a:xfrm rot="0" flipH="0" flipV="0">
            <a:off x="5038725" y="3352800"/>
            <a:ext cx="2124075" cy="771525"/>
          </a:xfrm>
          <a:prstGeom prst="rect"/>
        </p:spPr>
        <p:txBody>
          <a:bodyPr wrap="none" lIns="0" tIns="0" rIns="0" bIns="0"/>
          <a:p>
            <a:pPr>
              <a:lnSpc>
                <a:spcPct val="160000"/>
              </a:lnSpc>
            </a:pPr>
            <a:r>
              <a:rPr lang="zh-CN" sz="1050">
                <a:solidFill>
                  <a:srgbClr val="546779"/>
                </a:solidFill>
                <a:latin typeface="Microsoft YaHei"/>
                <a:ea typeface="Microsoft YaHei"/>
              </a:rPr>
              <a:t>检查能否执行</a:t>
            </a:r>
            <a:endParaRPr/>
          </a:p>
          <a:p>
            <a:pPr>
              <a:lnSpc>
                <a:spcPct val="160000"/>
              </a:lnSpc>
            </a:pPr>
            <a:r>
              <a:rPr lang="zh-CN" sz="1050">
                <a:solidFill>
                  <a:srgbClr val="546779"/>
                </a:solidFill>
                <a:latin typeface="Microsoft YaHei"/>
                <a:ea typeface="Microsoft YaHei"/>
              </a:rPr>
              <a:t>允许范围、参数与预算</a:t>
            </a:r>
            <a:endParaRPr/>
          </a:p>
          <a:p>
            <a:pPr>
              <a:lnSpc>
                <a:spcPct val="160000"/>
              </a:lnSpc>
            </a:pPr>
            <a:r>
              <a:rPr lang="zh-CN" sz="1050">
                <a:solidFill>
                  <a:srgbClr val="546779"/>
                </a:solidFill>
                <a:latin typeface="Microsoft YaHei"/>
                <a:ea typeface="Microsoft YaHei"/>
              </a:rPr>
              <a:t>决定执行、回传错误或停止</a:t>
            </a:r>
            <a:endParaRPr/>
          </a:p>
        </p:txBody>
      </p:sp>
      <p:sp>
        <p:nvSpPr>
          <p:cNvPr id="546" name="" descr="{&quot;isTemplate&quot;:true,&quot;type&quot;:&quot;text&quot;}"/>
          <p:cNvSpPr txBox="1"/>
          <p:nvPr/>
        </p:nvSpPr>
        <p:spPr>
          <a:xfrm rot="0" flipH="0" flipV="0">
            <a:off x="7486650" y="3438525"/>
            <a:ext cx="85725" cy="304800"/>
          </a:xfrm>
          <a:prstGeom prst="rect"/>
        </p:spPr>
        <p:txBody>
          <a:bodyPr wrap="none" lIns="0" tIns="0" rIns="0" bIns="0"/>
          <a:p>
            <a:pPr>
              <a:lnSpc>
                <a:spcPct val="100000"/>
              </a:lnSpc>
            </a:pPr>
            <a:r>
              <a:rPr sz="1950">
                <a:solidFill>
                  <a:srgbClr val="26816B"/>
                </a:solidFill>
                <a:latin typeface="Microsoft YaHei"/>
                <a:ea typeface="Microsoft YaHei"/>
              </a:rPr>
              <a:t>›</a:t>
            </a:r>
            <a:endParaRPr/>
          </a:p>
        </p:txBody>
      </p:sp>
      <p:sp>
        <p:nvSpPr>
          <p:cNvPr id="547" name=""/>
          <p:cNvSpPr/>
          <p:nvPr/>
        </p:nvSpPr>
        <p:spPr>
          <a:xfrm rot="0" flipH="0" flipV="0">
            <a:off x="7734300" y="2495550"/>
            <a:ext cx="2428875" cy="2190750"/>
          </a:xfrm>
          <a:prstGeom prst="roundRect">
            <a:avLst>
              <a:gd name="adj" fmla="val 3478"/>
            </a:avLst>
          </a:prstGeom>
          <a:solidFill>
            <a:srgbClr val="ECF7F2"/>
          </a:solidFill>
          <a:ln/>
        </p:spPr>
        <p:txBody>
          <a:bodyPr/>
          <a:p/>
        </p:txBody>
      </p:sp>
      <p:sp>
        <p:nvSpPr>
          <p:cNvPr id="548" name="" descr="{&quot;isTemplate&quot;:true,&quot;type&quot;:&quot;text&quot;}"/>
          <p:cNvSpPr txBox="1"/>
          <p:nvPr/>
        </p:nvSpPr>
        <p:spPr>
          <a:xfrm rot="0" flipH="0" flipV="0">
            <a:off x="7886700" y="3057525"/>
            <a:ext cx="2124075" cy="219075"/>
          </a:xfrm>
          <a:prstGeom prst="rect"/>
        </p:spPr>
        <p:txBody>
          <a:bodyPr wrap="none" lIns="0" tIns="0" rIns="0" bIns="0"/>
          <a:p>
            <a:pPr>
              <a:lnSpc>
                <a:spcPct val="100000"/>
              </a:lnSpc>
            </a:pPr>
            <a:r>
              <a:rPr lang="zh-CN" sz="1425" b="1">
                <a:solidFill>
                  <a:srgbClr val="26816B"/>
                </a:solidFill>
                <a:latin typeface="Microsoft YaHei"/>
                <a:ea typeface="Microsoft YaHei"/>
              </a:rPr>
              <a:t>本地只读工具</a:t>
            </a:r>
            <a:endParaRPr/>
          </a:p>
        </p:txBody>
      </p:sp>
      <p:sp>
        <p:nvSpPr>
          <p:cNvPr id="549" name="" descr="{&quot;isTemplate&quot;:true,&quot;type&quot;:&quot;text&quot;}"/>
          <p:cNvSpPr txBox="1"/>
          <p:nvPr/>
        </p:nvSpPr>
        <p:spPr>
          <a:xfrm rot="0" flipH="0" flipV="0">
            <a:off x="7886700" y="3352800"/>
            <a:ext cx="2124075" cy="771525"/>
          </a:xfrm>
          <a:prstGeom prst="rect"/>
        </p:spPr>
        <p:txBody>
          <a:bodyPr wrap="none" lIns="0" tIns="0" rIns="0" bIns="0"/>
          <a:p>
            <a:pPr>
              <a:lnSpc>
                <a:spcPct val="160000"/>
              </a:lnSpc>
            </a:pPr>
            <a:r>
              <a:rPr lang="zh-CN" sz="1050">
                <a:solidFill>
                  <a:srgbClr val="546779"/>
                </a:solidFill>
                <a:latin typeface="Microsoft YaHei"/>
                <a:ea typeface="Microsoft YaHei"/>
              </a:rPr>
              <a:t>真的去查记录</a:t>
            </a:r>
            <a:endParaRPr/>
          </a:p>
          <a:p>
            <a:pPr>
              <a:lnSpc>
                <a:spcPct val="160000"/>
              </a:lnSpc>
            </a:pPr>
            <a:r>
              <a:rPr lang="zh-CN" sz="1050">
                <a:solidFill>
                  <a:srgbClr val="546779"/>
                </a:solidFill>
                <a:latin typeface="Microsoft YaHei"/>
                <a:ea typeface="Microsoft YaHei"/>
              </a:rPr>
              <a:t>只读本章教学数据</a:t>
            </a:r>
            <a:endParaRPr/>
          </a:p>
          <a:p>
            <a:pPr>
              <a:lnSpc>
                <a:spcPct val="160000"/>
              </a:lnSpc>
            </a:pPr>
            <a:r>
              <a:rPr lang="zh-CN" sz="1050">
                <a:solidFill>
                  <a:srgbClr val="546779"/>
                </a:solidFill>
                <a:latin typeface="Microsoft YaHei"/>
                <a:ea typeface="Microsoft YaHei"/>
              </a:rPr>
              <a:t>不修改任何预约</a:t>
            </a:r>
            <a:endParaRPr/>
          </a:p>
        </p:txBody>
      </p:sp>
      <p:sp>
        <p:nvSpPr>
          <p:cNvPr id="550" name=""/>
          <p:cNvSpPr/>
          <p:nvPr/>
        </p:nvSpPr>
        <p:spPr>
          <a:xfrm rot="0" flipH="0" flipV="0">
            <a:off x="609600" y="4914900"/>
            <a:ext cx="10972800" cy="685800"/>
          </a:xfrm>
          <a:prstGeom prst="roundRect">
            <a:avLst>
              <a:gd name="adj" fmla="val 13889"/>
            </a:avLst>
          </a:prstGeom>
          <a:solidFill>
            <a:srgbClr val="FFF4E6"/>
          </a:solidFill>
          <a:ln/>
        </p:spPr>
        <p:txBody>
          <a:bodyPr/>
          <a:p/>
        </p:txBody>
      </p:sp>
      <p:sp>
        <p:nvSpPr>
          <p:cNvPr id="551" name=""/>
          <p:cNvSpPr/>
          <p:nvPr/>
        </p:nvSpPr>
        <p:spPr>
          <a:xfrm rot="0" flipH="0" flipV="0">
            <a:off x="800100" y="5048250"/>
            <a:ext cx="38100" cy="419100"/>
          </a:xfrm>
          <a:prstGeom prst="rect">
            <a:avLst/>
          </a:prstGeom>
          <a:solidFill>
            <a:srgbClr val="CB6B28"/>
          </a:solidFill>
          <a:ln/>
        </p:spPr>
        <p:txBody>
          <a:bodyPr/>
          <a:p/>
        </p:txBody>
      </p:sp>
      <p:sp>
        <p:nvSpPr>
          <p:cNvPr id="552" name="" descr="{&quot;isTemplate&quot;:true,&quot;type&quot;:&quot;text&quot;}"/>
          <p:cNvSpPr txBox="1"/>
          <p:nvPr/>
        </p:nvSpPr>
        <p:spPr>
          <a:xfrm rot="0" flipH="0" flipV="0">
            <a:off x="990600" y="5067300"/>
            <a:ext cx="10401300" cy="190500"/>
          </a:xfrm>
          <a:prstGeom prst="rect"/>
        </p:spPr>
        <p:txBody>
          <a:bodyPr wrap="none" lIns="0" tIns="0" rIns="0" bIns="0"/>
          <a:p>
            <a:pPr>
              <a:lnSpc>
                <a:spcPct val="100000"/>
              </a:lnSpc>
            </a:pPr>
            <a:r>
              <a:rPr lang="zh-CN" sz="1200" b="1">
                <a:solidFill>
                  <a:srgbClr val="CB6B28"/>
                </a:solidFill>
                <a:latin typeface="Microsoft YaHei"/>
                <a:ea typeface="Microsoft YaHei"/>
              </a:rPr>
              <a:t>只生成调用意图，不会查到记录</a:t>
            </a:r>
            <a:endParaRPr/>
          </a:p>
        </p:txBody>
      </p:sp>
      <p:sp>
        <p:nvSpPr>
          <p:cNvPr id="553" name="" descr="{&quot;isTemplate&quot;:true,&quot;type&quot;:&quot;text&quot;}"/>
          <p:cNvSpPr txBox="1"/>
          <p:nvPr/>
        </p:nvSpPr>
        <p:spPr>
          <a:xfrm rot="0" flipH="0" flipV="0">
            <a:off x="990600" y="5286375"/>
            <a:ext cx="10401300" cy="161925"/>
          </a:xfrm>
          <a:prstGeom prst="rect"/>
        </p:spPr>
        <p:txBody>
          <a:bodyPr wrap="none" lIns="0" tIns="0" rIns="0" bIns="0"/>
          <a:p>
            <a:pPr>
              <a:lnSpc>
                <a:spcPct val="100000"/>
              </a:lnSpc>
            </a:pPr>
            <a:r>
              <a:rPr lang="zh-CN" sz="1050">
                <a:solidFill>
                  <a:srgbClr val="546779"/>
                </a:solidFill>
                <a:latin typeface="Microsoft YaHei"/>
                <a:ea typeface="Microsoft YaHei"/>
              </a:rPr>
              <a:t>报告里不能把</a:t>
            </a:r>
            <a:r>
              <a:rPr lang="en-US" sz="1050">
                <a:solidFill>
                  <a:srgbClr val="546779"/>
                </a:solidFill>
                <a:latin typeface="Microsoft YaHei"/>
                <a:ea typeface="Microsoft YaHei"/>
              </a:rPr>
              <a:t>"</a:t>
            </a:r>
            <a:r>
              <a:rPr lang="zh-CN" sz="1050">
                <a:solidFill>
                  <a:srgbClr val="546779"/>
                </a:solidFill>
                <a:latin typeface="Microsoft YaHei"/>
                <a:ea typeface="Microsoft YaHei"/>
              </a:rPr>
              <a:t>模型说要查</a:t>
            </a:r>
            <a:r>
              <a:rPr lang="en-US" sz="1050">
                <a:solidFill>
                  <a:srgbClr val="546779"/>
                </a:solidFill>
                <a:latin typeface="Microsoft YaHei"/>
                <a:ea typeface="Microsoft YaHei"/>
              </a:rPr>
              <a:t>"</a:t>
            </a:r>
            <a:r>
              <a:rPr lang="zh-CN" sz="1050">
                <a:solidFill>
                  <a:srgbClr val="546779"/>
                </a:solidFill>
                <a:latin typeface="Microsoft YaHei"/>
                <a:ea typeface="Microsoft YaHei"/>
              </a:rPr>
              <a:t>当成</a:t>
            </a:r>
            <a:r>
              <a:rPr lang="en-US" sz="1050">
                <a:solidFill>
                  <a:srgbClr val="546779"/>
                </a:solidFill>
                <a:latin typeface="Microsoft YaHei"/>
                <a:ea typeface="Microsoft YaHei"/>
              </a:rPr>
              <a:t>"</a:t>
            </a:r>
            <a:r>
              <a:rPr lang="zh-CN" sz="1050">
                <a:solidFill>
                  <a:srgbClr val="546779"/>
                </a:solidFill>
                <a:latin typeface="Microsoft YaHei"/>
                <a:ea typeface="Microsoft YaHei"/>
              </a:rPr>
              <a:t>已经查过</a:t>
            </a:r>
            <a:r>
              <a:rPr lang="en-US" sz="1050">
                <a:solidFill>
                  <a:srgbClr val="546779"/>
                </a:solidFill>
                <a:latin typeface="Microsoft YaHei"/>
                <a:ea typeface="Microsoft YaHei"/>
              </a:rPr>
              <a:t>"</a:t>
            </a:r>
            <a:r>
              <a:rPr lang="zh-CN" sz="1050">
                <a:solidFill>
                  <a:srgbClr val="546779"/>
                </a:solidFill>
                <a:latin typeface="Microsoft YaHei"/>
                <a:ea typeface="Microsoft YaHei"/>
              </a:rPr>
              <a:t>：中间隔着一次检查、一次真实执行。</a:t>
            </a:r>
            <a:endParaRPr/>
          </a:p>
        </p:txBody>
      </p:sp>
      <p:sp>
        <p:nvSpPr>
          <p:cNvPr id="554"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55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04 / 26</a:t>
            </a:r>
            <a:endParaRPr/>
          </a:p>
        </p:txBody>
      </p:sp>
    </p:spTree>
  </p:cSld>
</p:sld>
</file>

<file path=ppt/slides/slide5.xml><?xml version="1.0" encoding="utf-8"?>
<p:sld xmlns:p="http://schemas.openxmlformats.org/presentationml/2006/main" xmlns:a="http://schemas.openxmlformats.org/drawingml/2006/main">
  <p:cSld>
    <p:spTree>
      <p:nvGrpSpPr>
        <p:cNvPr id="556" name="" descr="&lt;Slide notes={`这条往返链路有六个步骤，我按顺序走一遍。&#10;&#10;应用先把输入和工具定义发给模型：材料是什么、约束是什么、有哪些工具可用、每个工具要什么参数。&#10;&#10;模型回来的不是文字，而是一个 function_call 条目，里面写着工具名、JSON 参数和一个 call_id。&#10;&#10;应用拿到之后先自检：这个工具在允许列表里吗？参数在允许范围内吗？这次调用有没有超出预算？检查通过，才去实际执行本地那个只读函数。&#10;&#10;工具返回真实结果，或者返回一个受控的错误。应用再用原来那个 call_id 把结果包成 function_call_output 送回模型。&#10;&#10;下一轮要把完整的输出项保留下来，模型才能依据结果继续或者结束。还要记住一件事：模型只提出调用，本章的工具不会创建任何真实预约。`}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1　先定义一个清楚且有限的工具&lt;/Text&gt;&#10;            &lt;Text style={{ fontSize: 34, fontWeight: 'bold', color: '#20344B' }}&gt;一次调用的六个往返步骤&lt;/Text&gt;&#10;        &lt;/Box&gt;&#10;    &lt;/Box&gt;&#10;&#10;    &lt;Box style={{ height: 540, flexDirection: 'column', justifyContent: 'center', gap: 18 }}&gt;&#10;&#10;        &lt;Box style={{ flexDirection: 'row', justifyContent: 'center' }}&gt;&#10;            &lt;Box style={{ width: 340, height: 130, background: '#EDF4FC', borderRadius: 8, padding: '14px 16px', flexDirection: 'column', gap: 5, justifyContent: 'center' }}&gt;&#10;                &lt;Text style={{ fontSize: 13, color: '#546779' }}&gt;应用 › 模型&lt;/Text&gt;&#10;                &lt;Text style={{ fontSize: 19, fontWeight: 'bold', color: '#276FBF' }}&gt;输入与工具定义&lt;/Text&gt;&#10;                &lt;Text style={{ fontSize: 14, color: '#546779', lineHeight: 1.5 }}&gt;材料、指令与工具说明&lt;/Text&gt;&#10;            &lt;/Box&gt;&#10;            &lt;Box style={{ width: 44, height: 130, justifyContent: 'center', alignItems: 'center' }}&gt;&lt;Text style={{ fontSize: 26, color: '#276FBF' }}&gt;›&lt;/Text&gt;&lt;/Box&gt;&#10;            &lt;Box style={{ width: 340, height: 130, background: '#EDF4FC', borderRadius: 8, padding: '14px 16px', flexDirection: 'column', gap: 5, justifyContent: 'center' }}&gt;&#10;                &lt;Text style={{ fontSize: 13, color: '#546779' }}&gt;模型 › 应用&lt;/Text&gt;&#10;                &lt;Text style={{ fontSize: 19, fontWeight: 'bold', color: '#276FBF' }}&gt;function_call&lt;/Text&gt;&#10;                &lt;Text style={{ fontSize: 14, color: '#546779', lineHeight: 1.5 }}&gt;名称、JSON 参数、call_id&lt;/Text&gt;&#10;            &lt;/Box&gt;&#10;            &lt;Box style={{ width: 44, height: 130, justifyContent: 'center', alignItems: 'center' }}&gt;&lt;Text style={{ fontSize: 26, color: '#276FBF' }}&gt;›&lt;/Text&gt;&lt;/Box&gt;&#10;            &lt;Box style={{ width: 340, height: 130, background: '#EDF4FC', borderRadius: 8, padding: '14px 16px', flexDirection: 'column', gap: 5, justifyContent: 'center' }}&gt;&#10;                &lt;Text style={{ fontSize: 13, color: '#546779' }}&gt;应用内部&lt;/Text&gt;&#10;                &lt;Text style={{ fontSize: 19, fontWeight: 'bold', color: '#276FBF' }}&gt;校验这份请求&lt;/Text&gt;&#10;                &lt;Text style={{ fontSize: 14, color: '#546779', lineHeight: 1.5 }}&gt;允许范围、参数与预算&lt;/Text&gt;&#10;            &lt;/Box&gt;&#10;        &lt;/Box&gt;&#10;&#10;        &lt;Box style={{ flexDirection: 'row', justifyContent: 'center' }}&gt;&#10;            &lt;Box style={{ width: 44, height: 30, justifyContent: 'center', alignItems: 'center' }}&gt;&lt;Text style={{ fontSize: 20, color: '#26816B' }}&gt;↓&lt;/Text&gt;&lt;/Box&gt;&#10;        &lt;/Box&gt;&#10;&#10;        &lt;Box style={{ flexDirection: 'row', justifyContent: 'center' }}&gt;&#10;            &lt;Box style={{ width: 340, height: 130, background: '#ECF7F2', borderRadius: 8, padding: '14px 16px', flexDirection: 'column', gap: 5, justifyContent: 'center' }}&gt;&#10;                &lt;Text style={{ fontSize: 13, color: '#546779' }}&gt;应用 › 工具&lt;/Text&gt;&#10;                &lt;Text style={{ fontSize: 19, fontWeight: 'bold', color: '#26816B' }}&gt;实际执行&lt;/Text&gt;&#10;                &lt;Text style={{ fontSize: 14, color: '#546779', lineHeight: 1.5 }}&gt;调用只读查询或校验函数&lt;/Text&gt;&#10;            &lt;/Box&gt;&#10;            &lt;Box style={{ width: 44, height: 130, justifyContent: 'center', alignItems: 'center' }}&gt;&lt;Text style={{ fontSize: 26, color: '#26816B' }}&gt;›&lt;/Text&gt;&lt;/Box&gt;&#10;            &lt;Box style={{ width: 340, height: 130, background: '#ECF7F2', borderRadius: 8, padding: '14px 16px', flexDirection: 'column', gap: 5, justifyContent: 'center' }}&gt;&#10;                &lt;Text style={{ fontSize: 13, color: '#546779' }}&gt;工具 › 应用&lt;/Text&gt;&#10;                &lt;Text style={{ fontSize: 19, fontWeight: 'bold', color: '#26816B' }}&gt;工具实际结果&lt;/Text&gt;&#10;                &lt;Text style={{ fontSize: 14, color: '#546779', lineHeight: 1.5 }}&gt;真实记录或受控错误&lt;/Text&gt;&#10;            &lt;/Box&gt;&#10;            &lt;Box style={{ width: 44, height: 130, justifyContent: 'center', alignItems: 'center' }}&gt;&lt;Text style={{ fontSize: 26, color: '#276FBF' }}&gt;›&lt;/Text&gt;&lt;/Box&gt;&#10;            &lt;Box style={{ width: 340, height: 130, background: '#EDF4FC', borderRadius: 8, padding: '14px 16px', flexDirection: 'column', gap: 5, justifyContent: 'center' }}&gt;&#10;                &lt;Text style={{ fontSize: 13, color: '#546779' }}&gt;应用 › 模型&lt;/Text&gt;&#10;                &lt;Text style={{ fontSize: 19, fontWeight: 'bold', color: '#276FBF' }}&gt;function_call_output&lt;/Text&gt;&#10;                &lt;Text style={{ fontSize: 14, color: '#546779', lineHeight: 1.5 }}&gt;匹配原来那个 call_id&lt;/Text&gt;&#10;            &lt;/Box&gt;&#10;        &lt;/Box&gt;&#10;&#10;        &lt;Box style={{ flexDirection: 'row', alignItems: 'center', gap: 16, background: '#ECF7F2', borderRadius: 10, padding: '0 20px', height: 74 }}&gt;&#10;            &lt;Box style={{ width: 4, height: 40, background: '#26816B' }} /&gt;&#10;            &lt;Text style={{ fontSize: 16, color: '#20344B', lineHeight: 1.5 }}&gt;下一轮保留完整输出项；依据结果继续或结束。&lt;/Text&gt;&#10;        &lt;/Box&gt;&#10;&#10;        &lt;Box style={{ flexDirection: 'row', alignItems: 'center', gap: 16, background: '#FFF4E6', borderRadius: 10, padding: '0 20px', height: 74 }}&gt;&#10;            &lt;Box style={{ width: 4, height: 40, background: '#CB6B28' }} /&gt;&#10;            &lt;Text style={{ fontSize: 16, color: '#20344B', lineHeight: 1.5 }}&gt;模型只提出调用；本章工具不创建真实预约。&lt;/Text&gt;&#10;        &lt;/Box&gt;&#10;&#10;    &lt;/Box&gt;&#10;&#10;    &lt;Box style={{ height: 40, flexDirection: 'row', justifyContent: 'space-between', alignItems: 'center' }}&gt;&#10;        &lt;Text style={{ fontSize: 14, color: '#546779' }}&gt;2.5 Function Calling&lt;/Text&gt;&#10;        &lt;Text style={{ fontSize: 14, color: '#546779' }}&gt;05 / 26&lt;/Text&gt;&#10;    &lt;/Box&gt;&#10;&#10;&lt;/Slide&gt;&#10;"/>
        <p:cNvGrpSpPr/>
        <p:nvPr/>
      </p:nvGrpSpPr>
      <p:grpSpPr>
        <a:xfrm>
          <a:off x="0" y="0"/>
          <a:ext cx="0" cy="0"/>
          <a:chOff x="0" y="0"/>
          <a:chExt cx="0" cy="0"/>
        </a:xfrm>
      </p:grpSpPr>
      <p:sp>
        <p:nvSpPr>
          <p:cNvPr id="557" name=""/>
          <p:cNvSpPr/>
          <p:nvPr/>
        </p:nvSpPr>
        <p:spPr>
          <a:xfrm rot="0" flipH="0" flipV="0">
            <a:off x="0" y="0"/>
            <a:ext cx="12192000" cy="6858000"/>
          </a:xfrm>
          <a:prstGeom prst="rect">
            <a:avLst/>
          </a:prstGeom>
          <a:solidFill>
            <a:srgbClr val="FFFFFF"/>
          </a:solidFill>
          <a:ln/>
        </p:spPr>
        <p:txBody>
          <a:bodyPr/>
          <a:p/>
        </p:txBody>
      </p:sp>
      <p:sp>
        <p:nvSpPr>
          <p:cNvPr id="558" name=""/>
          <p:cNvSpPr/>
          <p:nvPr/>
        </p:nvSpPr>
        <p:spPr>
          <a:xfrm rot="0" flipH="0" flipV="0">
            <a:off x="609600" y="457200"/>
            <a:ext cx="38100" cy="419100"/>
          </a:xfrm>
          <a:prstGeom prst="rect">
            <a:avLst/>
          </a:prstGeom>
          <a:solidFill>
            <a:srgbClr val="276FBF"/>
          </a:solidFill>
          <a:ln/>
        </p:spPr>
        <p:txBody>
          <a:bodyPr/>
          <a:p/>
        </p:txBody>
      </p:sp>
      <p:sp>
        <p:nvSpPr>
          <p:cNvPr id="559" name="" descr="{&quot;isTemplate&quot;:true,&quot;type&quot;:&quot;text&quot;}"/>
          <p:cNvSpPr txBox="1"/>
          <p:nvPr/>
        </p:nvSpPr>
        <p:spPr>
          <a:xfrm rot="0" flipH="0" flipV="0">
            <a:off x="838200" y="371475"/>
            <a:ext cx="3562350" cy="161925"/>
          </a:xfrm>
          <a:prstGeom prst="rect"/>
        </p:spPr>
        <p:txBody>
          <a:bodyPr wrap="none" lIns="0" tIns="0" rIns="0" bIns="0"/>
          <a:p>
            <a:pPr>
              <a:lnSpc>
                <a:spcPct val="100000"/>
              </a:lnSpc>
            </a:pPr>
            <a:r>
              <a:rPr lang="en-US" sz="1050">
                <a:solidFill>
                  <a:srgbClr val="546779"/>
                </a:solidFill>
                <a:latin typeface="Microsoft YaHei"/>
                <a:ea typeface="Microsoft YaHei"/>
              </a:rPr>
              <a:t>2.5.1</a:t>
            </a:r>
            <a:r>
              <a:rPr lang="zh-CN" sz="1050">
                <a:solidFill>
                  <a:srgbClr val="546779"/>
                </a:solidFill>
                <a:latin typeface="Microsoft YaHei"/>
                <a:ea typeface="Microsoft YaHei"/>
              </a:rPr>
              <a:t>　先定义一个清楚且有限的工具</a:t>
            </a:r>
            <a:endParaRPr/>
          </a:p>
        </p:txBody>
      </p:sp>
      <p:sp>
        <p:nvSpPr>
          <p:cNvPr id="560" name="" descr="{&quot;isTemplate&quot;:true,&quot;type&quot;:&quot;text&quot;}"/>
          <p:cNvSpPr txBox="1"/>
          <p:nvPr/>
        </p:nvSpPr>
        <p:spPr>
          <a:xfrm rot="0" flipH="0" flipV="0">
            <a:off x="838200" y="571500"/>
            <a:ext cx="3562350" cy="390525"/>
          </a:xfrm>
          <a:prstGeom prst="rect"/>
        </p:spPr>
        <p:txBody>
          <a:bodyPr wrap="none" lIns="0" tIns="0" rIns="0" bIns="0"/>
          <a:p>
            <a:pPr>
              <a:lnSpc>
                <a:spcPct val="100000"/>
              </a:lnSpc>
            </a:pPr>
            <a:r>
              <a:rPr lang="zh-CN" sz="2550" b="1">
                <a:solidFill>
                  <a:srgbClr val="20344B"/>
                </a:solidFill>
                <a:latin typeface="Microsoft YaHei"/>
                <a:ea typeface="Microsoft YaHei"/>
              </a:rPr>
              <a:t>一次调用的六个往返步骤</a:t>
            </a:r>
            <a:endParaRPr/>
          </a:p>
        </p:txBody>
      </p:sp>
      <p:sp>
        <p:nvSpPr>
          <p:cNvPr id="561" name=""/>
          <p:cNvSpPr/>
          <p:nvPr/>
        </p:nvSpPr>
        <p:spPr>
          <a:xfrm rot="0" flipH="0" flipV="0">
            <a:off x="819150" y="1285875"/>
            <a:ext cx="3238500" cy="1238250"/>
          </a:xfrm>
          <a:prstGeom prst="roundRect">
            <a:avLst>
              <a:gd name="adj" fmla="val 6154"/>
            </a:avLst>
          </a:prstGeom>
          <a:solidFill>
            <a:srgbClr val="EDF4FC"/>
          </a:solidFill>
          <a:ln/>
        </p:spPr>
        <p:txBody>
          <a:bodyPr/>
          <a:p/>
        </p:txBody>
      </p:sp>
      <p:sp>
        <p:nvSpPr>
          <p:cNvPr id="562" name="" descr="{&quot;isTemplate&quot;:true,&quot;type&quot;:&quot;text&quot;}"/>
          <p:cNvSpPr txBox="1"/>
          <p:nvPr/>
        </p:nvSpPr>
        <p:spPr>
          <a:xfrm rot="0" flipH="0" flipV="0">
            <a:off x="971550" y="1552575"/>
            <a:ext cx="2933700" cy="152400"/>
          </a:xfrm>
          <a:prstGeom prst="rect"/>
        </p:spPr>
        <p:txBody>
          <a:bodyPr wrap="none" lIns="0" tIns="0" rIns="0" bIns="0"/>
          <a:p>
            <a:pPr>
              <a:lnSpc>
                <a:spcPct val="100000"/>
              </a:lnSpc>
            </a:pPr>
            <a:r>
              <a:rPr lang="zh-CN" sz="975">
                <a:solidFill>
                  <a:srgbClr val="546779"/>
                </a:solidFill>
                <a:latin typeface="Microsoft YaHei"/>
                <a:ea typeface="Microsoft YaHei"/>
              </a:rPr>
              <a:t>应用</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模型</a:t>
            </a:r>
            <a:endParaRPr/>
          </a:p>
        </p:txBody>
      </p:sp>
      <p:sp>
        <p:nvSpPr>
          <p:cNvPr id="563" name="" descr="{&quot;isTemplate&quot;:true,&quot;type&quot;:&quot;text&quot;}"/>
          <p:cNvSpPr txBox="1"/>
          <p:nvPr/>
        </p:nvSpPr>
        <p:spPr>
          <a:xfrm rot="0" flipH="0" flipV="0">
            <a:off x="971550" y="1752600"/>
            <a:ext cx="2933700" cy="219075"/>
          </a:xfrm>
          <a:prstGeom prst="rect"/>
        </p:spPr>
        <p:txBody>
          <a:bodyPr wrap="none" lIns="0" tIns="0" rIns="0" bIns="0"/>
          <a:p>
            <a:pPr>
              <a:lnSpc>
                <a:spcPct val="100000"/>
              </a:lnSpc>
            </a:pPr>
            <a:r>
              <a:rPr lang="zh-CN" sz="1425" b="1">
                <a:solidFill>
                  <a:srgbClr val="276FBF"/>
                </a:solidFill>
                <a:latin typeface="Microsoft YaHei"/>
                <a:ea typeface="Microsoft YaHei"/>
              </a:rPr>
              <a:t>输入与工具定义</a:t>
            </a:r>
            <a:endParaRPr/>
          </a:p>
        </p:txBody>
      </p:sp>
      <p:sp>
        <p:nvSpPr>
          <p:cNvPr id="564" name="" descr="{&quot;isTemplate&quot;:true,&quot;type&quot;:&quot;text&quot;}"/>
          <p:cNvSpPr txBox="1"/>
          <p:nvPr/>
        </p:nvSpPr>
        <p:spPr>
          <a:xfrm rot="0" flipH="0" flipV="0">
            <a:off x="971550" y="2019300"/>
            <a:ext cx="2933700" cy="247650"/>
          </a:xfrm>
          <a:prstGeom prst="rect"/>
        </p:spPr>
        <p:txBody>
          <a:bodyPr wrap="none" lIns="0" tIns="0" rIns="0" bIns="0"/>
          <a:p>
            <a:pPr>
              <a:lnSpc>
                <a:spcPct val="150000"/>
              </a:lnSpc>
            </a:pPr>
            <a:r>
              <a:rPr lang="zh-CN" sz="1050">
                <a:solidFill>
                  <a:srgbClr val="546779"/>
                </a:solidFill>
                <a:latin typeface="Microsoft YaHei"/>
                <a:ea typeface="Microsoft YaHei"/>
              </a:rPr>
              <a:t>材料、指令与工具说明</a:t>
            </a:r>
            <a:endParaRPr/>
          </a:p>
        </p:txBody>
      </p:sp>
      <p:sp>
        <p:nvSpPr>
          <p:cNvPr id="565" name="" descr="{&quot;isTemplate&quot;:true,&quot;type&quot;:&quot;text&quot;}"/>
          <p:cNvSpPr txBox="1"/>
          <p:nvPr/>
        </p:nvSpPr>
        <p:spPr>
          <a:xfrm rot="0" flipH="0" flipV="0">
            <a:off x="4229100" y="1752600"/>
            <a:ext cx="85725" cy="304800"/>
          </a:xfrm>
          <a:prstGeom prst="rect"/>
        </p:spPr>
        <p:txBody>
          <a:bodyPr wrap="none" lIns="0" tIns="0" rIns="0" bIns="0"/>
          <a:p>
            <a:pPr>
              <a:lnSpc>
                <a:spcPct val="100000"/>
              </a:lnSpc>
            </a:pPr>
            <a:r>
              <a:rPr sz="1950">
                <a:solidFill>
                  <a:srgbClr val="276FBF"/>
                </a:solidFill>
                <a:latin typeface="Microsoft YaHei"/>
                <a:ea typeface="Microsoft YaHei"/>
              </a:rPr>
              <a:t>›</a:t>
            </a:r>
            <a:endParaRPr/>
          </a:p>
        </p:txBody>
      </p:sp>
      <p:sp>
        <p:nvSpPr>
          <p:cNvPr id="566" name=""/>
          <p:cNvSpPr/>
          <p:nvPr/>
        </p:nvSpPr>
        <p:spPr>
          <a:xfrm rot="0" flipH="0" flipV="0">
            <a:off x="4476750" y="1285875"/>
            <a:ext cx="3238500" cy="1238250"/>
          </a:xfrm>
          <a:prstGeom prst="roundRect">
            <a:avLst>
              <a:gd name="adj" fmla="val 6154"/>
            </a:avLst>
          </a:prstGeom>
          <a:solidFill>
            <a:srgbClr val="EDF4FC"/>
          </a:solidFill>
          <a:ln/>
        </p:spPr>
        <p:txBody>
          <a:bodyPr/>
          <a:p/>
        </p:txBody>
      </p:sp>
      <p:sp>
        <p:nvSpPr>
          <p:cNvPr id="567" name="" descr="{&quot;isTemplate&quot;:true,&quot;type&quot;:&quot;text&quot;}"/>
          <p:cNvSpPr txBox="1"/>
          <p:nvPr/>
        </p:nvSpPr>
        <p:spPr>
          <a:xfrm rot="0" flipH="0" flipV="0">
            <a:off x="4629150" y="1552575"/>
            <a:ext cx="2933700" cy="152400"/>
          </a:xfrm>
          <a:prstGeom prst="rect"/>
        </p:spPr>
        <p:txBody>
          <a:bodyPr wrap="none" lIns="0" tIns="0" rIns="0" bIns="0"/>
          <a:p>
            <a:pPr>
              <a:lnSpc>
                <a:spcPct val="100000"/>
              </a:lnSpc>
            </a:pPr>
            <a:r>
              <a:rPr lang="zh-CN" sz="975">
                <a:solidFill>
                  <a:srgbClr val="546779"/>
                </a:solidFill>
                <a:latin typeface="Microsoft YaHei"/>
                <a:ea typeface="Microsoft YaHei"/>
              </a:rPr>
              <a:t>模型</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应用</a:t>
            </a:r>
            <a:endParaRPr/>
          </a:p>
        </p:txBody>
      </p:sp>
      <p:sp>
        <p:nvSpPr>
          <p:cNvPr id="568" name="" descr="{&quot;isTemplate&quot;:true,&quot;type&quot;:&quot;text&quot;}"/>
          <p:cNvSpPr txBox="1"/>
          <p:nvPr/>
        </p:nvSpPr>
        <p:spPr>
          <a:xfrm rot="0" flipH="0" flipV="0">
            <a:off x="4629150" y="1752600"/>
            <a:ext cx="2933700" cy="219075"/>
          </a:xfrm>
          <a:prstGeom prst="rect"/>
        </p:spPr>
        <p:txBody>
          <a:bodyPr wrap="none" lIns="0" tIns="0" rIns="0" bIns="0"/>
          <a:p>
            <a:pPr>
              <a:lnSpc>
                <a:spcPct val="100000"/>
              </a:lnSpc>
            </a:pPr>
            <a:r>
              <a:rPr lang="en-US" sz="1425" b="1">
                <a:solidFill>
                  <a:srgbClr val="276FBF"/>
                </a:solidFill>
                <a:latin typeface="Microsoft YaHei"/>
                <a:ea typeface="Microsoft YaHei"/>
              </a:rPr>
              <a:t>function_call</a:t>
            </a:r>
            <a:endParaRPr/>
          </a:p>
        </p:txBody>
      </p:sp>
      <p:sp>
        <p:nvSpPr>
          <p:cNvPr id="569" name="" descr="{&quot;isTemplate&quot;:true,&quot;type&quot;:&quot;text&quot;}"/>
          <p:cNvSpPr txBox="1"/>
          <p:nvPr/>
        </p:nvSpPr>
        <p:spPr>
          <a:xfrm rot="0" flipH="0" flipV="0">
            <a:off x="4629150" y="2019300"/>
            <a:ext cx="2933700" cy="247650"/>
          </a:xfrm>
          <a:prstGeom prst="rect"/>
        </p:spPr>
        <p:txBody>
          <a:bodyPr wrap="none" lIns="0" tIns="0" rIns="0" bIns="0"/>
          <a:p>
            <a:pPr>
              <a:lnSpc>
                <a:spcPct val="150000"/>
              </a:lnSpc>
            </a:pPr>
            <a:r>
              <a:rPr lang="zh-CN" sz="1050">
                <a:solidFill>
                  <a:srgbClr val="546779"/>
                </a:solidFill>
                <a:latin typeface="Microsoft YaHei"/>
                <a:ea typeface="Microsoft YaHei"/>
              </a:rPr>
              <a:t>名称、</a:t>
            </a:r>
            <a:r>
              <a:rPr lang="en-US" sz="1050">
                <a:solidFill>
                  <a:srgbClr val="546779"/>
                </a:solidFill>
                <a:latin typeface="Microsoft YaHei"/>
                <a:ea typeface="Microsoft YaHei"/>
              </a:rPr>
              <a:t xml:space="preserve">JSON </a:t>
            </a:r>
            <a:r>
              <a:rPr lang="zh-CN" sz="1050">
                <a:solidFill>
                  <a:srgbClr val="546779"/>
                </a:solidFill>
                <a:latin typeface="Microsoft YaHei"/>
                <a:ea typeface="Microsoft YaHei"/>
              </a:rPr>
              <a:t>参数、</a:t>
            </a:r>
            <a:r>
              <a:rPr lang="en-US" sz="1050">
                <a:solidFill>
                  <a:srgbClr val="546779"/>
                </a:solidFill>
                <a:latin typeface="Microsoft YaHei"/>
                <a:ea typeface="Microsoft YaHei"/>
              </a:rPr>
              <a:t>call_id</a:t>
            </a:r>
            <a:endParaRPr/>
          </a:p>
        </p:txBody>
      </p:sp>
      <p:sp>
        <p:nvSpPr>
          <p:cNvPr id="570" name="" descr="{&quot;isTemplate&quot;:true,&quot;type&quot;:&quot;text&quot;}"/>
          <p:cNvSpPr txBox="1"/>
          <p:nvPr/>
        </p:nvSpPr>
        <p:spPr>
          <a:xfrm rot="0" flipH="0" flipV="0">
            <a:off x="7886700" y="1752600"/>
            <a:ext cx="85725" cy="304800"/>
          </a:xfrm>
          <a:prstGeom prst="rect"/>
        </p:spPr>
        <p:txBody>
          <a:bodyPr wrap="none" lIns="0" tIns="0" rIns="0" bIns="0"/>
          <a:p>
            <a:pPr>
              <a:lnSpc>
                <a:spcPct val="100000"/>
              </a:lnSpc>
            </a:pPr>
            <a:r>
              <a:rPr sz="1950">
                <a:solidFill>
                  <a:srgbClr val="276FBF"/>
                </a:solidFill>
                <a:latin typeface="Microsoft YaHei"/>
                <a:ea typeface="Microsoft YaHei"/>
              </a:rPr>
              <a:t>›</a:t>
            </a:r>
            <a:endParaRPr/>
          </a:p>
        </p:txBody>
      </p:sp>
      <p:sp>
        <p:nvSpPr>
          <p:cNvPr id="571" name=""/>
          <p:cNvSpPr/>
          <p:nvPr/>
        </p:nvSpPr>
        <p:spPr>
          <a:xfrm rot="0" flipH="0" flipV="0">
            <a:off x="8134350" y="1285875"/>
            <a:ext cx="3238500" cy="1238250"/>
          </a:xfrm>
          <a:prstGeom prst="roundRect">
            <a:avLst>
              <a:gd name="adj" fmla="val 6154"/>
            </a:avLst>
          </a:prstGeom>
          <a:solidFill>
            <a:srgbClr val="EDF4FC"/>
          </a:solidFill>
          <a:ln/>
        </p:spPr>
        <p:txBody>
          <a:bodyPr/>
          <a:p/>
        </p:txBody>
      </p:sp>
      <p:sp>
        <p:nvSpPr>
          <p:cNvPr id="572" name="" descr="{&quot;isTemplate&quot;:true,&quot;type&quot;:&quot;text&quot;}"/>
          <p:cNvSpPr txBox="1"/>
          <p:nvPr/>
        </p:nvSpPr>
        <p:spPr>
          <a:xfrm rot="0" flipH="0" flipV="0">
            <a:off x="8286750" y="1552575"/>
            <a:ext cx="2933700" cy="152400"/>
          </a:xfrm>
          <a:prstGeom prst="rect"/>
        </p:spPr>
        <p:txBody>
          <a:bodyPr wrap="none" lIns="0" tIns="0" rIns="0" bIns="0"/>
          <a:p>
            <a:pPr>
              <a:lnSpc>
                <a:spcPct val="100000"/>
              </a:lnSpc>
            </a:pPr>
            <a:r>
              <a:rPr lang="zh-CN" sz="975">
                <a:solidFill>
                  <a:srgbClr val="546779"/>
                </a:solidFill>
                <a:latin typeface="Microsoft YaHei"/>
                <a:ea typeface="Microsoft YaHei"/>
              </a:rPr>
              <a:t>应用内部</a:t>
            </a:r>
            <a:endParaRPr/>
          </a:p>
        </p:txBody>
      </p:sp>
      <p:sp>
        <p:nvSpPr>
          <p:cNvPr id="573" name="" descr="{&quot;isTemplate&quot;:true,&quot;type&quot;:&quot;text&quot;}"/>
          <p:cNvSpPr txBox="1"/>
          <p:nvPr/>
        </p:nvSpPr>
        <p:spPr>
          <a:xfrm rot="0" flipH="0" flipV="0">
            <a:off x="8286750" y="1752600"/>
            <a:ext cx="2933700" cy="219075"/>
          </a:xfrm>
          <a:prstGeom prst="rect"/>
        </p:spPr>
        <p:txBody>
          <a:bodyPr wrap="none" lIns="0" tIns="0" rIns="0" bIns="0"/>
          <a:p>
            <a:pPr>
              <a:lnSpc>
                <a:spcPct val="100000"/>
              </a:lnSpc>
            </a:pPr>
            <a:r>
              <a:rPr lang="zh-CN" sz="1425" b="1">
                <a:solidFill>
                  <a:srgbClr val="276FBF"/>
                </a:solidFill>
                <a:latin typeface="Microsoft YaHei"/>
                <a:ea typeface="Microsoft YaHei"/>
              </a:rPr>
              <a:t>校验这份请求</a:t>
            </a:r>
            <a:endParaRPr/>
          </a:p>
        </p:txBody>
      </p:sp>
      <p:sp>
        <p:nvSpPr>
          <p:cNvPr id="574" name="" descr="{&quot;isTemplate&quot;:true,&quot;type&quot;:&quot;text&quot;}"/>
          <p:cNvSpPr txBox="1"/>
          <p:nvPr/>
        </p:nvSpPr>
        <p:spPr>
          <a:xfrm rot="0" flipH="0" flipV="0">
            <a:off x="8286750" y="2019300"/>
            <a:ext cx="2933700" cy="247650"/>
          </a:xfrm>
          <a:prstGeom prst="rect"/>
        </p:spPr>
        <p:txBody>
          <a:bodyPr wrap="none" lIns="0" tIns="0" rIns="0" bIns="0"/>
          <a:p>
            <a:pPr>
              <a:lnSpc>
                <a:spcPct val="150000"/>
              </a:lnSpc>
            </a:pPr>
            <a:r>
              <a:rPr lang="zh-CN" sz="1050">
                <a:solidFill>
                  <a:srgbClr val="546779"/>
                </a:solidFill>
                <a:latin typeface="Microsoft YaHei"/>
                <a:ea typeface="Microsoft YaHei"/>
              </a:rPr>
              <a:t>允许范围、参数与预算</a:t>
            </a:r>
            <a:endParaRPr/>
          </a:p>
        </p:txBody>
      </p:sp>
      <p:sp>
        <p:nvSpPr>
          <p:cNvPr id="575" name="" descr="{&quot;isTemplate&quot;:true,&quot;type&quot;:&quot;text&quot;}"/>
          <p:cNvSpPr txBox="1"/>
          <p:nvPr/>
        </p:nvSpPr>
        <p:spPr>
          <a:xfrm rot="0" flipH="0" flipV="0">
            <a:off x="6048375" y="2724150"/>
            <a:ext cx="95250" cy="228600"/>
          </a:xfrm>
          <a:prstGeom prst="rect"/>
        </p:spPr>
        <p:txBody>
          <a:bodyPr wrap="none" lIns="0" tIns="0" rIns="0" bIns="0"/>
          <a:p>
            <a:pPr>
              <a:lnSpc>
                <a:spcPct val="100000"/>
              </a:lnSpc>
            </a:pPr>
            <a:r>
              <a:rPr sz="1500">
                <a:solidFill>
                  <a:srgbClr val="26816B"/>
                </a:solidFill>
                <a:latin typeface="Microsoft YaHei"/>
                <a:ea typeface="Microsoft YaHei"/>
              </a:rPr>
              <a:t>↓</a:t>
            </a:r>
            <a:endParaRPr/>
          </a:p>
        </p:txBody>
      </p:sp>
      <p:sp>
        <p:nvSpPr>
          <p:cNvPr id="576" name=""/>
          <p:cNvSpPr/>
          <p:nvPr/>
        </p:nvSpPr>
        <p:spPr>
          <a:xfrm rot="0" flipH="0" flipV="0">
            <a:off x="819150" y="3152775"/>
            <a:ext cx="3238500" cy="1238250"/>
          </a:xfrm>
          <a:prstGeom prst="roundRect">
            <a:avLst>
              <a:gd name="adj" fmla="val 6154"/>
            </a:avLst>
          </a:prstGeom>
          <a:solidFill>
            <a:srgbClr val="ECF7F2"/>
          </a:solidFill>
          <a:ln/>
        </p:spPr>
        <p:txBody>
          <a:bodyPr/>
          <a:p/>
        </p:txBody>
      </p:sp>
      <p:sp>
        <p:nvSpPr>
          <p:cNvPr id="577" name="" descr="{&quot;isTemplate&quot;:true,&quot;type&quot;:&quot;text&quot;}"/>
          <p:cNvSpPr txBox="1"/>
          <p:nvPr/>
        </p:nvSpPr>
        <p:spPr>
          <a:xfrm rot="0" flipH="0" flipV="0">
            <a:off x="971550" y="3419475"/>
            <a:ext cx="2933700" cy="152400"/>
          </a:xfrm>
          <a:prstGeom prst="rect"/>
        </p:spPr>
        <p:txBody>
          <a:bodyPr wrap="none" lIns="0" tIns="0" rIns="0" bIns="0"/>
          <a:p>
            <a:pPr>
              <a:lnSpc>
                <a:spcPct val="100000"/>
              </a:lnSpc>
            </a:pPr>
            <a:r>
              <a:rPr lang="zh-CN" sz="975">
                <a:solidFill>
                  <a:srgbClr val="546779"/>
                </a:solidFill>
                <a:latin typeface="Microsoft YaHei"/>
                <a:ea typeface="Microsoft YaHei"/>
              </a:rPr>
              <a:t>应用</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工具</a:t>
            </a:r>
            <a:endParaRPr/>
          </a:p>
        </p:txBody>
      </p:sp>
      <p:sp>
        <p:nvSpPr>
          <p:cNvPr id="578" name="" descr="{&quot;isTemplate&quot;:true,&quot;type&quot;:&quot;text&quot;}"/>
          <p:cNvSpPr txBox="1"/>
          <p:nvPr/>
        </p:nvSpPr>
        <p:spPr>
          <a:xfrm rot="0" flipH="0" flipV="0">
            <a:off x="971550" y="3619500"/>
            <a:ext cx="2933700" cy="219075"/>
          </a:xfrm>
          <a:prstGeom prst="rect"/>
        </p:spPr>
        <p:txBody>
          <a:bodyPr wrap="none" lIns="0" tIns="0" rIns="0" bIns="0"/>
          <a:p>
            <a:pPr>
              <a:lnSpc>
                <a:spcPct val="100000"/>
              </a:lnSpc>
            </a:pPr>
            <a:r>
              <a:rPr lang="zh-CN" sz="1425" b="1">
                <a:solidFill>
                  <a:srgbClr val="26816B"/>
                </a:solidFill>
                <a:latin typeface="Microsoft YaHei"/>
                <a:ea typeface="Microsoft YaHei"/>
              </a:rPr>
              <a:t>实际执行</a:t>
            </a:r>
            <a:endParaRPr/>
          </a:p>
        </p:txBody>
      </p:sp>
      <p:sp>
        <p:nvSpPr>
          <p:cNvPr id="579" name="" descr="{&quot;isTemplate&quot;:true,&quot;type&quot;:&quot;text&quot;}"/>
          <p:cNvSpPr txBox="1"/>
          <p:nvPr/>
        </p:nvSpPr>
        <p:spPr>
          <a:xfrm rot="0" flipH="0" flipV="0">
            <a:off x="971550" y="3886200"/>
            <a:ext cx="2933700" cy="247650"/>
          </a:xfrm>
          <a:prstGeom prst="rect"/>
        </p:spPr>
        <p:txBody>
          <a:bodyPr wrap="none" lIns="0" tIns="0" rIns="0" bIns="0"/>
          <a:p>
            <a:pPr>
              <a:lnSpc>
                <a:spcPct val="150000"/>
              </a:lnSpc>
            </a:pPr>
            <a:r>
              <a:rPr lang="zh-CN" sz="1050">
                <a:solidFill>
                  <a:srgbClr val="546779"/>
                </a:solidFill>
                <a:latin typeface="Microsoft YaHei"/>
                <a:ea typeface="Microsoft YaHei"/>
              </a:rPr>
              <a:t>调用只读查询或校验函数</a:t>
            </a:r>
            <a:endParaRPr/>
          </a:p>
        </p:txBody>
      </p:sp>
      <p:sp>
        <p:nvSpPr>
          <p:cNvPr id="580" name="" descr="{&quot;isTemplate&quot;:true,&quot;type&quot;:&quot;text&quot;}"/>
          <p:cNvSpPr txBox="1"/>
          <p:nvPr/>
        </p:nvSpPr>
        <p:spPr>
          <a:xfrm rot="0" flipH="0" flipV="0">
            <a:off x="4229100" y="3619500"/>
            <a:ext cx="85725" cy="304800"/>
          </a:xfrm>
          <a:prstGeom prst="rect"/>
        </p:spPr>
        <p:txBody>
          <a:bodyPr wrap="none" lIns="0" tIns="0" rIns="0" bIns="0"/>
          <a:p>
            <a:pPr>
              <a:lnSpc>
                <a:spcPct val="100000"/>
              </a:lnSpc>
            </a:pPr>
            <a:r>
              <a:rPr sz="1950">
                <a:solidFill>
                  <a:srgbClr val="26816B"/>
                </a:solidFill>
                <a:latin typeface="Microsoft YaHei"/>
                <a:ea typeface="Microsoft YaHei"/>
              </a:rPr>
              <a:t>›</a:t>
            </a:r>
            <a:endParaRPr/>
          </a:p>
        </p:txBody>
      </p:sp>
      <p:sp>
        <p:nvSpPr>
          <p:cNvPr id="581" name=""/>
          <p:cNvSpPr/>
          <p:nvPr/>
        </p:nvSpPr>
        <p:spPr>
          <a:xfrm rot="0" flipH="0" flipV="0">
            <a:off x="4476750" y="3152775"/>
            <a:ext cx="3238500" cy="1238250"/>
          </a:xfrm>
          <a:prstGeom prst="roundRect">
            <a:avLst>
              <a:gd name="adj" fmla="val 6154"/>
            </a:avLst>
          </a:prstGeom>
          <a:solidFill>
            <a:srgbClr val="ECF7F2"/>
          </a:solidFill>
          <a:ln/>
        </p:spPr>
        <p:txBody>
          <a:bodyPr/>
          <a:p/>
        </p:txBody>
      </p:sp>
      <p:sp>
        <p:nvSpPr>
          <p:cNvPr id="582" name="" descr="{&quot;isTemplate&quot;:true,&quot;type&quot;:&quot;text&quot;}"/>
          <p:cNvSpPr txBox="1"/>
          <p:nvPr/>
        </p:nvSpPr>
        <p:spPr>
          <a:xfrm rot="0" flipH="0" flipV="0">
            <a:off x="4629150" y="3419475"/>
            <a:ext cx="2933700" cy="152400"/>
          </a:xfrm>
          <a:prstGeom prst="rect"/>
        </p:spPr>
        <p:txBody>
          <a:bodyPr wrap="none" lIns="0" tIns="0" rIns="0" bIns="0"/>
          <a:p>
            <a:pPr>
              <a:lnSpc>
                <a:spcPct val="100000"/>
              </a:lnSpc>
            </a:pPr>
            <a:r>
              <a:rPr lang="zh-CN" sz="975">
                <a:solidFill>
                  <a:srgbClr val="546779"/>
                </a:solidFill>
                <a:latin typeface="Microsoft YaHei"/>
                <a:ea typeface="Microsoft YaHei"/>
              </a:rPr>
              <a:t>工具</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应用</a:t>
            </a:r>
            <a:endParaRPr/>
          </a:p>
        </p:txBody>
      </p:sp>
      <p:sp>
        <p:nvSpPr>
          <p:cNvPr id="583" name="" descr="{&quot;isTemplate&quot;:true,&quot;type&quot;:&quot;text&quot;}"/>
          <p:cNvSpPr txBox="1"/>
          <p:nvPr/>
        </p:nvSpPr>
        <p:spPr>
          <a:xfrm rot="0" flipH="0" flipV="0">
            <a:off x="4629150" y="3619500"/>
            <a:ext cx="2933700" cy="219075"/>
          </a:xfrm>
          <a:prstGeom prst="rect"/>
        </p:spPr>
        <p:txBody>
          <a:bodyPr wrap="none" lIns="0" tIns="0" rIns="0" bIns="0"/>
          <a:p>
            <a:pPr>
              <a:lnSpc>
                <a:spcPct val="100000"/>
              </a:lnSpc>
            </a:pPr>
            <a:r>
              <a:rPr lang="zh-CN" sz="1425" b="1">
                <a:solidFill>
                  <a:srgbClr val="26816B"/>
                </a:solidFill>
                <a:latin typeface="Microsoft YaHei"/>
                <a:ea typeface="Microsoft YaHei"/>
              </a:rPr>
              <a:t>工具实际结果</a:t>
            </a:r>
            <a:endParaRPr/>
          </a:p>
        </p:txBody>
      </p:sp>
      <p:sp>
        <p:nvSpPr>
          <p:cNvPr id="584" name="" descr="{&quot;isTemplate&quot;:true,&quot;type&quot;:&quot;text&quot;}"/>
          <p:cNvSpPr txBox="1"/>
          <p:nvPr/>
        </p:nvSpPr>
        <p:spPr>
          <a:xfrm rot="0" flipH="0" flipV="0">
            <a:off x="4629150" y="3886200"/>
            <a:ext cx="2933700" cy="247650"/>
          </a:xfrm>
          <a:prstGeom prst="rect"/>
        </p:spPr>
        <p:txBody>
          <a:bodyPr wrap="none" lIns="0" tIns="0" rIns="0" bIns="0"/>
          <a:p>
            <a:pPr>
              <a:lnSpc>
                <a:spcPct val="150000"/>
              </a:lnSpc>
            </a:pPr>
            <a:r>
              <a:rPr lang="zh-CN" sz="1050">
                <a:solidFill>
                  <a:srgbClr val="546779"/>
                </a:solidFill>
                <a:latin typeface="Microsoft YaHei"/>
                <a:ea typeface="Microsoft YaHei"/>
              </a:rPr>
              <a:t>真实记录或受控错误</a:t>
            </a:r>
            <a:endParaRPr/>
          </a:p>
        </p:txBody>
      </p:sp>
      <p:sp>
        <p:nvSpPr>
          <p:cNvPr id="585" name="" descr="{&quot;isTemplate&quot;:true,&quot;type&quot;:&quot;text&quot;}"/>
          <p:cNvSpPr txBox="1"/>
          <p:nvPr/>
        </p:nvSpPr>
        <p:spPr>
          <a:xfrm rot="0" flipH="0" flipV="0">
            <a:off x="7886700" y="3619500"/>
            <a:ext cx="85725" cy="304800"/>
          </a:xfrm>
          <a:prstGeom prst="rect"/>
        </p:spPr>
        <p:txBody>
          <a:bodyPr wrap="none" lIns="0" tIns="0" rIns="0" bIns="0"/>
          <a:p>
            <a:pPr>
              <a:lnSpc>
                <a:spcPct val="100000"/>
              </a:lnSpc>
            </a:pPr>
            <a:r>
              <a:rPr sz="1950">
                <a:solidFill>
                  <a:srgbClr val="276FBF"/>
                </a:solidFill>
                <a:latin typeface="Microsoft YaHei"/>
                <a:ea typeface="Microsoft YaHei"/>
              </a:rPr>
              <a:t>›</a:t>
            </a:r>
            <a:endParaRPr/>
          </a:p>
        </p:txBody>
      </p:sp>
      <p:sp>
        <p:nvSpPr>
          <p:cNvPr id="586" name=""/>
          <p:cNvSpPr/>
          <p:nvPr/>
        </p:nvSpPr>
        <p:spPr>
          <a:xfrm rot="0" flipH="0" flipV="0">
            <a:off x="8134350" y="3152775"/>
            <a:ext cx="3238500" cy="1238250"/>
          </a:xfrm>
          <a:prstGeom prst="roundRect">
            <a:avLst>
              <a:gd name="adj" fmla="val 6154"/>
            </a:avLst>
          </a:prstGeom>
          <a:solidFill>
            <a:srgbClr val="EDF4FC"/>
          </a:solidFill>
          <a:ln/>
        </p:spPr>
        <p:txBody>
          <a:bodyPr/>
          <a:p/>
        </p:txBody>
      </p:sp>
      <p:sp>
        <p:nvSpPr>
          <p:cNvPr id="587" name="" descr="{&quot;isTemplate&quot;:true,&quot;type&quot;:&quot;text&quot;}"/>
          <p:cNvSpPr txBox="1"/>
          <p:nvPr/>
        </p:nvSpPr>
        <p:spPr>
          <a:xfrm rot="0" flipH="0" flipV="0">
            <a:off x="8286750" y="3419475"/>
            <a:ext cx="2933700" cy="152400"/>
          </a:xfrm>
          <a:prstGeom prst="rect"/>
        </p:spPr>
        <p:txBody>
          <a:bodyPr wrap="none" lIns="0" tIns="0" rIns="0" bIns="0"/>
          <a:p>
            <a:pPr>
              <a:lnSpc>
                <a:spcPct val="100000"/>
              </a:lnSpc>
            </a:pPr>
            <a:r>
              <a:rPr lang="zh-CN" sz="975">
                <a:solidFill>
                  <a:srgbClr val="546779"/>
                </a:solidFill>
                <a:latin typeface="Microsoft YaHei"/>
                <a:ea typeface="Microsoft YaHei"/>
              </a:rPr>
              <a:t>应用</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模型</a:t>
            </a:r>
            <a:endParaRPr/>
          </a:p>
        </p:txBody>
      </p:sp>
      <p:sp>
        <p:nvSpPr>
          <p:cNvPr id="588" name="" descr="{&quot;isTemplate&quot;:true,&quot;type&quot;:&quot;text&quot;}"/>
          <p:cNvSpPr txBox="1"/>
          <p:nvPr/>
        </p:nvSpPr>
        <p:spPr>
          <a:xfrm rot="0" flipH="0" flipV="0">
            <a:off x="8286750" y="3619500"/>
            <a:ext cx="2933700" cy="219075"/>
          </a:xfrm>
          <a:prstGeom prst="rect"/>
        </p:spPr>
        <p:txBody>
          <a:bodyPr wrap="none" lIns="0" tIns="0" rIns="0" bIns="0"/>
          <a:p>
            <a:pPr>
              <a:lnSpc>
                <a:spcPct val="100000"/>
              </a:lnSpc>
            </a:pPr>
            <a:r>
              <a:rPr lang="en-US" sz="1425" b="1">
                <a:solidFill>
                  <a:srgbClr val="276FBF"/>
                </a:solidFill>
                <a:latin typeface="Microsoft YaHei"/>
                <a:ea typeface="Microsoft YaHei"/>
              </a:rPr>
              <a:t>function_call_output</a:t>
            </a:r>
            <a:endParaRPr/>
          </a:p>
        </p:txBody>
      </p:sp>
      <p:sp>
        <p:nvSpPr>
          <p:cNvPr id="589" name="" descr="{&quot;isTemplate&quot;:true,&quot;type&quot;:&quot;text&quot;}"/>
          <p:cNvSpPr txBox="1"/>
          <p:nvPr/>
        </p:nvSpPr>
        <p:spPr>
          <a:xfrm rot="0" flipH="0" flipV="0">
            <a:off x="8286750" y="3886200"/>
            <a:ext cx="2933700" cy="247650"/>
          </a:xfrm>
          <a:prstGeom prst="rect"/>
        </p:spPr>
        <p:txBody>
          <a:bodyPr wrap="none" lIns="0" tIns="0" rIns="0" bIns="0"/>
          <a:p>
            <a:pPr>
              <a:lnSpc>
                <a:spcPct val="150000"/>
              </a:lnSpc>
            </a:pPr>
            <a:r>
              <a:rPr lang="zh-CN" sz="1050">
                <a:solidFill>
                  <a:srgbClr val="546779"/>
                </a:solidFill>
                <a:latin typeface="Microsoft YaHei"/>
                <a:ea typeface="Microsoft YaHei"/>
              </a:rPr>
              <a:t>匹配原来那个</a:t>
            </a:r>
            <a:r>
              <a:rPr lang="en-US" sz="1050">
                <a:solidFill>
                  <a:srgbClr val="546779"/>
                </a:solidFill>
                <a:latin typeface="Microsoft YaHei"/>
                <a:ea typeface="Microsoft YaHei"/>
              </a:rPr>
              <a:t xml:space="preserve"> call_id</a:t>
            </a:r>
            <a:endParaRPr/>
          </a:p>
        </p:txBody>
      </p:sp>
      <p:sp>
        <p:nvSpPr>
          <p:cNvPr id="590" name=""/>
          <p:cNvSpPr/>
          <p:nvPr/>
        </p:nvSpPr>
        <p:spPr>
          <a:xfrm rot="0" flipH="0" flipV="0">
            <a:off x="609600" y="4562475"/>
            <a:ext cx="10972800" cy="704850"/>
          </a:xfrm>
          <a:prstGeom prst="roundRect">
            <a:avLst>
              <a:gd name="adj" fmla="val 13514"/>
            </a:avLst>
          </a:prstGeom>
          <a:solidFill>
            <a:srgbClr val="ECF7F2"/>
          </a:solidFill>
          <a:ln/>
        </p:spPr>
        <p:txBody>
          <a:bodyPr/>
          <a:p/>
        </p:txBody>
      </p:sp>
      <p:sp>
        <p:nvSpPr>
          <p:cNvPr id="591" name=""/>
          <p:cNvSpPr/>
          <p:nvPr/>
        </p:nvSpPr>
        <p:spPr>
          <a:xfrm rot="0" flipH="0" flipV="0">
            <a:off x="800100" y="4724400"/>
            <a:ext cx="38100" cy="381000"/>
          </a:xfrm>
          <a:prstGeom prst="rect">
            <a:avLst/>
          </a:prstGeom>
          <a:solidFill>
            <a:srgbClr val="26816B"/>
          </a:solidFill>
          <a:ln/>
        </p:spPr>
        <p:txBody>
          <a:bodyPr/>
          <a:p/>
        </p:txBody>
      </p:sp>
      <p:sp>
        <p:nvSpPr>
          <p:cNvPr id="592" name="" descr="{&quot;isTemplate&quot;:true,&quot;type&quot;:&quot;text&quot;}"/>
          <p:cNvSpPr txBox="1"/>
          <p:nvPr/>
        </p:nvSpPr>
        <p:spPr>
          <a:xfrm rot="0" flipH="0" flipV="0">
            <a:off x="990600" y="4781550"/>
            <a:ext cx="3200400" cy="276225"/>
          </a:xfrm>
          <a:prstGeom prst="rect"/>
        </p:spPr>
        <p:txBody>
          <a:bodyPr wrap="none" lIns="0" tIns="0" rIns="0" bIns="0"/>
          <a:p>
            <a:pPr>
              <a:lnSpc>
                <a:spcPct val="150000"/>
              </a:lnSpc>
            </a:pPr>
            <a:r>
              <a:rPr lang="zh-CN" sz="1200">
                <a:solidFill>
                  <a:srgbClr val="20344B"/>
                </a:solidFill>
                <a:latin typeface="Microsoft YaHei"/>
                <a:ea typeface="Microsoft YaHei"/>
              </a:rPr>
              <a:t>下一轮保留完整输出项；依据结果继续或结束。</a:t>
            </a:r>
            <a:endParaRPr/>
          </a:p>
        </p:txBody>
      </p:sp>
      <p:sp>
        <p:nvSpPr>
          <p:cNvPr id="593" name=""/>
          <p:cNvSpPr/>
          <p:nvPr/>
        </p:nvSpPr>
        <p:spPr>
          <a:xfrm rot="0" flipH="0" flipV="0">
            <a:off x="609600" y="5438775"/>
            <a:ext cx="10972800" cy="704850"/>
          </a:xfrm>
          <a:prstGeom prst="roundRect">
            <a:avLst>
              <a:gd name="adj" fmla="val 13514"/>
            </a:avLst>
          </a:prstGeom>
          <a:solidFill>
            <a:srgbClr val="FFF4E6"/>
          </a:solidFill>
          <a:ln/>
        </p:spPr>
        <p:txBody>
          <a:bodyPr/>
          <a:p/>
        </p:txBody>
      </p:sp>
      <p:sp>
        <p:nvSpPr>
          <p:cNvPr id="594" name=""/>
          <p:cNvSpPr/>
          <p:nvPr/>
        </p:nvSpPr>
        <p:spPr>
          <a:xfrm rot="0" flipH="0" flipV="0">
            <a:off x="800100" y="5600700"/>
            <a:ext cx="38100" cy="381000"/>
          </a:xfrm>
          <a:prstGeom prst="rect">
            <a:avLst/>
          </a:prstGeom>
          <a:solidFill>
            <a:srgbClr val="CB6B28"/>
          </a:solidFill>
          <a:ln/>
        </p:spPr>
        <p:txBody>
          <a:bodyPr/>
          <a:p/>
        </p:txBody>
      </p:sp>
      <p:sp>
        <p:nvSpPr>
          <p:cNvPr id="595" name="" descr="{&quot;isTemplate&quot;:true,&quot;type&quot;:&quot;text&quot;}"/>
          <p:cNvSpPr txBox="1"/>
          <p:nvPr/>
        </p:nvSpPr>
        <p:spPr>
          <a:xfrm rot="0" flipH="0" flipV="0">
            <a:off x="990600" y="5657850"/>
            <a:ext cx="3048000" cy="276225"/>
          </a:xfrm>
          <a:prstGeom prst="rect"/>
        </p:spPr>
        <p:txBody>
          <a:bodyPr wrap="none" lIns="0" tIns="0" rIns="0" bIns="0"/>
          <a:p>
            <a:pPr>
              <a:lnSpc>
                <a:spcPct val="150000"/>
              </a:lnSpc>
            </a:pPr>
            <a:r>
              <a:rPr lang="zh-CN" sz="1200">
                <a:solidFill>
                  <a:srgbClr val="20344B"/>
                </a:solidFill>
                <a:latin typeface="Microsoft YaHei"/>
                <a:ea typeface="Microsoft YaHei"/>
              </a:rPr>
              <a:t>模型只提出调用；本章工具不创建真实预约。</a:t>
            </a:r>
            <a:endParaRPr/>
          </a:p>
        </p:txBody>
      </p:sp>
      <p:sp>
        <p:nvSpPr>
          <p:cNvPr id="596"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597"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05 / 26</a:t>
            </a:r>
            <a:endParaRPr/>
          </a:p>
        </p:txBody>
      </p:sp>
    </p:spTree>
  </p:cSld>
</p:sld>
</file>

<file path=ppt/slides/slide6.xml><?xml version="1.0" encoding="utf-8"?>
<p:sld xmlns:p="http://schemas.openxmlformats.org/presentationml/2006/main" xmlns:a="http://schemas.openxmlformats.org/drawingml/2006/main">
  <p:cSld>
    <p:spTree>
      <p:nvGrpSpPr>
        <p:cNvPr id="598" name="" descr="&lt;Slide notes={`我们准备两个工具，各管一件事。&#10;&#10;第一个叫 get_room_availability。输入是房间编号和日期，返回青禾教学数据里已有的预约记录，同时说明这次查询覆盖的范围。它只读，不连接真实预约系统，也不改任何预约。教学里这么做是为了让行为可以预期：同样的输入，永远得到同样的输出。&#10;&#10;第二个叫 validate_schedule，接收一份候选方案，返回确定性的检查结果。后面那个十点开始、十点结束一比的手作候选，就是靠它发现和现有预约冲突的。&#10;&#10;一个取数据，一个判数据，职责分开。模型在中间只负责决定要问什么，以及拿到答案之后怎么调整方案。`}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1　先定义一个清楚且有限的工具&lt;/Text&gt;&#10;            &lt;Text style={{ fontSize: 34, fontWeight: 'bold', color: '#20344B' }}&gt;两个只读工具，各管一件事&lt;/Text&gt;&#10;        &lt;/Box&gt;&#10;    &lt;/Box&gt;&#10;&#10;    &lt;Box style={{ height: 540, flexDirection: 'column', justifyContent: 'center', gap: 20 }}&gt;&#10;&#10;        &lt;Box style={{ flexDirection: 'row', alignItems: 'center', gap: 16, background: '#F4F7FA', borderRadius: 10, padding: '10px 20px' }}&gt;&#10;            &lt;Box style={{ width: 3, height: 26, background: '#276FBF' }} /&gt;&#10;            &lt;Text style={{ fontSize: 16, color: '#546779' }}&gt;先把查询能力做好，比一下子把任意数据库操作或命令执行暴露给模型更容易理解和验证。&lt;/Text&gt;&#10;        &lt;/Box&gt;&#10;&#10;        &lt;Box style={{ flexDirection: 'row', gap: 32 }}&gt;&#10;&#10;            &lt;Box style={{ width: 560, height: 320, background: '#EDF4FC', borderRadius: 12, padding: 20, flexDirection: 'column', gap: 10 }}&gt;&#10;                &lt;Text style={{ fontSize: 18, fontFamily: 'Consolas, monospace', color: '#276FBF' }}&gt;get_room_availability&lt;/Text&gt;&#10;                &lt;Box style={{ width: 60, height: 3, background: '#276FBF' }} /&gt;&#10;                &lt;Text style={{ fontSize: 16, color: '#20344B', lineHeight: 1.6 }}&gt;输入　room_id 与 date&lt;/Text&gt;&#10;                &lt;Text style={{ fontSize: 16, color: '#20344B', lineHeight: 1.6 }}&gt;返回　教学预约记录及其查询范围&lt;/Text&gt;&#10;                &lt;Text style={{ fontSize: 16, color: '#546779', lineHeight: 1.6 }}&gt;只读本章材料；不连接真实预约系统，也不修改任何预约。&lt;/Text&gt;&#10;                &lt;Box style={{ flex: 1 }} /&gt;&#10;                &lt;Box style={{ background: '#FFFFFF', borderRadius: 8, padding: '10px 14px' }}&gt;&#10;                    &lt;Text style={{ fontSize: 14, color: '#546779', lineHeight: 1.5 }}&gt;同样的输入永远得到同样的输出，行为可以预期。&lt;/Text&gt;&#10;                &lt;/Box&gt;&#10;            &lt;/Box&gt;&#10;&#10;            &lt;Box style={{ width: 560, height: 320, background: '#ECF7F2', borderRadius: 12, padding: 20, flexDirection: 'column', gap: 10 }}&gt;&#10;                &lt;Text style={{ fontSize: 18, fontFamily: 'Consolas, monospace', color: '#26816B' }}&gt;validate_schedule&lt;/Text&gt;&#10;                &lt;Box style={{ width: 60, height: 3, background: '#26816B' }} /&gt;&#10;                &lt;Text style={{ fontSize: 16, color: '#20344B', lineHeight: 1.6 }}&gt;输入　一份候选方案&lt;/Text&gt;&#10;                &lt;Text style={{ fontSize: 16, color: '#20344B', lineHeight: 1.6 }}&gt;返回　确定性的检查结果&lt;/Text&gt;&#10;                &lt;Text style={{ fontSize: 16, color: '#546779', lineHeight: 1.6 }}&gt;十点开始的手作候选会被它发现与已有预约冲突，进而要求修正候选。&lt;/Text&gt;&#10;                &lt;Box style={{ flex: 1 }} /&gt;&#10;                &lt;Box style={{ background: '#FFFFFF', borderRadius: 8, padding: '10px 14px' }}&gt;&#10;                    &lt;Text style={{ fontSize: 14, color: '#546779', lineHeight: 1.5 }}&gt;它只判定候选，不修改原预约，也不替模型改方案。&lt;/Text&gt;&#10;                &lt;/Box&gt;&#10;            &lt;/Box&gt;&#10;&#10;        &lt;/Box&gt;&#10;&#10;    &lt;/Box&gt;&#10;&#10;    &lt;Box style={{ height: 40, flexDirection: 'row', justifyContent: 'space-between', alignItems: 'center' }}&gt;&#10;        &lt;Text style={{ fontSize: 14, color: '#546779' }}&gt;2.5 Function Calling&lt;/Text&gt;&#10;        &lt;Text style={{ fontSize: 14, color: '#546779' }}&gt;06 / 26&lt;/Text&gt;&#10;    &lt;/Box&gt;&#10;&#10;&lt;/Slide&gt;&#10;"/>
        <p:cNvGrpSpPr/>
        <p:nvPr/>
      </p:nvGrpSpPr>
      <p:grpSpPr>
        <a:xfrm>
          <a:off x="0" y="0"/>
          <a:ext cx="0" cy="0"/>
          <a:chOff x="0" y="0"/>
          <a:chExt cx="0" cy="0"/>
        </a:xfrm>
      </p:grpSpPr>
      <p:sp>
        <p:nvSpPr>
          <p:cNvPr id="599" name=""/>
          <p:cNvSpPr/>
          <p:nvPr/>
        </p:nvSpPr>
        <p:spPr>
          <a:xfrm rot="0" flipH="0" flipV="0">
            <a:off x="0" y="0"/>
            <a:ext cx="12192000" cy="6858000"/>
          </a:xfrm>
          <a:prstGeom prst="rect">
            <a:avLst/>
          </a:prstGeom>
          <a:solidFill>
            <a:srgbClr val="FFFFFF"/>
          </a:solidFill>
          <a:ln/>
        </p:spPr>
        <p:txBody>
          <a:bodyPr/>
          <a:p/>
        </p:txBody>
      </p:sp>
      <p:sp>
        <p:nvSpPr>
          <p:cNvPr id="600" name=""/>
          <p:cNvSpPr/>
          <p:nvPr/>
        </p:nvSpPr>
        <p:spPr>
          <a:xfrm rot="0" flipH="0" flipV="0">
            <a:off x="609600" y="457200"/>
            <a:ext cx="38100" cy="419100"/>
          </a:xfrm>
          <a:prstGeom prst="rect">
            <a:avLst/>
          </a:prstGeom>
          <a:solidFill>
            <a:srgbClr val="276FBF"/>
          </a:solidFill>
          <a:ln/>
        </p:spPr>
        <p:txBody>
          <a:bodyPr/>
          <a:p/>
        </p:txBody>
      </p:sp>
      <p:sp>
        <p:nvSpPr>
          <p:cNvPr id="601" name="" descr="{&quot;isTemplate&quot;:true,&quot;type&quot;:&quot;text&quot;}"/>
          <p:cNvSpPr txBox="1"/>
          <p:nvPr/>
        </p:nvSpPr>
        <p:spPr>
          <a:xfrm rot="0" flipH="0" flipV="0">
            <a:off x="838200" y="371475"/>
            <a:ext cx="3886200" cy="161925"/>
          </a:xfrm>
          <a:prstGeom prst="rect"/>
        </p:spPr>
        <p:txBody>
          <a:bodyPr wrap="none" lIns="0" tIns="0" rIns="0" bIns="0"/>
          <a:p>
            <a:pPr>
              <a:lnSpc>
                <a:spcPct val="100000"/>
              </a:lnSpc>
            </a:pPr>
            <a:r>
              <a:rPr lang="en-US" sz="1050">
                <a:solidFill>
                  <a:srgbClr val="546779"/>
                </a:solidFill>
                <a:latin typeface="Microsoft YaHei"/>
                <a:ea typeface="Microsoft YaHei"/>
              </a:rPr>
              <a:t>2.5.1</a:t>
            </a:r>
            <a:r>
              <a:rPr lang="zh-CN" sz="1050">
                <a:solidFill>
                  <a:srgbClr val="546779"/>
                </a:solidFill>
                <a:latin typeface="Microsoft YaHei"/>
                <a:ea typeface="Microsoft YaHei"/>
              </a:rPr>
              <a:t>　先定义一个清楚且有限的工具</a:t>
            </a:r>
            <a:endParaRPr/>
          </a:p>
        </p:txBody>
      </p:sp>
      <p:sp>
        <p:nvSpPr>
          <p:cNvPr id="602" name="" descr="{&quot;isTemplate&quot;:true,&quot;type&quot;:&quot;text&quot;}"/>
          <p:cNvSpPr txBox="1"/>
          <p:nvPr/>
        </p:nvSpPr>
        <p:spPr>
          <a:xfrm rot="0" flipH="0" flipV="0">
            <a:off x="838200" y="571500"/>
            <a:ext cx="3886200" cy="390525"/>
          </a:xfrm>
          <a:prstGeom prst="rect"/>
        </p:spPr>
        <p:txBody>
          <a:bodyPr wrap="none" lIns="0" tIns="0" rIns="0" bIns="0"/>
          <a:p>
            <a:pPr>
              <a:lnSpc>
                <a:spcPct val="100000"/>
              </a:lnSpc>
            </a:pPr>
            <a:r>
              <a:rPr lang="zh-CN" sz="2550" b="1">
                <a:solidFill>
                  <a:srgbClr val="20344B"/>
                </a:solidFill>
                <a:latin typeface="Microsoft YaHei"/>
                <a:ea typeface="Microsoft YaHei"/>
              </a:rPr>
              <a:t>两个只读工具，各管一件事</a:t>
            </a:r>
            <a:endParaRPr/>
          </a:p>
        </p:txBody>
      </p:sp>
      <p:sp>
        <p:nvSpPr>
          <p:cNvPr id="603" name=""/>
          <p:cNvSpPr/>
          <p:nvPr/>
        </p:nvSpPr>
        <p:spPr>
          <a:xfrm rot="0" flipH="0" flipV="0">
            <a:off x="609600" y="1876425"/>
            <a:ext cx="10972800" cy="438150"/>
          </a:xfrm>
          <a:prstGeom prst="roundRect">
            <a:avLst>
              <a:gd name="adj" fmla="val 21739"/>
            </a:avLst>
          </a:prstGeom>
          <a:solidFill>
            <a:srgbClr val="F4F7FA"/>
          </a:solidFill>
          <a:ln/>
        </p:spPr>
        <p:txBody>
          <a:bodyPr/>
          <a:p/>
        </p:txBody>
      </p:sp>
      <p:sp>
        <p:nvSpPr>
          <p:cNvPr id="604" name=""/>
          <p:cNvSpPr/>
          <p:nvPr/>
        </p:nvSpPr>
        <p:spPr>
          <a:xfrm rot="0" flipH="0" flipV="0">
            <a:off x="800100" y="1971675"/>
            <a:ext cx="28575" cy="247650"/>
          </a:xfrm>
          <a:prstGeom prst="rect">
            <a:avLst/>
          </a:prstGeom>
          <a:solidFill>
            <a:srgbClr val="276FBF"/>
          </a:solidFill>
          <a:ln/>
        </p:spPr>
        <p:txBody>
          <a:bodyPr/>
          <a:p/>
        </p:txBody>
      </p:sp>
      <p:sp>
        <p:nvSpPr>
          <p:cNvPr id="605" name="" descr="{&quot;isTemplate&quot;:true,&quot;type&quot;:&quot;text&quot;}"/>
          <p:cNvSpPr txBox="1"/>
          <p:nvPr/>
        </p:nvSpPr>
        <p:spPr>
          <a:xfrm rot="0" flipH="0" flipV="0">
            <a:off x="981075" y="2000250"/>
            <a:ext cx="6096000" cy="190500"/>
          </a:xfrm>
          <a:prstGeom prst="rect"/>
        </p:spPr>
        <p:txBody>
          <a:bodyPr wrap="none" lIns="0" tIns="0" rIns="0" bIns="0"/>
          <a:p>
            <a:pPr>
              <a:lnSpc>
                <a:spcPct val="100000"/>
              </a:lnSpc>
            </a:pPr>
            <a:r>
              <a:rPr lang="zh-CN" sz="1200">
                <a:solidFill>
                  <a:srgbClr val="546779"/>
                </a:solidFill>
                <a:latin typeface="Microsoft YaHei"/>
                <a:ea typeface="Microsoft YaHei"/>
              </a:rPr>
              <a:t>先把查询能力做好，比一下子把任意数据库操作或命令执行暴露给模型更容易理解和验证。</a:t>
            </a:r>
            <a:endParaRPr/>
          </a:p>
        </p:txBody>
      </p:sp>
      <p:sp>
        <p:nvSpPr>
          <p:cNvPr id="606" name=""/>
          <p:cNvSpPr/>
          <p:nvPr/>
        </p:nvSpPr>
        <p:spPr>
          <a:xfrm rot="0" flipH="0" flipV="0">
            <a:off x="609600" y="2505075"/>
            <a:ext cx="5334000" cy="3048000"/>
          </a:xfrm>
          <a:prstGeom prst="roundRect">
            <a:avLst>
              <a:gd name="adj" fmla="val 3750"/>
            </a:avLst>
          </a:prstGeom>
          <a:solidFill>
            <a:srgbClr val="EDF4FC"/>
          </a:solidFill>
          <a:ln/>
        </p:spPr>
        <p:txBody>
          <a:bodyPr/>
          <a:p/>
        </p:txBody>
      </p:sp>
      <p:sp>
        <p:nvSpPr>
          <p:cNvPr id="607" name="" descr="{&quot;isTemplate&quot;:true,&quot;type&quot;:&quot;text&quot;}"/>
          <p:cNvSpPr txBox="1"/>
          <p:nvPr/>
        </p:nvSpPr>
        <p:spPr>
          <a:xfrm rot="0" flipH="0" flipV="0">
            <a:off x="800100" y="2695575"/>
            <a:ext cx="4953000" cy="209550"/>
          </a:xfrm>
          <a:prstGeom prst="rect"/>
        </p:spPr>
        <p:txBody>
          <a:bodyPr wrap="none" lIns="0" tIns="0" rIns="0" bIns="0"/>
          <a:p>
            <a:pPr>
              <a:lnSpc>
                <a:spcPct val="100000"/>
              </a:lnSpc>
            </a:pPr>
            <a:r>
              <a:rPr lang="en-US" sz="1350">
                <a:solidFill>
                  <a:srgbClr val="276FBF"/>
                </a:solidFill>
                <a:latin typeface="Consolas"/>
                <a:ea typeface="Consolas"/>
              </a:rPr>
              <a:t>get_room_availability</a:t>
            </a:r>
            <a:endParaRPr/>
          </a:p>
        </p:txBody>
      </p:sp>
      <p:sp>
        <p:nvSpPr>
          <p:cNvPr id="608" name=""/>
          <p:cNvSpPr/>
          <p:nvPr/>
        </p:nvSpPr>
        <p:spPr>
          <a:xfrm rot="0" flipH="0" flipV="0">
            <a:off x="800100" y="3000375"/>
            <a:ext cx="571500" cy="28575"/>
          </a:xfrm>
          <a:prstGeom prst="rect">
            <a:avLst/>
          </a:prstGeom>
          <a:solidFill>
            <a:srgbClr val="276FBF"/>
          </a:solidFill>
          <a:ln/>
        </p:spPr>
        <p:txBody>
          <a:bodyPr/>
          <a:p/>
        </p:txBody>
      </p:sp>
      <p:sp>
        <p:nvSpPr>
          <p:cNvPr id="609" name="" descr="{&quot;isTemplate&quot;:true,&quot;type&quot;:&quot;text&quot;}"/>
          <p:cNvSpPr txBox="1"/>
          <p:nvPr/>
        </p:nvSpPr>
        <p:spPr>
          <a:xfrm rot="0" flipH="0" flipV="0">
            <a:off x="800100" y="3124200"/>
            <a:ext cx="4953000" cy="295275"/>
          </a:xfrm>
          <a:prstGeom prst="rect"/>
        </p:spPr>
        <p:txBody>
          <a:bodyPr wrap="none" lIns="0" tIns="0" rIns="0" bIns="0"/>
          <a:p>
            <a:pPr>
              <a:lnSpc>
                <a:spcPct val="160000"/>
              </a:lnSpc>
            </a:pPr>
            <a:r>
              <a:rPr lang="zh-CN" sz="1200">
                <a:solidFill>
                  <a:srgbClr val="20344B"/>
                </a:solidFill>
                <a:latin typeface="Microsoft YaHei"/>
                <a:ea typeface="Microsoft YaHei"/>
              </a:rPr>
              <a:t>输入　</a:t>
            </a:r>
            <a:r>
              <a:rPr lang="en-US" sz="1200">
                <a:solidFill>
                  <a:srgbClr val="20344B"/>
                </a:solidFill>
                <a:latin typeface="Microsoft YaHei"/>
                <a:ea typeface="Microsoft YaHei"/>
              </a:rPr>
              <a:t xml:space="preserve">room_id </a:t>
            </a:r>
            <a:r>
              <a:rPr lang="zh-CN" sz="1200">
                <a:solidFill>
                  <a:srgbClr val="20344B"/>
                </a:solidFill>
                <a:latin typeface="Microsoft YaHei"/>
                <a:ea typeface="Microsoft YaHei"/>
              </a:rPr>
              <a:t>与</a:t>
            </a:r>
            <a:r>
              <a:rPr lang="en-US" sz="1200">
                <a:solidFill>
                  <a:srgbClr val="20344B"/>
                </a:solidFill>
                <a:latin typeface="Microsoft YaHei"/>
                <a:ea typeface="Microsoft YaHei"/>
              </a:rPr>
              <a:t xml:space="preserve"> date</a:t>
            </a:r>
            <a:endParaRPr/>
          </a:p>
        </p:txBody>
      </p:sp>
      <p:sp>
        <p:nvSpPr>
          <p:cNvPr id="610" name="" descr="{&quot;isTemplate&quot;:true,&quot;type&quot;:&quot;text&quot;}"/>
          <p:cNvSpPr txBox="1"/>
          <p:nvPr/>
        </p:nvSpPr>
        <p:spPr>
          <a:xfrm rot="0" flipH="0" flipV="0">
            <a:off x="800100" y="3514725"/>
            <a:ext cx="4953000" cy="295275"/>
          </a:xfrm>
          <a:prstGeom prst="rect"/>
        </p:spPr>
        <p:txBody>
          <a:bodyPr wrap="none" lIns="0" tIns="0" rIns="0" bIns="0"/>
          <a:p>
            <a:pPr>
              <a:lnSpc>
                <a:spcPct val="160000"/>
              </a:lnSpc>
            </a:pPr>
            <a:r>
              <a:rPr lang="zh-CN" sz="1200">
                <a:solidFill>
                  <a:srgbClr val="20344B"/>
                </a:solidFill>
                <a:latin typeface="Microsoft YaHei"/>
                <a:ea typeface="Microsoft YaHei"/>
              </a:rPr>
              <a:t>返回　教学预约记录及其查询范围</a:t>
            </a:r>
            <a:endParaRPr/>
          </a:p>
        </p:txBody>
      </p:sp>
      <p:sp>
        <p:nvSpPr>
          <p:cNvPr id="611" name="" descr="{&quot;isTemplate&quot;:true,&quot;type&quot;:&quot;text&quot;}"/>
          <p:cNvSpPr txBox="1"/>
          <p:nvPr/>
        </p:nvSpPr>
        <p:spPr>
          <a:xfrm rot="0" flipH="0" flipV="0">
            <a:off x="800100" y="3905250"/>
            <a:ext cx="4953000" cy="295275"/>
          </a:xfrm>
          <a:prstGeom prst="rect"/>
        </p:spPr>
        <p:txBody>
          <a:bodyPr wrap="none" lIns="0" tIns="0" rIns="0" bIns="0"/>
          <a:p>
            <a:pPr>
              <a:lnSpc>
                <a:spcPct val="160000"/>
              </a:lnSpc>
            </a:pPr>
            <a:r>
              <a:rPr lang="zh-CN" sz="1200">
                <a:solidFill>
                  <a:srgbClr val="546779"/>
                </a:solidFill>
                <a:latin typeface="Microsoft YaHei"/>
                <a:ea typeface="Microsoft YaHei"/>
              </a:rPr>
              <a:t>只读本章材料；不连接真实预约系统，也不修改任何预约。</a:t>
            </a:r>
            <a:endParaRPr/>
          </a:p>
        </p:txBody>
      </p:sp>
      <p:sp>
        <p:nvSpPr>
          <p:cNvPr id="612" name=""/>
          <p:cNvSpPr/>
          <p:nvPr/>
        </p:nvSpPr>
        <p:spPr>
          <a:xfrm rot="0" flipH="0" flipV="0">
            <a:off x="800100" y="4924425"/>
            <a:ext cx="4953000" cy="438150"/>
          </a:xfrm>
          <a:prstGeom prst="roundRect">
            <a:avLst>
              <a:gd name="adj" fmla="val 17391"/>
            </a:avLst>
          </a:prstGeom>
          <a:solidFill>
            <a:srgbClr val="FFFFFF"/>
          </a:solidFill>
          <a:ln/>
        </p:spPr>
        <p:txBody>
          <a:bodyPr/>
          <a:p/>
        </p:txBody>
      </p:sp>
      <p:sp>
        <p:nvSpPr>
          <p:cNvPr id="613" name="" descr="{&quot;isTemplate&quot;:true,&quot;type&quot;:&quot;text&quot;}"/>
          <p:cNvSpPr txBox="1"/>
          <p:nvPr/>
        </p:nvSpPr>
        <p:spPr>
          <a:xfrm rot="0" flipH="0" flipV="0">
            <a:off x="933450" y="5019675"/>
            <a:ext cx="4686300" cy="247650"/>
          </a:xfrm>
          <a:prstGeom prst="rect"/>
        </p:spPr>
        <p:txBody>
          <a:bodyPr wrap="none" lIns="0" tIns="0" rIns="0" bIns="0"/>
          <a:p>
            <a:pPr>
              <a:lnSpc>
                <a:spcPct val="150000"/>
              </a:lnSpc>
            </a:pPr>
            <a:r>
              <a:rPr lang="zh-CN" sz="1050">
                <a:solidFill>
                  <a:srgbClr val="546779"/>
                </a:solidFill>
                <a:latin typeface="Microsoft YaHei"/>
                <a:ea typeface="Microsoft YaHei"/>
              </a:rPr>
              <a:t>同样的输入永远得到同样的输出，行为可以预期。</a:t>
            </a:r>
            <a:endParaRPr/>
          </a:p>
        </p:txBody>
      </p:sp>
      <p:sp>
        <p:nvSpPr>
          <p:cNvPr id="614" name=""/>
          <p:cNvSpPr/>
          <p:nvPr/>
        </p:nvSpPr>
        <p:spPr>
          <a:xfrm rot="0" flipH="0" flipV="0">
            <a:off x="6248400" y="2505075"/>
            <a:ext cx="5334000" cy="3048000"/>
          </a:xfrm>
          <a:prstGeom prst="roundRect">
            <a:avLst>
              <a:gd name="adj" fmla="val 3750"/>
            </a:avLst>
          </a:prstGeom>
          <a:solidFill>
            <a:srgbClr val="ECF7F2"/>
          </a:solidFill>
          <a:ln/>
        </p:spPr>
        <p:txBody>
          <a:bodyPr/>
          <a:p/>
        </p:txBody>
      </p:sp>
      <p:sp>
        <p:nvSpPr>
          <p:cNvPr id="615" name="" descr="{&quot;isTemplate&quot;:true,&quot;type&quot;:&quot;text&quot;}"/>
          <p:cNvSpPr txBox="1"/>
          <p:nvPr/>
        </p:nvSpPr>
        <p:spPr>
          <a:xfrm rot="0" flipH="0" flipV="0">
            <a:off x="6438900" y="2695575"/>
            <a:ext cx="4953000" cy="209550"/>
          </a:xfrm>
          <a:prstGeom prst="rect"/>
        </p:spPr>
        <p:txBody>
          <a:bodyPr wrap="none" lIns="0" tIns="0" rIns="0" bIns="0"/>
          <a:p>
            <a:pPr>
              <a:lnSpc>
                <a:spcPct val="100000"/>
              </a:lnSpc>
            </a:pPr>
            <a:r>
              <a:rPr lang="en-US" sz="1350">
                <a:solidFill>
                  <a:srgbClr val="26816B"/>
                </a:solidFill>
                <a:latin typeface="Consolas"/>
                <a:ea typeface="Consolas"/>
              </a:rPr>
              <a:t>validate_schedule</a:t>
            </a:r>
            <a:endParaRPr/>
          </a:p>
        </p:txBody>
      </p:sp>
      <p:sp>
        <p:nvSpPr>
          <p:cNvPr id="616" name=""/>
          <p:cNvSpPr/>
          <p:nvPr/>
        </p:nvSpPr>
        <p:spPr>
          <a:xfrm rot="0" flipH="0" flipV="0">
            <a:off x="6438900" y="3000375"/>
            <a:ext cx="571500" cy="28575"/>
          </a:xfrm>
          <a:prstGeom prst="rect">
            <a:avLst/>
          </a:prstGeom>
          <a:solidFill>
            <a:srgbClr val="26816B"/>
          </a:solidFill>
          <a:ln/>
        </p:spPr>
        <p:txBody>
          <a:bodyPr/>
          <a:p/>
        </p:txBody>
      </p:sp>
      <p:sp>
        <p:nvSpPr>
          <p:cNvPr id="617" name="" descr="{&quot;isTemplate&quot;:true,&quot;type&quot;:&quot;text&quot;}"/>
          <p:cNvSpPr txBox="1"/>
          <p:nvPr/>
        </p:nvSpPr>
        <p:spPr>
          <a:xfrm rot="0" flipH="0" flipV="0">
            <a:off x="6438900" y="3124200"/>
            <a:ext cx="4953000" cy="295275"/>
          </a:xfrm>
          <a:prstGeom prst="rect"/>
        </p:spPr>
        <p:txBody>
          <a:bodyPr wrap="none" lIns="0" tIns="0" rIns="0" bIns="0"/>
          <a:p>
            <a:pPr>
              <a:lnSpc>
                <a:spcPct val="160000"/>
              </a:lnSpc>
            </a:pPr>
            <a:r>
              <a:rPr lang="zh-CN" sz="1200">
                <a:solidFill>
                  <a:srgbClr val="20344B"/>
                </a:solidFill>
                <a:latin typeface="Microsoft YaHei"/>
                <a:ea typeface="Microsoft YaHei"/>
              </a:rPr>
              <a:t>输入　一份候选方案</a:t>
            </a:r>
            <a:endParaRPr/>
          </a:p>
        </p:txBody>
      </p:sp>
      <p:sp>
        <p:nvSpPr>
          <p:cNvPr id="618" name="" descr="{&quot;isTemplate&quot;:true,&quot;type&quot;:&quot;text&quot;}"/>
          <p:cNvSpPr txBox="1"/>
          <p:nvPr/>
        </p:nvSpPr>
        <p:spPr>
          <a:xfrm rot="0" flipH="0" flipV="0">
            <a:off x="6438900" y="3514725"/>
            <a:ext cx="4953000" cy="295275"/>
          </a:xfrm>
          <a:prstGeom prst="rect"/>
        </p:spPr>
        <p:txBody>
          <a:bodyPr wrap="none" lIns="0" tIns="0" rIns="0" bIns="0"/>
          <a:p>
            <a:pPr>
              <a:lnSpc>
                <a:spcPct val="160000"/>
              </a:lnSpc>
            </a:pPr>
            <a:r>
              <a:rPr lang="zh-CN" sz="1200">
                <a:solidFill>
                  <a:srgbClr val="20344B"/>
                </a:solidFill>
                <a:latin typeface="Microsoft YaHei"/>
                <a:ea typeface="Microsoft YaHei"/>
              </a:rPr>
              <a:t>返回　确定性的检查结果</a:t>
            </a:r>
            <a:endParaRPr/>
          </a:p>
        </p:txBody>
      </p:sp>
      <p:sp>
        <p:nvSpPr>
          <p:cNvPr id="619" name="" descr="{&quot;isTemplate&quot;:true,&quot;type&quot;:&quot;text&quot;}"/>
          <p:cNvSpPr txBox="1"/>
          <p:nvPr/>
        </p:nvSpPr>
        <p:spPr>
          <a:xfrm rot="0" flipH="0" flipV="0">
            <a:off x="6438900" y="3905250"/>
            <a:ext cx="4953000" cy="295275"/>
          </a:xfrm>
          <a:prstGeom prst="rect"/>
        </p:spPr>
        <p:txBody>
          <a:bodyPr wrap="none" lIns="0" tIns="0" rIns="0" bIns="0"/>
          <a:p>
            <a:pPr>
              <a:lnSpc>
                <a:spcPct val="160000"/>
              </a:lnSpc>
            </a:pPr>
            <a:r>
              <a:rPr lang="zh-CN" sz="1200">
                <a:solidFill>
                  <a:srgbClr val="546779"/>
                </a:solidFill>
                <a:latin typeface="Microsoft YaHei"/>
                <a:ea typeface="Microsoft YaHei"/>
              </a:rPr>
              <a:t>十点开始的手作候选会被它发现与已有预约冲突，进而要求修正候选。</a:t>
            </a:r>
            <a:endParaRPr/>
          </a:p>
        </p:txBody>
      </p:sp>
      <p:sp>
        <p:nvSpPr>
          <p:cNvPr id="620" name=""/>
          <p:cNvSpPr/>
          <p:nvPr/>
        </p:nvSpPr>
        <p:spPr>
          <a:xfrm rot="0" flipH="0" flipV="0">
            <a:off x="6438900" y="4924425"/>
            <a:ext cx="4953000" cy="438150"/>
          </a:xfrm>
          <a:prstGeom prst="roundRect">
            <a:avLst>
              <a:gd name="adj" fmla="val 17391"/>
            </a:avLst>
          </a:prstGeom>
          <a:solidFill>
            <a:srgbClr val="FFFFFF"/>
          </a:solidFill>
          <a:ln/>
        </p:spPr>
        <p:txBody>
          <a:bodyPr/>
          <a:p/>
        </p:txBody>
      </p:sp>
      <p:sp>
        <p:nvSpPr>
          <p:cNvPr id="621" name="" descr="{&quot;isTemplate&quot;:true,&quot;type&quot;:&quot;text&quot;}"/>
          <p:cNvSpPr txBox="1"/>
          <p:nvPr/>
        </p:nvSpPr>
        <p:spPr>
          <a:xfrm rot="0" flipH="0" flipV="0">
            <a:off x="6572250" y="5019675"/>
            <a:ext cx="4686300" cy="247650"/>
          </a:xfrm>
          <a:prstGeom prst="rect"/>
        </p:spPr>
        <p:txBody>
          <a:bodyPr wrap="none" lIns="0" tIns="0" rIns="0" bIns="0"/>
          <a:p>
            <a:pPr>
              <a:lnSpc>
                <a:spcPct val="150000"/>
              </a:lnSpc>
            </a:pPr>
            <a:r>
              <a:rPr lang="zh-CN" sz="1050">
                <a:solidFill>
                  <a:srgbClr val="546779"/>
                </a:solidFill>
                <a:latin typeface="Microsoft YaHei"/>
                <a:ea typeface="Microsoft YaHei"/>
              </a:rPr>
              <a:t>它只判定候选，不修改原预约，也不替模型改方案。</a:t>
            </a:r>
            <a:endParaRPr/>
          </a:p>
        </p:txBody>
      </p:sp>
      <p:sp>
        <p:nvSpPr>
          <p:cNvPr id="622"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623"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06 / 26</a:t>
            </a:r>
            <a:endParaRPr/>
          </a:p>
        </p:txBody>
      </p:sp>
    </p:spTree>
  </p:cSld>
</p:sld>
</file>

<file path=ppt/slides/slide7.xml><?xml version="1.0" encoding="utf-8"?>
<p:sld xmlns:p="http://schemas.openxmlformats.org/presentationml/2006/main" xmlns:a="http://schemas.openxmlformats.org/drawingml/2006/main">
  <p:cSld>
    <p:spTree>
      <p:nvGrpSpPr>
        <p:cNvPr id="624" name="" descr="&lt;Slide notes={`一个工具能不能被放心调用，取决于它的定义写得够不够清楚。我用第一个工具的壳子说明三件事。&#10;&#10;一是参数用稳定的编号，不用中文名称。reading、craft、discussion 三个值直接写进枚举里，模型不需要去猜&quot;手作教室&quot;对应哪个值，也不会有第二个写法。&#10;&#10;二是用途和适用范围写在说明里：查什么、只读、数据来自青禾教学材料。说明写清楚了，模型才知道什么时候该用它。&#10;&#10;三是 strict 打开以后，调用参数的结构被约束住，不能临时多塞字段。&#10;&#10;但请注意最后一句：strict 只管参数结构。这个工具允不允许调用、参数值是否有效、当前身份有没有权限读取，仍然要由执行端检查。工具描述本身不会建立认证和授权机制。`}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1　先定义一个清楚且有限的工具&lt;/Text&gt;&#10;            &lt;Text style={{ fontSize: 34, fontWeight: 'bold', color: '#20344B' }}&gt;工具定义写清用途与范围&lt;/Text&gt;&#10;        &lt;/Box&gt;&#10;    &lt;/Box&gt;&#10;&#10;    &lt;Box style={{ height: 540, flexDirection: 'column', justifyContent: 'center', gap: 20 }}&gt;&#10;&#10;        &lt;Box style={{ flexDirection: 'row', gap: 32 }}&gt;&#10;&#10;            &lt;Box style={{ width: 484, height: 352, flexDirection: 'column', gap: 14, justifyContent: 'center' }}&gt;&#10;                &lt;Text style={{ fontSize: 22, fontWeight: 'bold', color: '#20344B' }}&gt;定义要让模型不用猜&lt;/Text&gt;&#10;                &lt;Box style={{ flexDirection: 'row', gap: 12 }}&gt;&#10;                    &lt;Box style={{ width: 4, height: 74, background: '#276FBF' }} /&gt;&#10;                    &lt;Box style={{ flexDirection: 'column', gap: 3 }}&gt;&#10;                        &lt;Text style={{ fontSize: 17, fontWeight: 'bold', color: '#276FBF' }}&gt;参数用稳定 ID&lt;/Text&gt;&#10;                        &lt;Text style={{ fontSize: 15, color: '#546779', lineHeight: 1.55 }}&gt;房间写成 reading、craft、discussion，展示名称另从房间表读取。&lt;/Text&gt;&#10;                    &lt;/Box&gt;&#10;                &lt;/Box&gt;&#10;                &lt;Box style={{ flexDirection: 'row', gap: 12 }}&gt;&#10;                    &lt;Box style={{ width: 4, height: 74, background: '#276FBF' }} /&gt;&#10;                    &lt;Box style={{ flexDirection: 'column', gap: 3 }}&gt;&#10;                        &lt;Text style={{ fontSize: 17, fontWeight: 'bold', color: '#276FBF' }}&gt;说明写清用途与范围&lt;/Text&gt;&#10;                        &lt;Text style={{ fontSize: 15, color: '#546779', lineHeight: 1.55 }}&gt;查指定房间、指定日期的已有预约；只读。&lt;/Text&gt;&#10;                    &lt;/Box&gt;&#10;                &lt;/Box&gt;&#10;                &lt;Box style={{ flexDirection: 'row', gap: 12 }}&gt;&#10;                    &lt;Box style={{ width: 4, height: 74, background: '#276FBF' }} /&gt;&#10;                    &lt;Box style={{ flexDirection: 'column', gap: 3 }}&gt;&#10;                        &lt;Text style={{ fontSize: 17, fontWeight: 'bold', color: '#276FBF' }}&gt;固定日期便于对照&lt;/Text&gt;&#10;                        &lt;Text style={{ fontSize: 15, color: '#546779', lineHeight: 1.55 }}&gt;本章练习固定一天；真实工具应由服务端校验日期范围。&lt;/Text&gt;&#10;                    &lt;/Box&gt;&#10;                &lt;/Box&gt;&#10;            &lt;/Box&gt;&#10;&#10;            &lt;Box style={{ width: 636, height: 352, background: '#F4F7FA', borderRadius: 12, padding: '18px 20px', flexDirection: 'column', justifyContent: 'center' }}&gt;&#10;                &lt;Text style={{ fontSize: 14, color: '#20344B', fontFamily: 'Consolas, monospace', lineHeight: 1.7 }}&gt;{'availability_tool = {'}&lt;/Text&gt;&#10;                &lt;Text style={{ fontSize: 14, color: '#20344B', fontFamily: 'Consolas, monospace', lineHeight: 1.7 }}&gt;{'  &quot;type&quot;: &quot;function&quot;, &quot;name&quot;: &quot;get_room_availability&quot;,'}&lt;/Text&gt;&#10;                &lt;Text style={{ fontSize: 14, color: '#276FBF', fontFamily: 'Consolas, monospace', lineHeight: 1.7 }}&gt;{'  &quot;description&quot;: &quot;查询青禾教学数据中指定房间、'}&lt;/Text&gt;&#10;                &lt;Text style={{ fontSize: 14, color: '#276FBF', fontFamily: 'Consolas, monospace', lineHeight: 1.7 }}&gt;{'                 指定日期的已有预约；只读。&quot;,'}&lt;/Text&gt;&#10;                &lt;Text style={{ fontSize: 14, color: '#CB6B28', fontFamily: 'Consolas, monospace', lineHeight: 1.7 }}&gt;{'  &quot;strict&quot;: True,'}&lt;/Text&gt;&#10;                &lt;Text style={{ fontSize: 14, color: '#20344B', fontFamily: 'Consolas, monospace', lineHeight: 1.7 }}&gt;{'  &quot;parameters&quot;: {'}&lt;/Text&gt;&#10;                &lt;Text style={{ fontSize: 14, color: '#20344B', fontFamily: 'Consolas, monospace', lineHeight: 1.7 }}&gt;{'    &quot;type&quot;: &quot;object&quot;, &quot;properties&quot;: {'}&lt;/Text&gt;&#10;                &lt;Text style={{ fontSize: 14, color: '#20344B', fontFamily: 'Consolas, monospace', lineHeight: 1.7 }}&gt;{'      &quot;room_id&quot;: {&quot;type&quot;: &quot;string&quot;,'}&lt;/Text&gt;&#10;                &lt;Text style={{ fontSize: 14, color: '#26816B', fontFamily: 'Consolas, monospace', lineHeight: 1.7 }}&gt;{'                  &quot;enum&quot;: [&quot;reading&quot;,&quot;craft&quot;,&quot;discussion&quot;]},'}&lt;/Text&gt;&#10;                &lt;Text style={{ fontSize: 14, color: '#20344B', fontFamily: 'Consolas, monospace', lineHeight: 1.7 }}&gt;{'      &quot;date&quot;:    {&quot;type&quot;: &quot;string&quot;, &quot;enum&quot;: [&quot;2026-10-17&quot;]}},'}&lt;/Text&gt;&#10;                &lt;Text style={{ fontSize: 14, color: '#20344B', fontFamily: 'Consolas, monospace', lineHeight: 1.7 }}&gt;{'    &quot;required&quot;: [&quot;room_id&quot;, &quot;date&quot;],'}&lt;/Text&gt;&#10;                &lt;Text style={{ fontSize: 14, color: '#CB6B28', fontFamily: 'Consolas, monospace', lineHeight: 1.7 }}&gt;{'    &quot;additionalProperties&quot;: False}}'}&lt;/Text&gt;&#10;            &lt;/Box&gt;&#10;&#10;        &lt;/Box&gt;&#10;&#10;        &lt;Box style={{ flexDirection: 'row', alignItems: 'center', gap: 16, background: '#FFF4E6', borderRadius: 10, padding: '0 20px', height: 96 }}&gt;&#10;            &lt;Box style={{ width: 4, height: 56, background: '#CB6B28' }} /&gt;&#10;            &lt;Box style={{ flexDirection: 'column', gap: 3 }}&gt;&#10;                &lt;Text style={{ fontSize: 16, fontWeight: 'bold', color: '#CB6B28' }}&gt;strict 约束的是参数结构，不是权限&lt;/Text&gt;&#10;                &lt;Text style={{ fontSize: 15, color: '#546779', lineHeight: 1.5 }}&gt;执行端仍需检查工具是否允许、参数是否有效、当前身份是否有权读取；工具描述本身不会建立认证和授权机制。&lt;/Text&gt;&#10;            &lt;/Box&gt;&#10;        &lt;/Box&gt;&#10;&#10;    &lt;/Box&gt;&#10;&#10;    &lt;Box style={{ height: 40, flexDirection: 'row', justifyContent: 'space-between', alignItems: 'center' }}&gt;&#10;        &lt;Text style={{ fontSize: 14, color: '#546779' }}&gt;2.5 Function Calling&lt;/Text&gt;&#10;        &lt;Text style={{ fontSize: 14, color: '#546779' }}&gt;07 / 26&lt;/Text&gt;&#10;    &lt;/Box&gt;&#10;&#10;&lt;/Slide&gt;&#10;"/>
        <p:cNvGrpSpPr/>
        <p:nvPr/>
      </p:nvGrpSpPr>
      <p:grpSpPr>
        <a:xfrm>
          <a:off x="0" y="0"/>
          <a:ext cx="0" cy="0"/>
          <a:chOff x="0" y="0"/>
          <a:chExt cx="0" cy="0"/>
        </a:xfrm>
      </p:grpSpPr>
      <p:sp>
        <p:nvSpPr>
          <p:cNvPr id="625" name=""/>
          <p:cNvSpPr/>
          <p:nvPr/>
        </p:nvSpPr>
        <p:spPr>
          <a:xfrm rot="0" flipH="0" flipV="0">
            <a:off x="0" y="0"/>
            <a:ext cx="12192000" cy="6858000"/>
          </a:xfrm>
          <a:prstGeom prst="rect">
            <a:avLst/>
          </a:prstGeom>
          <a:solidFill>
            <a:srgbClr val="FFFFFF"/>
          </a:solidFill>
          <a:ln/>
        </p:spPr>
        <p:txBody>
          <a:bodyPr/>
          <a:p/>
        </p:txBody>
      </p:sp>
      <p:sp>
        <p:nvSpPr>
          <p:cNvPr id="626" name=""/>
          <p:cNvSpPr/>
          <p:nvPr/>
        </p:nvSpPr>
        <p:spPr>
          <a:xfrm rot="0" flipH="0" flipV="0">
            <a:off x="609600" y="457200"/>
            <a:ext cx="38100" cy="419100"/>
          </a:xfrm>
          <a:prstGeom prst="rect">
            <a:avLst/>
          </a:prstGeom>
          <a:solidFill>
            <a:srgbClr val="276FBF"/>
          </a:solidFill>
          <a:ln/>
        </p:spPr>
        <p:txBody>
          <a:bodyPr/>
          <a:p/>
        </p:txBody>
      </p:sp>
      <p:sp>
        <p:nvSpPr>
          <p:cNvPr id="627" name="" descr="{&quot;isTemplate&quot;:true,&quot;type&quot;:&quot;text&quot;}"/>
          <p:cNvSpPr txBox="1"/>
          <p:nvPr/>
        </p:nvSpPr>
        <p:spPr>
          <a:xfrm rot="0" flipH="0" flipV="0">
            <a:off x="838200" y="371475"/>
            <a:ext cx="3562350" cy="161925"/>
          </a:xfrm>
          <a:prstGeom prst="rect"/>
        </p:spPr>
        <p:txBody>
          <a:bodyPr wrap="none" lIns="0" tIns="0" rIns="0" bIns="0"/>
          <a:p>
            <a:pPr>
              <a:lnSpc>
                <a:spcPct val="100000"/>
              </a:lnSpc>
            </a:pPr>
            <a:r>
              <a:rPr lang="en-US" sz="1050">
                <a:solidFill>
                  <a:srgbClr val="546779"/>
                </a:solidFill>
                <a:latin typeface="Microsoft YaHei"/>
                <a:ea typeface="Microsoft YaHei"/>
              </a:rPr>
              <a:t>2.5.1</a:t>
            </a:r>
            <a:r>
              <a:rPr lang="zh-CN" sz="1050">
                <a:solidFill>
                  <a:srgbClr val="546779"/>
                </a:solidFill>
                <a:latin typeface="Microsoft YaHei"/>
                <a:ea typeface="Microsoft YaHei"/>
              </a:rPr>
              <a:t>　先定义一个清楚且有限的工具</a:t>
            </a:r>
            <a:endParaRPr/>
          </a:p>
        </p:txBody>
      </p:sp>
      <p:sp>
        <p:nvSpPr>
          <p:cNvPr id="628" name="" descr="{&quot;isTemplate&quot;:true,&quot;type&quot;:&quot;text&quot;}"/>
          <p:cNvSpPr txBox="1"/>
          <p:nvPr/>
        </p:nvSpPr>
        <p:spPr>
          <a:xfrm rot="0" flipH="0" flipV="0">
            <a:off x="838200" y="571500"/>
            <a:ext cx="3562350" cy="390525"/>
          </a:xfrm>
          <a:prstGeom prst="rect"/>
        </p:spPr>
        <p:txBody>
          <a:bodyPr wrap="none" lIns="0" tIns="0" rIns="0" bIns="0"/>
          <a:p>
            <a:pPr>
              <a:lnSpc>
                <a:spcPct val="100000"/>
              </a:lnSpc>
            </a:pPr>
            <a:r>
              <a:rPr lang="zh-CN" sz="2550" b="1">
                <a:solidFill>
                  <a:srgbClr val="20344B"/>
                </a:solidFill>
                <a:latin typeface="Microsoft YaHei"/>
                <a:ea typeface="Microsoft YaHei"/>
              </a:rPr>
              <a:t>工具定义写清用途与范围</a:t>
            </a:r>
            <a:endParaRPr/>
          </a:p>
        </p:txBody>
      </p:sp>
      <p:sp>
        <p:nvSpPr>
          <p:cNvPr id="629" name="" descr="{&quot;isTemplate&quot;:true,&quot;type&quot;:&quot;text&quot;}"/>
          <p:cNvSpPr txBox="1"/>
          <p:nvPr/>
        </p:nvSpPr>
        <p:spPr>
          <a:xfrm rot="0" flipH="0" flipV="0">
            <a:off x="609600" y="1781175"/>
            <a:ext cx="4610100" cy="257175"/>
          </a:xfrm>
          <a:prstGeom prst="rect"/>
        </p:spPr>
        <p:txBody>
          <a:bodyPr wrap="none" lIns="0" tIns="0" rIns="0" bIns="0"/>
          <a:p>
            <a:pPr>
              <a:lnSpc>
                <a:spcPct val="100000"/>
              </a:lnSpc>
            </a:pPr>
            <a:r>
              <a:rPr lang="zh-CN" sz="1650" b="1">
                <a:solidFill>
                  <a:srgbClr val="20344B"/>
                </a:solidFill>
                <a:latin typeface="Microsoft YaHei"/>
                <a:ea typeface="Microsoft YaHei"/>
              </a:rPr>
              <a:t>定义要让模型不用猜</a:t>
            </a:r>
            <a:endParaRPr/>
          </a:p>
        </p:txBody>
      </p:sp>
      <p:sp>
        <p:nvSpPr>
          <p:cNvPr id="630" name=""/>
          <p:cNvSpPr/>
          <p:nvPr/>
        </p:nvSpPr>
        <p:spPr>
          <a:xfrm rot="0" flipH="0" flipV="0">
            <a:off x="609600" y="2171700"/>
            <a:ext cx="38100" cy="704850"/>
          </a:xfrm>
          <a:prstGeom prst="rect">
            <a:avLst/>
          </a:prstGeom>
          <a:solidFill>
            <a:srgbClr val="276FBF"/>
          </a:solidFill>
          <a:ln/>
        </p:spPr>
        <p:txBody>
          <a:bodyPr/>
          <a:p/>
        </p:txBody>
      </p:sp>
      <p:sp>
        <p:nvSpPr>
          <p:cNvPr id="631" name="" descr="{&quot;isTemplate&quot;:true,&quot;type&quot;:&quot;text&quot;}"/>
          <p:cNvSpPr txBox="1"/>
          <p:nvPr/>
        </p:nvSpPr>
        <p:spPr>
          <a:xfrm rot="0" flipH="0" flipV="0">
            <a:off x="762000" y="2171700"/>
            <a:ext cx="4295775" cy="200025"/>
          </a:xfrm>
          <a:prstGeom prst="rect"/>
        </p:spPr>
        <p:txBody>
          <a:bodyPr wrap="none" lIns="0" tIns="0" rIns="0" bIns="0"/>
          <a:p>
            <a:pPr>
              <a:lnSpc>
                <a:spcPct val="100000"/>
              </a:lnSpc>
            </a:pPr>
            <a:r>
              <a:rPr lang="zh-CN" sz="1275" b="1">
                <a:solidFill>
                  <a:srgbClr val="276FBF"/>
                </a:solidFill>
                <a:latin typeface="Microsoft YaHei"/>
                <a:ea typeface="Microsoft YaHei"/>
              </a:rPr>
              <a:t>参数用稳定</a:t>
            </a:r>
            <a:r>
              <a:rPr lang="en-US" sz="1275" b="1">
                <a:solidFill>
                  <a:srgbClr val="276FBF"/>
                </a:solidFill>
                <a:latin typeface="Microsoft YaHei"/>
                <a:ea typeface="Microsoft YaHei"/>
              </a:rPr>
              <a:t xml:space="preserve"> ID</a:t>
            </a:r>
            <a:endParaRPr/>
          </a:p>
        </p:txBody>
      </p:sp>
      <p:sp>
        <p:nvSpPr>
          <p:cNvPr id="632" name="" descr="{&quot;isTemplate&quot;:true,&quot;type&quot;:&quot;text&quot;}"/>
          <p:cNvSpPr txBox="1"/>
          <p:nvPr/>
        </p:nvSpPr>
        <p:spPr>
          <a:xfrm rot="0" flipH="0" flipV="0">
            <a:off x="762000" y="2400300"/>
            <a:ext cx="4295775" cy="266700"/>
          </a:xfrm>
          <a:prstGeom prst="rect"/>
        </p:spPr>
        <p:txBody>
          <a:bodyPr wrap="none" lIns="0" tIns="0" rIns="0" bIns="0"/>
          <a:p>
            <a:pPr>
              <a:lnSpc>
                <a:spcPct val="155000"/>
              </a:lnSpc>
            </a:pPr>
            <a:r>
              <a:rPr lang="zh-CN" sz="1125">
                <a:solidFill>
                  <a:srgbClr val="546779"/>
                </a:solidFill>
                <a:latin typeface="Microsoft YaHei"/>
                <a:ea typeface="Microsoft YaHei"/>
              </a:rPr>
              <a:t>房间写成</a:t>
            </a:r>
            <a:r>
              <a:rPr lang="en-US" sz="1125">
                <a:solidFill>
                  <a:srgbClr val="546779"/>
                </a:solidFill>
                <a:latin typeface="Microsoft YaHei"/>
                <a:ea typeface="Microsoft YaHei"/>
              </a:rPr>
              <a:t xml:space="preserve"> reading</a:t>
            </a:r>
            <a:r>
              <a:rPr lang="zh-CN" sz="1125">
                <a:solidFill>
                  <a:srgbClr val="546779"/>
                </a:solidFill>
                <a:latin typeface="Microsoft YaHei"/>
                <a:ea typeface="Microsoft YaHei"/>
              </a:rPr>
              <a:t>、</a:t>
            </a:r>
            <a:r>
              <a:rPr lang="en-US" sz="1125">
                <a:solidFill>
                  <a:srgbClr val="546779"/>
                </a:solidFill>
                <a:latin typeface="Microsoft YaHei"/>
                <a:ea typeface="Microsoft YaHei"/>
              </a:rPr>
              <a:t>craft</a:t>
            </a:r>
            <a:r>
              <a:rPr lang="zh-CN" sz="1125">
                <a:solidFill>
                  <a:srgbClr val="546779"/>
                </a:solidFill>
                <a:latin typeface="Microsoft YaHei"/>
                <a:ea typeface="Microsoft YaHei"/>
              </a:rPr>
              <a:t>、</a:t>
            </a:r>
            <a:r>
              <a:rPr lang="en-US" sz="1125">
                <a:solidFill>
                  <a:srgbClr val="546779"/>
                </a:solidFill>
                <a:latin typeface="Microsoft YaHei"/>
                <a:ea typeface="Microsoft YaHei"/>
              </a:rPr>
              <a:t>discussion</a:t>
            </a:r>
            <a:r>
              <a:rPr lang="zh-CN" sz="1125">
                <a:solidFill>
                  <a:srgbClr val="546779"/>
                </a:solidFill>
                <a:latin typeface="Microsoft YaHei"/>
                <a:ea typeface="Microsoft YaHei"/>
              </a:rPr>
              <a:t>，展示名称另从房间表读取。</a:t>
            </a:r>
            <a:endParaRPr/>
          </a:p>
        </p:txBody>
      </p:sp>
      <p:sp>
        <p:nvSpPr>
          <p:cNvPr id="633" name=""/>
          <p:cNvSpPr/>
          <p:nvPr/>
        </p:nvSpPr>
        <p:spPr>
          <a:xfrm rot="0" flipH="0" flipV="0">
            <a:off x="609600" y="3009900"/>
            <a:ext cx="38100" cy="704850"/>
          </a:xfrm>
          <a:prstGeom prst="rect">
            <a:avLst/>
          </a:prstGeom>
          <a:solidFill>
            <a:srgbClr val="276FBF"/>
          </a:solidFill>
          <a:ln/>
        </p:spPr>
        <p:txBody>
          <a:bodyPr/>
          <a:p/>
        </p:txBody>
      </p:sp>
      <p:sp>
        <p:nvSpPr>
          <p:cNvPr id="634" name="" descr="{&quot;isTemplate&quot;:true,&quot;type&quot;:&quot;text&quot;}"/>
          <p:cNvSpPr txBox="1"/>
          <p:nvPr/>
        </p:nvSpPr>
        <p:spPr>
          <a:xfrm rot="0" flipH="0" flipV="0">
            <a:off x="762000" y="3009900"/>
            <a:ext cx="2714625" cy="200025"/>
          </a:xfrm>
          <a:prstGeom prst="rect"/>
        </p:spPr>
        <p:txBody>
          <a:bodyPr wrap="none" lIns="0" tIns="0" rIns="0" bIns="0"/>
          <a:p>
            <a:pPr>
              <a:lnSpc>
                <a:spcPct val="100000"/>
              </a:lnSpc>
            </a:pPr>
            <a:r>
              <a:rPr lang="zh-CN" sz="1275" b="1">
                <a:solidFill>
                  <a:srgbClr val="276FBF"/>
                </a:solidFill>
                <a:latin typeface="Microsoft YaHei"/>
                <a:ea typeface="Microsoft YaHei"/>
              </a:rPr>
              <a:t>说明写清用途与范围</a:t>
            </a:r>
            <a:endParaRPr/>
          </a:p>
        </p:txBody>
      </p:sp>
      <p:sp>
        <p:nvSpPr>
          <p:cNvPr id="635" name="" descr="{&quot;isTemplate&quot;:true,&quot;type&quot;:&quot;text&quot;}"/>
          <p:cNvSpPr txBox="1"/>
          <p:nvPr/>
        </p:nvSpPr>
        <p:spPr>
          <a:xfrm rot="0" flipH="0" flipV="0">
            <a:off x="762000" y="3238500"/>
            <a:ext cx="2714625" cy="266700"/>
          </a:xfrm>
          <a:prstGeom prst="rect"/>
        </p:spPr>
        <p:txBody>
          <a:bodyPr wrap="none" lIns="0" tIns="0" rIns="0" bIns="0"/>
          <a:p>
            <a:pPr>
              <a:lnSpc>
                <a:spcPct val="155000"/>
              </a:lnSpc>
            </a:pPr>
            <a:r>
              <a:rPr lang="zh-CN" sz="1125">
                <a:solidFill>
                  <a:srgbClr val="546779"/>
                </a:solidFill>
                <a:latin typeface="Microsoft YaHei"/>
                <a:ea typeface="Microsoft YaHei"/>
              </a:rPr>
              <a:t>查指定房间、指定日期的已有预约；只读。</a:t>
            </a:r>
            <a:endParaRPr/>
          </a:p>
        </p:txBody>
      </p:sp>
      <p:sp>
        <p:nvSpPr>
          <p:cNvPr id="636" name=""/>
          <p:cNvSpPr/>
          <p:nvPr/>
        </p:nvSpPr>
        <p:spPr>
          <a:xfrm rot="0" flipH="0" flipV="0">
            <a:off x="609600" y="3848100"/>
            <a:ext cx="38100" cy="704850"/>
          </a:xfrm>
          <a:prstGeom prst="rect">
            <a:avLst/>
          </a:prstGeom>
          <a:solidFill>
            <a:srgbClr val="276FBF"/>
          </a:solidFill>
          <a:ln/>
        </p:spPr>
        <p:txBody>
          <a:bodyPr/>
          <a:p/>
        </p:txBody>
      </p:sp>
      <p:sp>
        <p:nvSpPr>
          <p:cNvPr id="637" name="" descr="{&quot;isTemplate&quot;:true,&quot;type&quot;:&quot;text&quot;}"/>
          <p:cNvSpPr txBox="1"/>
          <p:nvPr/>
        </p:nvSpPr>
        <p:spPr>
          <a:xfrm rot="0" flipH="0" flipV="0">
            <a:off x="762000" y="3848100"/>
            <a:ext cx="3571875" cy="200025"/>
          </a:xfrm>
          <a:prstGeom prst="rect"/>
        </p:spPr>
        <p:txBody>
          <a:bodyPr wrap="none" lIns="0" tIns="0" rIns="0" bIns="0"/>
          <a:p>
            <a:pPr>
              <a:lnSpc>
                <a:spcPct val="100000"/>
              </a:lnSpc>
            </a:pPr>
            <a:r>
              <a:rPr lang="zh-CN" sz="1275" b="1">
                <a:solidFill>
                  <a:srgbClr val="276FBF"/>
                </a:solidFill>
                <a:latin typeface="Microsoft YaHei"/>
                <a:ea typeface="Microsoft YaHei"/>
              </a:rPr>
              <a:t>固定日期便于对照</a:t>
            </a:r>
            <a:endParaRPr/>
          </a:p>
        </p:txBody>
      </p:sp>
      <p:sp>
        <p:nvSpPr>
          <p:cNvPr id="638" name="" descr="{&quot;isTemplate&quot;:true,&quot;type&quot;:&quot;text&quot;}"/>
          <p:cNvSpPr txBox="1"/>
          <p:nvPr/>
        </p:nvSpPr>
        <p:spPr>
          <a:xfrm rot="0" flipH="0" flipV="0">
            <a:off x="762000" y="4076700"/>
            <a:ext cx="3571875" cy="266700"/>
          </a:xfrm>
          <a:prstGeom prst="rect"/>
        </p:spPr>
        <p:txBody>
          <a:bodyPr wrap="none" lIns="0" tIns="0" rIns="0" bIns="0"/>
          <a:p>
            <a:pPr>
              <a:lnSpc>
                <a:spcPct val="155000"/>
              </a:lnSpc>
            </a:pPr>
            <a:r>
              <a:rPr lang="zh-CN" sz="1125">
                <a:solidFill>
                  <a:srgbClr val="546779"/>
                </a:solidFill>
                <a:latin typeface="Microsoft YaHei"/>
                <a:ea typeface="Microsoft YaHei"/>
              </a:rPr>
              <a:t>本章练习固定一天；真实工具应由服务端校验日期范围。</a:t>
            </a:r>
            <a:endParaRPr/>
          </a:p>
        </p:txBody>
      </p:sp>
      <p:sp>
        <p:nvSpPr>
          <p:cNvPr id="639" name=""/>
          <p:cNvSpPr/>
          <p:nvPr/>
        </p:nvSpPr>
        <p:spPr>
          <a:xfrm rot="0" flipH="0" flipV="0">
            <a:off x="5524500" y="1485900"/>
            <a:ext cx="6057900" cy="3352800"/>
          </a:xfrm>
          <a:prstGeom prst="roundRect">
            <a:avLst>
              <a:gd name="adj" fmla="val 3409"/>
            </a:avLst>
          </a:prstGeom>
          <a:solidFill>
            <a:srgbClr val="F4F7FA"/>
          </a:solidFill>
          <a:ln/>
        </p:spPr>
        <p:txBody>
          <a:bodyPr/>
          <a:p/>
        </p:txBody>
      </p:sp>
      <p:sp>
        <p:nvSpPr>
          <p:cNvPr id="640" name="" descr="{&quot;isTemplate&quot;:true,&quot;type&quot;:&quot;text&quot;}"/>
          <p:cNvSpPr txBox="1"/>
          <p:nvPr/>
        </p:nvSpPr>
        <p:spPr>
          <a:xfrm rot="0" flipH="0" flipV="0">
            <a:off x="5715000" y="1504950"/>
            <a:ext cx="5676900" cy="276225"/>
          </a:xfrm>
          <a:prstGeom prst="rect"/>
        </p:spPr>
        <p:txBody>
          <a:bodyPr wrap="none" lIns="0" tIns="0" rIns="0" bIns="0"/>
          <a:p>
            <a:pPr>
              <a:lnSpc>
                <a:spcPct val="170000"/>
              </a:lnSpc>
            </a:pPr>
            <a:r>
              <a:rPr lang="en-US" sz="1050">
                <a:solidFill>
                  <a:srgbClr val="20344B"/>
                </a:solidFill>
                <a:latin typeface="Consolas"/>
                <a:ea typeface="Consolas"/>
              </a:rPr>
              <a:t>availability_tool = {</a:t>
            </a:r>
            <a:endParaRPr/>
          </a:p>
        </p:txBody>
      </p:sp>
      <p:sp>
        <p:nvSpPr>
          <p:cNvPr id="641" name="" descr="{&quot;isTemplate&quot;:true,&quot;type&quot;:&quot;text&quot;}"/>
          <p:cNvSpPr txBox="1"/>
          <p:nvPr/>
        </p:nvSpPr>
        <p:spPr>
          <a:xfrm rot="0" flipH="0" flipV="0">
            <a:off x="5715000" y="1781175"/>
            <a:ext cx="5676900" cy="276225"/>
          </a:xfrm>
          <a:prstGeom prst="rect"/>
        </p:spPr>
        <p:txBody>
          <a:bodyPr wrap="none" lIns="0" tIns="0" rIns="0" bIns="0"/>
          <a:p>
            <a:pPr>
              <a:lnSpc>
                <a:spcPct val="170000"/>
              </a:lnSpc>
            </a:pPr>
            <a:r>
              <a:rPr lang="en-US" sz="1050">
                <a:solidFill>
                  <a:srgbClr val="20344B"/>
                </a:solidFill>
                <a:latin typeface="Consolas"/>
                <a:ea typeface="Consolas"/>
              </a:rPr>
              <a:t xml:space="preserve">  "type": "function", "name": "get_room_availability",</a:t>
            </a:r>
            <a:endParaRPr/>
          </a:p>
        </p:txBody>
      </p:sp>
      <p:sp>
        <p:nvSpPr>
          <p:cNvPr id="642" name="" descr="{&quot;isTemplate&quot;:true,&quot;type&quot;:&quot;text&quot;}"/>
          <p:cNvSpPr txBox="1"/>
          <p:nvPr/>
        </p:nvSpPr>
        <p:spPr>
          <a:xfrm rot="0" flipH="0" flipV="0">
            <a:off x="5715000" y="2057400"/>
            <a:ext cx="5676900" cy="276225"/>
          </a:xfrm>
          <a:prstGeom prst="rect"/>
        </p:spPr>
        <p:txBody>
          <a:bodyPr wrap="none" lIns="0" tIns="0" rIns="0" bIns="0"/>
          <a:p>
            <a:pPr>
              <a:lnSpc>
                <a:spcPct val="170000"/>
              </a:lnSpc>
            </a:pPr>
            <a:r>
              <a:rPr lang="en-US" sz="1050">
                <a:solidFill>
                  <a:srgbClr val="276FBF"/>
                </a:solidFill>
                <a:latin typeface="Consolas"/>
                <a:ea typeface="Consolas"/>
              </a:rPr>
              <a:t xml:space="preserve">  "description": "</a:t>
            </a:r>
            <a:r>
              <a:rPr lang="zh-CN" sz="1050">
                <a:solidFill>
                  <a:srgbClr val="276FBF"/>
                </a:solidFill>
                <a:latin typeface="Consolas"/>
                <a:ea typeface="Consolas"/>
              </a:rPr>
              <a:t>查询青禾教学数据中指定房间、</a:t>
            </a:r>
            <a:endParaRPr/>
          </a:p>
        </p:txBody>
      </p:sp>
      <p:sp>
        <p:nvSpPr>
          <p:cNvPr id="643" name="" descr="{&quot;isTemplate&quot;:true,&quot;type&quot;:&quot;text&quot;}"/>
          <p:cNvSpPr txBox="1"/>
          <p:nvPr/>
        </p:nvSpPr>
        <p:spPr>
          <a:xfrm rot="0" flipH="0" flipV="0">
            <a:off x="5715000" y="2333625"/>
            <a:ext cx="5676900" cy="276225"/>
          </a:xfrm>
          <a:prstGeom prst="rect"/>
        </p:spPr>
        <p:txBody>
          <a:bodyPr wrap="none" lIns="0" tIns="0" rIns="0" bIns="0"/>
          <a:p>
            <a:pPr>
              <a:lnSpc>
                <a:spcPct val="170000"/>
              </a:lnSpc>
            </a:pPr>
            <a:r>
              <a:rPr lang="en-US" sz="1050">
                <a:solidFill>
                  <a:srgbClr val="276FBF"/>
                </a:solidFill>
                <a:latin typeface="Consolas"/>
                <a:ea typeface="Consolas"/>
              </a:rPr>
              <a:t xml:space="preserve">                 </a:t>
            </a:r>
            <a:r>
              <a:rPr lang="zh-CN" sz="1050">
                <a:solidFill>
                  <a:srgbClr val="276FBF"/>
                </a:solidFill>
                <a:latin typeface="Consolas"/>
                <a:ea typeface="Consolas"/>
              </a:rPr>
              <a:t>指定日期的已有预约；只读。</a:t>
            </a:r>
            <a:r>
              <a:rPr lang="en-US" sz="1050">
                <a:solidFill>
                  <a:srgbClr val="276FBF"/>
                </a:solidFill>
                <a:latin typeface="Consolas"/>
                <a:ea typeface="Consolas"/>
              </a:rPr>
              <a:t>",</a:t>
            </a:r>
            <a:endParaRPr/>
          </a:p>
        </p:txBody>
      </p:sp>
      <p:sp>
        <p:nvSpPr>
          <p:cNvPr id="644" name="" descr="{&quot;isTemplate&quot;:true,&quot;type&quot;:&quot;text&quot;}"/>
          <p:cNvSpPr txBox="1"/>
          <p:nvPr/>
        </p:nvSpPr>
        <p:spPr>
          <a:xfrm rot="0" flipH="0" flipV="0">
            <a:off x="5715000" y="2609850"/>
            <a:ext cx="5676900" cy="276225"/>
          </a:xfrm>
          <a:prstGeom prst="rect"/>
        </p:spPr>
        <p:txBody>
          <a:bodyPr wrap="none" lIns="0" tIns="0" rIns="0" bIns="0"/>
          <a:p>
            <a:pPr>
              <a:lnSpc>
                <a:spcPct val="170000"/>
              </a:lnSpc>
            </a:pPr>
            <a:r>
              <a:rPr lang="en-US" sz="1050">
                <a:solidFill>
                  <a:srgbClr val="CB6B28"/>
                </a:solidFill>
                <a:latin typeface="Consolas"/>
                <a:ea typeface="Consolas"/>
              </a:rPr>
              <a:t xml:space="preserve">  "strict": True,</a:t>
            </a:r>
            <a:endParaRPr/>
          </a:p>
        </p:txBody>
      </p:sp>
      <p:sp>
        <p:nvSpPr>
          <p:cNvPr id="645" name="" descr="{&quot;isTemplate&quot;:true,&quot;type&quot;:&quot;text&quot;}"/>
          <p:cNvSpPr txBox="1"/>
          <p:nvPr/>
        </p:nvSpPr>
        <p:spPr>
          <a:xfrm rot="0" flipH="0" flipV="0">
            <a:off x="5715000" y="2886075"/>
            <a:ext cx="5676900" cy="276225"/>
          </a:xfrm>
          <a:prstGeom prst="rect"/>
        </p:spPr>
        <p:txBody>
          <a:bodyPr wrap="none" lIns="0" tIns="0" rIns="0" bIns="0"/>
          <a:p>
            <a:pPr>
              <a:lnSpc>
                <a:spcPct val="170000"/>
              </a:lnSpc>
            </a:pPr>
            <a:r>
              <a:rPr lang="en-US" sz="1050">
                <a:solidFill>
                  <a:srgbClr val="20344B"/>
                </a:solidFill>
                <a:latin typeface="Consolas"/>
                <a:ea typeface="Consolas"/>
              </a:rPr>
              <a:t xml:space="preserve">  "parameters": {</a:t>
            </a:r>
            <a:endParaRPr/>
          </a:p>
        </p:txBody>
      </p:sp>
      <p:sp>
        <p:nvSpPr>
          <p:cNvPr id="646" name="" descr="{&quot;isTemplate&quot;:true,&quot;type&quot;:&quot;text&quot;}"/>
          <p:cNvSpPr txBox="1"/>
          <p:nvPr/>
        </p:nvSpPr>
        <p:spPr>
          <a:xfrm rot="0" flipH="0" flipV="0">
            <a:off x="5715000" y="3162300"/>
            <a:ext cx="5676900" cy="276225"/>
          </a:xfrm>
          <a:prstGeom prst="rect"/>
        </p:spPr>
        <p:txBody>
          <a:bodyPr wrap="none" lIns="0" tIns="0" rIns="0" bIns="0"/>
          <a:p>
            <a:pPr>
              <a:lnSpc>
                <a:spcPct val="170000"/>
              </a:lnSpc>
            </a:pPr>
            <a:r>
              <a:rPr lang="en-US" sz="1050">
                <a:solidFill>
                  <a:srgbClr val="20344B"/>
                </a:solidFill>
                <a:latin typeface="Consolas"/>
                <a:ea typeface="Consolas"/>
              </a:rPr>
              <a:t xml:space="preserve">    "type": "object", "properties": {</a:t>
            </a:r>
            <a:endParaRPr/>
          </a:p>
        </p:txBody>
      </p:sp>
      <p:sp>
        <p:nvSpPr>
          <p:cNvPr id="647" name="" descr="{&quot;isTemplate&quot;:true,&quot;type&quot;:&quot;text&quot;}"/>
          <p:cNvSpPr txBox="1"/>
          <p:nvPr/>
        </p:nvSpPr>
        <p:spPr>
          <a:xfrm rot="0" flipH="0" flipV="0">
            <a:off x="5715000" y="3438525"/>
            <a:ext cx="5676900" cy="276225"/>
          </a:xfrm>
          <a:prstGeom prst="rect"/>
        </p:spPr>
        <p:txBody>
          <a:bodyPr wrap="none" lIns="0" tIns="0" rIns="0" bIns="0"/>
          <a:p>
            <a:pPr>
              <a:lnSpc>
                <a:spcPct val="170000"/>
              </a:lnSpc>
            </a:pPr>
            <a:r>
              <a:rPr lang="en-US" sz="1050">
                <a:solidFill>
                  <a:srgbClr val="20344B"/>
                </a:solidFill>
                <a:latin typeface="Consolas"/>
                <a:ea typeface="Consolas"/>
              </a:rPr>
              <a:t xml:space="preserve">      "room_id": {"type": "string",</a:t>
            </a:r>
            <a:endParaRPr/>
          </a:p>
        </p:txBody>
      </p:sp>
      <p:sp>
        <p:nvSpPr>
          <p:cNvPr id="648" name="" descr="{&quot;isTemplate&quot;:true,&quot;type&quot;:&quot;text&quot;}"/>
          <p:cNvSpPr txBox="1"/>
          <p:nvPr/>
        </p:nvSpPr>
        <p:spPr>
          <a:xfrm rot="0" flipH="0" flipV="0">
            <a:off x="5715000" y="3714750"/>
            <a:ext cx="5676900" cy="276225"/>
          </a:xfrm>
          <a:prstGeom prst="rect"/>
        </p:spPr>
        <p:txBody>
          <a:bodyPr wrap="none" lIns="0" tIns="0" rIns="0" bIns="0"/>
          <a:p>
            <a:pPr>
              <a:lnSpc>
                <a:spcPct val="170000"/>
              </a:lnSpc>
            </a:pPr>
            <a:r>
              <a:rPr lang="en-US" sz="1050">
                <a:solidFill>
                  <a:srgbClr val="26816B"/>
                </a:solidFill>
                <a:latin typeface="Consolas"/>
                <a:ea typeface="Consolas"/>
              </a:rPr>
              <a:t xml:space="preserve">                  "enum": ["reading","craft","discussion"]},</a:t>
            </a:r>
            <a:endParaRPr/>
          </a:p>
        </p:txBody>
      </p:sp>
      <p:sp>
        <p:nvSpPr>
          <p:cNvPr id="649" name="" descr="{&quot;isTemplate&quot;:true,&quot;type&quot;:&quot;text&quot;}"/>
          <p:cNvSpPr txBox="1"/>
          <p:nvPr/>
        </p:nvSpPr>
        <p:spPr>
          <a:xfrm rot="0" flipH="0" flipV="0">
            <a:off x="5715000" y="3990975"/>
            <a:ext cx="5676900" cy="276225"/>
          </a:xfrm>
          <a:prstGeom prst="rect"/>
        </p:spPr>
        <p:txBody>
          <a:bodyPr wrap="none" lIns="0" tIns="0" rIns="0" bIns="0"/>
          <a:p>
            <a:pPr>
              <a:lnSpc>
                <a:spcPct val="170000"/>
              </a:lnSpc>
            </a:pPr>
            <a:r>
              <a:rPr lang="en-US" sz="1050">
                <a:solidFill>
                  <a:srgbClr val="20344B"/>
                </a:solidFill>
                <a:latin typeface="Consolas"/>
                <a:ea typeface="Consolas"/>
              </a:rPr>
              <a:t xml:space="preserve">      "date":    {"type": "string", "enum": ["2026-10-17"]}},</a:t>
            </a:r>
            <a:endParaRPr/>
          </a:p>
        </p:txBody>
      </p:sp>
      <p:sp>
        <p:nvSpPr>
          <p:cNvPr id="650" name="" descr="{&quot;isTemplate&quot;:true,&quot;type&quot;:&quot;text&quot;}"/>
          <p:cNvSpPr txBox="1"/>
          <p:nvPr/>
        </p:nvSpPr>
        <p:spPr>
          <a:xfrm rot="0" flipH="0" flipV="0">
            <a:off x="5715000" y="4267200"/>
            <a:ext cx="5676900" cy="276225"/>
          </a:xfrm>
          <a:prstGeom prst="rect"/>
        </p:spPr>
        <p:txBody>
          <a:bodyPr wrap="none" lIns="0" tIns="0" rIns="0" bIns="0"/>
          <a:p>
            <a:pPr>
              <a:lnSpc>
                <a:spcPct val="170000"/>
              </a:lnSpc>
            </a:pPr>
            <a:r>
              <a:rPr lang="en-US" sz="1050">
                <a:solidFill>
                  <a:srgbClr val="20344B"/>
                </a:solidFill>
                <a:latin typeface="Consolas"/>
                <a:ea typeface="Consolas"/>
              </a:rPr>
              <a:t xml:space="preserve">    "required": ["room_id", "date"],</a:t>
            </a:r>
            <a:endParaRPr/>
          </a:p>
        </p:txBody>
      </p:sp>
      <p:sp>
        <p:nvSpPr>
          <p:cNvPr id="651" name="" descr="{&quot;isTemplate&quot;:true,&quot;type&quot;:&quot;text&quot;}"/>
          <p:cNvSpPr txBox="1"/>
          <p:nvPr/>
        </p:nvSpPr>
        <p:spPr>
          <a:xfrm rot="0" flipH="0" flipV="0">
            <a:off x="5715000" y="4543425"/>
            <a:ext cx="5676900" cy="276225"/>
          </a:xfrm>
          <a:prstGeom prst="rect"/>
        </p:spPr>
        <p:txBody>
          <a:bodyPr wrap="none" lIns="0" tIns="0" rIns="0" bIns="0"/>
          <a:p>
            <a:pPr>
              <a:lnSpc>
                <a:spcPct val="170000"/>
              </a:lnSpc>
            </a:pPr>
            <a:r>
              <a:rPr lang="en-US" sz="1050">
                <a:solidFill>
                  <a:srgbClr val="CB6B28"/>
                </a:solidFill>
                <a:latin typeface="Consolas"/>
                <a:ea typeface="Consolas"/>
              </a:rPr>
              <a:t xml:space="preserve">    "additionalProperties": False}}</a:t>
            </a:r>
            <a:endParaRPr/>
          </a:p>
        </p:txBody>
      </p:sp>
      <p:sp>
        <p:nvSpPr>
          <p:cNvPr id="652" name=""/>
          <p:cNvSpPr/>
          <p:nvPr/>
        </p:nvSpPr>
        <p:spPr>
          <a:xfrm rot="0" flipH="0" flipV="0">
            <a:off x="609600" y="5029200"/>
            <a:ext cx="10972800" cy="914400"/>
          </a:xfrm>
          <a:prstGeom prst="roundRect">
            <a:avLst>
              <a:gd name="adj" fmla="val 10417"/>
            </a:avLst>
          </a:prstGeom>
          <a:solidFill>
            <a:srgbClr val="FFF4E6"/>
          </a:solidFill>
          <a:ln/>
        </p:spPr>
        <p:txBody>
          <a:bodyPr/>
          <a:p/>
        </p:txBody>
      </p:sp>
      <p:sp>
        <p:nvSpPr>
          <p:cNvPr id="653" name=""/>
          <p:cNvSpPr/>
          <p:nvPr/>
        </p:nvSpPr>
        <p:spPr>
          <a:xfrm rot="0" flipH="0" flipV="0">
            <a:off x="800100" y="5219700"/>
            <a:ext cx="38100" cy="533400"/>
          </a:xfrm>
          <a:prstGeom prst="rect">
            <a:avLst/>
          </a:prstGeom>
          <a:solidFill>
            <a:srgbClr val="CB6B28"/>
          </a:solidFill>
          <a:ln/>
        </p:spPr>
        <p:txBody>
          <a:bodyPr/>
          <a:p/>
        </p:txBody>
      </p:sp>
      <p:sp>
        <p:nvSpPr>
          <p:cNvPr id="654" name="" descr="{&quot;isTemplate&quot;:true,&quot;type&quot;:&quot;text&quot;}"/>
          <p:cNvSpPr txBox="1"/>
          <p:nvPr/>
        </p:nvSpPr>
        <p:spPr>
          <a:xfrm rot="0" flipH="0" flipV="0">
            <a:off x="990600" y="5248275"/>
            <a:ext cx="7143750" cy="190500"/>
          </a:xfrm>
          <a:prstGeom prst="rect"/>
        </p:spPr>
        <p:txBody>
          <a:bodyPr wrap="none" lIns="0" tIns="0" rIns="0" bIns="0"/>
          <a:p>
            <a:pPr>
              <a:lnSpc>
                <a:spcPct val="100000"/>
              </a:lnSpc>
            </a:pPr>
            <a:r>
              <a:rPr lang="en-US" sz="1200" b="1">
                <a:solidFill>
                  <a:srgbClr val="CB6B28"/>
                </a:solidFill>
                <a:latin typeface="Microsoft YaHei"/>
                <a:ea typeface="Microsoft YaHei"/>
              </a:rPr>
              <a:t xml:space="preserve">strict </a:t>
            </a:r>
            <a:r>
              <a:rPr lang="zh-CN" sz="1200" b="1">
                <a:solidFill>
                  <a:srgbClr val="CB6B28"/>
                </a:solidFill>
                <a:latin typeface="Microsoft YaHei"/>
                <a:ea typeface="Microsoft YaHei"/>
              </a:rPr>
              <a:t>约束的是参数结构，不是权限</a:t>
            </a:r>
            <a:endParaRPr/>
          </a:p>
        </p:txBody>
      </p:sp>
      <p:sp>
        <p:nvSpPr>
          <p:cNvPr id="655" name="" descr="{&quot;isTemplate&quot;:true,&quot;type&quot;:&quot;text&quot;}"/>
          <p:cNvSpPr txBox="1"/>
          <p:nvPr/>
        </p:nvSpPr>
        <p:spPr>
          <a:xfrm rot="0" flipH="0" flipV="0">
            <a:off x="990600" y="5467350"/>
            <a:ext cx="7143750" cy="257175"/>
          </a:xfrm>
          <a:prstGeom prst="rect"/>
        </p:spPr>
        <p:txBody>
          <a:bodyPr wrap="none" lIns="0" tIns="0" rIns="0" bIns="0"/>
          <a:p>
            <a:pPr>
              <a:lnSpc>
                <a:spcPct val="150000"/>
              </a:lnSpc>
            </a:pPr>
            <a:r>
              <a:rPr lang="zh-CN" sz="1125">
                <a:solidFill>
                  <a:srgbClr val="546779"/>
                </a:solidFill>
                <a:latin typeface="Microsoft YaHei"/>
                <a:ea typeface="Microsoft YaHei"/>
              </a:rPr>
              <a:t>执行端仍需检查工具是否允许、参数是否有效、当前身份是否有权读取；工具描述本身不会建立认证和授权机制。</a:t>
            </a:r>
            <a:endParaRPr/>
          </a:p>
        </p:txBody>
      </p:sp>
      <p:sp>
        <p:nvSpPr>
          <p:cNvPr id="656"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657"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07 / 26</a:t>
            </a:r>
            <a:endParaRPr/>
          </a:p>
        </p:txBody>
      </p:sp>
    </p:spTree>
  </p:cSld>
</p:sld>
</file>

<file path=ppt/slides/slide8.xml><?xml version="1.0" encoding="utf-8"?>
<p:sld xmlns:p="http://schemas.openxmlformats.org/presentationml/2006/main" xmlns:a="http://schemas.openxmlformats.org/drawingml/2006/main">
  <p:cSld>
    <p:spTree>
      <p:nvGrpSpPr>
        <p:cNvPr id="658" name="" descr="&lt;Slide notes={`工具定义好了，接下来要看的是：一次调用结束以后，我们手上留下了什么。&#10;&#10;模型提出查询手作室预约的请求，回来的条目类型是 function_call。这个条目里带着工具名、JSON 编码的参数，还有一个 call_id。&#10;&#10;这三样东西各有用处。工具名说明要调哪个函数；参数说明这次查询的条件；call_id 则是这次调用的身份凭证。&#10;&#10;为什么凭证这么重要？因为一次响应里可能包含多个调用。如果同时查三个房间，就会回来三条 function_call。结果回填的时候，必须让每条结果都能认回它原来那一次调用，否则数据就会串位。&#10;&#10;判断一条工具结果值不值得信，先看它能不能被关联回原来那次调用。`} style={{ width: 1280, height: 720, background: '#FFFFFF', flexDirection: 'column', padding: '20px 64px' }}&gt;&#10;&#10;    &lt;Box style={{ height: 540, flexDirection: 'column', justifyContent: 'center', gap: 20 }}&gt;&#10;&#10;        &lt;Box style={{ flexDirection: 'row', alignItems: 'center', gap: 16 }}&gt;&#10;            &lt;Box style={{ width: 56, height: 56, borderRadius: 10, background: '#276FBF', justifyContent: 'center', alignItems: 'center' }}&gt;&#10;                &lt;Text style={{ fontSize: 28, fontWeight: 'bold', color: '#FFFFFF' }}&gt;02&lt;/Text&gt;&#10;            &lt;/Box&gt;&#10;            &lt;Text style={{ fontSize: 16, color: '#546779' }}&gt;2.5.2&lt;/Text&gt;&#10;        &lt;/Box&gt;&#10;&#10;        &lt;Text style={{ fontSize: 56, fontWeight: 'bold', color: '#20344B', lineHeight: 1.15 }}&gt;一轮调用包含哪些证据&lt;/Text&gt;&#10;&#10;        &lt;Box style={{ width: 640, height: 4, background: '#276FBF' }} /&gt;&#10;&#10;        &lt;Text style={{ fontSize: 19, color: '#546779', lineHeight: 1.7 }}&gt;工具结果值不值得信，先看它能不能被关联回原来那次调用。&lt;/Text&gt;&#10;&#10;        &lt;Box style={{ marginTop: 8, flexDirection: 'row', justifyContent: 'center', gap: 16 }}&gt;&#10;            &lt;Box style={{ width: 280, height: 56, background: '#EDF4FC', borderRadius: 8, justifyContent: 'center', alignItems: 'center' }}&gt;&#10;                &lt;Text style={{ fontSize: 16, fontWeight: 'bold', color: '#276FBF', fontFamily: 'Consolas, monospace' }}&gt;name&lt;/Text&gt;&#10;            &lt;/Box&gt;&#10;            &lt;Box style={{ width: 280, height: 56, background: '#EDF4FC', borderRadius: 8, justifyContent: 'center', alignItems: 'center' }}&gt;&#10;                &lt;Text style={{ fontSize: 16, fontWeight: 'bold', color: '#276FBF', fontFamily: 'Consolas, monospace' }}&gt;arguments&lt;/Text&gt;&#10;            &lt;/Box&gt;&#10;            &lt;Box style={{ width: 280, height: 56, background: '#ECF7F2', borderRadius: 8, justifyContent: 'center', alignItems: 'center' }}&gt;&#10;                &lt;Text style={{ fontSize: 16, fontWeight: 'bold', color: '#26816B', fontFamily: 'Consolas, monospace' }}&gt;call_id&lt;/Text&gt;&#10;            &lt;/Box&gt;&#10;        &lt;/Box&gt;&#10;&#10;        &lt;Box style={{ flexDirection: 'row', justifyContent: 'center' }}&gt;&#10;            &lt;Box style={{ width: 300, height: 26, justifyContent: 'center', alignItems: 'center' }}&gt;&lt;Text style={{ fontSize: 18, color: '#26816B' }}&gt;↓&lt;/Text&gt;&lt;/Box&gt;&#10;        &lt;/Box&gt;&#10;&#10;        &lt;Box style={{ flexDirection: 'row', justifyContent: 'center' }}&gt;&#10;            &lt;Box style={{ width: 620, height: 56, background: '#F4F7FA', borderRadius: 8, justifyContent: 'center', alignItems: 'center' }}&gt;&#10;                &lt;Text style={{ fontSize: 17, fontWeight: 'bold', color: '#20344B' }}&gt;一次响应可能含多个调用，必须逐条关联&lt;/Text&gt;&#10;            &lt;/Box&gt;&#10;        &lt;/Box&gt;&#10;&#10;    &lt;/Box&gt;&#10;&#10;    &lt;Box style={{ height: 40, flexDirection: 'row', justifyContent: 'space-between', alignItems: 'center' }}&gt;&#10;        &lt;Text style={{ fontSize: 14, color: '#546779' }}&gt;2.5 Function Calling&lt;/Text&gt;&#10;        &lt;Text style={{ fontSize: 14, color: '#546779' }}&gt;08 / 26&lt;/Text&gt;&#10;    &lt;/Box&gt;&#10;&#10;&lt;/Slide&gt;&#10;"/>
        <p:cNvGrpSpPr/>
        <p:nvPr/>
      </p:nvGrpSpPr>
      <p:grpSpPr>
        <a:xfrm>
          <a:off x="0" y="0"/>
          <a:ext cx="0" cy="0"/>
          <a:chOff x="0" y="0"/>
          <a:chExt cx="0" cy="0"/>
        </a:xfrm>
      </p:grpSpPr>
      <p:sp>
        <p:nvSpPr>
          <p:cNvPr id="659" name=""/>
          <p:cNvSpPr/>
          <p:nvPr/>
        </p:nvSpPr>
        <p:spPr>
          <a:xfrm rot="0" flipH="0" flipV="0">
            <a:off x="0" y="0"/>
            <a:ext cx="12192000" cy="6858000"/>
          </a:xfrm>
          <a:prstGeom prst="rect">
            <a:avLst/>
          </a:prstGeom>
          <a:solidFill>
            <a:srgbClr val="FFFFFF"/>
          </a:solidFill>
          <a:ln/>
        </p:spPr>
        <p:txBody>
          <a:bodyPr/>
          <a:p/>
        </p:txBody>
      </p:sp>
      <p:sp>
        <p:nvSpPr>
          <p:cNvPr id="660" name=""/>
          <p:cNvSpPr/>
          <p:nvPr/>
        </p:nvSpPr>
        <p:spPr>
          <a:xfrm rot="0" flipH="0" flipV="0">
            <a:off x="609600" y="657225"/>
            <a:ext cx="533400" cy="533400"/>
          </a:xfrm>
          <a:prstGeom prst="roundRect">
            <a:avLst>
              <a:gd name="adj" fmla="val 17857"/>
            </a:avLst>
          </a:prstGeom>
          <a:solidFill>
            <a:srgbClr val="276FBF"/>
          </a:solidFill>
          <a:ln/>
        </p:spPr>
        <p:txBody>
          <a:bodyPr/>
          <a:p/>
        </p:txBody>
      </p:sp>
      <p:sp>
        <p:nvSpPr>
          <p:cNvPr id="661" name="" descr="{&quot;isTemplate&quot;:true,&quot;type&quot;:&quot;text&quot;}"/>
          <p:cNvSpPr txBox="1"/>
          <p:nvPr/>
        </p:nvSpPr>
        <p:spPr>
          <a:xfrm rot="0" flipH="0" flipV="0">
            <a:off x="714375" y="762000"/>
            <a:ext cx="333375" cy="323850"/>
          </a:xfrm>
          <a:prstGeom prst="rect"/>
        </p:spPr>
        <p:txBody>
          <a:bodyPr wrap="none" lIns="0" tIns="0" rIns="0" bIns="0"/>
          <a:p>
            <a:pPr>
              <a:lnSpc>
                <a:spcPct val="100000"/>
              </a:lnSpc>
            </a:pPr>
            <a:r>
              <a:rPr lang="en-US" sz="2100" b="1">
                <a:solidFill>
                  <a:srgbClr val="FFFFFF"/>
                </a:solidFill>
                <a:latin typeface="Microsoft YaHei"/>
                <a:ea typeface="Microsoft YaHei"/>
              </a:rPr>
              <a:t>02</a:t>
            </a:r>
            <a:endParaRPr/>
          </a:p>
        </p:txBody>
      </p:sp>
      <p:sp>
        <p:nvSpPr>
          <p:cNvPr id="662" name="" descr="{&quot;isTemplate&quot;:true,&quot;type&quot;:&quot;text&quot;}"/>
          <p:cNvSpPr txBox="1"/>
          <p:nvPr/>
        </p:nvSpPr>
        <p:spPr>
          <a:xfrm rot="0" flipH="0" flipV="0">
            <a:off x="1295400" y="828675"/>
            <a:ext cx="342900" cy="190500"/>
          </a:xfrm>
          <a:prstGeom prst="rect"/>
        </p:spPr>
        <p:txBody>
          <a:bodyPr wrap="none" lIns="0" tIns="0" rIns="0" bIns="0"/>
          <a:p>
            <a:pPr>
              <a:lnSpc>
                <a:spcPct val="100000"/>
              </a:lnSpc>
            </a:pPr>
            <a:r>
              <a:rPr lang="en-US" sz="1200">
                <a:solidFill>
                  <a:srgbClr val="546779"/>
                </a:solidFill>
                <a:latin typeface="Microsoft YaHei"/>
                <a:ea typeface="Microsoft YaHei"/>
              </a:rPr>
              <a:t>2.5.2</a:t>
            </a:r>
            <a:endParaRPr/>
          </a:p>
        </p:txBody>
      </p:sp>
      <p:sp>
        <p:nvSpPr>
          <p:cNvPr id="663" name="" descr="{&quot;isTemplate&quot;:true,&quot;type&quot;:&quot;text&quot;}"/>
          <p:cNvSpPr txBox="1"/>
          <p:nvPr/>
        </p:nvSpPr>
        <p:spPr>
          <a:xfrm rot="0" flipH="0" flipV="0">
            <a:off x="609600" y="1381125"/>
            <a:ext cx="10972800" cy="742950"/>
          </a:xfrm>
          <a:prstGeom prst="rect"/>
        </p:spPr>
        <p:txBody>
          <a:bodyPr wrap="none" lIns="0" tIns="0" rIns="0" bIns="0"/>
          <a:p>
            <a:pPr>
              <a:lnSpc>
                <a:spcPct val="114999"/>
              </a:lnSpc>
            </a:pPr>
            <a:r>
              <a:rPr lang="zh-CN" sz="4200" b="1">
                <a:solidFill>
                  <a:srgbClr val="20344B"/>
                </a:solidFill>
                <a:latin typeface="Microsoft YaHei"/>
                <a:ea typeface="Microsoft YaHei"/>
              </a:rPr>
              <a:t>一轮调用包含哪些证据</a:t>
            </a:r>
            <a:endParaRPr/>
          </a:p>
        </p:txBody>
      </p:sp>
      <p:sp>
        <p:nvSpPr>
          <p:cNvPr id="664" name=""/>
          <p:cNvSpPr/>
          <p:nvPr/>
        </p:nvSpPr>
        <p:spPr>
          <a:xfrm rot="0" flipH="0" flipV="0">
            <a:off x="609600" y="2314575"/>
            <a:ext cx="6096000" cy="38100"/>
          </a:xfrm>
          <a:prstGeom prst="rect">
            <a:avLst/>
          </a:prstGeom>
          <a:solidFill>
            <a:srgbClr val="276FBF"/>
          </a:solidFill>
          <a:ln/>
        </p:spPr>
        <p:txBody>
          <a:bodyPr/>
          <a:p/>
        </p:txBody>
      </p:sp>
      <p:sp>
        <p:nvSpPr>
          <p:cNvPr id="665" name="" descr="{&quot;isTemplate&quot;:true,&quot;type&quot;:&quot;text&quot;}"/>
          <p:cNvSpPr txBox="1"/>
          <p:nvPr/>
        </p:nvSpPr>
        <p:spPr>
          <a:xfrm rot="0" flipH="0" flipV="0">
            <a:off x="609600" y="2543175"/>
            <a:ext cx="10972800" cy="371475"/>
          </a:xfrm>
          <a:prstGeom prst="rect"/>
        </p:spPr>
        <p:txBody>
          <a:bodyPr wrap="none" lIns="0" tIns="0" rIns="0" bIns="0"/>
          <a:p>
            <a:pPr>
              <a:lnSpc>
                <a:spcPct val="170000"/>
              </a:lnSpc>
            </a:pPr>
            <a:r>
              <a:rPr lang="zh-CN" sz="1425">
                <a:solidFill>
                  <a:srgbClr val="546779"/>
                </a:solidFill>
                <a:latin typeface="Microsoft YaHei"/>
                <a:ea typeface="Microsoft YaHei"/>
              </a:rPr>
              <a:t>工具结果值不值得信，先看它能不能被关联回原来那次调用。</a:t>
            </a:r>
            <a:endParaRPr/>
          </a:p>
        </p:txBody>
      </p:sp>
      <p:sp>
        <p:nvSpPr>
          <p:cNvPr id="666" name=""/>
          <p:cNvSpPr/>
          <p:nvPr/>
        </p:nvSpPr>
        <p:spPr>
          <a:xfrm rot="0" flipH="0" flipV="0">
            <a:off x="1943100" y="3181350"/>
            <a:ext cx="2667000" cy="533400"/>
          </a:xfrm>
          <a:prstGeom prst="roundRect">
            <a:avLst>
              <a:gd name="adj" fmla="val 14286"/>
            </a:avLst>
          </a:prstGeom>
          <a:solidFill>
            <a:srgbClr val="EDF4FC"/>
          </a:solidFill>
          <a:ln/>
        </p:spPr>
        <p:txBody>
          <a:bodyPr/>
          <a:p/>
        </p:txBody>
      </p:sp>
      <p:sp>
        <p:nvSpPr>
          <p:cNvPr id="667" name="" descr="{&quot;isTemplate&quot;:true,&quot;type&quot;:&quot;text&quot;}"/>
          <p:cNvSpPr txBox="1"/>
          <p:nvPr/>
        </p:nvSpPr>
        <p:spPr>
          <a:xfrm rot="0" flipH="0" flipV="0">
            <a:off x="3105150" y="3352800"/>
            <a:ext cx="342900" cy="190500"/>
          </a:xfrm>
          <a:prstGeom prst="rect"/>
        </p:spPr>
        <p:txBody>
          <a:bodyPr wrap="none" lIns="0" tIns="0" rIns="0" bIns="0"/>
          <a:p>
            <a:pPr>
              <a:lnSpc>
                <a:spcPct val="100000"/>
              </a:lnSpc>
            </a:pPr>
            <a:r>
              <a:rPr lang="en-US" sz="1200" b="1">
                <a:solidFill>
                  <a:srgbClr val="276FBF"/>
                </a:solidFill>
                <a:latin typeface="Consolas"/>
                <a:ea typeface="Consolas"/>
              </a:rPr>
              <a:t>name</a:t>
            </a:r>
            <a:endParaRPr/>
          </a:p>
        </p:txBody>
      </p:sp>
      <p:sp>
        <p:nvSpPr>
          <p:cNvPr id="668" name=""/>
          <p:cNvSpPr/>
          <p:nvPr/>
        </p:nvSpPr>
        <p:spPr>
          <a:xfrm rot="0" flipH="0" flipV="0">
            <a:off x="4762500" y="3181350"/>
            <a:ext cx="2667000" cy="533400"/>
          </a:xfrm>
          <a:prstGeom prst="roundRect">
            <a:avLst>
              <a:gd name="adj" fmla="val 14286"/>
            </a:avLst>
          </a:prstGeom>
          <a:solidFill>
            <a:srgbClr val="EDF4FC"/>
          </a:solidFill>
          <a:ln/>
        </p:spPr>
        <p:txBody>
          <a:bodyPr/>
          <a:p/>
        </p:txBody>
      </p:sp>
      <p:sp>
        <p:nvSpPr>
          <p:cNvPr id="669" name="" descr="{&quot;isTemplate&quot;:true,&quot;type&quot;:&quot;text&quot;}"/>
          <p:cNvSpPr txBox="1"/>
          <p:nvPr/>
        </p:nvSpPr>
        <p:spPr>
          <a:xfrm rot="0" flipH="0" flipV="0">
            <a:off x="5715000" y="3352800"/>
            <a:ext cx="762000" cy="190500"/>
          </a:xfrm>
          <a:prstGeom prst="rect"/>
        </p:spPr>
        <p:txBody>
          <a:bodyPr wrap="none" lIns="0" tIns="0" rIns="0" bIns="0"/>
          <a:p>
            <a:pPr>
              <a:lnSpc>
                <a:spcPct val="100000"/>
              </a:lnSpc>
            </a:pPr>
            <a:r>
              <a:rPr lang="en-US" sz="1200" b="1">
                <a:solidFill>
                  <a:srgbClr val="276FBF"/>
                </a:solidFill>
                <a:latin typeface="Consolas"/>
                <a:ea typeface="Consolas"/>
              </a:rPr>
              <a:t>arguments</a:t>
            </a:r>
            <a:endParaRPr/>
          </a:p>
        </p:txBody>
      </p:sp>
      <p:sp>
        <p:nvSpPr>
          <p:cNvPr id="670" name=""/>
          <p:cNvSpPr/>
          <p:nvPr/>
        </p:nvSpPr>
        <p:spPr>
          <a:xfrm rot="0" flipH="0" flipV="0">
            <a:off x="7581900" y="3181350"/>
            <a:ext cx="2667000" cy="533400"/>
          </a:xfrm>
          <a:prstGeom prst="roundRect">
            <a:avLst>
              <a:gd name="adj" fmla="val 14286"/>
            </a:avLst>
          </a:prstGeom>
          <a:solidFill>
            <a:srgbClr val="ECF7F2"/>
          </a:solidFill>
          <a:ln/>
        </p:spPr>
        <p:txBody>
          <a:bodyPr/>
          <a:p/>
        </p:txBody>
      </p:sp>
      <p:sp>
        <p:nvSpPr>
          <p:cNvPr id="671" name="" descr="{&quot;isTemplate&quot;:true,&quot;type&quot;:&quot;text&quot;}"/>
          <p:cNvSpPr txBox="1"/>
          <p:nvPr/>
        </p:nvSpPr>
        <p:spPr>
          <a:xfrm rot="0" flipH="0" flipV="0">
            <a:off x="8620125" y="3352800"/>
            <a:ext cx="590550" cy="190500"/>
          </a:xfrm>
          <a:prstGeom prst="rect"/>
        </p:spPr>
        <p:txBody>
          <a:bodyPr wrap="none" lIns="0" tIns="0" rIns="0" bIns="0"/>
          <a:p>
            <a:pPr>
              <a:lnSpc>
                <a:spcPct val="100000"/>
              </a:lnSpc>
            </a:pPr>
            <a:r>
              <a:rPr lang="en-US" sz="1200" b="1">
                <a:solidFill>
                  <a:srgbClr val="26816B"/>
                </a:solidFill>
                <a:latin typeface="Consolas"/>
                <a:ea typeface="Consolas"/>
              </a:rPr>
              <a:t>call_id</a:t>
            </a:r>
            <a:endParaRPr/>
          </a:p>
        </p:txBody>
      </p:sp>
      <p:sp>
        <p:nvSpPr>
          <p:cNvPr id="672" name="" descr="{&quot;isTemplate&quot;:true,&quot;type&quot;:&quot;text&quot;}"/>
          <p:cNvSpPr txBox="1"/>
          <p:nvPr/>
        </p:nvSpPr>
        <p:spPr>
          <a:xfrm rot="0" flipH="0" flipV="0">
            <a:off x="6057900" y="3924300"/>
            <a:ext cx="85725" cy="209550"/>
          </a:xfrm>
          <a:prstGeom prst="rect"/>
        </p:spPr>
        <p:txBody>
          <a:bodyPr wrap="none" lIns="0" tIns="0" rIns="0" bIns="0"/>
          <a:p>
            <a:pPr>
              <a:lnSpc>
                <a:spcPct val="100000"/>
              </a:lnSpc>
            </a:pPr>
            <a:r>
              <a:rPr sz="1350">
                <a:solidFill>
                  <a:srgbClr val="26816B"/>
                </a:solidFill>
                <a:latin typeface="Microsoft YaHei"/>
                <a:ea typeface="Microsoft YaHei"/>
              </a:rPr>
              <a:t>↓</a:t>
            </a:r>
            <a:endParaRPr/>
          </a:p>
        </p:txBody>
      </p:sp>
      <p:sp>
        <p:nvSpPr>
          <p:cNvPr id="673" name=""/>
          <p:cNvSpPr/>
          <p:nvPr/>
        </p:nvSpPr>
        <p:spPr>
          <a:xfrm rot="0" flipH="0" flipV="0">
            <a:off x="3143250" y="4343400"/>
            <a:ext cx="5905500" cy="533400"/>
          </a:xfrm>
          <a:prstGeom prst="roundRect">
            <a:avLst>
              <a:gd name="adj" fmla="val 14286"/>
            </a:avLst>
          </a:prstGeom>
          <a:solidFill>
            <a:srgbClr val="F4F7FA"/>
          </a:solidFill>
          <a:ln/>
        </p:spPr>
        <p:txBody>
          <a:bodyPr/>
          <a:p/>
        </p:txBody>
      </p:sp>
      <p:sp>
        <p:nvSpPr>
          <p:cNvPr id="674" name="" descr="{&quot;isTemplate&quot;:true,&quot;type&quot;:&quot;text&quot;}"/>
          <p:cNvSpPr txBox="1"/>
          <p:nvPr/>
        </p:nvSpPr>
        <p:spPr>
          <a:xfrm rot="0" flipH="0" flipV="0">
            <a:off x="4638675" y="4514850"/>
            <a:ext cx="2914650" cy="200025"/>
          </a:xfrm>
          <a:prstGeom prst="rect"/>
        </p:spPr>
        <p:txBody>
          <a:bodyPr wrap="none" lIns="0" tIns="0" rIns="0" bIns="0"/>
          <a:p>
            <a:pPr>
              <a:lnSpc>
                <a:spcPct val="100000"/>
              </a:lnSpc>
            </a:pPr>
            <a:r>
              <a:rPr lang="zh-CN" sz="1275" b="1">
                <a:solidFill>
                  <a:srgbClr val="20344B"/>
                </a:solidFill>
                <a:latin typeface="Microsoft YaHei"/>
                <a:ea typeface="Microsoft YaHei"/>
              </a:rPr>
              <a:t>一次响应可能含多个调用，必须逐条关联</a:t>
            </a:r>
            <a:endParaRPr/>
          </a:p>
        </p:txBody>
      </p:sp>
      <p:sp>
        <p:nvSpPr>
          <p:cNvPr id="675" name="" descr="{&quot;isTemplate&quot;:true,&quot;type&quot;:&quot;text&quot;}"/>
          <p:cNvSpPr txBox="1"/>
          <p:nvPr/>
        </p:nvSpPr>
        <p:spPr>
          <a:xfrm rot="0" flipH="0" flipV="0">
            <a:off x="609600" y="54483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676" name="" descr="{&quot;isTemplate&quot;:true,&quot;type&quot;:&quot;text&quot;}"/>
          <p:cNvSpPr txBox="1"/>
          <p:nvPr/>
        </p:nvSpPr>
        <p:spPr>
          <a:xfrm rot="0" flipH="0" flipV="0">
            <a:off x="11125200" y="54483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08 / 26</a:t>
            </a:r>
            <a:endParaRPr/>
          </a:p>
        </p:txBody>
      </p:sp>
    </p:spTree>
  </p:cSld>
</p:sld>
</file>

<file path=ppt/slides/slide9.xml><?xml version="1.0" encoding="utf-8"?>
<p:sld xmlns:p="http://schemas.openxmlformats.org/presentationml/2006/main" xmlns:a="http://schemas.openxmlformats.org/drawingml/2006/main">
  <p:cSld>
    <p:spTree>
      <p:nvGrpSpPr>
        <p:cNvPr id="677" name="" descr="&lt;Slide notes={`假设模型提出查询手作室的请求，返回的条目类型是 function_call。里面有三样东西，我一样一样说。&#10;&#10;name 是要调用的工具名，这里是 get_room_availability。程序拿到以后不是随便调用，而是先对照允许列表，看这个名字在不在里面。&#10;&#10;arguments 是 JSON 编码的参数，房间是 craft，日期是二零二六年十月十七日。程序要先把这段文本解析成对象，再检查字段和取值。&#10;&#10;call_id 是这次调用的编号。执行完查询以后，结果要用同一个 call_id 包成 function_call_output 送回去，模型才知道这是它刚才那次请求的答案。&#10;&#10;顺序不能乱：先解析参数，再调用函数，最后回填结果。跳一步，证据链就断了。`}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2　一轮调用包含哪些证据&lt;/Text&gt;&#10;            &lt;Text style={{ fontSize: 34, fontWeight: 'bold', color: '#20344B' }}&gt;返回条目里的三个字段&lt;/Text&gt;&#10;        &lt;/Box&gt;&#10;    &lt;/Box&gt;&#10;&#10;    &lt;Box style={{ height: 540, flexDirection: 'column', justifyContent: 'center', gap: 20 }}&gt;&#10;&#10;        &lt;Box style={{ flexDirection: 'row', alignItems: 'center', gap: 16, background: '#F4F7FA', borderRadius: 10, padding: '10px 20px' }}&gt;&#10;            &lt;Box style={{ width: 3, height: 26, background: '#276FBF' }} /&gt;&#10;            &lt;Text style={{ fontSize: 16, color: '#546779' }}&gt;返回条目的类型是 function_call，其中包含工具名、JSON 编码的参数和 call_id。&lt;/Text&gt;&#10;        &lt;/Box&gt;&#10;&#10;        &lt;Box style={{ flexDirection: 'row', gap: 32, alignItems: 'stretch' }}&gt;&#10;&#10;            &lt;Box style={{ width: 380, background: '#EDF4FC', borderRadius: 12, padding: 20, flexDirection: 'column', gap: 12 }}&gt;&#10;                &lt;Text style={{ fontSize: 20, fontWeight: 'bold', color: '#276FBF' }}&gt;程序要做三步&lt;/Text&gt;&#10;                &lt;Text style={{ fontSize: 15, color: '#546779', lineHeight: 1.6 }}&gt;拿到的是一段文本，不是可以直接用的对象。&lt;/Text&gt;&#10;                &lt;Box style={{ flexDirection: 'row', gap: 12, alignItems: 'center' }}&gt;&#10;                    &lt;Box style={{ width: 30, height: 30, borderRadius: 6, background: '#276FBF', justifyContent: 'center', alignItems: 'center' }}&gt;&#10;                        &lt;Text style={{ fontSize: 15, fontWeight: 'bold', color: '#FFFFFF' }}&gt;1&lt;/Text&gt;&#10;                    &lt;/Box&gt;&#10;                    &lt;Text style={{ fontSize: 15, color: '#20344B', flex: 1, lineHeight: 1.5 }}&gt;解析 arguments，得到参数对象&lt;/Text&gt;&#10;                &lt;/Box&gt;&#10;                &lt;Box style={{ flexDirection: 'row', gap: 12, alignItems: 'center' }}&gt;&#10;                    &lt;Box style={{ width: 30, height: 30, borderRadius: 6, background: '#276FBF', justifyContent: 'center', alignItems: 'center' }}&gt;&#10;                        &lt;Text style={{ fontSize: 15, fontWeight: 'bold', color: '#FFFFFF' }}&gt;2&lt;/Text&gt;&#10;                    &lt;/Box&gt;&#10;                    &lt;Text style={{ fontSize: 15, color: '#20344B', flex: 1, lineHeight: 1.5 }}&gt;按 name 调用对应的查询函数&lt;/Text&gt;&#10;                &lt;/Box&gt;&#10;                &lt;Box style={{ flexDirection: 'row', gap: 12, alignItems: 'center' }}&gt;&#10;                    &lt;Box style={{ width: 30, height: 30, borderRadius: 6, background: '#26816B', justifyContent: 'center', alignItems: 'center' }}&gt;&#10;                        &lt;Text style={{ fontSize: 15, fontWeight: 'bold', color: '#FFFFFF' }}&gt;3&lt;/Text&gt;&#10;                    &lt;/Box&gt;&#10;                    &lt;Text style={{ fontSize: 15, color: '#20344B', flex: 1, lineHeight: 1.5 }}&gt;用同一个 call_id 返回输出&lt;/Text&gt;&#10;                &lt;/Box&gt;&#10;            &lt;/Box&gt;&#10;&#10;            &lt;Box style={{ width: 740, flexDirection: 'column', gap: 16, justifyContent: 'center' }}&gt;&#10;                &lt;Box style={{ height: 124, background: '#F4F7FA', borderRadius: 10, padding: '16px 20px', flexDirection: 'row', gap: 18, alignItems: 'center' }}&gt;&#10;                    &lt;Box style={{ width: 4, height: 76, background: '#276FBF' }} /&gt;&#10;                    &lt;Text style={{ width: 150, fontSize: 18, fontWeight: 'bold', color: '#276FBF', fontFamily: 'Consolas, monospace' }}&gt;name&lt;/Text&gt;&#10;                    &lt;Box style={{ flexDirection: 'column', gap: 4, flex: 1 }}&gt;&#10;                        &lt;Text style={{ fontSize: 16, color: '#20344B', lineHeight: 1.5 }}&gt;要调用哪个工具&lt;/Text&gt;&#10;                        &lt;Text style={{ fontSize: 14, color: '#546779', fontFamily: 'Consolas, monospace' }}&gt;get_room_availability&lt;/Text&gt;&#10;                    &lt;/Box&gt;&#10;                &lt;/Box&gt;&#10;                &lt;Box style={{ height: 124, background: '#F4F7FA', borderRadius: 10, padding: '16px 20px', flexDirection: 'row', gap: 18, alignItems: 'center' }}&gt;&#10;                    &lt;Box style={{ width: 4, height: 76, background: '#276FBF' }} /&gt;&#10;                    &lt;Text style={{ width: 150, fontSize: 18, fontWeight: 'bold', color: '#276FBF', fontFamily: 'Consolas, monospace' }}&gt;arguments&lt;/Text&gt;&#10;                    &lt;Box style={{ flexDirection: 'column', gap: 4, flex: 1 }}&gt;&#10;                        &lt;Text style={{ fontSize: 16, color: '#20344B', lineHeight: 1.5 }}&gt;这次查询的条件，JSON 编码&lt;/Text&gt;&#10;                        &lt;Text style={{ fontSize: 14, color: '#546779', fontFamily: 'Consolas, monospace' }}&gt;{'&quot;room_id&quot;: &quot;craft&quot;, &quot;date&quot;: &quot;2026-10-17&quot;'}&lt;/Text&gt;&#10;                    &lt;/Box&gt;&#10;                &lt;/Box&gt;&#10;                &lt;Box style={{ height: 124, background: '#ECF7F2', borderRadius: 10, padding: '16px 20px', flexDirection: 'row', gap: 18, alignItems: 'center' }}&gt;&#10;                    &lt;Box style={{ width: 4, height: 76, background: '#26816B' }} /&gt;&#10;                    &lt;Text style={{ width: 150, fontSize: 18, fontWeight: 'bold', color: '#26816B', fontFamily: 'Consolas, monospace' }}&gt;call_id&lt;/Text&gt;&#10;                    &lt;Box style={{ flexDirection: 'column', gap: 4, flex: 1 }}&gt;&#10;                        &lt;Text style={{ fontSize: 16, color: '#20344B', lineHeight: 1.5 }}&gt;把结果认回原来那次调用&lt;/Text&gt;&#10;                        &lt;Text style={{ fontSize: 14, color: '#546779', fontFamily: 'Consolas, monospace' }}&gt;回填时原样带回，不能替换&lt;/Text&gt;&#10;                    &lt;/Box&gt;&#10;                &lt;/Box&gt;&#10;            &lt;/Box&gt;&#10;&#10;        &lt;/Box&gt;&#10;&#10;    &lt;/Box&gt;&#10;&#10;    &lt;Box style={{ height: 40, flexDirection: 'row', justifyContent: 'space-between', alignItems: 'center' }}&gt;&#10;        &lt;Text style={{ fontSize: 14, color: '#546779' }}&gt;2.5 Function Calling&lt;/Text&gt;&#10;        &lt;Text style={{ fontSize: 14, color: '#546779' }}&gt;09 / 26&lt;/Text&gt;&#10;    &lt;/Box&gt;&#10;&#10;&lt;/Slide&gt;&#10;"/>
        <p:cNvGrpSpPr/>
        <p:nvPr/>
      </p:nvGrpSpPr>
      <p:grpSpPr>
        <a:xfrm>
          <a:off x="0" y="0"/>
          <a:ext cx="0" cy="0"/>
          <a:chOff x="0" y="0"/>
          <a:chExt cx="0" cy="0"/>
        </a:xfrm>
      </p:grpSpPr>
      <p:sp>
        <p:nvSpPr>
          <p:cNvPr id="678" name=""/>
          <p:cNvSpPr/>
          <p:nvPr/>
        </p:nvSpPr>
        <p:spPr>
          <a:xfrm rot="0" flipH="0" flipV="0">
            <a:off x="0" y="0"/>
            <a:ext cx="12192000" cy="6858000"/>
          </a:xfrm>
          <a:prstGeom prst="rect">
            <a:avLst/>
          </a:prstGeom>
          <a:solidFill>
            <a:srgbClr val="FFFFFF"/>
          </a:solidFill>
          <a:ln/>
        </p:spPr>
        <p:txBody>
          <a:bodyPr/>
          <a:p/>
        </p:txBody>
      </p:sp>
      <p:sp>
        <p:nvSpPr>
          <p:cNvPr id="679" name=""/>
          <p:cNvSpPr/>
          <p:nvPr/>
        </p:nvSpPr>
        <p:spPr>
          <a:xfrm rot="0" flipH="0" flipV="0">
            <a:off x="609600" y="457200"/>
            <a:ext cx="38100" cy="419100"/>
          </a:xfrm>
          <a:prstGeom prst="rect">
            <a:avLst/>
          </a:prstGeom>
          <a:solidFill>
            <a:srgbClr val="276FBF"/>
          </a:solidFill>
          <a:ln/>
        </p:spPr>
        <p:txBody>
          <a:bodyPr/>
          <a:p/>
        </p:txBody>
      </p:sp>
      <p:sp>
        <p:nvSpPr>
          <p:cNvPr id="680" name="" descr="{&quot;isTemplate&quot;:true,&quot;type&quot;:&quot;text&quot;}"/>
          <p:cNvSpPr txBox="1"/>
          <p:nvPr/>
        </p:nvSpPr>
        <p:spPr>
          <a:xfrm rot="0" flipH="0" flipV="0">
            <a:off x="838200" y="371475"/>
            <a:ext cx="3238500" cy="161925"/>
          </a:xfrm>
          <a:prstGeom prst="rect"/>
        </p:spPr>
        <p:txBody>
          <a:bodyPr wrap="none" lIns="0" tIns="0" rIns="0" bIns="0"/>
          <a:p>
            <a:pPr>
              <a:lnSpc>
                <a:spcPct val="100000"/>
              </a:lnSpc>
            </a:pPr>
            <a:r>
              <a:rPr lang="en-US" sz="1050">
                <a:solidFill>
                  <a:srgbClr val="546779"/>
                </a:solidFill>
                <a:latin typeface="Microsoft YaHei"/>
                <a:ea typeface="Microsoft YaHei"/>
              </a:rPr>
              <a:t>2.5.2</a:t>
            </a:r>
            <a:r>
              <a:rPr lang="zh-CN" sz="1050">
                <a:solidFill>
                  <a:srgbClr val="546779"/>
                </a:solidFill>
                <a:latin typeface="Microsoft YaHei"/>
                <a:ea typeface="Microsoft YaHei"/>
              </a:rPr>
              <a:t>　一轮调用包含哪些证据</a:t>
            </a:r>
            <a:endParaRPr/>
          </a:p>
        </p:txBody>
      </p:sp>
      <p:sp>
        <p:nvSpPr>
          <p:cNvPr id="681" name="" descr="{&quot;isTemplate&quot;:true,&quot;type&quot;:&quot;text&quot;}"/>
          <p:cNvSpPr txBox="1"/>
          <p:nvPr/>
        </p:nvSpPr>
        <p:spPr>
          <a:xfrm rot="0" flipH="0" flipV="0">
            <a:off x="838200" y="571500"/>
            <a:ext cx="3238500" cy="390525"/>
          </a:xfrm>
          <a:prstGeom prst="rect"/>
        </p:spPr>
        <p:txBody>
          <a:bodyPr wrap="none" lIns="0" tIns="0" rIns="0" bIns="0"/>
          <a:p>
            <a:pPr>
              <a:lnSpc>
                <a:spcPct val="100000"/>
              </a:lnSpc>
            </a:pPr>
            <a:r>
              <a:rPr lang="zh-CN" sz="2550" b="1">
                <a:solidFill>
                  <a:srgbClr val="20344B"/>
                </a:solidFill>
                <a:latin typeface="Microsoft YaHei"/>
                <a:ea typeface="Microsoft YaHei"/>
              </a:rPr>
              <a:t>返回条目里的三个字段</a:t>
            </a:r>
            <a:endParaRPr/>
          </a:p>
        </p:txBody>
      </p:sp>
      <p:sp>
        <p:nvSpPr>
          <p:cNvPr id="682" name=""/>
          <p:cNvSpPr/>
          <p:nvPr/>
        </p:nvSpPr>
        <p:spPr>
          <a:xfrm rot="0" flipH="0" flipV="0">
            <a:off x="609600" y="1476375"/>
            <a:ext cx="10972800" cy="438150"/>
          </a:xfrm>
          <a:prstGeom prst="roundRect">
            <a:avLst>
              <a:gd name="adj" fmla="val 21739"/>
            </a:avLst>
          </a:prstGeom>
          <a:solidFill>
            <a:srgbClr val="F4F7FA"/>
          </a:solidFill>
          <a:ln/>
        </p:spPr>
        <p:txBody>
          <a:bodyPr/>
          <a:p/>
        </p:txBody>
      </p:sp>
      <p:sp>
        <p:nvSpPr>
          <p:cNvPr id="683" name=""/>
          <p:cNvSpPr/>
          <p:nvPr/>
        </p:nvSpPr>
        <p:spPr>
          <a:xfrm rot="0" flipH="0" flipV="0">
            <a:off x="800100" y="1571625"/>
            <a:ext cx="28575" cy="247650"/>
          </a:xfrm>
          <a:prstGeom prst="rect">
            <a:avLst/>
          </a:prstGeom>
          <a:solidFill>
            <a:srgbClr val="276FBF"/>
          </a:solidFill>
          <a:ln/>
        </p:spPr>
        <p:txBody>
          <a:bodyPr/>
          <a:p/>
        </p:txBody>
      </p:sp>
      <p:sp>
        <p:nvSpPr>
          <p:cNvPr id="684" name="" descr="{&quot;isTemplate&quot;:true,&quot;type&quot;:&quot;text&quot;}"/>
          <p:cNvSpPr txBox="1"/>
          <p:nvPr/>
        </p:nvSpPr>
        <p:spPr>
          <a:xfrm rot="0" flipH="0" flipV="0">
            <a:off x="981075" y="1600200"/>
            <a:ext cx="5553075" cy="190500"/>
          </a:xfrm>
          <a:prstGeom prst="rect"/>
        </p:spPr>
        <p:txBody>
          <a:bodyPr wrap="none" lIns="0" tIns="0" rIns="0" bIns="0"/>
          <a:p>
            <a:pPr>
              <a:lnSpc>
                <a:spcPct val="100000"/>
              </a:lnSpc>
            </a:pPr>
            <a:r>
              <a:rPr lang="zh-CN" sz="1200">
                <a:solidFill>
                  <a:srgbClr val="546779"/>
                </a:solidFill>
                <a:latin typeface="Microsoft YaHei"/>
                <a:ea typeface="Microsoft YaHei"/>
              </a:rPr>
              <a:t>返回条目的类型是</a:t>
            </a:r>
            <a:r>
              <a:rPr lang="en-US" sz="1200">
                <a:solidFill>
                  <a:srgbClr val="546779"/>
                </a:solidFill>
                <a:latin typeface="Microsoft YaHei"/>
                <a:ea typeface="Microsoft YaHei"/>
              </a:rPr>
              <a:t xml:space="preserve"> function_call</a:t>
            </a:r>
            <a:r>
              <a:rPr lang="zh-CN" sz="1200">
                <a:solidFill>
                  <a:srgbClr val="546779"/>
                </a:solidFill>
                <a:latin typeface="Microsoft YaHei"/>
                <a:ea typeface="Microsoft YaHei"/>
              </a:rPr>
              <a:t>，其中包含工具名、</a:t>
            </a:r>
            <a:r>
              <a:rPr lang="en-US" sz="1200">
                <a:solidFill>
                  <a:srgbClr val="546779"/>
                </a:solidFill>
                <a:latin typeface="Microsoft YaHei"/>
                <a:ea typeface="Microsoft YaHei"/>
              </a:rPr>
              <a:t xml:space="preserve">JSON </a:t>
            </a:r>
            <a:r>
              <a:rPr lang="zh-CN" sz="1200">
                <a:solidFill>
                  <a:srgbClr val="546779"/>
                </a:solidFill>
                <a:latin typeface="Microsoft YaHei"/>
                <a:ea typeface="Microsoft YaHei"/>
              </a:rPr>
              <a:t>编码的参数和</a:t>
            </a:r>
            <a:r>
              <a:rPr lang="en-US" sz="1200">
                <a:solidFill>
                  <a:srgbClr val="546779"/>
                </a:solidFill>
                <a:latin typeface="Microsoft YaHei"/>
                <a:ea typeface="Microsoft YaHei"/>
              </a:rPr>
              <a:t xml:space="preserve"> call_id</a:t>
            </a:r>
            <a:r>
              <a:rPr lang="zh-CN" sz="1200">
                <a:solidFill>
                  <a:srgbClr val="546779"/>
                </a:solidFill>
                <a:latin typeface="Microsoft YaHei"/>
                <a:ea typeface="Microsoft YaHei"/>
              </a:rPr>
              <a:t>。</a:t>
            </a:r>
            <a:endParaRPr/>
          </a:p>
        </p:txBody>
      </p:sp>
      <p:sp>
        <p:nvSpPr>
          <p:cNvPr id="685" name=""/>
          <p:cNvSpPr/>
          <p:nvPr/>
        </p:nvSpPr>
        <p:spPr>
          <a:xfrm rot="0" flipH="0" flipV="0">
            <a:off x="609600" y="2105025"/>
            <a:ext cx="3619500" cy="3848100"/>
          </a:xfrm>
          <a:prstGeom prst="roundRect">
            <a:avLst>
              <a:gd name="adj" fmla="val 3158"/>
            </a:avLst>
          </a:prstGeom>
          <a:solidFill>
            <a:srgbClr val="EDF4FC"/>
          </a:solidFill>
          <a:ln/>
        </p:spPr>
        <p:txBody>
          <a:bodyPr/>
          <a:p/>
        </p:txBody>
      </p:sp>
      <p:sp>
        <p:nvSpPr>
          <p:cNvPr id="686" name="" descr="{&quot;isTemplate&quot;:true,&quot;type&quot;:&quot;text&quot;}"/>
          <p:cNvSpPr txBox="1"/>
          <p:nvPr/>
        </p:nvSpPr>
        <p:spPr>
          <a:xfrm rot="0" flipH="0" flipV="0">
            <a:off x="800100" y="2295525"/>
            <a:ext cx="3238500" cy="228600"/>
          </a:xfrm>
          <a:prstGeom prst="rect"/>
        </p:spPr>
        <p:txBody>
          <a:bodyPr wrap="none" lIns="0" tIns="0" rIns="0" bIns="0"/>
          <a:p>
            <a:pPr>
              <a:lnSpc>
                <a:spcPct val="100000"/>
              </a:lnSpc>
            </a:pPr>
            <a:r>
              <a:rPr lang="zh-CN" sz="1500" b="1">
                <a:solidFill>
                  <a:srgbClr val="276FBF"/>
                </a:solidFill>
                <a:latin typeface="Microsoft YaHei"/>
                <a:ea typeface="Microsoft YaHei"/>
              </a:rPr>
              <a:t>程序要做三步</a:t>
            </a:r>
            <a:endParaRPr/>
          </a:p>
        </p:txBody>
      </p:sp>
      <p:sp>
        <p:nvSpPr>
          <p:cNvPr id="687" name="" descr="{&quot;isTemplate&quot;:true,&quot;type&quot;:&quot;text&quot;}"/>
          <p:cNvSpPr txBox="1"/>
          <p:nvPr/>
        </p:nvSpPr>
        <p:spPr>
          <a:xfrm rot="0" flipH="0" flipV="0">
            <a:off x="800100" y="2638425"/>
            <a:ext cx="3238500" cy="276225"/>
          </a:xfrm>
          <a:prstGeom prst="rect"/>
        </p:spPr>
        <p:txBody>
          <a:bodyPr wrap="none" lIns="0" tIns="0" rIns="0" bIns="0"/>
          <a:p>
            <a:pPr>
              <a:lnSpc>
                <a:spcPct val="160000"/>
              </a:lnSpc>
            </a:pPr>
            <a:r>
              <a:rPr lang="zh-CN" sz="1125">
                <a:solidFill>
                  <a:srgbClr val="546779"/>
                </a:solidFill>
                <a:latin typeface="Microsoft YaHei"/>
                <a:ea typeface="Microsoft YaHei"/>
              </a:rPr>
              <a:t>拿到的是一段文本，不是可以直接用的对象。</a:t>
            </a:r>
            <a:endParaRPr/>
          </a:p>
        </p:txBody>
      </p:sp>
      <p:sp>
        <p:nvSpPr>
          <p:cNvPr id="688" name=""/>
          <p:cNvSpPr/>
          <p:nvPr/>
        </p:nvSpPr>
        <p:spPr>
          <a:xfrm rot="0" flipH="0" flipV="0">
            <a:off x="800100" y="3028950"/>
            <a:ext cx="285750" cy="285750"/>
          </a:xfrm>
          <a:prstGeom prst="roundRect">
            <a:avLst>
              <a:gd name="adj" fmla="val 20000"/>
            </a:avLst>
          </a:prstGeom>
          <a:solidFill>
            <a:srgbClr val="276FBF"/>
          </a:solidFill>
          <a:ln/>
        </p:spPr>
        <p:txBody>
          <a:bodyPr/>
          <a:p/>
        </p:txBody>
      </p:sp>
      <p:sp>
        <p:nvSpPr>
          <p:cNvPr id="689" name="" descr="{&quot;isTemplate&quot;:true,&quot;type&quot;:&quot;text&quot;}"/>
          <p:cNvSpPr txBox="1"/>
          <p:nvPr/>
        </p:nvSpPr>
        <p:spPr>
          <a:xfrm rot="0" flipH="0" flipV="0">
            <a:off x="895350" y="3086100"/>
            <a:ext cx="95250" cy="171450"/>
          </a:xfrm>
          <a:prstGeom prst="rect"/>
        </p:spPr>
        <p:txBody>
          <a:bodyPr wrap="none" lIns="0" tIns="0" rIns="0" bIns="0"/>
          <a:p>
            <a:pPr>
              <a:lnSpc>
                <a:spcPct val="100000"/>
              </a:lnSpc>
            </a:pPr>
            <a:r>
              <a:rPr lang="en-US" sz="1125" b="1">
                <a:solidFill>
                  <a:srgbClr val="FFFFFF"/>
                </a:solidFill>
                <a:latin typeface="Microsoft YaHei"/>
                <a:ea typeface="Microsoft YaHei"/>
              </a:rPr>
              <a:t>1</a:t>
            </a:r>
            <a:endParaRPr/>
          </a:p>
        </p:txBody>
      </p:sp>
      <p:sp>
        <p:nvSpPr>
          <p:cNvPr id="690" name="" descr="{&quot;isTemplate&quot;:true,&quot;type&quot;:&quot;text&quot;}"/>
          <p:cNvSpPr txBox="1"/>
          <p:nvPr/>
        </p:nvSpPr>
        <p:spPr>
          <a:xfrm rot="0" flipH="0" flipV="0">
            <a:off x="1200150" y="3048000"/>
            <a:ext cx="2838450" cy="257175"/>
          </a:xfrm>
          <a:prstGeom prst="rect"/>
        </p:spPr>
        <p:txBody>
          <a:bodyPr wrap="none" lIns="0" tIns="0" rIns="0" bIns="0"/>
          <a:p>
            <a:pPr>
              <a:lnSpc>
                <a:spcPct val="150000"/>
              </a:lnSpc>
            </a:pPr>
            <a:r>
              <a:rPr lang="zh-CN" sz="1125">
                <a:solidFill>
                  <a:srgbClr val="20344B"/>
                </a:solidFill>
                <a:latin typeface="Microsoft YaHei"/>
                <a:ea typeface="Microsoft YaHei"/>
              </a:rPr>
              <a:t>解析</a:t>
            </a:r>
            <a:r>
              <a:rPr lang="en-US" sz="1125">
                <a:solidFill>
                  <a:srgbClr val="20344B"/>
                </a:solidFill>
                <a:latin typeface="Microsoft YaHei"/>
                <a:ea typeface="Microsoft YaHei"/>
              </a:rPr>
              <a:t xml:space="preserve"> arguments</a:t>
            </a:r>
            <a:r>
              <a:rPr lang="zh-CN" sz="1125">
                <a:solidFill>
                  <a:srgbClr val="20344B"/>
                </a:solidFill>
                <a:latin typeface="Microsoft YaHei"/>
                <a:ea typeface="Microsoft YaHei"/>
              </a:rPr>
              <a:t>，得到参数对象</a:t>
            </a:r>
            <a:endParaRPr/>
          </a:p>
        </p:txBody>
      </p:sp>
      <p:sp>
        <p:nvSpPr>
          <p:cNvPr id="691" name=""/>
          <p:cNvSpPr/>
          <p:nvPr/>
        </p:nvSpPr>
        <p:spPr>
          <a:xfrm rot="0" flipH="0" flipV="0">
            <a:off x="800100" y="3429000"/>
            <a:ext cx="285750" cy="285750"/>
          </a:xfrm>
          <a:prstGeom prst="roundRect">
            <a:avLst>
              <a:gd name="adj" fmla="val 20000"/>
            </a:avLst>
          </a:prstGeom>
          <a:solidFill>
            <a:srgbClr val="276FBF"/>
          </a:solidFill>
          <a:ln/>
        </p:spPr>
        <p:txBody>
          <a:bodyPr/>
          <a:p/>
        </p:txBody>
      </p:sp>
      <p:sp>
        <p:nvSpPr>
          <p:cNvPr id="692" name="" descr="{&quot;isTemplate&quot;:true,&quot;type&quot;:&quot;text&quot;}"/>
          <p:cNvSpPr txBox="1"/>
          <p:nvPr/>
        </p:nvSpPr>
        <p:spPr>
          <a:xfrm rot="0" flipH="0" flipV="0">
            <a:off x="895350" y="3486150"/>
            <a:ext cx="95250" cy="171450"/>
          </a:xfrm>
          <a:prstGeom prst="rect"/>
        </p:spPr>
        <p:txBody>
          <a:bodyPr wrap="none" lIns="0" tIns="0" rIns="0" bIns="0"/>
          <a:p>
            <a:pPr>
              <a:lnSpc>
                <a:spcPct val="100000"/>
              </a:lnSpc>
            </a:pPr>
            <a:r>
              <a:rPr lang="en-US" sz="1125" b="1">
                <a:solidFill>
                  <a:srgbClr val="FFFFFF"/>
                </a:solidFill>
                <a:latin typeface="Microsoft YaHei"/>
                <a:ea typeface="Microsoft YaHei"/>
              </a:rPr>
              <a:t>2</a:t>
            </a:r>
            <a:endParaRPr/>
          </a:p>
        </p:txBody>
      </p:sp>
      <p:sp>
        <p:nvSpPr>
          <p:cNvPr id="693" name="" descr="{&quot;isTemplate&quot;:true,&quot;type&quot;:&quot;text&quot;}"/>
          <p:cNvSpPr txBox="1"/>
          <p:nvPr/>
        </p:nvSpPr>
        <p:spPr>
          <a:xfrm rot="0" flipH="0" flipV="0">
            <a:off x="1200150" y="3448050"/>
            <a:ext cx="2838450" cy="257175"/>
          </a:xfrm>
          <a:prstGeom prst="rect"/>
        </p:spPr>
        <p:txBody>
          <a:bodyPr wrap="none" lIns="0" tIns="0" rIns="0" bIns="0"/>
          <a:p>
            <a:pPr>
              <a:lnSpc>
                <a:spcPct val="150000"/>
              </a:lnSpc>
            </a:pPr>
            <a:r>
              <a:rPr lang="zh-CN" sz="1125">
                <a:solidFill>
                  <a:srgbClr val="20344B"/>
                </a:solidFill>
                <a:latin typeface="Microsoft YaHei"/>
                <a:ea typeface="Microsoft YaHei"/>
              </a:rPr>
              <a:t>按</a:t>
            </a:r>
            <a:r>
              <a:rPr lang="en-US" sz="1125">
                <a:solidFill>
                  <a:srgbClr val="20344B"/>
                </a:solidFill>
                <a:latin typeface="Microsoft YaHei"/>
                <a:ea typeface="Microsoft YaHei"/>
              </a:rPr>
              <a:t xml:space="preserve"> name </a:t>
            </a:r>
            <a:r>
              <a:rPr lang="zh-CN" sz="1125">
                <a:solidFill>
                  <a:srgbClr val="20344B"/>
                </a:solidFill>
                <a:latin typeface="Microsoft YaHei"/>
                <a:ea typeface="Microsoft YaHei"/>
              </a:rPr>
              <a:t>调用对应的查询函数</a:t>
            </a:r>
            <a:endParaRPr/>
          </a:p>
        </p:txBody>
      </p:sp>
      <p:sp>
        <p:nvSpPr>
          <p:cNvPr id="694" name=""/>
          <p:cNvSpPr/>
          <p:nvPr/>
        </p:nvSpPr>
        <p:spPr>
          <a:xfrm rot="0" flipH="0" flipV="0">
            <a:off x="800100" y="3829050"/>
            <a:ext cx="285750" cy="285750"/>
          </a:xfrm>
          <a:prstGeom prst="roundRect">
            <a:avLst>
              <a:gd name="adj" fmla="val 20000"/>
            </a:avLst>
          </a:prstGeom>
          <a:solidFill>
            <a:srgbClr val="26816B"/>
          </a:solidFill>
          <a:ln/>
        </p:spPr>
        <p:txBody>
          <a:bodyPr/>
          <a:p/>
        </p:txBody>
      </p:sp>
      <p:sp>
        <p:nvSpPr>
          <p:cNvPr id="695" name="" descr="{&quot;isTemplate&quot;:true,&quot;type&quot;:&quot;text&quot;}"/>
          <p:cNvSpPr txBox="1"/>
          <p:nvPr/>
        </p:nvSpPr>
        <p:spPr>
          <a:xfrm rot="0" flipH="0" flipV="0">
            <a:off x="895350" y="3886200"/>
            <a:ext cx="95250" cy="171450"/>
          </a:xfrm>
          <a:prstGeom prst="rect"/>
        </p:spPr>
        <p:txBody>
          <a:bodyPr wrap="none" lIns="0" tIns="0" rIns="0" bIns="0"/>
          <a:p>
            <a:pPr>
              <a:lnSpc>
                <a:spcPct val="100000"/>
              </a:lnSpc>
            </a:pPr>
            <a:r>
              <a:rPr lang="en-US" sz="1125" b="1">
                <a:solidFill>
                  <a:srgbClr val="FFFFFF"/>
                </a:solidFill>
                <a:latin typeface="Microsoft YaHei"/>
                <a:ea typeface="Microsoft YaHei"/>
              </a:rPr>
              <a:t>3</a:t>
            </a:r>
            <a:endParaRPr/>
          </a:p>
        </p:txBody>
      </p:sp>
      <p:sp>
        <p:nvSpPr>
          <p:cNvPr id="696" name="" descr="{&quot;isTemplate&quot;:true,&quot;type&quot;:&quot;text&quot;}"/>
          <p:cNvSpPr txBox="1"/>
          <p:nvPr/>
        </p:nvSpPr>
        <p:spPr>
          <a:xfrm rot="0" flipH="0" flipV="0">
            <a:off x="1200150" y="3848100"/>
            <a:ext cx="2838450" cy="257175"/>
          </a:xfrm>
          <a:prstGeom prst="rect"/>
        </p:spPr>
        <p:txBody>
          <a:bodyPr wrap="none" lIns="0" tIns="0" rIns="0" bIns="0"/>
          <a:p>
            <a:pPr>
              <a:lnSpc>
                <a:spcPct val="150000"/>
              </a:lnSpc>
            </a:pPr>
            <a:r>
              <a:rPr lang="zh-CN" sz="1125">
                <a:solidFill>
                  <a:srgbClr val="20344B"/>
                </a:solidFill>
                <a:latin typeface="Microsoft YaHei"/>
                <a:ea typeface="Microsoft YaHei"/>
              </a:rPr>
              <a:t>用同一个</a:t>
            </a:r>
            <a:r>
              <a:rPr lang="en-US" sz="1125">
                <a:solidFill>
                  <a:srgbClr val="20344B"/>
                </a:solidFill>
                <a:latin typeface="Microsoft YaHei"/>
                <a:ea typeface="Microsoft YaHei"/>
              </a:rPr>
              <a:t xml:space="preserve"> call_id </a:t>
            </a:r>
            <a:r>
              <a:rPr lang="zh-CN" sz="1125">
                <a:solidFill>
                  <a:srgbClr val="20344B"/>
                </a:solidFill>
                <a:latin typeface="Microsoft YaHei"/>
                <a:ea typeface="Microsoft YaHei"/>
              </a:rPr>
              <a:t>返回输出</a:t>
            </a:r>
            <a:endParaRPr/>
          </a:p>
        </p:txBody>
      </p:sp>
      <p:sp>
        <p:nvSpPr>
          <p:cNvPr id="697" name=""/>
          <p:cNvSpPr/>
          <p:nvPr/>
        </p:nvSpPr>
        <p:spPr>
          <a:xfrm rot="0" flipH="0" flipV="0">
            <a:off x="4533900" y="2105025"/>
            <a:ext cx="7048500" cy="1181100"/>
          </a:xfrm>
          <a:prstGeom prst="roundRect">
            <a:avLst>
              <a:gd name="adj" fmla="val 8065"/>
            </a:avLst>
          </a:prstGeom>
          <a:solidFill>
            <a:srgbClr val="F4F7FA"/>
          </a:solidFill>
          <a:ln/>
        </p:spPr>
        <p:txBody>
          <a:bodyPr/>
          <a:p/>
        </p:txBody>
      </p:sp>
      <p:sp>
        <p:nvSpPr>
          <p:cNvPr id="698" name=""/>
          <p:cNvSpPr/>
          <p:nvPr/>
        </p:nvSpPr>
        <p:spPr>
          <a:xfrm rot="0" flipH="0" flipV="0">
            <a:off x="4724400" y="2333625"/>
            <a:ext cx="38100" cy="723900"/>
          </a:xfrm>
          <a:prstGeom prst="rect">
            <a:avLst/>
          </a:prstGeom>
          <a:solidFill>
            <a:srgbClr val="276FBF"/>
          </a:solidFill>
          <a:ln/>
        </p:spPr>
        <p:txBody>
          <a:bodyPr/>
          <a:p/>
        </p:txBody>
      </p:sp>
      <p:sp>
        <p:nvSpPr>
          <p:cNvPr id="699" name="" descr="{&quot;isTemplate&quot;:true,&quot;type&quot;:&quot;text&quot;}"/>
          <p:cNvSpPr txBox="1"/>
          <p:nvPr/>
        </p:nvSpPr>
        <p:spPr>
          <a:xfrm rot="0" flipH="0" flipV="0">
            <a:off x="4933950" y="2590800"/>
            <a:ext cx="1428750" cy="209550"/>
          </a:xfrm>
          <a:prstGeom prst="rect"/>
        </p:spPr>
        <p:txBody>
          <a:bodyPr wrap="none" lIns="0" tIns="0" rIns="0" bIns="0"/>
          <a:p>
            <a:pPr>
              <a:lnSpc>
                <a:spcPct val="100000"/>
              </a:lnSpc>
            </a:pPr>
            <a:r>
              <a:rPr lang="en-US" sz="1350" b="1">
                <a:solidFill>
                  <a:srgbClr val="276FBF"/>
                </a:solidFill>
                <a:latin typeface="Consolas"/>
                <a:ea typeface="Consolas"/>
              </a:rPr>
              <a:t>name</a:t>
            </a:r>
            <a:endParaRPr/>
          </a:p>
        </p:txBody>
      </p:sp>
      <p:sp>
        <p:nvSpPr>
          <p:cNvPr id="700" name="" descr="{&quot;isTemplate&quot;:true,&quot;type&quot;:&quot;text&quot;}"/>
          <p:cNvSpPr txBox="1"/>
          <p:nvPr/>
        </p:nvSpPr>
        <p:spPr>
          <a:xfrm rot="0" flipH="0" flipV="0">
            <a:off x="6534150" y="2457450"/>
            <a:ext cx="4857750" cy="276225"/>
          </a:xfrm>
          <a:prstGeom prst="rect"/>
        </p:spPr>
        <p:txBody>
          <a:bodyPr wrap="none" lIns="0" tIns="0" rIns="0" bIns="0"/>
          <a:p>
            <a:pPr>
              <a:lnSpc>
                <a:spcPct val="150000"/>
              </a:lnSpc>
            </a:pPr>
            <a:r>
              <a:rPr lang="zh-CN" sz="1200">
                <a:solidFill>
                  <a:srgbClr val="20344B"/>
                </a:solidFill>
                <a:latin typeface="Microsoft YaHei"/>
                <a:ea typeface="Microsoft YaHei"/>
              </a:rPr>
              <a:t>要调用哪个工具</a:t>
            </a:r>
            <a:endParaRPr/>
          </a:p>
        </p:txBody>
      </p:sp>
      <p:sp>
        <p:nvSpPr>
          <p:cNvPr id="701" name="" descr="{&quot;isTemplate&quot;:true,&quot;type&quot;:&quot;text&quot;}"/>
          <p:cNvSpPr txBox="1"/>
          <p:nvPr/>
        </p:nvSpPr>
        <p:spPr>
          <a:xfrm rot="0" flipH="0" flipV="0">
            <a:off x="6534150" y="2771775"/>
            <a:ext cx="4857750" cy="161925"/>
          </a:xfrm>
          <a:prstGeom prst="rect"/>
        </p:spPr>
        <p:txBody>
          <a:bodyPr wrap="none" lIns="0" tIns="0" rIns="0" bIns="0"/>
          <a:p>
            <a:pPr>
              <a:lnSpc>
                <a:spcPct val="100000"/>
              </a:lnSpc>
            </a:pPr>
            <a:r>
              <a:rPr lang="en-US" sz="1050">
                <a:solidFill>
                  <a:srgbClr val="546779"/>
                </a:solidFill>
                <a:latin typeface="Consolas"/>
                <a:ea typeface="Consolas"/>
              </a:rPr>
              <a:t>get_room_availability</a:t>
            </a:r>
            <a:endParaRPr/>
          </a:p>
        </p:txBody>
      </p:sp>
      <p:sp>
        <p:nvSpPr>
          <p:cNvPr id="702" name=""/>
          <p:cNvSpPr/>
          <p:nvPr/>
        </p:nvSpPr>
        <p:spPr>
          <a:xfrm rot="0" flipH="0" flipV="0">
            <a:off x="4533900" y="3438525"/>
            <a:ext cx="7048500" cy="1181100"/>
          </a:xfrm>
          <a:prstGeom prst="roundRect">
            <a:avLst>
              <a:gd name="adj" fmla="val 8065"/>
            </a:avLst>
          </a:prstGeom>
          <a:solidFill>
            <a:srgbClr val="F4F7FA"/>
          </a:solidFill>
          <a:ln/>
        </p:spPr>
        <p:txBody>
          <a:bodyPr/>
          <a:p/>
        </p:txBody>
      </p:sp>
      <p:sp>
        <p:nvSpPr>
          <p:cNvPr id="703" name=""/>
          <p:cNvSpPr/>
          <p:nvPr/>
        </p:nvSpPr>
        <p:spPr>
          <a:xfrm rot="0" flipH="0" flipV="0">
            <a:off x="4724400" y="3667125"/>
            <a:ext cx="38100" cy="723900"/>
          </a:xfrm>
          <a:prstGeom prst="rect">
            <a:avLst/>
          </a:prstGeom>
          <a:solidFill>
            <a:srgbClr val="276FBF"/>
          </a:solidFill>
          <a:ln/>
        </p:spPr>
        <p:txBody>
          <a:bodyPr/>
          <a:p/>
        </p:txBody>
      </p:sp>
      <p:sp>
        <p:nvSpPr>
          <p:cNvPr id="704" name="" descr="{&quot;isTemplate&quot;:true,&quot;type&quot;:&quot;text&quot;}"/>
          <p:cNvSpPr txBox="1"/>
          <p:nvPr/>
        </p:nvSpPr>
        <p:spPr>
          <a:xfrm rot="0" flipH="0" flipV="0">
            <a:off x="4933950" y="3924300"/>
            <a:ext cx="1428750" cy="209550"/>
          </a:xfrm>
          <a:prstGeom prst="rect"/>
        </p:spPr>
        <p:txBody>
          <a:bodyPr wrap="none" lIns="0" tIns="0" rIns="0" bIns="0"/>
          <a:p>
            <a:pPr>
              <a:lnSpc>
                <a:spcPct val="100000"/>
              </a:lnSpc>
            </a:pPr>
            <a:r>
              <a:rPr lang="en-US" sz="1350" b="1">
                <a:solidFill>
                  <a:srgbClr val="276FBF"/>
                </a:solidFill>
                <a:latin typeface="Consolas"/>
                <a:ea typeface="Consolas"/>
              </a:rPr>
              <a:t>arguments</a:t>
            </a:r>
            <a:endParaRPr/>
          </a:p>
        </p:txBody>
      </p:sp>
      <p:sp>
        <p:nvSpPr>
          <p:cNvPr id="705" name="" descr="{&quot;isTemplate&quot;:true,&quot;type&quot;:&quot;text&quot;}"/>
          <p:cNvSpPr txBox="1"/>
          <p:nvPr/>
        </p:nvSpPr>
        <p:spPr>
          <a:xfrm rot="0" flipH="0" flipV="0">
            <a:off x="6534150" y="3790950"/>
            <a:ext cx="4857750" cy="276225"/>
          </a:xfrm>
          <a:prstGeom prst="rect"/>
        </p:spPr>
        <p:txBody>
          <a:bodyPr wrap="none" lIns="0" tIns="0" rIns="0" bIns="0"/>
          <a:p>
            <a:pPr>
              <a:lnSpc>
                <a:spcPct val="150000"/>
              </a:lnSpc>
            </a:pPr>
            <a:r>
              <a:rPr lang="zh-CN" sz="1200">
                <a:solidFill>
                  <a:srgbClr val="20344B"/>
                </a:solidFill>
                <a:latin typeface="Microsoft YaHei"/>
                <a:ea typeface="Microsoft YaHei"/>
              </a:rPr>
              <a:t>这次查询的条件，</a:t>
            </a:r>
            <a:r>
              <a:rPr lang="en-US" sz="1200">
                <a:solidFill>
                  <a:srgbClr val="20344B"/>
                </a:solidFill>
                <a:latin typeface="Microsoft YaHei"/>
                <a:ea typeface="Microsoft YaHei"/>
              </a:rPr>
              <a:t xml:space="preserve">JSON </a:t>
            </a:r>
            <a:r>
              <a:rPr lang="zh-CN" sz="1200">
                <a:solidFill>
                  <a:srgbClr val="20344B"/>
                </a:solidFill>
                <a:latin typeface="Microsoft YaHei"/>
                <a:ea typeface="Microsoft YaHei"/>
              </a:rPr>
              <a:t>编码</a:t>
            </a:r>
            <a:endParaRPr/>
          </a:p>
        </p:txBody>
      </p:sp>
      <p:sp>
        <p:nvSpPr>
          <p:cNvPr id="706" name="" descr="{&quot;isTemplate&quot;:true,&quot;type&quot;:&quot;text&quot;}"/>
          <p:cNvSpPr txBox="1"/>
          <p:nvPr/>
        </p:nvSpPr>
        <p:spPr>
          <a:xfrm rot="0" flipH="0" flipV="0">
            <a:off x="6534150" y="4105275"/>
            <a:ext cx="4857750" cy="161925"/>
          </a:xfrm>
          <a:prstGeom prst="rect"/>
        </p:spPr>
        <p:txBody>
          <a:bodyPr wrap="none" lIns="0" tIns="0" rIns="0" bIns="0"/>
          <a:p>
            <a:pPr>
              <a:lnSpc>
                <a:spcPct val="100000"/>
              </a:lnSpc>
            </a:pPr>
            <a:r>
              <a:rPr lang="en-US" sz="1050">
                <a:solidFill>
                  <a:srgbClr val="546779"/>
                </a:solidFill>
                <a:latin typeface="Consolas"/>
                <a:ea typeface="Consolas"/>
              </a:rPr>
              <a:t>"room_id": "craft", "date": "2026-10-17"</a:t>
            </a:r>
            <a:endParaRPr/>
          </a:p>
        </p:txBody>
      </p:sp>
      <p:sp>
        <p:nvSpPr>
          <p:cNvPr id="707" name=""/>
          <p:cNvSpPr/>
          <p:nvPr/>
        </p:nvSpPr>
        <p:spPr>
          <a:xfrm rot="0" flipH="0" flipV="0">
            <a:off x="4533900" y="4772025"/>
            <a:ext cx="7048500" cy="1181100"/>
          </a:xfrm>
          <a:prstGeom prst="roundRect">
            <a:avLst>
              <a:gd name="adj" fmla="val 8065"/>
            </a:avLst>
          </a:prstGeom>
          <a:solidFill>
            <a:srgbClr val="ECF7F2"/>
          </a:solidFill>
          <a:ln/>
        </p:spPr>
        <p:txBody>
          <a:bodyPr/>
          <a:p/>
        </p:txBody>
      </p:sp>
      <p:sp>
        <p:nvSpPr>
          <p:cNvPr id="708" name=""/>
          <p:cNvSpPr/>
          <p:nvPr/>
        </p:nvSpPr>
        <p:spPr>
          <a:xfrm rot="0" flipH="0" flipV="0">
            <a:off x="4724400" y="5000625"/>
            <a:ext cx="38100" cy="723900"/>
          </a:xfrm>
          <a:prstGeom prst="rect">
            <a:avLst/>
          </a:prstGeom>
          <a:solidFill>
            <a:srgbClr val="26816B"/>
          </a:solidFill>
          <a:ln/>
        </p:spPr>
        <p:txBody>
          <a:bodyPr/>
          <a:p/>
        </p:txBody>
      </p:sp>
      <p:sp>
        <p:nvSpPr>
          <p:cNvPr id="709" name="" descr="{&quot;isTemplate&quot;:true,&quot;type&quot;:&quot;text&quot;}"/>
          <p:cNvSpPr txBox="1"/>
          <p:nvPr/>
        </p:nvSpPr>
        <p:spPr>
          <a:xfrm rot="0" flipH="0" flipV="0">
            <a:off x="4933950" y="5257800"/>
            <a:ext cx="1428750" cy="209550"/>
          </a:xfrm>
          <a:prstGeom prst="rect"/>
        </p:spPr>
        <p:txBody>
          <a:bodyPr wrap="none" lIns="0" tIns="0" rIns="0" bIns="0"/>
          <a:p>
            <a:pPr>
              <a:lnSpc>
                <a:spcPct val="100000"/>
              </a:lnSpc>
            </a:pPr>
            <a:r>
              <a:rPr lang="en-US" sz="1350" b="1">
                <a:solidFill>
                  <a:srgbClr val="26816B"/>
                </a:solidFill>
                <a:latin typeface="Consolas"/>
                <a:ea typeface="Consolas"/>
              </a:rPr>
              <a:t>call_id</a:t>
            </a:r>
            <a:endParaRPr/>
          </a:p>
        </p:txBody>
      </p:sp>
      <p:sp>
        <p:nvSpPr>
          <p:cNvPr id="710" name="" descr="{&quot;isTemplate&quot;:true,&quot;type&quot;:&quot;text&quot;}"/>
          <p:cNvSpPr txBox="1"/>
          <p:nvPr/>
        </p:nvSpPr>
        <p:spPr>
          <a:xfrm rot="0" flipH="0" flipV="0">
            <a:off x="6534150" y="5124450"/>
            <a:ext cx="4857750" cy="276225"/>
          </a:xfrm>
          <a:prstGeom prst="rect"/>
        </p:spPr>
        <p:txBody>
          <a:bodyPr wrap="none" lIns="0" tIns="0" rIns="0" bIns="0"/>
          <a:p>
            <a:pPr>
              <a:lnSpc>
                <a:spcPct val="150000"/>
              </a:lnSpc>
            </a:pPr>
            <a:r>
              <a:rPr lang="zh-CN" sz="1200">
                <a:solidFill>
                  <a:srgbClr val="20344B"/>
                </a:solidFill>
                <a:latin typeface="Microsoft YaHei"/>
                <a:ea typeface="Microsoft YaHei"/>
              </a:rPr>
              <a:t>把结果认回原来那次调用</a:t>
            </a:r>
            <a:endParaRPr/>
          </a:p>
        </p:txBody>
      </p:sp>
      <p:sp>
        <p:nvSpPr>
          <p:cNvPr id="711" name="" descr="{&quot;isTemplate&quot;:true,&quot;type&quot;:&quot;text&quot;}"/>
          <p:cNvSpPr txBox="1"/>
          <p:nvPr/>
        </p:nvSpPr>
        <p:spPr>
          <a:xfrm rot="0" flipH="0" flipV="0">
            <a:off x="6534150" y="5438775"/>
            <a:ext cx="4857750" cy="161925"/>
          </a:xfrm>
          <a:prstGeom prst="rect"/>
        </p:spPr>
        <p:txBody>
          <a:bodyPr wrap="none" lIns="0" tIns="0" rIns="0" bIns="0"/>
          <a:p>
            <a:pPr>
              <a:lnSpc>
                <a:spcPct val="100000"/>
              </a:lnSpc>
            </a:pPr>
            <a:r>
              <a:rPr lang="zh-CN" sz="1050">
                <a:solidFill>
                  <a:srgbClr val="546779"/>
                </a:solidFill>
                <a:latin typeface="Consolas"/>
                <a:ea typeface="Consolas"/>
              </a:rPr>
              <a:t>回填时原样带回，不能替换</a:t>
            </a:r>
            <a:endParaRPr/>
          </a:p>
        </p:txBody>
      </p:sp>
      <p:sp>
        <p:nvSpPr>
          <p:cNvPr id="712"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713"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09 / 26</a:t>
            </a:r>
            <a:endParaRPr/>
          </a:p>
        </p:txBody>
      </p:sp>
    </p:spTree>
  </p:cSld>
</p:sld>
</file>

<file path=ppt/slides/slide10.xml><?xml version="1.0" encoding="utf-8"?>
<p:sld xmlns:p="http://schemas.openxmlformats.org/presentationml/2006/main" xmlns:a="http://schemas.openxmlformats.org/drawingml/2006/main">
  <p:cSld>
    <p:spTree>
      <p:nvGrpSpPr>
        <p:cNvPr id="32" name="" descr="&lt;Slide notes={`把一次调用摊开来看，是这样一条链。&#10;&#10;每条 function_call 带着名称、参数和 call_id 进来，应用实际执行对应的工具，然后用同一份 call_id 把 function_call_output 送出去。下一轮的输入里，要包含完整的输出项和各条工具结果。&#10;&#10;旁边还有一条同样重要的线：保留完整的 response.output。不能只取调用名，也不能只取最后那段给人看的文字。与会话有关的其他条目丢掉了，后面的推理就会缺东西，用推理模型的时候尤其明显。&#10;&#10;最后一条规则是给多调用准备的：一次响应里可能有多个调用，必须逐条关联，不能只处理第一个。同时查三个房间，就老老实实处理三条结果。`}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2　一轮调用包含哪些证据&lt;/Text&gt;&#10;            &lt;Text style={{ fontSize: 34, fontWeight: 'bold', color: '#20344B' }}&gt;用同一个 call_id 关联结果&lt;/Text&gt;&#10;        &lt;/Box&gt;&#10;    &lt;/Box&gt;&#10;&#10;    &lt;Box style={{ height: 540, flexDirection: 'column', justifyContent: 'center', gap: 18 }}&gt;&#10;&#10;        &lt;Box style={{ flexDirection: 'row', justifyContent: 'center' }}&gt;&#10;            &lt;Box style={{ width: 340, height: 130, background: '#EDF4FC', borderRadius: 8, padding: '14px 16px', flexDirection: 'column', gap: 5, justifyContent: 'center' }}&gt;&#10;                &lt;Text style={{ fontSize: 18, fontWeight: 'bold', color: '#276FBF' }}&gt;每条 function_call&lt;/Text&gt;&#10;                &lt;Text style={{ fontSize: 14, color: '#546779', lineHeight: 1.5 }}&gt;name、arguments{'\n'}与 call_id&lt;/Text&gt;&#10;            &lt;/Box&gt;&#10;            &lt;Box style={{ width: 44, height: 130, justifyContent: 'center', alignItems: 'center' }}&gt;&lt;Text style={{ fontSize: 26, color: '#276FBF' }}&gt;›&lt;/Text&gt;&lt;/Box&gt;&#10;            &lt;Box style={{ width: 340, height: 130, background: '#EDF4FC', borderRadius: 8, padding: '14px 16px', flexDirection: 'column', gap: 5, justifyContent: 'center' }}&gt;&#10;                &lt;Text style={{ fontSize: 18, fontWeight: 'bold', color: '#276FBF' }}&gt;应用实际执行&lt;/Text&gt;&#10;                &lt;Text style={{ fontSize: 14, color: '#546779', lineHeight: 1.5 }}&gt;校验通过后调用{'\n'}对应的只读工具&lt;/Text&gt;&#10;            &lt;/Box&gt;&#10;            &lt;Box style={{ width: 44, height: 130, justifyContent: 'center', alignItems: 'center' }}&gt;&lt;Text style={{ fontSize: 26, color: '#26816B' }}&gt;›&lt;/Text&gt;&lt;/Box&gt;&#10;            &lt;Box style={{ width: 340, height: 130, background: '#ECF7F2', borderRadius: 8, padding: '14px 16px', flexDirection: 'column', gap: 5, justifyContent: 'center' }}&gt;&#10;                &lt;Text style={{ fontSize: 18, fontWeight: 'bold', color: '#26816B' }}&gt;function_call_output&lt;/Text&gt;&#10;                &lt;Text style={{ fontSize: 14, color: '#546779', lineHeight: 1.5 }}&gt;实际 output{'\n'}与同一个 call_id&lt;/Text&gt;&#10;            &lt;/Box&gt;&#10;        &lt;/Box&gt;&#10;&#10;        &lt;Box style={{ flexDirection: 'row', justifyContent: 'center' }}&gt;&#10;            &lt;Box style={{ width: 44, height: 26, justifyContent: 'center', alignItems: 'center' }}&gt;&lt;Text style={{ fontSize: 18, color: '#26816B' }}&gt;↓&lt;/Text&gt;&lt;/Box&gt;&#10;        &lt;/Box&gt;&#10;&#10;        &lt;Box style={{ flexDirection: 'row', justifyContent: 'center' }}&gt;&#10;            &lt;Box style={{ width: 554, height: 110, background: '#EDF4FC', borderRadius: 8, padding: '14px 16px', flexDirection: 'column', gap: 5, justifyContent: 'center' }}&gt;&#10;                &lt;Text style={{ fontSize: 17, fontWeight: 'bold', color: '#276FBF' }}&gt;保留完整 response.output&lt;/Text&gt;&#10;                &lt;Text style={{ fontSize: 14, color: '#546779', lineHeight: 1.5 }}&gt;不只取调用名或最终文字，其它输出条目同样要留住&lt;/Text&gt;&#10;            &lt;/Box&gt;&#10;            &lt;Box style={{ width: 44, height: 110, justifyContent: 'center', alignItems: 'center' }}&gt;&lt;Text style={{ fontSize: 26, color: '#26816B' }}&gt;›&lt;/Text&gt;&lt;/Box&gt;&#10;            &lt;Box style={{ width: 554, height: 110, background: '#ECF7F2', borderRadius: 8, padding: '14px 16px', flexDirection: 'column', gap: 5, justifyContent: 'center' }}&gt;&#10;                &lt;Text style={{ fontSize: 17, fontWeight: 'bold', color: '#26816B' }}&gt;下一轮的输入&lt;/Text&gt;&#10;                &lt;Text style={{ fontSize: 14, color: '#546779', lineHeight: 1.5 }}&gt;完整输出项与各条工具结果一起发出去&lt;/Text&gt;&#10;            &lt;/Box&gt;&#10;        &lt;/Box&gt;&#10;&#10;        &lt;Box style={{ flexDirection: 'row', alignItems: 'center', gap: 16, background: '#FFF4E6', borderRadius: 10, padding: '0 20px', height: 76 }}&gt;&#10;            &lt;Box style={{ width: 4, height: 44, background: '#CB6B28' }} /&gt;&#10;            &lt;Text style={{ fontSize: 16, color: '#20344B', lineHeight: 1.5 }}&gt;一次响应可能含多个调用，逐条关联，不能只处理第一个。&lt;/Text&gt;&#10;        &lt;/Box&gt;&#10;&#10;    &lt;/Box&gt;&#10;&#10;    &lt;Box style={{ height: 40, flexDirection: 'row', justifyContent: 'space-between', alignItems: 'center' }}&gt;&#10;        &lt;Text style={{ fontSize: 14, color: '#546779' }}&gt;2.5 Function Calling&lt;/Text&gt;&#10;        &lt;Text style={{ fontSize: 14, color: '#546779' }}&gt;10 / 26&lt;/Text&gt;&#10;    &lt;/Box&gt;&#10;&#10;&lt;/Slide&gt;&#10;"/>
        <p:cNvGrpSpPr/>
        <p:nvPr/>
      </p:nvGrpSpPr>
      <p:grpSpPr>
        <a:xfrm>
          <a:off x="0" y="0"/>
          <a:ext cx="0" cy="0"/>
          <a:chOff x="0" y="0"/>
          <a:chExt cx="0" cy="0"/>
        </a:xfrm>
      </p:grpSpPr>
      <p:sp>
        <p:nvSpPr>
          <p:cNvPr id="33" name=""/>
          <p:cNvSpPr/>
          <p:nvPr/>
        </p:nvSpPr>
        <p:spPr>
          <a:xfrm rot="0" flipH="0" flipV="0">
            <a:off x="0" y="0"/>
            <a:ext cx="12192000" cy="6858000"/>
          </a:xfrm>
          <a:prstGeom prst="rect">
            <a:avLst/>
          </a:prstGeom>
          <a:solidFill>
            <a:srgbClr val="FFFFFF"/>
          </a:solidFill>
          <a:ln/>
        </p:spPr>
        <p:txBody>
          <a:bodyPr/>
          <a:p/>
        </p:txBody>
      </p:sp>
      <p:sp>
        <p:nvSpPr>
          <p:cNvPr id="34" name=""/>
          <p:cNvSpPr/>
          <p:nvPr/>
        </p:nvSpPr>
        <p:spPr>
          <a:xfrm rot="0" flipH="0" flipV="0">
            <a:off x="609600" y="457200"/>
            <a:ext cx="38100" cy="419100"/>
          </a:xfrm>
          <a:prstGeom prst="rect">
            <a:avLst/>
          </a:prstGeom>
          <a:solidFill>
            <a:srgbClr val="276FBF"/>
          </a:solidFill>
          <a:ln/>
        </p:spPr>
        <p:txBody>
          <a:bodyPr/>
          <a:p/>
        </p:txBody>
      </p:sp>
      <p:sp>
        <p:nvSpPr>
          <p:cNvPr id="35" name="" descr="{&quot;isTemplate&quot;:true,&quot;type&quot;:&quot;text&quot;}"/>
          <p:cNvSpPr txBox="1"/>
          <p:nvPr/>
        </p:nvSpPr>
        <p:spPr>
          <a:xfrm rot="0" flipH="0" flipV="0">
            <a:off x="838200" y="371475"/>
            <a:ext cx="3790950" cy="161925"/>
          </a:xfrm>
          <a:prstGeom prst="rect"/>
        </p:spPr>
        <p:txBody>
          <a:bodyPr wrap="none" lIns="0" tIns="0" rIns="0" bIns="0"/>
          <a:p>
            <a:pPr>
              <a:lnSpc>
                <a:spcPct val="100000"/>
              </a:lnSpc>
            </a:pPr>
            <a:r>
              <a:rPr lang="en-US" sz="1050">
                <a:solidFill>
                  <a:srgbClr val="546779"/>
                </a:solidFill>
                <a:latin typeface="Microsoft YaHei"/>
                <a:ea typeface="Microsoft YaHei"/>
              </a:rPr>
              <a:t>2.5.2</a:t>
            </a:r>
            <a:r>
              <a:rPr lang="zh-CN" sz="1050">
                <a:solidFill>
                  <a:srgbClr val="546779"/>
                </a:solidFill>
                <a:latin typeface="Microsoft YaHei"/>
                <a:ea typeface="Microsoft YaHei"/>
              </a:rPr>
              <a:t>　一轮调用包含哪些证据</a:t>
            </a:r>
            <a:endParaRPr/>
          </a:p>
        </p:txBody>
      </p:sp>
      <p:sp>
        <p:nvSpPr>
          <p:cNvPr id="36" name="" descr="{&quot;isTemplate&quot;:true,&quot;type&quot;:&quot;text&quot;}"/>
          <p:cNvSpPr txBox="1"/>
          <p:nvPr/>
        </p:nvSpPr>
        <p:spPr>
          <a:xfrm rot="0" flipH="0" flipV="0">
            <a:off x="838200" y="571500"/>
            <a:ext cx="3790950" cy="390525"/>
          </a:xfrm>
          <a:prstGeom prst="rect"/>
        </p:spPr>
        <p:txBody>
          <a:bodyPr wrap="none" lIns="0" tIns="0" rIns="0" bIns="0"/>
          <a:p>
            <a:pPr>
              <a:lnSpc>
                <a:spcPct val="100000"/>
              </a:lnSpc>
            </a:pPr>
            <a:r>
              <a:rPr lang="zh-CN" sz="2550" b="1">
                <a:solidFill>
                  <a:srgbClr val="20344B"/>
                </a:solidFill>
                <a:latin typeface="Microsoft YaHei"/>
                <a:ea typeface="Microsoft YaHei"/>
              </a:rPr>
              <a:t>用同一个</a:t>
            </a:r>
            <a:r>
              <a:rPr lang="en-US" sz="2550" b="1">
                <a:solidFill>
                  <a:srgbClr val="20344B"/>
                </a:solidFill>
                <a:latin typeface="Microsoft YaHei"/>
                <a:ea typeface="Microsoft YaHei"/>
              </a:rPr>
              <a:t xml:space="preserve"> call_id </a:t>
            </a:r>
            <a:r>
              <a:rPr lang="zh-CN" sz="2550" b="1">
                <a:solidFill>
                  <a:srgbClr val="20344B"/>
                </a:solidFill>
                <a:latin typeface="Microsoft YaHei"/>
                <a:ea typeface="Microsoft YaHei"/>
              </a:rPr>
              <a:t>关联结果</a:t>
            </a:r>
            <a:endParaRPr/>
          </a:p>
        </p:txBody>
      </p:sp>
      <p:sp>
        <p:nvSpPr>
          <p:cNvPr id="37" name=""/>
          <p:cNvSpPr/>
          <p:nvPr/>
        </p:nvSpPr>
        <p:spPr>
          <a:xfrm rot="0" flipH="0" flipV="0">
            <a:off x="819150" y="1828800"/>
            <a:ext cx="3238500" cy="1238250"/>
          </a:xfrm>
          <a:prstGeom prst="roundRect">
            <a:avLst>
              <a:gd name="adj" fmla="val 6154"/>
            </a:avLst>
          </a:prstGeom>
          <a:solidFill>
            <a:srgbClr val="EDF4FC"/>
          </a:solidFill>
          <a:ln/>
        </p:spPr>
        <p:txBody>
          <a:bodyPr/>
          <a:p/>
        </p:txBody>
      </p:sp>
      <p:sp>
        <p:nvSpPr>
          <p:cNvPr id="38" name="" descr="{&quot;isTemplate&quot;:true,&quot;type&quot;:&quot;text&quot;}"/>
          <p:cNvSpPr txBox="1"/>
          <p:nvPr/>
        </p:nvSpPr>
        <p:spPr>
          <a:xfrm rot="0" flipH="0" flipV="0">
            <a:off x="971550" y="2076450"/>
            <a:ext cx="2933700" cy="209550"/>
          </a:xfrm>
          <a:prstGeom prst="rect"/>
        </p:spPr>
        <p:txBody>
          <a:bodyPr wrap="none" lIns="0" tIns="0" rIns="0" bIns="0"/>
          <a:p>
            <a:pPr>
              <a:lnSpc>
                <a:spcPct val="100000"/>
              </a:lnSpc>
            </a:pPr>
            <a:r>
              <a:rPr lang="zh-CN" sz="1350" b="1">
                <a:solidFill>
                  <a:srgbClr val="276FBF"/>
                </a:solidFill>
                <a:latin typeface="Microsoft YaHei"/>
                <a:ea typeface="Microsoft YaHei"/>
              </a:rPr>
              <a:t>每条</a:t>
            </a:r>
            <a:r>
              <a:rPr lang="en-US" sz="1350" b="1">
                <a:solidFill>
                  <a:srgbClr val="276FBF"/>
                </a:solidFill>
                <a:latin typeface="Microsoft YaHei"/>
                <a:ea typeface="Microsoft YaHei"/>
              </a:rPr>
              <a:t xml:space="preserve"> function_call</a:t>
            </a:r>
            <a:endParaRPr/>
          </a:p>
        </p:txBody>
      </p:sp>
      <p:sp>
        <p:nvSpPr>
          <p:cNvPr id="39" name="" descr="{&quot;isTemplate&quot;:true,&quot;type&quot;:&quot;text&quot;}"/>
          <p:cNvSpPr txBox="1"/>
          <p:nvPr/>
        </p:nvSpPr>
        <p:spPr>
          <a:xfrm rot="0" flipH="0" flipV="0">
            <a:off x="971550" y="2333625"/>
            <a:ext cx="2933700" cy="485775"/>
          </a:xfrm>
          <a:prstGeom prst="rect"/>
        </p:spPr>
        <p:txBody>
          <a:bodyPr wrap="none" lIns="0" tIns="0" rIns="0" bIns="0"/>
          <a:p>
            <a:pPr>
              <a:lnSpc>
                <a:spcPct val="150000"/>
              </a:lnSpc>
            </a:pPr>
            <a:r>
              <a:rPr lang="en-US" sz="1050">
                <a:solidFill>
                  <a:srgbClr val="546779"/>
                </a:solidFill>
                <a:latin typeface="Microsoft YaHei"/>
                <a:ea typeface="Microsoft YaHei"/>
              </a:rPr>
              <a:t>name</a:t>
            </a:r>
            <a:r>
              <a:rPr lang="zh-CN" sz="1050">
                <a:solidFill>
                  <a:srgbClr val="546779"/>
                </a:solidFill>
                <a:latin typeface="Microsoft YaHei"/>
                <a:ea typeface="Microsoft YaHei"/>
              </a:rPr>
              <a:t>、</a:t>
            </a:r>
            <a:r>
              <a:rPr lang="en-US" sz="1050">
                <a:solidFill>
                  <a:srgbClr val="546779"/>
                </a:solidFill>
                <a:latin typeface="Microsoft YaHei"/>
                <a:ea typeface="Microsoft YaHei"/>
              </a:rPr>
              <a:t>arguments</a:t>
            </a:r>
            <a:endParaRPr/>
          </a:p>
          <a:p>
            <a:pPr>
              <a:lnSpc>
                <a:spcPct val="150000"/>
              </a:lnSpc>
            </a:pPr>
            <a:r>
              <a:rPr lang="zh-CN" sz="1050">
                <a:solidFill>
                  <a:srgbClr val="546779"/>
                </a:solidFill>
                <a:latin typeface="Microsoft YaHei"/>
                <a:ea typeface="Microsoft YaHei"/>
              </a:rPr>
              <a:t>与</a:t>
            </a:r>
            <a:r>
              <a:rPr lang="en-US" sz="1050">
                <a:solidFill>
                  <a:srgbClr val="546779"/>
                </a:solidFill>
                <a:latin typeface="Microsoft YaHei"/>
                <a:ea typeface="Microsoft YaHei"/>
              </a:rPr>
              <a:t xml:space="preserve"> call_id</a:t>
            </a:r>
            <a:endParaRPr/>
          </a:p>
        </p:txBody>
      </p:sp>
      <p:sp>
        <p:nvSpPr>
          <p:cNvPr id="40" name="" descr="{&quot;isTemplate&quot;:true,&quot;type&quot;:&quot;text&quot;}"/>
          <p:cNvSpPr txBox="1"/>
          <p:nvPr/>
        </p:nvSpPr>
        <p:spPr>
          <a:xfrm rot="0" flipH="0" flipV="0">
            <a:off x="4229100" y="2295525"/>
            <a:ext cx="85725" cy="304800"/>
          </a:xfrm>
          <a:prstGeom prst="rect"/>
        </p:spPr>
        <p:txBody>
          <a:bodyPr wrap="none" lIns="0" tIns="0" rIns="0" bIns="0"/>
          <a:p>
            <a:pPr>
              <a:lnSpc>
                <a:spcPct val="100000"/>
              </a:lnSpc>
            </a:pPr>
            <a:r>
              <a:rPr sz="1950">
                <a:solidFill>
                  <a:srgbClr val="276FBF"/>
                </a:solidFill>
                <a:latin typeface="Microsoft YaHei"/>
                <a:ea typeface="Microsoft YaHei"/>
              </a:rPr>
              <a:t>›</a:t>
            </a:r>
            <a:endParaRPr/>
          </a:p>
        </p:txBody>
      </p:sp>
      <p:sp>
        <p:nvSpPr>
          <p:cNvPr id="41" name=""/>
          <p:cNvSpPr/>
          <p:nvPr/>
        </p:nvSpPr>
        <p:spPr>
          <a:xfrm rot="0" flipH="0" flipV="0">
            <a:off x="4476750" y="1828800"/>
            <a:ext cx="3238500" cy="1238250"/>
          </a:xfrm>
          <a:prstGeom prst="roundRect">
            <a:avLst>
              <a:gd name="adj" fmla="val 6154"/>
            </a:avLst>
          </a:prstGeom>
          <a:solidFill>
            <a:srgbClr val="EDF4FC"/>
          </a:solidFill>
          <a:ln/>
        </p:spPr>
        <p:txBody>
          <a:bodyPr/>
          <a:p/>
        </p:txBody>
      </p:sp>
      <p:sp>
        <p:nvSpPr>
          <p:cNvPr id="42" name="" descr="{&quot;isTemplate&quot;:true,&quot;type&quot;:&quot;text&quot;}"/>
          <p:cNvSpPr txBox="1"/>
          <p:nvPr/>
        </p:nvSpPr>
        <p:spPr>
          <a:xfrm rot="0" flipH="0" flipV="0">
            <a:off x="4629150" y="2076450"/>
            <a:ext cx="2933700" cy="209550"/>
          </a:xfrm>
          <a:prstGeom prst="rect"/>
        </p:spPr>
        <p:txBody>
          <a:bodyPr wrap="none" lIns="0" tIns="0" rIns="0" bIns="0"/>
          <a:p>
            <a:pPr>
              <a:lnSpc>
                <a:spcPct val="100000"/>
              </a:lnSpc>
            </a:pPr>
            <a:r>
              <a:rPr lang="zh-CN" sz="1350" b="1">
                <a:solidFill>
                  <a:srgbClr val="276FBF"/>
                </a:solidFill>
                <a:latin typeface="Microsoft YaHei"/>
                <a:ea typeface="Microsoft YaHei"/>
              </a:rPr>
              <a:t>应用实际执行</a:t>
            </a:r>
            <a:endParaRPr/>
          </a:p>
        </p:txBody>
      </p:sp>
      <p:sp>
        <p:nvSpPr>
          <p:cNvPr id="43" name="" descr="{&quot;isTemplate&quot;:true,&quot;type&quot;:&quot;text&quot;}"/>
          <p:cNvSpPr txBox="1"/>
          <p:nvPr/>
        </p:nvSpPr>
        <p:spPr>
          <a:xfrm rot="0" flipH="0" flipV="0">
            <a:off x="4629150" y="2333625"/>
            <a:ext cx="2933700" cy="485775"/>
          </a:xfrm>
          <a:prstGeom prst="rect"/>
        </p:spPr>
        <p:txBody>
          <a:bodyPr wrap="none" lIns="0" tIns="0" rIns="0" bIns="0"/>
          <a:p>
            <a:pPr>
              <a:lnSpc>
                <a:spcPct val="150000"/>
              </a:lnSpc>
            </a:pPr>
            <a:r>
              <a:rPr lang="zh-CN" sz="1050">
                <a:solidFill>
                  <a:srgbClr val="546779"/>
                </a:solidFill>
                <a:latin typeface="Microsoft YaHei"/>
                <a:ea typeface="Microsoft YaHei"/>
              </a:rPr>
              <a:t>校验通过后调用</a:t>
            </a:r>
            <a:endParaRPr/>
          </a:p>
          <a:p>
            <a:pPr>
              <a:lnSpc>
                <a:spcPct val="150000"/>
              </a:lnSpc>
            </a:pPr>
            <a:r>
              <a:rPr lang="zh-CN" sz="1050">
                <a:solidFill>
                  <a:srgbClr val="546779"/>
                </a:solidFill>
                <a:latin typeface="Microsoft YaHei"/>
                <a:ea typeface="Microsoft YaHei"/>
              </a:rPr>
              <a:t>对应的只读工具</a:t>
            </a:r>
            <a:endParaRPr/>
          </a:p>
        </p:txBody>
      </p:sp>
      <p:sp>
        <p:nvSpPr>
          <p:cNvPr id="44" name="" descr="{&quot;isTemplate&quot;:true,&quot;type&quot;:&quot;text&quot;}"/>
          <p:cNvSpPr txBox="1"/>
          <p:nvPr/>
        </p:nvSpPr>
        <p:spPr>
          <a:xfrm rot="0" flipH="0" flipV="0">
            <a:off x="7886700" y="2295525"/>
            <a:ext cx="85725" cy="304800"/>
          </a:xfrm>
          <a:prstGeom prst="rect"/>
        </p:spPr>
        <p:txBody>
          <a:bodyPr wrap="none" lIns="0" tIns="0" rIns="0" bIns="0"/>
          <a:p>
            <a:pPr>
              <a:lnSpc>
                <a:spcPct val="100000"/>
              </a:lnSpc>
            </a:pPr>
            <a:r>
              <a:rPr sz="1950">
                <a:solidFill>
                  <a:srgbClr val="26816B"/>
                </a:solidFill>
                <a:latin typeface="Microsoft YaHei"/>
                <a:ea typeface="Microsoft YaHei"/>
              </a:rPr>
              <a:t>›</a:t>
            </a:r>
            <a:endParaRPr/>
          </a:p>
        </p:txBody>
      </p:sp>
      <p:sp>
        <p:nvSpPr>
          <p:cNvPr id="45" name=""/>
          <p:cNvSpPr/>
          <p:nvPr/>
        </p:nvSpPr>
        <p:spPr>
          <a:xfrm rot="0" flipH="0" flipV="0">
            <a:off x="8134350" y="1828800"/>
            <a:ext cx="3238500" cy="1238250"/>
          </a:xfrm>
          <a:prstGeom prst="roundRect">
            <a:avLst>
              <a:gd name="adj" fmla="val 6154"/>
            </a:avLst>
          </a:prstGeom>
          <a:solidFill>
            <a:srgbClr val="ECF7F2"/>
          </a:solidFill>
          <a:ln/>
        </p:spPr>
        <p:txBody>
          <a:bodyPr/>
          <a:p/>
        </p:txBody>
      </p:sp>
      <p:sp>
        <p:nvSpPr>
          <p:cNvPr id="46" name="" descr="{&quot;isTemplate&quot;:true,&quot;type&quot;:&quot;text&quot;}"/>
          <p:cNvSpPr txBox="1"/>
          <p:nvPr/>
        </p:nvSpPr>
        <p:spPr>
          <a:xfrm rot="0" flipH="0" flipV="0">
            <a:off x="8286750" y="2076450"/>
            <a:ext cx="2933700" cy="209550"/>
          </a:xfrm>
          <a:prstGeom prst="rect"/>
        </p:spPr>
        <p:txBody>
          <a:bodyPr wrap="none" lIns="0" tIns="0" rIns="0" bIns="0"/>
          <a:p>
            <a:pPr>
              <a:lnSpc>
                <a:spcPct val="100000"/>
              </a:lnSpc>
            </a:pPr>
            <a:r>
              <a:rPr lang="en-US" sz="1350" b="1">
                <a:solidFill>
                  <a:srgbClr val="26816B"/>
                </a:solidFill>
                <a:latin typeface="Microsoft YaHei"/>
                <a:ea typeface="Microsoft YaHei"/>
              </a:rPr>
              <a:t>function_call_output</a:t>
            </a:r>
            <a:endParaRPr/>
          </a:p>
        </p:txBody>
      </p:sp>
      <p:sp>
        <p:nvSpPr>
          <p:cNvPr id="47" name="" descr="{&quot;isTemplate&quot;:true,&quot;type&quot;:&quot;text&quot;}"/>
          <p:cNvSpPr txBox="1"/>
          <p:nvPr/>
        </p:nvSpPr>
        <p:spPr>
          <a:xfrm rot="0" flipH="0" flipV="0">
            <a:off x="8286750" y="2333625"/>
            <a:ext cx="2933700" cy="485775"/>
          </a:xfrm>
          <a:prstGeom prst="rect"/>
        </p:spPr>
        <p:txBody>
          <a:bodyPr wrap="none" lIns="0" tIns="0" rIns="0" bIns="0"/>
          <a:p>
            <a:pPr>
              <a:lnSpc>
                <a:spcPct val="150000"/>
              </a:lnSpc>
            </a:pPr>
            <a:r>
              <a:rPr lang="zh-CN" sz="1050">
                <a:solidFill>
                  <a:srgbClr val="546779"/>
                </a:solidFill>
                <a:latin typeface="Microsoft YaHei"/>
                <a:ea typeface="Microsoft YaHei"/>
              </a:rPr>
              <a:t>实际</a:t>
            </a:r>
            <a:r>
              <a:rPr lang="en-US" sz="1050">
                <a:solidFill>
                  <a:srgbClr val="546779"/>
                </a:solidFill>
                <a:latin typeface="Microsoft YaHei"/>
                <a:ea typeface="Microsoft YaHei"/>
              </a:rPr>
              <a:t xml:space="preserve"> output</a:t>
            </a:r>
            <a:endParaRPr/>
          </a:p>
          <a:p>
            <a:pPr>
              <a:lnSpc>
                <a:spcPct val="150000"/>
              </a:lnSpc>
            </a:pPr>
            <a:r>
              <a:rPr lang="zh-CN" sz="1050">
                <a:solidFill>
                  <a:srgbClr val="546779"/>
                </a:solidFill>
                <a:latin typeface="Microsoft YaHei"/>
                <a:ea typeface="Microsoft YaHei"/>
              </a:rPr>
              <a:t>与同一个</a:t>
            </a:r>
            <a:r>
              <a:rPr lang="en-US" sz="1050">
                <a:solidFill>
                  <a:srgbClr val="546779"/>
                </a:solidFill>
                <a:latin typeface="Microsoft YaHei"/>
                <a:ea typeface="Microsoft YaHei"/>
              </a:rPr>
              <a:t xml:space="preserve"> call_id</a:t>
            </a:r>
            <a:endParaRPr/>
          </a:p>
        </p:txBody>
      </p:sp>
      <p:sp>
        <p:nvSpPr>
          <p:cNvPr id="48" name="" descr="{&quot;isTemplate&quot;:true,&quot;type&quot;:&quot;text&quot;}"/>
          <p:cNvSpPr txBox="1"/>
          <p:nvPr/>
        </p:nvSpPr>
        <p:spPr>
          <a:xfrm rot="0" flipH="0" flipV="0">
            <a:off x="6057900" y="3257550"/>
            <a:ext cx="85725" cy="209550"/>
          </a:xfrm>
          <a:prstGeom prst="rect"/>
        </p:spPr>
        <p:txBody>
          <a:bodyPr wrap="none" lIns="0" tIns="0" rIns="0" bIns="0"/>
          <a:p>
            <a:pPr>
              <a:lnSpc>
                <a:spcPct val="100000"/>
              </a:lnSpc>
            </a:pPr>
            <a:r>
              <a:rPr sz="1350">
                <a:solidFill>
                  <a:srgbClr val="26816B"/>
                </a:solidFill>
                <a:latin typeface="Microsoft YaHei"/>
                <a:ea typeface="Microsoft YaHei"/>
              </a:rPr>
              <a:t>↓</a:t>
            </a:r>
            <a:endParaRPr/>
          </a:p>
        </p:txBody>
      </p:sp>
      <p:sp>
        <p:nvSpPr>
          <p:cNvPr id="49" name=""/>
          <p:cNvSpPr/>
          <p:nvPr/>
        </p:nvSpPr>
        <p:spPr>
          <a:xfrm rot="0" flipH="0" flipV="0">
            <a:off x="609600" y="3657600"/>
            <a:ext cx="5276850" cy="1047750"/>
          </a:xfrm>
          <a:prstGeom prst="roundRect">
            <a:avLst>
              <a:gd name="adj" fmla="val 7273"/>
            </a:avLst>
          </a:prstGeom>
          <a:solidFill>
            <a:srgbClr val="EDF4FC"/>
          </a:solidFill>
          <a:ln/>
        </p:spPr>
        <p:txBody>
          <a:bodyPr/>
          <a:p/>
        </p:txBody>
      </p:sp>
      <p:sp>
        <p:nvSpPr>
          <p:cNvPr id="50" name="" descr="{&quot;isTemplate&quot;:true,&quot;type&quot;:&quot;text&quot;}"/>
          <p:cNvSpPr txBox="1"/>
          <p:nvPr/>
        </p:nvSpPr>
        <p:spPr>
          <a:xfrm rot="0" flipH="0" flipV="0">
            <a:off x="762000" y="3933825"/>
            <a:ext cx="4972050" cy="200025"/>
          </a:xfrm>
          <a:prstGeom prst="rect"/>
        </p:spPr>
        <p:txBody>
          <a:bodyPr wrap="none" lIns="0" tIns="0" rIns="0" bIns="0"/>
          <a:p>
            <a:pPr>
              <a:lnSpc>
                <a:spcPct val="100000"/>
              </a:lnSpc>
            </a:pPr>
            <a:r>
              <a:rPr lang="zh-CN" sz="1275" b="1">
                <a:solidFill>
                  <a:srgbClr val="276FBF"/>
                </a:solidFill>
                <a:latin typeface="Microsoft YaHei"/>
                <a:ea typeface="Microsoft YaHei"/>
              </a:rPr>
              <a:t>保留完整</a:t>
            </a:r>
            <a:r>
              <a:rPr lang="en-US" sz="1275" b="1">
                <a:solidFill>
                  <a:srgbClr val="276FBF"/>
                </a:solidFill>
                <a:latin typeface="Microsoft YaHei"/>
                <a:ea typeface="Microsoft YaHei"/>
              </a:rPr>
              <a:t xml:space="preserve"> response.output</a:t>
            </a:r>
            <a:endParaRPr/>
          </a:p>
        </p:txBody>
      </p:sp>
      <p:sp>
        <p:nvSpPr>
          <p:cNvPr id="51" name="" descr="{&quot;isTemplate&quot;:true,&quot;type&quot;:&quot;text&quot;}"/>
          <p:cNvSpPr txBox="1"/>
          <p:nvPr/>
        </p:nvSpPr>
        <p:spPr>
          <a:xfrm rot="0" flipH="0" flipV="0">
            <a:off x="762000" y="4181475"/>
            <a:ext cx="4972050" cy="247650"/>
          </a:xfrm>
          <a:prstGeom prst="rect"/>
        </p:spPr>
        <p:txBody>
          <a:bodyPr wrap="none" lIns="0" tIns="0" rIns="0" bIns="0"/>
          <a:p>
            <a:pPr>
              <a:lnSpc>
                <a:spcPct val="150000"/>
              </a:lnSpc>
            </a:pPr>
            <a:r>
              <a:rPr lang="zh-CN" sz="1050">
                <a:solidFill>
                  <a:srgbClr val="546779"/>
                </a:solidFill>
                <a:latin typeface="Microsoft YaHei"/>
                <a:ea typeface="Microsoft YaHei"/>
              </a:rPr>
              <a:t>不只取调用名或最终文字，其它输出条目同样要留住</a:t>
            </a:r>
            <a:endParaRPr/>
          </a:p>
        </p:txBody>
      </p:sp>
      <p:sp>
        <p:nvSpPr>
          <p:cNvPr id="52" name="" descr="{&quot;isTemplate&quot;:true,&quot;type&quot;:&quot;text&quot;}"/>
          <p:cNvSpPr txBox="1"/>
          <p:nvPr/>
        </p:nvSpPr>
        <p:spPr>
          <a:xfrm rot="0" flipH="0" flipV="0">
            <a:off x="6057900" y="4029075"/>
            <a:ext cx="85725" cy="304800"/>
          </a:xfrm>
          <a:prstGeom prst="rect"/>
        </p:spPr>
        <p:txBody>
          <a:bodyPr wrap="none" lIns="0" tIns="0" rIns="0" bIns="0"/>
          <a:p>
            <a:pPr>
              <a:lnSpc>
                <a:spcPct val="100000"/>
              </a:lnSpc>
            </a:pPr>
            <a:r>
              <a:rPr sz="1950">
                <a:solidFill>
                  <a:srgbClr val="26816B"/>
                </a:solidFill>
                <a:latin typeface="Microsoft YaHei"/>
                <a:ea typeface="Microsoft YaHei"/>
              </a:rPr>
              <a:t>›</a:t>
            </a:r>
            <a:endParaRPr/>
          </a:p>
        </p:txBody>
      </p:sp>
      <p:sp>
        <p:nvSpPr>
          <p:cNvPr id="53" name=""/>
          <p:cNvSpPr/>
          <p:nvPr/>
        </p:nvSpPr>
        <p:spPr>
          <a:xfrm rot="0" flipH="0" flipV="0">
            <a:off x="6305550" y="3657600"/>
            <a:ext cx="5276850" cy="1047750"/>
          </a:xfrm>
          <a:prstGeom prst="roundRect">
            <a:avLst>
              <a:gd name="adj" fmla="val 7273"/>
            </a:avLst>
          </a:prstGeom>
          <a:solidFill>
            <a:srgbClr val="ECF7F2"/>
          </a:solidFill>
          <a:ln/>
        </p:spPr>
        <p:txBody>
          <a:bodyPr/>
          <a:p/>
        </p:txBody>
      </p:sp>
      <p:sp>
        <p:nvSpPr>
          <p:cNvPr id="54" name="" descr="{&quot;isTemplate&quot;:true,&quot;type&quot;:&quot;text&quot;}"/>
          <p:cNvSpPr txBox="1"/>
          <p:nvPr/>
        </p:nvSpPr>
        <p:spPr>
          <a:xfrm rot="0" flipH="0" flipV="0">
            <a:off x="6457950" y="3933825"/>
            <a:ext cx="4972050" cy="200025"/>
          </a:xfrm>
          <a:prstGeom prst="rect"/>
        </p:spPr>
        <p:txBody>
          <a:bodyPr wrap="none" lIns="0" tIns="0" rIns="0" bIns="0"/>
          <a:p>
            <a:pPr>
              <a:lnSpc>
                <a:spcPct val="100000"/>
              </a:lnSpc>
            </a:pPr>
            <a:r>
              <a:rPr lang="zh-CN" sz="1275" b="1">
                <a:solidFill>
                  <a:srgbClr val="26816B"/>
                </a:solidFill>
                <a:latin typeface="Microsoft YaHei"/>
                <a:ea typeface="Microsoft YaHei"/>
              </a:rPr>
              <a:t>下一轮的输入</a:t>
            </a:r>
            <a:endParaRPr/>
          </a:p>
        </p:txBody>
      </p:sp>
      <p:sp>
        <p:nvSpPr>
          <p:cNvPr id="55" name="" descr="{&quot;isTemplate&quot;:true,&quot;type&quot;:&quot;text&quot;}"/>
          <p:cNvSpPr txBox="1"/>
          <p:nvPr/>
        </p:nvSpPr>
        <p:spPr>
          <a:xfrm rot="0" flipH="0" flipV="0">
            <a:off x="6457950" y="4181475"/>
            <a:ext cx="4972050" cy="247650"/>
          </a:xfrm>
          <a:prstGeom prst="rect"/>
        </p:spPr>
        <p:txBody>
          <a:bodyPr wrap="none" lIns="0" tIns="0" rIns="0" bIns="0"/>
          <a:p>
            <a:pPr>
              <a:lnSpc>
                <a:spcPct val="150000"/>
              </a:lnSpc>
            </a:pPr>
            <a:r>
              <a:rPr lang="zh-CN" sz="1050">
                <a:solidFill>
                  <a:srgbClr val="546779"/>
                </a:solidFill>
                <a:latin typeface="Microsoft YaHei"/>
                <a:ea typeface="Microsoft YaHei"/>
              </a:rPr>
              <a:t>完整输出项与各条工具结果一起发出去</a:t>
            </a:r>
            <a:endParaRPr/>
          </a:p>
        </p:txBody>
      </p:sp>
      <p:sp>
        <p:nvSpPr>
          <p:cNvPr id="56" name=""/>
          <p:cNvSpPr/>
          <p:nvPr/>
        </p:nvSpPr>
        <p:spPr>
          <a:xfrm rot="0" flipH="0" flipV="0">
            <a:off x="609600" y="4876800"/>
            <a:ext cx="10972800" cy="723900"/>
          </a:xfrm>
          <a:prstGeom prst="roundRect">
            <a:avLst>
              <a:gd name="adj" fmla="val 13158"/>
            </a:avLst>
          </a:prstGeom>
          <a:solidFill>
            <a:srgbClr val="FFF4E6"/>
          </a:solidFill>
          <a:ln/>
        </p:spPr>
        <p:txBody>
          <a:bodyPr/>
          <a:p/>
        </p:txBody>
      </p:sp>
      <p:sp>
        <p:nvSpPr>
          <p:cNvPr id="57" name=""/>
          <p:cNvSpPr/>
          <p:nvPr/>
        </p:nvSpPr>
        <p:spPr>
          <a:xfrm rot="0" flipH="0" flipV="0">
            <a:off x="800100" y="5029200"/>
            <a:ext cx="38100" cy="419100"/>
          </a:xfrm>
          <a:prstGeom prst="rect">
            <a:avLst/>
          </a:prstGeom>
          <a:solidFill>
            <a:srgbClr val="CB6B28"/>
          </a:solidFill>
          <a:ln/>
        </p:spPr>
        <p:txBody>
          <a:bodyPr/>
          <a:p/>
        </p:txBody>
      </p:sp>
      <p:sp>
        <p:nvSpPr>
          <p:cNvPr id="58" name="" descr="{&quot;isTemplate&quot;:true,&quot;type&quot;:&quot;text&quot;}"/>
          <p:cNvSpPr txBox="1"/>
          <p:nvPr/>
        </p:nvSpPr>
        <p:spPr>
          <a:xfrm rot="0" flipH="0" flipV="0">
            <a:off x="990600" y="5105400"/>
            <a:ext cx="3962400" cy="276225"/>
          </a:xfrm>
          <a:prstGeom prst="rect"/>
        </p:spPr>
        <p:txBody>
          <a:bodyPr wrap="none" lIns="0" tIns="0" rIns="0" bIns="0"/>
          <a:p>
            <a:pPr>
              <a:lnSpc>
                <a:spcPct val="150000"/>
              </a:lnSpc>
            </a:pPr>
            <a:r>
              <a:rPr lang="zh-CN" sz="1200">
                <a:solidFill>
                  <a:srgbClr val="20344B"/>
                </a:solidFill>
                <a:latin typeface="Microsoft YaHei"/>
                <a:ea typeface="Microsoft YaHei"/>
              </a:rPr>
              <a:t>一次响应可能含多个调用，逐条关联，不能只处理第一个。</a:t>
            </a:r>
            <a:endParaRPr/>
          </a:p>
        </p:txBody>
      </p:sp>
      <p:sp>
        <p:nvSpPr>
          <p:cNvPr id="59"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60"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10 / 26</a:t>
            </a:r>
            <a:endParaRPr/>
          </a:p>
        </p:txBody>
      </p:sp>
    </p:spTree>
  </p:cSld>
</p:sld>
</file>

<file path=ppt/slides/slide11.xml><?xml version="1.0" encoding="utf-8"?>
<p:sld xmlns:p="http://schemas.openxmlformats.org/presentationml/2006/main" xmlns:a="http://schemas.openxmlformats.org/drawingml/2006/main">
  <p:cSld>
    <p:spTree>
      <p:nvGrpSpPr>
        <p:cNvPr id="61" name="" descr="&lt;Slide notes={`有三件事不能省，我逐条说。&#10;&#10;第一件，不能拿房间 ID 代替 call_id 去匹配结果。房间是会重复出现的：十分钟前查过一次 craft，现在再查一次，两次的房间编号一模一样。只有 call_id 能说明这条结果是哪一次请求的答案。&#10;&#10;第二件，不能把不同工具的结果随意拼接。查询工具给的是预约记录和查询范围，校验工具给的是通过与否的判定，两者的含义完全不同，混在一起就说不清哪条支持哪个结论。&#10;&#10;第三件才是正确做法：先保留完整的 response.output，再把对应结果追加进去。顺序对了，每条结果各归各位，后面核对的时候才有依据。`}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2　一轮调用包含哪些证据&lt;/Text&gt;&#10;            &lt;Text style={{ fontSize: 34, fontWeight: 'bold', color: '#20344B' }}&gt;不能替换，也不能随意拼接&lt;/Text&gt;&#10;        &lt;/Box&gt;&#10;    &lt;/Box&gt;&#10;&#10;    &lt;Box style={{ height: 540, flexDirection: 'row', gap: 32, alignItems: 'center' }}&gt;&#10;&#10;        &lt;Box style={{ width: 380, flexDirection: 'column', gap: 14, justifyContent: 'center' }}&gt;&#10;            &lt;Text style={{ fontSize: 25, fontWeight: 'bold', color: '#276FBF', lineHeight: 1.45 }}&gt;图省事的三种写法&lt;/Text&gt;&#10;            &lt;Box style={{ width: 56, height: 3, background: '#26816B' }} /&gt;&#10;            &lt;Text style={{ fontSize: 17, color: '#546779', lineHeight: 1.75 }}&gt;前两种看上去都能跑通，问题出在结果多了以后：一旦有两条以上工具结果，就没有办法说明哪条支持哪个结论。&lt;/Text&gt;&#10;        &lt;/Box&gt;&#10;&#10;        &lt;Box style={{ width: 740, flexDirection: 'column', gap: 16 }}&gt;&#10;&#10;            &lt;Box style={{ height: 120, background: '#FFF4E6', borderRadius: 10, padding: '16px 20px', flexDirection: 'row', gap: 16, alignItems: 'center' }}&gt;&#10;                &lt;Box style={{ width: 4, height: 72, background: '#CB6B28' }} /&gt;&#10;                &lt;Box style={{ flexDirection: 'column', gap: 4, flex: 1 }}&gt;&#10;                    &lt;Text style={{ fontSize: 17, fontWeight: 'bold', color: '#CB6B28' }}&gt;不能换成房间 ID&lt;/Text&gt;&#10;                    &lt;Text style={{ fontSize: 15, color: '#546779', lineHeight: 1.5 }}&gt;房间会重复出现，只有 call_id 能说明这条结果属于哪一次请求。&lt;/Text&gt;&#10;                &lt;/Box&gt;&#10;            &lt;/Box&gt;&#10;&#10;            &lt;Box style={{ height: 120, background: '#FFF4E6', borderRadius: 10, padding: '16px 20px', flexDirection: 'row', gap: 16, alignItems: 'center' }}&gt;&#10;                &lt;Box style={{ width: 4, height: 72, background: '#CB6B28' }} /&gt;&#10;                &lt;Box style={{ flexDirection: 'column', gap: 4, flex: 1 }}&gt;&#10;                    &lt;Text style={{ fontSize: 17, fontWeight: 'bold', color: '#CB6B28' }}&gt;不能把不同工具的结果随意拼接&lt;/Text&gt;&#10;                    &lt;Text style={{ fontSize: 15, color: '#546779', lineHeight: 1.5 }}&gt;查询与校验返回的是两类东西，混在一起就分不清哪条支持哪个结论。&lt;/Text&gt;&#10;                &lt;/Box&gt;&#10;            &lt;/Box&gt;&#10;&#10;            &lt;Box style={{ height: 120, background: '#ECF7F2', borderRadius: 10, padding: '16px 20px', flexDirection: 'row', gap: 16, alignItems: 'center' }}&gt;&#10;                &lt;Box style={{ width: 4, height: 72, background: '#26816B' }} /&gt;&#10;                &lt;Box style={{ flexDirection: 'column', gap: 4, flex: 1 }}&gt;&#10;                    &lt;Text style={{ fontSize: 17, fontWeight: 'bold', color: '#26816B' }}&gt;保留完整输出，再逐条追加&lt;/Text&gt;&#10;                    &lt;Text style={{ fontSize: 15, color: '#546779', lineHeight: 1.5 }}&gt;先留住完整 response.output，再按 call_id 把每条结果放进历史。&lt;/Text&gt;&#10;                &lt;/Box&gt;&#10;            &lt;/Box&gt;&#10;&#10;        &lt;/Box&gt;&#10;&#10;    &lt;/Box&gt;&#10;&#10;    &lt;Box style={{ height: 40, flexDirection: 'row', justifyContent: 'space-between', alignItems: 'center' }}&gt;&#10;        &lt;Text style={{ fontSize: 14, color: '#546779' }}&gt;2.5 Function Calling&lt;/Text&gt;&#10;        &lt;Text style={{ fontSize: 14, color: '#546779' }}&gt;11 / 26&lt;/Text&gt;&#10;    &lt;/Box&gt;&#10;&#10;&lt;/Slide&gt;&#10;"/>
        <p:cNvGrpSpPr/>
        <p:nvPr/>
      </p:nvGrpSpPr>
      <p:grpSpPr>
        <a:xfrm>
          <a:off x="0" y="0"/>
          <a:ext cx="0" cy="0"/>
          <a:chOff x="0" y="0"/>
          <a:chExt cx="0" cy="0"/>
        </a:xfrm>
      </p:grpSpPr>
      <p:sp>
        <p:nvSpPr>
          <p:cNvPr id="62" name=""/>
          <p:cNvSpPr/>
          <p:nvPr/>
        </p:nvSpPr>
        <p:spPr>
          <a:xfrm rot="0" flipH="0" flipV="0">
            <a:off x="0" y="0"/>
            <a:ext cx="12192000" cy="6858000"/>
          </a:xfrm>
          <a:prstGeom prst="rect">
            <a:avLst/>
          </a:prstGeom>
          <a:solidFill>
            <a:srgbClr val="FFFFFF"/>
          </a:solidFill>
          <a:ln/>
        </p:spPr>
        <p:txBody>
          <a:bodyPr/>
          <a:p/>
        </p:txBody>
      </p:sp>
      <p:sp>
        <p:nvSpPr>
          <p:cNvPr id="63" name=""/>
          <p:cNvSpPr/>
          <p:nvPr/>
        </p:nvSpPr>
        <p:spPr>
          <a:xfrm rot="0" flipH="0" flipV="0">
            <a:off x="609600" y="457200"/>
            <a:ext cx="38100" cy="419100"/>
          </a:xfrm>
          <a:prstGeom prst="rect">
            <a:avLst/>
          </a:prstGeom>
          <a:solidFill>
            <a:srgbClr val="276FBF"/>
          </a:solidFill>
          <a:ln/>
        </p:spPr>
        <p:txBody>
          <a:bodyPr/>
          <a:p/>
        </p:txBody>
      </p:sp>
      <p:sp>
        <p:nvSpPr>
          <p:cNvPr id="64" name="" descr="{&quot;isTemplate&quot;:true,&quot;type&quot;:&quot;text&quot;}"/>
          <p:cNvSpPr txBox="1"/>
          <p:nvPr/>
        </p:nvSpPr>
        <p:spPr>
          <a:xfrm rot="0" flipH="0" flipV="0">
            <a:off x="838200" y="371475"/>
            <a:ext cx="3886200" cy="161925"/>
          </a:xfrm>
          <a:prstGeom prst="rect"/>
        </p:spPr>
        <p:txBody>
          <a:bodyPr wrap="none" lIns="0" tIns="0" rIns="0" bIns="0"/>
          <a:p>
            <a:pPr>
              <a:lnSpc>
                <a:spcPct val="100000"/>
              </a:lnSpc>
            </a:pPr>
            <a:r>
              <a:rPr lang="en-US" sz="1050">
                <a:solidFill>
                  <a:srgbClr val="546779"/>
                </a:solidFill>
                <a:latin typeface="Microsoft YaHei"/>
                <a:ea typeface="Microsoft YaHei"/>
              </a:rPr>
              <a:t>2.5.2</a:t>
            </a:r>
            <a:r>
              <a:rPr lang="zh-CN" sz="1050">
                <a:solidFill>
                  <a:srgbClr val="546779"/>
                </a:solidFill>
                <a:latin typeface="Microsoft YaHei"/>
                <a:ea typeface="Microsoft YaHei"/>
              </a:rPr>
              <a:t>　一轮调用包含哪些证据</a:t>
            </a:r>
            <a:endParaRPr/>
          </a:p>
        </p:txBody>
      </p:sp>
      <p:sp>
        <p:nvSpPr>
          <p:cNvPr id="65" name="" descr="{&quot;isTemplate&quot;:true,&quot;type&quot;:&quot;text&quot;}"/>
          <p:cNvSpPr txBox="1"/>
          <p:nvPr/>
        </p:nvSpPr>
        <p:spPr>
          <a:xfrm rot="0" flipH="0" flipV="0">
            <a:off x="838200" y="571500"/>
            <a:ext cx="3886200" cy="390525"/>
          </a:xfrm>
          <a:prstGeom prst="rect"/>
        </p:spPr>
        <p:txBody>
          <a:bodyPr wrap="none" lIns="0" tIns="0" rIns="0" bIns="0"/>
          <a:p>
            <a:pPr>
              <a:lnSpc>
                <a:spcPct val="100000"/>
              </a:lnSpc>
            </a:pPr>
            <a:r>
              <a:rPr lang="zh-CN" sz="2550" b="1">
                <a:solidFill>
                  <a:srgbClr val="20344B"/>
                </a:solidFill>
                <a:latin typeface="Microsoft YaHei"/>
                <a:ea typeface="Microsoft YaHei"/>
              </a:rPr>
              <a:t>不能替换，也不能随意拼接</a:t>
            </a:r>
            <a:endParaRPr/>
          </a:p>
        </p:txBody>
      </p:sp>
      <p:sp>
        <p:nvSpPr>
          <p:cNvPr id="66" name="" descr="{&quot;isTemplate&quot;:true,&quot;type&quot;:&quot;text&quot;}"/>
          <p:cNvSpPr txBox="1"/>
          <p:nvPr/>
        </p:nvSpPr>
        <p:spPr>
          <a:xfrm rot="0" flipH="0" flipV="0">
            <a:off x="609600" y="2847975"/>
            <a:ext cx="3619500" cy="419100"/>
          </a:xfrm>
          <a:prstGeom prst="rect"/>
        </p:spPr>
        <p:txBody>
          <a:bodyPr wrap="none" lIns="0" tIns="0" rIns="0" bIns="0"/>
          <a:p>
            <a:pPr>
              <a:lnSpc>
                <a:spcPct val="145000"/>
              </a:lnSpc>
            </a:pPr>
            <a:r>
              <a:rPr lang="zh-CN" sz="1875" b="1">
                <a:solidFill>
                  <a:srgbClr val="276FBF"/>
                </a:solidFill>
                <a:latin typeface="Microsoft YaHei"/>
                <a:ea typeface="Microsoft YaHei"/>
              </a:rPr>
              <a:t>图省事的三种写法</a:t>
            </a:r>
            <a:endParaRPr/>
          </a:p>
        </p:txBody>
      </p:sp>
      <p:sp>
        <p:nvSpPr>
          <p:cNvPr id="67" name=""/>
          <p:cNvSpPr/>
          <p:nvPr/>
        </p:nvSpPr>
        <p:spPr>
          <a:xfrm rot="0" flipH="0" flipV="0">
            <a:off x="609600" y="3400425"/>
            <a:ext cx="533400" cy="28575"/>
          </a:xfrm>
          <a:prstGeom prst="rect">
            <a:avLst/>
          </a:prstGeom>
          <a:solidFill>
            <a:srgbClr val="26816B"/>
          </a:solidFill>
          <a:ln/>
        </p:spPr>
        <p:txBody>
          <a:bodyPr/>
          <a:p/>
        </p:txBody>
      </p:sp>
      <p:sp>
        <p:nvSpPr>
          <p:cNvPr id="68" name="" descr="{&quot;isTemplate&quot;:true,&quot;type&quot;:&quot;text&quot;}"/>
          <p:cNvSpPr txBox="1"/>
          <p:nvPr/>
        </p:nvSpPr>
        <p:spPr>
          <a:xfrm rot="0" flipH="0" flipV="0">
            <a:off x="609600" y="3562350"/>
            <a:ext cx="3619500" cy="1028700"/>
          </a:xfrm>
          <a:prstGeom prst="rect"/>
        </p:spPr>
        <p:txBody>
          <a:bodyPr wrap="square" lIns="0" tIns="0" rIns="0" bIns="0">
            <a:normAutofit/>
          </a:bodyPr>
          <a:p>
            <a:pPr>
              <a:lnSpc>
                <a:spcPct val="175000"/>
              </a:lnSpc>
            </a:pPr>
            <a:r>
              <a:rPr lang="zh-CN" sz="1275">
                <a:solidFill>
                  <a:srgbClr val="546779"/>
                </a:solidFill>
                <a:latin typeface="Microsoft YaHei"/>
                <a:ea typeface="Microsoft YaHei"/>
              </a:rPr>
              <a:t>前两种看上去都能跑通，问题出在结果多了以后：一旦有两条以上工具结果，就没有办法说明哪条支持哪个结论。</a:t>
            </a:r>
            <a:endParaRPr/>
          </a:p>
        </p:txBody>
      </p:sp>
      <p:sp>
        <p:nvSpPr>
          <p:cNvPr id="69" name=""/>
          <p:cNvSpPr/>
          <p:nvPr/>
        </p:nvSpPr>
        <p:spPr>
          <a:xfrm rot="0" flipH="0" flipV="0">
            <a:off x="4533900" y="1847850"/>
            <a:ext cx="7048500" cy="1143000"/>
          </a:xfrm>
          <a:prstGeom prst="roundRect">
            <a:avLst>
              <a:gd name="adj" fmla="val 8333"/>
            </a:avLst>
          </a:prstGeom>
          <a:solidFill>
            <a:srgbClr val="FFF4E6"/>
          </a:solidFill>
          <a:ln/>
        </p:spPr>
        <p:txBody>
          <a:bodyPr/>
          <a:p/>
        </p:txBody>
      </p:sp>
      <p:sp>
        <p:nvSpPr>
          <p:cNvPr id="70" name=""/>
          <p:cNvSpPr/>
          <p:nvPr/>
        </p:nvSpPr>
        <p:spPr>
          <a:xfrm rot="0" flipH="0" flipV="0">
            <a:off x="4724400" y="2076450"/>
            <a:ext cx="38100" cy="685800"/>
          </a:xfrm>
          <a:prstGeom prst="rect">
            <a:avLst/>
          </a:prstGeom>
          <a:solidFill>
            <a:srgbClr val="CB6B28"/>
          </a:solidFill>
          <a:ln/>
        </p:spPr>
        <p:txBody>
          <a:bodyPr/>
          <a:p/>
        </p:txBody>
      </p:sp>
      <p:sp>
        <p:nvSpPr>
          <p:cNvPr id="71" name="" descr="{&quot;isTemplate&quot;:true,&quot;type&quot;:&quot;text&quot;}"/>
          <p:cNvSpPr txBox="1"/>
          <p:nvPr/>
        </p:nvSpPr>
        <p:spPr>
          <a:xfrm rot="0" flipH="0" flipV="0">
            <a:off x="4914900" y="2171700"/>
            <a:ext cx="6477000" cy="200025"/>
          </a:xfrm>
          <a:prstGeom prst="rect"/>
        </p:spPr>
        <p:txBody>
          <a:bodyPr wrap="none" lIns="0" tIns="0" rIns="0" bIns="0"/>
          <a:p>
            <a:pPr>
              <a:lnSpc>
                <a:spcPct val="100000"/>
              </a:lnSpc>
            </a:pPr>
            <a:r>
              <a:rPr lang="zh-CN" sz="1275" b="1">
                <a:solidFill>
                  <a:srgbClr val="CB6B28"/>
                </a:solidFill>
                <a:latin typeface="Microsoft YaHei"/>
                <a:ea typeface="Microsoft YaHei"/>
              </a:rPr>
              <a:t>不能换成房间</a:t>
            </a:r>
            <a:r>
              <a:rPr lang="en-US" sz="1275" b="1">
                <a:solidFill>
                  <a:srgbClr val="CB6B28"/>
                </a:solidFill>
                <a:latin typeface="Microsoft YaHei"/>
                <a:ea typeface="Microsoft YaHei"/>
              </a:rPr>
              <a:t xml:space="preserve"> ID</a:t>
            </a:r>
            <a:endParaRPr/>
          </a:p>
        </p:txBody>
      </p:sp>
      <p:sp>
        <p:nvSpPr>
          <p:cNvPr id="72" name="" descr="{&quot;isTemplate&quot;:true,&quot;type&quot;:&quot;text&quot;}"/>
          <p:cNvSpPr txBox="1"/>
          <p:nvPr/>
        </p:nvSpPr>
        <p:spPr>
          <a:xfrm rot="0" flipH="0" flipV="0">
            <a:off x="4914900" y="2409825"/>
            <a:ext cx="6477000" cy="257175"/>
          </a:xfrm>
          <a:prstGeom prst="rect"/>
        </p:spPr>
        <p:txBody>
          <a:bodyPr wrap="none" lIns="0" tIns="0" rIns="0" bIns="0"/>
          <a:p>
            <a:pPr>
              <a:lnSpc>
                <a:spcPct val="150000"/>
              </a:lnSpc>
            </a:pPr>
            <a:r>
              <a:rPr lang="zh-CN" sz="1125">
                <a:solidFill>
                  <a:srgbClr val="546779"/>
                </a:solidFill>
                <a:latin typeface="Microsoft YaHei"/>
                <a:ea typeface="Microsoft YaHei"/>
              </a:rPr>
              <a:t>房间会重复出现，只有</a:t>
            </a:r>
            <a:r>
              <a:rPr lang="en-US" sz="1125">
                <a:solidFill>
                  <a:srgbClr val="546779"/>
                </a:solidFill>
                <a:latin typeface="Microsoft YaHei"/>
                <a:ea typeface="Microsoft YaHei"/>
              </a:rPr>
              <a:t xml:space="preserve"> call_id </a:t>
            </a:r>
            <a:r>
              <a:rPr lang="zh-CN" sz="1125">
                <a:solidFill>
                  <a:srgbClr val="546779"/>
                </a:solidFill>
                <a:latin typeface="Microsoft YaHei"/>
                <a:ea typeface="Microsoft YaHei"/>
              </a:rPr>
              <a:t>能说明这条结果属于哪一次请求。</a:t>
            </a:r>
            <a:endParaRPr/>
          </a:p>
        </p:txBody>
      </p:sp>
      <p:sp>
        <p:nvSpPr>
          <p:cNvPr id="73" name=""/>
          <p:cNvSpPr/>
          <p:nvPr/>
        </p:nvSpPr>
        <p:spPr>
          <a:xfrm rot="0" flipH="0" flipV="0">
            <a:off x="4533900" y="3143250"/>
            <a:ext cx="7048500" cy="1143000"/>
          </a:xfrm>
          <a:prstGeom prst="roundRect">
            <a:avLst>
              <a:gd name="adj" fmla="val 8333"/>
            </a:avLst>
          </a:prstGeom>
          <a:solidFill>
            <a:srgbClr val="FFF4E6"/>
          </a:solidFill>
          <a:ln/>
        </p:spPr>
        <p:txBody>
          <a:bodyPr/>
          <a:p/>
        </p:txBody>
      </p:sp>
      <p:sp>
        <p:nvSpPr>
          <p:cNvPr id="74" name=""/>
          <p:cNvSpPr/>
          <p:nvPr/>
        </p:nvSpPr>
        <p:spPr>
          <a:xfrm rot="0" flipH="0" flipV="0">
            <a:off x="4724400" y="3371850"/>
            <a:ext cx="38100" cy="685800"/>
          </a:xfrm>
          <a:prstGeom prst="rect">
            <a:avLst/>
          </a:prstGeom>
          <a:solidFill>
            <a:srgbClr val="CB6B28"/>
          </a:solidFill>
          <a:ln/>
        </p:spPr>
        <p:txBody>
          <a:bodyPr/>
          <a:p/>
        </p:txBody>
      </p:sp>
      <p:sp>
        <p:nvSpPr>
          <p:cNvPr id="75" name="" descr="{&quot;isTemplate&quot;:true,&quot;type&quot;:&quot;text&quot;}"/>
          <p:cNvSpPr txBox="1"/>
          <p:nvPr/>
        </p:nvSpPr>
        <p:spPr>
          <a:xfrm rot="0" flipH="0" flipV="0">
            <a:off x="4914900" y="3467100"/>
            <a:ext cx="6477000" cy="200025"/>
          </a:xfrm>
          <a:prstGeom prst="rect"/>
        </p:spPr>
        <p:txBody>
          <a:bodyPr wrap="none" lIns="0" tIns="0" rIns="0" bIns="0"/>
          <a:p>
            <a:pPr>
              <a:lnSpc>
                <a:spcPct val="100000"/>
              </a:lnSpc>
            </a:pPr>
            <a:r>
              <a:rPr lang="zh-CN" sz="1275" b="1">
                <a:solidFill>
                  <a:srgbClr val="CB6B28"/>
                </a:solidFill>
                <a:latin typeface="Microsoft YaHei"/>
                <a:ea typeface="Microsoft YaHei"/>
              </a:rPr>
              <a:t>不能把不同工具的结果随意拼接</a:t>
            </a:r>
            <a:endParaRPr/>
          </a:p>
        </p:txBody>
      </p:sp>
      <p:sp>
        <p:nvSpPr>
          <p:cNvPr id="76" name="" descr="{&quot;isTemplate&quot;:true,&quot;type&quot;:&quot;text&quot;}"/>
          <p:cNvSpPr txBox="1"/>
          <p:nvPr/>
        </p:nvSpPr>
        <p:spPr>
          <a:xfrm rot="0" flipH="0" flipV="0">
            <a:off x="4914900" y="3705225"/>
            <a:ext cx="6477000" cy="257175"/>
          </a:xfrm>
          <a:prstGeom prst="rect"/>
        </p:spPr>
        <p:txBody>
          <a:bodyPr wrap="none" lIns="0" tIns="0" rIns="0" bIns="0"/>
          <a:p>
            <a:pPr>
              <a:lnSpc>
                <a:spcPct val="150000"/>
              </a:lnSpc>
            </a:pPr>
            <a:r>
              <a:rPr lang="zh-CN" sz="1125">
                <a:solidFill>
                  <a:srgbClr val="546779"/>
                </a:solidFill>
                <a:latin typeface="Microsoft YaHei"/>
                <a:ea typeface="Microsoft YaHei"/>
              </a:rPr>
              <a:t>查询与校验返回的是两类东西，混在一起就分不清哪条支持哪个结论。</a:t>
            </a:r>
            <a:endParaRPr/>
          </a:p>
        </p:txBody>
      </p:sp>
      <p:sp>
        <p:nvSpPr>
          <p:cNvPr id="77" name=""/>
          <p:cNvSpPr/>
          <p:nvPr/>
        </p:nvSpPr>
        <p:spPr>
          <a:xfrm rot="0" flipH="0" flipV="0">
            <a:off x="4533900" y="4438650"/>
            <a:ext cx="7048500" cy="1143000"/>
          </a:xfrm>
          <a:prstGeom prst="roundRect">
            <a:avLst>
              <a:gd name="adj" fmla="val 8333"/>
            </a:avLst>
          </a:prstGeom>
          <a:solidFill>
            <a:srgbClr val="ECF7F2"/>
          </a:solidFill>
          <a:ln/>
        </p:spPr>
        <p:txBody>
          <a:bodyPr/>
          <a:p/>
        </p:txBody>
      </p:sp>
      <p:sp>
        <p:nvSpPr>
          <p:cNvPr id="78" name=""/>
          <p:cNvSpPr/>
          <p:nvPr/>
        </p:nvSpPr>
        <p:spPr>
          <a:xfrm rot="0" flipH="0" flipV="0">
            <a:off x="4724400" y="4667250"/>
            <a:ext cx="38100" cy="685800"/>
          </a:xfrm>
          <a:prstGeom prst="rect">
            <a:avLst/>
          </a:prstGeom>
          <a:solidFill>
            <a:srgbClr val="26816B"/>
          </a:solidFill>
          <a:ln/>
        </p:spPr>
        <p:txBody>
          <a:bodyPr/>
          <a:p/>
        </p:txBody>
      </p:sp>
      <p:sp>
        <p:nvSpPr>
          <p:cNvPr id="79" name="" descr="{&quot;isTemplate&quot;:true,&quot;type&quot;:&quot;text&quot;}"/>
          <p:cNvSpPr txBox="1"/>
          <p:nvPr/>
        </p:nvSpPr>
        <p:spPr>
          <a:xfrm rot="0" flipH="0" flipV="0">
            <a:off x="4914900" y="4762500"/>
            <a:ext cx="6477000" cy="200025"/>
          </a:xfrm>
          <a:prstGeom prst="rect"/>
        </p:spPr>
        <p:txBody>
          <a:bodyPr wrap="none" lIns="0" tIns="0" rIns="0" bIns="0"/>
          <a:p>
            <a:pPr>
              <a:lnSpc>
                <a:spcPct val="100000"/>
              </a:lnSpc>
            </a:pPr>
            <a:r>
              <a:rPr lang="zh-CN" sz="1275" b="1">
                <a:solidFill>
                  <a:srgbClr val="26816B"/>
                </a:solidFill>
                <a:latin typeface="Microsoft YaHei"/>
                <a:ea typeface="Microsoft YaHei"/>
              </a:rPr>
              <a:t>保留完整输出，再逐条追加</a:t>
            </a:r>
            <a:endParaRPr/>
          </a:p>
        </p:txBody>
      </p:sp>
      <p:sp>
        <p:nvSpPr>
          <p:cNvPr id="80" name="" descr="{&quot;isTemplate&quot;:true,&quot;type&quot;:&quot;text&quot;}"/>
          <p:cNvSpPr txBox="1"/>
          <p:nvPr/>
        </p:nvSpPr>
        <p:spPr>
          <a:xfrm rot="0" flipH="0" flipV="0">
            <a:off x="4914900" y="5000625"/>
            <a:ext cx="6477000" cy="257175"/>
          </a:xfrm>
          <a:prstGeom prst="rect"/>
        </p:spPr>
        <p:txBody>
          <a:bodyPr wrap="none" lIns="0" tIns="0" rIns="0" bIns="0"/>
          <a:p>
            <a:pPr>
              <a:lnSpc>
                <a:spcPct val="150000"/>
              </a:lnSpc>
            </a:pPr>
            <a:r>
              <a:rPr lang="zh-CN" sz="1125">
                <a:solidFill>
                  <a:srgbClr val="546779"/>
                </a:solidFill>
                <a:latin typeface="Microsoft YaHei"/>
                <a:ea typeface="Microsoft YaHei"/>
              </a:rPr>
              <a:t>先留住完整</a:t>
            </a:r>
            <a:r>
              <a:rPr lang="en-US" sz="1125">
                <a:solidFill>
                  <a:srgbClr val="546779"/>
                </a:solidFill>
                <a:latin typeface="Microsoft YaHei"/>
                <a:ea typeface="Microsoft YaHei"/>
              </a:rPr>
              <a:t xml:space="preserve"> response.output</a:t>
            </a:r>
            <a:r>
              <a:rPr lang="zh-CN" sz="1125">
                <a:solidFill>
                  <a:srgbClr val="546779"/>
                </a:solidFill>
                <a:latin typeface="Microsoft YaHei"/>
                <a:ea typeface="Microsoft YaHei"/>
              </a:rPr>
              <a:t>，再按</a:t>
            </a:r>
            <a:r>
              <a:rPr lang="en-US" sz="1125">
                <a:solidFill>
                  <a:srgbClr val="546779"/>
                </a:solidFill>
                <a:latin typeface="Microsoft YaHei"/>
                <a:ea typeface="Microsoft YaHei"/>
              </a:rPr>
              <a:t xml:space="preserve"> call_id </a:t>
            </a:r>
            <a:r>
              <a:rPr lang="zh-CN" sz="1125">
                <a:solidFill>
                  <a:srgbClr val="546779"/>
                </a:solidFill>
                <a:latin typeface="Microsoft YaHei"/>
                <a:ea typeface="Microsoft YaHei"/>
              </a:rPr>
              <a:t>把每条结果放进历史。</a:t>
            </a:r>
            <a:endParaRPr/>
          </a:p>
        </p:txBody>
      </p:sp>
      <p:sp>
        <p:nvSpPr>
          <p:cNvPr id="81"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82"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11 / 26</a:t>
            </a:r>
            <a:endParaRPr/>
          </a:p>
        </p:txBody>
      </p:sp>
    </p:spTree>
  </p:cSld>
</p:sld>
</file>

<file path=ppt/slides/slide12.xml><?xml version="1.0" encoding="utf-8"?>
<p:sld xmlns:p="http://schemas.openxmlformats.org/presentationml/2006/main" xmlns:a="http://schemas.openxmlformats.org/drawingml/2006/main">
  <p:cSld>
    <p:spTree>
      <p:nvGrpSpPr>
        <p:cNvPr id="83" name="" descr="&lt;Slide notes={`一串工具调用做完，手上应该有四样东西，缺一样都说不清结论是怎么来的。&#10;&#10;第一样，查的是哪一天、哪个房间。日期和房间取自这次调用的参数，不是事后回忆。&#10;&#10;第二样，工具实际返回了什么。真实记录就是真实记录，受控错误就是受控错误，不能换成推测。&#10;&#10;第三样，模型最后采用了哪个时段。哪一段时间被写进了候选，这是模型的判断，要单独记下来。&#10;&#10;第四样，通过检查的那一版候选。校验器给出通过结论的方案，才是可以交付的。&#10;&#10;把这四样串起来，才是一条能核对的证据链。报告里写一句&quot;避开了十点的预约&quot;，替代不了这四行记录，因为别人没有办法顺着这句话回到原始数据。`}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2　一轮调用包含哪些证据&lt;/Text&gt;&#10;            &lt;Text style={{ fontSize: 34, fontWeight: 'bold', color: '#20344B' }}&gt;一条可以核对的证据链&lt;/Text&gt;&#10;        &lt;/Box&gt;&#10;    &lt;/Box&gt;&#10;&#10;    &lt;Box style={{ height: 540, flexDirection: 'column', justifyContent: 'center', gap: 18 }}&gt;&#10;&#10;        &lt;Box style={{ flexDirection: 'row', alignItems: 'center', gap: 16, background: '#F4F7FA', borderRadius: 10, padding: '10px 20px' }}&gt;&#10;            &lt;Box style={{ width: 3, height: 26, background: '#276FBF' }} /&gt;&#10;            &lt;Text style={{ fontSize: 16, color: '#546779' }}&gt;按四项串起记录：查询日期与房间、工具实际返回、模型采用的时段、通过检查的候选。&lt;/Text&gt;&#10;        &lt;/Box&gt;&#10;&#10;        &lt;Box style={{ flexDirection: 'column', gap: 12 }}&gt;&#10;            &lt;Box style={{ height: 84, background: '#EDF4FC', borderRadius: 10, padding: '0 20px', flexDirection: 'row', gap: 18, alignItems: 'center' }}&gt;&#10;                &lt;Box style={{ width: 36, height: 36, borderRadius: 8, background: '#276FBF', justifyContent: 'center', alignItems: 'center' }}&gt;&#10;                    &lt;Text style={{ fontSize: 17, fontWeight: 'bold', color: '#FFFFFF' }}&gt;1&lt;/Text&gt;&#10;                &lt;/Box&gt;&#10;                &lt;Text style={{ width: 220, fontSize: 17, fontWeight: 'bold', color: '#276FBF' }}&gt;查询日期与房间&lt;/Text&gt;&#10;                &lt;Text style={{ flex: 1, fontSize: 15, color: '#546779', lineHeight: 1.5 }}&gt;2026-10-17 与 craft，取自这次调用的参数&lt;/Text&gt;&#10;            &lt;/Box&gt;&#10;            &lt;Box style={{ height: 84, background: '#EDF4FC', borderRadius: 10, padding: '0 20px', flexDirection: 'row', gap: 18, alignItems: 'center' }}&gt;&#10;                &lt;Box style={{ width: 36, height: 36, borderRadius: 8, background: '#276FBF', justifyContent: 'center', alignItems: 'center' }}&gt;&#10;                    &lt;Text style={{ fontSize: 17, fontWeight: 'bold', color: '#FFFFFF' }}&gt;2&lt;/Text&gt;&#10;                &lt;/Box&gt;&#10;                &lt;Text style={{ width: 220, fontSize: 17, fontWeight: 'bold', color: '#276FBF' }}&gt;工具实际返回&lt;/Text&gt;&#10;                &lt;Text style={{ flex: 1, fontSize: 15, color: '#546779', lineHeight: 1.5 }}&gt;真实记录或受控错误，不是推测出来的结果&lt;/Text&gt;&#10;            &lt;/Box&gt;&#10;            &lt;Box style={{ height: 84, background: '#ECF7F2', borderRadius: 10, padding: '0 20px', flexDirection: 'row', gap: 18, alignItems: 'center' }}&gt;&#10;                &lt;Box style={{ width: 36, height: 36, borderRadius: 8, background: '#26816B', justifyContent: 'center', alignItems: 'center' }}&gt;&#10;                    &lt;Text style={{ fontSize: 17, fontWeight: 'bold', color: '#FFFFFF' }}&gt;3&lt;/Text&gt;&#10;                &lt;/Box&gt;&#10;                &lt;Text style={{ width: 220, fontSize: 17, fontWeight: 'bold', color: '#26816B' }}&gt;模型采用的时段&lt;/Text&gt;&#10;                &lt;Text style={{ flex: 1, fontSize: 15, color: '#546779', lineHeight: 1.5 }}&gt;模型中选定并写进候选的那一段时间&lt;/Text&gt;&#10;            &lt;/Box&gt;&#10;            &lt;Box style={{ height: 84, background: '#ECF7F2', borderRadius: 10, padding: '0 20px', flexDirection: 'row', gap: 18, alignItems: 'center' }}&gt;&#10;                &lt;Box style={{ width: 36, height: 36, borderRadius: 8, background: '#26816B', justifyContent: 'center', alignItems: 'center' }}&gt;&#10;                    &lt;Text style={{ fontSize: 17, fontWeight: 'bold', color: '#FFFFFF' }}&gt;4&lt;/Text&gt;&#10;                &lt;/Box&gt;&#10;                &lt;Text style={{ width: 220, fontSize: 17, fontWeight: 'bold', color: '#26816B' }}&gt;通过检查的候选&lt;/Text&gt;&#10;                &lt;Text style={{ flex: 1, fontSize: 15, color: '#546779', lineHeight: 1.5 }}&gt;校验器给出通过结论的那一版方案&lt;/Text&gt;&#10;            &lt;/Box&gt;&#10;        &lt;/Box&gt;&#10;&#10;        &lt;Box style={{ flexDirection: 'row', alignItems: 'center', gap: 16, background: '#FFF4E6', borderRadius: 10, padding: '0 20px', height: 76 }}&gt;&#10;            &lt;Box style={{ width: 4, height: 44, background: '#CB6B28' }} /&gt;&#10;            &lt;Text style={{ fontSize: 16, color: '#20344B', lineHeight: 1.5 }}&gt;报告里一句&quot;避开十点预约&quot;，不能替代这条证据链。&lt;/Text&gt;&#10;        &lt;/Box&gt;&#10;&#10;    &lt;/Box&gt;&#10;&#10;    &lt;Box style={{ height: 40, flexDirection: 'row', justifyContent: 'space-between', alignItems: 'center' }}&gt;&#10;        &lt;Text style={{ fontSize: 14, color: '#546779' }}&gt;2.5 Function Calling&lt;/Text&gt;&#10;        &lt;Text style={{ fontSize: 14, color: '#546779' }}&gt;12 / 26&lt;/Text&gt;&#10;    &lt;/Box&gt;&#10;&#10;&lt;/Slide&gt;&#10;"/>
        <p:cNvGrpSpPr/>
        <p:nvPr/>
      </p:nvGrpSpPr>
      <p:grpSpPr>
        <a:xfrm>
          <a:off x="0" y="0"/>
          <a:ext cx="0" cy="0"/>
          <a:chOff x="0" y="0"/>
          <a:chExt cx="0" cy="0"/>
        </a:xfrm>
      </p:grpSpPr>
      <p:sp>
        <p:nvSpPr>
          <p:cNvPr id="84" name=""/>
          <p:cNvSpPr/>
          <p:nvPr/>
        </p:nvSpPr>
        <p:spPr>
          <a:xfrm rot="0" flipH="0" flipV="0">
            <a:off x="0" y="0"/>
            <a:ext cx="12192000" cy="6858000"/>
          </a:xfrm>
          <a:prstGeom prst="rect">
            <a:avLst/>
          </a:prstGeom>
          <a:solidFill>
            <a:srgbClr val="FFFFFF"/>
          </a:solidFill>
          <a:ln/>
        </p:spPr>
        <p:txBody>
          <a:bodyPr/>
          <a:p/>
        </p:txBody>
      </p:sp>
      <p:sp>
        <p:nvSpPr>
          <p:cNvPr id="85" name=""/>
          <p:cNvSpPr/>
          <p:nvPr/>
        </p:nvSpPr>
        <p:spPr>
          <a:xfrm rot="0" flipH="0" flipV="0">
            <a:off x="609600" y="457200"/>
            <a:ext cx="38100" cy="419100"/>
          </a:xfrm>
          <a:prstGeom prst="rect">
            <a:avLst/>
          </a:prstGeom>
          <a:solidFill>
            <a:srgbClr val="276FBF"/>
          </a:solidFill>
          <a:ln/>
        </p:spPr>
        <p:txBody>
          <a:bodyPr/>
          <a:p/>
        </p:txBody>
      </p:sp>
      <p:sp>
        <p:nvSpPr>
          <p:cNvPr id="86" name="" descr="{&quot;isTemplate&quot;:true,&quot;type&quot;:&quot;text&quot;}"/>
          <p:cNvSpPr txBox="1"/>
          <p:nvPr/>
        </p:nvSpPr>
        <p:spPr>
          <a:xfrm rot="0" flipH="0" flipV="0">
            <a:off x="838200" y="371475"/>
            <a:ext cx="3238500" cy="161925"/>
          </a:xfrm>
          <a:prstGeom prst="rect"/>
        </p:spPr>
        <p:txBody>
          <a:bodyPr wrap="none" lIns="0" tIns="0" rIns="0" bIns="0"/>
          <a:p>
            <a:pPr>
              <a:lnSpc>
                <a:spcPct val="100000"/>
              </a:lnSpc>
            </a:pPr>
            <a:r>
              <a:rPr lang="en-US" sz="1050">
                <a:solidFill>
                  <a:srgbClr val="546779"/>
                </a:solidFill>
                <a:latin typeface="Microsoft YaHei"/>
                <a:ea typeface="Microsoft YaHei"/>
              </a:rPr>
              <a:t>2.5.2</a:t>
            </a:r>
            <a:r>
              <a:rPr lang="zh-CN" sz="1050">
                <a:solidFill>
                  <a:srgbClr val="546779"/>
                </a:solidFill>
                <a:latin typeface="Microsoft YaHei"/>
                <a:ea typeface="Microsoft YaHei"/>
              </a:rPr>
              <a:t>　一轮调用包含哪些证据</a:t>
            </a:r>
            <a:endParaRPr/>
          </a:p>
        </p:txBody>
      </p:sp>
      <p:sp>
        <p:nvSpPr>
          <p:cNvPr id="87" name="" descr="{&quot;isTemplate&quot;:true,&quot;type&quot;:&quot;text&quot;}"/>
          <p:cNvSpPr txBox="1"/>
          <p:nvPr/>
        </p:nvSpPr>
        <p:spPr>
          <a:xfrm rot="0" flipH="0" flipV="0">
            <a:off x="838200" y="571500"/>
            <a:ext cx="3238500" cy="390525"/>
          </a:xfrm>
          <a:prstGeom prst="rect"/>
        </p:spPr>
        <p:txBody>
          <a:bodyPr wrap="none" lIns="0" tIns="0" rIns="0" bIns="0"/>
          <a:p>
            <a:pPr>
              <a:lnSpc>
                <a:spcPct val="100000"/>
              </a:lnSpc>
            </a:pPr>
            <a:r>
              <a:rPr lang="zh-CN" sz="2550" b="1">
                <a:solidFill>
                  <a:srgbClr val="20344B"/>
                </a:solidFill>
                <a:latin typeface="Microsoft YaHei"/>
                <a:ea typeface="Microsoft YaHei"/>
              </a:rPr>
              <a:t>一条可以核对的证据链</a:t>
            </a:r>
            <a:endParaRPr/>
          </a:p>
        </p:txBody>
      </p:sp>
      <p:sp>
        <p:nvSpPr>
          <p:cNvPr id="88" name=""/>
          <p:cNvSpPr/>
          <p:nvPr/>
        </p:nvSpPr>
        <p:spPr>
          <a:xfrm rot="0" flipH="0" flipV="0">
            <a:off x="609600" y="1190625"/>
            <a:ext cx="10972800" cy="438150"/>
          </a:xfrm>
          <a:prstGeom prst="roundRect">
            <a:avLst>
              <a:gd name="adj" fmla="val 21739"/>
            </a:avLst>
          </a:prstGeom>
          <a:solidFill>
            <a:srgbClr val="F4F7FA"/>
          </a:solidFill>
          <a:ln/>
        </p:spPr>
        <p:txBody>
          <a:bodyPr/>
          <a:p/>
        </p:txBody>
      </p:sp>
      <p:sp>
        <p:nvSpPr>
          <p:cNvPr id="89" name=""/>
          <p:cNvSpPr/>
          <p:nvPr/>
        </p:nvSpPr>
        <p:spPr>
          <a:xfrm rot="0" flipH="0" flipV="0">
            <a:off x="800100" y="1285875"/>
            <a:ext cx="28575" cy="247650"/>
          </a:xfrm>
          <a:prstGeom prst="rect">
            <a:avLst/>
          </a:prstGeom>
          <a:solidFill>
            <a:srgbClr val="276FBF"/>
          </a:solidFill>
          <a:ln/>
        </p:spPr>
        <p:txBody>
          <a:bodyPr/>
          <a:p/>
        </p:txBody>
      </p:sp>
      <p:sp>
        <p:nvSpPr>
          <p:cNvPr id="90" name="" descr="{&quot;isTemplate&quot;:true,&quot;type&quot;:&quot;text&quot;}"/>
          <p:cNvSpPr txBox="1"/>
          <p:nvPr/>
        </p:nvSpPr>
        <p:spPr>
          <a:xfrm rot="0" flipH="0" flipV="0">
            <a:off x="981075" y="1314450"/>
            <a:ext cx="5943600" cy="190500"/>
          </a:xfrm>
          <a:prstGeom prst="rect"/>
        </p:spPr>
        <p:txBody>
          <a:bodyPr wrap="none" lIns="0" tIns="0" rIns="0" bIns="0"/>
          <a:p>
            <a:pPr>
              <a:lnSpc>
                <a:spcPct val="100000"/>
              </a:lnSpc>
            </a:pPr>
            <a:r>
              <a:rPr lang="zh-CN" sz="1200">
                <a:solidFill>
                  <a:srgbClr val="546779"/>
                </a:solidFill>
                <a:latin typeface="Microsoft YaHei"/>
                <a:ea typeface="Microsoft YaHei"/>
              </a:rPr>
              <a:t>按四项串起记录：查询日期与房间、工具实际返回、模型采用的时段、通过检查的候选。</a:t>
            </a:r>
            <a:endParaRPr/>
          </a:p>
        </p:txBody>
      </p:sp>
      <p:sp>
        <p:nvSpPr>
          <p:cNvPr id="91" name=""/>
          <p:cNvSpPr/>
          <p:nvPr/>
        </p:nvSpPr>
        <p:spPr>
          <a:xfrm rot="0" flipH="0" flipV="0">
            <a:off x="609600" y="1800225"/>
            <a:ext cx="10972800" cy="800100"/>
          </a:xfrm>
          <a:prstGeom prst="roundRect">
            <a:avLst>
              <a:gd name="adj" fmla="val 11905"/>
            </a:avLst>
          </a:prstGeom>
          <a:solidFill>
            <a:srgbClr val="EDF4FC"/>
          </a:solidFill>
          <a:ln/>
        </p:spPr>
        <p:txBody>
          <a:bodyPr/>
          <a:p/>
        </p:txBody>
      </p:sp>
      <p:sp>
        <p:nvSpPr>
          <p:cNvPr id="92" name=""/>
          <p:cNvSpPr/>
          <p:nvPr/>
        </p:nvSpPr>
        <p:spPr>
          <a:xfrm rot="0" flipH="0" flipV="0">
            <a:off x="800100" y="2028825"/>
            <a:ext cx="342900" cy="342900"/>
          </a:xfrm>
          <a:prstGeom prst="roundRect">
            <a:avLst>
              <a:gd name="adj" fmla="val 22222"/>
            </a:avLst>
          </a:prstGeom>
          <a:solidFill>
            <a:srgbClr val="276FBF"/>
          </a:solidFill>
          <a:ln/>
        </p:spPr>
        <p:txBody>
          <a:bodyPr/>
          <a:p/>
        </p:txBody>
      </p:sp>
      <p:sp>
        <p:nvSpPr>
          <p:cNvPr id="93" name="" descr="{&quot;isTemplate&quot;:true,&quot;type&quot;:&quot;text&quot;}"/>
          <p:cNvSpPr txBox="1"/>
          <p:nvPr/>
        </p:nvSpPr>
        <p:spPr>
          <a:xfrm rot="0" flipH="0" flipV="0">
            <a:off x="923925" y="2105025"/>
            <a:ext cx="104775" cy="200025"/>
          </a:xfrm>
          <a:prstGeom prst="rect"/>
        </p:spPr>
        <p:txBody>
          <a:bodyPr wrap="none" lIns="0" tIns="0" rIns="0" bIns="0"/>
          <a:p>
            <a:pPr>
              <a:lnSpc>
                <a:spcPct val="100000"/>
              </a:lnSpc>
            </a:pPr>
            <a:r>
              <a:rPr lang="en-US" sz="1275" b="1">
                <a:solidFill>
                  <a:srgbClr val="FFFFFF"/>
                </a:solidFill>
                <a:latin typeface="Microsoft YaHei"/>
                <a:ea typeface="Microsoft YaHei"/>
              </a:rPr>
              <a:t>1</a:t>
            </a:r>
            <a:endParaRPr/>
          </a:p>
        </p:txBody>
      </p:sp>
      <p:sp>
        <p:nvSpPr>
          <p:cNvPr id="94" name="" descr="{&quot;isTemplate&quot;:true,&quot;type&quot;:&quot;text&quot;}"/>
          <p:cNvSpPr txBox="1"/>
          <p:nvPr/>
        </p:nvSpPr>
        <p:spPr>
          <a:xfrm rot="0" flipH="0" flipV="0">
            <a:off x="1314450" y="2105025"/>
            <a:ext cx="2095500" cy="200025"/>
          </a:xfrm>
          <a:prstGeom prst="rect"/>
        </p:spPr>
        <p:txBody>
          <a:bodyPr wrap="none" lIns="0" tIns="0" rIns="0" bIns="0"/>
          <a:p>
            <a:pPr>
              <a:lnSpc>
                <a:spcPct val="100000"/>
              </a:lnSpc>
            </a:pPr>
            <a:r>
              <a:rPr lang="zh-CN" sz="1275" b="1">
                <a:solidFill>
                  <a:srgbClr val="276FBF"/>
                </a:solidFill>
                <a:latin typeface="Microsoft YaHei"/>
                <a:ea typeface="Microsoft YaHei"/>
              </a:rPr>
              <a:t>查询日期与房间</a:t>
            </a:r>
            <a:endParaRPr/>
          </a:p>
        </p:txBody>
      </p:sp>
      <p:sp>
        <p:nvSpPr>
          <p:cNvPr id="95" name="" descr="{&quot;isTemplate&quot;:true,&quot;type&quot;:&quot;text&quot;}"/>
          <p:cNvSpPr txBox="1"/>
          <p:nvPr/>
        </p:nvSpPr>
        <p:spPr>
          <a:xfrm rot="0" flipH="0" flipV="0">
            <a:off x="3581400" y="2076450"/>
            <a:ext cx="7810500" cy="257175"/>
          </a:xfrm>
          <a:prstGeom prst="rect"/>
        </p:spPr>
        <p:txBody>
          <a:bodyPr wrap="none" lIns="0" tIns="0" rIns="0" bIns="0"/>
          <a:p>
            <a:pPr>
              <a:lnSpc>
                <a:spcPct val="150000"/>
              </a:lnSpc>
            </a:pPr>
            <a:r>
              <a:rPr lang="en-US" sz="1125">
                <a:solidFill>
                  <a:srgbClr val="546779"/>
                </a:solidFill>
                <a:latin typeface="Microsoft YaHei"/>
                <a:ea typeface="Microsoft YaHei"/>
              </a:rPr>
              <a:t xml:space="preserve">2026-10-17 </a:t>
            </a:r>
            <a:r>
              <a:rPr lang="zh-CN" sz="1125">
                <a:solidFill>
                  <a:srgbClr val="546779"/>
                </a:solidFill>
                <a:latin typeface="Microsoft YaHei"/>
                <a:ea typeface="Microsoft YaHei"/>
              </a:rPr>
              <a:t>与</a:t>
            </a:r>
            <a:r>
              <a:rPr lang="en-US" sz="1125">
                <a:solidFill>
                  <a:srgbClr val="546779"/>
                </a:solidFill>
                <a:latin typeface="Microsoft YaHei"/>
                <a:ea typeface="Microsoft YaHei"/>
              </a:rPr>
              <a:t xml:space="preserve"> craft</a:t>
            </a:r>
            <a:r>
              <a:rPr lang="zh-CN" sz="1125">
                <a:solidFill>
                  <a:srgbClr val="546779"/>
                </a:solidFill>
                <a:latin typeface="Microsoft YaHei"/>
                <a:ea typeface="Microsoft YaHei"/>
              </a:rPr>
              <a:t>，取自这次调用的参数</a:t>
            </a:r>
            <a:endParaRPr/>
          </a:p>
        </p:txBody>
      </p:sp>
      <p:sp>
        <p:nvSpPr>
          <p:cNvPr id="96" name=""/>
          <p:cNvSpPr/>
          <p:nvPr/>
        </p:nvSpPr>
        <p:spPr>
          <a:xfrm rot="0" flipH="0" flipV="0">
            <a:off x="609600" y="2714625"/>
            <a:ext cx="10972800" cy="800100"/>
          </a:xfrm>
          <a:prstGeom prst="roundRect">
            <a:avLst>
              <a:gd name="adj" fmla="val 11905"/>
            </a:avLst>
          </a:prstGeom>
          <a:solidFill>
            <a:srgbClr val="EDF4FC"/>
          </a:solidFill>
          <a:ln/>
        </p:spPr>
        <p:txBody>
          <a:bodyPr/>
          <a:p/>
        </p:txBody>
      </p:sp>
      <p:sp>
        <p:nvSpPr>
          <p:cNvPr id="97" name=""/>
          <p:cNvSpPr/>
          <p:nvPr/>
        </p:nvSpPr>
        <p:spPr>
          <a:xfrm rot="0" flipH="0" flipV="0">
            <a:off x="800100" y="2943225"/>
            <a:ext cx="342900" cy="342900"/>
          </a:xfrm>
          <a:prstGeom prst="roundRect">
            <a:avLst>
              <a:gd name="adj" fmla="val 22222"/>
            </a:avLst>
          </a:prstGeom>
          <a:solidFill>
            <a:srgbClr val="276FBF"/>
          </a:solidFill>
          <a:ln/>
        </p:spPr>
        <p:txBody>
          <a:bodyPr/>
          <a:p/>
        </p:txBody>
      </p:sp>
      <p:sp>
        <p:nvSpPr>
          <p:cNvPr id="98" name="" descr="{&quot;isTemplate&quot;:true,&quot;type&quot;:&quot;text&quot;}"/>
          <p:cNvSpPr txBox="1"/>
          <p:nvPr/>
        </p:nvSpPr>
        <p:spPr>
          <a:xfrm rot="0" flipH="0" flipV="0">
            <a:off x="923925" y="3019425"/>
            <a:ext cx="104775" cy="200025"/>
          </a:xfrm>
          <a:prstGeom prst="rect"/>
        </p:spPr>
        <p:txBody>
          <a:bodyPr wrap="none" lIns="0" tIns="0" rIns="0" bIns="0"/>
          <a:p>
            <a:pPr>
              <a:lnSpc>
                <a:spcPct val="100000"/>
              </a:lnSpc>
            </a:pPr>
            <a:r>
              <a:rPr lang="en-US" sz="1275" b="1">
                <a:solidFill>
                  <a:srgbClr val="FFFFFF"/>
                </a:solidFill>
                <a:latin typeface="Microsoft YaHei"/>
                <a:ea typeface="Microsoft YaHei"/>
              </a:rPr>
              <a:t>2</a:t>
            </a:r>
            <a:endParaRPr/>
          </a:p>
        </p:txBody>
      </p:sp>
      <p:sp>
        <p:nvSpPr>
          <p:cNvPr id="99" name="" descr="{&quot;isTemplate&quot;:true,&quot;type&quot;:&quot;text&quot;}"/>
          <p:cNvSpPr txBox="1"/>
          <p:nvPr/>
        </p:nvSpPr>
        <p:spPr>
          <a:xfrm rot="0" flipH="0" flipV="0">
            <a:off x="1314450" y="3019425"/>
            <a:ext cx="2095500" cy="200025"/>
          </a:xfrm>
          <a:prstGeom prst="rect"/>
        </p:spPr>
        <p:txBody>
          <a:bodyPr wrap="none" lIns="0" tIns="0" rIns="0" bIns="0"/>
          <a:p>
            <a:pPr>
              <a:lnSpc>
                <a:spcPct val="100000"/>
              </a:lnSpc>
            </a:pPr>
            <a:r>
              <a:rPr lang="zh-CN" sz="1275" b="1">
                <a:solidFill>
                  <a:srgbClr val="276FBF"/>
                </a:solidFill>
                <a:latin typeface="Microsoft YaHei"/>
                <a:ea typeface="Microsoft YaHei"/>
              </a:rPr>
              <a:t>工具实际返回</a:t>
            </a:r>
            <a:endParaRPr/>
          </a:p>
        </p:txBody>
      </p:sp>
      <p:sp>
        <p:nvSpPr>
          <p:cNvPr id="100" name="" descr="{&quot;isTemplate&quot;:true,&quot;type&quot;:&quot;text&quot;}"/>
          <p:cNvSpPr txBox="1"/>
          <p:nvPr/>
        </p:nvSpPr>
        <p:spPr>
          <a:xfrm rot="0" flipH="0" flipV="0">
            <a:off x="3581400" y="2990850"/>
            <a:ext cx="7810500" cy="257175"/>
          </a:xfrm>
          <a:prstGeom prst="rect"/>
        </p:spPr>
        <p:txBody>
          <a:bodyPr wrap="none" lIns="0" tIns="0" rIns="0" bIns="0"/>
          <a:p>
            <a:pPr>
              <a:lnSpc>
                <a:spcPct val="150000"/>
              </a:lnSpc>
            </a:pPr>
            <a:r>
              <a:rPr lang="zh-CN" sz="1125">
                <a:solidFill>
                  <a:srgbClr val="546779"/>
                </a:solidFill>
                <a:latin typeface="Microsoft YaHei"/>
                <a:ea typeface="Microsoft YaHei"/>
              </a:rPr>
              <a:t>真实记录或受控错误，不是推测出来的结果</a:t>
            </a:r>
            <a:endParaRPr/>
          </a:p>
        </p:txBody>
      </p:sp>
      <p:sp>
        <p:nvSpPr>
          <p:cNvPr id="101" name=""/>
          <p:cNvSpPr/>
          <p:nvPr/>
        </p:nvSpPr>
        <p:spPr>
          <a:xfrm rot="0" flipH="0" flipV="0">
            <a:off x="609600" y="3629025"/>
            <a:ext cx="10972800" cy="800100"/>
          </a:xfrm>
          <a:prstGeom prst="roundRect">
            <a:avLst>
              <a:gd name="adj" fmla="val 11905"/>
            </a:avLst>
          </a:prstGeom>
          <a:solidFill>
            <a:srgbClr val="ECF7F2"/>
          </a:solidFill>
          <a:ln/>
        </p:spPr>
        <p:txBody>
          <a:bodyPr/>
          <a:p/>
        </p:txBody>
      </p:sp>
      <p:sp>
        <p:nvSpPr>
          <p:cNvPr id="102" name=""/>
          <p:cNvSpPr/>
          <p:nvPr/>
        </p:nvSpPr>
        <p:spPr>
          <a:xfrm rot="0" flipH="0" flipV="0">
            <a:off x="800100" y="3857625"/>
            <a:ext cx="342900" cy="342900"/>
          </a:xfrm>
          <a:prstGeom prst="roundRect">
            <a:avLst>
              <a:gd name="adj" fmla="val 22222"/>
            </a:avLst>
          </a:prstGeom>
          <a:solidFill>
            <a:srgbClr val="26816B"/>
          </a:solidFill>
          <a:ln/>
        </p:spPr>
        <p:txBody>
          <a:bodyPr/>
          <a:p/>
        </p:txBody>
      </p:sp>
      <p:sp>
        <p:nvSpPr>
          <p:cNvPr id="103" name="" descr="{&quot;isTemplate&quot;:true,&quot;type&quot;:&quot;text&quot;}"/>
          <p:cNvSpPr txBox="1"/>
          <p:nvPr/>
        </p:nvSpPr>
        <p:spPr>
          <a:xfrm rot="0" flipH="0" flipV="0">
            <a:off x="923925" y="3933825"/>
            <a:ext cx="104775" cy="200025"/>
          </a:xfrm>
          <a:prstGeom prst="rect"/>
        </p:spPr>
        <p:txBody>
          <a:bodyPr wrap="none" lIns="0" tIns="0" rIns="0" bIns="0"/>
          <a:p>
            <a:pPr>
              <a:lnSpc>
                <a:spcPct val="100000"/>
              </a:lnSpc>
            </a:pPr>
            <a:r>
              <a:rPr lang="en-US" sz="1275" b="1">
                <a:solidFill>
                  <a:srgbClr val="FFFFFF"/>
                </a:solidFill>
                <a:latin typeface="Microsoft YaHei"/>
                <a:ea typeface="Microsoft YaHei"/>
              </a:rPr>
              <a:t>3</a:t>
            </a:r>
            <a:endParaRPr/>
          </a:p>
        </p:txBody>
      </p:sp>
      <p:sp>
        <p:nvSpPr>
          <p:cNvPr id="104" name="" descr="{&quot;isTemplate&quot;:true,&quot;type&quot;:&quot;text&quot;}"/>
          <p:cNvSpPr txBox="1"/>
          <p:nvPr/>
        </p:nvSpPr>
        <p:spPr>
          <a:xfrm rot="0" flipH="0" flipV="0">
            <a:off x="1314450" y="3933825"/>
            <a:ext cx="2095500" cy="200025"/>
          </a:xfrm>
          <a:prstGeom prst="rect"/>
        </p:spPr>
        <p:txBody>
          <a:bodyPr wrap="none" lIns="0" tIns="0" rIns="0" bIns="0"/>
          <a:p>
            <a:pPr>
              <a:lnSpc>
                <a:spcPct val="100000"/>
              </a:lnSpc>
            </a:pPr>
            <a:r>
              <a:rPr lang="zh-CN" sz="1275" b="1">
                <a:solidFill>
                  <a:srgbClr val="26816B"/>
                </a:solidFill>
                <a:latin typeface="Microsoft YaHei"/>
                <a:ea typeface="Microsoft YaHei"/>
              </a:rPr>
              <a:t>模型采用的时段</a:t>
            </a:r>
            <a:endParaRPr/>
          </a:p>
        </p:txBody>
      </p:sp>
      <p:sp>
        <p:nvSpPr>
          <p:cNvPr id="105" name="" descr="{&quot;isTemplate&quot;:true,&quot;type&quot;:&quot;text&quot;}"/>
          <p:cNvSpPr txBox="1"/>
          <p:nvPr/>
        </p:nvSpPr>
        <p:spPr>
          <a:xfrm rot="0" flipH="0" flipV="0">
            <a:off x="3581400" y="3905250"/>
            <a:ext cx="7810500" cy="257175"/>
          </a:xfrm>
          <a:prstGeom prst="rect"/>
        </p:spPr>
        <p:txBody>
          <a:bodyPr wrap="none" lIns="0" tIns="0" rIns="0" bIns="0"/>
          <a:p>
            <a:pPr>
              <a:lnSpc>
                <a:spcPct val="150000"/>
              </a:lnSpc>
            </a:pPr>
            <a:r>
              <a:rPr lang="zh-CN" sz="1125">
                <a:solidFill>
                  <a:srgbClr val="546779"/>
                </a:solidFill>
                <a:latin typeface="Microsoft YaHei"/>
                <a:ea typeface="Microsoft YaHei"/>
              </a:rPr>
              <a:t>模型中选定并写进候选的那一段时间</a:t>
            </a:r>
            <a:endParaRPr/>
          </a:p>
        </p:txBody>
      </p:sp>
      <p:sp>
        <p:nvSpPr>
          <p:cNvPr id="106" name=""/>
          <p:cNvSpPr/>
          <p:nvPr/>
        </p:nvSpPr>
        <p:spPr>
          <a:xfrm rot="0" flipH="0" flipV="0">
            <a:off x="609600" y="4543425"/>
            <a:ext cx="10972800" cy="800100"/>
          </a:xfrm>
          <a:prstGeom prst="roundRect">
            <a:avLst>
              <a:gd name="adj" fmla="val 11905"/>
            </a:avLst>
          </a:prstGeom>
          <a:solidFill>
            <a:srgbClr val="ECF7F2"/>
          </a:solidFill>
          <a:ln/>
        </p:spPr>
        <p:txBody>
          <a:bodyPr/>
          <a:p/>
        </p:txBody>
      </p:sp>
      <p:sp>
        <p:nvSpPr>
          <p:cNvPr id="107" name=""/>
          <p:cNvSpPr/>
          <p:nvPr/>
        </p:nvSpPr>
        <p:spPr>
          <a:xfrm rot="0" flipH="0" flipV="0">
            <a:off x="800100" y="4772025"/>
            <a:ext cx="342900" cy="342900"/>
          </a:xfrm>
          <a:prstGeom prst="roundRect">
            <a:avLst>
              <a:gd name="adj" fmla="val 22222"/>
            </a:avLst>
          </a:prstGeom>
          <a:solidFill>
            <a:srgbClr val="26816B"/>
          </a:solidFill>
          <a:ln/>
        </p:spPr>
        <p:txBody>
          <a:bodyPr/>
          <a:p/>
        </p:txBody>
      </p:sp>
      <p:sp>
        <p:nvSpPr>
          <p:cNvPr id="108" name="" descr="{&quot;isTemplate&quot;:true,&quot;type&quot;:&quot;text&quot;}"/>
          <p:cNvSpPr txBox="1"/>
          <p:nvPr/>
        </p:nvSpPr>
        <p:spPr>
          <a:xfrm rot="0" flipH="0" flipV="0">
            <a:off x="923925" y="4848225"/>
            <a:ext cx="104775" cy="200025"/>
          </a:xfrm>
          <a:prstGeom prst="rect"/>
        </p:spPr>
        <p:txBody>
          <a:bodyPr wrap="none" lIns="0" tIns="0" rIns="0" bIns="0"/>
          <a:p>
            <a:pPr>
              <a:lnSpc>
                <a:spcPct val="100000"/>
              </a:lnSpc>
            </a:pPr>
            <a:r>
              <a:rPr lang="en-US" sz="1275" b="1">
                <a:solidFill>
                  <a:srgbClr val="FFFFFF"/>
                </a:solidFill>
                <a:latin typeface="Microsoft YaHei"/>
                <a:ea typeface="Microsoft YaHei"/>
              </a:rPr>
              <a:t>4</a:t>
            </a:r>
            <a:endParaRPr/>
          </a:p>
        </p:txBody>
      </p:sp>
      <p:sp>
        <p:nvSpPr>
          <p:cNvPr id="109" name="" descr="{&quot;isTemplate&quot;:true,&quot;type&quot;:&quot;text&quot;}"/>
          <p:cNvSpPr txBox="1"/>
          <p:nvPr/>
        </p:nvSpPr>
        <p:spPr>
          <a:xfrm rot="0" flipH="0" flipV="0">
            <a:off x="1314450" y="4848225"/>
            <a:ext cx="2095500" cy="200025"/>
          </a:xfrm>
          <a:prstGeom prst="rect"/>
        </p:spPr>
        <p:txBody>
          <a:bodyPr wrap="none" lIns="0" tIns="0" rIns="0" bIns="0"/>
          <a:p>
            <a:pPr>
              <a:lnSpc>
                <a:spcPct val="100000"/>
              </a:lnSpc>
            </a:pPr>
            <a:r>
              <a:rPr lang="zh-CN" sz="1275" b="1">
                <a:solidFill>
                  <a:srgbClr val="26816B"/>
                </a:solidFill>
                <a:latin typeface="Microsoft YaHei"/>
                <a:ea typeface="Microsoft YaHei"/>
              </a:rPr>
              <a:t>通过检查的候选</a:t>
            </a:r>
            <a:endParaRPr/>
          </a:p>
        </p:txBody>
      </p:sp>
      <p:sp>
        <p:nvSpPr>
          <p:cNvPr id="110" name="" descr="{&quot;isTemplate&quot;:true,&quot;type&quot;:&quot;text&quot;}"/>
          <p:cNvSpPr txBox="1"/>
          <p:nvPr/>
        </p:nvSpPr>
        <p:spPr>
          <a:xfrm rot="0" flipH="0" flipV="0">
            <a:off x="3581400" y="4819650"/>
            <a:ext cx="7810500" cy="257175"/>
          </a:xfrm>
          <a:prstGeom prst="rect"/>
        </p:spPr>
        <p:txBody>
          <a:bodyPr wrap="none" lIns="0" tIns="0" rIns="0" bIns="0"/>
          <a:p>
            <a:pPr>
              <a:lnSpc>
                <a:spcPct val="150000"/>
              </a:lnSpc>
            </a:pPr>
            <a:r>
              <a:rPr lang="zh-CN" sz="1125">
                <a:solidFill>
                  <a:srgbClr val="546779"/>
                </a:solidFill>
                <a:latin typeface="Microsoft YaHei"/>
                <a:ea typeface="Microsoft YaHei"/>
              </a:rPr>
              <a:t>校验器给出通过结论的那一版方案</a:t>
            </a:r>
            <a:endParaRPr/>
          </a:p>
        </p:txBody>
      </p:sp>
      <p:sp>
        <p:nvSpPr>
          <p:cNvPr id="111" name=""/>
          <p:cNvSpPr/>
          <p:nvPr/>
        </p:nvSpPr>
        <p:spPr>
          <a:xfrm rot="0" flipH="0" flipV="0">
            <a:off x="609600" y="5514975"/>
            <a:ext cx="10972800" cy="723900"/>
          </a:xfrm>
          <a:prstGeom prst="roundRect">
            <a:avLst>
              <a:gd name="adj" fmla="val 13158"/>
            </a:avLst>
          </a:prstGeom>
          <a:solidFill>
            <a:srgbClr val="FFF4E6"/>
          </a:solidFill>
          <a:ln/>
        </p:spPr>
        <p:txBody>
          <a:bodyPr/>
          <a:p/>
        </p:txBody>
      </p:sp>
      <p:sp>
        <p:nvSpPr>
          <p:cNvPr id="112" name=""/>
          <p:cNvSpPr/>
          <p:nvPr/>
        </p:nvSpPr>
        <p:spPr>
          <a:xfrm rot="0" flipH="0" flipV="0">
            <a:off x="800100" y="5667375"/>
            <a:ext cx="38100" cy="419100"/>
          </a:xfrm>
          <a:prstGeom prst="rect">
            <a:avLst/>
          </a:prstGeom>
          <a:solidFill>
            <a:srgbClr val="CB6B28"/>
          </a:solidFill>
          <a:ln/>
        </p:spPr>
        <p:txBody>
          <a:bodyPr/>
          <a:p/>
        </p:txBody>
      </p:sp>
      <p:sp>
        <p:nvSpPr>
          <p:cNvPr id="113" name="" descr="{&quot;isTemplate&quot;:true,&quot;type&quot;:&quot;text&quot;}"/>
          <p:cNvSpPr txBox="1"/>
          <p:nvPr/>
        </p:nvSpPr>
        <p:spPr>
          <a:xfrm rot="0" flipH="0" flipV="0">
            <a:off x="990600" y="5743575"/>
            <a:ext cx="3486150" cy="276225"/>
          </a:xfrm>
          <a:prstGeom prst="rect"/>
        </p:spPr>
        <p:txBody>
          <a:bodyPr wrap="none" lIns="0" tIns="0" rIns="0" bIns="0"/>
          <a:p>
            <a:pPr>
              <a:lnSpc>
                <a:spcPct val="150000"/>
              </a:lnSpc>
            </a:pPr>
            <a:r>
              <a:rPr lang="zh-CN" sz="1200">
                <a:solidFill>
                  <a:srgbClr val="20344B"/>
                </a:solidFill>
                <a:latin typeface="Microsoft YaHei"/>
                <a:ea typeface="Microsoft YaHei"/>
              </a:rPr>
              <a:t>报告里一句</a:t>
            </a:r>
            <a:r>
              <a:rPr lang="en-US" sz="1200">
                <a:solidFill>
                  <a:srgbClr val="20344B"/>
                </a:solidFill>
                <a:latin typeface="Microsoft YaHei"/>
                <a:ea typeface="Microsoft YaHei"/>
              </a:rPr>
              <a:t>"</a:t>
            </a:r>
            <a:r>
              <a:rPr lang="zh-CN" sz="1200">
                <a:solidFill>
                  <a:srgbClr val="20344B"/>
                </a:solidFill>
                <a:latin typeface="Microsoft YaHei"/>
                <a:ea typeface="Microsoft YaHei"/>
              </a:rPr>
              <a:t>避开十点预约</a:t>
            </a:r>
            <a:r>
              <a:rPr lang="en-US" sz="1200">
                <a:solidFill>
                  <a:srgbClr val="20344B"/>
                </a:solidFill>
                <a:latin typeface="Microsoft YaHei"/>
                <a:ea typeface="Microsoft YaHei"/>
              </a:rPr>
              <a:t>"</a:t>
            </a:r>
            <a:r>
              <a:rPr lang="zh-CN" sz="1200">
                <a:solidFill>
                  <a:srgbClr val="20344B"/>
                </a:solidFill>
                <a:latin typeface="Microsoft YaHei"/>
                <a:ea typeface="Microsoft YaHei"/>
              </a:rPr>
              <a:t>，不能替代这条证据链。</a:t>
            </a:r>
            <a:endParaRPr/>
          </a:p>
        </p:txBody>
      </p:sp>
      <p:sp>
        <p:nvSpPr>
          <p:cNvPr id="114"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11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12 / 26</a:t>
            </a:r>
            <a:endParaRPr/>
          </a:p>
        </p:txBody>
      </p:sp>
    </p:spTree>
  </p:cSld>
</p:sld>
</file>

<file path=ppt/slides/slide13.xml><?xml version="1.0" encoding="utf-8"?>
<p:sld xmlns:p="http://schemas.openxmlformats.org/presentationml/2006/main" xmlns:a="http://schemas.openxmlformats.org/drawingml/2006/main">
  <p:cSld>
    <p:spTree>
      <p:nvGrpSpPr>
        <p:cNvPr id="116" name="" descr="&lt;Slide notes={`工具定义好了，证据也认得回来，接下来要把它接成一个回路。&#10;&#10;关键的认识是：工具返回结果，事情并没有结束。应用还要再发起一次请求，把结果交回模型，模型才会读到它，然后决定继续查、修正方案还是给出结论。&#10;&#10;如果不接着发起请求，我们手上只有一堆原始记录，模型并不知道有这些记录。&#10;&#10;回路里还有两个容易忽略的点。一是顺序：先把完整的输出保留下来，再追加工具结果，颠倒过来会丢条目。二是判定的位置：方案最后能不能用，不取决于模型说了什么，而取决于应用这侧的检查有没有通过。`} style={{ width: 1280, height: 720, background: '#FFFFFF', flexDirection: 'column', padding: '20px 64px' }}&gt;&#10;&#10;    &lt;Box style={{ height: 540, flexDirection: 'column', justifyContent: 'center', gap: 20 }}&gt;&#10;&#10;        &lt;Box style={{ flexDirection: 'row', alignItems: 'center', gap: 16 }}&gt;&#10;            &lt;Box style={{ width: 56, height: 56, borderRadius: 10, background: '#276FBF', justifyContent: 'center', alignItems: 'center' }}&gt;&#10;                &lt;Text style={{ fontSize: 28, fontWeight: 'bold', color: '#FFFFFF' }}&gt;03&lt;/Text&gt;&#10;            &lt;/Box&gt;&#10;            &lt;Text style={{ fontSize: 16, color: '#546779' }}&gt;2.5.3&lt;/Text&gt;&#10;        &lt;/Box&gt;&#10;&#10;        &lt;Text style={{ fontSize: 56, fontWeight: 'bold', color: '#20344B', lineHeight: 1.15 }}&gt;完整回路比单次请求重要&lt;/Text&gt;&#10;&#10;        &lt;Box style={{ width: 640, height: 4, background: '#276FBF' }} /&gt;&#10;&#10;        &lt;Text style={{ fontSize: 19, color: '#546779', lineHeight: 1.7 }}&gt;工具返回之后仍要继续请求，模型才会读取结果。&lt;/Text&gt;&#10;&#10;        &lt;Box style={{ marginTop: 8, flexDirection: 'row', justifyContent: 'center', gap: 16 }}&gt;&#10;            &lt;Box style={{ width: 280, height: 56, background: '#EDF4FC', borderRadius: 8, justifyContent: 'center', alignItems: 'center' }}&gt;&#10;                &lt;Text style={{ fontSize: 17, fontWeight: 'bold', color: '#276FBF' }}&gt;保留完整输出&lt;/Text&gt;&#10;            &lt;/Box&gt;&#10;            &lt;Box style={{ width: 280, height: 56, background: '#EDF4FC', borderRadius: 8, justifyContent: 'center', alignItems: 'center' }}&gt;&#10;                &lt;Text style={{ fontSize: 17, fontWeight: 'bold', color: '#276FBF' }}&gt;逐条执行回填&lt;/Text&gt;&#10;            &lt;/Box&gt;&#10;            &lt;Box style={{ width: 280, height: 56, background: '#ECF7F2', borderRadius: 8, justifyContent: 'center', alignItems: 'center' }}&gt;&#10;                &lt;Text style={{ fontSize: 17, fontWeight: 'bold', color: '#26816B' }}&gt;继续请求&lt;/Text&gt;&#10;            &lt;/Box&gt;&#10;        &lt;/Box&gt;&#10;&#10;        &lt;Box style={{ flexDirection: 'row', justifyContent: 'center' }}&gt;&#10;            &lt;Box style={{ width: 300, height: 26, justifyContent: 'center', alignItems: 'center' }}&gt;&lt;Text style={{ fontSize: 18, color: '#26816B' }}&gt;↓&lt;/Text&gt;&lt;/Box&gt;&#10;        &lt;/Box&gt;&#10;&#10;        &lt;Box style={{ flexDirection: 'row', justifyContent: 'center' }}&gt;&#10;            &lt;Box style={{ width: 620, height: 56, background: '#F4F7FA', borderRadius: 8, justifyContent: 'center', alignItems: 'center' }}&gt;&#10;                &lt;Text style={{ fontSize: 17, fontWeight: 'bold', color: '#20344B' }}&gt;成功条件放在应用里，不放在模型的措辞里&lt;/Text&gt;&#10;            &lt;/Box&gt;&#10;        &lt;/Box&gt;&#10;&#10;    &lt;/Box&gt;&#10;&#10;    &lt;Box style={{ height: 40, flexDirection: 'row', justifyContent: 'space-between', alignItems: 'center' }}&gt;&#10;        &lt;Text style={{ fontSize: 14, color: '#546779' }}&gt;2.5 Function Calling&lt;/Text&gt;&#10;        &lt;Text style={{ fontSize: 14, color: '#546779' }}&gt;13 / 26&lt;/Text&gt;&#10;    &lt;/Box&gt;&#10;&#10;&lt;/Slide&gt;&#10;"/>
        <p:cNvGrpSpPr/>
        <p:nvPr/>
      </p:nvGrpSpPr>
      <p:grpSpPr>
        <a:xfrm>
          <a:off x="0" y="0"/>
          <a:ext cx="0" cy="0"/>
          <a:chOff x="0" y="0"/>
          <a:chExt cx="0" cy="0"/>
        </a:xfrm>
      </p:grpSpPr>
      <p:sp>
        <p:nvSpPr>
          <p:cNvPr id="117" name=""/>
          <p:cNvSpPr/>
          <p:nvPr/>
        </p:nvSpPr>
        <p:spPr>
          <a:xfrm rot="0" flipH="0" flipV="0">
            <a:off x="0" y="0"/>
            <a:ext cx="12192000" cy="6858000"/>
          </a:xfrm>
          <a:prstGeom prst="rect">
            <a:avLst/>
          </a:prstGeom>
          <a:solidFill>
            <a:srgbClr val="FFFFFF"/>
          </a:solidFill>
          <a:ln/>
        </p:spPr>
        <p:txBody>
          <a:bodyPr/>
          <a:p/>
        </p:txBody>
      </p:sp>
      <p:sp>
        <p:nvSpPr>
          <p:cNvPr id="118" name=""/>
          <p:cNvSpPr/>
          <p:nvPr/>
        </p:nvSpPr>
        <p:spPr>
          <a:xfrm rot="0" flipH="0" flipV="0">
            <a:off x="609600" y="657225"/>
            <a:ext cx="533400" cy="533400"/>
          </a:xfrm>
          <a:prstGeom prst="roundRect">
            <a:avLst>
              <a:gd name="adj" fmla="val 17857"/>
            </a:avLst>
          </a:prstGeom>
          <a:solidFill>
            <a:srgbClr val="276FBF"/>
          </a:solidFill>
          <a:ln/>
        </p:spPr>
        <p:txBody>
          <a:bodyPr/>
          <a:p/>
        </p:txBody>
      </p:sp>
      <p:sp>
        <p:nvSpPr>
          <p:cNvPr id="119" name="" descr="{&quot;isTemplate&quot;:true,&quot;type&quot;:&quot;text&quot;}"/>
          <p:cNvSpPr txBox="1"/>
          <p:nvPr/>
        </p:nvSpPr>
        <p:spPr>
          <a:xfrm rot="0" flipH="0" flipV="0">
            <a:off x="714375" y="762000"/>
            <a:ext cx="333375" cy="323850"/>
          </a:xfrm>
          <a:prstGeom prst="rect"/>
        </p:spPr>
        <p:txBody>
          <a:bodyPr wrap="none" lIns="0" tIns="0" rIns="0" bIns="0"/>
          <a:p>
            <a:pPr>
              <a:lnSpc>
                <a:spcPct val="100000"/>
              </a:lnSpc>
            </a:pPr>
            <a:r>
              <a:rPr lang="en-US" sz="2100" b="1">
                <a:solidFill>
                  <a:srgbClr val="FFFFFF"/>
                </a:solidFill>
                <a:latin typeface="Microsoft YaHei"/>
                <a:ea typeface="Microsoft YaHei"/>
              </a:rPr>
              <a:t>03</a:t>
            </a:r>
            <a:endParaRPr/>
          </a:p>
        </p:txBody>
      </p:sp>
      <p:sp>
        <p:nvSpPr>
          <p:cNvPr id="120" name="" descr="{&quot;isTemplate&quot;:true,&quot;type&quot;:&quot;text&quot;}"/>
          <p:cNvSpPr txBox="1"/>
          <p:nvPr/>
        </p:nvSpPr>
        <p:spPr>
          <a:xfrm rot="0" flipH="0" flipV="0">
            <a:off x="1295400" y="828675"/>
            <a:ext cx="342900" cy="190500"/>
          </a:xfrm>
          <a:prstGeom prst="rect"/>
        </p:spPr>
        <p:txBody>
          <a:bodyPr wrap="none" lIns="0" tIns="0" rIns="0" bIns="0"/>
          <a:p>
            <a:pPr>
              <a:lnSpc>
                <a:spcPct val="100000"/>
              </a:lnSpc>
            </a:pPr>
            <a:r>
              <a:rPr lang="en-US" sz="1200">
                <a:solidFill>
                  <a:srgbClr val="546779"/>
                </a:solidFill>
                <a:latin typeface="Microsoft YaHei"/>
                <a:ea typeface="Microsoft YaHei"/>
              </a:rPr>
              <a:t>2.5.3</a:t>
            </a:r>
            <a:endParaRPr/>
          </a:p>
        </p:txBody>
      </p:sp>
      <p:sp>
        <p:nvSpPr>
          <p:cNvPr id="121" name="" descr="{&quot;isTemplate&quot;:true,&quot;type&quot;:&quot;text&quot;}"/>
          <p:cNvSpPr txBox="1"/>
          <p:nvPr/>
        </p:nvSpPr>
        <p:spPr>
          <a:xfrm rot="0" flipH="0" flipV="0">
            <a:off x="609600" y="1381125"/>
            <a:ext cx="10972800" cy="742950"/>
          </a:xfrm>
          <a:prstGeom prst="rect"/>
        </p:spPr>
        <p:txBody>
          <a:bodyPr wrap="none" lIns="0" tIns="0" rIns="0" bIns="0"/>
          <a:p>
            <a:pPr>
              <a:lnSpc>
                <a:spcPct val="114999"/>
              </a:lnSpc>
            </a:pPr>
            <a:r>
              <a:rPr lang="zh-CN" sz="4200" b="1">
                <a:solidFill>
                  <a:srgbClr val="20344B"/>
                </a:solidFill>
                <a:latin typeface="Microsoft YaHei"/>
                <a:ea typeface="Microsoft YaHei"/>
              </a:rPr>
              <a:t>完整回路比单次请求重要</a:t>
            </a:r>
            <a:endParaRPr/>
          </a:p>
        </p:txBody>
      </p:sp>
      <p:sp>
        <p:nvSpPr>
          <p:cNvPr id="122" name=""/>
          <p:cNvSpPr/>
          <p:nvPr/>
        </p:nvSpPr>
        <p:spPr>
          <a:xfrm rot="0" flipH="0" flipV="0">
            <a:off x="609600" y="2314575"/>
            <a:ext cx="6096000" cy="38100"/>
          </a:xfrm>
          <a:prstGeom prst="rect">
            <a:avLst/>
          </a:prstGeom>
          <a:solidFill>
            <a:srgbClr val="276FBF"/>
          </a:solidFill>
          <a:ln/>
        </p:spPr>
        <p:txBody>
          <a:bodyPr/>
          <a:p/>
        </p:txBody>
      </p:sp>
      <p:sp>
        <p:nvSpPr>
          <p:cNvPr id="123" name="" descr="{&quot;isTemplate&quot;:true,&quot;type&quot;:&quot;text&quot;}"/>
          <p:cNvSpPr txBox="1"/>
          <p:nvPr/>
        </p:nvSpPr>
        <p:spPr>
          <a:xfrm rot="0" flipH="0" flipV="0">
            <a:off x="609600" y="2543175"/>
            <a:ext cx="10972800" cy="371475"/>
          </a:xfrm>
          <a:prstGeom prst="rect"/>
        </p:spPr>
        <p:txBody>
          <a:bodyPr wrap="none" lIns="0" tIns="0" rIns="0" bIns="0"/>
          <a:p>
            <a:pPr>
              <a:lnSpc>
                <a:spcPct val="170000"/>
              </a:lnSpc>
            </a:pPr>
            <a:r>
              <a:rPr lang="zh-CN" sz="1425">
                <a:solidFill>
                  <a:srgbClr val="546779"/>
                </a:solidFill>
                <a:latin typeface="Microsoft YaHei"/>
                <a:ea typeface="Microsoft YaHei"/>
              </a:rPr>
              <a:t>工具返回之后仍要继续请求，模型才会读取结果。</a:t>
            </a:r>
            <a:endParaRPr/>
          </a:p>
        </p:txBody>
      </p:sp>
      <p:sp>
        <p:nvSpPr>
          <p:cNvPr id="124" name=""/>
          <p:cNvSpPr/>
          <p:nvPr/>
        </p:nvSpPr>
        <p:spPr>
          <a:xfrm rot="0" flipH="0" flipV="0">
            <a:off x="1943100" y="3181350"/>
            <a:ext cx="2667000" cy="533400"/>
          </a:xfrm>
          <a:prstGeom prst="roundRect">
            <a:avLst>
              <a:gd name="adj" fmla="val 14286"/>
            </a:avLst>
          </a:prstGeom>
          <a:solidFill>
            <a:srgbClr val="EDF4FC"/>
          </a:solidFill>
          <a:ln/>
        </p:spPr>
        <p:txBody>
          <a:bodyPr/>
          <a:p/>
        </p:txBody>
      </p:sp>
      <p:sp>
        <p:nvSpPr>
          <p:cNvPr id="125" name="" descr="{&quot;isTemplate&quot;:true,&quot;type&quot;:&quot;text&quot;}"/>
          <p:cNvSpPr txBox="1"/>
          <p:nvPr/>
        </p:nvSpPr>
        <p:spPr>
          <a:xfrm rot="0" flipH="0" flipV="0">
            <a:off x="2790825" y="3352800"/>
            <a:ext cx="971550" cy="200025"/>
          </a:xfrm>
          <a:prstGeom prst="rect"/>
        </p:spPr>
        <p:txBody>
          <a:bodyPr wrap="none" lIns="0" tIns="0" rIns="0" bIns="0"/>
          <a:p>
            <a:pPr>
              <a:lnSpc>
                <a:spcPct val="100000"/>
              </a:lnSpc>
            </a:pPr>
            <a:r>
              <a:rPr lang="zh-CN" sz="1275" b="1">
                <a:solidFill>
                  <a:srgbClr val="276FBF"/>
                </a:solidFill>
                <a:latin typeface="Microsoft YaHei"/>
                <a:ea typeface="Microsoft YaHei"/>
              </a:rPr>
              <a:t>保留完整输出</a:t>
            </a:r>
            <a:endParaRPr/>
          </a:p>
        </p:txBody>
      </p:sp>
      <p:sp>
        <p:nvSpPr>
          <p:cNvPr id="126" name=""/>
          <p:cNvSpPr/>
          <p:nvPr/>
        </p:nvSpPr>
        <p:spPr>
          <a:xfrm rot="0" flipH="0" flipV="0">
            <a:off x="4762500" y="3181350"/>
            <a:ext cx="2667000" cy="533400"/>
          </a:xfrm>
          <a:prstGeom prst="roundRect">
            <a:avLst>
              <a:gd name="adj" fmla="val 14286"/>
            </a:avLst>
          </a:prstGeom>
          <a:solidFill>
            <a:srgbClr val="EDF4FC"/>
          </a:solidFill>
          <a:ln/>
        </p:spPr>
        <p:txBody>
          <a:bodyPr/>
          <a:p/>
        </p:txBody>
      </p:sp>
      <p:sp>
        <p:nvSpPr>
          <p:cNvPr id="127" name="" descr="{&quot;isTemplate&quot;:true,&quot;type&quot;:&quot;text&quot;}"/>
          <p:cNvSpPr txBox="1"/>
          <p:nvPr/>
        </p:nvSpPr>
        <p:spPr>
          <a:xfrm rot="0" flipH="0" flipV="0">
            <a:off x="5610225" y="3352800"/>
            <a:ext cx="971550" cy="200025"/>
          </a:xfrm>
          <a:prstGeom prst="rect"/>
        </p:spPr>
        <p:txBody>
          <a:bodyPr wrap="none" lIns="0" tIns="0" rIns="0" bIns="0"/>
          <a:p>
            <a:pPr>
              <a:lnSpc>
                <a:spcPct val="100000"/>
              </a:lnSpc>
            </a:pPr>
            <a:r>
              <a:rPr lang="zh-CN" sz="1275" b="1">
                <a:solidFill>
                  <a:srgbClr val="276FBF"/>
                </a:solidFill>
                <a:latin typeface="Microsoft YaHei"/>
                <a:ea typeface="Microsoft YaHei"/>
              </a:rPr>
              <a:t>逐条执行回填</a:t>
            </a:r>
            <a:endParaRPr/>
          </a:p>
        </p:txBody>
      </p:sp>
      <p:sp>
        <p:nvSpPr>
          <p:cNvPr id="128" name=""/>
          <p:cNvSpPr/>
          <p:nvPr/>
        </p:nvSpPr>
        <p:spPr>
          <a:xfrm rot="0" flipH="0" flipV="0">
            <a:off x="7581900" y="3181350"/>
            <a:ext cx="2667000" cy="533400"/>
          </a:xfrm>
          <a:prstGeom prst="roundRect">
            <a:avLst>
              <a:gd name="adj" fmla="val 14286"/>
            </a:avLst>
          </a:prstGeom>
          <a:solidFill>
            <a:srgbClr val="ECF7F2"/>
          </a:solidFill>
          <a:ln/>
        </p:spPr>
        <p:txBody>
          <a:bodyPr/>
          <a:p/>
        </p:txBody>
      </p:sp>
      <p:sp>
        <p:nvSpPr>
          <p:cNvPr id="129" name="" descr="{&quot;isTemplate&quot;:true,&quot;type&quot;:&quot;text&quot;}"/>
          <p:cNvSpPr txBox="1"/>
          <p:nvPr/>
        </p:nvSpPr>
        <p:spPr>
          <a:xfrm rot="0" flipH="0" flipV="0">
            <a:off x="8591550" y="3352800"/>
            <a:ext cx="647700" cy="200025"/>
          </a:xfrm>
          <a:prstGeom prst="rect"/>
        </p:spPr>
        <p:txBody>
          <a:bodyPr wrap="none" lIns="0" tIns="0" rIns="0" bIns="0"/>
          <a:p>
            <a:pPr>
              <a:lnSpc>
                <a:spcPct val="100000"/>
              </a:lnSpc>
            </a:pPr>
            <a:r>
              <a:rPr lang="zh-CN" sz="1275" b="1">
                <a:solidFill>
                  <a:srgbClr val="26816B"/>
                </a:solidFill>
                <a:latin typeface="Microsoft YaHei"/>
                <a:ea typeface="Microsoft YaHei"/>
              </a:rPr>
              <a:t>继续请求</a:t>
            </a:r>
            <a:endParaRPr/>
          </a:p>
        </p:txBody>
      </p:sp>
      <p:sp>
        <p:nvSpPr>
          <p:cNvPr id="130" name="" descr="{&quot;isTemplate&quot;:true,&quot;type&quot;:&quot;text&quot;}"/>
          <p:cNvSpPr txBox="1"/>
          <p:nvPr/>
        </p:nvSpPr>
        <p:spPr>
          <a:xfrm rot="0" flipH="0" flipV="0">
            <a:off x="6057900" y="3924300"/>
            <a:ext cx="85725" cy="209550"/>
          </a:xfrm>
          <a:prstGeom prst="rect"/>
        </p:spPr>
        <p:txBody>
          <a:bodyPr wrap="none" lIns="0" tIns="0" rIns="0" bIns="0"/>
          <a:p>
            <a:pPr>
              <a:lnSpc>
                <a:spcPct val="100000"/>
              </a:lnSpc>
            </a:pPr>
            <a:r>
              <a:rPr sz="1350">
                <a:solidFill>
                  <a:srgbClr val="26816B"/>
                </a:solidFill>
                <a:latin typeface="Microsoft YaHei"/>
                <a:ea typeface="Microsoft YaHei"/>
              </a:rPr>
              <a:t>↓</a:t>
            </a:r>
            <a:endParaRPr/>
          </a:p>
        </p:txBody>
      </p:sp>
      <p:sp>
        <p:nvSpPr>
          <p:cNvPr id="131" name=""/>
          <p:cNvSpPr/>
          <p:nvPr/>
        </p:nvSpPr>
        <p:spPr>
          <a:xfrm rot="0" flipH="0" flipV="0">
            <a:off x="3143250" y="4343400"/>
            <a:ext cx="5905500" cy="533400"/>
          </a:xfrm>
          <a:prstGeom prst="roundRect">
            <a:avLst>
              <a:gd name="adj" fmla="val 14286"/>
            </a:avLst>
          </a:prstGeom>
          <a:solidFill>
            <a:srgbClr val="F4F7FA"/>
          </a:solidFill>
          <a:ln/>
        </p:spPr>
        <p:txBody>
          <a:bodyPr/>
          <a:p/>
        </p:txBody>
      </p:sp>
      <p:sp>
        <p:nvSpPr>
          <p:cNvPr id="132" name="" descr="{&quot;isTemplate&quot;:true,&quot;type&quot;:&quot;text&quot;}"/>
          <p:cNvSpPr txBox="1"/>
          <p:nvPr/>
        </p:nvSpPr>
        <p:spPr>
          <a:xfrm rot="0" flipH="0" flipV="0">
            <a:off x="4562475" y="4514850"/>
            <a:ext cx="3076575" cy="200025"/>
          </a:xfrm>
          <a:prstGeom prst="rect"/>
        </p:spPr>
        <p:txBody>
          <a:bodyPr wrap="none" lIns="0" tIns="0" rIns="0" bIns="0"/>
          <a:p>
            <a:pPr>
              <a:lnSpc>
                <a:spcPct val="100000"/>
              </a:lnSpc>
            </a:pPr>
            <a:r>
              <a:rPr lang="zh-CN" sz="1275" b="1">
                <a:solidFill>
                  <a:srgbClr val="20344B"/>
                </a:solidFill>
                <a:latin typeface="Microsoft YaHei"/>
                <a:ea typeface="Microsoft YaHei"/>
              </a:rPr>
              <a:t>成功条件放在应用里，不放在模型的措辞里</a:t>
            </a:r>
            <a:endParaRPr/>
          </a:p>
        </p:txBody>
      </p:sp>
      <p:sp>
        <p:nvSpPr>
          <p:cNvPr id="133" name="" descr="{&quot;isTemplate&quot;:true,&quot;type&quot;:&quot;text&quot;}"/>
          <p:cNvSpPr txBox="1"/>
          <p:nvPr/>
        </p:nvSpPr>
        <p:spPr>
          <a:xfrm rot="0" flipH="0" flipV="0">
            <a:off x="609600" y="54483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134" name="" descr="{&quot;isTemplate&quot;:true,&quot;type&quot;:&quot;text&quot;}"/>
          <p:cNvSpPr txBox="1"/>
          <p:nvPr/>
        </p:nvSpPr>
        <p:spPr>
          <a:xfrm rot="0" flipH="0" flipV="0">
            <a:off x="11125200" y="54483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13 / 26</a:t>
            </a:r>
            <a:endParaRPr/>
          </a:p>
        </p:txBody>
      </p:sp>
    </p:spTree>
  </p:cSld>
</p:sld>
</file>

<file path=ppt/slides/slide14.xml><?xml version="1.0" encoding="utf-8"?>
<p:sld xmlns:p="http://schemas.openxmlformats.org/presentationml/2006/main" xmlns:a="http://schemas.openxmlformats.org/drawingml/2006/main">
  <p:cSld>
    <p:spTree>
      <p:nvGrpSpPr>
        <p:cNvPr id="135" name="" descr="&lt;Slide notes={`回路拆开是五步，我按顺序念一遍，每一步都对应脚本里的一行。&#10;&#10;第一步，创建请求。模型、指令、历史输入和工具清单一起发出去。&#10;&#10;第二步，把完整的响应输出接进历史。这一步是后面所有事的基础。&#10;&#10;第三步，从输出里挑出所有类型是 function_call 的条目。注意是&quot;所有&quot;，不是第一条。&#10;&#10;第四步，逐条处理。把 arguments 解析成对象，按照工具名分发到对应的函数去执行。&#10;&#10;第五步，把结果包成 function_call_output 追加回历史，call_id 原样带上，输出内容序列化成 JSON。&#10;&#10;五步走完，历史里就同时有请求、结果和原始输出，下一轮可以直接发出去。`}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3　完整回路比单次请求重要&lt;/Text&gt;&#10;            &lt;Text style={{ fontSize: 34, fontWeight: 'bold', color: '#20344B' }}&gt;回路里的五步&lt;/Text&gt;&#10;        &lt;/Box&gt;&#10;    &lt;/Box&gt;&#10;&#10;    &lt;Box style={{ height: 540, flexDirection: 'column', justifyContent: 'center', gap: 12 }}&gt;&#10;&#10;        &lt;Box style={{ height: 84, background: '#EDF4FC', borderRadius: 10, padding: '0 20px', flexDirection: 'row', gap: 18, alignItems: 'center' }}&gt;&#10;            &lt;Box style={{ width: 36, height: 36, borderRadius: 8, background: '#276FBF', justifyContent: 'center', alignItems: 'center' }}&gt;&#10;                &lt;Text style={{ fontSize: 17, fontWeight: 'bold', color: '#FFFFFF' }}&gt;1&lt;/Text&gt;&#10;            &lt;/Box&gt;&#10;            &lt;Text style={{ width: 200, fontSize: 17, fontWeight: 'bold', color: '#276FBF' }}&gt;创建请求&lt;/Text&gt;&#10;            &lt;Text style={{ flex: 1, fontSize: 13, color: '#20344B', fontFamily: 'Consolas, monospace' }}&gt;{'client.responses.create(model, instructions, input=history, tools=TOOLS)'}&lt;/Text&gt;&#10;        &lt;/Box&gt;&#10;&#10;        &lt;Box style={{ height: 84, background: '#ECF7F2', borderRadius: 10, padding: '0 20px', flexDirection: 'row', gap: 18, alignItems: 'center' }}&gt;&#10;            &lt;Box style={{ width: 36, height: 36, borderRadius: 8, background: '#26816B', justifyContent: 'center', alignItems: 'center' }}&gt;&#10;                &lt;Text style={{ fontSize: 17, fontWeight: 'bold', color: '#FFFFFF' }}&gt;2&lt;/Text&gt;&#10;            &lt;/Box&gt;&#10;            &lt;Text style={{ width: 200, fontSize: 17, fontWeight: 'bold', color: '#26816B' }}&gt;保留完整输出&lt;/Text&gt;&#10;            &lt;Text style={{ flex: 1, fontSize: 13, color: '#20344B', fontFamily: 'Consolas, monospace' }}&gt;history.extend(response.output)&lt;/Text&gt;&#10;        &lt;/Box&gt;&#10;&#10;        &lt;Box style={{ height: 84, background: '#EDF4FC', borderRadius: 10, padding: '0 20px', flexDirection: 'row', gap: 18, alignItems: 'center' }}&gt;&#10;            &lt;Box style={{ width: 36, height: 36, borderRadius: 8, background: '#276FBF', justifyContent: 'center', alignItems: 'center' }}&gt;&#10;                &lt;Text style={{ fontSize: 17, fontWeight: 'bold', color: '#FFFFFF' }}&gt;3&lt;/Text&gt;&#10;            &lt;/Box&gt;&#10;            &lt;Text style={{ width: 200, fontSize: 17, fontWeight: 'bold', color: '#276FBF' }}&gt;取出全部调用&lt;/Text&gt;&#10;            &lt;Text style={{ flex: 1, fontSize: 13, color: '#20344B', fontFamily: 'Consolas, monospace' }}&gt;{'calls = [item for item in response.output if item.type == &quot;function_call&quot;]'}&lt;/Text&gt;&#10;        &lt;/Box&gt;&#10;&#10;        &lt;Box style={{ height: 84, background: '#EDF4FC', borderRadius: 10, padding: '0 20px', flexDirection: 'row', gap: 18, alignItems: 'center' }}&gt;&#10;            &lt;Box style={{ width: 36, height: 36, borderRadius: 8, background: '#276FBF', justifyContent: 'center', alignItems: 'center' }}&gt;&#10;                &lt;Text style={{ fontSize: 17, fontWeight: 'bold', color: '#FFFFFF' }}&gt;4&lt;/Text&gt;&#10;            &lt;/Box&gt;&#10;            &lt;Text style={{ width: 200, fontSize: 17, fontWeight: 'bold', color: '#276FBF' }}&gt;逐条解析并执行&lt;/Text&gt;&#10;            &lt;Text style={{ flex: 1, fontSize: 13, color: '#20344B', fontFamily: 'Consolas, monospace' }}&gt;args = json.loads(call.arguments)　result = dispatch_tool(call.name, args)&lt;/Text&gt;&#10;        &lt;/Box&gt;&#10;&#10;        &lt;Box style={{ height: 84, background: '#ECF7F2', borderRadius: 10, padding: '0 20px', flexDirection: 'row', gap: 18, alignItems: 'center' }}&gt;&#10;            &lt;Box style={{ width: 36, height: 36, borderRadius: 8, background: '#26816B', justifyContent: 'center', alignItems: 'center' }}&gt;&#10;                &lt;Text style={{ fontSize: 17, fontWeight: 'bold', color: '#FFFFFF' }}&gt;5&lt;/Text&gt;&#10;            &lt;/Box&gt;&#10;            &lt;Text style={{ width: 200, fontSize: 17, fontWeight: 'bold', color: '#26816B' }}&gt;回填结果&lt;/Text&gt;&#10;            &lt;Text style={{ flex: 1, fontSize: 13, color: '#20344B', fontFamily: 'Consolas, monospace' }}&gt;{'history.append({&quot;type&quot;: &quot;function_call_output&quot;, &quot;call_id&quot;: call.call_id, ...})'}&lt;/Text&gt;&#10;        &lt;/Box&gt;&#10;&#10;    &lt;/Box&gt;&#10;&#10;    &lt;Box style={{ height: 40, flexDirection: 'row', justifyContent: 'space-between', alignItems: 'center' }}&gt;&#10;        &lt;Text style={{ fontSize: 14, color: '#546779' }}&gt;2.5 Function Calling&lt;/Text&gt;&#10;        &lt;Text style={{ fontSize: 14, color: '#546779' }}&gt;14 / 26&lt;/Text&gt;&#10;    &lt;/Box&gt;&#10;&#10;&lt;/Slide&gt;&#10;"/>
        <p:cNvGrpSpPr/>
        <p:nvPr/>
      </p:nvGrpSpPr>
      <p:grpSpPr>
        <a:xfrm>
          <a:off x="0" y="0"/>
          <a:ext cx="0" cy="0"/>
          <a:chOff x="0" y="0"/>
          <a:chExt cx="0" cy="0"/>
        </a:xfrm>
      </p:grpSpPr>
      <p:sp>
        <p:nvSpPr>
          <p:cNvPr id="136" name=""/>
          <p:cNvSpPr/>
          <p:nvPr/>
        </p:nvSpPr>
        <p:spPr>
          <a:xfrm rot="0" flipH="0" flipV="0">
            <a:off x="0" y="0"/>
            <a:ext cx="12192000" cy="6858000"/>
          </a:xfrm>
          <a:prstGeom prst="rect">
            <a:avLst/>
          </a:prstGeom>
          <a:solidFill>
            <a:srgbClr val="FFFFFF"/>
          </a:solidFill>
          <a:ln/>
        </p:spPr>
        <p:txBody>
          <a:bodyPr/>
          <a:p/>
        </p:txBody>
      </p:sp>
      <p:sp>
        <p:nvSpPr>
          <p:cNvPr id="137" name=""/>
          <p:cNvSpPr/>
          <p:nvPr/>
        </p:nvSpPr>
        <p:spPr>
          <a:xfrm rot="0" flipH="0" flipV="0">
            <a:off x="609600" y="457200"/>
            <a:ext cx="38100" cy="419100"/>
          </a:xfrm>
          <a:prstGeom prst="rect">
            <a:avLst/>
          </a:prstGeom>
          <a:solidFill>
            <a:srgbClr val="276FBF"/>
          </a:solidFill>
          <a:ln/>
        </p:spPr>
        <p:txBody>
          <a:bodyPr/>
          <a:p/>
        </p:txBody>
      </p:sp>
      <p:sp>
        <p:nvSpPr>
          <p:cNvPr id="138" name="" descr="{&quot;isTemplate&quot;:true,&quot;type&quot;:&quot;text&quot;}"/>
          <p:cNvSpPr txBox="1"/>
          <p:nvPr/>
        </p:nvSpPr>
        <p:spPr>
          <a:xfrm rot="0" flipH="0" flipV="0">
            <a:off x="838200" y="371475"/>
            <a:ext cx="1943100" cy="161925"/>
          </a:xfrm>
          <a:prstGeom prst="rect"/>
        </p:spPr>
        <p:txBody>
          <a:bodyPr wrap="none" lIns="0" tIns="0" rIns="0" bIns="0"/>
          <a:p>
            <a:pPr>
              <a:lnSpc>
                <a:spcPct val="100000"/>
              </a:lnSpc>
            </a:pPr>
            <a:r>
              <a:rPr lang="en-US" sz="1050">
                <a:solidFill>
                  <a:srgbClr val="546779"/>
                </a:solidFill>
                <a:latin typeface="Microsoft YaHei"/>
                <a:ea typeface="Microsoft YaHei"/>
              </a:rPr>
              <a:t>2.5.3</a:t>
            </a:r>
            <a:r>
              <a:rPr lang="zh-CN" sz="1050">
                <a:solidFill>
                  <a:srgbClr val="546779"/>
                </a:solidFill>
                <a:latin typeface="Microsoft YaHei"/>
                <a:ea typeface="Microsoft YaHei"/>
              </a:rPr>
              <a:t>　完整回路比单次请求重要</a:t>
            </a:r>
            <a:endParaRPr/>
          </a:p>
        </p:txBody>
      </p:sp>
      <p:sp>
        <p:nvSpPr>
          <p:cNvPr id="139" name="" descr="{&quot;isTemplate&quot;:true,&quot;type&quot;:&quot;text&quot;}"/>
          <p:cNvSpPr txBox="1"/>
          <p:nvPr/>
        </p:nvSpPr>
        <p:spPr>
          <a:xfrm rot="0" flipH="0" flipV="0">
            <a:off x="838200" y="571500"/>
            <a:ext cx="1943100" cy="390525"/>
          </a:xfrm>
          <a:prstGeom prst="rect"/>
        </p:spPr>
        <p:txBody>
          <a:bodyPr wrap="none" lIns="0" tIns="0" rIns="0" bIns="0"/>
          <a:p>
            <a:pPr>
              <a:lnSpc>
                <a:spcPct val="100000"/>
              </a:lnSpc>
            </a:pPr>
            <a:r>
              <a:rPr lang="zh-CN" sz="2550" b="1">
                <a:solidFill>
                  <a:srgbClr val="20344B"/>
                </a:solidFill>
                <a:latin typeface="Microsoft YaHei"/>
                <a:ea typeface="Microsoft YaHei"/>
              </a:rPr>
              <a:t>回路里的五步</a:t>
            </a:r>
            <a:endParaRPr/>
          </a:p>
        </p:txBody>
      </p:sp>
      <p:sp>
        <p:nvSpPr>
          <p:cNvPr id="140" name=""/>
          <p:cNvSpPr/>
          <p:nvPr/>
        </p:nvSpPr>
        <p:spPr>
          <a:xfrm rot="0" flipH="0" flipV="0">
            <a:off x="609600" y="1485900"/>
            <a:ext cx="10972800" cy="800100"/>
          </a:xfrm>
          <a:prstGeom prst="roundRect">
            <a:avLst>
              <a:gd name="adj" fmla="val 11905"/>
            </a:avLst>
          </a:prstGeom>
          <a:solidFill>
            <a:srgbClr val="EDF4FC"/>
          </a:solidFill>
          <a:ln/>
        </p:spPr>
        <p:txBody>
          <a:bodyPr/>
          <a:p/>
        </p:txBody>
      </p:sp>
      <p:sp>
        <p:nvSpPr>
          <p:cNvPr id="141" name=""/>
          <p:cNvSpPr/>
          <p:nvPr/>
        </p:nvSpPr>
        <p:spPr>
          <a:xfrm rot="0" flipH="0" flipV="0">
            <a:off x="800100" y="1714500"/>
            <a:ext cx="342900" cy="342900"/>
          </a:xfrm>
          <a:prstGeom prst="roundRect">
            <a:avLst>
              <a:gd name="adj" fmla="val 22222"/>
            </a:avLst>
          </a:prstGeom>
          <a:solidFill>
            <a:srgbClr val="276FBF"/>
          </a:solidFill>
          <a:ln/>
        </p:spPr>
        <p:txBody>
          <a:bodyPr/>
          <a:p/>
        </p:txBody>
      </p:sp>
      <p:sp>
        <p:nvSpPr>
          <p:cNvPr id="142" name="" descr="{&quot;isTemplate&quot;:true,&quot;type&quot;:&quot;text&quot;}"/>
          <p:cNvSpPr txBox="1"/>
          <p:nvPr/>
        </p:nvSpPr>
        <p:spPr>
          <a:xfrm rot="0" flipH="0" flipV="0">
            <a:off x="923925" y="1790700"/>
            <a:ext cx="104775" cy="200025"/>
          </a:xfrm>
          <a:prstGeom prst="rect"/>
        </p:spPr>
        <p:txBody>
          <a:bodyPr wrap="none" lIns="0" tIns="0" rIns="0" bIns="0"/>
          <a:p>
            <a:pPr>
              <a:lnSpc>
                <a:spcPct val="100000"/>
              </a:lnSpc>
            </a:pPr>
            <a:r>
              <a:rPr lang="en-US" sz="1275" b="1">
                <a:solidFill>
                  <a:srgbClr val="FFFFFF"/>
                </a:solidFill>
                <a:latin typeface="Microsoft YaHei"/>
                <a:ea typeface="Microsoft YaHei"/>
              </a:rPr>
              <a:t>1</a:t>
            </a:r>
            <a:endParaRPr/>
          </a:p>
        </p:txBody>
      </p:sp>
      <p:sp>
        <p:nvSpPr>
          <p:cNvPr id="143" name="" descr="{&quot;isTemplate&quot;:true,&quot;type&quot;:&quot;text&quot;}"/>
          <p:cNvSpPr txBox="1"/>
          <p:nvPr/>
        </p:nvSpPr>
        <p:spPr>
          <a:xfrm rot="0" flipH="0" flipV="0">
            <a:off x="1314450" y="1790700"/>
            <a:ext cx="1905000" cy="200025"/>
          </a:xfrm>
          <a:prstGeom prst="rect"/>
        </p:spPr>
        <p:txBody>
          <a:bodyPr wrap="none" lIns="0" tIns="0" rIns="0" bIns="0"/>
          <a:p>
            <a:pPr>
              <a:lnSpc>
                <a:spcPct val="100000"/>
              </a:lnSpc>
            </a:pPr>
            <a:r>
              <a:rPr lang="zh-CN" sz="1275" b="1">
                <a:solidFill>
                  <a:srgbClr val="276FBF"/>
                </a:solidFill>
                <a:latin typeface="Microsoft YaHei"/>
                <a:ea typeface="Microsoft YaHei"/>
              </a:rPr>
              <a:t>创建请求</a:t>
            </a:r>
            <a:endParaRPr/>
          </a:p>
        </p:txBody>
      </p:sp>
      <p:sp>
        <p:nvSpPr>
          <p:cNvPr id="144" name="" descr="{&quot;isTemplate&quot;:true,&quot;type&quot;:&quot;text&quot;}"/>
          <p:cNvSpPr txBox="1"/>
          <p:nvPr/>
        </p:nvSpPr>
        <p:spPr>
          <a:xfrm rot="0" flipH="0" flipV="0">
            <a:off x="3390900" y="1809750"/>
            <a:ext cx="8001000" cy="152400"/>
          </a:xfrm>
          <a:prstGeom prst="rect"/>
        </p:spPr>
        <p:txBody>
          <a:bodyPr wrap="none" lIns="0" tIns="0" rIns="0" bIns="0"/>
          <a:p>
            <a:pPr>
              <a:lnSpc>
                <a:spcPct val="100000"/>
              </a:lnSpc>
            </a:pPr>
            <a:r>
              <a:rPr lang="en-US" sz="975">
                <a:solidFill>
                  <a:srgbClr val="20344B"/>
                </a:solidFill>
                <a:latin typeface="Consolas"/>
                <a:ea typeface="Consolas"/>
              </a:rPr>
              <a:t>client.responses.create(model, instructions, input=history, tools=TOOLS)</a:t>
            </a:r>
            <a:endParaRPr/>
          </a:p>
        </p:txBody>
      </p:sp>
      <p:sp>
        <p:nvSpPr>
          <p:cNvPr id="145" name=""/>
          <p:cNvSpPr/>
          <p:nvPr/>
        </p:nvSpPr>
        <p:spPr>
          <a:xfrm rot="0" flipH="0" flipV="0">
            <a:off x="609600" y="2400300"/>
            <a:ext cx="10972800" cy="800100"/>
          </a:xfrm>
          <a:prstGeom prst="roundRect">
            <a:avLst>
              <a:gd name="adj" fmla="val 11905"/>
            </a:avLst>
          </a:prstGeom>
          <a:solidFill>
            <a:srgbClr val="ECF7F2"/>
          </a:solidFill>
          <a:ln/>
        </p:spPr>
        <p:txBody>
          <a:bodyPr/>
          <a:p/>
        </p:txBody>
      </p:sp>
      <p:sp>
        <p:nvSpPr>
          <p:cNvPr id="146" name=""/>
          <p:cNvSpPr/>
          <p:nvPr/>
        </p:nvSpPr>
        <p:spPr>
          <a:xfrm rot="0" flipH="0" flipV="0">
            <a:off x="800100" y="2628900"/>
            <a:ext cx="342900" cy="342900"/>
          </a:xfrm>
          <a:prstGeom prst="roundRect">
            <a:avLst>
              <a:gd name="adj" fmla="val 22222"/>
            </a:avLst>
          </a:prstGeom>
          <a:solidFill>
            <a:srgbClr val="26816B"/>
          </a:solidFill>
          <a:ln/>
        </p:spPr>
        <p:txBody>
          <a:bodyPr/>
          <a:p/>
        </p:txBody>
      </p:sp>
      <p:sp>
        <p:nvSpPr>
          <p:cNvPr id="147" name="" descr="{&quot;isTemplate&quot;:true,&quot;type&quot;:&quot;text&quot;}"/>
          <p:cNvSpPr txBox="1"/>
          <p:nvPr/>
        </p:nvSpPr>
        <p:spPr>
          <a:xfrm rot="0" flipH="0" flipV="0">
            <a:off x="923925" y="2705100"/>
            <a:ext cx="104775" cy="200025"/>
          </a:xfrm>
          <a:prstGeom prst="rect"/>
        </p:spPr>
        <p:txBody>
          <a:bodyPr wrap="none" lIns="0" tIns="0" rIns="0" bIns="0"/>
          <a:p>
            <a:pPr>
              <a:lnSpc>
                <a:spcPct val="100000"/>
              </a:lnSpc>
            </a:pPr>
            <a:r>
              <a:rPr lang="en-US" sz="1275" b="1">
                <a:solidFill>
                  <a:srgbClr val="FFFFFF"/>
                </a:solidFill>
                <a:latin typeface="Microsoft YaHei"/>
                <a:ea typeface="Microsoft YaHei"/>
              </a:rPr>
              <a:t>2</a:t>
            </a:r>
            <a:endParaRPr/>
          </a:p>
        </p:txBody>
      </p:sp>
      <p:sp>
        <p:nvSpPr>
          <p:cNvPr id="148" name="" descr="{&quot;isTemplate&quot;:true,&quot;type&quot;:&quot;text&quot;}"/>
          <p:cNvSpPr txBox="1"/>
          <p:nvPr/>
        </p:nvSpPr>
        <p:spPr>
          <a:xfrm rot="0" flipH="0" flipV="0">
            <a:off x="1314450" y="2705100"/>
            <a:ext cx="1905000" cy="200025"/>
          </a:xfrm>
          <a:prstGeom prst="rect"/>
        </p:spPr>
        <p:txBody>
          <a:bodyPr wrap="none" lIns="0" tIns="0" rIns="0" bIns="0"/>
          <a:p>
            <a:pPr>
              <a:lnSpc>
                <a:spcPct val="100000"/>
              </a:lnSpc>
            </a:pPr>
            <a:r>
              <a:rPr lang="zh-CN" sz="1275" b="1">
                <a:solidFill>
                  <a:srgbClr val="26816B"/>
                </a:solidFill>
                <a:latin typeface="Microsoft YaHei"/>
                <a:ea typeface="Microsoft YaHei"/>
              </a:rPr>
              <a:t>保留完整输出</a:t>
            </a:r>
            <a:endParaRPr/>
          </a:p>
        </p:txBody>
      </p:sp>
      <p:sp>
        <p:nvSpPr>
          <p:cNvPr id="149" name="" descr="{&quot;isTemplate&quot;:true,&quot;type&quot;:&quot;text&quot;}"/>
          <p:cNvSpPr txBox="1"/>
          <p:nvPr/>
        </p:nvSpPr>
        <p:spPr>
          <a:xfrm rot="0" flipH="0" flipV="0">
            <a:off x="3390900" y="2724150"/>
            <a:ext cx="8001000" cy="152400"/>
          </a:xfrm>
          <a:prstGeom prst="rect"/>
        </p:spPr>
        <p:txBody>
          <a:bodyPr wrap="none" lIns="0" tIns="0" rIns="0" bIns="0"/>
          <a:p>
            <a:pPr>
              <a:lnSpc>
                <a:spcPct val="100000"/>
              </a:lnSpc>
            </a:pPr>
            <a:r>
              <a:rPr lang="en-US" sz="975">
                <a:solidFill>
                  <a:srgbClr val="20344B"/>
                </a:solidFill>
                <a:latin typeface="Consolas"/>
                <a:ea typeface="Consolas"/>
              </a:rPr>
              <a:t>history.extend(response.output)</a:t>
            </a:r>
            <a:endParaRPr/>
          </a:p>
        </p:txBody>
      </p:sp>
      <p:sp>
        <p:nvSpPr>
          <p:cNvPr id="150" name=""/>
          <p:cNvSpPr/>
          <p:nvPr/>
        </p:nvSpPr>
        <p:spPr>
          <a:xfrm rot="0" flipH="0" flipV="0">
            <a:off x="609600" y="3314700"/>
            <a:ext cx="10972800" cy="800100"/>
          </a:xfrm>
          <a:prstGeom prst="roundRect">
            <a:avLst>
              <a:gd name="adj" fmla="val 11905"/>
            </a:avLst>
          </a:prstGeom>
          <a:solidFill>
            <a:srgbClr val="EDF4FC"/>
          </a:solidFill>
          <a:ln/>
        </p:spPr>
        <p:txBody>
          <a:bodyPr/>
          <a:p/>
        </p:txBody>
      </p:sp>
      <p:sp>
        <p:nvSpPr>
          <p:cNvPr id="151" name=""/>
          <p:cNvSpPr/>
          <p:nvPr/>
        </p:nvSpPr>
        <p:spPr>
          <a:xfrm rot="0" flipH="0" flipV="0">
            <a:off x="800100" y="3543300"/>
            <a:ext cx="342900" cy="342900"/>
          </a:xfrm>
          <a:prstGeom prst="roundRect">
            <a:avLst>
              <a:gd name="adj" fmla="val 22222"/>
            </a:avLst>
          </a:prstGeom>
          <a:solidFill>
            <a:srgbClr val="276FBF"/>
          </a:solidFill>
          <a:ln/>
        </p:spPr>
        <p:txBody>
          <a:bodyPr/>
          <a:p/>
        </p:txBody>
      </p:sp>
      <p:sp>
        <p:nvSpPr>
          <p:cNvPr id="152" name="" descr="{&quot;isTemplate&quot;:true,&quot;type&quot;:&quot;text&quot;}"/>
          <p:cNvSpPr txBox="1"/>
          <p:nvPr/>
        </p:nvSpPr>
        <p:spPr>
          <a:xfrm rot="0" flipH="0" flipV="0">
            <a:off x="923925" y="3619500"/>
            <a:ext cx="104775" cy="200025"/>
          </a:xfrm>
          <a:prstGeom prst="rect"/>
        </p:spPr>
        <p:txBody>
          <a:bodyPr wrap="none" lIns="0" tIns="0" rIns="0" bIns="0"/>
          <a:p>
            <a:pPr>
              <a:lnSpc>
                <a:spcPct val="100000"/>
              </a:lnSpc>
            </a:pPr>
            <a:r>
              <a:rPr lang="en-US" sz="1275" b="1">
                <a:solidFill>
                  <a:srgbClr val="FFFFFF"/>
                </a:solidFill>
                <a:latin typeface="Microsoft YaHei"/>
                <a:ea typeface="Microsoft YaHei"/>
              </a:rPr>
              <a:t>3</a:t>
            </a:r>
            <a:endParaRPr/>
          </a:p>
        </p:txBody>
      </p:sp>
      <p:sp>
        <p:nvSpPr>
          <p:cNvPr id="153" name="" descr="{&quot;isTemplate&quot;:true,&quot;type&quot;:&quot;text&quot;}"/>
          <p:cNvSpPr txBox="1"/>
          <p:nvPr/>
        </p:nvSpPr>
        <p:spPr>
          <a:xfrm rot="0" flipH="0" flipV="0">
            <a:off x="1314450" y="3619500"/>
            <a:ext cx="1905000" cy="200025"/>
          </a:xfrm>
          <a:prstGeom prst="rect"/>
        </p:spPr>
        <p:txBody>
          <a:bodyPr wrap="none" lIns="0" tIns="0" rIns="0" bIns="0"/>
          <a:p>
            <a:pPr>
              <a:lnSpc>
                <a:spcPct val="100000"/>
              </a:lnSpc>
            </a:pPr>
            <a:r>
              <a:rPr lang="zh-CN" sz="1275" b="1">
                <a:solidFill>
                  <a:srgbClr val="276FBF"/>
                </a:solidFill>
                <a:latin typeface="Microsoft YaHei"/>
                <a:ea typeface="Microsoft YaHei"/>
              </a:rPr>
              <a:t>取出全部调用</a:t>
            </a:r>
            <a:endParaRPr/>
          </a:p>
        </p:txBody>
      </p:sp>
      <p:sp>
        <p:nvSpPr>
          <p:cNvPr id="154" name="" descr="{&quot;isTemplate&quot;:true,&quot;type&quot;:&quot;text&quot;}"/>
          <p:cNvSpPr txBox="1"/>
          <p:nvPr/>
        </p:nvSpPr>
        <p:spPr>
          <a:xfrm rot="0" flipH="0" flipV="0">
            <a:off x="3390900" y="3638550"/>
            <a:ext cx="8001000" cy="152400"/>
          </a:xfrm>
          <a:prstGeom prst="rect"/>
        </p:spPr>
        <p:txBody>
          <a:bodyPr wrap="none" lIns="0" tIns="0" rIns="0" bIns="0"/>
          <a:p>
            <a:pPr>
              <a:lnSpc>
                <a:spcPct val="100000"/>
              </a:lnSpc>
            </a:pPr>
            <a:r>
              <a:rPr lang="en-US" sz="975">
                <a:solidFill>
                  <a:srgbClr val="20344B"/>
                </a:solidFill>
                <a:latin typeface="Consolas"/>
                <a:ea typeface="Consolas"/>
              </a:rPr>
              <a:t>calls = [item for item in response.output if item.type == "function_call"]</a:t>
            </a:r>
            <a:endParaRPr/>
          </a:p>
        </p:txBody>
      </p:sp>
      <p:sp>
        <p:nvSpPr>
          <p:cNvPr id="155" name=""/>
          <p:cNvSpPr/>
          <p:nvPr/>
        </p:nvSpPr>
        <p:spPr>
          <a:xfrm rot="0" flipH="0" flipV="0">
            <a:off x="609600" y="4229100"/>
            <a:ext cx="10972800" cy="800100"/>
          </a:xfrm>
          <a:prstGeom prst="roundRect">
            <a:avLst>
              <a:gd name="adj" fmla="val 11905"/>
            </a:avLst>
          </a:prstGeom>
          <a:solidFill>
            <a:srgbClr val="EDF4FC"/>
          </a:solidFill>
          <a:ln/>
        </p:spPr>
        <p:txBody>
          <a:bodyPr/>
          <a:p/>
        </p:txBody>
      </p:sp>
      <p:sp>
        <p:nvSpPr>
          <p:cNvPr id="156" name=""/>
          <p:cNvSpPr/>
          <p:nvPr/>
        </p:nvSpPr>
        <p:spPr>
          <a:xfrm rot="0" flipH="0" flipV="0">
            <a:off x="800100" y="4457700"/>
            <a:ext cx="342900" cy="342900"/>
          </a:xfrm>
          <a:prstGeom prst="roundRect">
            <a:avLst>
              <a:gd name="adj" fmla="val 22222"/>
            </a:avLst>
          </a:prstGeom>
          <a:solidFill>
            <a:srgbClr val="276FBF"/>
          </a:solidFill>
          <a:ln/>
        </p:spPr>
        <p:txBody>
          <a:bodyPr/>
          <a:p/>
        </p:txBody>
      </p:sp>
      <p:sp>
        <p:nvSpPr>
          <p:cNvPr id="157" name="" descr="{&quot;isTemplate&quot;:true,&quot;type&quot;:&quot;text&quot;}"/>
          <p:cNvSpPr txBox="1"/>
          <p:nvPr/>
        </p:nvSpPr>
        <p:spPr>
          <a:xfrm rot="0" flipH="0" flipV="0">
            <a:off x="923925" y="4533900"/>
            <a:ext cx="104775" cy="200025"/>
          </a:xfrm>
          <a:prstGeom prst="rect"/>
        </p:spPr>
        <p:txBody>
          <a:bodyPr wrap="none" lIns="0" tIns="0" rIns="0" bIns="0"/>
          <a:p>
            <a:pPr>
              <a:lnSpc>
                <a:spcPct val="100000"/>
              </a:lnSpc>
            </a:pPr>
            <a:r>
              <a:rPr lang="en-US" sz="1275" b="1">
                <a:solidFill>
                  <a:srgbClr val="FFFFFF"/>
                </a:solidFill>
                <a:latin typeface="Microsoft YaHei"/>
                <a:ea typeface="Microsoft YaHei"/>
              </a:rPr>
              <a:t>4</a:t>
            </a:r>
            <a:endParaRPr/>
          </a:p>
        </p:txBody>
      </p:sp>
      <p:sp>
        <p:nvSpPr>
          <p:cNvPr id="158" name="" descr="{&quot;isTemplate&quot;:true,&quot;type&quot;:&quot;text&quot;}"/>
          <p:cNvSpPr txBox="1"/>
          <p:nvPr/>
        </p:nvSpPr>
        <p:spPr>
          <a:xfrm rot="0" flipH="0" flipV="0">
            <a:off x="1314450" y="4533900"/>
            <a:ext cx="1905000" cy="200025"/>
          </a:xfrm>
          <a:prstGeom prst="rect"/>
        </p:spPr>
        <p:txBody>
          <a:bodyPr wrap="none" lIns="0" tIns="0" rIns="0" bIns="0"/>
          <a:p>
            <a:pPr>
              <a:lnSpc>
                <a:spcPct val="100000"/>
              </a:lnSpc>
            </a:pPr>
            <a:r>
              <a:rPr lang="zh-CN" sz="1275" b="1">
                <a:solidFill>
                  <a:srgbClr val="276FBF"/>
                </a:solidFill>
                <a:latin typeface="Microsoft YaHei"/>
                <a:ea typeface="Microsoft YaHei"/>
              </a:rPr>
              <a:t>逐条解析并执行</a:t>
            </a:r>
            <a:endParaRPr/>
          </a:p>
        </p:txBody>
      </p:sp>
      <p:sp>
        <p:nvSpPr>
          <p:cNvPr id="159" name="" descr="{&quot;isTemplate&quot;:true,&quot;type&quot;:&quot;text&quot;}"/>
          <p:cNvSpPr txBox="1"/>
          <p:nvPr/>
        </p:nvSpPr>
        <p:spPr>
          <a:xfrm rot="0" flipH="0" flipV="0">
            <a:off x="3390900" y="4552950"/>
            <a:ext cx="8001000" cy="152400"/>
          </a:xfrm>
          <a:prstGeom prst="rect"/>
        </p:spPr>
        <p:txBody>
          <a:bodyPr wrap="none" lIns="0" tIns="0" rIns="0" bIns="0"/>
          <a:p>
            <a:pPr>
              <a:lnSpc>
                <a:spcPct val="100000"/>
              </a:lnSpc>
            </a:pPr>
            <a:r>
              <a:rPr lang="en-US" sz="975">
                <a:solidFill>
                  <a:srgbClr val="20344B"/>
                </a:solidFill>
                <a:latin typeface="Consolas"/>
                <a:ea typeface="Consolas"/>
              </a:rPr>
              <a:t>args = json.loads(call.arguments)</a:t>
            </a:r>
            <a:r>
              <a:rPr lang="zh-CN" sz="975">
                <a:solidFill>
                  <a:srgbClr val="20344B"/>
                </a:solidFill>
                <a:latin typeface="Consolas"/>
                <a:ea typeface="Consolas"/>
              </a:rPr>
              <a:t>　</a:t>
            </a:r>
            <a:r>
              <a:rPr lang="en-US" sz="975">
                <a:solidFill>
                  <a:srgbClr val="20344B"/>
                </a:solidFill>
                <a:latin typeface="Consolas"/>
                <a:ea typeface="Consolas"/>
              </a:rPr>
              <a:t>result = dispatch_tool(call.name, args)</a:t>
            </a:r>
            <a:endParaRPr/>
          </a:p>
        </p:txBody>
      </p:sp>
      <p:sp>
        <p:nvSpPr>
          <p:cNvPr id="160" name=""/>
          <p:cNvSpPr/>
          <p:nvPr/>
        </p:nvSpPr>
        <p:spPr>
          <a:xfrm rot="0" flipH="0" flipV="0">
            <a:off x="609600" y="5143500"/>
            <a:ext cx="10972800" cy="800100"/>
          </a:xfrm>
          <a:prstGeom prst="roundRect">
            <a:avLst>
              <a:gd name="adj" fmla="val 11905"/>
            </a:avLst>
          </a:prstGeom>
          <a:solidFill>
            <a:srgbClr val="ECF7F2"/>
          </a:solidFill>
          <a:ln/>
        </p:spPr>
        <p:txBody>
          <a:bodyPr/>
          <a:p/>
        </p:txBody>
      </p:sp>
      <p:sp>
        <p:nvSpPr>
          <p:cNvPr id="161" name=""/>
          <p:cNvSpPr/>
          <p:nvPr/>
        </p:nvSpPr>
        <p:spPr>
          <a:xfrm rot="0" flipH="0" flipV="0">
            <a:off x="800100" y="5372100"/>
            <a:ext cx="342900" cy="342900"/>
          </a:xfrm>
          <a:prstGeom prst="roundRect">
            <a:avLst>
              <a:gd name="adj" fmla="val 22222"/>
            </a:avLst>
          </a:prstGeom>
          <a:solidFill>
            <a:srgbClr val="26816B"/>
          </a:solidFill>
          <a:ln/>
        </p:spPr>
        <p:txBody>
          <a:bodyPr/>
          <a:p/>
        </p:txBody>
      </p:sp>
      <p:sp>
        <p:nvSpPr>
          <p:cNvPr id="162" name="" descr="{&quot;isTemplate&quot;:true,&quot;type&quot;:&quot;text&quot;}"/>
          <p:cNvSpPr txBox="1"/>
          <p:nvPr/>
        </p:nvSpPr>
        <p:spPr>
          <a:xfrm rot="0" flipH="0" flipV="0">
            <a:off x="923925" y="5448300"/>
            <a:ext cx="104775" cy="200025"/>
          </a:xfrm>
          <a:prstGeom prst="rect"/>
        </p:spPr>
        <p:txBody>
          <a:bodyPr wrap="none" lIns="0" tIns="0" rIns="0" bIns="0"/>
          <a:p>
            <a:pPr>
              <a:lnSpc>
                <a:spcPct val="100000"/>
              </a:lnSpc>
            </a:pPr>
            <a:r>
              <a:rPr lang="en-US" sz="1275" b="1">
                <a:solidFill>
                  <a:srgbClr val="FFFFFF"/>
                </a:solidFill>
                <a:latin typeface="Microsoft YaHei"/>
                <a:ea typeface="Microsoft YaHei"/>
              </a:rPr>
              <a:t>5</a:t>
            </a:r>
            <a:endParaRPr/>
          </a:p>
        </p:txBody>
      </p:sp>
      <p:sp>
        <p:nvSpPr>
          <p:cNvPr id="163" name="" descr="{&quot;isTemplate&quot;:true,&quot;type&quot;:&quot;text&quot;}"/>
          <p:cNvSpPr txBox="1"/>
          <p:nvPr/>
        </p:nvSpPr>
        <p:spPr>
          <a:xfrm rot="0" flipH="0" flipV="0">
            <a:off x="1314450" y="5448300"/>
            <a:ext cx="1905000" cy="200025"/>
          </a:xfrm>
          <a:prstGeom prst="rect"/>
        </p:spPr>
        <p:txBody>
          <a:bodyPr wrap="none" lIns="0" tIns="0" rIns="0" bIns="0"/>
          <a:p>
            <a:pPr>
              <a:lnSpc>
                <a:spcPct val="100000"/>
              </a:lnSpc>
            </a:pPr>
            <a:r>
              <a:rPr lang="zh-CN" sz="1275" b="1">
                <a:solidFill>
                  <a:srgbClr val="26816B"/>
                </a:solidFill>
                <a:latin typeface="Microsoft YaHei"/>
                <a:ea typeface="Microsoft YaHei"/>
              </a:rPr>
              <a:t>回填结果</a:t>
            </a:r>
            <a:endParaRPr/>
          </a:p>
        </p:txBody>
      </p:sp>
      <p:sp>
        <p:nvSpPr>
          <p:cNvPr id="164" name="" descr="{&quot;isTemplate&quot;:true,&quot;type&quot;:&quot;text&quot;}"/>
          <p:cNvSpPr txBox="1"/>
          <p:nvPr/>
        </p:nvSpPr>
        <p:spPr>
          <a:xfrm rot="0" flipH="0" flipV="0">
            <a:off x="3390900" y="5467350"/>
            <a:ext cx="8001000" cy="152400"/>
          </a:xfrm>
          <a:prstGeom prst="rect"/>
        </p:spPr>
        <p:txBody>
          <a:bodyPr wrap="none" lIns="0" tIns="0" rIns="0" bIns="0"/>
          <a:p>
            <a:pPr>
              <a:lnSpc>
                <a:spcPct val="100000"/>
              </a:lnSpc>
            </a:pPr>
            <a:r>
              <a:rPr lang="en-US" sz="975">
                <a:solidFill>
                  <a:srgbClr val="20344B"/>
                </a:solidFill>
                <a:latin typeface="Consolas"/>
                <a:ea typeface="Consolas"/>
              </a:rPr>
              <a:t>history.append({"type": "function_call_output", "call_id": call.call_id, ...})</a:t>
            </a:r>
            <a:endParaRPr/>
          </a:p>
        </p:txBody>
      </p:sp>
      <p:sp>
        <p:nvSpPr>
          <p:cNvPr id="165"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166"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14 / 26</a:t>
            </a:r>
            <a:endParaRPr/>
          </a:p>
        </p:txBody>
      </p:sp>
    </p:spTree>
  </p:cSld>
</p:sld>
</file>

<file path=ppt/slides/slide15.xml><?xml version="1.0" encoding="utf-8"?>
<p:sld xmlns:p="http://schemas.openxmlformats.org/presentationml/2006/main" xmlns:a="http://schemas.openxmlformats.org/drawingml/2006/main">
  <p:cSld>
    <p:spTree>
      <p:nvGrpSpPr>
        <p:cNvPr id="167" name="" descr="&lt;Slide notes={`这段就是回路的骨架，我强调两个细节。&#10;&#10;第一个细节是顺序。history.extend(response.output) 这一句在前，追加 function_call_output 的循环在后。先留住模型这次发出的全部输出条目，再把工具结果补上去。颠倒过来，或者只留下调用名和最后那段文字，会话需要的其他条目就没了。用推理模型的时候，丢掉相关条目会直接影响下一轮。&#10;&#10;第二个细节是范围。这段展示的是调用之后的衔接，不是省略了保护措施的完整运行器。配套的完整脚本还检查响应状态、调用预算、参数和工具错误，任何一项不过关都不会往下走。&#10;&#10;读代码的时候请把这两层分开看：骨架说明顺序，保护措施说明边界。`}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3　完整回路比单次请求重要&lt;/Text&gt;&#10;            &lt;Text style={{ fontSize: 34, fontWeight: 'bold', color: '#20344B' }}&gt;先保留完整输出，再追加结果&lt;/Text&gt;&#10;        &lt;/Box&gt;&#10;    &lt;/Box&gt;&#10;&#10;    &lt;Box style={{ height: 540, flexDirection: 'column', justifyContent: 'center', gap: 20 }}&gt;&#10;&#10;        &lt;Box style={{ height: 350, background: '#F4F7FA', borderRadius: 12, padding: '20px 26px', flexDirection: 'column', justifyContent: 'center' }}&gt;&#10;            &lt;Text style={{ fontSize: 14, color: '#20344B', fontFamily: 'Consolas, monospace', lineHeight: 1.4 }}&gt;response = client.responses.create(&lt;/Text&gt;&#10;            &lt;Text style={{ fontSize: 14, color: '#546779', fontFamily: 'Consolas, monospace', lineHeight: 1.4 }}&gt;{'    model=model, instructions=instructions,'}&lt;/Text&gt;&#10;            &lt;Text style={{ fontSize: 14, color: '#546779', fontFamily: 'Consolas, monospace', lineHeight: 1.4 }}&gt;{'    input=history, tools=TOOLS,'}&lt;/Text&gt;&#10;            &lt;Text style={{ fontSize: 14, color: '#20344B', fontFamily: 'Consolas, monospace', lineHeight: 1.4 }}&gt;)&lt;/Text&gt;&#10;            &lt;Text style={{ fontSize: 14, color: '#26816B', fontFamily: 'Consolas, monospace', lineHeight: 1.4 }}&gt;history.extend(response.output)&lt;/Text&gt;&#10;            &lt;Text style={{ fontSize: 14, color: '#276FBF', fontFamily: 'Consolas, monospace', lineHeight: 1.4 }}&gt;{'calls = [item for item in response.output if item.type == &quot;function_call&quot;]'}&lt;/Text&gt;&#10;            &lt;Text style={{ fontSize: 14, color: '#20344B', fontFamily: 'Consolas, monospace', lineHeight: 1.4 }}&gt;for call in calls:&lt;/Text&gt;&#10;            &lt;Text style={{ fontSize: 14, color: '#546779', fontFamily: 'Consolas, monospace', lineHeight: 1.4 }}&gt;{'    args = json.loads(call.arguments)'}&lt;/Text&gt;&#10;            &lt;Text style={{ fontSize: 14, color: '#546779', fontFamily: 'Consolas, monospace', lineHeight: 1.4 }}&gt;{'    result = dispatch_tool(call.name, args)'}&lt;/Text&gt;&#10;            &lt;Text style={{ fontSize: 14, color: '#26816B', fontFamily: 'Consolas, monospace', lineHeight: 1.4 }}&gt;{'    history.append({'}&lt;/Text&gt;&#10;            &lt;Text style={{ fontSize: 14, color: '#26816B', fontFamily: 'Consolas, monospace', lineHeight: 1.4 }}&gt;{'        &quot;type&quot;: &quot;function_call_output&quot;,'}&lt;/Text&gt;&#10;            &lt;Text style={{ fontSize: 14, color: '#26816B', fontFamily: 'Consolas, monospace', lineHeight: 1.4 }}&gt;{'        &quot;call_id&quot;: call.call_id,'}&lt;/Text&gt;&#10;            &lt;Text style={{ fontSize: 14, color: '#26816B', fontFamily: 'Consolas, monospace', lineHeight: 1.4 }}&gt;{'        &quot;output&quot;: json.dumps(result, ensure_ascii=False),'}&lt;/Text&gt;&#10;            &lt;Text style={{ fontSize: 14, color: '#26816B', fontFamily: 'Consolas, monospace', lineHeight: 1.4 }}&gt;{'    })'}&lt;/Text&gt;&#10;        &lt;/Box&gt;&#10;&#10;        &lt;Box style={{ flexDirection: 'row', gap: 32 }}&gt;&#10;            &lt;Box style={{ width: 560, height: 130, background: '#ECF7F2', borderRadius: 10, padding: '16px 20px', flexDirection: 'column', gap: 6, justifyContent: 'center' }}&gt;&#10;                &lt;Text style={{ fontSize: 17, fontWeight: 'bold', color: '#26816B' }}&gt;顺序不能颠倒&lt;/Text&gt;&#10;                &lt;Text style={{ fontSize: 15, color: '#546779', lineHeight: 1.6 }}&gt;先保留完整输出，再追加各条工具结果；只留调用名或最终文字会丢掉会话需要的条目。&lt;/Text&gt;&#10;            &lt;/Box&gt;&#10;            &lt;Box style={{ width: 560, height: 130, background: '#FFF4E6', borderRadius: 10, padding: '16px 20px', flexDirection: 'column', gap: 6, justifyContent: 'center' }}&gt;&#10;                &lt;Text style={{ fontSize: 17, fontWeight: 'bold', color: '#CB6B28' }}&gt;这不是完整的运行器&lt;/Text&gt;&#10;                &lt;Text style={{ fontSize: 15, color: '#546779', lineHeight: 1.6 }}&gt;完整脚本另外检查响应状态、调用预算、参数和工具错误，任一不过关都不往下走。&lt;/Text&gt;&#10;            &lt;/Box&gt;&#10;        &lt;/Box&gt;&#10;&#10;    &lt;/Box&gt;&#10;&#10;    &lt;Box style={{ height: 40, flexDirection: 'row', justifyContent: 'space-between', alignItems: 'center' }}&gt;&#10;        &lt;Text style={{ fontSize: 14, color: '#546779' }}&gt;2.5 Function Calling&lt;/Text&gt;&#10;        &lt;Text style={{ fontSize: 14, color: '#546779' }}&gt;15 / 26&lt;/Text&gt;&#10;    &lt;/Box&gt;&#10;&#10;&lt;/Slide&gt;&#10;"/>
        <p:cNvGrpSpPr/>
        <p:nvPr/>
      </p:nvGrpSpPr>
      <p:grpSpPr>
        <a:xfrm>
          <a:off x="0" y="0"/>
          <a:ext cx="0" cy="0"/>
          <a:chOff x="0" y="0"/>
          <a:chExt cx="0" cy="0"/>
        </a:xfrm>
      </p:grpSpPr>
      <p:sp>
        <p:nvSpPr>
          <p:cNvPr id="168" name=""/>
          <p:cNvSpPr/>
          <p:nvPr/>
        </p:nvSpPr>
        <p:spPr>
          <a:xfrm rot="0" flipH="0" flipV="0">
            <a:off x="0" y="0"/>
            <a:ext cx="12192000" cy="6858000"/>
          </a:xfrm>
          <a:prstGeom prst="rect">
            <a:avLst/>
          </a:prstGeom>
          <a:solidFill>
            <a:srgbClr val="FFFFFF"/>
          </a:solidFill>
          <a:ln/>
        </p:spPr>
        <p:txBody>
          <a:bodyPr/>
          <a:p/>
        </p:txBody>
      </p:sp>
      <p:sp>
        <p:nvSpPr>
          <p:cNvPr id="169" name=""/>
          <p:cNvSpPr/>
          <p:nvPr/>
        </p:nvSpPr>
        <p:spPr>
          <a:xfrm rot="0" flipH="0" flipV="0">
            <a:off x="609600" y="457200"/>
            <a:ext cx="38100" cy="419100"/>
          </a:xfrm>
          <a:prstGeom prst="rect">
            <a:avLst/>
          </a:prstGeom>
          <a:solidFill>
            <a:srgbClr val="276FBF"/>
          </a:solidFill>
          <a:ln/>
        </p:spPr>
        <p:txBody>
          <a:bodyPr/>
          <a:p/>
        </p:txBody>
      </p:sp>
      <p:sp>
        <p:nvSpPr>
          <p:cNvPr id="170" name="" descr="{&quot;isTemplate&quot;:true,&quot;type&quot;:&quot;text&quot;}"/>
          <p:cNvSpPr txBox="1"/>
          <p:nvPr/>
        </p:nvSpPr>
        <p:spPr>
          <a:xfrm rot="0" flipH="0" flipV="0">
            <a:off x="838200" y="371475"/>
            <a:ext cx="4210050" cy="161925"/>
          </a:xfrm>
          <a:prstGeom prst="rect"/>
        </p:spPr>
        <p:txBody>
          <a:bodyPr wrap="none" lIns="0" tIns="0" rIns="0" bIns="0"/>
          <a:p>
            <a:pPr>
              <a:lnSpc>
                <a:spcPct val="100000"/>
              </a:lnSpc>
            </a:pPr>
            <a:r>
              <a:rPr lang="en-US" sz="1050">
                <a:solidFill>
                  <a:srgbClr val="546779"/>
                </a:solidFill>
                <a:latin typeface="Microsoft YaHei"/>
                <a:ea typeface="Microsoft YaHei"/>
              </a:rPr>
              <a:t>2.5.3</a:t>
            </a:r>
            <a:r>
              <a:rPr lang="zh-CN" sz="1050">
                <a:solidFill>
                  <a:srgbClr val="546779"/>
                </a:solidFill>
                <a:latin typeface="Microsoft YaHei"/>
                <a:ea typeface="Microsoft YaHei"/>
              </a:rPr>
              <a:t>　完整回路比单次请求重要</a:t>
            </a:r>
            <a:endParaRPr/>
          </a:p>
        </p:txBody>
      </p:sp>
      <p:sp>
        <p:nvSpPr>
          <p:cNvPr id="171" name="" descr="{&quot;isTemplate&quot;:true,&quot;type&quot;:&quot;text&quot;}"/>
          <p:cNvSpPr txBox="1"/>
          <p:nvPr/>
        </p:nvSpPr>
        <p:spPr>
          <a:xfrm rot="0" flipH="0" flipV="0">
            <a:off x="838200" y="571500"/>
            <a:ext cx="4210050" cy="390525"/>
          </a:xfrm>
          <a:prstGeom prst="rect"/>
        </p:spPr>
        <p:txBody>
          <a:bodyPr wrap="none" lIns="0" tIns="0" rIns="0" bIns="0"/>
          <a:p>
            <a:pPr>
              <a:lnSpc>
                <a:spcPct val="100000"/>
              </a:lnSpc>
            </a:pPr>
            <a:r>
              <a:rPr lang="zh-CN" sz="2550" b="1">
                <a:solidFill>
                  <a:srgbClr val="20344B"/>
                </a:solidFill>
                <a:latin typeface="Microsoft YaHei"/>
                <a:ea typeface="Microsoft YaHei"/>
              </a:rPr>
              <a:t>先保留完整输出，再追加结果</a:t>
            </a:r>
            <a:endParaRPr/>
          </a:p>
        </p:txBody>
      </p:sp>
      <p:sp>
        <p:nvSpPr>
          <p:cNvPr id="172" name=""/>
          <p:cNvSpPr/>
          <p:nvPr/>
        </p:nvSpPr>
        <p:spPr>
          <a:xfrm rot="0" flipH="0" flipV="0">
            <a:off x="609600" y="1333500"/>
            <a:ext cx="10972800" cy="3333750"/>
          </a:xfrm>
          <a:prstGeom prst="roundRect">
            <a:avLst>
              <a:gd name="adj" fmla="val 3429"/>
            </a:avLst>
          </a:prstGeom>
          <a:solidFill>
            <a:srgbClr val="F4F7FA"/>
          </a:solidFill>
          <a:ln/>
        </p:spPr>
        <p:txBody>
          <a:bodyPr/>
          <a:p/>
        </p:txBody>
      </p:sp>
      <p:sp>
        <p:nvSpPr>
          <p:cNvPr id="173" name="" descr="{&quot;isTemplate&quot;:true,&quot;type&quot;:&quot;text&quot;}"/>
          <p:cNvSpPr txBox="1"/>
          <p:nvPr/>
        </p:nvSpPr>
        <p:spPr>
          <a:xfrm rot="0" flipH="0" flipV="0">
            <a:off x="857250" y="1400175"/>
            <a:ext cx="10477500" cy="228600"/>
          </a:xfrm>
          <a:prstGeom prst="rect"/>
        </p:spPr>
        <p:txBody>
          <a:bodyPr wrap="none" lIns="0" tIns="0" rIns="0" bIns="0"/>
          <a:p>
            <a:pPr>
              <a:lnSpc>
                <a:spcPct val="140000"/>
              </a:lnSpc>
            </a:pPr>
            <a:r>
              <a:rPr lang="en-US" sz="1050">
                <a:solidFill>
                  <a:srgbClr val="20344B"/>
                </a:solidFill>
                <a:latin typeface="Consolas"/>
                <a:ea typeface="Consolas"/>
              </a:rPr>
              <a:t>response = client.responses.create(</a:t>
            </a:r>
            <a:endParaRPr/>
          </a:p>
        </p:txBody>
      </p:sp>
      <p:sp>
        <p:nvSpPr>
          <p:cNvPr id="174" name="" descr="{&quot;isTemplate&quot;:true,&quot;type&quot;:&quot;text&quot;}"/>
          <p:cNvSpPr txBox="1"/>
          <p:nvPr/>
        </p:nvSpPr>
        <p:spPr>
          <a:xfrm rot="0" flipH="0" flipV="0">
            <a:off x="857250" y="1628775"/>
            <a:ext cx="10477500" cy="228600"/>
          </a:xfrm>
          <a:prstGeom prst="rect"/>
        </p:spPr>
        <p:txBody>
          <a:bodyPr wrap="none" lIns="0" tIns="0" rIns="0" bIns="0"/>
          <a:p>
            <a:pPr>
              <a:lnSpc>
                <a:spcPct val="140000"/>
              </a:lnSpc>
            </a:pPr>
            <a:r>
              <a:rPr lang="en-US" sz="1050">
                <a:solidFill>
                  <a:srgbClr val="546779"/>
                </a:solidFill>
                <a:latin typeface="Consolas"/>
                <a:ea typeface="Consolas"/>
              </a:rPr>
              <a:t xml:space="preserve">    model=model, instructions=instructions,</a:t>
            </a:r>
            <a:endParaRPr/>
          </a:p>
        </p:txBody>
      </p:sp>
      <p:sp>
        <p:nvSpPr>
          <p:cNvPr id="175" name="" descr="{&quot;isTemplate&quot;:true,&quot;type&quot;:&quot;text&quot;}"/>
          <p:cNvSpPr txBox="1"/>
          <p:nvPr/>
        </p:nvSpPr>
        <p:spPr>
          <a:xfrm rot="0" flipH="0" flipV="0">
            <a:off x="857250" y="1857375"/>
            <a:ext cx="10477500" cy="228600"/>
          </a:xfrm>
          <a:prstGeom prst="rect"/>
        </p:spPr>
        <p:txBody>
          <a:bodyPr wrap="none" lIns="0" tIns="0" rIns="0" bIns="0"/>
          <a:p>
            <a:pPr>
              <a:lnSpc>
                <a:spcPct val="140000"/>
              </a:lnSpc>
            </a:pPr>
            <a:r>
              <a:rPr lang="en-US" sz="1050">
                <a:solidFill>
                  <a:srgbClr val="546779"/>
                </a:solidFill>
                <a:latin typeface="Consolas"/>
                <a:ea typeface="Consolas"/>
              </a:rPr>
              <a:t xml:space="preserve">    input=history, tools=TOOLS,</a:t>
            </a:r>
            <a:endParaRPr/>
          </a:p>
        </p:txBody>
      </p:sp>
      <p:sp>
        <p:nvSpPr>
          <p:cNvPr id="176" name="" descr="{&quot;isTemplate&quot;:true,&quot;type&quot;:&quot;text&quot;}"/>
          <p:cNvSpPr txBox="1"/>
          <p:nvPr/>
        </p:nvSpPr>
        <p:spPr>
          <a:xfrm rot="0" flipH="0" flipV="0">
            <a:off x="857250" y="2085975"/>
            <a:ext cx="10477500" cy="228600"/>
          </a:xfrm>
          <a:prstGeom prst="rect"/>
        </p:spPr>
        <p:txBody>
          <a:bodyPr wrap="none" lIns="0" tIns="0" rIns="0" bIns="0"/>
          <a:p>
            <a:pPr>
              <a:lnSpc>
                <a:spcPct val="140000"/>
              </a:lnSpc>
            </a:pPr>
            <a:r>
              <a:rPr lang="en-US" sz="1050">
                <a:solidFill>
                  <a:srgbClr val="20344B"/>
                </a:solidFill>
                <a:latin typeface="Consolas"/>
                <a:ea typeface="Consolas"/>
              </a:rPr>
              <a:t>)</a:t>
            </a:r>
            <a:endParaRPr/>
          </a:p>
        </p:txBody>
      </p:sp>
      <p:sp>
        <p:nvSpPr>
          <p:cNvPr id="177" name="" descr="{&quot;isTemplate&quot;:true,&quot;type&quot;:&quot;text&quot;}"/>
          <p:cNvSpPr txBox="1"/>
          <p:nvPr/>
        </p:nvSpPr>
        <p:spPr>
          <a:xfrm rot="0" flipH="0" flipV="0">
            <a:off x="857250" y="2314575"/>
            <a:ext cx="10477500" cy="228600"/>
          </a:xfrm>
          <a:prstGeom prst="rect"/>
        </p:spPr>
        <p:txBody>
          <a:bodyPr wrap="none" lIns="0" tIns="0" rIns="0" bIns="0"/>
          <a:p>
            <a:pPr>
              <a:lnSpc>
                <a:spcPct val="140000"/>
              </a:lnSpc>
            </a:pPr>
            <a:r>
              <a:rPr lang="en-US" sz="1050">
                <a:solidFill>
                  <a:srgbClr val="26816B"/>
                </a:solidFill>
                <a:latin typeface="Consolas"/>
                <a:ea typeface="Consolas"/>
              </a:rPr>
              <a:t>history.extend(response.output)</a:t>
            </a:r>
            <a:endParaRPr/>
          </a:p>
        </p:txBody>
      </p:sp>
      <p:sp>
        <p:nvSpPr>
          <p:cNvPr id="178" name="" descr="{&quot;isTemplate&quot;:true,&quot;type&quot;:&quot;text&quot;}"/>
          <p:cNvSpPr txBox="1"/>
          <p:nvPr/>
        </p:nvSpPr>
        <p:spPr>
          <a:xfrm rot="0" flipH="0" flipV="0">
            <a:off x="857250" y="2543175"/>
            <a:ext cx="10477500" cy="228600"/>
          </a:xfrm>
          <a:prstGeom prst="rect"/>
        </p:spPr>
        <p:txBody>
          <a:bodyPr wrap="none" lIns="0" tIns="0" rIns="0" bIns="0"/>
          <a:p>
            <a:pPr>
              <a:lnSpc>
                <a:spcPct val="140000"/>
              </a:lnSpc>
            </a:pPr>
            <a:r>
              <a:rPr lang="en-US" sz="1050">
                <a:solidFill>
                  <a:srgbClr val="276FBF"/>
                </a:solidFill>
                <a:latin typeface="Consolas"/>
                <a:ea typeface="Consolas"/>
              </a:rPr>
              <a:t>calls = [item for item in response.output if item.type == "function_call"]</a:t>
            </a:r>
            <a:endParaRPr/>
          </a:p>
        </p:txBody>
      </p:sp>
      <p:sp>
        <p:nvSpPr>
          <p:cNvPr id="179" name="" descr="{&quot;isTemplate&quot;:true,&quot;type&quot;:&quot;text&quot;}"/>
          <p:cNvSpPr txBox="1"/>
          <p:nvPr/>
        </p:nvSpPr>
        <p:spPr>
          <a:xfrm rot="0" flipH="0" flipV="0">
            <a:off x="857250" y="2771775"/>
            <a:ext cx="10477500" cy="228600"/>
          </a:xfrm>
          <a:prstGeom prst="rect"/>
        </p:spPr>
        <p:txBody>
          <a:bodyPr wrap="none" lIns="0" tIns="0" rIns="0" bIns="0"/>
          <a:p>
            <a:pPr>
              <a:lnSpc>
                <a:spcPct val="140000"/>
              </a:lnSpc>
            </a:pPr>
            <a:r>
              <a:rPr lang="en-US" sz="1050">
                <a:solidFill>
                  <a:srgbClr val="20344B"/>
                </a:solidFill>
                <a:latin typeface="Consolas"/>
                <a:ea typeface="Consolas"/>
              </a:rPr>
              <a:t>for call in calls:</a:t>
            </a:r>
            <a:endParaRPr/>
          </a:p>
        </p:txBody>
      </p:sp>
      <p:sp>
        <p:nvSpPr>
          <p:cNvPr id="180" name="" descr="{&quot;isTemplate&quot;:true,&quot;type&quot;:&quot;text&quot;}"/>
          <p:cNvSpPr txBox="1"/>
          <p:nvPr/>
        </p:nvSpPr>
        <p:spPr>
          <a:xfrm rot="0" flipH="0" flipV="0">
            <a:off x="857250" y="3000375"/>
            <a:ext cx="10477500" cy="228600"/>
          </a:xfrm>
          <a:prstGeom prst="rect"/>
        </p:spPr>
        <p:txBody>
          <a:bodyPr wrap="none" lIns="0" tIns="0" rIns="0" bIns="0"/>
          <a:p>
            <a:pPr>
              <a:lnSpc>
                <a:spcPct val="140000"/>
              </a:lnSpc>
            </a:pPr>
            <a:r>
              <a:rPr lang="en-US" sz="1050">
                <a:solidFill>
                  <a:srgbClr val="546779"/>
                </a:solidFill>
                <a:latin typeface="Consolas"/>
                <a:ea typeface="Consolas"/>
              </a:rPr>
              <a:t xml:space="preserve">    args = json.loads(call.arguments)</a:t>
            </a:r>
            <a:endParaRPr/>
          </a:p>
        </p:txBody>
      </p:sp>
      <p:sp>
        <p:nvSpPr>
          <p:cNvPr id="181" name="" descr="{&quot;isTemplate&quot;:true,&quot;type&quot;:&quot;text&quot;}"/>
          <p:cNvSpPr txBox="1"/>
          <p:nvPr/>
        </p:nvSpPr>
        <p:spPr>
          <a:xfrm rot="0" flipH="0" flipV="0">
            <a:off x="857250" y="3228975"/>
            <a:ext cx="10477500" cy="228600"/>
          </a:xfrm>
          <a:prstGeom prst="rect"/>
        </p:spPr>
        <p:txBody>
          <a:bodyPr wrap="none" lIns="0" tIns="0" rIns="0" bIns="0"/>
          <a:p>
            <a:pPr>
              <a:lnSpc>
                <a:spcPct val="140000"/>
              </a:lnSpc>
            </a:pPr>
            <a:r>
              <a:rPr lang="en-US" sz="1050">
                <a:solidFill>
                  <a:srgbClr val="546779"/>
                </a:solidFill>
                <a:latin typeface="Consolas"/>
                <a:ea typeface="Consolas"/>
              </a:rPr>
              <a:t xml:space="preserve">    result = dispatch_tool(call.name, args)</a:t>
            </a:r>
            <a:endParaRPr/>
          </a:p>
        </p:txBody>
      </p:sp>
      <p:sp>
        <p:nvSpPr>
          <p:cNvPr id="182" name="" descr="{&quot;isTemplate&quot;:true,&quot;type&quot;:&quot;text&quot;}"/>
          <p:cNvSpPr txBox="1"/>
          <p:nvPr/>
        </p:nvSpPr>
        <p:spPr>
          <a:xfrm rot="0" flipH="0" flipV="0">
            <a:off x="857250" y="3457575"/>
            <a:ext cx="10477500" cy="228600"/>
          </a:xfrm>
          <a:prstGeom prst="rect"/>
        </p:spPr>
        <p:txBody>
          <a:bodyPr wrap="none" lIns="0" tIns="0" rIns="0" bIns="0"/>
          <a:p>
            <a:pPr>
              <a:lnSpc>
                <a:spcPct val="140000"/>
              </a:lnSpc>
            </a:pPr>
            <a:r>
              <a:rPr lang="en-US" sz="1050">
                <a:solidFill>
                  <a:srgbClr val="26816B"/>
                </a:solidFill>
                <a:latin typeface="Consolas"/>
                <a:ea typeface="Consolas"/>
              </a:rPr>
              <a:t xml:space="preserve">    history.append({</a:t>
            </a:r>
            <a:endParaRPr/>
          </a:p>
        </p:txBody>
      </p:sp>
      <p:sp>
        <p:nvSpPr>
          <p:cNvPr id="183" name="" descr="{&quot;isTemplate&quot;:true,&quot;type&quot;:&quot;text&quot;}"/>
          <p:cNvSpPr txBox="1"/>
          <p:nvPr/>
        </p:nvSpPr>
        <p:spPr>
          <a:xfrm rot="0" flipH="0" flipV="0">
            <a:off x="857250" y="3686175"/>
            <a:ext cx="10477500" cy="228600"/>
          </a:xfrm>
          <a:prstGeom prst="rect"/>
        </p:spPr>
        <p:txBody>
          <a:bodyPr wrap="none" lIns="0" tIns="0" rIns="0" bIns="0"/>
          <a:p>
            <a:pPr>
              <a:lnSpc>
                <a:spcPct val="140000"/>
              </a:lnSpc>
            </a:pPr>
            <a:r>
              <a:rPr lang="en-US" sz="1050">
                <a:solidFill>
                  <a:srgbClr val="26816B"/>
                </a:solidFill>
                <a:latin typeface="Consolas"/>
                <a:ea typeface="Consolas"/>
              </a:rPr>
              <a:t xml:space="preserve">        "type": "function_call_output",</a:t>
            </a:r>
            <a:endParaRPr/>
          </a:p>
        </p:txBody>
      </p:sp>
      <p:sp>
        <p:nvSpPr>
          <p:cNvPr id="184" name="" descr="{&quot;isTemplate&quot;:true,&quot;type&quot;:&quot;text&quot;}"/>
          <p:cNvSpPr txBox="1"/>
          <p:nvPr/>
        </p:nvSpPr>
        <p:spPr>
          <a:xfrm rot="0" flipH="0" flipV="0">
            <a:off x="857250" y="3914775"/>
            <a:ext cx="10477500" cy="228600"/>
          </a:xfrm>
          <a:prstGeom prst="rect"/>
        </p:spPr>
        <p:txBody>
          <a:bodyPr wrap="none" lIns="0" tIns="0" rIns="0" bIns="0"/>
          <a:p>
            <a:pPr>
              <a:lnSpc>
                <a:spcPct val="140000"/>
              </a:lnSpc>
            </a:pPr>
            <a:r>
              <a:rPr lang="en-US" sz="1050">
                <a:solidFill>
                  <a:srgbClr val="26816B"/>
                </a:solidFill>
                <a:latin typeface="Consolas"/>
                <a:ea typeface="Consolas"/>
              </a:rPr>
              <a:t xml:space="preserve">        "call_id": call.call_id,</a:t>
            </a:r>
            <a:endParaRPr/>
          </a:p>
        </p:txBody>
      </p:sp>
      <p:sp>
        <p:nvSpPr>
          <p:cNvPr id="185" name="" descr="{&quot;isTemplate&quot;:true,&quot;type&quot;:&quot;text&quot;}"/>
          <p:cNvSpPr txBox="1"/>
          <p:nvPr/>
        </p:nvSpPr>
        <p:spPr>
          <a:xfrm rot="0" flipH="0" flipV="0">
            <a:off x="857250" y="4143375"/>
            <a:ext cx="10477500" cy="228600"/>
          </a:xfrm>
          <a:prstGeom prst="rect"/>
        </p:spPr>
        <p:txBody>
          <a:bodyPr wrap="none" lIns="0" tIns="0" rIns="0" bIns="0"/>
          <a:p>
            <a:pPr>
              <a:lnSpc>
                <a:spcPct val="140000"/>
              </a:lnSpc>
            </a:pPr>
            <a:r>
              <a:rPr lang="en-US" sz="1050">
                <a:solidFill>
                  <a:srgbClr val="26816B"/>
                </a:solidFill>
                <a:latin typeface="Consolas"/>
                <a:ea typeface="Consolas"/>
              </a:rPr>
              <a:t xml:space="preserve">        "output": json.dumps(result, ensure_ascii=False),</a:t>
            </a:r>
            <a:endParaRPr/>
          </a:p>
        </p:txBody>
      </p:sp>
      <p:sp>
        <p:nvSpPr>
          <p:cNvPr id="186" name="" descr="{&quot;isTemplate&quot;:true,&quot;type&quot;:&quot;text&quot;}"/>
          <p:cNvSpPr txBox="1"/>
          <p:nvPr/>
        </p:nvSpPr>
        <p:spPr>
          <a:xfrm rot="0" flipH="0" flipV="0">
            <a:off x="857250" y="4371975"/>
            <a:ext cx="10477500" cy="228600"/>
          </a:xfrm>
          <a:prstGeom prst="rect"/>
        </p:spPr>
        <p:txBody>
          <a:bodyPr wrap="none" lIns="0" tIns="0" rIns="0" bIns="0"/>
          <a:p>
            <a:pPr>
              <a:lnSpc>
                <a:spcPct val="140000"/>
              </a:lnSpc>
            </a:pPr>
            <a:r>
              <a:rPr lang="en-US" sz="1050">
                <a:solidFill>
                  <a:srgbClr val="26816B"/>
                </a:solidFill>
                <a:latin typeface="Consolas"/>
                <a:ea typeface="Consolas"/>
              </a:rPr>
              <a:t xml:space="preserve">    })</a:t>
            </a:r>
            <a:endParaRPr/>
          </a:p>
        </p:txBody>
      </p:sp>
      <p:sp>
        <p:nvSpPr>
          <p:cNvPr id="187" name=""/>
          <p:cNvSpPr/>
          <p:nvPr/>
        </p:nvSpPr>
        <p:spPr>
          <a:xfrm rot="0" flipH="0" flipV="0">
            <a:off x="609600" y="4857750"/>
            <a:ext cx="5334000" cy="1238250"/>
          </a:xfrm>
          <a:prstGeom prst="roundRect">
            <a:avLst>
              <a:gd name="adj" fmla="val 7692"/>
            </a:avLst>
          </a:prstGeom>
          <a:solidFill>
            <a:srgbClr val="ECF7F2"/>
          </a:solidFill>
          <a:ln/>
        </p:spPr>
        <p:txBody>
          <a:bodyPr/>
          <a:p/>
        </p:txBody>
      </p:sp>
      <p:sp>
        <p:nvSpPr>
          <p:cNvPr id="188" name="" descr="{&quot;isTemplate&quot;:true,&quot;type&quot;:&quot;text&quot;}"/>
          <p:cNvSpPr txBox="1"/>
          <p:nvPr/>
        </p:nvSpPr>
        <p:spPr>
          <a:xfrm rot="0" flipH="0" flipV="0">
            <a:off x="800100" y="5076825"/>
            <a:ext cx="4953000" cy="200025"/>
          </a:xfrm>
          <a:prstGeom prst="rect"/>
        </p:spPr>
        <p:txBody>
          <a:bodyPr wrap="none" lIns="0" tIns="0" rIns="0" bIns="0"/>
          <a:p>
            <a:pPr>
              <a:lnSpc>
                <a:spcPct val="100000"/>
              </a:lnSpc>
            </a:pPr>
            <a:r>
              <a:rPr lang="zh-CN" sz="1275" b="1">
                <a:solidFill>
                  <a:srgbClr val="26816B"/>
                </a:solidFill>
                <a:latin typeface="Microsoft YaHei"/>
                <a:ea typeface="Microsoft YaHei"/>
              </a:rPr>
              <a:t>顺序不能颠倒</a:t>
            </a:r>
            <a:endParaRPr/>
          </a:p>
        </p:txBody>
      </p:sp>
      <p:sp>
        <p:nvSpPr>
          <p:cNvPr id="189" name="" descr="{&quot;isTemplate&quot;:true,&quot;type&quot;:&quot;text&quot;}"/>
          <p:cNvSpPr txBox="1"/>
          <p:nvPr/>
        </p:nvSpPr>
        <p:spPr>
          <a:xfrm rot="0" flipH="0" flipV="0">
            <a:off x="800100" y="5334000"/>
            <a:ext cx="4953000" cy="552450"/>
          </a:xfrm>
          <a:prstGeom prst="rect"/>
        </p:spPr>
        <p:txBody>
          <a:bodyPr wrap="square" lIns="0" tIns="0" rIns="0" bIns="0">
            <a:normAutofit/>
          </a:bodyPr>
          <a:p>
            <a:pPr>
              <a:lnSpc>
                <a:spcPct val="160000"/>
              </a:lnSpc>
            </a:pPr>
            <a:r>
              <a:rPr lang="zh-CN" sz="1125">
                <a:solidFill>
                  <a:srgbClr val="546779"/>
                </a:solidFill>
                <a:latin typeface="Microsoft YaHei"/>
                <a:ea typeface="Microsoft YaHei"/>
              </a:rPr>
              <a:t>先保留完整输出，再追加各条工具结果；只留调用名或最终文字会丢掉会话需要的条目。</a:t>
            </a:r>
            <a:endParaRPr/>
          </a:p>
        </p:txBody>
      </p:sp>
      <p:sp>
        <p:nvSpPr>
          <p:cNvPr id="190" name=""/>
          <p:cNvSpPr/>
          <p:nvPr/>
        </p:nvSpPr>
        <p:spPr>
          <a:xfrm rot="0" flipH="0" flipV="0">
            <a:off x="6248400" y="4857750"/>
            <a:ext cx="5334000" cy="1238250"/>
          </a:xfrm>
          <a:prstGeom prst="roundRect">
            <a:avLst>
              <a:gd name="adj" fmla="val 7692"/>
            </a:avLst>
          </a:prstGeom>
          <a:solidFill>
            <a:srgbClr val="FFF4E6"/>
          </a:solidFill>
          <a:ln/>
        </p:spPr>
        <p:txBody>
          <a:bodyPr/>
          <a:p/>
        </p:txBody>
      </p:sp>
      <p:sp>
        <p:nvSpPr>
          <p:cNvPr id="191" name="" descr="{&quot;isTemplate&quot;:true,&quot;type&quot;:&quot;text&quot;}"/>
          <p:cNvSpPr txBox="1"/>
          <p:nvPr/>
        </p:nvSpPr>
        <p:spPr>
          <a:xfrm rot="0" flipH="0" flipV="0">
            <a:off x="6438900" y="5076825"/>
            <a:ext cx="4953000" cy="200025"/>
          </a:xfrm>
          <a:prstGeom prst="rect"/>
        </p:spPr>
        <p:txBody>
          <a:bodyPr wrap="none" lIns="0" tIns="0" rIns="0" bIns="0"/>
          <a:p>
            <a:pPr>
              <a:lnSpc>
                <a:spcPct val="100000"/>
              </a:lnSpc>
            </a:pPr>
            <a:r>
              <a:rPr lang="zh-CN" sz="1275" b="1">
                <a:solidFill>
                  <a:srgbClr val="CB6B28"/>
                </a:solidFill>
                <a:latin typeface="Microsoft YaHei"/>
                <a:ea typeface="Microsoft YaHei"/>
              </a:rPr>
              <a:t>这不是完整的运行器</a:t>
            </a:r>
            <a:endParaRPr/>
          </a:p>
        </p:txBody>
      </p:sp>
      <p:sp>
        <p:nvSpPr>
          <p:cNvPr id="192" name="" descr="{&quot;isTemplate&quot;:true,&quot;type&quot;:&quot;text&quot;}"/>
          <p:cNvSpPr txBox="1"/>
          <p:nvPr/>
        </p:nvSpPr>
        <p:spPr>
          <a:xfrm rot="0" flipH="0" flipV="0">
            <a:off x="6438900" y="5334000"/>
            <a:ext cx="4953000" cy="552450"/>
          </a:xfrm>
          <a:prstGeom prst="rect"/>
        </p:spPr>
        <p:txBody>
          <a:bodyPr wrap="square" lIns="0" tIns="0" rIns="0" bIns="0">
            <a:normAutofit/>
          </a:bodyPr>
          <a:p>
            <a:pPr>
              <a:lnSpc>
                <a:spcPct val="160000"/>
              </a:lnSpc>
            </a:pPr>
            <a:r>
              <a:rPr lang="zh-CN" sz="1125">
                <a:solidFill>
                  <a:srgbClr val="546779"/>
                </a:solidFill>
                <a:latin typeface="Microsoft YaHei"/>
                <a:ea typeface="Microsoft YaHei"/>
              </a:rPr>
              <a:t>完整脚本另外检查响应状态、调用预算、参数和工具错误，任一不过关都不往下走。</a:t>
            </a:r>
            <a:endParaRPr/>
          </a:p>
        </p:txBody>
      </p:sp>
      <p:sp>
        <p:nvSpPr>
          <p:cNvPr id="193"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194"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15 / 26</a:t>
            </a:r>
            <a:endParaRPr/>
          </a:p>
        </p:txBody>
      </p:sp>
    </p:spTree>
  </p:cSld>
</p:sld>
</file>

<file path=ppt/slides/slide16.xml><?xml version="1.0" encoding="utf-8"?>
<p:sld xmlns:p="http://schemas.openxmlformats.org/presentationml/2006/main" xmlns:a="http://schemas.openxmlformats.org/drawingml/2006/main">
  <p:cSld>
    <p:spTree>
      <p:nvGrpSpPr>
        <p:cNvPr id="195" name="" descr="&lt;Slide notes={`工具调用成功，是不是就等于任务做完了？不是，这两件事要分开看。&#10;&#10;工具返回真实结果，只说明我们取数据这一步做对了。方案最后能不能交付，还得看候选有没有通过检查。中间隔着模型的判断，也隔着应用的核验。&#10;&#10;再看模型停止这件事。它可能停在三种地方：一种是继续发请求，说明它读到了结果，正在调整方案；一种是直接给出最终回答，这时候回答的内容仍然要按检查条件核验；还有一种是停止生成，既没有继续查，也没有给出可核验的结论。&#10;&#10;最后一种最需要警觉，它往往意味着提前作答，或者手上的资料不够。停止本身不是完成的证据。`}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3　完整回路比单次请求重要&lt;/Text&gt;&#10;            &lt;Text style={{ fontSize: 34, fontWeight: 'bold', color: '#20344B' }}&gt;工具成功不等于任务成功&lt;/Text&gt;&#10;        &lt;/Box&gt;&#10;    &lt;/Box&gt;&#10;&#10;    &lt;Box style={{ height: 540, flexDirection: 'row', gap: 32, alignItems: 'center' }}&gt;&#10;&#10;        &lt;Box style={{ width: 428, flexDirection: 'column', gap: 14, justifyContent: 'center' }}&gt;&#10;            &lt;Text style={{ fontSize: 19, color: '#546779', lineHeight: 1.5 }}&gt;工具返回后仍须继续请求，模型才会读取结果并调整或结束。&lt;/Text&gt;&#10;            &lt;Text style={{ fontSize: 34, fontWeight: 'bold', color: '#CB6B28', lineHeight: 1.3 }}&gt;工具成功{'\n'}≠ 最终答案&lt;/Text&gt;&#10;            &lt;Box style={{ width: 90, height: 4, background: '#CB6B28' }} /&gt;&#10;            &lt;Text style={{ fontSize: 16, color: '#546779', lineHeight: 1.7 }}&gt;取到数据是过程正确；方案可用要另外证明。&lt;/Text&gt;&#10;        &lt;/Box&gt;&#10;&#10;        &lt;Box style={{ width: 692, flexDirection: 'column', gap: 16, justifyContent: 'center' }}&gt;&#10;            &lt;Box style={{ height: 130, background: '#EDF4FC', borderRadius: 10, padding: '16px 20px', flexDirection: 'row', gap: 16, alignItems: 'center' }}&gt;&#10;                &lt;Box style={{ width: 4, height: 80, background: '#276FBF' }} /&gt;&#10;                &lt;Box style={{ flexDirection: 'column', gap: 5, flex: 1 }}&gt;&#10;                    &lt;Text style={{ fontSize: 17, fontWeight: 'bold', color: '#276FBF' }}&gt;继续发起请求&lt;/Text&gt;&#10;                    &lt;Text style={{ fontSize: 15, color: '#546779', lineHeight: 1.55 }}&gt;说明结果被读到，方案正在被调整。&lt;/Text&gt;&#10;                &lt;/Box&gt;&#10;            &lt;/Box&gt;&#10;            &lt;Box style={{ height: 130, background: '#ECF7F2', borderRadius: 10, padding: '16px 20px', flexDirection: 'row', gap: 16, alignItems: 'center' }}&gt;&#10;                &lt;Box style={{ width: 4, height: 80, background: '#26816B' }} /&gt;&#10;                &lt;Box style={{ flexDirection: 'column', gap: 5, flex: 1 }}&gt;&#10;                    &lt;Text style={{ fontSize: 17, fontWeight: 'bold', color: '#26816B' }}&gt;给出最终回答&lt;/Text&gt;&#10;                    &lt;Text style={{ fontSize: 15, color: '#546779', lineHeight: 1.55 }}&gt;内容仍要按检查条件逐项核验，自信的措辞不是证据。&lt;/Text&gt;&#10;                &lt;/Box&gt;&#10;            &lt;/Box&gt;&#10;            &lt;Box style={{ height: 130, background: '#FFF4E6', borderRadius: 10, padding: '16px 20px', flexDirection: 'row', gap: 16, alignItems: 'center' }}&gt;&#10;                &lt;Box style={{ width: 4, height: 80, background: '#CB6B28' }} /&gt;&#10;                &lt;Box style={{ flexDirection: 'column', gap: 5, flex: 1 }}&gt;&#10;                    &lt;Text style={{ fontSize: 17, fontWeight: 'bold', color: '#CB6B28' }}&gt;停止生成&lt;/Text&gt;&#10;                    &lt;Text style={{ fontSize: 15, color: '#546779', lineHeight: 1.55 }}&gt;可能意味着提前作答或资料不足，不等于任务已经完成。&lt;/Text&gt;&#10;                &lt;/Box&gt;&#10;            &lt;/Box&gt;&#10;        &lt;/Box&gt;&#10;&#10;    &lt;/Box&gt;&#10;&#10;    &lt;Box style={{ height: 40, flexDirection: 'row', justifyContent: 'space-between', alignItems: 'center' }}&gt;&#10;        &lt;Text style={{ fontSize: 14, color: '#546779' }}&gt;2.5 Function Calling&lt;/Text&gt;&#10;        &lt;Text style={{ fontSize: 14, color: '#546779' }}&gt;16 / 26&lt;/Text&gt;&#10;    &lt;/Box&gt;&#10;&#10;&lt;/Slide&gt;&#10;"/>
        <p:cNvGrpSpPr/>
        <p:nvPr/>
      </p:nvGrpSpPr>
      <p:grpSpPr>
        <a:xfrm>
          <a:off x="0" y="0"/>
          <a:ext cx="0" cy="0"/>
          <a:chOff x="0" y="0"/>
          <a:chExt cx="0" cy="0"/>
        </a:xfrm>
      </p:grpSpPr>
      <p:sp>
        <p:nvSpPr>
          <p:cNvPr id="196" name=""/>
          <p:cNvSpPr/>
          <p:nvPr/>
        </p:nvSpPr>
        <p:spPr>
          <a:xfrm rot="0" flipH="0" flipV="0">
            <a:off x="0" y="0"/>
            <a:ext cx="12192000" cy="6858000"/>
          </a:xfrm>
          <a:prstGeom prst="rect">
            <a:avLst/>
          </a:prstGeom>
          <a:solidFill>
            <a:srgbClr val="FFFFFF"/>
          </a:solidFill>
          <a:ln/>
        </p:spPr>
        <p:txBody>
          <a:bodyPr/>
          <a:p/>
        </p:txBody>
      </p:sp>
      <p:sp>
        <p:nvSpPr>
          <p:cNvPr id="197" name=""/>
          <p:cNvSpPr/>
          <p:nvPr/>
        </p:nvSpPr>
        <p:spPr>
          <a:xfrm rot="0" flipH="0" flipV="0">
            <a:off x="609600" y="457200"/>
            <a:ext cx="38100" cy="419100"/>
          </a:xfrm>
          <a:prstGeom prst="rect">
            <a:avLst/>
          </a:prstGeom>
          <a:solidFill>
            <a:srgbClr val="276FBF"/>
          </a:solidFill>
          <a:ln/>
        </p:spPr>
        <p:txBody>
          <a:bodyPr/>
          <a:p/>
        </p:txBody>
      </p:sp>
      <p:sp>
        <p:nvSpPr>
          <p:cNvPr id="198" name="" descr="{&quot;isTemplate&quot;:true,&quot;type&quot;:&quot;text&quot;}"/>
          <p:cNvSpPr txBox="1"/>
          <p:nvPr/>
        </p:nvSpPr>
        <p:spPr>
          <a:xfrm rot="0" flipH="0" flipV="0">
            <a:off x="838200" y="371475"/>
            <a:ext cx="3562350" cy="161925"/>
          </a:xfrm>
          <a:prstGeom prst="rect"/>
        </p:spPr>
        <p:txBody>
          <a:bodyPr wrap="none" lIns="0" tIns="0" rIns="0" bIns="0"/>
          <a:p>
            <a:pPr>
              <a:lnSpc>
                <a:spcPct val="100000"/>
              </a:lnSpc>
            </a:pPr>
            <a:r>
              <a:rPr lang="en-US" sz="1050">
                <a:solidFill>
                  <a:srgbClr val="546779"/>
                </a:solidFill>
                <a:latin typeface="Microsoft YaHei"/>
                <a:ea typeface="Microsoft YaHei"/>
              </a:rPr>
              <a:t>2.5.3</a:t>
            </a:r>
            <a:r>
              <a:rPr lang="zh-CN" sz="1050">
                <a:solidFill>
                  <a:srgbClr val="546779"/>
                </a:solidFill>
                <a:latin typeface="Microsoft YaHei"/>
                <a:ea typeface="Microsoft YaHei"/>
              </a:rPr>
              <a:t>　完整回路比单次请求重要</a:t>
            </a:r>
            <a:endParaRPr/>
          </a:p>
        </p:txBody>
      </p:sp>
      <p:sp>
        <p:nvSpPr>
          <p:cNvPr id="199" name="" descr="{&quot;isTemplate&quot;:true,&quot;type&quot;:&quot;text&quot;}"/>
          <p:cNvSpPr txBox="1"/>
          <p:nvPr/>
        </p:nvSpPr>
        <p:spPr>
          <a:xfrm rot="0" flipH="0" flipV="0">
            <a:off x="838200" y="571500"/>
            <a:ext cx="3562350" cy="390525"/>
          </a:xfrm>
          <a:prstGeom prst="rect"/>
        </p:spPr>
        <p:txBody>
          <a:bodyPr wrap="none" lIns="0" tIns="0" rIns="0" bIns="0"/>
          <a:p>
            <a:pPr>
              <a:lnSpc>
                <a:spcPct val="100000"/>
              </a:lnSpc>
            </a:pPr>
            <a:r>
              <a:rPr lang="zh-CN" sz="2550" b="1">
                <a:solidFill>
                  <a:srgbClr val="20344B"/>
                </a:solidFill>
                <a:latin typeface="Microsoft YaHei"/>
                <a:ea typeface="Microsoft YaHei"/>
              </a:rPr>
              <a:t>工具成功不等于任务成功</a:t>
            </a:r>
            <a:endParaRPr/>
          </a:p>
        </p:txBody>
      </p:sp>
      <p:sp>
        <p:nvSpPr>
          <p:cNvPr id="200" name="" descr="{&quot;isTemplate&quot;:true,&quot;type&quot;:&quot;text&quot;}"/>
          <p:cNvSpPr txBox="1"/>
          <p:nvPr/>
        </p:nvSpPr>
        <p:spPr>
          <a:xfrm rot="0" flipH="0" flipV="0">
            <a:off x="609600" y="2505075"/>
            <a:ext cx="4076700" cy="657225"/>
          </a:xfrm>
          <a:prstGeom prst="rect"/>
        </p:spPr>
        <p:txBody>
          <a:bodyPr wrap="square" lIns="0" tIns="0" rIns="0" bIns="0">
            <a:normAutofit/>
          </a:bodyPr>
          <a:p>
            <a:pPr>
              <a:lnSpc>
                <a:spcPct val="150000"/>
              </a:lnSpc>
            </a:pPr>
            <a:r>
              <a:rPr lang="zh-CN" sz="1425">
                <a:solidFill>
                  <a:srgbClr val="546779"/>
                </a:solidFill>
                <a:latin typeface="Microsoft YaHei"/>
                <a:ea typeface="Microsoft YaHei"/>
              </a:rPr>
              <a:t>工具返回后仍须继续请求，模型才会读取结果并调整或结束。</a:t>
            </a:r>
            <a:endParaRPr/>
          </a:p>
        </p:txBody>
      </p:sp>
      <p:sp>
        <p:nvSpPr>
          <p:cNvPr id="201" name="" descr="{&quot;isTemplate&quot;:true,&quot;type&quot;:&quot;text&quot;}"/>
          <p:cNvSpPr txBox="1"/>
          <p:nvPr/>
        </p:nvSpPr>
        <p:spPr>
          <a:xfrm rot="0" flipH="0" flipV="0">
            <a:off x="609600" y="3295650"/>
            <a:ext cx="4076700" cy="1019175"/>
          </a:xfrm>
          <a:prstGeom prst="rect"/>
        </p:spPr>
        <p:txBody>
          <a:bodyPr wrap="none" lIns="0" tIns="0" rIns="0" bIns="0"/>
          <a:p>
            <a:pPr>
              <a:lnSpc>
                <a:spcPct val="130000"/>
              </a:lnSpc>
            </a:pPr>
            <a:r>
              <a:rPr lang="zh-CN" sz="2550" b="1">
                <a:solidFill>
                  <a:srgbClr val="CB6B28"/>
                </a:solidFill>
                <a:latin typeface="Microsoft YaHei"/>
                <a:ea typeface="Microsoft YaHei"/>
              </a:rPr>
              <a:t>工具成功</a:t>
            </a:r>
            <a:endParaRPr/>
          </a:p>
          <a:p>
            <a:pPr>
              <a:lnSpc>
                <a:spcPct val="130000"/>
              </a:lnSpc>
            </a:pPr>
            <a:r>
              <a:rPr lang="en-US" sz="2550" b="1">
                <a:solidFill>
                  <a:srgbClr val="CB6B28"/>
                </a:solidFill>
                <a:latin typeface="Microsoft YaHei"/>
                <a:ea typeface="Microsoft YaHei"/>
              </a:rPr>
              <a:t xml:space="preserve">≠ </a:t>
            </a:r>
            <a:r>
              <a:rPr lang="zh-CN" sz="2550" b="1">
                <a:solidFill>
                  <a:srgbClr val="CB6B28"/>
                </a:solidFill>
                <a:latin typeface="Microsoft YaHei"/>
                <a:ea typeface="Microsoft YaHei"/>
              </a:rPr>
              <a:t>最终答案</a:t>
            </a:r>
            <a:endParaRPr/>
          </a:p>
        </p:txBody>
      </p:sp>
      <p:sp>
        <p:nvSpPr>
          <p:cNvPr id="202" name=""/>
          <p:cNvSpPr/>
          <p:nvPr/>
        </p:nvSpPr>
        <p:spPr>
          <a:xfrm rot="0" flipH="0" flipV="0">
            <a:off x="609600" y="4448175"/>
            <a:ext cx="857250" cy="38100"/>
          </a:xfrm>
          <a:prstGeom prst="rect">
            <a:avLst/>
          </a:prstGeom>
          <a:solidFill>
            <a:srgbClr val="CB6B28"/>
          </a:solidFill>
          <a:ln/>
        </p:spPr>
        <p:txBody>
          <a:bodyPr/>
          <a:p/>
        </p:txBody>
      </p:sp>
      <p:sp>
        <p:nvSpPr>
          <p:cNvPr id="203" name="" descr="{&quot;isTemplate&quot;:true,&quot;type&quot;:&quot;text&quot;}"/>
          <p:cNvSpPr txBox="1"/>
          <p:nvPr/>
        </p:nvSpPr>
        <p:spPr>
          <a:xfrm rot="0" flipH="0" flipV="0">
            <a:off x="609600" y="4619625"/>
            <a:ext cx="4076700" cy="314325"/>
          </a:xfrm>
          <a:prstGeom prst="rect"/>
        </p:spPr>
        <p:txBody>
          <a:bodyPr wrap="none" lIns="0" tIns="0" rIns="0" bIns="0"/>
          <a:p>
            <a:pPr>
              <a:lnSpc>
                <a:spcPct val="170000"/>
              </a:lnSpc>
            </a:pPr>
            <a:r>
              <a:rPr lang="zh-CN" sz="1200">
                <a:solidFill>
                  <a:srgbClr val="546779"/>
                </a:solidFill>
                <a:latin typeface="Microsoft YaHei"/>
                <a:ea typeface="Microsoft YaHei"/>
              </a:rPr>
              <a:t>取到数据是过程正确；方案可用要另外证明。</a:t>
            </a:r>
            <a:endParaRPr/>
          </a:p>
        </p:txBody>
      </p:sp>
      <p:sp>
        <p:nvSpPr>
          <p:cNvPr id="204" name=""/>
          <p:cNvSpPr/>
          <p:nvPr/>
        </p:nvSpPr>
        <p:spPr>
          <a:xfrm rot="0" flipH="0" flipV="0">
            <a:off x="4991100" y="1704975"/>
            <a:ext cx="6591300" cy="1238250"/>
          </a:xfrm>
          <a:prstGeom prst="roundRect">
            <a:avLst>
              <a:gd name="adj" fmla="val 7692"/>
            </a:avLst>
          </a:prstGeom>
          <a:solidFill>
            <a:srgbClr val="EDF4FC"/>
          </a:solidFill>
          <a:ln/>
        </p:spPr>
        <p:txBody>
          <a:bodyPr/>
          <a:p/>
        </p:txBody>
      </p:sp>
      <p:sp>
        <p:nvSpPr>
          <p:cNvPr id="205" name=""/>
          <p:cNvSpPr/>
          <p:nvPr/>
        </p:nvSpPr>
        <p:spPr>
          <a:xfrm rot="0" flipH="0" flipV="0">
            <a:off x="5181600" y="1943100"/>
            <a:ext cx="38100" cy="762000"/>
          </a:xfrm>
          <a:prstGeom prst="rect">
            <a:avLst/>
          </a:prstGeom>
          <a:solidFill>
            <a:srgbClr val="276FBF"/>
          </a:solidFill>
          <a:ln/>
        </p:spPr>
        <p:txBody>
          <a:bodyPr/>
          <a:p/>
        </p:txBody>
      </p:sp>
      <p:sp>
        <p:nvSpPr>
          <p:cNvPr id="206" name="" descr="{&quot;isTemplate&quot;:true,&quot;type&quot;:&quot;text&quot;}"/>
          <p:cNvSpPr txBox="1"/>
          <p:nvPr/>
        </p:nvSpPr>
        <p:spPr>
          <a:xfrm rot="0" flipH="0" flipV="0">
            <a:off x="5372100" y="2066925"/>
            <a:ext cx="6019800" cy="200025"/>
          </a:xfrm>
          <a:prstGeom prst="rect"/>
        </p:spPr>
        <p:txBody>
          <a:bodyPr wrap="none" lIns="0" tIns="0" rIns="0" bIns="0"/>
          <a:p>
            <a:pPr>
              <a:lnSpc>
                <a:spcPct val="100000"/>
              </a:lnSpc>
            </a:pPr>
            <a:r>
              <a:rPr lang="zh-CN" sz="1275" b="1">
                <a:solidFill>
                  <a:srgbClr val="276FBF"/>
                </a:solidFill>
                <a:latin typeface="Microsoft YaHei"/>
                <a:ea typeface="Microsoft YaHei"/>
              </a:rPr>
              <a:t>继续发起请求</a:t>
            </a:r>
            <a:endParaRPr/>
          </a:p>
        </p:txBody>
      </p:sp>
      <p:sp>
        <p:nvSpPr>
          <p:cNvPr id="207" name="" descr="{&quot;isTemplate&quot;:true,&quot;type&quot;:&quot;text&quot;}"/>
          <p:cNvSpPr txBox="1"/>
          <p:nvPr/>
        </p:nvSpPr>
        <p:spPr>
          <a:xfrm rot="0" flipH="0" flipV="0">
            <a:off x="5372100" y="2314575"/>
            <a:ext cx="6019800" cy="266700"/>
          </a:xfrm>
          <a:prstGeom prst="rect"/>
        </p:spPr>
        <p:txBody>
          <a:bodyPr wrap="none" lIns="0" tIns="0" rIns="0" bIns="0"/>
          <a:p>
            <a:pPr>
              <a:lnSpc>
                <a:spcPct val="155000"/>
              </a:lnSpc>
            </a:pPr>
            <a:r>
              <a:rPr lang="zh-CN" sz="1125">
                <a:solidFill>
                  <a:srgbClr val="546779"/>
                </a:solidFill>
                <a:latin typeface="Microsoft YaHei"/>
                <a:ea typeface="Microsoft YaHei"/>
              </a:rPr>
              <a:t>说明结果被读到，方案正在被调整。</a:t>
            </a:r>
            <a:endParaRPr/>
          </a:p>
        </p:txBody>
      </p:sp>
      <p:sp>
        <p:nvSpPr>
          <p:cNvPr id="208" name=""/>
          <p:cNvSpPr/>
          <p:nvPr/>
        </p:nvSpPr>
        <p:spPr>
          <a:xfrm rot="0" flipH="0" flipV="0">
            <a:off x="4991100" y="3095625"/>
            <a:ext cx="6591300" cy="1238250"/>
          </a:xfrm>
          <a:prstGeom prst="roundRect">
            <a:avLst>
              <a:gd name="adj" fmla="val 7692"/>
            </a:avLst>
          </a:prstGeom>
          <a:solidFill>
            <a:srgbClr val="ECF7F2"/>
          </a:solidFill>
          <a:ln/>
        </p:spPr>
        <p:txBody>
          <a:bodyPr/>
          <a:p/>
        </p:txBody>
      </p:sp>
      <p:sp>
        <p:nvSpPr>
          <p:cNvPr id="209" name=""/>
          <p:cNvSpPr/>
          <p:nvPr/>
        </p:nvSpPr>
        <p:spPr>
          <a:xfrm rot="0" flipH="0" flipV="0">
            <a:off x="5181600" y="3333750"/>
            <a:ext cx="38100" cy="762000"/>
          </a:xfrm>
          <a:prstGeom prst="rect">
            <a:avLst/>
          </a:prstGeom>
          <a:solidFill>
            <a:srgbClr val="26816B"/>
          </a:solidFill>
          <a:ln/>
        </p:spPr>
        <p:txBody>
          <a:bodyPr/>
          <a:p/>
        </p:txBody>
      </p:sp>
      <p:sp>
        <p:nvSpPr>
          <p:cNvPr id="210" name="" descr="{&quot;isTemplate&quot;:true,&quot;type&quot;:&quot;text&quot;}"/>
          <p:cNvSpPr txBox="1"/>
          <p:nvPr/>
        </p:nvSpPr>
        <p:spPr>
          <a:xfrm rot="0" flipH="0" flipV="0">
            <a:off x="5372100" y="3457575"/>
            <a:ext cx="6019800" cy="200025"/>
          </a:xfrm>
          <a:prstGeom prst="rect"/>
        </p:spPr>
        <p:txBody>
          <a:bodyPr wrap="none" lIns="0" tIns="0" rIns="0" bIns="0"/>
          <a:p>
            <a:pPr>
              <a:lnSpc>
                <a:spcPct val="100000"/>
              </a:lnSpc>
            </a:pPr>
            <a:r>
              <a:rPr lang="zh-CN" sz="1275" b="1">
                <a:solidFill>
                  <a:srgbClr val="26816B"/>
                </a:solidFill>
                <a:latin typeface="Microsoft YaHei"/>
                <a:ea typeface="Microsoft YaHei"/>
              </a:rPr>
              <a:t>给出最终回答</a:t>
            </a:r>
            <a:endParaRPr/>
          </a:p>
        </p:txBody>
      </p:sp>
      <p:sp>
        <p:nvSpPr>
          <p:cNvPr id="211" name="" descr="{&quot;isTemplate&quot;:true,&quot;type&quot;:&quot;text&quot;}"/>
          <p:cNvSpPr txBox="1"/>
          <p:nvPr/>
        </p:nvSpPr>
        <p:spPr>
          <a:xfrm rot="0" flipH="0" flipV="0">
            <a:off x="5372100" y="3705225"/>
            <a:ext cx="6019800" cy="266700"/>
          </a:xfrm>
          <a:prstGeom prst="rect"/>
        </p:spPr>
        <p:txBody>
          <a:bodyPr wrap="none" lIns="0" tIns="0" rIns="0" bIns="0"/>
          <a:p>
            <a:pPr>
              <a:lnSpc>
                <a:spcPct val="155000"/>
              </a:lnSpc>
            </a:pPr>
            <a:r>
              <a:rPr lang="zh-CN" sz="1125">
                <a:solidFill>
                  <a:srgbClr val="546779"/>
                </a:solidFill>
                <a:latin typeface="Microsoft YaHei"/>
                <a:ea typeface="Microsoft YaHei"/>
              </a:rPr>
              <a:t>内容仍要按检查条件逐项核验，自信的措辞不是证据。</a:t>
            </a:r>
            <a:endParaRPr/>
          </a:p>
        </p:txBody>
      </p:sp>
      <p:sp>
        <p:nvSpPr>
          <p:cNvPr id="212" name=""/>
          <p:cNvSpPr/>
          <p:nvPr/>
        </p:nvSpPr>
        <p:spPr>
          <a:xfrm rot="0" flipH="0" flipV="0">
            <a:off x="4991100" y="4486275"/>
            <a:ext cx="6591300" cy="1238250"/>
          </a:xfrm>
          <a:prstGeom prst="roundRect">
            <a:avLst>
              <a:gd name="adj" fmla="val 7692"/>
            </a:avLst>
          </a:prstGeom>
          <a:solidFill>
            <a:srgbClr val="FFF4E6"/>
          </a:solidFill>
          <a:ln/>
        </p:spPr>
        <p:txBody>
          <a:bodyPr/>
          <a:p/>
        </p:txBody>
      </p:sp>
      <p:sp>
        <p:nvSpPr>
          <p:cNvPr id="213" name=""/>
          <p:cNvSpPr/>
          <p:nvPr/>
        </p:nvSpPr>
        <p:spPr>
          <a:xfrm rot="0" flipH="0" flipV="0">
            <a:off x="5181600" y="4724400"/>
            <a:ext cx="38100" cy="762000"/>
          </a:xfrm>
          <a:prstGeom prst="rect">
            <a:avLst/>
          </a:prstGeom>
          <a:solidFill>
            <a:srgbClr val="CB6B28"/>
          </a:solidFill>
          <a:ln/>
        </p:spPr>
        <p:txBody>
          <a:bodyPr/>
          <a:p/>
        </p:txBody>
      </p:sp>
      <p:sp>
        <p:nvSpPr>
          <p:cNvPr id="214" name="" descr="{&quot;isTemplate&quot;:true,&quot;type&quot;:&quot;text&quot;}"/>
          <p:cNvSpPr txBox="1"/>
          <p:nvPr/>
        </p:nvSpPr>
        <p:spPr>
          <a:xfrm rot="0" flipH="0" flipV="0">
            <a:off x="5372100" y="4848225"/>
            <a:ext cx="6019800" cy="200025"/>
          </a:xfrm>
          <a:prstGeom prst="rect"/>
        </p:spPr>
        <p:txBody>
          <a:bodyPr wrap="none" lIns="0" tIns="0" rIns="0" bIns="0"/>
          <a:p>
            <a:pPr>
              <a:lnSpc>
                <a:spcPct val="100000"/>
              </a:lnSpc>
            </a:pPr>
            <a:r>
              <a:rPr lang="zh-CN" sz="1275" b="1">
                <a:solidFill>
                  <a:srgbClr val="CB6B28"/>
                </a:solidFill>
                <a:latin typeface="Microsoft YaHei"/>
                <a:ea typeface="Microsoft YaHei"/>
              </a:rPr>
              <a:t>停止生成</a:t>
            </a:r>
            <a:endParaRPr/>
          </a:p>
        </p:txBody>
      </p:sp>
      <p:sp>
        <p:nvSpPr>
          <p:cNvPr id="215" name="" descr="{&quot;isTemplate&quot;:true,&quot;type&quot;:&quot;text&quot;}"/>
          <p:cNvSpPr txBox="1"/>
          <p:nvPr/>
        </p:nvSpPr>
        <p:spPr>
          <a:xfrm rot="0" flipH="0" flipV="0">
            <a:off x="5372100" y="5095875"/>
            <a:ext cx="6019800" cy="266700"/>
          </a:xfrm>
          <a:prstGeom prst="rect"/>
        </p:spPr>
        <p:txBody>
          <a:bodyPr wrap="none" lIns="0" tIns="0" rIns="0" bIns="0"/>
          <a:p>
            <a:pPr>
              <a:lnSpc>
                <a:spcPct val="155000"/>
              </a:lnSpc>
            </a:pPr>
            <a:r>
              <a:rPr lang="zh-CN" sz="1125">
                <a:solidFill>
                  <a:srgbClr val="546779"/>
                </a:solidFill>
                <a:latin typeface="Microsoft YaHei"/>
                <a:ea typeface="Microsoft YaHei"/>
              </a:rPr>
              <a:t>可能意味着提前作答或资料不足，不等于任务已经完成。</a:t>
            </a:r>
            <a:endParaRPr/>
          </a:p>
        </p:txBody>
      </p:sp>
      <p:sp>
        <p:nvSpPr>
          <p:cNvPr id="216"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217"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16 / 26</a:t>
            </a:r>
            <a:endParaRPr/>
          </a:p>
        </p:txBody>
      </p:sp>
    </p:spTree>
  </p:cSld>
</p:sld>
</file>

<file path=ppt/slides/slide17.xml><?xml version="1.0" encoding="utf-8"?>
<p:sld xmlns:p="http://schemas.openxmlformats.org/presentationml/2006/main" xmlns:a="http://schemas.openxmlformats.org/drawingml/2006/main">
  <p:cSld>
    <p:spTree>
      <p:nvGrpSpPr>
        <p:cNvPr id="218" name="" descr="&lt;Slide notes={`本章把成功的判定放在应用这一侧，不放模型的措辞里。规则很简单：只有最后一次候选检查通过，才允许作为交付方案保存。&#10;&#10;这条规则要落到三件事上。&#10;&#10;候选通过检查，才允许保存，这是唯一的放行条件。&#10;&#10;候选没通过，就不许保存，哪怕工具调用全部成功。查询成功和方案可用是两回事。&#10;&#10;说明文件也要基于最终那一版候选来生成。这一点容易被忽略：如果文件是先写的，模型后来又改了候选，交付包里就会同时存在旧的文字说明和新的排期，两者对不上。&#10;&#10;把判定条件写成代码里的一个判断，而不是写在报告里的一句话。`}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3　完整回路比单次请求重要&lt;/Text&gt;&#10;            &lt;Text style={{ fontSize: 34, fontWeight: 'bold', color: '#20344B' }}&gt;成功条件放在应用里&lt;/Text&gt;&#10;        &lt;/Box&gt;&#10;    &lt;/Box&gt;&#10;&#10;    &lt;Box style={{ height: 540, flexDirection: 'column', justifyContent: 'center', gap: 18 }}&gt;&#10;&#10;        &lt;Box style={{ flexDirection: 'row', alignItems: 'center', gap: 16, background: '#F4F7FA', borderRadius: 10, padding: '10px 20px' }}&gt;&#10;            &lt;Box style={{ width: 3, height: 26, background: '#276FBF' }} /&gt;&#10;            &lt;Text style={{ fontSize: 16, color: '#546779' }}&gt;只有最后一次候选检查通过，才允许作为交付方案保存。&lt;/Text&gt;&#10;        &lt;/Box&gt;&#10;&#10;        &lt;Box style={{ flexDirection: 'column', gap: 14 }}&gt;&#10;            &lt;Box style={{ height: 96, background: '#ECF7F2', borderRadius: 10, padding: '0 20px', flexDirection: 'row', gap: 18, alignItems: 'center' }}&gt;&#10;                &lt;Box style={{ width: 4, height: 60, background: '#26816B' }} /&gt;&#10;                &lt;Text style={{ width: 230, fontSize: 17, fontWeight: 'bold', color: '#26816B' }}&gt;候选通过检查&lt;/Text&gt;&#10;                &lt;Text style={{ flex: 1, fontSize: 15, color: '#546779', lineHeight: 1.5 }}&gt;允许保存为交付方案，这是唯一的放行条件&lt;/Text&gt;&#10;            &lt;/Box&gt;&#10;            &lt;Box style={{ height: 96, background: '#FFF4E6', borderRadius: 10, padding: '0 20px', flexDirection: 'row', gap: 18, alignItems: 'center' }}&gt;&#10;                &lt;Box style={{ width: 4, height: 60, background: '#CB6B28' }} /&gt;&#10;                &lt;Text style={{ width: 230, fontSize: 17, fontWeight: 'bold', color: '#CB6B28' }}&gt;候选未通过检查&lt;/Text&gt;&#10;                &lt;Text style={{ flex: 1, fontSize: 15, color: '#546779', lineHeight: 1.5 }}&gt;不得保存，即使工具调用全部成功；查到数据与方案可用是两回事&lt;/Text&gt;&#10;            &lt;/Box&gt;&#10;            &lt;Box style={{ height: 96, background: '#EDF4FC', borderRadius: 10, padding: '0 20px', flexDirection: 'row', gap: 18, alignItems: 'center' }}&gt;&#10;                &lt;Box style={{ width: 4, height: 60, background: '#276FBF' }} /&gt;&#10;                &lt;Text style={{ width: 230, fontSize: 17, fontWeight: 'bold', color: '#276FBF' }}&gt;说明文件&lt;/Text&gt;&#10;                &lt;Text style={{ flex: 1, fontSize: 15, color: '#546779', lineHeight: 1.5 }}&gt;基于最终候选生成，不把前一次失败方案的文字说明混进交付&lt;/Text&gt;&#10;            &lt;/Box&gt;&#10;        &lt;/Box&gt;&#10;&#10;        &lt;Box style={{ flexDirection: 'row', alignItems: 'center', gap: 16, background: '#F4F7FA', borderRadius: 10, padding: '0 20px', height: 84 }}&gt;&#10;            &lt;Box style={{ width: 4, height: 50, background: '#276FBF' }} /&gt;&#10;            &lt;Text style={{ fontSize: 16, color: '#20344B', lineHeight: 1.5 }}&gt;判定条件要写成代码里的一个判断，不是报告里的一句话。&lt;/Text&gt;&#10;        &lt;/Box&gt;&#10;&#10;    &lt;/Box&gt;&#10;&#10;    &lt;Box style={{ height: 40, flexDirection: 'row', justifyContent: 'space-between', alignItems: 'center' }}&gt;&#10;        &lt;Text style={{ fontSize: 14, color: '#546779' }}&gt;2.5 Function Calling&lt;/Text&gt;&#10;        &lt;Text style={{ fontSize: 14, color: '#546779' }}&gt;17 / 26&lt;/Text&gt;&#10;    &lt;/Box&gt;&#10;&#10;&lt;/Slide&gt;&#10;"/>
        <p:cNvGrpSpPr/>
        <p:nvPr/>
      </p:nvGrpSpPr>
      <p:grpSpPr>
        <a:xfrm>
          <a:off x="0" y="0"/>
          <a:ext cx="0" cy="0"/>
          <a:chOff x="0" y="0"/>
          <a:chExt cx="0" cy="0"/>
        </a:xfrm>
      </p:grpSpPr>
      <p:sp>
        <p:nvSpPr>
          <p:cNvPr id="219" name=""/>
          <p:cNvSpPr/>
          <p:nvPr/>
        </p:nvSpPr>
        <p:spPr>
          <a:xfrm rot="0" flipH="0" flipV="0">
            <a:off x="0" y="0"/>
            <a:ext cx="12192000" cy="6858000"/>
          </a:xfrm>
          <a:prstGeom prst="rect">
            <a:avLst/>
          </a:prstGeom>
          <a:solidFill>
            <a:srgbClr val="FFFFFF"/>
          </a:solidFill>
          <a:ln/>
        </p:spPr>
        <p:txBody>
          <a:bodyPr/>
          <a:p/>
        </p:txBody>
      </p:sp>
      <p:sp>
        <p:nvSpPr>
          <p:cNvPr id="220" name=""/>
          <p:cNvSpPr/>
          <p:nvPr/>
        </p:nvSpPr>
        <p:spPr>
          <a:xfrm rot="0" flipH="0" flipV="0">
            <a:off x="609600" y="457200"/>
            <a:ext cx="38100" cy="419100"/>
          </a:xfrm>
          <a:prstGeom prst="rect">
            <a:avLst/>
          </a:prstGeom>
          <a:solidFill>
            <a:srgbClr val="276FBF"/>
          </a:solidFill>
          <a:ln/>
        </p:spPr>
        <p:txBody>
          <a:bodyPr/>
          <a:p/>
        </p:txBody>
      </p:sp>
      <p:sp>
        <p:nvSpPr>
          <p:cNvPr id="221" name="" descr="{&quot;isTemplate&quot;:true,&quot;type&quot;:&quot;text&quot;}"/>
          <p:cNvSpPr txBox="1"/>
          <p:nvPr/>
        </p:nvSpPr>
        <p:spPr>
          <a:xfrm rot="0" flipH="0" flipV="0">
            <a:off x="838200" y="371475"/>
            <a:ext cx="2914650" cy="161925"/>
          </a:xfrm>
          <a:prstGeom prst="rect"/>
        </p:spPr>
        <p:txBody>
          <a:bodyPr wrap="none" lIns="0" tIns="0" rIns="0" bIns="0"/>
          <a:p>
            <a:pPr>
              <a:lnSpc>
                <a:spcPct val="100000"/>
              </a:lnSpc>
            </a:pPr>
            <a:r>
              <a:rPr lang="en-US" sz="1050">
                <a:solidFill>
                  <a:srgbClr val="546779"/>
                </a:solidFill>
                <a:latin typeface="Microsoft YaHei"/>
                <a:ea typeface="Microsoft YaHei"/>
              </a:rPr>
              <a:t>2.5.3</a:t>
            </a:r>
            <a:r>
              <a:rPr lang="zh-CN" sz="1050">
                <a:solidFill>
                  <a:srgbClr val="546779"/>
                </a:solidFill>
                <a:latin typeface="Microsoft YaHei"/>
                <a:ea typeface="Microsoft YaHei"/>
              </a:rPr>
              <a:t>　完整回路比单次请求重要</a:t>
            </a:r>
            <a:endParaRPr/>
          </a:p>
        </p:txBody>
      </p:sp>
      <p:sp>
        <p:nvSpPr>
          <p:cNvPr id="222" name="" descr="{&quot;isTemplate&quot;:true,&quot;type&quot;:&quot;text&quot;}"/>
          <p:cNvSpPr txBox="1"/>
          <p:nvPr/>
        </p:nvSpPr>
        <p:spPr>
          <a:xfrm rot="0" flipH="0" flipV="0">
            <a:off x="838200" y="571500"/>
            <a:ext cx="2914650" cy="390525"/>
          </a:xfrm>
          <a:prstGeom prst="rect"/>
        </p:spPr>
        <p:txBody>
          <a:bodyPr wrap="none" lIns="0" tIns="0" rIns="0" bIns="0"/>
          <a:p>
            <a:pPr>
              <a:lnSpc>
                <a:spcPct val="100000"/>
              </a:lnSpc>
            </a:pPr>
            <a:r>
              <a:rPr lang="zh-CN" sz="2550" b="1">
                <a:solidFill>
                  <a:srgbClr val="20344B"/>
                </a:solidFill>
                <a:latin typeface="Microsoft YaHei"/>
                <a:ea typeface="Microsoft YaHei"/>
              </a:rPr>
              <a:t>成功条件放在应用里</a:t>
            </a:r>
            <a:endParaRPr/>
          </a:p>
        </p:txBody>
      </p:sp>
      <p:sp>
        <p:nvSpPr>
          <p:cNvPr id="223" name=""/>
          <p:cNvSpPr/>
          <p:nvPr/>
        </p:nvSpPr>
        <p:spPr>
          <a:xfrm rot="0" flipH="0" flipV="0">
            <a:off x="609600" y="1419225"/>
            <a:ext cx="10972800" cy="438150"/>
          </a:xfrm>
          <a:prstGeom prst="roundRect">
            <a:avLst>
              <a:gd name="adj" fmla="val 21739"/>
            </a:avLst>
          </a:prstGeom>
          <a:solidFill>
            <a:srgbClr val="F4F7FA"/>
          </a:solidFill>
          <a:ln/>
        </p:spPr>
        <p:txBody>
          <a:bodyPr/>
          <a:p/>
        </p:txBody>
      </p:sp>
      <p:sp>
        <p:nvSpPr>
          <p:cNvPr id="224" name=""/>
          <p:cNvSpPr/>
          <p:nvPr/>
        </p:nvSpPr>
        <p:spPr>
          <a:xfrm rot="0" flipH="0" flipV="0">
            <a:off x="800100" y="1514475"/>
            <a:ext cx="28575" cy="247650"/>
          </a:xfrm>
          <a:prstGeom prst="rect">
            <a:avLst/>
          </a:prstGeom>
          <a:solidFill>
            <a:srgbClr val="276FBF"/>
          </a:solidFill>
          <a:ln/>
        </p:spPr>
        <p:txBody>
          <a:bodyPr/>
          <a:p/>
        </p:txBody>
      </p:sp>
      <p:sp>
        <p:nvSpPr>
          <p:cNvPr id="225" name="" descr="{&quot;isTemplate&quot;:true,&quot;type&quot;:&quot;text&quot;}"/>
          <p:cNvSpPr txBox="1"/>
          <p:nvPr/>
        </p:nvSpPr>
        <p:spPr>
          <a:xfrm rot="0" flipH="0" flipV="0">
            <a:off x="981075" y="1543050"/>
            <a:ext cx="3810000" cy="190500"/>
          </a:xfrm>
          <a:prstGeom prst="rect"/>
        </p:spPr>
        <p:txBody>
          <a:bodyPr wrap="none" lIns="0" tIns="0" rIns="0" bIns="0"/>
          <a:p>
            <a:pPr>
              <a:lnSpc>
                <a:spcPct val="100000"/>
              </a:lnSpc>
            </a:pPr>
            <a:r>
              <a:rPr lang="zh-CN" sz="1200">
                <a:solidFill>
                  <a:srgbClr val="546779"/>
                </a:solidFill>
                <a:latin typeface="Microsoft YaHei"/>
                <a:ea typeface="Microsoft YaHei"/>
              </a:rPr>
              <a:t>只有最后一次候选检查通过，才允许作为交付方案保存。</a:t>
            </a:r>
            <a:endParaRPr/>
          </a:p>
        </p:txBody>
      </p:sp>
      <p:sp>
        <p:nvSpPr>
          <p:cNvPr id="226" name=""/>
          <p:cNvSpPr/>
          <p:nvPr/>
        </p:nvSpPr>
        <p:spPr>
          <a:xfrm rot="0" flipH="0" flipV="0">
            <a:off x="609600" y="2028825"/>
            <a:ext cx="10972800" cy="914400"/>
          </a:xfrm>
          <a:prstGeom prst="roundRect">
            <a:avLst>
              <a:gd name="adj" fmla="val 10417"/>
            </a:avLst>
          </a:prstGeom>
          <a:solidFill>
            <a:srgbClr val="ECF7F2"/>
          </a:solidFill>
          <a:ln/>
        </p:spPr>
        <p:txBody>
          <a:bodyPr/>
          <a:p/>
        </p:txBody>
      </p:sp>
      <p:sp>
        <p:nvSpPr>
          <p:cNvPr id="227" name=""/>
          <p:cNvSpPr/>
          <p:nvPr/>
        </p:nvSpPr>
        <p:spPr>
          <a:xfrm rot="0" flipH="0" flipV="0">
            <a:off x="800100" y="2200275"/>
            <a:ext cx="38100" cy="571500"/>
          </a:xfrm>
          <a:prstGeom prst="rect">
            <a:avLst/>
          </a:prstGeom>
          <a:solidFill>
            <a:srgbClr val="26816B"/>
          </a:solidFill>
          <a:ln/>
        </p:spPr>
        <p:txBody>
          <a:bodyPr/>
          <a:p/>
        </p:txBody>
      </p:sp>
      <p:sp>
        <p:nvSpPr>
          <p:cNvPr id="228" name="" descr="{&quot;isTemplate&quot;:true,&quot;type&quot;:&quot;text&quot;}"/>
          <p:cNvSpPr txBox="1"/>
          <p:nvPr/>
        </p:nvSpPr>
        <p:spPr>
          <a:xfrm rot="0" flipH="0" flipV="0">
            <a:off x="1009650" y="2390775"/>
            <a:ext cx="2190750" cy="200025"/>
          </a:xfrm>
          <a:prstGeom prst="rect"/>
        </p:spPr>
        <p:txBody>
          <a:bodyPr wrap="none" lIns="0" tIns="0" rIns="0" bIns="0"/>
          <a:p>
            <a:pPr>
              <a:lnSpc>
                <a:spcPct val="100000"/>
              </a:lnSpc>
            </a:pPr>
            <a:r>
              <a:rPr lang="zh-CN" sz="1275" b="1">
                <a:solidFill>
                  <a:srgbClr val="26816B"/>
                </a:solidFill>
                <a:latin typeface="Microsoft YaHei"/>
                <a:ea typeface="Microsoft YaHei"/>
              </a:rPr>
              <a:t>候选通过检查</a:t>
            </a:r>
            <a:endParaRPr/>
          </a:p>
        </p:txBody>
      </p:sp>
      <p:sp>
        <p:nvSpPr>
          <p:cNvPr id="229" name="" descr="{&quot;isTemplate&quot;:true,&quot;type&quot;:&quot;text&quot;}"/>
          <p:cNvSpPr txBox="1"/>
          <p:nvPr/>
        </p:nvSpPr>
        <p:spPr>
          <a:xfrm rot="0" flipH="0" flipV="0">
            <a:off x="3371850" y="2362200"/>
            <a:ext cx="8020050" cy="257175"/>
          </a:xfrm>
          <a:prstGeom prst="rect"/>
        </p:spPr>
        <p:txBody>
          <a:bodyPr wrap="none" lIns="0" tIns="0" rIns="0" bIns="0"/>
          <a:p>
            <a:pPr>
              <a:lnSpc>
                <a:spcPct val="150000"/>
              </a:lnSpc>
            </a:pPr>
            <a:r>
              <a:rPr lang="zh-CN" sz="1125">
                <a:solidFill>
                  <a:srgbClr val="546779"/>
                </a:solidFill>
                <a:latin typeface="Microsoft YaHei"/>
                <a:ea typeface="Microsoft YaHei"/>
              </a:rPr>
              <a:t>允许保存为交付方案，这是唯一的放行条件</a:t>
            </a:r>
            <a:endParaRPr/>
          </a:p>
        </p:txBody>
      </p:sp>
      <p:sp>
        <p:nvSpPr>
          <p:cNvPr id="230" name=""/>
          <p:cNvSpPr/>
          <p:nvPr/>
        </p:nvSpPr>
        <p:spPr>
          <a:xfrm rot="0" flipH="0" flipV="0">
            <a:off x="609600" y="3076575"/>
            <a:ext cx="10972800" cy="914400"/>
          </a:xfrm>
          <a:prstGeom prst="roundRect">
            <a:avLst>
              <a:gd name="adj" fmla="val 10417"/>
            </a:avLst>
          </a:prstGeom>
          <a:solidFill>
            <a:srgbClr val="FFF4E6"/>
          </a:solidFill>
          <a:ln/>
        </p:spPr>
        <p:txBody>
          <a:bodyPr/>
          <a:p/>
        </p:txBody>
      </p:sp>
      <p:sp>
        <p:nvSpPr>
          <p:cNvPr id="231" name=""/>
          <p:cNvSpPr/>
          <p:nvPr/>
        </p:nvSpPr>
        <p:spPr>
          <a:xfrm rot="0" flipH="0" flipV="0">
            <a:off x="800100" y="3248025"/>
            <a:ext cx="38100" cy="571500"/>
          </a:xfrm>
          <a:prstGeom prst="rect">
            <a:avLst/>
          </a:prstGeom>
          <a:solidFill>
            <a:srgbClr val="CB6B28"/>
          </a:solidFill>
          <a:ln/>
        </p:spPr>
        <p:txBody>
          <a:bodyPr/>
          <a:p/>
        </p:txBody>
      </p:sp>
      <p:sp>
        <p:nvSpPr>
          <p:cNvPr id="232" name="" descr="{&quot;isTemplate&quot;:true,&quot;type&quot;:&quot;text&quot;}"/>
          <p:cNvSpPr txBox="1"/>
          <p:nvPr/>
        </p:nvSpPr>
        <p:spPr>
          <a:xfrm rot="0" flipH="0" flipV="0">
            <a:off x="1009650" y="3438525"/>
            <a:ext cx="2190750" cy="200025"/>
          </a:xfrm>
          <a:prstGeom prst="rect"/>
        </p:spPr>
        <p:txBody>
          <a:bodyPr wrap="none" lIns="0" tIns="0" rIns="0" bIns="0"/>
          <a:p>
            <a:pPr>
              <a:lnSpc>
                <a:spcPct val="100000"/>
              </a:lnSpc>
            </a:pPr>
            <a:r>
              <a:rPr lang="zh-CN" sz="1275" b="1">
                <a:solidFill>
                  <a:srgbClr val="CB6B28"/>
                </a:solidFill>
                <a:latin typeface="Microsoft YaHei"/>
                <a:ea typeface="Microsoft YaHei"/>
              </a:rPr>
              <a:t>候选未通过检查</a:t>
            </a:r>
            <a:endParaRPr/>
          </a:p>
        </p:txBody>
      </p:sp>
      <p:sp>
        <p:nvSpPr>
          <p:cNvPr id="233" name="" descr="{&quot;isTemplate&quot;:true,&quot;type&quot;:&quot;text&quot;}"/>
          <p:cNvSpPr txBox="1"/>
          <p:nvPr/>
        </p:nvSpPr>
        <p:spPr>
          <a:xfrm rot="0" flipH="0" flipV="0">
            <a:off x="3371850" y="3409950"/>
            <a:ext cx="8020050" cy="257175"/>
          </a:xfrm>
          <a:prstGeom prst="rect"/>
        </p:spPr>
        <p:txBody>
          <a:bodyPr wrap="none" lIns="0" tIns="0" rIns="0" bIns="0"/>
          <a:p>
            <a:pPr>
              <a:lnSpc>
                <a:spcPct val="150000"/>
              </a:lnSpc>
            </a:pPr>
            <a:r>
              <a:rPr lang="zh-CN" sz="1125">
                <a:solidFill>
                  <a:srgbClr val="546779"/>
                </a:solidFill>
                <a:latin typeface="Microsoft YaHei"/>
                <a:ea typeface="Microsoft YaHei"/>
              </a:rPr>
              <a:t>不得保存，即使工具调用全部成功；查到数据与方案可用是两回事</a:t>
            </a:r>
            <a:endParaRPr/>
          </a:p>
        </p:txBody>
      </p:sp>
      <p:sp>
        <p:nvSpPr>
          <p:cNvPr id="234" name=""/>
          <p:cNvSpPr/>
          <p:nvPr/>
        </p:nvSpPr>
        <p:spPr>
          <a:xfrm rot="0" flipH="0" flipV="0">
            <a:off x="609600" y="4124325"/>
            <a:ext cx="10972800" cy="914400"/>
          </a:xfrm>
          <a:prstGeom prst="roundRect">
            <a:avLst>
              <a:gd name="adj" fmla="val 10417"/>
            </a:avLst>
          </a:prstGeom>
          <a:solidFill>
            <a:srgbClr val="EDF4FC"/>
          </a:solidFill>
          <a:ln/>
        </p:spPr>
        <p:txBody>
          <a:bodyPr/>
          <a:p/>
        </p:txBody>
      </p:sp>
      <p:sp>
        <p:nvSpPr>
          <p:cNvPr id="235" name=""/>
          <p:cNvSpPr/>
          <p:nvPr/>
        </p:nvSpPr>
        <p:spPr>
          <a:xfrm rot="0" flipH="0" flipV="0">
            <a:off x="800100" y="4295775"/>
            <a:ext cx="38100" cy="571500"/>
          </a:xfrm>
          <a:prstGeom prst="rect">
            <a:avLst/>
          </a:prstGeom>
          <a:solidFill>
            <a:srgbClr val="276FBF"/>
          </a:solidFill>
          <a:ln/>
        </p:spPr>
        <p:txBody>
          <a:bodyPr/>
          <a:p/>
        </p:txBody>
      </p:sp>
      <p:sp>
        <p:nvSpPr>
          <p:cNvPr id="236" name="" descr="{&quot;isTemplate&quot;:true,&quot;type&quot;:&quot;text&quot;}"/>
          <p:cNvSpPr txBox="1"/>
          <p:nvPr/>
        </p:nvSpPr>
        <p:spPr>
          <a:xfrm rot="0" flipH="0" flipV="0">
            <a:off x="1009650" y="4486275"/>
            <a:ext cx="2190750" cy="200025"/>
          </a:xfrm>
          <a:prstGeom prst="rect"/>
        </p:spPr>
        <p:txBody>
          <a:bodyPr wrap="none" lIns="0" tIns="0" rIns="0" bIns="0"/>
          <a:p>
            <a:pPr>
              <a:lnSpc>
                <a:spcPct val="100000"/>
              </a:lnSpc>
            </a:pPr>
            <a:r>
              <a:rPr lang="zh-CN" sz="1275" b="1">
                <a:solidFill>
                  <a:srgbClr val="276FBF"/>
                </a:solidFill>
                <a:latin typeface="Microsoft YaHei"/>
                <a:ea typeface="Microsoft YaHei"/>
              </a:rPr>
              <a:t>说明文件</a:t>
            </a:r>
            <a:endParaRPr/>
          </a:p>
        </p:txBody>
      </p:sp>
      <p:sp>
        <p:nvSpPr>
          <p:cNvPr id="237" name="" descr="{&quot;isTemplate&quot;:true,&quot;type&quot;:&quot;text&quot;}"/>
          <p:cNvSpPr txBox="1"/>
          <p:nvPr/>
        </p:nvSpPr>
        <p:spPr>
          <a:xfrm rot="0" flipH="0" flipV="0">
            <a:off x="3371850" y="4457700"/>
            <a:ext cx="8020050" cy="257175"/>
          </a:xfrm>
          <a:prstGeom prst="rect"/>
        </p:spPr>
        <p:txBody>
          <a:bodyPr wrap="none" lIns="0" tIns="0" rIns="0" bIns="0"/>
          <a:p>
            <a:pPr>
              <a:lnSpc>
                <a:spcPct val="150000"/>
              </a:lnSpc>
            </a:pPr>
            <a:r>
              <a:rPr lang="zh-CN" sz="1125">
                <a:solidFill>
                  <a:srgbClr val="546779"/>
                </a:solidFill>
                <a:latin typeface="Microsoft YaHei"/>
                <a:ea typeface="Microsoft YaHei"/>
              </a:rPr>
              <a:t>基于最终候选生成，不把前一次失败方案的文字说明混进交付</a:t>
            </a:r>
            <a:endParaRPr/>
          </a:p>
        </p:txBody>
      </p:sp>
      <p:sp>
        <p:nvSpPr>
          <p:cNvPr id="238" name=""/>
          <p:cNvSpPr/>
          <p:nvPr/>
        </p:nvSpPr>
        <p:spPr>
          <a:xfrm rot="0" flipH="0" flipV="0">
            <a:off x="609600" y="5210175"/>
            <a:ext cx="10972800" cy="800100"/>
          </a:xfrm>
          <a:prstGeom prst="roundRect">
            <a:avLst>
              <a:gd name="adj" fmla="val 11905"/>
            </a:avLst>
          </a:prstGeom>
          <a:solidFill>
            <a:srgbClr val="F4F7FA"/>
          </a:solidFill>
          <a:ln/>
        </p:spPr>
        <p:txBody>
          <a:bodyPr/>
          <a:p/>
        </p:txBody>
      </p:sp>
      <p:sp>
        <p:nvSpPr>
          <p:cNvPr id="239" name=""/>
          <p:cNvSpPr/>
          <p:nvPr/>
        </p:nvSpPr>
        <p:spPr>
          <a:xfrm rot="0" flipH="0" flipV="0">
            <a:off x="800100" y="5372100"/>
            <a:ext cx="38100" cy="476250"/>
          </a:xfrm>
          <a:prstGeom prst="rect">
            <a:avLst/>
          </a:prstGeom>
          <a:solidFill>
            <a:srgbClr val="276FBF"/>
          </a:solidFill>
          <a:ln/>
        </p:spPr>
        <p:txBody>
          <a:bodyPr/>
          <a:p/>
        </p:txBody>
      </p:sp>
      <p:sp>
        <p:nvSpPr>
          <p:cNvPr id="240" name="" descr="{&quot;isTemplate&quot;:true,&quot;type&quot;:&quot;text&quot;}"/>
          <p:cNvSpPr txBox="1"/>
          <p:nvPr/>
        </p:nvSpPr>
        <p:spPr>
          <a:xfrm rot="0" flipH="0" flipV="0">
            <a:off x="990600" y="5476875"/>
            <a:ext cx="3962400" cy="276225"/>
          </a:xfrm>
          <a:prstGeom prst="rect"/>
        </p:spPr>
        <p:txBody>
          <a:bodyPr wrap="none" lIns="0" tIns="0" rIns="0" bIns="0"/>
          <a:p>
            <a:pPr>
              <a:lnSpc>
                <a:spcPct val="150000"/>
              </a:lnSpc>
            </a:pPr>
            <a:r>
              <a:rPr lang="zh-CN" sz="1200">
                <a:solidFill>
                  <a:srgbClr val="20344B"/>
                </a:solidFill>
                <a:latin typeface="Microsoft YaHei"/>
                <a:ea typeface="Microsoft YaHei"/>
              </a:rPr>
              <a:t>判定条件要写成代码里的一个判断，不是报告里的一句话。</a:t>
            </a:r>
            <a:endParaRPr/>
          </a:p>
        </p:txBody>
      </p:sp>
      <p:sp>
        <p:nvSpPr>
          <p:cNvPr id="241"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242"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17 / 26</a:t>
            </a:r>
            <a:endParaRPr/>
          </a:p>
        </p:txBody>
      </p:sp>
    </p:spTree>
  </p:cSld>
</p:sld>
</file>

<file path=ppt/slides/slide18.xml><?xml version="1.0" encoding="utf-8"?>
<p:sld xmlns:p="http://schemas.openxmlformats.org/presentationml/2006/main" xmlns:a="http://schemas.openxmlformats.org/drawingml/2006/main">
  <p:cSld>
    <p:spTree>
      <p:nvGrpSpPr>
        <p:cNvPr id="243" name="" descr="&lt;Slide notes={`回路接起来了，接下来要处理的是它出错的时候。&#10;&#10;收到一个工具请求，应用要做的判断不是&quot;能不能执行&quot;，而是&quot;应该走哪一条路&quot;。符合条件才执行；参数可以修正的，把诊断信息回传出去；预算耗尽，或者反复没有新进展，就停下来。&#10;&#10;这里面最容易被忽略的是最后一条。停下来不是失败，而是保护：继续跑下去只会消耗预算，还会让报告里多出一堆没有意义的尝试。&#10;&#10;还有一个前提：工具名必须来自允许列表。模型返回的字符串不能直接交给动态执行，未知工具、无效 JSON、字段类型错误都要进入受控的错误分支，而不是拼一把试试看。`} style={{ width: 1280, height: 720, background: '#FFFFFF', flexDirection: 'column', padding: '20px 64px' }}&gt;&#10;&#10;    &lt;Box style={{ height: 540, flexDirection: 'column', justifyContent: 'center', gap: 20 }}&gt;&#10;&#10;        &lt;Box style={{ flexDirection: 'row', alignItems: 'center', gap: 16 }}&gt;&#10;            &lt;Box style={{ width: 56, height: 56, borderRadius: 10, background: '#CB6B28', justifyContent: 'center', alignItems: 'center' }}&gt;&#10;                &lt;Text style={{ fontSize: 28, fontWeight: 'bold', color: '#FFFFFF' }}&gt;04&lt;/Text&gt;&#10;            &lt;/Box&gt;&#10;            &lt;Text style={{ fontSize: 16, color: '#546779' }}&gt;2.5.4&lt;/Text&gt;&#10;        &lt;/Box&gt;&#10;&#10;        &lt;Text style={{ fontSize: 56, fontWeight: 'bold', color: '#20344B', lineHeight: 1.15 }}&gt;参数错误、工具失败与无进展&lt;/Text&gt;&#10;&#10;        &lt;Box style={{ width: 640, height: 4, background: '#CB6B28' }} /&gt;&#10;&#10;        &lt;Text style={{ fontSize: 19, color: '#546779', lineHeight: 1.7 }}&gt;不是所有工具请求都该被执行，也不是所有失败都该重试。&lt;/Text&gt;&#10;&#10;        &lt;Box style={{ marginTop: 8, flexDirection: 'row', justifyContent: 'center', gap: 16 }}&gt;&#10;            &lt;Box style={{ width: 280, height: 56, background: '#EDF4FC', borderRadius: 8, justifyContent: 'center', alignItems: 'center' }}&gt;&#10;                &lt;Text style={{ fontSize: 16, fontWeight: 'bold', color: '#276FBF' }}&gt;符合条件才执行&lt;/Text&gt;&#10;            &lt;/Box&gt;&#10;            &lt;Box style={{ width: 280, height: 56, background: '#FFF4E6', borderRadius: 8, justifyContent: 'center', alignItems: 'center' }}&gt;&#10;                &lt;Text style={{ fontSize: 16, fontWeight: 'bold', color: '#CB6B28' }}&gt;可修正错误回传诊断&lt;/Text&gt;&#10;            &lt;/Box&gt;&#10;            &lt;Box style={{ width: 280, height: 56, background: '#FFF4E6', borderRadius: 8, justifyContent: 'center', alignItems: 'center' }}&gt;&#10;                &lt;Text style={{ fontSize: 16, fontWeight: 'bold', color: '#CB6B28' }}&gt;预算耗尽或无进展则停&lt;/Text&gt;&#10;            &lt;/Box&gt;&#10;        &lt;/Box&gt;&#10;&#10;        &lt;Box style={{ flexDirection: 'row', justifyContent: 'center' }}&gt;&#10;            &lt;Box style={{ width: 300, height: 26, justifyContent: 'center', alignItems: 'center' }}&gt;&lt;Text style={{ fontSize: 18, color: '#CB6B28' }}&gt;↓&lt;/Text&gt;&lt;/Box&gt;&#10;        &lt;/Box&gt;&#10;&#10;        &lt;Box style={{ flexDirection: 'row', justifyContent: 'center' }}&gt;&#10;            &lt;Box style={{ width: 620, height: 56, background: '#F4F7FA', borderRadius: 8, justifyContent: 'center', alignItems: 'center' }}&gt;&#10;                &lt;Text style={{ fontSize: 17, fontWeight: 'bold', color: '#20344B' }}&gt;工具名必须来自允许列表，不能直接交给动态执行&lt;/Text&gt;&#10;            &lt;/Box&gt;&#10;        &lt;/Box&gt;&#10;&#10;    &lt;/Box&gt;&#10;&#10;    &lt;Box style={{ height: 40, flexDirection: 'row', justifyContent: 'space-between', alignItems: 'center' }}&gt;&#10;        &lt;Text style={{ fontSize: 14, color: '#546779' }}&gt;2.5 Function Calling&lt;/Text&gt;&#10;        &lt;Text style={{ fontSize: 14, color: '#546779' }}&gt;18 / 26&lt;/Text&gt;&#10;    &lt;/Box&gt;&#10;&#10;&lt;/Slide&gt;&#10;"/>
        <p:cNvGrpSpPr/>
        <p:nvPr/>
      </p:nvGrpSpPr>
      <p:grpSpPr>
        <a:xfrm>
          <a:off x="0" y="0"/>
          <a:ext cx="0" cy="0"/>
          <a:chOff x="0" y="0"/>
          <a:chExt cx="0" cy="0"/>
        </a:xfrm>
      </p:grpSpPr>
      <p:sp>
        <p:nvSpPr>
          <p:cNvPr id="244" name=""/>
          <p:cNvSpPr/>
          <p:nvPr/>
        </p:nvSpPr>
        <p:spPr>
          <a:xfrm rot="0" flipH="0" flipV="0">
            <a:off x="0" y="0"/>
            <a:ext cx="12192000" cy="6858000"/>
          </a:xfrm>
          <a:prstGeom prst="rect">
            <a:avLst/>
          </a:prstGeom>
          <a:solidFill>
            <a:srgbClr val="FFFFFF"/>
          </a:solidFill>
          <a:ln/>
        </p:spPr>
        <p:txBody>
          <a:bodyPr/>
          <a:p/>
        </p:txBody>
      </p:sp>
      <p:sp>
        <p:nvSpPr>
          <p:cNvPr id="245" name=""/>
          <p:cNvSpPr/>
          <p:nvPr/>
        </p:nvSpPr>
        <p:spPr>
          <a:xfrm rot="0" flipH="0" flipV="0">
            <a:off x="609600" y="657225"/>
            <a:ext cx="533400" cy="533400"/>
          </a:xfrm>
          <a:prstGeom prst="roundRect">
            <a:avLst>
              <a:gd name="adj" fmla="val 17857"/>
            </a:avLst>
          </a:prstGeom>
          <a:solidFill>
            <a:srgbClr val="CB6B28"/>
          </a:solidFill>
          <a:ln/>
        </p:spPr>
        <p:txBody>
          <a:bodyPr/>
          <a:p/>
        </p:txBody>
      </p:sp>
      <p:sp>
        <p:nvSpPr>
          <p:cNvPr id="246" name="" descr="{&quot;isTemplate&quot;:true,&quot;type&quot;:&quot;text&quot;}"/>
          <p:cNvSpPr txBox="1"/>
          <p:nvPr/>
        </p:nvSpPr>
        <p:spPr>
          <a:xfrm rot="0" flipH="0" flipV="0">
            <a:off x="714375" y="762000"/>
            <a:ext cx="333375" cy="323850"/>
          </a:xfrm>
          <a:prstGeom prst="rect"/>
        </p:spPr>
        <p:txBody>
          <a:bodyPr wrap="none" lIns="0" tIns="0" rIns="0" bIns="0"/>
          <a:p>
            <a:pPr>
              <a:lnSpc>
                <a:spcPct val="100000"/>
              </a:lnSpc>
            </a:pPr>
            <a:r>
              <a:rPr lang="en-US" sz="2100" b="1">
                <a:solidFill>
                  <a:srgbClr val="FFFFFF"/>
                </a:solidFill>
                <a:latin typeface="Microsoft YaHei"/>
                <a:ea typeface="Microsoft YaHei"/>
              </a:rPr>
              <a:t>04</a:t>
            </a:r>
            <a:endParaRPr/>
          </a:p>
        </p:txBody>
      </p:sp>
      <p:sp>
        <p:nvSpPr>
          <p:cNvPr id="247" name="" descr="{&quot;isTemplate&quot;:true,&quot;type&quot;:&quot;text&quot;}"/>
          <p:cNvSpPr txBox="1"/>
          <p:nvPr/>
        </p:nvSpPr>
        <p:spPr>
          <a:xfrm rot="0" flipH="0" flipV="0">
            <a:off x="1295400" y="828675"/>
            <a:ext cx="342900" cy="190500"/>
          </a:xfrm>
          <a:prstGeom prst="rect"/>
        </p:spPr>
        <p:txBody>
          <a:bodyPr wrap="none" lIns="0" tIns="0" rIns="0" bIns="0"/>
          <a:p>
            <a:pPr>
              <a:lnSpc>
                <a:spcPct val="100000"/>
              </a:lnSpc>
            </a:pPr>
            <a:r>
              <a:rPr lang="en-US" sz="1200">
                <a:solidFill>
                  <a:srgbClr val="546779"/>
                </a:solidFill>
                <a:latin typeface="Microsoft YaHei"/>
                <a:ea typeface="Microsoft YaHei"/>
              </a:rPr>
              <a:t>2.5.4</a:t>
            </a:r>
            <a:endParaRPr/>
          </a:p>
        </p:txBody>
      </p:sp>
      <p:sp>
        <p:nvSpPr>
          <p:cNvPr id="248" name="" descr="{&quot;isTemplate&quot;:true,&quot;type&quot;:&quot;text&quot;}"/>
          <p:cNvSpPr txBox="1"/>
          <p:nvPr/>
        </p:nvSpPr>
        <p:spPr>
          <a:xfrm rot="0" flipH="0" flipV="0">
            <a:off x="609600" y="1381125"/>
            <a:ext cx="10972800" cy="742950"/>
          </a:xfrm>
          <a:prstGeom prst="rect"/>
        </p:spPr>
        <p:txBody>
          <a:bodyPr wrap="none" lIns="0" tIns="0" rIns="0" bIns="0"/>
          <a:p>
            <a:pPr>
              <a:lnSpc>
                <a:spcPct val="114999"/>
              </a:lnSpc>
            </a:pPr>
            <a:r>
              <a:rPr lang="zh-CN" sz="4200" b="1">
                <a:solidFill>
                  <a:srgbClr val="20344B"/>
                </a:solidFill>
                <a:latin typeface="Microsoft YaHei"/>
                <a:ea typeface="Microsoft YaHei"/>
              </a:rPr>
              <a:t>参数错误、工具失败与无进展</a:t>
            </a:r>
            <a:endParaRPr/>
          </a:p>
        </p:txBody>
      </p:sp>
      <p:sp>
        <p:nvSpPr>
          <p:cNvPr id="249" name=""/>
          <p:cNvSpPr/>
          <p:nvPr/>
        </p:nvSpPr>
        <p:spPr>
          <a:xfrm rot="0" flipH="0" flipV="0">
            <a:off x="609600" y="2314575"/>
            <a:ext cx="6096000" cy="38100"/>
          </a:xfrm>
          <a:prstGeom prst="rect">
            <a:avLst/>
          </a:prstGeom>
          <a:solidFill>
            <a:srgbClr val="CB6B28"/>
          </a:solidFill>
          <a:ln/>
        </p:spPr>
        <p:txBody>
          <a:bodyPr/>
          <a:p/>
        </p:txBody>
      </p:sp>
      <p:sp>
        <p:nvSpPr>
          <p:cNvPr id="250" name="" descr="{&quot;isTemplate&quot;:true,&quot;type&quot;:&quot;text&quot;}"/>
          <p:cNvSpPr txBox="1"/>
          <p:nvPr/>
        </p:nvSpPr>
        <p:spPr>
          <a:xfrm rot="0" flipH="0" flipV="0">
            <a:off x="609600" y="2543175"/>
            <a:ext cx="10972800" cy="371475"/>
          </a:xfrm>
          <a:prstGeom prst="rect"/>
        </p:spPr>
        <p:txBody>
          <a:bodyPr wrap="none" lIns="0" tIns="0" rIns="0" bIns="0"/>
          <a:p>
            <a:pPr>
              <a:lnSpc>
                <a:spcPct val="170000"/>
              </a:lnSpc>
            </a:pPr>
            <a:r>
              <a:rPr lang="zh-CN" sz="1425">
                <a:solidFill>
                  <a:srgbClr val="546779"/>
                </a:solidFill>
                <a:latin typeface="Microsoft YaHei"/>
                <a:ea typeface="Microsoft YaHei"/>
              </a:rPr>
              <a:t>不是所有工具请求都该被执行，也不是所有失败都该重试。</a:t>
            </a:r>
            <a:endParaRPr/>
          </a:p>
        </p:txBody>
      </p:sp>
      <p:sp>
        <p:nvSpPr>
          <p:cNvPr id="251" name=""/>
          <p:cNvSpPr/>
          <p:nvPr/>
        </p:nvSpPr>
        <p:spPr>
          <a:xfrm rot="0" flipH="0" flipV="0">
            <a:off x="1943100" y="3181350"/>
            <a:ext cx="2667000" cy="533400"/>
          </a:xfrm>
          <a:prstGeom prst="roundRect">
            <a:avLst>
              <a:gd name="adj" fmla="val 14286"/>
            </a:avLst>
          </a:prstGeom>
          <a:solidFill>
            <a:srgbClr val="EDF4FC"/>
          </a:solidFill>
          <a:ln/>
        </p:spPr>
        <p:txBody>
          <a:bodyPr/>
          <a:p/>
        </p:txBody>
      </p:sp>
      <p:sp>
        <p:nvSpPr>
          <p:cNvPr id="252" name="" descr="{&quot;isTemplate&quot;:true,&quot;type&quot;:&quot;text&quot;}"/>
          <p:cNvSpPr txBox="1"/>
          <p:nvPr/>
        </p:nvSpPr>
        <p:spPr>
          <a:xfrm rot="0" flipH="0" flipV="0">
            <a:off x="2743200" y="3352800"/>
            <a:ext cx="1066800" cy="190500"/>
          </a:xfrm>
          <a:prstGeom prst="rect"/>
        </p:spPr>
        <p:txBody>
          <a:bodyPr wrap="none" lIns="0" tIns="0" rIns="0" bIns="0"/>
          <a:p>
            <a:pPr>
              <a:lnSpc>
                <a:spcPct val="100000"/>
              </a:lnSpc>
            </a:pPr>
            <a:r>
              <a:rPr lang="zh-CN" sz="1200" b="1">
                <a:solidFill>
                  <a:srgbClr val="276FBF"/>
                </a:solidFill>
                <a:latin typeface="Microsoft YaHei"/>
                <a:ea typeface="Microsoft YaHei"/>
              </a:rPr>
              <a:t>符合条件才执行</a:t>
            </a:r>
            <a:endParaRPr/>
          </a:p>
        </p:txBody>
      </p:sp>
      <p:sp>
        <p:nvSpPr>
          <p:cNvPr id="253" name=""/>
          <p:cNvSpPr/>
          <p:nvPr/>
        </p:nvSpPr>
        <p:spPr>
          <a:xfrm rot="0" flipH="0" flipV="0">
            <a:off x="4762500" y="3181350"/>
            <a:ext cx="2667000" cy="533400"/>
          </a:xfrm>
          <a:prstGeom prst="roundRect">
            <a:avLst>
              <a:gd name="adj" fmla="val 14286"/>
            </a:avLst>
          </a:prstGeom>
          <a:solidFill>
            <a:srgbClr val="FFF4E6"/>
          </a:solidFill>
          <a:ln/>
        </p:spPr>
        <p:txBody>
          <a:bodyPr/>
          <a:p/>
        </p:txBody>
      </p:sp>
      <p:sp>
        <p:nvSpPr>
          <p:cNvPr id="254" name="" descr="{&quot;isTemplate&quot;:true,&quot;type&quot;:&quot;text&quot;}"/>
          <p:cNvSpPr txBox="1"/>
          <p:nvPr/>
        </p:nvSpPr>
        <p:spPr>
          <a:xfrm rot="0" flipH="0" flipV="0">
            <a:off x="5410200" y="3352800"/>
            <a:ext cx="1371600" cy="190500"/>
          </a:xfrm>
          <a:prstGeom prst="rect"/>
        </p:spPr>
        <p:txBody>
          <a:bodyPr wrap="none" lIns="0" tIns="0" rIns="0" bIns="0"/>
          <a:p>
            <a:pPr>
              <a:lnSpc>
                <a:spcPct val="100000"/>
              </a:lnSpc>
            </a:pPr>
            <a:r>
              <a:rPr lang="zh-CN" sz="1200" b="1">
                <a:solidFill>
                  <a:srgbClr val="CB6B28"/>
                </a:solidFill>
                <a:latin typeface="Microsoft YaHei"/>
                <a:ea typeface="Microsoft YaHei"/>
              </a:rPr>
              <a:t>可修正错误回传诊断</a:t>
            </a:r>
            <a:endParaRPr/>
          </a:p>
        </p:txBody>
      </p:sp>
      <p:sp>
        <p:nvSpPr>
          <p:cNvPr id="255" name=""/>
          <p:cNvSpPr/>
          <p:nvPr/>
        </p:nvSpPr>
        <p:spPr>
          <a:xfrm rot="0" flipH="0" flipV="0">
            <a:off x="7581900" y="3181350"/>
            <a:ext cx="2667000" cy="533400"/>
          </a:xfrm>
          <a:prstGeom prst="roundRect">
            <a:avLst>
              <a:gd name="adj" fmla="val 14286"/>
            </a:avLst>
          </a:prstGeom>
          <a:solidFill>
            <a:srgbClr val="FFF4E6"/>
          </a:solidFill>
          <a:ln/>
        </p:spPr>
        <p:txBody>
          <a:bodyPr/>
          <a:p/>
        </p:txBody>
      </p:sp>
      <p:sp>
        <p:nvSpPr>
          <p:cNvPr id="256" name="" descr="{&quot;isTemplate&quot;:true,&quot;type&quot;:&quot;text&quot;}"/>
          <p:cNvSpPr txBox="1"/>
          <p:nvPr/>
        </p:nvSpPr>
        <p:spPr>
          <a:xfrm rot="0" flipH="0" flipV="0">
            <a:off x="8153400" y="3352800"/>
            <a:ext cx="1524000" cy="190500"/>
          </a:xfrm>
          <a:prstGeom prst="rect"/>
        </p:spPr>
        <p:txBody>
          <a:bodyPr wrap="none" lIns="0" tIns="0" rIns="0" bIns="0"/>
          <a:p>
            <a:pPr>
              <a:lnSpc>
                <a:spcPct val="100000"/>
              </a:lnSpc>
            </a:pPr>
            <a:r>
              <a:rPr lang="zh-CN" sz="1200" b="1">
                <a:solidFill>
                  <a:srgbClr val="CB6B28"/>
                </a:solidFill>
                <a:latin typeface="Microsoft YaHei"/>
                <a:ea typeface="Microsoft YaHei"/>
              </a:rPr>
              <a:t>预算耗尽或无进展则停</a:t>
            </a:r>
            <a:endParaRPr/>
          </a:p>
        </p:txBody>
      </p:sp>
      <p:sp>
        <p:nvSpPr>
          <p:cNvPr id="257" name="" descr="{&quot;isTemplate&quot;:true,&quot;type&quot;:&quot;text&quot;}"/>
          <p:cNvSpPr txBox="1"/>
          <p:nvPr/>
        </p:nvSpPr>
        <p:spPr>
          <a:xfrm rot="0" flipH="0" flipV="0">
            <a:off x="6057900" y="3924300"/>
            <a:ext cx="85725" cy="209550"/>
          </a:xfrm>
          <a:prstGeom prst="rect"/>
        </p:spPr>
        <p:txBody>
          <a:bodyPr wrap="none" lIns="0" tIns="0" rIns="0" bIns="0"/>
          <a:p>
            <a:pPr>
              <a:lnSpc>
                <a:spcPct val="100000"/>
              </a:lnSpc>
            </a:pPr>
            <a:r>
              <a:rPr sz="1350">
                <a:solidFill>
                  <a:srgbClr val="CB6B28"/>
                </a:solidFill>
                <a:latin typeface="Microsoft YaHei"/>
                <a:ea typeface="Microsoft YaHei"/>
              </a:rPr>
              <a:t>↓</a:t>
            </a:r>
            <a:endParaRPr/>
          </a:p>
        </p:txBody>
      </p:sp>
      <p:sp>
        <p:nvSpPr>
          <p:cNvPr id="258" name=""/>
          <p:cNvSpPr/>
          <p:nvPr/>
        </p:nvSpPr>
        <p:spPr>
          <a:xfrm rot="0" flipH="0" flipV="0">
            <a:off x="3143250" y="4343400"/>
            <a:ext cx="5905500" cy="533400"/>
          </a:xfrm>
          <a:prstGeom prst="roundRect">
            <a:avLst>
              <a:gd name="adj" fmla="val 14286"/>
            </a:avLst>
          </a:prstGeom>
          <a:solidFill>
            <a:srgbClr val="F4F7FA"/>
          </a:solidFill>
          <a:ln/>
        </p:spPr>
        <p:txBody>
          <a:bodyPr/>
          <a:p/>
        </p:txBody>
      </p:sp>
      <p:sp>
        <p:nvSpPr>
          <p:cNvPr id="259" name="" descr="{&quot;isTemplate&quot;:true,&quot;type&quot;:&quot;text&quot;}"/>
          <p:cNvSpPr txBox="1"/>
          <p:nvPr/>
        </p:nvSpPr>
        <p:spPr>
          <a:xfrm rot="0" flipH="0" flipV="0">
            <a:off x="4314825" y="4514850"/>
            <a:ext cx="3562350" cy="200025"/>
          </a:xfrm>
          <a:prstGeom prst="rect"/>
        </p:spPr>
        <p:txBody>
          <a:bodyPr wrap="none" lIns="0" tIns="0" rIns="0" bIns="0"/>
          <a:p>
            <a:pPr>
              <a:lnSpc>
                <a:spcPct val="100000"/>
              </a:lnSpc>
            </a:pPr>
            <a:r>
              <a:rPr lang="zh-CN" sz="1275" b="1">
                <a:solidFill>
                  <a:srgbClr val="20344B"/>
                </a:solidFill>
                <a:latin typeface="Microsoft YaHei"/>
                <a:ea typeface="Microsoft YaHei"/>
              </a:rPr>
              <a:t>工具名必须来自允许列表，不能直接交给动态执行</a:t>
            </a:r>
            <a:endParaRPr/>
          </a:p>
        </p:txBody>
      </p:sp>
      <p:sp>
        <p:nvSpPr>
          <p:cNvPr id="260" name="" descr="{&quot;isTemplate&quot;:true,&quot;type&quot;:&quot;text&quot;}"/>
          <p:cNvSpPr txBox="1"/>
          <p:nvPr/>
        </p:nvSpPr>
        <p:spPr>
          <a:xfrm rot="0" flipH="0" flipV="0">
            <a:off x="609600" y="54483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261" name="" descr="{&quot;isTemplate&quot;:true,&quot;type&quot;:&quot;text&quot;}"/>
          <p:cNvSpPr txBox="1"/>
          <p:nvPr/>
        </p:nvSpPr>
        <p:spPr>
          <a:xfrm rot="0" flipH="0" flipV="0">
            <a:off x="11125200" y="54483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18 / 26</a:t>
            </a:r>
            <a:endParaRPr/>
          </a:p>
        </p:txBody>
      </p:sp>
    </p:spTree>
  </p:cSld>
</p:sld>
</file>

<file path=ppt/slides/slide19.xml><?xml version="1.0" encoding="utf-8"?>
<p:sld xmlns:p="http://schemas.openxmlformats.org/presentationml/2006/main" xmlns:a="http://schemas.openxmlformats.org/drawingml/2006/main">
  <p:cSld>
    <p:spTree>
      <p:nvGrpSpPr>
        <p:cNvPr id="262" name="" descr="&lt;Slide notes={`收到工具请求之后，应用面对的是三条分支，不是一条。&#10;&#10;第一条是执行。工具名在允许列表里，参数符合约定，这次调用也没有超出预算，那就真的去调用那个只读函数。&#10;&#10;第二条是回传诊断。参数可以修正的错误，比如房间编号不在枚举里、日期字段类型不对，不能直接执行，也不该当作崩溃处理，而是把明确的错误类别交回模型，让它自己修正输入再试。&#10;&#10;第三条是停止。预算用完了，或者同一件事反复没有新进展，就停下来，并且把停止的原因记下来。停下来不等于失败，它是保护。&#10;&#10;这三条分支有一个共同前提：工具名必须来自允许列表。模型返回的字符串不能直接交给动态执行，未知工具、无效 JSON、字段类型错误都要走受控的错误分支。`}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4　参数错误、工具失败与无进展&lt;/Text&gt;&#10;            &lt;Text style={{ fontSize: 34, fontWeight: 'bold', color: '#20344B' }}&gt;收到工具请求后的三种去向&lt;/Text&gt;&#10;        &lt;/Box&gt;&#10;    &lt;/Box&gt;&#10;&#10;    &lt;Box style={{ height: 540, flexDirection: 'column', justifyContent: 'center', gap: 18 }}&gt;&#10;&#10;        &lt;Box style={{ flexDirection: 'row', alignItems: 'center', gap: 16, background: '#F4F7FA', borderRadius: 10, padding: '10px 20px' }}&gt;&#10;            &lt;Box style={{ width: 3, height: 26, background: '#276FBF' }} /&gt;&#10;            &lt;Text style={{ fontSize: 16, color: '#546779' }}&gt;收到工具请求后，应用要区分三种去向：执行、回传诊断、停止。&lt;/Text&gt;&#10;        &lt;/Box&gt;&#10;&#10;        &lt;Box style={{ flexDirection: 'row', justifyContent: 'center', gap: 36 }}&gt;&#10;            &lt;Box style={{ width: 360, height: 340, background: '#EDF4FC', borderRadius: 12, padding: 20, flexDirection: 'column', gap: 10 }}&gt;&#10;                &lt;Text style={{ fontSize: 20, fontWeight: 'bold', color: '#276FBF' }}&gt;符合条件才执行&lt;/Text&gt;&#10;                &lt;Box style={{ width: 56, height: 3, background: '#276FBF' }} /&gt;&#10;                &lt;Text style={{ fontSize: 15, color: '#546779', lineHeight: 1.6 }}&gt;工具在允许列表里，参数合法，预算没有超。&lt;/Text&gt;&#10;                &lt;Box style={{ flex: 1 }} /&gt;&#10;                &lt;Box style={{ background: '#FFFFFF', borderRadius: 8, padding: '10px 14px' }}&gt;&#10;                    &lt;Text style={{ fontSize: 15, color: '#20344B', lineHeight: 1.5 }}&gt;调用本地只读函数，拿到真实结果。&lt;/Text&gt;&#10;                &lt;/Box&gt;&#10;            &lt;/Box&gt;&#10;            &lt;Box style={{ width: 360, height: 340, background: '#FFF4E6', borderRadius: 12, padding: 20, flexDirection: 'column', gap: 10 }}&gt;&#10;                &lt;Text style={{ fontSize: 20, fontWeight: 'bold', color: '#CB6B28' }}&gt;可回传的输入错误&lt;/Text&gt;&#10;                &lt;Box style={{ width: 56, height: 3, background: '#CB6B28' }} /&gt;&#10;                &lt;Text style={{ fontSize: 15, color: '#546779', lineHeight: 1.6 }}&gt;房间编号不在枚举里、字段类型不对这类可以修正的错误。&lt;/Text&gt;&#10;                &lt;Box style={{ flex: 1 }} /&gt;&#10;                &lt;Box style={{ background: '#FFFFFF', borderRadius: 8, padding: '10px 14px' }}&gt;&#10;                    &lt;Text style={{ fontSize: 15, color: '#20344B', lineHeight: 1.5 }}&gt;拒绝任意执行，返回明确诊断让模型修正。&lt;/Text&gt;&#10;                &lt;/Box&gt;&#10;            &lt;/Box&gt;&#10;            &lt;Box style={{ width: 360, height: 340, background: '#FFF4E6', borderRadius: 12, padding: 20, flexDirection: 'column', gap: 10 }}&gt;&#10;                &lt;Text style={{ fontSize: 20, fontWeight: 'bold', color: '#CB6B28' }}&gt;停止条件&lt;/Text&gt;&#10;                &lt;Box style={{ width: 56, height: 3, background: '#CB6B28' }} /&gt;&#10;                &lt;Text style={{ fontSize: 15, color: '#546779', lineHeight: 1.6 }}&gt;预算耗尽，或者同一件事反复出现、没有新进展。&lt;/Text&gt;&#10;                &lt;Box style={{ flex: 1 }} /&gt;&#10;                &lt;Box style={{ background: '#FFFFFF', borderRadius: 8, padding: '10px 14px' }}&gt;&#10;                    &lt;Text style={{ fontSize: 15, color: '#20344B', lineHeight: 1.5 }}&gt;停止并保留原因，报告已完成的部分。&lt;/Text&gt;&#10;                &lt;/Box&gt;&#10;            &lt;/Box&gt;&#10;        &lt;/Box&gt;&#10;&#10;        &lt;Box style={{ flexDirection: 'row', alignItems: 'center', gap: 16, background: '#FFF4E6', borderRadius: 10, padding: '0 20px', height: 84 }}&gt;&#10;            &lt;Box style={{ width: 4, height: 50, background: '#CB6B28' }} /&gt;&#10;            &lt;Text style={{ fontSize: 15, color: '#20344B', lineHeight: 1.5 }}&gt;工具名必须来自允许列表；未知工具、无效 JSON、字段类型错误一律进入受控错误分支，不交给 eval、动态导入或任意 Shell。&lt;/Text&gt;&#10;        &lt;/Box&gt;&#10;&#10;    &lt;/Box&gt;&#10;&#10;    &lt;Box style={{ height: 40, flexDirection: 'row', justifyContent: 'space-between', alignItems: 'center' }}&gt;&#10;        &lt;Text style={{ fontSize: 14, color: '#546779' }}&gt;2.5 Function Calling&lt;/Text&gt;&#10;        &lt;Text style={{ fontSize: 14, color: '#546779' }}&gt;19 / 26&lt;/Text&gt;&#10;    &lt;/Box&gt;&#10;&#10;&lt;/Slide&gt;&#10;"/>
        <p:cNvGrpSpPr/>
        <p:nvPr/>
      </p:nvGrpSpPr>
      <p:grpSpPr>
        <a:xfrm>
          <a:off x="0" y="0"/>
          <a:ext cx="0" cy="0"/>
          <a:chOff x="0" y="0"/>
          <a:chExt cx="0" cy="0"/>
        </a:xfrm>
      </p:grpSpPr>
      <p:sp>
        <p:nvSpPr>
          <p:cNvPr id="263" name=""/>
          <p:cNvSpPr/>
          <p:nvPr/>
        </p:nvSpPr>
        <p:spPr>
          <a:xfrm rot="0" flipH="0" flipV="0">
            <a:off x="0" y="0"/>
            <a:ext cx="12192000" cy="6858000"/>
          </a:xfrm>
          <a:prstGeom prst="rect">
            <a:avLst/>
          </a:prstGeom>
          <a:solidFill>
            <a:srgbClr val="FFFFFF"/>
          </a:solidFill>
          <a:ln/>
        </p:spPr>
        <p:txBody>
          <a:bodyPr/>
          <a:p/>
        </p:txBody>
      </p:sp>
      <p:sp>
        <p:nvSpPr>
          <p:cNvPr id="264" name=""/>
          <p:cNvSpPr/>
          <p:nvPr/>
        </p:nvSpPr>
        <p:spPr>
          <a:xfrm rot="0" flipH="0" flipV="0">
            <a:off x="609600" y="457200"/>
            <a:ext cx="38100" cy="419100"/>
          </a:xfrm>
          <a:prstGeom prst="rect">
            <a:avLst/>
          </a:prstGeom>
          <a:solidFill>
            <a:srgbClr val="276FBF"/>
          </a:solidFill>
          <a:ln/>
        </p:spPr>
        <p:txBody>
          <a:bodyPr/>
          <a:p/>
        </p:txBody>
      </p:sp>
      <p:sp>
        <p:nvSpPr>
          <p:cNvPr id="265" name="" descr="{&quot;isTemplate&quot;:true,&quot;type&quot;:&quot;text&quot;}"/>
          <p:cNvSpPr txBox="1"/>
          <p:nvPr/>
        </p:nvSpPr>
        <p:spPr>
          <a:xfrm rot="0" flipH="0" flipV="0">
            <a:off x="838200" y="371475"/>
            <a:ext cx="3886200" cy="161925"/>
          </a:xfrm>
          <a:prstGeom prst="rect"/>
        </p:spPr>
        <p:txBody>
          <a:bodyPr wrap="none" lIns="0" tIns="0" rIns="0" bIns="0"/>
          <a:p>
            <a:pPr>
              <a:lnSpc>
                <a:spcPct val="100000"/>
              </a:lnSpc>
            </a:pPr>
            <a:r>
              <a:rPr lang="en-US" sz="1050">
                <a:solidFill>
                  <a:srgbClr val="546779"/>
                </a:solidFill>
                <a:latin typeface="Microsoft YaHei"/>
                <a:ea typeface="Microsoft YaHei"/>
              </a:rPr>
              <a:t>2.5.4</a:t>
            </a:r>
            <a:r>
              <a:rPr lang="zh-CN" sz="1050">
                <a:solidFill>
                  <a:srgbClr val="546779"/>
                </a:solidFill>
                <a:latin typeface="Microsoft YaHei"/>
                <a:ea typeface="Microsoft YaHei"/>
              </a:rPr>
              <a:t>　参数错误、工具失败与无进展</a:t>
            </a:r>
            <a:endParaRPr/>
          </a:p>
        </p:txBody>
      </p:sp>
      <p:sp>
        <p:nvSpPr>
          <p:cNvPr id="266" name="" descr="{&quot;isTemplate&quot;:true,&quot;type&quot;:&quot;text&quot;}"/>
          <p:cNvSpPr txBox="1"/>
          <p:nvPr/>
        </p:nvSpPr>
        <p:spPr>
          <a:xfrm rot="0" flipH="0" flipV="0">
            <a:off x="838200" y="571500"/>
            <a:ext cx="3886200" cy="390525"/>
          </a:xfrm>
          <a:prstGeom prst="rect"/>
        </p:spPr>
        <p:txBody>
          <a:bodyPr wrap="none" lIns="0" tIns="0" rIns="0" bIns="0"/>
          <a:p>
            <a:pPr>
              <a:lnSpc>
                <a:spcPct val="100000"/>
              </a:lnSpc>
            </a:pPr>
            <a:r>
              <a:rPr lang="zh-CN" sz="2550" b="1">
                <a:solidFill>
                  <a:srgbClr val="20344B"/>
                </a:solidFill>
                <a:latin typeface="Microsoft YaHei"/>
                <a:ea typeface="Microsoft YaHei"/>
              </a:rPr>
              <a:t>收到工具请求后的三种去向</a:t>
            </a:r>
            <a:endParaRPr/>
          </a:p>
        </p:txBody>
      </p:sp>
      <p:sp>
        <p:nvSpPr>
          <p:cNvPr id="267" name=""/>
          <p:cNvSpPr/>
          <p:nvPr/>
        </p:nvSpPr>
        <p:spPr>
          <a:xfrm rot="0" flipH="0" flipV="0">
            <a:off x="609600" y="1304925"/>
            <a:ext cx="10972800" cy="438150"/>
          </a:xfrm>
          <a:prstGeom prst="roundRect">
            <a:avLst>
              <a:gd name="adj" fmla="val 21739"/>
            </a:avLst>
          </a:prstGeom>
          <a:solidFill>
            <a:srgbClr val="F4F7FA"/>
          </a:solidFill>
          <a:ln/>
        </p:spPr>
        <p:txBody>
          <a:bodyPr/>
          <a:p/>
        </p:txBody>
      </p:sp>
      <p:sp>
        <p:nvSpPr>
          <p:cNvPr id="268" name=""/>
          <p:cNvSpPr/>
          <p:nvPr/>
        </p:nvSpPr>
        <p:spPr>
          <a:xfrm rot="0" flipH="0" flipV="0">
            <a:off x="800100" y="1400175"/>
            <a:ext cx="28575" cy="247650"/>
          </a:xfrm>
          <a:prstGeom prst="rect">
            <a:avLst/>
          </a:prstGeom>
          <a:solidFill>
            <a:srgbClr val="276FBF"/>
          </a:solidFill>
          <a:ln/>
        </p:spPr>
        <p:txBody>
          <a:bodyPr/>
          <a:p/>
        </p:txBody>
      </p:sp>
      <p:sp>
        <p:nvSpPr>
          <p:cNvPr id="269" name="" descr="{&quot;isTemplate&quot;:true,&quot;type&quot;:&quot;text&quot;}"/>
          <p:cNvSpPr txBox="1"/>
          <p:nvPr/>
        </p:nvSpPr>
        <p:spPr>
          <a:xfrm rot="0" flipH="0" flipV="0">
            <a:off x="981075" y="1428750"/>
            <a:ext cx="4419600" cy="190500"/>
          </a:xfrm>
          <a:prstGeom prst="rect"/>
        </p:spPr>
        <p:txBody>
          <a:bodyPr wrap="none" lIns="0" tIns="0" rIns="0" bIns="0"/>
          <a:p>
            <a:pPr>
              <a:lnSpc>
                <a:spcPct val="100000"/>
              </a:lnSpc>
            </a:pPr>
            <a:r>
              <a:rPr lang="zh-CN" sz="1200">
                <a:solidFill>
                  <a:srgbClr val="546779"/>
                </a:solidFill>
                <a:latin typeface="Microsoft YaHei"/>
                <a:ea typeface="Microsoft YaHei"/>
              </a:rPr>
              <a:t>收到工具请求后，应用要区分三种去向：执行、回传诊断、停止。</a:t>
            </a:r>
            <a:endParaRPr/>
          </a:p>
        </p:txBody>
      </p:sp>
      <p:sp>
        <p:nvSpPr>
          <p:cNvPr id="270" name=""/>
          <p:cNvSpPr/>
          <p:nvPr/>
        </p:nvSpPr>
        <p:spPr>
          <a:xfrm rot="0" flipH="0" flipV="0">
            <a:off x="609600" y="1914525"/>
            <a:ext cx="3429000" cy="3238500"/>
          </a:xfrm>
          <a:prstGeom prst="roundRect">
            <a:avLst>
              <a:gd name="adj" fmla="val 3529"/>
            </a:avLst>
          </a:prstGeom>
          <a:solidFill>
            <a:srgbClr val="EDF4FC"/>
          </a:solidFill>
          <a:ln/>
        </p:spPr>
        <p:txBody>
          <a:bodyPr/>
          <a:p/>
        </p:txBody>
      </p:sp>
      <p:sp>
        <p:nvSpPr>
          <p:cNvPr id="271" name="" descr="{&quot;isTemplate&quot;:true,&quot;type&quot;:&quot;text&quot;}"/>
          <p:cNvSpPr txBox="1"/>
          <p:nvPr/>
        </p:nvSpPr>
        <p:spPr>
          <a:xfrm rot="0" flipH="0" flipV="0">
            <a:off x="800100" y="2105025"/>
            <a:ext cx="3048000" cy="228600"/>
          </a:xfrm>
          <a:prstGeom prst="rect"/>
        </p:spPr>
        <p:txBody>
          <a:bodyPr wrap="none" lIns="0" tIns="0" rIns="0" bIns="0"/>
          <a:p>
            <a:pPr>
              <a:lnSpc>
                <a:spcPct val="100000"/>
              </a:lnSpc>
            </a:pPr>
            <a:r>
              <a:rPr lang="zh-CN" sz="1500" b="1">
                <a:solidFill>
                  <a:srgbClr val="276FBF"/>
                </a:solidFill>
                <a:latin typeface="Microsoft YaHei"/>
                <a:ea typeface="Microsoft YaHei"/>
              </a:rPr>
              <a:t>符合条件才执行</a:t>
            </a:r>
            <a:endParaRPr/>
          </a:p>
        </p:txBody>
      </p:sp>
      <p:sp>
        <p:nvSpPr>
          <p:cNvPr id="272" name=""/>
          <p:cNvSpPr/>
          <p:nvPr/>
        </p:nvSpPr>
        <p:spPr>
          <a:xfrm rot="0" flipH="0" flipV="0">
            <a:off x="800100" y="2428875"/>
            <a:ext cx="533400" cy="28575"/>
          </a:xfrm>
          <a:prstGeom prst="rect">
            <a:avLst/>
          </a:prstGeom>
          <a:solidFill>
            <a:srgbClr val="276FBF"/>
          </a:solidFill>
          <a:ln/>
        </p:spPr>
        <p:txBody>
          <a:bodyPr/>
          <a:p/>
        </p:txBody>
      </p:sp>
      <p:sp>
        <p:nvSpPr>
          <p:cNvPr id="273" name="" descr="{&quot;isTemplate&quot;:true,&quot;type&quot;:&quot;text&quot;}"/>
          <p:cNvSpPr txBox="1"/>
          <p:nvPr/>
        </p:nvSpPr>
        <p:spPr>
          <a:xfrm rot="0" flipH="0" flipV="0">
            <a:off x="800100" y="2552700"/>
            <a:ext cx="3048000" cy="276225"/>
          </a:xfrm>
          <a:prstGeom prst="rect"/>
        </p:spPr>
        <p:txBody>
          <a:bodyPr wrap="none" lIns="0" tIns="0" rIns="0" bIns="0"/>
          <a:p>
            <a:pPr>
              <a:lnSpc>
                <a:spcPct val="160000"/>
              </a:lnSpc>
            </a:pPr>
            <a:r>
              <a:rPr lang="zh-CN" sz="1125">
                <a:solidFill>
                  <a:srgbClr val="546779"/>
                </a:solidFill>
                <a:latin typeface="Microsoft YaHei"/>
                <a:ea typeface="Microsoft YaHei"/>
              </a:rPr>
              <a:t>工具在允许列表里，参数合法，预算没有超。</a:t>
            </a:r>
            <a:endParaRPr/>
          </a:p>
        </p:txBody>
      </p:sp>
      <p:sp>
        <p:nvSpPr>
          <p:cNvPr id="274" name=""/>
          <p:cNvSpPr/>
          <p:nvPr/>
        </p:nvSpPr>
        <p:spPr>
          <a:xfrm rot="0" flipH="0" flipV="0">
            <a:off x="800100" y="4514850"/>
            <a:ext cx="3048000" cy="447675"/>
          </a:xfrm>
          <a:prstGeom prst="roundRect">
            <a:avLst>
              <a:gd name="adj" fmla="val 17021"/>
            </a:avLst>
          </a:prstGeom>
          <a:solidFill>
            <a:srgbClr val="FFFFFF"/>
          </a:solidFill>
          <a:ln/>
        </p:spPr>
        <p:txBody>
          <a:bodyPr/>
          <a:p/>
        </p:txBody>
      </p:sp>
      <p:sp>
        <p:nvSpPr>
          <p:cNvPr id="275" name="" descr="{&quot;isTemplate&quot;:true,&quot;type&quot;:&quot;text&quot;}"/>
          <p:cNvSpPr txBox="1"/>
          <p:nvPr/>
        </p:nvSpPr>
        <p:spPr>
          <a:xfrm rot="0" flipH="0" flipV="0">
            <a:off x="933450" y="4610100"/>
            <a:ext cx="2781300" cy="257175"/>
          </a:xfrm>
          <a:prstGeom prst="rect"/>
        </p:spPr>
        <p:txBody>
          <a:bodyPr wrap="none" lIns="0" tIns="0" rIns="0" bIns="0"/>
          <a:p>
            <a:pPr>
              <a:lnSpc>
                <a:spcPct val="150000"/>
              </a:lnSpc>
            </a:pPr>
            <a:r>
              <a:rPr lang="zh-CN" sz="1125">
                <a:solidFill>
                  <a:srgbClr val="20344B"/>
                </a:solidFill>
                <a:latin typeface="Microsoft YaHei"/>
                <a:ea typeface="Microsoft YaHei"/>
              </a:rPr>
              <a:t>调用本地只读函数，拿到真实结果。</a:t>
            </a:r>
            <a:endParaRPr/>
          </a:p>
        </p:txBody>
      </p:sp>
      <p:sp>
        <p:nvSpPr>
          <p:cNvPr id="276" name=""/>
          <p:cNvSpPr/>
          <p:nvPr/>
        </p:nvSpPr>
        <p:spPr>
          <a:xfrm rot="0" flipH="0" flipV="0">
            <a:off x="4381500" y="1914525"/>
            <a:ext cx="3429000" cy="3238500"/>
          </a:xfrm>
          <a:prstGeom prst="roundRect">
            <a:avLst>
              <a:gd name="adj" fmla="val 3529"/>
            </a:avLst>
          </a:prstGeom>
          <a:solidFill>
            <a:srgbClr val="FFF4E6"/>
          </a:solidFill>
          <a:ln/>
        </p:spPr>
        <p:txBody>
          <a:bodyPr/>
          <a:p/>
        </p:txBody>
      </p:sp>
      <p:sp>
        <p:nvSpPr>
          <p:cNvPr id="277" name="" descr="{&quot;isTemplate&quot;:true,&quot;type&quot;:&quot;text&quot;}"/>
          <p:cNvSpPr txBox="1"/>
          <p:nvPr/>
        </p:nvSpPr>
        <p:spPr>
          <a:xfrm rot="0" flipH="0" flipV="0">
            <a:off x="4572000" y="2105025"/>
            <a:ext cx="3048000" cy="228600"/>
          </a:xfrm>
          <a:prstGeom prst="rect"/>
        </p:spPr>
        <p:txBody>
          <a:bodyPr wrap="none" lIns="0" tIns="0" rIns="0" bIns="0"/>
          <a:p>
            <a:pPr>
              <a:lnSpc>
                <a:spcPct val="100000"/>
              </a:lnSpc>
            </a:pPr>
            <a:r>
              <a:rPr lang="zh-CN" sz="1500" b="1">
                <a:solidFill>
                  <a:srgbClr val="CB6B28"/>
                </a:solidFill>
                <a:latin typeface="Microsoft YaHei"/>
                <a:ea typeface="Microsoft YaHei"/>
              </a:rPr>
              <a:t>可回传的输入错误</a:t>
            </a:r>
            <a:endParaRPr/>
          </a:p>
        </p:txBody>
      </p:sp>
      <p:sp>
        <p:nvSpPr>
          <p:cNvPr id="278" name=""/>
          <p:cNvSpPr/>
          <p:nvPr/>
        </p:nvSpPr>
        <p:spPr>
          <a:xfrm rot="0" flipH="0" flipV="0">
            <a:off x="4572000" y="2428875"/>
            <a:ext cx="533400" cy="28575"/>
          </a:xfrm>
          <a:prstGeom prst="rect">
            <a:avLst/>
          </a:prstGeom>
          <a:solidFill>
            <a:srgbClr val="CB6B28"/>
          </a:solidFill>
          <a:ln/>
        </p:spPr>
        <p:txBody>
          <a:bodyPr/>
          <a:p/>
        </p:txBody>
      </p:sp>
      <p:sp>
        <p:nvSpPr>
          <p:cNvPr id="279" name="" descr="{&quot;isTemplate&quot;:true,&quot;type&quot;:&quot;text&quot;}"/>
          <p:cNvSpPr txBox="1"/>
          <p:nvPr/>
        </p:nvSpPr>
        <p:spPr>
          <a:xfrm rot="0" flipH="0" flipV="0">
            <a:off x="4572000" y="2552700"/>
            <a:ext cx="3048000" cy="552450"/>
          </a:xfrm>
          <a:prstGeom prst="rect"/>
        </p:spPr>
        <p:txBody>
          <a:bodyPr wrap="square" lIns="0" tIns="0" rIns="0" bIns="0">
            <a:normAutofit/>
          </a:bodyPr>
          <a:p>
            <a:pPr>
              <a:lnSpc>
                <a:spcPct val="160000"/>
              </a:lnSpc>
            </a:pPr>
            <a:r>
              <a:rPr lang="zh-CN" sz="1125">
                <a:solidFill>
                  <a:srgbClr val="546779"/>
                </a:solidFill>
                <a:latin typeface="Microsoft YaHei"/>
                <a:ea typeface="Microsoft YaHei"/>
              </a:rPr>
              <a:t>房间编号不在枚举里、字段类型不对这类可以修正的错误。</a:t>
            </a:r>
            <a:endParaRPr/>
          </a:p>
        </p:txBody>
      </p:sp>
      <p:sp>
        <p:nvSpPr>
          <p:cNvPr id="280" name=""/>
          <p:cNvSpPr/>
          <p:nvPr/>
        </p:nvSpPr>
        <p:spPr>
          <a:xfrm rot="0" flipH="0" flipV="0">
            <a:off x="4572000" y="4514850"/>
            <a:ext cx="3048000" cy="447675"/>
          </a:xfrm>
          <a:prstGeom prst="roundRect">
            <a:avLst>
              <a:gd name="adj" fmla="val 17021"/>
            </a:avLst>
          </a:prstGeom>
          <a:solidFill>
            <a:srgbClr val="FFFFFF"/>
          </a:solidFill>
          <a:ln/>
        </p:spPr>
        <p:txBody>
          <a:bodyPr/>
          <a:p/>
        </p:txBody>
      </p:sp>
      <p:sp>
        <p:nvSpPr>
          <p:cNvPr id="281" name="" descr="{&quot;isTemplate&quot;:true,&quot;type&quot;:&quot;text&quot;}"/>
          <p:cNvSpPr txBox="1"/>
          <p:nvPr/>
        </p:nvSpPr>
        <p:spPr>
          <a:xfrm rot="0" flipH="0" flipV="0">
            <a:off x="4705350" y="4610100"/>
            <a:ext cx="2781300" cy="257175"/>
          </a:xfrm>
          <a:prstGeom prst="rect"/>
        </p:spPr>
        <p:txBody>
          <a:bodyPr wrap="none" lIns="0" tIns="0" rIns="0" bIns="0"/>
          <a:p>
            <a:pPr>
              <a:lnSpc>
                <a:spcPct val="150000"/>
              </a:lnSpc>
            </a:pPr>
            <a:r>
              <a:rPr lang="zh-CN" sz="1125">
                <a:solidFill>
                  <a:srgbClr val="20344B"/>
                </a:solidFill>
                <a:latin typeface="Microsoft YaHei"/>
                <a:ea typeface="Microsoft YaHei"/>
              </a:rPr>
              <a:t>拒绝任意执行，返回明确诊断让模型修正。</a:t>
            </a:r>
            <a:endParaRPr/>
          </a:p>
        </p:txBody>
      </p:sp>
      <p:sp>
        <p:nvSpPr>
          <p:cNvPr id="282" name=""/>
          <p:cNvSpPr/>
          <p:nvPr/>
        </p:nvSpPr>
        <p:spPr>
          <a:xfrm rot="0" flipH="0" flipV="0">
            <a:off x="8153400" y="1914525"/>
            <a:ext cx="3429000" cy="3238500"/>
          </a:xfrm>
          <a:prstGeom prst="roundRect">
            <a:avLst>
              <a:gd name="adj" fmla="val 3529"/>
            </a:avLst>
          </a:prstGeom>
          <a:solidFill>
            <a:srgbClr val="FFF4E6"/>
          </a:solidFill>
          <a:ln/>
        </p:spPr>
        <p:txBody>
          <a:bodyPr/>
          <a:p/>
        </p:txBody>
      </p:sp>
      <p:sp>
        <p:nvSpPr>
          <p:cNvPr id="283" name="" descr="{&quot;isTemplate&quot;:true,&quot;type&quot;:&quot;text&quot;}"/>
          <p:cNvSpPr txBox="1"/>
          <p:nvPr/>
        </p:nvSpPr>
        <p:spPr>
          <a:xfrm rot="0" flipH="0" flipV="0">
            <a:off x="8343900" y="2105025"/>
            <a:ext cx="3048000" cy="228600"/>
          </a:xfrm>
          <a:prstGeom prst="rect"/>
        </p:spPr>
        <p:txBody>
          <a:bodyPr wrap="none" lIns="0" tIns="0" rIns="0" bIns="0"/>
          <a:p>
            <a:pPr>
              <a:lnSpc>
                <a:spcPct val="100000"/>
              </a:lnSpc>
            </a:pPr>
            <a:r>
              <a:rPr lang="zh-CN" sz="1500" b="1">
                <a:solidFill>
                  <a:srgbClr val="CB6B28"/>
                </a:solidFill>
                <a:latin typeface="Microsoft YaHei"/>
                <a:ea typeface="Microsoft YaHei"/>
              </a:rPr>
              <a:t>停止条件</a:t>
            </a:r>
            <a:endParaRPr/>
          </a:p>
        </p:txBody>
      </p:sp>
      <p:sp>
        <p:nvSpPr>
          <p:cNvPr id="284" name=""/>
          <p:cNvSpPr/>
          <p:nvPr/>
        </p:nvSpPr>
        <p:spPr>
          <a:xfrm rot="0" flipH="0" flipV="0">
            <a:off x="8343900" y="2428875"/>
            <a:ext cx="533400" cy="28575"/>
          </a:xfrm>
          <a:prstGeom prst="rect">
            <a:avLst/>
          </a:prstGeom>
          <a:solidFill>
            <a:srgbClr val="CB6B28"/>
          </a:solidFill>
          <a:ln/>
        </p:spPr>
        <p:txBody>
          <a:bodyPr/>
          <a:p/>
        </p:txBody>
      </p:sp>
      <p:sp>
        <p:nvSpPr>
          <p:cNvPr id="285" name="" descr="{&quot;isTemplate&quot;:true,&quot;type&quot;:&quot;text&quot;}"/>
          <p:cNvSpPr txBox="1"/>
          <p:nvPr/>
        </p:nvSpPr>
        <p:spPr>
          <a:xfrm rot="0" flipH="0" flipV="0">
            <a:off x="8343900" y="2552700"/>
            <a:ext cx="3048000" cy="552450"/>
          </a:xfrm>
          <a:prstGeom prst="rect"/>
        </p:spPr>
        <p:txBody>
          <a:bodyPr wrap="square" lIns="0" tIns="0" rIns="0" bIns="0">
            <a:normAutofit/>
          </a:bodyPr>
          <a:p>
            <a:pPr>
              <a:lnSpc>
                <a:spcPct val="160000"/>
              </a:lnSpc>
            </a:pPr>
            <a:r>
              <a:rPr lang="zh-CN" sz="1125">
                <a:solidFill>
                  <a:srgbClr val="546779"/>
                </a:solidFill>
                <a:latin typeface="Microsoft YaHei"/>
                <a:ea typeface="Microsoft YaHei"/>
              </a:rPr>
              <a:t>预算耗尽，或者同一件事反复出现、没有新进展。</a:t>
            </a:r>
            <a:endParaRPr/>
          </a:p>
        </p:txBody>
      </p:sp>
      <p:sp>
        <p:nvSpPr>
          <p:cNvPr id="286" name=""/>
          <p:cNvSpPr/>
          <p:nvPr/>
        </p:nvSpPr>
        <p:spPr>
          <a:xfrm rot="0" flipH="0" flipV="0">
            <a:off x="8343900" y="4514850"/>
            <a:ext cx="3048000" cy="447675"/>
          </a:xfrm>
          <a:prstGeom prst="roundRect">
            <a:avLst>
              <a:gd name="adj" fmla="val 17021"/>
            </a:avLst>
          </a:prstGeom>
          <a:solidFill>
            <a:srgbClr val="FFFFFF"/>
          </a:solidFill>
          <a:ln/>
        </p:spPr>
        <p:txBody>
          <a:bodyPr/>
          <a:p/>
        </p:txBody>
      </p:sp>
      <p:sp>
        <p:nvSpPr>
          <p:cNvPr id="287" name="" descr="{&quot;isTemplate&quot;:true,&quot;type&quot;:&quot;text&quot;}"/>
          <p:cNvSpPr txBox="1"/>
          <p:nvPr/>
        </p:nvSpPr>
        <p:spPr>
          <a:xfrm rot="0" flipH="0" flipV="0">
            <a:off x="8477250" y="4610100"/>
            <a:ext cx="2781300" cy="257175"/>
          </a:xfrm>
          <a:prstGeom prst="rect"/>
        </p:spPr>
        <p:txBody>
          <a:bodyPr wrap="none" lIns="0" tIns="0" rIns="0" bIns="0"/>
          <a:p>
            <a:pPr>
              <a:lnSpc>
                <a:spcPct val="150000"/>
              </a:lnSpc>
            </a:pPr>
            <a:r>
              <a:rPr lang="zh-CN" sz="1125">
                <a:solidFill>
                  <a:srgbClr val="20344B"/>
                </a:solidFill>
                <a:latin typeface="Microsoft YaHei"/>
                <a:ea typeface="Microsoft YaHei"/>
              </a:rPr>
              <a:t>停止并保留原因，报告已完成的部分。</a:t>
            </a:r>
            <a:endParaRPr/>
          </a:p>
        </p:txBody>
      </p:sp>
      <p:sp>
        <p:nvSpPr>
          <p:cNvPr id="288" name=""/>
          <p:cNvSpPr/>
          <p:nvPr/>
        </p:nvSpPr>
        <p:spPr>
          <a:xfrm rot="0" flipH="0" flipV="0">
            <a:off x="609600" y="5324475"/>
            <a:ext cx="10972800" cy="800100"/>
          </a:xfrm>
          <a:prstGeom prst="roundRect">
            <a:avLst>
              <a:gd name="adj" fmla="val 11905"/>
            </a:avLst>
          </a:prstGeom>
          <a:solidFill>
            <a:srgbClr val="FFF4E6"/>
          </a:solidFill>
          <a:ln/>
        </p:spPr>
        <p:txBody>
          <a:bodyPr/>
          <a:p/>
        </p:txBody>
      </p:sp>
      <p:sp>
        <p:nvSpPr>
          <p:cNvPr id="289" name=""/>
          <p:cNvSpPr/>
          <p:nvPr/>
        </p:nvSpPr>
        <p:spPr>
          <a:xfrm rot="0" flipH="0" flipV="0">
            <a:off x="800100" y="5486400"/>
            <a:ext cx="38100" cy="476250"/>
          </a:xfrm>
          <a:prstGeom prst="rect">
            <a:avLst/>
          </a:prstGeom>
          <a:solidFill>
            <a:srgbClr val="CB6B28"/>
          </a:solidFill>
          <a:ln/>
        </p:spPr>
        <p:txBody>
          <a:bodyPr/>
          <a:p/>
        </p:txBody>
      </p:sp>
      <p:sp>
        <p:nvSpPr>
          <p:cNvPr id="290" name="" descr="{&quot;isTemplate&quot;:true,&quot;type&quot;:&quot;text&quot;}"/>
          <p:cNvSpPr txBox="1"/>
          <p:nvPr/>
        </p:nvSpPr>
        <p:spPr>
          <a:xfrm rot="0" flipH="0" flipV="0">
            <a:off x="990600" y="5600700"/>
            <a:ext cx="8105775" cy="257175"/>
          </a:xfrm>
          <a:prstGeom prst="rect"/>
        </p:spPr>
        <p:txBody>
          <a:bodyPr wrap="none" lIns="0" tIns="0" rIns="0" bIns="0"/>
          <a:p>
            <a:pPr>
              <a:lnSpc>
                <a:spcPct val="150000"/>
              </a:lnSpc>
            </a:pPr>
            <a:r>
              <a:rPr lang="zh-CN" sz="1125">
                <a:solidFill>
                  <a:srgbClr val="20344B"/>
                </a:solidFill>
                <a:latin typeface="Microsoft YaHei"/>
                <a:ea typeface="Microsoft YaHei"/>
              </a:rPr>
              <a:t>工具名必须来自允许列表；未知工具、无效</a:t>
            </a:r>
            <a:r>
              <a:rPr lang="en-US" sz="1125">
                <a:solidFill>
                  <a:srgbClr val="20344B"/>
                </a:solidFill>
                <a:latin typeface="Microsoft YaHei"/>
                <a:ea typeface="Microsoft YaHei"/>
              </a:rPr>
              <a:t xml:space="preserve"> JSON</a:t>
            </a:r>
            <a:r>
              <a:rPr lang="zh-CN" sz="1125">
                <a:solidFill>
                  <a:srgbClr val="20344B"/>
                </a:solidFill>
                <a:latin typeface="Microsoft YaHei"/>
                <a:ea typeface="Microsoft YaHei"/>
              </a:rPr>
              <a:t>、字段类型错误一律进入受控错误分支，不交给</a:t>
            </a:r>
            <a:r>
              <a:rPr lang="en-US" sz="1125">
                <a:solidFill>
                  <a:srgbClr val="20344B"/>
                </a:solidFill>
                <a:latin typeface="Microsoft YaHei"/>
                <a:ea typeface="Microsoft YaHei"/>
              </a:rPr>
              <a:t xml:space="preserve"> eval</a:t>
            </a:r>
            <a:r>
              <a:rPr lang="zh-CN" sz="1125">
                <a:solidFill>
                  <a:srgbClr val="20344B"/>
                </a:solidFill>
                <a:latin typeface="Microsoft YaHei"/>
                <a:ea typeface="Microsoft YaHei"/>
              </a:rPr>
              <a:t>、动态导入或任意</a:t>
            </a:r>
            <a:r>
              <a:rPr lang="en-US" sz="1125">
                <a:solidFill>
                  <a:srgbClr val="20344B"/>
                </a:solidFill>
                <a:latin typeface="Microsoft YaHei"/>
                <a:ea typeface="Microsoft YaHei"/>
              </a:rPr>
              <a:t xml:space="preserve"> Shell</a:t>
            </a:r>
            <a:r>
              <a:rPr lang="zh-CN" sz="1125">
                <a:solidFill>
                  <a:srgbClr val="20344B"/>
                </a:solidFill>
                <a:latin typeface="Microsoft YaHei"/>
                <a:ea typeface="Microsoft YaHei"/>
              </a:rPr>
              <a:t>。</a:t>
            </a:r>
            <a:endParaRPr/>
          </a:p>
        </p:txBody>
      </p:sp>
      <p:sp>
        <p:nvSpPr>
          <p:cNvPr id="291"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292"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19 / 26</a:t>
            </a:r>
            <a:endParaRPr/>
          </a:p>
        </p:txBody>
      </p:sp>
    </p:spTree>
  </p:cSld>
</p:sld>
</file>

<file path=ppt/slides/slide20.xml><?xml version="1.0" encoding="utf-8"?>
<p:sld xmlns:p="http://schemas.openxmlformats.org/presentationml/2006/main" xmlns:a="http://schemas.openxmlformats.org/drawingml/2006/main">
  <p:cSld>
    <p:spTree>
      <p:nvGrpSpPr>
        <p:cNvPr id="319" name="" descr="&lt;Slide notes={`把校验往前放，是这套保护里最重要的一条。&#10;&#10;收到工具请求，先不要执行，先做一次执行前检查：预算还剩多少、call_id 是否成对、参数是否在允许范围内、工具名字是否在允许列表里。检查走完，才分三路。&#10;&#10;可执行的，调用只读函数；可回传的输入错误，返回诊断；触发停止条件的，直接停下并保留原因。真正执行和受控错误，最后都会走到同一步：记录并回传。&#10;&#10;还有两条限制要单独说。教学上限是八轮模型响应、十六条进入处理的工具请求，计数在参数解析与执行前递增，不是成功执行的次数。同一个函数和同一组参数累计出现第三次，就在执行前拦下来，标记为未执行，这样两个工具交替重复也能被发现。`}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4　参数错误、工具失败与无进展&lt;/Text&gt;&#10;            &lt;Text style={{ fontSize: 34, fontWeight: 'bold', color: '#20344B' }}&gt;执行前校验与无进展阻断&lt;/Text&gt;&#10;        &lt;/Box&gt;&#10;    &lt;/Box&gt;&#10;&#10;    &lt;Box style={{ height: 540, flexDirection: 'column', justifyContent: 'center', gap: 16 }}&gt;&#10;&#10;        &lt;Box style={{ flexDirection: 'row', alignItems: 'center', gap: 16, background: '#FFF4E6', borderRadius: 10, padding: '0 20px', height: 56 }}&gt;&#10;            &lt;Box style={{ width: 4, height: 34, background: '#CB6B28' }} /&gt;&#10;            &lt;Text style={{ fontSize: 16, color: '#20344B' }}&gt;教学上限：8 轮模型响应、16 条工具请求，计数在执行前递增，非成功执行数。&lt;/Text&gt;&#10;        &lt;/Box&gt;&#10;&#10;        &lt;Box style={{ flexDirection: 'row', justifyContent: 'center' }}&gt;&#10;            &lt;Box style={{ width: 554, height: 96, background: '#EDF4FC', borderRadius: 8, padding: '12px 16px', flexDirection: 'column', gap: 4, justifyContent: 'center' }}&gt;&#10;                &lt;Text style={{ fontSize: 17, fontWeight: 'bold', color: '#276FBF' }}&gt;收到工具请求&lt;/Text&gt;&#10;                &lt;Text style={{ fontSize: 14, color: '#546779' }}&gt;名称与 JSON 参数&lt;/Text&gt;&#10;            &lt;/Box&gt;&#10;            &lt;Box style={{ width: 44, height: 96, justifyContent: 'center', alignItems: 'center' }}&gt;&lt;Text style={{ fontSize: 26, color: '#276FBF' }}&gt;›&lt;/Text&gt;&lt;/Box&gt;&#10;            &lt;Box style={{ width: 554, height: 96, background: '#EDF4FC', borderRadius: 8, padding: '12px 16px', flexDirection: 'column', gap: 4, justifyContent: 'center' }}&gt;&#10;                &lt;Text style={{ fontSize: 17, fontWeight: 'bold', color: '#276FBF' }}&gt;执行前检查&lt;/Text&gt;&#10;                &lt;Text style={{ fontSize: 14, color: '#546779' }}&gt;预算、call_id、参数与允许列表&lt;/Text&gt;&#10;            &lt;/Box&gt;&#10;        &lt;/Box&gt;&#10;&#10;        &lt;Box style={{ flexDirection: 'row', justifyContent: 'center' }}&gt;&#10;            &lt;Box style={{ width: 44, height: 26, justifyContent: 'center', alignItems: 'center' }}&gt;&lt;Text style={{ fontSize: 18, color: '#26816B' }}&gt;↓&lt;/Text&gt;&lt;/Box&gt;&#10;        &lt;/Box&gt;&#10;&#10;        &lt;Box style={{ flexDirection: 'row', justifyContent: 'center', gap: 24 }}&gt;&#10;            &lt;Box style={{ width: 360, height: 130, background: '#EDF4FC', borderRadius: 8, padding: '12px 16px', flexDirection: 'column', gap: 4, justifyContent: 'center' }}&gt;&#10;                &lt;Text style={{ fontSize: 13, color: '#546779' }}&gt;可执行&lt;/Text&gt;&#10;                &lt;Text style={{ fontSize: 17, fontWeight: 'bold', color: '#276FBF' }}&gt;符合执行条件&lt;/Text&gt;&#10;                &lt;Text style={{ fontSize: 14, color: '#546779', lineHeight: 1.5 }}&gt;调用只读函数&lt;/Text&gt;&#10;            &lt;/Box&gt;&#10;            &lt;Box style={{ width: 360, height: 130, background: '#FFF4E6', borderRadius: 8, padding: '12px 16px', flexDirection: 'column', gap: 4, justifyContent: 'center' }}&gt;&#10;                &lt;Text style={{ fontSize: 13, color: '#546779' }}&gt;可回传的输入错误&lt;/Text&gt;&#10;                &lt;Text style={{ fontSize: 17, fontWeight: 'bold', color: '#CB6B28' }}&gt;未知工具或非法参数&lt;/Text&gt;&#10;                &lt;Text style={{ fontSize: 14, color: '#546779', lineHeight: 1.5 }}&gt;拒绝任意执行，返回诊断&lt;/Text&gt;&#10;            &lt;/Box&gt;&#10;            &lt;Box style={{ width: 360, height: 130, background: '#FFF4E6', borderRadius: 8, padding: '12px 16px', flexDirection: 'column', gap: 4, justifyContent: 'center' }}&gt;&#10;                &lt;Text style={{ fontSize: 13, color: '#546779' }}&gt;停止条件&lt;/Text&gt;&#10;                &lt;Text style={{ fontSize: 17, fontWeight: 'bold', color: '#CB6B28' }}&gt;预算耗尽或无进展&lt;/Text&gt;&#10;                &lt;Text style={{ fontSize: 14, color: '#546779', lineHeight: 1.5 }}&gt;停止并保留原因&lt;/Text&gt;&#10;            &lt;/Box&gt;&#10;        &lt;/Box&gt;&#10;&#10;        &lt;Box style={{ flexDirection: 'row', justifyContent: 'center' }}&gt;&#10;            &lt;Box style={{ width: 1104, height: 72, background: '#ECF7F2', borderRadius: 10, justifyContent: 'center', alignItems: 'center' }}&gt;&#10;                &lt;Text style={{ fontSize: 16, fontWeight: 'bold', color: '#26816B' }}&gt;记录并回传：真实数据或受控错误&lt;/Text&gt;&#10;            &lt;/Box&gt;&#10;        &lt;/Box&gt;&#10;&#10;        &lt;Box style={{ flexDirection: 'row', justifyContent: 'center' }}&gt;&#10;            &lt;Box style={{ width: 1104, height: 64, background: '#FFF4E6', borderRadius: 10, justifyContent: 'center', alignItems: 'center' }}&gt;&#10;                &lt;Text style={{ fontSize: 16, fontWeight: 'bold', color: '#CB6B28' }}&gt;同一函数与参数累计第 3 次，在执行前拦截：not_executed&lt;/Text&gt;&#10;            &lt;/Box&gt;&#10;        &lt;/Box&gt;&#10;&#10;    &lt;/Box&gt;&#10;&#10;    &lt;Box style={{ height: 40, flexDirection: 'row', justifyContent: 'space-between', alignItems: 'center' }}&gt;&#10;        &lt;Text style={{ fontSize: 14, color: '#546779' }}&gt;2.5 Function Calling&lt;/Text&gt;&#10;        &lt;Text style={{ fontSize: 14, color: '#546779' }}&gt;20 / 26&lt;/Text&gt;&#10;    &lt;/Box&gt;&#10;&#10;&lt;/Slide&gt;&#10;"/>
        <p:cNvGrpSpPr/>
        <p:nvPr/>
      </p:nvGrpSpPr>
      <p:grpSpPr>
        <a:xfrm>
          <a:off x="0" y="0"/>
          <a:ext cx="0" cy="0"/>
          <a:chOff x="0" y="0"/>
          <a:chExt cx="0" cy="0"/>
        </a:xfrm>
      </p:grpSpPr>
      <p:sp>
        <p:nvSpPr>
          <p:cNvPr id="320" name=""/>
          <p:cNvSpPr/>
          <p:nvPr/>
        </p:nvSpPr>
        <p:spPr>
          <a:xfrm rot="0" flipH="0" flipV="0">
            <a:off x="0" y="0"/>
            <a:ext cx="12192000" cy="6858000"/>
          </a:xfrm>
          <a:prstGeom prst="rect">
            <a:avLst/>
          </a:prstGeom>
          <a:solidFill>
            <a:srgbClr val="FFFFFF"/>
          </a:solidFill>
          <a:ln/>
        </p:spPr>
        <p:txBody>
          <a:bodyPr/>
          <a:p/>
        </p:txBody>
      </p:sp>
      <p:sp>
        <p:nvSpPr>
          <p:cNvPr id="321" name=""/>
          <p:cNvSpPr/>
          <p:nvPr/>
        </p:nvSpPr>
        <p:spPr>
          <a:xfrm rot="0" flipH="0" flipV="0">
            <a:off x="609600" y="457200"/>
            <a:ext cx="38100" cy="419100"/>
          </a:xfrm>
          <a:prstGeom prst="rect">
            <a:avLst/>
          </a:prstGeom>
          <a:solidFill>
            <a:srgbClr val="276FBF"/>
          </a:solidFill>
          <a:ln/>
        </p:spPr>
        <p:txBody>
          <a:bodyPr/>
          <a:p/>
        </p:txBody>
      </p:sp>
      <p:sp>
        <p:nvSpPr>
          <p:cNvPr id="322" name="" descr="{&quot;isTemplate&quot;:true,&quot;type&quot;:&quot;text&quot;}"/>
          <p:cNvSpPr txBox="1"/>
          <p:nvPr/>
        </p:nvSpPr>
        <p:spPr>
          <a:xfrm rot="0" flipH="0" flipV="0">
            <a:off x="838200" y="371475"/>
            <a:ext cx="3562350" cy="161925"/>
          </a:xfrm>
          <a:prstGeom prst="rect"/>
        </p:spPr>
        <p:txBody>
          <a:bodyPr wrap="none" lIns="0" tIns="0" rIns="0" bIns="0"/>
          <a:p>
            <a:pPr>
              <a:lnSpc>
                <a:spcPct val="100000"/>
              </a:lnSpc>
            </a:pPr>
            <a:r>
              <a:rPr lang="en-US" sz="1050">
                <a:solidFill>
                  <a:srgbClr val="546779"/>
                </a:solidFill>
                <a:latin typeface="Microsoft YaHei"/>
                <a:ea typeface="Microsoft YaHei"/>
              </a:rPr>
              <a:t>2.5.4</a:t>
            </a:r>
            <a:r>
              <a:rPr lang="zh-CN" sz="1050">
                <a:solidFill>
                  <a:srgbClr val="546779"/>
                </a:solidFill>
                <a:latin typeface="Microsoft YaHei"/>
                <a:ea typeface="Microsoft YaHei"/>
              </a:rPr>
              <a:t>　参数错误、工具失败与无进展</a:t>
            </a:r>
            <a:endParaRPr/>
          </a:p>
        </p:txBody>
      </p:sp>
      <p:sp>
        <p:nvSpPr>
          <p:cNvPr id="323" name="" descr="{&quot;isTemplate&quot;:true,&quot;type&quot;:&quot;text&quot;}"/>
          <p:cNvSpPr txBox="1"/>
          <p:nvPr/>
        </p:nvSpPr>
        <p:spPr>
          <a:xfrm rot="0" flipH="0" flipV="0">
            <a:off x="838200" y="571500"/>
            <a:ext cx="3562350" cy="390525"/>
          </a:xfrm>
          <a:prstGeom prst="rect"/>
        </p:spPr>
        <p:txBody>
          <a:bodyPr wrap="none" lIns="0" tIns="0" rIns="0" bIns="0"/>
          <a:p>
            <a:pPr>
              <a:lnSpc>
                <a:spcPct val="100000"/>
              </a:lnSpc>
            </a:pPr>
            <a:r>
              <a:rPr lang="zh-CN" sz="2550" b="1">
                <a:solidFill>
                  <a:srgbClr val="20344B"/>
                </a:solidFill>
                <a:latin typeface="Microsoft YaHei"/>
                <a:ea typeface="Microsoft YaHei"/>
              </a:rPr>
              <a:t>执行前校验与无进展阻断</a:t>
            </a:r>
            <a:endParaRPr/>
          </a:p>
        </p:txBody>
      </p:sp>
      <p:sp>
        <p:nvSpPr>
          <p:cNvPr id="324" name=""/>
          <p:cNvSpPr/>
          <p:nvPr/>
        </p:nvSpPr>
        <p:spPr>
          <a:xfrm rot="0" flipH="0" flipV="0">
            <a:off x="609600" y="1219200"/>
            <a:ext cx="10972800" cy="533400"/>
          </a:xfrm>
          <a:prstGeom prst="roundRect">
            <a:avLst>
              <a:gd name="adj" fmla="val 17857"/>
            </a:avLst>
          </a:prstGeom>
          <a:solidFill>
            <a:srgbClr val="FFF4E6"/>
          </a:solidFill>
          <a:ln/>
        </p:spPr>
        <p:txBody>
          <a:bodyPr/>
          <a:p/>
        </p:txBody>
      </p:sp>
      <p:sp>
        <p:nvSpPr>
          <p:cNvPr id="325" name=""/>
          <p:cNvSpPr/>
          <p:nvPr/>
        </p:nvSpPr>
        <p:spPr>
          <a:xfrm rot="0" flipH="0" flipV="0">
            <a:off x="800100" y="1323975"/>
            <a:ext cx="38100" cy="323850"/>
          </a:xfrm>
          <a:prstGeom prst="rect">
            <a:avLst/>
          </a:prstGeom>
          <a:solidFill>
            <a:srgbClr val="CB6B28"/>
          </a:solidFill>
          <a:ln/>
        </p:spPr>
        <p:txBody>
          <a:bodyPr/>
          <a:p/>
        </p:txBody>
      </p:sp>
      <p:sp>
        <p:nvSpPr>
          <p:cNvPr id="326" name="" descr="{&quot;isTemplate&quot;:true,&quot;type&quot;:&quot;text&quot;}"/>
          <p:cNvSpPr txBox="1"/>
          <p:nvPr/>
        </p:nvSpPr>
        <p:spPr>
          <a:xfrm rot="0" flipH="0" flipV="0">
            <a:off x="990600" y="1390650"/>
            <a:ext cx="5391150" cy="190500"/>
          </a:xfrm>
          <a:prstGeom prst="rect"/>
        </p:spPr>
        <p:txBody>
          <a:bodyPr wrap="none" lIns="0" tIns="0" rIns="0" bIns="0"/>
          <a:p>
            <a:pPr>
              <a:lnSpc>
                <a:spcPct val="100000"/>
              </a:lnSpc>
            </a:pPr>
            <a:r>
              <a:rPr lang="zh-CN" sz="1200">
                <a:solidFill>
                  <a:srgbClr val="20344B"/>
                </a:solidFill>
                <a:latin typeface="Microsoft YaHei"/>
                <a:ea typeface="Microsoft YaHei"/>
              </a:rPr>
              <a:t>教学上限：</a:t>
            </a:r>
            <a:r>
              <a:rPr lang="en-US" sz="1200">
                <a:solidFill>
                  <a:srgbClr val="20344B"/>
                </a:solidFill>
                <a:latin typeface="Microsoft YaHei"/>
                <a:ea typeface="Microsoft YaHei"/>
              </a:rPr>
              <a:t xml:space="preserve">8 </a:t>
            </a:r>
            <a:r>
              <a:rPr lang="zh-CN" sz="1200">
                <a:solidFill>
                  <a:srgbClr val="20344B"/>
                </a:solidFill>
                <a:latin typeface="Microsoft YaHei"/>
                <a:ea typeface="Microsoft YaHei"/>
              </a:rPr>
              <a:t>轮模型响应、</a:t>
            </a:r>
            <a:r>
              <a:rPr lang="en-US" sz="1200">
                <a:solidFill>
                  <a:srgbClr val="20344B"/>
                </a:solidFill>
                <a:latin typeface="Microsoft YaHei"/>
                <a:ea typeface="Microsoft YaHei"/>
              </a:rPr>
              <a:t xml:space="preserve">16 </a:t>
            </a:r>
            <a:r>
              <a:rPr lang="zh-CN" sz="1200">
                <a:solidFill>
                  <a:srgbClr val="20344B"/>
                </a:solidFill>
                <a:latin typeface="Microsoft YaHei"/>
                <a:ea typeface="Microsoft YaHei"/>
              </a:rPr>
              <a:t>条工具请求，计数在执行前递增，非成功执行数。</a:t>
            </a:r>
            <a:endParaRPr/>
          </a:p>
        </p:txBody>
      </p:sp>
      <p:sp>
        <p:nvSpPr>
          <p:cNvPr id="327" name=""/>
          <p:cNvSpPr/>
          <p:nvPr/>
        </p:nvSpPr>
        <p:spPr>
          <a:xfrm rot="0" flipH="0" flipV="0">
            <a:off x="609600" y="1905000"/>
            <a:ext cx="5276850" cy="914400"/>
          </a:xfrm>
          <a:prstGeom prst="roundRect">
            <a:avLst>
              <a:gd name="adj" fmla="val 8333"/>
            </a:avLst>
          </a:prstGeom>
          <a:solidFill>
            <a:srgbClr val="EDF4FC"/>
          </a:solidFill>
          <a:ln/>
        </p:spPr>
        <p:txBody>
          <a:bodyPr/>
          <a:p/>
        </p:txBody>
      </p:sp>
      <p:sp>
        <p:nvSpPr>
          <p:cNvPr id="328" name="" descr="{&quot;isTemplate&quot;:true,&quot;type&quot;:&quot;text&quot;}"/>
          <p:cNvSpPr txBox="1"/>
          <p:nvPr/>
        </p:nvSpPr>
        <p:spPr>
          <a:xfrm rot="0" flipH="0" flipV="0">
            <a:off x="762000" y="2162175"/>
            <a:ext cx="4972050" cy="200025"/>
          </a:xfrm>
          <a:prstGeom prst="rect"/>
        </p:spPr>
        <p:txBody>
          <a:bodyPr wrap="none" lIns="0" tIns="0" rIns="0" bIns="0"/>
          <a:p>
            <a:pPr>
              <a:lnSpc>
                <a:spcPct val="100000"/>
              </a:lnSpc>
            </a:pPr>
            <a:r>
              <a:rPr lang="zh-CN" sz="1275" b="1">
                <a:solidFill>
                  <a:srgbClr val="276FBF"/>
                </a:solidFill>
                <a:latin typeface="Microsoft YaHei"/>
                <a:ea typeface="Microsoft YaHei"/>
              </a:rPr>
              <a:t>收到工具请求</a:t>
            </a:r>
            <a:endParaRPr/>
          </a:p>
        </p:txBody>
      </p:sp>
      <p:sp>
        <p:nvSpPr>
          <p:cNvPr id="329" name="" descr="{&quot;isTemplate&quot;:true,&quot;type&quot;:&quot;text&quot;}"/>
          <p:cNvSpPr txBox="1"/>
          <p:nvPr/>
        </p:nvSpPr>
        <p:spPr>
          <a:xfrm rot="0" flipH="0" flipV="0">
            <a:off x="762000" y="2400300"/>
            <a:ext cx="4972050" cy="161925"/>
          </a:xfrm>
          <a:prstGeom prst="rect"/>
        </p:spPr>
        <p:txBody>
          <a:bodyPr wrap="none" lIns="0" tIns="0" rIns="0" bIns="0"/>
          <a:p>
            <a:pPr>
              <a:lnSpc>
                <a:spcPct val="100000"/>
              </a:lnSpc>
            </a:pPr>
            <a:r>
              <a:rPr lang="zh-CN" sz="1050">
                <a:solidFill>
                  <a:srgbClr val="546779"/>
                </a:solidFill>
                <a:latin typeface="Microsoft YaHei"/>
                <a:ea typeface="Microsoft YaHei"/>
              </a:rPr>
              <a:t>名称与</a:t>
            </a:r>
            <a:r>
              <a:rPr lang="en-US" sz="1050">
                <a:solidFill>
                  <a:srgbClr val="546779"/>
                </a:solidFill>
                <a:latin typeface="Microsoft YaHei"/>
                <a:ea typeface="Microsoft YaHei"/>
              </a:rPr>
              <a:t xml:space="preserve"> JSON </a:t>
            </a:r>
            <a:r>
              <a:rPr lang="zh-CN" sz="1050">
                <a:solidFill>
                  <a:srgbClr val="546779"/>
                </a:solidFill>
                <a:latin typeface="Microsoft YaHei"/>
                <a:ea typeface="Microsoft YaHei"/>
              </a:rPr>
              <a:t>参数</a:t>
            </a:r>
            <a:endParaRPr/>
          </a:p>
        </p:txBody>
      </p:sp>
      <p:sp>
        <p:nvSpPr>
          <p:cNvPr id="330" name="" descr="{&quot;isTemplate&quot;:true,&quot;type&quot;:&quot;text&quot;}"/>
          <p:cNvSpPr txBox="1"/>
          <p:nvPr/>
        </p:nvSpPr>
        <p:spPr>
          <a:xfrm rot="0" flipH="0" flipV="0">
            <a:off x="6057900" y="2209800"/>
            <a:ext cx="85725" cy="304800"/>
          </a:xfrm>
          <a:prstGeom prst="rect"/>
        </p:spPr>
        <p:txBody>
          <a:bodyPr wrap="none" lIns="0" tIns="0" rIns="0" bIns="0"/>
          <a:p>
            <a:pPr>
              <a:lnSpc>
                <a:spcPct val="100000"/>
              </a:lnSpc>
            </a:pPr>
            <a:r>
              <a:rPr sz="1950">
                <a:solidFill>
                  <a:srgbClr val="276FBF"/>
                </a:solidFill>
                <a:latin typeface="Microsoft YaHei"/>
                <a:ea typeface="Microsoft YaHei"/>
              </a:rPr>
              <a:t>›</a:t>
            </a:r>
            <a:endParaRPr/>
          </a:p>
        </p:txBody>
      </p:sp>
      <p:sp>
        <p:nvSpPr>
          <p:cNvPr id="331" name=""/>
          <p:cNvSpPr/>
          <p:nvPr/>
        </p:nvSpPr>
        <p:spPr>
          <a:xfrm rot="0" flipH="0" flipV="0">
            <a:off x="6305550" y="1905000"/>
            <a:ext cx="5276850" cy="914400"/>
          </a:xfrm>
          <a:prstGeom prst="roundRect">
            <a:avLst>
              <a:gd name="adj" fmla="val 8333"/>
            </a:avLst>
          </a:prstGeom>
          <a:solidFill>
            <a:srgbClr val="EDF4FC"/>
          </a:solidFill>
          <a:ln/>
        </p:spPr>
        <p:txBody>
          <a:bodyPr/>
          <a:p/>
        </p:txBody>
      </p:sp>
      <p:sp>
        <p:nvSpPr>
          <p:cNvPr id="332" name="" descr="{&quot;isTemplate&quot;:true,&quot;type&quot;:&quot;text&quot;}"/>
          <p:cNvSpPr txBox="1"/>
          <p:nvPr/>
        </p:nvSpPr>
        <p:spPr>
          <a:xfrm rot="0" flipH="0" flipV="0">
            <a:off x="6457950" y="2162175"/>
            <a:ext cx="4972050" cy="200025"/>
          </a:xfrm>
          <a:prstGeom prst="rect"/>
        </p:spPr>
        <p:txBody>
          <a:bodyPr wrap="none" lIns="0" tIns="0" rIns="0" bIns="0"/>
          <a:p>
            <a:pPr>
              <a:lnSpc>
                <a:spcPct val="100000"/>
              </a:lnSpc>
            </a:pPr>
            <a:r>
              <a:rPr lang="zh-CN" sz="1275" b="1">
                <a:solidFill>
                  <a:srgbClr val="276FBF"/>
                </a:solidFill>
                <a:latin typeface="Microsoft YaHei"/>
                <a:ea typeface="Microsoft YaHei"/>
              </a:rPr>
              <a:t>执行前检查</a:t>
            </a:r>
            <a:endParaRPr/>
          </a:p>
        </p:txBody>
      </p:sp>
      <p:sp>
        <p:nvSpPr>
          <p:cNvPr id="333" name="" descr="{&quot;isTemplate&quot;:true,&quot;type&quot;:&quot;text&quot;}"/>
          <p:cNvSpPr txBox="1"/>
          <p:nvPr/>
        </p:nvSpPr>
        <p:spPr>
          <a:xfrm rot="0" flipH="0" flipV="0">
            <a:off x="6457950" y="2400300"/>
            <a:ext cx="4972050" cy="161925"/>
          </a:xfrm>
          <a:prstGeom prst="rect"/>
        </p:spPr>
        <p:txBody>
          <a:bodyPr wrap="none" lIns="0" tIns="0" rIns="0" bIns="0"/>
          <a:p>
            <a:pPr>
              <a:lnSpc>
                <a:spcPct val="100000"/>
              </a:lnSpc>
            </a:pPr>
            <a:r>
              <a:rPr lang="zh-CN" sz="1050">
                <a:solidFill>
                  <a:srgbClr val="546779"/>
                </a:solidFill>
                <a:latin typeface="Microsoft YaHei"/>
                <a:ea typeface="Microsoft YaHei"/>
              </a:rPr>
              <a:t>预算、</a:t>
            </a:r>
            <a:r>
              <a:rPr lang="en-US" sz="1050">
                <a:solidFill>
                  <a:srgbClr val="546779"/>
                </a:solidFill>
                <a:latin typeface="Microsoft YaHei"/>
                <a:ea typeface="Microsoft YaHei"/>
              </a:rPr>
              <a:t>call_id</a:t>
            </a:r>
            <a:r>
              <a:rPr lang="zh-CN" sz="1050">
                <a:solidFill>
                  <a:srgbClr val="546779"/>
                </a:solidFill>
                <a:latin typeface="Microsoft YaHei"/>
                <a:ea typeface="Microsoft YaHei"/>
              </a:rPr>
              <a:t>、参数与允许列表</a:t>
            </a:r>
            <a:endParaRPr/>
          </a:p>
        </p:txBody>
      </p:sp>
      <p:sp>
        <p:nvSpPr>
          <p:cNvPr id="334" name="" descr="{&quot;isTemplate&quot;:true,&quot;type&quot;:&quot;text&quot;}"/>
          <p:cNvSpPr txBox="1"/>
          <p:nvPr/>
        </p:nvSpPr>
        <p:spPr>
          <a:xfrm rot="0" flipH="0" flipV="0">
            <a:off x="6057900" y="2990850"/>
            <a:ext cx="85725" cy="209550"/>
          </a:xfrm>
          <a:prstGeom prst="rect"/>
        </p:spPr>
        <p:txBody>
          <a:bodyPr wrap="none" lIns="0" tIns="0" rIns="0" bIns="0"/>
          <a:p>
            <a:pPr>
              <a:lnSpc>
                <a:spcPct val="100000"/>
              </a:lnSpc>
            </a:pPr>
            <a:r>
              <a:rPr sz="1350">
                <a:solidFill>
                  <a:srgbClr val="26816B"/>
                </a:solidFill>
                <a:latin typeface="Microsoft YaHei"/>
                <a:ea typeface="Microsoft YaHei"/>
              </a:rPr>
              <a:t>↓</a:t>
            </a:r>
            <a:endParaRPr/>
          </a:p>
        </p:txBody>
      </p:sp>
      <p:sp>
        <p:nvSpPr>
          <p:cNvPr id="335" name=""/>
          <p:cNvSpPr/>
          <p:nvPr/>
        </p:nvSpPr>
        <p:spPr>
          <a:xfrm rot="0" flipH="0" flipV="0">
            <a:off x="723900" y="3371850"/>
            <a:ext cx="3429000" cy="1238250"/>
          </a:xfrm>
          <a:prstGeom prst="roundRect">
            <a:avLst>
              <a:gd name="adj" fmla="val 6154"/>
            </a:avLst>
          </a:prstGeom>
          <a:solidFill>
            <a:srgbClr val="EDF4FC"/>
          </a:solidFill>
          <a:ln/>
        </p:spPr>
        <p:txBody>
          <a:bodyPr/>
          <a:p/>
        </p:txBody>
      </p:sp>
      <p:sp>
        <p:nvSpPr>
          <p:cNvPr id="336" name="" descr="{&quot;isTemplate&quot;:true,&quot;type&quot;:&quot;text&quot;}"/>
          <p:cNvSpPr txBox="1"/>
          <p:nvPr/>
        </p:nvSpPr>
        <p:spPr>
          <a:xfrm rot="0" flipH="0" flipV="0">
            <a:off x="876300" y="3657600"/>
            <a:ext cx="3124200" cy="152400"/>
          </a:xfrm>
          <a:prstGeom prst="rect"/>
        </p:spPr>
        <p:txBody>
          <a:bodyPr wrap="none" lIns="0" tIns="0" rIns="0" bIns="0"/>
          <a:p>
            <a:pPr>
              <a:lnSpc>
                <a:spcPct val="100000"/>
              </a:lnSpc>
            </a:pPr>
            <a:r>
              <a:rPr lang="zh-CN" sz="975">
                <a:solidFill>
                  <a:srgbClr val="546779"/>
                </a:solidFill>
                <a:latin typeface="Microsoft YaHei"/>
                <a:ea typeface="Microsoft YaHei"/>
              </a:rPr>
              <a:t>可执行</a:t>
            </a:r>
            <a:endParaRPr/>
          </a:p>
        </p:txBody>
      </p:sp>
      <p:sp>
        <p:nvSpPr>
          <p:cNvPr id="337" name="" descr="{&quot;isTemplate&quot;:true,&quot;type&quot;:&quot;text&quot;}"/>
          <p:cNvSpPr txBox="1"/>
          <p:nvPr/>
        </p:nvSpPr>
        <p:spPr>
          <a:xfrm rot="0" flipH="0" flipV="0">
            <a:off x="876300" y="3848100"/>
            <a:ext cx="3124200" cy="200025"/>
          </a:xfrm>
          <a:prstGeom prst="rect"/>
        </p:spPr>
        <p:txBody>
          <a:bodyPr wrap="none" lIns="0" tIns="0" rIns="0" bIns="0"/>
          <a:p>
            <a:pPr>
              <a:lnSpc>
                <a:spcPct val="100000"/>
              </a:lnSpc>
            </a:pPr>
            <a:r>
              <a:rPr lang="zh-CN" sz="1275" b="1">
                <a:solidFill>
                  <a:srgbClr val="276FBF"/>
                </a:solidFill>
                <a:latin typeface="Microsoft YaHei"/>
                <a:ea typeface="Microsoft YaHei"/>
              </a:rPr>
              <a:t>符合执行条件</a:t>
            </a:r>
            <a:endParaRPr/>
          </a:p>
        </p:txBody>
      </p:sp>
      <p:sp>
        <p:nvSpPr>
          <p:cNvPr id="338" name="" descr="{&quot;isTemplate&quot;:true,&quot;type&quot;:&quot;text&quot;}"/>
          <p:cNvSpPr txBox="1"/>
          <p:nvPr/>
        </p:nvSpPr>
        <p:spPr>
          <a:xfrm rot="0" flipH="0" flipV="0">
            <a:off x="876300" y="4086225"/>
            <a:ext cx="3124200" cy="247650"/>
          </a:xfrm>
          <a:prstGeom prst="rect"/>
        </p:spPr>
        <p:txBody>
          <a:bodyPr wrap="none" lIns="0" tIns="0" rIns="0" bIns="0"/>
          <a:p>
            <a:pPr>
              <a:lnSpc>
                <a:spcPct val="150000"/>
              </a:lnSpc>
            </a:pPr>
            <a:r>
              <a:rPr lang="zh-CN" sz="1050">
                <a:solidFill>
                  <a:srgbClr val="546779"/>
                </a:solidFill>
                <a:latin typeface="Microsoft YaHei"/>
                <a:ea typeface="Microsoft YaHei"/>
              </a:rPr>
              <a:t>调用只读函数</a:t>
            </a:r>
            <a:endParaRPr/>
          </a:p>
        </p:txBody>
      </p:sp>
      <p:sp>
        <p:nvSpPr>
          <p:cNvPr id="339" name=""/>
          <p:cNvSpPr/>
          <p:nvPr/>
        </p:nvSpPr>
        <p:spPr>
          <a:xfrm rot="0" flipH="0" flipV="0">
            <a:off x="4381500" y="3371850"/>
            <a:ext cx="3429000" cy="1238250"/>
          </a:xfrm>
          <a:prstGeom prst="roundRect">
            <a:avLst>
              <a:gd name="adj" fmla="val 6154"/>
            </a:avLst>
          </a:prstGeom>
          <a:solidFill>
            <a:srgbClr val="FFF4E6"/>
          </a:solidFill>
          <a:ln/>
        </p:spPr>
        <p:txBody>
          <a:bodyPr/>
          <a:p/>
        </p:txBody>
      </p:sp>
      <p:sp>
        <p:nvSpPr>
          <p:cNvPr id="340" name="" descr="{&quot;isTemplate&quot;:true,&quot;type&quot;:&quot;text&quot;}"/>
          <p:cNvSpPr txBox="1"/>
          <p:nvPr/>
        </p:nvSpPr>
        <p:spPr>
          <a:xfrm rot="0" flipH="0" flipV="0">
            <a:off x="4533900" y="3657600"/>
            <a:ext cx="3124200" cy="152400"/>
          </a:xfrm>
          <a:prstGeom prst="rect"/>
        </p:spPr>
        <p:txBody>
          <a:bodyPr wrap="none" lIns="0" tIns="0" rIns="0" bIns="0"/>
          <a:p>
            <a:pPr>
              <a:lnSpc>
                <a:spcPct val="100000"/>
              </a:lnSpc>
            </a:pPr>
            <a:r>
              <a:rPr lang="zh-CN" sz="975">
                <a:solidFill>
                  <a:srgbClr val="546779"/>
                </a:solidFill>
                <a:latin typeface="Microsoft YaHei"/>
                <a:ea typeface="Microsoft YaHei"/>
              </a:rPr>
              <a:t>可回传的输入错误</a:t>
            </a:r>
            <a:endParaRPr/>
          </a:p>
        </p:txBody>
      </p:sp>
      <p:sp>
        <p:nvSpPr>
          <p:cNvPr id="341" name="" descr="{&quot;isTemplate&quot;:true,&quot;type&quot;:&quot;text&quot;}"/>
          <p:cNvSpPr txBox="1"/>
          <p:nvPr/>
        </p:nvSpPr>
        <p:spPr>
          <a:xfrm rot="0" flipH="0" flipV="0">
            <a:off x="4533900" y="3848100"/>
            <a:ext cx="3124200" cy="200025"/>
          </a:xfrm>
          <a:prstGeom prst="rect"/>
        </p:spPr>
        <p:txBody>
          <a:bodyPr wrap="none" lIns="0" tIns="0" rIns="0" bIns="0"/>
          <a:p>
            <a:pPr>
              <a:lnSpc>
                <a:spcPct val="100000"/>
              </a:lnSpc>
            </a:pPr>
            <a:r>
              <a:rPr lang="zh-CN" sz="1275" b="1">
                <a:solidFill>
                  <a:srgbClr val="CB6B28"/>
                </a:solidFill>
                <a:latin typeface="Microsoft YaHei"/>
                <a:ea typeface="Microsoft YaHei"/>
              </a:rPr>
              <a:t>未知工具或非法参数</a:t>
            </a:r>
            <a:endParaRPr/>
          </a:p>
        </p:txBody>
      </p:sp>
      <p:sp>
        <p:nvSpPr>
          <p:cNvPr id="342" name="" descr="{&quot;isTemplate&quot;:true,&quot;type&quot;:&quot;text&quot;}"/>
          <p:cNvSpPr txBox="1"/>
          <p:nvPr/>
        </p:nvSpPr>
        <p:spPr>
          <a:xfrm rot="0" flipH="0" flipV="0">
            <a:off x="4533900" y="4086225"/>
            <a:ext cx="3124200" cy="247650"/>
          </a:xfrm>
          <a:prstGeom prst="rect"/>
        </p:spPr>
        <p:txBody>
          <a:bodyPr wrap="none" lIns="0" tIns="0" rIns="0" bIns="0"/>
          <a:p>
            <a:pPr>
              <a:lnSpc>
                <a:spcPct val="150000"/>
              </a:lnSpc>
            </a:pPr>
            <a:r>
              <a:rPr lang="zh-CN" sz="1050">
                <a:solidFill>
                  <a:srgbClr val="546779"/>
                </a:solidFill>
                <a:latin typeface="Microsoft YaHei"/>
                <a:ea typeface="Microsoft YaHei"/>
              </a:rPr>
              <a:t>拒绝任意执行，返回诊断</a:t>
            </a:r>
            <a:endParaRPr/>
          </a:p>
        </p:txBody>
      </p:sp>
      <p:sp>
        <p:nvSpPr>
          <p:cNvPr id="343" name=""/>
          <p:cNvSpPr/>
          <p:nvPr/>
        </p:nvSpPr>
        <p:spPr>
          <a:xfrm rot="0" flipH="0" flipV="0">
            <a:off x="8039100" y="3371850"/>
            <a:ext cx="3429000" cy="1238250"/>
          </a:xfrm>
          <a:prstGeom prst="roundRect">
            <a:avLst>
              <a:gd name="adj" fmla="val 6154"/>
            </a:avLst>
          </a:prstGeom>
          <a:solidFill>
            <a:srgbClr val="FFF4E6"/>
          </a:solidFill>
          <a:ln/>
        </p:spPr>
        <p:txBody>
          <a:bodyPr/>
          <a:p/>
        </p:txBody>
      </p:sp>
      <p:sp>
        <p:nvSpPr>
          <p:cNvPr id="344" name="" descr="{&quot;isTemplate&quot;:true,&quot;type&quot;:&quot;text&quot;}"/>
          <p:cNvSpPr txBox="1"/>
          <p:nvPr/>
        </p:nvSpPr>
        <p:spPr>
          <a:xfrm rot="0" flipH="0" flipV="0">
            <a:off x="8191500" y="3657600"/>
            <a:ext cx="3124200" cy="152400"/>
          </a:xfrm>
          <a:prstGeom prst="rect"/>
        </p:spPr>
        <p:txBody>
          <a:bodyPr wrap="none" lIns="0" tIns="0" rIns="0" bIns="0"/>
          <a:p>
            <a:pPr>
              <a:lnSpc>
                <a:spcPct val="100000"/>
              </a:lnSpc>
            </a:pPr>
            <a:r>
              <a:rPr lang="zh-CN" sz="975">
                <a:solidFill>
                  <a:srgbClr val="546779"/>
                </a:solidFill>
                <a:latin typeface="Microsoft YaHei"/>
                <a:ea typeface="Microsoft YaHei"/>
              </a:rPr>
              <a:t>停止条件</a:t>
            </a:r>
            <a:endParaRPr/>
          </a:p>
        </p:txBody>
      </p:sp>
      <p:sp>
        <p:nvSpPr>
          <p:cNvPr id="345" name="" descr="{&quot;isTemplate&quot;:true,&quot;type&quot;:&quot;text&quot;}"/>
          <p:cNvSpPr txBox="1"/>
          <p:nvPr/>
        </p:nvSpPr>
        <p:spPr>
          <a:xfrm rot="0" flipH="0" flipV="0">
            <a:off x="8191500" y="3848100"/>
            <a:ext cx="3124200" cy="200025"/>
          </a:xfrm>
          <a:prstGeom prst="rect"/>
        </p:spPr>
        <p:txBody>
          <a:bodyPr wrap="none" lIns="0" tIns="0" rIns="0" bIns="0"/>
          <a:p>
            <a:pPr>
              <a:lnSpc>
                <a:spcPct val="100000"/>
              </a:lnSpc>
            </a:pPr>
            <a:r>
              <a:rPr lang="zh-CN" sz="1275" b="1">
                <a:solidFill>
                  <a:srgbClr val="CB6B28"/>
                </a:solidFill>
                <a:latin typeface="Microsoft YaHei"/>
                <a:ea typeface="Microsoft YaHei"/>
              </a:rPr>
              <a:t>预算耗尽或无进展</a:t>
            </a:r>
            <a:endParaRPr/>
          </a:p>
        </p:txBody>
      </p:sp>
      <p:sp>
        <p:nvSpPr>
          <p:cNvPr id="346" name="" descr="{&quot;isTemplate&quot;:true,&quot;type&quot;:&quot;text&quot;}"/>
          <p:cNvSpPr txBox="1"/>
          <p:nvPr/>
        </p:nvSpPr>
        <p:spPr>
          <a:xfrm rot="0" flipH="0" flipV="0">
            <a:off x="8191500" y="4086225"/>
            <a:ext cx="3124200" cy="247650"/>
          </a:xfrm>
          <a:prstGeom prst="rect"/>
        </p:spPr>
        <p:txBody>
          <a:bodyPr wrap="none" lIns="0" tIns="0" rIns="0" bIns="0"/>
          <a:p>
            <a:pPr>
              <a:lnSpc>
                <a:spcPct val="150000"/>
              </a:lnSpc>
            </a:pPr>
            <a:r>
              <a:rPr lang="zh-CN" sz="1050">
                <a:solidFill>
                  <a:srgbClr val="546779"/>
                </a:solidFill>
                <a:latin typeface="Microsoft YaHei"/>
                <a:ea typeface="Microsoft YaHei"/>
              </a:rPr>
              <a:t>停止并保留原因</a:t>
            </a:r>
            <a:endParaRPr/>
          </a:p>
        </p:txBody>
      </p:sp>
      <p:sp>
        <p:nvSpPr>
          <p:cNvPr id="347" name=""/>
          <p:cNvSpPr/>
          <p:nvPr/>
        </p:nvSpPr>
        <p:spPr>
          <a:xfrm rot="0" flipH="0" flipV="0">
            <a:off x="838200" y="4762500"/>
            <a:ext cx="10515600" cy="685800"/>
          </a:xfrm>
          <a:prstGeom prst="roundRect">
            <a:avLst>
              <a:gd name="adj" fmla="val 13889"/>
            </a:avLst>
          </a:prstGeom>
          <a:solidFill>
            <a:srgbClr val="ECF7F2"/>
          </a:solidFill>
          <a:ln/>
        </p:spPr>
        <p:txBody>
          <a:bodyPr/>
          <a:p/>
        </p:txBody>
      </p:sp>
      <p:sp>
        <p:nvSpPr>
          <p:cNvPr id="348" name="" descr="{&quot;isTemplate&quot;:true,&quot;type&quot;:&quot;text&quot;}"/>
          <p:cNvSpPr txBox="1"/>
          <p:nvPr/>
        </p:nvSpPr>
        <p:spPr>
          <a:xfrm rot="0" flipH="0" flipV="0">
            <a:off x="4953000" y="5010150"/>
            <a:ext cx="2286000" cy="190500"/>
          </a:xfrm>
          <a:prstGeom prst="rect"/>
        </p:spPr>
        <p:txBody>
          <a:bodyPr wrap="none" lIns="0" tIns="0" rIns="0" bIns="0"/>
          <a:p>
            <a:pPr>
              <a:lnSpc>
                <a:spcPct val="100000"/>
              </a:lnSpc>
            </a:pPr>
            <a:r>
              <a:rPr lang="zh-CN" sz="1200" b="1">
                <a:solidFill>
                  <a:srgbClr val="26816B"/>
                </a:solidFill>
                <a:latin typeface="Microsoft YaHei"/>
                <a:ea typeface="Microsoft YaHei"/>
              </a:rPr>
              <a:t>记录并回传：真实数据或受控错误</a:t>
            </a:r>
            <a:endParaRPr/>
          </a:p>
        </p:txBody>
      </p:sp>
      <p:sp>
        <p:nvSpPr>
          <p:cNvPr id="349" name=""/>
          <p:cNvSpPr/>
          <p:nvPr/>
        </p:nvSpPr>
        <p:spPr>
          <a:xfrm rot="0" flipH="0" flipV="0">
            <a:off x="838200" y="5600700"/>
            <a:ext cx="10515600" cy="609600"/>
          </a:xfrm>
          <a:prstGeom prst="roundRect">
            <a:avLst>
              <a:gd name="adj" fmla="val 15625"/>
            </a:avLst>
          </a:prstGeom>
          <a:solidFill>
            <a:srgbClr val="FFF4E6"/>
          </a:solidFill>
          <a:ln/>
        </p:spPr>
        <p:txBody>
          <a:bodyPr/>
          <a:p/>
        </p:txBody>
      </p:sp>
      <p:sp>
        <p:nvSpPr>
          <p:cNvPr id="350" name="" descr="{&quot;isTemplate&quot;:true,&quot;type&quot;:&quot;text&quot;}"/>
          <p:cNvSpPr txBox="1"/>
          <p:nvPr/>
        </p:nvSpPr>
        <p:spPr>
          <a:xfrm rot="0" flipH="0" flipV="0">
            <a:off x="4048125" y="5810250"/>
            <a:ext cx="4105275" cy="190500"/>
          </a:xfrm>
          <a:prstGeom prst="rect"/>
        </p:spPr>
        <p:txBody>
          <a:bodyPr wrap="none" lIns="0" tIns="0" rIns="0" bIns="0"/>
          <a:p>
            <a:pPr>
              <a:lnSpc>
                <a:spcPct val="100000"/>
              </a:lnSpc>
            </a:pPr>
            <a:r>
              <a:rPr lang="zh-CN" sz="1200" b="1">
                <a:solidFill>
                  <a:srgbClr val="CB6B28"/>
                </a:solidFill>
                <a:latin typeface="Microsoft YaHei"/>
                <a:ea typeface="Microsoft YaHei"/>
              </a:rPr>
              <a:t>同一函数与参数累计第</a:t>
            </a:r>
            <a:r>
              <a:rPr lang="en-US" sz="1200" b="1">
                <a:solidFill>
                  <a:srgbClr val="CB6B28"/>
                </a:solidFill>
                <a:latin typeface="Microsoft YaHei"/>
                <a:ea typeface="Microsoft YaHei"/>
              </a:rPr>
              <a:t xml:space="preserve"> 3 </a:t>
            </a:r>
            <a:r>
              <a:rPr lang="zh-CN" sz="1200" b="1">
                <a:solidFill>
                  <a:srgbClr val="CB6B28"/>
                </a:solidFill>
                <a:latin typeface="Microsoft YaHei"/>
                <a:ea typeface="Microsoft YaHei"/>
              </a:rPr>
              <a:t>次，在执行前拦截：</a:t>
            </a:r>
            <a:r>
              <a:rPr lang="en-US" sz="1200" b="1">
                <a:solidFill>
                  <a:srgbClr val="CB6B28"/>
                </a:solidFill>
                <a:latin typeface="Microsoft YaHei"/>
                <a:ea typeface="Microsoft YaHei"/>
              </a:rPr>
              <a:t>not_executed</a:t>
            </a:r>
            <a:endParaRPr/>
          </a:p>
        </p:txBody>
      </p:sp>
      <p:sp>
        <p:nvSpPr>
          <p:cNvPr id="351"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352"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20 / 26</a:t>
            </a:r>
            <a:endParaRPr/>
          </a:p>
        </p:txBody>
      </p:sp>
    </p:spTree>
  </p:cSld>
</p:sld>
</file>

<file path=ppt/slides/slide21.xml><?xml version="1.0" encoding="utf-8"?>
<p:sld xmlns:p="http://schemas.openxmlformats.org/presentationml/2006/main" xmlns:a="http://schemas.openxmlformats.org/drawingml/2006/main">
  <p:cSld>
    <p:spTree>
      <p:nvGrpSpPr>
        <p:cNvPr id="353" name="" descr="&lt;Slide notes={`工具失败的时候，返回什么，比返回得漂不漂亮重要得多。&#10;&#10;这里有两种&quot;空&quot;，一定要分开。第一种是&quot;该日期没有预约&quot;：查询正常执行了，范围内的确没有记录，返回一个空列表是对的。第二种是&quot;这个日期不在本教学数据支持的范围内&quot;：这次查询根本没有做成，它是一个失败，必须返回明确的错误类别。&#10;&#10;为什么要较真？因为如果两种情况都返回空列表，模型看到的结果一模一样，它就有很大概率把&quot;查不了&quot;读成&quot;没有预约&quot;，然后给出一个看起来很合理、实际上没有依据的方案。&#10;&#10;所以工具失败要返回错误类别，不要返回空列表。这也是为什么我们在前面强调参数里要写枚举、执行端要检查范围。`}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4　参数错误、工具失败与无进展&lt;/Text&gt;&#10;            &lt;Text style={{ fontSize: 34, fontWeight: 'bold', color: '#20344B' }}&gt;两种&quot;空&quot;必须分开&lt;/Text&gt;&#10;        &lt;/Box&gt;&#10;    &lt;/Box&gt;&#10;&#10;    &lt;Box style={{ height: 540, flexDirection: 'column', justifyContent: 'center', gap: 18 }}&gt;&#10;&#10;        &lt;Box style={{ flexDirection: 'row', alignItems: 'center', gap: 16, background: '#F4F7FA', borderRadius: 10, padding: '10px 20px' }}&gt;&#10;            &lt;Box style={{ width: 3, height: 26, background: '#276FBF' }} /&gt;&#10;            &lt;Text style={{ fontSize: 16, color: '#546779' }}&gt;工具失败应返回明确的错误类别，而不是空列表。&lt;/Text&gt;&#10;        &lt;/Box&gt;&#10;&#10;        &lt;Box style={{ flexDirection: 'row', justifyContent: 'center', gap: 32 }}&gt;&#10;            &lt;Box style={{ width: 560, height: 300, background: '#ECF7F2', borderRadius: 12, padding: 20, flexDirection: 'column', gap: 10 }}&gt;&#10;                &lt;Text style={{ fontSize: 20, fontWeight: 'bold', color: '#26816B' }}&gt;该日期没有预约&lt;/Text&gt;&#10;                &lt;Box style={{ width: 56, height: 3, background: '#26816B' }} /&gt;&#10;                &lt;Text style={{ fontSize: 16, color: '#20344B', lineHeight: 1.6 }}&gt;查询正常执行，范围内确实没有记录。&lt;/Text&gt;&#10;                &lt;Box style={{ flex: 1 }} /&gt;&#10;                &lt;Box style={{ background: '#FFFFFF', borderRadius: 8, padding: '12px 16px' }}&gt;&#10;                    &lt;Text style={{ fontSize: 15, color: '#20344B', lineHeight: 1.55 }}&gt;返回空结果 + 明确的查询范围，说明&quot;查过、没有&quot;。&lt;/Text&gt;&#10;                &lt;/Box&gt;&#10;            &lt;/Box&gt;&#10;            &lt;Box style={{ width: 560, height: 300, background: '#FFF4E6', borderRadius: 12, padding: 20, flexDirection: 'column', gap: 10 }}&gt;&#10;                &lt;Text style={{ fontSize: 20, fontWeight: 'bold', color: '#CB6B28' }}&gt;日期不受本教学数据支持&lt;/Text&gt;&#10;                &lt;Box style={{ width: 56, height: 3, background: '#CB6B28' }} /&gt;&#10;                &lt;Text style={{ fontSize: 16, color: '#20344B', lineHeight: 1.6 }}&gt;这次查询没有做成，它是一个失败。&lt;/Text&gt;&#10;                &lt;Box style={{ flex: 1 }} /&gt;&#10;                &lt;Box style={{ background: '#FFFFFF', borderRadius: 8, padding: '12px 16px' }}&gt;&#10;                    &lt;Text style={{ fontSize: 15, color: '#20344B', lineHeight: 1.55 }}&gt;返回明确的错误类别，让模型知道该改输入，而不是当结果用。&lt;/Text&gt;&#10;                &lt;/Box&gt;&#10;            &lt;/Box&gt;&#10;        &lt;/Box&gt;&#10;&#10;        &lt;Box style={{ flexDirection: 'row', alignItems: 'center', gap: 16, background: '#FFF4E6', borderRadius: 10, padding: '0 20px', height: 96 }}&gt;&#10;            &lt;Box style={{ width: 4, height: 56, background: '#CB6B28' }} /&gt;&#10;            &lt;Text style={{ fontSize: 15, color: '#20344B', lineHeight: 1.5 }}&gt;两者都返回 [] 时，模型就可能把&quot;查询失败&quot;误读成&quot;房间空闲&quot;，凭一次没有做成的查询给出方案。&lt;/Text&gt;&#10;        &lt;/Box&gt;&#10;&#10;    &lt;/Box&gt;&#10;&#10;    &lt;Box style={{ height: 40, flexDirection: 'row', justifyContent: 'space-between', alignItems: 'center' }}&gt;&#10;        &lt;Text style={{ fontSize: 14, color: '#546779' }}&gt;2.5 Function Calling&lt;/Text&gt;&#10;        &lt;Text style={{ fontSize: 14, color: '#546779' }}&gt;21 / 26&lt;/Text&gt;&#10;    &lt;/Box&gt;&#10;&#10;&lt;/Slide&gt;&#10;"/>
        <p:cNvGrpSpPr/>
        <p:nvPr/>
      </p:nvGrpSpPr>
      <p:grpSpPr>
        <a:xfrm>
          <a:off x="0" y="0"/>
          <a:ext cx="0" cy="0"/>
          <a:chOff x="0" y="0"/>
          <a:chExt cx="0" cy="0"/>
        </a:xfrm>
      </p:grpSpPr>
      <p:sp>
        <p:nvSpPr>
          <p:cNvPr id="354" name=""/>
          <p:cNvSpPr/>
          <p:nvPr/>
        </p:nvSpPr>
        <p:spPr>
          <a:xfrm rot="0" flipH="0" flipV="0">
            <a:off x="0" y="0"/>
            <a:ext cx="12192000" cy="6858000"/>
          </a:xfrm>
          <a:prstGeom prst="rect">
            <a:avLst/>
          </a:prstGeom>
          <a:solidFill>
            <a:srgbClr val="FFFFFF"/>
          </a:solidFill>
          <a:ln/>
        </p:spPr>
        <p:txBody>
          <a:bodyPr/>
          <a:p/>
        </p:txBody>
      </p:sp>
      <p:sp>
        <p:nvSpPr>
          <p:cNvPr id="355" name=""/>
          <p:cNvSpPr/>
          <p:nvPr/>
        </p:nvSpPr>
        <p:spPr>
          <a:xfrm rot="0" flipH="0" flipV="0">
            <a:off x="609600" y="457200"/>
            <a:ext cx="38100" cy="419100"/>
          </a:xfrm>
          <a:prstGeom prst="rect">
            <a:avLst/>
          </a:prstGeom>
          <a:solidFill>
            <a:srgbClr val="276FBF"/>
          </a:solidFill>
          <a:ln/>
        </p:spPr>
        <p:txBody>
          <a:bodyPr/>
          <a:p/>
        </p:txBody>
      </p:sp>
      <p:sp>
        <p:nvSpPr>
          <p:cNvPr id="356" name="" descr="{&quot;isTemplate&quot;:true,&quot;type&quot;:&quot;text&quot;}"/>
          <p:cNvSpPr txBox="1"/>
          <p:nvPr/>
        </p:nvSpPr>
        <p:spPr>
          <a:xfrm rot="0" flipH="0" flipV="0">
            <a:off x="838200" y="371475"/>
            <a:ext cx="2609850" cy="161925"/>
          </a:xfrm>
          <a:prstGeom prst="rect"/>
        </p:spPr>
        <p:txBody>
          <a:bodyPr wrap="none" lIns="0" tIns="0" rIns="0" bIns="0"/>
          <a:p>
            <a:pPr>
              <a:lnSpc>
                <a:spcPct val="100000"/>
              </a:lnSpc>
            </a:pPr>
            <a:r>
              <a:rPr lang="en-US" sz="1050">
                <a:solidFill>
                  <a:srgbClr val="546779"/>
                </a:solidFill>
                <a:latin typeface="Microsoft YaHei"/>
                <a:ea typeface="Microsoft YaHei"/>
              </a:rPr>
              <a:t>2.5.4</a:t>
            </a:r>
            <a:r>
              <a:rPr lang="zh-CN" sz="1050">
                <a:solidFill>
                  <a:srgbClr val="546779"/>
                </a:solidFill>
                <a:latin typeface="Microsoft YaHei"/>
                <a:ea typeface="Microsoft YaHei"/>
              </a:rPr>
              <a:t>　参数错误、工具失败与无进展</a:t>
            </a:r>
            <a:endParaRPr/>
          </a:p>
        </p:txBody>
      </p:sp>
      <p:sp>
        <p:nvSpPr>
          <p:cNvPr id="357" name="" descr="{&quot;isTemplate&quot;:true,&quot;type&quot;:&quot;text&quot;}"/>
          <p:cNvSpPr txBox="1"/>
          <p:nvPr/>
        </p:nvSpPr>
        <p:spPr>
          <a:xfrm rot="0" flipH="0" flipV="0">
            <a:off x="838200" y="571500"/>
            <a:ext cx="2609850" cy="390525"/>
          </a:xfrm>
          <a:prstGeom prst="rect"/>
        </p:spPr>
        <p:txBody>
          <a:bodyPr wrap="none" lIns="0" tIns="0" rIns="0" bIns="0"/>
          <a:p>
            <a:pPr>
              <a:lnSpc>
                <a:spcPct val="100000"/>
              </a:lnSpc>
            </a:pPr>
            <a:r>
              <a:rPr lang="zh-CN" sz="2550" b="1">
                <a:solidFill>
                  <a:srgbClr val="20344B"/>
                </a:solidFill>
                <a:latin typeface="Microsoft YaHei"/>
                <a:ea typeface="Microsoft YaHei"/>
              </a:rPr>
              <a:t>两种</a:t>
            </a:r>
            <a:r>
              <a:rPr lang="en-US" sz="2550" b="1">
                <a:solidFill>
                  <a:srgbClr val="20344B"/>
                </a:solidFill>
                <a:latin typeface="Microsoft YaHei"/>
                <a:ea typeface="Microsoft YaHei"/>
              </a:rPr>
              <a:t>"</a:t>
            </a:r>
            <a:r>
              <a:rPr lang="zh-CN" sz="2550" b="1">
                <a:solidFill>
                  <a:srgbClr val="20344B"/>
                </a:solidFill>
                <a:latin typeface="Microsoft YaHei"/>
                <a:ea typeface="Microsoft YaHei"/>
              </a:rPr>
              <a:t>空</a:t>
            </a:r>
            <a:r>
              <a:rPr lang="en-US" sz="2550" b="1">
                <a:solidFill>
                  <a:srgbClr val="20344B"/>
                </a:solidFill>
                <a:latin typeface="Microsoft YaHei"/>
                <a:ea typeface="Microsoft YaHei"/>
              </a:rPr>
              <a:t>"</a:t>
            </a:r>
            <a:r>
              <a:rPr lang="zh-CN" sz="2550" b="1">
                <a:solidFill>
                  <a:srgbClr val="20344B"/>
                </a:solidFill>
                <a:latin typeface="Microsoft YaHei"/>
                <a:ea typeface="Microsoft YaHei"/>
              </a:rPr>
              <a:t>必须分开</a:t>
            </a:r>
            <a:endParaRPr/>
          </a:p>
        </p:txBody>
      </p:sp>
      <p:sp>
        <p:nvSpPr>
          <p:cNvPr id="358" name=""/>
          <p:cNvSpPr/>
          <p:nvPr/>
        </p:nvSpPr>
        <p:spPr>
          <a:xfrm rot="0" flipH="0" flipV="0">
            <a:off x="609600" y="1438275"/>
            <a:ext cx="10972800" cy="438150"/>
          </a:xfrm>
          <a:prstGeom prst="roundRect">
            <a:avLst>
              <a:gd name="adj" fmla="val 21739"/>
            </a:avLst>
          </a:prstGeom>
          <a:solidFill>
            <a:srgbClr val="F4F7FA"/>
          </a:solidFill>
          <a:ln/>
        </p:spPr>
        <p:txBody>
          <a:bodyPr/>
          <a:p/>
        </p:txBody>
      </p:sp>
      <p:sp>
        <p:nvSpPr>
          <p:cNvPr id="359" name=""/>
          <p:cNvSpPr/>
          <p:nvPr/>
        </p:nvSpPr>
        <p:spPr>
          <a:xfrm rot="0" flipH="0" flipV="0">
            <a:off x="800100" y="1533525"/>
            <a:ext cx="28575" cy="247650"/>
          </a:xfrm>
          <a:prstGeom prst="rect">
            <a:avLst/>
          </a:prstGeom>
          <a:solidFill>
            <a:srgbClr val="276FBF"/>
          </a:solidFill>
          <a:ln/>
        </p:spPr>
        <p:txBody>
          <a:bodyPr/>
          <a:p/>
        </p:txBody>
      </p:sp>
      <p:sp>
        <p:nvSpPr>
          <p:cNvPr id="360" name="" descr="{&quot;isTemplate&quot;:true,&quot;type&quot;:&quot;text&quot;}"/>
          <p:cNvSpPr txBox="1"/>
          <p:nvPr/>
        </p:nvSpPr>
        <p:spPr>
          <a:xfrm rot="0" flipH="0" flipV="0">
            <a:off x="981075" y="1562100"/>
            <a:ext cx="3352800" cy="190500"/>
          </a:xfrm>
          <a:prstGeom prst="rect"/>
        </p:spPr>
        <p:txBody>
          <a:bodyPr wrap="none" lIns="0" tIns="0" rIns="0" bIns="0"/>
          <a:p>
            <a:pPr>
              <a:lnSpc>
                <a:spcPct val="100000"/>
              </a:lnSpc>
            </a:pPr>
            <a:r>
              <a:rPr lang="zh-CN" sz="1200">
                <a:solidFill>
                  <a:srgbClr val="546779"/>
                </a:solidFill>
                <a:latin typeface="Microsoft YaHei"/>
                <a:ea typeface="Microsoft YaHei"/>
              </a:rPr>
              <a:t>工具失败应返回明确的错误类别，而不是空列表。</a:t>
            </a:r>
            <a:endParaRPr/>
          </a:p>
        </p:txBody>
      </p:sp>
      <p:sp>
        <p:nvSpPr>
          <p:cNvPr id="361" name=""/>
          <p:cNvSpPr/>
          <p:nvPr/>
        </p:nvSpPr>
        <p:spPr>
          <a:xfrm rot="0" flipH="0" flipV="0">
            <a:off x="609600" y="2047875"/>
            <a:ext cx="5334000" cy="2857500"/>
          </a:xfrm>
          <a:prstGeom prst="roundRect">
            <a:avLst>
              <a:gd name="adj" fmla="val 4000"/>
            </a:avLst>
          </a:prstGeom>
          <a:solidFill>
            <a:srgbClr val="ECF7F2"/>
          </a:solidFill>
          <a:ln/>
        </p:spPr>
        <p:txBody>
          <a:bodyPr/>
          <a:p/>
        </p:txBody>
      </p:sp>
      <p:sp>
        <p:nvSpPr>
          <p:cNvPr id="362" name="" descr="{&quot;isTemplate&quot;:true,&quot;type&quot;:&quot;text&quot;}"/>
          <p:cNvSpPr txBox="1"/>
          <p:nvPr/>
        </p:nvSpPr>
        <p:spPr>
          <a:xfrm rot="0" flipH="0" flipV="0">
            <a:off x="800100" y="2238375"/>
            <a:ext cx="4953000" cy="228600"/>
          </a:xfrm>
          <a:prstGeom prst="rect"/>
        </p:spPr>
        <p:txBody>
          <a:bodyPr wrap="none" lIns="0" tIns="0" rIns="0" bIns="0"/>
          <a:p>
            <a:pPr>
              <a:lnSpc>
                <a:spcPct val="100000"/>
              </a:lnSpc>
            </a:pPr>
            <a:r>
              <a:rPr lang="zh-CN" sz="1500" b="1">
                <a:solidFill>
                  <a:srgbClr val="26816B"/>
                </a:solidFill>
                <a:latin typeface="Microsoft YaHei"/>
                <a:ea typeface="Microsoft YaHei"/>
              </a:rPr>
              <a:t>该日期没有预约</a:t>
            </a:r>
            <a:endParaRPr/>
          </a:p>
        </p:txBody>
      </p:sp>
      <p:sp>
        <p:nvSpPr>
          <p:cNvPr id="363" name=""/>
          <p:cNvSpPr/>
          <p:nvPr/>
        </p:nvSpPr>
        <p:spPr>
          <a:xfrm rot="0" flipH="0" flipV="0">
            <a:off x="800100" y="2562225"/>
            <a:ext cx="533400" cy="28575"/>
          </a:xfrm>
          <a:prstGeom prst="rect">
            <a:avLst/>
          </a:prstGeom>
          <a:solidFill>
            <a:srgbClr val="26816B"/>
          </a:solidFill>
          <a:ln/>
        </p:spPr>
        <p:txBody>
          <a:bodyPr/>
          <a:p/>
        </p:txBody>
      </p:sp>
      <p:sp>
        <p:nvSpPr>
          <p:cNvPr id="364" name="" descr="{&quot;isTemplate&quot;:true,&quot;type&quot;:&quot;text&quot;}"/>
          <p:cNvSpPr txBox="1"/>
          <p:nvPr/>
        </p:nvSpPr>
        <p:spPr>
          <a:xfrm rot="0" flipH="0" flipV="0">
            <a:off x="800100" y="2686050"/>
            <a:ext cx="4953000" cy="295275"/>
          </a:xfrm>
          <a:prstGeom prst="rect"/>
        </p:spPr>
        <p:txBody>
          <a:bodyPr wrap="none" lIns="0" tIns="0" rIns="0" bIns="0"/>
          <a:p>
            <a:pPr>
              <a:lnSpc>
                <a:spcPct val="160000"/>
              </a:lnSpc>
            </a:pPr>
            <a:r>
              <a:rPr lang="zh-CN" sz="1200">
                <a:solidFill>
                  <a:srgbClr val="20344B"/>
                </a:solidFill>
                <a:latin typeface="Microsoft YaHei"/>
                <a:ea typeface="Microsoft YaHei"/>
              </a:rPr>
              <a:t>查询正常执行，范围内确实没有记录。</a:t>
            </a:r>
            <a:endParaRPr/>
          </a:p>
        </p:txBody>
      </p:sp>
      <p:sp>
        <p:nvSpPr>
          <p:cNvPr id="365" name=""/>
          <p:cNvSpPr/>
          <p:nvPr/>
        </p:nvSpPr>
        <p:spPr>
          <a:xfrm rot="0" flipH="0" flipV="0">
            <a:off x="800100" y="4219575"/>
            <a:ext cx="4953000" cy="495300"/>
          </a:xfrm>
          <a:prstGeom prst="roundRect">
            <a:avLst>
              <a:gd name="adj" fmla="val 15385"/>
            </a:avLst>
          </a:prstGeom>
          <a:solidFill>
            <a:srgbClr val="FFFFFF"/>
          </a:solidFill>
          <a:ln/>
        </p:spPr>
        <p:txBody>
          <a:bodyPr/>
          <a:p/>
        </p:txBody>
      </p:sp>
      <p:sp>
        <p:nvSpPr>
          <p:cNvPr id="366" name="" descr="{&quot;isTemplate&quot;:true,&quot;type&quot;:&quot;text&quot;}"/>
          <p:cNvSpPr txBox="1"/>
          <p:nvPr/>
        </p:nvSpPr>
        <p:spPr>
          <a:xfrm rot="0" flipH="0" flipV="0">
            <a:off x="952500" y="4333875"/>
            <a:ext cx="4648200" cy="266700"/>
          </a:xfrm>
          <a:prstGeom prst="rect"/>
        </p:spPr>
        <p:txBody>
          <a:bodyPr wrap="none" lIns="0" tIns="0" rIns="0" bIns="0"/>
          <a:p>
            <a:pPr>
              <a:lnSpc>
                <a:spcPct val="155000"/>
              </a:lnSpc>
            </a:pPr>
            <a:r>
              <a:rPr lang="zh-CN" sz="1125">
                <a:solidFill>
                  <a:srgbClr val="20344B"/>
                </a:solidFill>
                <a:latin typeface="Microsoft YaHei"/>
                <a:ea typeface="Microsoft YaHei"/>
              </a:rPr>
              <a:t>返回空结果</a:t>
            </a:r>
            <a:r>
              <a:rPr lang="en-US" sz="1125">
                <a:solidFill>
                  <a:srgbClr val="20344B"/>
                </a:solidFill>
                <a:latin typeface="Microsoft YaHei"/>
                <a:ea typeface="Microsoft YaHei"/>
              </a:rPr>
              <a:t xml:space="preserve"> + </a:t>
            </a:r>
            <a:r>
              <a:rPr lang="zh-CN" sz="1125">
                <a:solidFill>
                  <a:srgbClr val="20344B"/>
                </a:solidFill>
                <a:latin typeface="Microsoft YaHei"/>
                <a:ea typeface="Microsoft YaHei"/>
              </a:rPr>
              <a:t>明确的查询范围，说明</a:t>
            </a:r>
            <a:r>
              <a:rPr lang="en-US" sz="1125">
                <a:solidFill>
                  <a:srgbClr val="20344B"/>
                </a:solidFill>
                <a:latin typeface="Microsoft YaHei"/>
                <a:ea typeface="Microsoft YaHei"/>
              </a:rPr>
              <a:t>"</a:t>
            </a:r>
            <a:r>
              <a:rPr lang="zh-CN" sz="1125">
                <a:solidFill>
                  <a:srgbClr val="20344B"/>
                </a:solidFill>
                <a:latin typeface="Microsoft YaHei"/>
                <a:ea typeface="Microsoft YaHei"/>
              </a:rPr>
              <a:t>查过、没有</a:t>
            </a:r>
            <a:r>
              <a:rPr lang="en-US" sz="1125">
                <a:solidFill>
                  <a:srgbClr val="20344B"/>
                </a:solidFill>
                <a:latin typeface="Microsoft YaHei"/>
                <a:ea typeface="Microsoft YaHei"/>
              </a:rPr>
              <a:t>"</a:t>
            </a:r>
            <a:r>
              <a:rPr lang="zh-CN" sz="1125">
                <a:solidFill>
                  <a:srgbClr val="20344B"/>
                </a:solidFill>
                <a:latin typeface="Microsoft YaHei"/>
                <a:ea typeface="Microsoft YaHei"/>
              </a:rPr>
              <a:t>。</a:t>
            </a:r>
            <a:endParaRPr/>
          </a:p>
        </p:txBody>
      </p:sp>
      <p:sp>
        <p:nvSpPr>
          <p:cNvPr id="367" name=""/>
          <p:cNvSpPr/>
          <p:nvPr/>
        </p:nvSpPr>
        <p:spPr>
          <a:xfrm rot="0" flipH="0" flipV="0">
            <a:off x="6248400" y="2047875"/>
            <a:ext cx="5334000" cy="2857500"/>
          </a:xfrm>
          <a:prstGeom prst="roundRect">
            <a:avLst>
              <a:gd name="adj" fmla="val 4000"/>
            </a:avLst>
          </a:prstGeom>
          <a:solidFill>
            <a:srgbClr val="FFF4E6"/>
          </a:solidFill>
          <a:ln/>
        </p:spPr>
        <p:txBody>
          <a:bodyPr/>
          <a:p/>
        </p:txBody>
      </p:sp>
      <p:sp>
        <p:nvSpPr>
          <p:cNvPr id="368" name="" descr="{&quot;isTemplate&quot;:true,&quot;type&quot;:&quot;text&quot;}"/>
          <p:cNvSpPr txBox="1"/>
          <p:nvPr/>
        </p:nvSpPr>
        <p:spPr>
          <a:xfrm rot="0" flipH="0" flipV="0">
            <a:off x="6438900" y="2238375"/>
            <a:ext cx="4953000" cy="228600"/>
          </a:xfrm>
          <a:prstGeom prst="rect"/>
        </p:spPr>
        <p:txBody>
          <a:bodyPr wrap="none" lIns="0" tIns="0" rIns="0" bIns="0"/>
          <a:p>
            <a:pPr>
              <a:lnSpc>
                <a:spcPct val="100000"/>
              </a:lnSpc>
            </a:pPr>
            <a:r>
              <a:rPr lang="zh-CN" sz="1500" b="1">
                <a:solidFill>
                  <a:srgbClr val="CB6B28"/>
                </a:solidFill>
                <a:latin typeface="Microsoft YaHei"/>
                <a:ea typeface="Microsoft YaHei"/>
              </a:rPr>
              <a:t>日期不受本教学数据支持</a:t>
            </a:r>
            <a:endParaRPr/>
          </a:p>
        </p:txBody>
      </p:sp>
      <p:sp>
        <p:nvSpPr>
          <p:cNvPr id="369" name=""/>
          <p:cNvSpPr/>
          <p:nvPr/>
        </p:nvSpPr>
        <p:spPr>
          <a:xfrm rot="0" flipH="0" flipV="0">
            <a:off x="6438900" y="2562225"/>
            <a:ext cx="533400" cy="28575"/>
          </a:xfrm>
          <a:prstGeom prst="rect">
            <a:avLst/>
          </a:prstGeom>
          <a:solidFill>
            <a:srgbClr val="CB6B28"/>
          </a:solidFill>
          <a:ln/>
        </p:spPr>
        <p:txBody>
          <a:bodyPr/>
          <a:p/>
        </p:txBody>
      </p:sp>
      <p:sp>
        <p:nvSpPr>
          <p:cNvPr id="370" name="" descr="{&quot;isTemplate&quot;:true,&quot;type&quot;:&quot;text&quot;}"/>
          <p:cNvSpPr txBox="1"/>
          <p:nvPr/>
        </p:nvSpPr>
        <p:spPr>
          <a:xfrm rot="0" flipH="0" flipV="0">
            <a:off x="6438900" y="2686050"/>
            <a:ext cx="4953000" cy="295275"/>
          </a:xfrm>
          <a:prstGeom prst="rect"/>
        </p:spPr>
        <p:txBody>
          <a:bodyPr wrap="none" lIns="0" tIns="0" rIns="0" bIns="0"/>
          <a:p>
            <a:pPr>
              <a:lnSpc>
                <a:spcPct val="160000"/>
              </a:lnSpc>
            </a:pPr>
            <a:r>
              <a:rPr lang="zh-CN" sz="1200">
                <a:solidFill>
                  <a:srgbClr val="20344B"/>
                </a:solidFill>
                <a:latin typeface="Microsoft YaHei"/>
                <a:ea typeface="Microsoft YaHei"/>
              </a:rPr>
              <a:t>这次查询没有做成，它是一个失败。</a:t>
            </a:r>
            <a:endParaRPr/>
          </a:p>
        </p:txBody>
      </p:sp>
      <p:sp>
        <p:nvSpPr>
          <p:cNvPr id="371" name=""/>
          <p:cNvSpPr/>
          <p:nvPr/>
        </p:nvSpPr>
        <p:spPr>
          <a:xfrm rot="0" flipH="0" flipV="0">
            <a:off x="6438900" y="4219575"/>
            <a:ext cx="4953000" cy="495300"/>
          </a:xfrm>
          <a:prstGeom prst="roundRect">
            <a:avLst>
              <a:gd name="adj" fmla="val 15385"/>
            </a:avLst>
          </a:prstGeom>
          <a:solidFill>
            <a:srgbClr val="FFFFFF"/>
          </a:solidFill>
          <a:ln/>
        </p:spPr>
        <p:txBody>
          <a:bodyPr/>
          <a:p/>
        </p:txBody>
      </p:sp>
      <p:sp>
        <p:nvSpPr>
          <p:cNvPr id="372" name="" descr="{&quot;isTemplate&quot;:true,&quot;type&quot;:&quot;text&quot;}"/>
          <p:cNvSpPr txBox="1"/>
          <p:nvPr/>
        </p:nvSpPr>
        <p:spPr>
          <a:xfrm rot="0" flipH="0" flipV="0">
            <a:off x="6591300" y="4333875"/>
            <a:ext cx="4648200" cy="266700"/>
          </a:xfrm>
          <a:prstGeom prst="rect"/>
        </p:spPr>
        <p:txBody>
          <a:bodyPr wrap="none" lIns="0" tIns="0" rIns="0" bIns="0"/>
          <a:p>
            <a:pPr>
              <a:lnSpc>
                <a:spcPct val="155000"/>
              </a:lnSpc>
            </a:pPr>
            <a:r>
              <a:rPr lang="zh-CN" sz="1125">
                <a:solidFill>
                  <a:srgbClr val="20344B"/>
                </a:solidFill>
                <a:latin typeface="Microsoft YaHei"/>
                <a:ea typeface="Microsoft YaHei"/>
              </a:rPr>
              <a:t>返回明确的错误类别，让模型知道该改输入，而不是当结果用。</a:t>
            </a:r>
            <a:endParaRPr/>
          </a:p>
        </p:txBody>
      </p:sp>
      <p:sp>
        <p:nvSpPr>
          <p:cNvPr id="373" name=""/>
          <p:cNvSpPr/>
          <p:nvPr/>
        </p:nvSpPr>
        <p:spPr>
          <a:xfrm rot="0" flipH="0" flipV="0">
            <a:off x="609600" y="5076825"/>
            <a:ext cx="10972800" cy="914400"/>
          </a:xfrm>
          <a:prstGeom prst="roundRect">
            <a:avLst>
              <a:gd name="adj" fmla="val 10417"/>
            </a:avLst>
          </a:prstGeom>
          <a:solidFill>
            <a:srgbClr val="FFF4E6"/>
          </a:solidFill>
          <a:ln/>
        </p:spPr>
        <p:txBody>
          <a:bodyPr/>
          <a:p/>
        </p:txBody>
      </p:sp>
      <p:sp>
        <p:nvSpPr>
          <p:cNvPr id="374" name=""/>
          <p:cNvSpPr/>
          <p:nvPr/>
        </p:nvSpPr>
        <p:spPr>
          <a:xfrm rot="0" flipH="0" flipV="0">
            <a:off x="800100" y="5267325"/>
            <a:ext cx="38100" cy="533400"/>
          </a:xfrm>
          <a:prstGeom prst="rect">
            <a:avLst/>
          </a:prstGeom>
          <a:solidFill>
            <a:srgbClr val="CB6B28"/>
          </a:solidFill>
          <a:ln/>
        </p:spPr>
        <p:txBody>
          <a:bodyPr/>
          <a:p/>
        </p:txBody>
      </p:sp>
      <p:sp>
        <p:nvSpPr>
          <p:cNvPr id="375" name="" descr="{&quot;isTemplate&quot;:true,&quot;type&quot;:&quot;text&quot;}"/>
          <p:cNvSpPr txBox="1"/>
          <p:nvPr/>
        </p:nvSpPr>
        <p:spPr>
          <a:xfrm rot="0" flipH="0" flipV="0">
            <a:off x="990600" y="5410200"/>
            <a:ext cx="6153150" cy="257175"/>
          </a:xfrm>
          <a:prstGeom prst="rect"/>
        </p:spPr>
        <p:txBody>
          <a:bodyPr wrap="none" lIns="0" tIns="0" rIns="0" bIns="0"/>
          <a:p>
            <a:pPr>
              <a:lnSpc>
                <a:spcPct val="150000"/>
              </a:lnSpc>
            </a:pPr>
            <a:r>
              <a:rPr lang="zh-CN" sz="1125">
                <a:solidFill>
                  <a:srgbClr val="20344B"/>
                </a:solidFill>
                <a:latin typeface="Microsoft YaHei"/>
                <a:ea typeface="Microsoft YaHei"/>
              </a:rPr>
              <a:t>两者都返回</a:t>
            </a:r>
            <a:r>
              <a:rPr lang="en-US" sz="1125">
                <a:solidFill>
                  <a:srgbClr val="20344B"/>
                </a:solidFill>
                <a:latin typeface="Microsoft YaHei"/>
                <a:ea typeface="Microsoft YaHei"/>
              </a:rPr>
              <a:t xml:space="preserve"> [] </a:t>
            </a:r>
            <a:r>
              <a:rPr lang="zh-CN" sz="1125">
                <a:solidFill>
                  <a:srgbClr val="20344B"/>
                </a:solidFill>
                <a:latin typeface="Microsoft YaHei"/>
                <a:ea typeface="Microsoft YaHei"/>
              </a:rPr>
              <a:t>时，模型就可能把</a:t>
            </a:r>
            <a:r>
              <a:rPr lang="en-US" sz="1125">
                <a:solidFill>
                  <a:srgbClr val="20344B"/>
                </a:solidFill>
                <a:latin typeface="Microsoft YaHei"/>
                <a:ea typeface="Microsoft YaHei"/>
              </a:rPr>
              <a:t>"</a:t>
            </a:r>
            <a:r>
              <a:rPr lang="zh-CN" sz="1125">
                <a:solidFill>
                  <a:srgbClr val="20344B"/>
                </a:solidFill>
                <a:latin typeface="Microsoft YaHei"/>
                <a:ea typeface="Microsoft YaHei"/>
              </a:rPr>
              <a:t>查询失败</a:t>
            </a:r>
            <a:r>
              <a:rPr lang="en-US" sz="1125">
                <a:solidFill>
                  <a:srgbClr val="20344B"/>
                </a:solidFill>
                <a:latin typeface="Microsoft YaHei"/>
                <a:ea typeface="Microsoft YaHei"/>
              </a:rPr>
              <a:t>"</a:t>
            </a:r>
            <a:r>
              <a:rPr lang="zh-CN" sz="1125">
                <a:solidFill>
                  <a:srgbClr val="20344B"/>
                </a:solidFill>
                <a:latin typeface="Microsoft YaHei"/>
                <a:ea typeface="Microsoft YaHei"/>
              </a:rPr>
              <a:t>误读成</a:t>
            </a:r>
            <a:r>
              <a:rPr lang="en-US" sz="1125">
                <a:solidFill>
                  <a:srgbClr val="20344B"/>
                </a:solidFill>
                <a:latin typeface="Microsoft YaHei"/>
                <a:ea typeface="Microsoft YaHei"/>
              </a:rPr>
              <a:t>"</a:t>
            </a:r>
            <a:r>
              <a:rPr lang="zh-CN" sz="1125">
                <a:solidFill>
                  <a:srgbClr val="20344B"/>
                </a:solidFill>
                <a:latin typeface="Microsoft YaHei"/>
                <a:ea typeface="Microsoft YaHei"/>
              </a:rPr>
              <a:t>房间空闲</a:t>
            </a:r>
            <a:r>
              <a:rPr lang="en-US" sz="1125">
                <a:solidFill>
                  <a:srgbClr val="20344B"/>
                </a:solidFill>
                <a:latin typeface="Microsoft YaHei"/>
                <a:ea typeface="Microsoft YaHei"/>
              </a:rPr>
              <a:t>"</a:t>
            </a:r>
            <a:r>
              <a:rPr lang="zh-CN" sz="1125">
                <a:solidFill>
                  <a:srgbClr val="20344B"/>
                </a:solidFill>
                <a:latin typeface="Microsoft YaHei"/>
                <a:ea typeface="Microsoft YaHei"/>
              </a:rPr>
              <a:t>，凭一次没有做成的查询给出方案。</a:t>
            </a:r>
            <a:endParaRPr/>
          </a:p>
        </p:txBody>
      </p:sp>
      <p:sp>
        <p:nvSpPr>
          <p:cNvPr id="376"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377"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21 / 26</a:t>
            </a:r>
            <a:endParaRPr/>
          </a:p>
        </p:txBody>
      </p:sp>
    </p:spTree>
  </p:cSld>
</p:sld>
</file>

<file path=ppt/slides/slide22.xml><?xml version="1.0" encoding="utf-8"?>
<p:sld xmlns:p="http://schemas.openxmlformats.org/presentationml/2006/main" xmlns:a="http://schemas.openxmlformats.org/drawingml/2006/main">
  <p:cSld>
    <p:spTree>
      <p:nvGrpSpPr>
        <p:cNvPr id="378" name="" descr="&lt;Slide notes={`配套程序里有三个保护参数，我建议把它们记住，因为它们代表了三种不同的&quot;停&quot;。&#10;&#10;第一个是八，最多八轮模型响应。模型每提出一次新的请求就算一轮。&#10;&#10;第二个是十六，最多十六条进入处理的工具请求。注意这个口径：计数在参数解析与执行前递增，也就是说，被拦下、被拒绝的请求一样计数。它不是成功执行的次数。&#10;&#10;第三个是三，同一个函数带着同一组参数累计出现第三次，就在执行前触发无进展保护，标记为未执行。为什么按&quot;函数加参数&quot;来数？因为这样连两个工具交替重复也能发现。&#10;&#10;达到上限就报告已经完成的内容和停止的原因。最后提醒一句：这些是配套程序的保护参数，不是 OpenAI 的统一限制。`}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4　参数错误、工具失败与无进展&lt;/Text&gt;&#10;            &lt;Text style={{ fontSize: 34, fontWeight: 'bold', color: '#20344B' }}&gt;三个保护参数&lt;/Text&gt;&#10;        &lt;/Box&gt;&#10;    &lt;/Box&gt;&#10;&#10;    &lt;Box style={{ height: 540, flexDirection: 'column', justifyContent: 'center', gap: 18 }}&gt;&#10;&#10;        &lt;Box style={{ flexDirection: 'row', alignItems: 'center', gap: 16, background: '#F4F7FA', borderRadius: 10, padding: '10px 20px' }}&gt;&#10;            &lt;Box style={{ width: 3, height: 26, background: '#276FBF' }} /&gt;&#10;            &lt;Text style={{ fontSize: 16, color: '#546779' }}&gt;本章教学上限分开计数：模型响应与工具请求各记各的。&lt;/Text&gt;&#10;        &lt;/Box&gt;&#10;&#10;        &lt;Box style={{ flexDirection: 'row', justifyContent: 'center', gap: 36 }}&gt;&#10;            &lt;Box style={{ width: 360, height: 260, background: '#EDF4FC', borderRadius: 12, padding: 20, flexDirection: 'column', gap: 8, justifyContent: 'center', alignItems: 'center' }}&gt;&#10;                &lt;Text style={{ fontSize: 88, fontWeight: 'bold', color: '#276FBF', lineHeight: 1.0 }}&gt;8&lt;/Text&gt;&#10;                &lt;Text style={{ fontSize: 19, fontWeight: 'bold', color: '#20344B' }}&gt;轮模型响应&lt;/Text&gt;&#10;                &lt;Text style={{ fontSize: 14, color: '#546779', lineHeight: 1.5, textAlign: 'center' }}&gt;最多八轮模型请求&lt;/Text&gt;&#10;            &lt;/Box&gt;&#10;            &lt;Box style={{ width: 360, height: 260, background: '#EDF4FC', borderRadius: 12, padding: 20, flexDirection: 'column', gap: 8, justifyContent: 'center', alignItems: 'center' }}&gt;&#10;                &lt;Text style={{ fontSize: 88, fontWeight: 'bold', color: '#276FBF', lineHeight: 1.0 }}&gt;16&lt;/Text&gt;&#10;                &lt;Text style={{ fontSize: 19, fontWeight: 'bold', color: '#20344B' }}&gt;条工具请求&lt;/Text&gt;&#10;                &lt;Text style={{ fontSize: 14, color: '#546779', lineHeight: 1.5, textAlign: 'center' }}&gt;十六条进入处理的工具请求&lt;/Text&gt;&#10;            &lt;/Box&gt;&#10;            &lt;Box style={{ width: 360, height: 260, background: '#FFF4E6', borderRadius: 12, padding: 20, flexDirection: 'column', gap: 8, justifyContent: 'center', alignItems: 'center' }}&gt;&#10;                &lt;Text style={{ fontSize: 88, fontWeight: 'bold', color: '#CB6B28', lineHeight: 1.0 }}&gt;3&lt;/Text&gt;&#10;                &lt;Text style={{ fontSize: 19, fontWeight: 'bold', color: '#20344B' }}&gt;次无进展拦截&lt;/Text&gt;&#10;                &lt;Text style={{ fontSize: 14, color: '#546779', lineHeight: 1.5, textAlign: 'center' }}&gt;同一函数与参数累计第三次&lt;/Text&gt;&#10;            &lt;/Box&gt;&#10;        &lt;/Box&gt;&#10;&#10;        &lt;Box style={{ flexDirection: 'row', justifyContent: 'center', gap: 36 }}&gt;&#10;            &lt;Box style={{ width: 360, height: 84, background: '#F4F7FA', borderRadius: 10, padding: '12px 16px', justifyContent: 'center' }}&gt;&#10;                &lt;Text style={{ fontSize: 14, color: '#546779', lineHeight: 1.5, textAlign: 'center' }}&gt;计数在参数解析与执行前递增，不能当成成功执行次数。&lt;/Text&gt;&#10;            &lt;/Box&gt;&#10;            &lt;Box style={{ width: 360, height: 84, background: '#F4F7FA', borderRadius: 10, padding: '12px 16px', justifyContent: 'center' }}&gt;&#10;                &lt;Text style={{ fontSize: 14, color: '#546779', lineHeight: 1.5, textAlign: 'center' }}&gt;达到上限就报告已完成内容与停止原因。&lt;/Text&gt;&#10;            &lt;/Box&gt;&#10;            &lt;Box style={{ width: 360, height: 84, background: '#F4F7FA', borderRadius: 10, padding: '12px 16px', justifyContent: 'center' }}&gt;&#10;                &lt;Text style={{ fontSize: 14, color: '#546779', lineHeight: 1.5, textAlign: 'center' }}&gt;这是配套程序的保护参数，不是 OpenAI 的统一限制。&lt;/Text&gt;&#10;            &lt;/Box&gt;&#10;        &lt;/Box&gt;&#10;&#10;    &lt;/Box&gt;&#10;&#10;    &lt;Box style={{ height: 40, flexDirection: 'row', justifyContent: 'space-between', alignItems: 'center' }}&gt;&#10;        &lt;Text style={{ fontSize: 14, color: '#546779' }}&gt;2.5 Function Calling&lt;/Text&gt;&#10;        &lt;Text style={{ fontSize: 14, color: '#546779' }}&gt;22 / 26&lt;/Text&gt;&#10;    &lt;/Box&gt;&#10;&#10;&lt;/Slide&gt;&#10;"/>
        <p:cNvGrpSpPr/>
        <p:nvPr/>
      </p:nvGrpSpPr>
      <p:grpSpPr>
        <a:xfrm>
          <a:off x="0" y="0"/>
          <a:ext cx="0" cy="0"/>
          <a:chOff x="0" y="0"/>
          <a:chExt cx="0" cy="0"/>
        </a:xfrm>
      </p:grpSpPr>
      <p:sp>
        <p:nvSpPr>
          <p:cNvPr id="379" name=""/>
          <p:cNvSpPr/>
          <p:nvPr/>
        </p:nvSpPr>
        <p:spPr>
          <a:xfrm rot="0" flipH="0" flipV="0">
            <a:off x="0" y="0"/>
            <a:ext cx="12192000" cy="6858000"/>
          </a:xfrm>
          <a:prstGeom prst="rect">
            <a:avLst/>
          </a:prstGeom>
          <a:solidFill>
            <a:srgbClr val="FFFFFF"/>
          </a:solidFill>
          <a:ln/>
        </p:spPr>
        <p:txBody>
          <a:bodyPr/>
          <a:p/>
        </p:txBody>
      </p:sp>
      <p:sp>
        <p:nvSpPr>
          <p:cNvPr id="380" name=""/>
          <p:cNvSpPr/>
          <p:nvPr/>
        </p:nvSpPr>
        <p:spPr>
          <a:xfrm rot="0" flipH="0" flipV="0">
            <a:off x="609600" y="457200"/>
            <a:ext cx="38100" cy="419100"/>
          </a:xfrm>
          <a:prstGeom prst="rect">
            <a:avLst/>
          </a:prstGeom>
          <a:solidFill>
            <a:srgbClr val="276FBF"/>
          </a:solidFill>
          <a:ln/>
        </p:spPr>
        <p:txBody>
          <a:bodyPr/>
          <a:p/>
        </p:txBody>
      </p:sp>
      <p:sp>
        <p:nvSpPr>
          <p:cNvPr id="381" name="" descr="{&quot;isTemplate&quot;:true,&quot;type&quot;:&quot;text&quot;}"/>
          <p:cNvSpPr txBox="1"/>
          <p:nvPr/>
        </p:nvSpPr>
        <p:spPr>
          <a:xfrm rot="0" flipH="0" flipV="0">
            <a:off x="838200" y="371475"/>
            <a:ext cx="2171700" cy="161925"/>
          </a:xfrm>
          <a:prstGeom prst="rect"/>
        </p:spPr>
        <p:txBody>
          <a:bodyPr wrap="none" lIns="0" tIns="0" rIns="0" bIns="0"/>
          <a:p>
            <a:pPr>
              <a:lnSpc>
                <a:spcPct val="100000"/>
              </a:lnSpc>
            </a:pPr>
            <a:r>
              <a:rPr lang="en-US" sz="1050">
                <a:solidFill>
                  <a:srgbClr val="546779"/>
                </a:solidFill>
                <a:latin typeface="Microsoft YaHei"/>
                <a:ea typeface="Microsoft YaHei"/>
              </a:rPr>
              <a:t>2.5.4</a:t>
            </a:r>
            <a:r>
              <a:rPr lang="zh-CN" sz="1050">
                <a:solidFill>
                  <a:srgbClr val="546779"/>
                </a:solidFill>
                <a:latin typeface="Microsoft YaHei"/>
                <a:ea typeface="Microsoft YaHei"/>
              </a:rPr>
              <a:t>　参数错误、工具失败与无进展</a:t>
            </a:r>
            <a:endParaRPr/>
          </a:p>
        </p:txBody>
      </p:sp>
      <p:sp>
        <p:nvSpPr>
          <p:cNvPr id="382" name="" descr="{&quot;isTemplate&quot;:true,&quot;type&quot;:&quot;text&quot;}"/>
          <p:cNvSpPr txBox="1"/>
          <p:nvPr/>
        </p:nvSpPr>
        <p:spPr>
          <a:xfrm rot="0" flipH="0" flipV="0">
            <a:off x="838200" y="571500"/>
            <a:ext cx="2171700" cy="390525"/>
          </a:xfrm>
          <a:prstGeom prst="rect"/>
        </p:spPr>
        <p:txBody>
          <a:bodyPr wrap="none" lIns="0" tIns="0" rIns="0" bIns="0"/>
          <a:p>
            <a:pPr>
              <a:lnSpc>
                <a:spcPct val="100000"/>
              </a:lnSpc>
            </a:pPr>
            <a:r>
              <a:rPr lang="zh-CN" sz="2550" b="1">
                <a:solidFill>
                  <a:srgbClr val="20344B"/>
                </a:solidFill>
                <a:latin typeface="Microsoft YaHei"/>
                <a:ea typeface="Microsoft YaHei"/>
              </a:rPr>
              <a:t>三个保护参数</a:t>
            </a:r>
            <a:endParaRPr/>
          </a:p>
        </p:txBody>
      </p:sp>
      <p:sp>
        <p:nvSpPr>
          <p:cNvPr id="383" name=""/>
          <p:cNvSpPr/>
          <p:nvPr/>
        </p:nvSpPr>
        <p:spPr>
          <a:xfrm rot="0" flipH="0" flipV="0">
            <a:off x="609600" y="1685925"/>
            <a:ext cx="10972800" cy="438150"/>
          </a:xfrm>
          <a:prstGeom prst="roundRect">
            <a:avLst>
              <a:gd name="adj" fmla="val 21739"/>
            </a:avLst>
          </a:prstGeom>
          <a:solidFill>
            <a:srgbClr val="F4F7FA"/>
          </a:solidFill>
          <a:ln/>
        </p:spPr>
        <p:txBody>
          <a:bodyPr/>
          <a:p/>
        </p:txBody>
      </p:sp>
      <p:sp>
        <p:nvSpPr>
          <p:cNvPr id="384" name=""/>
          <p:cNvSpPr/>
          <p:nvPr/>
        </p:nvSpPr>
        <p:spPr>
          <a:xfrm rot="0" flipH="0" flipV="0">
            <a:off x="800100" y="1781175"/>
            <a:ext cx="28575" cy="247650"/>
          </a:xfrm>
          <a:prstGeom prst="rect">
            <a:avLst/>
          </a:prstGeom>
          <a:solidFill>
            <a:srgbClr val="276FBF"/>
          </a:solidFill>
          <a:ln/>
        </p:spPr>
        <p:txBody>
          <a:bodyPr/>
          <a:p/>
        </p:txBody>
      </p:sp>
      <p:sp>
        <p:nvSpPr>
          <p:cNvPr id="385" name="" descr="{&quot;isTemplate&quot;:true,&quot;type&quot;:&quot;text&quot;}"/>
          <p:cNvSpPr txBox="1"/>
          <p:nvPr/>
        </p:nvSpPr>
        <p:spPr>
          <a:xfrm rot="0" flipH="0" flipV="0">
            <a:off x="981075" y="1809750"/>
            <a:ext cx="3810000" cy="190500"/>
          </a:xfrm>
          <a:prstGeom prst="rect"/>
        </p:spPr>
        <p:txBody>
          <a:bodyPr wrap="none" lIns="0" tIns="0" rIns="0" bIns="0"/>
          <a:p>
            <a:pPr>
              <a:lnSpc>
                <a:spcPct val="100000"/>
              </a:lnSpc>
            </a:pPr>
            <a:r>
              <a:rPr lang="zh-CN" sz="1200">
                <a:solidFill>
                  <a:srgbClr val="546779"/>
                </a:solidFill>
                <a:latin typeface="Microsoft YaHei"/>
                <a:ea typeface="Microsoft YaHei"/>
              </a:rPr>
              <a:t>本章教学上限分开计数：模型响应与工具请求各记各的。</a:t>
            </a:r>
            <a:endParaRPr/>
          </a:p>
        </p:txBody>
      </p:sp>
      <p:sp>
        <p:nvSpPr>
          <p:cNvPr id="386" name=""/>
          <p:cNvSpPr/>
          <p:nvPr/>
        </p:nvSpPr>
        <p:spPr>
          <a:xfrm rot="0" flipH="0" flipV="0">
            <a:off x="609600" y="2295525"/>
            <a:ext cx="3429000" cy="2476500"/>
          </a:xfrm>
          <a:prstGeom prst="roundRect">
            <a:avLst>
              <a:gd name="adj" fmla="val 4615"/>
            </a:avLst>
          </a:prstGeom>
          <a:solidFill>
            <a:srgbClr val="EDF4FC"/>
          </a:solidFill>
          <a:ln/>
        </p:spPr>
        <p:txBody>
          <a:bodyPr/>
          <a:p/>
        </p:txBody>
      </p:sp>
      <p:sp>
        <p:nvSpPr>
          <p:cNvPr id="387" name="" descr="{&quot;isTemplate&quot;:true,&quot;type&quot;:&quot;text&quot;}"/>
          <p:cNvSpPr txBox="1"/>
          <p:nvPr/>
        </p:nvSpPr>
        <p:spPr>
          <a:xfrm rot="0" flipH="0" flipV="0">
            <a:off x="2066925" y="2724150"/>
            <a:ext cx="523875" cy="1009650"/>
          </a:xfrm>
          <a:prstGeom prst="rect"/>
        </p:spPr>
        <p:txBody>
          <a:bodyPr wrap="none" lIns="0" tIns="0" rIns="0" bIns="0"/>
          <a:p>
            <a:pPr>
              <a:lnSpc>
                <a:spcPct val="100000"/>
              </a:lnSpc>
            </a:pPr>
            <a:r>
              <a:rPr lang="en-US" sz="6600" b="1">
                <a:solidFill>
                  <a:srgbClr val="276FBF"/>
                </a:solidFill>
                <a:latin typeface="Microsoft YaHei"/>
                <a:ea typeface="Microsoft YaHei"/>
              </a:rPr>
              <a:t>8</a:t>
            </a:r>
            <a:endParaRPr/>
          </a:p>
        </p:txBody>
      </p:sp>
      <p:sp>
        <p:nvSpPr>
          <p:cNvPr id="388" name="" descr="{&quot;isTemplate&quot;:true,&quot;type&quot;:&quot;text&quot;}"/>
          <p:cNvSpPr txBox="1"/>
          <p:nvPr/>
        </p:nvSpPr>
        <p:spPr>
          <a:xfrm rot="0" flipH="0" flipV="0">
            <a:off x="1876425" y="3810000"/>
            <a:ext cx="904875" cy="219075"/>
          </a:xfrm>
          <a:prstGeom prst="rect"/>
        </p:spPr>
        <p:txBody>
          <a:bodyPr wrap="none" lIns="0" tIns="0" rIns="0" bIns="0"/>
          <a:p>
            <a:pPr>
              <a:lnSpc>
                <a:spcPct val="100000"/>
              </a:lnSpc>
            </a:pPr>
            <a:r>
              <a:rPr lang="zh-CN" sz="1425" b="1">
                <a:solidFill>
                  <a:srgbClr val="20344B"/>
                </a:solidFill>
                <a:latin typeface="Microsoft YaHei"/>
                <a:ea typeface="Microsoft YaHei"/>
              </a:rPr>
              <a:t>轮模型响应</a:t>
            </a:r>
            <a:endParaRPr/>
          </a:p>
        </p:txBody>
      </p:sp>
      <p:sp>
        <p:nvSpPr>
          <p:cNvPr id="389" name="" descr="{&quot;isTemplate&quot;:true,&quot;type&quot;:&quot;text&quot;}"/>
          <p:cNvSpPr txBox="1"/>
          <p:nvPr/>
        </p:nvSpPr>
        <p:spPr>
          <a:xfrm rot="0" flipH="0" flipV="0">
            <a:off x="1790700" y="4105275"/>
            <a:ext cx="1066800" cy="247650"/>
          </a:xfrm>
          <a:prstGeom prst="rect"/>
        </p:spPr>
        <p:txBody>
          <a:bodyPr wrap="none" lIns="0" tIns="0" rIns="0" bIns="0"/>
          <a:p>
            <a:pPr algn="ctr">
              <a:lnSpc>
                <a:spcPct val="150000"/>
              </a:lnSpc>
            </a:pPr>
            <a:r>
              <a:rPr lang="zh-CN" sz="1050">
                <a:solidFill>
                  <a:srgbClr val="546779"/>
                </a:solidFill>
                <a:latin typeface="Microsoft YaHei"/>
                <a:ea typeface="Microsoft YaHei"/>
              </a:rPr>
              <a:t>最多八轮模型请求</a:t>
            </a:r>
            <a:endParaRPr/>
          </a:p>
        </p:txBody>
      </p:sp>
      <p:sp>
        <p:nvSpPr>
          <p:cNvPr id="390" name=""/>
          <p:cNvSpPr/>
          <p:nvPr/>
        </p:nvSpPr>
        <p:spPr>
          <a:xfrm rot="0" flipH="0" flipV="0">
            <a:off x="4381500" y="2295525"/>
            <a:ext cx="3429000" cy="2476500"/>
          </a:xfrm>
          <a:prstGeom prst="roundRect">
            <a:avLst>
              <a:gd name="adj" fmla="val 4615"/>
            </a:avLst>
          </a:prstGeom>
          <a:solidFill>
            <a:srgbClr val="EDF4FC"/>
          </a:solidFill>
          <a:ln/>
        </p:spPr>
        <p:txBody>
          <a:bodyPr/>
          <a:p/>
        </p:txBody>
      </p:sp>
      <p:sp>
        <p:nvSpPr>
          <p:cNvPr id="391" name="" descr="{&quot;isTemplate&quot;:true,&quot;type&quot;:&quot;text&quot;}"/>
          <p:cNvSpPr txBox="1"/>
          <p:nvPr/>
        </p:nvSpPr>
        <p:spPr>
          <a:xfrm rot="0" flipH="0" flipV="0">
            <a:off x="5581650" y="2724150"/>
            <a:ext cx="1038225" cy="1009650"/>
          </a:xfrm>
          <a:prstGeom prst="rect"/>
        </p:spPr>
        <p:txBody>
          <a:bodyPr wrap="none" lIns="0" tIns="0" rIns="0" bIns="0"/>
          <a:p>
            <a:pPr>
              <a:lnSpc>
                <a:spcPct val="100000"/>
              </a:lnSpc>
            </a:pPr>
            <a:r>
              <a:rPr lang="en-US" sz="6600" b="1">
                <a:solidFill>
                  <a:srgbClr val="276FBF"/>
                </a:solidFill>
                <a:latin typeface="Microsoft YaHei"/>
                <a:ea typeface="Microsoft YaHei"/>
              </a:rPr>
              <a:t>16</a:t>
            </a:r>
            <a:endParaRPr/>
          </a:p>
        </p:txBody>
      </p:sp>
      <p:sp>
        <p:nvSpPr>
          <p:cNvPr id="392" name="" descr="{&quot;isTemplate&quot;:true,&quot;type&quot;:&quot;text&quot;}"/>
          <p:cNvSpPr txBox="1"/>
          <p:nvPr/>
        </p:nvSpPr>
        <p:spPr>
          <a:xfrm rot="0" flipH="0" flipV="0">
            <a:off x="5648325" y="3810000"/>
            <a:ext cx="904875" cy="219075"/>
          </a:xfrm>
          <a:prstGeom prst="rect"/>
        </p:spPr>
        <p:txBody>
          <a:bodyPr wrap="none" lIns="0" tIns="0" rIns="0" bIns="0"/>
          <a:p>
            <a:pPr>
              <a:lnSpc>
                <a:spcPct val="100000"/>
              </a:lnSpc>
            </a:pPr>
            <a:r>
              <a:rPr lang="zh-CN" sz="1425" b="1">
                <a:solidFill>
                  <a:srgbClr val="20344B"/>
                </a:solidFill>
                <a:latin typeface="Microsoft YaHei"/>
                <a:ea typeface="Microsoft YaHei"/>
              </a:rPr>
              <a:t>条工具请求</a:t>
            </a:r>
            <a:endParaRPr/>
          </a:p>
        </p:txBody>
      </p:sp>
      <p:sp>
        <p:nvSpPr>
          <p:cNvPr id="393" name="" descr="{&quot;isTemplate&quot;:true,&quot;type&quot;:&quot;text&quot;}"/>
          <p:cNvSpPr txBox="1"/>
          <p:nvPr/>
        </p:nvSpPr>
        <p:spPr>
          <a:xfrm rot="0" flipH="0" flipV="0">
            <a:off x="5295900" y="4105275"/>
            <a:ext cx="1600200" cy="247650"/>
          </a:xfrm>
          <a:prstGeom prst="rect"/>
        </p:spPr>
        <p:txBody>
          <a:bodyPr wrap="none" lIns="0" tIns="0" rIns="0" bIns="0"/>
          <a:p>
            <a:pPr algn="ctr">
              <a:lnSpc>
                <a:spcPct val="150000"/>
              </a:lnSpc>
            </a:pPr>
            <a:r>
              <a:rPr lang="zh-CN" sz="1050">
                <a:solidFill>
                  <a:srgbClr val="546779"/>
                </a:solidFill>
                <a:latin typeface="Microsoft YaHei"/>
                <a:ea typeface="Microsoft YaHei"/>
              </a:rPr>
              <a:t>十六条进入处理的工具请求</a:t>
            </a:r>
            <a:endParaRPr/>
          </a:p>
        </p:txBody>
      </p:sp>
      <p:sp>
        <p:nvSpPr>
          <p:cNvPr id="394" name=""/>
          <p:cNvSpPr/>
          <p:nvPr/>
        </p:nvSpPr>
        <p:spPr>
          <a:xfrm rot="0" flipH="0" flipV="0">
            <a:off x="8153400" y="2295525"/>
            <a:ext cx="3429000" cy="2476500"/>
          </a:xfrm>
          <a:prstGeom prst="roundRect">
            <a:avLst>
              <a:gd name="adj" fmla="val 4615"/>
            </a:avLst>
          </a:prstGeom>
          <a:solidFill>
            <a:srgbClr val="FFF4E6"/>
          </a:solidFill>
          <a:ln/>
        </p:spPr>
        <p:txBody>
          <a:bodyPr/>
          <a:p/>
        </p:txBody>
      </p:sp>
      <p:sp>
        <p:nvSpPr>
          <p:cNvPr id="395" name="" descr="{&quot;isTemplate&quot;:true,&quot;type&quot;:&quot;text&quot;}"/>
          <p:cNvSpPr txBox="1"/>
          <p:nvPr/>
        </p:nvSpPr>
        <p:spPr>
          <a:xfrm rot="0" flipH="0" flipV="0">
            <a:off x="9610725" y="2724150"/>
            <a:ext cx="523875" cy="1009650"/>
          </a:xfrm>
          <a:prstGeom prst="rect"/>
        </p:spPr>
        <p:txBody>
          <a:bodyPr wrap="none" lIns="0" tIns="0" rIns="0" bIns="0"/>
          <a:p>
            <a:pPr>
              <a:lnSpc>
                <a:spcPct val="100000"/>
              </a:lnSpc>
            </a:pPr>
            <a:r>
              <a:rPr lang="en-US" sz="6600" b="1">
                <a:solidFill>
                  <a:srgbClr val="CB6B28"/>
                </a:solidFill>
                <a:latin typeface="Microsoft YaHei"/>
                <a:ea typeface="Microsoft YaHei"/>
              </a:rPr>
              <a:t>3</a:t>
            </a:r>
            <a:endParaRPr/>
          </a:p>
        </p:txBody>
      </p:sp>
      <p:sp>
        <p:nvSpPr>
          <p:cNvPr id="396" name="" descr="{&quot;isTemplate&quot;:true,&quot;type&quot;:&quot;text&quot;}"/>
          <p:cNvSpPr txBox="1"/>
          <p:nvPr/>
        </p:nvSpPr>
        <p:spPr>
          <a:xfrm rot="0" flipH="0" flipV="0">
            <a:off x="9324975" y="3810000"/>
            <a:ext cx="1085850" cy="219075"/>
          </a:xfrm>
          <a:prstGeom prst="rect"/>
        </p:spPr>
        <p:txBody>
          <a:bodyPr wrap="none" lIns="0" tIns="0" rIns="0" bIns="0"/>
          <a:p>
            <a:pPr>
              <a:lnSpc>
                <a:spcPct val="100000"/>
              </a:lnSpc>
            </a:pPr>
            <a:r>
              <a:rPr lang="zh-CN" sz="1425" b="1">
                <a:solidFill>
                  <a:srgbClr val="20344B"/>
                </a:solidFill>
                <a:latin typeface="Microsoft YaHei"/>
                <a:ea typeface="Microsoft YaHei"/>
              </a:rPr>
              <a:t>次无进展拦截</a:t>
            </a:r>
            <a:endParaRPr/>
          </a:p>
        </p:txBody>
      </p:sp>
      <p:sp>
        <p:nvSpPr>
          <p:cNvPr id="397" name="" descr="{&quot;isTemplate&quot;:true,&quot;type&quot;:&quot;text&quot;}"/>
          <p:cNvSpPr txBox="1"/>
          <p:nvPr/>
        </p:nvSpPr>
        <p:spPr>
          <a:xfrm rot="0" flipH="0" flipV="0">
            <a:off x="9067800" y="4105275"/>
            <a:ext cx="1600200" cy="247650"/>
          </a:xfrm>
          <a:prstGeom prst="rect"/>
        </p:spPr>
        <p:txBody>
          <a:bodyPr wrap="none" lIns="0" tIns="0" rIns="0" bIns="0"/>
          <a:p>
            <a:pPr algn="ctr">
              <a:lnSpc>
                <a:spcPct val="150000"/>
              </a:lnSpc>
            </a:pPr>
            <a:r>
              <a:rPr lang="zh-CN" sz="1050">
                <a:solidFill>
                  <a:srgbClr val="546779"/>
                </a:solidFill>
                <a:latin typeface="Microsoft YaHei"/>
                <a:ea typeface="Microsoft YaHei"/>
              </a:rPr>
              <a:t>同一函数与参数累计第三次</a:t>
            </a:r>
            <a:endParaRPr/>
          </a:p>
        </p:txBody>
      </p:sp>
      <p:sp>
        <p:nvSpPr>
          <p:cNvPr id="398" name=""/>
          <p:cNvSpPr/>
          <p:nvPr/>
        </p:nvSpPr>
        <p:spPr>
          <a:xfrm rot="0" flipH="0" flipV="0">
            <a:off x="609600" y="4943475"/>
            <a:ext cx="3429000" cy="800100"/>
          </a:xfrm>
          <a:prstGeom prst="roundRect">
            <a:avLst>
              <a:gd name="adj" fmla="val 11905"/>
            </a:avLst>
          </a:prstGeom>
          <a:solidFill>
            <a:srgbClr val="F4F7FA"/>
          </a:solidFill>
          <a:ln/>
        </p:spPr>
        <p:txBody>
          <a:bodyPr/>
          <a:p/>
        </p:txBody>
      </p:sp>
      <p:sp>
        <p:nvSpPr>
          <p:cNvPr id="399" name="" descr="{&quot;isTemplate&quot;:true,&quot;type&quot;:&quot;text&quot;}"/>
          <p:cNvSpPr txBox="1"/>
          <p:nvPr/>
        </p:nvSpPr>
        <p:spPr>
          <a:xfrm rot="0" flipH="0" flipV="0">
            <a:off x="762000" y="5105400"/>
            <a:ext cx="3124200" cy="485775"/>
          </a:xfrm>
          <a:prstGeom prst="rect"/>
        </p:spPr>
        <p:txBody>
          <a:bodyPr wrap="square" lIns="0" tIns="0" rIns="0" bIns="0">
            <a:normAutofit/>
          </a:bodyPr>
          <a:p>
            <a:pPr algn="ctr">
              <a:lnSpc>
                <a:spcPct val="150000"/>
              </a:lnSpc>
            </a:pPr>
            <a:r>
              <a:rPr lang="zh-CN" sz="1050">
                <a:solidFill>
                  <a:srgbClr val="546779"/>
                </a:solidFill>
                <a:latin typeface="Microsoft YaHei"/>
                <a:ea typeface="Microsoft YaHei"/>
              </a:rPr>
              <a:t>计数在参数解析与执行前递增，不能当成成功执行次数。</a:t>
            </a:r>
            <a:endParaRPr/>
          </a:p>
        </p:txBody>
      </p:sp>
      <p:sp>
        <p:nvSpPr>
          <p:cNvPr id="400" name=""/>
          <p:cNvSpPr/>
          <p:nvPr/>
        </p:nvSpPr>
        <p:spPr>
          <a:xfrm rot="0" flipH="0" flipV="0">
            <a:off x="4381500" y="4943475"/>
            <a:ext cx="3429000" cy="800100"/>
          </a:xfrm>
          <a:prstGeom prst="roundRect">
            <a:avLst>
              <a:gd name="adj" fmla="val 11905"/>
            </a:avLst>
          </a:prstGeom>
          <a:solidFill>
            <a:srgbClr val="F4F7FA"/>
          </a:solidFill>
          <a:ln/>
        </p:spPr>
        <p:txBody>
          <a:bodyPr/>
          <a:p/>
        </p:txBody>
      </p:sp>
      <p:sp>
        <p:nvSpPr>
          <p:cNvPr id="401" name="" descr="{&quot;isTemplate&quot;:true,&quot;type&quot;:&quot;text&quot;}"/>
          <p:cNvSpPr txBox="1"/>
          <p:nvPr/>
        </p:nvSpPr>
        <p:spPr>
          <a:xfrm rot="0" flipH="0" flipV="0">
            <a:off x="4533900" y="5219700"/>
            <a:ext cx="3124200" cy="247650"/>
          </a:xfrm>
          <a:prstGeom prst="rect"/>
        </p:spPr>
        <p:txBody>
          <a:bodyPr wrap="none" lIns="0" tIns="0" rIns="0" bIns="0"/>
          <a:p>
            <a:pPr algn="ctr">
              <a:lnSpc>
                <a:spcPct val="150000"/>
              </a:lnSpc>
            </a:pPr>
            <a:r>
              <a:rPr lang="zh-CN" sz="1050">
                <a:solidFill>
                  <a:srgbClr val="546779"/>
                </a:solidFill>
                <a:latin typeface="Microsoft YaHei"/>
                <a:ea typeface="Microsoft YaHei"/>
              </a:rPr>
              <a:t>达到上限就报告已完成内容与停止原因。</a:t>
            </a:r>
            <a:endParaRPr/>
          </a:p>
        </p:txBody>
      </p:sp>
      <p:sp>
        <p:nvSpPr>
          <p:cNvPr id="402" name=""/>
          <p:cNvSpPr/>
          <p:nvPr/>
        </p:nvSpPr>
        <p:spPr>
          <a:xfrm rot="0" flipH="0" flipV="0">
            <a:off x="8153400" y="4943475"/>
            <a:ext cx="3429000" cy="800100"/>
          </a:xfrm>
          <a:prstGeom prst="roundRect">
            <a:avLst>
              <a:gd name="adj" fmla="val 11905"/>
            </a:avLst>
          </a:prstGeom>
          <a:solidFill>
            <a:srgbClr val="F4F7FA"/>
          </a:solidFill>
          <a:ln/>
        </p:spPr>
        <p:txBody>
          <a:bodyPr/>
          <a:p/>
        </p:txBody>
      </p:sp>
      <p:sp>
        <p:nvSpPr>
          <p:cNvPr id="403" name="" descr="{&quot;isTemplate&quot;:true,&quot;type&quot;:&quot;text&quot;}"/>
          <p:cNvSpPr txBox="1"/>
          <p:nvPr/>
        </p:nvSpPr>
        <p:spPr>
          <a:xfrm rot="0" flipH="0" flipV="0">
            <a:off x="8305800" y="5105400"/>
            <a:ext cx="3124200" cy="485775"/>
          </a:xfrm>
          <a:prstGeom prst="rect"/>
        </p:spPr>
        <p:txBody>
          <a:bodyPr wrap="square" lIns="0" tIns="0" rIns="0" bIns="0">
            <a:normAutofit/>
          </a:bodyPr>
          <a:p>
            <a:pPr algn="ctr">
              <a:lnSpc>
                <a:spcPct val="150000"/>
              </a:lnSpc>
            </a:pPr>
            <a:r>
              <a:rPr lang="zh-CN" sz="1050">
                <a:solidFill>
                  <a:srgbClr val="546779"/>
                </a:solidFill>
                <a:latin typeface="Microsoft YaHei"/>
                <a:ea typeface="Microsoft YaHei"/>
              </a:rPr>
              <a:t>这是配套程序的保护参数，不是</a:t>
            </a:r>
            <a:r>
              <a:rPr lang="en-US" sz="1050">
                <a:solidFill>
                  <a:srgbClr val="546779"/>
                </a:solidFill>
                <a:latin typeface="Microsoft YaHei"/>
                <a:ea typeface="Microsoft YaHei"/>
              </a:rPr>
              <a:t xml:space="preserve"> OpenAI </a:t>
            </a:r>
            <a:r>
              <a:rPr lang="zh-CN" sz="1050">
                <a:solidFill>
                  <a:srgbClr val="546779"/>
                </a:solidFill>
                <a:latin typeface="Microsoft YaHei"/>
                <a:ea typeface="Microsoft YaHei"/>
              </a:rPr>
              <a:t>的统一限制。</a:t>
            </a:r>
            <a:endParaRPr/>
          </a:p>
        </p:txBody>
      </p:sp>
      <p:sp>
        <p:nvSpPr>
          <p:cNvPr id="404"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40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22 / 26</a:t>
            </a:r>
            <a:endParaRPr/>
          </a:p>
        </p:txBody>
      </p:sp>
    </p:spTree>
  </p:cSld>
</p:sld>
</file>

<file path=ppt/slides/slide23.xml><?xml version="1.0" encoding="utf-8"?>
<p:sld xmlns:p="http://schemas.openxmlformats.org/presentationml/2006/main" xmlns:a="http://schemas.openxmlformats.org/drawingml/2006/main">
  <p:cSld>
    <p:spTree>
      <p:nvGrpSpPr>
        <p:cNvPr id="406" name="" descr="&lt;Slide notes={`只读查询和写操作的性质完全不同，我把它拆成三行对照。&#10;&#10;看典型操作。查询是去读已有的预约记录；写操作是预订、转账或者发送，它会改变外部世界的状态。&#10;&#10;看重试的代价。只读查询相对容易重试，多查一次不会有副作用。写操作不一样：一次网络超时可能发生在外部操作完成之后，也就是说，对方其实已经收到了，我们这边只是没等到回应。这时候盲目重复，就会造成重复的预订或者重复的付款。&#10;&#10;看还要确认什么。查询主要确认参数和允许范围；写操作还需要额外的幂等设计和状态确认。&#10;&#10;本章不执行这类写操作，但要从一开始就把查询和提交分开对待。`}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4　参数错误、工具失败与无进展&lt;/Text&gt;&#10;            &lt;Text style={{ fontSize: 34, fontWeight: 'bold', color: '#20344B' }}&gt;查询可以重试，提交不行&lt;/Text&gt;&#10;        &lt;/Box&gt;&#10;    &lt;/Box&gt;&#10;&#10;    &lt;Box style={{ height: 540, flexDirection: 'column', justifyContent: 'center', gap: 16 }}&gt;&#10;&#10;        &lt;Box style={{ flexDirection: 'row', alignItems: 'center', gap: 16, background: '#F4F7FA', borderRadius: 10, padding: '10px 20px' }}&gt;&#10;            &lt;Box style={{ width: 3, height: 26, background: '#276FBF' }} /&gt;&#10;            &lt;Text style={{ fontSize: 16, color: '#546779' }}&gt;只读查询相对容易重试；写操作还需要额外的幂等与状态确认。&lt;/Text&gt;&#10;        &lt;/Box&gt;&#10;&#10;        &lt;Box style={{ flexDirection: 'row' }}&gt;&#10;            &lt;Box style={{ width: 200, height: 56, justifyContent: 'center' }}&gt;&#10;                &lt;Text style={{ fontSize: 16, fontWeight: 'bold', color: '#546779' }}&gt;对照维度&lt;/Text&gt;&#10;            &lt;/Box&gt;&#10;            &lt;Box style={{ width: 16 }} /&gt;&#10;            &lt;Box style={{ flex: 1, height: 56, background: '#EDF4FC', borderRadius: 8, justifyContent: 'center', alignItems: 'center' }}&gt;&#10;                &lt;Text style={{ fontSize: 18, fontWeight: 'bold', color: '#276FBF' }}&gt;只读查询&lt;/Text&gt;&#10;            &lt;/Box&gt;&#10;            &lt;Box style={{ width: 16 }} /&gt;&#10;            &lt;Box style={{ width: 420, height: 56, background: '#FFF4E6', borderRadius: 8, justifyContent: 'center', alignItems: 'center' }}&gt;&#10;                &lt;Text style={{ fontSize: 18, fontWeight: 'bold', color: '#CB6B28' }}&gt;写操作：预订、转账、发送&lt;/Text&gt;&#10;            &lt;/Box&gt;&#10;        &lt;/Box&gt;&#10;&#10;        &lt;Box style={{ flexDirection: 'row' }}&gt;&#10;            &lt;Box style={{ width: 200, height: 100, justifyContent: 'center' }}&gt;&#10;                &lt;Text style={{ fontSize: 16, fontWeight: 'bold', color: '#20344B' }}&gt;典型操作&lt;/Text&gt;&#10;            &lt;/Box&gt;&#10;            &lt;Box style={{ width: 16 }} /&gt;&#10;            &lt;Box style={{ flex: 1, height: 100, background: '#F4F7FA', borderRadius: 8, padding: '0 20px', justifyContent: 'center' }}&gt;&#10;                &lt;Text style={{ fontSize: 15, color: '#20344B', lineHeight: 1.5 }}&gt;查询指定房间与日期的已有预约记录&lt;/Text&gt;&#10;            &lt;/Box&gt;&#10;            &lt;Box style={{ width: 16 }} /&gt;&#10;            &lt;Box style={{ width: 420, height: 100, background: '#FFF4E6', borderRadius: 8, padding: '0 20px', justifyContent: 'center' }}&gt;&#10;                &lt;Text style={{ fontSize: 15, color: '#20344B', lineHeight: 1.5 }}&gt;改变外部世界的状态，不只是读取&lt;/Text&gt;&#10;            &lt;/Box&gt;&#10;        &lt;/Box&gt;&#10;&#10;        &lt;Box style={{ flexDirection: 'row' }}&gt;&#10;            &lt;Box style={{ width: 200, height: 100, justifyContent: 'center' }}&gt;&#10;                &lt;Text style={{ fontSize: 16, fontWeight: 'bold', color: '#20344B' }}&gt;重试代价&lt;/Text&gt;&#10;            &lt;/Box&gt;&#10;            &lt;Box style={{ width: 16 }} /&gt;&#10;            &lt;Box style={{ flex: 1, height: 100, background: '#F4F7FA', borderRadius: 8, padding: '0 20px', justifyContent: 'center' }}&gt;&#10;                &lt;Text style={{ fontSize: 15, color: '#20344B', lineHeight: 1.5 }}&gt;相对容易重试，多查一次不会改变记录&lt;/Text&gt;&#10;            &lt;/Box&gt;&#10;            &lt;Box style={{ width: 16 }} /&gt;&#10;            &lt;Box style={{ width: 420, height: 100, background: '#FFF4E6', borderRadius: 8, padding: '0 20px', justifyContent: 'center' }}&gt;&#10;                &lt;Text style={{ fontSize: 15, color: '#20344B', lineHeight: 1.5 }}&gt;盲目重复会造成重复副作用&lt;/Text&gt;&#10;            &lt;/Box&gt;&#10;        &lt;/Box&gt;&#10;&#10;        &lt;Box style={{ flexDirection: 'row' }}&gt;&#10;            &lt;Box style={{ width: 200, height: 100, justifyContent: 'center' }}&gt;&#10;                &lt;Text style={{ fontSize: 16, fontWeight: 'bold', color: '#20344B' }}&gt;还要确认什么&lt;/Text&gt;&#10;            &lt;/Box&gt;&#10;            &lt;Box style={{ width: 16 }} /&gt;&#10;            &lt;Box style={{ flex: 1, height: 100, background: '#F4F7FA', borderRadius: 8, padding: '0 20px', justifyContent: 'center' }}&gt;&#10;                &lt;Text style={{ fontSize: 15, color: '#20344B', lineHeight: 1.5 }}&gt;参数是否有效、是否在允许范围内&lt;/Text&gt;&#10;            &lt;/Box&gt;&#10;            &lt;Box style={{ width: 16 }} /&gt;&#10;            &lt;Box style={{ width: 420, height: 100, background: '#FFF4E6', borderRadius: 8, padding: '0 20px', justifyContent: 'center' }}&gt;&#10;                &lt;Text style={{ fontSize: 15, color: '#20344B', lineHeight: 1.5 }}&gt;需要幂等与状态确认：超时可能发生在外部操作完成之后&lt;/Text&gt;&#10;            &lt;/Box&gt;&#10;        &lt;/Box&gt;&#10;&#10;        &lt;Box style={{ flexDirection: 'row', alignItems: 'center', gap: 16, background: '#FFF4E6', borderRadius: 10, padding: '0 20px', height: 56 }}&gt;&#10;            &lt;Box style={{ width: 4, height: 36, background: '#CB6B28' }} /&gt;&#10;            &lt;Text style={{ fontSize: 15, color: '#20344B' }}&gt;本章不执行写操作，但从一开始就要区分查询与提交。&lt;/Text&gt;&#10;        &lt;/Box&gt;&#10;&#10;    &lt;/Box&gt;&#10;&#10;    &lt;Box style={{ height: 40, flexDirection: 'row', justifyContent: 'space-between', alignItems: 'center' }}&gt;&#10;        &lt;Text style={{ fontSize: 14, color: '#546779' }}&gt;2.5 Function Calling&lt;/Text&gt;&#10;        &lt;Text style={{ fontSize: 14, color: '#546779' }}&gt;23 / 26&lt;/Text&gt;&#10;    &lt;/Box&gt;&#10;&#10;&lt;/Slide&gt;&#10;"/>
        <p:cNvGrpSpPr/>
        <p:nvPr/>
      </p:nvGrpSpPr>
      <p:grpSpPr>
        <a:xfrm>
          <a:off x="0" y="0"/>
          <a:ext cx="0" cy="0"/>
          <a:chOff x="0" y="0"/>
          <a:chExt cx="0" cy="0"/>
        </a:xfrm>
      </p:grpSpPr>
      <p:sp>
        <p:nvSpPr>
          <p:cNvPr id="407" name=""/>
          <p:cNvSpPr/>
          <p:nvPr/>
        </p:nvSpPr>
        <p:spPr>
          <a:xfrm rot="0" flipH="0" flipV="0">
            <a:off x="0" y="0"/>
            <a:ext cx="12192000" cy="6858000"/>
          </a:xfrm>
          <a:prstGeom prst="rect">
            <a:avLst/>
          </a:prstGeom>
          <a:solidFill>
            <a:srgbClr val="FFFFFF"/>
          </a:solidFill>
          <a:ln/>
        </p:spPr>
        <p:txBody>
          <a:bodyPr/>
          <a:p/>
        </p:txBody>
      </p:sp>
      <p:sp>
        <p:nvSpPr>
          <p:cNvPr id="408" name=""/>
          <p:cNvSpPr/>
          <p:nvPr/>
        </p:nvSpPr>
        <p:spPr>
          <a:xfrm rot="0" flipH="0" flipV="0">
            <a:off x="609600" y="457200"/>
            <a:ext cx="38100" cy="419100"/>
          </a:xfrm>
          <a:prstGeom prst="rect">
            <a:avLst/>
          </a:prstGeom>
          <a:solidFill>
            <a:srgbClr val="276FBF"/>
          </a:solidFill>
          <a:ln/>
        </p:spPr>
        <p:txBody>
          <a:bodyPr/>
          <a:p/>
        </p:txBody>
      </p:sp>
      <p:sp>
        <p:nvSpPr>
          <p:cNvPr id="409" name="" descr="{&quot;isTemplate&quot;:true,&quot;type&quot;:&quot;text&quot;}"/>
          <p:cNvSpPr txBox="1"/>
          <p:nvPr/>
        </p:nvSpPr>
        <p:spPr>
          <a:xfrm rot="0" flipH="0" flipV="0">
            <a:off x="838200" y="371475"/>
            <a:ext cx="3562350" cy="161925"/>
          </a:xfrm>
          <a:prstGeom prst="rect"/>
        </p:spPr>
        <p:txBody>
          <a:bodyPr wrap="none" lIns="0" tIns="0" rIns="0" bIns="0"/>
          <a:p>
            <a:pPr>
              <a:lnSpc>
                <a:spcPct val="100000"/>
              </a:lnSpc>
            </a:pPr>
            <a:r>
              <a:rPr lang="en-US" sz="1050">
                <a:solidFill>
                  <a:srgbClr val="546779"/>
                </a:solidFill>
                <a:latin typeface="Microsoft YaHei"/>
                <a:ea typeface="Microsoft YaHei"/>
              </a:rPr>
              <a:t>2.5.4</a:t>
            </a:r>
            <a:r>
              <a:rPr lang="zh-CN" sz="1050">
                <a:solidFill>
                  <a:srgbClr val="546779"/>
                </a:solidFill>
                <a:latin typeface="Microsoft YaHei"/>
                <a:ea typeface="Microsoft YaHei"/>
              </a:rPr>
              <a:t>　参数错误、工具失败与无进展</a:t>
            </a:r>
            <a:endParaRPr/>
          </a:p>
        </p:txBody>
      </p:sp>
      <p:sp>
        <p:nvSpPr>
          <p:cNvPr id="410" name="" descr="{&quot;isTemplate&quot;:true,&quot;type&quot;:&quot;text&quot;}"/>
          <p:cNvSpPr txBox="1"/>
          <p:nvPr/>
        </p:nvSpPr>
        <p:spPr>
          <a:xfrm rot="0" flipH="0" flipV="0">
            <a:off x="838200" y="571500"/>
            <a:ext cx="3562350" cy="390525"/>
          </a:xfrm>
          <a:prstGeom prst="rect"/>
        </p:spPr>
        <p:txBody>
          <a:bodyPr wrap="none" lIns="0" tIns="0" rIns="0" bIns="0"/>
          <a:p>
            <a:pPr>
              <a:lnSpc>
                <a:spcPct val="100000"/>
              </a:lnSpc>
            </a:pPr>
            <a:r>
              <a:rPr lang="zh-CN" sz="2550" b="1">
                <a:solidFill>
                  <a:srgbClr val="20344B"/>
                </a:solidFill>
                <a:latin typeface="Microsoft YaHei"/>
                <a:ea typeface="Microsoft YaHei"/>
              </a:rPr>
              <a:t>查询可以重试，提交不行</a:t>
            </a:r>
            <a:endParaRPr/>
          </a:p>
        </p:txBody>
      </p:sp>
      <p:sp>
        <p:nvSpPr>
          <p:cNvPr id="411" name=""/>
          <p:cNvSpPr/>
          <p:nvPr/>
        </p:nvSpPr>
        <p:spPr>
          <a:xfrm rot="0" flipH="0" flipV="0">
            <a:off x="609600" y="1152525"/>
            <a:ext cx="10972800" cy="438150"/>
          </a:xfrm>
          <a:prstGeom prst="roundRect">
            <a:avLst>
              <a:gd name="adj" fmla="val 21739"/>
            </a:avLst>
          </a:prstGeom>
          <a:solidFill>
            <a:srgbClr val="F4F7FA"/>
          </a:solidFill>
          <a:ln/>
        </p:spPr>
        <p:txBody>
          <a:bodyPr/>
          <a:p/>
        </p:txBody>
      </p:sp>
      <p:sp>
        <p:nvSpPr>
          <p:cNvPr id="412" name=""/>
          <p:cNvSpPr/>
          <p:nvPr/>
        </p:nvSpPr>
        <p:spPr>
          <a:xfrm rot="0" flipH="0" flipV="0">
            <a:off x="800100" y="1247775"/>
            <a:ext cx="28575" cy="247650"/>
          </a:xfrm>
          <a:prstGeom prst="rect">
            <a:avLst/>
          </a:prstGeom>
          <a:solidFill>
            <a:srgbClr val="276FBF"/>
          </a:solidFill>
          <a:ln/>
        </p:spPr>
        <p:txBody>
          <a:bodyPr/>
          <a:p/>
        </p:txBody>
      </p:sp>
      <p:sp>
        <p:nvSpPr>
          <p:cNvPr id="413" name="" descr="{&quot;isTemplate&quot;:true,&quot;type&quot;:&quot;text&quot;}"/>
          <p:cNvSpPr txBox="1"/>
          <p:nvPr/>
        </p:nvSpPr>
        <p:spPr>
          <a:xfrm rot="0" flipH="0" flipV="0">
            <a:off x="981075" y="1276350"/>
            <a:ext cx="4267200" cy="190500"/>
          </a:xfrm>
          <a:prstGeom prst="rect"/>
        </p:spPr>
        <p:txBody>
          <a:bodyPr wrap="none" lIns="0" tIns="0" rIns="0" bIns="0"/>
          <a:p>
            <a:pPr>
              <a:lnSpc>
                <a:spcPct val="100000"/>
              </a:lnSpc>
            </a:pPr>
            <a:r>
              <a:rPr lang="zh-CN" sz="1200">
                <a:solidFill>
                  <a:srgbClr val="546779"/>
                </a:solidFill>
                <a:latin typeface="Microsoft YaHei"/>
                <a:ea typeface="Microsoft YaHei"/>
              </a:rPr>
              <a:t>只读查询相对容易重试；写操作还需要额外的幂等与状态确认。</a:t>
            </a:r>
            <a:endParaRPr/>
          </a:p>
        </p:txBody>
      </p:sp>
      <p:sp>
        <p:nvSpPr>
          <p:cNvPr id="414" name="" descr="{&quot;isTemplate&quot;:true,&quot;type&quot;:&quot;text&quot;}"/>
          <p:cNvSpPr txBox="1"/>
          <p:nvPr/>
        </p:nvSpPr>
        <p:spPr>
          <a:xfrm rot="0" flipH="0" flipV="0">
            <a:off x="609600" y="1914525"/>
            <a:ext cx="1905000" cy="190500"/>
          </a:xfrm>
          <a:prstGeom prst="rect"/>
        </p:spPr>
        <p:txBody>
          <a:bodyPr wrap="none" lIns="0" tIns="0" rIns="0" bIns="0"/>
          <a:p>
            <a:pPr>
              <a:lnSpc>
                <a:spcPct val="100000"/>
              </a:lnSpc>
            </a:pPr>
            <a:r>
              <a:rPr lang="zh-CN" sz="1200" b="1">
                <a:solidFill>
                  <a:srgbClr val="546779"/>
                </a:solidFill>
                <a:latin typeface="Microsoft YaHei"/>
                <a:ea typeface="Microsoft YaHei"/>
              </a:rPr>
              <a:t>对照维度</a:t>
            </a:r>
            <a:endParaRPr/>
          </a:p>
        </p:txBody>
      </p:sp>
      <p:sp>
        <p:nvSpPr>
          <p:cNvPr id="415" name=""/>
          <p:cNvSpPr/>
          <p:nvPr/>
        </p:nvSpPr>
        <p:spPr>
          <a:xfrm rot="0" flipH="0" flipV="0">
            <a:off x="2667000" y="1743075"/>
            <a:ext cx="4762500" cy="533400"/>
          </a:xfrm>
          <a:prstGeom prst="roundRect">
            <a:avLst>
              <a:gd name="adj" fmla="val 14286"/>
            </a:avLst>
          </a:prstGeom>
          <a:solidFill>
            <a:srgbClr val="EDF4FC"/>
          </a:solidFill>
          <a:ln/>
        </p:spPr>
        <p:txBody>
          <a:bodyPr/>
          <a:p/>
        </p:txBody>
      </p:sp>
      <p:sp>
        <p:nvSpPr>
          <p:cNvPr id="416" name="" descr="{&quot;isTemplate&quot;:true,&quot;type&quot;:&quot;text&quot;}"/>
          <p:cNvSpPr txBox="1"/>
          <p:nvPr/>
        </p:nvSpPr>
        <p:spPr>
          <a:xfrm rot="0" flipH="0" flipV="0">
            <a:off x="4705350" y="1905000"/>
            <a:ext cx="685800" cy="209550"/>
          </a:xfrm>
          <a:prstGeom prst="rect"/>
        </p:spPr>
        <p:txBody>
          <a:bodyPr wrap="none" lIns="0" tIns="0" rIns="0" bIns="0"/>
          <a:p>
            <a:pPr>
              <a:lnSpc>
                <a:spcPct val="100000"/>
              </a:lnSpc>
            </a:pPr>
            <a:r>
              <a:rPr lang="zh-CN" sz="1350" b="1">
                <a:solidFill>
                  <a:srgbClr val="276FBF"/>
                </a:solidFill>
                <a:latin typeface="Microsoft YaHei"/>
                <a:ea typeface="Microsoft YaHei"/>
              </a:rPr>
              <a:t>只读查询</a:t>
            </a:r>
            <a:endParaRPr/>
          </a:p>
        </p:txBody>
      </p:sp>
      <p:sp>
        <p:nvSpPr>
          <p:cNvPr id="417" name=""/>
          <p:cNvSpPr/>
          <p:nvPr/>
        </p:nvSpPr>
        <p:spPr>
          <a:xfrm rot="0" flipH="0" flipV="0">
            <a:off x="7581900" y="1743075"/>
            <a:ext cx="4000500" cy="533400"/>
          </a:xfrm>
          <a:prstGeom prst="roundRect">
            <a:avLst>
              <a:gd name="adj" fmla="val 14286"/>
            </a:avLst>
          </a:prstGeom>
          <a:solidFill>
            <a:srgbClr val="FFF4E6"/>
          </a:solidFill>
          <a:ln/>
        </p:spPr>
        <p:txBody>
          <a:bodyPr/>
          <a:p/>
        </p:txBody>
      </p:sp>
      <p:sp>
        <p:nvSpPr>
          <p:cNvPr id="418" name="" descr="{&quot;isTemplate&quot;:true,&quot;type&quot;:&quot;text&quot;}"/>
          <p:cNvSpPr txBox="1"/>
          <p:nvPr/>
        </p:nvSpPr>
        <p:spPr>
          <a:xfrm rot="0" flipH="0" flipV="0">
            <a:off x="8553450" y="1905000"/>
            <a:ext cx="2057400" cy="209550"/>
          </a:xfrm>
          <a:prstGeom prst="rect"/>
        </p:spPr>
        <p:txBody>
          <a:bodyPr wrap="none" lIns="0" tIns="0" rIns="0" bIns="0"/>
          <a:p>
            <a:pPr>
              <a:lnSpc>
                <a:spcPct val="100000"/>
              </a:lnSpc>
            </a:pPr>
            <a:r>
              <a:rPr lang="zh-CN" sz="1350" b="1">
                <a:solidFill>
                  <a:srgbClr val="CB6B28"/>
                </a:solidFill>
                <a:latin typeface="Microsoft YaHei"/>
                <a:ea typeface="Microsoft YaHei"/>
              </a:rPr>
              <a:t>写操作：预订、转账、发送</a:t>
            </a:r>
            <a:endParaRPr/>
          </a:p>
        </p:txBody>
      </p:sp>
      <p:sp>
        <p:nvSpPr>
          <p:cNvPr id="419" name="" descr="{&quot;isTemplate&quot;:true,&quot;type&quot;:&quot;text&quot;}"/>
          <p:cNvSpPr txBox="1"/>
          <p:nvPr/>
        </p:nvSpPr>
        <p:spPr>
          <a:xfrm rot="0" flipH="0" flipV="0">
            <a:off x="609600" y="2809875"/>
            <a:ext cx="1905000" cy="190500"/>
          </a:xfrm>
          <a:prstGeom prst="rect"/>
        </p:spPr>
        <p:txBody>
          <a:bodyPr wrap="none" lIns="0" tIns="0" rIns="0" bIns="0"/>
          <a:p>
            <a:pPr>
              <a:lnSpc>
                <a:spcPct val="100000"/>
              </a:lnSpc>
            </a:pPr>
            <a:r>
              <a:rPr lang="zh-CN" sz="1200" b="1">
                <a:solidFill>
                  <a:srgbClr val="20344B"/>
                </a:solidFill>
                <a:latin typeface="Microsoft YaHei"/>
                <a:ea typeface="Microsoft YaHei"/>
              </a:rPr>
              <a:t>典型操作</a:t>
            </a:r>
            <a:endParaRPr/>
          </a:p>
        </p:txBody>
      </p:sp>
      <p:sp>
        <p:nvSpPr>
          <p:cNvPr id="420" name=""/>
          <p:cNvSpPr/>
          <p:nvPr/>
        </p:nvSpPr>
        <p:spPr>
          <a:xfrm rot="0" flipH="0" flipV="0">
            <a:off x="2667000" y="2428875"/>
            <a:ext cx="4762500" cy="952500"/>
          </a:xfrm>
          <a:prstGeom prst="roundRect">
            <a:avLst>
              <a:gd name="adj" fmla="val 8000"/>
            </a:avLst>
          </a:prstGeom>
          <a:solidFill>
            <a:srgbClr val="F4F7FA"/>
          </a:solidFill>
          <a:ln/>
        </p:spPr>
        <p:txBody>
          <a:bodyPr/>
          <a:p/>
        </p:txBody>
      </p:sp>
      <p:sp>
        <p:nvSpPr>
          <p:cNvPr id="421" name="" descr="{&quot;isTemplate&quot;:true,&quot;type&quot;:&quot;text&quot;}"/>
          <p:cNvSpPr txBox="1"/>
          <p:nvPr/>
        </p:nvSpPr>
        <p:spPr>
          <a:xfrm rot="0" flipH="0" flipV="0">
            <a:off x="2857500" y="2781300"/>
            <a:ext cx="4381500" cy="257175"/>
          </a:xfrm>
          <a:prstGeom prst="rect"/>
        </p:spPr>
        <p:txBody>
          <a:bodyPr wrap="none" lIns="0" tIns="0" rIns="0" bIns="0"/>
          <a:p>
            <a:pPr>
              <a:lnSpc>
                <a:spcPct val="150000"/>
              </a:lnSpc>
            </a:pPr>
            <a:r>
              <a:rPr lang="zh-CN" sz="1125">
                <a:solidFill>
                  <a:srgbClr val="20344B"/>
                </a:solidFill>
                <a:latin typeface="Microsoft YaHei"/>
                <a:ea typeface="Microsoft YaHei"/>
              </a:rPr>
              <a:t>查询指定房间与日期的已有预约记录</a:t>
            </a:r>
            <a:endParaRPr/>
          </a:p>
        </p:txBody>
      </p:sp>
      <p:sp>
        <p:nvSpPr>
          <p:cNvPr id="422" name=""/>
          <p:cNvSpPr/>
          <p:nvPr/>
        </p:nvSpPr>
        <p:spPr>
          <a:xfrm rot="0" flipH="0" flipV="0">
            <a:off x="7581900" y="2428875"/>
            <a:ext cx="4000500" cy="952500"/>
          </a:xfrm>
          <a:prstGeom prst="roundRect">
            <a:avLst>
              <a:gd name="adj" fmla="val 8000"/>
            </a:avLst>
          </a:prstGeom>
          <a:solidFill>
            <a:srgbClr val="FFF4E6"/>
          </a:solidFill>
          <a:ln/>
        </p:spPr>
        <p:txBody>
          <a:bodyPr/>
          <a:p/>
        </p:txBody>
      </p:sp>
      <p:sp>
        <p:nvSpPr>
          <p:cNvPr id="423" name="" descr="{&quot;isTemplate&quot;:true,&quot;type&quot;:&quot;text&quot;}"/>
          <p:cNvSpPr txBox="1"/>
          <p:nvPr/>
        </p:nvSpPr>
        <p:spPr>
          <a:xfrm rot="0" flipH="0" flipV="0">
            <a:off x="7772400" y="2781300"/>
            <a:ext cx="3619500" cy="257175"/>
          </a:xfrm>
          <a:prstGeom prst="rect"/>
        </p:spPr>
        <p:txBody>
          <a:bodyPr wrap="none" lIns="0" tIns="0" rIns="0" bIns="0"/>
          <a:p>
            <a:pPr>
              <a:lnSpc>
                <a:spcPct val="150000"/>
              </a:lnSpc>
            </a:pPr>
            <a:r>
              <a:rPr lang="zh-CN" sz="1125">
                <a:solidFill>
                  <a:srgbClr val="20344B"/>
                </a:solidFill>
                <a:latin typeface="Microsoft YaHei"/>
                <a:ea typeface="Microsoft YaHei"/>
              </a:rPr>
              <a:t>改变外部世界的状态，不只是读取</a:t>
            </a:r>
            <a:endParaRPr/>
          </a:p>
        </p:txBody>
      </p:sp>
      <p:sp>
        <p:nvSpPr>
          <p:cNvPr id="424" name="" descr="{&quot;isTemplate&quot;:true,&quot;type&quot;:&quot;text&quot;}"/>
          <p:cNvSpPr txBox="1"/>
          <p:nvPr/>
        </p:nvSpPr>
        <p:spPr>
          <a:xfrm rot="0" flipH="0" flipV="0">
            <a:off x="609600" y="3914775"/>
            <a:ext cx="1905000" cy="190500"/>
          </a:xfrm>
          <a:prstGeom prst="rect"/>
        </p:spPr>
        <p:txBody>
          <a:bodyPr wrap="none" lIns="0" tIns="0" rIns="0" bIns="0"/>
          <a:p>
            <a:pPr>
              <a:lnSpc>
                <a:spcPct val="100000"/>
              </a:lnSpc>
            </a:pPr>
            <a:r>
              <a:rPr lang="zh-CN" sz="1200" b="1">
                <a:solidFill>
                  <a:srgbClr val="20344B"/>
                </a:solidFill>
                <a:latin typeface="Microsoft YaHei"/>
                <a:ea typeface="Microsoft YaHei"/>
              </a:rPr>
              <a:t>重试代价</a:t>
            </a:r>
            <a:endParaRPr/>
          </a:p>
        </p:txBody>
      </p:sp>
      <p:sp>
        <p:nvSpPr>
          <p:cNvPr id="425" name=""/>
          <p:cNvSpPr/>
          <p:nvPr/>
        </p:nvSpPr>
        <p:spPr>
          <a:xfrm rot="0" flipH="0" flipV="0">
            <a:off x="2667000" y="3533775"/>
            <a:ext cx="4762500" cy="952500"/>
          </a:xfrm>
          <a:prstGeom prst="roundRect">
            <a:avLst>
              <a:gd name="adj" fmla="val 8000"/>
            </a:avLst>
          </a:prstGeom>
          <a:solidFill>
            <a:srgbClr val="F4F7FA"/>
          </a:solidFill>
          <a:ln/>
        </p:spPr>
        <p:txBody>
          <a:bodyPr/>
          <a:p/>
        </p:txBody>
      </p:sp>
      <p:sp>
        <p:nvSpPr>
          <p:cNvPr id="426" name="" descr="{&quot;isTemplate&quot;:true,&quot;type&quot;:&quot;text&quot;}"/>
          <p:cNvSpPr txBox="1"/>
          <p:nvPr/>
        </p:nvSpPr>
        <p:spPr>
          <a:xfrm rot="0" flipH="0" flipV="0">
            <a:off x="2857500" y="3886200"/>
            <a:ext cx="4381500" cy="257175"/>
          </a:xfrm>
          <a:prstGeom prst="rect"/>
        </p:spPr>
        <p:txBody>
          <a:bodyPr wrap="none" lIns="0" tIns="0" rIns="0" bIns="0"/>
          <a:p>
            <a:pPr>
              <a:lnSpc>
                <a:spcPct val="150000"/>
              </a:lnSpc>
            </a:pPr>
            <a:r>
              <a:rPr lang="zh-CN" sz="1125">
                <a:solidFill>
                  <a:srgbClr val="20344B"/>
                </a:solidFill>
                <a:latin typeface="Microsoft YaHei"/>
                <a:ea typeface="Microsoft YaHei"/>
              </a:rPr>
              <a:t>相对容易重试，多查一次不会改变记录</a:t>
            </a:r>
            <a:endParaRPr/>
          </a:p>
        </p:txBody>
      </p:sp>
      <p:sp>
        <p:nvSpPr>
          <p:cNvPr id="427" name=""/>
          <p:cNvSpPr/>
          <p:nvPr/>
        </p:nvSpPr>
        <p:spPr>
          <a:xfrm rot="0" flipH="0" flipV="0">
            <a:off x="7581900" y="3533775"/>
            <a:ext cx="4000500" cy="952500"/>
          </a:xfrm>
          <a:prstGeom prst="roundRect">
            <a:avLst>
              <a:gd name="adj" fmla="val 8000"/>
            </a:avLst>
          </a:prstGeom>
          <a:solidFill>
            <a:srgbClr val="FFF4E6"/>
          </a:solidFill>
          <a:ln/>
        </p:spPr>
        <p:txBody>
          <a:bodyPr/>
          <a:p/>
        </p:txBody>
      </p:sp>
      <p:sp>
        <p:nvSpPr>
          <p:cNvPr id="428" name="" descr="{&quot;isTemplate&quot;:true,&quot;type&quot;:&quot;text&quot;}"/>
          <p:cNvSpPr txBox="1"/>
          <p:nvPr/>
        </p:nvSpPr>
        <p:spPr>
          <a:xfrm rot="0" flipH="0" flipV="0">
            <a:off x="7772400" y="3886200"/>
            <a:ext cx="3619500" cy="257175"/>
          </a:xfrm>
          <a:prstGeom prst="rect"/>
        </p:spPr>
        <p:txBody>
          <a:bodyPr wrap="none" lIns="0" tIns="0" rIns="0" bIns="0"/>
          <a:p>
            <a:pPr>
              <a:lnSpc>
                <a:spcPct val="150000"/>
              </a:lnSpc>
            </a:pPr>
            <a:r>
              <a:rPr lang="zh-CN" sz="1125">
                <a:solidFill>
                  <a:srgbClr val="20344B"/>
                </a:solidFill>
                <a:latin typeface="Microsoft YaHei"/>
                <a:ea typeface="Microsoft YaHei"/>
              </a:rPr>
              <a:t>盲目重复会造成重复副作用</a:t>
            </a:r>
            <a:endParaRPr/>
          </a:p>
        </p:txBody>
      </p:sp>
      <p:sp>
        <p:nvSpPr>
          <p:cNvPr id="429" name="" descr="{&quot;isTemplate&quot;:true,&quot;type&quot;:&quot;text&quot;}"/>
          <p:cNvSpPr txBox="1"/>
          <p:nvPr/>
        </p:nvSpPr>
        <p:spPr>
          <a:xfrm rot="0" flipH="0" flipV="0">
            <a:off x="609600" y="5019675"/>
            <a:ext cx="1905000" cy="190500"/>
          </a:xfrm>
          <a:prstGeom prst="rect"/>
        </p:spPr>
        <p:txBody>
          <a:bodyPr wrap="none" lIns="0" tIns="0" rIns="0" bIns="0"/>
          <a:p>
            <a:pPr>
              <a:lnSpc>
                <a:spcPct val="100000"/>
              </a:lnSpc>
            </a:pPr>
            <a:r>
              <a:rPr lang="zh-CN" sz="1200" b="1">
                <a:solidFill>
                  <a:srgbClr val="20344B"/>
                </a:solidFill>
                <a:latin typeface="Microsoft YaHei"/>
                <a:ea typeface="Microsoft YaHei"/>
              </a:rPr>
              <a:t>还要确认什么</a:t>
            </a:r>
            <a:endParaRPr/>
          </a:p>
        </p:txBody>
      </p:sp>
      <p:sp>
        <p:nvSpPr>
          <p:cNvPr id="430" name=""/>
          <p:cNvSpPr/>
          <p:nvPr/>
        </p:nvSpPr>
        <p:spPr>
          <a:xfrm rot="0" flipH="0" flipV="0">
            <a:off x="2667000" y="4638675"/>
            <a:ext cx="4762500" cy="952500"/>
          </a:xfrm>
          <a:prstGeom prst="roundRect">
            <a:avLst>
              <a:gd name="adj" fmla="val 8000"/>
            </a:avLst>
          </a:prstGeom>
          <a:solidFill>
            <a:srgbClr val="F4F7FA"/>
          </a:solidFill>
          <a:ln/>
        </p:spPr>
        <p:txBody>
          <a:bodyPr/>
          <a:p/>
        </p:txBody>
      </p:sp>
      <p:sp>
        <p:nvSpPr>
          <p:cNvPr id="431" name="" descr="{&quot;isTemplate&quot;:true,&quot;type&quot;:&quot;text&quot;}"/>
          <p:cNvSpPr txBox="1"/>
          <p:nvPr/>
        </p:nvSpPr>
        <p:spPr>
          <a:xfrm rot="0" flipH="0" flipV="0">
            <a:off x="2857500" y="4991100"/>
            <a:ext cx="4381500" cy="257175"/>
          </a:xfrm>
          <a:prstGeom prst="rect"/>
        </p:spPr>
        <p:txBody>
          <a:bodyPr wrap="none" lIns="0" tIns="0" rIns="0" bIns="0"/>
          <a:p>
            <a:pPr>
              <a:lnSpc>
                <a:spcPct val="150000"/>
              </a:lnSpc>
            </a:pPr>
            <a:r>
              <a:rPr lang="zh-CN" sz="1125">
                <a:solidFill>
                  <a:srgbClr val="20344B"/>
                </a:solidFill>
                <a:latin typeface="Microsoft YaHei"/>
                <a:ea typeface="Microsoft YaHei"/>
              </a:rPr>
              <a:t>参数是否有效、是否在允许范围内</a:t>
            </a:r>
            <a:endParaRPr/>
          </a:p>
        </p:txBody>
      </p:sp>
      <p:sp>
        <p:nvSpPr>
          <p:cNvPr id="432" name=""/>
          <p:cNvSpPr/>
          <p:nvPr/>
        </p:nvSpPr>
        <p:spPr>
          <a:xfrm rot="0" flipH="0" flipV="0">
            <a:off x="7581900" y="4638675"/>
            <a:ext cx="4000500" cy="952500"/>
          </a:xfrm>
          <a:prstGeom prst="roundRect">
            <a:avLst>
              <a:gd name="adj" fmla="val 8000"/>
            </a:avLst>
          </a:prstGeom>
          <a:solidFill>
            <a:srgbClr val="FFF4E6"/>
          </a:solidFill>
          <a:ln/>
        </p:spPr>
        <p:txBody>
          <a:bodyPr/>
          <a:p/>
        </p:txBody>
      </p:sp>
      <p:sp>
        <p:nvSpPr>
          <p:cNvPr id="433" name="" descr="{&quot;isTemplate&quot;:true,&quot;type&quot;:&quot;text&quot;}"/>
          <p:cNvSpPr txBox="1"/>
          <p:nvPr/>
        </p:nvSpPr>
        <p:spPr>
          <a:xfrm rot="0" flipH="0" flipV="0">
            <a:off x="7772400" y="4991100"/>
            <a:ext cx="3619500" cy="257175"/>
          </a:xfrm>
          <a:prstGeom prst="rect"/>
        </p:spPr>
        <p:txBody>
          <a:bodyPr wrap="none" lIns="0" tIns="0" rIns="0" bIns="0"/>
          <a:p>
            <a:pPr>
              <a:lnSpc>
                <a:spcPct val="150000"/>
              </a:lnSpc>
            </a:pPr>
            <a:r>
              <a:rPr lang="zh-CN" sz="1125">
                <a:solidFill>
                  <a:srgbClr val="20344B"/>
                </a:solidFill>
                <a:latin typeface="Microsoft YaHei"/>
                <a:ea typeface="Microsoft YaHei"/>
              </a:rPr>
              <a:t>需要幂等与状态确认：超时可能发生在外部操作完成之后</a:t>
            </a:r>
            <a:endParaRPr/>
          </a:p>
        </p:txBody>
      </p:sp>
      <p:sp>
        <p:nvSpPr>
          <p:cNvPr id="434" name=""/>
          <p:cNvSpPr/>
          <p:nvPr/>
        </p:nvSpPr>
        <p:spPr>
          <a:xfrm rot="0" flipH="0" flipV="0">
            <a:off x="609600" y="5743575"/>
            <a:ext cx="10972800" cy="533400"/>
          </a:xfrm>
          <a:prstGeom prst="roundRect">
            <a:avLst>
              <a:gd name="adj" fmla="val 17857"/>
            </a:avLst>
          </a:prstGeom>
          <a:solidFill>
            <a:srgbClr val="FFF4E6"/>
          </a:solidFill>
          <a:ln/>
        </p:spPr>
        <p:txBody>
          <a:bodyPr/>
          <a:p/>
        </p:txBody>
      </p:sp>
      <p:sp>
        <p:nvSpPr>
          <p:cNvPr id="435" name=""/>
          <p:cNvSpPr/>
          <p:nvPr/>
        </p:nvSpPr>
        <p:spPr>
          <a:xfrm rot="0" flipH="0" flipV="0">
            <a:off x="800100" y="5838825"/>
            <a:ext cx="38100" cy="342900"/>
          </a:xfrm>
          <a:prstGeom prst="rect">
            <a:avLst/>
          </a:prstGeom>
          <a:solidFill>
            <a:srgbClr val="CB6B28"/>
          </a:solidFill>
          <a:ln/>
        </p:spPr>
        <p:txBody>
          <a:bodyPr/>
          <a:p/>
        </p:txBody>
      </p:sp>
      <p:sp>
        <p:nvSpPr>
          <p:cNvPr id="436" name="" descr="{&quot;isTemplate&quot;:true,&quot;type&quot;:&quot;text&quot;}"/>
          <p:cNvSpPr txBox="1"/>
          <p:nvPr/>
        </p:nvSpPr>
        <p:spPr>
          <a:xfrm rot="0" flipH="0" flipV="0">
            <a:off x="990600" y="5924550"/>
            <a:ext cx="3429000" cy="171450"/>
          </a:xfrm>
          <a:prstGeom prst="rect"/>
        </p:spPr>
        <p:txBody>
          <a:bodyPr wrap="none" lIns="0" tIns="0" rIns="0" bIns="0"/>
          <a:p>
            <a:pPr>
              <a:lnSpc>
                <a:spcPct val="100000"/>
              </a:lnSpc>
            </a:pPr>
            <a:r>
              <a:rPr lang="zh-CN" sz="1125">
                <a:solidFill>
                  <a:srgbClr val="20344B"/>
                </a:solidFill>
                <a:latin typeface="Microsoft YaHei"/>
                <a:ea typeface="Microsoft YaHei"/>
              </a:rPr>
              <a:t>本章不执行写操作，但从一开始就要区分查询与提交。</a:t>
            </a:r>
            <a:endParaRPr/>
          </a:p>
        </p:txBody>
      </p:sp>
      <p:sp>
        <p:nvSpPr>
          <p:cNvPr id="437"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438"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23 / 26</a:t>
            </a:r>
            <a:endParaRPr/>
          </a:p>
        </p:txBody>
      </p:sp>
    </p:spTree>
  </p:cSld>
</p:sld>
</file>

<file path=ppt/slides/slide24.xml><?xml version="1.0" encoding="utf-8"?>
<p:sld xmlns:p="http://schemas.openxmlformats.org/presentationml/2006/main" xmlns:a="http://schemas.openxmlformats.org/drawingml/2006/main">
  <p:cSld>
    <p:spTree>
      <p:nvGrpSpPr>
        <p:cNvPr id="439" name="" descr="&lt;Slide notes={`这一节最后要落到一次真实的观察上。&#10;&#10;WorkBuddy 里的工具通常由宿主或者插件提供。这本书没有发现需要在界面里逐个粘贴任意函数定义的通用入口，所以我不会虚构一个&quot;开启 Function Call&quot;的按钮。同一套只读查询能力，下一节会通过 MCP 接进来。&#10;&#10;能做的是：明确地提一个任务。查询 craft 在 2026 年 10 月 17 日的预约，再为十人、六十分钟的手作体验提出可行安排。然后展开对话里的实际执行步骤，核对调用了哪个工具、带的是哪些参数，再核对返回的那条十点到十点半的预约，以及最终候选。&#10;&#10;如果客户端只显示摘要，没有原始的 call_id 和完整响应，不要在记录里补造这些字段。把界面上看得见的标成客户端观察，把教学服务的日志标成服务端证据。`}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5　WorkBuddy：观察真实工具执行&lt;/Text&gt;&#10;            &lt;Text style={{ fontSize: 34, fontWeight: 'bold', color: '#20344B' }}&gt;在真实宿主里观察执行&lt;/Text&gt;&#10;        &lt;/Box&gt;&#10;    &lt;/Box&gt;&#10;&#10;    &lt;Box style={{ height: 540, flexDirection: 'column', justifyContent: 'center', gap: 18 }}&gt;&#10;&#10;        &lt;Box style={{ flexDirection: 'row', alignItems: 'center', gap: 16, background: '#F4F7FA', borderRadius: 10, padding: '10px 20px' }}&gt;&#10;            &lt;Box style={{ width: 3, height: 26, background: '#276FBF' }} /&gt;&#10;            &lt;Text style={{ fontSize: 16, color: '#546779' }}&gt;工具通常由宿主或插件提供；没有逐个粘贴任意函数定义的通用入口。&lt;/Text&gt;&#10;        &lt;/Box&gt;&#10;&#10;        &lt;Box style={{ flexDirection: 'row', gap: 32, alignItems: 'stretch' }}&gt;&#10;&#10;            &lt;Box style={{ width: 480, background: '#F4F7FA', borderRadius: 12, padding: 20, flexDirection: 'column', gap: 12, justifyContent: 'center' }}&gt;&#10;                &lt;Text style={{ fontSize: 18, fontWeight: 'bold', color: '#20344B' }}&gt;一次明确的教学任务&lt;/Text&gt;&#10;                &lt;Box style={{ background: '#FFFFFF', borderRadius: 8, padding: '14px 16px' }}&gt;&#10;                    &lt;Text style={{ fontSize: 15, fontFamily: 'Consolas, monospace', color: '#20344B', lineHeight: 1.8 }}&gt;查询 craft 在 2026-10-17{'\n'}的预约，再为十人、六十分钟{'\n'}的手作体验提出可行安排。&lt;/Text&gt;&#10;                &lt;/Box&gt;&#10;                &lt;Text style={{ fontSize: 14, color: '#546779', lineHeight: 1.55 }}&gt;同一套材料、同一份规则，和前面几步保持一致。&lt;/Text&gt;&#10;            &lt;/Box&gt;&#10;&#10;            &lt;Box style={{ width: 640, flexDirection: 'column', gap: 10, justifyContent: 'center' }}&gt;&#10;                &lt;Box style={{ height: 60, background: '#EDF4FC', borderRadius: 8, padding: '0 18px', flexDirection: 'row', gap: 14, alignItems: 'center' }}&gt;&#10;                    &lt;Text style={{ fontSize: 15, fontWeight: 'bold', color: '#276FBF' }}&gt;1&lt;/Text&gt;&#10;                    &lt;Text style={{ fontSize: 15, color: '#20344B' }}&gt;展开对话中的实际执行步骤&lt;/Text&gt;&#10;                &lt;/Box&gt;&#10;                &lt;Box style={{ height: 60, background: '#EDF4FC', borderRadius: 8, padding: '0 18px', flexDirection: 'row', gap: 14, alignItems: 'center' }}&gt;&#10;                    &lt;Text style={{ fontSize: 15, fontWeight: 'bold', color: '#276FBF' }}&gt;2&lt;/Text&gt;&#10;                    &lt;Text style={{ fontSize: 15, color: '#20344B' }}&gt;核对调用的工具与参数&lt;/Text&gt;&#10;                &lt;/Box&gt;&#10;                &lt;Box style={{ height: 60, background: '#ECF7F2', borderRadius: 8, padding: '0 18px', flexDirection: 'row', gap: 14, alignItems: 'center' }}&gt;&#10;                    &lt;Text style={{ fontSize: 15, fontWeight: 'bold', color: '#26816B' }}&gt;3&lt;/Text&gt;&#10;                    &lt;Text style={{ fontSize: 15, color: '#20344B' }}&gt;核对返回的十点至十点半预约&lt;/Text&gt;&#10;                &lt;/Box&gt;&#10;                &lt;Box style={{ height: 60, background: '#ECF7F2', borderRadius: 8, padding: '0 18px', flexDirection: 'row', gap: 14, alignItems: 'center' }}&gt;&#10;                    &lt;Text style={{ fontSize: 15, fontWeight: 'bold', color: '#26816B' }}&gt;4&lt;/Text&gt;&#10;                    &lt;Text style={{ fontSize: 15, color: '#20344B' }}&gt;核对最终候选&lt;/Text&gt;&#10;                &lt;/Box&gt;&#10;            &lt;/Box&gt;&#10;&#10;        &lt;/Box&gt;&#10;&#10;        &lt;Box style={{ flexDirection: 'row', alignItems: 'center', gap: 16, background: '#FFF4E6', borderRadius: 10, padding: '0 20px', height: 84 }}&gt;&#10;            &lt;Box style={{ width: 4, height: 50, background: '#CB6B28' }} /&gt;&#10;            &lt;Text style={{ fontSize: 15, color: '#20344B', lineHeight: 1.5 }}&gt;客户端只显示摘要时，把可见内容标为客户端观察，把教学服务日志标为服务端证据；不补造缺失的 call_id 或完整响应。&lt;/Text&gt;&#10;        &lt;/Box&gt;&#10;&#10;    &lt;/Box&gt;&#10;&#10;    &lt;Box style={{ height: 40, flexDirection: 'row', justifyContent: 'space-between', alignItems: 'center' }}&gt;&#10;        &lt;Text style={{ fontSize: 14, color: '#546779' }}&gt;2.5 Function Calling&lt;/Text&gt;&#10;        &lt;Text style={{ fontSize: 14, color: '#546779' }}&gt;24 / 26&lt;/Text&gt;&#10;    &lt;/Box&gt;&#10;&#10;&lt;/Slide&gt;&#10;"/>
        <p:cNvGrpSpPr/>
        <p:nvPr/>
      </p:nvGrpSpPr>
      <p:grpSpPr>
        <a:xfrm>
          <a:off x="0" y="0"/>
          <a:ext cx="0" cy="0"/>
          <a:chOff x="0" y="0"/>
          <a:chExt cx="0" cy="0"/>
        </a:xfrm>
      </p:grpSpPr>
      <p:sp>
        <p:nvSpPr>
          <p:cNvPr id="440" name=""/>
          <p:cNvSpPr/>
          <p:nvPr/>
        </p:nvSpPr>
        <p:spPr>
          <a:xfrm rot="0" flipH="0" flipV="0">
            <a:off x="0" y="0"/>
            <a:ext cx="12192000" cy="6858000"/>
          </a:xfrm>
          <a:prstGeom prst="rect">
            <a:avLst/>
          </a:prstGeom>
          <a:solidFill>
            <a:srgbClr val="FFFFFF"/>
          </a:solidFill>
          <a:ln/>
        </p:spPr>
        <p:txBody>
          <a:bodyPr/>
          <a:p/>
        </p:txBody>
      </p:sp>
      <p:sp>
        <p:nvSpPr>
          <p:cNvPr id="441" name=""/>
          <p:cNvSpPr/>
          <p:nvPr/>
        </p:nvSpPr>
        <p:spPr>
          <a:xfrm rot="0" flipH="0" flipV="0">
            <a:off x="609600" y="457200"/>
            <a:ext cx="38100" cy="419100"/>
          </a:xfrm>
          <a:prstGeom prst="rect">
            <a:avLst/>
          </a:prstGeom>
          <a:solidFill>
            <a:srgbClr val="276FBF"/>
          </a:solidFill>
          <a:ln/>
        </p:spPr>
        <p:txBody>
          <a:bodyPr/>
          <a:p/>
        </p:txBody>
      </p:sp>
      <p:sp>
        <p:nvSpPr>
          <p:cNvPr id="442" name="" descr="{&quot;isTemplate&quot;:true,&quot;type&quot;:&quot;text&quot;}"/>
          <p:cNvSpPr txBox="1"/>
          <p:nvPr/>
        </p:nvSpPr>
        <p:spPr>
          <a:xfrm rot="0" flipH="0" flipV="0">
            <a:off x="838200" y="371475"/>
            <a:ext cx="3238500" cy="161925"/>
          </a:xfrm>
          <a:prstGeom prst="rect"/>
        </p:spPr>
        <p:txBody>
          <a:bodyPr wrap="none" lIns="0" tIns="0" rIns="0" bIns="0"/>
          <a:p>
            <a:pPr>
              <a:lnSpc>
                <a:spcPct val="100000"/>
              </a:lnSpc>
            </a:pPr>
            <a:r>
              <a:rPr lang="en-US" sz="1050">
                <a:solidFill>
                  <a:srgbClr val="546779"/>
                </a:solidFill>
                <a:latin typeface="Microsoft YaHei"/>
                <a:ea typeface="Microsoft YaHei"/>
              </a:rPr>
              <a:t>2.5.5</a:t>
            </a:r>
            <a:r>
              <a:rPr lang="zh-CN" sz="1050">
                <a:solidFill>
                  <a:srgbClr val="546779"/>
                </a:solidFill>
                <a:latin typeface="Microsoft YaHei"/>
                <a:ea typeface="Microsoft YaHei"/>
              </a:rPr>
              <a:t>　</a:t>
            </a:r>
            <a:r>
              <a:rPr lang="en-US" sz="1050">
                <a:solidFill>
                  <a:srgbClr val="546779"/>
                </a:solidFill>
                <a:latin typeface="Microsoft YaHei"/>
                <a:ea typeface="Microsoft YaHei"/>
              </a:rPr>
              <a:t>WorkBuddy</a:t>
            </a:r>
            <a:r>
              <a:rPr lang="zh-CN" sz="1050">
                <a:solidFill>
                  <a:srgbClr val="546779"/>
                </a:solidFill>
                <a:latin typeface="Microsoft YaHei"/>
                <a:ea typeface="Microsoft YaHei"/>
              </a:rPr>
              <a:t>：观察真实工具执行</a:t>
            </a:r>
            <a:endParaRPr/>
          </a:p>
        </p:txBody>
      </p:sp>
      <p:sp>
        <p:nvSpPr>
          <p:cNvPr id="443" name="" descr="{&quot;isTemplate&quot;:true,&quot;type&quot;:&quot;text&quot;}"/>
          <p:cNvSpPr txBox="1"/>
          <p:nvPr/>
        </p:nvSpPr>
        <p:spPr>
          <a:xfrm rot="0" flipH="0" flipV="0">
            <a:off x="838200" y="571500"/>
            <a:ext cx="3238500" cy="390525"/>
          </a:xfrm>
          <a:prstGeom prst="rect"/>
        </p:spPr>
        <p:txBody>
          <a:bodyPr wrap="none" lIns="0" tIns="0" rIns="0" bIns="0"/>
          <a:p>
            <a:pPr>
              <a:lnSpc>
                <a:spcPct val="100000"/>
              </a:lnSpc>
            </a:pPr>
            <a:r>
              <a:rPr lang="zh-CN" sz="2550" b="1">
                <a:solidFill>
                  <a:srgbClr val="20344B"/>
                </a:solidFill>
                <a:latin typeface="Microsoft YaHei"/>
                <a:ea typeface="Microsoft YaHei"/>
              </a:rPr>
              <a:t>在真实宿主里观察执行</a:t>
            </a:r>
            <a:endParaRPr/>
          </a:p>
        </p:txBody>
      </p:sp>
      <p:sp>
        <p:nvSpPr>
          <p:cNvPr id="444" name=""/>
          <p:cNvSpPr/>
          <p:nvPr/>
        </p:nvSpPr>
        <p:spPr>
          <a:xfrm rot="0" flipH="0" flipV="0">
            <a:off x="609600" y="1638300"/>
            <a:ext cx="10972800" cy="438150"/>
          </a:xfrm>
          <a:prstGeom prst="roundRect">
            <a:avLst>
              <a:gd name="adj" fmla="val 21739"/>
            </a:avLst>
          </a:prstGeom>
          <a:solidFill>
            <a:srgbClr val="F4F7FA"/>
          </a:solidFill>
          <a:ln/>
        </p:spPr>
        <p:txBody>
          <a:bodyPr/>
          <a:p/>
        </p:txBody>
      </p:sp>
      <p:sp>
        <p:nvSpPr>
          <p:cNvPr id="445" name=""/>
          <p:cNvSpPr/>
          <p:nvPr/>
        </p:nvSpPr>
        <p:spPr>
          <a:xfrm rot="0" flipH="0" flipV="0">
            <a:off x="800100" y="1733550"/>
            <a:ext cx="28575" cy="247650"/>
          </a:xfrm>
          <a:prstGeom prst="rect">
            <a:avLst/>
          </a:prstGeom>
          <a:solidFill>
            <a:srgbClr val="276FBF"/>
          </a:solidFill>
          <a:ln/>
        </p:spPr>
        <p:txBody>
          <a:bodyPr/>
          <a:p/>
        </p:txBody>
      </p:sp>
      <p:sp>
        <p:nvSpPr>
          <p:cNvPr id="446" name="" descr="{&quot;isTemplate&quot;:true,&quot;type&quot;:&quot;text&quot;}"/>
          <p:cNvSpPr txBox="1"/>
          <p:nvPr/>
        </p:nvSpPr>
        <p:spPr>
          <a:xfrm rot="0" flipH="0" flipV="0">
            <a:off x="981075" y="1762125"/>
            <a:ext cx="4724400" cy="190500"/>
          </a:xfrm>
          <a:prstGeom prst="rect"/>
        </p:spPr>
        <p:txBody>
          <a:bodyPr wrap="none" lIns="0" tIns="0" rIns="0" bIns="0"/>
          <a:p>
            <a:pPr>
              <a:lnSpc>
                <a:spcPct val="100000"/>
              </a:lnSpc>
            </a:pPr>
            <a:r>
              <a:rPr lang="zh-CN" sz="1200">
                <a:solidFill>
                  <a:srgbClr val="546779"/>
                </a:solidFill>
                <a:latin typeface="Microsoft YaHei"/>
                <a:ea typeface="Microsoft YaHei"/>
              </a:rPr>
              <a:t>工具通常由宿主或插件提供；没有逐个粘贴任意函数定义的通用入口。</a:t>
            </a:r>
            <a:endParaRPr/>
          </a:p>
        </p:txBody>
      </p:sp>
      <p:sp>
        <p:nvSpPr>
          <p:cNvPr id="447" name=""/>
          <p:cNvSpPr/>
          <p:nvPr/>
        </p:nvSpPr>
        <p:spPr>
          <a:xfrm rot="0" flipH="0" flipV="0">
            <a:off x="609600" y="2247900"/>
            <a:ext cx="4572000" cy="2571750"/>
          </a:xfrm>
          <a:prstGeom prst="roundRect">
            <a:avLst>
              <a:gd name="adj" fmla="val 4444"/>
            </a:avLst>
          </a:prstGeom>
          <a:solidFill>
            <a:srgbClr val="F4F7FA"/>
          </a:solidFill>
          <a:ln/>
        </p:spPr>
        <p:txBody>
          <a:bodyPr/>
          <a:p/>
        </p:txBody>
      </p:sp>
      <p:sp>
        <p:nvSpPr>
          <p:cNvPr id="448" name="" descr="{&quot;isTemplate&quot;:true,&quot;type&quot;:&quot;text&quot;}"/>
          <p:cNvSpPr txBox="1"/>
          <p:nvPr/>
        </p:nvSpPr>
        <p:spPr>
          <a:xfrm rot="0" flipH="0" flipV="0">
            <a:off x="800100" y="2590800"/>
            <a:ext cx="4191000" cy="209550"/>
          </a:xfrm>
          <a:prstGeom prst="rect"/>
        </p:spPr>
        <p:txBody>
          <a:bodyPr wrap="none" lIns="0" tIns="0" rIns="0" bIns="0"/>
          <a:p>
            <a:pPr>
              <a:lnSpc>
                <a:spcPct val="100000"/>
              </a:lnSpc>
            </a:pPr>
            <a:r>
              <a:rPr lang="zh-CN" sz="1350" b="1">
                <a:solidFill>
                  <a:srgbClr val="20344B"/>
                </a:solidFill>
                <a:latin typeface="Microsoft YaHei"/>
                <a:ea typeface="Microsoft YaHei"/>
              </a:rPr>
              <a:t>一次明确的教学任务</a:t>
            </a:r>
            <a:endParaRPr/>
          </a:p>
        </p:txBody>
      </p:sp>
      <p:sp>
        <p:nvSpPr>
          <p:cNvPr id="449" name=""/>
          <p:cNvSpPr/>
          <p:nvPr/>
        </p:nvSpPr>
        <p:spPr>
          <a:xfrm rot="0" flipH="0" flipV="0">
            <a:off x="800100" y="2914650"/>
            <a:ext cx="4191000" cy="1200150"/>
          </a:xfrm>
          <a:prstGeom prst="roundRect">
            <a:avLst>
              <a:gd name="adj" fmla="val 6349"/>
            </a:avLst>
          </a:prstGeom>
          <a:solidFill>
            <a:srgbClr val="FFFFFF"/>
          </a:solidFill>
          <a:ln/>
        </p:spPr>
        <p:txBody>
          <a:bodyPr/>
          <a:p/>
        </p:txBody>
      </p:sp>
      <p:sp>
        <p:nvSpPr>
          <p:cNvPr id="450" name="" descr="{&quot;isTemplate&quot;:true,&quot;type&quot;:&quot;text&quot;}"/>
          <p:cNvSpPr txBox="1"/>
          <p:nvPr/>
        </p:nvSpPr>
        <p:spPr>
          <a:xfrm rot="0" flipH="0" flipV="0">
            <a:off x="952500" y="3048000"/>
            <a:ext cx="3886200" cy="933450"/>
          </a:xfrm>
          <a:prstGeom prst="rect"/>
        </p:spPr>
        <p:txBody>
          <a:bodyPr wrap="none" lIns="0" tIns="0" rIns="0" bIns="0"/>
          <a:p>
            <a:pPr>
              <a:lnSpc>
                <a:spcPct val="180000"/>
              </a:lnSpc>
            </a:pPr>
            <a:r>
              <a:rPr lang="zh-CN" sz="1125">
                <a:solidFill>
                  <a:srgbClr val="20344B"/>
                </a:solidFill>
                <a:latin typeface="Consolas"/>
                <a:ea typeface="Consolas"/>
              </a:rPr>
              <a:t>查询</a:t>
            </a:r>
            <a:r>
              <a:rPr lang="en-US" sz="1125">
                <a:solidFill>
                  <a:srgbClr val="20344B"/>
                </a:solidFill>
                <a:latin typeface="Consolas"/>
                <a:ea typeface="Consolas"/>
              </a:rPr>
              <a:t xml:space="preserve"> craft </a:t>
            </a:r>
            <a:r>
              <a:rPr lang="zh-CN" sz="1125">
                <a:solidFill>
                  <a:srgbClr val="20344B"/>
                </a:solidFill>
                <a:latin typeface="Consolas"/>
                <a:ea typeface="Consolas"/>
              </a:rPr>
              <a:t>在</a:t>
            </a:r>
            <a:r>
              <a:rPr lang="en-US" sz="1125">
                <a:solidFill>
                  <a:srgbClr val="20344B"/>
                </a:solidFill>
                <a:latin typeface="Consolas"/>
                <a:ea typeface="Consolas"/>
              </a:rPr>
              <a:t xml:space="preserve"> 2026-10-17</a:t>
            </a:r>
            <a:endParaRPr/>
          </a:p>
          <a:p>
            <a:pPr>
              <a:lnSpc>
                <a:spcPct val="180000"/>
              </a:lnSpc>
            </a:pPr>
            <a:r>
              <a:rPr lang="zh-CN" sz="1125">
                <a:solidFill>
                  <a:srgbClr val="20344B"/>
                </a:solidFill>
                <a:latin typeface="Consolas"/>
                <a:ea typeface="Consolas"/>
              </a:rPr>
              <a:t>的预约，再为十人、六十分钟</a:t>
            </a:r>
            <a:endParaRPr/>
          </a:p>
          <a:p>
            <a:pPr>
              <a:lnSpc>
                <a:spcPct val="180000"/>
              </a:lnSpc>
            </a:pPr>
            <a:r>
              <a:rPr lang="zh-CN" sz="1125">
                <a:solidFill>
                  <a:srgbClr val="20344B"/>
                </a:solidFill>
                <a:latin typeface="Consolas"/>
                <a:ea typeface="Consolas"/>
              </a:rPr>
              <a:t>的手作体验提出可行安排。</a:t>
            </a:r>
            <a:endParaRPr/>
          </a:p>
        </p:txBody>
      </p:sp>
      <p:sp>
        <p:nvSpPr>
          <p:cNvPr id="451" name="" descr="{&quot;isTemplate&quot;:true,&quot;type&quot;:&quot;text&quot;}"/>
          <p:cNvSpPr txBox="1"/>
          <p:nvPr/>
        </p:nvSpPr>
        <p:spPr>
          <a:xfrm rot="0" flipH="0" flipV="0">
            <a:off x="800100" y="4229100"/>
            <a:ext cx="4191000" cy="257175"/>
          </a:xfrm>
          <a:prstGeom prst="rect"/>
        </p:spPr>
        <p:txBody>
          <a:bodyPr wrap="none" lIns="0" tIns="0" rIns="0" bIns="0"/>
          <a:p>
            <a:pPr>
              <a:lnSpc>
                <a:spcPct val="155000"/>
              </a:lnSpc>
            </a:pPr>
            <a:r>
              <a:rPr lang="zh-CN" sz="1050">
                <a:solidFill>
                  <a:srgbClr val="546779"/>
                </a:solidFill>
                <a:latin typeface="Microsoft YaHei"/>
                <a:ea typeface="Microsoft YaHei"/>
              </a:rPr>
              <a:t>同一套材料、同一份规则，和前面几步保持一致。</a:t>
            </a:r>
            <a:endParaRPr/>
          </a:p>
        </p:txBody>
      </p:sp>
      <p:sp>
        <p:nvSpPr>
          <p:cNvPr id="452" name=""/>
          <p:cNvSpPr/>
          <p:nvPr/>
        </p:nvSpPr>
        <p:spPr>
          <a:xfrm rot="0" flipH="0" flipV="0">
            <a:off x="5486400" y="2247900"/>
            <a:ext cx="6096000" cy="571500"/>
          </a:xfrm>
          <a:prstGeom prst="roundRect">
            <a:avLst>
              <a:gd name="adj" fmla="val 13333"/>
            </a:avLst>
          </a:prstGeom>
          <a:solidFill>
            <a:srgbClr val="EDF4FC"/>
          </a:solidFill>
          <a:ln/>
        </p:spPr>
        <p:txBody>
          <a:bodyPr/>
          <a:p/>
        </p:txBody>
      </p:sp>
      <p:sp>
        <p:nvSpPr>
          <p:cNvPr id="453" name="" descr="{&quot;isTemplate&quot;:true,&quot;type&quot;:&quot;text&quot;}"/>
          <p:cNvSpPr txBox="1"/>
          <p:nvPr/>
        </p:nvSpPr>
        <p:spPr>
          <a:xfrm rot="0" flipH="0" flipV="0">
            <a:off x="5657850" y="2447925"/>
            <a:ext cx="95250" cy="171450"/>
          </a:xfrm>
          <a:prstGeom prst="rect"/>
        </p:spPr>
        <p:txBody>
          <a:bodyPr wrap="none" lIns="0" tIns="0" rIns="0" bIns="0"/>
          <a:p>
            <a:pPr>
              <a:lnSpc>
                <a:spcPct val="100000"/>
              </a:lnSpc>
            </a:pPr>
            <a:r>
              <a:rPr lang="en-US" sz="1125" b="1">
                <a:solidFill>
                  <a:srgbClr val="276FBF"/>
                </a:solidFill>
                <a:latin typeface="Microsoft YaHei"/>
                <a:ea typeface="Microsoft YaHei"/>
              </a:rPr>
              <a:t>1</a:t>
            </a:r>
            <a:endParaRPr/>
          </a:p>
        </p:txBody>
      </p:sp>
      <p:sp>
        <p:nvSpPr>
          <p:cNvPr id="454" name="" descr="{&quot;isTemplate&quot;:true,&quot;type&quot;:&quot;text&quot;}"/>
          <p:cNvSpPr txBox="1"/>
          <p:nvPr/>
        </p:nvSpPr>
        <p:spPr>
          <a:xfrm rot="0" flipH="0" flipV="0">
            <a:off x="5886450" y="2447925"/>
            <a:ext cx="1714500" cy="171450"/>
          </a:xfrm>
          <a:prstGeom prst="rect"/>
        </p:spPr>
        <p:txBody>
          <a:bodyPr wrap="none" lIns="0" tIns="0" rIns="0" bIns="0"/>
          <a:p>
            <a:pPr>
              <a:lnSpc>
                <a:spcPct val="100000"/>
              </a:lnSpc>
            </a:pPr>
            <a:r>
              <a:rPr lang="zh-CN" sz="1125">
                <a:solidFill>
                  <a:srgbClr val="20344B"/>
                </a:solidFill>
                <a:latin typeface="Microsoft YaHei"/>
                <a:ea typeface="Microsoft YaHei"/>
              </a:rPr>
              <a:t>展开对话中的实际执行步骤</a:t>
            </a:r>
            <a:endParaRPr/>
          </a:p>
        </p:txBody>
      </p:sp>
      <p:sp>
        <p:nvSpPr>
          <p:cNvPr id="455" name=""/>
          <p:cNvSpPr/>
          <p:nvPr/>
        </p:nvSpPr>
        <p:spPr>
          <a:xfrm rot="0" flipH="0" flipV="0">
            <a:off x="5486400" y="2914650"/>
            <a:ext cx="6096000" cy="571500"/>
          </a:xfrm>
          <a:prstGeom prst="roundRect">
            <a:avLst>
              <a:gd name="adj" fmla="val 13333"/>
            </a:avLst>
          </a:prstGeom>
          <a:solidFill>
            <a:srgbClr val="EDF4FC"/>
          </a:solidFill>
          <a:ln/>
        </p:spPr>
        <p:txBody>
          <a:bodyPr/>
          <a:p/>
        </p:txBody>
      </p:sp>
      <p:sp>
        <p:nvSpPr>
          <p:cNvPr id="456" name="" descr="{&quot;isTemplate&quot;:true,&quot;type&quot;:&quot;text&quot;}"/>
          <p:cNvSpPr txBox="1"/>
          <p:nvPr/>
        </p:nvSpPr>
        <p:spPr>
          <a:xfrm rot="0" flipH="0" flipV="0">
            <a:off x="5657850" y="3114675"/>
            <a:ext cx="95250" cy="171450"/>
          </a:xfrm>
          <a:prstGeom prst="rect"/>
        </p:spPr>
        <p:txBody>
          <a:bodyPr wrap="none" lIns="0" tIns="0" rIns="0" bIns="0"/>
          <a:p>
            <a:pPr>
              <a:lnSpc>
                <a:spcPct val="100000"/>
              </a:lnSpc>
            </a:pPr>
            <a:r>
              <a:rPr lang="en-US" sz="1125" b="1">
                <a:solidFill>
                  <a:srgbClr val="276FBF"/>
                </a:solidFill>
                <a:latin typeface="Microsoft YaHei"/>
                <a:ea typeface="Microsoft YaHei"/>
              </a:rPr>
              <a:t>2</a:t>
            </a:r>
            <a:endParaRPr/>
          </a:p>
        </p:txBody>
      </p:sp>
      <p:sp>
        <p:nvSpPr>
          <p:cNvPr id="457" name="" descr="{&quot;isTemplate&quot;:true,&quot;type&quot;:&quot;text&quot;}"/>
          <p:cNvSpPr txBox="1"/>
          <p:nvPr/>
        </p:nvSpPr>
        <p:spPr>
          <a:xfrm rot="0" flipH="0" flipV="0">
            <a:off x="5886450" y="3114675"/>
            <a:ext cx="1428750" cy="171450"/>
          </a:xfrm>
          <a:prstGeom prst="rect"/>
        </p:spPr>
        <p:txBody>
          <a:bodyPr wrap="none" lIns="0" tIns="0" rIns="0" bIns="0"/>
          <a:p>
            <a:pPr>
              <a:lnSpc>
                <a:spcPct val="100000"/>
              </a:lnSpc>
            </a:pPr>
            <a:r>
              <a:rPr lang="zh-CN" sz="1125">
                <a:solidFill>
                  <a:srgbClr val="20344B"/>
                </a:solidFill>
                <a:latin typeface="Microsoft YaHei"/>
                <a:ea typeface="Microsoft YaHei"/>
              </a:rPr>
              <a:t>核对调用的工具与参数</a:t>
            </a:r>
            <a:endParaRPr/>
          </a:p>
        </p:txBody>
      </p:sp>
      <p:sp>
        <p:nvSpPr>
          <p:cNvPr id="458" name=""/>
          <p:cNvSpPr/>
          <p:nvPr/>
        </p:nvSpPr>
        <p:spPr>
          <a:xfrm rot="0" flipH="0" flipV="0">
            <a:off x="5486400" y="3581400"/>
            <a:ext cx="6096000" cy="571500"/>
          </a:xfrm>
          <a:prstGeom prst="roundRect">
            <a:avLst>
              <a:gd name="adj" fmla="val 13333"/>
            </a:avLst>
          </a:prstGeom>
          <a:solidFill>
            <a:srgbClr val="ECF7F2"/>
          </a:solidFill>
          <a:ln/>
        </p:spPr>
        <p:txBody>
          <a:bodyPr/>
          <a:p/>
        </p:txBody>
      </p:sp>
      <p:sp>
        <p:nvSpPr>
          <p:cNvPr id="459" name="" descr="{&quot;isTemplate&quot;:true,&quot;type&quot;:&quot;text&quot;}"/>
          <p:cNvSpPr txBox="1"/>
          <p:nvPr/>
        </p:nvSpPr>
        <p:spPr>
          <a:xfrm rot="0" flipH="0" flipV="0">
            <a:off x="5657850" y="3781425"/>
            <a:ext cx="95250" cy="171450"/>
          </a:xfrm>
          <a:prstGeom prst="rect"/>
        </p:spPr>
        <p:txBody>
          <a:bodyPr wrap="none" lIns="0" tIns="0" rIns="0" bIns="0"/>
          <a:p>
            <a:pPr>
              <a:lnSpc>
                <a:spcPct val="100000"/>
              </a:lnSpc>
            </a:pPr>
            <a:r>
              <a:rPr lang="en-US" sz="1125" b="1">
                <a:solidFill>
                  <a:srgbClr val="26816B"/>
                </a:solidFill>
                <a:latin typeface="Microsoft YaHei"/>
                <a:ea typeface="Microsoft YaHei"/>
              </a:rPr>
              <a:t>3</a:t>
            </a:r>
            <a:endParaRPr/>
          </a:p>
        </p:txBody>
      </p:sp>
      <p:sp>
        <p:nvSpPr>
          <p:cNvPr id="460" name="" descr="{&quot;isTemplate&quot;:true,&quot;type&quot;:&quot;text&quot;}"/>
          <p:cNvSpPr txBox="1"/>
          <p:nvPr/>
        </p:nvSpPr>
        <p:spPr>
          <a:xfrm rot="0" flipH="0" flipV="0">
            <a:off x="5886450" y="3781425"/>
            <a:ext cx="1857375" cy="171450"/>
          </a:xfrm>
          <a:prstGeom prst="rect"/>
        </p:spPr>
        <p:txBody>
          <a:bodyPr wrap="none" lIns="0" tIns="0" rIns="0" bIns="0"/>
          <a:p>
            <a:pPr>
              <a:lnSpc>
                <a:spcPct val="100000"/>
              </a:lnSpc>
            </a:pPr>
            <a:r>
              <a:rPr lang="zh-CN" sz="1125">
                <a:solidFill>
                  <a:srgbClr val="20344B"/>
                </a:solidFill>
                <a:latin typeface="Microsoft YaHei"/>
                <a:ea typeface="Microsoft YaHei"/>
              </a:rPr>
              <a:t>核对返回的十点至十点半预约</a:t>
            </a:r>
            <a:endParaRPr/>
          </a:p>
        </p:txBody>
      </p:sp>
      <p:sp>
        <p:nvSpPr>
          <p:cNvPr id="461" name=""/>
          <p:cNvSpPr/>
          <p:nvPr/>
        </p:nvSpPr>
        <p:spPr>
          <a:xfrm rot="0" flipH="0" flipV="0">
            <a:off x="5486400" y="4248150"/>
            <a:ext cx="6096000" cy="571500"/>
          </a:xfrm>
          <a:prstGeom prst="roundRect">
            <a:avLst>
              <a:gd name="adj" fmla="val 13333"/>
            </a:avLst>
          </a:prstGeom>
          <a:solidFill>
            <a:srgbClr val="ECF7F2"/>
          </a:solidFill>
          <a:ln/>
        </p:spPr>
        <p:txBody>
          <a:bodyPr/>
          <a:p/>
        </p:txBody>
      </p:sp>
      <p:sp>
        <p:nvSpPr>
          <p:cNvPr id="462" name="" descr="{&quot;isTemplate&quot;:true,&quot;type&quot;:&quot;text&quot;}"/>
          <p:cNvSpPr txBox="1"/>
          <p:nvPr/>
        </p:nvSpPr>
        <p:spPr>
          <a:xfrm rot="0" flipH="0" flipV="0">
            <a:off x="5657850" y="4448175"/>
            <a:ext cx="95250" cy="171450"/>
          </a:xfrm>
          <a:prstGeom prst="rect"/>
        </p:spPr>
        <p:txBody>
          <a:bodyPr wrap="none" lIns="0" tIns="0" rIns="0" bIns="0"/>
          <a:p>
            <a:pPr>
              <a:lnSpc>
                <a:spcPct val="100000"/>
              </a:lnSpc>
            </a:pPr>
            <a:r>
              <a:rPr lang="en-US" sz="1125" b="1">
                <a:solidFill>
                  <a:srgbClr val="26816B"/>
                </a:solidFill>
                <a:latin typeface="Microsoft YaHei"/>
                <a:ea typeface="Microsoft YaHei"/>
              </a:rPr>
              <a:t>4</a:t>
            </a:r>
            <a:endParaRPr/>
          </a:p>
        </p:txBody>
      </p:sp>
      <p:sp>
        <p:nvSpPr>
          <p:cNvPr id="463" name="" descr="{&quot;isTemplate&quot;:true,&quot;type&quot;:&quot;text&quot;}"/>
          <p:cNvSpPr txBox="1"/>
          <p:nvPr/>
        </p:nvSpPr>
        <p:spPr>
          <a:xfrm rot="0" flipH="0" flipV="0">
            <a:off x="5886450" y="4448175"/>
            <a:ext cx="857250" cy="171450"/>
          </a:xfrm>
          <a:prstGeom prst="rect"/>
        </p:spPr>
        <p:txBody>
          <a:bodyPr wrap="none" lIns="0" tIns="0" rIns="0" bIns="0"/>
          <a:p>
            <a:pPr>
              <a:lnSpc>
                <a:spcPct val="100000"/>
              </a:lnSpc>
            </a:pPr>
            <a:r>
              <a:rPr lang="zh-CN" sz="1125">
                <a:solidFill>
                  <a:srgbClr val="20344B"/>
                </a:solidFill>
                <a:latin typeface="Microsoft YaHei"/>
                <a:ea typeface="Microsoft YaHei"/>
              </a:rPr>
              <a:t>核对最终候选</a:t>
            </a:r>
            <a:endParaRPr/>
          </a:p>
        </p:txBody>
      </p:sp>
      <p:sp>
        <p:nvSpPr>
          <p:cNvPr id="464" name=""/>
          <p:cNvSpPr/>
          <p:nvPr/>
        </p:nvSpPr>
        <p:spPr>
          <a:xfrm rot="0" flipH="0" flipV="0">
            <a:off x="609600" y="4991100"/>
            <a:ext cx="10972800" cy="800100"/>
          </a:xfrm>
          <a:prstGeom prst="roundRect">
            <a:avLst>
              <a:gd name="adj" fmla="val 11905"/>
            </a:avLst>
          </a:prstGeom>
          <a:solidFill>
            <a:srgbClr val="FFF4E6"/>
          </a:solidFill>
          <a:ln/>
        </p:spPr>
        <p:txBody>
          <a:bodyPr/>
          <a:p/>
        </p:txBody>
      </p:sp>
      <p:sp>
        <p:nvSpPr>
          <p:cNvPr id="465" name=""/>
          <p:cNvSpPr/>
          <p:nvPr/>
        </p:nvSpPr>
        <p:spPr>
          <a:xfrm rot="0" flipH="0" flipV="0">
            <a:off x="800100" y="5153025"/>
            <a:ext cx="38100" cy="476250"/>
          </a:xfrm>
          <a:prstGeom prst="rect">
            <a:avLst/>
          </a:prstGeom>
          <a:solidFill>
            <a:srgbClr val="CB6B28"/>
          </a:solidFill>
          <a:ln/>
        </p:spPr>
        <p:txBody>
          <a:bodyPr/>
          <a:p/>
        </p:txBody>
      </p:sp>
      <p:sp>
        <p:nvSpPr>
          <p:cNvPr id="466" name="" descr="{&quot;isTemplate&quot;:true,&quot;type&quot;:&quot;text&quot;}"/>
          <p:cNvSpPr txBox="1"/>
          <p:nvPr/>
        </p:nvSpPr>
        <p:spPr>
          <a:xfrm rot="0" flipH="0" flipV="0">
            <a:off x="990600" y="5267325"/>
            <a:ext cx="7648575" cy="257175"/>
          </a:xfrm>
          <a:prstGeom prst="rect"/>
        </p:spPr>
        <p:txBody>
          <a:bodyPr wrap="none" lIns="0" tIns="0" rIns="0" bIns="0"/>
          <a:p>
            <a:pPr>
              <a:lnSpc>
                <a:spcPct val="150000"/>
              </a:lnSpc>
            </a:pPr>
            <a:r>
              <a:rPr lang="zh-CN" sz="1125">
                <a:solidFill>
                  <a:srgbClr val="20344B"/>
                </a:solidFill>
                <a:latin typeface="Microsoft YaHei"/>
                <a:ea typeface="Microsoft YaHei"/>
              </a:rPr>
              <a:t>客户端只显示摘要时，把可见内容标为客户端观察，把教学服务日志标为服务端证据；不补造缺失的</a:t>
            </a:r>
            <a:r>
              <a:rPr lang="en-US" sz="1125">
                <a:solidFill>
                  <a:srgbClr val="20344B"/>
                </a:solidFill>
                <a:latin typeface="Microsoft YaHei"/>
                <a:ea typeface="Microsoft YaHei"/>
              </a:rPr>
              <a:t xml:space="preserve"> call_id </a:t>
            </a:r>
            <a:r>
              <a:rPr lang="zh-CN" sz="1125">
                <a:solidFill>
                  <a:srgbClr val="20344B"/>
                </a:solidFill>
                <a:latin typeface="Microsoft YaHei"/>
                <a:ea typeface="Microsoft YaHei"/>
              </a:rPr>
              <a:t>或完整响应。</a:t>
            </a:r>
            <a:endParaRPr/>
          </a:p>
        </p:txBody>
      </p:sp>
      <p:sp>
        <p:nvSpPr>
          <p:cNvPr id="467"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468"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24 / 26</a:t>
            </a:r>
            <a:endParaRPr/>
          </a:p>
        </p:txBody>
      </p:sp>
    </p:spTree>
  </p:cSld>
</p:sld>
</file>

<file path=ppt/slides/slide25.xml><?xml version="1.0" encoding="utf-8"?>
<p:sld xmlns:p="http://schemas.openxmlformats.org/presentationml/2006/main" xmlns:a="http://schemas.openxmlformats.org/drawingml/2006/main">
  <p:cSld>
    <p:spTree>
      <p:nvGrpSpPr>
        <p:cNvPr id="469" name="" descr="&lt;Slide notes={`最后留三组对照，都是可以自己动手做的。&#10;&#10;第一组是同一句请求、两种条件。先在不提供查询工具的情况下问手作室的预约，再在接入工具之后把同一句话重复一遍。前者应该老实说明无法核实，后者应该拿工具结果说话。比较的对象是证据有没有到位，不是第二次回答得有没有更自信。&#10;&#10;剩下两组是失败对照。查询一个不存在的房间编号，应该返回无效请求或者要求澄清，不能悄悄换成别的房间。校验十点到十一点的手作候选，应该发现和已有预约冲突并要求修正候选，不能去改原来的预约。&#10;&#10;把调用意图、执行结果和最终判定连成一条线，这三组对照就有据可查了。`}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2.5.6　失败诊断与练习&lt;/Text&gt;&#10;            &lt;Text style={{ fontSize: 34, fontWeight: 'bold', color: '#20344B' }}&gt;两次请求与两个失败对照&lt;/Text&gt;&#10;        &lt;/Box&gt;&#10;    &lt;/Box&gt;&#10;&#10;    &lt;Box style={{ height: 540, flexDirection: 'column', justifyContent: 'center', gap: 18 }}&gt;&#10;&#10;        &lt;Box style={{ flexDirection: 'row', justifyContent: 'center', gap: 32 }}&gt;&#10;            &lt;Box style={{ width: 560, height: 140, background: '#EDF4FC', borderRadius: 10, padding: '16px 20px', flexDirection: 'column', gap: 6, justifyContent: 'center' }}&gt;&#10;                &lt;Text style={{ fontSize: 17, fontWeight: 'bold', color: '#276FBF' }}&gt;不提供查询工具时询问&lt;/Text&gt;&#10;                &lt;Text style={{ fontSize: 15, color: '#546779', lineHeight: 1.55 }}&gt;应先说明无法核实这次预约，不凭旧记录下结论。&lt;/Text&gt;&#10;            &lt;/Box&gt;&#10;            &lt;Box style={{ width: 560, height: 140, background: '#ECF7F2', borderRadius: 10, padding: '16px 20px', flexDirection: 'column', gap: 6, justifyContent: 'center' }}&gt;&#10;                &lt;Text style={{ fontSize: 17, fontWeight: 'bold', color: '#26816B' }}&gt;接入后重复同一请求&lt;/Text&gt;&#10;                &lt;Text style={{ fontSize: 15, color: '#546779', lineHeight: 1.55 }}&gt;应使用工具结果，并留下这次查询与返回的记录。&lt;/Text&gt;&#10;            &lt;/Box&gt;&#10;        &lt;/Box&gt;&#10;&#10;        &lt;Box style={{ flexDirection: 'row', justifyContent: 'center', gap: 32 }}&gt;&#10;            &lt;Box style={{ width: 560, height: 96, background: '#FFF4E6', borderRadius: 10, padding: '0 20px', flexDirection: 'row', gap: 16, alignItems: 'center' }}&gt;&#10;                &lt;Box style={{ width: 4, height: 60, background: '#CB6B28' }} /&gt;&#10;                &lt;Box style={{ flexDirection: 'column', gap: 4 }}&gt;&#10;                    &lt;Text style={{ fontSize: 16, fontWeight: 'bold', color: '#CB6B28' }}&gt;查询不存在的房间 ID&lt;/Text&gt;&#10;                    &lt;Text style={{ fontSize: 14, color: '#546779', lineHeight: 1.5 }}&gt;返回无效请求或请求澄清，不能悄悄换成别的房间&lt;/Text&gt;&#10;                &lt;/Box&gt;&#10;            &lt;/Box&gt;&#10;            &lt;Box style={{ width: 560, height: 96, background: '#FFF4E6', borderRadius: 10, padding: '0 20px', flexDirection: 'row', gap: 16, alignItems: 'center' }}&gt;&#10;                &lt;Box style={{ width: 4, height: 60, background: '#CB6B28' }} /&gt;&#10;                &lt;Box style={{ flexDirection: 'column', gap: 4 }}&gt;&#10;                    &lt;Text style={{ fontSize: 16, fontWeight: 'bold', color: '#CB6B28' }}&gt;校验 10:00—11:00 的手作候选&lt;/Text&gt;&#10;                    &lt;Text style={{ fontSize: 14, color: '#546779', lineHeight: 1.5 }}&gt;发现预约冲突并修正候选，不能修改原来的预约&lt;/Text&gt;&#10;                &lt;/Box&gt;&#10;            &lt;/Box&gt;&#10;        &lt;/Box&gt;&#10;&#10;        &lt;Box style={{ flexDirection: 'row', justifyContent: 'center' }}&gt;&#10;            &lt;Box style={{ width: 1152, height: 76, background: '#F4F7FA', borderRadius: 10, justifyContent: 'center', alignItems: 'center' }}&gt;&#10;                &lt;Text style={{ fontSize: 16, color: '#20344B' }}&gt;把调用意图、执行结果与最终判定连成一条证据链。&lt;/Text&gt;&#10;            &lt;/Box&gt;&#10;        &lt;/Box&gt;&#10;&#10;    &lt;/Box&gt;&#10;&#10;    &lt;Box style={{ height: 40, flexDirection: 'row', justifyContent: 'space-between', alignItems: 'center' }}&gt;&#10;        &lt;Text style={{ fontSize: 14, color: '#546779' }}&gt;2.5 Function Calling&lt;/Text&gt;&#10;        &lt;Text style={{ fontSize: 14, color: '#546779' }}&gt;25 / 26&lt;/Text&gt;&#10;    &lt;/Box&gt;&#10;&#10;&lt;/Slide&gt;&#10;"/>
        <p:cNvGrpSpPr/>
        <p:nvPr/>
      </p:nvGrpSpPr>
      <p:grpSpPr>
        <a:xfrm>
          <a:off x="0" y="0"/>
          <a:ext cx="0" cy="0"/>
          <a:chOff x="0" y="0"/>
          <a:chExt cx="0" cy="0"/>
        </a:xfrm>
      </p:grpSpPr>
      <p:sp>
        <p:nvSpPr>
          <p:cNvPr id="470" name=""/>
          <p:cNvSpPr/>
          <p:nvPr/>
        </p:nvSpPr>
        <p:spPr>
          <a:xfrm rot="0" flipH="0" flipV="0">
            <a:off x="0" y="0"/>
            <a:ext cx="12192000" cy="6858000"/>
          </a:xfrm>
          <a:prstGeom prst="rect">
            <a:avLst/>
          </a:prstGeom>
          <a:solidFill>
            <a:srgbClr val="FFFFFF"/>
          </a:solidFill>
          <a:ln/>
        </p:spPr>
        <p:txBody>
          <a:bodyPr/>
          <a:p/>
        </p:txBody>
      </p:sp>
      <p:sp>
        <p:nvSpPr>
          <p:cNvPr id="471" name=""/>
          <p:cNvSpPr/>
          <p:nvPr/>
        </p:nvSpPr>
        <p:spPr>
          <a:xfrm rot="0" flipH="0" flipV="0">
            <a:off x="609600" y="457200"/>
            <a:ext cx="38100" cy="419100"/>
          </a:xfrm>
          <a:prstGeom prst="rect">
            <a:avLst/>
          </a:prstGeom>
          <a:solidFill>
            <a:srgbClr val="276FBF"/>
          </a:solidFill>
          <a:ln/>
        </p:spPr>
        <p:txBody>
          <a:bodyPr/>
          <a:p/>
        </p:txBody>
      </p:sp>
      <p:sp>
        <p:nvSpPr>
          <p:cNvPr id="472" name="" descr="{&quot;isTemplate&quot;:true,&quot;type&quot;:&quot;text&quot;}"/>
          <p:cNvSpPr txBox="1"/>
          <p:nvPr/>
        </p:nvSpPr>
        <p:spPr>
          <a:xfrm rot="0" flipH="0" flipV="0">
            <a:off x="838200" y="371475"/>
            <a:ext cx="3562350" cy="161925"/>
          </a:xfrm>
          <a:prstGeom prst="rect"/>
        </p:spPr>
        <p:txBody>
          <a:bodyPr wrap="none" lIns="0" tIns="0" rIns="0" bIns="0"/>
          <a:p>
            <a:pPr>
              <a:lnSpc>
                <a:spcPct val="100000"/>
              </a:lnSpc>
            </a:pPr>
            <a:r>
              <a:rPr lang="en-US" sz="1050">
                <a:solidFill>
                  <a:srgbClr val="546779"/>
                </a:solidFill>
                <a:latin typeface="Microsoft YaHei"/>
                <a:ea typeface="Microsoft YaHei"/>
              </a:rPr>
              <a:t>2.5.6</a:t>
            </a:r>
            <a:r>
              <a:rPr lang="zh-CN" sz="1050">
                <a:solidFill>
                  <a:srgbClr val="546779"/>
                </a:solidFill>
                <a:latin typeface="Microsoft YaHei"/>
                <a:ea typeface="Microsoft YaHei"/>
              </a:rPr>
              <a:t>　失败诊断与练习</a:t>
            </a:r>
            <a:endParaRPr/>
          </a:p>
        </p:txBody>
      </p:sp>
      <p:sp>
        <p:nvSpPr>
          <p:cNvPr id="473" name="" descr="{&quot;isTemplate&quot;:true,&quot;type&quot;:&quot;text&quot;}"/>
          <p:cNvSpPr txBox="1"/>
          <p:nvPr/>
        </p:nvSpPr>
        <p:spPr>
          <a:xfrm rot="0" flipH="0" flipV="0">
            <a:off x="838200" y="571500"/>
            <a:ext cx="3562350" cy="390525"/>
          </a:xfrm>
          <a:prstGeom prst="rect"/>
        </p:spPr>
        <p:txBody>
          <a:bodyPr wrap="none" lIns="0" tIns="0" rIns="0" bIns="0"/>
          <a:p>
            <a:pPr>
              <a:lnSpc>
                <a:spcPct val="100000"/>
              </a:lnSpc>
            </a:pPr>
            <a:r>
              <a:rPr lang="zh-CN" sz="2550" b="1">
                <a:solidFill>
                  <a:srgbClr val="20344B"/>
                </a:solidFill>
                <a:latin typeface="Microsoft YaHei"/>
                <a:ea typeface="Microsoft YaHei"/>
              </a:rPr>
              <a:t>两次请求与两个失败对照</a:t>
            </a:r>
            <a:endParaRPr/>
          </a:p>
        </p:txBody>
      </p:sp>
      <p:sp>
        <p:nvSpPr>
          <p:cNvPr id="474" name=""/>
          <p:cNvSpPr/>
          <p:nvPr/>
        </p:nvSpPr>
        <p:spPr>
          <a:xfrm rot="0" flipH="0" flipV="0">
            <a:off x="609600" y="2057400"/>
            <a:ext cx="5334000" cy="1333500"/>
          </a:xfrm>
          <a:prstGeom prst="roundRect">
            <a:avLst>
              <a:gd name="adj" fmla="val 7143"/>
            </a:avLst>
          </a:prstGeom>
          <a:solidFill>
            <a:srgbClr val="EDF4FC"/>
          </a:solidFill>
          <a:ln/>
        </p:spPr>
        <p:txBody>
          <a:bodyPr/>
          <a:p/>
        </p:txBody>
      </p:sp>
      <p:sp>
        <p:nvSpPr>
          <p:cNvPr id="475" name="" descr="{&quot;isTemplate&quot;:true,&quot;type&quot;:&quot;text&quot;}"/>
          <p:cNvSpPr txBox="1"/>
          <p:nvPr/>
        </p:nvSpPr>
        <p:spPr>
          <a:xfrm rot="0" flipH="0" flipV="0">
            <a:off x="800100" y="2466975"/>
            <a:ext cx="4953000" cy="200025"/>
          </a:xfrm>
          <a:prstGeom prst="rect"/>
        </p:spPr>
        <p:txBody>
          <a:bodyPr wrap="none" lIns="0" tIns="0" rIns="0" bIns="0"/>
          <a:p>
            <a:pPr>
              <a:lnSpc>
                <a:spcPct val="100000"/>
              </a:lnSpc>
            </a:pPr>
            <a:r>
              <a:rPr lang="zh-CN" sz="1275" b="1">
                <a:solidFill>
                  <a:srgbClr val="276FBF"/>
                </a:solidFill>
                <a:latin typeface="Microsoft YaHei"/>
                <a:ea typeface="Microsoft YaHei"/>
              </a:rPr>
              <a:t>不提供查询工具时询问</a:t>
            </a:r>
            <a:endParaRPr/>
          </a:p>
        </p:txBody>
      </p:sp>
      <p:sp>
        <p:nvSpPr>
          <p:cNvPr id="476" name="" descr="{&quot;isTemplate&quot;:true,&quot;type&quot;:&quot;text&quot;}"/>
          <p:cNvSpPr txBox="1"/>
          <p:nvPr/>
        </p:nvSpPr>
        <p:spPr>
          <a:xfrm rot="0" flipH="0" flipV="0">
            <a:off x="800100" y="2724150"/>
            <a:ext cx="4953000" cy="266700"/>
          </a:xfrm>
          <a:prstGeom prst="rect"/>
        </p:spPr>
        <p:txBody>
          <a:bodyPr wrap="none" lIns="0" tIns="0" rIns="0" bIns="0"/>
          <a:p>
            <a:pPr>
              <a:lnSpc>
                <a:spcPct val="155000"/>
              </a:lnSpc>
            </a:pPr>
            <a:r>
              <a:rPr lang="zh-CN" sz="1125">
                <a:solidFill>
                  <a:srgbClr val="546779"/>
                </a:solidFill>
                <a:latin typeface="Microsoft YaHei"/>
                <a:ea typeface="Microsoft YaHei"/>
              </a:rPr>
              <a:t>应先说明无法核实这次预约，不凭旧记录下结论。</a:t>
            </a:r>
            <a:endParaRPr/>
          </a:p>
        </p:txBody>
      </p:sp>
      <p:sp>
        <p:nvSpPr>
          <p:cNvPr id="477" name=""/>
          <p:cNvSpPr/>
          <p:nvPr/>
        </p:nvSpPr>
        <p:spPr>
          <a:xfrm rot="0" flipH="0" flipV="0">
            <a:off x="6248400" y="2057400"/>
            <a:ext cx="5334000" cy="1333500"/>
          </a:xfrm>
          <a:prstGeom prst="roundRect">
            <a:avLst>
              <a:gd name="adj" fmla="val 7143"/>
            </a:avLst>
          </a:prstGeom>
          <a:solidFill>
            <a:srgbClr val="ECF7F2"/>
          </a:solidFill>
          <a:ln/>
        </p:spPr>
        <p:txBody>
          <a:bodyPr/>
          <a:p/>
        </p:txBody>
      </p:sp>
      <p:sp>
        <p:nvSpPr>
          <p:cNvPr id="478" name="" descr="{&quot;isTemplate&quot;:true,&quot;type&quot;:&quot;text&quot;}"/>
          <p:cNvSpPr txBox="1"/>
          <p:nvPr/>
        </p:nvSpPr>
        <p:spPr>
          <a:xfrm rot="0" flipH="0" flipV="0">
            <a:off x="6438900" y="2466975"/>
            <a:ext cx="4953000" cy="200025"/>
          </a:xfrm>
          <a:prstGeom prst="rect"/>
        </p:spPr>
        <p:txBody>
          <a:bodyPr wrap="none" lIns="0" tIns="0" rIns="0" bIns="0"/>
          <a:p>
            <a:pPr>
              <a:lnSpc>
                <a:spcPct val="100000"/>
              </a:lnSpc>
            </a:pPr>
            <a:r>
              <a:rPr lang="zh-CN" sz="1275" b="1">
                <a:solidFill>
                  <a:srgbClr val="26816B"/>
                </a:solidFill>
                <a:latin typeface="Microsoft YaHei"/>
                <a:ea typeface="Microsoft YaHei"/>
              </a:rPr>
              <a:t>接入后重复同一请求</a:t>
            </a:r>
            <a:endParaRPr/>
          </a:p>
        </p:txBody>
      </p:sp>
      <p:sp>
        <p:nvSpPr>
          <p:cNvPr id="479" name="" descr="{&quot;isTemplate&quot;:true,&quot;type&quot;:&quot;text&quot;}"/>
          <p:cNvSpPr txBox="1"/>
          <p:nvPr/>
        </p:nvSpPr>
        <p:spPr>
          <a:xfrm rot="0" flipH="0" flipV="0">
            <a:off x="6438900" y="2724150"/>
            <a:ext cx="4953000" cy="266700"/>
          </a:xfrm>
          <a:prstGeom prst="rect"/>
        </p:spPr>
        <p:txBody>
          <a:bodyPr wrap="none" lIns="0" tIns="0" rIns="0" bIns="0"/>
          <a:p>
            <a:pPr>
              <a:lnSpc>
                <a:spcPct val="155000"/>
              </a:lnSpc>
            </a:pPr>
            <a:r>
              <a:rPr lang="zh-CN" sz="1125">
                <a:solidFill>
                  <a:srgbClr val="546779"/>
                </a:solidFill>
                <a:latin typeface="Microsoft YaHei"/>
                <a:ea typeface="Microsoft YaHei"/>
              </a:rPr>
              <a:t>应使用工具结果，并留下这次查询与返回的记录。</a:t>
            </a:r>
            <a:endParaRPr/>
          </a:p>
        </p:txBody>
      </p:sp>
      <p:sp>
        <p:nvSpPr>
          <p:cNvPr id="480" name=""/>
          <p:cNvSpPr/>
          <p:nvPr/>
        </p:nvSpPr>
        <p:spPr>
          <a:xfrm rot="0" flipH="0" flipV="0">
            <a:off x="609600" y="3562350"/>
            <a:ext cx="5334000" cy="914400"/>
          </a:xfrm>
          <a:prstGeom prst="roundRect">
            <a:avLst>
              <a:gd name="adj" fmla="val 10417"/>
            </a:avLst>
          </a:prstGeom>
          <a:solidFill>
            <a:srgbClr val="FFF4E6"/>
          </a:solidFill>
          <a:ln/>
        </p:spPr>
        <p:txBody>
          <a:bodyPr/>
          <a:p/>
        </p:txBody>
      </p:sp>
      <p:sp>
        <p:nvSpPr>
          <p:cNvPr id="481" name=""/>
          <p:cNvSpPr/>
          <p:nvPr/>
        </p:nvSpPr>
        <p:spPr>
          <a:xfrm rot="0" flipH="0" flipV="0">
            <a:off x="800100" y="3733800"/>
            <a:ext cx="38100" cy="571500"/>
          </a:xfrm>
          <a:prstGeom prst="rect">
            <a:avLst/>
          </a:prstGeom>
          <a:solidFill>
            <a:srgbClr val="CB6B28"/>
          </a:solidFill>
          <a:ln/>
        </p:spPr>
        <p:txBody>
          <a:bodyPr/>
          <a:p/>
        </p:txBody>
      </p:sp>
      <p:sp>
        <p:nvSpPr>
          <p:cNvPr id="482" name="" descr="{&quot;isTemplate&quot;:true,&quot;type&quot;:&quot;text&quot;}"/>
          <p:cNvSpPr txBox="1"/>
          <p:nvPr/>
        </p:nvSpPr>
        <p:spPr>
          <a:xfrm rot="0" flipH="0" flipV="0">
            <a:off x="990600" y="3781425"/>
            <a:ext cx="2933700" cy="190500"/>
          </a:xfrm>
          <a:prstGeom prst="rect"/>
        </p:spPr>
        <p:txBody>
          <a:bodyPr wrap="none" lIns="0" tIns="0" rIns="0" bIns="0"/>
          <a:p>
            <a:pPr>
              <a:lnSpc>
                <a:spcPct val="100000"/>
              </a:lnSpc>
            </a:pPr>
            <a:r>
              <a:rPr lang="zh-CN" sz="1200" b="1">
                <a:solidFill>
                  <a:srgbClr val="CB6B28"/>
                </a:solidFill>
                <a:latin typeface="Microsoft YaHei"/>
                <a:ea typeface="Microsoft YaHei"/>
              </a:rPr>
              <a:t>查询不存在的房间</a:t>
            </a:r>
            <a:r>
              <a:rPr lang="en-US" sz="1200" b="1">
                <a:solidFill>
                  <a:srgbClr val="CB6B28"/>
                </a:solidFill>
                <a:latin typeface="Microsoft YaHei"/>
                <a:ea typeface="Microsoft YaHei"/>
              </a:rPr>
              <a:t xml:space="preserve"> ID</a:t>
            </a:r>
            <a:endParaRPr/>
          </a:p>
        </p:txBody>
      </p:sp>
      <p:sp>
        <p:nvSpPr>
          <p:cNvPr id="483" name="" descr="{&quot;isTemplate&quot;:true,&quot;type&quot;:&quot;text&quot;}"/>
          <p:cNvSpPr txBox="1"/>
          <p:nvPr/>
        </p:nvSpPr>
        <p:spPr>
          <a:xfrm rot="0" flipH="0" flipV="0">
            <a:off x="990600" y="4010025"/>
            <a:ext cx="2933700" cy="247650"/>
          </a:xfrm>
          <a:prstGeom prst="rect"/>
        </p:spPr>
        <p:txBody>
          <a:bodyPr wrap="none" lIns="0" tIns="0" rIns="0" bIns="0"/>
          <a:p>
            <a:pPr>
              <a:lnSpc>
                <a:spcPct val="150000"/>
              </a:lnSpc>
            </a:pPr>
            <a:r>
              <a:rPr lang="zh-CN" sz="1050">
                <a:solidFill>
                  <a:srgbClr val="546779"/>
                </a:solidFill>
                <a:latin typeface="Microsoft YaHei"/>
                <a:ea typeface="Microsoft YaHei"/>
              </a:rPr>
              <a:t>返回无效请求或请求澄清，不能悄悄换成别的房间</a:t>
            </a:r>
            <a:endParaRPr/>
          </a:p>
        </p:txBody>
      </p:sp>
      <p:sp>
        <p:nvSpPr>
          <p:cNvPr id="484" name=""/>
          <p:cNvSpPr/>
          <p:nvPr/>
        </p:nvSpPr>
        <p:spPr>
          <a:xfrm rot="0" flipH="0" flipV="0">
            <a:off x="6248400" y="3562350"/>
            <a:ext cx="5334000" cy="914400"/>
          </a:xfrm>
          <a:prstGeom prst="roundRect">
            <a:avLst>
              <a:gd name="adj" fmla="val 10417"/>
            </a:avLst>
          </a:prstGeom>
          <a:solidFill>
            <a:srgbClr val="FFF4E6"/>
          </a:solidFill>
          <a:ln/>
        </p:spPr>
        <p:txBody>
          <a:bodyPr/>
          <a:p/>
        </p:txBody>
      </p:sp>
      <p:sp>
        <p:nvSpPr>
          <p:cNvPr id="485" name=""/>
          <p:cNvSpPr/>
          <p:nvPr/>
        </p:nvSpPr>
        <p:spPr>
          <a:xfrm rot="0" flipH="0" flipV="0">
            <a:off x="6438900" y="3733800"/>
            <a:ext cx="38100" cy="571500"/>
          </a:xfrm>
          <a:prstGeom prst="rect">
            <a:avLst/>
          </a:prstGeom>
          <a:solidFill>
            <a:srgbClr val="CB6B28"/>
          </a:solidFill>
          <a:ln/>
        </p:spPr>
        <p:txBody>
          <a:bodyPr/>
          <a:p/>
        </p:txBody>
      </p:sp>
      <p:sp>
        <p:nvSpPr>
          <p:cNvPr id="486" name="" descr="{&quot;isTemplate&quot;:true,&quot;type&quot;:&quot;text&quot;}"/>
          <p:cNvSpPr txBox="1"/>
          <p:nvPr/>
        </p:nvSpPr>
        <p:spPr>
          <a:xfrm rot="0" flipH="0" flipV="0">
            <a:off x="6629400" y="3781425"/>
            <a:ext cx="2800350" cy="190500"/>
          </a:xfrm>
          <a:prstGeom prst="rect"/>
        </p:spPr>
        <p:txBody>
          <a:bodyPr wrap="none" lIns="0" tIns="0" rIns="0" bIns="0"/>
          <a:p>
            <a:pPr>
              <a:lnSpc>
                <a:spcPct val="100000"/>
              </a:lnSpc>
            </a:pPr>
            <a:r>
              <a:rPr lang="zh-CN" sz="1200" b="1">
                <a:solidFill>
                  <a:srgbClr val="CB6B28"/>
                </a:solidFill>
                <a:latin typeface="Microsoft YaHei"/>
                <a:ea typeface="Microsoft YaHei"/>
              </a:rPr>
              <a:t>校验</a:t>
            </a:r>
            <a:r>
              <a:rPr lang="en-US" sz="1200" b="1">
                <a:solidFill>
                  <a:srgbClr val="CB6B28"/>
                </a:solidFill>
                <a:latin typeface="Microsoft YaHei"/>
                <a:ea typeface="Microsoft YaHei"/>
              </a:rPr>
              <a:t xml:space="preserve"> 10:00—11:00 </a:t>
            </a:r>
            <a:r>
              <a:rPr lang="zh-CN" sz="1200" b="1">
                <a:solidFill>
                  <a:srgbClr val="CB6B28"/>
                </a:solidFill>
                <a:latin typeface="Microsoft YaHei"/>
                <a:ea typeface="Microsoft YaHei"/>
              </a:rPr>
              <a:t>的手作候选</a:t>
            </a:r>
            <a:endParaRPr/>
          </a:p>
        </p:txBody>
      </p:sp>
      <p:sp>
        <p:nvSpPr>
          <p:cNvPr id="487" name="" descr="{&quot;isTemplate&quot;:true,&quot;type&quot;:&quot;text&quot;}"/>
          <p:cNvSpPr txBox="1"/>
          <p:nvPr/>
        </p:nvSpPr>
        <p:spPr>
          <a:xfrm rot="0" flipH="0" flipV="0">
            <a:off x="6629400" y="4010025"/>
            <a:ext cx="2800350" cy="247650"/>
          </a:xfrm>
          <a:prstGeom prst="rect"/>
        </p:spPr>
        <p:txBody>
          <a:bodyPr wrap="none" lIns="0" tIns="0" rIns="0" bIns="0"/>
          <a:p>
            <a:pPr>
              <a:lnSpc>
                <a:spcPct val="150000"/>
              </a:lnSpc>
            </a:pPr>
            <a:r>
              <a:rPr lang="zh-CN" sz="1050">
                <a:solidFill>
                  <a:srgbClr val="546779"/>
                </a:solidFill>
                <a:latin typeface="Microsoft YaHei"/>
                <a:ea typeface="Microsoft YaHei"/>
              </a:rPr>
              <a:t>发现预约冲突并修正候选，不能修改原来的预约</a:t>
            </a:r>
            <a:endParaRPr/>
          </a:p>
        </p:txBody>
      </p:sp>
      <p:sp>
        <p:nvSpPr>
          <p:cNvPr id="488" name=""/>
          <p:cNvSpPr/>
          <p:nvPr/>
        </p:nvSpPr>
        <p:spPr>
          <a:xfrm rot="0" flipH="0" flipV="0">
            <a:off x="609600" y="4648200"/>
            <a:ext cx="10972800" cy="723900"/>
          </a:xfrm>
          <a:prstGeom prst="roundRect">
            <a:avLst>
              <a:gd name="adj" fmla="val 13158"/>
            </a:avLst>
          </a:prstGeom>
          <a:solidFill>
            <a:srgbClr val="F4F7FA"/>
          </a:solidFill>
          <a:ln/>
        </p:spPr>
        <p:txBody>
          <a:bodyPr/>
          <a:p/>
        </p:txBody>
      </p:sp>
      <p:sp>
        <p:nvSpPr>
          <p:cNvPr id="489" name="" descr="{&quot;isTemplate&quot;:true,&quot;type&quot;:&quot;text&quot;}"/>
          <p:cNvSpPr txBox="1"/>
          <p:nvPr/>
        </p:nvSpPr>
        <p:spPr>
          <a:xfrm rot="0" flipH="0" flipV="0">
            <a:off x="4343400" y="4914900"/>
            <a:ext cx="3505200" cy="190500"/>
          </a:xfrm>
          <a:prstGeom prst="rect"/>
        </p:spPr>
        <p:txBody>
          <a:bodyPr wrap="none" lIns="0" tIns="0" rIns="0" bIns="0"/>
          <a:p>
            <a:pPr>
              <a:lnSpc>
                <a:spcPct val="100000"/>
              </a:lnSpc>
            </a:pPr>
            <a:r>
              <a:rPr lang="zh-CN" sz="1200">
                <a:solidFill>
                  <a:srgbClr val="20344B"/>
                </a:solidFill>
                <a:latin typeface="Microsoft YaHei"/>
                <a:ea typeface="Microsoft YaHei"/>
              </a:rPr>
              <a:t>把调用意图、执行结果与最终判定连成一条证据链。</a:t>
            </a:r>
            <a:endParaRPr/>
          </a:p>
        </p:txBody>
      </p:sp>
      <p:sp>
        <p:nvSpPr>
          <p:cNvPr id="490" name="" descr="{&quot;isTemplate&quot;:true,&quot;type&quot;:&quot;text&quot;}"/>
          <p:cNvSpPr txBox="1"/>
          <p:nvPr/>
        </p:nvSpPr>
        <p:spPr>
          <a:xfrm rot="0" flipH="0" flipV="0">
            <a:off x="609600" y="64008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491"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25 / 26</a:t>
            </a:r>
            <a:endParaRPr/>
          </a:p>
        </p:txBody>
      </p:sp>
    </p:spTree>
  </p:cSld>
</p:sld>
</file>

<file path=ppt/slides/slide26.xml><?xml version="1.0" encoding="utf-8"?>
<p:sld xmlns:p="http://schemas.openxmlformats.org/presentationml/2006/main" xmlns:a="http://schemas.openxmlformats.org/drawingml/2006/main">
  <p:cSld>
    <p:spTree>
      <p:nvGrpSpPr>
        <p:cNvPr id="492" name="" descr="&lt;Slide notes={`把这一节收成三个问题，以后遇到工具调用都可以用它来核对。&#10;&#10;第一个，谁提出调用。是模型提出的，这一点要说清楚。提出的只是意图，里面带着工具名、参数和 call_id。&#10;&#10;第二个，谁实际执行。是应用这一侧执行的。执行之前要检查允许列表、参数和预算；执行之后要记住，只读查询可以重试，写操作不行。&#10;&#10;第三个，谁判定可用。判定在应用里，不在模型的措辞里。只有最后一次候选检查通过，才允许作为交付方案保存。&#10;&#10;顺着一轮调用往下走：模型请求、应用检查并执行、结果按 call_id 交回，然后再请求一次，让模型读到结果。整条回路上，每一段都要留下可以被别人核对的记录。下一节，我们把同一套只读能力接到 MCP 上。`} style={{ width: 1280, height: 720, background: '#FFFFFF', flexDirection: 'column', padding: '20px 64px' }}&gt;&#10;&#10;    &lt;Box style={{ height: 540, flexDirection: 'column', justifyContent: 'center', gap: 22 }}&gt;&#10;&#10;        &lt;Box style={{ flexDirection: 'column', alignItems: 'center', gap: 12 }}&gt;&#10;            &lt;Text style={{ fontSize: 15, color: '#546779' }}&gt;2.5　小结&lt;/Text&gt;&#10;            &lt;Text style={{ fontSize: 44, fontWeight: 'bold', color: '#20344B', lineHeight: 1.25, textAlign: 'center' }}&gt;一轮工具调用，先问三个问题&lt;/Text&gt;&#10;            &lt;Box style={{ width: 72, height: 4, background: '#276FBF' }} /&gt;&#10;        &lt;/Box&gt;&#10;&#10;        &lt;Box style={{ flexDirection: 'row', justifyContent: 'center', alignItems: 'center' }}&gt;&#10;            &lt;Box style={{ width: 352, height: 170, background: '#EDF4FC', borderRadius: 10, padding: '18px 20px', flexDirection: 'column', gap: 6, justifyContent: 'center' }}&gt;&#10;                &lt;Text style={{ fontSize: 20, fontWeight: 'bold', color: '#276FBF' }}&gt;谁提出调用&lt;/Text&gt;&#10;                &lt;Text style={{ fontSize: 14, color: '#546779', lineHeight: 1.55 }}&gt;模型只生成意图：工具名、参数与 call_id 一起过来。&lt;/Text&gt;&#10;            &lt;/Box&gt;&#10;            &lt;Box style={{ width: 44, height: 170, justifyContent: 'center', alignItems: 'center' }}&gt;&lt;Text style={{ fontSize: 26, color: '#276FBF' }}&gt;›&lt;/Text&gt;&lt;/Box&gt;&#10;            &lt;Box style={{ width: 352, height: 170, background: '#ECF7F2', borderRadius: 10, padding: '18px 20px', flexDirection: 'column', gap: 6, justifyContent: 'center' }}&gt;&#10;                &lt;Text style={{ fontSize: 20, fontWeight: 'bold', color: '#26816B' }}&gt;谁实际执行&lt;/Text&gt;&#10;                &lt;Text style={{ fontSize: 14, color: '#546779', lineHeight: 1.55 }}&gt;宿主编排执行：先检查允许列表、参数与预算，再调用只读函数。&lt;/Text&gt;&#10;            &lt;/Box&gt;&#10;            &lt;Box style={{ width: 44, height: 170, justifyContent: 'center', alignItems: 'center' }}&gt;&lt;Text style={{ fontSize: 26, color: '#CB6B28' }}&gt;›&lt;/Text&gt;&lt;/Box&gt;&#10;            &lt;Box style={{ width: 352, height: 170, background: '#FFF4E6', borderRadius: 10, padding: '18px 20px', flexDirection: 'column', gap: 6, justifyContent: 'center' }}&gt;&#10;                &lt;Text style={{ fontSize: 20, fontWeight: 'bold', color: '#CB6B28' }}&gt;谁判定可用&lt;/Text&gt;&#10;                &lt;Text style={{ fontSize: 14, color: '#546779', lineHeight: 1.55 }}&gt;应用保存最终判定：只有最后一次检查通过的候选才算交付。&lt;/Text&gt;&#10;            &lt;/Box&gt;&#10;        &lt;/Box&gt;&#10;&#10;        &lt;Box style={{ flexDirection: 'row', alignItems: 'center', gap: 12 }}&gt;&#10;            &lt;Box style={{ width: 3, height: 26, background: '#26816B' }} /&gt;&#10;            &lt;Text style={{ fontSize: 16, color: '#546779' }}&gt;下一节　2.6　MCP：把同一只读能力接入不同宿主&lt;/Text&gt;&#10;        &lt;/Box&gt;&#10;&#10;    &lt;/Box&gt;&#10;&#10;    &lt;Box style={{ height: 40, flexDirection: 'row', justifyContent: 'space-between', alignItems: 'center' }}&gt;&#10;        &lt;Text style={{ fontSize: 14, color: '#546779' }}&gt;2.5 Function Calling&lt;/Text&gt;&#10;        &lt;Text style={{ fontSize: 14, color: '#546779' }}&gt;26 / 26&lt;/Text&gt;&#10;    &lt;/Box&gt;&#10;&#10;&lt;/Slide&gt;&#10;"/>
        <p:cNvGrpSpPr/>
        <p:nvPr/>
      </p:nvGrpSpPr>
      <p:grpSpPr>
        <a:xfrm>
          <a:off x="0" y="0"/>
          <a:ext cx="0" cy="0"/>
          <a:chOff x="0" y="0"/>
          <a:chExt cx="0" cy="0"/>
        </a:xfrm>
      </p:grpSpPr>
      <p:sp>
        <p:nvSpPr>
          <p:cNvPr id="493" name=""/>
          <p:cNvSpPr/>
          <p:nvPr/>
        </p:nvSpPr>
        <p:spPr>
          <a:xfrm rot="0" flipH="0" flipV="0">
            <a:off x="0" y="0"/>
            <a:ext cx="12192000" cy="6858000"/>
          </a:xfrm>
          <a:prstGeom prst="rect">
            <a:avLst/>
          </a:prstGeom>
          <a:solidFill>
            <a:srgbClr val="FFFFFF"/>
          </a:solidFill>
          <a:ln/>
        </p:spPr>
        <p:txBody>
          <a:bodyPr/>
          <a:p/>
        </p:txBody>
      </p:sp>
      <p:sp>
        <p:nvSpPr>
          <p:cNvPr id="494" name="" descr="{&quot;isTemplate&quot;:true,&quot;type&quot;:&quot;text&quot;}"/>
          <p:cNvSpPr txBox="1"/>
          <p:nvPr/>
        </p:nvSpPr>
        <p:spPr>
          <a:xfrm rot="0" flipH="0" flipV="0">
            <a:off x="5781675" y="1085850"/>
            <a:ext cx="638175" cy="171450"/>
          </a:xfrm>
          <a:prstGeom prst="rect"/>
        </p:spPr>
        <p:txBody>
          <a:bodyPr wrap="none" lIns="0" tIns="0" rIns="0" bIns="0"/>
          <a:p>
            <a:pPr>
              <a:lnSpc>
                <a:spcPct val="100000"/>
              </a:lnSpc>
            </a:pPr>
            <a:r>
              <a:rPr lang="en-US" sz="1125">
                <a:solidFill>
                  <a:srgbClr val="546779"/>
                </a:solidFill>
                <a:latin typeface="Microsoft YaHei"/>
                <a:ea typeface="Microsoft YaHei"/>
              </a:rPr>
              <a:t>2.5</a:t>
            </a:r>
            <a:r>
              <a:rPr lang="zh-CN" sz="1125">
                <a:solidFill>
                  <a:srgbClr val="546779"/>
                </a:solidFill>
                <a:latin typeface="Microsoft YaHei"/>
                <a:ea typeface="Microsoft YaHei"/>
              </a:rPr>
              <a:t>　小结</a:t>
            </a:r>
            <a:endParaRPr/>
          </a:p>
        </p:txBody>
      </p:sp>
      <p:sp>
        <p:nvSpPr>
          <p:cNvPr id="495" name="" descr="{&quot;isTemplate&quot;:true,&quot;type&quot;:&quot;text&quot;}"/>
          <p:cNvSpPr txBox="1"/>
          <p:nvPr/>
        </p:nvSpPr>
        <p:spPr>
          <a:xfrm rot="0" flipH="0" flipV="0">
            <a:off x="3371850" y="1371600"/>
            <a:ext cx="5448300" cy="628650"/>
          </a:xfrm>
          <a:prstGeom prst="rect"/>
        </p:spPr>
        <p:txBody>
          <a:bodyPr wrap="none" lIns="0" tIns="0" rIns="0" bIns="0"/>
          <a:p>
            <a:pPr algn="ctr">
              <a:lnSpc>
                <a:spcPct val="125000"/>
              </a:lnSpc>
            </a:pPr>
            <a:r>
              <a:rPr lang="zh-CN" sz="3300" b="1">
                <a:solidFill>
                  <a:srgbClr val="20344B"/>
                </a:solidFill>
                <a:latin typeface="Microsoft YaHei"/>
                <a:ea typeface="Microsoft YaHei"/>
              </a:rPr>
              <a:t>一轮工具调用，先问三个问题</a:t>
            </a:r>
            <a:endParaRPr/>
          </a:p>
        </p:txBody>
      </p:sp>
      <p:sp>
        <p:nvSpPr>
          <p:cNvPr id="496" name=""/>
          <p:cNvSpPr/>
          <p:nvPr/>
        </p:nvSpPr>
        <p:spPr>
          <a:xfrm rot="0" flipH="0" flipV="0">
            <a:off x="5753100" y="2114550"/>
            <a:ext cx="685800" cy="38100"/>
          </a:xfrm>
          <a:prstGeom prst="rect">
            <a:avLst/>
          </a:prstGeom>
          <a:solidFill>
            <a:srgbClr val="276FBF"/>
          </a:solidFill>
          <a:ln/>
        </p:spPr>
        <p:txBody>
          <a:bodyPr/>
          <a:p/>
        </p:txBody>
      </p:sp>
      <p:sp>
        <p:nvSpPr>
          <p:cNvPr id="497" name=""/>
          <p:cNvSpPr/>
          <p:nvPr/>
        </p:nvSpPr>
        <p:spPr>
          <a:xfrm rot="0" flipH="0" flipV="0">
            <a:off x="647700" y="2362200"/>
            <a:ext cx="3352800" cy="1619250"/>
          </a:xfrm>
          <a:prstGeom prst="roundRect">
            <a:avLst>
              <a:gd name="adj" fmla="val 5882"/>
            </a:avLst>
          </a:prstGeom>
          <a:solidFill>
            <a:srgbClr val="EDF4FC"/>
          </a:solidFill>
          <a:ln/>
        </p:spPr>
        <p:txBody>
          <a:bodyPr/>
          <a:p/>
        </p:txBody>
      </p:sp>
      <p:sp>
        <p:nvSpPr>
          <p:cNvPr id="498" name="" descr="{&quot;isTemplate&quot;:true,&quot;type&quot;:&quot;text&quot;}"/>
          <p:cNvSpPr txBox="1"/>
          <p:nvPr/>
        </p:nvSpPr>
        <p:spPr>
          <a:xfrm rot="0" flipH="0" flipV="0">
            <a:off x="838200" y="2781300"/>
            <a:ext cx="2971800" cy="228600"/>
          </a:xfrm>
          <a:prstGeom prst="rect"/>
        </p:spPr>
        <p:txBody>
          <a:bodyPr wrap="none" lIns="0" tIns="0" rIns="0" bIns="0"/>
          <a:p>
            <a:pPr>
              <a:lnSpc>
                <a:spcPct val="100000"/>
              </a:lnSpc>
            </a:pPr>
            <a:r>
              <a:rPr lang="zh-CN" sz="1500" b="1">
                <a:solidFill>
                  <a:srgbClr val="276FBF"/>
                </a:solidFill>
                <a:latin typeface="Microsoft YaHei"/>
                <a:ea typeface="Microsoft YaHei"/>
              </a:rPr>
              <a:t>谁提出调用</a:t>
            </a:r>
            <a:endParaRPr/>
          </a:p>
        </p:txBody>
      </p:sp>
      <p:sp>
        <p:nvSpPr>
          <p:cNvPr id="499" name="" descr="{&quot;isTemplate&quot;:true,&quot;type&quot;:&quot;text&quot;}"/>
          <p:cNvSpPr txBox="1"/>
          <p:nvPr/>
        </p:nvSpPr>
        <p:spPr>
          <a:xfrm rot="0" flipH="0" flipV="0">
            <a:off x="838200" y="3067050"/>
            <a:ext cx="2971800" cy="504825"/>
          </a:xfrm>
          <a:prstGeom prst="rect"/>
        </p:spPr>
        <p:txBody>
          <a:bodyPr wrap="square" lIns="0" tIns="0" rIns="0" bIns="0">
            <a:normAutofit/>
          </a:bodyPr>
          <a:p>
            <a:pPr>
              <a:lnSpc>
                <a:spcPct val="155000"/>
              </a:lnSpc>
            </a:pPr>
            <a:r>
              <a:rPr lang="zh-CN" sz="1050">
                <a:solidFill>
                  <a:srgbClr val="546779"/>
                </a:solidFill>
                <a:latin typeface="Microsoft YaHei"/>
                <a:ea typeface="Microsoft YaHei"/>
              </a:rPr>
              <a:t>模型只生成意图：工具名、参数与</a:t>
            </a:r>
            <a:r>
              <a:rPr lang="en-US" sz="1050">
                <a:solidFill>
                  <a:srgbClr val="546779"/>
                </a:solidFill>
                <a:latin typeface="Microsoft YaHei"/>
                <a:ea typeface="Microsoft YaHei"/>
              </a:rPr>
              <a:t xml:space="preserve"> call_id </a:t>
            </a:r>
            <a:r>
              <a:rPr lang="zh-CN" sz="1050">
                <a:solidFill>
                  <a:srgbClr val="546779"/>
                </a:solidFill>
                <a:latin typeface="Microsoft YaHei"/>
                <a:ea typeface="Microsoft YaHei"/>
              </a:rPr>
              <a:t>一起过来。</a:t>
            </a:r>
            <a:endParaRPr/>
          </a:p>
        </p:txBody>
      </p:sp>
      <p:sp>
        <p:nvSpPr>
          <p:cNvPr id="500" name="" descr="{&quot;isTemplate&quot;:true,&quot;type&quot;:&quot;text&quot;}"/>
          <p:cNvSpPr txBox="1"/>
          <p:nvPr/>
        </p:nvSpPr>
        <p:spPr>
          <a:xfrm rot="0" flipH="0" flipV="0">
            <a:off x="4171950" y="3019425"/>
            <a:ext cx="85725" cy="304800"/>
          </a:xfrm>
          <a:prstGeom prst="rect"/>
        </p:spPr>
        <p:txBody>
          <a:bodyPr wrap="none" lIns="0" tIns="0" rIns="0" bIns="0"/>
          <a:p>
            <a:pPr>
              <a:lnSpc>
                <a:spcPct val="100000"/>
              </a:lnSpc>
            </a:pPr>
            <a:r>
              <a:rPr sz="1950">
                <a:solidFill>
                  <a:srgbClr val="276FBF"/>
                </a:solidFill>
                <a:latin typeface="Microsoft YaHei"/>
                <a:ea typeface="Microsoft YaHei"/>
              </a:rPr>
              <a:t>›</a:t>
            </a:r>
            <a:endParaRPr/>
          </a:p>
        </p:txBody>
      </p:sp>
      <p:sp>
        <p:nvSpPr>
          <p:cNvPr id="501" name=""/>
          <p:cNvSpPr/>
          <p:nvPr/>
        </p:nvSpPr>
        <p:spPr>
          <a:xfrm rot="0" flipH="0" flipV="0">
            <a:off x="4419600" y="2362200"/>
            <a:ext cx="3352800" cy="1619250"/>
          </a:xfrm>
          <a:prstGeom prst="roundRect">
            <a:avLst>
              <a:gd name="adj" fmla="val 5882"/>
            </a:avLst>
          </a:prstGeom>
          <a:solidFill>
            <a:srgbClr val="ECF7F2"/>
          </a:solidFill>
          <a:ln/>
        </p:spPr>
        <p:txBody>
          <a:bodyPr/>
          <a:p/>
        </p:txBody>
      </p:sp>
      <p:sp>
        <p:nvSpPr>
          <p:cNvPr id="502" name="" descr="{&quot;isTemplate&quot;:true,&quot;type&quot;:&quot;text&quot;}"/>
          <p:cNvSpPr txBox="1"/>
          <p:nvPr/>
        </p:nvSpPr>
        <p:spPr>
          <a:xfrm rot="0" flipH="0" flipV="0">
            <a:off x="4610100" y="2781300"/>
            <a:ext cx="2971800" cy="228600"/>
          </a:xfrm>
          <a:prstGeom prst="rect"/>
        </p:spPr>
        <p:txBody>
          <a:bodyPr wrap="none" lIns="0" tIns="0" rIns="0" bIns="0"/>
          <a:p>
            <a:pPr>
              <a:lnSpc>
                <a:spcPct val="100000"/>
              </a:lnSpc>
            </a:pPr>
            <a:r>
              <a:rPr lang="zh-CN" sz="1500" b="1">
                <a:solidFill>
                  <a:srgbClr val="26816B"/>
                </a:solidFill>
                <a:latin typeface="Microsoft YaHei"/>
                <a:ea typeface="Microsoft YaHei"/>
              </a:rPr>
              <a:t>谁实际执行</a:t>
            </a:r>
            <a:endParaRPr/>
          </a:p>
        </p:txBody>
      </p:sp>
      <p:sp>
        <p:nvSpPr>
          <p:cNvPr id="503" name="" descr="{&quot;isTemplate&quot;:true,&quot;type&quot;:&quot;text&quot;}"/>
          <p:cNvSpPr txBox="1"/>
          <p:nvPr/>
        </p:nvSpPr>
        <p:spPr>
          <a:xfrm rot="0" flipH="0" flipV="0">
            <a:off x="4610100" y="3067050"/>
            <a:ext cx="2971800" cy="504825"/>
          </a:xfrm>
          <a:prstGeom prst="rect"/>
        </p:spPr>
        <p:txBody>
          <a:bodyPr wrap="square" lIns="0" tIns="0" rIns="0" bIns="0">
            <a:normAutofit/>
          </a:bodyPr>
          <a:p>
            <a:pPr>
              <a:lnSpc>
                <a:spcPct val="155000"/>
              </a:lnSpc>
            </a:pPr>
            <a:r>
              <a:rPr lang="zh-CN" sz="1050">
                <a:solidFill>
                  <a:srgbClr val="546779"/>
                </a:solidFill>
                <a:latin typeface="Microsoft YaHei"/>
                <a:ea typeface="Microsoft YaHei"/>
              </a:rPr>
              <a:t>宿主编排执行：先检查允许列表、参数与预算，再调用只读函数。</a:t>
            </a:r>
            <a:endParaRPr/>
          </a:p>
        </p:txBody>
      </p:sp>
      <p:sp>
        <p:nvSpPr>
          <p:cNvPr id="504" name="" descr="{&quot;isTemplate&quot;:true,&quot;type&quot;:&quot;text&quot;}"/>
          <p:cNvSpPr txBox="1"/>
          <p:nvPr/>
        </p:nvSpPr>
        <p:spPr>
          <a:xfrm rot="0" flipH="0" flipV="0">
            <a:off x="7943850" y="3019425"/>
            <a:ext cx="85725" cy="304800"/>
          </a:xfrm>
          <a:prstGeom prst="rect"/>
        </p:spPr>
        <p:txBody>
          <a:bodyPr wrap="none" lIns="0" tIns="0" rIns="0" bIns="0"/>
          <a:p>
            <a:pPr>
              <a:lnSpc>
                <a:spcPct val="100000"/>
              </a:lnSpc>
            </a:pPr>
            <a:r>
              <a:rPr sz="1950">
                <a:solidFill>
                  <a:srgbClr val="CB6B28"/>
                </a:solidFill>
                <a:latin typeface="Microsoft YaHei"/>
                <a:ea typeface="Microsoft YaHei"/>
              </a:rPr>
              <a:t>›</a:t>
            </a:r>
            <a:endParaRPr/>
          </a:p>
        </p:txBody>
      </p:sp>
      <p:sp>
        <p:nvSpPr>
          <p:cNvPr id="505" name=""/>
          <p:cNvSpPr/>
          <p:nvPr/>
        </p:nvSpPr>
        <p:spPr>
          <a:xfrm rot="0" flipH="0" flipV="0">
            <a:off x="8191500" y="2362200"/>
            <a:ext cx="3352800" cy="1619250"/>
          </a:xfrm>
          <a:prstGeom prst="roundRect">
            <a:avLst>
              <a:gd name="adj" fmla="val 5882"/>
            </a:avLst>
          </a:prstGeom>
          <a:solidFill>
            <a:srgbClr val="FFF4E6"/>
          </a:solidFill>
          <a:ln/>
        </p:spPr>
        <p:txBody>
          <a:bodyPr/>
          <a:p/>
        </p:txBody>
      </p:sp>
      <p:sp>
        <p:nvSpPr>
          <p:cNvPr id="506" name="" descr="{&quot;isTemplate&quot;:true,&quot;type&quot;:&quot;text&quot;}"/>
          <p:cNvSpPr txBox="1"/>
          <p:nvPr/>
        </p:nvSpPr>
        <p:spPr>
          <a:xfrm rot="0" flipH="0" flipV="0">
            <a:off x="8382000" y="2781300"/>
            <a:ext cx="2971800" cy="228600"/>
          </a:xfrm>
          <a:prstGeom prst="rect"/>
        </p:spPr>
        <p:txBody>
          <a:bodyPr wrap="none" lIns="0" tIns="0" rIns="0" bIns="0"/>
          <a:p>
            <a:pPr>
              <a:lnSpc>
                <a:spcPct val="100000"/>
              </a:lnSpc>
            </a:pPr>
            <a:r>
              <a:rPr lang="zh-CN" sz="1500" b="1">
                <a:solidFill>
                  <a:srgbClr val="CB6B28"/>
                </a:solidFill>
                <a:latin typeface="Microsoft YaHei"/>
                <a:ea typeface="Microsoft YaHei"/>
              </a:rPr>
              <a:t>谁判定可用</a:t>
            </a:r>
            <a:endParaRPr/>
          </a:p>
        </p:txBody>
      </p:sp>
      <p:sp>
        <p:nvSpPr>
          <p:cNvPr id="507" name="" descr="{&quot;isTemplate&quot;:true,&quot;type&quot;:&quot;text&quot;}"/>
          <p:cNvSpPr txBox="1"/>
          <p:nvPr/>
        </p:nvSpPr>
        <p:spPr>
          <a:xfrm rot="0" flipH="0" flipV="0">
            <a:off x="8382000" y="3067050"/>
            <a:ext cx="2971800" cy="504825"/>
          </a:xfrm>
          <a:prstGeom prst="rect"/>
        </p:spPr>
        <p:txBody>
          <a:bodyPr wrap="square" lIns="0" tIns="0" rIns="0" bIns="0">
            <a:normAutofit/>
          </a:bodyPr>
          <a:p>
            <a:pPr>
              <a:lnSpc>
                <a:spcPct val="155000"/>
              </a:lnSpc>
            </a:pPr>
            <a:r>
              <a:rPr lang="zh-CN" sz="1050">
                <a:solidFill>
                  <a:srgbClr val="546779"/>
                </a:solidFill>
                <a:latin typeface="Microsoft YaHei"/>
                <a:ea typeface="Microsoft YaHei"/>
              </a:rPr>
              <a:t>应用保存最终判定：只有最后一次检查通过的候选才算交付。</a:t>
            </a:r>
            <a:endParaRPr/>
          </a:p>
        </p:txBody>
      </p:sp>
      <p:sp>
        <p:nvSpPr>
          <p:cNvPr id="508" name=""/>
          <p:cNvSpPr/>
          <p:nvPr/>
        </p:nvSpPr>
        <p:spPr>
          <a:xfrm rot="0" flipH="0" flipV="0">
            <a:off x="609600" y="4191000"/>
            <a:ext cx="28575" cy="247650"/>
          </a:xfrm>
          <a:prstGeom prst="rect">
            <a:avLst/>
          </a:prstGeom>
          <a:solidFill>
            <a:srgbClr val="26816B"/>
          </a:solidFill>
          <a:ln/>
        </p:spPr>
        <p:txBody>
          <a:bodyPr/>
          <a:p/>
        </p:txBody>
      </p:sp>
      <p:sp>
        <p:nvSpPr>
          <p:cNvPr id="509" name="" descr="{&quot;isTemplate&quot;:true,&quot;type&quot;:&quot;text&quot;}"/>
          <p:cNvSpPr txBox="1"/>
          <p:nvPr/>
        </p:nvSpPr>
        <p:spPr>
          <a:xfrm rot="0" flipH="0" flipV="0">
            <a:off x="752475" y="4219575"/>
            <a:ext cx="3457575" cy="190500"/>
          </a:xfrm>
          <a:prstGeom prst="rect"/>
        </p:spPr>
        <p:txBody>
          <a:bodyPr wrap="none" lIns="0" tIns="0" rIns="0" bIns="0"/>
          <a:p>
            <a:pPr>
              <a:lnSpc>
                <a:spcPct val="100000"/>
              </a:lnSpc>
            </a:pPr>
            <a:r>
              <a:rPr lang="zh-CN" sz="1200">
                <a:solidFill>
                  <a:srgbClr val="546779"/>
                </a:solidFill>
                <a:latin typeface="Microsoft YaHei"/>
                <a:ea typeface="Microsoft YaHei"/>
              </a:rPr>
              <a:t>下一节　</a:t>
            </a:r>
            <a:r>
              <a:rPr lang="en-US" sz="1200">
                <a:solidFill>
                  <a:srgbClr val="546779"/>
                </a:solidFill>
                <a:latin typeface="Microsoft YaHei"/>
                <a:ea typeface="Microsoft YaHei"/>
              </a:rPr>
              <a:t>2.6</a:t>
            </a:r>
            <a:r>
              <a:rPr lang="zh-CN" sz="1200">
                <a:solidFill>
                  <a:srgbClr val="546779"/>
                </a:solidFill>
                <a:latin typeface="Microsoft YaHei"/>
                <a:ea typeface="Microsoft YaHei"/>
              </a:rPr>
              <a:t>　</a:t>
            </a:r>
            <a:r>
              <a:rPr lang="en-US" sz="1200">
                <a:solidFill>
                  <a:srgbClr val="546779"/>
                </a:solidFill>
                <a:latin typeface="Microsoft YaHei"/>
                <a:ea typeface="Microsoft YaHei"/>
              </a:rPr>
              <a:t>MCP</a:t>
            </a:r>
            <a:r>
              <a:rPr lang="zh-CN" sz="1200">
                <a:solidFill>
                  <a:srgbClr val="546779"/>
                </a:solidFill>
                <a:latin typeface="Microsoft YaHei"/>
                <a:ea typeface="Microsoft YaHei"/>
              </a:rPr>
              <a:t>：把同一只读能力接入不同宿主</a:t>
            </a:r>
            <a:endParaRPr/>
          </a:p>
        </p:txBody>
      </p:sp>
      <p:sp>
        <p:nvSpPr>
          <p:cNvPr id="510" name="" descr="{&quot;isTemplate&quot;:true,&quot;type&quot;:&quot;text&quot;}"/>
          <p:cNvSpPr txBox="1"/>
          <p:nvPr/>
        </p:nvSpPr>
        <p:spPr>
          <a:xfrm rot="0" flipH="0" flipV="0">
            <a:off x="609600" y="5448300"/>
            <a:ext cx="1266825" cy="161925"/>
          </a:xfrm>
          <a:prstGeom prst="rect"/>
        </p:spPr>
        <p:txBody>
          <a:bodyPr wrap="none" lIns="0" tIns="0" rIns="0" bIns="0"/>
          <a:p>
            <a:pPr>
              <a:lnSpc>
                <a:spcPct val="100000"/>
              </a:lnSpc>
            </a:pPr>
            <a:r>
              <a:rPr lang="en-US" sz="1050">
                <a:solidFill>
                  <a:srgbClr val="546779"/>
                </a:solidFill>
                <a:latin typeface="Microsoft YaHei"/>
                <a:ea typeface="Microsoft YaHei"/>
              </a:rPr>
              <a:t>2.5 Function Calling</a:t>
            </a:r>
            <a:endParaRPr/>
          </a:p>
        </p:txBody>
      </p:sp>
      <p:sp>
        <p:nvSpPr>
          <p:cNvPr id="511" name="" descr="{&quot;isTemplate&quot;:true,&quot;type&quot;:&quot;text&quot;}"/>
          <p:cNvSpPr txBox="1"/>
          <p:nvPr/>
        </p:nvSpPr>
        <p:spPr>
          <a:xfrm rot="0" flipH="0" flipV="0">
            <a:off x="11125200" y="54483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26 / 26</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2026-09-29T03:36:28Z</dcterms:created>
  <dcterms:modified xsi:type="dcterms:W3CDTF">2026-09-29T03:36:28Z</dcterms:modified>
</cp:coreProperties>
</file>