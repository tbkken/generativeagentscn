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1.xml" ContentType="application/vnd.openxmlformats-officedocument.them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30" Type="http://schemas.openxmlformats.org/officeDocument/2006/relationships/tableStyles" Target="tableStyles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9" Type="http://schemas.openxmlformats.org/officeDocument/2006/relationships/presProps" Target="presProps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8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31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我们从青禾的预约查询说起。把同一个只读服务接进不同的宿主，靠的不是为每个宿主单独写一套对接代码，而是双方都遵守同一套约定：怎样声明能力、怎样描述参数、怎样发起调用、结果怎样传回来。</a:t>
            </a:r>
          </a:p>
          <a:p>
            <a:r>
              <a:rPr lang="zh-CN" dirty="0"/>
              <a:t>这份约定就是 Model Context Protocol，简称 MCP。它解决的是连接方式的问题，不解决业务判断。青禾的预约规则仍然写在业务代码里，协议不负责判断某一天某个时段排得合不合理。</a:t>
            </a:r>
          </a:p>
          <a:p>
            <a:r>
              <a:rPr lang="zh-CN" dirty="0"/>
              <a:t>把同一份能力接进不同宿主时，能力发现、参数描述、调用与结果传输这几段可以复用，这是 MCP 带来的直接好处。所以整节的落点是：约定统一之后，换宿主不必重写对接代码。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四个知识块，围着同一个问题展开：一个能力要怎样才算真正接进来了。</a:t>
            </a:r>
          </a:p>
          <a:p>
            <a:r>
              <a:rPr lang="zh-CN" dirty="0"/>
              <a:t>先分清角色。谁负责对话和模型，谁负责维护连接，谁提供能力，这三个身份落在不同的组件上。分不清它们，排查时就没有方向。</a:t>
            </a:r>
          </a:p>
          <a:p>
            <a:r>
              <a:rPr lang="zh-CN" dirty="0"/>
              <a:t>再分清两条路线各管哪一段。函数调用管一次请求和结果的往返；MCP 管连接、发现和调用。连接既可以走本机的标准输入输出，也可以走远程的 HTTP。</a:t>
            </a:r>
          </a:p>
          <a:p>
            <a:r>
              <a:rPr lang="zh-CN" dirty="0"/>
              <a:t>然后是怎么验收。业务合同要看清楚，服务怎么启动、日志往哪里写都有讲究，配好之后还要按顺序核对一遍。</a:t>
            </a:r>
          </a:p>
          <a:p>
            <a:r>
              <a:rPr lang="zh-CN" dirty="0"/>
              <a:t>最后是远程工具的检查。工具范围、审批方式、服务身份是三件独立的事，任何一件没做对，接入都不算完成。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先把三个名字摆清楚，因为后面每一次排查都要回到它们。</a:t>
            </a:r>
          </a:p>
          <a:p>
            <a:r>
              <a:rPr lang="zh-CN" dirty="0"/>
              <a:t>WorkBuddy 这样的应用叫宿主，它负责对话、模型、可用能力和用户交互。宿主内部真正去连接某一个服务的那个组件，叫客户端，一个服务对应一条连接。提供能力的程序叫服务端，它校验参数、读取预约、把业务结果送回来。</a:t>
            </a:r>
          </a:p>
          <a:p>
            <a:r>
              <a:rPr lang="zh-CN" dirty="0"/>
              <a:t>需要特别说明的是：这里的服务端指的是职责，不是位置。它完全可能和你坐在同一台电脑上，由宿主动手启动。判断问题的时候，要看的是谁承担了哪一段职责，而不是它跑在哪里。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三个名字分别对应三个问题。</a:t>
            </a:r>
          </a:p>
          <a:p>
            <a:r>
              <a:rPr lang="zh-CN" dirty="0"/>
              <a:t>宿主回答的是：用户看到什么、模型能拿到什么。客户端回答的是：这条连接由谁维护。服务端回答的是：能力从哪里来、参数由谁校验。</a:t>
            </a:r>
          </a:p>
          <a:p>
            <a:r>
              <a:rPr lang="zh-CN" dirty="0"/>
              <a:t>客户端是宿主内部的组件，所以它在结构上属于宿主。一个宿主可以同时接多个服务，每个服务都由相应的客户端分别维护连接，彼此不共用状态。</a:t>
            </a:r>
          </a:p>
          <a:p>
            <a:r>
              <a:rPr lang="zh-CN" dirty="0"/>
              <a:t>服务端要提供的不只是功能，还有合同：工具叫什么、需要哪些参数、参数是什么类型、失败时返回什么。这些描述会被宿主取走，放进模型能看到的内容里。模型据此提出请求，真正执行的是宿主和服务端。</a:t>
            </a:r>
          </a:p>
          <a:p>
            <a:r>
              <a:rPr lang="zh-CN" dirty="0"/>
              <a:t>还有一点值得记住：模型并不需要知道数据库地址。它拿到的是宿主提供的工具描述和工具返回的结果。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服务端对外能表达三类东西。</a:t>
            </a:r>
          </a:p>
          <a:p>
            <a:r>
              <a:rPr lang="zh-CN" dirty="0"/>
              <a:t>工具回答的是能执行什么操作，在青禾里就是查询预约、校验候选方案。资源回答的是有什么内容可以读取，比如房间表、活动规则。提示模板回答的是一次交互可以怎样组织，例如按材料核对活动约束的那份模板。</a:t>
            </a:r>
          </a:p>
          <a:p>
            <a:r>
              <a:rPr lang="zh-CN" dirty="0"/>
              <a:t>要强调一点：这是协议能够表达的能力，不等于每个宿主都以同样的界面支持全部类型。有的宿主只导入工具，不提供资源浏览的入口。</a:t>
            </a:r>
          </a:p>
          <a:p>
            <a:r>
              <a:rPr lang="zh-CN" dirty="0"/>
              <a:t>这一节我们只围绕两项查询工具做练习，配套服务另外声明了一个 open-day://rules 资源。工具接通只能证明这条工具链路可用；资源浏览、提示模板，以及协议的其他扩展，都要分别验收，不能因为工具通了就一并算通过。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把三个角色放到一张连接图上。</a:t>
            </a:r>
          </a:p>
          <a:p>
            <a:r>
              <a:rPr lang="zh-CN" dirty="0"/>
              <a:t>左边是宿主，应用本身和客户端都在这个框里，说明连接归宿主管理。中间这一段是协议通信，客户端和服务端之间来回传的就是协议消息。右边是服务端，它下面挂出三类能力：工具、资源、提示模板。</a:t>
            </a:r>
          </a:p>
          <a:p>
            <a:r>
              <a:rPr lang="zh-CN" dirty="0"/>
              <a:t>底部的橙色条标出本节的边界：我们只练两项只读工具，不同宿主对三类能力的支持并不一样。</a:t>
            </a:r>
          </a:p>
          <a:p>
            <a:r>
              <a:rPr lang="zh-CN" dirty="0"/>
              <a:t>还有一处要留意：服务端到三类能力之间的连线表示能力分类，不是执行的先后顺序。一次调用不会依次经过工具、资源、模板，而是根据这次请求选择其中一类。</a:t>
            </a:r>
          </a:p>
          <a:p>
            <a:r>
              <a:rPr lang="zh-CN" dirty="0"/>
              <a:t>模型拿到的是宿主整理过的工具描述；提出请求之后由宿主去执行，结果再回到上下文里。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有三种说法听起来像已经接通了，实际都还差一截。</a:t>
            </a:r>
          </a:p>
          <a:p>
            <a:r>
              <a:rPr lang="zh-CN" dirty="0"/>
              <a:t>第一种是模型说出了工具名称，就以为连接建立。名称来自宿主提供的描述，模型能复述它，只说明它读到了描述，并不代表任何一条连接真的存在。</a:t>
            </a:r>
          </a:p>
          <a:p>
            <a:r>
              <a:rPr lang="zh-CN" dirty="0"/>
              <a:t>第二种是工具链路通了，就以为资源和模板也能用。协议里的三类能力是分别验收的，工具通了，跟资源能不能读、模板能不能用没有关系。</a:t>
            </a:r>
          </a:p>
          <a:p>
            <a:r>
              <a:rPr lang="zh-CN" dirty="0"/>
              <a:t>第三种是在某个宿主里跑通了，就以为所有宿主都行。每个宿主按自己的实现支持不同的能力类型，也支持不同的协议版本。</a:t>
            </a:r>
          </a:p>
          <a:p>
            <a:r>
              <a:rPr lang="zh-CN" dirty="0"/>
              <a:t>所以要养成一个习惯：把话说准确。不说「我接上了 MCP」，而是说清楚在哪个宿主里、哪一项工具或资源、经过了哪一次核对。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把一次筹备任务从头到尾拆成五段，看清每一段落在谁身上。</a:t>
            </a:r>
          </a:p>
          <a:p>
            <a:r>
              <a:rPr lang="zh-CN" dirty="0"/>
              <a:t>用户提出筹备任务，这一段给出的是要求和约束。接着是宿主应用，它组织上下文、调用模型、控制执行。第三段是 MCP 客户端，它发现能力、发送调用、接收结果。第四段是 MCP 服务端，它校验参数、读取预约、返回业务结果。最后落到预约材料 availability.json 上。</a:t>
            </a:r>
          </a:p>
          <a:p>
            <a:r>
              <a:rPr lang="zh-CN" dirty="0"/>
              <a:t>第三段和第四段之间走的是 stdio 或者 Streamable HTTP，这是传输方式的选择。</a:t>
            </a:r>
          </a:p>
          <a:p>
            <a:r>
              <a:rPr lang="zh-CN" dirty="0"/>
              <a:t>这条链路能帮我们定位问题：任务描述不全看第一段；上下文错了看第二段；连接和调用出错看第三段；参数没校验、规则判错看第四段；材料和事实对不上，回头核对第五段。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这里要分清两件事：一次调用的往返，和一条连接的建立。</a:t>
            </a:r>
          </a:p>
          <a:p>
            <a:r>
              <a:rPr lang="zh-CN" dirty="0"/>
              <a:t>函数调用解决的是前一半。模型提出一个带参数的工具请求，应用执行之后把结果送回去，一次往返就此结束。可这条连接是怎么来的、这个提供方到底有哪些工具，函数调用并不回答。</a:t>
            </a:r>
          </a:p>
          <a:p>
            <a:r>
              <a:rPr lang="zh-CN" dirty="0"/>
              <a:t>MCP 补的是后一半。它约定应用怎样连接一个能力提供者、怎样发现对方提供了哪些工具、怎样发起调用、结果又怎样传回来。</a:t>
            </a:r>
          </a:p>
          <a:p>
            <a:r>
              <a:rPr lang="zh-CN" dirty="0"/>
              <a:t>两者是配合关系，不是替代关系。同一份业务函数可以先被 Python 直接调用，再由 MCP 服务暴露出去，两条路径复用同一份校验代码。</a:t>
            </a:r>
          </a:p>
          <a:p>
            <a:r>
              <a:rPr lang="zh-CN" dirty="0"/>
              <a:t>连接方式也有两种：本机的标准输入输出，和远程的 HTTP，它们适用的场景不同，边界也不一样。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把两条路线各自的职责并排看。</a:t>
            </a:r>
          </a:p>
          <a:p>
            <a:r>
              <a:rPr lang="zh-CN" dirty="0"/>
              <a:t>函数调用回答三件事：模型怎样提出一个带参数的请求，应用怎样执行并把结果返回，以及范围到哪里为止——它止于一次调用的往返。</a:t>
            </a:r>
          </a:p>
          <a:p>
            <a:r>
              <a:rPr lang="zh-CN" dirty="0"/>
              <a:t>MCP 在此基础上多回答三件事：应用怎样连接一个能力提供者，怎样发现对方提供哪些工具，以及怎样调用、怎样把结果传回来。它管的是连接本身，而不是某一次请求的内容。</a:t>
            </a:r>
          </a:p>
          <a:p>
            <a:r>
              <a:rPr lang="zh-CN" dirty="0"/>
              <a:t>两者并不冲突。业务函数可以先被 Python 直接调用，同一份代码再交给 MCP 服务去暴露，两条路径共用同一份业务校验代码。</a:t>
            </a:r>
          </a:p>
          <a:p>
            <a:r>
              <a:rPr lang="zh-CN" dirty="0"/>
              <a:t>要分开处理的是外围那一层。函数调用的包装器和 MCP 服务各自负责自己的参数处理、协议转换和错误转换；业务规则只有一份，不能复制成两份各自维护。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这份结构要说明的是「规则只有一份」。</a:t>
            </a:r>
          </a:p>
          <a:p>
            <a:r>
              <a:rPr lang="zh-CN" dirty="0"/>
              <a:t>容量与冲突规则属于业务，它只维护一份，不管入口有几个。Python 直接调用业务函数时，走的是调用点这一侧；MCP 服务把同一个函数暴露出去时，走的是协议这一侧。</a:t>
            </a:r>
          </a:p>
          <a:p>
            <a:r>
              <a:rPr lang="zh-CN" dirty="0"/>
              <a:t>两侧各自要处理的东西并不相同。调用点这一侧处理的是参数怎么给、异常怎么抛；MCP 服务那一侧要处理的是参数描述怎么写、协议消息怎么组织、错误怎么按协议返回。</a:t>
            </a:r>
          </a:p>
          <a:p>
            <a:r>
              <a:rPr lang="zh-CN" dirty="0"/>
              <a:t>如果把这套业务规则抄成两份，早晚会不一致：改了一处忘了另一处，两个入口给出不同结论，而且很难被发现。</a:t>
            </a:r>
          </a:p>
          <a:p>
            <a:r>
              <a:rPr lang="zh-CN" dirty="0"/>
              <a:t>第三章还会区分决策与有权限边界的执行。这里先记住一点：本节做的只读服务不是仿真 MCP，它不会代替任何真实业务系统。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本地 stdio 这一路，关键在「谁启动谁」。</a:t>
            </a:r>
          </a:p>
          <a:p>
            <a:r>
              <a:rPr lang="zh-CN" dirty="0"/>
              <a:t>桌面宿主按配置里的命令和参数，在本机启动一个 Python 进程。这个进程就是 MCP 服务端，双方在同一台计算机上通信。</a:t>
            </a:r>
          </a:p>
          <a:p>
            <a:r>
              <a:rPr lang="zh-CN" dirty="0"/>
              <a:t>传输用的是进程的标准输入和标准输出。宿主从标准输出读协议消息、往标准输入写请求，所以标准输出在这段里是协议通道，不是给人看的日志。</a:t>
            </a:r>
          </a:p>
          <a:p>
            <a:r>
              <a:rPr lang="zh-CN" dirty="0"/>
              <a:t>这带来一个很常见的坑：随手写一句打印，把「服务启动了」打到标准输出，就把协议数据污染了。消息里混进一行普通文本，宿主解析就会失败，而且报错信息往往指向别处。</a:t>
            </a:r>
          </a:p>
          <a:p>
            <a:r>
              <a:rPr lang="zh-CN" dirty="0"/>
              <a:t>还有一个好用的判断：启动后终端停在那里不输出自然语言，通常只是它在等待输入，并不等于故障。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远程 HTTP 这一路，请求的发起方不在你的电脑上。</a:t>
            </a:r>
          </a:p>
          <a:p>
            <a:r>
              <a:rPr lang="zh-CN" dirty="0"/>
              <a:t>按照 OpenAI 的接入方式，是 OpenAI 服务端去访问你配置的 MCP 地址。所以能不能连上，取决于对方能不能访问到那个地址。</a:t>
            </a:r>
          </a:p>
          <a:p>
            <a:r>
              <a:rPr lang="zh-CN" dirty="0"/>
              <a:t>Streamable HTTP 通过 HTTP 传消息，适合连接远程服务。服务器是不是可达、要不要认证、部署在哪里，这些都由服务提供者安排，客户端能决定的只是填哪个地址。</a:t>
            </a:r>
          </a:p>
          <a:p>
            <a:r>
              <a:rPr lang="zh-CN" dirty="0"/>
              <a:t>同一份能力，本地 stdio 由桌面宿主启动进程；远程 HTTP 则是把地址交给远端。两条路线不能共用一个未经验证的本机地址。</a:t>
            </a:r>
          </a:p>
          <a:p>
            <a:r>
              <a:rPr lang="zh-CN" dirty="0"/>
              <a:t>新的远程教学部署请按当前 Streamable HTTP 文档实现，不要照搬旧的示例写法。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两条路线并排看，对照点很清楚。</a:t>
            </a:r>
          </a:p>
          <a:p>
            <a:r>
              <a:rPr lang="zh-CN" dirty="0"/>
              <a:t>本地 stdio 里，宿主和 Python 进程都在读者这台电脑上。宿主用命令和参数启动进程，双方通过标准输入和输出传协议消息，整条链路不出本机。</a:t>
            </a:r>
          </a:p>
          <a:p>
            <a:r>
              <a:rPr lang="zh-CN" dirty="0"/>
              <a:t>远程 HTTP 里，发起请求的是 OpenAI 服务，它在远端；它按配置的 server_url 去访问一个可访问的 MCP 服务。这个服务用什么方式部署、怎么认证，由提供方决定。</a:t>
            </a:r>
          </a:p>
          <a:p>
            <a:r>
              <a:rPr lang="zh-CN" dirty="0"/>
              <a:t>最需要警惕的是地址的可达性。本机路径和 127.0.0.1 表示的是访问者自己，云端服务不会因为你把 127.0.0.1 填进配置就跑进你的电脑。</a:t>
            </a:r>
          </a:p>
          <a:p>
            <a:r>
              <a:rPr lang="zh-CN" dirty="0"/>
              <a:t>要跨越这个边界，需要真实存在的隧道，而且必须实际安装、配置、建立连接。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云端的可达性有一条硬边界，值得单独说清楚。</a:t>
            </a:r>
          </a:p>
          <a:p>
            <a:r>
              <a:rPr lang="zh-CN" dirty="0"/>
              <a:t>本机的盘符路径，还有 127.0.0.1 这样的地址，含义都是「访问者自己」。谁去访问，它就指向谁。云端服务去访问这两个地址，得到的是云端自己的本机，不会进入读者的电脑。所以本机调试地址不能直接给远程使用。</a:t>
            </a:r>
          </a:p>
          <a:p>
            <a:r>
              <a:rPr lang="zh-CN" dirty="0"/>
              <a:t>OpenAI 目前另有安全 MCP 隧道，也允许用 tunnel_id 去连接相应的本地服务。但它需要真实安装、真实配置、真实建立连接，不能拿一个虚构的隧道编号来代替。这一点在教学里经常被跳过去，结果调试半天找不到原因。</a:t>
            </a:r>
          </a:p>
          <a:p>
            <a:r>
              <a:rPr lang="zh-CN" dirty="0"/>
              <a:t>更普遍的一条是：没有经过验证的本机地址，都不应该直接填进 server_url。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服务接上不等于业务可用了。这一块讲的是怎么验收。</a:t>
            </a:r>
          </a:p>
          <a:p>
            <a:r>
              <a:rPr lang="zh-CN" dirty="0"/>
              <a:t>先把教学服务的业务合同看清楚。配套的 mcp_server.py 暴露两个只读工具：一个查指定日期的房间开放与占用情况，一个校验候选方案是否满足规则。每个工具要什么输入、应该返回什么，都要先明确。</a:t>
            </a:r>
          </a:p>
          <a:p>
            <a:r>
              <a:rPr lang="zh-CN" dirty="0"/>
              <a:t>再看服务怎么启动。默认走 stdio，起来之后等宿主发协议请求；终端停住不输出自然语言，多半只是它在等待输入。要本地调试 HTTP，可以换传输方式并指定端口。</a:t>
            </a:r>
          </a:p>
          <a:p>
            <a:r>
              <a:rPr lang="zh-CN" dirty="0"/>
              <a:t>最后是把同一个服务接进宿主，配置好之后按顺序核对，并且把核对到的证据记下来。界面没有展示原始参数或结果的时候，就写清楚证据缺失，不要凭印象补写。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先看这份业务合同，它是后面核对的依据。</a:t>
            </a:r>
          </a:p>
          <a:p>
            <a:r>
              <a:rPr lang="zh-CN" dirty="0"/>
              <a:t>第一个工具叫 get_room_availability，输入是房间编号和日期，要检查的结果是这一天该房间的开放时间以及已经被占用的区间。第二个工具叫 validate_schedule，输入是一个排期对象，要检查的是候选方案是否满足规则，如果不满足，具体是哪条规则出错。</a:t>
            </a:r>
          </a:p>
          <a:p>
            <a:r>
              <a:rPr lang="zh-CN" dirty="0"/>
              <a:t>这两个工具都是只读的。查询预约不会改动任何记录，校验方案也只返回结论和错误说明。选它们做教学材料，是因为出问题的范围小，容易看清楚。</a:t>
            </a:r>
          </a:p>
          <a:p>
            <a:r>
              <a:rPr lang="zh-CN" dirty="0"/>
              <a:t>装依赖用 requirements-mcp.txt，启动直接跑 mcp_server.py；要用同一个虚拟环境里的解释器，不要混用系统解释器。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服务启动这一段有两件事必须讲清。</a:t>
            </a:r>
          </a:p>
          <a:p>
            <a:r>
              <a:rPr lang="zh-CN" dirty="0"/>
              <a:t>第一件，默认走的是 stdio。启动之后它在等宿主发协议请求，终端上不会打印自然语言。看到屏幕停住不动，先别急着判定故障，很可能只是它在安静地等输入。正式连接的时候，也不是手动去跑它，而是由宿主按配置启动。</a:t>
            </a:r>
          </a:p>
          <a:p>
            <a:r>
              <a:rPr lang="zh-CN" dirty="0"/>
              <a:t>第二件，日志的通道。stdio 下标准输出承担的是协议消息，调试信息必须写到标准错误。这条规则如果不遵守，协议里混进非协议内容，宿主侧就会解析失败，而且报错信息往往指向别处，很难查。</a:t>
            </a:r>
          </a:p>
          <a:p>
            <a:r>
              <a:rPr lang="zh-CN" dirty="0"/>
              <a:t>需要本地调试 HTTP 的时候，可以换成 streamable-http 传输并指定端口。但要记住，这个监听地址仍然是本机地址，不能直接拿给云端的接口去访问。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接通之后要做三个业务对照，它们分别测的是不同的东西。</a:t>
            </a:r>
          </a:p>
          <a:p>
            <a:r>
              <a:rPr lang="zh-CN" dirty="0"/>
              <a:t>第一，查询 room_id 为 craft、日期为 2026-10-17，应该得到 10:00 到 10:30 已被占用，日期和 +08:00 的时区要原样保留，不能被悄悄改掉。</a:t>
            </a:r>
          </a:p>
          <a:p>
            <a:r>
              <a:rPr lang="zh-CN" dirty="0"/>
              <a:t>第二，查询一个不存在的房间，应该返回可以诊断的错误。这里最容易出问题的是用空列表冒充空闲，看起来没报错，实际上把错误吞掉了。</a:t>
            </a:r>
          </a:p>
          <a:p>
            <a:r>
              <a:rPr lang="zh-CN" dirty="0"/>
              <a:t>第三，提交一个与已有预约重叠的候选方案，校验应当失败并指出冲突。</a:t>
            </a:r>
          </a:p>
          <a:p>
            <a:r>
              <a:rPr lang="zh-CN" dirty="0"/>
              <a:t>这三个步骤分别测正常数据、无效身份和业务规则。连接成功只完成了接入检查，还要确认宿主确实发现了工具、参数传对了、结果读到了；SDK 版本与协议版本也建议记录。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在宿主里接同一个服务，配置文件是入口。</a:t>
            </a:r>
          </a:p>
          <a:p>
            <a:r>
              <a:rPr lang="zh-CN" dirty="0"/>
              <a:t>WorkBuddy 里从插件到 MCP 服务器，再进配置，然后选一个适合教学用的配置范围。官方文档给了用户级和项目级两种：用户级的配置文件在家目录下，项目级放在项目目录里。这里用项目级，练习服务就不会跑到其他项目里去。</a:t>
            </a:r>
          </a:p>
          <a:p>
            <a:r>
              <a:rPr lang="zh-CN" dirty="0"/>
              <a:t>配置有三个要点。第一，命令和参数要分开写，命令只写解释器，脚本路径放进参数数组。第二，路径里用正斜杠，避免反斜杠的转义问题。第三，路径要换成自己机器上的实际安装位置，不要照抄书里的示例。</a:t>
            </a:r>
          </a:p>
          <a:p>
            <a:r>
              <a:rPr lang="zh-CN" dirty="0"/>
              <a:t>保存之后，还要在界面上核对连接状态和实际工具列表。这两项都对上了，才叫接上了。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配置保存之后，按顺序做三件事。</a:t>
            </a:r>
          </a:p>
          <a:p>
            <a:r>
              <a:rPr lang="zh-CN" dirty="0"/>
              <a:t>先看连接状态和实际工具列表，确认宿主确实发现了那两个工具，而不是只显示连接成功。</a:t>
            </a:r>
          </a:p>
          <a:p>
            <a:r>
              <a:rPr lang="zh-CN" dirty="0"/>
              <a:t>再用真实的参数查一次，查 craft 在 2026-10-17 的预约，核对返回的占用区间跟业务合同里说的一致。</a:t>
            </a:r>
          </a:p>
          <a:p>
            <a:r>
              <a:rPr lang="zh-CN" dirty="0"/>
              <a:t>第三步再补上两个边界情况：不存在的房间，以及与已有预约冲突的候选方案。</a:t>
            </a:r>
          </a:p>
          <a:p>
            <a:r>
              <a:rPr lang="zh-CN" dirty="0"/>
              <a:t>核对的时候要把证据留下来。如果界面并没有展示原始参数或结果，那就写清楚证据缺失，不要凭记忆去补一张工具卡片出来。</a:t>
            </a:r>
          </a:p>
          <a:p>
            <a:r>
              <a:rPr lang="zh-CN" dirty="0"/>
              <a:t>连接失败时按顺序定位：解释器路径对不对、依赖装没装、服务能不能起来、协议版本对不对。这几项都没动过，就不要去改活动规则，也不要靠猜继续往下做。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远程工具还要单独过一遍，因为它的变量更多。</a:t>
            </a:r>
          </a:p>
          <a:p>
            <a:r>
              <a:rPr lang="zh-CN" dirty="0"/>
              <a:t>三个设置要分别核对：这次导入哪些工具，发送调用之前怎样批准，服务端允许这个身份做什么。这三件事互相独立，不是协议规定的固定时序。</a:t>
            </a:r>
          </a:p>
          <a:p>
            <a:r>
              <a:rPr lang="zh-CN" dirty="0"/>
              <a:t>有一个地方特别容易误判：把审批改成从不询问，并不能修好认证、网络或业务合同上的错误。它只是让调用者预先接受了数据发送。</a:t>
            </a:r>
          </a:p>
          <a:p>
            <a:r>
              <a:rPr lang="zh-CN" dirty="0"/>
              <a:t>最后用一个停用练习收尾。把服务停掉，再提出同一个查询任务，看表现对不对；恢复服务之后，比较原始返回和最终答案里的房间、日期和时间区间是否一致。</a:t>
            </a:r>
          </a:p>
          <a:p>
            <a:r>
              <a:rPr lang="zh-CN" dirty="0"/>
              <a:t>还要想一个问题：只读的服务是不是就不需要控制读取范围了？答案是需要，只读也可能读到不该暴露的内容。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三个设置分别管一件事，谁也不能替代谁。</a:t>
            </a:r>
          </a:p>
          <a:p>
            <a:r>
              <a:rPr lang="zh-CN" dirty="0"/>
              <a:t>allowed_tools 缩小本次导入的工具范围，决定这次会话里模型能看到哪些工具。它是收窄，不是授权。</a:t>
            </a:r>
          </a:p>
          <a:p>
            <a:r>
              <a:rPr lang="zh-CN" dirty="0"/>
              <a:t>require_approval 管理的是向服务发送请求之前的批准过程。设成每次询问，就是把发送这个动作交给调用者确认。</a:t>
            </a:r>
          </a:p>
          <a:p>
            <a:r>
              <a:rPr lang="zh-CN" dirty="0"/>
              <a:t>服务身份与授权在服务端那一侧，校验这个调用者可以做什么。这一项在客户端改配置改不出来，权限是由服务授予的。</a:t>
            </a:r>
          </a:p>
          <a:p>
            <a:r>
              <a:rPr lang="zh-CN" dirty="0"/>
              <a:t>最常见的误解是：批准就等于授权。不是。批准只是调用者同意把这次请求发出去，它不会让一个本来没有权限的服务凭空获得权限。反过来，把审批调成从不询问，也修不好认证、网络或合同错误。三个维度必须分开查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这是远程接入的最小交互。运行之前要先有一个可访问的 MCP HTTPS 地址，三个环境变量也要准备好。</a:t>
            </a:r>
          </a:p>
          <a:p>
            <a:r>
              <a:rPr lang="zh-CN" dirty="0"/>
              <a:t>构造工具描述时，把工具范围限定在查询这一项，审批设为每次询问。指令里明确写清楚：只查询教学预约，工具失败就说明失败，不要推测空闲时间。</a:t>
            </a:r>
          </a:p>
          <a:p>
            <a:r>
              <a:rPr lang="zh-CN" dirty="0"/>
              <a:t>请求发出去之后，返回里可能出现审批请求项。要遍历输出，把这些审批项找出来，逐条打印服务标签、工具名和参数，让人看清楚将要发送什么，然后才决定批准还是拒绝。</a:t>
            </a:r>
          </a:p>
          <a:p>
            <a:r>
              <a:rPr lang="zh-CN" dirty="0"/>
              <a:t>决定完之后，把审批结果连同审批请求的编号一起送回去，并带上上一次响应的编号继续这一段对话。</a:t>
            </a:r>
          </a:p>
          <a:p>
            <a:r>
              <a:rPr lang="zh-CN" dirty="0"/>
              <a:t>如果一直是审批请求，说明没有推进。练习里给了一个上限，达到上限就保存记录并停下来，不要无限往下试。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怎么判断远程工具这次调用到底成没成，要看你手里有什么证据。</a:t>
            </a:r>
          </a:p>
          <a:p>
            <a:r>
              <a:rPr lang="zh-CN" dirty="0"/>
              <a:t>第一，看 mcp_list_tools 有没有把目标工具导入进来。如果目标工具根本不在列表里，后面的调用就不会发生。</a:t>
            </a:r>
          </a:p>
          <a:p>
            <a:r>
              <a:rPr lang="zh-CN" dirty="0"/>
              <a:t>第二，看 mcp_call 的参数和结果对不对。参数是不是你要求的那几个，返回的时间区间和业务合同里说的一致不一致。</a:t>
            </a:r>
          </a:p>
          <a:p>
            <a:r>
              <a:rPr lang="zh-CN" dirty="0"/>
              <a:t>最需要警惕的是第三类情况：连接出错、工具执行出错，或者模型只是用文字解释了一通。这些时候响应对象里可能照样有一段读起来很通顺的文字。只凭这段文字判断预约查询成功，是要出错的。</a:t>
            </a:r>
          </a:p>
          <a:p>
            <a:r>
              <a:rPr lang="zh-CN" dirty="0"/>
              <a:t>还有一点，把审批设成从不询问，意思是调用者预先接受了相应的数据发送，它不是一种通用的排错手段。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这个练习测的是能力不可用时的表现。</a:t>
            </a:r>
          </a:p>
          <a:p>
            <a:r>
              <a:rPr lang="zh-CN" dirty="0"/>
              <a:t>把 MCP 服务器停用，再提出同一个查询任务。合格的表现是：说清楚现在这项能力不可用，把待查询的项保留下来，而不是给一个编出来的答案。</a:t>
            </a:r>
          </a:p>
          <a:p>
            <a:r>
              <a:rPr lang="zh-CN" dirty="0"/>
              <a:t>有一种不合格的做法：凭上一轮记录，声称自己已经重新查询过了。前后两轮数字可能一样，但性质不同，一个是拿到数据，一个是复述记忆。</a:t>
            </a:r>
          </a:p>
          <a:p>
            <a:r>
              <a:rPr lang="zh-CN" dirty="0"/>
              <a:t>恢复服务后再核对一次：把原始返回和最终答案里的房间、日期、时间区间逐项比对。</a:t>
            </a:r>
          </a:p>
          <a:p>
            <a:r>
              <a:rPr lang="zh-CN" dirty="0"/>
              <a:t>关于只读服务还有一个常见的问题：既然从不写数据，是不是就不用管读取范围了？答案仍然需要。只读服务也可能返回不该暴露的资料。接入真实业务时，身份与读取权限由服务和宿主实现，不能指望提示词自己保证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这一节讲完，留下三个问题，用到任何工具接入上都可以问。</a:t>
            </a:r>
          </a:p>
          <a:p>
            <a:r>
              <a:rPr lang="zh-CN" dirty="0"/>
              <a:t>第一，它拿到了什么资料。材料来自哪里、覆盖到什么范围，决定了答案的上限。</a:t>
            </a:r>
          </a:p>
          <a:p>
            <a:r>
              <a:rPr lang="zh-CN" dirty="0"/>
              <a:t>第二，它能调用什么工具。工具的清单、参数和返回结果，是判断一次调用成没成的依据。</a:t>
            </a:r>
          </a:p>
          <a:p>
            <a:r>
              <a:rPr lang="zh-CN" dirty="0"/>
              <a:t>第三，谁来检查结果。工具返回不等于任务完成，业务规则有没有满足，要有独立的一步去核对。</a:t>
            </a:r>
          </a:p>
          <a:p>
            <a:r>
              <a:rPr lang="zh-CN" dirty="0"/>
              <a:t>MCP 把连接这一段统一了，好处是可以把同一个能力接进不同的宿主，不必每次都重写对接代码。但它统一的只是连接方式。业务规则还是业务的事，权限还是服务的事，验收还是我们自己的事。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从青禾的预约查询说起。把同一个只读服务接进不同的宿主，靠的不是为每个宿主单独写一套对接代码，而是双方都遵守同一套约定：怎样声明能力、怎样描述参数、怎样发起调用、结果怎样传回来。&#10;&#10;这份约定就是 Model Context Protocol，简称 MCP。它解决的是连接方式的问题，不解决业务判断。青禾的预约规则仍然写在业务代码里，协议不负责判断某一天某个时段排得合不合理。&#10;&#10;把同一份能力接进不同宿主时，能力发现、参数描述、调用与结果传输这几段可以复用，这是 MCP 带来的直接好处。所以整节的落点是：约定统一之后，换宿主不必重写对接代码。`} style={{ width: 1280, height: 720, background: '#FFFFFF', flexDirection: 'column', padding: '20px 64px' }}&gt;&#10;&#10;    &lt;Box style={{ height: 100, flexDirection: 'row', alignItems: 'center', gap: 12 }}&gt;&#10;        &lt;Box style={{ width: 4, height: 20, background: '#276FBF' }} /&gt;&#10;        &lt;Text style={{ fontSize: 15, color: '#546779' }}&gt;第二章　从对话到智能体：技术、OpenAI API 与 WorkBuddy　·　2.6&lt;/Text&gt;&#10;    &lt;/Box&gt;&#10;&#10;    &lt;Box style={{ height: 540, flexDirection: 'row', alignItems: 'center', gap: 32 }}&gt;&#10;&#10;        &lt;Box style={{ width: 620, flexDirection: 'column', justifyContent: 'center', gap: 16 }}&gt;&#10;            &lt;Text style={{ fontSize: 52, fontWeight: 'bold', color: '#20344B', lineHeight: 1.2 }}&gt;MCP：让工具{'\n'}以共同的方式接入应用&lt;/Text&gt;&#10;            &lt;Box style={{ width: 72, height: 4, background: '#276FBF' }} /&gt;&#10;            &lt;Text style={{ fontSize: 17, color: '#546779', lineHeight: 1.7, width: 600 }}&gt;同一个只读预约查询能力接进不同宿主时，能力发现、参数描述、调用与结果传输可以复用同一套约定。青禾的预约规则仍由业务代码负责。&lt;/Text&gt;&#10;            &lt;Box style={{ flexDirection: 'row', gap: 16, marginTop: 6 }}&gt;&#10;                &lt;Box style={{ width: 190, height: 44, background: '#EDF4FC', borderRadius: 8, justifyContent: 'center', alignItems: 'center' }}&gt;&#10;                    &lt;Text style={{ fontSize: 15, color: '#276FBF' }}&gt;连接方式统一&lt;/Text&gt;&#10;                &lt;/Box&gt;&#10;                &lt;Box style={{ width: 190, height: 44, background: '#EDF4FC', borderRadius: 8, justifyContent: 'center', alignItems: 'center' }}&gt;&#10;                    &lt;Text style={{ fontSize: 15, color: '#276FBF' }}&gt;能力可以被发现&lt;/Text&gt;&#10;                &lt;/Box&gt;&#10;                &lt;Box style={{ width: 190, height: 44, background: '#ECF7F2', borderRadius: 8, justifyContent: 'center', alignItems: 'center' }}&gt;&#10;                    &lt;Text style={{ fontSize: 15, color: '#26816B' }}&gt;业务规则不改&lt;/Text&gt;&#10;                &lt;/Box&gt;&#10;            &lt;/Box&gt;&#10;        &lt;/Box&gt;&#10;&#10;        &lt;Box style={{ width: 500, flexDirection: 'column', justifyContent: 'center' }}&gt;&#10;            &lt;Box style={{ width: 500, height: 80, background: '#EDF4FC', borderRadius: 8, padding: '12px 18px', flexDirection: 'column', gap: 4, justifyContent: 'center' }}&gt;&#10;                &lt;Text style={{ fontSize: 20, fontWeight: 'bold', color: '#276FBF' }}&gt;Host 宿主应用&lt;/Text&gt;&#10;                &lt;Text style={{ fontSize: 14, color: '#546779' }}&gt;应用与 Client，一个服务一条连接&lt;/Text&gt;&#10;            &lt;/Box&gt;&#10;            &lt;Box style={{ width: 500, height: 26, justifyContent: 'center', alignItems: 'center' }}&gt;&lt;Text style={{ fontSize: 16, color: '#276FBF' }}&gt;↓　协议通信&lt;/Text&gt;&lt;/Box&gt;&#10;            &lt;Box style={{ width: 500, height: 80, background: '#EDF4FC', borderRadius: 8, padding: '12px 18px', flexDirection: 'column', gap: 4, justifyContent: 'center' }}&gt;&#10;                &lt;Text style={{ fontSize: 20, fontWeight: 'bold', color: '#276FBF' }}&gt;MCP Server 服务端&lt;/Text&gt;&#10;                &lt;Text style={{ fontSize: 14, color: '#546779' }}&gt;提供能力与合同，校验参数&lt;/Text&gt;&#10;            &lt;/Box&gt;&#10;            &lt;Box style={{ width: 500, height: 26, justifyContent: 'center', alignItems: 'center' }}&gt;&lt;Text style={{ fontSize: 16, color: '#26816B' }}&gt;↓&lt;/Text&gt;&lt;/Box&gt;&#10;            &lt;Box style={{ width: 500, flexDirection: 'row', gap: 10 }}&gt;&#10;                &lt;Box style={{ width: 160, height: 72, background: '#ECF7F2', borderRadius: 8, flexDirection: 'column', justifyContent: 'center', alignItems: 'center', gap: 2 }}&gt;&#10;                    &lt;Text style={{ fontSize: 15, fontWeight: 'bold', color: '#26816B' }}&gt;tools&lt;/Text&gt;&#10;                    &lt;Text style={{ fontSize: 13, color: '#546779' }}&gt;调用能力&lt;/Text&gt;&#10;                &lt;/Box&gt;&#10;                &lt;Box style={{ width: 160, height: 72, background: '#ECF7F2', borderRadius: 8, flexDirection: 'column', justifyContent: 'center', alignItems: 'center', gap: 2 }}&gt;&#10;                    &lt;Text style={{ fontSize: 15, fontWeight: 'bold', color: '#26816B' }}&gt;resources&lt;/Text&gt;&#10;                    &lt;Text style={{ fontSize: 13, color: '#546779' }}&gt;读取内容&lt;/Text&gt;&#10;                &lt;/Box&gt;&#10;                &lt;Box style={{ width: 160, height: 72, background: '#ECF7F2', borderRadius: 8, flexDirection: 'column', justifyContent: 'center', alignItems: 'center', gap: 2 }}&gt;&#10;                    &lt;Text style={{ fontSize: 15, fontWeight: 'bold', color: '#26816B' }}&gt;prompts&lt;/Text&gt;&#10;                    &lt;Text style={{ fontSize: 13, color: '#546779' }}&gt;交互模板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0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571500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48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从对话到智能体：技术、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181225"/>
            <a:ext cx="59055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900" b="1">
                <a:solidFill>
                  <a:srgbClr val="20344B"/>
                </a:solidFill>
                <a:latin typeface="Microsoft YaHei"/>
                <a:ea typeface="Microsoft YaHei"/>
              </a:rPr>
              <a:t>MCP</a:t>
            </a: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：让工具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以共同的方式接入应用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623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52875"/>
            <a:ext cx="5715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同一个只读预约查询能力接进不同宿主时，能力发现、参数描述、调用与结果传输可以复用同一套约定。青禾的预约规则仍由业务代码负责。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29175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85850" y="49530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连接方式统一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571750" y="4829175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981325" y="49530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能力可以被发现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533900" y="4829175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010150" y="49530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业务规则不改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19900" y="2362200"/>
            <a:ext cx="47625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991350" y="2533650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Host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宿主应用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991350" y="2800350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应用与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Client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，一个服务一条连接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782050" y="3152775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↓　协议通信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819900" y="3371850"/>
            <a:ext cx="47625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991350" y="3543300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MCP Server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服务端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991350" y="3810000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提供能力与合同，校验参数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163050" y="41624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819900" y="4381500"/>
            <a:ext cx="15240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400925" y="4552950"/>
            <a:ext cx="36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tools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334250" y="47434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调用能力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8439150" y="4381500"/>
            <a:ext cx="15240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858250" y="4552950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resources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953500" y="47434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读取内容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10058400" y="4381500"/>
            <a:ext cx="15240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0515600" y="4552950"/>
            <a:ext cx="61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prompts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0572750" y="47434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交互模板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27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37" name="" descr="&lt;Slide notes={`四个知识块，围着同一个问题展开：一个能力要怎样才算真正接进来了。&#10;&#10;先分清角色。谁负责对话和模型，谁负责维护连接，谁提供能力，这三个身份落在不同的组件上。分不清它们，排查时就没有方向。&#10;&#10;再分清两条路线各管哪一段。函数调用管一次请求和结果的往返；MCP 管连接、发现和调用。连接既可以走本机的标准输入输出，也可以走远程的 HTTP。&#10;&#10;然后是怎么验收。业务合同要看清楚，服务怎么启动、日志往哪里写都有讲究，配好之后还要按顺序核对一遍。&#10;&#10;最后是远程工具的检查。工具范围、审批方式、服务身份是三件独立的事，任何一件没做对，接入都不算完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导读&lt;/Text&gt;&#10;            &lt;Text style={{ fontSize: 34, fontWeight: 'bold', color: '#20344B' }}&gt;让能力以自己的方式被接入&lt;/Text&gt;&#10;        &lt;/Box&gt;&#10;    &lt;/Box&gt;&#10;&#10;    &lt;Box style={{ height: 540, flexDirection: 'row', gap: 40 }}&gt;&#10;&#10;        &lt;Box style={{ width: 340, flexDirection: 'column', justifyContent: 'center', gap: 16 }}&gt;&#10;            &lt;Text style={{ fontSize: 25, fontWeight: 'bold', color: '#276FBF', lineHeight: 1.45 }}&gt;先分清角色，{'\n'}再谈接入&lt;/Text&gt;&#10;            &lt;Box style={{ width: 56, height: 3, background: '#26816B' }} /&gt;&#10;            &lt;Text style={{ fontSize: 17, color: '#546779', lineHeight: 1.75 }}&gt;四个知识块从角色分工走到远程检查：先看清谁在连接谁，再分清两条路线各管哪一段，然后按证据验收接入，最后单独核对远程工具。&lt;/Text&gt;&#10;        &lt;/Box&gt;&#10;&#10;        &lt;Box style={{ flex: 1, flexDirection: 'column', justifyContent: 'center', gap: 20 }}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1&lt;/Text&gt;&#10;                &lt;/Box&gt;&#10;                &lt;Box style={{ flexDirection: 'column', gap: 2 }}&gt;&#10;                    &lt;Text style={{ fontSize: 20, fontWeight: 'bold', color: '#20344B' }}&gt;谁在连接谁&lt;/Text&gt;&#10;                    &lt;Text style={{ fontSize: 16, color: '#546779' }}&gt;宿主、客户端与服务端的职责分工，以及服务端能表达的三类能力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2&lt;/Text&gt;&#10;                &lt;/Box&gt;&#10;                &lt;Box style={{ flexDirection: 'column', gap: 2 }}&gt;&#10;                    &lt;Text style={{ fontSize: 20, fontWeight: 'bold', color: '#20344B' }}&gt;两条路线各管哪一段&lt;/Text&gt;&#10;                    &lt;Text style={{ fontSize: 16, color: '#546779' }}&gt;函数调用管一次请求与结果，MCP 管连接与发现；本机标准流与远程 HTTP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3&lt;/Text&gt;&#10;                &lt;/Box&gt;&#10;                &lt;Box style={{ flexDirection: 'column', gap: 2 }}&gt;&#10;                    &lt;Text style={{ fontSize: 20, fontWeight: 'bold', color: '#20344B' }}&gt;接上之后怎么验收&lt;/Text&gt;&#10;                    &lt;Text style={{ fontSize: 16, color: '#546779' }}&gt;先看业务合同，再启动服务、配好宿主，按顺序核对并留下证据&lt;/Text&gt;&#10;                &lt;/Box&gt;&#10;            &lt;/Box&gt;&#10;&#10;            &lt;Box style={{ flexDirection: 'row', gap: 16, alignItems: 'center' }}&gt;&#10;                &lt;Box style={{ width: 44, height: 44, borderRadius: 8, background: '#CB6B28', justifyContent: 'center', alignItems: 'center' }}&gt;&#10;                    &lt;Text style={{ fontSize: 18, fontWeight: 'bold', color: '#FFFFFF' }}&gt;04&lt;/Text&gt;&#10;                &lt;/Box&gt;&#10;                &lt;Box style={{ flexDirection: 'column', gap: 2 }}&gt;&#10;                    &lt;Text style={{ fontSize: 20, fontWeight: 'bold', color: '#20344B' }}&gt;远程工具的三个独立检查&lt;/Text&gt;&#10;                    &lt;Text style={{ fontSize: 16, color: '#546779' }}&gt;工具范围、审批与服务身份分别核对，再用停用练习检验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0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让能力以自己的方式被接入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09600" y="2619375"/>
            <a:ext cx="3238500" cy="8286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先分清角色，</a:t>
            </a:r>
            <a:endParaRPr/>
          </a:p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再谈接入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609600" y="360045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09600" y="3781425"/>
            <a:ext cx="3238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四个知识块从角色分工走到远程检查：先看清谁在连接谁，再分清两条路线各管哪一段，然后按证据验收接入，最后单独核对远程工具。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229100" y="25622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333875" y="26670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800600" y="2552700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谁在连接谁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800600" y="2800350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宿主、客户端与服务端的职责分工，以及服务端能表达的三类能力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4229100" y="31908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333875" y="32956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800600" y="3181350"/>
            <a:ext cx="5095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两条路线各管哪一段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800600" y="3429000"/>
            <a:ext cx="5095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函数调用管一次请求与结果，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管连接与发现；本机标准流与远程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HTTP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4229100" y="38195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333875" y="39243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800600" y="3810000"/>
            <a:ext cx="4267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接上之后怎么验收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800600" y="4057650"/>
            <a:ext cx="426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先看业务合同，再启动服务、配好宿主，按顺序核对并留下证据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4229100" y="44481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4333875" y="45529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800600" y="4438650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远程工具的三个独立检查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800600" y="4686300"/>
            <a:ext cx="381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工具范围、审批与服务身份分别核对，再用停用练习检验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79" name="" descr="&lt;Slide notes={`先把三个名字摆清楚，因为后面每一次排查都要回到它们。&#10;&#10;WorkBuddy 这样的应用叫宿主，它负责对话、模型、可用能力和用户交互。宿主内部真正去连接某一个服务的那个组件，叫客户端，一个服务对应一条连接。提供能力的程序叫服务端，它校验参数、读取预约、把业务结果送回来。&#10;&#10;需要特别说明的是：这里的服务端指的是职责，不是位置。它完全可能和你坐在同一台电脑上，由宿主动手启动。判断问题的时候，要看的是谁承担了哪一段职责，而不是它跑在哪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1　主机、客户端与服务端分别做什么&lt;/Text&gt;&#10;            &lt;Text style={{ fontSize: 34, fontWeight: 'bold', color: '#20344B' }}&gt;谁在连接谁&lt;/Text&gt;&#10;        &lt;/Box&gt;&#10;    &lt;/Box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1&lt;/Text&gt;&#10;            &lt;/Box&gt;&#10;            &lt;Text style={{ fontSize: 16, color: '#546779' }}&gt;2.6.1&lt;/Text&gt;&#10;        &lt;/Box&gt;&#10;&#10;        &lt;Text style={{ fontSize: 56, fontWeight: 'bold', color: '#20344B', lineHeight: 1.15 }}&gt;谁在连接谁&lt;/Text&gt;&#10;&#10;        &lt;Box style={{ width: 640, height: 4, background: '#276FBF' }} /&gt;&#10;&#10;        &lt;Text style={{ fontSize: 19, color: '#546779', lineHeight: 1.7 }}&gt;对话归宿主，连接归客户端，能力归服务端。&lt;/Text&gt;&#10;&#10;        &lt;Box style={{ marginTop: 8, flexDirection: 'row', justifyContent: 'center', gap: 16 }}&gt;&#10;            &lt;Box style={{ width: 300, height: 56, background: '#EDF4FC', borderRadius: 8, justifyContent: 'center', alignItems: 'center' }}&gt;&#10;                &lt;Text style={{ fontSize: 17, fontWeight: 'bold', color: '#276FBF' }}&gt;Host　宿主应用&lt;/Text&gt;&#10;            &lt;/Box&gt;&#10;            &lt;Box style={{ width: 300, height: 56, background: '#EDF4FC', borderRadius: 8, justifyContent: 'center', alignItems: 'center' }}&gt;&#10;                &lt;Text style={{ fontSize: 17, fontWeight: 'bold', color: '#276FBF' }}&gt;Client　客户端&lt;/Text&gt;&#10;            &lt;/Box&gt;&#10;            &lt;Box style={{ width: 300, height: 56, background: '#ECF7F2', borderRadius: 8, justifyContent: 'center', alignItems: 'center' }}&gt;&#10;                &lt;Text style={{ fontSize: 17, fontWeight: 'bold', color: '#26816B' }}&gt;Server　服务端&lt;/Text&gt;&#10;            &lt;/Box&gt;&#10;        &lt;/Box&gt;&#10;&#10;        &lt;Box style={{ flexDirection: 'row', justifyContent: 'center' }}&gt;&#10;            &lt;Box style={{ width: 620, height: 52, background: '#F4F7FA', borderRadius: 8, justifyContent: 'center', alignItems: 'center' }}&gt;&#10;                &lt;Text style={{ fontSize: 16, color: '#546779' }}&gt;服务端指职责，不要求程序运行在远方的服务器上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0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主机、客户端与服务端分别做什么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438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谁在连接谁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09600" y="18478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714375" y="19526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1295400" y="201930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2.6.1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09600" y="25717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谁在连接谁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09600" y="35052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09600" y="37338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对话归宿主，连接归客户端，能力归服务端。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1657350" y="437197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2486025" y="4543425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Host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　宿主应用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4667250" y="437197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5534025" y="4543425"/>
            <a:ext cx="1123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Client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　客户端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7677150" y="437197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8524875" y="4543425"/>
            <a:ext cx="1171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Server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　服务端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3143250" y="5095875"/>
            <a:ext cx="59055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4419600" y="524827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服务端指职责，不要求程序运行在远方的服务器上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600" name="" descr="&lt;Slide notes={`三个名字分别对应三个问题。&#10;&#10;宿主回答的是：用户看到什么、模型能拿到什么。客户端回答的是：这条连接由谁维护。服务端回答的是：能力从哪里来、参数由谁校验。&#10;&#10;客户端是宿主内部的组件，所以它在结构上属于宿主。一个宿主可以同时接多个服务，每个服务都由相应的客户端分别维护连接，彼此不共用状态。&#10;&#10;服务端要提供的不只是功能，还有合同：工具叫什么、需要哪些参数、参数是什么类型、失败时返回什么。这些描述会被宿主取走，放进模型能看到的内容里。模型据此提出请求，真正执行的是宿主和服务端。&#10;&#10;还有一点值得记住：模型并不需要知道数据库地址。它拿到的是宿主提供的工具描述和工具返回的结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1　三个名字的职责&lt;/Text&gt;&#10;            &lt;Text style={{ fontSize: 34, fontWeight: 'bold', color: '#20344B' }}&gt;Host、Client、Server 各是什么&lt;/Text&gt;&#10;        &lt;/Box&gt;&#10;    &lt;/Box&gt;&#10;&#10;    &lt;Box style={{ height: 540, flexDirection: 'row', alignItems: 'center', gap: 48 }}&gt;&#10;&#10;        &lt;Box style={{ width: 634, flexDirection: 'column', justifyContent: 'center', gap: 14 }}&gt;&#10;&#10;            &lt;Box style={{ width: 634, height: 124, background: '#F4F7FA', borderRadius: 10, padding: '0 18px', flexDirection: 'row', alignItems: 'center', gap: 16 }}&gt;&#10;                &lt;Box style={{ width: 4, height: 78, background: '#276FBF' }} /&gt;&#10;                &lt;Box style={{ flex: 1, flexDirection: 'column', gap: 4 }}&gt;&#10;                    &lt;Text style={{ fontSize: 19, fontWeight: 'bold', color: '#20344B' }}&gt;Host　宿主应用&lt;/Text&gt;&#10;                    &lt;Text style={{ fontSize: 15, color: '#546779' }}&gt;负责对话、模型、可用能力和用户交互&lt;/Text&gt;&#10;                &lt;/Box&gt;&#10;                &lt;Box style={{ width: 150, height: 40, background: '#EDF4FC', borderRadius: 8, justifyContent: 'center', alignItems: 'center' }}&gt;&#10;                    &lt;Text style={{ fontSize: 14, color: '#276FBF' }}&gt;WorkBuddy 就是&lt;/Text&gt;&#10;                &lt;/Box&gt;&#10;            &lt;/Box&gt;&#10;&#10;            &lt;Box style={{ width: 634, height: 124, background: '#F4F7FA', borderRadius: 10, padding: '0 18px', flexDirection: 'row', alignItems: 'center', gap: 16 }}&gt;&#10;                &lt;Box style={{ width: 4, height: 78, background: '#276FBF' }} /&gt;&#10;                &lt;Box style={{ flex: 1, flexDirection: 'column', gap: 4 }}&gt;&#10;                    &lt;Text style={{ fontSize: 19, fontWeight: 'bold', color: '#20344B' }}&gt;Client　客户端&lt;/Text&gt;&#10;                    &lt;Text style={{ fontSize: 15, color: '#546779' }}&gt;宿主内部连接某一个服务的组件，一个服务一条连接&lt;/Text&gt;&#10;                &lt;/Box&gt;&#10;                &lt;Box style={{ width: 150, height: 40, background: '#EDF4FC', borderRadius: 8, justifyContent: 'center', alignItems: 'center' }}&gt;&#10;                    &lt;Text style={{ fontSize: 14, color: '#276FBF' }}&gt;归宿主管理&lt;/Text&gt;&#10;                &lt;/Box&gt;&#10;            &lt;/Box&gt;&#10;&#10;            &lt;Box style={{ width: 634, height: 124, background: '#ECF7F2', borderRadius: 10, padding: '0 18px', flexDirection: 'row', alignItems: 'center', gap: 16 }}&gt;&#10;                &lt;Box style={{ width: 4, height: 78, background: '#26816B' }} /&gt;&#10;                &lt;Box style={{ flex: 1, flexDirection: 'column', gap: 4 }}&gt;&#10;                    &lt;Text style={{ fontSize: 19, fontWeight: 'bold', color: '#20344B' }}&gt;Server　服务端&lt;/Text&gt;&#10;                    &lt;Text style={{ fontSize: 15, color: '#546779' }}&gt;校验参数、读取预约、返回业务结果，并给出能力合同&lt;/Text&gt;&#10;                &lt;/Box&gt;&#10;                &lt;Box style={{ width: 150, height: 40, background: '#FFFFFF', borderRadius: 8, justifyContent: 'center', alignItems: 'center' }}&gt;&#10;                    &lt;Text style={{ fontSize: 14, color: '#26816B' }}&gt;指职责&lt;/Text&gt;&#10;                &lt;/Box&gt;&#10;            &lt;/Box&gt;&#10;&#10;        &lt;/Box&gt;&#10;&#10;        &lt;Box style={{ width: 470, flexDirection: 'column', justifyContent: 'center', gap: 14 }}&gt;&#10;&#10;            &lt;Box style={{ width: 470, height: 150, background: '#FFF4E6', borderRadius: 10, padding: '16px 20px', flexDirection: 'column', gap: 6 }}&gt;&#10;                &lt;Text style={{ fontSize: 17, fontWeight: 'bold', color: '#CB6B28' }}&gt;「服务端」指职责，不是位置&lt;/Text&gt;&#10;                &lt;Text style={{ fontSize: 15, color: '#546779', lineHeight: 1.6 }}&gt;它不要求程序必须运行在远方的服务器上；由本机启动的 Python 进程同样承担服务端的职责。&lt;/Text&gt;&#10;            &lt;/Box&gt;&#10;&#10;            &lt;Box style={{ width: 470, height: 168, background: '#EDF4FC', borderRadius: 10, padding: '16px 20px', flexDirection: 'column', gap: 6 }}&gt;&#10;                &lt;Text style={{ fontSize: 17, fontWeight: 'bold', color: '#276FBF' }}&gt;一个宿主，多条连接&lt;/Text&gt;&#10;                &lt;Text style={{ fontSize: 15, color: '#546779', lineHeight: 1.6 }}&gt;多个服务由相应的客户端分别维护连接。模型接收宿主提供的工具描述与结果，数据库地址不必写进模型。&lt;/Text&gt;&#10;            &lt;/Box&gt;&#10;&#10;            &lt;Box style={{ width: 470, height: 120, background: '#F4F7FA', borderRadius: 10, padding: '16px 20px', flexDirection: 'column', gap: 6 }}&gt;&#10;                &lt;Text style={{ fontSize: 17, fontWeight: 'bold', color: '#20344B' }}&gt;说出名称不等于已连接&lt;/Text&gt;&#10;                &lt;Text style={{ fontSize: 15, color: '#546779', lineHeight: 1.6 }}&gt;模型能复述工具名称，只说明它读到了宿主给出的描述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0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0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三个名字的职责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00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Host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Client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Server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各是什么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09600" y="1809750"/>
            <a:ext cx="603885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6" name=""/>
          <p:cNvSpPr/>
          <p:nvPr/>
        </p:nvSpPr>
        <p:spPr>
          <a:xfrm rot="0" flipH="0" flipV="0">
            <a:off x="781050" y="2028825"/>
            <a:ext cx="38100" cy="742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971550" y="2190750"/>
            <a:ext cx="392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>Host</a:t>
            </a: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　宿主应用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971550" y="2447925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负责对话、模型、可用能力和用户交互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5048250" y="2209800"/>
            <a:ext cx="142875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5238750" y="2324100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WorkBuddy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就是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609600" y="3124200"/>
            <a:ext cx="603885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2" name=""/>
          <p:cNvSpPr/>
          <p:nvPr/>
        </p:nvSpPr>
        <p:spPr>
          <a:xfrm rot="0" flipH="0" flipV="0">
            <a:off x="781050" y="3343275"/>
            <a:ext cx="38100" cy="742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971550" y="3505200"/>
            <a:ext cx="392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>Client</a:t>
            </a: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　客户端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971550" y="3762375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宿主内部连接某一个服务的组件，一个服务一条连接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5048250" y="3524250"/>
            <a:ext cx="142875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5429250" y="36385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归宿主管理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609600" y="4438650"/>
            <a:ext cx="6038850" cy="1181100"/>
          </a:xfrm>
          <a:prstGeom prst="roundRect">
            <a:avLst>
              <a:gd name="adj" fmla="val 80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8" name=""/>
          <p:cNvSpPr/>
          <p:nvPr/>
        </p:nvSpPr>
        <p:spPr>
          <a:xfrm rot="0" flipH="0" flipV="0">
            <a:off x="781050" y="4657725"/>
            <a:ext cx="38100" cy="7429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971550" y="4819650"/>
            <a:ext cx="392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>Server</a:t>
            </a: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　服务端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971550" y="5076825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校验参数、读取预约、返回业务结果，并给出能力合同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5048250" y="4838700"/>
            <a:ext cx="142875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5562600" y="49530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指职责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7105650" y="1495425"/>
            <a:ext cx="447675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7296150" y="1647825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「服务端」指职责，不是位置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296150" y="1905000"/>
            <a:ext cx="4095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它不要求程序必须运行在远方的服务器上；由本机启动的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进程同样承担服务端的职责。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7105650" y="3057525"/>
            <a:ext cx="4476750" cy="1600200"/>
          </a:xfrm>
          <a:prstGeom prst="roundRect">
            <a:avLst>
              <a:gd name="adj" fmla="val 59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7296150" y="3209925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一个宿主，多条连接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7296150" y="3467100"/>
            <a:ext cx="4095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多个服务由相应的客户端分别维护连接。模型接收宿主提供的工具描述与结果，数据库地址不必写进模型。</a:t>
            </a:r>
            <a:endParaRPr/>
          </a:p>
        </p:txBody>
      </p:sp>
      <p:sp>
        <p:nvSpPr>
          <p:cNvPr id="629" name=""/>
          <p:cNvSpPr/>
          <p:nvPr/>
        </p:nvSpPr>
        <p:spPr>
          <a:xfrm rot="0" flipH="0" flipV="0">
            <a:off x="7105650" y="4791075"/>
            <a:ext cx="447675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7296150" y="4943475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说出名称不等于已连接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7296150" y="5200650"/>
            <a:ext cx="4095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模型能复述工具名称，只说明它读到了宿主给出的描述。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34" name="" descr="&lt;Slide notes={`服务端对外能表达三类东西。&#10;&#10;工具回答的是能执行什么操作，在青禾里就是查询预约、校验候选方案。资源回答的是有什么内容可以读取，比如房间表、活动规则。提示模板回答的是一次交互可以怎样组织，例如按材料核对活动约束的那份模板。&#10;&#10;要强调一点：这是协议能够表达的能力，不等于每个宿主都以同样的界面支持全部类型。有的宿主只导入工具，不提供资源浏览的入口。&#10;&#10;这一节我们只围绕两项查询工具做练习，配套服务另外声明了一个 open-day://rules 资源。工具接通只能证明这条工具链路可用；资源浏览、提示模板，以及协议的其他扩展，都要分别验收，不能因为工具通了就一并算通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1　服务端能表达的三类能力&lt;/Text&gt;&#10;            &lt;Text style={{ fontSize: 34, fontWeight: 'bold', color: '#20344B' }}&gt;三类能力，三种用途&lt;/Text&gt;&#10;        &lt;/Box&gt;&#10;    &lt;/Box&gt;&#10;&#10;    &lt;Box style={{ height: 540, flexDirection: 'column', justifyContent: 'center', gap: 12 }}&gt;&#10;&#10;        &lt;Box style={{ width: 1152, height: 42, background: '#20344B', borderRadius: 8, padding: '0 20px', flexDirection: 'row', alignItems: 'center', gap: 16 }}&gt;&#10;            &lt;Box style={{ width: 4 }} /&gt;&#10;            &lt;Text style={{ width: 200, fontSize: 14, color: '#FFFFFF' }}&gt;能力类型&lt;/Text&gt;&#10;            &lt;Text style={{ width: 280, fontSize: 14, color: '#FFFFFF' }}&gt;回答的问题&lt;/Text&gt;&#10;            &lt;Text style={{ flex: 1, fontSize: 14, color: '#FFFFFF' }}&gt;青禾中可以怎样使用&lt;/Text&gt;&#10;        &lt;/Box&gt;&#10;&#10;        &lt;Box style={{ width: 1152, height: 92, background: '#F4F7FA', borderRadius: 8, padding: '0 20px', flexDirection: 'row', alignItems: 'center', gap: 16 }}&gt;&#10;            &lt;Box style={{ width: 4, height: 64, background: '#276FBF' }} /&gt;&#10;            &lt;Box style={{ width: 200, flexDirection: 'column', gap: 2 }}&gt;&#10;                &lt;Text style={{ fontSize: 19, fontWeight: 'bold', color: '#276FBF' }}&gt;Tools&lt;/Text&gt;&#10;                &lt;Text style={{ fontSize: 14, color: '#546779' }}&gt;工具&lt;/Text&gt;&#10;            &lt;/Box&gt;&#10;            &lt;Box style={{ width: 280 }}&gt;&#10;                &lt;Text style={{ fontSize: 16, color: '#20344B' }}&gt;能执行什么操作&lt;/Text&gt;&#10;            &lt;/Box&gt;&#10;            &lt;Box style={{ flex: 1 }}&gt;&#10;                &lt;Text style={{ fontSize: 16, color: '#20344B' }}&gt;查询预约、校验候选方案是否满足活动规则&lt;/Text&gt;&#10;            &lt;/Box&gt;&#10;        &lt;/Box&gt;&#10;&#10;        &lt;Box style={{ width: 1152, height: 92, background: '#F4F7FA', borderRadius: 8, padding: '0 20px', flexDirection: 'row', alignItems: 'center', gap: 16 }}&gt;&#10;            &lt;Box style={{ width: 4, height: 64, background: '#26816B' }} /&gt;&#10;            &lt;Box style={{ width: 200, flexDirection: 'column', gap: 2 }}&gt;&#10;                &lt;Text style={{ fontSize: 19, fontWeight: 'bold', color: '#26816B' }}&gt;Resources&lt;/Text&gt;&#10;                &lt;Text style={{ fontSize: 14, color: '#546779' }}&gt;资源&lt;/Text&gt;&#10;            &lt;/Box&gt;&#10;            &lt;Box style={{ width: 280 }}&gt;&#10;                &lt;Text style={{ fontSize: 16, color: '#20344B' }}&gt;有什么内容可以读取&lt;/Text&gt;&#10;            &lt;/Box&gt;&#10;            &lt;Box style={{ flex: 1 }}&gt;&#10;                &lt;Text style={{ fontSize: 16, color: '#20344B' }}&gt;房间表、活动规则，按需读取并标明来源&lt;/Text&gt;&#10;            &lt;/Box&gt;&#10;        &lt;/Box&gt;&#10;&#10;        &lt;Box style={{ width: 1152, height: 92, background: '#F4F7FA', borderRadius: 8, padding: '0 20px', flexDirection: 'row', alignItems: 'center', gap: 16 }}&gt;&#10;            &lt;Box style={{ width: 4, height: 64, background: '#26816B' }} /&gt;&#10;            &lt;Box style={{ width: 200, flexDirection: 'column', gap: 2 }}&gt;&#10;                &lt;Text style={{ fontSize: 19, fontWeight: 'bold', color: '#26816B' }}&gt;Prompts&lt;/Text&gt;&#10;                &lt;Text style={{ fontSize: 14, color: '#546779' }}&gt;提示模板&lt;/Text&gt;&#10;            &lt;/Box&gt;&#10;            &lt;Box style={{ width: 280 }}&gt;&#10;                &lt;Text style={{ fontSize: 16, color: '#20344B' }}&gt;可以怎样组织一次交互&lt;/Text&gt;&#10;            &lt;/Box&gt;&#10;            &lt;Box style={{ flex: 1 }}&gt;&#10;                &lt;Text style={{ fontSize: 16, color: '#20344B' }}&gt;根据材料核对活动约束的模板&lt;/Text&gt;&#10;            &lt;/Box&gt;&#10;        &lt;/Box&gt;&#10;&#10;        &lt;Box style={{ width: 1152, height: 96, background: '#FFF4E6', borderRadius: 8, padding: '16px 20px', flexDirection: 'column', gap: 4, marginTop: 4 }}&gt;&#10;            &lt;Text style={{ fontSize: 16, fontWeight: 'bold', color: '#CB6B28' }}&gt;协议能表达三类能力，不等于每个宿主都支持全部类型&lt;/Text&gt;&#10;            &lt;Text style={{ fontSize: 15, color: '#546779' }}&gt;本节只围绕两项只读工具做练习；配套服务还声明了 open-day://rules 资源，仍需分别验收。&lt;/Text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0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服务端能表达的三类能力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三类能力，三种用途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609600" y="1495425"/>
            <a:ext cx="10972800" cy="400050"/>
          </a:xfrm>
          <a:prstGeom prst="roundRect">
            <a:avLst>
              <a:gd name="adj" fmla="val 19048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990600" y="161925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能力类型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3048000" y="161925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回答的问题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5867400" y="1619250"/>
            <a:ext cx="552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青禾中可以怎样使用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609600" y="2009775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4" name=""/>
          <p:cNvSpPr/>
          <p:nvPr/>
        </p:nvSpPr>
        <p:spPr>
          <a:xfrm rot="0" flipH="0" flipV="0">
            <a:off x="800100" y="2143125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990600" y="2247900"/>
            <a:ext cx="190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>Tools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990600" y="248602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3048000" y="2352675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能执行什么操作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5867400" y="235267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查询预约、校验候选方案是否满足活动规则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609600" y="3000375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0" name=""/>
          <p:cNvSpPr/>
          <p:nvPr/>
        </p:nvSpPr>
        <p:spPr>
          <a:xfrm rot="0" flipH="0" flipV="0">
            <a:off x="800100" y="3133725"/>
            <a:ext cx="38100" cy="6096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990600" y="3238500"/>
            <a:ext cx="190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6816B"/>
                </a:solidFill>
                <a:latin typeface="Microsoft YaHei"/>
                <a:ea typeface="Microsoft YaHei"/>
              </a:rPr>
              <a:t>Resources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990600" y="347662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资源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3048000" y="3343275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有什么内容可以读取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5867400" y="334327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房间表、活动规则，按需读取并标明来源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609600" y="3990975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6" name=""/>
          <p:cNvSpPr/>
          <p:nvPr/>
        </p:nvSpPr>
        <p:spPr>
          <a:xfrm rot="0" flipH="0" flipV="0">
            <a:off x="800100" y="4124325"/>
            <a:ext cx="38100" cy="6096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990600" y="4229100"/>
            <a:ext cx="190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6816B"/>
                </a:solidFill>
                <a:latin typeface="Microsoft YaHei"/>
                <a:ea typeface="Microsoft YaHei"/>
              </a:rPr>
              <a:t>Prompts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990600" y="446722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提示模板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3048000" y="4333875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可以怎样组织一次交互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5867400" y="433387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根据材料核对活动约束的模板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609600" y="5019675"/>
            <a:ext cx="10972800" cy="9144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800100" y="5172075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协议能表达三类能力，不等于每个宿主都支持全部类型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800100" y="5400675"/>
            <a:ext cx="1059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本节只围绕两项只读工具做练习；配套服务还声明了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open-day://rules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资源，仍需分别验收。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66" name="" descr="&lt;Slide notes={`把三个角色放到一张连接图上。&#10;&#10;左边是宿主，应用本身和客户端都在这个框里，说明连接归宿主管理。中间这一段是协议通信，客户端和服务端之间来回传的就是协议消息。右边是服务端，它下面挂出三类能力：工具、资源、提示模板。&#10;&#10;底部的橙色条标出本节的边界：我们只练两项只读工具，不同宿主对三类能力的支持并不一样。&#10;&#10;还有一处要留意：服务端到三类能力之间的连线表示能力分类，不是执行的先后顺序。一次调用不会依次经过工具、资源、模板，而是根据这次请求选择其中一类。&#10;&#10;模型拿到的是宿主整理过的工具描述；提出请求之后由宿主去执行，结果再回到上下文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1　连接的组成&lt;/Text&gt;&#10;            &lt;Text style={{ fontSize: 34, fontWeight: 'bold', color: '#20344B' }}&gt;一次连接里有哪些角色与能力&lt;/Text&gt;&#10;        &lt;/Box&gt;&#10;    &lt;/Box&gt;&#10;&#10;    &lt;Box style={{ height: 540, flexDirection: 'column', justifyContent: 'center', gap: 16 }}&gt;&#10;&#10;        &lt;Box style={{ flexDirection: 'row', justifyContent: 'center', alignItems: 'center', gap: 24 }}&gt;&#10;&#10;            &lt;Box style={{ width: 540, height: 280, background: '#F4F7FA', borderRadius: 12, padding: 16, flexDirection: 'column', justifyContent: 'center', gap: 12 }}&gt;&#10;                &lt;Box style={{ width: 508, height: 30, justifyContent: 'center' }}&gt;&#10;                    &lt;Text style={{ fontSize: 15, fontWeight: 'bold', color: '#546779' }}&gt;Host 宿主应用（客户端的归属）&lt;/Text&gt;&#10;                &lt;/Box&gt;&#10;                &lt;Box style={{ width: 508, height: 78, background: '#EDF4FC', borderRadius: 8, padding: '0 16px', flexDirection: 'column', justifyContent: 'center', gap: 3 }}&gt;&#10;                    &lt;Text style={{ fontSize: 19, fontWeight: 'bold', color: '#276FBF' }}&gt;应用 / 宿主程序&lt;/Text&gt;&#10;                    &lt;Text style={{ fontSize: 14, color: '#546779' }}&gt;对话、模型、可用能力与用户交互&lt;/Text&gt;&#10;                &lt;/Box&gt;&#10;                &lt;Box style={{ width: 508, height: 78, background: '#EDF4FC', borderRadius: 8, padding: '0 16px', flexDirection: 'column', justifyContent: 'center', gap: 3 }}&gt;&#10;                    &lt;Text style={{ fontSize: 19, fontWeight: 'bold', color: '#276FBF' }}&gt;Client 客户端&lt;/Text&gt;&#10;                    &lt;Text style={{ fontSize: 14, color: '#546779' }}&gt;维护与一个 MCP 服务的连接&lt;/Text&gt;&#10;                &lt;/Box&gt;&#10;            &lt;/Box&gt;&#10;&#10;            &lt;Box style={{ width: 44, height: 280, justifyContent: 'center', alignItems: 'center' }}&gt;&#10;                &lt;Text style={{ fontSize: 26, color: '#276FBF' }}&gt;›&lt;/Text&gt;&#10;            &lt;/Box&gt;&#10;&#10;            &lt;Box style={{ width: 440, height: 280, background: '#F4F7FA', borderRadius: 12, padding: 16, flexDirection: 'column', justifyContent: 'center', gap: 10 }}&gt;&#10;                &lt;Box style={{ width: 408, height: 30, justifyContent: 'center' }}&gt;&#10;                    &lt;Text style={{ fontSize: 15, fontWeight: 'bold', color: '#546779' }}&gt;MCP Server 服务端&lt;/Text&gt;&#10;                &lt;/Box&gt;&#10;                &lt;Box style={{ width: 408, height: 78, background: '#ECF7F2', borderRadius: 8, padding: '0 16px', flexDirection: 'column', justifyContent: 'center', gap: 3 }}&gt;&#10;                    &lt;Text style={{ fontSize: 19, fontWeight: 'bold', color: '#26816B' }}&gt;提供能力与合同&lt;/Text&gt;&#10;                    &lt;Text style={{ fontSize: 14, color: '#546779' }}&gt;校验参数、读取预约、返回结果&lt;/Text&gt;&#10;                &lt;/Box&gt;&#10;                &lt;Box style={{ width: 408, height: 34, background: '#ECF7F2', borderRadius: 6, padding: '0 12px', flexDirection: 'row', alignItems: 'center', gap: 10 }}&gt;&#10;                    &lt;Text style={{ width: 96, fontSize: 15, fontWeight: 'bold', color: '#26816B' }}&gt;tools&lt;/Text&gt;&#10;                    &lt;Text style={{ flex: 1, fontSize: 14, color: '#546779' }}&gt;调用能力&lt;/Text&gt;&#10;                &lt;/Box&gt;&#10;                &lt;Box style={{ width: 408, height: 34, background: '#ECF7F2', borderRadius: 6, padding: '0 12px', flexDirection: 'row', alignItems: 'center', gap: 10 }}&gt;&#10;                    &lt;Text style={{ width: 96, fontSize: 15, fontWeight: 'bold', color: '#26816B' }}&gt;resources&lt;/Text&gt;&#10;                    &lt;Text style={{ flex: 1, fontSize: 14, color: '#546779' }}&gt;读取内容&lt;/Text&gt;&#10;                &lt;/Box&gt;&#10;                &lt;Box style={{ width: 408, height: 34, background: '#ECF7F2', borderRadius: 6, padding: '0 12px', flexDirection: 'row', alignItems: 'center', gap: 10 }}&gt;&#10;                    &lt;Text style={{ width: 96, fontSize: 15, fontWeight: 'bold', color: '#26816B' }}&gt;prompts&lt;/Text&gt;&#10;                    &lt;Text style={{ flex: 1, fontSize: 14, color: '#546779' }}&gt;交互模板&lt;/Text&gt;&#10;                &lt;/Box&gt;&#10;            &lt;/Box&gt;&#10;&#10;        &lt;/Box&gt;&#10;&#10;        &lt;Box style={{ width: 1152, height: 26, justifyContent: 'center', alignItems: 'center' }}&gt;&#10;            &lt;Text style={{ fontSize: 14, color: '#546779' }}&gt;Client 与 Server 之间走协议通信；Server 到三类能力的连线表示能力分类，不是依次执行&lt;/Text&gt;&#10;        &lt;/Box&gt;&#10;&#10;        &lt;Box style={{ width: 1152, height: 96, background: '#FFF4E6', borderRadius: 8, padding: '0 20px', flexDirection: 'row', alignItems: 'center', gap: 20 }}&gt;&#10;            &lt;Box style={{ width: 4, height: 56, background: '#CB6B28' }} /&gt;&#10;            &lt;Box style={{ flex: 1, flexDirection: 'column', gap: 3 }}&gt;&#10;                &lt;Text style={{ fontSize: 17, fontWeight: 'bold', color: '#CB6B28' }}&gt;本节重点：2 个只读工具&lt;/Text&gt;&#10;                &lt;Text style={{ fontSize: 15, color: '#546779' }}&gt;是否呈现或调用某一类能力取决于宿主支持；工具接通只证明该工具链路可用，资源与提示模板要分别验收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0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连接的组成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一次连接里有哪些角色与能力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990600" y="1647825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1143000" y="2038350"/>
            <a:ext cx="483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Host </a:t>
            </a: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宿主应用（客户端的归属）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1143000" y="2381250"/>
            <a:ext cx="4838700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295400" y="2552700"/>
            <a:ext cx="453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应用</a:t>
            </a: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宿主程序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1295400" y="2800350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对话、模型、可用能力与用户交互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1143000" y="3238500"/>
            <a:ext cx="4838700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1295400" y="3409950"/>
            <a:ext cx="453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Client </a:t>
            </a: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客户端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1295400" y="3657600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维护与一个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服务的连接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6534150" y="28289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7010400" y="1647825"/>
            <a:ext cx="4191000" cy="266700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7162800" y="1847850"/>
            <a:ext cx="388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MCP Server </a:t>
            </a: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服务端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7162800" y="2171700"/>
            <a:ext cx="3886200" cy="742950"/>
          </a:xfrm>
          <a:prstGeom prst="roundRect">
            <a:avLst>
              <a:gd name="adj" fmla="val 102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7315200" y="2343150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提供能力与合同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7315200" y="2590800"/>
            <a:ext cx="3581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校验参数、读取预约、返回结果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7162800" y="3009900"/>
            <a:ext cx="3886200" cy="323850"/>
          </a:xfrm>
          <a:prstGeom prst="roundRect">
            <a:avLst>
              <a:gd name="adj" fmla="val 1764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7277100" y="308610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tools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8286750" y="3095625"/>
            <a:ext cx="264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调用能力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7162800" y="3429000"/>
            <a:ext cx="3886200" cy="323850"/>
          </a:xfrm>
          <a:prstGeom prst="roundRect">
            <a:avLst>
              <a:gd name="adj" fmla="val 1764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7277100" y="350520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resources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8286750" y="3514725"/>
            <a:ext cx="264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读取内容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7162800" y="3848100"/>
            <a:ext cx="3886200" cy="323850"/>
          </a:xfrm>
          <a:prstGeom prst="roundRect">
            <a:avLst>
              <a:gd name="adj" fmla="val 1764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7277100" y="392430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prompts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8286750" y="3933825"/>
            <a:ext cx="264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交互模板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3429000" y="4514850"/>
            <a:ext cx="5343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Client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Server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之间走协议通信；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Server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到三类能力的连线表示能力分类，不是依次执行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609600" y="4867275"/>
            <a:ext cx="10972800" cy="9144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6" name=""/>
          <p:cNvSpPr/>
          <p:nvPr/>
        </p:nvSpPr>
        <p:spPr>
          <a:xfrm rot="0" flipH="0" flipV="0">
            <a:off x="800100" y="50577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028700" y="5124450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本节重点：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个只读工具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1028700" y="5353050"/>
            <a:ext cx="1036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是否呈现或调用某一类能力取决于宿主支持；工具接通只证明该工具链路可用，资源与提示模板要分别验收。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01" name="" descr="&lt;Slide notes={`有三种说法听起来像已经接通了，实际都还差一截。&#10;&#10;第一种是模型说出了工具名称，就以为连接建立。名称来自宿主提供的描述，模型能复述它，只说明它读到了描述，并不代表任何一条连接真的存在。&#10;&#10;第二种是工具链路通了，就以为资源和模板也能用。协议里的三类能力是分别验收的，工具通了，跟资源能不能读、模板能不能用没有关系。&#10;&#10;第三种是在某个宿主里跑通了，就以为所有宿主都行。每个宿主按自己的实现支持不同的能力类型，也支持不同的协议版本。&#10;&#10;所以要养成一个习惯：把话说准确。不说「我接上了 MCP」，而是说清楚在哪个宿主里、哪一项工具或资源、经过了哪一次核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1　验收的准确说法&lt;/Text&gt;&#10;            &lt;Text style={{ fontSize: 34, fontWeight: 'bold', color: '#20344B' }}&gt;三种「已经接通」的说法&lt;/Text&gt;&#10;        &lt;/Box&gt;&#10;    &lt;/Box&gt;&#10;&#10;    &lt;Box style={{ height: 540, flexDirection: 'column', justifyContent: 'center', gap: 16 }}&gt;&#10;&#10;        &lt;Box style={{ flexDirection: 'row', justifyContent: 'center', alignItems: 'center', gap: 24 }}&gt;&#10;            &lt;Box style={{ width: 520, height: 108, background: '#F4F7FA', borderRadius: 10, padding: '0 18px', flexDirection: 'column', justifyContent: 'center', gap: 4 }}&gt;&#10;                &lt;Text style={{ fontSize: 14, color: '#546779' }}&gt;常见说法&lt;/Text&gt;&#10;                &lt;Text style={{ fontSize: 17, color: '#20344B' }}&gt;模型说出了工具名称&lt;/Text&gt;&#10;            &lt;/Box&gt;&#10;            &lt;Box style={{ width: 44, height: 108, justifyContent: 'center', alignItems: 'center' }}&gt;&#10;                &lt;Text style={{ fontSize: 24, fontWeight: 'bold', color: '#CB6B28' }}&gt;≠&lt;/Text&gt;&#10;            &lt;/Box&gt;&#10;            &lt;Box style={{ width: 520, height: 108, background: '#ECF7F2', borderRadius: 10, padding: '0 18px', flexDirection: 'column', justifyContent: 'center', gap: 4 }}&gt;&#10;                &lt;Text style={{ fontSize: 14, color: '#546779' }}&gt;实际情况&lt;/Text&gt;&#10;                &lt;Text style={{ fontSize: 17, color: '#20344B' }}&gt;说明它读到了描述，连接并未建立&lt;/Text&gt;&#10;            &lt;/Box&gt;&#10;        &lt;/Box&gt;&#10;&#10;        &lt;Box style={{ flexDirection: 'row', justifyContent: 'center', alignItems: 'center', gap: 24 }}&gt;&#10;            &lt;Box style={{ width: 520, height: 108, background: '#F4F7FA', borderRadius: 10, padding: '0 18px', flexDirection: 'column', justifyContent: 'center', gap: 4 }}&gt;&#10;                &lt;Text style={{ fontSize: 14, color: '#546779' }}&gt;常见说法&lt;/Text&gt;&#10;                &lt;Text style={{ fontSize: 17, color: '#20344B' }}&gt;工具链路已经接通&lt;/Text&gt;&#10;            &lt;/Box&gt;&#10;            &lt;Box style={{ width: 44, height: 108, justifyContent: 'center', alignItems: 'center' }}&gt;&#10;                &lt;Text style={{ fontSize: 24, fontWeight: 'bold', color: '#CB6B28' }}&gt;≠&lt;/Text&gt;&#10;            &lt;/Box&gt;&#10;            &lt;Box style={{ width: 520, height: 108, background: '#ECF7F2', borderRadius: 10, padding: '0 18px', flexDirection: 'column', justifyContent: 'center', gap: 4 }}&gt;&#10;                &lt;Text style={{ fontSize: 14, color: '#546779' }}&gt;实际情况&lt;/Text&gt;&#10;                &lt;Text style={{ fontSize: 17, color: '#20344B' }}&gt;资源浏览与提示模板仍需分别验收&lt;/Text&gt;&#10;            &lt;/Box&gt;&#10;        &lt;/Box&gt;&#10;&#10;        &lt;Box style={{ flexDirection: 'row', justifyContent: 'center', alignItems: 'center', gap: 24 }}&gt;&#10;            &lt;Box style={{ width: 520, height: 108, background: '#F4F7FA', borderRadius: 10, padding: '0 18px', flexDirection: 'column', justifyContent: 'center', gap: 4 }}&gt;&#10;                &lt;Text style={{ fontSize: 14, color: '#546779' }}&gt;常见说法&lt;/Text&gt;&#10;                &lt;Text style={{ fontSize: 17, color: '#20344B' }}&gt;在某个宿主里跑通了&lt;/Text&gt;&#10;            &lt;/Box&gt;&#10;            &lt;Box style={{ width: 44, height: 108, justifyContent: 'center', alignItems: 'center' }}&gt;&#10;                &lt;Text style={{ fontSize: 24, fontWeight: 'bold', color: '#CB6B28' }}&gt;≠&lt;/Text&gt;&#10;            &lt;/Box&gt;&#10;            &lt;Box style={{ width: 520, height: 108, background: '#ECF7F2', borderRadius: 10, padding: '0 18px', flexDirection: 'column', justifyContent: 'center', gap: 4 }}&gt;&#10;                &lt;Text style={{ fontSize: 14, color: '#546779' }}&gt;实际情况&lt;/Text&gt;&#10;                &lt;Text style={{ fontSize: 17, color: '#20344B' }}&gt;不同宿主支持的能力类型与协议版本不同&lt;/Text&gt;&#10;            &lt;/Box&gt;&#10;        &lt;/Box&gt;&#10;&#10;        &lt;Box style={{ width: 1152, height: 88, background: '#F4F7FA', borderRadius: 8, padding: '0 20px', flexDirection: 'row', alignItems: 'center', gap: 16 }}&gt;&#10;            &lt;Box style={{ width: 4, height: 52, background: '#20344B' }} /&gt;&#10;            &lt;Box style={{ flex: 1, flexDirection: 'column', gap: 3 }}&gt;&#10;                &lt;Text style={{ fontSize: 16, fontWeight: 'bold', color: '#20344B' }}&gt;把话说准确：在哪一个宿主、哪一项能力、哪一次核对&lt;/Text&gt;&#10;                &lt;Text style={{ fontSize: 15, color: '#546779' }}&gt;验收记录写清楚这三项，复现和排查才有依据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0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验收的准确说法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三种「已经接通」的说法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704850" y="1524000"/>
            <a:ext cx="4953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76300" y="183832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常见说法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876300" y="2038350"/>
            <a:ext cx="4610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模型说出了工具名称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6010275" y="1905000"/>
            <a:ext cx="180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CB6B28"/>
                </a:solidFill>
                <a:latin typeface="Microsoft YaHei"/>
                <a:ea typeface="Microsoft YaHei"/>
              </a:rPr>
              <a:t>≠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6534150" y="1524000"/>
            <a:ext cx="4953000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705600" y="183832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实际情况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6705600" y="2038350"/>
            <a:ext cx="4610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说明它读到了描述，连接并未建立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704850" y="2705100"/>
            <a:ext cx="4953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876300" y="301942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常见说法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76300" y="3219450"/>
            <a:ext cx="4610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工具链路已经接通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6010275" y="3086100"/>
            <a:ext cx="180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CB6B28"/>
                </a:solidFill>
                <a:latin typeface="Microsoft YaHei"/>
                <a:ea typeface="Microsoft YaHei"/>
              </a:rPr>
              <a:t>≠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6534150" y="2705100"/>
            <a:ext cx="4953000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6705600" y="301942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实际情况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6705600" y="3219450"/>
            <a:ext cx="4610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资源浏览与提示模板仍需分别验收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704850" y="3886200"/>
            <a:ext cx="4953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876300" y="420052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常见说法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876300" y="4400550"/>
            <a:ext cx="4610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在某个宿主里跑通了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6010275" y="4267200"/>
            <a:ext cx="180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CB6B28"/>
                </a:solidFill>
                <a:latin typeface="Microsoft YaHei"/>
                <a:ea typeface="Microsoft YaHei"/>
              </a:rPr>
              <a:t>≠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6534150" y="3886200"/>
            <a:ext cx="4953000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705600" y="420052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实际情况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6705600" y="4400550"/>
            <a:ext cx="4610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不同宿主支持的能力类型与协议版本不同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609600" y="506730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8" name=""/>
          <p:cNvSpPr/>
          <p:nvPr/>
        </p:nvSpPr>
        <p:spPr>
          <a:xfrm rot="0" flipH="0" flipV="0">
            <a:off x="800100" y="5238750"/>
            <a:ext cx="38100" cy="4953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990600" y="5295900"/>
            <a:ext cx="1040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把话说准确：在哪一个宿主、哪一项能力、哪一次核对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990600" y="5514975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验收记录写清楚这三项，复现和排查才有依据。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733" name="" descr="&lt;Slide notes={`把一次筹备任务从头到尾拆成五段，看清每一段落在谁身上。&#10;&#10;用户提出筹备任务，这一段给出的是要求和约束。接着是宿主应用，它组织上下文、调用模型、控制执行。第三段是 MCP 客户端，它发现能力、发送调用、接收结果。第四段是 MCP 服务端，它校验参数、读取预约、返回业务结果。最后落到预约材料上，也就是那份 availability.json。&#10;&#10;第三段和第四段之间走的是 stdio 或者 Streamable HTTP，这是传输方式的选择。&#10;&#10;这条链路能帮我们定位问题：任务描述不全，在第一段；上下文组织错了，在第二段；连接和调用出错，在第三段；参数没校验、规则判错，在第四段；材料和事实对不上，要回头核对第五段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1　端到端分工&lt;/Text&gt;&#10;            &lt;Text style={{ fontSize: 34, fontWeight: 'bold', color: '#20344B' }}&gt;一次筹备任务经过的五段&lt;/Text&gt;&#10;        &lt;/Box&gt;&#10;    &lt;/Box&gt;&#10;&#10;    &lt;Box style={{ height: 540, flexDirection: 'column', justifyContent: 'center' }}&gt;&#10;&#10;        &lt;Box style={{ width: 1152, height: 76, background: '#F4F7FA', borderRadius: 10, padding: '0 20px', flexDirection: 'row', alignItems: 'center', gap: 16 }}&gt;&#10;            &lt;Box style={{ width: 4, height: 48, background: '#276FBF' }} /&gt;&#10;            &lt;Box style={{ width: 320, flexDirection: 'column', gap: 2 }}&gt;&#10;                &lt;Text style={{ fontSize: 18, fontWeight: 'bold', color: '#20344B' }}&gt;① 用户提出筹备任务&lt;/Text&gt;&#10;                &lt;Text style={{ fontSize: 14, color: '#546779' }}&gt;给出要求与约束&lt;/Text&gt;&#10;            &lt;/Box&gt;&#10;            &lt;Box style={{ flex: 1 }}&gt;&#10;                &lt;Text style={{ fontSize: 15, color: '#546779' }}&gt;这一段的产物是要什么、不能违反什么、最后交什么&lt;/Text&gt;&#10;            &lt;/Box&gt;&#10;        &lt;/Box&gt;&#10;&#10;        &lt;Box style={{ width: 1152, height: 26, justifyContent: 'center', alignItems: 'center' }}&gt;&lt;Text style={{ fontSize: 16, color: '#276FBF' }}&gt;↓&lt;/Text&gt;&lt;/Box&gt;&#10;&#10;        &lt;Box style={{ width: 1152, height: 76, background: '#EDF4FC', borderRadius: 10, padding: '0 20px', flexDirection: 'row', alignItems: 'center', gap: 16 }}&gt;&#10;            &lt;Box style={{ width: 4, height: 48, background: '#276FBF' }} /&gt;&#10;            &lt;Box style={{ width: 320, flexDirection: 'column', gap: 2 }}&gt;&#10;                &lt;Text style={{ fontSize: 18, fontWeight: 'bold', color: '#20344B' }}&gt;② 宿主应用&lt;/Text&gt;&#10;                &lt;Text style={{ fontSize: 14, color: '#546779' }}&gt;组织上下文、调用模型、控制执行&lt;/Text&gt;&#10;            &lt;/Box&gt;&#10;            &lt;Box style={{ flex: 1 }}&gt;&#10;                &lt;Text style={{ fontSize: 15, color: '#546779' }}&gt;把材料、历史和工具描述整理成这一次请求的内容&lt;/Text&gt;&#10;            &lt;/Box&gt;&#10;        &lt;/Box&gt;&#10;&#10;        &lt;Box style={{ width: 1152, height: 26, justifyContent: 'center', alignItems: 'center' }}&gt;&lt;Text style={{ fontSize: 16, color: '#276FBF' }}&gt;↓&lt;/Text&gt;&lt;/Box&gt;&#10;&#10;        &lt;Box style={{ width: 1152, height: 76, background: '#EDF4FC', borderRadius: 10, padding: '0 20px', flexDirection: 'row', alignItems: 'center', gap: 16 }}&gt;&#10;            &lt;Box style={{ width: 4, height: 48, background: '#276FBF' }} /&gt;&#10;            &lt;Box style={{ width: 320, flexDirection: 'column', gap: 2 }}&gt;&#10;                &lt;Text style={{ fontSize: 18, fontWeight: 'bold', color: '#20344B' }}&gt;③ MCP 客户端&lt;/Text&gt;&#10;                &lt;Text style={{ fontSize: 14, color: '#546779' }}&gt;发现能力、发送调用、接收结果&lt;/Text&gt;&#10;            &lt;/Box&gt;&#10;            &lt;Box style={{ flex: 1 }}&gt;&#10;                &lt;Text style={{ fontSize: 15, color: '#546779' }}&gt;一个服务由一条连接维护，请求从这里发出去&lt;/Text&gt;&#10;            &lt;/Box&gt;&#10;        &lt;/Box&gt;&#10;&#10;        &lt;Box style={{ width: 1152, height: 26, justifyContent: 'center', alignItems: 'center' }}&gt;&lt;Text style={{ fontSize: 15, color: '#546779' }}&gt;↓　stdio 或 Streamable HTTP&lt;/Text&gt;&lt;/Box&gt;&#10;&#10;        &lt;Box style={{ width: 1152, height: 76, background: '#ECF7F2', borderRadius: 10, padding: '0 20px', flexDirection: 'row', alignItems: 'center', gap: 16 }}&gt;&#10;            &lt;Box style={{ width: 4, height: 48, background: '#26816B' }} /&gt;&#10;            &lt;Box style={{ width: 320, flexDirection: 'column', gap: 2 }}&gt;&#10;                &lt;Text style={{ fontSize: 18, fontWeight: 'bold', color: '#20344B' }}&gt;④ MCP 服务端&lt;/Text&gt;&#10;                &lt;Text style={{ fontSize: 14, color: '#546779' }}&gt;校验参数、读取预约、返回业务结果&lt;/Text&gt;&#10;            &lt;/Box&gt;&#10;            &lt;Box style={{ flex: 1 }}&gt;&#10;                &lt;Text style={{ fontSize: 15, color: '#546779' }}&gt;业务规则在这一段真正生效，参数不合规要报错&lt;/Text&gt;&#10;            &lt;/Box&gt;&#10;        &lt;/Box&gt;&#10;&#10;        &lt;Box style={{ width: 1152, height: 26, justifyContent: 'center', alignItems: 'center' }}&gt;&lt;Text style={{ fontSize: 16, color: '#26816B' }}&gt;↓&lt;/Text&gt;&lt;/Box&gt;&#10;&#10;        &lt;Box style={{ width: 1152, height: 76, background: '#F7F3E8', borderRadius: 10, padding: '0 20px', flexDirection: 'row', alignItems: 'center', gap: 16 }}&gt;&#10;            &lt;Box style={{ width: 4, height: 48, background: '#26816B' }} /&gt;&#10;            &lt;Box style={{ width: 320, flexDirection: 'column', gap: 2 }}&gt;&#10;                &lt;Text style={{ fontSize: 18, fontWeight: 'bold', color: '#20344B' }}&gt;⑤ 预约材料&lt;/Text&gt;&#10;                &lt;Text style={{ fontSize: 14, color: '#546779' }}&gt;availability.json&lt;/Text&gt;&#10;            &lt;/Box&gt;&#10;            &lt;Box style={{ flex: 1 }}&gt;&#10;                &lt;Text style={{ fontSize: 15, color: '#546779' }}&gt;日期、开放时间与已占用区间，是只读查询的返回值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08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端到端分工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一次筹备任务经过的五段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609600" y="14097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39" name=""/>
          <p:cNvSpPr/>
          <p:nvPr/>
        </p:nvSpPr>
        <p:spPr>
          <a:xfrm rot="0" flipH="0" flipV="0">
            <a:off x="800100" y="15430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990600" y="1581150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用户提出筹备任务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990600" y="180975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给出要求与约束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4191000" y="1685925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这一段的产物是要什么、不能违反什么、最后交什么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6057900" y="21621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44" name=""/>
          <p:cNvSpPr/>
          <p:nvPr/>
        </p:nvSpPr>
        <p:spPr>
          <a:xfrm rot="0" flipH="0" flipV="0">
            <a:off x="609600" y="23812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5" name=""/>
          <p:cNvSpPr/>
          <p:nvPr/>
        </p:nvSpPr>
        <p:spPr>
          <a:xfrm rot="0" flipH="0" flipV="0">
            <a:off x="800100" y="25146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990600" y="2552700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宿主应用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990600" y="27813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组织上下文、调用模型、控制执行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4191000" y="2657475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把材料、历史和工具描述整理成这一次请求的内容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6057900" y="31337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609600" y="33528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1" name=""/>
          <p:cNvSpPr/>
          <p:nvPr/>
        </p:nvSpPr>
        <p:spPr>
          <a:xfrm rot="0" flipH="0" flipV="0">
            <a:off x="800100" y="34861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990600" y="3524250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③ MCP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客户端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990600" y="375285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发现能力、发送调用、接收结果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4191000" y="3629025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一个服务由一条连接维护，请求从这里发出去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5114925" y="4114800"/>
            <a:ext cx="196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↓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stdio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Streamable HTTP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609600" y="43243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57" name=""/>
          <p:cNvSpPr/>
          <p:nvPr/>
        </p:nvSpPr>
        <p:spPr>
          <a:xfrm rot="0" flipH="0" flipV="0">
            <a:off x="800100" y="4457700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990600" y="4495800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④ MCP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服务端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990600" y="47244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校验参数、读取预约、返回业务结果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4191000" y="4600575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业务规则在这一段真正生效，参数不合规要报错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6057900" y="50768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609600" y="52959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63" name=""/>
          <p:cNvSpPr/>
          <p:nvPr/>
        </p:nvSpPr>
        <p:spPr>
          <a:xfrm rot="0" flipH="0" flipV="0">
            <a:off x="800100" y="5429250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990600" y="5467350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⑤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预约材料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990600" y="569595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availability.json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4191000" y="5572125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日期、开放时间与已占用区间，是只读查询的返回值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27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69" name="" descr="&lt;Slide notes={`这里要分清两件事：一次调用的往返，和一条连接的建立。&#10;&#10;函数调用解决的是前一半。模型提出一个带参数的工具请求，应用执行之后把结果送回去，一次往返就此结束。可这条连接是怎么来的、这个提供方到底有哪些工具，函数调用并不回答。&#10;&#10;MCP 补的是后一半。它约定应用怎样连接一个能力提供者、怎样发现对方提供了哪些工具、怎样发起调用、结果又怎样传回来。&#10;&#10;两者是配合关系，不是替代关系。同一份业务函数可以先被 Python 直接调用，再由 MCP 服务暴露出去，两条路径复用同一份校验代码。&#10;&#10;连接方式也有两种：本机的标准输入输出，和远程的 HTTP，它们适用的场景不同，边界也不一样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2　Function Calling 与 MCP 怎样配合&lt;/Text&gt;&#10;            &lt;Text style={{ fontSize: 34, fontWeight: 'bold', color: '#20344B' }}&gt;两条路线各管哪一段&lt;/Text&gt;&#10;        &lt;/Box&gt;&#10;    &lt;/Box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2&lt;/Text&gt;&#10;            &lt;/Box&gt;&#10;            &lt;Text style={{ fontSize: 16, color: '#546779' }}&gt;2.6.2 · 2.6.3&lt;/Text&gt;&#10;        &lt;/Box&gt;&#10;&#10;        &lt;Text style={{ fontSize: 56, fontWeight: 'bold', color: '#20344B', lineHeight: 1.15 }}&gt;两条路线各管哪一段&lt;/Text&gt;&#10;&#10;        &lt;Box style={{ width: 640, height: 4, background: '#276FBF' }} /&gt;&#10;&#10;        &lt;Text style={{ fontSize: 19, color: '#546779', lineHeight: 1.7 }}&gt;函数调用管一次请求与结果，MCP 管连接、发现与调用。&lt;/Text&gt;&#10;&#10;        &lt;Box style={{ marginTop: 8, flexDirection: 'row', justifyContent: 'center', gap: 16 }}&gt;&#10;            &lt;Box style={{ width: 300, height: 56, background: '#EDF4FC', borderRadius: 8, justifyContent: 'center', alignItems: 'center' }}&gt;&#10;                &lt;Text style={{ fontSize: 16, fontWeight: 'bold', color: '#276FBF' }}&gt;Function Calling　请求与结果&lt;/Text&gt;&#10;            &lt;/Box&gt;&#10;            &lt;Box style={{ width: 300, height: 56, background: '#ECF7F2', borderRadius: 8, justifyContent: 'center', alignItems: 'center' }}&gt;&#10;                &lt;Text style={{ fontSize: 16, fontWeight: 'bold', color: '#26816B' }}&gt;MCP　连接与发现&lt;/Text&gt;&#10;            &lt;/Box&gt;&#10;            &lt;Box style={{ width: 300, height: 56, background: '#F4F7FA', borderRadius: 8, justifyContent: 'center', alignItems: 'center' }}&gt;&#10;                &lt;Text style={{ fontSize: 16, fontWeight: 'bold', color: '#20344B' }}&gt;传输　stdio 与 HTTP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09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Function Calling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怎样配合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两条路线各管哪一段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609600" y="21907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714375" y="22955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1295400" y="2362200"/>
            <a:ext cx="819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2.6.2 · 2.6.3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两条路线各管哪一段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609600" y="38481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609600" y="40767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函数调用管一次请求与结果，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管连接、发现与调用。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1657350" y="471487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2009775" y="4886325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Function Calling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请求与结果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4667250" y="471487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5457825" y="4886325"/>
            <a:ext cx="127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MCP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　连接与发现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7677150" y="471487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8353425" y="4886325"/>
            <a:ext cx="1504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传输　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stdio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HTTP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27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3" name="" descr="&lt;Slide notes={`把两条路线各自的职责并排看。&#10;&#10;函数调用回答三件事：模型怎样提出一个带参数的请求，应用怎样执行并把结果返回，以及范围到哪里为止——它止于一次调用的往返。&#10;&#10;MCP 在此基础上多回答三件事：应用怎样连接一个能力提供者，怎样发现对方提供哪些工具，以及怎样调用、怎样把结果传回来。它管的是连接本身，而不是某一次请求的内容。&#10;&#10;强调一下：两者并不冲突。业务函数可以先被 Python 直接调用，同一份代码再交给 MCP 服务去暴露，两条路径共用同一份业务校验代码。&#10;&#10;真正要分开处理的是外围那一层。函数调用的包装器和 MCP 服务各自负责自己的参数处理、协议转换和错误转换；业务规则只有一份，不能复制成两份各自维护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2　Function Calling 与 MCP 怎样配合&lt;/Text&gt;&#10;            &lt;Text style={{ fontSize: 34, fontWeight: 'bold', color: '#20344B' }}&gt;两者分别回答什么&lt;/Text&gt;&#10;        &lt;/Box&gt;&#10;    &lt;/Box&gt;&#10;&#10;    &lt;Box style={{ height: 540, flexDirection: 'column', justifyContent: 'center', gap: 16 }}&gt;&#10;&#10;        &lt;Box style={{ flexDirection: 'row', gap: 48, justifyContent: 'center' }}&gt;&#10;&#10;            &lt;Box style={{ width: 552, height: 330, background: '#EDF4FC', borderRadius: 10, padding: '20px 22px', flexDirection: 'column', gap: 10 }}&gt;&#10;                &lt;Text style={{ fontSize: 22, fontWeight: 'bold', color: '#276FBF' }}&gt;Function Calling 回答&lt;/Text&gt;&#10;                &lt;Box style={{ width: 508, height: 74, background: '#FFFFFF', borderRadius: 8, padding: '0 14px', flexDirection: 'column', justifyContent: 'center', gap: 2 }}&gt;&#10;                    &lt;Text style={{ fontSize: 16, fontWeight: 'bold', color: '#20344B' }}&gt;模型怎样提出请求&lt;/Text&gt;&#10;                    &lt;Text style={{ fontSize: 14, color: '#546779' }}&gt;提出一个带参数的工具请求&lt;/Text&gt;&#10;                &lt;/Box&gt;&#10;                &lt;Box style={{ width: 508, height: 74, background: '#FFFFFF', borderRadius: 8, padding: '0 14px', flexDirection: 'column', justifyContent: 'center', gap: 2 }}&gt;&#10;                    &lt;Text style={{ fontSize: 16, fontWeight: 'bold', color: '#20344B' }}&gt;应用怎样返回结果&lt;/Text&gt;&#10;                    &lt;Text style={{ fontSize: 14, color: '#546779' }}&gt;执行函数，把结果送回模型&lt;/Text&gt;&#10;                &lt;/Box&gt;&#10;                &lt;Box style={{ width: 508, height: 74, background: '#FFFFFF', borderRadius: 8, padding: '0 14px', flexDirection: 'column', justifyContent: 'center', gap: 2 }}&gt;&#10;                    &lt;Text style={{ fontSize: 16, fontWeight: 'bold', color: '#20344B' }}&gt;范围到哪里为止&lt;/Text&gt;&#10;                    &lt;Text style={{ fontSize: 14, color: '#546779' }}&gt;止于一次调用的往返&lt;/Text&gt;&#10;                &lt;/Box&gt;&#10;            &lt;/Box&gt;&#10;&#10;            &lt;Box style={{ width: 552, height: 330, background: '#ECF7F2', borderRadius: 10, padding: '20px 22px', flexDirection: 'column', gap: 10 }}&gt;&#10;                &lt;Text style={{ fontSize: 22, fontWeight: 'bold', color: '#26816B' }}&gt;MCP 进一步约定&lt;/Text&gt;&#10;                &lt;Box style={{ width: 508, height: 74, background: '#FFFFFF', borderRadius: 8, padding: '0 14px', flexDirection: 'column', justifyContent: 'center', gap: 2 }}&gt;&#10;                    &lt;Text style={{ fontSize: 16, fontWeight: 'bold', color: '#20344B' }}&gt;怎样连接提供者&lt;/Text&gt;&#10;                    &lt;Text style={{ fontSize: 14, color: '#546779' }}&gt;宿主连接一个能力提供方&lt;/Text&gt;&#10;                &lt;/Box&gt;&#10;                &lt;Box style={{ width: 508, height: 74, background: '#FFFFFF', borderRadius: 8, padding: '0 14px', flexDirection: 'column', justifyContent: 'center', gap: 2 }}&gt;&#10;                    &lt;Text style={{ fontSize: 16, fontWeight: 'bold', color: '#20344B' }}&gt;怎样发现能力&lt;/Text&gt;&#10;                    &lt;Text style={{ fontSize: 14, color: '#546779' }}&gt;列出对方提供的工具与描述&lt;/Text&gt;&#10;                &lt;/Box&gt;&#10;                &lt;Box style={{ width: 508, height: 74, background: '#FFFFFF', borderRadius: 8, padding: '0 14px', flexDirection: 'column', justifyContent: 'center', gap: 2 }}&gt;&#10;                    &lt;Text style={{ fontSize: 16, fontWeight: 'bold', color: '#20344B' }}&gt;怎样调用与回传&lt;/Text&gt;&#10;                    &lt;Text style={{ fontSize: 14, color: '#546779' }}&gt;发起调用，接收协议结果&lt;/Text&gt;&#10;                &lt;/Box&gt;&#10;            &lt;/Box&gt;&#10;&#10;        &lt;/Box&gt;&#10;&#10;        &lt;Box style={{ width: 1152, height: 92, background: '#F4F7FA', borderRadius: 8, padding: '0 20px', flexDirection: 'row', alignItems: 'center', gap: 16 }}&gt;&#10;            &lt;Box style={{ width: 4, height: 56, background: '#20344B' }} /&gt;&#10;            &lt;Box style={{ flex: 1, flexDirection: 'column', gap: 3 }}&gt;&#10;                &lt;Text style={{ fontSize: 16, fontWeight: 'bold', color: '#20344B' }}&gt;两者配合，不互相替代&lt;/Text&gt;&#10;                &lt;Text style={{ fontSize: 15, color: '#546779' }}&gt;业务函数可以先被 Python 直接调用，再由 MCP 服务暴露；两条路径复用同一份业务校验代码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10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Function Calling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怎样配合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两者分别回答什么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1628775"/>
            <a:ext cx="5257800" cy="3143250"/>
          </a:xfrm>
          <a:prstGeom prst="roundRect">
            <a:avLst>
              <a:gd name="adj" fmla="val 303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19150" y="1819275"/>
            <a:ext cx="4838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Function Calling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回答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819150" y="2171700"/>
            <a:ext cx="48387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52500" y="2343150"/>
            <a:ext cx="457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模型怎样提出请求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952500" y="255270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提出一个带参数的工具请求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819150" y="2971800"/>
            <a:ext cx="48387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952500" y="3143250"/>
            <a:ext cx="457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应用怎样返回结果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52500" y="335280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执行函数，把结果送回模型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819150" y="3771900"/>
            <a:ext cx="48387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52500" y="3943350"/>
            <a:ext cx="457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范围到哪里为止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952500" y="415290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止于一次调用的往返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324600" y="1628775"/>
            <a:ext cx="5257800" cy="3143250"/>
          </a:xfrm>
          <a:prstGeom prst="roundRect">
            <a:avLst>
              <a:gd name="adj" fmla="val 303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534150" y="1819275"/>
            <a:ext cx="4838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进一步约定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534150" y="2171700"/>
            <a:ext cx="48387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667500" y="2343150"/>
            <a:ext cx="457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怎样连接提供者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667500" y="255270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宿主连接一个能力提供方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534150" y="2971800"/>
            <a:ext cx="48387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667500" y="3143250"/>
            <a:ext cx="457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怎样发现能力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667500" y="335280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列出对方提供的工具与描述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534150" y="3771900"/>
            <a:ext cx="48387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667500" y="3943350"/>
            <a:ext cx="457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怎样调用与回传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667500" y="415290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发起调用，接收协议结果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09600" y="4924425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800100" y="5095875"/>
            <a:ext cx="38100" cy="5334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90600" y="5172075"/>
            <a:ext cx="1040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两者配合，不互相替代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90600" y="5391150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业务函数可以先被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直接调用，再由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服务暴露；两条路径复用同一份业务校验代码。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27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6" name="" descr="&lt;Slide notes={`这份结构要说明的是「规则只有一份」。&#10;&#10;容量与冲突规则属于业务，它只维护一份，不管入口有几个。Python 直接调用业务函数时，走的是调用点这一侧；MCP 服务把同一个函数暴露出去时，走的是协议这一侧。&#10;&#10;两侧各自要处理的东西并不相同。调用点这一侧处理的是参数怎么给、异常怎么抛；MCP 服务那一侧要处理的是参数描述怎么写、协议消息怎么组织、错误怎么按协议返回。&#10;&#10;如果把这套业务规则抄成两份，早晚会不一致：改了一处忘了另一处，两个入口给出不同结论，而且很难被发现。&#10;&#10;第三章还会区分决策与有权限边界的执行。这里先记住一点：本节做的只读服务不是仿真 MCP，它不会代替任何真实业务系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2　业务规则只维护一份&lt;/Text&gt;&#10;            &lt;Text style={{ fontSize: 34, fontWeight: 'bold', color: '#20344B' }}&gt;同一份业务校验代码，两条路径&lt;/Text&gt;&#10;        &lt;/Box&gt;&#10;    &lt;/Box&gt;&#10;&#10;    &lt;Box style={{ height: 540, flexDirection: 'column', justifyContent: 'center', gap: 16 }}&gt;&#10;&#10;        &lt;Box style={{ flexDirection: 'row', justifyContent: 'center' }}&gt;&#10;            &lt;Box style={{ width: 480, height: 96, background: '#EDF4FC', borderRadius: 10, flexDirection: 'column', justifyContent: 'center', alignItems: 'center', gap: 3 }}&gt;&#10;                &lt;Text style={{ fontSize: 19, fontWeight: 'bold', color: '#276FBF' }}&gt;业务规则：容量与冲突&lt;/Text&gt;&#10;                &lt;Text style={{ fontSize: 15, color: '#546779' }}&gt;只维护一份，不管入口有几个&lt;/Text&gt;&#10;            &lt;/Box&gt;&#10;        &lt;/Box&gt;&#10;&#10;        &lt;Box style={{ width: 1152, flexDirection: 'row', justifyContent: 'center', gap: 48 }}&gt;&#10;            &lt;Box style={{ width: 552, height: 28, justifyContent: 'center', alignItems: 'center' }}&gt;&lt;Text style={{ fontSize: 18, color: '#276FBF' }}&gt;↓&lt;/Text&gt;&lt;/Box&gt;&#10;            &lt;Box style={{ width: 552, height: 28, justifyContent: 'center', alignItems: 'center' }}&gt;&lt;Text style={{ fontSize: 18, color: '#26816B' }}&gt;↓&lt;/Text&gt;&lt;/Box&gt;&#10;        &lt;/Box&gt;&#10;&#10;        &lt;Box style={{ flexDirection: 'row', gap: 48, justifyContent: 'center' }}&gt;&#10;&#10;            &lt;Box style={{ width: 552, height: 230, background: '#F4F7FA', borderRadius: 10, padding: '18px 20px', flexDirection: 'column', gap: 8 }}&gt;&#10;                &lt;Text style={{ fontSize: 20, fontWeight: 'bold', color: '#276FBF' }}&gt;Python 直接调用&lt;/Text&gt;&#10;                &lt;Box style={{ width: 512, height: 46, background: '#FFFFFF', borderRadius: 6, padding: '0 12px', justifyContent: 'center' }}&gt;&#10;                    &lt;Text style={{ fontSize: 15, color: '#546779' }}&gt;参数由调用点直接给出&lt;/Text&gt;&#10;                &lt;/Box&gt;&#10;                &lt;Box style={{ width: 512, height: 46, background: '#FFFFFF', borderRadius: 6, padding: '0 12px', justifyContent: 'center' }}&gt;&#10;                    &lt;Text style={{ fontSize: 15, color: '#546779' }}&gt;异常按 Python 方式抛出&lt;/Text&gt;&#10;                &lt;/Box&gt;&#10;                &lt;Box style={{ width: 512, height: 46, background: '#FFFFFF', borderRadius: 6, padding: '0 12px', justifyContent: 'center' }}&gt;&#10;                    &lt;Text style={{ fontSize: 15, color: '#546779' }}&gt;不经过协议层&lt;/Text&gt;&#10;                &lt;/Box&gt;&#10;            &lt;/Box&gt;&#10;&#10;            &lt;Box style={{ width: 552, height: 230, background: '#F4F7FA', borderRadius: 10, padding: '18px 20px', flexDirection: 'column', gap: 8 }}&gt;&#10;                &lt;Text style={{ fontSize: 20, fontWeight: 'bold', color: '#26816B' }}&gt;MCP 服务暴露&lt;/Text&gt;&#10;                &lt;Box style={{ width: 512, height: 46, background: '#FFFFFF', borderRadius: 6, padding: '0 12px', justifyContent: 'center' }}&gt;&#10;                    &lt;Text style={{ fontSize: 15, color: '#546779' }}&gt;参数描述写进工具合同&lt;/Text&gt;&#10;                &lt;/Box&gt;&#10;                &lt;Box style={{ width: 512, height: 46, background: '#FFFFFF', borderRadius: 6, padding: '0 12px', justifyContent: 'center' }}&gt;&#10;                    &lt;Text style={{ fontSize: 15, color: '#546779' }}&gt;组织协议消息与结果转换&lt;/Text&gt;&#10;                &lt;/Box&gt;&#10;                &lt;Box style={{ width: 512, height: 46, background: '#FFFFFF', borderRadius: 6, padding: '0 12px', justifyContent: 'center' }}&gt;&#10;                    &lt;Text style={{ fontSize: 15, color: '#546779' }}&gt;错误按协议约定返回&lt;/Text&gt;&#10;                &lt;/Box&gt;&#10;            &lt;/Box&gt;&#10;&#10;        &lt;/Box&gt;&#10;&#10;        &lt;Box style={{ width: 1152, height: 80, background: '#ECF7F2', borderRadius: 8, padding: '0 20px', flexDirection: 'row', alignItems: 'center', gap: 16 }}&gt;&#10;            &lt;Box style={{ width: 4, height: 48, background: '#26816B' }} /&gt;&#10;            &lt;Box style={{ flex: 1, flexDirection: 'column', gap: 3 }}&gt;&#10;                &lt;Text style={{ fontSize: 16, fontWeight: 'bold', color: '#26816B' }}&gt;抄成两份，早晚会不一致&lt;/Text&gt;&#10;                &lt;Text style={{ fontSize: 15, color: '#546779' }}&gt;改了一处忘了另一处，两个入口给出不同结论，而且很难被发现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1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业务规则只维护一份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同一份业务校验代码，两条路径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3810000" y="1419225"/>
            <a:ext cx="45720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191125" y="166687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业务规则：容量与冲突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172075" y="191452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只维护一份，不管入口有几个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200400" y="25146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915400" y="25146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09600" y="2905125"/>
            <a:ext cx="5257800" cy="219075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00100" y="3076575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直接调用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00100" y="3381375"/>
            <a:ext cx="48768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14400" y="3514725"/>
            <a:ext cx="464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参数由调用点直接给出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800100" y="3895725"/>
            <a:ext cx="48768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14400" y="4029075"/>
            <a:ext cx="464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异常按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方式抛出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800100" y="4410075"/>
            <a:ext cx="48768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14400" y="4543425"/>
            <a:ext cx="464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不经过协议层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324600" y="2905125"/>
            <a:ext cx="5257800" cy="219075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515100" y="3076575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服务暴露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515100" y="3381375"/>
            <a:ext cx="48768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629400" y="3514725"/>
            <a:ext cx="464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参数描述写进工具合同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515100" y="3895725"/>
            <a:ext cx="48768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629400" y="4029075"/>
            <a:ext cx="464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组织协议消息与结果转换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6515100" y="4410075"/>
            <a:ext cx="48768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629400" y="4543425"/>
            <a:ext cx="464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错误按协议约定返回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5248275"/>
            <a:ext cx="10972800" cy="7620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800100" y="5400675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90600" y="5438775"/>
            <a:ext cx="1040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抄成两份，早晚会不一致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90600" y="5657850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改了一处忘了另一处，两个入口给出不同结论，而且很难被发现。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8" name="" descr="&lt;Slide notes={`本地 stdio 这一路，关键在「谁启动谁」。&#10;&#10;桌面宿主按配置里的命令和参数，在本机启动一个 Python 进程。这个进程就是 MCP 服务端，双方在同一台计算机上通信。启动命令里，命令和参数要分开写，不要把整条命令塞进命令那一项。&#10;&#10;传输用的是进程的标准输入和标准输出。宿主从标准输出读协议消息、往标准输入写请求，所以标准输出在这段里是协议通道，不是给人看的日志。&#10;&#10;这带来一个很常见的坑：随手写一句打印，把「服务启动了」打到标准输出，就把协议数据污染了。消息里混进一行普通文本，宿主解析就会失败，而且报错信息往往指向别处。&#10;&#10;还有一个好用的判断：启动后终端停在那里不输出自然语言，通常只是它在等待输入，并不等于故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3　本地 stdio&lt;/Text&gt;&#10;            &lt;Text style={{ fontSize: 34, fontWeight: 'bold', color: '#20344B' }}&gt;进程的标准输入与输出&lt;/Text&gt;&#10;        &lt;/Box&gt;&#10;    &lt;/Box&gt;&#10;&#10;    &lt;Box style={{ height: 540, flexDirection: 'row', alignItems: 'center', gap: 48 }}&gt;&#10;&#10;        &lt;Box style={{ width: 500, flexDirection: 'column', justifyContent: 'center', gap: 0 }}&gt;&#10;            &lt;Box style={{ width: 500, height: 86, background: '#EDF4FC', borderRadius: 8, padding: '0 16px', flexDirection: 'column', justifyContent: 'center', gap: 2 }}&gt;&#10;                &lt;Text style={{ fontSize: 18, fontWeight: 'bold', color: '#276FBF' }}&gt;本地宿主&lt;/Text&gt;&#10;                &lt;Text style={{ fontSize: 14, color: '#546779' }}&gt;读者电脑上的桌面应用&lt;/Text&gt;&#10;            &lt;/Box&gt;&#10;            &lt;Box style={{ width: 500, height: 40, justifyContent: 'center', alignItems: 'center' }}&gt;&#10;                &lt;Text style={{ fontSize: 14, color: '#546779' }}&gt;↓　command 与 args 启动&lt;/Text&gt;&#10;            &lt;/Box&gt;&#10;            &lt;Box style={{ width: 500, height: 86, background: '#ECF7F2', borderRadius: 8, padding: '0 16px', flexDirection: 'column', justifyContent: 'center', gap: 2 }}&gt;&#10;                &lt;Text style={{ fontSize: 18, fontWeight: 'bold', color: '#26816B' }}&gt;Python MCP 进程&lt;/Text&gt;&#10;                &lt;Text style={{ fontSize: 14, color: '#546779' }}&gt;本机启动的服务端&lt;/Text&gt;&#10;            &lt;/Box&gt;&#10;            &lt;Box style={{ width: 500, height: 60, justifyContent: 'center', alignItems: 'center' }}&gt;&#10;                &lt;Text style={{ fontSize: 14, color: '#546779' }}&gt;↕　标准输入 / 输出传协议消息&lt;/Text&gt;&#10;            &lt;/Box&gt;&#10;            &lt;Box style={{ width: 500, height: 72, background: '#F7F3E8', borderRadius: 8, padding: '0 16px', flexDirection: 'column', justifyContent: 'center', gap: 2 }}&gt;&#10;                &lt;Text style={{ fontSize: 17, fontWeight: 'bold', color: '#20344B' }}&gt;同一台计算机&lt;/Text&gt;&#10;                &lt;Text style={{ fontSize: 14, color: '#546779' }}&gt;整条链路不出本机&lt;/Text&gt;&#10;            &lt;/Box&gt;&#10;        &lt;/Box&gt;&#10;&#10;        &lt;Box style={{ width: 604, flexDirection: 'column', justifyContent: 'center', gap: 14 }}&gt;&#10;&#10;            &lt;Box style={{ width: 604, height: 122, background: '#F4F7FA', borderRadius: 10, padding: '16px 20px', flexDirection: 'column', gap: 4 }}&gt;&#10;                &lt;Text style={{ fontSize: 17, fontWeight: 'bold', color: '#20344B' }}&gt;标准输出是协议通道&lt;/Text&gt;&#10;                &lt;Text style={{ fontSize: 15, color: '#546779', lineHeight: 1.6 }}&gt;宿主从标准输出读协议消息、往标准输入写请求，所以它在这里不是给人看的日志。&lt;/Text&gt;&#10;            &lt;/Box&gt;&#10;&#10;            &lt;Box style={{ width: 604, height: 122, background: '#F4F7FA', borderRadius: 10, padding: '16px 20px', flexDirection: 'column', gap: 4 }}&gt;&#10;                &lt;Text style={{ fontSize: 17, fontWeight: 'bold', color: '#20344B' }}&gt;调试信息写标准错误&lt;/Text&gt;&#10;                &lt;Text style={{ fontSize: 15, color: '#546779', lineHeight: 1.6 }}&gt;日志通道与协议通道必须分开，否则协议消息里会混进不属于协议的内容。&lt;/Text&gt;&#10;            &lt;/Box&gt;&#10;&#10;            &lt;Box style={{ width: 604, height: 122, background: '#FFF4E6', borderRadius: 10, padding: '16px 20px', flexDirection: 'column', gap: 4 }}&gt;&#10;                &lt;Text style={{ fontSize: 17, fontWeight: 'bold', color: '#CB6B28' }}&gt;不要随手打印「服务启动了」&lt;/Text&gt;&#10;                &lt;Text style={{ fontSize: 15, color: '#546779', lineHeight: 1.6 }}&gt;这行普通文本会进入协议数据，宿主侧解析失败，而报错信息往往指向别处。&lt;/Text&gt;&#10;            &lt;/Box&gt;&#10;&#10;            &lt;Box style={{ width: 604, height: 88, background: '#ECF7F2', borderRadius: 10, padding: '16px 20px', flexDirection: 'column', gap: 4 }}&gt;&#10;                &lt;Text style={{ fontSize: 17, fontWeight: 'bold', color: '#26816B' }}&gt;等待输入不等于故障&lt;/Text&gt;&#10;                &lt;Text style={{ fontSize: 15, color: '#546779', lineHeight: 1.6 }}&gt;终端不输出自然语言，通常只是它在等宿主发协议请求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1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stdio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进程的标准输入与输出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09600" y="2076450"/>
            <a:ext cx="4762500" cy="819150"/>
          </a:xfrm>
          <a:prstGeom prst="roundRect">
            <a:avLst>
              <a:gd name="adj" fmla="val 930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62000" y="2295525"/>
            <a:ext cx="4457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本地宿主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62000" y="2524125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读者电脑上的桌面应用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2171700" y="30099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↓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command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args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09600" y="3276600"/>
            <a:ext cx="4762500" cy="819150"/>
          </a:xfrm>
          <a:prstGeom prst="roundRect">
            <a:avLst>
              <a:gd name="adj" fmla="val 930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62000" y="3495675"/>
            <a:ext cx="4457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Python MCP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进程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62000" y="3724275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本机启动的服务端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2057400" y="43053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↕　标准输入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输出传协议消息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09600" y="4667250"/>
            <a:ext cx="4762500" cy="685800"/>
          </a:xfrm>
          <a:prstGeom prst="roundRect">
            <a:avLst>
              <a:gd name="adj" fmla="val 1111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62000" y="4819650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同一台计算机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62000" y="5038725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整条链路不出本机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829300" y="1352550"/>
            <a:ext cx="5753100" cy="1162050"/>
          </a:xfrm>
          <a:prstGeom prst="roundRect">
            <a:avLst>
              <a:gd name="adj" fmla="val 819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019800" y="1504950"/>
            <a:ext cx="5372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标准输出是协议通道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019800" y="1743075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宿主从标准输出读协议消息、往标准输入写请求，所以它在这里不是给人看的日志。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5829300" y="2647950"/>
            <a:ext cx="5753100" cy="1162050"/>
          </a:xfrm>
          <a:prstGeom prst="roundRect">
            <a:avLst>
              <a:gd name="adj" fmla="val 819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19800" y="2800350"/>
            <a:ext cx="5372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调试信息写标准错误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19800" y="3038475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日志通道与协议通道必须分开，否则协议消息里会混进不属于协议的内容。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829300" y="3943350"/>
            <a:ext cx="5753100" cy="1162050"/>
          </a:xfrm>
          <a:prstGeom prst="roundRect">
            <a:avLst>
              <a:gd name="adj" fmla="val 819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019800" y="4095750"/>
            <a:ext cx="5372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不要随手打印「服务启动了」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19800" y="4333875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这行普通文本会进入协议数据，宿主侧解析失败，而报错信息往往指向别处。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5829300" y="5238750"/>
            <a:ext cx="57531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19800" y="5391150"/>
            <a:ext cx="5372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等待输入不等于故障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019800" y="5629275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终端不输出自然语言，通常只是它在等宿主发协议请求。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8" name="" descr="&lt;Slide notes={`远程 HTTP 这一路，请求的发起方不在你的电脑上。&#10;&#10;按照 OpenAI 的接入方式，是 OpenAI 服务端去访问你配置的 MCP 地址。所以「能不能连上」取决于对方能不能访问到那个地址，而不是你的本机能不能访问。&#10;&#10;Streamable HTTP 通过 HTTP 传消息，适合连接远程服务。服务器是不是可达、要不要认证、部署在哪里，这些都由服务提供者安排，客户端能决定的只是填哪个地址。&#10;&#10;同一份能力，走本地 stdio 的时候由桌面宿主启动进程；走远程 HTTP 的时候，是把地址交给远端去访问。这两条路线不能共用一个没有验证过的本机地址。&#10;&#10;新的远程教学部署，请按当前的 Streamable HTTP 文档来实现，不要照搬旧的示例写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3　远程 HTTP&lt;/Text&gt;&#10;            &lt;Text style={{ fontSize: 34, fontWeight: 'bold', color: '#20344B' }}&gt;请求由谁发起&lt;/Text&gt;&#10;        &lt;/Box&gt;&#10;    &lt;/Box&gt;&#10;&#10;    &lt;Box style={{ height: 540, flexDirection: 'column', justifyContent: 'center', gap: 16 }}&gt;&#10;&#10;        &lt;Box style={{ flexDirection: 'row', justifyContent: 'center', alignItems: 'center', gap: 32 }}&gt;&#10;            &lt;Box style={{ width: 420, height: 140, background: '#ECF7F2', borderRadius: 10, padding: '0 18px', flexDirection: 'column', justifyContent: 'center', gap: 3 }}&gt;&#10;                &lt;Text style={{ fontSize: 18, fontWeight: 'bold', color: '#26816B' }}&gt;OpenAI 服务&lt;/Text&gt;&#10;                &lt;Text style={{ fontSize: 14, color: '#546779' }}&gt;远端请求发起方&lt;/Text&gt;&#10;            &lt;/Box&gt;&#10;            &lt;Box style={{ width: 44, height: 140, justifyContent: 'center', alignItems: 'center' }}&gt;&#10;                &lt;Text style={{ fontSize: 24, color: '#26816B' }}&gt;›&lt;/Text&gt;&#10;            &lt;/Box&gt;&#10;            &lt;Box style={{ width: 420, height: 140, background: '#F7F3E8', borderRadius: 10, padding: '0 18px', flexDirection: 'column', justifyContent: 'center', gap: 3 }}&gt;&#10;                &lt;Text style={{ fontSize: 18, fontWeight: 'bold', color: '#20344B' }}&gt;可访问的 MCP 服务&lt;/Text&gt;&#10;                &lt;Text style={{ fontSize: 14, color: '#546779' }}&gt;Streamable HTTP&lt;/Text&gt;&#10;                &lt;Text style={{ fontSize: 14, color: '#546779' }}&gt;先确认实际可达性与授权&lt;/Text&gt;&#10;            &lt;/Box&gt;&#10;        &lt;/Box&gt;&#10;&#10;        &lt;Box style={{ width: 1152, height: 24, justifyContent: 'center', alignItems: 'center' }}&gt;&#10;            &lt;Text style={{ fontSize: 14, color: '#546779' }}&gt;两端通过配置项 server_url 相连，地址由使用者在工具配置里给出&lt;/Text&gt;&#10;        &lt;/Box&gt;&#10;&#10;        &lt;Box style={{ flexDirection: 'row', justifyContent: 'center', gap: 20 }}&gt;&#10;            &lt;Box style={{ width: 370, height: 180, background: '#F4F7FA', borderRadius: 10, padding: '16px 18px', flexDirection: 'column', gap: 6 }}&gt;&#10;                &lt;Text style={{ fontSize: 17, fontWeight: 'bold', color: '#20344B' }}&gt;传输方式&lt;/Text&gt;&#10;                &lt;Text style={{ fontSize: 15, color: '#546779', lineHeight: 1.6 }}&gt;Streamable HTTP 通过 HTTP 传输消息，适合连接远程服务。&lt;/Text&gt;&#10;            &lt;/Box&gt;&#10;            &lt;Box style={{ width: 370, height: 180, background: '#F4F7FA', borderRadius: 10, padding: '16px 18px', flexDirection: 'column', gap: 6 }}&gt;&#10;                &lt;Text style={{ fontSize: 17, fontWeight: 'bold', color: '#20344B' }}&gt;谁负责可达性&lt;/Text&gt;&#10;                &lt;Text style={{ fontSize: 15, color: '#546779', lineHeight: 1.6 }}&gt;服务器的可达性、认证和部署由服务提供者安排。&lt;/Text&gt;&#10;            &lt;/Box&gt;&#10;            &lt;Box style={{ width: 370, height: 180, background: '#F4F7FA', borderRadius: 10, padding: '16px 18px', flexDirection: 'column', gap: 6 }}&gt;&#10;                &lt;Text style={{ fontSize: 17, fontWeight: 'bold', color: '#20344B' }}&gt;当前推荐做法&lt;/Text&gt;&#10;                &lt;Text style={{ fontSize: 15, color: '#546779', lineHeight: 1.6 }}&gt;新的远程教学部署优先按当前 Streamable HTTP 文档实现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1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远程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HTTP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请求由谁发起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1581150" y="1924050"/>
            <a:ext cx="400050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752600" y="2390775"/>
            <a:ext cx="365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OpenAI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752600" y="2628900"/>
            <a:ext cx="3657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远端请求发起方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57900" y="24574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610350" y="1924050"/>
            <a:ext cx="4000500" cy="1333500"/>
          </a:xfrm>
          <a:prstGeom prst="roundRect">
            <a:avLst>
              <a:gd name="adj" fmla="val 714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781800" y="2295525"/>
            <a:ext cx="365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可访问的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781800" y="2533650"/>
            <a:ext cx="3657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Streamable HTTP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781800" y="2724150"/>
            <a:ext cx="3657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先确认实际可达性与授权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143375" y="3448050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两端通过配置项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server_url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相连，地址由使用者在工具配置里给出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19125" y="3790950"/>
            <a:ext cx="3524250" cy="1714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90575" y="3943350"/>
            <a:ext cx="3181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传输方式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90575" y="4200525"/>
            <a:ext cx="3181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Streamable HTTP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通过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HTTP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传输消息，适合连接远程服务。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4333875" y="3790950"/>
            <a:ext cx="3524250" cy="1714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505325" y="3943350"/>
            <a:ext cx="3181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谁负责可达性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505325" y="4200525"/>
            <a:ext cx="3181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服务器的可达性、认证和部署由服务提供者安排。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8048625" y="3790950"/>
            <a:ext cx="3524250" cy="1714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220075" y="3943350"/>
            <a:ext cx="3181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当前推荐做法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220075" y="4200525"/>
            <a:ext cx="3181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新的远程教学部署优先按当前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Streamable HTTP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文档实现。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notes={`把两条路线并排放在一起，对照点很清楚。&#10;&#10;本地 stdio 里，宿主和 Python 进程都在读者这台电脑上。宿主用命令和参数启动进程，双方通过标准输入和输出传协议消息，整条链路不出本机。&#10;&#10;远程 HTTP 里，发起请求的是 OpenAI 服务，它在远端；它按配置的 server_url 去访问一个可访问的 MCP 服务。这个服务用什么方式部署、怎么认证，由提供方决定。&#10;&#10;最需要警惕的是地址的可达性。本机路径和 127.0.0.1 表示的是访问者自己，云端服务不会因为你把 127.0.0.1 填进配置就跑进你的电脑。&#10;&#10;要跨越这个边界，需要真实存在的隧道，而且必须实际安装、配置、建立连接之后才谈得上可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3　两条路线的地址边界&lt;/Text&gt;&#10;            &lt;Text style={{ fontSize: 34, fontWeight: 'bold', color: '#20344B' }}&gt;本地 stdio 与远程 HTTP 对照&lt;/Text&gt;&#10;        &lt;/Box&gt;&#10;    &lt;/Box&gt;&#10;&#10;    &lt;Box style={{ height: 540, flexDirection: 'column', justifyContent: 'center', gap: 16 }}&gt;&#10;&#10;        &lt;Box style={{ flexDirection: 'row', justifyContent: 'center', gap: 48 }}&gt;&#10;&#10;            &lt;Box style={{ width: 552, height: 350, background: '#F4F7FA', borderRadius: 10, padding: '18px 20px', flexDirection: 'column', gap: 10 }}&gt;&#10;                &lt;Text style={{ fontSize: 20, fontWeight: 'bold', color: '#276FBF' }}&gt;本地 stdio　读者电脑内&lt;/Text&gt;&#10;                &lt;Box style={{ width: 512, height: 58, background: '#EDF4FC', borderRadius: 6, padding: '0 14px', flexDirection: 'column', justifyContent: 'center', gap: 2 }}&gt;&#10;                    &lt;Text style={{ fontSize: 16, fontWeight: 'bold', color: '#20344B' }}&gt;本地宿主&lt;/Text&gt;&#10;                    &lt;Text style={{ fontSize: 14, color: '#546779' }}&gt;桌面应用，持有命令与参数&lt;/Text&gt;&#10;                &lt;/Box&gt;&#10;                &lt;Box style={{ width: 512, height: 58, background: '#FFFFFF', borderRadius: 6, padding: '0 14px', flexDirection: 'column', justifyContent: 'center', gap: 2 }}&gt;&#10;                    &lt;Text style={{ fontSize: 16, fontWeight: 'bold', color: '#20344B' }}&gt;启动本机进程&lt;/Text&gt;&#10;                    &lt;Text style={{ fontSize: 14, color: '#546779' }}&gt;command 与 args 分开配置&lt;/Text&gt;&#10;                &lt;/Box&gt;&#10;                &lt;Box style={{ width: 512, height: 58, background: '#ECF7F2', borderRadius: 6, padding: '0 14px', flexDirection: 'column', justifyContent: 'center', gap: 2 }}&gt;&#10;                    &lt;Text style={{ fontSize: 16, fontWeight: 'bold', color: '#20344B' }}&gt;Python MCP 进程&lt;/Text&gt;&#10;                    &lt;Text style={{ fontSize: 14, color: '#546779' }}&gt;服务端与宿主同机&lt;/Text&gt;&#10;                &lt;/Box&gt;&#10;                &lt;Box style={{ width: 512, height: 58, background: '#FFFFFF', borderRadius: 6, padding: '0 14px', flexDirection: 'column', justifyContent: 'center', gap: 2 }}&gt;&#10;                    &lt;Text style={{ fontSize: 16, fontWeight: 'bold', color: '#20344B' }}&gt;标准输入 / 输出传消息&lt;/Text&gt;&#10;                    &lt;Text style={{ fontSize: 14, color: '#546779' }}&gt;日志必须走标准错误&lt;/Text&gt;&#10;                &lt;/Box&gt;&#10;            &lt;/Box&gt;&#10;&#10;            &lt;Box style={{ width: 552, height: 350, background: '#F4F7FA', borderRadius: 10, padding: '18px 20px', flexDirection: 'column', gap: 10 }}&gt;&#10;                &lt;Text style={{ fontSize: 20, fontWeight: 'bold', color: '#26816B' }}&gt;远程 HTTP　远端&lt;/Text&gt;&#10;                &lt;Box style={{ width: 512, height: 58, background: '#ECF7F2', borderRadius: 6, padding: '0 14px', flexDirection: 'column', justifyContent: 'center', gap: 2 }}&gt;&#10;                    &lt;Text style={{ fontSize: 16, fontWeight: 'bold', color: '#20344B' }}&gt;OpenAI 服务&lt;/Text&gt;&#10;                    &lt;Text style={{ fontSize: 14, color: '#546779' }}&gt;远端请求发起方&lt;/Text&gt;&#10;                &lt;/Box&gt;&#10;                &lt;Box style={{ width: 512, height: 58, background: '#FFFFFF', borderRadius: 6, padding: '0 14px', flexDirection: 'column', justifyContent: 'center', gap: 2 }}&gt;&#10;                    &lt;Text style={{ fontSize: 16, fontWeight: 'bold', color: '#20344B' }}&gt;server_url 连接&lt;/Text&gt;&#10;                    &lt;Text style={{ fontSize: 14, color: '#546779' }}&gt;地址在工具配置里给出&lt;/Text&gt;&#10;                &lt;/Box&gt;&#10;                &lt;Box style={{ width: 512, height: 58, background: '#F7F3E8', borderRadius: 6, padding: '0 14px', flexDirection: 'column', justifyContent: 'center', gap: 2 }}&gt;&#10;                    &lt;Text style={{ fontSize: 16, fontWeight: 'bold', color: '#20344B' }}&gt;可访问的 MCP 服务&lt;/Text&gt;&#10;                    &lt;Text style={{ fontSize: 14, color: '#546779' }}&gt;Streamable HTTP，部署由提供方安排&lt;/Text&gt;&#10;                &lt;/Box&gt;&#10;                &lt;Box style={{ width: 512, height: 58, background: '#FFFFFF', borderRadius: 6, padding: '0 14px', flexDirection: 'column', justifyContent: 'center', gap: 2 }}&gt;&#10;                    &lt;Text style={{ fontSize: 16, fontWeight: 'bold', color: '#20344B' }}&gt;先确认可达性与授权&lt;/Text&gt;&#10;                    &lt;Text style={{ fontSize: 14, color: '#546779' }}&gt;认证方式由服务端决定&lt;/Text&gt;&#10;                &lt;/Box&gt;&#10;            &lt;/Box&gt;&#10;&#10;        &lt;/Box&gt;&#10;&#10;        &lt;Box style={{ width: 1152, height: 96, background: '#FFF4E6', borderRadius: 8, padding: '0 20px', flexDirection: 'row', alignItems: 'center', gap: 20 }}&gt;&#10;            &lt;Box style={{ width: 4, height: 56, background: '#CB6B28' }} /&gt;&#10;            &lt;Box style={{ flex: 1, flexDirection: 'column', gap: 3 }}&gt;&#10;                &lt;Text style={{ fontSize: 17, fontWeight: 'bold', color: '#CB6B28' }}&gt;两条路线不能共用一个未经验证的本机地址&lt;/Text&gt;&#10;                &lt;Text style={{ fontSize: 15, color: '#546779' }}&gt;localhost 指访问者自己；把本机脚本路径填进 server_url 也不会让远端访问到它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1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两条路线的地址边界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362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本地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stdio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与远程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HTTP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对照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1514475"/>
            <a:ext cx="5257800" cy="333375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00100" y="1685925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本地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stdio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　读者电脑内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800100" y="2009775"/>
            <a:ext cx="4876800" cy="552450"/>
          </a:xfrm>
          <a:prstGeom prst="roundRect">
            <a:avLst>
              <a:gd name="adj" fmla="val 1034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933450" y="210502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本地宿主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933450" y="231457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桌面应用，持有命令与参数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800100" y="2657475"/>
            <a:ext cx="48768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933450" y="275272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启动本机进程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933450" y="296227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command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args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分开配置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800100" y="3305175"/>
            <a:ext cx="4876800" cy="552450"/>
          </a:xfrm>
          <a:prstGeom prst="roundRect">
            <a:avLst>
              <a:gd name="adj" fmla="val 1034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933450" y="340042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Python MCP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进程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933450" y="360997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服务端与宿主同机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800100" y="3952875"/>
            <a:ext cx="48768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33450" y="404812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标准输入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输出传消息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33450" y="425767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日志必须走标准错误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324600" y="1514475"/>
            <a:ext cx="5257800" cy="333375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515100" y="1685925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远程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HTTP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　远端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515100" y="2009775"/>
            <a:ext cx="4876800" cy="552450"/>
          </a:xfrm>
          <a:prstGeom prst="roundRect">
            <a:avLst>
              <a:gd name="adj" fmla="val 1034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648450" y="210502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OpenAI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648450" y="231457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远端请求发起方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515100" y="2657475"/>
            <a:ext cx="48768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648450" y="275272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server_url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连接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648450" y="296227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地址在工具配置里给出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515100" y="3305175"/>
            <a:ext cx="4876800" cy="552450"/>
          </a:xfrm>
          <a:prstGeom prst="roundRect">
            <a:avLst>
              <a:gd name="adj" fmla="val 1034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648450" y="340042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可访问的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648450" y="360997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Streamable HTTP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，部署由提供方安排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515100" y="3952875"/>
            <a:ext cx="48768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648450" y="404812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先确认可达性与授权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648450" y="425767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认证方式由服务端决定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5000625"/>
            <a:ext cx="10972800" cy="9144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800100" y="519112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028700" y="5257800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两条路线不能共用一个未经验证的本机地址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028700" y="5486400"/>
            <a:ext cx="1036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localhost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指访问者自己；把本机脚本路径填进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server_url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也不会让远端访问到它。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27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92" name="" descr="&lt;Slide notes={`云端的可达性有一条硬边界，值得单独说清楚。&#10;&#10;本机的盘符路径，还有 127.0.0.1 这样的地址，含义都是「访问者自己」。谁去访问，它就指向谁。云端服务去访问这两个地址，得到的是云端自己的本机，不会进入读者的电脑。所以本机调试地址不能直接给远程使用。&#10;&#10;OpenAI 目前另有安全 MCP 隧道，也允许用 tunnel_id 去连接相应的本地服务。但它需要真实安装、真实配置、真实建立连接，不能拿一个虚构的隧道编号来代替。这一点在教学里经常被跳过去，结果调试半天找不到原因。&#10;&#10;更普遍的一条是：任何没有经过验证的本机地址，都不应该直接填进 server_url。地址写对只是第一步，可达性和授权要分别确认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3　可达性的边界&lt;/Text&gt;&#10;            &lt;Text style={{ fontSize: 34, fontWeight: 'bold', color: '#20344B' }}&gt;三条不能想当然的边界&lt;/Text&gt;&#10;        &lt;/Box&gt;&#10;    &lt;/Box&gt;&#10;&#10;    &lt;Box style={{ height: 540, flexDirection: 'column', justifyContent: 'center', gap: 16 }}&gt;&#10;&#10;        &lt;Box style={{ width: 1152, height: 116, background: '#F4F7FA', borderRadius: 10, padding: '0 20px', flexDirection: 'row', alignItems: 'center', gap: 16 }}&gt;&#10;            &lt;Box style={{ width: 4, height: 72, background: '#CB6B28' }} /&gt;&#10;            &lt;Box style={{ width: 320, flexDirection: 'column', gap: 2 }}&gt;&#10;                &lt;Text style={{ fontSize: 17, fontWeight: 'bold', color: '#20344B' }}&gt;本机路径与 127.0.0.1&lt;/Text&gt;&#10;                &lt;Text style={{ fontSize: 14, color: '#546779' }}&gt;本机调试地址&lt;/Text&gt;&#10;            &lt;/Box&gt;&#10;            &lt;Box style={{ flex: 1, flexDirection: 'column', gap: 3 }}&gt;&#10;                &lt;Text style={{ fontSize: 16, color: '#CB6B28' }}&gt;不会自动对云端可达&lt;/Text&gt;&#10;                &lt;Text style={{ fontSize: 15, color: '#546779' }}&gt;它表示的是「访问者自己」；云端去访问它，得到的是云端自己的本机。&lt;/Text&gt;&#10;            &lt;/Box&gt;&#10;        &lt;/Box&gt;&#10;&#10;        &lt;Box style={{ width: 1152, height: 116, background: '#F4F7FA', borderRadius: 10, padding: '0 20px', flexDirection: 'row', alignItems: 'center', gap: 16 }}&gt;&#10;            &lt;Box style={{ width: 4, height: 72, background: '#CB6B28' }} /&gt;&#10;            &lt;Box style={{ width: 320, flexDirection: 'column', gap: 2 }}&gt;&#10;                &lt;Text style={{ fontSize: 17, fontWeight: 'bold', color: '#20344B' }}&gt;MCP 隧道&lt;/Text&gt;&#10;                &lt;Text style={{ fontSize: 14, color: '#546779' }}&gt;需要真实的 tunnel_id&lt;/Text&gt;&#10;            &lt;/Box&gt;&#10;            &lt;Box style={{ flex: 1, flexDirection: 'column', gap: 3 }}&gt;&#10;                &lt;Text style={{ fontSize: 16, color: '#CB6B28' }}&gt;需实际安装、配置与连接&lt;/Text&gt;&#10;                &lt;Text style={{ fontSize: 15, color: '#546779' }}&gt;本节不假定隧道已经开通；虚构的隧道编号不能代替真实连接。&lt;/Text&gt;&#10;            &lt;/Box&gt;&#10;        &lt;/Box&gt;&#10;&#10;        &lt;Box style={{ width: 1152, height: 116, background: '#F4F7FA', borderRadius: 10, padding: '0 20px', flexDirection: 'row', alignItems: 'center', gap: 16 }}&gt;&#10;            &lt;Box style={{ width: 4, height: 72, background: '#CB6B28' }} /&gt;&#10;            &lt;Box style={{ width: 320, flexDirection: 'column', gap: 2 }}&gt;&#10;                &lt;Text style={{ fontSize: 17, fontWeight: 'bold', color: '#20344B' }}&gt;未经验证的本机地址&lt;/Text&gt;&#10;                &lt;Text style={{ fontSize: 14, color: '#546779' }}&gt;不能代替真实部署&lt;/Text&gt;&#10;            &lt;/Box&gt;&#10;            &lt;Box style={{ flex: 1, flexDirection: 'column', gap: 3 }}&gt;&#10;                &lt;Text style={{ fontSize: 16, color: '#CB6B28' }}&gt;不要直接填进 server_url&lt;/Text&gt;&#10;                &lt;Text style={{ fontSize: 15, color: '#546779' }}&gt;本机脚本路径对远端没有意义，可达性与授权要分别确认。&lt;/Text&gt;&#10;            &lt;/Box&gt;&#10;        &lt;/Box&gt;&#10;&#10;        &lt;Box style={{ width: 1152, height: 88, background: '#F4F7FA', borderRadius: 8, padding: '0 20px', flexDirection: 'row', alignItems: 'center', gap: 16 }}&gt;&#10;            &lt;Box style={{ width: 4, height: 52, background: '#20344B' }} /&gt;&#10;            &lt;Box style={{ flex: 1, flexDirection: 'column', gap: 3 }}&gt;&#10;                &lt;Text style={{ fontSize: 16, fontWeight: 'bold', color: '#20344B' }}&gt;地址写对只是第一步&lt;/Text&gt;&#10;                &lt;Text style={{ fontSize: 15, color: '#546779' }}&gt;可达性、认证与授权都要单独确认，不能靠推测代替核对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1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可达性的边界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三条不能想当然的边界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09600" y="140970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800100" y="1619250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990600" y="1771650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本机路径与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127.0.0.1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90600" y="19907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本机调试地址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191000" y="1771650"/>
            <a:ext cx="720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不会自动对云端可达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191000" y="1990725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它表示的是「访问者自己」；云端去访问它，得到的是云端自己的本机。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09600" y="266700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800100" y="2876550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990600" y="3028950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隧道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90600" y="32480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需要真实的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tunnel_id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191000" y="3028950"/>
            <a:ext cx="720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需实际安装、配置与连接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191000" y="3248025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本节不假定隧道已经开通；虚构的隧道编号不能代替真实连接。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392430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800100" y="4133850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90600" y="4286250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未经验证的本机地址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90600" y="45053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不能代替真实部署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191000" y="4286250"/>
            <a:ext cx="720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不要直接填进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server_url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191000" y="4505325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本机脚本路径对远端没有意义，可达性与授权要分别确认。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518160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800100" y="5353050"/>
            <a:ext cx="38100" cy="4953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990600" y="5410200"/>
            <a:ext cx="1040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地址写对只是第一步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90600" y="5629275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可达性、认证与授权都要单独确认，不能靠推测代替核对。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27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21" name="" descr="&lt;Slide notes={`服务接上不等于业务可用了。这一块讲的是怎么验收。&#10;&#10;先把教学服务的业务合同看清楚。配套的 mcp_server.py 暴露两个只读工具：一个查指定日期的房间开放与占用情况，一个校验候选方案是否满足规则。每个工具要什么输入、应该返回什么，都要先明确。&#10;&#10;再看服务怎么启动。默认走 stdio，起来之后等宿主发协议请求；终端停住不输出自然语言，多半只是它在等待输入。要本地调试 HTTP，可以换传输方式并指定端口。&#10;&#10;最后是把同一个服务接进宿主，配置好之后按顺序核对，并且把核对到的证据记下来。界面没有展示原始参数或结果的时候，就写清楚证据缺失，不要凭印象补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4　先检查教学服务的业务合同 · 2.6.6　在 WorkBuddy 中连接同一服务&lt;/Text&gt;&#10;            &lt;Text style={{ fontSize: 34, fontWeight: 'bold', color: '#20344B' }}&gt;接上之后怎么验收&lt;/Text&gt;&#10;        &lt;/Box&gt;&#10;    &lt;/Box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3&lt;/Text&gt;&#10;            &lt;/Box&gt;&#10;            &lt;Text style={{ fontSize: 16, color: '#546779' }}&gt;2.6.4 · 2.6.6&lt;/Text&gt;&#10;        &lt;/Box&gt;&#10;&#10;        &lt;Text style={{ fontSize: 56, fontWeight: 'bold', color: '#20344B', lineHeight: 1.15 }}&gt;接上之后怎么验收&lt;/Text&gt;&#10;&#10;        &lt;Box style={{ width: 640, height: 4, background: '#276FBF' }} /&gt;&#10;&#10;        &lt;Text style={{ fontSize: 19, color: '#546779', lineHeight: 1.7 }}&gt;合同先看清，再让宿主去核对，核对结果要留下证据。&lt;/Text&gt;&#10;&#10;        &lt;Box style={{ marginTop: 8, flexDirection: 'row', justifyContent: 'center', gap: 16 }}&gt;&#10;            &lt;Box style={{ width: 300, height: 56, background: '#EDF4FC', borderRadius: 8, justifyContent: 'center', alignItems: 'center' }}&gt;&#10;                &lt;Text style={{ fontSize: 16, fontWeight: 'bold', color: '#276FBF' }}&gt;两个只读工具&lt;/Text&gt;&#10;            &lt;/Box&gt;&#10;            &lt;Box style={{ width: 300, height: 56, background: '#EDF4FC', borderRadius: 8, justifyContent: 'center', alignItems: 'center' }}&gt;&#10;                &lt;Text style={{ fontSize: 16, fontWeight: 'bold', color: '#276FBF' }}&gt;启动与日志通道&lt;/Text&gt;&#10;            &lt;/Box&gt;&#10;            &lt;Box style={{ width: 300, height: 56, background: '#ECF7F2', borderRadius: 8, justifyContent: 'center', alignItems: 'center' }}&gt;&#10;                &lt;Text style={{ fontSize: 16, fontWeight: 'bold', color: '#26816B' }}&gt;在宿主里核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1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先检查教学服务的业务合同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2.6.6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中连接同一服务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476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接上之后怎么验收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09600" y="21907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14375" y="22955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295400" y="2362200"/>
            <a:ext cx="819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2.6.4 · 2.6.6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接上之后怎么验收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09600" y="38481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9600" y="40767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合同先看清，再让宿主去核对，核对结果要留下证据。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1657350" y="471487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2628900" y="48863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两个只读工具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4667250" y="471487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562600" y="488632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启动与日志通道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7677150" y="471487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648700" y="48863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在宿主里核对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27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40" name="" descr="&lt;Slide notes={`先看这份业务合同，它是后面所有核对的依据。&#10;&#10;第一个工具叫 get_room_availability，输入是房间编号和日期，要检查的结果是这一天该房间的开放时间以及已经被占用的区间。第二个工具叫 validate_schedule，输入是一个排期对象，要检查的是候选方案是否满足规则，如果不满足，具体是哪条规则出错。&#10;&#10;这两个工具都是只读的。查询预约不会改动任何记录，校验方案也只返回结论和错误说明。这也是我们选它们做教学材料的原因：出问题的范围小，容易看清楚。&#10;&#10;依赖和启动命令在示例说明里。装依赖用 requirements-mcp.txt，启动直接跑 mcp_server.py，注意要用同一个虚拟环境里的解释器，不要混用系统解释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4　先检查教学服务的业务合同&lt;/Text&gt;&#10;            &lt;Text style={{ fontSize: 34, fontWeight: 'bold', color: '#20344B' }}&gt;两个只读工具，一份合同&lt;/Text&gt;&#10;        &lt;/Box&gt;&#10;    &lt;/Box&gt;&#10;&#10;    &lt;Box style={{ height: 540, flexDirection: 'row', alignItems: 'center', gap: 48 }}&gt;&#10;&#10;        &lt;Box style={{ width: 704, flexDirection: 'column', justifyContent: 'center', gap: 14 }}&gt;&#10;&#10;            &lt;Box style={{ width: 704, height: 186, background: '#F4F7FA', borderRadius: 10, padding: '16px 20px', flexDirection: 'column', gap: 8 }}&gt;&#10;                &lt;Box style={{ width: 664, height: 28, flexDirection: 'row', alignItems: 'center', gap: 12 }}&gt;&#10;                    &lt;Text style={{ fontSize: 20, fontWeight: 'bold', color: '#276FBF', fontFamily: 'Consolas' }}&gt;get_room_availability&lt;/Text&gt;&#10;                    &lt;Box style={{ width: 90, height: 28, background: '#ECF7F2', borderRadius: 6, justifyContent: 'center', alignItems: 'center' }}&gt;&#10;                        &lt;Text style={{ fontSize: 13, color: '#26816B' }}&gt;只读&lt;/Text&gt;&#10;                    &lt;/Box&gt;&#10;                &lt;/Box&gt;&#10;                &lt;Box style={{ width: 664, height: 54, background: '#FFFFFF', borderRadius: 6, padding: '0 14px', flexDirection: 'row', alignItems: 'center', gap: 12 }}&gt;&#10;                    &lt;Text style={{ width: 110, fontSize: 14, color: '#546779' }}&gt;输入&lt;/Text&gt;&#10;                    &lt;Text style={{ flex: 1, fontSize: 15, color: '#20344B' }}&gt;room_id、date&lt;/Text&gt;&#10;                &lt;/Box&gt;&#10;                &lt;Box style={{ width: 664, height: 54, background: '#FFFFFF', borderRadius: 6, padding: '0 14px', flexDirection: 'row', alignItems: 'center', gap: 12 }}&gt;&#10;                    &lt;Text style={{ width: 110, fontSize: 14, color: '#546779' }}&gt;应检查的结果&lt;/Text&gt;&#10;                    &lt;Text style={{ flex: 1, fontSize: 15, color: '#20344B' }}&gt;指定日期的房间、开放时间及已占用区间&lt;/Text&gt;&#10;                &lt;/Box&gt;&#10;            &lt;/Box&gt;&#10;&#10;            &lt;Box style={{ width: 704, height: 186, background: '#F4F7FA', borderRadius: 10, padding: '16px 20px', flexDirection: 'column', gap: 8 }}&gt;&#10;                &lt;Box style={{ width: 664, height: 28, flexDirection: 'row', alignItems: 'center', gap: 12 }}&gt;&#10;                    &lt;Text style={{ fontSize: 20, fontWeight: 'bold', color: '#26816B', fontFamily: 'Consolas' }}&gt;validate_schedule&lt;/Text&gt;&#10;                    &lt;Box style={{ width: 90, height: 28, background: '#ECF7F2', borderRadius: 6, justifyContent: 'center', alignItems: 'center' }}&gt;&#10;                        &lt;Text style={{ fontSize: 13, color: '#26816B' }}&gt;只读&lt;/Text&gt;&#10;                    &lt;/Box&gt;&#10;                &lt;/Box&gt;&#10;                &lt;Box style={{ width: 664, height: 54, background: '#FFFFFF', borderRadius: 6, padding: '0 14px', flexDirection: 'row', alignItems: 'center', gap: 12 }}&gt;&#10;                    &lt;Text style={{ width: 110, fontSize: 14, color: '#546779' }}&gt;输入&lt;/Text&gt;&#10;                    &lt;Text style={{ flex: 1, fontSize: 15, color: '#20344B' }}&gt;schedule 对象&lt;/Text&gt;&#10;                &lt;/Box&gt;&#10;                &lt;Box style={{ width: 664, height: 54, background: '#FFFFFF', borderRadius: 6, padding: '0 14px', flexDirection: 'row', alignItems: 'center', gap: 12 }}&gt;&#10;                    &lt;Text style={{ width: 110, fontSize: 14, color: '#546779' }}&gt;应检查的结果&lt;/Text&gt;&#10;                    &lt;Text style={{ flex: 1, fontSize: 15, color: '#20344B' }}&gt;候选方案是否满足规则及具体错误&lt;/Text&gt;&#10;                &lt;/Box&gt;&#10;            &lt;/Box&gt;&#10;&#10;        &lt;/Box&gt;&#10;&#10;        &lt;Box style={{ width: 400, flexDirection: 'column', justifyContent: 'center', gap: 14 }}&gt;&#10;&#10;            &lt;Box style={{ width: 400, height: 206, background: '#20344B', borderRadius: 10, padding: '18px 20px', flexDirection: 'column', gap: 8 }}&gt;&#10;                &lt;Text style={{ fontSize: 15, fontWeight: 'bold', color: '#FFFFFF' }}&gt;启动方式&lt;/Text&gt;&#10;                &lt;Text style={{ fontFamily: 'Consolas', fontSize: 14, color: '#FFFFFF', lineHeight: 1.7 }}&gt;{`$ python -m pip install -r requirements-mcp.txt&#10;$ python mcp_server.py`}&lt;/Text&gt;&#10;            &lt;/Box&gt;&#10;&#10;            &lt;Box style={{ width: 400, height: 150, background: '#ECF7F2', borderRadius: 10, padding: '16px 20px', flexDirection: 'column', gap: 4 }}&gt;&#10;                &lt;Text style={{ fontSize: 17, fontWeight: 'bold', color: '#26816B' }}&gt;用同一虚拟环境的解释器&lt;/Text&gt;&#10;                &lt;Text style={{ fontSize: 15, color: '#546779', lineHeight: 1.6 }}&gt;依赖与启动命令见示例说明；不要混用系统解释器。&lt;/Text&gt;&#10;            &lt;/Box&gt;&#10;&#10;            &lt;Box style={{ width: 400, height: 130, background: '#F4F7FA', borderRadius: 10, padding: '16px 20px', flexDirection: 'column', gap: 4 }}&gt;&#10;                &lt;Text style={{ fontSize: 17, fontWeight: 'bold', color: '#20344B' }}&gt;默认启动 stdio 服务&lt;/Text&gt;&#10;                &lt;Text style={{ fontSize: 15, color: '#546779', lineHeight: 1.6 }}&gt;起来之后等待宿主发送协议请求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1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先检查教学服务的业务合同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两个只读工具，一份合同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09600" y="1876425"/>
            <a:ext cx="6705600" cy="1771650"/>
          </a:xfrm>
          <a:prstGeom prst="roundRect">
            <a:avLst>
              <a:gd name="adj" fmla="val 53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00100" y="2047875"/>
            <a:ext cx="2200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Consolas"/>
                <a:ea typeface="Consolas"/>
              </a:rPr>
              <a:t>get_room_availability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3114675" y="2028825"/>
            <a:ext cx="857250" cy="266700"/>
          </a:xfrm>
          <a:prstGeom prst="roundRect">
            <a:avLst>
              <a:gd name="adj" fmla="val 214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419475" y="20859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只读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800100" y="2371725"/>
            <a:ext cx="6324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933450" y="25527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2095500" y="25431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room_id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date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800100" y="2962275"/>
            <a:ext cx="6324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33450" y="31432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应检查的结果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2095500" y="313372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指定日期的房间、开放时间及已占用区间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09600" y="3781425"/>
            <a:ext cx="6705600" cy="1771650"/>
          </a:xfrm>
          <a:prstGeom prst="roundRect">
            <a:avLst>
              <a:gd name="adj" fmla="val 53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00100" y="3952875"/>
            <a:ext cx="1781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Consolas"/>
                <a:ea typeface="Consolas"/>
              </a:rPr>
              <a:t>validate_schedule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2695575" y="3933825"/>
            <a:ext cx="857250" cy="266700"/>
          </a:xfrm>
          <a:prstGeom prst="roundRect">
            <a:avLst>
              <a:gd name="adj" fmla="val 214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000375" y="39909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只读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800100" y="4276725"/>
            <a:ext cx="6324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33450" y="44577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2095500" y="44481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schedule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对象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800100" y="4867275"/>
            <a:ext cx="6324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933450" y="50482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应检查的结果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2095500" y="503872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候选方案是否满足规则及具体错误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7772400" y="1266825"/>
            <a:ext cx="3810000" cy="1962150"/>
          </a:xfrm>
          <a:prstGeom prst="roundRect">
            <a:avLst>
              <a:gd name="adj" fmla="val 4854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962900" y="143827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启动方式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962900" y="1685925"/>
            <a:ext cx="342900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</a:rPr>
              <a:t>$ python -m pip install -r requirements-mcp.txt
$ python mcp_server.py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772400" y="3362325"/>
            <a:ext cx="38100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962900" y="351472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用同一虚拟环境的解释器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962900" y="3752850"/>
            <a:ext cx="3429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依赖与启动命令见示例说明；不要混用系统解释器。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7772400" y="4924425"/>
            <a:ext cx="381000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962900" y="507682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默认启动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stdio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962900" y="5314950"/>
            <a:ext cx="3429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起来之后等待宿主发送协议请求。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27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76" name="" descr="&lt;Slide notes={`服务启动这一段有两件事必须讲清。&#10;&#10;第一件，默认走的是 stdio。启动之后它在等宿主发协议请求，终端上不会打印自然语言。看到屏幕停住不动，先别急着判定故障，很可能只是它在安静地等输入。正式连接的时候，也不是手动去跑它，而是由宿主按配置启动。&#10;&#10;第二件，日志的通道。stdio 下标准输出承担的是协议消息，调试信息必须写到标准错误。这条规则如果不遵守，协议里混进非协议内容，宿主侧就会解析失败，而且报错信息往往指向别处，很难查。&#10;&#10;需要本地调试 HTTP 的时候，可以换成 streamable-http 传输并指定端口。但要记住，这个监听地址仍然是本机地址，不能直接拿给云端的接口去访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4　启动之后&lt;/Text&gt;&#10;            &lt;Text style={{ fontSize: 34, fontWeight: 'bold', color: '#20344B' }}&gt;屏幕不动不等于故障&lt;/Text&gt;&#10;        &lt;/Box&gt;&#10;    &lt;/Box&gt;&#10;&#10;    &lt;Box style={{ height: 540, flexDirection: 'column', justifyContent: 'center', gap: 16 }}&gt;&#10;&#10;        &lt;Box style={{ flexDirection: 'row', alignItems: 'center', gap: 40 }}&gt;&#10;&#10;            &lt;Box style={{ width: 420, flexDirection: 'column', gap: 14 }}&gt;&#10;                &lt;Text style={{ fontSize: 22, fontWeight: 'bold', color: '#276FBF', lineHeight: 1.5 }}&gt;默认走 stdio，{'\n'}等宿主发请求&lt;/Text&gt;&#10;                &lt;Box style={{ width: 56, height: 3, background: '#26816B' }} /&gt;&#10;                &lt;Text style={{ fontSize: 16, color: '#546779', lineHeight: 1.75 }}&gt;启动命令在示例说明里；正式连接时由宿主按配置启动，不需要手动常驻一个进程。&lt;/Text&gt;&#10;            &lt;/Box&gt;&#10;&#10;            &lt;Box style={{ width: 692, flexDirection: 'column', gap: 12 }}&gt;&#10;&#10;                &lt;Box style={{ width: 692, height: 104, background: '#F4F7FA', borderRadius: 10, padding: '0 18px', flexDirection: 'row', alignItems: 'center', gap: 14 }}&gt;&#10;                    &lt;Box style={{ width: 4, height: 64, background: '#276FBF' }} /&gt;&#10;                    &lt;Box style={{ flex: 1, flexDirection: 'column', gap: 3 }}&gt;&#10;                        &lt;Text style={{ fontSize: 17, fontWeight: 'bold', color: '#20344B' }}&gt;启动后没有自然语言输出&lt;/Text&gt;&#10;                        &lt;Text style={{ fontSize: 15, color: '#546779' }}&gt;它在等待宿主发送协议请求，安静是正常状态&lt;/Text&gt;&#10;                    &lt;/Box&gt;&#10;                &lt;/Box&gt;&#10;&#10;                &lt;Box style={{ width: 692, height: 104, background: '#F4F7FA', borderRadius: 10, padding: '0 18px', flexDirection: 'row', alignItems: 'center', gap: 14 }}&gt;&#10;                    &lt;Box style={{ width: 4, height: 64, background: '#26816B' }} /&gt;&#10;                    &lt;Box style={{ flex: 1, flexDirection: 'column', gap: 3 }}&gt;&#10;                        &lt;Text style={{ fontSize: 17, fontWeight: 'bold', color: '#20344B' }}&gt;需要本地 HTTP 调试时&lt;/Text&gt;&#10;                        &lt;Text style={{ fontSize: 15, color: '#546779' }}&gt;换成 streamable-http 传输并指定端口，本地监听地址仍不能供云端访问&lt;/Text&gt;&#10;                    &lt;/Box&gt;&#10;                &lt;/Box&gt;&#10;&#10;                &lt;Box style={{ width: 692, height: 104, background: '#F4F7FA', borderRadius: 10, padding: '0 18px', flexDirection: 'row', alignItems: 'center', gap: 14 }}&gt;&#10;                    &lt;Box style={{ width: 4, height: 64, background: '#276FBF' }} /&gt;&#10;                    &lt;Box style={{ flex: 1, flexDirection: 'column', gap: 3 }}&gt;&#10;                        &lt;Text style={{ fontSize: 17, fontWeight: 'bold', color: '#20344B' }}&gt;由宿主负责启动&lt;/Text&gt;&#10;                        &lt;Text style={{ fontSize: 15, color: '#546779' }}&gt;按配置里的命令与参数拉起进程，不靠人工手动运行&lt;/Text&gt;&#10;                    &lt;/Box&gt;&#10;                &lt;/Box&gt;&#10;&#10;            &lt;/Box&gt;&#10;&#10;        &lt;/Box&gt;&#10;&#10;        &lt;Box style={{ width: 1152, height: 96, background: '#FFF4E6', borderRadius: 8, padding: '0 20px', flexDirection: 'row', alignItems: 'center', gap: 20 }}&gt;&#10;            &lt;Box style={{ width: 4, height: 56, background: '#CB6B28' }} /&gt;&#10;            &lt;Box style={{ flex: 1, flexDirection: 'column', gap: 3 }}&gt;&#10;                &lt;Text style={{ fontSize: 17, fontWeight: 'bold', color: '#CB6B28' }}&gt;调试输出必须走标准错误&lt;/Text&gt;&#10;                &lt;Text style={{ fontSize: 15, color: '#546779' }}&gt;标准输出承担协议消息；混入普通文本会让宿主解析失败，报错还会指向别处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18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启动之后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屏幕不动不等于故障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2333625"/>
            <a:ext cx="400050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默认走</a:t>
            </a: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stdio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等宿主发请求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09600" y="32289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09600" y="3390900"/>
            <a:ext cx="4000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启动命令在示例说明里；正式连接时由宿主按配置启动，不需要手动常驻一个进程。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4991100" y="1581150"/>
            <a:ext cx="65913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5162550" y="17716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334000" y="1876425"/>
            <a:ext cx="6076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启动后没有自然语言输出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334000" y="2105025"/>
            <a:ext cx="6076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它在等待宿主发送协议请求，安静是正常状态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4991100" y="2686050"/>
            <a:ext cx="65913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5162550" y="2876550"/>
            <a:ext cx="38100" cy="6096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334000" y="2981325"/>
            <a:ext cx="6076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需要本地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HTTP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调试时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334000" y="3209925"/>
            <a:ext cx="6076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换成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streamable-http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传输并指定端口，本地监听地址仍不能供云端访问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4991100" y="3790950"/>
            <a:ext cx="65913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5162550" y="39814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334000" y="4086225"/>
            <a:ext cx="6076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由宿主负责启动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334000" y="4314825"/>
            <a:ext cx="6076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按配置里的命令与参数拉起进程，不靠人工手动运行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09600" y="4933950"/>
            <a:ext cx="10972800" cy="9144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800100" y="51244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028700" y="5191125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调试输出必须走标准错误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028700" y="5419725"/>
            <a:ext cx="1036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标准输出承担协议消息；混入普通文本会让宿主解析失败，报错还会指向别处。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27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02" name="" descr="&lt;Slide notes={`接通之后要做三个业务对照，它们分别测的是不同的东西。&#10;&#10;第一，查询 room_id 为 craft、日期为 2026-10-17，应该得到 10:00 到 10:30 已被占用，日期和 +08:00 的时区要原样保留，不能被悄悄改掉。&#10;&#10;第二，查询一个不存在的房间，应该返回可以诊断的错误。这里最容易出问题的是用空列表冒充空闲，看起来没报错，实际上把错误吞掉了。&#10;&#10;第三，提交一个与已有预约重叠的候选方案，校验应当失败并指出冲突。&#10;&#10;这三个步骤分别测正常数据、无效身份和业务规则。服务连接成功只完成了接入检查，还要确认宿主确实发现了工具、参数传对了、业务结果也读到了。SDK 版本与宿主支持的协议版本也建议一并记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4　接通之后的业务对照&lt;/Text&gt;&#10;            &lt;Text style={{ fontSize: 34, fontWeight: 'bold', color: '#20344B' }}&gt;三个对照，三种测法&lt;/Text&gt;&#10;        &lt;/Box&gt;&#10;    &lt;/Box&gt;&#10;&#10;    &lt;Box style={{ height: 540, flexDirection: 'column', justifyContent: 'center', gap: 16 }}&gt;&#10;&#10;        &lt;Box style={{ width: 1152, height: 124, background: '#F4F7FA', borderRadius: 10, padding: '0 20px', flexDirection: 'row', alignItems: 'center', gap: 16 }}&gt;&#10;            &lt;Box style={{ width: 56, height: 56, borderRadius: 10, background: '#276FBF', justifyContent: 'center', alignItems: 'center' }}&gt;&#10;                &lt;Text style={{ fontSize: 24, fontWeight: 'bold', color: '#FFFFFF' }}&gt;01&lt;/Text&gt;&#10;            &lt;/Box&gt;&#10;            &lt;Box style={{ width: 480, flexDirection: 'column', gap: 3 }}&gt;&#10;                &lt;Text style={{ fontSize: 18, fontWeight: 'bold', color: '#20344B' }}&gt;查真实日期的房间&lt;/Text&gt;&#10;                &lt;Text style={{ fontSize: 14, color: '#546779' }}&gt;测的是正常数据&lt;/Text&gt;&#10;            &lt;/Box&gt;&#10;            &lt;Box style={{ flex: 1 }}&gt;&#10;                &lt;Text style={{ fontSize: 15, color: '#546779' }}&gt;craft、2026-10-17 应得到 10:00–10:30 占用，日期与 +08:00 时区原样保留&lt;/Text&gt;&#10;            &lt;/Box&gt;&#10;            &lt;Box style={{ width: 150, height: 40, background: '#EDF4FC', borderRadius: 8, justifyContent: 'center', alignItems: 'center' }}&gt;&#10;                &lt;Text style={{ fontSize: 14, color: '#276FBF' }}&gt;核对区间&lt;/Text&gt;&#10;            &lt;/Box&gt;&#10;        &lt;/Box&gt;&#10;&#10;        &lt;Box style={{ width: 1152, height: 124, background: '#F4F7FA', borderRadius: 10, padding: '0 20px', flexDirection: 'row', alignItems: 'center', gap: 16 }}&gt;&#10;            &lt;Box style={{ width: 56, height: 56, borderRadius: 10, background: '#CB6B28', justifyContent: 'center', alignItems: 'center' }}&gt;&#10;                &lt;Text style={{ fontSize: 24, fontWeight: 'bold', color: '#FFFFFF' }}&gt;02&lt;/Text&gt;&#10;            &lt;/Box&gt;&#10;            &lt;Box style={{ width: 480, flexDirection: 'column', gap: 3 }}&gt;&#10;                &lt;Text style={{ fontSize: 18, fontWeight: 'bold', color: '#20344B' }}&gt;查不存在的房间&lt;/Text&gt;&#10;                &lt;Text style={{ fontSize: 14, color: '#546779' }}&gt;测的是无效身份&lt;/Text&gt;&#10;            &lt;/Box&gt;&#10;            &lt;Box style={{ flex: 1 }}&gt;&#10;                &lt;Text style={{ fontSize: 15, color: '#546779' }}&gt;应返回可诊断的错误，不能用空列表冒充空闲&lt;/Text&gt;&#10;            &lt;/Box&gt;&#10;            &lt;Box style={{ width: 150, height: 40, background: '#FFF4E6', borderRadius: 8, justifyContent: 'center', alignItems: 'center' }}&gt;&#10;                &lt;Text style={{ fontSize: 14, color: '#CB6B28' }}&gt;错误可诊断&lt;/Text&gt;&#10;            &lt;/Box&gt;&#10;        &lt;/Box&gt;&#10;&#10;        &lt;Box style={{ width: 1152, height: 124, background: '#F4F7FA', borderRadius: 10, padding: '0 20px', flexDirection: 'row', alignItems: 'center', gap: 16 }}&gt;&#10;            &lt;Box style={{ width: 56, height: 56, borderRadius: 10, background: '#26816B', justifyContent: 'center', alignItems: 'center' }}&gt;&#10;                &lt;Text style={{ fontSize: 24, fontWeight: 'bold', color: '#FFFFFF' }}&gt;03&lt;/Text&gt;&#10;            &lt;/Box&gt;&#10;            &lt;Box style={{ width: 480, flexDirection: 'column', gap: 3 }}&gt;&#10;                &lt;Text style={{ fontSize: 18, fontWeight: 'bold', color: '#20344B' }}&gt;提交重叠的候选方案&lt;/Text&gt;&#10;                &lt;Text style={{ fontSize: 14, color: '#546779' }}&gt;测的是业务规则&lt;/Text&gt;&#10;            &lt;/Box&gt;&#10;            &lt;Box style={{ flex: 1 }}&gt;&#10;                &lt;Text style={{ fontSize: 15, color: '#546779' }}&gt;与已有预约重叠的方案，校验应返回失败并说明冲突&lt;/Text&gt;&#10;            &lt;/Box&gt;&#10;            &lt;Box style={{ width: 150, height: 40, background: '#ECF7F2', borderRadius: 8, justifyContent: 'center', alignItems: 'center' }}&gt;&#10;                &lt;Text style={{ fontSize: 14, color: '#26816B' }}&gt;规则生效&lt;/Text&gt;&#10;            &lt;/Box&gt;&#10;        &lt;/Box&gt;&#10;&#10;        &lt;Box style={{ width: 1152, height: 92, background: '#ECF7F2', borderRadius: 8, padding: '0 20px', flexDirection: 'row', alignItems: 'center', gap: 16 }}&gt;&#10;            &lt;Box style={{ width: 4, height: 56, background: '#26816B' }} /&gt;&#10;            &lt;Box style={{ flex: 1, flexDirection: 'column', gap: 3 }}&gt;&#10;                &lt;Text style={{ fontSize: 16, fontWeight: 'bold', color: '#26816B' }}&gt;连接成功只是接入检查通过&lt;/Text&gt;&#10;                &lt;Text style={{ fontSize: 15, color: '#546779' }}&gt;还要确认宿主发现了工具、参数传对了、业务结果读到了；SDK 版本与协议版本一并记录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19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接通之后的业务对照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三个对照，三种测法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09600" y="1276350"/>
            <a:ext cx="1097280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800100" y="16002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23925" y="17335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485900" y="1666875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查真实日期的房间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485900" y="190500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测的是正常数据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210300" y="1695450"/>
            <a:ext cx="36004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craft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2026-10-17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应得到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10:00–10:30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占用，日期与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+08:00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时区原样保留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9963150" y="1676400"/>
            <a:ext cx="142875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0410825" y="1790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核对区间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09600" y="2609850"/>
            <a:ext cx="1097280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800100" y="29337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923925" y="30670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485900" y="3000375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查不存在的房间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485900" y="323850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测的是无效身份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210300" y="3114675"/>
            <a:ext cx="3600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应返回可诊断的错误，不能用空列表冒充空闲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9963150" y="3009900"/>
            <a:ext cx="1428750" cy="381000"/>
          </a:xfrm>
          <a:prstGeom prst="roundRect">
            <a:avLst>
              <a:gd name="adj" fmla="val 2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0344150" y="31242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错误可诊断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09600" y="3943350"/>
            <a:ext cx="1097280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800100" y="42672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23925" y="44005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485900" y="4333875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提交重叠的候选方案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485900" y="457200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测的是业务规则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6210300" y="4448175"/>
            <a:ext cx="3600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与已有预约重叠的方案，校验应返回失败并说明冲突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9963150" y="4343400"/>
            <a:ext cx="1428750" cy="38100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0410825" y="4457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规则生效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09600" y="5276850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800100" y="544830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990600" y="5524500"/>
            <a:ext cx="1040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连接成功只是接入检查通过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990600" y="5743575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还要确认宿主发现了工具、参数传对了、业务结果读到了；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SDK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版本与协议版本一并记录。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27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63" name="" descr="&lt;Slide notes={`在宿主里接同一个服务，配置文件是入口。&#10;&#10;WorkBuddy 里从插件到 MCP 服务器，再进配置，然后选一个适合教学用的配置范围。官方文档给了用户级和项目级两种：用户级的配置文件在家目录下，项目级放在项目目录里。这里用项目级，练习服务就不会跑到其他项目里去。&#10;&#10;配置有三个要点。第一，命令和参数要分开写，命令只写解释器，脚本路径放进参数数组。第二，路径里用正斜杠，避免反斜杠的转义问题。第三，路径要换成自己机器上的实际安装位置，不要照抄书里的示例。&#10;&#10;保存之后，还要在界面上核对连接状态和实际工具列表。这两项都对上了，才叫接上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6　在 WorkBuddy 中连接同一服务&lt;/Text&gt;&#10;            &lt;Text style={{ fontSize: 34, fontWeight: 'bold', color: '#20344B' }}&gt;命令与参数分开写&lt;/Text&gt;&#10;        &lt;/Box&gt;&#10;    &lt;/Box&gt;&#10;&#10;    &lt;Box style={{ height: 540, flexDirection: 'column', justifyContent: 'center', gap: 16 }}&gt;&#10;&#10;        &lt;Box style={{ flexDirection: 'row', justifyContent: 'center', gap: 40 }}&gt;&#10;&#10;            &lt;Box style={{ width: 620, height: 314, background: '#20344B', borderRadius: 10, padding: '18px 22px', flexDirection: 'column', gap: 6 }}&gt;&#10;                &lt;Text style={{ fontSize: 15, fontWeight: 'bold', color: '#FFFFFF' }}&gt;项目级配置　.workbuddy/mcp.json&lt;/Text&gt;&#10;                &lt;Text style={{ fontFamily: 'Consolas', fontSize: 14, color: '#FFFFFF', lineHeight: 1.55 }}&gt;{`{&#10;  &quot;mcpServers&quot;: {&#10;    &quot;qinghe-open-day&quot;: {&#10;      &quot;command&quot;: &quot;E:/…/.venv/Scripts/python.exe&quot;,&#10;      &quot;args&quot;: [&#10;        &quot;E:/…/examples/mcp_server.py&quot;&#10;      ]&#10;    }&#10;  }&#10;}`}&lt;/Text&gt;&#10;            &lt;/Box&gt;&#10;&#10;            &lt;Box style={{ width: 492, flexDirection: 'column', justifyContent: 'center', gap: 12 }}&gt;&#10;&#10;                &lt;Box style={{ width: 492, height: 92, background: '#F4F7FA', borderRadius: 8, padding: '0 16px', flexDirection: 'row', alignItems: 'center', gap: 14 }}&gt;&#10;                    &lt;Box style={{ width: 4, height: 56, background: '#276FBF' }} /&gt;&#10;                    &lt;Box style={{ flex: 1, flexDirection: 'column', gap: 3 }}&gt;&#10;                        &lt;Text style={{ fontSize: 16, fontWeight: 'bold', color: '#20344B' }}&gt;命令与参数分开&lt;/Text&gt;&#10;                        &lt;Text style={{ fontSize: 14, color: '#546779' }}&gt;command 只写解释器，脚本路径放进 args&lt;/Text&gt;&#10;                    &lt;/Box&gt;&#10;                &lt;/Box&gt;&#10;&#10;                &lt;Box style={{ width: 492, height: 92, background: '#F4F7FA', borderRadius: 8, padding: '0 16px', flexDirection: 'row', alignItems: 'center', gap: 14 }}&gt;&#10;                    &lt;Box style={{ width: 4, height: 56, background: '#276FBF' }} /&gt;&#10;                    &lt;Box style={{ flex: 1, flexDirection: 'column', gap: 3 }}&gt;&#10;                        &lt;Text style={{ fontSize: 16, fontWeight: 'bold', color: '#20344B' }}&gt;路径用正斜杠&lt;/Text&gt;&#10;                        &lt;Text style={{ fontSize: 14, color: '#546779' }}&gt;避免反斜杠在 JSON 中的转义问题&lt;/Text&gt;&#10;                    &lt;/Box&gt;&#10;                &lt;/Box&gt;&#10;&#10;                &lt;Box style={{ width: 492, height: 92, background: '#FFF4E6', borderRadius: 8, padding: '0 16px', flexDirection: 'row', alignItems: 'center', gap: 14 }}&gt;&#10;                    &lt;Box style={{ width: 4, height: 56, background: '#CB6B28' }} /&gt;&#10;                    &lt;Box style={{ flex: 1, flexDirection: 'column', gap: 3 }}&gt;&#10;                        &lt;Text style={{ fontSize: 16, fontWeight: 'bold', color: '#CB6B28' }}&gt;换成实际安装位置&lt;/Text&gt;&#10;                        &lt;Text style={{ fontSize: 14, color: '#546779' }}&gt;不要把示例路径原样照抄&lt;/Text&gt;&#10;                    &lt;/Box&gt;&#10;                &lt;/Box&gt;&#10;&#10;            &lt;/Box&gt;&#10;&#10;        &lt;/Box&gt;&#10;&#10;        &lt;Box style={{ width: 1152, height: 88, background: '#ECF7F2', borderRadius: 8, padding: '0 20px', flexDirection: 'row', alignItems: 'center', gap: 16 }}&gt;&#10;            &lt;Box style={{ width: 4, height: 52, background: '#26816B' }} /&gt;&#10;            &lt;Box style={{ flex: 1, flexDirection: 'column', gap: 3 }}&gt;&#10;                &lt;Text style={{ fontSize: 16, fontWeight: 'bold', color: '#26816B' }}&gt;选项目级，而不是用户级&lt;/Text&gt;&#10;                &lt;Text style={{ fontSize: 15, color: '#546779' }}&gt;练习服务只出现在这个项目里，不会出现在无关项目中；用户级配置放在家目录下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20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中连接同一服务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命令与参数分开写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609600" y="1724025"/>
            <a:ext cx="5905500" cy="2990850"/>
          </a:xfrm>
          <a:prstGeom prst="roundRect">
            <a:avLst>
              <a:gd name="adj" fmla="val 3185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19150" y="1895475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项目级配置　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.workbuddy/mcp.json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19150" y="2124075"/>
            <a:ext cx="5486400" cy="2486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</a:rPr>
              <a:t>{
  "mcpServers": {
    "qinghe-open-day": {
      "command": "E:/…/.venv/Scripts/python.exe",
      "args": [
        "E:/…/examples/mcp_server.py"
      ]
    }
  }
}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896100" y="1790700"/>
            <a:ext cx="46863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7048500" y="19621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219950" y="2038350"/>
            <a:ext cx="421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命令与参数分开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219950" y="225742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command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只写解释器，脚本路径放进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args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896100" y="2781300"/>
            <a:ext cx="46863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7048500" y="29527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7219950" y="3028950"/>
            <a:ext cx="421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路径用正斜杠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219950" y="324802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避免反斜杠在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中的转义问题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6896100" y="3771900"/>
            <a:ext cx="4686300" cy="876300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7048500" y="39433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7219950" y="4019550"/>
            <a:ext cx="421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换成实际安装位置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7219950" y="423862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不要把示例路径原样照抄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09600" y="4867275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800100" y="503872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990600" y="5095875"/>
            <a:ext cx="1040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选项目级，而不是用户级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990600" y="5314950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练习服务只出现在这个项目里，不会出现在无关项目中；用户级配置放在家目录下。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27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89" name="" descr="&lt;Slide notes={`配置保存之后，按顺序做三件事。&#10;&#10;先看连接状态和实际工具列表，确认宿主确实发现了那两个工具，而不是只显示连接成功。&#10;&#10;再用真实的参数查一次，查 craft 在 2026-10-17 的预约，核对返回的占用区间跟业务合同里说的一致。&#10;&#10;第三步再补上两个边界情况：不存在的房间，以及与已有预约冲突的候选方案。&#10;&#10;核对的时候要把证据留下来。如果界面并没有展示原始参数或结果，那就写清楚证据缺失，不要凭记忆去补一张工具卡片出来。&#10;&#10;连接失败时按顺序定位：解释器路径对不对、依赖装没装、服务能不能起来、协议版本对不对。这几项都没动过，就不要去改活动规则，也不要靠猜继续往下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6　保存之后怎么核对&lt;/Text&gt;&#10;            &lt;Text style={{ fontSize: 34, fontWeight: 'bold', color: '#20344B' }}&gt;按顺序核对三件事&lt;/Text&gt;&#10;        &lt;/Box&gt;&#10;    &lt;/Box&gt;&#10;&#10;    &lt;Box style={{ height: 540, flexDirection: 'row', alignItems: 'center', gap: 48 }}&gt;&#10;&#10;        &lt;Box style={{ width: 668, flexDirection: 'column', justifyContent: 'center', gap: 12 }}&gt;&#10;&#10;            &lt;Box style={{ width: 668, height: 124, background: '#F4F7FA', borderRadius: 10, padding: '0 18px', flexDirection: 'row', alignItems: 'center', gap: 14 }}&gt;&#10;                &lt;Box style={{ width: 44, height: 44, borderRadius: 8, background: '#276FBF', justifyContent: 'center', alignItems: 'center' }}&gt;&#10;                    &lt;Text style={{ fontSize: 18, fontWeight: 'bold', color: '#FFFFFF' }}&gt;01&lt;/Text&gt;&#10;                &lt;/Box&gt;&#10;                &lt;Box style={{ flex: 1, flexDirection: 'column', gap: 3 }}&gt;&#10;                    &lt;Text style={{ fontSize: 17, fontWeight: 'bold', color: '#20344B' }}&gt;连接状态与实际工具列表&lt;/Text&gt;&#10;                    &lt;Text style={{ fontSize: 15, color: '#546779' }}&gt;确认宿主发现了那两个工具，而不是只显示连接成功&lt;/Text&gt;&#10;                &lt;/Box&gt;&#10;            &lt;/Box&gt;&#10;&#10;            &lt;Box style={{ width: 668, height: 124, background: '#F4F7FA', borderRadius: 10, padding: '0 18px', flexDirection: 'row', alignItems: 'center', gap: 14 }}&gt;&#10;                &lt;Box style={{ width: 44, height: 44, borderRadius: 8, background: '#276FBF', justifyContent: 'center', alignItems: 'center' }}&gt;&#10;                    &lt;Text style={{ fontSize: 18, fontWeight: 'bold', color: '#FFFFFF' }}&gt;02&lt;/Text&gt;&#10;                &lt;/Box&gt;&#10;                &lt;Box style={{ flex: 1, flexDirection: 'column', gap: 3 }}&gt;&#10;                    &lt;Text style={{ fontSize: 17, fontWeight: 'bold', color: '#20344B' }}&gt;用真实参数查一次&lt;/Text&gt;&#10;                    &lt;Text style={{ fontSize: 15, color: '#546779' }}&gt;查 craft 在 2026-10-17 的预约，核对返回的占用区间&lt;/Text&gt;&#10;                &lt;/Box&gt;&#10;            &lt;/Box&gt;&#10;&#10;            &lt;Box style={{ width: 668, height: 124, background: '#ECF7F2', borderRadius: 10, padding: '0 18px', flexDirection: 'row', alignItems: 'center', gap: 14 }}&gt;&#10;                &lt;Box style={{ width: 44, height: 44, borderRadius: 8, background: '#26816B', justifyContent: 'center', alignItems: 'center' }}&gt;&#10;                    &lt;Text style={{ fontSize: 18, fontWeight: 'bold', color: '#FFFFFF' }}&gt;03&lt;/Text&gt;&#10;                &lt;/Box&gt;&#10;                &lt;Box style={{ flex: 1, flexDirection: 'column', gap: 3 }}&gt;&#10;                    &lt;Text style={{ fontSize: 17, fontWeight: 'bold', color: '#20344B' }}&gt;补测两个边界&lt;/Text&gt;&#10;                    &lt;Text style={{ fontSize: 15, color: '#546779' }}&gt;不存在的房间，以及与已有预约冲突的候选方案&lt;/Text&gt;&#10;                &lt;/Box&gt;&#10;            &lt;/Box&gt;&#10;&#10;        &lt;/Box&gt;&#10;&#10;        &lt;Box style={{ width: 436, flexDirection: 'column', justifyContent: 'center', gap: 12 }}&gt;&#10;&#10;            &lt;Box style={{ width: 436, height: 184, background: '#FFF4E6', borderRadius: 10, padding: '16px 20px', flexDirection: 'column', gap: 4 }}&gt;&#10;                &lt;Text style={{ fontSize: 17, fontWeight: 'bold', color: '#CB6B28' }}&gt;界面没显示原始参数或结果&lt;/Text&gt;&#10;                &lt;Text style={{ fontSize: 15, color: '#546779', lineHeight: 1.6 }}&gt;就记录证据缺失，不要凭印象补写工具卡片。&lt;/Text&gt;&#10;            &lt;/Box&gt;&#10;&#10;            &lt;Box style={{ width: 436, height: 184, background: '#F4F7FA', borderRadius: 10, padding: '16px 20px', flexDirection: 'column', gap: 4 }}&gt;&#10;                &lt;Text style={{ fontSize: 17, fontWeight: 'bold', color: '#20344B' }}&gt;连接失败的定位顺序&lt;/Text&gt;&#10;                &lt;Text style={{ fontSize: 15, color: '#546779', lineHeight: 1.6 }}&gt;解释器路径、依赖、服务启动、协议版本；不要改活动规则，也不要靠猜继续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2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保存之后怎么核对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按顺序核对三件事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09600" y="1828800"/>
            <a:ext cx="636270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781050" y="22098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85825" y="23145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333500" y="2219325"/>
            <a:ext cx="5467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连接状态与实际工具列表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333500" y="2447925"/>
            <a:ext cx="546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确认宿主发现了那两个工具，而不是只显示连接成功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09600" y="3124200"/>
            <a:ext cx="636270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781050" y="3505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85825" y="36099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333500" y="3514725"/>
            <a:ext cx="5467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用真实参数查一次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333500" y="3743325"/>
            <a:ext cx="546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craft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2026-10-17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的预约，核对返回的占用区间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4419600"/>
            <a:ext cx="6362700" cy="1181100"/>
          </a:xfrm>
          <a:prstGeom prst="roundRect">
            <a:avLst>
              <a:gd name="adj" fmla="val 80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781050" y="4800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85825" y="49053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333500" y="4810125"/>
            <a:ext cx="5467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补测两个边界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333500" y="5038725"/>
            <a:ext cx="546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不存在的房间，以及与已有预约冲突的候选方案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7429500" y="1905000"/>
            <a:ext cx="4152900" cy="1752600"/>
          </a:xfrm>
          <a:prstGeom prst="roundRect">
            <a:avLst>
              <a:gd name="adj" fmla="val 543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7620000" y="2057400"/>
            <a:ext cx="3771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界面没显示原始参数或结果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620000" y="2295525"/>
            <a:ext cx="3771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就记录证据缺失，不要凭印象补写工具卡片。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7429500" y="3771900"/>
            <a:ext cx="4152900" cy="1752600"/>
          </a:xfrm>
          <a:prstGeom prst="roundRect">
            <a:avLst>
              <a:gd name="adj" fmla="val 543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7620000" y="3924300"/>
            <a:ext cx="3771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连接失败的定位顺序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620000" y="4162425"/>
            <a:ext cx="3771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解释器路径、依赖、服务启动、协议版本；不要改活动规则，也不要靠猜继续。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27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17" name="" descr="&lt;Slide notes={`远程工具还要单独过一遍，因为它的变量更多。&#10;&#10;三个设置要分别核对：这次导入哪些工具，发送调用之前怎样批准，服务端允许这个身份做什么。这三件事互相独立，不是协议规定的固定时序。&#10;&#10;有一个地方特别容易误判：把审批改成从不询问，并不能修好认证、网络或业务合同上的错误。它只是让调用者预先接受了数据发送。&#10;&#10;最后用一个停用练习收尾。把服务停掉，再提出同一个查询任务，看表现对不对；恢复服务之后，比较原始返回和最终答案里的房间、日期和时间区间是否一致。&#10;&#10;还要想一个问题：只读的服务是不是就不需要控制读取范围了？答案是需要，只读也可能读到不该暴露的内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5　通过 OpenAI Responses 使用远程服务 · 2.6.7　本节练习&lt;/Text&gt;&#10;            &lt;Text style={{ fontSize: 34, fontWeight: 'bold', color: '#20344B' }}&gt;远程工具的独立检查&lt;/Text&gt;&#10;        &lt;/Box&gt;&#10;    &lt;/Box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CB6B28', justifyContent: 'center', alignItems: 'center' }}&gt;&#10;                &lt;Text style={{ fontSize: 28, fontWeight: 'bold', color: '#FFFFFF' }}&gt;04&lt;/Text&gt;&#10;            &lt;/Box&gt;&#10;            &lt;Text style={{ fontSize: 16, color: '#546779' }}&gt;2.6.5 · 2.6.7&lt;/Text&gt;&#10;        &lt;/Box&gt;&#10;&#10;        &lt;Text style={{ fontSize: 56, fontWeight: 'bold', color: '#20344B', lineHeight: 1.15 }}&gt;远程工具的独立检查&lt;/Text&gt;&#10;&#10;        &lt;Box style={{ width: 640, height: 4, background: '#CB6B28' }} /&gt;&#10;&#10;        &lt;Text style={{ fontSize: 19, color: '#546779', lineHeight: 1.7 }}&gt;工具范围、审批与服务身份分别核对，停用练习做收尾。&lt;/Text&gt;&#10;&#10;        &lt;Box style={{ marginTop: 8, flexDirection: 'row', justifyContent: 'center', gap: 16 }}&gt;&#10;            &lt;Box style={{ width: 300, height: 56, background: '#EDF4FC', borderRadius: 8, justifyContent: 'center', alignItems: 'center' }}&gt;&#10;                &lt;Text style={{ fontSize: 16, fontWeight: 'bold', color: '#276FBF' }}&gt;工具范围&lt;/Text&gt;&#10;            &lt;/Box&gt;&#10;            &lt;Box style={{ width: 300, height: 56, background: '#EDF4FC', borderRadius: 8, justifyContent: 'center', alignItems: 'center' }}&gt;&#10;                &lt;Text style={{ fontSize: 16, fontWeight: 'bold', color: '#276FBF' }}&gt;审批过程&lt;/Text&gt;&#10;            &lt;/Box&gt;&#10;            &lt;Box style={{ width: 300, height: 56, background: '#FFF4E6', borderRadius: 8, justifyContent: 'center', alignItems: 'center' }}&gt;&#10;                &lt;Text style={{ fontSize: 16, fontWeight: 'bold', color: '#CB6B28' }}&gt;服务身份与授权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2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57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通过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 Responses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使用远程服务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2.6.7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本节练习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57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远程工具的独立检查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09600" y="21907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714375" y="22955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295400" y="2362200"/>
            <a:ext cx="819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2.6.5 · 2.6.7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远程工具的独立检查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609600" y="3848100"/>
            <a:ext cx="60960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09600" y="40767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工具范围、审批与服务身份分别核对，停用练习做收尾。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1657350" y="471487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2781300" y="48863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工具范围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4667250" y="471487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5791200" y="48863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审批过程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7677150" y="471487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8572500" y="488632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服务身份与授权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27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36" name="" descr="&lt;Slide notes={`三个设置分别管一件事，谁也不能替代谁。&#10;&#10;allowed_tools 缩小的是本次导入的工具范围。它决定这次会话里模型能看到哪些工具，是一个收窄的动作，不是授权。&#10;&#10;require_approval 管理的是向服务发送请求之前的批准过程。设成每次询问，就是把发送这个动作交给调用者确认。&#10;&#10;服务身份与授权是服务端那一侧的事，它校验这个调用者到底可以做什么。这一项在客户端改配置改不出来，权限是由服务授予的。&#10;&#10;最常见的误解是：批准就等于授权。不是。批准只是调用者同意把这次请求发出去，它不会让一个本来没有权限的服务凭空获得权限。反过来，把审批调成从不询问，也不会修好认证失败、网络不通或者合同不符这一类问题。这三个维度必须分开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5　三个互相独立的设置&lt;/Text&gt;&#10;            &lt;Text style={{ fontSize: 34, fontWeight: 'bold', color: '#20344B' }}&gt;三个设置分别管一件事&lt;/Text&gt;&#10;        &lt;/Box&gt;&#10;    &lt;/Box&gt;&#10;&#10;    &lt;Box style={{ height: 540, flexDirection: 'column', justifyContent: 'center', gap: 16 }}&gt;&#10;&#10;        &lt;Box style={{ flexDirection: 'row', justifyContent: 'center', gap: 27 }}&gt;&#10;&#10;            &lt;Box style={{ width: 366, height: 320, background: '#F4F7FA', borderRadius: 10, padding: '18px 20px', flexDirection: 'column', gap: 10 }}&gt;&#10;                &lt;Text style={{ fontSize: 14, color: '#546779' }}&gt;本次导入&lt;/Text&gt;&#10;                &lt;Text style={{ fontSize: 19, fontWeight: 'bold', color: '#276FBF', fontFamily: 'Consolas' }}&gt;allowed_tools&lt;/Text&gt;&#10;                &lt;Box style={{ width: 326, height: 3, background: '#276FBF' }} /&gt;&#10;                &lt;Text style={{ fontSize: 15, color: '#546779', lineHeight: 1.65 }}&gt;缩小本次导入的工具范围，决定这次会话里模型能看到哪些工具。&lt;/Text&gt;&#10;                &lt;Box style={{ width: 326, height: 96, background: '#FFFFFF', borderRadius: 8, padding: '12px 14px', flexDirection: 'column', gap: 3 }}&gt;&#10;                    &lt;Text style={{ fontSize: 15, fontWeight: 'bold', color: '#20344B' }}&gt;它是收窄，不是授权&lt;/Text&gt;&#10;                    &lt;Text style={{ fontSize: 14, color: '#546779', lineHeight: 1.55 }}&gt;没有导入的工具不会被调用，但导入不等于有权限。&lt;/Text&gt;&#10;                &lt;/Box&gt;&#10;            &lt;/Box&gt;&#10;&#10;            &lt;Box style={{ width: 366, height: 320, background: '#F4F7FA', borderRadius: 10, padding: '18px 20px', flexDirection: 'column', gap: 10 }}&gt;&#10;                &lt;Text style={{ fontSize: 14, color: '#546779' }}&gt;发送之前&lt;/Text&gt;&#10;                &lt;Text style={{ fontSize: 19, fontWeight: 'bold', color: '#276FBF', fontFamily: 'Consolas' }}&gt;require_approval&lt;/Text&gt;&#10;                &lt;Box style={{ width: 326, height: 3, background: '#276FBF' }} /&gt;&#10;                &lt;Text style={{ fontSize: 15, color: '#546779', lineHeight: 1.65 }}&gt;管理向服务发送请求的批准过程，决定发送之前要不要先问一次。&lt;/Text&gt;&#10;                &lt;Box style={{ width: 326, height: 96, background: '#FFFFFF', borderRadius: 8, padding: '12px 14px', flexDirection: 'column', gap: 3 }}&gt;&#10;                    &lt;Text style={{ fontSize: 15, fontWeight: 'bold', color: '#20344B' }}&gt;设成每次询问&lt;/Text&gt;&#10;                    &lt;Text style={{ fontSize: 14, color: '#546779', lineHeight: 1.55 }}&gt;把发送这个动作交给调用者确认。&lt;/Text&gt;&#10;                &lt;/Box&gt;&#10;            &lt;/Box&gt;&#10;&#10;            &lt;Box style={{ width: 366, height: 320, background: '#FFF4E6', borderRadius: 10, padding: '18px 20px', flexDirection: 'column', gap: 10 }}&gt;&#10;                &lt;Text style={{ fontSize: 14, color: '#546779' }}&gt;服务端一侧&lt;/Text&gt;&#10;                &lt;Text style={{ fontSize: 19, fontWeight: 'bold', color: '#CB6B28' }}&gt;服务身份与授权&lt;/Text&gt;&#10;                &lt;Box style={{ width: 326, height: 3, background: '#CB6B28' }} /&gt;&#10;                &lt;Text style={{ fontSize: 15, color: '#546779', lineHeight: 1.65 }}&gt;校验这个调用者实际可以做什么，权限由服务授予。&lt;/Text&gt;&#10;                &lt;Box style={{ width: 326, height: 96, background: '#FFFFFF', borderRadius: 8, padding: '12px 14px', flexDirection: 'column', gap: 3 }}&gt;&#10;                    &lt;Text style={{ fontSize: 15, fontWeight: 'bold', color: '#CB6B28' }}&gt;改客户端配置改不出来&lt;/Text&gt;&#10;                    &lt;Text style={{ fontSize: 14, color: '#546779', lineHeight: 1.55 }}&gt;它不在客户端这一侧决定。&lt;/Text&gt;&#10;                &lt;/Box&gt;&#10;            &lt;/Box&gt;&#10;&#10;        &lt;/Box&gt;&#10;&#10;        &lt;Box style={{ width: 1152, height: 96, background: '#FFF4E6', borderRadius: 8, padding: '0 20px', flexDirection: 'row', alignItems: 'center', gap: 20 }}&gt;&#10;            &lt;Box style={{ width: 4, height: 56, background: '#CB6B28' }} /&gt;&#10;            &lt;Box style={{ flex: 1, flexDirection: 'column', gap: 3 }}&gt;&#10;                &lt;Text style={{ fontSize: 17, fontWeight: 'bold', color: '#CB6B28' }}&gt;批准不会扩展服务授予的权限&lt;/Text&gt;&#10;                &lt;Text style={{ fontSize: 15, color: '#546779' }}&gt;改成 never 也修不好认证、网络或合同错误；三个维度必须分开核对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2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三个互相独立的设置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三个设置分别管一件事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09600" y="1657350"/>
            <a:ext cx="3486150" cy="3048000"/>
          </a:xfrm>
          <a:prstGeom prst="roundRect">
            <a:avLst>
              <a:gd name="adj" fmla="val 31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800100" y="1828800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本次导入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00100" y="2085975"/>
            <a:ext cx="310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76FBF"/>
                </a:solidFill>
                <a:latin typeface="Consolas"/>
                <a:ea typeface="Consolas"/>
              </a:rPr>
              <a:t>allowed_tools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800100" y="2400300"/>
            <a:ext cx="310515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00100" y="2524125"/>
            <a:ext cx="3105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缩小本次导入的工具范围，决定这次会话里模型能看到哪些工具。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800100" y="3190875"/>
            <a:ext cx="31051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933450" y="3305175"/>
            <a:ext cx="2838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它是收窄，不是授权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933450" y="3505200"/>
            <a:ext cx="2838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没有导入的工具不会被调用，但导入不等于有权限。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4352925" y="1657350"/>
            <a:ext cx="3486150" cy="3048000"/>
          </a:xfrm>
          <a:prstGeom prst="roundRect">
            <a:avLst>
              <a:gd name="adj" fmla="val 31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543425" y="1828800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发送之前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4543425" y="2085975"/>
            <a:ext cx="310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76FBF"/>
                </a:solidFill>
                <a:latin typeface="Consolas"/>
                <a:ea typeface="Consolas"/>
              </a:rPr>
              <a:t>require_approval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4543425" y="2400300"/>
            <a:ext cx="310515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4543425" y="2524125"/>
            <a:ext cx="3105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管理向服务发送请求的批准过程，决定发送之前要不要先问一次。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4543425" y="3190875"/>
            <a:ext cx="31051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4676775" y="3305175"/>
            <a:ext cx="2838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设成每次询问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4676775" y="3505200"/>
            <a:ext cx="28384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把发送这个动作交给调用者确认。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8096250" y="1657350"/>
            <a:ext cx="3486150" cy="3048000"/>
          </a:xfrm>
          <a:prstGeom prst="roundRect">
            <a:avLst>
              <a:gd name="adj" fmla="val 312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8286750" y="1828800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服务端一侧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8286750" y="2085975"/>
            <a:ext cx="310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服务身份与授权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8286750" y="2400300"/>
            <a:ext cx="310515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286750" y="2524125"/>
            <a:ext cx="3105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校验这个调用者实际可以做什么，权限由服务授予。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8286750" y="3190875"/>
            <a:ext cx="31051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420100" y="3305175"/>
            <a:ext cx="2838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改客户端配置改不出来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8420100" y="3505200"/>
            <a:ext cx="28384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它不在客户端这一侧决定。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09600" y="4857750"/>
            <a:ext cx="10972800" cy="9144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6" name=""/>
          <p:cNvSpPr/>
          <p:nvPr/>
        </p:nvSpPr>
        <p:spPr>
          <a:xfrm rot="0" flipH="0" flipV="0">
            <a:off x="800100" y="50482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028700" y="5114925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批准不会扩展服务授予的权限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028700" y="5343525"/>
            <a:ext cx="1036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改成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never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也修不好认证、网络或合同错误；三个维度必须分开核对。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27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71" name="" descr="&lt;Slide notes={`这是远程接入的最小交互。运行之前要先有一个可访问的 MCP HTTPS 地址，OPENAI_MODEL、OPENAI_API_KEY 和 OPEN_DAY_MCP_URL 三个环境变量也要准备好。&#10;&#10;构造工具描述的时候，把工具范围限定在查询这一项，并且把审批设为每次询问。指令里明确写清楚：只查询教学预约，工具失败就说明失败，不要推测空闲时间。&#10;&#10;请求发出去之后，返回里可能出现审批请求项。要遍历输出，把这些审批项找出来，逐条打印服务标签、工具名和参数，让人看清楚将要发送什么，然后才决定批准还是拒绝。&#10;&#10;决定完之后，把审批结果连同审批请求的编号一起送回去，并带上上一次响应的编号继续这一段对话。&#10;&#10;如果一直是审批请求，说明没有推进。练习里给了一个上限，达到上限就保存记录并停下来，不要无限往下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5　远程接入的最小交互&lt;/Text&gt;&#10;            &lt;Text style={{ fontSize: 34, fontWeight: 'bold', color: '#20344B' }}&gt;审批项与后续请求怎样接上&lt;/Text&gt;&#10;        &lt;/Box&gt;&#10;    &lt;/Box&gt;&#10;&#10;    &lt;Box style={{ height: 540, flexDirection: 'column', justifyContent: 'center', gap: 16 }}&gt;&#10;&#10;        &lt;Box style={{ width: 1152, height: 374, background: '#20344B', borderRadius: 10, padding: '18px 22px', flexDirection: 'column', gap: 6 }}&gt;&#10;            &lt;Text style={{ fontSize: 15, fontWeight: 'bold', color: '#FFFFFF' }}&gt;远程工具配置与审批续接&lt;/Text&gt;&#10;            &lt;Text style={{ fontFamily: 'Consolas', fontSize: 14, color: '#FFFFFF', lineHeight: 1.5 }}&gt;{`tools = [{&#10;    &quot;type&quot;: &quot;mcp&quot;,&#10;    &quot;server_label&quot;: &quot;qinghe&quot;,&#10;    &quot;server_url&quot;: os.environ[&quot;OPEN_DAY_MCP_URL&quot;],&#10;    &quot;allowed_tools&quot;: [&quot;get_room_availability&quot;],&#10;    &quot;require_approval&quot;: &quot;always&quot;,&#10;}]&#10;# 保留审批返回项，再针对真实请求 ID 作出决定&#10;approvals = [x for x in response.output&#10;             if x.type == &quot;mcp_approval_request&quot;]&#10;answers.append({&quot;type&quot;: &quot;mcp_approval_response&quot;,&#10;                &quot;approval_request_id&quot;: item.id,&#10;                &quot;approve&quot;: approved})`}&lt;/Text&gt;&#10;        &lt;/Box&gt;&#10;&#10;        &lt;Box style={{ width: 1152, height: 126, background: '#F4F7FA', borderRadius: 10, padding: '0 20px', flexDirection: 'row', alignItems: 'center', gap: 16 }}&gt;&#10;            &lt;Box style={{ width: 4, height: 88, background: '#CB6B28' }} /&gt;&#10;            &lt;Box style={{ flex: 1, flexDirection: 'column', gap: 4 }}&gt;&#10;                &lt;Text style={{ fontSize: 17, fontWeight: 'bold', color: '#CB6B28' }}&gt;审批项 → 关联后续请求，是唯一表示真实时序的一条&lt;/Text&gt;&#10;                &lt;Text style={{ fontSize: 15, color: '#546779', lineHeight: 1.6 }}&gt;把审批结果连同 approval_request_id 回传，并带上 previous_response_id 继续这一段对话。&lt;/Text&gt;&#10;            &lt;/Box&gt;&#10;            &lt;Box style={{ width: 300, height: 88, background: '#FFF4E6', borderRadius: 8, flexDirection: 'column', justifyContent: 'center', alignItems: 'center', gap: 2 }}&gt;&#10;                &lt;Text style={{ fontSize: 20, fontWeight: 'bold', color: '#CB6B28' }}&gt;上限 4 轮&lt;/Text&gt;&#10;                &lt;Text style={{ fontSize: 14, color: '#546779' }}&gt;达到上限就保存记录并停止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2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远程接入的最小交互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审批项与后续请求怎样接上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609600" y="1257300"/>
            <a:ext cx="10972800" cy="3562350"/>
          </a:xfrm>
          <a:prstGeom prst="roundRect">
            <a:avLst>
              <a:gd name="adj" fmla="val 2674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819150" y="1428750"/>
            <a:ext cx="1055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远程工具配置与审批续接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19150" y="1657350"/>
            <a:ext cx="10553700" cy="31242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</a:rPr>
              <a:t xml:space="preserve">tools = [{
    "type": "mcp",
    "server_label": "qinghe",
    "server_url": os.environ["OPEN_DAY_MCP_URL"],
    "allowed_tools": ["get_room_availability"],
    "require_approval": "always",
}]
# </a:t>
            </a:r>
            <a:r>
              <a:rPr lang="zh-CN" sz="1050">
                <a:solidFill>
                  <a:srgbClr val="FFFFFF"/>
                </a:solidFill>
                <a:latin typeface="Consolas"/>
                <a:ea typeface="Consolas"/>
              </a:rPr>
              <a:t>保留审批返回项，再针对真实请求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</a:rPr>
              <a:t xml:space="preserve"> ID </a:t>
            </a:r>
            <a:r>
              <a:rPr lang="zh-CN" sz="1050">
                <a:solidFill>
                  <a:srgbClr val="FFFFFF"/>
                </a:solidFill>
                <a:latin typeface="Consolas"/>
                <a:ea typeface="Consolas"/>
              </a:rPr>
              <a:t xml:space="preserve">作出决定
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</a:rPr>
              <a:t>approvals = [x for x in response.output
             if x.type == "mcp_approval_request"]
answers.append({"type": "mcp_approval_response",
                "approval_request_id": item.id,
                "approve": approved})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609600" y="4972050"/>
            <a:ext cx="10972800" cy="1200150"/>
          </a:xfrm>
          <a:prstGeom prst="roundRect">
            <a:avLst>
              <a:gd name="adj" fmla="val 793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0" name=""/>
          <p:cNvSpPr/>
          <p:nvPr/>
        </p:nvSpPr>
        <p:spPr>
          <a:xfrm rot="0" flipH="0" flipV="0">
            <a:off x="800100" y="5153025"/>
            <a:ext cx="38100" cy="838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990600" y="5314950"/>
            <a:ext cx="7391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审批项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关联后续请求，是唯一表示真实时序的一条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990600" y="5553075"/>
            <a:ext cx="7391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把审批结果连同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approval_request_id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回传，并带上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previous_response_id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继续这一段对话。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8534400" y="5153025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9563100" y="5372100"/>
            <a:ext cx="809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上限</a:t>
            </a: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轮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9163050" y="561975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达到上限就保存记录并停止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27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88" name="" descr="&lt;Slide notes={`怎么判断远程工具这次调用到底成没成，要看你手里有什么证据。&#10;&#10;第一，看 mcp_list_tools 有没有把目标工具导入进来。如果目标工具根本不在列表里，后面的调用就不会发生。&#10;&#10;第二，看 mcp_call 的参数和结果对不对。参数是不是你要求的那几个，返回的时间区间和业务合同里说的一致不一致。&#10;&#10;最需要警惕的是第三类情况：连接出错、工具执行出错，或者模型只是用文字解释了一通。这些时候响应对象里可能照样有一段读起来很通顺的文字。只凭这段文字判断预约查询成功，是要出错的。&#10;&#10;还有一点，把审批设成从不询问，意思是调用者预先接受了相应的数据发送，它不是一种通用的排错手段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5　核对远程调用的证据&lt;/Text&gt;&#10;            &lt;Text style={{ fontSize: 34, fontWeight: 'bold', color: '#20344B' }}&gt;判断成功要看哪三处&lt;/Text&gt;&#10;        &lt;/Box&gt;&#10;    &lt;/Box&gt;&#10;&#10;    &lt;Box style={{ height: 540, flexDirection: 'column', justifyContent: 'center', gap: 16 }}&gt;&#10;&#10;        &lt;Box style={{ width: 1152, height: 116, background: '#F4F7FA', borderRadius: 10, padding: '0 20px', flexDirection: 'row', alignItems: 'center', gap: 16 }}&gt;&#10;            &lt;Box style={{ width: 4, height: 72, background: '#276FBF' }} /&gt;&#10;            &lt;Box style={{ width: 300, flexDirection: 'column', gap: 2 }}&gt;&#10;                &lt;Text style={{ fontSize: 17, fontWeight: 'bold', color: '#20344B', fontFamily: 'Consolas' }}&gt;mcp_list_tools&lt;/Text&gt;&#10;                &lt;Text style={{ fontSize: 14, color: '#546779' }}&gt;导入了哪些工具&lt;/Text&gt;&#10;            &lt;/Box&gt;&#10;            &lt;Box style={{ flex: 1 }}&gt;&#10;                &lt;Text style={{ fontSize: 15, color: '#546779' }}&gt;目标工具不在列表里，后面的调用根本不会发生&lt;/Text&gt;&#10;            &lt;/Box&gt;&#10;            &lt;Box style={{ width: 140, height: 40, background: '#EDF4FC', borderRadius: 8, justifyContent: 'center', alignItems: 'center' }}&gt;&#10;                &lt;Text style={{ fontSize: 14, color: '#276FBF' }}&gt;先看清单&lt;/Text&gt;&#10;            &lt;/Box&gt;&#10;        &lt;/Box&gt;&#10;&#10;        &lt;Box style={{ width: 1152, height: 116, background: '#F4F7FA', borderRadius: 10, padding: '0 20px', flexDirection: 'row', alignItems: 'center', gap: 16 }}&gt;&#10;            &lt;Box style={{ width: 4, height: 72, background: '#26816B' }} /&gt;&#10;            &lt;Box style={{ width: 300, flexDirection: 'column', gap: 2 }}&gt;&#10;                &lt;Text style={{ fontSize: 17, fontWeight: 'bold', color: '#20344B', fontFamily: 'Consolas' }}&gt;mcp_call&lt;/Text&gt;&#10;                &lt;Text style={{ fontSize: 14, color: '#546779' }}&gt;参数与结果&lt;/Text&gt;&#10;            &lt;/Box&gt;&#10;            &lt;Box style={{ flex: 1 }}&gt;&#10;                &lt;Text style={{ fontSize: 15, color: '#546779' }}&gt;参数是不是要求的那几个，返回区间与业务合同是否一致&lt;/Text&gt;&#10;            &lt;/Box&gt;&#10;            &lt;Box style={{ width: 140, height: 40, background: '#ECF7F2', borderRadius: 8, justifyContent: 'center', alignItems: 'center' }}&gt;&#10;                &lt;Text style={{ fontSize: 14, color: '#26816B' }}&gt;再看参数&lt;/Text&gt;&#10;            &lt;/Box&gt;&#10;        &lt;/Box&gt;&#10;&#10;        &lt;Box style={{ width: 1152, height: 116, background: '#FFF4E6', borderRadius: 10, padding: '0 20px', flexDirection: 'row', alignItems: 'center', gap: 16 }}&gt;&#10;            &lt;Box style={{ width: 4, height: 72, background: '#CB6B28' }} /&gt;&#10;            &lt;Box style={{ width: 300, flexDirection: 'column', gap: 2 }}&gt;&#10;                &lt;Text style={{ fontSize: 17, fontWeight: 'bold', color: '#CB6B28' }}&gt;仅有文字解释&lt;/Text&gt;&#10;                &lt;Text style={{ fontSize: 14, color: '#546779' }}&gt;不能当作成功证据&lt;/Text&gt;&#10;            &lt;/Box&gt;&#10;            &lt;Box style={{ flex: 1 }}&gt;&#10;                &lt;Text style={{ fontSize: 15, color: '#546779' }}&gt;连接错误、执行错误或只有一段通顺文字时，不能只凭它判断查询成功&lt;/Text&gt;&#10;            &lt;/Box&gt;&#10;            &lt;Box style={{ width: 140, height: 40, background: '#FFFFFF', borderRadius: 8, justifyContent: 'center', alignItems: 'center' }}&gt;&#10;                &lt;Text style={{ fontSize: 14, color: '#CB6B28' }}&gt;别只看文字&lt;/Text&gt;&#10;            &lt;/Box&gt;&#10;        &lt;/Box&gt;&#10;&#10;        &lt;Box style={{ width: 1152, height: 88, background: '#F4F7FA', borderRadius: 8, padding: '0 20px', flexDirection: 'row', alignItems: 'center', gap: 16 }}&gt;&#10;            &lt;Box style={{ width: 4, height: 52, background: '#20344B' }} /&gt;&#10;            &lt;Box style={{ flex: 1, flexDirection: 'column', gap: 3 }}&gt;&#10;                &lt;Text style={{ fontSize: 16, fontWeight: 'bold', color: '#20344B' }}&gt;审批设为 never 不代表调用成功&lt;/Text&gt;&#10;                &lt;Text style={{ fontSize: 15, color: '#546779' }}&gt;它意味着调用者预先接受了数据发送，不是通用的排错手段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2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核对远程调用的证据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判断成功要看哪三处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09600" y="140970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800100" y="161925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990600" y="17716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Consolas"/>
                <a:ea typeface="Consolas"/>
              </a:rPr>
              <a:t>mcp_list_tools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990600" y="19907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导入了哪些工具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4000500" y="1876425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目标工具不在列表里，后面的调用根本不会发生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10058400" y="1771650"/>
            <a:ext cx="133350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10458450" y="18859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先看清单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609600" y="266700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1" name=""/>
          <p:cNvSpPr/>
          <p:nvPr/>
        </p:nvSpPr>
        <p:spPr>
          <a:xfrm rot="0" flipH="0" flipV="0">
            <a:off x="800100" y="2876550"/>
            <a:ext cx="38100" cy="685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990600" y="30289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Consolas"/>
                <a:ea typeface="Consolas"/>
              </a:rPr>
              <a:t>mcp_call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990600" y="32480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参数与结果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4000500" y="3133725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参数是不是要求的那几个，返回区间与业务合同是否一致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10058400" y="3028950"/>
            <a:ext cx="1333500" cy="38100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0458450" y="31432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再看参数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609600" y="392430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8" name=""/>
          <p:cNvSpPr/>
          <p:nvPr/>
        </p:nvSpPr>
        <p:spPr>
          <a:xfrm rot="0" flipH="0" flipV="0">
            <a:off x="800100" y="4133850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990600" y="42862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仅有文字解释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990600" y="45053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不能当作成功证据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4000500" y="4391025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连接错误、执行错误或只有一段通顺文字时，不能只凭它判断查询成功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10058400" y="4286250"/>
            <a:ext cx="1333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0391775" y="44005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别只看文字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609600" y="518160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800100" y="5353050"/>
            <a:ext cx="38100" cy="4953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990600" y="5410200"/>
            <a:ext cx="1040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审批设为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never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不代表调用成功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990600" y="5629275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它意味着调用者预先接受了数据发送，不是通用的排错手段。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27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20" name="" descr="&lt;Slide notes={`这个练习测的是能力不可用时的表现。&#10;&#10;把 MCP 服务器停用，再提出同一个查询任务。合格的表现是：说清楚现在这项能力不可用，把待查询的项保留下来，而不是给一个编出来的答案。&#10;&#10;有一种做法是不合格的：凭上一轮记录，声称自己已经重新查询过了。前后两轮的数字可能完全一样，但性质不同，一个是拿到了数据，一个是复述了记忆。&#10;&#10;恢复服务之后，再核对一次。把原始返回和最终答案里提到的房间、日期、时间区间逐项比对，看是不是一致。&#10;&#10;关于只读服务还有一个常见的问题：既然从不写数据，是不是就不用管它的读取范围了？答案仍然是需要。只读服务也可能读出来并返回不该暴露的资料。接入真实业务时，身份和读取权限由服务和宿主来实现，不能指望一段提示词自己保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6.7　本节练习&lt;/Text&gt;&#10;            &lt;Text style={{ fontSize: 34, fontWeight: 'bold', color: '#20344B' }}&gt;停用服务，再问同一个问题&lt;/Text&gt;&#10;        &lt;/Box&gt;&#10;    &lt;/Box&gt;&#10;&#10;    &lt;Box style={{ height: 540, flexDirection: 'row', alignItems: 'center', gap: 48 }}&gt;&#10;&#10;        &lt;Box style={{ width: 622, flexDirection: 'column', justifyContent: 'center', gap: 14 }}&gt;&#10;&#10;            &lt;Text style={{ fontSize: 20, fontWeight: 'bold', color: '#276FBF' }}&gt;练习步骤&lt;/Text&gt;&#10;&#10;            &lt;Box style={{ width: 622, height: 92, background: '#F4F7FA', borderRadius: 10, padding: '0 18px', flexDirection: 'row', alignItems: 'center', gap: 14 }}&gt;&#10;                &lt;Box style={{ width: 40, height: 40, borderRadius: 8, background: '#276FBF', justifyContent: 'center', alignItems: 'center' }}&gt;&#10;                    &lt;Text style={{ fontSize: 16, fontWeight: 'bold', color: '#FFFFFF' }}&gt;1&lt;/Text&gt;&#10;                &lt;/Box&gt;&#10;                &lt;Box style={{ flex: 1, flexDirection: 'column', gap: 2 }}&gt;&#10;                    &lt;Text style={{ fontSize: 16, fontWeight: 'bold', color: '#20344B' }}&gt;停用 MCP 服务器&lt;/Text&gt;&#10;                    &lt;Text style={{ fontSize: 14, color: '#546779' }}&gt;在宿主里把这项服务停掉&lt;/Text&gt;&#10;                &lt;/Box&gt;&#10;            &lt;/Box&gt;&#10;&#10;            &lt;Box style={{ width: 622, height: 92, background: '#F4F7FA', borderRadius: 10, padding: '0 18px', flexDirection: 'row', alignItems: 'center', gap: 14 }}&gt;&#10;                &lt;Box style={{ width: 40, height: 40, borderRadius: 8, background: '#276FBF', justifyContent: 'center', alignItems: 'center' }}&gt;&#10;                    &lt;Text style={{ fontSize: 16, fontWeight: 'bold', color: '#FFFFFF' }}&gt;2&lt;/Text&gt;&#10;                &lt;/Box&gt;&#10;                &lt;Box style={{ flex: 1, flexDirection: 'column', gap: 2 }}&gt;&#10;                    &lt;Text style={{ fontSize: 16, fontWeight: 'bold', color: '#20344B' }}&gt;提出同一个查询任务&lt;/Text&gt;&#10;                    &lt;Text style={{ fontSize: 14, color: '#546779' }}&gt;与上一轮完全相同的任务描述&lt;/Text&gt;&#10;                &lt;/Box&gt;&#10;            &lt;/Box&gt;&#10;&#10;            &lt;Box style={{ width: 622, height: 92, background: '#ECF7F2', borderRadius: 10, padding: '0 18px', flexDirection: 'row', alignItems: 'center', gap: 14 }}&gt;&#10;                &lt;Box style={{ width: 40, height: 40, borderRadius: 8, background: '#26816B', justifyContent: 'center', alignItems: 'center' }}&gt;&#10;                    &lt;Text style={{ fontSize: 16, fontWeight: 'bold', color: '#FFFFFF' }}&gt;3&lt;/Text&gt;&#10;                &lt;/Box&gt;&#10;                &lt;Box style={{ flex: 1, flexDirection: 'column', gap: 2 }}&gt;&#10;                    &lt;Text style={{ fontSize: 16, fontWeight: 'bold', color: '#20344B' }}&gt;恢复服务后再比对&lt;/Text&gt;&#10;                    &lt;Text style={{ fontSize: 14, color: '#546779' }}&gt;房间、日期、时间区间与原始返回是否一致&lt;/Text&gt;&#10;                &lt;/Box&gt;&#10;            &lt;/Box&gt;&#10;&#10;        &lt;/Box&gt;&#10;&#10;        &lt;Box style={{ width: 482, flexDirection: 'column', justifyContent: 'center', gap: 14 }}&gt;&#10;&#10;            &lt;Box style={{ width: 482, height: 150, background: '#ECF7F2', borderRadius: 10, padding: '16px 20px', flexDirection: 'column', gap: 4 }}&gt;&#10;                &lt;Text style={{ fontSize: 17, fontWeight: 'bold', color: '#26816B' }}&gt;合格的表现&lt;/Text&gt;&#10;                &lt;Text style={{ fontSize: 15, color: '#546779', lineHeight: 1.6 }}&gt;说明能力不可用，保留待查询项，不编造答案。&lt;/Text&gt;&#10;            &lt;/Box&gt;&#10;&#10;            &lt;Box style={{ width: 482, height: 150, background: '#FFF4E6', borderRadius: 10, padding: '16px 20px', flexDirection: 'column', gap: 4 }}&gt;&#10;                &lt;Text style={{ fontSize: 17, fontWeight: 'bold', color: '#CB6B28' }}&gt;不合格的表现&lt;/Text&gt;&#10;                &lt;Text style={{ fontSize: 15, color: '#546779', lineHeight: 1.6 }}&gt;凭上一轮记录声称已重新查询；数字一样也不等于查过。&lt;/Text&gt;&#10;            &lt;/Box&gt;&#10;&#10;            &lt;Box style={{ width: 482, height: 152, background: '#F4F7FA', borderRadius: 10, padding: '16px 20px', flexDirection: 'column', gap: 4 }}&gt;&#10;                &lt;Text style={{ fontSize: 17, fontWeight: 'bold', color: '#20344B' }}&gt;只读服务也要控制读取范围&lt;/Text&gt;&#10;                &lt;Text style={{ fontSize: 15, color: '#546779', lineHeight: 1.6 }}&gt;身份与读取权限由服务和宿主实现，不能交给提示词保证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2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本节练习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停用服务，再问同一个问题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609600" y="2085975"/>
            <a:ext cx="5924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练习步骤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609600" y="2447925"/>
            <a:ext cx="592455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781050" y="26955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923925" y="27908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1295400" y="270510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停用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服务器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295400" y="2914650"/>
            <a:ext cx="506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在宿主里把这项服务停掉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609600" y="3457575"/>
            <a:ext cx="592455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2" name=""/>
          <p:cNvSpPr/>
          <p:nvPr/>
        </p:nvSpPr>
        <p:spPr>
          <a:xfrm rot="0" flipH="0" flipV="0">
            <a:off x="781050" y="37052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23925" y="38004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295400" y="371475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提出同一个查询任务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295400" y="3924300"/>
            <a:ext cx="506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与上一轮完全相同的任务描述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09600" y="4467225"/>
            <a:ext cx="592455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781050" y="47148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923925" y="48101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295400" y="472440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恢复服务后再比对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295400" y="4933950"/>
            <a:ext cx="506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房间、日期、时间区间与原始返回是否一致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6991350" y="1428750"/>
            <a:ext cx="459105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7181850" y="1581150"/>
            <a:ext cx="421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合格的表现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181850" y="1819275"/>
            <a:ext cx="4210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说明能力不可用，保留待查询项，不编造答案。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6991350" y="2990850"/>
            <a:ext cx="459105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181850" y="3143250"/>
            <a:ext cx="421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不合格的表现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181850" y="3381375"/>
            <a:ext cx="4210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凭上一轮记录声称已重新查询；数字一样也不等于查过。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6991350" y="4552950"/>
            <a:ext cx="4591050" cy="1447800"/>
          </a:xfrm>
          <a:prstGeom prst="roundRect">
            <a:avLst>
              <a:gd name="adj" fmla="val 657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7181850" y="4705350"/>
            <a:ext cx="421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只读服务也要控制读取范围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181850" y="4943475"/>
            <a:ext cx="4210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身份与读取权限由服务和宿主实现，不能交给提示词保证。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27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552" name="" descr="&lt;Slide notes={`这一节讲完，留下三个问题，用到任何工具接入上都可以问。&#10;&#10;第一，它拿到了什么资料。材料来自哪里、覆盖到什么范围，决定了答案的上限。&#10;&#10;第二，它能调用什么工具。工具的清单、参数和返回结果，是判断一次调用成没成的依据。&#10;&#10;第三，谁来检查结果。工具返回不等于任务完成，业务规则有没有满足，要有独立的一步去核对。&#10;&#10;MCP 把连接这一段统一了，好处是可以把同一个能力接进不同的宿主，不必每次都重写对接代码。但它统一的只是连接方式。业务规则还是业务的事，权限还是服务的事，验收还是我们自己的事。`} style={{ width: 1280, height: 720, background: '#FFFFFF', flexDirection: 'column', padding: '20px 64px' }}&gt;&#10;&#10;    &lt;Box style={{ height: 100, flexDirection: 'row', alignItems: 'center', gap: 12 }}&gt;&#10;        &lt;Box style={{ width: 4, height: 20, background: '#276FBF' }} /&gt;&#10;        &lt;Text style={{ fontSize: 15, color: '#546779' }}&gt;本节收束　·　2.6　MCP：让工具以共同的方式接入应用&lt;/Text&gt;&#10;    &lt;/Box&gt;&#10;&#10;    &lt;Box style={{ height: 540, flexDirection: 'column', justifyContent: 'center', gap: 16 }}&gt;&#10;&#10;        &lt;Text style={{ fontSize: 56, fontWeight: 'bold', color: '#20344B', lineHeight: 1.15 }}&gt;记住三个反问&lt;/Text&gt;&#10;&#10;        &lt;Box style={{ width: 640, height: 4, background: '#276FBF' }} /&gt;&#10;&#10;        &lt;Text style={{ fontSize: 19, color: '#546779', lineHeight: 1.7 }}&gt;换任何一个工具接入，都可以先问这三句。&lt;/Text&gt;&#10;&#10;        &lt;Box style={{ flexDirection: 'row', justifyContent: 'center', gap: 20, marginTop: 8 }}&gt;&#10;&#10;            &lt;Box style={{ width: 370, height: 180, background: '#EDF4FC', borderRadius: 10, padding: '18px 20px', flexDirection: 'column', gap: 6 }}&gt;&#10;                &lt;Text style={{ fontSize: 14, color: '#546779' }}&gt;第一问&lt;/Text&gt;&#10;                &lt;Text style={{ fontSize: 19, fontWeight: 'bold', color: '#276FBF' }}&gt;它拿到了什么资料&lt;/Text&gt;&#10;                &lt;Text style={{ fontSize: 15, color: '#546779', lineHeight: 1.6 }}&gt;材料来自哪里、覆盖到什么范围，决定答案的上限。&lt;/Text&gt;&#10;            &lt;/Box&gt;&#10;&#10;            &lt;Box style={{ width: 370, height: 180, background: '#ECF7F2', borderRadius: 10, padding: '18px 20px', flexDirection: 'column', gap: 6 }}&gt;&#10;                &lt;Text style={{ fontSize: 14, color: '#546779' }}&gt;第二问&lt;/Text&gt;&#10;                &lt;Text style={{ fontSize: 19, fontWeight: 'bold', color: '#26816B' }}&gt;它能调用什么工具&lt;/Text&gt;&#10;                &lt;Text style={{ fontSize: 15, color: '#546779', lineHeight: 1.6 }}&gt;工具清单、参数与返回结果，是判断调用成没成的依据。&lt;/Text&gt;&#10;            &lt;/Box&gt;&#10;&#10;            &lt;Box style={{ width: 370, height: 180, background: '#FFF4E6', borderRadius: 10, padding: '18px 20px', flexDirection: 'column', gap: 6 }}&gt;&#10;                &lt;Text style={{ fontSize: 14, color: '#546779' }}&gt;第三问&lt;/Text&gt;&#10;                &lt;Text style={{ fontSize: 19, fontWeight: 'bold', color: '#CB6B28' }}&gt;谁来检查结果&lt;/Text&gt;&#10;                &lt;Text style={{ fontSize: 15, color: '#546779', lineHeight: 1.6 }}&gt;工具返回不等于任务完成；业务规则是否满足要独立核对。&lt;/Text&gt;&#10;            &lt;/Box&gt;&#10;&#10;        &lt;/Box&gt;&#10;&#10;        &lt;Box style={{ width: 1152, height: 88, background: '#F4F7FA', borderRadius: 8, padding: '0 20px', flexDirection: 'row', alignItems: 'center', gap: 16 }}&gt;&#10;            &lt;Box style={{ width: 4, height: 52, background: '#20344B' }} /&gt;&#10;            &lt;Box style={{ flex: 1, flexDirection: 'column', gap: 3 }}&gt;&#10;                &lt;Text style={{ fontSize: 16, fontWeight: 'bold', color: '#20344B' }}&gt;MCP 统一的是连接方式&lt;/Text&gt;&#10;                &lt;Text style={{ fontSize: 15, color: '#546779' }}&gt;业务规则还是业务的事，权限还是服务的事，验收还是我们自己的事。&lt;/Text&gt;&#10;            &lt;/Box&gt;&#10;            &lt;Box style={{ width: 160, height: 52, background: '#FFFFFF', borderRadius: 8, justifyContent: 'center', alignItems: 'center' }}&gt;&#10;                &lt;Text style={{ fontSize: 14, color: '#546779' }}&gt;2.6　本节完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6　MCP：让工具以共同的方式接入应用&lt;/Text&gt;&#10;        &lt;Text style={{ fontSize: 14, color: '#546779' }}&gt;2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4" name=""/>
          <p:cNvSpPr/>
          <p:nvPr/>
        </p:nvSpPr>
        <p:spPr>
          <a:xfrm rot="0" flipH="0" flipV="0">
            <a:off x="609600" y="571500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本节收束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记住三个反问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09600" y="24193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09600" y="26098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换任何一个工具接入，都可以先问这三句。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19125" y="3209925"/>
            <a:ext cx="3524250" cy="1714500"/>
          </a:xfrm>
          <a:prstGeom prst="roundRect">
            <a:avLst>
              <a:gd name="adj" fmla="val 55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809625" y="338137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第一问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09625" y="3600450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它拿到了什么资料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09625" y="3876675"/>
            <a:ext cx="3143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材料来自哪里、覆盖到什么范围，决定答案的上限。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4333875" y="3209925"/>
            <a:ext cx="3524250" cy="1714500"/>
          </a:xfrm>
          <a:prstGeom prst="roundRect">
            <a:avLst>
              <a:gd name="adj" fmla="val 55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4524375" y="338137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第二问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4524375" y="3600450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它能调用什么工具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4524375" y="3876675"/>
            <a:ext cx="3143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工具清单、参数与返回结果，是判断调用成没成的依据。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8048625" y="3209925"/>
            <a:ext cx="3524250" cy="1714500"/>
          </a:xfrm>
          <a:prstGeom prst="roundRect">
            <a:avLst>
              <a:gd name="adj" fmla="val 55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8239125" y="338137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第三问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8239125" y="3600450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谁来检查结果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8239125" y="3876675"/>
            <a:ext cx="3143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工具返回不等于任务完成；业务规则是否满足要独立核对。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609600" y="5076825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800100" y="5248275"/>
            <a:ext cx="38100" cy="4953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990600" y="5305425"/>
            <a:ext cx="872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统一的是连接方式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990600" y="5524500"/>
            <a:ext cx="872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业务规则还是业务的事，权限还是服务的事，验收还是我们自己的事。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9867900" y="5248275"/>
            <a:ext cx="1524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0267950" y="541972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本节完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：让工具以共同的方式接入应用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27 / 27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2026-09-29T03:39:26Z</dcterms:created>
  <dcterms:modified xsi:type="dcterms:W3CDTF">2026-09-29T03:39:26Z</dcterms:modified>
</cp:coreProperties>
</file>