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4" Type="http://schemas.openxmlformats.org/officeDocument/2006/relationships/slide" Target="slides/slide4.xml" /><Relationship Id="rId11" Type="http://schemas.openxmlformats.org/officeDocument/2006/relationships/slide" Target="slides/slide11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7" Type="http://schemas.openxmlformats.org/officeDocument/2006/relationships/tableStyles" Target="tableStyle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8" Type="http://schemas.openxmlformats.org/officeDocument/2006/relationships/viewProps" Target="viewProps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我们这一节要说清一件事：凡是规则已经写明确的部分，就不要再交给模型去猜。容量、时长、时间重叠，这些都能逐条判断，交给一个确定性的程序去做，结果才可复现。</a:t>
            </a:r>
          </a:p>
          <a:p>
            <a:r>
              <a:rPr lang="zh-CN" dirty="0"/>
              <a:t>同一条校验命令，可以回答三个不同的问题。运行它需要哪一段程序、以哪个目录为起点、参数是什么，这是输入；跑完之后，主要结果写在标准输出，诊断信息写在标准错误，退出码记录这次检查到底通过了没有，这是结果。</a:t>
            </a:r>
          </a:p>
          <a:p>
            <a:r>
              <a:rPr lang="zh-CN" dirty="0"/>
              <a:t>青禾开放日的排期正好是这种任务：规则写在材料里，所以能写成程序。模型更适合做另外两件事——把候选组织出来，以及在出错时理解错误、解释该怎么改。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这一节有六个知识块，全都围绕同一条校验命令展开。</a:t>
            </a:r>
          </a:p>
          <a:p>
            <a:r>
              <a:rPr lang="zh-CN" dirty="0"/>
              <a:t>前两块先把命令本身讲清楚：一条命令由参数、工作目录与环境、标准输出、标准错误和退出码共同构成一份合同；而时间重叠之所以适合程序判断，是因为活动占用是半开区间，重叠有确定的判定条件。</a:t>
            </a:r>
          </a:p>
          <a:p>
            <a:r>
              <a:rPr lang="zh-CN" dirty="0"/>
              <a:t>中间两块讲做法：先手工把三次运行跑通、留下可信基线，再把命令包成一个只接受白名单输入名称的受控函数，交给模型调用。</a:t>
            </a:r>
          </a:p>
          <a:p>
            <a:r>
              <a:rPr lang="zh-CN" dirty="0"/>
              <a:t>最后两块讲位置与取证：原生 Shell 可以跑在托管容器里，也可以跑在本地；在教学工作区里执行时，要核对实际命令、退出码和报告文件。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一条命令看起来只是一行字，但它其实是一份合同。</a:t>
            </a:r>
          </a:p>
          <a:p>
            <a:r>
              <a:rPr lang="zh-CN" dirty="0"/>
              <a:t>我发出请求的时候要交代清楚三件事：运行哪一段程序、带上哪些参数；以哪个目录为起点，依赖和变量从哪里来；以及允许它跑多久。这三样决定了进程能不能正确地启动。</a:t>
            </a:r>
          </a:p>
          <a:p>
            <a:r>
              <a:rPr lang="zh-CN" dirty="0"/>
              <a:t>进程跑完之后，同样有三路信息回来。标准输出装主要结果，比如校验报告；标准错误装诊断信息，比如文件读不到；退出码则是一个状态标记，说明这次检查通过、不合格，还是输入本身有问题。</a:t>
            </a:r>
          </a:p>
          <a:p>
            <a:r>
              <a:rPr lang="zh-CN" dirty="0"/>
              <a:t>把这份合同记牢，后面判断「到底哪一步出了问题」才有依据。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一条校验命令，把三样输入合成一次执行。程序与参数决定检查哪个文件；工作目录和环境决定去哪里找依赖、读哪些变量；时间边界决定它最多能跑多久。</a:t>
            </a:r>
          </a:p>
          <a:p>
            <a:r>
              <a:rPr lang="zh-CN" dirty="0"/>
              <a:t>进程本身只做一件事：执行已经指定的那段程序。它不解释业务规则，也不判断方案好不好。</a:t>
            </a:r>
          </a:p>
          <a:p>
            <a:r>
              <a:rPr lang="zh-CN" dirty="0"/>
              <a:t>跑完之后分三路输出。标准输出装主要结果，也就是校验报告；标准错误装诊断信息，比如文件读不到、JSON 解析失败。退出码是第三种信息，它用三个数字概括这次检查的结论：0 通过，1 方案不合格，2 输入本身有问题。</a:t>
            </a:r>
          </a:p>
          <a:p>
            <a:r>
              <a:rPr lang="zh-CN" dirty="0"/>
              <a:t>要特别注意，超时是执行失败，由外层执行器报告，不能把它伪装成校验通过，也不能塞进某个业务退出码里。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调用这条命令的时候，有六项信息需要一起记下来，否则后面复现不了。</a:t>
            </a:r>
          </a:p>
          <a:p>
            <a:r>
              <a:rPr lang="zh-CN" dirty="0"/>
              <a:t>工作目录决定相对路径从哪里开始解析，本练习固定在本章的 examples 目录。参数是程序真正收到的那一份，包括脚本名、输入文件，还有 --output 后面的输出路径。标准输出是主要结果通道，我们约定它写校验报告；标准错误专门装诊断信息，比如文件读不到或者 JSON 解析失败。</a:t>
            </a:r>
          </a:p>
          <a:p>
            <a:r>
              <a:rPr lang="zh-CN" dirty="0"/>
              <a:t>退出码是进程结束时的状态标记，本教材只定义三个值。超时不是退出码，它由外层执行器设置，指的是允许进程运行的最长时间。</a:t>
            </a:r>
          </a:p>
          <a:p>
            <a:r>
              <a:rPr lang="zh-CN" dirty="0"/>
              <a:t>把这六项记齐，一次运行才算留下了证据，后面的对照才有东西可比。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退出码只用一位数字，但它是这条命令最重要的结论。</a:t>
            </a:r>
          </a:p>
          <a:p>
            <a:r>
              <a:rPr lang="zh-CN" dirty="0"/>
              <a:t>本书的校验器约定：0 表示规则检查全部通过；1 表示方案本身不合格，比如容量不够或者时间重叠；2 表示输入处理出错，文件读不到、JSON 格式不对都属于这一类。</a:t>
            </a:r>
          </a:p>
          <a:p>
            <a:r>
              <a:rPr lang="zh-CN" dirty="0"/>
              <a:t>这三个数字是这本教材给这个程序定的合同，不是所有命令行程序的通用语义。别的工具可能用别的数字表示别的意思，甚至用负数。</a:t>
            </a:r>
          </a:p>
          <a:p>
            <a:r>
              <a:rPr lang="zh-CN" dirty="0"/>
              <a:t>还有一条纪律：调用者要同时检查退出码和报告。有标准输出不等于成功，退出码是 0 也只说明规则检查通过了，不代表方案就是组织者想要的那个。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时间这条规则之所以能完全交给程序，是因为它已经被写成了精确的形式。</a:t>
            </a:r>
          </a:p>
          <a:p>
            <a:r>
              <a:rPr lang="zh-CN" dirty="0"/>
              <a:t>我们约定活动占用是 [开始, 结束) 这样的半开区间：包含开始时刻，不包含结束时刻。两个区间 [a, b) 和 [c, d) 算不算重叠，只看一个条件——a 小于 d，并且 c 小于 b。</a:t>
            </a:r>
          </a:p>
          <a:p>
            <a:r>
              <a:rPr lang="zh-CN" dirty="0"/>
              <a:t>这个写法带来两个好处。第一，判断是确定的，同样的输入永远得到同样的结论，不会出现「看情况」。第二，边界是明确的：前一件事 10:00 结束，后一件事 10:00 开始，这两件事不算重叠。</a:t>
            </a:r>
          </a:p>
          <a:p>
            <a:r>
              <a:rPr lang="zh-CN" dirty="0"/>
              <a:t>后面所有的冲突检查，都建立在这一条约定上。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手作室的已有预约是 10:00 到 10:30。现在有两份候选，都安排在这个房间里。</a:t>
            </a:r>
          </a:p>
          <a:p>
            <a:r>
              <a:rPr lang="zh-CN" dirty="0"/>
              <a:t>第一份从 09:00 到 10:00。它和已有预约在 10:00 这个点上首尾相接。按半开区间，第一份不包含 10:00，已有预约包含 10:00，所以两者不重叠，这份候选在时间规则上通过。</a:t>
            </a:r>
          </a:p>
          <a:p>
            <a:r>
              <a:rPr lang="zh-CN" dirty="0"/>
              <a:t>第二份从 09:30 到 10:30。它有一段落在已有预约里面，相交的部分是 10:00 到 10:30，所以判定为重叠，不合格。</a:t>
            </a:r>
          </a:p>
          <a:p>
            <a:r>
              <a:rPr lang="zh-CN" dirty="0"/>
              <a:t>这里有一个很容易犯的错：只看开始时间是否相同。这两份候选的开始时间分别是 09:00 和 09:30，都和 10:00 不一样。如果只比开始时间，第二份冲突就会被整个漏掉。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时间不冲突，只是通过的必要条件之一，不是全部。</a:t>
            </a:r>
          </a:p>
          <a:p>
            <a:r>
              <a:rPr lang="zh-CN" dirty="0"/>
              <a:t>在检查重叠之前，还要过几道关：日期必须是 2026 年 10 月 17 日，时区是 Asia/Shanghai，开放窗口是 09:00 到 12:00；所有时间要写成带 +08:00 偏移量的 ISO 8601 字符串；开始时间必须早于结束时间，精确到整分钟。</a:t>
            </a:r>
          </a:p>
          <a:p>
            <a:r>
              <a:rPr lang="zh-CN" dirty="0"/>
              <a:t>再往后是完整性：每项活动恰好安排一次，人数、时长和材料要和 requests.csv 一致，房间必须在允许列表里。如果方案里干脆少了手作活动，它同样不合格——不是因为冲突，而是因为该做的事没做。</a:t>
            </a:r>
          </a:p>
          <a:p>
            <a:r>
              <a:rPr lang="zh-CN" dirty="0"/>
              <a:t>还有一条边界：校验器只判断已经形式化的条件，它不替组织者挑选最好的方案。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在把命令交给模型之前，我要先自己把它跑通三次。</a:t>
            </a:r>
          </a:p>
          <a:p>
            <a:r>
              <a:rPr lang="zh-CN" dirty="0"/>
              <a:t>第一次用正确的方案，看它是不是真的返回通过。第二次用错误方案，看它是不是真的指出问题。第三次故意给一个不存在的文件名，看它是不是能把输入错误和方案不合格区分开。</a:t>
            </a:r>
          </a:p>
          <a:p>
            <a:r>
              <a:rPr lang="zh-CN" dirty="0"/>
              <a:t>这三次加起来，才说明这条命令是「活的」：它既会通过，也会拒绝，还会报输入错误。如果只跑一次成功案例，我无法判断它是真的检查了规则，还是无论给什么都返回 0。</a:t>
            </a:r>
          </a:p>
          <a:p>
            <a:r>
              <a:rPr lang="zh-CN" dirty="0"/>
              <a:t>顺序很重要。手工基线在自己手里建立起来，后面模型执行的结果才有参照。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同一条命令，我们让它跑三次，每次换一个输入。</a:t>
            </a:r>
          </a:p>
          <a:p>
            <a:r>
              <a:rPr lang="zh-CN" dirty="0"/>
              <a:t>第一次用人工构造的正确方案，期望退出码是 0，报告写到 output/validation-report.json。第二次用示例目录里提供的错误方案，期望退出码是 1，报告写到 invalid-report.json。第三次故意给一个不存在的文件名，期望退出码是 2，错误信息出现在标准错误里。</a:t>
            </a:r>
          </a:p>
          <a:p>
            <a:r>
              <a:rPr lang="zh-CN" dirty="0"/>
              <a:t>三次结果都要留下来，不要用同一个文件覆盖之后就丢掉失败记录。失败记录才是判断「程序有没有真的在工作」的证据。</a:t>
            </a:r>
          </a:p>
          <a:p>
            <a:r>
              <a:rPr lang="zh-CN" dirty="0"/>
              <a:t>这三步做完，手里就有了一条可信的基线：同样一条命令，什么输入应该得到什么结论，我心里有数。基线没有，重跑就没有参照。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再具体看两个错法，它们指向的是两条不同的规则。</a:t>
            </a:r>
          </a:p>
          <a:p>
            <a:r>
              <a:rPr lang="zh-CN" dirty="0"/>
              <a:t>第一个：把候选副本里的手作活动改成 10:00 到 11:00，其他字段保持完整。它满足六十分钟的时长要求，看起来没问题，但是它和 10:00 到 10:30 的已有预约相交，应该由时间重叠规则指出。</a:t>
            </a:r>
          </a:p>
          <a:p>
            <a:r>
              <a:rPr lang="zh-CN" dirty="0"/>
              <a:t>第二个：把人数改成十三。手作室的容量是十二，所以这里多出一个容量问题，应该由容量规则指出。</a:t>
            </a:r>
          </a:p>
          <a:p>
            <a:r>
              <a:rPr lang="zh-CN" dirty="0"/>
              <a:t>这两个错误必须分别被对应规则点出来，而不是笼统地说一句「方案不合理」。含糊的结论解决不了问题，我也没法知道该改哪里。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这一步能建立可信的执行基线，反过来说，基线没有，重跑就没有意义。</a:t>
            </a:r>
          </a:p>
          <a:p>
            <a:r>
              <a:rPr lang="zh-CN" dirty="0"/>
              <a:t>如果我自己手工运行都找不到文件，那么让模型重复执行同一条命令，也不会解决问题。原因很简单：问题不在谁执行，而在路径、环境或者参数本身有问题。</a:t>
            </a:r>
          </a:p>
          <a:p>
            <a:r>
              <a:rPr lang="zh-CN" dirty="0"/>
              <a:t>所以顺序是：先确认工作目录是不是本章的 examples，相对路径是不是从这里开始解析；再确认解释器可用、依赖装好、编码是 UTF-8；最后确认输入文件和 --output 后面的输出路径确实存在、写得出。</a:t>
            </a:r>
          </a:p>
          <a:p>
            <a:r>
              <a:rPr lang="zh-CN" dirty="0"/>
              <a:t>这三样都对了，再把可用的 CLI 暴露给模型。到那时候，模型交付的失败才是关于方案的失败，而不是关于环境的失败。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走到这里，命令在自己手里已经跑得通了。接下来的问题是怎么把它交出去，又不把整台机器交出去。</a:t>
            </a:r>
          </a:p>
          <a:p>
            <a:r>
              <a:rPr lang="zh-CN" dirty="0"/>
              <a:t>模型不应该有拼接任意命令的能力。它能做的，是决定这一次要检查哪个输入——是参考方案还是我提供的候选方案。至于用什么程序、什么参数、在哪个目录运行，由应用自己决定。</a:t>
            </a:r>
          </a:p>
          <a:p>
            <a:r>
              <a:rPr lang="zh-CN" dirty="0"/>
              <a:t>这就是受控包装：把选择权留给模型，把执行权留在应用。调用链沿用 2.5 节已经建立的 Function Calling 回路，不需要新的机制。</a:t>
            </a:r>
          </a:p>
          <a:p>
            <a:r>
              <a:rPr lang="zh-CN" dirty="0"/>
              <a:t>这样做还有一个好处，边界很清楚。哪些输入允许、输出保留多长、最多跑多久，全部写在应用里，可以逐条检查。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受控函数只有四步，每一步都在缩小模型能影响的范围。</a:t>
            </a:r>
          </a:p>
          <a:p>
            <a:r>
              <a:rPr lang="zh-CN" dirty="0"/>
              <a:t>第一步定义工具 run_schedule_check，它只接受允许的输入名称。第二步做白名单映射：reference 指向参考方案，candidate 指向我提供的候选方案，名字之外的输入一概不认。</a:t>
            </a:r>
          </a:p>
          <a:p>
            <a:r>
              <a:rPr lang="zh-CN" dirty="0"/>
              <a:t>第三步才是真正的执行。应用用参数列表启动本机 Python，写死了解释器、UTF-8 模式、脚本路径和输入文件，shell 设为 False。第四步把退出码、标准输出、标准错误作为 function_call_output 交回模型。</a:t>
            </a:r>
          </a:p>
          <a:p>
            <a:r>
              <a:rPr lang="zh-CN" dirty="0"/>
              <a:t>整条回路沿用 2.5 节的 Function Calling，模型没有拼接任意命令的能力。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执行器有四条边界，每一条都对应一种容易被忽略的失败。</a:t>
            </a:r>
          </a:p>
          <a:p>
            <a:r>
              <a:rPr lang="zh-CN" dirty="0"/>
              <a:t>shell=False 加上参数列表，避免 Shell 再去解释参数里的特殊字符。check=False 是有意为之：方案不合格时返回的退出码要保留下来，让调用者自己去判断，而不是让程序提前抛异常。超时是执行失败，绝对不能写成「未发现冲突」，这两句话的意思完全不同。</a:t>
            </a:r>
          </a:p>
          <a:p>
            <a:r>
              <a:rPr lang="zh-CN" dirty="0"/>
              <a:t>capture_output 只是在进程结束前把输出收起来，它不构成沙箱。如果允许运行任意程序，或者输出可能很大，还需要流式限额和进程隔离。</a:t>
            </a:r>
          </a:p>
          <a:p>
            <a:r>
              <a:rPr lang="zh-CN" dirty="0"/>
              <a:t>这四条写下来，受控函数才算真的受控。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候选方案一旦改动，就必须重新校验，不能让旧报告继续挂着。</a:t>
            </a:r>
          </a:p>
          <a:p>
            <a:r>
              <a:rPr lang="zh-CN" dirty="0"/>
              <a:t>交付的时候要记录三件事：输入摘要，说明这次校验用的是哪个文件、关键字段是什么；执行时间，说明是什么时候跑的；脚本版本，说明用的校验器是哪一版。有了这三样，报告才能对应到具体的这一次文件上。</a:t>
            </a:r>
          </a:p>
          <a:p>
            <a:r>
              <a:rPr lang="zh-CN" dirty="0"/>
              <a:t>原因很直接：报告只证明它所针对的那份输入。候选改了，规则改了，旧报告都不再成立。</a:t>
            </a:r>
          </a:p>
          <a:p>
            <a:r>
              <a:rPr lang="zh-CN" dirty="0"/>
              <a:t>如果组织者确实修改了业务规则，要单独记录新规则和修改原因，再生成对应的新报告，而不是把旧结论悄悄沿用下去。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同一个工具字段，可以落在两种完全不同的执行位置上。</a:t>
            </a:r>
          </a:p>
          <a:p>
            <a:r>
              <a:rPr lang="zh-CN" dirty="0"/>
              <a:t>托管模式把命令交给服务方的容器，读者不用操心运行环境，但也拿不到自己机器上的文件。本地模式把命令交回给调用者的执行环境，能碰到本机磁盘，代价是应用要自己完成请求、执行和回传的完整回路。</a:t>
            </a:r>
          </a:p>
          <a:p>
            <a:r>
              <a:rPr lang="zh-CN" dirty="0"/>
              <a:t>这两种位置不是前后两个阶段，而是两种选择。选了哪一种，就要按那一种去核对证据。</a:t>
            </a:r>
          </a:p>
          <a:p>
            <a:r>
              <a:rPr lang="zh-CN" dirty="0"/>
              <a:t>方向还是那句话：先看清命令在哪台机器上跑，再谈它跑出了什么结果。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OpenAI Responses 也提供了原生的 shell 工具，它有两种执行位置。</a:t>
            </a:r>
          </a:p>
          <a:p>
            <a:r>
              <a:rPr lang="zh-CN" dirty="0"/>
              <a:t>托管模式在 OpenAI 管理的容器里执行。这个容器不是读者的 Windows 电脑，读不到本机 E 盘上的文件。要在里面校验青禾的材料，得先把脚本和输入送进那个环境。</a:t>
            </a:r>
          </a:p>
          <a:p>
            <a:r>
              <a:rPr lang="zh-CN" dirty="0"/>
              <a:t>本地模式由调用者的执行环境处理请求。应用需要接收 shell_call，实际执行命令，再用匹配的 call_id 把 shell_call_output 送回去。返回项包含标准输出、标准错误，以及退出或超时结果。</a:t>
            </a:r>
          </a:p>
          <a:p>
            <a:r>
              <a:rPr lang="zh-CN" dirty="0"/>
              <a:t>要特别注意一点：它是 Responses 的工具能力，不能把相同的字段直接套到 Chat Completions 请求里。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看一段最短的托管调用。请求里指定模型，声明一个 shell 工具，环境类型是 container_auto，输入是一道算术题：二十四加十再加十六。托管执行返回五十。</a:t>
            </a:r>
          </a:p>
          <a:p>
            <a:r>
              <a:rPr lang="zh-CN" dirty="0"/>
              <a:t>这段代码只完成了云端那一半。如果把环境类型改成 local，应用就必须接收 shell_call，自己把命令跑出来，再以匹配的 call_id 送回 shell_call_output。只发一次请求、打印一段文字，并没有完成本地 Shell 回路。</a:t>
            </a:r>
          </a:p>
          <a:p>
            <a:r>
              <a:rPr lang="zh-CN" dirty="0"/>
              <a:t>对本节的固定任务来说，前面的受控函数包装器已经足够。只有需要更广泛的文件和命令处理时，才值得实现原生本地 Shell 的执行器。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最后回到教学场景：把同一条校验命令放进 WorkBuddy 的工作区里运行。</a:t>
            </a:r>
          </a:p>
          <a:p>
            <a:r>
              <a:rPr lang="zh-CN" dirty="0"/>
              <a:t>我要做的事情和手工运行时一样——确认文件在不在、跑校验器、看报告、解释退出码。区别在于这次是给客户端下任务，所以要把要求说完整，包括「保留失败报告」和「不要为了通过而修改规则」。</a:t>
            </a:r>
          </a:p>
          <a:p>
            <a:r>
              <a:rPr lang="zh-CN" dirty="0"/>
              <a:t>这和前面讲的受控包装器是一回事：命令由环境执行，结果回到我手里，由我来判断。</a:t>
            </a:r>
          </a:p>
          <a:p>
            <a:r>
              <a:rPr lang="zh-CN" dirty="0"/>
              <a:t>只要记住一条，看绿色文字、看任务结束、看一句「已检查」，都不是证据。证据是实际的命令、退出码和文件产物。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在教学工作区里，我习惯把要求一次写清楚，避免它替我简化。</a:t>
            </a:r>
          </a:p>
          <a:p>
            <a:r>
              <a:rPr lang="zh-CN" dirty="0"/>
              <a:t>先确认当前目录里有校验脚本和参考方案；运行校验器，把报告写到指定的输出文件；展示实际命令、执行结果和报告内容，并解释退出码。然后校验我提供的候选方案，把失败报告保留下来。</a:t>
            </a:r>
          </a:p>
          <a:p>
            <a:r>
              <a:rPr lang="zh-CN" dirty="0"/>
              <a:t>有一条要明确写进去：不要为了通过而修改规则或校验脚本。否则我拿到的不是检查结果，而是一个被改过的题目。</a:t>
            </a:r>
          </a:p>
          <a:p>
            <a:r>
              <a:rPr lang="zh-CN" dirty="0"/>
              <a:t>查看结果时，要核对实际命令步骤和文件产物。界面没有显示退出码，就让受控包装器显式输出进程结果。不要从绿色文字、任务结束或者一句「已检查」去推断成功。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最后做三个候选，检验我是不是真的理解了规则。</a:t>
            </a:r>
          </a:p>
          <a:p>
            <a:r>
              <a:rPr lang="zh-CN" dirty="0"/>
              <a:t>第一个恰好在 10:00 结束，第二个恰好在 10:30 开始。按半开区间，它们和手作室已有的预约都不重叠，在时间规则上都能通过。但通过时间规则不等于通过全部规则，它们仍然要分别满足时长、活动窗口和其他条件。</a:t>
            </a:r>
          </a:p>
          <a:p>
            <a:r>
              <a:rPr lang="zh-CN" dirty="0"/>
              <a:t>第三个候选 JSON 格式合法、结构完整，但是漏掉了一项活动。时间规则看不出任何问题，它依然不合格——因为该做的事没有做。</a:t>
            </a:r>
          </a:p>
          <a:p>
            <a:r>
              <a:rPr lang="zh-CN" dirty="0"/>
              <a:t>最后回答一个问题：为什么不能让模型修改校验器，直到自己的方案通过？因为校验器代表本轮已经确认的业务规则。改变规则，意味着改变评测问题。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这一节要把三件事带走。</a:t>
            </a:r>
          </a:p>
          <a:p>
            <a:r>
              <a:rPr lang="zh-CN" dirty="0"/>
              <a:t>第一，命令是一份合同。参数、工作目录与环境、标准输出、标准错误和退出码，是一次执行的全部信息。调用者要同时看退出码和报告，不能看到有标准输出就判断成功。</a:t>
            </a:r>
          </a:p>
          <a:p>
            <a:r>
              <a:rPr lang="zh-CN" dirty="0"/>
              <a:t>第二，规则一旦写明确，就交给程序去判定。半开区间和重叠条件可以逐条判，结果可复现；校验器只判断已经形式化的条件，不替组织者选最好的方案。</a:t>
            </a:r>
          </a:p>
          <a:p>
            <a:r>
              <a:rPr lang="zh-CN" dirty="0"/>
              <a:t>第三，不要让模型修改校验器。校验器代表本轮确认的业务规则，改规则就是改评测问题。下一节讲 Skill，把方法、资料、脚本和停止条件组织成可复用的包。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这一节要说清一件事：凡是规则已经写明确的部分，就不要再交给模型去猜。容量、时长、时间重叠，这些都能逐条判断，交给一个确定性的程序去做，结果才可复现。&#10;&#10;同一条校验命令，可以回答三个不同的问题。运行它需要哪一段程序、以哪个目录为起点、参数是什么，这是输入；跑完之后，主要结果写在标准输出，诊断信息写在标准错误，退出码记录这次检查到底通过了没有，这是结果。&#10;&#10;青禾开放日的排期正好是这种任务：规则写在材料里，所以能写成程序。模型更适合做另外两件事——把候选组织出来，以及在出错时理解错误、解释该怎么改。`} style={{ width: 1280, height: 720, background: '#FFFFFF', flexDirection: 'column', padding: '20px 64px' }}&gt;&#10;&#10;    &lt;Box style={{ height: 100, flexDirection: 'row', alignItems: 'center', gap: 12 }}&gt;&#10;        &lt;Box style={{ width: 4, height: 20, background: '#276FBF' }} /&gt;&#10;        &lt;Text style={{ fontSize: 15, color: '#546779' }}&gt;第二章　从对话到智能体　·　2.7 CLI 与 Shell&lt;/Text&gt;&#10;    &lt;/Box&gt;&#10;&#10;    &lt;Box style={{ height: 540, flexDirection: 'row', alignItems: 'center', gap: 40 }}&gt;&#10;&#10;        &lt;Box style={{ width: 600, flexDirection: 'column', justifyContent: 'center', gap: 16 }}&gt;&#10;            &lt;Text style={{ fontSize: 52, fontWeight: 'bold', color: '#20344B', lineHeight: 1.2 }}&gt;把明确规则交给程序执行&lt;/Text&gt;&#10;            &lt;Box style={{ width: 72, height: 4, background: '#276FBF' }} /&gt;&#10;            &lt;Text style={{ fontSize: 18, color: '#546779', lineHeight: 1.7, width: 580 }}&gt;容量、时长与重叠都有明确规则，适合由程序逐条判定。模型组织候选、理解错误并解释修改；独立校验器提供一致的检查结果。&lt;/Text&gt;&#10;            &lt;Box style={{ flexDirection: 'row', gap: 14, marginTop: 6 }}&gt;&#10;                &lt;Box style={{ width: 176, height: 44, background: '#EDF4FC', borderRadius: 8, justifyContent: 'center', alignItems: 'center' }}&gt;&#10;                    &lt;Text style={{ fontSize: 15, color: '#276FBF' }}&gt;输入与环境&lt;/Text&gt;&#10;                &lt;/Box&gt;&#10;                &lt;Box style={{ width: 176, height: 44, background: '#ECF7F2', borderRadius: 8, justifyContent: 'center', alignItems: 'center' }}&gt;&#10;                    &lt;Text style={{ fontSize: 15, color: '#26816B' }}&gt;结果与诊断&lt;/Text&gt;&#10;                &lt;/Box&gt;&#10;                &lt;Box style={{ width: 176, height: 44, background: '#FFF4E6', borderRadius: 8, justifyContent: 'center', alignItems: 'center' }}&gt;&#10;                    &lt;Text style={{ fontSize: 15, color: '#CB6B28' }}&gt;退出码 0 / 1 / 2&lt;/Text&gt;&#10;                &lt;/Box&gt;&#10;            &lt;/Box&gt;&#10;        &lt;/Box&gt;&#10;&#10;        &lt;Box style={{ width: 512, flexDirection: 'column', justifyContent: 'center', gap: 10 }}&gt;&#10;            &lt;Text style={{ fontSize: 15, color: '#546779' }}&gt;本章示例目录 examples · PowerShell&lt;/Text&gt;&#10;            &lt;Box style={{ width: 512, background: '#F4F7FA', borderRadius: 10, padding: '16px 18px', flexDirection: 'column', gap: 10 }}&gt;&#10;                &lt;Text style={{ fontSize: 14, color: '#20344B', lineHeight: 1.5 }}&gt;Set-Location -LiteralPath{'\n'}    'E:\GenerativeAgentsCN\docs\book\chapter 02\examples'&lt;/Text&gt;&#10;                &lt;Box style={{ height: 1, background: '#B5C7D8' }} /&gt;&#10;                &lt;Text style={{ fontSize: 14, color: '#20344B', lineHeight: 1.5 }}&gt;python -X utf8 validate_schedule.py{'\n'}    fixtures/valid-schedule.json{'\n'}    --output output/validation-report.json&lt;/Text&gt;&#10;            &lt;/Box&gt;&#10;            &lt;Box style={{ width: 512, background: '#FFF4E6', borderRadius: 10, padding: '12px 18px', flexDirection: 'row', alignItems: 'center', gap: 14 }}&gt;&#10;                &lt;Text style={{ fontSize: 15, color: '#CB6B28' }}&gt;$LASTEXITCODE&lt;/Text&gt;&#10;                &lt;Box style={{ flex: 1 }} /&gt;&#10;                &lt;Text style={{ fontSize: 15, fontWeight: 'bold', color: '#CB6B28' }}&gt;0 通过 · 1 不合格 · 2 输入错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571500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2905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715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把明确规则交给程序执行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3909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5524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容量、时长与重叠都有明确规则，适合由程序逐条判定。模型组织候选、理解错误并解释修改；独立校验器提供一致的检查结果。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495800"/>
            <a:ext cx="16764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95375" y="46196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输入与环境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419350" y="4495800"/>
            <a:ext cx="16764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905125" y="46196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结果与诊断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229100" y="4495800"/>
            <a:ext cx="167640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62475" y="4619625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退出码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0 / 1 / 2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705600" y="24765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本章示例目录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examples · PowerShell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705600" y="2743200"/>
            <a:ext cx="48768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45339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Set-Location -LiteralPath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   'E:\GenerativeAgentsCN\docs\book\chapter 02\examples'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77050" y="3476625"/>
            <a:ext cx="4533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77050" y="3581400"/>
            <a:ext cx="4533900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python -X utf8 validate_schedule.py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   fixtures/valid-schedule.json</a:t>
            </a:r>
            <a:endParaRPr/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   --output output/validation-report.json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705600" y="4552950"/>
            <a:ext cx="4876800" cy="400050"/>
          </a:xfrm>
          <a:prstGeom prst="roundRect">
            <a:avLst>
              <a:gd name="adj" fmla="val 238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877050" y="4667250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$LASTEXITCODE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572625" y="466725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通过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1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不合格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输入错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7" name="" descr="&lt;Slide notes={`这一节有六个知识块，全都围绕同一条校验命令展开。&#10;&#10;前两块先把命令本身讲清楚：一条命令由参数、工作目录与环境、标准输出、标准错误和退出码共同构成一份合同；而时间重叠之所以适合程序判断，是因为活动占用是半开区间，重叠有确定的判定条件。&#10;&#10;中间两块讲做法：先手工把三次运行跑通、留下可信基线，再把命令包成一个只接受白名单输入名称的受控函数，交给模型调用。&#10;&#10;最后两块讲位置与取证：原生 Shell 可以跑在托管容器里，也可以跑在本地；在教学工作区里执行时，要核对实际命令、退出码和报告文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本节要看清的六件事&lt;/Text&gt;&#10;        &lt;/Box&gt;&#10;    &lt;/Box&gt;&#10;&#10;    &lt;Box style={{ height: 540, flexDirection: 'row', gap: 40 }}&gt;&#10;&#10;        &lt;Box style={{ width: 340, flexDirection: 'column', justifyContent: 'center', gap: 16 }}&gt;&#10;            &lt;Text style={{ fontSize: 25, fontWeight: 'bold', color: '#276FBF', lineHeight: 1.45 }}&gt;先读懂命令，再交出去&lt;/Text&gt;&#10;            &lt;Box style={{ width: 56, height: 3, background: '#26816B' }} /&gt;&#10;            &lt;Text style={{ fontSize: 17, color: '#546779', lineHeight: 1.75 }}&gt;六个知识块从「一条命令由什么组成」走到「怎样在教学工作区里取证」：先立合同，再谈规则，然后建立手工基线，最后把命令包成受控函数并选好执行位置。&lt;/Text&gt;&#10;        &lt;/Box&gt;&#10;&#10;        &lt;Box style={{ flex: 1, flexDirection: 'column', justifyContent: 'center', gap: 11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20, fontWeight: 'bold', color: '#FFFFFF' }}&gt;①&lt;/Text&gt;&#10;                &lt;/Box&gt;&#10;                &lt;Box style={{ flexDirection: 'column', gap: 2 }}&gt;&#10;                    &lt;Text style={{ fontSize: 20, fontWeight: 'bold', color: '#20344B' }}&gt;读懂一条命令的六个部分&lt;/Text&gt;&#10;                    &lt;Text style={{ fontSize: 16, color: '#546779' }}&gt;参数、工作目录、输出、错误与退出码合成一份进程合同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20, fontWeight: 'bold', color: '#FFFFFF' }}&gt;②&lt;/Text&gt;&#10;                &lt;/Box&gt;&#10;                &lt;Box style={{ flexDirection: 'column', gap: 2 }}&gt;&#10;                    &lt;Text style={{ fontSize: 20, fontWeight: 'bold', color: '#20344B' }}&gt;为什么时间边界适合确定性检查&lt;/Text&gt;&#10;                    &lt;Text style={{ fontSize: 16, color: '#546779' }}&gt;占用是半开区间，重叠有可以逐条判定的条件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20, fontWeight: 'bold', color: '#FFFFFF' }}&gt;③&lt;/Text&gt;&#10;                &lt;/Box&gt;&#10;                &lt;Box style={{ flexDirection: 'column', gap: 2 }}&gt;&#10;                    &lt;Text style={{ fontSize: 20, fontWeight: 'bold', color: '#20344B' }}&gt;先手工运行，再让模型调用&lt;/Text&gt;&#10;                    &lt;Text style={{ fontSize: 16, color: '#546779' }}&gt;三次运行留下退出码与报告，建立可信基线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20, fontWeight: 'bold', color: '#FFFFFF' }}&gt;④&lt;/Text&gt;&#10;                &lt;/Box&gt;&#10;                &lt;Box style={{ flexDirection: 'column', gap: 2 }}&gt;&#10;                    &lt;Text style={{ fontSize: 20, fontWeight: 'bold', color: '#20344B' }}&gt;在 OpenAI 应用中包装受控命令&lt;/Text&gt;&#10;                    &lt;Text style={{ fontSize: 16, color: '#546779' }}&gt;模型只交出输入名称，命令由应用自己拼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20, fontWeight: 'bold', color: '#FFFFFF' }}&gt;⑤&lt;/Text&gt;&#10;                &lt;/Box&gt;&#10;                &lt;Box style={{ flexDirection: 'column', gap: 2 }}&gt;&#10;                    &lt;Text style={{ fontSize: 20, fontWeight: 'bold', color: '#20344B' }}&gt;原生 Shell 工具的两种位置&lt;/Text&gt;&#10;                    &lt;Text style={{ fontSize: 16, color: '#546779' }}&gt;托管容器执行，或由本地执行环境处理并回传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20, fontWeight: 'bold', color: '#FFFFFF' }}&gt;⑥&lt;/Text&gt;&#10;                &lt;/Box&gt;&#10;                &lt;Box style={{ flexDirection: 'column', gap: 2 }}&gt;&#10;                    &lt;Text style={{ fontSize: 20, fontWeight: 'bold', color: '#20344B' }}&gt;在教学工作区执行与本节练习&lt;/Text&gt;&#10;                    &lt;Text style={{ fontSize: 16, color: '#546779' }}&gt;展示实际命令与报告，保留失败记录并解释退出码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3238500" cy="419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先读懂命令，再交出去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09600" y="3228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3238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六个知识块从「一条命令由什么组成」走到「怎样在教学工作区里取证」：先立合同，再谈规则，然后建立手工基线，最后把命令包成受控函数并选好执行位置。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229100" y="2152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343400" y="2247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800600" y="2143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读懂一条命令的六个部分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800600" y="239077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参数、工作目录、输出、错误与退出码合成一份进程合同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229100" y="2695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343400" y="27908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800600" y="268605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为什么时间边界适合确定性检查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800600" y="29337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占用是半开区间，重叠有可以逐条判定的条件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42291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343400" y="3333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800600" y="32289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先手工运行，再让模型调用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800600" y="34766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三次运行留下退出码与报告，建立可信基线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2291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343400" y="38766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800600" y="377190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应用中包装受控命令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800600" y="401955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模型只交出输入名称，命令由应用自己拼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229100" y="4324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343400" y="44196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800600" y="431482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原生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工具的两种位置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800600" y="45624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托管容器执行，或由本地执行环境处理并回传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4229100" y="4867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343400" y="49625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00600" y="4857750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在教学工作区执行与本节练习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800600" y="510540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展示实际命令与报告，保留失败记录并解释退出码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50" name="" descr="&lt;Slide notes={`一条命令看起来只是一行字，但它其实是一份合同。&#10;&#10;我发出请求的时候要交代清楚三件事：运行哪一段程序、带上哪些参数；以哪个目录为起点，依赖和变量从哪里来；以及允许它跑多久。这三样决定了进程能不能正确地启动。&#10;&#10;进程跑完之后，同样有三路信息回来。标准输出装主要结果，比如校验报告；标准错误装诊断信息，比如文件读不到；退出码则是一个状态标记，说明这次检查通过、不合格，还是输入本身有问题。&#10;&#10;把这份合同记牢，后面判断「到底哪一步出了问题」才有依据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①&lt;/Text&gt;&#10;            &lt;/Box&gt;&#10;            &lt;Text style={{ fontSize: 16, color: '#546779' }}&gt;2.7.1&lt;/Text&gt;&#10;        &lt;/Box&gt;&#10;&#10;        &lt;Text style={{ fontSize: 56, fontWeight: 'bold', color: '#20344B', lineHeight: 1.15 }}&gt;读懂一条命令的六个部分&lt;/Text&gt;&#10;&#10;        &lt;Box style={{ width: 640, height: 4, background: '#276FBF' }} /&gt;&#10;&#10;        &lt;Text style={{ fontSize: 19, color: '#546779', lineHeight: 1.7 }}&gt;参数、工作目录、输出、错误与退出码合成一份进程合同。&lt;/Text&gt;&#10;&#10;        &lt;Box style={{ marginTop: 10, flexDirection: 'row', alignItems: 'center', justifyContent: 'center' }}&gt;&#10;            &lt;Box style={{ width: 174, height: 56, background: '#EDF4FC', borderRadius: 8, justifyContent: 'center', alignItems: 'center' }}&gt;&#10;                &lt;Text style={{ fontSize: 16, fontWeight: 'bold', color: '#276FBF' }}&gt;程序与 argv&lt;/Text&gt;&#10;            &lt;/Box&gt;&#10;            &lt;Box style={{ width: 12 }} /&gt;&#10;            &lt;Box style={{ width: 174, height: 56, background: '#EDF4FC', borderRadius: 8, justifyContent: 'center', alignItems: 'center' }}&gt;&#10;                &lt;Text style={{ fontSize: 16, fontWeight: 'bold', color: '#276FBF' }}&gt;cwd 与环境&lt;/Text&gt;&#10;            &lt;/Box&gt;&#10;            &lt;Box style={{ width: 12 }} /&gt;&#10;            &lt;Box style={{ width: 174, height: 56, background: '#EDF4FC', borderRadius: 8, justifyContent: 'center', alignItems: 'center' }}&gt;&#10;                &lt;Text style={{ fontSize: 16, fontWeight: 'bold', color: '#276FBF' }}&gt;时间边界&lt;/Text&gt;&#10;            &lt;/Box&gt;&#10;            &lt;Box style={{ width: 44, height: 56, justifyContent: 'center', alignItems: 'center' }}&gt;&lt;Text style={{ fontSize: 26, color: '#276FBF' }}&gt;›&lt;/Text&gt;&lt;/Box&gt;&#10;            &lt;Box style={{ width: 174, height: 56, background: '#ECF7F2', borderRadius: 8, justifyContent: 'center', alignItems: 'center' }}&gt;&#10;                &lt;Text style={{ fontSize: 16, fontWeight: 'bold', color: '#26816B' }}&gt;stdout 结果&lt;/Text&gt;&#10;            &lt;/Box&gt;&#10;            &lt;Box style={{ width: 12 }} /&gt;&#10;            &lt;Box style={{ width: 174, height: 56, background: '#ECF7F2', borderRadius: 8, justifyContent: 'center', alignItems: 'center' }}&gt;&#10;                &lt;Text style={{ fontSize: 16, fontWeight: 'bold', color: '#26816B' }}&gt;stderr 诊断&lt;/Text&gt;&#10;            &lt;/Box&gt;&#10;            &lt;Box style={{ width: 12 }} /&gt;&#10;            &lt;Box style={{ width: 174, height: 56, background: '#ECF7F2', borderRadius: 8, justifyContent: 'center', alignItems: 'center' }}&gt;&#10;                &lt;Text style={{ fontSize: 16, fontWeight: 'bold', color: '#26816B' }}&gt;退出码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609600" y="12668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42950" y="137160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295400" y="14382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2.7.1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读懂一条命令的六个部分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28860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09600" y="30956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参数、工作目录、输出、错误与退出码合成一份进程合同。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85800" y="373380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95375" y="3905250"/>
            <a:ext cx="84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程序与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argv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2457450" y="373380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2876550" y="3905250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cwd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与环境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4229100" y="373380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752975" y="39052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时间边界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579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305550" y="373380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705600" y="3905250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stdout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8077200" y="373380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505825" y="3905250"/>
            <a:ext cx="809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stderr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诊断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9848850" y="373380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448925" y="39052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退出码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73" name="" descr="&lt;Slide notes={`一条校验命令，把三样输入合成一次执行。程序与参数决定检查哪个文件；工作目录和环境决定去哪里找依赖、读哪些变量；时间边界决定它最多能跑多久。&#10;&#10;进程本身只做一件事：执行已经指定的那段程序。它不解释业务规则，也不判断方案好不好。&#10;&#10;跑完之后分三路输出。标准输出装主要结果，也就是校验报告；标准错误装诊断信息，比如文件读不到、JSON 解析失败。退出码是第三种信息，它用三个数字概括这次检查的结论：0 通过，1 方案不合格，2 输入本身有问题。&#10;&#10;要特别注意，超时是执行失败，由外层执行器报告，不能把它伪装成校验通过，也不能塞进某个业务退出码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1　读懂一条命令的六个部分&lt;/Text&gt;&#10;            &lt;Text style={{ fontSize: 34, fontWeight: 'bold', color: '#20344B' }}&gt;一条命令，六份信息&lt;/Text&gt;&#10;        &lt;/Box&gt;&#10;    &lt;/Box&gt;&#10;&#10;    &lt;Box style={{ height: 540, flexDirection: 'column', justifyContent: 'center', gap: 10 }}&gt;&#10;&#10;        &lt;Box style={{ flexDirection: 'row', gap: 48 }}&gt;&#10;            &lt;Box style={{ width: 340, height: 108, background: '#EDF4FC', borderRadius: 8, padding: '14px 18px', flexDirection: 'column', gap: 6, justifyContent: 'center' }}&gt;&#10;                &lt;Text style={{ fontSize: 20, fontWeight: 'bold', color: '#276FBF' }}&gt;程序与 argv&lt;/Text&gt;&#10;                &lt;Text style={{ fontSize: 14, color: '#546779', lineHeight: 1.5 }}&gt;解释器、脚本、独立参数&lt;/Text&gt;&#10;            &lt;/Box&gt;&#10;            &lt;Box style={{ width: 340, height: 108, background: '#EDF4FC', borderRadius: 8, padding: '14px 18px', flexDirection: 'column', gap: 6, justifyContent: 'center' }}&gt;&#10;                &lt;Text style={{ fontSize: 20, fontWeight: 'bold', color: '#276FBF' }}&gt;cwd 与环境&lt;/Text&gt;&#10;                &lt;Text style={{ fontSize: 14, color: '#546779', lineHeight: 1.5 }}&gt;工作目录、依赖、环境变量&lt;/Text&gt;&#10;            &lt;/Box&gt;&#10;            &lt;Box style={{ width: 340, height: 108, background: '#EDF4FC', borderRadius: 8, padding: '14px 18px', flexDirection: 'column', gap: 6, justifyContent: 'center' }}&gt;&#10;                &lt;Text style={{ fontSize: 20, fontWeight: 'bold', color: '#276FBF' }}&gt;时间边界&lt;/Text&gt;&#10;                &lt;Text style={{ fontSize: 14, color: '#546779', lineHeight: 1.5 }}&gt;超时与终止处理&lt;/Text&gt;&#10;            &lt;/Box&gt;&#10;        &lt;/Box&gt;&#10;&#10;        &lt;Box style={{ width: 1116, height: 28, justifyContent: 'center', alignItems: 'center' }}&gt;&lt;Text style={{ fontSize: 22, color: '#276FBF' }}&gt;↓&lt;/Text&gt;&lt;/Box&gt;&#10;&#10;        &lt;Box style={{ width: 660, height: 92, background: '#ECF7F2', borderRadius: 8, padding: '0 22px', flexDirection: 'row', alignItems: 'center', gap: 18 }}&gt;&#10;            &lt;Box style={{ width: 4, height: 52, background: '#26816B' }} /&gt;&#10;            &lt;Box style={{ flexDirection: 'column', gap: 5 }}&gt;&#10;                &lt;Text style={{ fontSize: 22, fontWeight: 'bold', color: '#26816B' }}&gt;子进程　执行已指定程序&lt;/Text&gt;&#10;                &lt;Text style={{ fontSize: 14, color: '#546779' }}&gt;参数列表直接启动，不经过 Shell 再解释&lt;/Text&gt;&#10;            &lt;/Box&gt;&#10;        &lt;/Box&gt;&#10;&#10;        &lt;Box style={{ width: 1116, height: 28, justifyContent: 'center', alignItems: 'center' }}&gt;&lt;Text style={{ fontSize: 22, color: '#276FBF' }}&gt;↓&lt;/Text&gt;&lt;/Box&gt;&#10;&#10;        &lt;Box style={{ flexDirection: 'row', gap: 48 }}&gt;&#10;            &lt;Box style={{ width: 340, height: 108, background: '#ECF7F2', borderRadius: 8, padding: '14px 18px', flexDirection: 'column', gap: 6, justifyContent: 'center' }}&gt;&#10;                &lt;Text style={{ fontSize: 20, fontWeight: 'bold', color: '#26816B' }}&gt;stdout&lt;/Text&gt;&#10;                &lt;Text style={{ fontSize: 14, color: '#546779', lineHeight: 1.5 }}&gt;结构化结果，校验报告&lt;/Text&gt;&#10;            &lt;/Box&gt;&#10;            &lt;Box style={{ width: 340, height: 108, background: '#ECF7F2', borderRadius: 8, padding: '14px 18px', flexDirection: 'column', gap: 6, justifyContent: 'center' }}&gt;&#10;                &lt;Text style={{ fontSize: 20, fontWeight: 'bold', color: '#26816B' }}&gt;stderr&lt;/Text&gt;&#10;                &lt;Text style={{ fontSize: 14, color: '#546779', lineHeight: 1.5 }}&gt;诊断信息，读取与执行异常&lt;/Text&gt;&#10;            &lt;/Box&gt;&#10;            &lt;Box style={{ width: 340, height: 108, background: '#FFF4E6', borderRadius: 8, padding: '14px 18px', flexDirection: 'column', gap: 6, justifyContent: 'center' }}&gt;&#10;                &lt;Text style={{ fontSize: 20, fontWeight: 'bold', color: '#CB6B28' }}&gt;退出码&lt;/Text&gt;&#10;                &lt;Text style={{ fontSize: 14, color: '#546779', lineHeight: 1.5 }}&gt;0 通过 · 1 不合格 · 2 输入错&lt;/Text&gt;&#10;            &lt;/Box&gt;&#10;        &lt;/Box&gt;&#10;&#10;        &lt;Box style={{ flexDirection: 'row', alignItems: 'center', gap: 14, background: '#F4F7FA', borderRadius: 10, padding: '14px 20px' }}&gt;&#10;            &lt;Box style={{ width: 4, height: 40, background: '#276FBF' }} /&gt;&#10;            &lt;Text style={{ fontSize: 16, color: '#546779', lineHeight: 1.55 }}&gt;退出码 2 指文件或 JSON 输入错误；超时由启动它的执行器另行报告，不能伪装成校验通过或某个业务退出码。&lt;/Text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读懂一条命令的六个部分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一条命令，六份信息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1419225"/>
            <a:ext cx="3238500" cy="1028700"/>
          </a:xfrm>
          <a:prstGeom prst="roundRect">
            <a:avLst>
              <a:gd name="adj" fmla="val 740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81050" y="16668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程序与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argv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81050" y="1952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解释器、脚本、独立参数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4305300" y="1419225"/>
            <a:ext cx="3238500" cy="1028700"/>
          </a:xfrm>
          <a:prstGeom prst="roundRect">
            <a:avLst>
              <a:gd name="adj" fmla="val 740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4476750" y="16668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cwd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与环境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476750" y="1952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工作目录、依赖、环境变量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001000" y="1419225"/>
            <a:ext cx="3238500" cy="1028700"/>
          </a:xfrm>
          <a:prstGeom prst="roundRect">
            <a:avLst>
              <a:gd name="adj" fmla="val 740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172450" y="16668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时间边界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172450" y="19526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超时与终止处理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876925" y="25527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09600" y="2905125"/>
            <a:ext cx="62865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819150" y="30956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028700" y="3114675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子进程　执行已指定程序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028700" y="341947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参数列表直接启动，不经过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再解释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876925" y="38862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4238625"/>
            <a:ext cx="3238500" cy="1028700"/>
          </a:xfrm>
          <a:prstGeom prst="roundRect">
            <a:avLst>
              <a:gd name="adj" fmla="val 740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stdout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结构化结果，校验报告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4305300" y="4238625"/>
            <a:ext cx="3238500" cy="1028700"/>
          </a:xfrm>
          <a:prstGeom prst="roundRect">
            <a:avLst>
              <a:gd name="adj" fmla="val 740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4476750" y="44862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stderr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4476750" y="47720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诊断信息，读取与执行异常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8001000" y="4238625"/>
            <a:ext cx="3238500" cy="1028700"/>
          </a:xfrm>
          <a:prstGeom prst="roundRect">
            <a:avLst>
              <a:gd name="adj" fmla="val 740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172450" y="4486275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退出码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172450" y="47720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不合格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输入错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536257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800100" y="54959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71550" y="5543550"/>
            <a:ext cx="7524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退出码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指文件或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输入错误；超时由启动它的执行器另行报告，不能伪装成校验通过或某个业务退出码。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07" name="" descr="&lt;Slide notes={`调用这条命令的时候，有六项信息需要一起记下来，否则后面复现不了。&#10;&#10;工作目录决定相对路径从哪里开始解析，本练习固定在本章的 examples 目录。参数是程序真正收到的那一份，包括脚本名、输入文件，还有 --output 后面的输出路径。标准输出是主要结果通道，我们约定它写校验报告；标准错误专门装诊断信息，比如文件读不到或者 JSON 解析失败。&#10;&#10;退出码是进程结束时的状态标记，本教材只定义三个值。超时不是退出码，它由外层执行器设置，指的是允许进程运行的最长时间。&#10;&#10;把这六项记齐，一次运行才算留下了证据，后面的对照才有东西可比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1　读懂一条命令的六个部分&lt;/Text&gt;&#10;            &lt;Text style={{ fontSize: 34, fontWeight: 'bold', color: '#20344B' }}&gt;六项要素，各自记录什么&lt;/Text&gt;&#10;        &lt;/Box&gt;&#10;    &lt;/Box&gt;&#10;&#10;    &lt;Box style={{ height: 540, flexDirection: 'row', gap: 32 }}&gt;&#10;&#10;        &lt;Box style={{ width: 300, flexDirection: 'column', justifyContent: 'center', gap: 8 }}&gt;&#10;            &lt;Box style={{ height: 28 }}&gt;&lt;Text style={{ fontSize: 14, color: '#546779' }}&gt;要素&lt;/Text&gt;&lt;/Box&gt;&#10;            &lt;Box style={{ height: 68, background: '#F4F7FA', borderRadius: 8, padding: '0 16px', flexDirection: 'row', alignItems: 'center', gap: 12 }}&gt;&#10;                &lt;Box style={{ width: 4, height: 40, background: '#276FBF' }} /&gt;&#10;                &lt;Box style={{ flexDirection: 'column', gap: 2 }}&gt;&#10;                    &lt;Text style={{ fontSize: 18, fontWeight: 'bold', color: '#20344B' }}&gt;工作目录&lt;/Text&gt;&#10;                    &lt;Text style={{ fontSize: 13, color: '#546779' }}&gt;cwd&lt;/Text&gt;&#10;                &lt;/Box&gt;&#10;            &lt;/Box&gt;&#10;            &lt;Box style={{ height: 68, background: '#F4F7FA', borderRadius: 8, padding: '0 16px', flexDirection: 'row', alignItems: 'center', gap: 12 }}&gt;&#10;                &lt;Box style={{ width: 4, height: 40, background: '#276FBF' }} /&gt;&#10;                &lt;Box style={{ flexDirection: 'column', gap: 2 }}&gt;&#10;                    &lt;Text style={{ fontSize: 18, fontWeight: 'bold', color: '#20344B' }}&gt;参数&lt;/Text&gt;&#10;                    &lt;Text style={{ fontSize: 13, color: '#546779' }}&gt;argv&lt;/Text&gt;&#10;                &lt;/Box&gt;&#10;            &lt;/Box&gt;&#10;            &lt;Box style={{ height: 68, background: '#F4F7FA', borderRadius: 8, padding: '0 16px', flexDirection: 'row', alignItems: 'center', gap: 12 }}&gt;&#10;                &lt;Box style={{ width: 4, height: 40, background: '#276FBF' }} /&gt;&#10;                &lt;Box style={{ flexDirection: 'column', gap: 2 }}&gt;&#10;                    &lt;Text style={{ fontSize: 18, fontWeight: 'bold', color: '#20344B' }}&gt;标准输出&lt;/Text&gt;&#10;                    &lt;Text style={{ fontSize: 13, color: '#546779' }}&gt;stdout&lt;/Text&gt;&#10;                &lt;/Box&gt;&#10;            &lt;/Box&gt;&#10;            &lt;Box style={{ height: 68, background: '#F4F7FA', borderRadius: 8, padding: '0 16px', flexDirection: 'row', alignItems: 'center', gap: 12 }}&gt;&#10;                &lt;Box style={{ width: 4, height: 40, background: '#276FBF' }} /&gt;&#10;                &lt;Box style={{ flexDirection: 'column', gap: 2 }}&gt;&#10;                    &lt;Text style={{ fontSize: 18, fontWeight: 'bold', color: '#20344B' }}&gt;标准错误&lt;/Text&gt;&#10;                    &lt;Text style={{ fontSize: 13, color: '#546779' }}&gt;stderr&lt;/Text&gt;&#10;                &lt;/Box&gt;&#10;            &lt;/Box&gt;&#10;            &lt;Box style={{ height: 68, background: '#FFF4E6', borderRadius: 8, padding: '0 16px', flexDirection: 'row', alignItems: 'center', gap: 12 }}&gt;&#10;                &lt;Box style={{ width: 4, height: 40, background: '#CB6B28' }} /&gt;&#10;                &lt;Box style={{ flexDirection: 'column', gap: 2 }}&gt;&#10;                    &lt;Text style={{ fontSize: 18, fontWeight: 'bold', color: '#20344B' }}&gt;退出码&lt;/Text&gt;&#10;                    &lt;Text style={{ fontSize: 13, color: '#CB6B28' }}&gt;本程序合同&lt;/Text&gt;&#10;                &lt;/Box&gt;&#10;            &lt;/Box&gt;&#10;            &lt;Box style={{ height: 68, background: '#F4F7FA', borderRadius: 8, padding: '0 16px', flexDirection: 'row', alignItems: 'center', gap: 12 }}&gt;&#10;                &lt;Box style={{ width: 4, height: 40, background: '#276FBF' }} /&gt;&#10;                &lt;Box style={{ flexDirection: 'column', gap: 2 }}&gt;&#10;                    &lt;Text style={{ fontSize: 18, fontWeight: 'bold', color: '#20344B' }}&gt;超时&lt;/Text&gt;&#10;                    &lt;Text style={{ fontSize: 13, color: '#546779' }}&gt;外层设置&lt;/Text&gt;&#10;                &lt;/Box&gt;&#10;            &lt;/Box&gt;&#10;        &lt;/Box&gt;&#10;&#10;        &lt;Box style={{ width: 820, flexDirection: 'column', justifyContent: 'center', gap: 8 }}&gt;&#10;            &lt;Box style={{ height: 28, flexDirection: 'row', gap: 16, padding: '0 16px' }}&gt;&#10;                &lt;Box style={{ width: 432 }}&gt;&lt;Text style={{ fontSize: 14, color: '#546779' }}&gt;含义&lt;/Text&gt;&lt;/Box&gt;&#10;                &lt;Box style={{ width: 340 }}&gt;&lt;Text style={{ fontSize: 14, color: '#546779' }}&gt;本练习要记录什么&lt;/Text&gt;&lt;/Box&gt;&#10;            &lt;/Box&gt;&#10;            &lt;Box style={{ height: 68, background: '#F4F7FA', borderRadius: 8, padding: '0 16px', flexDirection: 'row', alignItems: 'center', gap: 16 }}&gt;&#10;                &lt;Box style={{ width: 432 }}&gt;&lt;Text style={{ fontSize: 16, color: '#20344B', lineHeight: 1.5 }}&gt;相对路径从哪里开始解析&lt;/Text&gt;&lt;/Box&gt;&#10;                &lt;Box style={{ width: 340 }}&gt;&lt;Text style={{ fontSize: 15, color: '#546779', lineHeight: 1.5 }}&gt;本章的 examples 目录&lt;/Text&gt;&lt;/Box&gt;&#10;            &lt;/Box&gt;&#10;            &lt;Box style={{ height: 68, background: '#F4F7FA', borderRadius: 8, padding: '0 16px', flexDirection: 'row', alignItems: 'center', gap: 16 }}&gt;&#10;                &lt;Box style={{ width: 432 }}&gt;&lt;Text style={{ fontSize: 16, color: '#20344B', lineHeight: 1.5 }}&gt;程序接收到的独立参数&lt;/Text&gt;&lt;/Box&gt;&#10;                &lt;Box style={{ width: 340 }}&gt;&lt;Text style={{ fontSize: 15, color: '#546779', lineHeight: 1.5 }}&gt;脚本、输入文件、输出选项&lt;/Text&gt;&lt;/Box&gt;&#10;            &lt;/Box&gt;&#10;            &lt;Box style={{ height: 68, background: '#F4F7FA', borderRadius: 8, padding: '0 16px', flexDirection: 'row', alignItems: 'center', gap: 16 }}&gt;&#10;                &lt;Box style={{ width: 432 }}&gt;&lt;Text style={{ fontSize: 16, color: '#20344B', lineHeight: 1.5 }}&gt;主要结果通道&lt;/Text&gt;&lt;/Box&gt;&#10;                &lt;Box style={{ width: 340 }}&gt;&lt;Text style={{ fontSize: 15, color: '#546779', lineHeight: 1.5 }}&gt;校验报告或结果摘要&lt;/Text&gt;&lt;/Box&gt;&#10;            &lt;/Box&gt;&#10;            &lt;Box style={{ height: 68, background: '#F4F7FA', borderRadius: 8, padding: '0 16px', flexDirection: 'row', alignItems: 'center', gap: 16 }}&gt;&#10;                &lt;Box style={{ width: 432 }}&gt;&lt;Text style={{ fontSize: 16, color: '#20344B', lineHeight: 1.5 }}&gt;诊断信息通道&lt;/Text&gt;&lt;/Box&gt;&#10;                &lt;Box style={{ width: 340 }}&gt;&lt;Text style={{ fontSize: 15, color: '#546779', lineHeight: 1.5 }}&gt;文件读取或执行异常&lt;/Text&gt;&lt;/Box&gt;&#10;            &lt;/Box&gt;&#10;            &lt;Box style={{ height: 68, background: '#FFF4E6', borderRadius: 8, padding: '0 16px', flexDirection: 'row', alignItems: 'center', gap: 16 }}&gt;&#10;                &lt;Box style={{ width: 432 }}&gt;&lt;Text style={{ fontSize: 16, color: '#20344B', lineHeight: 1.5 }}&gt;进程结束的状态标记&lt;/Text&gt;&lt;/Box&gt;&#10;                &lt;Box style={{ width: 340 }}&gt;&lt;Text style={{ fontSize: 15, color: '#CB6B28', lineHeight: 1.5 }}&gt;本教材定义的 0、1、2&lt;/Text&gt;&lt;/Box&gt;&#10;            &lt;/Box&gt;&#10;            &lt;Box style={{ height: 68, background: '#F4F7FA', borderRadius: 8, padding: '0 16px', flexDirection: 'row', alignItems: 'center', gap: 16 }}&gt;&#10;                &lt;Box style={{ width: 432 }}&gt;&lt;Text style={{ fontSize: 16, color: '#20344B', lineHeight: 1.5 }}&gt;允许进程运行的最长时间&lt;/Text&gt;&lt;/Box&gt;&#10;                &lt;Box style={{ width: 340 }}&gt;&lt;Text style={{ fontSize: 15, color: '#546779', lineHeight: 1.5 }}&gt;由外层执行器设置&lt;/Text&gt;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读懂一条命令的六个部分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六项要素，各自记录什么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要素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09600" y="17526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762000" y="18859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914400" y="18859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工作目录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14400" y="2114550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cwd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09600" y="24765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762000" y="26098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914400" y="2609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14400" y="2838450"/>
            <a:ext cx="342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argv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09600" y="32004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762000" y="33337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14400" y="33337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标准输出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14400" y="3562350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stdout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09600" y="39243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762000" y="40576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914400" y="40576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标准错误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14400" y="4286250"/>
            <a:ext cx="68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stderr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09600" y="46482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762000" y="47815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14400" y="4781550"/>
            <a:ext cx="619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退出码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14400" y="50101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本程序合同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09600" y="5372100"/>
            <a:ext cx="2857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762000" y="55054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14400" y="5505450"/>
            <a:ext cx="49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14400" y="5734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外层设置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3924300" y="1409700"/>
            <a:ext cx="411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含义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191500" y="140970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本练习要记录什么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3771900" y="175260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3924300" y="194310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相对路径从哪里开始解析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191500" y="19526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本章的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examples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3771900" y="247650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924300" y="266700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程序接收到的独立参数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191500" y="26765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脚本、输入文件、输出选项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3771900" y="320040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3924300" y="339090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主要结果通道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191500" y="34004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校验报告或结果摘要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3771900" y="392430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924300" y="411480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诊断信息通道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191500" y="41243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文件读取或执行异常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3771900" y="464820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924300" y="483870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进程结束的状态标记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191500" y="48482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本教材定义的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3771900" y="537210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924300" y="556260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允许进程运行的最长时间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191500" y="55721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由外层执行器设置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59" name="" descr="&lt;Slide notes={`退出码只用一位数字，但它是这条命令最重要的结论。&#10;&#10;本书的校验器约定：0 表示规则检查全部通过；1 表示方案本身不合格，比如容量不够或者时间重叠；2 表示输入处理出错，文件读不到、JSON 格式不对都属于这一类。&#10;&#10;这三个数字是这本教材给这个程序定的合同，不是所有命令行程序的通用语义。别的工具可能用别的数字表示别的意思，甚至用负数。&#10;&#10;还有一条纪律：调用者要同时检查退出码和报告。有标准输出不等于成功，退出码是 0 也只说明规则检查通过了，不代表方案就是组织者想要的那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1　读懂一条命令的六个部分&lt;/Text&gt;&#10;            &lt;Text style={{ fontSize: 34, fontWeight: 'bold', color: '#20344B' }}&gt;退出码是本程序的合同&lt;/Text&gt;&#10;        &lt;/Box&gt;&#10;    &lt;/Box&gt;&#10;&#10;    &lt;Box style={{ height: 540, flexDirection: 'row', gap: 36 }}&gt;&#10;&#10;        &lt;Box style={{ width: 372, flexDirection: 'column', justifyContent: 'center', gap: 14 }}&gt;&#10;            &lt;Text style={{ fontSize: 15, color: '#546779' }}&gt;0 · 1 · 2&lt;/Text&gt;&#10;            &lt;Text style={{ fontSize: 26, fontWeight: 'bold', color: '#276FBF', lineHeight: 1.4 }}&gt;三个数字，三种结论&lt;/Text&gt;&#10;            &lt;Box style={{ width: 56, height: 3, background: '#26816B' }} /&gt;&#10;            &lt;Text style={{ fontSize: 16, color: '#546779', lineHeight: 1.8 }}&gt;退出码说明这次检查停在哪一类结果上：规则全过、方案不合格，还是输入根本没读进来。报告负责说明细节，退出码负责给出结论。&lt;/Text&gt;&#10;        &lt;/Box&gt;&#10;&#10;        &lt;Box style={{ width: 744, flexDirection: 'column', justifyContent: 'center', gap: 12 }}&gt;&#10;&#10;            &lt;Box style={{ height: 88, background: '#ECF7F2', borderRadius: 10, padding: '0 20px', flexDirection: 'row', alignItems: 'center', gap: 18 }}&gt;&#10;                &lt;Box style={{ width: 64, height: 56, background: '#26816B', borderRadius: 8, justifyContent: 'center', alignItems: 'center' }}&gt;&#10;                    &lt;Text style={{ fontSize: 26, fontWeight: 'bold', color: '#FFFFFF' }}&gt;0&lt;/Text&gt;&#10;                &lt;/Box&gt;&#10;                &lt;Box style={{ flexDirection: 'column', gap: 3 }}&gt;&#10;                    &lt;Text style={{ fontSize: 20, fontWeight: 'bold', color: '#20344B' }}&gt;规则检查通过&lt;/Text&gt;&#10;                    &lt;Text style={{ fontSize: 14, color: '#546779' }}&gt;日期、时长、容量、重叠等条件全部满足&lt;/Text&gt;&#10;                &lt;/Box&gt;&#10;            &lt;/Box&gt;&#10;&#10;            &lt;Box style={{ height: 88, background: '#FFF4E6', borderRadius: 10, padding: '0 20px', flexDirection: 'row', alignItems: 'center', gap: 18 }}&gt;&#10;                &lt;Box style={{ width: 64, height: 56, background: '#CB6B28', borderRadius: 8, justifyContent: 'center', alignItems: 'center' }}&gt;&#10;                    &lt;Text style={{ fontSize: 26, fontWeight: 'bold', color: '#FFFFFF' }}&gt;1&lt;/Text&gt;&#10;                &lt;/Box&gt;&#10;                &lt;Box style={{ flexDirection: 'column', gap: 3 }}&gt;&#10;                    &lt;Text style={{ fontSize: 20, fontWeight: 'bold', color: '#CB6B28' }}&gt;方案不合格&lt;/Text&gt;&#10;                    &lt;Text style={{ fontSize: 14, color: '#546779' }}&gt;文件读到了，但方案本身违反已有规则&lt;/Text&gt;&#10;                &lt;/Box&gt;&#10;            &lt;/Box&gt;&#10;&#10;            &lt;Box style={{ height: 88, background: '#FFF4E6', borderRadius: 10, padding: '0 20px', flexDirection: 'row', alignItems: 'center', gap: 18 }}&gt;&#10;                &lt;Box style={{ width: 64, height: 56, background: '#CB6B28', borderRadius: 8, justifyContent: 'center', alignItems: 'center' }}&gt;&#10;                    &lt;Text style={{ fontSize: 26, fontWeight: 'bold', color: '#FFFFFF' }}&gt;2&lt;/Text&gt;&#10;                &lt;/Box&gt;&#10;                &lt;Box style={{ flexDirection: 'column', gap: 3 }}&gt;&#10;                    &lt;Text style={{ fontSize: 20, fontWeight: 'bold', color: '#CB6B28' }}&gt;输入处理错误&lt;/Text&gt;&#10;                    &lt;Text style={{ fontSize: 14, color: '#546779' }}&gt;文件不存在，或 JSON 无法解析&lt;/Text&gt;&#10;                &lt;/Box&gt;&#10;            &lt;/Box&gt;&#10;&#10;            &lt;Box style={{ flexDirection: 'row', alignItems: 'center', gap: 16, background: '#FFF4E6', borderRadius: 10, padding: '18px 20px' }}&gt;&#10;                &lt;Box style={{ width: 4, height: 76, background: '#CB6B28' }} /&gt;&#10;                &lt;Box style={{ flexDirection: 'column', gap: 6 }}&gt;&#10;                    &lt;Text style={{ fontSize: 19, fontWeight: 'bold', color: '#CB6B28' }}&gt;这是本程序的合同，不是所有 CLI 的通用语义&lt;/Text&gt;&#10;                    &lt;Text style={{ fontSize: 15, color: '#546779', lineHeight: 1.65 }}&gt;调用者需要同时检查退出码和报告，不能看到有标准输出就判断成功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读懂一条命令的六个部分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退出码是本程序的合同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0 · 1 · 2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09600" y="3019425"/>
            <a:ext cx="35433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三个数字，三种结论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09600" y="35718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35433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退出码说明这次检查停在哪一类结果上：规则全过、方案不合格，还是输入根本没读进来。报告负责说明细节，退出码负责给出结论。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4495800" y="1752600"/>
            <a:ext cx="70866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4686300" y="1905000"/>
            <a:ext cx="6096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914900" y="201930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467350" y="196215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规则检查通过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5467350" y="22193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日期、时长、容量、重叠等条件全部满足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4495800" y="2705100"/>
            <a:ext cx="70866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4686300" y="2857500"/>
            <a:ext cx="609600" cy="533400"/>
          </a:xfrm>
          <a:prstGeom prst="roundRect">
            <a:avLst>
              <a:gd name="adj" fmla="val 14286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914900" y="297180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467350" y="2914650"/>
            <a:ext cx="226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方案不合格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467350" y="317182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文件读到了，但方案本身违反已有规则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4495800" y="3657600"/>
            <a:ext cx="70866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4686300" y="3810000"/>
            <a:ext cx="609600" cy="533400"/>
          </a:xfrm>
          <a:prstGeom prst="roundRect">
            <a:avLst>
              <a:gd name="adj" fmla="val 14286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4914900" y="3924300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5467350" y="3867150"/>
            <a:ext cx="1895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输入处理错误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467350" y="412432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文件不存在，或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无法解析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495800" y="4610100"/>
            <a:ext cx="70866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686300" y="478155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876800" y="4867275"/>
            <a:ext cx="442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这是本程序的合同，不是所有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CLI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的通用语义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876800" y="5143500"/>
            <a:ext cx="44291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调用者需要同时检查退出码和报告，不能看到有标准输出就判断成功。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89" name="" descr="&lt;Slide notes={`时间这条规则之所以能完全交给程序，是因为它已经被写成了精确的形式。&#10;&#10;我们约定活动占用是 [开始, 结束) 这样的半开区间：包含开始时刻，不包含结束时刻。两个区间 [a, b) 和 [c, d) 算不算重叠，只看一个条件——a 小于 d，并且 c 小于 b。&#10;&#10;这个写法带来两个好处。第一，判断是确定的，同样的输入永远得到同样的结论，不会出现「看情况」。第二，边界是明确的：前一件事 10:00 结束，后一件事 10:00 开始，这两件事不算重叠。&#10;&#10;后面所有的冲突检查，都建立在这一条约定上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②&lt;/Text&gt;&#10;            &lt;/Box&gt;&#10;            &lt;Text style={{ fontSize: 16, color: '#546779' }}&gt;2.7.2&lt;/Text&gt;&#10;        &lt;/Box&gt;&#10;&#10;        &lt;Text style={{ fontSize: 56, fontWeight: 'bold', color: '#20344B', lineHeight: 1.15 }}&gt;为什么时间边界适合确定性检查&lt;/Text&gt;&#10;&#10;        &lt;Box style={{ width: 640, height: 4, background: '#276FBF' }} /&gt;&#10;&#10;        &lt;Text style={{ fontSize: 19, color: '#546779', lineHeight: 1.7 }}&gt;活动占用是半开区间，重叠有可以逐条判定的条件。&lt;/Text&gt;&#10;&#10;        &lt;Box style={{ marginTop: 10, flexDirection: 'row', alignItems: 'center', gap: 16 }}&gt;&#10;            &lt;Box style={{ width: 496, height: 84, background: '#EDF4FC', borderRadius: 8, justifyContent: 'center', alignItems: 'center', flexDirection: 'column', gap: 6 }}&gt;&#10;                &lt;Text style={{ fontSize: 22, fontWeight: 'bold', color: '#276FBF' }}&gt;[ 开始, 结束 )&lt;/Text&gt;&#10;                &lt;Text style={{ fontSize: 14, color: '#546779' }}&gt;包含开始，不包含结束&lt;/Text&gt;&#10;            &lt;/Box&gt;&#10;            &lt;Box style={{ width: 44, height: 84, justifyContent: 'center', alignItems: 'center' }}&gt;&lt;Text style={{ fontSize: 26, color: '#276FBF' }}&gt;›&lt;/Text&gt;&lt;/Box&gt;&#10;            &lt;Box style={{ width: 496, height: 84, background: '#ECF7F2', borderRadius: 8, justifyContent: 'center', alignItems: 'center', flexDirection: 'column', gap: 6 }}&gt;&#10;                &lt;Text style={{ fontSize: 22, fontWeight: 'bold', color: '#26816B' }}&gt;a &amp;lt; d 并且 c &amp;lt; b&lt;/Text&gt;&#10;                &lt;Text style={{ fontSize: 14, color: '#546779' }}&gt;两个区间重叠的充要条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609600" y="11334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42950" y="12382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295400" y="13049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2.7.2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09600" y="18383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为什么时间边界适合确定性检查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27527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29622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活动占用是半开区间，重叠有可以逐条判定的条件。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3600450"/>
            <a:ext cx="47244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2343150" y="376237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[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开始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结束</a:t>
            </a: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)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2305050" y="40767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包含开始，不包含结束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565785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057900" y="3600450"/>
            <a:ext cx="47244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610475" y="3762375"/>
            <a:ext cx="1628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&lt; d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并且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c &lt; b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686675" y="40767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两个区间重叠的充要条件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06" name="" descr="&lt;Slide notes={`手作室的已有预约是 10:00 到 10:30。现在有两份候选，都安排在这个房间里。&#10;&#10;第一份从 09:00 到 10:00。它和已有预约在 10:00 这个点上首尾相接。按半开区间，第一份不包含 10:00，已有预约包含 10:00，所以两者不重叠，这份候选在时间规则上通过。&#10;&#10;第二份从 09:30 到 10:30。它有一段落在已有预约里面，相交的部分是 10:00 到 10:30，所以判定为重叠，不合格。&#10;&#10;这里有一个很容易犯的错：只看开始时间是否相同。这两份候选的开始时间分别是 09:00 和 09:30，都和 10:00 不一样。如果只比开始时间，第二份冲突就会被整个漏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2　为什么时间边界适合确定性检查&lt;/Text&gt;&#10;            &lt;Text style={{ fontSize: 34, fontWeight: 'bold', color: '#20344B' }}&gt;相接不算重叠，重叠有公式&lt;/Text&gt;&#10;        &lt;/Box&gt;&#10;    &lt;/Box&gt;&#10;&#10;    &lt;Box style={{ height: 540, flexDirection: 'column', justifyContent: 'center', gap: 14 }}&gt;&#10;&#10;        &lt;Box style={{ flexDirection: 'row', gap: 12, alignItems: 'center' }}&gt;&#10;            &lt;Box style={{ width: 170, flexDirection: 'column', gap: 2, justifyContent: 'center' }}&gt;&#10;                &lt;Text style={{ fontSize: 15, fontWeight: 'bold', color: '#20344B' }}&gt;已有预约&lt;/Text&gt;&#10;                &lt;Text style={{ fontSize: 14, color: '#546779' }}&gt;10:00–10:30&lt;/Text&gt;&#10;            &lt;/Box&gt;&#10;            &lt;Box style={{ width: 960, height: 44, flexDirection: 'row' }}&gt;&#10;                &lt;Box style={{ width: 480 }} /&gt;&#10;                &lt;Box style={{ width: 240, height: 44, background: '#546779', borderRadius: 6, justifyContent: 'center', alignItems: 'center' }}&gt;&#10;                    &lt;Text style={{ fontSize: 14, color: '#FFFFFF' }}&gt;手作室已有预约&lt;/Text&gt;&#10;                &lt;/Box&gt;&#10;                &lt;Box style={{ width: 240 }} /&gt;&#10;            &lt;/Box&gt;&#10;        &lt;/Box&gt;&#10;&#10;        &lt;Box style={{ flexDirection: 'row', gap: 12, alignItems: 'center' }}&gt;&#10;            &lt;Box style={{ width: 170, flexDirection: 'column', gap: 2, justifyContent: 'center' }}&gt;&#10;                &lt;Text style={{ fontSize: 15, fontWeight: 'bold', color: '#26816B' }}&gt;候选 甲&lt;/Text&gt;&#10;                &lt;Text style={{ fontSize: 14, color: '#546779' }}&gt;09:00–10:00&lt;/Text&gt;&#10;            &lt;/Box&gt;&#10;            &lt;Box style={{ width: 960, height: 44, flexDirection: 'row' }}&gt;&#10;                &lt;Box style={{ width: 480, height: 44, background: '#26816B', borderRadius: 6, justifyContent: 'center', alignItems: 'center' }}&gt;&#10;                    &lt;Text style={{ fontSize: 14, color: '#FFFFFF' }}&gt;端点相接，不重叠&lt;/Text&gt;&#10;                &lt;/Box&gt;&#10;                &lt;Box style={{ width: 480 }} /&gt;&#10;            &lt;/Box&gt;&#10;        &lt;/Box&gt;&#10;&#10;        &lt;Box style={{ flexDirection: 'row', gap: 12, alignItems: 'center' }}&gt;&#10;            &lt;Box style={{ width: 170, flexDirection: 'column', gap: 2, justifyContent: 'center' }}&gt;&#10;                &lt;Text style={{ fontSize: 15, fontWeight: 'bold', color: '#CB6B28' }}&gt;候选 乙&lt;/Text&gt;&#10;                &lt;Text style={{ fontSize: 14, color: '#546779' }}&gt;09:30–10:30&lt;/Text&gt;&#10;            &lt;/Box&gt;&#10;            &lt;Box style={{ width: 960, height: 44, flexDirection: 'row' }}&gt;&#10;                &lt;Box style={{ width: 240 }} /&gt;&#10;                &lt;Box style={{ width: 480, height: 44, background: '#CB6B28', borderRadius: 6, justifyContent: 'center', alignItems: 'center' }}&gt;&#10;                    &lt;Text style={{ fontSize: 14, color: '#FFFFFF' }}&gt;与预约相交，不合格&lt;/Text&gt;&#10;                &lt;/Box&gt;&#10;                &lt;Box style={{ width: 240 }} /&gt;&#10;            &lt;/Box&gt;&#10;        &lt;/Box&gt;&#10;&#10;        &lt;Box style={{ flexDirection: 'row', gap: 12 }}&gt;&#10;            &lt;Box style={{ width: 170 }} /&gt;&#10;            &lt;Box style={{ width: 960, flexDirection: 'row' }}&gt;&#10;                &lt;Box style={{ width: 120 }}&gt;&lt;Text style={{ fontSize: 14, color: '#546779' }}&gt;09:00&lt;/Text&gt;&lt;/Box&gt;&#10;                &lt;Box style={{ width: 240, alignItems: 'center' }}&gt;&lt;Text style={{ fontSize: 14, color: '#546779' }}&gt;09:30&lt;/Text&gt;&lt;/Box&gt;&#10;                &lt;Box style={{ width: 240, alignItems: 'center' }}&gt;&lt;Text style={{ fontSize: 14, color: '#CB6B28' }}&gt;10:00&lt;/Text&gt;&lt;/Box&gt;&#10;                &lt;Box style={{ width: 240, alignItems: 'center' }}&gt;&lt;Text style={{ fontSize: 14, color: '#546779' }}&gt;10:30&lt;/Text&gt;&lt;/Box&gt;&#10;                &lt;Box style={{ width: 120, alignItems: 'flex-end' }}&gt;&lt;Text style={{ fontSize: 14, color: '#546779' }}&gt;11:00&lt;/Text&gt;&lt;/Box&gt;&#10;            &lt;/Box&gt;&#10;        &lt;/Box&gt;&#10;&#10;        &lt;Box style={{ flexDirection: 'row', gap: 20 }}&gt;&#10;            &lt;Box style={{ flex: 1, height: 76, background: '#ECF7F2', borderRadius: 10, padding: '12px 18px', flexDirection: 'row', alignItems: 'center', gap: 14 }}&gt;&#10;                &lt;Box style={{ width: 4, height: 46, background: '#26816B' }} /&gt;&#10;                &lt;Box style={{ flexDirection: 'column', gap: 3 }}&gt;&#10;                    &lt;Text style={{ fontSize: 16, fontWeight: 'bold', color: '#26816B' }}&gt;甲：端点相接&lt;/Text&gt;&#10;                    &lt;Text style={{ fontSize: 14, color: '#546779' }}&gt;前者不含 10:00，后者含 10:00，不构成重叠。&lt;/Text&gt;&#10;                &lt;/Box&gt;&#10;            &lt;/Box&gt;&#10;            &lt;Box style={{ flex: 1, height: 76, background: '#FFF4E6', borderRadius: 10, padding: '12px 18px', flexDirection: 'row', alignItems: 'center', gap: 14 }}&gt;&#10;                &lt;Box style={{ width: 4, height: 46, background: '#CB6B28' }} /&gt;&#10;                &lt;Box style={{ flexDirection: 'column', gap: 3 }}&gt;&#10;                    &lt;Text style={{ fontSize: 16, fontWeight: 'bold', color: '#CB6B28' }}&gt;乙：真的重叠&lt;/Text&gt;&#10;                    &lt;Text style={{ fontSize: 14, color: '#546779' }}&gt;只比较开始时间是否相同，会漏掉这种冲突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为什么时间边界适合确定性检查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相接不算重叠，重叠有公式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241935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10:00–10:30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915150" y="2381250"/>
            <a:ext cx="2286000" cy="419100"/>
          </a:xfrm>
          <a:prstGeom prst="roundRect">
            <a:avLst>
              <a:gd name="adj" fmla="val 13636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591425" y="25146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手作室已有预约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候选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甲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09:00–10:00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2343150" y="2933700"/>
            <a:ext cx="4572000" cy="419100"/>
          </a:xfrm>
          <a:prstGeom prst="roundRect">
            <a:avLst>
              <a:gd name="adj" fmla="val 1363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4095750" y="30670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端点相接，不重叠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候选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乙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09:30–10:30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4629150" y="3486150"/>
            <a:ext cx="4572000" cy="419100"/>
          </a:xfrm>
          <a:prstGeom prst="roundRect">
            <a:avLst>
              <a:gd name="adj" fmla="val 13636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315075" y="36195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与预约相交，不合格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2343150" y="40386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457700" y="403860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09:30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743700" y="403860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9029700" y="403860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134725" y="403860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11:00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09600" y="4333875"/>
            <a:ext cx="53911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781050" y="4476750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52500" y="4505325"/>
            <a:ext cx="277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甲：端点相接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952500" y="4724400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前者不含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，后者含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，不构成重叠。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191250" y="4333875"/>
            <a:ext cx="539115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6362700" y="4476750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534150" y="4505325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乙：真的重叠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534150" y="47244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只比较开始时间是否相同，会漏掉这种冲突。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38" name="" descr="&lt;Slide notes={`时间不冲突，只是通过的必要条件之一，不是全部。&#10;&#10;在检查重叠之前，还要过几道关：日期必须是 2026 年 10 月 17 日，时区是 Asia/Shanghai，开放窗口是 09:00 到 12:00；所有时间要写成带 +08:00 偏移量的 ISO 8601 字符串；开始时间必须早于结束时间，精确到整分钟。&#10;&#10;再往后是完整性：每项活动恰好安排一次，人数、时长和材料要和 requests.csv 一致，房间必须在允许列表里。如果方案里干脆少了手作活动，它同样不合格——不是因为冲突，而是因为该做的事没做。&#10;&#10;还有一条边界：校验器只判断已经形式化的条件，它不替组织者挑选最好的方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2　为什么时间边界适合确定性检查&lt;/Text&gt;&#10;            &lt;Text style={{ fontSize: 34, fontWeight: 'bold', color: '#20344B' }}&gt;通过不只是「没有冲突」&lt;/Text&gt;&#10;        &lt;/Box&gt;&#10;    &lt;/Box&gt;&#10;&#10;    &lt;Box style={{ height: 540, flexDirection: 'row', gap: 32 }}&gt;&#10;&#10;        &lt;Box style={{ width: 448, flexDirection: 'column', justifyContent: 'center', gap: 14 }}&gt;&#10;            &lt;Text style={{ fontSize: 15, color: '#546779' }}&gt;先过格式与窗口，再看完整性&lt;/Text&gt;&#10;            &lt;Text style={{ fontSize: 24, fontWeight: 'bold', color: '#276FBF', lineHeight: 1.45 }}&gt;四道关，缺一道都不通过&lt;/Text&gt;&#10;            &lt;Box style={{ width: 56, height: 3, background: '#26816B' }} /&gt;&#10;            &lt;Text style={{ fontSize: 16, color: '#546779', lineHeight: 1.8 }}&gt;校验器只判断已经形式化的条件。它负责指出「违反了哪一条」，不负责判断这个方案是不是组织者心里最好的那个。&lt;/Text&gt;&#10;        &lt;/Box&gt;&#10;&#10;        &lt;Box style={{ width: 672, flexDirection: 'column', justifyContent: 'center', gap: 10 }}&gt;&#10;&#10;            &lt;Box style={{ height: 88, background: '#F4F7FA', borderRadius: 10, padding: '0 20px', flexDirection: 'row', alignItems: 'center', gap: 16 }}&gt;&#10;                &lt;Box style={{ width: 4, height: 48, background: '#276FBF' }} /&gt;&#10;                &lt;Box style={{ flexDirection: 'column', gap: 3 }}&gt;&#10;                    &lt;Text style={{ fontSize: 18, fontWeight: 'bold', color: '#20344B' }}&gt;日期与开放窗口&lt;/Text&gt;&#10;                    &lt;Text style={{ fontSize: 15, color: '#546779', lineHeight: 1.5 }}&gt;落在 2026-10-17 的 09:00–12:00 之内&lt;/Text&gt;&#10;                &lt;/Box&gt;&#10;            &lt;/Box&gt;&#10;&#10;            &lt;Box style={{ height: 88, background: '#F4F7FA', borderRadius: 10, padding: '0 20px', flexDirection: 'row', alignItems: 'center', gap: 16 }}&gt;&#10;                &lt;Box style={{ width: 4, height: 48, background: '#276FBF' }} /&gt;&#10;                &lt;Box style={{ flexDirection: 'column', gap: 3 }}&gt;&#10;                    &lt;Text style={{ fontSize: 18, fontWeight: 'bold', color: '#20344B' }}&gt;时区与时间格式&lt;/Text&gt;&#10;                    &lt;Text style={{ fontSize: 15, color: '#546779', lineHeight: 1.5 }}&gt;带 +08:00 的 ISO 8601 字符串，精确到整分钟&lt;/Text&gt;&#10;                &lt;/Box&gt;&#10;            &lt;/Box&gt;&#10;&#10;            &lt;Box style={{ height: 88, background: '#F4F7FA', borderRadius: 10, padding: '0 20px', flexDirection: 'row', alignItems: 'center', gap: 16 }}&gt;&#10;                &lt;Box style={{ width: 4, height: 48, background: '#276FBF' }} /&gt;&#10;                &lt;Box style={{ flexDirection: 'column', gap: 3 }}&gt;&#10;                    &lt;Text style={{ fontSize: 18, fontWeight: 'bold', color: '#20344B' }}&gt;开始早于结束&lt;/Text&gt;&#10;                    &lt;Text style={{ fontSize: 15, color: '#546779', lineHeight: 1.5 }}&gt;不允许零长度或反向的区间&lt;/Text&gt;&#10;                &lt;/Box&gt;&#10;            &lt;/Box&gt;&#10;&#10;            &lt;Box style={{ height: 88, background: '#FFF4E6', borderRadius: 10, padding: '0 20px', flexDirection: 'row', alignItems: 'center', gap: 16 }}&gt;&#10;                &lt;Box style={{ width: 4, height: 48, background: '#CB6B28' }} /&gt;&#10;                &lt;Box style={{ flexDirection: 'column', gap: 3 }}&gt;&#10;                    &lt;Text style={{ fontSize: 18, fontWeight: 'bold', color: '#CB6B28' }}&gt;时长与覆盖完整性&lt;/Text&gt;&#10;                    &lt;Text style={{ fontSize: 15, color: '#546779', lineHeight: 1.5 }}&gt;每项活动恰好一次；缺少手作活动的方案同样不合格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为什么时间边界适合确定性检查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通过不只是「没有冲突」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先过格式与窗口，再看完整性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4267200" cy="4000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四道关，缺一道都不通过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37242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09600" y="3886200"/>
            <a:ext cx="4267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校验器只判断已经形式化的条件。它负责指出「违反了哪一条」，不负责判断这个方案是不是组织者心里最好的那个。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5181600" y="1895475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5372100" y="20859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5562600" y="206692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日期与开放窗口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5562600" y="2305050"/>
            <a:ext cx="24955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落在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2026-10-17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09:00–12:00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之内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5181600" y="2828925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5372100" y="30194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5562600" y="3000375"/>
            <a:ext cx="2981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时区与时间格式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5562600" y="3238500"/>
            <a:ext cx="2981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带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+08:00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ISO 8601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字符串，精确到整分钟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5181600" y="3762375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5372100" y="39528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5562600" y="39338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开始早于结束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5562600" y="41719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不允许零长度或反向的区间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5181600" y="4695825"/>
            <a:ext cx="6400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5372100" y="48863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562600" y="486727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时长与覆盖完整性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5562600" y="5105400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每项活动恰好一次；缺少手作活动的方案同样不合格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notes={`在把命令交给模型之前，我要先自己把它跑通三次。&#10;&#10;第一次用正确的方案，看它是不是真的返回通过。第二次用错误方案，看它是不是真的指出问题。第三次故意给一个不存在的文件名，看它是不是能把输入错误和方案不合格区分开。&#10;&#10;这三次加起来，才说明这条命令是「活的」：它既会通过，也会拒绝，还会报输入错误。如果只跑一次成功案例，我无法判断它是真的检查了规则，还是无论给什么都返回 0。&#10;&#10;顺序很重要。手工基线在自己手里建立起来，后面模型执行的结果才有参照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③&lt;/Text&gt;&#10;            &lt;/Box&gt;&#10;            &lt;Text style={{ fontSize: 16, color: '#546779' }}&gt;2.7.3&lt;/Text&gt;&#10;        &lt;/Box&gt;&#10;&#10;        &lt;Text style={{ fontSize: 56, fontWeight: 'bold', color: '#20344B', lineHeight: 1.15 }}&gt;先手工运行，再让模型调用&lt;/Text&gt;&#10;&#10;        &lt;Box style={{ width: 640, height: 4, background: '#276FBF' }} /&gt;&#10;&#10;        &lt;Text style={{ fontSize: 19, color: '#546779', lineHeight: 1.7 }}&gt;先把命令在自己手里跑通三次，再把它交给模型。&lt;/Text&gt;&#10;&#10;        &lt;Box style={{ marginTop: 10, flexDirection: 'row', alignItems: 'center', justifyContent: 'center', gap: 16 }}&gt;&#10;            &lt;Box style={{ width: 300, height: 76, background: '#ECF7F2', borderRadius: 8, justifyContent: 'center', alignItems: 'center' }}&gt;&#10;                &lt;Text style={{ fontSize: 17, fontWeight: 'bold', color: '#26816B' }}&gt;第一次　正确方案&lt;/Text&gt;&#10;            &lt;/Box&gt;&#10;            &lt;Box style={{ width: 44, height: 76, justifyContent: 'center', alignItems: 'center' }}&gt;&lt;Text style={{ fontSize: 26, color: '#276FBF' }}&gt;›&lt;/Text&gt;&lt;/Box&gt;&#10;            &lt;Box style={{ width: 300, height: 76, background: '#FFF4E6', borderRadius: 8, justifyContent: 'center', alignItems: 'center' }}&gt;&#10;                &lt;Text style={{ fontSize: 17, fontWeight: 'bold', color: '#CB6B28' }}&gt;第二次　错误方案&lt;/Text&gt;&#10;            &lt;/Box&gt;&#10;            &lt;Box style={{ width: 44, height: 76, justifyContent: 'center', alignItems: 'center' }}&gt;&lt;Text style={{ fontSize: 26, color: '#276FBF' }}&gt;›&lt;/Text&gt;&lt;/Box&gt;&#10;            &lt;Box style={{ width: 300, height: 76, background: '#FFF4E6', borderRadius: 8, justifyContent: 'center', alignItems: 'center' }}&gt;&#10;                &lt;Text style={{ fontSize: 17, fontWeight: 'bold', color: '#CB6B28' }}&gt;第三次　不存在的文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09600" y="11715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2950" y="12763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295400" y="13430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2.7.3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先手工运行，再让模型调用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27908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先把命令在自己手里跑通三次，再把它交给模型。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085850" y="3638550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866900" y="390525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第一次　正确方案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2672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667250" y="3638550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448300" y="390525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第二次　错误方案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486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248650" y="3638550"/>
            <a:ext cx="28575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867775" y="39052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第三次　不存在的文件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notes={`同一条命令，我们让它跑三次，每次换一个输入。&#10;&#10;第一次用人工构造的正确方案，期望退出码是 0，报告写到 output/validation-report.json。第二次用示例目录里提供的错误方案，期望退出码是 1，报告写到 invalid-report.json。第三次故意给一个不存在的文件名，期望退出码是 2，错误信息出现在标准错误里。&#10;&#10;三次结果都要留下来，不要用同一个文件覆盖之后就丢掉失败记录。失败记录才是判断「程序有没有真的在工作」的证据。&#10;&#10;这三步做完，手里就有了一条可信的基线：同样一条命令，什么输入应该得到什么结论，我心里有数。基线没有，重跑就没有参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3　先手工运行，再让模型调用&lt;/Text&gt;&#10;            &lt;Text style={{ fontSize: 34, fontWeight: 'bold', color: '#20344B' }}&gt;同一脚本，三次运行&lt;/Text&gt;&#10;        &lt;/Box&gt;&#10;    &lt;/Box&gt;&#10;&#10;    &lt;Box style={{ height: 540, flexDirection: 'row', gap: 32 }}&gt;&#10;&#10;        &lt;Box style={{ width: 300, flexDirection: 'column', justifyContent: 'center', gap: 10 }}&gt;&#10;            &lt;Box style={{ height: 28 }}&gt;&lt;Text style={{ fontSize: 14, color: '#546779' }}&gt;输入&lt;/Text&gt;&lt;/Box&gt;&#10;            &lt;Box style={{ height: 88, background: '#ECF7F2', borderRadius: 8, padding: '0 18px', flexDirection: 'row', alignItems: 'center', gap: 12 }}&gt;&#10;                &lt;Box style={{ width: 4, height: 48, background: '#26816B' }} /&gt;&#10;                &lt;Box style={{ flexDirection: 'column', gap: 3 }}&gt;&#10;                    &lt;Text style={{ fontSize: 18, fontWeight: 'bold', color: '#26816B' }}&gt;01 正确方案&lt;/Text&gt;&#10;                    &lt;Text style={{ fontSize: 13, color: '#546779' }}&gt;fixtures/valid-schedule.json&lt;/Text&gt;&#10;                &lt;/Box&gt;&#10;            &lt;/Box&gt;&#10;            &lt;Box style={{ height: 88, background: '#FFF4E6', borderRadius: 8, padding: '0 18px', flexDirection: 'row', alignItems: 'center', gap: 12 }}&gt;&#10;                &lt;Box style={{ width: 4, height: 48, background: '#CB6B28' }} /&gt;&#10;                &lt;Box style={{ flexDirection: 'column', gap: 3 }}&gt;&#10;                    &lt;Text style={{ fontSize: 18, fontWeight: 'bold', color: '#CB6B28' }}&gt;02 错误方案&lt;/Text&gt;&#10;                    &lt;Text style={{ fontSize: 13, color: '#546779' }}&gt;fixtures/invalid-schedule.json&lt;/Text&gt;&#10;                &lt;/Box&gt;&#10;            &lt;/Box&gt;&#10;            &lt;Box style={{ height: 88, background: '#FFF4E6', borderRadius: 8, padding: '0 18px', flexDirection: 'row', alignItems: 'center', gap: 12 }}&gt;&#10;                &lt;Box style={{ width: 4, height: 48, background: '#CB6B28' }} /&gt;&#10;                &lt;Box style={{ flexDirection: 'column', gap: 3 }}&gt;&#10;                    &lt;Text style={{ fontSize: 18, fontWeight: 'bold', color: '#CB6B28' }}&gt;03 不存在的文件&lt;/Text&gt;&#10;                    &lt;Text style={{ fontSize: 13, color: '#546779' }}&gt;fixtures/not-found.json&lt;/Text&gt;&#10;                &lt;/Box&gt;&#10;            &lt;/Box&gt;&#10;        &lt;/Box&gt;&#10;&#10;        &lt;Box style={{ width: 820, flexDirection: 'column', justifyContent: 'center', gap: 10 }}&gt;&#10;            &lt;Box style={{ height: 28, flexDirection: 'row', gap: 16, padding: '0 18px' }}&gt;&#10;                &lt;Box style={{ width: 448 }}&gt;&lt;Text style={{ fontSize: 14, color: '#546779' }}&gt;预期结果&lt;/Text&gt;&lt;/Box&gt;&#10;                &lt;Box style={{ width: 320 }}&gt;&lt;Text style={{ fontSize: 14, color: '#546779' }}&gt;要保存什么&lt;/Text&gt;&lt;/Box&gt;&#10;            &lt;/Box&gt;&#10;            &lt;Box style={{ height: 88, background: '#F4F7FA', borderRadius: 8, padding: '0 18px', flexDirection: 'row', alignItems: 'center', gap: 16 }}&gt;&#10;                &lt;Box style={{ width: 448 }}&gt;&lt;Text style={{ fontSize: 15, color: '#20344B', lineHeight: 1.55 }}&gt;退出码 0；报告写入 output/validation-report.json&lt;/Text&gt;&lt;/Box&gt;&#10;                &lt;Box style={{ width: 320 }}&gt;&lt;Text style={{ fontSize: 15, color: '#546779', lineHeight: 1.55 }}&gt;通过报告与退出码&lt;/Text&gt;&lt;/Box&gt;&#10;            &lt;/Box&gt;&#10;            &lt;Box style={{ height: 88, background: '#F4F7FA', borderRadius: 8, padding: '0 18px', flexDirection: 'row', alignItems: 'center', gap: 16 }}&gt;&#10;                &lt;Box style={{ width: 448 }}&gt;&lt;Text style={{ fontSize: 15, color: '#20344B', lineHeight: 1.55 }}&gt;退出码 1；报告写入 output/invalid-report.json&lt;/Text&gt;&lt;/Box&gt;&#10;                &lt;Box style={{ width: 320 }}&gt;&lt;Text style={{ fontSize: 15, color: '#CB6B28', lineHeight: 1.55 }}&gt;不合格报告与失败原因&lt;/Text&gt;&lt;/Box&gt;&#10;            &lt;/Box&gt;&#10;            &lt;Box style={{ height: 88, background: '#F4F7FA', borderRadius: 8, padding: '0 18px', flexDirection: 'row', alignItems: 'center', gap: 16 }}&gt;&#10;                &lt;Box style={{ width: 448 }}&gt;&lt;Text style={{ fontSize: 15, color: '#20344B', lineHeight: 1.55 }}&gt;退出码 2；错误信息写入标准错误，不生成报告&lt;/Text&gt;&lt;/Box&gt;&#10;                &lt;Box style={{ width: 320 }}&gt;&lt;Text style={{ fontSize: 15, color: '#CB6B28', lineHeight: 1.55 }}&gt;输入错误的诊断信息&lt;/Text&gt;&lt;/Box&gt;&#10;            &lt;/Box&gt;&#10;            &lt;Box style={{ flexDirection: 'row', alignItems: 'center', gap: 14, background: '#F4F7FA', borderRadius: 8, padding: '14px 18px' }}&gt;&#10;                &lt;Box style={{ width: 4, height: 40, background: '#276FBF' }} /&gt;&#10;                &lt;Text style={{ fontSize: 15, color: '#546779', lineHeight: 1.55 }}&gt;不要用同一个文件覆盖后便丢弃失败记录：失败报告才是判断程序有没有真的在检查规则的证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先手工运行，再让模型调用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同一脚本，三次运行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2543175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81050" y="27336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33450" y="27717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正确方案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33450" y="3009900"/>
            <a:ext cx="161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fixtures/valid-schedule.json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3476625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781050" y="36671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33450" y="3705225"/>
            <a:ext cx="1733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错误方案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33450" y="394335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fixtures/invalid-schedule.json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09600" y="4410075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781050" y="46005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33450" y="46386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不存在的文件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33450" y="4876800"/>
            <a:ext cx="1371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fixtures/not-found.json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943350" y="1809750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预期结果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62950" y="18097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要保存什么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771900" y="2171700"/>
            <a:ext cx="78105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943350" y="2457450"/>
            <a:ext cx="4267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退出码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；报告写入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output/validation-report.json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62950" y="2457450"/>
            <a:ext cx="3048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通过报告与退出码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771900" y="3105150"/>
            <a:ext cx="78105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943350" y="3390900"/>
            <a:ext cx="4267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退出码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；报告写入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output/invalid-report.json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62950" y="3390900"/>
            <a:ext cx="3048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不合格报告与失败原因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771900" y="4038600"/>
            <a:ext cx="78105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943350" y="4324350"/>
            <a:ext cx="4267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退出码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；错误信息写入标准错误，不生成报告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62950" y="4324350"/>
            <a:ext cx="3048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输入错误的诊断信息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771900" y="4972050"/>
            <a:ext cx="78105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3943350" y="51054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114800" y="5162550"/>
            <a:ext cx="6143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不要用同一个文件覆盖后便丢弃失败记录：失败报告才是判断程序有没有真的在检查规则的证据。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notes={`再具体看两个错法，它们指向的是两条不同的规则。&#10;&#10;第一个：把候选副本里的手作活动改成 10:00 到 11:00，其他字段保持完整。它满足六十分钟的时长要求，看起来没问题，但是它和 10:00 到 10:30 的已有预约相交，应该由时间重叠规则指出。&#10;&#10;第二个：把人数改成十三。手作室的容量是十二，所以这里多出一个容量问题，应该由容量规则指出。&#10;&#10;这两个错误必须分别被对应规则点出来，而不是笼统地说一句「方案不合理」。含糊的结论解决不了问题，我也没法知道该改哪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3　先手工运行，再让模型调用&lt;/Text&gt;&#10;            &lt;Text style={{ fontSize: 34, fontWeight: 'bold', color: '#20344B' }}&gt;两种错法，各自被指出&lt;/Text&gt;&#10;        &lt;/Box&gt;&#10;    &lt;/Box&gt;&#10;&#10;    &lt;Box style={{ height: 540, flexDirection: 'column', justifyContent: 'center', gap: 14 }}&gt;&#10;&#10;        &lt;Box style={{ flexDirection: 'row', gap: 48 }}&gt;&#10;&#10;            &lt;Box style={{ width: 552, height: 392, background: '#F4F7FA', borderRadius: 12, padding: '22px 24px', flexDirection: 'column', gap: 12 }}&gt;&#10;                &lt;Text style={{ fontSize: 14, color: '#546779' }}&gt;候选副本 · 错法 一&lt;/Text&gt;&#10;                &lt;Text style={{ fontSize: 22, fontWeight: 'bold', color: '#CB6B28', lineHeight: 1.4 }}&gt;时长满足，却与预约重叠&lt;/Text&gt;&#10;                &lt;Box style={{ height: 56, background: '#F7F3E8', borderRadius: 8, justifyContent: 'center', alignItems: 'center' }}&gt;&#10;                    &lt;Text style={{ fontSize: 15, color: '#20344B' }}&gt;手作活动　10:00–11:00&lt;/Text&gt;&#10;                &lt;/Box&gt;&#10;                &lt;Text style={{ fontSize: 15, color: '#546779', lineHeight: 1.65 }}&gt;满足六十分钟时长，其他字段保持完整；但它与 10:00–10:30 的已有预约相交。&lt;/Text&gt;&#10;                &lt;Box style={{ height: 1, background: '#B5C7D8' }} /&gt;&#10;                &lt;Box style={{ flexDirection: 'row', alignItems: 'center', gap: 12 }}&gt;&#10;                    &lt;Box style={{ width: 4, height: 44, background: '#CB6B28' }} /&gt;&#10;                    &lt;Box style={{ flexDirection: 'column', gap: 2 }}&gt;&#10;                        &lt;Text style={{ fontSize: 14, color: '#546779' }}&gt;应当由哪条规则指出&lt;/Text&gt;&#10;                        &lt;Text style={{ fontSize: 18, fontWeight: 'bold', color: '#20344B' }}&gt;时间重叠规则&lt;/Text&gt;&#10;                    &lt;/Box&gt;&#10;                &lt;/Box&gt;&#10;            &lt;/Box&gt;&#10;&#10;            &lt;Box style={{ width: 552, height: 392, background: '#F4F7FA', borderRadius: 12, padding: '22px 24px', flexDirection: 'column', gap: 12 }}&gt;&#10;                &lt;Text style={{ fontSize: 14, color: '#546779' }}&gt;候选副本 · 错法 二&lt;/Text&gt;&#10;                &lt;Text style={{ fontSize: 22, fontWeight: 'bold', color: '#CB6B28', lineHeight: 1.4 }}&gt;人数超出房间容量&lt;/Text&gt;&#10;                &lt;Box style={{ height: 56, background: '#F7F3E8', borderRadius: 8, justifyContent: 'center', alignItems: 'center' }}&gt;&#10;                    &lt;Text style={{ fontSize: 15, color: '#20344B' }}&gt;手作活动人数　13&lt;/Text&gt;&#10;                &lt;/Box&gt;&#10;                &lt;Text style={{ fontSize: 15, color: '#546779', lineHeight: 1.65 }}&gt;手作室的容量是十二。人数改成十三之后，方案另外多出一个容量问题。&lt;/Text&gt;&#10;                &lt;Box style={{ height: 1, background: '#B5C7D8' }} /&gt;&#10;                &lt;Box style={{ flexDirection: 'row', alignItems: 'center', gap: 12 }}&gt;&#10;                    &lt;Box style={{ width: 4, height: 44, background: '#CB6B28' }} /&gt;&#10;                    &lt;Box style={{ flexDirection: 'column', gap: 2 }}&gt;&#10;                        &lt;Text style={{ fontSize: 14, color: '#546779' }}&gt;应当由哪条规则指出&lt;/Text&gt;&#10;                        &lt;Text style={{ fontSize: 18, fontWeight: 'bold', color: '#20344B' }}&gt;容量规则&lt;/Text&gt;&#10;                    &lt;/Box&gt;&#10;                &lt;/Box&gt;&#10;            &lt;/Box&gt;&#10;&#10;        &lt;/Box&gt;&#10;&#10;        &lt;Box style={{ flexDirection: 'row', alignItems: 'center', gap: 16, background: '#FFF4E6', borderRadius: 10, padding: '16px 22px' }}&gt;&#10;            &lt;Box style={{ width: 4, height: 48, background: '#CB6B28' }} /&gt;&#10;            &lt;Text style={{ fontSize: 16, color: '#546779', lineHeight: 1.6 }}&gt;两个错误应由相应的规则分别指出，而不只是笼统地给出「方案不合理」——含糊的结论解决不了问题。&lt;/Text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先手工运行，再让模型调用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两种错法，各自被指出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1400175"/>
            <a:ext cx="5257800" cy="3733800"/>
          </a:xfrm>
          <a:prstGeom prst="roundRect">
            <a:avLst>
              <a:gd name="adj" fmla="val 30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1609725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候选副本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错法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1885950"/>
            <a:ext cx="48006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时长满足，却与预约重叠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38200" y="2352675"/>
            <a:ext cx="4800600" cy="53340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476500" y="253365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手作活动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10:00–11:00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3000375"/>
            <a:ext cx="4800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满足六十分钟时长，其他字段保持完整；但它与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10:00–10:30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的已有预约相交。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38200" y="3686175"/>
            <a:ext cx="48006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838200" y="38100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90600" y="38290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应当由哪条规则指出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90600" y="40100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时间重叠规则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324600" y="1400175"/>
            <a:ext cx="5257800" cy="3733800"/>
          </a:xfrm>
          <a:prstGeom prst="roundRect">
            <a:avLst>
              <a:gd name="adj" fmla="val 30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553200" y="1609725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候选副本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错法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553200" y="1885950"/>
            <a:ext cx="48006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人数超出房间容量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553200" y="2352675"/>
            <a:ext cx="4800600" cy="53340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372475" y="2533650"/>
            <a:ext cx="1171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手作活动人数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553200" y="3000375"/>
            <a:ext cx="48006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手作室的容量是十二。人数改成十三之后，方案另外多出一个容量问题。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553200" y="3400425"/>
            <a:ext cx="48006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553200" y="35242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705600" y="35433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应当由哪条规则指出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705600" y="37242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容量规则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526732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819150" y="54197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09650" y="5505450"/>
            <a:ext cx="70389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两个错误应由相应的规则分别指出，而不只是笼统地给出「方案不合理」——含糊的结论解决不了问题。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notes={`这一步能建立可信的执行基线，反过来说，基线没有，重跑就没有意义。&#10;&#10;如果我自己手工运行都找不到文件，那么让模型重复执行同一条命令，也不会解决问题。原因很简单：问题不在谁执行，而在路径、环境或者参数本身有问题。&#10;&#10;所以顺序是：先确认工作目录是不是本章的 examples，相对路径是不是从这里开始解析；再确认解释器可用、依赖装好、编码是 UTF-8；最后确认输入文件和 --output 后面的输出路径确实存在、写得出。&#10;&#10;这三样都对了，再把可用的 CLI 暴露给模型。到那时候，模型交付的失败才是关于方案的失败，而不是关于环境的失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3　先手工运行，再让模型调用&lt;/Text&gt;&#10;            &lt;Text style={{ fontSize: 34, fontWeight: 'bold', color: '#20344B' }}&gt;基线没有，重跑就没有意义&lt;/Text&gt;&#10;        &lt;/Box&gt;&#10;    &lt;/Box&gt;&#10;&#10;    &lt;Box style={{ height: 540, flexDirection: 'row', gap: 36 }}&gt;&#10;&#10;        &lt;Box style={{ width: 372, flexDirection: 'column', justifyContent: 'center', gap: 14 }}&gt;&#10;            &lt;Text style={{ fontSize: 15, color: '#546779' }}&gt;先查路径 · 环境 · 参数&lt;/Text&gt;&#10;            &lt;Text style={{ fontSize: 26, fontWeight: 'bold', color: '#276FBF', lineHeight: 1.4 }}&gt;环境问题不要交出去&lt;/Text&gt;&#10;            &lt;Box style={{ width: 56, height: 3, background: '#26816B' }} /&gt;&#10;            &lt;Text style={{ fontSize: 16, color: '#546779', lineHeight: 1.8 }}&gt;命令在自己手里跑不通，说明问题还没轮到最后一步。先把本地这一层理顺，模型的执行结果才有意义。&lt;/Text&gt;&#10;        &lt;/Box&gt;&#10;&#10;        &lt;Box style={{ width: 744, flexDirection: 'column', justifyContent: 'center', gap: 12 }}&gt;&#10;&#10;            &lt;Box style={{ height: 92, background: '#F4F7FA', borderRadius: 10, padding: '0 20px', flexDirection: 'row', alignItems: 'center', gap: 16 }}&gt;&#10;                &lt;Box style={{ width: 4, height: 52, background: '#276FBF' }} /&gt;&#10;                &lt;Box style={{ width: 96 }}&gt;&lt;Text style={{ fontSize: 20, fontWeight: 'bold', color: '#20344B' }}&gt;路径&lt;/Text&gt;&lt;/Box&gt;&#10;                &lt;Text style={{ fontSize: 15, color: '#546779', lineHeight: 1.55, width: 560 }}&gt;相对路径从工作目录开始解析，先确认当前就在 examples 目录。&lt;/Text&gt;&#10;            &lt;/Box&gt;&#10;&#10;            &lt;Box style={{ height: 92, background: '#F4F7FA', borderRadius: 10, padding: '0 20px', flexDirection: 'row', alignItems: 'center', gap: 16 }}&gt;&#10;                &lt;Box style={{ width: 4, height: 52, background: '#276FBF' }} /&gt;&#10;                &lt;Box style={{ width: 96 }}&gt;&lt;Text style={{ fontSize: 20, fontWeight: 'bold', color: '#20344B' }}&gt;环境&lt;/Text&gt;&lt;/Box&gt;&#10;                &lt;Text style={{ fontSize: 15, color: '#546779', lineHeight: 1.55, width: 560 }}&gt;解释器可用、依赖装好、-X utf8 让中文输出不乱码。&lt;/Text&gt;&#10;            &lt;/Box&gt;&#10;&#10;            &lt;Box style={{ height: 92, background: '#F4F7FA', borderRadius: 10, padding: '0 20px', flexDirection: 'row', alignItems: 'center', gap: 16 }}&gt;&#10;                &lt;Box style={{ width: 4, height: 52, background: '#276FBF' }} /&gt;&#10;                &lt;Box style={{ width: 96 }}&gt;&lt;Text style={{ fontSize: 20, fontWeight: 'bold', color: '#20344B' }}&gt;参数&lt;/Text&gt;&lt;/Box&gt;&#10;                &lt;Text style={{ fontSize: 15, color: '#546779', lineHeight: 1.55, width: 560 }}&gt;输入文件与 --output 后面的输出路径确实存在、写得出。&lt;/Text&gt;&#10;            &lt;/Box&gt;&#10;&#10;            &lt;Box style={{ flexDirection: 'row', alignItems: 'center', gap: 16, background: '#FFF4E6', borderRadius: 10, padding: '18px 20px' }}&gt;&#10;                &lt;Box style={{ width: 4, height: 76, background: '#CB6B28' }} /&gt;&#10;                &lt;Box style={{ flexDirection: 'column', gap: 6 }}&gt;&#10;                    &lt;Text style={{ fontSize: 19, fontWeight: 'bold', color: '#CB6B28' }}&gt;手工都找不到文件，让模型重跑也不会解决&lt;/Text&gt;&#10;                    &lt;Text style={{ fontSize: 15, color: '#546779', lineHeight: 1.65 }}&gt;先把路径、环境和参数理顺，再把可用的 CLI 暴露给模型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先手工运行，再让模型调用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基线没有，重跑就没有意义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先查路径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环境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3019425"/>
            <a:ext cx="35433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环境问题不要交出去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35718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35433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命令在自己手里跑不通，说明问题还没轮到最后一步。先把本地这一层理顺，模型的执行结果才有意义。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495800" y="1695450"/>
            <a:ext cx="7086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4686300" y="18859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876800" y="201930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943600" y="200025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相对路径从工作目录开始解析，先确认当前就在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examples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目录。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495800" y="2686050"/>
            <a:ext cx="7086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4686300" y="28765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876800" y="300990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943600" y="299085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解释器可用、依赖装好、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-X utf8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让中文输出不乱码。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495800" y="3676650"/>
            <a:ext cx="7086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4686300" y="38671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876800" y="400050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943600" y="398145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输入文件与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--output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后面的输出路径确实存在、写得出。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495800" y="4667250"/>
            <a:ext cx="70866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4686300" y="48387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876800" y="4924425"/>
            <a:ext cx="3733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手工都找不到文件，让模型重跑也不会解决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876800" y="5200650"/>
            <a:ext cx="37338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先把路径、环境和参数理顺，再把可用的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CLI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暴露给模型。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notes={`走到这里，命令在自己手里已经跑得通了。接下来的问题是怎么把它交出去，又不把整台机器交出去。&#10;&#10;模型不应该有拼接任意命令的能力。它能做的，是决定这一次要检查哪个输入——是参考方案还是我提供的候选方案。至于用什么程序、什么参数、在哪个目录运行，由应用自己决定。&#10;&#10;这就是受控包装：把选择权留给模型，把执行权留在应用。调用链沿用 2.5 节已经建立的 Function Calling 回路，不需要新的机制。&#10;&#10;这样做还有一个好处，边界很清楚。哪些输入允许、输出保留多长、最多跑多久，全部写在应用里，可以逐条检查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④&lt;/Text&gt;&#10;            &lt;/Box&gt;&#10;            &lt;Text style={{ fontSize: 16, color: '#546779' }}&gt;2.7.4&lt;/Text&gt;&#10;        &lt;/Box&gt;&#10;&#10;        &lt;Text style={{ fontSize: 56, fontWeight: 'bold', color: '#20344B', lineHeight: 1.15 }}&gt;在 OpenAI 应用中包装受控命令&lt;/Text&gt;&#10;&#10;        &lt;Box style={{ width: 640, height: 4, background: '#276FBF' }} /&gt;&#10;&#10;        &lt;Text style={{ fontSize: 19, color: '#546779', lineHeight: 1.7 }}&gt;模型只交出输入名称，命令由应用自己拼。&lt;/Text&gt;&#10;&#10;        &lt;Box style={{ marginTop: 10, flexDirection: 'row', alignItems: 'center', justifyContent: 'center', gap: 12 }}&gt;&#10;            &lt;Box style={{ width: 232, height: 76, background: '#EDF4FC', borderRadius: 8, justifyContent: 'center', alignItems: 'center' }}&gt;&#10;                &lt;Text style={{ fontSize: 16, fontWeight: 'bold', color: '#276FBF' }}&gt;定义工具&lt;/Text&gt;&#10;            &lt;/Box&gt;&#10;            &lt;Box style={{ width: 44, height: 76, justifyContent: 'center', alignItems: 'center' }}&gt;&lt;Text style={{ fontSize: 26, color: '#276FBF' }}&gt;›&lt;/Text&gt;&lt;/Box&gt;&#10;            &lt;Box style={{ width: 232, height: 76, background: '#EDF4FC', borderRadius: 8, justifyContent: 'center', alignItems: 'center' }}&gt;&#10;                &lt;Text style={{ fontSize: 16, fontWeight: 'bold', color: '#276FBF' }}&gt;白名单映射&lt;/Text&gt;&#10;            &lt;/Box&gt;&#10;            &lt;Box style={{ width: 44, height: 76, justifyContent: 'center', alignItems: 'center' }}&gt;&lt;Text style={{ fontSize: 26, color: '#276FBF' }}&gt;›&lt;/Text&gt;&lt;/Box&gt;&#10;            &lt;Box style={{ width: 232, height: 76, background: '#ECF7F2', borderRadius: 8, justifyContent: 'center', alignItems: 'center' }}&gt;&#10;                &lt;Text style={{ fontSize: 16, fontWeight: 'bold', color: '#26816B' }}&gt;受控子进程&lt;/Text&gt;&#10;            &lt;/Box&gt;&#10;            &lt;Box style={{ width: 44, height: 76, justifyContent: 'center', alignItems: 'center' }}&gt;&lt;Text style={{ fontSize: 26, color: '#276FBF' }}&gt;›&lt;/Text&gt;&lt;/Box&gt;&#10;            &lt;Box style={{ width: 232, height: 76, background: '#ECF7F2', borderRadius: 8, justifyContent: 'center', alignItems: 'center' }}&gt;&#10;                &lt;Text style={{ fontSize: 16, fontWeight: 'bold', color: '#26816B' }}&gt;结果回传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09600" y="11715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42950" y="12763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295400" y="13430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2.7.4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应用中包装受控命令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27908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模型只交出输入名称，命令由应用自己拼。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04850" y="3638550"/>
            <a:ext cx="2209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504950" y="39052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定义工具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2004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562350" y="3638550"/>
            <a:ext cx="22098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286250" y="39052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白名单映射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579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419850" y="3638550"/>
            <a:ext cx="22098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143750" y="39052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受控子进程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9154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9277350" y="3638550"/>
            <a:ext cx="22098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0077450" y="39052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结果回传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notes={`受控函数只有四步，每一步都在缩小模型能影响的范围。&#10;&#10;第一步定义工具 run_schedule_check，它只接受一个参数，就是允许的输入名称。第二步做白名单映射：reference 指向参考方案，candidate 指向我提供的候选方案，名字之外的东西一概不认。&#10;&#10;第三步才是真正的执行。应用用参数列表启动本机 Python，列表里写死了解释器、UTF-8 模式、脚本路径和输入文件，shell 设为 False。第四步把记录回传：退出码、标准输出、标准错误，作为 function_call_output 交给模型。&#10;&#10;整条回路沿用 2.5 节的 Function Calling。模型不需要拼接任意命令，也没有这个能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4　在 OpenAI 应用中包装受控命令&lt;/Text&gt;&#10;            &lt;Text style={{ fontSize: 34, fontWeight: 'bold', color: '#20344B' }}&gt;只交出名字，不交出命令&lt;/Text&gt;&#10;        &lt;/Box&gt;&#10;    &lt;/Box&gt;&#10;&#10;    &lt;Box style={{ height: 540, flexDirection: 'column', justifyContent: 'center', gap: 16 }}&gt;&#10;&#10;        &lt;Box style={{ flexDirection: 'row', gap: 10, alignItems: 'center' }}&gt;&#10;&#10;            &lt;Box style={{ width: 232, height: 214, background: '#EDF4FC', borderRadius: 10, padding: '18px 18px', flexDirection: 'column', gap: 10 }}&gt;&#10;                &lt;Text style={{ fontSize: 24, fontWeight: 'bold', color: '#276FBF' }}&gt;01&lt;/Text&gt;&#10;                &lt;Text style={{ fontSize: 19, fontWeight: 'bold', color: '#20344B' }}&gt;定义工具&lt;/Text&gt;&#10;                &lt;Box style={{ height: 1, background: '#B5C7D8' }} /&gt;&#10;                &lt;Text style={{ fontSize: 14, color: '#546779', lineHeight: 1.6 }}&gt;run_schedule_check{'\n'}只接受允许的输入名称&lt;/Text&gt;&#10;            &lt;/Box&gt;&#10;&#10;            &lt;Box style={{ width: 44, height: 214, justifyContent: 'center', alignItems: 'center' }}&gt;&lt;Text style={{ fontSize: 26, color: '#276FBF' }}&gt;›&lt;/Text&gt;&lt;/Box&gt;&#10;&#10;            &lt;Box style={{ width: 232, height: 214, background: '#EDF4FC', borderRadius: 10, padding: '18px 18px', flexDirection: 'column', gap: 10 }}&gt;&#10;                &lt;Text style={{ fontSize: 24, fontWeight: 'bold', color: '#276FBF' }}&gt;02&lt;/Text&gt;&#10;                &lt;Text style={{ fontSize: 19, fontWeight: 'bold', color: '#20344B' }}&gt;白名单映射&lt;/Text&gt;&#10;                &lt;Box style={{ height: 1, background: '#B5C7D8' }} /&gt;&#10;                &lt;Text style={{ fontSize: 14, color: '#546779', lineHeight: 1.6 }}&gt;reference → 参考方案{'\n'}candidate → 候选方案&lt;/Text&gt;&#10;            &lt;/Box&gt;&#10;&#10;            &lt;Box style={{ width: 44, height: 214, justifyContent: 'center', alignItems: 'center' }}&gt;&lt;Text style={{ fontSize: 26, color: '#26816B' }}&gt;›&lt;/Text&gt;&lt;/Box&gt;&#10;&#10;            &lt;Box style={{ width: 232, height: 214, background: '#ECF7F2', borderRadius: 10, padding: '18px 18px', flexDirection: 'column', gap: 10 }}&gt;&#10;                &lt;Text style={{ fontSize: 24, fontWeight: 'bold', color: '#26816B' }}&gt;03&lt;/Text&gt;&#10;                &lt;Text style={{ fontSize: 19, fontWeight: 'bold', color: '#20344B' }}&gt;受控子进程&lt;/Text&gt;&#10;                &lt;Box style={{ height: 1, background: '#B5C7D8' }} /&gt;&#10;                &lt;Text style={{ fontSize: 14, color: '#546779', lineHeight: 1.6 }}&gt;参数列表启动本机 Python{'\n'}shell=False，timeout=10&lt;/Text&gt;&#10;            &lt;/Box&gt;&#10;&#10;            &lt;Box style={{ width: 44, height: 214, justifyContent: 'center', alignItems: 'center' }}&gt;&lt;Text style={{ fontSize: 26, color: '#26816B' }}&gt;›&lt;/Text&gt;&lt;/Box&gt;&#10;&#10;            &lt;Box style={{ width: 232, height: 214, background: '#ECF7F2', borderRadius: 10, padding: '18px 18px', flexDirection: 'column', gap: 10 }}&gt;&#10;                &lt;Text style={{ fontSize: 24, fontWeight: 'bold', color: '#26816B' }}&gt;04&lt;/Text&gt;&#10;                &lt;Text style={{ fontSize: 19, fontWeight: 'bold', color: '#20344B' }}&gt;结果回传&lt;/Text&gt;&#10;                &lt;Box style={{ height: 1, background: '#B5C7D8' }} /&gt;&#10;                &lt;Text style={{ fontSize: 14, color: '#546779', lineHeight: 1.6 }}&gt;exit_code、stdout、stderr{'\n'}作为 function_call_output&lt;/Text&gt;&#10;            &lt;/Box&gt;&#10;&#10;        &lt;/Box&gt;&#10;&#10;        &lt;Box style={{ flexDirection: 'row', alignItems: 'center', gap: 14, background: '#F4F7FA', borderRadius: 10, padding: '14px 20px' }}&gt;&#10;            &lt;Box style={{ width: 4, height: 44, background: '#276FBF' }} /&gt;&#10;            &lt;Text style={{ fontSize: 16, color: '#546779', lineHeight: 1.55 }}&gt;调用链沿用 2.5 节的 Function Calling 回路；输入名称之外的路径与参数，全部由应用自己决定。&lt;/Text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应用中包装受控命令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只交出名字，不交出命令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2276475"/>
            <a:ext cx="2209800" cy="2038350"/>
          </a:xfrm>
          <a:prstGeom prst="roundRect">
            <a:avLst>
              <a:gd name="adj" fmla="val 46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81050" y="24479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81050" y="281940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定义工具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781050" y="3133725"/>
            <a:ext cx="1866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81050" y="3238500"/>
            <a:ext cx="18669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run_schedule_check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只接受允许的输入名称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086100" y="31432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3429000" y="2276475"/>
            <a:ext cx="2209800" cy="2038350"/>
          </a:xfrm>
          <a:prstGeom prst="roundRect">
            <a:avLst>
              <a:gd name="adj" fmla="val 46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600450" y="24479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600450" y="281940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白名单映射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3600450" y="3133725"/>
            <a:ext cx="1866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600450" y="3238500"/>
            <a:ext cx="18669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reference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参考方案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candidate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候选方案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905500" y="31432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248400" y="2276475"/>
            <a:ext cx="2209800" cy="2038350"/>
          </a:xfrm>
          <a:prstGeom prst="roundRect">
            <a:avLst>
              <a:gd name="adj" fmla="val 467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419850" y="24479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6816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419850" y="281940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受控子进程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419850" y="3133725"/>
            <a:ext cx="1866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419850" y="3238500"/>
            <a:ext cx="18669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参数列表启动本机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Python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shell=False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timeout=10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724900" y="31432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9067800" y="2276475"/>
            <a:ext cx="2209800" cy="2038350"/>
          </a:xfrm>
          <a:prstGeom prst="roundRect">
            <a:avLst>
              <a:gd name="adj" fmla="val 467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239250" y="24479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6816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239250" y="281940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结果回传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9239250" y="3133725"/>
            <a:ext cx="1866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239250" y="3238500"/>
            <a:ext cx="18669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exit_code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stdout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stderr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function_call_output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44672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800100" y="46005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71550" y="4667250"/>
            <a:ext cx="66103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调用链沿用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2.5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节的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Function Calling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回路；输入名称之外的路径与参数，全部由应用自己决定。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notes={`执行器有四条边界，每一条都对应一种容易被忽略的失败。&#10;&#10;shell=False 加上参数列表，避免 Shell 再去解释参数里的特殊字符。check=False 是有意为之：方案不合格时返回的退出码要保留下来，让调用者自己去判断，而不是让程序提前抛异常。超时是执行失败，绝对不能写成「未发现冲突」，这两句话的意思完全不同。&#10;&#10;capture_output 只是在进程结束前把输出收起来，它不构成沙箱。如果允许运行任意程序，或者输出可能很大，还需要流式限额和进程隔离。&#10;&#10;这四条写下来，受控函数才算真的受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4　在 OpenAI 应用中包装受控命令&lt;/Text&gt;&#10;            &lt;Text style={{ fontSize: 34, fontWeight: 'bold', color: '#20344B' }}&gt;执行器的四条边界&lt;/Text&gt;&#10;        &lt;/Box&gt;&#10;    &lt;/Box&gt;&#10;&#10;    &lt;Box style={{ height: 540, flexDirection: 'row', gap: 32 }}&gt;&#10;&#10;        &lt;Box style={{ width: 404, flexDirection: 'column', justifyContent: 'center', gap: 14 }}&gt;&#10;            &lt;Text style={{ fontSize: 15, color: '#546779' }}&gt;受控不等于沙箱&lt;/Text&gt;&#10;            &lt;Text style={{ fontSize: 26, fontWeight: 'bold', color: '#276FBF', lineHeight: 1.4 }}&gt;四条边界，逐条写明&lt;/Text&gt;&#10;            &lt;Box style={{ width: 56, height: 3, background: '#26816B' }} /&gt;&#10;            &lt;Text style={{ fontSize: 16, color: '#546779', lineHeight: 1.8 }}&gt;参数怎么传、退出码要不要抛、超时算哪一类失败、输出怎样收集，这四件事必须在执行器里说清楚。&lt;/Text&gt;&#10;        &lt;/Box&gt;&#10;&#10;        &lt;Box style={{ width: 716, flexDirection: 'column', justifyContent: 'center', gap: 12 }}&gt;&#10;&#10;            &lt;Box style={{ flexDirection: 'row', gap: 14 }}&gt;&#10;                &lt;Box style={{ width: 351, height: 96, background: '#ECF7F2', borderRadius: 10, padding: '14px 18px', flexDirection: 'column', gap: 6, justifyContent: 'center' }}&gt;&#10;                    &lt;Text style={{ fontSize: 18, fontWeight: 'bold', color: '#26816B' }}&gt;shell=False&lt;/Text&gt;&#10;                    &lt;Text style={{ fontSize: 14, color: '#546779', lineHeight: 1.5 }}&gt;参数列表避免 Shell 再解释特殊字符&lt;/Text&gt;&#10;                &lt;/Box&gt;&#10;                &lt;Box style={{ width: 351, height: 96, background: '#ECF7F2', borderRadius: 10, padding: '14px 18px', flexDirection: 'column', gap: 6, justifyContent: 'center' }}&gt;&#10;                    &lt;Text style={{ fontSize: 18, fontWeight: 'bold', color: '#26816B' }}&gt;check=False&lt;/Text&gt;&#10;                    &lt;Text style={{ fontSize: 14, color: '#546779', lineHeight: 1.5 }}&gt;保留业务不合格的退出码供调用者检查&lt;/Text&gt;&#10;                &lt;/Box&gt;&#10;            &lt;/Box&gt;&#10;&#10;            &lt;Box style={{ flexDirection: 'row', gap: 14 }}&gt;&#10;                &lt;Box style={{ width: 351, height: 96, background: '#FFF4E6', borderRadius: 10, padding: '14px 18px', flexDirection: 'column', gap: 6, justifyContent: 'center' }}&gt;&#10;                    &lt;Text style={{ fontSize: 18, fontWeight: 'bold', color: '#CB6B28' }}&gt;超时&lt;/Text&gt;&#10;                    &lt;Text style={{ fontSize: 14, color: '#546779', lineHeight: 1.5 }}&gt;是执行失败，不能写成「未发现冲突」&lt;/Text&gt;&#10;                &lt;/Box&gt;&#10;                &lt;Box style={{ width: 351, height: 96, background: '#F4F7FA', borderRadius: 10, padding: '14px 18px', flexDirection: 'column', gap: 6, justifyContent: 'center' }}&gt;&#10;                    &lt;Text style={{ fontSize: 18, fontWeight: 'bold', color: '#20344B' }}&gt;capture_output&lt;/Text&gt;&#10;                    &lt;Text style={{ fontSize: 14, color: '#546779', lineHeight: 1.5 }}&gt;进程结束前收集输出，但它不是沙箱&lt;/Text&gt;&#10;                &lt;/Box&gt;&#10;            &lt;/Box&gt;&#10;&#10;            &lt;Box style={{ flexDirection: 'row', alignItems: 'center', gap: 16, background: '#FFF4E6', borderRadius: 10, padding: '16px 20px' }}&gt;&#10;                &lt;Box style={{ width: 4, height: 52, background: '#CB6B28' }} /&gt;&#10;                &lt;Text style={{ fontSize: 15, color: '#546779', lineHeight: 1.6 }}&gt;若允许任意程序或大量输出，还需要额外的流式限额与进程隔离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应用中包装受控命令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执行器的四条边界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受控不等于沙箱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38481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四条边界，逐条写明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373380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3895725"/>
            <a:ext cx="3848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参数怎么传、退出码要不要抛、超时算哪一类失败、输出怎样收集，这四件事必须在执行器里说清楚。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762500" y="2286000"/>
            <a:ext cx="3343275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33950" y="2486025"/>
            <a:ext cx="3000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shell=False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933950" y="275272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参数列表避免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再解释特殊字符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239125" y="2286000"/>
            <a:ext cx="3343275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410575" y="2486025"/>
            <a:ext cx="3000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check=False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410575" y="275272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保留业务不合格的退出码供调用者检查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762500" y="3314700"/>
            <a:ext cx="3343275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933950" y="3514725"/>
            <a:ext cx="3000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33950" y="378142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是执行失败，不能写成「未发现冲突」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239125" y="3314700"/>
            <a:ext cx="3343275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410575" y="3514725"/>
            <a:ext cx="3000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capture_output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410575" y="378142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进程结束前收集输出，但它不是沙箱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762500" y="4343400"/>
            <a:ext cx="68199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4953000" y="449580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143500" y="4610100"/>
            <a:ext cx="4143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若允许任意程序或大量输出，还需要额外的流式限额与进程隔离。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3" name="" descr="&lt;Slide notes={`候选方案一旦改动，就必须重新校验，不能让旧报告继续挂着。&#10;&#10;交付的时候要记录三件事：输入摘要，说明这次校验用的是哪个文件、关键字段是什么；执行时间，说明是什么时候跑的；脚本版本，说明用的校验器是哪一版。有了这三样，报告才能对应到具体的这一次文件上。&#10;&#10;原因很直接：报告只证明它所针对的那份输入。候选改了，规则改了，旧报告都不再成立。&#10;&#10;如果组织者确实修改了业务规则，要单独记录新规则和修改原因，再生成对应的新报告，而不是把旧结论悄悄沿用下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4　在 OpenAI 应用中包装受控命令&lt;/Text&gt;&#10;            &lt;Text style={{ fontSize: 34, fontWeight: 'bold', color: '#20344B' }}&gt;换了候选，就重出一份报告&lt;/Text&gt;&#10;        &lt;/Box&gt;&#10;    &lt;/Box&gt;&#10;&#10;    &lt;Box style={{ height: 540, flexDirection: 'row', gap: 36 }}&gt;&#10;&#10;        &lt;Box style={{ width: 372, flexDirection: 'column', justifyContent: 'center', gap: 14 }}&gt;&#10;            &lt;Text style={{ fontSize: 15, color: '#546779' }}&gt;报告要能对应到这一次文件&lt;/Text&gt;&#10;            &lt;Text style={{ fontSize: 26, fontWeight: 'bold', color: '#276FBF', lineHeight: 1.4 }}&gt;每份报告只证明它的输入&lt;/Text&gt;&#10;            &lt;Box style={{ width: 56, height: 3, background: '#26816B' }} /&gt;&#10;            &lt;Text style={{ fontSize: 16, color: '#546779', lineHeight: 1.8 }}&gt;报告不是一次性的结论，而是一条可以追溯的记录：它要说清检查的是谁、什么时候查的、用哪一版规则查的。&lt;/Text&gt;&#10;        &lt;/Box&gt;&#10;&#10;        &lt;Box style={{ width: 744, flexDirection: 'column', justifyContent: 'center', gap: 12 }}&gt;&#10;&#10;            &lt;Box style={{ height: 92, background: '#F4F7FA', borderRadius: 10, padding: '0 20px', flexDirection: 'row', alignItems: 'center', gap: 16 }}&gt;&#10;                &lt;Box style={{ width: 4, height: 52, background: '#276FBF' }} /&gt;&#10;                &lt;Box style={{ width: 118 }}&gt;&lt;Text style={{ fontSize: 20, fontWeight: 'bold', color: '#20344B' }}&gt;输入摘要&lt;/Text&gt;&lt;/Box&gt;&#10;                &lt;Text style={{ fontSize: 15, color: '#546779', lineHeight: 1.55, width: 540 }}&gt;本次校验用的是哪个文件，关键字段是什么。&lt;/Text&gt;&#10;            &lt;/Box&gt;&#10;&#10;            &lt;Box style={{ height: 92, background: '#F4F7FA', borderRadius: 10, padding: '0 20px', flexDirection: 'row', alignItems: 'center', gap: 16 }}&gt;&#10;                &lt;Box style={{ width: 4, height: 52, background: '#276FBF' }} /&gt;&#10;                &lt;Box style={{ width: 118 }}&gt;&lt;Text style={{ fontSize: 20, fontWeight: 'bold', color: '#20344B' }}&gt;执行时间&lt;/Text&gt;&lt;/Box&gt;&#10;                &lt;Text style={{ fontSize: 15, color: '#546779', lineHeight: 1.55, width: 540 }}&gt;什么时候跑的，便于把报告和本次文件对应起来。&lt;/Text&gt;&#10;            &lt;/Box&gt;&#10;&#10;            &lt;Box style={{ height: 92, background: '#F4F7FA', borderRadius: 10, padding: '0 20px', flexDirection: 'row', alignItems: 'center', gap: 16 }}&gt;&#10;                &lt;Box style={{ width: 4, height: 52, background: '#276FBF' }} /&gt;&#10;                &lt;Box style={{ width: 118 }}&gt;&lt;Text style={{ fontSize: 20, fontWeight: 'bold', color: '#20344B' }}&gt;脚本版本&lt;/Text&gt;&lt;/Box&gt;&#10;                &lt;Text style={{ fontSize: 15, color: '#546779', lineHeight: 1.55, width: 540 }}&gt;校验器是哪一版；规则若变更，须单独记录新规则与原因。&lt;/Text&gt;&#10;            &lt;/Box&gt;&#10;&#10;            &lt;Box style={{ flexDirection: 'row', alignItems: 'center', gap: 16, background: '#FFF4E6', borderRadius: 10, padding: '18px 20px' }}&gt;&#10;                &lt;Box style={{ width: 4, height: 76, background: '#CB6B28' }} /&gt;&#10;                &lt;Box style={{ flexDirection: 'column', gap: 6 }}&gt;&#10;                    &lt;Text style={{ fontSize: 19, fontWeight: 'bold', color: '#CB6B28' }}&gt;旧报告不能证明新候选通过&lt;/Text&gt;&#10;                    &lt;Text style={{ fontSize: 15, color: '#546779', lineHeight: 1.65 }}&gt;候选变更后重新校验，再生成与本次文件对应的新报告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应用中包装受控命令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换了候选，就重出一份报告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报告要能对应到这一次文件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3019425"/>
            <a:ext cx="35433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每份报告只证明它的输入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35718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35433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报告不是一次性的结论，而是一条可以追溯的记录：它要说清检查的是谁、什么时候查的、用哪一版规则查的。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495800" y="1695450"/>
            <a:ext cx="7086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4686300" y="18859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876800" y="201930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输入摘要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153150" y="2000250"/>
            <a:ext cx="5143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本次校验用的是哪个文件，关键字段是什么。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495800" y="2686050"/>
            <a:ext cx="7086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4686300" y="28765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876800" y="300990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执行时间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153150" y="2990850"/>
            <a:ext cx="5143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什么时候跑的，便于把报告和本次文件对应起来。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4495800" y="3676650"/>
            <a:ext cx="70866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4686300" y="386715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876800" y="4000500"/>
            <a:ext cx="1123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脚本版本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153150" y="3981450"/>
            <a:ext cx="5143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校验器是哪一版；规则若变更，须单独记录新规则与原因。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4495800" y="4667250"/>
            <a:ext cx="70866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4686300" y="483870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876800" y="4924425"/>
            <a:ext cx="3571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旧报告不能证明新候选通过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876800" y="5200650"/>
            <a:ext cx="35718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候选变更后重新校验，再生成与本次文件对应的新报告。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0" name="" descr="&lt;Slide notes={`同一个工具字段，可以落在两种完全不同的执行位置上。&#10;&#10;托管模式把命令交给服务方的容器，读者不用操心运行环境，但也拿不到自己机器上的文件。本地模式把命令交回给调用者的执行环境，能碰到本机磁盘，代价是应用要自己完成请求、执行和回传的完整回路。&#10;&#10;这两种位置不是前后两个阶段，而是两种选择。选了哪一种，就要按那一种去核对证据。&#10;&#10;方向还是那句话：先看清命令在哪台机器上跑，再谈它跑出了什么结果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⑤&lt;/Text&gt;&#10;            &lt;/Box&gt;&#10;            &lt;Text style={{ fontSize: 16, color: '#546779' }}&gt;2.7.5&lt;/Text&gt;&#10;        &lt;/Box&gt;&#10;&#10;        &lt;Text style={{ fontSize: 56, fontWeight: 'bold', color: '#20344B', lineHeight: 1.15 }}&gt;OpenAI 原生 Shell 工具的两种位置&lt;/Text&gt;&#10;&#10;        &lt;Box style={{ width: 640, height: 4, background: '#276FBF' }} /&gt;&#10;&#10;        &lt;Text style={{ fontSize: 19, color: '#546779', lineHeight: 1.7 }}&gt;是 Responses 的工具能力；两种位置，两种证据口径。&lt;/Text&gt;&#10;&#10;        &lt;Box style={{ marginTop: 10, flexDirection: 'row', alignItems: 'center', justifyContent: 'center', gap: 16 }}&gt;&#10;            &lt;Box style={{ width: 496, height: 92, background: '#EDF4FC', borderRadius: 8, flexDirection: 'column', gap: 6, justifyContent: 'center', alignItems: 'center' }}&gt;&#10;                &lt;Text style={{ fontSize: 20, fontWeight: 'bold', color: '#276FBF' }}&gt;托管 container_auto&lt;/Text&gt;&#10;                &lt;Text style={{ fontSize: 14, color: '#546779' }}&gt;在 OpenAI 管理的容器中执行&lt;/Text&gt;&#10;            &lt;/Box&gt;&#10;            &lt;Box style={{ width: 44, height: 92, justifyContent: 'center', alignItems: 'center' }}&gt;&lt;Text style={{ fontSize: 26, color: '#276FBF' }}&gt;›&lt;/Text&gt;&lt;/Box&gt;&#10;            &lt;Box style={{ width: 496, height: 92, background: '#ECF7F2', borderRadius: 8, flexDirection: 'column', gap: 6, justifyContent: 'center', alignItems: 'center' }}&gt;&#10;                &lt;Text style={{ fontSize: 20, fontWeight: 'bold', color: '#26816B' }}&gt;本地 local&lt;/Text&gt;&#10;                &lt;Text style={{ fontSize: 14, color: '#546779' }}&gt;由调用者的执行环境处理请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09600" y="10953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2950" y="12001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295400" y="12668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2.7.5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18002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原生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工具的两种位置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27146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是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的工具能力；两种位置，两种证据口径。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1009650" y="3562350"/>
            <a:ext cx="4724400" cy="876300"/>
          </a:xfrm>
          <a:prstGeom prst="roundRect">
            <a:avLst>
              <a:gd name="adj" fmla="val 86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438400" y="3781425"/>
            <a:ext cx="1876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托管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container_auto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2486025" y="4067175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管理的容器中执行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579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457950" y="3562350"/>
            <a:ext cx="47244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0" y="3781425"/>
            <a:ext cx="885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本地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local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953375" y="40671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由调用者的执行环境处理请求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notes={`OpenAI Responses 也提供了原生的 shell 工具，它有两种执行位置。&#10;&#10;托管模式在 OpenAI 管理的容器里执行。这个容器不是读者的 Windows 电脑，读不到本机 E 盘上的文件。要在里面校验青禾的材料，得先把脚本和输入送进那个环境。&#10;&#10;本地模式由调用者的执行环境处理请求。应用需要接收 shell_call，实际执行命令，再用匹配的 call_id 把 shell_call_output 送回去。返回项包含标准输出、标准错误，以及退出或超时结果。&#10;&#10;要特别注意一点：它是 Responses 的工具能力，不能把相同的字段直接套到 Chat Completions 请求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5　OpenAI 原生 Shell 工具的两种位置&lt;/Text&gt;&#10;            &lt;Text style={{ fontSize: 34, fontWeight: 'bold', color: '#20344B' }}&gt;同样叫 shell，位置完全不同&lt;/Text&gt;&#10;        &lt;/Box&gt;&#10;    &lt;/Box&gt;&#10;&#10;    &lt;Box style={{ height: 540, flexDirection: 'column', justifyContent: 'center', gap: 14 }}&gt;&#10;&#10;        &lt;Box style={{ flexDirection: 'row', gap: 48 }}&gt;&#10;&#10;            &lt;Box style={{ width: 552, height: 356, background: '#F4F7FA', borderRadius: 12, overflow: 'hidden', flexDirection: 'column' }}&gt;&#10;                &lt;Box style={{ height: 56, background: '#276FBF', padding: '0 24px', flexDirection: 'row', alignItems: 'center', gap: 12 }}&gt;&#10;                    &lt;Text style={{ fontSize: 20, fontWeight: 'bold', color: '#FFFFFF' }}&gt;托管模式&lt;/Text&gt;&#10;                    &lt;Text style={{ fontSize: 14, color: '#EDF4FC' }}&gt;container_auto&lt;/Text&gt;&#10;                &lt;/Box&gt;&#10;                &lt;Box style={{ padding: '20px 24px', flexDirection: 'column', gap: 14 }}&gt;&#10;                    &lt;Box style={{ height: 64, background: '#FFFFFF', borderRadius: 8, padding: '0 16px', flexDirection: 'row', alignItems: 'center' }}&gt;&#10;                        &lt;Text style={{ fontSize: 15, color: '#546779', lineHeight: 1.5 }}&gt;在 OpenAI 管理的容器中执行命令&lt;/Text&gt;&#10;                    &lt;/Box&gt;&#10;                    &lt;Box style={{ height: 64, background: '#FFFFFF', borderRadius: 8, padding: '0 16px', flexDirection: 'row', alignItems: 'center' }}&gt;&#10;                        &lt;Text style={{ fontSize: 15, color: '#546779', lineHeight: 1.5 }}&gt;容器不是读者的电脑，读不到本地 E: 盘&lt;/Text&gt;&#10;                    &lt;/Box&gt;&#10;                    &lt;Box style={{ height: 64, background: '#FFF4E6', borderRadius: 8, padding: '0 16px', flexDirection: 'row', alignItems: 'center' }}&gt;&#10;                        &lt;Text style={{ fontSize: 15, color: '#CB6B28', lineHeight: 1.5 }}&gt;要校验青禾材料，须先把脚本与输入送入&lt;/Text&gt;&#10;                    &lt;/Box&gt;&#10;                &lt;/Box&gt;&#10;            &lt;/Box&gt;&#10;&#10;            &lt;Box style={{ width: 552, height: 356, background: '#F4F7FA', borderRadius: 12, overflow: 'hidden', flexDirection: 'column' }}&gt;&#10;                &lt;Box style={{ height: 56, background: '#26816B', padding: '0 24px', flexDirection: 'row', alignItems: 'center', gap: 12 }}&gt;&#10;                    &lt;Text style={{ fontSize: 20, fontWeight: 'bold', color: '#FFFFFF' }}&gt;本地模式&lt;/Text&gt;&#10;                    &lt;Text style={{ fontSize: 14, color: '#ECF7F2' }}&gt;local&lt;/Text&gt;&#10;                &lt;/Box&gt;&#10;                &lt;Box style={{ padding: '20px 24px', flexDirection: 'column', gap: 14 }}&gt;&#10;                    &lt;Box style={{ height: 64, background: '#FFFFFF', borderRadius: 8, padding: '0 16px', flexDirection: 'row', alignItems: 'center' }}&gt;&#10;                        &lt;Text style={{ fontSize: 15, color: '#546779', lineHeight: 1.5 }}&gt;应用接收 shell_call，实际执行命令&lt;/Text&gt;&#10;                    &lt;/Box&gt;&#10;                    &lt;Box style={{ height: 64, background: '#FFFFFF', borderRadius: 8, padding: '0 16px', flexDirection: 'row', alignItems: 'center' }}&gt;&#10;                        &lt;Text style={{ fontSize: 15, color: '#546779', lineHeight: 1.5 }}&gt;以匹配的 call_id 送回 shell_call_output&lt;/Text&gt;&#10;                    &lt;/Box&gt;&#10;                    &lt;Box style={{ height: 64, background: '#ECF7F2', borderRadius: 8, padding: '0 16px', flexDirection: 'row', alignItems: 'center' }}&gt;&#10;                        &lt;Text style={{ fontSize: 15, color: '#26816B', lineHeight: 1.5 }}&gt;返回 stdout、stderr 与退出或超时结果&lt;/Text&gt;&#10;                    &lt;/Box&gt;&#10;                &lt;/Box&gt;&#10;            &lt;/Box&gt;&#10;&#10;        &lt;/Box&gt;&#10;&#10;        &lt;Box style={{ flexDirection: 'row', alignItems: 'center', gap: 16, background: '#FFF4E6', borderRadius: 10, padding: '16px 22px' }}&gt;&#10;            &lt;Box style={{ width: 4, height: 48, background: '#CB6B28' }} /&gt;&#10;            &lt;Text style={{ fontSize: 16, color: '#546779', lineHeight: 1.6 }}&gt;它是 Responses 的工具能力，不能把相同字段直接套到 Chat Completions 请求中。&lt;/Text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86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工具的两种位置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86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同样叫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shell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，位置完全不同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1571625"/>
            <a:ext cx="5257800" cy="3390900"/>
          </a:xfrm>
          <a:prstGeom prst="roundRect">
            <a:avLst>
              <a:gd name="adj" fmla="val 337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09600" y="1571625"/>
            <a:ext cx="5257800" cy="533400"/>
          </a:xfrm>
          <a:custGeom>
            <a:pathLst>
              <a:path w="552" h="56">
                <a:moveTo>
                  <a:pt x="540" y="0"/>
                </a:moveTo>
                <a:cubicBezTo>
                  <a:pt x="547" y="0"/>
                  <a:pt x="552" y="5"/>
                  <a:pt x="552" y="12"/>
                </a:cubicBezTo>
                <a:lnTo>
                  <a:pt x="552" y="56"/>
                </a:lnTo>
                <a:lnTo>
                  <a:pt x="0" y="56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540" y="0"/>
                </a:ln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38200" y="17240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托管模式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714500" y="1762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F4FC"/>
                </a:solidFill>
                <a:latin typeface="Microsoft YaHei"/>
                <a:ea typeface="Microsoft YaHei"/>
              </a:rPr>
              <a:t>container_auto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838200" y="229552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90600" y="2476500"/>
            <a:ext cx="2181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管理的容器中执行命令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38200" y="303847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90600" y="3219450"/>
            <a:ext cx="2486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容器不是读者的电脑，读不到本地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E: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盘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38200" y="378142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90600" y="3962400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要校验青禾材料，须先把脚本与输入送入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324600" y="1571625"/>
            <a:ext cx="5257800" cy="3390900"/>
          </a:xfrm>
          <a:prstGeom prst="roundRect">
            <a:avLst>
              <a:gd name="adj" fmla="val 337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324600" y="1571625"/>
            <a:ext cx="5257800" cy="533400"/>
          </a:xfrm>
          <a:custGeom>
            <a:pathLst>
              <a:path w="552" h="56">
                <a:moveTo>
                  <a:pt x="540" y="0"/>
                </a:moveTo>
                <a:cubicBezTo>
                  <a:pt x="547" y="0"/>
                  <a:pt x="552" y="5"/>
                  <a:pt x="552" y="12"/>
                </a:cubicBezTo>
                <a:lnTo>
                  <a:pt x="552" y="56"/>
                </a:lnTo>
                <a:lnTo>
                  <a:pt x="0" y="56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540" y="0"/>
                </a:lnTo>
                <a:close/>
              </a:path>
            </a:pathLst>
          </a:cu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553200" y="17240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本地模式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429500" y="176212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CF7F2"/>
                </a:solidFill>
                <a:latin typeface="Microsoft YaHei"/>
                <a:ea typeface="Microsoft YaHei"/>
              </a:rPr>
              <a:t>local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553200" y="229552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705600" y="2476500"/>
            <a:ext cx="2219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应用接收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shell_call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，实际执行命令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553200" y="303847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705600" y="3219450"/>
            <a:ext cx="25431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以匹配的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call_id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送回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shell_call_output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553200" y="3781425"/>
            <a:ext cx="48006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705600" y="3962400"/>
            <a:ext cx="2505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返回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stdout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stderr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与退出或超时结果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5095875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819150" y="52482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009650" y="5334000"/>
            <a:ext cx="57626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它是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的工具能力，不能把相同字段直接套到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Chat Completions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请求中。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21" name="" descr="&lt;Slide notes={`看一段最短的托管调用。请求里指定模型，声明一个 shell 工具，环境类型是 container_auto，输入是一道简单的算术题：二十四加十再加十六。托管执行返回五十。&#10;&#10;这段代码演示的是托管执行，一次 responses.create 就够了。但它只完成了云端那一半。如果把环境类型改成 local，应用就必须接收 shell_call，自己把命令跑出来，再以匹配的 call_id 送回 shell_call_output。只发一次请求、打印一段文字，并没有完成本地 Shell 回路。&#10;&#10;对我们这个固定任务来说，前面的受控函数包装器已经足够。只有需要更广泛的文件和命令处理时，才值得去实现原生本地 Shell 的执行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5　OpenAI 原生 Shell 工具的两种位置&lt;/Text&gt;&#10;            &lt;Text style={{ fontSize: 34, fontWeight: 'bold', color: '#20344B' }}&gt;一段短例，一条回路&lt;/Text&gt;&#10;        &lt;/Box&gt;&#10;    &lt;/Box&gt;&#10;&#10;    &lt;Box style={{ height: 540, flexDirection: 'row', gap: 32 }}&gt;&#10;&#10;        &lt;Box style={{ width: 516, flexDirection: 'column', justifyContent: 'center', gap: 10 }}&gt;&#10;            &lt;Text style={{ fontSize: 15, color: '#546779' }}&gt;托管执行的短例&lt;/Text&gt;&#10;            &lt;Box style={{ background: '#F7F3E8', borderRadius: 10, padding: '16px 18px', flexDirection: 'column', gap: 4 }}&gt;&#10;                &lt;Text style={{ fontSize: 14, color: '#20344B', lineHeight: 1.55 }}&gt;{'client = OpenAI(timeout=30, max_retries=0)'}&lt;/Text&gt;&#10;                &lt;Text style={{ fontSize: 14, color: '#20344B', lineHeight: 1.55 }}&gt;{'response = client.responses.create('}&lt;/Text&gt;&#10;                &lt;Text style={{ fontSize: 14, color: '#276FBF', lineHeight: 1.55 }}&gt;{'    model=os.environ[&quot;OPENAI_MODEL&quot;],'}&lt;/Text&gt;&#10;                &lt;Text style={{ fontSize: 14, color: '#276FBF', lineHeight: 1.55 }}&gt;{'    tools=[{&quot;type&quot;: &quot;shell&quot;,'}&lt;/Text&gt;&#10;                &lt;Text style={{ fontSize: 14, color: '#276FBF', lineHeight: 1.55 }}&gt;{'            &quot;environment&quot;:'}&lt;/Text&gt;&#10;                &lt;Text style={{ fontSize: 14, color: '#276FBF', lineHeight: 1.55 }}&gt;{'            {&quot;type&quot;: &quot;container_auto&quot;}}],'}&lt;/Text&gt;&#10;                &lt;Text style={{ fontSize: 14, color: '#20344B', lineHeight: 1.55 }}&gt;{'    input=&quot;计算 24、10、16 的总和&quot;,'}&lt;/Text&gt;&#10;                &lt;Text style={{ fontSize: 14, color: '#20344B', lineHeight: 1.55 }}&gt;{')'}&lt;/Text&gt;&#10;                &lt;Text style={{ fontSize: 14, color: '#20344B', lineHeight: 1.55 }}&gt;{'print(response.output_text)'}&lt;/Text&gt;&#10;            &lt;/Box&gt;&#10;            &lt;Text style={{ fontSize: 14, color: '#546779' }}&gt;托管执行返回 24 + 10 + 16 = 50&lt;/Text&gt;&#10;        &lt;/Box&gt;&#10;&#10;        &lt;Box style={{ width: 604, flexDirection: 'column', justifyContent: 'center', gap: 10 }}&gt;&#10;&#10;            &lt;Box style={{ height: 86, background: '#F4F7FA', borderRadius: 10, padding: '0 18px', flexDirection: 'row', alignItems: 'center', gap: 14 }}&gt;&#10;                &lt;Box style={{ width: 4, height: 48, background: '#276FBF' }} /&gt;&#10;                &lt;Text style={{ fontSize: 15, color: '#546779', lineHeight: 1.55 }}&gt;托管执行一次 responses.create 即可，容器读不到本机文件。&lt;/Text&gt;&#10;            &lt;/Box&gt;&#10;&#10;            &lt;Box style={{ height: 86, background: '#F4F7FA', borderRadius: 10, padding: '0 18px', flexDirection: 'row', alignItems: 'center', gap: 14 }}&gt;&#10;                &lt;Box style={{ width: 4, height: 48, background: '#276FBF' }} /&gt;&#10;                &lt;Text style={{ fontSize: 15, color: '#546779', lineHeight: 1.55 }}&gt;要校验青禾材料，先把脚本与输入送入该环境。&lt;/Text&gt;&#10;            &lt;/Box&gt;&#10;&#10;            &lt;Box style={{ height: 86, background: '#ECF7F2', borderRadius: 10, padding: '0 18px', flexDirection: 'row', alignItems: 'center', gap: 14 }}&gt;&#10;                &lt;Box style={{ width: 4, height: 48, background: '#26816B' }} /&gt;&#10;                &lt;Text style={{ fontSize: 15, color: '#546779', lineHeight: 1.55 }}&gt;本地模式须接收 shell_call 并用 call_id 回传结果。&lt;/Text&gt;&#10;            &lt;/Box&gt;&#10;&#10;            &lt;Box style={{ height: 86, background: '#FFF4E6', borderRadius: 10, padding: '0 18px', flexDirection: 'row', alignItems: 'center', gap: 14 }}&gt;&#10;                &lt;Box style={{ width: 4, height: 48, background: '#CB6B28' }} /&gt;&#10;                &lt;Text style={{ fontSize: 15, color: '#CB6B28', lineHeight: 1.55 }}&gt;只发一次请求并打印文字，没有完成本地 Shell 回路。&lt;/Text&gt;&#10;            &lt;/Box&gt;&#10;&#10;            &lt;Box style={{ flexDirection: 'row', alignItems: 'center', gap: 14, background: '#F4F7FA', borderRadius: 10, padding: '14px 18px' }}&gt;&#10;                &lt;Box style={{ width: 4, height: 40, background: '#276FBF' }} /&gt;&#10;                &lt;Text style={{ fontSize: 15, color: '#546779', lineHeight: 1.55 }}&gt;本节固定任务用受控函数包装器已经足够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工具的两种位置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一段短例，一条回路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托管执行的短例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09600" y="2257425"/>
            <a:ext cx="4914900" cy="2924175"/>
          </a:xfrm>
          <a:prstGeom prst="roundRect">
            <a:avLst>
              <a:gd name="adj" fmla="val 325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client = OpenAI(timeout=30, max_retries=0)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" y="27051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response = client.responses.create(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81050" y="300037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   model=os.environ["OPENAI_MODEL"],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81050" y="32956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   tools=[{"type": "shell",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81050" y="35909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           "environment":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81050" y="388620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           {"type": "container_auto"}}],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81050" y="418147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   input="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计算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24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10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16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的总和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",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81050" y="44767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81050" y="4772025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print(response.output_text)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5276850"/>
            <a:ext cx="491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托管执行返回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24 + 10 + 16 = 50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829300" y="1562100"/>
            <a:ext cx="57531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000750" y="17430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172200" y="1838325"/>
            <a:ext cx="39433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托管执行一次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responses.create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即可，容器读不到本机文件。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829300" y="2476500"/>
            <a:ext cx="5753100" cy="819150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6000750" y="26574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172200" y="2752725"/>
            <a:ext cx="30003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要校验青禾材料，先把脚本与输入送入该环境。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5829300" y="3390900"/>
            <a:ext cx="5753100" cy="819150"/>
          </a:xfrm>
          <a:prstGeom prst="roundRect">
            <a:avLst>
              <a:gd name="adj" fmla="val 1162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6000750" y="35718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172200" y="3667125"/>
            <a:ext cx="3200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本地模式须接收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shell_call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并用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call_id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回传结果。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5829300" y="4305300"/>
            <a:ext cx="57531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6000750" y="44862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172200" y="4581525"/>
            <a:ext cx="34194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只发一次请求并打印文字，没有完成本地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Shell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回路。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5829300" y="5219700"/>
            <a:ext cx="57531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6000750" y="53530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172200" y="5410200"/>
            <a:ext cx="2714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本节固定任务用受控函数包装器已经足够。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55" name="" descr="&lt;Slide notes={`最后回到教学场景：把同一条校验命令放进 WorkBuddy 的工作区里运行。&#10;&#10;我要做的事情和手工运行时一样——确认文件在不在、跑校验器、看报告、解释退出码。区别在于这次是给客户端下任务，所以要把要求说完整，包括「保留失败报告」和「不要为了通过而修改规则」。&#10;&#10;这和前面讲的受控包装器是一回事：命令由环境执行，结果回到我手里，由我来判断。&#10;&#10;只要记住一条，看绿色文字、看任务结束、看一句「已检查」，都不是证据。证据是实际的命令、退出码和文件产物。`} style={{ width: 1280, height: 720, background: '#FFFFFF', flexDirection: 'column', padding: '20px 64px' }}&gt;&#10;&#10;    &lt;Box style={{ height: 540, flexDirection: 'column', justifyContent: 'center', gap: 18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⑥&lt;/Text&gt;&#10;            &lt;/Box&gt;&#10;            &lt;Text style={{ fontSize: 16, color: '#546779' }}&gt;2.7.6 · 2.7.7&lt;/Text&gt;&#10;        &lt;/Box&gt;&#10;&#10;        &lt;Text style={{ fontSize: 56, fontWeight: 'bold', color: '#20344B', lineHeight: 1.15 }}&gt;在教学工作区执行与本节练习&lt;/Text&gt;&#10;&#10;        &lt;Box style={{ width: 640, height: 4, background: '#276FBF' }} /&gt;&#10;&#10;        &lt;Text style={{ fontSize: 19, color: '#546779', lineHeight: 1.7 }}&gt;把同一条命令放进教学工作区，核对实际命令与文件产物。&lt;/Text&gt;&#10;&#10;        &lt;Box style={{ marginTop: 10, flexDirection: 'row', alignItems: 'center', justifyContent: 'center', gap: 16 }}&gt;&#10;            &lt;Box style={{ width: 332, height: 84, background: '#EDF4FC', borderRadius: 8, flexDirection: 'column', gap: 5, justifyContent: 'center', alignItems: 'center' }}&gt;&#10;                &lt;Text style={{ fontSize: 18, fontWeight: 'bold', color: '#276FBF' }}&gt;写清任务&lt;/Text&gt;&#10;                &lt;Text style={{ fontSize: 14, color: '#546779' }}&gt;确认文件、运行、展示、保留失败报告&lt;/Text&gt;&#10;            &lt;/Box&gt;&#10;            &lt;Box style={{ width: 44, height: 84, justifyContent: 'center', alignItems: 'center' }}&gt;&lt;Text style={{ fontSize: 26, color: '#276FBF' }}&gt;›&lt;/Text&gt;&lt;/Box&gt;&#10;            &lt;Box style={{ width: 332, height: 84, background: '#ECF7F2', borderRadius: 8, flexDirection: 'column', gap: 5, justifyContent: 'center', alignItems: 'center' }}&gt;&#10;                &lt;Text style={{ fontSize: 18, fontWeight: 'bold', color: '#26816B' }}&gt;核对证据&lt;/Text&gt;&#10;                &lt;Text style={{ fontSize: 14, color: '#546779' }}&gt;实际命令、退出码与文件产物&lt;/Text&gt;&#10;            &lt;/Box&gt;&#10;            &lt;Box style={{ width: 44, height: 84, justifyContent: 'center', alignItems: 'center' }}&gt;&lt;Text style={{ fontSize: 26, color: '#CB6B28' }}&gt;›&lt;/Text&gt;&lt;/Box&gt;&#10;            &lt;Box style={{ width: 332, height: 84, background: '#FFF4E6', borderRadius: 8, flexDirection: 'column', gap: 5, justifyContent: 'center', alignItems: 'center' }}&gt;&#10;                &lt;Text style={{ fontSize: 18, fontWeight: 'bold', color: '#CB6B28' }}&gt;完成练习&lt;/Text&gt;&#10;                &lt;Text style={{ fontSize: 14, color: '#546779' }}&gt;三个候选，一次为什么的反问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09600" y="11334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742950" y="12382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295400" y="1304925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2.7.6 · 2.7.7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18383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在教学工作区执行与本节练习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09600" y="27527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29622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把同一条命令放进教学工作区，核对实际命令与文件产物。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28650" y="3600450"/>
            <a:ext cx="31623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866900" y="37909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写清任务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76325" y="404812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确认文件、运行、展示、保留失败报告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1148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514850" y="3600450"/>
            <a:ext cx="316230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753100" y="37909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核对证据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229225" y="404812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实际命令、退出码与文件产物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01000" y="3848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8401050" y="3600450"/>
            <a:ext cx="31623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9639300" y="37909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完成练习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9115425" y="404812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三个候选，一次为什么的反问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76" name="" descr="&lt;Slide notes={`在教学工作区里，我习惯把要求一次写清楚，避免它替我简化。&#10;&#10;先确认当前目录里有校验脚本和参考方案；运行校验器，把报告写到指定的输出文件；展示实际命令、执行结果和报告内容，并解释退出码。然后校验我提供的候选方案，把失败报告保留下来。&#10;&#10;有一条要明确写进去：不要为了通过而修改规则或校验脚本。否则我拿到的不是检查结果，而是一个被改过的题目。&#10;&#10;查看结果时，要核对实际命令步骤和文件产物。界面没有显示退出码，就让受控包装器显式输出进程结果。不要从绿色文字、任务结束或者一句「已检查」去推断成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6　在 WorkBuddy 中执行相同校验&lt;/Text&gt;&#10;            &lt;Text style={{ fontSize: 34, fontWeight: 'bold', color: '#20344B' }}&gt;在任务里把证据要求写清楚&lt;/Text&gt;&#10;        &lt;/Box&gt;&#10;    &lt;/Box&gt;&#10;&#10;    &lt;Box style={{ height: 540, flexDirection: 'row', gap: 32 }}&gt;&#10;&#10;        &lt;Box style={{ width: 620, flexDirection: 'column', justifyContent: 'center', gap: 10 }}&gt;&#10;            &lt;Text style={{ fontSize: 15, color: '#546779' }}&gt;提交给教学工作区的任务&lt;/Text&gt;&#10;            &lt;Box style={{ background: '#F7F3E8', borderRadius: 10, padding: '18px 20px', flexDirection: 'column', gap: 10 }}&gt;&#10;                &lt;Text style={{ fontSize: 15, color: '#20344B', lineHeight: 1.6 }}&gt;请先确认当前目录中有 validate_schedule.py 和 fixtures/valid-schedule.json。&lt;/Text&gt;&#10;                &lt;Text style={{ fontSize: 15, color: '#20344B', lineHeight: 1.6 }}&gt;运行 Python 校验器，输入该参考方案，将报告写到 output/reference-report.json。&lt;/Text&gt;&#10;                &lt;Text style={{ fontSize: 15, color: '#20344B', lineHeight: 1.6 }}&gt;展示实际命令、执行结果和报告内容，解释退出码。&lt;/Text&gt;&#10;                &lt;Text style={{ fontSize: 15, color: '#20344B', lineHeight: 1.6 }}&gt;然后校验我提供的候选方案，保留失败报告；&lt;/Text&gt;&#10;                &lt;Text style={{ fontSize: 15, color: '#CB6B28', fontWeight: 'bold', lineHeight: 1.6 }}&gt;不要为了通过而修改规则或校验脚本。&lt;/Text&gt;&#10;            &lt;/Box&gt;&#10;            &lt;Text style={{ fontSize: 14, color: '#546779' }}&gt;保持客户端适合该工作区的默认权限设置。&lt;/Text&gt;&#10;        &lt;/Box&gt;&#10;&#10;        &lt;Box style={{ width: 500, flexDirection: 'column', justifyContent: 'center', gap: 10 }}&gt;&#10;&#10;            &lt;Box style={{ height: 84, background: '#F4F7FA', borderRadius: 10, padding: '0 18px', flexDirection: 'row', alignItems: 'center', gap: 14 }}&gt;&#10;                &lt;Box style={{ width: 4, height: 48, background: '#276FBF' }} /&gt;&#10;                &lt;Text style={{ fontSize: 15, color: '#546779', lineHeight: 1.55 }}&gt;查看实际命令步骤，以及右侧生成的文件产物。&lt;/Text&gt;&#10;            &lt;/Box&gt;&#10;&#10;            &lt;Box style={{ height: 84, background: '#F4F7FA', borderRadius: 10, padding: '0 18px', flexDirection: 'row', alignItems: 'center', gap: 14 }}&gt;&#10;                &lt;Box style={{ width: 4, height: 48, background: '#276FBF' }} /&gt;&#10;                &lt;Text style={{ fontSize: 15, color: '#546779', lineHeight: 1.55 }}&gt;界面没显示退出码，就让受控包装器显式输出进程结果。&lt;/Text&gt;&#10;            &lt;/Box&gt;&#10;&#10;            &lt;Box style={{ height: 84, background: '#F4F7FA', borderRadius: 10, padding: '0 18px', flexDirection: 'row', alignItems: 'center', gap: 14 }}&gt;&#10;                &lt;Box style={{ width: 4, height: 48, background: '#276FBF' }} /&gt;&#10;                &lt;Text style={{ fontSize: 15, color: '#546779', lineHeight: 1.55 }}&gt;不要从绿色文字、任务结束或「已检查」推断成功。&lt;/Text&gt;&#10;            &lt;/Box&gt;&#10;&#10;            &lt;Box style={{ flexDirection: 'row', alignItems: 'center', gap: 14, background: '#FFF4E6', borderRadius: 10, padding: '16px 18px' }}&gt;&#10;                &lt;Box style={{ width: 4, height: 62, background: '#CB6B28' }} /&gt;&#10;                &lt;Text style={{ fontSize: 15, color: '#546779', lineHeight: 1.6 }}&gt;它不等于存在一个公开的 workbuddy 命令，也不等于输入框中的斜杠命令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中执行相同校验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在任务里把证据要求写清楚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提交给教学工作区的任务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2667000"/>
            <a:ext cx="5905500" cy="2105025"/>
          </a:xfrm>
          <a:prstGeom prst="roundRect">
            <a:avLst>
              <a:gd name="adj" fmla="val 452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00100" y="2838450"/>
            <a:ext cx="5524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请先确认当前目录中有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validate_schedule.py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fixtures/valid-schedule.json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00100" y="3209925"/>
            <a:ext cx="5524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运行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校验器，输入该参考方案，将报告写到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output/reference-report.json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5524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展示实际命令、执行结果和报告内容，解释退出码。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5524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然后校验我提供的候选方案，保留失败报告；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00100" y="4324350"/>
            <a:ext cx="5524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不要为了通过而修改规则或校验脚本。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09600" y="4867275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保持客户端适合该工作区的默认权限设置。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819900" y="192405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6991350" y="20955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162800" y="2190750"/>
            <a:ext cx="30003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查看实际命令步骤，以及右侧生成的文件产物。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819900" y="281940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6991350" y="29908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162800" y="30861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界面没显示退出码，就让受控包装器显式输出进程结果。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819900" y="371475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991350" y="38862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162800" y="3981450"/>
            <a:ext cx="32861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不要从绿色文字、任务结束或「已检查」推断成功。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819900" y="4610100"/>
            <a:ext cx="4762500" cy="895350"/>
          </a:xfrm>
          <a:prstGeom prst="roundRect">
            <a:avLst>
              <a:gd name="adj" fmla="val 106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6991350" y="4762500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162800" y="4781550"/>
            <a:ext cx="4248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它不等于存在一个公开的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命令，也不等于输入框中的斜杠命令。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03" name="" descr="&lt;Slide notes={`最后做三个候选，检验我是不是真的理解了规则。&#10;&#10;第一个恰好在 10:00 结束，第二个恰好在 10:30 开始。按半开区间，它们和手作室已有的预约都不重叠，在时间规则上都能通过。但通过时间规则不等于通过全部规则，它们仍然要分别满足时长、活动窗口和其他条件。&#10;&#10;第三个候选 JSON 格式合法、结构完整，但是漏掉了一项活动。时间规则看不出任何问题，它依然不合格——因为该做的事没有做。&#10;&#10;最后回答一个问题：为什么不能让模型修改校验器，直到自己的方案通过？因为校验器代表本轮已经确认的业务规则。改变规则，意味着改变评测问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7.7　本节练习&lt;/Text&gt;&#10;            &lt;Text style={{ fontSize: 34, fontWeight: 'bold', color: '#20344B' }}&gt;三个候选，一次反问&lt;/Text&gt;&#10;        &lt;/Box&gt;&#10;    &lt;/Box&gt;&#10;&#10;    &lt;Box style={{ height: 540, flexDirection: 'column', justifyContent: 'center', gap: 10 }}&gt;&#10;&#10;        &lt;Box style={{ flexDirection: 'row', gap: 16, padding: '0 20px' }}&gt;&#10;            &lt;Box style={{ width: 230 }}&gt;&lt;Text style={{ fontSize: 14, color: '#546779' }}&gt;候选&lt;/Text&gt;&lt;/Box&gt;&#10;            &lt;Box style={{ width: 280 }}&gt;&lt;Text style={{ fontSize: 14, color: '#546779' }}&gt;在时间重叠规则上&lt;/Text&gt;&lt;/Box&gt;&#10;            &lt;Box style={{ flex: 1 }}&gt;&lt;Text style={{ fontSize: 14, color: '#546779' }}&gt;仍须满足什么&lt;/Text&gt;&lt;/Box&gt;&#10;        &lt;/Box&gt;&#10;&#10;        &lt;Box style={{ flexDirection: 'row', height: 92, background: '#ECF7F2', borderRadius: 10, padding: '0 20px', alignItems: 'center', gap: 16 }}&gt;&#10;            &lt;Box style={{ width: 230 }}&gt;&lt;Text style={{ fontSize: 18, fontWeight: 'bold', color: '#26816B' }}&gt;恰在 10:00 结束&lt;/Text&gt;&lt;/Box&gt;&#10;            &lt;Box style={{ width: 280 }}&gt;&lt;Text style={{ fontSize: 16, color: '#20344B', lineHeight: 1.55 }}&gt;与 10:00 开始的预约不重叠，通过&lt;/Text&gt;&lt;/Box&gt;&#10;            &lt;Box style={{ flex: 1 }}&gt;&lt;Text style={{ fontSize: 16, color: '#546779', lineHeight: 1.55 }}&gt;时长、活动窗口与其他规则仍要逐条满足&lt;/Text&gt;&lt;/Box&gt;&#10;        &lt;/Box&gt;&#10;&#10;        &lt;Box style={{ flexDirection: 'row', height: 92, background: '#ECF7F2', borderRadius: 10, padding: '0 20px', alignItems: 'center', gap: 16 }}&gt;&#10;            &lt;Box style={{ width: 230 }}&gt;&lt;Text style={{ fontSize: 18, fontWeight: 'bold', color: '#26816B' }}&gt;恰在 10:30 开始&lt;/Text&gt;&lt;/Box&gt;&#10;            &lt;Box style={{ width: 280 }}&gt;&lt;Text style={{ fontSize: 16, color: '#20344B', lineHeight: 1.55 }}&gt;与 10:30 结束的预约不重叠，通过&lt;/Text&gt;&lt;/Box&gt;&#10;            &lt;Box style={{ flex: 1 }}&gt;&lt;Text style={{ fontSize: 16, color: '#546779', lineHeight: 1.55 }}&gt;时长与覆盖完整性同样不能少&lt;/Text&gt;&lt;/Box&gt;&#10;        &lt;/Box&gt;&#10;&#10;        &lt;Box style={{ flexDirection: 'row', height: 92, background: '#FFF4E6', borderRadius: 10, padding: '0 20px', alignItems: 'center', gap: 16 }}&gt;&#10;            &lt;Box style={{ width: 230 }}&gt;&lt;Text style={{ fontSize: 18, fontWeight: 'bold', color: '#CB6B28' }}&gt;JSON 正确、活动遗漏&lt;/Text&gt;&lt;/Box&gt;&#10;            &lt;Box style={{ width: 280 }}&gt;&lt;Text style={{ fontSize: 16, color: '#546779', lineHeight: 1.55 }}&gt;时间规则本身看不出异常&lt;/Text&gt;&lt;/Box&gt;&#10;            &lt;Box style={{ flex: 1 }}&gt;&lt;Text style={{ fontSize: 16, color: '#CB6B28', lineHeight: 1.55 }}&gt;每项活动恰好安排一次；该做的事没做，仍不合格&lt;/Text&gt;&lt;/Box&gt;&#10;        &lt;/Box&gt;&#10;&#10;        &lt;Box style={{ flexDirection: 'row', gap: 16, background: '#FFF4E6', borderRadius: 10, padding: '16px 20px', alignItems: 'center' }}&gt;&#10;            &lt;Box style={{ width: 4, height: 84, background: '#CB6B28' }} /&gt;&#10;            &lt;Box style={{ flexDirection: 'column', gap: 5 }}&gt;&#10;                &lt;Text style={{ fontSize: 18, fontWeight: 'bold', color: '#CB6B28' }}&gt;不要让模型改校验器，直到自己的方案通过&lt;/Text&gt;&#10;                &lt;Text style={{ fontSize: 15, color: '#546779', lineHeight: 1.6 }}&gt;校验器代表本轮已经确认的业务规则；改变规则，意味着改变评测问题。若组织者确实修改了规则，应单独记录新规则和原因，再生成对应的新报告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2.7.7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本节练习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三个候选，一次反问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3143250" y="15811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在时间重叠规则上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962650" y="1581150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仍须满足什么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183832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00100" y="2171700"/>
            <a:ext cx="219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恰在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10:00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结束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3143250" y="21336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10:00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开始的预约不重叠，通过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962650" y="2133600"/>
            <a:ext cx="5429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时长、活动窗口与其他规则仍要逐条满足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28098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00100" y="3143250"/>
            <a:ext cx="219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恰在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10:30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143250" y="31051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10:30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结束的预约不重叠，通过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5962650" y="3105150"/>
            <a:ext cx="5429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时长与覆盖完整性同样不能少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378142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00100" y="4114800"/>
            <a:ext cx="2190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正确、活动遗漏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143250" y="40767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时间规则本身看不出异常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962650" y="4076700"/>
            <a:ext cx="5429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每项活动恰好安排一次；该做的事没做，仍不合格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09600" y="4752975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800100" y="4905375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990600" y="5038725"/>
            <a:ext cx="942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不要让模型改校验器，直到自己的方案通过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90600" y="5295900"/>
            <a:ext cx="9429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校验器代表本轮已经确认的业务规则；改变规则，意味着改变评测问题。若组织者确实修改了规则，应单独记录新规则和原因，再生成对应的新报告。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29" name="" descr="&lt;Slide notes={`这一节要把三件事带走。&#10;&#10;第一，命令是一份合同。参数、工作目录与环境、标准输出、标准错误和退出码，是一次执行的全部信息。调用者要同时看退出码和报告，不能看到有标准输出就判断成功。&#10;&#10;第二，规则一旦写明确，就交给程序去判定。半开区间和重叠条件可以逐条判，结果可复现；校验器只判断已经形式化的条件，不替组织者选最好的方案。&#10;&#10;第三，不要让模型修改校验器。校验器代表本轮确认的业务规则，改规则就是改评测问题。下一节讲 Skill，把方法、资料、脚本和停止条件组织成可复用的包。`} style={{ width: 1280, height: 720, background: '#FFFFFF', flexDirection: 'column', padding: '20px 64px' }}&gt;&#10;&#10;    &lt;Box style={{ height: 540, flexDirection: 'column', justifyContent: 'center', gap: 24 }}&gt;&#10;&#10;        &lt;Box style={{ flexDirection: 'column', alignItems: 'center', gap: 12 }}&gt;&#10;            &lt;Text style={{ fontSize: 15, color: '#546779' }}&gt;2.7　小结&lt;/Text&gt;&#10;            &lt;Text style={{ fontSize: 44, fontWeight: 'bold', color: '#20344B', lineHeight: 1.25, textAlign: 'center' }}&gt;明确规则，交给程序&lt;/Text&gt;&#10;            &lt;Box style={{ width: 72, height: 4, background: '#276FBF' }} /&gt;&#10;        &lt;/Box&gt;&#10;&#10;        &lt;Box style={{ flexDirection: 'row', gap: 20 }}&gt;&#10;            &lt;Box style={{ width: 370, height: 156, background: '#EDF4FC', borderRadius: 10, padding: '20px 22px', flexDirection: 'column', gap: 8 }}&gt;&#10;                &lt;Text style={{ fontSize: 20, fontWeight: 'bold', color: '#276FBF' }}&gt;命令有合同&lt;/Text&gt;&#10;                &lt;Text style={{ fontSize: 15, color: '#546779', lineHeight: 1.6 }}&gt;参数、工作目录与环境、stdout、stderr 与退出码一起记录，缺一项就复现不了。&lt;/Text&gt;&#10;            &lt;/Box&gt;&#10;            &lt;Box style={{ width: 370, height: 156, background: '#ECF7F2', borderRadius: 10, padding: '20px 22px', flexDirection: 'column', gap: 8 }}&gt;&#10;                &lt;Text style={{ fontSize: 20, fontWeight: 'bold', color: '#26816B' }}&gt;规则明确才交给程序&lt;/Text&gt;&#10;                &lt;Text style={{ fontSize: 15, color: '#546779', lineHeight: 1.6 }}&gt;半开区间与重叠条件可以逐条判定，结果可复现；校验器不替组织者选方案。&lt;/Text&gt;&#10;            &lt;/Box&gt;&#10;            &lt;Box style={{ width: 370, height: 156, background: '#FFF4E6', borderRadius: 10, padding: '20px 22px', flexDirection: 'column', gap: 8 }}&gt;&#10;                &lt;Text style={{ fontSize: 20, fontWeight: 'bold', color: '#CB6B28' }}&gt;不改校验器&lt;/Text&gt;&#10;                &lt;Text style={{ fontSize: 15, color: '#546779', lineHeight: 1.6 }}&gt;校验器代表本轮确认的业务规则；改规则就是改评测问题，须单独记录。&lt;/Text&gt;&#10;            &lt;/Box&gt;&#10;        &lt;/Box&gt;&#10;&#10;        &lt;Box style={{ flexDirection: 'row', alignItems: 'center', gap: 16, background: '#F4F7FA', borderRadius: 10, padding: '14px 22px' }}&gt;&#10;            &lt;Box style={{ width: 4, height: 44, background: '#276FBF' }} /&gt;&#10;            &lt;Text style={{ fontSize: 16, color: '#546779', lineHeight: 1.55 }}&gt;调用者要同时检查退出码和报告：有标准输出不等于成功，退出码是 0 也只说明规则检查通过。&lt;/Text&gt;&#10;        &lt;/Box&gt;&#10;&#10;        &lt;Box style={{ flexDirection: 'row', alignItems: 'center', gap: 12 }}&gt;&#10;            &lt;Box style={{ width: 3, height: 26, background: '#26816B' }} /&gt;&#10;            &lt;Text style={{ fontSize: 16, color: '#546779' }}&gt;下一节　2.8　Skill：组织可复用的方法、资料、脚本与停止条件&lt;/Text&gt;&#10;        &lt;/Box&gt;&#10;&#10;    &lt;/Box&gt;&#10;&#10;    &lt;Box style={{ height: 40, flexDirection: 'row', justifyContent: 'space-between', alignItems: 'center' }}&gt;&#10;        &lt;Text style={{ fontSize: 14, color: '#546779' }}&gt;2.7 CLI 与 Shell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781675" y="676275"/>
            <a:ext cx="638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2.7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210050" y="962025"/>
            <a:ext cx="377190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明确规则，交给程序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5753100" y="17049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609600" y="1971675"/>
            <a:ext cx="3524250" cy="1485900"/>
          </a:xfrm>
          <a:prstGeom prst="roundRect">
            <a:avLst>
              <a:gd name="adj" fmla="val 64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19150" y="216217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命令有合同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19150" y="2466975"/>
            <a:ext cx="3105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参数、工作目录与环境、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stdout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stderr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与退出码一起记录，缺一项就复现不了。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4324350" y="1971675"/>
            <a:ext cx="3524250" cy="1485900"/>
          </a:xfrm>
          <a:prstGeom prst="roundRect">
            <a:avLst>
              <a:gd name="adj" fmla="val 641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33900" y="216217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规则明确才交给程序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533900" y="2466975"/>
            <a:ext cx="3105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半开区间与重叠条件可以逐条判定，结果可复现；校验器不替组织者选方案。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8039100" y="1971675"/>
            <a:ext cx="3524250" cy="1485900"/>
          </a:xfrm>
          <a:prstGeom prst="roundRect">
            <a:avLst>
              <a:gd name="adj" fmla="val 64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248650" y="2162175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不改校验器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248650" y="2466975"/>
            <a:ext cx="3105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校验器代表本轮确认的业务规则；改规则就是改评测问题，须单独记录。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09600" y="36861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819150" y="38195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009650" y="3886200"/>
            <a:ext cx="64293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调用者要同时检查退出码和报告：有标准输出不等于成功，退出码是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也只说明规则检查通过。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9600" y="4600575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52475" y="4629150"/>
            <a:ext cx="432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2.8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：组织可复用的方法、资料、脚本与停止条件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2.7 CLI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Shell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2026-09-29T03:35:34Z</dcterms:created>
  <dcterms:modified xsi:type="dcterms:W3CDTF">2026-09-29T03:35:34Z</dcterms:modified>
</cp:coreProperties>
</file>