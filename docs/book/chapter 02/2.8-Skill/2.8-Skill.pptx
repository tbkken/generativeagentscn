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23" Type="http://schemas.openxmlformats.org/officeDocument/2006/relationships/slide" Target="slides/slide2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1" Type="http://schemas.openxmlformats.org/officeDocument/2006/relationships/slide" Target="slides/slide21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9" Type="http://schemas.openxmlformats.org/officeDocument/2006/relationships/slide" Target="slides/slide9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notesMaster" Target="notesMasters/notesMaster1.xml" /><Relationship Id="rId29" Type="http://schemas.openxmlformats.org/officeDocument/2006/relationships/presProps" Target="presProps.xml" /><Relationship Id="rId3" Type="http://schemas.openxmlformats.org/officeDocument/2006/relationships/slide" Target="slides/slide3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我们前面学过 prompt、上下文、结构化输出、工具调用、MCP 和 CLI 与 Shell。它们有一个共同的麻烦：换个活动，就得把「读规则、查预约、生成、校验」整套要求重新讲一遍，漏掉一处，结果就不一样。</a:t>
            </a:r>
          </a:p>
          <a:p>
            <a:r>
              <a:rPr lang="zh-CN" dirty="0"/>
              <a:t>Skill 要解决的就是这件事。它把一套方法与辅助文件装进一个目录：SKILL.md 写明适用条件与操作步骤，另有参考资料、脚本和模板。宿主接到任务时，可以挑一个合适的材料包来用。</a:t>
            </a:r>
          </a:p>
          <a:p>
            <a:r>
              <a:rPr lang="zh-CN" dirty="0"/>
              <a:t>但请记住一句话：Skill 保存的是方法，不是结果。这一次做得怎么样，仍然由本次输入、模型和工具执行共同决定。安装 Skill，不代表每次任务都会自动调用它，更不代表业务结果一定正确。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这五个问题的顺序是有讲究的。</a:t>
            </a:r>
          </a:p>
          <a:p>
            <a:r>
              <a:rPr lang="zh-CN" dirty="0"/>
              <a:t>第一块回答「里面装了什么」：目录、SKILL.md、参考资料、脚本和模板各自负责什么。第二块回答「怎么省上下文」：为什么装了一百个 Skill 也不该把一百份说明全部送进模型。第三块回答「凭什么敢装」：先读文件、再本地执行、最后用三种方案各跑一遍。第四块是装载路线：托管 Shell、本地 Shell 和应用层 SOP 加载是三套机制。最后一块是安装之后的取证和边界。</a:t>
            </a:r>
          </a:p>
          <a:p>
            <a:r>
              <a:rPr lang="zh-CN" dirty="0"/>
              <a:t>五块连起来是一条线：先看懂它，再敢装它，最后能证明它真的起作用。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 Skill 说到底就是一个目录。它不需要平台、不需要数据库，你在文件管理器里就能把它看明白。</a:t>
            </a:r>
          </a:p>
          <a:p>
            <a:r>
              <a:rPr lang="zh-CN" dirty="0"/>
              <a:t>目录里有四样东西。SKILL.md 是唯一的入口文件，写明适用条件和操作步骤。references 放青禾的教学规则和输入材料。scripts 放校验脚本和它依赖的辅助模块。assets 放方案的数据结构，也就是 schedule.schema.json。</a:t>
            </a:r>
          </a:p>
          <a:p>
            <a:r>
              <a:rPr lang="zh-CN" dirty="0"/>
              <a:t>我想强调「自包含」这三个字：这套材料拿到别的机器上，只要目录完整，脚本就能按自己的位置找到 references，不需要额外配置。所以判断一个 Skill 好不好用，第一件事就是看这个目录能不能独立跑起来。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保存的是方法，不是结果，这句话我想拆开讲清楚。</a:t>
            </a:r>
          </a:p>
          <a:p>
            <a:r>
              <a:rPr lang="zh-CN" dirty="0"/>
              <a:t>「读规则、查预约、生成候选、独立校验」这四步是方法。把它写进 SKILL.md，再把规则、脚本和数据结构放进同一个目录，方法就变成了可以随身携带的材料包。换一个活动，材料包不用重写，只换本次输入。</a:t>
            </a:r>
          </a:p>
          <a:p>
            <a:r>
              <a:rPr lang="zh-CN" dirty="0"/>
              <a:t>但结果不是材料包里写好的。本次人数多少、预约快照是哪一天、模型生成了什么、校验跑出什么，这几件事共同决定这次的方案对不对。同一个 Skill 两次运行一次通过一次不过，这不是它坏了。</a:t>
            </a:r>
          </a:p>
          <a:p>
            <a:r>
              <a:rPr lang="zh-CN" dirty="0"/>
              <a:t>还有两点容易搞混：安装了 Skill，不等于每次任务都会自动调用它；被调用了，也不等于业务结果一定正确。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这个目录是本章配套的教学包，名字叫 open-day-planner。</a:t>
            </a:r>
          </a:p>
          <a:p>
            <a:r>
              <a:rPr lang="zh-CN" dirty="0"/>
              <a:t>最上面一行是目录名，也就是 Skill 的身份。SKILL.md 是唯一的入口，里面写适用条件、操作步骤和停止条件。references 放青禾的规则和输入材料。scripts 放校验脚本和它的辅助模块。assets 放 schedule.schema.json，规定方案的数据结构。</a:t>
            </a:r>
          </a:p>
          <a:p>
            <a:r>
              <a:rPr lang="zh-CN" dirty="0"/>
              <a:t>我建议这样读：先读入口文件，知道它什么时候适用；再读参考资料，知道依据什么事实；最后看脚本和数据结构。</a:t>
            </a:r>
          </a:p>
          <a:p>
            <a:r>
              <a:rPr lang="zh-CN" dirty="0"/>
              <a:t>有个细节值得留意：脚本要按自己的位置去找 references，而不是假定你站在 Skill 根目录下。后面验证时会专门检查。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打开 SKILL.md，会看到两段完全不同的东西。</a:t>
            </a:r>
          </a:p>
          <a:p>
            <a:r>
              <a:rPr lang="zh-CN" dirty="0"/>
              <a:t>最上面用三条短横线夹住的那一小段叫 front matter，是元数据。里面只有两行：name 和 description。name 是短名称，description 一句话说清这个 Skill 做什么。它的作用不是给模型执行，而是帮宿主判断这一次要不要用它。名字起得含糊、描述写得空泛，宿主就选不中它。</a:t>
            </a:r>
          </a:p>
          <a:p>
            <a:r>
              <a:rPr lang="zh-CN" dirty="0"/>
              <a:t>三条短横线以下才是操作说明，这才是真正要执行的部分：输入是什么、操作分几步、什么时候该停下来。</a:t>
            </a:r>
          </a:p>
          <a:p>
            <a:r>
              <a:rPr lang="zh-CN" dirty="0"/>
              <a:t>本章放出来的是教学缩略版，句子比全文短。真正练习的时候，以配套目录里的文件全文为准，不要拿缩略版当规范。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 Skill 到底要写到什么程度才算有效？我在配套文件里看到四个必要条件。</a:t>
            </a:r>
          </a:p>
          <a:p>
            <a:r>
              <a:rPr lang="zh-CN" dirty="0"/>
              <a:t>第一是适用条件：什么任务该用它、哪些材料算齐。这一条缺了，宿主要么选不中它，要么在不对的场合用它。第二是执行步骤：先做什么、再做什么、中间可以重复几轮。第三是验收条件：用哪个程序检查、看哪份报告算通过。第四是停止条件：什么情况必须停下来，把阻塞原因说清楚。</a:t>
            </a:r>
          </a:p>
          <a:p>
            <a:r>
              <a:rPr lang="zh-CN" dirty="0"/>
              <a:t>验收和停止这两条最容易被漏掉。很多看起来像模像样的 Skill 只写了步骤，没写失败时怎么办，结果循环没有边界，模型会一直改、一直重试，或者干脆绕过规则。</a:t>
            </a:r>
          </a:p>
          <a:p>
            <a:r>
              <a:rPr lang="zh-CN" dirty="0"/>
              <a:t>还有一点要提醒：给它一句「你是资深活动策划」这种角色设定，替代不了过程。角色是语气，过程才是方法。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现在换一个角度看这件事：假设某个宿主装了一百个 Skill。</a:t>
            </a:r>
          </a:p>
          <a:p>
            <a:r>
              <a:rPr lang="zh-CN" dirty="0"/>
              <a:t>如果每次任务都把所有脚本、表格和说明全文送进模型，会占用大量上下文，而且让无关规则干扰当前任务。你可能遇到过这种情况：明明只是排个活动，模型却忽然引用了一条跟你无关的日志格式要求，那就是上下文被污染了。</a:t>
            </a:r>
          </a:p>
          <a:p>
            <a:r>
              <a:rPr lang="zh-CN" dirty="0"/>
              <a:t>常见做法是先只提供名称和描述。模型判断某个 Skill 相关，再去读它的 SKILL.md；如果方法里引用了别的文件，再按需把那些文件读进来。</a:t>
            </a:r>
          </a:p>
          <a:p>
            <a:r>
              <a:rPr lang="zh-CN" dirty="0"/>
              <a:t>这就是渐进读取，也常称为渐进披露。它的好处有两层：省上下文，也减少干扰。判断依据是描述写得准不准，所以描述本身就是一种接口。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假设你装了一百个 Skill，最直接的做法是把一百份说明、脚本和表格全部送进模型。这样做有三个代价。</a:t>
            </a:r>
          </a:p>
          <a:p>
            <a:r>
              <a:rPr lang="zh-CN" dirty="0"/>
              <a:t>第一是上下文被占满。上下文是有限的，塞进去一百份无关材料，真正需要的规则反而容易被挤掉。第二是干扰。模型会看到很多与当前任务无关的约束，可能认真遵守其中一条其实不该适用的规则。第三是成本。每多装一个 Skill，每一次任务都要多付一份开销。</a:t>
            </a:r>
          </a:p>
          <a:p>
            <a:r>
              <a:rPr lang="zh-CN" dirty="0"/>
              <a:t>渐进读取走的是另一条路：先只给名称和描述，判断相关之后再读方法，方法里引用到的文件才展开。区别不在功能多少，而在每一次任务搬进上下文的东西有多少。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渐进读取拆成动作，就是三步。</a:t>
            </a:r>
          </a:p>
          <a:p>
            <a:r>
              <a:rPr lang="zh-CN" dirty="0"/>
              <a:t>第一步是判断适用性。这一步只看 front matter 里的 name 和 description，不看脚本，也不看参考资料。名字含糊、描述空泛，就会走偏。第二步是读方法：打开 SKILL.md，看输入要求和步骤。第三步是按需展开，方法里引用到 references、scripts、assets 才去读。</a:t>
            </a:r>
          </a:p>
          <a:p>
            <a:r>
              <a:rPr lang="zh-CN" dirty="0"/>
              <a:t>有三条边界要记住。方法要完整：输入、操作、验收和停止条件都写清楚，否则执行不下去。依赖要齐全：脚本要按自身位置找到材料，不能假定别人已切到 Skill 根目录。最后一条最重要——Skill 只提供方法本身，能不能连上服务、有没有执行权限，由宿主负责。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「方法要完整」和「依赖要齐全」是两件不同的事，但缺了任何一件，Skill 都跑不起来。</a:t>
            </a:r>
          </a:p>
          <a:p>
            <a:r>
              <a:rPr lang="zh-CN" dirty="0"/>
              <a:t>第一件事是方法完整。输入要写清读哪几份材料；操作要写清步骤，包括按错误修正最多三轮、并且不允许修改规则来绕过错误；验收要写清运行哪个校验器、读哪份报告；停止要写清规则冲突、输入缺失或校验仍失败时该怎么办。这四段合起来，才是一个别人照着就能执行的过程。</a:t>
            </a:r>
          </a:p>
          <a:p>
            <a:r>
              <a:rPr lang="zh-CN" dirty="0"/>
              <a:t>第二件事是依赖齐全。脚本要按自身位置去找 references，不能假定运行它的人正好站在 Skill 根目录下。正文引用文件时也要说明路径基准。这两条看起来琐碎，但它决定了这个包换个目录还能不能跑。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工具、MCP 和 Skill 经常被混着说，但它们在处理不同层次的问题。</a:t>
            </a:r>
          </a:p>
          <a:p>
            <a:r>
              <a:rPr lang="zh-CN" dirty="0"/>
              <a:t>工具定义告诉模型它有哪些能力可以用、参数长什么样。MCP 组织的是连接，把外部能力按约定接进宿主。Skill 说的是方法：已经具备的能力，应该按什么步骤去用、怎样算通过、什么时候停下。</a:t>
            </a:r>
          </a:p>
          <a:p>
            <a:r>
              <a:rPr lang="zh-CN" dirty="0"/>
              <a:t>分清这三层，就能看懂两句很容易被误读的话。一句是 Skill 里写着「查询预约」，这不表示宿主就自动装好了预约服务；另一句是写着「运行 Python」，也不表示运行环境里已经有 Python。</a:t>
            </a:r>
          </a:p>
          <a:p>
            <a:r>
              <a:rPr lang="zh-CN" dirty="0"/>
              <a:t>它们其实是同一件任务的不同侧面：能做什么、怎么连上、怎么做。混在一起讲，出了错就不知道该查哪一层。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敢不敢装一个 Skill，取决于你有没有先把它跑一遍。</a:t>
            </a:r>
          </a:p>
          <a:p>
            <a:r>
              <a:rPr lang="zh-CN" dirty="0"/>
              <a:t>我建议三件事按顺序做。第一步读配套文件，检查步骤、脚本和资料是不是齐全。第二步在本地执行脚本，确认三件事：它能不能找到 references；Schema 和方案结构是不是一致；有没有偷偷依赖仓库外面的隐含文件。第三步换一次人数或者预约材料再跑，看流程会不会重新读取输入。</a:t>
            </a:r>
          </a:p>
          <a:p>
            <a:r>
              <a:rPr lang="zh-CN" dirty="0"/>
              <a:t>还有一条容易被忽略的：教学包里的规则，和示例目录里的规则应该保持一致。配套的离线测试会检查关键副本，就是为了避免出现讲解一套规则、实际执行另一套规则的情况。这种不一致很隐蔽，光看代码看不出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先读文件，再本地执行，这两步不要跳。</a:t>
            </a:r>
          </a:p>
          <a:p>
            <a:r>
              <a:rPr lang="zh-CN" dirty="0"/>
              <a:t>第一组检查看三件事：脚本能不能找到 references；Schema 和方案结构是不是一致；整个流程有没有偷偷依赖仓库外面的隐含文件。这三条任意一条不通过，这个包换一台机器就会出问题。</a:t>
            </a:r>
          </a:p>
          <a:p>
            <a:r>
              <a:rPr lang="zh-CN" dirty="0"/>
              <a:t>第二组检查看一致性。教学包里的规则，和示例目录里的规则应该是一样的。配套的离线测试会检查关键副本，就是为了避免出现讲解一套规则、实际执行另一套规则的情况。这种不一致很隐蔽，光看代码看不出来。</a:t>
            </a:r>
          </a:p>
          <a:p>
            <a:r>
              <a:rPr lang="zh-CN" dirty="0"/>
              <a:t>本地执行还有一个额外好处：它会逼你确认运行环境。脚本要的 Python 版本、依赖库有没有装，只有真的跑一遍才知道。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验证一个 Skill，光看它能不能跑成功是不够的。要拿三种方案分别喂进去，看校验程序能不能区分开。</a:t>
            </a:r>
          </a:p>
          <a:p>
            <a:r>
              <a:rPr lang="zh-CN" dirty="0"/>
              <a:t>第一种是正确方案：人数、房间、时间都满足条件，期望校验退出码为 0，报告写明全部检查通过。第二种是预约冲突方案：方案和已有预约的时间段重叠，期望它报出冲突在哪一段、和哪条预约重叠。第三种是缺字段方案：schedule.json 里少了一个必填字段，期望它指出缺的是哪个，而不是替我们猜一个默认值。</a:t>
            </a:r>
          </a:p>
          <a:p>
            <a:r>
              <a:rPr lang="zh-CN" dirty="0"/>
              <a:t>三种输入的判定必须不同，否则这个校验器等于没做事。最后还要换一次人数或者预约材料再跑一遍，看流程会不会重新读取输入。如果它直接复制了上一轮的答案，那说明它记住的是结论，而不是方法。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有一点特别重要：Skill 本身不授予任何执行权限。</a:t>
            </a:r>
          </a:p>
          <a:p>
            <a:r>
              <a:rPr lang="zh-CN" dirty="0"/>
              <a:t>能不能读取某个文件、能不能执行某条命令，由宿主、工具服务和运行环境共同决定。Skill 只是把这些写成了文字描述，它没有能力给自己开权限。所以看到一个 Skill 里写着「运行校验脚本」，先要确认当前环境允不允许执行它。</a:t>
            </a:r>
          </a:p>
          <a:p>
            <a:r>
              <a:rPr lang="zh-CN" dirty="0"/>
              <a:t>还要留意一点：references 里可能引用外部资料，那些文字是给本次任务使用的材料，不是指令。如果它和本次的任务边界、执行规则冲突，以本次任务为准。把外部文字当成新命令，是很容易踩进去的坑。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还有一个很实际的问题：Skill 装到哪里，才算装好了？</a:t>
            </a:r>
          </a:p>
          <a:p>
            <a:r>
              <a:rPr lang="zh-CN" dirty="0"/>
              <a:t>截至本章核查日期，至少有三条路可走。</a:t>
            </a:r>
          </a:p>
          <a:p>
            <a:r>
              <a:rPr lang="zh-CN" dirty="0"/>
              <a:t>第一条是原生托管：把目录或 ZIP 上传，服务给你一个 Skill 身份，再把它挂载到托管 Shell 上。第二条是本地 Shell：用的是本地真实存在的目录路径，写进 local 环境配置，但执行仍然由应用自己完成。第三条是应用层 SOP 加载：应用自己读 SKILL.md，按需把内容加进提示，然后跑自己那套受控的工具循环。</a:t>
            </a:r>
          </a:p>
          <a:p>
            <a:r>
              <a:rPr lang="zh-CN" dirty="0"/>
              <a:t>三条路都能让方法被复用，但它们的字段、路径、权限来源都不一样。先确定是走哪一条，再谈怎么写配置，顺序不能倒。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同一份 Skill，装到不同的地方，机制是不一样的。三条路线机制不同，不能互相套用。</a:t>
            </a:r>
          </a:p>
          <a:p>
            <a:r>
              <a:rPr lang="zh-CN" dirty="0"/>
              <a:t>路线一是原生托管：把目录或 ZIP 上传，服务返回一个 Skill 身份，再挂载到托管 Shell 里。路线二是本地 Shell：用的是本地真实存在的目录路径，写进 local 环境配置，执行仍然由应用自己完成。路线三是应用层 SOP 加载：应用自己读 SKILL.md，按需把内容加入提示，然后跑自己那套受控的工具循环。</a:t>
            </a:r>
          </a:p>
          <a:p>
            <a:r>
              <a:rPr lang="zh-CN" dirty="0"/>
              <a:t>三组都在描述「怎么装」，但用的字段、路径和执行权限完全不同。最危险的做法，是把托管模式的 skill_reference 原样放进本地配置里，写完看着像对的，跑起来一定不对。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托管路线可以这样走。</a:t>
            </a:r>
          </a:p>
          <a:p>
            <a:r>
              <a:rPr lang="zh-CN" dirty="0"/>
              <a:t>第一步是上传。把 examples 目录下的 open-day-planner 打成 ZIP，或者直接上传目录，POST 到 /v1/skills。第二步是记录身份。服务会返回 Skill ID 和实际版本，一定要记下来，后面的请求要引用它。第三步是挂载：在请求里声明 shell 工具，environment 设成 container_auto，skills 里放一条 skill_reference，指向刚才的 skill_id。</a:t>
            </a:r>
          </a:p>
          <a:p>
            <a:r>
              <a:rPr lang="zh-CN" dirty="0"/>
              <a:t>要注意两件事。这条路要求模型和账号都支持相应的托管工具，不是所有账号都能直接调。另外，上传成功只说明包存在了，不代表这次任务就会用上它。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这段代码只做一件事：把教学目录打成 ZIP，而且保证 ZIP 里面只有一个顶层目录。</a:t>
            </a:r>
          </a:p>
          <a:p>
            <a:r>
              <a:rPr lang="zh-CN" dirty="0"/>
              <a:t>关键在于 bundle.write 的第二个参数：它不是文件名，而是这个文件在压缩包里的路径。代码用了 path.relative_to(folder.parent)，相对于 skills 目录算，所以解压出来第一层就是 open-day-planner。</a:t>
            </a:r>
          </a:p>
          <a:p>
            <a:r>
              <a:rPr lang="zh-CN" dirty="0"/>
              <a:t>很多人打包时只压缩文件内容、丢掉根目录，结果解压后 SKILL.md 和 references 平铺在一起，脚本就找不到材料了。</a:t>
            </a:r>
          </a:p>
          <a:p>
            <a:r>
              <a:rPr lang="zh-CN" dirty="0"/>
              <a:t>不想打包也可以走目录式上传：用多份 files[] 表单项，保留每个文件在唯一顶层目录内的路径。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挂载完成不等于万事大吉，还有三件事要逐项核对。</a:t>
            </a:r>
          </a:p>
          <a:p>
            <a:r>
              <a:rPr lang="zh-CN" dirty="0"/>
              <a:t>第一是版本。请求里不写 version 就用默认版本；如果你需要固定复现，就要填写上传后实际记录的那个整数版本，不能照抄文档里的占位数字。</a:t>
            </a:r>
          </a:p>
          <a:p>
            <a:r>
              <a:rPr lang="zh-CN" dirty="0"/>
              <a:t>第二是调用。要在任务里明确要求使用这个 Skill，并且检查它是不是真的被读取、真的被执行了。能被发现，不等于被调用。</a:t>
            </a:r>
          </a:p>
          <a:p>
            <a:r>
              <a:rPr lang="zh-CN" dirty="0"/>
              <a:t>第三是取回产物。容器里生成的 schedule.json 需要通过 API 的文件获取方式拿回来。只在本地打印 output_text，不会把那个文件保存到你的机器上——这一点很多人第一次都会踩。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这两种装载方式很容易被混在一起。</a:t>
            </a:r>
          </a:p>
          <a:p>
            <a:r>
              <a:rPr lang="zh-CN" dirty="0"/>
              <a:t>本地 Shell 模式用的是本地真实存在的 Skill 目录路径。你不能把托管模式那个 skill_reference 原样搬过来，两者格式不一样。而且这段配置只是工具声明，本身不执行任何命令——应用仍要实现 2.7 讲过的本地 Shell 执行回路，处理命令、输出、超时和取消。声明一条本地路径，并不会把执行工作自动交给云端。</a:t>
            </a:r>
          </a:p>
          <a:p>
            <a:r>
              <a:rPr lang="zh-CN" dirty="0"/>
              <a:t>应用层 SOP 加载是另一回事：应用自己读 SOP，按需把内容加入提示，只开放两个受控函数。它复用了方法，但没有实现自动发现，也没有渐进读取，更没有原生挂载。</a:t>
            </a:r>
          </a:p>
          <a:p>
            <a:r>
              <a:rPr lang="zh-CN" dirty="0"/>
              <a:t>两条路都能跑出看起来差不多的产物，但产物相似不能证明接口机制相同。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还剩最后一组话题：装好之后，拿什么当证据。</a:t>
            </a:r>
          </a:p>
          <a:p>
            <a:r>
              <a:rPr lang="zh-CN" dirty="0"/>
              <a:t>剩下的分成两头。一头是证据链——装上了没有、读到了没有、跑了没有、通过了没有，四件事要分开取证。另一头是边界——通用的名字不等于某个系统的合同，本系统的类型、键和依赖要求，要另做一遍。</a:t>
            </a:r>
          </a:p>
          <a:p>
            <a:r>
              <a:rPr lang="zh-CN" dirty="0"/>
              <a:t>最后我会留五个问题，你可以照着检查自己写的 Skill。这五个问题不是理论，是为了让下一个人接手时不用再来问你一遍。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怎么证明一个装好的 Skill 真的起作用了？我把证据拆成四段，一段一段取。</a:t>
            </a:r>
          </a:p>
          <a:p>
            <a:r>
              <a:rPr lang="zh-CN" dirty="0"/>
              <a:t>第一段，装上了没有：宿主能不能发现这个技能名称，有没有出现在已安装列表里。第二段，读到了没有：这一轮实际采用的是哪份方法内容，看的是读取结果，而不是安装完成的提示。第三段，跑了没有：有没有真实的命令与输出，脚本到底执行过没有。第四段，通过了没有：候选文件和业务报告能不能对上，检查项是不是真的通过。</a:t>
            </a:r>
          </a:p>
          <a:p>
            <a:r>
              <a:rPr lang="zh-CN" dirty="0"/>
              <a:t>这四段之间：装上了不会自动保证读到了，读到了也不自动保证跑了。所以「继续取证，不自动保证」要一直挂在心里。</a:t>
            </a:r>
          </a:p>
          <a:p>
            <a:r>
              <a:rPr lang="zh-CN" dirty="0"/>
              <a:t>还有一条旁路：用托管 Shell 时，产物要按工具结果取回，聊天里的文字不会自动变成你机器上的文件。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 WorkBuddy，把这一套检查跑一遍。</a:t>
            </a:r>
          </a:p>
          <a:p>
            <a:r>
              <a:rPr lang="zh-CN" dirty="0"/>
              <a:t>安装走「技能 → 添加技能」：可以上传已有的技能包，也可以描述需求创建，入口取决于客户端支持。装完在已安装列表确认它是启用状态。</a:t>
            </a:r>
          </a:p>
          <a:p>
            <a:r>
              <a:rPr lang="zh-CN" dirty="0"/>
              <a:t>然后跑一次任务，输入：「使用 open-day-planner，读取本次青禾材料，生成方案并运行独立校验；预约工具不可用时明确使用教学快照。」跑完要去看它实际读了哪份 SKILL.md、脚本有没有执行，不能拿安装提示当证据。</a:t>
            </a:r>
          </a:p>
          <a:p>
            <a:r>
              <a:rPr lang="zh-CN" dirty="0"/>
              <a:t>接着做对照：关掉这个 Skill，在独立任务里用同样材料再跑一次，比较约束遗漏、有没有运行检查、错误定位和交付完整性。关闭和卸载不是一回事：关闭只是暂停模型的自动调用，文件还在。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最后说清一件事：通用的名字，不等于某个系统的合同。</a:t>
            </a:r>
          </a:p>
          <a:p>
            <a:r>
              <a:rPr lang="zh-CN" dirty="0"/>
              <a:t>本系统把 Skill 按 atomic、pack、brain 这些类型管理，包内还有一个 skill_key。除了名字和目录，它还要处理依赖闭包、参与者身份和仿真能力。这些要求，通用的 Agent Skill 目录结构不会自动满足。第三章需要通过系统自己的资源和实验流程完成导入、装配和校验。</a:t>
            </a:r>
          </a:p>
          <a:p>
            <a:r>
              <a:rPr lang="zh-CN" dirty="0"/>
              <a:t>还有版本这件事。OpenAI 上传服务里的 Skill 版本，是那个外部服务管理上传内容的方式；它不意味着本系统就应该引入一个业务 Revision。</a:t>
            </a:r>
          </a:p>
          <a:p>
            <a:r>
              <a:rPr lang="zh-CN" dirty="0"/>
              <a:t>真正共同的东西只有一样：可复用的方法与材料。存储、身份、运行环境和权限，各按各的系统来。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最后留下五个问题，你可以拿它来检查自己写的 Skill。</a:t>
            </a:r>
          </a:p>
          <a:p>
            <a:r>
              <a:rPr lang="zh-CN" dirty="0"/>
              <a:t>什么时候用：适用条件写清楚了吗？依据什么事实：它读的是哪几份材料？能够调用什么：需要哪些工具、哪些能力？怎样确认完成：由哪个程序、看哪份报告？失败时在哪里停下：规则冲突或者输入缺失，应该怎么收场？</a:t>
            </a:r>
          </a:p>
          <a:p>
            <a:r>
              <a:rPr lang="zh-CN" dirty="0"/>
              <a:t>这五条如果有一条只能靠作者当面口头补充，那它就还没有写进材料包。这时候要做的事情很具体：把这条说明补进去，然后再验证一遍。</a:t>
            </a:r>
          </a:p>
          <a:p>
            <a:r>
              <a:rPr lang="zh-CN" dirty="0"/>
              <a:t>把这五个问题答完，你的 Skill 才算真的可以被别人拿去复用。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从对话到智能体：技术、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2.8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59055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把一套方法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做成材料包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433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33825"/>
            <a:ext cx="571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跨活动复用「读规则—查预约—生成—校验」，可以减少重复说明与遗漏。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把方法及其辅助文件组织成材料包，供宿主按任务选用。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4822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85850" y="49720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里面装了什么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571750" y="484822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048000" y="49720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怎样渐进读取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533900" y="484822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010150" y="49720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装好怎么取证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19900" y="2171700"/>
            <a:ext cx="4762500" cy="2533650"/>
          </a:xfrm>
          <a:prstGeom prst="roundRect">
            <a:avLst>
              <a:gd name="adj" fmla="val 4511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7010400" y="2352675"/>
            <a:ext cx="38100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143750" y="2343150"/>
            <a:ext cx="182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open-day-planner/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010400" y="2647950"/>
            <a:ext cx="43815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├── SKILL.md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010400" y="3028950"/>
            <a:ext cx="43815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>├── references/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010400" y="3409950"/>
            <a:ext cx="43815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>├── scripts/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010400" y="3790950"/>
            <a:ext cx="43815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>└── assets/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7010400" y="4171950"/>
            <a:ext cx="4191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010400" y="4257675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方法留下来，结果仍然重新决定。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819900" y="4838700"/>
            <a:ext cx="13335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200900" y="49625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已安装？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8343900" y="4838700"/>
            <a:ext cx="13335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724900" y="49625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已调用？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9867900" y="4838700"/>
            <a:ext cx="133350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248900" y="49625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已验证？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81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本章要看清的五件事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2857500" cy="8286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五个问题</a:t>
            </a:r>
            <a:endParaRPr/>
          </a:p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一层一层往下问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37623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2857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每一块都能单独回答一个问题：它是什么、怎么用、凭什么可信。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3848100" y="1657350"/>
            <a:ext cx="77343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019550" y="17907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143375" y="18954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610100" y="1790700"/>
            <a:ext cx="6800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材料包里有什么（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2.8.1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610100" y="2038350"/>
            <a:ext cx="6800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一个目录、一个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和三组辅助文件，就能描述一整套可复用的方法。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3848100" y="2495550"/>
            <a:ext cx="77343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019550" y="26289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143375" y="27336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610100" y="2628900"/>
            <a:ext cx="6800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渐进读取怎样节省上下文（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2.8.2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610100" y="2876550"/>
            <a:ext cx="6800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先给名称与描述，选中后再读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，最后按需展开引用文件。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3848100" y="3333750"/>
            <a:ext cx="77343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4019550" y="34671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143375" y="35718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4610100" y="3467100"/>
            <a:ext cx="6800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先验证方法，再安装（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2.8.3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610100" y="3714750"/>
            <a:ext cx="6800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先读文件、本地执行，再用正确、冲突、缺字段三种方案各跑一遍。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848100" y="4171950"/>
            <a:ext cx="77343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019550" y="43053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143375" y="44100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610100" y="4305300"/>
            <a:ext cx="6800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三种装载路线（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2.8.4–2.8.5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610100" y="4552950"/>
            <a:ext cx="6800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托管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、本地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与应用层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加载，机制不同，不能互相套用。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3848100" y="5010150"/>
            <a:ext cx="7734300" cy="7620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4019550" y="51435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143375" y="5248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610100" y="5143500"/>
            <a:ext cx="6800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取证、复用与边界（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2.8.6–2.8.7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610100" y="5391150"/>
            <a:ext cx="6800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安装、读取、执行、通过分别取证；系统侧的合同第三章再展开。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14573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14375" y="15621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295400" y="16287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2.8.1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09600" y="21812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材料包里有什么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31146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一个目录、一个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、三组辅助文件，就能描述一整套方法。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09600" y="3981450"/>
            <a:ext cx="2514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62000" y="41910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SKILL.md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62000" y="4457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适用条件与操作步骤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3429000" y="3981450"/>
            <a:ext cx="2514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3581400" y="41910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references/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3581400" y="4457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青禾的规则与输入材料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6248400" y="3981450"/>
            <a:ext cx="2514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400800" y="41910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scripts/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400800" y="4457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校验脚本与辅助模块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9067800" y="3981450"/>
            <a:ext cx="2514600" cy="83820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220200" y="41910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assets/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220200" y="4457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方案的数据结构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6057900" y="50292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3143250" y="54483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4886325" y="56197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读得完、认得清、带得走的材料包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的几个组成部分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方法留下来，结果仍然重新决定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704850" y="140017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读规则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57250" y="1895475"/>
            <a:ext cx="2076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规则、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brief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与输入材料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3257550" y="16859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505200" y="140017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3657600" y="16287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查预约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3657600" y="1895475"/>
            <a:ext cx="2076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指定日期的预约快照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57900" y="16859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305550" y="140017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457950" y="16287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生成候选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457950" y="1895475"/>
            <a:ext cx="2076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保持活动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与房间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8858250" y="16859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9105900" y="140017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9258300" y="16287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独立校验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9258300" y="1895475"/>
            <a:ext cx="2076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运行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scripts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中的校验器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057900" y="24193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09600" y="27717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800100" y="2943225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990600" y="2962275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材料包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skill/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90600" y="321945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方法写成文件，随包携带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3524250" y="2943225"/>
            <a:ext cx="9525" cy="4381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3686175" y="2867025"/>
            <a:ext cx="77057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SKILL.md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写操作说明　·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references/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放规则与输入材料　·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scripts/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放校验脚本　·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assets/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放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schedule.schema.json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057900" y="36957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09600" y="40481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800100" y="4219575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990600" y="4238625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本次任务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990600" y="44958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结果重新决定一次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3524250" y="4219575"/>
            <a:ext cx="9525" cy="4381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3686175" y="4295775"/>
            <a:ext cx="77057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本次输入　＋　本次模型　＋　本次工具执行　→　本次的方案与报告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4962525"/>
            <a:ext cx="53721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800100" y="521017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971550" y="5248275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已安装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会自动调用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971550" y="5495925"/>
            <a:ext cx="48196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宿主只在任务与描述匹配时才选用；装了不等于每次都用上。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210300" y="4962525"/>
            <a:ext cx="53721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400800" y="52101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572250" y="5248275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会用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业务结果正确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572250" y="5495925"/>
            <a:ext cx="48196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结果仍由本次输入、模型与工具执行共同决定，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不打包结论。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的几个组成部分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一个自包含的教学目录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09600" y="23431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本章配套的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open-day-planner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是一个自包含的教学目录，四层结构各管一件事。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609600" y="2828925"/>
            <a:ext cx="6667500" cy="2266950"/>
          </a:xfrm>
          <a:prstGeom prst="roundRect">
            <a:avLst>
              <a:gd name="adj" fmla="val 5042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19150" y="3000375"/>
            <a:ext cx="62484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 b="1">
                <a:solidFill>
                  <a:srgbClr val="20344B"/>
                </a:solidFill>
                <a:latin typeface="Consolas"/>
                <a:ea typeface="Consolas"/>
              </a:rPr>
              <a:t>open-day-planner/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19150" y="3324225"/>
            <a:ext cx="62484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 xml:space="preserve">├── SKILL.md                    # </a:t>
            </a:r>
            <a:r>
              <a:rPr lang="zh-CN" sz="1050">
                <a:solidFill>
                  <a:srgbClr val="276FBF"/>
                </a:solidFill>
                <a:latin typeface="Consolas"/>
                <a:ea typeface="Consolas"/>
              </a:rPr>
              <a:t>适用条件、操作步骤与停止条件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19150" y="3648075"/>
            <a:ext cx="62484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├── references/                 #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青禾的教学规则和输入材料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19150" y="3971925"/>
            <a:ext cx="62484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├── scripts/                    #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校验脚本及其辅助模块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19150" y="4295775"/>
            <a:ext cx="62484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>└── assets/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19150" y="4619625"/>
            <a:ext cx="62484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    </a:t>
            </a: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└── schedule.schema.json      # </a:t>
            </a:r>
            <a:r>
              <a:rPr lang="zh-CN" sz="1050">
                <a:solidFill>
                  <a:srgbClr val="20344B"/>
                </a:solidFill>
                <a:latin typeface="Consolas"/>
                <a:ea typeface="Consolas"/>
              </a:rPr>
              <a:t>方案的数据结构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7658100" y="29432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7829550" y="2952750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SKILL.md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7829550" y="319087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入口文件：它什么时候适用，按什么步骤做。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7658100" y="35528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7829550" y="3562350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references/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829550" y="380047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依据什么事实：规则、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brief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与预约材料。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7658100" y="41624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7829550" y="4171950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scripts/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assets/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829550" y="441007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怎样确认完成：校验脚本与方案的数据结构。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7658100" y="4772025"/>
            <a:ext cx="28575" cy="209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800975" y="4800600"/>
            <a:ext cx="3276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脚本按自身位置发现材料，不假定已切到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根目录。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的几个组成部分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元数据在前，操作说明在后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4000500" cy="3905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725" b="1">
                <a:solidFill>
                  <a:srgbClr val="276FBF"/>
                </a:solidFill>
                <a:latin typeface="Microsoft YaHei"/>
                <a:ea typeface="Microsoft YaHei"/>
              </a:rPr>
              <a:t>两段各管一件事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09600" y="25717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09600" y="2733675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front matter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　元数据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762000" y="3143250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name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description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，帮宿主发现并选中方法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2571750" y="3600450"/>
            <a:ext cx="85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09600" y="3933825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62000" y="409575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Markdown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正文　操作说明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762000" y="4343400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输入、操作与停止条件，这一步才真的执行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4791075"/>
            <a:ext cx="4000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描述要写明任务与触发条件；正文要引用实际文件并说明路径基准。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4991100" y="1733550"/>
            <a:ext cx="6591300" cy="1504950"/>
          </a:xfrm>
          <a:prstGeom prst="roundRect">
            <a:avLst>
              <a:gd name="adj" fmla="val 7595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5181600" y="1885950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---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5181600" y="2190750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>name: open-day-planner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5181600" y="2495550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 xml:space="preserve">description: </a:t>
            </a:r>
            <a:r>
              <a:rPr lang="zh-CN" sz="975">
                <a:solidFill>
                  <a:srgbClr val="20344B"/>
                </a:solidFill>
                <a:latin typeface="Consolas"/>
                <a:ea typeface="Consolas"/>
              </a:rPr>
              <a:t>根据房间、活动请求和预约材料编写开放日方案，并运行独立校验。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5181600" y="2800350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---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4991100" y="3390900"/>
            <a:ext cx="65913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5143500" y="35052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5314950" y="3505200"/>
            <a:ext cx="6115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5314950" y="3733800"/>
            <a:ext cx="6115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brief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、房间表、规则、活动请求和预约材料；先确认日期、时区与来源。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4991100" y="4191000"/>
            <a:ext cx="6591300" cy="704850"/>
          </a:xfrm>
          <a:prstGeom prst="roundRect">
            <a:avLst>
              <a:gd name="adj" fmla="val 13514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5143500" y="43053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5314950" y="4305300"/>
            <a:ext cx="6115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5314950" y="4533900"/>
            <a:ext cx="6115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整理约束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使用查询工具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生成候选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运行校验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按错误修正（最多三轮）→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输出。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4991100" y="4991100"/>
            <a:ext cx="659130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5143500" y="5105400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5314950" y="5105400"/>
            <a:ext cx="6115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停止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5314950" y="5334000"/>
            <a:ext cx="6115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规则冲突、输入缺失或校验仍失败时，保留结果并说明阻塞原因。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的几个组成部分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143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有效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写清四件事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适用条件、执行步骤、验收条件、停止条件——四件事齐了，方法才真的能被别人照着做。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609600" y="184785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800100" y="20193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990600" y="212407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适用条件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2667000" y="2095500"/>
            <a:ext cx="872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什么任务该用它、哪些材料算齐。缺了它，宿主选不中，或者用在不对的场合。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609600" y="270510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800100" y="28765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990600" y="298132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执行步骤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2667000" y="2952750"/>
            <a:ext cx="872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先做什么、再做什么、中间最多重复几轮。缺了它，每一步都靠临场发挥。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09600" y="356235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800100" y="3733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990600" y="383857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验收条件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2667000" y="3810000"/>
            <a:ext cx="872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用哪个程序检查、读哪份报告算通过。缺了它，「做完」只能凭感觉。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609600" y="441960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800100" y="45910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990600" y="469582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停止条件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2667000" y="4667250"/>
            <a:ext cx="872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什么情况下必须停下来并说明阻塞原因。缺了它，循环没有边界。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609600" y="53340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819150" y="5476875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990600" y="550545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角色设定不能替代过程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990600" y="5734050"/>
            <a:ext cx="1038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只写步骤、不写失败处理，也同样约束不住循环——四件事缺一不可。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609600" y="14382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14375" y="15430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1295400" y="16097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2.8.2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渐进读取怎样节省上下文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609600" y="30956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609600" y="33242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装了一百个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，也不该把一百份说明全部送进模型。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819150" y="3962400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971550" y="42005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先判断适用性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971550" y="44577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只看到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name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description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4229100" y="42481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4476750" y="3962400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4629150" y="42005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再读方法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4629150" y="44577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读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的操作说明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7886700" y="42481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8134350" y="3962400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8286750" y="42005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按需展开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286750" y="44577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references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scripts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assets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6057900" y="50482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3143250" y="546735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886325" y="563880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省上下文，也减少无关规则的干扰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渐进读取怎样节省上下文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全量送入与渐进读取的代价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3048000" cy="8286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差别不在功能</a:t>
            </a:r>
            <a:endParaRPr/>
          </a:p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在每次搬多少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609600" y="35909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609600" y="3771900"/>
            <a:ext cx="30480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上百个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同时存在时，决定体验的不是谁功能多，而是一次任务要把多少东西搬进上下文。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4038600" y="1924050"/>
            <a:ext cx="3619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5076825" y="2085975"/>
            <a:ext cx="1552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做法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　全部送进去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4038600" y="253365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4191000" y="2752725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脚本、表格与说明全文一起进来，上下文被大量占用。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4038600" y="329565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4191000" y="3390900"/>
            <a:ext cx="33147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无关规则干扰当前任务，模型可能遵守不该适用的约束。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4038600" y="405765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4191000" y="4276725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每多装一个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，每一次任务都多付一份开销。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4038600" y="481965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4191000" y="5038725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真正需要的规则容易被挤掉，也更难指出依据在哪。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7962900" y="1924050"/>
            <a:ext cx="3619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9086850" y="208597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做法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　渐进读取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7962900" y="253365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8115300" y="2752725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先只提供名称与描述，用来判断这个方法是否相关。</a:t>
            </a:r>
            <a:endParaRPr/>
          </a:p>
        </p:txBody>
      </p:sp>
      <p:sp>
        <p:nvSpPr>
          <p:cNvPr id="789" name=""/>
          <p:cNvSpPr/>
          <p:nvPr/>
        </p:nvSpPr>
        <p:spPr>
          <a:xfrm rot="0" flipH="0" flipV="0">
            <a:off x="7962900" y="329565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8115300" y="3514725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选中相关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之后，再读它的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操作说明。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7962900" y="405765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8115300" y="4276725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方法里引用的文件再按需展开，不一次全搬进来。</a:t>
            </a:r>
            <a:endParaRPr/>
          </a:p>
        </p:txBody>
      </p:sp>
      <p:sp>
        <p:nvSpPr>
          <p:cNvPr id="793" name=""/>
          <p:cNvSpPr/>
          <p:nvPr/>
        </p:nvSpPr>
        <p:spPr>
          <a:xfrm rot="0" flipH="0" flipV="0">
            <a:off x="7962900" y="481965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8115300" y="5038725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描述写得准，就选得准；选得准，才谈得上省上下文。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渐进读取怎样节省上下文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先判断、再读方法、最后按需展开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18002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2.8-1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的走向：每一步只搬进来下一步需要的东西。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819150" y="2247900"/>
            <a:ext cx="3238500" cy="1771650"/>
          </a:xfrm>
          <a:prstGeom prst="roundRect">
            <a:avLst>
              <a:gd name="adj" fmla="val 537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09650" y="2295525"/>
            <a:ext cx="285750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09650" y="315277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先判断适用性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09650" y="3457575"/>
            <a:ext cx="2857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name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description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，决定这个方法是否相关。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219575" y="2962275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476750" y="2247900"/>
            <a:ext cx="3238500" cy="1771650"/>
          </a:xfrm>
          <a:prstGeom prst="roundRect">
            <a:avLst>
              <a:gd name="adj" fmla="val 537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667250" y="2428875"/>
            <a:ext cx="285750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667250" y="328612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再读方法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667250" y="35909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打开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，读输入要求与操作步骤。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77175" y="2962275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134350" y="2247900"/>
            <a:ext cx="3238500" cy="1771650"/>
          </a:xfrm>
          <a:prstGeom prst="roundRect">
            <a:avLst>
              <a:gd name="adj" fmla="val 537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24850" y="2428875"/>
            <a:ext cx="285750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26816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324850" y="328612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按需展开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24850" y="35909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references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scripts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assets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用到哪份读哪份。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476750" y="4152900"/>
            <a:ext cx="32385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629150" y="4324350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方法要完整　输入、操作、验收、停止条件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134350" y="4152900"/>
            <a:ext cx="32385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286750" y="4324350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依赖要齐全　脚本按自身路径发现材料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487680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19150" y="5019675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90600" y="506730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只提供方法，连接、执行权限与预算由宿主负责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90600" y="5295900"/>
            <a:ext cx="1038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装着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，不等于它自己能连上服务，也不等于它有权执行命令。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渐进读取怎样节省上下文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方法要完整，依赖要齐全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一条管「写得够不够」，一条管「换个目录还能不能跑」。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2333625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81050" y="2457450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33450" y="24765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方法要完整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2905125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81050" y="3124200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输入：读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brief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、房间表、规则、活动请求与预约材料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09600" y="3590925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81050" y="3810000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操作：最多修正三轮，不修改规则来绕过错误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4276725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81050" y="4495800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验收：运行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scripts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中的校验器，读取完整报告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4962525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81050" y="5181600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停止：规则冲突或输入缺失时，保留结果并说明原因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753100" y="2333625"/>
            <a:ext cx="58293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924550" y="2457450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76950" y="24765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依赖要齐全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5753100" y="2905125"/>
            <a:ext cx="58293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924550" y="312420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references/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：教学规则与输入材料，教学包与示例目录保持一致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53100" y="3590925"/>
            <a:ext cx="58293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924550" y="381000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scripts/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：校验脚本及其辅助模块，按自身位置发现材料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753100" y="4276725"/>
            <a:ext cx="58293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924550" y="449580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assets/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schedule.schema.json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规定方案的数据结构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753100" y="4962525"/>
            <a:ext cx="58293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924550" y="518160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路径基准：不假定宿主已切换到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根目录，也不依赖仓库外的隐含文件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13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渐进读取怎样节省上下文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13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工具、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MCP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各管一层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14859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能做什么、怎么连上、怎么做——三个问题不能混成一个。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19526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00100" y="215265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90600" y="2305050"/>
            <a:ext cx="133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476500" y="2266950"/>
            <a:ext cx="4953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告诉模型能做什么：有哪些能力可用、参数长什么样。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581900" y="228600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管能力声明，不描述执行流程。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29622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800100" y="316230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90600" y="3314700"/>
            <a:ext cx="133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MCP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2476500" y="3276600"/>
            <a:ext cx="4953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组织能力连接：把外部能力按约定接进不同的宿主。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581900" y="329565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管连接，不管方法写得多细。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39719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800100" y="4171950"/>
            <a:ext cx="38100" cy="5143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90600" y="4324350"/>
            <a:ext cx="133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Skill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476500" y="4286250"/>
            <a:ext cx="4953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说明怎样运用已具备的能力：输入、操作、验收与停止。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581900" y="430530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管方法，不负责安装服务。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50387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19150" y="52292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90600" y="525780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写着「查询预约」，不代表宿主已经装好预约服务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90600" y="5495925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写着「运行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」，也不代表运行环境里已经有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。文字描述的是方法，不是已经就绪的依赖。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14382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14375" y="15430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295400" y="16097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2.8.3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先验证方法，再安装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30956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33242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先读配套文件，再在本地跑一遍，最后才谈安装。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3962400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62000" y="41910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读配套文件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62000" y="4457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步骤、脚本与资料是否齐全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429000" y="3962400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581400" y="41910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本地执行脚本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581400" y="4457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找不到材料、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Schema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不符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248400" y="3962400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400800" y="41910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三种方案各跑一遍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400800" y="4457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正确、预约冲突、缺字段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9067800" y="3962400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F7F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220200" y="41910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换一次输入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220200" y="4457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看流程是否重新读取材料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57900" y="50482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143250" y="546735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800600" y="563880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跑通过再装，装完才知道该核对什么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先验证方法，再安装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先读配套文件，再在本地执行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本地能跑起来、规则前后一致，这两条比「看起来写得很好」重要得多。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2295525"/>
            <a:ext cx="6019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00100" y="24860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90600" y="2524125"/>
            <a:ext cx="5448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能找到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references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90600" y="2771775"/>
            <a:ext cx="5448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脚本按自身位置定位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references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，不依赖当前工作目录。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09600" y="3343275"/>
            <a:ext cx="6019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00100" y="35337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90600" y="3571875"/>
            <a:ext cx="5448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Schema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与方案一致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90600" y="3819525"/>
            <a:ext cx="5448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schedule.schema.json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与实际产出的字段结构对得上。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4391025"/>
            <a:ext cx="6019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800100" y="45815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90600" y="4619625"/>
            <a:ext cx="5448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不依赖仓库外文件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90600" y="4867275"/>
            <a:ext cx="5448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没有隐含的外部路径，换一台机器也能完整跑通。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7010400" y="2295525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181850" y="2419350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334250" y="243840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两套规则要一致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7010400" y="2886075"/>
            <a:ext cx="45720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181850" y="3086100"/>
            <a:ext cx="4229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教学包中的规则与示例目录中的规则应保持一致，配套离线测试会检查关键副本。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010400" y="3895725"/>
            <a:ext cx="45720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181850" y="4229100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脚本要求的运行环境也要一并确认：解释器、依赖库是否已经装好。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7010400" y="4905375"/>
            <a:ext cx="45720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181850" y="5048250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334250" y="5143500"/>
            <a:ext cx="360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讲解一套规则、实际执行另一套，是最难被发现的一类问题。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先验证方法，再安装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三种方案，三种判定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16859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同一个校验器，三种输入必须给出三种不同的判定，否则它等于没做事。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2152650"/>
            <a:ext cx="3505200" cy="7620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0100" y="233362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方案一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00100" y="25146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正确方案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352800" y="236220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6816B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2990850"/>
            <a:ext cx="35052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81050" y="3171825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输入：人数、房间与时间都满足条件，活动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与房间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保持不变。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3943350"/>
            <a:ext cx="35052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81050" y="425767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预期：退出码为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，报告写明全部检查项通过。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343400" y="2152650"/>
            <a:ext cx="35052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533900" y="233362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方案二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533900" y="251460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预约冲突方案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800850" y="236220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CB6B28"/>
                </a:solidFill>
                <a:latin typeface="Microsoft YaHei"/>
                <a:ea typeface="Microsoft YaHei"/>
              </a:rPr>
              <a:t>报冲突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343400" y="2990850"/>
            <a:ext cx="35052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514850" y="330517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输入：候选时间与已有预约的时间段发生重叠。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4343400" y="3943350"/>
            <a:ext cx="35052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514850" y="4124325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预期：指出冲突发生在哪一段，与哪条已有预约重叠。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077200" y="2152650"/>
            <a:ext cx="35052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267700" y="2333625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方案三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267700" y="25146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缺字段方案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248900" y="236220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CB6B28"/>
                </a:solidFill>
                <a:latin typeface="Microsoft YaHei"/>
                <a:ea typeface="Microsoft YaHei"/>
              </a:rPr>
              <a:t>报缺字段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077200" y="2990850"/>
            <a:ext cx="35052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248650" y="330517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schedule.json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中缺少一个必填字段。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077200" y="3943350"/>
            <a:ext cx="35052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248650" y="425767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预期：指出缺失的字段名，不猜测、不补默认值。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49720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19150" y="5124450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90600" y="5172075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复制上一轮答案，不能证明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实现了方法复用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90600" y="5400675"/>
            <a:ext cx="1038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换一次人数或预约材料，观察流程是否重新读取输入、重新运行校验。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先验证方法，再安装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95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本身不授予执行权限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3238500" cy="8286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权限不写在</a:t>
            </a:r>
            <a:endParaRPr/>
          </a:p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材料包里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37623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3238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方法可以随包带走，能不能读、能不能跑，要看包外面那套环境怎么说。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229100" y="1943100"/>
            <a:ext cx="73533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419600" y="2162175"/>
            <a:ext cx="38100" cy="666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610100" y="2238375"/>
            <a:ext cx="678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谁能读文件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610100" y="2505075"/>
            <a:ext cx="6781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宿主与工具服务决定这一次能打开哪些文件、能读到什么范围。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229100" y="3162300"/>
            <a:ext cx="73533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4419600" y="3381375"/>
            <a:ext cx="38100" cy="666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610100" y="3457575"/>
            <a:ext cx="678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谁能执行命令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610100" y="3724275"/>
            <a:ext cx="6781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运行环境决定能跑什么、超时多久、能不能取消，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开不了这个口子。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229100" y="4381500"/>
            <a:ext cx="73533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419600" y="4600575"/>
            <a:ext cx="38100" cy="666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610100" y="4676775"/>
            <a:ext cx="678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外部文字只是材料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610100" y="4943475"/>
            <a:ext cx="6781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参考资料里的外部文字可能含无关指令，它不能覆盖本次任务边界与执行规则。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13525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14375" y="14573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295400" y="1524000"/>
            <a:ext cx="771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2.8.4–2.8.5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2038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三种装载路线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29337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同一份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，装到托管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、本地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和应用里，是三套机制。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372427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00100" y="398145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路线一　原生托管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2762250" y="4000500"/>
            <a:ext cx="862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上传目录或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，拿到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身份，再挂载到托管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上执行。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454342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00100" y="480060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路线二　本地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2762250" y="4819650"/>
            <a:ext cx="862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使用本地真实存在的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路径，执行仍由应用与本地环境完成。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536257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00100" y="561975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路线三　应用层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2762250" y="5638800"/>
            <a:ext cx="862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应用自己读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，按需加入提示，再跑自己的受控工具循环。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2.8.4–2.8.5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原生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、本地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与应用层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三条路线不能互相套用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2.8-2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：三条路线各自闭环，谁的写法只归谁用。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2200275"/>
            <a:ext cx="3505200" cy="5715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81050" y="2381250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路线一　原生托管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28479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76200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28675" y="30765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66800" y="303847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上传目录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/ ZIP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POST /v1/skills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351472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762000" y="3705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28675" y="37433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66800" y="370522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记录真实身份：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ID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与版本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41814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762000" y="43719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28675" y="44100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66800" y="437197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挂载托管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：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skill_reference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4343400" y="2200275"/>
            <a:ext cx="3505200" cy="5715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514850" y="2381250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路线二　本地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4343400" y="28479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449580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562475" y="30765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800600" y="303847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本地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目录：真实存在的路径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343400" y="351472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4495800" y="3705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562475" y="37433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800600" y="370522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local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环境技能配置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343400" y="41814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4495800" y="43719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562475" y="44100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800600" y="437197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应用实际执行：处理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shell_call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与结果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8077200" y="2200275"/>
            <a:ext cx="3505200" cy="571500"/>
          </a:xfrm>
          <a:prstGeom prst="roundRect">
            <a:avLst>
              <a:gd name="adj" fmla="val 16667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248650" y="2381250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路线三　应用层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加载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8077200" y="28479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22960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296275" y="30765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534400" y="303847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应用自己读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SKILL.md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077200" y="351472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8229600" y="3705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296275" y="37433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534400" y="370522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按需加入提示与资料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077200" y="41814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8229600" y="43719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296275" y="44100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534400" y="437197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自己的受控工具循环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9600" y="49244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19150" y="5076825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90600" y="512445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不能把某一组的上传、路径或执行权限直接套给另一组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90600" y="5353050"/>
            <a:ext cx="1038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三组都在说「怎么装」，但字段、路径与权限来源各不相同，写混了看着像对、跑起来一定不对。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02" name="" descr="&lt;Slide notes={`先看托管路线怎么走。&#13;&#10;&#13;&#10;第一步是上传。把 examples 目录下的 open-day-planner 打成 ZIP，或者直接上传目录，POST 到 /v1/skills。第二步是记录身份。服务会返回 Skill ID 和实际版本，一定要记下来，后面的请求要引用它。第三步是挂载：在请求里声明 shell 工具，environment 设成 container_auto，skills 里放一条 skill_reference，指向刚才的 skill_id。&#13;&#10;&#13;&#10;要注意两件事。这条路要求模型和账号都支持相应的托管工具，不是所有账号都能直接调。另外，上传成功只说明包存在了，不代表这次任务就会用上它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8.4　OpenAI 原生 Skills：上传并挂载到托管 Shell&lt;/Text&gt;&#13;&#10;            &lt;Text style={{ fontSize: 34, fontWeight: 'bold', color: '#20344B' }}&gt;上传、记录身份、挂载 Shell&lt;/Text&gt;&#13;&#10;        &lt;/Box&gt;&#13;&#10;    &lt;/Box&gt;&#13;&#10;&#13;&#10;    &lt;Box style={{ height: 540, flexDirection: 'column', justifyContent: 'center', gap: 16 }}&gt;&#13;&#10;&#13;&#10;        &lt;Text style={{ fontSize: 17, color: '#546779', lineHeight: 1.6 }}&gt;先把这个包送到服务端，得到一个可以被引用的身份。&lt;/Text&gt;&#13;&#10;&#13;&#10;        &lt;Box style={{ flexDirection: 'row', justifyContent: 'center', alignItems: 'center' }}&gt;&#13;&#10;            &lt;Box style={{ width: 340, height: 150, background: '#EDF4FC', borderRadius: 10, padding: '16px 20px', flexDirection: 'column', gap: 7, justifyContent: 'center' }}&gt;&#13;&#10;                &lt;Text style={{ fontSize: 14, color: '#546779' }}&gt;第一步&lt;/Text&gt;&#13;&#10;                &lt;Text style={{ fontSize: 20, fontWeight: 'bold', color: '#276FBF' }}&gt;上传目录 / ZIP&lt;/Text&gt;&#13;&#10;                &lt;Text style={{ fontSize: 14, color: '#546779', lineHeight: 1.55 }}&gt;POST /v1/skills，把教学包交给服务端。&lt;/Text&gt;&#13;&#10;            &lt;/Box&gt;&#13;&#10;            &lt;Box style={{ width: 44, height: 150, justifyContent: 'center', alignItems: 'center' }}&gt;&lt;Text style={{ fontSize: 30, color: '#276FBF' }}&gt;›&lt;/Text&gt;&lt;/Box&gt;&#13;&#10;            &lt;Box style={{ width: 340, height: 150, background: '#EDF4FC', borderRadius: 10, padding: '16px 20px', flexDirection: 'column', gap: 7, justifyContent: 'center' }}&gt;&#13;&#10;                &lt;Text style={{ fontSize: 14, color: '#546779' }}&gt;第二步&lt;/Text&gt;&#13;&#10;                &lt;Text style={{ fontSize: 20, fontWeight: 'bold', color: '#276FBF' }}&gt;记录真实身份&lt;/Text&gt;&#13;&#10;                &lt;Text style={{ fontSize: 14, color: '#546779', lineHeight: 1.55 }}&gt;记下返回的 Skill ID 与上传后的实际版本。&lt;/Text&gt;&#13;&#10;            &lt;/Box&gt;&#13;&#10;            &lt;Box style={{ width: 44, height: 150, justifyContent: 'center', alignItems: 'center' }}&gt;&lt;Text style={{ fontSize: 30, color: '#26816B' }}&gt;›&lt;/Text&gt;&lt;/Box&gt;&#13;&#10;            &lt;Box style={{ width: 340, height: 150, background: '#ECF7F2', borderRadius: 10, padding: '16px 20px', flexDirection: 'column', gap: 7, justifyContent: 'center' }}&gt;&#13;&#10;                &lt;Text style={{ fontSize: 14, color: '#546779' }}&gt;第三步&lt;/Text&gt;&#13;&#10;                &lt;Text style={{ fontSize: 20, fontWeight: 'bold', color: '#26816B' }}&gt;挂载托管 Shell&lt;/Text&gt;&#13;&#10;                &lt;Text style={{ fontSize: 14, color: '#546779', lineHeight: 1.55 }}&gt;把 skill_id 交给 skill_reference，供本次任务引用。&lt;/Text&gt;&#13;&#10;            &lt;/Box&gt;&#13;&#10;        &lt;/Box&gt;&#13;&#10;&#13;&#10;        &lt;Box style={{ flexDirection: 'row', gap: 24 }}&gt;&#13;&#10;&#13;&#10;            &lt;Box style={{ width: 564, height: 112, background: '#F4F7FA', borderRadius: 10, padding: '14px 20px', flexDirection: 'row', alignItems: 'center', gap: 14 }}&gt;&#13;&#10;                &lt;Box style={{ width: 4, height: 62, background: '#276FBF' }} /&gt;&#13;&#10;                &lt;Box style={{ flex: 1, flexDirection: 'column', gap: 5 }}&gt;&#13;&#10;                    &lt;Text style={{ fontSize: 16, fontWeight: 'bold', color: '#276FBF' }}&gt;本小节先走这条路线&lt;/Text&gt;&#13;&#10;                    &lt;Text style={{ fontSize: 14, color: '#546779', lineHeight: 1.55 }}&gt;本地 Shell 与应用层 SOP 加载留到 2.8.5，两组的路径与权限写法完全不同。&lt;/Text&gt;&#13;&#10;                &lt;/Box&gt;&#13;&#10;            &lt;/Box&gt;&#13;&#10;&#13;&#10;            &lt;Box style={{ width: 564, height: 112, background: '#F4F7FA', borderRadius: 10, padding: '14px 20px', flexDirection: 'row', alignItems: 'center', gap: 14 }}&gt;&#13;&#10;                &lt;Box style={{ width: 4, height: 62, background: '#276FBF' }} /&gt;&#13;&#10;                &lt;Box style={{ flex: 1, flexDirection: 'column', gap: 5 }}&gt;&#13;&#10;                    &lt;Text style={{ fontSize: 16, fontWeight: 'bold', color: '#276FBF' }}&gt;模型与账号须支持托管工具&lt;/Text&gt;&#13;&#10;                    &lt;Text style={{ fontSize: 14, color: '#546779', lineHeight: 1.55 }}&gt;挂载前先确认所选模型与账号可以使用对应的托管工具，否则请求会被拒绝。&lt;/Text&gt;&#13;&#10;                &lt;/Box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2.8 Skill：把一套方法做成可以重复使用的材料包&lt;/Text&gt;&#13;&#10;        &lt;Text style={{ fontSize: 14, color: '#546779' }}&gt;19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124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：上传并挂载到托管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124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上传、记录身份、挂载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先把这个包送到服务端，得到一个可以被引用的身份。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819150" y="2628900"/>
            <a:ext cx="3238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009650" y="29527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09650" y="318135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上传目录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/ ZIP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09650" y="34766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POST /v1/skills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，把教学包交给服务端。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219575" y="3171825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476750" y="2628900"/>
            <a:ext cx="3238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667250" y="29527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667250" y="318135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记录真实身份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667250" y="34766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记下返回的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与上传后的实际版本。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877175" y="3171825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8134350" y="2628900"/>
            <a:ext cx="32385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324850" y="28289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24850" y="305752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挂载托管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24850" y="3352800"/>
            <a:ext cx="2857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交给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skill_reference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，供本次任务引用。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4210050"/>
            <a:ext cx="53721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800100" y="444817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971550" y="44958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本小节先走这条路线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71550" y="4733925"/>
            <a:ext cx="48196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与应用层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加载留到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，两组的路径与权限写法完全不同。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210300" y="4210050"/>
            <a:ext cx="53721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6400800" y="444817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572250" y="44958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模型与账号须支持托管工具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572250" y="4733925"/>
            <a:ext cx="48196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挂载前先确认所选模型与账号可以使用对应的托管工具，否则请求会被拒绝。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：上传并挂载到托管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打包时保留唯一顶层目录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2019300"/>
            <a:ext cx="6667500" cy="3390900"/>
          </a:xfrm>
          <a:prstGeom prst="roundRect">
            <a:avLst>
              <a:gd name="adj" fmla="val 3371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19150" y="2190750"/>
            <a:ext cx="6248400" cy="2857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 b="1">
                <a:solidFill>
                  <a:srgbClr val="20344B"/>
                </a:solidFill>
                <a:latin typeface="Consolas"/>
                <a:ea typeface="Consolas"/>
              </a:rPr>
              <a:t>打包脚本　</a:t>
            </a:r>
            <a:r>
              <a:rPr lang="en-US" sz="1050" b="1">
                <a:solidFill>
                  <a:srgbClr val="20344B"/>
                </a:solidFill>
                <a:latin typeface="Consolas"/>
                <a:ea typeface="Consolas"/>
              </a:rPr>
              <a:t xml:space="preserve">examples / </a:t>
            </a:r>
            <a:r>
              <a:rPr lang="zh-CN" sz="1050" b="1">
                <a:solidFill>
                  <a:srgbClr val="20344B"/>
                </a:solidFill>
                <a:latin typeface="Consolas"/>
                <a:ea typeface="Consolas"/>
              </a:rPr>
              <a:t>打包</a:t>
            </a:r>
            <a:r>
              <a:rPr lang="en-US" sz="1050" b="1">
                <a:solidFill>
                  <a:srgbClr val="20344B"/>
                </a:solidFill>
                <a:latin typeface="Consolas"/>
                <a:ea typeface="Consolas"/>
              </a:rPr>
              <a:t xml:space="preserve"> open-day-planner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19150" y="259080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from pathlib import Path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19150" y="287655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from zipfile import ZipFile, ZIP_DEFLATED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19150" y="325755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folder = Path("skills/open-day-planner")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19150" y="354330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output = Path("output/open-day-planner.zip")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19150" y="382905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output.parent.mkdir(parents=True, exist_ok=True)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19150" y="411480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with ZipFile(output, "w", ZIP_DEFLATED) as bundle: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19150" y="440055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for path in sorted(folder.rglob("*")):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19150" y="468630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if path.is_file() and "__pycache__" not in path.parts: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19150" y="497205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 xml:space="preserve">            </a:t>
            </a: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>bundle.write(path, path.relative_to(folder.parent).as_posix())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7658100" y="22860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829550" y="231457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按相对路径写入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829550" y="254317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写入路径相对于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目录计算，而不是只写文件名。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7658100" y="29146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829550" y="29432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唯一的顶层目录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829550" y="317182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压缩包内只留一个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open-day-planner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根目录，解压不散落。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7658100" y="35433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829550" y="357187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目录式上传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829550" y="380047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改用多份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files[]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表单项，保留顶层目录内的相对路径。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658100" y="41719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829550" y="42005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只压缩内容是错的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829550" y="4429125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丢掉根目录，包结构就不再自包含。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7658100" y="4800600"/>
            <a:ext cx="3924300" cy="352425"/>
          </a:xfrm>
          <a:prstGeom prst="roundRect">
            <a:avLst>
              <a:gd name="adj" fmla="val 21622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810500" y="48958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打包前确认：包里只有本节需要的教学文件。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：上传并挂载到托管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133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挂载之后分三步核对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版本、调用、产物，这三项各自都要有证据，不能互相替代。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09600" y="2066925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819150" y="23907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009650" y="250507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524000" y="2390775"/>
            <a:ext cx="984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核对版本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524000" y="2657475"/>
            <a:ext cx="98488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不写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version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时使用默认版本；需要固定复现时，填写上传后实际记录的整数版本，不照抄占位数字。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3362325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819150" y="36861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009650" y="380047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524000" y="3686175"/>
            <a:ext cx="984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核对调用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524000" y="3952875"/>
            <a:ext cx="98488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明确要求使用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，并检查它是否真的被读取、被执行。可发现不等于已调用。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4657725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819150" y="49815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09650" y="509587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524000" y="4981575"/>
            <a:ext cx="984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取回容器产物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524000" y="5248275"/>
            <a:ext cx="98488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的文件获取方式取回产物；打印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output_text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不会把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schedule.json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保存到本机。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41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与应用层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410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与应用层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不是一回事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09600" y="1276350"/>
            <a:ext cx="5295900" cy="5715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781050" y="143827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33450" y="1457325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本地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模式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1924050"/>
            <a:ext cx="52959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81050" y="23336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用本地真实存在的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目录路径，不能把托管模式的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skill_reference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原样放进去。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09600" y="3067050"/>
            <a:ext cx="52959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81050" y="34766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这只是工具声明：声明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local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列表，本身不执行任何命令。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09600" y="4210050"/>
            <a:ext cx="52959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781050" y="46196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应用仍须实现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的本地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执行回路，处理命令、输出、超时与取消。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286500" y="1276350"/>
            <a:ext cx="5295900" cy="571500"/>
          </a:xfrm>
          <a:prstGeom prst="roundRect">
            <a:avLst>
              <a:gd name="adj" fmla="val 16667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457950" y="1438275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610350" y="1457325"/>
            <a:ext cx="1323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应用层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加载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286500" y="1924050"/>
            <a:ext cx="52959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457950" y="23336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应用自己读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，按需把内容加入提示，而不是交给宿主去发现。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286500" y="3067050"/>
            <a:ext cx="52959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457950" y="34766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只开放两个受控函数，其余能力不暴露给模型。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286500" y="4210050"/>
            <a:ext cx="52959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457950" y="46196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复用了方法，但没有自动发现、渐进读取或原生挂载。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54292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819150" y="5572125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990600" y="560070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相似产物不能证明接口机制相同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90600" y="5829300"/>
            <a:ext cx="1038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复用同一份材料，不等于用了同一种装载机制。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15525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14375" y="16573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1295400" y="1724025"/>
            <a:ext cx="771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2.8.6–2.8.7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取证、复用与边界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09600" y="31337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9600" y="33242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安装完成不是证据，安装成功之后还要逐项取证。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3924300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762000" y="41529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装上了没有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762000" y="44196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宿主能否发现技能名称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3429000" y="3924300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3581400" y="41529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读到了没有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581400" y="44196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本次采用了哪份方法内容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248400" y="3924300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400800" y="41529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跑了没有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400800" y="44196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真实命令与真实输出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9067800" y="3924300"/>
            <a:ext cx="25146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220200" y="41529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通过了没有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9220200" y="44196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候选文件与业务报告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57900" y="49720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3143250" y="535305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962525" y="5524500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四段分别有证据，才谈得上复用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中安装和复用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安装、读取、执行、通过分别取证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13049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2.8-3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：四段证据逐段向下，装上了不会自动保证读到了。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1752600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819150" y="1914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52500" y="19907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371600" y="2000250"/>
            <a:ext cx="190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已安装？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448050" y="2019300"/>
            <a:ext cx="792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宿主可以发现技能名称，它出现在已安装列表里。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819150" y="2590800"/>
            <a:ext cx="28575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962025" y="260985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继续取证，不自动保证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→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09600" y="2914650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819150" y="30765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52500" y="31527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371600" y="3162300"/>
            <a:ext cx="190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已读取？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3448050" y="3181350"/>
            <a:ext cx="792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核对本次实际采用的方法内容，而不是安装提示。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3752850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819150" y="39147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52500" y="39909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371600" y="4000500"/>
            <a:ext cx="190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已执行？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448050" y="4019550"/>
            <a:ext cx="792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核对真实的命令与输出，脚本确实被运行过。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4591050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819150" y="47529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952500" y="48291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371600" y="4838700"/>
            <a:ext cx="190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已通过？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448050" y="4857750"/>
            <a:ext cx="792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匹配候选文件与业务报告，检查项确实通过。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09600" y="5429250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819150" y="55721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90600" y="5657850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若使用托管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：按工具结果取回产物；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Chat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里的文字不会自动成为本机文件。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中安装和复用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安装、使用，再做一次关闭对照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609600" y="196215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800100" y="2181225"/>
            <a:ext cx="38100" cy="666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990600" y="2257425"/>
            <a:ext cx="579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安装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90600" y="2514600"/>
            <a:ext cx="5791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进入「技能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添加技能」，上传已有技能包或描述需求创建；在已安装列表确认启用状态。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609600" y="316230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800100" y="3381375"/>
            <a:ext cx="38100" cy="666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990600" y="3333750"/>
            <a:ext cx="579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调用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990600" y="3590925"/>
            <a:ext cx="5791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在新任务中选择本章工作区，输入「使用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open-day-planner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，读取本次青禾材料，生成方案并运行独立校验」。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09600" y="436245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800100" y="4581525"/>
            <a:ext cx="38100" cy="6667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990600" y="4657725"/>
            <a:ext cx="579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关闭对照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990600" y="4914900"/>
            <a:ext cx="5791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用相同材料再跑一次，比较约束遗漏、是否运行检查、错误定位与交付完整性。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7353300" y="1562100"/>
            <a:ext cx="42291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524750" y="16859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677150" y="17049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几件要注意的事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353300" y="2133600"/>
            <a:ext cx="4229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524750" y="2314575"/>
            <a:ext cx="3886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关闭与卸载不同：关闭保留文件，只暂停模型自动调用；开关状态属于用户配置。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7353300" y="3086100"/>
            <a:ext cx="4229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524750" y="340042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不以安装完成提示替代调用证据；要查看实际读取与脚本执行。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353300" y="4038600"/>
            <a:ext cx="42291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524750" y="4219575"/>
            <a:ext cx="3886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客户端拒绝导入包时，记录接受的文件类型与报错，改用客户端支持的创建入口。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353300" y="4991100"/>
            <a:ext cx="42291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524750" y="5172075"/>
            <a:ext cx="3886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不凭文件名推断任意目录都能自动发现；也不悄悄删掉脚本后声称同样功能。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与第三章中的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有何联系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通用的名字不等于系统合同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同一个词，放到另一个系统里，往往还有一层没有写进目录的约定。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09600" y="1847850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800100" y="20669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90600" y="2257425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类型与键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3048000" y="2228850"/>
            <a:ext cx="8343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本系统按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atomic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pack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等类型及包内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skill_key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管理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09600" y="2971800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800100" y="319087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90600" y="3381375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额外合同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3048000" y="3352800"/>
            <a:ext cx="8343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还要处理依赖闭包、参与者身份与仿真能力；通用目录结构不会自动满足这些合同。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09600" y="4095750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800100" y="431482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90600" y="4505325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版本不是一回事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3048000" y="4476750"/>
            <a:ext cx="8343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外部服务管理上传内容的版本，不等于本系统应引入业务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52768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819150" y="5429250"/>
            <a:ext cx="38100" cy="476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90600" y="5476875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共同点只有一样：可复用的方法与材料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990600" y="5705475"/>
            <a:ext cx="1038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存储、身份、运行环境与权限，以各自系统为准；导入与装配在第三章展开。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5781675" y="2000250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3924300" y="2286000"/>
            <a:ext cx="4343400" cy="5715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000" b="1">
                <a:solidFill>
                  <a:srgbClr val="20344B"/>
                </a:solidFill>
                <a:latin typeface="Microsoft YaHei"/>
                <a:ea typeface="Microsoft YaHei"/>
              </a:rPr>
              <a:t>五个问题，自查你的</a:t>
            </a:r>
            <a:r>
              <a:rPr lang="en-US" sz="30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5753100" y="2971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09600" y="3200400"/>
            <a:ext cx="22860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371600" y="3505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什么时候用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3028950" y="3200400"/>
            <a:ext cx="20955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3619500" y="3505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依据什么事实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5257800" y="3200400"/>
            <a:ext cx="20955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5848350" y="3505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能够调用什么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7486650" y="3200400"/>
            <a:ext cx="20955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077200" y="3505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怎样确认完成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9715500" y="3200400"/>
            <a:ext cx="18669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0115550" y="35052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失败时在哪停下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09600" y="41910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>
            <a:pPr/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819150" y="43434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990600" y="440055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任何一条只能靠作者口头补充，就说明它还没写进材料包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990600" y="4629150"/>
            <a:ext cx="1038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把这条说明补进去，然后再验证一遍，方法才算真正交到别人手里。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4629150" y="51816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772025" y="5210175"/>
            <a:ext cx="2790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2.9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Embedding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、检索与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2.8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：把一套方法做成可以重复使用的材料包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27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2026-09-29T03:39:47Z</dcterms:created>
  <dcterms:modified xsi:type="dcterms:W3CDTF">2026-09-29T03:39:47Z</dcterms:modified>
</cp:coreProperties>
</file>