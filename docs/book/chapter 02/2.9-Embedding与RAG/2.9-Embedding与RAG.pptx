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25.xml" ContentType="application/vnd.openxmlformats-officedocument.presentationml.slide+xml"/>
  <Override PartName="/ppt/slides/slide5.xml" ContentType="application/vnd.openxmlformats-officedocument.presentationml.slide+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26" Type="http://schemas.openxmlformats.org/officeDocument/2006/relationships/notesMaster" Target="notesMasters/notesMaster1.xml" /><Relationship Id="rId12" Type="http://schemas.openxmlformats.org/officeDocument/2006/relationships/slide" Target="slides/slide12.xml" /><Relationship Id="rId4" Type="http://schemas.openxmlformats.org/officeDocument/2006/relationships/slide" Target="slides/slide4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10" Type="http://schemas.openxmlformats.org/officeDocument/2006/relationships/slide" Target="slides/slide10.xml" /><Relationship Id="rId5" Type="http://schemas.openxmlformats.org/officeDocument/2006/relationships/slide" Target="slides/slide5.xml" /><Relationship Id="rId14" Type="http://schemas.openxmlformats.org/officeDocument/2006/relationships/slide" Target="slides/slide14.xml" /><Relationship Id="rId3" Type="http://schemas.openxmlformats.org/officeDocument/2006/relationships/slide" Target="slides/slide3.xml" /><Relationship Id="rId11" Type="http://schemas.openxmlformats.org/officeDocument/2006/relationships/slide" Target="slides/slide11.xml" /><Relationship Id="rId2" Type="http://schemas.openxmlformats.org/officeDocument/2006/relationships/slide" Target="slides/slide2.xml" /><Relationship Id="rId13" Type="http://schemas.openxmlformats.org/officeDocument/2006/relationships/slide" Target="slides/slide13.xml" /><Relationship Id="rId15" Type="http://schemas.openxmlformats.org/officeDocument/2006/relationships/slide" Target="slides/slide15.xml" /><Relationship Id="rId9" Type="http://schemas.openxmlformats.org/officeDocument/2006/relationships/slide" Target="slides/slide9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21" Type="http://schemas.openxmlformats.org/officeDocument/2006/relationships/slide" Target="slides/slide21.xml" /><Relationship Id="rId19" Type="http://schemas.openxmlformats.org/officeDocument/2006/relationships/slide" Target="slides/slide19.xml" /><Relationship Id="rId20" Type="http://schemas.openxmlformats.org/officeDocument/2006/relationships/slide" Target="slides/slide20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9" Type="http://schemas.openxmlformats.org/officeDocument/2006/relationships/viewProps" Target="viewProps.xml" /><Relationship Id="rId24" Type="http://schemas.openxmlformats.org/officeDocument/2006/relationships/slide" Target="slides/slide24.xml" /><Relationship Id="rId28" Type="http://schemas.openxmlformats.org/officeDocument/2006/relationships/tableStyles" Target="tableStyles.xml" /><Relationship Id="rId25" Type="http://schemas.openxmlformats.org/officeDocument/2006/relationships/slide" Target="slides/slide25.xml" /><Relationship Id="rId27" Type="http://schemas.openxmlformats.org/officeDocument/2006/relationships/presProps" Target="presProps.xml" /><Relationship Id="rId6" Type="http://schemas.openxmlformats.org/officeDocument/2006/relationships/slide" Target="slides/slide6.xml" /><Relationship Id="rId8" Type="http://schemas.openxmlformats.org/officeDocument/2006/relationships/slide" Target="slides/slide8.xml" /><Relationship Id="rId7" Type="http://schemas.openxmlformats.org/officeDocument/2006/relationships/slide" Target="slides/slide7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青禾的材料一开始很少，几张纸，直接读完交给模型就行。可当资料扩成历年方案、场地说明和志愿者手册，再整份读进去，就既费钱又混进大量无用内容。</a:t>
            </a:r>
          </a:p>
          <a:p>
            <a:r>
              <a:rPr lang="zh-CN" dirty="0"/>
              <a:t>这时候换一个顺序：先从材料里找出真正相关的那几段，再把它们和问题一起交给模型。这条路线叫 RAG，检索增强生成。它做的是在生成的时候补充依据，并不改动模型本身的权重。</a:t>
            </a:r>
          </a:p>
          <a:p>
            <a:r>
              <a:rPr lang="zh-CN" dirty="0"/>
              <a:t>还要记住一句：找依据的手段不止向量检索一种。文件名、关键词、数据库查询都能参与，没有必要为了做 RAG 先搭一套向量数据库。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我把这六个问题按顺序排一下。</a:t>
            </a:r>
          </a:p>
          <a:p>
            <a:r>
              <a:rPr lang="zh-CN" dirty="0"/>
              <a:t>先问「凭什么能找到相近内容」，答案是 Embedding：文本变成一组浮点数，语义相关的排得更近。紧接着要问「相似度到底说明了什么」，很多人会把它当成答案正确的概率，这是最常见的误解。</a:t>
            </a:r>
          </a:p>
          <a:p>
            <a:r>
              <a:rPr lang="zh-CN" dirty="0"/>
              <a:t>然后回到材料本身：切分的时候要保留能解释证据的上下文，不然片段读得懂，结论却站不住。动手做一个小型检索器的时候，读取、切片、向量、排序、取前 k 每一步都要看得见。再往后是托管路线，用官方的 File Search 少写一些代码。最后是在产品里做同一件取证任务，并且把检索命中、引用支持、业务通过分开测量。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先问最基础的一件事：计算机凭什么知道两句话意思接近？</a:t>
            </a:r>
          </a:p>
          <a:p>
            <a:r>
              <a:rPr lang="zh-CN" dirty="0"/>
              <a:t>它不认识词，只认识数。Embedding 做的事情，就是把一段文本换成一组浮点数，也就是一个向量。训练会让语义相关的文本在向量空间里靠得更近。</a:t>
            </a:r>
          </a:p>
          <a:p>
            <a:r>
              <a:rPr lang="zh-CN" dirty="0"/>
              <a:t>这件事的教学价值在这里：当有人问「哪里能做手工体验」，检索有可能命中「手作室使用说明」。这两句没有完全相同的字词，靠关键词匹配是碰不到的，靠向量却可以排到前面。</a:t>
            </a:r>
          </a:p>
          <a:p>
            <a:r>
              <a:rPr lang="zh-CN" dirty="0"/>
              <a:t>还有一处工程细节要提前交代：生成答案用的模型和生成向量用的模型是两件事，需要分别配置，不能混用同一个环境变量。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看左边这条问题：「哪里能做手工体验」。这个问题里根本没有出现「手作室」「使用说明」这些字眼，如果只用关键词去比对，材料里那份讲房间怎么用的文件是碰不到的。</a:t>
            </a:r>
          </a:p>
          <a:p>
            <a:r>
              <a:rPr lang="zh-CN" dirty="0"/>
              <a:t>Embedding 换了一个办法：把问题和每个片段都变成向量，然后看它们的方向是否接近。方向近的排前面，所以那份使用说明被排到了第一位。</a:t>
            </a:r>
          </a:p>
          <a:p>
            <a:r>
              <a:rPr lang="zh-CN" dirty="0"/>
              <a:t>这里要特别小心一件事：相似度高，只说这两段在讲同一类事情，不代表它能回答问题。容量表同样排得靠前，因为它也在谈场地，但它给不出时间。</a:t>
            </a:r>
          </a:p>
          <a:p>
            <a:r>
              <a:rPr lang="zh-CN" dirty="0"/>
              <a:t>工程上还有一处细节：回答用的模型和向量用的模型是两套，环境变量要分开配。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相似度怎么算？最常用的一种是余弦相似度。公式说的是：把两个向量的点积，除以它们各自长度的乘积。它比较的是方向，不太在意长短，所以很适合给候选片段排序。</a:t>
            </a:r>
          </a:p>
          <a:p>
            <a:r>
              <a:rPr lang="zh-CN" dirty="0"/>
              <a:t>接着是我最想让大家记住的一句：相似度高不等于答案正确。得分高，可能只是因为两句话都在谈手作室，其中一条记录却来自一个错误的日期。它说明的是「像」，不是「对」。</a:t>
            </a:r>
          </a:p>
          <a:p>
            <a:r>
              <a:rPr lang="zh-CN" dirty="0"/>
              <a:t>还有两条工程上的边界。不同向量模型之间、不同索引设置之间，分数阈值不能直接拿来比较。换个模型，昨天的 0.8 今天可能只有 0.6，那条卡死的分数线就不再成立。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既然向量这么好用，是不是可以不再用表格查询了？不能这样想。</a:t>
            </a:r>
          </a:p>
          <a:p>
            <a:r>
              <a:rPr lang="zh-CN" dirty="0"/>
              <a:t>语义检索擅长的是表述不同的说明文字。学生问「手工体验」，材料里写的是「手作室使用说明」，这种靠关键词碰不到的，向量能排出来。</a:t>
            </a:r>
          </a:p>
          <a:p>
            <a:r>
              <a:rPr lang="zh-CN" dirty="0"/>
              <a:t>但精确 ID、日期和数字，还是关键词和结构化筛选更可靠。比如先限定 room_id 等于 craft，再限定活动日期，从确定性的记录里筛，比让向量去猜要稳得多。真实的做法常常是两步合起来：先用字段把范围锁小，再在剩下的材料里做语义检索。</a:t>
            </a:r>
          </a:p>
          <a:p>
            <a:r>
              <a:rPr lang="zh-CN" dirty="0"/>
              <a:t>所以这里没有谁淘汰谁的问题。把「用了向量就该扔掉表格查询」当成原则，会丢掉最扎实的那部分能力。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材料找得到之后，下一个问题是怎么切。</a:t>
            </a:r>
          </a:p>
          <a:p>
            <a:r>
              <a:rPr lang="zh-CN" dirty="0"/>
              <a:t>切分不是随便按字数切开就行，它要服务于后面的检索和回答。切得太碎，一句话一段，句子里的指代没了，谁在说哪间房也看不出来；切得太整，整篇塞进上下文，无关内容又都回来了。</a:t>
            </a:r>
          </a:p>
          <a:p>
            <a:r>
              <a:rPr lang="zh-CN" dirty="0"/>
              <a:t>合适的做法是保留能解释证据的最小语境。Markdown 按标题和段落切，主题和来源留在同一段里；表格按一行加字段名切，房间身份和容量单位不能丢；预约记录按一条预约切，房间、日期、起止时间要在一起。</a:t>
            </a:r>
          </a:p>
          <a:p>
            <a:r>
              <a:rPr lang="zh-CN" dirty="0"/>
              <a:t>一句话概括：片段进入上下文以后，读者还要能看出这句话是谁说的、说的是谁。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从一份被授权的材料，到一句可以引用的答案，中间要走四步。</a:t>
            </a:r>
          </a:p>
          <a:p>
            <a:r>
              <a:rPr lang="zh-CN" dirty="0"/>
              <a:t>第一步是限定材料并切片，切片时保留 chunk_id，方便后面定位。第二步是检索排序，拿问题去和每个片段算相似度。第三步是从排序里挑出候选依据，取前 k 个。第四步才是生成答案，让模型引用片段，遇到资料里没有的就明确说不知道。</a:t>
            </a:r>
          </a:p>
          <a:p>
            <a:r>
              <a:rPr lang="zh-CN" dirty="0"/>
              <a:t>还有一条还没实现的扩展叫精确条件筛选：先按房间编号和活动日期把范围锁小，需要时放在检索之前。读取授权也仍然由应用负责。</a:t>
            </a:r>
          </a:p>
          <a:p>
            <a:r>
              <a:rPr lang="zh-CN" dirty="0"/>
              <a:t>人工复核核对的是日期、身份、断言支持和完整性，它是核对对象，不在流水线上。</a:t>
            </a:r>
          </a:p>
          <a:p>
            <a:r>
              <a:rPr lang="zh-CN" dirty="0"/>
              <a:t>最容易弄错的一点：相似片段进入上下文，只说明它「像」，不说明它已经足够回答问题。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这段对照表看着简单，但它决定了后面检索的成败。</a:t>
            </a:r>
          </a:p>
          <a:p>
            <a:r>
              <a:rPr lang="zh-CN" dirty="0"/>
              <a:t>Markdown 材料按标题和段落切，主题和来源留在同一片里，这样读到片段就知道它在讲哪件事。表格要按一行加字段名切，如果只留数值，看到「12」你不知道是 12 人还是 12 平方米。</a:t>
            </a:r>
          </a:p>
          <a:p>
            <a:r>
              <a:rPr lang="zh-CN" dirty="0"/>
              <a:t>预约记录按一条预约切，房间、日期、起止时间三样必须在一起。只留一个日期，复核的时候没法判断它说的是哪间房的哪个时段。</a:t>
            </a:r>
          </a:p>
          <a:p>
            <a:r>
              <a:rPr lang="zh-CN" dirty="0"/>
              <a:t>共同的要求只有一句：每个片段至少应能追溯到原文件。真实资料库往往还要记版本或更新时间、有效范围和访问权限，这些是后面判断依据是否还成立的基础。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片段切好之后，还得给它一个编号，不然检索结果里一堆文字你没法说清是哪来的。</a:t>
            </a:r>
          </a:p>
          <a:p>
            <a:r>
              <a:rPr lang="zh-CN" dirty="0"/>
              <a:t>配套脚本用的是「文件名加段号」这种形式，编号里不直接打中文，用两位数字，比如规则文件里的第三段。写检索清单的时候，这个编号就是定位用的把手。</a:t>
            </a:r>
          </a:p>
          <a:p>
            <a:r>
              <a:rPr lang="zh-CN" dirty="0"/>
              <a:t>不过要说清一个边界：这种编号不是跨所有文件都永久稳定的业务身份。你重新切一次、换一种切法，编号就可能变。所以重建索引的时候，要连同这次使用的输入副本和检索清单一起保存下来，不然过几天你没法复现当时的结果。</a:t>
            </a:r>
          </a:p>
          <a:p>
            <a:r>
              <a:rPr lang="zh-CN" dirty="0"/>
              <a:t>最后一条最容易被忽略：权限要在检索之前过滤。不能先把私有内容送进模型，再在提示里要求它别说出来。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我们要动手做的这个检索器故意做得小，为的是把每一步都看明白。</a:t>
            </a:r>
          </a:p>
          <a:p>
            <a:r>
              <a:rPr lang="zh-CN" dirty="0"/>
              <a:t>先用环境变量指定一个向量模型，官方文档里的 text-embedding-3-small 就是常用的一个。文本回答仍然用之前配好的那个模型，两个变量各有用途，不要混。</a:t>
            </a:r>
          </a:p>
          <a:p>
            <a:r>
              <a:rPr lang="zh-CN" dirty="0"/>
              <a:t>然后是读取材料、切分片段、生成向量、计算相似度、取前 k 个交给模型回答。脚本会把检索详情写进一个 JSON 清单，把回答写成一份 Markdown。这个清单比答案更重要，因为它让你能回看：这次到底找到了哪几段，排序是什么样的。</a:t>
            </a:r>
          </a:p>
          <a:p>
            <a:r>
              <a:rPr lang="zh-CN" dirty="0"/>
              <a:t>小型练习用内存里的列表就够了，不必先部署一套向量数据库，也不要把工程复杂度提前堆上来。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检索器要跑完五个环节：读材料、切片段、生成向量、算相似度、把前 k 段交给模型。</a:t>
            </a:r>
          </a:p>
          <a:p>
            <a:r>
              <a:rPr lang="zh-CN" dirty="0"/>
              <a:t>切分那一步要保留编号和来源，因为后面清单里要靠这个编号说清「这次引的是哪一段」。生成向量的时候，问题和片段放在同一个请求里一次提交，省往返也更整齐。</a:t>
            </a:r>
          </a:p>
          <a:p>
            <a:r>
              <a:rPr lang="zh-CN" dirty="0"/>
              <a:t>排序之后选择前 k 个，这一段是可调的。教学里默认取 3，它只是一个练习值，未必能把需求、容量、开放时间和预约都找齐。</a:t>
            </a:r>
          </a:p>
          <a:p>
            <a:r>
              <a:rPr lang="zh-CN" dirty="0"/>
              <a:t>最后有两处输出：一份检索清单，一份回答文件。检查的顺序是先读清单，再读答案。很多人反过来做，直接从流畅的文字里判断对不对，很容易被它说服。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这段代码最值得讲的是倒数几行：按 index 还原对应关系。</a:t>
            </a:r>
          </a:p>
          <a:p>
            <a:r>
              <a:rPr lang="zh-CN" dirty="0"/>
              <a:t>请求里，问题和全部片段放在同一个列表里一次提交，返回的数据是按顺序排的。稳妥的做法是用每一条返回项的 index 建一个字典，再按位置把向量取回来。这样即使返回顺序和输入顺序不一致，也不会把片段和向量错配。错配了，后面排序再准也没有意义。</a:t>
            </a:r>
          </a:p>
          <a:p>
            <a:r>
              <a:rPr lang="zh-CN" dirty="0"/>
              <a:t>问题与片段必须用相容的向量模型和维度。这一点在换模型时最容易踩：文本模型换了没关系，向量模型一换，之前存下来的向量就全都不能用了。</a:t>
            </a:r>
          </a:p>
          <a:p>
            <a:r>
              <a:rPr lang="zh-CN" dirty="0"/>
              <a:t>还有一处不能省：空输入、异常向量、请求失败都要有明确处理，不能一律当成「没有相关资料」——那是两种完全不同的结论。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检索清单读完之后，接着看回答有没有越过证据的范围。这里有三件事要分清。</a:t>
            </a:r>
          </a:p>
          <a:p>
            <a:r>
              <a:rPr lang="zh-CN" dirty="0"/>
              <a:t>第一，能查到什么。生成答案的时候，问题、被选中的片段和来源 ID 要明确分开，提示里要求答案只依据这些证据，缺失就说明不足。</a:t>
            </a:r>
          </a:p>
          <a:p>
            <a:r>
              <a:rPr lang="zh-CN" dirty="0"/>
              <a:t>第二，还要查什么。即使答案引用了一个合法的 chunk_id，仍然要回到那一段，看它是不是真的支持这句话。引用合法，只说明编号存在，不说明断言成立。</a:t>
            </a:r>
          </a:p>
          <a:p>
            <a:r>
              <a:rPr lang="zh-CN" dirty="0"/>
              <a:t>第三，不能由它推定什么。rooms.csv 里的容量记录，不能证明手作室十点半是空闲的——它只说明了能坐多少人。</a:t>
            </a:r>
          </a:p>
          <a:p>
            <a:r>
              <a:rPr lang="zh-CN" dirty="0"/>
              <a:t>另外提醒一句：取前 3 是一个可调整的练习值，未必能把需求、容量、开放时间和预约全都找回来。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不想自己写切分和检索，还有一条路：用 Responses API 里托管的文件搜索。</a:t>
            </a:r>
          </a:p>
          <a:p>
            <a:r>
              <a:rPr lang="zh-CN" dirty="0"/>
              <a:t>它的思路是把麻烦的部分交给服务端。你不需要自己决定按几行切、怎么编号，也不用自己维护一个向量表。上传文件、创建向量存储、把文件关联进去，处理完成以后，请求里只要带上向量存储的 ID 就行。</a:t>
            </a:r>
          </a:p>
          <a:p>
            <a:r>
              <a:rPr lang="zh-CN" dirty="0"/>
              <a:t>检索的时候，服务端会把语义和关键词结合起来做，你不用自己拼那套排序逻辑。</a:t>
            </a:r>
          </a:p>
          <a:p>
            <a:r>
              <a:rPr lang="zh-CN" dirty="0"/>
              <a:t>代价也要说清楚：文件上传到了服务端，资源在那边建立，所以上传范围和保留要求得自己管。本章的主示例仍然选前面那个透明的小实现，为的是每一步都看得见。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官方流程有五步，顺序不能乱。</a:t>
            </a:r>
          </a:p>
          <a:p>
            <a:r>
              <a:rPr lang="zh-CN" dirty="0"/>
              <a:t>先上传支持的文件。第二步创建一个向量存储，这是服务端上的一个资源。第三步把文件关联进去，让它成为这个存储的一部分。第四步确认处理完成，索引真正就绪了再发请求。</a:t>
            </a:r>
          </a:p>
          <a:p>
            <a:r>
              <a:rPr lang="zh-CN" dirty="0"/>
              <a:t>第五步才是发请求，在参数里提供向量存储的 ID。这里要提醒一句：后面这段代码不是建立资料库的完整脚本，它假设你已经按官方流程把索引建好、确认就绪，把 ID 放进了环境变量。</a:t>
            </a:r>
          </a:p>
          <a:p>
            <a:r>
              <a:rPr lang="zh-CN" dirty="0"/>
              <a:t>顺序反过来最容易出错：文件还没处理完就发请求，检索当然什么都找不到，但那不是资料的错，是流程没走完。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这段请求里有两处值得注意。</a:t>
            </a:r>
          </a:p>
          <a:p>
            <a:r>
              <a:rPr lang="zh-CN" dirty="0"/>
              <a:t>第一处是工具声明：类型写成 file_search，然后把向量存储的 ID 传进去，再用一个参数限制最多取回多少条结果。</a:t>
            </a:r>
          </a:p>
          <a:p>
            <a:r>
              <a:rPr lang="zh-CN" dirty="0"/>
              <a:t>第二处是 include。加上它，应用才能在响应里拿到这次实际检索到的东西。很多人只把返回的文字打印出来就结束了，那样你看到的只是答案，看不到依据。</a:t>
            </a:r>
          </a:p>
          <a:p>
            <a:r>
              <a:rPr lang="zh-CN" dirty="0"/>
              <a:t>还有一步别忘了：返回里的引用注解要逐条看。文字说得再顺，也不能替代「它到底引了哪一段」。</a:t>
            </a:r>
          </a:p>
          <a:p>
            <a:r>
              <a:rPr lang="zh-CN" dirty="0"/>
              <a:t>最后是数据边界。托管路线会上传文件、在服务端建立资源，上传范围和保留要求得按自己的资料情况管理，不能交给提示词。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两条路线怎么比？关键不在于哪条更高级，而在于比较的条件要对等。</a:t>
            </a:r>
          </a:p>
          <a:p>
            <a:r>
              <a:rPr lang="zh-CN" dirty="0"/>
              <a:t>自己检索这边，切分单位和编号由你决定，向量存在内存或自己的库里，相似度排序完全可见，可以写进清单。核对的时候，用的是这套流程自己产生的证据。</a:t>
            </a:r>
          </a:p>
          <a:p>
            <a:r>
              <a:rPr lang="zh-CN" dirty="0"/>
              <a:t>托管那边，切分和索引交给服务端，检索同时用语义和关键词，由服务端执行。你要做的是打开 include，把引用注解逐条看一遍。</a:t>
            </a:r>
          </a:p>
          <a:p>
            <a:r>
              <a:rPr lang="zh-CN" dirty="0"/>
              <a:t>比较时最容易出问题的地方是题目不一样。这边问三个问题，那边问五个；或者这边检查了引用支持，那边只看答案读起来顺不顺。这样比出来的结论没有意义。同一套题目、同一套支持性检查，才能谈效果。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同一件取证任务，我们在产品里再做一遍，看看工具入口长什么样。</a:t>
            </a:r>
          </a:p>
          <a:p>
            <a:r>
              <a:rPr lang="zh-CN" dirty="0"/>
              <a:t>做法是选一个教学工作空间，把问题涉及的目录或文件引用进来，然后把要求写清楚：找出手作体验的时长、允许房间、开放时间和预约冲突依据，逐项给出文件位置与相关原文，再提出候选。这四类依据正好对应前面讲的证据范围。</a:t>
            </a:r>
          </a:p>
          <a:p>
            <a:r>
              <a:rPr lang="zh-CN" dirty="0"/>
              <a:t>官方文档支持选择工作空间、引用上下文和添加文件，这就是这个练习用的产品入口。</a:t>
            </a:r>
          </a:p>
          <a:p>
            <a:r>
              <a:rPr lang="zh-CN" dirty="0"/>
              <a:t>要留一个心眼：它给出了位置和原文，你就要打开原文件核对。只读到了房间容量，就该继续查预约；如果查到的是旧日期记录，要重新限定范围。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提问的写法值得单独看一遍。</a:t>
            </a:r>
          </a:p>
          <a:p>
            <a:r>
              <a:rPr lang="zh-CN" dirty="0"/>
              <a:t>「请找出手作体验的时长、允许房间、开放时间和预约冲突依据；逐项给出文件位置与相关原文，再提出候选。」这里面有两个要求特别关键：一是四类依据要逐项列清，不能只说「帮我查一下」；二是要文件位置和原文，而不是一段总结。</a:t>
            </a:r>
          </a:p>
          <a:p>
            <a:r>
              <a:rPr lang="zh-CN" dirty="0"/>
              <a:t>然后看它的执行步骤，观察实际用了文件读取、搜索，还是已连接的查询工具——不同的手段，能力边界不一样。</a:t>
            </a:r>
          </a:p>
          <a:p>
            <a:r>
              <a:rPr lang="zh-CN" dirty="0"/>
              <a:t>最后一定打开原文件核对。如果只读到了房间容量，就继续查预约；如果查到的是旧日期记录，要重新限定范围。</a:t>
            </a:r>
          </a:p>
          <a:p>
            <a:r>
              <a:rPr lang="zh-CN" dirty="0"/>
              <a:t>这里要克制一句：它的底层检索算法没有在这次练习里得到验证，所以不能把「它找到了文件」说成「它用了 Embedding 或向量数据库」。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最后一个练习是做对照：在独立的工作区副本里，把预约文件移走，而且不接预约工具。</a:t>
            </a:r>
          </a:p>
          <a:p>
            <a:r>
              <a:rPr lang="zh-CN" dirty="0"/>
              <a:t>这个时候正确的表现是什么？答案应该保留「预约待核对」，而不能因为材料里还有别的讲房间的文字，就推测出某个时段空闲。相似文档看起来相关，但它没有预约记录这份信息。</a:t>
            </a:r>
          </a:p>
          <a:p>
            <a:r>
              <a:rPr lang="zh-CN" dirty="0"/>
              <a:t>更重要的是一种态度：把文件缺失记录成输入变化。输入变了，结论能覆盖的范围也就变了，这一点要写下来，而不是悄悄用别的文档把空补齐。</a:t>
            </a:r>
          </a:p>
          <a:p>
            <a:r>
              <a:rPr lang="zh-CN" dirty="0"/>
              <a:t>还有一句反过来的提醒：靠提示要求它别编造，不等于资料已经到位。提示词管得住表达方式，管不住材料里到底有没有这份信息。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最后一块要解决的问题是：怎么证明这套方法真的有用。</a:t>
            </a:r>
          </a:p>
          <a:p>
            <a:r>
              <a:rPr lang="zh-CN" dirty="0"/>
              <a:t>最容易犯的错是拿一个指标代替全部。检索命中了，就以为答案是对的；答案读起来顺，就以为方案能通过。</a:t>
            </a:r>
          </a:p>
          <a:p>
            <a:r>
              <a:rPr lang="zh-CN" dirty="0"/>
              <a:t>实际上这里有三把不同的尺子。检索命中，看的是需要的相关片段回来了多少。引用支持，看的是每条结论有没有依据。业务通过，看的是最终的排期是不是真的满足人数、时长、房间和开放时间这些规则。</a:t>
            </a:r>
          </a:p>
          <a:p>
            <a:r>
              <a:rPr lang="zh-CN" dirty="0"/>
              <a:t>三把尺子量的是三个环节，各打各的分，谁也不能替谁下结论。测对了环节，才知道该改哪里。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三个环节具体怎么打分，这里给出一组可操作的判据。</a:t>
            </a:r>
          </a:p>
          <a:p>
            <a:r>
              <a:rPr lang="zh-CN" dirty="0"/>
              <a:t>检索命中用 Recall@k。做法是人工先确定这个问题需要哪些相关片段，再看前 k 个结果把其中的多少找回来了。分母是预先标注的相关片段总数，不是问题数，也不是必要条件的条数。</a:t>
            </a:r>
          </a:p>
          <a:p>
            <a:r>
              <a:rPr lang="zh-CN" dirty="0"/>
              <a:t>引用支持，看的是每一条可以验证的断言有没有被引用支持，有没有漏掉关键条件。比如容量片段被找回来了，检索命中会变高，但它支持不了「十点半没有预约」这句话。</a:t>
            </a:r>
          </a:p>
          <a:p>
            <a:r>
              <a:rPr lang="zh-CN" dirty="0"/>
              <a:t>业务通过，要交给业务校验器，看最终排期是不是真的满足人数、时长、房间、开放时间这些规则。</a:t>
            </a:r>
          </a:p>
          <a:p>
            <a:r>
              <a:rPr lang="zh-CN" dirty="0"/>
              <a:t>今天这个练习的重点是：三个环节独立评分，三种评分不能互相代替。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先说检索这一把尺子怎么用。</a:t>
            </a:r>
          </a:p>
          <a:p>
            <a:r>
              <a:rPr lang="zh-CN" dirty="0"/>
              <a:t>Recall@k 的分母是预先标注的相关片段总数。这里最容易错的一步，是把必要条件当成片段。这个练习里有四类必要依据——人数与时长、允许房间、开放时间、已有预约——它们可能对应好多个片段，所以不能直接把 4 写成分母。先标注相关片段集合，再算。</a:t>
            </a:r>
          </a:p>
          <a:p>
            <a:r>
              <a:rPr lang="zh-CN" dirty="0"/>
              <a:t>做三组对照：分别用取 1 段、取 3 段和更大的值跑一遍，每次都把检索清单和答案存下来。然后看一件事——增加结果之后，是补齐了证据，还是只是多了几段无关的文字。</a:t>
            </a:r>
          </a:p>
          <a:p>
            <a:r>
              <a:rPr lang="zh-CN" dirty="0"/>
              <a:t>最后问一个材料里没有答案的问题：现场是否提供儿童看护。回答应该明确说明无法确认，而不是编一个出来。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这一节到这里，我想留下三个问题，以后做检索增强的时候都可以拿出来问一遍。</a:t>
            </a:r>
          </a:p>
          <a:p>
            <a:r>
              <a:rPr lang="zh-CN" dirty="0"/>
              <a:t>第一个，找得回依据吗？检索出来的那几段，能不能回到原文件，能不能说清是那一段原文。</a:t>
            </a:r>
          </a:p>
          <a:p>
            <a:r>
              <a:rPr lang="zh-CN" dirty="0"/>
              <a:t>第二个，引得住结论吗？每一条结论是不是真的由引用支撑，还是引用了一个看起来相关、其实答不了这个问题的片段。</a:t>
            </a:r>
          </a:p>
          <a:p>
            <a:r>
              <a:rPr lang="zh-CN" dirty="0"/>
              <a:t>第三个，判得对结果吗？最终的方案，有没有通过业务规则的检查。</a:t>
            </a:r>
          </a:p>
          <a:p>
            <a:r>
              <a:rPr lang="zh-CN" dirty="0"/>
              <a:t>这三个问题连起来，就是这一节想说的价值：把可追溯的资料送到生成环节，并且让资料不足这件事可以被发现，而不是被一段流畅的文字盖过去。更新预约这类任务仍然优先用有明确身份与日期的查询工具，两种方法可以在同一个 Agent 里协同使用。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5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青禾的材料一开始很少，几张纸，直接读完交给模型就行。可当资料扩成历年方案、场地说明和志愿者手册，再整份读进去，就既费钱又混进大量无用内容。&#10;&#10;这时候换一个顺序：先从材料里找出真正相关的那几段，再把它们和问题一起交给模型。这条路线叫 RAG，检索增强生成。它做的是在生成的时候补充依据，并不改动模型本身的权重。&#10;&#10;还要记住一句：找依据的手段不止向量检索一种。文件名、关键词、数据库查询都能参与，没有必要为了做 RAG 先搭一套向量数据库。`} style={{ width: 1280, height: 720, background: '#FFFFFF', flexDirection: 'column', padding: '20px 64px' }}&gt;&#10;&#10;    &lt;Box style={{ height: 100, flexDirection: 'row', alignItems: 'center', gap: 12 }}&gt;&#10;        &lt;Box style={{ width: 4, height: 20, background: '#276FBF' }} /&gt;&#10;        &lt;Text style={{ fontSize: 15, color: '#546779' }}&gt;第二章　从对话到智能体：技术、OpenAI API 与 WorkBuddy　·　2.9&lt;/Text&gt;&#10;    &lt;/Box&gt;&#10;&#10;    &lt;Box style={{ height: 540, flexDirection: 'row', alignItems: 'center', gap: 32 }}&gt;&#10;&#10;        &lt;Box style={{ width: 620, flexDirection: 'column', justifyContent: 'center', gap: 16 }}&gt;&#10;            &lt;Text style={{ fontSize: 52, fontWeight: 'bold', color: '#20344B', lineHeight: 1.2 }}&gt;Embedding 与 RAG&lt;/Text&gt;&#10;            &lt;Box style={{ width: 72, height: 4, background: '#276FBF' }} /&gt;&#10;            &lt;Text style={{ fontSize: 18, color: '#546779', lineHeight: 1.7, width: 600 }}&gt;先找依据，再组织答案。材料变多以后，与其把整份资料塞进请求，不如先检索出真正相关的那几段，再让模型在证据范围内回答。&lt;/Text&gt;&#10;            &lt;Box style={{ flexDirection: 'row', gap: 16, marginTop: 6 }}&gt;&#10;                &lt;Box style={{ width: 190, height: 44, background: '#EDF4FC', borderRadius: 8, justifyContent: 'center', alignItems: 'center' }}&gt;&#10;                    &lt;Text style={{ fontSize: 15, color: '#276FBF' }}&gt;这段材料够回答吗&lt;/Text&gt;&#10;                &lt;/Box&gt;&#10;                &lt;Box style={{ width: 190, height: 44, background: '#ECF7F2', borderRadius: 8, justifyContent: 'center', alignItems: 'center' }}&gt;&#10;                    &lt;Text style={{ fontSize: 15, color: '#26816B' }}&gt;引用的来源对吗&lt;/Text&gt;&#10;                &lt;/Box&gt;&#10;                &lt;Box style={{ width: 190, height: 44, background: '#FFF4E6', borderRadius: 8, justifyContent: 'center', alignItems: 'center' }}&gt;&#10;                    &lt;Text style={{ fontSize: 15, color: '#CB6B28' }}&gt;找不齐时怎么办&lt;/Text&gt;&#10;                &lt;/Box&gt;&#10;            &lt;/Box&gt;&#10;        &lt;/Box&gt;&#10;&#10;        &lt;Box style={{ width: 500, flexDirection: 'column', justifyContent: 'center' }}&gt;&#10;            &lt;Box style={{ width: 500, height: 92, background: '#EDF4FC', borderRadius: 8, padding: '12px 18px', flexDirection: 'column', gap: 4, justifyContent: 'center' }}&gt;&#10;                &lt;Text style={{ fontSize: 20, fontWeight: 'bold', color: '#276FBF' }}&gt;一个问题&lt;/Text&gt;&#10;                &lt;Text style={{ fontSize: 14, color: '#546779' }}&gt;手作体验什么时候可以举办？&lt;/Text&gt;&#10;            &lt;/Box&gt;&#10;            &lt;Box style={{ width: 500, height: 26, justifyContent: 'center', alignItems: 'center' }}&gt;&lt;Text style={{ fontSize: 18, color: '#276FBF' }}&gt;↓&lt;/Text&gt;&lt;/Box&gt;&#10;            &lt;Box style={{ width: 500, height: 136, background: '#ECF7F2', borderRadius: 8, padding: '12px 18px', flexDirection: 'column', gap: 8, justifyContent: 'center' }}&gt;&#10;                &lt;Text style={{ fontSize: 20, fontWeight: 'bold', color: '#26816B' }}&gt;检索出的依据&lt;/Text&gt;&#10;                &lt;Box style={{ flexDirection: 'row', gap: 10 }}&gt;&#10;                    &lt;Box style={{ width: 145, height: 34, background: '#FFFFFF', borderRadius: 6, justifyContent: 'center', alignItems: 'center' }}&gt;&#10;                        &lt;Text style={{ fontSize: 13, color: '#546779' }}&gt;时长与人数&lt;/Text&gt;&#10;                    &lt;/Box&gt;&#10;                    &lt;Box style={{ width: 145, height: 34, background: '#FFFFFF', borderRadius: 6, justifyContent: 'center', alignItems: 'center' }}&gt;&#10;                        &lt;Text style={{ fontSize: 13, color: '#546779' }}&gt;允许使用的房间&lt;/Text&gt;&#10;                    &lt;/Box&gt;&#10;                    &lt;Box style={{ width: 145, height: 34, background: '#FFFFFF', borderRadius: 6, justifyContent: 'center', alignItems: 'center' }}&gt;&#10;                        &lt;Text style={{ fontSize: 13, color: '#546779' }}&gt;已有预约记录&lt;/Text&gt;&#10;                    &lt;/Box&gt;&#10;                &lt;/Box&gt;&#10;                &lt;Text style={{ fontSize: 13, color: '#546779' }}&gt;每段都带着自己的来源位置&lt;/Text&gt;&#10;            &lt;/Box&gt;&#10;            &lt;Box style={{ width: 500, height: 26, justifyContent: 'center', alignItems: 'center' }}&gt;&lt;Text style={{ fontSize: 18, color: '#26816B' }}&gt;↓&lt;/Text&gt;&lt;/Box&gt;&#10;            &lt;Box style={{ width: 500, height: 92, background: '#EDF4FC', borderRadius: 8, padding: '12px 18px', flexDirection: 'column', gap: 4, justifyContent: 'center' }}&gt;&#10;                &lt;Text style={{ fontSize: 20, fontWeight: 'bold', color: '#276FBF' }}&gt;有依据的答案&lt;/Text&gt;&#10;                &lt;Text style={{ fontSize: 14, color: '#546779' }}&gt;只依据这些片段作答，缺失就说明不足&lt;/Text&gt;&#10;            &lt;/Box&gt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571500"/>
            <a:ext cx="38100" cy="190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4486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第二章　从对话到智能体：技术、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OpenAI API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2.9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524125"/>
            <a:ext cx="5905500" cy="7143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9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Embedding </a:t>
            </a: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与</a:t>
            </a:r>
            <a:r>
              <a:rPr lang="en-US" sz="39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RAG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3909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581400"/>
            <a:ext cx="57150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先找依据，再组织答案。材料变多以后，与其把整份资料塞进请求，不如先检索出真正相关的那几段，再让模型在证据范围内回答。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495800"/>
            <a:ext cx="180975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942975" y="4619625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这段材料够回答吗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2571750" y="4495800"/>
            <a:ext cx="1809750" cy="419100"/>
          </a:xfrm>
          <a:prstGeom prst="roundRect">
            <a:avLst>
              <a:gd name="adj" fmla="val 1818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981325" y="461962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引用的来源对吗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4533900" y="4495800"/>
            <a:ext cx="1809750" cy="419100"/>
          </a:xfrm>
          <a:prstGeom prst="roundRect">
            <a:avLst>
              <a:gd name="adj" fmla="val 1818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4943475" y="461962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找不齐时怎么办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6819900" y="1943100"/>
            <a:ext cx="4762500" cy="876300"/>
          </a:xfrm>
          <a:prstGeom prst="roundRect">
            <a:avLst>
              <a:gd name="adj" fmla="val 869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991350" y="2171700"/>
            <a:ext cx="4419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一个问题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991350" y="2438400"/>
            <a:ext cx="4419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手作体验什么时候可以举办？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9163050" y="283845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819900" y="3067050"/>
            <a:ext cx="4762500" cy="1295400"/>
          </a:xfrm>
          <a:prstGeom prst="roundRect">
            <a:avLst>
              <a:gd name="adj" fmla="val 588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991350" y="3286125"/>
            <a:ext cx="4419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检索出的依据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6991350" y="3590925"/>
            <a:ext cx="1381125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7372350" y="36766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时长与人数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8467725" y="3590925"/>
            <a:ext cx="1381125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8724900" y="3676650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允许使用的房间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9944100" y="3590925"/>
            <a:ext cx="1381125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10267950" y="3676650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已有预约记录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991350" y="3990975"/>
            <a:ext cx="4419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每段都带着自己的来源位置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9163050" y="438150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6819900" y="4610100"/>
            <a:ext cx="4762500" cy="876300"/>
          </a:xfrm>
          <a:prstGeom prst="roundRect">
            <a:avLst>
              <a:gd name="adj" fmla="val 869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991350" y="4838700"/>
            <a:ext cx="4419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有依据的答案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991350" y="5105400"/>
            <a:ext cx="4419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只依据这些片段作答，缺失就说明不足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30" name="" descr="&lt;Slide notes={`我把这六个问题按顺序排一下。&#10;&#10;先问「凭什么能找到相近内容」，答案是 Embedding：文本变成一组浮点数，语义相关的排得更近。紧接着要问「相似度到底说明了什么」，很多人会把它当成答案正确的概率，这是最常见的误解。&#10;&#10;然后回到材料本身：切分的时候要保留能解释证据的上下文，不然片段读得懂，结论却站不住。接下来是动手做一个小型检索器，让读取、切片、向量、排序、取前 k 每一步都看得见。再往后是托管路线，用官方的 File Search 少写一些代码。最后是在产品里做同一件取证任务，并且把检索命中、引用支持、业务通过分开测量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9　Embedding 与 RAG：先找依据，再组织答案&lt;/Text&gt;&#10;            &lt;Text style={{ fontSize: 34, fontWeight: 'bold', color: '#20344B' }}&gt;本节要看清的六件事&lt;/Text&gt;&#10;        &lt;/Box&gt;&#10;    &lt;/Box&gt;&#10;&#10;    &lt;Box style={{ height: 540, flexDirection: 'row', gap: 40 }}&gt;&#10;&#10;        &lt;Box style={{ width: 300, flexDirection: 'column', justifyContent: 'center', gap: 16 }}&gt;&#10;            &lt;Text style={{ fontSize: 25, fontWeight: 'bold', color: '#276FBF', lineHeight: 1.45 }}&gt;六个问题{'\n'}一层一层往下问&lt;/Text&gt;&#10;            &lt;Box style={{ width: 56, height: 3, background: '#26816B' }} /&gt;&#10;            &lt;Text style={{ fontSize: 17, color: '#546779', lineHeight: 1.8 }}&gt;先弄清怎么找，再弄清怎么切，最后弄清怎么证明它真的起作用。&lt;/Text&gt;&#10;        &lt;/Box&gt;&#10;&#10;        &lt;Box style={{ width: 812, flexDirection: 'column', justifyContent: 'center', gap: 8 }}&gt;&#10;&#10;            &lt;Box style={{ flexDirection: 'row', gap: 14, background: '#F4F7FA', borderRadius: 10, padding: '12px 18px' }}&gt;&#10;                &lt;Box style={{ width: 46, height: 46, borderRadius: 8, background: '#276FBF', justifyContent: 'center', alignItems: 'center' }}&gt;&#10;                    &lt;Text style={{ fontSize: 21, fontWeight: 'bold', color: '#FFFFFF' }}&gt;①&lt;/Text&gt;&#10;                &lt;/Box&gt;&#10;                &lt;Box style={{ flex: 1, flexDirection: 'column', gap: 3 }}&gt;&#10;                    &lt;Text style={{ fontSize: 18, fontWeight: 'bold', color: '#20344B' }}&gt;Embedding 为什么适合找相近内容（2.9.1）&lt;/Text&gt;&#10;                    &lt;Text style={{ fontSize: 14, color: '#546779', lineHeight: 1.5 }}&gt;文本变成浮点数向量，语义相关的排得更近；相似度衡量方向，不等于答案正确。&lt;/Text&gt;&#10;                &lt;/Box&gt;&#10;            &lt;/Box&gt;&#10;&#10;            &lt;Box style={{ flexDirection: 'row', gap: 14, background: '#EDF4FC', borderRadius: 10, padding: '12px 18px' }}&gt;&#10;                &lt;Box style={{ width: 46, height: 46, borderRadius: 8, background: '#276FBF', justifyContent: 'center', alignItems: 'center' }}&gt;&#10;                    &lt;Text style={{ fontSize: 21, fontWeight: 'bold', color: '#FFFFFF' }}&gt;②&lt;/Text&gt;&#10;                &lt;/Box&gt;&#10;                &lt;Box style={{ flex: 1, flexDirection: 'column', gap: 3 }}&gt;&#10;                    &lt;Text style={{ fontSize: 18, fontWeight: 'bold', color: '#20344B' }}&gt;切分材料时保留能解释证据的上下文（2.9.2）&lt;/Text&gt;&#10;                    &lt;Text style={{ fontSize: 14, color: '#546779', lineHeight: 1.5 }}&gt;切片单位跟着资料形态走，每个片段都要能追回原文件，权限在检索前就过滤。&lt;/Text&gt;&#10;                &lt;/Box&gt;&#10;            &lt;/Box&gt;&#10;&#10;            &lt;Box style={{ flexDirection: 'row', gap: 14, background: '#F4F7FA', borderRadius: 10, padding: '12px 18px' }}&gt;&#10;                &lt;Box style={{ width: 46, height: 46, borderRadius: 8, background: '#276FBF', justifyContent: 'center', alignItems: 'center' }}&gt;&#10;                    &lt;Text style={{ fontSize: 21, fontWeight: 'bold', color: '#FFFFFF' }}&gt;③&lt;/Text&gt;&#10;                &lt;/Box&gt;&#10;                &lt;Box style={{ flex: 1, flexDirection: 'column', gap: 3 }}&gt;&#10;                    &lt;Text style={{ fontSize: 18, fontWeight: 'bold', color: '#20344B' }}&gt;做一个看得见每一步的小型检索器（2.9.3）&lt;/Text&gt;&#10;                    &lt;Text style={{ fontSize: 14, color: '#546779', lineHeight: 1.5 }}&gt;读取、切片、向量、排序、取前 k、交给模型，检索详情写成可读清单。&lt;/Text&gt;&#10;                &lt;/Box&gt;&#10;            &lt;/Box&gt;&#10;&#10;            &lt;Box style={{ flexDirection: 'row', gap: 14, background: '#EDF4FC', borderRadius: 10, padding: '12px 18px' }}&gt;&#10;                &lt;Box style={{ width: 46, height: 46, borderRadius: 8, background: '#276FBF', justifyContent: 'center', alignItems: 'center' }}&gt;&#10;                    &lt;Text style={{ fontSize: 21, fontWeight: 'bold', color: '#FFFFFF' }}&gt;④&lt;/Text&gt;&#10;                &lt;/Box&gt;&#10;                &lt;Box style={{ flex: 1, flexDirection: 'column', gap: 3 }}&gt;&#10;                    &lt;Text style={{ fontSize: 18, fontWeight: 'bold', color: '#20344B' }}&gt;托管 File Search 是另一条实现路线（2.9.4）&lt;/Text&gt;&#10;                    &lt;Text style={{ fontSize: 14, color: '#546779', lineHeight: 1.5 }}&gt;上传、建向量存储、关联文件、确认处理完成，再在请求里带上向量存储 ID。&lt;/Text&gt;&#10;                &lt;/Box&gt;&#10;            &lt;/Box&gt;&#10;&#10;            &lt;Box style={{ flexDirection: 'row', gap: 14, background: '#F4F7FA', borderRadius: 10, padding: '12px 18px' }}&gt;&#10;                &lt;Box style={{ width: 46, height: 46, borderRadius: 8, background: '#276FBF', justifyContent: 'center', alignItems: 'center' }}&gt;&#10;                    &lt;Text style={{ fontSize: 21, fontWeight: 'bold', color: '#FFFFFF' }}&gt;⑤&lt;/Text&gt;&#10;                &lt;/Box&gt;&#10;                &lt;Box style={{ flex: 1, flexDirection: 'column', gap: 3 }}&gt;&#10;                    &lt;Text style={{ fontSize: 18, fontWeight: 'bold', color: '#20344B' }}&gt;用文件搜索完成相同的取证任务（2.9.5）&lt;/Text&gt;&#10;                    &lt;Text style={{ fontSize: 14, color: '#546779', lineHeight: 1.5 }}&gt;引用工作空间与文件，逐项要文件位置与原文；文件缺失要记成输入变化。&lt;/Text&gt;&#10;                &lt;/Box&gt;&#10;            &lt;/Box&gt;&#10;&#10;            &lt;Box style={{ flexDirection: 'row', gap: 14, background: '#ECF7F2', borderRadius: 10, padding: '12px 18px' }}&gt;&#10;                &lt;Box style={{ width: 46, height: 46, borderRadius: 8, background: '#26816B', justifyContent: 'center', alignItems: 'center' }}&gt;&#10;                    &lt;Text style={{ fontSize: 21, fontWeight: 'bold', color: '#FFFFFF' }}&gt;⑥&lt;/Text&gt;&#10;                &lt;/Box&gt;&#10;                &lt;Box style={{ flex: 1, flexDirection: 'column', gap: 3 }}&gt;&#10;                    &lt;Text style={{ fontSize: 18, fontWeight: 'bold', color: '#20344B' }}&gt;检索命中、引用支持、最终正确分别测量（2.9.6）&lt;/Text&gt;&#10;                    &lt;Text style={{ fontSize: 14, color: '#546779', lineHeight: 1.5 }}&gt;三个环节对应三套指标，各自打分，谁也不能替谁下结论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9 Embedding 与 RAG：先找依据，再组织答案&lt;/Text&gt;&#10;        &lt;Text style={{ fontSize: 14, color: '#546779' }}&gt;02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019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2.9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Embedding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RAG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：先找依据，再组织答案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0194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本节要看清的六件事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609600" y="2781300"/>
            <a:ext cx="2857500" cy="8286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75" b="1">
                <a:solidFill>
                  <a:srgbClr val="276FBF"/>
                </a:solidFill>
                <a:latin typeface="Microsoft YaHei"/>
                <a:ea typeface="Microsoft YaHei"/>
              </a:rPr>
              <a:t>六个问题</a:t>
            </a:r>
            <a:endParaRPr/>
          </a:p>
          <a:p>
            <a:pPr>
              <a:lnSpc>
                <a:spcPct val="145000"/>
              </a:lnSpc>
            </a:pPr>
            <a:r>
              <a:rPr lang="zh-CN" sz="1875" b="1">
                <a:solidFill>
                  <a:srgbClr val="276FBF"/>
                </a:solidFill>
                <a:latin typeface="Microsoft YaHei"/>
                <a:ea typeface="Microsoft YaHei"/>
              </a:rPr>
              <a:t>一层一层往下问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609600" y="3762375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609600" y="3943350"/>
            <a:ext cx="2857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先弄清怎么找，再弄清怎么切，最后弄清怎么证明它真的起作用。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3848100" y="1381125"/>
            <a:ext cx="7734300" cy="714375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39" name=""/>
          <p:cNvSpPr/>
          <p:nvPr/>
        </p:nvSpPr>
        <p:spPr>
          <a:xfrm rot="0" flipH="0" flipV="0">
            <a:off x="4019550" y="149542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4143375" y="1590675"/>
            <a:ext cx="2000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4591050" y="1495425"/>
            <a:ext cx="6819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Embedding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为什么适合找相近内容（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2.9.1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4591050" y="1733550"/>
            <a:ext cx="6819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文本变成浮点数向量，语义相关的排得更近；相似度衡量方向，不等于答案正确。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3848100" y="2171700"/>
            <a:ext cx="7734300" cy="714375"/>
          </a:xfrm>
          <a:prstGeom prst="roundRect">
            <a:avLst>
              <a:gd name="adj" fmla="val 13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44" name=""/>
          <p:cNvSpPr/>
          <p:nvPr/>
        </p:nvSpPr>
        <p:spPr>
          <a:xfrm rot="0" flipH="0" flipV="0">
            <a:off x="4019550" y="22860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4143375" y="2381250"/>
            <a:ext cx="2000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4591050" y="2286000"/>
            <a:ext cx="6819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切分材料时保留能解释证据的上下文（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2.9.2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4591050" y="2524125"/>
            <a:ext cx="6819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切片单位跟着资料形态走，每个片段都要能追回原文件，权限在检索前就过滤。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3848100" y="2962275"/>
            <a:ext cx="7734300" cy="714375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49" name=""/>
          <p:cNvSpPr/>
          <p:nvPr/>
        </p:nvSpPr>
        <p:spPr>
          <a:xfrm rot="0" flipH="0" flipV="0">
            <a:off x="4019550" y="307657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4143375" y="3171825"/>
            <a:ext cx="2000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4591050" y="3076575"/>
            <a:ext cx="6819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做一个看得见每一步的小型检索器（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2.9.3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4591050" y="3314700"/>
            <a:ext cx="6819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读取、切片、向量、排序、取前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k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、交给模型，检索详情写成可读清单。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3848100" y="3752850"/>
            <a:ext cx="7734300" cy="714375"/>
          </a:xfrm>
          <a:prstGeom prst="roundRect">
            <a:avLst>
              <a:gd name="adj" fmla="val 13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54" name=""/>
          <p:cNvSpPr/>
          <p:nvPr/>
        </p:nvSpPr>
        <p:spPr>
          <a:xfrm rot="0" flipH="0" flipV="0">
            <a:off x="4019550" y="38671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4143375" y="3962400"/>
            <a:ext cx="2000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4591050" y="3867150"/>
            <a:ext cx="6819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托管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File Search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是另一条实现路线（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2.9.4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4591050" y="4105275"/>
            <a:ext cx="6819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上传、建向量存储、关联文件、确认处理完成，再在请求里带上向量存储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3848100" y="4543425"/>
            <a:ext cx="7734300" cy="714375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59" name=""/>
          <p:cNvSpPr/>
          <p:nvPr/>
        </p:nvSpPr>
        <p:spPr>
          <a:xfrm rot="0" flipH="0" flipV="0">
            <a:off x="4019550" y="465772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4143375" y="4752975"/>
            <a:ext cx="2000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4591050" y="4657725"/>
            <a:ext cx="6819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用文件搜索完成相同的取证任务（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2.9.5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4591050" y="4895850"/>
            <a:ext cx="6819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引用工作空间与文件，逐项要文件位置与原文；文件缺失要记成输入变化。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3848100" y="5334000"/>
            <a:ext cx="7734300" cy="714375"/>
          </a:xfrm>
          <a:prstGeom prst="roundRect">
            <a:avLst>
              <a:gd name="adj" fmla="val 13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64" name=""/>
          <p:cNvSpPr/>
          <p:nvPr/>
        </p:nvSpPr>
        <p:spPr>
          <a:xfrm rot="0" flipH="0" flipV="0">
            <a:off x="4019550" y="54483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4143375" y="5543550"/>
            <a:ext cx="2000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</a:rPr>
              <a:t>⑥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4591050" y="5448300"/>
            <a:ext cx="6819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检索命中、引用支持、最终正确分别测量（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2.9.6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4591050" y="5686425"/>
            <a:ext cx="6819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三个环节对应三套指标，各自打分，谁也不能替谁下结论。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2.9 Embedding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RAG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：先找依据，再组织答案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517" name="" descr="&lt;Slide notes={`先问最基础的一件事：计算机凭什么知道两句话意思接近？&#10;&#10;它不认识词，只认识数。Embedding 做的事情，就是把一段文本换成一组浮点数，也就是一个向量。训练会让语义相关的文本在向量空间里靠得更近。&#10;&#10;这件事的教学价值在这里：当有人问「哪里能做手工体验」，检索有可能命中「手作室使用说明」。这两句没有完全相同的字词，靠关键词匹配是碰不到的，靠向量却可以排到前面。&#10;&#10;还有一处工程细节要提前交代：生成答案用的模型和生成向量用的模型是两件事，需要分别配置，不能混用同一个环境变量。`} style={{ width: 1280, height: 720, background: '#FFFFFF', flexDirection: 'column', padding: '20px 64px' }}&gt;&#10;&#10;    &lt;Box style={{ height: 100 }} /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1&lt;/Text&gt;&#10;            &lt;/Box&gt;&#10;            &lt;Text style={{ fontSize: 16, color: '#546779' }}&gt;2.9.1&lt;/Text&gt;&#10;        &lt;/Box&gt;&#10;&#10;        &lt;Text style={{ fontSize: 56, fontWeight: 'bold', color: '#20344B', lineHeight: 1.15 }}&gt;Embedding 为什么适合找相近内容&lt;/Text&gt;&#10;&#10;        &lt;Box style={{ width: 640, height: 4, background: '#276FBF' }} /&gt;&#10;&#10;        &lt;Text style={{ fontSize: 19, color: '#546779', lineHeight: 1.7 }}&gt;字面上不一样，语义上却可能很近——这正是关键词匹配做不到的地方。&lt;/Text&gt;&#10;&#10;        &lt;Box style={{ marginTop: 8, flexDirection: 'row', gap: 32 }}&gt;&#10;            &lt;Box style={{ width: 264, height: 96, background: '#EDF4FC', borderRadius: 8, padding: '14px 16px', flexDirection: 'column', gap: 6, justifyContent: 'center' }}&gt;&#10;                &lt;Text style={{ fontSize: 18, fontWeight: 'bold', color: '#276FBF' }}&gt;文本变成向量&lt;/Text&gt;&#10;                &lt;Text style={{ fontSize: 13, color: '#546779' }}&gt;一段文字换成一串浮点数&lt;/Text&gt;&#10;            &lt;/Box&gt;&#10;            &lt;Box style={{ width: 264, height: 96, background: '#EDF4FC', borderRadius: 8, padding: '14px 16px', flexDirection: 'column', gap: 6, justifyContent: 'center' }}&gt;&#10;                &lt;Text style={{ fontSize: 18, fontWeight: 'bold', color: '#276FBF' }}&gt;相近者靠得更近&lt;/Text&gt;&#10;                &lt;Text style={{ fontSize: 13, color: '#546779' }}&gt;方向接近，排序就能靠前&lt;/Text&gt;&#10;            &lt;/Box&gt;&#10;            &lt;Box style={{ width: 264, height: 96, background: '#ECF7F2', borderRadius: 8, padding: '14px 16px', flexDirection: 'column', gap: 6, justifyContent: 'center' }}&gt;&#10;                &lt;Text style={{ fontSize: 18, fontWeight: 'bold', color: '#26816B' }}&gt;两个模型分开配&lt;/Text&gt;&#10;                &lt;Text style={{ fontSize: 13, color: '#546779' }}&gt;回答与向量各用各的设置&lt;/Text&gt;&#10;            &lt;/Box&gt;&#10;            &lt;Box style={{ width: 264, height: 96, background: '#F7F3E8', borderRadius: 8, padding: '14px 16px', flexDirection: 'column', gap: 6, justifyContent: 'center' }}&gt;&#10;                &lt;Text style={{ fontSize: 18, fontWeight: 'bold', color: '#20344B' }}&gt;接口带用量信息&lt;/Text&gt;&#10;                &lt;Text style={{ fontSize: 13, color: '#546779' }}&gt;向量与用量一起返回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9 Embedding 与 RAG：先找依据，再组织答案&lt;/Text&gt;&#10;        &lt;Text style={{ fontSize: 14, color: '#546779' }}&gt;03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9" name=""/>
          <p:cNvSpPr/>
          <p:nvPr/>
        </p:nvSpPr>
        <p:spPr>
          <a:xfrm rot="0" flipH="0" flipV="0">
            <a:off x="609600" y="200025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714375" y="210502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1295400" y="2171700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2.9.1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609600" y="27241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Embedding 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为什么适合找相近内容</a:t>
            </a:r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609600" y="365760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609600" y="38862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字面上不一样，语义上却可能很近——这正是关键词匹配做不到的地方。</a:t>
            </a:r>
            <a:endParaRPr/>
          </a:p>
        </p:txBody>
      </p:sp>
      <p:sp>
        <p:nvSpPr>
          <p:cNvPr id="525" name=""/>
          <p:cNvSpPr/>
          <p:nvPr/>
        </p:nvSpPr>
        <p:spPr>
          <a:xfrm rot="0" flipH="0" flipV="0">
            <a:off x="609600" y="4524375"/>
            <a:ext cx="2514600" cy="9144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762000" y="4772025"/>
            <a:ext cx="2209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文本变成向量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762000" y="5038725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一段文字换成一串浮点数</a:t>
            </a:r>
            <a:endParaRPr/>
          </a:p>
        </p:txBody>
      </p:sp>
      <p:sp>
        <p:nvSpPr>
          <p:cNvPr id="528" name=""/>
          <p:cNvSpPr/>
          <p:nvPr/>
        </p:nvSpPr>
        <p:spPr>
          <a:xfrm rot="0" flipH="0" flipV="0">
            <a:off x="3429000" y="4524375"/>
            <a:ext cx="2514600" cy="9144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3581400" y="4772025"/>
            <a:ext cx="2209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相近者靠得更近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3581400" y="5038725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方向接近，排序就能靠前</a:t>
            </a:r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6248400" y="4524375"/>
            <a:ext cx="2514600" cy="9144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6400800" y="4772025"/>
            <a:ext cx="2209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两个模型分开配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6400800" y="5038725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回答与向量各用各的设置</a:t>
            </a:r>
            <a:endParaRPr/>
          </a:p>
        </p:txBody>
      </p:sp>
      <p:sp>
        <p:nvSpPr>
          <p:cNvPr id="534" name=""/>
          <p:cNvSpPr/>
          <p:nvPr/>
        </p:nvSpPr>
        <p:spPr>
          <a:xfrm rot="0" flipH="0" flipV="0">
            <a:off x="9067800" y="4524375"/>
            <a:ext cx="2514600" cy="914400"/>
          </a:xfrm>
          <a:prstGeom prst="roundRect">
            <a:avLst>
              <a:gd name="adj" fmla="val 8333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9220200" y="4772025"/>
            <a:ext cx="2209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接口带用量信息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9220200" y="5038725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向量与用量一起返回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2.9 Embedding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RAG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：先找依据，再组织答案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25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539" name="" descr="&lt;Slide notes={`看左边这条问题：「哪里能做手工体验」。这个问题里根本没有出现「手作室」「使用说明」这些字眼，如果只用关键词去比对，材料里那份讲房间怎么用的文件是碰不到的。&#10;&#10;Embedding 换了一个办法：把问题和每个片段都变成向量，然后看它们的方向是否接近。方向近的排前面，所以那份使用说明被排到了第一位。&#10;&#10;这里要特别小心一件事：相似度高，只说这两段在讲同一类事情，不代表它能回答问题。容量表同样排得靠前，因为它也在谈场地，但它给不出时间。&#10;&#10;工程上还有一处细节：回答用的模型和向量用的模型是两套，环境变量要分开配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9.1　Embedding 为什么适合找相近内容&lt;/Text&gt;&#10;            &lt;Text style={{ fontSize: 34, fontWeight: 'bold', color: '#20344B' }}&gt;语义相近，字面未必相同&lt;/Text&gt;&#10;        &lt;/Box&gt;&#10;    &lt;/Box&gt;&#10;&#10;    &lt;Box style={{ height: 540, flexDirection: 'column', justifyContent: 'center', gap: 16 }}&gt;&#10;&#10;        &lt;Box style={{ flexDirection: 'row', height: 372 }}&gt;&#10;&#10;            &lt;Box style={{ width: 340, flexDirection: 'column', justifyContent: 'center', gap: 12 }}&gt;&#10;                &lt;Text style={{ fontSize: 14, color: '#546779' }}&gt;学生提问&lt;/Text&gt;&#10;                &lt;Box style={{ width: 340, height: 150, background: '#EDF4FC', borderRadius: 8, padding: '16px 18px', flexDirection: 'column', gap: 8, justifyContent: 'center' }}&gt;&#10;                    &lt;Text style={{ fontSize: 20, fontWeight: 'bold', color: '#276FBF', lineHeight: 1.4 }}&gt;哪里能做{'\n'}手工体验？&lt;/Text&gt;&#10;                    &lt;Text style={{ fontSize: 14, color: '#546779' }}&gt;转成问题向量 q&lt;/Text&gt;&#10;                &lt;/Box&gt;&#10;                &lt;Box style={{ width: 340, height: 96, background: '#F4F7FA', borderRadius: 8, padding: '14px 18px', flexDirection: 'column', gap: 4, justifyContent: 'center' }}&gt;&#10;                    &lt;Text style={{ fontSize: 14, color: '#546779', lineHeight: 1.5 }}&gt;问题里没有出现「手作室」「使用说明」这些字，关键词匹配碰不到那份材料。&lt;/Text&gt;&#10;                &lt;/Box&gt;&#10;            &lt;/Box&gt;&#10;&#10;            &lt;Box style={{ width: 60, flexDirection: 'column', justifyContent: 'center', alignItems: 'center', gap: 4 }}&gt;&#10;                &lt;Text style={{ fontSize: 24, color: '#26816B' }}&gt;›&lt;/Text&gt;&#10;                &lt;Text style={{ fontSize: 12, color: '#26816B' }}&gt;取前 k&lt;/Text&gt;&#10;            &lt;/Box&gt;&#10;&#10;            &lt;Box style={{ width: 752, flexDirection: 'column', justifyContent: 'center', gap: 10 }}&gt;&#10;&#10;                &lt;Box style={{ flexDirection: 'row', alignItems: 'center', gap: 16, height: 110, background: '#ECF7F2', borderRadius: 8, padding: '14px 18px' }}&gt;&#10;                    &lt;Box style={{ width: 4, height: 62, background: '#26816B' }} /&gt;&#10;                    &lt;Box style={{ flex: 1, flexDirection: 'column', gap: 4 }}&gt;&#10;                        &lt;Text style={{ fontSize: 18, fontWeight: 'bold', color: '#26816B' }}&gt;手作室使用说明&lt;/Text&gt;&#10;                        &lt;Text style={{ fontSize: 14, color: '#546779', lineHeight: 1.5 }}&gt;讲的是同一间房，字面不同，方向却接近&lt;/Text&gt;&#10;                    &lt;/Box&gt;&#10;                    &lt;Box style={{ width: 176, flexDirection: 'column', gap: 6 }}&gt;&#10;                        &lt;Text style={{ fontSize: 13, color: '#546779' }}&gt;相似度排序　第 1 位&lt;/Text&gt;&#10;                        &lt;Box style={{ width: 176, height: 8, background: '#D8E6E0', borderRadius: 4 }}&gt;&#10;                            &lt;Box style={{ width: 160, height: 8, background: '#26816B', borderRadius: 4 }} /&gt;&#10;                        &lt;/Box&gt;&#10;                    &lt;/Box&gt;&#10;                &lt;/Box&gt;&#10;&#10;                &lt;Box style={{ flexDirection: 'row', alignItems: 'center', gap: 16, height: 110, background: '#EDF4FC', borderRadius: 8, padding: '14px 18px' }}&gt;&#10;                    &lt;Box style={{ width: 4, height: 62, background: '#276FBF' }} /&gt;&#10;                    &lt;Box style={{ flex: 1, flexDirection: 'column', gap: 4 }}&gt;&#10;                        &lt;Text style={{ fontSize: 18, fontWeight: 'bold', color: '#276FBF' }}&gt;场地容量表&lt;/Text&gt;&#10;                        &lt;Text style={{ fontSize: 14, color: '#546779', lineHeight: 1.5 }}&gt;也在谈场地，但记的是容量，答不了时间&lt;/Text&gt;&#10;                    &lt;/Box&gt;&#10;                    &lt;Box style={{ width: 176, flexDirection: 'column', gap: 6 }}&gt;&#10;                        &lt;Text style={{ fontSize: 13, color: '#546779' }}&gt;相似度排序　第 2 位&lt;/Text&gt;&#10;                        &lt;Box style={{ width: 176, height: 8, background: '#E1EAF5', borderRadius: 4 }}&gt;&#10;                            &lt;Box style={{ width: 104, height: 8, background: '#276FBF', borderRadius: 4 }} /&gt;&#10;                        &lt;/Box&gt;&#10;                    &lt;/Box&gt;&#10;                &lt;/Box&gt;&#10;&#10;                &lt;Box style={{ flexDirection: 'row', alignItems: 'center', gap: 16, height: 110, background: '#F4F7FA', borderRadius: 8, padding: '14px 18px' }}&gt;&#10;                    &lt;Box style={{ width: 4, height: 62, background: '#B5C7D8' }} /&gt;&#10;                    &lt;Box style={{ flex: 1, flexDirection: 'column', gap: 4 }}&gt;&#10;                        &lt;Text style={{ fontSize: 18, fontWeight: 'bold', color: '#20344B' }}&gt;志愿者排班&lt;/Text&gt;&#10;                        &lt;Text style={{ fontSize: 14, color: '#546779', lineHeight: 1.5 }}&gt;只提到人手，和这个问题关系较远&lt;/Text&gt;&#10;                    &lt;/Box&gt;&#10;                    &lt;Box style={{ width: 176, flexDirection: 'column', gap: 6 }}&gt;&#10;                        &lt;Text style={{ fontSize: 13, color: '#546779' }}&gt;相似度排序　第 3 位&lt;/Text&gt;&#10;                        &lt;Box style={{ width: 176, height: 8, background: '#E6ECF2', borderRadius: 4 }}&gt;&#10;                            &lt;Box style={{ width: 56, height: 8, background: '#B5C7D8', borderRadius: 4 }} /&gt;&#10;                        &lt;/Box&gt;&#10;                    &lt;/Box&gt;&#10;                &lt;/Box&gt;&#10;&#10;            &lt;/Box&gt;&#10;&#10;        &lt;/Box&gt;&#10;&#10;        &lt;Box style={{ flexDirection: 'row', alignItems: 'center', gap: 20, height: 116, background: '#F4F7FA', borderRadius: 10, padding: '14px 20px' }}&gt;&#10;            &lt;Box style={{ width: 4, height: 72, background: '#276FBF' }} /&gt;&#10;            &lt;Box style={{ flex: 1, flexDirection: 'column', gap: 4 }}&gt;&#10;                &lt;Text style={{ fontSize: 16, fontWeight: 'bold', color: '#276FBF' }}&gt;训练让语义相关的文本在向量空间中更接近&lt;/Text&gt;&#10;                &lt;Text style={{ fontSize: 14, color: '#546779', lineHeight: 1.5 }}&gt;所以「哪里能做手工体验」有机会命中「手作室使用说明」，即使两者没有完全相同的字词。&lt;/Text&gt;&#10;            &lt;/Box&gt;&#10;            &lt;Box style={{ width: 1, height: 72, background: '#B5C7D8' }} /&gt;&#10;            &lt;Box style={{ width: 336, flexDirection: 'column', gap: 4, paddingRight: 4 }}&gt;&#10;                &lt;Text style={{ fontSize: 15, fontWeight: 'bold', color: '#CB6B28' }}&gt;两个模型分开配置&lt;/Text&gt;&#10;                &lt;Text style={{ fontSize: 14, color: '#546779', lineHeight: 1.5 }}&gt;回答用 OPENAI_MODEL；向量用 OPENAI_EMBEDDING_MODEL，例如 text-embedding-3-small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9 Embedding 与 RAG：先找依据，再组织答案&lt;/Text&gt;&#10;        &lt;Text style={{ fontSize: 14, color: '#546779' }}&gt;04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2.9.1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Embedding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为什么适合找相近内容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语义相近，字面未必相同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609600" y="172402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学生提问</a:t>
            </a:r>
            <a:endParaRPr/>
          </a:p>
        </p:txBody>
      </p:sp>
      <p:sp>
        <p:nvSpPr>
          <p:cNvPr id="545" name=""/>
          <p:cNvSpPr/>
          <p:nvPr/>
        </p:nvSpPr>
        <p:spPr>
          <a:xfrm rot="0" flipH="0" flipV="0">
            <a:off x="609600" y="2000250"/>
            <a:ext cx="3238500" cy="1428750"/>
          </a:xfrm>
          <a:prstGeom prst="roundRect">
            <a:avLst>
              <a:gd name="adj" fmla="val 5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781050" y="2276475"/>
            <a:ext cx="2895600" cy="6477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哪里能做</a:t>
            </a:r>
            <a:endParaRPr/>
          </a:p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手工体验？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781050" y="3000375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转成问题向量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q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609600" y="354330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781050" y="3762375"/>
            <a:ext cx="28956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问题里没有出现「手作室」「使用说明」这些字，关键词匹配碰不到那份材料。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4095750" y="28575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3971925" y="3171825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26816B"/>
                </a:solidFill>
                <a:latin typeface="Microsoft YaHei"/>
                <a:ea typeface="Microsoft YaHei"/>
              </a:rPr>
              <a:t>取前</a:t>
            </a:r>
            <a:r>
              <a:rPr lang="en-US" sz="900">
                <a:solidFill>
                  <a:srgbClr val="26816B"/>
                </a:solidFill>
                <a:latin typeface="Microsoft YaHei"/>
                <a:ea typeface="Microsoft YaHei"/>
              </a:rPr>
              <a:t xml:space="preserve"> k</a:t>
            </a:r>
            <a:endParaRPr/>
          </a:p>
        </p:txBody>
      </p:sp>
      <p:sp>
        <p:nvSpPr>
          <p:cNvPr id="552" name=""/>
          <p:cNvSpPr/>
          <p:nvPr/>
        </p:nvSpPr>
        <p:spPr>
          <a:xfrm rot="0" flipH="0" flipV="0">
            <a:off x="4419600" y="1419225"/>
            <a:ext cx="7162800" cy="1047750"/>
          </a:xfrm>
          <a:prstGeom prst="roundRect">
            <a:avLst>
              <a:gd name="adj" fmla="val 727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53" name=""/>
          <p:cNvSpPr/>
          <p:nvPr/>
        </p:nvSpPr>
        <p:spPr>
          <a:xfrm rot="0" flipH="0" flipV="0">
            <a:off x="4591050" y="1647825"/>
            <a:ext cx="38100" cy="5905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4781550" y="1695450"/>
            <a:ext cx="4800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手作室使用说明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4781550" y="1943100"/>
            <a:ext cx="4800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讲的是同一间房，字面不同，方向却接近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9734550" y="1800225"/>
            <a:ext cx="1676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相似度排序　第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位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9734550" y="2009775"/>
            <a:ext cx="1676400" cy="76200"/>
          </a:xfrm>
          <a:prstGeom prst="roundRect">
            <a:avLst>
              <a:gd name="adj" fmla="val 50000"/>
            </a:avLst>
          </a:prstGeom>
          <a:solidFill>
            <a:srgbClr val="D8E6E0"/>
          </a:solidFill>
          <a:ln/>
        </p:spPr>
        <p:txBody>
          <a:bodyPr/>
          <a:p/>
        </p:txBody>
      </p:sp>
      <p:sp>
        <p:nvSpPr>
          <p:cNvPr id="558" name=""/>
          <p:cNvSpPr/>
          <p:nvPr/>
        </p:nvSpPr>
        <p:spPr>
          <a:xfrm rot="0" flipH="0" flipV="0">
            <a:off x="9734550" y="2009775"/>
            <a:ext cx="1524000" cy="76200"/>
          </a:xfrm>
          <a:prstGeom prst="roundRect">
            <a:avLst>
              <a:gd name="adj" fmla="val 5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59" name=""/>
          <p:cNvSpPr/>
          <p:nvPr/>
        </p:nvSpPr>
        <p:spPr>
          <a:xfrm rot="0" flipH="0" flipV="0">
            <a:off x="4419600" y="2562225"/>
            <a:ext cx="7162800" cy="1047750"/>
          </a:xfrm>
          <a:prstGeom prst="roundRect">
            <a:avLst>
              <a:gd name="adj" fmla="val 727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60" name=""/>
          <p:cNvSpPr/>
          <p:nvPr/>
        </p:nvSpPr>
        <p:spPr>
          <a:xfrm rot="0" flipH="0" flipV="0">
            <a:off x="4591050" y="2790825"/>
            <a:ext cx="38100" cy="590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4781550" y="2838450"/>
            <a:ext cx="4800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场地容量表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4781550" y="3086100"/>
            <a:ext cx="4800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也在谈场地，但记的是容量，答不了时间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9734550" y="2943225"/>
            <a:ext cx="1676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相似度排序　第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位</a:t>
            </a:r>
            <a:endParaRPr/>
          </a:p>
        </p:txBody>
      </p:sp>
      <p:sp>
        <p:nvSpPr>
          <p:cNvPr id="564" name=""/>
          <p:cNvSpPr/>
          <p:nvPr/>
        </p:nvSpPr>
        <p:spPr>
          <a:xfrm rot="0" flipH="0" flipV="0">
            <a:off x="9734550" y="3152775"/>
            <a:ext cx="1676400" cy="76200"/>
          </a:xfrm>
          <a:prstGeom prst="roundRect">
            <a:avLst>
              <a:gd name="adj" fmla="val 50000"/>
            </a:avLst>
          </a:prstGeom>
          <a:solidFill>
            <a:srgbClr val="E1EAF5"/>
          </a:solidFill>
          <a:ln/>
        </p:spPr>
        <p:txBody>
          <a:bodyPr/>
          <a:p/>
        </p:txBody>
      </p:sp>
      <p:sp>
        <p:nvSpPr>
          <p:cNvPr id="565" name=""/>
          <p:cNvSpPr/>
          <p:nvPr/>
        </p:nvSpPr>
        <p:spPr>
          <a:xfrm rot="0" flipH="0" flipV="0">
            <a:off x="9734550" y="3152775"/>
            <a:ext cx="990600" cy="7620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6" name=""/>
          <p:cNvSpPr/>
          <p:nvPr/>
        </p:nvSpPr>
        <p:spPr>
          <a:xfrm rot="0" flipH="0" flipV="0">
            <a:off x="4419600" y="3705225"/>
            <a:ext cx="7162800" cy="104775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67" name=""/>
          <p:cNvSpPr/>
          <p:nvPr/>
        </p:nvSpPr>
        <p:spPr>
          <a:xfrm rot="0" flipH="0" flipV="0">
            <a:off x="4591050" y="3933825"/>
            <a:ext cx="38100" cy="5905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4781550" y="3981450"/>
            <a:ext cx="4800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志愿者排班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4781550" y="4229100"/>
            <a:ext cx="4800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只提到人手，和这个问题关系较远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9734550" y="4086225"/>
            <a:ext cx="1676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相似度排序　第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位</a:t>
            </a:r>
            <a:endParaRPr/>
          </a:p>
        </p:txBody>
      </p:sp>
      <p:sp>
        <p:nvSpPr>
          <p:cNvPr id="571" name=""/>
          <p:cNvSpPr/>
          <p:nvPr/>
        </p:nvSpPr>
        <p:spPr>
          <a:xfrm rot="0" flipH="0" flipV="0">
            <a:off x="9734550" y="4295775"/>
            <a:ext cx="1676400" cy="76200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/>
        </p:spPr>
        <p:txBody>
          <a:bodyPr/>
          <a:p/>
        </p:txBody>
      </p:sp>
      <p:sp>
        <p:nvSpPr>
          <p:cNvPr id="572" name=""/>
          <p:cNvSpPr/>
          <p:nvPr/>
        </p:nvSpPr>
        <p:spPr>
          <a:xfrm rot="0" flipH="0" flipV="0">
            <a:off x="9734550" y="4295775"/>
            <a:ext cx="533400" cy="76200"/>
          </a:xfrm>
          <a:prstGeom prst="roundRect">
            <a:avLst>
              <a:gd name="adj" fmla="val 50000"/>
            </a:avLst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573" name=""/>
          <p:cNvSpPr/>
          <p:nvPr/>
        </p:nvSpPr>
        <p:spPr>
          <a:xfrm rot="0" flipH="0" flipV="0">
            <a:off x="609600" y="5010150"/>
            <a:ext cx="109728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4" name=""/>
          <p:cNvSpPr/>
          <p:nvPr/>
        </p:nvSpPr>
        <p:spPr>
          <a:xfrm rot="0" flipH="0" flipV="0">
            <a:off x="800100" y="5219700"/>
            <a:ext cx="38100" cy="685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1028700" y="5324475"/>
            <a:ext cx="6772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训练让语义相关的文本在向量空间中更接近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1028700" y="5553075"/>
            <a:ext cx="67722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所以「哪里能做手工体验」有机会命中「手作室使用说明」，即使两者没有完全相同的字词。</a:t>
            </a:r>
            <a:endParaRPr/>
          </a:p>
        </p:txBody>
      </p:sp>
      <p:sp>
        <p:nvSpPr>
          <p:cNvPr id="577" name=""/>
          <p:cNvSpPr/>
          <p:nvPr/>
        </p:nvSpPr>
        <p:spPr>
          <a:xfrm rot="0" flipH="0" flipV="0">
            <a:off x="7991475" y="5219700"/>
            <a:ext cx="9525" cy="6858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8191500" y="5095875"/>
            <a:ext cx="3162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两个模型分开配置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8191500" y="5305425"/>
            <a:ext cx="31623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回答用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OPENAI_MODEL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；向量用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OPENAI_EMBEDDING_MODEL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，例如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text-embedding-3-small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2.9 Embedding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RAG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：先找依据，再组织答案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582" name="" descr="&lt;Slide notes={`相似度怎么算？最常用的一种是余弦相似度。公式说的是：把两个向量的点积，除以它们各自长度的乘积。它比较的是方向，不太在意长短，所以很适合给候选片段排序。&#10;&#10;接着是我最想让大家记住的一句：相似度高不等于答案正确。得分高，可能只是因为两句话都在谈手作室，其中一条记录却来自一个错误的日期。它说明的是「像」，不是「对」。&#10;&#10;还有两条工程上的边界。不同向量模型之间、不同索引设置之间，分数阈值不能直接拿来比较。换个模型，昨天的 0.8 今天可能只有 0.6，那条卡死的分数线就不再成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9.1　Embedding 为什么适合找相近内容&lt;/Text&gt;&#10;            &lt;Text style={{ fontSize: 34, fontWeight: 'bold', color: '#20344B' }}&gt;相似度衡量方向，不衡量正确&lt;/Text&gt;&#10;        &lt;/Box&gt;&#10;    &lt;/Box&gt;&#10;&#10;    &lt;Box style={{ height: 540, flexDirection: 'row', alignItems: 'center', gap: 32 }}&gt;&#10;&#10;        &lt;Box style={{ width: 660, flexDirection: 'column', gap: 14 }}&gt;&#10;&#10;            &lt;Text style={{ fontSize: 15, color: '#546779' }}&gt;常见的相似度之一：余弦相似度&lt;/Text&gt;&#10;&#10;            &lt;Box style={{ width: 660, height: 82, background: '#EDF4FC', borderRadius: 8, justifyContent: 'center', alignItems: 'center' }}&gt;&#10;                &lt;Text style={{ fontSize: 22, fontWeight: 'bold', color: '#276FBF' }}&gt;cos(q, d) = ( q · d ) ÷ ( ‖q‖ × ‖d‖ )&lt;/Text&gt;&#10;            &lt;/Box&gt;&#10;&#10;            &lt;Box style={{ flexDirection: 'row', gap: 14 }}&gt;&#10;                &lt;Box style={{ width: 322, height: 92, background: '#F4F7FA', borderRadius: 8, padding: '13px 16px', flexDirection: 'column', gap: 5, justifyContent: 'center' }}&gt;&#10;                    &lt;Text style={{ fontSize: 16, fontWeight: 'bold', color: '#276FBF' }}&gt;q 是问题向量&lt;/Text&gt;&#10;                    &lt;Text style={{ fontSize: 14, color: '#546779', lineHeight: 1.5 }}&gt;由学生的提问转换而来&lt;/Text&gt;&#10;                &lt;/Box&gt;&#10;                &lt;Box style={{ width: 324, height: 92, background: '#F4F7FA', borderRadius: 8, padding: '13px 16px', flexDirection: 'column', gap: 5, justifyContent: 'center' }}&gt;&#10;                    &lt;Text style={{ fontSize: 16, fontWeight: 'bold', color: '#276FBF' }}&gt;d 是材料片段向量&lt;/Text&gt;&#10;                    &lt;Text style={{ fontSize: 14, color: '#546779', lineHeight: 1.5 }}&gt;每个候选片段各算一个&lt;/Text&gt;&#10;                &lt;/Box&gt;&#10;            &lt;/Box&gt;&#10;&#10;            &lt;Box style={{ flexDirection: 'row', alignItems: 'center', gap: 16, background: '#F4F7FA', borderRadius: 10, padding: '14px 20px' }}&gt;&#10;                &lt;Box style={{ width: 4, height: 48, background: '#276FBF' }} /&gt;&#10;                &lt;Box style={{ flex: 1, flexDirection: 'column', gap: 3 }}&gt;&#10;                    &lt;Text style={{ fontSize: 16, fontWeight: 'bold', color: '#276FBF' }}&gt;它比较方向，适合对候选片段排序&lt;/Text&gt;&#10;                    &lt;Text style={{ fontSize: 14, color: '#546779', lineHeight: 1.5 }}&gt;分数只用来决定谁排在前面，本身不构成结论。&lt;/Text&gt;&#10;                &lt;/Box&gt;&#10;            &lt;/Box&gt;&#10;&#10;        &lt;/Box&gt;&#10;&#10;        &lt;Box style={{ width: 460, flexDirection: 'column', gap: 14 }}&gt;&#10;&#10;            &lt;Box style={{ width: 460, height: 62, background: '#FFF4E6', borderRadius: 8, justifyContent: 'center', paddingLeft: 18 }}&gt;&#10;                &lt;Text style={{ fontSize: 22, fontWeight: 'bold', color: '#CB6B28' }}&gt;相似度不是答案正确概率&lt;/Text&gt;&#10;            &lt;/Box&gt;&#10;&#10;            &lt;Box style={{ width: 460, height: 112, background: '#FFF4E6', borderRadius: 8, padding: '14px 18px', flexDirection: 'column', gap: 5, justifyContent: 'center' }}&gt;&#10;                &lt;Text style={{ fontSize: 16, fontWeight: 'bold', color: '#20344B' }}&gt;得分高可能只是「都在谈手作室」&lt;/Text&gt;&#10;                &lt;Text style={{ fontSize: 14, color: '#546779', lineHeight: 1.5 }}&gt;其中一条记录却来自错误日期，它依然会被排在前面。&lt;/Text&gt;&#10;            &lt;/Box&gt;&#10;&#10;            &lt;Box style={{ width: 460, height: 112, background: '#FFF4E6', borderRadius: 8, padding: '14px 18px', flexDirection: 'column', gap: 5, justifyContent: 'center' }}&gt;&#10;                &lt;Text style={{ fontSize: 16, fontWeight: 'bold', color: '#20344B' }}&gt;不能跨向量模型比较分数阈值&lt;/Text&gt;&#10;                &lt;Text style={{ fontSize: 14, color: '#546779', lineHeight: 1.5 }}&gt;换了模型，分数分布就变了，昨天卡好的线今天未必成立。&lt;/Text&gt;&#10;            &lt;/Box&gt;&#10;&#10;            &lt;Box style={{ width: 460, height: 112, background: '#FFF4E6', borderRadius: 8, padding: '14px 18px', flexDirection: 'column', gap: 5, justifyContent: 'center' }}&gt;&#10;                &lt;Text style={{ fontSize: 16, fontWeight: 'bold', color: '#20344B' }}&gt;也不能跨索引设置比较&lt;/Text&gt;&#10;                &lt;Text style={{ fontSize: 14, color: '#546779', lineHeight: 1.5 }}&gt;切片方式、维度与检索参数一变，同一个阈值的含义就跟着变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9 Embedding 与 RAG：先找依据，再组织答案&lt;/Text&gt;&#10;        &lt;Text style={{ fontSize: 14, color: '#546779' }}&gt;05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2.9.1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Embedding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为什么适合找相近内容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相似度衡量方向，不衡量正确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609600" y="2238375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常见的相似度之一：余弦相似度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609600" y="2543175"/>
            <a:ext cx="6286500" cy="781050"/>
          </a:xfrm>
          <a:prstGeom prst="roundRect">
            <a:avLst>
              <a:gd name="adj" fmla="val 975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1924050" y="2809875"/>
            <a:ext cx="3667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>cos(q, d) = ( q · d ) ÷ ( ‖q‖ × ‖d‖ )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609600" y="3457575"/>
            <a:ext cx="306705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762000" y="3657600"/>
            <a:ext cx="276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q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是问题向量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762000" y="3895725"/>
            <a:ext cx="2762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由学生的提问转换而来</a:t>
            </a:r>
            <a:endParaRPr/>
          </a:p>
        </p:txBody>
      </p:sp>
      <p:sp>
        <p:nvSpPr>
          <p:cNvPr id="593" name=""/>
          <p:cNvSpPr/>
          <p:nvPr/>
        </p:nvSpPr>
        <p:spPr>
          <a:xfrm rot="0" flipH="0" flipV="0">
            <a:off x="3810000" y="3457575"/>
            <a:ext cx="30861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3962400" y="3657600"/>
            <a:ext cx="2781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d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是材料片段向量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3962400" y="3895725"/>
            <a:ext cx="27813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每个候选片段各算一个</a:t>
            </a:r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609600" y="4467225"/>
            <a:ext cx="6286500" cy="733425"/>
          </a:xfrm>
          <a:prstGeom prst="roundRect">
            <a:avLst>
              <a:gd name="adj" fmla="val 1298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7" name=""/>
          <p:cNvSpPr/>
          <p:nvPr/>
        </p:nvSpPr>
        <p:spPr>
          <a:xfrm rot="0" flipH="0" flipV="0">
            <a:off x="800100" y="461010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990600" y="4600575"/>
            <a:ext cx="571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它比较方向，适合对候选片段排序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990600" y="4819650"/>
            <a:ext cx="5715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分数只用来决定谁排在前面，本身不构成结论。</a:t>
            </a:r>
            <a:endParaRPr/>
          </a:p>
        </p:txBody>
      </p:sp>
      <p:sp>
        <p:nvSpPr>
          <p:cNvPr id="600" name=""/>
          <p:cNvSpPr/>
          <p:nvPr/>
        </p:nvSpPr>
        <p:spPr>
          <a:xfrm rot="0" flipH="0" flipV="0">
            <a:off x="7200900" y="1619250"/>
            <a:ext cx="4381500" cy="590550"/>
          </a:xfrm>
          <a:prstGeom prst="roundRect">
            <a:avLst>
              <a:gd name="adj" fmla="val 1290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7372350" y="1790700"/>
            <a:ext cx="4210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相似度不是答案正确概率</a:t>
            </a:r>
            <a:endParaRPr/>
          </a:p>
        </p:txBody>
      </p:sp>
      <p:sp>
        <p:nvSpPr>
          <p:cNvPr id="602" name=""/>
          <p:cNvSpPr/>
          <p:nvPr/>
        </p:nvSpPr>
        <p:spPr>
          <a:xfrm rot="0" flipH="0" flipV="0">
            <a:off x="7200900" y="2343150"/>
            <a:ext cx="4381500" cy="10668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7372350" y="2638425"/>
            <a:ext cx="403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得分高可能只是「都在谈手作室」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7372350" y="2876550"/>
            <a:ext cx="4038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其中一条记录却来自错误日期，它依然会被排在前面。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7200900" y="3543300"/>
            <a:ext cx="4381500" cy="10668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7372350" y="3838575"/>
            <a:ext cx="403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不能跨向量模型比较分数阈值</a:t>
            </a:r>
            <a:endParaRPr/>
          </a:p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7372350" y="4076700"/>
            <a:ext cx="4038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换了模型，分数分布就变了，昨天卡好的线今天未必成立。</a:t>
            </a:r>
            <a:endParaRPr/>
          </a:p>
        </p:txBody>
      </p:sp>
      <p:sp>
        <p:nvSpPr>
          <p:cNvPr id="608" name=""/>
          <p:cNvSpPr/>
          <p:nvPr/>
        </p:nvSpPr>
        <p:spPr>
          <a:xfrm rot="0" flipH="0" flipV="0">
            <a:off x="7200900" y="4743450"/>
            <a:ext cx="4381500" cy="10668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7372350" y="5038725"/>
            <a:ext cx="403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也不能跨索引设置比较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7372350" y="5276850"/>
            <a:ext cx="4038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切片方式、维度与检索参数一变，同一个阈值的含义就跟着变。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2.9 Embedding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RAG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：先找依据，再组织答案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613" name="" descr="&lt;Slide notes={`既然向量这么好用，是不是可以不再用表格查询了？不能这样想。&#10;&#10;语义检索擅长的是表述不同的说明文字。学生问「手工体验」，材料里写的是「手作室使用说明」，这种靠关键词碰不到的，向量能排出来。&#10;&#10;但精确 ID、日期和数字，还是关键词和结构化筛选更可靠。比如先限定 room_id 等于 craft，再限定活动日期，从确定性的记录里筛，比让向量去猜要稳得多。真实的做法常常是两步合起来：先用字段把范围锁小，再在剩下的材料里做语义检索。&#10;&#10;所以这里没有谁淘汰谁的问题。把「用了向量就该扔掉表格查询」当成原则，会丢掉最扎实的那部分能力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9.1　Embedding 为什么适合找相近内容&lt;/Text&gt;&#10;            &lt;Text style={{ fontSize: 34, fontWeight: 'bold', color: '#20344B' }}&gt;语义检索与精确条件互补&lt;/Text&gt;&#10;        &lt;/Box&gt;&#10;    &lt;/Box&gt;&#10;&#10;    &lt;Box style={{ height: 540, flexDirection: 'column', justifyContent: 'center', gap: 20 }}&gt;&#10;&#10;        &lt;Box style={{ flexDirection: 'row', gap: 24 }}&gt;&#10;&#10;            &lt;Box style={{ width: 564, background: '#F4F7FA', borderRadius: 10, padding: 16, flexDirection: 'column', gap: 10 }}&gt;&#10;                &lt;Box style={{ flexDirection: 'row', alignItems: 'center', gap: 10 }}&gt;&#10;                    &lt;Box style={{ width: 4, height: 34, background: '#276FBF' }} /&gt;&#10;                    &lt;Box style={{ flexDirection: 'column', gap: 2 }}&gt;&#10;                        &lt;Text style={{ fontSize: 20, fontWeight: 'bold', color: '#276FBF' }}&gt;语义检索&lt;/Text&gt;&#10;                        &lt;Text style={{ fontSize: 14, color: '#546779' }}&gt;找「意思接近」的内容&lt;/Text&gt;&#10;                    &lt;/Box&gt;&#10;                &lt;/Box&gt;&#10;                &lt;Box style={{ flexDirection: 'row', alignItems: 'center', gap: 10, height: 72, background: '#FFFFFF', borderRadius: 6, padding: '10px 14px' }}&gt;&#10;                    &lt;Text style={{ width: 56, fontSize: 14, color: '#546779' }}&gt;适合&lt;/Text&gt;&#10;                    &lt;Text style={{ flex: 1, fontSize: 14, color: '#20344B', lineHeight: 1.5 }}&gt;表述不同，但意思相近的说明文字&lt;/Text&gt;&#10;                &lt;/Box&gt;&#10;                &lt;Box style={{ flexDirection: 'row', alignItems: 'center', gap: 10, height: 72, background: '#FFFFFF', borderRadius: 6, padding: '10px 14px' }}&gt;&#10;                    &lt;Text style={{ width: 56, fontSize: 14, color: '#546779' }}&gt;例子&lt;/Text&gt;&#10;                    &lt;Text style={{ flex: 1, fontSize: 14, color: '#20344B', lineHeight: 1.5 }}&gt;问「手工体验」，命中「手作室使用说明」&lt;/Text&gt;&#10;                &lt;/Box&gt;&#10;                &lt;Box style={{ flexDirection: 'row', alignItems: 'center', gap: 10, height: 72, background: '#FFFFFF', borderRadius: 6, padding: '10px 14px' }}&gt;&#10;                    &lt;Text style={{ width: 56, fontSize: 14, color: '#546779' }}&gt;手段&lt;/Text&gt;&#10;                    &lt;Text style={{ flex: 1, fontSize: 14, color: '#20344B', lineHeight: 1.5 }}&gt;向量模型加余弦相似度排序&lt;/Text&gt;&#10;                &lt;/Box&gt;&#10;                &lt;Box style={{ flexDirection: 'row', alignItems: 'center', gap: 10, height: 72, background: '#FFFFFF', borderRadius: 6, padding: '10px 14px' }}&gt;&#10;                    &lt;Text style={{ width: 56, fontSize: 14, color: '#546779' }}&gt;产出&lt;/Text&gt;&#10;                    &lt;Text style={{ flex: 1, fontSize: 14, color: '#20344B', lineHeight: 1.5 }}&gt;一串带排序的候选片段&lt;/Text&gt;&#10;                &lt;/Box&gt;&#10;            &lt;/Box&gt;&#10;&#10;            &lt;Box style={{ width: 564, background: '#F4F7FA', borderRadius: 10, padding: 16, flexDirection: 'column', gap: 10 }}&gt;&#10;                &lt;Box style={{ flexDirection: 'row', alignItems: 'center', gap: 10 }}&gt;&#10;                    &lt;Box style={{ width: 4, height: 34, background: '#26816B' }} /&gt;&#10;                    &lt;Box style={{ flexDirection: 'column', gap: 2 }}&gt;&#10;                        &lt;Text style={{ fontSize: 20, fontWeight: 'bold', color: '#26816B' }}&gt;精确匹配与结构化筛选&lt;/Text&gt;&#10;                        &lt;Text style={{ fontSize: 14, color: '#546779' }}&gt;找「确定对得上」的记录&lt;/Text&gt;&#10;                    &lt;/Box&gt;&#10;                &lt;/Box&gt;&#10;                &lt;Box style={{ flexDirection: 'row', alignItems: 'center', gap: 10, height: 72, background: '#FFFFFF', borderRadius: 6, padding: '10px 14px' }}&gt;&#10;                    &lt;Text style={{ width: 56, fontSize: 14, color: '#546779' }}&gt;适合&lt;/Text&gt;&#10;                    &lt;Text style={{ flex: 1, fontSize: 14, color: '#20344B', lineHeight: 1.5 }}&gt;精确 ID、日期与数字&lt;/Text&gt;&#10;                &lt;/Box&gt;&#10;                &lt;Box style={{ flexDirection: 'row', alignItems: 'center', gap: 10, height: 72, background: '#FFFFFF', borderRadius: 6, padding: '10px 14px' }}&gt;&#10;                    &lt;Text style={{ width: 56, fontSize: 14, color: '#546779' }}&gt;例子&lt;/Text&gt;&#10;                    &lt;Text style={{ flex: 1, fontSize: 14, color: '#20344B', lineHeight: 1.5 }}&gt;先限定 room_id = craft 和活动日期&lt;/Text&gt;&#10;                &lt;/Box&gt;&#10;                &lt;Box style={{ flexDirection: 'row', alignItems: 'center', gap: 10, height: 72, background: '#FFFFFF', borderRadius: 6, padding: '10px 14px' }}&gt;&#10;                    &lt;Text style={{ width: 56, fontSize: 14, color: '#546779' }}&gt;手段&lt;/Text&gt;&#10;                    &lt;Text style={{ flex: 1, fontSize: 14, color: '#20344B', lineHeight: 1.5 }}&gt;关键词、数据库查询、字段筛选&lt;/Text&gt;&#10;                &lt;/Box&gt;&#10;                &lt;Box style={{ flexDirection: 'row', alignItems: 'center', gap: 10, height: 72, background: '#FFFFFF', borderRadius: 6, padding: '10px 14px' }}&gt;&#10;                    &lt;Text style={{ width: 56, fontSize: 14, color: '#546779' }}&gt;产出&lt;/Text&gt;&#10;                    &lt;Text style={{ flex: 1, fontSize: 14, color: '#20344B', lineHeight: 1.5 }}&gt;确定性的记录集合&lt;/Text&gt;&#10;                &lt;/Box&gt;&#10;            &lt;/Box&gt;&#10;&#10;        &lt;/Box&gt;&#10;&#10;        &lt;Box style={{ flexDirection: 'row', alignItems: 'center', gap: 18, height: 86, background: '#ECF7F2', borderRadius: 10, padding: '14px 20px' }}&gt;&#10;            &lt;Box style={{ width: 4, height: 52, background: '#26816B' }} /&gt;&#10;            &lt;Box style={{ flex: 1, flexDirection: 'column', gap: 4 }}&gt;&#10;                &lt;Text style={{ fontSize: 16, fontWeight: 'bold', color: '#26816B' }}&gt;两种手段互补，常常一起用&lt;/Text&gt;&#10;                &lt;Text style={{ fontSize: 14, color: '#546779', lineHeight: 1.5 }}&gt;先用字段把范围锁小，再在剩下的材料里做语义检索；并不存在「用了向量就应该淘汰表格查询」的原则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9 Embedding 与 RAG：先找依据，再组织答案&lt;/Text&gt;&#10;        &lt;Text style={{ fontSize: 14, color: '#546779' }}&gt;06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2.9.1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Embedding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为什么适合找相近内容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语义检索与精确条件互补</a:t>
            </a:r>
            <a:endParaRPr/>
          </a:p>
        </p:txBody>
      </p:sp>
      <p:sp>
        <p:nvSpPr>
          <p:cNvPr id="618" name=""/>
          <p:cNvSpPr/>
          <p:nvPr/>
        </p:nvSpPr>
        <p:spPr>
          <a:xfrm rot="0" flipH="0" flipV="0">
            <a:off x="609600" y="1295400"/>
            <a:ext cx="5372100" cy="3838575"/>
          </a:xfrm>
          <a:prstGeom prst="roundRect">
            <a:avLst>
              <a:gd name="adj" fmla="val 248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9" name=""/>
          <p:cNvSpPr/>
          <p:nvPr/>
        </p:nvSpPr>
        <p:spPr>
          <a:xfrm rot="0" flipH="0" flipV="0">
            <a:off x="762000" y="1495425"/>
            <a:ext cx="38100" cy="3238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895350" y="1447800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语义检索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895350" y="16954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找「意思接近」的内容</a:t>
            </a:r>
            <a:endParaRPr/>
          </a:p>
        </p:txBody>
      </p:sp>
      <p:sp>
        <p:nvSpPr>
          <p:cNvPr id="622" name=""/>
          <p:cNvSpPr/>
          <p:nvPr/>
        </p:nvSpPr>
        <p:spPr>
          <a:xfrm rot="0" flipH="0" flipV="0">
            <a:off x="762000" y="1952625"/>
            <a:ext cx="50673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895350" y="22193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适合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1524000" y="2171700"/>
            <a:ext cx="4171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表述不同，但意思相近的说明文字</a:t>
            </a:r>
            <a:endParaRPr/>
          </a:p>
        </p:txBody>
      </p:sp>
      <p:sp>
        <p:nvSpPr>
          <p:cNvPr id="625" name=""/>
          <p:cNvSpPr/>
          <p:nvPr/>
        </p:nvSpPr>
        <p:spPr>
          <a:xfrm rot="0" flipH="0" flipV="0">
            <a:off x="762000" y="2733675"/>
            <a:ext cx="50673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895350" y="30003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例子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1524000" y="2952750"/>
            <a:ext cx="4171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问「手工体验」，命中「手作室使用说明」</a:t>
            </a:r>
            <a:endParaRPr/>
          </a:p>
        </p:txBody>
      </p:sp>
      <p:sp>
        <p:nvSpPr>
          <p:cNvPr id="628" name=""/>
          <p:cNvSpPr/>
          <p:nvPr/>
        </p:nvSpPr>
        <p:spPr>
          <a:xfrm rot="0" flipH="0" flipV="0">
            <a:off x="762000" y="3514725"/>
            <a:ext cx="50673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895350" y="37814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手段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1524000" y="3733800"/>
            <a:ext cx="4171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向量模型加余弦相似度排序</a:t>
            </a:r>
            <a:endParaRPr/>
          </a:p>
        </p:txBody>
      </p:sp>
      <p:sp>
        <p:nvSpPr>
          <p:cNvPr id="631" name=""/>
          <p:cNvSpPr/>
          <p:nvPr/>
        </p:nvSpPr>
        <p:spPr>
          <a:xfrm rot="0" flipH="0" flipV="0">
            <a:off x="762000" y="4295775"/>
            <a:ext cx="50673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895350" y="45624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产出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1524000" y="4514850"/>
            <a:ext cx="4171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一串带排序的候选片段</a:t>
            </a:r>
            <a:endParaRPr/>
          </a:p>
        </p:txBody>
      </p:sp>
      <p:sp>
        <p:nvSpPr>
          <p:cNvPr id="634" name=""/>
          <p:cNvSpPr/>
          <p:nvPr/>
        </p:nvSpPr>
        <p:spPr>
          <a:xfrm rot="0" flipH="0" flipV="0">
            <a:off x="6210300" y="1295400"/>
            <a:ext cx="5372100" cy="3838575"/>
          </a:xfrm>
          <a:prstGeom prst="roundRect">
            <a:avLst>
              <a:gd name="adj" fmla="val 248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35" name=""/>
          <p:cNvSpPr/>
          <p:nvPr/>
        </p:nvSpPr>
        <p:spPr>
          <a:xfrm rot="0" flipH="0" flipV="0">
            <a:off x="6362700" y="1495425"/>
            <a:ext cx="38100" cy="3238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6496050" y="1447800"/>
            <a:ext cx="190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精确匹配与结构化筛选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6496050" y="1695450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找「确定对得上」的记录</a:t>
            </a:r>
            <a:endParaRPr/>
          </a:p>
        </p:txBody>
      </p:sp>
      <p:sp>
        <p:nvSpPr>
          <p:cNvPr id="638" name=""/>
          <p:cNvSpPr/>
          <p:nvPr/>
        </p:nvSpPr>
        <p:spPr>
          <a:xfrm rot="0" flipH="0" flipV="0">
            <a:off x="6362700" y="1952625"/>
            <a:ext cx="50673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6496050" y="22193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适合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7124700" y="2171700"/>
            <a:ext cx="4171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精确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、日期与数字</a:t>
            </a:r>
            <a:endParaRPr/>
          </a:p>
        </p:txBody>
      </p:sp>
      <p:sp>
        <p:nvSpPr>
          <p:cNvPr id="641" name=""/>
          <p:cNvSpPr/>
          <p:nvPr/>
        </p:nvSpPr>
        <p:spPr>
          <a:xfrm rot="0" flipH="0" flipV="0">
            <a:off x="6362700" y="2733675"/>
            <a:ext cx="50673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6496050" y="30003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例子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7124700" y="2952750"/>
            <a:ext cx="4171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先限定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room_id = craft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和活动日期</a:t>
            </a:r>
            <a:endParaRPr/>
          </a:p>
        </p:txBody>
      </p:sp>
      <p:sp>
        <p:nvSpPr>
          <p:cNvPr id="644" name=""/>
          <p:cNvSpPr/>
          <p:nvPr/>
        </p:nvSpPr>
        <p:spPr>
          <a:xfrm rot="0" flipH="0" flipV="0">
            <a:off x="6362700" y="3514725"/>
            <a:ext cx="50673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6496050" y="37814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手段</a:t>
            </a:r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7124700" y="3733800"/>
            <a:ext cx="4171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关键词、数据库查询、字段筛选</a:t>
            </a:r>
            <a:endParaRPr/>
          </a:p>
        </p:txBody>
      </p:sp>
      <p:sp>
        <p:nvSpPr>
          <p:cNvPr id="647" name=""/>
          <p:cNvSpPr/>
          <p:nvPr/>
        </p:nvSpPr>
        <p:spPr>
          <a:xfrm rot="0" flipH="0" flipV="0">
            <a:off x="6362700" y="4295775"/>
            <a:ext cx="50673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6496050" y="45624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产出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7124700" y="4514850"/>
            <a:ext cx="4171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确定性的记录集合</a:t>
            </a:r>
            <a:endParaRPr/>
          </a:p>
        </p:txBody>
      </p:sp>
      <p:sp>
        <p:nvSpPr>
          <p:cNvPr id="650" name=""/>
          <p:cNvSpPr/>
          <p:nvPr/>
        </p:nvSpPr>
        <p:spPr>
          <a:xfrm rot="0" flipH="0" flipV="0">
            <a:off x="609600" y="5324475"/>
            <a:ext cx="10972800" cy="819150"/>
          </a:xfrm>
          <a:prstGeom prst="roundRect">
            <a:avLst>
              <a:gd name="adj" fmla="val 1162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51" name=""/>
          <p:cNvSpPr/>
          <p:nvPr/>
        </p:nvSpPr>
        <p:spPr>
          <a:xfrm rot="0" flipH="0" flipV="0">
            <a:off x="800100" y="5486400"/>
            <a:ext cx="38100" cy="495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1009650" y="5495925"/>
            <a:ext cx="1038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两种手段互补，常常一起用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1009650" y="5724525"/>
            <a:ext cx="10382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先用字段把范围锁小，再在剩下的材料里做语义检索；并不存在「用了向量就应该淘汰表格查询」的原则。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2.9 Embedding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RAG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：先找依据，再组织答案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25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656" name="" descr="&lt;Slide notes={`材料找得到之后，下一个问题是怎么切。&#10;&#10;切分不是随便按字数切开就行，它要服务于后面的检索和回答。切得太碎，一句话一段，句子里的指代没了，谁在说哪间房也看不出来；切得太整，整篇塞进上下文，无关内容又都回来了。&#10;&#10;合适的做法是保留能解释证据的最小语境。Markdown 按标题和段落切，主题和来源留在同一段里；表格按一行加字段名切，房间身份和容量单位不能丢；预约记录按一条预约切，房间、日期、起止时间要在一起。&#10;&#10;一句话概括：片段进入上下文以后，读者还要能看出这句话是谁说的、说的是谁。`} style={{ width: 1280, height: 720, background: '#FFFFFF', flexDirection: 'column', padding: '20px 64px' }}&gt;&#10;&#10;    &lt;Box style={{ height: 100 }} /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2&lt;/Text&gt;&#10;            &lt;/Box&gt;&#10;            &lt;Text style={{ fontSize: 16, color: '#546779' }}&gt;2.9.2&lt;/Text&gt;&#10;        &lt;/Box&gt;&#10;&#10;        &lt;Text style={{ fontSize: 56, fontWeight: 'bold', color: '#20344B', lineHeight: 1.15 }}&gt;切分材料时保留能解释证据的上下文&lt;/Text&gt;&#10;&#10;        &lt;Box style={{ width: 640, height: 4, background: '#276FBF' }} /&gt;&#10;&#10;        &lt;Text style={{ fontSize: 19, color: '#546779', lineHeight: 1.7 }}&gt;切得好不好，最后要在答案里看得出来——它能不能解释自己引用的那句话。&lt;/Text&gt;&#10;&#10;        &lt;Box style={{ marginTop: 6, flexDirection: 'row', gap: 32 }}&gt;&#10;            &lt;Box style={{ width: 354, height: 124, background: '#F4F7FA', borderRadius: 8, padding: '16px 18px', flexDirection: 'column', gap: 6, justifyContent: 'center' }}&gt;&#10;                &lt;Text style={{ fontSize: 19, fontWeight: 'bold', color: '#20344B' }}&gt;切得太碎&lt;/Text&gt;&#10;                &lt;Text style={{ fontSize: 14, color: '#546779', lineHeight: 1.55 }}&gt;一句话一段，指代和来源都丢了，读到片段也不知道它在说哪间房。&lt;/Text&gt;&#10;            &lt;/Box&gt;&#10;            &lt;Box style={{ width: 354, height: 124, background: '#F4F7FA', borderRadius: 8, padding: '16px 18px', flexDirection: 'column', gap: 6, justifyContent: 'center' }}&gt;&#10;                &lt;Text style={{ fontSize: 19, fontWeight: 'bold', color: '#20344B' }}&gt;切得太整&lt;/Text&gt;&#10;                &lt;Text style={{ fontSize: 14, color: '#546779', lineHeight: 1.55 }}&gt;整篇塞进上下文，费用上去了，无关内容也一起混进答案的依据里。&lt;/Text&gt;&#10;            &lt;/Box&gt;&#10;            &lt;Box style={{ width: 354, height: 124, background: '#ECF7F2', borderRadius: 8, padding: '16px 18px', flexDirection: 'column', gap: 6, justifyContent: 'center' }}&gt;&#10;                &lt;Text style={{ fontSize: 19, fontWeight: 'bold', color: '#26816B' }}&gt;保留最小语境&lt;/Text&gt;&#10;                &lt;Text style={{ fontSize: 14, color: '#546779', lineHeight: 1.55 }}&gt;标题、字段名与房间身份跟着片段一起走，证据才解释得清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9 Embedding 与 RAG：先找依据，再组织答案&lt;/Text&gt;&#10;        &lt;Text style={{ fontSize: 14, color: '#546779' }}&gt;07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8" name=""/>
          <p:cNvSpPr/>
          <p:nvPr/>
        </p:nvSpPr>
        <p:spPr>
          <a:xfrm rot="0" flipH="0" flipV="0">
            <a:off x="609600" y="187642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714375" y="198120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1295400" y="2047875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2.9.2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609600" y="26003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切分材料时保留能解释证据的上下文</a:t>
            </a:r>
            <a:endParaRPr/>
          </a:p>
        </p:txBody>
      </p:sp>
      <p:sp>
        <p:nvSpPr>
          <p:cNvPr id="662" name=""/>
          <p:cNvSpPr/>
          <p:nvPr/>
        </p:nvSpPr>
        <p:spPr>
          <a:xfrm rot="0" flipH="0" flipV="0">
            <a:off x="609600" y="353377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609600" y="376237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切得好不好，最后要在答案里看得出来——它能不能解释自己引用的那句话。</a:t>
            </a:r>
            <a:endParaRPr/>
          </a:p>
        </p:txBody>
      </p:sp>
      <p:sp>
        <p:nvSpPr>
          <p:cNvPr id="664" name=""/>
          <p:cNvSpPr/>
          <p:nvPr/>
        </p:nvSpPr>
        <p:spPr>
          <a:xfrm rot="0" flipH="0" flipV="0">
            <a:off x="609600" y="4381500"/>
            <a:ext cx="3371850" cy="1181100"/>
          </a:xfrm>
          <a:prstGeom prst="roundRect">
            <a:avLst>
              <a:gd name="adj" fmla="val 645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781050" y="4581525"/>
            <a:ext cx="3028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切得太碎</a:t>
            </a:r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781050" y="4857750"/>
            <a:ext cx="30289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一句话一段，指代和来源都丢了，读到片段也不知道它在说哪间房。</a:t>
            </a:r>
            <a:endParaRPr/>
          </a:p>
        </p:txBody>
      </p:sp>
      <p:sp>
        <p:nvSpPr>
          <p:cNvPr id="667" name=""/>
          <p:cNvSpPr/>
          <p:nvPr/>
        </p:nvSpPr>
        <p:spPr>
          <a:xfrm rot="0" flipH="0" flipV="0">
            <a:off x="4286250" y="4381500"/>
            <a:ext cx="3371850" cy="1181100"/>
          </a:xfrm>
          <a:prstGeom prst="roundRect">
            <a:avLst>
              <a:gd name="adj" fmla="val 645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4457700" y="4581525"/>
            <a:ext cx="3028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切得太整</a:t>
            </a:r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4457700" y="4857750"/>
            <a:ext cx="30289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整篇塞进上下文，费用上去了，无关内容也一起混进答案的依据里。</a:t>
            </a:r>
            <a:endParaRPr/>
          </a:p>
        </p:txBody>
      </p:sp>
      <p:sp>
        <p:nvSpPr>
          <p:cNvPr id="670" name=""/>
          <p:cNvSpPr/>
          <p:nvPr/>
        </p:nvSpPr>
        <p:spPr>
          <a:xfrm rot="0" flipH="0" flipV="0">
            <a:off x="7962900" y="4381500"/>
            <a:ext cx="3371850" cy="1181100"/>
          </a:xfrm>
          <a:prstGeom prst="roundRect">
            <a:avLst>
              <a:gd name="adj" fmla="val 645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8134350" y="4581525"/>
            <a:ext cx="3028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保留最小语境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8134350" y="4857750"/>
            <a:ext cx="30289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标题、字段名与房间身份跟着片段一起走，证据才解释得清。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2.9 Embedding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RAG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：先找依据，再组织答案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25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675" name="" descr="&lt;Slide notes={`从一份被授权的材料，到一句可以引用的答案，中间要走四步。&#10;&#10;第一步是限定材料并切片，切片时保留 chunk_id，方便后面定位。第二步是检索排序，拿问题去和每个片段算相似度。第三步是从排序里挑出候选依据，取前 k 个。第四步才是生成答案，让模型引用片段，遇到资料里没有的就明确说不知道。&#10;&#10;上面那张橙色卡是一条还没实现的扩展：精确条件筛选。真实资料接入前，读取授权也仍然由应用自己负责。&#10;&#10;下面橙色那条是人工复核，它核对的是日期、身份、断言支持和完整性。它用无箭头的连线连着第三第四步，表示它是核对对象，不是流水线的一环。&#10;&#10;最容易弄错的一点：相似片段进入上下文，只说明它「像」，不说明它已经足够回答问题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9.2　切分材料时保留能解释证据的上下文&lt;/Text&gt;&#10;            &lt;Text style={{ fontSize: 34, fontWeight: 'bold', color: '#20344B' }}&gt;从授权资料到可引用答案的通路&lt;/Text&gt;&#10;        &lt;/Box&gt;&#10;    &lt;/Box&gt;&#10;&#10;    &lt;Box style={{ height: 540, flexDirection: 'column', justifyContent: 'center', gap: 8 }}&gt;&#10;&#10;        &lt;Box style={{ flexDirection: 'row', height: 76 }}&gt;&#10;            &lt;Box style={{ width: 228 }} /&gt;&#10;            &lt;Box style={{ width: 398, height: 76, background: '#FFF4E6', borderRadius: 8, padding: '12px 16px', flexDirection: 'column', gap: 4, justifyContent: 'center' }}&gt;&#10;                &lt;Text style={{ fontSize: 15, fontWeight: 'bold', color: '#CB6B28' }}&gt;可选扩展：精确条件筛选&lt;/Text&gt;&#10;                &lt;Text style={{ fontSize: 13, color: '#546779', lineHeight: 1.5 }}&gt;room_id = craft 与活动日期；本例脚本未实现&lt;/Text&gt;&#10;            &lt;/Box&gt;&#10;            &lt;Box style={{ flex: 1 }} /&gt;&#10;        &lt;/Box&gt;&#10;&#10;        &lt;Box style={{ flexDirection: 'row', height: 22 }}&gt;&#10;            &lt;Box style={{ width: 404 }} /&gt;&#10;            &lt;Box style={{ width: 44, justifyContent: 'center', alignItems: 'center' }}&gt;&#10;                &lt;Text style={{ fontSize: 15, color: '#CB6B28' }}&gt;↓&lt;/Text&gt;&#10;            &lt;/Box&gt;&#10;            &lt;Box style={{ flex: 1 }} /&gt;&#10;        &lt;/Box&gt;&#10;&#10;        &lt;Box style={{ flexDirection: 'row', height: 160, alignItems: 'center' }}&gt;&#10;            &lt;Box style={{ width: 255, height: 160, background: '#EDF4FC', borderRadius: 8, padding: '16px 14px', flexDirection: 'column', gap: 6 }}&gt;&#10;                &lt;Text style={{ fontSize: 19, fontWeight: 'bold', color: '#276FBF' }}&gt;限定材料与切片&lt;/Text&gt;&#10;                &lt;Text style={{ fontSize: 14, color: '#546779', lineHeight: 1.55 }}&gt;按形态切分{'\n'}保留 chunk_id&lt;/Text&gt;&#10;            &lt;/Box&gt;&#10;            &lt;Box style={{ width: 44 }}&gt;&lt;Text style={{ fontSize: 24, color: '#276FBF' }}&gt;›&lt;/Text&gt;&lt;/Box&gt;&#10;&#10;            &lt;Box style={{ width: 255, height: 160, background: '#EDF4FC', borderRadius: 8, padding: '16px 14px', flexDirection: 'column', gap: 6 }}&gt;&#10;                &lt;Text style={{ fontSize: 19, fontWeight: 'bold', color: '#276FBF' }}&gt;检索排序&lt;/Text&gt;&#10;                &lt;Text style={{ fontSize: 14, color: '#546779', lineHeight: 1.55 }}&gt;问题与片段{'\n'}逐条算相似度&lt;/Text&gt;&#10;            &lt;/Box&gt;&#10;            &lt;Box style={{ width: 44 }}&gt;&lt;Text style={{ fontSize: 24, color: '#276FBF' }}&gt;›&lt;/Text&gt;&lt;/Box&gt;&#10;&#10;            &lt;Box style={{ width: 255, height: 160, background: '#EDF4FC', borderRadius: 8, padding: '16px 14px', flexDirection: 'column', gap: 6 }}&gt;&#10;                &lt;Text style={{ fontSize: 19, fontWeight: 'bold', color: '#276FBF' }}&gt;选择候选依据&lt;/Text&gt;&#10;                &lt;Text style={{ fontSize: 14, color: '#546779', lineHeight: 1.55 }}&gt;取排序前 k 个{'\n'}片段带来源&lt;/Text&gt;&#10;            &lt;/Box&gt;&#10;            &lt;Box style={{ width: 44 }}&gt;&lt;Text style={{ fontSize: 24, color: '#26816B' }}&gt;›&lt;/Text&gt;&lt;/Box&gt;&#10;&#10;            &lt;Box style={{ width: 255, height: 160, background: '#ECF7F2', borderRadius: 8, padding: '16px 14px', flexDirection: 'column', gap: 6 }}&gt;&#10;                &lt;Text style={{ fontSize: 19, fontWeight: 'bold', color: '#26816B' }}&gt;生成答案&lt;/Text&gt;&#10;                &lt;Text style={{ fontSize: 14, color: '#546779', lineHeight: 1.55 }}&gt;引用片段{'\n'}资料不足就说清&lt;/Text&gt;&#10;            &lt;/Box&gt;&#10;        &lt;/Box&gt;&#10;&#10;        &lt;Box style={{ flexDirection: 'row', height: 64 }}&gt;&#10;            &lt;Box style={{ width: 178 }} /&gt;&#10;            &lt;Box style={{ width: 497, height: 64, background: '#EDF4FC', borderRadius: 8, padding: '10px 16px', flexDirection: 'column', gap: 3, justifyContent: 'center' }}&gt;&#10;                &lt;Text style={{ fontSize: 15, fontWeight: 'bold', color: '#276FBF' }}&gt;语义查找&lt;/Text&gt;&#10;                &lt;Text style={{ fontSize: 13, color: '#546779', lineHeight: 1.5 }}&gt;「手工体验」与「手作室使用说明」相近，靠方向排上来&lt;/Text&gt;&#10;            &lt;/Box&gt;&#10;            &lt;Box style={{ flex: 1 }} /&gt;&#10;        &lt;/Box&gt;&#10;&#10;        &lt;Box style={{ flexDirection: 'row', height: 64 }}&gt;&#10;            &lt;Box style={{ width: 598 }} /&gt;&#10;            &lt;Box style={{ width: 513, height: 64, background: '#FFF4E6', borderRadius: 8, padding: '10px 16px', flexDirection: 'column', gap: 3, justifyContent: 'center' }}&gt;&#10;                &lt;Text style={{ fontSize: 15, fontWeight: 'bold', color: '#CB6B28' }}&gt;人工复核（核对对象，不在流水线上）&lt;/Text&gt;&#10;                &lt;Text style={{ fontSize: 13, color: '#546779', lineHeight: 1.5 }}&gt;日期、身份、完整性与每条断言是否被支持&lt;/Text&gt;&#10;            &lt;/Box&gt;&#10;            &lt;Box style={{ flex: 1 }} /&gt;&#10;        &lt;/Box&gt;&#10;&#10;        &lt;Box style={{ flexDirection: 'row', gap: 20, height: 96 }}&gt;&#10;            &lt;Box style={{ width: 566, height: 96, background: '#F4F7FA', borderRadius: 10, padding: '14px 18px', flexDirection: 'column', gap: 4, justifyContent: 'center' }}&gt;&#10;                &lt;Text style={{ fontSize: 16, fontWeight: 'bold', color: '#276FBF' }}&gt;实线箭头是片段进入答案的路线&lt;/Text&gt;&#10;                &lt;Text style={{ fontSize: 14, color: '#546779', lineHeight: 1.5 }}&gt;图上标了教学图，不是界面截图，也不是实测结果。&lt;/Text&gt;&#10;            &lt;/Box&gt;&#10;            &lt;Box style={{ width: 566, height: 96, background: '#ECF7F2', borderRadius: 10, padding: '14px 18px', flexDirection: 'column', gap: 4, justifyContent: 'center' }}&gt;&#10;                &lt;Text style={{ fontSize: 16, fontWeight: 'bold', color: '#26816B' }}&gt;相似片段进入上下文，不等于它够用&lt;/Text&gt;&#10;                &lt;Text style={{ fontSize: 14, color: '#546779', lineHeight: 1.5 }}&gt;读取授权由应用负责，检索前就要过滤掉无权访问的材料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9 Embedding 与 RAG：先找依据，再组织答案&lt;/Text&gt;&#10;        &lt;Text style={{ fontSize: 14, color: '#546779' }}&gt;08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2.9.2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切分材料时保留能解释证据的上下文</a:t>
            </a:r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从授权资料到可引用答案的通路</a:t>
            </a:r>
            <a:endParaRPr/>
          </a:p>
        </p:txBody>
      </p:sp>
      <p:sp>
        <p:nvSpPr>
          <p:cNvPr id="680" name=""/>
          <p:cNvSpPr/>
          <p:nvPr/>
        </p:nvSpPr>
        <p:spPr>
          <a:xfrm rot="0" flipH="0" flipV="0">
            <a:off x="2781300" y="1228725"/>
            <a:ext cx="3790950" cy="723900"/>
          </a:xfrm>
          <a:prstGeom prst="roundRect">
            <a:avLst>
              <a:gd name="adj" fmla="val 1052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2933700" y="1371600"/>
            <a:ext cx="3486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可选扩展：精确条件筛选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2933700" y="1581150"/>
            <a:ext cx="34861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room_id = craft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与活动日期；本例脚本未实现</a:t>
            </a:r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4629150" y="2047875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CB6B2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684" name=""/>
          <p:cNvSpPr/>
          <p:nvPr/>
        </p:nvSpPr>
        <p:spPr>
          <a:xfrm rot="0" flipH="0" flipV="0">
            <a:off x="609600" y="2314575"/>
            <a:ext cx="2428875" cy="1524000"/>
          </a:xfrm>
          <a:prstGeom prst="roundRect">
            <a:avLst>
              <a:gd name="adj" fmla="val 5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742950" y="2466975"/>
            <a:ext cx="21621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限定材料与切片</a:t>
            </a:r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742950" y="2743200"/>
            <a:ext cx="2162175" cy="5048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按形态切分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保留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chunk_id</a:t>
            </a:r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3038475" y="2943225"/>
            <a:ext cx="419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88" name=""/>
          <p:cNvSpPr/>
          <p:nvPr/>
        </p:nvSpPr>
        <p:spPr>
          <a:xfrm rot="0" flipH="0" flipV="0">
            <a:off x="3457575" y="2314575"/>
            <a:ext cx="2428875" cy="1524000"/>
          </a:xfrm>
          <a:prstGeom prst="roundRect">
            <a:avLst>
              <a:gd name="adj" fmla="val 5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3590925" y="2466975"/>
            <a:ext cx="21621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检索排序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3590925" y="2743200"/>
            <a:ext cx="2162175" cy="5048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问题与片段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逐条算相似度</a:t>
            </a:r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5886450" y="2943225"/>
            <a:ext cx="419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92" name=""/>
          <p:cNvSpPr/>
          <p:nvPr/>
        </p:nvSpPr>
        <p:spPr>
          <a:xfrm rot="0" flipH="0" flipV="0">
            <a:off x="6305550" y="2314575"/>
            <a:ext cx="2428875" cy="1524000"/>
          </a:xfrm>
          <a:prstGeom prst="roundRect">
            <a:avLst>
              <a:gd name="adj" fmla="val 5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6438900" y="2466975"/>
            <a:ext cx="21621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选择候选依据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6438900" y="2743200"/>
            <a:ext cx="2162175" cy="5048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取排序前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k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个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片段带来源</a:t>
            </a:r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8734425" y="2943225"/>
            <a:ext cx="419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96" name=""/>
          <p:cNvSpPr/>
          <p:nvPr/>
        </p:nvSpPr>
        <p:spPr>
          <a:xfrm rot="0" flipH="0" flipV="0">
            <a:off x="9153525" y="2314575"/>
            <a:ext cx="2428875" cy="1524000"/>
          </a:xfrm>
          <a:prstGeom prst="roundRect">
            <a:avLst>
              <a:gd name="adj" fmla="val 5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9286875" y="2466975"/>
            <a:ext cx="21621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生成答案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9286875" y="2743200"/>
            <a:ext cx="2162175" cy="5048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引用片段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资料不足就说清</a:t>
            </a:r>
            <a:endParaRPr/>
          </a:p>
        </p:txBody>
      </p:sp>
      <p:sp>
        <p:nvSpPr>
          <p:cNvPr id="699" name=""/>
          <p:cNvSpPr/>
          <p:nvPr/>
        </p:nvSpPr>
        <p:spPr>
          <a:xfrm rot="0" flipH="0" flipV="0">
            <a:off x="2305050" y="3914775"/>
            <a:ext cx="4733925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2457450" y="4010025"/>
            <a:ext cx="4429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语义查找</a:t>
            </a:r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2457450" y="4210050"/>
            <a:ext cx="44291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「手工体验」与「手作室使用说明」相近，靠方向排上来</a:t>
            </a:r>
            <a:endParaRPr/>
          </a:p>
        </p:txBody>
      </p:sp>
      <p:sp>
        <p:nvSpPr>
          <p:cNvPr id="702" name=""/>
          <p:cNvSpPr/>
          <p:nvPr/>
        </p:nvSpPr>
        <p:spPr>
          <a:xfrm rot="0" flipH="0" flipV="0">
            <a:off x="6305550" y="4600575"/>
            <a:ext cx="4886325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6457950" y="4695825"/>
            <a:ext cx="4581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人工复核（核对对象，不在流水线上）</a:t>
            </a:r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6457950" y="4895850"/>
            <a:ext cx="45815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日期、身份、完整性与每条断言是否被支持</a:t>
            </a:r>
            <a:endParaRPr/>
          </a:p>
        </p:txBody>
      </p:sp>
      <p:sp>
        <p:nvSpPr>
          <p:cNvPr id="705" name=""/>
          <p:cNvSpPr/>
          <p:nvPr/>
        </p:nvSpPr>
        <p:spPr>
          <a:xfrm rot="0" flipH="0" flipV="0">
            <a:off x="609600" y="5286375"/>
            <a:ext cx="539115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781050" y="5505450"/>
            <a:ext cx="504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实线箭头是片段进入答案的路线</a:t>
            </a:r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781050" y="5734050"/>
            <a:ext cx="5048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图上标了教学图，不是界面截图，也不是实测结果。</a:t>
            </a:r>
            <a:endParaRPr/>
          </a:p>
        </p:txBody>
      </p:sp>
      <p:sp>
        <p:nvSpPr>
          <p:cNvPr id="708" name=""/>
          <p:cNvSpPr/>
          <p:nvPr/>
        </p:nvSpPr>
        <p:spPr>
          <a:xfrm rot="0" flipH="0" flipV="0">
            <a:off x="6191250" y="5286375"/>
            <a:ext cx="539115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6362700" y="5505450"/>
            <a:ext cx="504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相似片段进入上下文，不等于它够用</a:t>
            </a:r>
            <a:endParaRPr/>
          </a:p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6362700" y="5734050"/>
            <a:ext cx="5048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读取授权由应用负责，检索前就要过滤掉无权访问的材料。</a:t>
            </a:r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2.9 Embedding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RAG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：先找依据，再组织答案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25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713" name="" descr="&lt;Slide notes={`这段对照表看着简单，但它决定了后面检索的成败。&#10;&#10;Markdown 材料按标题和段落切，主题和来源留在同一片里，这样读到片段就知道它在讲哪件事。表格要按一行加字段名切，如果只留数值，看到「12」你不知道是 12 人还是 12 平方米。&#10;&#10;预约记录按一条预约切，房间、日期、起止时间三样必须在一起。只留一个日期，复核的时候没法判断它说的是哪间房的哪个时段。&#10;&#10;共同的要求只有一句：每个片段至少应能追溯到原文件。真实资料库往往还要记版本或更新时间、有效范围和访问权限，这些是后面判断依据是否还成立的基础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9.2　切分材料时保留能解释证据的上下文&lt;/Text&gt;&#10;            &lt;Text style={{ fontSize: 34, fontWeight: 'bold', color: '#20344B' }}&gt;切分单位与不能丢的字段&lt;/Text&gt;&#10;        &lt;/Box&gt;&#10;    &lt;/Box&gt;&#10;&#10;    &lt;Box style={{ height: 540, flexDirection: 'column', justifyContent: 'center', gap: 20 }}&gt;&#10;&#10;        &lt;Box style={{ flexDirection: 'column', gap: 10 }}&gt;&#10;&#10;            &lt;Box style={{ flexDirection: 'row', alignItems: 'center', gap: 18, height: 24, paddingLeft: 22 }}&gt;&#10;                &lt;Text style={{ width: 200, fontSize: 14, color: '#546779' }}&gt;资料&lt;/Text&gt;&#10;                &lt;Text style={{ width: 380, fontSize: 14, color: '#546779' }}&gt;合理切分单位&lt;/Text&gt;&#10;                &lt;Text style={{ flex: 1, fontSize: 14, color: '#546779' }}&gt;不应丢失&lt;/Text&gt;&#10;            &lt;/Box&gt;&#10;&#10;            &lt;Box style={{ flexDirection: 'row', alignItems: 'center', gap: 18, height: 100, background: '#F4F7FA', borderRadius: 8, padding: '14px 20px' }}&gt;&#10;                &lt;Box style={{ width: 4, height: 64, background: '#276FBF' }} /&gt;&#10;                &lt;Text style={{ width: 200, fontSize: 17, fontWeight: 'bold', color: '#20344B' }}&gt;Markdown&lt;/Text&gt;&#10;                &lt;Text style={{ width: 380, fontSize: 15, color: '#20344B', lineHeight: 1.5 }}&gt;标题与段落&lt;/Text&gt;&#10;                &lt;Box style={{ width: 1, height: 56, background: '#B5C7D8' }} /&gt;&#10;                &lt;Text style={{ flex: 1, fontSize: 15, color: '#546779', lineHeight: 1.5 }}&gt;主题与来源&lt;/Text&gt;&#10;            &lt;/Box&gt;&#10;&#10;            &lt;Box style={{ flexDirection: 'row', alignItems: 'center', gap: 18, height: 100, background: '#F4F7FA', borderRadius: 8, padding: '14px 20px' }}&gt;&#10;                &lt;Box style={{ width: 4, height: 64, background: '#276FBF' }} /&gt;&#10;                &lt;Text style={{ width: 200, fontSize: 17, fontWeight: 'bold', color: '#20344B' }}&gt;表格&lt;/Text&gt;&#10;                &lt;Text style={{ width: 380, fontSize: 15, color: '#20344B', lineHeight: 1.5 }}&gt;一行及字段名&lt;/Text&gt;&#10;                &lt;Box style={{ width: 1, height: 56, background: '#B5C7D8' }} /&gt;&#10;                &lt;Text style={{ flex: 1, fontSize: 15, color: '#546779', lineHeight: 1.5 }}&gt;房间身份与容量单位&lt;/Text&gt;&#10;            &lt;/Box&gt;&#10;&#10;            &lt;Box style={{ flexDirection: 'row', alignItems: 'center', gap: 18, height: 100, background: '#F4F7FA', borderRadius: 8, padding: '14px 20px' }}&gt;&#10;                &lt;Box style={{ width: 4, height: 64, background: '#276FBF' }} /&gt;&#10;                &lt;Text style={{ width: 200, fontSize: 17, fontWeight: 'bold', color: '#20344B' }}&gt;预约记录&lt;/Text&gt;&#10;                &lt;Text style={{ width: 380, fontSize: 15, color: '#20344B', lineHeight: 1.5 }}&gt;一条预约&lt;/Text&gt;&#10;                &lt;Box style={{ width: 1, height: 56, background: '#B5C7D8' }} /&gt;&#10;                &lt;Text style={{ flex: 1, fontSize: 15, color: '#546779', lineHeight: 1.5 }}&gt;房间、日期、起止时间&lt;/Text&gt;&#10;            &lt;/Box&gt;&#10;&#10;        &lt;/Box&gt;&#10;&#10;        &lt;Box style={{ flexDirection: 'row', alignItems: 'center', gap: 18, height: 88, background: '#EDF4FC', borderRadius: 10, padding: '14px 20px' }}&gt;&#10;            &lt;Box style={{ width: 4, height: 54, background: '#276FBF' }} /&gt;&#10;            &lt;Box style={{ flex: 1, flexDirection: 'column', gap: 4 }}&gt;&#10;                &lt;Text style={{ fontSize: 16, fontWeight: 'bold', color: '#276FBF' }}&gt;每个片段至少应能追溯到原文件&lt;/Text&gt;&#10;                &lt;Text style={{ fontSize: 14, color: '#546779', lineHeight: 1.5 }}&gt;真实资料库通常还需要版本或更新时间、有效范围和访问权限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9 Embedding 与 RAG：先找依据，再组织答案&lt;/Text&gt;&#10;        &lt;Text style={{ fontSize: 14, color: '#546779' }}&gt;09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1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2.9.2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切分材料时保留能解释证据的上下文</a:t>
            </a:r>
            <a:endParaRPr/>
          </a:p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切分单位与不能丢的字段</a:t>
            </a:r>
            <a:endParaRPr/>
          </a:p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819150" y="1552575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资料</a:t>
            </a:r>
            <a:endParaRPr/>
          </a:p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2895600" y="1552575"/>
            <a:ext cx="3619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合理切分单位</a:t>
            </a:r>
            <a:endParaRPr/>
          </a:p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6686550" y="1552575"/>
            <a:ext cx="4895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不应丢失</a:t>
            </a:r>
            <a:endParaRPr/>
          </a:p>
        </p:txBody>
      </p:sp>
      <p:sp>
        <p:nvSpPr>
          <p:cNvPr id="721" name=""/>
          <p:cNvSpPr/>
          <p:nvPr/>
        </p:nvSpPr>
        <p:spPr>
          <a:xfrm rot="0" flipH="0" flipV="0">
            <a:off x="609600" y="1838325"/>
            <a:ext cx="10972800" cy="9525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22" name=""/>
          <p:cNvSpPr/>
          <p:nvPr/>
        </p:nvSpPr>
        <p:spPr>
          <a:xfrm rot="0" flipH="0" flipV="0">
            <a:off x="800100" y="2009775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1009650" y="2219325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>Markdown</a:t>
            </a:r>
            <a:endParaRPr/>
          </a:p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3086100" y="2190750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标题与段落</a:t>
            </a:r>
            <a:endParaRPr/>
          </a:p>
        </p:txBody>
      </p:sp>
      <p:sp>
        <p:nvSpPr>
          <p:cNvPr id="725" name=""/>
          <p:cNvSpPr/>
          <p:nvPr/>
        </p:nvSpPr>
        <p:spPr>
          <a:xfrm rot="0" flipH="0" flipV="0">
            <a:off x="6877050" y="2047875"/>
            <a:ext cx="9525" cy="5334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7058025" y="2190750"/>
            <a:ext cx="43338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主题与来源</a:t>
            </a:r>
            <a:endParaRPr/>
          </a:p>
        </p:txBody>
      </p:sp>
      <p:sp>
        <p:nvSpPr>
          <p:cNvPr id="727" name=""/>
          <p:cNvSpPr/>
          <p:nvPr/>
        </p:nvSpPr>
        <p:spPr>
          <a:xfrm rot="0" flipH="0" flipV="0">
            <a:off x="609600" y="2886075"/>
            <a:ext cx="10972800" cy="9525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28" name=""/>
          <p:cNvSpPr/>
          <p:nvPr/>
        </p:nvSpPr>
        <p:spPr>
          <a:xfrm rot="0" flipH="0" flipV="0">
            <a:off x="800100" y="3057525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1009650" y="3267075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表格</a:t>
            </a:r>
            <a:endParaRPr/>
          </a:p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3086100" y="3238500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一行及字段名</a:t>
            </a:r>
            <a:endParaRPr/>
          </a:p>
        </p:txBody>
      </p:sp>
      <p:sp>
        <p:nvSpPr>
          <p:cNvPr id="731" name=""/>
          <p:cNvSpPr/>
          <p:nvPr/>
        </p:nvSpPr>
        <p:spPr>
          <a:xfrm rot="0" flipH="0" flipV="0">
            <a:off x="6877050" y="3095625"/>
            <a:ext cx="9525" cy="5334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7058025" y="3238500"/>
            <a:ext cx="43338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房间身份与容量单位</a:t>
            </a:r>
            <a:endParaRPr/>
          </a:p>
        </p:txBody>
      </p:sp>
      <p:sp>
        <p:nvSpPr>
          <p:cNvPr id="733" name=""/>
          <p:cNvSpPr/>
          <p:nvPr/>
        </p:nvSpPr>
        <p:spPr>
          <a:xfrm rot="0" flipH="0" flipV="0">
            <a:off x="609600" y="3933825"/>
            <a:ext cx="10972800" cy="9525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34" name=""/>
          <p:cNvSpPr/>
          <p:nvPr/>
        </p:nvSpPr>
        <p:spPr>
          <a:xfrm rot="0" flipH="0" flipV="0">
            <a:off x="800100" y="4105275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1009650" y="4314825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预约记录</a:t>
            </a:r>
            <a:endParaRPr/>
          </a:p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3086100" y="4286250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一条预约</a:t>
            </a:r>
            <a:endParaRPr/>
          </a:p>
        </p:txBody>
      </p:sp>
      <p:sp>
        <p:nvSpPr>
          <p:cNvPr id="737" name=""/>
          <p:cNvSpPr/>
          <p:nvPr/>
        </p:nvSpPr>
        <p:spPr>
          <a:xfrm rot="0" flipH="0" flipV="0">
            <a:off x="6877050" y="4143375"/>
            <a:ext cx="9525" cy="5334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7058025" y="4286250"/>
            <a:ext cx="43338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房间、日期、起止时间</a:t>
            </a:r>
            <a:endParaRPr/>
          </a:p>
        </p:txBody>
      </p:sp>
      <p:sp>
        <p:nvSpPr>
          <p:cNvPr id="739" name=""/>
          <p:cNvSpPr/>
          <p:nvPr/>
        </p:nvSpPr>
        <p:spPr>
          <a:xfrm rot="0" flipH="0" flipV="0">
            <a:off x="609600" y="5076825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40" name=""/>
          <p:cNvSpPr/>
          <p:nvPr/>
        </p:nvSpPr>
        <p:spPr>
          <a:xfrm rot="0" flipH="0" flipV="0">
            <a:off x="800100" y="5238750"/>
            <a:ext cx="38100" cy="5143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1009650" y="5257800"/>
            <a:ext cx="1038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每个片段至少应能追溯到原文件</a:t>
            </a:r>
            <a:endParaRPr/>
          </a:p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1009650" y="5486400"/>
            <a:ext cx="10382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真实资料库通常还需要版本或更新时间、有效范围和访问权限。</a:t>
            </a:r>
            <a:endParaRPr/>
          </a:p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2.9 Embedding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RAG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：先找依据，再组织答案</a:t>
            </a:r>
            <a:endParaRPr/>
          </a:p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31" name="" descr="&lt;Slide notes={`片段切好之后，还得给它一个编号，不然检索结果里一堆文字你没法说清是哪来的。&#10;&#10;配套脚本用的是「文件名加段号」这种形式，编号里不直接打中文，用两位数字，比如规则文件里的第三段。写检索清单的时候，这个编号就是定位用的把手。&#10;&#10;不过要说清一个边界：这种编号不是跨所有文件都永久稳定的业务身份。你重新切一次、换一种切法，编号就可能变。所以重建索引的时候，要连同这次使用的输入副本和检索清单一起保存下来，不然过几天你没法复现当时的结果。&#10;&#10;最后一条最容易被忽略：权限要在检索之前过滤。不能先把私有内容送进模型，再在提示里要求它别说出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9.2　切分材料时保留能解释证据的上下文&lt;/Text&gt;&#10;            &lt;Text style={{ fontSize: 34, fontWeight: 'bold', color: '#20344B' }}&gt;片段要能追回原文件&lt;/Text&gt;&#10;        &lt;/Box&gt;&#10;    &lt;/Box&gt;&#10;&#10;    &lt;Box style={{ height: 540, flexDirection: 'row', alignItems: 'center', gap: 48 }}&gt;&#10;&#10;        &lt;Box style={{ width: 440, flexDirection: 'column', gap: 12 }}&gt;&#10;&#10;            &lt;Text style={{ fontSize: 15, color: '#546779' }}&gt;片段编号的形态&lt;/Text&gt;&#10;&#10;            &lt;Box style={{ width: 440, height: 96, background: '#EDF4FC', borderRadius: 8, justifyContent: 'center', alignItems: 'center' }}&gt;&#10;                &lt;Text style={{ fontSize: 24, fontWeight: 'bold', color: '#276FBF' }}&gt;文件名 # 段号&lt;/Text&gt;&#10;            &lt;/Box&gt;&#10;&#10;            &lt;Box style={{ width: 440, height: 132, background: '#F7F3E8', borderRadius: 8, padding: '14px 18px', flexDirection: 'column', gap: 5, justifyContent: 'center' }}&gt;&#10;                &lt;Text style={{ fontSize: 15, fontWeight: 'bold', color: '#20344B' }}&gt;脚本按什么切&lt;/Text&gt;&#10;                &lt;Text style={{ fontSize: 14, color: '#546779', lineHeight: 1.55 }}&gt;Markdown 二级标题、CSV 行、JSON 中的预约记录，各切一段并编号。&lt;/Text&gt;&#10;            &lt;/Box&gt;&#10;&#10;            &lt;Box style={{ width: 440, height: 116, background: '#FFF4E6', borderRadius: 8, padding: '14px 18px', flexDirection: 'column', gap: 5, justifyContent: 'center' }}&gt;&#10;                &lt;Text style={{ fontSize: 15, fontWeight: 'bold', color: '#CB6B28' }}&gt;不是永久稳定的业务身份&lt;/Text&gt;&#10;                &lt;Text style={{ fontSize: 14, color: '#546779', lineHeight: 1.55 }}&gt;它便于定位本次检索结果，但不能当成跨所有文件的唯一标识。&lt;/Text&gt;&#10;            &lt;/Box&gt;&#10;&#10;        &lt;/Box&gt;&#10;&#10;        &lt;Box style={{ width: 664, flexDirection: 'column', gap: 16 }}&gt;&#10;&#10;            &lt;Box style={{ flexDirection: 'row', gap: 16, height: 132, background: '#F4F7FA', borderRadius: 10, padding: '16px 20px' }}&gt;&#10;                &lt;Box style={{ width: 4, height: 88, background: '#276FBF' }} /&gt;&#10;                &lt;Box style={{ flex: 1, flexDirection: 'column', gap: 6 }}&gt;&#10;                    &lt;Text style={{ fontSize: 18, fontWeight: 'bold', color: '#276FBF' }}&gt;追溯：带上来源，再谈依据&lt;/Text&gt;&#10;                    &lt;Text style={{ fontSize: 14, color: '#546779', lineHeight: 1.6 }}&gt;检索清单里保留编号，复核时才能回到那一段原文；重建索引后要一起保存输入副本与清单。&lt;/Text&gt;&#10;                &lt;/Box&gt;&#10;            &lt;/Box&gt;&#10;&#10;            &lt;Box style={{ flexDirection: 'row', gap: 16, height: 132, background: '#FFF4E6', borderRadius: 10, padding: '16px 20px' }}&gt;&#10;                &lt;Box style={{ width: 4, height: 88, background: '#CB6B28' }} /&gt;&#10;                &lt;Box style={{ flex: 1, flexDirection: 'column', gap: 6 }}&gt;&#10;                    &lt;Text style={{ fontSize: 18, fontWeight: 'bold', color: '#CB6B28' }}&gt;权限：过滤必须在检索之前&lt;/Text&gt;&#10;                    &lt;Text style={{ fontSize: 14, color: '#546779', lineHeight: 1.6 }}&gt;不能先把私有内容送给模型，再靠提示要求它不要说出来。授权由应用负责，不交给提示词。&lt;/Text&gt;&#10;                &lt;/Box&gt;&#10;            &lt;/Box&gt;&#10;&#10;            &lt;Box style={{ flexDirection: 'row', gap: 16, height: 132, background: '#ECF7F2', borderRadius: 10, padding: '16px 20px' }}&gt;&#10;                &lt;Box style={{ width: 4, height: 88, background: '#26816B' }} /&gt;&#10;                &lt;Box style={{ flex: 1, flexDirection: 'column', gap: 6 }}&gt;&#10;                    &lt;Text style={{ fontSize: 18, fontWeight: 'bold', color: '#26816B' }}&gt;版本：记下这份依据什么时候有效&lt;/Text&gt;&#10;                    &lt;Text style={{ fontSize: 14, color: '#546779', lineHeight: 1.6 }}&gt;版本或更新时间、有效范围和访问权限，三者一起记，答案才不会引用过期的事实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9 Embedding 与 RAG：先找依据，再组织答案&lt;/Text&gt;&#10;        &lt;Text style={{ fontSize: 14, color: '#546779' }}&gt;10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2.9.2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切分材料时保留能解释证据的上下文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片段要能追回原文件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419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片段编号的形态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609600" y="2105025"/>
            <a:ext cx="4191000" cy="9144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990725" y="2428875"/>
            <a:ext cx="1428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276FBF"/>
                </a:solidFill>
                <a:latin typeface="Microsoft YaHei"/>
                <a:ea typeface="Microsoft YaHei"/>
              </a:rPr>
              <a:t>文件名</a:t>
            </a:r>
            <a:r>
              <a:rPr lang="en-US" sz="18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# </a:t>
            </a:r>
            <a:r>
              <a:rPr lang="zh-CN" sz="1800" b="1">
                <a:solidFill>
                  <a:srgbClr val="276FBF"/>
                </a:solidFill>
                <a:latin typeface="Microsoft YaHei"/>
                <a:ea typeface="Microsoft YaHei"/>
              </a:rPr>
              <a:t>段号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609600" y="3133725"/>
            <a:ext cx="4191000" cy="1257300"/>
          </a:xfrm>
          <a:prstGeom prst="roundRect">
            <a:avLst>
              <a:gd name="adj" fmla="val 606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81050" y="3400425"/>
            <a:ext cx="3848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脚本按什么切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81050" y="3619500"/>
            <a:ext cx="38481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Markdown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二级标题、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CSV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行、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JSON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中的预约记录，各切一段并编号。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09600" y="4505325"/>
            <a:ext cx="4191000" cy="1104900"/>
          </a:xfrm>
          <a:prstGeom prst="roundRect">
            <a:avLst>
              <a:gd name="adj" fmla="val 689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781050" y="4819650"/>
            <a:ext cx="3848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不是永久稳定的业务身份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81050" y="5038725"/>
            <a:ext cx="38481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它便于定位本次检索结果，但不能当成跨所有文件的唯一标识。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5257800" y="1676400"/>
            <a:ext cx="6324600" cy="1257300"/>
          </a:xfrm>
          <a:prstGeom prst="roundRect">
            <a:avLst>
              <a:gd name="adj" fmla="val 757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6" name=""/>
          <p:cNvSpPr/>
          <p:nvPr/>
        </p:nvSpPr>
        <p:spPr>
          <a:xfrm rot="0" flipH="0" flipV="0">
            <a:off x="5448300" y="1828800"/>
            <a:ext cx="38100" cy="838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5638800" y="1828800"/>
            <a:ext cx="5753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追溯：带上来源，再谈依据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5638800" y="2095500"/>
            <a:ext cx="5753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检索清单里保留编号，复核时才能回到那一段原文；重建索引后要一起保存输入副本与清单。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5257800" y="3086100"/>
            <a:ext cx="6324600" cy="1257300"/>
          </a:xfrm>
          <a:prstGeom prst="roundRect">
            <a:avLst>
              <a:gd name="adj" fmla="val 757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5448300" y="3238500"/>
            <a:ext cx="38100" cy="838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5638800" y="3238500"/>
            <a:ext cx="5753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权限：过滤必须在检索之前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5638800" y="3505200"/>
            <a:ext cx="5753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不能先把私有内容送给模型，再靠提示要求它不要说出来。授权由应用负责，不交给提示词。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5257800" y="4495800"/>
            <a:ext cx="6324600" cy="1257300"/>
          </a:xfrm>
          <a:prstGeom prst="roundRect">
            <a:avLst>
              <a:gd name="adj" fmla="val 757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4" name=""/>
          <p:cNvSpPr/>
          <p:nvPr/>
        </p:nvSpPr>
        <p:spPr>
          <a:xfrm rot="0" flipH="0" flipV="0">
            <a:off x="5448300" y="4648200"/>
            <a:ext cx="38100" cy="8382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5638800" y="4648200"/>
            <a:ext cx="5753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版本：记下这份依据什么时候有效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5638800" y="4914900"/>
            <a:ext cx="5753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版本或更新时间、有效范围和访问权限，三者一起记，答案才不会引用过期的事实。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2.9 Embedding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RAG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：先找依据，再组织答案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9" name="" descr="&lt;Slide notes={`接下来动手做一个检索器。它故意做得很小，为的是让你把每一步都看明白。&#10;&#10;先用环境变量指定一个向量模型，官方文档里的 text-embedding-3-small 就是常用的一个。文本回答仍然用之前配好的那个模型，两个变量各有用途，不要混。&#10;&#10;然后是读取材料、切分片段、生成向量、计算相似度、取前 k 个交给模型回答。脚本会把检索详情写进一个 JSON 清单，把回答写成一份 Markdown。这个清单比答案更重要，因为它让你能回看：这次到底找到了哪几段，排序是什么样的。&#10;&#10;小型练习用内存里的列表就够了，不必先部署一套向量数据库，也不要把工程复杂度提前堆上来。`} style={{ width: 1280, height: 720, background: '#FFFFFF', flexDirection: 'column', padding: '20px 64px' }}&gt;&#10;&#10;    &lt;Box style={{ height: 100 }} /&gt;&#10;&#10;    &lt;Box style={{ height: 540, flexDirection: 'column', justifyContent: 'center', gap: 18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3&lt;/Text&gt;&#10;            &lt;/Box&gt;&#10;            &lt;Text style={{ fontSize: 16, color: '#546779' }}&gt;2.9.3&lt;/Text&gt;&#10;        &lt;/Box&gt;&#10;&#10;        &lt;Text style={{ fontSize: 56, fontWeight: 'bold', color: '#20344B', lineHeight: 1.15 }}&gt;做一个看得见每一步的小型检索器&lt;/Text&gt;&#10;&#10;        &lt;Box style={{ width: 640, height: 4, background: '#276FBF' }} /&gt;&#10;&#10;        &lt;Text style={{ fontSize: 19, color: '#546779', lineHeight: 1.7 }}&gt;它的价值不在代码有多短，而在于每一次检索都留下可以回头检查的记录。&lt;/Text&gt;&#10;&#10;        &lt;Box style={{ marginTop: 6, flexDirection: 'column', gap: 8 }}&gt;&#10;            &lt;Box style={{ flexDirection: 'row', alignItems: 'center', gap: 16, height: 46, background: '#F4F7FA', borderRadius: 6, padding: '8px 16px' }}&gt;&#10;                &lt;Box style={{ width: 3, height: 22, background: '#276FBF' }} /&gt;&#10;                &lt;Text style={{ width: 88, fontSize: 13, color: '#546779' }}&gt;第一步&lt;/Text&gt;&#10;                &lt;Text style={{ width: 190, fontSize: 16, fontWeight: 'bold', color: '#276FBF' }}&gt;读取材料&lt;/Text&gt;&#10;                &lt;Text style={{ flex: 1, fontSize: 14, color: '#546779' }}&gt;从教学材料目录读入原始文件&lt;/Text&gt;&#10;            &lt;/Box&gt;&#10;            &lt;Box style={{ flexDirection: 'row', alignItems: 'center', gap: 16, height: 46, background: '#F4F7FA', borderRadius: 6, padding: '8px 16px' }}&gt;&#10;                &lt;Box style={{ width: 3, height: 22, background: '#276FBF' }} /&gt;&#10;                &lt;Text style={{ width: 88, fontSize: 13, color: '#546779' }}&gt;第二步&lt;/Text&gt;&#10;                &lt;Text style={{ width: 190, fontSize: 16, fontWeight: 'bold', color: '#276FBF' }}&gt;切分片段&lt;/Text&gt;&#10;                &lt;Text style={{ flex: 1, fontSize: 14, color: '#546779' }}&gt;按 Markdown 标题、CSV 行与预约记录切段&lt;/Text&gt;&#10;            &lt;/Box&gt;&#10;            &lt;Box style={{ flexDirection: 'row', alignItems: 'center', gap: 16, height: 46, background: '#F4F7FA', borderRadius: 6, padding: '8px 16px' }}&gt;&#10;                &lt;Box style={{ width: 3, height: 22, background: '#276FBF' }} /&gt;&#10;                &lt;Text style={{ width: 88, fontSize: 13, color: '#546779' }}&gt;第三步&lt;/Text&gt;&#10;                &lt;Text style={{ width: 190, fontSize: 16, fontWeight: 'bold', color: '#276FBF' }}&gt;生成向量&lt;/Text&gt;&#10;                &lt;Text style={{ flex: 1, fontSize: 14, color: '#546779' }}&gt;问题与全部片段一次提交给向量模型&lt;/Text&gt;&#10;            &lt;/Box&gt;&#10;            &lt;Box style={{ flexDirection: 'row', alignItems: 'center', gap: 16, height: 46, background: '#F4F7FA', borderRadius: 6, padding: '8px 16px' }}&gt;&#10;                &lt;Box style={{ width: 3, height: 22, background: '#276FBF' }} /&gt;&#10;                &lt;Text style={{ width: 88, fontSize: 13, color: '#546779' }}&gt;第四步&lt;/Text&gt;&#10;                &lt;Text style={{ width: 190, fontSize: 16, fontWeight: 'bold', color: '#276FBF' }}&gt;相似度排序&lt;/Text&gt;&#10;                &lt;Text style={{ flex: 1, fontSize: 14, color: '#546779' }}&gt;逐条算余弦相似度，从高到低排开&lt;/Text&gt;&#10;            &lt;/Box&gt;&#10;            &lt;Box style={{ flexDirection: 'row', alignItems: 'center', gap: 16, height: 46, background: '#ECF7F2', borderRadius: 6, padding: '8px 16px' }}&gt;&#10;                &lt;Box style={{ width: 3, height: 22, background: '#26816B' }} /&gt;&#10;                &lt;Text style={{ width: 88, fontSize: 13, color: '#546779' }}&gt;第五步&lt;/Text&gt;&#10;                &lt;Text style={{ width: 190, fontSize: 16, fontWeight: 'bold', color: '#26816B' }}&gt;取前 k 并交给模型&lt;/Text&gt;&#10;                &lt;Text style={{ flex: 1, fontSize: 14, color: '#546779' }}&gt;选中的片段拼进请求，回答只依据这些证据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9 Embedding 与 RAG：先找依据，再组织答案&lt;/Text&gt;&#10;        &lt;Text style={{ fontSize: 14, color: '#546779' }}&gt;11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" name=""/>
          <p:cNvSpPr/>
          <p:nvPr/>
        </p:nvSpPr>
        <p:spPr>
          <a:xfrm rot="0" flipH="0" flipV="0">
            <a:off x="609600" y="12573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714375" y="136207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295400" y="1428750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2.9.3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09600" y="19621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做一个看得见每一步的小型检索器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609600" y="287655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09600" y="30861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它的价值不在代码有多短，而在于每一次检索都留下可以回头检查的记录。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609600" y="3686175"/>
            <a:ext cx="10972800" cy="438150"/>
          </a:xfrm>
          <a:prstGeom prst="roundRect">
            <a:avLst>
              <a:gd name="adj" fmla="val 130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8" name=""/>
          <p:cNvSpPr/>
          <p:nvPr/>
        </p:nvSpPr>
        <p:spPr>
          <a:xfrm rot="0" flipH="0" flipV="0">
            <a:off x="762000" y="3800475"/>
            <a:ext cx="28575" cy="209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942975" y="3829050"/>
            <a:ext cx="838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第一步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933575" y="381000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读取材料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3895725" y="3829050"/>
            <a:ext cx="7534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从教学材料目录读入原始文件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609600" y="4200525"/>
            <a:ext cx="10972800" cy="438150"/>
          </a:xfrm>
          <a:prstGeom prst="roundRect">
            <a:avLst>
              <a:gd name="adj" fmla="val 130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762000" y="4314825"/>
            <a:ext cx="28575" cy="209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942975" y="4343400"/>
            <a:ext cx="838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第二步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933575" y="432435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切分片段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3895725" y="4343400"/>
            <a:ext cx="7534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按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Markdown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标题、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CSV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行与预约记录切段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609600" y="4714875"/>
            <a:ext cx="10972800" cy="438150"/>
          </a:xfrm>
          <a:prstGeom prst="roundRect">
            <a:avLst>
              <a:gd name="adj" fmla="val 130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8" name=""/>
          <p:cNvSpPr/>
          <p:nvPr/>
        </p:nvSpPr>
        <p:spPr>
          <a:xfrm rot="0" flipH="0" flipV="0">
            <a:off x="762000" y="4829175"/>
            <a:ext cx="28575" cy="209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942975" y="4857750"/>
            <a:ext cx="838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第三步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933575" y="483870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生成向量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3895725" y="4857750"/>
            <a:ext cx="7534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问题与全部片段一次提交给向量模型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609600" y="5229225"/>
            <a:ext cx="10972800" cy="438150"/>
          </a:xfrm>
          <a:prstGeom prst="roundRect">
            <a:avLst>
              <a:gd name="adj" fmla="val 130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762000" y="5343525"/>
            <a:ext cx="28575" cy="209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942975" y="5372100"/>
            <a:ext cx="838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第四步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933575" y="535305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相似度排序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3895725" y="5372100"/>
            <a:ext cx="7534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逐条算余弦相似度，从高到低排开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609600" y="5743575"/>
            <a:ext cx="10972800" cy="438150"/>
          </a:xfrm>
          <a:prstGeom prst="roundRect">
            <a:avLst>
              <a:gd name="adj" fmla="val 1304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8" name=""/>
          <p:cNvSpPr/>
          <p:nvPr/>
        </p:nvSpPr>
        <p:spPr>
          <a:xfrm rot="0" flipH="0" flipV="0">
            <a:off x="762000" y="5857875"/>
            <a:ext cx="28575" cy="2095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942975" y="5886450"/>
            <a:ext cx="838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第五步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933575" y="586740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取前</a:t>
            </a: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k 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并交给模型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3895725" y="5886450"/>
            <a:ext cx="7534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选中的片段拼进请求，回答只依据这些证据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2.9 Embedding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RAG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：先找依据，再组织答案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25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94" name="" descr="&lt;Slide notes={`检索器要跑完五个环节：读材料、切片段、生成向量、算相似度、把前 k 段交给模型。&#10;&#10;切分那一步要保留编号和来源，因为后面清单里要靠这个编号说清「这次引的是哪一段」。生成向量的时候，问题和片段放在同一个请求里一次提交，省往返也更整齐。&#10;&#10;排序之后选择前 k 个，这一段是可调的。教学里默认取 3，它只是一个练习值，未必能把需求、容量、开放时间和预约都找齐。&#10;&#10;最后有两处输出：一份检索清单，一份回答文件。检查的顺序是先读清单，再读答案。很多人反过来做，直接从流畅的文字里判断对不对，很容易被它说服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9.3　做一个看得见每一步的小型检索器&lt;/Text&gt;&#10;            &lt;Text style={{ fontSize: 34, fontWeight: 'bold', color: '#20344B' }}&gt;一次检索经过的五个环节&lt;/Text&gt;&#10;        &lt;/Box&gt;&#10;    &lt;/Box&gt;&#10;&#10;    &lt;Box style={{ height: 540, flexDirection: 'column', justifyContent: 'center', gap: 20 }}&gt;&#10;&#10;        &lt;Box style={{ flexDirection: 'row', alignItems: 'center', gap: 20, height: 80, background: '#EDF4FC', borderRadius: 10, padding: '14px 20px' }}&gt;&#10;            &lt;Box style={{ width: 4, height: 50, background: '#276FBF' }} /&gt;&#10;            &lt;Box style={{ width: 620, flexDirection: 'column', gap: 4 }}&gt;&#10;                &lt;Text style={{ fontSize: 16, fontWeight: 'bold', color: '#276FBF' }}&gt;先设置一个能访问向量的模型&lt;/Text&gt;&#10;                &lt;Text style={{ fontSize: 14, color: '#546779' }}&gt;教学里用 text-embedding-3-small，回答仍走文本模型。&lt;/Text&gt;&#10;            &lt;/Box&gt;&#10;            &lt;Box style={{ width: 1, height: 50, background: '#B5C7D8' }} /&gt;&#10;            &lt;Box style={{ flex: 1, flexDirection: 'column', gap: 4 }}&gt;&#10;                &lt;Text style={{ fontSize: 16, fontWeight: 'bold', color: '#276FBF' }}&gt;命令行传入问题与 top-k&lt;/Text&gt;&#10;                &lt;Text style={{ fontSize: 14, color: '#546779' }}&gt;例如问手作体验什么时候可以举办，取前 3 段。&lt;/Text&gt;&#10;            &lt;/Box&gt;&#10;        &lt;/Box&gt;&#10;&#10;        &lt;Box style={{ flexDirection: 'row', height: 200, alignItems: 'center' }}&gt;&#10;            &lt;Box style={{ width: 195, height: 200, background: '#EDF4FC', borderRadius: 8, padding: '16px 14px', flexDirection: 'column', gap: 6 }}&gt;&#10;                &lt;Text style={{ fontSize: 17, fontWeight: 'bold', color: '#276FBF' }}&gt;读取材料&lt;/Text&gt;&#10;                &lt;Text style={{ fontSize: 13, color: '#546779', lineHeight: 1.55 }}&gt;读入本章的{'\n'}教学材料原文&lt;/Text&gt;&#10;            &lt;/Box&gt;&#10;            &lt;Box style={{ width: 44 }}&gt;&lt;Text style={{ fontSize: 24, color: '#276FBF' }}&gt;›&lt;/Text&gt;&lt;/Box&gt;&#10;&#10;            &lt;Box style={{ width: 195, height: 200, background: '#EDF4FC', borderRadius: 8, padding: '16px 14px', flexDirection: 'column', gap: 6 }}&gt;&#10;                &lt;Text style={{ fontSize: 17, fontWeight: 'bold', color: '#276FBF' }}&gt;切分片段&lt;/Text&gt;&#10;                &lt;Text style={{ fontSize: 13, color: '#546779', lineHeight: 1.55 }}&gt;chunks 列表{'\n'}带编号与来源&lt;/Text&gt;&#10;            &lt;/Box&gt;&#10;            &lt;Box style={{ width: 44 }}&gt;&lt;Text style={{ fontSize: 24, color: '#276FBF' }}&gt;›&lt;/Text&gt;&lt;/Box&gt;&#10;&#10;            &lt;Box style={{ width: 195, height: 200, background: '#EDF4FC', borderRadius: 8, padding: '16px 14px', flexDirection: 'column', gap: 6 }}&gt;&#10;                &lt;Text style={{ fontSize: 17, fontWeight: 'bold', color: '#276FBF' }}&gt;生成向量&lt;/Text&gt;&#10;                &lt;Text style={{ fontSize: 13, color: '#546779', lineHeight: 1.55 }}&gt;问题与片段{'\n'}一次提交请求&lt;/Text&gt;&#10;            &lt;/Box&gt;&#10;            &lt;Box style={{ width: 44 }}&gt;&lt;Text style={{ fontSize: 24, color: '#276FBF' }}&gt;›&lt;/Text&gt;&lt;/Box&gt;&#10;&#10;            &lt;Box style={{ width: 195, height: 200, background: '#EDF4FC', borderRadius: 8, padding: '16px 14px', flexDirection: 'column', gap: 6 }}&gt;&#10;                &lt;Text style={{ fontSize: 17, fontWeight: 'bold', color: '#276FBF' }}&gt;相似度排序&lt;/Text&gt;&#10;                &lt;Text style={{ fontSize: 13, color: '#546779', lineHeight: 1.55 }}&gt;问题向量与{'\n'}每个片段逐条比&lt;/Text&gt;&#10;            &lt;/Box&gt;&#10;            &lt;Box style={{ width: 44 }}&gt;&lt;Text style={{ fontSize: 24, color: '#26816B' }}&gt;›&lt;/Text&gt;&lt;/Box&gt;&#10;&#10;            &lt;Box style={{ width: 195, height: 200, background: '#ECF7F2', borderRadius: 8, padding: '16px 14px', flexDirection: 'column', gap: 6 }}&gt;&#10;                &lt;Text style={{ fontSize: 17, fontWeight: 'bold', color: '#26816B' }}&gt;交给模型&lt;/Text&gt;&#10;                &lt;Text style={{ fontSize: 13, color: '#546779', lineHeight: 1.55 }}&gt;前 k 个片段{'\n'}拼进请求作答&lt;/Text&gt;&#10;            &lt;/Box&gt;&#10;        &lt;/Box&gt;&#10;&#10;        &lt;Box style={{ flexDirection: 'row', gap: 20 }}&gt;&#10;            &lt;Box style={{ width: 566, height: 128, background: '#F4F7FA', borderRadius: 10, padding: '14px 18px', flexDirection: 'column', gap: 5, justifyContent: 'center' }}&gt;&#10;                &lt;Text style={{ fontSize: 16, fontWeight: 'bold', color: '#276FBF' }}&gt;检索详情写进清单文件&lt;/Text&gt;&#10;                &lt;Text style={{ fontSize: 14, color: '#546779', lineHeight: 1.55 }}&gt;output 目录下的检索 JSON 记录本次用了哪些片段、排序如何，先读它再看答案。&lt;/Text&gt;&#10;            &lt;/Box&gt;&#10;            &lt;Box style={{ width: 566, height: 128, background: '#F4F7FA', borderRadius: 10, padding: '14px 18px', flexDirection: 'column', gap: 5, justifyContent: 'center' }}&gt;&#10;                &lt;Text style={{ fontSize: 16, fontWeight: 'bold', color: '#276FBF' }}&gt;回答单独写成一份文件&lt;/Text&gt;&#10;                &lt;Text style={{ fontSize: 14, color: '#546779', lineHeight: 1.55 }}&gt;答案与依据分开保存，检查时可以逐条对照，而不是只看一段流畅的文字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9 Embedding 与 RAG：先找依据，再组织答案&lt;/Text&gt;&#10;        &lt;Text style={{ fontSize: 14, color: '#546779' }}&gt;12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2.9.3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做一个看得见每一步的小型检索器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一次检索经过的五个环节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609600" y="1581150"/>
            <a:ext cx="10972800" cy="7620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0" name=""/>
          <p:cNvSpPr/>
          <p:nvPr/>
        </p:nvSpPr>
        <p:spPr>
          <a:xfrm rot="0" flipH="0" flipV="0">
            <a:off x="800100" y="1724025"/>
            <a:ext cx="38100" cy="4762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028700" y="1771650"/>
            <a:ext cx="5905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先设置一个能访问向量的模型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028700" y="2000250"/>
            <a:ext cx="590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教学里用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text-embedding-3-small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，回答仍走文本模型。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7124700" y="1724025"/>
            <a:ext cx="9525" cy="4762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324725" y="1771650"/>
            <a:ext cx="4067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命令行传入问题与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top-k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7324725" y="2000250"/>
            <a:ext cx="4067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例如问手作体验什么时候可以举办，取前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段。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609600" y="2533650"/>
            <a:ext cx="1857375" cy="1905000"/>
          </a:xfrm>
          <a:prstGeom prst="roundRect">
            <a:avLst>
              <a:gd name="adj" fmla="val 410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42950" y="2686050"/>
            <a:ext cx="1590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读取材料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42950" y="2943225"/>
            <a:ext cx="1590675" cy="4667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读入本章的</a:t>
            </a:r>
            <a:endParaRPr/>
          </a:p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教学材料原文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2466975" y="3352800"/>
            <a:ext cx="419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2886075" y="2533650"/>
            <a:ext cx="1857375" cy="1905000"/>
          </a:xfrm>
          <a:prstGeom prst="roundRect">
            <a:avLst>
              <a:gd name="adj" fmla="val 410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3019425" y="2686050"/>
            <a:ext cx="1590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切分片段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3019425" y="2943225"/>
            <a:ext cx="1590675" cy="4667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chunks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列表</a:t>
            </a:r>
            <a:endParaRPr/>
          </a:p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带编号与来源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4743450" y="3352800"/>
            <a:ext cx="419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5162550" y="2533650"/>
            <a:ext cx="1857375" cy="1905000"/>
          </a:xfrm>
          <a:prstGeom prst="roundRect">
            <a:avLst>
              <a:gd name="adj" fmla="val 410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5295900" y="2686050"/>
            <a:ext cx="1590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生成向量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5295900" y="2943225"/>
            <a:ext cx="1590675" cy="4667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问题与片段</a:t>
            </a:r>
            <a:endParaRPr/>
          </a:p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一次提交请求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7019925" y="3352800"/>
            <a:ext cx="419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7439025" y="2533650"/>
            <a:ext cx="1857375" cy="1905000"/>
          </a:xfrm>
          <a:prstGeom prst="roundRect">
            <a:avLst>
              <a:gd name="adj" fmla="val 410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7572375" y="2686050"/>
            <a:ext cx="1590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相似度排序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7572375" y="2943225"/>
            <a:ext cx="1590675" cy="4667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问题向量与</a:t>
            </a:r>
            <a:endParaRPr/>
          </a:p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每个片段逐条比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9296400" y="3352800"/>
            <a:ext cx="419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9715500" y="2533650"/>
            <a:ext cx="1857375" cy="1905000"/>
          </a:xfrm>
          <a:prstGeom prst="roundRect">
            <a:avLst>
              <a:gd name="adj" fmla="val 410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9848850" y="2686050"/>
            <a:ext cx="1590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交给模型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9848850" y="2943225"/>
            <a:ext cx="1590675" cy="4667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前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k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个片段</a:t>
            </a:r>
            <a:endParaRPr/>
          </a:p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拼进请求作答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609600" y="4629150"/>
            <a:ext cx="5391150" cy="1219200"/>
          </a:xfrm>
          <a:prstGeom prst="roundRect">
            <a:avLst>
              <a:gd name="adj" fmla="val 781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81050" y="4991100"/>
            <a:ext cx="504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检索详情写进清单文件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81050" y="5229225"/>
            <a:ext cx="50482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output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目录下的检索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JSON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记录本次用了哪些片段、排序如何，先读它再看答案。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6191250" y="4629150"/>
            <a:ext cx="5391150" cy="1219200"/>
          </a:xfrm>
          <a:prstGeom prst="roundRect">
            <a:avLst>
              <a:gd name="adj" fmla="val 781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362700" y="4991100"/>
            <a:ext cx="504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回答单独写成一份文件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362700" y="5229225"/>
            <a:ext cx="50482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答案与依据分开保存，检查时可以逐条对照，而不是只看一段流畅的文字。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2.9 Embedding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RAG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：先找依据，再组织答案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33" name="" descr="&lt;Slide notes={`这段代码最值得讲的是倒数几行：按 index 还原对应关系。&#10;&#10;请求里，问题和全部片段放在同一个列表里一次提交，返回的数据是按顺序排的。稳妥的做法是用每一条返回项的 index 建一个字典，再按位置把向量取回来。这样即使返回顺序和输入顺序不一致，也不会把片段和向量错配。错配了，后面排序再准也没有意义。&#10;&#10;问题与片段必须用相容的向量模型和维度。这一点在换模型时最容易踩：文本模型换了没关系，向量模型一换，之前存下来的向量就全都不能用了。&#10;&#10;还有一处不能省：空输入、异常向量、请求失败都要有明确处理，不能一律当成「没有相关资料」——那是两种完全不同的结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9.3　做一个看得见每一步的小型检索器&lt;/Text&gt;&#10;            &lt;Text style={{ fontSize: 34, fontWeight: 'bold', color: '#20344B' }}&gt;向量请求的关键形式&lt;/Text&gt;&#10;        &lt;/Box&gt;&#10;    &lt;/Box&gt;&#10;&#10;    &lt;Box style={{ height: 540, flexDirection: 'row', alignItems: 'center', gap: 48 }}&gt;&#10;&#10;        &lt;Box style={{ width: 600, flexDirection: 'column', gap: 10 }}&gt;&#10;            &lt;Text style={{ fontSize: 14, color: '#546779' }}&gt;一次提交问题与全部片段&lt;/Text&gt;&#10;            &lt;Box style={{ width: 600, height: 300, background: '#F4F7FA', borderRadius: 8, padding: 18, flexDirection: 'column', gap: 5, justifyContent: 'center' }}&gt;&#10;                &lt;Text style={{ fontSize: 14, color: '#20344B', lineHeight: 1.5 }}&gt;embedded = client.embeddings.create(&lt;/Text&gt;&#10;                &lt;Text style={{ fontSize: 14, color: '#276FBF', lineHeight: 1.5, paddingLeft: 20 }}&gt;model=os.environ[&quot;OPENAI_EMBEDDING_MODEL&quot;],&lt;/Text&gt;&#10;                &lt;Text style={{ fontSize: 14, color: '#276FBF', lineHeight: 1.5, paddingLeft: 20 }}&gt;input=[question] + [chunk[&quot;text&quot;] for chunk in chunks],&lt;/Text&gt;&#10;                &lt;Text style={{ fontSize: 14, color: '#20344B', lineHeight: 1.5 }}&gt;)&lt;/Text&gt;&#10;                &lt;Text style={{ fontSize: 14, color: '#CB6B28', lineHeight: 1.5 }}&gt;{'by_index = '}{'{'}{'item.index: item.embedding for item in embedded.data'}{'}'}&lt;/Text&gt;&#10;                &lt;Text style={{ fontSize: 14, color: '#20344B', lineHeight: 1.5 }}&gt;query_vector = by_index[0]&lt;/Text&gt;&#10;                &lt;Text style={{ fontSize: 14, color: '#20344B', lineHeight: 1.5 }}&gt;document_vectors = [by_index[i + 1] for i in range(len(chunks))]&lt;/Text&gt;&#10;            &lt;/Box&gt;&#10;            &lt;Text style={{ fontSize: 13, color: '#546779' }}&gt;代码片段为教学重绘，与配套脚本一致。&lt;/Text&gt;&#10;        &lt;/Box&gt;&#10;&#10;        &lt;Box style={{ width: 504, flexDirection: 'column', gap: 16 }}&gt;&#10;&#10;            &lt;Box style={{ width: 504, height: 120, background: '#FFF4E6', borderRadius: 8, padding: '16px 18px', flexDirection: 'column', gap: 6, justifyContent: 'center' }}&gt;&#10;                &lt;Text style={{ fontSize: 17, fontWeight: 'bold', color: '#CB6B28' }}&gt;按 index 还原对应关系&lt;/Text&gt;&#10;                &lt;Text style={{ fontSize: 14, color: '#546779', lineHeight: 1.55 }}&gt;根据返回的序号把向量取回来，避免把片段与向量错配。&lt;/Text&gt;&#10;            &lt;/Box&gt;&#10;&#10;            &lt;Box style={{ width: 504, height: 120, background: '#EDF4FC', borderRadius: 8, padding: '16px 18px', flexDirection: 'column', gap: 6, justifyContent: 'center' }}&gt;&#10;                &lt;Text style={{ fontSize: 17, fontWeight: 'bold', color: '#276FBF' }}&gt;向量模型与维度必须相容&lt;/Text&gt;&#10;                &lt;Text style={{ fontSize: 14, color: '#546779', lineHeight: 1.55 }}&gt;问题与片段用同一套向量设置；换了向量模型，旧向量就不再可用。&lt;/Text&gt;&#10;            &lt;/Box&gt;&#10;&#10;            &lt;Box style={{ width: 504, height: 120, background: '#ECF7F2', borderRadius: 8, padding: '16px 18px', flexDirection: 'column', gap: 6, justifyContent: 'center' }}&gt;&#10;                &lt;Text style={{ fontSize: 17, fontWeight: 'bold', color: '#26816B' }}&gt;异常不能被读成「没有资料」&lt;/Text&gt;&#10;                &lt;Text style={{ fontSize: 14, color: '#546779', lineHeight: 1.55 }}&gt;空输入、异常向量与请求失败都要单独处理，这是两类不同的结论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9 Embedding 与 RAG：先找依据，再组织答案&lt;/Text&gt;&#10;        &lt;Text style={{ fontSize: 14, color: '#546779' }}&gt;13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2.9.3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做一个看得见每一步的小型检索器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向量请求的关键形式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09600" y="2038350"/>
            <a:ext cx="571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一次提交问题与全部片段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609600" y="2295525"/>
            <a:ext cx="5715000" cy="2857500"/>
          </a:xfrm>
          <a:prstGeom prst="roundRect">
            <a:avLst>
              <a:gd name="adj" fmla="val 2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781050" y="2714625"/>
            <a:ext cx="5372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>embedded = client.embeddings.create(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781050" y="3009900"/>
            <a:ext cx="5372100" cy="247650"/>
          </a:xfrm>
          <a:prstGeom prst="rect"/>
        </p:spPr>
        <p:txBody>
          <a:bodyPr wrap="none" lIns="142875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>model=os.environ["OPENAI_EMBEDDING_MODEL"],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781050" y="3305175"/>
            <a:ext cx="5372100" cy="247650"/>
          </a:xfrm>
          <a:prstGeom prst="rect"/>
        </p:spPr>
        <p:txBody>
          <a:bodyPr wrap="none" lIns="142875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>input=[question] + [chunk["text"] for chunk in chunks],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781050" y="3600450"/>
            <a:ext cx="5372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>)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781050" y="3895725"/>
            <a:ext cx="5372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by_index = 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>{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>item.index: item.embedding for item in embedded.data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>}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781050" y="4191000"/>
            <a:ext cx="5372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>query_vector = by_index[0]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781050" y="4486275"/>
            <a:ext cx="5372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>document_vectors = [by_index[i + 1] for i in range(len(chunks))]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09600" y="5248275"/>
            <a:ext cx="5715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代码片段为教学重绘，与配套脚本一致。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6781800" y="1847850"/>
            <a:ext cx="4800600" cy="1143000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953250" y="2162175"/>
            <a:ext cx="445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按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index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还原对应关系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953250" y="2419350"/>
            <a:ext cx="44577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根据返回的序号把向量取回来，避免把片段与向量错配。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6781800" y="3143250"/>
            <a:ext cx="4800600" cy="114300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953250" y="3457575"/>
            <a:ext cx="445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向量模型与维度必须相容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953250" y="3714750"/>
            <a:ext cx="44577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问题与片段用同一套向量设置；换了向量模型，旧向量就不再可用。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781800" y="4438650"/>
            <a:ext cx="4800600" cy="1143000"/>
          </a:xfrm>
          <a:prstGeom prst="roundRect">
            <a:avLst>
              <a:gd name="adj" fmla="val 666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6953250" y="4752975"/>
            <a:ext cx="445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异常不能被读成「没有资料」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953250" y="5010150"/>
            <a:ext cx="44577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空输入、异常向量与请求失败都要单独处理，这是两类不同的结论。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2.9 Embedding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RAG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：先找依据，再组织答案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25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59" name="" descr="&lt;Slide notes={`检索清单读完之后，接着看回答有没有越过证据的范围。这里有三件事要分清。&#10;&#10;第一，能查到什么。生成答案的时候，问题、被选中的片段和来源 ID 要明确分开，提示里要求答案只依据这些证据，缺失就说明不足。&#10;&#10;第二，还要查什么。即使答案引用了一个合法的 chunk_id，仍然要回到那一段，看它是不是真的支持这句话。引用合法，只说明编号存在，不说明断言成立。&#10;&#10;第三，不能由它推定什么。rooms.csv 里的容量记录，不能证明手作室十点半是空闲的——它只说明了能坐多少人。&#10;&#10;另外提醒一句：取前 3 是一个可调整的练习值，未必能把需求、容量、开放时间和预约全都找回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9.3　做一个看得见每一步的小型检索器&lt;/Text&gt;&#10;            &lt;Text style={{ fontSize: 34, fontWeight: 'bold', color: '#20344B' }}&gt;检索清单与证据范围&lt;/Text&gt;&#10;        &lt;/Box&gt;&#10;    &lt;/Box&gt;&#10;&#10;    &lt;Box style={{ height: 540, flexDirection: 'column', justifyContent: 'center', gap: 20 }}&gt;&#10;&#10;        &lt;Box style={{ flexDirection: 'column', gap: 10 }}&gt;&#10;&#10;            &lt;Box style={{ flexDirection: 'row', alignItems: 'center', gap: 20, height: 96, background: '#F4F7FA', borderRadius: 8, padding: '14px 20px' }}&gt;&#10;                &lt;Box style={{ width: 4, height: 62, background: '#276FBF' }} /&gt;&#10;                &lt;Text style={{ width: 176, fontSize: 18, fontWeight: 'bold', color: '#276FBF' }}&gt;能查到什么&lt;/Text&gt;&#10;                &lt;Text style={{ flex: 1, fontSize: 15, color: '#546779', lineHeight: 1.6 }}&gt;问题、被选片段与来源 ID 被明确区分，答案只依据这些证据，缺失时说明不足。&lt;/Text&gt;&#10;            &lt;/Box&gt;&#10;&#10;            &lt;Box style={{ flexDirection: 'row', alignItems: 'center', gap: 20, height: 96, background: '#F4F7FA', borderRadius: 8, padding: '14px 20px' }}&gt;&#10;                &lt;Box style={{ width: 4, height: 62, background: '#26816B' }} /&gt;&#10;                &lt;Text style={{ width: 176, fontSize: 18, fontWeight: 'bold', color: '#26816B' }}&gt;还要查什么&lt;/Text&gt;&#10;                &lt;Text style={{ flex: 1, fontSize: 15, color: '#546779', lineHeight: 1.6 }}&gt;即使答案引用了一个合法编号，也要回到片段，检查它是否真的支持这条断言。&lt;/Text&gt;&#10;            &lt;/Box&gt;&#10;&#10;            &lt;Box style={{ flexDirection: 'row', alignItems: 'center', gap: 20, height: 96, background: '#FFF4E6', borderRadius: 8, padding: '14px 20px' }}&gt;&#10;                &lt;Box style={{ width: 4, height: 62, background: '#CB6B28' }} /&gt;&#10;                &lt;Text style={{ width: 176, fontSize: 18, fontWeight: 'bold', color: '#CB6B28' }}&gt;不能由它推定&lt;/Text&gt;&#10;                &lt;Text style={{ flex: 1, fontSize: 15, color: '#546779', lineHeight: 1.6 }}&gt;房间容量记录只能说明能坐多少人，不能证明手作室十点半没有预约。&lt;/Text&gt;&#10;            &lt;/Box&gt;&#10;&#10;        &lt;/Box&gt;&#10;&#10;        &lt;Box style={{ flexDirection: 'row', alignItems: 'center', gap: 18, height: 104, background: '#EDF4FC', borderRadius: 10, padding: '16px 20px' }}&gt;&#10;            &lt;Box style={{ width: 4, height: 64, background: '#276FBF' }} /&gt;&#10;            &lt;Box style={{ flex: 1, flexDirection: 'column', gap: 5 }}&gt;&#10;                &lt;Text style={{ fontSize: 16, fontWeight: 'bold', color: '#276FBF' }}&gt;运行后先读检索清单，再检查答案是否越过证据范围&lt;/Text&gt;&#10;                &lt;Text style={{ fontSize: 14, color: '#546779', lineHeight: 1.55 }}&gt;取前 3 是可调整的练习值，未必找全需求、容量、开放时间与预约；不要预设一条命令就能得到完整排程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9 Embedding 与 RAG：先找依据，再组织答案&lt;/Text&gt;&#10;        &lt;Text style={{ fontSize: 14, color: '#546779' }}&gt;14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2.9.3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做一个看得见每一步的小型检索器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检索清单与证据范围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609600" y="1657350"/>
            <a:ext cx="10972800" cy="9144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800100" y="1819275"/>
            <a:ext cx="38100" cy="590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028700" y="2009775"/>
            <a:ext cx="1676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能查到什么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2895600" y="1981200"/>
            <a:ext cx="84963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问题、被选片段与来源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被明确区分，答案只依据这些证据，缺失时说明不足。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09600" y="2667000"/>
            <a:ext cx="10972800" cy="9144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800100" y="2828925"/>
            <a:ext cx="38100" cy="5905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028700" y="3019425"/>
            <a:ext cx="1676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还要查什么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2895600" y="2990850"/>
            <a:ext cx="84963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即使答案引用了一个合法编号，也要回到片段，检查它是否真的支持这条断言。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609600" y="3676650"/>
            <a:ext cx="10972800" cy="914400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73" name=""/>
          <p:cNvSpPr/>
          <p:nvPr/>
        </p:nvSpPr>
        <p:spPr>
          <a:xfrm rot="0" flipH="0" flipV="0">
            <a:off x="800100" y="3838575"/>
            <a:ext cx="38100" cy="5905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028700" y="4029075"/>
            <a:ext cx="1676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不能由它推定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2895600" y="4000500"/>
            <a:ext cx="84963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房间容量记录只能说明能坐多少人，不能证明手作室十点半没有预约。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609600" y="4781550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77" name=""/>
          <p:cNvSpPr/>
          <p:nvPr/>
        </p:nvSpPr>
        <p:spPr>
          <a:xfrm rot="0" flipH="0" flipV="0">
            <a:off x="800100" y="4972050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009650" y="5029200"/>
            <a:ext cx="1038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运行后先读检索清单，再检查答案是否越过证据范围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009650" y="5267325"/>
            <a:ext cx="103822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取前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是可调整的练习值，未必找全需求、容量、开放时间与预约；不要预设一条命令就能得到完整排程。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2.9 Embedding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RAG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：先找依据，再组织答案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82" name="" descr="&lt;Slide notes={`不想自己写切分和检索，还有一条路：用 Responses API 里托管的文件搜索。&#10;&#10;它的思路是把麻烦的部分交给服务端。你不需要自己决定按几行切、怎么编号，也不用自己维护一个向量表。上传文件、创建向量存储、把文件关联进去，处理完成以后，请求里只要带上向量存储的 ID 就行。&#10;&#10;检索的时候，服务端会把语义和关键词结合起来做，你不用自己拼那套排序逻辑。&#10;&#10;代价也要说清楚：文件上传到了服务端，资源在那边建立，所以上传范围和保留要求得自己管。本章的主示例仍然选前面那个透明的小实现，为的是每一步都看得见。`} style={{ width: 1280, height: 720, background: '#FFFFFF', flexDirection: 'column', padding: '20px 64px' }}&gt;&#10;&#10;    &lt;Box style={{ height: 100 }} /&gt;&#10;&#10;    &lt;Box style={{ height: 540, flexDirection: 'column', justifyContent: 'center', gap: 18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4&lt;/Text&gt;&#10;            &lt;/Box&gt;&#10;            &lt;Text style={{ fontSize: 16, color: '#546779' }}&gt;2.9.4&lt;/Text&gt;&#10;        &lt;/Box&gt;&#10;&#10;        &lt;Text style={{ fontSize: 56, fontWeight: 'bold', color: '#20344B', lineHeight: 1.15 }}&gt;托管 File Search 是另一条实现路线&lt;/Text&gt;&#10;&#10;        &lt;Box style={{ width: 640, height: 4, background: '#276FBF' }} /&gt;&#10;&#10;        &lt;Text style={{ fontSize: 19, color: '#546779', lineHeight: 1.7 }}&gt;把切分、索引与检索交给服务端，换来省事，也要交出对上传范围的控制权。&lt;/Text&gt;&#10;&#10;        &lt;Box style={{ marginTop: 6, flexDirection: 'column', gap: 20 }}&gt;&#10;            &lt;Box style={{ flexDirection: 'row', gap: 20 }}&gt;&#10;                &lt;Box style={{ width: 566, height: 118, background: '#EDF4FC', borderRadius: 8, padding: '16px 18px', flexDirection: 'column', gap: 6, justifyContent: 'center' }}&gt;&#10;                    &lt;Text style={{ fontSize: 19, fontWeight: 'bold', color: '#276FBF' }}&gt;不用自己写切分&lt;/Text&gt;&#10;                    &lt;Text style={{ fontSize: 14, color: '#546779', lineHeight: 1.55 }}&gt;上传支持的文件，处理方式由服务端决定，练习里不再出现片段的编号规则。&lt;/Text&gt;&#10;                &lt;/Box&gt;&#10;                &lt;Box style={{ width: 566, height: 118, background: '#EDF4FC', borderRadius: 8, padding: '16px 18px', flexDirection: 'column', gap: 6, justifyContent: 'center' }}&gt;&#10;                    &lt;Text style={{ fontSize: 19, fontWeight: 'bold', color: '#276FBF' }}&gt;不用自己存向量&lt;/Text&gt;&#10;                    &lt;Text style={{ fontSize: 14, color: '#546779', lineHeight: 1.55 }}&gt;索引保存在服务端的向量存储里，请求只需要提供它的 ID。&lt;/Text&gt;&#10;                &lt;/Box&gt;&#10;            &lt;/Box&gt;&#10;            &lt;Box style={{ flexDirection: 'row', gap: 20 }}&gt;&#10;                &lt;Box style={{ width: 566, height: 118, background: '#ECF7F2', borderRadius: 8, padding: '16px 18px', flexDirection: 'column', gap: 6, justifyContent: 'center' }}&gt;&#10;                    &lt;Text style={{ fontSize: 19, fontWeight: 'bold', color: '#26816B' }}&gt;检索由服务端执行&lt;/Text&gt;&#10;                    &lt;Text style={{ fontSize: 14, color: '#546779', lineHeight: 1.55 }}&gt;综合语义与关键词，不必自己拼排序逻辑，也不必自己维护索引。&lt;/Text&gt;&#10;                &lt;/Box&gt;&#10;                &lt;Box style={{ width: 566, height: 118, background: '#F7F3E8', borderRadius: 8, padding: '16px 18px', flexDirection: 'column', gap: 6, justifyContent: 'center' }}&gt;&#10;                    &lt;Text style={{ fontSize: 19, fontWeight: 'bold', color: '#20344B' }}&gt;代价是资源在服务端&lt;/Text&gt;&#10;                    &lt;Text style={{ fontSize: 14, color: '#546779', lineHeight: 1.55 }}&gt;上传范围与保留要求要自己管理，不能用提示词代替数据治理。&lt;/Text&gt;&#10;                &lt;/Box&gt;&#10;            &lt;/Box&gt;&#10;        &lt;/Box&gt;&#10;&#10;    &lt;/Box&gt;&#10;&#10;    &lt;Box style={{ height: 40, flexDirection: 'row', justifyContent: 'space-between', alignItems: 'center' }}&gt;&#10;        &lt;Text style={{ fontSize: 14, color: '#546779' }}&gt;2.9 Embedding 与 RAG：先找依据，再组织答案&lt;/Text&gt;&#10;        &lt;Text style={{ fontSize: 14, color: '#546779' }}&gt;15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4" name=""/>
          <p:cNvSpPr/>
          <p:nvPr/>
        </p:nvSpPr>
        <p:spPr>
          <a:xfrm rot="0" flipH="0" flipV="0">
            <a:off x="609600" y="128587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714375" y="139065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1295400" y="1457325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2.9.4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09600" y="19907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托管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File Search 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是另一条实现路线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609600" y="290512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09600" y="311467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把切分、索引与检索交给服务端，换来省事，也要交出对上传范围的控制权。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609600" y="3714750"/>
            <a:ext cx="5391150" cy="1123950"/>
          </a:xfrm>
          <a:prstGeom prst="roundRect">
            <a:avLst>
              <a:gd name="adj" fmla="val 678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781050" y="4010025"/>
            <a:ext cx="5048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不用自己写切分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781050" y="4286250"/>
            <a:ext cx="50482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上传支持的文件，处理方式由服务端决定，练习里不再出现片段的编号规则。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6191250" y="3714750"/>
            <a:ext cx="5391150" cy="1123950"/>
          </a:xfrm>
          <a:prstGeom prst="roundRect">
            <a:avLst>
              <a:gd name="adj" fmla="val 678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362700" y="4010025"/>
            <a:ext cx="5048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不用自己存向量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362700" y="4286250"/>
            <a:ext cx="50482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索引保存在服务端的向量存储里，请求只需要提供它的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609600" y="5029200"/>
            <a:ext cx="5391150" cy="1123950"/>
          </a:xfrm>
          <a:prstGeom prst="roundRect">
            <a:avLst>
              <a:gd name="adj" fmla="val 678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781050" y="5324475"/>
            <a:ext cx="5048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检索由服务端执行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781050" y="5600700"/>
            <a:ext cx="50482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综合语义与关键词，不必自己拼排序逻辑，也不必自己维护索引。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6191250" y="5029200"/>
            <a:ext cx="5391150" cy="1123950"/>
          </a:xfrm>
          <a:prstGeom prst="roundRect">
            <a:avLst>
              <a:gd name="adj" fmla="val 678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362700" y="5324475"/>
            <a:ext cx="5048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代价是资源在服务端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362700" y="5600700"/>
            <a:ext cx="50482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上传范围与保留要求要自己管理，不能用提示词代替数据治理。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2.9 Embedding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RAG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：先找依据，再组织答案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25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04" name="" descr="&lt;Slide notes={`官方流程有五步，顺序不能乱。&#10;&#10;先上传支持的文件。第二步创建一个向量存储，这是服务端上的一个资源。第三步把文件关联进去，让它成为这个存储的一部分。第四步确认处理完成，索引真正就绪了再发请求。&#10;&#10;第五步才是发请求，在参数里提供向量存储的 ID。这里要提醒一句：后面这段代码不是建立资料库的完整脚本，它假设你已经按官方流程把索引建好、确认就绪，把 ID 放进了环境变量。&#10;&#10;顺序反过来最容易出错：文件还没处理完就发请求，检索当然什么都找不到，但那不是资料的错，是流程没走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9.4　托管 File Search 是另一条实现路线&lt;/Text&gt;&#10;            &lt;Text style={{ fontSize: 34, fontWeight: 'bold', color: '#20344B' }}&gt;托管路线的五步准备&lt;/Text&gt;&#10;        &lt;/Box&gt;&#10;    &lt;/Box&gt;&#10;&#10;    &lt;Box style={{ height: 540, flexDirection: 'column', justifyContent: 'center', gap: 18 }}&gt;&#10;&#10;        &lt;Text style={{ fontSize: 15, color: '#546779' }}&gt;官方流程：不使用自己写的切分与检索，索引就绪后再发请求&lt;/Text&gt;&#10;&#10;        &lt;Box style={{ flexDirection: 'row', height: 130 }}&gt;&#10;            &lt;Box style={{ width: 354, height: 130, background: '#EDF4FC', borderRadius: 8, padding: '16px 18px', flexDirection: 'column', gap: 6, justifyContent: 'center' }}&gt;&#10;                &lt;Text style={{ fontSize: 13, color: '#546779' }}&gt;第一步&lt;/Text&gt;&#10;                &lt;Text style={{ fontSize: 18, fontWeight: 'bold', color: '#276FBF' }}&gt;上传支持的文件&lt;/Text&gt;&#10;                &lt;Text style={{ fontSize: 14, color: '#546779', lineHeight: 1.5 }}&gt;先确认文件类型与内容范围&lt;/Text&gt;&#10;            &lt;/Box&gt;&#10;            &lt;Box style={{ width: 44 }}&gt;&lt;Text style={{ fontSize: 24, color: '#276FBF' }}&gt;›&lt;/Text&gt;&lt;/Box&gt;&#10;            &lt;Box style={{ width: 354, height: 130, background: '#EDF4FC', borderRadius: 8, padding: '16px 18px', flexDirection: 'column', gap: 6, justifyContent: 'center' }}&gt;&#10;                &lt;Text style={{ fontSize: 13, color: '#546779' }}&gt;第二步&lt;/Text&gt;&#10;                &lt;Text style={{ fontSize: 18, fontWeight: 'bold', color: '#276FBF' }}&gt;创建向量存储&lt;/Text&gt;&#10;                &lt;Text style={{ fontSize: 14, color: '#546779', lineHeight: 1.5 }}&gt;服务端资源，索引保存在这里&lt;/Text&gt;&#10;            &lt;/Box&gt;&#10;            &lt;Box style={{ width: 44 }}&gt;&lt;Text style={{ fontSize: 24, color: '#276FBF' }}&gt;›&lt;/Text&gt;&lt;/Box&gt;&#10;            &lt;Box style={{ width: 354, height: 130, background: '#EDF4FC', borderRadius: 8, padding: '16px 18px', flexDirection: 'column', gap: 6, justifyContent: 'center' }}&gt;&#10;                &lt;Text style={{ fontSize: 13, color: '#546779' }}&gt;第三步&lt;/Text&gt;&#10;                &lt;Text style={{ fontSize: 18, fontWeight: 'bold', color: '#276FBF' }}&gt;把文件关联进去&lt;/Text&gt;&#10;                &lt;Text style={{ fontSize: 14, color: '#546779', lineHeight: 1.5 }}&gt;文件成为这个存储的一部分&lt;/Text&gt;&#10;            &lt;/Box&gt;&#10;        &lt;/Box&gt;&#10;&#10;        &lt;Box style={{ flexDirection: 'row', height: 26, alignItems: 'center' }}&gt;&#10;            &lt;Box style={{ width: 951 }} /&gt;&#10;            &lt;Box style={{ width: 44, justifyContent: 'center', alignItems: 'center' }}&gt;&lt;Text style={{ fontSize: 16, color: '#276FBF' }}&gt;↓&lt;/Text&gt;&lt;/Box&gt;&#10;            &lt;Box style={{ flex: 1 }} /&gt;&#10;        &lt;/Box&gt;&#10;&#10;        &lt;Box style={{ flexDirection: 'row', height: 130 }}&gt;&#10;            &lt;Box style={{ width: 398 }} /&gt;&#10;            &lt;Box style={{ width: 354, height: 130, background: '#ECF7F2', borderRadius: 8, padding: '16px 18px', flexDirection: 'column', gap: 6, justifyContent: 'center' }}&gt;&#10;                &lt;Text style={{ fontSize: 13, color: '#546779' }}&gt;第四步&lt;/Text&gt;&#10;                &lt;Text style={{ fontSize: 18, fontWeight: 'bold', color: '#26816B' }}&gt;确认处理完成&lt;/Text&gt;&#10;                &lt;Text style={{ fontSize: 14, color: '#546779', lineHeight: 1.5 }}&gt;索引就绪后再发请求&lt;/Text&gt;&#10;            &lt;/Box&gt;&#10;            &lt;Box style={{ width: 44 }}&gt;&lt;Text style={{ fontSize: 24, color: '#26816B' }}&gt;›&lt;/Text&gt;&lt;/Box&gt;&#10;            &lt;Box style={{ width: 354, height: 130, background: '#ECF7F2', borderRadius: 8, padding: '16px 18px', flexDirection: 'column', gap: 6, justifyContent: 'center' }}&gt;&#10;                &lt;Text style={{ fontSize: 13, color: '#546779' }}&gt;第五步&lt;/Text&gt;&#10;                &lt;Text style={{ fontSize: 18, fontWeight: 'bold', color: '#26816B' }}&gt;请求里提供存储 ID&lt;/Text&gt;&#10;                &lt;Text style={{ fontSize: 14, color: '#546779', lineHeight: 1.5 }}&gt;放进环境变量再传给工具&lt;/Text&gt;&#10;            &lt;/Box&gt;&#10;            &lt;Box style={{ width: 2 }} /&gt;&#10;        &lt;/Box&gt;&#10;&#10;        &lt;Box style={{ flexDirection: 'row', alignItems: 'center', gap: 18, height: 96, background: '#F4F7FA', borderRadius: 10, padding: '14px 20px' }}&gt;&#10;            &lt;Box style={{ width: 4, height: 58, background: '#276FBF' }} /&gt;&#10;            &lt;Box style={{ flex: 1, flexDirection: 'column', gap: 4 }}&gt;&#10;                &lt;Text style={{ fontSize: 16, fontWeight: 'bold', color: '#276FBF' }}&gt;这不是建立资料库的完整脚本&lt;/Text&gt;&#10;                &lt;Text style={{ fontSize: 14, color: '#546779', lineHeight: 1.5 }}&gt;后面出现的那段请求代码假设索引已经建好并确认就绪；向量存储 ID 由读者自己放入环境变量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9 Embedding 与 RAG：先找依据，再组织答案&lt;/Text&gt;&#10;        &lt;Text style={{ fontSize: 14, color: '#546779' }}&gt;16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2.9.4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托管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File Search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是另一条实现路线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托管路线的五步准备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609600" y="14668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官方流程：不使用自己写的切分与检索，索引就绪后再发请求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609600" y="1809750"/>
            <a:ext cx="3371850" cy="1238250"/>
          </a:xfrm>
          <a:prstGeom prst="roundRect">
            <a:avLst>
              <a:gd name="adj" fmla="val 615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781050" y="2066925"/>
            <a:ext cx="3028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第一步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781050" y="2276475"/>
            <a:ext cx="3028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上传支持的文件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781050" y="2543175"/>
            <a:ext cx="3028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先确认文件类型与内容范围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3981450" y="1809750"/>
            <a:ext cx="419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4400550" y="1809750"/>
            <a:ext cx="3371850" cy="1238250"/>
          </a:xfrm>
          <a:prstGeom prst="roundRect">
            <a:avLst>
              <a:gd name="adj" fmla="val 615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4572000" y="2066925"/>
            <a:ext cx="3028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第二步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4572000" y="2276475"/>
            <a:ext cx="3028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创建向量存储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4572000" y="2543175"/>
            <a:ext cx="3028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服务端资源，索引保存在这里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772400" y="1809750"/>
            <a:ext cx="419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8191500" y="1809750"/>
            <a:ext cx="3371850" cy="1238250"/>
          </a:xfrm>
          <a:prstGeom prst="roundRect">
            <a:avLst>
              <a:gd name="adj" fmla="val 615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362950" y="2066925"/>
            <a:ext cx="3028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第三步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8362950" y="2276475"/>
            <a:ext cx="3028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把文件关联进去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362950" y="2543175"/>
            <a:ext cx="3028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文件成为这个存储的一部分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9839325" y="3248025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4400550" y="3638550"/>
            <a:ext cx="3371850" cy="1238250"/>
          </a:xfrm>
          <a:prstGeom prst="roundRect">
            <a:avLst>
              <a:gd name="adj" fmla="val 615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4572000" y="3895725"/>
            <a:ext cx="3028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第四步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4572000" y="4105275"/>
            <a:ext cx="3028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确认处理完成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4572000" y="4371975"/>
            <a:ext cx="3028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索引就绪后再发请求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7772400" y="3638550"/>
            <a:ext cx="419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8191500" y="3638550"/>
            <a:ext cx="3371850" cy="1238250"/>
          </a:xfrm>
          <a:prstGeom prst="roundRect">
            <a:avLst>
              <a:gd name="adj" fmla="val 615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8362950" y="3895725"/>
            <a:ext cx="3028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第五步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362950" y="4105275"/>
            <a:ext cx="3028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请求里提供存储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8362950" y="4371975"/>
            <a:ext cx="3028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放进环境变量再传给工具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609600" y="5048250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35" name=""/>
          <p:cNvSpPr/>
          <p:nvPr/>
        </p:nvSpPr>
        <p:spPr>
          <a:xfrm rot="0" flipH="0" flipV="0">
            <a:off x="800100" y="5229225"/>
            <a:ext cx="38100" cy="5524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1009650" y="5267325"/>
            <a:ext cx="1038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这不是建立资料库的完整脚本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1009650" y="5495925"/>
            <a:ext cx="10382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后面出现的那段请求代码假设索引已经建好并确认就绪；向量存储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由读者自己放入环境变量。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2.9 Embedding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RAG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：先找依据，再组织答案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25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40" name="" descr="&lt;Slide notes={`这段请求里有两处值得注意。&#10;&#10;第一处是工具声明：类型写成 file_search，然后把向量存储的 ID 传进去，再用一个参数限制最多取回多少条结果。&#10;&#10;第二处是 include。加上它，应用才能在响应里拿到这次实际检索到的东西。很多人只把返回的文字打印出来就结束了，那样你看到的只是答案，看不到依据。&#10;&#10;还有一步别忘了：返回里的引用注解要逐条看。文字说得再顺，也不能替代「它到底引了哪一段」。&#10;&#10;最后是数据边界。托管路线会上传文件、在服务端建立资源，上传范围和保留要求得按自己的资料情况管理，不能交给提示词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9.4　托管 File Search 是另一条实现路线&lt;/Text&gt;&#10;            &lt;Text style={{ fontSize: 34, fontWeight: 'bold', color: '#20344B' }}&gt;请求里的工具声明&lt;/Text&gt;&#10;        &lt;/Box&gt;&#10;    &lt;/Box&gt;&#10;&#10;    &lt;Box style={{ height: 540, flexDirection: 'column', justifyContent: 'center', gap: 20 }}&gt;&#10;&#10;        &lt;Box style={{ width: 1152, height: 350, background: '#F4F7FA', borderRadius: 8, padding: 20, flexDirection: 'column', gap: 4, justifyContent: 'center' }}&gt;&#10;            &lt;Text style={{ fontSize: 14, color: '#20344B', lineHeight: 1.45 }}&gt;response = client.responses.create(&lt;/Text&gt;&#10;            &lt;Text style={{ fontSize: 14, color: '#276FBF', lineHeight: 1.45, paddingLeft: 20 }}&gt;model=os.environ[&quot;OPENAI_MODEL&quot;],&lt;/Text&gt;&#10;            &lt;Text style={{ fontSize: 14, color: '#276FBF', lineHeight: 1.45, paddingLeft: 20 }}&gt;instructions=&quot;依据资料回答并引用来源；资料不足时明确说明。&quot;,&lt;/Text&gt;&#10;            &lt;Text style={{ fontSize: 14, color: '#20344B', lineHeight: 1.45, paddingLeft: 20 }}&gt;input=&quot;青禾活动的开放时间和人数约束是什么？&quot;,&lt;/Text&gt;&#10;            &lt;Text style={{ fontSize: 14, color: '#CB6B28', lineHeight: 1.45, paddingLeft: 20 }}&gt;{'tools=['}{'{'}&lt;/Text&gt;&#10;            &lt;Text style={{ fontSize: 14, color: '#20344B', lineHeight: 1.45, paddingLeft: 40 }}&gt;&quot;type&quot;: &quot;file_search&quot;,&lt;/Text&gt;&#10;            &lt;Text style={{ fontSize: 14, color: '#20344B', lineHeight: 1.45, paddingLeft: 40 }}&gt;&quot;vector_store_ids&quot;: [os.environ[&quot;OPENAI_VECTOR_STORE_ID&quot;]],&lt;/Text&gt;&#10;            &lt;Text style={{ fontSize: 14, color: '#20344B', lineHeight: 1.45, paddingLeft: 40 }}&gt;&quot;max_num_results&quot;: 5,&lt;/Text&gt;&#10;            &lt;Text style={{ fontSize: 14, color: '#CB6B28', lineHeight: 1.45, paddingLeft: 20 }}&gt;{'    '}{'}'}{'],'}&lt;/Text&gt;&#10;            &lt;Text style={{ fontSize: 14, color: '#26816B', lineHeight: 1.45, paddingLeft: 20 }}&gt;include=[&quot;file_search_call.results&quot;],&lt;/Text&gt;&#10;            &lt;Text style={{ fontSize: 14, color: '#20344B', lineHeight: 1.45 }}&gt;)&lt;/Text&gt;&#10;        &lt;/Box&gt;&#10;&#10;        &lt;Box style={{ flexDirection: 'row', gap: 20 }}&gt;&#10;            &lt;Box style={{ width: 566, height: 130, background: '#FFF4E6', borderRadius: 10, padding: '14px 18px', flexDirection: 'column', gap: 5, justifyContent: 'center' }}&gt;&#10;                &lt;Text style={{ fontSize: 16, fontWeight: 'bold', color: '#CB6B28' }}&gt;include 让应用拿得到检索结果&lt;/Text&gt;&#10;                &lt;Text style={{ fontSize: 14, color: '#546779', lineHeight: 1.55 }}&gt;加上它才能看到这次实际依据了什么，而不是只看到答案文字。&lt;/Text&gt;&#10;            &lt;/Box&gt;&#10;            &lt;Box style={{ width: 566, height: 130, background: '#ECF7F2', borderRadius: 10, padding: '14px 18px', flexDirection: 'column', gap: 5, justifyContent: 'center' }}&gt;&#10;                &lt;Text style={{ fontSize: 16, fontWeight: 'bold', color: '#26816B' }}&gt;还要看返回的引用注解&lt;/Text&gt;&#10;                &lt;Text style={{ fontSize: 14, color: '#546779', lineHeight: 1.55 }}&gt;逐条查看它引了哪一段；托管检索的文件上传与保留范围由自己管理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9 Embedding 与 RAG：先找依据，再组织答案&lt;/Text&gt;&#10;        &lt;Text style={{ fontSize: 14, color: '#546779' }}&gt;17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2.9.4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托管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File Search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是另一条实现路线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请求里的工具声明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609600" y="1333500"/>
            <a:ext cx="10972800" cy="3333750"/>
          </a:xfrm>
          <a:prstGeom prst="roundRect">
            <a:avLst>
              <a:gd name="adj" fmla="val 2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800100" y="1504950"/>
            <a:ext cx="105918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>response = client.responses.create(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800100" y="1781175"/>
            <a:ext cx="10591800" cy="238125"/>
          </a:xfrm>
          <a:prstGeom prst="rect"/>
        </p:spPr>
        <p:txBody>
          <a:bodyPr wrap="none" lIns="142875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>model=os.environ["OPENAI_MODEL"],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800100" y="2057400"/>
            <a:ext cx="10591800" cy="238125"/>
          </a:xfrm>
          <a:prstGeom prst="rect"/>
        </p:spPr>
        <p:txBody>
          <a:bodyPr wrap="none" lIns="142875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>instructions="</a:t>
            </a: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依据资料回答并引用来源；资料不足时明确说明。</a:t>
            </a: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>",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800100" y="2333625"/>
            <a:ext cx="10591800" cy="238125"/>
          </a:xfrm>
          <a:prstGeom prst="rect"/>
        </p:spPr>
        <p:txBody>
          <a:bodyPr wrap="none" lIns="142875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>input="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青禾活动的开放时间和人数约束是什么？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>",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800100" y="2609850"/>
            <a:ext cx="10591800" cy="238125"/>
          </a:xfrm>
          <a:prstGeom prst="rect"/>
        </p:spPr>
        <p:txBody>
          <a:bodyPr wrap="none" lIns="142875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>tools=[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>{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800100" y="2886075"/>
            <a:ext cx="10591800" cy="238125"/>
          </a:xfrm>
          <a:prstGeom prst="rect"/>
        </p:spPr>
        <p:txBody>
          <a:bodyPr wrap="none" lIns="28575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>"type": "file_search",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800100" y="3162300"/>
            <a:ext cx="10591800" cy="238125"/>
          </a:xfrm>
          <a:prstGeom prst="rect"/>
        </p:spPr>
        <p:txBody>
          <a:bodyPr wrap="none" lIns="28575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>"vector_store_ids": [os.environ["OPENAI_VECTOR_STORE_ID"]],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800100" y="3438525"/>
            <a:ext cx="10591800" cy="238125"/>
          </a:xfrm>
          <a:prstGeom prst="rect"/>
        </p:spPr>
        <p:txBody>
          <a:bodyPr wrap="none" lIns="28575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>"max_num_results": 5,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800100" y="3714750"/>
            <a:ext cx="10591800" cy="238125"/>
          </a:xfrm>
          <a:prstGeom prst="rect"/>
        </p:spPr>
        <p:txBody>
          <a:bodyPr wrap="none" lIns="142875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   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>}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>],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800100" y="3990975"/>
            <a:ext cx="10591800" cy="238125"/>
          </a:xfrm>
          <a:prstGeom prst="rect"/>
        </p:spPr>
        <p:txBody>
          <a:bodyPr wrap="none" lIns="142875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26816B"/>
                </a:solidFill>
                <a:latin typeface="Microsoft YaHei"/>
                <a:ea typeface="Microsoft YaHei"/>
              </a:rPr>
              <a:t>include=["file_search_call.results"],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800100" y="4267200"/>
            <a:ext cx="105918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>)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609600" y="4857750"/>
            <a:ext cx="5391150" cy="123825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81050" y="5229225"/>
            <a:ext cx="504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include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让应用拿得到检索结果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781050" y="5467350"/>
            <a:ext cx="50482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加上它才能看到这次实际依据了什么，而不是只看到答案文字。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6191250" y="4857750"/>
            <a:ext cx="5391150" cy="1238250"/>
          </a:xfrm>
          <a:prstGeom prst="roundRect">
            <a:avLst>
              <a:gd name="adj" fmla="val 769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362700" y="5229225"/>
            <a:ext cx="504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还要看返回的引用注解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362700" y="5467350"/>
            <a:ext cx="50482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逐条查看它引了哪一段；托管检索的文件上传与保留范围由自己管理。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2.9 Embedding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RAG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：先找依据，再组织答案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25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65" name="" descr="&lt;Slide notes={`两条路线怎么比？关键不在于哪条更高级，而在于比较的条件要对等。&#10;&#10;自己检索这边，切分单位和编号由你决定，向量存在内存或自己的库里，相似度排序完全可见，可以写进清单。核对的时候，用的是这套流程自己产生的证据。&#10;&#10;托管那边，切分和索引交给服务端，检索同时用语义和关键词，由服务端执行。你要做的是打开 include，把引用注解逐条看一遍。&#10;&#10;比较时最容易出问题的地方是题目不一样。这边问三个问题，那边问五个；或者这边检查了引用支持，那边只看答案读起来顺不顺。这样比出来的结论没有意义。同一套题目、同一套支持性检查，才能谈效果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9.4　托管 File Search 是另一条实现路线&lt;/Text&gt;&#10;            &lt;Text style={{ fontSize: 34, fontWeight: 'bold', color: '#20344B' }}&gt;自行检索与托管检索怎样比较&lt;/Text&gt;&#10;        &lt;/Box&gt;&#10;    &lt;/Box&gt;&#10;&#10;    &lt;Box style={{ height: 540, flexDirection: 'column', justifyContent: 'center', gap: 20 }}&gt;&#10;&#10;        &lt;Box style={{ flexDirection: 'row', gap: 24 }}&gt;&#10;&#10;            &lt;Box style={{ width: 564, background: '#F4F7FA', borderRadius: 10, padding: 16, flexDirection: 'column', gap: 10 }}&gt;&#10;                &lt;Box style={{ flexDirection: 'row', alignItems: 'center', gap: 10 }}&gt;&#10;                    &lt;Box style={{ width: 4, height: 34, background: '#276FBF' }} /&gt;&#10;                    &lt;Box style={{ flexDirection: 'column', gap: 2 }}&gt;&#10;                        &lt;Text style={{ fontSize: 20, fontWeight: 'bold', color: '#276FBF' }}&gt;自行检索&lt;/Text&gt;&#10;                        &lt;Text style={{ fontSize: 14, color: '#546779' }}&gt;每一步都看得见&lt;/Text&gt;&#10;                    &lt;/Box&gt;&#10;                &lt;/Box&gt;&#10;                &lt;Box style={{ flexDirection: 'row', alignItems: 'center', gap: 10, height: 72, background: '#FFFFFF', borderRadius: 6, padding: '10px 14px' }}&gt;&#10;                    &lt;Text style={{ width: 56, fontSize: 14, color: '#546779' }}&gt;切分&lt;/Text&gt;&#10;                    &lt;Text style={{ flex: 1, fontSize: 14, color: '#20344B', lineHeight: 1.5 }}&gt;自己决定切分单位与片段编号&lt;/Text&gt;&#10;                &lt;/Box&gt;&#10;                &lt;Box style={{ flexDirection: 'row', alignItems: 'center', gap: 10, height: 72, background: '#FFFFFF', borderRadius: 6, padding: '10px 14px' }}&gt;&#10;                    &lt;Text style={{ width: 56, fontSize: 14, color: '#546779' }}&gt;向量&lt;/Text&gt;&#10;                    &lt;Text style={{ flex: 1, fontSize: 14, color: '#20344B', lineHeight: 1.5 }}&gt;自己在内存或自己的库里保存&lt;/Text&gt;&#10;                &lt;/Box&gt;&#10;                &lt;Box style={{ flexDirection: 'row', alignItems: 'center', gap: 10, height: 72, background: '#FFFFFF', borderRadius: 6, padding: '10px 14px' }}&gt;&#10;                    &lt;Text style={{ width: 56, fontSize: 14, color: '#546779' }}&gt;检索&lt;/Text&gt;&#10;                    &lt;Text style={{ flex: 1, fontSize: 14, color: '#20344B', lineHeight: 1.5 }}&gt;相似度排序可写进检索清单&lt;/Text&gt;&#10;                &lt;/Box&gt;&#10;                &lt;Box style={{ flexDirection: 'row', alignItems: 'center', gap: 10, height: 72, background: '#FFFFFF', borderRadius: 6, padding: '10px 14px' }}&gt;&#10;                    &lt;Text style={{ width: 56, fontSize: 14, color: '#546779' }}&gt;代价&lt;/Text&gt;&#10;                    &lt;Text style={{ flex: 1, fontSize: 14, color: '#20344B', lineHeight: 1.5 }}&gt;代码与维护都落在自己身上&lt;/Text&gt;&#10;                &lt;/Box&gt;&#10;            &lt;/Box&gt;&#10;&#10;            &lt;Box style={{ width: 564, background: '#F4F7FA', borderRadius: 10, padding: 16, flexDirection: 'column', gap: 10 }}&gt;&#10;                &lt;Box style={{ flexDirection: 'row', alignItems: 'center', gap: 10 }}&gt;&#10;                    &lt;Box style={{ width: 4, height: 34, background: '#26816B' }} /&gt;&#10;                    &lt;Box style={{ flexDirection: 'column', gap: 2 }}&gt;&#10;                        &lt;Text style={{ fontSize: 20, fontWeight: 'bold', color: '#26816B' }}&gt;托管检索&lt;/Text&gt;&#10;                        &lt;Text style={{ fontSize: 14, color: '#546779' }}&gt;把机制交给服务端&lt;/Text&gt;&#10;                    &lt;/Box&gt;&#10;                &lt;/Box&gt;&#10;                &lt;Box style={{ flexDirection: 'row', alignItems: 'center', gap: 10, height: 72, background: '#FFFFFF', borderRadius: 6, padding: '10px 14px' }}&gt;&#10;                    &lt;Text style={{ width: 56, fontSize: 14, color: '#546779' }}&gt;切分&lt;/Text&gt;&#10;                    &lt;Text style={{ flex: 1, fontSize: 14, color: '#20344B', lineHeight: 1.5 }}&gt;文件上传后由服务端处理&lt;/Text&gt;&#10;                &lt;/Box&gt;&#10;                &lt;Box style={{ flexDirection: 'row', alignItems: 'center', gap: 10, height: 72, background: '#FFFFFF', borderRadius: 6, padding: '10px 14px' }}&gt;&#10;                    &lt;Text style={{ width: 56, fontSize: 14, color: '#546779' }}&gt;向量&lt;/Text&gt;&#10;                    &lt;Text style={{ flex: 1, fontSize: 14, color: '#20344B', lineHeight: 1.5 }}&gt;索引保存在服务端向量存储里&lt;/Text&gt;&#10;                &lt;/Box&gt;&#10;                &lt;Box style={{ flexDirection: 'row', alignItems: 'center', gap: 10, height: 72, background: '#FFFFFF', borderRadius: 6, padding: '10px 14px' }}&gt;&#10;                    &lt;Text style={{ width: 56, fontSize: 14, color: '#546779' }}&gt;检索&lt;/Text&gt;&#10;                    &lt;Text style={{ flex: 1, fontSize: 14, color: '#20344B', lineHeight: 1.5 }}&gt;综合语义与关键词，由服务端执行&lt;/Text&gt;&#10;                &lt;/Box&gt;&#10;                &lt;Box style={{ flexDirection: 'row', alignItems: 'center', gap: 10, height: 72, background: '#FFFFFF', borderRadius: 6, padding: '10px 14px' }}&gt;&#10;                    &lt;Text style={{ width: 56, fontSize: 14, color: '#546779' }}&gt;代价&lt;/Text&gt;&#10;                    &lt;Text style={{ flex: 1, fontSize: 14, color: '#20344B', lineHeight: 1.5 }}&gt;文件上传与保留范围要自己管理&lt;/Text&gt;&#10;                &lt;/Box&gt;&#10;            &lt;/Box&gt;&#10;&#10;        &lt;/Box&gt;&#10;&#10;        &lt;Box style={{ flexDirection: 'row', alignItems: 'center', gap: 18, height: 86, background: '#EDF4FC', borderRadius: 10, padding: '14px 20px' }}&gt;&#10;            &lt;Box style={{ width: 4, height: 52, background: '#276FBF' }} /&gt;&#10;            &lt;Box style={{ flex: 1, flexDirection: 'column', gap: 4 }}&gt;&#10;                &lt;Text style={{ fontSize: 16, fontWeight: 'bold', color: '#276FBF' }}&gt;两条路线要用同一套题目与支持性检查&lt;/Text&gt;&#10;                &lt;Text style={{ fontSize: 14, color: '#546779', lineHeight: 1.5 }}&gt;题目不同、检查项不同，比出来的结论没有意义；本章配套主示例采用前一种透明的小型实现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9 Embedding 与 RAG：先找依据，再组织答案&lt;/Text&gt;&#10;        &lt;Text style={{ fontSize: 14, color: '#546779' }}&gt;18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2.9.4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托管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File Search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是另一条实现路线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自行检索与托管检索怎样比较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609600" y="1295400"/>
            <a:ext cx="5372100" cy="3838575"/>
          </a:xfrm>
          <a:prstGeom prst="roundRect">
            <a:avLst>
              <a:gd name="adj" fmla="val 248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71" name=""/>
          <p:cNvSpPr/>
          <p:nvPr/>
        </p:nvSpPr>
        <p:spPr>
          <a:xfrm rot="0" flipH="0" flipV="0">
            <a:off x="762000" y="1495425"/>
            <a:ext cx="38100" cy="3238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895350" y="1447800"/>
            <a:ext cx="933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自行检索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895350" y="1695450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每一步都看得见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762000" y="1952625"/>
            <a:ext cx="50673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95350" y="22193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切分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1524000" y="2171700"/>
            <a:ext cx="4171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自己决定切分单位与片段编号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762000" y="2733675"/>
            <a:ext cx="50673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895350" y="30003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向量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524000" y="2952750"/>
            <a:ext cx="4171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自己在内存或自己的库里保存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762000" y="3514725"/>
            <a:ext cx="50673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895350" y="37814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检索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1524000" y="3733800"/>
            <a:ext cx="4171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相似度排序可写进检索清单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762000" y="4295775"/>
            <a:ext cx="50673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895350" y="45624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代价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1524000" y="4514850"/>
            <a:ext cx="4171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代码与维护都落在自己身上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6210300" y="1295400"/>
            <a:ext cx="5372100" cy="3838575"/>
          </a:xfrm>
          <a:prstGeom prst="roundRect">
            <a:avLst>
              <a:gd name="adj" fmla="val 248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87" name=""/>
          <p:cNvSpPr/>
          <p:nvPr/>
        </p:nvSpPr>
        <p:spPr>
          <a:xfrm rot="0" flipH="0" flipV="0">
            <a:off x="6362700" y="1495425"/>
            <a:ext cx="38100" cy="3238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6496050" y="1447800"/>
            <a:ext cx="1066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托管检索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6496050" y="169545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把机制交给服务端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6362700" y="1952625"/>
            <a:ext cx="50673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6496050" y="22193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切分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7124700" y="2171700"/>
            <a:ext cx="4171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文件上传后由服务端处理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6362700" y="2733675"/>
            <a:ext cx="50673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496050" y="30003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向量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7124700" y="2952750"/>
            <a:ext cx="4171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索引保存在服务端向量存储里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6362700" y="3514725"/>
            <a:ext cx="50673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496050" y="37814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检索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7124700" y="3733800"/>
            <a:ext cx="4171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综合语义与关键词，由服务端执行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6362700" y="4295775"/>
            <a:ext cx="50673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496050" y="45624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代价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7124700" y="4514850"/>
            <a:ext cx="4171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文件上传与保留范围要自己管理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609600" y="5324475"/>
            <a:ext cx="10972800" cy="819150"/>
          </a:xfrm>
          <a:prstGeom prst="roundRect">
            <a:avLst>
              <a:gd name="adj" fmla="val 1162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03" name=""/>
          <p:cNvSpPr/>
          <p:nvPr/>
        </p:nvSpPr>
        <p:spPr>
          <a:xfrm rot="0" flipH="0" flipV="0">
            <a:off x="800100" y="5486400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009650" y="5495925"/>
            <a:ext cx="1038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两条路线要用同一套题目与支持性检查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1009650" y="5724525"/>
            <a:ext cx="10382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题目不同、检查项不同，比出来的结论没有意义；本章配套主示例采用前一种透明的小型实现。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2.9 Embedding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RAG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：先找依据，再组织答案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25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308" name="" descr="&lt;Slide notes={`同一件取证任务，我们在产品里再做一遍，看看工具入口长什么样。&#10;&#10;做法是选一个教学工作空间，把问题涉及的目录或文件引用进来，然后把要求写清楚：找出手作体验的时长、允许房间、开放时间和预约冲突依据，逐项给出文件位置与相关原文，再提出候选。这四类依据正好对应前面讲的证据范围。&#10;&#10;官方文档支持选择工作空间、引用上下文和添加文件，这就是这个练习用的产品入口。&#10;&#10;要留一个心眼：它给出了位置和原文，你就要打开原文件核对。只读到了房间容量，就该继续查预约；如果查到的是旧日期记录，要重新限定范围。`} style={{ width: 1280, height: 720, background: '#FFFFFF', flexDirection: 'column', padding: '20px 64px' }}&gt;&#10;&#10;    &lt;Box style={{ height: 100 }} /&gt;&#10;&#10;    &lt;Box style={{ height: 540, flexDirection: 'column', justifyContent: 'center', gap: 18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5&lt;/Text&gt;&#10;            &lt;/Box&gt;&#10;            &lt;Text style={{ fontSize: 16, color: '#546779' }}&gt;2.9.5&lt;/Text&gt;&#10;        &lt;/Box&gt;&#10;&#10;        &lt;Text style={{ fontSize: 56, fontWeight: 'bold', color: '#20344B', lineHeight: 1.15 }}&gt;用文件搜索完成相同的取证任务&lt;/Text&gt;&#10;&#10;        &lt;Box style={{ width: 640, height: 4, background: '#276FBF' }} /&gt;&#10;&#10;        &lt;Text style={{ fontSize: 19, color: '#546779', lineHeight: 1.7 }}&gt;要求写得越具体，回来的依据越容易核对；重点是位置与原文，不是一段流畅的总结。&lt;/Text&gt;&#10;&#10;        &lt;Box style={{ marginTop: 6, flexDirection: 'column', gap: 20 }}&gt;&#10;            &lt;Box style={{ width: 1152, height: 110, background: '#F7F3E8', borderRadius: 8, padding: '14px 20px', flexDirection: 'column', gap: 6, justifyContent: 'center' }}&gt;&#10;                &lt;Text style={{ fontSize: 14, color: '#546779' }}&gt;引用问题涉及的目录或文件，发送&lt;/Text&gt;&#10;                &lt;Text style={{ fontSize: 16, color: '#20344B', lineHeight: 1.5 }}&gt;请找出手作体验的时长、允许房间、开放时间和预约冲突依据；逐项给出文件位置与相关原文，再提出候选。&lt;/Text&gt;&#10;            &lt;/Box&gt;&#10;            &lt;Box style={{ flexDirection: 'row', gap: 44 }}&gt;&#10;                &lt;Box style={{ width: 354, height: 124, background: '#EDF4FC', borderRadius: 8, padding: '16px 18px', flexDirection: 'column', gap: 6, justifyContent: 'center' }}&gt;&#10;                    &lt;Text style={{ fontSize: 18, fontWeight: 'bold', color: '#276FBF' }}&gt;选择教学工作空间&lt;/Text&gt;&#10;                    &lt;Text style={{ fontSize: 14, color: '#546779', lineHeight: 1.5 }}&gt;先框定这次能读到哪些材料&lt;/Text&gt;&#10;                &lt;/Box&gt;&#10;                &lt;Box style={{ width: 354, height: 124, background: '#EDF4FC', borderRadius: 8, padding: '16px 18px', flexDirection: 'column', gap: 6, justifyContent: 'center' }}&gt;&#10;                    &lt;Text style={{ fontSize: 18, fontWeight: 'bold', color: '#276FBF' }}&gt;引用文件与上下文&lt;/Text&gt;&#10;                    &lt;Text style={{ fontSize: 14, color: '#546779', lineHeight: 1.5 }}&gt;也可以另外添加文件作为补充&lt;/Text&gt;&#10;                &lt;/Box&gt;&#10;                &lt;Box style={{ width: 354, height: 124, background: '#ECF7F2', borderRadius: 8, padding: '16px 18px', flexDirection: 'column', gap: 6, justifyContent: 'center' }}&gt;&#10;                    &lt;Text style={{ fontSize: 18, fontWeight: 'bold', color: '#26816B' }}&gt;打开原文件核对&lt;/Text&gt;&#10;                    &lt;Text style={{ fontSize: 14, color: '#546779', lineHeight: 1.5 }}&gt;引用要能落到那一段原文上&lt;/Text&gt;&#10;                &lt;/Box&gt;&#10;            &lt;/Box&gt;&#10;        &lt;/Box&gt;&#10;&#10;    &lt;/Box&gt;&#10;&#10;    &lt;Box style={{ height: 40, flexDirection: 'row', justifyContent: 'space-between', alignItems: 'center' }}&gt;&#10;        &lt;Text style={{ fontSize: 14, color: '#546779' }}&gt;2.9 Embedding 与 RAG：先找依据，再组织答案&lt;/Text&gt;&#10;        &lt;Text style={{ fontSize: 14, color: '#546779' }}&gt;19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0" name=""/>
          <p:cNvSpPr/>
          <p:nvPr/>
        </p:nvSpPr>
        <p:spPr>
          <a:xfrm rot="0" flipH="0" flipV="0">
            <a:off x="609600" y="12954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714375" y="140017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1295400" y="1466850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2.9.5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609600" y="20002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用文件搜索完成相同的取证任务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609600" y="291465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609600" y="31242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要求写得越具体，回来的依据越容易核对；重点是位置与原文，不是一段流畅的总结。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609600" y="3724275"/>
            <a:ext cx="10972800" cy="1047750"/>
          </a:xfrm>
          <a:prstGeom prst="roundRect">
            <a:avLst>
              <a:gd name="adj" fmla="val 7273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800100" y="4000500"/>
            <a:ext cx="10591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引用问题涉及的目录或文件，发送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800100" y="4219575"/>
            <a:ext cx="10591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请找出手作体验的时长、允许房间、开放时间和预约冲突依据；逐项给出文件位置与相关原文，再提出候选。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609600" y="4962525"/>
            <a:ext cx="3371850" cy="1181100"/>
          </a:xfrm>
          <a:prstGeom prst="roundRect">
            <a:avLst>
              <a:gd name="adj" fmla="val 645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781050" y="5295900"/>
            <a:ext cx="3028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选择教学工作空间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781050" y="5562600"/>
            <a:ext cx="3028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先框定这次能读到哪些材料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4400550" y="4962525"/>
            <a:ext cx="3371850" cy="1181100"/>
          </a:xfrm>
          <a:prstGeom prst="roundRect">
            <a:avLst>
              <a:gd name="adj" fmla="val 645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4572000" y="5295900"/>
            <a:ext cx="3028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引用文件与上下文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4572000" y="5562600"/>
            <a:ext cx="3028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也可以另外添加文件作为补充</a:t>
            </a:r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8191500" y="4962525"/>
            <a:ext cx="3371850" cy="1181100"/>
          </a:xfrm>
          <a:prstGeom prst="roundRect">
            <a:avLst>
              <a:gd name="adj" fmla="val 645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8362950" y="5295900"/>
            <a:ext cx="3028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打开原文件核对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8362950" y="5562600"/>
            <a:ext cx="3028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引用要能落到那一段原文上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2.9 Embedding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RAG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：先找依据，再组织答案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25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70" name="" descr="&lt;Slide notes={`提问的写法值得单独看一遍。&#10;&#10;「请找出手作体验的时长、允许房间、开放时间和预约冲突依据；逐项给出文件位置与相关原文，再提出候选。」这里面有两个要求特别关键：一是四类依据要逐项列清，不能只说「帮我查一下」；二是要文件位置和原文，而不是一段总结。&#10;&#10;然后看它的执行步骤，观察实际用了文件读取、搜索，还是已连接的查询工具。这一步不是走形式，因为不同的手段，能力边界不一样。&#10;&#10;最后一定打开原文件核对。如果只读到了房间容量，就继续查预约；如果查到的是旧日期记录，要重新限定范围。&#10;&#10;这里要克制一句：它的底层检索算法没有在这次练习里得到验证。所以不能说「它找到了文件」就等于「它用了 Embedding 或向量数据库」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9.5　用文件搜索完成相同的取证任务&lt;/Text&gt;&#10;            &lt;Text style={{ fontSize: 34, fontWeight: 'bold', color: '#20344B' }}&gt;一次取证任务的提问与观察&lt;/Text&gt;&#10;        &lt;/Box&gt;&#10;    &lt;/Box&gt;&#10;&#10;    &lt;Box style={{ height: 540, flexDirection: 'row', alignItems: 'center', gap: 48 }}&gt;&#10;&#10;        &lt;Box style={{ width: 634, flexDirection: 'column', gap: 14 }}&gt;&#10;&#10;            &lt;Text style={{ fontSize: 15, color: '#546779' }}&gt;提出要求：四类依据逐项列清&lt;/Text&gt;&#10;&#10;            &lt;Box style={{ width: 634, height: 212, background: '#F7F3E8', borderRadius: 8, padding: '18px 20px', flexDirection: 'column', gap: 8, justifyContent: 'center' }}&gt;&#10;                &lt;Text style={{ fontSize: 16, color: '#20344B', lineHeight: 1.7 }}&gt;请找出手作体验的时长、允许房间、开放时间和预约冲突依据；逐项给出文件位置与相关原文，再提出候选。&lt;/Text&gt;&#10;                &lt;Text style={{ fontSize: 14, color: '#546779', lineHeight: 1.5 }}&gt;要求写具体，回来的依据才能逐条核对。&lt;/Text&gt;&#10;            &lt;/Box&gt;&#10;&#10;            &lt;Box style={{ width: 634, height: 132, background: '#F4F7FA', borderRadius: 8, padding: '14px 18px', flexDirection: 'column', gap: 5, justifyContent: 'center' }}&gt;&#10;                &lt;Text style={{ fontSize: 15, fontWeight: 'bold', color: '#276FBF' }}&gt;两个要求缺一不可&lt;/Text&gt;&#10;                &lt;Text style={{ fontSize: 14, color: '#546779', lineHeight: 1.55 }}&gt;逐项列出必要依据，避免遗漏开放时间这类容易被跳过的条件；要位置与原文，而不是一段总结。&lt;/Text&gt;&#10;            &lt;/Box&gt;&#10;&#10;        &lt;/Box&gt;&#10;&#10;        &lt;Box style={{ width: 470, flexDirection: 'column', gap: 16 }}&gt;&#10;&#10;            &lt;Box style={{ width: 470, height: 128, background: '#EDF4FC', borderRadius: 10, padding: '14px 18px', flexDirection: 'column', gap: 5, justifyContent: 'center' }}&gt;&#10;                &lt;Text style={{ fontSize: 17, fontWeight: 'bold', color: '#276FBF' }}&gt;第一步　看它用了什么&lt;/Text&gt;&#10;                &lt;Text style={{ fontSize: 14, color: '#546779', lineHeight: 1.55 }}&gt;在展开的执行步骤里，观察实际采用了文件读取、搜索，还是已连接的查询工具。&lt;/Text&gt;&#10;            &lt;/Box&gt;&#10;&#10;            &lt;Box style={{ width: 470, height: 128, background: '#EDF4FC', borderRadius: 10, padding: '14px 18px', flexDirection: 'column', gap: 5, justifyContent: 'center' }}&gt;&#10;                &lt;Text style={{ fontSize: 17, fontWeight: 'bold', color: '#276FBF' }}&gt;第二步　打开原文件核对&lt;/Text&gt;&#10;                &lt;Text style={{ fontSize: 14, color: '#546779', lineHeight: 1.55 }}&gt;只读到房间容量就继续查预约；查到旧日期记录就重新限定范围。&lt;/Text&gt;&#10;            &lt;/Box&gt;&#10;&#10;            &lt;Box style={{ width: 470, height: 128, background: '#FFF4E6', borderRadius: 10, padding: '14px 18px', flexDirection: 'column', gap: 5, justifyContent: 'center' }}&gt;&#10;                &lt;Text style={{ fontSize: 17, fontWeight: 'bold', color: '#CB6B28' }}&gt;第三步　别替它下没验证的结论&lt;/Text&gt;&#10;                &lt;Text style={{ fontSize: 14, color: '#546779', lineHeight: 1.55 }}&gt;底层检索算法本次练习未验证，不能把「它找到了文件」写成「它用了向量数据库」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9 Embedding 与 RAG：先找依据，再组织答案&lt;/Text&gt;&#10;        &lt;Text style={{ fontSize: 14, color: '#546779' }}&gt;20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2.9.5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用文件搜索完成相同的取证任务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一次取证任务的提问与观察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609600" y="1857375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提出要求：四类依据逐项列清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609600" y="2162175"/>
            <a:ext cx="6038850" cy="2019300"/>
          </a:xfrm>
          <a:prstGeom prst="roundRect">
            <a:avLst>
              <a:gd name="adj" fmla="val 3774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800100" y="2695575"/>
            <a:ext cx="56578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请找出手作体验的时长、允许房间、开放时间和预约冲突依据；逐项给出文件位置与相关原文，再提出候选。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800100" y="3400425"/>
            <a:ext cx="5657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要求写具体，回来的依据才能逐条核对。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609600" y="4314825"/>
            <a:ext cx="6038850" cy="1257300"/>
          </a:xfrm>
          <a:prstGeom prst="roundRect">
            <a:avLst>
              <a:gd name="adj" fmla="val 606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781050" y="4581525"/>
            <a:ext cx="569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两个要求缺一不可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781050" y="4800600"/>
            <a:ext cx="56959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逐项列出必要依据，避免遗漏开放时间这类容易被跳过的条件；要位置与原文，而不是一段总结。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7105650" y="1733550"/>
            <a:ext cx="4476750" cy="1219200"/>
          </a:xfrm>
          <a:prstGeom prst="roundRect">
            <a:avLst>
              <a:gd name="adj" fmla="val 781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7277100" y="1971675"/>
            <a:ext cx="413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第一步　看它用了什么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7277100" y="2219325"/>
            <a:ext cx="41338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在展开的执行步骤里，观察实际采用了文件读取、搜索，还是已连接的查询工具。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7105650" y="3105150"/>
            <a:ext cx="4476750" cy="1219200"/>
          </a:xfrm>
          <a:prstGeom prst="roundRect">
            <a:avLst>
              <a:gd name="adj" fmla="val 781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7277100" y="3467100"/>
            <a:ext cx="413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第二步　打开原文件核对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7277100" y="3714750"/>
            <a:ext cx="41338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只读到房间容量就继续查预约；查到旧日期记录就重新限定范围。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7105650" y="4476750"/>
            <a:ext cx="4476750" cy="1219200"/>
          </a:xfrm>
          <a:prstGeom prst="roundRect">
            <a:avLst>
              <a:gd name="adj" fmla="val 781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7277100" y="4714875"/>
            <a:ext cx="413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第三步　别替它下没验证的结论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7277100" y="4962525"/>
            <a:ext cx="41338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底层检索算法本次练习未验证，不能把「它找到了文件」写成「它用了向量数据库」。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2.9 Embedding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RAG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：先找依据，再组织答案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25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93" name="" descr="&lt;Slide notes={`最后一个练习是做对照：在独立的工作区副本里，把预约文件移走，而且不接预约工具。&#10;&#10;这个时候正确的表现是什么？答案应该保留「预约待核对」，而不能因为材料里还有别的讲房间的文字，就推测出某个时段空闲。相似文档看起来相关，但它没有预约记录这份信息。&#10;&#10;更重要的是一种态度：把文件缺失记录成输入变化。输入变了，结论能覆盖的范围也就变了，这一点要写下来，而不是悄悄用别的文档把空补齐。&#10;&#10;还有一句反过来的提醒：靠提示要求它别编造，不等于资料已经到位。提示词管得住表达方式，管不住材料里到底有没有这份信息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9.5　用文件搜索完成相同的取证任务&lt;/Text&gt;&#10;            &lt;Text style={{ fontSize: 34, fontWeight: 'bold', color: '#20344B' }}&gt;缺资料对照：把缺失记成输入变化&lt;/Text&gt;&#10;        &lt;/Box&gt;&#10;    &lt;/Box&gt;&#10;&#10;    &lt;Box style={{ height: 540, flexDirection: 'column', justifyContent: 'center', gap: 20 }}&gt;&#10;&#10;        &lt;Box style={{ flexDirection: 'row', alignItems: 'center', gap: 20, height: 128, background: '#FFF4E6', borderRadius: 10, padding: '16px 22px' }}&gt;&#10;            &lt;Box style={{ width: 4, height: 84, background: '#CB6B28' }} /&gt;&#10;            &lt;Box style={{ width: 320, flexDirection: 'column', gap: 4 }}&gt;&#10;                &lt;Text style={{ fontSize: 20, fontWeight: 'bold', color: '#CB6B28' }}&gt;缺资料对照&lt;/Text&gt;&#10;                &lt;Text style={{ fontSize: 14, color: '#546779' }}&gt;在独立工作区副本中做&lt;/Text&gt;&#10;            &lt;/Box&gt;&#10;            &lt;Box style={{ width: 1, height: 84, background: '#B5C7D8' }} /&gt;&#10;            &lt;Text style={{ flex: 1, fontSize: 15, color: '#546779', lineHeight: 1.6 }}&gt;移走预约文件，且不接预约工具。这时材料里仍有房间、容量和开放时间，但没有任何一条预约记录。&lt;/Text&gt;&#10;        &lt;/Box&gt;&#10;&#10;        &lt;Box style={{ flexDirection: 'row', gap: 20 }}&gt;&#10;            &lt;Box style={{ width: 566, height: 176, background: '#F4F7FA', borderRadius: 10, padding: '16px 20px', flexDirection: 'column', gap: 6, justifyContent: 'center' }}&gt;&#10;                &lt;Text style={{ fontSize: 17, fontWeight: 'bold', color: '#276FBF' }}&gt;应该保留「预约待核对」&lt;/Text&gt;&#10;                &lt;Text style={{ fontSize: 14, color: '#546779', lineHeight: 1.6 }}&gt;不能由相似文档推测空闲。讲同一间房的说明文字看起来相关，但它没有回答这个时段有没有人用过。&lt;/Text&gt;&#10;            &lt;/Box&gt;&#10;            &lt;Box style={{ width: 566, height: 176, background: '#F4F7FA', borderRadius: 10, padding: '16px 20px', flexDirection: 'column', gap: 6, justifyContent: 'center' }}&gt;&#10;                &lt;Text style={{ fontSize: 17, fontWeight: 'bold', color: '#276FBF' }}&gt;把文件缺失记录为输入变化&lt;/Text&gt;&#10;                &lt;Text style={{ fontSize: 14, color: '#546779', lineHeight: 1.6 }}&gt;输入变了，结论能覆盖的范围也跟着变；这个变化要写进记录，而不是悄悄用别的文档补上。&lt;/Text&gt;&#10;            &lt;/Box&gt;&#10;        &lt;/Box&gt;&#10;&#10;        &lt;Box style={{ flexDirection: 'row', alignItems: 'center', gap: 18, height: 120, background: '#ECF7F2', borderRadius: 10, padding: '16px 20px' }}&gt;&#10;            &lt;Box style={{ width: 4, height: 74, background: '#26816B' }} /&gt;&#10;            &lt;Box style={{ flex: 1, flexDirection: 'column', gap: 5 }}&gt;&#10;                &lt;Text style={{ fontSize: 16, fontWeight: 'bold', color: '#26816B' }}&gt;提示词管不住材料里有没有这份信息&lt;/Text&gt;&#10;                &lt;Text style={{ fontSize: 14, color: '#546779', lineHeight: 1.55 }}&gt;靠提示要求它不要编造，不等于资料已经补齐；检索之前就要把范围与授权定好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9 Embedding 与 RAG：先找依据，再组织答案&lt;/Text&gt;&#10;        &lt;Text style={{ fontSize: 14, color: '#546779' }}&gt;21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2.9.5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用文件搜索完成相同的取证任务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缺资料对照：把缺失记成输入变化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609600" y="1504950"/>
            <a:ext cx="10972800" cy="1219200"/>
          </a:xfrm>
          <a:prstGeom prst="roundRect">
            <a:avLst>
              <a:gd name="adj" fmla="val 781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99" name=""/>
          <p:cNvSpPr/>
          <p:nvPr/>
        </p:nvSpPr>
        <p:spPr>
          <a:xfrm rot="0" flipH="0" flipV="0">
            <a:off x="819150" y="1714500"/>
            <a:ext cx="38100" cy="800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1047750" y="1905000"/>
            <a:ext cx="3048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缺资料对照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1047750" y="217170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在独立工作区副本中做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4286250" y="1714500"/>
            <a:ext cx="9525" cy="8001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4486275" y="1981200"/>
            <a:ext cx="68865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移走预约文件，且不接预约工具。这时材料里仍有房间、容量和开放时间，但没有任何一条预约记录。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609600" y="2914650"/>
            <a:ext cx="5391150" cy="1676400"/>
          </a:xfrm>
          <a:prstGeom prst="roundRect">
            <a:avLst>
              <a:gd name="adj" fmla="val 568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800100" y="3371850"/>
            <a:ext cx="5010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应该保留「预约待核对」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800100" y="3629025"/>
            <a:ext cx="50101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不能由相似文档推测空闲。讲同一间房的说明文字看起来相关，但它没有回答这个时段有没有人用过。</a:t>
            </a:r>
            <a:endParaRPr/>
          </a:p>
        </p:txBody>
      </p:sp>
      <p:sp>
        <p:nvSpPr>
          <p:cNvPr id="407" name=""/>
          <p:cNvSpPr/>
          <p:nvPr/>
        </p:nvSpPr>
        <p:spPr>
          <a:xfrm rot="0" flipH="0" flipV="0">
            <a:off x="6191250" y="2914650"/>
            <a:ext cx="5391150" cy="1676400"/>
          </a:xfrm>
          <a:prstGeom prst="roundRect">
            <a:avLst>
              <a:gd name="adj" fmla="val 568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6381750" y="3371850"/>
            <a:ext cx="5010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把文件缺失记录为输入变化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6381750" y="3629025"/>
            <a:ext cx="50101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输入变了，结论能覆盖的范围也跟着变；这个变化要写进记录，而不是悄悄用别的文档补上。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609600" y="4781550"/>
            <a:ext cx="10972800" cy="11430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11" name=""/>
          <p:cNvSpPr/>
          <p:nvPr/>
        </p:nvSpPr>
        <p:spPr>
          <a:xfrm rot="0" flipH="0" flipV="0">
            <a:off x="800100" y="5000625"/>
            <a:ext cx="38100" cy="7048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1009650" y="5105400"/>
            <a:ext cx="1038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提示词管不住材料里有没有这份信息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1009650" y="5343525"/>
            <a:ext cx="103822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靠提示要求它不要编造，不等于资料已经补齐；检索之前就要把范围与授权定好。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2.9 Embedding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RAG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：先找依据，再组织答案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25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416" name="" descr="&lt;Slide notes={`最后一块要解决的问题是：怎么证明这套方法真的有用。&#10;&#10;最容易犯的错是拿一个指标代替全部。检索命中了，就以为答案是对的；答案读起来顺，就以为方案能通过。&#10;&#10;实际上这里有三把不同的尺子。检索命中，看的是需要的相关片段回来了多少。引用支持，看的是每条结论有没有依据。业务通过，看的是最终的排期是不是真的满足人数、时长、房间和开放时间这些规则。&#10;&#10;三把尺子量的是三个环节，各打各的分，谁也不能替谁下结论。测对了环节，才知道该改哪里。`} style={{ width: 1280, height: 720, background: '#FFFFFF', flexDirection: 'column', padding: '20px 64px' }}&gt;&#10;&#10;    &lt;Box style={{ height: 100 }} /&gt;&#10;&#10;    &lt;Box style={{ height: 540, flexDirection: 'column', justifyContent: 'center', gap: 18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6&lt;/Text&gt;&#10;            &lt;/Box&gt;&#10;            &lt;Text style={{ fontSize: 16, color: '#546779' }}&gt;2.9.6&lt;/Text&gt;&#10;        &lt;/Box&gt;&#10;&#10;        &lt;Text style={{ fontSize: 56, fontWeight: 'bold', color: '#20344B', lineHeight: 1.15 }}&gt;检索命中、引用支持、最终正确分别测量&lt;/Text&gt;&#10;&#10;        &lt;Box style={{ width: 640, height: 4, background: '#276FBF' }} /&gt;&#10;&#10;        &lt;Text style={{ fontSize: 19, color: '#546779', lineHeight: 1.7 }}&gt;三个环节，三把尺子。测对了环节，才知道下一步该改哪一段。&lt;/Text&gt;&#10;&#10;        &lt;Box style={{ marginTop: 6, flexDirection: 'row', alignItems: 'flex-end', gap: 44, height: 236 }}&gt;&#10;&#10;            &lt;Box style={{ width: 354, flexDirection: 'column', alignItems: 'center', gap: 12 }}&gt;&#10;                &lt;Box style={{ width: 180, height: 150, background: '#EDF4FC', borderRadius: 8, justifyContent: 'center', alignItems: 'center' }}&gt;&#10;                    &lt;Text style={{ fontSize: 18, fontWeight: 'bold', color: '#276FBF' }}&gt;检索命中&lt;/Text&gt;&#10;                &lt;/Box&gt;&#10;                &lt;Text style={{ fontSize: 15, color: '#546779' }}&gt;需要的相关片段找回多少&lt;/Text&gt;&#10;            &lt;/Box&gt;&#10;&#10;            &lt;Box style={{ width: 354, flexDirection: 'column', alignItems: 'center', gap: 12 }}&gt;&#10;                &lt;Box style={{ width: 180, height: 120, background: '#FFF4E6', borderRadius: 8, justifyContent: 'center', alignItems: 'center' }}&gt;&#10;                    &lt;Text style={{ fontSize: 18, fontWeight: 'bold', color: '#CB6B28' }}&gt;引用支持&lt;/Text&gt;&#10;                &lt;/Box&gt;&#10;                &lt;Text style={{ fontSize: 15, color: '#546779' }}&gt;每条结论是否有依据&lt;/Text&gt;&#10;            &lt;/Box&gt;&#10;&#10;            &lt;Box style={{ width: 354, flexDirection: 'column', alignItems: 'center', gap: 12 }}&gt;&#10;                &lt;Box style={{ width: 180, height: 170, background: '#ECF7F2', borderRadius: 8, justifyContent: 'center', alignItems: 'center' }}&gt;&#10;                    &lt;Text style={{ fontSize: 18, fontWeight: 'bold', color: '#26816B' }}&gt;业务通过&lt;/Text&gt;&#10;                &lt;/Box&gt;&#10;                &lt;Text style={{ fontSize: 15, color: '#546779' }}&gt;最终排期是否满足规则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9 Embedding 与 RAG：先找依据，再组织答案&lt;/Text&gt;&#10;        &lt;Text style={{ fontSize: 14, color: '#546779' }}&gt;22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8" name=""/>
          <p:cNvSpPr/>
          <p:nvPr/>
        </p:nvSpPr>
        <p:spPr>
          <a:xfrm rot="0" flipH="0" flipV="0">
            <a:off x="609600" y="138112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714375" y="148590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1295400" y="1552575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2.9.6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609600" y="20859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检索命中、引用支持、最终正确分别测量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609600" y="300037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609600" y="320992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三个环节，三把尺子。测对了环节，才知道下一步该改哪一段。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1438275" y="4343400"/>
            <a:ext cx="1714500" cy="1428750"/>
          </a:xfrm>
          <a:prstGeom prst="roundRect">
            <a:avLst>
              <a:gd name="adj" fmla="val 5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1952625" y="49530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检索命中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1514475" y="5886450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需要的相关片段找回多少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5229225" y="4629150"/>
            <a:ext cx="1714500" cy="1143000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5743575" y="50958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引用支持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5448300" y="588645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每条结论是否有依据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9020175" y="4152900"/>
            <a:ext cx="1714500" cy="1619250"/>
          </a:xfrm>
          <a:prstGeom prst="roundRect">
            <a:avLst>
              <a:gd name="adj" fmla="val 470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9534525" y="48577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业务通过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9163050" y="588645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最终排期是否满足规则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2.9 Embedding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RAG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：先找依据，再组织答案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25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35" name="" descr="&lt;Slide notes={`三个环节具体怎么打分，这里给出一组可操作的判据。&#10;&#10;检索命中用 Recall@k。做法是人工先确定这个问题需要哪些相关片段，再看前 k 个结果把其中的多少找回来了。分母是预先标注的相关片段总数，不是问题数，也不是必要条件的条数。&#10;&#10;引用支持，看的是每一条可以验证的断言有没有被引用支持，有没有漏掉关键条件。比如容量片段被找回来了，检索命中会变高，但它支持不了「十点半没有预约」这句话。&#10;&#10;业务通过，要交给业务校验器，看最终排期是不是真的满足人数、时长、房间、开放时间这些规则。&#10;&#10;今天这个练习的重点是：三个环节独立评分，三种评分不能互相代替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9.6　检索命中、引用支持、最终正确分别测量&lt;/Text&gt;&#10;            &lt;Text style={{ fontSize: 34, fontWeight: 'bold', color: '#20344B' }}&gt;三个环节各测各的&lt;/Text&gt;&#10;        &lt;/Box&gt;&#10;    &lt;/Box&gt;&#10;&#10;    &lt;Box style={{ height: 540, flexDirection: 'column', justifyContent: 'center', gap: 20 }}&gt;&#10;&#10;        &lt;Box style={{ flexDirection: 'row', gap: 44 }}&gt;&#10;&#10;            &lt;Box style={{ width: 354, height: 280, background: '#EDF4FC', borderRadius: 8, padding: '18px 18px', flexDirection: 'column', gap: 10 }}&gt;&#10;                &lt;Text style={{ fontSize: 40, fontWeight: 'bold', color: '#276FBF' }}&gt;01&lt;/Text&gt;&#10;                &lt;Text style={{ fontSize: 20, fontWeight: 'bold', color: '#276FBF' }}&gt;检索命中&lt;/Text&gt;&#10;                &lt;Text style={{ fontSize: 14, color: '#546779', lineHeight: 1.6 }}&gt;需要的相关片段，在前 k 个结果里找回了多少。&lt;/Text&gt;&#10;                &lt;Box style={{ width: 318, height: 1, background: '#B5C7D8' }} /&gt;&#10;                &lt;Text style={{ fontSize: 14, color: '#20344B', lineHeight: 1.6 }}&gt;判据：Recall@k，先标注相关片段集合，再算分母。&lt;/Text&gt;&#10;            &lt;/Box&gt;&#10;&#10;            &lt;Box style={{ width: 354, height: 280, background: '#EDF4FC', borderRadius: 8, padding: '18px 18px', flexDirection: 'column', gap: 10 }}&gt;&#10;                &lt;Text style={{ fontSize: 40, fontWeight: 'bold', color: '#276FBF' }}&gt;02&lt;/Text&gt;&#10;                &lt;Text style={{ fontSize: 20, fontWeight: 'bold', color: '#276FBF' }}&gt;引用支持&lt;/Text&gt;&#10;                &lt;Text style={{ fontSize: 14, color: '#546779', lineHeight: 1.6 }}&gt;每条结论是否真的有依据，有没有遗漏关键条件。&lt;/Text&gt;&#10;                &lt;Box style={{ width: 318, height: 1, background: '#B5C7D8' }} /&gt;&#10;                &lt;Text style={{ fontSize: 14, color: '#20344B', lineHeight: 1.6 }}&gt;判据：逐条断言回到片段核对支持关系。&lt;/Text&gt;&#10;            &lt;/Box&gt;&#10;&#10;            &lt;Box style={{ width: 354, height: 280, background: '#ECF7F2', borderRadius: 8, padding: '18px 18px', flexDirection: 'column', gap: 10 }}&gt;&#10;                &lt;Text style={{ fontSize: 40, fontWeight: 'bold', color: '#26816B' }}&gt;03&lt;/Text&gt;&#10;                &lt;Text style={{ fontSize: 20, fontWeight: 'bold', color: '#26816B' }}&gt;业务通过&lt;/Text&gt;&#10;                &lt;Text style={{ fontSize: 14, color: '#546779', lineHeight: 1.6 }}&gt;最终排期是否满足人数、时长、房间与开放时间。&lt;/Text&gt;&#10;                &lt;Box style={{ width: 318, height: 1, background: '#B5C7D8' }} /&gt;&#10;                &lt;Text style={{ fontSize: 14, color: '#20344B', lineHeight: 1.6 }}&gt;判据：交给业务校验器，按规则逐项检查。&lt;/Text&gt;&#10;            &lt;/Box&gt;&#10;&#10;        &lt;/Box&gt;&#10;&#10;        &lt;Box style={{ flexDirection: 'row', alignItems: 'center', gap: 18, height: 96, background: '#FFF4E6', borderRadius: 10, padding: '14px 20px' }}&gt;&#10;            &lt;Box style={{ width: 4, height: 58, background: '#CB6B28' }} /&gt;&#10;            &lt;Box style={{ flex: 1, flexDirection: 'column', gap: 4 }}&gt;&#10;                &lt;Text style={{ fontSize: 16, fontWeight: 'bold', color: '#CB6B28' }}&gt;找回容量片段，不能证明十点半没有预约&lt;/Text&gt;&#10;                &lt;Text style={{ fontSize: 14, color: '#546779', lineHeight: 1.5 }}&gt;它提高了检索命中，却支持不了这句结论——这正是引用支持要单独测的原因。&lt;/Text&gt;&#10;            &lt;/Box&gt;&#10;        &lt;/Box&gt;&#10;&#10;        &lt;Box style={{ flexDirection: 'row', alignItems: 'center', gap: 18, height: 90, background: '#F4F7FA', borderRadius: 10, padding: '14px 20px' }}&gt;&#10;            &lt;Box style={{ width: 4, height: 54, background: '#276FBF' }} /&gt;&#10;            &lt;Box style={{ flex: 1, flexDirection: 'column', gap: 4 }}&gt;&#10;                &lt;Text style={{ fontSize: 16, fontWeight: 'bold', color: '#276FBF' }}&gt;三个环节独立评分，三种评分不能互相代替&lt;/Text&gt;&#10;                &lt;Text style={{ fontSize: 14, color: '#546779', lineHeight: 1.5 }}&gt;测对了环节，才知道下一步该改检索、改提示，还是改规则校验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9 Embedding 与 RAG：先找依据，再组织答案&lt;/Text&gt;&#10;        &lt;Text style={{ fontSize: 14, color: '#546779' }}&gt;23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838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2.9.6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检索命中、引用支持、最终正确分别测量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8384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三个环节各测各的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609600" y="1304925"/>
            <a:ext cx="3371850" cy="2667000"/>
          </a:xfrm>
          <a:prstGeom prst="roundRect">
            <a:avLst>
              <a:gd name="adj" fmla="val 285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781050" y="1476375"/>
            <a:ext cx="3028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76FB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781050" y="2028825"/>
            <a:ext cx="3028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检索命中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781050" y="2352675"/>
            <a:ext cx="30289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需要的相关片段，在前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k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个结果里找回了多少。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781050" y="2705100"/>
            <a:ext cx="302895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781050" y="2809875"/>
            <a:ext cx="30289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判据：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>Recall@k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，先标注相关片段集合，再算分母。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4400550" y="1304925"/>
            <a:ext cx="3371850" cy="2667000"/>
          </a:xfrm>
          <a:prstGeom prst="roundRect">
            <a:avLst>
              <a:gd name="adj" fmla="val 285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4572000" y="1476375"/>
            <a:ext cx="3028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76FB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4572000" y="2028825"/>
            <a:ext cx="3028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引用支持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4572000" y="2352675"/>
            <a:ext cx="30289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每条结论是否真的有依据，有没有遗漏关键条件。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4572000" y="2705100"/>
            <a:ext cx="302895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4572000" y="2809875"/>
            <a:ext cx="30289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判据：逐条断言回到片段核对支持关系。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8191500" y="1304925"/>
            <a:ext cx="3371850" cy="2667000"/>
          </a:xfrm>
          <a:prstGeom prst="roundRect">
            <a:avLst>
              <a:gd name="adj" fmla="val 285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8362950" y="1476375"/>
            <a:ext cx="3028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6816B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8362950" y="2028825"/>
            <a:ext cx="3028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业务通过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8362950" y="2352675"/>
            <a:ext cx="30289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最终排期是否满足人数、时长、房间与开放时间。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8362950" y="2705100"/>
            <a:ext cx="302895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8362950" y="2809875"/>
            <a:ext cx="30289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判据：交给业务校验器，按规则逐项检查。</a:t>
            </a:r>
            <a:endParaRPr/>
          </a:p>
        </p:txBody>
      </p:sp>
      <p:sp>
        <p:nvSpPr>
          <p:cNvPr id="458" name=""/>
          <p:cNvSpPr/>
          <p:nvPr/>
        </p:nvSpPr>
        <p:spPr>
          <a:xfrm rot="0" flipH="0" flipV="0">
            <a:off x="609600" y="416242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59" name=""/>
          <p:cNvSpPr/>
          <p:nvPr/>
        </p:nvSpPr>
        <p:spPr>
          <a:xfrm rot="0" flipH="0" flipV="0">
            <a:off x="800100" y="4343400"/>
            <a:ext cx="38100" cy="5524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1009650" y="4381500"/>
            <a:ext cx="1038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找回容量片段，不能证明十点半没有预约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1009650" y="4610100"/>
            <a:ext cx="10382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它提高了检索命中，却支持不了这句结论——这正是引用支持要单独测的原因。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609600" y="5267325"/>
            <a:ext cx="10972800" cy="85725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63" name=""/>
          <p:cNvSpPr/>
          <p:nvPr/>
        </p:nvSpPr>
        <p:spPr>
          <a:xfrm rot="0" flipH="0" flipV="0">
            <a:off x="800100" y="5438775"/>
            <a:ext cx="38100" cy="5143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1009650" y="5457825"/>
            <a:ext cx="1038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三个环节独立评分，三种评分不能互相代替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1009650" y="5686425"/>
            <a:ext cx="10382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测对了环节，才知道下一步该改检索、改提示，还是改规则校验。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2.9 Embedding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RAG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：先找依据，再组织答案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25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468" name="" descr="&lt;Slide notes={`先说检索这一把尺子怎么用。&#10;&#10;Recall@k 的分母是预先标注的相关片段总数。这里最容易错的一步，是把必要条件当成片段。这个练习里有四类必要依据——人数与时长、允许房间、开放时间、已有预约——它们可能对应好多个片段，所以不能直接把 4 写成分母。先标注相关片段集合，再算。&#10;&#10;接下来做三组对照：分别用取 1 段、取 3 段和更大的值跑一遍，每次都把检索清单和答案存下来。然后看一件事——增加结果之后，是补齐了证据，还是只是多了几段无关的文字。&#10;&#10;最后问一个材料里没有答案的问题：现场是否提供儿童看护。回答应该明确说明无法确认，而不是编一个出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9.6　检索命中、引用支持、最终正确分别测量&lt;/Text&gt;&#10;            &lt;Text style={{ fontSize: 34, fontWeight: 'bold', color: '#20344B' }}&gt;Recall@k 与三项检查练习&lt;/Text&gt;&#10;        &lt;/Box&gt;&#10;    &lt;/Box&gt;&#10;&#10;    &lt;Box style={{ height: 540, flexDirection: 'column', justifyContent: 'center', gap: 20 }}&gt;&#10;&#10;        &lt;Box style={{ width: 1152, height: 120, background: '#EDF4FC', borderRadius: 10, padding: '14px 22px', flexDirection: 'column', gap: 4, justifyContent: 'center' }}&gt;&#10;            &lt;Text style={{ fontSize: 14, color: '#546779' }}&gt;检索阶段怎么打分&lt;/Text&gt;&#10;            &lt;Text style={{ fontSize: 20, fontWeight: 'bold', color: '#276FBF' }}&gt;Recall@k = 前 k 个结果中命中的相关片段数 ÷ 预先标注的相关片段总数&lt;/Text&gt;&#10;            &lt;Text style={{ fontSize: 14, color: '#546779' }}&gt;分母是预先标注的相关片段总数，不是问题数，也不是必要条件的条数。&lt;/Text&gt;&#10;        &lt;/Box&gt;&#10;&#10;        &lt;Box style={{ flexDirection: 'column', gap: 12 }}&gt;&#10;            &lt;Box style={{ flexDirection: 'row', alignItems: 'center', gap: 18, height: 82, background: '#F4F7FA', borderRadius: 8, padding: '12px 20px' }}&gt;&#10;                &lt;Box style={{ width: 4, height: 52, background: '#276FBF' }} /&gt;&#10;                &lt;Text style={{ width: 300, fontSize: 16, fontWeight: 'bold', color: '#276FBF' }}&gt;先列出四项必要依据&lt;/Text&gt;&#10;                &lt;Text style={{ flex: 1, fontSize: 14, color: '#546779', lineHeight: 1.5 }}&gt;人数与时长、允许房间、开放时间、已有预约，四类可能要多个片段才凑得齐。&lt;/Text&gt;&#10;            &lt;/Box&gt;&#10;            &lt;Box style={{ flexDirection: 'row', alignItems: 'center', gap: 18, height: 82, background: '#F4F7FA', borderRadius: 8, padding: '12px 20px' }}&gt;&#10;                &lt;Box style={{ width: 4, height: 52, background: '#276FBF' }} /&gt;&#10;                &lt;Text style={{ width: 300, fontSize: 16, fontWeight: 'bold', color: '#276FBF' }}&gt;分别用不同的前 k 值运行&lt;/Text&gt;&#10;                &lt;Text style={{ flex: 1, fontSize: 14, color: '#546779', lineHeight: 1.5 }}&gt;取 1、取 3 和取更大的值各跑一遍，每次保存检索清单和答案。&lt;/Text&gt;&#10;            &lt;/Box&gt;&#10;            &lt;Box style={{ flexDirection: 'row', alignItems: 'center', gap: 18, height: 82, background: '#F4F7FA', borderRadius: 8, padding: '12px 20px' }}&gt;&#10;                &lt;Box style={{ width: 4, height: 52, background: '#26816B' }} /&gt;&#10;                &lt;Text style={{ width: 300, fontSize: 16, fontWeight: 'bold', color: '#26816B' }}&gt;对照两次的结果&lt;/Text&gt;&#10;                &lt;Text style={{ flex: 1, fontSize: 14, color: '#546779', lineHeight: 1.5 }}&gt;看是补齐了证据，还是只是加入更多无关文字。&lt;/Text&gt;&#10;            &lt;/Box&gt;&#10;        &lt;/Box&gt;&#10;&#10;        &lt;Box style={{ flexDirection: 'row', alignItems: 'center', gap: 18, height: 90, background: '#FFF4E6', borderRadius: 10, padding: '14px 20px' }}&gt;&#10;            &lt;Box style={{ width: 4, height: 54, background: '#CB6B28' }} /&gt;&#10;            &lt;Box style={{ flex: 1, flexDirection: 'column', gap: 4 }}&gt;&#10;                &lt;Text style={{ fontSize: 16, fontWeight: 'bold', color: '#CB6B28' }}&gt;再问一个材料里没有答案的问题&lt;/Text&gt;&#10;                &lt;Text style={{ fontSize: 14, color: '#546779', lineHeight: 1.5 }}&gt;现场是否提供儿童看护——材料没有相关信息，回答应说明无法确认，而不是补一个说法上去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9 Embedding 与 RAG：先找依据，再组织答案&lt;/Text&gt;&#10;        &lt;Text style={{ fontSize: 14, color: '#546779' }}&gt;24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48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2.9.6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检索命中、引用支持、最终正确分别测量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48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Recall@k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与三项检查练习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609600" y="1238250"/>
            <a:ext cx="10972800" cy="11430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819150" y="1495425"/>
            <a:ext cx="1055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检索阶段怎么打分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819150" y="1695450"/>
            <a:ext cx="10553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Recall@k = </a:t>
            </a: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前</a:t>
            </a: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k </a:t>
            </a: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个结果中命中的相关片段数</a:t>
            </a: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÷ </a:t>
            </a: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预先标注的相关片段总数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819150" y="1962150"/>
            <a:ext cx="1055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分母是预先标注的相关片段总数，不是问题数，也不是必要条件的条数。</a:t>
            </a:r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609600" y="2571750"/>
            <a:ext cx="10972800" cy="781050"/>
          </a:xfrm>
          <a:prstGeom prst="roundRect">
            <a:avLst>
              <a:gd name="adj" fmla="val 975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78" name=""/>
          <p:cNvSpPr/>
          <p:nvPr/>
        </p:nvSpPr>
        <p:spPr>
          <a:xfrm rot="0" flipH="0" flipV="0">
            <a:off x="800100" y="2714625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1009650" y="2867025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先列出四项必要依据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4038600" y="2838450"/>
            <a:ext cx="73533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人数与时长、允许房间、开放时间、已有预约，四类可能要多个片段才凑得齐。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609600" y="3467100"/>
            <a:ext cx="10972800" cy="781050"/>
          </a:xfrm>
          <a:prstGeom prst="roundRect">
            <a:avLst>
              <a:gd name="adj" fmla="val 975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82" name=""/>
          <p:cNvSpPr/>
          <p:nvPr/>
        </p:nvSpPr>
        <p:spPr>
          <a:xfrm rot="0" flipH="0" flipV="0">
            <a:off x="800100" y="3609975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1009650" y="3762375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分别用不同的前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k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值运行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4038600" y="3733800"/>
            <a:ext cx="73533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取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、取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和取更大的值各跑一遍，每次保存检索清单和答案。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609600" y="4362450"/>
            <a:ext cx="10972800" cy="781050"/>
          </a:xfrm>
          <a:prstGeom prst="roundRect">
            <a:avLst>
              <a:gd name="adj" fmla="val 975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86" name=""/>
          <p:cNvSpPr/>
          <p:nvPr/>
        </p:nvSpPr>
        <p:spPr>
          <a:xfrm rot="0" flipH="0" flipV="0">
            <a:off x="800100" y="4505325"/>
            <a:ext cx="38100" cy="495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1009650" y="4657725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对照两次的结果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4038600" y="4629150"/>
            <a:ext cx="73533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看是补齐了证据，还是只是加入更多无关文字。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609600" y="5334000"/>
            <a:ext cx="10972800" cy="85725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90" name=""/>
          <p:cNvSpPr/>
          <p:nvPr/>
        </p:nvSpPr>
        <p:spPr>
          <a:xfrm rot="0" flipH="0" flipV="0">
            <a:off x="800100" y="5505450"/>
            <a:ext cx="38100" cy="5143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1009650" y="5524500"/>
            <a:ext cx="1038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再问一个材料里没有答案的问题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1009650" y="5753100"/>
            <a:ext cx="10382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现场是否提供儿童看护——材料没有相关信息，回答应说明无法确认，而不是补一个说法上去。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2.9 Embedding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RAG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：先找依据，再组织答案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25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495" name="" descr="&lt;Slide notes={`这一节到这里，我想留下三个问题，以后做检索增强的时候都可以拿出来问一遍。&#10;&#10;第一个，找得回依据吗？检索出来的那几段，能不能回到原文件，能不能说清是那一段原文。&#10;&#10;第二个，引得住结论吗？每一条结论是不是真的由引用支撑，还是引用了一个看起来相关、其实答不了这个问题的片段。&#10;&#10;第三个，判得对结果吗？最终的方案，有没有通过业务规则的检查。&#10;&#10;这三个问题连起来，就是这一节想说的价值：把可追溯的资料送到生成环节，并且让资料不足这件事可以被发现，而不是被一段流畅的文字盖过去。更新预约这类任务仍然优先用有明确身份与日期的查询工具，两种方法可以在同一个 Agent 里协同使用。`} style={{ width: 1280, height: 720, background: '#FFFFFF', flexDirection: 'column', padding: '20px 64px' }}&gt;&#10;&#10;    &lt;Box style={{ height: 100 }} /&gt;&#10;&#10;    &lt;Box style={{ height: 540, flexDirection: 'column', justifyContent: 'center', gap: 20 }}&gt;&#10;&#10;        &lt;Box style={{ flexDirection: 'row', alignItems: 'center', gap: 16 }}&gt;&#10;            &lt;Box style={{ width: 6, height: 44, background: '#276FBF' }} /&gt;&#10;            &lt;Text style={{ fontSize: 34, fontWeight: 'bold', color: '#20344B' }}&gt;记住三个问题&lt;/Text&gt;&#10;        &lt;/Box&gt;&#10;&#10;        &lt;Box style={{ flexDirection: 'column', gap: 14 }}&gt;&#10;&#10;            &lt;Box style={{ flexDirection: 'row', alignItems: 'center', gap: 20, height: 104, background: '#EDF4FC', borderRadius: 10, padding: '14px 22px' }}&gt;&#10;                &lt;Text style={{ width: 72, fontSize: 34, fontWeight: 'bold', color: '#276FBF' }}&gt;01&lt;/Text&gt;&#10;                &lt;Box style={{ flex: 1, flexDirection: 'column', gap: 4 }}&gt;&#10;                    &lt;Text style={{ fontSize: 19, fontWeight: 'bold', color: '#276FBF' }}&gt;找得回依据吗&lt;/Text&gt;&#10;                    &lt;Text style={{ fontSize: 14, color: '#546779', lineHeight: 1.5 }}&gt;检索出来的片段，能不能回到原文件，说清是哪一段原文。&lt;/Text&gt;&#10;                &lt;/Box&gt;&#10;            &lt;/Box&gt;&#10;&#10;            &lt;Box style={{ flexDirection: 'row', alignItems: 'center', gap: 20, height: 104, background: '#EDF4FC', borderRadius: 10, padding: '14px 22px' }}&gt;&#10;                &lt;Text style={{ width: 72, fontSize: 34, fontWeight: 'bold', color: '#276FBF' }}&gt;02&lt;/Text&gt;&#10;                &lt;Box style={{ flex: 1, flexDirection: 'column', gap: 4 }}&gt;&#10;                    &lt;Text style={{ fontSize: 19, fontWeight: 'bold', color: '#276FBF' }}&gt;引得住结论吗&lt;/Text&gt;&#10;                    &lt;Text style={{ fontSize: 14, color: '#546779', lineHeight: 1.5 }}&gt;每一条结论，是不是真的由引用支撑，而不是引用了一个答不了问题的片段。&lt;/Text&gt;&#10;                &lt;/Box&gt;&#10;            &lt;/Box&gt;&#10;&#10;            &lt;Box style={{ flexDirection: 'row', alignItems: 'center', gap: 20, height: 104, background: '#ECF7F2', borderRadius: 10, padding: '14px 22px' }}&gt;&#10;                &lt;Text style={{ width: 72, fontSize: 34, fontWeight: 'bold', color: '#26816B' }}&gt;03&lt;/Text&gt;&#10;                &lt;Box style={{ flex: 1, flexDirection: 'column', gap: 4 }}&gt;&#10;                    &lt;Text style={{ fontSize: 19, fontWeight: 'bold', color: '#26816B' }}&gt;判得对结果吗&lt;/Text&gt;&#10;                    &lt;Text style={{ fontSize: 14, color: '#546779', lineHeight: 1.5 }}&gt;最终的方案，有没有通过业务规则的逐项检查。&lt;/Text&gt;&#10;                &lt;/Box&gt;&#10;            &lt;/Box&gt;&#10;&#10;        &lt;/Box&gt;&#10;&#10;        &lt;Box style={{ flexDirection: 'row', alignItems: 'center', gap: 18, height: 90, background: '#F4F7FA', borderRadius: 10, padding: '14px 22px' }}&gt;&#10;            &lt;Box style={{ width: 4, height: 54, background: '#276FBF' }} /&gt;&#10;            &lt;Box style={{ flex: 1, flexDirection: 'column', gap: 4 }}&gt;&#10;                &lt;Text style={{ fontSize: 16, fontWeight: 'bold', color: '#276FBF' }}&gt;2.9 Embedding 与 RAG　·　先找依据，再组织答案&lt;/Text&gt;&#10;                &lt;Text style={{ fontSize: 14, color: '#546779', lineHeight: 1.5 }}&gt;把可追溯的资料送到生成环节，并让资料不足可以被发现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9 Embedding 与 RAG：先找依据，再组织答案&lt;/Text&gt;&#10;        &lt;Text style={{ fontSize: 14, color: '#546779' }}&gt;25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7" name=""/>
          <p:cNvSpPr/>
          <p:nvPr/>
        </p:nvSpPr>
        <p:spPr>
          <a:xfrm rot="0" flipH="0" flipV="0">
            <a:off x="609600" y="1266825"/>
            <a:ext cx="5715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819150" y="1285875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记住三个问题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609600" y="187642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819150" y="2181225"/>
            <a:ext cx="685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76FB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1695450" y="2124075"/>
            <a:ext cx="9677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找得回依据吗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1695450" y="2381250"/>
            <a:ext cx="9677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检索出来的片段，能不能回到原文件，说清是哪一段原文。</a:t>
            </a:r>
            <a:endParaRPr/>
          </a:p>
        </p:txBody>
      </p:sp>
      <p:sp>
        <p:nvSpPr>
          <p:cNvPr id="503" name=""/>
          <p:cNvSpPr/>
          <p:nvPr/>
        </p:nvSpPr>
        <p:spPr>
          <a:xfrm rot="0" flipH="0" flipV="0">
            <a:off x="609600" y="300037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819150" y="3305175"/>
            <a:ext cx="685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76FB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1695450" y="3248025"/>
            <a:ext cx="9677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引得住结论吗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1695450" y="3505200"/>
            <a:ext cx="9677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每一条结论，是不是真的由引用支撑，而不是引用了一个答不了问题的片段。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609600" y="412432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819150" y="4429125"/>
            <a:ext cx="685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6816B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1695450" y="4371975"/>
            <a:ext cx="9677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判得对结果吗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1695450" y="4629150"/>
            <a:ext cx="9677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最终的方案，有没有通过业务规则的逐项检查。</a:t>
            </a:r>
            <a:endParaRPr/>
          </a:p>
        </p:txBody>
      </p:sp>
      <p:sp>
        <p:nvSpPr>
          <p:cNvPr id="511" name=""/>
          <p:cNvSpPr/>
          <p:nvPr/>
        </p:nvSpPr>
        <p:spPr>
          <a:xfrm rot="0" flipH="0" flipV="0">
            <a:off x="609600" y="5305425"/>
            <a:ext cx="10972800" cy="85725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2" name=""/>
          <p:cNvSpPr/>
          <p:nvPr/>
        </p:nvSpPr>
        <p:spPr>
          <a:xfrm rot="0" flipH="0" flipV="0">
            <a:off x="819150" y="5476875"/>
            <a:ext cx="38100" cy="5143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1028700" y="5495925"/>
            <a:ext cx="10344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2.9 Embedding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与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RAG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　·　先找依据，再组织答案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1028700" y="5724525"/>
            <a:ext cx="103441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把可追溯的资料送到生成环节，并让资料不足可以被发现。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2.9 Embedding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RAG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：先找依据，再组织答案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25 / 25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2026-09-29T03:58:41Z</dcterms:created>
  <dcterms:modified xsi:type="dcterms:W3CDTF">2026-09-29T03:58:41Z</dcterms:modified>
</cp:coreProperties>
</file>