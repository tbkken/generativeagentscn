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ppt/slides/slide21.xml" ContentType="application/vnd.openxmlformats-officedocument.presentationml.slide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8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13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0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9.xml" ContentType="application/vnd.openxmlformats-officedocument.presentationml.slide+xml"/>
  <Override PartName="/ppt/slides/slide22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23.xml" ContentType="application/vnd.openxmlformats-officedocument.presentationml.slide+xml"/>
  <Override PartName="/ppt/slides/slide4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tableStyles.xml" ContentType="application/vnd.openxmlformats-officedocument.presentationml.tableStyles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Relationship Id="rId2" Type="http://schemas.openxmlformats.org/officeDocument/2006/relationships/extended-properties" Target="docProps/app.xml" 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firstSlideNum="1">
  <p:sldMasterIdLst>
    <p:sldMasterId id="2147483648" r:id="rId0"/>
  </p:sldMasterIdLst>
  <p:notesMasterIdLst>
    <p:notesMasterId r:id="rId25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8" Type="http://schemas.openxmlformats.org/officeDocument/2006/relationships/slide" Target="slides/slide18.xml" /><Relationship Id="rId13" Type="http://schemas.openxmlformats.org/officeDocument/2006/relationships/slide" Target="slides/slide13.xml" /><Relationship Id="rId0" Type="http://schemas.openxmlformats.org/officeDocument/2006/relationships/slideMaster" Target="slideMasters/slideMaster1.xml" /><Relationship Id="rId11" Type="http://schemas.openxmlformats.org/officeDocument/2006/relationships/slide" Target="slides/slide11.xml" /><Relationship Id="rId1" Type="http://schemas.openxmlformats.org/officeDocument/2006/relationships/slide" Target="slides/slide1.xml" /><Relationship Id="rId12" Type="http://schemas.openxmlformats.org/officeDocument/2006/relationships/slide" Target="slides/slide12.xml" /><Relationship Id="rId10" Type="http://schemas.openxmlformats.org/officeDocument/2006/relationships/slide" Target="slides/slide10.xml" /><Relationship Id="rId14" Type="http://schemas.openxmlformats.org/officeDocument/2006/relationships/slide" Target="slides/slide14.xml" /><Relationship Id="rId15" Type="http://schemas.openxmlformats.org/officeDocument/2006/relationships/slide" Target="slides/slide15.xml" /><Relationship Id="rId16" Type="http://schemas.openxmlformats.org/officeDocument/2006/relationships/slide" Target="slides/slide16.xml" /><Relationship Id="rId17" Type="http://schemas.openxmlformats.org/officeDocument/2006/relationships/slide" Target="slides/slide17.xml" /><Relationship Id="rId19" Type="http://schemas.openxmlformats.org/officeDocument/2006/relationships/slide" Target="slides/slide19.xml" /><Relationship Id="rId26" Type="http://schemas.openxmlformats.org/officeDocument/2006/relationships/presProps" Target="presProps.xml" /><Relationship Id="rId2" Type="http://schemas.openxmlformats.org/officeDocument/2006/relationships/slide" Target="slides/slide2.xml" /><Relationship Id="rId21" Type="http://schemas.openxmlformats.org/officeDocument/2006/relationships/slide" Target="slides/slide21.xml" /><Relationship Id="rId20" Type="http://schemas.openxmlformats.org/officeDocument/2006/relationships/slide" Target="slides/slide20.xml" /><Relationship Id="rId22" Type="http://schemas.openxmlformats.org/officeDocument/2006/relationships/slide" Target="slides/slide22.xml" /><Relationship Id="rId23" Type="http://schemas.openxmlformats.org/officeDocument/2006/relationships/slide" Target="slides/slide23.xml" /><Relationship Id="rId24" Type="http://schemas.openxmlformats.org/officeDocument/2006/relationships/slide" Target="slides/slide24.xml" /><Relationship Id="rId25" Type="http://schemas.openxmlformats.org/officeDocument/2006/relationships/notesMaster" Target="notesMasters/notesMaster1.xml" /><Relationship Id="rId27" Type="http://schemas.openxmlformats.org/officeDocument/2006/relationships/tableStyles" Target="tableStyles.xml" /><Relationship Id="rId28" Type="http://schemas.openxmlformats.org/officeDocument/2006/relationships/viewProps" Target="viewProps.xml" /><Relationship Id="rId3" Type="http://schemas.openxmlformats.org/officeDocument/2006/relationships/slide" Target="slides/slide3.xml" /><Relationship Id="rId4" Type="http://schemas.openxmlformats.org/officeDocument/2006/relationships/slide" Target="slides/slide4.xml" /><Relationship Id="rId5" Type="http://schemas.openxmlformats.org/officeDocument/2006/relationships/slide" Target="slides/slide5.xml" /><Relationship Id="rId6" Type="http://schemas.openxmlformats.org/officeDocument/2006/relationships/slide" Target="slides/slide6.xml" /><Relationship Id="rId7" Type="http://schemas.openxmlformats.org/officeDocument/2006/relationships/slide" Target="slides/slide7.xml" /><Relationship Id="rId8" Type="http://schemas.openxmlformats.org/officeDocument/2006/relationships/slide" Target="slides/slide8.xml" /><Relationship Id="rId9" Type="http://schemas.openxmlformats.org/officeDocument/2006/relationships/slide" Target="slides/slide9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我们从第二章的方案继续往下走。那份筹备方案写在纸上，写着十点去手作室、写着通知来访者。但纸上的字不等于世界里真的发生了：没有人真的走到手作室，来访者也没有真的听到消息。</a:t>
            </a:r>
          </a:p>
          <a:p>
            <a:r>
              <a:rPr lang="zh-CN" dirty="0"/>
              <a:t>这一章要做的，就是让有位置、有记忆、有不同目标的角色，在同一个世界里行动，再拿真实发生的事来评价结果。</a:t>
            </a:r>
          </a:p>
          <a:p>
            <a:r>
              <a:rPr lang="zh-CN" dirty="0"/>
              <a:t>主题还是青禾社区学习中心的开放日，场所与活动数据都延续第二章。新的学习目标是四件事：观察行动、观察信息怎么传播、观察对象给出什么反馈、观察运行中真实留下的记录。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先把这一节要看清的东西摆出来，一共四块。</a:t>
            </a:r>
          </a:p>
          <a:p>
            <a:r>
              <a:rPr lang="zh-CN" dirty="0"/>
              <a:t>第一块是问题本身：一条消息要从真实的渠道走，咨询、更新、获知都不能省步骤，信息边界也不能省。</a:t>
            </a:r>
          </a:p>
          <a:p>
            <a:r>
              <a:rPr lang="zh-CN" dirty="0"/>
              <a:t>第二块是参与者：四个人物加两个对象，还要分清楚排期表上的计划人数和实际建模的 Agent 数量不是一回事。</a:t>
            </a:r>
          </a:p>
          <a:p>
            <a:r>
              <a:rPr lang="zh-CN" dirty="0"/>
              <a:t>第三块是空间与信息：图片管的是看起来像什么，真正决定能不能走过去的是碰撞和寻路；另外，作者知道答案不代表角色知道答案。</a:t>
            </a:r>
          </a:p>
          <a:p>
            <a:r>
              <a:rPr lang="zh-CN" dirty="0"/>
              <a:t>第四块是时间和实践组织：一次活动有三种时间，观察窗口只能证明窗口里的事，最后再说清楚动手前要先固定哪些条件。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这一块先解决一个问题：凭什么说方案里的安排真的在世界上发生了。</a:t>
            </a:r>
          </a:p>
          <a:p>
            <a:r>
              <a:rPr lang="zh-CN" dirty="0"/>
              <a:t>我会沿着林岚的咨询一路看下去，再换到访客自己的查询。这两条路必须各自成立，不能互相替代，中间任何一环都跳过不得。</a:t>
            </a:r>
          </a:p>
          <a:p>
            <a:r>
              <a:rPr lang="zh-CN" dirty="0"/>
              <a:t>如果答案被提前放进所有人的共同记忆，角色就算一言不发也能说对结论，那就什么都没证明。</a:t>
            </a:r>
          </a:p>
          <a:p>
            <a:r>
              <a:rPr lang="zh-CN" dirty="0"/>
              <a:t>所以这一段要盯住的是渠道是否真实存在，而不是结论看起来对不对。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这张关系图讲的是信息要走哪几条真实渠道。</a:t>
            </a:r>
          </a:p>
          <a:p>
            <a:r>
              <a:rPr lang="zh-CN" dirty="0"/>
              <a:t>组织者林岚需要核对场地，她要向服务台真实咨询。服务台手里有独家的预约资料，这是别处没有的。服务台回答之后，林岚在下一轮才收到这个结果，然后才谈得上比较和调整。有了依据，她才能向公告栏提交更新请求，公告栏按规则处理，最后形成一份正式的新公告。</a:t>
            </a:r>
          </a:p>
          <a:p>
            <a:r>
              <a:rPr lang="zh-CN" dirty="0"/>
              <a:t>另一条路是访客。访客要向公告栏真实查询，公告栏再向真实的请求者回复。</a:t>
            </a:r>
          </a:p>
          <a:p>
            <a:r>
              <a:rPr lang="zh-CN" dirty="0"/>
              <a:t>关键在下面这条边界：预约的答案不进入共同 Brain，只放在应当掌握它的那份材料里。如果所有人都知道答案，后面的传播就全是假的。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沿着这些渠道，一段一段取证据，中间任何一环都不能跳。</a:t>
            </a:r>
          </a:p>
          <a:p>
            <a:r>
              <a:rPr lang="zh-CN" dirty="0"/>
              <a:t>第一段是咨询与比较：林岚要真的问过，下一轮真的收到预约反馈，她才有依据判断原来的安排做不做得了。</a:t>
            </a:r>
          </a:p>
          <a:p>
            <a:r>
              <a:rPr lang="zh-CN" dirty="0"/>
              <a:t>第二段是公告更新：请求发出去之后，要看公告栏实际提交了什么状态、有没有回复。</a:t>
            </a:r>
          </a:p>
          <a:p>
            <a:r>
              <a:rPr lang="zh-CN" dirty="0"/>
              <a:t>第三段是获知与行动：其他人得通过渠道真的知道，更正自己的记忆，然后按自己实际的位置和时间开始活动。</a:t>
            </a:r>
          </a:p>
          <a:p>
            <a:r>
              <a:rPr lang="zh-CN" dirty="0"/>
              <a:t>这里的箭头表示的是因果依赖，不是预先排好的时刻表。依赖成立，事情才成立；至于它发生在第几步，那是要观察的结果，不是写死的剧本。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有一条线要守住：我们不能把执行过程写成剧本。</a:t>
            </a:r>
          </a:p>
          <a:p>
            <a:r>
              <a:rPr lang="zh-CN" dirty="0"/>
              <a:t>模型完全可能多问几个问题，也可能晚一步才行动。这些差异恰恰是我们要观察的东西。</a:t>
            </a:r>
          </a:p>
          <a:p>
            <a:r>
              <a:rPr lang="zh-CN" dirty="0"/>
              <a:t>只要事先把观察对象和验收规则定好，差异就能被分析。反过来，如果把第三步必须说话、第四步必须到达写进剧本，再把执行剧本当成自主行为，那就是自己骗自己。</a:t>
            </a:r>
          </a:p>
          <a:p>
            <a:r>
              <a:rPr lang="zh-CN" dirty="0"/>
              <a:t>另外说明一下材料的性质。这一章提供了一整套案例资料包，里面有地图和人物素材、完整的 Skill、配置说明和验收模板。它是准备录进系统的作者材料，还没有创建新的实验，也没有产生新的运行结果。正文里的操作步骤以当前界面和源码为依据，示意过程不冒充实际运行结果。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这一轮实验里有四位人物。</a:t>
            </a:r>
          </a:p>
          <a:p>
            <a:r>
              <a:rPr lang="zh-CN" dirty="0"/>
              <a:t>林岚在公共大厅，是组织者，手里有旧的活动计划，需要核对场地。</a:t>
            </a:r>
          </a:p>
          <a:p>
            <a:r>
              <a:rPr lang="zh-CN" dirty="0"/>
              <a:t>周宁在手作室做志愿者，先检查物料，再到大厅帮助来访者，他知道的是那条旧消息。</a:t>
            </a:r>
          </a:p>
          <a:p>
            <a:r>
              <a:rPr lang="zh-CN" dirty="0"/>
              <a:t>陈晨在交流室，是想参加十点阅读分享的来访者，会整理物品并询问安排。</a:t>
            </a:r>
          </a:p>
          <a:p>
            <a:r>
              <a:rPr lang="zh-CN" dirty="0"/>
              <a:t>许安在阅读室，想参加原消息里的十点手作体验，但需要核实。</a:t>
            </a:r>
          </a:p>
          <a:p>
            <a:r>
              <a:rPr lang="zh-CN" dirty="0"/>
              <a:t>另外还有两个对象：服务台在大厅，掌握手作室已有的预约，按真实请求回答；公告栏也在大厅，初始展示旧安排，收到有依据的更新后提交新状态。</a:t>
            </a:r>
          </a:p>
          <a:p>
            <a:r>
              <a:rPr lang="zh-CN" dirty="0"/>
              <a:t>人物和对象不是一回事：服务台和公告栏是地图上的游戏对象，绑定的是根 Skill。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这里有一个特别容易搞混的地方。</a:t>
            </a:r>
          </a:p>
          <a:p>
            <a:r>
              <a:rPr lang="zh-CN" dirty="0"/>
              <a:t>排期表里写过 24 人、10 人、16 人。这三个数字是三项活动的计划人数，是办活动时预计会来多少人，不是这次实验里已经创建了多少个 Agent。</a:t>
            </a:r>
          </a:p>
          <a:p>
            <a:r>
              <a:rPr lang="zh-CN" dirty="0"/>
              <a:t>这次实验实际只模拟了四位代表人物和两个对象。</a:t>
            </a:r>
          </a:p>
          <a:p>
            <a:r>
              <a:rPr lang="zh-CN" dirty="0"/>
              <a:t>所以有一句话必须说清楚：没有建模的参与者，不计入到达率、会话数或者费用的分母。分母是多少，取决于我建模了多少，而不是活动本来会来多少人。</a:t>
            </a:r>
          </a:p>
          <a:p>
            <a:r>
              <a:rPr lang="zh-CN" dirty="0"/>
              <a:t>更不能把这四个人的行为，直接推断成真实社区人群的统计规律。四个样本说明不了人群，它只能说明这四个角色在这个世界里做了什么。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把两类资源分开看。</a:t>
            </a:r>
          </a:p>
          <a:p>
            <a:r>
              <a:rPr lang="zh-CN" dirty="0"/>
              <a:t>前四个是公共 Agent 资源，它们是人物，有自己的资料、目标和记忆。</a:t>
            </a:r>
          </a:p>
          <a:p>
            <a:r>
              <a:rPr lang="zh-CN" dirty="0"/>
              <a:t>后两个是地图上的游戏对象，绑定的是根 Skill。服务台可以感知和回应，但它不会因此出现在公共人物目录里，也不会自动拥有一个能够自由移动的人物身体。公告栏也一样，它能展示状态、能提交更新，但它不是一个人物。</a:t>
            </a:r>
          </a:p>
          <a:p>
            <a:r>
              <a:rPr lang="zh-CN" dirty="0"/>
              <a:t>这条区分后面会反复用到：人物有行动能力，对象有交互能力，两者混在一起，很多现象就说不清了。</a:t>
            </a:r>
          </a:p>
          <a:p>
            <a:r>
              <a:rPr lang="zh-CN" dirty="0"/>
              <a:t>另外记住，这里说的是本次案例的范围：只有这四位人物和两个对象，其余参与者不在范围内。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接着看空间。一张地图图片好看，不代表角色能走。</a:t>
            </a:r>
          </a:p>
          <a:p>
            <a:r>
              <a:rPr lang="zh-CN" dirty="0"/>
              <a:t>这一块要分清四件事各管什么：图片管可见外观，语义管世界怎么理解这个位置，碰撞与寻路管实际能不能走过去。</a:t>
            </a:r>
          </a:p>
          <a:p>
            <a:r>
              <a:rPr lang="zh-CN" dirty="0"/>
              <a:t>然后要把信息分配讲清楚：作者知道答案，不代表世界里的角色知道答案。答案放错位置，角色就会说出不该知道的话。</a:t>
            </a:r>
          </a:p>
          <a:p>
            <a:r>
              <a:rPr lang="zh-CN" dirty="0"/>
              <a:t>最后还要看层级命名和实验装配，这两件事决定角色谈位置时说的是不是同一个地方。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先看空间本身。这一章用的是 32 乘 24 格的学习中心。</a:t>
            </a:r>
          </a:p>
          <a:p>
            <a:r>
              <a:rPr lang="zh-CN" dirty="0"/>
              <a:t>上方一排是三个房间，依次是阅读室、手作室和交流室；下方是公共大厅。三个房间通过门洞连接大厅。</a:t>
            </a:r>
          </a:p>
          <a:p>
            <a:r>
              <a:rPr lang="zh-CN" dirty="0"/>
              <a:t>图片负责的是看起来像什么。真正决定语义的是 World、Sector、Arena 和 Game Object 这几个概念；碰撞和寻路定义的是实际能走的范围。</a:t>
            </a:r>
          </a:p>
          <a:p>
            <a:r>
              <a:rPr lang="zh-CN" dirty="0"/>
              <a:t>这两件事必须分开看。一个地方画得像门，如果碰撞没有开口，它就不能当通路。一张公告图颜色变了，如果没有对应的世界提交，也不能说对象状态已经更新了。画面对不上世界，只能说明画面好看。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空间还能按层级来读。</a:t>
            </a:r>
          </a:p>
          <a:p>
            <a:r>
              <a:rPr lang="zh-CN" dirty="0"/>
              <a:t>四层地址就是这种层级关系：青禾社区下面有学习中心，学习中心下面有公共大厅，公共大厅里有公告栏。这样命名，角色和其他程序才能准确指向同一个位置。</a:t>
            </a:r>
          </a:p>
          <a:p>
            <a:r>
              <a:rPr lang="zh-CN" dirty="0"/>
              <a:t>还有一点容易误会：公共 Agent 本身不带某张地图的固定出生坐标。坐标和初始已知的空间，属于实验装配，是这一轮实验配上去的，不是人物自带的。</a:t>
            </a:r>
          </a:p>
          <a:p>
            <a:r>
              <a:rPr lang="zh-CN" dirty="0"/>
              <a:t>本章特意给四个人选了四个不同的初始 Arena，这样空间选择器能产生可区分的位置，方便观察跨房间的行动。</a:t>
            </a:r>
          </a:p>
          <a:p>
            <a:r>
              <a:rPr lang="zh-CN" dirty="0"/>
              <a:t>最后，故事从人物已经进入学习中心开始。地图外面怎么进场的，这部分没有模拟，我不会把它补写成事实。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这一块要讲的是信息放在哪里。</a:t>
            </a:r>
          </a:p>
          <a:p>
            <a:r>
              <a:rPr lang="zh-CN" dirty="0"/>
              <a:t>我已经知道预约冲突了，所以十点的手作室被占用了。但我不能把这个答案放进所有角色的共同记忆里。否则许安即使从来没有咨询过，也能说出改成十点半。那不是信息传播，那是作者泄题。</a:t>
            </a:r>
          </a:p>
          <a:p>
            <a:r>
              <a:rPr lang="zh-CN" dirty="0"/>
              <a:t>所以不同信息放在不同位置：公共场所的名称进入地图语义；人物目标进各自的资料；预约事实只进服务台的私有操作材料；旧消息进公告栏的初始状态。</a:t>
            </a:r>
          </a:p>
          <a:p>
            <a:r>
              <a:rPr lang="zh-CN" dirty="0"/>
              <a:t>公告栏的外观状态标签是可以公开感知的，但详细正文要通过互动才能获知，对象内部其他字段不会自动向所有人公开。</a:t>
            </a:r>
          </a:p>
          <a:p>
            <a:r>
              <a:rPr lang="zh-CN" dirty="0"/>
              <a:t>还有一层区分：材料对读者公开，不等于运行时对所有 Agent 公开。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接着处理时间。一次活动里有三种时间同时存在，它们不能混为一谈。</a:t>
            </a:r>
          </a:p>
          <a:p>
            <a:r>
              <a:rPr lang="zh-CN" dirty="0"/>
              <a:t>虚拟时间决定世界里的日期和安排，模型处理时间是请求和工具实际花掉的时间，墙钟时间是我真实经历的过程时间。</a:t>
            </a:r>
          </a:p>
          <a:p>
            <a:r>
              <a:rPr lang="zh-CN" dirty="0"/>
              <a:t>这一块还要看清楚观察窗口。窗口只覆盖一段时间，窗口里发生的事可以观察，窗口外的事不能靠它下结论。</a:t>
            </a:r>
          </a:p>
          <a:p>
            <a:r>
              <a:rPr lang="zh-CN" dirty="0"/>
              <a:t>48 步走到十点三十七，不等于活动已经完整结束。写结论的时候，要说清楚是在哪一种时间上得到的。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现在把观察窗口放到时间轴上。</a:t>
            </a:r>
          </a:p>
          <a:p>
            <a:r>
              <a:rPr lang="zh-CN" dirty="0"/>
              <a:t>这一轮候选配置从 2026 年 10 月 17 日九点五十开始，带东八区时区，每个 Step 推进一分钟，一共请求 48 步。</a:t>
            </a:r>
          </a:p>
          <a:p>
            <a:r>
              <a:rPr lang="zh-CN" dirty="0"/>
              <a:t>当前的调度器把开始时间对应成 Step 1，所以 Step 11 落在十点，那是原消息里手作体验开始的时间；Step 41 落在十点半，是候选调整开始的时间；Step 48 落在十点三十七，是观察窗口的终点。</a:t>
            </a:r>
          </a:p>
          <a:p>
            <a:r>
              <a:rPr lang="zh-CN" dirty="0"/>
              <a:t>这条虚线伸出去，指向十一点半，也就是候选活动的结束时间，它在窗口之外。</a:t>
            </a:r>
          </a:p>
          <a:p>
            <a:r>
              <a:rPr lang="zh-CN" dirty="0"/>
              <a:t>这很重要：窗口里能看到手作调到十点半以后有没有人到达、有没有开始，但窗口到十点三十七就结束了，它不能证明十一点半的活动已经完整结束。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一次活动里同时跑着三种时间，必须分开记录。</a:t>
            </a:r>
          </a:p>
          <a:p>
            <a:r>
              <a:rPr lang="zh-CN" dirty="0"/>
              <a:t>第一种是虚拟时间，它决定世界里的日期、活动安排和等待的截止时刻，角色按它来判断现在几点、该不该出发。</a:t>
            </a:r>
          </a:p>
          <a:p>
            <a:r>
              <a:rPr lang="zh-CN" dirty="0"/>
              <a:t>第二种是模型处理时间，是请求、生成和选择工具实际花掉的时间，它影响的是调用成本，不影响世界里的钟。</a:t>
            </a:r>
          </a:p>
          <a:p>
            <a:r>
              <a:rPr lang="zh-CN" dirty="0"/>
              <a:t>第三种是墙钟时间，包含模型、工具、暂停和人工处理整个过程，是我坐在电脑前面真实经历的时间。</a:t>
            </a:r>
          </a:p>
          <a:p>
            <a:r>
              <a:rPr lang="zh-CN" dirty="0"/>
              <a:t>三种时间对不上是正常的。比如模型思考两秒，世界里可能只过了一分钟；我暂停了半小时，世界里的钟没有停，但也没有继续走。写结论的时候要说清楚是在哪一种时间上得到的。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用 48 步之前，先看清一个常量。</a:t>
            </a:r>
          </a:p>
          <a:p>
            <a:r>
              <a:rPr lang="zh-CN" dirty="0"/>
              <a:t>当前 ga-cn-v1 的移动常量是每虚拟分钟 4 格。也就是说，一轮一分钟的 MOVE，最多消费 4 格路径。</a:t>
            </a:r>
          </a:p>
          <a:p>
            <a:r>
              <a:rPr lang="zh-CN" dirty="0"/>
              <a:t>要留意 32 像素这个数字，它只是显示尺度，不是距离本身，格子数才是。</a:t>
            </a:r>
          </a:p>
          <a:p>
            <a:r>
              <a:rPr lang="zh-CN" dirty="0"/>
              <a:t>步长、角色数、对象数和模型调用链，都会影响实验成本。48 步不是系统的默认值，也不是必然合适的预算，它只是这一轮候选配置里的取值。</a:t>
            </a:r>
          </a:p>
          <a:p>
            <a:r>
              <a:rPr lang="zh-CN" dirty="0"/>
              <a:t>所以可以按研究问题建立更小的独立练习，也可以直接准备完整案例，正式运行前并不强制试跑若干步。</a:t>
            </a:r>
          </a:p>
          <a:p>
            <a:r>
              <a:rPr lang="zh-CN" dirty="0"/>
              <a:t>如果实验已经封存了，就先复制成一个新的独立实验再调整，不要回写旧实验，也不要改旧运行留下的证据。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最后一块讲实践怎么组织，以及动手之前要先固定什么。</a:t>
            </a:r>
          </a:p>
          <a:p>
            <a:r>
              <a:rPr lang="zh-CN" dirty="0"/>
              <a:t>整章分两半：前半段建立可行动的世界，后半段处理可恢复、可解释的实验。</a:t>
            </a:r>
          </a:p>
          <a:p>
            <a:r>
              <a:rPr lang="zh-CN" dirty="0"/>
              <a:t>每一步都要保留与问题相匹配的证据，动手之前还要把环境、问题和停止条件先固定下来。</a:t>
            </a:r>
          </a:p>
          <a:p>
            <a:r>
              <a:rPr lang="zh-CN" dirty="0"/>
              <a:t>另外还会说明两个历史案例的用法：它们保留的是历史含义，不能和新案例拼成一次已经完成的运行。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这一章分两半推进，两半的工作方式不太一样。</a:t>
            </a:r>
          </a:p>
          <a:p>
            <a:r>
              <a:rPr lang="zh-CN" dirty="0"/>
              <a:t>前半段的目标是建立一个可以行动的世界：先认识有哪些资源，再把空间录进去，然后编写 Brain 和对象 Skill，接着去观察感知、记忆、交流和反馈。这一段更关注结构对不对。</a:t>
            </a:r>
          </a:p>
          <a:p>
            <a:r>
              <a:rPr lang="zh-CN" dirty="0"/>
              <a:t>后半段处理的是可恢复、可解释的实验：草稿、封存、运行控制、回放、质量、导出和复现。这一段更关注过程能不能重来、结论能不能讲清。</a:t>
            </a:r>
          </a:p>
          <a:p>
            <a:r>
              <a:rPr lang="zh-CN" dirty="0"/>
              <a:t>两半的目标不同，所以每一步要留下的东西也不一样。前半段常看的是装配是否成立，后半段常看的是运行留下的记录是否完整。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每一步都要留下和问题相匹配的证据，这是这一章的一个硬要求。</a:t>
            </a:r>
          </a:p>
          <a:p>
            <a:r>
              <a:rPr lang="zh-CN" dirty="0"/>
              <a:t>举三个例子。地图预检通过了，只能证明某些结构条件成立，它不能代替人物实际穿过门洞的轨迹。</a:t>
            </a:r>
          </a:p>
          <a:p>
            <a:r>
              <a:rPr lang="zh-CN" dirty="0"/>
              <a:t>模型说我记住了，不能代替记忆真的写进去了、后面真的检索得到。</a:t>
            </a:r>
          </a:p>
          <a:p>
            <a:r>
              <a:rPr lang="zh-CN" dirty="0"/>
              <a:t>运行状态变成已完成，也不能代替业务目标已经达成，它只说明这次执行结束了。</a:t>
            </a:r>
          </a:p>
          <a:p>
            <a:r>
              <a:rPr lang="zh-CN" dirty="0"/>
              <a:t>所以看证据的时候，先问一句：这条证据能证明我想证明的那件事吗。答案对不上，就要再往下找一条。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动手之前先固定三件事。</a:t>
            </a:r>
          </a:p>
          <a:p>
            <a:r>
              <a:rPr lang="zh-CN" dirty="0"/>
              <a:t>第一件是把环境坐实：先安装并启动当前项目，按仓库的启动说明进入 Studio，确认正在使用的代码版本、工作区和模型环境。如果系统里已经有别的运行，不要为了读书练习擅自重启服务，也不要改它的资源。</a:t>
            </a:r>
          </a:p>
          <a:p>
            <a:r>
              <a:rPr lang="zh-CN" dirty="0"/>
              <a:t>第二件是把问题写小：读一遍案例总览，明确这一轮要观察什么、大概能承担多少调用、在哪里停下来。</a:t>
            </a:r>
          </a:p>
          <a:p>
            <a:r>
              <a:rPr lang="zh-CN" dirty="0"/>
              <a:t>第三件是定问题。建议把核心问题定为：原安排发生有依据的修正之后，角色是否通过实际渠道获知，并据此调整自己的记忆和行动。这比要求所有能力都表现完美，更容易得到可以解释的结论。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第三章借了两个历史小案例来帮助理解。</a:t>
            </a:r>
          </a:p>
          <a:p>
            <a:r>
              <a:rPr lang="zh-CN" dirty="0"/>
              <a:t>一个是晨间生活，它展示的是连续活动怎么进行，以及进度怎么被记住。另一个是穿门阅读，它展示的是门洞、移动预算，以及到达之后要执行的动作。</a:t>
            </a:r>
          </a:p>
          <a:p>
            <a:r>
              <a:rPr lang="zh-CN" dirty="0"/>
              <a:t>这两个案例很有用，但它们的作用是讲解概念。</a:t>
            </a:r>
          </a:p>
          <a:p>
            <a:r>
              <a:rPr lang="zh-CN" dirty="0"/>
              <a:t>它们的原始证据保留的是当时的历史含义，不能拿到今天来，和新案例拼成一次已经完成的开放日运行。这么拼出来的不是证据，是故事。</a:t>
            </a:r>
          </a:p>
          <a:p>
            <a:r>
              <a:rPr lang="zh-CN" dirty="0"/>
              <a:t>还有两处具体情况要说明：晨间资料的配置目录是缺失的，阅读对照有一项没有闭环。这些会在对应的练习里讲清楚。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这一节的练习是：写出三条不能靠自然语言总结来证明的结果，并且为每一条指定证据。</a:t>
            </a:r>
          </a:p>
          <a:p>
            <a:r>
              <a:rPr lang="zh-CN" dirty="0"/>
              <a:t>第一条好比说抵达。抵达需要坐标和移动的事实，得有位置记录能对上，光说到了不算。</a:t>
            </a:r>
          </a:p>
          <a:p>
            <a:r>
              <a:rPr lang="zh-CN" dirty="0"/>
              <a:t>第二条好比说公告更新。更新需要对象真的提交，得有提交的记录，光说改了不算。</a:t>
            </a:r>
          </a:p>
          <a:p>
            <a:r>
              <a:rPr lang="zh-CN" dirty="0"/>
              <a:t>第三条好比说消息已收到。收到需要真实的参与者后续还能引用这条消息，或者给出回复，只有转述不算。</a:t>
            </a:r>
          </a:p>
          <a:p>
            <a:r>
              <a:rPr lang="zh-CN" dirty="0"/>
              <a:t>写的时候顺序反一下更好用：先想清楚我要证明什么，再想哪条证据能证明它，最后才去设计动作。</a:t>
            </a:r>
          </a:p>
          <a:p>
            <a:r>
              <a:rPr lang="zh-CN" dirty="0"/>
              <a:t>后面各节会把这些检查落到具体的入口上。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把这一节收一收，记住三件事。</a:t>
            </a:r>
          </a:p>
          <a:p>
            <a:r>
              <a:rPr lang="zh-CN" dirty="0"/>
              <a:t>信息要走真实渠道：咨询、更新、获知这三段各有各的渠道，谁也不能代替谁。</a:t>
            </a:r>
          </a:p>
          <a:p>
            <a:r>
              <a:rPr lang="zh-CN" dirty="0"/>
              <a:t>答案不能提前共享：把预约事实塞进共同记忆，观察就失去意义，角色说对结论也只是重复作者的答案。</a:t>
            </a:r>
          </a:p>
          <a:p>
            <a:r>
              <a:rPr lang="zh-CN" dirty="0"/>
              <a:t>观察窗口只证明窗口内的事：48 步走到十点三十七，能看见谁获知、谁移动、谁到达、谁开始，不能宣告活动完整结束。</a:t>
            </a:r>
          </a:p>
          <a:p>
            <a:r>
              <a:rPr lang="zh-CN" dirty="0"/>
              <a:t>带上这三件事，下一节我们去看界面和作者资源，把人物、人群和模型准备出来。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2.xml"/></Relationships>
</file>

<file path=ppt/slides/_rels/slide1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3.xml"/></Relationships>
</file>

<file path=ppt/slides/_rels/slide1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4.xml"/></Relationships>
</file>

<file path=ppt/slides/_rels/slide1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5.xml"/></Relationships>
</file>

<file path=ppt/slides/_rels/slide1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6.xml"/></Relationships>
</file>

<file path=ppt/slides/_rels/slide1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7.xml"/></Relationships>
</file>

<file path=ppt/slides/_rels/slide1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8.xml"/></Relationships>
</file>

<file path=ppt/slides/_rels/slide1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9.xml"/></Relationships>
</file>

<file path=ppt/slides/_rels/slide2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20.xml"/></Relationships>
</file>

<file path=ppt/slides/_rels/slide2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21.xml"/></Relationships>
</file>

<file path=ppt/slides/_rels/slide2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22.xml"/></Relationships>
</file>

<file path=ppt/slides/_rels/slide2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23.xml"/></Relationships>
</file>

<file path=ppt/slides/_rels/slide2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24.xml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 descr="&lt;Slide notes={`我们从第二章的方案继续往下走。那份筹备方案写在纸上，写着十点去手作室、写着通知来访者。但纸上的字不等于世界里真的发生了：没有人真的走到手作室，来访者也没有真的听到消息。&#10;&#10;这一章要做的，就是让有位置、有记忆、有不同目标的角色，在同一个世界里行动，再拿真实发生的事来评价结果。&#10;&#10;主题还是青禾社区学习中心的开放日，场所与活动数据都延续第二章。新的学习目标是四件事：观察行动、观察信息怎么传播、观察对象给出什么反馈、观察运行中真实留下的记录。`} style={{ width: 1280, height: 720, background: '#FFFFFF', flexDirection: 'column', padding: '20px 64px' }}&gt;&#10;&#10;    &lt;Box style={{ height: 100, flexDirection: 'row', alignItems: 'center', gap: 12 }}&gt;&#10;        &lt;Box style={{ width: 4, height: 36, background: '#276FBF' }} /&gt;&#10;        &lt;Text style={{ fontSize: 15, color: '#546779' }}&gt;第三章　在共同世界中行动：用完整案例学习 GenerativeAgentsCN　·　3.1&lt;/Text&gt;&#10;    &lt;/Box&gt;&#10;&#10;    &lt;Box style={{ height: 540, flexDirection: 'row', alignItems: 'center', gap: 32 }}&gt;&#10;&#10;        &lt;Box style={{ width: 560, flexDirection: 'column', justifyContent: 'center', gap: 14 }}&gt;&#10;            &lt;Text style={{ fontSize: 52, fontWeight: 'bold', color: '#20344B', lineHeight: 1.2 }}&gt;把筹备方案放进{'\n'}一个会发生变化的世界&lt;/Text&gt;&#10;            &lt;Box style={{ width: 72, height: 4, background: '#276FBF' }} /&gt;&#10;            &lt;Text style={{ fontSize: 17, color: '#546779', lineHeight: 1.7, width: 560 }}&gt;第二章的方案写在纸上。这一章让有位置、有记忆、有不同目标的角色在同一个世界里行动，再按真实发生的事情评价结果。&lt;/Text&gt;&#10;            &lt;Box style={{ flexDirection: 'row', gap: 12, marginTop: 4 }}&gt;&#10;                &lt;Box style={{ width: 128, height: 42, background: '#EDF4FC', borderRadius: 8, justifyContent: 'center', alignItems: 'center' }}&gt;&#10;                    &lt;Text style={{ fontSize: 15, color: '#276FBF' }}&gt;真实渠道&lt;/Text&gt;&#10;                &lt;/Box&gt;&#10;                &lt;Box style={{ width: 128, height: 42, background: '#EDF4FC', borderRadius: 8, justifyContent: 'center', alignItems: 'center' }}&gt;&#10;                    &lt;Text style={{ fontSize: 15, color: '#276FBF' }}&gt;信息边界&lt;/Text&gt;&#10;                &lt;/Box&gt;&#10;                &lt;Box style={{ width: 128, height: 42, background: '#EDF4FC', borderRadius: 8, justifyContent: 'center', alignItems: 'center' }}&gt;&#10;                    &lt;Text style={{ fontSize: 15, color: '#276FBF' }}&gt;观察窗口&lt;/Text&gt;&#10;                &lt;/Box&gt;&#10;                &lt;Box style={{ width: 128, height: 42, background: '#FFF4E6', borderRadius: 8, justifyContent: 'center', alignItems: 'center' }}&gt;&#10;                    &lt;Text style={{ fontSize: 15, color: '#CB6B28' }}&gt;事实取证&lt;/Text&gt;&#10;                &lt;/Box&gt;&#10;            &lt;/Box&gt;&#10;        &lt;/Box&gt;&#10;&#10;        &lt;Box style={{ width: 560, flexDirection: 'column', justifyContent: 'center' }}&gt;&#10;            &lt;Box style={{ width: 560, height: 128, background: '#F4F7FA', borderRadius: 10, padding: '14px 20px', flexDirection: 'column', gap: 6, justifyContent: 'center' }}&gt;&#10;                &lt;Text style={{ fontSize: 18, fontWeight: 'bold', color: '#20344B' }}&gt;原排期——纸面安排&lt;/Text&gt;&#10;                &lt;Text style={{ fontSize: 15, color: '#546779', lineHeight: 1.5 }}&gt;09:50 晨间阅读　·　10:00 手作体验{'\n'}10:30 待定　·　计划人数 24 / 10 / 16&lt;/Text&gt;&#10;            &lt;/Box&gt;&#10;            &lt;Box style={{ width: 560, height: 40, justifyContent: 'center', alignItems: 'center' }}&gt;&#10;                &lt;Text style={{ fontSize: 22, color: '#276FBF' }}&gt;↓&lt;/Text&gt;&#10;            &lt;/Box&gt;&#10;            &lt;Box style={{ width: 560, height: 212, background: '#EDF4FC', borderRadius: 10, padding: '14px 20px', flexDirection: 'column', gap: 10, justifyContent: 'center' }}&gt;&#10;                &lt;Text style={{ fontSize: 18, fontWeight: 'bold', color: '#276FBF' }}&gt;世界里实际发生的&lt;/Text&gt;&#10;                &lt;Box style={{ flexDirection: 'row', gap: 8 }}&gt;&#10;                    &lt;Box style={{ width: 120, height: 36, background: '#FFFFFF', borderRadius: 8, justifyContent: 'center', alignItems: 'center' }}&gt;&#10;                        &lt;Text style={{ fontSize: 14, color: '#276FBF' }}&gt;林岚&lt;/Text&gt;&#10;                    &lt;/Box&gt;&#10;                    &lt;Box style={{ width: 120, height: 36, background: '#FFFFFF', borderRadius: 8, justifyContent: 'center', alignItems: 'center' }}&gt;&#10;                        &lt;Text style={{ fontSize: 14, color: '#276FBF' }}&gt;周宁&lt;/Text&gt;&#10;                    &lt;/Box&gt;&#10;                    &lt;Box style={{ width: 120, height: 36, background: '#FFFFFF', borderRadius: 8, justifyContent: 'center', alignItems: 'center' }}&gt;&#10;                        &lt;Text style={{ fontSize: 14, color: '#276FBF' }}&gt;陈晨&lt;/Text&gt;&#10;                    &lt;/Box&gt;&#10;                    &lt;Box style={{ width: 120, height: 36, background: '#FFFFFF', borderRadius: 8, justifyContent: 'center', alignItems: 'center' }}&gt;&#10;                        &lt;Text style={{ fontSize: 14, color: '#276FBF' }}&gt;许安&lt;/Text&gt;&#10;                    &lt;/Box&gt;&#10;                &lt;/Box&gt;&#10;                &lt;Box style={{ width: 520, height: 62, background: '#FFF4E6', borderRadius: 8, padding: '8px 14px', flexDirection: 'column', gap: 2, justifyContent: 'center' }}&gt;&#10;                    &lt;Text style={{ fontSize: 15, fontWeight: 'bold', color: '#CB6B28' }}&gt;10:00 手作室已有预约&lt;/Text&gt;&#10;                    &lt;Text style={{ fontSize: 13, color: '#546779' }}&gt;原消息需要经真实渠道修正，而不是被谁提前知道&lt;/Text&gt;&#10;                &lt;/Box&gt;&#10;            &lt;/Box&gt;&#10;        &lt;/Box&gt;&#10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" name=""/>
          <p:cNvSpPr/>
          <p:nvPr/>
        </p:nvSpPr>
        <p:spPr>
          <a:xfrm rot="0" flipH="0" flipV="0">
            <a:off x="609600" y="495300"/>
            <a:ext cx="38100" cy="3429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" name="" descr="{&quot;isTemplate&quot;:true,&quot;type&quot;:&quot;text&quot;}"/>
          <p:cNvSpPr txBox="1"/>
          <p:nvPr/>
        </p:nvSpPr>
        <p:spPr>
          <a:xfrm rot="0" flipH="0" flipV="0">
            <a:off x="762000" y="581025"/>
            <a:ext cx="4857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第三章　在共同世界中行动：用完整案例学习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GenerativeAgentsCN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　·　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>3.1</a:t>
            </a:r>
            <a:endParaRPr/>
          </a:p>
        </p:txBody>
      </p:sp>
      <p:sp>
        <p:nvSpPr>
          <p:cNvPr id="5" name="" descr="{&quot;isTemplate&quot;:true,&quot;type&quot;:&quot;text&quot;}"/>
          <p:cNvSpPr txBox="1"/>
          <p:nvPr/>
        </p:nvSpPr>
        <p:spPr>
          <a:xfrm rot="0" flipH="0" flipV="0">
            <a:off x="609600" y="2228850"/>
            <a:ext cx="5334000" cy="142875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3900" b="1">
                <a:solidFill>
                  <a:srgbClr val="20344B"/>
                </a:solidFill>
                <a:latin typeface="Microsoft YaHei"/>
                <a:ea typeface="Microsoft YaHei"/>
              </a:rPr>
              <a:t>把筹备方案放进</a:t>
            </a:r>
            <a:endParaRPr/>
          </a:p>
          <a:p>
            <a:pPr>
              <a:lnSpc>
                <a:spcPct val="120000"/>
              </a:lnSpc>
            </a:pPr>
            <a:r>
              <a:rPr lang="zh-CN" sz="3900" b="1">
                <a:solidFill>
                  <a:srgbClr val="20344B"/>
                </a:solidFill>
                <a:latin typeface="Microsoft YaHei"/>
                <a:ea typeface="Microsoft YaHei"/>
              </a:rPr>
              <a:t>一个会发生变化的世界</a:t>
            </a:r>
            <a:endParaRPr/>
          </a:p>
        </p:txBody>
      </p:sp>
      <p:sp>
        <p:nvSpPr>
          <p:cNvPr id="6" name=""/>
          <p:cNvSpPr/>
          <p:nvPr/>
        </p:nvSpPr>
        <p:spPr>
          <a:xfrm rot="0" flipH="0" flipV="0">
            <a:off x="609600" y="3790950"/>
            <a:ext cx="6858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609600" y="3962400"/>
            <a:ext cx="5334000" cy="666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75">
                <a:solidFill>
                  <a:srgbClr val="546779"/>
                </a:solidFill>
                <a:latin typeface="Microsoft YaHei"/>
                <a:ea typeface="Microsoft YaHei"/>
              </a:rPr>
              <a:t>第二章的方案写在纸上。这一章让有位置、有记忆、有不同目标的角色在同一个世界里行动，再按真实发生的事情评价结果。</a:t>
            </a:r>
            <a:endParaRPr/>
          </a:p>
        </p:txBody>
      </p:sp>
      <p:sp>
        <p:nvSpPr>
          <p:cNvPr id="8" name=""/>
          <p:cNvSpPr/>
          <p:nvPr/>
        </p:nvSpPr>
        <p:spPr>
          <a:xfrm rot="0" flipH="0" flipV="0">
            <a:off x="609600" y="4800600"/>
            <a:ext cx="1219200" cy="400050"/>
          </a:xfrm>
          <a:prstGeom prst="roundRect">
            <a:avLst>
              <a:gd name="adj" fmla="val 19048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9" name="" descr="{&quot;isTemplate&quot;:true,&quot;type&quot;:&quot;text&quot;}"/>
          <p:cNvSpPr txBox="1"/>
          <p:nvPr/>
        </p:nvSpPr>
        <p:spPr>
          <a:xfrm rot="0" flipH="0" flipV="0">
            <a:off x="933450" y="4914900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真实渠道</a:t>
            </a:r>
            <a:endParaRPr/>
          </a:p>
        </p:txBody>
      </p:sp>
      <p:sp>
        <p:nvSpPr>
          <p:cNvPr id="10" name=""/>
          <p:cNvSpPr/>
          <p:nvPr/>
        </p:nvSpPr>
        <p:spPr>
          <a:xfrm rot="0" flipH="0" flipV="0">
            <a:off x="1943100" y="4800600"/>
            <a:ext cx="1219200" cy="400050"/>
          </a:xfrm>
          <a:prstGeom prst="roundRect">
            <a:avLst>
              <a:gd name="adj" fmla="val 19048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1" name="" descr="{&quot;isTemplate&quot;:true,&quot;type&quot;:&quot;text&quot;}"/>
          <p:cNvSpPr txBox="1"/>
          <p:nvPr/>
        </p:nvSpPr>
        <p:spPr>
          <a:xfrm rot="0" flipH="0" flipV="0">
            <a:off x="2266950" y="4914900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信息边界</a:t>
            </a:r>
            <a:endParaRPr/>
          </a:p>
        </p:txBody>
      </p:sp>
      <p:sp>
        <p:nvSpPr>
          <p:cNvPr id="12" name=""/>
          <p:cNvSpPr/>
          <p:nvPr/>
        </p:nvSpPr>
        <p:spPr>
          <a:xfrm rot="0" flipH="0" flipV="0">
            <a:off x="3276600" y="4800600"/>
            <a:ext cx="1219200" cy="400050"/>
          </a:xfrm>
          <a:prstGeom prst="roundRect">
            <a:avLst>
              <a:gd name="adj" fmla="val 19048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3" name="" descr="{&quot;isTemplate&quot;:true,&quot;type&quot;:&quot;text&quot;}"/>
          <p:cNvSpPr txBox="1"/>
          <p:nvPr/>
        </p:nvSpPr>
        <p:spPr>
          <a:xfrm rot="0" flipH="0" flipV="0">
            <a:off x="3600450" y="4914900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观察窗口</a:t>
            </a:r>
            <a:endParaRPr/>
          </a:p>
        </p:txBody>
      </p:sp>
      <p:sp>
        <p:nvSpPr>
          <p:cNvPr id="14" name=""/>
          <p:cNvSpPr/>
          <p:nvPr/>
        </p:nvSpPr>
        <p:spPr>
          <a:xfrm rot="0" flipH="0" flipV="0">
            <a:off x="4610100" y="4800600"/>
            <a:ext cx="1219200" cy="400050"/>
          </a:xfrm>
          <a:prstGeom prst="roundRect">
            <a:avLst>
              <a:gd name="adj" fmla="val 19048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15" name="" descr="{&quot;isTemplate&quot;:true,&quot;type&quot;:&quot;text&quot;}"/>
          <p:cNvSpPr txBox="1"/>
          <p:nvPr/>
        </p:nvSpPr>
        <p:spPr>
          <a:xfrm rot="0" flipH="0" flipV="0">
            <a:off x="4933950" y="4914900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CB6B28"/>
                </a:solidFill>
                <a:latin typeface="Microsoft YaHei"/>
                <a:ea typeface="Microsoft YaHei"/>
              </a:rPr>
              <a:t>事实取证</a:t>
            </a:r>
            <a:endParaRPr/>
          </a:p>
        </p:txBody>
      </p:sp>
      <p:sp>
        <p:nvSpPr>
          <p:cNvPr id="16" name=""/>
          <p:cNvSpPr/>
          <p:nvPr/>
        </p:nvSpPr>
        <p:spPr>
          <a:xfrm rot="0" flipH="0" flipV="0">
            <a:off x="6248400" y="1905000"/>
            <a:ext cx="5334000" cy="1219200"/>
          </a:xfrm>
          <a:prstGeom prst="roundRect">
            <a:avLst>
              <a:gd name="adj" fmla="val 7813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17" name="" descr="{&quot;isTemplate&quot;:true,&quot;type&quot;:&quot;text&quot;}"/>
          <p:cNvSpPr txBox="1"/>
          <p:nvPr/>
        </p:nvSpPr>
        <p:spPr>
          <a:xfrm rot="0" flipH="0" flipV="0">
            <a:off x="6438900" y="2124075"/>
            <a:ext cx="49530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原排期——纸面安排</a:t>
            </a:r>
            <a:endParaRPr/>
          </a:p>
        </p:txBody>
      </p:sp>
      <p:sp>
        <p:nvSpPr>
          <p:cNvPr id="18" name="" descr="{&quot;isTemplate&quot;:true,&quot;type&quot;:&quot;text&quot;}"/>
          <p:cNvSpPr txBox="1"/>
          <p:nvPr/>
        </p:nvSpPr>
        <p:spPr>
          <a:xfrm rot="0" flipH="0" flipV="0">
            <a:off x="6438900" y="2390775"/>
            <a:ext cx="4953000" cy="5143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09:50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晨间阅读　·　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10:00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手作体验</a:t>
            </a:r>
            <a:endParaRPr/>
          </a:p>
          <a:p>
            <a:pPr>
              <a:lnSpc>
                <a:spcPct val="150000"/>
              </a:lnSpc>
            </a:pP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10:30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待定　·　计划人数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24 / 10 / 16</a:t>
            </a:r>
            <a:endParaRPr/>
          </a:p>
        </p:txBody>
      </p:sp>
      <p:sp>
        <p:nvSpPr>
          <p:cNvPr id="19" name="" descr="{&quot;isTemplate&quot;:true,&quot;type&quot;:&quot;text&quot;}"/>
          <p:cNvSpPr txBox="1"/>
          <p:nvPr/>
        </p:nvSpPr>
        <p:spPr>
          <a:xfrm rot="0" flipH="0" flipV="0">
            <a:off x="8867775" y="3190875"/>
            <a:ext cx="1047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>
                <a:solidFill>
                  <a:srgbClr val="276FBF"/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20" name=""/>
          <p:cNvSpPr/>
          <p:nvPr/>
        </p:nvSpPr>
        <p:spPr>
          <a:xfrm rot="0" flipH="0" flipV="0">
            <a:off x="6248400" y="3505200"/>
            <a:ext cx="5334000" cy="2019300"/>
          </a:xfrm>
          <a:prstGeom prst="roundRect">
            <a:avLst>
              <a:gd name="adj" fmla="val 4717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21" name="" descr="{&quot;isTemplate&quot;:true,&quot;type&quot;:&quot;text&quot;}"/>
          <p:cNvSpPr txBox="1"/>
          <p:nvPr/>
        </p:nvSpPr>
        <p:spPr>
          <a:xfrm rot="0" flipH="0" flipV="0">
            <a:off x="6438900" y="3848100"/>
            <a:ext cx="49530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76FBF"/>
                </a:solidFill>
                <a:latin typeface="Microsoft YaHei"/>
                <a:ea typeface="Microsoft YaHei"/>
              </a:rPr>
              <a:t>世界里实际发生的</a:t>
            </a:r>
            <a:endParaRPr/>
          </a:p>
        </p:txBody>
      </p:sp>
      <p:sp>
        <p:nvSpPr>
          <p:cNvPr id="22" name=""/>
          <p:cNvSpPr/>
          <p:nvPr/>
        </p:nvSpPr>
        <p:spPr>
          <a:xfrm rot="0" flipH="0" flipV="0">
            <a:off x="6438900" y="4152900"/>
            <a:ext cx="1143000" cy="34290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3" name="" descr="{&quot;isTemplate&quot;:true,&quot;type&quot;:&quot;text&quot;}"/>
          <p:cNvSpPr txBox="1"/>
          <p:nvPr/>
        </p:nvSpPr>
        <p:spPr>
          <a:xfrm rot="0" flipH="0" flipV="0">
            <a:off x="6877050" y="4248150"/>
            <a:ext cx="266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76FBF"/>
                </a:solidFill>
                <a:latin typeface="Microsoft YaHei"/>
                <a:ea typeface="Microsoft YaHei"/>
              </a:rPr>
              <a:t>林岚</a:t>
            </a:r>
            <a:endParaRPr/>
          </a:p>
        </p:txBody>
      </p:sp>
      <p:sp>
        <p:nvSpPr>
          <p:cNvPr id="24" name=""/>
          <p:cNvSpPr/>
          <p:nvPr/>
        </p:nvSpPr>
        <p:spPr>
          <a:xfrm rot="0" flipH="0" flipV="0">
            <a:off x="7658100" y="4152900"/>
            <a:ext cx="1143000" cy="34290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5" name="" descr="{&quot;isTemplate&quot;:true,&quot;type&quot;:&quot;text&quot;}"/>
          <p:cNvSpPr txBox="1"/>
          <p:nvPr/>
        </p:nvSpPr>
        <p:spPr>
          <a:xfrm rot="0" flipH="0" flipV="0">
            <a:off x="8096250" y="4248150"/>
            <a:ext cx="266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76FBF"/>
                </a:solidFill>
                <a:latin typeface="Microsoft YaHei"/>
                <a:ea typeface="Microsoft YaHei"/>
              </a:rPr>
              <a:t>周宁</a:t>
            </a:r>
            <a:endParaRPr/>
          </a:p>
        </p:txBody>
      </p:sp>
      <p:sp>
        <p:nvSpPr>
          <p:cNvPr id="26" name=""/>
          <p:cNvSpPr/>
          <p:nvPr/>
        </p:nvSpPr>
        <p:spPr>
          <a:xfrm rot="0" flipH="0" flipV="0">
            <a:off x="8877300" y="4152900"/>
            <a:ext cx="1143000" cy="34290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7" name="" descr="{&quot;isTemplate&quot;:true,&quot;type&quot;:&quot;text&quot;}"/>
          <p:cNvSpPr txBox="1"/>
          <p:nvPr/>
        </p:nvSpPr>
        <p:spPr>
          <a:xfrm rot="0" flipH="0" flipV="0">
            <a:off x="9315450" y="4248150"/>
            <a:ext cx="266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76FBF"/>
                </a:solidFill>
                <a:latin typeface="Microsoft YaHei"/>
                <a:ea typeface="Microsoft YaHei"/>
              </a:rPr>
              <a:t>陈晨</a:t>
            </a:r>
            <a:endParaRPr/>
          </a:p>
        </p:txBody>
      </p:sp>
      <p:sp>
        <p:nvSpPr>
          <p:cNvPr id="28" name=""/>
          <p:cNvSpPr/>
          <p:nvPr/>
        </p:nvSpPr>
        <p:spPr>
          <a:xfrm rot="0" flipH="0" flipV="0">
            <a:off x="10096500" y="4152900"/>
            <a:ext cx="1143000" cy="34290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9" name="" descr="{&quot;isTemplate&quot;:true,&quot;type&quot;:&quot;text&quot;}"/>
          <p:cNvSpPr txBox="1"/>
          <p:nvPr/>
        </p:nvSpPr>
        <p:spPr>
          <a:xfrm rot="0" flipH="0" flipV="0">
            <a:off x="10534650" y="4248150"/>
            <a:ext cx="266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76FBF"/>
                </a:solidFill>
                <a:latin typeface="Microsoft YaHei"/>
                <a:ea typeface="Microsoft YaHei"/>
              </a:rPr>
              <a:t>许安</a:t>
            </a:r>
            <a:endParaRPr/>
          </a:p>
        </p:txBody>
      </p:sp>
      <p:sp>
        <p:nvSpPr>
          <p:cNvPr id="30" name=""/>
          <p:cNvSpPr/>
          <p:nvPr/>
        </p:nvSpPr>
        <p:spPr>
          <a:xfrm rot="0" flipH="0" flipV="0">
            <a:off x="6438900" y="4591050"/>
            <a:ext cx="4953000" cy="590550"/>
          </a:xfrm>
          <a:prstGeom prst="roundRect">
            <a:avLst>
              <a:gd name="adj" fmla="val 12903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31" name="" descr="{&quot;isTemplate&quot;:true,&quot;type&quot;:&quot;text&quot;}"/>
          <p:cNvSpPr txBox="1"/>
          <p:nvPr/>
        </p:nvSpPr>
        <p:spPr>
          <a:xfrm rot="0" flipH="0" flipV="0">
            <a:off x="6572250" y="4714875"/>
            <a:ext cx="46863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CB6B28"/>
                </a:solidFill>
                <a:latin typeface="Microsoft YaHei"/>
                <a:ea typeface="Microsoft YaHei"/>
              </a:rPr>
              <a:t xml:space="preserve">10:00 </a:t>
            </a:r>
            <a:r>
              <a:rPr lang="zh-CN" sz="1125" b="1">
                <a:solidFill>
                  <a:srgbClr val="CB6B28"/>
                </a:solidFill>
                <a:latin typeface="Microsoft YaHei"/>
                <a:ea typeface="Microsoft YaHei"/>
              </a:rPr>
              <a:t>手作室已有预约</a:t>
            </a:r>
            <a:endParaRPr/>
          </a:p>
        </p:txBody>
      </p:sp>
      <p:sp>
        <p:nvSpPr>
          <p:cNvPr id="32" name="" descr="{&quot;isTemplate&quot;:true,&quot;type&quot;:&quot;text&quot;}"/>
          <p:cNvSpPr txBox="1"/>
          <p:nvPr/>
        </p:nvSpPr>
        <p:spPr>
          <a:xfrm rot="0" flipH="0" flipV="0">
            <a:off x="6572250" y="4905375"/>
            <a:ext cx="4686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原消息需要经真实渠道修正，而不是被谁提前知道</a:t>
            </a:r>
            <a:endParaRP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322" name="" descr="&lt;Slide notes={`先把这一节要看清的东西摆出来，一共四块。&#10;&#10;第一块是问题本身：一条消息要从真实的渠道走，咨询、更新、获知都不能省步骤，信息边界也不能省。&#10;&#10;第二块是参与者：四个人物加两个对象，还要分清楚排期表上的计划人数和实际建模的 Agent 数量不是一回事。&#10;&#10;第三块是空间与信息：图片管的是看起来像什么，真正决定能不能走过去的是碰撞和寻路；另外，作者知道答案不代表角色知道答案。&#10;&#10;第四块是时间和实践组织：一次活动有三种时间，观察窗口只能证明窗口里的事，最后再说清楚动手前要先固定哪些条件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3.1　把筹备方案放进一个会发生变化的世界&lt;/Text&gt;&#10;            &lt;Text style={{ fontSize: 34, fontWeight: 'bold', color: '#20344B' }}&gt;本节要看清的四件事&lt;/Text&gt;&#10;        &lt;/Box&gt;&#10;    &lt;/Box&gt;&#10;&#10;    &lt;Box style={{ height: 540, flexDirection: 'row', alignItems: 'center', gap: 32 }}&gt;&#10;&#10;        &lt;Box style={{ width: 300, flexDirection: 'column', gap: 18 }}&gt;&#10;            &lt;Text style={{ fontSize: 17, color: '#546779', lineHeight: 1.75, width: 300 }}&gt;这一节先搭出一个可以观察的案例：谁在行动、信息走哪条路、空间与时间怎么界定、动手前要固定什么。&lt;/Text&gt;&#10;            &lt;Box style={{ width: 300, height: 96, background: '#FFF4E6', borderRadius: 10, padding: '14px 18px', flexDirection: 'column', gap: 4, justifyContent: 'center' }}&gt;&#10;                &lt;Text style={{ fontSize: 16, fontWeight: 'bold', color: '#CB6B28' }}&gt;答案放在哪里&lt;/Text&gt;&#10;                &lt;Text style={{ fontSize: 14, color: '#546779', lineHeight: 1.5 }}&gt;决定后面的观察是不是真的&lt;/Text&gt;&#10;            &lt;/Box&gt;&#10;        &lt;/Box&gt;&#10;&#10;        &lt;Box style={{ width: 820, flexDirection: 'column', gap: 14 }}&gt;&#10;&#10;            &lt;Box style={{ width: 820, height: 100, background: '#F4F7FA', borderRadius: 10, padding: '0 20px', flexDirection: 'row', alignItems: 'center', gap: 16 }}&gt;&#10;                &lt;Box style={{ width: 44, height: 44, background: '#276FBF', borderRadius: 8, justifyContent: 'center', alignItems: 'center' }}&gt;&#10;                    &lt;Text style={{ fontSize: 20, fontWeight: 'bold', color: '#FFFFFF' }}&gt;1&lt;/Text&gt;&#10;                &lt;/Box&gt;&#10;                &lt;Box style={{ flexDirection: 'column', gap: 4 }}&gt;&#10;                    &lt;Text style={{ fontSize: 20, fontWeight: 'bold', color: '#20344B' }}&gt;一个可以贯穿全章的问题&lt;/Text&gt;&#10;                    &lt;Text style={{ fontSize: 14, color: '#546779' }}&gt;咨询、更新、获知要走真实渠道；答案不能提前进入共同记忆。&lt;/Text&gt;&#10;                &lt;/Box&gt;&#10;            &lt;/Box&gt;&#10;&#10;            &lt;Box style={{ width: 820, height: 100, background: '#F4F7FA', borderRadius: 10, padding: '0 20px', flexDirection: 'row', alignItems: 'center', gap: 16 }}&gt;&#10;                &lt;Box style={{ width: 44, height: 44, background: '#276FBF', borderRadius: 8, justifyContent: 'center', alignItems: 'center' }}&gt;&#10;                    &lt;Text style={{ fontSize: 20, fontWeight: 'bold', color: '#FFFFFF' }}&gt;2&lt;/Text&gt;&#10;                &lt;/Box&gt;&#10;                &lt;Box style={{ flexDirection: 'column', gap: 4 }}&gt;&#10;                    &lt;Text style={{ fontSize: 20, fontWeight: 'bold', color: '#20344B' }}&gt;四个人，两项对象能力&lt;/Text&gt;&#10;                    &lt;Text style={{ fontSize: 14, color: '#546779' }}&gt;计划人数不是 Agent 数；对象能感知回应，但不是人物。&lt;/Text&gt;&#10;                &lt;/Box&gt;&#10;            &lt;/Box&gt;&#10;&#10;            &lt;Box style={{ width: 820, height: 100, background: '#F4F7FA', borderRadius: 10, padding: '0 20px', flexDirection: 'row', alignItems: 'center', gap: 16 }}&gt;&#10;                &lt;Box style={{ width: 44, height: 44, background: '#276FBF', borderRadius: 8, justifyContent: 'center', alignItems: 'center' }}&gt;&#10;                    &lt;Text style={{ fontSize: 20, fontWeight: 'bold', color: '#FFFFFF' }}&gt;3&lt;/Text&gt;&#10;                &lt;/Box&gt;&#10;                &lt;Box style={{ flexDirection: 'column', gap: 4 }}&gt;&#10;                    &lt;Text style={{ fontSize: 20, fontWeight: 'bold', color: '#20344B' }}&gt;从图片到空间语义&lt;/Text&gt;&#10;                    &lt;Text style={{ fontSize: 14, color: '#546779' }}&gt;图片管外观，语义与碰撞管能不能走；作者知道不等于角色知道。&lt;/Text&gt;&#10;                &lt;/Box&gt;&#10;            &lt;/Box&gt;&#10;&#10;            &lt;Box style={{ width: 820, height: 100, background: '#F4F7FA', borderRadius: 10, padding: '0 20px', flexDirection: 'row', alignItems: 'center', gap: 16 }}&gt;&#10;                &lt;Box style={{ width: 44, height: 44, background: '#276FBF', borderRadius: 8, justifyContent: 'center', alignItems: 'center' }}&gt;&#10;                    &lt;Text style={{ fontSize: 20, fontWeight: 'bold', color: '#FFFFFF' }}&gt;4&lt;/Text&gt;&#10;                &lt;/Box&gt;&#10;                &lt;Box style={{ flexDirection: 'column', gap: 4 }}&gt;&#10;                    &lt;Text style={{ fontSize: 20, fontWeight: 'bold', color: '#20344B' }}&gt;三种时间与实践组织&lt;/Text&gt;&#10;                    &lt;Text style={{ fontSize: 14, color: '#546779' }}&gt;观察窗口只证明窗口内的事；动手前先固定环境、问题与停止点。&lt;/Text&gt;&#10;                &lt;/Box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3.1 把筹备方案放进一个会发生变化的世界&lt;/Text&gt;&#10;        &lt;Text style={{ fontSize: 14, color: '#546779' }}&gt;02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24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25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2914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3.1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把筹备方案放进一个会发生变化的世界</a:t>
            </a:r>
            <a:endParaRPr/>
          </a:p>
        </p:txBody>
      </p:sp>
      <p:sp>
        <p:nvSpPr>
          <p:cNvPr id="326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29146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本节要看清的四件事</a:t>
            </a:r>
            <a:endParaRPr/>
          </a:p>
        </p:txBody>
      </p:sp>
      <p:sp>
        <p:nvSpPr>
          <p:cNvPr id="327" name="" descr="{&quot;isTemplate&quot;:true,&quot;type&quot;:&quot;text&quot;}"/>
          <p:cNvSpPr txBox="1"/>
          <p:nvPr/>
        </p:nvSpPr>
        <p:spPr>
          <a:xfrm rot="0" flipH="0" flipV="0">
            <a:off x="609600" y="2657475"/>
            <a:ext cx="2857500" cy="10287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275">
                <a:solidFill>
                  <a:srgbClr val="546779"/>
                </a:solidFill>
                <a:latin typeface="Microsoft YaHei"/>
                <a:ea typeface="Microsoft YaHei"/>
              </a:rPr>
              <a:t>这一节先搭出一个可以观察的案例：谁在行动、信息走哪条路、空间与时间怎么界定、动手前要固定什么。</a:t>
            </a:r>
            <a:endParaRPr/>
          </a:p>
        </p:txBody>
      </p:sp>
      <p:sp>
        <p:nvSpPr>
          <p:cNvPr id="328" name=""/>
          <p:cNvSpPr/>
          <p:nvPr/>
        </p:nvSpPr>
        <p:spPr>
          <a:xfrm rot="0" flipH="0" flipV="0">
            <a:off x="609600" y="3857625"/>
            <a:ext cx="2857500" cy="914400"/>
          </a:xfrm>
          <a:prstGeom prst="roundRect">
            <a:avLst>
              <a:gd name="adj" fmla="val 10417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329" name="" descr="{&quot;isTemplate&quot;:true,&quot;type&quot;:&quot;text&quot;}"/>
          <p:cNvSpPr txBox="1"/>
          <p:nvPr/>
        </p:nvSpPr>
        <p:spPr>
          <a:xfrm rot="0" flipH="0" flipV="0">
            <a:off x="781050" y="4076700"/>
            <a:ext cx="2514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CB6B28"/>
                </a:solidFill>
                <a:latin typeface="Microsoft YaHei"/>
                <a:ea typeface="Microsoft YaHei"/>
              </a:rPr>
              <a:t>答案放在哪里</a:t>
            </a:r>
            <a:endParaRPr/>
          </a:p>
        </p:txBody>
      </p:sp>
      <p:sp>
        <p:nvSpPr>
          <p:cNvPr id="330" name="" descr="{&quot;isTemplate&quot;:true,&quot;type&quot;:&quot;text&quot;}"/>
          <p:cNvSpPr txBox="1"/>
          <p:nvPr/>
        </p:nvSpPr>
        <p:spPr>
          <a:xfrm rot="0" flipH="0" flipV="0">
            <a:off x="781050" y="4305300"/>
            <a:ext cx="25146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决定后面的观察是不是真的</a:t>
            </a:r>
            <a:endParaRPr/>
          </a:p>
        </p:txBody>
      </p:sp>
      <p:sp>
        <p:nvSpPr>
          <p:cNvPr id="331" name=""/>
          <p:cNvSpPr/>
          <p:nvPr/>
        </p:nvSpPr>
        <p:spPr>
          <a:xfrm rot="0" flipH="0" flipV="0">
            <a:off x="3771900" y="1609725"/>
            <a:ext cx="7810500" cy="952500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332" name=""/>
          <p:cNvSpPr/>
          <p:nvPr/>
        </p:nvSpPr>
        <p:spPr>
          <a:xfrm rot="0" flipH="0" flipV="0">
            <a:off x="3962400" y="1876425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33" name="" descr="{&quot;isTemplate&quot;:true,&quot;type&quot;:&quot;text&quot;}"/>
          <p:cNvSpPr txBox="1"/>
          <p:nvPr/>
        </p:nvSpPr>
        <p:spPr>
          <a:xfrm rot="0" flipH="0" flipV="0">
            <a:off x="4114800" y="1971675"/>
            <a:ext cx="1238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334" name="" descr="{&quot;isTemplate&quot;:true,&quot;type&quot;:&quot;text&quot;}"/>
          <p:cNvSpPr txBox="1"/>
          <p:nvPr/>
        </p:nvSpPr>
        <p:spPr>
          <a:xfrm rot="0" flipH="0" flipV="0">
            <a:off x="4533900" y="1876425"/>
            <a:ext cx="3733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一个可以贯穿全章的问题</a:t>
            </a:r>
            <a:endParaRPr/>
          </a:p>
        </p:txBody>
      </p:sp>
      <p:sp>
        <p:nvSpPr>
          <p:cNvPr id="335" name="" descr="{&quot;isTemplate&quot;:true,&quot;type&quot;:&quot;text&quot;}"/>
          <p:cNvSpPr txBox="1"/>
          <p:nvPr/>
        </p:nvSpPr>
        <p:spPr>
          <a:xfrm rot="0" flipH="0" flipV="0">
            <a:off x="4533900" y="2143125"/>
            <a:ext cx="3733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咨询、更新、获知要走真实渠道；答案不能提前进入共同记忆。</a:t>
            </a:r>
            <a:endParaRPr/>
          </a:p>
        </p:txBody>
      </p:sp>
      <p:sp>
        <p:nvSpPr>
          <p:cNvPr id="336" name=""/>
          <p:cNvSpPr/>
          <p:nvPr/>
        </p:nvSpPr>
        <p:spPr>
          <a:xfrm rot="0" flipH="0" flipV="0">
            <a:off x="3771900" y="2695575"/>
            <a:ext cx="7810500" cy="952500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337" name=""/>
          <p:cNvSpPr/>
          <p:nvPr/>
        </p:nvSpPr>
        <p:spPr>
          <a:xfrm rot="0" flipH="0" flipV="0">
            <a:off x="3962400" y="2962275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38" name="" descr="{&quot;isTemplate&quot;:true,&quot;type&quot;:&quot;text&quot;}"/>
          <p:cNvSpPr txBox="1"/>
          <p:nvPr/>
        </p:nvSpPr>
        <p:spPr>
          <a:xfrm rot="0" flipH="0" flipV="0">
            <a:off x="4114800" y="3057525"/>
            <a:ext cx="1238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339" name="" descr="{&quot;isTemplate&quot;:true,&quot;type&quot;:&quot;text&quot;}"/>
          <p:cNvSpPr txBox="1"/>
          <p:nvPr/>
        </p:nvSpPr>
        <p:spPr>
          <a:xfrm rot="0" flipH="0" flipV="0">
            <a:off x="4533900" y="2962275"/>
            <a:ext cx="34004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四个人，两项对象能力</a:t>
            </a:r>
            <a:endParaRPr/>
          </a:p>
        </p:txBody>
      </p:sp>
      <p:sp>
        <p:nvSpPr>
          <p:cNvPr id="340" name="" descr="{&quot;isTemplate&quot;:true,&quot;type&quot;:&quot;text&quot;}"/>
          <p:cNvSpPr txBox="1"/>
          <p:nvPr/>
        </p:nvSpPr>
        <p:spPr>
          <a:xfrm rot="0" flipH="0" flipV="0">
            <a:off x="4533900" y="3228975"/>
            <a:ext cx="34004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计划人数不是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Agent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数；对象能感知回应，但不是人物。</a:t>
            </a:r>
            <a:endParaRPr/>
          </a:p>
        </p:txBody>
      </p:sp>
      <p:sp>
        <p:nvSpPr>
          <p:cNvPr id="341" name=""/>
          <p:cNvSpPr/>
          <p:nvPr/>
        </p:nvSpPr>
        <p:spPr>
          <a:xfrm rot="0" flipH="0" flipV="0">
            <a:off x="3771900" y="3781425"/>
            <a:ext cx="7810500" cy="952500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342" name=""/>
          <p:cNvSpPr/>
          <p:nvPr/>
        </p:nvSpPr>
        <p:spPr>
          <a:xfrm rot="0" flipH="0" flipV="0">
            <a:off x="3962400" y="4048125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43" name="" descr="{&quot;isTemplate&quot;:true,&quot;type&quot;:&quot;text&quot;}"/>
          <p:cNvSpPr txBox="1"/>
          <p:nvPr/>
        </p:nvSpPr>
        <p:spPr>
          <a:xfrm rot="0" flipH="0" flipV="0">
            <a:off x="4114800" y="4143375"/>
            <a:ext cx="1238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344" name="" descr="{&quot;isTemplate&quot;:true,&quot;type&quot;:&quot;text&quot;}"/>
          <p:cNvSpPr txBox="1"/>
          <p:nvPr/>
        </p:nvSpPr>
        <p:spPr>
          <a:xfrm rot="0" flipH="0" flipV="0">
            <a:off x="4533900" y="4048125"/>
            <a:ext cx="38671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从图片到空间语义</a:t>
            </a:r>
            <a:endParaRPr/>
          </a:p>
        </p:txBody>
      </p:sp>
      <p:sp>
        <p:nvSpPr>
          <p:cNvPr id="345" name="" descr="{&quot;isTemplate&quot;:true,&quot;type&quot;:&quot;text&quot;}"/>
          <p:cNvSpPr txBox="1"/>
          <p:nvPr/>
        </p:nvSpPr>
        <p:spPr>
          <a:xfrm rot="0" flipH="0" flipV="0">
            <a:off x="4533900" y="4314825"/>
            <a:ext cx="38671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图片管外观，语义与碰撞管能不能走；作者知道不等于角色知道。</a:t>
            </a:r>
            <a:endParaRPr/>
          </a:p>
        </p:txBody>
      </p:sp>
      <p:sp>
        <p:nvSpPr>
          <p:cNvPr id="346" name=""/>
          <p:cNvSpPr/>
          <p:nvPr/>
        </p:nvSpPr>
        <p:spPr>
          <a:xfrm rot="0" flipH="0" flipV="0">
            <a:off x="3771900" y="4867275"/>
            <a:ext cx="7810500" cy="952500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347" name=""/>
          <p:cNvSpPr/>
          <p:nvPr/>
        </p:nvSpPr>
        <p:spPr>
          <a:xfrm rot="0" flipH="0" flipV="0">
            <a:off x="3962400" y="5133975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48" name="" descr="{&quot;isTemplate&quot;:true,&quot;type&quot;:&quot;text&quot;}"/>
          <p:cNvSpPr txBox="1"/>
          <p:nvPr/>
        </p:nvSpPr>
        <p:spPr>
          <a:xfrm rot="0" flipH="0" flipV="0">
            <a:off x="4114800" y="5229225"/>
            <a:ext cx="1238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4</a:t>
            </a:r>
            <a:endParaRPr/>
          </a:p>
        </p:txBody>
      </p:sp>
      <p:sp>
        <p:nvSpPr>
          <p:cNvPr id="349" name="" descr="{&quot;isTemplate&quot;:true,&quot;type&quot;:&quot;text&quot;}"/>
          <p:cNvSpPr txBox="1"/>
          <p:nvPr/>
        </p:nvSpPr>
        <p:spPr>
          <a:xfrm rot="0" flipH="0" flipV="0">
            <a:off x="4533900" y="5133975"/>
            <a:ext cx="38671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三种时间与实践组织</a:t>
            </a:r>
            <a:endParaRPr/>
          </a:p>
        </p:txBody>
      </p:sp>
      <p:sp>
        <p:nvSpPr>
          <p:cNvPr id="350" name="" descr="{&quot;isTemplate&quot;:true,&quot;type&quot;:&quot;text&quot;}"/>
          <p:cNvSpPr txBox="1"/>
          <p:nvPr/>
        </p:nvSpPr>
        <p:spPr>
          <a:xfrm rot="0" flipH="0" flipV="0">
            <a:off x="4533900" y="5400675"/>
            <a:ext cx="38671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观察窗口只证明窗口内的事；动手前先固定环境、问题与停止点。</a:t>
            </a:r>
            <a:endParaRPr/>
          </a:p>
        </p:txBody>
      </p:sp>
      <p:sp>
        <p:nvSpPr>
          <p:cNvPr id="351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4955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3.1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把筹备方案放进一个会发生变化的世界</a:t>
            </a:r>
            <a:endParaRPr/>
          </a:p>
        </p:txBody>
      </p:sp>
      <p:sp>
        <p:nvSpPr>
          <p:cNvPr id="352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02 / 24</a:t>
            </a:r>
            <a:endParaRPr/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474" name="" descr="&lt;Slide notes={`这一块先解决一个问题：凭什么说方案里的安排真的在世界上发生了。&#10;&#10;我会沿着林岚的咨询一路看下去，再换到访客自己的查询。这两条路必须各自成立，不能互相替代，中间任何一环都跳过不得。&#10;&#10;如果答案被提前放进所有人的共同记忆，角色就算一言不发也能说对结论，那就什么都没证明。&#10;&#10;所以这一段要盯住的是渠道是否真实存在，而不是结论看起来对不对。`} style={{ width: 1280, height: 720, background: '#FFFFFF', flexDirection: 'column', padding: '20px 64px' }}&gt;&#10;&#10;    &lt;Box style={{ height: 640, flexDirection: 'column', justifyContent: 'center', gap: 22 }}&gt;&#10;&#10;        &lt;Text style={{ fontSize: 15, color: '#276FBF' }}&gt;1　　3.1.1 — 3.1.2&lt;/Text&gt;&#10;&#10;        &lt;Text style={{ fontSize: 56, fontWeight: 'bold', color: '#20344B', lineHeight: 1.15 }}&gt;把方案放进会变化的世界&lt;/Text&gt;&#10;&#10;        &lt;Box style={{ width: 72, height: 4, background: '#276FBF' }} /&gt;&#10;&#10;        &lt;Text style={{ fontSize: 18, color: '#546779', lineHeight: 1.7, width: 900 }}&gt;咨询、更新、获知必须走真实渠道；四个人物与两个对象，各自掌握不同的信息。&lt;/Text&gt;&#10;&#10;        &lt;Box style={{ flexDirection: 'row', alignItems: 'center', marginTop: 10 }}&gt;&#10;            &lt;Box style={{ width: 300, height: 64, background: '#EDF4FC', borderRadius: 8, justifyContent: 'center', alignItems: 'center' }}&gt;&#10;                &lt;Text style={{ fontSize: 18, color: '#276FBF' }}&gt;咨询&lt;/Text&gt;&#10;            &lt;/Box&gt;&#10;            &lt;Box style={{ width: 44, height: 64, justifyContent: 'center', alignItems: 'center' }}&gt;&#10;                &lt;Text style={{ fontSize: 26, color: '#276FBF' }}&gt;›&lt;/Text&gt;&#10;            &lt;/Box&gt;&#10;            &lt;Box style={{ width: 300, height: 64, background: '#EDF4FC', borderRadius: 8, justifyContent: 'center', alignItems: 'center' }}&gt;&#10;                &lt;Text style={{ fontSize: 18, color: '#276FBF' }}&gt;更新&lt;/Text&gt;&#10;            &lt;/Box&gt;&#10;            &lt;Box style={{ width: 44, height: 64, justifyContent: 'center', alignItems: 'center' }}&gt;&#10;                &lt;Text style={{ fontSize: 26, color: '#26816B' }}&gt;›&lt;/Text&gt;&#10;            &lt;/Box&gt;&#10;            &lt;Box style={{ width: 300, height: 64, background: '#ECF7F2', borderRadius: 8, justifyContent: 'center', alignItems: 'center' }}&gt;&#10;                &lt;Text style={{ fontSize: 18, color: '#26816B' }}&gt;获知与行动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3.1 把筹备方案放进一个会发生变化的世界&lt;/Text&gt;&#10;        &lt;Text style={{ fontSize: 14, color: '#546779' }}&gt;03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76" name="" descr="{&quot;isTemplate&quot;:true,&quot;type&quot;:&quot;text&quot;}"/>
          <p:cNvSpPr txBox="1"/>
          <p:nvPr/>
        </p:nvSpPr>
        <p:spPr>
          <a:xfrm rot="0" flipH="0" flipV="0">
            <a:off x="609600" y="1819275"/>
            <a:ext cx="10972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276FBF"/>
                </a:solidFill>
                <a:latin typeface="Microsoft YaHei"/>
                <a:ea typeface="Microsoft YaHei"/>
              </a:rPr>
              <a:t>1</a:t>
            </a: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　　</a:t>
            </a:r>
            <a:r>
              <a:rPr lang="en-US" sz="1125">
                <a:solidFill>
                  <a:srgbClr val="276FBF"/>
                </a:solidFill>
                <a:latin typeface="Microsoft YaHei"/>
                <a:ea typeface="Microsoft YaHei"/>
              </a:rPr>
              <a:t>3.1.1 — 3.1.2</a:t>
            </a:r>
            <a:endParaRPr/>
          </a:p>
        </p:txBody>
      </p:sp>
      <p:sp>
        <p:nvSpPr>
          <p:cNvPr id="477" name="" descr="{&quot;isTemplate&quot;:true,&quot;type&quot;:&quot;text&quot;}"/>
          <p:cNvSpPr txBox="1"/>
          <p:nvPr/>
        </p:nvSpPr>
        <p:spPr>
          <a:xfrm rot="0" flipH="0" flipV="0">
            <a:off x="609600" y="2200275"/>
            <a:ext cx="10972800" cy="7429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把方案放进会变化的世界</a:t>
            </a:r>
            <a:endParaRPr/>
          </a:p>
        </p:txBody>
      </p:sp>
      <p:sp>
        <p:nvSpPr>
          <p:cNvPr id="478" name=""/>
          <p:cNvSpPr/>
          <p:nvPr/>
        </p:nvSpPr>
        <p:spPr>
          <a:xfrm rot="0" flipH="0" flipV="0">
            <a:off x="609600" y="3152775"/>
            <a:ext cx="6858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79" name="" descr="{&quot;isTemplate&quot;:true,&quot;type&quot;:&quot;text&quot;}"/>
          <p:cNvSpPr txBox="1"/>
          <p:nvPr/>
        </p:nvSpPr>
        <p:spPr>
          <a:xfrm rot="0" flipH="0" flipV="0">
            <a:off x="609600" y="3400425"/>
            <a:ext cx="8572500" cy="3524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350">
                <a:solidFill>
                  <a:srgbClr val="546779"/>
                </a:solidFill>
                <a:latin typeface="Microsoft YaHei"/>
                <a:ea typeface="Microsoft YaHei"/>
              </a:rPr>
              <a:t>咨询、更新、获知必须走真实渠道；四个人物与两个对象，各自掌握不同的信息。</a:t>
            </a:r>
            <a:endParaRPr/>
          </a:p>
        </p:txBody>
      </p:sp>
      <p:sp>
        <p:nvSpPr>
          <p:cNvPr id="480" name=""/>
          <p:cNvSpPr/>
          <p:nvPr/>
        </p:nvSpPr>
        <p:spPr>
          <a:xfrm rot="0" flipH="0" flipV="0">
            <a:off x="609600" y="4057650"/>
            <a:ext cx="2857500" cy="609600"/>
          </a:xfrm>
          <a:prstGeom prst="roundRect">
            <a:avLst>
              <a:gd name="adj" fmla="val 125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481" name="" descr="{&quot;isTemplate&quot;:true,&quot;type&quot;:&quot;text&quot;}"/>
          <p:cNvSpPr txBox="1"/>
          <p:nvPr/>
        </p:nvSpPr>
        <p:spPr>
          <a:xfrm rot="0" flipH="0" flipV="0">
            <a:off x="1866900" y="4257675"/>
            <a:ext cx="3429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276FBF"/>
                </a:solidFill>
                <a:latin typeface="Microsoft YaHei"/>
                <a:ea typeface="Microsoft YaHei"/>
              </a:rPr>
              <a:t>咨询</a:t>
            </a:r>
            <a:endParaRPr/>
          </a:p>
        </p:txBody>
      </p:sp>
      <p:sp>
        <p:nvSpPr>
          <p:cNvPr id="482" name="" descr="{&quot;isTemplate&quot;:true,&quot;type&quot;:&quot;text&quot;}"/>
          <p:cNvSpPr txBox="1"/>
          <p:nvPr/>
        </p:nvSpPr>
        <p:spPr>
          <a:xfrm rot="0" flipH="0" flipV="0">
            <a:off x="3638550" y="4210050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483" name=""/>
          <p:cNvSpPr/>
          <p:nvPr/>
        </p:nvSpPr>
        <p:spPr>
          <a:xfrm rot="0" flipH="0" flipV="0">
            <a:off x="3886200" y="4057650"/>
            <a:ext cx="2857500" cy="609600"/>
          </a:xfrm>
          <a:prstGeom prst="roundRect">
            <a:avLst>
              <a:gd name="adj" fmla="val 125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484" name="" descr="{&quot;isTemplate&quot;:true,&quot;type&quot;:&quot;text&quot;}"/>
          <p:cNvSpPr txBox="1"/>
          <p:nvPr/>
        </p:nvSpPr>
        <p:spPr>
          <a:xfrm rot="0" flipH="0" flipV="0">
            <a:off x="5143500" y="4257675"/>
            <a:ext cx="3429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276FBF"/>
                </a:solidFill>
                <a:latin typeface="Microsoft YaHei"/>
                <a:ea typeface="Microsoft YaHei"/>
              </a:rPr>
              <a:t>更新</a:t>
            </a:r>
            <a:endParaRPr/>
          </a:p>
        </p:txBody>
      </p:sp>
      <p:sp>
        <p:nvSpPr>
          <p:cNvPr id="485" name="" descr="{&quot;isTemplate&quot;:true,&quot;type&quot;:&quot;text&quot;}"/>
          <p:cNvSpPr txBox="1"/>
          <p:nvPr/>
        </p:nvSpPr>
        <p:spPr>
          <a:xfrm rot="0" flipH="0" flipV="0">
            <a:off x="6915150" y="4210050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6816B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486" name=""/>
          <p:cNvSpPr/>
          <p:nvPr/>
        </p:nvSpPr>
        <p:spPr>
          <a:xfrm rot="0" flipH="0" flipV="0">
            <a:off x="7162800" y="4057650"/>
            <a:ext cx="2857500" cy="609600"/>
          </a:xfrm>
          <a:prstGeom prst="roundRect">
            <a:avLst>
              <a:gd name="adj" fmla="val 12500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487" name="" descr="{&quot;isTemplate&quot;:true,&quot;type&quot;:&quot;text&quot;}"/>
          <p:cNvSpPr txBox="1"/>
          <p:nvPr/>
        </p:nvSpPr>
        <p:spPr>
          <a:xfrm rot="0" flipH="0" flipV="0">
            <a:off x="8162925" y="4257675"/>
            <a:ext cx="8572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26816B"/>
                </a:solidFill>
                <a:latin typeface="Microsoft YaHei"/>
                <a:ea typeface="Microsoft YaHei"/>
              </a:rPr>
              <a:t>获知与行动</a:t>
            </a:r>
            <a:endParaRPr/>
          </a:p>
        </p:txBody>
      </p:sp>
      <p:sp>
        <p:nvSpPr>
          <p:cNvPr id="488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4955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3.1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把筹备方案放进一个会发生变化的世界</a:t>
            </a:r>
            <a:endParaRPr/>
          </a:p>
        </p:txBody>
      </p:sp>
      <p:sp>
        <p:nvSpPr>
          <p:cNvPr id="489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03 / 24</a:t>
            </a:r>
            <a:endParaRPr/>
          </a:p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490" name="" descr="&lt;Slide notes={`这张关系图讲的是信息要走哪几条真实渠道。&#10;&#10;组织者林岚需要核对场地，她要向服务台真实咨询。服务台手里有独家的预约资料，这是别处没有的。服务台回答之后，林岚在下一轮才收到这个结果，然后才谈得上比较和调整。有了依据，她才能向公告栏提交更新请求，公告栏按规则处理，最后形成一份正式的新公告。&#10;&#10;另一条路是访客。访客要向公告栏真实查询，公告栏再向真实的请求者回复。&#10;&#10;关键在下面这条边界：预约的答案不进入共同 Brain，只放在应当掌握它的那份材料里。如果所有人都知道答案，后面的传播就全是假的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3.1.1　一个可以贯穿全章的问题&lt;/Text&gt;&#10;            &lt;Text style={{ fontSize: 34, fontWeight: 'bold', color: '#20344B' }}&gt;答案不能提前共享&lt;/Text&gt;&#10;        &lt;/Box&gt;&#10;    &lt;/Box&gt;&#10;&#10;    &lt;Box style={{ height: 540, flexDirection: 'column', justifyContent: 'center', gap: 16 }}&gt;&#10;&#10;        &lt;Box style={{ flexDirection: 'column', gap: 4 }}&gt;&#10;            &lt;Text style={{ fontSize: 20, fontWeight: 'bold', color: '#20344B' }}&gt;信息要走真实渠道，两条路不能互相代替&lt;/Text&gt;&#10;            &lt;Text style={{ fontSize: 14, color: '#546779' }}&gt;箭头表示需要真实信息渠道，不预排 Step&lt;/Text&gt;&#10;        &lt;/Box&gt;&#10;&#10;        &lt;Box style={{ background: '#F4F7FA', borderRadius: 10, padding: '12px 20px', flexDirection: 'column', gap: 8 }}&gt;&#10;            &lt;Box style={{ flexDirection: 'row', alignItems: 'center', gap: 12 }}&gt;&#10;                &lt;Text style={{ fontSize: 15, fontWeight: 'bold', color: '#276FBF' }}&gt;组织者渠道&lt;/Text&gt;&#10;                &lt;Text style={{ fontSize: 13, color: '#546779' }}&gt;林岚 → 服务台 → 林岚 → 公告栏 → 正式新公告&lt;/Text&gt;&#10;            &lt;/Box&gt;&#10;            &lt;Box style={{ flexDirection: 'row', alignItems: 'center' }}&gt;&#10;                &lt;Box style={{ width: 240, height: 76, background: '#EDF4FC', borderRadius: 8, flexDirection: 'column', gap: 2, justifyContent: 'center', alignItems: 'center' }}&gt;&#10;                    &lt;Text style={{ fontSize: 17, fontWeight: 'bold', color: '#276FBF' }}&gt;林岚&lt;/Text&gt;&#10;                    &lt;Text style={{ fontSize: 13, color: '#546779' }}&gt;真实咨询&lt;/Text&gt;&#10;                &lt;/Box&gt;&#10;                &lt;Box style={{ width: 44, height: 76, justifyContent: 'center', alignItems: 'center' }}&gt;&#10;                    &lt;Text style={{ fontSize: 24, color: '#276FBF' }}&gt;›&lt;/Text&gt;&#10;                &lt;/Box&gt;&#10;                &lt;Box style={{ width: 245, height: 76, background: '#F7F3E8', borderRadius: 8, flexDirection: 'column', gap: 2, justifyContent: 'center', alignItems: 'center' }}&gt;&#10;                    &lt;Text style={{ fontSize: 17, fontWeight: 'bold', color: '#20344B' }}&gt;服务台&lt;/Text&gt;&#10;                    &lt;Text style={{ fontSize: 13, color: '#546779' }}&gt;独有预约资料&lt;/Text&gt;&#10;                &lt;/Box&gt;&#10;                &lt;Box style={{ width: 44, height: 76, justifyContent: 'center', alignItems: 'center' }}&gt;&#10;                    &lt;Text style={{ fontSize: 24, color: '#276FBF' }}&gt;›&lt;/Text&gt;&#10;                &lt;/Box&gt;&#10;                &lt;Box style={{ width: 245, height: 76, background: '#F7F3E8', borderRadius: 8, flexDirection: 'column', gap: 2, justifyContent: 'center', alignItems: 'center' }}&gt;&#10;                    &lt;Text style={{ fontSize: 17, fontWeight: 'bold', color: '#20344B' }}&gt;公告栏&lt;/Text&gt;&#10;                    &lt;Text style={{ fontSize: 13, color: '#546779' }}&gt;有依据的更新请求&lt;/Text&gt;&#10;                &lt;/Box&gt;&#10;                &lt;Box style={{ width: 44, height: 76, justifyContent: 'center', alignItems: 'center' }}&gt;&#10;                    &lt;Text style={{ fontSize: 24, color: '#26816B' }}&gt;›&lt;/Text&gt;&#10;                &lt;/Box&gt;&#10;                &lt;Box style={{ width: 245, height: 76, background: '#ECF7F2', borderRadius: 8, flexDirection: 'column', gap: 2, justifyContent: 'center', alignItems: 'center' }}&gt;&#10;                    &lt;Text style={{ fontSize: 17, fontWeight: 'bold', color: '#26816B' }}&gt;正式新公告&lt;/Text&gt;&#10;                    &lt;Text style={{ fontSize: 13, color: '#546779' }}&gt;提交更正后形成&lt;/Text&gt;&#10;                &lt;/Box&gt;&#10;            &lt;/Box&gt;&#10;        &lt;/Box&gt;&#10;&#10;        &lt;Box style={{ background: '#F4F7FA', borderRadius: 10, padding: '12px 20px', flexDirection: 'column', gap: 8 }}&gt;&#10;            &lt;Box style={{ flexDirection: 'row', alignItems: 'center', gap: 12 }}&gt;&#10;                &lt;Text style={{ fontSize: 15, fontWeight: 'bold', color: '#276FBF' }}&gt;访客渠道&lt;/Text&gt;&#10;                &lt;Text style={{ fontSize: 13, color: '#546779' }}&gt;访客 → 公告栏 → 访客；服务台回答后，组织者要到下一轮才收到&lt;/Text&gt;&#10;            &lt;/Box&gt;&#10;            &lt;Box style={{ flexDirection: 'row', alignItems: 'center' }}&gt;&#10;                &lt;Box style={{ width: 358, height: 76, background: '#EDF4FC', borderRadius: 8, flexDirection: 'column', gap: 2, justifyContent: 'center', alignItems: 'center' }}&gt;&#10;                    &lt;Text style={{ fontSize: 17, fontWeight: 'bold', color: '#276FBF' }}&gt;访客&lt;/Text&gt;&#10;                    &lt;Text style={{ fontSize: 13, color: '#546779' }}&gt;真实查询&lt;/Text&gt;&#10;                &lt;/Box&gt;&#10;                &lt;Box style={{ width: 44, height: 76, justifyContent: 'center', alignItems: 'center' }}&gt;&#10;                    &lt;Text style={{ fontSize: 24, color: '#276FBF' }}&gt;›&lt;/Text&gt;&#10;                &lt;/Box&gt;&#10;                &lt;Box style={{ width: 358, height: 76, background: '#F7F3E8', borderRadius: 8, flexDirection: 'column', gap: 2, justifyContent: 'center', alignItems: 'center' }}&gt;&#10;                    &lt;Text style={{ fontSize: 17, fontWeight: 'bold', color: '#20344B' }}&gt;公告栏&lt;/Text&gt;&#10;                    &lt;Text style={{ fontSize: 13, color: '#546779' }}&gt;向真实请求者回复&lt;/Text&gt;&#10;                &lt;/Box&gt;&#10;                &lt;Box style={{ width: 44, height: 76, justifyContent: 'center', alignItems: 'center' }}&gt;&#10;                    &lt;Text style={{ fontSize: 24, color: '#26816B' }}&gt;›&lt;/Text&gt;&#10;                &lt;/Box&gt;&#10;                &lt;Box style={{ width: 308, height: 76, background: '#ECF7F2', borderRadius: 8, flexDirection: 'column', gap: 2, justifyContent: 'center', alignItems: 'center' }}&gt;&#10;                    &lt;Text style={{ fontSize: 17, fontWeight: 'bold', color: '#26816B' }}&gt;访客获知&lt;/Text&gt;&#10;                    &lt;Text style={{ fontSize: 13, color: '#546779' }}&gt;按实际所得更新认识&lt;/Text&gt;&#10;                &lt;/Box&gt;&#10;            &lt;/Box&gt;&#10;        &lt;/Box&gt;&#10;&#10;        &lt;Box style={{ flexDirection: 'row', alignItems: 'center', gap: 14, background: '#FFF4E6', borderRadius: 10, padding: '12px 20px' }}&gt;&#10;            &lt;Box style={{ width: 4, height: 52, background: '#CB6B28' }} /&gt;&#10;            &lt;Box style={{ flexDirection: 'column', gap: 3 }}&gt;&#10;                &lt;Text style={{ fontSize: 17, fontWeight: 'bold', color: '#CB6B28' }}&gt;信息边界&lt;/Text&gt;&#10;                &lt;Text style={{ fontSize: 14, color: '#546779' }}&gt;预约答案不进入共同 Brain；本章是 4 名 Agent + 2 个对象，计划人数不是 Agent 数。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3.1 把筹备方案放进一个会发生变化的世界&lt;/Text&gt;&#10;        &lt;Text style={{ fontSize: 14, color: '#546779' }}&gt;04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92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93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2590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3.1.1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一个可以贯穿全章的问题</a:t>
            </a:r>
            <a:endParaRPr/>
          </a:p>
        </p:txBody>
      </p:sp>
      <p:sp>
        <p:nvSpPr>
          <p:cNvPr id="494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25908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答案不能提前共享</a:t>
            </a:r>
            <a:endParaRPr/>
          </a:p>
        </p:txBody>
      </p:sp>
      <p:sp>
        <p:nvSpPr>
          <p:cNvPr id="495" name="" descr="{&quot;isTemplate&quot;:true,&quot;type&quot;:&quot;text&quot;}"/>
          <p:cNvSpPr txBox="1"/>
          <p:nvPr/>
        </p:nvSpPr>
        <p:spPr>
          <a:xfrm rot="0" flipH="0" flipV="0">
            <a:off x="609600" y="1714500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信息要走真实渠道，两条路不能互相代替</a:t>
            </a:r>
            <a:endParaRPr/>
          </a:p>
        </p:txBody>
      </p:sp>
      <p:sp>
        <p:nvSpPr>
          <p:cNvPr id="496" name="" descr="{&quot;isTemplate&quot;:true,&quot;type&quot;:&quot;text&quot;}"/>
          <p:cNvSpPr txBox="1"/>
          <p:nvPr/>
        </p:nvSpPr>
        <p:spPr>
          <a:xfrm rot="0" flipH="0" flipV="0">
            <a:off x="609600" y="1981200"/>
            <a:ext cx="10972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箭头表示需要真实信息渠道，不预排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Step</a:t>
            </a:r>
            <a:endParaRPr/>
          </a:p>
        </p:txBody>
      </p:sp>
      <p:sp>
        <p:nvSpPr>
          <p:cNvPr id="497" name=""/>
          <p:cNvSpPr/>
          <p:nvPr/>
        </p:nvSpPr>
        <p:spPr>
          <a:xfrm rot="0" flipH="0" flipV="0">
            <a:off x="609600" y="2295525"/>
            <a:ext cx="10972800" cy="1200150"/>
          </a:xfrm>
          <a:prstGeom prst="roundRect">
            <a:avLst>
              <a:gd name="adj" fmla="val 7937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498" name="" descr="{&quot;isTemplate&quot;:true,&quot;type&quot;:&quot;text&quot;}"/>
          <p:cNvSpPr txBox="1"/>
          <p:nvPr/>
        </p:nvSpPr>
        <p:spPr>
          <a:xfrm rot="0" flipH="0" flipV="0">
            <a:off x="800100" y="2409825"/>
            <a:ext cx="7143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76FBF"/>
                </a:solidFill>
                <a:latin typeface="Microsoft YaHei"/>
                <a:ea typeface="Microsoft YaHei"/>
              </a:rPr>
              <a:t>组织者渠道</a:t>
            </a:r>
            <a:endParaRPr/>
          </a:p>
        </p:txBody>
      </p:sp>
      <p:sp>
        <p:nvSpPr>
          <p:cNvPr id="499" name="" descr="{&quot;isTemplate&quot;:true,&quot;type&quot;:&quot;text&quot;}"/>
          <p:cNvSpPr txBox="1"/>
          <p:nvPr/>
        </p:nvSpPr>
        <p:spPr>
          <a:xfrm rot="0" flipH="0" flipV="0">
            <a:off x="1628775" y="2419350"/>
            <a:ext cx="26479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林岚</a:t>
            </a: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服务台</a:t>
            </a: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林岚</a:t>
            </a: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公告栏</a:t>
            </a: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正式新公告</a:t>
            </a:r>
            <a:endParaRPr/>
          </a:p>
        </p:txBody>
      </p:sp>
      <p:sp>
        <p:nvSpPr>
          <p:cNvPr id="500" name=""/>
          <p:cNvSpPr/>
          <p:nvPr/>
        </p:nvSpPr>
        <p:spPr>
          <a:xfrm rot="0" flipH="0" flipV="0">
            <a:off x="800100" y="2657475"/>
            <a:ext cx="2286000" cy="723900"/>
          </a:xfrm>
          <a:prstGeom prst="roundRect">
            <a:avLst>
              <a:gd name="adj" fmla="val 10526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501" name="" descr="{&quot;isTemplate&quot;:true,&quot;type&quot;:&quot;text&quot;}"/>
          <p:cNvSpPr txBox="1"/>
          <p:nvPr/>
        </p:nvSpPr>
        <p:spPr>
          <a:xfrm rot="0" flipH="0" flipV="0">
            <a:off x="1781175" y="2838450"/>
            <a:ext cx="3238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76FBF"/>
                </a:solidFill>
                <a:latin typeface="Microsoft YaHei"/>
                <a:ea typeface="Microsoft YaHei"/>
              </a:rPr>
              <a:t>林岚</a:t>
            </a:r>
            <a:endParaRPr/>
          </a:p>
        </p:txBody>
      </p:sp>
      <p:sp>
        <p:nvSpPr>
          <p:cNvPr id="502" name="" descr="{&quot;isTemplate&quot;:true,&quot;type&quot;:&quot;text&quot;}"/>
          <p:cNvSpPr txBox="1"/>
          <p:nvPr/>
        </p:nvSpPr>
        <p:spPr>
          <a:xfrm rot="0" flipH="0" flipV="0">
            <a:off x="1695450" y="3057525"/>
            <a:ext cx="495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真实咨询</a:t>
            </a:r>
            <a:endParaRPr/>
          </a:p>
        </p:txBody>
      </p:sp>
      <p:sp>
        <p:nvSpPr>
          <p:cNvPr id="503" name="" descr="{&quot;isTemplate&quot;:true,&quot;type&quot;:&quot;text&quot;}"/>
          <p:cNvSpPr txBox="1"/>
          <p:nvPr/>
        </p:nvSpPr>
        <p:spPr>
          <a:xfrm rot="0" flipH="0" flipV="0">
            <a:off x="3257550" y="2886075"/>
            <a:ext cx="857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80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504" name=""/>
          <p:cNvSpPr/>
          <p:nvPr/>
        </p:nvSpPr>
        <p:spPr>
          <a:xfrm rot="0" flipH="0" flipV="0">
            <a:off x="3505200" y="2657475"/>
            <a:ext cx="2333625" cy="723900"/>
          </a:xfrm>
          <a:prstGeom prst="roundRect">
            <a:avLst>
              <a:gd name="adj" fmla="val 10526"/>
            </a:avLst>
          </a:prstGeom>
          <a:solidFill>
            <a:srgbClr val="F7F3E8"/>
          </a:solidFill>
          <a:ln/>
        </p:spPr>
        <p:txBody>
          <a:bodyPr/>
          <a:p/>
        </p:txBody>
      </p:sp>
      <p:sp>
        <p:nvSpPr>
          <p:cNvPr id="505" name="" descr="{&quot;isTemplate&quot;:true,&quot;type&quot;:&quot;text&quot;}"/>
          <p:cNvSpPr txBox="1"/>
          <p:nvPr/>
        </p:nvSpPr>
        <p:spPr>
          <a:xfrm rot="0" flipH="0" flipV="0">
            <a:off x="4429125" y="2838450"/>
            <a:ext cx="4857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服务台</a:t>
            </a:r>
            <a:endParaRPr/>
          </a:p>
        </p:txBody>
      </p:sp>
      <p:sp>
        <p:nvSpPr>
          <p:cNvPr id="506" name="" descr="{&quot;isTemplate&quot;:true,&quot;type&quot;:&quot;text&quot;}"/>
          <p:cNvSpPr txBox="1"/>
          <p:nvPr/>
        </p:nvSpPr>
        <p:spPr>
          <a:xfrm rot="0" flipH="0" flipV="0">
            <a:off x="4305300" y="3057525"/>
            <a:ext cx="7429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独有预约资料</a:t>
            </a:r>
            <a:endParaRPr/>
          </a:p>
        </p:txBody>
      </p:sp>
      <p:sp>
        <p:nvSpPr>
          <p:cNvPr id="507" name="" descr="{&quot;isTemplate&quot;:true,&quot;type&quot;:&quot;text&quot;}"/>
          <p:cNvSpPr txBox="1"/>
          <p:nvPr/>
        </p:nvSpPr>
        <p:spPr>
          <a:xfrm rot="0" flipH="0" flipV="0">
            <a:off x="6010275" y="2886075"/>
            <a:ext cx="857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80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508" name=""/>
          <p:cNvSpPr/>
          <p:nvPr/>
        </p:nvSpPr>
        <p:spPr>
          <a:xfrm rot="0" flipH="0" flipV="0">
            <a:off x="6257925" y="2657475"/>
            <a:ext cx="2333625" cy="723900"/>
          </a:xfrm>
          <a:prstGeom prst="roundRect">
            <a:avLst>
              <a:gd name="adj" fmla="val 10526"/>
            </a:avLst>
          </a:prstGeom>
          <a:solidFill>
            <a:srgbClr val="F7F3E8"/>
          </a:solidFill>
          <a:ln/>
        </p:spPr>
        <p:txBody>
          <a:bodyPr/>
          <a:p/>
        </p:txBody>
      </p:sp>
      <p:sp>
        <p:nvSpPr>
          <p:cNvPr id="509" name="" descr="{&quot;isTemplate&quot;:true,&quot;type&quot;:&quot;text&quot;}"/>
          <p:cNvSpPr txBox="1"/>
          <p:nvPr/>
        </p:nvSpPr>
        <p:spPr>
          <a:xfrm rot="0" flipH="0" flipV="0">
            <a:off x="7181850" y="2838450"/>
            <a:ext cx="4857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公告栏</a:t>
            </a:r>
            <a:endParaRPr/>
          </a:p>
        </p:txBody>
      </p:sp>
      <p:sp>
        <p:nvSpPr>
          <p:cNvPr id="510" name="" descr="{&quot;isTemplate&quot;:true,&quot;type&quot;:&quot;text&quot;}"/>
          <p:cNvSpPr txBox="1"/>
          <p:nvPr/>
        </p:nvSpPr>
        <p:spPr>
          <a:xfrm rot="0" flipH="0" flipV="0">
            <a:off x="6934200" y="3057525"/>
            <a:ext cx="9906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有依据的更新请求</a:t>
            </a:r>
            <a:endParaRPr/>
          </a:p>
        </p:txBody>
      </p:sp>
      <p:sp>
        <p:nvSpPr>
          <p:cNvPr id="511" name="" descr="{&quot;isTemplate&quot;:true,&quot;type&quot;:&quot;text&quot;}"/>
          <p:cNvSpPr txBox="1"/>
          <p:nvPr/>
        </p:nvSpPr>
        <p:spPr>
          <a:xfrm rot="0" flipH="0" flipV="0">
            <a:off x="8763000" y="2886075"/>
            <a:ext cx="857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800">
                <a:solidFill>
                  <a:srgbClr val="26816B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512" name=""/>
          <p:cNvSpPr/>
          <p:nvPr/>
        </p:nvSpPr>
        <p:spPr>
          <a:xfrm rot="0" flipH="0" flipV="0">
            <a:off x="9010650" y="2657475"/>
            <a:ext cx="2333625" cy="723900"/>
          </a:xfrm>
          <a:prstGeom prst="roundRect">
            <a:avLst>
              <a:gd name="adj" fmla="val 10526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513" name="" descr="{&quot;isTemplate&quot;:true,&quot;type&quot;:&quot;text&quot;}"/>
          <p:cNvSpPr txBox="1"/>
          <p:nvPr/>
        </p:nvSpPr>
        <p:spPr>
          <a:xfrm rot="0" flipH="0" flipV="0">
            <a:off x="9772650" y="2838450"/>
            <a:ext cx="8096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6816B"/>
                </a:solidFill>
                <a:latin typeface="Microsoft YaHei"/>
                <a:ea typeface="Microsoft YaHei"/>
              </a:rPr>
              <a:t>正式新公告</a:t>
            </a:r>
            <a:endParaRPr/>
          </a:p>
        </p:txBody>
      </p:sp>
      <p:sp>
        <p:nvSpPr>
          <p:cNvPr id="514" name="" descr="{&quot;isTemplate&quot;:true,&quot;type&quot;:&quot;text&quot;}"/>
          <p:cNvSpPr txBox="1"/>
          <p:nvPr/>
        </p:nvSpPr>
        <p:spPr>
          <a:xfrm rot="0" flipH="0" flipV="0">
            <a:off x="9744075" y="3057525"/>
            <a:ext cx="8667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提交更正后形成</a:t>
            </a:r>
            <a:endParaRPr/>
          </a:p>
        </p:txBody>
      </p:sp>
      <p:sp>
        <p:nvSpPr>
          <p:cNvPr id="515" name=""/>
          <p:cNvSpPr/>
          <p:nvPr/>
        </p:nvSpPr>
        <p:spPr>
          <a:xfrm rot="0" flipH="0" flipV="0">
            <a:off x="609600" y="3648075"/>
            <a:ext cx="10972800" cy="1200150"/>
          </a:xfrm>
          <a:prstGeom prst="roundRect">
            <a:avLst>
              <a:gd name="adj" fmla="val 7937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516" name="" descr="{&quot;isTemplate&quot;:true,&quot;type&quot;:&quot;text&quot;}"/>
          <p:cNvSpPr txBox="1"/>
          <p:nvPr/>
        </p:nvSpPr>
        <p:spPr>
          <a:xfrm rot="0" flipH="0" flipV="0">
            <a:off x="800100" y="3762375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76FBF"/>
                </a:solidFill>
                <a:latin typeface="Microsoft YaHei"/>
                <a:ea typeface="Microsoft YaHei"/>
              </a:rPr>
              <a:t>访客渠道</a:t>
            </a:r>
            <a:endParaRPr/>
          </a:p>
        </p:txBody>
      </p:sp>
      <p:sp>
        <p:nvSpPr>
          <p:cNvPr id="517" name="" descr="{&quot;isTemplate&quot;:true,&quot;type&quot;:&quot;text&quot;}"/>
          <p:cNvSpPr txBox="1"/>
          <p:nvPr/>
        </p:nvSpPr>
        <p:spPr>
          <a:xfrm rot="0" flipH="0" flipV="0">
            <a:off x="1485900" y="3771900"/>
            <a:ext cx="36195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访客</a:t>
            </a: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公告栏</a:t>
            </a: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访客；服务台回答后，组织者要到下一轮才收到</a:t>
            </a:r>
            <a:endParaRPr/>
          </a:p>
        </p:txBody>
      </p:sp>
      <p:sp>
        <p:nvSpPr>
          <p:cNvPr id="518" name=""/>
          <p:cNvSpPr/>
          <p:nvPr/>
        </p:nvSpPr>
        <p:spPr>
          <a:xfrm rot="0" flipH="0" flipV="0">
            <a:off x="800100" y="4010025"/>
            <a:ext cx="3409950" cy="723900"/>
          </a:xfrm>
          <a:prstGeom prst="roundRect">
            <a:avLst>
              <a:gd name="adj" fmla="val 10526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519" name="" descr="{&quot;isTemplate&quot;:true,&quot;type&quot;:&quot;text&quot;}"/>
          <p:cNvSpPr txBox="1"/>
          <p:nvPr/>
        </p:nvSpPr>
        <p:spPr>
          <a:xfrm rot="0" flipH="0" flipV="0">
            <a:off x="2343150" y="4191000"/>
            <a:ext cx="3238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76FBF"/>
                </a:solidFill>
                <a:latin typeface="Microsoft YaHei"/>
                <a:ea typeface="Microsoft YaHei"/>
              </a:rPr>
              <a:t>访客</a:t>
            </a:r>
            <a:endParaRPr/>
          </a:p>
        </p:txBody>
      </p:sp>
      <p:sp>
        <p:nvSpPr>
          <p:cNvPr id="520" name="" descr="{&quot;isTemplate&quot;:true,&quot;type&quot;:&quot;text&quot;}"/>
          <p:cNvSpPr txBox="1"/>
          <p:nvPr/>
        </p:nvSpPr>
        <p:spPr>
          <a:xfrm rot="0" flipH="0" flipV="0">
            <a:off x="2257425" y="4410075"/>
            <a:ext cx="495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真实查询</a:t>
            </a:r>
            <a:endParaRPr/>
          </a:p>
        </p:txBody>
      </p:sp>
      <p:sp>
        <p:nvSpPr>
          <p:cNvPr id="521" name="" descr="{&quot;isTemplate&quot;:true,&quot;type&quot;:&quot;text&quot;}"/>
          <p:cNvSpPr txBox="1"/>
          <p:nvPr/>
        </p:nvSpPr>
        <p:spPr>
          <a:xfrm rot="0" flipH="0" flipV="0">
            <a:off x="4381500" y="4238625"/>
            <a:ext cx="857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80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522" name=""/>
          <p:cNvSpPr/>
          <p:nvPr/>
        </p:nvSpPr>
        <p:spPr>
          <a:xfrm rot="0" flipH="0" flipV="0">
            <a:off x="4629150" y="4010025"/>
            <a:ext cx="3409950" cy="723900"/>
          </a:xfrm>
          <a:prstGeom prst="roundRect">
            <a:avLst>
              <a:gd name="adj" fmla="val 10526"/>
            </a:avLst>
          </a:prstGeom>
          <a:solidFill>
            <a:srgbClr val="F7F3E8"/>
          </a:solidFill>
          <a:ln/>
        </p:spPr>
        <p:txBody>
          <a:bodyPr/>
          <a:p/>
        </p:txBody>
      </p:sp>
      <p:sp>
        <p:nvSpPr>
          <p:cNvPr id="523" name="" descr="{&quot;isTemplate&quot;:true,&quot;type&quot;:&quot;text&quot;}"/>
          <p:cNvSpPr txBox="1"/>
          <p:nvPr/>
        </p:nvSpPr>
        <p:spPr>
          <a:xfrm rot="0" flipH="0" flipV="0">
            <a:off x="6096000" y="4191000"/>
            <a:ext cx="4857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公告栏</a:t>
            </a:r>
            <a:endParaRPr/>
          </a:p>
        </p:txBody>
      </p:sp>
      <p:sp>
        <p:nvSpPr>
          <p:cNvPr id="524" name="" descr="{&quot;isTemplate&quot;:true,&quot;type&quot;:&quot;text&quot;}"/>
          <p:cNvSpPr txBox="1"/>
          <p:nvPr/>
        </p:nvSpPr>
        <p:spPr>
          <a:xfrm rot="0" flipH="0" flipV="0">
            <a:off x="5838825" y="4410075"/>
            <a:ext cx="9906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向真实请求者回复</a:t>
            </a:r>
            <a:endParaRPr/>
          </a:p>
        </p:txBody>
      </p:sp>
      <p:sp>
        <p:nvSpPr>
          <p:cNvPr id="525" name="" descr="{&quot;isTemplate&quot;:true,&quot;type&quot;:&quot;text&quot;}"/>
          <p:cNvSpPr txBox="1"/>
          <p:nvPr/>
        </p:nvSpPr>
        <p:spPr>
          <a:xfrm rot="0" flipH="0" flipV="0">
            <a:off x="8210550" y="4238625"/>
            <a:ext cx="857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800">
                <a:solidFill>
                  <a:srgbClr val="26816B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526" name=""/>
          <p:cNvSpPr/>
          <p:nvPr/>
        </p:nvSpPr>
        <p:spPr>
          <a:xfrm rot="0" flipH="0" flipV="0">
            <a:off x="8458200" y="4010025"/>
            <a:ext cx="2933700" cy="723900"/>
          </a:xfrm>
          <a:prstGeom prst="roundRect">
            <a:avLst>
              <a:gd name="adj" fmla="val 10526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527" name="" descr="{&quot;isTemplate&quot;:true,&quot;type&quot;:&quot;text&quot;}"/>
          <p:cNvSpPr txBox="1"/>
          <p:nvPr/>
        </p:nvSpPr>
        <p:spPr>
          <a:xfrm rot="0" flipH="0" flipV="0">
            <a:off x="9601200" y="4191000"/>
            <a:ext cx="6477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6816B"/>
                </a:solidFill>
                <a:latin typeface="Microsoft YaHei"/>
                <a:ea typeface="Microsoft YaHei"/>
              </a:rPr>
              <a:t>访客获知</a:t>
            </a:r>
            <a:endParaRPr/>
          </a:p>
        </p:txBody>
      </p:sp>
      <p:sp>
        <p:nvSpPr>
          <p:cNvPr id="528" name="" descr="{&quot;isTemplate&quot;:true,&quot;type&quot;:&quot;text&quot;}"/>
          <p:cNvSpPr txBox="1"/>
          <p:nvPr/>
        </p:nvSpPr>
        <p:spPr>
          <a:xfrm rot="0" flipH="0" flipV="0">
            <a:off x="9372600" y="4410075"/>
            <a:ext cx="11144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按实际所得更新认识</a:t>
            </a:r>
            <a:endParaRPr/>
          </a:p>
        </p:txBody>
      </p:sp>
      <p:sp>
        <p:nvSpPr>
          <p:cNvPr id="529" name=""/>
          <p:cNvSpPr/>
          <p:nvPr/>
        </p:nvSpPr>
        <p:spPr>
          <a:xfrm rot="0" flipH="0" flipV="0">
            <a:off x="609600" y="5000625"/>
            <a:ext cx="10972800" cy="723900"/>
          </a:xfrm>
          <a:prstGeom prst="roundRect">
            <a:avLst>
              <a:gd name="adj" fmla="val 13158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530" name=""/>
          <p:cNvSpPr/>
          <p:nvPr/>
        </p:nvSpPr>
        <p:spPr>
          <a:xfrm rot="0" flipH="0" flipV="0">
            <a:off x="800100" y="5114925"/>
            <a:ext cx="38100" cy="4953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531" name="" descr="{&quot;isTemplate&quot;:true,&quot;type&quot;:&quot;text&quot;}"/>
          <p:cNvSpPr txBox="1"/>
          <p:nvPr/>
        </p:nvSpPr>
        <p:spPr>
          <a:xfrm rot="0" flipH="0" flipV="0">
            <a:off x="971550" y="5172075"/>
            <a:ext cx="51816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CB6B28"/>
                </a:solidFill>
                <a:latin typeface="Microsoft YaHei"/>
                <a:ea typeface="Microsoft YaHei"/>
              </a:rPr>
              <a:t>信息边界</a:t>
            </a:r>
            <a:endParaRPr/>
          </a:p>
        </p:txBody>
      </p:sp>
      <p:sp>
        <p:nvSpPr>
          <p:cNvPr id="532" name="" descr="{&quot;isTemplate&quot;:true,&quot;type&quot;:&quot;text&quot;}"/>
          <p:cNvSpPr txBox="1"/>
          <p:nvPr/>
        </p:nvSpPr>
        <p:spPr>
          <a:xfrm rot="0" flipH="0" flipV="0">
            <a:off x="971550" y="5400675"/>
            <a:ext cx="51816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预约答案不进入共同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Brain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；本章是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4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名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Agent + 2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个对象，计划人数不是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Agent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数。</a:t>
            </a:r>
            <a:endParaRPr/>
          </a:p>
        </p:txBody>
      </p:sp>
      <p:sp>
        <p:nvSpPr>
          <p:cNvPr id="533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4955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3.1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把筹备方案放进一个会发生变化的世界</a:t>
            </a:r>
            <a:endParaRPr/>
          </a:p>
        </p:txBody>
      </p:sp>
      <p:sp>
        <p:nvSpPr>
          <p:cNvPr id="534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04 / 24</a:t>
            </a:r>
            <a:endParaRPr/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535" name="" descr="&lt;Slide notes={`沿着这些渠道，一段一段取证据，中间任何一环都不能跳。&#10;&#10;第一段是咨询与比较：林岚要真的问过，下一轮真的收到预约反馈，她才有依据判断原来的安排做不做得了。&#10;&#10;第二段是公告更新：请求发出去之后，要看公告栏实际提交了什么状态、有没有回复。&#10;&#10;第三段是获知与行动：其他人得通过渠道真的知道，更正自己的记忆，然后按自己实际的位置和时间开始活动。&#10;&#10;这里的箭头表示的是因果依赖，不是预先排好的时刻表。依赖成立，事情才成立；至于它发生在第几步，那是要观察的结果，不是写死的剧本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3.1.1　一个可以贯穿全章的问题&lt;/Text&gt;&#10;            &lt;Text style={{ fontSize: 34, fontWeight: 'bold', color: '#20344B' }}&gt;沿图逐段取证&lt;/Text&gt;&#10;        &lt;/Box&gt;&#10;    &lt;/Box&gt;&#10;&#10;    &lt;Box style={{ height: 540, flexDirection: 'column', justifyContent: 'center', gap: 18 }}&gt;&#10;&#10;        &lt;Text style={{ fontSize: 16, color: '#546779' }}&gt;每一段都要有一段成立的事实，跳过中间环节，结论就不成立。&lt;/Text&gt;&#10;&#10;        &lt;Box style={{ background: '#F4F7FA', borderRadius: 10, padding: '16px 20px', flexDirection: 'column', gap: 12 }}&gt;&#10;&#10;            &lt;Box style={{ flexDirection: 'row', alignItems: 'center', gap: 16 }}&gt;&#10;                &lt;Box style={{ width: 4 }} /&gt;&#10;                &lt;Box style={{ width: 150 }}&gt;&lt;Text style={{ fontSize: 15, fontWeight: 'bold', color: '#546779' }}&gt;进展&lt;/Text&gt;&lt;/Box&gt;&#10;                &lt;Box style={{ flex: 1 }}&gt;&lt;Text style={{ fontSize: 15, fontWeight: 'bold', color: '#546779' }}&gt;需要成立的事实&lt;/Text&gt;&lt;/Box&gt;&#10;            &lt;/Box&gt;&#10;&#10;            &lt;Box style={{ height: 78, background: '#FFFFFF', borderRadius: 8, padding: '0 16px', flexDirection: 'row', alignItems: 'center', gap: 16 }}&gt;&#10;                &lt;Box style={{ width: 4, height: 48, background: '#276FBF' }} /&gt;&#10;                &lt;Box style={{ width: 150 }}&gt;&lt;Text style={{ fontSize: 17, fontWeight: 'bold', color: '#20344B' }}&gt;咨询与比较&lt;/Text&gt;&lt;/Box&gt;&#10;                &lt;Box style={{ flex: 1 }}&gt;&lt;Text style={{ fontSize: 16, color: '#546779', lineHeight: 1.5 }}&gt;林岚真实咨询，下一轮收到预约反馈，再比较可行的安排。&lt;/Text&gt;&lt;/Box&gt;&#10;            &lt;/Box&gt;&#10;&#10;            &lt;Box style={{ height: 78, background: '#FFFFFF', borderRadius: 8, padding: '0 16px', flexDirection: 'row', alignItems: 'center', gap: 16 }}&gt;&#10;                &lt;Box style={{ width: 4, height: 48, background: '#276FBF' }} /&gt;&#10;                &lt;Box style={{ width: 150 }}&gt;&lt;Text style={{ fontSize: 17, fontWeight: 'bold', color: '#20344B' }}&gt;公告更新&lt;/Text&gt;&lt;/Box&gt;&#10;                &lt;Box style={{ flex: 1 }}&gt;&lt;Text style={{ fontSize: 16, color: '#546779', lineHeight: 1.5 }}&gt;请求更新之后，要看公告栏实际提交的状态与回复。&lt;/Text&gt;&lt;/Box&gt;&#10;            &lt;/Box&gt;&#10;&#10;            &lt;Box style={{ height: 78, background: '#FFFFFF', borderRadius: 8, padding: '0 16px', flexDirection: 'row', alignItems: 'center', gap: 16 }}&gt;&#10;                &lt;Box style={{ width: 4, height: 48, background: '#26816B' }} /&gt;&#10;                &lt;Box style={{ width: 150 }}&gt;&lt;Text style={{ fontSize: 17, fontWeight: 'bold', color: '#20344B' }}&gt;获知与行动&lt;/Text&gt;&lt;/Box&gt;&#10;                &lt;Box style={{ flex: 1 }}&gt;&lt;Text style={{ fontSize: 16, color: '#546779', lineHeight: 1.5 }}&gt;其他人物通过渠道获知，更正记忆，再按实际位置与时间开始活动。&lt;/Text&gt;&lt;/Box&gt;&#10;            &lt;/Box&gt;&#10;&#10;        &lt;/Box&gt;&#10;&#10;        &lt;Box style={{ flexDirection: 'row', alignItems: 'center', gap: 14, background: '#FFF4E6', borderRadius: 10, padding: '14px 20px' }}&gt;&#10;            &lt;Box style={{ width: 4, height: 48, background: '#CB6B28' }} /&gt;&#10;            &lt;Box style={{ flexDirection: 'column', gap: 3 }}&gt;&#10;                &lt;Text style={{ fontSize: 17, fontWeight: 'bold', color: '#CB6B28' }}&gt;因果依赖，不是时刻表&lt;/Text&gt;&#10;                &lt;Text style={{ fontSize: 14, color: '#546779' }}&gt;模型可能多问几个问题，也可能晚一步行动——发生在第几步是观察结果。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3.1 把筹备方案放进一个会发生变化的世界&lt;/Text&gt;&#10;        &lt;Text style={{ fontSize: 14, color: '#546779' }}&gt;05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37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38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1943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3.1.1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一个可以贯穿全章的问题</a:t>
            </a:r>
            <a:endParaRPr/>
          </a:p>
        </p:txBody>
      </p:sp>
      <p:sp>
        <p:nvSpPr>
          <p:cNvPr id="539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19431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沿图逐段取证</a:t>
            </a:r>
            <a:endParaRPr/>
          </a:p>
        </p:txBody>
      </p:sp>
      <p:sp>
        <p:nvSpPr>
          <p:cNvPr id="540" name="" descr="{&quot;isTemplate&quot;:true,&quot;type&quot;:&quot;text&quot;}"/>
          <p:cNvSpPr txBox="1"/>
          <p:nvPr/>
        </p:nvSpPr>
        <p:spPr>
          <a:xfrm rot="0" flipH="0" flipV="0">
            <a:off x="609600" y="1562100"/>
            <a:ext cx="10972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每一段都要有一段成立的事实，跳过中间环节，结论就不成立。</a:t>
            </a:r>
            <a:endParaRPr/>
          </a:p>
        </p:txBody>
      </p:sp>
      <p:sp>
        <p:nvSpPr>
          <p:cNvPr id="541" name=""/>
          <p:cNvSpPr/>
          <p:nvPr/>
        </p:nvSpPr>
        <p:spPr>
          <a:xfrm rot="0" flipH="0" flipV="0">
            <a:off x="609600" y="1924050"/>
            <a:ext cx="10972800" cy="3048000"/>
          </a:xfrm>
          <a:prstGeom prst="roundRect">
            <a:avLst>
              <a:gd name="adj" fmla="val 3125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542" name="" descr="{&quot;isTemplate&quot;:true,&quot;type&quot;:&quot;text&quot;}"/>
          <p:cNvSpPr txBox="1"/>
          <p:nvPr/>
        </p:nvSpPr>
        <p:spPr>
          <a:xfrm rot="0" flipH="0" flipV="0">
            <a:off x="990600" y="2076450"/>
            <a:ext cx="1428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546779"/>
                </a:solidFill>
                <a:latin typeface="Microsoft YaHei"/>
                <a:ea typeface="Microsoft YaHei"/>
              </a:rPr>
              <a:t>进展</a:t>
            </a:r>
            <a:endParaRPr/>
          </a:p>
        </p:txBody>
      </p:sp>
      <p:sp>
        <p:nvSpPr>
          <p:cNvPr id="543" name="" descr="{&quot;isTemplate&quot;:true,&quot;type&quot;:&quot;text&quot;}"/>
          <p:cNvSpPr txBox="1"/>
          <p:nvPr/>
        </p:nvSpPr>
        <p:spPr>
          <a:xfrm rot="0" flipH="0" flipV="0">
            <a:off x="2571750" y="2076450"/>
            <a:ext cx="88201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546779"/>
                </a:solidFill>
                <a:latin typeface="Microsoft YaHei"/>
                <a:ea typeface="Microsoft YaHei"/>
              </a:rPr>
              <a:t>需要成立的事实</a:t>
            </a:r>
            <a:endParaRPr/>
          </a:p>
        </p:txBody>
      </p:sp>
      <p:sp>
        <p:nvSpPr>
          <p:cNvPr id="544" name=""/>
          <p:cNvSpPr/>
          <p:nvPr/>
        </p:nvSpPr>
        <p:spPr>
          <a:xfrm rot="0" flipH="0" flipV="0">
            <a:off x="800100" y="2362200"/>
            <a:ext cx="10591800" cy="742950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45" name=""/>
          <p:cNvSpPr/>
          <p:nvPr/>
        </p:nvSpPr>
        <p:spPr>
          <a:xfrm rot="0" flipH="0" flipV="0">
            <a:off x="952500" y="2505075"/>
            <a:ext cx="38100" cy="4572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46" name="" descr="{&quot;isTemplate&quot;:true,&quot;type&quot;:&quot;text&quot;}"/>
          <p:cNvSpPr txBox="1"/>
          <p:nvPr/>
        </p:nvSpPr>
        <p:spPr>
          <a:xfrm rot="0" flipH="0" flipV="0">
            <a:off x="1143000" y="2638425"/>
            <a:ext cx="14287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咨询与比较</a:t>
            </a:r>
            <a:endParaRPr/>
          </a:p>
        </p:txBody>
      </p:sp>
      <p:sp>
        <p:nvSpPr>
          <p:cNvPr id="547" name="" descr="{&quot;isTemplate&quot;:true,&quot;type&quot;:&quot;text&quot;}"/>
          <p:cNvSpPr txBox="1"/>
          <p:nvPr/>
        </p:nvSpPr>
        <p:spPr>
          <a:xfrm rot="0" flipH="0" flipV="0">
            <a:off x="2724150" y="2600325"/>
            <a:ext cx="851535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林岚真实咨询，下一轮收到预约反馈，再比较可行的安排。</a:t>
            </a:r>
            <a:endParaRPr/>
          </a:p>
        </p:txBody>
      </p:sp>
      <p:sp>
        <p:nvSpPr>
          <p:cNvPr id="548" name=""/>
          <p:cNvSpPr/>
          <p:nvPr/>
        </p:nvSpPr>
        <p:spPr>
          <a:xfrm rot="0" flipH="0" flipV="0">
            <a:off x="800100" y="3219450"/>
            <a:ext cx="10591800" cy="742950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49" name=""/>
          <p:cNvSpPr/>
          <p:nvPr/>
        </p:nvSpPr>
        <p:spPr>
          <a:xfrm rot="0" flipH="0" flipV="0">
            <a:off x="952500" y="3362325"/>
            <a:ext cx="38100" cy="4572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50" name="" descr="{&quot;isTemplate&quot;:true,&quot;type&quot;:&quot;text&quot;}"/>
          <p:cNvSpPr txBox="1"/>
          <p:nvPr/>
        </p:nvSpPr>
        <p:spPr>
          <a:xfrm rot="0" flipH="0" flipV="0">
            <a:off x="1143000" y="3495675"/>
            <a:ext cx="14287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公告更新</a:t>
            </a:r>
            <a:endParaRPr/>
          </a:p>
        </p:txBody>
      </p:sp>
      <p:sp>
        <p:nvSpPr>
          <p:cNvPr id="551" name="" descr="{&quot;isTemplate&quot;:true,&quot;type&quot;:&quot;text&quot;}"/>
          <p:cNvSpPr txBox="1"/>
          <p:nvPr/>
        </p:nvSpPr>
        <p:spPr>
          <a:xfrm rot="0" flipH="0" flipV="0">
            <a:off x="2724150" y="3457575"/>
            <a:ext cx="851535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请求更新之后，要看公告栏实际提交的状态与回复。</a:t>
            </a:r>
            <a:endParaRPr/>
          </a:p>
        </p:txBody>
      </p:sp>
      <p:sp>
        <p:nvSpPr>
          <p:cNvPr id="552" name=""/>
          <p:cNvSpPr/>
          <p:nvPr/>
        </p:nvSpPr>
        <p:spPr>
          <a:xfrm rot="0" flipH="0" flipV="0">
            <a:off x="800100" y="4076700"/>
            <a:ext cx="10591800" cy="742950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53" name=""/>
          <p:cNvSpPr/>
          <p:nvPr/>
        </p:nvSpPr>
        <p:spPr>
          <a:xfrm rot="0" flipH="0" flipV="0">
            <a:off x="952500" y="4219575"/>
            <a:ext cx="38100" cy="45720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554" name="" descr="{&quot;isTemplate&quot;:true,&quot;type&quot;:&quot;text&quot;}"/>
          <p:cNvSpPr txBox="1"/>
          <p:nvPr/>
        </p:nvSpPr>
        <p:spPr>
          <a:xfrm rot="0" flipH="0" flipV="0">
            <a:off x="1143000" y="4352925"/>
            <a:ext cx="14287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获知与行动</a:t>
            </a:r>
            <a:endParaRPr/>
          </a:p>
        </p:txBody>
      </p:sp>
      <p:sp>
        <p:nvSpPr>
          <p:cNvPr id="555" name="" descr="{&quot;isTemplate&quot;:true,&quot;type&quot;:&quot;text&quot;}"/>
          <p:cNvSpPr txBox="1"/>
          <p:nvPr/>
        </p:nvSpPr>
        <p:spPr>
          <a:xfrm rot="0" flipH="0" flipV="0">
            <a:off x="2724150" y="4314825"/>
            <a:ext cx="851535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其他人物通过渠道获知，更正记忆，再按实际位置与时间开始活动。</a:t>
            </a:r>
            <a:endParaRPr/>
          </a:p>
        </p:txBody>
      </p:sp>
      <p:sp>
        <p:nvSpPr>
          <p:cNvPr id="556" name=""/>
          <p:cNvSpPr/>
          <p:nvPr/>
        </p:nvSpPr>
        <p:spPr>
          <a:xfrm rot="0" flipH="0" flipV="0">
            <a:off x="609600" y="5143500"/>
            <a:ext cx="10972800" cy="723900"/>
          </a:xfrm>
          <a:prstGeom prst="roundRect">
            <a:avLst>
              <a:gd name="adj" fmla="val 13158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557" name=""/>
          <p:cNvSpPr/>
          <p:nvPr/>
        </p:nvSpPr>
        <p:spPr>
          <a:xfrm rot="0" flipH="0" flipV="0">
            <a:off x="800100" y="5276850"/>
            <a:ext cx="38100" cy="4572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558" name="" descr="{&quot;isTemplate&quot;:true,&quot;type&quot;:&quot;text&quot;}"/>
          <p:cNvSpPr txBox="1"/>
          <p:nvPr/>
        </p:nvSpPr>
        <p:spPr>
          <a:xfrm rot="0" flipH="0" flipV="0">
            <a:off x="971550" y="5314950"/>
            <a:ext cx="44291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CB6B28"/>
                </a:solidFill>
                <a:latin typeface="Microsoft YaHei"/>
                <a:ea typeface="Microsoft YaHei"/>
              </a:rPr>
              <a:t>因果依赖，不是时刻表</a:t>
            </a:r>
            <a:endParaRPr/>
          </a:p>
        </p:txBody>
      </p:sp>
      <p:sp>
        <p:nvSpPr>
          <p:cNvPr id="559" name="" descr="{&quot;isTemplate&quot;:true,&quot;type&quot;:&quot;text&quot;}"/>
          <p:cNvSpPr txBox="1"/>
          <p:nvPr/>
        </p:nvSpPr>
        <p:spPr>
          <a:xfrm rot="0" flipH="0" flipV="0">
            <a:off x="971550" y="5543550"/>
            <a:ext cx="44291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模型可能多问几个问题，也可能晚一步行动——发生在第几步是观察结果。</a:t>
            </a:r>
            <a:endParaRPr/>
          </a:p>
        </p:txBody>
      </p:sp>
      <p:sp>
        <p:nvSpPr>
          <p:cNvPr id="560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4955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3.1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把筹备方案放进一个会发生变化的世界</a:t>
            </a:r>
            <a:endParaRPr/>
          </a:p>
        </p:txBody>
      </p:sp>
      <p:sp>
        <p:nvSpPr>
          <p:cNvPr id="561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05 / 24</a:t>
            </a:r>
            <a:endParaRPr/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562" name="" descr="&lt;Slide notes={`有一条线要守住：我们不能把执行过程写成剧本。&#10;&#10;模型完全可能多问几个问题，也可能晚一步才行动。这些差异恰恰是我们要观察的东西。&#10;&#10;只要事先把观察对象和验收规则定好，差异就能被分析。反过来，如果把第三步必须说话、第四步必须到达写进剧本，再把执行剧本当成自主行为，那就是自己骗自己。&#10;&#10;另外说明一下材料的性质。这一章提供了一整套案例资料包，里面有地图和人物素材、完整的 Skill、配置说明和验收模板。它是准备录进系统的作者材料，还没有创建新的实验，也没有产生新的运行结果。正文里的操作步骤以当前界面和源码为依据，示意过程不冒充实际运行结果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3.1.1　一个可以贯穿全章的问题&lt;/Text&gt;&#10;            &lt;Text style={{ fontSize: 34, fontWeight: 'bold', color: '#20344B' }}&gt;不把过程写成剧本&lt;/Text&gt;&#10;        &lt;/Box&gt;&#10;    &lt;/Box&gt;&#10;&#10;    &lt;Box style={{ height: 540, flexDirection: 'row', alignItems: 'center', gap: 32 }}&gt;&#10;&#10;        &lt;Box style={{ width: 700, flexDirection: 'column', gap: 16 }}&gt;&#10;&#10;            &lt;Box style={{ height: 116, background: '#EDF4FC', borderRadius: 10, padding: '0 20px', flexDirection: 'row', alignItems: 'center', gap: 18 }}&gt;&#10;                &lt;Text style={{ fontSize: 40, fontWeight: 'bold', color: '#276FBF' }}&gt;01&lt;/Text&gt;&#10;                &lt;Box style={{ flexDirection: 'column', gap: 4 }}&gt;&#10;                    &lt;Text style={{ fontSize: 20, fontWeight: 'bold', color: '#20344B' }}&gt;先定观察对象与验收规则&lt;/Text&gt;&#10;                    &lt;Text style={{ fontSize: 15, color: '#546779' }}&gt;规则先立好，差异才能被分析&lt;/Text&gt;&#10;                &lt;/Box&gt;&#10;            &lt;/Box&gt;&#10;&#10;            &lt;Box style={{ height: 116, background: '#EDF4FC', borderRadius: 10, padding: '0 20px', flexDirection: 'row', alignItems: 'center', gap: 18 }}&gt;&#10;                &lt;Text style={{ fontSize: 40, fontWeight: 'bold', color: '#276FBF' }}&gt;02&lt;/Text&gt;&#10;                &lt;Box style={{ flexDirection: 'column', gap: 4 }}&gt;&#10;                    &lt;Text style={{ fontSize: 20, fontWeight: 'bold', color: '#20344B' }}&gt;模型可能多问，也可能晚一步&lt;/Text&gt;&#10;                    &lt;Text style={{ fontSize: 15, color: '#546779' }}&gt;这些差异是观察结果，不是故障&lt;/Text&gt;&#10;                &lt;/Box&gt;&#10;            &lt;/Box&gt;&#10;&#10;            &lt;Box style={{ height: 116, background: '#FFF4E6', borderRadius: 10, padding: '0 20px', flexDirection: 'row', alignItems: 'center', gap: 18 }}&gt;&#10;                &lt;Text style={{ fontSize: 40, fontWeight: 'bold', color: '#CB6B28' }}&gt;03&lt;/Text&gt;&#10;                &lt;Box style={{ flexDirection: 'column', gap: 4 }}&gt;&#10;                    &lt;Text style={{ fontSize: 20, fontWeight: 'bold', color: '#CB6B28' }}&gt;不把「第 3 步必须说话」写进剧本&lt;/Text&gt;&#10;                    &lt;Text style={{ fontSize: 15, color: '#546779' }}&gt;把执行剧本当成自主行为，是自我欺骗&lt;/Text&gt;&#10;                &lt;/Box&gt;&#10;            &lt;/Box&gt;&#10;&#10;        &lt;/Box&gt;&#10;&#10;        &lt;Box style={{ width: 420, flexDirection: 'column', gap: 0 }}&gt;&#10;            &lt;Box style={{ width: 420, background: '#F7F3E8', borderRadius: 10, padding: '18px 20px', flexDirection: 'column', gap: 12 }}&gt;&#10;                &lt;Text style={{ fontSize: 20, fontWeight: 'bold', color: '#20344B' }}&gt;案例资料包&lt;/Text&gt;&#10;                &lt;Box style={{ flexDirection: 'column', gap: 6 }}&gt;&#10;                    &lt;Text style={{ fontSize: 15, color: '#546779', lineHeight: 1.5 }}&gt;地图与人物素材·完整 Skill&lt;/Text&gt;&#10;                    &lt;Text style={{ fontSize: 15, color: '#546779', lineHeight: 1.5 }}&gt;配置说明 · 验收模板&lt;/Text&gt;&#10;                &lt;/Box&gt;&#10;                &lt;Box style={{ height: 1, background: '#B5C7D8' }} /&gt;&#10;                &lt;Box style={{ width: 380, height: 46, background: '#FFF4E6', borderRadius: 8, justifyContent: 'center', padding: '0 14px' }}&gt;&#10;                    &lt;Text style={{ fontSize: 15, fontWeight: 'bold', color: '#CB6B28' }}&gt;准备录入系统的作者材料&lt;/Text&gt;&#10;                &lt;/Box&gt;&#10;                &lt;Text style={{ fontSize: 14, color: '#546779', lineHeight: 1.6 }}&gt;尚未创建新的实验，也没有产生新 Run。&lt;/Text&gt;&#10;                &lt;Text style={{ fontSize: 13, color: '#546779', lineHeight: 1.6 }}&gt;正文步骤以当前界面与源码为依据，示意过程不冒充实际运行结果。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3.1 把筹备方案放进一个会发生变化的世界&lt;/Text&gt;&#10;        &lt;Text style={{ fontSize: 14, color: '#546779' }}&gt;06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64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65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2590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3.1.1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一个可以贯穿全章的问题</a:t>
            </a:r>
            <a:endParaRPr/>
          </a:p>
        </p:txBody>
      </p:sp>
      <p:sp>
        <p:nvSpPr>
          <p:cNvPr id="566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25908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不把过程写成剧本</a:t>
            </a:r>
            <a:endParaRPr/>
          </a:p>
        </p:txBody>
      </p:sp>
      <p:sp>
        <p:nvSpPr>
          <p:cNvPr id="567" name=""/>
          <p:cNvSpPr/>
          <p:nvPr/>
        </p:nvSpPr>
        <p:spPr>
          <a:xfrm rot="0" flipH="0" flipV="0">
            <a:off x="609600" y="1905000"/>
            <a:ext cx="6667500" cy="1104900"/>
          </a:xfrm>
          <a:prstGeom prst="roundRect">
            <a:avLst>
              <a:gd name="adj" fmla="val 8621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568" name="" descr="{&quot;isTemplate&quot;:true,&quot;type&quot;:&quot;text&quot;}"/>
          <p:cNvSpPr txBox="1"/>
          <p:nvPr/>
        </p:nvSpPr>
        <p:spPr>
          <a:xfrm rot="0" flipH="0" flipV="0">
            <a:off x="800100" y="2228850"/>
            <a:ext cx="476250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276FBF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569" name="" descr="{&quot;isTemplate&quot;:true,&quot;type&quot;:&quot;text&quot;}"/>
          <p:cNvSpPr txBox="1"/>
          <p:nvPr/>
        </p:nvSpPr>
        <p:spPr>
          <a:xfrm rot="0" flipH="0" flipV="0">
            <a:off x="1447800" y="2238375"/>
            <a:ext cx="2095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先定观察对象与验收规则</a:t>
            </a:r>
            <a:endParaRPr/>
          </a:p>
        </p:txBody>
      </p:sp>
      <p:sp>
        <p:nvSpPr>
          <p:cNvPr id="570" name="" descr="{&quot;isTemplate&quot;:true,&quot;type&quot;:&quot;text&quot;}"/>
          <p:cNvSpPr txBox="1"/>
          <p:nvPr/>
        </p:nvSpPr>
        <p:spPr>
          <a:xfrm rot="0" flipH="0" flipV="0">
            <a:off x="1447800" y="2505075"/>
            <a:ext cx="2095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规则先立好，差异才能被分析</a:t>
            </a:r>
            <a:endParaRPr/>
          </a:p>
        </p:txBody>
      </p:sp>
      <p:sp>
        <p:nvSpPr>
          <p:cNvPr id="571" name=""/>
          <p:cNvSpPr/>
          <p:nvPr/>
        </p:nvSpPr>
        <p:spPr>
          <a:xfrm rot="0" flipH="0" flipV="0">
            <a:off x="609600" y="3162300"/>
            <a:ext cx="6667500" cy="1104900"/>
          </a:xfrm>
          <a:prstGeom prst="roundRect">
            <a:avLst>
              <a:gd name="adj" fmla="val 8621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572" name="" descr="{&quot;isTemplate&quot;:true,&quot;type&quot;:&quot;text&quot;}"/>
          <p:cNvSpPr txBox="1"/>
          <p:nvPr/>
        </p:nvSpPr>
        <p:spPr>
          <a:xfrm rot="0" flipH="0" flipV="0">
            <a:off x="800100" y="3486150"/>
            <a:ext cx="476250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276FBF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573" name="" descr="{&quot;isTemplate&quot;:true,&quot;type&quot;:&quot;text&quot;}"/>
          <p:cNvSpPr txBox="1"/>
          <p:nvPr/>
        </p:nvSpPr>
        <p:spPr>
          <a:xfrm rot="0" flipH="0" flipV="0">
            <a:off x="1447800" y="3495675"/>
            <a:ext cx="2476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模型可能多问，也可能晚一步</a:t>
            </a:r>
            <a:endParaRPr/>
          </a:p>
        </p:txBody>
      </p:sp>
      <p:sp>
        <p:nvSpPr>
          <p:cNvPr id="574" name="" descr="{&quot;isTemplate&quot;:true,&quot;type&quot;:&quot;text&quot;}"/>
          <p:cNvSpPr txBox="1"/>
          <p:nvPr/>
        </p:nvSpPr>
        <p:spPr>
          <a:xfrm rot="0" flipH="0" flipV="0">
            <a:off x="1447800" y="3762375"/>
            <a:ext cx="2476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这些差异是观察结果，不是故障</a:t>
            </a:r>
            <a:endParaRPr/>
          </a:p>
        </p:txBody>
      </p:sp>
      <p:sp>
        <p:nvSpPr>
          <p:cNvPr id="575" name=""/>
          <p:cNvSpPr/>
          <p:nvPr/>
        </p:nvSpPr>
        <p:spPr>
          <a:xfrm rot="0" flipH="0" flipV="0">
            <a:off x="609600" y="4419600"/>
            <a:ext cx="6667500" cy="1104900"/>
          </a:xfrm>
          <a:prstGeom prst="roundRect">
            <a:avLst>
              <a:gd name="adj" fmla="val 8621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576" name="" descr="{&quot;isTemplate&quot;:true,&quot;type&quot;:&quot;text&quot;}"/>
          <p:cNvSpPr txBox="1"/>
          <p:nvPr/>
        </p:nvSpPr>
        <p:spPr>
          <a:xfrm rot="0" flipH="0" flipV="0">
            <a:off x="800100" y="4743450"/>
            <a:ext cx="476250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CB6B28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577" name="" descr="{&quot;isTemplate&quot;:true,&quot;type&quot;:&quot;text&quot;}"/>
          <p:cNvSpPr txBox="1"/>
          <p:nvPr/>
        </p:nvSpPr>
        <p:spPr>
          <a:xfrm rot="0" flipH="0" flipV="0">
            <a:off x="1447800" y="4752975"/>
            <a:ext cx="29051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CB6B28"/>
                </a:solidFill>
                <a:latin typeface="Microsoft YaHei"/>
                <a:ea typeface="Microsoft YaHei"/>
              </a:rPr>
              <a:t>不把「第</a:t>
            </a:r>
            <a:r>
              <a:rPr lang="en-US" sz="1500" b="1">
                <a:solidFill>
                  <a:srgbClr val="CB6B28"/>
                </a:solidFill>
                <a:latin typeface="Microsoft YaHei"/>
                <a:ea typeface="Microsoft YaHei"/>
              </a:rPr>
              <a:t xml:space="preserve"> 3 </a:t>
            </a:r>
            <a:r>
              <a:rPr lang="zh-CN" sz="1500" b="1">
                <a:solidFill>
                  <a:srgbClr val="CB6B28"/>
                </a:solidFill>
                <a:latin typeface="Microsoft YaHei"/>
                <a:ea typeface="Microsoft YaHei"/>
              </a:rPr>
              <a:t>步必须说话」写进剧本</a:t>
            </a:r>
            <a:endParaRPr/>
          </a:p>
        </p:txBody>
      </p:sp>
      <p:sp>
        <p:nvSpPr>
          <p:cNvPr id="578" name="" descr="{&quot;isTemplate&quot;:true,&quot;type&quot;:&quot;text&quot;}"/>
          <p:cNvSpPr txBox="1"/>
          <p:nvPr/>
        </p:nvSpPr>
        <p:spPr>
          <a:xfrm rot="0" flipH="0" flipV="0">
            <a:off x="1447800" y="5019675"/>
            <a:ext cx="29051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把执行剧本当成自主行为，是自我欺骗</a:t>
            </a:r>
            <a:endParaRPr/>
          </a:p>
        </p:txBody>
      </p:sp>
      <p:sp>
        <p:nvSpPr>
          <p:cNvPr id="579" name=""/>
          <p:cNvSpPr/>
          <p:nvPr/>
        </p:nvSpPr>
        <p:spPr>
          <a:xfrm rot="0" flipH="0" flipV="0">
            <a:off x="7581900" y="2266950"/>
            <a:ext cx="4000500" cy="2895600"/>
          </a:xfrm>
          <a:prstGeom prst="roundRect">
            <a:avLst>
              <a:gd name="adj" fmla="val 3289"/>
            </a:avLst>
          </a:prstGeom>
          <a:solidFill>
            <a:srgbClr val="F7F3E8"/>
          </a:solidFill>
          <a:ln/>
        </p:spPr>
        <p:txBody>
          <a:bodyPr/>
          <a:p/>
        </p:txBody>
      </p:sp>
      <p:sp>
        <p:nvSpPr>
          <p:cNvPr id="580" name="" descr="{&quot;isTemplate&quot;:true,&quot;type&quot;:&quot;text&quot;}"/>
          <p:cNvSpPr txBox="1"/>
          <p:nvPr/>
        </p:nvSpPr>
        <p:spPr>
          <a:xfrm rot="0" flipH="0" flipV="0">
            <a:off x="7772400" y="2438400"/>
            <a:ext cx="3619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案例资料包</a:t>
            </a:r>
            <a:endParaRPr/>
          </a:p>
        </p:txBody>
      </p:sp>
      <p:sp>
        <p:nvSpPr>
          <p:cNvPr id="581" name="" descr="{&quot;isTemplate&quot;:true,&quot;type&quot;:&quot;text&quot;}"/>
          <p:cNvSpPr txBox="1"/>
          <p:nvPr/>
        </p:nvSpPr>
        <p:spPr>
          <a:xfrm rot="0" flipH="0" flipV="0">
            <a:off x="7772400" y="2781300"/>
            <a:ext cx="36195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地图与人物素材·完整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Skill</a:t>
            </a:r>
            <a:endParaRPr/>
          </a:p>
        </p:txBody>
      </p:sp>
      <p:sp>
        <p:nvSpPr>
          <p:cNvPr id="582" name="" descr="{&quot;isTemplate&quot;:true,&quot;type&quot;:&quot;text&quot;}"/>
          <p:cNvSpPr txBox="1"/>
          <p:nvPr/>
        </p:nvSpPr>
        <p:spPr>
          <a:xfrm rot="0" flipH="0" flipV="0">
            <a:off x="7772400" y="3095625"/>
            <a:ext cx="36195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配置说明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验收模板</a:t>
            </a:r>
            <a:endParaRPr/>
          </a:p>
        </p:txBody>
      </p:sp>
      <p:sp>
        <p:nvSpPr>
          <p:cNvPr id="583" name=""/>
          <p:cNvSpPr/>
          <p:nvPr/>
        </p:nvSpPr>
        <p:spPr>
          <a:xfrm rot="0" flipH="0" flipV="0">
            <a:off x="7772400" y="3467100"/>
            <a:ext cx="3619500" cy="9525"/>
          </a:xfrm>
          <a:prstGeom prst="rect">
            <a:avLst/>
          </a:prstGeom>
          <a:solidFill>
            <a:srgbClr val="B5C7D8"/>
          </a:solidFill>
          <a:ln/>
        </p:spPr>
        <p:txBody>
          <a:bodyPr/>
          <a:p/>
        </p:txBody>
      </p:sp>
      <p:sp>
        <p:nvSpPr>
          <p:cNvPr id="584" name=""/>
          <p:cNvSpPr/>
          <p:nvPr/>
        </p:nvSpPr>
        <p:spPr>
          <a:xfrm rot="0" flipH="0" flipV="0">
            <a:off x="7772400" y="3590925"/>
            <a:ext cx="3619500" cy="438150"/>
          </a:xfrm>
          <a:prstGeom prst="roundRect">
            <a:avLst>
              <a:gd name="adj" fmla="val 17391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585" name="" descr="{&quot;isTemplate&quot;:true,&quot;type&quot;:&quot;text&quot;}"/>
          <p:cNvSpPr txBox="1"/>
          <p:nvPr/>
        </p:nvSpPr>
        <p:spPr>
          <a:xfrm rot="0" flipH="0" flipV="0">
            <a:off x="7905750" y="3724275"/>
            <a:ext cx="3352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CB6B28"/>
                </a:solidFill>
                <a:latin typeface="Microsoft YaHei"/>
                <a:ea typeface="Microsoft YaHei"/>
              </a:rPr>
              <a:t>准备录入系统的作者材料</a:t>
            </a:r>
            <a:endParaRPr/>
          </a:p>
        </p:txBody>
      </p:sp>
      <p:sp>
        <p:nvSpPr>
          <p:cNvPr id="586" name="" descr="{&quot;isTemplate&quot;:true,&quot;type&quot;:&quot;text&quot;}"/>
          <p:cNvSpPr txBox="1"/>
          <p:nvPr/>
        </p:nvSpPr>
        <p:spPr>
          <a:xfrm rot="0" flipH="0" flipV="0">
            <a:off x="7772400" y="4143375"/>
            <a:ext cx="3619500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尚未创建新的实验，也没有产生新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Run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587" name="" descr="{&quot;isTemplate&quot;:true,&quot;type&quot;:&quot;text&quot;}"/>
          <p:cNvSpPr txBox="1"/>
          <p:nvPr/>
        </p:nvSpPr>
        <p:spPr>
          <a:xfrm rot="0" flipH="0" flipV="0">
            <a:off x="7772400" y="4514850"/>
            <a:ext cx="3619500" cy="4762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正文步骤以当前界面与源码为依据，示意过程不冒充实际运行结果。</a:t>
            </a:r>
            <a:endParaRPr/>
          </a:p>
        </p:txBody>
      </p:sp>
      <p:sp>
        <p:nvSpPr>
          <p:cNvPr id="588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4955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3.1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把筹备方案放进一个会发生变化的世界</a:t>
            </a:r>
            <a:endParaRPr/>
          </a:p>
        </p:txBody>
      </p:sp>
      <p:sp>
        <p:nvSpPr>
          <p:cNvPr id="589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06 / 24</a:t>
            </a:r>
            <a:endParaRPr/>
          </a:p>
        </p:txBody>
      </p:sp>
    </p:spTree>
  </p:cSld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590" name="" descr="&lt;Slide notes={`这一轮实验里有四位人物。&#10;&#10;林岚在公共大厅，是组织者，手里有旧的活动计划，需要核对场地。&#10;&#10;周宁在手作室做志愿者，先检查物料，再到大厅帮助来访者，他知道的是那条旧消息。&#10;&#10;陈晨在交流室，是想参加十点阅读分享的来访者，会整理物品并询问安排。&#10;&#10;许安在阅读室，想参加原消息里的十点手作体验，但需要核实。&#10;&#10;另外还有两个对象：服务台在大厅，掌握手作室已有的预约，按真实请求回答；公告栏也在大厅，初始展示旧安排，收到有依据的更新后提交新状态。&#10;&#10;人物和对象不是一回事：服务台和公告栏是地图上的游戏对象，绑定的是根 Skill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3.1.2　四个人，两项对象能力&lt;/Text&gt;&#10;            &lt;Text style={{ fontSize: 34, fontWeight: 'bold', color: '#20344B' }}&gt;谁在行动，谁知道什么&lt;/Text&gt;&#10;        &lt;/Box&gt;&#10;    &lt;/Box&gt;&#10;&#10;    &lt;Box style={{ height: 540, flexDirection: 'column', justifyContent: 'center', gap: 10 }}&gt;&#10;&#10;        &lt;Text style={{ fontSize: 15, fontWeight: 'bold', color: '#276FBF' }}&gt;公共 Agent 资源 · 4 名&lt;/Text&gt;&#10;&#10;        &lt;Box style={{ flexDirection: 'row', gap: 16 }}&gt;&#10;            &lt;Box style={{ width: 276, height: 206, background: '#EDF4FC', borderRadius: 10, padding: '16px 18px', flexDirection: 'column', gap: 6 }}&gt;&#10;                &lt;Text style={{ fontSize: 22, fontWeight: 'bold', color: '#20344B' }}&gt;林岚&lt;/Text&gt;&#10;                &lt;Text style={{ fontSize: 13, color: '#276FBF' }}&gt;公共大厅 · 组织者&lt;/Text&gt;&#10;                &lt;Text style={{ fontSize: 14, color: '#546779', lineHeight: 1.5 }}&gt;掌握旧的活动计划，需要核对场地。&lt;/Text&gt;&#10;                &lt;Box style={{ flex: 1, background: '#FFFFFF', borderRadius: 8, padding: '8px 10px', justifyContent: 'center' }}&gt;&#10;                    &lt;Text style={{ fontSize: 13, color: '#546779', lineHeight: 1.5 }}&gt;知道旧排期，不知道手作室已被占用&lt;/Text&gt;&#10;                &lt;/Box&gt;&#10;            &lt;/Box&gt;&#10;            &lt;Box style={{ width: 276, height: 206, background: '#EDF4FC', borderRadius: 10, padding: '16px 18px', flexDirection: 'column', gap: 6 }}&gt;&#10;                &lt;Text style={{ fontSize: 22, fontWeight: 'bold', color: '#20344B' }}&gt;周宁&lt;/Text&gt;&#10;                &lt;Text style={{ fontSize: 13, color: '#276FBF' }}&gt;手作室 · 志愿者&lt;/Text&gt;&#10;                &lt;Text style={{ fontSize: 14, color: '#546779', lineHeight: 1.5 }}&gt;先检查物料，再到大厅帮助来访者。&lt;/Text&gt;&#10;                &lt;Box style={{ flex: 1, background: '#FFFFFF', borderRadius: 8, padding: '8px 10px', justifyContent: 'center' }}&gt;&#10;                    &lt;Text style={{ fontSize: 13, color: '#546779', lineHeight: 1.5 }}&gt;掌握旧消息，尚未核对场地&lt;/Text&gt;&#10;                &lt;/Box&gt;&#10;            &lt;/Box&gt;&#10;            &lt;Box style={{ width: 276, height: 206, background: '#EDF4FC', borderRadius: 10, padding: '16px 18px', flexDirection: 'column', gap: 6 }}&gt;&#10;                &lt;Text style={{ fontSize: 22, fontWeight: 'bold', color: '#20344B' }}&gt;陈晨&lt;/Text&gt;&#10;                &lt;Text style={{ fontSize: 13, color: '#276FBF' }}&gt;交流室 · 阅读来访者&lt;/Text&gt;&#10;                &lt;Text style={{ fontSize: 14, color: '#546779', lineHeight: 1.5 }}&gt;想参加 10:00 的阅读分享，会整理物品并询问安排。&lt;/Text&gt;&#10;                &lt;Box style={{ flex: 1, background: '#FFFFFF', borderRadius: 8, padding: '8px 10px', justifyContent: 'center' }}&gt;&#10;                    &lt;Text style={{ fontSize: 13, color: '#546779', lineHeight: 1.5 }}&gt;按自己的目标出发，会主动打听&lt;/Text&gt;&#10;                &lt;/Box&gt;&#10;            &lt;/Box&gt;&#10;            &lt;Box style={{ width: 276, height: 206, background: '#EDF4FC', borderRadius: 10, padding: '16px 18px', flexDirection: 'column', gap: 6 }}&gt;&#10;                &lt;Text style={{ fontSize: 22, fontWeight: 'bold', color: '#20344B' }}&gt;许安&lt;/Text&gt;&#10;                &lt;Text style={{ fontSize: 13, color: '#276FBF' }}&gt;阅读室 · 手作来访者&lt;/Text&gt;&#10;                &lt;Text style={{ fontSize: 14, color: '#546779', lineHeight: 1.5 }}&gt;想参加原消息里的 10:00 手作体验。&lt;/Text&gt;&#10;                &lt;Box style={{ flex: 1, background: '#FFFFFF', borderRadius: 8, padding: '8px 10px', justifyContent: 'center' }}&gt;&#10;                    &lt;Text style={{ fontSize: 13, color: '#546779', lineHeight: 1.5 }}&gt;只知道旧消息，需要核实&lt;/Text&gt;&#10;                &lt;/Box&gt;&#10;            &lt;/Box&gt;&#10;        &lt;/Box&gt;&#10;&#10;        &lt;Text style={{ fontSize: 15, fontWeight: 'bold', color: '#26816B', marginTop: 4 }}&gt;地图 Game Object · 绑定根 Skill · 2 个&lt;/Text&gt;&#10;&#10;        &lt;Box style={{ flexDirection: 'row', gap: 16 }}&gt;&#10;            &lt;Box style={{ width: 568, height: 152, background: '#ECF7F2', borderRadius: 10, padding: '16px 18px', flexDirection: 'column', gap: 6 }}&gt;&#10;                &lt;Text style={{ fontSize: 22, fontWeight: 'bold', color: '#20344B' }}&gt;服务台&lt;/Text&gt;&#10;                &lt;Text style={{ fontSize: 13, color: '#26816B' }}&gt;大厅中的固定对象&lt;/Text&gt;&#10;                &lt;Text style={{ fontSize: 14, color: '#546779', lineHeight: 1.5 }}&gt;掌握手作室已有的预约，按真实请求回答。&lt;/Text&gt;&#10;            &lt;/Box&gt;&#10;            &lt;Box style={{ width: 568, height: 152, background: '#ECF7F2', borderRadius: 10, padding: '16px 18px', flexDirection: 'column', gap: 6 }}&gt;&#10;                &lt;Text style={{ fontSize: 22, fontWeight: 'bold', color: '#20344B' }}&gt;公告栏&lt;/Text&gt;&#10;                &lt;Text style={{ fontSize: 13, color: '#26816B' }}&gt;大厅中的固定对象&lt;/Text&gt;&#10;                &lt;Text style={{ fontSize: 14, color: '#546779', lineHeight: 1.5 }}&gt;初始展示旧安排，接收有依据的更新后提交新状态。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3.1 把筹备方案放进一个会发生变化的世界&lt;/Text&gt;&#10;        &lt;Text style={{ fontSize: 14, color: '#546779' }}&gt;07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92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93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238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3.1.2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四个人，两项对象能力</a:t>
            </a:r>
            <a:endParaRPr/>
          </a:p>
        </p:txBody>
      </p:sp>
      <p:sp>
        <p:nvSpPr>
          <p:cNvPr id="594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2385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谁在行动，谁知道什么</a:t>
            </a:r>
            <a:endParaRPr/>
          </a:p>
        </p:txBody>
      </p:sp>
      <p:sp>
        <p:nvSpPr>
          <p:cNvPr id="595" name="" descr="{&quot;isTemplate&quot;:true,&quot;type&quot;:&quot;text&quot;}"/>
          <p:cNvSpPr txBox="1"/>
          <p:nvPr/>
        </p:nvSpPr>
        <p:spPr>
          <a:xfrm rot="0" flipH="0" flipV="0">
            <a:off x="609600" y="1676400"/>
            <a:ext cx="10972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76FBF"/>
                </a:solidFill>
                <a:latin typeface="Microsoft YaHei"/>
                <a:ea typeface="Microsoft YaHei"/>
              </a:rPr>
              <a:t>公共</a:t>
            </a:r>
            <a:r>
              <a:rPr lang="en-US" sz="1125" b="1">
                <a:solidFill>
                  <a:srgbClr val="276FBF"/>
                </a:solidFill>
                <a:latin typeface="Microsoft YaHei"/>
                <a:ea typeface="Microsoft YaHei"/>
              </a:rPr>
              <a:t xml:space="preserve"> Agent </a:t>
            </a:r>
            <a:r>
              <a:rPr lang="zh-CN" sz="1125" b="1">
                <a:solidFill>
                  <a:srgbClr val="276FBF"/>
                </a:solidFill>
                <a:latin typeface="Microsoft YaHei"/>
                <a:ea typeface="Microsoft YaHei"/>
              </a:rPr>
              <a:t>资源</a:t>
            </a:r>
            <a:r>
              <a:rPr lang="en-US" sz="1125" b="1">
                <a:solidFill>
                  <a:srgbClr val="276FBF"/>
                </a:solidFill>
                <a:latin typeface="Microsoft YaHei"/>
                <a:ea typeface="Microsoft YaHei"/>
              </a:rPr>
              <a:t xml:space="preserve"> · 4 </a:t>
            </a:r>
            <a:r>
              <a:rPr lang="zh-CN" sz="1125" b="1">
                <a:solidFill>
                  <a:srgbClr val="276FBF"/>
                </a:solidFill>
                <a:latin typeface="Microsoft YaHei"/>
                <a:ea typeface="Microsoft YaHei"/>
              </a:rPr>
              <a:t>名</a:t>
            </a:r>
            <a:endParaRPr/>
          </a:p>
        </p:txBody>
      </p:sp>
      <p:sp>
        <p:nvSpPr>
          <p:cNvPr id="596" name=""/>
          <p:cNvSpPr/>
          <p:nvPr/>
        </p:nvSpPr>
        <p:spPr>
          <a:xfrm rot="0" flipH="0" flipV="0">
            <a:off x="609600" y="1943100"/>
            <a:ext cx="2628900" cy="1962150"/>
          </a:xfrm>
          <a:prstGeom prst="roundRect">
            <a:avLst>
              <a:gd name="adj" fmla="val 4854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597" name="" descr="{&quot;isTemplate&quot;:true,&quot;type&quot;:&quot;text&quot;}"/>
          <p:cNvSpPr txBox="1"/>
          <p:nvPr/>
        </p:nvSpPr>
        <p:spPr>
          <a:xfrm rot="0" flipH="0" flipV="0">
            <a:off x="781050" y="2095500"/>
            <a:ext cx="22860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20344B"/>
                </a:solidFill>
                <a:latin typeface="Microsoft YaHei"/>
                <a:ea typeface="Microsoft YaHei"/>
              </a:rPr>
              <a:t>林岚</a:t>
            </a:r>
            <a:endParaRPr/>
          </a:p>
        </p:txBody>
      </p:sp>
      <p:sp>
        <p:nvSpPr>
          <p:cNvPr id="598" name="" descr="{&quot;isTemplate&quot;:true,&quot;type&quot;:&quot;text&quot;}"/>
          <p:cNvSpPr txBox="1"/>
          <p:nvPr/>
        </p:nvSpPr>
        <p:spPr>
          <a:xfrm rot="0" flipH="0" flipV="0">
            <a:off x="781050" y="2409825"/>
            <a:ext cx="22860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276FBF"/>
                </a:solidFill>
                <a:latin typeface="Microsoft YaHei"/>
                <a:ea typeface="Microsoft YaHei"/>
              </a:rPr>
              <a:t>公共大厅</a:t>
            </a:r>
            <a:r>
              <a:rPr lang="en-US" sz="975">
                <a:solidFill>
                  <a:srgbClr val="276FBF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276FBF"/>
                </a:solidFill>
                <a:latin typeface="Microsoft YaHei"/>
                <a:ea typeface="Microsoft YaHei"/>
              </a:rPr>
              <a:t>组织者</a:t>
            </a:r>
            <a:endParaRPr/>
          </a:p>
        </p:txBody>
      </p:sp>
      <p:sp>
        <p:nvSpPr>
          <p:cNvPr id="599" name="" descr="{&quot;isTemplate&quot;:true,&quot;type&quot;:&quot;text&quot;}"/>
          <p:cNvSpPr txBox="1"/>
          <p:nvPr/>
        </p:nvSpPr>
        <p:spPr>
          <a:xfrm rot="0" flipH="0" flipV="0">
            <a:off x="781050" y="2619375"/>
            <a:ext cx="22860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掌握旧的活动计划，需要核对场地。</a:t>
            </a:r>
            <a:endParaRPr/>
          </a:p>
        </p:txBody>
      </p:sp>
      <p:sp>
        <p:nvSpPr>
          <p:cNvPr id="600" name=""/>
          <p:cNvSpPr/>
          <p:nvPr/>
        </p:nvSpPr>
        <p:spPr>
          <a:xfrm rot="0" flipH="0" flipV="0">
            <a:off x="781050" y="2924175"/>
            <a:ext cx="2286000" cy="828675"/>
          </a:xfrm>
          <a:prstGeom prst="roundRect">
            <a:avLst>
              <a:gd name="adj" fmla="val 9195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01" name="" descr="{&quot;isTemplate&quot;:true,&quot;type&quot;:&quot;text&quot;}"/>
          <p:cNvSpPr txBox="1"/>
          <p:nvPr/>
        </p:nvSpPr>
        <p:spPr>
          <a:xfrm rot="0" flipH="0" flipV="0">
            <a:off x="876300" y="3228975"/>
            <a:ext cx="2095500" cy="2286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知道旧排期，不知道手作室已被占用</a:t>
            </a:r>
            <a:endParaRPr/>
          </a:p>
        </p:txBody>
      </p:sp>
      <p:sp>
        <p:nvSpPr>
          <p:cNvPr id="602" name=""/>
          <p:cNvSpPr/>
          <p:nvPr/>
        </p:nvSpPr>
        <p:spPr>
          <a:xfrm rot="0" flipH="0" flipV="0">
            <a:off x="3390900" y="1943100"/>
            <a:ext cx="2628900" cy="1962150"/>
          </a:xfrm>
          <a:prstGeom prst="roundRect">
            <a:avLst>
              <a:gd name="adj" fmla="val 4854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603" name="" descr="{&quot;isTemplate&quot;:true,&quot;type&quot;:&quot;text&quot;}"/>
          <p:cNvSpPr txBox="1"/>
          <p:nvPr/>
        </p:nvSpPr>
        <p:spPr>
          <a:xfrm rot="0" flipH="0" flipV="0">
            <a:off x="3562350" y="2095500"/>
            <a:ext cx="22860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20344B"/>
                </a:solidFill>
                <a:latin typeface="Microsoft YaHei"/>
                <a:ea typeface="Microsoft YaHei"/>
              </a:rPr>
              <a:t>周宁</a:t>
            </a:r>
            <a:endParaRPr/>
          </a:p>
        </p:txBody>
      </p:sp>
      <p:sp>
        <p:nvSpPr>
          <p:cNvPr id="604" name="" descr="{&quot;isTemplate&quot;:true,&quot;type&quot;:&quot;text&quot;}"/>
          <p:cNvSpPr txBox="1"/>
          <p:nvPr/>
        </p:nvSpPr>
        <p:spPr>
          <a:xfrm rot="0" flipH="0" flipV="0">
            <a:off x="3562350" y="2409825"/>
            <a:ext cx="22860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276FBF"/>
                </a:solidFill>
                <a:latin typeface="Microsoft YaHei"/>
                <a:ea typeface="Microsoft YaHei"/>
              </a:rPr>
              <a:t>手作室</a:t>
            </a:r>
            <a:r>
              <a:rPr lang="en-US" sz="975">
                <a:solidFill>
                  <a:srgbClr val="276FBF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276FBF"/>
                </a:solidFill>
                <a:latin typeface="Microsoft YaHei"/>
                <a:ea typeface="Microsoft YaHei"/>
              </a:rPr>
              <a:t>志愿者</a:t>
            </a:r>
            <a:endParaRPr/>
          </a:p>
        </p:txBody>
      </p:sp>
      <p:sp>
        <p:nvSpPr>
          <p:cNvPr id="605" name="" descr="{&quot;isTemplate&quot;:true,&quot;type&quot;:&quot;text&quot;}"/>
          <p:cNvSpPr txBox="1"/>
          <p:nvPr/>
        </p:nvSpPr>
        <p:spPr>
          <a:xfrm rot="0" flipH="0" flipV="0">
            <a:off x="3562350" y="2619375"/>
            <a:ext cx="22860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先检查物料，再到大厅帮助来访者。</a:t>
            </a:r>
            <a:endParaRPr/>
          </a:p>
        </p:txBody>
      </p:sp>
      <p:sp>
        <p:nvSpPr>
          <p:cNvPr id="606" name=""/>
          <p:cNvSpPr/>
          <p:nvPr/>
        </p:nvSpPr>
        <p:spPr>
          <a:xfrm rot="0" flipH="0" flipV="0">
            <a:off x="3562350" y="2924175"/>
            <a:ext cx="2286000" cy="828675"/>
          </a:xfrm>
          <a:prstGeom prst="roundRect">
            <a:avLst>
              <a:gd name="adj" fmla="val 9195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07" name="" descr="{&quot;isTemplate&quot;:true,&quot;type&quot;:&quot;text&quot;}"/>
          <p:cNvSpPr txBox="1"/>
          <p:nvPr/>
        </p:nvSpPr>
        <p:spPr>
          <a:xfrm rot="0" flipH="0" flipV="0">
            <a:off x="3657600" y="3228975"/>
            <a:ext cx="2095500" cy="2286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掌握旧消息，尚未核对场地</a:t>
            </a:r>
            <a:endParaRPr/>
          </a:p>
        </p:txBody>
      </p:sp>
      <p:sp>
        <p:nvSpPr>
          <p:cNvPr id="608" name=""/>
          <p:cNvSpPr/>
          <p:nvPr/>
        </p:nvSpPr>
        <p:spPr>
          <a:xfrm rot="0" flipH="0" flipV="0">
            <a:off x="6172200" y="1943100"/>
            <a:ext cx="2628900" cy="1962150"/>
          </a:xfrm>
          <a:prstGeom prst="roundRect">
            <a:avLst>
              <a:gd name="adj" fmla="val 4854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609" name="" descr="{&quot;isTemplate&quot;:true,&quot;type&quot;:&quot;text&quot;}"/>
          <p:cNvSpPr txBox="1"/>
          <p:nvPr/>
        </p:nvSpPr>
        <p:spPr>
          <a:xfrm rot="0" flipH="0" flipV="0">
            <a:off x="6343650" y="2095500"/>
            <a:ext cx="22860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20344B"/>
                </a:solidFill>
                <a:latin typeface="Microsoft YaHei"/>
                <a:ea typeface="Microsoft YaHei"/>
              </a:rPr>
              <a:t>陈晨</a:t>
            </a:r>
            <a:endParaRPr/>
          </a:p>
        </p:txBody>
      </p:sp>
      <p:sp>
        <p:nvSpPr>
          <p:cNvPr id="610" name="" descr="{&quot;isTemplate&quot;:true,&quot;type&quot;:&quot;text&quot;}"/>
          <p:cNvSpPr txBox="1"/>
          <p:nvPr/>
        </p:nvSpPr>
        <p:spPr>
          <a:xfrm rot="0" flipH="0" flipV="0">
            <a:off x="6343650" y="2409825"/>
            <a:ext cx="22860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276FBF"/>
                </a:solidFill>
                <a:latin typeface="Microsoft YaHei"/>
                <a:ea typeface="Microsoft YaHei"/>
              </a:rPr>
              <a:t>交流室</a:t>
            </a:r>
            <a:r>
              <a:rPr lang="en-US" sz="975">
                <a:solidFill>
                  <a:srgbClr val="276FBF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276FBF"/>
                </a:solidFill>
                <a:latin typeface="Microsoft YaHei"/>
                <a:ea typeface="Microsoft YaHei"/>
              </a:rPr>
              <a:t>阅读来访者</a:t>
            </a:r>
            <a:endParaRPr/>
          </a:p>
        </p:txBody>
      </p:sp>
      <p:sp>
        <p:nvSpPr>
          <p:cNvPr id="611" name="" descr="{&quot;isTemplate&quot;:true,&quot;type&quot;:&quot;text&quot;}"/>
          <p:cNvSpPr txBox="1"/>
          <p:nvPr/>
        </p:nvSpPr>
        <p:spPr>
          <a:xfrm rot="0" flipH="0" flipV="0">
            <a:off x="6343650" y="2619375"/>
            <a:ext cx="2286000" cy="4857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想参加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10:00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的阅读分享，会整理物品并询问安排。</a:t>
            </a:r>
            <a:endParaRPr/>
          </a:p>
        </p:txBody>
      </p:sp>
      <p:sp>
        <p:nvSpPr>
          <p:cNvPr id="612" name=""/>
          <p:cNvSpPr/>
          <p:nvPr/>
        </p:nvSpPr>
        <p:spPr>
          <a:xfrm rot="0" flipH="0" flipV="0">
            <a:off x="6343650" y="3162300"/>
            <a:ext cx="2286000" cy="59055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13" name="" descr="{&quot;isTemplate&quot;:true,&quot;type&quot;:&quot;text&quot;}"/>
          <p:cNvSpPr txBox="1"/>
          <p:nvPr/>
        </p:nvSpPr>
        <p:spPr>
          <a:xfrm rot="0" flipH="0" flipV="0">
            <a:off x="6438900" y="3343275"/>
            <a:ext cx="2095500" cy="2286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按自己的目标出发，会主动打听</a:t>
            </a:r>
            <a:endParaRPr/>
          </a:p>
        </p:txBody>
      </p:sp>
      <p:sp>
        <p:nvSpPr>
          <p:cNvPr id="614" name=""/>
          <p:cNvSpPr/>
          <p:nvPr/>
        </p:nvSpPr>
        <p:spPr>
          <a:xfrm rot="0" flipH="0" flipV="0">
            <a:off x="8953500" y="1943100"/>
            <a:ext cx="2628900" cy="1962150"/>
          </a:xfrm>
          <a:prstGeom prst="roundRect">
            <a:avLst>
              <a:gd name="adj" fmla="val 4854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615" name="" descr="{&quot;isTemplate&quot;:true,&quot;type&quot;:&quot;text&quot;}"/>
          <p:cNvSpPr txBox="1"/>
          <p:nvPr/>
        </p:nvSpPr>
        <p:spPr>
          <a:xfrm rot="0" flipH="0" flipV="0">
            <a:off x="9124950" y="2095500"/>
            <a:ext cx="22860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20344B"/>
                </a:solidFill>
                <a:latin typeface="Microsoft YaHei"/>
                <a:ea typeface="Microsoft YaHei"/>
              </a:rPr>
              <a:t>许安</a:t>
            </a:r>
            <a:endParaRPr/>
          </a:p>
        </p:txBody>
      </p:sp>
      <p:sp>
        <p:nvSpPr>
          <p:cNvPr id="616" name="" descr="{&quot;isTemplate&quot;:true,&quot;type&quot;:&quot;text&quot;}"/>
          <p:cNvSpPr txBox="1"/>
          <p:nvPr/>
        </p:nvSpPr>
        <p:spPr>
          <a:xfrm rot="0" flipH="0" flipV="0">
            <a:off x="9124950" y="2409825"/>
            <a:ext cx="22860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276FBF"/>
                </a:solidFill>
                <a:latin typeface="Microsoft YaHei"/>
                <a:ea typeface="Microsoft YaHei"/>
              </a:rPr>
              <a:t>阅读室</a:t>
            </a:r>
            <a:r>
              <a:rPr lang="en-US" sz="975">
                <a:solidFill>
                  <a:srgbClr val="276FBF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276FBF"/>
                </a:solidFill>
                <a:latin typeface="Microsoft YaHei"/>
                <a:ea typeface="Microsoft YaHei"/>
              </a:rPr>
              <a:t>手作来访者</a:t>
            </a:r>
            <a:endParaRPr/>
          </a:p>
        </p:txBody>
      </p:sp>
      <p:sp>
        <p:nvSpPr>
          <p:cNvPr id="617" name="" descr="{&quot;isTemplate&quot;:true,&quot;type&quot;:&quot;text&quot;}"/>
          <p:cNvSpPr txBox="1"/>
          <p:nvPr/>
        </p:nvSpPr>
        <p:spPr>
          <a:xfrm rot="0" flipH="0" flipV="0">
            <a:off x="9124950" y="2619375"/>
            <a:ext cx="22860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想参加原消息里的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10:00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手作体验。</a:t>
            </a:r>
            <a:endParaRPr/>
          </a:p>
        </p:txBody>
      </p:sp>
      <p:sp>
        <p:nvSpPr>
          <p:cNvPr id="618" name=""/>
          <p:cNvSpPr/>
          <p:nvPr/>
        </p:nvSpPr>
        <p:spPr>
          <a:xfrm rot="0" flipH="0" flipV="0">
            <a:off x="9124950" y="2924175"/>
            <a:ext cx="2286000" cy="828675"/>
          </a:xfrm>
          <a:prstGeom prst="roundRect">
            <a:avLst>
              <a:gd name="adj" fmla="val 9195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19" name="" descr="{&quot;isTemplate&quot;:true,&quot;type&quot;:&quot;text&quot;}"/>
          <p:cNvSpPr txBox="1"/>
          <p:nvPr/>
        </p:nvSpPr>
        <p:spPr>
          <a:xfrm rot="0" flipH="0" flipV="0">
            <a:off x="9220200" y="3228975"/>
            <a:ext cx="2095500" cy="2286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只知道旧消息，需要核实</a:t>
            </a:r>
            <a:endParaRPr/>
          </a:p>
        </p:txBody>
      </p:sp>
      <p:sp>
        <p:nvSpPr>
          <p:cNvPr id="620" name="" descr="{&quot;isTemplate&quot;:true,&quot;type&quot;:&quot;text&quot;}"/>
          <p:cNvSpPr txBox="1"/>
          <p:nvPr/>
        </p:nvSpPr>
        <p:spPr>
          <a:xfrm rot="0" flipH="0" flipV="0">
            <a:off x="609600" y="4038600"/>
            <a:ext cx="10972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6816B"/>
                </a:solidFill>
                <a:latin typeface="Microsoft YaHei"/>
                <a:ea typeface="Microsoft YaHei"/>
              </a:rPr>
              <a:t>地图</a:t>
            </a:r>
            <a:r>
              <a:rPr lang="en-US" sz="1125" b="1">
                <a:solidFill>
                  <a:srgbClr val="26816B"/>
                </a:solidFill>
                <a:latin typeface="Microsoft YaHei"/>
                <a:ea typeface="Microsoft YaHei"/>
              </a:rPr>
              <a:t xml:space="preserve"> Game Object · </a:t>
            </a:r>
            <a:r>
              <a:rPr lang="zh-CN" sz="1125" b="1">
                <a:solidFill>
                  <a:srgbClr val="26816B"/>
                </a:solidFill>
                <a:latin typeface="Microsoft YaHei"/>
                <a:ea typeface="Microsoft YaHei"/>
              </a:rPr>
              <a:t>绑定根</a:t>
            </a:r>
            <a:r>
              <a:rPr lang="en-US" sz="1125" b="1">
                <a:solidFill>
                  <a:srgbClr val="26816B"/>
                </a:solidFill>
                <a:latin typeface="Microsoft YaHei"/>
                <a:ea typeface="Microsoft YaHei"/>
              </a:rPr>
              <a:t xml:space="preserve"> Skill · 2 </a:t>
            </a:r>
            <a:r>
              <a:rPr lang="zh-CN" sz="1125" b="1">
                <a:solidFill>
                  <a:srgbClr val="26816B"/>
                </a:solidFill>
                <a:latin typeface="Microsoft YaHei"/>
                <a:ea typeface="Microsoft YaHei"/>
              </a:rPr>
              <a:t>个</a:t>
            </a:r>
            <a:endParaRPr/>
          </a:p>
        </p:txBody>
      </p:sp>
      <p:sp>
        <p:nvSpPr>
          <p:cNvPr id="621" name=""/>
          <p:cNvSpPr/>
          <p:nvPr/>
        </p:nvSpPr>
        <p:spPr>
          <a:xfrm rot="0" flipH="0" flipV="0">
            <a:off x="609600" y="4305300"/>
            <a:ext cx="5410200" cy="1447800"/>
          </a:xfrm>
          <a:prstGeom prst="roundRect">
            <a:avLst>
              <a:gd name="adj" fmla="val 6579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622" name="" descr="{&quot;isTemplate&quot;:true,&quot;type&quot;:&quot;text&quot;}"/>
          <p:cNvSpPr txBox="1"/>
          <p:nvPr/>
        </p:nvSpPr>
        <p:spPr>
          <a:xfrm rot="0" flipH="0" flipV="0">
            <a:off x="781050" y="4457700"/>
            <a:ext cx="50673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20344B"/>
                </a:solidFill>
                <a:latin typeface="Microsoft YaHei"/>
                <a:ea typeface="Microsoft YaHei"/>
              </a:rPr>
              <a:t>服务台</a:t>
            </a:r>
            <a:endParaRPr/>
          </a:p>
        </p:txBody>
      </p:sp>
      <p:sp>
        <p:nvSpPr>
          <p:cNvPr id="623" name="" descr="{&quot;isTemplate&quot;:true,&quot;type&quot;:&quot;text&quot;}"/>
          <p:cNvSpPr txBox="1"/>
          <p:nvPr/>
        </p:nvSpPr>
        <p:spPr>
          <a:xfrm rot="0" flipH="0" flipV="0">
            <a:off x="781050" y="4772025"/>
            <a:ext cx="5067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26816B"/>
                </a:solidFill>
                <a:latin typeface="Microsoft YaHei"/>
                <a:ea typeface="Microsoft YaHei"/>
              </a:rPr>
              <a:t>大厅中的固定对象</a:t>
            </a:r>
            <a:endParaRPr/>
          </a:p>
        </p:txBody>
      </p:sp>
      <p:sp>
        <p:nvSpPr>
          <p:cNvPr id="624" name="" descr="{&quot;isTemplate&quot;:true,&quot;type&quot;:&quot;text&quot;}"/>
          <p:cNvSpPr txBox="1"/>
          <p:nvPr/>
        </p:nvSpPr>
        <p:spPr>
          <a:xfrm rot="0" flipH="0" flipV="0">
            <a:off x="781050" y="4981575"/>
            <a:ext cx="50673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掌握手作室已有的预约，按真实请求回答。</a:t>
            </a:r>
            <a:endParaRPr/>
          </a:p>
        </p:txBody>
      </p:sp>
      <p:sp>
        <p:nvSpPr>
          <p:cNvPr id="625" name=""/>
          <p:cNvSpPr/>
          <p:nvPr/>
        </p:nvSpPr>
        <p:spPr>
          <a:xfrm rot="0" flipH="0" flipV="0">
            <a:off x="6172200" y="4305300"/>
            <a:ext cx="5410200" cy="1447800"/>
          </a:xfrm>
          <a:prstGeom prst="roundRect">
            <a:avLst>
              <a:gd name="adj" fmla="val 6579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626" name="" descr="{&quot;isTemplate&quot;:true,&quot;type&quot;:&quot;text&quot;}"/>
          <p:cNvSpPr txBox="1"/>
          <p:nvPr/>
        </p:nvSpPr>
        <p:spPr>
          <a:xfrm rot="0" flipH="0" flipV="0">
            <a:off x="6343650" y="4457700"/>
            <a:ext cx="50673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20344B"/>
                </a:solidFill>
                <a:latin typeface="Microsoft YaHei"/>
                <a:ea typeface="Microsoft YaHei"/>
              </a:rPr>
              <a:t>公告栏</a:t>
            </a:r>
            <a:endParaRPr/>
          </a:p>
        </p:txBody>
      </p:sp>
      <p:sp>
        <p:nvSpPr>
          <p:cNvPr id="627" name="" descr="{&quot;isTemplate&quot;:true,&quot;type&quot;:&quot;text&quot;}"/>
          <p:cNvSpPr txBox="1"/>
          <p:nvPr/>
        </p:nvSpPr>
        <p:spPr>
          <a:xfrm rot="0" flipH="0" flipV="0">
            <a:off x="6343650" y="4772025"/>
            <a:ext cx="5067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26816B"/>
                </a:solidFill>
                <a:latin typeface="Microsoft YaHei"/>
                <a:ea typeface="Microsoft YaHei"/>
              </a:rPr>
              <a:t>大厅中的固定对象</a:t>
            </a:r>
            <a:endParaRPr/>
          </a:p>
        </p:txBody>
      </p:sp>
      <p:sp>
        <p:nvSpPr>
          <p:cNvPr id="628" name="" descr="{&quot;isTemplate&quot;:true,&quot;type&quot;:&quot;text&quot;}"/>
          <p:cNvSpPr txBox="1"/>
          <p:nvPr/>
        </p:nvSpPr>
        <p:spPr>
          <a:xfrm rot="0" flipH="0" flipV="0">
            <a:off x="6343650" y="4981575"/>
            <a:ext cx="50673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初始展示旧安排，接收有依据的更新后提交新状态。</a:t>
            </a:r>
            <a:endParaRPr/>
          </a:p>
        </p:txBody>
      </p:sp>
      <p:sp>
        <p:nvSpPr>
          <p:cNvPr id="629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4955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3.1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把筹备方案放进一个会发生变化的世界</a:t>
            </a:r>
            <a:endParaRPr/>
          </a:p>
        </p:txBody>
      </p:sp>
      <p:sp>
        <p:nvSpPr>
          <p:cNvPr id="630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07 / 24</a:t>
            </a:r>
            <a:endParaRPr/>
          </a:p>
        </p:txBody>
      </p:sp>
    </p:spTree>
  </p:cSld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631" name="" descr="&lt;Slide notes={`这里有一个特别容易搞混的地方。&#10;&#10;排期表里写过 24 人、10 人、16 人。这三个数字是三项活动的计划人数，是办活动时预计会来多少人，不是这次实验里已经创建了多少个 Agent。&#10;&#10;这次实验实际只模拟了四位代表人物和两个对象。&#10;&#10;所以有一句话必须说清楚：没有建模的参与者，不计入到达率、会话数或者费用的分母。分母是多少，取决于我建模了多少，而不是活动本来会来多少人。&#10;&#10;更不能把这四个人的行为，直接推断成真实社区人群的统计规律。四个样本说明不了人群，它只能说明这四个角色在这个世界里做了什么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3.1.2　四个人，两项对象能力&lt;/Text&gt;&#10;            &lt;Text style={{ fontSize: 34, fontWeight: 'bold', color: '#20344B' }}&gt;计划人数不是 Agent 数&lt;/Text&gt;&#10;        &lt;/Box&gt;&#10;    &lt;/Box&gt;&#10;&#10;    &lt;Box style={{ height: 540, flexDirection: 'column', justifyContent: 'center', gap: 14 }}&gt;&#10;&#10;        &lt;Text style={{ fontSize: 15, color: '#546779' }}&gt;原排期里写下的三项活动，计划人数分别是：&lt;/Text&gt;&#10;&#10;        &lt;Box style={{ flexDirection: 'row', gap: 20 }}&gt;&#10;            &lt;Box style={{ width: 370, height: 128, background: '#F7F3E8', borderRadius: 10, flexDirection: 'column', gap: 2, justifyContent: 'center', alignItems: 'center' }}&gt;&#10;                &lt;Text style={{ fontSize: 44, fontWeight: 'bold', color: '#20344B' }}&gt;24&lt;/Text&gt;&#10;                &lt;Text style={{ fontSize: 14, color: '#546779' }}&gt;计划人数&lt;/Text&gt;&#10;            &lt;/Box&gt;&#10;            &lt;Box style={{ width: 370, height: 128, background: '#F7F3E8', borderRadius: 10, flexDirection: 'column', gap: 2, justifyContent: 'center', alignItems: 'center' }}&gt;&#10;                &lt;Text style={{ fontSize: 44, fontWeight: 'bold', color: '#20344B' }}&gt;10&lt;/Text&gt;&#10;                &lt;Text style={{ fontSize: 14, color: '#546779' }}&gt;计划人数&lt;/Text&gt;&#10;            &lt;/Box&gt;&#10;            &lt;Box style={{ width: 370, height: 128, background: '#F7F3E8', borderRadius: 10, flexDirection: 'column', gap: 2, justifyContent: 'center', alignItems: 'center' }}&gt;&#10;                &lt;Text style={{ fontSize: 44, fontWeight: 'bold', color: '#20344B' }}&gt;16&lt;/Text&gt;&#10;                &lt;Text style={{ fontSize: 14, color: '#546779' }}&gt;计划人数&lt;/Text&gt;&#10;            &lt;/Box&gt;&#10;        &lt;/Box&gt;&#10;&#10;        &lt;Box style={{ flexDirection: 'row', alignItems: 'center', gap: 14 }}&gt;&#10;            &lt;Text style={{ fontSize: 24, fontWeight: 'bold', color: '#CB6B28' }}&gt;≠&lt;/Text&gt;&#10;            &lt;Text style={{ fontSize: 15, color: '#CB6B28' }}&gt;不等于本次实验已经创建的 Agent 数&lt;/Text&gt;&#10;        &lt;/Box&gt;&#10;&#10;        &lt;Box style={{ flexDirection: 'row', gap: 20 }}&gt;&#10;            &lt;Box style={{ width: 566, height: 116, background: '#EDF4FC', borderRadius: 10, flexDirection: 'row', alignItems: 'center', justifyContent: 'center', gap: 16 }}&gt;&#10;                &lt;Text style={{ fontSize: 44, fontWeight: 'bold', color: '#276FBF' }}&gt;4&lt;/Text&gt;&#10;                &lt;Box style={{ flexDirection: 'column', gap: 3 }}&gt;&#10;                    &lt;Text style={{ fontSize: 17, fontWeight: 'bold', color: '#276FBF' }}&gt;名代表人物&lt;/Text&gt;&#10;                    &lt;Text style={{ fontSize: 13, color: '#546779' }}&gt;公共 Agent 资源&lt;/Text&gt;&#10;                &lt;/Box&gt;&#10;            &lt;/Box&gt;&#10;            &lt;Box style={{ width: 566, height: 116, background: '#ECF7F2', borderRadius: 10, flexDirection: 'row', alignItems: 'center', justifyContent: 'center', gap: 16 }}&gt;&#10;                &lt;Text style={{ fontSize: 44, fontWeight: 'bold', color: '#26816B' }}&gt;2&lt;/Text&gt;&#10;                &lt;Box style={{ flexDirection: 'column', gap: 3 }}&gt;&#10;                    &lt;Text style={{ fontSize: 17, fontWeight: 'bold', color: '#26816B' }}&gt;个地图对象&lt;/Text&gt;&#10;                    &lt;Text style={{ fontSize: 13, color: '#546779' }}&gt;绑定根 Skill&lt;/Text&gt;&#10;                &lt;/Box&gt;&#10;            &lt;/Box&gt;&#10;        &lt;/Box&gt;&#10;&#10;        &lt;Box style={{ flexDirection: 'row', alignItems: 'center', gap: 14, background: '#FFF4E6', borderRadius: 10, padding: '12px 20px' }}&gt;&#10;            &lt;Box style={{ width: 4, height: 52, background: '#CB6B28' }} /&gt;&#10;            &lt;Box style={{ flexDirection: 'column', gap: 3 }}&gt;&#10;                &lt;Text style={{ fontSize: 16, fontWeight: 'bold', color: '#CB6B28' }}&gt;分母取决于建模规模&lt;/Text&gt;&#10;                &lt;Text style={{ fontSize: 14, color: '#546779' }}&gt;没有建模的参与者不计入到达率、会话或费用分母；也不能把四人的行为推断为真实人群的统计规律。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3.1 把筹备方案放进一个会发生变化的世界&lt;/Text&gt;&#10;        &lt;Text style={{ fontSize: 14, color: '#546779' }}&gt;08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33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34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457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3.1.2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四个人，两项对象能力</a:t>
            </a:r>
            <a:endParaRPr/>
          </a:p>
        </p:txBody>
      </p:sp>
      <p:sp>
        <p:nvSpPr>
          <p:cNvPr id="635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45757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计划人数不是</a:t>
            </a:r>
            <a:r>
              <a:rPr lang="en-US" sz="255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Agent </a:t>
            </a: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数</a:t>
            </a:r>
            <a:endParaRPr/>
          </a:p>
        </p:txBody>
      </p:sp>
      <p:sp>
        <p:nvSpPr>
          <p:cNvPr id="636" name="" descr="{&quot;isTemplate&quot;:true,&quot;type&quot;:&quot;text&quot;}"/>
          <p:cNvSpPr txBox="1"/>
          <p:nvPr/>
        </p:nvSpPr>
        <p:spPr>
          <a:xfrm rot="0" flipH="0" flipV="0">
            <a:off x="609600" y="1704975"/>
            <a:ext cx="10972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原排期里写下的三项活动，计划人数分别是：</a:t>
            </a:r>
            <a:endParaRPr/>
          </a:p>
        </p:txBody>
      </p:sp>
      <p:sp>
        <p:nvSpPr>
          <p:cNvPr id="637" name=""/>
          <p:cNvSpPr/>
          <p:nvPr/>
        </p:nvSpPr>
        <p:spPr>
          <a:xfrm rot="0" flipH="0" flipV="0">
            <a:off x="609600" y="2009775"/>
            <a:ext cx="3524250" cy="1219200"/>
          </a:xfrm>
          <a:prstGeom prst="roundRect">
            <a:avLst>
              <a:gd name="adj" fmla="val 7813"/>
            </a:avLst>
          </a:prstGeom>
          <a:solidFill>
            <a:srgbClr val="F7F3E8"/>
          </a:solidFill>
          <a:ln/>
        </p:spPr>
        <p:txBody>
          <a:bodyPr/>
          <a:p/>
        </p:txBody>
      </p:sp>
      <p:sp>
        <p:nvSpPr>
          <p:cNvPr id="638" name="" descr="{&quot;isTemplate&quot;:true,&quot;type&quot;:&quot;text&quot;}"/>
          <p:cNvSpPr txBox="1"/>
          <p:nvPr/>
        </p:nvSpPr>
        <p:spPr>
          <a:xfrm rot="0" flipH="0" flipV="0">
            <a:off x="2114550" y="2276475"/>
            <a:ext cx="523875" cy="504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300" b="1">
                <a:solidFill>
                  <a:srgbClr val="20344B"/>
                </a:solidFill>
                <a:latin typeface="Microsoft YaHei"/>
                <a:ea typeface="Microsoft YaHei"/>
              </a:rPr>
              <a:t>24</a:t>
            </a:r>
            <a:endParaRPr/>
          </a:p>
        </p:txBody>
      </p:sp>
      <p:sp>
        <p:nvSpPr>
          <p:cNvPr id="639" name="" descr="{&quot;isTemplate&quot;:true,&quot;type&quot;:&quot;text&quot;}"/>
          <p:cNvSpPr txBox="1"/>
          <p:nvPr/>
        </p:nvSpPr>
        <p:spPr>
          <a:xfrm rot="0" flipH="0" flipV="0">
            <a:off x="2105025" y="2800350"/>
            <a:ext cx="53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计划人数</a:t>
            </a:r>
            <a:endParaRPr/>
          </a:p>
        </p:txBody>
      </p:sp>
      <p:sp>
        <p:nvSpPr>
          <p:cNvPr id="640" name=""/>
          <p:cNvSpPr/>
          <p:nvPr/>
        </p:nvSpPr>
        <p:spPr>
          <a:xfrm rot="0" flipH="0" flipV="0">
            <a:off x="4324350" y="2009775"/>
            <a:ext cx="3524250" cy="1219200"/>
          </a:xfrm>
          <a:prstGeom prst="roundRect">
            <a:avLst>
              <a:gd name="adj" fmla="val 7813"/>
            </a:avLst>
          </a:prstGeom>
          <a:solidFill>
            <a:srgbClr val="F7F3E8"/>
          </a:solidFill>
          <a:ln/>
        </p:spPr>
        <p:txBody>
          <a:bodyPr/>
          <a:p/>
        </p:txBody>
      </p:sp>
      <p:sp>
        <p:nvSpPr>
          <p:cNvPr id="641" name="" descr="{&quot;isTemplate&quot;:true,&quot;type&quot;:&quot;text&quot;}"/>
          <p:cNvSpPr txBox="1"/>
          <p:nvPr/>
        </p:nvSpPr>
        <p:spPr>
          <a:xfrm rot="0" flipH="0" flipV="0">
            <a:off x="5829300" y="2276475"/>
            <a:ext cx="523875" cy="504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300" b="1">
                <a:solidFill>
                  <a:srgbClr val="20344B"/>
                </a:solidFill>
                <a:latin typeface="Microsoft YaHei"/>
                <a:ea typeface="Microsoft YaHei"/>
              </a:rPr>
              <a:t>10</a:t>
            </a:r>
            <a:endParaRPr/>
          </a:p>
        </p:txBody>
      </p:sp>
      <p:sp>
        <p:nvSpPr>
          <p:cNvPr id="642" name="" descr="{&quot;isTemplate&quot;:true,&quot;type&quot;:&quot;text&quot;}"/>
          <p:cNvSpPr txBox="1"/>
          <p:nvPr/>
        </p:nvSpPr>
        <p:spPr>
          <a:xfrm rot="0" flipH="0" flipV="0">
            <a:off x="5819775" y="2800350"/>
            <a:ext cx="53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计划人数</a:t>
            </a:r>
            <a:endParaRPr/>
          </a:p>
        </p:txBody>
      </p:sp>
      <p:sp>
        <p:nvSpPr>
          <p:cNvPr id="643" name=""/>
          <p:cNvSpPr/>
          <p:nvPr/>
        </p:nvSpPr>
        <p:spPr>
          <a:xfrm rot="0" flipH="0" flipV="0">
            <a:off x="8039100" y="2009775"/>
            <a:ext cx="3524250" cy="1219200"/>
          </a:xfrm>
          <a:prstGeom prst="roundRect">
            <a:avLst>
              <a:gd name="adj" fmla="val 7813"/>
            </a:avLst>
          </a:prstGeom>
          <a:solidFill>
            <a:srgbClr val="F7F3E8"/>
          </a:solidFill>
          <a:ln/>
        </p:spPr>
        <p:txBody>
          <a:bodyPr/>
          <a:p/>
        </p:txBody>
      </p:sp>
      <p:sp>
        <p:nvSpPr>
          <p:cNvPr id="644" name="" descr="{&quot;isTemplate&quot;:true,&quot;type&quot;:&quot;text&quot;}"/>
          <p:cNvSpPr txBox="1"/>
          <p:nvPr/>
        </p:nvSpPr>
        <p:spPr>
          <a:xfrm rot="0" flipH="0" flipV="0">
            <a:off x="9544050" y="2276475"/>
            <a:ext cx="523875" cy="504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300" b="1">
                <a:solidFill>
                  <a:srgbClr val="20344B"/>
                </a:solidFill>
                <a:latin typeface="Microsoft YaHei"/>
                <a:ea typeface="Microsoft YaHei"/>
              </a:rPr>
              <a:t>16</a:t>
            </a:r>
            <a:endParaRPr/>
          </a:p>
        </p:txBody>
      </p:sp>
      <p:sp>
        <p:nvSpPr>
          <p:cNvPr id="645" name="" descr="{&quot;isTemplate&quot;:true,&quot;type&quot;:&quot;text&quot;}"/>
          <p:cNvSpPr txBox="1"/>
          <p:nvPr/>
        </p:nvSpPr>
        <p:spPr>
          <a:xfrm rot="0" flipH="0" flipV="0">
            <a:off x="9534525" y="2800350"/>
            <a:ext cx="53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计划人数</a:t>
            </a:r>
            <a:endParaRPr/>
          </a:p>
        </p:txBody>
      </p:sp>
      <p:sp>
        <p:nvSpPr>
          <p:cNvPr id="646" name="" descr="{&quot;isTemplate&quot;:true,&quot;type&quot;:&quot;text&quot;}"/>
          <p:cNvSpPr txBox="1"/>
          <p:nvPr/>
        </p:nvSpPr>
        <p:spPr>
          <a:xfrm rot="0" flipH="0" flipV="0">
            <a:off x="609600" y="3362325"/>
            <a:ext cx="18097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800" b="1">
                <a:solidFill>
                  <a:srgbClr val="CB6B28"/>
                </a:solidFill>
                <a:latin typeface="Microsoft YaHei"/>
                <a:ea typeface="Microsoft YaHei"/>
              </a:rPr>
              <a:t>≠</a:t>
            </a:r>
            <a:endParaRPr/>
          </a:p>
        </p:txBody>
      </p:sp>
      <p:sp>
        <p:nvSpPr>
          <p:cNvPr id="647" name="" descr="{&quot;isTemplate&quot;:true,&quot;type&quot;:&quot;text&quot;}"/>
          <p:cNvSpPr txBox="1"/>
          <p:nvPr/>
        </p:nvSpPr>
        <p:spPr>
          <a:xfrm rot="0" flipH="0" flipV="0">
            <a:off x="923925" y="3419475"/>
            <a:ext cx="2362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CB6B28"/>
                </a:solidFill>
                <a:latin typeface="Microsoft YaHei"/>
                <a:ea typeface="Microsoft YaHei"/>
              </a:rPr>
              <a:t>不等于本次实验已经创建的</a:t>
            </a:r>
            <a:r>
              <a:rPr lang="en-US" sz="1125">
                <a:solidFill>
                  <a:srgbClr val="CB6B28"/>
                </a:solidFill>
                <a:latin typeface="Microsoft YaHei"/>
                <a:ea typeface="Microsoft YaHei"/>
              </a:rPr>
              <a:t xml:space="preserve"> Agent </a:t>
            </a:r>
            <a:r>
              <a:rPr lang="zh-CN" sz="1125">
                <a:solidFill>
                  <a:srgbClr val="CB6B28"/>
                </a:solidFill>
                <a:latin typeface="Microsoft YaHei"/>
                <a:ea typeface="Microsoft YaHei"/>
              </a:rPr>
              <a:t>数</a:t>
            </a:r>
            <a:endParaRPr/>
          </a:p>
        </p:txBody>
      </p:sp>
      <p:sp>
        <p:nvSpPr>
          <p:cNvPr id="648" name=""/>
          <p:cNvSpPr/>
          <p:nvPr/>
        </p:nvSpPr>
        <p:spPr>
          <a:xfrm rot="0" flipH="0" flipV="0">
            <a:off x="609600" y="3771900"/>
            <a:ext cx="5391150" cy="1104900"/>
          </a:xfrm>
          <a:prstGeom prst="roundRect">
            <a:avLst>
              <a:gd name="adj" fmla="val 8621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649" name="" descr="{&quot;isTemplate&quot;:true,&quot;type&quot;:&quot;text&quot;}"/>
          <p:cNvSpPr txBox="1"/>
          <p:nvPr/>
        </p:nvSpPr>
        <p:spPr>
          <a:xfrm rot="0" flipH="0" flipV="0">
            <a:off x="2628900" y="4076700"/>
            <a:ext cx="266700" cy="504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300" b="1">
                <a:solidFill>
                  <a:srgbClr val="276FBF"/>
                </a:solidFill>
                <a:latin typeface="Microsoft YaHei"/>
                <a:ea typeface="Microsoft YaHei"/>
              </a:rPr>
              <a:t>4</a:t>
            </a:r>
            <a:endParaRPr/>
          </a:p>
        </p:txBody>
      </p:sp>
      <p:sp>
        <p:nvSpPr>
          <p:cNvPr id="650" name="" descr="{&quot;isTemplate&quot;:true,&quot;type&quot;:&quot;text&quot;}"/>
          <p:cNvSpPr txBox="1"/>
          <p:nvPr/>
        </p:nvSpPr>
        <p:spPr>
          <a:xfrm rot="0" flipH="0" flipV="0">
            <a:off x="3048000" y="4133850"/>
            <a:ext cx="9334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76FBF"/>
                </a:solidFill>
                <a:latin typeface="Microsoft YaHei"/>
                <a:ea typeface="Microsoft YaHei"/>
              </a:rPr>
              <a:t>名代表人物</a:t>
            </a:r>
            <a:endParaRPr/>
          </a:p>
        </p:txBody>
      </p:sp>
      <p:sp>
        <p:nvSpPr>
          <p:cNvPr id="651" name="" descr="{&quot;isTemplate&quot;:true,&quot;type&quot;:&quot;text&quot;}"/>
          <p:cNvSpPr txBox="1"/>
          <p:nvPr/>
        </p:nvSpPr>
        <p:spPr>
          <a:xfrm rot="0" flipH="0" flipV="0">
            <a:off x="3048000" y="4362450"/>
            <a:ext cx="9334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公共</a:t>
            </a: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 xml:space="preserve"> Agent </a:t>
            </a: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资源</a:t>
            </a:r>
            <a:endParaRPr/>
          </a:p>
        </p:txBody>
      </p:sp>
      <p:sp>
        <p:nvSpPr>
          <p:cNvPr id="652" name=""/>
          <p:cNvSpPr/>
          <p:nvPr/>
        </p:nvSpPr>
        <p:spPr>
          <a:xfrm rot="0" flipH="0" flipV="0">
            <a:off x="6191250" y="3771900"/>
            <a:ext cx="5391150" cy="1104900"/>
          </a:xfrm>
          <a:prstGeom prst="roundRect">
            <a:avLst>
              <a:gd name="adj" fmla="val 8621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653" name="" descr="{&quot;isTemplate&quot;:true,&quot;type&quot;:&quot;text&quot;}"/>
          <p:cNvSpPr txBox="1"/>
          <p:nvPr/>
        </p:nvSpPr>
        <p:spPr>
          <a:xfrm rot="0" flipH="0" flipV="0">
            <a:off x="8277225" y="4076700"/>
            <a:ext cx="266700" cy="504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300" b="1">
                <a:solidFill>
                  <a:srgbClr val="26816B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654" name="" descr="{&quot;isTemplate&quot;:true,&quot;type&quot;:&quot;text&quot;}"/>
          <p:cNvSpPr txBox="1"/>
          <p:nvPr/>
        </p:nvSpPr>
        <p:spPr>
          <a:xfrm rot="0" flipH="0" flipV="0">
            <a:off x="8696325" y="4133850"/>
            <a:ext cx="8096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6816B"/>
                </a:solidFill>
                <a:latin typeface="Microsoft YaHei"/>
                <a:ea typeface="Microsoft YaHei"/>
              </a:rPr>
              <a:t>个地图对象</a:t>
            </a:r>
            <a:endParaRPr/>
          </a:p>
        </p:txBody>
      </p:sp>
      <p:sp>
        <p:nvSpPr>
          <p:cNvPr id="655" name="" descr="{&quot;isTemplate&quot;:true,&quot;type&quot;:&quot;text&quot;}"/>
          <p:cNvSpPr txBox="1"/>
          <p:nvPr/>
        </p:nvSpPr>
        <p:spPr>
          <a:xfrm rot="0" flipH="0" flipV="0">
            <a:off x="8696325" y="4362450"/>
            <a:ext cx="8096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绑定根</a:t>
            </a: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 xml:space="preserve"> Skill</a:t>
            </a:r>
            <a:endParaRPr/>
          </a:p>
        </p:txBody>
      </p:sp>
      <p:sp>
        <p:nvSpPr>
          <p:cNvPr id="656" name=""/>
          <p:cNvSpPr/>
          <p:nvPr/>
        </p:nvSpPr>
        <p:spPr>
          <a:xfrm rot="0" flipH="0" flipV="0">
            <a:off x="609600" y="5010150"/>
            <a:ext cx="10972800" cy="723900"/>
          </a:xfrm>
          <a:prstGeom prst="roundRect">
            <a:avLst>
              <a:gd name="adj" fmla="val 13158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657" name=""/>
          <p:cNvSpPr/>
          <p:nvPr/>
        </p:nvSpPr>
        <p:spPr>
          <a:xfrm rot="0" flipH="0" flipV="0">
            <a:off x="800100" y="5124450"/>
            <a:ext cx="38100" cy="4953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658" name="" descr="{&quot;isTemplate&quot;:true,&quot;type&quot;:&quot;text&quot;}"/>
          <p:cNvSpPr txBox="1"/>
          <p:nvPr/>
        </p:nvSpPr>
        <p:spPr>
          <a:xfrm rot="0" flipH="0" flipV="0">
            <a:off x="971550" y="5181600"/>
            <a:ext cx="6000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CB6B28"/>
                </a:solidFill>
                <a:latin typeface="Microsoft YaHei"/>
                <a:ea typeface="Microsoft YaHei"/>
              </a:rPr>
              <a:t>分母取决于建模规模</a:t>
            </a:r>
            <a:endParaRPr/>
          </a:p>
        </p:txBody>
      </p:sp>
      <p:sp>
        <p:nvSpPr>
          <p:cNvPr id="659" name="" descr="{&quot;isTemplate&quot;:true,&quot;type&quot;:&quot;text&quot;}"/>
          <p:cNvSpPr txBox="1"/>
          <p:nvPr/>
        </p:nvSpPr>
        <p:spPr>
          <a:xfrm rot="0" flipH="0" flipV="0">
            <a:off x="971550" y="5400675"/>
            <a:ext cx="6000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没有建模的参与者不计入到达率、会话或费用分母；也不能把四人的行为推断为真实人群的统计规律。</a:t>
            </a:r>
            <a:endParaRPr/>
          </a:p>
        </p:txBody>
      </p:sp>
      <p:sp>
        <p:nvSpPr>
          <p:cNvPr id="660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4955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3.1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把筹备方案放进一个会发生变化的世界</a:t>
            </a:r>
            <a:endParaRPr/>
          </a:p>
        </p:txBody>
      </p:sp>
      <p:sp>
        <p:nvSpPr>
          <p:cNvPr id="661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08 / 24</a:t>
            </a:r>
            <a:endParaRPr/>
          </a:p>
        </p:txBody>
      </p:sp>
    </p:spTree>
  </p:cSld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662" name="" descr="&lt;Slide notes={`把两类资源分开看。&#10;&#10;前四个是公共 Agent 资源，它们是人物，有自己的资料、目标和记忆。&#10;&#10;后两个是地图上的游戏对象，绑定的是根 Skill。服务台可以感知和回应，但它不会因此出现在公共人物目录里，也不会自动拥有一个能够自由移动的人物身体。公告栏也一样，它能展示状态、能提交更新，但它不是一个人物。&#10;&#10;这条区分后面会反复用到：人物有行动能力，对象有交互能力，两者混在一起，很多现象就说不清了。&#10;&#10;另外记住，这里说的是本次案例的范围：只有这四位人物和两个对象，其余参与者不在范围内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3.1.2　四个人，两项对象能力&lt;/Text&gt;&#10;            &lt;Text style={{ fontSize: 34, fontWeight: 'bold', color: '#20344B' }}&gt;对象能回应，但不是人物&lt;/Text&gt;&#10;        &lt;/Box&gt;&#10;    &lt;/Box&gt;&#10;&#10;    &lt;Box style={{ height: 540, flexDirection: 'column', justifyContent: 'center', gap: 16 }}&gt;&#10;&#10;        &lt;Box style={{ flexDirection: 'row', gap: 32 }}&gt;&#10;&#10;            &lt;Box style={{ width: 448, height: 396, background: '#EDF4FC', borderRadius: 10, padding: '18px 20px', flexDirection: 'column', gap: 10 }}&gt;&#10;                &lt;Text style={{ fontSize: 20, fontWeight: 'bold', color: '#276FBF' }}&gt;公共 Agent 资源 · 4 名&lt;/Text&gt;&#10;                &lt;Box style={{ height: 74, background: '#FFFFFF', borderRadius: 8, padding: '0 14px', flexDirection: 'row', alignItems: 'center', gap: 12 }}&gt;&#10;                    &lt;Text style={{ fontSize: 16, fontWeight: 'bold', color: '#20344B', width: 60 }}&gt;林岚&lt;/Text&gt;&#10;                    &lt;Text style={{ fontSize: 13, color: '#546779', flex: 1 }}&gt;掌握旧计划，需要核对场地&lt;/Text&gt;&#10;                &lt;/Box&gt;&#10;                &lt;Box style={{ height: 74, background: '#FFFFFF', borderRadius: 8, padding: '0 14px', flexDirection: 'row', alignItems: 'center', gap: 12 }}&gt;&#10;                    &lt;Text style={{ fontSize: 16, fontWeight: 'bold', color: '#20344B', width: 60 }}&gt;周宁&lt;/Text&gt;&#10;                    &lt;Text style={{ fontSize: 13, color: '#546779', flex: 1 }}&gt;掌握旧消息，先检查物料&lt;/Text&gt;&#10;                &lt;/Box&gt;&#10;                &lt;Box style={{ height: 74, background: '#FFFFFF', borderRadius: 8, padding: '0 14px', flexDirection: 'row', alignItems: 'center', gap: 12 }}&gt;&#10;                    &lt;Text style={{ fontSize: 16, fontWeight: 'bold', color: '#20344B', width: 60 }}&gt;陈晨&lt;/Text&gt;&#10;                    &lt;Text style={{ fontSize: 13, color: '#546779', flex: 1 }}&gt;有阅读目标，会询问安排&lt;/Text&gt;&#10;                &lt;/Box&gt;&#10;                &lt;Box style={{ height: 74, background: '#FFFFFF', borderRadius: 8, padding: '0 14px', flexDirection: 'row', alignItems: 'center', gap: 12 }}&gt;&#10;                    &lt;Text style={{ fontSize: 16, fontWeight: 'bold', color: '#20344B', width: 60 }}&gt;许安&lt;/Text&gt;&#10;                    &lt;Text style={{ fontSize: 13, color: '#546779', flex: 1 }}&gt;只知旧消息，需要核实&lt;/Text&gt;&#10;                &lt;/Box&gt;&#10;            &lt;/Box&gt;&#10;&#10;            &lt;Box style={{ width: 672, height: 396, background: '#ECF7F2', borderRadius: 10, padding: '18px 20px', flexDirection: 'column', gap: 10 }}&gt;&#10;                &lt;Text style={{ fontSize: 20, fontWeight: 'bold', color: '#26816B' }}&gt;地图 Game Object · 2 个 · 绑定根 Skill&lt;/Text&gt;&#10;                &lt;Box style={{ height: 64, background: '#FFFFFF', borderRadius: 8, padding: '0 14px', flexDirection: 'row', alignItems: 'center', gap: 12 }}&gt;&#10;                    &lt;Text style={{ fontSize: 16, fontWeight: 'bold', color: '#20344B', width: 80 }}&gt;服务台&lt;/Text&gt;&#10;                    &lt;Text style={{ fontSize: 13, color: '#546779', flex: 1 }}&gt;掌握手作室已有的预约，按真实请求回答&lt;/Text&gt;&#10;                &lt;/Box&gt;&#10;                &lt;Box style={{ height: 64, background: '#FFFFFF', borderRadius: 8, padding: '0 14px', flexDirection: 'row', alignItems: 'center', gap: 12 }}&gt;&#10;                    &lt;Text style={{ fontSize: 16, fontWeight: 'bold', color: '#20344B', width: 80 }}&gt;公告栏&lt;/Text&gt;&#10;                    &lt;Text style={{ fontSize: 13, color: '#546779', flex: 1 }}&gt;初始展示旧安排，接收有依据的更新后提交新状态&lt;/Text&gt;&#10;                &lt;/Box&gt;&#10;                &lt;Box style={{ flex: 1, background: '#FFF4E6', borderRadius: 8, padding: '12px 16px', flexDirection: 'column', gap: 6, justifyContent: 'center' }}&gt;&#10;                    &lt;Text style={{ fontSize: 16, fontWeight: 'bold', color: '#CB6B28' }}&gt;对象的边界&lt;/Text&gt;&#10;                    &lt;Text style={{ fontSize: 14, color: '#546779', lineHeight: 1.55 }}&gt;可以感知和回应；不会因此出现在公共人物目录；不自动拥有一个能够自由移动的人物身体。&lt;/Text&gt;&#10;                &lt;/Box&gt;&#10;            &lt;/Box&gt;&#10;&#10;        &lt;/Box&gt;&#10;&#10;        &lt;Box style={{ flexDirection: 'row', alignItems: 'center', gap: 14, background: '#F4F7FA', borderRadius: 10, padding: '12px 20px' }}&gt;&#10;            &lt;Box style={{ width: 4, height: 44, background: '#276FBF' }} /&gt;&#10;            &lt;Text style={{ fontSize: 15, color: '#20344B' }}&gt;本章只模拟四位代表人物及两个对象；前四项是公共 Agent 资源，后两项是地图 Game Object。&lt;/Text&gt;&#10;        &lt;/Box&gt;&#10;&#10;    &lt;/Box&gt;&#10;&#10;    &lt;Box style={{ height: 40, flexDirection: 'row', justifyContent: 'space-between', alignItems: 'center' }}&gt;&#10;        &lt;Text style={{ fontSize: 14, color: '#546779' }}&gt;3.1 把筹备方案放进一个会发生变化的世界&lt;/Text&gt;&#10;        &lt;Text style={{ fontSize: 14, color: '#546779' }}&gt;09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64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65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562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3.1.2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四个人，两项对象能力</a:t>
            </a:r>
            <a:endParaRPr/>
          </a:p>
        </p:txBody>
      </p:sp>
      <p:sp>
        <p:nvSpPr>
          <p:cNvPr id="666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5623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对象能回应，但不是人物</a:t>
            </a:r>
            <a:endParaRPr/>
          </a:p>
        </p:txBody>
      </p:sp>
      <p:sp>
        <p:nvSpPr>
          <p:cNvPr id="667" name=""/>
          <p:cNvSpPr/>
          <p:nvPr/>
        </p:nvSpPr>
        <p:spPr>
          <a:xfrm rot="0" flipH="0" flipV="0">
            <a:off x="609600" y="1428750"/>
            <a:ext cx="4267200" cy="3771900"/>
          </a:xfrm>
          <a:prstGeom prst="roundRect">
            <a:avLst>
              <a:gd name="adj" fmla="val 2525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668" name="" descr="{&quot;isTemplate&quot;:true,&quot;type&quot;:&quot;text&quot;}"/>
          <p:cNvSpPr txBox="1"/>
          <p:nvPr/>
        </p:nvSpPr>
        <p:spPr>
          <a:xfrm rot="0" flipH="0" flipV="0">
            <a:off x="800100" y="1600200"/>
            <a:ext cx="38862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76FBF"/>
                </a:solidFill>
                <a:latin typeface="Microsoft YaHei"/>
                <a:ea typeface="Microsoft YaHei"/>
              </a:rPr>
              <a:t>公共</a:t>
            </a:r>
            <a:r>
              <a:rPr lang="en-US" sz="1500" b="1">
                <a:solidFill>
                  <a:srgbClr val="276FBF"/>
                </a:solidFill>
                <a:latin typeface="Microsoft YaHei"/>
                <a:ea typeface="Microsoft YaHei"/>
              </a:rPr>
              <a:t xml:space="preserve"> Agent </a:t>
            </a:r>
            <a:r>
              <a:rPr lang="zh-CN" sz="1500" b="1">
                <a:solidFill>
                  <a:srgbClr val="276FBF"/>
                </a:solidFill>
                <a:latin typeface="Microsoft YaHei"/>
                <a:ea typeface="Microsoft YaHei"/>
              </a:rPr>
              <a:t>资源</a:t>
            </a:r>
            <a:r>
              <a:rPr lang="en-US" sz="1500" b="1">
                <a:solidFill>
                  <a:srgbClr val="276FBF"/>
                </a:solidFill>
                <a:latin typeface="Microsoft YaHei"/>
                <a:ea typeface="Microsoft YaHei"/>
              </a:rPr>
              <a:t xml:space="preserve"> · 4 </a:t>
            </a:r>
            <a:r>
              <a:rPr lang="zh-CN" sz="1500" b="1">
                <a:solidFill>
                  <a:srgbClr val="276FBF"/>
                </a:solidFill>
                <a:latin typeface="Microsoft YaHei"/>
                <a:ea typeface="Microsoft YaHei"/>
              </a:rPr>
              <a:t>名</a:t>
            </a:r>
            <a:endParaRPr/>
          </a:p>
        </p:txBody>
      </p:sp>
      <p:sp>
        <p:nvSpPr>
          <p:cNvPr id="669" name=""/>
          <p:cNvSpPr/>
          <p:nvPr/>
        </p:nvSpPr>
        <p:spPr>
          <a:xfrm rot="0" flipH="0" flipV="0">
            <a:off x="800100" y="1924050"/>
            <a:ext cx="3886200" cy="704850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70" name="" descr="{&quot;isTemplate&quot;:true,&quot;type&quot;:&quot;text&quot;}"/>
          <p:cNvSpPr txBox="1"/>
          <p:nvPr/>
        </p:nvSpPr>
        <p:spPr>
          <a:xfrm rot="0" flipH="0" flipV="0">
            <a:off x="933450" y="2181225"/>
            <a:ext cx="571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林岚</a:t>
            </a:r>
            <a:endParaRPr/>
          </a:p>
        </p:txBody>
      </p:sp>
      <p:sp>
        <p:nvSpPr>
          <p:cNvPr id="671" name="" descr="{&quot;isTemplate&quot;:true,&quot;type&quot;:&quot;text&quot;}"/>
          <p:cNvSpPr txBox="1"/>
          <p:nvPr/>
        </p:nvSpPr>
        <p:spPr>
          <a:xfrm rot="0" flipH="0" flipV="0">
            <a:off x="1619250" y="2200275"/>
            <a:ext cx="29337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掌握旧计划，需要核对场地</a:t>
            </a:r>
            <a:endParaRPr/>
          </a:p>
        </p:txBody>
      </p:sp>
      <p:sp>
        <p:nvSpPr>
          <p:cNvPr id="672" name=""/>
          <p:cNvSpPr/>
          <p:nvPr/>
        </p:nvSpPr>
        <p:spPr>
          <a:xfrm rot="0" flipH="0" flipV="0">
            <a:off x="800100" y="2724150"/>
            <a:ext cx="3886200" cy="704850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73" name="" descr="{&quot;isTemplate&quot;:true,&quot;type&quot;:&quot;text&quot;}"/>
          <p:cNvSpPr txBox="1"/>
          <p:nvPr/>
        </p:nvSpPr>
        <p:spPr>
          <a:xfrm rot="0" flipH="0" flipV="0">
            <a:off x="933450" y="2981325"/>
            <a:ext cx="571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周宁</a:t>
            </a:r>
            <a:endParaRPr/>
          </a:p>
        </p:txBody>
      </p:sp>
      <p:sp>
        <p:nvSpPr>
          <p:cNvPr id="674" name="" descr="{&quot;isTemplate&quot;:true,&quot;type&quot;:&quot;text&quot;}"/>
          <p:cNvSpPr txBox="1"/>
          <p:nvPr/>
        </p:nvSpPr>
        <p:spPr>
          <a:xfrm rot="0" flipH="0" flipV="0">
            <a:off x="1619250" y="3000375"/>
            <a:ext cx="29337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掌握旧消息，先检查物料</a:t>
            </a:r>
            <a:endParaRPr/>
          </a:p>
        </p:txBody>
      </p:sp>
      <p:sp>
        <p:nvSpPr>
          <p:cNvPr id="675" name=""/>
          <p:cNvSpPr/>
          <p:nvPr/>
        </p:nvSpPr>
        <p:spPr>
          <a:xfrm rot="0" flipH="0" flipV="0">
            <a:off x="800100" y="3524250"/>
            <a:ext cx="3886200" cy="704850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76" name="" descr="{&quot;isTemplate&quot;:true,&quot;type&quot;:&quot;text&quot;}"/>
          <p:cNvSpPr txBox="1"/>
          <p:nvPr/>
        </p:nvSpPr>
        <p:spPr>
          <a:xfrm rot="0" flipH="0" flipV="0">
            <a:off x="933450" y="3781425"/>
            <a:ext cx="571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陈晨</a:t>
            </a:r>
            <a:endParaRPr/>
          </a:p>
        </p:txBody>
      </p:sp>
      <p:sp>
        <p:nvSpPr>
          <p:cNvPr id="677" name="" descr="{&quot;isTemplate&quot;:true,&quot;type&quot;:&quot;text&quot;}"/>
          <p:cNvSpPr txBox="1"/>
          <p:nvPr/>
        </p:nvSpPr>
        <p:spPr>
          <a:xfrm rot="0" flipH="0" flipV="0">
            <a:off x="1619250" y="3800475"/>
            <a:ext cx="29337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有阅读目标，会询问安排</a:t>
            </a:r>
            <a:endParaRPr/>
          </a:p>
        </p:txBody>
      </p:sp>
      <p:sp>
        <p:nvSpPr>
          <p:cNvPr id="678" name=""/>
          <p:cNvSpPr/>
          <p:nvPr/>
        </p:nvSpPr>
        <p:spPr>
          <a:xfrm rot="0" flipH="0" flipV="0">
            <a:off x="800100" y="4324350"/>
            <a:ext cx="3886200" cy="704850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79" name="" descr="{&quot;isTemplate&quot;:true,&quot;type&quot;:&quot;text&quot;}"/>
          <p:cNvSpPr txBox="1"/>
          <p:nvPr/>
        </p:nvSpPr>
        <p:spPr>
          <a:xfrm rot="0" flipH="0" flipV="0">
            <a:off x="933450" y="4581525"/>
            <a:ext cx="571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许安</a:t>
            </a:r>
            <a:endParaRPr/>
          </a:p>
        </p:txBody>
      </p:sp>
      <p:sp>
        <p:nvSpPr>
          <p:cNvPr id="680" name="" descr="{&quot;isTemplate&quot;:true,&quot;type&quot;:&quot;text&quot;}"/>
          <p:cNvSpPr txBox="1"/>
          <p:nvPr/>
        </p:nvSpPr>
        <p:spPr>
          <a:xfrm rot="0" flipH="0" flipV="0">
            <a:off x="1619250" y="4600575"/>
            <a:ext cx="29337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只知旧消息，需要核实</a:t>
            </a:r>
            <a:endParaRPr/>
          </a:p>
        </p:txBody>
      </p:sp>
      <p:sp>
        <p:nvSpPr>
          <p:cNvPr id="681" name=""/>
          <p:cNvSpPr/>
          <p:nvPr/>
        </p:nvSpPr>
        <p:spPr>
          <a:xfrm rot="0" flipH="0" flipV="0">
            <a:off x="5181600" y="1428750"/>
            <a:ext cx="6400800" cy="3771900"/>
          </a:xfrm>
          <a:prstGeom prst="roundRect">
            <a:avLst>
              <a:gd name="adj" fmla="val 2525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682" name="" descr="{&quot;isTemplate&quot;:true,&quot;type&quot;:&quot;text&quot;}"/>
          <p:cNvSpPr txBox="1"/>
          <p:nvPr/>
        </p:nvSpPr>
        <p:spPr>
          <a:xfrm rot="0" flipH="0" flipV="0">
            <a:off x="5372100" y="1600200"/>
            <a:ext cx="6019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6816B"/>
                </a:solidFill>
                <a:latin typeface="Microsoft YaHei"/>
                <a:ea typeface="Microsoft YaHei"/>
              </a:rPr>
              <a:t>地图</a:t>
            </a:r>
            <a:r>
              <a:rPr lang="en-US" sz="1500" b="1">
                <a:solidFill>
                  <a:srgbClr val="26816B"/>
                </a:solidFill>
                <a:latin typeface="Microsoft YaHei"/>
                <a:ea typeface="Microsoft YaHei"/>
              </a:rPr>
              <a:t xml:space="preserve"> Game Object · 2 </a:t>
            </a:r>
            <a:r>
              <a:rPr lang="zh-CN" sz="1500" b="1">
                <a:solidFill>
                  <a:srgbClr val="26816B"/>
                </a:solidFill>
                <a:latin typeface="Microsoft YaHei"/>
                <a:ea typeface="Microsoft YaHei"/>
              </a:rPr>
              <a:t>个</a:t>
            </a:r>
            <a:r>
              <a:rPr lang="en-US" sz="1500" b="1">
                <a:solidFill>
                  <a:srgbClr val="26816B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500" b="1">
                <a:solidFill>
                  <a:srgbClr val="26816B"/>
                </a:solidFill>
                <a:latin typeface="Microsoft YaHei"/>
                <a:ea typeface="Microsoft YaHei"/>
              </a:rPr>
              <a:t>绑定根</a:t>
            </a:r>
            <a:r>
              <a:rPr lang="en-US" sz="1500" b="1">
                <a:solidFill>
                  <a:srgbClr val="26816B"/>
                </a:solidFill>
                <a:latin typeface="Microsoft YaHei"/>
                <a:ea typeface="Microsoft YaHei"/>
              </a:rPr>
              <a:t xml:space="preserve"> Skill</a:t>
            </a:r>
            <a:endParaRPr/>
          </a:p>
        </p:txBody>
      </p:sp>
      <p:sp>
        <p:nvSpPr>
          <p:cNvPr id="683" name=""/>
          <p:cNvSpPr/>
          <p:nvPr/>
        </p:nvSpPr>
        <p:spPr>
          <a:xfrm rot="0" flipH="0" flipV="0">
            <a:off x="5372100" y="1924050"/>
            <a:ext cx="6019800" cy="609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84" name="" descr="{&quot;isTemplate&quot;:true,&quot;type&quot;:&quot;text&quot;}"/>
          <p:cNvSpPr txBox="1"/>
          <p:nvPr/>
        </p:nvSpPr>
        <p:spPr>
          <a:xfrm rot="0" flipH="0" flipV="0">
            <a:off x="5505450" y="2133600"/>
            <a:ext cx="762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服务台</a:t>
            </a:r>
            <a:endParaRPr/>
          </a:p>
        </p:txBody>
      </p:sp>
      <p:sp>
        <p:nvSpPr>
          <p:cNvPr id="685" name="" descr="{&quot;isTemplate&quot;:true,&quot;type&quot;:&quot;text&quot;}"/>
          <p:cNvSpPr txBox="1"/>
          <p:nvPr/>
        </p:nvSpPr>
        <p:spPr>
          <a:xfrm rot="0" flipH="0" flipV="0">
            <a:off x="6381750" y="2152650"/>
            <a:ext cx="48768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掌握手作室已有的预约，按真实请求回答</a:t>
            </a:r>
            <a:endParaRPr/>
          </a:p>
        </p:txBody>
      </p:sp>
      <p:sp>
        <p:nvSpPr>
          <p:cNvPr id="686" name=""/>
          <p:cNvSpPr/>
          <p:nvPr/>
        </p:nvSpPr>
        <p:spPr>
          <a:xfrm rot="0" flipH="0" flipV="0">
            <a:off x="5372100" y="2628900"/>
            <a:ext cx="6019800" cy="609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87" name="" descr="{&quot;isTemplate&quot;:true,&quot;type&quot;:&quot;text&quot;}"/>
          <p:cNvSpPr txBox="1"/>
          <p:nvPr/>
        </p:nvSpPr>
        <p:spPr>
          <a:xfrm rot="0" flipH="0" flipV="0">
            <a:off x="5505450" y="2838450"/>
            <a:ext cx="762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公告栏</a:t>
            </a:r>
            <a:endParaRPr/>
          </a:p>
        </p:txBody>
      </p:sp>
      <p:sp>
        <p:nvSpPr>
          <p:cNvPr id="688" name="" descr="{&quot;isTemplate&quot;:true,&quot;type&quot;:&quot;text&quot;}"/>
          <p:cNvSpPr txBox="1"/>
          <p:nvPr/>
        </p:nvSpPr>
        <p:spPr>
          <a:xfrm rot="0" flipH="0" flipV="0">
            <a:off x="6381750" y="2857500"/>
            <a:ext cx="48768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初始展示旧安排，接收有依据的更新后提交新状态</a:t>
            </a:r>
            <a:endParaRPr/>
          </a:p>
        </p:txBody>
      </p:sp>
      <p:sp>
        <p:nvSpPr>
          <p:cNvPr id="689" name=""/>
          <p:cNvSpPr/>
          <p:nvPr/>
        </p:nvSpPr>
        <p:spPr>
          <a:xfrm rot="0" flipH="0" flipV="0">
            <a:off x="5372100" y="3333750"/>
            <a:ext cx="6019800" cy="1695450"/>
          </a:xfrm>
          <a:prstGeom prst="roundRect">
            <a:avLst>
              <a:gd name="adj" fmla="val 4494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690" name="" descr="{&quot;isTemplate&quot;:true,&quot;type&quot;:&quot;text&quot;}"/>
          <p:cNvSpPr txBox="1"/>
          <p:nvPr/>
        </p:nvSpPr>
        <p:spPr>
          <a:xfrm rot="0" flipH="0" flipV="0">
            <a:off x="5524500" y="3933825"/>
            <a:ext cx="5715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CB6B28"/>
                </a:solidFill>
                <a:latin typeface="Microsoft YaHei"/>
                <a:ea typeface="Microsoft YaHei"/>
              </a:rPr>
              <a:t>对象的边界</a:t>
            </a:r>
            <a:endParaRPr/>
          </a:p>
        </p:txBody>
      </p:sp>
      <p:sp>
        <p:nvSpPr>
          <p:cNvPr id="691" name="" descr="{&quot;isTemplate&quot;:true,&quot;type&quot;:&quot;text&quot;}"/>
          <p:cNvSpPr txBox="1"/>
          <p:nvPr/>
        </p:nvSpPr>
        <p:spPr>
          <a:xfrm rot="0" flipH="0" flipV="0">
            <a:off x="5524500" y="4181475"/>
            <a:ext cx="5715000" cy="25717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可以感知和回应；不会因此出现在公共人物目录；不自动拥有一个能够自由移动的人物身体。</a:t>
            </a:r>
            <a:endParaRPr/>
          </a:p>
        </p:txBody>
      </p:sp>
      <p:sp>
        <p:nvSpPr>
          <p:cNvPr id="692" name=""/>
          <p:cNvSpPr/>
          <p:nvPr/>
        </p:nvSpPr>
        <p:spPr>
          <a:xfrm rot="0" flipH="0" flipV="0">
            <a:off x="609600" y="5353050"/>
            <a:ext cx="10972800" cy="647700"/>
          </a:xfrm>
          <a:prstGeom prst="roundRect">
            <a:avLst>
              <a:gd name="adj" fmla="val 14706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693" name=""/>
          <p:cNvSpPr/>
          <p:nvPr/>
        </p:nvSpPr>
        <p:spPr>
          <a:xfrm rot="0" flipH="0" flipV="0">
            <a:off x="800100" y="546735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94" name="" descr="{&quot;isTemplate&quot;:true,&quot;type&quot;:&quot;text&quot;}"/>
          <p:cNvSpPr txBox="1"/>
          <p:nvPr/>
        </p:nvSpPr>
        <p:spPr>
          <a:xfrm rot="0" flipH="0" flipV="0">
            <a:off x="971550" y="5591175"/>
            <a:ext cx="61531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本章只模拟四位代表人物及两个对象；前四项是公共</a:t>
            </a: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 xml:space="preserve"> Agent </a:t>
            </a: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资源，后两项是地图</a:t>
            </a: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 xml:space="preserve"> Game Object</a:t>
            </a: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695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4955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3.1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把筹备方案放进一个会发生变化的世界</a:t>
            </a:r>
            <a:endParaRPr/>
          </a:p>
        </p:txBody>
      </p:sp>
      <p:sp>
        <p:nvSpPr>
          <p:cNvPr id="696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09 / 24</a:t>
            </a:r>
            <a:endParaRPr/>
          </a:p>
        </p:txBody>
      </p:sp>
    </p:spTree>
  </p:cSld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33" name="" descr="&lt;Slide notes={`接着看空间。一张地图图片好看，不代表角色能走。&#10;&#10;这一块要分清四件事各管什么：图片管可见外观，语义管世界怎么理解这个位置，碰撞与寻路管实际能不能走过去。&#10;&#10;然后要把信息分配讲清楚：作者知道答案，不代表世界里的角色知道答案。答案放错位置，角色就会说出不该知道的话。&#10;&#10;最后还要看层级命名和实验装配，这两件事决定角色谈位置时说的是不是同一个地方。`} style={{ width: 1280, height: 720, background: '#FFFFFF', flexDirection: 'column', padding: '20px 64px' }}&gt;&#10;&#10;    &lt;Box style={{ height: 640, flexDirection: 'column', justifyContent: 'center', gap: 22 }}&gt;&#10;&#10;        &lt;Text style={{ fontSize: 15, color: '#276FBF' }}&gt;2　　3.1.3 — 3.1.4&lt;/Text&gt;&#10;&#10;        &lt;Text style={{ fontSize: 56, fontWeight: 'bold', color: '#20344B', lineHeight: 1.15 }}&gt;图片管外观，语义管世界&lt;/Text&gt;&#10;&#10;        &lt;Box style={{ width: 72, height: 4, background: '#276FBF' }} /&gt;&#10;&#10;        &lt;Text style={{ fontSize: 18, color: '#546779', lineHeight: 1.7, width: 900 }}&gt;画得像门，碰撞没有开口也不算通路；作者知道答案，不代表角色知道答案。&lt;/Text&gt;&#10;&#10;        &lt;Box style={{ flexDirection: 'row', alignItems: 'center', marginTop: 10 }}&gt;&#10;            &lt;Box style={{ width: 250, height: 64, background: '#EDF4FC', borderRadius: 8, justifyContent: 'center', alignItems: 'center' }}&gt;&#10;                &lt;Text style={{ fontSize: 17, color: '#276FBF' }}&gt;图片 · 可见外观&lt;/Text&gt;&#10;            &lt;/Box&gt;&#10;            &lt;Box style={{ width: 44, height: 64, justifyContent: 'center', alignItems: 'center' }}&gt;&#10;                &lt;Text style={{ fontSize: 24, color: '#276FBF' }}&gt;›&lt;/Text&gt;&#10;            &lt;/Box&gt;&#10;            &lt;Box style={{ width: 250, height: 64, background: '#EDF4FC', borderRadius: 8, justifyContent: 'center', alignItems: 'center' }}&gt;&#10;                &lt;Text style={{ fontSize: 17, color: '#276FBF' }}&gt;World · Sector&lt;/Text&gt;&#10;            &lt;/Box&gt;&#10;            &lt;Box style={{ width: 44, height: 64, justifyContent: 'center', alignItems: 'center' }}&gt;&#10;                &lt;Text style={{ fontSize: 24, color: '#276FBF' }}&gt;›&lt;/Text&gt;&#10;            &lt;/Box&gt;&#10;            &lt;Box style={{ width: 250, height: 64, background: '#EDF4FC', borderRadius: 8, justifyContent: 'center', alignItems: 'center' }}&gt;&#10;                &lt;Text style={{ fontSize: 17, color: '#276FBF' }}&gt;Arena · Object&lt;/Text&gt;&#10;            &lt;/Box&gt;&#10;            &lt;Box style={{ width: 44, height: 64, justifyContent: 'center', alignItems: 'center' }}&gt;&#10;                &lt;Text style={{ fontSize: 24, color: '#26816B' }}&gt;›&lt;/Text&gt;&#10;            &lt;/Box&gt;&#10;            &lt;Box style={{ width: 250, height: 64, background: '#ECF7F2', borderRadius: 8, justifyContent: 'center', alignItems: 'center' }}&gt;&#10;                &lt;Text style={{ fontSize: 17, color: '#26816B' }}&gt;碰撞 · 寻路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3.1 把筹备方案放进一个会发生变化的世界&lt;/Text&gt;&#10;        &lt;Text style={{ fontSize: 14, color: '#546779' }}&gt;10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5" name="" descr="{&quot;isTemplate&quot;:true,&quot;type&quot;:&quot;text&quot;}"/>
          <p:cNvSpPr txBox="1"/>
          <p:nvPr/>
        </p:nvSpPr>
        <p:spPr>
          <a:xfrm rot="0" flipH="0" flipV="0">
            <a:off x="609600" y="1819275"/>
            <a:ext cx="10972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276FBF"/>
                </a:solidFill>
                <a:latin typeface="Microsoft YaHei"/>
                <a:ea typeface="Microsoft YaHei"/>
              </a:rPr>
              <a:t>2</a:t>
            </a: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　　</a:t>
            </a:r>
            <a:r>
              <a:rPr lang="en-US" sz="1125">
                <a:solidFill>
                  <a:srgbClr val="276FBF"/>
                </a:solidFill>
                <a:latin typeface="Microsoft YaHei"/>
                <a:ea typeface="Microsoft YaHei"/>
              </a:rPr>
              <a:t>3.1.3 — 3.1.4</a:t>
            </a:r>
            <a:endParaRPr/>
          </a:p>
        </p:txBody>
      </p:sp>
      <p:sp>
        <p:nvSpPr>
          <p:cNvPr id="36" name="" descr="{&quot;isTemplate&quot;:true,&quot;type&quot;:&quot;text&quot;}"/>
          <p:cNvSpPr txBox="1"/>
          <p:nvPr/>
        </p:nvSpPr>
        <p:spPr>
          <a:xfrm rot="0" flipH="0" flipV="0">
            <a:off x="609600" y="2200275"/>
            <a:ext cx="10972800" cy="7429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图片管外观，语义管世界</a:t>
            </a:r>
            <a:endParaRPr/>
          </a:p>
        </p:txBody>
      </p:sp>
      <p:sp>
        <p:nvSpPr>
          <p:cNvPr id="37" name=""/>
          <p:cNvSpPr/>
          <p:nvPr/>
        </p:nvSpPr>
        <p:spPr>
          <a:xfrm rot="0" flipH="0" flipV="0">
            <a:off x="609600" y="3152775"/>
            <a:ext cx="6858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8" name="" descr="{&quot;isTemplate&quot;:true,&quot;type&quot;:&quot;text&quot;}"/>
          <p:cNvSpPr txBox="1"/>
          <p:nvPr/>
        </p:nvSpPr>
        <p:spPr>
          <a:xfrm rot="0" flipH="0" flipV="0">
            <a:off x="609600" y="3400425"/>
            <a:ext cx="8572500" cy="3524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350">
                <a:solidFill>
                  <a:srgbClr val="546779"/>
                </a:solidFill>
                <a:latin typeface="Microsoft YaHei"/>
                <a:ea typeface="Microsoft YaHei"/>
              </a:rPr>
              <a:t>画得像门，碰撞没有开口也不算通路；作者知道答案，不代表角色知道答案。</a:t>
            </a:r>
            <a:endParaRPr/>
          </a:p>
        </p:txBody>
      </p:sp>
      <p:sp>
        <p:nvSpPr>
          <p:cNvPr id="39" name=""/>
          <p:cNvSpPr/>
          <p:nvPr/>
        </p:nvSpPr>
        <p:spPr>
          <a:xfrm rot="0" flipH="0" flipV="0">
            <a:off x="609600" y="4057650"/>
            <a:ext cx="2381250" cy="609600"/>
          </a:xfrm>
          <a:prstGeom prst="roundRect">
            <a:avLst>
              <a:gd name="adj" fmla="val 125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40" name="" descr="{&quot;isTemplate&quot;:true,&quot;type&quot;:&quot;text&quot;}"/>
          <p:cNvSpPr txBox="1"/>
          <p:nvPr/>
        </p:nvSpPr>
        <p:spPr>
          <a:xfrm rot="0" flipH="0" flipV="0">
            <a:off x="1247775" y="4267200"/>
            <a:ext cx="11144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276FBF"/>
                </a:solidFill>
                <a:latin typeface="Microsoft YaHei"/>
                <a:ea typeface="Microsoft YaHei"/>
              </a:rPr>
              <a:t>图片</a:t>
            </a:r>
            <a:r>
              <a:rPr lang="en-US" sz="1275">
                <a:solidFill>
                  <a:srgbClr val="276FBF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75">
                <a:solidFill>
                  <a:srgbClr val="276FBF"/>
                </a:solidFill>
                <a:latin typeface="Microsoft YaHei"/>
                <a:ea typeface="Microsoft YaHei"/>
              </a:rPr>
              <a:t>可见外观</a:t>
            </a:r>
            <a:endParaRPr/>
          </a:p>
        </p:txBody>
      </p:sp>
      <p:sp>
        <p:nvSpPr>
          <p:cNvPr id="41" name="" descr="{&quot;isTemplate&quot;:true,&quot;type&quot;:&quot;text&quot;}"/>
          <p:cNvSpPr txBox="1"/>
          <p:nvPr/>
        </p:nvSpPr>
        <p:spPr>
          <a:xfrm rot="0" flipH="0" flipV="0">
            <a:off x="3162300" y="4229100"/>
            <a:ext cx="857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80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42" name=""/>
          <p:cNvSpPr/>
          <p:nvPr/>
        </p:nvSpPr>
        <p:spPr>
          <a:xfrm rot="0" flipH="0" flipV="0">
            <a:off x="3409950" y="4057650"/>
            <a:ext cx="2381250" cy="609600"/>
          </a:xfrm>
          <a:prstGeom prst="roundRect">
            <a:avLst>
              <a:gd name="adj" fmla="val 125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43" name="" descr="{&quot;isTemplate&quot;:true,&quot;type&quot;:&quot;text&quot;}"/>
          <p:cNvSpPr txBox="1"/>
          <p:nvPr/>
        </p:nvSpPr>
        <p:spPr>
          <a:xfrm rot="0" flipH="0" flipV="0">
            <a:off x="4048125" y="4267200"/>
            <a:ext cx="11049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276FBF"/>
                </a:solidFill>
                <a:latin typeface="Microsoft YaHei"/>
                <a:ea typeface="Microsoft YaHei"/>
              </a:rPr>
              <a:t>World · Sector</a:t>
            </a:r>
            <a:endParaRPr/>
          </a:p>
        </p:txBody>
      </p:sp>
      <p:sp>
        <p:nvSpPr>
          <p:cNvPr id="44" name="" descr="{&quot;isTemplate&quot;:true,&quot;type&quot;:&quot;text&quot;}"/>
          <p:cNvSpPr txBox="1"/>
          <p:nvPr/>
        </p:nvSpPr>
        <p:spPr>
          <a:xfrm rot="0" flipH="0" flipV="0">
            <a:off x="5962650" y="4229100"/>
            <a:ext cx="857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80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45" name=""/>
          <p:cNvSpPr/>
          <p:nvPr/>
        </p:nvSpPr>
        <p:spPr>
          <a:xfrm rot="0" flipH="0" flipV="0">
            <a:off x="6210300" y="4057650"/>
            <a:ext cx="2381250" cy="609600"/>
          </a:xfrm>
          <a:prstGeom prst="roundRect">
            <a:avLst>
              <a:gd name="adj" fmla="val 125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46" name="" descr="{&quot;isTemplate&quot;:true,&quot;type&quot;:&quot;text&quot;}"/>
          <p:cNvSpPr txBox="1"/>
          <p:nvPr/>
        </p:nvSpPr>
        <p:spPr>
          <a:xfrm rot="0" flipH="0" flipV="0">
            <a:off x="6848475" y="4267200"/>
            <a:ext cx="11049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276FBF"/>
                </a:solidFill>
                <a:latin typeface="Microsoft YaHei"/>
                <a:ea typeface="Microsoft YaHei"/>
              </a:rPr>
              <a:t>Arena · Object</a:t>
            </a:r>
            <a:endParaRPr/>
          </a:p>
        </p:txBody>
      </p:sp>
      <p:sp>
        <p:nvSpPr>
          <p:cNvPr id="47" name="" descr="{&quot;isTemplate&quot;:true,&quot;type&quot;:&quot;text&quot;}"/>
          <p:cNvSpPr txBox="1"/>
          <p:nvPr/>
        </p:nvSpPr>
        <p:spPr>
          <a:xfrm rot="0" flipH="0" flipV="0">
            <a:off x="8763000" y="4229100"/>
            <a:ext cx="857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800">
                <a:solidFill>
                  <a:srgbClr val="26816B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48" name=""/>
          <p:cNvSpPr/>
          <p:nvPr/>
        </p:nvSpPr>
        <p:spPr>
          <a:xfrm rot="0" flipH="0" flipV="0">
            <a:off x="9010650" y="4057650"/>
            <a:ext cx="2381250" cy="609600"/>
          </a:xfrm>
          <a:prstGeom prst="roundRect">
            <a:avLst>
              <a:gd name="adj" fmla="val 12500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49" name="" descr="{&quot;isTemplate&quot;:true,&quot;type&quot;:&quot;text&quot;}"/>
          <p:cNvSpPr txBox="1"/>
          <p:nvPr/>
        </p:nvSpPr>
        <p:spPr>
          <a:xfrm rot="0" flipH="0" flipV="0">
            <a:off x="9810750" y="4267200"/>
            <a:ext cx="7905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26816B"/>
                </a:solidFill>
                <a:latin typeface="Microsoft YaHei"/>
                <a:ea typeface="Microsoft YaHei"/>
              </a:rPr>
              <a:t>碰撞</a:t>
            </a:r>
            <a:r>
              <a:rPr lang="en-US" sz="1275">
                <a:solidFill>
                  <a:srgbClr val="26816B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75">
                <a:solidFill>
                  <a:srgbClr val="26816B"/>
                </a:solidFill>
                <a:latin typeface="Microsoft YaHei"/>
                <a:ea typeface="Microsoft YaHei"/>
              </a:rPr>
              <a:t>寻路</a:t>
            </a:r>
            <a:endParaRPr/>
          </a:p>
        </p:txBody>
      </p:sp>
      <p:sp>
        <p:nvSpPr>
          <p:cNvPr id="50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4955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3.1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把筹备方案放进一个会发生变化的世界</a:t>
            </a:r>
            <a:endParaRPr/>
          </a:p>
        </p:txBody>
      </p:sp>
      <p:sp>
        <p:nvSpPr>
          <p:cNvPr id="51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10 / 24</a:t>
            </a:r>
            <a:endParaRPr/>
          </a:p>
        </p:txBody>
      </p:sp>
    </p:spTree>
  </p:cSld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52" name="" descr="&lt;Slide notes={`先看空间本身。这一章用的是 32 乘 24 格的学习中心。&#10;&#10;上方一排是三个房间，依次是阅读室、手作室和交流室；下方是公共大厅。三个房间通过门洞连接大厅。&#10;&#10;图片负责的是看起来像什么。真正决定语义的是 World、Sector、Arena 和 Game Object 这几个概念；碰撞和寻路定义的是实际能走的范围。&#10;&#10;这两件事必须分开看。一个地方画得像门，如果碰撞没有开口，它就不能当通路。一张公告图颜色变了，如果没有对应的世界提交，也不能说对象状态已经更新了。画面对不上世界，只能说明画面好看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3.1.3　从地图图片到空间语义&lt;/Text&gt;&#10;            &lt;Text style={{ fontSize: 34, fontWeight: 'bold', color: '#20344B' }}&gt;从地图图片到空间语义&lt;/Text&gt;&#10;        &lt;/Box&gt;&#10;    &lt;/Box&gt;&#10;&#10;    &lt;Box style={{ height: 540, flexDirection: 'column', justifyContent: 'center', gap: 16 }}&gt;&#10;&#10;        &lt;Box style={{ flexDirection: 'row', gap: 32 }}&gt;&#10;&#10;            &lt;Box style={{ width: 620, background: '#F4F7FA', borderRadius: 10, padding: 16, flexDirection: 'column', gap: 10 }}&gt;&#10;                &lt;Box style={{ flexDirection: 'row', alignItems: 'center', gap: 12 }}&gt;&#10;                    &lt;Text style={{ fontSize: 15, fontWeight: 'bold', color: '#546779' }}&gt;32 × 24 格学习中心&lt;/Text&gt;&#10;                    &lt;Box style={{ width: 56, height: 24, background: '#FFF4E6', borderRadius: 6, justifyContent: 'center', alignItems: 'center' }}&gt;&#10;                        &lt;Text style={{ fontSize: 13, color: '#CB6B28' }}&gt;示意&lt;/Text&gt;&#10;                    &lt;/Box&gt;&#10;                &lt;/Box&gt;&#10;                &lt;Box style={{ flexDirection: 'row', gap: 12 }}&gt;&#10;                    &lt;Box style={{ width: 188, height: 92, background: '#EDF4FC', borderRadius: 8, justifyContent: 'center', alignItems: 'center' }}&gt;&#10;                        &lt;Text style={{ fontSize: 17, fontWeight: 'bold', color: '#276FBF' }}&gt;阅读室&lt;/Text&gt;&#10;                    &lt;/Box&gt;&#10;                    &lt;Box style={{ width: 188, height: 92, background: '#EDF4FC', borderRadius: 8, justifyContent: 'center', alignItems: 'center' }}&gt;&#10;                        &lt;Text style={{ fontSize: 17, fontWeight: 'bold', color: '#276FBF' }}&gt;手作室&lt;/Text&gt;&#10;                    &lt;/Box&gt;&#10;                    &lt;Box style={{ width: 188, height: 92, background: '#EDF4FC', borderRadius: 8, justifyContent: 'center', alignItems: 'center' }}&gt;&#10;                        &lt;Text style={{ fontSize: 17, fontWeight: 'bold', color: '#276FBF' }}&gt;交流室&lt;/Text&gt;&#10;                    &lt;/Box&gt;&#10;                &lt;/Box&gt;&#10;                &lt;Box style={{ flexDirection: 'row', gap: 12 }}&gt;&#10;                    &lt;Box style={{ width: 188, height: 34, justifyContent: 'center', alignItems: 'center' }}&gt;&#10;                        &lt;Box style={{ width: 88, height: 34, background: '#ECF7F2', borderRadius: 6, justifyContent: 'center', alignItems: 'center' }}&gt;&#10;                            &lt;Text style={{ fontSize: 13, color: '#26816B' }}&gt;门洞&lt;/Text&gt;&#10;                        &lt;/Box&gt;&#10;                    &lt;/Box&gt;&#10;                    &lt;Box style={{ width: 188, height: 34, justifyContent: 'center', alignItems: 'center' }}&gt;&#10;                        &lt;Box style={{ width: 88, height: 34, background: '#ECF7F2', borderRadius: 6, justifyContent: 'center', alignItems: 'center' }}&gt;&#10;                            &lt;Text style={{ fontSize: 13, color: '#26816B' }}&gt;门洞&lt;/Text&gt;&#10;                        &lt;/Box&gt;&#10;                    &lt;/Box&gt;&#10;                    &lt;Box style={{ width: 188, height: 34, justifyContent: 'center', alignItems: 'center' }}&gt;&#10;                        &lt;Box style={{ width: 88, height: 34, background: '#ECF7F2', borderRadius: 6, justifyContent: 'center', alignItems: 'center' }}&gt;&#10;                            &lt;Text style={{ fontSize: 13, color: '#26816B' }}&gt;门洞&lt;/Text&gt;&#10;                        &lt;/Box&gt;&#10;                    &lt;/Box&gt;&#10;                &lt;/Box&gt;&#10;                &lt;Box style={{ width: 588, height: 132, background: '#F7F3E8', borderRadius: 8, flexDirection: 'column', gap: 4, justifyContent: 'center', alignItems: 'center' }}&gt;&#10;                    &lt;Text style={{ fontSize: 18, fontWeight: 'bold', color: '#20344B' }}&gt;公共大厅&lt;/Text&gt;&#10;                    &lt;Text style={{ fontSize: 13, color: '#546779' }}&gt;服务台与公告栏都固定在大厅里&lt;/Text&gt;&#10;                &lt;/Box&gt;&#10;            &lt;/Box&gt;&#10;&#10;            &lt;Box style={{ width: 500, flexDirection: 'column', gap: 10 }}&gt;&#10;                &lt;Text style={{ fontSize: 15, fontWeight: 'bold', color: '#546779' }}&gt;四件事，各管一段&lt;/Text&gt;&#10;                &lt;Box style={{ height: 74, background: '#EDF4FC', borderRadius: 8, padding: '0 16px', flexDirection: 'column', gap: 2, justifyContent: 'center' }}&gt;&#10;                    &lt;Text style={{ fontSize: 15, fontWeight: 'bold', color: '#276FBF' }}&gt;可见外观 · 图片&lt;/Text&gt;&#10;                    &lt;Text style={{ fontSize: 13, color: '#546779' }}&gt;决定看起来像什么&lt;/Text&gt;&#10;                &lt;/Box&gt;&#10;                &lt;Box style={{ height: 74, background: '#EDF4FC', borderRadius: 8, padding: '0 16px', flexDirection: 'column', gap: 2, justifyContent: 'center' }}&gt;&#10;                    &lt;Text style={{ fontSize: 15, fontWeight: 'bold', color: '#276FBF' }}&gt;语义 · World / Sector / Arena&lt;/Text&gt;&#10;                    &lt;Text style={{ fontSize: 13, color: '#546779' }}&gt;决定世界怎么分区、怎么命名&lt;/Text&gt;&#10;                &lt;/Box&gt;&#10;                &lt;Box style={{ height: 74, background: '#EDF4FC', borderRadius: 8, padding: '0 16px', flexDirection: 'column', gap: 2, justifyContent: 'center' }}&gt;&#10;                    &lt;Text style={{ fontSize: 15, fontWeight: 'bold', color: '#276FBF' }}&gt;对象 · Game Object&lt;/Text&gt;&#10;                    &lt;Text style={{ fontSize: 13, color: '#546779' }}&gt;绑定根 Skill，可感知、可回应&lt;/Text&gt;&#10;                &lt;/Box&gt;&#10;                &lt;Box style={{ height: 74, background: '#ECF7F2', borderRadius: 8, padding: '0 16px', flexDirection: 'column', gap: 2, justifyContent: 'center' }}&gt;&#10;                    &lt;Text style={{ fontSize: 15, fontWeight: 'bold', color: '#26816B' }}&gt;碰撞与寻路&lt;/Text&gt;&#10;                    &lt;Text style={{ fontSize: 13, color: '#546779' }}&gt;决定实际可走的范围&lt;/Text&gt;&#10;                &lt;/Box&gt;&#10;            &lt;/Box&gt;&#10;&#10;        &lt;/Box&gt;&#10;&#10;        &lt;Box style={{ flexDirection: 'row', alignItems: 'center', gap: 14, background: '#FFF4E6', borderRadius: 10, padding: '12px 20px' }}&gt;&#10;            &lt;Box style={{ width: 4, height: 44, background: '#CB6B28' }} /&gt;&#10;            &lt;Text style={{ fontSize: 14, color: '#546779', flex: 1, lineHeight: 1.5 }}&gt;画得像门，碰撞没有开口就不能当通路；公告图改变了颜色，没有相应世界提交也不能称为对象状态已更新。&lt;/Text&gt;&#10;        &lt;/Box&gt;&#10;&#10;    &lt;/Box&gt;&#10;&#10;    &lt;Box style={{ height: 40, flexDirection: 'row', justifyContent: 'space-between', alignItems: 'center' }}&gt;&#10;        &lt;Text style={{ fontSize: 14, color: '#546779' }}&gt;3.1 把筹备方案放进一个会发生变化的世界&lt;/Text&gt;&#10;        &lt;Text style={{ fontSize: 14, color: '#546779' }}&gt;11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4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5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238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3.1.3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从地图图片到空间语义</a:t>
            </a:r>
            <a:endParaRPr/>
          </a:p>
        </p:txBody>
      </p:sp>
      <p:sp>
        <p:nvSpPr>
          <p:cNvPr id="56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2385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从地图图片到空间语义</a:t>
            </a:r>
            <a:endParaRPr/>
          </a:p>
        </p:txBody>
      </p:sp>
      <p:sp>
        <p:nvSpPr>
          <p:cNvPr id="57" name=""/>
          <p:cNvSpPr/>
          <p:nvPr/>
        </p:nvSpPr>
        <p:spPr>
          <a:xfrm rot="0" flipH="0" flipV="0">
            <a:off x="609600" y="1628775"/>
            <a:ext cx="5905500" cy="3371850"/>
          </a:xfrm>
          <a:prstGeom prst="roundRect">
            <a:avLst>
              <a:gd name="adj" fmla="val 2825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58" name="" descr="{&quot;isTemplate&quot;:true,&quot;type&quot;:&quot;text&quot;}"/>
          <p:cNvSpPr txBox="1"/>
          <p:nvPr/>
        </p:nvSpPr>
        <p:spPr>
          <a:xfrm rot="0" flipH="0" flipV="0">
            <a:off x="762000" y="1809750"/>
            <a:ext cx="13049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546779"/>
                </a:solidFill>
                <a:latin typeface="Microsoft YaHei"/>
                <a:ea typeface="Microsoft YaHei"/>
              </a:rPr>
              <a:t xml:space="preserve">32 × 24 </a:t>
            </a:r>
            <a:r>
              <a:rPr lang="zh-CN" sz="1125" b="1">
                <a:solidFill>
                  <a:srgbClr val="546779"/>
                </a:solidFill>
                <a:latin typeface="Microsoft YaHei"/>
                <a:ea typeface="Microsoft YaHei"/>
              </a:rPr>
              <a:t>格学习中心</a:t>
            </a:r>
            <a:endParaRPr/>
          </a:p>
        </p:txBody>
      </p:sp>
      <p:sp>
        <p:nvSpPr>
          <p:cNvPr id="59" name=""/>
          <p:cNvSpPr/>
          <p:nvPr/>
        </p:nvSpPr>
        <p:spPr>
          <a:xfrm rot="0" flipH="0" flipV="0">
            <a:off x="2181225" y="1781175"/>
            <a:ext cx="533400" cy="228600"/>
          </a:xfrm>
          <a:prstGeom prst="roundRect">
            <a:avLst>
              <a:gd name="adj" fmla="val 25000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60" name="" descr="{&quot;isTemplate&quot;:true,&quot;type&quot;:&quot;text&quot;}"/>
          <p:cNvSpPr txBox="1"/>
          <p:nvPr/>
        </p:nvSpPr>
        <p:spPr>
          <a:xfrm rot="0" flipH="0" flipV="0">
            <a:off x="2324100" y="1819275"/>
            <a:ext cx="2476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CB6B28"/>
                </a:solidFill>
                <a:latin typeface="Microsoft YaHei"/>
                <a:ea typeface="Microsoft YaHei"/>
              </a:rPr>
              <a:t>示意</a:t>
            </a:r>
            <a:endParaRPr/>
          </a:p>
        </p:txBody>
      </p:sp>
      <p:sp>
        <p:nvSpPr>
          <p:cNvPr id="61" name=""/>
          <p:cNvSpPr/>
          <p:nvPr/>
        </p:nvSpPr>
        <p:spPr>
          <a:xfrm rot="0" flipH="0" flipV="0">
            <a:off x="762000" y="2105025"/>
            <a:ext cx="1790700" cy="876300"/>
          </a:xfrm>
          <a:prstGeom prst="roundRect">
            <a:avLst>
              <a:gd name="adj" fmla="val 8696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62" name="" descr="{&quot;isTemplate&quot;:true,&quot;type&quot;:&quot;text&quot;}"/>
          <p:cNvSpPr txBox="1"/>
          <p:nvPr/>
        </p:nvSpPr>
        <p:spPr>
          <a:xfrm rot="0" flipH="0" flipV="0">
            <a:off x="1419225" y="2447925"/>
            <a:ext cx="4857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76FBF"/>
                </a:solidFill>
                <a:latin typeface="Microsoft YaHei"/>
                <a:ea typeface="Microsoft YaHei"/>
              </a:rPr>
              <a:t>阅读室</a:t>
            </a:r>
            <a:endParaRPr/>
          </a:p>
        </p:txBody>
      </p:sp>
      <p:sp>
        <p:nvSpPr>
          <p:cNvPr id="63" name=""/>
          <p:cNvSpPr/>
          <p:nvPr/>
        </p:nvSpPr>
        <p:spPr>
          <a:xfrm rot="0" flipH="0" flipV="0">
            <a:off x="2667000" y="2105025"/>
            <a:ext cx="1790700" cy="876300"/>
          </a:xfrm>
          <a:prstGeom prst="roundRect">
            <a:avLst>
              <a:gd name="adj" fmla="val 8696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64" name="" descr="{&quot;isTemplate&quot;:true,&quot;type&quot;:&quot;text&quot;}"/>
          <p:cNvSpPr txBox="1"/>
          <p:nvPr/>
        </p:nvSpPr>
        <p:spPr>
          <a:xfrm rot="0" flipH="0" flipV="0">
            <a:off x="3324225" y="2447925"/>
            <a:ext cx="4857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76FBF"/>
                </a:solidFill>
                <a:latin typeface="Microsoft YaHei"/>
                <a:ea typeface="Microsoft YaHei"/>
              </a:rPr>
              <a:t>手作室</a:t>
            </a:r>
            <a:endParaRPr/>
          </a:p>
        </p:txBody>
      </p:sp>
      <p:sp>
        <p:nvSpPr>
          <p:cNvPr id="65" name=""/>
          <p:cNvSpPr/>
          <p:nvPr/>
        </p:nvSpPr>
        <p:spPr>
          <a:xfrm rot="0" flipH="0" flipV="0">
            <a:off x="4572000" y="2105025"/>
            <a:ext cx="1790700" cy="876300"/>
          </a:xfrm>
          <a:prstGeom prst="roundRect">
            <a:avLst>
              <a:gd name="adj" fmla="val 8696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66" name="" descr="{&quot;isTemplate&quot;:true,&quot;type&quot;:&quot;text&quot;}"/>
          <p:cNvSpPr txBox="1"/>
          <p:nvPr/>
        </p:nvSpPr>
        <p:spPr>
          <a:xfrm rot="0" flipH="0" flipV="0">
            <a:off x="5229225" y="2447925"/>
            <a:ext cx="4857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76FBF"/>
                </a:solidFill>
                <a:latin typeface="Microsoft YaHei"/>
                <a:ea typeface="Microsoft YaHei"/>
              </a:rPr>
              <a:t>交流室</a:t>
            </a:r>
            <a:endParaRPr/>
          </a:p>
        </p:txBody>
      </p:sp>
      <p:sp>
        <p:nvSpPr>
          <p:cNvPr id="67" name=""/>
          <p:cNvSpPr/>
          <p:nvPr/>
        </p:nvSpPr>
        <p:spPr>
          <a:xfrm rot="0" flipH="0" flipV="0">
            <a:off x="1238250" y="3076575"/>
            <a:ext cx="838200" cy="323850"/>
          </a:xfrm>
          <a:prstGeom prst="roundRect">
            <a:avLst>
              <a:gd name="adj" fmla="val 17647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68" name="" descr="{&quot;isTemplate&quot;:true,&quot;type&quot;:&quot;text&quot;}"/>
          <p:cNvSpPr txBox="1"/>
          <p:nvPr/>
        </p:nvSpPr>
        <p:spPr>
          <a:xfrm rot="0" flipH="0" flipV="0">
            <a:off x="1533525" y="3162300"/>
            <a:ext cx="2476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26816B"/>
                </a:solidFill>
                <a:latin typeface="Microsoft YaHei"/>
                <a:ea typeface="Microsoft YaHei"/>
              </a:rPr>
              <a:t>门洞</a:t>
            </a:r>
            <a:endParaRPr/>
          </a:p>
        </p:txBody>
      </p:sp>
      <p:sp>
        <p:nvSpPr>
          <p:cNvPr id="69" name=""/>
          <p:cNvSpPr/>
          <p:nvPr/>
        </p:nvSpPr>
        <p:spPr>
          <a:xfrm rot="0" flipH="0" flipV="0">
            <a:off x="3143250" y="3076575"/>
            <a:ext cx="838200" cy="323850"/>
          </a:xfrm>
          <a:prstGeom prst="roundRect">
            <a:avLst>
              <a:gd name="adj" fmla="val 17647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70" name="" descr="{&quot;isTemplate&quot;:true,&quot;type&quot;:&quot;text&quot;}"/>
          <p:cNvSpPr txBox="1"/>
          <p:nvPr/>
        </p:nvSpPr>
        <p:spPr>
          <a:xfrm rot="0" flipH="0" flipV="0">
            <a:off x="3438525" y="3162300"/>
            <a:ext cx="2476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26816B"/>
                </a:solidFill>
                <a:latin typeface="Microsoft YaHei"/>
                <a:ea typeface="Microsoft YaHei"/>
              </a:rPr>
              <a:t>门洞</a:t>
            </a:r>
            <a:endParaRPr/>
          </a:p>
        </p:txBody>
      </p:sp>
      <p:sp>
        <p:nvSpPr>
          <p:cNvPr id="71" name=""/>
          <p:cNvSpPr/>
          <p:nvPr/>
        </p:nvSpPr>
        <p:spPr>
          <a:xfrm rot="0" flipH="0" flipV="0">
            <a:off x="5048250" y="3076575"/>
            <a:ext cx="838200" cy="323850"/>
          </a:xfrm>
          <a:prstGeom prst="roundRect">
            <a:avLst>
              <a:gd name="adj" fmla="val 17647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72" name="" descr="{&quot;isTemplate&quot;:true,&quot;type&quot;:&quot;text&quot;}"/>
          <p:cNvSpPr txBox="1"/>
          <p:nvPr/>
        </p:nvSpPr>
        <p:spPr>
          <a:xfrm rot="0" flipH="0" flipV="0">
            <a:off x="5343525" y="3162300"/>
            <a:ext cx="2476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26816B"/>
                </a:solidFill>
                <a:latin typeface="Microsoft YaHei"/>
                <a:ea typeface="Microsoft YaHei"/>
              </a:rPr>
              <a:t>门洞</a:t>
            </a:r>
            <a:endParaRPr/>
          </a:p>
        </p:txBody>
      </p:sp>
      <p:sp>
        <p:nvSpPr>
          <p:cNvPr id="73" name=""/>
          <p:cNvSpPr/>
          <p:nvPr/>
        </p:nvSpPr>
        <p:spPr>
          <a:xfrm rot="0" flipH="0" flipV="0">
            <a:off x="762000" y="3495675"/>
            <a:ext cx="5600700" cy="1257300"/>
          </a:xfrm>
          <a:prstGeom prst="roundRect">
            <a:avLst>
              <a:gd name="adj" fmla="val 6061"/>
            </a:avLst>
          </a:prstGeom>
          <a:solidFill>
            <a:srgbClr val="F7F3E8"/>
          </a:solidFill>
          <a:ln/>
        </p:spPr>
        <p:txBody>
          <a:bodyPr/>
          <a:p/>
        </p:txBody>
      </p:sp>
      <p:sp>
        <p:nvSpPr>
          <p:cNvPr id="74" name="" descr="{&quot;isTemplate&quot;:true,&quot;type&quot;:&quot;text&quot;}"/>
          <p:cNvSpPr txBox="1"/>
          <p:nvPr/>
        </p:nvSpPr>
        <p:spPr>
          <a:xfrm rot="0" flipH="0" flipV="0">
            <a:off x="3219450" y="3924300"/>
            <a:ext cx="685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公共大厅</a:t>
            </a:r>
            <a:endParaRPr/>
          </a:p>
        </p:txBody>
      </p:sp>
      <p:sp>
        <p:nvSpPr>
          <p:cNvPr id="75" name="" descr="{&quot;isTemplate&quot;:true,&quot;type&quot;:&quot;text&quot;}"/>
          <p:cNvSpPr txBox="1"/>
          <p:nvPr/>
        </p:nvSpPr>
        <p:spPr>
          <a:xfrm rot="0" flipH="0" flipV="0">
            <a:off x="2695575" y="4171950"/>
            <a:ext cx="17335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服务台与公告栏都固定在大厅里</a:t>
            </a:r>
            <a:endParaRPr/>
          </a:p>
        </p:txBody>
      </p:sp>
      <p:sp>
        <p:nvSpPr>
          <p:cNvPr id="76" name="" descr="{&quot;isTemplate&quot;:true,&quot;type&quot;:&quot;text&quot;}"/>
          <p:cNvSpPr txBox="1"/>
          <p:nvPr/>
        </p:nvSpPr>
        <p:spPr>
          <a:xfrm rot="0" flipH="0" flipV="0">
            <a:off x="6819900" y="1628775"/>
            <a:ext cx="4762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546779"/>
                </a:solidFill>
                <a:latin typeface="Microsoft YaHei"/>
                <a:ea typeface="Microsoft YaHei"/>
              </a:rPr>
              <a:t>四件事，各管一段</a:t>
            </a:r>
            <a:endParaRPr/>
          </a:p>
        </p:txBody>
      </p:sp>
      <p:sp>
        <p:nvSpPr>
          <p:cNvPr id="77" name=""/>
          <p:cNvSpPr/>
          <p:nvPr/>
        </p:nvSpPr>
        <p:spPr>
          <a:xfrm rot="0" flipH="0" flipV="0">
            <a:off x="6819900" y="1895475"/>
            <a:ext cx="4762500" cy="704850"/>
          </a:xfrm>
          <a:prstGeom prst="roundRect">
            <a:avLst>
              <a:gd name="adj" fmla="val 10811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78" name="" descr="{&quot;isTemplate&quot;:true,&quot;type&quot;:&quot;text&quot;}"/>
          <p:cNvSpPr txBox="1"/>
          <p:nvPr/>
        </p:nvSpPr>
        <p:spPr>
          <a:xfrm rot="0" flipH="0" flipV="0">
            <a:off x="6972300" y="2076450"/>
            <a:ext cx="44577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76FBF"/>
                </a:solidFill>
                <a:latin typeface="Microsoft YaHei"/>
                <a:ea typeface="Microsoft YaHei"/>
              </a:rPr>
              <a:t>可见外观</a:t>
            </a:r>
            <a:r>
              <a:rPr lang="en-US" sz="1125" b="1">
                <a:solidFill>
                  <a:srgbClr val="276FBF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125" b="1">
                <a:solidFill>
                  <a:srgbClr val="276FBF"/>
                </a:solidFill>
                <a:latin typeface="Microsoft YaHei"/>
                <a:ea typeface="Microsoft YaHei"/>
              </a:rPr>
              <a:t>图片</a:t>
            </a:r>
            <a:endParaRPr/>
          </a:p>
        </p:txBody>
      </p:sp>
      <p:sp>
        <p:nvSpPr>
          <p:cNvPr id="79" name="" descr="{&quot;isTemplate&quot;:true,&quot;type&quot;:&quot;text&quot;}"/>
          <p:cNvSpPr txBox="1"/>
          <p:nvPr/>
        </p:nvSpPr>
        <p:spPr>
          <a:xfrm rot="0" flipH="0" flipV="0">
            <a:off x="6972300" y="2266950"/>
            <a:ext cx="44577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决定看起来像什么</a:t>
            </a:r>
            <a:endParaRPr/>
          </a:p>
        </p:txBody>
      </p:sp>
      <p:sp>
        <p:nvSpPr>
          <p:cNvPr id="80" name=""/>
          <p:cNvSpPr/>
          <p:nvPr/>
        </p:nvSpPr>
        <p:spPr>
          <a:xfrm rot="0" flipH="0" flipV="0">
            <a:off x="6819900" y="2695575"/>
            <a:ext cx="4762500" cy="704850"/>
          </a:xfrm>
          <a:prstGeom prst="roundRect">
            <a:avLst>
              <a:gd name="adj" fmla="val 10811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81" name="" descr="{&quot;isTemplate&quot;:true,&quot;type&quot;:&quot;text&quot;}"/>
          <p:cNvSpPr txBox="1"/>
          <p:nvPr/>
        </p:nvSpPr>
        <p:spPr>
          <a:xfrm rot="0" flipH="0" flipV="0">
            <a:off x="6972300" y="2876550"/>
            <a:ext cx="44577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76FBF"/>
                </a:solidFill>
                <a:latin typeface="Microsoft YaHei"/>
                <a:ea typeface="Microsoft YaHei"/>
              </a:rPr>
              <a:t>语义</a:t>
            </a:r>
            <a:r>
              <a:rPr lang="en-US" sz="1125" b="1">
                <a:solidFill>
                  <a:srgbClr val="276FBF"/>
                </a:solidFill>
                <a:latin typeface="Microsoft YaHei"/>
                <a:ea typeface="Microsoft YaHei"/>
              </a:rPr>
              <a:t xml:space="preserve"> · World / Sector / Arena</a:t>
            </a:r>
            <a:endParaRPr/>
          </a:p>
        </p:txBody>
      </p:sp>
      <p:sp>
        <p:nvSpPr>
          <p:cNvPr id="82" name="" descr="{&quot;isTemplate&quot;:true,&quot;type&quot;:&quot;text&quot;}"/>
          <p:cNvSpPr txBox="1"/>
          <p:nvPr/>
        </p:nvSpPr>
        <p:spPr>
          <a:xfrm rot="0" flipH="0" flipV="0">
            <a:off x="6972300" y="3067050"/>
            <a:ext cx="44577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决定世界怎么分区、怎么命名</a:t>
            </a:r>
            <a:endParaRPr/>
          </a:p>
        </p:txBody>
      </p:sp>
      <p:sp>
        <p:nvSpPr>
          <p:cNvPr id="83" name=""/>
          <p:cNvSpPr/>
          <p:nvPr/>
        </p:nvSpPr>
        <p:spPr>
          <a:xfrm rot="0" flipH="0" flipV="0">
            <a:off x="6819900" y="3495675"/>
            <a:ext cx="4762500" cy="704850"/>
          </a:xfrm>
          <a:prstGeom prst="roundRect">
            <a:avLst>
              <a:gd name="adj" fmla="val 10811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84" name="" descr="{&quot;isTemplate&quot;:true,&quot;type&quot;:&quot;text&quot;}"/>
          <p:cNvSpPr txBox="1"/>
          <p:nvPr/>
        </p:nvSpPr>
        <p:spPr>
          <a:xfrm rot="0" flipH="0" flipV="0">
            <a:off x="6972300" y="3676650"/>
            <a:ext cx="44577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76FBF"/>
                </a:solidFill>
                <a:latin typeface="Microsoft YaHei"/>
                <a:ea typeface="Microsoft YaHei"/>
              </a:rPr>
              <a:t>对象</a:t>
            </a:r>
            <a:r>
              <a:rPr lang="en-US" sz="1125" b="1">
                <a:solidFill>
                  <a:srgbClr val="276FBF"/>
                </a:solidFill>
                <a:latin typeface="Microsoft YaHei"/>
                <a:ea typeface="Microsoft YaHei"/>
              </a:rPr>
              <a:t xml:space="preserve"> · Game Object</a:t>
            </a:r>
            <a:endParaRPr/>
          </a:p>
        </p:txBody>
      </p:sp>
      <p:sp>
        <p:nvSpPr>
          <p:cNvPr id="85" name="" descr="{&quot;isTemplate&quot;:true,&quot;type&quot;:&quot;text&quot;}"/>
          <p:cNvSpPr txBox="1"/>
          <p:nvPr/>
        </p:nvSpPr>
        <p:spPr>
          <a:xfrm rot="0" flipH="0" flipV="0">
            <a:off x="6972300" y="3867150"/>
            <a:ext cx="44577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绑定根</a:t>
            </a: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 xml:space="preserve"> Skill</a:t>
            </a: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，可感知、可回应</a:t>
            </a:r>
            <a:endParaRPr/>
          </a:p>
        </p:txBody>
      </p:sp>
      <p:sp>
        <p:nvSpPr>
          <p:cNvPr id="86" name=""/>
          <p:cNvSpPr/>
          <p:nvPr/>
        </p:nvSpPr>
        <p:spPr>
          <a:xfrm rot="0" flipH="0" flipV="0">
            <a:off x="6819900" y="4295775"/>
            <a:ext cx="4762500" cy="704850"/>
          </a:xfrm>
          <a:prstGeom prst="roundRect">
            <a:avLst>
              <a:gd name="adj" fmla="val 10811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87" name="" descr="{&quot;isTemplate&quot;:true,&quot;type&quot;:&quot;text&quot;}"/>
          <p:cNvSpPr txBox="1"/>
          <p:nvPr/>
        </p:nvSpPr>
        <p:spPr>
          <a:xfrm rot="0" flipH="0" flipV="0">
            <a:off x="6972300" y="4476750"/>
            <a:ext cx="44577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6816B"/>
                </a:solidFill>
                <a:latin typeface="Microsoft YaHei"/>
                <a:ea typeface="Microsoft YaHei"/>
              </a:rPr>
              <a:t>碰撞与寻路</a:t>
            </a:r>
            <a:endParaRPr/>
          </a:p>
        </p:txBody>
      </p:sp>
      <p:sp>
        <p:nvSpPr>
          <p:cNvPr id="88" name="" descr="{&quot;isTemplate&quot;:true,&quot;type&quot;:&quot;text&quot;}"/>
          <p:cNvSpPr txBox="1"/>
          <p:nvPr/>
        </p:nvSpPr>
        <p:spPr>
          <a:xfrm rot="0" flipH="0" flipV="0">
            <a:off x="6972300" y="4667250"/>
            <a:ext cx="44577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决定实际可走的范围</a:t>
            </a:r>
            <a:endParaRPr/>
          </a:p>
        </p:txBody>
      </p:sp>
      <p:sp>
        <p:nvSpPr>
          <p:cNvPr id="89" name=""/>
          <p:cNvSpPr/>
          <p:nvPr/>
        </p:nvSpPr>
        <p:spPr>
          <a:xfrm rot="0" flipH="0" flipV="0">
            <a:off x="609600" y="5153025"/>
            <a:ext cx="10972800" cy="647700"/>
          </a:xfrm>
          <a:prstGeom prst="roundRect">
            <a:avLst>
              <a:gd name="adj" fmla="val 14706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90" name=""/>
          <p:cNvSpPr/>
          <p:nvPr/>
        </p:nvSpPr>
        <p:spPr>
          <a:xfrm rot="0" flipH="0" flipV="0">
            <a:off x="800100" y="5267325"/>
            <a:ext cx="38100" cy="4191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91" name="" descr="{&quot;isTemplate&quot;:true,&quot;type&quot;:&quot;text&quot;}"/>
          <p:cNvSpPr txBox="1"/>
          <p:nvPr/>
        </p:nvSpPr>
        <p:spPr>
          <a:xfrm rot="0" flipH="0" flipV="0">
            <a:off x="971550" y="5353050"/>
            <a:ext cx="1042035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画得像门，碰撞没有开口就不能当通路；公告图改变了颜色，没有相应世界提交也不能称为对象状态已更新。</a:t>
            </a:r>
            <a:endParaRPr/>
          </a:p>
        </p:txBody>
      </p:sp>
      <p:sp>
        <p:nvSpPr>
          <p:cNvPr id="92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4955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3.1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把筹备方案放进一个会发生变化的世界</a:t>
            </a:r>
            <a:endParaRPr/>
          </a:p>
        </p:txBody>
      </p:sp>
      <p:sp>
        <p:nvSpPr>
          <p:cNvPr id="93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11 / 24</a:t>
            </a:r>
            <a:endParaRPr/>
          </a:p>
        </p:txBody>
      </p:sp>
    </p:spTree>
  </p:cSld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94" name="" descr="&lt;Slide notes={`空间还能按层级来读。&#10;&#10;四层地址就是这种层级关系：青禾社区下面有学习中心，学习中心下面有公共大厅，公共大厅里有公告栏。这样命名，角色和其他程序才能准确指向同一个位置。&#10;&#10;还有一点容易误会：公共 Agent 本身不带某张地图的固定出生坐标。坐标和初始已知的空间，属于实验装配，是这一轮实验配上去的，不是人物自带的。&#10;&#10;本章特意给四个人选了四个不同的初始 Arena，这样空间选择器能产生可区分的位置，方便观察跨房间的行动。&#10;&#10;最后，故事从人物已经进入学习中心开始。地图外面怎么进场的，这部分没有模拟，我不会把它补写成事实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3.1.3　从地图图片到空间语义&lt;/Text&gt;&#10;            &lt;Text style={{ fontSize: 34, fontWeight: 'bold', color: '#20344B' }}&gt;四层地址与实验装配&lt;/Text&gt;&#10;        &lt;/Box&gt;&#10;    &lt;/Box&gt;&#10;&#10;    &lt;Box style={{ height: 540, flexDirection: 'column', justifyContent: 'center', gap: 14 }}&gt;&#10;&#10;        &lt;Text style={{ fontSize: 15, color: '#546779' }}&gt;从最外层到具体对象，一层一层收窄：&lt;/Text&gt;&#10;&#10;        &lt;Box style={{ width: 1152, height: 46, background: '#EDF4FC', borderRadius: 8, padding: '0 20px', flexDirection: 'row', alignItems: 'center' }}&gt;&#10;            &lt;Text style={{ fontSize: 17, fontWeight: 'bold', color: '#276FBF' }}&gt;青禾社区&lt;/Text&gt;&#10;        &lt;/Box&gt;&#10;        &lt;Box style={{ width: 900, height: 46, background: '#EDF4FC', borderRadius: 8, padding: '0 20px', flexDirection: 'row', alignItems: 'center' }}&gt;&#10;            &lt;Text style={{ fontSize: 17, fontWeight: 'bold', color: '#276FBF' }}&gt;学习中心&lt;/Text&gt;&#10;        &lt;/Box&gt;&#10;        &lt;Box style={{ width: 660, height: 46, background: '#ECF7F2', borderRadius: 8, padding: '0 20px', flexDirection: 'row', alignItems: 'center' }}&gt;&#10;            &lt;Text style={{ fontSize: 17, fontWeight: 'bold', color: '#26816B' }}&gt;公共大厅&lt;/Text&gt;&#10;        &lt;/Box&gt;&#10;        &lt;Box style={{ width: 420, height: 46, background: '#ECF7F2', borderRadius: 8, padding: '0 20px', flexDirection: 'row', alignItems: 'center' }}&gt;&#10;            &lt;Text style={{ fontSize: 17, fontWeight: 'bold', color: '#26816B' }}&gt;公告栏&lt;/Text&gt;&#10;        &lt;/Box&gt;&#10;&#10;        &lt;Box style={{ flexDirection: 'column', gap: 10, marginTop: 6 }}&gt;&#10;            &lt;Box style={{ flexDirection: 'row', alignItems: 'center', gap: 14, background: '#FFF4E6', borderRadius: 8, padding: '0 20px', height: 62 }}&gt;&#10;                &lt;Box style={{ width: 4, height: 40, background: '#CB6B28' }} /&gt;&#10;                &lt;Text style={{ fontSize: 15, color: '#CB6B28', width: 300 }}&gt;出生坐标属于实验装配&lt;/Text&gt;&#10;                &lt;Text style={{ fontSize: 14, color: '#546779', flex: 1 }}&gt;公共 Agent 本身不携带某张地图的固定坐标，坐标与初始已知空间是配上去的。&lt;/Text&gt;&#10;            &lt;/Box&gt;&#10;            &lt;Box style={{ flexDirection: 'row', alignItems: 'center', gap: 14, background: '#F4F7FA', borderRadius: 8, padding: '0 20px', height: 62 }}&gt;&#10;                &lt;Box style={{ width: 4, height: 40, background: '#276FBF' }} /&gt;&#10;                &lt;Text style={{ fontSize: 15, fontWeight: 'bold', color: '#20344B', width: 300 }}&gt;四个不同的初始 Arena&lt;/Text&gt;&#10;                &lt;Text style={{ fontSize: 14, color: '#546779', flex: 1 }}&gt;让空间选择器产生可区分的位置，便于观察跨房间行动。&lt;/Text&gt;&#10;            &lt;/Box&gt;&#10;            &lt;Box style={{ flexDirection: 'row', alignItems: 'center', gap: 14, background: '#F4F7FA', borderRadius: 8, padding: '0 20px', height: 62 }}&gt;&#10;                &lt;Box style={{ width: 4, height: 40, background: '#276FBF' }} /&gt;&#10;                &lt;Text style={{ fontSize: 15, fontWeight: 'bold', color: '#20344B', width: 300 }}&gt;故事从已进入学习中心开始&lt;/Text&gt;&#10;                &lt;Text style={{ fontSize: 14, color: '#546779', flex: 1 }}&gt;地图外的进场过程没有模拟，不补写成事实。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3.1 把筹备方案放进一个会发生变化的世界&lt;/Text&gt;&#10;        &lt;Text style={{ fontSize: 14, color: '#546779' }}&gt;12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6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97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2914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3.1.3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从地图图片到空间语义</a:t>
            </a:r>
            <a:endParaRPr/>
          </a:p>
        </p:txBody>
      </p:sp>
      <p:sp>
        <p:nvSpPr>
          <p:cNvPr id="98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29146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四层地址与实验装配</a:t>
            </a:r>
            <a:endParaRPr/>
          </a:p>
        </p:txBody>
      </p:sp>
      <p:sp>
        <p:nvSpPr>
          <p:cNvPr id="99" name="" descr="{&quot;isTemplate&quot;:true,&quot;type&quot;:&quot;text&quot;}"/>
          <p:cNvSpPr txBox="1"/>
          <p:nvPr/>
        </p:nvSpPr>
        <p:spPr>
          <a:xfrm rot="0" flipH="0" flipV="0">
            <a:off x="609600" y="1409700"/>
            <a:ext cx="10972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从最外层到具体对象，一层一层收窄：</a:t>
            </a:r>
            <a:endParaRPr/>
          </a:p>
        </p:txBody>
      </p:sp>
      <p:sp>
        <p:nvSpPr>
          <p:cNvPr id="100" name=""/>
          <p:cNvSpPr/>
          <p:nvPr/>
        </p:nvSpPr>
        <p:spPr>
          <a:xfrm rot="0" flipH="0" flipV="0">
            <a:off x="609600" y="1714500"/>
            <a:ext cx="10972800" cy="438150"/>
          </a:xfrm>
          <a:prstGeom prst="roundRect">
            <a:avLst>
              <a:gd name="adj" fmla="val 17391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01" name="" descr="{&quot;isTemplate&quot;:true,&quot;type&quot;:&quot;text&quot;}"/>
          <p:cNvSpPr txBox="1"/>
          <p:nvPr/>
        </p:nvSpPr>
        <p:spPr>
          <a:xfrm rot="0" flipH="0" flipV="0">
            <a:off x="800100" y="1838325"/>
            <a:ext cx="6477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76FBF"/>
                </a:solidFill>
                <a:latin typeface="Microsoft YaHei"/>
                <a:ea typeface="Microsoft YaHei"/>
              </a:rPr>
              <a:t>青禾社区</a:t>
            </a:r>
            <a:endParaRPr/>
          </a:p>
        </p:txBody>
      </p:sp>
      <p:sp>
        <p:nvSpPr>
          <p:cNvPr id="102" name=""/>
          <p:cNvSpPr/>
          <p:nvPr/>
        </p:nvSpPr>
        <p:spPr>
          <a:xfrm rot="0" flipH="0" flipV="0">
            <a:off x="609600" y="2286000"/>
            <a:ext cx="8572500" cy="438150"/>
          </a:xfrm>
          <a:prstGeom prst="roundRect">
            <a:avLst>
              <a:gd name="adj" fmla="val 17391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03" name="" descr="{&quot;isTemplate&quot;:true,&quot;type&quot;:&quot;text&quot;}"/>
          <p:cNvSpPr txBox="1"/>
          <p:nvPr/>
        </p:nvSpPr>
        <p:spPr>
          <a:xfrm rot="0" flipH="0" flipV="0">
            <a:off x="800100" y="2409825"/>
            <a:ext cx="6477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76FBF"/>
                </a:solidFill>
                <a:latin typeface="Microsoft YaHei"/>
                <a:ea typeface="Microsoft YaHei"/>
              </a:rPr>
              <a:t>学习中心</a:t>
            </a:r>
            <a:endParaRPr/>
          </a:p>
        </p:txBody>
      </p:sp>
      <p:sp>
        <p:nvSpPr>
          <p:cNvPr id="104" name=""/>
          <p:cNvSpPr/>
          <p:nvPr/>
        </p:nvSpPr>
        <p:spPr>
          <a:xfrm rot="0" flipH="0" flipV="0">
            <a:off x="609600" y="2857500"/>
            <a:ext cx="6286500" cy="438150"/>
          </a:xfrm>
          <a:prstGeom prst="roundRect">
            <a:avLst>
              <a:gd name="adj" fmla="val 17391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105" name="" descr="{&quot;isTemplate&quot;:true,&quot;type&quot;:&quot;text&quot;}"/>
          <p:cNvSpPr txBox="1"/>
          <p:nvPr/>
        </p:nvSpPr>
        <p:spPr>
          <a:xfrm rot="0" flipH="0" flipV="0">
            <a:off x="800100" y="2981325"/>
            <a:ext cx="6477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6816B"/>
                </a:solidFill>
                <a:latin typeface="Microsoft YaHei"/>
                <a:ea typeface="Microsoft YaHei"/>
              </a:rPr>
              <a:t>公共大厅</a:t>
            </a:r>
            <a:endParaRPr/>
          </a:p>
        </p:txBody>
      </p:sp>
      <p:sp>
        <p:nvSpPr>
          <p:cNvPr id="106" name=""/>
          <p:cNvSpPr/>
          <p:nvPr/>
        </p:nvSpPr>
        <p:spPr>
          <a:xfrm rot="0" flipH="0" flipV="0">
            <a:off x="609600" y="3429000"/>
            <a:ext cx="4000500" cy="438150"/>
          </a:xfrm>
          <a:prstGeom prst="roundRect">
            <a:avLst>
              <a:gd name="adj" fmla="val 17391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107" name="" descr="{&quot;isTemplate&quot;:true,&quot;type&quot;:&quot;text&quot;}"/>
          <p:cNvSpPr txBox="1"/>
          <p:nvPr/>
        </p:nvSpPr>
        <p:spPr>
          <a:xfrm rot="0" flipH="0" flipV="0">
            <a:off x="800100" y="3552825"/>
            <a:ext cx="4857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6816B"/>
                </a:solidFill>
                <a:latin typeface="Microsoft YaHei"/>
                <a:ea typeface="Microsoft YaHei"/>
              </a:rPr>
              <a:t>公告栏</a:t>
            </a:r>
            <a:endParaRPr/>
          </a:p>
        </p:txBody>
      </p:sp>
      <p:sp>
        <p:nvSpPr>
          <p:cNvPr id="108" name=""/>
          <p:cNvSpPr/>
          <p:nvPr/>
        </p:nvSpPr>
        <p:spPr>
          <a:xfrm rot="0" flipH="0" flipV="0">
            <a:off x="609600" y="4057650"/>
            <a:ext cx="10972800" cy="590550"/>
          </a:xfrm>
          <a:prstGeom prst="roundRect">
            <a:avLst>
              <a:gd name="adj" fmla="val 12903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109" name=""/>
          <p:cNvSpPr/>
          <p:nvPr/>
        </p:nvSpPr>
        <p:spPr>
          <a:xfrm rot="0" flipH="0" flipV="0">
            <a:off x="800100" y="4162425"/>
            <a:ext cx="38100" cy="3810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110" name="" descr="{&quot;isTemplate&quot;:true,&quot;type&quot;:&quot;text&quot;}"/>
          <p:cNvSpPr txBox="1"/>
          <p:nvPr/>
        </p:nvSpPr>
        <p:spPr>
          <a:xfrm rot="0" flipH="0" flipV="0">
            <a:off x="971550" y="4267200"/>
            <a:ext cx="2857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CB6B28"/>
                </a:solidFill>
                <a:latin typeface="Microsoft YaHei"/>
                <a:ea typeface="Microsoft YaHei"/>
              </a:rPr>
              <a:t>出生坐标属于实验装配</a:t>
            </a:r>
            <a:endParaRPr/>
          </a:p>
        </p:txBody>
      </p:sp>
      <p:sp>
        <p:nvSpPr>
          <p:cNvPr id="111" name="" descr="{&quot;isTemplate&quot;:true,&quot;type&quot;:&quot;text&quot;}"/>
          <p:cNvSpPr txBox="1"/>
          <p:nvPr/>
        </p:nvSpPr>
        <p:spPr>
          <a:xfrm rot="0" flipH="0" flipV="0">
            <a:off x="3962400" y="4276725"/>
            <a:ext cx="7429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公共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Agent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本身不携带某张地图的固定坐标，坐标与初始已知空间是配上去的。</a:t>
            </a:r>
            <a:endParaRPr/>
          </a:p>
        </p:txBody>
      </p:sp>
      <p:sp>
        <p:nvSpPr>
          <p:cNvPr id="112" name=""/>
          <p:cNvSpPr/>
          <p:nvPr/>
        </p:nvSpPr>
        <p:spPr>
          <a:xfrm rot="0" flipH="0" flipV="0">
            <a:off x="609600" y="4743450"/>
            <a:ext cx="10972800" cy="590550"/>
          </a:xfrm>
          <a:prstGeom prst="roundRect">
            <a:avLst>
              <a:gd name="adj" fmla="val 12903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113" name=""/>
          <p:cNvSpPr/>
          <p:nvPr/>
        </p:nvSpPr>
        <p:spPr>
          <a:xfrm rot="0" flipH="0" flipV="0">
            <a:off x="800100" y="4848225"/>
            <a:ext cx="38100" cy="3810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14" name="" descr="{&quot;isTemplate&quot;:true,&quot;type&quot;:&quot;text&quot;}"/>
          <p:cNvSpPr txBox="1"/>
          <p:nvPr/>
        </p:nvSpPr>
        <p:spPr>
          <a:xfrm rot="0" flipH="0" flipV="0">
            <a:off x="971550" y="4953000"/>
            <a:ext cx="2857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0344B"/>
                </a:solidFill>
                <a:latin typeface="Microsoft YaHei"/>
                <a:ea typeface="Microsoft YaHei"/>
              </a:rPr>
              <a:t>四个不同的初始</a:t>
            </a:r>
            <a:r>
              <a:rPr lang="en-US" sz="1125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Arena</a:t>
            </a:r>
            <a:endParaRPr/>
          </a:p>
        </p:txBody>
      </p:sp>
      <p:sp>
        <p:nvSpPr>
          <p:cNvPr id="115" name="" descr="{&quot;isTemplate&quot;:true,&quot;type&quot;:&quot;text&quot;}"/>
          <p:cNvSpPr txBox="1"/>
          <p:nvPr/>
        </p:nvSpPr>
        <p:spPr>
          <a:xfrm rot="0" flipH="0" flipV="0">
            <a:off x="3962400" y="4962525"/>
            <a:ext cx="7429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让空间选择器产生可区分的位置，便于观察跨房间行动。</a:t>
            </a:r>
            <a:endParaRPr/>
          </a:p>
        </p:txBody>
      </p:sp>
      <p:sp>
        <p:nvSpPr>
          <p:cNvPr id="116" name=""/>
          <p:cNvSpPr/>
          <p:nvPr/>
        </p:nvSpPr>
        <p:spPr>
          <a:xfrm rot="0" flipH="0" flipV="0">
            <a:off x="609600" y="5429250"/>
            <a:ext cx="10972800" cy="590550"/>
          </a:xfrm>
          <a:prstGeom prst="roundRect">
            <a:avLst>
              <a:gd name="adj" fmla="val 12903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117" name=""/>
          <p:cNvSpPr/>
          <p:nvPr/>
        </p:nvSpPr>
        <p:spPr>
          <a:xfrm rot="0" flipH="0" flipV="0">
            <a:off x="800100" y="5534025"/>
            <a:ext cx="38100" cy="3810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18" name="" descr="{&quot;isTemplate&quot;:true,&quot;type&quot;:&quot;text&quot;}"/>
          <p:cNvSpPr txBox="1"/>
          <p:nvPr/>
        </p:nvSpPr>
        <p:spPr>
          <a:xfrm rot="0" flipH="0" flipV="0">
            <a:off x="971550" y="5638800"/>
            <a:ext cx="2857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0344B"/>
                </a:solidFill>
                <a:latin typeface="Microsoft YaHei"/>
                <a:ea typeface="Microsoft YaHei"/>
              </a:rPr>
              <a:t>故事从已进入学习中心开始</a:t>
            </a:r>
            <a:endParaRPr/>
          </a:p>
        </p:txBody>
      </p:sp>
      <p:sp>
        <p:nvSpPr>
          <p:cNvPr id="119" name="" descr="{&quot;isTemplate&quot;:true,&quot;type&quot;:&quot;text&quot;}"/>
          <p:cNvSpPr txBox="1"/>
          <p:nvPr/>
        </p:nvSpPr>
        <p:spPr>
          <a:xfrm rot="0" flipH="0" flipV="0">
            <a:off x="3962400" y="5648325"/>
            <a:ext cx="7429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地图外的进场过程没有模拟，不补写成事实。</a:t>
            </a:r>
            <a:endParaRPr/>
          </a:p>
        </p:txBody>
      </p:sp>
      <p:sp>
        <p:nvSpPr>
          <p:cNvPr id="120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4955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3.1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把筹备方案放进一个会发生变化的世界</a:t>
            </a:r>
            <a:endParaRPr/>
          </a:p>
        </p:txBody>
      </p:sp>
      <p:sp>
        <p:nvSpPr>
          <p:cNvPr id="121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12 / 24</a:t>
            </a:r>
            <a:endParaRPr/>
          </a:p>
        </p:txBody>
      </p:sp>
    </p:spTree>
  </p:cSld>
</p:sld>
</file>

<file path=ppt/slides/slide13.xml><?xml version="1.0" encoding="utf-8"?>
<p:sld xmlns:p="http://schemas.openxmlformats.org/presentationml/2006/main" xmlns:a="http://schemas.openxmlformats.org/drawingml/2006/main">
  <p:cSld>
    <p:spTree>
      <p:nvGrpSpPr>
        <p:cNvPr id="122" name="" descr="&lt;Slide notes={`这一块要讲的是信息放在哪里。&#10;&#10;我已经知道预约冲突了，所以十点的手作室被占用了。但我不能把这个答案放进所有角色的共同记忆里。否则许安即使从来没有咨询过，也能说出改成十点半。那不是信息传播，那是作者泄题。&#10;&#10;所以不同信息放在不同位置：公共场所的名称进入地图语义；人物目标进各自的资料；预约事实只进服务台的私有操作材料；旧消息进公告栏的初始状态。&#10;&#10;公告栏的外观状态标签是可以公开感知的，但详细正文要通过互动才能获知，对象内部其他字段不会自动向所有人公开。&#10;&#10;还有一层区分：材料对读者公开，不等于运行时对所有 Agent 公开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3.1.4　作者知道的事情，不一定是角色知道的事情&lt;/Text&gt;&#10;            &lt;Text style={{ fontSize: 34, fontWeight: 'bold', color: '#20344B' }}&gt;作者知道，不等于角色知道&lt;/Text&gt;&#10;        &lt;/Box&gt;&#10;    &lt;/Box&gt;&#10;&#10;    &lt;Box style={{ height: 540, flexDirection: 'column', justifyContent: 'center', gap: 14 }}&gt;&#10;&#10;        &lt;Text style={{ fontSize: 15, color: '#546779' }}&gt;不同信息放在不同位置，谁掌握它，取决于它被放在哪里。&lt;/Text&gt;&#10;&#10;        &lt;Box style={{ background: '#F4F7FA', borderRadius: 10, padding: '16px 20px', flexDirection: 'column', gap: 12 }}&gt;&#10;&#10;            &lt;Box style={{ height: 72, background: '#FFFFFF', borderRadius: 8, padding: '0 16px', flexDirection: 'row', alignItems: 'center', gap: 16 }}&gt;&#10;                &lt;Box style={{ width: 4, height: 44, background: '#276FBF' }} /&gt;&#10;                &lt;Box style={{ width: 220 }}&gt;&lt;Text style={{ fontSize: 17, fontWeight: 'bold', color: '#20344B' }}&gt;公共场所名称&lt;/Text&gt;&lt;/Box&gt;&#10;                &lt;Box style={{ flex: 1 }}&gt;&lt;Text style={{ fontSize: 15, color: '#546779' }}&gt;进入地图语义（World / Sector）&lt;/Text&gt;&lt;/Box&gt;&#10;            &lt;/Box&gt;&#10;&#10;            &lt;Box style={{ height: 72, background: '#FFFFFF', borderRadius: 8, padding: '0 16px', flexDirection: 'row', alignItems: 'center', gap: 16 }}&gt;&#10;                &lt;Box style={{ width: 4, height: 44, background: '#276FBF' }} /&gt;&#10;                &lt;Box style={{ width: 220 }}&gt;&lt;Text style={{ fontSize: 17, fontWeight: 'bold', color: '#20344B' }}&gt;人物目标&lt;/Text&gt;&lt;/Box&gt;&#10;                &lt;Box style={{ flex: 1 }}&gt;&lt;Text style={{ fontSize: 15, color: '#546779' }}&gt;进入各自的人物资料&lt;/Text&gt;&lt;/Box&gt;&#10;            &lt;/Box&gt;&#10;&#10;            &lt;Box style={{ height: 72, background: '#FFFFFF', borderRadius: 8, padding: '0 16px', flexDirection: 'row', alignItems: 'center', gap: 16 }}&gt;&#10;                &lt;Box style={{ width: 4, height: 44, background: '#CB6B28' }} /&gt;&#10;                &lt;Box style={{ width: 220 }}&gt;&lt;Text style={{ fontSize: 17, fontWeight: 'bold', color: '#CB6B28' }}&gt;预约事实&lt;/Text&gt;&lt;/Box&gt;&#10;                &lt;Box style={{ flex: 1 }}&gt;&lt;Text style={{ fontSize: 15, color: '#546779' }}&gt;只进服务台的私有操作材料&lt;/Text&gt;&lt;/Box&gt;&#10;            &lt;/Box&gt;&#10;&#10;            &lt;Box style={{ height: 72, background: '#FFFFFF', borderRadius: 8, padding: '0 16px', flexDirection: 'row', alignItems: 'center', gap: 16 }}&gt;&#10;                &lt;Box style={{ width: 4, height: 44, background: '#276FBF' }} /&gt;&#10;                &lt;Box style={{ width: 220 }}&gt;&lt;Text style={{ fontSize: 17, fontWeight: 'bold', color: '#20344B' }}&gt;旧消息&lt;/Text&gt;&lt;/Box&gt;&#10;                &lt;Box style={{ flex: 1 }}&gt;&lt;Text style={{ fontSize: 15, color: '#546779' }}&gt;进公告栏的初始状态&lt;/Text&gt;&lt;/Box&gt;&#10;            &lt;/Box&gt;&#10;&#10;        &lt;/Box&gt;&#10;&#10;        &lt;Box style={{ flexDirection: 'row', alignItems: 'center', gap: 14, background: '#FFF4E6', borderRadius: 10, padding: '12px 20px' }}&gt;&#10;            &lt;Box style={{ width: 4, height: 56, background: '#CB6B28' }} /&gt;&#10;            &lt;Box style={{ flexDirection: 'column', gap: 3 }}&gt;&#10;                &lt;Text style={{ fontSize: 16, fontWeight: 'bold', color: '#CB6B28' }}&gt;答案进共同 Brain 就等于泄题&lt;/Text&gt;&#10;                &lt;Text style={{ fontSize: 14, color: '#546779', lineHeight: 1.5 }}&gt;许安从未咨询也会说出「改成 10:30」——那不是传播，是作者泄露答案。&lt;/Text&gt;&#10;            &lt;/Box&gt;&#10;        &lt;/Box&gt;&#10;&#10;        &lt;Text style={{ fontSize: 14, color: '#546779', lineHeight: 1.5 }}&gt;公告栏的外观标签可以公开感知，详细正文要通过互动获知；材料对读者公开，不等于运行时对所有 Agent 公开。&lt;/Text&gt;&#10;&#10;    &lt;/Box&gt;&#10;&#10;    &lt;Box style={{ height: 40, flexDirection: 'row', justifyContent: 'space-between', alignItems: 'center' }}&gt;&#10;        &lt;Text style={{ fontSize: 14, color: '#546779' }}&gt;3.1 把筹备方案放进一个会发生变化的世界&lt;/Text&gt;&#10;        &lt;Text style={{ fontSize: 14, color: '#546779' }}&gt;13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24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25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886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3.1.4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作者知道的事情，不一定是角色知道的事情</a:t>
            </a:r>
            <a:endParaRPr/>
          </a:p>
        </p:txBody>
      </p:sp>
      <p:sp>
        <p:nvSpPr>
          <p:cNvPr id="126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8862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作者知道，不等于角色知道</a:t>
            </a:r>
            <a:endParaRPr/>
          </a:p>
        </p:txBody>
      </p:sp>
      <p:sp>
        <p:nvSpPr>
          <p:cNvPr id="127" name="" descr="{&quot;isTemplate&quot;:true,&quot;type&quot;:&quot;text&quot;}"/>
          <p:cNvSpPr txBox="1"/>
          <p:nvPr/>
        </p:nvSpPr>
        <p:spPr>
          <a:xfrm rot="0" flipH="0" flipV="0">
            <a:off x="609600" y="1228725"/>
            <a:ext cx="10972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不同信息放在不同位置，谁掌握它，取决于它被放在哪里。</a:t>
            </a:r>
            <a:endParaRPr/>
          </a:p>
        </p:txBody>
      </p:sp>
      <p:sp>
        <p:nvSpPr>
          <p:cNvPr id="128" name=""/>
          <p:cNvSpPr/>
          <p:nvPr/>
        </p:nvSpPr>
        <p:spPr>
          <a:xfrm rot="0" flipH="0" flipV="0">
            <a:off x="609600" y="1533525"/>
            <a:ext cx="10972800" cy="3390900"/>
          </a:xfrm>
          <a:prstGeom prst="roundRect">
            <a:avLst>
              <a:gd name="adj" fmla="val 2809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129" name=""/>
          <p:cNvSpPr/>
          <p:nvPr/>
        </p:nvSpPr>
        <p:spPr>
          <a:xfrm rot="0" flipH="0" flipV="0">
            <a:off x="800100" y="1685925"/>
            <a:ext cx="10591800" cy="6858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30" name=""/>
          <p:cNvSpPr/>
          <p:nvPr/>
        </p:nvSpPr>
        <p:spPr>
          <a:xfrm rot="0" flipH="0" flipV="0">
            <a:off x="952500" y="1819275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31" name="" descr="{&quot;isTemplate&quot;:true,&quot;type&quot;:&quot;text&quot;}"/>
          <p:cNvSpPr txBox="1"/>
          <p:nvPr/>
        </p:nvSpPr>
        <p:spPr>
          <a:xfrm rot="0" flipH="0" flipV="0">
            <a:off x="1143000" y="1933575"/>
            <a:ext cx="2095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公共场所名称</a:t>
            </a:r>
            <a:endParaRPr/>
          </a:p>
        </p:txBody>
      </p:sp>
      <p:sp>
        <p:nvSpPr>
          <p:cNvPr id="132" name="" descr="{&quot;isTemplate&quot;:true,&quot;type&quot;:&quot;text&quot;}"/>
          <p:cNvSpPr txBox="1"/>
          <p:nvPr/>
        </p:nvSpPr>
        <p:spPr>
          <a:xfrm rot="0" flipH="0" flipV="0">
            <a:off x="3390900" y="1943100"/>
            <a:ext cx="78486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进入地图语义（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>World / Sector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）</a:t>
            </a:r>
            <a:endParaRPr/>
          </a:p>
        </p:txBody>
      </p:sp>
      <p:sp>
        <p:nvSpPr>
          <p:cNvPr id="133" name=""/>
          <p:cNvSpPr/>
          <p:nvPr/>
        </p:nvSpPr>
        <p:spPr>
          <a:xfrm rot="0" flipH="0" flipV="0">
            <a:off x="800100" y="2486025"/>
            <a:ext cx="10591800" cy="6858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34" name=""/>
          <p:cNvSpPr/>
          <p:nvPr/>
        </p:nvSpPr>
        <p:spPr>
          <a:xfrm rot="0" flipH="0" flipV="0">
            <a:off x="952500" y="2619375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35" name="" descr="{&quot;isTemplate&quot;:true,&quot;type&quot;:&quot;text&quot;}"/>
          <p:cNvSpPr txBox="1"/>
          <p:nvPr/>
        </p:nvSpPr>
        <p:spPr>
          <a:xfrm rot="0" flipH="0" flipV="0">
            <a:off x="1143000" y="2733675"/>
            <a:ext cx="2095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人物目标</a:t>
            </a:r>
            <a:endParaRPr/>
          </a:p>
        </p:txBody>
      </p:sp>
      <p:sp>
        <p:nvSpPr>
          <p:cNvPr id="136" name="" descr="{&quot;isTemplate&quot;:true,&quot;type&quot;:&quot;text&quot;}"/>
          <p:cNvSpPr txBox="1"/>
          <p:nvPr/>
        </p:nvSpPr>
        <p:spPr>
          <a:xfrm rot="0" flipH="0" flipV="0">
            <a:off x="3390900" y="2743200"/>
            <a:ext cx="78486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进入各自的人物资料</a:t>
            </a:r>
            <a:endParaRPr/>
          </a:p>
        </p:txBody>
      </p:sp>
      <p:sp>
        <p:nvSpPr>
          <p:cNvPr id="137" name=""/>
          <p:cNvSpPr/>
          <p:nvPr/>
        </p:nvSpPr>
        <p:spPr>
          <a:xfrm rot="0" flipH="0" flipV="0">
            <a:off x="800100" y="3286125"/>
            <a:ext cx="10591800" cy="6858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38" name=""/>
          <p:cNvSpPr/>
          <p:nvPr/>
        </p:nvSpPr>
        <p:spPr>
          <a:xfrm rot="0" flipH="0" flipV="0">
            <a:off x="952500" y="3419475"/>
            <a:ext cx="38100" cy="4191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139" name="" descr="{&quot;isTemplate&quot;:true,&quot;type&quot;:&quot;text&quot;}"/>
          <p:cNvSpPr txBox="1"/>
          <p:nvPr/>
        </p:nvSpPr>
        <p:spPr>
          <a:xfrm rot="0" flipH="0" flipV="0">
            <a:off x="1143000" y="3533775"/>
            <a:ext cx="2095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CB6B28"/>
                </a:solidFill>
                <a:latin typeface="Microsoft YaHei"/>
                <a:ea typeface="Microsoft YaHei"/>
              </a:rPr>
              <a:t>预约事实</a:t>
            </a:r>
            <a:endParaRPr/>
          </a:p>
        </p:txBody>
      </p:sp>
      <p:sp>
        <p:nvSpPr>
          <p:cNvPr id="140" name="" descr="{&quot;isTemplate&quot;:true,&quot;type&quot;:&quot;text&quot;}"/>
          <p:cNvSpPr txBox="1"/>
          <p:nvPr/>
        </p:nvSpPr>
        <p:spPr>
          <a:xfrm rot="0" flipH="0" flipV="0">
            <a:off x="3390900" y="3543300"/>
            <a:ext cx="78486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只进服务台的私有操作材料</a:t>
            </a:r>
            <a:endParaRPr/>
          </a:p>
        </p:txBody>
      </p:sp>
      <p:sp>
        <p:nvSpPr>
          <p:cNvPr id="141" name=""/>
          <p:cNvSpPr/>
          <p:nvPr/>
        </p:nvSpPr>
        <p:spPr>
          <a:xfrm rot="0" flipH="0" flipV="0">
            <a:off x="800100" y="4086225"/>
            <a:ext cx="10591800" cy="6858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42" name=""/>
          <p:cNvSpPr/>
          <p:nvPr/>
        </p:nvSpPr>
        <p:spPr>
          <a:xfrm rot="0" flipH="0" flipV="0">
            <a:off x="952500" y="4219575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43" name="" descr="{&quot;isTemplate&quot;:true,&quot;type&quot;:&quot;text&quot;}"/>
          <p:cNvSpPr txBox="1"/>
          <p:nvPr/>
        </p:nvSpPr>
        <p:spPr>
          <a:xfrm rot="0" flipH="0" flipV="0">
            <a:off x="1143000" y="4333875"/>
            <a:ext cx="2095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旧消息</a:t>
            </a:r>
            <a:endParaRPr/>
          </a:p>
        </p:txBody>
      </p:sp>
      <p:sp>
        <p:nvSpPr>
          <p:cNvPr id="144" name="" descr="{&quot;isTemplate&quot;:true,&quot;type&quot;:&quot;text&quot;}"/>
          <p:cNvSpPr txBox="1"/>
          <p:nvPr/>
        </p:nvSpPr>
        <p:spPr>
          <a:xfrm rot="0" flipH="0" flipV="0">
            <a:off x="3390900" y="4343400"/>
            <a:ext cx="78486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进公告栏的初始状态</a:t>
            </a:r>
            <a:endParaRPr/>
          </a:p>
        </p:txBody>
      </p:sp>
      <p:sp>
        <p:nvSpPr>
          <p:cNvPr id="145" name=""/>
          <p:cNvSpPr/>
          <p:nvPr/>
        </p:nvSpPr>
        <p:spPr>
          <a:xfrm rot="0" flipH="0" flipV="0">
            <a:off x="609600" y="5057775"/>
            <a:ext cx="10972800" cy="762000"/>
          </a:xfrm>
          <a:prstGeom prst="roundRect">
            <a:avLst>
              <a:gd name="adj" fmla="val 12500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146" name=""/>
          <p:cNvSpPr/>
          <p:nvPr/>
        </p:nvSpPr>
        <p:spPr>
          <a:xfrm rot="0" flipH="0" flipV="0">
            <a:off x="800100" y="5172075"/>
            <a:ext cx="38100" cy="5334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147" name="" descr="{&quot;isTemplate&quot;:true,&quot;type&quot;:&quot;text&quot;}"/>
          <p:cNvSpPr txBox="1"/>
          <p:nvPr/>
        </p:nvSpPr>
        <p:spPr>
          <a:xfrm rot="0" flipH="0" flipV="0">
            <a:off x="971550" y="5210175"/>
            <a:ext cx="44100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CB6B28"/>
                </a:solidFill>
                <a:latin typeface="Microsoft YaHei"/>
                <a:ea typeface="Microsoft YaHei"/>
              </a:rPr>
              <a:t>答案进共同</a:t>
            </a:r>
            <a:r>
              <a:rPr lang="en-US" sz="1200" b="1">
                <a:solidFill>
                  <a:srgbClr val="CB6B28"/>
                </a:solidFill>
                <a:latin typeface="Microsoft YaHei"/>
                <a:ea typeface="Microsoft YaHei"/>
              </a:rPr>
              <a:t xml:space="preserve"> Brain </a:t>
            </a:r>
            <a:r>
              <a:rPr lang="zh-CN" sz="1200" b="1">
                <a:solidFill>
                  <a:srgbClr val="CB6B28"/>
                </a:solidFill>
                <a:latin typeface="Microsoft YaHei"/>
                <a:ea typeface="Microsoft YaHei"/>
              </a:rPr>
              <a:t>就等于泄题</a:t>
            </a:r>
            <a:endParaRPr/>
          </a:p>
        </p:txBody>
      </p:sp>
      <p:sp>
        <p:nvSpPr>
          <p:cNvPr id="148" name="" descr="{&quot;isTemplate&quot;:true,&quot;type&quot;:&quot;text&quot;}"/>
          <p:cNvSpPr txBox="1"/>
          <p:nvPr/>
        </p:nvSpPr>
        <p:spPr>
          <a:xfrm rot="0" flipH="0" flipV="0">
            <a:off x="971550" y="5429250"/>
            <a:ext cx="4410075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许安从未咨询也会说出「改成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10:30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」——那不是传播，是作者泄露答案。</a:t>
            </a:r>
            <a:endParaRPr/>
          </a:p>
        </p:txBody>
      </p:sp>
      <p:sp>
        <p:nvSpPr>
          <p:cNvPr id="149" name="" descr="{&quot;isTemplate&quot;:true,&quot;type&quot;:&quot;text&quot;}"/>
          <p:cNvSpPr txBox="1"/>
          <p:nvPr/>
        </p:nvSpPr>
        <p:spPr>
          <a:xfrm rot="0" flipH="0" flipV="0">
            <a:off x="609600" y="5953125"/>
            <a:ext cx="109728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公告栏的外观标签可以公开感知，详细正文要通过互动获知；材料对读者公开，不等于运行时对所有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Agent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公开。</a:t>
            </a:r>
            <a:endParaRPr/>
          </a:p>
        </p:txBody>
      </p:sp>
      <p:sp>
        <p:nvSpPr>
          <p:cNvPr id="150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4955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3.1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把筹备方案放进一个会发生变化的世界</a:t>
            </a:r>
            <a:endParaRPr/>
          </a:p>
        </p:txBody>
      </p:sp>
      <p:sp>
        <p:nvSpPr>
          <p:cNvPr id="151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13 / 24</a:t>
            </a:r>
            <a:endParaRPr/>
          </a:p>
        </p:txBody>
      </p:sp>
    </p:spTree>
  </p:cSld>
</p:sld>
</file>

<file path=ppt/slides/slide14.xml><?xml version="1.0" encoding="utf-8"?>
<p:sld xmlns:p="http://schemas.openxmlformats.org/presentationml/2006/main" xmlns:a="http://schemas.openxmlformats.org/drawingml/2006/main">
  <p:cSld>
    <p:spTree>
      <p:nvGrpSpPr>
        <p:cNvPr id="152" name="" descr="&lt;Slide notes={`接着处理时间。一次活动里有三种时间同时存在，它们不能混为一谈。&#10;&#10;虚拟时间决定世界里的日期和安排，模型处理时间是请求和工具实际花掉的时间，墙钟时间是我真实经历的过程时间。&#10;&#10;这一块还要看清楚观察窗口。窗口只覆盖一段时间，窗口里发生的事可以观察，窗口外的事不能靠它下结论。&#10;&#10;48 步走到十点三十七，不等于活动已经完整结束。写结论的时候，要说清楚是在哪一种时间上得到的。`} style={{ width: 1280, height: 720, background: '#FFFFFF', flexDirection: 'column', padding: '20px 64px' }}&gt;&#10;&#10;    &lt;Box style={{ height: 640, flexDirection: 'column', justifyContent: 'center', gap: 22 }}&gt;&#10;&#10;        &lt;Text style={{ fontSize: 15, color: '#276FBF' }}&gt;3　　3.1.5&lt;/Text&gt;&#10;&#10;        &lt;Text style={{ fontSize: 56, fontWeight: 'bold', color: '#20344B', lineHeight: 1.15 }}&gt;一次活动有三种时间&lt;/Text&gt;&#10;&#10;        &lt;Box style={{ width: 72, height: 4, background: '#276FBF' }} /&gt;&#10;&#10;        &lt;Text style={{ fontSize: 18, color: '#546779', lineHeight: 1.7, width: 900 }}&gt;虚拟时间管世界里的安排，模型处理时间管调用成本，墙钟时间是我真实经历的过程。&lt;/Text&gt;&#10;&#10;        &lt;Box style={{ flexDirection: 'row', alignItems: 'center', marginTop: 10 }}&gt;&#10;            &lt;Box style={{ width: 300, height: 64, background: '#EDF4FC', borderRadius: 8, justifyContent: 'center', alignItems: 'center' }}&gt;&#10;                &lt;Text style={{ fontSize: 17, color: '#276FBF' }}&gt;虚拟时间&lt;/Text&gt;&#10;            &lt;/Box&gt;&#10;            &lt;Box style={{ width: 44, height: 64, justifyContent: 'center', alignItems: 'center' }}&gt;&#10;                &lt;Text style={{ fontSize: 24, color: '#276FBF' }}&gt;›&lt;/Text&gt;&#10;            &lt;/Box&gt;&#10;            &lt;Box style={{ width: 300, height: 64, background: '#ECF7F2', borderRadius: 8, justifyContent: 'center', alignItems: 'center' }}&gt;&#10;                &lt;Text style={{ fontSize: 17, color: '#26816B' }}&gt;模型处理时间&lt;/Text&gt;&#10;            &lt;/Box&gt;&#10;            &lt;Box style={{ width: 44, height: 64, justifyContent: 'center', alignItems: 'center' }}&gt;&#10;                &lt;Text style={{ fontSize: 24, color: '#26816B' }}&gt;›&lt;/Text&gt;&#10;            &lt;/Box&gt;&#10;            &lt;Box style={{ width: 300, height: 64, background: '#F7F3E8', borderRadius: 8, justifyContent: 'center', alignItems: 'center' }}&gt;&#10;                &lt;Text style={{ fontSize: 17, color: '#20344B' }}&gt;墙钟时间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3.1 把筹备方案放进一个会发生变化的世界&lt;/Text&gt;&#10;        &lt;Text style={{ fontSize: 14, color: '#546779' }}&gt;14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54" name="" descr="{&quot;isTemplate&quot;:true,&quot;type&quot;:&quot;text&quot;}"/>
          <p:cNvSpPr txBox="1"/>
          <p:nvPr/>
        </p:nvSpPr>
        <p:spPr>
          <a:xfrm rot="0" flipH="0" flipV="0">
            <a:off x="609600" y="1819275"/>
            <a:ext cx="10972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276FBF"/>
                </a:solidFill>
                <a:latin typeface="Microsoft YaHei"/>
                <a:ea typeface="Microsoft YaHei"/>
              </a:rPr>
              <a:t>3</a:t>
            </a: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　　</a:t>
            </a:r>
            <a:r>
              <a:rPr lang="en-US" sz="1125">
                <a:solidFill>
                  <a:srgbClr val="276FBF"/>
                </a:solidFill>
                <a:latin typeface="Microsoft YaHei"/>
                <a:ea typeface="Microsoft YaHei"/>
              </a:rPr>
              <a:t>3.1.5</a:t>
            </a:r>
            <a:endParaRPr/>
          </a:p>
        </p:txBody>
      </p:sp>
      <p:sp>
        <p:nvSpPr>
          <p:cNvPr id="155" name="" descr="{&quot;isTemplate&quot;:true,&quot;type&quot;:&quot;text&quot;}"/>
          <p:cNvSpPr txBox="1"/>
          <p:nvPr/>
        </p:nvSpPr>
        <p:spPr>
          <a:xfrm rot="0" flipH="0" flipV="0">
            <a:off x="609600" y="2200275"/>
            <a:ext cx="10972800" cy="7429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一次活动有三种时间</a:t>
            </a:r>
            <a:endParaRPr/>
          </a:p>
        </p:txBody>
      </p:sp>
      <p:sp>
        <p:nvSpPr>
          <p:cNvPr id="156" name=""/>
          <p:cNvSpPr/>
          <p:nvPr/>
        </p:nvSpPr>
        <p:spPr>
          <a:xfrm rot="0" flipH="0" flipV="0">
            <a:off x="609600" y="3152775"/>
            <a:ext cx="6858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57" name="" descr="{&quot;isTemplate&quot;:true,&quot;type&quot;:&quot;text&quot;}"/>
          <p:cNvSpPr txBox="1"/>
          <p:nvPr/>
        </p:nvSpPr>
        <p:spPr>
          <a:xfrm rot="0" flipH="0" flipV="0">
            <a:off x="609600" y="3400425"/>
            <a:ext cx="8572500" cy="3524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350">
                <a:solidFill>
                  <a:srgbClr val="546779"/>
                </a:solidFill>
                <a:latin typeface="Microsoft YaHei"/>
                <a:ea typeface="Microsoft YaHei"/>
              </a:rPr>
              <a:t>虚拟时间管世界里的安排，模型处理时间管调用成本，墙钟时间是我真实经历的过程。</a:t>
            </a:r>
            <a:endParaRPr/>
          </a:p>
        </p:txBody>
      </p:sp>
      <p:sp>
        <p:nvSpPr>
          <p:cNvPr id="158" name=""/>
          <p:cNvSpPr/>
          <p:nvPr/>
        </p:nvSpPr>
        <p:spPr>
          <a:xfrm rot="0" flipH="0" flipV="0">
            <a:off x="609600" y="4057650"/>
            <a:ext cx="2857500" cy="609600"/>
          </a:xfrm>
          <a:prstGeom prst="roundRect">
            <a:avLst>
              <a:gd name="adj" fmla="val 125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59" name="" descr="{&quot;isTemplate&quot;:true,&quot;type&quot;:&quot;text&quot;}"/>
          <p:cNvSpPr txBox="1"/>
          <p:nvPr/>
        </p:nvSpPr>
        <p:spPr>
          <a:xfrm rot="0" flipH="0" flipV="0">
            <a:off x="1714500" y="4267200"/>
            <a:ext cx="6477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276FBF"/>
                </a:solidFill>
                <a:latin typeface="Microsoft YaHei"/>
                <a:ea typeface="Microsoft YaHei"/>
              </a:rPr>
              <a:t>虚拟时间</a:t>
            </a:r>
            <a:endParaRPr/>
          </a:p>
        </p:txBody>
      </p:sp>
      <p:sp>
        <p:nvSpPr>
          <p:cNvPr id="160" name="" descr="{&quot;isTemplate&quot;:true,&quot;type&quot;:&quot;text&quot;}"/>
          <p:cNvSpPr txBox="1"/>
          <p:nvPr/>
        </p:nvSpPr>
        <p:spPr>
          <a:xfrm rot="0" flipH="0" flipV="0">
            <a:off x="3638550" y="4229100"/>
            <a:ext cx="857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80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161" name=""/>
          <p:cNvSpPr/>
          <p:nvPr/>
        </p:nvSpPr>
        <p:spPr>
          <a:xfrm rot="0" flipH="0" flipV="0">
            <a:off x="3886200" y="4057650"/>
            <a:ext cx="2857500" cy="609600"/>
          </a:xfrm>
          <a:prstGeom prst="roundRect">
            <a:avLst>
              <a:gd name="adj" fmla="val 12500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162" name="" descr="{&quot;isTemplate&quot;:true,&quot;type&quot;:&quot;text&quot;}"/>
          <p:cNvSpPr txBox="1"/>
          <p:nvPr/>
        </p:nvSpPr>
        <p:spPr>
          <a:xfrm rot="0" flipH="0" flipV="0">
            <a:off x="4829175" y="4267200"/>
            <a:ext cx="9715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26816B"/>
                </a:solidFill>
                <a:latin typeface="Microsoft YaHei"/>
                <a:ea typeface="Microsoft YaHei"/>
              </a:rPr>
              <a:t>模型处理时间</a:t>
            </a:r>
            <a:endParaRPr/>
          </a:p>
        </p:txBody>
      </p:sp>
      <p:sp>
        <p:nvSpPr>
          <p:cNvPr id="163" name="" descr="{&quot;isTemplate&quot;:true,&quot;type&quot;:&quot;text&quot;}"/>
          <p:cNvSpPr txBox="1"/>
          <p:nvPr/>
        </p:nvSpPr>
        <p:spPr>
          <a:xfrm rot="0" flipH="0" flipV="0">
            <a:off x="6915150" y="4229100"/>
            <a:ext cx="857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800">
                <a:solidFill>
                  <a:srgbClr val="26816B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164" name=""/>
          <p:cNvSpPr/>
          <p:nvPr/>
        </p:nvSpPr>
        <p:spPr>
          <a:xfrm rot="0" flipH="0" flipV="0">
            <a:off x="7162800" y="4057650"/>
            <a:ext cx="2857500" cy="609600"/>
          </a:xfrm>
          <a:prstGeom prst="roundRect">
            <a:avLst>
              <a:gd name="adj" fmla="val 12500"/>
            </a:avLst>
          </a:prstGeom>
          <a:solidFill>
            <a:srgbClr val="F7F3E8"/>
          </a:solidFill>
          <a:ln/>
        </p:spPr>
        <p:txBody>
          <a:bodyPr/>
          <a:p/>
        </p:txBody>
      </p:sp>
      <p:sp>
        <p:nvSpPr>
          <p:cNvPr id="165" name="" descr="{&quot;isTemplate&quot;:true,&quot;type&quot;:&quot;text&quot;}"/>
          <p:cNvSpPr txBox="1"/>
          <p:nvPr/>
        </p:nvSpPr>
        <p:spPr>
          <a:xfrm rot="0" flipH="0" flipV="0">
            <a:off x="8267700" y="4267200"/>
            <a:ext cx="6477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20344B"/>
                </a:solidFill>
                <a:latin typeface="Microsoft YaHei"/>
                <a:ea typeface="Microsoft YaHei"/>
              </a:rPr>
              <a:t>墙钟时间</a:t>
            </a:r>
            <a:endParaRPr/>
          </a:p>
        </p:txBody>
      </p:sp>
      <p:sp>
        <p:nvSpPr>
          <p:cNvPr id="166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4955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3.1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把筹备方案放进一个会发生变化的世界</a:t>
            </a:r>
            <a:endParaRPr/>
          </a:p>
        </p:txBody>
      </p:sp>
      <p:sp>
        <p:nvSpPr>
          <p:cNvPr id="167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14 / 24</a:t>
            </a:r>
            <a:endParaRPr/>
          </a:p>
        </p:txBody>
      </p:sp>
    </p:spTree>
  </p:cSld>
</p:sld>
</file>

<file path=ppt/slides/slide15.xml><?xml version="1.0" encoding="utf-8"?>
<p:sld xmlns:p="http://schemas.openxmlformats.org/presentationml/2006/main" xmlns:a="http://schemas.openxmlformats.org/drawingml/2006/main">
  <p:cSld>
    <p:spTree>
      <p:nvGrpSpPr>
        <p:cNvPr id="168" name="" descr="&lt;Slide notes={`现在把观察窗口放到时间轴上。&#10;&#10;这一轮候选配置从 2026 年 10 月 17 日九点五十开始，带东八区时区，每个 Step 推进一分钟，一共请求 48 步。&#10;&#10;当前的调度器把开始时间对应成 Step 1，所以 Step 11 落在十点，那是原消息里手作体验开始的时间；Step 41 落在十点半，是候选调整开始的时间；Step 48 落在十点三十七，是观察窗口的终点。&#10;&#10;这条虚线伸出去，指向十一点半，也就是候选活动的结束时间，它在窗口之外。&#10;&#10;这很重要：窗口里能看到手作调到十点半以后有没有人到达、有没有开始，但窗口到十点三十七就结束了，它不能证明十一点半的活动已经完整结束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3.1.5　一次活动有三种时间&lt;/Text&gt;&#10;            &lt;Text style={{ fontSize: 34, fontWeight: 'bold', color: '#20344B' }}&gt;48 步落在哪里&lt;/Text&gt;&#10;        &lt;/Box&gt;&#10;    &lt;/Box&gt;&#10;&#10;    &lt;Box style={{ height: 540, flexDirection: 'column', justifyContent: 'center', gap: 14 }}&gt;&#10;&#10;        &lt;Box style={{ flexDirection: 'column', gap: 4 }}&gt;&#10;            &lt;Text style={{ fontSize: 20, fontWeight: 'bold', color: '#20344B' }}&gt;观察窗口覆盖到哪一步，就只证明到哪一步&lt;/Text&gt;&#10;            &lt;Text style={{ fontSize: 14, color: '#546779' }}&gt;2026-10-17　+08:00　t(k) = 09:50 + (k−1) × 1 分钟　·　时间节点间距不按比例&lt;/Text&gt;&#10;        &lt;/Box&gt;&#10;&#10;        &lt;Box style={{ flexDirection: 'row', alignItems: 'center' }}&gt;&#10;            &lt;Box style={{ width: 240, height: 104, background: '#EDF4FC', borderRadius: 8, flexDirection: 'column', gap: 2, justifyContent: 'center', alignItems: 'center' }}&gt;&#10;                &lt;Text style={{ fontSize: 20, fontWeight: 'bold', color: '#276FBF' }}&gt;Step 1&lt;/Text&gt;&#10;                &lt;Text style={{ fontSize: 15, color: '#276FBF' }}&gt;09:50&lt;/Text&gt;&#10;                &lt;Text style={{ fontSize: 13, color: '#546779' }}&gt;配置起点&lt;/Text&gt;&#10;            &lt;/Box&gt;&#10;            &lt;Box style={{ width: 44, height: 104, justifyContent: 'center', alignItems: 'center' }}&gt;&#10;                &lt;Text style={{ fontSize: 24, color: '#276FBF' }}&gt;›&lt;/Text&gt;&#10;            &lt;/Box&gt;&#10;            &lt;Box style={{ width: 240, height: 104, background: '#EDF4FC', borderRadius: 8, flexDirection: 'column', gap: 2, justifyContent: 'center', alignItems: 'center' }}&gt;&#10;                &lt;Text style={{ fontSize: 20, fontWeight: 'bold', color: '#276FBF' }}&gt;Step 11&lt;/Text&gt;&#10;                &lt;Text style={{ fontSize: 15, color: '#276FBF' }}&gt;10:00&lt;/Text&gt;&#10;                &lt;Text style={{ fontSize: 13, color: '#546779' }}&gt;原消息开始&lt;/Text&gt;&#10;            &lt;/Box&gt;&#10;            &lt;Box style={{ width: 44, height: 104, justifyContent: 'center', alignItems: 'center' }}&gt;&#10;                &lt;Text style={{ fontSize: 24, color: '#276FBF' }}&gt;›&lt;/Text&gt;&#10;            &lt;/Box&gt;&#10;            &lt;Box style={{ width: 240, height: 104, background: '#EDF4FC', borderRadius: 8, flexDirection: 'column', gap: 2, justifyContent: 'center', alignItems: 'center' }}&gt;&#10;                &lt;Text style={{ fontSize: 20, fontWeight: 'bold', color: '#276FBF' }}&gt;Step 41&lt;/Text&gt;&#10;                &lt;Text style={{ fontSize: 15, color: '#276FBF' }}&gt;10:30&lt;/Text&gt;&#10;                &lt;Text style={{ fontSize: 13, color: '#546779' }}&gt;候选调整开始&lt;/Text&gt;&#10;            &lt;/Box&gt;&#10;            &lt;Box style={{ width: 44, height: 104, justifyContent: 'center', alignItems: 'center' }}&gt;&#10;                &lt;Text style={{ fontSize: 24, color: '#26816B' }}&gt;›&lt;/Text&gt;&#10;            &lt;/Box&gt;&#10;            &lt;Box style={{ width: 240, height: 104, background: '#ECF7F2', borderRadius: 8, flexDirection: 'column', gap: 2, justifyContent: 'center', alignItems: 'center' }}&gt;&#10;                &lt;Text style={{ fontSize: 20, fontWeight: 'bold', color: '#26816B' }}&gt;Step 48&lt;/Text&gt;&#10;                &lt;Text style={{ fontSize: 15, color: '#26816B' }}&gt;10:37&lt;/Text&gt;&#10;                &lt;Text style={{ fontSize: 13, color: '#546779' }}&gt;观察窗口终点&lt;/Text&gt;&#10;            &lt;/Box&gt;&#10;        &lt;/Box&gt;&#10;&#10;        &lt;Box style={{ flexDirection: 'row', alignItems: 'center' }}&gt;&#10;            &lt;Box style={{ width: 292 }} /&gt;&#10;            &lt;Box style={{ width: 800, height: 66, background: '#FFF4E6', borderRadius: 8, padding: '0 20px', flexDirection: 'row', alignItems: 'center', gap: 14 }}&gt;&#10;                &lt;Text style={{ fontSize: 15, fontWeight: 'bold', color: '#CB6B28' }}&gt;11:30　候选活动结束&lt;/Text&gt;&#10;                &lt;Text style={{ fontSize: 14, color: '#546779' }}&gt;在观察窗口之外，虚线伸出窗口&lt;/Text&gt;&#10;            &lt;/Box&gt;&#10;        &lt;/Box&gt;&#10;&#10;        &lt;Box style={{ flexDirection: 'row', gap: 12 }}&gt;&#10;            &lt;Box style={{ width: 540, height: 64, background: '#ECF7F2', borderRadius: 8, padding: '0 18px', flexDirection: 'row', alignItems: 'center', gap: 12 }}&gt;&#10;                &lt;Text style={{ fontSize: 15, fontWeight: 'bold', color: '#26816B' }}&gt;窗口内可观察&lt;/Text&gt;&#10;                &lt;Text style={{ fontSize: 14, color: '#546779' }}&gt;获知 · 移动 · 到达 · 开始&lt;/Text&gt;&#10;            &lt;/Box&gt;&#10;            &lt;Box style={{ width: 540, height: 64, background: '#F4F7FA', borderRadius: 8, padding: '0 18px', flexDirection: 'row', alignItems: 'center', gap: 12 }}&gt;&#10;                &lt;Text style={{ fontSize: 15, fontWeight: 'bold', color: '#546779' }}&gt;窗口不能证明&lt;/Text&gt;&#10;                &lt;Text style={{ fontSize: 14, color: '#546779' }}&gt;11:30 的活动已完整结束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3.1 把筹备方案放进一个会发生变化的世界&lt;/Text&gt;&#10;        &lt;Text style={{ fontSize: 14, color: '#546779' }}&gt;15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70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71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2124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3.1.5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一次活动有三种时间</a:t>
            </a:r>
            <a:endParaRPr/>
          </a:p>
        </p:txBody>
      </p:sp>
      <p:sp>
        <p:nvSpPr>
          <p:cNvPr id="172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212407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48 </a:t>
            </a: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步落在哪里</a:t>
            </a:r>
            <a:endParaRPr/>
          </a:p>
        </p:txBody>
      </p:sp>
      <p:sp>
        <p:nvSpPr>
          <p:cNvPr id="173" name="" descr="{&quot;isTemplate&quot;:true,&quot;type&quot;:&quot;text&quot;}"/>
          <p:cNvSpPr txBox="1"/>
          <p:nvPr/>
        </p:nvSpPr>
        <p:spPr>
          <a:xfrm rot="0" flipH="0" flipV="0">
            <a:off x="609600" y="2190750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观察窗口覆盖到哪一步，就只证明到哪一步</a:t>
            </a:r>
            <a:endParaRPr/>
          </a:p>
        </p:txBody>
      </p:sp>
      <p:sp>
        <p:nvSpPr>
          <p:cNvPr id="174" name="" descr="{&quot;isTemplate&quot;:true,&quot;type&quot;:&quot;text&quot;}"/>
          <p:cNvSpPr txBox="1"/>
          <p:nvPr/>
        </p:nvSpPr>
        <p:spPr>
          <a:xfrm rot="0" flipH="0" flipV="0">
            <a:off x="609600" y="2457450"/>
            <a:ext cx="10972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2026-10-17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+08:00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t(k) = 09:50 + (k−1) × 1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分钟　·　时间节点间距不按比例</a:t>
            </a:r>
            <a:endParaRPr/>
          </a:p>
        </p:txBody>
      </p:sp>
      <p:sp>
        <p:nvSpPr>
          <p:cNvPr id="175" name=""/>
          <p:cNvSpPr/>
          <p:nvPr/>
        </p:nvSpPr>
        <p:spPr>
          <a:xfrm rot="0" flipH="0" flipV="0">
            <a:off x="609600" y="2752725"/>
            <a:ext cx="2286000" cy="990600"/>
          </a:xfrm>
          <a:prstGeom prst="roundRect">
            <a:avLst>
              <a:gd name="adj" fmla="val 7692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76" name="" descr="{&quot;isTemplate&quot;:true,&quot;type&quot;:&quot;text&quot;}"/>
          <p:cNvSpPr txBox="1"/>
          <p:nvPr/>
        </p:nvSpPr>
        <p:spPr>
          <a:xfrm rot="0" flipH="0" flipV="0">
            <a:off x="1457325" y="2952750"/>
            <a:ext cx="6000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276FBF"/>
                </a:solidFill>
                <a:latin typeface="Microsoft YaHei"/>
                <a:ea typeface="Microsoft YaHei"/>
              </a:rPr>
              <a:t>Step 1</a:t>
            </a:r>
            <a:endParaRPr/>
          </a:p>
        </p:txBody>
      </p:sp>
      <p:sp>
        <p:nvSpPr>
          <p:cNvPr id="177" name="" descr="{&quot;isTemplate&quot;:true,&quot;type&quot;:&quot;text&quot;}"/>
          <p:cNvSpPr txBox="1"/>
          <p:nvPr/>
        </p:nvSpPr>
        <p:spPr>
          <a:xfrm rot="0" flipH="0" flipV="0">
            <a:off x="1571625" y="3200400"/>
            <a:ext cx="3714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276FBF"/>
                </a:solidFill>
                <a:latin typeface="Microsoft YaHei"/>
                <a:ea typeface="Microsoft YaHei"/>
              </a:rPr>
              <a:t>09:50</a:t>
            </a:r>
            <a:endParaRPr/>
          </a:p>
        </p:txBody>
      </p:sp>
      <p:sp>
        <p:nvSpPr>
          <p:cNvPr id="178" name="" descr="{&quot;isTemplate&quot;:true,&quot;type&quot;:&quot;text&quot;}"/>
          <p:cNvSpPr txBox="1"/>
          <p:nvPr/>
        </p:nvSpPr>
        <p:spPr>
          <a:xfrm rot="0" flipH="0" flipV="0">
            <a:off x="1504950" y="3390900"/>
            <a:ext cx="495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配置起点</a:t>
            </a:r>
            <a:endParaRPr/>
          </a:p>
        </p:txBody>
      </p:sp>
      <p:sp>
        <p:nvSpPr>
          <p:cNvPr id="179" name="" descr="{&quot;isTemplate&quot;:true,&quot;type&quot;:&quot;text&quot;}"/>
          <p:cNvSpPr txBox="1"/>
          <p:nvPr/>
        </p:nvSpPr>
        <p:spPr>
          <a:xfrm rot="0" flipH="0" flipV="0">
            <a:off x="3067050" y="3114675"/>
            <a:ext cx="857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80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180" name=""/>
          <p:cNvSpPr/>
          <p:nvPr/>
        </p:nvSpPr>
        <p:spPr>
          <a:xfrm rot="0" flipH="0" flipV="0">
            <a:off x="3314700" y="2752725"/>
            <a:ext cx="2286000" cy="990600"/>
          </a:xfrm>
          <a:prstGeom prst="roundRect">
            <a:avLst>
              <a:gd name="adj" fmla="val 7692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81" name="" descr="{&quot;isTemplate&quot;:true,&quot;type&quot;:&quot;text&quot;}"/>
          <p:cNvSpPr txBox="1"/>
          <p:nvPr/>
        </p:nvSpPr>
        <p:spPr>
          <a:xfrm rot="0" flipH="0" flipV="0">
            <a:off x="4095750" y="2952750"/>
            <a:ext cx="7239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276FBF"/>
                </a:solidFill>
                <a:latin typeface="Microsoft YaHei"/>
                <a:ea typeface="Microsoft YaHei"/>
              </a:rPr>
              <a:t>Step 11</a:t>
            </a:r>
            <a:endParaRPr/>
          </a:p>
        </p:txBody>
      </p:sp>
      <p:sp>
        <p:nvSpPr>
          <p:cNvPr id="182" name="" descr="{&quot;isTemplate&quot;:true,&quot;type&quot;:&quot;text&quot;}"/>
          <p:cNvSpPr txBox="1"/>
          <p:nvPr/>
        </p:nvSpPr>
        <p:spPr>
          <a:xfrm rot="0" flipH="0" flipV="0">
            <a:off x="4276725" y="3200400"/>
            <a:ext cx="3714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276FBF"/>
                </a:solidFill>
                <a:latin typeface="Microsoft YaHei"/>
                <a:ea typeface="Microsoft YaHei"/>
              </a:rPr>
              <a:t>10:00</a:t>
            </a:r>
            <a:endParaRPr/>
          </a:p>
        </p:txBody>
      </p:sp>
      <p:sp>
        <p:nvSpPr>
          <p:cNvPr id="183" name="" descr="{&quot;isTemplate&quot;:true,&quot;type&quot;:&quot;text&quot;}"/>
          <p:cNvSpPr txBox="1"/>
          <p:nvPr/>
        </p:nvSpPr>
        <p:spPr>
          <a:xfrm rot="0" flipH="0" flipV="0">
            <a:off x="4152900" y="3390900"/>
            <a:ext cx="6191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原消息开始</a:t>
            </a:r>
            <a:endParaRPr/>
          </a:p>
        </p:txBody>
      </p:sp>
      <p:sp>
        <p:nvSpPr>
          <p:cNvPr id="184" name="" descr="{&quot;isTemplate&quot;:true,&quot;type&quot;:&quot;text&quot;}"/>
          <p:cNvSpPr txBox="1"/>
          <p:nvPr/>
        </p:nvSpPr>
        <p:spPr>
          <a:xfrm rot="0" flipH="0" flipV="0">
            <a:off x="5772150" y="3114675"/>
            <a:ext cx="857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80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185" name=""/>
          <p:cNvSpPr/>
          <p:nvPr/>
        </p:nvSpPr>
        <p:spPr>
          <a:xfrm rot="0" flipH="0" flipV="0">
            <a:off x="6019800" y="2752725"/>
            <a:ext cx="2286000" cy="990600"/>
          </a:xfrm>
          <a:prstGeom prst="roundRect">
            <a:avLst>
              <a:gd name="adj" fmla="val 7692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86" name="" descr="{&quot;isTemplate&quot;:true,&quot;type&quot;:&quot;text&quot;}"/>
          <p:cNvSpPr txBox="1"/>
          <p:nvPr/>
        </p:nvSpPr>
        <p:spPr>
          <a:xfrm rot="0" flipH="0" flipV="0">
            <a:off x="6800850" y="2952750"/>
            <a:ext cx="7239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276FBF"/>
                </a:solidFill>
                <a:latin typeface="Microsoft YaHei"/>
                <a:ea typeface="Microsoft YaHei"/>
              </a:rPr>
              <a:t>Step 41</a:t>
            </a:r>
            <a:endParaRPr/>
          </a:p>
        </p:txBody>
      </p:sp>
      <p:sp>
        <p:nvSpPr>
          <p:cNvPr id="187" name="" descr="{&quot;isTemplate&quot;:true,&quot;type&quot;:&quot;text&quot;}"/>
          <p:cNvSpPr txBox="1"/>
          <p:nvPr/>
        </p:nvSpPr>
        <p:spPr>
          <a:xfrm rot="0" flipH="0" flipV="0">
            <a:off x="6981825" y="3200400"/>
            <a:ext cx="3714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276FBF"/>
                </a:solidFill>
                <a:latin typeface="Microsoft YaHei"/>
                <a:ea typeface="Microsoft YaHei"/>
              </a:rPr>
              <a:t>10:30</a:t>
            </a:r>
            <a:endParaRPr/>
          </a:p>
        </p:txBody>
      </p:sp>
      <p:sp>
        <p:nvSpPr>
          <p:cNvPr id="188" name="" descr="{&quot;isTemplate&quot;:true,&quot;type&quot;:&quot;text&quot;}"/>
          <p:cNvSpPr txBox="1"/>
          <p:nvPr/>
        </p:nvSpPr>
        <p:spPr>
          <a:xfrm rot="0" flipH="0" flipV="0">
            <a:off x="6791325" y="3390900"/>
            <a:ext cx="7429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候选调整开始</a:t>
            </a:r>
            <a:endParaRPr/>
          </a:p>
        </p:txBody>
      </p:sp>
      <p:sp>
        <p:nvSpPr>
          <p:cNvPr id="189" name="" descr="{&quot;isTemplate&quot;:true,&quot;type&quot;:&quot;text&quot;}"/>
          <p:cNvSpPr txBox="1"/>
          <p:nvPr/>
        </p:nvSpPr>
        <p:spPr>
          <a:xfrm rot="0" flipH="0" flipV="0">
            <a:off x="8477250" y="3114675"/>
            <a:ext cx="857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800">
                <a:solidFill>
                  <a:srgbClr val="26816B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190" name=""/>
          <p:cNvSpPr/>
          <p:nvPr/>
        </p:nvSpPr>
        <p:spPr>
          <a:xfrm rot="0" flipH="0" flipV="0">
            <a:off x="8724900" y="2752725"/>
            <a:ext cx="2286000" cy="990600"/>
          </a:xfrm>
          <a:prstGeom prst="roundRect">
            <a:avLst>
              <a:gd name="adj" fmla="val 7692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191" name="" descr="{&quot;isTemplate&quot;:true,&quot;type&quot;:&quot;text&quot;}"/>
          <p:cNvSpPr txBox="1"/>
          <p:nvPr/>
        </p:nvSpPr>
        <p:spPr>
          <a:xfrm rot="0" flipH="0" flipV="0">
            <a:off x="9505950" y="2952750"/>
            <a:ext cx="7239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26816B"/>
                </a:solidFill>
                <a:latin typeface="Microsoft YaHei"/>
                <a:ea typeface="Microsoft YaHei"/>
              </a:rPr>
              <a:t>Step 48</a:t>
            </a:r>
            <a:endParaRPr/>
          </a:p>
        </p:txBody>
      </p:sp>
      <p:sp>
        <p:nvSpPr>
          <p:cNvPr id="192" name="" descr="{&quot;isTemplate&quot;:true,&quot;type&quot;:&quot;text&quot;}"/>
          <p:cNvSpPr txBox="1"/>
          <p:nvPr/>
        </p:nvSpPr>
        <p:spPr>
          <a:xfrm rot="0" flipH="0" flipV="0">
            <a:off x="9686925" y="3200400"/>
            <a:ext cx="3714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26816B"/>
                </a:solidFill>
                <a:latin typeface="Microsoft YaHei"/>
                <a:ea typeface="Microsoft YaHei"/>
              </a:rPr>
              <a:t>10:37</a:t>
            </a:r>
            <a:endParaRPr/>
          </a:p>
        </p:txBody>
      </p:sp>
      <p:sp>
        <p:nvSpPr>
          <p:cNvPr id="193" name="" descr="{&quot;isTemplate&quot;:true,&quot;type&quot;:&quot;text&quot;}"/>
          <p:cNvSpPr txBox="1"/>
          <p:nvPr/>
        </p:nvSpPr>
        <p:spPr>
          <a:xfrm rot="0" flipH="0" flipV="0">
            <a:off x="9496425" y="3390900"/>
            <a:ext cx="7429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观察窗口终点</a:t>
            </a:r>
            <a:endParaRPr/>
          </a:p>
        </p:txBody>
      </p:sp>
      <p:sp>
        <p:nvSpPr>
          <p:cNvPr id="194" name=""/>
          <p:cNvSpPr/>
          <p:nvPr/>
        </p:nvSpPr>
        <p:spPr>
          <a:xfrm rot="0" flipH="0" flipV="0">
            <a:off x="3390900" y="3876675"/>
            <a:ext cx="7620000" cy="628650"/>
          </a:xfrm>
          <a:prstGeom prst="roundRect">
            <a:avLst>
              <a:gd name="adj" fmla="val 12121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195" name="" descr="{&quot;isTemplate&quot;:true,&quot;type&quot;:&quot;text&quot;}"/>
          <p:cNvSpPr txBox="1"/>
          <p:nvPr/>
        </p:nvSpPr>
        <p:spPr>
          <a:xfrm rot="0" flipH="0" flipV="0">
            <a:off x="3581400" y="4105275"/>
            <a:ext cx="14001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CB6B28"/>
                </a:solidFill>
                <a:latin typeface="Microsoft YaHei"/>
                <a:ea typeface="Microsoft YaHei"/>
              </a:rPr>
              <a:t>11:30</a:t>
            </a:r>
            <a:r>
              <a:rPr lang="zh-CN" sz="1125" b="1">
                <a:solidFill>
                  <a:srgbClr val="CB6B28"/>
                </a:solidFill>
                <a:latin typeface="Microsoft YaHei"/>
                <a:ea typeface="Microsoft YaHei"/>
              </a:rPr>
              <a:t>　候选活动结束</a:t>
            </a:r>
            <a:endParaRPr/>
          </a:p>
        </p:txBody>
      </p:sp>
      <p:sp>
        <p:nvSpPr>
          <p:cNvPr id="196" name="" descr="{&quot;isTemplate&quot;:true,&quot;type&quot;:&quot;text&quot;}"/>
          <p:cNvSpPr txBox="1"/>
          <p:nvPr/>
        </p:nvSpPr>
        <p:spPr>
          <a:xfrm rot="0" flipH="0" flipV="0">
            <a:off x="5114925" y="4114800"/>
            <a:ext cx="1866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在观察窗口之外，虚线伸出窗口</a:t>
            </a:r>
            <a:endParaRPr/>
          </a:p>
        </p:txBody>
      </p:sp>
      <p:sp>
        <p:nvSpPr>
          <p:cNvPr id="197" name=""/>
          <p:cNvSpPr/>
          <p:nvPr/>
        </p:nvSpPr>
        <p:spPr>
          <a:xfrm rot="0" flipH="0" flipV="0">
            <a:off x="609600" y="4638675"/>
            <a:ext cx="5143500" cy="609600"/>
          </a:xfrm>
          <a:prstGeom prst="roundRect">
            <a:avLst>
              <a:gd name="adj" fmla="val 12500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198" name="" descr="{&quot;isTemplate&quot;:true,&quot;type&quot;:&quot;text&quot;}"/>
          <p:cNvSpPr txBox="1"/>
          <p:nvPr/>
        </p:nvSpPr>
        <p:spPr>
          <a:xfrm rot="0" flipH="0" flipV="0">
            <a:off x="781050" y="4857750"/>
            <a:ext cx="857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6816B"/>
                </a:solidFill>
                <a:latin typeface="Microsoft YaHei"/>
                <a:ea typeface="Microsoft YaHei"/>
              </a:rPr>
              <a:t>窗口内可观察</a:t>
            </a:r>
            <a:endParaRPr/>
          </a:p>
        </p:txBody>
      </p:sp>
      <p:sp>
        <p:nvSpPr>
          <p:cNvPr id="199" name="" descr="{&quot;isTemplate&quot;:true,&quot;type&quot;:&quot;text&quot;}"/>
          <p:cNvSpPr txBox="1"/>
          <p:nvPr/>
        </p:nvSpPr>
        <p:spPr>
          <a:xfrm rot="0" flipH="0" flipV="0">
            <a:off x="1752600" y="4867275"/>
            <a:ext cx="14001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获知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移动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到达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开始</a:t>
            </a:r>
            <a:endParaRPr/>
          </a:p>
        </p:txBody>
      </p:sp>
      <p:sp>
        <p:nvSpPr>
          <p:cNvPr id="200" name=""/>
          <p:cNvSpPr/>
          <p:nvPr/>
        </p:nvSpPr>
        <p:spPr>
          <a:xfrm rot="0" flipH="0" flipV="0">
            <a:off x="5867400" y="4638675"/>
            <a:ext cx="5143500" cy="609600"/>
          </a:xfrm>
          <a:prstGeom prst="roundRect">
            <a:avLst>
              <a:gd name="adj" fmla="val 1250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201" name="" descr="{&quot;isTemplate&quot;:true,&quot;type&quot;:&quot;text&quot;}"/>
          <p:cNvSpPr txBox="1"/>
          <p:nvPr/>
        </p:nvSpPr>
        <p:spPr>
          <a:xfrm rot="0" flipH="0" flipV="0">
            <a:off x="6038850" y="4857750"/>
            <a:ext cx="857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546779"/>
                </a:solidFill>
                <a:latin typeface="Microsoft YaHei"/>
                <a:ea typeface="Microsoft YaHei"/>
              </a:rPr>
              <a:t>窗口不能证明</a:t>
            </a:r>
            <a:endParaRPr/>
          </a:p>
        </p:txBody>
      </p:sp>
      <p:sp>
        <p:nvSpPr>
          <p:cNvPr id="202" name="" descr="{&quot;isTemplate&quot;:true,&quot;type&quot;:&quot;text&quot;}"/>
          <p:cNvSpPr txBox="1"/>
          <p:nvPr/>
        </p:nvSpPr>
        <p:spPr>
          <a:xfrm rot="0" flipH="0" flipV="0">
            <a:off x="7010400" y="4867275"/>
            <a:ext cx="14573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11:30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的活动已完整结束</a:t>
            </a:r>
            <a:endParaRPr/>
          </a:p>
        </p:txBody>
      </p:sp>
      <p:sp>
        <p:nvSpPr>
          <p:cNvPr id="203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4955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3.1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把筹备方案放进一个会发生变化的世界</a:t>
            </a:r>
            <a:endParaRPr/>
          </a:p>
        </p:txBody>
      </p:sp>
      <p:sp>
        <p:nvSpPr>
          <p:cNvPr id="204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15 / 24</a:t>
            </a:r>
            <a:endParaRPr/>
          </a:p>
        </p:txBody>
      </p:sp>
    </p:spTree>
  </p:cSld>
</p:sld>
</file>

<file path=ppt/slides/slide16.xml><?xml version="1.0" encoding="utf-8"?>
<p:sld xmlns:p="http://schemas.openxmlformats.org/presentationml/2006/main" xmlns:a="http://schemas.openxmlformats.org/drawingml/2006/main">
  <p:cSld>
    <p:spTree>
      <p:nvGrpSpPr>
        <p:cNvPr id="205" name="" descr="&lt;Slide notes={`一次活动里同时跑着三种时间，必须分开记录。&#10;&#10;第一种是虚拟时间，它决定世界里的日期、活动安排和等待的截止时刻，角色按它来判断现在几点、该不该出发。&#10;&#10;第二种是模型处理时间，是请求、生成和选择工具实际花掉的时间，它影响的是调用成本，不影响世界里的钟。&#10;&#10;第三种是墙钟时间，包含模型、工具、暂停和人工处理整个过程，是我坐在电脑前面真实经历的时间。&#10;&#10;三种时间对不上是正常的。比如模型思考两秒，世界里可能只过了一分钟；我暂停了半小时，世界里的钟没有停，但也没有继续走。写结论的时候要说清楚是在哪一种时间上得到的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3.1.5　一次活动有三种时间&lt;/Text&gt;&#10;            &lt;Text style={{ fontSize: 34, fontWeight: 'bold', color: '#20344B' }}&gt;三种时间要分开记录&lt;/Text&gt;&#10;        &lt;/Box&gt;&#10;    &lt;/Box&gt;&#10;&#10;    &lt;Box style={{ height: 540, flexDirection: 'column', justifyContent: 'center', gap: 12 }}&gt;&#10;&#10;        &lt;Text style={{ fontSize: 15, color: '#546779' }}&gt;同一个活动，三种时间各回答一个不同的问题。&lt;/Text&gt;&#10;&#10;        &lt;Box style={{ height: 124, background: '#EDF4FC', borderRadius: 10, padding: '0 20px', flexDirection: 'row', alignItems: 'center', gap: 16 }}&gt;&#10;            &lt;Box style={{ width: 4, height: 64, background: '#276FBF' }} /&gt;&#10;            &lt;Box style={{ width: 190 }}&gt;&lt;Text style={{ fontSize: 18, fontWeight: 'bold', color: '#20344B' }}&gt;虚拟时间&lt;/Text&gt;&lt;/Box&gt;&#10;            &lt;Box style={{ flex: 1, flexDirection: 'column', gap: 3 }}&gt;&#10;                &lt;Text style={{ fontSize: 15, color: '#546779' }}&gt;决定世界中的日期、活动安排与等待截止&lt;/Text&gt;&#10;                &lt;Text style={{ fontSize: 13, color: '#546779' }}&gt;角色按它判断现在几点、该不该出发&lt;/Text&gt;&#10;            &lt;/Box&gt;&#10;            &lt;Box style={{ width: 240, height: 62, background: '#FFFFFF', borderRadius: 8, padding: '0 14px', justifyContent: 'center' }}&gt;&#10;                &lt;Text style={{ fontSize: 13, color: '#546779' }}&gt;记录在世界时间与事件里&lt;/Text&gt;&#10;            &lt;/Box&gt;&#10;        &lt;/Box&gt;&#10;&#10;        &lt;Box style={{ height: 124, background: '#ECF7F2', borderRadius: 10, padding: '0 20px', flexDirection: 'row', alignItems: 'center', gap: 16 }}&gt;&#10;            &lt;Box style={{ width: 4, height: 64, background: '#26816B' }} /&gt;&#10;            &lt;Box style={{ width: 190 }}&gt;&lt;Text style={{ fontSize: 18, fontWeight: 'bold', color: '#20344B' }}&gt;模型处理时间&lt;/Text&gt;&lt;/Box&gt;&#10;            &lt;Box style={{ flex: 1, flexDirection: 'column', gap: 3 }}&gt;&#10;                &lt;Text style={{ fontSize: 15, color: '#546779' }}&gt;请求、生成与工具选择实际花掉的时间&lt;/Text&gt;&#10;                &lt;Text style={{ fontSize: 13, color: '#546779' }}&gt;影响调用成本，不影响世界里的钟&lt;/Text&gt;&#10;            &lt;/Box&gt;&#10;            &lt;Box style={{ width: 240, height: 62, background: '#FFFFFF', borderRadius: 8, padding: '0 14px', justifyContent: 'center' }}&gt;&#10;                &lt;Text style={{ fontSize: 13, color: '#546779' }}&gt;记录在调用与用量里&lt;/Text&gt;&#10;            &lt;/Box&gt;&#10;        &lt;/Box&gt;&#10;&#10;        &lt;Box style={{ height: 124, background: '#F7F3E8', borderRadius: 10, padding: '0 20px', flexDirection: 'row', alignItems: 'center', gap: 16 }}&gt;&#10;            &lt;Box style={{ width: 4, height: 64, background: '#20344B' }} /&gt;&#10;            &lt;Box style={{ width: 190 }}&gt;&lt;Text style={{ fontSize: 18, fontWeight: 'bold', color: '#20344B' }}&gt;墙钟时间&lt;/Text&gt;&lt;/Box&gt;&#10;            &lt;Box style={{ flex: 1, flexDirection: 'column', gap: 3 }}&gt;&#10;                &lt;Text style={{ fontSize: 15, color: '#546779' }}&gt;包含模型、工具、暂停与人工处理的过程&lt;/Text&gt;&#10;                &lt;Text style={{ fontSize: 13, color: '#546779' }}&gt;我真实经历的时间&lt;/Text&gt;&#10;            &lt;/Box&gt;&#10;            &lt;Box style={{ width: 240, height: 62, background: '#FFFFFF', borderRadius: 8, padding: '0 14px', justifyContent: 'center' }}&gt;&#10;                &lt;Text style={{ fontSize: 13, color: '#546779' }}&gt;记录在运行与人工流程里&lt;/Text&gt;&#10;            &lt;/Box&gt;&#10;        &lt;/Box&gt;&#10;&#10;        &lt;Box style={{ flexDirection: 'row', alignItems: 'center', gap: 14, background: '#FFF4E6', borderRadius: 10, padding: '12px 20px' }}&gt;&#10;            &lt;Box style={{ width: 4, height: 40, background: '#CB6B28' }} /&gt;&#10;            &lt;Text style={{ fontSize: 14, color: '#546779', flex: 1, lineHeight: 1.5 }}&gt;三种时间对不上是正常的；写结论时说清它取自哪一种时间，别把它们混在一个数字里。&lt;/Text&gt;&#10;        &lt;/Box&gt;&#10;&#10;    &lt;/Box&gt;&#10;&#10;    &lt;Box style={{ height: 40, flexDirection: 'row', justifyContent: 'space-between', alignItems: 'center' }}&gt;&#10;        &lt;Text style={{ fontSize: 14, color: '#546779' }}&gt;3.1 把筹备方案放进一个会发生变化的世界&lt;/Text&gt;&#10;        &lt;Text style={{ fontSize: 14, color: '#546779' }}&gt;16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07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08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2914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3.1.5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一次活动有三种时间</a:t>
            </a:r>
            <a:endParaRPr/>
          </a:p>
        </p:txBody>
      </p:sp>
      <p:sp>
        <p:nvSpPr>
          <p:cNvPr id="209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29146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三种时间要分开记录</a:t>
            </a:r>
            <a:endParaRPr/>
          </a:p>
        </p:txBody>
      </p:sp>
      <p:sp>
        <p:nvSpPr>
          <p:cNvPr id="210" name="" descr="{&quot;isTemplate&quot;:true,&quot;type&quot;:&quot;text&quot;}"/>
          <p:cNvSpPr txBox="1"/>
          <p:nvPr/>
        </p:nvSpPr>
        <p:spPr>
          <a:xfrm rot="0" flipH="0" flipV="0">
            <a:off x="609600" y="1323975"/>
            <a:ext cx="10972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同一个活动，三种时间各回答一个不同的问题。</a:t>
            </a:r>
            <a:endParaRPr/>
          </a:p>
        </p:txBody>
      </p:sp>
      <p:sp>
        <p:nvSpPr>
          <p:cNvPr id="211" name=""/>
          <p:cNvSpPr/>
          <p:nvPr/>
        </p:nvSpPr>
        <p:spPr>
          <a:xfrm rot="0" flipH="0" flipV="0">
            <a:off x="609600" y="1609725"/>
            <a:ext cx="10972800" cy="1181100"/>
          </a:xfrm>
          <a:prstGeom prst="roundRect">
            <a:avLst>
              <a:gd name="adj" fmla="val 8065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212" name=""/>
          <p:cNvSpPr/>
          <p:nvPr/>
        </p:nvSpPr>
        <p:spPr>
          <a:xfrm rot="0" flipH="0" flipV="0">
            <a:off x="800100" y="1895475"/>
            <a:ext cx="38100" cy="6096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13" name="" descr="{&quot;isTemplate&quot;:true,&quot;type&quot;:&quot;text&quot;}"/>
          <p:cNvSpPr txBox="1"/>
          <p:nvPr/>
        </p:nvSpPr>
        <p:spPr>
          <a:xfrm rot="0" flipH="0" flipV="0">
            <a:off x="990600" y="2095500"/>
            <a:ext cx="18097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虚拟时间</a:t>
            </a:r>
            <a:endParaRPr/>
          </a:p>
        </p:txBody>
      </p:sp>
      <p:sp>
        <p:nvSpPr>
          <p:cNvPr id="214" name="" descr="{&quot;isTemplate&quot;:true,&quot;type&quot;:&quot;text&quot;}"/>
          <p:cNvSpPr txBox="1"/>
          <p:nvPr/>
        </p:nvSpPr>
        <p:spPr>
          <a:xfrm rot="0" flipH="0" flipV="0">
            <a:off x="2952750" y="2028825"/>
            <a:ext cx="6000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决定世界中的日期、活动安排与等待截止</a:t>
            </a:r>
            <a:endParaRPr/>
          </a:p>
        </p:txBody>
      </p:sp>
      <p:sp>
        <p:nvSpPr>
          <p:cNvPr id="215" name="" descr="{&quot;isTemplate&quot;:true,&quot;type&quot;:&quot;text&quot;}"/>
          <p:cNvSpPr txBox="1"/>
          <p:nvPr/>
        </p:nvSpPr>
        <p:spPr>
          <a:xfrm rot="0" flipH="0" flipV="0">
            <a:off x="2952750" y="2228850"/>
            <a:ext cx="60007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角色按它判断现在几点、该不该出发</a:t>
            </a:r>
            <a:endParaRPr/>
          </a:p>
        </p:txBody>
      </p:sp>
      <p:sp>
        <p:nvSpPr>
          <p:cNvPr id="216" name=""/>
          <p:cNvSpPr/>
          <p:nvPr/>
        </p:nvSpPr>
        <p:spPr>
          <a:xfrm rot="0" flipH="0" flipV="0">
            <a:off x="9105900" y="1905000"/>
            <a:ext cx="2286000" cy="59055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17" name="" descr="{&quot;isTemplate&quot;:true,&quot;type&quot;:&quot;text&quot;}"/>
          <p:cNvSpPr txBox="1"/>
          <p:nvPr/>
        </p:nvSpPr>
        <p:spPr>
          <a:xfrm rot="0" flipH="0" flipV="0">
            <a:off x="9239250" y="2124075"/>
            <a:ext cx="2019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记录在世界时间与事件里</a:t>
            </a:r>
            <a:endParaRPr/>
          </a:p>
        </p:txBody>
      </p:sp>
      <p:sp>
        <p:nvSpPr>
          <p:cNvPr id="218" name=""/>
          <p:cNvSpPr/>
          <p:nvPr/>
        </p:nvSpPr>
        <p:spPr>
          <a:xfrm rot="0" flipH="0" flipV="0">
            <a:off x="609600" y="2905125"/>
            <a:ext cx="10972800" cy="1181100"/>
          </a:xfrm>
          <a:prstGeom prst="roundRect">
            <a:avLst>
              <a:gd name="adj" fmla="val 8065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219" name=""/>
          <p:cNvSpPr/>
          <p:nvPr/>
        </p:nvSpPr>
        <p:spPr>
          <a:xfrm rot="0" flipH="0" flipV="0">
            <a:off x="800100" y="3190875"/>
            <a:ext cx="38100" cy="60960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220" name="" descr="{&quot;isTemplate&quot;:true,&quot;type&quot;:&quot;text&quot;}"/>
          <p:cNvSpPr txBox="1"/>
          <p:nvPr/>
        </p:nvSpPr>
        <p:spPr>
          <a:xfrm rot="0" flipH="0" flipV="0">
            <a:off x="990600" y="3390900"/>
            <a:ext cx="18097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模型处理时间</a:t>
            </a:r>
            <a:endParaRPr/>
          </a:p>
        </p:txBody>
      </p:sp>
      <p:sp>
        <p:nvSpPr>
          <p:cNvPr id="221" name="" descr="{&quot;isTemplate&quot;:true,&quot;type&quot;:&quot;text&quot;}"/>
          <p:cNvSpPr txBox="1"/>
          <p:nvPr/>
        </p:nvSpPr>
        <p:spPr>
          <a:xfrm rot="0" flipH="0" flipV="0">
            <a:off x="2952750" y="3324225"/>
            <a:ext cx="6000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请求、生成与工具选择实际花掉的时间</a:t>
            </a:r>
            <a:endParaRPr/>
          </a:p>
        </p:txBody>
      </p:sp>
      <p:sp>
        <p:nvSpPr>
          <p:cNvPr id="222" name="" descr="{&quot;isTemplate&quot;:true,&quot;type&quot;:&quot;text&quot;}"/>
          <p:cNvSpPr txBox="1"/>
          <p:nvPr/>
        </p:nvSpPr>
        <p:spPr>
          <a:xfrm rot="0" flipH="0" flipV="0">
            <a:off x="2952750" y="3524250"/>
            <a:ext cx="60007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影响调用成本，不影响世界里的钟</a:t>
            </a:r>
            <a:endParaRPr/>
          </a:p>
        </p:txBody>
      </p:sp>
      <p:sp>
        <p:nvSpPr>
          <p:cNvPr id="223" name=""/>
          <p:cNvSpPr/>
          <p:nvPr/>
        </p:nvSpPr>
        <p:spPr>
          <a:xfrm rot="0" flipH="0" flipV="0">
            <a:off x="9105900" y="3200400"/>
            <a:ext cx="2286000" cy="59055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24" name="" descr="{&quot;isTemplate&quot;:true,&quot;type&quot;:&quot;text&quot;}"/>
          <p:cNvSpPr txBox="1"/>
          <p:nvPr/>
        </p:nvSpPr>
        <p:spPr>
          <a:xfrm rot="0" flipH="0" flipV="0">
            <a:off x="9239250" y="3419475"/>
            <a:ext cx="2019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记录在调用与用量里</a:t>
            </a:r>
            <a:endParaRPr/>
          </a:p>
        </p:txBody>
      </p:sp>
      <p:sp>
        <p:nvSpPr>
          <p:cNvPr id="225" name=""/>
          <p:cNvSpPr/>
          <p:nvPr/>
        </p:nvSpPr>
        <p:spPr>
          <a:xfrm rot="0" flipH="0" flipV="0">
            <a:off x="609600" y="4200525"/>
            <a:ext cx="10972800" cy="1181100"/>
          </a:xfrm>
          <a:prstGeom prst="roundRect">
            <a:avLst>
              <a:gd name="adj" fmla="val 8065"/>
            </a:avLst>
          </a:prstGeom>
          <a:solidFill>
            <a:srgbClr val="F7F3E8"/>
          </a:solidFill>
          <a:ln/>
        </p:spPr>
        <p:txBody>
          <a:bodyPr/>
          <a:p/>
        </p:txBody>
      </p:sp>
      <p:sp>
        <p:nvSpPr>
          <p:cNvPr id="226" name=""/>
          <p:cNvSpPr/>
          <p:nvPr/>
        </p:nvSpPr>
        <p:spPr>
          <a:xfrm rot="0" flipH="0" flipV="0">
            <a:off x="800100" y="4486275"/>
            <a:ext cx="38100" cy="609600"/>
          </a:xfrm>
          <a:prstGeom prst="rect">
            <a:avLst/>
          </a:prstGeom>
          <a:solidFill>
            <a:srgbClr val="20344B"/>
          </a:solidFill>
          <a:ln/>
        </p:spPr>
        <p:txBody>
          <a:bodyPr/>
          <a:p/>
        </p:txBody>
      </p:sp>
      <p:sp>
        <p:nvSpPr>
          <p:cNvPr id="227" name="" descr="{&quot;isTemplate&quot;:true,&quot;type&quot;:&quot;text&quot;}"/>
          <p:cNvSpPr txBox="1"/>
          <p:nvPr/>
        </p:nvSpPr>
        <p:spPr>
          <a:xfrm rot="0" flipH="0" flipV="0">
            <a:off x="990600" y="4686300"/>
            <a:ext cx="18097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墙钟时间</a:t>
            </a:r>
            <a:endParaRPr/>
          </a:p>
        </p:txBody>
      </p:sp>
      <p:sp>
        <p:nvSpPr>
          <p:cNvPr id="228" name="" descr="{&quot;isTemplate&quot;:true,&quot;type&quot;:&quot;text&quot;}"/>
          <p:cNvSpPr txBox="1"/>
          <p:nvPr/>
        </p:nvSpPr>
        <p:spPr>
          <a:xfrm rot="0" flipH="0" flipV="0">
            <a:off x="2952750" y="4619625"/>
            <a:ext cx="6000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包含模型、工具、暂停与人工处理的过程</a:t>
            </a:r>
            <a:endParaRPr/>
          </a:p>
        </p:txBody>
      </p:sp>
      <p:sp>
        <p:nvSpPr>
          <p:cNvPr id="229" name="" descr="{&quot;isTemplate&quot;:true,&quot;type&quot;:&quot;text&quot;}"/>
          <p:cNvSpPr txBox="1"/>
          <p:nvPr/>
        </p:nvSpPr>
        <p:spPr>
          <a:xfrm rot="0" flipH="0" flipV="0">
            <a:off x="2952750" y="4819650"/>
            <a:ext cx="60007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我真实经历的时间</a:t>
            </a:r>
            <a:endParaRPr/>
          </a:p>
        </p:txBody>
      </p:sp>
      <p:sp>
        <p:nvSpPr>
          <p:cNvPr id="230" name=""/>
          <p:cNvSpPr/>
          <p:nvPr/>
        </p:nvSpPr>
        <p:spPr>
          <a:xfrm rot="0" flipH="0" flipV="0">
            <a:off x="9105900" y="4495800"/>
            <a:ext cx="2286000" cy="59055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31" name="" descr="{&quot;isTemplate&quot;:true,&quot;type&quot;:&quot;text&quot;}"/>
          <p:cNvSpPr txBox="1"/>
          <p:nvPr/>
        </p:nvSpPr>
        <p:spPr>
          <a:xfrm rot="0" flipH="0" flipV="0">
            <a:off x="9239250" y="4714875"/>
            <a:ext cx="2019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记录在运行与人工流程里</a:t>
            </a:r>
            <a:endParaRPr/>
          </a:p>
        </p:txBody>
      </p:sp>
      <p:sp>
        <p:nvSpPr>
          <p:cNvPr id="232" name=""/>
          <p:cNvSpPr/>
          <p:nvPr/>
        </p:nvSpPr>
        <p:spPr>
          <a:xfrm rot="0" flipH="0" flipV="0">
            <a:off x="609600" y="5495925"/>
            <a:ext cx="10972800" cy="609600"/>
          </a:xfrm>
          <a:prstGeom prst="roundRect">
            <a:avLst>
              <a:gd name="adj" fmla="val 15625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233" name=""/>
          <p:cNvSpPr/>
          <p:nvPr/>
        </p:nvSpPr>
        <p:spPr>
          <a:xfrm rot="0" flipH="0" flipV="0">
            <a:off x="800100" y="5610225"/>
            <a:ext cx="38100" cy="3810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234" name="" descr="{&quot;isTemplate&quot;:true,&quot;type&quot;:&quot;text&quot;}"/>
          <p:cNvSpPr txBox="1"/>
          <p:nvPr/>
        </p:nvSpPr>
        <p:spPr>
          <a:xfrm rot="0" flipH="0" flipV="0">
            <a:off x="971550" y="5676900"/>
            <a:ext cx="1042035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三种时间对不上是正常的；写结论时说清它取自哪一种时间，别把它们混在一个数字里。</a:t>
            </a:r>
            <a:endParaRPr/>
          </a:p>
        </p:txBody>
      </p:sp>
      <p:sp>
        <p:nvSpPr>
          <p:cNvPr id="235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4955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3.1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把筹备方案放进一个会发生变化的世界</a:t>
            </a:r>
            <a:endParaRPr/>
          </a:p>
        </p:txBody>
      </p:sp>
      <p:sp>
        <p:nvSpPr>
          <p:cNvPr id="236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16 / 24</a:t>
            </a:r>
            <a:endParaRPr/>
          </a:p>
        </p:txBody>
      </p:sp>
    </p:spTree>
  </p:cSld>
</p:sld>
</file>

<file path=ppt/slides/slide17.xml><?xml version="1.0" encoding="utf-8"?>
<p:sld xmlns:p="http://schemas.openxmlformats.org/presentationml/2006/main" xmlns:a="http://schemas.openxmlformats.org/drawingml/2006/main">
  <p:cSld>
    <p:spTree>
      <p:nvGrpSpPr>
        <p:cNvPr id="237" name="" descr="&lt;Slide notes={`用 48 步之前，先看清一个常量。&#10;&#10;当前 ga-cn-v1 的移动常量是每虚拟分钟 4 格。也就是说，一轮一分钟的 MOVE，最多消费 4 格路径。&#10;&#10;要留意 32 像素这个数字，它只是显示尺度，不是距离本身，格子数才是。&#10;&#10;步长、角色数、对象数和模型调用链，都会影响实验成本。48 步不是系统的默认值，也不是必然合适的预算，它只是这一轮候选配置里的取值。&#10;&#10;所以可以按研究问题建立更小的独立练习，也可以直接准备完整案例，正式运行前并不强制试跑若干步。&#10;&#10;如果实验已经封存了，就先复制成一个新的独立实验再调整，不要回写旧实验，也不要改旧运行留下的证据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3.1.5　一次活动有三种时间&lt;/Text&gt;&#10;            &lt;Text style={{ fontSize: 34, fontWeight: 'bold', color: '#20344B' }}&gt;一轮最多走 4 格&lt;/Text&gt;&#10;        &lt;/Box&gt;&#10;    &lt;/Box&gt;&#10;&#10;    &lt;Box style={{ height: 540, flexDirection: 'column', justifyContent: 'center', gap: 16 }}&gt;&#10;&#10;        &lt;Box style={{ flexDirection: 'row', gap: 32 }}&gt;&#10;            &lt;Box style={{ width: 700, height: 132, background: '#EDF4FC', borderRadius: 10, padding: '0 24px', flexDirection: 'row', alignItems: 'center', gap: 18 }}&gt;&#10;                &lt;Text style={{ fontSize: 48, fontWeight: 'bold', color: '#276FBF' }}&gt;4 格&lt;/Text&gt;&#10;                &lt;Box style={{ flexDirection: 'column', gap: 4 }}&gt;&#10;                    &lt;Text style={{ fontSize: 16, fontWeight: 'bold', color: '#276FBF' }}&gt;每虚拟分钟 · 移动常量&lt;/Text&gt;&#10;                    &lt;Text style={{ fontSize: 14, color: '#546779' }}&gt;ga-cn-v1：一轮 1 分钟的 MOVE 最多消费 4 格路径&lt;/Text&gt;&#10;                &lt;/Box&gt;&#10;            &lt;/Box&gt;&#10;            &lt;Box style={{ width: 420, height: 132, background: '#F4F7FA', borderRadius: 10, padding: '0 24px', flexDirection: 'column', gap: 4, justifyContent: 'center' }}&gt;&#10;                &lt;Text style={{ fontSize: 20, fontWeight: 'bold', color: '#20344B' }}&gt;32 px 只是显示尺度&lt;/Text&gt;&#10;                &lt;Text style={{ fontSize: 14, color: '#546779', lineHeight: 1.5 }}&gt;格子数才是距离本身&lt;/Text&gt;&#10;            &lt;/Box&gt;&#10;        &lt;/Box&gt;&#10;&#10;        &lt;Box style={{ height: 58, background: '#F4F7FA', borderRadius: 8, padding: '0 18px', flexDirection: 'row', alignItems: 'center', gap: 14 }}&gt;&#10;            &lt;Box style={{ width: 4, height: 36, background: '#276FBF' }} /&gt;&#10;            &lt;Text style={{ fontSize: 15, color: '#546779' }}&gt;步长、角色数、对象数与模型调用链都会影响实验成本。&lt;/Text&gt;&#10;        &lt;/Box&gt;&#10;&#10;        &lt;Box style={{ height: 58, background: '#FFF4E6', borderRadius: 8, padding: '0 18px', flexDirection: 'row', alignItems: 'center', gap: 14 }}&gt;&#10;            &lt;Box style={{ width: 4, height: 36, background: '#CB6B28' }} /&gt;&#10;            &lt;Text style={{ fontSize: 15, color: '#CB6B28' }}&gt;48 步不是系统默认值，也不是必然合适的预算，它只是候选配置里的取值。&lt;/Text&gt;&#10;        &lt;/Box&gt;&#10;&#10;        &lt;Box style={{ height: 58, background: '#F4F7FA', borderRadius: 8, padding: '0 18px', flexDirection: 'row', alignItems: 'center', gap: 14 }}&gt;&#10;            &lt;Box style={{ width: 4, height: 36, background: '#276FBF' }} /&gt;&#10;            &lt;Text style={{ fontSize: 15, color: '#546779' }}&gt;可以按研究问题建立较小的独立练习，也可以直接准备完整案例；正式运行前不强制试跑。&lt;/Text&gt;&#10;        &lt;/Box&gt;&#10;&#10;        &lt;Box style={{ height: 58, background: '#F4F7FA', borderRadius: 8, padding: '0 18px', flexDirection: 'row', alignItems: 'center', gap: 14 }}&gt;&#10;            &lt;Box style={{ width: 4, height: 36, background: '#CB6B28' }} /&gt;&#10;            &lt;Text style={{ fontSize: 15, color: '#546779' }}&gt;实验已经封存时，先复制成新的独立实验再调整，不回写旧实验、不改旧 Run 证据。&lt;/Text&gt;&#10;        &lt;/Box&gt;&#10;&#10;    &lt;/Box&gt;&#10;&#10;    &lt;Box style={{ height: 40, flexDirection: 'row', justifyContent: 'space-between', alignItems: 'center' }}&gt;&#10;        &lt;Text style={{ fontSize: 14, color: '#546779' }}&gt;3.1 把筹备方案放进一个会发生变化的世界&lt;/Text&gt;&#10;        &lt;Text style={{ fontSize: 14, color: '#546779' }}&gt;17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39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40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23431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3.1.5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一次活动有三种时间</a:t>
            </a:r>
            <a:endParaRPr/>
          </a:p>
        </p:txBody>
      </p:sp>
      <p:sp>
        <p:nvSpPr>
          <p:cNvPr id="241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23431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一轮最多走</a:t>
            </a:r>
            <a:r>
              <a:rPr lang="en-US" sz="255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4 </a:t>
            </a: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格</a:t>
            </a:r>
            <a:endParaRPr/>
          </a:p>
        </p:txBody>
      </p:sp>
      <p:sp>
        <p:nvSpPr>
          <p:cNvPr id="242" name=""/>
          <p:cNvSpPr/>
          <p:nvPr/>
        </p:nvSpPr>
        <p:spPr>
          <a:xfrm rot="0" flipH="0" flipV="0">
            <a:off x="609600" y="1676400"/>
            <a:ext cx="6667500" cy="1257300"/>
          </a:xfrm>
          <a:prstGeom prst="roundRect">
            <a:avLst>
              <a:gd name="adj" fmla="val 7576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243" name="" descr="{&quot;isTemplate&quot;:true,&quot;type&quot;:&quot;text&quot;}"/>
          <p:cNvSpPr txBox="1"/>
          <p:nvPr/>
        </p:nvSpPr>
        <p:spPr>
          <a:xfrm rot="0" flipH="0" flipV="0">
            <a:off x="838200" y="2028825"/>
            <a:ext cx="876300" cy="552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600" b="1">
                <a:solidFill>
                  <a:srgbClr val="276FBF"/>
                </a:solidFill>
                <a:latin typeface="Microsoft YaHei"/>
                <a:ea typeface="Microsoft YaHei"/>
              </a:rPr>
              <a:t xml:space="preserve">4 </a:t>
            </a:r>
            <a:r>
              <a:rPr lang="zh-CN" sz="3600" b="1">
                <a:solidFill>
                  <a:srgbClr val="276FBF"/>
                </a:solidFill>
                <a:latin typeface="Microsoft YaHei"/>
                <a:ea typeface="Microsoft YaHei"/>
              </a:rPr>
              <a:t>格</a:t>
            </a:r>
            <a:endParaRPr/>
          </a:p>
        </p:txBody>
      </p:sp>
      <p:sp>
        <p:nvSpPr>
          <p:cNvPr id="244" name="" descr="{&quot;isTemplate&quot;:true,&quot;type&quot;:&quot;text&quot;}"/>
          <p:cNvSpPr txBox="1"/>
          <p:nvPr/>
        </p:nvSpPr>
        <p:spPr>
          <a:xfrm rot="0" flipH="0" flipV="0">
            <a:off x="1885950" y="2114550"/>
            <a:ext cx="31051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76FBF"/>
                </a:solidFill>
                <a:latin typeface="Microsoft YaHei"/>
                <a:ea typeface="Microsoft YaHei"/>
              </a:rPr>
              <a:t>每虚拟分钟</a:t>
            </a:r>
            <a:r>
              <a:rPr lang="en-US" sz="1200" b="1">
                <a:solidFill>
                  <a:srgbClr val="276FBF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00" b="1">
                <a:solidFill>
                  <a:srgbClr val="276FBF"/>
                </a:solidFill>
                <a:latin typeface="Microsoft YaHei"/>
                <a:ea typeface="Microsoft YaHei"/>
              </a:rPr>
              <a:t>移动常量</a:t>
            </a:r>
            <a:endParaRPr/>
          </a:p>
        </p:txBody>
      </p:sp>
      <p:sp>
        <p:nvSpPr>
          <p:cNvPr id="245" name="" descr="{&quot;isTemplate&quot;:true,&quot;type&quot;:&quot;text&quot;}"/>
          <p:cNvSpPr txBox="1"/>
          <p:nvPr/>
        </p:nvSpPr>
        <p:spPr>
          <a:xfrm rot="0" flipH="0" flipV="0">
            <a:off x="1885950" y="2343150"/>
            <a:ext cx="31051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ga-cn-v1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：一轮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1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分钟的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MOVE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最多消费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4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格路径</a:t>
            </a:r>
            <a:endParaRPr/>
          </a:p>
        </p:txBody>
      </p:sp>
      <p:sp>
        <p:nvSpPr>
          <p:cNvPr id="246" name=""/>
          <p:cNvSpPr/>
          <p:nvPr/>
        </p:nvSpPr>
        <p:spPr>
          <a:xfrm rot="0" flipH="0" flipV="0">
            <a:off x="7581900" y="1676400"/>
            <a:ext cx="4000500" cy="1257300"/>
          </a:xfrm>
          <a:prstGeom prst="roundRect">
            <a:avLst>
              <a:gd name="adj" fmla="val 7576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247" name="" descr="{&quot;isTemplate&quot;:true,&quot;type&quot;:&quot;text&quot;}"/>
          <p:cNvSpPr txBox="1"/>
          <p:nvPr/>
        </p:nvSpPr>
        <p:spPr>
          <a:xfrm rot="0" flipH="0" flipV="0">
            <a:off x="7810500" y="2047875"/>
            <a:ext cx="35433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32 px </a:t>
            </a: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只是显示尺度</a:t>
            </a:r>
            <a:endParaRPr/>
          </a:p>
        </p:txBody>
      </p:sp>
      <p:sp>
        <p:nvSpPr>
          <p:cNvPr id="248" name="" descr="{&quot;isTemplate&quot;:true,&quot;type&quot;:&quot;text&quot;}"/>
          <p:cNvSpPr txBox="1"/>
          <p:nvPr/>
        </p:nvSpPr>
        <p:spPr>
          <a:xfrm rot="0" flipH="0" flipV="0">
            <a:off x="7810500" y="2314575"/>
            <a:ext cx="35433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格子数才是距离本身</a:t>
            </a:r>
            <a:endParaRPr/>
          </a:p>
        </p:txBody>
      </p:sp>
      <p:sp>
        <p:nvSpPr>
          <p:cNvPr id="249" name=""/>
          <p:cNvSpPr/>
          <p:nvPr/>
        </p:nvSpPr>
        <p:spPr>
          <a:xfrm rot="0" flipH="0" flipV="0">
            <a:off x="609600" y="3086100"/>
            <a:ext cx="10972800" cy="552450"/>
          </a:xfrm>
          <a:prstGeom prst="roundRect">
            <a:avLst>
              <a:gd name="adj" fmla="val 13793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250" name=""/>
          <p:cNvSpPr/>
          <p:nvPr/>
        </p:nvSpPr>
        <p:spPr>
          <a:xfrm rot="0" flipH="0" flipV="0">
            <a:off x="781050" y="3190875"/>
            <a:ext cx="38100" cy="3429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51" name="" descr="{&quot;isTemplate&quot;:true,&quot;type&quot;:&quot;text&quot;}"/>
          <p:cNvSpPr txBox="1"/>
          <p:nvPr/>
        </p:nvSpPr>
        <p:spPr>
          <a:xfrm rot="0" flipH="0" flipV="0">
            <a:off x="952500" y="3276600"/>
            <a:ext cx="35718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步长、角色数、对象数与模型调用链都会影响实验成本。</a:t>
            </a:r>
            <a:endParaRPr/>
          </a:p>
        </p:txBody>
      </p:sp>
      <p:sp>
        <p:nvSpPr>
          <p:cNvPr id="252" name=""/>
          <p:cNvSpPr/>
          <p:nvPr/>
        </p:nvSpPr>
        <p:spPr>
          <a:xfrm rot="0" flipH="0" flipV="0">
            <a:off x="609600" y="3790950"/>
            <a:ext cx="10972800" cy="552450"/>
          </a:xfrm>
          <a:prstGeom prst="roundRect">
            <a:avLst>
              <a:gd name="adj" fmla="val 13793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253" name=""/>
          <p:cNvSpPr/>
          <p:nvPr/>
        </p:nvSpPr>
        <p:spPr>
          <a:xfrm rot="0" flipH="0" flipV="0">
            <a:off x="781050" y="3895725"/>
            <a:ext cx="38100" cy="3429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254" name="" descr="{&quot;isTemplate&quot;:true,&quot;type&quot;:&quot;text&quot;}"/>
          <p:cNvSpPr txBox="1"/>
          <p:nvPr/>
        </p:nvSpPr>
        <p:spPr>
          <a:xfrm rot="0" flipH="0" flipV="0">
            <a:off x="952500" y="3981450"/>
            <a:ext cx="47910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CB6B28"/>
                </a:solidFill>
                <a:latin typeface="Microsoft YaHei"/>
                <a:ea typeface="Microsoft YaHei"/>
              </a:rPr>
              <a:t xml:space="preserve">48 </a:t>
            </a:r>
            <a:r>
              <a:rPr lang="zh-CN" sz="1125">
                <a:solidFill>
                  <a:srgbClr val="CB6B28"/>
                </a:solidFill>
                <a:latin typeface="Microsoft YaHei"/>
                <a:ea typeface="Microsoft YaHei"/>
              </a:rPr>
              <a:t>步不是系统默认值，也不是必然合适的预算，它只是候选配置里的取值。</a:t>
            </a:r>
            <a:endParaRPr/>
          </a:p>
        </p:txBody>
      </p:sp>
      <p:sp>
        <p:nvSpPr>
          <p:cNvPr id="255" name=""/>
          <p:cNvSpPr/>
          <p:nvPr/>
        </p:nvSpPr>
        <p:spPr>
          <a:xfrm rot="0" flipH="0" flipV="0">
            <a:off x="609600" y="4495800"/>
            <a:ext cx="10972800" cy="552450"/>
          </a:xfrm>
          <a:prstGeom prst="roundRect">
            <a:avLst>
              <a:gd name="adj" fmla="val 13793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256" name=""/>
          <p:cNvSpPr/>
          <p:nvPr/>
        </p:nvSpPr>
        <p:spPr>
          <a:xfrm rot="0" flipH="0" flipV="0">
            <a:off x="781050" y="4600575"/>
            <a:ext cx="38100" cy="3429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57" name="" descr="{&quot;isTemplate&quot;:true,&quot;type&quot;:&quot;text&quot;}"/>
          <p:cNvSpPr txBox="1"/>
          <p:nvPr/>
        </p:nvSpPr>
        <p:spPr>
          <a:xfrm rot="0" flipH="0" flipV="0">
            <a:off x="952500" y="4686300"/>
            <a:ext cx="5715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可以按研究问题建立较小的独立练习，也可以直接准备完整案例；正式运行前不强制试跑。</a:t>
            </a:r>
            <a:endParaRPr/>
          </a:p>
        </p:txBody>
      </p:sp>
      <p:sp>
        <p:nvSpPr>
          <p:cNvPr id="258" name=""/>
          <p:cNvSpPr/>
          <p:nvPr/>
        </p:nvSpPr>
        <p:spPr>
          <a:xfrm rot="0" flipH="0" flipV="0">
            <a:off x="609600" y="5200650"/>
            <a:ext cx="10972800" cy="552450"/>
          </a:xfrm>
          <a:prstGeom prst="roundRect">
            <a:avLst>
              <a:gd name="adj" fmla="val 13793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259" name=""/>
          <p:cNvSpPr/>
          <p:nvPr/>
        </p:nvSpPr>
        <p:spPr>
          <a:xfrm rot="0" flipH="0" flipV="0">
            <a:off x="781050" y="5305425"/>
            <a:ext cx="38100" cy="3429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260" name="" descr="{&quot;isTemplate&quot;:true,&quot;type&quot;:&quot;text&quot;}"/>
          <p:cNvSpPr txBox="1"/>
          <p:nvPr/>
        </p:nvSpPr>
        <p:spPr>
          <a:xfrm rot="0" flipH="0" flipV="0">
            <a:off x="952500" y="5391150"/>
            <a:ext cx="53625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实验已经封存时，先复制成新的独立实验再调整，不回写旧实验、不改旧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Run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证据。</a:t>
            </a:r>
            <a:endParaRPr/>
          </a:p>
        </p:txBody>
      </p:sp>
      <p:sp>
        <p:nvSpPr>
          <p:cNvPr id="261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4955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3.1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把筹备方案放进一个会发生变化的世界</a:t>
            </a:r>
            <a:endParaRPr/>
          </a:p>
        </p:txBody>
      </p:sp>
      <p:sp>
        <p:nvSpPr>
          <p:cNvPr id="262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17 / 24</a:t>
            </a:r>
            <a:endParaRPr/>
          </a:p>
        </p:txBody>
      </p:sp>
    </p:spTree>
  </p:cSld>
</p:sld>
</file>

<file path=ppt/slides/slide18.xml><?xml version="1.0" encoding="utf-8"?>
<p:sld xmlns:p="http://schemas.openxmlformats.org/presentationml/2006/main" xmlns:a="http://schemas.openxmlformats.org/drawingml/2006/main">
  <p:cSld>
    <p:spTree>
      <p:nvGrpSpPr>
        <p:cNvPr id="263" name="" descr="&lt;Slide notes={`最后一块讲实践怎么组织，以及动手之前要先固定什么。&#10;&#10;整章分两半：前半段建立可行动的世界，后半段处理可恢复、可解释的实验。&#10;&#10;每一步都要保留与问题相匹配的证据，动手之前还要把环境、问题和停止条件先固定下来。&#10;&#10;另外还会说明两个历史案例的用法：它们保留的是历史含义，不能和新案例拼成一次已经完成的运行。`} style={{ width: 1280, height: 720, background: '#FFFFFF', flexDirection: 'column', padding: '20px 64px' }}&gt;&#10;&#10;    &lt;Box style={{ height: 640, flexDirection: 'column', justifyContent: 'center', gap: 22 }}&gt;&#10;&#10;        &lt;Text style={{ fontSize: 15, color: '#276FBF' }}&gt;4　　3.1.6 — 3.1.7&lt;/Text&gt;&#10;&#10;        &lt;Text style={{ fontSize: 56, fontWeight: 'bold', color: '#20344B', lineHeight: 1.15 }}&gt;先建世界，再管实验&lt;/Text&gt;&#10;&#10;        &lt;Box style={{ width: 72, height: 4, background: '#276FBF' }} /&gt;&#10;&#10;        &lt;Text style={{ fontSize: 18, color: '#546779', lineHeight: 1.7, width: 900 }}&gt;前半章建立可行动的世界，后半章处理可恢复、可解释的实验；每一步都要留下对得上的证据。&lt;/Text&gt;&#10;&#10;        &lt;Box style={{ flexDirection: 'row', alignItems: 'center', marginTop: 10 }}&gt;&#10;            &lt;Box style={{ width: 540, height: 96, background: '#EDF4FC', borderRadius: 8, flexDirection: 'column', gap: 4, justifyContent: 'center', alignItems: 'center' }}&gt;&#10;                &lt;Text style={{ fontSize: 20, fontWeight: 'bold', color: '#276FBF' }}&gt;前半章 · 可行动的世界&lt;/Text&gt;&#10;                &lt;Text style={{ fontSize: 14, color: '#546779' }}&gt;资源 · 空间 · Brain 与 Skill · 观察反馈&lt;/Text&gt;&#10;            &lt;/Box&gt;&#10;            &lt;Box style={{ width: 44, height: 96, justifyContent: 'center', alignItems: 'center' }}&gt;&#10;                &lt;Text style={{ fontSize: 24, color: '#26816B' }}&gt;›&lt;/Text&gt;&#10;            &lt;/Box&gt;&#10;            &lt;Box style={{ width: 540, height: 96, background: '#ECF7F2', borderRadius: 8, flexDirection: 'column', gap: 4, justifyContent: 'center', alignItems: 'center' }}&gt;&#10;                &lt;Text style={{ fontSize: 20, fontWeight: 'bold', color: '#26816B' }}&gt;后半章 · 可解释的实验&lt;/Text&gt;&#10;                &lt;Text style={{ fontSize: 14, color: '#546779' }}&gt;草稿 · 封存 · 运行控制 · 回放 · 导出与复现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3.1 把筹备方案放进一个会发生变化的世界&lt;/Text&gt;&#10;        &lt;Text style={{ fontSize: 14, color: '#546779' }}&gt;18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65" name="" descr="{&quot;isTemplate&quot;:true,&quot;type&quot;:&quot;text&quot;}"/>
          <p:cNvSpPr txBox="1"/>
          <p:nvPr/>
        </p:nvSpPr>
        <p:spPr>
          <a:xfrm rot="0" flipH="0" flipV="0">
            <a:off x="609600" y="1666875"/>
            <a:ext cx="10972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276FBF"/>
                </a:solidFill>
                <a:latin typeface="Microsoft YaHei"/>
                <a:ea typeface="Microsoft YaHei"/>
              </a:rPr>
              <a:t>4</a:t>
            </a: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　　</a:t>
            </a:r>
            <a:r>
              <a:rPr lang="en-US" sz="1125">
                <a:solidFill>
                  <a:srgbClr val="276FBF"/>
                </a:solidFill>
                <a:latin typeface="Microsoft YaHei"/>
                <a:ea typeface="Microsoft YaHei"/>
              </a:rPr>
              <a:t>3.1.6 — 3.1.7</a:t>
            </a:r>
            <a:endParaRPr/>
          </a:p>
        </p:txBody>
      </p:sp>
      <p:sp>
        <p:nvSpPr>
          <p:cNvPr id="266" name="" descr="{&quot;isTemplate&quot;:true,&quot;type&quot;:&quot;text&quot;}"/>
          <p:cNvSpPr txBox="1"/>
          <p:nvPr/>
        </p:nvSpPr>
        <p:spPr>
          <a:xfrm rot="0" flipH="0" flipV="0">
            <a:off x="609600" y="2047875"/>
            <a:ext cx="10972800" cy="7429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先建世界，再管实验</a:t>
            </a:r>
            <a:endParaRPr/>
          </a:p>
        </p:txBody>
      </p:sp>
      <p:sp>
        <p:nvSpPr>
          <p:cNvPr id="267" name=""/>
          <p:cNvSpPr/>
          <p:nvPr/>
        </p:nvSpPr>
        <p:spPr>
          <a:xfrm rot="0" flipH="0" flipV="0">
            <a:off x="609600" y="3000375"/>
            <a:ext cx="6858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68" name="" descr="{&quot;isTemplate&quot;:true,&quot;type&quot;:&quot;text&quot;}"/>
          <p:cNvSpPr txBox="1"/>
          <p:nvPr/>
        </p:nvSpPr>
        <p:spPr>
          <a:xfrm rot="0" flipH="0" flipV="0">
            <a:off x="609600" y="3248025"/>
            <a:ext cx="8572500" cy="3524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350">
                <a:solidFill>
                  <a:srgbClr val="546779"/>
                </a:solidFill>
                <a:latin typeface="Microsoft YaHei"/>
                <a:ea typeface="Microsoft YaHei"/>
              </a:rPr>
              <a:t>前半章建立可行动的世界，后半章处理可恢复、可解释的实验；每一步都要留下对得上的证据。</a:t>
            </a:r>
            <a:endParaRPr/>
          </a:p>
        </p:txBody>
      </p:sp>
      <p:sp>
        <p:nvSpPr>
          <p:cNvPr id="269" name=""/>
          <p:cNvSpPr/>
          <p:nvPr/>
        </p:nvSpPr>
        <p:spPr>
          <a:xfrm rot="0" flipH="0" flipV="0">
            <a:off x="609600" y="3905250"/>
            <a:ext cx="5143500" cy="914400"/>
          </a:xfrm>
          <a:prstGeom prst="roundRect">
            <a:avLst>
              <a:gd name="adj" fmla="val 8333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270" name="" descr="{&quot;isTemplate&quot;:true,&quot;type&quot;:&quot;text&quot;}"/>
          <p:cNvSpPr txBox="1"/>
          <p:nvPr/>
        </p:nvSpPr>
        <p:spPr>
          <a:xfrm rot="0" flipH="0" flipV="0">
            <a:off x="2228850" y="4152900"/>
            <a:ext cx="19145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76FBF"/>
                </a:solidFill>
                <a:latin typeface="Microsoft YaHei"/>
                <a:ea typeface="Microsoft YaHei"/>
              </a:rPr>
              <a:t>前半章</a:t>
            </a:r>
            <a:r>
              <a:rPr lang="en-US" sz="1500" b="1">
                <a:solidFill>
                  <a:srgbClr val="276FBF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500" b="1">
                <a:solidFill>
                  <a:srgbClr val="276FBF"/>
                </a:solidFill>
                <a:latin typeface="Microsoft YaHei"/>
                <a:ea typeface="Microsoft YaHei"/>
              </a:rPr>
              <a:t>可行动的世界</a:t>
            </a:r>
            <a:endParaRPr/>
          </a:p>
        </p:txBody>
      </p:sp>
      <p:sp>
        <p:nvSpPr>
          <p:cNvPr id="271" name="" descr="{&quot;isTemplate&quot;:true,&quot;type&quot;:&quot;text&quot;}"/>
          <p:cNvSpPr txBox="1"/>
          <p:nvPr/>
        </p:nvSpPr>
        <p:spPr>
          <a:xfrm rot="0" flipH="0" flipV="0">
            <a:off x="2085975" y="4419600"/>
            <a:ext cx="22002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资源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空间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· Brain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与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Skill ·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观察反馈</a:t>
            </a:r>
            <a:endParaRPr/>
          </a:p>
        </p:txBody>
      </p:sp>
      <p:sp>
        <p:nvSpPr>
          <p:cNvPr id="272" name="" descr="{&quot;isTemplate&quot;:true,&quot;type&quot;:&quot;text&quot;}"/>
          <p:cNvSpPr txBox="1"/>
          <p:nvPr/>
        </p:nvSpPr>
        <p:spPr>
          <a:xfrm rot="0" flipH="0" flipV="0">
            <a:off x="5924550" y="4229100"/>
            <a:ext cx="857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800">
                <a:solidFill>
                  <a:srgbClr val="26816B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273" name=""/>
          <p:cNvSpPr/>
          <p:nvPr/>
        </p:nvSpPr>
        <p:spPr>
          <a:xfrm rot="0" flipH="0" flipV="0">
            <a:off x="6172200" y="3905250"/>
            <a:ext cx="5143500" cy="914400"/>
          </a:xfrm>
          <a:prstGeom prst="roundRect">
            <a:avLst>
              <a:gd name="adj" fmla="val 8333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274" name="" descr="{&quot;isTemplate&quot;:true,&quot;type&quot;:&quot;text&quot;}"/>
          <p:cNvSpPr txBox="1"/>
          <p:nvPr/>
        </p:nvSpPr>
        <p:spPr>
          <a:xfrm rot="0" flipH="0" flipV="0">
            <a:off x="7791450" y="4152900"/>
            <a:ext cx="19145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6816B"/>
                </a:solidFill>
                <a:latin typeface="Microsoft YaHei"/>
                <a:ea typeface="Microsoft YaHei"/>
              </a:rPr>
              <a:t>后半章</a:t>
            </a:r>
            <a:r>
              <a:rPr lang="en-US" sz="1500" b="1">
                <a:solidFill>
                  <a:srgbClr val="26816B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500" b="1">
                <a:solidFill>
                  <a:srgbClr val="26816B"/>
                </a:solidFill>
                <a:latin typeface="Microsoft YaHei"/>
                <a:ea typeface="Microsoft YaHei"/>
              </a:rPr>
              <a:t>可解释的实验</a:t>
            </a:r>
            <a:endParaRPr/>
          </a:p>
        </p:txBody>
      </p:sp>
      <p:sp>
        <p:nvSpPr>
          <p:cNvPr id="275" name="" descr="{&quot;isTemplate&quot;:true,&quot;type&quot;:&quot;text&quot;}"/>
          <p:cNvSpPr txBox="1"/>
          <p:nvPr/>
        </p:nvSpPr>
        <p:spPr>
          <a:xfrm rot="0" flipH="0" flipV="0">
            <a:off x="7524750" y="4419600"/>
            <a:ext cx="24479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草稿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封存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运行控制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回放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导出与复现</a:t>
            </a:r>
            <a:endParaRPr/>
          </a:p>
        </p:txBody>
      </p:sp>
      <p:sp>
        <p:nvSpPr>
          <p:cNvPr id="276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4955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3.1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把筹备方案放进一个会发生变化的世界</a:t>
            </a:r>
            <a:endParaRPr/>
          </a:p>
        </p:txBody>
      </p:sp>
      <p:sp>
        <p:nvSpPr>
          <p:cNvPr id="277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18 / 24</a:t>
            </a:r>
            <a:endParaRPr/>
          </a:p>
        </p:txBody>
      </p:sp>
    </p:spTree>
  </p:cSld>
</p:sld>
</file>

<file path=ppt/slides/slide19.xml><?xml version="1.0" encoding="utf-8"?>
<p:sld xmlns:p="http://schemas.openxmlformats.org/presentationml/2006/main" xmlns:a="http://schemas.openxmlformats.org/drawingml/2006/main">
  <p:cSld>
    <p:spTree>
      <p:nvGrpSpPr>
        <p:cNvPr id="278" name="" descr="&lt;Slide notes={`这一章分两半推进，两半的工作方式不太一样。&#10;&#10;前半段的目标是建立一个可以行动的世界：先认识有哪些资源，再把空间录进去，然后编写 Brain 和对象 Skill，接着去观察感知、记忆、交流和反馈。这一段更关注结构对不对。&#10;&#10;后半段处理的是可恢复、可解释的实验：草稿、封存、运行控制、回放、质量、导出和复现。这一段更关注过程能不能重来、结论能不能讲清。&#10;&#10;两半的目标不同，所以每一步要留下的东西也不一样。前半段常看的是装配是否成立，后半段常看的是运行留下的记录是否完整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3.1.6　本章怎样组织实践&lt;/Text&gt;&#10;            &lt;Text style={{ fontSize: 34, fontWeight: 'bold', color: '#20344B' }}&gt;两半章，两种工作方式&lt;/Text&gt;&#10;        &lt;/Box&gt;&#10;    &lt;/Box&gt;&#10;&#10;    &lt;Box style={{ height: 540, flexDirection: 'column', justifyContent: 'center', gap: 16 }}&gt;&#10;&#10;        &lt;Box style={{ flexDirection: 'row', alignItems: 'center', gap: 12 }}&gt;&#10;            &lt;Box style={{ width: 4, height: 20, background: '#276FBF' }} /&gt;&#10;            &lt;Text style={{ fontSize: 16, fontWeight: 'bold', color: '#276FBF' }}&gt;前半章 · 建立可行动的世界&lt;/Text&gt;&#10;        &lt;/Box&gt;&#10;        &lt;Box style={{ flexDirection: 'row', gap: 12 }}&gt;&#10;            &lt;Box style={{ width: 279, height: 96, background: '#EDF4FC', borderRadius: 8, flexDirection: 'column', gap: 4, justifyContent: 'center', alignItems: 'center' }}&gt;&#10;                &lt;Text style={{ fontSize: 17, fontWeight: 'bold', color: '#276FBF' }}&gt;3.2 认识资源&lt;/Text&gt;&#10;                &lt;Text style={{ fontSize: 13, color: '#546779' }}&gt;公共资源与实验副本&lt;/Text&gt;&#10;            &lt;/Box&gt;&#10;            &lt;Box style={{ width: 279, height: 96, background: '#EDF4FC', borderRadius: 8, flexDirection: 'column', gap: 4, justifyContent: 'center', alignItems: 'center' }}&gt;&#10;                &lt;Text style={{ fontSize: 17, fontWeight: 'bold', color: '#276FBF' }}&gt;3.3 录入空间&lt;/Text&gt;&#10;                &lt;Text style={{ fontSize: 13, color: '#546779' }}&gt;语义、碰撞与门洞&lt;/Text&gt;&#10;            &lt;/Box&gt;&#10;            &lt;Box style={{ width: 279, height: 96, background: '#EDF4FC', borderRadius: 8, flexDirection: 'column', gap: 4, justifyContent: 'center', alignItems: 'center' }}&gt;&#10;                &lt;Text style={{ fontSize: 17, fontWeight: 'bold', color: '#276FBF' }}&gt;3.4 Brain 与 Skill&lt;/Text&gt;&#10;                &lt;Text style={{ fontSize: 13, color: '#546779' }}&gt;条件与真实反馈&lt;/Text&gt;&#10;            &lt;/Box&gt;&#10;            &lt;Box style={{ width: 279, height: 96, background: '#EDF4FC', borderRadius: 8, flexDirection: 'column', gap: 4, justifyContent: 'center', alignItems: 'center' }}&gt;&#10;                &lt;Text style={{ fontSize: 17, fontWeight: 'bold', color: '#276FBF' }}&gt;3.5 — 3.7 观察&lt;/Text&gt;&#10;                &lt;Text style={{ fontSize: 13, color: '#546779' }}&gt;感知 · 记忆 · 对话&lt;/Text&gt;&#10;            &lt;/Box&gt;&#10;        &lt;/Box&gt;&#10;&#10;        &lt;Box style={{ flexDirection: 'row', alignItems: 'center', gap: 12, marginTop: 6 }}&gt;&#10;            &lt;Box style={{ width: 4, height: 20, background: '#26816B' }} /&gt;&#10;            &lt;Text style={{ fontSize: 16, fontWeight: 'bold', color: '#26816B' }}&gt;后半章 · 可恢复与可解释的实验&lt;/Text&gt;&#10;        &lt;/Box&gt;&#10;        &lt;Box style={{ flexDirection: 'row', gap: 12 }}&gt;&#10;            &lt;Box style={{ width: 182, height: 96, background: '#ECF7F2', borderRadius: 8, flexDirection: 'column', gap: 4, justifyContent: 'center', alignItems: 'center' }}&gt;&#10;                &lt;Text style={{ fontSize: 16, fontWeight: 'bold', color: '#26816B' }}&gt;3.8 草稿&lt;/Text&gt;&#10;                &lt;Text style={{ fontSize: 13, color: '#546779' }}&gt;预检与封存&lt;/Text&gt;&#10;            &lt;/Box&gt;&#10;            &lt;Box style={{ width: 182, height: 96, background: '#ECF7F2', borderRadius: 8, flexDirection: 'column', gap: 4, justifyContent: 'center', alignItems: 'center' }}&gt;&#10;                &lt;Text style={{ fontSize: 16, fontWeight: 'bold', color: '#26816B' }}&gt;3.9 运行&lt;/Text&gt;&#10;                &lt;Text style={{ fontSize: 13, color: '#546779' }}&gt;状态与估算&lt;/Text&gt;&#10;            &lt;/Box&gt;&#10;            &lt;Box style={{ width: 182, height: 96, background: '#ECF7F2', borderRadius: 8, flexDirection: 'column', gap: 4, justifyContent: 'center', alignItems: 'center' }}&gt;&#10;                &lt;Text style={{ fontSize: 16, fontWeight: 'bold', color: '#26816B' }}&gt;3.10 恢复&lt;/Text&gt;&#10;                &lt;Text style={{ fontSize: 13, color: '#546779' }}&gt;暂停与续跑&lt;/Text&gt;&#10;            &lt;/Box&gt;&#10;            &lt;Box style={{ width: 182, height: 96, background: '#ECF7F2', borderRadius: 8, flexDirection: 'column', gap: 4, justifyContent: 'center', alignItems: 'center' }}&gt;&#10;                &lt;Text style={{ fontSize: 16, fontWeight: 'bold', color: '#26816B' }}&gt;3.11 回放&lt;/Text&gt;&#10;                &lt;Text style={{ fontSize: 13, color: '#546779' }}&gt;事实与诊断&lt;/Text&gt;&#10;            &lt;/Box&gt;&#10;            &lt;Box style={{ width: 182, height: 96, background: '#ECF7F2', borderRadius: 8, flexDirection: 'column', gap: 4, justifyContent: 'center', alignItems: 'center' }}&gt;&#10;                &lt;Text style={{ fontSize: 16, fontWeight: 'bold', color: '#26816B' }}&gt;3.12 质量&lt;/Text&gt;&#10;                &lt;Text style={{ fontSize: 13, color: '#546779' }}&gt;口径与 Evaluator&lt;/Text&gt;&#10;            &lt;/Box&gt;&#10;            &lt;Box style={{ width: 182, height: 96, background: '#ECF7F2', borderRadius: 8, flexDirection: 'column', gap: 4, justifyContent: 'center', alignItems: 'center' }}&gt;&#10;                &lt;Text style={{ fontSize: 16, fontWeight: 'bold', color: '#26816B' }}&gt;3.13 导出&lt;/Text&gt;&#10;                &lt;Text style={{ fontSize: 13, color: '#546779' }}&gt;迁移与复现&lt;/Text&gt;&#10;            &lt;/Box&gt;&#10;        &lt;/Box&gt;&#10;&#10;        &lt;Box style={{ flexDirection: 'row', alignItems: 'center', gap: 14, background: '#F4F7FA', borderRadius: 10, padding: '12px 20px' }}&gt;&#10;            &lt;Box style={{ width: 4, height: 44, background: '#276FBF' }} /&gt;&#10;            &lt;Text style={{ fontSize: 15, color: '#20344B', flex: 1, lineHeight: 1.5 }}&gt;前半段看装配是否成立，后半段看运行留下的记录是否完整——两半要留下的证据不一样。&lt;/Text&gt;&#10;        &lt;/Box&gt;&#10;&#10;    &lt;/Box&gt;&#10;&#10;    &lt;Box style={{ height: 40, flexDirection: 'row', justifyContent: 'space-between', alignItems: 'center' }}&gt;&#10;        &lt;Text style={{ fontSize: 14, color: '#546779' }}&gt;3.1 把筹备方案放进一个会发生变化的世界&lt;/Text&gt;&#10;        &lt;Text style={{ fontSize: 14, color: '#546779' }}&gt;19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80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81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238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3.1.6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本章怎样组织实践</a:t>
            </a:r>
            <a:endParaRPr/>
          </a:p>
        </p:txBody>
      </p:sp>
      <p:sp>
        <p:nvSpPr>
          <p:cNvPr id="282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2385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两半章，两种工作方式</a:t>
            </a:r>
            <a:endParaRPr/>
          </a:p>
        </p:txBody>
      </p:sp>
      <p:sp>
        <p:nvSpPr>
          <p:cNvPr id="283" name=""/>
          <p:cNvSpPr/>
          <p:nvPr/>
        </p:nvSpPr>
        <p:spPr>
          <a:xfrm rot="0" flipH="0" flipV="0">
            <a:off x="609600" y="1952625"/>
            <a:ext cx="38100" cy="1905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84" name="" descr="{&quot;isTemplate&quot;:true,&quot;type&quot;:&quot;text&quot;}"/>
          <p:cNvSpPr txBox="1"/>
          <p:nvPr/>
        </p:nvSpPr>
        <p:spPr>
          <a:xfrm rot="0" flipH="0" flipV="0">
            <a:off x="762000" y="1952625"/>
            <a:ext cx="18383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76FBF"/>
                </a:solidFill>
                <a:latin typeface="Microsoft YaHei"/>
                <a:ea typeface="Microsoft YaHei"/>
              </a:rPr>
              <a:t>前半章</a:t>
            </a:r>
            <a:r>
              <a:rPr lang="en-US" sz="1200" b="1">
                <a:solidFill>
                  <a:srgbClr val="276FBF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00" b="1">
                <a:solidFill>
                  <a:srgbClr val="276FBF"/>
                </a:solidFill>
                <a:latin typeface="Microsoft YaHei"/>
                <a:ea typeface="Microsoft YaHei"/>
              </a:rPr>
              <a:t>建立可行动的世界</a:t>
            </a:r>
            <a:endParaRPr/>
          </a:p>
        </p:txBody>
      </p:sp>
      <p:sp>
        <p:nvSpPr>
          <p:cNvPr id="285" name=""/>
          <p:cNvSpPr/>
          <p:nvPr/>
        </p:nvSpPr>
        <p:spPr>
          <a:xfrm rot="0" flipH="0" flipV="0">
            <a:off x="609600" y="2295525"/>
            <a:ext cx="2657475" cy="914400"/>
          </a:xfrm>
          <a:prstGeom prst="roundRect">
            <a:avLst>
              <a:gd name="adj" fmla="val 8333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286" name="" descr="{&quot;isTemplate&quot;:true,&quot;type&quot;:&quot;text&quot;}"/>
          <p:cNvSpPr txBox="1"/>
          <p:nvPr/>
        </p:nvSpPr>
        <p:spPr>
          <a:xfrm rot="0" flipH="0" flipV="0">
            <a:off x="1466850" y="2562225"/>
            <a:ext cx="9429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276FBF"/>
                </a:solidFill>
                <a:latin typeface="Microsoft YaHei"/>
                <a:ea typeface="Microsoft YaHei"/>
              </a:rPr>
              <a:t xml:space="preserve">3.2 </a:t>
            </a:r>
            <a:r>
              <a:rPr lang="zh-CN" sz="1275" b="1">
                <a:solidFill>
                  <a:srgbClr val="276FBF"/>
                </a:solidFill>
                <a:latin typeface="Microsoft YaHei"/>
                <a:ea typeface="Microsoft YaHei"/>
              </a:rPr>
              <a:t>认识资源</a:t>
            </a:r>
            <a:endParaRPr/>
          </a:p>
        </p:txBody>
      </p:sp>
      <p:sp>
        <p:nvSpPr>
          <p:cNvPr id="287" name="" descr="{&quot;isTemplate&quot;:true,&quot;type&quot;:&quot;text&quot;}"/>
          <p:cNvSpPr txBox="1"/>
          <p:nvPr/>
        </p:nvSpPr>
        <p:spPr>
          <a:xfrm rot="0" flipH="0" flipV="0">
            <a:off x="1381125" y="2800350"/>
            <a:ext cx="11144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公共资源与实验副本</a:t>
            </a:r>
            <a:endParaRPr/>
          </a:p>
        </p:txBody>
      </p:sp>
      <p:sp>
        <p:nvSpPr>
          <p:cNvPr id="288" name=""/>
          <p:cNvSpPr/>
          <p:nvPr/>
        </p:nvSpPr>
        <p:spPr>
          <a:xfrm rot="0" flipH="0" flipV="0">
            <a:off x="3381375" y="2295525"/>
            <a:ext cx="2657475" cy="914400"/>
          </a:xfrm>
          <a:prstGeom prst="roundRect">
            <a:avLst>
              <a:gd name="adj" fmla="val 8333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289" name="" descr="{&quot;isTemplate&quot;:true,&quot;type&quot;:&quot;text&quot;}"/>
          <p:cNvSpPr txBox="1"/>
          <p:nvPr/>
        </p:nvSpPr>
        <p:spPr>
          <a:xfrm rot="0" flipH="0" flipV="0">
            <a:off x="4238625" y="2562225"/>
            <a:ext cx="9429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276FBF"/>
                </a:solidFill>
                <a:latin typeface="Microsoft YaHei"/>
                <a:ea typeface="Microsoft YaHei"/>
              </a:rPr>
              <a:t xml:space="preserve">3.3 </a:t>
            </a:r>
            <a:r>
              <a:rPr lang="zh-CN" sz="1275" b="1">
                <a:solidFill>
                  <a:srgbClr val="276FBF"/>
                </a:solidFill>
                <a:latin typeface="Microsoft YaHei"/>
                <a:ea typeface="Microsoft YaHei"/>
              </a:rPr>
              <a:t>录入空间</a:t>
            </a:r>
            <a:endParaRPr/>
          </a:p>
        </p:txBody>
      </p:sp>
      <p:sp>
        <p:nvSpPr>
          <p:cNvPr id="290" name="" descr="{&quot;isTemplate&quot;:true,&quot;type&quot;:&quot;text&quot;}"/>
          <p:cNvSpPr txBox="1"/>
          <p:nvPr/>
        </p:nvSpPr>
        <p:spPr>
          <a:xfrm rot="0" flipH="0" flipV="0">
            <a:off x="4219575" y="2800350"/>
            <a:ext cx="9906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语义、碰撞与门洞</a:t>
            </a:r>
            <a:endParaRPr/>
          </a:p>
        </p:txBody>
      </p:sp>
      <p:sp>
        <p:nvSpPr>
          <p:cNvPr id="291" name=""/>
          <p:cNvSpPr/>
          <p:nvPr/>
        </p:nvSpPr>
        <p:spPr>
          <a:xfrm rot="0" flipH="0" flipV="0">
            <a:off x="6153150" y="2295525"/>
            <a:ext cx="2657475" cy="914400"/>
          </a:xfrm>
          <a:prstGeom prst="roundRect">
            <a:avLst>
              <a:gd name="adj" fmla="val 8333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292" name="" descr="{&quot;isTemplate&quot;:true,&quot;type&quot;:&quot;text&quot;}"/>
          <p:cNvSpPr txBox="1"/>
          <p:nvPr/>
        </p:nvSpPr>
        <p:spPr>
          <a:xfrm rot="0" flipH="0" flipV="0">
            <a:off x="6819900" y="2562225"/>
            <a:ext cx="13239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276FBF"/>
                </a:solidFill>
                <a:latin typeface="Microsoft YaHei"/>
                <a:ea typeface="Microsoft YaHei"/>
              </a:rPr>
              <a:t xml:space="preserve">3.4 Brain </a:t>
            </a:r>
            <a:r>
              <a:rPr lang="zh-CN" sz="1275" b="1">
                <a:solidFill>
                  <a:srgbClr val="276FBF"/>
                </a:solidFill>
                <a:latin typeface="Microsoft YaHei"/>
                <a:ea typeface="Microsoft YaHei"/>
              </a:rPr>
              <a:t>与</a:t>
            </a:r>
            <a:r>
              <a:rPr lang="en-US" sz="1275" b="1">
                <a:solidFill>
                  <a:srgbClr val="276FBF"/>
                </a:solidFill>
                <a:latin typeface="Microsoft YaHei"/>
                <a:ea typeface="Microsoft YaHei"/>
              </a:rPr>
              <a:t xml:space="preserve"> Skill</a:t>
            </a:r>
            <a:endParaRPr/>
          </a:p>
        </p:txBody>
      </p:sp>
      <p:sp>
        <p:nvSpPr>
          <p:cNvPr id="293" name="" descr="{&quot;isTemplate&quot;:true,&quot;type&quot;:&quot;text&quot;}"/>
          <p:cNvSpPr txBox="1"/>
          <p:nvPr/>
        </p:nvSpPr>
        <p:spPr>
          <a:xfrm rot="0" flipH="0" flipV="0">
            <a:off x="7048500" y="2800350"/>
            <a:ext cx="8667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条件与真实反馈</a:t>
            </a:r>
            <a:endParaRPr/>
          </a:p>
        </p:txBody>
      </p:sp>
      <p:sp>
        <p:nvSpPr>
          <p:cNvPr id="294" name=""/>
          <p:cNvSpPr/>
          <p:nvPr/>
        </p:nvSpPr>
        <p:spPr>
          <a:xfrm rot="0" flipH="0" flipV="0">
            <a:off x="8924925" y="2295525"/>
            <a:ext cx="2657475" cy="914400"/>
          </a:xfrm>
          <a:prstGeom prst="roundRect">
            <a:avLst>
              <a:gd name="adj" fmla="val 8333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295" name="" descr="{&quot;isTemplate&quot;:true,&quot;type&quot;:&quot;text&quot;}"/>
          <p:cNvSpPr txBox="1"/>
          <p:nvPr/>
        </p:nvSpPr>
        <p:spPr>
          <a:xfrm rot="0" flipH="0" flipV="0">
            <a:off x="9686925" y="2562225"/>
            <a:ext cx="1143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276FBF"/>
                </a:solidFill>
                <a:latin typeface="Microsoft YaHei"/>
                <a:ea typeface="Microsoft YaHei"/>
              </a:rPr>
              <a:t xml:space="preserve">3.5 — 3.7 </a:t>
            </a:r>
            <a:r>
              <a:rPr lang="zh-CN" sz="1275" b="1">
                <a:solidFill>
                  <a:srgbClr val="276FBF"/>
                </a:solidFill>
                <a:latin typeface="Microsoft YaHei"/>
                <a:ea typeface="Microsoft YaHei"/>
              </a:rPr>
              <a:t>观察</a:t>
            </a:r>
            <a:endParaRPr/>
          </a:p>
        </p:txBody>
      </p:sp>
      <p:sp>
        <p:nvSpPr>
          <p:cNvPr id="296" name="" descr="{&quot;isTemplate&quot;:true,&quot;type&quot;:&quot;text&quot;}"/>
          <p:cNvSpPr txBox="1"/>
          <p:nvPr/>
        </p:nvSpPr>
        <p:spPr>
          <a:xfrm rot="0" flipH="0" flipV="0">
            <a:off x="9782175" y="2800350"/>
            <a:ext cx="9525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感知</a:t>
            </a: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记忆</a:t>
            </a: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对话</a:t>
            </a:r>
            <a:endParaRPr/>
          </a:p>
        </p:txBody>
      </p:sp>
      <p:sp>
        <p:nvSpPr>
          <p:cNvPr id="297" name=""/>
          <p:cNvSpPr/>
          <p:nvPr/>
        </p:nvSpPr>
        <p:spPr>
          <a:xfrm rot="0" flipH="0" flipV="0">
            <a:off x="609600" y="3419475"/>
            <a:ext cx="38100" cy="19050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298" name="" descr="{&quot;isTemplate&quot;:true,&quot;type&quot;:&quot;text&quot;}"/>
          <p:cNvSpPr txBox="1"/>
          <p:nvPr/>
        </p:nvSpPr>
        <p:spPr>
          <a:xfrm rot="0" flipH="0" flipV="0">
            <a:off x="762000" y="3419475"/>
            <a:ext cx="21431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6816B"/>
                </a:solidFill>
                <a:latin typeface="Microsoft YaHei"/>
                <a:ea typeface="Microsoft YaHei"/>
              </a:rPr>
              <a:t>后半章</a:t>
            </a:r>
            <a:r>
              <a:rPr lang="en-US" sz="1200" b="1">
                <a:solidFill>
                  <a:srgbClr val="26816B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00" b="1">
                <a:solidFill>
                  <a:srgbClr val="26816B"/>
                </a:solidFill>
                <a:latin typeface="Microsoft YaHei"/>
                <a:ea typeface="Microsoft YaHei"/>
              </a:rPr>
              <a:t>可恢复与可解释的实验</a:t>
            </a:r>
            <a:endParaRPr/>
          </a:p>
        </p:txBody>
      </p:sp>
      <p:sp>
        <p:nvSpPr>
          <p:cNvPr id="299" name=""/>
          <p:cNvSpPr/>
          <p:nvPr/>
        </p:nvSpPr>
        <p:spPr>
          <a:xfrm rot="0" flipH="0" flipV="0">
            <a:off x="609600" y="3762375"/>
            <a:ext cx="1733550" cy="914400"/>
          </a:xfrm>
          <a:prstGeom prst="roundRect">
            <a:avLst>
              <a:gd name="adj" fmla="val 8333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300" name="" descr="{&quot;isTemplate&quot;:true,&quot;type&quot;:&quot;text&quot;}"/>
          <p:cNvSpPr txBox="1"/>
          <p:nvPr/>
        </p:nvSpPr>
        <p:spPr>
          <a:xfrm rot="0" flipH="0" flipV="0">
            <a:off x="1181100" y="4029075"/>
            <a:ext cx="5905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26816B"/>
                </a:solidFill>
                <a:latin typeface="Microsoft YaHei"/>
                <a:ea typeface="Microsoft YaHei"/>
              </a:rPr>
              <a:t xml:space="preserve">3.8 </a:t>
            </a:r>
            <a:r>
              <a:rPr lang="zh-CN" sz="1200" b="1">
                <a:solidFill>
                  <a:srgbClr val="26816B"/>
                </a:solidFill>
                <a:latin typeface="Microsoft YaHei"/>
                <a:ea typeface="Microsoft YaHei"/>
              </a:rPr>
              <a:t>草稿</a:t>
            </a:r>
            <a:endParaRPr/>
          </a:p>
        </p:txBody>
      </p:sp>
      <p:sp>
        <p:nvSpPr>
          <p:cNvPr id="301" name="" descr="{&quot;isTemplate&quot;:true,&quot;type&quot;:&quot;text&quot;}"/>
          <p:cNvSpPr txBox="1"/>
          <p:nvPr/>
        </p:nvSpPr>
        <p:spPr>
          <a:xfrm rot="0" flipH="0" flipV="0">
            <a:off x="1171575" y="4257675"/>
            <a:ext cx="6191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预检与封存</a:t>
            </a:r>
            <a:endParaRPr/>
          </a:p>
        </p:txBody>
      </p:sp>
      <p:sp>
        <p:nvSpPr>
          <p:cNvPr id="302" name=""/>
          <p:cNvSpPr/>
          <p:nvPr/>
        </p:nvSpPr>
        <p:spPr>
          <a:xfrm rot="0" flipH="0" flipV="0">
            <a:off x="2457450" y="3762375"/>
            <a:ext cx="1733550" cy="914400"/>
          </a:xfrm>
          <a:prstGeom prst="roundRect">
            <a:avLst>
              <a:gd name="adj" fmla="val 8333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303" name="" descr="{&quot;isTemplate&quot;:true,&quot;type&quot;:&quot;text&quot;}"/>
          <p:cNvSpPr txBox="1"/>
          <p:nvPr/>
        </p:nvSpPr>
        <p:spPr>
          <a:xfrm rot="0" flipH="0" flipV="0">
            <a:off x="3028950" y="4029075"/>
            <a:ext cx="5905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26816B"/>
                </a:solidFill>
                <a:latin typeface="Microsoft YaHei"/>
                <a:ea typeface="Microsoft YaHei"/>
              </a:rPr>
              <a:t xml:space="preserve">3.9 </a:t>
            </a:r>
            <a:r>
              <a:rPr lang="zh-CN" sz="1200" b="1">
                <a:solidFill>
                  <a:srgbClr val="26816B"/>
                </a:solidFill>
                <a:latin typeface="Microsoft YaHei"/>
                <a:ea typeface="Microsoft YaHei"/>
              </a:rPr>
              <a:t>运行</a:t>
            </a:r>
            <a:endParaRPr/>
          </a:p>
        </p:txBody>
      </p:sp>
      <p:sp>
        <p:nvSpPr>
          <p:cNvPr id="304" name="" descr="{&quot;isTemplate&quot;:true,&quot;type&quot;:&quot;text&quot;}"/>
          <p:cNvSpPr txBox="1"/>
          <p:nvPr/>
        </p:nvSpPr>
        <p:spPr>
          <a:xfrm rot="0" flipH="0" flipV="0">
            <a:off x="3019425" y="4257675"/>
            <a:ext cx="6191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状态与估算</a:t>
            </a:r>
            <a:endParaRPr/>
          </a:p>
        </p:txBody>
      </p:sp>
      <p:sp>
        <p:nvSpPr>
          <p:cNvPr id="305" name=""/>
          <p:cNvSpPr/>
          <p:nvPr/>
        </p:nvSpPr>
        <p:spPr>
          <a:xfrm rot="0" flipH="0" flipV="0">
            <a:off x="4305300" y="3762375"/>
            <a:ext cx="1733550" cy="914400"/>
          </a:xfrm>
          <a:prstGeom prst="roundRect">
            <a:avLst>
              <a:gd name="adj" fmla="val 8333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306" name="" descr="{&quot;isTemplate&quot;:true,&quot;type&quot;:&quot;text&quot;}"/>
          <p:cNvSpPr txBox="1"/>
          <p:nvPr/>
        </p:nvSpPr>
        <p:spPr>
          <a:xfrm rot="0" flipH="0" flipV="0">
            <a:off x="4838700" y="4029075"/>
            <a:ext cx="6762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26816B"/>
                </a:solidFill>
                <a:latin typeface="Microsoft YaHei"/>
                <a:ea typeface="Microsoft YaHei"/>
              </a:rPr>
              <a:t xml:space="preserve">3.10 </a:t>
            </a:r>
            <a:r>
              <a:rPr lang="zh-CN" sz="1200" b="1">
                <a:solidFill>
                  <a:srgbClr val="26816B"/>
                </a:solidFill>
                <a:latin typeface="Microsoft YaHei"/>
                <a:ea typeface="Microsoft YaHei"/>
              </a:rPr>
              <a:t>恢复</a:t>
            </a:r>
            <a:endParaRPr/>
          </a:p>
        </p:txBody>
      </p:sp>
      <p:sp>
        <p:nvSpPr>
          <p:cNvPr id="307" name="" descr="{&quot;isTemplate&quot;:true,&quot;type&quot;:&quot;text&quot;}"/>
          <p:cNvSpPr txBox="1"/>
          <p:nvPr/>
        </p:nvSpPr>
        <p:spPr>
          <a:xfrm rot="0" flipH="0" flipV="0">
            <a:off x="4867275" y="4257675"/>
            <a:ext cx="6191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暂停与续跑</a:t>
            </a:r>
            <a:endParaRPr/>
          </a:p>
        </p:txBody>
      </p:sp>
      <p:sp>
        <p:nvSpPr>
          <p:cNvPr id="308" name=""/>
          <p:cNvSpPr/>
          <p:nvPr/>
        </p:nvSpPr>
        <p:spPr>
          <a:xfrm rot="0" flipH="0" flipV="0">
            <a:off x="6153150" y="3762375"/>
            <a:ext cx="1733550" cy="914400"/>
          </a:xfrm>
          <a:prstGeom prst="roundRect">
            <a:avLst>
              <a:gd name="adj" fmla="val 8333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309" name="" descr="{&quot;isTemplate&quot;:true,&quot;type&quot;:&quot;text&quot;}"/>
          <p:cNvSpPr txBox="1"/>
          <p:nvPr/>
        </p:nvSpPr>
        <p:spPr>
          <a:xfrm rot="0" flipH="0" flipV="0">
            <a:off x="6686550" y="4029075"/>
            <a:ext cx="6762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26816B"/>
                </a:solidFill>
                <a:latin typeface="Microsoft YaHei"/>
                <a:ea typeface="Microsoft YaHei"/>
              </a:rPr>
              <a:t xml:space="preserve">3.11 </a:t>
            </a:r>
            <a:r>
              <a:rPr lang="zh-CN" sz="1200" b="1">
                <a:solidFill>
                  <a:srgbClr val="26816B"/>
                </a:solidFill>
                <a:latin typeface="Microsoft YaHei"/>
                <a:ea typeface="Microsoft YaHei"/>
              </a:rPr>
              <a:t>回放</a:t>
            </a:r>
            <a:endParaRPr/>
          </a:p>
        </p:txBody>
      </p:sp>
      <p:sp>
        <p:nvSpPr>
          <p:cNvPr id="310" name="" descr="{&quot;isTemplate&quot;:true,&quot;type&quot;:&quot;text&quot;}"/>
          <p:cNvSpPr txBox="1"/>
          <p:nvPr/>
        </p:nvSpPr>
        <p:spPr>
          <a:xfrm rot="0" flipH="0" flipV="0">
            <a:off x="6715125" y="4257675"/>
            <a:ext cx="6191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事实与诊断</a:t>
            </a:r>
            <a:endParaRPr/>
          </a:p>
        </p:txBody>
      </p:sp>
      <p:sp>
        <p:nvSpPr>
          <p:cNvPr id="311" name=""/>
          <p:cNvSpPr/>
          <p:nvPr/>
        </p:nvSpPr>
        <p:spPr>
          <a:xfrm rot="0" flipH="0" flipV="0">
            <a:off x="8001000" y="3762375"/>
            <a:ext cx="1733550" cy="914400"/>
          </a:xfrm>
          <a:prstGeom prst="roundRect">
            <a:avLst>
              <a:gd name="adj" fmla="val 8333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312" name="" descr="{&quot;isTemplate&quot;:true,&quot;type&quot;:&quot;text&quot;}"/>
          <p:cNvSpPr txBox="1"/>
          <p:nvPr/>
        </p:nvSpPr>
        <p:spPr>
          <a:xfrm rot="0" flipH="0" flipV="0">
            <a:off x="8534400" y="4029075"/>
            <a:ext cx="6762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26816B"/>
                </a:solidFill>
                <a:latin typeface="Microsoft YaHei"/>
                <a:ea typeface="Microsoft YaHei"/>
              </a:rPr>
              <a:t xml:space="preserve">3.12 </a:t>
            </a:r>
            <a:r>
              <a:rPr lang="zh-CN" sz="1200" b="1">
                <a:solidFill>
                  <a:srgbClr val="26816B"/>
                </a:solidFill>
                <a:latin typeface="Microsoft YaHei"/>
                <a:ea typeface="Microsoft YaHei"/>
              </a:rPr>
              <a:t>质量</a:t>
            </a:r>
            <a:endParaRPr/>
          </a:p>
        </p:txBody>
      </p:sp>
      <p:sp>
        <p:nvSpPr>
          <p:cNvPr id="313" name="" descr="{&quot;isTemplate&quot;:true,&quot;type&quot;:&quot;text&quot;}"/>
          <p:cNvSpPr txBox="1"/>
          <p:nvPr/>
        </p:nvSpPr>
        <p:spPr>
          <a:xfrm rot="0" flipH="0" flipV="0">
            <a:off x="8391525" y="4257675"/>
            <a:ext cx="9620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口径与</a:t>
            </a: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 xml:space="preserve"> Evaluator</a:t>
            </a:r>
            <a:endParaRPr/>
          </a:p>
        </p:txBody>
      </p:sp>
      <p:sp>
        <p:nvSpPr>
          <p:cNvPr id="314" name=""/>
          <p:cNvSpPr/>
          <p:nvPr/>
        </p:nvSpPr>
        <p:spPr>
          <a:xfrm rot="0" flipH="0" flipV="0">
            <a:off x="9848850" y="3762375"/>
            <a:ext cx="1733550" cy="914400"/>
          </a:xfrm>
          <a:prstGeom prst="roundRect">
            <a:avLst>
              <a:gd name="adj" fmla="val 8333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315" name="" descr="{&quot;isTemplate&quot;:true,&quot;type&quot;:&quot;text&quot;}"/>
          <p:cNvSpPr txBox="1"/>
          <p:nvPr/>
        </p:nvSpPr>
        <p:spPr>
          <a:xfrm rot="0" flipH="0" flipV="0">
            <a:off x="10382250" y="4029075"/>
            <a:ext cx="6762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26816B"/>
                </a:solidFill>
                <a:latin typeface="Microsoft YaHei"/>
                <a:ea typeface="Microsoft YaHei"/>
              </a:rPr>
              <a:t xml:space="preserve">3.13 </a:t>
            </a:r>
            <a:r>
              <a:rPr lang="zh-CN" sz="1200" b="1">
                <a:solidFill>
                  <a:srgbClr val="26816B"/>
                </a:solidFill>
                <a:latin typeface="Microsoft YaHei"/>
                <a:ea typeface="Microsoft YaHei"/>
              </a:rPr>
              <a:t>导出</a:t>
            </a:r>
            <a:endParaRPr/>
          </a:p>
        </p:txBody>
      </p:sp>
      <p:sp>
        <p:nvSpPr>
          <p:cNvPr id="316" name="" descr="{&quot;isTemplate&quot;:true,&quot;type&quot;:&quot;text&quot;}"/>
          <p:cNvSpPr txBox="1"/>
          <p:nvPr/>
        </p:nvSpPr>
        <p:spPr>
          <a:xfrm rot="0" flipH="0" flipV="0">
            <a:off x="10410825" y="4257675"/>
            <a:ext cx="6191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迁移与复现</a:t>
            </a:r>
            <a:endParaRPr/>
          </a:p>
        </p:txBody>
      </p:sp>
      <p:sp>
        <p:nvSpPr>
          <p:cNvPr id="317" name=""/>
          <p:cNvSpPr/>
          <p:nvPr/>
        </p:nvSpPr>
        <p:spPr>
          <a:xfrm rot="0" flipH="0" flipV="0">
            <a:off x="609600" y="4829175"/>
            <a:ext cx="10972800" cy="647700"/>
          </a:xfrm>
          <a:prstGeom prst="roundRect">
            <a:avLst>
              <a:gd name="adj" fmla="val 14706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318" name=""/>
          <p:cNvSpPr/>
          <p:nvPr/>
        </p:nvSpPr>
        <p:spPr>
          <a:xfrm rot="0" flipH="0" flipV="0">
            <a:off x="800100" y="4943475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19" name="" descr="{&quot;isTemplate&quot;:true,&quot;type&quot;:&quot;text&quot;}"/>
          <p:cNvSpPr txBox="1"/>
          <p:nvPr/>
        </p:nvSpPr>
        <p:spPr>
          <a:xfrm rot="0" flipH="0" flipV="0">
            <a:off x="971550" y="5029200"/>
            <a:ext cx="104203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前半段看装配是否成立，后半段看运行留下的记录是否完整——两半要留下的证据不一样。</a:t>
            </a:r>
            <a:endParaRPr/>
          </a:p>
        </p:txBody>
      </p:sp>
      <p:sp>
        <p:nvSpPr>
          <p:cNvPr id="320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4955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3.1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把筹备方案放进一个会发生变化的世界</a:t>
            </a:r>
            <a:endParaRPr/>
          </a:p>
        </p:txBody>
      </p:sp>
      <p:sp>
        <p:nvSpPr>
          <p:cNvPr id="321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19 / 24</a:t>
            </a:r>
            <a:endParaRPr/>
          </a:p>
        </p:txBody>
      </p:sp>
    </p:spTree>
  </p:cSld>
</p:sld>
</file>

<file path=ppt/slides/slide20.xml><?xml version="1.0" encoding="utf-8"?>
<p:sld xmlns:p="http://schemas.openxmlformats.org/presentationml/2006/main" xmlns:a="http://schemas.openxmlformats.org/drawingml/2006/main">
  <p:cSld>
    <p:spTree>
      <p:nvGrpSpPr>
        <p:cNvPr id="353" name="" descr="&lt;Slide notes={`每一步都要留下和问题相匹配的证据，这是这一章的一个硬要求。&#10;&#10;举三个例子。地图预检通过了，只能证明某些结构条件成立，它不能代替人物实际穿过门洞的轨迹。&#10;&#10;模型说我记住了，不能代替记忆真的写进去了、后面真的检索得到。&#10;&#10;运行状态变成已完成，也不能代替业务目标已经达成，它只说明这次执行结束了。&#10;&#10;所以看证据的时候，先问一句：这条证据能证明我想证明的那件事吗。答案对不上，就要再往下找一条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3.1.6　本章怎样组织实践&lt;/Text&gt;&#10;            &lt;Text style={{ fontSize: 34, fontWeight: 'bold', color: '#20344B' }}&gt;证据要跟问题对得上&lt;/Text&gt;&#10;        &lt;/Box&gt;&#10;    &lt;/Box&gt;&#10;&#10;    &lt;Box style={{ height: 540, flexDirection: 'column', justifyContent: 'center', gap: 14 }}&gt;&#10;&#10;        &lt;Box style={{ flexDirection: 'row', gap: 20 }}&gt;&#10;            &lt;Box style={{ width: 546 }}&gt;&lt;Text style={{ fontSize: 14, color: '#546779' }}&gt;这条证据说明什么&lt;/Text&gt;&lt;/Box&gt;&#10;            &lt;Box style={{ width: 566 }}&gt;&lt;Text style={{ fontSize: 14, color: '#CB6B28' }}&gt;它不能代替什么&lt;/Text&gt;&lt;/Box&gt;&#10;        &lt;/Box&gt;&#10;&#10;        &lt;Box style={{ flexDirection: 'row', gap: 20 }}&gt;&#10;            &lt;Box style={{ width: 546, height: 106, background: '#EDF4FC', borderRadius: 8, padding: '0 18px', flexDirection: 'column', gap: 3, justifyContent: 'center' }}&gt;&#10;                &lt;Text style={{ fontSize: 16, fontWeight: 'bold', color: '#276FBF' }}&gt;地图预检通过&lt;/Text&gt;&#10;                &lt;Text style={{ fontSize: 14, color: '#546779' }}&gt;某些结构条件成立&lt;/Text&gt;&#10;            &lt;/Box&gt;&#10;            &lt;Box style={{ width: 566, height: 106, background: '#FFF4E6', borderRadius: 8, padding: '0 18px', flexDirection: 'column', gap: 3, justifyContent: 'center' }}&gt;&#10;                &lt;Text style={{ fontSize: 16, fontWeight: 'bold', color: '#CB6B28' }}&gt;不能代替实际轨迹&lt;/Text&gt;&#10;                &lt;Text style={{ fontSize: 14, color: '#546779' }}&gt;人物真的穿过门洞，要靠位置记录&lt;/Text&gt;&#10;            &lt;/Box&gt;&#10;        &lt;/Box&gt;&#10;&#10;        &lt;Box style={{ flexDirection: 'row', gap: 20 }}&gt;&#10;            &lt;Box style={{ width: 546, height: 106, background: '#EDF4FC', borderRadius: 8, padding: '0 18px', flexDirection: 'column', gap: 3, justifyContent: 'center' }}&gt;&#10;                &lt;Text style={{ fontSize: 16, fontWeight: 'bold', color: '#276FBF' }}&gt;模型说「我记住了」&lt;/Text&gt;&#10;                &lt;Text style={{ fontSize: 14, color: '#546779' }}&gt;它生成过这样一句话&lt;/Text&gt;&#10;            &lt;/Box&gt;&#10;            &lt;Box style={{ width: 566, height: 106, background: '#FFF4E6', borderRadius: 8, padding: '0 18px', flexDirection: 'column', gap: 3, justifyContent: 'center' }}&gt;&#10;                &lt;Text style={{ fontSize: 16, fontWeight: 'bold', color: '#CB6B28' }}&gt;不能代替记忆写入&lt;/Text&gt;&#10;                &lt;Text style={{ fontSize: 14, color: '#546779' }}&gt;还要看后续检索能不能取到&lt;/Text&gt;&#10;            &lt;/Box&gt;&#10;        &lt;/Box&gt;&#10;&#10;        &lt;Box style={{ flexDirection: 'row', gap: 20 }}&gt;&#10;            &lt;Box style={{ width: 546, height: 106, background: '#EDF4FC', borderRadius: 8, padding: '0 18px', flexDirection: 'column', gap: 3, justifyContent: 'center' }}&gt;&#10;                &lt;Text style={{ fontSize: 16, fontWeight: 'bold', color: '#276FBF' }}&gt;状态变成 COMPLETED&lt;/Text&gt;&#10;                &lt;Text style={{ fontSize: 14, color: '#546779' }}&gt;这次执行结束了&lt;/Text&gt;&#10;            &lt;/Box&gt;&#10;            &lt;Box style={{ width: 566, height: 106, background: '#FFF4E6', borderRadius: 8, padding: '0 18px', flexDirection: 'column', gap: 3, justifyContent: 'center' }}&gt;&#10;                &lt;Text style={{ fontSize: 16, fontWeight: 'bold', color: '#CB6B28' }}&gt;不能代替目标达成&lt;/Text&gt;&#10;                &lt;Text style={{ fontSize: 14, color: '#546779' }}&gt;业务目标是否达成要单独判断&lt;/Text&gt;&#10;            &lt;/Box&gt;&#10;        &lt;/Box&gt;&#10;&#10;        &lt;Box style={{ flexDirection: 'row', alignItems: 'center', gap: 14, background: '#F4F7FA', borderRadius: 10, padding: '12px 20px' }}&gt;&#10;            &lt;Box style={{ width: 4, height: 40, background: '#CB6B28' }} /&gt;&#10;            &lt;Text style={{ fontSize: 15, color: '#20344B', flex: 1 }}&gt;看证据先问一句：它能证明我想证明的那件事吗。&lt;/Text&gt;&#10;        &lt;/Box&gt;&#10;&#10;    &lt;/Box&gt;&#10;&#10;    &lt;Box style={{ height: 40, flexDirection: 'row', justifyContent: 'space-between', alignItems: 'center' }}&gt;&#10;        &lt;Text style={{ fontSize: 14, color: '#546779' }}&gt;3.1 把筹备方案放进一个会发生变化的世界&lt;/Text&gt;&#10;        &lt;Text style={{ fontSize: 14, color: '#546779' }}&gt;20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55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56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2914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3.1.6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本章怎样组织实践</a:t>
            </a:r>
            <a:endParaRPr/>
          </a:p>
        </p:txBody>
      </p:sp>
      <p:sp>
        <p:nvSpPr>
          <p:cNvPr id="357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29146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证据要跟问题对得上</a:t>
            </a:r>
            <a:endParaRPr/>
          </a:p>
        </p:txBody>
      </p:sp>
      <p:sp>
        <p:nvSpPr>
          <p:cNvPr id="358" name="" descr="{&quot;isTemplate&quot;:true,&quot;type&quot;:&quot;text&quot;}"/>
          <p:cNvSpPr txBox="1"/>
          <p:nvPr/>
        </p:nvSpPr>
        <p:spPr>
          <a:xfrm rot="0" flipH="0" flipV="0">
            <a:off x="609600" y="1552575"/>
            <a:ext cx="5200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这条证据说明什么</a:t>
            </a:r>
            <a:endParaRPr/>
          </a:p>
        </p:txBody>
      </p:sp>
      <p:sp>
        <p:nvSpPr>
          <p:cNvPr id="359" name="" descr="{&quot;isTemplate&quot;:true,&quot;type&quot;:&quot;text&quot;}"/>
          <p:cNvSpPr txBox="1"/>
          <p:nvPr/>
        </p:nvSpPr>
        <p:spPr>
          <a:xfrm rot="0" flipH="0" flipV="0">
            <a:off x="6000750" y="1552575"/>
            <a:ext cx="53911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CB6B28"/>
                </a:solidFill>
                <a:latin typeface="Microsoft YaHei"/>
                <a:ea typeface="Microsoft YaHei"/>
              </a:rPr>
              <a:t>它不能代替什么</a:t>
            </a:r>
            <a:endParaRPr/>
          </a:p>
        </p:txBody>
      </p:sp>
      <p:sp>
        <p:nvSpPr>
          <p:cNvPr id="360" name=""/>
          <p:cNvSpPr/>
          <p:nvPr/>
        </p:nvSpPr>
        <p:spPr>
          <a:xfrm rot="0" flipH="0" flipV="0">
            <a:off x="609600" y="1847850"/>
            <a:ext cx="5200650" cy="1009650"/>
          </a:xfrm>
          <a:prstGeom prst="roundRect">
            <a:avLst>
              <a:gd name="adj" fmla="val 7547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361" name="" descr="{&quot;isTemplate&quot;:true,&quot;type&quot;:&quot;text&quot;}"/>
          <p:cNvSpPr txBox="1"/>
          <p:nvPr/>
        </p:nvSpPr>
        <p:spPr>
          <a:xfrm rot="0" flipH="0" flipV="0">
            <a:off x="781050" y="2162175"/>
            <a:ext cx="4857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76FBF"/>
                </a:solidFill>
                <a:latin typeface="Microsoft YaHei"/>
                <a:ea typeface="Microsoft YaHei"/>
              </a:rPr>
              <a:t>地图预检通过</a:t>
            </a:r>
            <a:endParaRPr/>
          </a:p>
        </p:txBody>
      </p:sp>
      <p:sp>
        <p:nvSpPr>
          <p:cNvPr id="362" name="" descr="{&quot;isTemplate&quot;:true,&quot;type&quot;:&quot;text&quot;}"/>
          <p:cNvSpPr txBox="1"/>
          <p:nvPr/>
        </p:nvSpPr>
        <p:spPr>
          <a:xfrm rot="0" flipH="0" flipV="0">
            <a:off x="781050" y="2381250"/>
            <a:ext cx="4857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某些结构条件成立</a:t>
            </a:r>
            <a:endParaRPr/>
          </a:p>
        </p:txBody>
      </p:sp>
      <p:sp>
        <p:nvSpPr>
          <p:cNvPr id="363" name=""/>
          <p:cNvSpPr/>
          <p:nvPr/>
        </p:nvSpPr>
        <p:spPr>
          <a:xfrm rot="0" flipH="0" flipV="0">
            <a:off x="6000750" y="1847850"/>
            <a:ext cx="5391150" cy="1009650"/>
          </a:xfrm>
          <a:prstGeom prst="roundRect">
            <a:avLst>
              <a:gd name="adj" fmla="val 7547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364" name="" descr="{&quot;isTemplate&quot;:true,&quot;type&quot;:&quot;text&quot;}"/>
          <p:cNvSpPr txBox="1"/>
          <p:nvPr/>
        </p:nvSpPr>
        <p:spPr>
          <a:xfrm rot="0" flipH="0" flipV="0">
            <a:off x="6172200" y="2162175"/>
            <a:ext cx="5048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CB6B28"/>
                </a:solidFill>
                <a:latin typeface="Microsoft YaHei"/>
                <a:ea typeface="Microsoft YaHei"/>
              </a:rPr>
              <a:t>不能代替实际轨迹</a:t>
            </a:r>
            <a:endParaRPr/>
          </a:p>
        </p:txBody>
      </p:sp>
      <p:sp>
        <p:nvSpPr>
          <p:cNvPr id="365" name="" descr="{&quot;isTemplate&quot;:true,&quot;type&quot;:&quot;text&quot;}"/>
          <p:cNvSpPr txBox="1"/>
          <p:nvPr/>
        </p:nvSpPr>
        <p:spPr>
          <a:xfrm rot="0" flipH="0" flipV="0">
            <a:off x="6172200" y="2381250"/>
            <a:ext cx="5048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人物真的穿过门洞，要靠位置记录</a:t>
            </a:r>
            <a:endParaRPr/>
          </a:p>
        </p:txBody>
      </p:sp>
      <p:sp>
        <p:nvSpPr>
          <p:cNvPr id="366" name=""/>
          <p:cNvSpPr/>
          <p:nvPr/>
        </p:nvSpPr>
        <p:spPr>
          <a:xfrm rot="0" flipH="0" flipV="0">
            <a:off x="609600" y="2990850"/>
            <a:ext cx="5200650" cy="1009650"/>
          </a:xfrm>
          <a:prstGeom prst="roundRect">
            <a:avLst>
              <a:gd name="adj" fmla="val 7547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367" name="" descr="{&quot;isTemplate&quot;:true,&quot;type&quot;:&quot;text&quot;}"/>
          <p:cNvSpPr txBox="1"/>
          <p:nvPr/>
        </p:nvSpPr>
        <p:spPr>
          <a:xfrm rot="0" flipH="0" flipV="0">
            <a:off x="781050" y="3305175"/>
            <a:ext cx="4857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76FBF"/>
                </a:solidFill>
                <a:latin typeface="Microsoft YaHei"/>
                <a:ea typeface="Microsoft YaHei"/>
              </a:rPr>
              <a:t>模型说「我记住了」</a:t>
            </a:r>
            <a:endParaRPr/>
          </a:p>
        </p:txBody>
      </p:sp>
      <p:sp>
        <p:nvSpPr>
          <p:cNvPr id="368" name="" descr="{&quot;isTemplate&quot;:true,&quot;type&quot;:&quot;text&quot;}"/>
          <p:cNvSpPr txBox="1"/>
          <p:nvPr/>
        </p:nvSpPr>
        <p:spPr>
          <a:xfrm rot="0" flipH="0" flipV="0">
            <a:off x="781050" y="3524250"/>
            <a:ext cx="4857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它生成过这样一句话</a:t>
            </a:r>
            <a:endParaRPr/>
          </a:p>
        </p:txBody>
      </p:sp>
      <p:sp>
        <p:nvSpPr>
          <p:cNvPr id="369" name=""/>
          <p:cNvSpPr/>
          <p:nvPr/>
        </p:nvSpPr>
        <p:spPr>
          <a:xfrm rot="0" flipH="0" flipV="0">
            <a:off x="6000750" y="2990850"/>
            <a:ext cx="5391150" cy="1009650"/>
          </a:xfrm>
          <a:prstGeom prst="roundRect">
            <a:avLst>
              <a:gd name="adj" fmla="val 7547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370" name="" descr="{&quot;isTemplate&quot;:true,&quot;type&quot;:&quot;text&quot;}"/>
          <p:cNvSpPr txBox="1"/>
          <p:nvPr/>
        </p:nvSpPr>
        <p:spPr>
          <a:xfrm rot="0" flipH="0" flipV="0">
            <a:off x="6172200" y="3305175"/>
            <a:ext cx="5048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CB6B28"/>
                </a:solidFill>
                <a:latin typeface="Microsoft YaHei"/>
                <a:ea typeface="Microsoft YaHei"/>
              </a:rPr>
              <a:t>不能代替记忆写入</a:t>
            </a:r>
            <a:endParaRPr/>
          </a:p>
        </p:txBody>
      </p:sp>
      <p:sp>
        <p:nvSpPr>
          <p:cNvPr id="371" name="" descr="{&quot;isTemplate&quot;:true,&quot;type&quot;:&quot;text&quot;}"/>
          <p:cNvSpPr txBox="1"/>
          <p:nvPr/>
        </p:nvSpPr>
        <p:spPr>
          <a:xfrm rot="0" flipH="0" flipV="0">
            <a:off x="6172200" y="3524250"/>
            <a:ext cx="5048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还要看后续检索能不能取到</a:t>
            </a:r>
            <a:endParaRPr/>
          </a:p>
        </p:txBody>
      </p:sp>
      <p:sp>
        <p:nvSpPr>
          <p:cNvPr id="372" name=""/>
          <p:cNvSpPr/>
          <p:nvPr/>
        </p:nvSpPr>
        <p:spPr>
          <a:xfrm rot="0" flipH="0" flipV="0">
            <a:off x="609600" y="4133850"/>
            <a:ext cx="5200650" cy="1009650"/>
          </a:xfrm>
          <a:prstGeom prst="roundRect">
            <a:avLst>
              <a:gd name="adj" fmla="val 7547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373" name="" descr="{&quot;isTemplate&quot;:true,&quot;type&quot;:&quot;text&quot;}"/>
          <p:cNvSpPr txBox="1"/>
          <p:nvPr/>
        </p:nvSpPr>
        <p:spPr>
          <a:xfrm rot="0" flipH="0" flipV="0">
            <a:off x="781050" y="4448175"/>
            <a:ext cx="4857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76FBF"/>
                </a:solidFill>
                <a:latin typeface="Microsoft YaHei"/>
                <a:ea typeface="Microsoft YaHei"/>
              </a:rPr>
              <a:t>状态变成</a:t>
            </a:r>
            <a:r>
              <a:rPr lang="en-US" sz="1200" b="1">
                <a:solidFill>
                  <a:srgbClr val="276FBF"/>
                </a:solidFill>
                <a:latin typeface="Microsoft YaHei"/>
                <a:ea typeface="Microsoft YaHei"/>
              </a:rPr>
              <a:t xml:space="preserve"> COMPLETED</a:t>
            </a:r>
            <a:endParaRPr/>
          </a:p>
        </p:txBody>
      </p:sp>
      <p:sp>
        <p:nvSpPr>
          <p:cNvPr id="374" name="" descr="{&quot;isTemplate&quot;:true,&quot;type&quot;:&quot;text&quot;}"/>
          <p:cNvSpPr txBox="1"/>
          <p:nvPr/>
        </p:nvSpPr>
        <p:spPr>
          <a:xfrm rot="0" flipH="0" flipV="0">
            <a:off x="781050" y="4667250"/>
            <a:ext cx="4857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这次执行结束了</a:t>
            </a:r>
            <a:endParaRPr/>
          </a:p>
        </p:txBody>
      </p:sp>
      <p:sp>
        <p:nvSpPr>
          <p:cNvPr id="375" name=""/>
          <p:cNvSpPr/>
          <p:nvPr/>
        </p:nvSpPr>
        <p:spPr>
          <a:xfrm rot="0" flipH="0" flipV="0">
            <a:off x="6000750" y="4133850"/>
            <a:ext cx="5391150" cy="1009650"/>
          </a:xfrm>
          <a:prstGeom prst="roundRect">
            <a:avLst>
              <a:gd name="adj" fmla="val 7547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376" name="" descr="{&quot;isTemplate&quot;:true,&quot;type&quot;:&quot;text&quot;}"/>
          <p:cNvSpPr txBox="1"/>
          <p:nvPr/>
        </p:nvSpPr>
        <p:spPr>
          <a:xfrm rot="0" flipH="0" flipV="0">
            <a:off x="6172200" y="4448175"/>
            <a:ext cx="5048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CB6B28"/>
                </a:solidFill>
                <a:latin typeface="Microsoft YaHei"/>
                <a:ea typeface="Microsoft YaHei"/>
              </a:rPr>
              <a:t>不能代替目标达成</a:t>
            </a:r>
            <a:endParaRPr/>
          </a:p>
        </p:txBody>
      </p:sp>
      <p:sp>
        <p:nvSpPr>
          <p:cNvPr id="377" name="" descr="{&quot;isTemplate&quot;:true,&quot;type&quot;:&quot;text&quot;}"/>
          <p:cNvSpPr txBox="1"/>
          <p:nvPr/>
        </p:nvSpPr>
        <p:spPr>
          <a:xfrm rot="0" flipH="0" flipV="0">
            <a:off x="6172200" y="4667250"/>
            <a:ext cx="5048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业务目标是否达成要单独判断</a:t>
            </a:r>
            <a:endParaRPr/>
          </a:p>
        </p:txBody>
      </p:sp>
      <p:sp>
        <p:nvSpPr>
          <p:cNvPr id="378" name=""/>
          <p:cNvSpPr/>
          <p:nvPr/>
        </p:nvSpPr>
        <p:spPr>
          <a:xfrm rot="0" flipH="0" flipV="0">
            <a:off x="609600" y="5276850"/>
            <a:ext cx="10972800" cy="609600"/>
          </a:xfrm>
          <a:prstGeom prst="roundRect">
            <a:avLst>
              <a:gd name="adj" fmla="val 15625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379" name=""/>
          <p:cNvSpPr/>
          <p:nvPr/>
        </p:nvSpPr>
        <p:spPr>
          <a:xfrm rot="0" flipH="0" flipV="0">
            <a:off x="800100" y="5391150"/>
            <a:ext cx="38100" cy="3810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380" name="" descr="{&quot;isTemplate&quot;:true,&quot;type&quot;:&quot;text&quot;}"/>
          <p:cNvSpPr txBox="1"/>
          <p:nvPr/>
        </p:nvSpPr>
        <p:spPr>
          <a:xfrm rot="0" flipH="0" flipV="0">
            <a:off x="971550" y="5495925"/>
            <a:ext cx="104203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看证据先问一句：它能证明我想证明的那件事吗。</a:t>
            </a:r>
            <a:endParaRPr/>
          </a:p>
        </p:txBody>
      </p:sp>
      <p:sp>
        <p:nvSpPr>
          <p:cNvPr id="381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4955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3.1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把筹备方案放进一个会发生变化的世界</a:t>
            </a:r>
            <a:endParaRPr/>
          </a:p>
        </p:txBody>
      </p:sp>
      <p:sp>
        <p:nvSpPr>
          <p:cNvPr id="382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20 / 24</a:t>
            </a:r>
            <a:endParaRPr/>
          </a:p>
        </p:txBody>
      </p:sp>
    </p:spTree>
  </p:cSld>
</p:sld>
</file>

<file path=ppt/slides/slide21.xml><?xml version="1.0" encoding="utf-8"?>
<p:sld xmlns:p="http://schemas.openxmlformats.org/presentationml/2006/main" xmlns:a="http://schemas.openxmlformats.org/drawingml/2006/main">
  <p:cSld>
    <p:spTree>
      <p:nvGrpSpPr>
        <p:cNvPr id="383" name="" descr="&lt;Slide notes={`动手之前先固定三件事。&#10;&#10;第一件是把环境坐实：先安装并启动当前项目，按仓库的启动说明进入 Studio，确认正在使用的代码版本、工作区和模型环境。如果系统里已经有别的运行，不要为了读书练习擅自重启服务，也不要改它的资源。&#10;&#10;第二件是把问题写小：读一遍案例总览，明确这一轮要观察什么、大概能承担多少调用、在哪里停下来。&#10;&#10;第三件是定问题。建议把核心问题定为：原安排发生有依据的修正之后，角色是否通过实际渠道获知，并据此调整自己的记忆和行动。这比要求所有能力都表现完美，更容易得到可以解释的结论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3.1.7　开始前的自检&lt;/Text&gt;&#10;            &lt;Text style={{ fontSize: 34, fontWeight: 'bold', color: '#20344B' }}&gt;开始前的自检&lt;/Text&gt;&#10;        &lt;/Box&gt;&#10;    &lt;/Box&gt;&#10;&#10;    &lt;Box style={{ height: 540, flexDirection: 'column', justifyContent: 'center', gap: 20 }}&gt;&#10;&#10;        &lt;Text style={{ fontSize: 15, color: '#546779' }}&gt;先固定三件事，再让角色进入世界。&lt;/Text&gt;&#10;&#10;        &lt;Box style={{ flexDirection: 'row', alignItems: 'center' }}&gt;&#10;            &lt;Box style={{ width: 354, height: 236, background: '#EDF4FC', borderRadius: 10, padding: '18px 20px', flexDirection: 'column', gap: 8 }}&gt;&#10;                &lt;Text style={{ fontSize: 44, fontWeight: 'bold', color: '#276FBF' }}&gt;01&lt;/Text&gt;&#10;                &lt;Text style={{ fontSize: 20, fontWeight: 'bold', color: '#20344B' }}&gt;坐实环境&lt;/Text&gt;&#10;                &lt;Text style={{ fontSize: 14, color: '#546779', lineHeight: 1.6 }}&gt;安装并启动当前项目，按仓库说明进入 Studio，确认代码版本、工作区与模型环境。&lt;/Text&gt;&#10;            &lt;/Box&gt;&#10;            &lt;Box style={{ width: 44, height: 236, justifyContent: 'center', alignItems: 'center' }}&gt;&#10;                &lt;Text style={{ fontSize: 24, color: '#276FBF' }}&gt;›&lt;/Text&gt;&#10;            &lt;/Box&gt;&#10;            &lt;Box style={{ width: 354, height: 236, background: '#EDF4FC', borderRadius: 10, padding: '18px 20px', flexDirection: 'column', gap: 8 }}&gt;&#10;                &lt;Text style={{ fontSize: 44, fontWeight: 'bold', color: '#276FBF' }}&gt;02&lt;/Text&gt;&#10;                &lt;Text style={{ fontSize: 20, fontWeight: 'bold', color: '#20344B' }}&gt;把问题写小&lt;/Text&gt;&#10;                &lt;Text style={{ fontSize: 14, color: '#546779', lineHeight: 1.6 }}&gt;读案例总览，明确这一轮要观察什么、能承担多少调用、在哪里停止。&lt;/Text&gt;&#10;            &lt;/Box&gt;&#10;            &lt;Box style={{ width: 44, height: 236, justifyContent: 'center', alignItems: 'center' }}&gt;&#10;                &lt;Text style={{ fontSize: 24, color: '#CB6B28' }}&gt;›&lt;/Text&gt;&#10;            &lt;/Box&gt;&#10;            &lt;Box style={{ width: 354, height: 236, background: '#FFF4E6', borderRadius: 10, padding: '18px 20px', flexDirection: 'column', gap: 8 }}&gt;&#10;                &lt;Text style={{ fontSize: 44, fontWeight: 'bold', color: '#CB6B28' }}&gt;03&lt;/Text&gt;&#10;                &lt;Text style={{ fontSize: 20, fontWeight: 'bold', color: '#CB6B28' }}&gt;定核心问题&lt;/Text&gt;&#10;                &lt;Text style={{ fontSize: 14, color: '#546779', lineHeight: 1.6 }}&gt;原安排发生有依据的修正后，角色是否通过实际渠道获知，并据此调整记忆与行动？&lt;/Text&gt;&#10;            &lt;/Box&gt;&#10;        &lt;/Box&gt;&#10;&#10;        &lt;Box style={{ flexDirection: 'row', alignItems: 'center', gap: 14, background: '#F4F7FA', borderRadius: 10, padding: '12px 20px' }}&gt;&#10;            &lt;Box style={{ width: 4, height: 40, background: '#CB6B28' }} /&gt;&#10;            &lt;Text style={{ fontSize: 15, color: '#546779', flex: 1, lineHeight: 1.5 }}&gt;系统里已有其他运行时，不为读书练习擅自重启服务，也不更改它的资源。&lt;/Text&gt;&#10;        &lt;/Box&gt;&#10;&#10;    &lt;/Box&gt;&#10;&#10;    &lt;Box style={{ height: 40, flexDirection: 'row', justifyContent: 'space-between', alignItems: 'center' }}&gt;&#10;        &lt;Text style={{ fontSize: 14, color: '#546779' }}&gt;3.1 把筹备方案放进一个会发生变化的世界&lt;/Text&gt;&#10;        &lt;Text style={{ fontSize: 14, color: '#546779' }}&gt;21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85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86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1943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3.1.7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开始前的自检</a:t>
            </a:r>
            <a:endParaRPr/>
          </a:p>
        </p:txBody>
      </p:sp>
      <p:sp>
        <p:nvSpPr>
          <p:cNvPr id="387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19431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开始前的自检</a:t>
            </a:r>
            <a:endParaRPr/>
          </a:p>
        </p:txBody>
      </p:sp>
      <p:sp>
        <p:nvSpPr>
          <p:cNvPr id="388" name="" descr="{&quot;isTemplate&quot;:true,&quot;type&quot;:&quot;text&quot;}"/>
          <p:cNvSpPr txBox="1"/>
          <p:nvPr/>
        </p:nvSpPr>
        <p:spPr>
          <a:xfrm rot="0" flipH="0" flipV="0">
            <a:off x="609600" y="2009775"/>
            <a:ext cx="10972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先固定三件事，再让角色进入世界。</a:t>
            </a:r>
            <a:endParaRPr/>
          </a:p>
        </p:txBody>
      </p:sp>
      <p:sp>
        <p:nvSpPr>
          <p:cNvPr id="389" name=""/>
          <p:cNvSpPr/>
          <p:nvPr/>
        </p:nvSpPr>
        <p:spPr>
          <a:xfrm rot="0" flipH="0" flipV="0">
            <a:off x="609600" y="2371725"/>
            <a:ext cx="3371850" cy="2247900"/>
          </a:xfrm>
          <a:prstGeom prst="roundRect">
            <a:avLst>
              <a:gd name="adj" fmla="val 4237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390" name="" descr="{&quot;isTemplate&quot;:true,&quot;type&quot;:&quot;text&quot;}"/>
          <p:cNvSpPr txBox="1"/>
          <p:nvPr/>
        </p:nvSpPr>
        <p:spPr>
          <a:xfrm rot="0" flipH="0" flipV="0">
            <a:off x="800100" y="2543175"/>
            <a:ext cx="2990850" cy="504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300" b="1">
                <a:solidFill>
                  <a:srgbClr val="276FBF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391" name="" descr="{&quot;isTemplate&quot;:true,&quot;type&quot;:&quot;text&quot;}"/>
          <p:cNvSpPr txBox="1"/>
          <p:nvPr/>
        </p:nvSpPr>
        <p:spPr>
          <a:xfrm rot="0" flipH="0" flipV="0">
            <a:off x="800100" y="3124200"/>
            <a:ext cx="29908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坐实环境</a:t>
            </a:r>
            <a:endParaRPr/>
          </a:p>
        </p:txBody>
      </p:sp>
      <p:sp>
        <p:nvSpPr>
          <p:cNvPr id="392" name="" descr="{&quot;isTemplate&quot;:true,&quot;type&quot;:&quot;text&quot;}"/>
          <p:cNvSpPr txBox="1"/>
          <p:nvPr/>
        </p:nvSpPr>
        <p:spPr>
          <a:xfrm rot="0" flipH="0" flipV="0">
            <a:off x="800100" y="3429000"/>
            <a:ext cx="299085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安装并启动当前项目，按仓库说明进入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Studio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，确认代码版本、工作区与模型环境。</a:t>
            </a:r>
            <a:endParaRPr/>
          </a:p>
        </p:txBody>
      </p:sp>
      <p:sp>
        <p:nvSpPr>
          <p:cNvPr id="393" name="" descr="{&quot;isTemplate&quot;:true,&quot;type&quot;:&quot;text&quot;}"/>
          <p:cNvSpPr txBox="1"/>
          <p:nvPr/>
        </p:nvSpPr>
        <p:spPr>
          <a:xfrm rot="0" flipH="0" flipV="0">
            <a:off x="4152900" y="3362325"/>
            <a:ext cx="857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80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394" name=""/>
          <p:cNvSpPr/>
          <p:nvPr/>
        </p:nvSpPr>
        <p:spPr>
          <a:xfrm rot="0" flipH="0" flipV="0">
            <a:off x="4400550" y="2371725"/>
            <a:ext cx="3371850" cy="2247900"/>
          </a:xfrm>
          <a:prstGeom prst="roundRect">
            <a:avLst>
              <a:gd name="adj" fmla="val 4237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395" name="" descr="{&quot;isTemplate&quot;:true,&quot;type&quot;:&quot;text&quot;}"/>
          <p:cNvSpPr txBox="1"/>
          <p:nvPr/>
        </p:nvSpPr>
        <p:spPr>
          <a:xfrm rot="0" flipH="0" flipV="0">
            <a:off x="4591050" y="2543175"/>
            <a:ext cx="2990850" cy="504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300" b="1">
                <a:solidFill>
                  <a:srgbClr val="276FBF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396" name="" descr="{&quot;isTemplate&quot;:true,&quot;type&quot;:&quot;text&quot;}"/>
          <p:cNvSpPr txBox="1"/>
          <p:nvPr/>
        </p:nvSpPr>
        <p:spPr>
          <a:xfrm rot="0" flipH="0" flipV="0">
            <a:off x="4591050" y="3124200"/>
            <a:ext cx="29908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把问题写小</a:t>
            </a:r>
            <a:endParaRPr/>
          </a:p>
        </p:txBody>
      </p:sp>
      <p:sp>
        <p:nvSpPr>
          <p:cNvPr id="397" name="" descr="{&quot;isTemplate&quot;:true,&quot;type&quot;:&quot;text&quot;}"/>
          <p:cNvSpPr txBox="1"/>
          <p:nvPr/>
        </p:nvSpPr>
        <p:spPr>
          <a:xfrm rot="0" flipH="0" flipV="0">
            <a:off x="4591050" y="3429000"/>
            <a:ext cx="299085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读案例总览，明确这一轮要观察什么、能承担多少调用、在哪里停止。</a:t>
            </a:r>
            <a:endParaRPr/>
          </a:p>
        </p:txBody>
      </p:sp>
      <p:sp>
        <p:nvSpPr>
          <p:cNvPr id="398" name="" descr="{&quot;isTemplate&quot;:true,&quot;type&quot;:&quot;text&quot;}"/>
          <p:cNvSpPr txBox="1"/>
          <p:nvPr/>
        </p:nvSpPr>
        <p:spPr>
          <a:xfrm rot="0" flipH="0" flipV="0">
            <a:off x="7943850" y="3362325"/>
            <a:ext cx="857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800">
                <a:solidFill>
                  <a:srgbClr val="CB6B28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399" name=""/>
          <p:cNvSpPr/>
          <p:nvPr/>
        </p:nvSpPr>
        <p:spPr>
          <a:xfrm rot="0" flipH="0" flipV="0">
            <a:off x="8191500" y="2371725"/>
            <a:ext cx="3371850" cy="2247900"/>
          </a:xfrm>
          <a:prstGeom prst="roundRect">
            <a:avLst>
              <a:gd name="adj" fmla="val 4237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400" name="" descr="{&quot;isTemplate&quot;:true,&quot;type&quot;:&quot;text&quot;}"/>
          <p:cNvSpPr txBox="1"/>
          <p:nvPr/>
        </p:nvSpPr>
        <p:spPr>
          <a:xfrm rot="0" flipH="0" flipV="0">
            <a:off x="8382000" y="2543175"/>
            <a:ext cx="2990850" cy="504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300" b="1">
                <a:solidFill>
                  <a:srgbClr val="CB6B28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401" name="" descr="{&quot;isTemplate&quot;:true,&quot;type&quot;:&quot;text&quot;}"/>
          <p:cNvSpPr txBox="1"/>
          <p:nvPr/>
        </p:nvSpPr>
        <p:spPr>
          <a:xfrm rot="0" flipH="0" flipV="0">
            <a:off x="8382000" y="3124200"/>
            <a:ext cx="29908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CB6B28"/>
                </a:solidFill>
                <a:latin typeface="Microsoft YaHei"/>
                <a:ea typeface="Microsoft YaHei"/>
              </a:rPr>
              <a:t>定核心问题</a:t>
            </a:r>
            <a:endParaRPr/>
          </a:p>
        </p:txBody>
      </p:sp>
      <p:sp>
        <p:nvSpPr>
          <p:cNvPr id="402" name="" descr="{&quot;isTemplate&quot;:true,&quot;type&quot;:&quot;text&quot;}"/>
          <p:cNvSpPr txBox="1"/>
          <p:nvPr/>
        </p:nvSpPr>
        <p:spPr>
          <a:xfrm rot="0" flipH="0" flipV="0">
            <a:off x="8382000" y="3429000"/>
            <a:ext cx="299085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原安排发生有依据的修正后，角色是否通过实际渠道获知，并据此调整记忆与行动？</a:t>
            </a:r>
            <a:endParaRPr/>
          </a:p>
        </p:txBody>
      </p:sp>
      <p:sp>
        <p:nvSpPr>
          <p:cNvPr id="403" name=""/>
          <p:cNvSpPr/>
          <p:nvPr/>
        </p:nvSpPr>
        <p:spPr>
          <a:xfrm rot="0" flipH="0" flipV="0">
            <a:off x="609600" y="4810125"/>
            <a:ext cx="10972800" cy="609600"/>
          </a:xfrm>
          <a:prstGeom prst="roundRect">
            <a:avLst>
              <a:gd name="adj" fmla="val 15625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404" name=""/>
          <p:cNvSpPr/>
          <p:nvPr/>
        </p:nvSpPr>
        <p:spPr>
          <a:xfrm rot="0" flipH="0" flipV="0">
            <a:off x="800100" y="4924425"/>
            <a:ext cx="38100" cy="3810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405" name="" descr="{&quot;isTemplate&quot;:true,&quot;type&quot;:&quot;text&quot;}"/>
          <p:cNvSpPr txBox="1"/>
          <p:nvPr/>
        </p:nvSpPr>
        <p:spPr>
          <a:xfrm rot="0" flipH="0" flipV="0">
            <a:off x="971550" y="4991100"/>
            <a:ext cx="104203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系统里已有其他运行时，不为读书练习擅自重启服务，也不更改它的资源。</a:t>
            </a:r>
            <a:endParaRPr/>
          </a:p>
        </p:txBody>
      </p:sp>
      <p:sp>
        <p:nvSpPr>
          <p:cNvPr id="406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4955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3.1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把筹备方案放进一个会发生变化的世界</a:t>
            </a:r>
            <a:endParaRPr/>
          </a:p>
        </p:txBody>
      </p:sp>
      <p:sp>
        <p:nvSpPr>
          <p:cNvPr id="407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21 / 24</a:t>
            </a:r>
            <a:endParaRPr/>
          </a:p>
        </p:txBody>
      </p:sp>
    </p:spTree>
  </p:cSld>
</p:sld>
</file>

<file path=ppt/slides/slide22.xml><?xml version="1.0" encoding="utf-8"?>
<p:sld xmlns:p="http://schemas.openxmlformats.org/presentationml/2006/main" xmlns:a="http://schemas.openxmlformats.org/drawingml/2006/main">
  <p:cSld>
    <p:spTree>
      <p:nvGrpSpPr>
        <p:cNvPr id="408" name="" descr="&lt;Slide notes={`第三章借了两个历史小案例来帮助理解。&#10;&#10;一个是晨间生活，它展示的是连续活动怎么进行，以及进度怎么被记住。另一个是穿门阅读，它展示的是门洞、移动预算，以及到达之后要执行的动作。&#10;&#10;这两个案例很有用，但它们的作用是讲解概念。&#10;&#10;它们的原始证据保留的是当时的历史含义，不能拿到今天来，和新案例拼成一次已经完成的开放日运行。这么拼出来的不是证据，是故事。&#10;&#10;还有两处具体情况要说明：晨间资料的配置目录是缺失的，阅读对照有一项没有闭环。这些会在对应的练习里讲清楚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3.1.7　开始前的自检&lt;/Text&gt;&#10;            &lt;Text style={{ fontSize: 34, fontWeight: 'bold', color: '#20344B' }}&gt;历史案例只保留历史含义&lt;/Text&gt;&#10;        &lt;/Box&gt;&#10;    &lt;/Box&gt;&#10;&#10;    &lt;Box style={{ height: 540, flexDirection: 'column', justifyContent: 'center', gap: 18 }}&gt;&#10;&#10;        &lt;Text style={{ fontSize: 15, color: '#546779' }}&gt;两个历史小案例用来讲解概念，不用来证明新案例已经跑通。&lt;/Text&gt;&#10;&#10;        &lt;Box style={{ flexDirection: 'row', gap: 20 }}&gt;&#10;            &lt;Box style={{ width: 566, height: 250, background: '#F7F3E8', borderRadius: 10, padding: '18px 20px', flexDirection: 'column', gap: 10 }}&gt;&#10;                &lt;Text style={{ fontSize: 22, fontWeight: 'bold', color: '#20344B' }}&gt;晨间生活&lt;/Text&gt;&#10;                &lt;Text style={{ fontSize: 15, color: '#546779', lineHeight: 1.6 }}&gt;展示连续活动怎么进行、进度怎么被记住。&lt;/Text&gt;&#10;                &lt;Box style={{ flex: 1, background: '#FFFFFF', borderRadius: 8, padding: '12px 14px', flexDirection: 'column', gap: 4, justifyContent: 'center' }}&gt;&#10;                    &lt;Text style={{ fontSize: 14, fontWeight: 'bold', color: '#CB6B28' }}&gt;已知缺口&lt;/Text&gt;&#10;                    &lt;Text style={{ fontSize: 14, color: '#546779', lineHeight: 1.5 }}&gt;配置目录缺失，会在相应练习里说明。&lt;/Text&gt;&#10;                &lt;/Box&gt;&#10;            &lt;/Box&gt;&#10;            &lt;Box style={{ width: 566, height: 250, background: '#F7F3E8', borderRadius: 10, padding: '18px 20px', flexDirection: 'column', gap: 10 }}&gt;&#10;                &lt;Text style={{ fontSize: 22, fontWeight: 'bold', color: '#20344B' }}&gt;穿门阅读&lt;/Text&gt;&#10;                &lt;Text style={{ fontSize: 15, color: '#546779', lineHeight: 1.6 }}&gt;展示门洞、移动预算与到达之后的动作。&lt;/Text&gt;&#10;                &lt;Box style={{ flex: 1, background: '#FFFFFF', borderRadius: 8, padding: '12px 14px', flexDirection: 'column', gap: 4, justifyContent: 'center' }}&gt;&#10;                    &lt;Text style={{ fontSize: 14, fontWeight: 'bold', color: '#CB6B28' }}&gt;已知缺口&lt;/Text&gt;&#10;                    &lt;Text style={{ fontSize: 14, color: '#546779', lineHeight: 1.5 }}&gt;对照中有一项未闭环，会在相应练习里说明。&lt;/Text&gt;&#10;                &lt;/Box&gt;&#10;            &lt;/Box&gt;&#10;        &lt;/Box&gt;&#10;&#10;        &lt;Box style={{ flexDirection: 'row', alignItems: 'center', gap: 14, background: '#FFF4E6', borderRadius: 10, padding: '12px 20px' }}&gt;&#10;            &lt;Box style={{ width: 4, height: 56, background: '#CB6B28' }} /&gt;&#10;            &lt;Box style={{ flexDirection: 'column', gap: 3 }}&gt;&#10;                &lt;Text style={{ fontSize: 16, fontWeight: 'bold', color: '#CB6B28' }}&gt;不能拼成一次已完成的运行&lt;/Text&gt;&#10;                &lt;Text style={{ fontSize: 14, color: '#546779', lineHeight: 1.5 }}&gt;它们的原始证据保留历史含义，与开放日案例各算各的。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3.1 把筹备方案放进一个会发生变化的世界&lt;/Text&gt;&#10;        &lt;Text style={{ fontSize: 14, color: '#546779' }}&gt;22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10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11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562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3.1.7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开始前的自检</a:t>
            </a:r>
            <a:endParaRPr/>
          </a:p>
        </p:txBody>
      </p:sp>
      <p:sp>
        <p:nvSpPr>
          <p:cNvPr id="412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5623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历史案例只保留历史含义</a:t>
            </a:r>
            <a:endParaRPr/>
          </a:p>
        </p:txBody>
      </p:sp>
      <p:sp>
        <p:nvSpPr>
          <p:cNvPr id="413" name="" descr="{&quot;isTemplate&quot;:true,&quot;type&quot;:&quot;text&quot;}"/>
          <p:cNvSpPr txBox="1"/>
          <p:nvPr/>
        </p:nvSpPr>
        <p:spPr>
          <a:xfrm rot="0" flipH="0" flipV="0">
            <a:off x="609600" y="1885950"/>
            <a:ext cx="10972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两个历史小案例用来讲解概念，不用来证明新案例已经跑通。</a:t>
            </a:r>
            <a:endParaRPr/>
          </a:p>
        </p:txBody>
      </p:sp>
      <p:sp>
        <p:nvSpPr>
          <p:cNvPr id="414" name=""/>
          <p:cNvSpPr/>
          <p:nvPr/>
        </p:nvSpPr>
        <p:spPr>
          <a:xfrm rot="0" flipH="0" flipV="0">
            <a:off x="609600" y="2228850"/>
            <a:ext cx="5391150" cy="2381250"/>
          </a:xfrm>
          <a:prstGeom prst="roundRect">
            <a:avLst>
              <a:gd name="adj" fmla="val 4000"/>
            </a:avLst>
          </a:prstGeom>
          <a:solidFill>
            <a:srgbClr val="F7F3E8"/>
          </a:solidFill>
          <a:ln/>
        </p:spPr>
        <p:txBody>
          <a:bodyPr/>
          <a:p/>
        </p:txBody>
      </p:sp>
      <p:sp>
        <p:nvSpPr>
          <p:cNvPr id="415" name="" descr="{&quot;isTemplate&quot;:true,&quot;type&quot;:&quot;text&quot;}"/>
          <p:cNvSpPr txBox="1"/>
          <p:nvPr/>
        </p:nvSpPr>
        <p:spPr>
          <a:xfrm rot="0" flipH="0" flipV="0">
            <a:off x="800100" y="2400300"/>
            <a:ext cx="50101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20344B"/>
                </a:solidFill>
                <a:latin typeface="Microsoft YaHei"/>
                <a:ea typeface="Microsoft YaHei"/>
              </a:rPr>
              <a:t>晨间生活</a:t>
            </a:r>
            <a:endParaRPr/>
          </a:p>
        </p:txBody>
      </p:sp>
      <p:sp>
        <p:nvSpPr>
          <p:cNvPr id="416" name="" descr="{&quot;isTemplate&quot;:true,&quot;type&quot;:&quot;text&quot;}"/>
          <p:cNvSpPr txBox="1"/>
          <p:nvPr/>
        </p:nvSpPr>
        <p:spPr>
          <a:xfrm rot="0" flipH="0" flipV="0">
            <a:off x="800100" y="2752725"/>
            <a:ext cx="501015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展示连续活动怎么进行、进度怎么被记住。</a:t>
            </a:r>
            <a:endParaRPr/>
          </a:p>
        </p:txBody>
      </p:sp>
      <p:sp>
        <p:nvSpPr>
          <p:cNvPr id="417" name=""/>
          <p:cNvSpPr/>
          <p:nvPr/>
        </p:nvSpPr>
        <p:spPr>
          <a:xfrm rot="0" flipH="0" flipV="0">
            <a:off x="800100" y="3124200"/>
            <a:ext cx="5010150" cy="1314450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18" name="" descr="{&quot;isTemplate&quot;:true,&quot;type&quot;:&quot;text&quot;}"/>
          <p:cNvSpPr txBox="1"/>
          <p:nvPr/>
        </p:nvSpPr>
        <p:spPr>
          <a:xfrm rot="0" flipH="0" flipV="0">
            <a:off x="933450" y="3562350"/>
            <a:ext cx="4743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CB6B28"/>
                </a:solidFill>
                <a:latin typeface="Microsoft YaHei"/>
                <a:ea typeface="Microsoft YaHei"/>
              </a:rPr>
              <a:t>已知缺口</a:t>
            </a:r>
            <a:endParaRPr/>
          </a:p>
        </p:txBody>
      </p:sp>
      <p:sp>
        <p:nvSpPr>
          <p:cNvPr id="419" name="" descr="{&quot;isTemplate&quot;:true,&quot;type&quot;:&quot;text&quot;}"/>
          <p:cNvSpPr txBox="1"/>
          <p:nvPr/>
        </p:nvSpPr>
        <p:spPr>
          <a:xfrm rot="0" flipH="0" flipV="0">
            <a:off x="933450" y="3762375"/>
            <a:ext cx="474345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配置目录缺失，会在相应练习里说明。</a:t>
            </a:r>
            <a:endParaRPr/>
          </a:p>
        </p:txBody>
      </p:sp>
      <p:sp>
        <p:nvSpPr>
          <p:cNvPr id="420" name=""/>
          <p:cNvSpPr/>
          <p:nvPr/>
        </p:nvSpPr>
        <p:spPr>
          <a:xfrm rot="0" flipH="0" flipV="0">
            <a:off x="6191250" y="2228850"/>
            <a:ext cx="5391150" cy="2381250"/>
          </a:xfrm>
          <a:prstGeom prst="roundRect">
            <a:avLst>
              <a:gd name="adj" fmla="val 4000"/>
            </a:avLst>
          </a:prstGeom>
          <a:solidFill>
            <a:srgbClr val="F7F3E8"/>
          </a:solidFill>
          <a:ln/>
        </p:spPr>
        <p:txBody>
          <a:bodyPr/>
          <a:p/>
        </p:txBody>
      </p:sp>
      <p:sp>
        <p:nvSpPr>
          <p:cNvPr id="421" name="" descr="{&quot;isTemplate&quot;:true,&quot;type&quot;:&quot;text&quot;}"/>
          <p:cNvSpPr txBox="1"/>
          <p:nvPr/>
        </p:nvSpPr>
        <p:spPr>
          <a:xfrm rot="0" flipH="0" flipV="0">
            <a:off x="6381750" y="2400300"/>
            <a:ext cx="50101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20344B"/>
                </a:solidFill>
                <a:latin typeface="Microsoft YaHei"/>
                <a:ea typeface="Microsoft YaHei"/>
              </a:rPr>
              <a:t>穿门阅读</a:t>
            </a:r>
            <a:endParaRPr/>
          </a:p>
        </p:txBody>
      </p:sp>
      <p:sp>
        <p:nvSpPr>
          <p:cNvPr id="422" name="" descr="{&quot;isTemplate&quot;:true,&quot;type&quot;:&quot;text&quot;}"/>
          <p:cNvSpPr txBox="1"/>
          <p:nvPr/>
        </p:nvSpPr>
        <p:spPr>
          <a:xfrm rot="0" flipH="0" flipV="0">
            <a:off x="6381750" y="2752725"/>
            <a:ext cx="501015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展示门洞、移动预算与到达之后的动作。</a:t>
            </a:r>
            <a:endParaRPr/>
          </a:p>
        </p:txBody>
      </p:sp>
      <p:sp>
        <p:nvSpPr>
          <p:cNvPr id="423" name=""/>
          <p:cNvSpPr/>
          <p:nvPr/>
        </p:nvSpPr>
        <p:spPr>
          <a:xfrm rot="0" flipH="0" flipV="0">
            <a:off x="6381750" y="3124200"/>
            <a:ext cx="5010150" cy="1314450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24" name="" descr="{&quot;isTemplate&quot;:true,&quot;type&quot;:&quot;text&quot;}"/>
          <p:cNvSpPr txBox="1"/>
          <p:nvPr/>
        </p:nvSpPr>
        <p:spPr>
          <a:xfrm rot="0" flipH="0" flipV="0">
            <a:off x="6515100" y="3562350"/>
            <a:ext cx="4743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CB6B28"/>
                </a:solidFill>
                <a:latin typeface="Microsoft YaHei"/>
                <a:ea typeface="Microsoft YaHei"/>
              </a:rPr>
              <a:t>已知缺口</a:t>
            </a:r>
            <a:endParaRPr/>
          </a:p>
        </p:txBody>
      </p:sp>
      <p:sp>
        <p:nvSpPr>
          <p:cNvPr id="425" name="" descr="{&quot;isTemplate&quot;:true,&quot;type&quot;:&quot;text&quot;}"/>
          <p:cNvSpPr txBox="1"/>
          <p:nvPr/>
        </p:nvSpPr>
        <p:spPr>
          <a:xfrm rot="0" flipH="0" flipV="0">
            <a:off x="6515100" y="3762375"/>
            <a:ext cx="474345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对照中有一项未闭环，会在相应练习里说明。</a:t>
            </a:r>
            <a:endParaRPr/>
          </a:p>
        </p:txBody>
      </p:sp>
      <p:sp>
        <p:nvSpPr>
          <p:cNvPr id="426" name=""/>
          <p:cNvSpPr/>
          <p:nvPr/>
        </p:nvSpPr>
        <p:spPr>
          <a:xfrm rot="0" flipH="0" flipV="0">
            <a:off x="609600" y="4781550"/>
            <a:ext cx="10972800" cy="762000"/>
          </a:xfrm>
          <a:prstGeom prst="roundRect">
            <a:avLst>
              <a:gd name="adj" fmla="val 12500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427" name=""/>
          <p:cNvSpPr/>
          <p:nvPr/>
        </p:nvSpPr>
        <p:spPr>
          <a:xfrm rot="0" flipH="0" flipV="0">
            <a:off x="800100" y="4895850"/>
            <a:ext cx="38100" cy="5334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428" name="" descr="{&quot;isTemplate&quot;:true,&quot;type&quot;:&quot;text&quot;}"/>
          <p:cNvSpPr txBox="1"/>
          <p:nvPr/>
        </p:nvSpPr>
        <p:spPr>
          <a:xfrm rot="0" flipH="0" flipV="0">
            <a:off x="971550" y="4933950"/>
            <a:ext cx="3333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CB6B28"/>
                </a:solidFill>
                <a:latin typeface="Microsoft YaHei"/>
                <a:ea typeface="Microsoft YaHei"/>
              </a:rPr>
              <a:t>不能拼成一次已完成的运行</a:t>
            </a:r>
            <a:endParaRPr/>
          </a:p>
        </p:txBody>
      </p:sp>
      <p:sp>
        <p:nvSpPr>
          <p:cNvPr id="429" name="" descr="{&quot;isTemplate&quot;:true,&quot;type&quot;:&quot;text&quot;}"/>
          <p:cNvSpPr txBox="1"/>
          <p:nvPr/>
        </p:nvSpPr>
        <p:spPr>
          <a:xfrm rot="0" flipH="0" flipV="0">
            <a:off x="971550" y="5153025"/>
            <a:ext cx="333375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它们的原始证据保留历史含义，与开放日案例各算各的。</a:t>
            </a:r>
            <a:endParaRPr/>
          </a:p>
        </p:txBody>
      </p:sp>
      <p:sp>
        <p:nvSpPr>
          <p:cNvPr id="430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4955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3.1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把筹备方案放进一个会发生变化的世界</a:t>
            </a:r>
            <a:endParaRPr/>
          </a:p>
        </p:txBody>
      </p:sp>
      <p:sp>
        <p:nvSpPr>
          <p:cNvPr id="431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22 / 24</a:t>
            </a:r>
            <a:endParaRPr/>
          </a:p>
        </p:txBody>
      </p:sp>
    </p:spTree>
  </p:cSld>
</p:sld>
</file>

<file path=ppt/slides/slide23.xml><?xml version="1.0" encoding="utf-8"?>
<p:sld xmlns:p="http://schemas.openxmlformats.org/presentationml/2006/main" xmlns:a="http://schemas.openxmlformats.org/drawingml/2006/main">
  <p:cSld>
    <p:spTree>
      <p:nvGrpSpPr>
        <p:cNvPr id="432" name="" descr="&lt;Slide notes={`这一节的练习是：写出三条不能靠自然语言总结来证明的结果，并且为每一条指定证据。&#10;&#10;第一条好比说抵达。抵达需要坐标和移动的事实，得有位置记录能对上，光说到了不算。&#10;&#10;第二条好比说公告更新。更新需要对象真的提交，得有提交的记录，光说改了不算。&#10;&#10;第三条好比说消息已收到。收到需要真实的参与者后续还能引用这条消息，或者给出回复，只有转述不算。&#10;&#10;写的时候顺序反一下更好用：先想清楚我要证明什么，再想哪条证据能证明它，最后才去设计动作。&#10;&#10;后面各节会把这些检查落到具体的入口上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3.1.7　开始前的自检&lt;/Text&gt;&#10;            &lt;Text style={{ fontSize: 34, fontWeight: 'bold', color: '#20344B' }}&gt;三条只靠总结证明不了的结果&lt;/Text&gt;&#10;        &lt;/Box&gt;&#10;    &lt;/Box&gt;&#10;&#10;    &lt;Box style={{ height: 540, flexDirection: 'column', justifyContent: 'center', gap: 14 }}&gt;&#10;&#10;        &lt;Text style={{ fontSize: 15, color: '#546779' }}&gt;先想清楚要证明什么，再挑哪条证据能证明它。&lt;/Text&gt;&#10;&#10;        &lt;Box style={{ background: '#F4F7FA', borderRadius: 10, padding: '16px 20px', flexDirection: 'column', gap: 12 }}&gt;&#10;&#10;            &lt;Box style={{ height: 86, background: '#FFFFFF', borderRadius: 8, padding: '0 16px', flexDirection: 'row', alignItems: 'center', gap: 16 }}&gt;&#10;                &lt;Box style={{ width: 4, height: 52, background: '#276FBF' }} /&gt;&#10;                &lt;Box style={{ width: 200 }}&gt;&lt;Text style={{ fontSize: 17, fontWeight: 'bold', color: '#20344B' }}&gt;已经抵达&lt;/Text&gt;&lt;/Box&gt;&#10;                &lt;Box style={{ width: 400 }}&gt;&lt;Text style={{ fontSize: 14, color: '#546779' }}&gt;需要坐标与移动事实，总结说到了不算&lt;/Text&gt;&lt;/Box&gt;&#10;                &lt;Box style={{ flex: 1 }}&gt;&lt;Text style={{ fontSize: 14, color: '#CB6B28' }}&gt;位置记录能对上&lt;/Text&gt;&lt;/Box&gt;&#10;            &lt;/Box&gt;&#10;&#10;            &lt;Box style={{ height: 86, background: '#FFFFFF', borderRadius: 8, padding: '0 16px', flexDirection: 'row', alignItems: 'center', gap: 16 }}&gt;&#10;                &lt;Box style={{ width: 4, height: 52, background: '#276FBF' }} /&gt;&#10;                &lt;Box style={{ width: 200 }}&gt;&lt;Text style={{ fontSize: 17, fontWeight: 'bold', color: '#20344B' }}&gt;公告已更新&lt;/Text&gt;&lt;/Box&gt;&#10;                &lt;Box style={{ width: 400 }}&gt;&lt;Text style={{ fontSize: 14, color: '#546779' }}&gt;需要对象真的提交，总结说改了不算&lt;/Text&gt;&lt;/Box&gt;&#10;                &lt;Box style={{ flex: 1 }}&gt;&lt;Text style={{ fontSize: 14, color: '#CB6B28' }}&gt;对象提交状态与回复&lt;/Text&gt;&lt;/Box&gt;&#10;            &lt;/Box&gt;&#10;&#10;            &lt;Box style={{ height: 86, background: '#FFFFFF', borderRadius: 8, padding: '0 16px', flexDirection: 'row', alignItems: 'center', gap: 16 }}&gt;&#10;                &lt;Box style={{ width: 4, height: 52, background: '#26816B' }} /&gt;&#10;                &lt;Box style={{ width: 200 }}&gt;&lt;Text style={{ fontSize: 17, fontWeight: 'bold', color: '#20344B' }}&gt;消息已收到&lt;/Text&gt;&lt;/Box&gt;&#10;                &lt;Box style={{ width: 400 }}&gt;&lt;Text style={{ fontSize: 14, color: '#546779' }}&gt;需要真实参与者参与，转述不算&lt;/Text&gt;&lt;/Box&gt;&#10;                &lt;Box style={{ flex: 1 }}&gt;&lt;Text style={{ fontSize: 14, color: '#CB6B28' }}&gt;后续上下文或回复&lt;/Text&gt;&lt;/Box&gt;&#10;            &lt;/Box&gt;&#10;&#10;        &lt;/Box&gt;&#10;&#10;        &lt;Box style={{ flexDirection: 'row', alignItems: 'center', gap: 14, background: '#FFF4E6', borderRadius: 10, padding: '12px 20px' }}&gt;&#10;            &lt;Box style={{ width: 4, height: 40, background: '#CB6B28' }} /&gt;&#10;            &lt;Text style={{ fontSize: 15, color: '#546779', flex: 1, lineHeight: 1.5 }}&gt;后续各节会把这些检查落到具体入口：资源、空间、Skill、运行与回放。&lt;/Text&gt;&#10;        &lt;/Box&gt;&#10;&#10;    &lt;/Box&gt;&#10;&#10;    &lt;Box style={{ height: 40, flexDirection: 'row', justifyContent: 'space-between', alignItems: 'center' }}&gt;&#10;        &lt;Text style={{ fontSize: 14, color: '#546779' }}&gt;3.1 把筹备方案放进一个会发生变化的世界&lt;/Text&gt;&#10;        &lt;Text style={{ fontSize: 14, color: '#546779' }}&gt;23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34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35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4210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3.1.7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开始前的自检</a:t>
            </a:r>
            <a:endParaRPr/>
          </a:p>
        </p:txBody>
      </p:sp>
      <p:sp>
        <p:nvSpPr>
          <p:cNvPr id="436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42100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三条只靠总结证明不了的结果</a:t>
            </a:r>
            <a:endParaRPr/>
          </a:p>
        </p:txBody>
      </p:sp>
      <p:sp>
        <p:nvSpPr>
          <p:cNvPr id="437" name="" descr="{&quot;isTemplate&quot;:true,&quot;type&quot;:&quot;text&quot;}"/>
          <p:cNvSpPr txBox="1"/>
          <p:nvPr/>
        </p:nvSpPr>
        <p:spPr>
          <a:xfrm rot="0" flipH="0" flipV="0">
            <a:off x="609600" y="1695450"/>
            <a:ext cx="10972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先想清楚要证明什么，再挑哪条证据能证明它。</a:t>
            </a:r>
            <a:endParaRPr/>
          </a:p>
        </p:txBody>
      </p:sp>
      <p:sp>
        <p:nvSpPr>
          <p:cNvPr id="438" name=""/>
          <p:cNvSpPr/>
          <p:nvPr/>
        </p:nvSpPr>
        <p:spPr>
          <a:xfrm rot="0" flipH="0" flipV="0">
            <a:off x="609600" y="2000250"/>
            <a:ext cx="10972800" cy="2990850"/>
          </a:xfrm>
          <a:prstGeom prst="roundRect">
            <a:avLst>
              <a:gd name="adj" fmla="val 3185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439" name=""/>
          <p:cNvSpPr/>
          <p:nvPr/>
        </p:nvSpPr>
        <p:spPr>
          <a:xfrm rot="0" flipH="0" flipV="0">
            <a:off x="800100" y="2152650"/>
            <a:ext cx="10591800" cy="819150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40" name=""/>
          <p:cNvSpPr/>
          <p:nvPr/>
        </p:nvSpPr>
        <p:spPr>
          <a:xfrm rot="0" flipH="0" flipV="0">
            <a:off x="952500" y="2314575"/>
            <a:ext cx="38100" cy="4953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41" name="" descr="{&quot;isTemplate&quot;:true,&quot;type&quot;:&quot;text&quot;}"/>
          <p:cNvSpPr txBox="1"/>
          <p:nvPr/>
        </p:nvSpPr>
        <p:spPr>
          <a:xfrm rot="0" flipH="0" flipV="0">
            <a:off x="1143000" y="2466975"/>
            <a:ext cx="1905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已经抵达</a:t>
            </a:r>
            <a:endParaRPr/>
          </a:p>
        </p:txBody>
      </p:sp>
      <p:sp>
        <p:nvSpPr>
          <p:cNvPr id="442" name="" descr="{&quot;isTemplate&quot;:true,&quot;type&quot;:&quot;text&quot;}"/>
          <p:cNvSpPr txBox="1"/>
          <p:nvPr/>
        </p:nvSpPr>
        <p:spPr>
          <a:xfrm rot="0" flipH="0" flipV="0">
            <a:off x="3200400" y="2486025"/>
            <a:ext cx="3810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需要坐标与移动事实，总结说到了不算</a:t>
            </a:r>
            <a:endParaRPr/>
          </a:p>
        </p:txBody>
      </p:sp>
      <p:sp>
        <p:nvSpPr>
          <p:cNvPr id="443" name="" descr="{&quot;isTemplate&quot;:true,&quot;type&quot;:&quot;text&quot;}"/>
          <p:cNvSpPr txBox="1"/>
          <p:nvPr/>
        </p:nvSpPr>
        <p:spPr>
          <a:xfrm rot="0" flipH="0" flipV="0">
            <a:off x="7162800" y="2486025"/>
            <a:ext cx="4076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CB6B28"/>
                </a:solidFill>
                <a:latin typeface="Microsoft YaHei"/>
                <a:ea typeface="Microsoft YaHei"/>
              </a:rPr>
              <a:t>位置记录能对上</a:t>
            </a:r>
            <a:endParaRPr/>
          </a:p>
        </p:txBody>
      </p:sp>
      <p:sp>
        <p:nvSpPr>
          <p:cNvPr id="444" name=""/>
          <p:cNvSpPr/>
          <p:nvPr/>
        </p:nvSpPr>
        <p:spPr>
          <a:xfrm rot="0" flipH="0" flipV="0">
            <a:off x="800100" y="3086100"/>
            <a:ext cx="10591800" cy="819150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45" name=""/>
          <p:cNvSpPr/>
          <p:nvPr/>
        </p:nvSpPr>
        <p:spPr>
          <a:xfrm rot="0" flipH="0" flipV="0">
            <a:off x="952500" y="3248025"/>
            <a:ext cx="38100" cy="4953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46" name="" descr="{&quot;isTemplate&quot;:true,&quot;type&quot;:&quot;text&quot;}"/>
          <p:cNvSpPr txBox="1"/>
          <p:nvPr/>
        </p:nvSpPr>
        <p:spPr>
          <a:xfrm rot="0" flipH="0" flipV="0">
            <a:off x="1143000" y="3400425"/>
            <a:ext cx="1905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公告已更新</a:t>
            </a:r>
            <a:endParaRPr/>
          </a:p>
        </p:txBody>
      </p:sp>
      <p:sp>
        <p:nvSpPr>
          <p:cNvPr id="447" name="" descr="{&quot;isTemplate&quot;:true,&quot;type&quot;:&quot;text&quot;}"/>
          <p:cNvSpPr txBox="1"/>
          <p:nvPr/>
        </p:nvSpPr>
        <p:spPr>
          <a:xfrm rot="0" flipH="0" flipV="0">
            <a:off x="3200400" y="3419475"/>
            <a:ext cx="3810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需要对象真的提交，总结说改了不算</a:t>
            </a:r>
            <a:endParaRPr/>
          </a:p>
        </p:txBody>
      </p:sp>
      <p:sp>
        <p:nvSpPr>
          <p:cNvPr id="448" name="" descr="{&quot;isTemplate&quot;:true,&quot;type&quot;:&quot;text&quot;}"/>
          <p:cNvSpPr txBox="1"/>
          <p:nvPr/>
        </p:nvSpPr>
        <p:spPr>
          <a:xfrm rot="0" flipH="0" flipV="0">
            <a:off x="7162800" y="3419475"/>
            <a:ext cx="4076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CB6B28"/>
                </a:solidFill>
                <a:latin typeface="Microsoft YaHei"/>
                <a:ea typeface="Microsoft YaHei"/>
              </a:rPr>
              <a:t>对象提交状态与回复</a:t>
            </a:r>
            <a:endParaRPr/>
          </a:p>
        </p:txBody>
      </p:sp>
      <p:sp>
        <p:nvSpPr>
          <p:cNvPr id="449" name=""/>
          <p:cNvSpPr/>
          <p:nvPr/>
        </p:nvSpPr>
        <p:spPr>
          <a:xfrm rot="0" flipH="0" flipV="0">
            <a:off x="800100" y="4019550"/>
            <a:ext cx="10591800" cy="819150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50" name=""/>
          <p:cNvSpPr/>
          <p:nvPr/>
        </p:nvSpPr>
        <p:spPr>
          <a:xfrm rot="0" flipH="0" flipV="0">
            <a:off x="952500" y="4181475"/>
            <a:ext cx="38100" cy="49530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451" name="" descr="{&quot;isTemplate&quot;:true,&quot;type&quot;:&quot;text&quot;}"/>
          <p:cNvSpPr txBox="1"/>
          <p:nvPr/>
        </p:nvSpPr>
        <p:spPr>
          <a:xfrm rot="0" flipH="0" flipV="0">
            <a:off x="1143000" y="4333875"/>
            <a:ext cx="1905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消息已收到</a:t>
            </a:r>
            <a:endParaRPr/>
          </a:p>
        </p:txBody>
      </p:sp>
      <p:sp>
        <p:nvSpPr>
          <p:cNvPr id="452" name="" descr="{&quot;isTemplate&quot;:true,&quot;type&quot;:&quot;text&quot;}"/>
          <p:cNvSpPr txBox="1"/>
          <p:nvPr/>
        </p:nvSpPr>
        <p:spPr>
          <a:xfrm rot="0" flipH="0" flipV="0">
            <a:off x="3200400" y="4352925"/>
            <a:ext cx="3810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需要真实参与者参与，转述不算</a:t>
            </a:r>
            <a:endParaRPr/>
          </a:p>
        </p:txBody>
      </p:sp>
      <p:sp>
        <p:nvSpPr>
          <p:cNvPr id="453" name="" descr="{&quot;isTemplate&quot;:true,&quot;type&quot;:&quot;text&quot;}"/>
          <p:cNvSpPr txBox="1"/>
          <p:nvPr/>
        </p:nvSpPr>
        <p:spPr>
          <a:xfrm rot="0" flipH="0" flipV="0">
            <a:off x="7162800" y="4352925"/>
            <a:ext cx="4076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CB6B28"/>
                </a:solidFill>
                <a:latin typeface="Microsoft YaHei"/>
                <a:ea typeface="Microsoft YaHei"/>
              </a:rPr>
              <a:t>后续上下文或回复</a:t>
            </a:r>
            <a:endParaRPr/>
          </a:p>
        </p:txBody>
      </p:sp>
      <p:sp>
        <p:nvSpPr>
          <p:cNvPr id="454" name=""/>
          <p:cNvSpPr/>
          <p:nvPr/>
        </p:nvSpPr>
        <p:spPr>
          <a:xfrm rot="0" flipH="0" flipV="0">
            <a:off x="609600" y="5124450"/>
            <a:ext cx="10972800" cy="609600"/>
          </a:xfrm>
          <a:prstGeom prst="roundRect">
            <a:avLst>
              <a:gd name="adj" fmla="val 15625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455" name=""/>
          <p:cNvSpPr/>
          <p:nvPr/>
        </p:nvSpPr>
        <p:spPr>
          <a:xfrm rot="0" flipH="0" flipV="0">
            <a:off x="800100" y="5238750"/>
            <a:ext cx="38100" cy="3810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456" name="" descr="{&quot;isTemplate&quot;:true,&quot;type&quot;:&quot;text&quot;}"/>
          <p:cNvSpPr txBox="1"/>
          <p:nvPr/>
        </p:nvSpPr>
        <p:spPr>
          <a:xfrm rot="0" flipH="0" flipV="0">
            <a:off x="971550" y="5305425"/>
            <a:ext cx="104203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后续各节会把这些检查落到具体入口：资源、空间、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>Skill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、运行与回放。</a:t>
            </a:r>
            <a:endParaRPr/>
          </a:p>
        </p:txBody>
      </p:sp>
      <p:sp>
        <p:nvSpPr>
          <p:cNvPr id="457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4955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3.1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把筹备方案放进一个会发生变化的世界</a:t>
            </a:r>
            <a:endParaRPr/>
          </a:p>
        </p:txBody>
      </p:sp>
      <p:sp>
        <p:nvSpPr>
          <p:cNvPr id="458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23 / 24</a:t>
            </a:r>
            <a:endParaRPr/>
          </a:p>
        </p:txBody>
      </p:sp>
    </p:spTree>
  </p:cSld>
</p:sld>
</file>

<file path=ppt/slides/slide24.xml><?xml version="1.0" encoding="utf-8"?>
<p:sld xmlns:p="http://schemas.openxmlformats.org/presentationml/2006/main" xmlns:a="http://schemas.openxmlformats.org/drawingml/2006/main">
  <p:cSld>
    <p:spTree>
      <p:nvGrpSpPr>
        <p:cNvPr id="459" name="" descr="&lt;Slide notes={`把这一节收一收，记住三件事。&#10;&#10;信息要走真实渠道：咨询、更新、获知这三段各有各的渠道，谁也不能代替谁。&#10;&#10;答案不能提前共享：把预约事实塞进共同记忆，观察就失去意义，角色说对结论也只是重复作者的答案。&#10;&#10;观察窗口只证明窗口内的事：48 步走到十点三十七，能看见谁获知、谁移动、谁到达、谁开始，不能宣告活动完整结束。&#10;&#10;带上这三件事，下一节我们去看界面和作者资源，把人物、人群和模型准备出来。`} style={{ width: 1280, height: 720, background: '#FFFFFF', flexDirection: 'column', padding: '20px 64px' }}&gt;&#10;&#10;    &lt;Box style={{ height: 640, flexDirection: 'column', justifyContent: 'center', gap: 16 }}&gt;&#10;&#10;        &lt;Text style={{ fontSize: 15, color: '#546779' }}&gt;3.1　把筹备方案放进一个会发生变化的世界&lt;/Text&gt;&#10;&#10;        &lt;Text style={{ fontSize: 56, fontWeight: 'bold', color: '#20344B', lineHeight: 1.15 }}&gt;记住三件事&lt;/Text&gt;&#10;&#10;        &lt;Box style={{ width: 72, height: 4, background: '#276FBF', marginBottom: 6 }} /&gt;&#10;&#10;        &lt;Box style={{ width: 1152, height: 100, background: '#EDF4FC', borderRadius: 10, padding: '0 22px', flexDirection: 'row', alignItems: 'center', gap: 18 }}&gt;&#10;            &lt;Text style={{ fontSize: 22, fontWeight: 'bold', color: '#276FBF' }}&gt;真实渠道&lt;/Text&gt;&#10;            &lt;Text style={{ fontSize: 16, color: '#546779', flex: 1 }}&gt;咨询、更新、获知各有各的路，谁也不能互相代替。&lt;/Text&gt;&#10;        &lt;/Box&gt;&#10;&#10;        &lt;Box style={{ flexDirection: 'row', gap: 20 }}&gt;&#10;            &lt;Box style={{ width: 566, height: 100, background: '#FFF4E6', borderRadius: 10, padding: '0 22px', flexDirection: 'column', gap: 4, justifyContent: 'center' }}&gt;&#10;                &lt;Text style={{ fontSize: 20, fontWeight: 'bold', color: '#CB6B28' }}&gt;信息边界&lt;/Text&gt;&#10;                &lt;Text style={{ fontSize: 15, color: '#546779' }}&gt;答案提前共享，观察就失去意义。&lt;/Text&gt;&#10;            &lt;/Box&gt;&#10;            &lt;Box style={{ width: 566, height: 100, background: '#ECF7F2', borderRadius: 10, padding: '0 22px', flexDirection: 'column', gap: 4, justifyContent: 'center' }}&gt;&#10;                &lt;Text style={{ fontSize: 20, fontWeight: 'bold', color: '#26816B' }}&gt;观察窗口&lt;/Text&gt;&#10;                &lt;Text style={{ fontSize: 15, color: '#546779' }}&gt;只证明窗口内的事，结论要标清时间口径。&lt;/Text&gt;&#10;            &lt;/Box&gt;&#10;        &lt;/Box&gt;&#10;&#10;        &lt;Text style={{ fontSize: 15, color: '#546779', marginTop: 8 }}&gt;下一节：界面与作者资源 —— 准备人物、人群与模型&lt;/Text&gt;&#10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61" name="" descr="{&quot;isTemplate&quot;:true,&quot;type&quot;:&quot;text&quot;}"/>
          <p:cNvSpPr txBox="1"/>
          <p:nvPr/>
        </p:nvSpPr>
        <p:spPr>
          <a:xfrm rot="0" flipH="0" flipV="0">
            <a:off x="609600" y="1276350"/>
            <a:ext cx="10972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>3.1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　把筹备方案放进一个会发生变化的世界</a:t>
            </a:r>
            <a:endParaRPr/>
          </a:p>
        </p:txBody>
      </p:sp>
      <p:sp>
        <p:nvSpPr>
          <p:cNvPr id="462" name="" descr="{&quot;isTemplate&quot;:true,&quot;type&quot;:&quot;text&quot;}"/>
          <p:cNvSpPr txBox="1"/>
          <p:nvPr/>
        </p:nvSpPr>
        <p:spPr>
          <a:xfrm rot="0" flipH="0" flipV="0">
            <a:off x="609600" y="1600200"/>
            <a:ext cx="10972800" cy="7429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记住三件事</a:t>
            </a:r>
            <a:endParaRPr/>
          </a:p>
        </p:txBody>
      </p:sp>
      <p:sp>
        <p:nvSpPr>
          <p:cNvPr id="463" name=""/>
          <p:cNvSpPr/>
          <p:nvPr/>
        </p:nvSpPr>
        <p:spPr>
          <a:xfrm rot="0" flipH="0" flipV="0">
            <a:off x="609600" y="2495550"/>
            <a:ext cx="6858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64" name=""/>
          <p:cNvSpPr/>
          <p:nvPr/>
        </p:nvSpPr>
        <p:spPr>
          <a:xfrm rot="0" flipH="0" flipV="0">
            <a:off x="609600" y="2743200"/>
            <a:ext cx="10972800" cy="952500"/>
          </a:xfrm>
          <a:prstGeom prst="roundRect">
            <a:avLst>
              <a:gd name="adj" fmla="val 100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465" name="" descr="{&quot;isTemplate&quot;:true,&quot;type&quot;:&quot;text&quot;}"/>
          <p:cNvSpPr txBox="1"/>
          <p:nvPr/>
        </p:nvSpPr>
        <p:spPr>
          <a:xfrm rot="0" flipH="0" flipV="0">
            <a:off x="819150" y="3095625"/>
            <a:ext cx="8382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276FBF"/>
                </a:solidFill>
                <a:latin typeface="Microsoft YaHei"/>
                <a:ea typeface="Microsoft YaHei"/>
              </a:rPr>
              <a:t>真实渠道</a:t>
            </a:r>
            <a:endParaRPr/>
          </a:p>
        </p:txBody>
      </p:sp>
      <p:sp>
        <p:nvSpPr>
          <p:cNvPr id="466" name="" descr="{&quot;isTemplate&quot;:true,&quot;type&quot;:&quot;text&quot;}"/>
          <p:cNvSpPr txBox="1"/>
          <p:nvPr/>
        </p:nvSpPr>
        <p:spPr>
          <a:xfrm rot="0" flipH="0" flipV="0">
            <a:off x="1828800" y="3124200"/>
            <a:ext cx="95440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咨询、更新、获知各有各的路，谁也不能互相代替。</a:t>
            </a:r>
            <a:endParaRPr/>
          </a:p>
        </p:txBody>
      </p:sp>
      <p:sp>
        <p:nvSpPr>
          <p:cNvPr id="467" name=""/>
          <p:cNvSpPr/>
          <p:nvPr/>
        </p:nvSpPr>
        <p:spPr>
          <a:xfrm rot="0" flipH="0" flipV="0">
            <a:off x="609600" y="3848100"/>
            <a:ext cx="5391150" cy="952500"/>
          </a:xfrm>
          <a:prstGeom prst="roundRect">
            <a:avLst>
              <a:gd name="adj" fmla="val 10000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468" name="" descr="{&quot;isTemplate&quot;:true,&quot;type&quot;:&quot;text&quot;}"/>
          <p:cNvSpPr txBox="1"/>
          <p:nvPr/>
        </p:nvSpPr>
        <p:spPr>
          <a:xfrm rot="0" flipH="0" flipV="0">
            <a:off x="819150" y="4105275"/>
            <a:ext cx="49720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CB6B28"/>
                </a:solidFill>
                <a:latin typeface="Microsoft YaHei"/>
                <a:ea typeface="Microsoft YaHei"/>
              </a:rPr>
              <a:t>信息边界</a:t>
            </a:r>
            <a:endParaRPr/>
          </a:p>
        </p:txBody>
      </p:sp>
      <p:sp>
        <p:nvSpPr>
          <p:cNvPr id="469" name="" descr="{&quot;isTemplate&quot;:true,&quot;type&quot;:&quot;text&quot;}"/>
          <p:cNvSpPr txBox="1"/>
          <p:nvPr/>
        </p:nvSpPr>
        <p:spPr>
          <a:xfrm rot="0" flipH="0" flipV="0">
            <a:off x="819150" y="4371975"/>
            <a:ext cx="49720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答案提前共享，观察就失去意义。</a:t>
            </a:r>
            <a:endParaRPr/>
          </a:p>
        </p:txBody>
      </p:sp>
      <p:sp>
        <p:nvSpPr>
          <p:cNvPr id="470" name=""/>
          <p:cNvSpPr/>
          <p:nvPr/>
        </p:nvSpPr>
        <p:spPr>
          <a:xfrm rot="0" flipH="0" flipV="0">
            <a:off x="6191250" y="3848100"/>
            <a:ext cx="5391150" cy="952500"/>
          </a:xfrm>
          <a:prstGeom prst="roundRect">
            <a:avLst>
              <a:gd name="adj" fmla="val 10000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471" name="" descr="{&quot;isTemplate&quot;:true,&quot;type&quot;:&quot;text&quot;}"/>
          <p:cNvSpPr txBox="1"/>
          <p:nvPr/>
        </p:nvSpPr>
        <p:spPr>
          <a:xfrm rot="0" flipH="0" flipV="0">
            <a:off x="6400800" y="4105275"/>
            <a:ext cx="49720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6816B"/>
                </a:solidFill>
                <a:latin typeface="Microsoft YaHei"/>
                <a:ea typeface="Microsoft YaHei"/>
              </a:rPr>
              <a:t>观察窗口</a:t>
            </a:r>
            <a:endParaRPr/>
          </a:p>
        </p:txBody>
      </p:sp>
      <p:sp>
        <p:nvSpPr>
          <p:cNvPr id="472" name="" descr="{&quot;isTemplate&quot;:true,&quot;type&quot;:&quot;text&quot;}"/>
          <p:cNvSpPr txBox="1"/>
          <p:nvPr/>
        </p:nvSpPr>
        <p:spPr>
          <a:xfrm rot="0" flipH="0" flipV="0">
            <a:off x="6400800" y="4371975"/>
            <a:ext cx="49720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只证明窗口内的事，结论要标清时间口径。</a:t>
            </a:r>
            <a:endParaRPr/>
          </a:p>
        </p:txBody>
      </p:sp>
      <p:sp>
        <p:nvSpPr>
          <p:cNvPr id="473" name="" descr="{&quot;isTemplate&quot;:true,&quot;type&quot;:&quot;text&quot;}"/>
          <p:cNvSpPr txBox="1"/>
          <p:nvPr/>
        </p:nvSpPr>
        <p:spPr>
          <a:xfrm rot="0" flipH="0" flipV="0">
            <a:off x="609600" y="5029200"/>
            <a:ext cx="10972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下一节：界面与作者资源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——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准备人物、人群与模型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2026-09-29T04:20:22Z</dcterms:created>
  <dcterms:modified xsi:type="dcterms:W3CDTF">2026-09-29T04:20:22Z</dcterms:modified>
</cp:coreProperties>
</file>