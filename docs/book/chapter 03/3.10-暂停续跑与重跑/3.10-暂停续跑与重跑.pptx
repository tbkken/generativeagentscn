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slides/slide13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3" Type="http://schemas.openxmlformats.org/officeDocument/2006/relationships/slide" Target="slides/slide13.xml" /><Relationship Id="rId27" Type="http://schemas.openxmlformats.org/officeDocument/2006/relationships/tableStyles" Target="tableStyles.xml" /><Relationship Id="rId0" Type="http://schemas.openxmlformats.org/officeDocument/2006/relationships/slideMaster" Target="slideMasters/slideMaster1.xml" /><Relationship Id="rId14" Type="http://schemas.openxmlformats.org/officeDocument/2006/relationships/slide" Target="slides/slide14.xml" /><Relationship Id="rId10" Type="http://schemas.openxmlformats.org/officeDocument/2006/relationships/slide" Target="slides/slide10.xml" /><Relationship Id="rId1" Type="http://schemas.openxmlformats.org/officeDocument/2006/relationships/slide" Target="slides/slide1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3" Type="http://schemas.openxmlformats.org/officeDocument/2006/relationships/slide" Target="slides/slide3.xml" /><Relationship Id="rId22" Type="http://schemas.openxmlformats.org/officeDocument/2006/relationships/slide" Target="slides/slide22.xml" /><Relationship Id="rId23" Type="http://schemas.openxmlformats.org/officeDocument/2006/relationships/slide" Target="slides/slide23.xml" /><Relationship Id="rId9" Type="http://schemas.openxmlformats.org/officeDocument/2006/relationships/slide" Target="slides/slide9.xml" /><Relationship Id="rId24" Type="http://schemas.openxmlformats.org/officeDocument/2006/relationships/slide" Target="slides/slide24.xml" /><Relationship Id="rId25" Type="http://schemas.openxmlformats.org/officeDocument/2006/relationships/notesMaster" Target="notesMasters/notesMaster1.xml" /><Relationship Id="rId26" Type="http://schemas.openxmlformats.org/officeDocument/2006/relationships/presProps" Target="presProps.xml" /><Relationship Id="rId28" Type="http://schemas.openxmlformats.org/officeDocument/2006/relationships/viewProps" Target="viewProps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这一节要处理一个很实际的问题：运行到一半想停下来看看，停下来之后想接着往下走，或者想拿原来的条件重新做一遍。这三件事看起来都叫“再运行一次”，但它们在系统里是完全不同的操作。</a:t>
            </a:r>
          </a:p>
          <a:p>
            <a:r>
              <a:rPr lang="zh-CN" dirty="0"/>
              <a:t>我先把结论说清楚：暂停以后继续，还是原来那次运行；从头再做一次，是一次全新的运行。这两者不能互相代替，也不能互相证明。</a:t>
            </a:r>
          </a:p>
          <a:p>
            <a:r>
              <a:rPr lang="zh-CN" dirty="0"/>
              <a:t>还有一条容易被忽略：按钮按下去成功，不代表远端的推理已经停下来。这条边界要单独验证，不能靠界面提示。</a:t>
            </a:r>
          </a:p>
          <a:p>
            <a:r>
              <a:rPr lang="zh-CN" dirty="0"/>
              <a:t>后面我会沿着身份、边界、暂停、续跑、取消、重跑依次展开，每一段都要求留下可以检查的原始记录。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这一节我切成四块，按从身份到操作的顺序往前推。</a:t>
            </a:r>
          </a:p>
          <a:p>
            <a:r>
              <a:rPr lang="zh-CN" dirty="0"/>
              <a:t>第一块解决身份：同样叫“再运行一次”，哪些属于原来那次运行，哪些算新的运行。关键是把 Run 和 Attempt 分成两个层次看。</a:t>
            </a:r>
          </a:p>
          <a:p>
            <a:r>
              <a:rPr lang="zh-CN" dirty="0"/>
              <a:t>第二块解决边界：系统认的是已经提交的事实，不是画面上看起来走到哪一步。恢复要取最新已提交边界的完整快照，缺了就报诊断。</a:t>
            </a:r>
          </a:p>
          <a:p>
            <a:r>
              <a:rPr lang="zh-CN" dirty="0"/>
              <a:t>第三块是动手的部分：在浏览器上暂停、看检查点、再继续，然后逐条核对身份、边界、时间和对象状态有没有重复或者丢失。</a:t>
            </a:r>
          </a:p>
          <a:p>
            <a:r>
              <a:rPr lang="zh-CN" dirty="0"/>
              <a:t>第四块是两条不能混的路：取消只是提出结束请求，不等于远端推理立刻停下；重跑是新建一个 Run，不是续跑。最后我会给出这一节要求的验收交付物。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先解决身份问题。Run 表示的是一段具有固定输入和请求步数的仿真；Attempt 表示的是实际执行这段仿真的一次尝试。</a:t>
            </a:r>
          </a:p>
          <a:p>
            <a:r>
              <a:rPr lang="zh-CN" dirty="0"/>
              <a:t>暂停以后继续，run_id 保持不变，只是换了一个新的 attempt_id，从已经提交的边界往下走。从头再做一次实验，系统会建立新的 run_id，从第一步重新开始。</a:t>
            </a:r>
          </a:p>
          <a:p>
            <a:r>
              <a:rPr lang="zh-CN" dirty="0"/>
              <a:t>这两个概念分开之后，操作记录才有意义：同样是看到一份相同的输入，我们能分清它到底是接着跑还是重新跑。</a:t>
            </a:r>
          </a:p>
          <a:p>
            <a:r>
              <a:rPr lang="zh-CN" dirty="0"/>
              <a:t>还有一点容易忽略：底层的创建操作只创建 Run，这时候可能还没有 Attempt；真正进入执行器时才会生成。所以“创建成功”不等于“已经开始执行”，这是两件事。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三种操作的区别其实很明确。</a:t>
            </a:r>
          </a:p>
          <a:p>
            <a:r>
              <a:rPr lang="zh-CN" dirty="0"/>
              <a:t>新跑用封存实验当输入，产生新的 run_id，执行的时候建立第一个 Attempt，从第一步开始。</a:t>
            </a:r>
          </a:p>
          <a:p>
            <a:r>
              <a:rPr lang="zh-CN" dirty="0"/>
              <a:t>暂停之后继续，用的是本 Run 内嵌的实验加上最新完整的恢复快照。run_id 保持不变，只是新建一个 attempt_id，从已经提交边界的下一步接着走。</a:t>
            </a:r>
          </a:p>
          <a:p>
            <a:r>
              <a:rPr lang="zh-CN" dirty="0"/>
              <a:t>重跑读的是原来那个 Run 内嵌的实验，但它同样产生新的 run_id，也是从第一步开始。它和新跑的区别在输入从哪里来，不在身份上。</a:t>
            </a:r>
          </a:p>
          <a:p>
            <a:r>
              <a:rPr lang="zh-CN" dirty="0"/>
              <a:t>所以续跑和从头重跑是两条不同的路，验收也不能互相代替。续跑证明的是恢复准不准，重跑证明的是在相同输入下重新执行会得到什么。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沿着 Step 轴看这两条线。</a:t>
            </a:r>
          </a:p>
          <a:p>
            <a:r>
              <a:rPr lang="zh-CN" dirty="0"/>
              <a:t>Run A 这条线里，run_id 一直不变。第一段 Attempt 走到第 k 步，留下一个已提交边界和完整恢复快照；核对通过之后，系统新建一个 Attempt，从 k 加 1 继续往下提交。</a:t>
            </a:r>
          </a:p>
          <a:p>
            <a:r>
              <a:rPr lang="zh-CN" dirty="0"/>
              <a:t>Run B 这条线是重跑：它去读原 Run 内嵌的实验，然后建立新的 run_id 和新的首个 Attempt，从第一步重新开始。</a:t>
            </a:r>
          </a:p>
          <a:p>
            <a:r>
              <a:rPr lang="zh-CN" dirty="0"/>
              <a:t>两条线的分叉点在于是否沿用原来的 run_id。我在验收的时候会把 run_id、attempt_id 和恢复边界这三个值写进一张对照表，暂停前后各填一次。这样续跑和重跑有没有被混在一起，一眼就能看出来。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这两件事在验收上不能互相代替。</a:t>
            </a:r>
          </a:p>
          <a:p>
            <a:r>
              <a:rPr lang="zh-CN" dirty="0"/>
              <a:t>续跑要证明的是恢复准不准：身份有没有接上、恢复边界对不对、有没有把已经提交过的步骤再做一遍。它不回答“再跑一次结果会不会一样”。</a:t>
            </a:r>
          </a:p>
          <a:p>
            <a:r>
              <a:rPr lang="zh-CN" dirty="0"/>
              <a:t>重跑要证明的是另一件事：在相同输入下重新执行会发生什么。即使输入和随机种子完全相同，再次调用远程模型也未必产生完全相同的文本和行为。</a:t>
            </a:r>
          </a:p>
          <a:p>
            <a:r>
              <a:rPr lang="zh-CN" dirty="0"/>
              <a:t>所以一次续跑成功，不能拿来当作重跑结果一致的证据；反过来，重跑能跑通，也不能说明恢复边界是准的。</a:t>
            </a:r>
          </a:p>
          <a:p>
            <a:r>
              <a:rPr lang="zh-CN" dirty="0"/>
              <a:t>写验收记录的时候，我会把这两类结论分开写，各自附上暂停前后和恢复前后的原始值。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这里有一个时序上的细节很容易被跳过。</a:t>
            </a:r>
          </a:p>
          <a:p>
            <a:r>
              <a:rPr lang="zh-CN" dirty="0"/>
              <a:t>底层的创建操作只创建 Run，这时候很可能还没有 Attempt；要等真正进入执行器，系统才会生成第一个 Attempt，从第一步开始。所以看到“创建成功”，只能说明这次运行已经被登记，不能说明它已经开始执行。</a:t>
            </a:r>
          </a:p>
          <a:p>
            <a:r>
              <a:rPr lang="zh-CN" dirty="0"/>
              <a:t>重跑的时候还可以记录 origin_run_id，用来说明这次运行是从哪一次派生出来的。</a:t>
            </a:r>
          </a:p>
          <a:p>
            <a:r>
              <a:rPr lang="zh-CN" dirty="0"/>
              <a:t>但要注意，origin_run_id 只说明来源，不代表两个 Run 是同一次运行。它们的 run_id 不同，历史就是两段，记录和统计也不能合并。</a:t>
            </a:r>
          </a:p>
          <a:p>
            <a:r>
              <a:rPr lang="zh-CN" dirty="0"/>
              <a:t>把创建、执行、派生这三件事分开记，后面的排查才有依据。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接下来换一个角度：边界从哪里开始算。</a:t>
            </a:r>
          </a:p>
          <a:p>
            <a:r>
              <a:rPr lang="zh-CN" dirty="0"/>
              <a:t>模型在计算下一步的时候，可能已经产生了一些日志和临时文本，但只要这一帧还没有提交，它就不进入回放可见的事实。回放看得到的东西，只到最后一个已提交的边界为止。</a:t>
            </a:r>
          </a:p>
          <a:p>
            <a:r>
              <a:rPr lang="zh-CN" dirty="0"/>
              <a:t>所以恢复的时候，不能把这些临时产生的文本当成已经完成的动作来重建。系统会核验 Run、Attempt、Step、虚拟时间、成员文件和帧哈希是否相符，全部对上了才允许恢复。</a:t>
            </a:r>
          </a:p>
          <a:p>
            <a:r>
              <a:rPr lang="zh-CN" dirty="0"/>
              <a:t>这条边界决定了后面所有操作的判断口径：先看提交到哪一步，再看能不能恢复；最新已提交边界的完整快照不在，就不能往下接。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很多人判断进度是看画面：谁走到哪了、谁说了什么。但系统判断的是另外一套东西。</a:t>
            </a:r>
          </a:p>
          <a:p>
            <a:r>
              <a:rPr lang="zh-CN" dirty="0"/>
              <a:t>假设最后完整提交的是第 k 步，模型已经开始计算第 k 加 1 步。这时候界面上可能出现新的日志，甚至出现一段临时的文本，但这些都是还没提交的计算。</a:t>
            </a:r>
          </a:p>
          <a:p>
            <a:r>
              <a:rPr lang="zh-CN" dirty="0"/>
              <a:t>回放能看到的可见事实仍然只到第 k 步。第 k 加 1 步的那部分内容，不能作为已经完成的动作被重建出来。</a:t>
            </a:r>
          </a:p>
          <a:p>
            <a:r>
              <a:rPr lang="zh-CN" dirty="0"/>
              <a:t>我把这个区别当成一条纪律：任何关于“已经发生了什么”的结论，都要回到已提交边界上找依据，而不是回到画面上找。画面可以用来发现问题，但不能用来下结论。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把已提交的事实按步排开，判断就落在边界上。</a:t>
            </a:r>
          </a:p>
          <a:p>
            <a:r>
              <a:rPr lang="zh-CN" dirty="0"/>
              <a:t>前面这些帧都已经提交，最后完整提交到第 k 步。第 k 加 1 步还在计算，还没有提交，所以它不在这条已提交的带上。</a:t>
            </a:r>
          </a:p>
          <a:p>
            <a:r>
              <a:rPr lang="zh-CN" dirty="0"/>
              <a:t>系统要问的问题是：最新的已提交边界 k，有没有完整且一致的恢复快照。注意问的是最新边界，不是目录里随便一个更早的快照。</a:t>
            </a:r>
          </a:p>
          <a:p>
            <a:r>
              <a:rPr lang="zh-CN" dirty="0"/>
              <a:t>如果有，就新建一个 Attempt 从 k 恢复，下一次提交是 k 加 1。如果没有，就给出诊断，说明缺失或者不一致，而不是悄悄退回到更早的边界上继续。</a:t>
            </a:r>
          </a:p>
          <a:p>
            <a:r>
              <a:rPr lang="zh-CN" dirty="0"/>
              <a:t>未提交的计算和临时文本不会进入回放事实，也不能被当成已经完成的动作重建出来。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提交不是把结果写下去就完事，它有固定的顺序。</a:t>
            </a:r>
          </a:p>
          <a:p>
            <a:r>
              <a:rPr lang="zh-CN" dirty="0"/>
              <a:t>系统先提交一帧，同时留下这一帧的独立校验记录，然后保存检查点或者恢复快照，最后才推进界面上的可见状态。这个顺序不能颠倒，颠倒了画面就会先于事实出现。</a:t>
            </a:r>
          </a:p>
          <a:p>
            <a:r>
              <a:rPr lang="zh-CN" dirty="0"/>
              <a:t>仓库里有两个目录承担不同的职责：检查点目录按配置保留检查点，恢复目录支持精确边界恢复。它们保留的东西不一样，用途也不一样。</a:t>
            </a:r>
          </a:p>
          <a:p>
            <a:r>
              <a:rPr lang="zh-CN" dirty="0"/>
              <a:t>恢复程序会把 Run、Attempt、Step、虚拟时间、成员文件和帧哈希逐项核验，全部相符才认为这个边界可以用来恢复。</a:t>
            </a:r>
          </a:p>
          <a:p>
            <a:r>
              <a:rPr lang="zh-CN" dirty="0"/>
              <a:t>这六项也解释了为什么恢复不能靠“看起来差不多”——它们每一项都对应一个可以被检查到的值。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这里要讲清楚一条纪律：宁可给出诊断，也不要悄悄退回去。</a:t>
            </a:r>
          </a:p>
          <a:p>
            <a:r>
              <a:rPr lang="zh-CN" dirty="0"/>
              <a:t>当前的恢复选择器要求存在最新已提交边界的完整快照。如果这个快照缺失，或者核验对不上，它会报告诊断，而不是自动挑一个更早的快照继续往下跑。</a:t>
            </a:r>
          </a:p>
          <a:p>
            <a:r>
              <a:rPr lang="zh-CN" dirty="0"/>
              <a:t>为什么不能退？假设已经提交到第 12 步，手上只有第 10 步的完整快照。如果直接从 11 重新执行，那些已经提交过的活动、记忆和回复就可能被再做一遍。表面上跑得下去，实际数据已经重复了。</a:t>
            </a:r>
          </a:p>
          <a:p>
            <a:r>
              <a:rPr lang="zh-CN" dirty="0"/>
              <a:t>所以恢复材料有缺口的时候，正确的动作是停下来，把缺失和不一致记录下来，交给后续的处理决定。把已经完成的步骤重新执行一遍，是填不上这个缺口的。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接下来是动手的部分：在浏览器上暂停、看检查点、再继续。</a:t>
            </a:r>
          </a:p>
          <a:p>
            <a:r>
              <a:rPr lang="zh-CN" dirty="0"/>
              <a:t>这一段有两条要求。一条是暂停的时候，先把“暂停请求已提交”记下来，再等所选 Run 的实际状态变成已暂停。前端提示里的安全步骤，含义是以一个一致的已提交边界收尾，而不是保留一幅没法恢复的半步画面。</a:t>
            </a:r>
          </a:p>
          <a:p>
            <a:r>
              <a:rPr lang="zh-CN" dirty="0"/>
              <a:t>另一条是继续之后要逐项核对：Run ID 有没有变化、Attempt ID 是不是新的、恢复边界是不是 k、第一条新提交是不是 k 加 1、虚拟时间是不是只前进了一个步长、对象和会话状态有没有重复或者丢失。</a:t>
            </a:r>
          </a:p>
          <a:p>
            <a:r>
              <a:rPr lang="zh-CN" dirty="0"/>
              <a:t>这些核对都要能对到原始值，不能只写“看起来正常”。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暂停这一步，先分清请求和状态。</a:t>
            </a:r>
          </a:p>
          <a:p>
            <a:r>
              <a:rPr lang="zh-CN" dirty="0"/>
              <a:t>点下暂停仿真之后，第一件事是把“暂停请求已提交”记成一条控制请求，然后才是等所选 Run 的实际状态变成已暂停。中间这段时间里，运行可能还在把当前这一步收尾。</a:t>
            </a:r>
          </a:p>
          <a:p>
            <a:r>
              <a:rPr lang="zh-CN" dirty="0"/>
              <a:t>前端提示里说的安全步骤，含义是以一个一致的已提交边界收尾，而不是保留一幅无法恢复的半步画面。这句话决定了后面从哪里接上。</a:t>
            </a:r>
          </a:p>
          <a:p>
            <a:r>
              <a:rPr lang="zh-CN" dirty="0"/>
              <a:t>时机是可以选的。青禾可以挑公告栏状态已经更新、许安还没完成后续行动的时候暂停，这样既能看到变化，又能观察接下来的反应。</a:t>
            </a:r>
          </a:p>
          <a:p>
            <a:r>
              <a:rPr lang="zh-CN" dirty="0"/>
              <a:t>有一点要避免：不要为了让剧情好看，把某个动作绑定到固定的步数上；暂停之后应当按实际事实判断信息处在哪一阶段。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进入仿真诊断，打开检查点，这里要看的是具体的值。</a:t>
            </a:r>
          </a:p>
          <a:p>
            <a:r>
              <a:rPr lang="zh-CN" dirty="0"/>
              <a:t>第一层是概要：最新的 Step 是多少、属于哪个 Attempt、虚拟时间走到哪里、帧哈希是什么、校验结果是否通过，以及恢复说明怎么写的。</a:t>
            </a:r>
          </a:p>
          <a:p>
            <a:r>
              <a:rPr lang="zh-CN" dirty="0"/>
              <a:t>再往下一层展开详情：人物的坐标、当前动作、剩余路径，还有会话和存储里的内容。这些都是判断状态有没有接上的原始材料。</a:t>
            </a:r>
          </a:p>
          <a:p>
            <a:r>
              <a:rPr lang="zh-CN" dirty="0"/>
              <a:t>页面上有检查点的详情和预览入口，所以要保存的是这些具体内容，而不是“共有几个检查点”这样的数量截图。数量的截图证明不了边界对不对，也证明不了对象状态有没有接上。</a:t>
            </a:r>
          </a:p>
          <a:p>
            <a:r>
              <a:rPr lang="zh-CN" dirty="0"/>
              <a:t>我把这一层当成取证的入口：后面的每一项核对，都要回到这些具体的值上。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继续执行之后，我会依次核对四件事。</a:t>
            </a:r>
          </a:p>
          <a:p>
            <a:r>
              <a:rPr lang="zh-CN" dirty="0"/>
              <a:t>第一，Run ID 和暂停前一致，Attempt ID 已经改变。这证明接的是同一段运行，但确实是新的一次尝试。</a:t>
            </a:r>
          </a:p>
          <a:p>
            <a:r>
              <a:rPr lang="zh-CN" dirty="0"/>
              <a:t>第二，新 Attempt 的恢复边界是 k，第一条新的提交是 k 加 1。这证明是从已提交边界往下走，没有跳步。</a:t>
            </a:r>
          </a:p>
          <a:p>
            <a:r>
              <a:rPr lang="zh-CN" dirty="0"/>
              <a:t>第三，虚拟时间只前进一个步长。暂停期间真实世界过了多久不重要，那段墙钟间隔不能混进虚拟时间。</a:t>
            </a:r>
          </a:p>
          <a:p>
            <a:r>
              <a:rPr lang="zh-CN" dirty="0"/>
              <a:t>第四，移动、会话、对象状态和回复既没有重复也没有丢失。</a:t>
            </a:r>
          </a:p>
          <a:p>
            <a:r>
              <a:rPr lang="zh-CN" dirty="0"/>
              <a:t>页面显示继续执行的时候，确认窗口要指向当前已提交边界和当前 Attempt。后端会同时核对这两个条件，防止有人打开旧的确认窗口，把已经提交的步骤又执行一遍。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用一个具体例子说明“不重复、不丢失”。</a:t>
            </a:r>
          </a:p>
          <a:p>
            <a:r>
              <a:rPr lang="zh-CN" dirty="0"/>
              <a:t>暂停之前，服务台已经回复过林岚的预约查询。续跑之后，系统不能再把这个请求当成一个新请求重新处理一遍，否则林岚会收到两次回复。</a:t>
            </a:r>
          </a:p>
          <a:p>
            <a:r>
              <a:rPr lang="zh-CN" dirty="0"/>
              <a:t>反过来，如果有一条回复还没有投递给目标人物，它就应该在正确的下一轮里恰好投递一次——不能因为续跑就丢了，也不能投递两次。</a:t>
            </a:r>
          </a:p>
          <a:p>
            <a:r>
              <a:rPr lang="zh-CN" dirty="0"/>
              <a:t>人物的剩余路径也一样。它从检查点恢复，该走多远就走多远，不能因为续跑就跳到目的地。</a:t>
            </a:r>
          </a:p>
          <a:p>
            <a:r>
              <a:rPr lang="zh-CN" dirty="0"/>
              <a:t>仓库里的测试文件说明这些场景已经有回归目标。本次编书没有重新执行这些测试，也没有拿它们替代浏览器上的实际验收；验收记录还是要保存真实的前后状态。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最后一段处理两条经常被混在一起的路：取消和重跑。</a:t>
            </a:r>
          </a:p>
          <a:p>
            <a:r>
              <a:rPr lang="zh-CN" dirty="0"/>
              <a:t>取消的用途是结束当前这次运行的意图。按下取消之后，我们能确定的只是“提出了取消”这个控制请求已经提交；至于远端的模型请求有没有立刻停下、什么时候停下的，需要单独验收。</a:t>
            </a:r>
          </a:p>
          <a:p>
            <a:r>
              <a:rPr lang="zh-CN" dirty="0"/>
              <a:t>重跑则是另外一件事：它读原来那个 Run 内嵌的实验，但建立新的 run_id，从第一步重新执行。它既不是续跑，也不是取消之后接着跑。</a:t>
            </a:r>
          </a:p>
          <a:p>
            <a:r>
              <a:rPr lang="zh-CN" dirty="0"/>
              <a:t>还有一条当前实现上的边界要记住：Web 的恢复接口允许已暂停或者失败的运行恢复，已经取消的运行不在页面的这条恢复路径里。所以真正需要继续的时候，应该优先按暂停的流程来设计。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取消这一块最容易出错的地方，是把界面的反馈当成了事实。</a:t>
            </a:r>
          </a:p>
          <a:p>
            <a:r>
              <a:rPr lang="zh-CN" dirty="0"/>
              <a:t>按下取消之后，至少要把五项记下来：请求发出的时刻、请求时已经提交到第几步、最终状态是什么、最终的提交边界在哪里，以及在途的那个模型请求最后是怎么结束的。</a:t>
            </a:r>
          </a:p>
          <a:p>
            <a:r>
              <a:rPr lang="zh-CN" dirty="0"/>
              <a:t>为什么一定要记在途请求的结束方式？因为按钮返回成功，只证明取消这个控制请求被提交了，它不能证明远端推理已经终止。这两件事之间隔着一次网络请求，可能很快就断开，也可能要等一段时间。</a:t>
            </a:r>
          </a:p>
          <a:p>
            <a:r>
              <a:rPr lang="zh-CN" dirty="0"/>
              <a:t>还要记住：取消用于结束当前这次运行的意图，但它已经提交的历史仍然有分析价值。所以在验收记录里，“已提交取消请求”和“模型请求已结束”是两条独立的证据，不能合并成一条。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取消这件事有一个容易看错的时间顺序。</a:t>
            </a:r>
          </a:p>
          <a:p>
            <a:r>
              <a:rPr lang="zh-CN" dirty="0"/>
              <a:t>Runtime 先向模型发出一个同步请求，这个请求会进入等待。操作者在这段时间里点击取消，系统会在文件里写下控制标志，并且返回“控制请求已提交”。</a:t>
            </a:r>
          </a:p>
          <a:p>
            <a:r>
              <a:rPr lang="zh-CN" dirty="0"/>
              <a:t>请注意这个回执出现的位置：它在最终状态核对之前。也就是说，拿到回执只能说明请求被记录下来了，不能说明别的。</a:t>
            </a:r>
          </a:p>
          <a:p>
            <a:r>
              <a:rPr lang="zh-CN" dirty="0"/>
              <a:t>真正去读取取消信号，靠的是 Runtime 里已有的那些控制检查位置。模型请求实际以什么方式结束，要单独记录下来。</a:t>
            </a:r>
          </a:p>
          <a:p>
            <a:r>
              <a:rPr lang="zh-CN" dirty="0"/>
              <a:t>标了问号的那一段，就是在途请求能不能立即中断。这个问题目前还没有做专门验收，所以不能给出远端推理停止的时刻。另外，各节点之间的间隔不代表真实的响应时长。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这里有一条必须写明说出来的实现边界。</a:t>
            </a:r>
          </a:p>
          <a:p>
            <a:r>
              <a:rPr lang="zh-CN" dirty="0"/>
              <a:t>当前取消路由做的事情是写入一个文件标志，Scheduler 在步骤边界检查这个控制信号。也就是说，取消能在步骤之间生效，这一点是可以从代码里核查到的。</a:t>
            </a:r>
          </a:p>
          <a:p>
            <a:r>
              <a:rPr lang="zh-CN" dirty="0"/>
              <a:t>但前端取消提示里写着“立即终止、丢弃未提交步骤”，这句话比刚才那条执行链能证明的行为要强。项目合同要求的是取消能够中断模型等待，而不只是在步骤结束的时候检查一遍。这一项应作为独立待验收问题保存；我没有做长请求取消实验，也没有修改产品。</a:t>
            </a:r>
          </a:p>
          <a:p>
            <a:r>
              <a:rPr lang="zh-CN" dirty="0"/>
              <a:t>两条恢复条件也要记住：Web 的恢复接口允许已暂停或者失败的运行恢复，已经取消的运行不在其中；对于还没有提交过检查点的第 0 步情况，不能预设页面一定提供继续按钮。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重跑是读原来那个 Run 内嵌的实验，然后创建一个新的 Run。</a:t>
            </a:r>
          </a:p>
          <a:p>
            <a:r>
              <a:rPr lang="zh-CN" dirty="0"/>
              <a:t>这里有一个容易被误解的地方：即使公共资源后来变了，重跑用的输入仍然以原 Run 里保存下来的那份内容为准。这样两次运行之间才具备可比性，否则比的就不是同一个条件。</a:t>
            </a:r>
          </a:p>
          <a:p>
            <a:r>
              <a:rPr lang="zh-CN" dirty="0"/>
              <a:t>当前后端和命令行具备独立的重跑能力。这次源码核查没有确认存在专门的前端“重跑此 Run”按钮，所以我不会写出一条看起来能点的操作路径。</a:t>
            </a:r>
          </a:p>
          <a:p>
            <a:r>
              <a:rPr lang="zh-CN" dirty="0"/>
              <a:t>还有一种情况：如果想修改林岚的 SOP，再比较公告更正的速度，那不算重跑。正确做法是在界面上复制封存实验，编辑出一份新的独立草稿，重新预检，再执行。它属于修改条件之后的新的实验运行，不能标成原 Run 的续跑。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这一节做完，验收材料要留下两样东西。</a:t>
            </a:r>
          </a:p>
          <a:p>
            <a:r>
              <a:rPr lang="zh-CN" dirty="0"/>
              <a:t>第一样是一张身份对照表：暂停前的 Run、Attempt、Step 是多少，恢复之后对应的值又是什么，对象和会话的检查结果是什么，取消的限制在哪里，以及是否真的完成了一次重跑。</a:t>
            </a:r>
          </a:p>
          <a:p>
            <a:r>
              <a:rPr lang="zh-CN" dirty="0"/>
              <a:t>第二样是连续帧证据。只有连续的帧序列才能说明边界是接着的，单张截图说明不了这件事。</a:t>
            </a:r>
          </a:p>
          <a:p>
            <a:r>
              <a:rPr lang="zh-CN" dirty="0"/>
              <a:t>还没有实际做的项目，就在表里写“待验收”。这里有一条纪律：不要用看起来像真的 UUID 去把表格填满。那样表格是完整的，证据却是假的。</a:t>
            </a:r>
          </a:p>
          <a:p>
            <a:r>
              <a:rPr lang="zh-CN" dirty="0"/>
              <a:t>把这两样东西准备好，后面回放和诊断那一段才有可以对的东西。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把这一节收一收，记住三件事。</a:t>
            </a:r>
          </a:p>
          <a:p>
            <a:r>
              <a:rPr lang="zh-CN" dirty="0"/>
              <a:t>第一是身份。暂停以后继续，还是原来那次运行，换的是尝试；从头再做一次，是一次新的运行。这两条路不能互相代替，记录也不能合并。</a:t>
            </a:r>
          </a:p>
          <a:p>
            <a:r>
              <a:rPr lang="zh-CN" dirty="0"/>
              <a:t>第二是边界。恢复永远对着最新已提交的边界，画面上的进度不算数。快照缺失或者核验对不上，就给出诊断，不要悄悄退回到更早的步骤上。</a:t>
            </a:r>
          </a:p>
          <a:p>
            <a:r>
              <a:rPr lang="zh-CN" dirty="0"/>
              <a:t>第三是证据。取消按钮成功，只证明取消请求被提交了，不等于远端的模型请求已经停下。验收材料要留下连续帧，而不是几张看起来对的截图。</a:t>
            </a:r>
          </a:p>
          <a:p>
            <a:r>
              <a:rPr lang="zh-CN" dirty="0"/>
              <a:t>下一节顺着这些记录去看回放和失败诊断：从画面上的一个现象，追到具体的事件、坐标、请求和提交记录。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4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notes={`这一节要处理一个很实际的问题：运行到一半想停下来看看，停下来之后想接着往下走，或者想拿原来的条件重新做一遍。这三件事看起来都叫“再运行一次”，但它们在系统里是完全不同的操作。&#10;&#10;我先把结论说清楚：暂停以后继续，还是原来那次运行；从头再做一次，是一次全新的运行。这两者不能互相代替，也不能互相证明。&#10;&#10;还有一条容易被忽略：按钮按下去成功，不代表远端的推理已经停下来。这条边界要单独验证，不能靠界面提示。&#10;&#10;后面我会沿着身份、边界、暂停、续跑、取消、重跑依次展开，每一段都要求留下可以检查的原始记录。`} style={{ width: 1280, height: 720, background: '#FFFFFF', flexDirection: 'column', padding: '20px 64px' }}&gt;&#10;&#10;    &lt;Box style={{ height: 100, flexDirection: 'row', alignItems: 'center', gap: 12 }}&gt;&#10;        &lt;Box style={{ width: 4, height: 36, background: '#276FBF' }} /&gt;&#10;        &lt;Text style={{ fontSize: 15, color: '#546779' }}&gt;第三章　在共同世界中行动：用完整案例学习 GenerativeAgentsCN　·　3.10&lt;/Text&gt;&#10;    &lt;/Box&gt;&#10;&#10;    &lt;Box style={{ height: 540, flexDirection: 'row', alignItems: 'center', gap: 32 }}&gt;&#10;&#10;        &lt;Box style={{ width: 500, flexDirection: 'column', justifyContent: 'center', gap: 14 }}&gt;&#10;            &lt;Text style={{ fontSize: 52, fontWeight: 'bold', color: '#20344B', lineHeight: 1.2 }}&gt;暂停、取消、{'\n'}续跑与重跑&lt;/Text&gt;&#10;            &lt;Box style={{ width: 72, height: 4, background: '#276FBF' }} /&gt;&#10;            &lt;Text style={{ fontSize: 17, color: '#546779', lineHeight: 1.7, width: 500 }}&gt;同样叫“再运行一次”，身份和历史含义并不相同：续跑保留原来的运行，重跑产生新的运行。&lt;/Text&gt;&#10;            &lt;Box style={{ flexDirection: 'row', gap: 12, marginTop: 4 }}&gt;&#10;                &lt;Box style={{ width: 112, height: 42, background: '#EDF4FC', borderRadius: 8, justifyContent: 'center', alignItems: 'center' }}&gt;&#10;                    &lt;Text style={{ fontSize: 15, color: '#276FBF' }}&gt;运行身份&lt;/Text&gt;&#10;                &lt;/Box&gt;&#10;                &lt;Box style={{ width: 112, height: 42, background: '#EDF4FC', borderRadius: 8, justifyContent: 'center', alignItems: 'center' }}&gt;&#10;                    &lt;Text style={{ fontSize: 15, color: '#276FBF' }}&gt;提交边界&lt;/Text&gt;&#10;                &lt;/Box&gt;&#10;                &lt;Box style={{ width: 112, height: 42, background: '#ECF7F2', borderRadius: 8, justifyContent: 'center', alignItems: 'center' }}&gt;&#10;                    &lt;Text style={{ fontSize: 15, color: '#26816B' }}&gt;恢复条件&lt;/Text&gt;&#10;                &lt;/Box&gt;&#10;                &lt;Box style={{ width: 112, height: 42, background: '#FFF4E6', borderRadius: 8, justifyContent: 'center', alignItems: 'center' }}&gt;&#10;                    &lt;Text style={{ fontSize: 15, color: '#CB6B28' }}&gt;待验收项&lt;/Text&gt;&#10;                &lt;/Box&gt;&#10;            &lt;/Box&gt;&#10;        &lt;/Box&gt;&#10;&#10;        &lt;Box style={{ width: 620, flexDirection: 'column', gap: 10, justifyContent: 'center' }}&gt;&#10;&#10;            &lt;Box style={{ flexDirection: 'row', alignItems: 'center', gap: 12 }}&gt;&#10;                &lt;Text style={{ fontSize: 15, fontWeight: 'bold', color: '#546779' }}&gt;同一次实验，两种“再跑一次”&lt;/Text&gt;&#10;                &lt;Box style={{ width: 56, height: 24, background: '#FFF4E6', borderRadius: 6, justifyContent: 'center', alignItems: 'center' }}&gt;&#10;                    &lt;Text style={{ fontSize: 13, color: '#CB6B28' }}&gt;示意&lt;/Text&gt;&#10;                &lt;/Box&gt;&#10;            &lt;/Box&gt;&#10;&#10;            &lt;Box style={{ width: 620, height: 172, background: '#F4F7FA', borderRadius: 10, padding: '14px 16px', flexDirection: 'column', gap: 10, justifyContent: 'center' }}&gt;&#10;                &lt;Text style={{ fontSize: 15, fontWeight: 'bold', color: '#276FBF' }}&gt;Run A　run_id 保持不变&lt;/Text&gt;&#10;                &lt;Box style={{ flexDirection: 'row', alignItems: 'center' }}&gt;&#10;                    &lt;Box style={{ width: 156, height: 46, background: '#FFFFFF', borderRadius: 8, justifyContent: 'center', alignItems: 'center' }}&gt;&#10;                        &lt;Text style={{ fontSize: 14, color: '#276FBF' }}&gt;Attempt 1&lt;/Text&gt;&#10;                    &lt;/Box&gt;&#10;                    &lt;Box style={{ width: 44, height: 46, justifyContent: 'center', alignItems: 'center' }}&gt;&#10;                        &lt;Text style={{ fontSize: 22, color: '#276FBF' }}&gt;›&lt;/Text&gt;&#10;                    &lt;/Box&gt;&#10;                    &lt;Box style={{ width: 156, height: 46, background: '#FFFFFF', borderRadius: 8, justifyContent: 'center', alignItems: 'center' }}&gt;&#10;                        &lt;Text style={{ fontSize: 14, color: '#276FBF' }}&gt;核对恢复快照&lt;/Text&gt;&#10;                    &lt;/Box&gt;&#10;                    &lt;Box style={{ width: 44, height: 46, justifyContent: 'center', alignItems: 'center' }}&gt;&#10;                        &lt;Text style={{ fontSize: 22, color: '#26816B' }}&gt;›&lt;/Text&gt;&#10;                    &lt;/Box&gt;&#10;                    &lt;Box style={{ width: 156, height: 46, background: '#ECF7F2', borderRadius: 8, justifyContent: 'center', alignItems: 'center' }}&gt;&#10;                        &lt;Text style={{ fontSize: 14, color: '#26816B' }}&gt;新 Attempt 2&lt;/Text&gt;&#10;                    &lt;/Box&gt;&#10;                &lt;/Box&gt;&#10;                &lt;Text style={{ fontSize: 13, color: '#546779' }}&gt;继续执行：从已提交边界的下一步开始&lt;/Text&gt;&#10;            &lt;/Box&gt;&#10;&#10;            &lt;Box style={{ width: 620, height: 34, justifyContent: 'center', alignItems: 'center' }}&gt;&#10;                &lt;Text style={{ fontSize: 20, color: '#546779' }}&gt;↓&lt;/Text&gt;&#10;            &lt;/Box&gt;&#10;&#10;            &lt;Box style={{ width: 620, height: 138, background: '#FFF4E6', borderRadius: 10, padding: '14px 16px', flexDirection: 'column', gap: 10, justifyContent: 'center' }}&gt;&#10;                &lt;Text style={{ fontSize: 15, fontWeight: 'bold', color: '#CB6B28' }}&gt;Run B　重跑：新的 run_id&lt;/Text&gt;&#10;                &lt;Box style={{ flexDirection: 'row', alignItems: 'center' }}&gt;&#10;                    &lt;Box style={{ width: 200, height: 46, background: '#FFFFFF', borderRadius: 8, justifyContent: 'center', alignItems: 'center' }}&gt;&#10;                        &lt;Text style={{ fontSize: 14, color: '#CB6B28' }}&gt;读原 Run 内嵌实验&lt;/Text&gt;&#10;                    &lt;/Box&gt;&#10;                    &lt;Box style={{ width: 44, height: 46, justifyContent: 'center', alignItems: 'center' }}&gt;&#10;                        &lt;Text style={{ fontSize: 22, color: '#CB6B28' }}&gt;›&lt;/Text&gt;&#10;                    &lt;/Box&gt;&#10;                    &lt;Box style={{ width: 200, height: 46, background: '#FFFFFF', borderRadius: 8, justifyContent: 'center', alignItems: 'center' }}&gt;&#10;                        &lt;Text style={{ fontSize: 14, color: '#CB6B28' }}&gt;新的首个 Attempt&lt;/Text&gt;&#10;                    &lt;/Box&gt;&#10;                    &lt;Box style={{ width: 120, height: 46, justifyContent: 'center', alignItems: 'center' }}&gt;&#10;                        &lt;Text style={{ fontSize: 13, color: '#546779' }}&gt;从 Step 1&lt;/Text&gt;&#10;                    &lt;/Box&gt;&#10;                &lt;/Box&gt;&#10;                &lt;Text style={{ fontSize: 13, color: '#546779' }}&gt;可以记录 origin_run_id，但不能把两个 Run 当成一个历史&lt;/Text&gt;&#10;            &lt;/Box&gt;&#10;&#10;        &lt;/Box&gt;&#10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09600" y="495300"/>
            <a:ext cx="38100" cy="342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762000" y="581025"/>
            <a:ext cx="4943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第三章　在共同世界中行动：用完整案例学习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GenerativeAgentsCN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3.10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2228850"/>
            <a:ext cx="4762500" cy="14287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暂停、取消、</a:t>
            </a:r>
            <a:endParaRPr/>
          </a:p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续跑与重跑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609600" y="37909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3962400"/>
            <a:ext cx="47625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同样叫“再运行一次”，身份和历史含义并不相同：续跑保留原来的运行，重跑产生新的运行。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609600" y="4800600"/>
            <a:ext cx="1066800" cy="400050"/>
          </a:xfrm>
          <a:prstGeom prst="roundRect">
            <a:avLst>
              <a:gd name="adj" fmla="val 190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857250" y="4914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运行身份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1790700" y="4800600"/>
            <a:ext cx="1066800" cy="400050"/>
          </a:xfrm>
          <a:prstGeom prst="roundRect">
            <a:avLst>
              <a:gd name="adj" fmla="val 190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2038350" y="4914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提交边界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2971800" y="4800600"/>
            <a:ext cx="1066800" cy="400050"/>
          </a:xfrm>
          <a:prstGeom prst="roundRect">
            <a:avLst>
              <a:gd name="adj" fmla="val 1904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3219450" y="4914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恢复条件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4152900" y="4800600"/>
            <a:ext cx="1066800" cy="400050"/>
          </a:xfrm>
          <a:prstGeom prst="roundRect">
            <a:avLst>
              <a:gd name="adj" fmla="val 1904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4400550" y="4914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待验收项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5676900" y="1847850"/>
            <a:ext cx="2000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同一次实验，两种“再跑一次”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7791450" y="1819275"/>
            <a:ext cx="533400" cy="228600"/>
          </a:xfrm>
          <a:prstGeom prst="roundRect">
            <a:avLst>
              <a:gd name="adj" fmla="val 25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7934325" y="18573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5676900" y="2143125"/>
            <a:ext cx="5905500" cy="1638300"/>
          </a:xfrm>
          <a:prstGeom prst="roundRect">
            <a:avLst>
              <a:gd name="adj" fmla="val 581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5829300" y="2486025"/>
            <a:ext cx="5600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Run A</a:t>
            </a: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　</a:t>
            </a: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run_id </a:t>
            </a: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保持不变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5829300" y="2752725"/>
            <a:ext cx="14859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6248400" y="2895600"/>
            <a:ext cx="64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>Attempt 1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7486650" y="2847975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7734300" y="2752725"/>
            <a:ext cx="14859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8077200" y="289560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核对恢复快照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9391650" y="2847975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9639300" y="2752725"/>
            <a:ext cx="1485900" cy="438150"/>
          </a:xfrm>
          <a:prstGeom prst="roundRect">
            <a:avLst>
              <a:gd name="adj" fmla="val 1739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9972675" y="2895600"/>
            <a:ext cx="819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新</a:t>
            </a:r>
            <a:r>
              <a:rPr lang="en-US" sz="1050">
                <a:solidFill>
                  <a:srgbClr val="26816B"/>
                </a:solidFill>
                <a:latin typeface="Microsoft YaHei"/>
                <a:ea typeface="Microsoft YaHei"/>
              </a:rPr>
              <a:t xml:space="preserve"> Attempt 2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5829300" y="3286125"/>
            <a:ext cx="5600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继续执行：从已提交边界的下一步开始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8582025" y="392430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546779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5676900" y="4295775"/>
            <a:ext cx="5905500" cy="1314450"/>
          </a:xfrm>
          <a:prstGeom prst="roundRect">
            <a:avLst>
              <a:gd name="adj" fmla="val 724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5829300" y="4476750"/>
            <a:ext cx="5600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CB6B28"/>
                </a:solidFill>
                <a:latin typeface="Microsoft YaHei"/>
                <a:ea typeface="Microsoft YaHei"/>
              </a:rPr>
              <a:t>Run B</a:t>
            </a: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　重跑：新的</a:t>
            </a:r>
            <a:r>
              <a:rPr lang="en-US" sz="112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run_id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5829300" y="4743450"/>
            <a:ext cx="19050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219825" y="4886325"/>
            <a:ext cx="1133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读原</a:t>
            </a: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内嵌实验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7905750" y="4838700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8153400" y="4743450"/>
            <a:ext cx="19050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8553450" y="4886325"/>
            <a:ext cx="1104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新的首个</a:t>
            </a: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 xml:space="preserve"> Attempt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10363200" y="4886325"/>
            <a:ext cx="533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从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Step 1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5829300" y="5276850"/>
            <a:ext cx="5600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可以记录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origin_run_id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，但不能把两个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当成一个历史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52" name="" descr="&lt;Slide notes={`这一节我切成四块，按从身份到操作的顺序往前推。&#10;&#10;第一块解决身份：同样叫“再运行一次”，哪些属于原来那次运行，哪些算新的运行。关键是把 Run 和 Attempt 分成两个层次看。&#10;&#10;第二块解决边界：系统认的是已经提交的事实，不是画面上看起来走到哪一步。恢复要取最新已提交边界的完整快照，缺了就报诊断。&#10;&#10;第三块是动手的部分：在浏览器上暂停、看检查点、再继续，然后逐条核对身份、边界、时间和对象状态有没有重复或者丢失。&#10;&#10;第四块是两条不能混的路：取消只是提出结束请求，不等于远端推理立刻停下；重跑是新建一个 Run，不是续跑。最后我会给出这一节要求的验收交付物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0　暂停、取消、续跑与重跑&lt;/Text&gt;&#10;            &lt;Text style={{ fontSize: 34, fontWeight: 'bold', color: '#20344B' }}&gt;本节要看清的四件事&lt;/Text&gt;&#10;        &lt;/Box&gt;&#10;    &lt;/Box&gt;&#10;&#10;    &lt;Box style={{ height: 540, flexDirection: 'row', alignItems: 'center', gap: 32 }}&gt;&#10;&#10;        &lt;Box style={{ width: 300, flexDirection: 'column', gap: 18 }}&gt;&#10;            &lt;Text style={{ fontSize: 17, color: '#546779', lineHeight: 1.75, width: 300 }}&gt;这一节把“再运行一次”拆成身份、边界、操作和证据四层，每一层都要求能对到原始值。&lt;/Text&gt;&#10;            &lt;Box style={{ width: 300, height: 110, background: '#FFF4E6', borderRadius: 10, padding: '14px 18px', flexDirection: 'column', gap: 4, justifyContent: 'center' }}&gt;&#10;                &lt;Text style={{ fontSize: 16, fontWeight: 'bold', color: '#CB6B28' }}&gt;判断落在哪里&lt;/Text&gt;&#10;                &lt;Text style={{ fontSize: 14, color: '#546779', lineHeight: 1.5 }}&gt;先看提交到哪一步，再看能不能恢复&lt;/Text&gt;&#10;            &lt;/Box&gt;&#10;        &lt;/Box&gt;&#10;&#10;        &lt;Box style={{ width: 820, flexDirection: 'column', gap: 14 }}&gt;&#10;&#10;            &lt;Box style={{ width: 820, height: 100, background: '#F4F7FA', borderRadius: 10, padding: '0 20px', flexDirection: 'row', alignItems: 'center', gap: 16 }}&gt;&#10;                &lt;Box style={{ width: 44, height: 44, background: '#276FBF', borderRadius: 8, justifyContent: 'center', alignItems: 'center' }}&gt;&#10;                    &lt;Text style={{ fontSize: 20, fontWeight: 'bold', color: '#FFFFFF' }}&gt;1&lt;/Text&gt;&#10;                &lt;/Box&gt;&#10;                &lt;Box style={{ flexDirection: 'column', gap: 4 }}&gt;&#10;                    &lt;Text style={{ fontSize: 20, fontWeight: 'bold', color: '#20344B' }}&gt;Run 与 Attempt 是两种身份&lt;/Text&gt;&#10;                    &lt;Text style={{ fontSize: 14, color: '#546779' }}&gt;续跑换掉 Attempt，重跑换掉 Run；两者不能互相代替。&lt;/Text&gt;&#10;                &lt;/Box&gt;&#10;            &lt;/Box&gt;&#10;&#10;            &lt;Box style={{ width: 820, height: 100, background: '#F4F7FA', borderRadius: 10, padding: '0 20px', flexDirection: 'row', alignItems: 'center', gap: 16 }}&gt;&#10;                &lt;Box style={{ width: 44, height: 44, background: '#276FBF', borderRadius: 8, justifyContent: 'center', alignItems: 'center' }}&gt;&#10;                    &lt;Text style={{ fontSize: 20, fontWeight: 'bold', color: '#FFFFFF' }}&gt;2&lt;/Text&gt;&#10;                &lt;/Box&gt;&#10;                &lt;Box style={{ flexDirection: 'column', gap: 4 }}&gt;&#10;                    &lt;Text style={{ fontSize: 20, fontWeight: 'bold', color: '#20344B' }}&gt;已提交边界比画面进度重要&lt;/Text&gt;&#10;                    &lt;Text style={{ fontSize: 14, color: '#546779' }}&gt;未提交的计算不进回放事实；最新完整快照缺失就给诊断。&lt;/Text&gt;&#10;                &lt;/Box&gt;&#10;            &lt;/Box&gt;&#10;&#10;            &lt;Box style={{ width: 820, height: 100, background: '#F4F7FA', borderRadius: 10, padding: '0 20px', flexDirection: 'row', alignItems: 'center', gap: 16 }}&gt;&#10;                &lt;Box style={{ width: 44, height: 44, background: '#276FBF', borderRadius: 8, justifyContent: 'center', alignItems: 'center' }}&gt;&#10;                    &lt;Text style={{ fontSize: 20, fontWeight: 'bold', color: '#FFFFFF' }}&gt;3&lt;/Text&gt;&#10;                &lt;/Box&gt;&#10;                &lt;Box style={{ flexDirection: 'column', gap: 4 }}&gt;&#10;                    &lt;Text style={{ fontSize: 20, fontWeight: 'bold', color: '#20344B' }}&gt;暂停后的检查与继续后的核对&lt;/Text&gt;&#10;                    &lt;Text style={{ fontSize: 14, color: '#546779' }}&gt;先记控制请求再等状态；继续后核身份、边界、时间与状态。&lt;/Text&gt;&#10;                &lt;/Box&gt;&#10;            &lt;/Box&gt;&#10;&#10;            &lt;Box style={{ width: 820, height: 100, background: '#F4F7FA', borderRadius: 10, padding: '0 20px', flexDirection: 'row', alignItems: 'center', gap: 16 }}&gt;&#10;                &lt;Box style={{ width: 44, height: 44, background: '#CB6B28', borderRadius: 8, justifyContent: 'center', alignItems: 'center' }}&gt;&#10;                    &lt;Text style={{ fontSize: 20, fontWeight: 'bold', color: '#FFFFFF' }}&gt;4&lt;/Text&gt;&#10;                &lt;/Box&gt;&#10;                &lt;Box style={{ flexDirection: 'column', gap: 4 }}&gt;&#10;                    &lt;Text style={{ fontSize: 20, fontWeight: 'bold', color: '#20344B' }}&gt;取消与重跑：两条不能混的路&lt;/Text&gt;&#10;                    &lt;Text style={{ fontSize: 14, color: '#546779' }}&gt;按钮成功只证明提出了取消；重跑读原内嵌实验、建新 Run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10 暂停、取消、续跑与重跑&lt;/Text&gt;&#10;        &lt;Text style={{ fontSize: 14, color: '#546779' }}&gt;02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3.10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暂停、取消、续跑与重跑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本节要看清的四件事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609600" y="2590800"/>
            <a:ext cx="2857500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这一节把“再运行一次”拆成身份、边界、操作和证据四层，每一层都要求能对到原始值。</a:t>
            </a:r>
            <a:endParaRPr/>
          </a:p>
        </p:txBody>
      </p:sp>
      <p:sp>
        <p:nvSpPr>
          <p:cNvPr id="358" name=""/>
          <p:cNvSpPr/>
          <p:nvPr/>
        </p:nvSpPr>
        <p:spPr>
          <a:xfrm rot="0" flipH="0" flipV="0">
            <a:off x="609600" y="3790950"/>
            <a:ext cx="2857500" cy="1047750"/>
          </a:xfrm>
          <a:prstGeom prst="roundRect">
            <a:avLst>
              <a:gd name="adj" fmla="val 909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781050" y="4076700"/>
            <a:ext cx="2514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判断落在哪里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781050" y="4305300"/>
            <a:ext cx="2514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先看提交到哪一步，再看能不能恢复</a:t>
            </a:r>
            <a:endParaRPr/>
          </a:p>
        </p:txBody>
      </p:sp>
      <p:sp>
        <p:nvSpPr>
          <p:cNvPr id="361" name=""/>
          <p:cNvSpPr/>
          <p:nvPr/>
        </p:nvSpPr>
        <p:spPr>
          <a:xfrm rot="0" flipH="0" flipV="0">
            <a:off x="3771900" y="1609725"/>
            <a:ext cx="78105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62" name=""/>
          <p:cNvSpPr/>
          <p:nvPr/>
        </p:nvSpPr>
        <p:spPr>
          <a:xfrm rot="0" flipH="0" flipV="0">
            <a:off x="3962400" y="18764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4114800" y="197167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4533900" y="1876425"/>
            <a:ext cx="3390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Run 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与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Attempt 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是两种身份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4533900" y="2143125"/>
            <a:ext cx="3390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续跑换掉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Attempt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，重跑换掉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；两者不能互相代替。</a:t>
            </a:r>
            <a:endParaRPr/>
          </a:p>
        </p:txBody>
      </p:sp>
      <p:sp>
        <p:nvSpPr>
          <p:cNvPr id="366" name=""/>
          <p:cNvSpPr/>
          <p:nvPr/>
        </p:nvSpPr>
        <p:spPr>
          <a:xfrm rot="0" flipH="0" flipV="0">
            <a:off x="3771900" y="2695575"/>
            <a:ext cx="78105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67" name=""/>
          <p:cNvSpPr/>
          <p:nvPr/>
        </p:nvSpPr>
        <p:spPr>
          <a:xfrm rot="0" flipH="0" flipV="0">
            <a:off x="3962400" y="29622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4114800" y="305752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4533900" y="2962275"/>
            <a:ext cx="3467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已提交边界比画面进度重要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4533900" y="3228975"/>
            <a:ext cx="3467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未提交的计算不进回放事实；最新完整快照缺失就给诊断。</a:t>
            </a:r>
            <a:endParaRPr/>
          </a:p>
        </p:txBody>
      </p:sp>
      <p:sp>
        <p:nvSpPr>
          <p:cNvPr id="371" name=""/>
          <p:cNvSpPr/>
          <p:nvPr/>
        </p:nvSpPr>
        <p:spPr>
          <a:xfrm rot="0" flipH="0" flipV="0">
            <a:off x="3771900" y="3781425"/>
            <a:ext cx="78105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72" name=""/>
          <p:cNvSpPr/>
          <p:nvPr/>
        </p:nvSpPr>
        <p:spPr>
          <a:xfrm rot="0" flipH="0" flipV="0">
            <a:off x="3962400" y="40481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4114800" y="414337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4533900" y="4048125"/>
            <a:ext cx="3600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暂停后的检查与继续后的核对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4533900" y="4314825"/>
            <a:ext cx="3600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先记控制请求再等状态；继续后核身份、边界、时间与状态。</a:t>
            </a:r>
            <a:endParaRPr/>
          </a:p>
        </p:txBody>
      </p:sp>
      <p:sp>
        <p:nvSpPr>
          <p:cNvPr id="376" name=""/>
          <p:cNvSpPr/>
          <p:nvPr/>
        </p:nvSpPr>
        <p:spPr>
          <a:xfrm rot="0" flipH="0" flipV="0">
            <a:off x="3771900" y="4867275"/>
            <a:ext cx="78105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77" name=""/>
          <p:cNvSpPr/>
          <p:nvPr/>
        </p:nvSpPr>
        <p:spPr>
          <a:xfrm rot="0" flipH="0" flipV="0">
            <a:off x="3962400" y="51339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4114800" y="522922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4533900" y="5133975"/>
            <a:ext cx="36290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取消与重跑：两条不能混的路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4533900" y="5400675"/>
            <a:ext cx="3629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按钮成功只证明提出了取消；重跑读原内嵌实验、建新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暂停、取消、续跑与重跑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02 / 24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552" name="" descr="&lt;Slide notes={`先解决身份问题。Run 表示的是一段具有固定输入和请求步数的仿真；Attempt 表示的是实际执行这段仿真的一次尝试。&#10;&#10;暂停以后继续，run_id 保持不变，只是换了一个新的 attempt_id，从已经提交的边界往下走。从头再做一次实验，系统会建立新的 run_id，从第一步重新开始。&#10;&#10;这两个概念分开之后，操作记录才有意义：同样是看到一份相同的输入，我们能分清它到底是接着跑还是重新跑。&#10;&#10;还有一点容易忽略：底层的创建操作只创建 Run，这时候可能还没有 Attempt；真正进入执行器时才会生成。所以“创建成功”不等于“已经开始执行”，这是两件事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①　　3.10.1&lt;/Text&gt;&#10;&#10;        &lt;Text style={{ fontSize: 56, fontWeight: 'bold', color: '#20344B', lineHeight: 1.15 }}&gt;Run 与 Attempt{'\n'}是两种身份&lt;/Text&gt;&#10;&#10;        &lt;Box style={{ width: 72, height: 4, background: '#276FBF' }} /&gt;&#10;&#10;        &lt;Text style={{ fontSize: 18, color: '#546779', lineHeight: 1.7, width: 900 }}&gt;运行表示一段固定输入的仿真，尝试表示它被执行的一次。续跑换掉的是 Attempt，从头再做换掉的是 Run。&lt;/Text&gt;&#10;&#10;        &lt;Box style={{ flexDirection: 'row', alignItems: 'center', marginTop: 10 }}&gt;&#10;            &lt;Box style={{ width: 300, height: 64, background: '#F4F7FA', borderRadius: 8, justifyContent: 'center', alignItems: 'center' }}&gt;&#10;                &lt;Text style={{ fontSize: 18, color: '#20344B' }}&gt;新跑：新 Run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00, height: 64, background: '#EDF4FC', borderRadius: 8, justifyContent: 'center', alignItems: 'center' }}&gt;&#10;                &lt;Text style={{ fontSize: 18, color: '#276FBF' }}&gt;续跑：新 Attempt&lt;/Text&gt;&#10;            &lt;/Box&gt;&#10;            &lt;Box style={{ width: 44, height: 64, justifyContent: 'center', alignItems: 'center' }}&gt;&#10;                &lt;Text style={{ fontSize: 26, color: '#CB6B28' }}&gt;›&lt;/Text&gt;&#10;            &lt;/Box&gt;&#10;            &lt;Box style={{ width: 300, height: 64, background: '#FFF4E6', borderRadius: 8, justifyContent: 'center', alignItems: 'center' }}&gt;&#10;                &lt;Text style={{ fontSize: 18, color: '#CB6B28' }}&gt;重跑：新 Run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0 暂停、取消、续跑与重跑&lt;/Text&gt;&#10;        &lt;Text style={{ fontSize: 14, color: '#546779' }}&gt;03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609600" y="14478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①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3.10.1</a:t>
            </a:r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609600" y="1828800"/>
            <a:ext cx="10972800" cy="14763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4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Run </a:t>
            </a: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与</a:t>
            </a:r>
            <a:r>
              <a:rPr lang="en-US" sz="4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Attempt</a:t>
            </a:r>
            <a:endParaRPr/>
          </a:p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是两种身份</a:t>
            </a:r>
            <a:endParaRPr/>
          </a:p>
        </p:txBody>
      </p:sp>
      <p:sp>
        <p:nvSpPr>
          <p:cNvPr id="556" name=""/>
          <p:cNvSpPr/>
          <p:nvPr/>
        </p:nvSpPr>
        <p:spPr>
          <a:xfrm rot="0" flipH="0" flipV="0">
            <a:off x="609600" y="351472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609600" y="376237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运行表示一段固定输入的仿真，尝试表示它被执行的一次。续跑换掉的是</a:t>
            </a: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Attempt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，从头再做换掉的是</a:t>
            </a: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558" name=""/>
          <p:cNvSpPr/>
          <p:nvPr/>
        </p:nvSpPr>
        <p:spPr>
          <a:xfrm rot="0" flipH="0" flipV="0">
            <a:off x="609600" y="441960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1504950" y="4619625"/>
            <a:ext cx="1066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0344B"/>
                </a:solidFill>
                <a:latin typeface="Microsoft YaHei"/>
                <a:ea typeface="Microsoft YaHei"/>
              </a:rPr>
              <a:t>新跑：新</a:t>
            </a:r>
            <a:r>
              <a:rPr lang="en-US" sz="1350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</a:t>
            </a:r>
            <a:endParaRPr/>
          </a:p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3638550" y="45720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61" name=""/>
          <p:cNvSpPr/>
          <p:nvPr/>
        </p:nvSpPr>
        <p:spPr>
          <a:xfrm rot="0" flipH="0" flipV="0">
            <a:off x="3886200" y="441960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4610100" y="4619625"/>
            <a:ext cx="14192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续跑：新</a:t>
            </a:r>
            <a:r>
              <a:rPr lang="en-US" sz="1350">
                <a:solidFill>
                  <a:srgbClr val="276FBF"/>
                </a:solidFill>
                <a:latin typeface="Microsoft YaHei"/>
                <a:ea typeface="Microsoft YaHei"/>
              </a:rPr>
              <a:t xml:space="preserve"> Attempt</a:t>
            </a:r>
            <a:endParaRPr/>
          </a:p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6915150" y="45720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64" name=""/>
          <p:cNvSpPr/>
          <p:nvPr/>
        </p:nvSpPr>
        <p:spPr>
          <a:xfrm rot="0" flipH="0" flipV="0">
            <a:off x="7162800" y="441960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8058150" y="4619625"/>
            <a:ext cx="1066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CB6B28"/>
                </a:solidFill>
                <a:latin typeface="Microsoft YaHei"/>
                <a:ea typeface="Microsoft YaHei"/>
              </a:rPr>
              <a:t>重跑：新</a:t>
            </a:r>
            <a:r>
              <a:rPr lang="en-US" sz="1350">
                <a:solidFill>
                  <a:srgbClr val="CB6B28"/>
                </a:solidFill>
                <a:latin typeface="Microsoft YaHei"/>
                <a:ea typeface="Microsoft YaHei"/>
              </a:rPr>
              <a:t xml:space="preserve"> Run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暂停、取消、续跑与重跑</a:t>
            </a:r>
            <a:endParaRPr/>
          </a:p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03 / 24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568" name="" descr="&lt;Slide notes={`三种操作的区别其实很明确。&#10;&#10;新跑用封存实验当输入，产生新的 run_id，执行的时候建立第一个 Attempt，从第一步开始。&#10;&#10;暂停之后继续，用的是本 Run 内嵌的实验加上最新完整的恢复快照。run_id 保持不变，只是新建一个 attempt_id，从已经提交边界的下一步接着走。&#10;&#10;重跑读的是原来那个 Run 内嵌的实验，但它同样产生新的 run_id，也是从第一步开始。它和新跑的区别在输入从哪里来，不在身份上。&#10;&#10;所以续跑和从头重跑是两条不同的路，验收也不能互相代替。续跑证明的是恢复准不准，重跑证明的是在相同输入下重新执行会得到什么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0.1　Run 与 Attempt 为什么需要分开&lt;/Text&gt;&#10;            &lt;Text style={{ fontSize: 34, fontWeight: 'bold', color: '#20344B' }}&gt;三种操作，三种身份&lt;/Text&gt;&#10;        &lt;/Box&gt;&#10;    &lt;/Box&gt;&#10;&#10;    &lt;Box style={{ height: 540, flexDirection: 'column', justifyContent: 'center', gap: 12 }}&gt;&#10;&#10;        &lt;Box style={{ flexDirection: 'row', padding: '0 18px', gap: 16, alignItems: 'center' }}&gt;&#10;            &lt;Box style={{ width: 4 }} /&gt;&#10;            &lt;Box style={{ width: 170 }}&gt;&lt;Text style={{ fontSize: 14, color: '#546779' }}&gt;操作&lt;/Text&gt;&lt;/Box&gt;&#10;            &lt;Box style={{ width: 300 }}&gt;&lt;Text style={{ fontSize: 14, color: '#546779' }}&gt;输入来源&lt;/Text&gt;&lt;/Box&gt;&#10;            &lt;Box style={{ width: 210 }}&gt;&lt;Text style={{ fontSize: 14, color: '#546779' }}&gt;Run 身份&lt;/Text&gt;&lt;/Box&gt;&#10;            &lt;Box style={{ flex: 1 }}&gt;&lt;Text style={{ fontSize: 14, color: '#546779' }}&gt;Attempt 与 Step&lt;/Text&gt;&lt;/Box&gt;&#10;        &lt;/Box&gt;&#10;&#10;        &lt;Box style={{ flexDirection: 'row', height: 96, background: '#F4F7FA', borderRadius: 10, padding: '0 18px', alignItems: 'center', gap: 16 }}&gt;&#10;            &lt;Box style={{ width: 4, height: 48, background: '#B5C7D8' }} /&gt;&#10;            &lt;Box style={{ width: 170 }}&gt;&lt;Text style={{ fontSize: 18, fontWeight: 'bold', color: '#20344B' }}&gt;新跑&lt;/Text&gt;&lt;/Box&gt;&#10;            &lt;Box style={{ width: 300 }}&gt;&lt;Text style={{ fontSize: 16, color: '#20344B', lineHeight: 1.6 }}&gt;封存实验&lt;/Text&gt;&lt;/Box&gt;&#10;            &lt;Box style={{ width: 210 }}&gt;&lt;Text style={{ fontSize: 16, color: '#276FBF', lineHeight: 1.6 }}&gt;新 run_id&lt;/Text&gt;&lt;/Box&gt;&#10;            &lt;Box style={{ flex: 1 }}&gt;&lt;Text style={{ fontSize: 16, color: '#546779', lineHeight: 1.6 }}&gt;开始执行时建立首个 Attempt，从 Step 1 开始&lt;/Text&gt;&lt;/Box&gt;&#10;        &lt;/Box&gt;&#10;&#10;        &lt;Box style={{ flexDirection: 'row', height: 96, background: '#EDF4FC', borderRadius: 10, padding: '0 18px', alignItems: 'center', gap: 16 }}&gt;&#10;            &lt;Box style={{ width: 4, height: 48, background: '#276FBF' }} /&gt;&#10;            &lt;Box style={{ width: 170 }}&gt;&lt;Text style={{ fontSize: 18, fontWeight: 'bold', color: '#276FBF' }}&gt;暂停后续跑&lt;/Text&gt;&lt;/Box&gt;&#10;            &lt;Box style={{ width: 300 }}&gt;&lt;Text style={{ fontSize: 16, color: '#20344B', lineHeight: 1.6 }}&gt;本 Run 的内嵌实验和完整恢复快照&lt;/Text&gt;&lt;/Box&gt;&#10;            &lt;Box style={{ width: 210 }}&gt;&lt;Text style={{ fontSize: 16, color: '#26816B', lineHeight: 1.6 }}&gt;保持不变&lt;/Text&gt;&lt;/Box&gt;&#10;            &lt;Box style={{ flex: 1 }}&gt;&lt;Text style={{ fontSize: 16, color: '#546779', lineHeight: 1.6 }}&gt;新 attempt_id，从已提交边界的下一步开始&lt;/Text&gt;&lt;/Box&gt;&#10;        &lt;/Box&gt;&#10;&#10;        &lt;Box style={{ flexDirection: 'row', height: 96, background: '#FFF4E6', borderRadius: 10, padding: '0 18px', alignItems: 'center', gap: 16 }}&gt;&#10;            &lt;Box style={{ width: 4, height: 48, background: '#CB6B28' }} /&gt;&#10;            &lt;Box style={{ width: 170 }}&gt;&lt;Text style={{ fontSize: 18, fontWeight: 'bold', color: '#CB6B28' }}&gt;重跑&lt;/Text&gt;&lt;/Box&gt;&#10;            &lt;Box style={{ width: 300 }}&gt;&lt;Text style={{ fontSize: 16, color: '#20344B', lineHeight: 1.6 }}&gt;原 Run 的内嵌实验&lt;/Text&gt;&lt;/Box&gt;&#10;            &lt;Box style={{ width: 210 }}&gt;&lt;Text style={{ fontSize: 16, color: '#CB6B28', lineHeight: 1.6 }}&gt;新 run_id&lt;/Text&gt;&lt;/Box&gt;&#10;            &lt;Box style={{ flex: 1 }}&gt;&lt;Text style={{ fontSize: 16, color: '#546779', lineHeight: 1.6 }}&gt;新的首个 Attempt，从 Step 1 开始&lt;/Text&gt;&lt;/Box&gt;&#10;        &lt;/Box&gt;&#10;&#10;        &lt;Box style={{ flexDirection: 'row', gap: 16, background: '#FFF4E6', borderRadius: 10, padding: '14px 22px', alignItems: 'center' }}&gt;&#10;            &lt;Box style={{ width: 4, height: 44, background: '#CB6B28' }} /&gt;&#10;            &lt;Text style={{ fontSize: 16, color: '#546779', flex: 1, lineHeight: 1.6 }}&gt;续跑与从头重跑不能互相代替验收：一个回答恢复准不准，一个回答相同输入下重新执行会得到什么。&lt;/Text&gt;&#10;        &lt;/Box&gt;&#10;&#10;    &lt;/Box&gt;&#10;&#10;    &lt;Box style={{ height: 40, flexDirection: 'row', justifyContent: 'space-between', alignItems: 'center' }}&gt;&#10;        &lt;Text style={{ fontSize: 14, color: '#546779' }}&gt;3.10 暂停、取消、续跑与重跑&lt;/Text&gt;&#10;        &lt;Text style={{ fontSize: 14, color: '#546779' }}&gt;04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3.10.1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Run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Attempt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为什么需要分开</a:t>
            </a:r>
            <a:endParaRPr/>
          </a:p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三种操作，三种身份</a:t>
            </a:r>
            <a:endParaRPr/>
          </a:p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971550" y="1695450"/>
            <a:ext cx="1619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操作</a:t>
            </a:r>
            <a:endParaRPr/>
          </a:p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2743200" y="1695450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输入来源</a:t>
            </a:r>
            <a:endParaRPr/>
          </a:p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5753100" y="1695450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Run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身份</a:t>
            </a:r>
            <a:endParaRPr/>
          </a:p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7905750" y="1695450"/>
            <a:ext cx="3505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Attempt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Step</a:t>
            </a:r>
            <a:endParaRPr/>
          </a:p>
        </p:txBody>
      </p:sp>
      <p:sp>
        <p:nvSpPr>
          <p:cNvPr id="577" name=""/>
          <p:cNvSpPr/>
          <p:nvPr/>
        </p:nvSpPr>
        <p:spPr>
          <a:xfrm rot="0" flipH="0" flipV="0">
            <a:off x="609600" y="1971675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78" name=""/>
          <p:cNvSpPr/>
          <p:nvPr/>
        </p:nvSpPr>
        <p:spPr>
          <a:xfrm rot="0" flipH="0" flipV="0">
            <a:off x="781050" y="2200275"/>
            <a:ext cx="38100" cy="45720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971550" y="2324100"/>
            <a:ext cx="1619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新跑</a:t>
            </a:r>
            <a:endParaRPr/>
          </a:p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2743200" y="2286000"/>
            <a:ext cx="28575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封存实验</a:t>
            </a:r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5753100" y="2286000"/>
            <a:ext cx="20002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新</a:t>
            </a:r>
            <a:r>
              <a:rPr lang="en-US" sz="1200">
                <a:solidFill>
                  <a:srgbClr val="276FBF"/>
                </a:solidFill>
                <a:latin typeface="Microsoft YaHei"/>
                <a:ea typeface="Microsoft YaHei"/>
              </a:rPr>
              <a:t xml:space="preserve"> run_id</a:t>
            </a:r>
            <a:endParaRPr/>
          </a:p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7905750" y="2286000"/>
            <a:ext cx="35052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开始执行时建立首个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Attempt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，从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Step 1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开始</a:t>
            </a:r>
            <a:endParaRPr/>
          </a:p>
        </p:txBody>
      </p:sp>
      <p:sp>
        <p:nvSpPr>
          <p:cNvPr id="583" name=""/>
          <p:cNvSpPr/>
          <p:nvPr/>
        </p:nvSpPr>
        <p:spPr>
          <a:xfrm rot="0" flipH="0" flipV="0">
            <a:off x="609600" y="3000375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84" name=""/>
          <p:cNvSpPr/>
          <p:nvPr/>
        </p:nvSpPr>
        <p:spPr>
          <a:xfrm rot="0" flipH="0" flipV="0">
            <a:off x="781050" y="3228975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971550" y="3352800"/>
            <a:ext cx="1619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暂停后续跑</a:t>
            </a:r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2743200" y="3314700"/>
            <a:ext cx="28575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本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的内嵌实验和完整恢复快照</a:t>
            </a:r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5753100" y="3314700"/>
            <a:ext cx="20002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6816B"/>
                </a:solidFill>
                <a:latin typeface="Microsoft YaHei"/>
                <a:ea typeface="Microsoft YaHei"/>
              </a:rPr>
              <a:t>保持不变</a:t>
            </a:r>
            <a:endParaRPr/>
          </a:p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7905750" y="3314700"/>
            <a:ext cx="35052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新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attempt_id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，从已提交边界的下一步开始</a:t>
            </a:r>
            <a:endParaRPr/>
          </a:p>
        </p:txBody>
      </p:sp>
      <p:sp>
        <p:nvSpPr>
          <p:cNvPr id="589" name=""/>
          <p:cNvSpPr/>
          <p:nvPr/>
        </p:nvSpPr>
        <p:spPr>
          <a:xfrm rot="0" flipH="0" flipV="0">
            <a:off x="609600" y="4029075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90" name=""/>
          <p:cNvSpPr/>
          <p:nvPr/>
        </p:nvSpPr>
        <p:spPr>
          <a:xfrm rot="0" flipH="0" flipV="0">
            <a:off x="781050" y="4257675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971550" y="4381500"/>
            <a:ext cx="1619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重跑</a:t>
            </a:r>
            <a:endParaRPr/>
          </a:p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2743200" y="4343400"/>
            <a:ext cx="28575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原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的内嵌实验</a:t>
            </a:r>
            <a:endParaRPr/>
          </a:p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5753100" y="4343400"/>
            <a:ext cx="20002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新</a:t>
            </a:r>
            <a:r>
              <a:rPr lang="en-US" sz="1200">
                <a:solidFill>
                  <a:srgbClr val="CB6B28"/>
                </a:solidFill>
                <a:latin typeface="Microsoft YaHei"/>
                <a:ea typeface="Microsoft YaHei"/>
              </a:rPr>
              <a:t xml:space="preserve"> run_id</a:t>
            </a:r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7905750" y="4343400"/>
            <a:ext cx="35052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新的首个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Attempt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，从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Step 1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开始</a:t>
            </a:r>
            <a:endParaRPr/>
          </a:p>
        </p:txBody>
      </p:sp>
      <p:sp>
        <p:nvSpPr>
          <p:cNvPr id="595" name=""/>
          <p:cNvSpPr/>
          <p:nvPr/>
        </p:nvSpPr>
        <p:spPr>
          <a:xfrm rot="0" flipH="0" flipV="0">
            <a:off x="609600" y="5057775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96" name=""/>
          <p:cNvSpPr/>
          <p:nvPr/>
        </p:nvSpPr>
        <p:spPr>
          <a:xfrm rot="0" flipH="0" flipV="0">
            <a:off x="819150" y="5191125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1009650" y="5257800"/>
            <a:ext cx="103632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续跑与从头重跑不能互相代替验收：一个回答恢复准不准，一个回答相同输入下重新执行会得到什么。</a:t>
            </a:r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暂停、取消、续跑与重跑</a:t>
            </a:r>
            <a:endParaRPr/>
          </a:p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04 / 24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600" name="" descr="&lt;Slide notes={`沿着 Step 轴看这两条线。&#10;&#10;Run A 这条线里，run_id 一直不变。第一段 Attempt 走到第 k 步，留下一个已提交边界和完整恢复快照；核对通过之后，系统新建一个 Attempt，从 k 加 1 继续往下提交。&#10;&#10;Run B 这条线是重跑：它去读原 Run 内嵌的实验，然后建立新的 run_id 和新的首个 Attempt，从第一步重新开始。&#10;&#10;两条线的分叉点在于是否沿用原来的 run_id。我在验收的时候会把 run_id、attempt_id 和恢复边界这三个值写进一张对照表，暂停前后各填一次。这样续跑和重跑有没有被混在一起，一眼就能看出来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0.1　Run 与 Attempt 为什么需要分开&lt;/Text&gt;&#10;            &lt;Text style={{ fontSize: 34, fontWeight: 'bold', color: '#20344B' }}&gt;两条身份线&lt;/Text&gt;&#10;        &lt;/Box&gt;&#10;    &lt;/Box&gt;&#10;&#10;    &lt;Box style={{ height: 540, flexDirection: 'column', justifyContent: 'center', gap: 16 }}&gt;&#10;&#10;        &lt;Box style={{ width: 1152, height: 158, background: '#EDF4FC', borderRadius: 10, padding: '16px 20px', flexDirection: 'column', gap: 12, justifyContent: 'center' }}&gt;&#10;            &lt;Text style={{ fontSize: 15, fontWeight: 'bold', color: '#276FBF' }}&gt;Run A　·　run_id 保持不变　·　沿已提交边界往下走&lt;/Text&gt;&#10;            &lt;Box style={{ flexDirection: 'row', alignItems: 'center' }}&gt;&#10;                &lt;Box style={{ width: 300, height: 52, background: '#FFFFFF', borderRadius: 8, justifyContent: 'center', alignItems: 'center' }}&gt;&#10;                    &lt;Text style={{ fontSize: 15, color: '#276FBF' }}&gt;Attempt 1　Step 1 … k&lt;/Text&gt;&#10;                &lt;/Box&gt;&#10;                &lt;Box style={{ width: 44, height: 52, justifyContent: 'center', alignItems: 'center' }}&gt;&#10;                    &lt;Text style={{ fontSize: 22, color: '#276FBF' }}&gt;›&lt;/Text&gt;&#10;                &lt;/Box&gt;&#10;                &lt;Box style={{ width: 260, height: 52, background: '#276FBF', borderRadius: 8, justifyContent: 'center', alignItems: 'center' }}&gt;&#10;                    &lt;Text style={{ fontSize: 15, color: '#FFFFFF' }}&gt;已提交边界 k　完整快照&lt;/Text&gt;&#10;                &lt;/Box&gt;&#10;                &lt;Box style={{ width: 44, height: 52, justifyContent: 'center', alignItems: 'center' }}&gt;&#10;                    &lt;Text style={{ fontSize: 22, color: '#26816B' }}&gt;›&lt;/Text&gt;&#10;                &lt;/Box&gt;&#10;                &lt;Box style={{ width: 300, height: 52, background: '#26816B', borderRadius: 8, justifyContent: 'center', alignItems: 'center' }}&gt;&#10;                    &lt;Text style={{ fontSize: 15, color: '#FFFFFF' }}&gt;新 Attempt 2　Step k+1 …&lt;/Text&gt;&#10;                &lt;/Box&gt;&#10;            &lt;/Box&gt;&#10;        &lt;/Box&gt;&#10;&#10;        &lt;Box style={{ width: 1152, height: 140, background: '#FFF4E6', borderRadius: 10, padding: '16px 20px', flexDirection: 'column', gap: 12, justifyContent: 'center' }}&gt;&#10;            &lt;Text style={{ fontSize: 15, fontWeight: 'bold', color: '#CB6B28' }}&gt;Run B　·　新的 run_id　·　从 Step 1 重新执行&lt;/Text&gt;&#10;            &lt;Box style={{ flexDirection: 'row', alignItems: 'center' }}&gt;&#10;                &lt;Box style={{ width: 300, height: 52, background: '#FFFFFF', borderRadius: 8, justifyContent: 'center', alignItems: 'center' }}&gt;&#10;                    &lt;Text style={{ fontSize: 15, color: '#CB6B28' }}&gt;读原 Run 内嵌实验&lt;/Text&gt;&#10;                &lt;/Box&gt;&#10;                &lt;Box style={{ width: 44, height: 52, justifyContent: 'center', alignItems: 'center' }}&gt;&#10;                    &lt;Text style={{ fontSize: 22, color: '#CB6B28' }}&gt;›&lt;/Text&gt;&#10;                &lt;/Box&gt;&#10;                &lt;Box style={{ width: 320, height: 52, background: '#CB6B28', borderRadius: 8, justifyContent: 'center', alignItems: 'center' }}&gt;&#10;                    &lt;Text style={{ fontSize: 15, color: '#FFFFFF' }}&gt;新的 Run 与新的首个 Attempt&lt;/Text&gt;&#10;                &lt;/Box&gt;&#10;                &lt;Box style={{ width: 44, height: 52, justifyContent: 'center', alignItems: 'center' }}&gt;&#10;                    &lt;Text style={{ fontSize: 22, color: '#CB6B28' }}&gt;›&lt;/Text&gt;&#10;                &lt;/Box&gt;&#10;                &lt;Box style={{ width: 300, height: 52, background: '#FFFFFF', borderRadius: 8, justifyContent: 'center', alignItems: 'center' }}&gt;&#10;                    &lt;Text style={{ fontSize: 15, color: '#CB6B28' }}&gt;从 Step 1 走到新边界&lt;/Text&gt;&#10;                &lt;/Box&gt;&#10;            &lt;/Box&gt;&#10;        &lt;/Box&gt;&#10;&#10;        &lt;Box style={{ flexDirection: 'row', gap: 16, background: '#ECF7F2', borderRadius: 10, padding: '14px 22px', alignItems: 'center' }}&gt;&#10;            &lt;Box style={{ width: 4, height: 44, background: '#26816B' }} /&gt;&#10;            &lt;Text style={{ fontSize: 16, color: '#546779', flex: 1, lineHeight: 1.6 }}&gt;分叉点在 run_id：沿用原 run_id 的是续跑，新建 run_id 的是重跑。run_id、attempt_id、恢复边界三个值，暂停前后各记一次。&lt;/Text&gt;&#10;        &lt;/Box&gt;&#10;&#10;    &lt;/Box&gt;&#10;&#10;    &lt;Box style={{ height: 40, flexDirection: 'row', justifyContent: 'space-between', alignItems: 'center' }}&gt;&#10;        &lt;Text style={{ fontSize: 14, color: '#546779' }}&gt;3.10 暂停、取消、续跑与重跑&lt;/Text&gt;&#10;        &lt;Text style={{ fontSize: 14, color: '#546779' }}&gt;05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476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3.10.1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Run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Attempt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为什么需要分开</a:t>
            </a:r>
            <a:endParaRPr/>
          </a:p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476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两条身份线</a:t>
            </a:r>
            <a:endParaRPr/>
          </a:p>
        </p:txBody>
      </p:sp>
      <p:sp>
        <p:nvSpPr>
          <p:cNvPr id="605" name=""/>
          <p:cNvSpPr/>
          <p:nvPr/>
        </p:nvSpPr>
        <p:spPr>
          <a:xfrm rot="0" flipH="0" flipV="0">
            <a:off x="609600" y="1800225"/>
            <a:ext cx="10972800" cy="1504950"/>
          </a:xfrm>
          <a:prstGeom prst="roundRect">
            <a:avLst>
              <a:gd name="adj" fmla="val 632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800100" y="2162175"/>
            <a:ext cx="10591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Run A</a:t>
            </a: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　·　</a:t>
            </a: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run_id </a:t>
            </a: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保持不变　·　沿已提交边界往下走</a:t>
            </a:r>
            <a:endParaRPr/>
          </a:p>
        </p:txBody>
      </p:sp>
      <p:sp>
        <p:nvSpPr>
          <p:cNvPr id="607" name=""/>
          <p:cNvSpPr/>
          <p:nvPr/>
        </p:nvSpPr>
        <p:spPr>
          <a:xfrm rot="0" flipH="0" flipV="0">
            <a:off x="800100" y="2447925"/>
            <a:ext cx="28575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1457325" y="2609850"/>
            <a:ext cx="1543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Attempt 1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Step 1 … k</a:t>
            </a:r>
            <a:endParaRPr/>
          </a:p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3829050" y="2571750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10" name=""/>
          <p:cNvSpPr/>
          <p:nvPr/>
        </p:nvSpPr>
        <p:spPr>
          <a:xfrm rot="0" flipH="0" flipV="0">
            <a:off x="4076700" y="2447925"/>
            <a:ext cx="2476500" cy="495300"/>
          </a:xfrm>
          <a:prstGeom prst="roundRect">
            <a:avLst>
              <a:gd name="adj" fmla="val 15385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4543425" y="2609850"/>
            <a:ext cx="1552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已提交边界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 xml:space="preserve"> k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　完整快照</a:t>
            </a:r>
            <a:endParaRPr/>
          </a:p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6724650" y="2571750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13" name=""/>
          <p:cNvSpPr/>
          <p:nvPr/>
        </p:nvSpPr>
        <p:spPr>
          <a:xfrm rot="0" flipH="0" flipV="0">
            <a:off x="6972300" y="2447925"/>
            <a:ext cx="2857500" cy="495300"/>
          </a:xfrm>
          <a:prstGeom prst="roundRect">
            <a:avLst>
              <a:gd name="adj" fmla="val 15385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7505700" y="2609850"/>
            <a:ext cx="1790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新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 xml:space="preserve"> Attempt 2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　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Step k+1 …</a:t>
            </a:r>
            <a:endParaRPr/>
          </a:p>
        </p:txBody>
      </p:sp>
      <p:sp>
        <p:nvSpPr>
          <p:cNvPr id="615" name=""/>
          <p:cNvSpPr/>
          <p:nvPr/>
        </p:nvSpPr>
        <p:spPr>
          <a:xfrm rot="0" flipH="0" flipV="0">
            <a:off x="609600" y="3457575"/>
            <a:ext cx="10972800" cy="1333500"/>
          </a:xfrm>
          <a:prstGeom prst="roundRect">
            <a:avLst>
              <a:gd name="adj" fmla="val 714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800100" y="3733800"/>
            <a:ext cx="10591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CB6B28"/>
                </a:solidFill>
                <a:latin typeface="Microsoft YaHei"/>
                <a:ea typeface="Microsoft YaHei"/>
              </a:rPr>
              <a:t>Run B</a:t>
            </a: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　·　新的</a:t>
            </a:r>
            <a:r>
              <a:rPr lang="en-US" sz="112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run_id</a:t>
            </a: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　·　从</a:t>
            </a:r>
            <a:r>
              <a:rPr lang="en-US" sz="112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Step 1 </a:t>
            </a: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重新执行</a:t>
            </a:r>
            <a:endParaRPr/>
          </a:p>
        </p:txBody>
      </p:sp>
      <p:sp>
        <p:nvSpPr>
          <p:cNvPr id="617" name=""/>
          <p:cNvSpPr/>
          <p:nvPr/>
        </p:nvSpPr>
        <p:spPr>
          <a:xfrm rot="0" flipH="0" flipV="0">
            <a:off x="800100" y="4019550"/>
            <a:ext cx="28575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1619250" y="4181475"/>
            <a:ext cx="121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读原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内嵌实验</a:t>
            </a:r>
            <a:endParaRPr/>
          </a:p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3829050" y="4143375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20" name=""/>
          <p:cNvSpPr/>
          <p:nvPr/>
        </p:nvSpPr>
        <p:spPr>
          <a:xfrm rot="0" flipH="0" flipV="0">
            <a:off x="4076700" y="4019550"/>
            <a:ext cx="3048000" cy="495300"/>
          </a:xfrm>
          <a:prstGeom prst="roundRect">
            <a:avLst>
              <a:gd name="adj" fmla="val 15385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4619625" y="4181475"/>
            <a:ext cx="1962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新的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与新的首个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 xml:space="preserve"> Attempt</a:t>
            </a:r>
            <a:endParaRPr/>
          </a:p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7296150" y="4143375"/>
            <a:ext cx="76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23" name=""/>
          <p:cNvSpPr/>
          <p:nvPr/>
        </p:nvSpPr>
        <p:spPr>
          <a:xfrm rot="0" flipH="0" flipV="0">
            <a:off x="7543800" y="4019550"/>
            <a:ext cx="28575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8286750" y="4181475"/>
            <a:ext cx="1371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从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 Step 1 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走到新边界</a:t>
            </a:r>
            <a:endParaRPr/>
          </a:p>
        </p:txBody>
      </p:sp>
      <p:sp>
        <p:nvSpPr>
          <p:cNvPr id="625" name=""/>
          <p:cNvSpPr/>
          <p:nvPr/>
        </p:nvSpPr>
        <p:spPr>
          <a:xfrm rot="0" flipH="0" flipV="0">
            <a:off x="609600" y="4943475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26" name=""/>
          <p:cNvSpPr/>
          <p:nvPr/>
        </p:nvSpPr>
        <p:spPr>
          <a:xfrm rot="0" flipH="0" flipV="0">
            <a:off x="819150" y="5076825"/>
            <a:ext cx="3810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1009650" y="5143500"/>
            <a:ext cx="103632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分叉点在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run_id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：沿用原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run_id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的是续跑，新建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run_id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的是重跑。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run_id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>attempt_id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、恢复边界三个值，暂停前后各记一次。</a:t>
            </a:r>
            <a:endParaRPr/>
          </a:p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暂停、取消、续跑与重跑</a:t>
            </a:r>
            <a:endParaRPr/>
          </a:p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05 / 24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630" name="" descr="&lt;Slide notes={`这两件事在验收上不能互相代替。&#10;&#10;续跑要证明的是恢复准不准：身份有没有接上、恢复边界对不对、有没有把已经提交过的步骤再做一遍。它不回答“再跑一次结果会不会一样”。&#10;&#10;重跑要证明的是另一件事：在相同输入下重新执行会发生什么。即使输入和随机种子完全相同，再次调用远程模型也未必产生完全相同的文本和行为。&#10;&#10;所以一次续跑成功，不能拿来当作重跑结果一致的证据；反过来，重跑能跑通，也不能说明恢复边界是准的。&#10;&#10;写验收记录的时候，我会把这两类结论分开写，各自附上暂停前后和恢复前后的原始值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0.1　Run 与 Attempt 为什么需要分开&lt;/Text&gt;&#10;            &lt;Text style={{ fontSize: 34, fontWeight: 'bold', color: '#20344B' }}&gt;续跑与重跑不能互相代替&lt;/Text&gt;&#10;        &lt;/Box&gt;&#10;    &lt;/Box&gt;&#10;&#10;    &lt;Box style={{ height: 540, flexDirection: 'row', alignItems: 'center', gap: 32 }}&gt;&#10;&#10;        &lt;Box style={{ width: 480, flexDirection: 'column', gap: 18 }}&gt;&#10;            &lt;Text style={{ fontSize: 17, color: '#546779', lineHeight: 1.75, width: 480 }}&gt;两条路都能叫“再运行一次”，但它们产生的证据属于不同的问题，各自都要单独记录。&lt;/Text&gt;&#10;            &lt;Box style={{ width: 480, height: 150, background: '#FFF4E6', borderRadius: 10, padding: '16px 20px', flexDirection: 'column', gap: 6, justifyContent: 'center' }}&gt;&#10;                &lt;Text style={{ fontSize: 18, fontWeight: 'bold', color: '#CB6B28' }}&gt;别把结论串号&lt;/Text&gt;&#10;                &lt;Text style={{ fontSize: 15, color: '#546779', lineHeight: 1.6 }}&gt;重跑结果与旧 Run 是两段历史。即使输入相同，也不能把两次运行合并成一条记录。&lt;/Text&gt;&#10;            &lt;/Box&gt;&#10;        &lt;/Box&gt;&#10;&#10;        &lt;Box style={{ width: 640, flexDirection: 'column', gap: 12 }}&gt;&#10;&#10;            &lt;Box style={{ width: 640, height: 132, background: '#EDF4FC', borderRadius: 10, padding: '16px 20px', flexDirection: 'column', gap: 6, justifyContent: 'center' }}&gt;&#10;                &lt;Text style={{ fontSize: 18, fontWeight: 'bold', color: '#276FBF' }}&gt;续跑能证明什么&lt;/Text&gt;&#10;                &lt;Text style={{ fontSize: 15, color: '#546779', lineHeight: 1.6 }}&gt;run_id 接得上、Attempt 已更换、恢复边界落在 k、第一次新提交是 k+1；已经提交的动作没有重复。&lt;/Text&gt;&#10;            &lt;/Box&gt;&#10;&#10;            &lt;Box style={{ width: 640, height: 132, background: '#ECF7F2', borderRadius: 10, padding: '16px 20px', flexDirection: 'column', gap: 6, justifyContent: 'center' }}&gt;&#10;                &lt;Text style={{ fontSize: 18, fontWeight: 'bold', color: '#26816B' }}&gt;重跑能证明什么&lt;/Text&gt;&#10;                &lt;Text style={{ fontSize: 15, color: '#546779', lineHeight: 1.6 }}&gt;在相同的封存输入下重新执行会发生什么；新的 Run 从 Step 1 开始，产生属于自己的历史。&lt;/Text&gt;&#10;            &lt;/Box&gt;&#10;&#10;            &lt;Box style={{ flexDirection: 'row', gap: 16, background: '#FFF4E6', borderRadius: 10, padding: '16px 22px', alignItems: 'center' }}&gt;&#10;                &lt;Box style={{ width: 4, height: 58, background: '#CB6B28' }} /&gt;&#10;                &lt;Text style={{ fontSize: 15, color: '#546779', flex: 1, lineHeight: 1.6 }}&gt;续跑跑通，不能说明重跑结果一致；重跑跑通，也不能说明恢复边界是准的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10 暂停、取消、续跑与重跑&lt;/Text&gt;&#10;        &lt;Text style={{ fontSize: 14, color: '#546779' }}&gt;06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3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3.10.1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Run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Attempt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为什么需要分开</a:t>
            </a:r>
            <a:endParaRPr/>
          </a:p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续跑与重跑不能互相代替</a:t>
            </a:r>
            <a:endParaRPr/>
          </a:p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609600" y="2571750"/>
            <a:ext cx="45720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两条路都能叫“再运行一次”，但它们产生的证据属于不同的问题，各自都要单独记录。</a:t>
            </a:r>
            <a:endParaRPr/>
          </a:p>
        </p:txBody>
      </p:sp>
      <p:sp>
        <p:nvSpPr>
          <p:cNvPr id="636" name=""/>
          <p:cNvSpPr/>
          <p:nvPr/>
        </p:nvSpPr>
        <p:spPr>
          <a:xfrm rot="0" flipH="0" flipV="0">
            <a:off x="609600" y="3429000"/>
            <a:ext cx="4572000" cy="1428750"/>
          </a:xfrm>
          <a:prstGeom prst="roundRect">
            <a:avLst>
              <a:gd name="adj" fmla="val 666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800100" y="3733800"/>
            <a:ext cx="4191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别把结论串号</a:t>
            </a:r>
            <a:endParaRPr/>
          </a:p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800100" y="4000500"/>
            <a:ext cx="41910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重跑结果与旧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是两段历史。即使输入相同，也不能把两次运行合并成一条记录。</a:t>
            </a:r>
            <a:endParaRPr/>
          </a:p>
        </p:txBody>
      </p:sp>
      <p:sp>
        <p:nvSpPr>
          <p:cNvPr id="639" name=""/>
          <p:cNvSpPr/>
          <p:nvPr/>
        </p:nvSpPr>
        <p:spPr>
          <a:xfrm rot="0" flipH="0" flipV="0">
            <a:off x="5486400" y="1914525"/>
            <a:ext cx="6096000" cy="1257300"/>
          </a:xfrm>
          <a:prstGeom prst="roundRect">
            <a:avLst>
              <a:gd name="adj" fmla="val 757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5676900" y="2133600"/>
            <a:ext cx="5715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续跑能证明什么</a:t>
            </a:r>
            <a:endParaRPr/>
          </a:p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5676900" y="2400300"/>
            <a:ext cx="57150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run_id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接得上、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Attempt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已更换、恢复边界落在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k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、第一次新提交是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k+1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；已经提交的动作没有重复。</a:t>
            </a:r>
            <a:endParaRPr/>
          </a:p>
        </p:txBody>
      </p:sp>
      <p:sp>
        <p:nvSpPr>
          <p:cNvPr id="642" name=""/>
          <p:cNvSpPr/>
          <p:nvPr/>
        </p:nvSpPr>
        <p:spPr>
          <a:xfrm rot="0" flipH="0" flipV="0">
            <a:off x="5486400" y="3286125"/>
            <a:ext cx="6096000" cy="1257300"/>
          </a:xfrm>
          <a:prstGeom prst="roundRect">
            <a:avLst>
              <a:gd name="adj" fmla="val 757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5676900" y="3505200"/>
            <a:ext cx="5715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重跑能证明什么</a:t>
            </a:r>
            <a:endParaRPr/>
          </a:p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5676900" y="3771900"/>
            <a:ext cx="57150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在相同的封存输入下重新执行会发生什么；新的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从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Step 1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开始，产生属于自己的历史。</a:t>
            </a:r>
            <a:endParaRPr/>
          </a:p>
        </p:txBody>
      </p:sp>
      <p:sp>
        <p:nvSpPr>
          <p:cNvPr id="645" name=""/>
          <p:cNvSpPr/>
          <p:nvPr/>
        </p:nvSpPr>
        <p:spPr>
          <a:xfrm rot="0" flipH="0" flipV="0">
            <a:off x="5486400" y="4657725"/>
            <a:ext cx="6096000" cy="857250"/>
          </a:xfrm>
          <a:prstGeom prst="roundRect">
            <a:avLst>
              <a:gd name="adj" fmla="val 1111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46" name=""/>
          <p:cNvSpPr/>
          <p:nvPr/>
        </p:nvSpPr>
        <p:spPr>
          <a:xfrm rot="0" flipH="0" flipV="0">
            <a:off x="5695950" y="4810125"/>
            <a:ext cx="38100" cy="5524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5886450" y="4953000"/>
            <a:ext cx="54864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续跑跑通，不能说明重跑结果一致；重跑跑通，也不能说明恢复边界是准的。</a:t>
            </a:r>
            <a:endParaRPr/>
          </a:p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暂停、取消、续跑与重跑</a:t>
            </a:r>
            <a:endParaRPr/>
          </a:p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06 / 24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650" name="" descr="&lt;Slide notes={`这里有一个时序上的细节很容易被跳过。&#10;&#10;底层的创建操作只创建 Run，这时候很可能还没有 Attempt；要等真正进入执行器，系统才会生成第一个 Attempt，从第一步开始。所以看到“创建成功”，只能说明这次运行已经被登记，不能说明它已经开始执行。&#10;&#10;重跑的时候还可以记录 origin_run_id，用来说明这次运行是从哪一次派生出来的。&#10;&#10;但要注意，origin_run_id 只说明来源，不代表两个 Run 是同一次运行。它们的 run_id 不同，历史就是两段，记录和统计也不能合并。&#10;&#10;把创建、执行、派生这三件事分开记，后面的排查才有依据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0.1　Run 与 Attempt 为什么需要分开&lt;/Text&gt;&#10;            &lt;Text style={{ fontSize: 34, fontWeight: 'bold', color: '#20344B' }}&gt;创建成功，不等于开始执行&lt;/Text&gt;&#10;        &lt;/Box&gt;&#10;    &lt;/Box&gt;&#10;&#10;    &lt;Box style={{ height: 540, flexDirection: 'row', alignItems: 'center', gap: 32 }}&gt;&#10;&#10;        &lt;Box style={{ width: 712, flexDirection: 'column', gap: 14 }}&gt;&#10;&#10;            &lt;Box style={{ width: 712, height: 118, background: '#F4F7FA', borderRadius: 10, padding: '0 22px', flexDirection: 'row', alignItems: 'center', gap: 18 }}&gt;&#10;                &lt;Box style={{ width: 4, height: 60, background: '#B5C7D8' }} /&gt;&#10;                &lt;Box style={{ flexDirection: 'column', gap: 5 }}&gt;&#10;                    &lt;Text style={{ fontSize: 18, fontWeight: 'bold', color: '#20344B' }}&gt;create 只创建 Run&lt;/Text&gt;&#10;                    &lt;Text style={{ fontSize: 15, color: '#546779', lineHeight: 1.6 }}&gt;这一步登记了一段具有固定输入和请求步数的仿真，还未必有 Attempt。&lt;/Text&gt;&#10;                &lt;/Box&gt;&#10;            &lt;/Box&gt;&#10;&#10;            &lt;Box style={{ width: 712, height: 118, background: '#EDF4FC', borderRadius: 10, padding: '0 22px', flexDirection: 'row', alignItems: 'center', gap: 18 }}&gt;&#10;                &lt;Box style={{ width: 4, height: 60, background: '#276FBF' }} /&gt;&#10;                &lt;Box style={{ flexDirection: 'column', gap: 5 }}&gt;&#10;                    &lt;Text style={{ fontSize: 18, fontWeight: 'bold', color: '#276FBF' }}&gt;进入执行器才建立 Attempt&lt;/Text&gt;&#10;                    &lt;Text style={{ fontSize: 15, color: '#546779', lineHeight: 1.6 }}&gt;真正的第一次执行发生时，才生成首个 Attempt，从 Step 1 开始推进。&lt;/Text&gt;&#10;                &lt;/Box&gt;&#10;            &lt;/Box&gt;&#10;&#10;            &lt;Box style={{ width: 712, height: 118, background: '#ECF7F2', borderRadius: 10, padding: '0 22px', flexDirection: 'row', alignItems: 'center', gap: 18 }}&gt;&#10;                &lt;Box style={{ width: 4, height: 60, background: '#26816B' }} /&gt;&#10;                &lt;Box style={{ flexDirection: 'column', gap: 5 }}&gt;&#10;                    &lt;Text style={{ fontSize: 18, fontWeight: 'bold', color: '#26816B' }}&gt;重跑可以留下 origin_run_id&lt;/Text&gt;&#10;                    &lt;Text style={{ fontSize: 15, color: '#546779', lineHeight: 1.6 }}&gt;它说明这次运行来自哪一次派生，是一条可追溯的来源线索。&lt;/Text&gt;&#10;                &lt;/Box&gt;&#10;            &lt;/Box&gt;&#10;&#10;        &lt;/Box&gt;&#10;&#10;        &lt;Box style={{ width: 408, flexDirection: 'column', gap: 14 }}&gt;&#10;            &lt;Box style={{ width: 408, height: 176, background: '#F7F3E8', borderRadius: 10, padding: '18px 22px', flexDirection: 'column', gap: 8, justifyContent: 'center' }}&gt;&#10;                &lt;Text style={{ fontSize: 18, fontWeight: 'bold', color: '#20344B' }}&gt;两个 Run，两段历史&lt;/Text&gt;&#10;                &lt;Text style={{ fontSize: 15, color: '#546779', lineHeight: 1.65 }}&gt;run_id 不同，说明它们是两段独立的历史。记录、统计与结论都不能因为共享输入就合并在一起。&lt;/Text&gt;&#10;            &lt;/Box&gt;&#10;            &lt;Box style={{ width: 408, height: 152, background: '#FFF4E6', borderRadius: 10, padding: '18px 22px', flexDirection: 'column', gap: 8, justifyContent: 'center' }}&gt;&#10;                &lt;Text style={{ fontSize: 18, fontWeight: 'bold', color: '#CB6B28' }}&gt;来源不等于同一次运行&lt;/Text&gt;&#10;                &lt;Text style={{ fontSize: 15, color: '#546779', lineHeight: 1.65 }}&gt;origin_run_id 只回答“从哪来”，不能因此把两个 Run 当成一个历史来看待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0 暂停、取消、续跑与重跑&lt;/Text&gt;&#10;        &lt;Text style={{ fontSize: 14, color: '#546779' }}&gt;07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3.10.1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Run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Attempt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为什么需要分开</a:t>
            </a:r>
            <a:endParaRPr/>
          </a:p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创建成功，不等于开始执行</a:t>
            </a:r>
            <a:endParaRPr/>
          </a:p>
        </p:txBody>
      </p:sp>
      <p:sp>
        <p:nvSpPr>
          <p:cNvPr id="655" name=""/>
          <p:cNvSpPr/>
          <p:nvPr/>
        </p:nvSpPr>
        <p:spPr>
          <a:xfrm rot="0" flipH="0" flipV="0">
            <a:off x="609600" y="1895475"/>
            <a:ext cx="6781800" cy="1123950"/>
          </a:xfrm>
          <a:prstGeom prst="roundRect">
            <a:avLst>
              <a:gd name="adj" fmla="val 847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56" name=""/>
          <p:cNvSpPr/>
          <p:nvPr/>
        </p:nvSpPr>
        <p:spPr>
          <a:xfrm rot="0" flipH="0" flipV="0">
            <a:off x="819150" y="2171700"/>
            <a:ext cx="38100" cy="57150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1028700" y="2190750"/>
            <a:ext cx="4610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create 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只创建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</a:t>
            </a:r>
            <a:endParaRPr/>
          </a:p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1028700" y="2447925"/>
            <a:ext cx="46101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这一步登记了一段具有固定输入和请求步数的仿真，还未必有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Attempt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659" name=""/>
          <p:cNvSpPr/>
          <p:nvPr/>
        </p:nvSpPr>
        <p:spPr>
          <a:xfrm rot="0" flipH="0" flipV="0">
            <a:off x="609600" y="3152775"/>
            <a:ext cx="6781800" cy="1123950"/>
          </a:xfrm>
          <a:prstGeom prst="roundRect">
            <a:avLst>
              <a:gd name="adj" fmla="val 847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60" name=""/>
          <p:cNvSpPr/>
          <p:nvPr/>
        </p:nvSpPr>
        <p:spPr>
          <a:xfrm rot="0" flipH="0" flipV="0">
            <a:off x="819150" y="3429000"/>
            <a:ext cx="38100" cy="571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1028700" y="3448050"/>
            <a:ext cx="4552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进入执行器才建立</a:t>
            </a:r>
            <a:r>
              <a:rPr lang="en-US" sz="135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Attempt</a:t>
            </a:r>
            <a:endParaRPr/>
          </a:p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1028700" y="3705225"/>
            <a:ext cx="45529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真正的第一次执行发生时，才生成首个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Attempt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，从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Step 1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开始推进。</a:t>
            </a:r>
            <a:endParaRPr/>
          </a:p>
        </p:txBody>
      </p:sp>
      <p:sp>
        <p:nvSpPr>
          <p:cNvPr id="663" name=""/>
          <p:cNvSpPr/>
          <p:nvPr/>
        </p:nvSpPr>
        <p:spPr>
          <a:xfrm rot="0" flipH="0" flipV="0">
            <a:off x="609600" y="4410075"/>
            <a:ext cx="6781800" cy="1123950"/>
          </a:xfrm>
          <a:prstGeom prst="roundRect">
            <a:avLst>
              <a:gd name="adj" fmla="val 847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64" name=""/>
          <p:cNvSpPr/>
          <p:nvPr/>
        </p:nvSpPr>
        <p:spPr>
          <a:xfrm rot="0" flipH="0" flipV="0">
            <a:off x="819150" y="4686300"/>
            <a:ext cx="38100" cy="5715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1028700" y="4705350"/>
            <a:ext cx="38576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重跑可以留下</a:t>
            </a: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origin_run_id</a:t>
            </a:r>
            <a:endParaRPr/>
          </a:p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1028700" y="4962525"/>
            <a:ext cx="385762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它说明这次运行来自哪一次派生，是一条可追溯的来源线索。</a:t>
            </a:r>
            <a:endParaRPr/>
          </a:p>
        </p:txBody>
      </p:sp>
      <p:sp>
        <p:nvSpPr>
          <p:cNvPr id="667" name=""/>
          <p:cNvSpPr/>
          <p:nvPr/>
        </p:nvSpPr>
        <p:spPr>
          <a:xfrm rot="0" flipH="0" flipV="0">
            <a:off x="7696200" y="2085975"/>
            <a:ext cx="3886200" cy="1676400"/>
          </a:xfrm>
          <a:prstGeom prst="roundRect">
            <a:avLst>
              <a:gd name="adj" fmla="val 5682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668" name="" descr="{&quot;isTemplate&quot;:true,&quot;type&quot;:&quot;text&quot;}"/>
          <p:cNvSpPr txBox="1"/>
          <p:nvPr/>
        </p:nvSpPr>
        <p:spPr>
          <a:xfrm rot="0" flipH="0" flipV="0">
            <a:off x="7905750" y="2495550"/>
            <a:ext cx="3467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两个</a:t>
            </a:r>
            <a:r>
              <a:rPr lang="en-US" sz="13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，两段历史</a:t>
            </a:r>
            <a:endParaRPr/>
          </a:p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7905750" y="2781300"/>
            <a:ext cx="34671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run_id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不同，说明它们是两段独立的历史。记录、统计与结论都不能因为共享输入就合并在一起。</a:t>
            </a:r>
            <a:endParaRPr/>
          </a:p>
        </p:txBody>
      </p:sp>
      <p:sp>
        <p:nvSpPr>
          <p:cNvPr id="670" name=""/>
          <p:cNvSpPr/>
          <p:nvPr/>
        </p:nvSpPr>
        <p:spPr>
          <a:xfrm rot="0" flipH="0" flipV="0">
            <a:off x="7696200" y="3895725"/>
            <a:ext cx="3886200" cy="1447800"/>
          </a:xfrm>
          <a:prstGeom prst="roundRect">
            <a:avLst>
              <a:gd name="adj" fmla="val 657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7905750" y="4191000"/>
            <a:ext cx="3467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来源不等于同一次运行</a:t>
            </a:r>
            <a:endParaRPr/>
          </a:p>
        </p:txBody>
      </p:sp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7905750" y="4476750"/>
            <a:ext cx="34671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origin_run_id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只回答“从哪来”，不能因此把两个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当成一个历史来看待。</a:t>
            </a:r>
            <a:endParaRPr/>
          </a:p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暂停、取消、续跑与重跑</a:t>
            </a:r>
            <a:endParaRPr/>
          </a:p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07 / 24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675" name="" descr="&lt;Slide notes={`接下来换一个角度：边界从哪里开始算。&#10;&#10;模型在计算下一步的时候，可能已经产生了一些日志和临时文本，但只要这一帧还没有提交，它就不进入回放可见的事实。回放看得到的东西，只到最后一个已提交的边界为止。&#10;&#10;所以恢复的时候，不能把这些临时产生的文本当成已经完成的动作来重建。系统会核验 Run、Attempt、Step、虚拟时间、成员文件和帧哈希是否相符，全部对上了才允许恢复。&#10;&#10;这条边界决定了后面所有操作的判断口径：先看提交到哪一步，再看能不能恢复；最新已提交边界的完整快照不在，就不能往下接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②　　3.10.2&lt;/Text&gt;&#10;&#10;        &lt;Text style={{ fontSize: 56, fontWeight: 'bold', color: '#20344B', lineHeight: 1.15 }}&gt;系统认的是{'\n'}已提交的事实&lt;/Text&gt;&#10;&#10;        &lt;Box style={{ width: 72, height: 4, background: '#276FBF' }} /&gt;&#10;&#10;        &lt;Text style={{ fontSize: 18, color: '#546779', lineHeight: 1.7, width: 900 }}&gt;最后一帧提交到哪一步，恢复就从哪里接上；没有被提交的画面进度和临时文本都不算数。&lt;/Text&gt;&#10;&#10;        &lt;Box style={{ flexDirection: 'row', alignItems: 'center', marginTop: 10 }}&gt;&#10;            &lt;Box style={{ width: 300, height: 64, background: '#EDF4FC', borderRadius: 8, justifyContent: 'center', alignItems: 'center' }}&gt;&#10;                &lt;Text style={{ fontSize: 18, color: '#276FBF' }}&gt;已提交到 k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00, height: 64, background: '#ECF7F2', borderRadius: 8, justifyContent: 'center', alignItems: 'center' }}&gt;&#10;                &lt;Text style={{ fontSize: 18, color: '#26816B' }}&gt;核验恢复快照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300, height: 64, background: '#ECF7F2', borderRadius: 8, justifyContent: 'center', alignItems: 'center' }}&gt;&#10;                &lt;Text style={{ fontSize: 18, color: '#26816B' }}&gt;新 Attempt 从 k 接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0 暂停、取消、续跑与重跑&lt;/Text&gt;&#10;        &lt;Text style={{ fontSize: 14, color: '#546779' }}&gt;08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609600" y="14478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②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3.10.2</a:t>
            </a:r>
            <a:endParaRPr/>
          </a:p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609600" y="1828800"/>
            <a:ext cx="10972800" cy="14763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系统认的是</a:t>
            </a:r>
            <a:endParaRPr/>
          </a:p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已提交的事实</a:t>
            </a:r>
            <a:endParaRPr/>
          </a:p>
        </p:txBody>
      </p:sp>
      <p:sp>
        <p:nvSpPr>
          <p:cNvPr id="679" name=""/>
          <p:cNvSpPr/>
          <p:nvPr/>
        </p:nvSpPr>
        <p:spPr>
          <a:xfrm rot="0" flipH="0" flipV="0">
            <a:off x="609600" y="351472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609600" y="376237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最后一帧提交到哪一步，恢复就从哪里接上；没有被提交的画面进度和临时文本都不算数。</a:t>
            </a:r>
            <a:endParaRPr/>
          </a:p>
        </p:txBody>
      </p:sp>
      <p:sp>
        <p:nvSpPr>
          <p:cNvPr id="681" name=""/>
          <p:cNvSpPr/>
          <p:nvPr/>
        </p:nvSpPr>
        <p:spPr>
          <a:xfrm rot="0" flipH="0" flipV="0">
            <a:off x="609600" y="441960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82" name="" descr="{&quot;isTemplate&quot;:true,&quot;type&quot;:&quot;text&quot;}"/>
          <p:cNvSpPr txBox="1"/>
          <p:nvPr/>
        </p:nvSpPr>
        <p:spPr>
          <a:xfrm rot="0" flipH="0" flipV="0">
            <a:off x="1619250" y="4619625"/>
            <a:ext cx="838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已提交到</a:t>
            </a:r>
            <a:r>
              <a:rPr lang="en-US" sz="1350">
                <a:solidFill>
                  <a:srgbClr val="276FBF"/>
                </a:solidFill>
                <a:latin typeface="Microsoft YaHei"/>
                <a:ea typeface="Microsoft YaHei"/>
              </a:rPr>
              <a:t xml:space="preserve"> k</a:t>
            </a:r>
            <a:endParaRPr/>
          </a:p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3638550" y="45720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84" name=""/>
          <p:cNvSpPr/>
          <p:nvPr/>
        </p:nvSpPr>
        <p:spPr>
          <a:xfrm rot="0" flipH="0" flipV="0">
            <a:off x="3886200" y="441960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4800600" y="4619625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核验恢复快照</a:t>
            </a:r>
            <a:endParaRPr/>
          </a:p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6915150" y="45720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87" name=""/>
          <p:cNvSpPr/>
          <p:nvPr/>
        </p:nvSpPr>
        <p:spPr>
          <a:xfrm rot="0" flipH="0" flipV="0">
            <a:off x="7162800" y="441960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88" name="" descr="{&quot;isTemplate&quot;:true,&quot;type&quot;:&quot;text&quot;}"/>
          <p:cNvSpPr txBox="1"/>
          <p:nvPr/>
        </p:nvSpPr>
        <p:spPr>
          <a:xfrm rot="0" flipH="0" flipV="0">
            <a:off x="7848600" y="4619625"/>
            <a:ext cx="14954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新</a:t>
            </a:r>
            <a:r>
              <a:rPr lang="en-US" sz="1350">
                <a:solidFill>
                  <a:srgbClr val="26816B"/>
                </a:solidFill>
                <a:latin typeface="Microsoft YaHei"/>
                <a:ea typeface="Microsoft YaHei"/>
              </a:rPr>
              <a:t xml:space="preserve"> Attempt </a:t>
            </a: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从</a:t>
            </a:r>
            <a:r>
              <a:rPr lang="en-US" sz="1350">
                <a:solidFill>
                  <a:srgbClr val="26816B"/>
                </a:solidFill>
                <a:latin typeface="Microsoft YaHei"/>
                <a:ea typeface="Microsoft YaHei"/>
              </a:rPr>
              <a:t xml:space="preserve"> k </a:t>
            </a: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接</a:t>
            </a:r>
            <a:endParaRPr/>
          </a:p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暂停、取消、续跑与重跑</a:t>
            </a:r>
            <a:endParaRPr/>
          </a:p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08 / 24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691" name="" descr="&lt;Slide notes={`很多人判断进度是看画面：谁走到哪了、谁说了什么。但系统判断的是另外一套东西。&#10;&#10;假设最后完整提交的是第 k 步，模型已经开始计算第 k 加 1 步。这时候界面上可能出现新的日志，甚至出现一段临时的文本，但这些都是还没提交的计算。&#10;&#10;回放能看到的可见事实仍然只到第 k 步。第 k 加 1 步的那部分内容，不能作为已经完成的动作被重建出来。&#10;&#10;我把这个区别当成一条纪律：任何关于“已经发生了什么”的结论，都要回到已提交边界上找依据，而不是回到画面上找。画面可以用来发现问题，但不能用来下结论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0.2　已提交边界比画面进度更重要&lt;/Text&gt;&#10;            &lt;Text style={{ fontSize: 34, fontWeight: 'bold', color: '#20344B' }}&gt;画面上有，不等于已提交&lt;/Text&gt;&#10;        &lt;/Box&gt;&#10;    &lt;/Box&gt;&#10;&#10;    &lt;Box style={{ height: 540, flexDirection: 'row', alignItems: 'center', gap: 32 }}&gt;&#10;&#10;        &lt;Box style={{ width: 500, flexDirection: 'column', gap: 18 }}&gt;&#10;            &lt;Text style={{ fontSize: 17, color: '#546779', lineHeight: 1.75, width: 500 }}&gt;模型已经开始算下一步，界面可能已经能看到新的痕迹；但只要这一帧没有提交，它就不属于可见事实。&lt;/Text&gt;&#10;            &lt;Box style={{ width: 500, height: 178, background: '#FFF4E6', borderRadius: 10, padding: '18px 22px', flexDirection: 'column', gap: 8, justifyContent: 'center' }}&gt;&#10;                &lt;Text style={{ fontSize: 18, fontWeight: 'bold', color: '#CB6B28' }}&gt;未提交的计算&lt;/Text&gt;&#10;                &lt;Text style={{ fontSize: 15, color: '#546779', lineHeight: 1.65 }}&gt;第 k+1 步的计算结果、日志与临时文本都还没有提交，不能作为已经完成的动作被重建。&lt;/Text&gt;&#10;            &lt;/Box&gt;&#10;        &lt;/Box&gt;&#10;&#10;        &lt;Box style={{ width: 620, flexDirection: 'column', gap: 12 }}&gt;&#10;&#10;            &lt;Box style={{ width: 620, height: 134, background: '#F4F7FA', borderRadius: 10, padding: '18px 22px', flexDirection: 'column', gap: 6, justifyContent: 'center' }}&gt;&#10;                &lt;Text style={{ fontSize: 15, fontWeight: 'bold', color: '#546779' }}&gt;画面上可能看到&lt;/Text&gt;&#10;                &lt;Text style={{ fontSize: 16, color: '#20344B', lineHeight: 1.6 }}&gt;第 k+1 步正在计算的迹象、运行日志、尚未定稿的临时文本&lt;/Text&gt;&#10;            &lt;/Box&gt;&#10;&#10;            &lt;Box style={{ width: 620, height: 36, justifyContent: 'center', alignItems: 'center' }}&gt;&#10;                &lt;Text style={{ fontSize: 20, color: '#546779' }}&gt;↓&lt;/Text&gt;&#10;            &lt;/Box&gt;&#10;&#10;            &lt;Box style={{ width: 620, height: 134, background: '#EDF4FC', borderRadius: 10, padding: '18px 22px', flexDirection: 'column', gap: 6, justifyContent: 'center' }}&gt;&#10;                &lt;Text style={{ fontSize: 15, fontWeight: 'bold', color: '#276FBF' }}&gt;回放可见的事实&lt;/Text&gt;&#10;                &lt;Text style={{ fontSize: 16, color: '#20344B', lineHeight: 1.6 }}&gt;只到已经提交的第 k 步；恢复也只能从这个边界往下接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10 暂停、取消、续跑与重跑&lt;/Text&gt;&#10;        &lt;Text style={{ fontSize: 14, color: '#546779' }}&gt;09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9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9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3.10.2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已提交边界比画面进度更重要</a:t>
            </a:r>
            <a:endParaRPr/>
          </a:p>
        </p:txBody>
      </p:sp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画面上有，不等于已提交</a:t>
            </a:r>
            <a:endParaRPr/>
          </a:p>
        </p:txBody>
      </p:sp>
      <p:sp>
        <p:nvSpPr>
          <p:cNvPr id="696" name="" descr="{&quot;isTemplate&quot;:true,&quot;type&quot;:&quot;text&quot;}"/>
          <p:cNvSpPr txBox="1"/>
          <p:nvPr/>
        </p:nvSpPr>
        <p:spPr>
          <a:xfrm rot="0" flipH="0" flipV="0">
            <a:off x="609600" y="2438400"/>
            <a:ext cx="47625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模型已经开始算下一步，界面可能已经能看到新的痕迹；但只要这一帧没有提交，它就不属于可见事实。</a:t>
            </a:r>
            <a:endParaRPr/>
          </a:p>
        </p:txBody>
      </p:sp>
      <p:sp>
        <p:nvSpPr>
          <p:cNvPr id="697" name=""/>
          <p:cNvSpPr/>
          <p:nvPr/>
        </p:nvSpPr>
        <p:spPr>
          <a:xfrm rot="0" flipH="0" flipV="0">
            <a:off x="609600" y="3295650"/>
            <a:ext cx="4762500" cy="1695450"/>
          </a:xfrm>
          <a:prstGeom prst="roundRect">
            <a:avLst>
              <a:gd name="adj" fmla="val 561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819150" y="3714750"/>
            <a:ext cx="4343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未提交的计算</a:t>
            </a:r>
            <a:endParaRPr/>
          </a:p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819150" y="4000500"/>
            <a:ext cx="43434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k+1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步的计算结果、日志与临时文本都还没有提交，不能作为已经完成的动作被重建。</a:t>
            </a:r>
            <a:endParaRPr/>
          </a:p>
        </p:txBody>
      </p:sp>
      <p:sp>
        <p:nvSpPr>
          <p:cNvPr id="700" name=""/>
          <p:cNvSpPr/>
          <p:nvPr/>
        </p:nvSpPr>
        <p:spPr>
          <a:xfrm rot="0" flipH="0" flipV="0">
            <a:off x="5676900" y="2152650"/>
            <a:ext cx="5905500" cy="1276350"/>
          </a:xfrm>
          <a:prstGeom prst="roundRect">
            <a:avLst>
              <a:gd name="adj" fmla="val 746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701" name="" descr="{&quot;isTemplate&quot;:true,&quot;type&quot;:&quot;text&quot;}"/>
          <p:cNvSpPr txBox="1"/>
          <p:nvPr/>
        </p:nvSpPr>
        <p:spPr>
          <a:xfrm rot="0" flipH="0" flipV="0">
            <a:off x="5886450" y="2533650"/>
            <a:ext cx="5486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画面上可能看到</a:t>
            </a:r>
            <a:endParaRPr/>
          </a:p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5886450" y="2762250"/>
            <a:ext cx="54864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k+1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步正在计算的迹象、运行日志、尚未定稿的临时文本</a:t>
            </a:r>
            <a:endParaRPr/>
          </a:p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8582025" y="360045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546779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704" name=""/>
          <p:cNvSpPr/>
          <p:nvPr/>
        </p:nvSpPr>
        <p:spPr>
          <a:xfrm rot="0" flipH="0" flipV="0">
            <a:off x="5676900" y="4000500"/>
            <a:ext cx="5905500" cy="1276350"/>
          </a:xfrm>
          <a:prstGeom prst="roundRect">
            <a:avLst>
              <a:gd name="adj" fmla="val 746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5886450" y="4381500"/>
            <a:ext cx="5486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回放可见的事实</a:t>
            </a:r>
            <a:endParaRPr/>
          </a:p>
        </p:txBody>
      </p:sp>
      <p:sp>
        <p:nvSpPr>
          <p:cNvPr id="706" name="" descr="{&quot;isTemplate&quot;:true,&quot;type&quot;:&quot;text&quot;}"/>
          <p:cNvSpPr txBox="1"/>
          <p:nvPr/>
        </p:nvSpPr>
        <p:spPr>
          <a:xfrm rot="0" flipH="0" flipV="0">
            <a:off x="5886450" y="4610100"/>
            <a:ext cx="54864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只到已经提交的第</a:t>
            </a:r>
            <a:r>
              <a:rPr lang="en-US" sz="1200">
                <a:solidFill>
                  <a:srgbClr val="20344B"/>
                </a:solidFill>
                <a:latin typeface="Microsoft YaHei"/>
                <a:ea typeface="Microsoft YaHei"/>
              </a:rPr>
              <a:t xml:space="preserve"> k </a:t>
            </a:r>
            <a:r>
              <a:rPr lang="zh-CN" sz="1200">
                <a:solidFill>
                  <a:srgbClr val="20344B"/>
                </a:solidFill>
                <a:latin typeface="Microsoft YaHei"/>
                <a:ea typeface="Microsoft YaHei"/>
              </a:rPr>
              <a:t>步；恢复也只能从这个边界往下接</a:t>
            </a:r>
            <a:endParaRPr/>
          </a:p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暂停、取消、续跑与重跑</a:t>
            </a:r>
            <a:endParaRPr/>
          </a:p>
        </p:txBody>
      </p:sp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 / 24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40" name="" descr="&lt;Slide notes={`把已提交的事实按步排开，判断就落在边界上。&#10;&#10;前面这些帧都已经提交，最后完整提交到第 k 步。第 k 加 1 步还在计算，还没有提交，所以它不在这条已提交的带上。&#10;&#10;系统要问的问题是：最新的已提交边界 k，有没有完整且一致的恢复快照。注意问的是最新边界，不是目录里随便一个更早的快照。&#10;&#10;如果有，就新建一个 Attempt 从 k 恢复，下一次提交是 k 加 1。如果没有，就给出诊断，说明缺失或者不一致，而不是悄悄退回到更早的边界上继续。&#10;&#10;未提交的计算和临时文本不会进入回放事实，也不能被当成已经完成的动作重建出来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0.2　已提交边界比画面进度更重要&lt;/Text&gt;&#10;            &lt;Text style={{ fontSize: 34, fontWeight: 'bold', color: '#20344B' }}&gt;恢复要对准最新已提交边界&lt;/Text&gt;&#10;        &lt;/Box&gt;&#10;    &lt;/Box&gt;&#10;&#10;    &lt;Box style={{ height: 540, flexDirection: 'column', justifyContent: 'center', gap: 16 }}&gt;&#10;&#10;        &lt;Box style={{ width: 1152, height: 372, background: '#F4F7FA', borderRadius: 12, padding: '16px 20px', flexDirection: 'column', gap: 16, justifyContent: 'center' }}&gt;&#10;&#10;            &lt;Box style={{ flexDirection: 'row', alignItems: 'center', gap: 14 }}&gt;&#10;                &lt;Text style={{ fontSize: 14, fontWeight: 'bold', color: '#546779' }}&gt;已提交事实：Step 1 … k&lt;/Text&gt;&#10;                &lt;Box style={{ width: 56, height: 24, background: '#FFF4E6', borderRadius: 6, justifyContent: 'center', alignItems: 'center' }}&gt;&#10;                    &lt;Text style={{ fontSize: 13, color: '#CB6B28' }}&gt;示意&lt;/Text&gt;&#10;                &lt;/Box&gt;&#10;            &lt;/Box&gt;&#10;&#10;            &lt;Box style={{ flexDirection: 'row', alignItems: 'center', gap: 14 }}&gt;&#10;                &lt;Box style={{ width: 170, height: 76, background: '#276FBF', borderRadius: 8, justifyContent: 'center', alignItems: 'center' }}&gt;&#10;                    &lt;Text style={{ fontSize: 15, color: '#FFFFFF' }}&gt;Step 1&lt;/Text&gt;&#10;                &lt;/Box&gt;&#10;                &lt;Box style={{ width: 170, height: 76, background: '#276FBF', borderRadius: 8, justifyContent: 'center', alignItems: 'center' }}&gt;&#10;                    &lt;Text style={{ fontSize: 15, color: '#FFFFFF' }}&gt;Step 2&lt;/Text&gt;&#10;                &lt;/Box&gt;&#10;                &lt;Box style={{ width: 170, height: 76, background: '#276FBF', borderRadius: 8, justifyContent: 'center', alignItems: 'center' }}&gt;&#10;                    &lt;Text style={{ fontSize: 15, color: '#FFFFFF' }}&gt;……&lt;/Text&gt;&#10;                &lt;/Box&gt;&#10;                &lt;Box style={{ width: 170, height: 76, background: '#276FBF', borderRadius: 8, justifyContent: 'center', alignItems: 'center' }}&gt;&#10;                    &lt;Text style={{ fontSize: 15, color: '#FFFFFF' }}&gt;Step k−1&lt;/Text&gt;&#10;                &lt;/Box&gt;&#10;                &lt;Box style={{ width: 170, height: 76, background: '#276FBF', borderRadius: 8, justifyContent: 'center', alignItems: 'center' }}&gt;&#10;                    &lt;Text style={{ fontSize: 15, color: '#FFFFFF' }}&gt;Step k　已提交边界&lt;/Text&gt;&#10;                &lt;/Box&gt;&#10;                &lt;Box style={{ width: 170, height: 76, background: '#FFF4E6', borderRadius: 8, justifyContent: 'center', alignItems: 'center' }}&gt;&#10;                    &lt;Text style={{ fontSize: 15, color: '#CB6B28' }}&gt;Step k+1　未提交&lt;/Text&gt;&#10;                &lt;/Box&gt;&#10;            &lt;/Box&gt;&#10;&#10;            &lt;Box style={{ width: 1112, height: 44, background: '#FFFFFF', borderRadius: 8, justifyContent: 'center', alignItems: 'center' }}&gt;&#10;                &lt;Text style={{ fontSize: 17, fontWeight: 'bold', color: '#20344B' }}&gt;最新已提交边界 k，有没有完整且一致的恢复快照？&lt;/Text&gt;&#10;            &lt;/Box&gt;&#10;&#10;            &lt;Box style={{ flexDirection: 'row', gap: 40 }}&gt;&#10;                &lt;Box style={{ width: 536, height: 112, background: '#ECF7F2', borderRadius: 10, padding: '14px 20px', flexDirection: 'column', gap: 6, justifyContent: 'center' }}&gt;&#10;                    &lt;Text style={{ fontSize: 17, fontWeight: 'bold', color: '#26816B' }}&gt;有　→　从 k 恢复&lt;/Text&gt;&#10;                    &lt;Text style={{ fontSize: 15, color: '#546779', lineHeight: 1.6 }}&gt;新 Attempt 从 k 恢复，下一次提交为 k+1。&lt;/Text&gt;&#10;                &lt;/Box&gt;&#10;                &lt;Box style={{ width: 536, height: 112, background: '#FFF4E6', borderRadius: 10, padding: '14px 20px', flexDirection: 'column', gap: 6, justifyContent: 'center' }}&gt;&#10;                    &lt;Text style={{ fontSize: 17, fontWeight: 'bold', color: '#CB6B28' }}&gt;没有　→　给出诊断&lt;/Text&gt;&#10;                    &lt;Text style={{ fontSize: 15, color: '#546779', lineHeight: 1.6 }}&gt;记录缺失或不一致，不静默回退到更早边界。&lt;/Text&gt;&#10;                &lt;/Box&gt;&#10;            &lt;/Box&gt;&#10;&#10;        &lt;/Box&gt;&#10;&#10;        &lt;Box style={{ flexDirection: 'row', gap: 16, background: '#FFF4E6', borderRadius: 10, padding: '14px 22px', alignItems: 'center' }}&gt;&#10;            &lt;Box style={{ width: 4, height: 44, background: '#CB6B28' }} /&gt;&#10;            &lt;Text style={{ fontSize: 15, color: '#546779', flex: 1, lineHeight: 1.6 }}&gt;第 k+1 步的计算与临时文本不进入回放事实；判定针对最新已提交边界，不是目录里随便一个较早快照。&lt;/Text&gt;&#10;        &lt;/Box&gt;&#10;&#10;    &lt;/Box&gt;&#10;&#10;    &lt;Box style={{ height: 40, flexDirection: 'row', justifyContent: 'space-between', alignItems: 'center' }}&gt;&#10;        &lt;Text style={{ fontSize: 14, color: '#546779' }}&gt;3.10 暂停、取消、续跑与重跑&lt;/Text&gt;&#10;        &lt;Text style={{ fontSize: 14, color: '#546779' }}&gt;10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3.10.2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已提交边界比画面进度更重要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恢复要对准最新已提交边界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609600" y="1524000"/>
            <a:ext cx="10972800" cy="3543300"/>
          </a:xfrm>
          <a:prstGeom prst="roundRect">
            <a:avLst>
              <a:gd name="adj" fmla="val 322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800100" y="1885950"/>
            <a:ext cx="1514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546779"/>
                </a:solidFill>
                <a:latin typeface="Microsoft YaHei"/>
                <a:ea typeface="Microsoft YaHei"/>
              </a:rPr>
              <a:t>已提交事实：</a:t>
            </a:r>
            <a:r>
              <a:rPr lang="en-US" sz="1050" b="1">
                <a:solidFill>
                  <a:srgbClr val="546779"/>
                </a:solidFill>
                <a:latin typeface="Microsoft YaHei"/>
                <a:ea typeface="Microsoft YaHei"/>
              </a:rPr>
              <a:t>Step 1 … k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2447925" y="1847850"/>
            <a:ext cx="533400" cy="228600"/>
          </a:xfrm>
          <a:prstGeom prst="roundRect">
            <a:avLst>
              <a:gd name="adj" fmla="val 25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2590800" y="188595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800100" y="2228850"/>
            <a:ext cx="1619250" cy="723900"/>
          </a:xfrm>
          <a:prstGeom prst="roundRect">
            <a:avLst>
              <a:gd name="adj" fmla="val 10526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1400175" y="2505075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Step 1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2552700" y="2228850"/>
            <a:ext cx="1619250" cy="723900"/>
          </a:xfrm>
          <a:prstGeom prst="roundRect">
            <a:avLst>
              <a:gd name="adj" fmla="val 10526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3152775" y="2505075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Step 2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4305300" y="2228850"/>
            <a:ext cx="1619250" cy="723900"/>
          </a:xfrm>
          <a:prstGeom prst="roundRect">
            <a:avLst>
              <a:gd name="adj" fmla="val 10526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5000625" y="2505075"/>
            <a:ext cx="238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FFFFFF"/>
                </a:solidFill>
                <a:latin typeface="Microsoft YaHei"/>
                <a:ea typeface="Microsoft YaHei"/>
              </a:rPr>
              <a:t>……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6057900" y="2228850"/>
            <a:ext cx="1619250" cy="723900"/>
          </a:xfrm>
          <a:prstGeom prst="roundRect">
            <a:avLst>
              <a:gd name="adj" fmla="val 10526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6562725" y="2505075"/>
            <a:ext cx="619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Step k−1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7810500" y="2228850"/>
            <a:ext cx="1619250" cy="723900"/>
          </a:xfrm>
          <a:prstGeom prst="roundRect">
            <a:avLst>
              <a:gd name="adj" fmla="val 10526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7981950" y="2505075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Step k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　已提交边界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9563100" y="2228850"/>
            <a:ext cx="1619250" cy="723900"/>
          </a:xfrm>
          <a:prstGeom prst="roundRect">
            <a:avLst>
              <a:gd name="adj" fmla="val 1052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9782175" y="2505075"/>
            <a:ext cx="1190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>Step k+1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　未提交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800100" y="3105150"/>
            <a:ext cx="105918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4238625" y="3219450"/>
            <a:ext cx="3714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最新已提交边界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k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，有没有完整且一致的恢复快照？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800100" y="3676650"/>
            <a:ext cx="5105400" cy="1066800"/>
          </a:xfrm>
          <a:prstGeom prst="roundRect">
            <a:avLst>
              <a:gd name="adj" fmla="val 892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990600" y="3943350"/>
            <a:ext cx="4724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有　→　从</a:t>
            </a:r>
            <a:r>
              <a:rPr lang="en-US" sz="127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k </a:t>
            </a: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恢复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990600" y="4200525"/>
            <a:ext cx="47244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新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Attempt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从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k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恢复，下一次提交为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k+1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6286500" y="3676650"/>
            <a:ext cx="5105400" cy="1066800"/>
          </a:xfrm>
          <a:prstGeom prst="roundRect">
            <a:avLst>
              <a:gd name="adj" fmla="val 892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6477000" y="3943350"/>
            <a:ext cx="4724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没有　→　给出诊断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6477000" y="4200525"/>
            <a:ext cx="47244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记录缺失或不一致，不静默回退到更早边界。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609600" y="5219700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819150" y="5353050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1009650" y="5429250"/>
            <a:ext cx="103632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k+1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步的计算与临时文本不进入回放事实；判定针对最新已提交边界，不是目录里随便一个较早快照。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暂停、取消、续跑与重跑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 / 24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74" name="" descr="&lt;Slide notes={`提交不是把结果写下去就完事，它有固定的顺序。&#10;&#10;系统先提交一帧，同时留下这一帧的独立校验记录，然后保存检查点或者恢复快照，最后才推进界面上的可见状态。这个顺序不能颠倒，颠倒了画面就会先于事实出现。&#10;&#10;仓库里有两个目录承担不同的职责：检查点目录按配置保留检查点，恢复目录支持精确边界恢复。它们保留的东西不一样，用途也不一样。&#10;&#10;恢复程序会把 Run、Attempt、Step、虚拟时间、成员文件和帧哈希逐项核验，全部相符才认为这个边界可以用来恢复。&#10;&#10;这六项也解释了为什么恢复不能靠“看起来差不多”——它们每一项都对应一个可以被检查到的值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0.2　已提交边界比画面进度更重要&lt;/Text&gt;&#10;            &lt;Text style={{ fontSize: 34, fontWeight: 'bold', color: '#20344B' }}&gt;一次提交要留下什么&lt;/Text&gt;&#10;        &lt;/Box&gt;&#10;    &lt;/Box&gt;&#10;&#10;    &lt;Box style={{ height: 540, flexDirection: 'row', alignItems: 'center', gap: 32 }}&gt;&#10;&#10;        &lt;Box style={{ width: 620, flexDirection: 'column' }}&gt;&#10;&#10;            &lt;Box style={{ width: 620, height: 76, background: '#EDF4FC', borderRadius: 10, padding: '0 22px', flexDirection: 'row', alignItems: 'center', gap: 16 }}&gt;&#10;                &lt;Box style={{ width: 34, height: 34, background: '#276FBF', borderRadius: 8, justifyContent: 'center', alignItems: 'center' }}&gt;&#10;                    &lt;Text style={{ fontSize: 16, fontWeight: 'bold', color: '#FFFFFF' }}&gt;1&lt;/Text&gt;&#10;                &lt;/Box&gt;&#10;                &lt;Text style={{ fontSize: 18, fontWeight: 'bold', color: '#20344B' }}&gt;提交一帧&lt;/Text&gt;&#10;            &lt;/Box&gt;&#10;            &lt;Box style={{ width: 620, height: 32, justifyContent: 'center', alignItems: 'center' }}&gt;&#10;                &lt;Text style={{ fontSize: 18, color: '#276FBF' }}&gt;↓&lt;/Text&gt;&#10;            &lt;/Box&gt;&#10;&#10;            &lt;Box style={{ width: 620, height: 76, background: '#EDF4FC', borderRadius: 10, padding: '0 22px', flexDirection: 'row', alignItems: 'center', gap: 16 }}&gt;&#10;                &lt;Box style={{ width: 34, height: 34, background: '#276FBF', borderRadius: 8, justifyContent: 'center', alignItems: 'center' }}&gt;&#10;                    &lt;Text style={{ fontSize: 16, fontWeight: 'bold', color: '#FFFFFF' }}&gt;2&lt;/Text&gt;&#10;                &lt;/Box&gt;&#10;                &lt;Text style={{ fontSize: 18, fontWeight: 'bold', color: '#20344B' }}&gt;保存这一帧的独立校验记录&lt;/Text&gt;&#10;            &lt;/Box&gt;&#10;            &lt;Box style={{ width: 620, height: 32, justifyContent: 'center', alignItems: 'center' }}&gt;&#10;                &lt;Text style={{ fontSize: 18, color: '#276FBF' }}&gt;↓&lt;/Text&gt;&#10;            &lt;/Box&gt;&#10;&#10;            &lt;Box style={{ width: 620, height: 76, background: '#ECF7F2', borderRadius: 10, padding: '0 22px', flexDirection: 'row', alignItems: 'center', gap: 16 }}&gt;&#10;                &lt;Box style={{ width: 34, height: 34, background: '#26816B', borderRadius: 8, justifyContent: 'center', alignItems: 'center' }}&gt;&#10;                    &lt;Text style={{ fontSize: 16, fontWeight: 'bold', color: '#FFFFFF' }}&gt;3&lt;/Text&gt;&#10;                &lt;/Box&gt;&#10;                &lt;Text style={{ fontSize: 18, fontWeight: 'bold', color: '#20344B' }}&gt;保存检查点或恢复快照&lt;/Text&gt;&#10;            &lt;/Box&gt;&#10;            &lt;Box style={{ width: 620, height: 32, justifyContent: 'center', alignItems: 'center' }}&gt;&#10;                &lt;Text style={{ fontSize: 18, color: '#26816B' }}&gt;↓&lt;/Text&gt;&#10;            &lt;/Box&gt;&#10;&#10;            &lt;Box style={{ width: 620, height: 76, background: '#F4F7FA', borderRadius: 10, padding: '0 22px', flexDirection: 'row', alignItems: 'center', gap: 16 }}&gt;&#10;                &lt;Box style={{ width: 34, height: 34, background: '#546779', borderRadius: 8, justifyContent: 'center', alignItems: 'center' }}&gt;&#10;                    &lt;Text style={{ fontSize: 16, fontWeight: 'bold', color: '#FFFFFF' }}&gt;4&lt;/Text&gt;&#10;                &lt;/Box&gt;&#10;                &lt;Text style={{ fontSize: 18, fontWeight: 'bold', color: '#20344B' }}&gt;推进界面上的可见状态&lt;/Text&gt;&#10;            &lt;/Box&gt;&#10;&#10;        &lt;/Box&gt;&#10;&#10;        &lt;Box style={{ width: 500, flexDirection: 'column', gap: 12 }}&gt;&#10;&#10;            &lt;Box style={{ width: 500, height: 112, background: '#EDF4FC', borderRadius: 10, padding: '16px 20px', flexDirection: 'column', gap: 6, justifyContent: 'center' }}&gt;&#10;                &lt;Text style={{ fontSize: 18, fontWeight: 'bold', color: '#276FBF' }}&gt;checkpoints/&lt;/Text&gt;&#10;                &lt;Text style={{ fontSize: 15, color: '#546779', lineHeight: 1.6 }}&gt;按配置保留检查点，供核对与诊断时查看。&lt;/Text&gt;&#10;            &lt;/Box&gt;&#10;&#10;            &lt;Box style={{ width: 500, height: 112, background: '#ECF7F2', borderRadius: 10, padding: '16px 20px', flexDirection: 'column', gap: 6, justifyContent: 'center' }}&gt;&#10;                &lt;Text style={{ fontSize: 18, fontWeight: 'bold', color: '#26816B' }}&gt;recovery/&lt;/Text&gt;&#10;                &lt;Text style={{ fontSize: 15, color: '#546779', lineHeight: 1.6 }}&gt;支持精确边界恢复，供新 Attempt 从已提交边界接上。&lt;/Text&gt;&#10;            &lt;/Box&gt;&#10;&#10;            &lt;Box style={{ width: 500, height: 152, background: '#FFF4E6', borderRadius: 10, padding: '16px 20px', flexDirection: 'column', gap: 6, justifyContent: 'center' }}&gt;&#10;                &lt;Text style={{ fontSize: 17, fontWeight: 'bold', color: '#CB6B28' }}&gt;恢复程序核验六项&lt;/Text&gt;&#10;                &lt;Text style={{ fontSize: 15, color: '#546779', lineHeight: 1.65 }}&gt;Run　·　Attempt　·　Step　·　虚拟时间　·　成员文件　·　帧哈希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10 暂停、取消、续跑与重跑&lt;/Text&gt;&#10;        &lt;Text style={{ fontSize: 14, color: '#546779' }}&gt;11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3.10.2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已提交边界比画面进度更重要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一次提交要留下什么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609600" y="1809750"/>
            <a:ext cx="5905500" cy="723900"/>
          </a:xfrm>
          <a:prstGeom prst="roundRect">
            <a:avLst>
              <a:gd name="adj" fmla="val 1315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0" name=""/>
          <p:cNvSpPr/>
          <p:nvPr/>
        </p:nvSpPr>
        <p:spPr>
          <a:xfrm rot="0" flipH="0" flipV="0">
            <a:off x="819150" y="200977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933450" y="20764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1295400" y="206692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提交一帧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3524250" y="2581275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609600" y="2838450"/>
            <a:ext cx="5905500" cy="723900"/>
          </a:xfrm>
          <a:prstGeom prst="roundRect">
            <a:avLst>
              <a:gd name="adj" fmla="val 1315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5" name=""/>
          <p:cNvSpPr/>
          <p:nvPr/>
        </p:nvSpPr>
        <p:spPr>
          <a:xfrm rot="0" flipH="0" flipV="0">
            <a:off x="819150" y="303847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933450" y="31051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1295400" y="3095625"/>
            <a:ext cx="2057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保存这一帧的独立校验记录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3524250" y="3609975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609600" y="3867150"/>
            <a:ext cx="5905500" cy="723900"/>
          </a:xfrm>
          <a:prstGeom prst="roundRect">
            <a:avLst>
              <a:gd name="adj" fmla="val 1315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90" name=""/>
          <p:cNvSpPr/>
          <p:nvPr/>
        </p:nvSpPr>
        <p:spPr>
          <a:xfrm rot="0" flipH="0" flipV="0">
            <a:off x="819150" y="406717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933450" y="41338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1295400" y="4124325"/>
            <a:ext cx="1714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保存检查点或恢复快照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3524250" y="4638675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26816B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609600" y="4895850"/>
            <a:ext cx="5905500" cy="723900"/>
          </a:xfrm>
          <a:prstGeom prst="roundRect">
            <a:avLst>
              <a:gd name="adj" fmla="val 1315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95" name=""/>
          <p:cNvSpPr/>
          <p:nvPr/>
        </p:nvSpPr>
        <p:spPr>
          <a:xfrm rot="0" flipH="0" flipV="0">
            <a:off x="819150" y="509587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546779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933450" y="51625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1295400" y="5153025"/>
            <a:ext cx="1714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推进界面上的可见状态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6819900" y="1809750"/>
            <a:ext cx="4762500" cy="1066800"/>
          </a:xfrm>
          <a:prstGeom prst="roundRect">
            <a:avLst>
              <a:gd name="adj" fmla="val 892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7010400" y="2076450"/>
            <a:ext cx="4381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76FBF"/>
                </a:solidFill>
                <a:latin typeface="Microsoft YaHei"/>
                <a:ea typeface="Microsoft YaHei"/>
              </a:rPr>
              <a:t>checkpoints/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7010400" y="2343150"/>
            <a:ext cx="43815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按配置保留检查点，供核对与诊断时查看。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6819900" y="2990850"/>
            <a:ext cx="4762500" cy="1066800"/>
          </a:xfrm>
          <a:prstGeom prst="roundRect">
            <a:avLst>
              <a:gd name="adj" fmla="val 8929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7010400" y="3257550"/>
            <a:ext cx="4381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6816B"/>
                </a:solidFill>
                <a:latin typeface="Microsoft YaHei"/>
                <a:ea typeface="Microsoft YaHei"/>
              </a:rPr>
              <a:t>recovery/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7010400" y="3524250"/>
            <a:ext cx="43815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支持精确边界恢复，供新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Attempt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从已提交边界接上。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6819900" y="4171950"/>
            <a:ext cx="4762500" cy="1447800"/>
          </a:xfrm>
          <a:prstGeom prst="roundRect">
            <a:avLst>
              <a:gd name="adj" fmla="val 657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7010400" y="4629150"/>
            <a:ext cx="4381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恢复程序核验六项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7010400" y="4886325"/>
            <a:ext cx="438150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Run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Attempt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Step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·　虚拟时间　·　成员文件　·　帧哈希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暂停、取消、续跑与重跑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11 / 24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09" name="" descr="&lt;Slide notes={`这里要讲清楚一条纪律：宁可给出诊断，也不要悄悄退回去。&#10;&#10;当前的恢复选择器要求存在最新已提交边界的完整快照。如果这个快照缺失，或者核验对不上，它会报告诊断，而不是自动挑一个更早的快照继续往下跑。&#10;&#10;为什么不能退？假设已经提交到第 12 步，手上只有第 10 步的完整快照。如果直接从 11 重新执行，那些已经提交过的活动、记忆和回复就可能被再做一遍。表面上跑得下去，实际数据已经重复了。&#10;&#10;所以恢复材料有缺口的时候，正确的动作是停下来，把缺失和不一致记录下来，交给后续的处理决定。把已经完成的步骤重新执行一遍，是填不上这个缺口的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0.2　已提交边界比画面进度更重要&lt;/Text&gt;&#10;            &lt;Text style={{ fontSize: 34, fontWeight: 'bold', color: '#20344B' }}&gt;快照缺失，宁可诊断&lt;/Text&gt;&#10;        &lt;/Box&gt;&#10;    &lt;/Box&gt;&#10;&#10;    &lt;Box style={{ height: 540, flexDirection: 'row', alignItems: 'center', gap: 32 }}&gt;&#10;&#10;        &lt;Box style={{ width: 656, flexDirection: 'column', gap: 12 }}&gt;&#10;&#10;            &lt;Box style={{ width: 656, height: 108, background: '#EDF4FC', borderRadius: 10, padding: '0 22px', flexDirection: 'row', alignItems: 'center', gap: 16 }}&gt;&#10;                &lt;Box style={{ width: 4, height: 56, background: '#276FBF' }} /&gt;&#10;                &lt;Box style={{ flexDirection: 'column', gap: 4 }}&gt;&#10;                    &lt;Text style={{ fontSize: 17, fontWeight: 'bold', color: '#276FBF' }}&gt;要求对着最新已提交边界&lt;/Text&gt;&#10;                    &lt;Text style={{ fontSize: 15, color: '#546779', lineHeight: 1.6 }}&gt;恢复选择器只认最新已提交边界的完整快照，不认随便一个较早的快照。&lt;/Text&gt;&#10;                &lt;/Box&gt;&#10;            &lt;/Box&gt;&#10;&#10;            &lt;Box style={{ width: 656, height: 108, background: '#FFF4E6', borderRadius: 10, padding: '0 22px', flexDirection: 'row', alignItems: 'center', gap: 16 }}&gt;&#10;                &lt;Box style={{ width: 4, height: 56, background: '#CB6B28' }} /&gt;&#10;                &lt;Box style={{ flexDirection: 'column', gap: 4 }}&gt;&#10;                    &lt;Text style={{ fontSize: 17, fontWeight: 'bold', color: '#CB6B28' }}&gt;缺失或不一致时给诊断&lt;/Text&gt;&#10;                    &lt;Text style={{ fontSize: 15, color: '#546779', lineHeight: 1.6 }}&gt;报告缺口并停下来，不静默回退到更早的步骤上继续执行。&lt;/Text&gt;&#10;                &lt;/Box&gt;&#10;            &lt;/Box&gt;&#10;&#10;            &lt;Box style={{ width: 656, height: 108, background: '#F4F7FA', borderRadius: 10, padding: '0 22px', flexDirection: 'row', alignItems: 'center', gap: 16 }}&gt;&#10;                &lt;Box style={{ width: 4, height: 56, background: '#B5C7D8' }} /&gt;&#10;                &lt;Box style={{ flexDirection: 'column', gap: 4 }}&gt;&#10;                    &lt;Text style={{ fontSize: 17, fontWeight: 'bold', color: '#20344B' }}&gt;不能靠重做已完成步骤来填&lt;/Text&gt;&#10;                    &lt;Text style={{ fontSize: 15, color: '#546779', lineHeight: 1.6 }}&gt;把已经提交的动作再执行一遍，只会让数据重复，补不上恢复材料的缺口。&lt;/Text&gt;&#10;                &lt;/Box&gt;&#10;            &lt;/Box&gt;&#10;&#10;        &lt;/Box&gt;&#10;&#10;        &lt;Box style={{ width: 464, flexDirection: 'column', gap: 12 }}&gt;&#10;&#10;            &lt;Box style={{ width: 464, height: 168, background: '#FFF4E6', borderRadius: 10, padding: '18px 22px', flexDirection: 'column', gap: 8, justifyContent: 'center' }}&gt;&#10;                &lt;Text style={{ fontSize: 17, fontWeight: 'bold', color: '#CB6B28' }}&gt;举例&lt;/Text&gt;&#10;                &lt;Text style={{ fontSize: 15, color: '#546779', lineHeight: 1.65 }}&gt;已经提交到 Step 12，却只有 Step 10 的完整快照。这时不能从 11 重新做起。&lt;/Text&gt;&#10;            &lt;/Box&gt;&#10;&#10;            &lt;Box style={{ width: 464, height: 168, background: '#EDF4FC', borderRadius: 10, padding: '18px 22px', flexDirection: 'column', gap: 8, justifyContent: 'center' }}&gt;&#10;                &lt;Text style={{ fontSize: 17, fontWeight: 'bold', color: '#276FBF' }}&gt;为什么不能从 11 做起&lt;/Text&gt;&#10;                &lt;Text style={{ fontSize: 15, color: '#546779', lineHeight: 1.65 }}&gt;可能重复此前已经提交的活动、记忆和回复，最终状态看起来正常，事实却已经被改写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10 暂停、取消、续跑与重跑&lt;/Text&gt;&#10;        &lt;Text style={{ fontSize: 14, color: '#546779' }}&gt;12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3.10.2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已提交边界比画面进度更重要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快照缺失，宁可诊断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609600" y="2057400"/>
            <a:ext cx="6248400" cy="1028700"/>
          </a:xfrm>
          <a:prstGeom prst="roundRect">
            <a:avLst>
              <a:gd name="adj" fmla="val 925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5" name=""/>
          <p:cNvSpPr/>
          <p:nvPr/>
        </p:nvSpPr>
        <p:spPr>
          <a:xfrm rot="0" flipH="0" flipV="0">
            <a:off x="819150" y="2305050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1009650" y="2314575"/>
            <a:ext cx="4572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要求对着最新已提交边界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1009650" y="2552700"/>
            <a:ext cx="45720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恢复选择器只认最新已提交边界的完整快照，不认随便一个较早的快照。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609600" y="3200400"/>
            <a:ext cx="6248400" cy="1028700"/>
          </a:xfrm>
          <a:prstGeom prst="roundRect">
            <a:avLst>
              <a:gd name="adj" fmla="val 925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19" name=""/>
          <p:cNvSpPr/>
          <p:nvPr/>
        </p:nvSpPr>
        <p:spPr>
          <a:xfrm rot="0" flipH="0" flipV="0">
            <a:off x="819150" y="3448050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1009650" y="3457575"/>
            <a:ext cx="3714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缺失或不一致时给诊断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1009650" y="3695700"/>
            <a:ext cx="37147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报告缺口并停下来，不静默回退到更早的步骤上继续执行。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609600" y="4343400"/>
            <a:ext cx="6248400" cy="1028700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23" name=""/>
          <p:cNvSpPr/>
          <p:nvPr/>
        </p:nvSpPr>
        <p:spPr>
          <a:xfrm rot="0" flipH="0" flipV="0">
            <a:off x="819150" y="4591050"/>
            <a:ext cx="38100" cy="533400"/>
          </a:xfrm>
          <a:prstGeom prst="rect">
            <a:avLst/>
          </a:prstGeom>
          <a:solidFill>
            <a:srgbClr val="B5C7D8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1009650" y="4600575"/>
            <a:ext cx="4714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不能靠重做已完成步骤来填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1009650" y="4838700"/>
            <a:ext cx="47148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把已经提交的动作再执行一遍，只会让数据重复，补不上恢复材料的缺口。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7162800" y="2057400"/>
            <a:ext cx="4419600" cy="1600200"/>
          </a:xfrm>
          <a:prstGeom prst="roundRect">
            <a:avLst>
              <a:gd name="adj" fmla="val 595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7372350" y="2438400"/>
            <a:ext cx="4000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举例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7372350" y="2714625"/>
            <a:ext cx="40005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已经提交到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Step 12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，却只有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Step 10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的完整快照。这时不能从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11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重新做起。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7162800" y="3771900"/>
            <a:ext cx="4419600" cy="1600200"/>
          </a:xfrm>
          <a:prstGeom prst="roundRect">
            <a:avLst>
              <a:gd name="adj" fmla="val 595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7372350" y="4152900"/>
            <a:ext cx="4000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为什么不能从</a:t>
            </a: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11 </a:t>
            </a: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做起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7372350" y="4429125"/>
            <a:ext cx="40005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可能重复此前已经提交的活动、记忆和回复，最终状态看起来正常，事实却已经被改写。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暂停、取消、续跑与重跑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12 / 24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34" name="" descr="&lt;Slide notes={`接下来是动手的部分：在浏览器上暂停、看检查点、再继续。&#10;&#10;这一段有两条要求。一条是暂停的时候，先把“暂停请求已提交”记下来，再等所选 Run 的实际状态变成已暂停。前端提示里的安全步骤，含义是以一个一致的已提交边界收尾，而不是保留一幅没法恢复的半步画面。&#10;&#10;另一条是继续之后要逐项核对：Run ID 有没有变化、Attempt ID 是不是新的、恢复边界是不是 k、第一条新提交是不是 k 加 1、虚拟时间是不是只前进了一个步长、对象和会话状态有没有重复或者丢失。&#10;&#10;这些核对都要能对到原始值，不能只写“看起来正常”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③　　3.10.3 — 3.10.4&lt;/Text&gt;&#10;&#10;        &lt;Text style={{ fontSize: 56, fontWeight: 'bold', color: '#20344B', lineHeight: 1.15 }}&gt;暂停与续跑，{'\n'}按事实核对&lt;/Text&gt;&#10;&#10;        &lt;Box style={{ width: 72, height: 4, background: '#276FBF' }} /&gt;&#10;&#10;        &lt;Text style={{ fontSize: 18, color: '#546779', lineHeight: 1.7, width: 900 }}&gt;暂停后看检查点里的实际值，继续前核身份、边界、时间与对象状态是不是都对得上。&lt;/Text&gt;&#10;&#10;        &lt;Box style={{ flexDirection: 'row', alignItems: 'center', marginTop: 10 }}&gt;&#10;            &lt;Box style={{ width: 300, height: 64, background: '#EDF4FC', borderRadius: 8, justifyContent: 'center', alignItems: 'center' }}&gt;&#10;                &lt;Text style={{ fontSize: 18, color: '#276FBF' }}&gt;暂停请求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00, height: 64, background: '#F4F7FA', borderRadius: 8, justifyContent: 'center', alignItems: 'center' }}&gt;&#10;                &lt;Text style={{ fontSize: 18, color: '#20344B' }}&gt;检查点核对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300, height: 64, background: '#ECF7F2', borderRadius: 8, justifyContent: 'center', alignItems: 'center' }}&gt;&#10;                &lt;Text style={{ fontSize: 18, color: '#26816B' }}&gt;继续执行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0 暂停、取消、续跑与重跑&lt;/Text&gt;&#10;        &lt;Text style={{ fontSize: 14, color: '#546779' }}&gt;13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609600" y="14478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③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3.10.3 — 3.10.4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609600" y="1828800"/>
            <a:ext cx="10972800" cy="14763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暂停与续跑，</a:t>
            </a:r>
            <a:endParaRPr/>
          </a:p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按事实核对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609600" y="351472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609600" y="376237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暂停后看检查点里的实际值，继续前核身份、边界、时间与对象状态是不是都对得上。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609600" y="441960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1695450" y="461962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暂停请求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3638550" y="45720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3886200" y="441960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4886325" y="4619625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0344B"/>
                </a:solidFill>
                <a:latin typeface="Microsoft YaHei"/>
                <a:ea typeface="Microsoft YaHei"/>
              </a:rPr>
              <a:t>检查点核对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915150" y="45720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7162800" y="441960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8248650" y="461962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继续执行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暂停、取消、续跑与重跑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13 / 24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50" name="" descr="&lt;Slide notes={`暂停这一步，先分清请求和状态。&#10;&#10;点下暂停仿真之后，第一件事是把“暂停请求已提交”记成一条控制请求，然后才是等所选 Run 的实际状态变成已暂停。中间这段时间里，运行可能还在把当前这一步收尾。&#10;&#10;前端提示里说的安全步骤，含义是以一个一致的已提交边界收尾，而不是保留一幅无法恢复的半步画面。这句话决定了后面从哪里接上。&#10;&#10;时机是可以选的。青禾可以挑公告栏状态已经更新、许安还没完成后续行动的时候暂停，这样既能看到变化，又能观察接下来的反应。&#10;&#10;有一点要避免：不要为了让剧情好看，把某个动作绑定到固定的步数上；暂停之后应当按实际事实判断信息处在哪一阶段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0.3　暂停后的浏览器检查&lt;/Text&gt;&#10;            &lt;Text style={{ fontSize: 34, fontWeight: 'bold', color: '#20344B' }}&gt;暂停请求与实际状态&lt;/Text&gt;&#10;        &lt;/Box&gt;&#10;    &lt;/Box&gt;&#10;&#10;    &lt;Box style={{ height: 540, flexDirection: 'row', alignItems: 'center', gap: 32 }}&gt;&#10;&#10;        &lt;Box style={{ width: 662, flexDirection: 'column', gap: 12 }}&gt;&#10;&#10;            &lt;Box style={{ flexDirection: 'row', alignItems: 'center', gap: 12 }}&gt;&#10;                &lt;Text style={{ fontSize: 15, fontWeight: 'bold', color: '#546779' }}&gt;操作顺序&lt;/Text&gt;&#10;                &lt;Box style={{ width: 56, height: 24, background: '#FFF4E6', borderRadius: 6, justifyContent: 'center', alignItems: 'center' }}&gt;&#10;                    &lt;Text style={{ fontSize: 13, color: '#CB6B28' }}&gt;示意&lt;/Text&gt;&#10;                &lt;/Box&gt;&#10;            &lt;/Box&gt;&#10;&#10;            &lt;Box style={{ width: 662, height: 106, background: '#EDF4FC', borderRadius: 10, padding: '0 22px', flexDirection: 'row', alignItems: 'center', gap: 16 }}&gt;&#10;                &lt;Box style={{ width: 34, height: 34, background: '#276FBF', borderRadius: 8, justifyContent: 'center', alignItems: 'center' }}&gt;&#10;                    &lt;Text style={{ fontSize: 16, fontWeight: 'bold', color: '#FFFFFF' }}&gt;1&lt;/Text&gt;&#10;                &lt;/Box&gt;&#10;                &lt;Box style={{ flexDirection: 'column', gap: 4 }}&gt;&#10;                    &lt;Text style={{ fontSize: 17, fontWeight: 'bold', color: '#276FBF' }}&gt;点下「暂停仿真」并记录控制请求&lt;/Text&gt;&#10;                    &lt;Text style={{ fontSize: 15, color: '#546779', lineHeight: 1.5 }}&gt;先把「暂停请求已提交」记为一条控制请求，再往下走。&lt;/Text&gt;&#10;                &lt;/Box&gt;&#10;            &lt;/Box&gt;&#10;&#10;            &lt;Box style={{ width: 662, height: 106, background: '#ECF7F2', borderRadius: 10, padding: '0 22px', flexDirection: 'row', alignItems: 'center', gap: 16 }}&gt;&#10;                &lt;Box style={{ width: 34, height: 34, background: '#26816B', borderRadius: 8, justifyContent: 'center', alignItems: 'center' }}&gt;&#10;                    &lt;Text style={{ fontSize: 16, fontWeight: 'bold', color: '#FFFFFF' }}&gt;2&lt;/Text&gt;&#10;                &lt;/Box&gt;&#10;                &lt;Box style={{ flexDirection: 'column', gap: 4 }}&gt;&#10;                    &lt;Text style={{ fontSize: 17, fontWeight: 'bold', color: '#26816B' }}&gt;等待实际状态变为 PAUSED&lt;/Text&gt;&#10;                    &lt;Text style={{ fontSize: 15, color: '#546779', lineHeight: 1.5 }}&gt;以所选 Run 的实际状态为准，不看提示文字自行推断。&lt;/Text&gt;&#10;                &lt;/Box&gt;&#10;            &lt;/Box&gt;&#10;&#10;            &lt;Box style={{ width: 662, height: 106, background: '#FFF4E6', borderRadius: 10, padding: '0 22px', flexDirection: 'row', alignItems: 'center', gap: 16 }}&gt;&#10;                &lt;Box style={{ width: 34, height: 34, background: '#CB6B28', borderRadius: 8, justifyContent: 'center', alignItems: 'center' }}&gt;&#10;                    &lt;Text style={{ fontSize: 16, fontWeight: 'bold', color: '#FFFFFF' }}&gt;3&lt;/Text&gt;&#10;                &lt;/Box&gt;&#10;                &lt;Box style={{ flexDirection: 'column', gap: 4 }}&gt;&#10;                    &lt;Text style={{ fontSize: 17, fontWeight: 'bold', color: '#CB6B28' }}&gt;看懂「安全步骤」的含义&lt;/Text&gt;&#10;                    &lt;Text style={{ fontSize: 15, color: '#546779', lineHeight: 1.5 }}&gt;以一个一致的已提交边界收尾，而不是留住半步画面。&lt;/Text&gt;&#10;                &lt;/Box&gt;&#10;            &lt;/Box&gt;&#10;&#10;        &lt;/Box&gt;&#10;&#10;        &lt;Box style={{ width: 458, flexDirection: 'column', gap: 12 }}&gt;&#10;&#10;            &lt;Box style={{ width: 458, height: 158, background: '#EDF4FC', borderRadius: 10, padding: '18px 22px', flexDirection: 'column', gap: 8, justifyContent: 'center' }}&gt;&#10;                &lt;Text style={{ fontSize: 17, fontWeight: 'bold', color: '#276FBF' }}&gt;青禾可以选的暂停时机&lt;/Text&gt;&#10;                &lt;Text style={{ fontSize: 15, color: '#546779', lineHeight: 1.65 }}&gt;公告栏状态已经更新、许安尚未完成后续行动。这时既能看到变化，又能观察接下来的反应。&lt;/Text&gt;&#10;            &lt;/Box&gt;&#10;&#10;            &lt;Box style={{ width: 458, height: 158, background: '#F4F7FA', borderRadius: 10, padding: '18px 22px', flexDirection: 'column', gap: 8, justifyContent: 'center' }}&gt;&#10;                &lt;Text style={{ fontSize: 17, fontWeight: 'bold', color: '#20344B' }}&gt;要记录的三项内容&lt;/Text&gt;&#10;                &lt;Text style={{ fontSize: 15, color: '#546779', lineHeight: 1.65 }}&gt;board 的状态、相关请求 ID，以及哪位参与者已经得到回复。&lt;/Text&gt;&#10;            &lt;/Box&gt;&#10;&#10;            &lt;Box style={{ width: 458, height: 158, background: '#FFF4E6', borderRadius: 10, padding: '18px 22px', flexDirection: 'column', gap: 8, justifyContent: 'center' }}&gt;&#10;                &lt;Text style={{ fontSize: 17, fontWeight: 'bold', color: '#CB6B28' }}&gt;不要绑到固定 Step&lt;/Text&gt;&#10;                &lt;Text style={{ fontSize: 15, color: '#546779', lineHeight: 1.65 }}&gt;不要为了让剧情好看把动作绑到固定步数；暂停后按实际事实判断信息处在哪一阶段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10 暂停、取消、续跑与重跑&lt;/Text&gt;&#10;        &lt;Text style={{ fontSize: 14, color: '#546779' }}&gt;14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3.10.3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暂停后的浏览器检查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暂停请求与实际状态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609600" y="19431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操作顺序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1295400" y="1914525"/>
            <a:ext cx="533400" cy="228600"/>
          </a:xfrm>
          <a:prstGeom prst="roundRect">
            <a:avLst>
              <a:gd name="adj" fmla="val 25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1438275" y="195262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609600" y="2257425"/>
            <a:ext cx="6305550" cy="1009650"/>
          </a:xfrm>
          <a:prstGeom prst="roundRect">
            <a:avLst>
              <a:gd name="adj" fmla="val 943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59" name=""/>
          <p:cNvSpPr/>
          <p:nvPr/>
        </p:nvSpPr>
        <p:spPr>
          <a:xfrm rot="0" flipH="0" flipV="0">
            <a:off x="819150" y="260032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933450" y="266700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1295400" y="2514600"/>
            <a:ext cx="3571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点下「暂停仿真」并记录控制请求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1295400" y="2752725"/>
            <a:ext cx="35718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先把「暂停请求已提交」记为一条控制请求，再往下走。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609600" y="3381375"/>
            <a:ext cx="6305550" cy="1009650"/>
          </a:xfrm>
          <a:prstGeom prst="roundRect">
            <a:avLst>
              <a:gd name="adj" fmla="val 943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64" name=""/>
          <p:cNvSpPr/>
          <p:nvPr/>
        </p:nvSpPr>
        <p:spPr>
          <a:xfrm rot="0" flipH="0" flipV="0">
            <a:off x="819150" y="372427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933450" y="37909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1295400" y="3638550"/>
            <a:ext cx="3505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等待实际状态变为</a:t>
            </a:r>
            <a:r>
              <a:rPr lang="en-US" sz="127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PAUSED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1295400" y="3876675"/>
            <a:ext cx="3505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以所选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的实际状态为准，不看提示文字自行推断。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609600" y="4505325"/>
            <a:ext cx="6305550" cy="1009650"/>
          </a:xfrm>
          <a:prstGeom prst="roundRect">
            <a:avLst>
              <a:gd name="adj" fmla="val 943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69" name=""/>
          <p:cNvSpPr/>
          <p:nvPr/>
        </p:nvSpPr>
        <p:spPr>
          <a:xfrm rot="0" flipH="0" flipV="0">
            <a:off x="819150" y="4848225"/>
            <a:ext cx="323850" cy="323850"/>
          </a:xfrm>
          <a:prstGeom prst="roundRect">
            <a:avLst>
              <a:gd name="adj" fmla="val 23529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933450" y="491490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1295400" y="4762500"/>
            <a:ext cx="3429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看懂「安全步骤」的含义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1295400" y="5000625"/>
            <a:ext cx="3429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以一个一致的已提交边界收尾，而不是留住半步画面。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7219950" y="1343025"/>
            <a:ext cx="4362450" cy="1504950"/>
          </a:xfrm>
          <a:prstGeom prst="roundRect">
            <a:avLst>
              <a:gd name="adj" fmla="val 632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7429500" y="1676400"/>
            <a:ext cx="3943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青禾可以选的暂停时机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7429500" y="1952625"/>
            <a:ext cx="39433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公告栏状态已经更新、许安尚未完成后续行动。这时既能看到变化，又能观察接下来的反应。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7219950" y="2962275"/>
            <a:ext cx="4362450" cy="1504950"/>
          </a:xfrm>
          <a:prstGeom prst="roundRect">
            <a:avLst>
              <a:gd name="adj" fmla="val 632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7429500" y="3438525"/>
            <a:ext cx="3943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要记录的三项内容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7429500" y="3714750"/>
            <a:ext cx="394335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board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的状态、相关请求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ID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，以及哪位参与者已经得到回复。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7219950" y="4581525"/>
            <a:ext cx="4362450" cy="1504950"/>
          </a:xfrm>
          <a:prstGeom prst="roundRect">
            <a:avLst>
              <a:gd name="adj" fmla="val 632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7429500" y="4914900"/>
            <a:ext cx="3943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不要绑到固定</a:t>
            </a: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Step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7429500" y="5191125"/>
            <a:ext cx="39433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不要为了让剧情好看把动作绑到固定步数；暂停后按实际事实判断信息处在哪一阶段。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暂停、取消、续跑与重跑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14 / 24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84" name="" descr="&lt;Slide notes={`进入仿真诊断，打开检查点，这里要看的是具体的值。&#10;&#10;第一层是概要：最新的 Step 是多少、属于哪个 Attempt、虚拟时间走到哪里、帧哈希是什么、校验结果是否通过，以及恢复说明怎么写的。&#10;&#10;再往下一层展开详情：人物的坐标、当前动作、剩余路径，还有会话和存储里的内容。这些都是判断状态有没有接上的原始材料。&#10;&#10;页面上有检查点的详情和预览入口，所以要保存的是这些具体内容，而不是“共有几个检查点”这样的数量截图。数量的截图证明不了边界对不对，也证明不了对象状态有没有接上。&#10;&#10;我把这一层当成取证的入口：后面的每一项核对，都要回到这些具体的值上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0.3　暂停后的浏览器检查&lt;/Text&gt;&#10;            &lt;Text style={{ fontSize: 34, fontWeight: 'bold', color: '#20344B' }}&gt;检查点里要核对的实际值&lt;/Text&gt;&#10;        &lt;/Box&gt;&#10;    &lt;/Box&gt;&#10;&#10;    &lt;Box style={{ height: 540, flexDirection: 'row', alignItems: 'center', gap: 32 }}&gt;&#10;&#10;        &lt;Box style={{ width: 660, height: 460, background: '#F4F7FA', borderRadius: 12, padding: 16, flexDirection: 'column', gap: 12 }}&gt;&#10;&#10;            &lt;Box style={{ width: 628, height: 44, background: '#FFFFFF', borderRadius: 8, padding: '0 16px', flexDirection: 'row', alignItems: 'center', gap: 12 }}&gt;&#10;                &lt;Text style={{ fontSize: 15, fontWeight: 'bold', color: '#20344B' }}&gt;仿真诊断 · 检查点&lt;/Text&gt;&#10;                &lt;Box style={{ width: 56, height: 24, background: '#FFF4E6', borderRadius: 6, justifyContent: 'center', alignItems: 'center' }}&gt;&#10;                    &lt;Text style={{ fontSize: 13, color: '#CB6B28' }}&gt;示意&lt;/Text&gt;&#10;                &lt;/Box&gt;&#10;            &lt;/Box&gt;&#10;&#10;            &lt;Box style={{ flexDirection: 'row', gap: 8 }}&gt;&#10;                &lt;Box style={{ width: 88, height: 32, background: '#EDF4FC', borderRadius: 6, justifyContent: 'center', alignItems: 'center' }}&gt;&#10;                    &lt;Text style={{ fontSize: 13, color: '#546779' }}&gt;Step&lt;/Text&gt;&#10;                &lt;/Box&gt;&#10;                &lt;Box style={{ width: 88, height: 32, background: '#EDF4FC', borderRadius: 6, justifyContent: 'center', alignItems: 'center' }}&gt;&#10;                    &lt;Text style={{ fontSize: 13, color: '#546779' }}&gt;Attempt&lt;/Text&gt;&#10;                &lt;/Box&gt;&#10;                &lt;Box style={{ width: 100, height: 32, background: '#EDF4FC', borderRadius: 6, justifyContent: 'center', alignItems: 'center' }}&gt;&#10;                    &lt;Text style={{ fontSize: 13, color: '#546779' }}&gt;虚拟时间&lt;/Text&gt;&#10;                &lt;/Box&gt;&#10;                &lt;Box style={{ width: 100, height: 32, background: '#EDF4FC', borderRadius: 6, justifyContent: 'center', alignItems: 'center' }}&gt;&#10;                    &lt;Text style={{ fontSize: 13, color: '#546779' }}&gt;Hash&lt;/Text&gt;&#10;                &lt;/Box&gt;&#10;                &lt;Box style={{ width: 88, height: 32, background: '#EDF4FC', borderRadius: 6, justifyContent: 'center', alignItems: 'center' }}&gt;&#10;                    &lt;Text style={{ fontSize: 13, color: '#546779' }}&gt;校验&lt;/Text&gt;&#10;                &lt;/Box&gt;&#10;                &lt;Box style={{ width: 124, height: 32, background: '#EDF4FC', borderRadius: 6, justifyContent: 'center', alignItems: 'center' }}&gt;&#10;                    &lt;Text style={{ fontSize: 13, color: '#546779' }}&gt;恢复说明&lt;/Text&gt;&#10;                &lt;/Box&gt;&#10;            &lt;/Box&gt;&#10;&#10;            &lt;Box style={{ flexDirection: 'row', gap: 8 }}&gt;&#10;                &lt;Box style={{ width: 88, height: 52, background: '#FFFFFF', borderRadius: 6, justifyContent: 'center', alignItems: 'center' }}&gt;&#10;                    &lt;Text style={{ fontSize: 14, color: '#20344B' }}&gt;12&lt;/Text&gt;&#10;                &lt;/Box&gt;&#10;                &lt;Box style={{ width: 88, height: 52, background: '#FFFFFF', borderRadius: 6, justifyContent: 'center', alignItems: 'center' }}&gt;&#10;                    &lt;Text style={{ fontSize: 14, color: '#20344B' }}&gt;第 2 次&lt;/Text&gt;&#10;                &lt;/Box&gt;&#10;                &lt;Box style={{ width: 100, height: 52, background: '#FFFFFF', borderRadius: 6, justifyContent: 'center', alignItems: 'center' }}&gt;&#10;                    &lt;Text style={{ fontSize: 14, color: '#20344B' }}&gt;10:37&lt;/Text&gt;&#10;                &lt;/Box&gt;&#10;                &lt;Box style={{ width: 100, height: 52, background: '#FFFFFF', borderRadius: 6, justifyContent: 'center', alignItems: 'center' }}&gt;&#10;                    &lt;Text style={{ fontSize: 13, color: '#546779' }}&gt;实际值&lt;/Text&gt;&#10;                &lt;/Box&gt;&#10;                &lt;Box style={{ width: 88, height: 52, background: '#ECF7F2', borderRadius: 6, justifyContent: 'center', alignItems: 'center' }}&gt;&#10;                    &lt;Text style={{ fontSize: 14, color: '#26816B' }}&gt;通过&lt;/Text&gt;&#10;                &lt;/Box&gt;&#10;                &lt;Box style={{ width: 124, height: 52, background: '#FFFFFF', borderRadius: 6, justifyContent: 'center', alignItems: 'center' }}&gt;&#10;                    &lt;Text style={{ fontSize: 14, color: '#20344B' }}&gt;从 12 接&lt;/Text&gt;&#10;                &lt;/Box&gt;&#10;            &lt;/Box&gt;&#10;&#10;            &lt;Box style={{ flexDirection: 'row', gap: 8 }}&gt;&#10;                &lt;Box style={{ width: 88, height: 52, background: '#FFFFFF', borderRadius: 6, justifyContent: 'center', alignItems: 'center' }}&gt;&#10;                    &lt;Text style={{ fontSize: 14, color: '#20344B' }}&gt;11&lt;/Text&gt;&#10;                &lt;/Box&gt;&#10;                &lt;Box style={{ width: 88, height: 52, background: '#FFFFFF', borderRadius: 6, justifyContent: 'center', alignItems: 'center' }}&gt;&#10;                    &lt;Text style={{ fontSize: 14, color: '#20344B' }}&gt;第 1 次&lt;/Text&gt;&#10;                &lt;/Box&gt;&#10;                &lt;Box style={{ width: 100, height: 52, background: '#FFFFFF', borderRadius: 6, justifyContent: 'center', alignItems: 'center' }}&gt;&#10;                    &lt;Text style={{ fontSize: 14, color: '#20344B' }}&gt;10:36&lt;/Text&gt;&#10;                &lt;/Box&gt;&#10;                &lt;Box style={{ width: 100, height: 52, background: '#FFFFFF', borderRadius: 6, justifyContent: 'center', alignItems: 'center' }}&gt;&#10;                    &lt;Text style={{ fontSize: 13, color: '#546779' }}&gt;实际值&lt;/Text&gt;&#10;                &lt;/Box&gt;&#10;                &lt;Box style={{ width: 88, height: 52, background: '#ECF7F2', borderRadius: 6, justifyContent: 'center', alignItems: 'center' }}&gt;&#10;                    &lt;Text style={{ fontSize: 14, color: '#26816B' }}&gt;通过&lt;/Text&gt;&#10;                &lt;/Box&gt;&#10;                &lt;Box style={{ width: 124, height: 52, background: '#FFFFFF', borderRadius: 6, justifyContent: 'center', alignItems: 'center' }}&gt;&#10;                    &lt;Text style={{ fontSize: 14, color: '#546779' }}&gt;—&lt;/Text&gt;&#10;                &lt;/Box&gt;&#10;            &lt;/Box&gt;&#10;&#10;            &lt;Box style={{ width: 628, height: 132, background: '#F7F3E8', borderRadius: 8, padding: '12px 16px', flexDirection: 'column', gap: 6, justifyContent: 'center' }}&gt;&#10;                &lt;Text style={{ fontSize: 15, fontWeight: 'bold', color: '#20344B' }}&gt;展开详情&lt;/Text&gt;&#10;                &lt;Text style={{ fontSize: 14, color: '#546779', lineHeight: 1.6 }}&gt;人物坐标　·　当前动作　·　剩余路径{'\n'}会话内容　·　存储内容&lt;/Text&gt;&#10;            &lt;/Box&gt;&#10;&#10;            &lt;Box style={{ flexDirection: 'row', gap: 12 }}&gt;&#10;                &lt;Box style={{ width: 300, height: 46, background: '#26816B', borderRadius: 8, justifyContent: 'center', alignItems: 'center' }}&gt;&#10;                    &lt;Text style={{ fontSize: 15, color: '#FFFFFF' }}&gt;继续执行 · Step …&lt;/Text&gt;&#10;                &lt;/Box&gt;&#10;                &lt;Box style={{ width: 160, height: 46, background: '#FFFFFF', borderRadius: 8, justifyContent: 'center', alignItems: 'center' }}&gt;&#10;                    &lt;Text style={{ fontSize: 15, color: '#276FBF' }}&gt;预览&lt;/Text&gt;&#10;                &lt;/Box&gt;&#10;            &lt;/Box&gt;&#10;&#10;        &lt;/Box&gt;&#10;&#10;        &lt;Box style={{ width: 460, flexDirection: 'column', gap: 12 }}&gt;&#10;&#10;            &lt;Box style={{ width: 460, height: 128, background: '#EDF4FC', borderRadius: 10, padding: '16px 20px', flexDirection: 'column', gap: 6, justifyContent: 'center' }}&gt;&#10;                &lt;Text style={{ fontSize: 17, fontWeight: 'bold', color: '#276FBF' }}&gt;概要要看的六项&lt;/Text&gt;&#10;                &lt;Text style={{ fontSize: 15, color: '#546779', lineHeight: 1.6 }}&gt;最新 Step · Attempt · 虚拟时间 · Hash · 校验结果 · 恢复说明&lt;/Text&gt;&#10;            &lt;/Box&gt;&#10;&#10;            &lt;Box style={{ width: 460, height: 128, background: '#ECF7F2', borderRadius: 10, padding: '16px 20px', flexDirection: 'column', gap: 6, justifyContent: 'center' }}&gt;&#10;                &lt;Text style={{ fontSize: 17, fontWeight: 'bold', color: '#26816B' }}&gt;详情要看的四项&lt;/Text&gt;&#10;                &lt;Text style={{ fontSize: 15, color: '#546779', lineHeight: 1.6 }}&gt;人物坐标 · 当前动作 · 剩余路径 · 会话与存储内容&lt;/Text&gt;&#10;            &lt;/Box&gt;&#10;&#10;            &lt;Box style={{ width: 460, height: 176, background: '#FFF4E6', borderRadius: 10, padding: '18px 20px', flexDirection: 'column', gap: 8, justifyContent: 'center' }}&gt;&#10;                &lt;Text style={{ fontSize: 17, fontWeight: 'bold', color: '#CB6B28' }}&gt;数量截图证明不了边界&lt;/Text&gt;&#10;                &lt;Text style={{ fontSize: 15, color: '#546779', lineHeight: 1.65 }}&gt;不能只保存“共有几个检查点”的截图；要保存具体的检查点详情与预览内容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10 暂停、取消、续跑与重跑&lt;/Text&gt;&#10;        &lt;Text style={{ fontSize: 14, color: '#546779' }}&gt;15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3.10.3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暂停后的浏览器检查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检查点里要核对的实际值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609600" y="1524000"/>
            <a:ext cx="6286500" cy="4381500"/>
          </a:xfrm>
          <a:prstGeom prst="roundRect">
            <a:avLst>
              <a:gd name="adj" fmla="val 260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90" name=""/>
          <p:cNvSpPr/>
          <p:nvPr/>
        </p:nvSpPr>
        <p:spPr>
          <a:xfrm rot="0" flipH="0" flipV="0">
            <a:off x="762000" y="1676400"/>
            <a:ext cx="59817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914400" y="1800225"/>
            <a:ext cx="1152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仿真诊断</a:t>
            </a:r>
            <a:r>
              <a:rPr lang="en-US" sz="112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检查点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2181225" y="1771650"/>
            <a:ext cx="533400" cy="228600"/>
          </a:xfrm>
          <a:prstGeom prst="roundRect">
            <a:avLst>
              <a:gd name="adj" fmla="val 25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2324100" y="180975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762000" y="2209800"/>
            <a:ext cx="838200" cy="304800"/>
          </a:xfrm>
          <a:prstGeom prst="roundRect">
            <a:avLst>
              <a:gd name="adj" fmla="val 1875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1047750" y="2286000"/>
            <a:ext cx="266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Step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1676400" y="2209800"/>
            <a:ext cx="838200" cy="304800"/>
          </a:xfrm>
          <a:prstGeom prst="roundRect">
            <a:avLst>
              <a:gd name="adj" fmla="val 1875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1847850" y="228600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Attempt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2590800" y="2209800"/>
            <a:ext cx="952500" cy="304800"/>
          </a:xfrm>
          <a:prstGeom prst="roundRect">
            <a:avLst>
              <a:gd name="adj" fmla="val 1875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2819400" y="228600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虚拟时间</a:t>
            </a:r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3619500" y="2209800"/>
            <a:ext cx="952500" cy="304800"/>
          </a:xfrm>
          <a:prstGeom prst="roundRect">
            <a:avLst>
              <a:gd name="adj" fmla="val 1875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3943350" y="2286000"/>
            <a:ext cx="304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Hash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4648200" y="2209800"/>
            <a:ext cx="838200" cy="304800"/>
          </a:xfrm>
          <a:prstGeom prst="roundRect">
            <a:avLst>
              <a:gd name="adj" fmla="val 1875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4943475" y="228600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校验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5562600" y="2209800"/>
            <a:ext cx="1181100" cy="304800"/>
          </a:xfrm>
          <a:prstGeom prst="roundRect">
            <a:avLst>
              <a:gd name="adj" fmla="val 1875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5905500" y="228600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恢复说明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762000" y="2628900"/>
            <a:ext cx="8382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1104900" y="2800350"/>
            <a:ext cx="161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>12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1676400" y="2628900"/>
            <a:ext cx="8382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1885950" y="280035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第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次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2590800" y="2628900"/>
            <a:ext cx="952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2895600" y="2800350"/>
            <a:ext cx="352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>10:37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3619500" y="2628900"/>
            <a:ext cx="952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3914775" y="280035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实际值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4648200" y="2628900"/>
            <a:ext cx="838200" cy="495300"/>
          </a:xfrm>
          <a:prstGeom prst="roundRect">
            <a:avLst>
              <a:gd name="adj" fmla="val 1153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4933950" y="280035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通过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5562600" y="2628900"/>
            <a:ext cx="11811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5905500" y="2800350"/>
            <a:ext cx="504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从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12 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接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762000" y="3238500"/>
            <a:ext cx="8382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1104900" y="3409950"/>
            <a:ext cx="161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>11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1676400" y="3238500"/>
            <a:ext cx="8382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1885950" y="340995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第</a:t>
            </a: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次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2590800" y="3238500"/>
            <a:ext cx="952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2895600" y="3409950"/>
            <a:ext cx="352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0344B"/>
                </a:solidFill>
                <a:latin typeface="Microsoft YaHei"/>
                <a:ea typeface="Microsoft YaHei"/>
              </a:rPr>
              <a:t>10:36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3619500" y="3238500"/>
            <a:ext cx="9525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3914775" y="340995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实际值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4648200" y="3238500"/>
            <a:ext cx="838200" cy="495300"/>
          </a:xfrm>
          <a:prstGeom prst="roundRect">
            <a:avLst>
              <a:gd name="adj" fmla="val 1153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4933950" y="340995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通过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5562600" y="3238500"/>
            <a:ext cx="1181100" cy="4953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6076950" y="3409950"/>
            <a:ext cx="15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050">
                <a:solidFill>
                  <a:srgbClr val="546779"/>
                </a:solidFill>
                <a:latin typeface="Microsoft YaHei"/>
                <a:ea typeface="Microsoft YaHei"/>
              </a:rPr>
              <a:t>—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762000" y="3848100"/>
            <a:ext cx="5981700" cy="1257300"/>
          </a:xfrm>
          <a:prstGeom prst="roundRect">
            <a:avLst>
              <a:gd name="adj" fmla="val 6061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914400" y="4105275"/>
            <a:ext cx="5676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展开详情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914400" y="4333875"/>
            <a:ext cx="5676900" cy="5143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人物坐标　·　当前动作　·　剩余路径</a:t>
            </a:r>
            <a:endParaRPr/>
          </a:p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会话内容　·　存储内容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762000" y="5219700"/>
            <a:ext cx="2857500" cy="438150"/>
          </a:xfrm>
          <a:prstGeom prst="roundRect">
            <a:avLst>
              <a:gd name="adj" fmla="val 17391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1619250" y="5353050"/>
            <a:ext cx="1152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继续执行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Step …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3733800" y="5219700"/>
            <a:ext cx="15240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4352925" y="5353050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预览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7200900" y="1543050"/>
            <a:ext cx="4381500" cy="1219200"/>
          </a:xfrm>
          <a:prstGeom prst="roundRect">
            <a:avLst>
              <a:gd name="adj" fmla="val 781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7391400" y="1885950"/>
            <a:ext cx="4000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概要要看的六项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7391400" y="2143125"/>
            <a:ext cx="40005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最新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Step · Attempt ·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虚拟时间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Hash ·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校验结果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恢复说明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7200900" y="2876550"/>
            <a:ext cx="4381500" cy="1219200"/>
          </a:xfrm>
          <a:prstGeom prst="roundRect">
            <a:avLst>
              <a:gd name="adj" fmla="val 781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7391400" y="3219450"/>
            <a:ext cx="4000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详情要看的四项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7391400" y="3476625"/>
            <a:ext cx="40005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人物坐标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当前动作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剩余路径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会话与存储内容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7200900" y="4210050"/>
            <a:ext cx="4381500" cy="1676400"/>
          </a:xfrm>
          <a:prstGeom prst="roundRect">
            <a:avLst>
              <a:gd name="adj" fmla="val 568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7391400" y="4629150"/>
            <a:ext cx="4000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数量截图证明不了边界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7391400" y="4905375"/>
            <a:ext cx="40005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不能只保存“共有几个检查点”的截图；要保存具体的检查点详情与预览内容。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暂停、取消、续跑与重跑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15 / 24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248" name="" descr="&lt;Slide notes={`继续执行之后，我会依次核对四件事。&#10;&#10;第一，Run ID 和暂停前一致，Attempt ID 已经改变。这证明接的是同一段运行，但确实是新的一次尝试。&#10;&#10;第二，新 Attempt 的恢复边界是 k，第一条新的提交是 k 加 1。这证明是从已提交边界往下走，没有跳步。&#10;&#10;第三，虚拟时间只前进一个步长。暂停期间真实世界过了多久不重要，那段墙钟间隔不能混进虚拟时间。&#10;&#10;第四，移动、会话、对象状态和回复既没有重复也没有丢失。&#10;&#10;页面显示继续执行的时候，确认窗口要指向当前已提交边界和当前 Attempt。后端会同时核对这两个条件，防止有人打开旧的确认窗口，把已经提交的步骤又执行一遍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0.4　继续执行时验证四件事&lt;/Text&gt;&#10;            &lt;Text style={{ fontSize: 34, fontWeight: 'bold', color: '#20344B' }}&gt;继续之后，核对四件事&lt;/Text&gt;&#10;        &lt;/Box&gt;&#10;    &lt;/Box&gt;&#10;&#10;    &lt;Box style={{ height: 540, flexDirection: 'column', justifyContent: 'center', gap: 12 }}&gt;&#10;&#10;        &lt;Box style={{ width: 1152, height: 88, background: '#EDF4FC', borderRadius: 10, padding: '0 22px', flexDirection: 'row', alignItems: 'center', gap: 18 }}&gt;&#10;            &lt;Box style={{ width: 4, height: 52, background: '#276FBF' }} /&gt;&#10;            &lt;Text style={{ fontSize: 30, fontWeight: 'bold', color: '#276FBF', width: 44 }}&gt;1&lt;/Text&gt;&#10;            &lt;Box style={{ flexDirection: 'column', gap: 3 }}&gt;&#10;                &lt;Text style={{ fontSize: 17, fontWeight: 'bold', color: '#20344B' }}&gt;Run ID 与暂停前一致，Attempt ID 已改变&lt;/Text&gt;&#10;                &lt;Text style={{ fontSize: 15, color: '#546779' }}&gt;同一段运行接得上，但这是新的一次尝试。&lt;/Text&gt;&#10;            &lt;/Box&gt;&#10;        &lt;/Box&gt;&#10;&#10;        &lt;Box style={{ width: 1152, height: 88, background: '#EDF4FC', borderRadius: 10, padding: '0 22px', flexDirection: 'row', alignItems: 'center', gap: 18 }}&gt;&#10;            &lt;Box style={{ width: 4, height: 52, background: '#276FBF' }} /&gt;&#10;            &lt;Text style={{ fontSize: 30, fontWeight: 'bold', color: '#276FBF', width: 44 }}&gt;2&lt;/Text&gt;&#10;            &lt;Box style={{ flexDirection: 'column', gap: 3 }}&gt;&#10;                &lt;Text style={{ fontSize: 17, fontWeight: 'bold', color: '#20344B' }}&gt;恢复边界为 k，第一条新提交为 k+1&lt;/Text&gt;&#10;                &lt;Text style={{ fontSize: 15, color: '#546779' }}&gt;从已提交边界往下走，中间没有跳步。&lt;/Text&gt;&#10;            &lt;/Box&gt;&#10;        &lt;/Box&gt;&#10;&#10;        &lt;Box style={{ width: 1152, height: 88, background: '#ECF7F2', borderRadius: 10, padding: '0 22px', flexDirection: 'row', alignItems: 'center', gap: 18 }}&gt;&#10;            &lt;Box style={{ width: 4, height: 52, background: '#26816B' }} /&gt;&#10;            &lt;Text style={{ fontSize: 30, fontWeight: 'bold', color: '#26816B', width: 44 }}&gt;3&lt;/Text&gt;&#10;            &lt;Box style={{ flexDirection: 'column', gap: 3 }}&gt;&#10;                &lt;Text style={{ fontSize: 17, fontWeight: 'bold', color: '#20344B' }}&gt;虚拟时间只前进一个步长&lt;/Text&gt;&#10;                &lt;Text style={{ fontSize: 15, color: '#546779' }}&gt;暂停的墙钟间隔没有混入虚拟时间。&lt;/Text&gt;&#10;            &lt;/Box&gt;&#10;        &lt;/Box&gt;&#10;&#10;        &lt;Box style={{ width: 1152, height: 88, background: '#ECF7F2', borderRadius: 10, padding: '0 22px', flexDirection: 'row', alignItems: 'center', gap: 18 }}&gt;&#10;            &lt;Box style={{ width: 4, height: 52, background: '#26816B' }} /&gt;&#10;            &lt;Text style={{ fontSize: 30, fontWeight: 'bold', color: '#26816B', width: 44 }}&gt;4&lt;/Text&gt;&#10;            &lt;Box style={{ flexDirection: 'column', gap: 3 }}&gt;&#10;                &lt;Text style={{ fontSize: 17, fontWeight: 'bold', color: '#20344B' }}&gt;移动、会话、对象状态和回复没有重复、没有丢失&lt;/Text&gt;&#10;                &lt;Text style={{ fontSize: 15, color: '#546779' }}&gt;逐项对到暂停前后记录的原始值。&lt;/Text&gt;&#10;            &lt;/Box&gt;&#10;        &lt;/Box&gt;&#10;&#10;        &lt;Box style={{ flexDirection: 'row', gap: 16, background: '#FFF4E6', borderRadius: 10, padding: '14px 22px', alignItems: 'center' }}&gt;&#10;            &lt;Box style={{ width: 4, height: 58, background: '#CB6B28' }} /&gt;&#10;            &lt;Text style={{ fontSize: 15, color: '#546779', flex: 1, lineHeight: 1.6 }}&gt;确认窗口应指向当前已提交边界及当前 Attempt；后端同时核对这两个条件，避免打开旧确认窗口后重复执行已经提交的步骤。&lt;/Text&gt;&#10;        &lt;/Box&gt;&#10;&#10;    &lt;/Box&gt;&#10;&#10;    &lt;Box style={{ height: 40, flexDirection: 'row', justifyContent: 'space-between', alignItems: 'center' }}&gt;&#10;        &lt;Text style={{ fontSize: 14, color: '#546779' }}&gt;3.10 暂停、取消、续跑与重跑&lt;/Text&gt;&#10;        &lt;Text style={{ fontSize: 14, color: '#546779' }}&gt;16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3.10.4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继续执行时验证四件事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继续之后，核对四件事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609600" y="1400175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54" name=""/>
          <p:cNvSpPr/>
          <p:nvPr/>
        </p:nvSpPr>
        <p:spPr>
          <a:xfrm rot="0" flipH="0" flipV="0">
            <a:off x="819150" y="1571625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1028700" y="1647825"/>
            <a:ext cx="4191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76FB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1619250" y="1619250"/>
            <a:ext cx="3181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Run ID 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与暂停前一致，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Attempt ID 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已改变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1619250" y="1847850"/>
            <a:ext cx="3181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同一段运行接得上，但这是新的一次尝试。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609600" y="2352675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59" name=""/>
          <p:cNvSpPr/>
          <p:nvPr/>
        </p:nvSpPr>
        <p:spPr>
          <a:xfrm rot="0" flipH="0" flipV="0">
            <a:off x="819150" y="2524125"/>
            <a:ext cx="38100" cy="4953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1028700" y="2600325"/>
            <a:ext cx="4191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76FB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1619250" y="2571750"/>
            <a:ext cx="26193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恢复边界为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k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，第一条新提交为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k+1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1619250" y="2800350"/>
            <a:ext cx="2619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从已提交边界往下走，中间没有跳步。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609600" y="3305175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64" name=""/>
          <p:cNvSpPr/>
          <p:nvPr/>
        </p:nvSpPr>
        <p:spPr>
          <a:xfrm rot="0" flipH="0" flipV="0">
            <a:off x="819150" y="3476625"/>
            <a:ext cx="38100" cy="4953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1028700" y="3552825"/>
            <a:ext cx="4191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6816B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1619250" y="3524250"/>
            <a:ext cx="2286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虚拟时间只前进一个步长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1619250" y="3752850"/>
            <a:ext cx="2286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暂停的墙钟间隔没有混入虚拟时间。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609600" y="4257675"/>
            <a:ext cx="10972800" cy="838200"/>
          </a:xfrm>
          <a:prstGeom prst="roundRect">
            <a:avLst>
              <a:gd name="adj" fmla="val 11364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69" name=""/>
          <p:cNvSpPr/>
          <p:nvPr/>
        </p:nvSpPr>
        <p:spPr>
          <a:xfrm rot="0" flipH="0" flipV="0">
            <a:off x="819150" y="4429125"/>
            <a:ext cx="38100" cy="4953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1028700" y="4505325"/>
            <a:ext cx="4191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6816B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1619250" y="4476750"/>
            <a:ext cx="3562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移动、会话、对象状态和回复没有重复、没有丢失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1619250" y="4705350"/>
            <a:ext cx="3562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逐项对到暂停前后记录的原始值。</a:t>
            </a:r>
            <a:endParaRPr/>
          </a:p>
        </p:txBody>
      </p:sp>
      <p:sp>
        <p:nvSpPr>
          <p:cNvPr id="273" name=""/>
          <p:cNvSpPr/>
          <p:nvPr/>
        </p:nvSpPr>
        <p:spPr>
          <a:xfrm rot="0" flipH="0" flipV="0">
            <a:off x="609600" y="5210175"/>
            <a:ext cx="10972800" cy="819150"/>
          </a:xfrm>
          <a:prstGeom prst="roundRect">
            <a:avLst>
              <a:gd name="adj" fmla="val 1162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74" name=""/>
          <p:cNvSpPr/>
          <p:nvPr/>
        </p:nvSpPr>
        <p:spPr>
          <a:xfrm rot="0" flipH="0" flipV="0">
            <a:off x="819150" y="5343525"/>
            <a:ext cx="38100" cy="5524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1009650" y="5486400"/>
            <a:ext cx="103632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确认窗口应指向当前已提交边界及当前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Attempt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；后端同时核对这两个条件，避免打开旧确认窗口后重复执行已经提交的步骤。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暂停、取消、续跑与重跑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16 / 24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78" name="" descr="&lt;Slide notes={`用一个具体例子说明“不重复、不丢失”。&#10;&#10;暂停之前，服务台已经回复过林岚的预约查询。续跑之后，系统不能再把这个请求当成一个新请求重新处理一遍，否则林岚会收到两次回复。&#10;&#10;反过来，如果有一条回复还没有投递给目标人物，它就应该在正确的下一轮里恰好投递一次——不能因为续跑就丢了，也不能投递两次。&#10;&#10;人物的剩余路径也一样。它从检查点恢复，该走多远就走多远，不能因为续跑就跳到目的地。&#10;&#10;仓库里的测试文件说明这些场景已经有回归目标。本次编书没有重新执行这些测试，也没有拿它们替代浏览器上的实际验收；验收记录还是要保存真实的前后状态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0.4　继续执行时验证四件事&lt;/Text&gt;&#10;            &lt;Text style={{ fontSize: 34, fontWeight: 'bold', color: '#20344B' }}&gt;续跑不是跳步&lt;/Text&gt;&#10;        &lt;/Box&gt;&#10;    &lt;/Box&gt;&#10;&#10;    &lt;Box style={{ height: 540, flexDirection: 'row', alignItems: 'center', gap: 32 }}&gt;&#10;&#10;        &lt;Box style={{ width: 516, flexDirection: 'column', gap: 12 }}&gt;&#10;&#10;            &lt;Box style={{ width: 516, height: 132, background: '#EDF4FC', borderRadius: 10, padding: '16px 20px', flexDirection: 'column', gap: 6, justifyContent: 'center' }}&gt;&#10;                &lt;Text style={{ fontSize: 17, fontWeight: 'bold', color: '#276FBF' }}&gt;暂停前：已经发生的事&lt;/Text&gt;&#10;                &lt;Text style={{ fontSize: 15, color: '#546779', lineHeight: 1.6 }}&gt;服务台已经回复了林岚的预约查询，这条回复属于已提交事实。&lt;/Text&gt;&#10;            &lt;/Box&gt;&#10;&#10;            &lt;Box style={{ width: 516, height: 132, background: '#FFF4E6', borderRadius: 10, padding: '16px 20px', flexDirection: 'column', gap: 6, justifyContent: 'center' }}&gt;&#10;                &lt;Text style={{ fontSize: 17, fontWeight: 'bold', color: '#CB6B28' }}&gt;续跑后：不能再来一次&lt;/Text&gt;&#10;                &lt;Text style={{ fontSize: 15, color: '#546779', lineHeight: 1.6 }}&gt;同一个请求不能再次当成新请求处理，否则同一条回复会被送出两次。&lt;/Text&gt;&#10;            &lt;/Box&gt;&#10;&#10;            &lt;Box style={{ width: 516, height: 132, background: '#ECF7F2', borderRadius: 10, padding: '16px 20px', flexDirection: 'column', gap: 6, justifyContent: 'center' }}&gt;&#10;                &lt;Text style={{ fontSize: 17, fontWeight: 'bold', color: '#26816B' }}&gt;尚未投递的回复&lt;/Text&gt;&#10;                &lt;Text style={{ fontSize: 15, color: '#546779', lineHeight: 1.6 }}&gt;应在正确的下一轮恰好投递一次，既不丢失也不重复。&lt;/Text&gt;&#10;            &lt;/Box&gt;&#10;&#10;        &lt;/Box&gt;&#10;&#10;        &lt;Box style={{ width: 604, flexDirection: 'column', gap: 12 }}&gt;&#10;&#10;            &lt;Box style={{ width: 604, height: 160, background: '#F4F7FA', borderRadius: 10, padding: '18px 22px', flexDirection: 'column', gap: 8, justifyContent: 'center' }}&gt;&#10;                &lt;Text style={{ fontSize: 17, fontWeight: 'bold', color: '#20344B' }}&gt;人物剩余路径从检查点恢复&lt;/Text&gt;&#10;                &lt;Text style={{ fontSize: 15, color: '#546779', lineHeight: 1.65 }}&gt;该走多远就走多远，不能因为续跑就直接跳到目的地；位置和路径都要能对上暂停时的记录。&lt;/Text&gt;&#10;            &lt;/Box&gt;&#10;&#10;            &lt;Box style={{ width: 604, height: 160, background: '#FFF4E6', borderRadius: 10, padding: '18px 22px', flexDirection: 'column', gap: 8, justifyContent: 'center' }}&gt;&#10;                &lt;Text style={{ fontSize: 17, fontWeight: 'bold', color: '#CB6B28' }}&gt;测试源文件是目标，不是验收结果&lt;/Text&gt;&#10;                &lt;Text style={{ fontSize: 15, color: '#546779', lineHeight: 1.65 }}&gt;这些测试说明仓库已经有相应的回归目标；本次编书没有重新执行它们，也没有用它们替代浏览器验收。&lt;/Text&gt;&#10;            &lt;/Box&gt;&#10;&#10;            &lt;Box style={{ width: 604, height: 150, background: '#EDF4FC', borderRadius: 10, padding: '18px 22px', flexDirection: 'column', gap: 8, justifyContent: 'center' }}&gt;&#10;                &lt;Text style={{ fontSize: 17, fontWeight: 'bold', color: '#276FBF' }}&gt;验收记录要保存前后状态&lt;/Text&gt;&#10;                &lt;Text style={{ fontSize: 15, color: '#546779', lineHeight: 1.65 }}&gt;暂停前与恢复后的对象、会话、回复原始值各记一份，才能说明没有重复也没有丢失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10 暂停、取消、续跑与重跑&lt;/Text&gt;&#10;        &lt;Text style={{ fontSize: 14, color: '#546779' }}&gt;17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1943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3.10.4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继续执行时验证四件事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1943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续跑不是跳步</a:t>
            </a:r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609600" y="1714500"/>
            <a:ext cx="4914900" cy="1257300"/>
          </a:xfrm>
          <a:prstGeom prst="roundRect">
            <a:avLst>
              <a:gd name="adj" fmla="val 757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800100" y="2076450"/>
            <a:ext cx="4533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暂停前：已经发生的事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800100" y="2333625"/>
            <a:ext cx="45339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服务台已经回复了林岚的预约查询，这条回复属于已提交事实。</a:t>
            </a:r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609600" y="3086100"/>
            <a:ext cx="4914900" cy="1257300"/>
          </a:xfrm>
          <a:prstGeom prst="roundRect">
            <a:avLst>
              <a:gd name="adj" fmla="val 757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800100" y="3448050"/>
            <a:ext cx="4533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续跑后：不能再来一次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800100" y="3705225"/>
            <a:ext cx="45339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同一个请求不能再次当成新请求处理，否则同一条回复会被送出两次。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609600" y="4457700"/>
            <a:ext cx="4914900" cy="1257300"/>
          </a:xfrm>
          <a:prstGeom prst="roundRect">
            <a:avLst>
              <a:gd name="adj" fmla="val 757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800100" y="4819650"/>
            <a:ext cx="4533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尚未投递的回复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800100" y="5076825"/>
            <a:ext cx="45339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应在正确的下一轮恰好投递一次，既不丢失也不重复。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5829300" y="1362075"/>
            <a:ext cx="5753100" cy="1524000"/>
          </a:xfrm>
          <a:prstGeom prst="roundRect">
            <a:avLst>
              <a:gd name="adj" fmla="val 625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6038850" y="1704975"/>
            <a:ext cx="5334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人物剩余路径从检查点恢复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6038850" y="1981200"/>
            <a:ext cx="53340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该走多远就走多远，不能因为续跑就直接跳到目的地；位置和路径都要能对上暂停时的记录。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5829300" y="3000375"/>
            <a:ext cx="5753100" cy="1524000"/>
          </a:xfrm>
          <a:prstGeom prst="roundRect">
            <a:avLst>
              <a:gd name="adj" fmla="val 625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6038850" y="3343275"/>
            <a:ext cx="5334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测试源文件是目标，不是验收结果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6038850" y="3619500"/>
            <a:ext cx="53340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这些测试说明仓库已经有相应的回归目标；本次编书没有重新执行它们，也没有用它们替代浏览器验收。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5829300" y="4638675"/>
            <a:ext cx="5753100" cy="1428750"/>
          </a:xfrm>
          <a:prstGeom prst="roundRect">
            <a:avLst>
              <a:gd name="adj" fmla="val 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6038850" y="4933950"/>
            <a:ext cx="5334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验收记录要保存前后状态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6038850" y="5210175"/>
            <a:ext cx="53340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暂停前与恢复后的对象、会话、回复原始值各记一份，才能说明没有重复也没有丢失。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暂停、取消、续跑与重跑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17 / 24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303" name="" descr="&lt;Slide notes={`最后一段处理两条经常被混在一起的路：取消和重跑。&#10;&#10;取消的用途是结束当前这次运行的意图。按下取消之后，我们能确定的只是“提出了取消”这个控制请求已经提交；至于远端的模型请求有没有立刻停下、什么时候停下的，需要单独验收。&#10;&#10;重跑则是另外一件事：它读原来那个 Run 内嵌的实验，但建立新的 run_id，从第一步重新执行。它既不是续跑，也不是取消之后接着跑。&#10;&#10;还有一条当前实现上的边界要记住：Web 的恢复接口允许已暂停或者失败的运行恢复，已经取消的运行不在页面的这条恢复路径里。所以真正需要继续的时候，应该优先按暂停的流程来设计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④　　3.10.5 — 3.10.6&lt;/Text&gt;&#10;&#10;        &lt;Text style={{ fontSize: 56, fontWeight: 'bold', color: '#20344B', lineHeight: 1.15 }}&gt;取消与重跑，{'\n'}两条不能混的路&lt;/Text&gt;&#10;&#10;        &lt;Box style={{ width: 72, height: 4, background: '#276FBF' }} /&gt;&#10;&#10;        &lt;Text style={{ fontSize: 18, color: '#546779', lineHeight: 1.7, width: 900 }}&gt;取消只是提出结束请求，不等于远端推理立刻停下；重跑是建立一个新运行，不是接着原来的运行往下跑。&lt;/Text&gt;&#10;&#10;        &lt;Box style={{ flexDirection: 'row', alignItems: 'center', marginTop: 10 }}&gt;&#10;            &lt;Box style={{ width: 300, height: 64, background: '#FFF4E6', borderRadius: 8, justifyContent: 'center', alignItems: 'center' }}&gt;&#10;                &lt;Text style={{ fontSize: 18, color: '#CB6B28' }}&gt;提交取消请求&lt;/Text&gt;&#10;            &lt;/Box&gt;&#10;            &lt;Box style={{ width: 44, height: 64, justifyContent: 'center', alignItems: 'center' }}&gt;&#10;                &lt;Text style={{ fontSize: 26, color: '#CB6B28' }}&gt;›&lt;/Text&gt;&#10;            &lt;/Box&gt;&#10;            &lt;Box style={{ width: 300, height: 64, background: '#FFF4E6', borderRadius: 8, justifyContent: 'center', alignItems: 'center' }}&gt;&#10;                &lt;Text style={{ fontSize: 18, color: '#CB6B28' }}&gt;实际停止待验收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00, height: 64, background: '#EDF4FC', borderRadius: 8, justifyContent: 'center', alignItems: 'center' }}&gt;&#10;                &lt;Text style={{ fontSize: 18, color: '#276FBF' }}&gt;重跑建新 Run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0 暂停、取消、续跑与重跑&lt;/Text&gt;&#10;        &lt;Text style={{ fontSize: 14, color: '#546779' }}&gt;18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609600" y="14478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④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3.10.5 — 3.10.6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609600" y="1828800"/>
            <a:ext cx="10972800" cy="14763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取消与重跑，</a:t>
            </a:r>
            <a:endParaRPr/>
          </a:p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两条不能混的路</a:t>
            </a:r>
            <a:endParaRPr/>
          </a:p>
        </p:txBody>
      </p:sp>
      <p:sp>
        <p:nvSpPr>
          <p:cNvPr id="307" name=""/>
          <p:cNvSpPr/>
          <p:nvPr/>
        </p:nvSpPr>
        <p:spPr>
          <a:xfrm rot="0" flipH="0" flipV="0">
            <a:off x="609600" y="351472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609600" y="376237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取消只是提出结束请求，不等于远端推理立刻停下；重跑是建立一个新运行，不是接着原来的运行往下跑。</a:t>
            </a:r>
            <a:endParaRPr/>
          </a:p>
        </p:txBody>
      </p:sp>
      <p:sp>
        <p:nvSpPr>
          <p:cNvPr id="309" name=""/>
          <p:cNvSpPr/>
          <p:nvPr/>
        </p:nvSpPr>
        <p:spPr>
          <a:xfrm rot="0" flipH="0" flipV="0">
            <a:off x="609600" y="441960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1524000" y="4619625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CB6B28"/>
                </a:solidFill>
                <a:latin typeface="Microsoft YaHei"/>
                <a:ea typeface="Microsoft YaHei"/>
              </a:rPr>
              <a:t>提交取消请求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3638550" y="45720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3886200" y="441960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4714875" y="4619625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CB6B28"/>
                </a:solidFill>
                <a:latin typeface="Microsoft YaHei"/>
                <a:ea typeface="Microsoft YaHei"/>
              </a:rPr>
              <a:t>实际停止待验收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6915150" y="45720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7162800" y="441960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8058150" y="4619625"/>
            <a:ext cx="1066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重跑建新</a:t>
            </a:r>
            <a:r>
              <a:rPr lang="en-US" sz="1350">
                <a:solidFill>
                  <a:srgbClr val="276FBF"/>
                </a:solidFill>
                <a:latin typeface="Microsoft YaHei"/>
                <a:ea typeface="Microsoft YaHei"/>
              </a:rPr>
              <a:t xml:space="preserve"> Run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暂停、取消、续跑与重跑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18 / 24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319" name="" descr="&lt;Slide notes={`取消这一块最容易出错的地方，是把界面的反馈当成了事实。&#10;&#10;按下取消之后，至少要把五项记下来：请求发出的时刻、请求时已经提交到第几步、最终状态是什么、最终的提交边界在哪里，以及在途的那个模型请求最后是怎么结束的。&#10;&#10;为什么一定要记在途请求的结束方式？因为按钮返回成功，只证明取消这个控制请求被提交了，它不能证明远端推理已经终止。这两件事之间隔着一次网络请求，可能很快就断开，也可能要等一段时间。&#10;&#10;还要记住：取消用于结束当前这次运行的意图，但它已经提交的历史仍然有分析价值。所以在验收记录里，“已提交取消请求”和“模型请求已结束”是两条独立的证据，不能合并成一条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0.5　取消请求与「立即停止」需要分别验证&lt;/Text&gt;&#10;            &lt;Text style={{ fontSize: 34, fontWeight: 'bold', color: '#20344B' }}&gt;按钮成功，只证明提出了取消&lt;/Text&gt;&#10;        &lt;/Box&gt;&#10;    &lt;/Box&gt;&#10;&#10;    &lt;Box style={{ height: 540, flexDirection: 'row', alignItems: 'center', gap: 32 }}&gt;&#10;&#10;        &lt;Box style={{ width: 632, flexDirection: 'column', gap: 12 }}&gt;&#10;&#10;            &lt;Box style={{ width: 632, height: 84, background: '#EDF4FC', borderRadius: 10, padding: '0 20px', flexDirection: 'row', alignItems: 'center', gap: 16 }}&gt;&#10;                &lt;Box style={{ width: 4, height: 44, background: '#276FBF' }} /&gt;&#10;                &lt;Text style={{ fontSize: 17, fontWeight: 'bold', color: '#20344B', width: 260 }}&gt;请求时刻&lt;/Text&gt;&#10;                &lt;Text style={{ fontSize: 15, color: '#546779', flex: 1 }}&gt;控制请求被提交的时间点&lt;/Text&gt;&#10;            &lt;/Box&gt;&#10;&#10;            &lt;Box style={{ width: 632, height: 84, background: '#EDF4FC', borderRadius: 10, padding: '0 20px', flexDirection: 'row', alignItems: 'center', gap: 16 }}&gt;&#10;                &lt;Box style={{ width: 4, height: 44, background: '#276FBF' }} /&gt;&#10;                &lt;Text style={{ fontSize: 17, fontWeight: 'bold', color: '#20344B', width: 260 }}&gt;请求时的已提交 Step&lt;/Text&gt;&#10;                &lt;Text style={{ fontSize: 15, color: '#546779', flex: 1 }}&gt;按下取消那一刻的边界&lt;/Text&gt;&#10;            &lt;/Box&gt;&#10;&#10;            &lt;Box style={{ width: 632, height: 84, background: '#EDF4FC', borderRadius: 10, padding: '0 20px', flexDirection: 'row', alignItems: 'center', gap: 16 }}&gt;&#10;                &lt;Box style={{ width: 4, height: 44, background: '#276FBF' }} /&gt;&#10;                &lt;Text style={{ fontSize: 17, fontWeight: 'bold', color: '#20344B', width: 260 }}&gt;最终状态&lt;/Text&gt;&#10;                &lt;Text style={{ fontSize: 15, color: '#546779', flex: 1 }}&gt;运行最后停在哪个状态&lt;/Text&gt;&#10;            &lt;/Box&gt;&#10;&#10;            &lt;Box style={{ width: 632, height: 84, background: '#FFF4E6', borderRadius: 10, padding: '0 20px', flexDirection: 'row', alignItems: 'center', gap: 16 }}&gt;&#10;                &lt;Box style={{ width: 4, height: 44, background: '#CB6B28' }} /&gt;&#10;                &lt;Text style={{ fontSize: 17, fontWeight: 'bold', color: '#CB6B28', width: 260 }}&gt;最终提交边界&lt;/Text&gt;&#10;                &lt;Text style={{ fontSize: 15, color: '#546779', flex: 1 }}&gt;取消之后事实停在第几步&lt;/Text&gt;&#10;            &lt;/Box&gt;&#10;&#10;            &lt;Box style={{ width: 632, height: 84, background: '#FFF4E6', borderRadius: 10, padding: '0 20px', flexDirection: 'row', alignItems: 'center', gap: 16 }}&gt;&#10;                &lt;Box style={{ width: 4, height: 44, background: '#CB6B28' }} /&gt;&#10;                &lt;Text style={{ fontSize: 17, fontWeight: 'bold', color: '#CB6B28', width: 260 }}&gt;在途模型请求的结束方式&lt;/Text&gt;&#10;                &lt;Text style={{ fontSize: 15, color: '#546779', flex: 1 }}&gt;中止、超时，还是正常返回&lt;/Text&gt;&#10;            &lt;/Box&gt;&#10;&#10;        &lt;/Box&gt;&#10;&#10;        &lt;Box style={{ width: 488, flexDirection: 'column', gap: 12 }}&gt;&#10;&#10;            &lt;Box style={{ width: 488, height: 206, background: '#FFF4E6', borderRadius: 10, padding: '20px 24px', flexDirection: 'column', gap: 10, justifyContent: 'center' }}&gt;&#10;                &lt;Text style={{ fontSize: 19, fontWeight: 'bold', color: '#CB6B28' }}&gt;按钮成功不等于远端已停&lt;/Text&gt;&#10;                &lt;Text style={{ fontSize: 15, color: '#546779', lineHeight: 1.65 }}&gt;不能把按钮返回成功当作远端推理已经终止的证明。请求被记录下来，和推理真正停止，是两件事。&lt;/Text&gt;&#10;            &lt;/Box&gt;&#10;&#10;            &lt;Box style={{ width: 488, height: 180, background: '#EDF4FC', borderRadius: 10, padding: '20px 24px', flexDirection: 'column', gap: 10, justifyContent: 'center' }}&gt;&#10;                &lt;Text style={{ fontSize: 19, fontWeight: 'bold', color: '#276FBF' }}&gt;已提交历史仍然有用&lt;/Text&gt;&#10;                &lt;Text style={{ fontSize: 15, color: '#546779', lineHeight: 1.65 }}&gt;取消结束的是当前这次运行的意图；在它之前已经提交的事实，依然可以拿来做分析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10 暂停、取消、续跑与重跑&lt;/Text&gt;&#10;        &lt;Text style={{ fontSize: 14, color: '#546779' }}&gt;19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3.10.5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取消请求与「立即停止」需要分别验证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按钮成功，只证明提出了取消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609600" y="1485900"/>
            <a:ext cx="6019800" cy="800100"/>
          </a:xfrm>
          <a:prstGeom prst="roundRect">
            <a:avLst>
              <a:gd name="adj" fmla="val 1190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25" name=""/>
          <p:cNvSpPr/>
          <p:nvPr/>
        </p:nvSpPr>
        <p:spPr>
          <a:xfrm rot="0" flipH="0" flipV="0">
            <a:off x="800100" y="16764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990600" y="1790700"/>
            <a:ext cx="2476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请求时刻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3619500" y="1800225"/>
            <a:ext cx="2819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控制请求被提交的时间点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609600" y="2400300"/>
            <a:ext cx="6019800" cy="800100"/>
          </a:xfrm>
          <a:prstGeom prst="roundRect">
            <a:avLst>
              <a:gd name="adj" fmla="val 1190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29" name=""/>
          <p:cNvSpPr/>
          <p:nvPr/>
        </p:nvSpPr>
        <p:spPr>
          <a:xfrm rot="0" flipH="0" flipV="0">
            <a:off x="800100" y="25908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990600" y="2705100"/>
            <a:ext cx="2476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请求时的已提交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Step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3619500" y="2714625"/>
            <a:ext cx="2819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按下取消那一刻的边界</a:t>
            </a:r>
            <a:endParaRPr/>
          </a:p>
        </p:txBody>
      </p:sp>
      <p:sp>
        <p:nvSpPr>
          <p:cNvPr id="332" name=""/>
          <p:cNvSpPr/>
          <p:nvPr/>
        </p:nvSpPr>
        <p:spPr>
          <a:xfrm rot="0" flipH="0" flipV="0">
            <a:off x="609600" y="3314700"/>
            <a:ext cx="6019800" cy="800100"/>
          </a:xfrm>
          <a:prstGeom prst="roundRect">
            <a:avLst>
              <a:gd name="adj" fmla="val 1190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33" name=""/>
          <p:cNvSpPr/>
          <p:nvPr/>
        </p:nvSpPr>
        <p:spPr>
          <a:xfrm rot="0" flipH="0" flipV="0">
            <a:off x="800100" y="3505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990600" y="3619500"/>
            <a:ext cx="2476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最终状态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3619500" y="3629025"/>
            <a:ext cx="2819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运行最后停在哪个状态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609600" y="4229100"/>
            <a:ext cx="6019800" cy="800100"/>
          </a:xfrm>
          <a:prstGeom prst="roundRect">
            <a:avLst>
              <a:gd name="adj" fmla="val 1190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37" name=""/>
          <p:cNvSpPr/>
          <p:nvPr/>
        </p:nvSpPr>
        <p:spPr>
          <a:xfrm rot="0" flipH="0" flipV="0">
            <a:off x="800100" y="4419600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990600" y="4533900"/>
            <a:ext cx="2476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最终提交边界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3619500" y="4543425"/>
            <a:ext cx="2819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取消之后事实停在第几步</a:t>
            </a:r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609600" y="5143500"/>
            <a:ext cx="6019800" cy="800100"/>
          </a:xfrm>
          <a:prstGeom prst="roundRect">
            <a:avLst>
              <a:gd name="adj" fmla="val 1190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41" name=""/>
          <p:cNvSpPr/>
          <p:nvPr/>
        </p:nvSpPr>
        <p:spPr>
          <a:xfrm rot="0" flipH="0" flipV="0">
            <a:off x="800100" y="5334000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990600" y="5448300"/>
            <a:ext cx="2476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在途模型请求的结束方式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3619500" y="5457825"/>
            <a:ext cx="2819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中止、超时，还是正常返回</a:t>
            </a:r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6934200" y="1819275"/>
            <a:ext cx="4648200" cy="1962150"/>
          </a:xfrm>
          <a:prstGeom prst="roundRect">
            <a:avLst>
              <a:gd name="adj" fmla="val 485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7162800" y="2362200"/>
            <a:ext cx="4191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按钮成功不等于远端已停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7162800" y="2676525"/>
            <a:ext cx="41910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不能把按钮返回成功当作远端推理已经终止的证明。请求被记录下来，和推理真正停止，是两件事。</a:t>
            </a:r>
            <a:endParaRPr/>
          </a:p>
        </p:txBody>
      </p:sp>
      <p:sp>
        <p:nvSpPr>
          <p:cNvPr id="347" name=""/>
          <p:cNvSpPr/>
          <p:nvPr/>
        </p:nvSpPr>
        <p:spPr>
          <a:xfrm rot="0" flipH="0" flipV="0">
            <a:off x="6934200" y="3895725"/>
            <a:ext cx="4648200" cy="1714500"/>
          </a:xfrm>
          <a:prstGeom prst="roundRect">
            <a:avLst>
              <a:gd name="adj" fmla="val 555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7162800" y="4314825"/>
            <a:ext cx="4191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已提交历史仍然有用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7162800" y="4629150"/>
            <a:ext cx="41910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取消结束的是当前这次运行的意图；在它之前已经提交的事实，依然可以拿来做分析。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暂停、取消、续跑与重跑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19 / 24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383" name="" descr="&lt;Slide notes={`取消这件事有一个容易看错的时间顺序。&#10;&#10;Runtime 先向模型发出一个同步请求，这个请求会进入等待。操作者在这段时间里点击取消，系统会在文件里写下控制标志，并且返回“控制请求已提交”。&#10;&#10;请注意这个回执出现的位置：它在最终状态核对之前。也就是说，拿到回执只能说明请求被记录下来了，不能说明别的。&#10;&#10;真正去读取取消信号，靠的是 Runtime 里已有的那些控制检查位置。模型请求实际以什么方式结束，要单独记录下来。&#10;&#10;标了问号的那一段，就是在途请求能不能立即中断。这个问题目前还没有做专门验收，所以不能给出远端推理停止的时刻。另外，各节点之间的间隔不代表真实的响应时长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0.5　取消请求与「立即停止」需要分别验证&lt;/Text&gt;&#10;            &lt;Text style={{ fontSize: 34, fontWeight: 'bold', color: '#20344B' }}&gt;取消的时序与未验收边界&lt;/Text&gt;&#10;        &lt;/Box&gt;&#10;    &lt;/Box&gt;&#10;&#10;    &lt;Box style={{ height: 540, flexDirection: 'column', justifyContent: 'center', gap: 16 }}&gt;&#10;&#10;        &lt;Box style={{ width: 1152, height: 380, background: '#F4F7FA', borderRadius: 12, padding: '16px 20px', flexDirection: 'column', gap: 12, justifyContent: 'center' }}&gt;&#10;&#10;            &lt;Box style={{ flexDirection: 'row', alignItems: 'center', gap: 14 }}&gt;&#10;                &lt;Text style={{ fontSize: 14, fontWeight: 'bold', color: '#546779' }}&gt;时间从左到右；节点间隔不按比例&lt;/Text&gt;&#10;                &lt;Box style={{ width: 56, height: 24, background: '#FFF4E6', borderRadius: 6, justifyContent: 'center', alignItems: 'center' }}&gt;&#10;                    &lt;Text style={{ fontSize: 13, color: '#CB6B28' }}&gt;示意&lt;/Text&gt;&#10;                &lt;/Box&gt;&#10;            &lt;/Box&gt;&#10;&#10;            &lt;Box style={{ flexDirection: 'row', alignItems: 'center', gap: 12 }}&gt;&#10;                &lt;Box style={{ width: 120, height: 68, background: '#EDF4FC', borderRadius: 8, justifyContent: 'center', alignItems: 'center' }}&gt;&#10;                    &lt;Text style={{ fontSize: 14, fontWeight: 'bold', color: '#276FBF' }}&gt;模型请求&lt;/Text&gt;&#10;                &lt;/Box&gt;&#10;                &lt;Box style={{ flexDirection: 'row', alignItems: 'center' }}&gt;&#10;                    &lt;Box style={{ width: 220, height: 56, background: '#FFFFFF', borderRadius: 8, justifyContent: 'center', alignItems: 'center' }}&gt;&#10;                        &lt;Text style={{ fontSize: 14, color: '#20344B' }}&gt;发出同步请求&lt;/Text&gt;&#10;                    &lt;/Box&gt;&#10;                    &lt;Box style={{ width: 44, height: 56, justifyContent: 'center', alignItems: 'center' }}&gt;&#10;                        &lt;Text style={{ fontSize: 20, color: '#546779' }}&gt;›&lt;/Text&gt;&#10;                    &lt;/Box&gt;&#10;                    &lt;Box style={{ width: 300, height: 56, background: '#CB6B28', borderRadius: 8, justifyContent: 'center', alignItems: 'center' }}&gt;&#10;                        &lt;Text style={{ fontSize: 14, color: '#FFFFFF' }}&gt;？在途等待：能否立即中断&lt;/Text&gt;&#10;                    &lt;/Box&gt;&#10;                    &lt;Box style={{ width: 44, height: 56, justifyContent: 'center', alignItems: 'center' }}&gt;&#10;                        &lt;Text style={{ fontSize: 20, color: '#546779' }}&gt;›&lt;/Text&gt;&#10;                    &lt;/Box&gt;&#10;                    &lt;Box style={{ width: 300, height: 56, background: '#FFFFFF', borderRadius: 8, justifyContent: 'center', alignItems: 'center' }}&gt;&#10;                        &lt;Text style={{ fontSize: 14, color: '#20344B' }}&gt;实际结束方式需记录&lt;/Text&gt;&#10;                    &lt;/Box&gt;&#10;                &lt;/Box&gt;&#10;            &lt;/Box&gt;&#10;&#10;            &lt;Box style={{ flexDirection: 'row', alignItems: 'center', gap: 12 }}&gt;&#10;                &lt;Box style={{ width: 120, height: 68, background: '#EDF4FC', borderRadius: 8, justifyContent: 'center', alignItems: 'center' }}&gt;&#10;                    &lt;Text style={{ fontSize: 14, fontWeight: 'bold', color: '#276FBF' }}&gt;操作者&lt;/Text&gt;&#10;                &lt;/Box&gt;&#10;                &lt;Box style={{ flexDirection: 'row', alignItems: 'center' }}&gt;&#10;                    &lt;Box style={{ width: 264 }} /&gt;&#10;                    &lt;Box style={{ width: 300, height: 56, background: '#FFFFFF', borderRadius: 8, justifyContent: 'center', alignItems: 'center' }}&gt;&#10;                        &lt;Text style={{ fontSize: 14, color: '#20344B' }}&gt;点击取消，记录请求时刻&lt;/Text&gt;&#10;                    &lt;/Box&gt;&#10;                &lt;/Box&gt;&#10;            &lt;/Box&gt;&#10;&#10;            &lt;Box style={{ flexDirection: 'row', alignItems: 'center', gap: 12 }}&gt;&#10;                &lt;Box style={{ width: 120, height: 68, background: '#EDF4FC', borderRadius: 8, justifyContent: 'center', alignItems: 'center' }}&gt;&#10;                    &lt;Text style={{ fontSize: 14, fontWeight: 'bold', color: '#276FBF' }}&gt;文件控制标志&lt;/Text&gt;&#10;                &lt;/Box&gt;&#10;                &lt;Box style={{ flexDirection: 'row', alignItems: 'center' }}&gt;&#10;                    &lt;Box style={{ width: 264 }} /&gt;&#10;                    &lt;Box style={{ width: 300, height: 56, background: '#FFF4E6', borderRadius: 8, justifyContent: 'center', alignItems: 'center' }}&gt;&#10;                        &lt;Text style={{ fontSize: 14, color: '#CB6B28' }}&gt;控制请求已提交&lt;/Text&gt;&#10;                    &lt;/Box&gt;&#10;                &lt;/Box&gt;&#10;            &lt;/Box&gt;&#10;&#10;            &lt;Box style={{ flexDirection: 'row', alignItems: 'center', gap: 12 }}&gt;&#10;                &lt;Box style={{ width: 120, height: 68, background: '#EDF4FC', borderRadius: 8, justifyContent: 'center', alignItems: 'center' }}&gt;&#10;                    &lt;Text style={{ fontSize: 14, fontWeight: 'bold', color: '#276FBF' }}&gt;Runtime&lt;/Text&gt;&#10;                &lt;/Box&gt;&#10;                &lt;Box style={{ flexDirection: 'row', alignItems: 'center' }}&gt;&#10;                    &lt;Box style={{ width: 264 }} /&gt;&#10;                    &lt;Box style={{ width: 300, height: 56, background: '#FFFFFF', borderRadius: 8, justifyContent: 'center', alignItems: 'center' }}&gt;&#10;                        &lt;Text style={{ fontSize: 14, color: '#20344B' }}&gt;在已有控制检查位置读取信号&lt;/Text&gt;&#10;                    &lt;/Box&gt;&#10;                    &lt;Box style={{ width: 44, height: 56, justifyContent: 'center', alignItems: 'center' }}&gt;&#10;                        &lt;Text style={{ fontSize: 20, color: '#26816B' }}&gt;›&lt;/Text&gt;&#10;                    &lt;/Box&gt;&#10;                    &lt;Box style={{ width: 340, height: 56, background: '#ECF7F2', borderRadius: 8, justifyContent: 'center', alignItems: 'center' }}&gt;&#10;                        &lt;Text style={{ fontSize: 14, color: '#26816B' }}&gt;核对最终状态与最后提交 Step&lt;/Text&gt;&#10;                    &lt;/Box&gt;&#10;                &lt;/Box&gt;&#10;            &lt;/Box&gt;&#10;&#10;        &lt;/Box&gt;&#10;&#10;        &lt;Box style={{ flexDirection: 'row', gap: 16, background: '#FFF4E6', borderRadius: 10, padding: '14px 22px', alignItems: 'center' }}&gt;&#10;            &lt;Box style={{ width: 4, height: 58, background: '#CB6B28' }} /&gt;&#10;            &lt;Text style={{ fontSize: 15, color: '#546779', flex: 1, lineHeight: 1.6 }}&gt;「控制请求已提交」的回执早于最终状态核对，所以按钮成功只证明提出了取消；问号所在的模型等待阶段仍须专项验收。&lt;/Text&gt;&#10;        &lt;/Box&gt;&#10;&#10;    &lt;/Box&gt;&#10;&#10;    &lt;Box style={{ height: 40, flexDirection: 'row', justifyContent: 'space-between', alignItems: 'center' }}&gt;&#10;        &lt;Text style={{ fontSize: 14, color: '#546779' }}&gt;3.10 暂停、取消、续跑与重跑&lt;/Text&gt;&#10;        &lt;Text style={{ fontSize: 14, color: '#546779' }}&gt;20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3.10.5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取消请求与「立即停止」需要分别验证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取消的时序与未验收边界</a:t>
            </a:r>
            <a:endParaRPr/>
          </a:p>
        </p:txBody>
      </p:sp>
      <p:sp>
        <p:nvSpPr>
          <p:cNvPr id="388" name=""/>
          <p:cNvSpPr/>
          <p:nvPr/>
        </p:nvSpPr>
        <p:spPr>
          <a:xfrm rot="0" flipH="0" flipV="0">
            <a:off x="609600" y="1419225"/>
            <a:ext cx="10972800" cy="3619500"/>
          </a:xfrm>
          <a:prstGeom prst="roundRect">
            <a:avLst>
              <a:gd name="adj" fmla="val 3158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800100" y="1628775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546779"/>
                </a:solidFill>
                <a:latin typeface="Microsoft YaHei"/>
                <a:ea typeface="Microsoft YaHei"/>
              </a:rPr>
              <a:t>时间从左到右；节点间隔不按比例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2933700" y="1590675"/>
            <a:ext cx="533400" cy="228600"/>
          </a:xfrm>
          <a:prstGeom prst="roundRect">
            <a:avLst>
              <a:gd name="adj" fmla="val 25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3076575" y="16287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800100" y="1933575"/>
            <a:ext cx="1143000" cy="647700"/>
          </a:xfrm>
          <a:prstGeom prst="roundRect">
            <a:avLst>
              <a:gd name="adj" fmla="val 1176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1104900" y="218122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76FBF"/>
                </a:solidFill>
                <a:latin typeface="Microsoft YaHei"/>
                <a:ea typeface="Microsoft YaHei"/>
              </a:rPr>
              <a:t>模型请求</a:t>
            </a:r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2057400" y="1990725"/>
            <a:ext cx="20955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2705100" y="2181225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发出同步请求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4333875" y="2143125"/>
            <a:ext cx="66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546779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4572000" y="1990725"/>
            <a:ext cx="2857500" cy="533400"/>
          </a:xfrm>
          <a:prstGeom prst="roundRect">
            <a:avLst>
              <a:gd name="adj" fmla="val 14286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5200650" y="218122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？在途等待：能否立即中断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7610475" y="2143125"/>
            <a:ext cx="66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546779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00" name=""/>
          <p:cNvSpPr/>
          <p:nvPr/>
        </p:nvSpPr>
        <p:spPr>
          <a:xfrm rot="0" flipH="0" flipV="0">
            <a:off x="7848600" y="1990725"/>
            <a:ext cx="28575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8677275" y="2181225"/>
            <a:ext cx="1200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实际结束方式需记录</a:t>
            </a:r>
            <a:endParaRPr/>
          </a:p>
        </p:txBody>
      </p:sp>
      <p:sp>
        <p:nvSpPr>
          <p:cNvPr id="402" name=""/>
          <p:cNvSpPr/>
          <p:nvPr/>
        </p:nvSpPr>
        <p:spPr>
          <a:xfrm rot="0" flipH="0" flipV="0">
            <a:off x="800100" y="2695575"/>
            <a:ext cx="1143000" cy="647700"/>
          </a:xfrm>
          <a:prstGeom prst="roundRect">
            <a:avLst>
              <a:gd name="adj" fmla="val 1176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1171575" y="29432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76FBF"/>
                </a:solidFill>
                <a:latin typeface="Microsoft YaHei"/>
                <a:ea typeface="Microsoft YaHei"/>
              </a:rPr>
              <a:t>操作者</a:t>
            </a:r>
            <a:endParaRPr/>
          </a:p>
        </p:txBody>
      </p:sp>
      <p:sp>
        <p:nvSpPr>
          <p:cNvPr id="404" name=""/>
          <p:cNvSpPr/>
          <p:nvPr/>
        </p:nvSpPr>
        <p:spPr>
          <a:xfrm rot="0" flipH="0" flipV="0">
            <a:off x="4572000" y="2752725"/>
            <a:ext cx="28575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5267325" y="2943225"/>
            <a:ext cx="1466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点击取消，记录请求时刻</a:t>
            </a:r>
            <a:endParaRPr/>
          </a:p>
        </p:txBody>
      </p:sp>
      <p:sp>
        <p:nvSpPr>
          <p:cNvPr id="406" name=""/>
          <p:cNvSpPr/>
          <p:nvPr/>
        </p:nvSpPr>
        <p:spPr>
          <a:xfrm rot="0" flipH="0" flipV="0">
            <a:off x="800100" y="3457575"/>
            <a:ext cx="1143000" cy="647700"/>
          </a:xfrm>
          <a:prstGeom prst="roundRect">
            <a:avLst>
              <a:gd name="adj" fmla="val 1176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971550" y="3705225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76FBF"/>
                </a:solidFill>
                <a:latin typeface="Microsoft YaHei"/>
                <a:ea typeface="Microsoft YaHei"/>
              </a:rPr>
              <a:t>文件控制标志</a:t>
            </a:r>
            <a:endParaRPr/>
          </a:p>
        </p:txBody>
      </p:sp>
      <p:sp>
        <p:nvSpPr>
          <p:cNvPr id="408" name=""/>
          <p:cNvSpPr/>
          <p:nvPr/>
        </p:nvSpPr>
        <p:spPr>
          <a:xfrm rot="0" flipH="0" flipV="0">
            <a:off x="4572000" y="3514725"/>
            <a:ext cx="2857500" cy="533400"/>
          </a:xfrm>
          <a:prstGeom prst="roundRect">
            <a:avLst>
              <a:gd name="adj" fmla="val 1428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5534025" y="3705225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控制请求已提交</a:t>
            </a:r>
            <a:endParaRPr/>
          </a:p>
        </p:txBody>
      </p:sp>
      <p:sp>
        <p:nvSpPr>
          <p:cNvPr id="410" name=""/>
          <p:cNvSpPr/>
          <p:nvPr/>
        </p:nvSpPr>
        <p:spPr>
          <a:xfrm rot="0" flipH="0" flipV="0">
            <a:off x="800100" y="4219575"/>
            <a:ext cx="1143000" cy="647700"/>
          </a:xfrm>
          <a:prstGeom prst="roundRect">
            <a:avLst>
              <a:gd name="adj" fmla="val 1176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1085850" y="4467225"/>
            <a:ext cx="571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276FBF"/>
                </a:solidFill>
                <a:latin typeface="Microsoft YaHei"/>
                <a:ea typeface="Microsoft YaHei"/>
              </a:rPr>
              <a:t>Runtime</a:t>
            </a:r>
            <a:endParaRPr/>
          </a:p>
        </p:txBody>
      </p:sp>
      <p:sp>
        <p:nvSpPr>
          <p:cNvPr id="412" name=""/>
          <p:cNvSpPr/>
          <p:nvPr/>
        </p:nvSpPr>
        <p:spPr>
          <a:xfrm rot="0" flipH="0" flipV="0">
            <a:off x="4572000" y="4276725"/>
            <a:ext cx="28575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5133975" y="4467225"/>
            <a:ext cx="1733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0344B"/>
                </a:solidFill>
                <a:latin typeface="Microsoft YaHei"/>
                <a:ea typeface="Microsoft YaHei"/>
              </a:rPr>
              <a:t>在已有控制检查位置读取信号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7610475" y="4429125"/>
            <a:ext cx="666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15" name=""/>
          <p:cNvSpPr/>
          <p:nvPr/>
        </p:nvSpPr>
        <p:spPr>
          <a:xfrm rot="0" flipH="0" flipV="0">
            <a:off x="7848600" y="4276725"/>
            <a:ext cx="323850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8572500" y="4467225"/>
            <a:ext cx="1790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核对最终状态与最后提交</a:t>
            </a:r>
            <a:r>
              <a:rPr lang="en-US" sz="1050">
                <a:solidFill>
                  <a:srgbClr val="26816B"/>
                </a:solidFill>
                <a:latin typeface="Microsoft YaHei"/>
                <a:ea typeface="Microsoft YaHei"/>
              </a:rPr>
              <a:t xml:space="preserve"> Step</a:t>
            </a:r>
            <a:endParaRPr/>
          </a:p>
        </p:txBody>
      </p:sp>
      <p:sp>
        <p:nvSpPr>
          <p:cNvPr id="417" name=""/>
          <p:cNvSpPr/>
          <p:nvPr/>
        </p:nvSpPr>
        <p:spPr>
          <a:xfrm rot="0" flipH="0" flipV="0">
            <a:off x="609600" y="5191125"/>
            <a:ext cx="10972800" cy="819150"/>
          </a:xfrm>
          <a:prstGeom prst="roundRect">
            <a:avLst>
              <a:gd name="adj" fmla="val 1162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18" name=""/>
          <p:cNvSpPr/>
          <p:nvPr/>
        </p:nvSpPr>
        <p:spPr>
          <a:xfrm rot="0" flipH="0" flipV="0">
            <a:off x="819150" y="5324475"/>
            <a:ext cx="38100" cy="5524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1009650" y="5467350"/>
            <a:ext cx="103632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「控制请求已提交」的回执早于最终状态核对，所以按钮成功只证明提出了取消；问号所在的模型等待阶段仍须专项验收。</a:t>
            </a:r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暂停、取消、续跑与重跑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 / 24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422" name="" descr="&lt;Slide notes={`这里有一条必须写明说出来的实现边界。&#10;&#10;当前取消路由做的事情是写入一个文件标志，Scheduler 在步骤边界检查这个控制信号。也就是说，取消能在步骤之间生效，这一点是可以从代码里核查到的。&#10;&#10;但前端取消提示里写着“立即终止、丢弃未提交步骤”，这句话比刚才那条执行链能证明的行为要强。项目合同要求的是取消能够中断模型等待，而不只是在步骤结束的时候检查一遍。这一项应作为独立待验收问题保存；我没有做长请求取消实验，也没有修改产品。&#10;&#10;两条恢复条件也要记住：Web 的恢复接口允许已暂停或者失败的运行恢复，已经取消的运行不在其中；对于还没有提交过检查点的第 0 步情况，不能预设页面一定提供继续按钮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0.5　取消请求与「立即停止」需要分别验证&lt;/Text&gt;&#10;            &lt;Text style={{ fontSize: 34, fontWeight: 'bold', color: '#20344B' }}&gt;取消的实现边界&lt;/Text&gt;&#10;        &lt;/Box&gt;&#10;    &lt;/Box&gt;&#10;&#10;    &lt;Box style={{ height: 540, flexDirection: 'row', alignItems: 'center', gap: 32 }}&gt;&#10;&#10;        &lt;Box style={{ width: 712, flexDirection: 'column', gap: 12 }}&gt;&#10;&#10;            &lt;Box style={{ width: 712, height: 132, background: '#EDF4FC', borderRadius: 10, padding: '18px 22px', flexDirection: 'column', gap: 8, justifyContent: 'center' }}&gt;&#10;                &lt;Text style={{ fontSize: 17, fontWeight: 'bold', color: '#276FBF' }}&gt;已核查的执行链&lt;/Text&gt;&#10;                &lt;Text style={{ fontSize: 15, color: '#546779', lineHeight: 1.65 }}&gt;取消路由写入文件标志，Scheduler 在步骤边界检查控制信号；这一步可以从代码里核查到。&lt;/Text&gt;&#10;            &lt;/Box&gt;&#10;&#10;            &lt;Box style={{ width: 712, height: 132, background: '#FFF4E6', borderRadius: 10, padding: '18px 22px', flexDirection: 'column', gap: 8, justifyContent: 'center' }}&gt;&#10;                &lt;Text style={{ fontSize: 17, fontWeight: 'bold', color: '#CB6B28' }}&gt;提示文字比执行链说的话更强&lt;/Text&gt;&#10;                &lt;Text style={{ fontSize: 15, color: '#546779', lineHeight: 1.65 }}&gt;前端提示里“立即终止、丢弃未提交 Step”的表述，超出了这条执行链能够证明的行为范围。&lt;/Text&gt;&#10;            &lt;/Box&gt;&#10;&#10;            &lt;Box style={{ width: 712, height: 132, background: '#FFF4E6', borderRadius: 10, padding: '18px 22px', flexDirection: 'column', gap: 8, justifyContent: 'center' }}&gt;&#10;                &lt;Text style={{ fontSize: 17, fontWeight: 'bold', color: '#CB6B28' }}&gt;合同要求：能中断模型等待&lt;/Text&gt;&#10;                &lt;Text style={{ fontSize: 15, color: '#546779', lineHeight: 1.65 }}&gt;项目合同要求取消能够中断模型等待，而不只是在步骤结束时检查一遍，这一项应作为独立待验收问题保存。&lt;/Text&gt;&#10;            &lt;/Box&gt;&#10;&#10;        &lt;/Box&gt;&#10;&#10;        &lt;Box style={{ width: 408, flexDirection: 'column', gap: 12 }}&gt;&#10;&#10;            &lt;Box style={{ width: 408, height: 196, background: '#EDF4FC', borderRadius: 10, padding: '20px 22px', flexDirection: 'column', gap: 8, justifyContent: 'center' }}&gt;&#10;                &lt;Text style={{ fontSize: 17, fontWeight: 'bold', color: '#276FBF' }}&gt;哪条路径可以恢复&lt;/Text&gt;&#10;                &lt;Text style={{ fontSize: 15, color: '#546779', lineHeight: 1.65 }}&gt;Web 恢复接口允许 PAUSED 或 FAILED，并要求存在可恢复边界；已经取消的 Run 不在这条页面恢复路径中。&lt;/Text&gt;&#10;            &lt;/Box&gt;&#10;&#10;            &lt;Box style={{ width: 408, height: 196, background: '#F4F7FA', borderRadius: 10, padding: '20px 22px', flexDirection: 'column', gap: 8, justifyContent: 'center' }}&gt;&#10;                &lt;Text style={{ fontSize: 17, fontWeight: 'bold', color: '#20344B' }}&gt;Step 0 没有检查点&lt;/Text&gt;&#10;                &lt;Text style={{ fontSize: 15, color: '#546779', lineHeight: 1.65 }}&gt;还没有提交过检查点的第 0 步情况，不能预设页面一定提供继续按钮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10 暂停、取消、续跑与重跑&lt;/Text&gt;&#10;        &lt;Text style={{ fontSize: 14, color: '#546779' }}&gt;21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781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3.10.5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取消请求与「立即停止」需要分别验证</a:t>
            </a:r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7813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取消的实现边界</a:t>
            </a:r>
            <a:endParaRPr/>
          </a:p>
        </p:txBody>
      </p:sp>
      <p:sp>
        <p:nvSpPr>
          <p:cNvPr id="427" name=""/>
          <p:cNvSpPr/>
          <p:nvPr/>
        </p:nvSpPr>
        <p:spPr>
          <a:xfrm rot="0" flipH="0" flipV="0">
            <a:off x="609600" y="1714500"/>
            <a:ext cx="6781800" cy="1257300"/>
          </a:xfrm>
          <a:prstGeom prst="roundRect">
            <a:avLst>
              <a:gd name="adj" fmla="val 757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819150" y="2066925"/>
            <a:ext cx="6362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已核查的执行链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819150" y="2343150"/>
            <a:ext cx="636270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取消路由写入文件标志，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Scheduler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在步骤边界检查控制信号；这一步可以从代码里核查到。</a:t>
            </a:r>
            <a:endParaRPr/>
          </a:p>
        </p:txBody>
      </p:sp>
      <p:sp>
        <p:nvSpPr>
          <p:cNvPr id="430" name=""/>
          <p:cNvSpPr/>
          <p:nvPr/>
        </p:nvSpPr>
        <p:spPr>
          <a:xfrm rot="0" flipH="0" flipV="0">
            <a:off x="609600" y="3086100"/>
            <a:ext cx="6781800" cy="1257300"/>
          </a:xfrm>
          <a:prstGeom prst="roundRect">
            <a:avLst>
              <a:gd name="adj" fmla="val 757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819150" y="3438525"/>
            <a:ext cx="6362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提示文字比执行链说的话更强</a:t>
            </a:r>
            <a:endParaRPr/>
          </a:p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819150" y="3714750"/>
            <a:ext cx="636270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前端提示里“立即终止、丢弃未提交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Step”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的表述，超出了这条执行链能够证明的行为范围。</a:t>
            </a:r>
            <a:endParaRPr/>
          </a:p>
        </p:txBody>
      </p:sp>
      <p:sp>
        <p:nvSpPr>
          <p:cNvPr id="433" name=""/>
          <p:cNvSpPr/>
          <p:nvPr/>
        </p:nvSpPr>
        <p:spPr>
          <a:xfrm rot="0" flipH="0" flipV="0">
            <a:off x="609600" y="4457700"/>
            <a:ext cx="6781800" cy="1257300"/>
          </a:xfrm>
          <a:prstGeom prst="roundRect">
            <a:avLst>
              <a:gd name="adj" fmla="val 757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819150" y="4667250"/>
            <a:ext cx="6362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合同要求：能中断模型等待</a:t>
            </a:r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819150" y="4943475"/>
            <a:ext cx="63627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项目合同要求取消能够中断模型等待，而不只是在步骤结束时检查一遍，这一项应作为独立待验收问题保存。</a:t>
            </a:r>
            <a:endParaRPr/>
          </a:p>
        </p:txBody>
      </p:sp>
      <p:sp>
        <p:nvSpPr>
          <p:cNvPr id="436" name=""/>
          <p:cNvSpPr/>
          <p:nvPr/>
        </p:nvSpPr>
        <p:spPr>
          <a:xfrm rot="0" flipH="0" flipV="0">
            <a:off x="7696200" y="1790700"/>
            <a:ext cx="3886200" cy="1866900"/>
          </a:xfrm>
          <a:prstGeom prst="roundRect">
            <a:avLst>
              <a:gd name="adj" fmla="val 510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7905750" y="2162175"/>
            <a:ext cx="3467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哪条路径可以恢复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7905750" y="2438400"/>
            <a:ext cx="346710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Web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恢复接口允许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PAUSED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或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FAILED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，并要求存在可恢复边界；已经取消的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不在这条页面恢复路径中。</a:t>
            </a:r>
            <a:endParaRPr/>
          </a:p>
        </p:txBody>
      </p:sp>
      <p:sp>
        <p:nvSpPr>
          <p:cNvPr id="439" name=""/>
          <p:cNvSpPr/>
          <p:nvPr/>
        </p:nvSpPr>
        <p:spPr>
          <a:xfrm rot="0" flipH="0" flipV="0">
            <a:off x="7696200" y="3771900"/>
            <a:ext cx="3886200" cy="1866900"/>
          </a:xfrm>
          <a:prstGeom prst="roundRect">
            <a:avLst>
              <a:gd name="adj" fmla="val 5102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7905750" y="4286250"/>
            <a:ext cx="3467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Step 0 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没有检查点</a:t>
            </a:r>
            <a:endParaRPr/>
          </a:p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7905750" y="4562475"/>
            <a:ext cx="34671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还没有提交过检查点的第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步情况，不能预设页面一定提供继续按钮。</a:t>
            </a:r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暂停、取消、续跑与重跑</a:t>
            </a:r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21 / 24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444" name="" descr="&lt;Slide notes={`重跑是读原来那个 Run 内嵌的实验，然后创建一个新的 Run。&#10;&#10;这里有一个容易被误解的地方：即使公共资源后来变了，重跑用的输入仍然以原 Run 里保存下来的那份内容为准。这样两次运行之间才具备可比性，否则比的就不是同一个条件。&#10;&#10;当前后端和命令行具备独立的重跑能力。这次源码核查没有确认存在专门的前端“重跑此 Run”按钮，所以我不会写出一条看起来能点的操作路径。&#10;&#10;还有一种情况：如果想修改林岚的 SOP，再比较公告更正的速度，那不算重跑。正确做法是在界面上复制封存实验，编辑出一份新的独立草稿，重新预检，再执行。它属于修改条件之后的新的实验运行，不能标成原 Run 的续跑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0.6　重跑与修改后再跑&lt;/Text&gt;&#10;            &lt;Text style={{ fontSize: 34, fontWeight: 'bold', color: '#20344B' }}&gt;重跑与修改后再跑&lt;/Text&gt;&#10;        &lt;/Box&gt;&#10;    &lt;/Box&gt;&#10;&#10;    &lt;Box style={{ height: 540, flexDirection: 'row', alignItems: 'center', gap: 32 }}&gt;&#10;&#10;        &lt;Box style={{ width: 552, flexDirection: 'column', gap: 12 }}&gt;&#10;            &lt;Text style={{ fontSize: 15, fontWeight: 'bold', color: '#546779' }}&gt;重跑：新的 Run，旧的输入&lt;/Text&gt;&#10;&#10;            &lt;Box style={{ width: 552, height: 130, background: '#EDF4FC', borderRadius: 10, padding: '16px 20px', flexDirection: 'column', gap: 6, justifyContent: 'center' }}&gt;&#10;                &lt;Text style={{ fontSize: 17, fontWeight: 'bold', color: '#276FBF' }}&gt;读原 Run 的内嵌实验&lt;/Text&gt;&#10;                &lt;Text style={{ fontSize: 15, color: '#546779', lineHeight: 1.6 }}&gt;输入从一个已经保存下来的实验副本里取，而不是重新挑一份。&lt;/Text&gt;&#10;            &lt;/Box&gt;&#10;&#10;            &lt;Box style={{ width: 552, height: 130, background: '#F7F3E8', borderRadius: 10, padding: '16px 20px', flexDirection: 'column', gap: 6, justifyContent: 'center' }}&gt;&#10;                &lt;Text style={{ fontSize: 17, fontWeight: 'bold', color: '#20344B' }}&gt;公共资源变了也不换输入&lt;/Text&gt;&#10;                &lt;Text style={{ fontSize: 15, color: '#546779', lineHeight: 1.6 }}&gt;即使公共资源已经改变，重跑的输入仍以原 Run 中保存的内容为准。&lt;/Text&gt;&#10;            &lt;/Box&gt;&#10;&#10;            &lt;Box style={{ width: 552, height: 130, background: '#FFF4E6', borderRadius: 10, padding: '16px 20px', flexDirection: 'column', gap: 6, justifyContent: 'center' }}&gt;&#10;                &lt;Text style={{ fontSize: 17, fontWeight: 'bold', color: '#CB6B28' }}&gt;未确认前端有「重跑此 Run」按钮&lt;/Text&gt;&#10;                &lt;Text style={{ fontSize: 15, color: '#546779', lineHeight: 1.6 }}&gt;后端与 CLI 具有独立重跑能力；本次核查没有确认专门的前端入口。&lt;/Text&gt;&#10;            &lt;/Box&gt;&#10;        &lt;/Box&gt;&#10;&#10;        &lt;Box style={{ width: 568, flexDirection: 'column', gap: 12 }}&gt;&#10;            &lt;Text style={{ fontSize: 15, fontWeight: 'bold', color: '#546779' }}&gt;修改条件后再跑：四个动作&lt;/Text&gt;&#10;&#10;            &lt;Box style={{ width: 568, height: 76, background: '#EDF4FC', borderRadius: 10, padding: '0 20px', flexDirection: 'row', alignItems: 'center', gap: 16 }}&gt;&#10;                &lt;Box style={{ width: 30, height: 30, background: '#276FBF', borderRadius: 8, justifyContent: 'center', alignItems: 'center' }}&gt;&#10;                    &lt;Text style={{ fontSize: 15, fontWeight: 'bold', color: '#FFFFFF' }}&gt;1&lt;/Text&gt;&#10;                &lt;/Box&gt;&#10;                &lt;Text style={{ fontSize: 17, fontWeight: 'bold', color: '#20344B' }}&gt;复制封存实验&lt;/Text&gt;&#10;            &lt;/Box&gt;&#10;&#10;            &lt;Box style={{ width: 568, height: 76, background: '#EDF4FC', borderRadius: 10, padding: '0 20px', flexDirection: 'row', alignItems: 'center', gap: 16 }}&gt;&#10;                &lt;Box style={{ width: 30, height: 30, background: '#276FBF', borderRadius: 8, justifyContent: 'center', alignItems: 'center' }}&gt;&#10;                    &lt;Text style={{ fontSize: 15, fontWeight: 'bold', color: '#FFFFFF' }}&gt;2&lt;/Text&gt;&#10;                &lt;/Box&gt;&#10;                &lt;Text style={{ fontSize: 17, fontWeight: 'bold', color: '#20344B' }}&gt;编辑一份新的独立草稿&lt;/Text&gt;&#10;            &lt;/Box&gt;&#10;&#10;            &lt;Box style={{ width: 568, height: 76, background: '#EDF4FC', borderRadius: 10, padding: '0 20px', flexDirection: 'row', alignItems: 'center', gap: 16 }}&gt;&#10;                &lt;Box style={{ width: 30, height: 30, background: '#276FBF', borderRadius: 8, justifyContent: 'center', alignItems: 'center' }}&gt;&#10;                    &lt;Text style={{ fontSize: 15, fontWeight: 'bold', color: '#FFFFFF' }}&gt;3&lt;/Text&gt;&#10;                &lt;/Box&gt;&#10;                &lt;Text style={{ fontSize: 17, fontWeight: 'bold', color: '#20344B' }}&gt;重新预检&lt;/Text&gt;&#10;            &lt;/Box&gt;&#10;&#10;            &lt;Box style={{ width: 568, height: 76, background: '#EDF4FC', borderRadius: 10, padding: '0 20px', flexDirection: 'row', alignItems: 'center', gap: 16 }}&gt;&#10;                &lt;Box style={{ width: 30, height: 30, background: '#276FBF', borderRadius: 8, justifyContent: 'center', alignItems: 'center' }}&gt;&#10;                    &lt;Text style={{ fontSize: 15, fontWeight: 'bold', color: '#FFFFFF' }}&gt;4&lt;/Text&gt;&#10;                &lt;/Box&gt;&#10;                &lt;Text style={{ fontSize: 17, fontWeight: 'bold', color: '#20344B' }}&gt;执行新的实验运行&lt;/Text&gt;&#10;            &lt;/Box&gt;&#10;&#10;            &lt;Box style={{ flexDirection: 'row', gap: 14, background: '#FFF4E6', borderRadius: 10, padding: '14px 20px', alignItems: 'center' }}&gt;&#10;                &lt;Box style={{ width: 4, height: 44, background: '#CB6B28' }} /&gt;&#10;                &lt;Text style={{ fontSize: 15, color: '#546779', flex: 1, lineHeight: 1.6 }}&gt;这是修改条件后的新实验运行，不应标为原 Run 的续跑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0 暂停、取消、续跑与重跑&lt;/Text&gt;&#10;        &lt;Text style={{ fontSize: 14, color: '#546779' }}&gt;22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590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3.10.6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重跑与修改后再跑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重跑与修改后再跑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609600" y="1600200"/>
            <a:ext cx="5257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重跑：新的</a:t>
            </a:r>
            <a:r>
              <a:rPr lang="en-US" sz="1125" b="1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，旧的输入</a:t>
            </a:r>
            <a:endParaRPr/>
          </a:p>
        </p:txBody>
      </p:sp>
      <p:sp>
        <p:nvSpPr>
          <p:cNvPr id="450" name=""/>
          <p:cNvSpPr/>
          <p:nvPr/>
        </p:nvSpPr>
        <p:spPr>
          <a:xfrm rot="0" flipH="0" flipV="0">
            <a:off x="609600" y="1885950"/>
            <a:ext cx="5257800" cy="123825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800100" y="2238375"/>
            <a:ext cx="4876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读原</a:t>
            </a: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的内嵌实验</a:t>
            </a:r>
            <a:endParaRPr/>
          </a:p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800100" y="2495550"/>
            <a:ext cx="4876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输入从一个已经保存下来的实验副本里取，而不是重新挑一份。</a:t>
            </a:r>
            <a:endParaRPr/>
          </a:p>
        </p:txBody>
      </p:sp>
      <p:sp>
        <p:nvSpPr>
          <p:cNvPr id="453" name=""/>
          <p:cNvSpPr/>
          <p:nvPr/>
        </p:nvSpPr>
        <p:spPr>
          <a:xfrm rot="0" flipH="0" flipV="0">
            <a:off x="609600" y="3238500"/>
            <a:ext cx="5257800" cy="1238250"/>
          </a:xfrm>
          <a:prstGeom prst="roundRect">
            <a:avLst>
              <a:gd name="adj" fmla="val 7692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800100" y="3590925"/>
            <a:ext cx="4876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公共资源变了也不换输入</a:t>
            </a:r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800100" y="3848100"/>
            <a:ext cx="4876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即使公共资源已经改变，重跑的输入仍以原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中保存的内容为准。</a:t>
            </a:r>
            <a:endParaRPr/>
          </a:p>
        </p:txBody>
      </p:sp>
      <p:sp>
        <p:nvSpPr>
          <p:cNvPr id="456" name=""/>
          <p:cNvSpPr/>
          <p:nvPr/>
        </p:nvSpPr>
        <p:spPr>
          <a:xfrm rot="0" flipH="0" flipV="0">
            <a:off x="609600" y="4591050"/>
            <a:ext cx="5257800" cy="1238250"/>
          </a:xfrm>
          <a:prstGeom prst="roundRect">
            <a:avLst>
              <a:gd name="adj" fmla="val 769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800100" y="4943475"/>
            <a:ext cx="4876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未确认前端有「重跑此</a:t>
            </a: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」按钮</a:t>
            </a:r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800100" y="5200650"/>
            <a:ext cx="4876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后端与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CLI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具有独立重跑能力；本次核查没有确认专门的前端入口。</a:t>
            </a:r>
            <a:endParaRPr/>
          </a:p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6172200" y="1552575"/>
            <a:ext cx="5410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修改条件后再跑：四个动作</a:t>
            </a:r>
            <a:endParaRPr/>
          </a:p>
        </p:txBody>
      </p:sp>
      <p:sp>
        <p:nvSpPr>
          <p:cNvPr id="460" name=""/>
          <p:cNvSpPr/>
          <p:nvPr/>
        </p:nvSpPr>
        <p:spPr>
          <a:xfrm rot="0" flipH="0" flipV="0">
            <a:off x="6172200" y="1838325"/>
            <a:ext cx="5410200" cy="723900"/>
          </a:xfrm>
          <a:prstGeom prst="roundRect">
            <a:avLst>
              <a:gd name="adj" fmla="val 1315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61" name=""/>
          <p:cNvSpPr/>
          <p:nvPr/>
        </p:nvSpPr>
        <p:spPr>
          <a:xfrm rot="0" flipH="0" flipV="0">
            <a:off x="6362700" y="205740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6457950" y="211455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6800850" y="2105025"/>
            <a:ext cx="97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复制封存实验</a:t>
            </a:r>
            <a:endParaRPr/>
          </a:p>
        </p:txBody>
      </p:sp>
      <p:sp>
        <p:nvSpPr>
          <p:cNvPr id="464" name=""/>
          <p:cNvSpPr/>
          <p:nvPr/>
        </p:nvSpPr>
        <p:spPr>
          <a:xfrm rot="0" flipH="0" flipV="0">
            <a:off x="6172200" y="2676525"/>
            <a:ext cx="5410200" cy="723900"/>
          </a:xfrm>
          <a:prstGeom prst="roundRect">
            <a:avLst>
              <a:gd name="adj" fmla="val 1315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65" name=""/>
          <p:cNvSpPr/>
          <p:nvPr/>
        </p:nvSpPr>
        <p:spPr>
          <a:xfrm rot="0" flipH="0" flipV="0">
            <a:off x="6362700" y="289560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6457950" y="295275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6800850" y="2943225"/>
            <a:ext cx="1619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编辑一份新的独立草稿</a:t>
            </a:r>
            <a:endParaRPr/>
          </a:p>
        </p:txBody>
      </p:sp>
      <p:sp>
        <p:nvSpPr>
          <p:cNvPr id="468" name=""/>
          <p:cNvSpPr/>
          <p:nvPr/>
        </p:nvSpPr>
        <p:spPr>
          <a:xfrm rot="0" flipH="0" flipV="0">
            <a:off x="6172200" y="3514725"/>
            <a:ext cx="5410200" cy="723900"/>
          </a:xfrm>
          <a:prstGeom prst="roundRect">
            <a:avLst>
              <a:gd name="adj" fmla="val 1315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69" name=""/>
          <p:cNvSpPr/>
          <p:nvPr/>
        </p:nvSpPr>
        <p:spPr>
          <a:xfrm rot="0" flipH="0" flipV="0">
            <a:off x="6362700" y="373380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6457950" y="379095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6800850" y="3781425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重新预检</a:t>
            </a:r>
            <a:endParaRPr/>
          </a:p>
        </p:txBody>
      </p:sp>
      <p:sp>
        <p:nvSpPr>
          <p:cNvPr id="472" name=""/>
          <p:cNvSpPr/>
          <p:nvPr/>
        </p:nvSpPr>
        <p:spPr>
          <a:xfrm rot="0" flipH="0" flipV="0">
            <a:off x="6172200" y="4352925"/>
            <a:ext cx="5410200" cy="723900"/>
          </a:xfrm>
          <a:prstGeom prst="roundRect">
            <a:avLst>
              <a:gd name="adj" fmla="val 1315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73" name=""/>
          <p:cNvSpPr/>
          <p:nvPr/>
        </p:nvSpPr>
        <p:spPr>
          <a:xfrm rot="0" flipH="0" flipV="0">
            <a:off x="6362700" y="457200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6457950" y="4629150"/>
            <a:ext cx="95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6800850" y="4619625"/>
            <a:ext cx="129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执行新的实验运行</a:t>
            </a:r>
            <a:endParaRPr/>
          </a:p>
        </p:txBody>
      </p:sp>
      <p:sp>
        <p:nvSpPr>
          <p:cNvPr id="476" name=""/>
          <p:cNvSpPr/>
          <p:nvPr/>
        </p:nvSpPr>
        <p:spPr>
          <a:xfrm rot="0" flipH="0" flipV="0">
            <a:off x="6172200" y="5191125"/>
            <a:ext cx="5410200" cy="685800"/>
          </a:xfrm>
          <a:prstGeom prst="roundRect">
            <a:avLst>
              <a:gd name="adj" fmla="val 1388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77" name=""/>
          <p:cNvSpPr/>
          <p:nvPr/>
        </p:nvSpPr>
        <p:spPr>
          <a:xfrm rot="0" flipH="0" flipV="0">
            <a:off x="6362700" y="5324475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6534150" y="5400675"/>
            <a:ext cx="48577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这是修改条件后的新实验运行，不应标为原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的续跑。</a:t>
            </a:r>
            <a:endParaRPr/>
          </a:p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暂停、取消、续跑与重跑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22 / 24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481" name="" descr="&lt;Slide notes={`这一节做完，验收材料要留下两样东西。&#10;&#10;第一样是一张身份对照表：暂停前的 Run、Attempt、Step 是多少，恢复之后对应的值又是什么，对象和会话的检查结果是什么，取消的限制在哪里，以及是否真的完成了一次重跑。&#10;&#10;第二样是连续帧证据。只有连续的帧序列才能说明边界是接着的，单张截图说明不了这件事。&#10;&#10;还没有实际做的项目，就在表里写“待验收”。这里有一条纪律：不要用看起来像真的 UUID 去把表格填满。那样表格是完整的，证据却是假的。&#10;&#10;把这两样东西准备好，后面回放和诊断那一段才有可以对的东西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0.6　重跑与修改后再跑&lt;/Text&gt;&#10;            &lt;Text style={{ fontSize: 34, fontWeight: 'bold', color: '#20344B' }}&gt;本节完成时要留下什么&lt;/Text&gt;&#10;        &lt;/Box&gt;&#10;    &lt;/Box&gt;&#10;&#10;    &lt;Box style={{ height: 540, flexDirection: 'row', alignItems: 'center', gap: 32 }}&gt;&#10;&#10;        &lt;Box style={{ width: 700, height: 460, background: '#F4F7FA', borderRadius: 12, padding: 16, flexDirection: 'column', gap: 12 }}&gt;&#10;&#10;            &lt;Box style={{ flexDirection: 'row', alignItems: 'center', gap: 12 }}&gt;&#10;                &lt;Text style={{ fontSize: 15, fontWeight: 'bold', color: '#20344B' }}&gt;身份对照表&lt;/Text&gt;&#10;                &lt;Box style={{ width: 56, height: 24, background: '#FFF4E6', borderRadius: 6, justifyContent: 'center', alignItems: 'center' }}&gt;&#10;                    &lt;Text style={{ fontSize: 13, color: '#CB6B28' }}&gt;示意&lt;/Text&gt;&#10;                &lt;/Box&gt;&#10;            &lt;/Box&gt;&#10;&#10;            &lt;Box style={{ flexDirection: 'row', gap: 8 }}&gt;&#10;                &lt;Box style={{ width: 256, height: 40, background: '#EDF4FC', borderRadius: 6, padding: '0 16px', justifyContent: 'center' }}&gt;&#10;                    &lt;Text style={{ fontSize: 14, color: '#546779' }}&gt;记录项&lt;/Text&gt;&#10;                &lt;/Box&gt;&#10;                &lt;Box style={{ width: 196, height: 40, background: '#EDF4FC', borderRadius: 6, justifyContent: 'center', alignItems: 'center' }}&gt;&#10;                    &lt;Text style={{ fontSize: 14, color: '#546779' }}&gt;暂停前&lt;/Text&gt;&#10;                &lt;/Box&gt;&#10;                &lt;Box style={{ width: 196, height: 40, background: '#EDF4FC', borderRadius: 6, justifyContent: 'center', alignItems: 'center' }}&gt;&#10;                    &lt;Text style={{ fontSize: 14, color: '#546779' }}&gt;恢复后&lt;/Text&gt;&#10;                &lt;/Box&gt;&#10;            &lt;/Box&gt;&#10;&#10;            &lt;Box style={{ flexDirection: 'row', gap: 8 }}&gt;&#10;                &lt;Box style={{ width: 256, height: 56, background: '#FFFFFF', borderRadius: 6, padding: '0 16px', justifyContent: 'center' }}&gt;&#10;                    &lt;Text style={{ fontSize: 15, color: '#20344B' }}&gt;Run　run_id&lt;/Text&gt;&#10;                &lt;/Box&gt;&#10;                &lt;Box style={{ width: 196, height: 56, background: '#FFFFFF', borderRadius: 6, justifyContent: 'center', alignItems: 'center' }}&gt;&#10;                    &lt;Text style={{ fontSize: 15, color: '#546779' }}&gt;待填&lt;/Text&gt;&#10;                &lt;/Box&gt;&#10;                &lt;Box style={{ width: 196, height: 56, background: '#FFFFFF', borderRadius: 6, justifyContent: 'center', alignItems: 'center' }}&gt;&#10;                    &lt;Text style={{ fontSize: 15, color: '#546779' }}&gt;待填&lt;/Text&gt;&#10;                &lt;/Box&gt;&#10;            &lt;/Box&gt;&#10;&#10;            &lt;Box style={{ flexDirection: 'row', gap: 8 }}&gt;&#10;                &lt;Box style={{ width: 256, height: 56, background: '#FFFFFF', borderRadius: 6, padding: '0 16px', justifyContent: 'center' }}&gt;&#10;                    &lt;Text style={{ fontSize: 15, color: '#20344B' }}&gt;Attempt　attempt_id&lt;/Text&gt;&#10;                &lt;/Box&gt;&#10;                &lt;Box style={{ width: 196, height: 56, background: '#FFFFFF', borderRadius: 6, justifyContent: 'center', alignItems: 'center' }}&gt;&#10;                    &lt;Text style={{ fontSize: 15, color: '#546779' }}&gt;待填&lt;/Text&gt;&#10;                &lt;/Box&gt;&#10;                &lt;Box style={{ width: 196, height: 56, background: '#FFFFFF', borderRadius: 6, justifyContent: 'center', alignItems: 'center' }}&gt;&#10;                    &lt;Text style={{ fontSize: 15, color: '#546779' }}&gt;待填&lt;/Text&gt;&#10;                &lt;/Box&gt;&#10;            &lt;/Box&gt;&#10;&#10;            &lt;Box style={{ flexDirection: 'row', gap: 8 }}&gt;&#10;                &lt;Box style={{ width: 256, height: 56, background: '#FFFFFF', borderRadius: 6, padding: '0 16px', justifyContent: 'center' }}&gt;&#10;                    &lt;Text style={{ fontSize: 15, color: '#20344B' }}&gt;Step　已提交边界&lt;/Text&gt;&#10;                &lt;/Box&gt;&#10;                &lt;Box style={{ width: 196, height: 56, background: '#FFFFFF', borderRadius: 6, justifyContent: 'center', alignItems: 'center' }}&gt;&#10;                    &lt;Text style={{ fontSize: 15, color: '#546779' }}&gt;待填&lt;/Text&gt;&#10;                &lt;/Box&gt;&#10;                &lt;Box style={{ width: 196, height: 56, background: '#FFFFFF', borderRadius: 6, justifyContent: 'center', alignItems: 'center' }}&gt;&#10;                    &lt;Text style={{ fontSize: 15, color: '#546779' }}&gt;待填&lt;/Text&gt;&#10;                &lt;/Box&gt;&#10;            &lt;/Box&gt;&#10;&#10;            &lt;Box style={{ flexDirection: 'row', gap: 8 }}&gt;&#10;                &lt;Box style={{ width: 256, height: 56, background: '#FFFFFF', borderRadius: 6, padding: '0 16px', justifyContent: 'center' }}&gt;&#10;                    &lt;Text style={{ fontSize: 15, color: '#20344B' }}&gt;对象与会话检查&lt;/Text&gt;&#10;                &lt;/Box&gt;&#10;                &lt;Box style={{ width: 196, height: 56, background: '#FFFFFF', borderRadius: 6, justifyContent: 'center', alignItems: 'center' }}&gt;&#10;                    &lt;Text style={{ fontSize: 15, color: '#546779' }}&gt;待填&lt;/Text&gt;&#10;                &lt;/Box&gt;&#10;                &lt;Box style={{ width: 196, height: 56, background: '#FFFFFF', borderRadius: 6, justifyContent: 'center', alignItems: 'center' }}&gt;&#10;                    &lt;Text style={{ fontSize: 15, color: '#546779' }}&gt;待填&lt;/Text&gt;&#10;                &lt;/Box&gt;&#10;            &lt;/Box&gt;&#10;&#10;            &lt;Box style={{ flexDirection: 'row', gap: 8 }}&gt;&#10;                &lt;Box style={{ width: 256, height: 56, background: '#FFFFFF', borderRadius: 6, padding: '0 16px', justifyContent: 'center' }}&gt;&#10;                    &lt;Text style={{ fontSize: 15, color: '#20344B' }}&gt;取消限制 · 是否完成重跑&lt;/Text&gt;&#10;                &lt;/Box&gt;&#10;                &lt;Box style={{ width: 196, height: 56, background: '#FFFFFF', borderRadius: 6, justifyContent: 'center', alignItems: 'center' }}&gt;&#10;                    &lt;Text style={{ fontSize: 15, color: '#546779' }}&gt;待填&lt;/Text&gt;&#10;                &lt;/Box&gt;&#10;                &lt;Box style={{ width: 196, height: 56, background: '#FFFFFF', borderRadius: 6, justifyContent: 'center', alignItems: 'center' }}&gt;&#10;                    &lt;Text style={{ fontSize: 15, color: '#546779' }}&gt;待填&lt;/Text&gt;&#10;                &lt;/Box&gt;&#10;            &lt;/Box&gt;&#10;&#10;        &lt;/Box&gt;&#10;&#10;        &lt;Box style={{ width: 420, flexDirection: 'column', gap: 12 }}&gt;&#10;&#10;            &lt;Box style={{ width: 420, height: 130, background: '#EDF4FC', borderRadius: 10, padding: '18px 22px', flexDirection: 'column', gap: 8, justifyContent: 'center' }}&gt;&#10;                &lt;Text style={{ fontSize: 17, fontWeight: 'bold', color: '#276FBF' }}&gt;交付物一　身份对照表&lt;/Text&gt;&#10;                &lt;Text style={{ fontSize: 15, color: '#546779', lineHeight: 1.65 }}&gt;暂停前与恢复后的对应值，逐行填上真实记录。&lt;/Text&gt;&#10;            &lt;/Box&gt;&#10;&#10;            &lt;Box style={{ width: 420, height: 130, background: '#ECF7F2', borderRadius: 10, padding: '18px 22px', flexDirection: 'column', gap: 8, justifyContent: 'center' }}&gt;&#10;                &lt;Text style={{ fontSize: 17, fontWeight: 'bold', color: '#26816B' }}&gt;交付物二　连续帧证据&lt;/Text&gt;&#10;                &lt;Text style={{ fontSize: 15, color: '#546779', lineHeight: 1.65 }}&gt;连续的帧序列才能说明边界接着，单张截图说明不了。&lt;/Text&gt;&#10;            &lt;/Box&gt;&#10;&#10;            &lt;Box style={{ width: 420, height: 150, background: '#FFF4E6', borderRadius: 10, padding: '18px 22px', flexDirection: 'column', gap: 8, justifyContent: 'center' }}&gt;&#10;                &lt;Text style={{ fontSize: 17, fontWeight: 'bold', color: '#CB6B28' }}&gt;没做的就写「待验收」&lt;/Text&gt;&#10;                &lt;Text style={{ fontSize: 15, color: '#546779', lineHeight: 1.65 }}&gt;不用示意 UUID 把表格填满；表格完整而证据为假，比留空更有害。&lt;/Text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10 暂停、取消、续跑与重跑&lt;/Text&gt;&#10;        &lt;Text style={{ fontSize: 14, color: '#546779' }}&gt;23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3.10.6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重跑与修改后再跑</a:t>
            </a:r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本节完成时要留下什么</a:t>
            </a:r>
            <a:endParaRPr/>
          </a:p>
        </p:txBody>
      </p:sp>
      <p:sp>
        <p:nvSpPr>
          <p:cNvPr id="486" name=""/>
          <p:cNvSpPr/>
          <p:nvPr/>
        </p:nvSpPr>
        <p:spPr>
          <a:xfrm rot="0" flipH="0" flipV="0">
            <a:off x="609600" y="1524000"/>
            <a:ext cx="6667500" cy="4381500"/>
          </a:xfrm>
          <a:prstGeom prst="roundRect">
            <a:avLst>
              <a:gd name="adj" fmla="val 260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762000" y="170497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身份对照表</a:t>
            </a:r>
            <a:endParaRPr/>
          </a:p>
        </p:txBody>
      </p:sp>
      <p:sp>
        <p:nvSpPr>
          <p:cNvPr id="488" name=""/>
          <p:cNvSpPr/>
          <p:nvPr/>
        </p:nvSpPr>
        <p:spPr>
          <a:xfrm rot="0" flipH="0" flipV="0">
            <a:off x="1590675" y="1676400"/>
            <a:ext cx="533400" cy="228600"/>
          </a:xfrm>
          <a:prstGeom prst="roundRect">
            <a:avLst>
              <a:gd name="adj" fmla="val 25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1733550" y="171450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490" name=""/>
          <p:cNvSpPr/>
          <p:nvPr/>
        </p:nvSpPr>
        <p:spPr>
          <a:xfrm rot="0" flipH="0" flipV="0">
            <a:off x="762000" y="2019300"/>
            <a:ext cx="2438400" cy="381000"/>
          </a:xfrm>
          <a:prstGeom prst="roundRect">
            <a:avLst>
              <a:gd name="adj" fmla="val 15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914400" y="2133600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记录项</a:t>
            </a:r>
            <a:endParaRPr/>
          </a:p>
        </p:txBody>
      </p:sp>
      <p:sp>
        <p:nvSpPr>
          <p:cNvPr id="492" name=""/>
          <p:cNvSpPr/>
          <p:nvPr/>
        </p:nvSpPr>
        <p:spPr>
          <a:xfrm rot="0" flipH="0" flipV="0">
            <a:off x="3276600" y="2019300"/>
            <a:ext cx="1866900" cy="381000"/>
          </a:xfrm>
          <a:prstGeom prst="roundRect">
            <a:avLst>
              <a:gd name="adj" fmla="val 15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4010025" y="213360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暂停前</a:t>
            </a:r>
            <a:endParaRPr/>
          </a:p>
        </p:txBody>
      </p:sp>
      <p:sp>
        <p:nvSpPr>
          <p:cNvPr id="494" name=""/>
          <p:cNvSpPr/>
          <p:nvPr/>
        </p:nvSpPr>
        <p:spPr>
          <a:xfrm rot="0" flipH="0" flipV="0">
            <a:off x="5219700" y="2019300"/>
            <a:ext cx="1866900" cy="381000"/>
          </a:xfrm>
          <a:prstGeom prst="roundRect">
            <a:avLst>
              <a:gd name="adj" fmla="val 15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5953125" y="213360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恢复后</a:t>
            </a:r>
            <a:endParaRPr/>
          </a:p>
        </p:txBody>
      </p:sp>
      <p:sp>
        <p:nvSpPr>
          <p:cNvPr id="496" name=""/>
          <p:cNvSpPr/>
          <p:nvPr/>
        </p:nvSpPr>
        <p:spPr>
          <a:xfrm rot="0" flipH="0" flipV="0">
            <a:off x="762000" y="2514600"/>
            <a:ext cx="2438400" cy="5334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914400" y="2695575"/>
            <a:ext cx="2133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>Run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　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>run_id</a:t>
            </a:r>
            <a:endParaRPr/>
          </a:p>
        </p:txBody>
      </p:sp>
      <p:sp>
        <p:nvSpPr>
          <p:cNvPr id="498" name=""/>
          <p:cNvSpPr/>
          <p:nvPr/>
        </p:nvSpPr>
        <p:spPr>
          <a:xfrm rot="0" flipH="0" flipV="0">
            <a:off x="3276600" y="2514600"/>
            <a:ext cx="1866900" cy="5334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4067175" y="269557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待填</a:t>
            </a:r>
            <a:endParaRPr/>
          </a:p>
        </p:txBody>
      </p:sp>
      <p:sp>
        <p:nvSpPr>
          <p:cNvPr id="500" name=""/>
          <p:cNvSpPr/>
          <p:nvPr/>
        </p:nvSpPr>
        <p:spPr>
          <a:xfrm rot="0" flipH="0" flipV="0">
            <a:off x="5219700" y="2514600"/>
            <a:ext cx="1866900" cy="5334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6010275" y="269557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待填</a:t>
            </a:r>
            <a:endParaRPr/>
          </a:p>
        </p:txBody>
      </p:sp>
      <p:sp>
        <p:nvSpPr>
          <p:cNvPr id="502" name=""/>
          <p:cNvSpPr/>
          <p:nvPr/>
        </p:nvSpPr>
        <p:spPr>
          <a:xfrm rot="0" flipH="0" flipV="0">
            <a:off x="762000" y="3162300"/>
            <a:ext cx="2438400" cy="5334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914400" y="3343275"/>
            <a:ext cx="2133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>Attempt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　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>attempt_id</a:t>
            </a:r>
            <a:endParaRPr/>
          </a:p>
        </p:txBody>
      </p:sp>
      <p:sp>
        <p:nvSpPr>
          <p:cNvPr id="504" name=""/>
          <p:cNvSpPr/>
          <p:nvPr/>
        </p:nvSpPr>
        <p:spPr>
          <a:xfrm rot="0" flipH="0" flipV="0">
            <a:off x="3276600" y="3162300"/>
            <a:ext cx="1866900" cy="5334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4067175" y="334327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待填</a:t>
            </a:r>
            <a:endParaRPr/>
          </a:p>
        </p:txBody>
      </p:sp>
      <p:sp>
        <p:nvSpPr>
          <p:cNvPr id="506" name=""/>
          <p:cNvSpPr/>
          <p:nvPr/>
        </p:nvSpPr>
        <p:spPr>
          <a:xfrm rot="0" flipH="0" flipV="0">
            <a:off x="5219700" y="3162300"/>
            <a:ext cx="1866900" cy="5334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6010275" y="334327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待填</a:t>
            </a:r>
            <a:endParaRPr/>
          </a:p>
        </p:txBody>
      </p:sp>
      <p:sp>
        <p:nvSpPr>
          <p:cNvPr id="508" name=""/>
          <p:cNvSpPr/>
          <p:nvPr/>
        </p:nvSpPr>
        <p:spPr>
          <a:xfrm rot="0" flipH="0" flipV="0">
            <a:off x="762000" y="3810000"/>
            <a:ext cx="2438400" cy="5334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914400" y="3990975"/>
            <a:ext cx="2133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>Step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　已提交边界</a:t>
            </a:r>
            <a:endParaRPr/>
          </a:p>
        </p:txBody>
      </p:sp>
      <p:sp>
        <p:nvSpPr>
          <p:cNvPr id="510" name=""/>
          <p:cNvSpPr/>
          <p:nvPr/>
        </p:nvSpPr>
        <p:spPr>
          <a:xfrm rot="0" flipH="0" flipV="0">
            <a:off x="3276600" y="3810000"/>
            <a:ext cx="1866900" cy="5334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4067175" y="399097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待填</a:t>
            </a:r>
            <a:endParaRPr/>
          </a:p>
        </p:txBody>
      </p:sp>
      <p:sp>
        <p:nvSpPr>
          <p:cNvPr id="512" name=""/>
          <p:cNvSpPr/>
          <p:nvPr/>
        </p:nvSpPr>
        <p:spPr>
          <a:xfrm rot="0" flipH="0" flipV="0">
            <a:off x="5219700" y="3810000"/>
            <a:ext cx="1866900" cy="5334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6010275" y="399097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待填</a:t>
            </a:r>
            <a:endParaRPr/>
          </a:p>
        </p:txBody>
      </p:sp>
      <p:sp>
        <p:nvSpPr>
          <p:cNvPr id="514" name=""/>
          <p:cNvSpPr/>
          <p:nvPr/>
        </p:nvSpPr>
        <p:spPr>
          <a:xfrm rot="0" flipH="0" flipV="0">
            <a:off x="762000" y="4457700"/>
            <a:ext cx="2438400" cy="5334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914400" y="4638675"/>
            <a:ext cx="2133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对象与会话检查</a:t>
            </a:r>
            <a:endParaRPr/>
          </a:p>
        </p:txBody>
      </p:sp>
      <p:sp>
        <p:nvSpPr>
          <p:cNvPr id="516" name=""/>
          <p:cNvSpPr/>
          <p:nvPr/>
        </p:nvSpPr>
        <p:spPr>
          <a:xfrm rot="0" flipH="0" flipV="0">
            <a:off x="3276600" y="4457700"/>
            <a:ext cx="1866900" cy="5334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4067175" y="463867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待填</a:t>
            </a:r>
            <a:endParaRPr/>
          </a:p>
        </p:txBody>
      </p:sp>
      <p:sp>
        <p:nvSpPr>
          <p:cNvPr id="518" name=""/>
          <p:cNvSpPr/>
          <p:nvPr/>
        </p:nvSpPr>
        <p:spPr>
          <a:xfrm rot="0" flipH="0" flipV="0">
            <a:off x="5219700" y="4457700"/>
            <a:ext cx="1866900" cy="5334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6010275" y="463867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待填</a:t>
            </a:r>
            <a:endParaRPr/>
          </a:p>
        </p:txBody>
      </p:sp>
      <p:sp>
        <p:nvSpPr>
          <p:cNvPr id="520" name=""/>
          <p:cNvSpPr/>
          <p:nvPr/>
        </p:nvSpPr>
        <p:spPr>
          <a:xfrm rot="0" flipH="0" flipV="0">
            <a:off x="762000" y="5105400"/>
            <a:ext cx="2438400" cy="5334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914400" y="5286375"/>
            <a:ext cx="2133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取消限制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是否完成重跑</a:t>
            </a:r>
            <a:endParaRPr/>
          </a:p>
        </p:txBody>
      </p:sp>
      <p:sp>
        <p:nvSpPr>
          <p:cNvPr id="522" name=""/>
          <p:cNvSpPr/>
          <p:nvPr/>
        </p:nvSpPr>
        <p:spPr>
          <a:xfrm rot="0" flipH="0" flipV="0">
            <a:off x="3276600" y="5105400"/>
            <a:ext cx="1866900" cy="5334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4067175" y="528637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待填</a:t>
            </a:r>
            <a:endParaRPr/>
          </a:p>
        </p:txBody>
      </p:sp>
      <p:sp>
        <p:nvSpPr>
          <p:cNvPr id="524" name=""/>
          <p:cNvSpPr/>
          <p:nvPr/>
        </p:nvSpPr>
        <p:spPr>
          <a:xfrm rot="0" flipH="0" flipV="0">
            <a:off x="5219700" y="5105400"/>
            <a:ext cx="1866900" cy="5334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6010275" y="528637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待填</a:t>
            </a:r>
            <a:endParaRPr/>
          </a:p>
        </p:txBody>
      </p:sp>
      <p:sp>
        <p:nvSpPr>
          <p:cNvPr id="526" name=""/>
          <p:cNvSpPr/>
          <p:nvPr/>
        </p:nvSpPr>
        <p:spPr>
          <a:xfrm rot="0" flipH="0" flipV="0">
            <a:off x="7581900" y="1647825"/>
            <a:ext cx="4000500" cy="123825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7791450" y="1990725"/>
            <a:ext cx="3581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交付物一　身份对照表</a:t>
            </a:r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7791450" y="2266950"/>
            <a:ext cx="358140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暂停前与恢复后的对应值，逐行填上真实记录。</a:t>
            </a:r>
            <a:endParaRPr/>
          </a:p>
        </p:txBody>
      </p:sp>
      <p:sp>
        <p:nvSpPr>
          <p:cNvPr id="529" name=""/>
          <p:cNvSpPr/>
          <p:nvPr/>
        </p:nvSpPr>
        <p:spPr>
          <a:xfrm rot="0" flipH="0" flipV="0">
            <a:off x="7581900" y="3000375"/>
            <a:ext cx="4000500" cy="1238250"/>
          </a:xfrm>
          <a:prstGeom prst="roundRect">
            <a:avLst>
              <a:gd name="adj" fmla="val 769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7791450" y="3343275"/>
            <a:ext cx="3581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交付物二　连续帧证据</a:t>
            </a:r>
            <a:endParaRPr/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7791450" y="3619500"/>
            <a:ext cx="358140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连续的帧序列才能说明边界接着，单张截图说明不了。</a:t>
            </a:r>
            <a:endParaRPr/>
          </a:p>
        </p:txBody>
      </p:sp>
      <p:sp>
        <p:nvSpPr>
          <p:cNvPr id="532" name=""/>
          <p:cNvSpPr/>
          <p:nvPr/>
        </p:nvSpPr>
        <p:spPr>
          <a:xfrm rot="0" flipH="0" flipV="0">
            <a:off x="7581900" y="4352925"/>
            <a:ext cx="4000500" cy="1428750"/>
          </a:xfrm>
          <a:prstGeom prst="roundRect">
            <a:avLst>
              <a:gd name="adj" fmla="val 666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7791450" y="4648200"/>
            <a:ext cx="3581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没做的就写「待验收」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7791450" y="4924425"/>
            <a:ext cx="35814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不用示意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UUID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把表格填满；表格完整而证据为假，比留空更有害。</a:t>
            </a:r>
            <a:endParaRPr/>
          </a:p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781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3.10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暂停、取消、续跑与重跑</a:t>
            </a:r>
            <a:endParaRPr/>
          </a:p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23 / 24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537" name="" descr="&lt;Slide notes={`把这一节收一收，记住三件事。&#10;&#10;第一是身份。暂停以后继续，还是原来那次运行，换的是尝试；从头再做一次，是一次新的运行。这两条路不能互相代替，记录也不能合并。&#10;&#10;第二是边界。恢复永远对着最新已提交的边界，画面上的进度不算数。快照缺失或者核验对不上，就给出诊断，不要悄悄退回到更早的步骤上。&#10;&#10;第三是证据。取消按钮成功，只证明取消请求被提交了，不等于远端的模型请求已经停下。验收材料要留下连续帧，而不是几张看起来对的截图。&#10;&#10;下一节顺着这些记录去看回放和失败诊断：从画面上的一个现象，追到具体的事件、坐标、请求和提交记录。`} style={{ width: 1280, height: 720, background: '#FFFFFF', flexDirection: 'column', padding: '20px 64px' }}&gt;&#10;&#10;    &lt;Box style={{ height: 640, flexDirection: 'column', justifyContent: 'center', gap: 16 }}&gt;&#10;&#10;        &lt;Text style={{ fontSize: 15, color: '#546779' }}&gt;3.10　暂停、取消、续跑与重跑&lt;/Text&gt;&#10;&#10;        &lt;Text style={{ fontSize: 56, fontWeight: 'bold', color: '#20344B', lineHeight: 1.15 }}&gt;记住三件事&lt;/Text&gt;&#10;&#10;        &lt;Box style={{ width: 72, height: 4, background: '#276FBF', marginBottom: 6 }} /&gt;&#10;&#10;        &lt;Box style={{ width: 1152, height: 100, background: '#EDF4FC', borderRadius: 10, padding: '0 22px', flexDirection: 'row', alignItems: 'center', gap: 18 }}&gt;&#10;            &lt;Text style={{ fontSize: 22, fontWeight: 'bold', color: '#276FBF', width: 110 }}&gt;身份&lt;/Text&gt;&#10;            &lt;Text style={{ fontSize: 16, color: '#546779', flex: 1, lineHeight: 1.6 }}&gt;暂停后继续还是原来那次运行，换的是 Attempt；从头再做是新的一次运行，换的是 Run。&lt;/Text&gt;&#10;        &lt;/Box&gt;&#10;&#10;        &lt;Box style={{ flexDirection: 'row', gap: 20 }}&gt;&#10;            &lt;Box style={{ width: 500, height: 118, background: '#FFF4E6', borderRadius: 10, padding: '0 22px', flexDirection: 'column', gap: 4, justifyContent: 'center' }}&gt;&#10;                &lt;Text style={{ fontSize: 20, fontWeight: 'bold', color: '#CB6B28' }}&gt;边界&lt;/Text&gt;&#10;                &lt;Text style={{ fontSize: 15, color: '#546779', lineHeight: 1.6 }}&gt;对准最新已提交边界；快照缺失宁给诊断，不回退到更早步骤。&lt;/Text&gt;&#10;            &lt;/Box&gt;&#10;            &lt;Box style={{ width: 632, height: 118, background: '#ECF7F2', borderRadius: 10, padding: '0 22px', flexDirection: 'column', gap: 4, justifyContent: 'center' }}&gt;&#10;                &lt;Text style={{ fontSize: 20, fontWeight: 'bold', color: '#26816B' }}&gt;证据&lt;/Text&gt;&#10;                &lt;Text style={{ fontSize: 15, color: '#546779', lineHeight: 1.6 }}&gt;按钮成功不等于远端停止；留下身份对照表与连续帧，没做的写「待验收」。&lt;/Text&gt;&#10;            &lt;/Box&gt;&#10;        &lt;/Box&gt;&#10;&#10;        &lt;Text style={{ fontSize: 15, color: '#546779', marginTop: 8 }}&gt;下一节　回放事实与失败诊断 —— 从画面上的现象追到事件、坐标、请求与提交记录&lt;/Text&gt;&#10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609600" y="119062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3.10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暂停、取消、续跑与重跑</a:t>
            </a:r>
            <a:endParaRPr/>
          </a:p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609600" y="15144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记住三件事</a:t>
            </a:r>
            <a:endParaRPr/>
          </a:p>
        </p:txBody>
      </p:sp>
      <p:sp>
        <p:nvSpPr>
          <p:cNvPr id="541" name=""/>
          <p:cNvSpPr/>
          <p:nvPr/>
        </p:nvSpPr>
        <p:spPr>
          <a:xfrm rot="0" flipH="0" flipV="0">
            <a:off x="609600" y="240982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42" name=""/>
          <p:cNvSpPr/>
          <p:nvPr/>
        </p:nvSpPr>
        <p:spPr>
          <a:xfrm rot="0" flipH="0" flipV="0">
            <a:off x="609600" y="2657475"/>
            <a:ext cx="10972800" cy="9525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819150" y="3009900"/>
            <a:ext cx="1047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身份</a:t>
            </a:r>
            <a:endParaRPr/>
          </a:p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2038350" y="2990850"/>
            <a:ext cx="93345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暂停后继续还是原来那次运行，换的是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Attempt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；从头再做是新的一次运行，换的是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545" name=""/>
          <p:cNvSpPr/>
          <p:nvPr/>
        </p:nvSpPr>
        <p:spPr>
          <a:xfrm rot="0" flipH="0" flipV="0">
            <a:off x="609600" y="3762375"/>
            <a:ext cx="4762500" cy="1123950"/>
          </a:xfrm>
          <a:prstGeom prst="roundRect">
            <a:avLst>
              <a:gd name="adj" fmla="val 847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819150" y="4057650"/>
            <a:ext cx="4343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边界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819150" y="4324350"/>
            <a:ext cx="43434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对准最新已提交边界；快照缺失宁给诊断，不回退到更早步骤。</a:t>
            </a:r>
            <a:endParaRPr/>
          </a:p>
        </p:txBody>
      </p:sp>
      <p:sp>
        <p:nvSpPr>
          <p:cNvPr id="548" name=""/>
          <p:cNvSpPr/>
          <p:nvPr/>
        </p:nvSpPr>
        <p:spPr>
          <a:xfrm rot="0" flipH="0" flipV="0">
            <a:off x="5562600" y="3762375"/>
            <a:ext cx="6019800" cy="1123950"/>
          </a:xfrm>
          <a:prstGeom prst="roundRect">
            <a:avLst>
              <a:gd name="adj" fmla="val 847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5772150" y="4057650"/>
            <a:ext cx="5600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证据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5772150" y="4324350"/>
            <a:ext cx="56007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按钮成功不等于远端停止；留下身份对照表与连续帧，没做的写「待验收」。</a:t>
            </a:r>
            <a:endParaRPr/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609600" y="511492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下一节　回放事实与失败诊断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从画面上的现象追到事件、坐标、请求与提交记录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2026-09-29T08:48:33Z</dcterms:created>
  <dcterms:modified xsi:type="dcterms:W3CDTF">2026-09-29T08:48:33Z</dcterms:modified>
</cp:coreProperties>
</file>