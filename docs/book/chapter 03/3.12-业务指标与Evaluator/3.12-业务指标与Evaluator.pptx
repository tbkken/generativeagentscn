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Masters/slideMaster1.xml" ContentType="application/vnd.openxmlformats-officedocument.presentationml.slideMaster+xml"/>
  <Override PartName="/ppt/presentation.xml" ContentType="application/vnd.openxmlformats-officedocument.presentationml.presentation.main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25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26" Type="http://schemas.openxmlformats.org/officeDocument/2006/relationships/presProps" Target="presProps.xml" /><Relationship Id="rId1" Type="http://schemas.openxmlformats.org/officeDocument/2006/relationships/slide" Target="slides/slide1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4" Type="http://schemas.openxmlformats.org/officeDocument/2006/relationships/slide" Target="slides/slide14.xml" /><Relationship Id="rId11" Type="http://schemas.openxmlformats.org/officeDocument/2006/relationships/slide" Target="slides/slide11.xml" /><Relationship Id="rId22" Type="http://schemas.openxmlformats.org/officeDocument/2006/relationships/slide" Target="slides/slide22.xml" /><Relationship Id="rId13" Type="http://schemas.openxmlformats.org/officeDocument/2006/relationships/slide" Target="slides/slide13.xml" /><Relationship Id="rId15" Type="http://schemas.openxmlformats.org/officeDocument/2006/relationships/slide" Target="slides/slide15.xml" /><Relationship Id="rId16" Type="http://schemas.openxmlformats.org/officeDocument/2006/relationships/slide" Target="slides/slide16.xml" /><Relationship Id="rId17" Type="http://schemas.openxmlformats.org/officeDocument/2006/relationships/slide" Target="slides/slide17.xml" /><Relationship Id="rId3" Type="http://schemas.openxmlformats.org/officeDocument/2006/relationships/slide" Target="slides/slide3.xml" /><Relationship Id="rId18" Type="http://schemas.openxmlformats.org/officeDocument/2006/relationships/slide" Target="slides/slide18.xml" /><Relationship Id="rId19" Type="http://schemas.openxmlformats.org/officeDocument/2006/relationships/slide" Target="slides/slide19.xml" /><Relationship Id="rId2" Type="http://schemas.openxmlformats.org/officeDocument/2006/relationships/slide" Target="slides/slide2.xml" /><Relationship Id="rId20" Type="http://schemas.openxmlformats.org/officeDocument/2006/relationships/slide" Target="slides/slide20.xml" /><Relationship Id="rId21" Type="http://schemas.openxmlformats.org/officeDocument/2006/relationships/slide" Target="slides/slide21.xml" /><Relationship Id="rId23" Type="http://schemas.openxmlformats.org/officeDocument/2006/relationships/slide" Target="slides/slide23.xml" /><Relationship Id="rId24" Type="http://schemas.openxmlformats.org/officeDocument/2006/relationships/slide" Target="slides/slide24.xml" /><Relationship Id="rId25" Type="http://schemas.openxmlformats.org/officeDocument/2006/relationships/notesMaster" Target="notesMasters/notesMaster1.xml" /><Relationship Id="rId27" Type="http://schemas.openxmlformats.org/officeDocument/2006/relationships/tableStyles" Target="tableStyles.xml" /><Relationship Id="rId28" Type="http://schemas.openxmlformats.org/officeDocument/2006/relationships/viewProps" Target="viewProps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slide" Target="slides/slide8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我们先解决一个很实际的问题：一次实验跑完，怎么判断它到底有没有用。</a:t>
            </a:r>
          </a:p>
          <a:p>
            <a:r>
              <a:rPr lang="zh-CN" dirty="0"/>
              <a:t>青禾走完四十八步，只能说明我们指定的执行过程结束了。公告有没有改成新时间、许安有没有真的拿到消息、大家有没有按新安排行动，这些都还没有被回答。</a:t>
            </a:r>
          </a:p>
          <a:p>
            <a:r>
              <a:rPr lang="zh-CN" dirty="0"/>
              <a:t>要区分这些结果，办法只有一个：在运行之前就把业务指标定好，运行之后拿世界里真实发生的事实来评分。</a:t>
            </a:r>
          </a:p>
          <a:p>
            <a:r>
              <a:rPr lang="zh-CN" dirty="0"/>
              <a:t>我会把三件事分开讲：执行是否结束、系统诊断发现了什么、开放日的研究目标有没有达到。它们可以互相解释，但不能互相替代。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这一节要看清的东西摆出来，一共四块。</a:t>
            </a:r>
          </a:p>
          <a:p>
            <a:r>
              <a:rPr lang="zh-CN" dirty="0"/>
              <a:t>第一块是分层：执行状态、行为质量、业务成效各回答一个问题。同一个 Run 可以是 COMPLETED，同时带着行为告警；也可以没有基础告警，但业务评价根本没执行。</a:t>
            </a:r>
          </a:p>
          <a:p>
            <a:r>
              <a:rPr lang="zh-CN" dirty="0"/>
              <a:t>第二块是定口径：指标的分母、观察窗口和延迟算法都要在运行前写清楚。到达率的分母只有陈晨和许安两个人，窗口从 09:50 到第四十八步的十点三十七。</a:t>
            </a:r>
          </a:p>
          <a:p>
            <a:r>
              <a:rPr lang="zh-CN" dirty="0"/>
              <a:t>第三块是看系统到底评了什么。行为质量页的告警需要解释，但不能删；资源和方法存在，也不等于每次运行都真的执行了评价。</a:t>
            </a:r>
          </a:p>
          <a:p>
            <a:r>
              <a:rPr lang="zh-CN" dirty="0"/>
              <a:t>第四块是动手核对：页面、报告和导出三处要能对上，改动要用单因素对照来说明。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这一块先立结构：同一个 Run，要分成三条独立的报告线来看。</a:t>
            </a:r>
          </a:p>
          <a:p>
            <a:r>
              <a:rPr lang="zh-CN" dirty="0"/>
              <a:t>第一条是执行状态，回答请求的步骤有没有完成、在哪里中断。它看的是 Run 状态、Attempt 和已提交边界。青禾走完四十八步，这条线是通的。</a:t>
            </a:r>
          </a:p>
          <a:p>
            <a:r>
              <a:rPr lang="zh-CN" dirty="0"/>
              <a:t>第二条是行为质量，回答过程中有没有出现空检索、无动作、回退、重复调用，或者偏离了 SOP。它看的是已提交的效果、MCP 调用记录和规则评价。</a:t>
            </a:r>
          </a:p>
          <a:p>
            <a:r>
              <a:rPr lang="zh-CN" dirty="0"/>
              <a:t>第三条是业务成效，回答通知有没有更正、信息有没有传达、参与者有没有按新安排行动。它看的是对象变化、会话、记忆更新、位移和活动事实。</a:t>
            </a:r>
          </a:p>
          <a:p>
            <a:r>
              <a:rPr lang="zh-CN" dirty="0"/>
              <a:t>三条线可以互相解释，但谁也不能代替谁。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同一个 Run 分出来的是三条并行的报告线，不是评分的先后顺序。</a:t>
            </a:r>
          </a:p>
          <a:p>
            <a:r>
              <a:rPr lang="zh-CN" dirty="0"/>
              <a:t>执行状态这一条最简单：请求的步骤有没有完成、在哪里中断，看的是 Run 状态、Attempt 和已提交边界。青禾走完四十八步，这条线是通的。</a:t>
            </a:r>
          </a:p>
          <a:p>
            <a:r>
              <a:rPr lang="zh-CN" dirty="0"/>
              <a:t>行为质量这一条看过程：有没有空检索、无动作、回退、重复调用，或者偏离了 SOP。它的证据是已提交的效果、MCP 调用记录、规则和必要的专门评价，通常由确定性投影直接给出。</a:t>
            </a:r>
          </a:p>
          <a:p>
            <a:r>
              <a:rPr lang="zh-CN" dirty="0"/>
              <a:t>业务成效这一条看世界：公告是不是真的改成了新时间，许安是不是真的知道了，参与者是不是按新安排行动。到达率和传播延迟都属于这一条。</a:t>
            </a:r>
          </a:p>
          <a:p>
            <a:r>
              <a:rPr lang="zh-CN" dirty="0"/>
              <a:t>三条线可以互相解释，但不能互相替代。未执行的评价保持未执行，不能顺手当成通过。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把三个层次拆成提问和证据两栏，就一目了然了。</a:t>
            </a:r>
          </a:p>
          <a:p>
            <a:r>
              <a:rPr lang="zh-CN" dirty="0"/>
              <a:t>执行状态问的是：请求的步骤有没有完成，在哪里中断。它拿的证据是 Run 状态、Attempt 和已提交边界。</a:t>
            </a:r>
          </a:p>
          <a:p>
            <a:r>
              <a:rPr lang="zh-CN" dirty="0"/>
              <a:t>确定性诊断与 Brain 合规问的是：过程中有没有出现空检索、无动作、回退、重复调用，或者偏离了 SOP。它拿的是已提交效果、MCP 调用、规则，以及必要的专门评价。</a:t>
            </a:r>
          </a:p>
          <a:p>
            <a:r>
              <a:rPr lang="zh-CN" dirty="0"/>
              <a:t>业务评价问的是：通知是不是更正了、信息是不是传达出去了、参与者是不是按新安排行动。它拿的是对象变化、会话内容、记忆更新、位移和活动事实。</a:t>
            </a:r>
          </a:p>
          <a:p>
            <a:r>
              <a:rPr lang="zh-CN" dirty="0"/>
              <a:t>我想强调的是，这三层可以互相解释，但不能互相替代。还有一个容易犯的错误：没跑的评价就保持未执行，不能顺手记成通过。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这里要防住一个很常见的误读。</a:t>
            </a:r>
          </a:p>
          <a:p>
            <a:r>
              <a:rPr lang="zh-CN" dirty="0"/>
              <a:t>第一种情形：同一个 Run 的状态是 COMPLETED，可是行为质量上还有告警。这完全正常，因为执行有没有完成，和过程中有没有出现问题，本来就是两个独立的问题。四十八步走完，不代表每一步都干净。</a:t>
            </a:r>
          </a:p>
          <a:p>
            <a:r>
              <a:rPr lang="zh-CN" dirty="0"/>
              <a:t>第二种情形反过来：没有基础告警，但业务评价还没有执行。这时候「没有发现问题」只说明这一层没查出问题，业务目标有没有达到，仍然是一个未回答的问题。</a:t>
            </a:r>
          </a:p>
          <a:p>
            <a:r>
              <a:rPr lang="zh-CN" dirty="0"/>
              <a:t>所以把「没有发现问题」解释成「所有目标达成」，就等于把没检查的内容算成了合格。我的要求是：任何一项未执行的评价，都要保留成未执行，不能默认通过。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接下来讲指标本身。定指标的顺序不能颠倒：先说清算谁、算多长，再说怎么算延迟。</a:t>
            </a:r>
          </a:p>
          <a:p>
            <a:r>
              <a:rPr lang="zh-CN" dirty="0"/>
              <a:t>分母是最容易被含糊过去的地方。青禾四个角色承担着不同职责，不能把他们全都塞进同一个到达率的分子分母里。</a:t>
            </a:r>
          </a:p>
          <a:p>
            <a:r>
              <a:rPr lang="zh-CN" dirty="0"/>
              <a:t>分子也要事先说清：只有窗口内实际走到指定活动站位的目标访客才算，没走到就是没达成，而且要写清楚没达成的具体原因和观察终点。</a:t>
            </a:r>
          </a:p>
          <a:p>
            <a:r>
              <a:rPr lang="zh-CN" dirty="0"/>
              <a:t>顺序对了，结果才有意义。反过来，先拿到结果再回头挑一个好看的口径，那就不叫评价，只是给结论补依据。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访客到达率最容易含糊的就是分母。我这里固定成两个人：陈晨和许安，也就是这一节定义的目标访客。组织者、志愿者、两个对象各有观察角度，计划表上的二十四、十、十六人也不是这个分母。</a:t>
            </a:r>
          </a:p>
          <a:p>
            <a:r>
              <a:rPr lang="zh-CN" dirty="0"/>
              <a:t>分子只看窗口之内真正走到指定活动站位的目标访客，到达率就是两者相除。</a:t>
            </a:r>
          </a:p>
          <a:p>
            <a:r>
              <a:rPr lang="zh-CN" dirty="0"/>
              <a:t>观察窗口建议从九点五十到第四十八步的十点三十七。它能评价更正之后有没有到位、有没有开始行动，但评价不了十一点半有没有完成手作；窗口一旦改动，指标版本和分母都要一起记录。</a:t>
            </a:r>
          </a:p>
          <a:p>
            <a:r>
              <a:rPr lang="zh-CN" dirty="0"/>
              <a:t>传播延迟另外设起止事实计时，没获知的记成「截至窗口结束未观察到」，不补零延迟。这里只给口径，先不填结果。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六个指标就是本节的核心口径，运行前就要写进评分表。</a:t>
            </a:r>
          </a:p>
          <a:p>
            <a:r>
              <a:rPr lang="zh-CN" dirty="0"/>
              <a:t>访客到达率：分母是两名目标访客，分子是窗口内真的走到指定站位的人；未到达记未达成，注明原因与观察终点。</a:t>
            </a:r>
          </a:p>
          <a:p>
            <a:r>
              <a:rPr lang="zh-CN" dirty="0"/>
              <a:t>公告传播延迟：只对更正前尚未获知的许安计算，从公告更正提交到首次确认正式新安排，单位是虚拟时间。</a:t>
            </a:r>
          </a:p>
          <a:p>
            <a:r>
              <a:rPr lang="zh-CN" dirty="0"/>
              <a:t>交流闭环率：得到明确回应的目标会话数除以已发起的目标会话数；没发起会话则分母为零，记不适用。</a:t>
            </a:r>
          </a:p>
          <a:p>
            <a:r>
              <a:rPr lang="zh-CN" dirty="0"/>
              <a:t>过时信息行动率：更正后仍依据旧安排行动的比例；缺少行动依据就记无法判断。</a:t>
            </a:r>
          </a:p>
          <a:p>
            <a:r>
              <a:rPr lang="zh-CN" dirty="0"/>
              <a:t>对象回复完整性：用有效请求 ID 核对遗漏、重复和错误接收者，并报请求数与待投递数。</a:t>
            </a:r>
          </a:p>
          <a:p>
            <a:r>
              <a:rPr lang="zh-CN" dirty="0"/>
              <a:t>单位有效结果成本：实际成本除以预先定义的成功结果数；成功数为零时保留总成本。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「获知」这两个字最容易出问题，因为附近有一块新公告，不等于参与者真的知道了。</a:t>
            </a:r>
          </a:p>
          <a:p>
            <a:r>
              <a:rPr lang="zh-CN" dirty="0"/>
              <a:t>所以我要求在运行之前就选定一种证据口径，比如成功读取正式内容之后形成的有效记忆，或者明确确认新时间已经生效的回复。选了哪一种，所有样本都得用同一种。</a:t>
            </a:r>
          </a:p>
          <a:p>
            <a:r>
              <a:rPr lang="zh-CN" dirty="0"/>
              <a:t>第二种情形要特别小心：服务台只是说「可以考虑十点三十」，这只是候选方案，不能直接算成获知了正式更正。候选和正式发布是两回事。</a:t>
            </a:r>
          </a:p>
          <a:p>
            <a:r>
              <a:rPr lang="zh-CN" dirty="0"/>
              <a:t>第三种情形是只有行动没有知识证据。这时候我把结论写成「行为符合新安排」，而不去推断他内部已经理解了新安排。</a:t>
            </a:r>
          </a:p>
          <a:p>
            <a:r>
              <a:rPr lang="zh-CN" dirty="0"/>
              <a:t>口径必须在动手之前定，不能等结果出来，再挑一个看起来好看的证据。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延迟的计算本身很简单，难的是前提条件。</a:t>
            </a:r>
          </a:p>
          <a:p>
            <a:r>
              <a:rPr lang="zh-CN" dirty="0"/>
              <a:t>假设在真实运行里，公告更正是在第 u 步提交的，而许安在此之前还没获知正式安排；到了第 v 步，他第一次满足了我们在运行前定义好的获知证据。步长是一分钟，那么步级延迟就是 v 减 u 分钟。</a:t>
            </a:r>
          </a:p>
          <a:p>
            <a:r>
              <a:rPr lang="zh-CN" dirty="0"/>
              <a:t>这个公式只在特定条件下成立：两条事实必须在同一个 Run 里，时区和步长要一致。缺了任何一条，减法出来的数字就没有意义。</a:t>
            </a:r>
          </a:p>
          <a:p>
            <a:r>
              <a:rPr lang="zh-CN" dirty="0"/>
              <a:t>还有一件事必须一起记：实际的消息来源。时间上前后相邻，不等于公告真的起了传播作用，中间可能还有别的渠道。仅凭时间先后就断言是公告带来的效果，这是过度解释。</a:t>
            </a:r>
          </a:p>
          <a:p>
            <a:r>
              <a:rPr lang="zh-CN" dirty="0"/>
              <a:t>所以公式和来源记录要一起进评分表。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除了标准情况，还有几种边界必须提前想清楚，否则事后很容易把一个负数悄悄变成零。</a:t>
            </a:r>
          </a:p>
          <a:p>
            <a:r>
              <a:rPr lang="zh-CN" dirty="0"/>
              <a:t>如果许安在公告更正之前，已经从别的渠道核实了正式安排，那这条要单独列出来，叫做「更正前获知，非公告传播延迟」。来源和实际时差都保留，减出来是负数就写负数，不能截成零。</a:t>
            </a:r>
          </a:p>
          <a:p>
            <a:r>
              <a:rPr lang="zh-CN" dirty="0"/>
              <a:t>如果他更正前只是听到了候选方案，那就保留候选记录，继续去找正式确认的时间点。这样既没有抹掉提前获知，也不会把「建议」误算成「已经发布的安排」。</a:t>
            </a:r>
          </a:p>
          <a:p>
            <a:r>
              <a:rPr lang="zh-CN" dirty="0"/>
              <a:t>第三，暂停不能算进虚拟延迟。如果研究的是用户在界面上等待的真实时间，那要另外设一个墙钟指标。</a:t>
            </a:r>
          </a:p>
          <a:p>
            <a:r>
              <a:rPr lang="zh-CN" dirty="0"/>
              <a:t>最后，把虚拟延迟和墙钟延迟放进同一列，恢复实验和连续实验就没办法公平比较了。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下一块看得更具体一点：系统看见了什么，和它评了什么。</a:t>
            </a:r>
          </a:p>
          <a:p>
            <a:r>
              <a:rPr lang="zh-CN" dirty="0"/>
              <a:t>行为质量页拿到的是一份确定性投影，它从所有已提交的 StepResult 里提取 Brain 和对象 Skill 的执行记录算出来，按事实身份生成问题标识，覆盖多个 Attempt，而不是只看最后一次尝试。</a:t>
            </a:r>
          </a:p>
          <a:p>
            <a:r>
              <a:rPr lang="zh-CN" dirty="0"/>
              <a:t>投影给出的告警需要人来解释：首次检索没有历史记忆可能完全合理，一次正确的权限拒绝甚至可能正是边界对照预期的结果。</a:t>
            </a:r>
          </a:p>
          <a:p>
            <a:r>
              <a:rPr lang="zh-CN" dirty="0"/>
              <a:t>但合理不等于删掉。原记录要保留，另外在分析表里说明它的用途。还有一点：同样的文字出现在不同人物、不同 Step，是两个问题，不能直接去重。</a:t>
            </a:r>
          </a:p>
          <a:p>
            <a:r>
              <a:rPr lang="zh-CN" dirty="0"/>
              <a:t>至于评价本身有没有真的执行过，是下一层的事。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行为质量页上出现的告警，绝大多数都需要人去解释一遍。</a:t>
            </a:r>
          </a:p>
          <a:p>
            <a:r>
              <a:rPr lang="zh-CN" dirty="0"/>
              <a:t>先看几个具体的例子。一个角色第一次去检索记忆，取到空的结果，这很可能是合理的，因为他本来就没有历史记忆。一次权限被拒绝，也可能是完全正确的，甚至正是边界对照想要看到的结果。</a:t>
            </a:r>
          </a:p>
          <a:p>
            <a:r>
              <a:rPr lang="zh-CN" dirty="0"/>
              <a:t>但合理不等于可以把告警删掉。原记录必须留着，否则以后没法复现；我们另外在分析表里写清这条告警在这一轮里的用途。</a:t>
            </a:r>
          </a:p>
          <a:p>
            <a:r>
              <a:rPr lang="zh-CN" dirty="0"/>
              <a:t>还有一条容易被忽略的去重陷阱：同一段文字出现在不同人物身上，或者出现在不同 Step 上，那是两个不同的问题，不能因为文字一样就直接合并成一条。</a:t>
            </a:r>
          </a:p>
          <a:p>
            <a:r>
              <a:rPr lang="zh-CN" dirty="0"/>
              <a:t>所以处理告警的纪律是：保留、解释、不要顺手合并。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进入当前 Run 的行为质量页签，读的顺序是先总体、后明细。</a:t>
            </a:r>
          </a:p>
          <a:p>
            <a:r>
              <a:rPr lang="zh-CN" dirty="0"/>
              <a:t>先看总体状态：有没有确定性问题，是 WARNING 还是干净。这一步只看结论，先不下判断。</a:t>
            </a:r>
          </a:p>
          <a:p>
            <a:r>
              <a:rPr lang="zh-CN" dirty="0"/>
              <a:t>然后展开告警。每一条都会给出参与者或对象、所在的 Step、错误代码和具体证据；我们带着身份和 Step 一起看，而不是只看那一行文字。</a:t>
            </a:r>
          </a:p>
          <a:p>
            <a:r>
              <a:rPr lang="zh-CN" dirty="0"/>
              <a:t>页面上还有定位 Step 的入口，点进去能看到当时发生了什么。但定位之后仍要确认当前 Run 没有切换，否则看到的可能是另一个 Run 的现场。</a:t>
            </a:r>
          </a:p>
          <a:p>
            <a:r>
              <a:rPr lang="zh-CN" dirty="0"/>
              <a:t>这份明细的来源是确定性投影，从所有已提交的 StepResult 重建，不是某一次尝试的临时结果。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在当前默认路径下，一次 Run 上的评价状态只会有这几种，它们之间不能互相改写。</a:t>
            </a:r>
          </a:p>
          <a:p>
            <a:r>
              <a:rPr lang="zh-CN" dirty="0"/>
              <a:t>COMPLETED 说的是执行完成了，但它推不出业务已经通过，这两件事要分开写。</a:t>
            </a:r>
          </a:p>
          <a:p>
            <a:r>
              <a:rPr lang="zh-CN" dirty="0"/>
              <a:t>WARNING 说的是有确定性问题，它可以和 COMPLETED 同时存在，并不改变这个 Run 是否完成。</a:t>
            </a:r>
          </a:p>
          <a:p>
            <a:r>
              <a:rPr lang="zh-CN" dirty="0"/>
              <a:t>SKIPPED 说的是相应评价没有被执行，注意措辞是「没有执行」，不是「没有关系」。</a:t>
            </a:r>
          </a:p>
          <a:p>
            <a:r>
              <a:rPr lang="zh-CN" dirty="0"/>
              <a:t>NOT_EVALUATED 是未评估：没有确定性告警、同时评价被跳过时，系统给出的就是它。</a:t>
            </a:r>
          </a:p>
          <a:p>
            <a:r>
              <a:rPr lang="zh-CN" dirty="0"/>
              <a:t>最要紧的一条：NOT_EVALUATED 不算通过，SKIPPED 也不算通过。评价数据不可用或投影失败时，要记录原因，不能改写成通过。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这一条我特别想强调，因为它太容易被当成已经发生了。</a:t>
            </a:r>
          </a:p>
          <a:p>
            <a:r>
              <a:rPr lang="zh-CN" dirty="0"/>
              <a:t>Studio 里确实有 Evaluator 资源，实验也可以携带相关内容；Brain 类里另有可调用的质量评价方法，这些都是真的。</a:t>
            </a:r>
          </a:p>
          <a:p>
            <a:r>
              <a:rPr lang="zh-CN" dirty="0"/>
              <a:t>但「有资源」不等于「跑了评价」。资源能打进包，不能证明每次 Run 都执行过它；类里有方法，不能证明这次 Run 调用过它。本次核查的正式结束链用的是确定性质量汇总，它证明的不是自定义业务 Evaluator 被执行过。</a:t>
            </a:r>
          </a:p>
          <a:p>
            <a:r>
              <a:rPr lang="zh-CN" dirty="0"/>
              <a:t>所以青禾的到达率和通知延迟，我先用可检查的人工或外部评分表，标注评分者、规则、来源和时间。它们不是内置 Evaluator 的成绩，也不应手工写回历史 Run，把人工判断伪装成系统结果。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走到这里，评价规则已经有了，下一步是把纸上写的和系统里显示的核对起来。</a:t>
            </a:r>
          </a:p>
          <a:p>
            <a:r>
              <a:rPr lang="zh-CN" dirty="0"/>
              <a:t>三个地方必须能互相印证：页面上看到的、报告里记录的、以及结果导出包里保存的。任何一处对不上，前面的分数都不可信。</a:t>
            </a:r>
          </a:p>
          <a:p>
            <a:r>
              <a:rPr lang="zh-CN" dirty="0"/>
              <a:t>核对完之后才是比较。如果我们想说明某一处改动到底有没有帮助，就要保留一个基线，然后只改变要检验的那一个条件。</a:t>
            </a:r>
          </a:p>
          <a:p>
            <a:r>
              <a:rPr lang="zh-CN" dirty="0"/>
              <a:t>很多结论看起来都成立，其实是因为同时改了好几个东西，差异到底来自哪里根本分不清。</a:t>
            </a:r>
          </a:p>
          <a:p>
            <a:r>
              <a:rPr lang="zh-CN" dirty="0"/>
              <a:t>所以这一块的顺序是：先核对一致，再做对照。核对是前提，对照是方法。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评价规则定了之后，还有一步不能省：把页面、报告和导出三处核对一遍。</a:t>
            </a:r>
          </a:p>
          <a:p>
            <a:r>
              <a:rPr lang="zh-CN" dirty="0"/>
              <a:t>先固定取材范围，说清这次用的是哪一个 Run、边界提交到哪一步，后面所有数字都以它为准。</a:t>
            </a:r>
          </a:p>
          <a:p>
            <a:r>
              <a:rPr lang="zh-CN" dirty="0"/>
              <a:t>然后逐项对照：质量页上的问题总数和展开明细，要跟报告里的 source_committed_step、参与者轮次数、对象轮次数对得上。</a:t>
            </a:r>
          </a:p>
          <a:p>
            <a:r>
              <a:rPr lang="zh-CN" dirty="0"/>
              <a:t>如果这个 Run 恢复过，还要更小心。新的 Attempt 看起来一切正常，不代表以前的告警可以消失，已提交的问题必须覆盖进来。</a:t>
            </a:r>
          </a:p>
          <a:p>
            <a:r>
              <a:rPr lang="zh-CN" dirty="0"/>
              <a:t>导出也要确认：结果 ZIP 里保存的是对应边界的新质量报告；质量读取可以从提交事实重建报告，不覆盖旧报告文件。</a:t>
            </a:r>
          </a:p>
          <a:p>
            <a:r>
              <a:rPr lang="zh-CN" dirty="0"/>
              <a:t>项目里虽有回归测试检查这些一致性，青禾仍要自己完成同样的核对。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这里说的是统计单位，很容易被含糊过去。</a:t>
            </a:r>
          </a:p>
          <a:p>
            <a:r>
              <a:rPr lang="zh-CN" dirty="0"/>
              <a:t>一次重复读取产生的告警、一次物理模型的重试、一个失败的业务结果，这三样东西分属不同层次：第一条属于行为质量，第二条属于执行过程，第三条属于业务评价。</a:t>
            </a:r>
          </a:p>
          <a:p>
            <a:r>
              <a:rPr lang="zh-CN" dirty="0"/>
              <a:t>它们可能互相关联，比如重试多了，读取告警可能就多。但它们不能相加，不能合成一个所谓的「总错误率」。把三个不同单位的东西加起来，得到的数字没有含义。</a:t>
            </a:r>
          </a:p>
          <a:p>
            <a:r>
              <a:rPr lang="zh-CN" dirty="0"/>
              <a:t>如果确实要比较两个方案，先规定每种事件怎么计数：是按事实身份，还是按 Attempt，还是按一次业务结果。然后再报告数量、分母和样本范围。</a:t>
            </a:r>
          </a:p>
          <a:p>
            <a:r>
              <a:rPr lang="zh-CN" dirty="0"/>
              <a:t>先说清单位，再说数字。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如果我们想说明某一个改动到底有没有帮助，就必须做对照。</a:t>
            </a:r>
          </a:p>
          <a:p>
            <a:r>
              <a:rPr lang="zh-CN" dirty="0"/>
              <a:t>举个例子：我调整了周宁说明开放日安排的方式，然后想说「更清晰的通知改善了访客行为」。这句话要成立，前提是保留基线，并且只改变和这个说法相关的那一个条件。</a:t>
            </a:r>
          </a:p>
          <a:p>
            <a:r>
              <a:rPr lang="zh-CN" dirty="0"/>
              <a:t>地图、起点、观察窗口、模型、预算，这些东西如果同时动了，差异到底来自哪里就说不清楚了。你可能改的是通知方式，但真正起作用的是换了模型。</a:t>
            </a:r>
          </a:p>
          <a:p>
            <a:r>
              <a:rPr lang="zh-CN" dirty="0"/>
              <a:t>还有一点：一次运行的结果不能当成规律。多次运行的时候，要报告分布、失败情况和成本，而不是只挑出最顺畅的那一条，给它配一个故事。</a:t>
            </a:r>
          </a:p>
          <a:p>
            <a:r>
              <a:rPr lang="zh-CN" dirty="0"/>
              <a:t>保留基线、只改一处、报告多次结果，这三件事合起来，才叫用对照说明改动。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就算对照做对了，结论也要说清它能推多远。</a:t>
            </a:r>
          </a:p>
          <a:p>
            <a:r>
              <a:rPr lang="zh-CN" dirty="0"/>
              <a:t>如果统计显示，通知更正之后访客的行动更合理，这句话支持的其实是一件事：在我们当前的设定和模型条件下，出现了一次可以复现的仿真观察。它是站得住的。</a:t>
            </a:r>
          </a:p>
          <a:p>
            <a:r>
              <a:rPr lang="zh-CN" dirty="0"/>
              <a:t>但它推不出真实世界。青禾里的四个人物是虚构的，他们没有代表真实社区的抽样依据。所以「真实居民一定也会这样行动」这种结论，我们没有资格下。</a:t>
            </a:r>
          </a:p>
          <a:p>
            <a:r>
              <a:rPr lang="zh-CN" dirty="0"/>
              <a:t>我在写评分表的时候会把条件和结论绑在一起：这条分数是在什么设定、什么模型、什么窗口下得到的。</a:t>
            </a:r>
          </a:p>
          <a:p>
            <a:r>
              <a:rPr lang="zh-CN" dirty="0"/>
              <a:t>仿真的价值在于，它让我们能在受控条件下反复观察一件事；它的边界也同样清楚，结论只对应当前设定。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最后收一下这一节真正要交出去的东西。</a:t>
            </a:r>
          </a:p>
          <a:p>
            <a:r>
              <a:rPr lang="zh-CN" dirty="0"/>
              <a:t>第一件是评分规则。它要在运行之前就写好，包含指标的分子分母、观察窗口，以及评分的尺度。规则写在前面，才有资格叫评价。</a:t>
            </a:r>
          </a:p>
          <a:p>
            <a:r>
              <a:rPr lang="zh-CN" dirty="0"/>
              <a:t>第二件是结果表。运行之后填，每一条结果都带上来源：谁评的、按什么规则评的、依据来自哪里、什么时候记录的。没有来源的分数，别人没法核对。</a:t>
            </a:r>
          </a:p>
          <a:p>
            <a:r>
              <a:rPr lang="zh-CN" dirty="0"/>
              <a:t>第三件是没运行时的做法：只交付规则和一张空表，所有分数保留未填写。这看起来像是没干活，其实是关键的一步。</a:t>
            </a:r>
          </a:p>
          <a:p>
            <a:r>
              <a:rPr lang="zh-CN" dirty="0"/>
              <a:t>我一直想强调，评价是用来检验实验的，不是给故事结尾补上一个成功标签。规则先于结果，这条顺序不能反过来。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把这一节收成三句话。</a:t>
            </a:r>
          </a:p>
          <a:p>
            <a:r>
              <a:rPr lang="zh-CN" dirty="0"/>
              <a:t>第一句，三层分开报。执行状态、行为质量、业务成效回答的是三个不同的问题，它们可以互相解释，但不能互相替代；没执行的评价就保持未执行，不写成通过。</a:t>
            </a:r>
          </a:p>
          <a:p>
            <a:r>
              <a:rPr lang="zh-CN" dirty="0"/>
              <a:t>第二句，指标先定口径。分母是谁、窗口到哪一步、什么算获知，这些都要在运行之前定下来，事后补的口径不叫口径。</a:t>
            </a:r>
          </a:p>
          <a:p>
            <a:r>
              <a:rPr lang="zh-CN" dirty="0"/>
              <a:t>第三句，对照说明改动。保留基线，一次只改变一处；即使统计显示出了差别，也只支持当前的设定和模型条件，推不到真实社区。</a:t>
            </a:r>
          </a:p>
          <a:p>
            <a:r>
              <a:rPr lang="zh-CN" dirty="0"/>
              <a:t>下一节我们去看导出与迁移，区分资源包、实验包、Run 包和普通结果 ZIP。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19.xml"/></Relationships>
</file>

<file path=ppt/slides/_rels/slide2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0.xml"/></Relationships>
</file>

<file path=ppt/slides/_rels/slide2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1.xml"/></Relationships>
</file>

<file path=ppt/slides/_rels/slide2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2.xml"/></Relationships>
</file>

<file path=ppt/slides/_rels/slide2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3.xml"/></Relationships>
</file>

<file path=ppt/slides/_rels/slide2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900" Type="http://schemas.openxmlformats.org/officeDocument/2006/relationships/notesSlide" Target="../notesSlides/notesSlide24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notes={`我们先解决一个很实际的问题：一次实验跑完，怎么判断它到底有没有用。&#10;青禾走完四十八步，只能说明我们指定的执行过程结束了。公告有没有改成新时间、许安有没有真的拿到消息、大家有没有按新安排行动，这些都还没有被回答。&#10;要区分这些结果，办法只有一个：在运行之前就把业务指标定好，运行之后拿世界里真实发生的事实来评分。&#10;我会把三件事分开讲：执行是否结束、系统诊断发现了什么、开放日的研究目标有没有达到。它们可以互相解释，但不能互相替代。`} style={{ width: 1280, height: 720, background: '#FFFFFF', flexDirection: 'column', padding: '20px 64px' }}&gt;&#10;&#10;    &lt;Box style={{ height: 680, flexDirection: 'row', alignItems: 'center', gap: 32 }}&gt;&#10;&#10;        &lt;Box style={{ width: 560, flexDirection: 'column', justifyContent: 'center', gap: 14 }}&gt;&#10;            &lt;Text style={{ fontSize: 15, color: '#546779' }}&gt;第三章　在共同世界中行动　·　3.12&lt;/Text&gt;&#10;            &lt;Text style={{ fontSize: 52, fontWeight: 'bold', color: '#20344B', lineHeight: 1.2 }}&gt;怎样判断实验有用&lt;/Text&gt;&#10;            &lt;Box style={{ width: 72, height: 4, background: '#276FBF' }} /&gt;&#10;            &lt;Text style={{ fontSize: 17, color: '#546779', lineHeight: 1.7, width: 560 }}&gt;四十八步走完，只说明指定执行过程结束。要判断实验有没有用，先把执行状态、系统诊断与研究目标分开，再按事先定义的规则评分。&lt;/Text&gt;&#10;            &lt;Box style={{ flexDirection: 'row', gap: 12, marginTop: 4 }}&gt;&#10;                &lt;Box style={{ width: 128, height: 40, background: '#EDF4FC', borderRadius: 8, justifyContent: 'center', alignItems: 'center' }}&gt;&#10;                    &lt;Text style={{ fontSize: 15, color: '#276FBF' }}&gt;三层评价&lt;/Text&gt;&#10;                &lt;/Box&gt;&#10;                &lt;Box style={{ width: 128, height: 40, background: '#EDF4FC', borderRadius: 8, justifyContent: 'center', alignItems: 'center' }}&gt;&#10;                    &lt;Text style={{ fontSize: 15, color: '#276FBF' }}&gt;指标分母&lt;/Text&gt;&#10;                &lt;/Box&gt;&#10;                &lt;Box style={{ width: 128, height: 40, background: '#ECF7F2', borderRadius: 8, justifyContent: 'center', alignItems: 'center' }}&gt;&#10;                    &lt;Text style={{ fontSize: 15, color: '#26816B' }}&gt;观察窗口&lt;/Text&gt;&#10;                &lt;/Box&gt;&#10;                &lt;Box style={{ width: 128, height: 40, background: '#FFF4E6', borderRadius: 8, justifyContent: 'center', alignItems: 'center' }}&gt;&#10;                    &lt;Text style={{ fontSize: 15, color: '#CB6B28' }}&gt;评分规则&lt;/Text&gt;&#10;                &lt;/Box&gt;&#10;            &lt;/Box&gt;&#10;        &lt;/Box&gt;&#10;&#10;        &lt;Box style={{ width: 560, flexDirection: 'column', justifyContent: 'center', gap: 10 }}&gt;&#10;            &lt;Box style={{ width: 560, height: 64, background: '#F4F7FA', borderRadius: 10, padding: '0 20px', justifyContent: 'center' }}&gt;&#10;                &lt;Text style={{ fontSize: 17, color: '#546779' }}&gt;四十八步走完　≠　活动目标达成&lt;/Text&gt;&#10;            &lt;/Box&gt;&#10;            &lt;Box style={{ width: 560, height: 34, justifyContent: 'center', alignItems: 'center' }}&gt;&#10;                &lt;Text style={{ fontSize: 22, color: '#276FBF' }}&gt;↓&lt;/Text&gt;&#10;            &lt;/Box&gt;&#10;            &lt;Box style={{ width: 560, height: 56, background: '#EDF4FC', borderRadius: 8, padding: '0 20px', justifyContent: 'center' }}&gt;&#10;                &lt;Text style={{ fontSize: 16, color: '#276FBF' }}&gt;执行状态　　是否结束、在哪里中断&lt;/Text&gt;&#10;            &lt;/Box&gt;&#10;            &lt;Box style={{ width: 560, height: 56, background: '#FFF4E6', borderRadius: 8, padding: '0 20px', justifyContent: 'center' }}&gt;&#10;                &lt;Text style={{ fontSize: 16, color: '#CB6B28' }}&gt;行为质量　　空检索、回退、重复与 SOP 依据&lt;/Text&gt;&#10;            &lt;/Box&gt;&#10;            &lt;Box style={{ width: 560, height: 56, background: '#ECF7F2', borderRadius: 8, padding: '0 20px', justifyContent: 'center' }}&gt;&#10;                &lt;Text style={{ fontSize: 16, color: '#26816B' }}&gt;业务成效　　通知更正、获知、到达与行动&lt;/Text&gt;&#10;            &lt;/Box&gt;&#10;            &lt;Box style={{ width: 560, height: 72, background: '#FFF4E6', borderRadius: 8, padding: '0 20px', justifyContent: 'center' }}&gt;&#10;                &lt;Text style={{ fontSize: 15, color: '#CB6B28', lineHeight: 1.5 }}&gt;COMPLETED 不自动推出业务通过；{'\n'}NOT_EVALUATED 不算通过。&lt;/Text&gt;&#10;            &lt;/Box&gt;&#10;        &lt;/Box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 descr="{&quot;isTemplate&quot;:true,&quot;type&quot;:&quot;text&quot;}"/>
          <p:cNvSpPr txBox="1"/>
          <p:nvPr/>
        </p:nvSpPr>
        <p:spPr>
          <a:xfrm rot="0" flipH="0" flipV="0">
            <a:off x="609600" y="2162175"/>
            <a:ext cx="53340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第三章　在共同世界中行动　·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3.12</a:t>
            </a:r>
            <a:endParaRPr/>
          </a:p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2466975"/>
            <a:ext cx="5334000" cy="7143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3900" b="1">
                <a:solidFill>
                  <a:srgbClr val="20344B"/>
                </a:solidFill>
                <a:latin typeface="Microsoft YaHei"/>
                <a:ea typeface="Microsoft YaHei"/>
              </a:rPr>
              <a:t>怎样判断实验有用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609600" y="33147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09600" y="3486150"/>
            <a:ext cx="533400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四十八步走完，只说明指定执行过程结束。要判断实验有没有用，先把执行状态、系统诊断与研究目标分开，再按事先定义的规则评分。</a:t>
            </a:r>
            <a:endParaRPr/>
          </a:p>
        </p:txBody>
      </p:sp>
      <p:sp>
        <p:nvSpPr>
          <p:cNvPr id="7" name=""/>
          <p:cNvSpPr/>
          <p:nvPr/>
        </p:nvSpPr>
        <p:spPr>
          <a:xfrm rot="0" flipH="0" flipV="0">
            <a:off x="609600" y="4324350"/>
            <a:ext cx="121920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933450" y="4429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三层评价</a:t>
            </a:r>
            <a:endParaRPr/>
          </a:p>
        </p:txBody>
      </p:sp>
      <p:sp>
        <p:nvSpPr>
          <p:cNvPr id="9" name=""/>
          <p:cNvSpPr/>
          <p:nvPr/>
        </p:nvSpPr>
        <p:spPr>
          <a:xfrm rot="0" flipH="0" flipV="0">
            <a:off x="1943100" y="4324350"/>
            <a:ext cx="121920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2266950" y="4429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指标分母</a:t>
            </a:r>
            <a:endParaRPr/>
          </a:p>
        </p:txBody>
      </p:sp>
      <p:sp>
        <p:nvSpPr>
          <p:cNvPr id="11" name=""/>
          <p:cNvSpPr/>
          <p:nvPr/>
        </p:nvSpPr>
        <p:spPr>
          <a:xfrm rot="0" flipH="0" flipV="0">
            <a:off x="3276600" y="4324350"/>
            <a:ext cx="1219200" cy="381000"/>
          </a:xfrm>
          <a:prstGeom prst="roundRect">
            <a:avLst>
              <a:gd name="adj" fmla="val 2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3600450" y="4429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观察窗口</a:t>
            </a:r>
            <a:endParaRPr/>
          </a:p>
        </p:txBody>
      </p:sp>
      <p:sp>
        <p:nvSpPr>
          <p:cNvPr id="13" name=""/>
          <p:cNvSpPr/>
          <p:nvPr/>
        </p:nvSpPr>
        <p:spPr>
          <a:xfrm rot="0" flipH="0" flipV="0">
            <a:off x="4610100" y="4324350"/>
            <a:ext cx="1219200" cy="38100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4933950" y="44291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评分规则</a:t>
            </a:r>
            <a:endParaRPr/>
          </a:p>
        </p:txBody>
      </p:sp>
      <p:sp>
        <p:nvSpPr>
          <p:cNvPr id="15" name=""/>
          <p:cNvSpPr/>
          <p:nvPr/>
        </p:nvSpPr>
        <p:spPr>
          <a:xfrm rot="0" flipH="0" flipV="0">
            <a:off x="6248400" y="1581150"/>
            <a:ext cx="53340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438900" y="1790700"/>
            <a:ext cx="49530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四十八步走完　≠　活动目标达成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8867775" y="23241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18" name=""/>
          <p:cNvSpPr/>
          <p:nvPr/>
        </p:nvSpPr>
        <p:spPr>
          <a:xfrm rot="0" flipH="0" flipV="0">
            <a:off x="6248400" y="2705100"/>
            <a:ext cx="53340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28765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执行状态　　是否结束、在哪里中断</a:t>
            </a:r>
            <a:endParaRPr/>
          </a:p>
        </p:txBody>
      </p:sp>
      <p:sp>
        <p:nvSpPr>
          <p:cNvPr id="20" name=""/>
          <p:cNvSpPr/>
          <p:nvPr/>
        </p:nvSpPr>
        <p:spPr>
          <a:xfrm rot="0" flipH="0" flipV="0">
            <a:off x="6248400" y="3333750"/>
            <a:ext cx="53340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438900" y="3505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行为质量　　空检索、回退、重复与</a:t>
            </a:r>
            <a:r>
              <a:rPr lang="en-US" sz="1200">
                <a:solidFill>
                  <a:srgbClr val="CB6B28"/>
                </a:solidFill>
                <a:latin typeface="Microsoft YaHei"/>
                <a:ea typeface="Microsoft YaHei"/>
              </a:rPr>
              <a:t xml:space="preserve"> SOP </a:t>
            </a: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依据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6248400" y="3962400"/>
            <a:ext cx="53340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438900" y="413385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业务成效　　通知更正、获知、到达与行动</a:t>
            </a:r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6248400" y="4591050"/>
            <a:ext cx="5334000" cy="685800"/>
          </a:xfrm>
          <a:prstGeom prst="roundRect">
            <a:avLst>
              <a:gd name="adj" fmla="val 1111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6438900" y="4676775"/>
            <a:ext cx="4953000" cy="5143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COMPLETED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不自动推出业务通过；</a:t>
            </a:r>
            <a:endParaRPr/>
          </a:p>
          <a:p>
            <a:pPr>
              <a:lnSpc>
                <a:spcPct val="15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NOT_EVALUATED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不算通过。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283" name="" descr="&lt;Slide notes={`这一节要看清的东西摆出来，一共四块。&#10;第一块是分层：执行状态、行为质量、业务成效各回答一个问题。同一个 Run 可以是 COMPLETED，同时带着行为告警；也可以没有基础告警，但业务评价根本没执行。&#10;第二块是定口径：指标的分母、观察窗口和延迟算法都要在运行前写清楚。到达率的分母只有陈晨和许安两个人，窗口从 09:50 到第四十八步的十点三十七。&#10;第三块是看系统到底评了什么。行为质量页的告警需要解释，但不能删；资源和方法存在，也不等于每次运行都真的执行了评价。&#10;第四块是动手核对：页面、报告和导出三处要能对上，改动要用单因素对照来说明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　业务指标、行为质量与 Evaluator&lt;/Text&gt;&#10;            &lt;Text style={{ fontSize: 34, fontWeight: 'bold', color: '#20344B' }}&gt;本节要看清的四件事&lt;/Text&gt;&#10;        &lt;/Box&gt;&#10;    &lt;/Box&gt;&#10;&#10;    &lt;Box style={{ height: 540, flexDirection: 'row', alignItems: 'center', gap: 32 }}&gt;&#10;&#10;        &lt;Box style={{ width: 300, flexDirection: 'column', gap: 18 }}&gt;&#10;            &lt;Text style={{ fontSize: 17, color: '#546779', lineHeight: 1.75, width: 300 }}&gt;这一节回答一个问题：一次跑完的实验，凭什么算有用。四块内容依次是分层、定口径、看系统评了什么，最后动手核对与对照。&lt;/Text&gt;&#10;            &lt;Box style={{ width: 300, height: 118, background: '#FFF4E6', borderRadius: 10, padding: '14px 18px', flexDirection: 'column', gap: 6, justifyContent: 'center' }}&gt;&#10;                &lt;Text style={{ fontSize: 16, fontWeight: 'bold', color: '#CB6B28' }}&gt;未执行就是未执行&lt;/Text&gt;&#10;                &lt;Text style={{ fontSize: 14, color: '#546779', lineHeight: 1.55 }}&gt;没检查过的内容，不能计入成功；没定义的指标，事后也补不回来。&lt;/Text&gt;&#10;            &lt;/Box&gt;&#10;        &lt;/Box&gt;&#10;&#10;        &lt;Box style={{ width: 820, flexDirection: 'column', gap: 14 }}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1&lt;/Text&gt;&#10;                &lt;/Box&gt;&#10;                &lt;Box style={{ flexDirection: 'column', gap: 4 }}&gt;&#10;                    &lt;Text style={{ fontSize: 20, fontWeight: 'bold', color: '#20344B' }}&gt;三层评价各自回答一个问题&lt;/Text&gt;&#10;                    &lt;Text style={{ fontSize: 14, color: '#546779' }}&gt;执行状态、行为质量与业务成效分开报告；完成状态不自动推出业务通过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2&lt;/Text&gt;&#10;                &lt;/Box&gt;&#10;                &lt;Box style={{ flexDirection: 'column', gap: 4 }}&gt;&#10;                    &lt;Text style={{ fontSize: 20, fontWeight: 'bold', color: '#20344B' }}&gt;先定义分母，再计时&lt;/Text&gt;&#10;                    &lt;Text style={{ fontSize: 14, color: '#546779' }}&gt;到达率的分母是两名访客，窗口到 Step 48 的 10:37；传播延迟另设起止事实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3&lt;/Text&gt;&#10;                &lt;/Box&gt;&#10;                &lt;Box style={{ flexDirection: 'column', gap: 4 }}&gt;&#10;                    &lt;Text style={{ fontSize: 20, fontWeight: 'bold', color: '#20344B' }}&gt;行为质量页与 Evaluator 的执行&lt;/Text&gt;&#10;                    &lt;Text style={{ fontSize: 14, color: '#546779' }}&gt;告警要解释但不能删；资源与方法存在，不等于每次 Run 都执行了评价。&lt;/Text&gt;&#10;                &lt;/Box&gt;&#10;            &lt;/Box&gt;&#10;&#10;            &lt;Box style={{ width: 820, height: 100, background: '#F4F7FA', borderRadius: 10, padding: '0 20px', flexDirection: 'row', alignItems: 'center', gap: 16 }}&gt;&#10;                &lt;Box style={{ width: 44, height: 44, background: '#276FBF', borderRadius: 8, justifyContent: 'center', alignItems: 'center' }}&gt;&#10;                    &lt;Text style={{ fontSize: 20, fontWeight: 'bold', color: '#FFFFFF' }}&gt;4&lt;/Text&gt;&#10;                &lt;/Box&gt;&#10;                &lt;Box style={{ flexDirection: 'column', gap: 4 }}&gt;&#10;                    &lt;Text style={{ fontSize: 20, fontWeight: 'bold', color: '#20344B' }}&gt;核对一致，再做对照&lt;/Text&gt;&#10;                    &lt;Text style={{ fontSize: 14, color: '#546779' }}&gt;页面、报告与导出要能对上；三种统计单位不能相加，改动要用单因素对照。&lt;/Text&gt;&#10;                &lt;/Box&gt;&#10;            &lt;/Box&gt;&#10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914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9146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本节要看清的四件事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609600" y="2390775"/>
            <a:ext cx="2857500" cy="1362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这一节回答一个问题：一次跑完的实验，凭什么算有用。四块内容依次是分层、定口径、看系统评了什么，最后动手核对与对照。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609600" y="3924300"/>
            <a:ext cx="28575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781050" y="4114800"/>
            <a:ext cx="2514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未执行就是未执行</a:t>
            </a:r>
            <a:endParaRPr/>
          </a:p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81050" y="4362450"/>
            <a:ext cx="25146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没检查过的内容，不能计入成功；没定义的指标，事后也补不回来。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3771900" y="16097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3" name=""/>
          <p:cNvSpPr/>
          <p:nvPr/>
        </p:nvSpPr>
        <p:spPr>
          <a:xfrm rot="0" flipH="0" flipV="0">
            <a:off x="3962400" y="18764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4114800" y="19716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4533900" y="1876425"/>
            <a:ext cx="4400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三层评价各自回答一个问题</a:t>
            </a:r>
            <a:endParaRPr/>
          </a:p>
        </p:txBody>
      </p:sp>
      <p:sp>
        <p:nvSpPr>
          <p:cNvPr id="296" name="" descr="{&quot;isTemplate&quot;:true,&quot;type&quot;:&quot;text&quot;}"/>
          <p:cNvSpPr txBox="1"/>
          <p:nvPr/>
        </p:nvSpPr>
        <p:spPr>
          <a:xfrm rot="0" flipH="0" flipV="0">
            <a:off x="4533900" y="2143125"/>
            <a:ext cx="4400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执行状态、行为质量与业务成效分开报告；完成状态不自动推出业务通过。</a:t>
            </a:r>
            <a:endParaRPr/>
          </a:p>
        </p:txBody>
      </p:sp>
      <p:sp>
        <p:nvSpPr>
          <p:cNvPr id="297" name=""/>
          <p:cNvSpPr/>
          <p:nvPr/>
        </p:nvSpPr>
        <p:spPr>
          <a:xfrm rot="0" flipH="0" flipV="0">
            <a:off x="3771900" y="26955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98" name=""/>
          <p:cNvSpPr/>
          <p:nvPr/>
        </p:nvSpPr>
        <p:spPr>
          <a:xfrm rot="0" flipH="0" flipV="0">
            <a:off x="3962400" y="29622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4114800" y="30575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4533900" y="2962275"/>
            <a:ext cx="4676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先定义分母，再计时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4533900" y="3228975"/>
            <a:ext cx="46767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到达率的分母是两名访客，窗口到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48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10:37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；传播延迟另设起止事实。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3771900" y="378142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3" name=""/>
          <p:cNvSpPr/>
          <p:nvPr/>
        </p:nvSpPr>
        <p:spPr>
          <a:xfrm rot="0" flipH="0" flipV="0">
            <a:off x="3962400" y="404812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4114800" y="414337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4533900" y="4048125"/>
            <a:ext cx="4333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行为质量页与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的执行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4533900" y="4314825"/>
            <a:ext cx="4333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告警要解释但不能删；资源与方法存在，不等于每次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都执行了评价。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3771900" y="4867275"/>
            <a:ext cx="7810500" cy="952500"/>
          </a:xfrm>
          <a:prstGeom prst="roundRect">
            <a:avLst>
              <a:gd name="adj" fmla="val 10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3962400" y="5133975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4114800" y="5229225"/>
            <a:ext cx="1238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4533900" y="5133975"/>
            <a:ext cx="45339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核对一致，再做对照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4533900" y="54006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页面、报告与导出要能对上；三种统计单位不能相加，改动要用单因素对照。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13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02 / 24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11" name="" descr="&lt;Slide notes={`这一块先立结构：同一个 Run，要分成三条独立的报告线来看。&#10;第一条是执行状态，回答请求的步骤有没有完成、在哪里中断。它看的是 Run 状态、Attempt 和已提交边界。青禾走完四十八步，这条线是通的。&#10;第二条是行为质量，回答过程中有没有出现空检索、无动作、回退、重复调用，或者偏离了 SOP。它看的是已提交的效果、MCP 调用记录和规则评价。&#10;第三条是业务成效，回答通知有没有更正、信息有没有传达、参与者有没有按新安排行动。它看的是对象变化、会话、记忆更新、位移和活动事实。&#10;三条线可以互相解释，但谁也不能代替谁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①　　3.12.1&lt;/Text&gt;&#10;&#10;        &lt;Text style={{ fontSize: 56, fontWeight: 'bold', color: '#20344B', lineHeight: 1.15 }}&gt;三层评价，各回答一个问题&lt;/Text&gt;&#10;&#10;        &lt;Box style={{ width: 72, height: 4, background: '#276FBF' }} /&gt;&#10;&#10;        &lt;Text style={{ fontSize: 18, color: '#546779', lineHeight: 1.7, width: 900 }}&gt;同一个 Run 分成三条独立的报告线：执行是否结束、系统诊断发现了什么、研究目标是否达到。&lt;/Text&gt;&#10;&#10;        &lt;Box style={{ flexDirection: 'row', alignItems: 'center', gap: 26, marginTop: 10 }}&gt;&#10;            &lt;Box style={{ width: 340, height: 96, background: '#EDF4FC', borderRadius: 8, flexDirection: 'column', justifyContent: 'center', alignItems: 'center', gap: 4 }}&gt;&#10;                &lt;Text style={{ fontSize: 18, fontWeight: 'bold', color: '#276FBF' }}&gt;执行状态&lt;/Text&gt;&#10;                &lt;Text style={{ fontSize: 14, color: '#546779' }}&gt;Run 状态 · Attempt · 已提交边界&lt;/Text&gt;&#10;            &lt;/Box&gt;&#10;            &lt;Box style={{ width: 340, height: 96, background: '#FFF4E6', borderRadius: 8, flexDirection: 'column', justifyContent: 'center', alignItems: 'center', gap: 4 }}&gt;&#10;                &lt;Text style={{ fontSize: 18, fontWeight: 'bold', color: '#CB6B28' }}&gt;行为质量&lt;/Text&gt;&#10;                &lt;Text style={{ fontSize: 14, color: '#546779' }}&gt;已提交效果 · MCP · 规则与评价记录&lt;/Text&gt;&#10;            &lt;/Box&gt;&#10;            &lt;Box style={{ width: 340, height: 96, background: '#ECF7F2', borderRadius: 8, flexDirection: 'column', justifyContent: 'center', alignItems: 'center', gap: 4 }}&gt;&#10;                &lt;Text style={{ fontSize: 18, fontWeight: 'bold', color: '#26816B' }}&gt;业务成效&lt;/Text&gt;&#10;                &lt;Text style={{ fontSize: 14, color: '#546779' }}&gt;对象变化 · 会话 · 记忆 · 移动与活动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13" name="" descr="{&quot;isTemplate&quot;:true,&quot;type&quot;:&quot;text&quot;}"/>
          <p:cNvSpPr txBox="1"/>
          <p:nvPr/>
        </p:nvSpPr>
        <p:spPr>
          <a:xfrm rot="0" flipH="0" flipV="0">
            <a:off x="609600" y="16668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①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3.12.1</a:t>
            </a:r>
            <a:endParaRPr/>
          </a:p>
        </p:txBody>
      </p:sp>
      <p:sp>
        <p:nvSpPr>
          <p:cNvPr id="414" name="" descr="{&quot;isTemplate&quot;:true,&quot;type&quot;:&quot;text&quot;}"/>
          <p:cNvSpPr txBox="1"/>
          <p:nvPr/>
        </p:nvSpPr>
        <p:spPr>
          <a:xfrm rot="0" flipH="0" flipV="0">
            <a:off x="609600" y="20478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三层评价，各回答一个问题</a:t>
            </a:r>
            <a:endParaRPr/>
          </a:p>
        </p:txBody>
      </p:sp>
      <p:sp>
        <p:nvSpPr>
          <p:cNvPr id="415" name=""/>
          <p:cNvSpPr/>
          <p:nvPr/>
        </p:nvSpPr>
        <p:spPr>
          <a:xfrm rot="0" flipH="0" flipV="0">
            <a:off x="609600" y="30003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16" name="" descr="{&quot;isTemplate&quot;:true,&quot;type&quot;:&quot;text&quot;}"/>
          <p:cNvSpPr txBox="1"/>
          <p:nvPr/>
        </p:nvSpPr>
        <p:spPr>
          <a:xfrm rot="0" flipH="0" flipV="0">
            <a:off x="609600" y="32480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同一个</a:t>
            </a:r>
            <a:r>
              <a:rPr lang="en-US" sz="13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分成三条独立的报告线：执行是否结束、系统诊断发现了什么、研究目标是否达到。</a:t>
            </a:r>
            <a:endParaRPr/>
          </a:p>
        </p:txBody>
      </p:sp>
      <p:sp>
        <p:nvSpPr>
          <p:cNvPr id="417" name=""/>
          <p:cNvSpPr/>
          <p:nvPr/>
        </p:nvSpPr>
        <p:spPr>
          <a:xfrm rot="0" flipH="0" flipV="0">
            <a:off x="609600" y="39052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885950" y="41624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76FBF"/>
                </a:solidFill>
                <a:latin typeface="Microsoft YaHei"/>
                <a:ea typeface="Microsoft YaHei"/>
              </a:rPr>
              <a:t>执行状态</a:t>
            </a:r>
            <a:endParaRPr/>
          </a:p>
        </p:txBody>
      </p:sp>
      <p:sp>
        <p:nvSpPr>
          <p:cNvPr id="419" name="" descr="{&quot;isTemplate&quot;:true,&quot;type&quot;:&quot;text&quot;}"/>
          <p:cNvSpPr txBox="1"/>
          <p:nvPr/>
        </p:nvSpPr>
        <p:spPr>
          <a:xfrm rot="0" flipH="0" flipV="0">
            <a:off x="1238250" y="4410075"/>
            <a:ext cx="1981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Attempt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已提交边界</a:t>
            </a:r>
            <a:endParaRPr/>
          </a:p>
        </p:txBody>
      </p:sp>
      <p:sp>
        <p:nvSpPr>
          <p:cNvPr id="420" name=""/>
          <p:cNvSpPr/>
          <p:nvPr/>
        </p:nvSpPr>
        <p:spPr>
          <a:xfrm rot="0" flipH="0" flipV="0">
            <a:off x="4095750" y="39052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21" name="" descr="{&quot;isTemplate&quot;:true,&quot;type&quot;:&quot;text&quot;}"/>
          <p:cNvSpPr txBox="1"/>
          <p:nvPr/>
        </p:nvSpPr>
        <p:spPr>
          <a:xfrm rot="0" flipH="0" flipV="0">
            <a:off x="5372100" y="41624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行为质量</a:t>
            </a:r>
            <a:endParaRPr/>
          </a:p>
        </p:txBody>
      </p:sp>
      <p:sp>
        <p:nvSpPr>
          <p:cNvPr id="422" name="" descr="{&quot;isTemplate&quot;:true,&quot;type&quot;:&quot;text&quot;}"/>
          <p:cNvSpPr txBox="1"/>
          <p:nvPr/>
        </p:nvSpPr>
        <p:spPr>
          <a:xfrm rot="0" flipH="0" flipV="0">
            <a:off x="4657725" y="4410075"/>
            <a:ext cx="21240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已提交效果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MCP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规则与评价记录</a:t>
            </a:r>
            <a:endParaRPr/>
          </a:p>
        </p:txBody>
      </p:sp>
      <p:sp>
        <p:nvSpPr>
          <p:cNvPr id="423" name=""/>
          <p:cNvSpPr/>
          <p:nvPr/>
        </p:nvSpPr>
        <p:spPr>
          <a:xfrm rot="0" flipH="0" flipV="0">
            <a:off x="7581900" y="3905250"/>
            <a:ext cx="3238500" cy="914400"/>
          </a:xfrm>
          <a:prstGeom prst="roundRect">
            <a:avLst>
              <a:gd name="adj" fmla="val 8333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858250" y="416242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业务成效</a:t>
            </a:r>
            <a:endParaRPr/>
          </a:p>
        </p:txBody>
      </p:sp>
      <p:sp>
        <p:nvSpPr>
          <p:cNvPr id="425" name="" descr="{&quot;isTemplate&quot;:true,&quot;type&quot;:&quot;text&quot;}"/>
          <p:cNvSpPr txBox="1"/>
          <p:nvPr/>
        </p:nvSpPr>
        <p:spPr>
          <a:xfrm rot="0" flipH="0" flipV="0">
            <a:off x="8172450" y="4410075"/>
            <a:ext cx="2066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对象变化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会话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记忆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移动与活动</a:t>
            </a:r>
            <a:endParaRPr/>
          </a:p>
        </p:txBody>
      </p:sp>
      <p:sp>
        <p:nvSpPr>
          <p:cNvPr id="426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427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03 / 24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428" name="" descr="&lt;Slide notes={`同一个 Run 分出来的是三条并行的报告线，不是评分的先后顺序。&#10;执行状态这一条最简单：请求的步骤有没有完成、在哪里中断，看的是 Run 状态、Attempt 和已提交边界。青禾走完四十八步，这条线是通的。&#10;行为质量这一条看过程：有没有空检索、无动作、回退、重复调用，或者偏离了 SOP。它的证据是已提交的效果、MCP 调用记录、规则和必要的专门评价，通常由确定性投影直接给出。&#10;业务成效这一条看世界：公告是不是真的改成了新时间，许安是不是真的知道了，参与者是不是按新安排行动。到达率和传播延迟都属于这一条。&#10;三条线可以互相解释，但不能互相替代。未执行的评价保持未执行，不能顺手当成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1　三层评价各回答一个问题&lt;/Text&gt;&#10;            &lt;Text style={{ fontSize: 34, fontWeight: 'bold', color: '#20344B' }}&gt;一个 Run，三层分开作答&lt;/Text&gt;&#10;        &lt;/Box&gt;&#10;    &lt;/Box&gt;&#10;&#10;    &lt;Box style={{ height: 540, flexDirection: 'column', justifyContent: 'center', gap: 20 }}&gt;&#10;&#10;        &lt;Box style={{ width: 1152, height: 64, background: '#F4F7FA', borderRadius: 10, justifyContent: 'center', alignItems: 'center' }}&gt;&#10;            &lt;Text style={{ fontSize: 17, color: '#546779' }}&gt;同一个 Run，分开作答&lt;/Text&gt;&#10;        &lt;/Box&gt;&#10;&#10;        &lt;Box style={{ width: 1152, height: 28, justifyContent: 'center', alignItems: 'center' }}&gt;&#10;            &lt;Text style={{ fontSize: 22, color: '#276FBF' }}&gt;↓&lt;/Text&gt;&#10;        &lt;/Box&gt;&#10;&#10;        &lt;Box style={{ flexDirection: 'row', gap: 36 }}&gt;&#10;            &lt;Box style={{ width: 360, height: 210, background: '#EDF4FC', borderRadius: 10, padding: 16, flexDirection: 'column', gap: 10 }}&gt;&#10;                &lt;Box style={{ width: 328, height: 40, background: '#276FBF', borderRadius: 8, justifyContent: 'center', alignItems: 'center' }}&gt;&#10;                    &lt;Text style={{ fontSize: 18, fontWeight: 'bold', color: '#FFFFFF' }}&gt;执行状态&lt;/Text&gt;&#10;                &lt;/Box&gt;&#10;                &lt;Text style={{ fontSize: 15, fontWeight: 'bold', color: '#20344B', lineHeight: 1.5 }}&gt;是否结束、在哪里中断&lt;/Text&gt;&#10;                &lt;Text style={{ fontSize: 13, color: '#546779', lineHeight: 1.55 }}&gt;证据：Run 状态、Attempt、已提交边界&lt;/Text&gt;&#10;                &lt;Text style={{ fontSize: 13, color: '#546779', lineHeight: 1.55 }}&gt;青禾：四十八步走完，状态 COMPLETED&lt;/Text&gt;&#10;            &lt;/Box&gt;&#10;            &lt;Box style={{ width: 360, height: 210, background: '#FFF4E6', borderRadius: 10, padding: 16, flexDirection: 'column', gap: 10 }}&gt;&#10;                &lt;Box style={{ width: 328, height: 40, background: '#CB6B28', borderRadius: 8, justifyContent: 'center', alignItems: 'center' }}&gt;&#10;                    &lt;Text style={{ fontSize: 18, fontWeight: 'bold', color: '#FFFFFF' }}&gt;行为质量&lt;/Text&gt;&#10;                &lt;/Box&gt;&#10;                &lt;Text style={{ fontSize: 15, fontWeight: 'bold', color: '#20344B', lineHeight: 1.5 }}&gt;空检索、无动作、回退、重复、偏离 SOP&lt;/Text&gt;&#10;                &lt;Text style={{ fontSize: 13, color: '#546779', lineHeight: 1.55 }}&gt;证据：已提交效果、MCP 调用、规则与专门评价&lt;/Text&gt;&#10;                &lt;Text style={{ fontSize: 13, color: '#546779', lineHeight: 1.55 }}&gt;由确定性投影给出，必要时另接专门评价&lt;/Text&gt;&#10;            &lt;/Box&gt;&#10;            &lt;Box style={{ width: 360, height: 210, background: '#ECF7F2', borderRadius: 10, padding: 16, flexDirection: 'column', gap: 10 }}&gt;&#10;                &lt;Box style={{ width: 328, height: 40, background: '#26816B', borderRadius: 8, justifyContent: 'center', alignItems: 'center' }}&gt;&#10;                    &lt;Text style={{ fontSize: 18, fontWeight: 'bold', color: '#FFFFFF' }}&gt;业务成效&lt;/Text&gt;&#10;                &lt;/Box&gt;&#10;                &lt;Text style={{ fontSize: 15, fontWeight: 'bold', color: '#20344B', lineHeight: 1.5 }}&gt;通知更正、获知、到达与行动&lt;/Text&gt;&#10;                &lt;Text style={{ fontSize: 13, color: '#546779', lineHeight: 1.55 }}&gt;证据：对象变化、会话、记忆更新、位移与活动&lt;/Text&gt;&#10;                &lt;Text style={{ fontSize: 13, color: '#546779', lineHeight: 1.55 }}&gt;青禾：到达率与传播延迟在这一点上回答&lt;/Text&gt;&#10;            &lt;/Box&gt;&#10;        &lt;/Box&gt;&#10;&#10;        &lt;Box style={{ width: 1152, height: 76, background: '#FFF4E6', borderRadius: 10, padding: '0 22px', flexDirection: 'row', alignItems: 'center', gap: 14 }}&gt;&#10;            &lt;Box style={{ width: 4, height: 44, background: '#CB6B28' }} /&gt;&#10;            &lt;Text style={{ fontSize: 15, color: '#CB6B28', flex: 1, lineHeight: 1.6 }}&gt;COMPLETED 不自动推出业务通过；NOT_EVALUATED 不算通过。未执行的评价保持未执行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0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65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三层评价各回答一个问题</a:t>
            </a:r>
            <a:endParaRPr/>
          </a:p>
        </p:txBody>
      </p:sp>
      <p:sp>
        <p:nvSpPr>
          <p:cNvPr id="432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657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一个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，三层分开作答</a:t>
            </a:r>
            <a:endParaRPr/>
          </a:p>
        </p:txBody>
      </p:sp>
      <p:sp>
        <p:nvSpPr>
          <p:cNvPr id="433" name=""/>
          <p:cNvSpPr/>
          <p:nvPr/>
        </p:nvSpPr>
        <p:spPr>
          <a:xfrm rot="0" flipH="0" flipV="0">
            <a:off x="609600" y="1628775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34" name="" descr="{&quot;isTemplate&quot;:true,&quot;type&quot;:&quot;text&quot;}"/>
          <p:cNvSpPr txBox="1"/>
          <p:nvPr/>
        </p:nvSpPr>
        <p:spPr>
          <a:xfrm rot="0" flipH="0" flipV="0">
            <a:off x="5267325" y="1838325"/>
            <a:ext cx="16573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同一个</a:t>
            </a:r>
            <a:r>
              <a:rPr lang="en-US" sz="12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，分开作答</a:t>
            </a:r>
            <a:endParaRPr/>
          </a:p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6048375" y="2438400"/>
            <a:ext cx="104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76FBF"/>
                </a:solidFill>
                <a:latin typeface="Microsoft YaHei"/>
                <a:ea typeface="Microsoft YaHei"/>
              </a:rPr>
              <a:t>↓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609600" y="2886075"/>
            <a:ext cx="3429000" cy="2000250"/>
          </a:xfrm>
          <a:prstGeom prst="roundRect">
            <a:avLst>
              <a:gd name="adj" fmla="val 476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37" name=""/>
          <p:cNvSpPr/>
          <p:nvPr/>
        </p:nvSpPr>
        <p:spPr>
          <a:xfrm rot="0" flipH="0" flipV="0">
            <a:off x="762000" y="3038475"/>
            <a:ext cx="3124200" cy="381000"/>
          </a:xfrm>
          <a:prstGeom prst="roundRect">
            <a:avLst>
              <a:gd name="adj" fmla="val 2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38" name="" descr="{&quot;isTemplate&quot;:true,&quot;type&quot;:&quot;text&quot;}"/>
          <p:cNvSpPr txBox="1"/>
          <p:nvPr/>
        </p:nvSpPr>
        <p:spPr>
          <a:xfrm rot="0" flipH="0" flipV="0">
            <a:off x="1981200" y="3124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执行状态</a:t>
            </a:r>
            <a:endParaRPr/>
          </a:p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762000" y="351472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是否结束、在哪里中断</a:t>
            </a:r>
            <a:endParaRPr/>
          </a:p>
        </p:txBody>
      </p:sp>
      <p:sp>
        <p:nvSpPr>
          <p:cNvPr id="440" name="" descr="{&quot;isTemplate&quot;:true,&quot;type&quot;:&quot;text&quot;}"/>
          <p:cNvSpPr txBox="1"/>
          <p:nvPr/>
        </p:nvSpPr>
        <p:spPr>
          <a:xfrm rot="0" flipH="0" flipV="0">
            <a:off x="762000" y="3867150"/>
            <a:ext cx="3124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证据：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状态、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、已提交边界</a:t>
            </a:r>
            <a:endParaRPr/>
          </a:p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762000" y="4200525"/>
            <a:ext cx="3124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青禾：四十八步走完，状态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COMPLETED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4381500" y="2886075"/>
            <a:ext cx="3429000" cy="200025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3" name=""/>
          <p:cNvSpPr/>
          <p:nvPr/>
        </p:nvSpPr>
        <p:spPr>
          <a:xfrm rot="0" flipH="0" flipV="0">
            <a:off x="4533900" y="3038475"/>
            <a:ext cx="3124200" cy="381000"/>
          </a:xfrm>
          <a:prstGeom prst="roundRect">
            <a:avLst>
              <a:gd name="adj" fmla="val 2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44" name="" descr="{&quot;isTemplate&quot;:true,&quot;type&quot;:&quot;text&quot;}"/>
          <p:cNvSpPr txBox="1"/>
          <p:nvPr/>
        </p:nvSpPr>
        <p:spPr>
          <a:xfrm rot="0" flipH="0" flipV="0">
            <a:off x="5753100" y="3124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行为质量</a:t>
            </a:r>
            <a:endParaRPr/>
          </a:p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4533900" y="351472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空检索、无动作、回退、重复、偏离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46" name="" descr="{&quot;isTemplate&quot;:true,&quot;type&quot;:&quot;text&quot;}"/>
          <p:cNvSpPr txBox="1"/>
          <p:nvPr/>
        </p:nvSpPr>
        <p:spPr>
          <a:xfrm rot="0" flipH="0" flipV="0">
            <a:off x="4533900" y="3867150"/>
            <a:ext cx="3124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证据：已提交效果、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调用、规则与专门评价</a:t>
            </a:r>
            <a:endParaRPr/>
          </a:p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4533900" y="4200525"/>
            <a:ext cx="3124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由确定性投影给出，必要时另接专门评价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8153400" y="2886075"/>
            <a:ext cx="3429000" cy="2000250"/>
          </a:xfrm>
          <a:prstGeom prst="roundRect">
            <a:avLst>
              <a:gd name="adj" fmla="val 476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49" name=""/>
          <p:cNvSpPr/>
          <p:nvPr/>
        </p:nvSpPr>
        <p:spPr>
          <a:xfrm rot="0" flipH="0" flipV="0">
            <a:off x="8305800" y="3038475"/>
            <a:ext cx="3124200" cy="381000"/>
          </a:xfrm>
          <a:prstGeom prst="roundRect">
            <a:avLst>
              <a:gd name="adj" fmla="val 2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50" name="" descr="{&quot;isTemplate&quot;:true,&quot;type&quot;:&quot;text&quot;}"/>
          <p:cNvSpPr txBox="1"/>
          <p:nvPr/>
        </p:nvSpPr>
        <p:spPr>
          <a:xfrm rot="0" flipH="0" flipV="0">
            <a:off x="9525000" y="31242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Microsoft YaHei"/>
                <a:ea typeface="Microsoft YaHei"/>
              </a:rPr>
              <a:t>业务成效</a:t>
            </a:r>
            <a:endParaRPr/>
          </a:p>
        </p:txBody>
      </p:sp>
      <p:sp>
        <p:nvSpPr>
          <p:cNvPr id="451" name="" descr="{&quot;isTemplate&quot;:true,&quot;type&quot;:&quot;text&quot;}"/>
          <p:cNvSpPr txBox="1"/>
          <p:nvPr/>
        </p:nvSpPr>
        <p:spPr>
          <a:xfrm rot="0" flipH="0" flipV="0">
            <a:off x="8305800" y="3514725"/>
            <a:ext cx="3124200" cy="2571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通知更正、获知、到达与行动</a:t>
            </a:r>
            <a:endParaRPr/>
          </a:p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305800" y="3867150"/>
            <a:ext cx="3124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证据：对象变化、会话、记忆更新、位移与活动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305800" y="4200525"/>
            <a:ext cx="3124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青禾：到达率与传播延迟在这一点上回答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609600" y="5076825"/>
            <a:ext cx="10972800" cy="723900"/>
          </a:xfrm>
          <a:prstGeom prst="roundRect">
            <a:avLst>
              <a:gd name="adj" fmla="val 13158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55" name=""/>
          <p:cNvSpPr/>
          <p:nvPr/>
        </p:nvSpPr>
        <p:spPr>
          <a:xfrm rot="0" flipH="0" flipV="0">
            <a:off x="819150" y="5229225"/>
            <a:ext cx="38100" cy="4191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990600" y="5305425"/>
            <a:ext cx="10382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COMPLETED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不自动推出业务通过；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NOT_EVALUATED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不算通过。未执行的评价保持未执行。</a:t>
            </a:r>
            <a:endParaRPr/>
          </a:p>
        </p:txBody>
      </p:sp>
      <p:sp>
        <p:nvSpPr>
          <p:cNvPr id="45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04 / 24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459" name="" descr="&lt;Slide notes={`把三个层次拆成提问和证据两栏，就一目了然了。&#10;执行状态问的是：请求的步骤有没有完成，在哪里中断。它拿的证据是 Run 状态、Attempt 和已提交边界。&#10;确定性诊断与 Brain 合规问的是：过程中有没有出现空检索、无动作、回退、重复调用，或者偏离了 SOP。它拿的是已提交效果、MCP 调用、规则，以及必要的专门评价。&#10;业务评价问的是：通知是不是更正了、信息是不是传达出去了、参与者是不是按新安排行动。它拿的是对象变化、会话内容、记忆更新、位移和活动事实。&#10;我想强调的是，这三层可以互相解释，但不能互相替代。还有一个容易犯的错误：没跑的评价就保持未执行，不能顺手记成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1　三层评价各回答一个问题&lt;/Text&gt;&#10;            &lt;Text style={{ fontSize: 34, fontWeight: 'bold', color: '#20344B' }}&gt;三层各自看什么、拿什么证据&lt;/Text&gt;&#10;        &lt;/Box&gt;&#10;    &lt;/Box&gt;&#10;&#10;    &lt;Box style={{ height: 540, flexDirection: 'column', justifyContent: 'center', gap: 12 }}&gt;&#10;&#10;        &lt;Box style={{ flexDirection: 'row', padding: '0 18px', gap: 16, alignItems: 'center', height: 30 }}&gt;&#10;            &lt;Box style={{ width: 4 }} /&gt;&#10;            &lt;Box style={{ width: 206 }}&gt;&lt;Text style={{ fontSize: 14, color: '#546779' }}&gt;层次&lt;/Text&gt;&lt;/Box&gt;&#10;            &lt;Box style={{ flex: 1 }}&gt;&lt;Text style={{ fontSize: 14, color: '#546779' }}&gt;核心问题&lt;/Text&gt;&lt;/Box&gt;&#10;            &lt;Box style={{ width: 376 }}&gt;&lt;Text style={{ fontSize: 14, color: '#546779' }}&gt;主要证据&lt;/Text&gt;&lt;/Box&gt;&#10;        &lt;/Box&gt;&#10;&#10;        &lt;Box style={{ flexDirection: 'row', height: 118, background: '#F4F7FA', borderRadius: 10, padding: '0 18px', alignItems: 'center', gap: 16 }}&gt;&#10;            &lt;Box style={{ width: 4, height: 48, background: '#276FBF' }} /&gt;&#10;            &lt;Box style={{ width: 206 }}&gt;&lt;Text style={{ fontSize: 17, fontWeight: 'bold', color: '#20344B' }}&gt;执行状态&lt;/Text&gt;&lt;/Box&gt;&#10;            &lt;Box style={{ flex: 1 }}&gt;&lt;Text style={{ fontSize: 15, color: '#20344B', lineHeight: 1.6 }}&gt;请求的步骤是否完成，在哪里中断&lt;/Text&gt;&lt;/Box&gt;&#10;            &lt;Box style={{ width: 376 }}&gt;&lt;Text style={{ fontSize: 14, color: '#546779', lineHeight: 1.6 }}&gt;Run 状态、Attempt、已提交边界&lt;/Text&gt;&lt;/Box&gt;&#10;        &lt;/Box&gt;&#10;&#10;        &lt;Box style={{ flexDirection: 'row', height: 118, background: '#FFF4E6', borderRadius: 10, padding: '0 18px', alignItems: 'center', gap: 16 }}&gt;&#10;            &lt;Box style={{ width: 4, height: 48, background: '#CB6B28' }} /&gt;&#10;            &lt;Box style={{ width: 206 }}&gt;&lt;Text style={{ fontSize: 17, fontWeight: 'bold', color: '#CB6B28' }}&gt;确定性诊断与 Brain 合规&lt;/Text&gt;&lt;/Box&gt;&#10;            &lt;Box style={{ flex: 1 }}&gt;&lt;Text style={{ fontSize: 15, color: '#20344B', lineHeight: 1.6 }}&gt;是否出现空检索、无动作、回退、重复调用或偏离 SOP&lt;/Text&gt;&lt;/Box&gt;&#10;            &lt;Box style={{ width: 376 }}&gt;&lt;Text style={{ fontSize: 14, color: '#546779', lineHeight: 1.6 }}&gt;已提交效果、MCP 调用、规则与必要的专门评价&lt;/Text&gt;&lt;/Box&gt;&#10;        &lt;/Box&gt;&#10;&#10;        &lt;Box style={{ flexDirection: 'row', height: 118, background: '#ECF7F2', borderRadius: 10, padding: '0 18px', alignItems: 'center', gap: 16 }}&gt;&#10;            &lt;Box style={{ width: 4, height: 48, background: '#26816B' }} /&gt;&#10;            &lt;Box style={{ width: 206 }}&gt;&lt;Text style={{ fontSize: 17, fontWeight: 'bold', color: '#26816B' }}&gt;业务评价&lt;/Text&gt;&lt;/Box&gt;&#10;            &lt;Box style={{ flex: 1 }}&gt;&lt;Text style={{ fontSize: 15, color: '#20344B', lineHeight: 1.6 }}&gt;通知是否更正、信息是否传达、参与者是否按新安排行动&lt;/Text&gt;&lt;/Box&gt;&#10;            &lt;Box style={{ width: 376 }}&gt;&lt;Text style={{ fontSize: 14, color: '#546779', lineHeight: 1.6 }}&gt;对象变化、会话、记忆更新、位移与活动事实&lt;/Text&gt;&lt;/Box&gt;&#10;        &lt;/Box&gt;&#10;&#10;        &lt;Box style={{ width: 1152, height: 64, background: '#FFF4E6', borderRadius: 10, padding: '0 22px', flexDirection: 'row', alignItems: 'center', gap: 14 }}&gt;&#10;            &lt;Box style={{ width: 4, height: 40, background: '#CB6B28' }} /&gt;&#10;            &lt;Text style={{ fontSize: 15, color: '#CB6B28', flex: 1, lineHeight: 1.6 }}&gt;三层互相解释，但不能互相替代；未执行的评价保持未执行，也不能被写成通过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三层评价各回答一个问题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三层各自看什么、拿什么证据</a:t>
            </a:r>
            <a:endParaRPr/>
          </a:p>
        </p:txBody>
      </p:sp>
      <p:sp>
        <p:nvSpPr>
          <p:cNvPr id="464" name="" descr="{&quot;isTemplate&quot;:true,&quot;type&quot;:&quot;text&quot;}"/>
          <p:cNvSpPr txBox="1"/>
          <p:nvPr/>
        </p:nvSpPr>
        <p:spPr>
          <a:xfrm rot="0" flipH="0" flipV="0">
            <a:off x="971550" y="1419225"/>
            <a:ext cx="19621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层次</a:t>
            </a:r>
            <a:endParaRPr/>
          </a:p>
        </p:txBody>
      </p:sp>
      <p:sp>
        <p:nvSpPr>
          <p:cNvPr id="465" name="" descr="{&quot;isTemplate&quot;:true,&quot;type&quot;:&quot;text&quot;}"/>
          <p:cNvSpPr txBox="1"/>
          <p:nvPr/>
        </p:nvSpPr>
        <p:spPr>
          <a:xfrm rot="0" flipH="0" flipV="0">
            <a:off x="3086100" y="1419225"/>
            <a:ext cx="4591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核心问题</a:t>
            </a:r>
            <a:endParaRPr/>
          </a:p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7829550" y="1419225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主要证据</a:t>
            </a:r>
            <a:endParaRPr/>
          </a:p>
        </p:txBody>
      </p:sp>
      <p:sp>
        <p:nvSpPr>
          <p:cNvPr id="467" name=""/>
          <p:cNvSpPr/>
          <p:nvPr/>
        </p:nvSpPr>
        <p:spPr>
          <a:xfrm rot="0" flipH="0" flipV="0">
            <a:off x="609600" y="1752600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468" name=""/>
          <p:cNvSpPr/>
          <p:nvPr/>
        </p:nvSpPr>
        <p:spPr>
          <a:xfrm rot="0" flipH="0" flipV="0">
            <a:off x="781050" y="208597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69" name="" descr="{&quot;isTemplate&quot;:true,&quot;type&quot;:&quot;text&quot;}"/>
          <p:cNvSpPr txBox="1"/>
          <p:nvPr/>
        </p:nvSpPr>
        <p:spPr>
          <a:xfrm rot="0" flipH="0" flipV="0">
            <a:off x="971550" y="2219325"/>
            <a:ext cx="1962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执行状态</a:t>
            </a:r>
            <a:endParaRPr/>
          </a:p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3086100" y="218122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请求的步骤是否完成，在哪里中断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7829550" y="2190750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状态、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Attempt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、已提交边界</a:t>
            </a:r>
            <a:endParaRPr/>
          </a:p>
        </p:txBody>
      </p:sp>
      <p:sp>
        <p:nvSpPr>
          <p:cNvPr id="472" name=""/>
          <p:cNvSpPr/>
          <p:nvPr/>
        </p:nvSpPr>
        <p:spPr>
          <a:xfrm rot="0" flipH="0" flipV="0">
            <a:off x="609600" y="2990850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73" name=""/>
          <p:cNvSpPr/>
          <p:nvPr/>
        </p:nvSpPr>
        <p:spPr>
          <a:xfrm rot="0" flipH="0" flipV="0">
            <a:off x="781050" y="33242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74" name="" descr="{&quot;isTemplate&quot;:true,&quot;type&quot;:&quot;text&quot;}"/>
          <p:cNvSpPr txBox="1"/>
          <p:nvPr/>
        </p:nvSpPr>
        <p:spPr>
          <a:xfrm rot="0" flipH="0" flipV="0">
            <a:off x="971550" y="3457575"/>
            <a:ext cx="1962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确定性诊断与</a:t>
            </a:r>
            <a:r>
              <a:rPr lang="en-US" sz="127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合规</a:t>
            </a:r>
            <a:endParaRPr/>
          </a:p>
        </p:txBody>
      </p:sp>
      <p:sp>
        <p:nvSpPr>
          <p:cNvPr id="475" name="" descr="{&quot;isTemplate&quot;:true,&quot;type&quot;:&quot;text&quot;}"/>
          <p:cNvSpPr txBox="1"/>
          <p:nvPr/>
        </p:nvSpPr>
        <p:spPr>
          <a:xfrm rot="0" flipH="0" flipV="0">
            <a:off x="3086100" y="341947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是否出现空检索、无动作、回退、重复调用或偏离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SOP</a:t>
            </a:r>
            <a:endParaRPr/>
          </a:p>
        </p:txBody>
      </p:sp>
      <p:sp>
        <p:nvSpPr>
          <p:cNvPr id="476" name="" descr="{&quot;isTemplate&quot;:true,&quot;type&quot;:&quot;text&quot;}"/>
          <p:cNvSpPr txBox="1"/>
          <p:nvPr/>
        </p:nvSpPr>
        <p:spPr>
          <a:xfrm rot="0" flipH="0" flipV="0">
            <a:off x="7829550" y="3429000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已提交效果、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MCP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调用、规则与必要的专门评价</a:t>
            </a:r>
            <a:endParaRPr/>
          </a:p>
        </p:txBody>
      </p:sp>
      <p:sp>
        <p:nvSpPr>
          <p:cNvPr id="477" name=""/>
          <p:cNvSpPr/>
          <p:nvPr/>
        </p:nvSpPr>
        <p:spPr>
          <a:xfrm rot="0" flipH="0" flipV="0">
            <a:off x="609600" y="4229100"/>
            <a:ext cx="10972800" cy="1123950"/>
          </a:xfrm>
          <a:prstGeom prst="roundRect">
            <a:avLst>
              <a:gd name="adj" fmla="val 847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78" name=""/>
          <p:cNvSpPr/>
          <p:nvPr/>
        </p:nvSpPr>
        <p:spPr>
          <a:xfrm rot="0" flipH="0" flipV="0">
            <a:off x="781050" y="4562475"/>
            <a:ext cx="38100" cy="4572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971550" y="4695825"/>
            <a:ext cx="19621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业务评价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3086100" y="465772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通知是否更正、信息是否传达、参与者是否按新安排行动</a:t>
            </a:r>
            <a:endParaRPr/>
          </a:p>
        </p:txBody>
      </p:sp>
      <p:sp>
        <p:nvSpPr>
          <p:cNvPr id="481" name="" descr="{&quot;isTemplate&quot;:true,&quot;type&quot;:&quot;text&quot;}"/>
          <p:cNvSpPr txBox="1"/>
          <p:nvPr/>
        </p:nvSpPr>
        <p:spPr>
          <a:xfrm rot="0" flipH="0" flipV="0">
            <a:off x="7829550" y="4667250"/>
            <a:ext cx="35814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对象变化、会话、记忆更新、位移与活动事实</a:t>
            </a:r>
            <a:endParaRPr/>
          </a:p>
        </p:txBody>
      </p:sp>
      <p:sp>
        <p:nvSpPr>
          <p:cNvPr id="482" name=""/>
          <p:cNvSpPr/>
          <p:nvPr/>
        </p:nvSpPr>
        <p:spPr>
          <a:xfrm rot="0" flipH="0" flipV="0">
            <a:off x="609600" y="5467350"/>
            <a:ext cx="10972800" cy="609600"/>
          </a:xfrm>
          <a:prstGeom prst="roundRect">
            <a:avLst>
              <a:gd name="adj" fmla="val 1562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83" name=""/>
          <p:cNvSpPr/>
          <p:nvPr/>
        </p:nvSpPr>
        <p:spPr>
          <a:xfrm rot="0" flipH="0" flipV="0">
            <a:off x="819150" y="5581650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84" name="" descr="{&quot;isTemplate&quot;:true,&quot;type&quot;:&quot;text&quot;}"/>
          <p:cNvSpPr txBox="1"/>
          <p:nvPr/>
        </p:nvSpPr>
        <p:spPr>
          <a:xfrm rot="0" flipH="0" flipV="0">
            <a:off x="990600" y="5638800"/>
            <a:ext cx="10382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三层互相解释，但不能互相替代；未执行的评价保持未执行，也不能被写成通过。</a:t>
            </a:r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05 / 24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487" name="" descr="&lt;Slide notes={`这里要防住一个很常见的误读。&#10;第一种情形：同一个 Run 的状态是 COMPLETED，可是行为质量上还有告警。这完全正常，因为执行有没有完成，和过程中有没有出现问题，本来就是两个独立的问题。四十八步走完，不代表每一步都干净。&#10;第二种情形反过来：没有基础告警，但业务评价还没有执行。这时候「没有发现问题」只说明这一层没查出问题，业务目标有没有达到，仍然是一个未回答的问题。&#10;所以把「没有发现问题」解释成「所有目标达成」，就等于把没检查的内容算成了合格。我的要求是：任何一项未执行的评价，都要保留成未执行，不能默认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1　三层评价各回答一个问题&lt;/Text&gt;&#10;            &lt;Text style={{ fontSize: 34, fontWeight: 'bold', color: '#20344B' }}&gt;把「没有发现问题」读成「目标达成」&lt;/Text&gt;&#10;        &lt;/Box&gt;&#10;    &lt;/Box&gt;&#10;&#10;    &lt;Box style={{ height: 540, flexDirection: 'column', justifyContent: 'center', gap: 20 }}&gt;&#10;&#10;        &lt;Box style={{ flexDirection: 'row', gap: 20 }}&gt;&#10;            &lt;Box style={{ width: 566, height: 260, background: '#EDF4FC', borderRadius: 10, padding: '18px 22px', flexDirection: 'column', gap: 10 }}&gt;&#10;                &lt;Text style={{ fontSize: 14, color: '#276FBF' }}&gt;可以发生的情形一&lt;/Text&gt;&#10;                &lt;Text style={{ fontSize: 20, fontWeight: 'bold', color: '#20344B', lineHeight: 1.4 }}&gt;同一个 Run 是 COMPLETED，{'\n'}同时存在行为告警&lt;/Text&gt;&#10;                &lt;Text style={{ fontSize: 15, color: '#546779', lineHeight: 1.7 }}&gt;执行是否完成，和过程中有没有问题，是两个独立的问题，两者可以同时成立；四十八步走完，不代表每一步都干净。&lt;/Text&gt;&#10;            &lt;/Box&gt;&#10;            &lt;Box style={{ width: 566, height: 260, background: '#ECF7F2', borderRadius: 10, padding: '18px 22px', flexDirection: 'column', gap: 10 }}&gt;&#10;                &lt;Text style={{ fontSize: 14, color: '#26816B' }}&gt;可以发生的情形二&lt;/Text&gt;&#10;                &lt;Text style={{ fontSize: 20, fontWeight: 'bold', color: '#20344B', lineHeight: 1.4 }}&gt;没有基础告警，{'\n'}但业务评价尚未执行&lt;/Text&gt;&#10;                &lt;Text style={{ fontSize: 15, color: '#546779', lineHeight: 1.7 }}&gt;没有发现问题，只说明这一层没有查出问题；业务目标有没有达到，仍然是一个没有被回答的问题。&lt;/Text&gt;&#10;            &lt;/Box&gt;&#10;        &lt;/Box&gt;&#10;&#10;        &lt;Box style={{ width: 1152, height: 120, background: '#FFF4E6', borderRadius: 10, padding: '20px 24px', flexDirection: 'row', alignItems: 'center', gap: 16 }}&gt;&#10;            &lt;Box style={{ width: 4, height: 68, background: '#CB6B28' }} /&gt;&#10;            &lt;Box style={{ flex: 1, flexDirection: 'column', gap: 6 }}&gt;&#10;                &lt;Text style={{ fontSize: 19, fontWeight: 'bold', color: '#CB6B28' }}&gt;未检查过的内容，不能计入成功&lt;/Text&gt;&#10;                &lt;Text style={{ fontSize: 16, color: '#546779', lineHeight: 1.65 }}&gt;任何一个未执行的评价项都保留为未执行，而不是默认合格；把「没有发现问题」说成「所有目标达成」，正是这类错误的典型写法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55054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3.12.1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三层评价各回答一个问题</a:t>
            </a:r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55054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把「没有发现问题」读成「目标达成」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609600" y="1809750"/>
            <a:ext cx="5391150" cy="2476500"/>
          </a:xfrm>
          <a:prstGeom prst="roundRect">
            <a:avLst>
              <a:gd name="adj" fmla="val 384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819150" y="19812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可以发生的情形一</a:t>
            </a:r>
            <a:endParaRPr/>
          </a:p>
        </p:txBody>
      </p:sp>
      <p:sp>
        <p:nvSpPr>
          <p:cNvPr id="494" name="" descr="{&quot;isTemplate&quot;:true,&quot;type&quot;:&quot;text&quot;}"/>
          <p:cNvSpPr txBox="1"/>
          <p:nvPr/>
        </p:nvSpPr>
        <p:spPr>
          <a:xfrm rot="0" flipH="0" flipV="0">
            <a:off x="819150" y="2238375"/>
            <a:ext cx="497205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同一个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是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COMPLETED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同时存在行为告警</a:t>
            </a:r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819150" y="2981325"/>
            <a:ext cx="4972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执行是否完成，和过程中有没有问题，是两个独立的问题，两者可以同时成立；四十八步走完，不代表每一步都干净。</a:t>
            </a:r>
            <a:endParaRPr/>
          </a:p>
        </p:txBody>
      </p:sp>
      <p:sp>
        <p:nvSpPr>
          <p:cNvPr id="496" name=""/>
          <p:cNvSpPr/>
          <p:nvPr/>
        </p:nvSpPr>
        <p:spPr>
          <a:xfrm rot="0" flipH="0" flipV="0">
            <a:off x="6191250" y="1809750"/>
            <a:ext cx="5391150" cy="2476500"/>
          </a:xfrm>
          <a:prstGeom prst="roundRect">
            <a:avLst>
              <a:gd name="adj" fmla="val 384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97" name="" descr="{&quot;isTemplate&quot;:true,&quot;type&quot;:&quot;text&quot;}"/>
          <p:cNvSpPr txBox="1"/>
          <p:nvPr/>
        </p:nvSpPr>
        <p:spPr>
          <a:xfrm rot="0" flipH="0" flipV="0">
            <a:off x="6400800" y="1981200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可以发生的情形二</a:t>
            </a:r>
            <a:endParaRPr/>
          </a:p>
        </p:txBody>
      </p:sp>
      <p:sp>
        <p:nvSpPr>
          <p:cNvPr id="498" name="" descr="{&quot;isTemplate&quot;:true,&quot;type&quot;:&quot;text&quot;}"/>
          <p:cNvSpPr txBox="1"/>
          <p:nvPr/>
        </p:nvSpPr>
        <p:spPr>
          <a:xfrm rot="0" flipH="0" flipV="0">
            <a:off x="6400800" y="2238375"/>
            <a:ext cx="4972050" cy="6477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没有基础告警，</a:t>
            </a:r>
            <a:endParaRPr/>
          </a:p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但业务评价尚未执行</a:t>
            </a:r>
            <a:endParaRPr/>
          </a:p>
        </p:txBody>
      </p:sp>
      <p:sp>
        <p:nvSpPr>
          <p:cNvPr id="499" name="" descr="{&quot;isTemplate&quot;:true,&quot;type&quot;:&quot;text&quot;}"/>
          <p:cNvSpPr txBox="1"/>
          <p:nvPr/>
        </p:nvSpPr>
        <p:spPr>
          <a:xfrm rot="0" flipH="0" flipV="0">
            <a:off x="6400800" y="2981325"/>
            <a:ext cx="4972050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没有发现问题，只说明这一层没有查出问题；业务目标有没有达到，仍然是一个没有被回答的问题。</a:t>
            </a:r>
            <a:endParaRPr/>
          </a:p>
        </p:txBody>
      </p:sp>
      <p:sp>
        <p:nvSpPr>
          <p:cNvPr id="500" name=""/>
          <p:cNvSpPr/>
          <p:nvPr/>
        </p:nvSpPr>
        <p:spPr>
          <a:xfrm rot="0" flipH="0" flipV="0">
            <a:off x="609600" y="4476750"/>
            <a:ext cx="10972800" cy="1143000"/>
          </a:xfrm>
          <a:prstGeom prst="roundRect">
            <a:avLst>
              <a:gd name="adj" fmla="val 833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01" name=""/>
          <p:cNvSpPr/>
          <p:nvPr/>
        </p:nvSpPr>
        <p:spPr>
          <a:xfrm rot="0" flipH="0" flipV="0">
            <a:off x="838200" y="4724400"/>
            <a:ext cx="38100" cy="6477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1028700" y="4762500"/>
            <a:ext cx="1032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未检查过的内容，不能计入成功</a:t>
            </a:r>
            <a:endParaRPr/>
          </a:p>
        </p:txBody>
      </p:sp>
      <p:sp>
        <p:nvSpPr>
          <p:cNvPr id="503" name="" descr="{&quot;isTemplate&quot;:true,&quot;type&quot;:&quot;text&quot;}"/>
          <p:cNvSpPr txBox="1"/>
          <p:nvPr/>
        </p:nvSpPr>
        <p:spPr>
          <a:xfrm rot="0" flipH="0" flipV="0">
            <a:off x="1028700" y="5038725"/>
            <a:ext cx="10325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任何一个未执行的评价项都保留为未执行，而不是默认合格；把「没有发现问题」说成「所有目标达成」，正是这类错误的典型写法。</a:t>
            </a:r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50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06 / 24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506" name="" descr="&lt;Slide notes={`接下来讲指标本身。定指标的顺序不能颠倒：先说清算谁、算多长，再说怎么算延迟。&#10;分母是最容易被含糊过去的地方。青禾四个角色承担着不同职责，不能把他们全都塞进同一个到达率的分子分母里。&#10;分子也要事先说清：只有窗口内实际走到指定活动站位的目标访客才算，没走到就是没达成，而且要写清楚没达成的具体原因和观察终点。&#10;顺序对了，结果才有意义。反过来，先拿到结果再回头挑一个好看的口径，那就不叫评价，只是给结论补依据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②　　3.12.2 — 3.12.3&lt;/Text&gt;&#10;&#10;        &lt;Text style={{ fontSize: 56, fontWeight: 'bold', color: '#20344B', lineHeight: 1.15 }}&gt;先定义分母，再计时&lt;/Text&gt;&#10;&#10;        &lt;Box style={{ width: 72, height: 4, background: '#276FBF' }} /&gt;&#10;&#10;        &lt;Text style={{ fontSize: 18, color: '#546779', lineHeight: 1.7, width: 900 }}&gt;指标口径要在运行前固定：先说清算谁、算多长，再说怎么算一次传播延迟。&lt;/Text&gt;&#10;&#10;        &lt;Box style={{ flexDirection: 'row', alignItems: 'center', marginTop: 10 }}&gt;&#10;            &lt;Box style={{ width: 300, height: 64, background: '#EDF4FC', borderRadius: 8, justifyContent: 'center', alignItems: 'center' }}&gt;&#10;                &lt;Text style={{ fontSize: 18, color: '#276FBF' }}&gt;分母是谁&lt;/Text&gt;&#10;            &lt;/Box&gt;&#10;            &lt;Box style={{ width: 44, height: 64, justifyContent: 'center', alignItems: 'center' }}&gt;&#10;                &lt;Text style={{ fontSize: 26, color: '#276FBF' }}&gt;›&lt;/Text&gt;&#10;            &lt;/Box&gt;&#10;            &lt;Box style={{ width: 300, height: 64, background: '#EDF4FC', borderRadius: 8, justifyContent: 'center', alignItems: 'center' }}&gt;&#10;                &lt;Text style={{ fontSize: 18, color: '#276FBF' }}&gt;分子怎么算&lt;/Text&gt;&#10;            &lt;/Box&gt;&#10;            &lt;Box style={{ width: 44, height: 64, justifyContent: 'center', alignItems: 'center' }}&gt;&#10;                &lt;Text style={{ fontSize: 26, color: '#26816B' }}&gt;›&lt;/Text&gt;&#10;            &lt;/Box&gt;&#10;            &lt;Box style={{ width: 300, height: 64, background: '#ECF7F2', borderRadius: 8, justifyContent: 'center', alignItems: 'center' }}&gt;&#10;                &lt;Text style={{ fontSize: 18, color: '#26816B' }}&gt;窗口内的比率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609600" y="18192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②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3.12.2 — 3.12.3</a:t>
            </a:r>
            <a:endParaRPr/>
          </a:p>
        </p:txBody>
      </p:sp>
      <p:sp>
        <p:nvSpPr>
          <p:cNvPr id="509" name="" descr="{&quot;isTemplate&quot;:true,&quot;type&quot;:&quot;text&quot;}"/>
          <p:cNvSpPr txBox="1"/>
          <p:nvPr/>
        </p:nvSpPr>
        <p:spPr>
          <a:xfrm rot="0" flipH="0" flipV="0">
            <a:off x="609600" y="22002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先定义分母，再计时</a:t>
            </a:r>
            <a:endParaRPr/>
          </a:p>
        </p:txBody>
      </p:sp>
      <p:sp>
        <p:nvSpPr>
          <p:cNvPr id="510" name=""/>
          <p:cNvSpPr/>
          <p:nvPr/>
        </p:nvSpPr>
        <p:spPr>
          <a:xfrm rot="0" flipH="0" flipV="0">
            <a:off x="609600" y="31527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609600" y="34004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指标口径要在运行前固定：先说清算谁、算多长，再说怎么算一次传播延迟。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6096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3" name="" descr="{&quot;isTemplate&quot;:true,&quot;type&quot;:&quot;text&quot;}"/>
          <p:cNvSpPr txBox="1"/>
          <p:nvPr/>
        </p:nvSpPr>
        <p:spPr>
          <a:xfrm rot="0" flipH="0" flipV="0">
            <a:off x="1695450" y="4257675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分母是谁</a:t>
            </a:r>
            <a:endParaRPr/>
          </a:p>
        </p:txBody>
      </p:sp>
      <p:sp>
        <p:nvSpPr>
          <p:cNvPr id="514" name="" descr="{&quot;isTemplate&quot;:true,&quot;type&quot;:&quot;text&quot;}"/>
          <p:cNvSpPr txBox="1"/>
          <p:nvPr/>
        </p:nvSpPr>
        <p:spPr>
          <a:xfrm rot="0" flipH="0" flipV="0">
            <a:off x="36385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76FBF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5" name=""/>
          <p:cNvSpPr/>
          <p:nvPr/>
        </p:nvSpPr>
        <p:spPr>
          <a:xfrm rot="0" flipH="0" flipV="0">
            <a:off x="38862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4886325" y="4257675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76FBF"/>
                </a:solidFill>
                <a:latin typeface="Microsoft YaHei"/>
                <a:ea typeface="Microsoft YaHei"/>
              </a:rPr>
              <a:t>分子怎么算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6915150" y="4210050"/>
            <a:ext cx="8572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950">
                <a:solidFill>
                  <a:srgbClr val="26816B"/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7162800" y="4057650"/>
            <a:ext cx="2857500" cy="609600"/>
          </a:xfrm>
          <a:prstGeom prst="roundRect">
            <a:avLst>
              <a:gd name="adj" fmla="val 125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8077200" y="4257675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26816B"/>
                </a:solidFill>
                <a:latin typeface="Microsoft YaHei"/>
                <a:ea typeface="Microsoft YaHei"/>
              </a:rPr>
              <a:t>窗口内的比率</a:t>
            </a:r>
            <a:endParaRPr/>
          </a:p>
        </p:txBody>
      </p:sp>
      <p:sp>
        <p:nvSpPr>
          <p:cNvPr id="520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07 / 24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522" name="" descr="&lt;Slide notes={`访客到达率听起来简单，但最容易含糊的就是分母。这里我把它固定成两个人：陈晨和许安，也就是这一节定义的目标访客。其他人不算进来，组织者、志愿者、两个对象各有自己的观察角度，计划表上的二十四、十、十六人也不是这个分母。&#10;分子只看窗口之内：真的走到指定活动站位的那部分目标访客。到达率就是这两者相除。&#10;观察窗口建议从九点五十开始，一直看到第四十八步，也就是十点三十七。这个窗口能评价更正之后有没有到位、有没有开始行动，但它评价不了十一点半有没有完成手作。窗口一旦改动，指标版本和分母都要跟着记录。&#10;传播延迟另外设起止事实计时，没获知的记成「截至窗口结束未观察到」，不补一个零延迟。这里只给口径，先不填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2　先定义分母和观察窗口&lt;/Text&gt;&#10;            &lt;Text style={{ fontSize: 34, fontWeight: 'bold', color: '#20344B' }}&gt;分母是两个人，窗口到 10:37&lt;/Text&gt;&#10;        &lt;/Box&gt;&#10;    &lt;/Box&gt;&#10;&#10;    &lt;Box style={{ height: 540, flexDirection: 'column', justifyContent: 'center', gap: 16 }}&gt;&#10;&#10;        &lt;Box style={{ flexDirection: 'row', gap: 20 }}&gt;&#10;            &lt;Box style={{ width: 566, height: 150, background: '#EDF4FC', borderRadius: 10, padding: '16px 22px', flexDirection: 'column', gap: 8 }}&gt;&#10;                &lt;Text style={{ fontSize: 14, color: '#276FBF' }}&gt;计入这个分母&lt;/Text&gt;&#10;                &lt;Text style={{ fontSize: 20, fontWeight: 'bold', color: '#20344B' }}&gt;陈晨、许安　2 人&lt;/Text&gt;&#10;                &lt;Text style={{ fontSize: 15, color: '#546779', lineHeight: 1.6 }}&gt;分别判断各自是否到达指定活动站位&lt;/Text&gt;&#10;            &lt;/Box&gt;&#10;            &lt;Box style={{ width: 566, height: 150, background: '#F4F7FA', borderRadius: 10, padding: '16px 22px', flexDirection: 'column', gap: 8 }}&gt;&#10;                &lt;Text style={{ fontSize: 14, color: '#546779' }}&gt;不计入这个分母&lt;/Text&gt;&#10;                &lt;Text style={{ fontSize: 20, fontWeight: 'bold', color: '#20344B' }}&gt;组织者、志愿者、两个对象&lt;/Text&gt;&#10;                &lt;Text style={{ fontSize: 15, color: '#546779', lineHeight: 1.6 }}&gt;计划中的 24 / 10 / 16 人也不是这个分母&lt;/Text&gt;&#10;            &lt;/Box&gt;&#10;        &lt;/Box&gt;&#10;&#10;        &lt;Box style={{ width: 1152, height: 68, background: '#EDF4FC', borderRadius: 10, justifyContent: 'center', alignItems: 'center' }}&gt;&#10;            &lt;Text style={{ fontSize: 20, fontWeight: 'bold', color: '#276FBF' }}&gt;访客到达率　=　窗口内实际到达目标访客数　÷　2&lt;/Text&gt;&#10;        &lt;/Box&gt;&#10;&#10;        &lt;Box style={{ width: 1152, height: 96, flexDirection: 'row', alignItems: 'center' }}&gt;&#10;            &lt;Box style={{ width: 230, height: 48, background: '#F4F7FA', borderRadius: 8, justifyContent: 'center', alignItems: 'center' }}&gt;&#10;                &lt;Text style={{ fontSize: 15, color: '#546779' }}&gt;09:50　观察起点&lt;/Text&gt;&#10;            &lt;/Box&gt;&#10;            &lt;Box style={{ flex: 1, height: 8, background: '#276FBF' }} /&gt;&#10;            &lt;Box style={{ width: 300, height: 48, background: '#F4F7FA', borderRadius: 8, justifyContent: 'center', alignItems: 'center' }}&gt;&#10;                &lt;Text style={{ fontSize: 15, color: '#546779' }}&gt;Step 48　10:37　观察终点&lt;/Text&gt;&#10;            &lt;/Box&gt;&#10;        &lt;/Box&gt;&#10;&#10;        &lt;Box style={{ width: 1152, height: 84, background: '#FFF4E6', borderRadius: 10, padding: '0 22px', flexDirection: 'row', alignItems: 'center', gap: 14 }}&gt;&#10;            &lt;Box style={{ width: 4, height: 48, background: '#CB6B28' }} /&gt;&#10;            &lt;Text style={{ fontSize: 15, color: '#CB6B28', flex: 1, lineHeight: 1.6 }}&gt;传播延迟另设起止事实计时；未获知记「截至窗口结束未观察到」，不补零延迟。{'\n'}这里只说明口径，不填写到达结果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24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29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先定义分母和观察窗口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291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分母是两个人，窗口到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10:37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609600" y="1590675"/>
            <a:ext cx="5391150" cy="1428750"/>
          </a:xfrm>
          <a:prstGeom prst="roundRect">
            <a:avLst>
              <a:gd name="adj" fmla="val 66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28" name="" descr="{&quot;isTemplate&quot;:true,&quot;type&quot;:&quot;text&quot;}"/>
          <p:cNvSpPr txBox="1"/>
          <p:nvPr/>
        </p:nvSpPr>
        <p:spPr>
          <a:xfrm rot="0" flipH="0" flipV="0">
            <a:off x="819150" y="174307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计入这个分母</a:t>
            </a:r>
            <a:endParaRPr/>
          </a:p>
        </p:txBody>
      </p:sp>
      <p:sp>
        <p:nvSpPr>
          <p:cNvPr id="529" name="" descr="{&quot;isTemplate&quot;:true,&quot;type&quot;:&quot;text&quot;}"/>
          <p:cNvSpPr txBox="1"/>
          <p:nvPr/>
        </p:nvSpPr>
        <p:spPr>
          <a:xfrm rot="0" flipH="0" flipV="0">
            <a:off x="819150" y="198120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陈晨、许安　</a:t>
            </a:r>
            <a:r>
              <a:rPr lang="en-US" sz="15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2 </a:t>
            </a: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人</a:t>
            </a:r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819150" y="2286000"/>
            <a:ext cx="4972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分别判断各自是否到达指定活动站位</a:t>
            </a:r>
            <a:endParaRPr/>
          </a:p>
        </p:txBody>
      </p:sp>
      <p:sp>
        <p:nvSpPr>
          <p:cNvPr id="531" name=""/>
          <p:cNvSpPr/>
          <p:nvPr/>
        </p:nvSpPr>
        <p:spPr>
          <a:xfrm rot="0" flipH="0" flipV="0">
            <a:off x="6191250" y="1590675"/>
            <a:ext cx="5391150" cy="142875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6400800" y="1743075"/>
            <a:ext cx="4972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不计入这个分母</a:t>
            </a:r>
            <a:endParaRPr/>
          </a:p>
        </p:txBody>
      </p:sp>
      <p:sp>
        <p:nvSpPr>
          <p:cNvPr id="533" name="" descr="{&quot;isTemplate&quot;:true,&quot;type&quot;:&quot;text&quot;}"/>
          <p:cNvSpPr txBox="1"/>
          <p:nvPr/>
        </p:nvSpPr>
        <p:spPr>
          <a:xfrm rot="0" flipH="0" flipV="0">
            <a:off x="6400800" y="1981200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组织者、志愿者、两个对象</a:t>
            </a:r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6400800" y="2286000"/>
            <a:ext cx="4972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计划中的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24 / 10 / 16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人也不是这个分母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609600" y="3171825"/>
            <a:ext cx="10972800" cy="647700"/>
          </a:xfrm>
          <a:prstGeom prst="roundRect">
            <a:avLst>
              <a:gd name="adj" fmla="val 1470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3895725" y="3381375"/>
            <a:ext cx="44100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访客到达率　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=</a:t>
            </a:r>
            <a:r>
              <a:rPr lang="zh-CN" sz="1500" b="1">
                <a:solidFill>
                  <a:srgbClr val="276FBF"/>
                </a:solidFill>
                <a:latin typeface="Microsoft YaHei"/>
                <a:ea typeface="Microsoft YaHei"/>
              </a:rPr>
              <a:t>　窗口内实际到达目标访客数　÷　</a:t>
            </a:r>
            <a:r>
              <a:rPr lang="en-US" sz="1500" b="1">
                <a:solidFill>
                  <a:srgbClr val="276FB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609600" y="4200525"/>
            <a:ext cx="219075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1162050" y="4343400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09:50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观察起点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2800350" y="4391025"/>
            <a:ext cx="592455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40" name=""/>
          <p:cNvSpPr/>
          <p:nvPr/>
        </p:nvSpPr>
        <p:spPr>
          <a:xfrm rot="0" flipH="0" flipV="0">
            <a:off x="8724900" y="4200525"/>
            <a:ext cx="2857500" cy="457200"/>
          </a:xfrm>
          <a:prstGeom prst="roundRect">
            <a:avLst>
              <a:gd name="adj" fmla="val 1666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9286875" y="4343400"/>
            <a:ext cx="17430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Step 48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>10:37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观察终点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609600" y="5038725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543" name=""/>
          <p:cNvSpPr/>
          <p:nvPr/>
        </p:nvSpPr>
        <p:spPr>
          <a:xfrm rot="0" flipH="0" flipV="0">
            <a:off x="819150" y="521017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44" name="" descr="{&quot;isTemplate&quot;:true,&quot;type&quot;:&quot;text&quot;}"/>
          <p:cNvSpPr txBox="1"/>
          <p:nvPr/>
        </p:nvSpPr>
        <p:spPr>
          <a:xfrm rot="0" flipH="0" flipV="0">
            <a:off x="990600" y="5162550"/>
            <a:ext cx="10382250" cy="55245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传播延迟另设起止事实计时；未获知记「截至窗口结束未观察到」，不补零延迟。</a:t>
            </a:r>
            <a:endParaRPr/>
          </a:p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这里只说明口径，不填写到达结果。</a:t>
            </a:r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08 / 24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547" name="" descr="&lt;Slide notes={`这六个指标是本节的核心口径，最好在运行之前就写进评分表。&#10;访客到达率，分母是两名目标访客，分子是窗口内真的走到指定站位的人；没到达就算未达成，还要注明原因和观察终点。&#10;公告传播延迟只对更正前尚未获知的许安计算，从公告更正提交，算到第一次确认正式新安排，单位是虚拟时间。&#10;交流闭环率看的是得到明确回应的目标会话数，除以已发起的目标会话数；如果压根没发起会话，分母为零，这条记不适用。&#10;过时信息行动率看更正之后还依据旧安排行动的比例，缺少行动依据时就记无法判断，另外报一个覆盖率。&#10;对象回复完整性用有效请求 ID 去核对遗漏、重复和错误接收者，同时报请求数、回复数和待投递数。&#10;单位有效结果成本是实际成本除以预先定义的成功结果数；成功数为零时保留总成本，单位值记不可计算，不能写成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2　先定义分母和观察窗口&lt;/Text&gt;&#10;            &lt;Text style={{ fontSize: 34, fontWeight: 'bold', color: '#20344B' }}&gt;六个指标，运行前先写清口径&lt;/Text&gt;&#10;        &lt;/Box&gt;&#10;    &lt;/Box&gt;&#10;&#10;    &lt;Box style={{ height: 540, flexDirection: 'column', justifyContent: 'center', gap: 10 }}&gt;&#10;&#10;        &lt;Box style={{ flexDirection: 'row', height: 30, padding: '0 18px', gap: 16, alignItems: 'center' }}&gt;&#10;            &lt;Box style={{ width: 4 }} /&gt;&#10;            &lt;Box style={{ width: 186 }}&gt;&lt;Text style={{ fontSize: 14, color: '#546779' }}&gt;指标&lt;/Text&gt;&lt;/Box&gt;&#10;            &lt;Box style={{ flex: 1 }}&gt;&lt;Text style={{ fontSize: 14, color: '#546779' }}&gt;本章建议的可操作定义&lt;/Text&gt;&lt;/Box&gt;&#10;            &lt;Box style={{ width: 376 }}&gt;&lt;Text style={{ fontSize: 14, color: '#546779' }}&gt;未完成怎样处理&lt;/Text&gt;&lt;/Box&gt;&#10;        &lt;/Box&gt;&#10;&#10;        &lt;Box style={{ flexDirection: 'row', height: 64, background: '#F4F7FA', borderRadius: 8, padding: '0 18px', alignItems: 'center', gap: 16 }}&gt;&#10;            &lt;Box style={{ width: 4, height: 36, background: '#276FBF' }} /&gt;&#10;            &lt;Box style={{ width: 186 }}&gt;&lt;Text style={{ fontSize: 15, fontWeight: 'bold', color: '#20344B' }}&gt;访客到达率&lt;/Text&gt;&lt;/Box&gt;&#10;            &lt;Box style={{ flex: 1 }}&gt;&lt;Text style={{ fontSize: 13, color: '#20344B', lineHeight: 1.5 }}&gt;窗口内实际到达指定活动站位的访客数 ÷ 两名目标访客&lt;/Text&gt;&lt;/Box&gt;&#10;            &lt;Box style={{ width: 376 }}&gt;&lt;Text style={{ fontSize: 13, color: '#546779', lineHeight: 1.5 }}&gt;未到达计未达成，注明具体原因与观察终点&lt;/Text&gt;&lt;/Box&gt;&#10;        &lt;/Box&gt;&#10;&#10;        &lt;Box style={{ flexDirection: 'row', height: 64, background: '#F4F7FA', borderRadius: 8, padding: '0 18px', alignItems: 'center', gap: 16 }}&gt;&#10;            &lt;Box style={{ width: 4, height: 36, background: '#276FBF' }} /&gt;&#10;            &lt;Box style={{ width: 186 }}&gt;&lt;Text style={{ fontSize: 15, fontWeight: 'bold', color: '#20344B' }}&gt;公告传播延迟&lt;/Text&gt;&lt;/Box&gt;&#10;            &lt;Box style={{ flex: 1 }}&gt;&lt;Text style={{ fontSize: 13, color: '#20344B', lineHeight: 1.5 }}&gt;更正前未获知者：公告更正提交 → 首次确认正式新安排的虚拟时差&lt;/Text&gt;&lt;/Box&gt;&#10;            &lt;Box style={{ width: 376 }}&gt;&lt;Text style={{ fontSize: 13, color: '#546779', lineHeight: 1.5 }}&gt;未获知记「截至窗口结束未观察到」；更正前已知者另列&lt;/Text&gt;&lt;/Box&gt;&#10;        &lt;/Box&gt;&#10;&#10;        &lt;Box style={{ flexDirection: 'row', height: 64, background: '#F4F7FA', borderRadius: 8, padding: '0 18px', alignItems: 'center', gap: 16 }}&gt;&#10;            &lt;Box style={{ width: 4, height: 36, background: '#276FBF' }} /&gt;&#10;            &lt;Box style={{ width: 186 }}&gt;&lt;Text style={{ fontSize: 15, fontWeight: 'bold', color: '#20344B' }}&gt;交流闭环率&lt;/Text&gt;&lt;/Box&gt;&#10;            &lt;Box style={{ flex: 1 }}&gt;&lt;Text style={{ fontSize: 13, color: '#20344B', lineHeight: 1.5 }}&gt;得到与问题相关明确回应的目标会话数 ÷ 已发起的目标会话数&lt;/Text&gt;&lt;/Box&gt;&#10;            &lt;Box style={{ width: 376 }}&gt;&lt;Text style={{ fontSize: 13, color: '#546779', lineHeight: 1.5 }}&gt;没有发起会话则分母为零，记不适用&lt;/Text&gt;&lt;/Box&gt;&#10;        &lt;/Box&gt;&#10;&#10;        &lt;Box style={{ flexDirection: 'row', height: 64, background: '#F4F7FA', borderRadius: 8, padding: '0 18px', alignItems: 'center', gap: 16 }}&gt;&#10;            &lt;Box style={{ width: 4, height: 36, background: '#CB6B28' }} /&gt;&#10;            &lt;Box style={{ width: 186 }}&gt;&lt;Text style={{ fontSize: 15, fontWeight: 'bold', color: '#20344B' }}&gt;过时信息行动率&lt;/Text&gt;&lt;/Box&gt;&#10;            &lt;Box style={{ flex: 1 }}&gt;&lt;Text style={{ fontSize: 13, color: '#20344B', lineHeight: 1.5 }}&gt;更正后仍明确依据旧安排的相关行动次数 ÷ 更正后的相关行动机会&lt;/Text&gt;&lt;/Box&gt;&#10;            &lt;Box style={{ width: 376 }}&gt;&lt;Text style={{ fontSize: 13, color: '#546779', lineHeight: 1.5 }}&gt;缺少行动依据时记无法判断，另报覆盖率&lt;/Text&gt;&lt;/Box&gt;&#10;        &lt;/Box&gt;&#10;&#10;        &lt;Box style={{ flexDirection: 'row', height: 64, background: '#F4F7FA', borderRadius: 8, padding: '0 18px', alignItems: 'center', gap: 16 }}&gt;&#10;            &lt;Box style={{ width: 4, height: 36, background: '#26816B' }} /&gt;&#10;            &lt;Box style={{ width: 186 }}&gt;&lt;Text style={{ fontSize: 15, fontWeight: 'bold', color: '#20344B' }}&gt;对象回复完整性&lt;/Text&gt;&lt;/Box&gt;&#10;            &lt;Box style={{ flex: 1 }}&gt;&lt;Text style={{ fontSize: 13, color: '#20344B', lineHeight: 1.5 }}&gt;以有效请求 ID 核对有无遗漏、重复和错误接收者&lt;/Text&gt;&lt;/Box&gt;&#10;            &lt;Box style={{ width: 376 }}&gt;&lt;Text style={{ fontSize: 13, color: '#546779', lineHeight: 1.5 }}&gt;同时报请求数、回复数与待投递数&lt;/Text&gt;&lt;/Box&gt;&#10;        &lt;/Box&gt;&#10;&#10;        &lt;Box style={{ flexDirection: 'row', height: 64, background: '#F4F7FA', borderRadius: 8, padding: '0 18px', alignItems: 'center', gap: 16 }}&gt;&#10;            &lt;Box style={{ width: 4, height: 36, background: '#CB6B28' }} /&gt;&#10;            &lt;Box style={{ width: 186 }}&gt;&lt;Text style={{ fontSize: 15, fontWeight: 'bold', color: '#20344B' }}&gt;单位有效结果成本&lt;/Text&gt;&lt;/Box&gt;&#10;            &lt;Box style={{ flex: 1 }}&gt;&lt;Text style={{ fontSize: 13, color: '#20344B', lineHeight: 1.5 }}&gt;本轮实际成本 ÷ 预先定义的成功结果数&lt;/Text&gt;&lt;/Box&gt;&#10;            &lt;Box style={{ width: 376 }}&gt;&lt;Text style={{ fontSize: 13, color: '#546779', lineHeight: 1.5 }}&gt;成功数为零时保留总成本，单位值记不可计算&lt;/Text&gt;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0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4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21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先定义分母和观察窗口</a:t>
            </a:r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2100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六个指标，运行前先写清口径</a:t>
            </a:r>
            <a:endParaRPr/>
          </a:p>
        </p:txBody>
      </p:sp>
      <p:sp>
        <p:nvSpPr>
          <p:cNvPr id="552" name="" descr="{&quot;isTemplate&quot;:true,&quot;type&quot;:&quot;text&quot;}"/>
          <p:cNvSpPr txBox="1"/>
          <p:nvPr/>
        </p:nvSpPr>
        <p:spPr>
          <a:xfrm rot="0" flipH="0" flipV="0">
            <a:off x="971550" y="1524000"/>
            <a:ext cx="1771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指标</a:t>
            </a:r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2895600" y="1524000"/>
            <a:ext cx="4781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本章建议的可操作定义</a:t>
            </a:r>
            <a:endParaRPr/>
          </a:p>
        </p:txBody>
      </p:sp>
      <p:sp>
        <p:nvSpPr>
          <p:cNvPr id="554" name="" descr="{&quot;isTemplate&quot;:true,&quot;type&quot;:&quot;text&quot;}"/>
          <p:cNvSpPr txBox="1"/>
          <p:nvPr/>
        </p:nvSpPr>
        <p:spPr>
          <a:xfrm rot="0" flipH="0" flipV="0">
            <a:off x="7829550" y="1524000"/>
            <a:ext cx="3581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未完成怎样处理</a:t>
            </a:r>
            <a:endParaRPr/>
          </a:p>
        </p:txBody>
      </p:sp>
      <p:sp>
        <p:nvSpPr>
          <p:cNvPr id="555" name=""/>
          <p:cNvSpPr/>
          <p:nvPr/>
        </p:nvSpPr>
        <p:spPr>
          <a:xfrm rot="0" flipH="0" flipV="0">
            <a:off x="609600" y="1838325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56" name=""/>
          <p:cNvSpPr/>
          <p:nvPr/>
        </p:nvSpPr>
        <p:spPr>
          <a:xfrm rot="0" flipH="0" flipV="0">
            <a:off x="781050" y="19716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971550" y="205740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访客到达率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2895600" y="2028825"/>
            <a:ext cx="4781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窗口内实际到达指定活动站位的访客数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两名目标访客</a:t>
            </a:r>
            <a:endParaRPr/>
          </a:p>
        </p:txBody>
      </p:sp>
      <p:sp>
        <p:nvSpPr>
          <p:cNvPr id="559" name="" descr="{&quot;isTemplate&quot;:true,&quot;type&quot;:&quot;text&quot;}"/>
          <p:cNvSpPr txBox="1"/>
          <p:nvPr/>
        </p:nvSpPr>
        <p:spPr>
          <a:xfrm rot="0" flipH="0" flipV="0">
            <a:off x="7829550" y="202882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未到达计未达成，注明具体原因与观察终点</a:t>
            </a:r>
            <a:endParaRPr/>
          </a:p>
        </p:txBody>
      </p:sp>
      <p:sp>
        <p:nvSpPr>
          <p:cNvPr id="560" name=""/>
          <p:cNvSpPr/>
          <p:nvPr/>
        </p:nvSpPr>
        <p:spPr>
          <a:xfrm rot="0" flipH="0" flipV="0">
            <a:off x="609600" y="2543175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1" name=""/>
          <p:cNvSpPr/>
          <p:nvPr/>
        </p:nvSpPr>
        <p:spPr>
          <a:xfrm rot="0" flipH="0" flipV="0">
            <a:off x="781050" y="267652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971550" y="27622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公告传播延迟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2895600" y="2733675"/>
            <a:ext cx="4781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更正前未获知者：公告更正提交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首次确认正式新安排的虚拟时差</a:t>
            </a:r>
            <a:endParaRPr/>
          </a:p>
        </p:txBody>
      </p:sp>
      <p:sp>
        <p:nvSpPr>
          <p:cNvPr id="564" name="" descr="{&quot;isTemplate&quot;:true,&quot;type&quot;:&quot;text&quot;}"/>
          <p:cNvSpPr txBox="1"/>
          <p:nvPr/>
        </p:nvSpPr>
        <p:spPr>
          <a:xfrm rot="0" flipH="0" flipV="0">
            <a:off x="7829550" y="27336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未获知记「截至窗口结束未观察到」；更正前已知者另列</a:t>
            </a:r>
            <a:endParaRPr/>
          </a:p>
        </p:txBody>
      </p:sp>
      <p:sp>
        <p:nvSpPr>
          <p:cNvPr id="565" name=""/>
          <p:cNvSpPr/>
          <p:nvPr/>
        </p:nvSpPr>
        <p:spPr>
          <a:xfrm rot="0" flipH="0" flipV="0">
            <a:off x="609600" y="3248025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66" name=""/>
          <p:cNvSpPr/>
          <p:nvPr/>
        </p:nvSpPr>
        <p:spPr>
          <a:xfrm rot="0" flipH="0" flipV="0">
            <a:off x="781050" y="3381375"/>
            <a:ext cx="38100" cy="3429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7" name="" descr="{&quot;isTemplate&quot;:true,&quot;type&quot;:&quot;text&quot;}"/>
          <p:cNvSpPr txBox="1"/>
          <p:nvPr/>
        </p:nvSpPr>
        <p:spPr>
          <a:xfrm rot="0" flipH="0" flipV="0">
            <a:off x="971550" y="346710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交流闭环率</a:t>
            </a:r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2895600" y="3438525"/>
            <a:ext cx="4781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得到与问题相关明确回应的目标会话数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已发起的目标会话数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829550" y="343852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没有发起会话则分母为零，记不适用</a:t>
            </a:r>
            <a:endParaRPr/>
          </a:p>
        </p:txBody>
      </p:sp>
      <p:sp>
        <p:nvSpPr>
          <p:cNvPr id="570" name=""/>
          <p:cNvSpPr/>
          <p:nvPr/>
        </p:nvSpPr>
        <p:spPr>
          <a:xfrm rot="0" flipH="0" flipV="0">
            <a:off x="609600" y="3952875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1" name=""/>
          <p:cNvSpPr/>
          <p:nvPr/>
        </p:nvSpPr>
        <p:spPr>
          <a:xfrm rot="0" flipH="0" flipV="0">
            <a:off x="781050" y="408622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72" name="" descr="{&quot;isTemplate&quot;:true,&quot;type&quot;:&quot;text&quot;}"/>
          <p:cNvSpPr txBox="1"/>
          <p:nvPr/>
        </p:nvSpPr>
        <p:spPr>
          <a:xfrm rot="0" flipH="0" flipV="0">
            <a:off x="971550" y="41719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过时信息行动率</a:t>
            </a:r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2895600" y="4143375"/>
            <a:ext cx="4781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更正后仍明确依据旧安排的相关行动次数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更正后的相关行动机会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7829550" y="41433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缺少行动依据时记无法判断，另报覆盖率</a:t>
            </a:r>
            <a:endParaRPr/>
          </a:p>
        </p:txBody>
      </p:sp>
      <p:sp>
        <p:nvSpPr>
          <p:cNvPr id="575" name=""/>
          <p:cNvSpPr/>
          <p:nvPr/>
        </p:nvSpPr>
        <p:spPr>
          <a:xfrm rot="0" flipH="0" flipV="0">
            <a:off x="609600" y="4657725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76" name=""/>
          <p:cNvSpPr/>
          <p:nvPr/>
        </p:nvSpPr>
        <p:spPr>
          <a:xfrm rot="0" flipH="0" flipV="0">
            <a:off x="781050" y="4791075"/>
            <a:ext cx="38100" cy="3429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577" name="" descr="{&quot;isTemplate&quot;:true,&quot;type&quot;:&quot;text&quot;}"/>
          <p:cNvSpPr txBox="1"/>
          <p:nvPr/>
        </p:nvSpPr>
        <p:spPr>
          <a:xfrm rot="0" flipH="0" flipV="0">
            <a:off x="971550" y="487680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对象回复完整性</a:t>
            </a:r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2895600" y="4848225"/>
            <a:ext cx="4781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以有效请求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ID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核对有无遗漏、重复和错误接收者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7829550" y="484822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同时报请求数、回复数与待投递数</a:t>
            </a:r>
            <a:endParaRPr/>
          </a:p>
        </p:txBody>
      </p:sp>
      <p:sp>
        <p:nvSpPr>
          <p:cNvPr id="580" name=""/>
          <p:cNvSpPr/>
          <p:nvPr/>
        </p:nvSpPr>
        <p:spPr>
          <a:xfrm rot="0" flipH="0" flipV="0">
            <a:off x="609600" y="5362575"/>
            <a:ext cx="1097280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581" name=""/>
          <p:cNvSpPr/>
          <p:nvPr/>
        </p:nvSpPr>
        <p:spPr>
          <a:xfrm rot="0" flipH="0" flipV="0">
            <a:off x="781050" y="5495925"/>
            <a:ext cx="38100" cy="3429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582" name="" descr="{&quot;isTemplate&quot;:true,&quot;type&quot;:&quot;text&quot;}"/>
          <p:cNvSpPr txBox="1"/>
          <p:nvPr/>
        </p:nvSpPr>
        <p:spPr>
          <a:xfrm rot="0" flipH="0" flipV="0">
            <a:off x="971550" y="5581650"/>
            <a:ext cx="17716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单位有效结果成本</a:t>
            </a:r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2895600" y="5553075"/>
            <a:ext cx="478155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本轮实际成本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÷ </a:t>
            </a: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预先定义的成功结果数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7829550" y="5553075"/>
            <a:ext cx="3581400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成功数为零时保留总成本，单位值记不可计算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09 / 24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26" name="" descr="&lt;Slide notes={`「获知」这两个字最容易出问题，因为附近有一块新公告，不等于参与者真的知道了。&#10;所以我要求在运行之前就选定一种证据口径，比如成功读取正式内容之后形成的有效记忆，或者明确确认新时间已经生效的回复。选了哪一种，所有样本都得用同一种。&#10;第二种情形要特别小心：服务台只是说「可以考虑十点三十」，这只是候选方案，不能直接算成获知了正式更正。候选和正式发布是两回事。&#10;第三种情形是只有行动没有知识证据。这时候我把结论写成「行为符合新安排」，而不去推断他内部已经理解了新安排。&#10;口径必须在动手之前定，不能等结果出来，再挑一个看起来好看的证据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2　先定义分母和观察窗口&lt;/Text&gt;&#10;            &lt;Text style={{ fontSize: 34, fontWeight: 'bold', color: '#20344B' }}&gt;先选一种证据口径，再谈谁获知了&lt;/Text&gt;&#10;        &lt;/Box&gt;&#10;    &lt;/Box&gt;&#10;&#10;    &lt;Box style={{ height: 540, flexDirection: 'column', justifyContent: 'center', gap: 14 }}&gt;&#10;&#10;        &lt;Box style={{ width: 1152, height: 116, background: '#EDF4FC', borderRadius: 10, padding: '0 20px', flexDirection: 'row', alignItems: 'center', gap: 16 }}&gt;&#10;            &lt;Box style={{ width: 4, height: 60, background: '#276FBF' }} /&gt;&#10;            &lt;Box style={{ width: 186 }}&gt;&lt;Text style={{ fontSize: 17, fontWeight: 'bold', color: '#276FBF' }}&gt;选定一种口径&lt;/Text&gt;&lt;/Box&gt;&#10;            &lt;Box style={{ flex: 1 }}&gt;&lt;Text style={{ fontSize: 15, color: '#20344B', lineHeight: 1.65 }}&gt;运行前确定用什么算获知：成功读取正式内容后形成的有效记忆，或明确确认新时间已生效的回复；所有样本一致使用&lt;/Text&gt;&lt;/Box&gt;&#10;        &lt;/Box&gt;&#10;&#10;        &lt;Box style={{ width: 1152, height: 116, background: '#FFF4E6', borderRadius: 10, padding: '0 20px', flexDirection: 'row', alignItems: 'center', gap: 16 }}&gt;&#10;            &lt;Box style={{ width: 4, height: 60, background: '#CB6B28' }} /&gt;&#10;            &lt;Box style={{ width: 186 }}&gt;&lt;Text style={{ fontSize: 17, fontWeight: 'bold', color: '#CB6B28' }}&gt;候选方案&lt;/Text&gt;&lt;/Box&gt;&#10;            &lt;Box style={{ flex: 1 }}&gt;&lt;Text style={{ fontSize: 15, color: '#20344B', lineHeight: 1.65 }}&gt;服务台提出「可考虑 10:30」只是候选方案，不能直接计作获知正式更正&lt;/Text&gt;&lt;/Box&gt;&#10;        &lt;/Box&gt;&#10;&#10;        &lt;Box style={{ width: 1152, height: 116, background: '#ECF7F2', borderRadius: 10, padding: '0 20px', flexDirection: 'row', alignItems: 'center', gap: 16 }}&gt;&#10;            &lt;Box style={{ width: 4, height: 60, background: '#26816B' }} /&gt;&#10;            &lt;Box style={{ width: 186 }}&gt;&lt;Text style={{ fontSize: 17, fontWeight: 'bold', color: '#26816B' }}&gt;不推断理解&lt;/Text&gt;&lt;/Box&gt;&#10;            &lt;Box style={{ flex: 1 }}&gt;&lt;Text style={{ fontSize: 15, color: '#20344B', lineHeight: 1.65 }}&gt;只有外在行动而没有知识证据时，结论写成「行为符合新安排」，不推断内部已经理解&lt;/Text&gt;&lt;/Box&gt;&#10;        &lt;/Box&gt;&#10;&#10;        &lt;Box style={{ width: 1152, height: 110, background: '#FFF4E6', borderRadius: 10, padding: '18px 24px', flexDirection: 'row', alignItems: 'center', gap: 16 }}&gt;&#10;            &lt;Box style={{ width: 4, height: 60, background: '#CB6B28' }} /&gt;&#10;            &lt;Box style={{ flex: 1, flexDirection: 'column', gap: 6 }}&gt;&#10;                &lt;Text style={{ fontSize: 19, fontWeight: 'bold', color: '#CB6B28' }}&gt;「获知」不能等同于附近有一块新公告&lt;/Text&gt;&#10;                &lt;Text style={{ fontSize: 16, color: '#546779', lineHeight: 1.65 }}&gt;口径在运行前选定，并在所有样本中一致使用；不能等结果出来之后，再回头挑一个看起来好看的证据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3.12.2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先定义分母和观察窗口</a:t>
            </a:r>
            <a:endParaRPr/>
          </a:p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先选一种证据口径，再谈谁获知了</a:t>
            </a:r>
            <a:endParaRPr/>
          </a:p>
        </p:txBody>
      </p:sp>
      <p:sp>
        <p:nvSpPr>
          <p:cNvPr id="31" name=""/>
          <p:cNvSpPr/>
          <p:nvPr/>
        </p:nvSpPr>
        <p:spPr>
          <a:xfrm rot="0" flipH="0" flipV="0">
            <a:off x="609600" y="13335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800100" y="1600200"/>
            <a:ext cx="38100" cy="5715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990600" y="1790700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选定一种口径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14650" y="1743075"/>
            <a:ext cx="84772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运行前确定用什么算获知：成功读取正式内容后形成的有效记忆，或明确确认新时间已生效的回复；所有样本一致使用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609600" y="257175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" name=""/>
          <p:cNvSpPr/>
          <p:nvPr/>
        </p:nvSpPr>
        <p:spPr>
          <a:xfrm rot="0" flipH="0" flipV="0">
            <a:off x="800100" y="28384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990600" y="3028950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候选方案</a:t>
            </a:r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2914650" y="2981325"/>
            <a:ext cx="84772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服务台提出「可考虑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10:30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」只是候选方案，不能直接计作获知正式更正</a:t>
            </a:r>
            <a:endParaRPr/>
          </a:p>
        </p:txBody>
      </p:sp>
      <p:sp>
        <p:nvSpPr>
          <p:cNvPr id="39" name=""/>
          <p:cNvSpPr/>
          <p:nvPr/>
        </p:nvSpPr>
        <p:spPr>
          <a:xfrm rot="0" flipH="0" flipV="0">
            <a:off x="609600" y="3810000"/>
            <a:ext cx="10972800" cy="1104900"/>
          </a:xfrm>
          <a:prstGeom prst="roundRect">
            <a:avLst>
              <a:gd name="adj" fmla="val 8621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800100" y="4076700"/>
            <a:ext cx="38100" cy="5715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990600" y="4267200"/>
            <a:ext cx="1771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不推断理解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2914650" y="4219575"/>
            <a:ext cx="84772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只有外在行动而没有知识证据时，结论写成「行为符合新安排」，不推断内部已经理解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609600" y="5048250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838200" y="5286375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1028700" y="5286375"/>
            <a:ext cx="1032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「获知」不能等同于附近有一块新公告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028700" y="5562600"/>
            <a:ext cx="10325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口径在运行前选定，并在所有样本中一致使用；不能等结果出来之后，再回头挑一个看起来好看的证据。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10 / 24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49" name="" descr="&lt;Slide notes={`延迟的计算本身很简单，难的是前提条件。&#10;假设在真实运行里，公告更正是在第 u 步提交的，而许安在此之前还没获知正式安排；到了第 v 步，他第一次满足了我们在运行前定义好的获知证据。步长是一分钟，那么步级延迟就是 v 减 u 分钟。&#10;这个公式只在特定条件下成立：两条事实必须在同一个 Run 里，时区和步长要一致。缺了任何一条，减法出来的数字就没有意义。&#10;还有一件事必须一起记：实际的消息来源。时间上前后相邻，不等于公告真的起了传播作用，中间可能还有别的渠道。仅凭时间先后就断言是公告带来的效果，这是过度解释。&#10;所以公式和来源记录要一起进评分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3　怎样计算一次延迟&lt;/Text&gt;&#10;            &lt;Text style={{ fontSize: 34, fontWeight: 'bold', color: '#20344B' }}&gt;延迟就是两个 Step 之间的差&lt;/Text&gt;&#10;        &lt;/Box&gt;&#10;    &lt;/Box&gt;&#10;&#10;    &lt;Box style={{ height: 540, flexDirection: 'column', justifyContent: 'center', gap: 16 }}&gt;&#10;&#10;        &lt;Box style={{ width: 1152, height: 104, background: '#EDF4FC', borderRadius: 10, padding: '0 24px', flexDirection: 'row', alignItems: 'center', gap: 24 }}&gt;&#10;            &lt;Box style={{ width: 380, height: 64, background: '#276FBF', borderRadius: 8, justifyContent: 'center', alignItems: 'center' }}&gt;&#10;                &lt;Text style={{ fontSize: 26, fontWeight: 'bold', color: '#FFFFFF' }}&gt;延迟 = （v − u）分钟&lt;/Text&gt;&#10;            &lt;/Box&gt;&#10;            &lt;Box style={{ flex: 1, flexDirection: 'column', gap: 4 }}&gt;&#10;                &lt;Text style={{ fontSize: 15, fontWeight: 'bold', color: '#20344B' }}&gt;u：公告更正提交的 Step&lt;/Text&gt;&#10;                &lt;Text style={{ fontSize: 15, fontWeight: 'bold', color: '#20344B' }}&gt;v：首次满足预先定义的获知证据的 Step&lt;/Text&gt;&#10;            &lt;/Box&gt;&#10;        &lt;/Box&gt;&#10;&#10;        &lt;Box style={{ width: 1152, height: 120, flexDirection: 'row', alignItems: 'center' }}&gt;&#10;            &lt;Box style={{ width: 250, height: 56, background: '#EDF4FC', borderRadius: 8, justifyContent: 'center', alignItems: 'center' }}&gt;&#10;                &lt;Text style={{ fontSize: 15, color: '#276FBF' }}&gt;Step u　公告更正提交&lt;/Text&gt;&#10;            &lt;/Box&gt;&#10;            &lt;Box style={{ flex: 1, height: 8, background: '#276FBF' }} /&gt;&#10;            &lt;Box style={{ width: 300, height: 56, background: '#ECF7F2', borderRadius: 8, justifyContent: 'center', alignItems: 'center' }}&gt;&#10;                &lt;Text style={{ fontSize: 15, color: '#26816B' }}&gt;Step v　首次满足获知证据&lt;/Text&gt;&#10;            &lt;/Box&gt;&#10;        &lt;/Box&gt;&#10;&#10;        &lt;Box style={{ width: 1152, height: 72, background: '#F4F7FA', borderRadius: 10, justifyContent: 'center', alignItems: 'center' }}&gt;&#10;            &lt;Text style={{ fontSize: 15, color: '#546779' }}&gt;成立条件：两条事实在同一 Run　·　时区与步长一致　·　同时记录实际消息来源&lt;/Text&gt;&#10;        &lt;/Box&gt;&#10;&#10;        &lt;Box style={{ width: 1152, height: 84, background: '#FFF4E6', borderRadius: 10, padding: '0 22px', flexDirection: 'row', alignItems: 'center', gap: 14 }}&gt;&#10;            &lt;Box style={{ width: 4, height: 48, background: '#CB6B28' }} /&gt;&#10;            &lt;Text style={{ fontSize: 15, color: '#CB6B28', flex: 1, lineHeight: 1.6 }}&gt;不能仅凭时间先后，就断言这是公告带来的传播效果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1624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怎样计算一次延迟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16242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延迟就是两个</a:t>
            </a:r>
            <a:r>
              <a:rPr lang="en-US" sz="255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之间的差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609600" y="1676400"/>
            <a:ext cx="1097280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55" name=""/>
          <p:cNvSpPr/>
          <p:nvPr/>
        </p:nvSpPr>
        <p:spPr>
          <a:xfrm rot="0" flipH="0" flipV="0">
            <a:off x="838200" y="1866900"/>
            <a:ext cx="3619500" cy="609600"/>
          </a:xfrm>
          <a:prstGeom prst="roundRect">
            <a:avLst>
              <a:gd name="adj" fmla="val 125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1419225" y="2019300"/>
            <a:ext cx="2466975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延迟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= 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（</a:t>
            </a:r>
            <a:r>
              <a:rPr lang="en-US" sz="1950" b="1">
                <a:solidFill>
                  <a:srgbClr val="FFFFFF"/>
                </a:solidFill>
                <a:latin typeface="Microsoft YaHei"/>
                <a:ea typeface="Microsoft YaHei"/>
              </a:rPr>
              <a:t>v − u</a:t>
            </a:r>
            <a:r>
              <a:rPr lang="zh-CN" sz="1950" b="1">
                <a:solidFill>
                  <a:srgbClr val="FFFFFF"/>
                </a:solidFill>
                <a:latin typeface="Microsoft YaHei"/>
                <a:ea typeface="Microsoft YaHei"/>
              </a:rPr>
              <a:t>）分钟</a:t>
            </a:r>
            <a:endParaRPr/>
          </a:p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4686300" y="198120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u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：公告更正提交的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4686300" y="2190750"/>
            <a:ext cx="6667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>v</a:t>
            </a: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：首次满足预先定义的获知证据的</a:t>
            </a:r>
            <a:r>
              <a:rPr lang="en-US" sz="1125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Step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609600" y="3124200"/>
            <a:ext cx="238125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085850" y="330517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Step u</a:t>
            </a: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　公告更正提交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2990850" y="3352800"/>
            <a:ext cx="5734050" cy="76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62" name=""/>
          <p:cNvSpPr/>
          <p:nvPr/>
        </p:nvSpPr>
        <p:spPr>
          <a:xfrm rot="0" flipH="0" flipV="0">
            <a:off x="8724900" y="3124200"/>
            <a:ext cx="2857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9296400" y="3305175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26816B"/>
                </a:solidFill>
                <a:latin typeface="Microsoft YaHei"/>
                <a:ea typeface="Microsoft YaHei"/>
              </a:rPr>
              <a:t>Step v</a:t>
            </a:r>
            <a:r>
              <a:rPr lang="zh-CN" sz="1125">
                <a:solidFill>
                  <a:srgbClr val="26816B"/>
                </a:solidFill>
                <a:latin typeface="Microsoft YaHei"/>
                <a:ea typeface="Microsoft YaHei"/>
              </a:rPr>
              <a:t>　首次满足获知证据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09600" y="4114800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3552825" y="4371975"/>
            <a:ext cx="50958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成立条件：两条事实在同一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　·　时区与步长一致　·　同时记录实际消息来源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609600" y="4953000"/>
            <a:ext cx="10972800" cy="800100"/>
          </a:xfrm>
          <a:prstGeom prst="roundRect">
            <a:avLst>
              <a:gd name="adj" fmla="val 1190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67" name=""/>
          <p:cNvSpPr/>
          <p:nvPr/>
        </p:nvSpPr>
        <p:spPr>
          <a:xfrm rot="0" flipH="0" flipV="0">
            <a:off x="819150" y="5124450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68" name="" descr="{&quot;isTemplate&quot;:true,&quot;type&quot;:&quot;text&quot;}"/>
          <p:cNvSpPr txBox="1"/>
          <p:nvPr/>
        </p:nvSpPr>
        <p:spPr>
          <a:xfrm rot="0" flipH="0" flipV="0">
            <a:off x="990600" y="5219700"/>
            <a:ext cx="10382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不能仅凭时间先后，就断言这是公告带来的传播效果。</a:t>
            </a:r>
            <a:endParaRPr/>
          </a:p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11 / 24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71" name="" descr="&lt;Slide notes={`除了标准情况，还有几种边界必须提前想清楚，否则事后很容易把一个负数悄悄变成零。&#10;如果许安在公告更正之前，已经从别的渠道核实了正式安排，那这条要单独列出来，叫做「更正前获知，非公告传播延迟」。来源和实际时差都保留，减出来是负数就写负数，不能截成零。&#10;如果他更正前只是听到了候选方案，那就保留候选记录，继续去找正式确认的时间点。这样既没有抹掉提前获知，也不会把「建议」误算成「已经发布的安排」。&#10;第三，暂停不能算进虚拟延迟。如果研究的是用户在界面上等待的真实时间，那要另外设一个墙钟指标。&#10;最后，把虚拟延迟和墙钟延迟放进同一列，恢复实验和连续实验就没办法公平比较了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3　怎样计算一次延迟&lt;/Text&gt;&#10;            &lt;Text style={{ fontSize: 34, fontWeight: 'bold', color: '#20344B' }}&gt;提前获知、候选方案与暂停&lt;/Text&gt;&#10;        &lt;/Box&gt;&#10;    &lt;/Box&gt;&#10;&#10;    &lt;Box style={{ height: 540, flexDirection: 'column', justifyContent: 'center', gap: 12 }}&gt;&#10;&#10;        &lt;Box style={{ flexDirection: 'row', height: 30, padding: '0 18px', gap: 16, alignItems: 'center' }}&gt;&#10;            &lt;Box style={{ width: 4 }} /&gt;&#10;            &lt;Box style={{ width: 296 }}&gt;&lt;Text style={{ fontSize: 14, color: '#546779' }}&gt;情况&lt;/Text&gt;&lt;/Box&gt;&#10;            &lt;Box style={{ flex: 1 }}&gt;&lt;Text style={{ fontSize: 14, color: '#546779' }}&gt;怎样处理&lt;/Text&gt;&lt;/Box&gt;&#10;        &lt;/Box&gt;&#10;&#10;        &lt;Box style={{ flexDirection: 'row', height: 96, background: '#FFF4E6', borderRadius: 10, padding: '0 18px', alignItems: 'center', gap: 16 }}&gt;&#10;            &lt;Box style={{ width: 4, height: 48, background: '#CB6B28' }} /&gt;&#10;            &lt;Box style={{ width: 296 }}&gt;&lt;Text style={{ fontSize: 17, fontWeight: 'bold', color: '#CB6B28' }}&gt;更正前已从其他渠道核实&lt;/Text&gt;&lt;/Box&gt;&#10;            &lt;Box style={{ flex: 1 }}&gt;&lt;Text style={{ fontSize: 15, color: '#20344B', lineHeight: 1.6 }}&gt;单列「更正前获知，非公告传播延迟」，保留来源与实际时差，不把负差值截成零&lt;/Text&gt;&lt;/Box&gt;&#10;        &lt;/Box&gt;&#10;&#10;        &lt;Box style={{ flexDirection: 'row', height: 96, background: '#F4F7FA', borderRadius: 10, padding: '0 18px', alignItems: 'center', gap: 16 }}&gt;&#10;            &lt;Box style={{ width: 4, height: 48, background: '#276FBF' }} /&gt;&#10;            &lt;Box style={{ width: 296 }}&gt;&lt;Text style={{ fontSize: 17, fontWeight: 'bold', color: '#20344B' }}&gt;更正前只听到候选方案&lt;/Text&gt;&lt;/Box&gt;&#10;            &lt;Box style={{ flex: 1 }}&gt;&lt;Text style={{ fontSize: 15, color: '#20344B', lineHeight: 1.6 }}&gt;保留候选记录，继续查找正式确认的时间&lt;/Text&gt;&lt;/Box&gt;&#10;        &lt;/Box&gt;&#10;&#10;        &lt;Box style={{ flexDirection: 'row', height: 96, background: '#F4F7FA', borderRadius: 10, padding: '0 18px', alignItems: 'center', gap: 16 }}&gt;&#10;            &lt;Box style={{ width: 4, height: 48, background: '#276FBF' }} /&gt;&#10;            &lt;Box style={{ width: 296 }}&gt;&lt;Text style={{ fontSize: 17, fontWeight: 'bold', color: '#20344B' }}&gt;暂停期间&lt;/Text&gt;&lt;/Box&gt;&#10;            &lt;Box style={{ flex: 1 }}&gt;&lt;Text style={{ fontSize: 15, color: '#20344B', lineHeight: 1.6 }}&gt;不计入虚拟延迟；若要研究等待界面的真实时间，另设墙钟指标&lt;/Text&gt;&lt;/Box&gt;&#10;        &lt;/Box&gt;&#10;&#10;        &lt;Box style={{ flexDirection: 'row', height: 96, background: '#FFF4E6', borderRadius: 10, padding: '0 18px', alignItems: 'center', gap: 16 }}&gt;&#10;            &lt;Box style={{ width: 4, height: 48, background: '#CB6B28' }} /&gt;&#10;            &lt;Box style={{ width: 296 }}&gt;&lt;Text style={{ fontSize: 17, fontWeight: 'bold', color: '#CB6B28' }}&gt;两种延迟混在一列&lt;/Text&gt;&lt;/Box&gt;&#10;            &lt;Box style={{ flex: 1 }}&gt;&lt;Text style={{ fontSize: 15, color: '#20344B', lineHeight: 1.6 }}&gt;恢复实验与连续实验，无法放在一起公平比较&lt;/Text&gt;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3.12.3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怎样计算一次延迟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提前获知、候选方案与暂停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971550" y="15811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情况</a:t>
            </a:r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3943350" y="1581150"/>
            <a:ext cx="7467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怎样处理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609600" y="19145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79" name=""/>
          <p:cNvSpPr/>
          <p:nvPr/>
        </p:nvSpPr>
        <p:spPr>
          <a:xfrm rot="0" flipH="0" flipV="0">
            <a:off x="781050" y="21431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971550" y="2276475"/>
            <a:ext cx="281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更正前已从其他渠道核实</a:t>
            </a:r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943350" y="2238375"/>
            <a:ext cx="746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单列「更正前获知，非公告传播延迟」，保留来源与实际时差，不把负差值截成零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609600" y="29432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3" name=""/>
          <p:cNvSpPr/>
          <p:nvPr/>
        </p:nvSpPr>
        <p:spPr>
          <a:xfrm rot="0" flipH="0" flipV="0">
            <a:off x="781050" y="31718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971550" y="3305175"/>
            <a:ext cx="281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更正前只听到候选方案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3943350" y="3267075"/>
            <a:ext cx="746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保留候选记录，继续查找正式确认的时间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09600" y="39719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87" name=""/>
          <p:cNvSpPr/>
          <p:nvPr/>
        </p:nvSpPr>
        <p:spPr>
          <a:xfrm rot="0" flipH="0" flipV="0">
            <a:off x="781050" y="4200525"/>
            <a:ext cx="38100" cy="4572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71550" y="4333875"/>
            <a:ext cx="281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0344B"/>
                </a:solidFill>
                <a:latin typeface="Microsoft YaHei"/>
                <a:ea typeface="Microsoft YaHei"/>
              </a:rPr>
              <a:t>暂停期间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3943350" y="4295775"/>
            <a:ext cx="746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不计入虚拟延迟；若要研究等待界面的真实时间，另设墙钟指标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609600" y="50006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91" name=""/>
          <p:cNvSpPr/>
          <p:nvPr/>
        </p:nvSpPr>
        <p:spPr>
          <a:xfrm rot="0" flipH="0" flipV="0">
            <a:off x="781050" y="5229225"/>
            <a:ext cx="38100" cy="4572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971550" y="5362575"/>
            <a:ext cx="28194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两种延迟混在一列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943350" y="5324475"/>
            <a:ext cx="746760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恢复实验与连续实验，无法放在一起公平比较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12 / 24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96" name="" descr="&lt;Slide notes={`下一块看得更具体一点：系统到底看见了什么，和它到底评了什么。&#10;行为质量页拿到的是一份确定性的投影，它是从所有已提交的 StepResult 里提取 Brain 和对象 Skill 的执行记录算出来的。它按事实身份生成问题标识，覆盖多个 Attempt，而不是只看最后一次尝试。&#10;投影给出的告警需要人来解释。首次检索没有历史记忆，可能完全合理；一次正确的权限拒绝，甚至可能正是边界对照预期的结果。&#10;但合理不等于删掉。原记录要保留，另外在分析表里说明这条告警的用途。还有一点要提醒：同样的文字出现在不同人物、不同 Step，是两个问题，不能直接去重。&#10;至于评价本身有没有真的执行过，是下一层要看的事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③　　3.12.4 — 3.12.5&lt;/Text&gt;&#10;&#10;        &lt;Text style={{ fontSize: 56, fontWeight: 'bold', color: '#20344B', lineHeight: 1.15 }}&gt;行为质量页与 Evaluator&lt;/Text&gt;&#10;&#10;        &lt;Box style={{ width: 72, height: 4, background: '#276FBF' }} /&gt;&#10;&#10;        &lt;Text style={{ fontSize: 18, color: '#546779', lineHeight: 1.7, width: 900 }}&gt;系统看见了什么，和它到底评了什么，是两件需要分别确认的事。&lt;/Text&gt;&#10;&#10;        &lt;Box style={{ flexDirection: 'column', gap: 12, marginTop: 10 }}&gt;&#10;            &lt;Box style={{ width: 900, height: 56, background: '#EDF4FC', borderRadius: 8, padding: '0 20px', flexDirection: 'row', alignItems: 'center', gap: 14 }}&gt;&#10;                &lt;Box style={{ width: 8, height: 8, background: '#276FBF', borderRadius: 4 }} /&gt;&#10;                &lt;Text style={{ fontSize: 16, color: '#276FBF' }}&gt;确定性投影：从已提交事实里提取执行记录&lt;/Text&gt;&#10;            &lt;/Box&gt;&#10;            &lt;Box style={{ width: 900, height: 56, background: '#FFF4E6', borderRadius: 8, padding: '0 20px', flexDirection: 'row', alignItems: 'center', gap: 14 }}&gt;&#10;                &lt;Box style={{ width: 8, height: 8, background: '#CB6B28', borderRadius: 4 }} /&gt;&#10;                &lt;Text style={{ fontSize: 16, color: '#CB6B28' }}&gt;告警解释：保留原记录，在分析表里说明用途&lt;/Text&gt;&#10;            &lt;/Box&gt;&#10;            &lt;Box style={{ width: 900, height: 56, background: '#ECF7F2', borderRadius: 8, padding: '0 20px', flexDirection: 'row', alignItems: 'center', gap: 14 }}&gt;&#10;                &lt;Box style={{ width: 8, height: 8, background: '#26816B', borderRadius: 4 }} /&gt;&#10;                &lt;Text style={{ fontSize: 16, color: '#26816B' }}&gt;评价状态：SKIPPED 与 NOT_EVALUATED 都保持未执行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609600" y="1209675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③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3.12.4 — 3.12.5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609600" y="1590675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行为质量页与</a:t>
            </a:r>
            <a:r>
              <a:rPr lang="en-US" sz="4200" b="1">
                <a:solidFill>
                  <a:srgbClr val="20344B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09600" y="2543175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609600" y="2790825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系统看见了什么，和它到底评了什么，是两件需要分别确认的事。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609600" y="344805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03" name=""/>
          <p:cNvSpPr/>
          <p:nvPr/>
        </p:nvSpPr>
        <p:spPr>
          <a:xfrm rot="0" flipH="0" flipV="0">
            <a:off x="800100" y="36766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09650" y="3619500"/>
            <a:ext cx="2895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76FBF"/>
                </a:solidFill>
                <a:latin typeface="Microsoft YaHei"/>
                <a:ea typeface="Microsoft YaHei"/>
              </a:rPr>
              <a:t>确定性投影：从已提交事实里提取执行记录</a:t>
            </a:r>
            <a:endParaRPr/>
          </a:p>
        </p:txBody>
      </p:sp>
      <p:sp>
        <p:nvSpPr>
          <p:cNvPr id="105" name=""/>
          <p:cNvSpPr/>
          <p:nvPr/>
        </p:nvSpPr>
        <p:spPr>
          <a:xfrm rot="0" flipH="0" flipV="0">
            <a:off x="609600" y="409575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06" name=""/>
          <p:cNvSpPr/>
          <p:nvPr/>
        </p:nvSpPr>
        <p:spPr>
          <a:xfrm rot="0" flipH="0" flipV="0">
            <a:off x="800100" y="43243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1009650" y="4267200"/>
            <a:ext cx="3048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CB6B28"/>
                </a:solidFill>
                <a:latin typeface="Microsoft YaHei"/>
                <a:ea typeface="Microsoft YaHei"/>
              </a:rPr>
              <a:t>告警解释：保留原记录，在分析表里说明用途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4743450"/>
            <a:ext cx="8572500" cy="533400"/>
          </a:xfrm>
          <a:prstGeom prst="roundRect">
            <a:avLst>
              <a:gd name="adj" fmla="val 14286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109" name=""/>
          <p:cNvSpPr/>
          <p:nvPr/>
        </p:nvSpPr>
        <p:spPr>
          <a:xfrm rot="0" flipH="0" flipV="0">
            <a:off x="800100" y="4972050"/>
            <a:ext cx="76200" cy="76200"/>
          </a:xfrm>
          <a:prstGeom prst="roundRect">
            <a:avLst>
              <a:gd name="adj" fmla="val 50000"/>
            </a:avLst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9650" y="4914900"/>
            <a:ext cx="38385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评价状态：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SKIPPED 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26816B"/>
                </a:solidFill>
                <a:latin typeface="Microsoft YaHei"/>
                <a:ea typeface="Microsoft YaHei"/>
              </a:rPr>
              <a:t xml:space="preserve"> NOT_EVALUATED </a:t>
            </a:r>
            <a:r>
              <a:rPr lang="zh-CN" sz="1200">
                <a:solidFill>
                  <a:srgbClr val="26816B"/>
                </a:solidFill>
                <a:latin typeface="Microsoft YaHei"/>
                <a:ea typeface="Microsoft YaHei"/>
              </a:rPr>
              <a:t>都保持未执行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13 / 24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13" name="" descr="&lt;Slide notes={`行为质量页上出现的告警，绝大多数都需要人去解释一遍。&#10;先看几个具体的例子。一个角色第一次去检索记忆，取到空的结果，这很可能是合理的，因为他本来就没有历史记忆。一次权限被拒绝，也可能是完全正确的，甚至正是边界对照想要看到的结果。&#10;但合理不等于可以把告警删掉。原记录必须留着，否则以后没法复现；我们另外在分析表里写清这条告警在这一轮里的用途。&#10;还有一条容易被忽略的去重陷阱：同一段文字出现在不同人物身上，或者出现在不同 Step 上，那是两个不同的问题，不能因为文字一样就直接合并成一条。&#10;所以处理告警的纪律是：保留、解释、不要顺手合并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4　当前行为质量页面包含什么&lt;/Text&gt;&#10;            &lt;Text style={{ fontSize: 34, fontWeight: 'bold', color: '#20344B' }}&gt;合理，不等于把告警删掉&lt;/Text&gt;&#10;        &lt;/Box&gt;&#10;    &lt;/Box&gt;&#10;&#10;    &lt;Box style={{ height: 540, flexDirection: 'row', alignItems: 'center', gap: 32 }}&gt;&#10;&#10;        &lt;Box style={{ width: 460, flexDirection: 'column', gap: 14 }}&gt;&#10;            &lt;Text style={{ fontSize: 17, color: '#546779', lineHeight: 1.75, width: 460 }}&gt;投影给出的告警需要解释，但解释写在记录之外，不能反过来改动原记录。&lt;/Text&gt;&#10;            &lt;Box style={{ width: 460, height: 96, background: '#EDF4FC', borderRadius: 8, padding: '12px 16px', flexDirection: 'column', gap: 4, justifyContent: 'center' }}&gt;&#10;                &lt;Text style={{ fontSize: 16, fontWeight: 'bold', color: '#276FBF' }}&gt;保留原记录&lt;/Text&gt;&#10;                &lt;Text style={{ fontSize: 14, color: '#546779', lineHeight: 1.5 }}&gt;删掉就无法复现，也无法核对&lt;/Text&gt;&#10;            &lt;/Box&gt;&#10;            &lt;Box style={{ width: 460, height: 96, background: '#EDF4FC', borderRadius: 8, padding: '12px 16px', flexDirection: 'column', gap: 4, justifyContent: 'center' }}&gt;&#10;                &lt;Text style={{ fontSize: 16, fontWeight: 'bold', color: '#276FBF' }}&gt;说明用途&lt;/Text&gt;&#10;                &lt;Text style={{ fontSize: 14, color: '#546779', lineHeight: 1.5 }}&gt;在分析表里写清这条告警在这轮里的作用&lt;/Text&gt;&#10;            &lt;/Box&gt;&#10;            &lt;Box style={{ width: 460, height: 110, background: '#FFF4E6', borderRadius: 8, padding: '12px 16px', flexDirection: 'column', gap: 4, justifyContent: 'center' }}&gt;&#10;                &lt;Text style={{ fontSize: 16, fontWeight: 'bold', color: '#CB6B28' }}&gt;相同文字不去重&lt;/Text&gt;&#10;                &lt;Text style={{ fontSize: 14, color: '#546779', lineHeight: 1.5 }}&gt;出现在不同人物、不同 Step，是两个不同的问题&lt;/Text&gt;&#10;            &lt;/Box&gt;&#10;        &lt;/Box&gt;&#10;&#10;        &lt;Box style={{ width: 660, flexDirection: 'column', gap: 12 }}&gt;&#10;            &lt;Box style={{ flexDirection: 'row', height: 28, padding: '0 18px', gap: 16, alignItems: 'center' }}&gt;&#10;                &lt;Box style={{ width: 222 }}&gt;&lt;Text style={{ fontSize: 14, color: '#546779' }}&gt;出现的告警&lt;/Text&gt;&lt;/Box&gt;&#10;                &lt;Box style={{ flex: 1 }}&gt;&lt;Text style={{ fontSize: 14, color: '#546779' }}&gt;为什么可能是合理的&lt;/Text&gt;&lt;/Box&gt;&#10;            &lt;/Box&gt;&#10;            &lt;Box style={{ width: 660, height: 108, background: '#F4F7FA', borderRadius: 10, padding: '0 18px', flexDirection: 'row', alignItems: 'center', gap: 16 }}&gt;&#10;                &lt;Box style={{ width: 222 }}&gt;&lt;Text style={{ fontSize: 16, fontWeight: 'bold', color: '#20344B' }}&gt;首次检索无历史记忆&lt;/Text&gt;&lt;/Box&gt;&#10;                &lt;Box style={{ flex: 1 }}&gt;&lt;Text style={{ fontSize: 14, color: '#546779', lineHeight: 1.6 }}&gt;新角色第一次检索，本来就可能没有历史&lt;/Text&gt;&lt;/Box&gt;&#10;            &lt;/Box&gt;&#10;            &lt;Box style={{ width: 660, height: 108, background: '#F4F7FA', borderRadius: 10, padding: '0 18px', flexDirection: 'row', alignItems: 'center', gap: 16 }}&gt;&#10;                &lt;Box style={{ width: 222 }}&gt;&lt;Text style={{ fontSize: 16, fontWeight: 'bold', color: '#20344B' }}&gt;权限拒绝&lt;/Text&gt;&lt;/Box&gt;&#10;                &lt;Box style={{ flex: 1 }}&gt;&lt;Text style={{ fontSize: 14, color: '#546779', lineHeight: 1.6 }}&gt;一次正确的拒绝，可能正是边界对照的预期结果&lt;/Text&gt;&lt;/Box&gt;&#10;            &lt;/Box&gt;&#10;            &lt;Box style={{ width: 660, height: 108, background: '#FFF4E6', borderRadius: 10, padding: '0 18px', flexDirection: 'row', alignItems: 'center', gap: 16 }}&gt;&#10;                &lt;Box style={{ width: 222 }}&gt;&lt;Text style={{ fontSize: 16, fontWeight: 'bold', color: '#CB6B28' }}&gt;同一段文字&lt;/Text&gt;&lt;/Box&gt;&#10;                &lt;Box style={{ flex: 1 }}&gt;&lt;Text style={{ fontSize: 14, color: '#546779', lineHeight: 1.6 }}&gt;出现在不同人物、不同 Step，是两个问题&lt;/Text&gt;&lt;/Box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4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5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当前行为质量页面包含什么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合理，不等于把告警删掉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09600" y="1733550"/>
            <a:ext cx="4381500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275">
                <a:solidFill>
                  <a:srgbClr val="546779"/>
                </a:solidFill>
                <a:latin typeface="Microsoft YaHei"/>
                <a:ea typeface="Microsoft YaHei"/>
              </a:rPr>
              <a:t>投影给出的告警需要解释，但解释写在记录之外，不能反过来改动原记录。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609600" y="2552700"/>
            <a:ext cx="4381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0" name="" descr="{&quot;isTemplate&quot;:true,&quot;type&quot;:&quot;text&quot;}"/>
          <p:cNvSpPr txBox="1"/>
          <p:nvPr/>
        </p:nvSpPr>
        <p:spPr>
          <a:xfrm rot="0" flipH="0" flipV="0">
            <a:off x="762000" y="277177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保留原记录</a:t>
            </a:r>
            <a:endParaRPr/>
          </a:p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762000" y="300037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删掉就无法复现，也无法核对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09600" y="3600450"/>
            <a:ext cx="4381500" cy="914400"/>
          </a:xfrm>
          <a:prstGeom prst="roundRect">
            <a:avLst>
              <a:gd name="adj" fmla="val 8333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762000" y="3819525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说明用途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762000" y="4048125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在分析表里写清这条告警在这轮里的作用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609600" y="4648200"/>
            <a:ext cx="4381500" cy="1047750"/>
          </a:xfrm>
          <a:prstGeom prst="roundRect">
            <a:avLst>
              <a:gd name="adj" fmla="val 7273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762000" y="4933950"/>
            <a:ext cx="40767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相同文字不去重</a:t>
            </a:r>
            <a:endParaRPr/>
          </a:p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62000" y="5162550"/>
            <a:ext cx="4076700" cy="2476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出现在不同人物、不同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，是两个不同的问题</a:t>
            </a:r>
            <a:endParaRPr/>
          </a:p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5467350" y="1924050"/>
            <a:ext cx="21145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出现的告警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734300" y="1924050"/>
            <a:ext cx="3676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为什么可能是合理的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5295900" y="2247900"/>
            <a:ext cx="62865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5467350" y="266700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首次检索无历史记忆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7734300" y="2638425"/>
            <a:ext cx="3676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新角色第一次检索，本来就可能没有历史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5295900" y="3390900"/>
            <a:ext cx="6286500" cy="1028700"/>
          </a:xfrm>
          <a:prstGeom prst="roundRect">
            <a:avLst>
              <a:gd name="adj" fmla="val 925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5467350" y="381000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权限拒绝</a:t>
            </a:r>
            <a:endParaRPr/>
          </a:p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7734300" y="3781425"/>
            <a:ext cx="3676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一次正确的拒绝，可能正是边界对照的预期结果</a:t>
            </a:r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5295900" y="4533900"/>
            <a:ext cx="6286500" cy="1028700"/>
          </a:xfrm>
          <a:prstGeom prst="roundRect">
            <a:avLst>
              <a:gd name="adj" fmla="val 925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467350" y="4953000"/>
            <a:ext cx="21145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同一段文字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734300" y="4924425"/>
            <a:ext cx="367665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出现在不同人物、不同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，是两个问题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14 / 24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41" name="" descr="&lt;Slide notes={`进入当前 Run 的行为质量页签，读的顺序是先总体、后明细。&#10;先看总体状态：有没有确定性问题，是 WARNING 还是干净。这一步只看结论，不急着下判断。&#10;然后展开告警。每一条告警都会给出参与者或对象、所在的 Step、错误代码，以及具体证据。我们最好带着身份和 Step 一起看，而不是只看那一行文字。&#10;页面上还有一个定位 Step 的入口，点进去可以看到当时发生了什么。但要提醒一句：定位之后仍然要确认当前 Run 没有切换，否则你看到的可能是另一个 Run 的现场。&#10;最后，这份明细的来源是确定性投影，它是从所有已提交的 StepResult 里重建出来的，而不是某一次尝试的临时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4　当前行为质量页面包含什么&lt;/Text&gt;&#10;            &lt;Text style={{ fontSize: 34, fontWeight: 'bold', color: '#20344B' }}&gt;先读总体状态，再展开告警&lt;/Text&gt;&#10;        &lt;/Box&gt;&#10;    &lt;/Box&gt;&#10;&#10;    &lt;Box style={{ height: 540, flexDirection: 'column', justifyContent: 'center', gap: 16 }}&gt;&#10;&#10;        &lt;Box style={{ width: 1152, height: 348, background: '#F4F7FA', borderRadius: 10, padding: '0 16px', flexDirection: 'column', gap: 8 }}&gt;&#10;            &lt;Box style={{ width: 1120, height: 40, background: '#EDF4FC', borderRadius: 8, padding: '0 16px', flexDirection: 'row', justifyContent: 'space-between', alignItems: 'center' }}&gt;&#10;                &lt;Text style={{ fontSize: 14, color: '#276FBF' }}&gt;行为质量　Run 状态与告警明细&lt;/Text&gt;&#10;                &lt;Box style={{ width: 56, height: 26, background: '#CB6B28', borderRadius: 6, justifyContent: 'center', alignItems: 'center' }}&gt;&#10;                    &lt;Text style={{ fontSize: 12, color: '#FFFFFF' }}&gt;示意&lt;/Text&gt;&#10;                &lt;/Box&gt;&#10;            &lt;/Box&gt;&#10;            &lt;Box style={{ width: 1120, height: 36, flexDirection: 'row', gap: 10, alignItems: 'center' }}&gt;&#10;                &lt;Box style={{ width: 120, height: 32, background: '#276FBF', borderRadius: 6, justifyContent: 'center', alignItems: 'center' }}&gt;&#10;                    &lt;Text style={{ fontSize: 13, color: '#FFFFFF' }}&gt;行为质量&lt;/Text&gt;&#10;                &lt;/Box&gt;&#10;                &lt;Box style={{ width: 120, height: 32, background: '#FFFFFF', borderRadius: 6, justifyContent: 'center', alignItems: 'center' }}&gt;&#10;                    &lt;Text style={{ fontSize: 13, color: '#546779' }}&gt;其他页签&lt;/Text&gt;&#10;                &lt;/Box&gt;&#10;            &lt;/Box&gt;&#10;            &lt;Box style={{ width: 1120, height: 40, background: '#FFFFFF', borderRadius: 8, padding: '0 16px', flexDirection: 'row', alignItems: 'center', gap: 12 }}&gt;&#10;                &lt;Text style={{ fontSize: 14, color: '#546779' }}&gt;总体状态&lt;/Text&gt;&#10;                &lt;Box style={{ width: 96, height: 26, background: '#FFF4E6', borderRadius: 6, justifyContent: 'center', alignItems: 'center' }}&gt;&#10;                    &lt;Text style={{ fontSize: 13, color: '#CB6B28' }}&gt;WARNING&lt;/Text&gt;&#10;                &lt;/Box&gt;&#10;                &lt;Text style={{ fontSize: 13, color: '#546779' }}&gt;有确定性问题，但不改变 Run 是否完成&lt;/Text&gt;&#10;            &lt;/Box&gt;&#10;            &lt;Box style={{ width: 1120, height: 26, padding: '0 16px', flexDirection: 'row', gap: 16, alignItems: 'center' }}&gt;&#10;                &lt;Box style={{ width: 140 }}&gt;&lt;Text style={{ fontSize: 13, color: '#546779' }}&gt;参与者 / 对象&lt;/Text&gt;&lt;/Box&gt;&#10;                &lt;Box style={{ width: 90 }}&gt;&lt;Text style={{ fontSize: 13, color: '#546779' }}&gt;Step&lt;/Text&gt;&lt;/Box&gt;&#10;                &lt;Box style={{ width: 190 }}&gt;&lt;Text style={{ fontSize: 13, color: '#546779' }}&gt;错误代码&lt;/Text&gt;&lt;/Box&gt;&#10;                &lt;Box style={{ flex: 1 }}&gt;&lt;Text style={{ fontSize: 13, color: '#546779' }}&gt;具体证据&lt;/Text&gt;&lt;/Box&gt;&#10;            &lt;/Box&gt;&#10;            &lt;Box style={{ width: 1120, height: 52, background: '#FFFFFF', borderRadius: 8, padding: '0 16px', flexDirection: 'row', gap: 16, alignItems: 'center' }}&gt;&#10;                &lt;Box style={{ width: 140 }}&gt;&lt;Text style={{ fontSize: 13, color: '#20344B' }}&gt;参与者 A&lt;/Text&gt;&lt;/Box&gt;&#10;                &lt;Box style={{ width: 90 }}&gt;&lt;Text style={{ fontSize: 13, color: '#20344B' }}&gt;Step ···&lt;/Text&gt;&lt;/Box&gt;&#10;                &lt;Box style={{ width: 190 }}&gt;&lt;Text style={{ fontSize: 13, color: '#CB6B28' }}&gt;EMPTY_RETRIEVAL&lt;/Text&gt;&lt;/Box&gt;&#10;                &lt;Box style={{ flex: 1 }}&gt;&lt;Text style={{ fontSize: 13, color: '#546779' }}&gt;首次检索没有历史记忆&lt;/Text&gt;&lt;/Box&gt;&#10;            &lt;/Box&gt;&#10;            &lt;Box style={{ width: 1120, height: 52, background: '#FFFFFF', borderRadius: 8, padding: '0 16px', flexDirection: 'row', gap: 16, alignItems: 'center' }}&gt;&#10;                &lt;Box style={{ width: 140 }}&gt;&lt;Text style={{ fontSize: 13, color: '#20344B' }}&gt;参与者 B&lt;/Text&gt;&lt;/Box&gt;&#10;                &lt;Box style={{ width: 90 }}&gt;&lt;Text style={{ fontSize: 13, color: '#20344B' }}&gt;Step ···&lt;/Text&gt;&lt;/Box&gt;&#10;                &lt;Box style={{ width: 190 }}&gt;&lt;Text style={{ fontSize: 13, color: '#CB6B28' }}&gt;NO_ACTION&lt;/Text&gt;&lt;/Box&gt;&#10;                &lt;Box style={{ flex: 1 }}&gt;&lt;Text style={{ fontSize: 13, color: '#546779' }}&gt;本轮没有动作可提交&lt;/Text&gt;&lt;/Box&gt;&#10;            &lt;/Box&gt;&#10;            &lt;Box style={{ width: 1120, height: 52, background: '#FFFFFF', borderRadius: 8, padding: '0 16px', flexDirection: 'row', gap: 16, alignItems: 'center' }}&gt;&#10;                &lt;Box style={{ width: 140 }}&gt;&lt;Text style={{ fontSize: 13, color: '#20344B' }}&gt;对象 A&lt;/Text&gt;&lt;/Box&gt;&#10;                &lt;Box style={{ width: 90 }}&gt;&lt;Text style={{ fontSize: 13, color: '#20344B' }}&gt;Step ···&lt;/Text&gt;&lt;/Box&gt;&#10;                &lt;Box style={{ width: 190 }}&gt;&lt;Text style={{ fontSize: 13, color: '#CB6B28' }}&gt;FALLBACK&lt;/Text&gt;&lt;/Box&gt;&#10;                &lt;Box style={{ flex: 1 }}&gt;&lt;Text style={{ fontSize: 13, color: '#546779' }}&gt;主路径失败后走回退分支&lt;/Text&gt;&lt;/Box&gt;&#10;            &lt;/Box&gt;&#10;        &lt;/Box&gt;&#10;&#10;        &lt;Box style={{ flexDirection: 'row', gap: 20 }}&gt;&#10;            &lt;Box style={{ width: 566, height: 104, background: '#EDF4FC', borderRadius: 10, padding: '12px 18px', flexDirection: 'column', gap: 4, justifyContent: 'center' }}&gt;&#10;                &lt;Text style={{ fontSize: 15, fontWeight: 'bold', color: '#276FBF' }}&gt;明细从哪里来&lt;/Text&gt;&#10;                &lt;Text style={{ fontSize: 13, color: '#546779', lineHeight: 1.55 }}&gt;从所有已提交 StepResult 中提取 Brain 与对象 Skill 的执行记录，按事实身份生成问题标识，覆盖多个 Attempt&lt;/Text&gt;&#10;            &lt;/Box&gt;&#10;            &lt;Box style={{ width: 566, height: 104, background: '#FFF4E6', borderRadius: 10, padding: '12px 18px', flexDirection: 'column', gap: 4, justifyContent: 'center' }}&gt;&#10;                &lt;Text style={{ fontSize: 15, fontWeight: 'bold', color: '#CB6B28' }}&gt;定位之后仍要确认&lt;/Text&gt;&#10;                &lt;Text style={{ fontSize: 13, color: '#546779', lineHeight: 1.55 }}&gt;页面提供定位 Step 的入口；定位之后仍要确认当前 Run 没有切换，否则看到的可能是另一个现场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5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3.12.4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当前行为质量页面包含什么</a:t>
            </a:r>
            <a:endParaRPr/>
          </a:p>
        </p:txBody>
      </p:sp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8862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先读总体状态，再展开告警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09600" y="1485900"/>
            <a:ext cx="10972800" cy="3314700"/>
          </a:xfrm>
          <a:prstGeom prst="roundRect">
            <a:avLst>
              <a:gd name="adj" fmla="val 287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762000" y="148590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914400" y="1600200"/>
            <a:ext cx="1895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行为质量　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状态与告警明细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10744200" y="1552575"/>
            <a:ext cx="533400" cy="247650"/>
          </a:xfrm>
          <a:prstGeom prst="roundRect">
            <a:avLst>
              <a:gd name="adj" fmla="val 23077"/>
            </a:avLst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0896600" y="1609725"/>
            <a:ext cx="228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FFFFF"/>
                </a:solidFill>
                <a:latin typeface="Microsoft YaHei"/>
                <a:ea typeface="Microsoft YaHei"/>
              </a:rPr>
              <a:t>示意</a:t>
            </a:r>
            <a:endParaRPr/>
          </a:p>
        </p:txBody>
      </p:sp>
      <p:sp>
        <p:nvSpPr>
          <p:cNvPr id="151" name=""/>
          <p:cNvSpPr/>
          <p:nvPr/>
        </p:nvSpPr>
        <p:spPr>
          <a:xfrm rot="0" flipH="0" flipV="0">
            <a:off x="762000" y="1962150"/>
            <a:ext cx="1143000" cy="304800"/>
          </a:xfrm>
          <a:prstGeom prst="roundRect">
            <a:avLst>
              <a:gd name="adj" fmla="val 18750"/>
            </a:avLst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1085850" y="20383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行为质量</a:t>
            </a:r>
            <a:endParaRPr/>
          </a:p>
        </p:txBody>
      </p:sp>
      <p:sp>
        <p:nvSpPr>
          <p:cNvPr id="153" name=""/>
          <p:cNvSpPr/>
          <p:nvPr/>
        </p:nvSpPr>
        <p:spPr>
          <a:xfrm rot="0" flipH="0" flipV="0">
            <a:off x="2000250" y="1962150"/>
            <a:ext cx="1143000" cy="304800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2324100" y="2038350"/>
            <a:ext cx="4953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其他页签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762000" y="2362200"/>
            <a:ext cx="10668000" cy="3810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914400" y="2476500"/>
            <a:ext cx="533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总体状态</a:t>
            </a:r>
            <a:endParaRPr/>
          </a:p>
        </p:txBody>
      </p:sp>
      <p:sp>
        <p:nvSpPr>
          <p:cNvPr id="157" name=""/>
          <p:cNvSpPr/>
          <p:nvPr/>
        </p:nvSpPr>
        <p:spPr>
          <a:xfrm rot="0" flipH="0" flipV="0">
            <a:off x="1562100" y="2428875"/>
            <a:ext cx="914400" cy="247650"/>
          </a:xfrm>
          <a:prstGeom prst="roundRect">
            <a:avLst>
              <a:gd name="adj" fmla="val 2307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1714500" y="2476500"/>
            <a:ext cx="619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WARNING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2590800" y="2476500"/>
            <a:ext cx="21717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有确定性问题，但不改变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是否完成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914400" y="2867025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参与者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对象</a:t>
            </a:r>
            <a:endParaRPr/>
          </a:p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2400300" y="2867025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>Step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3409950" y="2867025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错误代码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5372100" y="2867025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具体证据</a:t>
            </a:r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762000" y="31432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914400" y="331470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参与者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2400300" y="33147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Step ···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3409950" y="3314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EMPTY_RETRIEVAL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372100" y="3314700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首次检索没有历史记忆</a:t>
            </a:r>
            <a:endParaRPr/>
          </a:p>
        </p:txBody>
      </p:sp>
      <p:sp>
        <p:nvSpPr>
          <p:cNvPr id="169" name=""/>
          <p:cNvSpPr/>
          <p:nvPr/>
        </p:nvSpPr>
        <p:spPr>
          <a:xfrm rot="0" flipH="0" flipV="0">
            <a:off x="762000" y="37147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14400" y="388620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参与者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B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2400300" y="38862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Step ···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3409950" y="38862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NO_ACTION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5372100" y="3886200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本轮没有动作可提交</a:t>
            </a:r>
            <a:endParaRPr/>
          </a:p>
        </p:txBody>
      </p:sp>
      <p:sp>
        <p:nvSpPr>
          <p:cNvPr id="174" name=""/>
          <p:cNvSpPr/>
          <p:nvPr/>
        </p:nvSpPr>
        <p:spPr>
          <a:xfrm rot="0" flipH="0" flipV="0">
            <a:off x="762000" y="4286250"/>
            <a:ext cx="10668000" cy="49530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14400" y="4457700"/>
            <a:ext cx="1333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0344B"/>
                </a:solidFill>
                <a:latin typeface="Microsoft YaHei"/>
                <a:ea typeface="Microsoft YaHei"/>
              </a:rPr>
              <a:t>对象</a:t>
            </a: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 xml:space="preserve"> A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2400300" y="4457700"/>
            <a:ext cx="8572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0344B"/>
                </a:solidFill>
                <a:latin typeface="Microsoft YaHei"/>
                <a:ea typeface="Microsoft YaHei"/>
              </a:rPr>
              <a:t>Step ···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3409950" y="4457700"/>
            <a:ext cx="1809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CB6B28"/>
                </a:solidFill>
                <a:latin typeface="Microsoft YaHei"/>
                <a:ea typeface="Microsoft YaHei"/>
              </a:rPr>
              <a:t>FALLBACK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5372100" y="4457700"/>
            <a:ext cx="59055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主路径失败后走回退分支</a:t>
            </a:r>
            <a:endParaRPr/>
          </a:p>
        </p:txBody>
      </p:sp>
      <p:sp>
        <p:nvSpPr>
          <p:cNvPr id="179" name=""/>
          <p:cNvSpPr/>
          <p:nvPr/>
        </p:nvSpPr>
        <p:spPr>
          <a:xfrm rot="0" flipH="0" flipV="0">
            <a:off x="609600" y="4953000"/>
            <a:ext cx="5391150" cy="990600"/>
          </a:xfrm>
          <a:prstGeom prst="roundRect">
            <a:avLst>
              <a:gd name="adj" fmla="val 961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781050" y="5114925"/>
            <a:ext cx="504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76FBF"/>
                </a:solidFill>
                <a:latin typeface="Microsoft YaHei"/>
                <a:ea typeface="Microsoft YaHei"/>
              </a:rPr>
              <a:t>明细从哪里来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781050" y="5324475"/>
            <a:ext cx="5048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从所有已提交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StepResult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中提取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Brain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与对象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Skill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的执行记录，按事实身份生成问题标识，覆盖多个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6191250" y="4953000"/>
            <a:ext cx="5391150" cy="990600"/>
          </a:xfrm>
          <a:prstGeom prst="roundRect">
            <a:avLst>
              <a:gd name="adj" fmla="val 961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6362700" y="5114925"/>
            <a:ext cx="5048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定位之后仍要确认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6362700" y="5324475"/>
            <a:ext cx="504825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页面提供定位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Step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的入口；定位之后仍要确认当前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没有切换，否则看到的可能是另一个现场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15 / 24</a:t>
            </a:r>
            <a:endParaRPr/>
          </a:p>
        </p:txBody>
      </p:sp>
    </p:spTree>
  </p:cSld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87" name="" descr="&lt;Slide notes={`在当前默认路径下，一次 Run 上的评价状态只会有这几种，它们之间不能互相改写。&#10;COMPLETED 说的是执行完成了，Run 正常结束。但它推不出业务已经通过，这两件事必须分开写。&#10;WARNING 说的是有确定性问题。它可以和 COMPLETED 同时存在，而且它并不改变这个 Run 是否完成。&#10;SKIPPED 说的是相应评价没有被执行。注意措辞是「没有执行」，不是「没有关系」。&#10;NOT_EVALUATED 是未评估：没有确定性告警，同时评价被跳过的时候，系统给出的就是它。&#10;最要紧的一条是：NOT_EVALUATED 不算通过，SKIPPED 也不算通过。如果评价数据不可用，或者投影本身失败了，我们要记录原因，绝不能顺手把它改写成通过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5　Evaluator 的资源、方法与实际执行&lt;/Text&gt;&#10;            &lt;Text style={{ fontSize: 34, fontWeight: 'bold', color: '#20344B' }}&gt;四种状态，不能互相改写&lt;/Text&gt;&#10;        &lt;/Box&gt;&#10;    &lt;/Box&gt;&#10;&#10;    &lt;Box style={{ height: 540, flexDirection: 'column', justifyContent: 'center', gap: 20 }}&gt;&#10;&#10;        &lt;Text style={{ fontSize: 16, color: '#546779' }}&gt;当前默认路径下，一次 Run 的评价只会落到这几种状态上，它们之间不能互相改写。&lt;/Text&gt;&#10;&#10;        &lt;Box style={{ flexDirection: 'row', gap: 16 }}&gt;&#10;            &lt;Box style={{ width: 276, height: 200, background: '#EDF4FC', borderRadius: 10, padding: '18px 16px', flexDirection: 'column', gap: 8, alignItems: 'center' }}&gt;&#10;                &lt;Text style={{ fontSize: 24, fontWeight: 'bold', color: '#276FBF' }}&gt;COMPLETED&lt;/Text&gt;&#10;                &lt;Text style={{ fontSize: 15, fontWeight: 'bold', color: '#20344B' }}&gt;执行完成&lt;/Text&gt;&#10;                &lt;Text style={{ fontSize: 13, color: '#546779', lineHeight: 1.55 }}&gt;Run 正常结束；它不能推出业务已经通过&lt;/Text&gt;&#10;            &lt;/Box&gt;&#10;            &lt;Box style={{ width: 276, height: 200, background: '#FFF4E6', borderRadius: 10, padding: '18px 16px', flexDirection: 'column', gap: 8, alignItems: 'center' }}&gt;&#10;                &lt;Text style={{ fontSize: 24, fontWeight: 'bold', color: '#CB6B28' }}&gt;WARNING&lt;/Text&gt;&#10;                &lt;Text style={{ fontSize: 15, fontWeight: 'bold', color: '#20344B' }}&gt;有确定性问题&lt;/Text&gt;&#10;                &lt;Text style={{ fontSize: 13, color: '#546779', lineHeight: 1.55 }}&gt;可以和完成状态同时存在；它不改变 Run 是否完成&lt;/Text&gt;&#10;            &lt;/Box&gt;&#10;            &lt;Box style={{ width: 276, height: 200, background: '#F4F7FA', borderRadius: 10, padding: '18px 16px', flexDirection: 'column', gap: 8, alignItems: 'center' }}&gt;&#10;                &lt;Text style={{ fontSize: 24, fontWeight: 'bold', color: '#546779' }}&gt;SKIPPED&lt;/Text&gt;&#10;                &lt;Text style={{ fontSize: 15, fontWeight: 'bold', color: '#20344B' }}&gt;评价未执行&lt;/Text&gt;&#10;                &lt;Text style={{ fontSize: 13, color: '#546779', lineHeight: 1.55 }}&gt;相应评价没有被执行，就保持未执行&lt;/Text&gt;&#10;            &lt;/Box&gt;&#10;            &lt;Box style={{ width: 276, height: 200, background: '#F7F3E8', borderRadius: 10, padding: '18px 16px', flexDirection: 'column', gap: 8, alignItems: 'center' }}&gt;&#10;                &lt;Text style={{ fontSize: 24, fontWeight: 'bold', color: '#CB6B28' }}&gt;NOT_EVALUATED&lt;/Text&gt;&#10;                &lt;Text style={{ fontSize: 15, fontWeight: 'bold', color: '#20344B' }}&gt;未评估&lt;/Text&gt;&#10;                &lt;Text style={{ fontSize: 13, color: '#546779', lineHeight: 1.55 }}&gt;没有确定性告警，并且评价被跳过时的结果&lt;/Text&gt;&#10;            &lt;/Box&gt;&#10;        &lt;/Box&gt;&#10;&#10;        &lt;Box style={{ width: 1152, height: 96, background: '#FFF4E6', borderRadius: 10, padding: '0 24px', flexDirection: 'row', alignItems: 'center', gap: 16 }}&gt;&#10;            &lt;Box style={{ width: 4, height: 56, background: '#CB6B28' }} /&gt;&#10;            &lt;Box style={{ flex: 1, flexDirection: 'column', gap: 6 }}&gt;&#10;                &lt;Text style={{ fontSize: 19, fontWeight: 'bold', color: '#CB6B28' }}&gt;NOT_EVALUATED 不算通过&lt;/Text&gt;&#10;                &lt;Text style={{ fontSize: 16, color: '#546779', lineHeight: 1.65 }}&gt;评价数据不可用或投影失败时，要记录原因，不能把它改写成通过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6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Evaluator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的资源、方法与实际执行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四种状态，不能互相改写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609600" y="2019300"/>
            <a:ext cx="109728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当前默认路径下，一次</a:t>
            </a:r>
            <a:r>
              <a:rPr lang="en-US" sz="120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的评价只会落到这几种状态上，它们之间不能互相改写。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609600" y="240030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1209675" y="2571750"/>
            <a:ext cx="14382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276FBF"/>
                </a:solidFill>
                <a:latin typeface="Microsoft YaHei"/>
                <a:ea typeface="Microsoft YaHei"/>
              </a:rPr>
              <a:t>COMPLETED</a:t>
            </a:r>
            <a:endParaRPr/>
          </a:p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1638300" y="29241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执行完成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00100" y="3171825"/>
            <a:ext cx="2257425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正常结束；它不能推出业务已经通过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3390900" y="240030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4105275" y="2571750"/>
            <a:ext cx="120967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>WARNING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4276725" y="2924175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有确定性问题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543300" y="3171825"/>
            <a:ext cx="2324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可以和完成状态同时存在；它不改变</a:t>
            </a:r>
            <a:r>
              <a:rPr lang="en-US" sz="975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是否完成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172200" y="240030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991350" y="2571750"/>
            <a:ext cx="9906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546779"/>
                </a:solidFill>
                <a:latin typeface="Microsoft YaHei"/>
                <a:ea typeface="Microsoft YaHei"/>
              </a:rPr>
              <a:t>SKIPPED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7134225" y="2924175"/>
            <a:ext cx="7143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评价未执行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6496050" y="3171825"/>
            <a:ext cx="198120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相应评价没有被执行，就保持未执行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8953500" y="2400300"/>
            <a:ext cx="2628900" cy="1905000"/>
          </a:xfrm>
          <a:prstGeom prst="roundRect">
            <a:avLst>
              <a:gd name="adj" fmla="val 5000"/>
            </a:avLst>
          </a:prstGeom>
          <a:solidFill>
            <a:srgbClr val="F7F3E8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9277350" y="2571750"/>
            <a:ext cx="19812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CB6B28"/>
                </a:solidFill>
                <a:latin typeface="Microsoft YaHei"/>
                <a:ea typeface="Microsoft YaHei"/>
              </a:rPr>
              <a:t>NOT_EVALUATED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0058400" y="2924175"/>
            <a:ext cx="428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20344B"/>
                </a:solidFill>
                <a:latin typeface="Microsoft YaHei"/>
                <a:ea typeface="Microsoft YaHei"/>
              </a:rPr>
              <a:t>未评估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9105900" y="3171825"/>
            <a:ext cx="23241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975">
                <a:solidFill>
                  <a:srgbClr val="546779"/>
                </a:solidFill>
                <a:latin typeface="Microsoft YaHei"/>
                <a:ea typeface="Microsoft YaHei"/>
              </a:rPr>
              <a:t>没有确定性告警，并且评价被跳过时的结果</a:t>
            </a:r>
            <a:endParaRPr/>
          </a:p>
        </p:txBody>
      </p:sp>
      <p:sp>
        <p:nvSpPr>
          <p:cNvPr id="209" name=""/>
          <p:cNvSpPr/>
          <p:nvPr/>
        </p:nvSpPr>
        <p:spPr>
          <a:xfrm rot="0" flipH="0" flipV="0">
            <a:off x="609600" y="4495800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10" name=""/>
          <p:cNvSpPr/>
          <p:nvPr/>
        </p:nvSpPr>
        <p:spPr>
          <a:xfrm rot="0" flipH="0" flipV="0">
            <a:off x="838200" y="46863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1028700" y="4667250"/>
            <a:ext cx="1032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NOT_EVALUATED </a:t>
            </a: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不算通过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1028700" y="4943475"/>
            <a:ext cx="10325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评价数据不可用或投影失败时，要记录原因，不能把它改写成通过。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16 / 24</a:t>
            </a:r>
            <a:endParaRPr/>
          </a:p>
        </p:txBody>
      </p:sp>
    </p:spTree>
  </p:cSld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215" name="" descr="&lt;Slide notes={`这一条我特别想强调，因为它太容易被当成已经发生了。&#10;Studio 里确实有 Evaluator 资源，实验也可以携带相关内容；Brain 类里也另有可以调用的质量评价方法。这些都是真的。&#10;但是「有资源」不等于「跑了评价」。资源能打进包，不能证明每次 Run 都自动执行了这个评价；类里有这个方法，不能证明这次 Run 调用过它。本次核查的正式结束链，用的是确定性质量汇总，它证明的是确定性汇总跑过了，不是自定义业务 Evaluator 被执行过。&#10;所以青禾的到达率和通知延迟，我先用可检查的人工或外部评分表来做，并标注评分者、规则、来源和时间。它们不是内置 Evaluator 的成绩，也不应该手工写回历史 Run，把人工判断伪装成系统结果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5　Evaluator 的资源、方法与实际执行&lt;/Text&gt;&#10;            &lt;Text style={{ fontSize: 34, fontWeight: 'bold', color: '#20344B' }}&gt;有资源、有方法，都不等于跑过&lt;/Text&gt;&#10;        &lt;/Box&gt;&#10;    &lt;/Box&gt;&#10;&#10;    &lt;Box style={{ height: 540, flexDirection: 'column', justifyContent: 'center', gap: 16 }}&gt;&#10;&#10;        &lt;Box style={{ flexDirection: 'row', alignItems: 'center', gap: 32 }}&gt;&#10;            &lt;Box style={{ width: 518, flexDirection: 'column', gap: 12 }}&gt;&#10;                &lt;Text style={{ fontSize: 15, fontWeight: 'bold', color: '#546779' }}&gt;当前确实存在的东西&lt;/Text&gt;&#10;                &lt;Box style={{ width: 518, height: 104, background: '#EDF4FC', borderRadius: 8, padding: '14px 18px', justifyContent: 'center' }}&gt;&#10;                    &lt;Text style={{ fontSize: 15, color: '#20344B', lineHeight: 1.6 }}&gt;Studio 有 Evaluator 资源，实验也可以携带相关内容&lt;/Text&gt;&#10;                &lt;/Box&gt;&#10;                &lt;Box style={{ width: 518, height: 104, background: '#EDF4FC', borderRadius: 8, padding: '14px 18px', justifyContent: 'center' }}&gt;&#10;                    &lt;Text style={{ fontSize: 15, color: '#20344B', lineHeight: 1.6 }}&gt;Brain 类另有可调用的质量评价方法&lt;/Text&gt;&#10;                &lt;/Box&gt;&#10;                &lt;Box style={{ width: 518, height: 104, background: '#EDF4FC', borderRadius: 8, padding: '14px 18px', justifyContent: 'center' }}&gt;&#10;                    &lt;Text style={{ fontSize: 15, color: '#20344B', lineHeight: 1.6 }}&gt;本次核查的正式结束链使用确定性质量汇总&lt;/Text&gt;&#10;                &lt;/Box&gt;&#10;            &lt;/Box&gt;&#10;            &lt;Box style={{ width: 602, flexDirection: 'column', gap: 12 }}&gt;&#10;                &lt;Text style={{ fontSize: 15, fontWeight: 'bold', color: '#CB6B28' }}&gt;它们各自都不能证明&lt;/Text&gt;&#10;                &lt;Box style={{ width: 602, height: 104, background: '#FFF4E6', borderRadius: 8, padding: '14px 18px', justifyContent: 'center' }}&gt;&#10;                    &lt;Text style={{ fontSize: 15, color: '#20344B', lineHeight: 1.6 }}&gt;资源能入包，不等于每次 Run 都自动执行了该评价&lt;/Text&gt;&#10;                &lt;/Box&gt;&#10;                &lt;Box style={{ width: 602, height: 104, background: '#FFF4E6', borderRadius: 8, padding: '14px 18px', justifyContent: 'center' }}&gt;&#10;                    &lt;Text style={{ fontSize: 15, color: '#20344B', lineHeight: 1.6 }}&gt;类中有方法，不等于这次 Run 调用过它&lt;/Text&gt;&#10;                &lt;/Box&gt;&#10;                &lt;Box style={{ width: 602, height: 104, background: '#FFF4E6', borderRadius: 8, padding: '14px 18px', justifyContent: 'center' }}&gt;&#10;                    &lt;Text style={{ fontSize: 15, color: '#20344B', lineHeight: 1.6 }}&gt;确定性汇总，不等于自定义业务 Evaluator 已被执行&lt;/Text&gt;&#10;                &lt;/Box&gt;&#10;            &lt;/Box&gt;&#10;        &lt;/Box&gt;&#10;&#10;        &lt;Box style={{ width: 1152, height: 96, background: '#FFF4E6', borderRadius: 10, padding: '0 24px', flexDirection: 'row', alignItems: 'center', gap: 16 }}&gt;&#10;            &lt;Box style={{ width: 4, height: 56, background: '#CB6B28' }} /&gt;&#10;            &lt;Text style={{ fontSize: 15, color: '#CB6B28', flex: 1, lineHeight: 1.65 }}&gt;青禾的到达率与通知延迟，先采用可检查的人工或外部评分表，并标注评分者、规则、来源与时间；它们不是内置 Evaluator 的成绩，也不应手工写回历史 Run，把来源伪装成系统结果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7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17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5339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3.12.5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Evaluator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的资源、方法与实际执行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5339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有资源、有方法，都不等于跑过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09600" y="1438275"/>
            <a:ext cx="49339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546779"/>
                </a:solidFill>
                <a:latin typeface="Microsoft YaHei"/>
                <a:ea typeface="Microsoft YaHei"/>
              </a:rPr>
              <a:t>当前确实存在的东西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609600" y="1724025"/>
            <a:ext cx="493395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781050" y="208597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Studio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有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资源，实验也可以携带相关内容</a:t>
            </a:r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609600" y="2828925"/>
            <a:ext cx="493395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81050" y="319087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Brain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类另有可调用的质量评价方法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609600" y="3933825"/>
            <a:ext cx="4933950" cy="99060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781050" y="4295775"/>
            <a:ext cx="45910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本次核查的正式结束链使用确定性质量汇总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848350" y="1438275"/>
            <a:ext cx="5734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B6B28"/>
                </a:solidFill>
                <a:latin typeface="Microsoft YaHei"/>
                <a:ea typeface="Microsoft YaHei"/>
              </a:rPr>
              <a:t>它们各自都不能证明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5848350" y="1724025"/>
            <a:ext cx="573405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6019800" y="2085975"/>
            <a:ext cx="5391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资源能入包，不等于每次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都自动执行了该评价</a:t>
            </a:r>
            <a:endParaRPr/>
          </a:p>
        </p:txBody>
      </p:sp>
      <p:sp>
        <p:nvSpPr>
          <p:cNvPr id="230" name=""/>
          <p:cNvSpPr/>
          <p:nvPr/>
        </p:nvSpPr>
        <p:spPr>
          <a:xfrm rot="0" flipH="0" flipV="0">
            <a:off x="5848350" y="2828925"/>
            <a:ext cx="573405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6019800" y="3190875"/>
            <a:ext cx="5391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类中有方法，不等于这次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Run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调用过它</a:t>
            </a:r>
            <a:endParaRPr/>
          </a:p>
        </p:txBody>
      </p:sp>
      <p:sp>
        <p:nvSpPr>
          <p:cNvPr id="232" name=""/>
          <p:cNvSpPr/>
          <p:nvPr/>
        </p:nvSpPr>
        <p:spPr>
          <a:xfrm rot="0" flipH="0" flipV="0">
            <a:off x="5848350" y="3933825"/>
            <a:ext cx="5734050" cy="99060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6019800" y="4295775"/>
            <a:ext cx="53911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确定性汇总，不等于自定义业务</a:t>
            </a:r>
            <a:r>
              <a:rPr lang="en-US" sz="1125">
                <a:solidFill>
                  <a:srgbClr val="20344B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已被执行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609600" y="5076825"/>
            <a:ext cx="10972800" cy="914400"/>
          </a:xfrm>
          <a:prstGeom prst="roundRect">
            <a:avLst>
              <a:gd name="adj" fmla="val 10417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838200" y="5267325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028700" y="5248275"/>
            <a:ext cx="1032510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青禾的到达率与通知延迟，先采用可检查的人工或外部评分表，并标注评分者、规则、来源与时间；它们不是内置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Evaluator 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的成绩，也不应手工写回历史</a:t>
            </a:r>
            <a:r>
              <a:rPr lang="en-US" sz="1125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，把来源伪装成系统结果。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17 / 24</a:t>
            </a:r>
            <a:endParaRPr/>
          </a:p>
        </p:txBody>
      </p:sp>
    </p:spTree>
  </p:cSld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239" name="" descr="&lt;Slide notes={`走到这里，评价规则已经有了，下一步是把纸上写的和系统里显示的核对起来。&#10;三个地方必须能互相印证：页面上看到的、报告里记录的、以及结果导出包里保存的。任何一处对不上，前面的分数都不可信。&#10;核对完之后才是比较。如果我们想说明某一处改动到底有没有帮助，就要保留一个基线，然后只改变要检验的那一个条件。&#10;很多结论看起来都成立，其实是因为同时改了好几个东西，差异到底来自哪里根本分不清。&#10;所以这一块的顺序是：先核对一致，再做对照。核对是前提，对照是方法。`} style={{ width: 1280, height: 720, background: '#FFFFFF', flexDirection: 'column', padding: '20px 64px' }}&gt;&#10;&#10;    &lt;Box style={{ height: 640, flexDirection: 'column', justifyContent: 'center', gap: 22 }}&gt;&#10;&#10;        &lt;Text style={{ fontSize: 15, color: '#276FBF' }}&gt;④　　3.12.6 — 3.12.7&lt;/Text&gt;&#10;&#10;        &lt;Text style={{ fontSize: 56, fontWeight: 'bold', color: '#20344B', lineHeight: 1.15 }}&gt;核对一致，再做对照&lt;/Text&gt;&#10;&#10;        &lt;Box style={{ width: 72, height: 4, background: '#276FBF' }} /&gt;&#10;&#10;        &lt;Text style={{ fontSize: 18, color: '#546779', lineHeight: 1.7, width: 900 }}&gt;页面、报告与导出三处要对得上；改动要用保留基线的单因素对照来说明。&lt;/Text&gt;&#10;&#10;        &lt;Box style={{ flexDirection: 'row', marginTop: 10 }}&gt;&#10;            &lt;Box style={{ width: 460, height: 88, background: '#EDF4FC', justifyContent: 'center', alignItems: 'center' }}&gt;&#10;                &lt;Text style={{ fontSize: 17, color: '#276FBF' }}&gt;页面质量&lt;/Text&gt;&#10;            &lt;/Box&gt;&#10;            &lt;Box style={{ width: 352, height: 88, background: '#ECF7F2', justifyContent: 'center', alignItems: 'center' }}&gt;&#10;                &lt;Text style={{ fontSize: 17, color: '#26816B' }}&gt;报告&lt;/Text&gt;&#10;            &lt;/Box&gt;&#10;            &lt;Box style={{ width: 340, height: 88, background: '#FFF4E6', justifyContent: 'center', alignItems: 'center' }}&gt;&#10;                &lt;Text style={{ fontSize: 17, color: '#CB6B28' }}&gt;结果 ZIP 导出&lt;/Text&gt;&#10;            &lt;/Box&gt;&#10;        &lt;/Box&gt;&#10;&#10;        &lt;Box style={{ width: 1152, height: 72, background: '#FFF4E6', borderRadius: 10, padding: '0 22px', flexDirection: 'row', alignItems: 'center', gap: 14 }}&gt;&#10;            &lt;Box style={{ width: 4, height: 40, background: '#CB6B28' }} /&gt;&#10;            &lt;Text style={{ fontSize: 15, color: '#CB6B28', flex: 1, lineHeight: 1.6 }}&gt;三处对不上，评价就不可信；比较方案时，一次尽量只改变一个因素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8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609600" y="12573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276FBF"/>
                </a:solidFill>
                <a:latin typeface="Microsoft YaHei"/>
                <a:ea typeface="Microsoft YaHei"/>
              </a:rPr>
              <a:t>④　　</a:t>
            </a:r>
            <a:r>
              <a:rPr lang="en-US" sz="1125">
                <a:solidFill>
                  <a:srgbClr val="276FBF"/>
                </a:solidFill>
                <a:latin typeface="Microsoft YaHei"/>
                <a:ea typeface="Microsoft YaHei"/>
              </a:rPr>
              <a:t>3.12.6 — 3.12.7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609600" y="16383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核对一致，再做对照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259080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609600" y="2838450"/>
            <a:ext cx="8572500" cy="3524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350">
                <a:solidFill>
                  <a:srgbClr val="546779"/>
                </a:solidFill>
                <a:latin typeface="Microsoft YaHei"/>
                <a:ea typeface="Microsoft YaHei"/>
              </a:rPr>
              <a:t>页面、报告与导出三处要对得上；改动要用保留基线的单因素对照来说明。</a:t>
            </a:r>
            <a:endParaRPr/>
          </a:p>
        </p:txBody>
      </p:sp>
      <p:sp>
        <p:nvSpPr>
          <p:cNvPr id="245" name=""/>
          <p:cNvSpPr/>
          <p:nvPr/>
        </p:nvSpPr>
        <p:spPr>
          <a:xfrm rot="0" flipH="0" flipV="0">
            <a:off x="609600" y="3495675"/>
            <a:ext cx="4381500" cy="838200"/>
          </a:xfrm>
          <a:prstGeom prst="rect">
            <a:avLst/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476500" y="3819525"/>
            <a:ext cx="6477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76FBF"/>
                </a:solidFill>
                <a:latin typeface="Microsoft YaHei"/>
                <a:ea typeface="Microsoft YaHei"/>
              </a:rPr>
              <a:t>页面质量</a:t>
            </a:r>
            <a:endParaRPr/>
          </a:p>
        </p:txBody>
      </p:sp>
      <p:sp>
        <p:nvSpPr>
          <p:cNvPr id="247" name=""/>
          <p:cNvSpPr/>
          <p:nvPr/>
        </p:nvSpPr>
        <p:spPr>
          <a:xfrm rot="0" flipH="0" flipV="0">
            <a:off x="4991100" y="3495675"/>
            <a:ext cx="3352800" cy="838200"/>
          </a:xfrm>
          <a:prstGeom prst="rect">
            <a:avLst/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6505575" y="3819525"/>
            <a:ext cx="323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26816B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8343900" y="3495675"/>
            <a:ext cx="3238500" cy="838200"/>
          </a:xfrm>
          <a:prstGeom prst="rect">
            <a:avLst/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9467850" y="3819525"/>
            <a:ext cx="10001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结果</a:t>
            </a:r>
            <a:r>
              <a:rPr lang="en-US" sz="1275">
                <a:solidFill>
                  <a:srgbClr val="CB6B28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75">
                <a:solidFill>
                  <a:srgbClr val="CB6B28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251" name=""/>
          <p:cNvSpPr/>
          <p:nvPr/>
        </p:nvSpPr>
        <p:spPr>
          <a:xfrm rot="0" flipH="0" flipV="0">
            <a:off x="609600" y="454342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52" name=""/>
          <p:cNvSpPr/>
          <p:nvPr/>
        </p:nvSpPr>
        <p:spPr>
          <a:xfrm rot="0" flipH="0" flipV="0">
            <a:off x="819150" y="4695825"/>
            <a:ext cx="38100" cy="3810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90600" y="4752975"/>
            <a:ext cx="10382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CB6B28"/>
                </a:solidFill>
                <a:latin typeface="Microsoft YaHei"/>
                <a:ea typeface="Microsoft YaHei"/>
              </a:rPr>
              <a:t>三处对不上，评价就不可信；比较方案时，一次尽量只改变一个因素。</a:t>
            </a:r>
            <a:endParaRPr/>
          </a:p>
        </p:txBody>
      </p:sp>
      <p:sp>
        <p:nvSpPr>
          <p:cNvPr id="2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18 / 24</a:t>
            </a:r>
            <a:endParaRPr/>
          </a:p>
        </p:txBody>
      </p:sp>
    </p:spTree>
  </p:cSld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notes={`评价规则定了之后，还有一步不能省：把页面、报告和导出三处核对一遍。&#10;第一件事是固定取材范围。说清楚这次用的是哪一个 Run、边界提交到哪一步，后面所有数字都以它为准。&#10;然后逐项对照。质量页上的问题总数和展开明细，要跟报告里的 source_committed_step、参与者轮次数、对象轮次数对得上。&#10;如果这个 Run 恢复过，情况还要更小心：新的 Attempt 看起来一切正常，不代表以前的告警可以消失。已提交的问题必须覆盖进来。&#10;导出也要确认：结果 ZIP 里保存的是对应边界的新质量报告。质量读取可以从提交事实重建报告，不覆盖旧报告文件。&#10;最后提醒一句：项目里已经有回归测试检查跨 Attempt 汇总和页面、导出的一致性，但青禾这次实验，我们仍然要自己完成同样的核对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6　核对页面、报告和导出&lt;/Text&gt;&#10;            &lt;Text style={{ fontSize: 34, fontWeight: 'bold', color: '#20344B' }}&gt;三处要能互相对上&lt;/Text&gt;&#10;        &lt;/Box&gt;&#10;    &lt;/Box&gt;&#10;&#10;    &lt;Box style={{ height: 540, flexDirection: 'column', justifyContent: 'center', gap: 16 }}&gt;&#10;&#10;        &lt;Box style={{ flexDirection: 'row', alignItems: 'center', gap: 32 }}&gt;&#10;            &lt;Box style={{ width: 400, flexDirection: 'column', gap: 14 }}&gt;&#10;                &lt;Box style={{ width: 400, height: 130, background: '#EDF4FC', borderRadius: 10, padding: '16px 18px', flexDirection: 'column', gap: 6, justifyContent: 'center' }}&gt;&#10;                    &lt;Text style={{ fontSize: 16, fontWeight: 'bold', color: '#276FBF' }}&gt;先固定取材边界&lt;/Text&gt;&#10;                    &lt;Text style={{ fontSize: 14, color: '#546779', lineHeight: 1.55 }}&gt;本次取材的 Run，以及已提交到哪一步&lt;/Text&gt;&#10;                &lt;/Box&gt;&#10;                &lt;Box style={{ width: 400, height: 180, background: '#FFF4E6', borderRadius: 10, padding: '16px 18px', flexDirection: 'column', gap: 6, justifyContent: 'center' }}&gt;&#10;                    &lt;Text style={{ fontSize: 16, fontWeight: 'bold', color: '#CB6B28' }}&gt;恢复过的 Run&lt;/Text&gt;&#10;                    &lt;Text style={{ fontSize: 14, color: '#546779', lineHeight: 1.55 }}&gt;要覆盖此前 Attempt 的已提交问题；不能因为新的 Attempt 看起来正常，就丢掉历史告警&lt;/Text&gt;&#10;                &lt;/Box&gt;&#10;            &lt;/Box&gt;&#10;            &lt;Box style={{ width: 720, flexDirection: 'column', gap: 12 }}&gt;&#10;                &lt;Box style={{ flexDirection: 'row', height: 28, padding: '0 18px', gap: 16, alignItems: 'center' }}&gt;&#10;                    &lt;Box style={{ width: 164 }}&gt;&lt;Text style={{ fontSize: 14, color: '#546779' }}&gt;核对位置&lt;/Text&gt;&lt;/Box&gt;&#10;                    &lt;Box style={{ flex: 1 }}&gt;&lt;Text style={{ fontSize: 14, color: '#546779' }}&gt;要跟什么对上&lt;/Text&gt;&lt;/Box&gt;&#10;                &lt;/Box&gt;&#10;                &lt;Box style={{ width: 720, height: 110, background: '#F4F7FA', borderRadius: 10, padding: '0 18px', flexDirection: 'row', alignItems: 'center', gap: 16 }}&gt;&#10;                    &lt;Box style={{ width: 164 }}&gt;&lt;Text style={{ fontSize: 16, fontWeight: 'bold', color: '#20344B' }}&gt;质量页&lt;/Text&gt;&lt;/Box&gt;&#10;                    &lt;Box style={{ flex: 1 }}&gt;&lt;Text style={{ fontSize: 14, color: '#546779', lineHeight: 1.6 }}&gt;问题总数与展开明细，要和参与者、Step 一一对上&lt;/Text&gt;&lt;/Box&gt;&#10;                &lt;/Box&gt;&#10;                &lt;Box style={{ width: 720, height: 110, background: '#F4F7FA', borderRadius: 10, padding: '0 18px', flexDirection: 'row', alignItems: 'center', gap: 16 }}&gt;&#10;                    &lt;Box style={{ width: 164 }}&gt;&lt;Text style={{ fontSize: 16, fontWeight: 'bold', color: '#20344B' }}&gt;报告&lt;/Text&gt;&lt;/Box&gt;&#10;                    &lt;Box style={{ flex: 1 }}&gt;&lt;Text style={{ fontSize: 14, color: '#546779', lineHeight: 1.6 }}&gt;source_committed_step、参与者轮次数、对象轮次数&lt;/Text&gt;&lt;/Box&gt;&#10;                &lt;/Box&gt;&#10;                &lt;Box style={{ width: 720, height: 110, background: '#EDF4FC', borderRadius: 10, padding: '0 18px', flexDirection: 'row', alignItems: 'center', gap: 16 }}&gt;&#10;                    &lt;Box style={{ width: 164 }}&gt;&lt;Text style={{ fontSize: 16, fontWeight: 'bold', color: '#276FBF' }}&gt;结果 ZIP 导出&lt;/Text&gt;&lt;/Box&gt;&#10;                    &lt;Box style={{ flex: 1 }}&gt;&lt;Text style={{ fontSize: 14, color: '#546779', lineHeight: 1.6 }}&gt;保存对应边界的新质量报告；质量读取可从提交事实重建，不覆盖旧报告&lt;/Text&gt;&lt;/Box&gt;&#10;                &lt;/Box&gt;&#10;            &lt;/Box&gt;&#10;        &lt;/Box&gt;&#10;&#10;        &lt;Box style={{ width: 1152, height: 72, background: '#F4F7FA', borderRadius: 10, padding: '0 22px', flexDirection: 'row', alignItems: 'center', gap: 14 }}&gt;&#10;            &lt;Box style={{ width: 4, height: 44, background: '#276FBF' }} /&gt;&#10;            &lt;Text style={{ fontSize: 15, color: '#546779', flex: 1, lineHeight: 1.6 }}&gt;已有回归测试检查跨 Attempt 汇总与页面、导出的一致性，但青禾仍须实际完成同样的核对。&lt;/Text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19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2590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核对页面、报告和导出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25908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三处要能互相对上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609600" y="1752600"/>
            <a:ext cx="3810000" cy="1238250"/>
          </a:xfrm>
          <a:prstGeom prst="roundRect">
            <a:avLst>
              <a:gd name="adj" fmla="val 7692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81050" y="2124075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先固定取材边界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81050" y="2371725"/>
            <a:ext cx="3467100" cy="25717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本次取材的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Run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，以及已提交到哪一步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609600" y="3124200"/>
            <a:ext cx="3810000" cy="1714500"/>
          </a:xfrm>
          <a:prstGeom prst="roundRect">
            <a:avLst>
              <a:gd name="adj" fmla="val 5556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81050" y="3609975"/>
            <a:ext cx="3467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CB6B28"/>
                </a:solidFill>
                <a:latin typeface="Microsoft YaHei"/>
                <a:ea typeface="Microsoft YaHei"/>
              </a:rPr>
              <a:t>恢复过的</a:t>
            </a:r>
            <a:r>
              <a:rPr lang="en-US" sz="1200" b="1">
                <a:solidFill>
                  <a:srgbClr val="CB6B28"/>
                </a:solidFill>
                <a:latin typeface="Microsoft YaHei"/>
                <a:ea typeface="Microsoft YaHei"/>
              </a:rPr>
              <a:t xml:space="preserve"> Run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781050" y="3857625"/>
            <a:ext cx="346710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要覆盖此前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的已提交问题；不能因为新的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看起来正常，就丢掉历史告警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4895850" y="1476375"/>
            <a:ext cx="1562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核对位置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6610350" y="1476375"/>
            <a:ext cx="48006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要跟什么对上</a:t>
            </a:r>
            <a:endParaRPr/>
          </a:p>
        </p:txBody>
      </p:sp>
      <p:sp>
        <p:nvSpPr>
          <p:cNvPr id="269" name=""/>
          <p:cNvSpPr/>
          <p:nvPr/>
        </p:nvSpPr>
        <p:spPr>
          <a:xfrm rot="0" flipH="0" flipV="0">
            <a:off x="4724400" y="1800225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0" name="" descr="{&quot;isTemplate&quot;:true,&quot;type&quot;:&quot;text&quot;}"/>
          <p:cNvSpPr txBox="1"/>
          <p:nvPr/>
        </p:nvSpPr>
        <p:spPr>
          <a:xfrm rot="0" flipH="0" flipV="0">
            <a:off x="4895850" y="222885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质量页</a:t>
            </a:r>
            <a:endParaRPr/>
          </a:p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610350" y="220027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问题总数与展开明细，要和参与者、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Step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一一对上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4724400" y="2962275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4895850" y="339090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0344B"/>
                </a:solidFill>
                <a:latin typeface="Microsoft YaHei"/>
                <a:ea typeface="Microsoft YaHei"/>
              </a:rPr>
              <a:t>报告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6610350" y="336232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source_committed_step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、参与者轮次数、对象轮次数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4724400" y="4124325"/>
            <a:ext cx="6858000" cy="1047750"/>
          </a:xfrm>
          <a:prstGeom prst="roundRect">
            <a:avLst>
              <a:gd name="adj" fmla="val 9091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4895850" y="4552950"/>
            <a:ext cx="15621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结果</a:t>
            </a:r>
            <a:r>
              <a:rPr lang="en-US" sz="1200" b="1">
                <a:solidFill>
                  <a:srgbClr val="276FBF"/>
                </a:solidFill>
                <a:latin typeface="Microsoft YaHei"/>
                <a:ea typeface="Microsoft YaHei"/>
              </a:rPr>
              <a:t xml:space="preserve"> ZIP </a:t>
            </a:r>
            <a:r>
              <a:rPr lang="zh-CN" sz="1200" b="1">
                <a:solidFill>
                  <a:srgbClr val="276FBF"/>
                </a:solidFill>
                <a:latin typeface="Microsoft YaHei"/>
                <a:ea typeface="Microsoft YaHei"/>
              </a:rPr>
              <a:t>导出</a:t>
            </a:r>
            <a:endParaRPr/>
          </a:p>
        </p:txBody>
      </p:sp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6610350" y="4524375"/>
            <a:ext cx="4800600" cy="2571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保存对应边界的新质量报告；质量读取可从提交事实重建，不覆盖旧报告</a:t>
            </a:r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609600" y="5324475"/>
            <a:ext cx="10972800" cy="685800"/>
          </a:xfrm>
          <a:prstGeom prst="roundRect">
            <a:avLst>
              <a:gd name="adj" fmla="val 13889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279" name=""/>
          <p:cNvSpPr/>
          <p:nvPr/>
        </p:nvSpPr>
        <p:spPr>
          <a:xfrm rot="0" flipH="0" flipV="0">
            <a:off x="819150" y="5457825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990600" y="5534025"/>
            <a:ext cx="103822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已有回归测试检查跨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汇总与页面、导出的一致性，但青禾仍须实际完成同样的核对。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282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19 / 24</a:t>
            </a:r>
            <a:endParaRPr/>
          </a:p>
        </p:txBody>
      </p:sp>
    </p:spTree>
  </p:cSld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314" name="" descr="&lt;Slide notes={`这里说的是统计单位，很容易被含糊过去。&#10;一次重复读取产生的告警、一次物理模型的重试、一个失败的业务结果，这三样东西分属不同层次：第一条属于行为质量，第二条属于执行过程，第三条属于业务评价。&#10;它们可能互相关联，比如重试多了，读取告警可能就多。但它们不能相加，不能合成一个所谓的「总错误率」。把三个不同单位的东西加起来，得到的数字没有含义。&#10;如果确实要比较两个方案，先规定每种事件怎么计数：是按事实身份，还是按 Attempt，还是按一次业务结果。然后再报告数量、分母和样本范围。&#10;先说清单位，再说数字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6　核对页面、报告和导出&lt;/Text&gt;&#10;            &lt;Text style={{ fontSize: 34, fontWeight: 'bold', color: '#20344B' }}&gt;三种统计单位，不能加成总错误率&lt;/Text&gt;&#10;        &lt;/Box&gt;&#10;    &lt;/Box&gt;&#10;&#10;    &lt;Box style={{ height: 540, flexDirection: 'column', justifyContent: 'center', gap: 20 }}&gt;&#10;&#10;        &lt;Box style={{ flexDirection: 'row', gap: 16 }}&gt;&#10;            &lt;Box style={{ width: 373, height: 220, background: '#EDF4FC', borderRadius: 10, padding: '18px', flexDirection: 'column', gap: 8 }}&gt;&#10;                &lt;Text style={{ fontSize: 14, color: '#276FBF' }}&gt;统计单位 一　行为质量层&lt;/Text&gt;&#10;                &lt;Text style={{ fontSize: 20, fontWeight: 'bold', color: '#20344B' }}&gt;重复读取告警&lt;/Text&gt;&#10;                &lt;Text style={{ fontSize: 14, color: '#546779', lineHeight: 1.6 }}&gt;同一条事实被重复读取所产生的告警；按事实身份计数，跨 Attempt 汇总&lt;/Text&gt;&#10;            &lt;/Box&gt;&#10;            &lt;Box style={{ width: 373, height: 220, background: '#ECF7F2', borderRadius: 10, padding: '18px', flexDirection: 'column', gap: 8 }}&gt;&#10;                &lt;Text style={{ fontSize: 14, color: '#26816B' }}&gt;统计单位 二　执行过程层&lt;/Text&gt;&#10;                &lt;Text style={{ fontSize: 20, fontWeight: 'bold', color: '#20344B' }}&gt;物理模型重试&lt;/Text&gt;&#10;                &lt;Text style={{ fontSize: 14, color: '#546779', lineHeight: 1.6 }}&gt;一次 Attempt 内部对模型发起的重试，和设备、网络或服务返回有关&lt;/Text&gt;&#10;            &lt;/Box&gt;&#10;            &lt;Box style={{ width: 373, height: 220, background: '#FFF4E6', borderRadius: 10, padding: '18px', flexDirection: 'column', gap: 8 }}&gt;&#10;                &lt;Text style={{ fontSize: 14, color: '#CB6B28' }}&gt;统计单位 三　业务评价层&lt;/Text&gt;&#10;                &lt;Text style={{ fontSize: 20, fontWeight: 'bold', color: '#20344B' }}&gt;失败业务结果&lt;/Text&gt;&#10;                &lt;Text style={{ fontSize: 14, color: '#546779', lineHeight: 1.6 }}&gt;对象变化、会话或行动层面没有达成的结果，按业务口径判定&lt;/Text&gt;&#10;            &lt;/Box&gt;&#10;        &lt;/Box&gt;&#10;&#10;        &lt;Box style={{ width: 1152, height: 130, background: '#FFF4E6', borderRadius: 10, padding: '20px 24px', flexDirection: 'row', alignItems: 'center', gap: 16 }}&gt;&#10;            &lt;Box style={{ width: 4, height: 72, background: '#CB6B28' }} /&gt;&#10;            &lt;Box style={{ flex: 1, flexDirection: 'column', gap: 6 }}&gt;&#10;                &lt;Text style={{ fontSize: 19, fontWeight: 'bold', color: '#CB6B28' }}&gt;三种单位可以相关，但不能相加&lt;/Text&gt;&#10;                &lt;Text style={{ fontSize: 16, color: '#546779', lineHeight: 1.65 }}&gt;要比较方案，先规定每种事件的计数单位，再报告数量、分母与样本范围；不要合成一个没有含义的「总错误率」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20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16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3.12.6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核对页面、报告和导出</a:t>
            </a:r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三种统计单位，不能加成总错误率</a:t>
            </a:r>
            <a:endParaRPr/>
          </a:p>
        </p:txBody>
      </p:sp>
      <p:sp>
        <p:nvSpPr>
          <p:cNvPr id="319" name=""/>
          <p:cNvSpPr/>
          <p:nvPr/>
        </p:nvSpPr>
        <p:spPr>
          <a:xfrm rot="0" flipH="0" flipV="0">
            <a:off x="609600" y="1952625"/>
            <a:ext cx="3552825" cy="2095500"/>
          </a:xfrm>
          <a:prstGeom prst="roundRect">
            <a:avLst>
              <a:gd name="adj" fmla="val 4545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781050" y="2124075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统计单位</a:t>
            </a:r>
            <a:r>
              <a:rPr lang="en-US" sz="1050">
                <a:solidFill>
                  <a:srgbClr val="276FBF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一　行为质量层</a:t>
            </a:r>
            <a:endParaRPr/>
          </a:p>
        </p:txBody>
      </p:sp>
      <p:sp>
        <p:nvSpPr>
          <p:cNvPr id="321" name="" descr="{&quot;isTemplate&quot;:true,&quot;type&quot;:&quot;text&quot;}"/>
          <p:cNvSpPr txBox="1"/>
          <p:nvPr/>
        </p:nvSpPr>
        <p:spPr>
          <a:xfrm rot="0" flipH="0" flipV="0">
            <a:off x="781050" y="2362200"/>
            <a:ext cx="3209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重复读取告警</a:t>
            </a:r>
            <a:endParaRPr/>
          </a:p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781050" y="2667000"/>
            <a:ext cx="32099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同一条事实被重复读取所产生的告警；按事实身份计数，跨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汇总</a:t>
            </a:r>
            <a:endParaRPr/>
          </a:p>
        </p:txBody>
      </p:sp>
      <p:sp>
        <p:nvSpPr>
          <p:cNvPr id="323" name=""/>
          <p:cNvSpPr/>
          <p:nvPr/>
        </p:nvSpPr>
        <p:spPr>
          <a:xfrm rot="0" flipH="0" flipV="0">
            <a:off x="4314825" y="1952625"/>
            <a:ext cx="3552825" cy="2095500"/>
          </a:xfrm>
          <a:prstGeom prst="roundRect">
            <a:avLst>
              <a:gd name="adj" fmla="val 4545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24" name="" descr="{&quot;isTemplate&quot;:true,&quot;type&quot;:&quot;text&quot;}"/>
          <p:cNvSpPr txBox="1"/>
          <p:nvPr/>
        </p:nvSpPr>
        <p:spPr>
          <a:xfrm rot="0" flipH="0" flipV="0">
            <a:off x="4486275" y="2124075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统计单位</a:t>
            </a:r>
            <a:r>
              <a:rPr lang="en-US" sz="1050">
                <a:solidFill>
                  <a:srgbClr val="26816B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二　执行过程层</a:t>
            </a:r>
            <a:endParaRPr/>
          </a:p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4486275" y="2362200"/>
            <a:ext cx="3209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物理模型重试</a:t>
            </a:r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4486275" y="2667000"/>
            <a:ext cx="32099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一次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Attempt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内部对模型发起的重试，和设备、网络或服务返回有关</a:t>
            </a:r>
            <a:endParaRPr/>
          </a:p>
        </p:txBody>
      </p:sp>
      <p:sp>
        <p:nvSpPr>
          <p:cNvPr id="327" name=""/>
          <p:cNvSpPr/>
          <p:nvPr/>
        </p:nvSpPr>
        <p:spPr>
          <a:xfrm rot="0" flipH="0" flipV="0">
            <a:off x="8020050" y="1952625"/>
            <a:ext cx="3552825" cy="2095500"/>
          </a:xfrm>
          <a:prstGeom prst="roundRect">
            <a:avLst>
              <a:gd name="adj" fmla="val 4545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28" name="" descr="{&quot;isTemplate&quot;:true,&quot;type&quot;:&quot;text&quot;}"/>
          <p:cNvSpPr txBox="1"/>
          <p:nvPr/>
        </p:nvSpPr>
        <p:spPr>
          <a:xfrm rot="0" flipH="0" flipV="0">
            <a:off x="8191500" y="2124075"/>
            <a:ext cx="32099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统计单位</a:t>
            </a:r>
            <a:r>
              <a:rPr lang="en-US" sz="1050">
                <a:solidFill>
                  <a:srgbClr val="CB6B28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1050">
                <a:solidFill>
                  <a:srgbClr val="CB6B28"/>
                </a:solidFill>
                <a:latin typeface="Microsoft YaHei"/>
                <a:ea typeface="Microsoft YaHei"/>
              </a:rPr>
              <a:t>三　业务评价层</a:t>
            </a:r>
            <a:endParaRPr/>
          </a:p>
        </p:txBody>
      </p:sp>
      <p:sp>
        <p:nvSpPr>
          <p:cNvPr id="329" name="" descr="{&quot;isTemplate&quot;:true,&quot;type&quot;:&quot;text&quot;}"/>
          <p:cNvSpPr txBox="1"/>
          <p:nvPr/>
        </p:nvSpPr>
        <p:spPr>
          <a:xfrm rot="0" flipH="0" flipV="0">
            <a:off x="8191500" y="2362200"/>
            <a:ext cx="320992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失败业务结果</a:t>
            </a:r>
            <a:endParaRPr/>
          </a:p>
        </p:txBody>
      </p:sp>
      <p:sp>
        <p:nvSpPr>
          <p:cNvPr id="330" name="" descr="{&quot;isTemplate&quot;:true,&quot;type&quot;:&quot;text&quot;}"/>
          <p:cNvSpPr txBox="1"/>
          <p:nvPr/>
        </p:nvSpPr>
        <p:spPr>
          <a:xfrm rot="0" flipH="0" flipV="0">
            <a:off x="8191500" y="2667000"/>
            <a:ext cx="3209925" cy="5143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对象变化、会话或行动层面没有达成的结果，按业务口径判定</a:t>
            </a:r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609600" y="4238625"/>
            <a:ext cx="10972800" cy="1238250"/>
          </a:xfrm>
          <a:prstGeom prst="roundRect">
            <a:avLst>
              <a:gd name="adj" fmla="val 769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32" name=""/>
          <p:cNvSpPr/>
          <p:nvPr/>
        </p:nvSpPr>
        <p:spPr>
          <a:xfrm rot="0" flipH="0" flipV="0">
            <a:off x="838200" y="4514850"/>
            <a:ext cx="38100" cy="6858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028700" y="4572000"/>
            <a:ext cx="1032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三种单位可以相关，但不能相加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1028700" y="4848225"/>
            <a:ext cx="10325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要比较方案，先规定每种事件的计数单位，再报告数量、分母与样本范围；不要合成一个没有含义的「总错误率」。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20 / 24</a:t>
            </a:r>
            <a:endParaRPr/>
          </a:p>
        </p:txBody>
      </p:sp>
    </p:spTree>
  </p:cSld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337" name="" descr="&lt;Slide notes={`如果我们想说明某一个改动到底有没有帮助，就必须做对照。&#10;举个例子：我调整了周宁说明开放日安排的方式，然后想说「更清晰的通知改善了访客行为」。这句话要成立，前提是保留基线，并且只改变和这个说法相关的那一个条件。&#10;地图、起点、观察窗口、模型、预算，这些东西如果同时动了，差异到底来自哪里就说不清楚了。你可能改的是通知方式，但真正起作用的是换了模型。&#10;还有一点：一次运行的结果不能当成规律。多次运行的时候，要报告分布、失败情况和成本，而不是只挑出最顺畅的那一条，给它配一个故事。&#10;保留基线、只改一处、报告多次结果，这三件事合起来，才叫用对照说明改动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7　用对照说明改动是否有帮助&lt;/Text&gt;&#10;            &lt;Text style={{ fontSize: 34, fontWeight: 'bold', color: '#20344B' }}&gt;保留基线，只改变一处&lt;/Text&gt;&#10;        &lt;/Box&gt;&#10;    &lt;/Box&gt;&#10;&#10;    &lt;Box style={{ height: 540, flexDirection: 'column', justifyContent: 'center', gap: 20 }}&gt;&#10;&#10;        &lt;Box style={{ flexDirection: 'row', gap: 32, alignItems: 'center' }}&gt;&#10;            &lt;Box style={{ width: 518, height: 240, background: '#EDF4FC', borderRadius: 10, padding: '20px 22px', flexDirection: 'column', gap: 10, justifyContent: 'center' }}&gt;&#10;                &lt;Text style={{ fontSize: 14, color: '#276FBF' }}&gt;基线&lt;/Text&gt;&#10;                &lt;Text style={{ fontSize: 20, fontWeight: 'bold', color: '#20344B', lineHeight: 1.4 }}&gt;周宁原来的说明方式&lt;/Text&gt;&#10;                &lt;Text style={{ fontSize: 15, color: '#546779', lineHeight: 1.65 }}&gt;地图、起点、观察窗口、模型与预算，这些条件全部保持不动，作为对照的基准。&lt;/Text&gt;&#10;            &lt;/Box&gt;&#10;            &lt;Box style={{ width: 602, height: 240, background: '#ECF7F2', borderRadius: 10, padding: '20px 22px', flexDirection: 'column', gap: 10, justifyContent: 'center' }}&gt;&#10;                &lt;Text style={{ fontSize: 14, color: '#26816B' }}&gt;只改变这一处&lt;/Text&gt;&#10;                &lt;Text style={{ fontSize: 20, fontWeight: 'bold', color: '#26816B', lineHeight: 1.4 }}&gt;说明方式：更清晰的通知&lt;/Text&gt;&#10;                &lt;Text style={{ fontSize: 15, color: '#546779', lineHeight: 1.65 }}&gt;被检验的条件只有一个，其余条件与基线一致；这样差异才有可能归到它身上。&lt;/Text&gt;&#10;            &lt;/Box&gt;&#10;        &lt;/Box&gt;&#10;&#10;        &lt;Box style={{ width: 1152, height: 110, background: '#FFF4E6', borderRadius: 10, padding: '18px 24px', flexDirection: 'row', alignItems: 'center', gap: 16 }}&gt;&#10;            &lt;Box style={{ width: 4, height: 60, background: '#CB6B28' }} /&gt;&#10;            &lt;Box style={{ flex: 1, flexDirection: 'column', gap: 6 }}&gt;&#10;                &lt;Text style={{ fontSize: 19, fontWeight: 'bold', color: '#CB6B28' }}&gt;同时改好几处，差异就无法归因&lt;/Text&gt;&#10;                &lt;Text style={{ fontSize: 16, color: '#546779', lineHeight: 1.65 }}&gt;多次运行时，报告分布、失败与成本，而不是只选取一条最顺畅的故事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21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40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238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用对照说明改动是否有帮助</a:t>
            </a:r>
            <a:endParaRPr/>
          </a:p>
        </p:txBody>
      </p:sp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2385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保留基线，只改变一处</a:t>
            </a:r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609600" y="1952625"/>
            <a:ext cx="4933950" cy="2286000"/>
          </a:xfrm>
          <a:prstGeom prst="roundRect">
            <a:avLst>
              <a:gd name="adj" fmla="val 4167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819150" y="2476500"/>
            <a:ext cx="4514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76FBF"/>
                </a:solidFill>
                <a:latin typeface="Microsoft YaHei"/>
                <a:ea typeface="Microsoft YaHei"/>
              </a:rPr>
              <a:t>基线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819150" y="2733675"/>
            <a:ext cx="45148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0344B"/>
                </a:solidFill>
                <a:latin typeface="Microsoft YaHei"/>
                <a:ea typeface="Microsoft YaHei"/>
              </a:rPr>
              <a:t>周宁原来的说明方式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819150" y="3152775"/>
            <a:ext cx="4514850" cy="5715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地图、起点、观察窗口、模型与预算，这些条件全部保持不动，作为对照的基准。</a:t>
            </a:r>
            <a:endParaRPr/>
          </a:p>
        </p:txBody>
      </p:sp>
      <p:sp>
        <p:nvSpPr>
          <p:cNvPr id="346" name=""/>
          <p:cNvSpPr/>
          <p:nvPr/>
        </p:nvSpPr>
        <p:spPr>
          <a:xfrm rot="0" flipH="0" flipV="0">
            <a:off x="5848350" y="1952625"/>
            <a:ext cx="5734050" cy="2286000"/>
          </a:xfrm>
          <a:prstGeom prst="roundRect">
            <a:avLst>
              <a:gd name="adj" fmla="val 4167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6057900" y="2619375"/>
            <a:ext cx="53149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6816B"/>
                </a:solidFill>
                <a:latin typeface="Microsoft YaHei"/>
                <a:ea typeface="Microsoft YaHei"/>
              </a:rPr>
              <a:t>只改变这一处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6057900" y="2876550"/>
            <a:ext cx="531495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说明方式：更清晰的通知</a:t>
            </a:r>
            <a:endParaRPr/>
          </a:p>
        </p:txBody>
      </p:sp>
      <p:sp>
        <p:nvSpPr>
          <p:cNvPr id="349" name="" descr="{&quot;isTemplate&quot;:true,&quot;type&quot;:&quot;text&quot;}"/>
          <p:cNvSpPr txBox="1"/>
          <p:nvPr/>
        </p:nvSpPr>
        <p:spPr>
          <a:xfrm rot="0" flipH="0" flipV="0">
            <a:off x="6057900" y="3295650"/>
            <a:ext cx="5314950" cy="28575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被检验的条件只有一个，其余条件与基线一致；这样差异才有可能归到它身上。</a:t>
            </a:r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609600" y="44291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51" name=""/>
          <p:cNvSpPr/>
          <p:nvPr/>
        </p:nvSpPr>
        <p:spPr>
          <a:xfrm rot="0" flipH="0" flipV="0">
            <a:off x="838200" y="46672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1028700" y="4667250"/>
            <a:ext cx="1032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同时改好几处，差异就无法归因</a:t>
            </a:r>
            <a:endParaRPr/>
          </a:p>
        </p:txBody>
      </p:sp>
      <p:sp>
        <p:nvSpPr>
          <p:cNvPr id="353" name="" descr="{&quot;isTemplate&quot;:true,&quot;type&quot;:&quot;text&quot;}"/>
          <p:cNvSpPr txBox="1"/>
          <p:nvPr/>
        </p:nvSpPr>
        <p:spPr>
          <a:xfrm rot="0" flipH="0" flipV="0">
            <a:off x="1028700" y="4943475"/>
            <a:ext cx="10325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多次运行时，报告分布、失败与成本，而不是只选取一条最顺畅的故事。</a:t>
            </a:r>
            <a:endParaRPr/>
          </a:p>
        </p:txBody>
      </p:sp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21 / 24</a:t>
            </a:r>
            <a:endParaRPr/>
          </a:p>
        </p:txBody>
      </p:sp>
    </p:spTree>
  </p:cSld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356" name="" descr="&lt;Slide notes={`就算对照做对了，结论也要说清它能推多远。&#10;如果统计显示，通知更正之后访客的行动更合理，这句话支持的其实是一件事：在我们当前的设定和模型条件下，出现了一次可以复现的仿真观察。它是站得住的。&#10;但它推不出真实世界。青禾里的四个人物是虚构的，他们没有代表真实社区的抽样依据。所以「真实居民一定也会这样行动」这种结论，我们没有资格下。&#10;我在写评分表的时候会把条件和结论绑在一起：这条分数是在什么设定、什么模型、什么窗口下得到的。&#10;仿真的价值在于，它让我们能在受控条件下反复观察一件事；它的边界也同样清楚，结论只对应当前设定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7　用对照说明改动是否有帮助&lt;/Text&gt;&#10;            &lt;Text style={{ fontSize: 34, fontWeight: 'bold', color: '#20344B' }}&gt;仿真里的观察，能推多远&lt;/Text&gt;&#10;        &lt;/Box&gt;&#10;    &lt;/Box&gt;&#10;&#10;    &lt;Box style={{ height: 540, flexDirection: 'column', justifyContent: 'center', gap: 16 }}&gt;&#10;&#10;        &lt;Box style={{ width: 1152, height: 170, background: '#ECF7F2', borderRadius: 10, padding: '18px 24px', flexDirection: 'row', alignItems: 'center', gap: 18 }}&gt;&#10;            &lt;Box style={{ width: 4, height: 80, background: '#26816B' }} /&gt;&#10;            &lt;Box style={{ flex: 1, flexDirection: 'column', gap: 6 }}&gt;&#10;                &lt;Text style={{ fontSize: 18, fontWeight: 'bold', color: '#26816B' }}&gt;这条结论支持什么&lt;/Text&gt;&#10;                &lt;Text style={{ fontSize: 16, color: '#546779', lineHeight: 1.65 }}&gt;在当前的设定与模型条件下，通知更正之后访客的行动更合理；这是一次可以复现的仿真观察。&lt;/Text&gt;&#10;            &lt;/Box&gt;&#10;        &lt;/Box&gt;&#10;&#10;        &lt;Box style={{ width: 1152, height: 210, background: '#FFF4E6', borderRadius: 10, padding: '18px 24px', flexDirection: 'row', alignItems: 'center', gap: 18 }}&gt;&#10;            &lt;Box style={{ width: 4, height: 110, background: '#CB6B28' }} /&gt;&#10;            &lt;Box style={{ flex: 1, flexDirection: 'column', gap: 6 }}&gt;&#10;                &lt;Text style={{ fontSize: 18, fontWeight: 'bold', color: '#CB6B28' }}&gt;这条结论不能推出什么&lt;/Text&gt;&#10;                &lt;Text style={{ fontSize: 16, color: '#546779', lineHeight: 1.65 }}&gt;四名虚构人物没有代表真实社区的抽样依据，不足以推断真实居民一定会怎样行动。即使统计显示差别，也只支持当前设定和模型条件下的仿真观察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22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58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3562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用对照说明改动是否有帮助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35623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仿真里的观察，能推多远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609600" y="1828800"/>
            <a:ext cx="10972800" cy="1619250"/>
          </a:xfrm>
          <a:prstGeom prst="roundRect">
            <a:avLst>
              <a:gd name="adj" fmla="val 5882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362" name=""/>
          <p:cNvSpPr/>
          <p:nvPr/>
        </p:nvSpPr>
        <p:spPr>
          <a:xfrm rot="0" flipH="0" flipV="0">
            <a:off x="838200" y="2257425"/>
            <a:ext cx="38100" cy="7620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1047750" y="2352675"/>
            <a:ext cx="1030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26816B"/>
                </a:solidFill>
                <a:latin typeface="Microsoft YaHei"/>
                <a:ea typeface="Microsoft YaHei"/>
              </a:rPr>
              <a:t>这条结论支持什么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1047750" y="2619375"/>
            <a:ext cx="103060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在当前的设定与模型条件下，通知更正之后访客的行动更合理；这是一次可以复现的仿真观察。</a:t>
            </a:r>
            <a:endParaRPr/>
          </a:p>
        </p:txBody>
      </p:sp>
      <p:sp>
        <p:nvSpPr>
          <p:cNvPr id="365" name=""/>
          <p:cNvSpPr/>
          <p:nvPr/>
        </p:nvSpPr>
        <p:spPr>
          <a:xfrm rot="0" flipH="0" flipV="0">
            <a:off x="609600" y="3600450"/>
            <a:ext cx="10972800" cy="2000250"/>
          </a:xfrm>
          <a:prstGeom prst="roundRect">
            <a:avLst>
              <a:gd name="adj" fmla="val 4762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66" name=""/>
          <p:cNvSpPr/>
          <p:nvPr/>
        </p:nvSpPr>
        <p:spPr>
          <a:xfrm rot="0" flipH="0" flipV="0">
            <a:off x="838200" y="4076700"/>
            <a:ext cx="38100" cy="104775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67" name="" descr="{&quot;isTemplate&quot;:true,&quot;type&quot;:&quot;text&quot;}"/>
          <p:cNvSpPr txBox="1"/>
          <p:nvPr/>
        </p:nvSpPr>
        <p:spPr>
          <a:xfrm rot="0" flipH="0" flipV="0">
            <a:off x="1047750" y="4314825"/>
            <a:ext cx="103060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CB6B28"/>
                </a:solidFill>
                <a:latin typeface="Microsoft YaHei"/>
                <a:ea typeface="Microsoft YaHei"/>
              </a:rPr>
              <a:t>这条结论不能推出什么</a:t>
            </a:r>
            <a:endParaRPr/>
          </a:p>
        </p:txBody>
      </p:sp>
      <p:sp>
        <p:nvSpPr>
          <p:cNvPr id="368" name="" descr="{&quot;isTemplate&quot;:true,&quot;type&quot;:&quot;text&quot;}"/>
          <p:cNvSpPr txBox="1"/>
          <p:nvPr/>
        </p:nvSpPr>
        <p:spPr>
          <a:xfrm rot="0" flipH="0" flipV="0">
            <a:off x="1047750" y="4581525"/>
            <a:ext cx="1030605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四名虚构人物没有代表真实社区的抽样依据，不足以推断真实居民一定会怎样行动。即使统计显示差别，也只支持当前设定和模型条件下的仿真观察。</a:t>
            </a:r>
            <a:endParaRPr/>
          </a:p>
        </p:txBody>
      </p:sp>
      <p:sp>
        <p:nvSpPr>
          <p:cNvPr id="369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70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22 / 24</a:t>
            </a:r>
            <a:endParaRPr/>
          </a:p>
        </p:txBody>
      </p:sp>
    </p:spTree>
  </p:cSld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371" name="" descr="&lt;Slide notes={`最后收一下这一节真正要交出去的东西。&#10;第一件是评分规则。它要在运行之前就写好，包含指标的分子分母、观察窗口，以及评分的尺度。规则写在前面，才有资格叫评价。&#10;第二件是结果表。运行之后填，每一条结果都带上来源：谁评的、按什么规则评的、依据来自哪里、什么时候记录的。没有来源的分数，别人没法核对。&#10;第三件是没运行时的做法：只交付规则和一张空表，所有分数保留未填写。这看起来像是没干活，其实是关键的一步。&#10;我一直想强调，评价是用来检验实验的，不是给故事结尾补上一个成功标签。规则先于结果，这条顺序不能反过来。`} style={{ width: 1280, height: 720, background: '#FFFFFF', flexDirection: 'column', padding: '20px 64px' }}&gt;&#10;&#10;    &lt;Box style={{ height: 100, flexDirection: 'row', alignItems: 'center', gap: 20 }}&gt;&#10;        &lt;Box style={{ width: 4, height: 44, background: '#276FBF' }} /&gt;&#10;        &lt;Box style={{ flexDirection: 'column', gap: 4 }}&gt;&#10;            &lt;Text style={{ fontSize: 14, color: '#546779' }}&gt;3.12.7　用对照说明改动是否有帮助&lt;/Text&gt;&#10;            &lt;Text style={{ fontSize: 34, fontWeight: 'bold', color: '#20344B' }}&gt;交付一份规则，和一张带来源的表&lt;/Text&gt;&#10;        &lt;/Box&gt;&#10;    &lt;/Box&gt;&#10;&#10;    &lt;Box style={{ height: 540, flexDirection: 'column', justifyContent: 'center', gap: 12 }}&gt;&#10;&#10;        &lt;Box style={{ flexDirection: 'row', height: 30, padding: '0 18px', gap: 16, alignItems: 'center' }}&gt;&#10;            &lt;Box style={{ width: 4 }} /&gt;&#10;            &lt;Box style={{ width: 266 }}&gt;&lt;Text style={{ fontSize: 14, color: '#546779' }}&gt;交付物&lt;/Text&gt;&lt;/Box&gt;&#10;            &lt;Box style={{ flex: 1 }}&gt;&lt;Text style={{ fontSize: 14, color: '#546779' }}&gt;内容&lt;/Text&gt;&lt;/Box&gt;&#10;        &lt;/Box&gt;&#10;&#10;        &lt;Box style={{ flexDirection: 'row', height: 106, background: '#F4F7FA', borderRadius: 10, padding: '0 18px', alignItems: 'center', gap: 16 }}&gt;&#10;            &lt;Box style={{ width: 4, height: 56, background: '#276FBF' }} /&gt;&#10;            &lt;Box style={{ width: 266 }}&gt;&lt;Text style={{ fontSize: 17, fontWeight: 'bold', color: '#276FBF' }}&gt;评分规则（运行前）&lt;/Text&gt;&lt;/Box&gt;&#10;            &lt;Box style={{ flex: 1 }}&gt;&lt;Text style={{ fontSize: 15, color: '#20344B', lineHeight: 1.6 }}&gt;指标口径、分母、观察窗口与评分尺度，全部在运行前定义好&lt;/Text&gt;&lt;/Box&gt;&#10;        &lt;/Box&gt;&#10;&#10;        &lt;Box style={{ flexDirection: 'row', height: 106, background: '#F4F7FA', borderRadius: 10, padding: '0 18px', alignItems: 'center', gap: 16 }}&gt;&#10;            &lt;Box style={{ width: 4, height: 56, background: '#26816B' }} /&gt;&#10;            &lt;Box style={{ width: 266 }}&gt;&lt;Text style={{ fontSize: 17, fontWeight: 'bold', color: '#26816B' }}&gt;结果表（运行后）&lt;/Text&gt;&lt;/Box&gt;&#10;            &lt;Box style={{ flex: 1 }}&gt;&lt;Text style={{ fontSize: 15, color: '#20344B', lineHeight: 1.6 }}&gt;带来源的结果表：标注评分者、规则、来源与时间&lt;/Text&gt;&lt;/Box&gt;&#10;        &lt;/Box&gt;&#10;&#10;        &lt;Box style={{ flexDirection: 'row', height: 106, background: '#FFF4E6', borderRadius: 10, padding: '0 18px', alignItems: 'center', gap: 16 }}&gt;&#10;            &lt;Box style={{ width: 4, height: 56, background: '#CB6B28' }} /&gt;&#10;            &lt;Box style={{ width: 266 }}&gt;&lt;Text style={{ fontSize: 17, fontWeight: 'bold', color: '#CB6B28' }}&gt;尚未运行时&lt;/Text&gt;&lt;/Box&gt;&#10;            &lt;Box style={{ flex: 1 }}&gt;&lt;Text style={{ fontSize: 15, color: '#20344B', lineHeight: 1.6 }}&gt;只交付规则和空表，所有分数保留未填写&lt;/Text&gt;&lt;/Box&gt;&#10;        &lt;/Box&gt;&#10;&#10;        &lt;Box style={{ width: 1152, height: 110, background: '#FFF4E6', borderRadius: 10, padding: '18px 24px', flexDirection: 'row', alignItems: 'center', gap: 16 }}&gt;&#10;            &lt;Box style={{ width: 4, height: 60, background: '#CB6B28' }} /&gt;&#10;            &lt;Box style={{ flex: 1, flexDirection: 'column', gap: 6 }}&gt;&#10;                &lt;Text style={{ fontSize: 19, fontWeight: 'bold', color: '#CB6B28' }}&gt;规则先于结果&lt;/Text&gt;&#10;                &lt;Text style={{ fontSize: 16, color: '#546779', lineHeight: 1.65 }}&gt;评价是用来检验实验的，而不是替故事结尾补上一个成功标签。&lt;/Text&gt;&#10;            &lt;/Box&gt;&#10;        &lt;/Box&gt;&#10;&#10;    &lt;/Box&gt;&#10;&#10;    &lt;Box style={{ height: 40, flexDirection: 'row', justifyContent: 'space-between', alignItems: 'center' }}&gt;&#10;        &lt;Text style={{ fontSize: 14, color: '#546779' }}&gt;3.12 业务指标、行为质量与 Evaluator&lt;/Text&gt;&#10;        &lt;Text style={{ fontSize: 14, color: '#546779' }}&gt;23 / 24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73" name=""/>
          <p:cNvSpPr/>
          <p:nvPr/>
        </p:nvSpPr>
        <p:spPr>
          <a:xfrm rot="0" flipH="0" flipV="0">
            <a:off x="609600" y="457200"/>
            <a:ext cx="38100" cy="419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74" name="" descr="{&quot;isTemplate&quot;:true,&quot;type&quot;:&quot;text&quot;}"/>
          <p:cNvSpPr txBox="1"/>
          <p:nvPr/>
        </p:nvSpPr>
        <p:spPr>
          <a:xfrm rot="0" flipH="0" flipV="0">
            <a:off x="838200" y="371475"/>
            <a:ext cx="485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3.12.7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　用对照说明改动是否有帮助</a:t>
            </a:r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838200" y="571500"/>
            <a:ext cx="485775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20344B"/>
                </a:solidFill>
                <a:latin typeface="Microsoft YaHei"/>
                <a:ea typeface="Microsoft YaHei"/>
              </a:rPr>
              <a:t>交付一份规则，和一张带来源的表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971550" y="1371600"/>
            <a:ext cx="25336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交付物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3657600" y="1371600"/>
            <a:ext cx="775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内容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609600" y="170497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79" name=""/>
          <p:cNvSpPr/>
          <p:nvPr/>
        </p:nvSpPr>
        <p:spPr>
          <a:xfrm rot="0" flipH="0" flipV="0">
            <a:off x="781050" y="1943100"/>
            <a:ext cx="38100" cy="5334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380" name="" descr="{&quot;isTemplate&quot;:true,&quot;type&quot;:&quot;text&quot;}"/>
          <p:cNvSpPr txBox="1"/>
          <p:nvPr/>
        </p:nvSpPr>
        <p:spPr>
          <a:xfrm rot="0" flipH="0" flipV="0">
            <a:off x="971550" y="211455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76FBF"/>
                </a:solidFill>
                <a:latin typeface="Microsoft YaHei"/>
                <a:ea typeface="Microsoft YaHei"/>
              </a:rPr>
              <a:t>评分规则（运行前）</a:t>
            </a:r>
            <a:endParaRPr/>
          </a:p>
        </p:txBody>
      </p:sp>
      <p:sp>
        <p:nvSpPr>
          <p:cNvPr id="381" name="" descr="{&quot;isTemplate&quot;:true,&quot;type&quot;:&quot;text&quot;}"/>
          <p:cNvSpPr txBox="1"/>
          <p:nvPr/>
        </p:nvSpPr>
        <p:spPr>
          <a:xfrm rot="0" flipH="0" flipV="0">
            <a:off x="3657600" y="2076450"/>
            <a:ext cx="7753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指标口径、分母、观察窗口与评分尺度，全部在运行前定义好</a:t>
            </a:r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609600" y="282892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4F7FA"/>
          </a:solidFill>
          <a:ln/>
        </p:spPr>
        <p:txBody>
          <a:bodyPr/>
          <a:p/>
        </p:txBody>
      </p:sp>
      <p:sp>
        <p:nvSpPr>
          <p:cNvPr id="383" name=""/>
          <p:cNvSpPr/>
          <p:nvPr/>
        </p:nvSpPr>
        <p:spPr>
          <a:xfrm rot="0" flipH="0" flipV="0">
            <a:off x="781050" y="3067050"/>
            <a:ext cx="38100" cy="533400"/>
          </a:xfrm>
          <a:prstGeom prst="rect">
            <a:avLst/>
          </a:prstGeom>
          <a:solidFill>
            <a:srgbClr val="26816B"/>
          </a:solidFill>
          <a:ln/>
        </p:spPr>
        <p:txBody>
          <a:bodyPr/>
          <a:p/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971550" y="323850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26816B"/>
                </a:solidFill>
                <a:latin typeface="Microsoft YaHei"/>
                <a:ea typeface="Microsoft YaHei"/>
              </a:rPr>
              <a:t>结果表（运行后）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3657600" y="3200400"/>
            <a:ext cx="7753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带来源的结果表：标注评分者、规则、来源与时间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609600" y="3952875"/>
            <a:ext cx="10972800" cy="1009650"/>
          </a:xfrm>
          <a:prstGeom prst="roundRect">
            <a:avLst>
              <a:gd name="adj" fmla="val 9434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87" name=""/>
          <p:cNvSpPr/>
          <p:nvPr/>
        </p:nvSpPr>
        <p:spPr>
          <a:xfrm rot="0" flipH="0" flipV="0">
            <a:off x="781050" y="4191000"/>
            <a:ext cx="38100" cy="5334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88" name="" descr="{&quot;isTemplate&quot;:true,&quot;type&quot;:&quot;text&quot;}"/>
          <p:cNvSpPr txBox="1"/>
          <p:nvPr/>
        </p:nvSpPr>
        <p:spPr>
          <a:xfrm rot="0" flipH="0" flipV="0">
            <a:off x="971550" y="4362450"/>
            <a:ext cx="25336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CB6B28"/>
                </a:solidFill>
                <a:latin typeface="Microsoft YaHei"/>
                <a:ea typeface="Microsoft YaHei"/>
              </a:rPr>
              <a:t>尚未运行时</a:t>
            </a:r>
            <a:endParaRPr/>
          </a:p>
        </p:txBody>
      </p:sp>
      <p:sp>
        <p:nvSpPr>
          <p:cNvPr id="389" name="" descr="{&quot;isTemplate&quot;:true,&quot;type&quot;:&quot;text&quot;}"/>
          <p:cNvSpPr txBox="1"/>
          <p:nvPr/>
        </p:nvSpPr>
        <p:spPr>
          <a:xfrm rot="0" flipH="0" flipV="0">
            <a:off x="3657600" y="4324350"/>
            <a:ext cx="77533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20344B"/>
                </a:solidFill>
                <a:latin typeface="Microsoft YaHei"/>
                <a:ea typeface="Microsoft YaHei"/>
              </a:rPr>
              <a:t>只交付规则和空表，所有分数保留未填写</a:t>
            </a:r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609600" y="5076825"/>
            <a:ext cx="10972800" cy="1047750"/>
          </a:xfrm>
          <a:prstGeom prst="roundRect">
            <a:avLst>
              <a:gd name="adj" fmla="val 9091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391" name=""/>
          <p:cNvSpPr/>
          <p:nvPr/>
        </p:nvSpPr>
        <p:spPr>
          <a:xfrm rot="0" flipH="0" flipV="0">
            <a:off x="838200" y="5314950"/>
            <a:ext cx="38100" cy="571500"/>
          </a:xfrm>
          <a:prstGeom prst="rect">
            <a:avLst/>
          </a:prstGeom>
          <a:solidFill>
            <a:srgbClr val="CB6B28"/>
          </a:solidFill>
          <a:ln/>
        </p:spPr>
        <p:txBody>
          <a:bodyPr/>
          <a:p/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1028700" y="5314950"/>
            <a:ext cx="103251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CB6B28"/>
                </a:solidFill>
                <a:latin typeface="Microsoft YaHei"/>
                <a:ea typeface="Microsoft YaHei"/>
              </a:rPr>
              <a:t>规则先于结果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1028700" y="5591175"/>
            <a:ext cx="10325100" cy="3048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评价是用来检验实验的，而不是替故事结尾补上一个成功标签。</a:t>
            </a:r>
            <a:endParaRPr/>
          </a:p>
        </p:txBody>
      </p:sp>
      <p:sp>
        <p:nvSpPr>
          <p:cNvPr id="394" name="" descr="{&quot;isTemplate&quot;:true,&quot;type&quot;:&quot;text&quot;}"/>
          <p:cNvSpPr txBox="1"/>
          <p:nvPr/>
        </p:nvSpPr>
        <p:spPr>
          <a:xfrm rot="0" flipH="0" flipV="0">
            <a:off x="609600" y="6400800"/>
            <a:ext cx="22764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050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95" name="" descr="{&quot;isTemplate&quot;:true,&quot;type&quot;:&quot;text&quot;}"/>
          <p:cNvSpPr txBox="1"/>
          <p:nvPr/>
        </p:nvSpPr>
        <p:spPr>
          <a:xfrm rot="0" flipH="0" flipV="0">
            <a:off x="11125200" y="6400800"/>
            <a:ext cx="457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546779"/>
                </a:solidFill>
                <a:latin typeface="Microsoft YaHei"/>
                <a:ea typeface="Microsoft YaHei"/>
              </a:rPr>
              <a:t>23 / 24</a:t>
            </a:r>
            <a:endParaRPr/>
          </a:p>
        </p:txBody>
      </p:sp>
    </p:spTree>
  </p:cSld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396" name="" descr="&lt;Slide notes={`把这一节收成三句话。&#10;第一句，三层分开报。执行状态、行为质量、业务成效回答的是三个不同的问题，它们可以互相解释，但不能互相替代；没执行的评价就保持未执行，不写成通过。&#10;第二句，指标先定口径。分母是谁、窗口到哪一步、什么算获知，这些都要在运行之前定下来，事后补的口径不叫口径。&#10;第三句，对照说明改动。保留基线，一次只改变一处；即使统计显示出了差别，也只支持当前的设定和模型条件，推不到真实社区。&#10;下一节我们去看导出与迁移，区分资源包、实验包、Run 包和普通结果 ZIP。`} style={{ width: 1280, height: 720, background: '#FFFFFF', flexDirection: 'column', padding: '20px 64px' }}&gt;&#10;&#10;    &lt;Box style={{ height: 640, flexDirection: 'column', justifyContent: 'center', gap: 16 }}&gt;&#10;&#10;        &lt;Text style={{ fontSize: 15, color: '#546779' }}&gt;3.12 业务指标、行为质量与 Evaluator&lt;/Text&gt;&#10;&#10;        &lt;Text style={{ fontSize: 56, fontWeight: 'bold', color: '#20344B', lineHeight: 1.15 }}&gt;记住三件事&lt;/Text&gt;&#10;&#10;        &lt;Box style={{ width: 72, height: 4, background: '#276FBF', marginBottom: 6 }} /&gt;&#10;&#10;        &lt;Box style={{ width: 1152, height: 100, background: '#EDF4FC', borderRadius: 10, padding: '0 22px', flexDirection: 'row', alignItems: 'center', gap: 18 }}&gt;&#10;            &lt;Text style={{ fontSize: 22, fontWeight: 'bold', color: '#276FBF' }}&gt;三层分开报&lt;/Text&gt;&#10;            &lt;Text style={{ fontSize: 16, color: '#546779', flex: 1 }}&gt;执行状态、行为质量、业务成效可以互相解释，不能互相替代；未执行就是未执行。&lt;/Text&gt;&#10;        &lt;/Box&gt;&#10;&#10;        &lt;Box style={{ flexDirection: 'row', gap: 20 }}&gt;&#10;            &lt;Box style={{ width: 566, height: 100, background: '#FFF4E6', borderRadius: 10, padding: '0 22px', flexDirection: 'column', gap: 4, justifyContent: 'center' }}&gt;&#10;                &lt;Text style={{ fontSize: 20, fontWeight: 'bold', color: '#CB6B28' }}&gt;指标先定口径&lt;/Text&gt;&#10;                &lt;Text style={{ fontSize: 15, color: '#546779' }}&gt;分母、窗口与获知证据在运行前固定，事后不补。&lt;/Text&gt;&#10;            &lt;/Box&gt;&#10;            &lt;Box style={{ width: 566, height: 100, background: '#ECF7F2', borderRadius: 10, padding: '0 22px', flexDirection: 'column', gap: 4, justifyContent: 'center' }}&gt;&#10;                &lt;Text style={{ fontSize: 20, fontWeight: 'bold', color: '#26816B' }}&gt;对照说明改动&lt;/Text&gt;&#10;                &lt;Text style={{ fontSize: 15, color: '#546779' }}&gt;保留基线，只改变一处；仿真观察推不到真实社区。&lt;/Text&gt;&#10;            &lt;/Box&gt;&#10;        &lt;/Box&gt;&#10;&#10;        &lt;Text style={{ fontSize: 15, color: '#546779', marginTop: 8 }}&gt;下一节：导出、迁移与离线回放 —— 区分资源包、实验包、Run 包与结果 ZIP&lt;/Text&gt;&#10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98" name="" descr="{&quot;isTemplate&quot;:true,&quot;type&quot;:&quot;text&quot;}"/>
          <p:cNvSpPr txBox="1"/>
          <p:nvPr/>
        </p:nvSpPr>
        <p:spPr>
          <a:xfrm rot="0" flipH="0" flipV="0">
            <a:off x="609600" y="12763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3.12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业务指标、行为质量与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Evaluator</a:t>
            </a:r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609600" y="1600200"/>
            <a:ext cx="10972800" cy="74295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200" b="1">
                <a:solidFill>
                  <a:srgbClr val="20344B"/>
                </a:solidFill>
                <a:latin typeface="Microsoft YaHei"/>
                <a:ea typeface="Microsoft YaHei"/>
              </a:rPr>
              <a:t>记住三件事</a:t>
            </a:r>
            <a:endParaRPr/>
          </a:p>
        </p:txBody>
      </p:sp>
      <p:sp>
        <p:nvSpPr>
          <p:cNvPr id="400" name=""/>
          <p:cNvSpPr/>
          <p:nvPr/>
        </p:nvSpPr>
        <p:spPr>
          <a:xfrm rot="0" flipH="0" flipV="0">
            <a:off x="609600" y="2495550"/>
            <a:ext cx="685800" cy="38100"/>
          </a:xfrm>
          <a:prstGeom prst="rect">
            <a:avLst/>
          </a:prstGeom>
          <a:solidFill>
            <a:srgbClr val="276FBF"/>
          </a:solidFill>
          <a:ln/>
        </p:spPr>
        <p:txBody>
          <a:bodyPr/>
          <a:p/>
        </p:txBody>
      </p:sp>
      <p:sp>
        <p:nvSpPr>
          <p:cNvPr id="401" name=""/>
          <p:cNvSpPr/>
          <p:nvPr/>
        </p:nvSpPr>
        <p:spPr>
          <a:xfrm rot="0" flipH="0" flipV="0">
            <a:off x="609600" y="2743200"/>
            <a:ext cx="10972800" cy="952500"/>
          </a:xfrm>
          <a:prstGeom prst="roundRect">
            <a:avLst>
              <a:gd name="adj" fmla="val 10000"/>
            </a:avLst>
          </a:prstGeom>
          <a:solidFill>
            <a:srgbClr val="EDF4FC"/>
          </a:solidFill>
          <a:ln/>
        </p:spPr>
        <p:txBody>
          <a:bodyPr/>
          <a:p/>
        </p:txBody>
      </p:sp>
      <p:sp>
        <p:nvSpPr>
          <p:cNvPr id="402" name="" descr="{&quot;isTemplate&quot;:true,&quot;type&quot;:&quot;text&quot;}"/>
          <p:cNvSpPr txBox="1"/>
          <p:nvPr/>
        </p:nvSpPr>
        <p:spPr>
          <a:xfrm rot="0" flipH="0" flipV="0">
            <a:off x="819150" y="3095625"/>
            <a:ext cx="10477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276FBF"/>
                </a:solidFill>
                <a:latin typeface="Microsoft YaHei"/>
                <a:ea typeface="Microsoft YaHei"/>
              </a:rPr>
              <a:t>三层分开报</a:t>
            </a:r>
            <a:endParaRPr/>
          </a:p>
        </p:txBody>
      </p:sp>
      <p:sp>
        <p:nvSpPr>
          <p:cNvPr id="403" name="" descr="{&quot;isTemplate&quot;:true,&quot;type&quot;:&quot;text&quot;}"/>
          <p:cNvSpPr txBox="1"/>
          <p:nvPr/>
        </p:nvSpPr>
        <p:spPr>
          <a:xfrm rot="0" flipH="0" flipV="0">
            <a:off x="2038350" y="3124200"/>
            <a:ext cx="9334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46779"/>
                </a:solidFill>
                <a:latin typeface="Microsoft YaHei"/>
                <a:ea typeface="Microsoft YaHei"/>
              </a:rPr>
              <a:t>执行状态、行为质量、业务成效可以互相解释，不能互相替代；未执行就是未执行。</a:t>
            </a:r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60960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FFF4E6"/>
          </a:solidFill>
          <a:ln/>
        </p:spPr>
        <p:txBody>
          <a:bodyPr/>
          <a:p/>
        </p:txBody>
      </p:sp>
      <p:sp>
        <p:nvSpPr>
          <p:cNvPr id="405" name="" descr="{&quot;isTemplate&quot;:true,&quot;type&quot;:&quot;text&quot;}"/>
          <p:cNvSpPr txBox="1"/>
          <p:nvPr/>
        </p:nvSpPr>
        <p:spPr>
          <a:xfrm rot="0" flipH="0" flipV="0">
            <a:off x="81915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B6B28"/>
                </a:solidFill>
                <a:latin typeface="Microsoft YaHei"/>
                <a:ea typeface="Microsoft YaHei"/>
              </a:rPr>
              <a:t>指标先定口径</a:t>
            </a:r>
            <a:endParaRPr/>
          </a:p>
        </p:txBody>
      </p:sp>
      <p:sp>
        <p:nvSpPr>
          <p:cNvPr id="406" name="" descr="{&quot;isTemplate&quot;:true,&quot;type&quot;:&quot;text&quot;}"/>
          <p:cNvSpPr txBox="1"/>
          <p:nvPr/>
        </p:nvSpPr>
        <p:spPr>
          <a:xfrm rot="0" flipH="0" flipV="0">
            <a:off x="81915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分母、窗口与获知证据在运行前固定，事后不补。</a:t>
            </a:r>
            <a:endParaRPr/>
          </a:p>
        </p:txBody>
      </p:sp>
      <p:sp>
        <p:nvSpPr>
          <p:cNvPr id="407" name=""/>
          <p:cNvSpPr/>
          <p:nvPr/>
        </p:nvSpPr>
        <p:spPr>
          <a:xfrm rot="0" flipH="0" flipV="0">
            <a:off x="6191250" y="3848100"/>
            <a:ext cx="5391150" cy="952500"/>
          </a:xfrm>
          <a:prstGeom prst="roundRect">
            <a:avLst>
              <a:gd name="adj" fmla="val 10000"/>
            </a:avLst>
          </a:prstGeom>
          <a:solidFill>
            <a:srgbClr val="ECF7F2"/>
          </a:solidFill>
          <a:ln/>
        </p:spPr>
        <p:txBody>
          <a:bodyPr/>
          <a:p/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6400800" y="4105275"/>
            <a:ext cx="49720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26816B"/>
                </a:solidFill>
                <a:latin typeface="Microsoft YaHei"/>
                <a:ea typeface="Microsoft YaHei"/>
              </a:rPr>
              <a:t>对照说明改动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6400800" y="4371975"/>
            <a:ext cx="49720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保留基线，只改变一处；仿真观察推不到真实社区。</a:t>
            </a:r>
            <a:endParaRPr/>
          </a:p>
        </p:txBody>
      </p:sp>
      <p:sp>
        <p:nvSpPr>
          <p:cNvPr id="410" name="" descr="{&quot;isTemplate&quot;:true,&quot;type&quot;:&quot;text&quot;}"/>
          <p:cNvSpPr txBox="1"/>
          <p:nvPr/>
        </p:nvSpPr>
        <p:spPr>
          <a:xfrm rot="0" flipH="0" flipV="0">
            <a:off x="609600" y="502920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下一节：导出、迁移与离线回放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区分资源包、实验包、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Run </a:t>
            </a:r>
            <a:r>
              <a:rPr lang="zh-CN" sz="1125">
                <a:solidFill>
                  <a:srgbClr val="546779"/>
                </a:solidFill>
                <a:latin typeface="Microsoft YaHei"/>
                <a:ea typeface="Microsoft YaHei"/>
              </a:rPr>
              <a:t>包与结果</a:t>
            </a:r>
            <a:r>
              <a:rPr lang="en-US" sz="1125">
                <a:solidFill>
                  <a:srgbClr val="546779"/>
                </a:solidFill>
                <a:latin typeface="Microsoft YaHei"/>
                <a:ea typeface="Microsoft YaHei"/>
              </a:rPr>
              <a:t xml:space="preserve"> ZIP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2026-09-29T09:05:37Z</dcterms:created>
  <dcterms:modified xsi:type="dcterms:W3CDTF">2026-09-29T09:05:37Z</dcterms:modified>
</cp:coreProperties>
</file>