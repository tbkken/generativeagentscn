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6" Type="http://schemas.openxmlformats.org/officeDocument/2006/relationships/slide" Target="slides/slide6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4" Type="http://schemas.openxmlformats.org/officeDocument/2006/relationships/slide" Target="slides/slide4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一次运行做完以后，最容易犯的错是拿一张截图或者一段提示词去交差。截图只截到一个瞬间，提示词里面没有地图、素材、初始位置，也没有已经发生的事实。</a:t>
            </a:r>
          </a:p>
          <a:p>
            <a:r>
              <a:rPr lang="zh-CN" dirty="0"/>
              <a:t>要真的把结果交给另一位读者，就得把三样东西分开打包：基础资源、实验输入、运行结果。它们的用途完全不同，接收者拿到之后能做的事也完全不同。</a:t>
            </a:r>
          </a:p>
          <a:p>
            <a:r>
              <a:rPr lang="zh-CN" dirty="0"/>
              <a:t>还有一个经常被忽略的点：文件名只是名字。把结果压缩包改成运行包的后缀，并不会因此获得 Run 的协议内容。判断一个包是什么，要看清单里的 package_kind 和包内实际内容。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交付这条链上有四件事要依次讲清。</a:t>
            </a:r>
          </a:p>
          <a:p>
            <a:r>
              <a:rPr lang="zh-CN" dirty="0"/>
              <a:t>第一件是包的类型：基础资源、实验输入、运行结果各自成包，要靠清单里的类型和身份去认，不能靠文件名去猜。</a:t>
            </a:r>
          </a:p>
          <a:p>
            <a:r>
              <a:rPr lang="zh-CN" dirty="0"/>
              <a:t>第二件是交换与下载的真实边界：资源中心负责资源交换，结果页的下载全部给的是结果压缩包，不等于正式运行包。</a:t>
            </a:r>
          </a:p>
          <a:p>
            <a:r>
              <a:rPr lang="zh-CN" dirty="0"/>
              <a:t>第三件是登记与分层验收：原始导出要登记来源，原包字节、离线回放、再次执行这三层要分别取证。</a:t>
            </a:r>
          </a:p>
          <a:p>
            <a:r>
              <a:rPr lang="zh-CN" dirty="0"/>
              <a:t>第四件是命令速查和交付物：每条命令管的事情不同，交付时要说清哪些是证据、哪些是结论。</a:t>
            </a:r>
          </a:p>
          <a:p>
            <a:r>
              <a:rPr lang="zh-CN" dirty="0"/>
              <a:t>这四件事的顺序不要打乱，因为后面的判断都建立在前一件上。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先把三种包的角色分清楚，这是后面所有判断的基础。</a:t>
            </a:r>
          </a:p>
          <a:p>
            <a:r>
              <a:rPr lang="zh-CN" dirty="0"/>
              <a:t>基础资源包解决的是资源交换：把地图、人物、Skill 这些东西连同它们自己的附件打包出去。实验包解决的是固定输入：它带着完整的资源闭包和装配信息，用来执行一个确定的实验。运行包解决的是事实交换：它把实验完整嵌进来，再加上这次执行真正发生过的记录。</a:t>
            </a:r>
          </a:p>
          <a:p>
            <a:r>
              <a:rPr lang="zh-CN" dirty="0"/>
              <a:t>接收者拿到的是哪一类，决定了他能做什么。所以三者必须分开理解，不能混在一起都叫打包。</a:t>
            </a:r>
          </a:p>
          <a:p>
            <a:r>
              <a:rPr lang="zh-CN" dirty="0"/>
              <a:t>判断的时候，看的是清单里的类型字段和包内的实际内容，而不是文件名的后缀。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三种正式包里，config 用来交换基础资源，实验包用来执行一个固定实验，运行包用来回放，或者用于符合条件的恢复与重跑。它们都使用同一套协议和同一个版本号，真正的区分点在清单里的 package_kind 字段。</a:t>
            </a:r>
          </a:p>
          <a:p>
            <a:r>
              <a:rPr lang="zh-CN" dirty="0"/>
              <a:t>需要特别留意的是，结果页直接下载出来的普通结果 ZIP 和检查点 ZIP，并不在这三个正式分支里面。它们有真实用途，但用途要按包内的真实内容去说明。</a:t>
            </a:r>
          </a:p>
          <a:p>
            <a:r>
              <a:rPr lang="zh-CN" dirty="0"/>
              <a:t>把结果 ZIP 的后缀改成 .garun，不会补齐任何协议字段，也不能证明完整性或者可恢复性。所以先学会辨认类型，再谈用途。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Run 包之所以能独立交付，是因为它在创建的时候把实验完整嵌了进去。所以打开一个运行包，里面就带着它当时用的实验，不需要回头去作者的资源库里找原记录。</a:t>
            </a:r>
          </a:p>
          <a:p>
            <a:r>
              <a:rPr lang="zh-CN" dirty="0"/>
              <a:t>实验包里面有两份关键材料：一份保存统一的资源内容，另一份保存装配，也就是地图、Brain、模型的用途、出生位置和运行参数。运行包则在此之上再带上 Attempt、帧、快照和质量信息。</a:t>
            </a:r>
          </a:p>
          <a:p>
            <a:r>
              <a:rPr lang="zh-CN" dirty="0"/>
              <a:t>跨资源依赖在资源包里可以是显式未绑定的，但进入实验之前必须绑定完整。没有绑定关系和不能确定的内容，接收者不应该靠同名资源去猜。识别实验和 Run，读的是清单里的 UUID。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同一个东西有两种形态，这一点在交付时特别重要。目录是工作形态，你可以打开它、改它、继续往下跑。归档是交换形态，它是给别人看的，必须自带清单和完整内容。</a:t>
            </a:r>
          </a:p>
          <a:p>
            <a:r>
              <a:rPr lang="zh-CN" dirty="0"/>
              <a:t>文件改名不会创建新的业务身份。判断一个包里的实验是不是同一个，要看清单里的 UUID，不能凭文件名去对。</a:t>
            </a:r>
          </a:p>
          <a:p>
            <a:r>
              <a:rPr lang="zh-CN" dirty="0"/>
              <a:t>实验包内部的结构大致是：清单管类型与身份，资源索引管统一内容，装配文件管地图、Brain、模型用途、出生位置和运行参数。知道这份结构，你就能自己打开包核对，而不是只能相信生成方的一句话。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这四行想说的是：从哪里读、读到什么、能据此做什么，三件事要连起来看。</a:t>
            </a:r>
          </a:p>
          <a:p>
            <a:r>
              <a:rPr lang="zh-CN" dirty="0"/>
              <a:t>资源包给的是资源内容本身和它的附件，能用来交换单项或者多项基础资源。实验包给的是完整资源闭包和装配，能用来执行一个固定实验。运行包在实验之上再带上完整内嵌实验和执行事实，包括 Attempt、帧、快照与质量，能用来回放，也能用于符合条件的恢复或重跑。</a:t>
            </a:r>
          </a:p>
          <a:p>
            <a:r>
              <a:rPr lang="zh-CN" dirty="0"/>
              <a:t>最后一行的意思是：不要按作者资源库里的旧行号去认资源，也不要凭同名去猜绑定关系。清单里的 UUID 和包内嵌的副本才是可核对的身份。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文件能做什么，要从三个入口分开看。</a:t>
            </a:r>
          </a:p>
          <a:p>
            <a:r>
              <a:rPr lang="zh-CN" dirty="0"/>
              <a:t>资源中心负责的是资源交换，你在那里导出和导入资源包，拿到的还是资源。结果页负责的是把一次运行的结果材料导出出来，方便分享指定边界的内容和报告。正式封存负责的是写出一个经过协议封存、带完整性清单的包。</a:t>
            </a:r>
          </a:p>
          <a:p>
            <a:r>
              <a:rPr lang="zh-CN" dirty="0"/>
              <a:t>三个入口看起来都在导出，但它们能承诺的事情完全不同。把这三个入口分开，比记住按钮叫什么更重要，因为后面所有的判断都建立在你知道手里那份文件到底是什么。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资源交换的界面分成导出和导入两条路。导出的时候先选已经保存好的资源，再看要不要同时打包关联资源，这个选择决定了跨资源依赖会不会跟着走。</a:t>
            </a:r>
          </a:p>
          <a:p>
            <a:r>
              <a:rPr lang="zh-CN" dirty="0"/>
              <a:t>有一点容易忽略：想分享编辑器里刚做出的新内容，应该先保存。没有保存的画面不会被当成导出内容。</a:t>
            </a:r>
          </a:p>
          <a:p>
            <a:r>
              <a:rPr lang="zh-CN" dirty="0"/>
              <a:t>导入的时候先上传，然后看资源清单，挑出需要的条目和关联资源，再确认导入。入口同时接受基础资源包、实验包和运行包，是为了让你能从里面挑基础资源，并不等于把一个运行包的全部执行历史恢复到运行列表里面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导出范围决定跨资源依赖会不会一起走，这是最需要主动判断的地方。</a:t>
            </a:r>
          </a:p>
          <a:p>
            <a:r>
              <a:rPr lang="zh-CN" dirty="0"/>
              <a:t>资源本身的图片和脚本这些附件应该齐全，缺件会让对方拿到一个不完整的资源。但资源之间的依赖关系是不是一并导出，取决于你选了多大的范围，所以导出之后要自己核对一遍。</a:t>
            </a:r>
          </a:p>
          <a:p>
            <a:r>
              <a:rPr lang="zh-CN" dirty="0"/>
              <a:t>还有一个必须阻断的情况：同一个 skill_key 对应了两份不同内容的时候，应该停下来解释冲突，不能静默覆盖，也不能按显示名称去配对。</a:t>
            </a:r>
          </a:p>
          <a:p>
            <a:r>
              <a:rPr lang="zh-CN" dirty="0"/>
              <a:t>最后一点，公共资源导入成功之后，也不能说某个已经封存的实验自动采用了它，因为封存实验用的是它自己那份副本。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结果页上的下载全部，得到的其实是一个结果包，文件名通常是带步骤号的结果压缩包。它是按取材那一刻的提交边界保存的，并且会生成对应这个边界的质量报告。</a:t>
            </a:r>
          </a:p>
          <a:p>
            <a:r>
              <a:rPr lang="zh-CN" dirty="0"/>
              <a:t>检查点详情里的创建压缩包，导出的只是所选的那个检查点，范围更窄。</a:t>
            </a:r>
          </a:p>
          <a:p>
            <a:r>
              <a:rPr lang="zh-CN" dirty="0"/>
              <a:t>这两条路径都不生成正式的外层完整性清单，所以把后缀改成运行包，并不能让它变成正式包。正式的运行包由封存流程写出：它会从一致的暂存副本生成完整性清单和归档，不会在原地改写你已有的压缩包。这也是为什么改名和封存是两件完全不同的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这四个文件各自能先确认什么，要对清楚，因为这是交付时最常被夸大的一段。</a:t>
            </a:r>
          </a:p>
          <a:p>
            <a:r>
              <a:rPr lang="zh-CN" dirty="0"/>
              <a:t>结果压缩包可以用来分享指定边界的结果材料和报告，但它不能承诺完整正式包校验，也不能一键恢复。检查点压缩包可以用来检查一个恢复快照里有哪些成员、内容是什么，但它不能独立替代一个完整运行。</a:t>
            </a:r>
          </a:p>
          <a:p>
            <a:r>
              <a:rPr lang="zh-CN" dirty="0"/>
              <a:t>正式实验包交换的是已经封存的实验输入，它不说明这个实验运行成功过，也不说明模型现在可用。正式运行包交换的是经过协议封存的运行，它同样不说明目标机器一定具备执行环境。</a:t>
            </a:r>
          </a:p>
          <a:p>
            <a:r>
              <a:rPr lang="zh-CN" dirty="0"/>
              <a:t>说到底，先确认用途，再谈承诺，后缀本身什么都不保证。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正式封存不是一个改名动作，它有明确的步骤和前提。</a:t>
            </a:r>
          </a:p>
          <a:p>
            <a:r>
              <a:rPr lang="zh-CN" dirty="0"/>
              <a:t>第一步是拒绝活动状态：正在运行的运行不允许直接封存。第二步是取得写锁，避免和其他写入互相干扰。第三步是从一致的暂存副本生成完整性清单和归档，保证写出来的内容是一个确定的状态。第四步是不原地改写你已有的压缩包，原来的文件保持原样。</a:t>
            </a:r>
          </a:p>
          <a:p>
            <a:r>
              <a:rPr lang="zh-CN" dirty="0"/>
              <a:t>需要如实说明的是，后端已经有正式包的封存与下载接口，但本次并没有确认独立的界面按钮的完整操作路径。这一项应该保留为正式交付之前要核对的环节，我不建议用直接接口或者命令行去补做这次界面验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文件拿到手之后，还有两件事要做：把它的来源登记清楚，以及在迁移的时候分层验收。</a:t>
            </a:r>
          </a:p>
          <a:p>
            <a:r>
              <a:rPr lang="zh-CN" dirty="0"/>
              <a:t>登记的意思是保留原文件，另建一份记录，写清楚文件名、实际大小、哈希、生成时间，以及它是从哪次运行的哪个尝试、哪个提交步骤导出来的。</a:t>
            </a:r>
          </a:p>
          <a:p>
            <a:r>
              <a:rPr lang="zh-CN" dirty="0"/>
              <a:t>验收要分三层来看，每一层单独取证。原包字节与完整性是一层，离线回放是一层，恢复或者重跑又是一层，一层通过不能代替下一层。</a:t>
            </a:r>
          </a:p>
          <a:p>
            <a:r>
              <a:rPr lang="zh-CN" dirty="0"/>
              <a:t>本章没有真实异机验收，这一点我也会在讲结果的时候明确说出来。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导出完成之后不要只留一个文件，要同时留下一份记录。</a:t>
            </a:r>
          </a:p>
          <a:p>
            <a:r>
              <a:rPr lang="zh-CN" dirty="0"/>
              <a:t>记录里应该写清楚文件名、实际大小、SHA256、生成时间，以及来源：源运行和源尝试、源状态、源提交步骤。</a:t>
            </a:r>
          </a:p>
          <a:p>
            <a:r>
              <a:rPr lang="zh-CN" dirty="0"/>
              <a:t>有一种情况要特别小心：如果导出的时候运行还在执行，等你下载完成，界面可能已经推进到下一步了。这时候不能把归档的来源步骤改成页面上的最新值，因为包里保存的是取材那一刻的边界。</a:t>
            </a:r>
          </a:p>
          <a:p>
            <a:r>
              <a:rPr lang="zh-CN" dirty="0"/>
              <a:t>同理，历史导出的来源如果不清楚，就应该写未知，不能按文件的修改时间来推断它是从哪一步切出来的。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拿到一个包之后，除了看它从哪里来，还要知道哪些内容不能当成既定事实。</a:t>
            </a:r>
          </a:p>
          <a:p>
            <a:r>
              <a:rPr lang="zh-CN" dirty="0"/>
              <a:t>运行中还在变化的记忆，不能混成某个固定步骤的事实。未提交的模型轨迹或者日志，如果随包保留下来，只能当作过程审计，不能当成已经提交的结论。</a:t>
            </a:r>
          </a:p>
          <a:p>
            <a:r>
              <a:rPr lang="zh-CN" dirty="0"/>
              <a:t>比对哈希可以判断两个文件是不是相同的字节，这一点对判断传输有没有损坏很有用，但它不能独立证明内容正确，也替代不了协议校验。协议自己的完整性检查还要核对成员、清单、身份、帧的连续性以及内嵌实验的摘要。</a:t>
            </a:r>
          </a:p>
          <a:p>
            <a:r>
              <a:rPr lang="zh-CN" dirty="0"/>
              <a:t>所以在登记之外，这两件事要一起做。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迁移要分三层验收，每一层单独取证。</a:t>
            </a:r>
          </a:p>
          <a:p>
            <a:r>
              <a:rPr lang="zh-CN" dirty="0"/>
              <a:t>第一层是原包与完整性：核对大小、哈希，以及清单和成员有没有缺漏。这一层只说明你手上的字节是完整的。</a:t>
            </a:r>
          </a:p>
          <a:p>
            <a:r>
              <a:rPr lang="zh-CN" dirty="0"/>
              <a:t>第二层是离线回放：读取既有的事实和包内素材，不再调用模型。这一层证明的是记录能被读出来，不需要原作者的资源库还在。</a:t>
            </a:r>
          </a:p>
          <a:p>
            <a:r>
              <a:rPr lang="zh-CN" dirty="0"/>
              <a:t>第三层是恢复或者重跑：这时候才需要兼容的环境、模型服务和凭据，并且要按一份独立的执行计划去验证。</a:t>
            </a:r>
          </a:p>
          <a:p>
            <a:r>
              <a:rPr lang="zh-CN" dirty="0"/>
              <a:t>一层通过不能代替下一层。还有一点是硬要求：密钥不进包，包里只保存环境变量名这样的连接要求，凭据由目标机器注入。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密钥的处理是交付环节里最容易出事的地方。模型密钥不进入实验包，也不进入运行包。包里保存的是环境变量名这类连接要求，真正的凭据由目标机器在运行时注入。</a:t>
            </a:r>
          </a:p>
          <a:p>
            <a:r>
              <a:rPr lang="zh-CN" dirty="0"/>
              <a:t>为了图方便，把密钥补进 Skill 文档、补进 JSON、或者留在分享截图里，都是不应该的。</a:t>
            </a:r>
          </a:p>
          <a:p>
            <a:r>
              <a:rPr lang="zh-CN" dirty="0"/>
              <a:t>目标机器除了凭据，还需要兼容的程序版本、Python 环境和模型服务条件。</a:t>
            </a:r>
          </a:p>
          <a:p>
            <a:r>
              <a:rPr lang="zh-CN" dirty="0"/>
              <a:t>最后区分两件事：能离线回放，不代表能重新执行模型调用；能启动模型，也不代表地图和对象状态已经正确回放了。这两件事要分开下结论。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命令行在这里的作用是帮助理解协议，以及在后续的独立环境里使用。本次教材案例的配置、运行和验收都还是走浏览器完成的，不能用这些命令绕过缺失的页面步骤。</a:t>
            </a:r>
          </a:p>
          <a:p>
            <a:r>
              <a:rPr lang="zh-CN" dirty="0"/>
              <a:t>我把命令按实验、运行、回放三组摆出来，重点在区分它们各自管什么：谁只创建、谁创建并执行，谁保留身份、谁新建身份，谁读事实、谁真的执行。</a:t>
            </a:r>
          </a:p>
          <a:p>
            <a:r>
              <a:rPr lang="zh-CN" dirty="0"/>
              <a:t>把这三组分清楚，你在独立环境里操作时就不容易把「看」当成「跑」，也不会误以为命令存在就等于界面上有对应按钮。最后再把交付清单说清楚：交付的是证据和边界。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这几条命令围绕实验和运行。实验这边，验证命令检查一个实验目录或者实验包能不能通过，封存命令把实验目录写成正式的实验包。</a:t>
            </a:r>
          </a:p>
          <a:p>
            <a:r>
              <a:rPr lang="zh-CN" dirty="0"/>
              <a:t>运行这边，创建命令只建立一个新的运行目录，启动命令在创建之后直接执行。状态命令读取一个运行或者运行包的摘要，暂停、取消、恢复分别对应三种不同的处置。</a:t>
            </a:r>
          </a:p>
          <a:p>
            <a:r>
              <a:rPr lang="zh-CN" dirty="0"/>
              <a:t>有两处边界要记住：一是参数以当前解析器为准，不要按记忆里的旧接口去写；二是尖括号表示待替换的路径或者整数，不是可以直接粘贴的字面内容。</a:t>
            </a:r>
          </a:p>
          <a:p>
            <a:r>
              <a:rPr lang="zh-CN" dirty="0"/>
              <a:t>本次案例的配置和运行仍然走浏览器界面，命令留着理解协议。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这两组命令最容易混。创建和启动的区别是：创建只把运行目录建出来，启动是创建之后直接执行。</a:t>
            </a:r>
          </a:p>
          <a:p>
            <a:r>
              <a:rPr lang="zh-CN" dirty="0"/>
              <a:t>恢复和重跑的区别在身份：恢复保留原来的运行身份，重跑创建一个新身份。恢复一个运行包的时候，要先把它安全解压到一个新的可写目录，因为归档文件不能原地续写。恢复之后继续使用同一个运行编号，同时建立一个新的尝试。</a:t>
            </a:r>
          </a:p>
          <a:p>
            <a:r>
              <a:rPr lang="zh-CN" dirty="0"/>
              <a:t>还有一个约束：步数参数不能突破实验包本身允许的最大步数。这意味着包的边界决定了你最多能跑到哪里，命令层面的参数只是在这个范围内调整。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回放相关的命令只做一件事：读事实。它不执行 Skill，也不请求模型。连运行状态这条命令，也是用回放的方式读取摘要，所以查一次状态不会被变成继续运行。</a:t>
            </a:r>
          </a:p>
          <a:p>
            <a:r>
              <a:rPr lang="zh-CN" dirty="0"/>
              <a:t>这一点对排查很关键：当你只想看发生了什么的时候，你用的工具不应该改变世界。</a:t>
            </a:r>
          </a:p>
          <a:p>
            <a:r>
              <a:rPr lang="zh-CN" dirty="0"/>
              <a:t>另外要说清楚，界面是否提供某条命令行操作的同等入口，要按界面单独核对，不能因为命令存在就推导出按钮存在。</a:t>
            </a:r>
          </a:p>
          <a:p>
            <a:r>
              <a:rPr lang="zh-CN" dirty="0"/>
              <a:t>建议的验收顺序是先核对原包字节与完整性，再离线读取既有事实，最后按独立执行计划验证恢复或者重跑。本章没有删除用户数据库，也没有完成第二台机器的真实验收。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正式交付包含的东西是可以列出来的：教材素材、精确的 Skill、参数说明、原始导出、来源登记，以及关键事实和质量评分。</a:t>
            </a:r>
          </a:p>
          <a:p>
            <a:r>
              <a:rPr lang="zh-CN" dirty="0"/>
              <a:t>交付时要说清手里是什么。如果只有普通结果 ZIP，就明确这样命名，不要含糊地叫它运行包。如果已经得到了正式运行包，就再补上协议校验的记录。只有在独立环境里完成了验证，才能写那个环境里的回放、恢复或者重跑结论。</a:t>
            </a:r>
          </a:p>
          <a:p>
            <a:r>
              <a:rPr lang="zh-CN" dirty="0"/>
              <a:t>还有一句要说在前面：同一个包的确定性归档，保证的是同样的内容能得到相同的字节，它不意味着重新运行大模型必然生成同样的故事。青禾的可复核性，首先来自固定的输入和真实的记录，再来自完整的验证说明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把这一段收成三句话。</a:t>
            </a:r>
          </a:p>
          <a:p>
            <a:r>
              <a:rPr lang="zh-CN" dirty="0"/>
              <a:t>第一，包要看清单：类型和身份写在清单里，改文件名不会补齐协议，也不会创建新的业务身份。</a:t>
            </a:r>
          </a:p>
          <a:p>
            <a:r>
              <a:rPr lang="zh-CN" dirty="0"/>
              <a:t>第二，层次要分开取证：原包字节与完整性、离线回放、恢复或重跑是三层，每一层都需要一组新的验收记录，一层通过不能代替下一层。</a:t>
            </a:r>
          </a:p>
          <a:p>
            <a:r>
              <a:rPr lang="zh-CN" dirty="0"/>
              <a:t>第三，承诺要跟证据走：完成了独立环境验证之后，再写那个环境里的结论。交付的不是一键复现这四个字，而是固定的输入、真实的记录，和一份说清边界的验证说明。</a:t>
            </a:r>
          </a:p>
          <a:p>
            <a:r>
              <a:rPr lang="zh-CN" dirty="0"/>
              <a:t>下一节把架构和交付物串起来。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一次运行做完以后，最容易犯的错是拿一张截图或者一段提示词去交差。截图只截到一个瞬间，提示词里面没有地图、素材、初始位置，也没有已经发生的事实。&#10;要真的把结果交给另一位读者，就得把三样东西分开打包：基础资源、实验输入、运行结果。它们的用途完全不同，接收者拿到之后能做的事也完全不同。&#10;还有一个经常被忽略的点：文件名只是名字。把结果压缩包改成运行包的后缀，并不会因此获得 Run 的协议内容。判断一个包是什么，要看清单里的 package_kind 和包内实际内容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13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导出、迁移{'\n'}与离线回放&lt;/Text&gt;&#10;            &lt;Box style={{ width: 72, height: 4, background: '#276FBF' }} /&gt;&#10;            &lt;Text style={{ fontSize: 17, color: '#546779', lineHeight: 1.7, width: 560 }}&gt;把一次运行真正交到另一位读者手里：基础资源、实验输入、运行结果各自成包，并且说明对方能拿它做什么、不能承诺什么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包类型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内容合同&lt;/Text&gt;&#10;                &lt;/Box&gt;&#10;                &lt;Box style={{ width: 128, height: 42, background: '#ECF7F2', borderRadius: 8, justifyContent: 'center', alignItems: 'center' }}&gt;&#10;                    &lt;Text style={{ fontSize: 15, color: '#26816B' }}&gt;分层验收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待核对项&lt;/Text&gt;&#10;                &lt;/Box&gt;&#10;            &lt;/Box&gt;&#10;        &lt;/Box&gt;&#10;&#10;        &lt;Box style={{ width: 560, flexDirection: 'column', justifyContent: 'center', gap: 12 }}&gt;&#10;&#10;            &lt;Box style={{ width: 560, height: 74, background: '#EDF4FC', borderRadius: 10, padding: '0 18px', flexDirection: 'row', alignItems: 'center', gap: 12 }}&gt;&#10;                &lt;Box style={{ width: 92, height: 44, background: '#276FBF', borderRadius: 8, justifyContent: 'center', alignItems: 'center' }}&gt;&#10;                    &lt;Text style={{ fontSize: 15, fontWeight: 'bold', color: '#FFFFFF' }}&gt;config&lt;/Text&gt;&#10;                &lt;/Box&gt;&#10;                &lt;Text style={{ width: 76, fontSize: 15, color: '#546779', fontFamily: 'Consolas, monospace' }}&gt;.zip&lt;/Text&gt;&#10;                &lt;Text style={{ flex: 1, fontSize: 14, color: '#546779', lineHeight: 1.4 }}&gt;资源内容与自身附件，用于资源交换&lt;/Text&gt;&#10;            &lt;/Box&gt;&#10;&#10;            &lt;Box style={{ width: 560, height: 74, background: '#ECF7F2', borderRadius: 10, padding: '0 18px', flexDirection: 'row', alignItems: 'center', gap: 12 }}&gt;&#10;                &lt;Box style={{ width: 92, height: 44, background: '#26816B', borderRadius: 8, justifyContent: 'center', alignItems: 'center' }}&gt;&#10;                    &lt;Text style={{ fontSize: 15, fontWeight: 'bold', color: '#FFFFFF' }}&gt;exp&lt;/Text&gt;&#10;                &lt;/Box&gt;&#10;                &lt;Text style={{ width: 76, fontSize: 15, color: '#546779', fontFamily: 'Consolas, monospace' }}&gt;.gaexp&lt;/Text&gt;&#10;                &lt;Text style={{ flex: 1, fontSize: 14, color: '#546779', lineHeight: 1.4 }}&gt;完整资源闭包与实验装配，用于固定实验&lt;/Text&gt;&#10;            &lt;/Box&gt;&#10;&#10;            &lt;Box style={{ width: 560, height: 74, background: '#F4F7FA', borderRadius: 10, padding: '0 18px', flexDirection: 'row', alignItems: 'center', gap: 12 }}&gt;&#10;                &lt;Box style={{ width: 92, height: 44, background: '#20344B', borderRadius: 8, justifyContent: 'center', alignItems: 'center' }}&gt;&#10;                    &lt;Text style={{ fontSize: 15, fontWeight: 'bold', color: '#FFFFFF' }}&gt;run&lt;/Text&gt;&#10;                &lt;/Box&gt;&#10;                &lt;Text style={{ width: 76, fontSize: 15, color: '#546779', fontFamily: 'Consolas, monospace' }}&gt;.garun&lt;/Text&gt;&#10;                &lt;Text style={{ flex: 1, fontSize: 14, color: '#546779', lineHeight: 1.4 }}&gt;完整内嵌实验与执行事实，用于回放&lt;/Text&gt;&#10;            &lt;/Box&gt;&#10;&#10;            &lt;Box style={{ width: 560, height: 68, background: '#FFF4E6', borderRadius: 10, padding: '8px 18px', flexDirection: 'column', gap: 2, justifyContent: 'center' }}&gt;&#10;                &lt;Text style={{ fontSize: 15, fontWeight: 'bold', color: '#CB6B28' }}&gt;改名不会补齐协议&lt;/Text&gt;&#10;                &lt;Text style={{ fontSize: 13, color: '#546779' }}&gt;把结果 ZIP 改成 .garun，不会获得 Run 的内容合同&lt;/Text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3.13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导出、迁移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与离线回放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把一次运行真正交到另一位读者手里：基础资源、实验输入、运行结果各自成包，并且说明对方能拿它做什么、不能承诺什么。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09650" y="4914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包类型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66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内容合同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分层验收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933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待核对项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48400" y="2162175"/>
            <a:ext cx="53340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419850" y="2305050"/>
            <a:ext cx="8763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629400" y="2428875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config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410450" y="24288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.zip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48650" y="24003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资源内容与自身附件，用于资源交换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248400" y="2981325"/>
            <a:ext cx="5334000" cy="704850"/>
          </a:xfrm>
          <a:prstGeom prst="roundRect">
            <a:avLst>
              <a:gd name="adj" fmla="val 135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6419850" y="3124200"/>
            <a:ext cx="8763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724650" y="3248025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exp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410450" y="32480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.gaexp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248650" y="321945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完整资源闭包与实验装配，用于固定实验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248400" y="3800475"/>
            <a:ext cx="5334000" cy="704850"/>
          </a:xfrm>
          <a:prstGeom prst="roundRect">
            <a:avLst>
              <a:gd name="adj" fmla="val 135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419850" y="3943350"/>
            <a:ext cx="876300" cy="419100"/>
          </a:xfrm>
          <a:prstGeom prst="roundRect">
            <a:avLst>
              <a:gd name="adj" fmla="val 18182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734175" y="406717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run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410450" y="40671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.garun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248650" y="40386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完整内嵌实验与执行事实，用于回放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248400" y="4619625"/>
            <a:ext cx="533400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19850" y="4772025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改名不会补齐协议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19850" y="496252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把结果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改成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.garun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，不会获得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的内容合同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0" name="" descr="&lt;Slide notes={`交付这条链上有四件事要依次讲清。&#10;第一件是包的类型：基础资源、实验输入、运行结果各自成包，要靠清单里的类型和身份去认，不能靠文件名去猜。&#10;第二件是交换与下载的真实边界：资源中心负责资源交换，结果页的下载全部给的是结果压缩包，不等于正式运行包。&#10;第三件是登记与分层验收：原始导出要登记来源，原包字节、离线回放、再次执行这三层要分别取证。&#10;第四件是命令速查和交付物：每条命令管的事情不同，交付时要说清哪些是证据、哪些是结论。&#10;这四件事的顺序不要打乱，因为后面的判断都建立在前一件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　导出、迁移与离线回放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00, flexDirection: 'column', gap: 18 }}&gt;&#10;            &lt;Text style={{ fontSize: 17, color: '#546779', lineHeight: 1.75, width: 300 }}&gt;交付一次运行，要从「手里这份文件到底是什么」开始，再谈它能承诺什么、从哪里来、怎么验收。&lt;/Text&gt;&#10;            &lt;Box style={{ width: 300, height: 96, background: '#FFF4E6', borderRadius: 10, padding: '14px 18px', flexDirection: 'column', gap: 4, justifyContent: 'center' }}&gt;&#10;                &lt;Text style={{ fontSize: 16, fontWeight: 'bold', color: '#CB6B28' }}&gt;后缀不等于协议&lt;/Text&gt;&#10;                &lt;Text style={{ fontSize: 14, color: '#546779', lineHeight: 1.5 }}&gt;能不能恢复、能不能重跑，要另找证据&lt;/Text&gt;&#10;            &lt;/Box&gt;&#10;        &lt;/Box&gt;&#10;&#10;        &lt;Box style={{ width: 820, flexDirection: 'column', gap: 14 }}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Direction: 'column', gap: 4 }}&gt;&#10;                    &lt;Text style={{ fontSize: 20, fontWeight: 'bold', color: '#20344B' }}&gt;三种包回答三个问题&lt;/Text&gt;&#10;                    &lt;Text style={{ fontSize: 14, color: '#546779' }}&gt;用 package_kind 与包内内容辨认正式类型，后缀不能证明完整性与可恢复性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Direction: 'column', gap: 4 }}&gt;&#10;                    &lt;Text style={{ fontSize: 20, fontWeight: 'bold', color: '#20344B' }}&gt;交换与下载的真实边界&lt;/Text&gt;&#10;                    &lt;Text style={{ fontSize: 14, color: '#546779' }}&gt;资源中心负责资源交换；结果页的下载全部给的是结果 ZIP，不等于正式 Run 包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6816B', borderRadius: 8, justifyContent: 'center', alignItems: 'center' }}&gt;&#10;                    &lt;Text style={{ fontSize: 20, fontWeight: 'bold', color: '#FFFFFF' }}&gt;3&lt;/Text&gt;&#10;                &lt;/Box&gt;&#10;                &lt;Box style={{ flexDirection: 'column', gap: 4 }}&gt;&#10;                    &lt;Text style={{ fontSize: 20, fontWeight: 'bold', color: '#20344B' }}&gt;登记与迁移的分层验收&lt;/Text&gt;&#10;                    &lt;Text style={{ fontSize: 14, color: '#546779' }}&gt;保留原文件并登记来源；原包字节、离线回放、再次执行要分别取证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6816B', borderRadius: 8, justifyContent: 'center', alignItems: 'center' }}&gt;&#10;                    &lt;Text style={{ fontSize: 20, fontWeight: 'bold', color: '#FFFFFF' }}&gt;4&lt;/Text&gt;&#10;                &lt;/Box&gt;&#10;                &lt;Box style={{ flexDirection: 'column', gap: 4 }}&gt;&#10;                    &lt;Text style={{ fontSize: 20, fontWeight: 'bold', color: '#20344B' }}&gt;命令速查与交付证据&lt;/Text&gt;&#10;                    &lt;Text style={{ fontSize: 14, color: '#546779' }}&gt;CLI 各条命令的边界不同；交付物要说清哪些是证据，哪些只是结论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导出、迁移与离线回放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交付一次运行，要从「手里这份文件到底是什么」开始，再谈它能承诺什么、从哪里来、怎么验收。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3857625"/>
            <a:ext cx="28575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81050" y="407670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后缀不等于协议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81050" y="430530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能不能恢复、能不能重跑，要另找证据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771900" y="16097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3962400" y="1876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114800" y="1971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533900" y="1876425"/>
            <a:ext cx="468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三种包回答三个问题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533900" y="2143125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package_kind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与包内内容辨认正式类型，后缀不能证明完整性与可恢复性。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771900" y="26955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3962400" y="2962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114800" y="3057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533900" y="2962275"/>
            <a:ext cx="4848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交换与下载的真实边界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533900" y="3228975"/>
            <a:ext cx="4848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资源中心负责资源交换；结果页的下载全部给的是结果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，不等于正式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包。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3771900" y="37814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3962400" y="4048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114800" y="4143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533900" y="4048125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登记与迁移的分层验收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533900" y="4314825"/>
            <a:ext cx="413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保留原文件并登记来源；原包字节、离线回放、再次执行要分别取证。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3771900" y="48672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3962400" y="5133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114800" y="5229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533900" y="5133975"/>
            <a:ext cx="4105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命令速查与交付证据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533900" y="5400675"/>
            <a:ext cx="4105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各条命令的边界不同；交付物要说清哪些是证据，哪些只是结论。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65" name="" descr="&lt;Slide notes={`先把三种包的角色分清楚，这是后面所有判断的基础。&#10;基础资源包解决的是资源交换：把地图、人物、Skill 这些东西连同它们自己的附件打包出去。实验包解决的是固定输入：它带着完整的资源闭包和装配信息，用来执行一个确定的实验。运行包解决的是事实交换：它把实验完整嵌进来，再加上这次执行真正发生过的记录。&#10;接收者拿到的是哪一类，决定了他能做什么。所以三者必须分开理解，不能混在一起都叫打包。&#10;判断的时候，看的是清单里的类型字段和包内的实际内容，而不是文件名的后缀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①　　3.13.1&lt;/Text&gt;&#10;&#10;        &lt;Text style={{ fontSize: 56, fontWeight: 'bold', color: '#20344B', lineHeight: 1.15 }}&gt;三种包回答三个问题&lt;/Text&gt;&#10;&#10;        &lt;Box style={{ width: 72, height: 4, background: '#276FBF' }} /&gt;&#10;&#10;        &lt;Text style={{ fontSize: 18, color: '#546779', lineHeight: 1.7, width: 900 }}&gt;基础资源、实验输入、运行结果各自成包；识别它们靠清单里的类型与身份，而不是文件名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config · 资源交换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exp · 固定实验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run · 执行事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3.13.1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三种包回答三个问题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基础资源、实验输入、运行结果各自成包；识别它们靠清单里的类型与身份，而不是文件名。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362075" y="4257675"/>
            <a:ext cx="1352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config · 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资源交换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752975" y="4257675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exp · 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固定实验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039100" y="4257675"/>
            <a:ext cx="1114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run ·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执行事实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81" name="" descr="&lt;Slide notes={`三种正式包里，config 用来交换基础资源，实验包用来执行一个固定实验，运行包用来回放，或者用于符合条件的恢复与重跑。它们都使用同一套协议和同一个版本号，真正的区分点在清单里的 package_kind 字段。&#10;需要特别留意的是，结果页直接下载出来的普通结果 ZIP 和检查点 ZIP，并不在这三个正式分支里面。它们有真实用途，但用途要按包内的真实内容去说明。&#10;把结果 ZIP 的后缀改成 .garun，不会补齐任何协议字段，也不能证明完整性或者可恢复性。所以先学会辨认类型，再谈用途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1　三种包回答三个问题&lt;/Text&gt;&#10;            &lt;Text style={{ fontSize: 34, fontWeight: 'bold', color: '#20344B' }}&gt;三种正式包，以及不在分支里的 ZIP&lt;/Text&gt;&#10;        &lt;/Box&gt;&#10;    &lt;/Box&gt;&#10;&#10;    &lt;Box style={{ height: 540, flexDirection: 'column', justifyContent: 'center', gap: 16 }}&gt;&#10;&#10;        &lt;Text style={{ fontSize: 17, color: '#546779', lineHeight: 1.6 }}&gt;三种正式包按 package_kind 区分，各自解决一个明确问题；普通结果 ZIP 单独说明用途。&lt;/Text&gt;&#10;&#10;        &lt;Box style={{ flexDirection: 'row', gap: 24 }}&gt;&#10;&#10;            &lt;Box style={{ width: 368, height: 206, background: '#EDF4FC', borderRadius: 10, padding: '18px 20px', flexDirection: 'column', gap: 8 }}&gt;&#10;                &lt;Text style={{ fontSize: 22, fontWeight: 'bold', color: '#276FBF', fontFamily: 'Consolas, monospace' }}&gt;.zip&lt;/Text&gt;&#10;                &lt;Text style={{ fontSize: 16, fontWeight: 'bold', color: '#20344B' }}&gt;config　基础资源包&lt;/Text&gt;&#10;                &lt;Text style={{ fontSize: 14, color: '#546779', lineHeight: 1.6 }}&gt;一项或多项基础资源及其自身附件，用于资源交换。资源本身的内容随身携带。&lt;/Text&gt;&#10;            &lt;/Box&gt;&#10;&#10;            &lt;Box style={{ width: 368, height: 206, background: '#ECF7F2', borderRadius: 10, padding: '18px 20px', flexDirection: 'column', gap: 8 }}&gt;&#10;                &lt;Text style={{ fontSize: 22, fontWeight: 'bold', color: '#26816B', fontFamily: 'Consolas, monospace' }}&gt;.gaexp&lt;/Text&gt;&#10;                &lt;Text style={{ fontSize: 16, fontWeight: 'bold', color: '#20344B' }}&gt;exp　实验包&lt;/Text&gt;&#10;                &lt;Text style={{ fontSize: 14, color: '#546779', lineHeight: 1.6 }}&gt;完整资源内容与实验装配，用于执行一个固定实验。装配包含地图与运行参数。&lt;/Text&gt;&#10;            &lt;/Box&gt;&#10;&#10;            &lt;Box style={{ width: 368, height: 206, background: '#F4F7FA', borderRadius: 10, padding: '18px 20px', flexDirection: 'column', gap: 8 }}&gt;&#10;                &lt;Text style={{ fontSize: 22, fontWeight: 'bold', color: '#20344B', fontFamily: 'Consolas, monospace' }}&gt;.garun&lt;/Text&gt;&#10;                &lt;Text style={{ fontSize: 16, fontWeight: 'bold', color: '#20344B' }}&gt;run　运行包&lt;/Text&gt;&#10;                &lt;Text style={{ fontSize: 14, color: '#546779', lineHeight: 1.6 }}&gt;完整内嵌实验与执行事实，用于回放、符合条件的恢复或重跑。执行事实不可再造。&lt;/Text&gt;&#10;            &lt;/Box&gt;&#10;&#10;        &lt;/Box&gt;&#10;&#10;        &lt;Box style={{ width: 1152, height: 84, background: '#FFF4E6', borderRadius: 10, padding: '12px 22px', flexDirection: 'column', gap: 4, justifyContent: 'center' }}&gt;&#10;            &lt;Text style={{ fontSize: 16, fontWeight: 'bold', color: '#CB6B28' }}&gt;普通结果 ZIP 与检查点 ZIP 不在这条分支上&lt;/Text&gt;&#10;            &lt;Text style={{ fontSize: 14, color: '#546779' }}&gt;按真实内容说明用途；修改后缀不能补齐协议，也不能证明完整性或可恢复性。&lt;/Text&gt;&#10;        &lt;/Box&gt;&#10;&#10;        &lt;Text style={{ fontSize: 14, color: '#546779', lineHeight: 1.5 }}&gt;三者均使用 ga-package、schema_version 为 2，由清单中的 package_kind 区分。目录是工作形态，归档是交换形态；改名不会创建新的业务身份。&lt;/Text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162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三种包回答三个问题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162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三种正式包，以及不在分支里的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ZIP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三种正式包按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package_kind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区分，各自解决一个明确问题；普通结果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单独说明用途。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609600" y="2295525"/>
            <a:ext cx="3505200" cy="1962150"/>
          </a:xfrm>
          <a:prstGeom prst="roundRect">
            <a:avLst>
              <a:gd name="adj" fmla="val 48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00100" y="2466975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Consolas"/>
                <a:ea typeface="Consolas"/>
              </a:rPr>
              <a:t>.zip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00100" y="2800350"/>
            <a:ext cx="3124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config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　基础资源包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00100" y="3067050"/>
            <a:ext cx="3124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一项或多项基础资源及其自身附件，用于资源交换。资源本身的内容随身携带。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4343400" y="2295525"/>
            <a:ext cx="3505200" cy="1962150"/>
          </a:xfrm>
          <a:prstGeom prst="roundRect">
            <a:avLst>
              <a:gd name="adj" fmla="val 485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4533900" y="2466975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Consolas"/>
                <a:ea typeface="Consolas"/>
              </a:rPr>
              <a:t>.gaexp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4533900" y="2800350"/>
            <a:ext cx="3124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exp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　实验包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4533900" y="3067050"/>
            <a:ext cx="3124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完整资源内容与实验装配，用于执行一个固定实验。装配包含地图与运行参数。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8077200" y="2295525"/>
            <a:ext cx="3505200" cy="1962150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267700" y="2466975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0344B"/>
                </a:solidFill>
                <a:latin typeface="Consolas"/>
                <a:ea typeface="Consolas"/>
              </a:rPr>
              <a:t>.garun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267700" y="2800350"/>
            <a:ext cx="3124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run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　运行包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267700" y="3067050"/>
            <a:ext cx="3124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完整内嵌实验与执行事实，用于回放、符合条件的恢复或重跑。执行事实不可再造。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44100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19150" y="4619625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普通结果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与检查点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不在这条分支上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19150" y="4848225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按真实内容说明用途；修改后缀不能补齐协议，也不能证明完整性或可恢复性。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09600" y="536257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三者均使用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ga-package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schema_version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，由清单中的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package_kind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区分。目录是工作形态，归档是交换形态；改名不会创建新的业务身份。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05" name="" descr="&lt;Slide notes={`Run 包之所以能独立交付，是因为它在创建的时候把实验完整嵌了进去。所以打开一个运行包，里面就带着它当时用的实验，不需要回头去作者的资源库里找原记录。&#10;实验包里面有两份关键材料：一份保存统一的资源内容，另一份保存装配，也就是地图、Brain、模型的用途、出生位置和运行参数。运行包则在此之上再带上 Attempt、帧、快照和质量信息。&#10;跨资源依赖在资源包里可以是显式未绑定的，但进入实验之前必须绑定完整。没有绑定关系和不能确定的内容，接收者不应该靠同名资源去猜。识别实验和 Run，读的是清单里的 UUID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1　三种包回答三个问题&lt;/Text&gt;&#10;            &lt;Text style={{ fontSize: 34, fontWeight: 'bold', color: '#20344B' }}&gt;清单决定类型与身份&lt;/Text&gt;&#10;        &lt;/Box&gt;&#10;    &lt;/Box&gt;&#10;&#10;    &lt;Box style={{ height: 540, flexDirection: 'column', justifyContent: 'center', gap: 14 }}&gt;&#10;&#10;        &lt;Box style={{ width: 1152, height: 78, background: '#EDF4FC', borderRadius: 10, padding: '0 22px', flexDirection: 'row', alignItems: 'center', gap: 18 }}&gt;&#10;            &lt;Box style={{ width: 44, height: 44, background: '#276FBF', borderRadius: 8, justifyContent: 'center', alignItems: 'center' }}&gt;&#10;                &lt;Text style={{ fontSize: 20, fontWeight: 'bold', color: '#FFFFFF' }}&gt;协&lt;/Text&gt;&#10;            &lt;/Box&gt;&#10;            &lt;Box style={{ flexDirection: 'column', gap: 3 }}&gt;&#10;                &lt;Text style={{ fontSize: 20, fontWeight: 'bold', color: '#20344B' }}&gt;ga-package v2　内容合同&lt;/Text&gt;&#10;                &lt;Text style={{ fontSize: 15, color: '#546779' }}&gt;清单里的 package_kind 确认类型，UUID 确认身份&lt;/Text&gt;&#10;            &lt;/Box&gt;&#10;        &lt;/Box&gt;&#10;&#10;        &lt;Box style={{ flexDirection: 'row', gap: 24 }}&gt;&#10;            &lt;Box style={{ width: 368, height: 34, justifyContent: 'center', alignItems: 'center' }}&gt;&#10;                &lt;Text style={{ fontSize: 22, color: '#276FBF' }}&gt;↓&lt;/Text&gt;&#10;            &lt;/Box&gt;&#10;            &lt;Box style={{ width: 368, height: 34, justifyContent: 'center', alignItems: 'center' }}&gt;&#10;                &lt;Text style={{ fontSize: 22, color: '#276FBF' }}&gt;↓&lt;/Text&gt;&#10;            &lt;/Box&gt;&#10;            &lt;Box style={{ width: 368, height: 34, justifyContent: 'center', alignItems: 'center' }}&gt;&#10;                &lt;Text style={{ fontSize: 22, color: '#276FBF' }}&gt;↓&lt;/Text&gt;&#10;            &lt;/Box&gt;&#10;        &lt;/Box&gt;&#10;&#10;        &lt;Box style={{ flexDirection: 'row', gap: 24 }}&gt;&#10;&#10;            &lt;Box style={{ width: 368, height: 152, background: '#EDF4FC', borderRadius: 10, padding: '16px 18px', flexDirection: 'column', gap: 6 }}&gt;&#10;                &lt;Text style={{ fontSize: 17, fontWeight: 'bold', color: '#276FBF' }}&gt;config&lt;/Text&gt;&#10;                &lt;Text style={{ fontSize: 14, color: '#546779', lineHeight: 1.6 }}&gt;资源内容与自身附件；可有显式未绑定的跨资源依赖，进入实验前必须绑定完整。&lt;/Text&gt;&#10;            &lt;/Box&gt;&#10;&#10;            &lt;Box style={{ width: 368, height: 152, background: '#ECF7F2', borderRadius: 10, padding: '16px 18px', flexDirection: 'column', gap: 6 }}&gt;&#10;                &lt;Text style={{ fontSize: 17, fontWeight: 'bold', color: '#26816B' }}&gt;exp&lt;/Text&gt;&#10;                &lt;Text style={{ fontSize: 14, color: '#546779', lineHeight: 1.6 }}&gt;完整资源闭包；实验装配、输入与参数，含地图、Brain、模型用途与出生位置。&lt;/Text&gt;&#10;            &lt;/Box&gt;&#10;&#10;            &lt;Box style={{ width: 368, height: 152, background: '#F4F7FA', borderRadius: 10, padding: '16px 18px', flexDirection: 'column', gap: 6 }}&gt;&#10;                &lt;Text style={{ fontSize: 17, fontWeight: 'bold', color: '#20344B' }}&gt;run&lt;/Text&gt;&#10;                &lt;Text style={{ fontSize: 14, color: '#546779', lineHeight: 1.6 }}&gt;完整内嵌实验与执行事实；Attempt、帧、快照与质量，用于回放与恢复。&lt;/Text&gt;&#10;            &lt;/Box&gt;&#10;&#10;        &lt;/Box&gt;&#10;&#10;        &lt;Box style={{ width: 1152, height: 52, background: '#ECF7F2', borderRadius: 10, padding: '0 22px', flexDirection: 'row', alignItems: 'center', gap: 14 }}&gt;&#10;            &lt;Box style={{ width: 4, height: 26, background: '#26816B' }} /&gt;&#10;            &lt;Text style={{ fontSize: 15, color: '#26816B' }}&gt;exp 在 Run 创建时完整嵌入 run：运行包自带它当时所用的实验，接收者不必回头找原记录。&lt;/Text&gt;&#10;        &lt;/Box&gt;&#10;&#10;        &lt;Box style={{ width: 1152, height: 74, background: '#FFF4E6', borderRadius: 10, padding: '10px 22px', flexDirection: 'column', gap: 3, justifyContent: 'center' }}&gt;&#10;            &lt;Text style={{ fontSize: 15, fontWeight: 'bold', color: '#CB6B28' }}&gt;普通结果 ZIP 不在这条链上&lt;/Text&gt;&#10;            &lt;Text style={{ fontSize: 14, color: '#546779' }}&gt;把结果 ZIP 改成 .garun，不会沿任何箭头自动补齐 Run 协议。&lt;/Text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三种包回答三个问题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清单决定类型与身份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609600" y="159067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819150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933450" y="18478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协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409700" y="1752600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ga-package v2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　内容合同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409700" y="2009775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清单里的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package_kind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确认类型，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UUID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确认身份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2314575" y="25050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48375" y="25050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9782175" y="25050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609600" y="2924175"/>
            <a:ext cx="3505200" cy="1447800"/>
          </a:xfrm>
          <a:prstGeom prst="roundRect">
            <a:avLst>
              <a:gd name="adj" fmla="val 657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781050" y="307657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config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781050" y="3333750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资源内容与自身附件；可有显式未绑定的跨资源依赖，进入实验前必须绑定完整。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4343400" y="2924175"/>
            <a:ext cx="350520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4514850" y="307657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exp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514850" y="3333750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完整资源闭包；实验装配、输入与参数，含地图、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、模型用途与出生位置。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8077200" y="2924175"/>
            <a:ext cx="3505200" cy="1447800"/>
          </a:xfrm>
          <a:prstGeom prst="roundRect">
            <a:avLst>
              <a:gd name="adj" fmla="val 657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248650" y="307657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run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248650" y="3333750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完整内嵌实验与执行事实；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、帧、快照与质量，用于回放与恢复。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09600" y="4505325"/>
            <a:ext cx="10972800" cy="495300"/>
          </a:xfrm>
          <a:prstGeom prst="roundRect">
            <a:avLst>
              <a:gd name="adj" fmla="val 1923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819150" y="4629150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90600" y="4667250"/>
            <a:ext cx="5915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exp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在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创建时完整嵌入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：运行包自带它当时所用的实验，接收者不必回头找原记录。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609600" y="513397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19150" y="5305425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普通结果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不在这条链上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19150" y="5505450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把结果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.garun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，不会沿任何箭头自动补齐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协议。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35" name="" descr="&lt;Slide notes={`同一个东西有两种形态，这一点在交付时特别重要。目录是工作形态，你可以打开它、改它、继续往下跑。归档是交换形态，它是给别人看的，必须自带清单和完整内容。&#10;文件改名不会创建新的业务身份。判断一个包里的实验是不是同一个，要看清单里的 UUID，不能凭文件名去对。&#10;实验包内部的结构大致是：清单管类型与身份，资源索引管统一内容，装配文件管地图、Brain、模型用途、出生位置和运行参数。知道这份结构，你就能自己打开包核对，而不是只能相信生成方的一句话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1　三种包回答三个问题&lt;/Text&gt;&#10;            &lt;Text style={{ fontSize: 34, fontWeight: 'bold', color: '#20344B' }}&gt;目录是工作形态，归档是交换形态&lt;/Text&gt;&#10;        &lt;/Box&gt;&#10;    &lt;/Box&gt;&#10;&#10;    &lt;Box style={{ height: 540, flexDirection: 'row', alignItems: 'center', gap: 32 }}&gt;&#10;&#10;        &lt;Box style={{ width: 480, flexDirection: 'column', gap: 16 }}&gt;&#10;&#10;            &lt;Box style={{ flexDirection: 'row', gap: 14, alignItems: 'center' }}&gt;&#10;                &lt;Box style={{ width: 4, height: 60, background: '#276FBF' }} /&gt;&#10;                &lt;Box style={{ flexDirection: 'column', gap: 3 }}&gt;&#10;                    &lt;Text style={{ fontSize: 17, fontWeight: 'bold', color: '#20344B' }}&gt;目录是工作形态&lt;/Text&gt;&#10;                    &lt;Text style={{ fontSize: 14, color: '#546779', lineHeight: 1.5 }}&gt;可以继续编辑、继续运行，不是交付件。&lt;/Text&gt;&#10;                &lt;/Box&gt;&#10;            &lt;/Box&gt;&#10;&#10;            &lt;Box style={{ flexDirection: 'row', gap: 14, alignItems: 'center' }}&gt;&#10;                &lt;Box style={{ width: 4, height: 60, background: '#26816B' }} /&gt;&#10;                &lt;Box style={{ flexDirection: 'column', gap: 3 }}&gt;&#10;                    &lt;Text style={{ fontSize: 17, fontWeight: 'bold', color: '#20344B' }}&gt;归档是交换形态&lt;/Text&gt;&#10;                    &lt;Text style={{ fontSize: 14, color: '#546779', lineHeight: 1.5 }}&gt;交给别人时必须自带清单和完整内容。&lt;/Text&gt;&#10;                &lt;/Box&gt;&#10;            &lt;/Box&gt;&#10;&#10;            &lt;Box style={{ flexDirection: 'row', gap: 14, alignItems: 'center' }}&gt;&#10;                &lt;Box style={{ width: 4, height: 60, background: '#276FBF' }} /&gt;&#10;                &lt;Box style={{ flexDirection: 'column', gap: 3 }}&gt;&#10;                    &lt;Text style={{ fontSize: 17, fontWeight: 'bold', color: '#20344B' }}&gt;改名不改变身份&lt;/Text&gt;&#10;                    &lt;Text style={{ fontSize: 14, color: '#546779', lineHeight: 1.5 }}&gt;文件后缀只是命名，不创建新的业务身份。&lt;/Text&gt;&#10;                &lt;/Box&gt;&#10;            &lt;/Box&gt;&#10;&#10;            &lt;Box style={{ flexDirection: 'row', gap: 14, alignItems: 'center' }}&gt;&#10;                &lt;Box style={{ width: 4, height: 60, background: '#CB6B28' }} /&gt;&#10;                &lt;Box style={{ flexDirection: 'column', gap: 3 }}&gt;&#10;                    &lt;Text style={{ fontSize: 17, fontWeight: 'bold', color: '#CB6B28' }}&gt;认身份要读 UUID&lt;/Text&gt;&#10;                    &lt;Text style={{ fontSize: 14, color: '#546779', lineHeight: 1.5 }}&gt;识别实验和 Run 读清单 UUID，不是猜文件名。&lt;/Text&gt;&#10;                &lt;/Box&gt;&#10;            &lt;/Box&gt;&#10;&#10;        &lt;/Box&gt;&#10;&#10;        &lt;Box style={{ width: 640, flexDirection: 'column', gap: 12 }}&gt;&#10;&#10;            &lt;Text style={{ fontSize: 16, fontWeight: 'bold', color: '#20344B' }}&gt;一个封存实验包（.gaexp）的内部&lt;/Text&gt;&#10;&#10;            &lt;Box style={{ width: 640, background: '#F4F7FA', borderRadius: 12, padding: '18px 22px', flexDirection: 'column', gap: 2 }}&gt;&#10;                &lt;Text style={{ fontSize: 13, fontWeight: 'bold', color: '#20344B', fontFamily: 'Consolas, monospace', lineHeight: 1.95 }}&gt;ga-package　归档（交换形态）&lt;/Text&gt;&#10;                &lt;Text style={{ fontSize: 13, color: '#276FBF', fontFamily: 'Consolas, monospace', lineHeight: 1.95 }}&gt;├─ manifest              # package_kind · schema_version · UUID&lt;/Text&gt;&#10;                &lt;Text style={{ fontSize: 13, color: '#546779', fontFamily: 'Consolas, monospace', lineHeight: 1.95 }}&gt;├─ resources/index.json  # 统一资源内容&lt;/Text&gt;&#10;                &lt;Text style={{ fontSize: 13, color: '#546779', fontFamily: 'Consolas, monospace', lineHeight: 1.95 }}&gt;└─ runtime/assembly.json # 地图、Brain、模型用途、出生位置、参数&lt;/Text&gt;&#10;            &lt;/Box&gt;&#10;&#10;            &lt;Box style={{ width: 640, height: 74, background: '#ECF7F2', borderRadius: 10, padding: '10px 18px', flexDirection: 'column', gap: 3, justifyContent: 'center' }}&gt;&#10;                &lt;Text style={{ fontSize: 15, fontWeight: 'bold', color: '#26816B' }}&gt;Run 包里的 experiment/ 是完整副本&lt;/Text&gt;&#10;                &lt;Text style={{ fontSize: 14, color: '#546779' }}&gt;接收者不需要知道作者数据库里的旧行号，也不应通过同名资源猜绑定关系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三种包回答三个问题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目录是工作形态，归档是交换形态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609600" y="23431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81050" y="2390775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目录是工作形态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81050" y="2619375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可以继续编辑、继续运行，不是交付件。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09600" y="306705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81050" y="3114675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归档是交换形态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81050" y="3343275"/>
            <a:ext cx="2266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交给别人时必须自带清单和完整内容。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09600" y="37909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81050" y="3838575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改名不改变身份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2533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文件后缀只是命名，不创建新的业务身份。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609600" y="45148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81050" y="4562475"/>
            <a:ext cx="2847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认身份要读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UUID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28479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识别实验和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读清单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UUID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，不是猜文件名。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5486400" y="2362200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一个封存实验包（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.gaexp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）的内部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5486400" y="2667000"/>
            <a:ext cx="6096000" cy="1581150"/>
          </a:xfrm>
          <a:prstGeom prst="roundRect">
            <a:avLst>
              <a:gd name="adj" fmla="val 72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5695950" y="2838450"/>
            <a:ext cx="5676900" cy="2952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975" b="1">
                <a:solidFill>
                  <a:srgbClr val="20344B"/>
                </a:solidFill>
                <a:latin typeface="Consolas"/>
                <a:ea typeface="Consolas"/>
              </a:rPr>
              <a:t>ga-package</a:t>
            </a:r>
            <a:r>
              <a:rPr lang="zh-CN" sz="975" b="1">
                <a:solidFill>
                  <a:srgbClr val="20344B"/>
                </a:solidFill>
                <a:latin typeface="Consolas"/>
                <a:ea typeface="Consolas"/>
              </a:rPr>
              <a:t>　归档（交换形态）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5695950" y="3152775"/>
            <a:ext cx="5676900" cy="2952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>├─ manifest              # package_kind · schema_version · UUID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5695950" y="3467100"/>
            <a:ext cx="5676900" cy="2952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├─ resources/index.json  # 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统一资源内容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5695950" y="3781425"/>
            <a:ext cx="5676900" cy="2952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└─ runtime/assembly.json # 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地图、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Brain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、模型用途、出生位置、参数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5486400" y="4362450"/>
            <a:ext cx="6096000" cy="704850"/>
          </a:xfrm>
          <a:prstGeom prst="roundRect">
            <a:avLst>
              <a:gd name="adj" fmla="val 135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657850" y="4533900"/>
            <a:ext cx="5753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包里的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experiment/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是完整副本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5657850" y="4733925"/>
            <a:ext cx="575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接收者不需要知道作者数据库里的旧行号，也不应通过同名资源猜绑定关系。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63" name="" descr="&lt;Slide notes={`这四行想说的是：从哪里读、读到什么、能据此做什么，三件事要连起来看。&#10;资源包给的是资源内容本身和它的附件，能用来交换单项或者多项基础资源。实验包给的是完整资源闭包和装配，能用来执行一个固定实验。运行包在实验之上再带上完整内嵌实验和执行事实，包括 Attempt、帧、快照与质量，能用来回放，也能用于符合条件的恢复或重跑。&#10;最后一行的意思是：不要按作者资源库里的旧行号去认资源，也不要凭同名去猜绑定关系。清单里的 UUID 和包内嵌的副本才是可核对的身份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1　三种包回答三个问题&lt;/Text&gt;&#10;            &lt;Text style={{ fontSize: 34, fontWeight: 'bold', color: '#20344B' }}&gt;包内位置决定接收者能做什么&lt;/Text&gt;&#10;        &lt;/Box&gt;&#10;    &lt;/Box&gt;&#10;&#10;    &lt;Box style={{ height: 540, flexDirection: 'column', justifyContent: 'center', gap: 12 }}&gt;&#10;&#10;        &lt;Text style={{ fontSize: 17, color: '#546779', lineHeight: 1.6 }}&gt;同一个问题的三份材料：包内位置不同，保存的内容不同，接收者能据此做的事也不同。&lt;/Text&gt;&#10;&#10;        &lt;Box style={{ flexDirection: 'row', gap: 18, padding: '0 20px' }}&gt;&#10;            &lt;Box style={{ width: 154 }}&gt;&#10;                &lt;Text style={{ fontSize: 14, color: '#546779' }}&gt;包内位置&lt;/Text&gt;&#10;            &lt;/Box&gt;&#10;            &lt;Box style={{ width: 604 }}&gt;&#10;                &lt;Text style={{ fontSize: 14, color: '#546779' }}&gt;保存什么&lt;/Text&gt;&#10;            &lt;/Box&gt;&#10;            &lt;Box style={{ width: 300 }}&gt;&#10;                &lt;Text style={{ fontSize: 14, color: '#546779' }}&gt;接收者据此能做什么&lt;/Text&gt;&#10;            &lt;/Box&gt;&#10;        &lt;/Box&gt;&#10;&#10;        &lt;Box style={{ flexDirection: 'column', gap: 10 }}&gt;&#10;&#10;            &lt;Box style={{ width: 1152, height: 82, background: '#F4F7FA', borderRadius: 10, padding: '0 20px', flexDirection: 'row', alignItems: 'center', gap: 18 }}&gt;&#10;                &lt;Box style={{ width: 4, height: 52, background: '#276FBF' }} /&gt;&#10;                &lt;Box style={{ width: 150 }}&gt;&#10;                    &lt;Text style={{ fontSize: 16, fontWeight: 'bold', color: '#20344B' }}&gt;config 资源包&lt;/Text&gt;&#10;                &lt;/Box&gt;&#10;                &lt;Box style={{ flex: 1 }}&gt;&#10;                    &lt;Text style={{ fontSize: 14, color: '#546779', lineHeight: 1.5 }}&gt;资源内容与自身附件；跨资源依赖可以显式未绑定&lt;/Text&gt;&#10;                &lt;/Box&gt;&#10;                &lt;Box style={{ width: 300 }}&gt;&#10;                    &lt;Text style={{ fontSize: 14, color: '#276FBF' }}&gt;交换单项或多项基础资源&lt;/Text&gt;&#10;                &lt;/Box&gt;&#10;            &lt;/Box&gt;&#10;&#10;            &lt;Box style={{ width: 1152, height: 82, background: '#F4F7FA', borderRadius: 10, padding: '0 20px', flexDirection: 'row', alignItems: 'center', gap: 18 }}&gt;&#10;                &lt;Box style={{ width: 4, height: 52, background: '#276FBF' }} /&gt;&#10;                &lt;Box style={{ width: 150 }}&gt;&#10;                    &lt;Text style={{ fontSize: 16, fontWeight: 'bold', color: '#20344B' }}&gt;exp 实验包&lt;/Text&gt;&#10;                &lt;/Box&gt;&#10;                &lt;Box style={{ flex: 1 }}&gt;&#10;                    &lt;Text style={{ fontSize: 14, color: '#546779', lineHeight: 1.5 }}&gt;完整资源闭包与实验装配，含地图、Brain 与运行参数&lt;/Text&gt;&#10;                &lt;/Box&gt;&#10;                &lt;Box style={{ width: 300 }}&gt;&#10;                    &lt;Text style={{ fontSize: 14, color: '#276FBF' }}&gt;执行一个固定实验&lt;/Text&gt;&#10;                &lt;/Box&gt;&#10;            &lt;/Box&gt;&#10;&#10;            &lt;Box style={{ width: 1152, height: 82, background: '#F4F7FA', borderRadius: 10, padding: '0 20px', flexDirection: 'row', alignItems: 'center', gap: 18 }}&gt;&#10;                &lt;Box style={{ width: 4, height: 52, background: '#26816B' }} /&gt;&#10;                &lt;Box style={{ width: 150 }}&gt;&#10;                    &lt;Text style={{ fontSize: 16, fontWeight: 'bold', color: '#20344B' }}&gt;run 运行包&lt;/Text&gt;&#10;                &lt;/Box&gt;&#10;                &lt;Box style={{ flex: 1 }}&gt;&#10;                    &lt;Text style={{ fontSize: 14, color: '#546779', lineHeight: 1.5 }}&gt;完整内嵌实验，加上 Attempt、帧、快照与质量&lt;/Text&gt;&#10;                &lt;/Box&gt;&#10;                &lt;Box style={{ width: 300 }}&gt;&#10;                    &lt;Text style={{ fontSize: 14, color: '#26816B' }}&gt;回放、符合条件的恢复或重跑&lt;/Text&gt;&#10;                &lt;/Box&gt;&#10;            &lt;/Box&gt;&#10;&#10;            &lt;Box style={{ width: 1152, height: 82, background: '#FFF4E6', borderRadius: 10, padding: '0 20px', flexDirection: 'row', alignItems: 'center', gap: 18 }}&gt;&#10;                &lt;Box style={{ width: 4, height: 52, background: '#CB6B28' }} /&gt;&#10;                &lt;Box style={{ width: 150 }}&gt;&#10;                    &lt;Text style={{ fontSize: 16, fontWeight: 'bold', color: '#CB6B28' }}&gt;读取方式&lt;/Text&gt;&#10;                &lt;/Box&gt;&#10;                &lt;Box style={{ flex: 1 }}&gt;&#10;                    &lt;Text style={{ fontSize: 14, color: '#546779', lineHeight: 1.5 }}&gt;按清单 UUID 与包内嵌副本识别身份&lt;/Text&gt;&#10;                &lt;/Box&gt;&#10;                &lt;Box style={{ width: 300 }}&gt;&#10;                    &lt;Text style={{ fontSize: 14, color: '#CB6B28' }}&gt;不按旧行号，也不靠同名资源猜绑定&lt;/Text&gt;&#10;                &lt;/Box&gt;&#10;            &lt;/Box&gt;&#10;&#10;        &lt;/Box&gt;&#10;&#10;        &lt;Box style={{ width: 1152, height: 72, background: '#ECF7F2', borderRadius: 10, padding: '0 22px', flexDirection: 'row', alignItems: 'center', gap: 16 }}&gt;&#10;            &lt;Box style={{ width: 4, height: 34, background: '#26816B' }} /&gt;&#10;            &lt;Text style={{ fontSize: 15, color: '#26816B' }}&gt;Run 里的 experiment/ 是完整副本：接收者不必知道作者公共资源数据库里的旧行号。&lt;/Text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三种包回答三个问题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包内位置决定接收者能做什么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同一个问题的三份材料：包内位置不同，保存的内容不同，接收者能据此做的事也不同。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00100" y="168592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包内位置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2438400" y="1685925"/>
            <a:ext cx="575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保存什么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362950" y="16859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接收者据此能做什么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609600" y="19621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800100" y="21050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009650" y="22574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config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资源包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2609850" y="2228850"/>
            <a:ext cx="5753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资源内容与自身附件；跨资源依赖可以显式未绑定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534400" y="22764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交换单项或多项基础资源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09600" y="28384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8" name=""/>
          <p:cNvSpPr/>
          <p:nvPr/>
        </p:nvSpPr>
        <p:spPr>
          <a:xfrm rot="0" flipH="0" flipV="0">
            <a:off x="800100" y="29813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009650" y="31337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exp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实验包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2609850" y="3105150"/>
            <a:ext cx="5753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完整资源闭包与实验装配，含地图、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与运行参数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534400" y="31527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执行一个固定实验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09600" y="37147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3" name=""/>
          <p:cNvSpPr/>
          <p:nvPr/>
        </p:nvSpPr>
        <p:spPr>
          <a:xfrm rot="0" flipH="0" flipV="0">
            <a:off x="800100" y="38576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009650" y="40100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运行包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2609850" y="3981450"/>
            <a:ext cx="5753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完整内嵌实验，加上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、帧、快照与质量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534400" y="40290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回放、符合条件的恢复或重跑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09600" y="45910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800100" y="473392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009650" y="48863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读取方式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2609850" y="4857750"/>
            <a:ext cx="5753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按清单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UUID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与包内嵌副本识别身份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534400" y="49053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不按旧行号，也不靠同名资源猜绑定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54864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819150" y="5667375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009650" y="5743575"/>
            <a:ext cx="552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里的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experiment/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是完整副本：接收者不必知道作者公共资源数据库里的旧行号。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97" name="" descr="&lt;Slide notes={`文件能做什么，要从三个入口分开看。&#10;资源中心负责的是资源交换，你在那里导出和导入资源包，拿到的还是资源。结果页负责的是把一次运行的结果材料导出出来，方便分享指定边界的内容和报告。正式封存负责的是写出一个经过协议封存、带完整性清单的包。&#10;三个入口看起来都在导出，但它们能承诺的事情完全不同。把这三个入口分开，比记住按钮叫什么更重要，因为后面所有的判断都建立在你知道手里那份文件到底是什么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②　　3.13.2 — 3.13.3&lt;/Text&gt;&#10;&#10;        &lt;Text style={{ fontSize: 56, fontWeight: 'bold', color: '#20344B', lineHeight: 1.15 }}&gt;交换与下载：文件能做什么&lt;/Text&gt;&#10;&#10;        &lt;Box style={{ width: 72, height: 4, background: '#276FBF' }} /&gt;&#10;&#10;        &lt;Text style={{ fontSize: 18, color: '#546779', lineHeight: 1.7, width: 900 }}&gt;资源中心、结果页、正式封存是三个不同入口；能承诺的事情完全不同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资源中心 · 交换&lt;/Text&gt;&#10;            &lt;/Box&gt;&#10;            &lt;Box style={{ width: 44, height: 64, justifyContent: 'center', alignItems: 'center' }}&gt;&#10;                &lt;Text style={{ fontSize: 26, color: '#546779' }}&gt;›&lt;/Text&gt;&#10;            &lt;/Box&gt;&#10;            &lt;Box style={{ width: 300, height: 64, background: '#F4F7FA', borderRadius: 8, justifyContent: 'center', alignItems: 'center' }}&gt;&#10;                &lt;Text style={{ fontSize: 18, color: '#20344B' }}&gt;结果页 · 下载全部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正式封存 · 归档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3.13.2 — 3.13.3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交换与下载：文件能做什么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资源中心、结果页、正式封存是三个不同入口；能承诺的事情完全不同。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457325" y="4257675"/>
            <a:ext cx="1171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资源中心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交换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648200" y="4257675"/>
            <a:ext cx="1343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结果页</a:t>
            </a:r>
            <a:r>
              <a:rPr lang="en-US" sz="135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下载全部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010525" y="4257675"/>
            <a:ext cx="1171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正式封存</a:t>
            </a: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归档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13" name="" descr="&lt;Slide notes={`资源交换的界面分成导出和导入两条路。导出的时候先选已经保存好的资源，再看要不要同时打包关联资源，这个选择决定了跨资源依赖会不会跟着走。&#10;有一点容易忽略：想分享编辑器里刚做出的新内容，应该先保存。没有保存的画面不会被当成导出内容。&#10;导入的时候先上传，然后看资源清单，挑出需要的条目和关联资源，再确认导入。入口同时接受基础资源包、实验包和运行包，是为了让你能从里面挑基础资源，并不等于把一个运行包的全部执行历史恢复到运行列表里面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2　在资源中心交换所需内容&lt;/Text&gt;&#10;            &lt;Text style={{ fontSize: 34, fontWeight: 'bold', color: '#20344B' }}&gt;资源中心里的导出与导入&lt;/Text&gt;&#10;        &lt;/Box&gt;&#10;    &lt;/Box&gt;&#10;&#10;    &lt;Box style={{ height: 540, flexDirection: 'column', justifyContent: 'center', gap: 16 }}&gt;&#10;&#10;        &lt;Box style={{ width: 1152, height: 216, background: '#F4F7FA', borderRadius: 12, padding: 16, flexDirection: 'column', gap: 10 }}&gt;&#10;&#10;            &lt;Box style={{ width: 1120, height: 34, background: '#B5C7D8', borderRadius: 6, padding: '0 14px', flexDirection: 'row', alignItems: 'center', justifyContent: 'space-between' }}&gt;&#10;                &lt;Text style={{ fontSize: 13, color: '#20344B' }}&gt;资源中心 · 资源交换&lt;/Text&gt;&#10;                &lt;Text style={{ fontSize: 13, fontWeight: 'bold', color: '#CB6B28' }}&gt;示意&lt;/Text&gt;&#10;            &lt;/Box&gt;&#10;&#10;            &lt;Box style={{ flexDirection: 'row', gap: 16 }}&gt;&#10;&#10;                &lt;Box style={{ width: 552, height: 140, background: '#FFFFFF', borderRadius: 10, padding: '12px 16px', flexDirection: 'column', gap: 8 }}&gt;&#10;                    &lt;Text style={{ fontSize: 16, fontWeight: 'bold', color: '#276FBF' }}&gt;导出资源包&lt;/Text&gt;&#10;                    &lt;Text style={{ fontSize: 13, color: '#546779', lineHeight: 1.5 }}&gt;选择已保存资源 → 决定是否同时打包关联资源 → 生成资源归档&lt;/Text&gt;&#10;                    &lt;Box style={{ flexDirection: 'row', gap: 8 }}&gt;&#10;                        &lt;Box style={{ width: 80, height: 30, background: '#EDF4FC', borderRadius: 6, justifyContent: 'center', alignItems: 'center' }}&gt;&#10;                            &lt;Text style={{ fontSize: 13, color: '#276FBF' }}&gt;地图&lt;/Text&gt;&#10;                        &lt;/Box&gt;&#10;                        &lt;Box style={{ width: 80, height: 30, background: '#EDF4FC', borderRadius: 6, justifyContent: 'center', alignItems: 'center' }}&gt;&#10;                            &lt;Text style={{ fontSize: 13, color: '#276FBF' }}&gt;Agent&lt;/Text&gt;&#10;                        &lt;/Box&gt;&#10;                        &lt;Box style={{ width: 80, height: 30, background: '#EDF4FC', borderRadius: 6, justifyContent: 'center', alignItems: 'center' }}&gt;&#10;                            &lt;Text style={{ fontSize: 13, color: '#276FBF' }}&gt;Crowd&lt;/Text&gt;&#10;                        &lt;/Box&gt;&#10;                        &lt;Box style={{ width: 80, height: 30, background: '#EDF4FC', borderRadius: 6, justifyContent: 'center', alignItems: 'center' }}&gt;&#10;                            &lt;Text style={{ fontSize: 13, color: '#276FBF' }}&gt;Skill&lt;/Text&gt;&#10;                        &lt;/Box&gt;&#10;                        &lt;Box style={{ width: 80, height: 30, background: '#EDF4FC', borderRadius: 6, justifyContent: 'center', alignItems: 'center' }}&gt;&#10;                            &lt;Text style={{ fontSize: 13, color: '#276FBF' }}&gt;Brain&lt;/Text&gt;&#10;                        &lt;/Box&gt;&#10;                        &lt;Box style={{ width: 80, height: 30, background: '#EDF4FC', borderRadius: 6, justifyContent: 'center', alignItems: 'center' }}&gt;&#10;                            &lt;Text style={{ fontSize: 13, color: '#276FBF' }}&gt;模型配置&lt;/Text&gt;&#10;                        &lt;/Box&gt;&#10;                    &lt;/Box&gt;&#10;                    &lt;Text style={{ fontSize: 13, color: '#546779' }}&gt;图片、脚本等附件必须齐全；未保存的画面不算导出内容。&lt;/Text&gt;&#10;                &lt;/Box&gt;&#10;&#10;                &lt;Box style={{ width: 552, height: 140, background: '#FFFFFF', borderRadius: 10, padding: '12px 16px', flexDirection: 'column', gap: 8 }}&gt;&#10;                    &lt;Text style={{ fontSize: 16, fontWeight: 'bold', color: '#26816B' }}&gt;导入资源包&lt;/Text&gt;&#10;                    &lt;Text style={{ fontSize: 13, color: '#546779', lineHeight: 1.5 }}&gt;上传 → 查看资源清单 → 选择条目与关联资源 → 确认导入&lt;/Text&gt;&#10;                    &lt;Box style={{ flexDirection: 'row', gap: 8 }}&gt;&#10;                        &lt;Box style={{ width: 168, height: 30, background: '#ECF7F2', borderRadius: 6, justifyContent: 'center', alignItems: 'center' }}&gt;&#10;                            &lt;Text style={{ fontSize: 13, color: '#26816B' }}&gt;基础资源包&lt;/Text&gt;&#10;                        &lt;/Box&gt;&#10;                        &lt;Box style={{ width: 168, height: 30, background: '#ECF7F2', borderRadius: 6, justifyContent: 'center', alignItems: 'center' }}&gt;&#10;                            &lt;Text style={{ fontSize: 13, color: '#26816B' }}&gt;实验包 .gaexp&lt;/Text&gt;&#10;                        &lt;/Box&gt;&#10;                        &lt;Box style={{ width: 168, height: 30, background: '#ECF7F2', borderRadius: 6, justifyContent: 'center', alignItems: 'center' }}&gt;&#10;                            &lt;Text style={{ fontSize: 13, color: '#26816B' }}&gt;运行包 .garun&lt;/Text&gt;&#10;                        &lt;/Box&gt;&#10;                    &lt;/Box&gt;&#10;                    &lt;Text style={{ fontSize: 13, color: '#CB6B28' }}&gt;入口接受实验包或运行包，是为了从其中挑选基础资源。&lt;/Text&gt;&#10;                &lt;/Box&gt;&#10;&#10;            &lt;/Box&gt;&#10;&#10;        &lt;/Box&gt;&#10;&#10;        &lt;Box style={{ flexDirection: 'row', gap: 20 }}&gt;&#10;            &lt;Box style={{ width: 566, height: 96, background: '#EDF4FC', borderRadius: 10, padding: '12px 20px', flexDirection: 'column', gap: 4, justifyContent: 'center' }}&gt;&#10;                &lt;Text style={{ fontSize: 16, fontWeight: 'bold', color: '#276FBF' }}&gt;导出后核对范围&lt;/Text&gt;&#10;                &lt;Text style={{ fontSize: 14, color: '#546779', lineHeight: 1.5 }}&gt;资源本身的附件应齐全；跨资源依赖是否一并导出，由所选范围决定。&lt;/Text&gt;&#10;            &lt;/Box&gt;&#10;            &lt;Box style={{ width: 566, height: 96, background: '#FFF4E6', borderRadius: 10, padding: '12px 20px', flexDirection: 'column', gap: 4, justifyContent: 'center' }}&gt;&#10;                &lt;Text style={{ fontSize: 16, fontWeight: 'bold', color: '#CB6B28' }}&gt;导入后别扩大结论&lt;/Text&gt;&#10;                &lt;Text style={{ fontSize: 14, color: '#546779', lineHeight: 1.5 }}&gt;这不等于把一个 Run 的全部执行历史恢复到运行列表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在资源中心交换所需内容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资源中心里的导出与导入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09600" y="2152650"/>
            <a:ext cx="10972800" cy="20574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762000" y="2305050"/>
            <a:ext cx="10668000" cy="323850"/>
          </a:xfrm>
          <a:prstGeom prst="roundRect">
            <a:avLst>
              <a:gd name="adj" fmla="val 17647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95350" y="23907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资源中心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资源交换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1049000" y="23907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762000" y="2724150"/>
            <a:ext cx="52578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914400" y="283845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导出资源包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914400" y="31051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选择已保存资源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决定是否同时打包关联资源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生成资源归档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914400" y="3409950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171575" y="34766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1752600" y="3409950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952625" y="3476625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2590800" y="3409950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2781300" y="34766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Crowd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3429000" y="3409950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695700" y="3476625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Skill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4267200" y="3409950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4495800" y="3476625"/>
            <a:ext cx="30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Brain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5105400" y="3409950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5238750" y="34766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模型配置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914400" y="377190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图片、脚本等附件必须齐全；未保存的画面不算导出内容。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6172200" y="2724150"/>
            <a:ext cx="52578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6324600" y="283845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导入资源包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324600" y="31051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上传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查看资源清单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选择条目与关联资源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确认导入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324600" y="3409950"/>
            <a:ext cx="1600200" cy="28575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819900" y="34766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基础资源包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8001000" y="3409950"/>
            <a:ext cx="1600200" cy="28575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8401050" y="347662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实验包</a:t>
            </a: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 xml:space="preserve"> .gaexp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9677400" y="3409950"/>
            <a:ext cx="1600200" cy="28575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10086975" y="3476625"/>
            <a:ext cx="790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运行包</a:t>
            </a: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 xml:space="preserve"> .garun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324600" y="377190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入口接受实验包或运行包，是为了从其中挑选基础资源。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09600" y="4362450"/>
            <a:ext cx="53911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00100" y="458152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导出后核对范围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00100" y="4810125"/>
            <a:ext cx="5010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资源本身的附件应齐全；跨资源依赖是否一并导出，由所选范围决定。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191250" y="4362450"/>
            <a:ext cx="539115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381750" y="458152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导入后别扩大结论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381750" y="4810125"/>
            <a:ext cx="5010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这不等于把一个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的全部执行历史恢复到运行列表里。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notes={`导出范围决定跨资源依赖会不会一起走，这是最需要主动判断的地方。&#10;资源本身的图片和脚本这些附件应该齐全，缺件会让对方拿到一个不完整的资源。但资源之间的依赖关系是不是一并导出，取决于你选了多大的范围，所以导出之后要自己核对一遍。&#10;还有一个必须阻断的情况：同一个 skill_key 对应了两份不同内容的时候，应该停下来解释冲突，不能静默覆盖，也不能按显示名称去配对。&#10;最后一点，公共资源导入成功之后，也不能说某个已经封存的实验自动采用了它，因为封存实验用的是它自己那份副本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2　在资源中心交换所需内容&lt;/Text&gt;&#10;            &lt;Text style={{ fontSize: 34, fontWeight: 'bold', color: '#20344B' }}&gt;导出范围决定依赖是否同行&lt;/Text&gt;&#10;        &lt;/Box&gt;&#10;    &lt;/Box&gt;&#10;&#10;    &lt;Box style={{ height: 540, flexDirection: 'row', alignItems: 'center', gap: 32 }}&gt;&#10;&#10;        &lt;Box style={{ width: 634, flexDirection: 'column', gap: 12 }}&gt;&#10;&#10;            &lt;Box style={{ flexDirection: 'row', gap: 14, alignItems: 'center' }}&gt;&#10;                &lt;Box style={{ width: 4, height: 48, background: '#276FBF' }} /&gt;&#10;                &lt;Box style={{ width: 190 }}&gt;&#10;                    &lt;Text style={{ fontSize: 16, fontWeight: 'bold', color: '#20344B' }}&gt;附件齐全&lt;/Text&gt;&#10;                &lt;/Box&gt;&#10;                &lt;Box style={{ flex: 1 }}&gt;&#10;                    &lt;Text style={{ fontSize: 13, color: '#546779', lineHeight: 1.5 }}&gt;资源自身的图片、脚本等附件应齐全。&lt;/Text&gt;&#10;                &lt;/Box&gt;&#10;            &lt;/Box&gt;&#10;&#10;            &lt;Box style={{ flexDirection: 'row', gap: 14, alignItems: 'center' }}&gt;&#10;                &lt;Box style={{ width: 4, height: 48, background: '#276FBF' }} /&gt;&#10;                &lt;Box style={{ width: 190 }}&gt;&#10;                    &lt;Text style={{ fontSize: 16, fontWeight: 'bold', color: '#20344B' }}&gt;导出范围&lt;/Text&gt;&#10;                &lt;/Box&gt;&#10;                &lt;Box style={{ flex: 1 }}&gt;&#10;                    &lt;Text style={{ fontSize: 13, color: '#546779', lineHeight: 1.5 }}&gt;跨资源依赖是否一并导出，由所选范围决定。&lt;/Text&gt;&#10;                &lt;/Box&gt;&#10;            &lt;/Box&gt;&#10;&#10;            &lt;Box style={{ flexDirection: 'row', gap: 14, alignItems: 'center' }}&gt;&#10;                &lt;Box style={{ width: 4, height: 48, background: '#276FBF' }} /&gt;&#10;                &lt;Box style={{ width: 190 }}&gt;&#10;                    &lt;Text style={{ fontSize: 16, fontWeight: 'bold', color: '#20344B' }}&gt;先保存再分享&lt;/Text&gt;&#10;                &lt;/Box&gt;&#10;                &lt;Box style={{ flex: 1 }}&gt;&#10;                    &lt;Text style={{ fontSize: 13, color: '#546779', lineHeight: 1.5 }}&gt;想分享编辑器里的新内容，应先保存。&lt;/Text&gt;&#10;                &lt;/Box&gt;&#10;            &lt;/Box&gt;&#10;&#10;            &lt;Box style={{ flexDirection: 'row', gap: 14, alignItems: 'center' }}&gt;&#10;                &lt;Box style={{ width: 4, height: 48, background: '#276FBF' }} /&gt;&#10;                &lt;Box style={{ width: 190 }}&gt;&#10;                    &lt;Text style={{ fontSize: 16, fontWeight: 'bold', color: '#20344B' }}&gt;依赖必须绑定&lt;/Text&gt;&#10;                &lt;/Box&gt;&#10;                &lt;Box style={{ flex: 1 }}&gt;&#10;                    &lt;Text style={{ fontSize: 13, color: '#546779', lineHeight: 1.5 }}&gt;config 可有显式未绑定依赖，进入实验前必须绑定完整。&lt;/Text&gt;&#10;                &lt;/Box&gt;&#10;            &lt;/Box&gt;&#10;&#10;            &lt;Box style={{ flexDirection: 'row', gap: 14, alignItems: 'center' }}&gt;&#10;                &lt;Box style={{ width: 4, height: 48, background: '#CB6B28' }} /&gt;&#10;                &lt;Box style={{ width: 190 }}&gt;&#10;                    &lt;Text style={{ fontSize: 16, fontWeight: 'bold', color: '#CB6B28' }}&gt;skill_key 冲突&lt;/Text&gt;&#10;                &lt;/Box&gt;&#10;                &lt;Box style={{ flex: 1 }}&gt;&#10;                    &lt;Text style={{ fontSize: 13, color: '#546779', lineHeight: 1.5 }}&gt;同名不同内容时应阻断并解释，不能静默覆盖或按显示名称配对。&lt;/Text&gt;&#10;                &lt;/Box&gt;&#10;            &lt;/Box&gt;&#10;&#10;        &lt;/Box&gt;&#10;&#10;        &lt;Box style={{ width: 486, flexDirection: 'column', gap: 16 }}&gt;&#10;&#10;            &lt;Box style={{ width: 486, height: 176, background: '#EDF4FC', borderRadius: 10, padding: '16px 20px', flexDirection: 'column', gap: 6, justifyContent: 'center' }}&gt;&#10;                &lt;Text style={{ fontSize: 16, fontWeight: 'bold', color: '#276FBF' }}&gt;逐类检查自己的内容&lt;/Text&gt;&#10;                &lt;Text style={{ fontSize: 14, color: '#546779', lineHeight: 1.6 }}&gt;地图、Agent、Crowd、Skill、Brain、模型配置，应分别检查自己的内容与附件，不要只抽查一项。&lt;/Text&gt;&#10;            &lt;/Box&gt;&#10;&#10;            &lt;Box style={{ width: 486, height: 176, background: '#FFF4E6', borderRadius: 10, padding: '16px 20px', flexDirection: 'column', gap: 6, justifyContent: 'center' }}&gt;&#10;                &lt;Text style={{ fontSize: 16, fontWeight: 'bold', color: '#CB6B28' }}&gt;不要把结论说大&lt;/Text&gt;&#10;                &lt;Text style={{ fontSize: 14, color: '#546779', lineHeight: 1.6 }}&gt;公共资源导入成功后，也不能声称某个已封存实验自动采用了它。封存实验用的是它自己的副本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在资源中心交换所需内容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导出范围决定依赖是否同行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23431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81050" y="24765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附件齐全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724150" y="2457450"/>
            <a:ext cx="3924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资源自身的图片、脚本等附件应齐全。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29146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81050" y="30480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导出范围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724150" y="3028950"/>
            <a:ext cx="3924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跨资源依赖是否一并导出，由所选范围决定。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34861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81050" y="36195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先保存再分享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724150" y="3600450"/>
            <a:ext cx="3924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想分享编辑器里的新内容，应先保存。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40576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依赖必须绑定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2724150" y="4171950"/>
            <a:ext cx="3924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config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可有显式未绑定依赖，进入实验前必须绑定完整。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09600" y="46291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81050" y="47625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skill_key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冲突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724150" y="4743450"/>
            <a:ext cx="3924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同名不同内容时应阻断并解释，不能静默覆盖或按显示名称配对。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953250" y="1962150"/>
            <a:ext cx="4629150" cy="1676400"/>
          </a:xfrm>
          <a:prstGeom prst="roundRect">
            <a:avLst>
              <a:gd name="adj" fmla="val 56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143750" y="2419350"/>
            <a:ext cx="424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逐类检查自己的内容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143750" y="2667000"/>
            <a:ext cx="4248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Agent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Crowd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、模型配置，应分别检查自己的内容与附件，不要只抽查一项。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953250" y="3790950"/>
            <a:ext cx="4629150" cy="1676400"/>
          </a:xfrm>
          <a:prstGeom prst="roundRect">
            <a:avLst>
              <a:gd name="adj" fmla="val 56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0" y="4248150"/>
            <a:ext cx="424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不要把结论说大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143750" y="4495800"/>
            <a:ext cx="4248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公共资源导入成功后，也不能声称某个已封存实验自动采用了它。封存实验用的是它自己的副本。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2" name="" descr="&lt;Slide notes={`结果页上的下载全部，得到的其实是一个结果包，文件名通常是带步骤号的结果压缩包。它是按取材那一刻的提交边界保存的，并且会生成对应这个边界的质量报告。&#10;检查点详情里的创建压缩包，导出的只是所选的那个检查点，范围更窄。&#10;这两条路径都不生成正式的外层完整性清单，所以把后缀改成运行包，并不能让它变成正式包。正式的运行包由封存流程写出：它会从一致的暂存副本生成完整性清单和归档，不会在原地改写你已有的压缩包。这也是为什么改名和封存是两件完全不同的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3　“下载全部”为什么不等于正式 Run 包&lt;/Text&gt;&#10;            &lt;Text style={{ fontSize: 34, fontWeight: 'bold', color: '#20344B' }}&gt;「下载全部」得到的是结果包&lt;/Text&gt;&#10;        &lt;/Box&gt;&#10;    &lt;/Box&gt;&#10;&#10;    &lt;Box style={{ height: 540, flexDirection: 'column', justifyContent: 'center', gap: 16 }}&gt;&#10;&#10;        &lt;Text style={{ fontSize: 17, color: '#546779', lineHeight: 1.6 }}&gt;结果页有两条导出路径，产物不同，但都不是正式外层清单封装的包。&lt;/Text&gt;&#10;&#10;        &lt;Box style={{ width: 1152, height: 216, background: '#F4F7FA', borderRadius: 12, padding: 16, flexDirection: 'column', gap: 10 }}&gt;&#10;&#10;            &lt;Box style={{ width: 1120, height: 34, background: '#B5C7D8', borderRadius: 6, padding: '0 14px', flexDirection: 'row', alignItems: 'center', justifyContent: 'space-between' }}&gt;&#10;                &lt;Text style={{ fontSize: 13, color: '#20344B' }}&gt;结果页 · 结果与导出&lt;/Text&gt;&#10;                &lt;Text style={{ fontSize: 13, fontWeight: 'bold', color: '#CB6B28' }}&gt;示意&lt;/Text&gt;&#10;            &lt;/Box&gt;&#10;&#10;            &lt;Box style={{ flexDirection: 'row', alignItems: 'center' }}&gt;&#10;                &lt;Box style={{ width: 320, height: 48, background: '#FFFFFF', borderRadius: 8, padding: '0 14px', justifyContent: 'center' }}&gt;&#10;                    &lt;Text style={{ fontSize: 14, color: '#20344B' }}&gt;导出结果 / 结果与导出 → 下载全部&lt;/Text&gt;&#10;                &lt;/Box&gt;&#10;                &lt;Box style={{ width: 44, height: 48, justifyContent: 'center', alignItems: 'center' }}&gt;&#10;                    &lt;Text style={{ fontSize: 22, color: '#276FBF' }}&gt;›&lt;/Text&gt;&#10;                &lt;/Box&gt;&#10;                &lt;Box style={{ width: 360, height: 48, background: '#EDF4FC', borderRadius: 8, padding: '0 14px', justifyContent: 'center' }}&gt;&#10;                    &lt;Text style={{ fontSize: 13, color: '#276FBF', fontFamily: 'Consolas, monospace' }}&gt;result-bundle-step-….zip&lt;/Text&gt;&#10;                &lt;/Box&gt;&#10;                &lt;Box style={{ width: 44, height: 48, justifyContent: 'center', alignItems: 'center' }}&gt;&#10;                    &lt;Text style={{ fontSize: 22, color: '#276FBF' }}&gt;›&lt;/Text&gt;&#10;                &lt;/Box&gt;&#10;                &lt;Box style={{ width: 352, height: 48, background: '#FFF4E6', borderRadius: 8, padding: '0 14px', justifyContent: 'center' }}&gt;&#10;                    &lt;Text style={{ fontSize: 13, color: '#CB6B28' }}&gt;按取材时的提交边界保存，并生成该边界的质量报告&lt;/Text&gt;&#10;                &lt;/Box&gt;&#10;            &lt;/Box&gt;&#10;&#10;            &lt;Box style={{ flexDirection: 'row', alignItems: 'center' }}&gt;&#10;                &lt;Box style={{ width: 320, height: 48, background: '#FFFFFF', borderRadius: 8, padding: '0 14px', justifyContent: 'center' }}&gt;&#10;                    &lt;Text style={{ fontSize: 14, color: '#20344B' }}&gt;检查点详情 → 创建 ZIP&lt;/Text&gt;&#10;                &lt;/Box&gt;&#10;                &lt;Box style={{ width: 44, height: 48, justifyContent: 'center', alignItems: 'center' }}&gt;&#10;                    &lt;Text style={{ fontSize: 22, color: '#276FBF' }}&gt;›&lt;/Text&gt;&#10;                &lt;/Box&gt;&#10;                &lt;Box style={{ width: 360, height: 48, background: '#EDF4FC', borderRadius: 8, padding: '0 14px', justifyContent: 'center' }}&gt;&#10;                    &lt;Text style={{ fontSize: 13, color: '#276FBF' }}&gt;只导出所选检查点&lt;/Text&gt;&#10;                &lt;/Box&gt;&#10;                &lt;Box style={{ width: 44, height: 48, justifyContent: 'center', alignItems: 'center' }}&gt;&#10;                    &lt;Text style={{ fontSize: 22, color: '#CB6B28' }}&gt;›&lt;/Text&gt;&#10;                &lt;/Box&gt;&#10;                &lt;Box style={{ width: 352, height: 48, background: '#FFF4E6', borderRadius: 8, padding: '0 14px', justifyContent: 'center' }}&gt;&#10;                    &lt;Text style={{ fontSize: 13, color: '#CB6B28' }}&gt;范围更窄，不能独立替代完整 Run&lt;/Text&gt;&#10;                &lt;/Box&gt;&#10;            &lt;/Box&gt;&#10;&#10;        &lt;/Box&gt;&#10;&#10;        &lt;Box style={{ width: 1152, height: 92, background: '#FFF4E6', borderRadius: 10, padding: '14px 22px', flexDirection: 'column', gap: 5, justifyContent: 'center' }}&gt;&#10;            &lt;Text style={{ fontSize: 16, fontWeight: 'bold', color: '#CB6B28' }}&gt;普通结果 ZIP 的生成路径不包含正式外层完整性清单&lt;/Text&gt;&#10;            &lt;Text style={{ fontSize: 14, color: '#546779', lineHeight: 1.5 }}&gt;不能靠改名变成 .garun。Run 正式封存由 RunService.seal 完成：拒绝活动状态，取得写锁，从一致暂存副本生成完整性清单与归档，不原地改写既有 ZIP。&lt;/Text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“下载全部”为什么不等于正式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「下载全部」得到的是结果包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结果页有两条导出路径，产物不同，但都不是正式外层清单封装的包。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2409825"/>
            <a:ext cx="10972800" cy="20574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762000" y="2562225"/>
            <a:ext cx="10668000" cy="323850"/>
          </a:xfrm>
          <a:prstGeom prst="roundRect">
            <a:avLst>
              <a:gd name="adj" fmla="val 17647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95350" y="264795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结果页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结果与导出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049000" y="26479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762000" y="2981325"/>
            <a:ext cx="3048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95350" y="3133725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导出结果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结果与导出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下载全部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981450" y="30861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229100" y="2981325"/>
            <a:ext cx="34290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362450" y="31337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>result-bundle-step-….zip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829550" y="30861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077200" y="2981325"/>
            <a:ext cx="33528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210550" y="3133725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按取材时的提交边界保存，并生成该边界的质量报告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762000" y="3533775"/>
            <a:ext cx="3048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95350" y="3686175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检查点详情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创建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ZIP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981450" y="363855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229100" y="3533775"/>
            <a:ext cx="34290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362450" y="368617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只导出所选检查点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29550" y="363855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8077200" y="3533775"/>
            <a:ext cx="33528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10550" y="3686175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范围更窄，不能独立替代完整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" y="461962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19150" y="4819650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普通结果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的生成路径不包含正式外层完整性清单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19150" y="5057775"/>
            <a:ext cx="1055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不能靠改名变成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.garun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正式封存由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RunService.seal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完成：拒绝活动状态，取得写锁，从一致暂存副本生成完整性清单与归档，不原地改写既有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3" name="" descr="&lt;Slide notes={`这四个文件各自能先确认什么，要对清楚，因为这是交付时最常被夸大的一段。&#10;结果压缩包可以用来分享指定边界的结果材料和报告，但它不能承诺完整正式包校验，也不能一键恢复。检查点压缩包可以用来检查一个恢复快照里有哪些成员、内容是什么，但它不能独立替代一个完整运行。&#10;正式实验包交换的是已经封存的实验输入，它不说明这个实验运行成功过，也不说明模型现在可用。正式运行包交换的是经过协议封存的运行，它同样不说明目标机器一定具备执行环境。&#10;说到底，先确认用途，再谈承诺，后缀本身什么都不保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3　“下载全部”为什么不等于正式 Run 包&lt;/Text&gt;&#10;            &lt;Text style={{ fontSize: 34, fontWeight: 'bold', color: '#20344B' }}&gt;四类文件能先确认什么&lt;/Text&gt;&#10;        &lt;/Box&gt;&#10;    &lt;/Box&gt;&#10;&#10;    &lt;Box style={{ height: 540, flexDirection: 'column', justifyContent: 'center', gap: 12 }}&gt;&#10;&#10;        &lt;Text style={{ fontSize: 17, color: '#546779', lineHeight: 1.6 }}&gt;左边是要先确认的用途，右边是仅凭后缀不能承诺的能力。&lt;/Text&gt;&#10;&#10;        &lt;Box style={{ flexDirection: 'row', gap: 18, padding: '0 20px' }}&gt;&#10;            &lt;Box style={{ width: 272 }}&gt;&#10;                &lt;Text style={{ fontSize: 14, color: '#546779' }}&gt;得到的文件&lt;/Text&gt;&#10;            &lt;/Box&gt;&#10;            &lt;Box style={{ width: 474 }}&gt;&#10;                &lt;Text style={{ fontSize: 14, color: '#546779' }}&gt;可以先确认的用途&lt;/Text&gt;&#10;            &lt;/Box&gt;&#10;            &lt;Box style={{ width: 330 }}&gt;&#10;                &lt;Text style={{ fontSize: 14, color: '#546779' }}&gt;不能仅凭后缀承诺的能力&lt;/Text&gt;&#10;            &lt;/Box&gt;&#10;        &lt;/Box&gt;&#10;&#10;        &lt;Box style={{ flexDirection: 'column', gap: 12 }}&gt;&#10;&#10;            &lt;Box style={{ width: 1152, height: 88, background: '#F4F7FA', borderRadius: 10, padding: '0 20px', flexDirection: 'row', alignItems: 'center', gap: 18 }}&gt;&#10;                &lt;Box style={{ width: 4, height: 52, background: '#276FBF' }} /&gt;&#10;                &lt;Box style={{ width: 250 }}&gt;&#10;                    &lt;Text style={{ fontSize: 15, fontWeight: 'bold', color: '#20344B', fontFamily: 'Consolas, monospace' }}&gt;结果 ZIP&lt;/Text&gt;&#10;                &lt;/Box&gt;&#10;                &lt;Box style={{ flex: 1 }}&gt;&#10;                    &lt;Text style={{ fontSize: 14, color: '#546779' }}&gt;分享指定边界的结果材料与报告&lt;/Text&gt;&#10;                &lt;/Box&gt;&#10;                &lt;Box style={{ width: 330 }}&gt;&#10;                    &lt;Text style={{ fontSize: 14, color: '#CB6B28' }}&gt;完整正式包校验、一键恢复&lt;/Text&gt;&#10;                &lt;/Box&gt;&#10;            &lt;/Box&gt;&#10;&#10;            &lt;Box style={{ width: 1152, height: 88, background: '#F4F7FA', borderRadius: 10, padding: '0 20px', flexDirection: 'row', alignItems: 'center', gap: 18 }}&gt;&#10;                &lt;Box style={{ width: 4, height: 52, background: '#276FBF' }} /&gt;&#10;                &lt;Box style={{ width: 250 }}&gt;&#10;                    &lt;Text style={{ fontSize: 15, fontWeight: 'bold', color: '#20344B', fontFamily: 'Consolas, monospace' }}&gt;检查点 ZIP&lt;/Text&gt;&#10;                &lt;/Box&gt;&#10;                &lt;Box style={{ flex: 1 }}&gt;&#10;                    &lt;Text style={{ fontSize: 14, color: '#546779' }}&gt;检查一个恢复快照的成员与内容&lt;/Text&gt;&#10;                &lt;/Box&gt;&#10;                &lt;Box style={{ width: 330 }}&gt;&#10;                    &lt;Text style={{ fontSize: 14, color: '#CB6B28' }}&gt;独立替代完整 Run&lt;/Text&gt;&#10;                &lt;/Box&gt;&#10;            &lt;/Box&gt;&#10;&#10;            &lt;Box style={{ width: 1152, height: 88, background: '#F4F7FA', borderRadius: 10, padding: '0 20px', flexDirection: 'row', alignItems: 'center', gap: 18 }}&gt;&#10;                &lt;Box style={{ width: 4, height: 52, background: '#26816B' }} /&gt;&#10;                &lt;Box style={{ width: 250 }}&gt;&#10;                    &lt;Text style={{ fontSize: 15, fontWeight: 'bold', color: '#20344B', fontFamily: 'Consolas, monospace' }}&gt;正式 .gaexp&lt;/Text&gt;&#10;                &lt;/Box&gt;&#10;                &lt;Box style={{ flex: 1 }}&gt;&#10;                    &lt;Text style={{ fontSize: 14, color: '#546779' }}&gt;交换封存实验输入&lt;/Text&gt;&#10;                &lt;/Box&gt;&#10;                &lt;Box style={{ width: 330 }}&gt;&#10;                    &lt;Text style={{ fontSize: 14, color: '#CB6B28' }}&gt;已运行成功或模型可用&lt;/Text&gt;&#10;                &lt;/Box&gt;&#10;            &lt;/Box&gt;&#10;&#10;            &lt;Box style={{ width: 1152, height: 88, background: '#F4F7FA', borderRadius: 10, padding: '0 20px', flexDirection: 'row', alignItems: 'center', gap: 18 }}&gt;&#10;                &lt;Box style={{ width: 4, height: 52, background: '#26816B' }} /&gt;&#10;                &lt;Box style={{ width: 250 }}&gt;&#10;                    &lt;Text style={{ fontSize: 15, fontWeight: 'bold', color: '#20344B', fontFamily: 'Consolas, monospace' }}&gt;正式 .garun&lt;/Text&gt;&#10;                &lt;/Box&gt;&#10;                &lt;Box style={{ flex: 1 }}&gt;&#10;                    &lt;Text style={{ fontSize: 14, color: '#546779' }}&gt;交换经过协议封存的 Run&lt;/Text&gt;&#10;                &lt;/Box&gt;&#10;                &lt;Box style={{ width: 330 }}&gt;&#10;                    &lt;Text style={{ fontSize: 14, color: '#CB6B28' }}&gt;目标机器必然具备执行环境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“下载全部”为什么不等于正式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四类文件能先确认什么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151447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左边是要先确认的用途，右边是仅凭后缀不能承诺的能力。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00100" y="1943100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得到的文件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562350" y="1943100"/>
            <a:ext cx="451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可以先确认的用途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248650" y="194310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不能仅凭后缀承诺的能力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22193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800100" y="23907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09650" y="25527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Consolas"/>
                <a:ea typeface="Consolas"/>
              </a:rPr>
              <a:t>结果</a:t>
            </a:r>
            <a:r>
              <a:rPr lang="en-US" sz="1125" b="1">
                <a:solidFill>
                  <a:srgbClr val="20344B"/>
                </a:solidFill>
                <a:latin typeface="Consolas"/>
                <a:ea typeface="Consolas"/>
              </a:rPr>
              <a:t xml:space="preserve"> ZIP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562350" y="2562225"/>
            <a:ext cx="451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分享指定边界的结果材料与报告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248650" y="25622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完整正式包校验、一键恢复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31718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800100" y="33432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09650" y="35052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Consolas"/>
                <a:ea typeface="Consolas"/>
              </a:rPr>
              <a:t>检查点</a:t>
            </a:r>
            <a:r>
              <a:rPr lang="en-US" sz="1125" b="1">
                <a:solidFill>
                  <a:srgbClr val="20344B"/>
                </a:solidFill>
                <a:latin typeface="Consolas"/>
                <a:ea typeface="Consolas"/>
              </a:rPr>
              <a:t xml:space="preserve"> ZIP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562350" y="3514725"/>
            <a:ext cx="451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检查一个恢复快照的成员与内容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248650" y="35147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独立替代完整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41243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800100" y="429577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09650" y="44577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Consolas"/>
                <a:ea typeface="Consolas"/>
              </a:rPr>
              <a:t>正式</a:t>
            </a:r>
            <a:r>
              <a:rPr lang="en-US" sz="1125" b="1">
                <a:solidFill>
                  <a:srgbClr val="20344B"/>
                </a:solidFill>
                <a:latin typeface="Consolas"/>
                <a:ea typeface="Consolas"/>
              </a:rPr>
              <a:t xml:space="preserve"> .gaexp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562350" y="4467225"/>
            <a:ext cx="451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交换封存实验输入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248650" y="44672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已运行成功或模型可用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09600" y="50768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800100" y="524827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09650" y="54102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Consolas"/>
                <a:ea typeface="Consolas"/>
              </a:rPr>
              <a:t>正式</a:t>
            </a:r>
            <a:r>
              <a:rPr lang="en-US" sz="1125" b="1">
                <a:solidFill>
                  <a:srgbClr val="20344B"/>
                </a:solidFill>
                <a:latin typeface="Consolas"/>
                <a:ea typeface="Consolas"/>
              </a:rPr>
              <a:t xml:space="preserve"> .garun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562350" y="5419725"/>
            <a:ext cx="451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交换经过协议封存的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248650" y="54197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目标机器必然具备执行环境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4" name="" descr="&lt;Slide notes={`正式封存不是一个改名动作，它有明确的步骤和前提。&#10;第一步是拒绝活动状态：正在运行的运行不允许直接封存。第二步是取得写锁，避免和其他写入互相干扰。第三步是从一致的暂存副本生成完整性清单和归档，保证写出来的内容是一个确定的状态。第四步是不原地改写你已有的压缩包，原来的文件保持原样。&#10;需要如实说明的是，后端已经有正式包的封存与下载接口，但本次并没有确认独立的界面按钮的完整操作路径。这一项应该保留为正式交付之前要核对的环节，我不建议用直接接口或者命令行去补做这次界面验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3　“下载全部”为什么不等于正式 Run 包&lt;/Text&gt;&#10;            &lt;Text style={{ fontSize: 34, fontWeight: 'bold', color: '#20344B' }}&gt;正式封存怎么做&lt;/Text&gt;&#10;        &lt;/Box&gt;&#10;    &lt;/Box&gt;&#10;&#10;    &lt;Box style={{ height: 540, flexDirection: 'column', justifyContent: 'center', gap: 18 }}&gt;&#10;&#10;        &lt;Text style={{ fontSize: 17, color: '#546779', lineHeight: 1.6 }}&gt;Run 正式封存由 RunService.seal 完成，顺序和前提都不能省。&lt;/Text&gt;&#10;&#10;        &lt;Box style={{ flexDirection: 'row', alignItems: 'center' }}&gt;&#10;            &lt;Box style={{ width: 255, height: 118, background: '#EDF4FC', borderRadius: 10, padding: '14px 16px', flexDirection: 'column', gap: 6 }}&gt;&#10;                &lt;Text style={{ fontSize: 13, color: '#276FBF' }}&gt;第一步&lt;/Text&gt;&#10;                &lt;Text style={{ fontSize: 16, fontWeight: 'bold', color: '#20344B' }}&gt;拒绝活动状态&lt;/Text&gt;&#10;                &lt;Text style={{ fontSize: 13, color: '#546779', lineHeight: 1.45 }}&gt;正在运行的 Run 不允许直接封存。&lt;/Text&gt;&#10;            &lt;/Box&gt;&#10;            &lt;Box style={{ width: 44, height: 118, justifyContent: 'center', alignItems: 'center' }}&gt;&#10;                &lt;Text style={{ fontSize: 26, color: '#276FBF' }}&gt;›&lt;/Text&gt;&#10;            &lt;/Box&gt;&#10;            &lt;Box style={{ width: 255, height: 118, background: '#EDF4FC', borderRadius: 10, padding: '14px 16px', flexDirection: 'column', gap: 6 }}&gt;&#10;                &lt;Text style={{ fontSize: 13, color: '#276FBF' }}&gt;第二步&lt;/Text&gt;&#10;                &lt;Text style={{ fontSize: 16, fontWeight: 'bold', color: '#20344B' }}&gt;取得写锁&lt;/Text&gt;&#10;                &lt;Text style={{ fontSize: 13, color: '#546779', lineHeight: 1.45 }}&gt;避免与其他写入互相干扰。&lt;/Text&gt;&#10;            &lt;/Box&gt;&#10;            &lt;Box style={{ width: 44, height: 118, justifyContent: 'center', alignItems: 'center' }}&gt;&#10;                &lt;Text style={{ fontSize: 26, color: '#276FBF' }}&gt;›&lt;/Text&gt;&#10;            &lt;/Box&gt;&#10;            &lt;Box style={{ width: 255, height: 118, background: '#ECF7F2', borderRadius: 10, padding: '14px 16px', flexDirection: 'column', gap: 6 }}&gt;&#10;                &lt;Text style={{ fontSize: 13, color: '#26816B' }}&gt;第三步&lt;/Text&gt;&#10;                &lt;Text style={{ fontSize: 16, fontWeight: 'bold', color: '#20344B' }}&gt;生成清单与归档&lt;/Text&gt;&#10;                &lt;Text style={{ fontSize: 13, color: '#546779', lineHeight: 1.45 }}&gt;从一致暂存副本生成，内容确定。&lt;/Text&gt;&#10;            &lt;/Box&gt;&#10;            &lt;Box style={{ width: 44, height: 118, justifyContent: 'center', alignItems: 'center' }}&gt;&#10;                &lt;Text style={{ fontSize: 26, color: '#26816B' }}&gt;›&lt;/Text&gt;&#10;            &lt;/Box&gt;&#10;            &lt;Box style={{ width: 255, height: 118, background: '#ECF7F2', borderRadius: 10, padding: '14px 16px', flexDirection: 'column', gap: 6 }}&gt;&#10;                &lt;Text style={{ fontSize: 13, color: '#26816B' }}&gt;第四步&lt;/Text&gt;&#10;                &lt;Text style={{ fontSize: 16, fontWeight: 'bold', color: '#20344B' }}&gt;不原地改写&lt;/Text&gt;&#10;                &lt;Text style={{ fontSize: 13, color: '#546779', lineHeight: 1.45 }}&gt;既有 ZIP 保持原样，不被覆盖。&lt;/Text&gt;&#10;            &lt;/Box&gt;&#10;        &lt;/Box&gt;&#10;&#10;        &lt;Box style={{ flexDirection: 'row', gap: 20 }}&gt;&#10;            &lt;Box style={{ width: 566, height: 88, background: '#EDF4FC', borderRadius: 10, padding: '12px 20px', flexDirection: 'column', gap: 4, justifyContent: 'center' }}&gt;&#10;                &lt;Text style={{ fontSize: 16, fontWeight: 'bold', color: '#276FBF' }}&gt;为什么要写锁&lt;/Text&gt;&#10;                &lt;Text style={{ fontSize: 14, color: '#546779', lineHeight: 1.5 }}&gt;封存期间不允许其他写入，避免清单与包内内容不一致。&lt;/Text&gt;&#10;            &lt;/Box&gt;&#10;            &lt;Box style={{ width: 566, height: 88, background: '#F7F3E8', borderRadius: 10, padding: '12px 20px', flexDirection: 'column', gap: 4, justifyContent: 'center' }}&gt;&#10;                &lt;Text style={{ fontSize: 16, fontWeight: 'bold', color: '#20344B' }}&gt;能力已经存在&lt;/Text&gt;&#10;                &lt;Text style={{ fontSize: 14, color: '#546779', lineHeight: 1.5 }}&gt;当前后端已有正式包的封存与下载接口，可以生成协议归档。&lt;/Text&gt;&#10;            &lt;/Box&gt;&#10;        &lt;/Box&gt;&#10;&#10;        &lt;Box style={{ width: 1152, height: 92, background: '#FFF4E6', borderRadius: 10, padding: '14px 22px', flexDirection: 'column', gap: 5, justifyContent: 'center' }}&gt;&#10;            &lt;Text style={{ fontSize: 16, fontWeight: 'bold', color: '#CB6B28' }}&gt;但本次未确认相应独立前端按钮的完整操作路径&lt;/Text&gt;&#10;            &lt;Text style={{ fontSize: 14, color: '#546779', lineHeight: 1.5 }}&gt;这一项应保留为正式交付前的待核对环节；不用结果 ZIP 按钮替代它，也不用直接接口或 CLI 补做本次界面验收。&lt;/Text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“下载全部”为什么不等于正式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847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正式封存怎么做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18859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正式封存由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RunService.seal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完成，顺序和前提都不能省。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2371725"/>
            <a:ext cx="2428875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62000" y="2505075"/>
            <a:ext cx="2124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62000" y="2714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拒绝活动状态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62000" y="2962275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正在运行的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不允许直接封存。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209925" y="27813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457575" y="2371725"/>
            <a:ext cx="2428875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609975" y="2505075"/>
            <a:ext cx="2124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3609975" y="2714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取得写锁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609975" y="2962275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避免与其他写入互相干扰。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57900" y="27813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305550" y="2371725"/>
            <a:ext cx="2428875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457950" y="2505075"/>
            <a:ext cx="2124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57950" y="2714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生成清单与归档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457950" y="2962275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从一致暂存副本生成，内容确定。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905875" y="27813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9153525" y="2371725"/>
            <a:ext cx="2428875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305925" y="2505075"/>
            <a:ext cx="2124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第四步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305925" y="2714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不原地改写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305925" y="2962275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既有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保持原样，不被覆盖。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3667125"/>
            <a:ext cx="539115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00100" y="384810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为什么要写锁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00100" y="4076700"/>
            <a:ext cx="5010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封存期间不允许其他写入，避免清单与包内内容不一致。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191250" y="3667125"/>
            <a:ext cx="539115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381750" y="384810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能力已经存在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381750" y="4076700"/>
            <a:ext cx="5010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当前后端已有正式包的封存与下载接口，可以生成协议归档。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467677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19150" y="4876800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但本次未确认相应独立前端按钮的完整操作路径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19150" y="5114925"/>
            <a:ext cx="1055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这一项应保留为正式交付前的待核对环节；不用结果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按钮替代它，也不用直接接口或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补做本次界面验收。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0" name="" descr="&lt;Slide notes={`文件拿到手之后，还有两件事要做：把它的来源登记清楚，以及在迁移的时候分层验收。&#10;登记的意思是保留原文件，另建一份记录，写清楚文件名、实际大小、哈希、生成时间，以及它是从哪次运行的哪个尝试、哪个提交步骤导出来的。&#10;验收要分三层来看，每一层单独取证。原包字节与完整性是一层，离线回放是一层，恢复或者重跑又是一层，一层通过不能代替下一层。&#10;本章没有真实异机验收，这一点我也会在讲结果的时候明确说出来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③　　3.13.4 — 3.13.5&lt;/Text&gt;&#10;&#10;        &lt;Text style={{ fontSize: 56, fontWeight: 'bold', color: '#20344B', lineHeight: 1.15 }}&gt;登记与迁移：分层取证&lt;/Text&gt;&#10;&#10;        &lt;Box style={{ width: 72, height: 4, background: '#276FBF' }} /&gt;&#10;&#10;        &lt;Text style={{ fontSize: 18, color: '#546779', lineHeight: 1.7, width: 900 }}&gt;先登记来源，再按字节、离线回放、再次执行三层分别验收；一层通过不能代替下一层。&lt;/Text&gt;&#10;&#10;        &lt;Box style={{ flexDirection: 'row', gap: 32, marginTop: 10 }}&gt;&#10;            &lt;Box style={{ width: 204, height: 64, background: '#EDF4FC', borderRadius: 8, justifyContent: 'center', alignItems: 'center' }}&gt;&#10;                &lt;Text style={{ fontSize: 15, color: '#276FBF', fontFamily: 'Consolas, monospace' }}&gt;文件名&lt;/Text&gt;&#10;            &lt;/Box&gt;&#10;            &lt;Box style={{ width: 204, height: 64, background: '#EDF4FC', borderRadius: 8, justifyContent: 'center', alignItems: 'center' }}&gt;&#10;                &lt;Text style={{ fontSize: 15, color: '#276FBF', fontFamily: 'Consolas, monospace' }}&gt;实际大小&lt;/Text&gt;&#10;            &lt;/Box&gt;&#10;            &lt;Box style={{ width: 204, height: 64, background: '#EDF4FC', borderRadius: 8, justifyContent: 'center', alignItems: 'center' }}&gt;&#10;                &lt;Text style={{ fontSize: 15, color: '#276FBF', fontFamily: 'Consolas, monospace' }}&gt;SHA256&lt;/Text&gt;&#10;            &lt;/Box&gt;&#10;            &lt;Box style={{ width: 204, height: 64, background: '#EDF4FC', borderRadius: 8, justifyContent: 'center', alignItems: 'center' }}&gt;&#10;                &lt;Text style={{ fontSize: 15, color: '#276FBF', fontFamily: 'Consolas, monospace' }}&gt;生成时间&lt;/Text&gt;&#10;            &lt;/Box&gt;&#10;            &lt;Box style={{ width: 204, height: 64, background: '#FFF4E6', borderRadius: 8, justifyContent: 'center', alignItems: 'center' }}&gt;&#10;                &lt;Text style={{ fontSize: 15, color: '#CB6B28', fontFamily: 'Consolas, monospace' }}&gt;来源与源 Step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3.13.4 — 3.13.5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登记与迁移：分层取证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先登记来源，再按字节、离线回放、再次执行三层分别验收；一层通过不能代替下一层。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09600" y="4057650"/>
            <a:ext cx="19431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371600" y="42767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文件名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2857500" y="4057650"/>
            <a:ext cx="19431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543300" y="42767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实际大小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105400" y="4057650"/>
            <a:ext cx="19431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838825" y="42767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>SHA256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7353300" y="4057650"/>
            <a:ext cx="19431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39100" y="42767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生成时间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9601200" y="4057650"/>
            <a:ext cx="19431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086975" y="4276725"/>
            <a:ext cx="97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Consolas"/>
                <a:ea typeface="Consolas"/>
              </a:rPr>
              <a:t>来源与源</a:t>
            </a:r>
            <a:r>
              <a:rPr lang="en-US" sz="1125">
                <a:solidFill>
                  <a:srgbClr val="CB6B28"/>
                </a:solidFill>
                <a:latin typeface="Consolas"/>
                <a:ea typeface="Consolas"/>
              </a:rPr>
              <a:t xml:space="preserve"> Step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8" name="" descr="&lt;Slide notes={`导出完成之后不要只留一个文件，要同时留下一份记录。&#10;记录里应该写清楚文件名、实际大小、SHA256、生成时间，以及来源：源运行和源尝试、源状态、源提交步骤。&#10;有一种情况要特别小心：如果导出的时候运行还在执行，等你下载完成，界面可能已经推进到下一步了。这时候不能把归档的来源步骤改成页面上的最新值，因为包里保存的是取材那一刻的边界。&#10;同理，历史导出的来源如果不清楚，就应该写未知，不能按文件的修改时间来推断它是从哪一步切出来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4　原始导出怎样登记&lt;/Text&gt;&#10;            &lt;Text style={{ fontSize: 34, fontWeight: 'bold', color: '#20344B' }}&gt;原始导出要留下哪些字段&lt;/Text&gt;&#10;        &lt;/Box&gt;&#10;    &lt;/Box&gt;&#10;&#10;    &lt;Box style={{ height: 540, flexDirection: 'row', alignItems: 'center', gap: 32 }}&gt;&#10;&#10;        &lt;Box style={{ width: 520, flexDirection: 'column', gap: 10 }}&gt;&#10;&#10;            &lt;Text style={{ fontSize: 16, fontWeight: 'bold', color: '#20344B' }}&gt;一份导出记录应写明的字段&lt;/Text&gt;&#10;&#10;            &lt;Box style={{ width: 520, height: 50, background: '#F4F7FA', borderRadius: 8, padding: '0 18px', alignItems: 'center', flexDirection: 'row' }}&gt;&#10;                &lt;Text style={{ fontSize: 15, color: '#276FBF', fontFamily: 'Consolas, monospace' }}&gt;文件名&lt;/Text&gt;&#10;            &lt;/Box&gt;&#10;            &lt;Box style={{ width: 520, height: 50, background: '#F4F7FA', borderRadius: 8, padding: '0 18px', alignItems: 'center', flexDirection: 'row' }}&gt;&#10;                &lt;Text style={{ fontSize: 15, color: '#276FBF', fontFamily: 'Consolas, monospace' }}&gt;实际大小&lt;/Text&gt;&#10;            &lt;/Box&gt;&#10;            &lt;Box style={{ width: 520, height: 50, background: '#F4F7FA', borderRadius: 8, padding: '0 18px', alignItems: 'center', flexDirection: 'row' }}&gt;&#10;                &lt;Text style={{ fontSize: 15, color: '#276FBF', fontFamily: 'Consolas, monospace' }}&gt;SHA256&lt;/Text&gt;&#10;            &lt;/Box&gt;&#10;            &lt;Box style={{ width: 520, height: 50, background: '#F4F7FA', borderRadius: 8, padding: '0 18px', alignItems: 'center', flexDirection: 'row' }}&gt;&#10;                &lt;Text style={{ fontSize: 15, color: '#276FBF', fontFamily: 'Consolas, monospace' }}&gt;生成时间&lt;/Text&gt;&#10;            &lt;/Box&gt;&#10;            &lt;Box style={{ width: 520, height: 50, background: '#F4F7FA', borderRadius: 8, padding: '0 18px', alignItems: 'center', flexDirection: 'row' }}&gt;&#10;                &lt;Text style={{ fontSize: 15, color: '#276FBF', fontFamily: 'Consolas, monospace' }}&gt;源 Run 与 Attempt&lt;/Text&gt;&#10;            &lt;/Box&gt;&#10;            &lt;Box style={{ width: 520, height: 50, background: '#F4F7FA', borderRadius: 8, padding: '0 18px', alignItems: 'center', flexDirection: 'row' }}&gt;&#10;                &lt;Text style={{ fontSize: 15, color: '#276FBF', fontFamily: 'Consolas, monospace' }}&gt;源状态&lt;/Text&gt;&#10;            &lt;/Box&gt;&#10;            &lt;Box style={{ width: 520, height: 50, background: '#FFF4E6', borderRadius: 8, padding: '0 18px', alignItems: 'center', flexDirection: 'row' }}&gt;&#10;                &lt;Text style={{ fontSize: 15, color: '#CB6B28', fontFamily: 'Consolas, monospace' }}&gt;源提交 Step&lt;/Text&gt;&#10;            &lt;/Box&gt;&#10;&#10;        &lt;/Box&gt;&#10;&#10;        &lt;Box style={{ width: 600, flexDirection: 'column', gap: 16 }}&gt;&#10;&#10;            &lt;Box style={{ width: 600, height: 150, background: '#EDF4FC', borderRadius: 10, padding: '16px 22px', flexDirection: 'column', gap: 6, justifyContent: 'center' }}&gt;&#10;                &lt;Text style={{ fontSize: 16, fontWeight: 'bold', color: '#276FBF' }}&gt;保留原文件，另建记录&lt;/Text&gt;&#10;                &lt;Text style={{ fontSize: 14, color: '#546779', lineHeight: 1.6 }}&gt;下载后不要只留一个压缩包。原文件照原样保存，再单独写一份记录，写清字段与来源，方便日后核对。&lt;/Text&gt;&#10;            &lt;/Box&gt;&#10;&#10;            &lt;Box style={{ width: 600, height: 190, background: '#FFF4E6', borderRadius: 10, padding: '16px 22px', flexDirection: 'column', gap: 6, justifyContent: 'center' }}&gt;&#10;                &lt;Text style={{ fontSize: 16, fontWeight: 'bold', color: '#CB6B28' }}&gt;不要把来源 Step 改成页面最新值&lt;/Text&gt;&#10;                &lt;Text style={{ fontSize: 14, color: '#546779', lineHeight: 1.6 }}&gt;若导出时 Run 仍在执行，下载完成时界面可能已经推进到下一步。归档的来源步骤写的是取材那一刻的边界。历史导出来源不明时写「未知」，不按文件修改时间推断。&lt;/Text&gt;&#10;            &lt;/Box&gt;&#10;&#10;            &lt;Box style={{ width: 600, height: 110, background: '#F7F3E8', borderRadius: 10, padding: '16px 22px', flexDirection: 'column', gap: 6, justifyContent: 'center' }}&gt;&#10;                &lt;Text style={{ fontSize: 16, fontWeight: 'bold', color: '#20344B' }}&gt;核对包内内容&lt;/Text&gt;&#10;                &lt;Text style={{ fontSize: 14, color: '#546779', lineHeight: 1.6 }}&gt;还要核对结果 ZIP 的状态边界、帧范围、内嵌实验及质量报告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原始导出怎样登记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原始导出要留下哪些字段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一份导出记录应写明的字段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1905000"/>
            <a:ext cx="49530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81050" y="20574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文件名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2476500"/>
            <a:ext cx="49530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81050" y="2628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实际大小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3048000"/>
            <a:ext cx="49530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781050" y="320040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>SHA256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3619500"/>
            <a:ext cx="49530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81050" y="3771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生成时间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4191000"/>
            <a:ext cx="49530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81050" y="434340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源</a:t>
            </a: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 xml:space="preserve"> Run </a:t>
            </a: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与</a:t>
            </a: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 xml:space="preserve"> Attempt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4762500"/>
            <a:ext cx="49530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81050" y="4914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源状态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5334000"/>
            <a:ext cx="4953000" cy="476250"/>
          </a:xfrm>
          <a:prstGeom prst="roundRect">
            <a:avLst>
              <a:gd name="adj" fmla="val 16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81050" y="548640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Consolas"/>
                <a:ea typeface="Consolas"/>
              </a:rPr>
              <a:t>源提交</a:t>
            </a:r>
            <a:r>
              <a:rPr lang="en-US" sz="1125">
                <a:solidFill>
                  <a:srgbClr val="CB6B28"/>
                </a:solidFill>
                <a:latin typeface="Consolas"/>
                <a:ea typeface="Consolas"/>
              </a:rPr>
              <a:t xml:space="preserve"> Step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867400" y="1419225"/>
            <a:ext cx="5715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76950" y="1752600"/>
            <a:ext cx="5295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保留原文件，另建记录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76950" y="2000250"/>
            <a:ext cx="5295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下载后不要只留一个压缩包。原文件照原样保存，再单独写一份记录，写清字段与来源，方便日后核对。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5867400" y="3000375"/>
            <a:ext cx="5715000" cy="1809750"/>
          </a:xfrm>
          <a:prstGeom prst="roundRect">
            <a:avLst>
              <a:gd name="adj" fmla="val 526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76950" y="3524250"/>
            <a:ext cx="5295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不要把来源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改成页面最新值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76950" y="3771900"/>
            <a:ext cx="5295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若导出时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仍在执行，下载完成时界面可能已经推进到下一步。归档的来源步骤写的是取材那一刻的边界。历史导出来源不明时写「未知」，不按文件修改时间推断。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867400" y="4962525"/>
            <a:ext cx="5715000" cy="104775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76950" y="5238750"/>
            <a:ext cx="5295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核对包内内容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76950" y="5486400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还要核对结果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的状态边界、帧范围、内嵌实验及质量报告。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09" name="" descr="&lt;Slide notes={`拿到一个包之后，除了看它从哪里来，还要知道哪些内容不能当成既定事实。&#10;运行中还在变化的记忆，不能混成某个固定步骤的事实。未提交的模型轨迹或者日志，如果随包保留下来，只能当作过程审计，不能当成已经提交的结论。&#10;比对哈希可以判断两个文件是不是相同的字节，这一点对判断传输有没有损坏很有用，但它不能独立证明内容正确，也替代不了协议校验。协议自己的完整性检查还要核对成员、清单、身份、帧的连续性以及内嵌实验的摘要。&#10;所以在登记之外，这两件事要一起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4　原始导出怎样登记&lt;/Text&gt;&#10;            &lt;Text style={{ fontSize: 34, fontWeight: 'bold', color: '#20344B' }}&gt;哪些内容不能当成既定事实&lt;/Text&gt;&#10;        &lt;/Box&gt;&#10;    &lt;/Box&gt;&#10;&#10;    &lt;Box style={{ height: 540, flexDirection: 'row', alignItems: 'center', gap: 32 }}&gt;&#10;&#10;        &lt;Box style={{ width: 630, flexDirection: 'column', gap: 14 }}&gt;&#10;&#10;            &lt;Box style={{ flexDirection: 'row', gap: 14, alignItems: 'center' }}&gt;&#10;                &lt;Box style={{ width: 4, height: 72, background: '#276FBF' }} /&gt;&#10;                &lt;Box style={{ flexDirection: 'column', gap: 3 }}&gt;&#10;                    &lt;Text style={{ fontSize: 16, fontWeight: 'bold', color: '#20344B' }}&gt;可变记忆不完备&lt;/Text&gt;&#10;                    &lt;Text style={{ fontSize: 13, color: '#546779', lineHeight: 1.5 }}&gt;运行中还在变化的记忆，不能混成固定 Step 的事实。&lt;/Text&gt;&#10;                &lt;/Box&gt;&#10;            &lt;/Box&gt;&#10;&#10;            &lt;Box style={{ flexDirection: 'row', gap: 14, alignItems: 'center' }}&gt;&#10;                &lt;Box style={{ width: 4, height: 72, background: '#276FBF' }} /&gt;&#10;                &lt;Box style={{ flexDirection: 'column', gap: 3 }}&gt;&#10;                    &lt;Text style={{ fontSize: 16, fontWeight: 'bold', color: '#20344B' }}&gt;未提交轨迹只作审计&lt;/Text&gt;&#10;                    &lt;Text style={{ fontSize: 13, color: '#546779', lineHeight: 1.5 }}&gt;未提交的模型 Trace 或日志若随包保留，只作过程审计。&lt;/Text&gt;&#10;                &lt;/Box&gt;&#10;            &lt;/Box&gt;&#10;&#10;            &lt;Box style={{ flexDirection: 'row', gap: 14, alignItems: 'center' }}&gt;&#10;                &lt;Box style={{ width: 4, height: 72, background: '#CB6B28' }} /&gt;&#10;                &lt;Box style={{ flexDirection: 'column', gap: 3 }}&gt;&#10;                    &lt;Text style={{ fontSize: 16, fontWeight: 'bold', color: '#CB6B28' }}&gt;历史来源不明就写未知&lt;/Text&gt;&#10;                    &lt;Text style={{ fontSize: 13, color: '#546779', lineHeight: 1.5 }}&gt;不按文件修改时间推断取材边界，猜出来的边界不可用。&lt;/Text&gt;&#10;                &lt;/Box&gt;&#10;            &lt;/Box&gt;&#10;&#10;            &lt;Box style={{ flexDirection: 'row', gap: 14, alignItems: 'center' }}&gt;&#10;                &lt;Box style={{ width: 4, height: 72, background: '#276FBF' }} /&gt;&#10;                &lt;Box style={{ flexDirection: 'column', gap: 3 }}&gt;&#10;                    &lt;Text style={{ fontSize: 16, fontWeight: 'bold', color: '#20344B' }}&gt;哈希有它的边界&lt;/Text&gt;&#10;                    &lt;Text style={{ fontSize: 13, color: '#546779', lineHeight: 1.5 }}&gt;哈希一致只说明字节相同，不能独立证明内容正确。&lt;/Text&gt;&#10;                &lt;/Box&gt;&#10;            &lt;/Box&gt;&#10;&#10;        &lt;/Box&gt;&#10;&#10;        &lt;Box style={{ width: 490, flexDirection: 'column', gap: 12 }}&gt;&#10;&#10;            &lt;Text style={{ fontSize: 16, fontWeight: 'bold', color: '#20344B' }}&gt;协议内部的完整性检查还要核对&lt;/Text&gt;&#10;&#10;            &lt;Box style={{ width: 490, height: 206, background: '#F4F7FA', borderRadius: 12, padding: '16px 22px', flexDirection: 'column', gap: 2, justifyContent: 'center' }}&gt;&#10;                &lt;Text style={{ fontSize: 15, color: '#276FBF', fontFamily: 'Consolas, monospace', lineHeight: 1.9 }}&gt;├─ 成员&lt;/Text&gt;&#10;                &lt;Text style={{ fontSize: 15, color: '#276FBF', fontFamily: 'Consolas, monospace', lineHeight: 1.9 }}&gt;├─ 清单&lt;/Text&gt;&#10;                &lt;Text style={{ fontSize: 15, color: '#276FBF', fontFamily: 'Consolas, monospace', lineHeight: 1.9 }}&gt;├─ 身份&lt;/Text&gt;&#10;                &lt;Text style={{ fontSize: 15, color: '#26816B', fontFamily: 'Consolas, monospace', lineHeight: 1.9 }}&gt;└─ 帧连续性与内嵌实验摘要&lt;/Text&gt;&#10;            &lt;/Box&gt;&#10;&#10;            &lt;Box style={{ width: 490, height: 96, background: '#ECF7F2', borderRadius: 10, padding: '12px 20px', flexDirection: 'column', gap: 4, justifyContent: 'center' }}&gt;&#10;                &lt;Text style={{ fontSize: 15, fontWeight: 'bold', color: '#26816B' }}&gt;两件事要一起做&lt;/Text&gt;&#10;                &lt;Text style={{ fontSize: 13, color: '#546779', lineHeight: 1.5 }}&gt;传输后比哈希，再走一遍协议校验，缺一项都不算核对完成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原始导出怎样登记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哪些内容不能当成既定事实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09600" y="2143125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可变记忆不完备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81050" y="2486025"/>
            <a:ext cx="29432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运行中还在变化的记忆，不能混成固定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的事实。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2962275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81050" y="308610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未提交轨迹只作审计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81050" y="3305175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未提交的模型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或日志若随包保留，只作过程审计。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09600" y="37814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81050" y="3905250"/>
            <a:ext cx="3095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历史来源不明就写未知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81050" y="4124325"/>
            <a:ext cx="30956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不按文件修改时间推断取材边界，猜出来的边界不可用。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4600575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81050" y="47244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哈希有它的边界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81050" y="4943475"/>
            <a:ext cx="28479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哈希一致只说明字节相同，不能独立证明内容正确。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915150" y="2066925"/>
            <a:ext cx="466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协议内部的完整性检查还要核对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915150" y="2371725"/>
            <a:ext cx="4667250" cy="1962150"/>
          </a:xfrm>
          <a:prstGeom prst="roundRect">
            <a:avLst>
              <a:gd name="adj" fmla="val 58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124700" y="2657475"/>
            <a:ext cx="424815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 xml:space="preserve">├─ </a:t>
            </a: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成员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124700" y="3009900"/>
            <a:ext cx="424815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 xml:space="preserve">├─ </a:t>
            </a: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清单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124700" y="3362325"/>
            <a:ext cx="424815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 xml:space="preserve">├─ </a:t>
            </a: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身份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124700" y="3714750"/>
            <a:ext cx="424815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6816B"/>
                </a:solidFill>
                <a:latin typeface="Consolas"/>
                <a:ea typeface="Consolas"/>
              </a:rPr>
              <a:t xml:space="preserve">└─ </a:t>
            </a:r>
            <a:r>
              <a:rPr lang="zh-CN" sz="1125">
                <a:solidFill>
                  <a:srgbClr val="26816B"/>
                </a:solidFill>
                <a:latin typeface="Consolas"/>
                <a:ea typeface="Consolas"/>
              </a:rPr>
              <a:t>帧连续性与内嵌实验摘要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915150" y="4448175"/>
            <a:ext cx="466725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105650" y="4686300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两件事要一起做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105650" y="4895850"/>
            <a:ext cx="42862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传输后比哈希，再走一遍协议校验，缺一项都不算核对完成。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37" name="" descr="&lt;Slide notes={`迁移要分三层验收，每一层单独取证。&#10;第一层是原包与完整性：核对大小、哈希，以及清单和成员有没有缺漏。这一层只说明你手上的字节是完整的。&#10;第二层是离线回放：读取既有的事实和包内素材，不再调用模型。这一层证明的是记录能被读出来，不需要原作者的资源库还在。&#10;第三层是恢复或者重跑：这时候才需要兼容的环境、模型服务和凭据，并且要按一份独立的执行计划去验证。&#10;一层通过不能代替下一层。还有一点是硬要求：密钥不进包，包里只保存环境变量名这样的连接要求，凭据由目标机器注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5　迁移时哪些东西需要重新配置&lt;/Text&gt;&#10;            &lt;Text style={{ fontSize: 34, fontWeight: 'bold', color: '#20344B' }}&gt;迁移的三个验收层次&lt;/Text&gt;&#10;        &lt;/Box&gt;&#10;    &lt;/Box&gt;&#10;&#10;    &lt;Box style={{ height: 540, flexDirection: 'column', justifyContent: 'center', gap: 16 }}&gt;&#10;&#10;        &lt;Text style={{ fontSize: 17, color: '#546779', lineHeight: 1.6 }}&gt;每条「单独取证」箭头都要补一组新的验收记录；一层通过不能代替下一层。&lt;/Text&gt;&#10;&#10;        &lt;Box style={{ flexDirection: 'row', alignItems: 'center', justifyContent: 'center' }}&gt;&#10;&#10;            &lt;Box style={{ width: 340, height: 172, background: '#EDF4FC', borderRadius: 10, padding: '16px 18px', flexDirection: 'column', gap: 6 }}&gt;&#10;                &lt;Text style={{ fontSize: 44, fontWeight: 'bold', color: '#276FBF', lineHeight: 1.0 }}&gt;01&lt;/Text&gt;&#10;                &lt;Text style={{ fontSize: 16, fontWeight: 'bold', color: '#20344B' }}&gt;原包与完整性&lt;/Text&gt;&#10;                &lt;Text style={{ fontSize: 13, color: '#546779', lineHeight: 1.5 }}&gt;核对大小、SHA256、清单与成员；只说明手上的字节完整。&lt;/Text&gt;&#10;            &lt;/Box&gt;&#10;&#10;            &lt;Box style={{ width: 44, height: 172, justifyContent: 'center', alignItems: 'center' }}&gt;&#10;                &lt;Text style={{ fontSize: 26, color: '#276FBF' }}&gt;›&lt;/Text&gt;&#10;            &lt;/Box&gt;&#10;&#10;            &lt;Box style={{ width: 340, height: 172, background: '#ECF7F2', borderRadius: 10, padding: '16px 18px', flexDirection: 'column', gap: 6 }}&gt;&#10;                &lt;Text style={{ fontSize: 44, fontWeight: 'bold', color: '#26816B', lineHeight: 1.0 }}&gt;02&lt;/Text&gt;&#10;                &lt;Text style={{ fontSize: 16, fontWeight: 'bold', color: '#20344B' }}&gt;离线回放&lt;/Text&gt;&#10;                &lt;Text style={{ fontSize: 13, color: '#546779', lineHeight: 1.5 }}&gt;读取既有事实与包内素材，不再调用模型；不需要原作者资源库。&lt;/Text&gt;&#10;            &lt;/Box&gt;&#10;&#10;            &lt;Box style={{ width: 44, height: 172, justifyContent: 'center', alignItems: 'center' }}&gt;&#10;                &lt;Text style={{ fontSize: 26, color: '#26816B' }}&gt;›&lt;/Text&gt;&#10;            &lt;/Box&gt;&#10;&#10;            &lt;Box style={{ width: 340, height: 172, background: '#F4F7FA', borderRadius: 10, padding: '16px 18px', flexDirection: 'column', gap: 6 }}&gt;&#10;                &lt;Text style={{ fontSize: 44, fontWeight: 'bold', color: '#20344B', lineHeight: 1.0 }}&gt;03&lt;/Text&gt;&#10;                &lt;Text style={{ fontSize: 16, fontWeight: 'bold', color: '#20344B' }}&gt;恢复或重跑&lt;/Text&gt;&#10;                &lt;Text style={{ fontSize: 13, color: '#546779', lineHeight: 1.5 }}&gt;兼容环境、模型服务与凭据；按独立执行计划验证。&lt;/Text&gt;&#10;            &lt;/Box&gt;&#10;&#10;        &lt;/Box&gt;&#10;&#10;        &lt;Box style={{ width: 1152, height: 74, background: '#ECF7F2', borderRadius: 10, padding: '0 22px', flexDirection: 'row', alignItems: 'center', gap: 16 }}&gt;&#10;            &lt;Box style={{ width: 4, height: 34, background: '#26816B' }} /&gt;&#10;            &lt;Text style={{ fontSize: 15, color: '#26816B' }}&gt;分别取证：原包哈希一致只完成第一层，后两层要各自重新验证，不能沿用上一层的结论。&lt;/Text&gt;&#10;        &lt;/Box&gt;&#10;&#10;        &lt;Box style={{ width: 1152, height: 74, background: '#FFF4E6', borderRadius: 10, padding: '0 22px', flexDirection: 'row', alignItems: 'center', gap: 16 }}&gt;&#10;            &lt;Box style={{ width: 4, height: 34, background: '#CB6B28' }} /&gt;&#10;            &lt;Text style={{ fontSize: 15, color: '#CB6B28' }}&gt;密钥不入包，由目标机器注入；本章没有真实异机验收，回放与再次执行也不同。&lt;/Text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迁移时哪些东西需要重新配置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迁移的三个验收层次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每条「单独取证」箭头都要补一组新的验收记录；一层通过不能代替下一层。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819150" y="2276475"/>
            <a:ext cx="3238500" cy="1638300"/>
          </a:xfrm>
          <a:prstGeom prst="roundRect">
            <a:avLst>
              <a:gd name="adj" fmla="val 58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90600" y="2428875"/>
            <a:ext cx="2895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990600" y="299085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原包与完整性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90600" y="3238500"/>
            <a:ext cx="28956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核对大小、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SHA256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、清单与成员；只说明手上的字节完整。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229100" y="29432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4476750" y="2276475"/>
            <a:ext cx="3238500" cy="1638300"/>
          </a:xfrm>
          <a:prstGeom prst="roundRect">
            <a:avLst>
              <a:gd name="adj" fmla="val 58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648200" y="2428875"/>
            <a:ext cx="2895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6816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648200" y="299085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离线回放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648200" y="3238500"/>
            <a:ext cx="28956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读取既有事实与包内素材，不再调用模型；不需要原作者资源库。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886700" y="29432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8134350" y="2276475"/>
            <a:ext cx="3238500" cy="1638300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305800" y="2428875"/>
            <a:ext cx="2895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0344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305800" y="299085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恢复或重跑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305800" y="323850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兼容环境、模型服务与凭据；按独立执行计划验证。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406717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819150" y="4257675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009650" y="4333875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分别取证：原包哈希一致只完成第一层，后两层要各自重新验证，不能沿用上一层的结论。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492442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819150" y="5114925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09650" y="5191125"/>
            <a:ext cx="514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密钥不入包，由目标机器注入；本章没有真实异机验收，回放与再次执行也不同。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65" name="" descr="&lt;Slide notes={`密钥的处理是交付环节里最容易出事的地方。模型密钥不进入实验包，也不进入运行包。包里保存的是环境变量名这类连接要求，真正的凭据由目标机器在运行时注入。&#10;为了图方便，把密钥补进 Skill 文档、补进 JSON、或者留在分享截图里，都是不应该的。&#10;目标机器除了凭据，还需要兼容的程序版本、Python 环境和模型服务条件。&#10;最后区分两件事：能离线回放，不代表能重新执行模型调用；能启动模型，也不代表地图和对象状态已经正确回放了。这两件事要分开下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5　迁移时哪些东西需要重新配置&lt;/Text&gt;&#10;            &lt;Text style={{ fontSize: 34, fontWeight: 'bold', color: '#20344B' }}&gt;密钥与兼容条件&lt;/Text&gt;&#10;        &lt;/Box&gt;&#10;    &lt;/Box&gt;&#10;&#10;    &lt;Box style={{ height: 540, flexDirection: 'row', alignItems: 'center', gap: 32 }}&gt;&#10;&#10;        &lt;Box style={{ width: 460, flexDirection: 'column', gap: 14 }}&gt;&#10;&#10;            &lt;Text style={{ fontSize: 17, color: '#546779', lineHeight: 1.6, width: 460 }}&gt;包负责说清「需要什么连接」，不负责带着凭据到处走。&lt;/Text&gt;&#10;&#10;            &lt;Box style={{ width: 460, height: 130, background: '#FFF4E6', borderRadius: 10, padding: '14px 20px', flexDirection: 'column', gap: 5, justifyContent: 'center' }}&gt;&#10;                &lt;Text style={{ fontSize: 16, fontWeight: 'bold', color: '#CB6B28' }}&gt;不要把密钥补进可分享的文本&lt;/Text&gt;&#10;                &lt;Text style={{ fontSize: 14, color: '#546779', lineHeight: 1.6 }}&gt;不补进 SKILL.md、不补进 JSON、也不留在分享截图里。需要连接要求，就写环境变量名。&lt;/Text&gt;&#10;            &lt;/Box&gt;&#10;&#10;            &lt;Box style={{ width: 460, height: 150, background: '#EDF4FC', borderRadius: 10, padding: '14px 20px', flexDirection: 'column', gap: 5, justifyContent: 'center' }}&gt;&#10;                &lt;Text style={{ fontSize: 16, fontWeight: 'bold', color: '#276FBF' }}&gt;回放只读事实&lt;/Text&gt;&#10;                &lt;Text style={{ fontSize: 14, color: '#546779', lineHeight: 1.6 }}&gt;Replay 只读 Run 的事实与包内素材，不要求公共资源数据库保留原记录。&lt;/Text&gt;&#10;            &lt;/Box&gt;&#10;&#10;        &lt;/Box&gt;&#10;&#10;        &lt;Box style={{ width: 660, flexDirection: 'column', gap: 14 }}&gt;&#10;&#10;            &lt;Box style={{ flexDirection: 'row', gap: 14, alignItems: 'center' }}&gt;&#10;                &lt;Box style={{ width: 4, height: 66, background: '#276FBF' }} /&gt;&#10;                &lt;Box style={{ width: 210 }}&gt;&#10;                    &lt;Text style={{ fontSize: 16, fontWeight: 'bold', color: '#20344B' }}&gt;包内只存连接要求&lt;/Text&gt;&#10;                &lt;/Box&gt;&#10;                &lt;Box style={{ flex: 1 }}&gt;&#10;                    &lt;Text style={{ fontSize: 13, color: '#546779', lineHeight: 1.5 }}&gt;保存环境变量名等连接要求。&lt;/Text&gt;&#10;                &lt;/Box&gt;&#10;            &lt;/Box&gt;&#10;&#10;            &lt;Box style={{ flexDirection: 'row', gap: 14, alignItems: 'center' }}&gt;&#10;                &lt;Box style={{ width: 4, height: 66, background: '#CB6B28' }} /&gt;&#10;                &lt;Box style={{ width: 210 }}&gt;&#10;                    &lt;Text style={{ fontSize: 16, fontWeight: 'bold', color: '#CB6B28' }}&gt;凭据由目标机注入&lt;/Text&gt;&#10;                &lt;/Box&gt;&#10;                &lt;Box style={{ flex: 1 }}&gt;&#10;                    &lt;Text style={{ fontSize: 13, color: '#546779', lineHeight: 1.5 }}&gt;密钥不进包，运行时由目标机器提供。&lt;/Text&gt;&#10;                &lt;/Box&gt;&#10;            &lt;/Box&gt;&#10;&#10;            &lt;Box style={{ flexDirection: 'row', gap: 14, alignItems: 'center' }}&gt;&#10;                &lt;Box style={{ width: 4, height: 66, background: '#276FBF' }} /&gt;&#10;                &lt;Box style={{ width: 210 }}&gt;&#10;                    &lt;Text style={{ fontSize: 16, fontWeight: 'bold', color: '#20344B' }}&gt;目标机器要兼容&lt;/Text&gt;&#10;                &lt;/Box&gt;&#10;                &lt;Box style={{ flex: 1 }}&gt;&#10;                    &lt;Text style={{ fontSize: 13, color: '#546779', lineHeight: 1.5 }}&gt;程序版本、Python 与模型服务条件。&lt;/Text&gt;&#10;                &lt;/Box&gt;&#10;            &lt;/Box&gt;&#10;&#10;            &lt;Box style={{ flexDirection: 'row', gap: 14, alignItems: 'center' }}&gt;&#10;                &lt;Box style={{ width: 4, height: 66, background: '#276FBF' }} /&gt;&#10;                &lt;Box style={{ width: 210 }}&gt;&#10;                    &lt;Text style={{ fontSize: 16, fontWeight: 'bold', color: '#20344B' }}&gt;回放不等于执行&lt;/Text&gt;&#10;                &lt;/Box&gt;&#10;                &lt;Box style={{ flex: 1 }}&gt;&#10;                    &lt;Text style={{ fontSize: 13, color: '#546779', lineHeight: 1.5 }}&gt;能离线回放，不代表能重新调用模型。&lt;/Text&gt;&#10;                &lt;/Box&gt;&#10;            &lt;/Box&gt;&#10;&#10;            &lt;Box style={{ flexDirection: 'row', gap: 14, alignItems: 'center' }}&gt;&#10;                &lt;Box style={{ width: 4, height: 66, background: '#276FBF' }} /&gt;&#10;                &lt;Box style={{ width: 210 }}&gt;&#10;                    &lt;Text style={{ fontSize: 16, fontWeight: 'bold', color: '#20344B' }}&gt;启动不等于状态正确&lt;/Text&gt;&#10;                &lt;/Box&gt;&#10;                &lt;Box style={{ flex: 1 }}&gt;&#10;                    &lt;Text style={{ fontSize: 13, color: '#546779', lineHeight: 1.5 }}&gt;能启动模型，不代表地图与对象状态已正确回放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迁移时哪些东西需要重新配置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密钥与兼容条件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2095500"/>
            <a:ext cx="4381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包负责说清「需要什么连接」，不负责带着凭据到处走。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09600" y="2543175"/>
            <a:ext cx="43815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00100" y="2790825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不要把密钥补进可分享的文本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00100" y="3028950"/>
            <a:ext cx="4000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不补进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、不补进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、也不留在分享截图里。需要连接要求，就写环境变量名。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3914775"/>
            <a:ext cx="4381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00100" y="4257675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回放只读事实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00100" y="4495800"/>
            <a:ext cx="4000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只读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的事实与包内素材，不要求公共资源数据库保留原记录。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5295900" y="1876425"/>
            <a:ext cx="38100" cy="628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467350" y="209550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包内只存连接要求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600950" y="2076450"/>
            <a:ext cx="3981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保存环境变量名等连接要求。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5295900" y="2638425"/>
            <a:ext cx="38100" cy="628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467350" y="285750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凭据由目标机注入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00950" y="2838450"/>
            <a:ext cx="3981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密钥不进包，运行时由目标机器提供。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5295900" y="3400425"/>
            <a:ext cx="38100" cy="628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467350" y="361950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目标机器要兼容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600950" y="3600450"/>
            <a:ext cx="3981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程序版本、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与模型服务条件。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295900" y="4162425"/>
            <a:ext cx="38100" cy="628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467350" y="438150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回放不等于执行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600950" y="4362450"/>
            <a:ext cx="3981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能离线回放，不代表能重新调用模型。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295900" y="4924425"/>
            <a:ext cx="38100" cy="628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467350" y="514350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启动不等于状态正确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600950" y="5124450"/>
            <a:ext cx="3981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能启动模型，不代表地图与对象状态已正确回放。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94" name="" descr="&lt;Slide notes={`命令行在这里的作用是帮助理解协议，以及在后续的独立环境里使用。本次教材案例的配置、运行和验收都还是走浏览器完成的，不能用这些命令绕过缺失的页面步骤。&#10;我把命令按实验、运行、回放三组摆出来，重点在区分它们各自管什么：谁只创建、谁创建并执行，谁保留身份、谁新建身份，谁读事实、谁真的执行。&#10;把这三组分清楚，你在独立环境里操作时就不容易把「看」当成「跑」，也不会误以为命令存在就等于界面上有对应按钮。最后再把交付清单说清楚：交付的是证据和边界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④　　3.13.6 — 3.13.7&lt;/Text&gt;&#10;&#10;        &lt;Text style={{ fontSize: 56, fontWeight: 'bold', color: '#20344B', lineHeight: 1.15 }}&gt;命令速查与交付证据&lt;/Text&gt;&#10;&#10;        &lt;Box style={{ width: 72, height: 4, background: '#276FBF' }} /&gt;&#10;&#10;        &lt;Text style={{ fontSize: 18, color: '#546779', lineHeight: 1.7, width: 900 }}&gt;实验、运行、回放三组命令各管一件事；交付时要说清哪些是证据，哪些还只是结论。&lt;/Text&gt;&#10;&#10;        &lt;Box style={{ flexDirection: 'row', alignItems: 'center', justifyContent: 'center', marginTop: 10 }}&gt;&#10;            &lt;Box style={{ width: 340, height: 64, background: '#EDF4FC', borderRadius: 8, justifyContent: 'center', alignItems: 'center' }}&gt;&#10;                &lt;Text style={{ fontSize: 17, color: '#276FBF', fontFamily: 'Consolas, monospace' }}&gt;ga experiment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40, height: 64, background: '#EDF4FC', borderRadius: 8, justifyContent: 'center', alignItems: 'center' }}&gt;&#10;                &lt;Text style={{ fontSize: 17, color: '#276FBF', fontFamily: 'Consolas, monospace' }}&gt;ga run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40, height: 64, background: '#ECF7F2', borderRadius: 8, justifyContent: 'center', alignItems: 'center' }}&gt;&#10;                &lt;Text style={{ fontSize: 17, color: '#26816B', fontFamily: 'Consolas, monospace' }}&gt;ga replay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④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3.13.6 — 3.13.7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命令速查与交付证据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实验、运行、回放三组命令各管一件事；交付时要说清哪些是证据，哪些还只是结论。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81915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857375" y="4267200"/>
            <a:ext cx="1162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Consolas"/>
                <a:ea typeface="Consolas"/>
              </a:rPr>
              <a:t>ga experiment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2291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447675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829300" y="4267200"/>
            <a:ext cx="542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Consolas"/>
                <a:ea typeface="Consolas"/>
              </a:rPr>
              <a:t>ga run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8867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813435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353550" y="42672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6816B"/>
                </a:solidFill>
                <a:latin typeface="Consolas"/>
                <a:ea typeface="Consolas"/>
              </a:rPr>
              <a:t>ga replay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41" name="" descr="&lt;Slide notes={`这几条命令围绕实验和运行。实验这边，验证命令检查一个实验目录或者实验包能不能通过，封存命令把实验目录写成正式的实验包。&#10;运行这边，创建命令只建立一个新的运行目录，启动命令在创建之后直接执行。状态命令读取一个运行或者运行包的摘要，暂停、取消、恢复分别对应三种不同的处置。&#10;有两处边界要记住：一是参数以当前解析器为准，不要按记忆里的旧接口去写；二是尖括号表示待替换的路径或者整数，不是可以直接粘贴的字面内容。&#10;本次案例的配置和运行仍然走浏览器界面，命令留着理解协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6　CLI 延伸：准确区分各条命令&lt;/Text&gt;&#10;            &lt;Text style={{ fontSize: 34, fontWeight: 'bold', color: '#20344B' }}&gt;实验与运行命令&lt;/Text&gt;&#10;        &lt;/Box&gt;&#10;    &lt;/Box&gt;&#10;&#10;    &lt;Box style={{ height: 540, flexDirection: 'row', alignItems: 'center', gap: 32 }}&gt;&#10;&#10;        &lt;Box style={{ width: 380, flexDirection: 'column', gap: 16 }}&gt;&#10;&#10;            &lt;Text style={{ fontSize: 16, fontWeight: 'bold', color: '#20344B' }}&gt;命令速查（实验与运行）&lt;/Text&gt;&#10;&#10;            &lt;Box style={{ width: 380, height: 140, background: '#EDF4FC', borderRadius: 10, padding: '14px 18px', flexDirection: 'column', gap: 5, justifyContent: 'center' }}&gt;&#10;                &lt;Text style={{ fontSize: 15, fontWeight: 'bold', color: '#276FBF' }}&gt;本次仍走浏览器&lt;/Text&gt;&#10;                &lt;Text style={{ fontSize: 13, color: '#546779', lineHeight: 1.6 }}&gt;案例的配置、运行与验收由浏览器完成，不能用这些命令绕过缺失的页面步骤。&lt;/Text&gt;&#10;            &lt;/Box&gt;&#10;&#10;            &lt;Box style={{ width: 380, height: 140, background: '#FFF4E6', borderRadius: 10, padding: '14px 18px', flexDirection: 'column', gap: 5, justifyContent: 'center' }}&gt;&#10;                &lt;Text style={{ fontSize: 15, fontWeight: 'bold', color: '#CB6B28' }}&gt;参数以当前解析器为准&lt;/Text&gt;&#10;                &lt;Text style={{ fontSize: 13, color: '#546779', lineHeight: 1.6 }}&gt;不按记忆里的旧命令接口书写；尖括号表示待替换的路径或整数。&lt;/Text&gt;&#10;            &lt;/Box&gt;&#10;&#10;        &lt;/Box&gt;&#10;&#10;        &lt;Box style={{ width: 740, background: '#F4F7FA', borderRadius: 12, padding: '20px 22px', flexDirection: 'column', gap: 2 }}&gt;&#10;            &lt;Text style={{ fontSize: 14, color: '#276FBF', fontFamily: 'Consolas, monospace', lineHeight: 1.95 }}&gt;ga experiment validate ＜实验目录或 .gaexp＞&lt;/Text&gt;&#10;            &lt;Text style={{ fontSize: 14, color: '#276FBF', fontFamily: 'Consolas, monospace', lineHeight: 1.95 }}&gt;ga experiment seal ＜实验目录＞ ＜输出 .gaexp＞&lt;/Text&gt;&#10;            &lt;Text style={{ fontSize: 14, color: '#26816B', fontFamily: 'Consolas, monospace', lineHeight: 1.95 }}&gt;ga run create ＜实验包＞ ＜新 Run 目录＞ [--steps N]&lt;/Text&gt;&#10;            &lt;Text style={{ fontSize: 14, color: '#26816B', fontFamily: 'Consolas, monospace', lineHeight: 1.95 }}&gt;ga run start ＜实验包＞ ＜新 Run 目录＞ [--steps N]&lt;/Text&gt;&#10;            &lt;Text style={{ fontSize: 14, color: '#546779', fontFamily: 'Consolas, monospace', lineHeight: 1.95 }}&gt;ga run status ＜Run 目录或 .garun＞&lt;/Text&gt;&#10;            &lt;Text style={{ fontSize: 14, color: '#546779', fontFamily: 'Consolas, monospace', lineHeight: 1.95 }}&gt;ga run pause ＜Run 目录＞&lt;/Text&gt;&#10;            &lt;Text style={{ fontSize: 14, color: '#546779', fontFamily: 'Consolas, monospace', lineHeight: 1.95 }}&gt;ga run cancel ＜Run 目录＞&lt;/Text&gt;&#10;            &lt;Text style={{ fontSize: 14, color: '#546779', fontFamily: 'Consolas, monospace', lineHeight: 1.95 }}&gt;ga run resume ＜Run 目录＞&lt;/Text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延伸：准确区分各条命令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实验与运行命令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09600" y="213360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命令速查（实验与运行）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09600" y="2476500"/>
            <a:ext cx="36195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81050" y="280035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本次仍走浏览器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781050" y="3019425"/>
            <a:ext cx="3276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案例的配置、运行与验收由浏览器完成，不能用这些命令绕过缺失的页面步骤。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09600" y="3962400"/>
            <a:ext cx="36195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81050" y="428625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参数以当前解析器为准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81050" y="4505325"/>
            <a:ext cx="3276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不按记忆里的旧命令接口书写；尖括号表示待替换的路径或整数。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4533900" y="2200275"/>
            <a:ext cx="7048500" cy="302895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743450" y="2390775"/>
            <a:ext cx="6629400" cy="31432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 xml:space="preserve">ga experiment validate </a:t>
            </a:r>
            <a:r>
              <a:rPr lang="zh-CN" sz="1050">
                <a:solidFill>
                  <a:srgbClr val="276FBF"/>
                </a:solidFill>
                <a:latin typeface="Consolas"/>
                <a:ea typeface="Consolas"/>
              </a:rPr>
              <a:t>＜实验目录或</a:t>
            </a: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 xml:space="preserve"> .gaexp</a:t>
            </a:r>
            <a:r>
              <a:rPr lang="zh-CN" sz="1050">
                <a:solidFill>
                  <a:srgbClr val="276FBF"/>
                </a:solidFill>
                <a:latin typeface="Consolas"/>
                <a:ea typeface="Consolas"/>
              </a:rPr>
              <a:t>＞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743450" y="2724150"/>
            <a:ext cx="6629400" cy="31432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 xml:space="preserve">ga experiment seal </a:t>
            </a:r>
            <a:r>
              <a:rPr lang="zh-CN" sz="1050">
                <a:solidFill>
                  <a:srgbClr val="276FBF"/>
                </a:solidFill>
                <a:latin typeface="Consolas"/>
                <a:ea typeface="Consolas"/>
              </a:rPr>
              <a:t>＜实验目录＞</a:t>
            </a: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 xml:space="preserve"> </a:t>
            </a:r>
            <a:r>
              <a:rPr lang="zh-CN" sz="1050">
                <a:solidFill>
                  <a:srgbClr val="276FBF"/>
                </a:solidFill>
                <a:latin typeface="Consolas"/>
                <a:ea typeface="Consolas"/>
              </a:rPr>
              <a:t>＜输出</a:t>
            </a: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 xml:space="preserve"> .gaexp</a:t>
            </a:r>
            <a:r>
              <a:rPr lang="zh-CN" sz="1050">
                <a:solidFill>
                  <a:srgbClr val="276FBF"/>
                </a:solidFill>
                <a:latin typeface="Consolas"/>
                <a:ea typeface="Consolas"/>
              </a:rPr>
              <a:t>＞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743450" y="3057525"/>
            <a:ext cx="6629400" cy="31432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ga run create </a:t>
            </a:r>
            <a:r>
              <a:rPr lang="zh-CN" sz="1050">
                <a:solidFill>
                  <a:srgbClr val="26816B"/>
                </a:solidFill>
                <a:latin typeface="Consolas"/>
                <a:ea typeface="Consolas"/>
              </a:rPr>
              <a:t>＜实验包＞</a:t>
            </a: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 </a:t>
            </a:r>
            <a:r>
              <a:rPr lang="zh-CN" sz="1050">
                <a:solidFill>
                  <a:srgbClr val="26816B"/>
                </a:solidFill>
                <a:latin typeface="Consolas"/>
                <a:ea typeface="Consolas"/>
              </a:rPr>
              <a:t>＜新</a:t>
            </a: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 Run </a:t>
            </a:r>
            <a:r>
              <a:rPr lang="zh-CN" sz="1050">
                <a:solidFill>
                  <a:srgbClr val="26816B"/>
                </a:solidFill>
                <a:latin typeface="Consolas"/>
                <a:ea typeface="Consolas"/>
              </a:rPr>
              <a:t>目录＞</a:t>
            </a: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 [--steps N]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743450" y="3390900"/>
            <a:ext cx="6629400" cy="31432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ga run start </a:t>
            </a:r>
            <a:r>
              <a:rPr lang="zh-CN" sz="1050">
                <a:solidFill>
                  <a:srgbClr val="26816B"/>
                </a:solidFill>
                <a:latin typeface="Consolas"/>
                <a:ea typeface="Consolas"/>
              </a:rPr>
              <a:t>＜实验包＞</a:t>
            </a: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 </a:t>
            </a:r>
            <a:r>
              <a:rPr lang="zh-CN" sz="1050">
                <a:solidFill>
                  <a:srgbClr val="26816B"/>
                </a:solidFill>
                <a:latin typeface="Consolas"/>
                <a:ea typeface="Consolas"/>
              </a:rPr>
              <a:t>＜新</a:t>
            </a: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 Run </a:t>
            </a:r>
            <a:r>
              <a:rPr lang="zh-CN" sz="1050">
                <a:solidFill>
                  <a:srgbClr val="26816B"/>
                </a:solidFill>
                <a:latin typeface="Consolas"/>
                <a:ea typeface="Consolas"/>
              </a:rPr>
              <a:t>目录＞</a:t>
            </a: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 [--steps N]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743450" y="3724275"/>
            <a:ext cx="6629400" cy="31432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ga run status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＜</a:t>
            </a: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目录或</a:t>
            </a: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 .garun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＞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743450" y="4057650"/>
            <a:ext cx="6629400" cy="31432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ga run pause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＜</a:t>
            </a: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目录＞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743450" y="4391025"/>
            <a:ext cx="6629400" cy="31432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ga run cancel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＜</a:t>
            </a: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目录＞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743450" y="4724400"/>
            <a:ext cx="6629400" cy="31432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ga run resume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＜</a:t>
            </a: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目录＞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64" name="" descr="&lt;Slide notes={`这两组命令最容易混。创建和启动的区别是：创建只把运行目录建出来，启动是创建之后直接执行。&#10;恢复和重跑的区别在身份：恢复保留原来的运行身份，重跑创建一个新身份。恢复一个运行包的时候，要先把它安全解压到一个新的可写目录，因为归档文件不能原地续写。恢复之后继续使用同一个运行编号，同时建立一个新的尝试。&#10;还有一个约束：步数参数不能突破实验包本身允许的最大步数。这意味着包的边界决定了你最多能跑到哪里，命令层面的参数只是在这个范围内调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6　CLI 延伸：准确区分各条命令&lt;/Text&gt;&#10;            &lt;Text style={{ fontSize: 34, fontWeight: 'bold', color: '#20344B' }}&gt;create 与 start、resume 与 rerun&lt;/Text&gt;&#10;        &lt;/Box&gt;&#10;    &lt;/Box&gt;&#10;&#10;    &lt;Box style={{ height: 540, flexDirection: 'column', justifyContent: 'center', gap: 18 }}&gt;&#10;&#10;        &lt;Box style={{ flexDirection: 'row', gap: 20 }}&gt;&#10;&#10;            &lt;Box style={{ width: 566, height: 172, background: '#EDF4FC', borderRadius: 10, padding: '16px 20px', flexDirection: 'column', gap: 10 }}&gt;&#10;                &lt;Text style={{ fontSize: 16, fontWeight: 'bold', color: '#276FBF' }}&gt;创建与执行&lt;/Text&gt;&#10;                &lt;Box style={{ flexDirection: 'row', gap: 12, alignItems: 'center' }}&gt;&#10;                    &lt;Box style={{ width: 240, height: 42, background: '#FFFFFF', borderRadius: 8, justifyContent: 'center', alignItems: 'center' }}&gt;&#10;                        &lt;Text style={{ fontSize: 15, color: '#276FBF', fontFamily: 'Consolas, monospace' }}&gt;create&lt;/Text&gt;&#10;                    &lt;/Box&gt;&#10;                    &lt;Box style={{ width: 274 }}&gt;&#10;                        &lt;Text style={{ fontSize: 13, color: '#546779', lineHeight: 1.4 }}&gt;只创建运行目录，不执行&lt;/Text&gt;&#10;                    &lt;/Box&gt;&#10;                &lt;/Box&gt;&#10;                &lt;Box style={{ flexDirection: 'row', gap: 12, alignItems: 'center' }}&gt;&#10;                    &lt;Box style={{ width: 240, height: 42, background: '#FFFFFF', borderRadius: 8, justifyContent: 'center', alignItems: 'center' }}&gt;&#10;                        &lt;Text style={{ fontSize: 15, color: '#26816B', fontFamily: 'Consolas, monospace' }}&gt;start&lt;/Text&gt;&#10;                    &lt;/Box&gt;&#10;                    &lt;Box style={{ width: 274 }}&gt;&#10;                        &lt;Text style={{ fontSize: 13, color: '#546779', lineHeight: 1.4 }}&gt;创建之后直接执行&lt;/Text&gt;&#10;                    &lt;/Box&gt;&#10;                &lt;/Box&gt;&#10;            &lt;/Box&gt;&#10;&#10;            &lt;Box style={{ width: 566, height: 172, background: '#ECF7F2', borderRadius: 10, padding: '16px 20px', flexDirection: 'column', gap: 10 }}&gt;&#10;                &lt;Text style={{ fontSize: 16, fontWeight: 'bold', color: '#26816B' }}&gt;身份保留与新身份&lt;/Text&gt;&#10;                &lt;Box style={{ flexDirection: 'row', gap: 12, alignItems: 'center' }}&gt;&#10;                    &lt;Box style={{ width: 240, height: 42, background: '#FFFFFF', borderRadius: 8, justifyContent: 'center', alignItems: 'center' }}&gt;&#10;                        &lt;Text style={{ fontSize: 15, color: '#26816B', fontFamily: 'Consolas, monospace' }}&gt;resume&lt;/Text&gt;&#10;                    &lt;/Box&gt;&#10;                    &lt;Box style={{ width: 274 }}&gt;&#10;                        &lt;Text style={{ fontSize: 13, color: '#546779', lineHeight: 1.4 }}&gt;保留原来的 Run 身份&lt;/Text&gt;&#10;                    &lt;/Box&gt;&#10;                &lt;/Box&gt;&#10;                &lt;Box style={{ flexDirection: 'row', gap: 12, alignItems: 'center' }}&gt;&#10;                    &lt;Box style={{ width: 240, height: 42, background: '#FFFFFF', borderRadius: 8, justifyContent: 'center', alignItems: 'center' }}&gt;&#10;                        &lt;Text style={{ fontSize: 15, color: '#276FBF', fontFamily: 'Consolas, monospace' }}&gt;rerun&lt;/Text&gt;&#10;                    &lt;/Box&gt;&#10;                    &lt;Box style={{ width: 274 }}&gt;&#10;                        &lt;Text style={{ fontSize: 13, color: '#546779', lineHeight: 1.4 }}&gt;创建一个新的身份&lt;/Text&gt;&#10;                    &lt;/Box&gt;&#10;                &lt;/Box&gt;&#10;            &lt;/Box&gt;&#10;&#10;        &lt;/Box&gt;&#10;&#10;        &lt;Box style={{ width: 1152, height: 104, background: '#EDF4FC', borderRadius: 10, padding: '14px 22px', flexDirection: 'column', gap: 5, justifyContent: 'center' }}&gt;&#10;            &lt;Text style={{ fontSize: 16, fontWeight: 'bold', color: '#276FBF' }}&gt;归档不能原地续写&lt;/Text&gt;&#10;            &lt;Text style={{ fontSize: 14, color: '#546779', lineHeight: 1.5 }}&gt;恢复 .garun 要先安全解压到新的可写目录；恢复之后继续使用同一 Run ID，并建立新 Attempt。&lt;/Text&gt;&#10;        &lt;/Box&gt;&#10;&#10;        &lt;Box style={{ width: 1152, height: 78, background: '#FFF4E6', borderRadius: 10, padding: '0 22px', flexDirection: 'row', alignItems: 'center', gap: 16 }}&gt;&#10;            &lt;Box style={{ width: 4, height: 34, background: '#CB6B28' }} /&gt;&#10;            &lt;Text style={{ fontSize: 15, color: '#CB6B28' }}&gt;--steps 不能突破实验包允许的最大步数：包的边界决定上限，参数只在此范围内调整。&lt;/Text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210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延伸：准确区分各条命令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210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create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start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resume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rerun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09600" y="1857375"/>
            <a:ext cx="5391150" cy="1638300"/>
          </a:xfrm>
          <a:prstGeom prst="roundRect">
            <a:avLst>
              <a:gd name="adj" fmla="val 58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00100" y="20097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创建与执行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800100" y="2295525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704975" y="24098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>create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200400" y="2390775"/>
            <a:ext cx="2609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只创建运行目录，不执行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800100" y="2790825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743075" y="290512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Consolas"/>
                <a:ea typeface="Consolas"/>
              </a:rPr>
              <a:t>start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3200400" y="2886075"/>
            <a:ext cx="2609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创建之后直接执行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191250" y="1857375"/>
            <a:ext cx="5391150" cy="1638300"/>
          </a:xfrm>
          <a:prstGeom prst="roundRect">
            <a:avLst>
              <a:gd name="adj" fmla="val 58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381750" y="20097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身份保留与新身份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381750" y="2295525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286625" y="24098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Consolas"/>
                <a:ea typeface="Consolas"/>
              </a:rPr>
              <a:t>resume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782050" y="2390775"/>
            <a:ext cx="2609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保留原来的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381750" y="2790825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324725" y="290512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>rerun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782050" y="2886075"/>
            <a:ext cx="2609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创建一个新的身份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09600" y="36671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19150" y="3924300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归档不能原地续写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19150" y="4162425"/>
            <a:ext cx="1055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恢复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.garun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要先安全解压到新的可写目录；恢复之后继续使用同一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，并建立新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482917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819150" y="5038725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1009650" y="5114925"/>
            <a:ext cx="552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--steps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不能突破实验包允许的最大步数：包的边界决定上限，参数只在此范围内调整。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93" name="" descr="&lt;Slide notes={`回放相关的命令只做一件事：读事实。它不执行 Skill，也不请求模型。连运行状态这条命令，也是用回放的方式读取摘要，所以查一次状态不会被变成继续运行。&#10;这一点对排查很关键：当你只想看发生了什么的时候，你用的工具不应该改变世界。&#10;另外要说清楚，界面是否提供某条命令行操作的同等入口，要按界面单独核对，不能因为命令存在就推导出按钮存在。&#10;建议的验收顺序是先核对原包字节与完整性，再离线读取既有事实，最后按独立执行计划验证恢复或者重跑。本章没有删除用户数据库，也没有完成第二台机器的真实验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6　CLI 延伸：准确区分各条命令&lt;/Text&gt;&#10;            &lt;Text style={{ fontSize: 34, fontWeight: 'bold', color: '#20344B' }}&gt;ga replay 只读事实&lt;/Text&gt;&#10;        &lt;/Box&gt;&#10;    &lt;/Box&gt;&#10;&#10;    &lt;Box style={{ height: 540, flexDirection: 'row', alignItems: 'center', gap: 32 }}&gt;&#10;&#10;        &lt;Box style={{ width: 620, flexDirection: 'column', gap: 14 }}&gt;&#10;&#10;            &lt;Box style={{ flexDirection: 'row', gap: 14, alignItems: 'center' }}&gt;&#10;                &lt;Box style={{ width: 4, height: 76, background: '#276FBF' }} /&gt;&#10;                &lt;Box style={{ flexDirection: 'column', gap: 3 }}&gt;&#10;                    &lt;Text style={{ fontSize: 16, fontWeight: 'bold', color: '#20344B' }}&gt;ga replay 读取事实&lt;/Text&gt;&#10;                    &lt;Text style={{ fontSize: 13, color: '#546779', lineHeight: 1.5 }}&gt;不执行 Skill，也不请求模型，只把已经发生的记录读出来。&lt;/Text&gt;&#10;                &lt;/Box&gt;&#10;            &lt;/Box&gt;&#10;&#10;            &lt;Box style={{ flexDirection: 'row', gap: 14, alignItems: 'center' }}&gt;&#10;                &lt;Box style={{ width: 4, height: 76, background: '#276FBF' }} /&gt;&#10;                &lt;Box style={{ flexDirection: 'column', gap: 3 }}&gt;&#10;                    &lt;Text style={{ fontSize: 16, fontWeight: 'bold', color: '#20344B' }}&gt;run status 也用回放&lt;/Text&gt;&#10;                    &lt;Text style={{ fontSize: 13, color: '#546779', lineHeight: 1.5 }}&gt;CLI 中状态查询使用 Replay 读取摘要，不会把一次查询变成继续运行。&lt;/Text&gt;&#10;                &lt;/Box&gt;&#10;            &lt;/Box&gt;&#10;&#10;            &lt;Box style={{ flexDirection: 'row', gap: 14, alignItems: 'center' }}&gt;&#10;                &lt;Box style={{ width: 4, height: 76, background: '#CB6B28' }} /&gt;&#10;                &lt;Box style={{ flexDirection: 'column', gap: 3 }}&gt;&#10;                    &lt;Text style={{ fontSize: 16, fontWeight: 'bold', color: '#CB6B28' }}&gt;命令存在不等于按钮存在&lt;/Text&gt;&#10;                    &lt;Text style={{ fontSize: 13, color: '#546779', lineHeight: 1.5 }}&gt;界面是否提供同等操作，要按 UI 单独核对，不能由命令推导。&lt;/Text&gt;&#10;                &lt;/Box&gt;&#10;            &lt;/Box&gt;&#10;&#10;        &lt;/Box&gt;&#10;&#10;        &lt;Box style={{ width: 500, flexDirection: 'column', gap: 16 }}&gt;&#10;&#10;            &lt;Box style={{ width: 500, height: 200, background: '#EDF4FC', borderRadius: 10, padding: '16px 22px', flexDirection: 'column', gap: 6, justifyContent: 'center' }}&gt;&#10;                &lt;Text style={{ fontSize: 16, fontWeight: 'bold', color: '#276FBF' }}&gt;建议的验收顺序&lt;/Text&gt;&#10;                &lt;Text style={{ fontSize: 14, color: '#546779', lineHeight: 1.6 }}&gt;先核对原包字节与完整性，再离线读取既有事实，最后按独立执行计划验证恢复或重跑。&lt;/Text&gt;&#10;            &lt;/Box&gt;&#10;&#10;            &lt;Box style={{ width: 500, height: 150, background: '#F7F3E8', borderRadius: 10, padding: '16px 22px', flexDirection: 'column', gap: 6, justifyContent: 'center' }}&gt;&#10;                &lt;Text style={{ fontSize: 16, fontWeight: 'bold', color: '#20344B' }}&gt;本章的边界&lt;/Text&gt;&#10;                &lt;Text style={{ fontSize: 14, color: '#546779', lineHeight: 1.6 }}&gt;没有删除用户数据库，也没有完成第二台机器的真实验收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延伸：准确区分各条命令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05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ga replay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只读事实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09600" y="2495550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81050" y="2638425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ga replay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读取事实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81050" y="2857500"/>
            <a:ext cx="32480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不执行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，也不请求模型，只把已经发生的记录读出来。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09600" y="3352800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81050" y="3495675"/>
            <a:ext cx="3914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status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也用回放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81050" y="3714750"/>
            <a:ext cx="39147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CLI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中状态查询使用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Replay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读取摘要，不会把一次查询变成继续运行。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421005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81050" y="43529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命令存在不等于按钮存在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81050" y="4572000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界面是否提供同等操作，要按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UI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单独核对，不能由命令推导。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819900" y="1971675"/>
            <a:ext cx="47625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029450" y="2543175"/>
            <a:ext cx="434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建议的验收顺序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7029450" y="2790825"/>
            <a:ext cx="4343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先核对原包字节与完整性，再离线读取既有事实，最后按独立执行计划验证恢复或重跑。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819900" y="4029075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029450" y="4495800"/>
            <a:ext cx="434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本章的边界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029450" y="4743450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没有删除用户数据库，也没有完成第二台机器的真实验收。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15" name="" descr="&lt;Slide notes={`正式交付包含的东西是可以列出来的：教材素材、精确的 Skill、参数说明、原始导出、来源登记，以及关键事实和质量评分。&#10;交付时要说清手里是什么。如果只有普通结果 ZIP，就明确这样命名，不要含糊地叫它运行包。如果已经得到了正式运行包，就再补上协议校验的记录。只有在独立环境里完成了验证，才能写那个环境里的回放、恢复或者重跑结论。&#10;还有一句要说在前面：同一个包的确定性归档，保证的是同样的内容能得到相同的字节，它不意味着重新运行大模型必然生成同样的故事。青禾的可复核性，首先来自固定的输入和真实的记录，再来自完整的验证说明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3.7　交付的是证据和边界&lt;/Text&gt;&#10;            &lt;Text style={{ fontSize: 34, fontWeight: 'bold', color: '#20344B' }}&gt;交付的是证据和边界&lt;/Text&gt;&#10;        &lt;/Box&gt;&#10;    &lt;/Box&gt;&#10;&#10;    &lt;Box style={{ height: 540, flexDirection: 'column', justifyContent: 'center', gap: 16 }}&gt;&#10;&#10;        &lt;Text style={{ fontSize: 17, color: '#546779', lineHeight: 1.6 }}&gt;一次正式交付应包含六类材料，并且按手里已有的证据，写下对得上的结论。&lt;/Text&gt;&#10;&#10;        &lt;Box style={{ flexDirection: 'row', gap: 24 }}&gt;&#10;            &lt;Box style={{ width: 172, height: 74, background: '#EDF4FC', borderRadius: 8, justifyContent: 'center', alignItems: 'center' }}&gt;&#10;                &lt;Text style={{ fontSize: 14, color: '#276FBF' }}&gt;教材素材&lt;/Text&gt;&#10;            &lt;/Box&gt;&#10;            &lt;Box style={{ width: 172, height: 74, background: '#EDF4FC', borderRadius: 8, justifyContent: 'center', alignItems: 'center' }}&gt;&#10;                &lt;Text style={{ fontSize: 14, color: '#276FBF' }}&gt;精确 Skill&lt;/Text&gt;&#10;            &lt;/Box&gt;&#10;            &lt;Box style={{ width: 172, height: 74, background: '#EDF4FC', borderRadius: 8, justifyContent: 'center', alignItems: 'center' }}&gt;&#10;                &lt;Text style={{ fontSize: 14, color: '#276FBF' }}&gt;参数说明&lt;/Text&gt;&#10;            &lt;/Box&gt;&#10;            &lt;Box style={{ width: 172, height: 74, background: '#ECF7F2', borderRadius: 8, justifyContent: 'center', alignItems: 'center' }}&gt;&#10;                &lt;Text style={{ fontSize: 14, color: '#26816B' }}&gt;原始导出&lt;/Text&gt;&#10;            &lt;/Box&gt;&#10;            &lt;Box style={{ width: 172, height: 74, background: '#ECF7F2', borderRadius: 8, justifyContent: 'center', alignItems: 'center' }}&gt;&#10;                &lt;Text style={{ fontSize: 14, color: '#26816B' }}&gt;来源登记&lt;/Text&gt;&#10;            &lt;/Box&gt;&#10;            &lt;Box style={{ width: 172, height: 74, background: '#ECF7F2', borderRadius: 8, justifyContent: 'center', alignItems: 'center' }}&gt;&#10;                &lt;Text style={{ fontSize: 14, color: '#26816B' }}&gt;关键事实与质量评分&lt;/Text&gt;&#10;            &lt;/Box&gt;&#10;        &lt;/Box&gt;&#10;&#10;        &lt;Box style={{ flexDirection: 'column', gap: 12 }}&gt;&#10;&#10;            &lt;Box style={{ width: 1152, height: 68, background: '#F4F7FA', borderRadius: 10, padding: '0 20px', flexDirection: 'row', alignItems: 'center', gap: 16 }}&gt;&#10;                &lt;Box style={{ width: 4, height: 40, background: '#276FBF' }} /&gt;&#10;                &lt;Box style={{ width: 300 }}&gt;&#10;                    &lt;Text style={{ fontSize: 15, fontWeight: 'bold', color: '#276FBF' }}&gt;只有普通结果 ZIP&lt;/Text&gt;&#10;                &lt;/Box&gt;&#10;                &lt;Box style={{ flex: 1 }}&gt;&#10;                    &lt;Text style={{ fontSize: 15, color: '#546779' }}&gt;就明确这样命名，不要含糊地叫它运行包。&lt;/Text&gt;&#10;                &lt;/Box&gt;&#10;            &lt;/Box&gt;&#10;&#10;            &lt;Box style={{ width: 1152, height: 68, background: '#F4F7FA', borderRadius: 10, padding: '0 20px', flexDirection: 'row', alignItems: 'center', gap: 16 }}&gt;&#10;                &lt;Box style={{ width: 4, height: 40, background: '#26816B' }} /&gt;&#10;                &lt;Box style={{ width: 300 }}&gt;&#10;                    &lt;Text style={{ fontSize: 15, fontWeight: 'bold', color: '#26816B' }}&gt;已经得到 .garun&lt;/Text&gt;&#10;                &lt;/Box&gt;&#10;                &lt;Box style={{ flex: 1 }}&gt;&#10;                    &lt;Text style={{ fontSize: 15, color: '#546779' }}&gt;再记录协议校验的结果，作为这一步的证据。&lt;/Text&gt;&#10;                &lt;/Box&gt;&#10;            &lt;/Box&gt;&#10;&#10;            &lt;Box style={{ width: 1152, height: 68, background: '#FFF4E6', borderRadius: 10, padding: '0 20px', flexDirection: 'row', alignItems: 'center', gap: 16 }}&gt;&#10;                &lt;Box style={{ width: 4, height: 40, background: '#CB6B28' }} /&gt;&#10;                &lt;Box style={{ width: 300 }}&gt;&#10;                    &lt;Text style={{ fontSize: 15, fontWeight: 'bold', color: '#CB6B28' }}&gt;只有完成独立环境验证&lt;/Text&gt;&#10;                &lt;/Box&gt;&#10;                &lt;Box style={{ flex: 1 }}&gt;&#10;                    &lt;Text style={{ fontSize: 15, color: '#546779' }}&gt;才能写该环境中的回放、恢复或重跑结论。&lt;/Text&gt;&#10;                &lt;/Box&gt;&#10;            &lt;/Box&gt;&#10;&#10;        &lt;/Box&gt;&#10;&#10;        &lt;Box style={{ width: 1152, height: 92, background: '#EDF4FC', borderRadius: 10, padding: '14px 22px', flexDirection: 'column', gap: 5, justifyContent: 'center' }}&gt;&#10;            &lt;Text style={{ fontSize: 16, fontWeight: 'bold', color: '#276FBF' }}&gt;确定性归档保证同内容得到相同字节，不等于重跑大模型会生成相同故事&lt;/Text&gt;&#10;            &lt;Text style={{ fontSize: 14, color: '#546779', lineHeight: 1.5 }}&gt;青禾的可复核性首先来自固定输入和真实记录，再来自完整的验证说明，而不是「一键复现」四个字。&lt;/Text&gt;&#10;        &lt;/Box&gt;&#10;&#10;    &lt;/Box&gt;&#10;&#10;    &lt;Box style={{ height: 40, flexDirection: 'row', justifyContent: 'space-between', alignItems: 'center' }}&gt;&#10;        &lt;Text style={{ fontSize: 14, color: '#546779' }}&gt;3.13 导出、迁移与离线回放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交付的是证据和边界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交付的是证据和边界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09600" y="14573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一次正式交付应包含六类材料，并且按手里已有的证据，写下对得上的结论。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09600" y="1924050"/>
            <a:ext cx="1638300" cy="704850"/>
          </a:xfrm>
          <a:prstGeom prst="roundRect">
            <a:avLst>
              <a:gd name="adj" fmla="val 108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162050" y="2200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教材素材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2476500" y="1924050"/>
            <a:ext cx="1638300" cy="704850"/>
          </a:xfrm>
          <a:prstGeom prst="roundRect">
            <a:avLst>
              <a:gd name="adj" fmla="val 108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009900" y="22002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4343400" y="1924050"/>
            <a:ext cx="1638300" cy="704850"/>
          </a:xfrm>
          <a:prstGeom prst="roundRect">
            <a:avLst>
              <a:gd name="adj" fmla="val 108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4895850" y="2200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参数说明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210300" y="1924050"/>
            <a:ext cx="1638300" cy="704850"/>
          </a:xfrm>
          <a:prstGeom prst="roundRect">
            <a:avLst>
              <a:gd name="adj" fmla="val 108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762750" y="2200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原始导出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8077200" y="1924050"/>
            <a:ext cx="1638300" cy="704850"/>
          </a:xfrm>
          <a:prstGeom prst="roundRect">
            <a:avLst>
              <a:gd name="adj" fmla="val 108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629650" y="2200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来源登记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9944100" y="1924050"/>
            <a:ext cx="1638300" cy="704850"/>
          </a:xfrm>
          <a:prstGeom prst="roundRect">
            <a:avLst>
              <a:gd name="adj" fmla="val 108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0163175" y="220027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关键事实与质量评分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09600" y="2781300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800100" y="29146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990600" y="301942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只有普通结果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ZIP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000500" y="3019425"/>
            <a:ext cx="739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就明确这样命名，不要含糊地叫它运行包。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3543300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800100" y="367665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990600" y="378142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已经得到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.garun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000500" y="3781425"/>
            <a:ext cx="739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再记录协议校验的结果，作为这一步的证据。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09600" y="4305300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800100" y="44386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90600" y="454342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只有完成独立环境验证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000500" y="4543425"/>
            <a:ext cx="739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才能写该环境中的回放、恢复或重跑结论。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51054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19150" y="5305425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确定性归档保证同内容得到相同字节，不等于重跑大模型会生成相同故事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19150" y="5543550"/>
            <a:ext cx="1055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青禾的可复核性首先来自固定输入和真实记录，再来自完整的验证说明，而不是「一键复现」四个字。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50" name="" descr="&lt;Slide notes={`把这一段收成三句话。&#10;第一，包要看清单：类型和身份写在清单里，改文件名不会补齐协议，也不会创建新的业务身份。&#10;第二，层次要分开取证：原包字节与完整性、离线回放、恢复或重跑是三层，每一层都需要一组新的验收记录，一层通过不能代替下一层。&#10;第三，承诺要跟证据走：完成了独立环境验证之后，再写那个环境里的结论。交付的不是一键复现这四个字，而是固定的输入、真实的记录，和一份说清边界的验证说明。&#10;下一节把架构和交付物串起来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3.13　导出、迁移与离线回放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 }}&gt;包要看清单&lt;/Text&gt;&#10;            &lt;Text style={{ fontSize: 16, color: '#546779', flex: 1 }}&gt;类型与身份写在清单里，改名不会补齐协议，也不创建新身份。&lt;/Text&gt;&#10;        &lt;/Box&gt;&#10;&#10;        &lt;Box style={{ flexDirection: 'row', gap: 20 }}&gt;&#10;            &lt;Box style={{ width: 566, height: 100, background: '#FFF4E6', borderRadius: 10, padding: '0 22px', flexDirection: 'column', gap: 4, justifyContent: 'center' }}&gt;&#10;                &lt;Text style={{ fontSize: 20, fontWeight: 'bold', color: '#CB6B28' }}&gt;层次要分开取证&lt;/Text&gt;&#10;                &lt;Text style={{ fontSize: 15, color: '#546779' }}&gt;字节、离线回放、再次执行各要一组记录。&lt;/Text&gt;&#10;            &lt;/Box&gt;&#10;            &lt;Box style={{ width: 566, height: 100, background: '#ECF7F2', borderRadius: 10, padding: '0 22px', flexDirection: 'column', gap: 4, justifyContent: 'center' }}&gt;&#10;                &lt;Text style={{ fontSize: 20, fontWeight: 'bold', color: '#26816B' }}&gt;承诺要跟证据走&lt;/Text&gt;&#10;                &lt;Text style={{ fontSize: 15, color: '#546779' }}&gt;完成独立验证之前，只写能做到的事。&lt;/Text&gt;&#10;            &lt;/Box&gt;&#10;        &lt;/Box&gt;&#10;&#10;        &lt;Text style={{ fontSize: 15, color: '#546779', marginTop: 8 }}&gt;下一节：沿着一次行动理解架构 —— 整理可交付的实验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导出、迁移与离线回放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09600" y="24955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609600" y="27432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19150" y="3095625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包要看清单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2038350" y="3124200"/>
            <a:ext cx="933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类型与身份写在清单里，改名不会补齐协议，也不创建新身份。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0960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81915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层次要分开取证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1915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字节、离线回放、再次执行各要一组记录。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19125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40080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承诺要跟证据走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40080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完成独立验证之前，只写能做到的事。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5029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下一节：沿着一次行动理解架构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整理可交付的实验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2026-09-29T09:04:53Z</dcterms:created>
  <dcterms:modified xsi:type="dcterms:W3CDTF">2026-09-29T09:04:53Z</dcterms:modified>
</cp:coreProperties>
</file>