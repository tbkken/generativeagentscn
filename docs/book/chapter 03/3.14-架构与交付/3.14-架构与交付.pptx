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8.xml" ContentType="application/vnd.openxmlformats-officedocument.presentationml.slide+xml"/>
  <Override PartName="/ppt/slides/slide28.xml" ContentType="application/vnd.openxmlformats-officedocument.presentationml.slide+xml"/>
  <Override PartName="/ppt/slides/slide9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3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8" Type="http://schemas.openxmlformats.org/officeDocument/2006/relationships/slide" Target="slides/slide18.xml" /><Relationship Id="rId1" Type="http://schemas.openxmlformats.org/officeDocument/2006/relationships/slide" Target="slides/slide1.xml" /><Relationship Id="rId3" Type="http://schemas.openxmlformats.org/officeDocument/2006/relationships/slide" Target="slides/slide3.xml" /><Relationship Id="rId10" Type="http://schemas.openxmlformats.org/officeDocument/2006/relationships/slide" Target="slides/slide10.xml" /><Relationship Id="rId13" Type="http://schemas.openxmlformats.org/officeDocument/2006/relationships/slide" Target="slides/slide13.xml" /><Relationship Id="rId27" Type="http://schemas.openxmlformats.org/officeDocument/2006/relationships/slide" Target="slides/slide27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33" Type="http://schemas.openxmlformats.org/officeDocument/2006/relationships/viewProps" Target="viewProps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8" Type="http://schemas.openxmlformats.org/officeDocument/2006/relationships/slide" Target="slides/slide28.xml" /><Relationship Id="rId29" Type="http://schemas.openxmlformats.org/officeDocument/2006/relationships/slide" Target="slides/slide29.xml" /><Relationship Id="rId30" Type="http://schemas.openxmlformats.org/officeDocument/2006/relationships/notesMaster" Target="notesMasters/notesMaster1.xml" /><Relationship Id="rId31" Type="http://schemas.openxmlformats.org/officeDocument/2006/relationships/presProps" Target="presProps.xml" /><Relationship Id="rId32" Type="http://schemas.openxmlformats.org/officeDocument/2006/relationships/tableStyles" Target="tableStyle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回看第三章，真正重要的变化不是多了几个模型角色，而是每一项结果都有了明确的来源。</a:t>
            </a:r>
          </a:p>
          <a:p>
            <a:r>
              <a:rPr lang="zh-CN" dirty="0"/>
              <a:t>陈晨想去阅读室，这是 Brain 的决定；他能不能走过去，由空间与动作校验决定；他实际走到了哪里，由已提交的事实记录；回放画面展示的内容，则由这些事实重建。</a:t>
            </a:r>
          </a:p>
          <a:p>
            <a:r>
              <a:rPr lang="zh-CN" dirty="0"/>
              <a:t>这条链一旦理清楚，出问题的时候就知道该往哪一层查：是决定错了，是校验拦住了，是提交没有发生，还是展示读了不该读的东西。</a:t>
            </a:r>
          </a:p>
          <a:p>
            <a:r>
              <a:rPr lang="zh-CN" dirty="0"/>
              <a:t>这一节要把这条链完整走一遍，再把它整理成一份别人能检查、能复现的交付材料。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这一段的路子很简单：先用一份职责清单，把「谁是谁」讲清楚，再沿两次真实的行动走一遍，看每个环节到底留下了什么。</a:t>
            </a:r>
          </a:p>
          <a:p>
            <a:r>
              <a:rPr lang="zh-CN" dirty="0"/>
              <a:t>一次是陈晨从交流室走到阅读桌，这是单人移动；另一次是林岚向服务台咨询，这是对象交互。前者看的是校验和提交，后者多了一个跨步反馈的阶段。</a:t>
            </a:r>
          </a:p>
          <a:p>
            <a:r>
              <a:rPr lang="zh-CN" dirty="0"/>
              <a:t>有了这两条链，我们才能谈边界：哪些东西可以换，换了以后什么必须保持不变。</a:t>
            </a:r>
          </a:p>
          <a:p>
            <a:r>
              <a:rPr lang="zh-CN" dirty="0"/>
              <a:t>最后把这条链落成一份清单——一份实验交付物到底要包含哪些位置，以及四道练习该怎么答。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先把五个职责摆在一起看清楚。</a:t>
            </a:r>
          </a:p>
          <a:p>
            <a:r>
              <a:rPr lang="zh-CN" dirty="0"/>
              <a:t>Protocol 管的是合同：文件长什么样、身份怎么写、空间怎么表示、Skill 和事实怎么定义。所有环节都用同一套数据含义交流，才谈得上交接。</a:t>
            </a:r>
          </a:p>
          <a:p>
            <a:r>
              <a:rPr lang="zh-CN" dirty="0"/>
              <a:t>Studio 是作者工作的地方，编辑公共资源、组织实验、做预检；Runtime 负责把 Run 装起来、调用能力、提交每一步、监督和恢复；Replay 只读已经提交的事实，生成状态和页面投影。</a:t>
            </a:r>
          </a:p>
          <a:p>
            <a:r>
              <a:rPr lang="zh-CN" dirty="0"/>
              <a:t>最上面那层是 CLI 和 Web 适配层，它只把操作请求转成模块公开的 API。</a:t>
            </a:r>
          </a:p>
          <a:p>
            <a:r>
              <a:rPr lang="zh-CN" dirty="0"/>
              <a:t>要特别强调的是最后一句：界面不是另一套事实源。谁都不能因为页面上显示了什么，就认为世界里已经发生了。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把五个职责摊成一张表，重点看第三列——为什么必须保持这个边界。</a:t>
            </a:r>
          </a:p>
          <a:p>
            <a:r>
              <a:rPr lang="zh-CN" dirty="0"/>
              <a:t>Protocol 定义文件、身份、空间、Skill 与事实合同，各环节只有用同一套数据含义，交流才成立。</a:t>
            </a:r>
          </a:p>
          <a:p>
            <a:r>
              <a:rPr lang="zh-CN" dirty="0"/>
              <a:t>Studio 负责编辑公共资源与实验、预检并组织交换，作者的工作就不会混进运行中的事实。</a:t>
            </a:r>
          </a:p>
          <a:p>
            <a:r>
              <a:rPr lang="zh-CN" dirty="0"/>
              <a:t>Runtime 装配 Run、调用能力、提交 Step、监督与恢复，执行过程因此有明确状态与一致边界。</a:t>
            </a:r>
          </a:p>
          <a:p>
            <a:r>
              <a:rPr lang="zh-CN" dirty="0"/>
              <a:t>Replay 读取已提交事实，生成状态与页面投影；它不重新执行模型或 Skill，看历史不会改变历史。</a:t>
            </a:r>
          </a:p>
          <a:p>
            <a:r>
              <a:rPr lang="zh-CN" dirty="0"/>
              <a:t>CLI 和 Web 适配层把请求转成模块公开 API：它只是入口，不是另一套事实源。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现在看这条链上东西是怎么交接的。</a:t>
            </a:r>
          </a:p>
          <a:p>
            <a:r>
              <a:rPr lang="zh-CN" dirty="0"/>
              <a:t>公共资源是大家一起用的地图、人物、Skill 和模型。把它们拿去做实验时，做的是一次物理复制：地图的图、Skill 的文本、模型的参数，都变成实验草稿里的独立副本。</a:t>
            </a:r>
          </a:p>
          <a:p>
            <a:r>
              <a:rPr lang="zh-CN" dirty="0"/>
              <a:t>草稿校验通过以后封存，状态从 DRAFT 变成 SEALED。封存之后的实验不会再被后来编辑的公共 Skill 追着更新；公共资源后续改动也不会自动传播进来。</a:t>
            </a:r>
          </a:p>
          <a:p>
            <a:r>
              <a:rPr lang="zh-CN" dirty="0"/>
              <a:t>Run 再把执行所需的实验内容完整嵌进去，连同 Attempt、帧和检查点，成为分析那次执行的依据。</a:t>
            </a:r>
          </a:p>
          <a:p>
            <a:r>
              <a:rPr lang="zh-CN" dirty="0"/>
              <a:t>Replay 读取的只有已提交事实，它不会重新执行模型或 Skill——所以历史看得再多，也不会改变历史。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这里有两个边界，办实验的时候特别容易踩。</a:t>
            </a:r>
          </a:p>
          <a:p>
            <a:r>
              <a:rPr lang="zh-CN" dirty="0"/>
              <a:t>第一，Studio 的数据库是可以用的。它保存作者资源和可以重建的索引，让编辑工作快起来，这没有问题。</a:t>
            </a:r>
          </a:p>
          <a:p>
            <a:r>
              <a:rPr lang="zh-CN" dirty="0"/>
              <a:t>但是 Runtime 和 Replay 不应该依赖这个数据库。它们要依赖的是实验包与 Run 文件——那些是自包含的、可以有摘要、可以搬走的文件。</a:t>
            </a:r>
          </a:p>
          <a:p>
            <a:r>
              <a:rPr lang="zh-CN" dirty="0"/>
              <a:t>第二，一个已经导出的 Run，在回放时不能偷偷去查当前的公共人物、当前的地图，或者刚刚改过的 Brain。</a:t>
            </a:r>
          </a:p>
          <a:p>
            <a:r>
              <a:rPr lang="zh-CN" dirty="0"/>
              <a:t>为什么？因为那个 Run 是过去某一时刻的快照，当时的公共资源是什么样，它就应该按什么样回放。如果回放时去查现在的公共资源，看到的画面就不再是那次执行的事实，后面所有的分析都失去依据。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我们不再一块一块地看模块，而是跟着一次真实的行动走。</a:t>
            </a:r>
          </a:p>
          <a:p>
            <a:r>
              <a:rPr lang="zh-CN" dirty="0"/>
              <a:t>陈晨在交流室，他想去阅读桌附近。要走完这一趟，中间至少经过六个环节：先从实际上下文和感知拿到目标地址，再调用导航得到可走终点和路径信息，然后由 Brain 选择 MOVE。</a:t>
            </a:r>
          </a:p>
          <a:p>
            <a:r>
              <a:rPr lang="zh-CN" dirty="0"/>
              <a:t>动作发出去以后，world-act 会接收并校验它，返回 accepted。accepted 只说明动作选择被接受，不等于整步事实已经持久提交。</a:t>
            </a:r>
          </a:p>
          <a:p>
            <a:r>
              <a:rPr lang="zh-CN" dirty="0"/>
              <a:t>真正提交的是 Runtime：它按移动预算消费实际路径、保留剩余路径，构造 Event 和结构化载荷，再通过 StepResult 提交。回放读的是已提交坐标、轨迹和活动，不是模型的一句「我已抵达」。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把陈晨这一趟拆细一点看。</a:t>
            </a:r>
          </a:p>
          <a:p>
            <a:r>
              <a:rPr lang="zh-CN" dirty="0"/>
              <a:t>他从实际上下文和感知里得到目标地址，这是本轮的目标；接着调用导航，导航给出可走终点和路径信息；然后 Brain 选择 MOVE，把动作交给 world-act。</a:t>
            </a:r>
          </a:p>
          <a:p>
            <a:r>
              <a:rPr lang="zh-CN" dirty="0"/>
              <a:t>world-act 接收并校验，返回 accepted。这里最容易出错：工具返回 accepted，只说明动作选择被接受，不等于整步事实已经持久提交。</a:t>
            </a:r>
          </a:p>
          <a:p>
            <a:r>
              <a:rPr lang="zh-CN" dirty="0"/>
              <a:t>真正提交发生在 Runtime：它按移动预算消费实际路径、保留剩余路径，构造 Event 与结构化载荷，再通过 StepResult 提交。</a:t>
            </a:r>
          </a:p>
          <a:p>
            <a:r>
              <a:rPr lang="zh-CN" dirty="0"/>
              <a:t>回放读的是这些已提交的坐标、轨迹和活动。它不会因为模型说了一句「我已抵达」，就直接把小人画到终点。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如果陈晨只走了前 4 格，活动描述就要和实际进度分开读，这是本节一个很实用的判断。</a:t>
            </a:r>
          </a:p>
          <a:p>
            <a:r>
              <a:rPr lang="zh-CN" dirty="0"/>
              <a:t>路径其实有三条。计划路径表示想走哪里，它来自导航给出的可走终点与路径信息；实际路径表示已经走过哪里，只认已提交的坐标与轨迹；剩余路径表示尚未完成的部分，还留在移动预算里，等下一步继续消费。</a:t>
            </a:r>
          </a:p>
          <a:p>
            <a:r>
              <a:rPr lang="zh-CN" dirty="0"/>
              <a:t>所以途中他可以正在「前往阅读室」——这是一个进行中的状态，是合理的。但在他真正抵达之前，不能把一次阅读活动记成已经发生。</a:t>
            </a:r>
          </a:p>
          <a:p>
            <a:r>
              <a:rPr lang="zh-CN" dirty="0"/>
              <a:t>判断的依据不是描述写得多肯定，而是这三条路径各自对应了哪些已提交的事实。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出了问题要定位代码，顺序是按数据流倒着走。</a:t>
            </a:r>
          </a:p>
          <a:p>
            <a:r>
              <a:rPr lang="zh-CN" dirty="0"/>
              <a:t>先看能力服务对请求的校验。身份、可用能力、参数格式，在动作进入世界之前就在这里被拦下；如果这里没通过，后面什么都不会发生。</a:t>
            </a:r>
          </a:p>
          <a:p>
            <a:r>
              <a:rPr lang="zh-CN" dirty="0"/>
              <a:t>再看世界提交怎样构造事实。实际消费了多少路径、提交了哪些字段、有没有把这次动作写进整步结果，都在这一层。</a:t>
            </a:r>
          </a:p>
          <a:p>
            <a:r>
              <a:rPr lang="zh-CN" dirty="0"/>
              <a:t>最后看回放读取器如何限制已提交边界。它只应该读到提交为止，读不到的东西就不该出现在画面里。</a:t>
            </a:r>
          </a:p>
          <a:p>
            <a:r>
              <a:rPr lang="zh-CN" dirty="0"/>
              <a:t>有一条必须守住：不要从页面文字反推一条不存在的底层事件。画面上写了什么，不代表底层真的提交过什么；找不到记录，就说找不到记录，不能替它编一个。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单人移动是一条链，对象交互比它多一个阶段。</a:t>
            </a:r>
          </a:p>
          <a:p>
            <a:r>
              <a:rPr lang="zh-CN" dirty="0"/>
              <a:t>林岚要咨询服务台，她提交的是 INTERACT。这个动作被接受之后，服务台并不会立刻出现在同一步里，它是在本步人物动作之后运行的：读取真实请求，产生自己的动作与回复。</a:t>
            </a:r>
          </a:p>
          <a:p>
            <a:r>
              <a:rPr lang="zh-CN" dirty="0"/>
              <a:t>这些内容随整步事实一起提交，然后目标人物在下一轮才收到反馈。</a:t>
            </a:r>
          </a:p>
          <a:p>
            <a:r>
              <a:rPr lang="zh-CN" dirty="0"/>
              <a:t>多出来的这个阶段，带来两个特别容易误判的地方：请求被接受，不等于状态已经提交；对象已经回复，不等于所有人都已经获知。</a:t>
            </a:r>
          </a:p>
          <a:p>
            <a:r>
              <a:rPr lang="zh-CN" dirty="0"/>
              <a:t>恢复的时候，这两个中间态都不能丢——不能把已经投递的消息再发一次，也不能把还没投递的消息永久漏掉。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跟着一条请求走一遍，就能看清跨步反馈的几个交接点。</a:t>
            </a:r>
          </a:p>
          <a:p>
            <a:r>
              <a:rPr lang="zh-CN" dirty="0"/>
              <a:t>人物这一轮经 MCP 接受之后执行 INTERACT。世界执行拿到真实的 request_id 和待处理的请求，把它交给对象。</a:t>
            </a:r>
          </a:p>
          <a:p>
            <a:r>
              <a:rPr lang="zh-CN" dirty="0"/>
              <a:t>对象在自己的这一步里经 MCP 校验，产生自身的动作和 responses，交回世界。世界再用 StepResult 把请求、对象状态和回复一起提交。</a:t>
            </a:r>
          </a:p>
          <a:p>
            <a:r>
              <a:rPr lang="zh-CN" dirty="0"/>
              <a:t>到这一步为止，事情只走到「已提交」。目标人物是在下一轮才收到这条反馈的，他依据实际收到的内容去判断、去更新记忆。</a:t>
            </a:r>
          </a:p>
          <a:p>
            <a:r>
              <a:rPr lang="zh-CN" dirty="0"/>
              <a:t>所以有三句话要记住：请求被接受，不等于状态已提交；对象已回复，不等于所有人已获知；恢复的时候仍然要核对请求、状态和待投递回复，做到不重不漏。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从「已经提出请求」到「别人真的知道了」，中间隔着三道门，一道都不能跳。</a:t>
            </a:r>
          </a:p>
          <a:p>
            <a:r>
              <a:rPr lang="zh-CN" dirty="0"/>
              <a:t>第一道门是请求被接受。world-act 返回 accepted，只说明这次动作选择被系统接受了，还没有任何状态被写下来。</a:t>
            </a:r>
          </a:p>
          <a:p>
            <a:r>
              <a:rPr lang="zh-CN" dirty="0"/>
              <a:t>第二道门是整步事实提交。请求、对象状态和回复一起通过 StepResult 落盘，到这一刻事情才算真正发生。</a:t>
            </a:r>
          </a:p>
          <a:p>
            <a:r>
              <a:rPr lang="zh-CN" dirty="0"/>
              <a:t>第三道门是目标实际收到。反馈出现在下一轮的上下文里，人物据此判断、更新记忆，这才是获知。</a:t>
            </a:r>
          </a:p>
          <a:p>
            <a:r>
              <a:rPr lang="zh-CN" dirty="0"/>
              <a:t>最容易犯的错误，是把「已提出更新请求」记成「全体来访者已经获知」。这一句话跨过了三道门里还没成立的两道。写交付材料的时候要说清楚：哪一道过了，哪一道没有。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恢复的时候，要检查的东西远不止人物坐标。</a:t>
            </a:r>
          </a:p>
          <a:p>
            <a:r>
              <a:rPr lang="zh-CN" dirty="0"/>
              <a:t>第一是请求身份：这个 request_id 对应的到底是哪一次咨询，不能被当成另一次。</a:t>
            </a:r>
          </a:p>
          <a:p>
            <a:r>
              <a:rPr lang="zh-CN" dirty="0"/>
              <a:t>第二是待投递回复：对象已经产生但目标还没收到的那些内容，必须还挂在待投递的位置上。</a:t>
            </a:r>
          </a:p>
          <a:p>
            <a:r>
              <a:rPr lang="zh-CN" dirty="0"/>
              <a:t>第三是对象状态：公告栏这些对象走到哪一步了。</a:t>
            </a:r>
          </a:p>
          <a:p>
            <a:r>
              <a:rPr lang="zh-CN" dirty="0"/>
              <a:t>第四是会话，第五是记忆进度——人物自己的记忆走到哪一轮。</a:t>
            </a:r>
          </a:p>
          <a:p>
            <a:r>
              <a:rPr lang="zh-CN" dirty="0"/>
              <a:t>这五项一起核对，才能从一致的提交边界继续走下去。目标是既不重复投递，也不永久漏掉。</a:t>
            </a:r>
          </a:p>
          <a:p>
            <a:r>
              <a:rPr lang="zh-CN" dirty="0"/>
              <a:t>还有一点特别重要：验证必须用同一个 Run、新的 Attempt 的真实记录，不能用一次新建 Run 的成功来代替。新 Run 成功，证明不了旧 Run 能恢复。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接下来划一条特别重要的边界：什么可以变，什么不能变。</a:t>
            </a:r>
          </a:p>
          <a:p>
            <a:r>
              <a:rPr lang="zh-CN" dirty="0"/>
              <a:t>Brain 和 Skill 决定的是方法。何时感知、何时咨询、何时比较方案、怎样使用证据、怎样选择动作、什么时候等待或者结束本轮——这些都是方法的自由。</a:t>
            </a:r>
          </a:p>
          <a:p>
            <a:r>
              <a:rPr lang="zh-CN" dirty="0"/>
              <a:t>ReAct、反思、排程，都可以作为一种做法，但它们不必成为所有角色必走的系统流水线。</a:t>
            </a:r>
          </a:p>
          <a:p>
            <a:r>
              <a:rPr lang="zh-CN" dirty="0"/>
              <a:t>而身份、可用能力、动作校验、提交与恢复这些公共条件，由内核保证。方法框到内核框的那条实线，必须经过身份与能力校验；换一个 Brain，不会多出一条绕过这个入口的通道。</a:t>
            </a:r>
          </a:p>
          <a:p>
            <a:r>
              <a:rPr lang="zh-CN" dirty="0"/>
              <a:t>改变 SOP 可以改变角色怎么决策，但不能伪造别人的身份、读取他人私有记忆，也不能在同一 Step 提交第二个动作。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把这张图当成一句话来记：左边可以换，右边不能换，中间的入口只有一条。</a:t>
            </a:r>
          </a:p>
          <a:p>
            <a:r>
              <a:rPr lang="zh-CN" dirty="0"/>
              <a:t>左边是方法。什么时候感知、什么时候咨询、什么时候去比较方案，怎样使用证据、怎样选择动作，什么时候等待或者结束本轮——本章的 Brain 就是这样决定的。</a:t>
            </a:r>
          </a:p>
          <a:p>
            <a:r>
              <a:rPr lang="zh-CN" dirty="0"/>
              <a:t>其他实验完全可以采用不同做法：更谨慎地问询、更主动地探索，或者在任务简单的时候直接行动。ReAct、反思与排程都可以作为方法，但它们不需要成为所有角色必须走的系统流水线。</a:t>
            </a:r>
          </a:p>
          <a:p>
            <a:r>
              <a:rPr lang="zh-CN" dirty="0"/>
              <a:t>右边是内核：身份与能力校验、世界提交与时间恢复、已提交事实可回放。</a:t>
            </a:r>
          </a:p>
          <a:p>
            <a:r>
              <a:rPr lang="zh-CN" dirty="0"/>
              <a:t>中间的实线必须经过身份与能力校验。这意味着换掉 Brain 不会新增一条绕过入口的通道，也不会让谁凭空多出权限。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接着要提醒一件事：不要把行为约定夸大成底层保证。</a:t>
            </a:r>
          </a:p>
          <a:p>
            <a:r>
              <a:rPr lang="zh-CN" dirty="0"/>
              <a:t>例如本章要求「对实际可见的人说话」。这个要求要成立，得结合感知记录和当前实现一起检查：感知里到底有没有这个人、距离和视野条件满不满足。不能只凭一句约定就认为它自动成立。</a:t>
            </a:r>
          </a:p>
          <a:p>
            <a:r>
              <a:rPr lang="zh-CN" dirty="0"/>
              <a:t>再比如，角色资料里写着「我是组织者」。这句话不会让它自动获得新的内核权限。身份写着什么，和系统允许它做什么，是两件事。</a:t>
            </a:r>
          </a:p>
          <a:p>
            <a:r>
              <a:rPr lang="zh-CN" dirty="0"/>
              <a:t>还有一处也要分开说：Skill 的业务规则，和能力服务的权限规则，需要分别说明。业务规则管「该怎么做」，权限规则管「能不能做」；把两者混在一起讲，验收的时候就会说不清。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交付不是交一张截图，而是一组能回答问题的材料。</a:t>
            </a:r>
          </a:p>
          <a:p>
            <a:r>
              <a:rPr lang="zh-CN" dirty="0"/>
              <a:t>我把它拆成八个位置：研究问题与参数理由，要能回答为什么设这些角色、时间、视野和对照；地图与人物素材，要能回答图片、语义、碰撞和实际位置是否对应；精确 Skill 与依赖，要能回答当时到底执行了什么方法、有没有遗漏；实验包，要能回答装配了哪些独立副本、身份与摘要是什么。</a:t>
            </a:r>
          </a:p>
          <a:p>
            <a:r>
              <a:rPr lang="zh-CN" dirty="0"/>
              <a:t>后半是：Run 与 Attempt 记录，要能回答哪次执行、从哪里恢复、提交到哪一步；关键事实与质量明细，要能回答哪些条件成立、哪些失败、证据定位到哪里；包和导出核验，要能回答原始文件、时间、状态、大小和摘要是否明确；复现说明，要能回答哪些环境前提已经验证、哪些仍然未知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把八个位置一次摆出来，每一格写的是「读者会问什么」。</a:t>
            </a:r>
          </a:p>
          <a:p>
            <a:r>
              <a:rPr lang="zh-CN" dirty="0"/>
              <a:t>研究问题与参数理由：为什么设这些角色、这些时间、这个视野和这组对照。答不出理由，别人就不知道你想证明什么。</a:t>
            </a:r>
          </a:p>
          <a:p>
            <a:r>
              <a:rPr lang="zh-CN" dirty="0"/>
              <a:t>地图与人物素材：图片、语义、碰撞和实际位置是否对得上。</a:t>
            </a:r>
          </a:p>
          <a:p>
            <a:r>
              <a:rPr lang="zh-CN" dirty="0"/>
              <a:t>精确 Skill 与依赖：当时执行了什么方法，有没有遗漏。</a:t>
            </a:r>
          </a:p>
          <a:p>
            <a:r>
              <a:rPr lang="zh-CN" dirty="0"/>
              <a:t>实验包：装配了哪些独立副本，身份与摘要是什么。</a:t>
            </a:r>
          </a:p>
          <a:p>
            <a:r>
              <a:rPr lang="zh-CN" dirty="0"/>
              <a:t>Run 与 Attempt 记录：哪次执行、从哪里恢复、提交到哪一步。</a:t>
            </a:r>
          </a:p>
          <a:p>
            <a:r>
              <a:rPr lang="zh-CN" dirty="0"/>
              <a:t>关键事实与质量明细：哪些条件成立、哪些失败、证据能定位到哪里。</a:t>
            </a:r>
          </a:p>
          <a:p>
            <a:r>
              <a:rPr lang="zh-CN" dirty="0"/>
              <a:t>包和导出核验：原始文件、时间、状态、大小、摘要与协议类型是否明确。</a:t>
            </a:r>
          </a:p>
          <a:p>
            <a:r>
              <a:rPr lang="zh-CN" dirty="0"/>
              <a:t>复现说明：哪些环境前提已经验证，哪些仍然是未知。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交付时有两种很常见的偷懒，都留不下能用的证据。</a:t>
            </a:r>
          </a:p>
          <a:p>
            <a:r>
              <a:rPr lang="zh-CN" dirty="0"/>
              <a:t>第一种是只交付一张漂亮的回放截图。画面确实好看，但它丢掉了产生这个画面的条件：用的哪一版地图、哪一份 Skill 文本、哪一组模型参数、哪一次 Run。别人拿着这张图，既复现不了，也判断不了它是不是正常结果。</a:t>
            </a:r>
          </a:p>
          <a:p>
            <a:r>
              <a:rPr lang="zh-CN" dirty="0"/>
              <a:t>第二种是只交付几个数字。比如到达率是多少、平均延迟多少。数字本身看不出分母是怎么定义的，也看不出失败样本和缺失数据有没有被正确处理。</a:t>
            </a:r>
          </a:p>
          <a:p>
            <a:r>
              <a:rPr lang="zh-CN" dirty="0"/>
              <a:t>图像、Skill 文本和模型参数都可能影响结果，所以交付材料要带着这些条件一起走。八个位置里，只要有一个是空的，别人就会在这里问不出答案。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验收的时候，最容易混淆的是状态。这里五种状态完全不是一回事，必须分开写。</a:t>
            </a:r>
          </a:p>
          <a:p>
            <a:r>
              <a:rPr lang="zh-CN" dirty="0"/>
              <a:t>配置素材已准备：地图、人物、Skill 文本都已经放好了，但还没有装配进实验。</a:t>
            </a:r>
          </a:p>
          <a:p>
            <a:r>
              <a:rPr lang="zh-CN" dirty="0"/>
              <a:t>文档已解析：系统能读懂这些资源了，可是还没有进入实验流程。</a:t>
            </a:r>
          </a:p>
          <a:p>
            <a:r>
              <a:rPr lang="zh-CN" dirty="0"/>
              <a:t>实验已封存：状态从 DRAFT 变成 SEALED，这才具备运行的条件。</a:t>
            </a:r>
          </a:p>
          <a:p>
            <a:r>
              <a:rPr lang="zh-CN" dirty="0"/>
              <a:t>Run 已完成：有执行记录，也有已提交的事实，这是跑过一次的证明。</a:t>
            </a:r>
          </a:p>
          <a:p>
            <a:r>
              <a:rPr lang="zh-CN" dirty="0"/>
              <a:t>业务目标已达成：这一条要看业务上的观察和证据，不能因为 Run 完成了就顺口写上「达成」。</a:t>
            </a:r>
          </a:p>
          <a:p>
            <a:r>
              <a:rPr lang="zh-CN" dirty="0"/>
              <a:t>本章的验收表和运行记录模板给后续实操预留了证据位置。尚未执行的条目就保持未执行——配置好了和做完了，是两件事。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开放日的基础练习做完之后，就可以提出自己的问题了。</a:t>
            </a:r>
          </a:p>
          <a:p>
            <a:r>
              <a:rPr lang="zh-CN" dirty="0"/>
              <a:t>思路是把「我想看看会怎样」变成一个可以测量的假设。</a:t>
            </a:r>
          </a:p>
          <a:p>
            <a:r>
              <a:rPr lang="zh-CN" dirty="0"/>
              <a:t>举三个方向。第一，把公告栏放远一些，会不会增加信息更新延迟——因为走过去要花更多步。第二，志愿者更主动地询问，能不能减少按旧安排行动的情况。第三，把视野和注意力降低之后，角色会选择什么样的咨询渠道，是更依赖面对面，还是更依赖公告。</a:t>
            </a:r>
          </a:p>
          <a:p>
            <a:r>
              <a:rPr lang="zh-CN" dirty="0"/>
              <a:t>每次先提出可测量的假设，只改变清楚的因素，其他条件保持不变，失败的 Run 也要保留。</a:t>
            </a:r>
          </a:p>
          <a:p>
            <a:r>
              <a:rPr lang="zh-CN" dirty="0"/>
              <a:t>原实验封存之后，要创建新的独立实验来记录改动。这不是在旧包上建立一个业务 Revision，也不是覆盖旧的运行证据。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把这三个问题落成能动手的实验，关键在「只改什么」。</a:t>
            </a:r>
          </a:p>
          <a:p>
            <a:r>
              <a:rPr lang="zh-CN" dirty="0"/>
              <a:t>公告栏放远一些这一组，可测的是信息更新延迟；要改的只有公告栏在地图上的位置，人物、时间、视野都保持原样。</a:t>
            </a:r>
          </a:p>
          <a:p>
            <a:r>
              <a:rPr lang="zh-CN" dirty="0"/>
              <a:t>志愿者更主动询问这一组，可测的是按旧安排行动的比例；要改的是志愿者的咨询倾向，其他条件不动。</a:t>
            </a:r>
          </a:p>
          <a:p>
            <a:r>
              <a:rPr lang="zh-CN" dirty="0"/>
              <a:t>视野与注意力这一组，可测的是咨询渠道的选择分布；要改的是视野半径和注意力相关参数。</a:t>
            </a:r>
          </a:p>
          <a:p>
            <a:r>
              <a:rPr lang="zh-CN" dirty="0"/>
              <a:t>每组都要先给出可测量的假设，只改变清楚的因素，保留其他条件，也要保留失败的 Run——失败的运行同样是一条证据。</a:t>
            </a:r>
          </a:p>
          <a:p>
            <a:r>
              <a:rPr lang="zh-CN" dirty="0"/>
              <a:t>原实验封存之后，创建新的独立实验来记录这次的修改内容，而不是在旧包上直接改。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「复现」这个词有两种用法，混着讲就会互相打架。</a:t>
            </a:r>
          </a:p>
          <a:p>
            <a:r>
              <a:rPr lang="zh-CN" dirty="0"/>
              <a:t>第一种是事实回放复现：同一批已经提交的事实，应该得到一致的状态。回放不重新调用模型，也不重新执行 Skill，所以它检查的是「读得对不对」——同一个提交边界读出来是不是同一个结果。</a:t>
            </a:r>
          </a:p>
          <a:p>
            <a:r>
              <a:rPr lang="zh-CN" dirty="0"/>
              <a:t>第二种是重新运行实验：这要重新调用模型。即使初始材料完全相同，模型也可能做出不同的决策，因为外部推理本身并不保证逐字稳定。</a:t>
            </a:r>
          </a:p>
          <a:p>
            <a:r>
              <a:rPr lang="zh-CN" dirty="0"/>
              <a:t>所以随机种子、相同的模型名、或者把温度设为零，都不能单独保证外部推理完全一致。</a:t>
            </a:r>
          </a:p>
          <a:p>
            <a:r>
              <a:rPr lang="zh-CN" dirty="0"/>
              <a:t>要验证回放忠实，就用第一种；要观察行为会不会变，就用第二种。两种复现各有各的用途，不能互相替代。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最后一块是四道练习，它们看着不一样，练的其实是同一件事：把「已经发生」和「有人这样说」分开。</a:t>
            </a:r>
          </a:p>
          <a:p>
            <a:r>
              <a:rPr lang="zh-CN" dirty="0"/>
              <a:t>第一道练判断完成：只有人物自己的描述，没有真实通信环节，就不能说消息已经传到。</a:t>
            </a:r>
          </a:p>
          <a:p>
            <a:r>
              <a:rPr lang="zh-CN" dirty="0"/>
              <a:t>第二道练改动的边界：公共 Skill 改了，原来的实验又已经封存，应该复制出一个新的独立草稿来改，而不是拿旧 Run 的成功去证明新 Skill。</a:t>
            </a:r>
          </a:p>
          <a:p>
            <a:r>
              <a:rPr lang="zh-CN" dirty="0"/>
              <a:t>第三道练区分执行和质量：Run 完成了，不等于业务目标达成了，评价状态要单独报告。</a:t>
            </a:r>
          </a:p>
          <a:p>
            <a:r>
              <a:rPr lang="zh-CN" dirty="0"/>
              <a:t>第四道练承诺：手上只有结果 ZIP，没有正式运行包，也没有在独立环境跑过，就不能写「一键迁移复现」。</a:t>
            </a:r>
          </a:p>
          <a:p>
            <a:r>
              <a:rPr lang="zh-CN" dirty="0"/>
              <a:t>每道题都可以先自己想一遍，再对照参考思路。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练习一：人物说「我已经通知许安」，但我们手上只有人物自己的 ACT 描述，没有 SPEAK、没有 INTERACT、也没有对象回复。</a:t>
            </a:r>
          </a:p>
          <a:p>
            <a:r>
              <a:rPr lang="zh-CN" dirty="0"/>
              <a:t>答案是不能判定消息已传达。要先检查实际通信入口在哪里，再看会话或请求身份，然后看接收方可见的内容，最后看接收方有没有后续响应。</a:t>
            </a:r>
          </a:p>
          <a:p>
            <a:r>
              <a:rPr lang="zh-CN" dirty="0"/>
              <a:t>一句话自述不能补齐一条不存在的链条，这是整章最核心的判断习惯。</a:t>
            </a:r>
          </a:p>
          <a:p>
            <a:r>
              <a:rPr lang="zh-CN" dirty="0"/>
              <a:t>练习二：公共公告栏 Skill 已改，原实验是封存的，现在想比较新旧行为，该怎么办。</a:t>
            </a:r>
          </a:p>
          <a:p>
            <a:r>
              <a:rPr lang="zh-CN" dirty="0"/>
              <a:t>参考思路是保留旧实验和 Run，复制成一个新的独立草稿，在其中显式更新包内内容并核查依赖，再预检、再运行。千万不要拿旧 Run 的成功结果去证明新的 Skill。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练习三：Run 是 COMPLETED，许安没有得知调整，质量面板又显示业务评价未执行。该怎么报告？</a:t>
            </a:r>
          </a:p>
          <a:p>
            <a:r>
              <a:rPr lang="zh-CN" dirty="0"/>
              <a:t>答案是三种状态分开报告。运行终结状态就是 COMPLETED，如实写。业务观察结果是「许安没有得知调整」，这是可定位的观察，人工核验要标成人工记录。评价执行状态是未执行，NOT_EVALUATED 不算通过，也不能冒充内置 Evaluator 的输出。</a:t>
            </a:r>
          </a:p>
          <a:p>
            <a:r>
              <a:rPr lang="zh-CN" dirty="0"/>
              <a:t>练习四：已经下载了结果 ZIP，但没有取得正式的运行包，也没在独立环境跑过。能不能写「一键迁移复现」？</a:t>
            </a:r>
          </a:p>
          <a:p>
            <a:r>
              <a:rPr lang="zh-CN" dirty="0"/>
              <a:t>只能描述已下载文件的实际内容与协议类型。正式包、恢复和异机运行需要分别取得证据；还不知道的项就保留为未知，不要用扩大的承诺把它填上。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走到这一节，把整章地图合起来看。</a:t>
            </a:r>
          </a:p>
          <a:p>
            <a:r>
              <a:rPr lang="zh-CN" dirty="0"/>
              <a:t>准备（3.1—3.4）：把方案放进会变化的世界，明确问题与信息边界；区分公共资源与实验副本；准备 Brain 与 Skill 并核对依赖。</a:t>
            </a:r>
          </a:p>
          <a:p>
            <a:r>
              <a:rPr lang="zh-CN" dirty="0"/>
              <a:t>装配与运行（3.5—3.10）：感知、导航与动作决定角色能看到什么、能走到哪里；记忆与跨步进度管住打算、待确认与完成；对话与对象 Skill 组织真实会话；装配实验并封存，启动后观察状态与费用，再理解恢复。</a:t>
            </a:r>
          </a:p>
          <a:p>
            <a:r>
              <a:rPr lang="zh-CN" dirty="0"/>
              <a:t>看结果（3.11—3.13）：从画面追查事件与提交记录；用业务指标与 Evaluator 分开执行状态与实验效果；区分四类包与结果 ZIP。</a:t>
            </a:r>
          </a:p>
          <a:p>
            <a:r>
              <a:rPr lang="zh-CN" dirty="0"/>
              <a:t>四段走完，3.14 把职责串成一条链，整理出一份可检查的交付物。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第三章到这里就结束了。回看整章，最大的收获不是记住了几个按钮，而是拿到了一套判断方法。</a:t>
            </a:r>
          </a:p>
          <a:p>
            <a:r>
              <a:rPr lang="zh-CN" dirty="0"/>
              <a:t>想观察的现象，要对应可定位的输入、明确的条件、已经提交的事实，以及事先说好的评价标准。这四样都齐了，观察才站得住。</a:t>
            </a:r>
          </a:p>
          <a:p>
            <a:r>
              <a:rPr lang="zh-CN" dirty="0"/>
              <a:t>如果只有现象，没有输入和条件，我们说不出它是怎么来的；如果只有事实，没有评价标准，我们也说不清它到底算好还是不好。</a:t>
            </a:r>
          </a:p>
          <a:p>
            <a:r>
              <a:rPr lang="zh-CN" dirty="0"/>
              <a:t>第四章会换一个起点：从场景问题出发去设计对照，不再逐项重复介绍按钮。到时候这套方法仍然是我们的底盘——先说清要看什么，再决定怎么跑、怎么看。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9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回看第三章，真正重要的变化不是多了几个模型角色，而是每一项结果都有了明确的来源。&#10;&#10;陈晨想去阅读室，这是 Brain 的决定；他能不能走过去，由空间与动作校验决定；他实际走到了哪里，由已提交的事实记录；回放画面展示的内容，则由这些事实重建。&#10;&#10;这条链一旦理清楚，出问题的时候就知道该往哪一层查：是决定错了，是校验拦住了，是提交没有发生，还是展示读了不该读的东西。&#10;&#10;这一节要把这条链完整走一遍，再把它整理成一份别人能检查、能复现的交付材料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三章　在共同世界中行动　·　3.14　沿着一次行动理解架构，整理可交付的实验&lt;/Text&gt;&#10;    &lt;/Box&gt;&#10;&#10;    &lt;Box style={{ height: 540, flexDirection: 'row', alignItems: 'center', gap: 32 }}&gt;&#10;&#10;        &lt;Box style={{ width: 560, flexDirection: 'column', justifyContent: 'center', gap: 14 }}&gt;&#10;            &lt;Text style={{ fontSize: 52, fontWeight: 'bold', color: '#20344B', lineHeight: 1.2 }}&gt;沿着一次行动{'\n'}理解架构&lt;/Text&gt;&#10;            &lt;Box style={{ width: 72, height: 4, background: '#276FBF' }} /&gt;&#10;            &lt;Text style={{ fontSize: 17, color: '#546779', lineHeight: 1.7, width: 560 }}&gt;把 3.1—3.13 串成一条链：谁决定、谁校验、谁提交、谁展示。每一项结果都要能说出它的来源。&lt;/Text&gt;&#10;            &lt;Box style={{ flexDirection: 'row', gap: 12, marginTop: 4 }}&gt;&#10;                &lt;Box style={{ width: 128, height: 42, background: '#EDF4FC', borderRadius: 8, justifyContent: 'center', alignItems: 'center' }}&gt;&#10;                    &lt;Text style={{ fontSize: 15, color: '#276FBF' }}&gt;五个职责&lt;/Text&gt;&#10;                &lt;/Box&gt;&#10;                &lt;Box style={{ width: 128, height: 42, background: '#EDF4FC', borderRadius: 8, justifyContent: 'center', alignItems: 'center' }}&gt;&#10;                    &lt;Text style={{ fontSize: 15, color: '#276FBF' }}&gt;提交边界&lt;/Text&gt;&#10;                &lt;/Box&gt;&#10;                &lt;Box style={{ width: 128, height: 42, background: '#ECF7F2', borderRadius: 8, justifyContent: 'center', alignItems: 'center' }}&gt;&#10;                    &lt;Text style={{ fontSize: 15, color: '#26816B' }}&gt;事实回放&lt;/Text&gt;&#10;                &lt;/Box&gt;&#10;                &lt;Box style={{ width: 128, height: 42, background: '#FFF4E6', borderRadius: 8, justifyContent: 'center', alignItems: 'center' }}&gt;&#10;                    &lt;Text style={{ fontSize: 15, color: '#CB6B28' }}&gt;交付物&lt;/Text&gt;&#10;                &lt;/Box&gt;&#10;            &lt;/Box&gt;&#10;        &lt;/Box&gt;&#10;&#10;        &lt;Box style={{ width: 560, flexDirection: 'column', justifyContent: 'center' }}&gt;&#10;            &lt;Text style={{ fontSize: 15, color: '#546779', marginBottom: 10 }}&gt;一次行动，四个环节各留一笔&lt;/Text&gt;&#10;&#10;            &lt;Box style={{ width: 560, height: 72, background: '#EDF4FC', borderRadius: 10, padding: '0 18px', flexDirection: 'row', alignItems: 'center', gap: 14 }}&gt;&#10;                &lt;Box style={{ width: 34, height: 34, background: '#276FBF', borderRadius: 8, justifyContent: 'center', alignItems: 'center' }}&gt;&#10;                    &lt;Text style={{ fontSize: 16, color: '#FFFFFF', fontWeight: 'bold' }}&gt;决&lt;/Text&gt;&#10;                &lt;/Box&gt;&#10;                &lt;Box style={{ flexDirection: 'column', gap: 2, flex: 1 }}&gt;&#10;                    &lt;Text style={{ fontSize: 17, fontWeight: 'bold', color: '#20344B' }}&gt;Brain 决定：去阅读室&lt;/Text&gt;&#10;                    &lt;Text style={{ fontSize: 13, color: '#546779' }}&gt;目标来自实际上下文与感知&lt;/Text&gt;&#10;                &lt;/Box&gt;&#10;            &lt;/Box&gt;&#10;&#10;            &lt;Box style={{ width: 560, height: 26, justifyContent: 'center', alignItems: 'center' }}&gt;&#10;                &lt;Text style={{ fontSize: 19, color: '#276FBF' }}&gt;↓&lt;/Text&gt;&#10;            &lt;/Box&gt;&#10;&#10;            &lt;Box style={{ width: 560, height: 72, background: '#EDF4FC', borderRadius: 10, padding: '0 18px', flexDirection: 'row', alignItems: 'center', gap: 14 }}&gt;&#10;                &lt;Box style={{ width: 34, height: 34, background: '#276FBF', borderRadius: 8, justifyContent: 'center', alignItems: 'center' }}&gt;&#10;                    &lt;Text style={{ fontSize: 16, color: '#FFFFFF', fontWeight: 'bold' }}&gt;校&lt;/Text&gt;&#10;                &lt;/Box&gt;&#10;                &lt;Box style={{ flexDirection: 'column', gap: 2, flex: 1 }}&gt;&#10;                    &lt;Text style={{ fontSize: 17, fontWeight: 'bold', color: '#20344B' }}&gt;空间与动作校验&lt;/Text&gt;&#10;                    &lt;Text style={{ fontSize: 13, color: '#546779' }}&gt;能不能走过去，由这一层决定&lt;/Text&gt;&#10;                &lt;/Box&gt;&#10;            &lt;/Box&gt;&#10;&#10;            &lt;Box style={{ width: 560, height: 26, justifyContent: 'center', alignItems: 'center' }}&gt;&#10;                &lt;Text style={{ fontSize: 19, color: '#26816B' }}&gt;↓&lt;/Text&gt;&#10;            &lt;/Box&gt;&#10;&#10;            &lt;Box style={{ width: 560, height: 72, background: '#ECF7F2', borderRadius: 10, padding: '0 18px', flexDirection: 'row', alignItems: 'center', gap: 14 }}&gt;&#10;                &lt;Box style={{ width: 34, height: 34, background: '#26816B', borderRadius: 8, justifyContent: 'center', alignItems: 'center' }}&gt;&#10;                    &lt;Text style={{ fontSize: 16, color: '#FFFFFF', fontWeight: 'bold' }}&gt;提&lt;/Text&gt;&#10;                &lt;/Box&gt;&#10;                &lt;Box style={{ flexDirection: 'column', gap: 2, flex: 1 }}&gt;&#10;                    &lt;Text style={{ fontSize: 17, fontWeight: 'bold', color: '#20344B' }}&gt;已提交事实记录&lt;/Text&gt;&#10;                    &lt;Text style={{ fontSize: 13, color: '#546779' }}&gt;走到了哪里，只有这一层说了算&lt;/Text&gt;&#10;                &lt;/Box&gt;&#10;            &lt;/Box&gt;&#10;&#10;            &lt;Box style={{ width: 560, height: 26, justifyContent: 'center', alignItems: 'center' }}&gt;&#10;                &lt;Text style={{ fontSize: 19, color: '#26816B' }}&gt;↓&lt;/Text&gt;&#10;            &lt;/Box&gt;&#10;&#10;            &lt;Box style={{ width: 560, height: 72, background: '#ECF7F2', borderRadius: 10, padding: '0 18px', flexDirection: 'row', alignItems: 'center', gap: 14 }}&gt;&#10;                &lt;Box style={{ width: 34, height: 34, background: '#26816B', borderRadius: 8, justifyContent: 'center', alignItems: 'center' }}&gt;&#10;                    &lt;Text style={{ fontSize: 16, color: '#FFFFFF', fontWeight: 'bold' }}&gt;放&lt;/Text&gt;&#10;                &lt;/Box&gt;&#10;                &lt;Box style={{ flexDirection: 'column', gap: 2, flex: 1 }}&gt;&#10;                    &lt;Text style={{ fontSize: 17, fontWeight: 'bold', color: '#20344B' }}&gt;回放重建画面&lt;/Text&gt;&#10;                    &lt;Text style={{ fontSize: 13, color: '#546779' }}&gt;读已提交事实，不重新执行模型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01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518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第三章　在共同世界中行动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3.14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沿着一次行动理解架构，整理可交付的实验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5334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沿着一次行动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理解架构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7909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962400"/>
            <a:ext cx="5334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把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 3.1—3.13 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串成一条链：谁决定、谁校验、谁提交、谁展示。每一项结果都要能说出它的来源。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334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五个职责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19431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2669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提交边界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2766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6004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事实回放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46101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010150" y="49149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交付物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248400" y="1838325"/>
            <a:ext cx="533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一次行动，四个环节各留一笔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6248400" y="2105025"/>
            <a:ext cx="53340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6419850" y="22860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505575" y="23526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决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877050" y="2266950"/>
            <a:ext cx="453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决定：去阅读室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877050" y="2486025"/>
            <a:ext cx="453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目标来自实际上下文与感知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867775" y="2809875"/>
            <a:ext cx="95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425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6248400" y="3038475"/>
            <a:ext cx="53340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6419850" y="32194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505575" y="32861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校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877050" y="3200400"/>
            <a:ext cx="453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空间与动作校验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877050" y="3419475"/>
            <a:ext cx="453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能不能走过去，由这一层决定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867775" y="3743325"/>
            <a:ext cx="95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425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248400" y="3971925"/>
            <a:ext cx="5334000" cy="685800"/>
          </a:xfrm>
          <a:prstGeom prst="roundRect">
            <a:avLst>
              <a:gd name="adj" fmla="val 1388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6419850" y="41529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505575" y="42195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提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877050" y="4133850"/>
            <a:ext cx="453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已提交事实记录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877050" y="4352925"/>
            <a:ext cx="453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走到了哪里，只有这一层说了算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867775" y="4676775"/>
            <a:ext cx="95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425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6248400" y="4905375"/>
            <a:ext cx="5334000" cy="685800"/>
          </a:xfrm>
          <a:prstGeom prst="roundRect">
            <a:avLst>
              <a:gd name="adj" fmla="val 1388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6419850" y="50863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505575" y="51530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放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877050" y="5067300"/>
            <a:ext cx="453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回放重建画面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877050" y="5286375"/>
            <a:ext cx="453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读已提交事实，不重新执行模型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01 / 29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64" name="" descr="&lt;Slide notes={`这一段的路子很简单：先用一份职责清单，把「谁是谁」讲清楚，再沿两次真实的行动走一遍，看每个环节到底留下了什么。&#10;&#10;一次是陈晨从交流室走到阅读桌，这是单人移动；另一次是林岚向服务台咨询，这是对象交互。前者看的是校验和提交，后者多了一个跨步反馈的阶段。&#10;&#10;有了这两条链，我们才能谈边界：哪些东西可以换，换了以后什么必须保持不变。&#10;&#10;最后把这条链落成一份清单——一份实验交付物到底要包含哪些位置，以及四道练习该怎么答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4　本节导览&lt;/Text&gt;&#10;            &lt;Text style={{ fontSize: 34, fontWeight: 'bold', color: '#20344B' }}&gt;本节要串起的七件事&lt;/Text&gt;&#10;        &lt;/Box&gt;&#10;    &lt;/Box&gt;&#10;&#10;    &lt;Box style={{ height: 540, flexDirection: 'row', alignItems: 'center', gap: 20 }}&gt;&#10;&#10;        &lt;Box style={{ width: 352, flexDirection: 'column', justifyContent: 'center', gap: 14 }}&gt;&#10;            &lt;Text style={{ fontSize: 20, fontWeight: 'bold', color: '#276FBF', lineHeight: 1.4 }}&gt;从职责到行动，{'\n'}从行动到交付&lt;/Text&gt;&#10;            &lt;Box style={{ width: 64, height: 4, background: '#276FBF' }} /&gt;&#10;            &lt;Text style={{ fontSize: 15, color: '#546779', lineHeight: 1.7, width: 352 }}&gt;七个知识块按顺序读：先认五个职责，再走一次移动和一次咨询，然后划清可变与不变的边界，最后整理交付物、设想新问题、动手练习。&lt;/Text&gt;&#10;            &lt;Box style={{ background: '#F7F3E8', borderRadius: 10, padding: '14px 18px' }}&gt;&#10;                &lt;Text style={{ fontSize: 14, color: '#546779', lineHeight: 1.6 }}&gt;本章的所有图示都是教学示意或源码合同，不是系统截图；页面上的界面一律标注「示意」。&lt;/Text&gt;&#10;            &lt;/Box&gt;&#10;        &lt;/Box&gt;&#10;&#10;        &lt;Box style={{ width: 780, flexDirection: 'column', justifyContent: 'center', gap: 8 }}&gt;&#10;&#10;            &lt;Box style={{ height: 66, background: '#F4F7FA', borderRadius: 8, padding: '0 16px', flexDirection: 'row', alignItems: 'center', gap: 14 }}&gt;&#10;                &lt;Box style={{ width: 32, height: 32, background: '#276FBF', borderRadius: 16, justifyContent: 'center', alignItems: 'center' }}&gt;&#10;                    &lt;Text style={{ fontSize: 15, fontWeight: 'bold', color: '#FFFFFF' }}&gt;1&lt;/Text&gt;&#10;                &lt;/Box&gt;&#10;                &lt;Box style={{ flex: 1, flexDirection: 'column', gap: 2 }}&gt;&#10;                    &lt;Text style={{ fontSize: 16, fontWeight: 'bold', color: '#20344B' }}&gt;五个职责如何配合&lt;/Text&gt;&#10;                    &lt;Text style={{ fontSize: 13, color: '#546779' }}&gt;Protocol、Studio、Runtime、Replay 与适配层各自守哪一段&lt;/Text&gt;&#10;                &lt;/Box&gt;&#10;            &lt;/Box&gt;&#10;&#10;            &lt;Box style={{ height: 66, background: '#F4F7FA', borderRadius: 8, padding: '0 16px', flexDirection: 'row', alignItems: 'center', gap: 14 }}&gt;&#10;                &lt;Box style={{ width: 32, height: 32, background: '#276FBF', borderRadius: 16, justifyContent: 'center', alignItems: 'center' }}&gt;&#10;                    &lt;Text style={{ fontSize: 15, fontWeight: 'bold', color: '#FFFFFF' }}&gt;2&lt;/Text&gt;&#10;                &lt;/Box&gt;&#10;                &lt;Box style={{ flex: 1, flexDirection: 'column', gap: 2 }}&gt;&#10;                    &lt;Text style={{ fontSize: 16, fontWeight: 'bold', color: '#20344B' }}&gt;从一条 MOVE 看完整链条&lt;/Text&gt;&#10;                    &lt;Text style={{ fontSize: 13, color: '#546779' }}&gt;感知、导航、决策、校验、提交、回放六环各留一笔&lt;/Text&gt;&#10;                &lt;/Box&gt;&#10;            &lt;/Box&gt;&#10;&#10;            &lt;Box style={{ height: 66, background: '#F4F7FA', borderRadius: 8, padding: '0 16px', flexDirection: 'row', alignItems: 'center', gap: 14 }}&gt;&#10;                &lt;Box style={{ width: 32, height: 32, background: '#276FBF', borderRadius: 16, justifyContent: 'center', alignItems: 'center' }}&gt;&#10;                    &lt;Text style={{ fontSize: 15, fontWeight: 'bold', color: '#FFFFFF' }}&gt;3&lt;/Text&gt;&#10;                &lt;/Box&gt;&#10;                &lt;Box style={{ flex: 1, flexDirection: 'column', gap: 2 }}&gt;&#10;                    &lt;Text style={{ fontSize: 16, fontWeight: 'bold', color: '#20344B' }}&gt;从一条咨询看跨步反馈&lt;/Text&gt;&#10;                    &lt;Text style={{ fontSize: 13, color: '#546779' }}&gt;对象在本步人物动作之后运行，回复随整步事实提交&lt;/Text&gt;&#10;                &lt;/Box&gt;&#10;            &lt;/Box&gt;&#10;&#10;            &lt;Box style={{ height: 66, background: '#F4F7FA', borderRadius: 8, padding: '0 16px', flexDirection: 'row', alignItems: 'center', gap: 14 }}&gt;&#10;                &lt;Box style={{ width: 32, height: 32, background: '#276FBF', borderRadius: 16, justifyContent: 'center', alignItems: 'center' }}&gt;&#10;                    &lt;Text style={{ fontSize: 15, fontWeight: 'bold', color: '#FFFFFF' }}&gt;4&lt;/Text&gt;&#10;                &lt;/Box&gt;&#10;                &lt;Box style={{ flex: 1, flexDirection: 'column', gap: 2 }}&gt;&#10;                    &lt;Text style={{ fontSize: 16, fontWeight: 'bold', color: '#20344B' }}&gt;Brain 决定做法，内核守住事实边界&lt;/Text&gt;&#10;                    &lt;Text style={{ fontSize: 13, color: '#546779' }}&gt;方法可以换，身份、提交与恢复合同不变&lt;/Text&gt;&#10;                &lt;/Box&gt;&#10;            &lt;/Box&gt;&#10;&#10;            &lt;Box style={{ height: 66, background: '#FFF4E6', borderRadius: 8, padding: '0 16px', flexDirection: 'row', alignItems: 'center', gap: 14 }}&gt;&#10;                &lt;Box style={{ width: 32, height: 32, background: '#CB6B28', borderRadius: 16, justifyContent: 'center', alignItems: 'center' }}&gt;&#10;                    &lt;Text style={{ fontSize: 15, fontWeight: 'bold', color: '#FFFFFF' }}&gt;5&lt;/Text&gt;&#10;                &lt;/Box&gt;&#10;                &lt;Box style={{ flex: 1, flexDirection: 'column', gap: 2 }}&gt;&#10;                    &lt;Text style={{ fontSize: 16, fontWeight: 'bold', color: '#20344B' }}&gt;一份实验交付物应包含什么&lt;/Text&gt;&#10;                    &lt;Text style={{ fontSize: 13, color: '#546779' }}&gt;八个位置，每个位置回答一个读者问题&lt;/Text&gt;&#10;                &lt;/Box&gt;&#10;            &lt;/Box&gt;&#10;&#10;            &lt;Box style={{ height: 66, background: '#F4F7FA', borderRadius: 8, padding: '0 16px', flexDirection: 'row', alignItems: 'center', gap: 14 }}&gt;&#10;                &lt;Box style={{ width: 32, height: 32, background: '#26816B', borderRadius: 16, justifyContent: 'center', alignItems: 'center' }}&gt;&#10;                    &lt;Text style={{ fontSize: 15, fontWeight: 'bold', color: '#FFFFFF' }}&gt;6&lt;/Text&gt;&#10;                &lt;/Box&gt;&#10;                &lt;Box style={{ flex: 1, flexDirection: 'column', gap: 2 }}&gt;&#10;                    &lt;Text style={{ fontSize: 16, fontWeight: 'bold', color: '#20344B' }}&gt;从已有能力走向新场景&lt;/Text&gt;&#10;                    &lt;Text style={{ fontSize: 13, color: '#546779' }}&gt;先提可测量的假设，每次只改变清楚的因素&lt;/Text&gt;&#10;                &lt;/Box&gt;&#10;            &lt;/Box&gt;&#10;&#10;            &lt;Box style={{ height: 66, background: '#F4F7FA', borderRadius: 8, padding: '0 16px', flexDirection: 'row', alignItems: 'center', gap: 14 }}&gt;&#10;                &lt;Box style={{ width: 32, height: 32, background: '#26816B', borderRadius: 16, justifyContent: 'center', alignItems: 'center' }}&gt;&#10;                    &lt;Text style={{ fontSize: 15, fontWeight: 'bold', color: '#FFFFFF' }}&gt;7&lt;/Text&gt;&#10;                &lt;/Box&gt;&#10;                &lt;Box style={{ flex: 1, flexDirection: 'column', gap: 2 }}&gt;&#10;                    &lt;Text style={{ fontSize: 16, fontWeight: 'bold', color: '#20344B' }}&gt;章末练习与参考思路&lt;/Text&gt;&#10;                    &lt;Text style={{ fontSize: 13, color: '#546779' }}&gt;四道题都在练同一件事：先证据，后结论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02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本节导览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本节要串起的七件事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09600" y="2343150"/>
            <a:ext cx="3352800" cy="6477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从职责到行动，</a:t>
            </a:r>
            <a:endParaRPr/>
          </a:p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从行动到交付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609600" y="3124200"/>
            <a:ext cx="6096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609600" y="3295650"/>
            <a:ext cx="33528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七个知识块按顺序读：先认五个职责，再走一次移动和一次咨询，然后划清可变与不变的边界，最后整理交付物、设想新问题、动手练习。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609600" y="4305300"/>
            <a:ext cx="3352800" cy="781050"/>
          </a:xfrm>
          <a:prstGeom prst="roundRect">
            <a:avLst>
              <a:gd name="adj" fmla="val 1219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781050" y="4438650"/>
            <a:ext cx="3009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本章的所有图示都是教学示意或源码合同，不是系统截图；页面上的界面一律标注「示意」。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4152900" y="1285875"/>
            <a:ext cx="74295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5" name=""/>
          <p:cNvSpPr/>
          <p:nvPr/>
        </p:nvSpPr>
        <p:spPr>
          <a:xfrm rot="0" flipH="0" flipV="0">
            <a:off x="4305300" y="14478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4410075" y="15144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4743450" y="1419225"/>
            <a:ext cx="6686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五个职责如何配合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4743450" y="1628775"/>
            <a:ext cx="6686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Protocol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Studio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Runtime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Replay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与适配层各自守哪一段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4152900" y="1990725"/>
            <a:ext cx="74295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80" name=""/>
          <p:cNvSpPr/>
          <p:nvPr/>
        </p:nvSpPr>
        <p:spPr>
          <a:xfrm rot="0" flipH="0" flipV="0">
            <a:off x="4305300" y="21526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4410075" y="22193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4743450" y="2124075"/>
            <a:ext cx="6686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从一条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MOVE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看完整链条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4743450" y="2333625"/>
            <a:ext cx="6686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感知、导航、决策、校验、提交、回放六环各留一笔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4152900" y="2695575"/>
            <a:ext cx="74295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85" name=""/>
          <p:cNvSpPr/>
          <p:nvPr/>
        </p:nvSpPr>
        <p:spPr>
          <a:xfrm rot="0" flipH="0" flipV="0">
            <a:off x="4305300" y="28575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4410075" y="29241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4743450" y="2828925"/>
            <a:ext cx="6686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从一条咨询看跨步反馈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4743450" y="3038475"/>
            <a:ext cx="6686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对象在本步人物动作之后运行，回复随整步事实提交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4152900" y="3400425"/>
            <a:ext cx="74295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0" name=""/>
          <p:cNvSpPr/>
          <p:nvPr/>
        </p:nvSpPr>
        <p:spPr>
          <a:xfrm rot="0" flipH="0" flipV="0">
            <a:off x="4305300" y="35623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4410075" y="36290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4743450" y="3533775"/>
            <a:ext cx="6686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决定做法，内核守住事实边界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4743450" y="3743325"/>
            <a:ext cx="6686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方法可以换，身份、提交与恢复合同不变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4152900" y="4105275"/>
            <a:ext cx="7429500" cy="628650"/>
          </a:xfrm>
          <a:prstGeom prst="roundRect">
            <a:avLst>
              <a:gd name="adj" fmla="val 121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95" name=""/>
          <p:cNvSpPr/>
          <p:nvPr/>
        </p:nvSpPr>
        <p:spPr>
          <a:xfrm rot="0" flipH="0" flipV="0">
            <a:off x="4305300" y="42672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4410075" y="43338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4743450" y="4238625"/>
            <a:ext cx="6686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一份实验交付物应包含什么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4743450" y="4448175"/>
            <a:ext cx="6686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八个位置，每个位置回答一个读者问题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4152900" y="4810125"/>
            <a:ext cx="74295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0" name=""/>
          <p:cNvSpPr/>
          <p:nvPr/>
        </p:nvSpPr>
        <p:spPr>
          <a:xfrm rot="0" flipH="0" flipV="0">
            <a:off x="4305300" y="49720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4410075" y="50387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4743450" y="4943475"/>
            <a:ext cx="6686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从已有能力走向新场景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4743450" y="5153025"/>
            <a:ext cx="6686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先提可测量的假设，每次只改变清楚的因素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4152900" y="5514975"/>
            <a:ext cx="74295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4305300" y="56769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4410075" y="57435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4743450" y="5648325"/>
            <a:ext cx="6686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章末练习与参考思路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4743450" y="5857875"/>
            <a:ext cx="6686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四道题都在练同一件事：先证据，后结论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29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710" name="" descr="&lt;Slide notes={`先把五个职责摆在一起看清楚。&#10;&#10;Protocol 管的是合同：文件长什么样、身份怎么写、空间怎么表示、Skill 和事实怎么定义。所有环节都用同一套数据含义交流，才谈得上交接。&#10;&#10;Studio 是作者工作的地方，编辑公共资源、组织实验、做预检；Runtime 负责把 Run 装起来、调用能力、提交每一步、监督和恢复；Replay 只读已经提交的事实，生成状态和页面投影。&#10;&#10;最上面那层是 CLI 和 Web 适配层，它只把操作请求转成模块公开的 API。&#10;&#10;要特别强调的是最后一句：界面不是另一套事实源。谁都不能因为页面上显示了什么，就认为世界里已经发生了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三章　·　3.14　沿着一次行动理解架构，整理可交付的实验&lt;/Text&gt;&#10;    &lt;/Box&gt;&#10;&#10;    &lt;Box style={{ height: 540, flexDirection: 'column', justifyContent: 'center', gap: 20 }}&gt;&#10;&#10;        &lt;Text style={{ fontSize: 15, color: '#276FBF' }}&gt;①　　3.14.1　五个职责如何配合&lt;/Text&gt;&#10;&#10;        &lt;Text style={{ fontSize: 56, fontWeight: 'bold', color: '#20344B', lineHeight: 1.15 }}&gt;五个职责，一条事实链&lt;/Text&gt;&#10;&#10;        &lt;Box style={{ width: 72, height: 4, background: '#276FBF' }} /&gt;&#10;&#10;        &lt;Text style={{ fontSize: 18, color: '#546779', lineHeight: 1.7, width: 940 }}&gt;作者资源、实验、运行、回放、适配层各自守一段；这些职责通过自包含文件交接，界面不是另一套事实源。&lt;/Text&gt;&#10;&#10;        &lt;Box style={{ flexDirection: 'row', alignItems: 'center', gap: 24, marginTop: 8 }}&gt;&#10;            &lt;Box style={{ width: 204, height: 76, background: '#F7F3E8', borderRadius: 10, justifyContent: 'center', alignItems: 'center' }}&gt;&#10;                &lt;Text style={{ fontSize: 18, fontWeight: 'bold', color: '#20344B' }}&gt;Protocol&lt;/Text&gt;&#10;                &lt;Text style={{ fontSize: 13, color: '#546779' }}&gt;数据含义合同&lt;/Text&gt;&#10;            &lt;/Box&gt;&#10;            &lt;Box style={{ width: 204, height: 76, background: '#EDF4FC', borderRadius: 10, justifyContent: 'center', alignItems: 'center' }}&gt;&#10;                &lt;Text style={{ fontSize: 18, fontWeight: 'bold', color: '#276FBF' }}&gt;Studio&lt;/Text&gt;&#10;                &lt;Text style={{ fontSize: 13, color: '#546779' }}&gt;编辑与预检&lt;/Text&gt;&#10;            &lt;/Box&gt;&#10;            &lt;Box style={{ width: 204, height: 76, background: '#EDF4FC', borderRadius: 10, justifyContent: 'center', alignItems: 'center' }}&gt;&#10;                &lt;Text style={{ fontSize: 18, fontWeight: 'bold', color: '#276FBF' }}&gt;Runtime&lt;/Text&gt;&#10;                &lt;Text style={{ fontSize: 13, color: '#546779' }}&gt;装配与提交&lt;/Text&gt;&#10;            &lt;/Box&gt;&#10;            &lt;Box style={{ width: 204, height: 76, background: '#ECF7F2', borderRadius: 10, justifyContent: 'center', alignItems: 'center' }}&gt;&#10;                &lt;Text style={{ fontSize: 18, fontWeight: 'bold', color: '#26816B' }}&gt;Replay&lt;/Text&gt;&#10;                &lt;Text style={{ fontSize: 13, color: '#546779' }}&gt;只读已提交事实&lt;/Text&gt;&#10;            &lt;/Box&gt;&#10;            &lt;Box style={{ width: 204, height: 76, background: '#F4F7FA', borderRadius: 10, justifyContent: 'center', alignItems: 'center' }}&gt;&#10;                &lt;Text style={{ fontSize: 18, fontWeight: 'bold', color: '#546779' }}&gt;适配层&lt;/Text&gt;&#10;                &lt;Text style={{ fontSize: 13, color: '#546779' }}&gt;CLI / Web 转公开 API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03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2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389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第三章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3.14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沿着一次行动理解架构，整理可交付的实验</a:t>
            </a:r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609600" y="22860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①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3.14.1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五个职责如何配合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609600" y="26479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五个职责，一条事实链</a:t>
            </a:r>
            <a:endParaRPr/>
          </a:p>
        </p:txBody>
      </p:sp>
      <p:sp>
        <p:nvSpPr>
          <p:cNvPr id="716" name=""/>
          <p:cNvSpPr/>
          <p:nvPr/>
        </p:nvSpPr>
        <p:spPr>
          <a:xfrm rot="0" flipH="0" flipV="0">
            <a:off x="609600" y="35814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609600" y="3810000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作者资源、实验、运行、回放、适配层各自守一段；这些职责通过自包含文件交接，界面不是另一套事实源。</a:t>
            </a:r>
            <a:endParaRPr/>
          </a:p>
        </p:txBody>
      </p:sp>
      <p:sp>
        <p:nvSpPr>
          <p:cNvPr id="718" name=""/>
          <p:cNvSpPr/>
          <p:nvPr/>
        </p:nvSpPr>
        <p:spPr>
          <a:xfrm rot="0" flipH="0" flipV="0">
            <a:off x="609600" y="4429125"/>
            <a:ext cx="1943100" cy="723900"/>
          </a:xfrm>
          <a:prstGeom prst="roundRect">
            <a:avLst>
              <a:gd name="adj" fmla="val 13158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1219200" y="4610100"/>
            <a:ext cx="733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Protocol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1209675" y="481965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数据含义合同</a:t>
            </a:r>
            <a:endParaRPr/>
          </a:p>
        </p:txBody>
      </p:sp>
      <p:sp>
        <p:nvSpPr>
          <p:cNvPr id="721" name=""/>
          <p:cNvSpPr/>
          <p:nvPr/>
        </p:nvSpPr>
        <p:spPr>
          <a:xfrm rot="0" flipH="0" flipV="0">
            <a:off x="2781300" y="4429125"/>
            <a:ext cx="19431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3476625" y="4610100"/>
            <a:ext cx="5619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Studio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3448050" y="48196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编辑与预检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4953000" y="4429125"/>
            <a:ext cx="19431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5562600" y="4610100"/>
            <a:ext cx="733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Runtime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5619750" y="48196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装配与提交</a:t>
            </a:r>
            <a:endParaRPr/>
          </a:p>
        </p:txBody>
      </p:sp>
      <p:sp>
        <p:nvSpPr>
          <p:cNvPr id="727" name=""/>
          <p:cNvSpPr/>
          <p:nvPr/>
        </p:nvSpPr>
        <p:spPr>
          <a:xfrm rot="0" flipH="0" flipV="0">
            <a:off x="7124700" y="4429125"/>
            <a:ext cx="194310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7810500" y="4610100"/>
            <a:ext cx="581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>Replay</a:t>
            </a:r>
            <a:endParaRPr/>
          </a:p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7667625" y="481965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只读已提交事实</a:t>
            </a:r>
            <a:endParaRPr/>
          </a:p>
        </p:txBody>
      </p:sp>
      <p:sp>
        <p:nvSpPr>
          <p:cNvPr id="730" name=""/>
          <p:cNvSpPr/>
          <p:nvPr/>
        </p:nvSpPr>
        <p:spPr>
          <a:xfrm rot="0" flipH="0" flipV="0">
            <a:off x="9296400" y="4429125"/>
            <a:ext cx="19431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10010775" y="4610100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546779"/>
                </a:solidFill>
                <a:latin typeface="Microsoft YaHei"/>
                <a:ea typeface="Microsoft YaHei"/>
              </a:rPr>
              <a:t>适配层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9658350" y="4819650"/>
            <a:ext cx="1228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CLI / Web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转公开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API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29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735" name="" descr="&lt;Slide notes={`把五个职责摊成一张表，重点看第三列——为什么必须保持这个边界。&#10;&#10;Protocol 定义文件、身份、空间、Skill 与事实合同，各环节只有用同一套数据含义，交流才成立。&#10;&#10;Studio 负责编辑公共资源与实验、预检并组织交换，作者的工作就不会混进运行中的事实。&#10;&#10;Runtime 装配 Run、调用能力、提交 Step、监督与恢复，执行过程因此有明确状态与一致边界。&#10;&#10;Replay 读取已提交事实，生成状态与页面投影；它不重新执行模型或 Skill，看历史不会改变历史。&#10;&#10;CLI 和 Web 适配层把请求转成模块公开 API：它只是入口，不是另一套事实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4.1　五个职责如何配合&lt;/Text&gt;&#10;            &lt;Text style={{ fontSize: 34, fontWeight: 'bold', color: '#20344B' }}&gt;五个模块各守一段&lt;/Text&gt;&#10;        &lt;/Box&gt;&#10;    &lt;/Box&gt;&#10;&#10;    &lt;Box style={{ height: 540, flexDirection: 'column', justifyContent: 'center', gap: 10 }}&gt;&#10;&#10;        &lt;Box style={{ flexDirection: 'row', alignItems: 'center', gap: 16, padding: '0 16px' }}&gt;&#10;            &lt;Box style={{ width: 4 }} /&gt;&#10;            &lt;Box style={{ width: 168 }}&gt;&lt;Text style={{ fontSize: 14, fontWeight: 'bold', color: '#546779' }}&gt;模块&lt;/Text&gt;&lt;/Box&gt;&#10;            &lt;Box style={{ flex: 1 }}&gt;&lt;Text style={{ fontSize: 14, fontWeight: 'bold', color: '#546779' }}&gt;本章中做什么&lt;/Text&gt;&lt;/Box&gt;&#10;            &lt;Box style={{ width: 400 }}&gt;&lt;Text style={{ fontSize: 14, fontWeight: 'bold', color: '#546779' }}&gt;为什么保持这个边界&lt;/Text&gt;&lt;/Box&gt;&#10;        &lt;/Box&gt;&#10;&#10;        &lt;Box style={{ height: 84, background: '#F7F3E8', borderRadius: 8, padding: '0 16px', flexDirection: 'row', alignItems: 'center', gap: 16 }}&gt;&#10;            &lt;Box style={{ width: 4, height: 48, background: '#546779' }} /&gt;&#10;            &lt;Box style={{ width: 168 }}&gt;&lt;Text style={{ fontSize: 18, fontWeight: 'bold', color: '#20344B' }}&gt;Protocol&lt;/Text&gt;&lt;/Box&gt;&#10;            &lt;Box style={{ flex: 1 }}&gt;&lt;Text style={{ fontSize: 15, color: '#20344B', lineHeight: 1.5 }}&gt;定义文件、身份、空间、Skill 与事实合同&lt;/Text&gt;&lt;/Box&gt;&#10;            &lt;Box style={{ width: 400 }}&gt;&lt;Text style={{ fontSize: 14, color: '#546779', lineHeight: 1.5 }}&gt;各环节用同一套数据含义交流，交接才成立&lt;/Text&gt;&lt;/Box&gt;&#10;        &lt;/Box&gt;&#10;&#10;        &lt;Box style={{ height: 84, background: '#F4F7FA', borderRadius: 8, padding: '0 16px', flexDirection: 'row', alignItems: 'center', gap: 16 }}&gt;&#10;            &lt;Box style={{ width: 4, height: 48, background: '#276FBF' }} /&gt;&#10;            &lt;Box style={{ width: 168 }}&gt;&lt;Text style={{ fontSize: 18, fontWeight: 'bold', color: '#276FBF' }}&gt;Studio&lt;/Text&gt;&lt;/Box&gt;&#10;            &lt;Box style={{ flex: 1 }}&gt;&lt;Text style={{ fontSize: 15, color: '#20344B', lineHeight: 1.5 }}&gt;编辑公共资源与实验，预检并组织交换&lt;/Text&gt;&lt;/Box&gt;&#10;            &lt;Box style={{ width: 400 }}&gt;&lt;Text style={{ fontSize: 14, color: '#546779', lineHeight: 1.5 }}&gt;作者工作不混入运行中的事实&lt;/Text&gt;&lt;/Box&gt;&#10;        &lt;/Box&gt;&#10;&#10;        &lt;Box style={{ height: 84, background: '#F4F7FA', borderRadius: 8, padding: '0 16px', flexDirection: 'row', alignItems: 'center', gap: 16 }}&gt;&#10;            &lt;Box style={{ width: 4, height: 48, background: '#276FBF' }} /&gt;&#10;            &lt;Box style={{ width: 168 }}&gt;&lt;Text style={{ fontSize: 18, fontWeight: 'bold', color: '#276FBF' }}&gt;Runtime&lt;/Text&gt;&lt;/Box&gt;&#10;            &lt;Box style={{ flex: 1 }}&gt;&lt;Text style={{ fontSize: 15, color: '#20344B', lineHeight: 1.5 }}&gt;装配 Run、调用能力、提交 Step、监督与恢复&lt;/Text&gt;&lt;/Box&gt;&#10;            &lt;Box style={{ width: 400 }}&gt;&lt;Text style={{ fontSize: 14, color: '#546779', lineHeight: 1.5 }}&gt;执行过程有明确状态与一致边界&lt;/Text&gt;&lt;/Box&gt;&#10;        &lt;/Box&gt;&#10;&#10;        &lt;Box style={{ height: 84, background: '#F4F7FA', borderRadius: 8, padding: '0 16px', flexDirection: 'row', alignItems: 'center', gap: 16 }}&gt;&#10;            &lt;Box style={{ width: 4, height: 48, background: '#26816B' }} /&gt;&#10;            &lt;Box style={{ width: 168 }}&gt;&lt;Text style={{ fontSize: 18, fontWeight: 'bold', color: '#26816B' }}&gt;Replay&lt;/Text&gt;&lt;/Box&gt;&#10;            &lt;Box style={{ flex: 1 }}&gt;&lt;Text style={{ fontSize: 15, color: '#20344B', lineHeight: 1.5 }}&gt;读取已提交事实并生成状态与页面投影&lt;/Text&gt;&lt;/Box&gt;&#10;            &lt;Box style={{ width: 400 }}&gt;&lt;Text style={{ fontSize: 14, color: '#546779', lineHeight: 1.5 }}&gt;查看历史不会再次执行模型或 Skill&lt;/Text&gt;&lt;/Box&gt;&#10;        &lt;/Box&gt;&#10;&#10;        &lt;Box style={{ height: 84, background: '#FFF4E6', borderRadius: 8, padding: '0 16px', flexDirection: 'row', alignItems: 'center', gap: 16 }}&gt;&#10;            &lt;Box style={{ width: 4, height: 48, background: '#CB6B28' }} /&gt;&#10;            &lt;Box style={{ width: 168 }}&gt;&lt;Text style={{ fontSize: 18, fontWeight: 'bold', color: '#CB6B28' }}&gt;CLI / Web 适配层&lt;/Text&gt;&lt;/Box&gt;&#10;            &lt;Box style={{ flex: 1 }}&gt;&lt;Text style={{ fontSize: 15, color: '#20344B', lineHeight: 1.5 }}&gt;把操作请求转成模块公开 API&lt;/Text&gt;&lt;/Box&gt;&#10;            &lt;Box style={{ width: 400 }}&gt;&lt;Text style={{ fontSize: 14, color: '#CB6B28', lineHeight: 1.5 }}&gt;界面不是另一套事实源&lt;/Text&gt;&lt;/Box&gt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04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3.14.1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五个职责如何配合</a:t>
            </a:r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五个模块各守一段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952500" y="14001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546779"/>
                </a:solidFill>
                <a:latin typeface="Microsoft YaHei"/>
                <a:ea typeface="Microsoft YaHei"/>
              </a:rPr>
              <a:t>模块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2705100" y="1400175"/>
            <a:ext cx="476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546779"/>
                </a:solidFill>
                <a:latin typeface="Microsoft YaHei"/>
                <a:ea typeface="Microsoft YaHei"/>
              </a:rPr>
              <a:t>本章中做什么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7620000" y="1400175"/>
            <a:ext cx="381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546779"/>
                </a:solidFill>
                <a:latin typeface="Microsoft YaHei"/>
                <a:ea typeface="Microsoft YaHei"/>
              </a:rPr>
              <a:t>为什么保持这个边界</a:t>
            </a:r>
            <a:endParaRPr/>
          </a:p>
        </p:txBody>
      </p:sp>
      <p:sp>
        <p:nvSpPr>
          <p:cNvPr id="743" name=""/>
          <p:cNvSpPr/>
          <p:nvPr/>
        </p:nvSpPr>
        <p:spPr>
          <a:xfrm rot="0" flipH="0" flipV="0">
            <a:off x="609600" y="1657350"/>
            <a:ext cx="10972800" cy="800100"/>
          </a:xfrm>
          <a:prstGeom prst="roundRect">
            <a:avLst>
              <a:gd name="adj" fmla="val 9524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44" name=""/>
          <p:cNvSpPr/>
          <p:nvPr/>
        </p:nvSpPr>
        <p:spPr>
          <a:xfrm rot="0" flipH="0" flipV="0">
            <a:off x="762000" y="1828800"/>
            <a:ext cx="38100" cy="4572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952500" y="1952625"/>
            <a:ext cx="1600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Protocol</a:t>
            </a:r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2705100" y="1933575"/>
            <a:ext cx="4762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定义文件、身份、空间、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与事实合同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7620000" y="1933575"/>
            <a:ext cx="3810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各环节用同一套数据含义交流，交接才成立</a:t>
            </a:r>
            <a:endParaRPr/>
          </a:p>
        </p:txBody>
      </p:sp>
      <p:sp>
        <p:nvSpPr>
          <p:cNvPr id="748" name=""/>
          <p:cNvSpPr/>
          <p:nvPr/>
        </p:nvSpPr>
        <p:spPr>
          <a:xfrm rot="0" flipH="0" flipV="0">
            <a:off x="609600" y="2552700"/>
            <a:ext cx="109728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49" name=""/>
          <p:cNvSpPr/>
          <p:nvPr/>
        </p:nvSpPr>
        <p:spPr>
          <a:xfrm rot="0" flipH="0" flipV="0">
            <a:off x="762000" y="272415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952500" y="2847975"/>
            <a:ext cx="1600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Studio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2705100" y="2828925"/>
            <a:ext cx="4762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编辑公共资源与实验，预检并组织交换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7620000" y="2828925"/>
            <a:ext cx="3810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作者工作不混入运行中的事实</a:t>
            </a:r>
            <a:endParaRPr/>
          </a:p>
        </p:txBody>
      </p:sp>
      <p:sp>
        <p:nvSpPr>
          <p:cNvPr id="753" name=""/>
          <p:cNvSpPr/>
          <p:nvPr/>
        </p:nvSpPr>
        <p:spPr>
          <a:xfrm rot="0" flipH="0" flipV="0">
            <a:off x="609600" y="3448050"/>
            <a:ext cx="109728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54" name=""/>
          <p:cNvSpPr/>
          <p:nvPr/>
        </p:nvSpPr>
        <p:spPr>
          <a:xfrm rot="0" flipH="0" flipV="0">
            <a:off x="762000" y="361950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952500" y="3743325"/>
            <a:ext cx="1600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Runtime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2705100" y="3724275"/>
            <a:ext cx="4762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装配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、调用能力、提交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Step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、监督与恢复</a:t>
            </a:r>
            <a:endParaRPr/>
          </a:p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7620000" y="3724275"/>
            <a:ext cx="3810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执行过程有明确状态与一致边界</a:t>
            </a:r>
            <a:endParaRPr/>
          </a:p>
        </p:txBody>
      </p:sp>
      <p:sp>
        <p:nvSpPr>
          <p:cNvPr id="758" name=""/>
          <p:cNvSpPr/>
          <p:nvPr/>
        </p:nvSpPr>
        <p:spPr>
          <a:xfrm rot="0" flipH="0" flipV="0">
            <a:off x="609600" y="4343400"/>
            <a:ext cx="109728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59" name=""/>
          <p:cNvSpPr/>
          <p:nvPr/>
        </p:nvSpPr>
        <p:spPr>
          <a:xfrm rot="0" flipH="0" flipV="0">
            <a:off x="762000" y="4514850"/>
            <a:ext cx="38100" cy="4572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952500" y="4638675"/>
            <a:ext cx="1600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>Replay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2705100" y="4619625"/>
            <a:ext cx="4762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读取已提交事实并生成状态与页面投影</a:t>
            </a:r>
            <a:endParaRPr/>
          </a:p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7620000" y="4619625"/>
            <a:ext cx="3810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查看历史不会再次执行模型或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763" name=""/>
          <p:cNvSpPr/>
          <p:nvPr/>
        </p:nvSpPr>
        <p:spPr>
          <a:xfrm rot="0" flipH="0" flipV="0">
            <a:off x="609600" y="5238750"/>
            <a:ext cx="10972800" cy="80010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64" name=""/>
          <p:cNvSpPr/>
          <p:nvPr/>
        </p:nvSpPr>
        <p:spPr>
          <a:xfrm rot="0" flipH="0" flipV="0">
            <a:off x="762000" y="541020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952500" y="5534025"/>
            <a:ext cx="1600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CLI / Web </a:t>
            </a: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适配层</a:t>
            </a:r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2705100" y="5514975"/>
            <a:ext cx="4762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把操作请求转成模块公开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API</a:t>
            </a:r>
            <a:endParaRPr/>
          </a:p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7620000" y="5514975"/>
            <a:ext cx="3810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界面不是另一套事实源</a:t>
            </a:r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29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770" name="" descr="&lt;Slide notes={`现在看这条链上东西是怎么交接的。&#10;&#10;公共资源是大家一起用的地图、人物、Skill 和模型。把它们拿去做实验时，做的是一次物理复制：地图的图、Skill 的文本、模型的参数，都变成实验草稿里的独立副本。&#10;&#10;草稿校验通过以后封存，状态从 DRAFT 变成 SEALED。封存之后的实验不会再被后来编辑的公共 Skill 追着更新；公共资源后续改动也不会自动传播进来。&#10;&#10;Run 再把执行所需的实验内容完整嵌进去，连同 Attempt、帧和检查点，成为分析那次执行的依据。&#10;&#10;Replay 读取的只有已提交事实，它不会重新执行模型或 Skill——所以历史看得再多，也不会改变历史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4.1　五个职责如何配合&lt;/Text&gt;&#10;            &lt;Text style={{ fontSize: 34, fontWeight: 'bold', color: '#20344B' }}&gt;公共资源、实验与运行事实的交接&lt;/Text&gt;&#10;        &lt;/Box&gt;&#10;    &lt;/Box&gt;&#10;&#10;    &lt;Box style={{ height: 540, flexDirection: 'row', alignItems: 'center', gap: 20 }}&gt;&#10;&#10;        &lt;Box style={{ width: 720, flexDirection: 'column', justifyContent: 'center' }}&gt;&#10;&#10;            &lt;Box style={{ width: 720, height: 74, background: '#F7F3E8', borderRadius: 10, padding: '0 18px', flexDirection: 'row', alignItems: 'center', gap: 14 }}&gt;&#10;                &lt;Box style={{ width: 4, height: 42, background: '#546779' }} /&gt;&#10;                &lt;Box style={{ flex: 1, flexDirection: 'column', gap: 3 }}&gt;&#10;                    &lt;Text style={{ fontSize: 18, fontWeight: 'bold', color: '#20344B' }}&gt;公共资源&lt;/Text&gt;&#10;                    &lt;Text style={{ fontSize: 14, color: '#546779' }}&gt;地图、人物、Skill、模型&lt;/Text&gt;&#10;                &lt;/Box&gt;&#10;            &lt;/Box&gt;&#10;&#10;            &lt;Box style={{ width: 720, height: 26, flexDirection: 'row', alignItems: 'center', gap: 10, padding: '0 0 0 40px' }}&gt;&#10;                &lt;Text style={{ fontSize: 16, color: '#276FBF' }}&gt;↓&lt;/Text&gt;&#10;                &lt;Text style={{ fontSize: 13, color: '#546779' }}&gt;物理复制&lt;/Text&gt;&#10;            &lt;/Box&gt;&#10;&#10;            &lt;Box style={{ width: 720, height: 74, background: '#F4F7FA', borderRadius: 10, padding: '0 18px', flexDirection: 'row', alignItems: 'center', gap: 14 }}&gt;&#10;                &lt;Box style={{ width: 4, height: 42, background: '#276FBF' }} /&gt;&#10;                &lt;Box style={{ flex: 1, flexDirection: 'column', gap: 3 }}&gt;&#10;                    &lt;Text style={{ fontSize: 18, fontWeight: 'bold', color: '#20344B' }}&gt;实验草稿&lt;/Text&gt;&#10;                    &lt;Text style={{ fontSize: 14, color: '#546779' }}&gt;完整资源及依赖副本&lt;/Text&gt;&#10;                &lt;/Box&gt;&#10;            &lt;/Box&gt;&#10;&#10;            &lt;Box style={{ width: 720, height: 26, flexDirection: 'row', alignItems: 'center', gap: 10, padding: '0 0 0 40px' }}&gt;&#10;                &lt;Text style={{ fontSize: 16, color: '#276FBF' }}&gt;↓&lt;/Text&gt;&#10;                &lt;Text style={{ fontSize: 13, color: '#546779' }}&gt;校验并封存&lt;/Text&gt;&#10;            &lt;/Box&gt;&#10;&#10;            &lt;Box style={{ width: 720, height: 74, background: '#EDF4FC', borderRadius: 10, padding: '0 18px', flexDirection: 'row', alignItems: 'center', gap: 14 }}&gt;&#10;                &lt;Box style={{ width: 4, height: 42, background: '#276FBF' }} /&gt;&#10;                &lt;Box style={{ flex: 1, flexDirection: 'column', gap: 3 }}&gt;&#10;                    &lt;Text style={{ fontSize: 18, fontWeight: 'bold', color: '#20344B' }}&gt;封存实验　DRAFT → SEALED&lt;/Text&gt;&#10;                    &lt;Text style={{ fontSize: 14, color: '#546779' }}&gt;封存后调整须建立新的独立实验&lt;/Text&gt;&#10;                &lt;/Box&gt;&#10;            &lt;/Box&gt;&#10;&#10;            &lt;Box style={{ width: 720, height: 26, flexDirection: 'row', alignItems: 'center', gap: 10, padding: '0 0 0 40px' }}&gt;&#10;                &lt;Text style={{ fontSize: 16, color: '#276FBF' }}&gt;↓&lt;/Text&gt;&#10;                &lt;Text style={{ fontSize: 13, color: '#546779' }}&gt;完整嵌入&lt;/Text&gt;&#10;            &lt;/Box&gt;&#10;&#10;            &lt;Box style={{ width: 720, height: 74, background: '#EDF4FC', borderRadius: 10, padding: '0 18px', flexDirection: 'row', alignItems: 'center', gap: 14 }}&gt;&#10;                &lt;Box style={{ width: 4, height: 42, background: '#276FBF' }} /&gt;&#10;                &lt;Box style={{ flex: 1, flexDirection: 'column', gap: 3 }}&gt;&#10;                    &lt;Text style={{ fontSize: 18, fontWeight: 'bold', color: '#20344B' }}&gt;Run&lt;/Text&gt;&#10;                    &lt;Text style={{ fontSize: 14, color: '#546779' }}&gt;完整内嵌实验；Attempt、帧、检查点&lt;/Text&gt;&#10;                &lt;/Box&gt;&#10;            &lt;/Box&gt;&#10;&#10;            &lt;Box style={{ width: 720, height: 26, flexDirection: 'row', alignItems: 'center', gap: 10, padding: '0 0 0 40px' }}&gt;&#10;                &lt;Text style={{ fontSize: 16, color: '#26816B' }}&gt;↓&lt;/Text&gt;&#10;                &lt;Text style={{ fontSize: 13, color: '#546779' }}&gt;读取提交边界&lt;/Text&gt;&#10;            &lt;/Box&gt;&#10;&#10;            &lt;Box style={{ width: 720, height: 74, background: '#ECF7F2', borderRadius: 10, padding: '0 18px', flexDirection: 'row', alignItems: 'center', gap: 14 }}&gt;&#10;                &lt;Box style={{ width: 4, height: 42, background: '#26816B' }} /&gt;&#10;                &lt;Box style={{ flex: 1, flexDirection: 'column', gap: 3 }}&gt;&#10;                    &lt;Text style={{ fontSize: 18, fontWeight: 'bold', color: '#20344B' }}&gt;Replay&lt;/Text&gt;&#10;                    &lt;Text style={{ fontSize: 14, color: '#546779' }}&gt;只读已提交事实；重建状态与画面&lt;/Text&gt;&#10;                &lt;/Box&gt;&#10;            &lt;/Box&gt;&#10;&#10;        &lt;/Box&gt;&#10;&#10;        &lt;Box style={{ width: 412, flexDirection: 'column', justifyContent: 'center', gap: 16 }}&gt;&#10;&#10;            &lt;Box style={{ width: 412, height: 158, background: '#FFF4E6', borderRadius: 10, padding: '0 20px', flexDirection: 'column', gap: 6, justifyContent: 'center' }}&gt;&#10;                &lt;Text style={{ fontSize: 18, fontWeight: 'bold', color: '#CB6B28' }}&gt;公共后续修改不自动传播&lt;/Text&gt;&#10;                &lt;Text style={{ fontSize: 14, color: '#546779', lineHeight: 1.6 }}&gt;公共资源改了，已封存的实验不会跟着变；要调整就建一个新的独立实验。&lt;/Text&gt;&#10;            &lt;/Box&gt;&#10;&#10;            &lt;Box style={{ width: 412, height: 158, background: '#ECF7F2', borderRadius: 10, padding: '0 20px', flexDirection: 'column', gap: 6, justifyContent: 'center' }}&gt;&#10;                &lt;Text style={{ fontSize: 18, fontWeight: 'bold', color: '#26816B' }}&gt;回放不再次执行&lt;/Text&gt;&#10;                &lt;Text style={{ fontSize: 14, color: '#546779', lineHeight: 1.6 }}&gt;Replay 只读已提交事实，重建状态与画面，不会再调用一次模型或 Skill。&lt;/Text&gt;&#10;            &lt;/Box&gt;&#10;&#10;            &lt;Box style={{ width: 412, height: 78, background: '#F4F7FA', borderRadius: 10, padding: '0 20px', flexDirection: 'row', alignItems: 'center', gap: 14 }}&gt;&#10;                &lt;Box style={{ width: 4, height: 46, background: '#276FBF' }} /&gt;&#10;                &lt;Text style={{ fontSize: 15, color: '#20344B', lineHeight: 1.6, flex: 1 }}&gt;复制是物理内容复制，不是引用；Run 内嵌的是那次执行当时的副本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05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7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3.14.1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五个职责如何配合</a:t>
            </a:r>
            <a:endParaRPr/>
          </a:p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公共资源、实验与运行事实的交接</a:t>
            </a:r>
            <a:endParaRPr/>
          </a:p>
        </p:txBody>
      </p:sp>
      <p:sp>
        <p:nvSpPr>
          <p:cNvPr id="775" name=""/>
          <p:cNvSpPr/>
          <p:nvPr/>
        </p:nvSpPr>
        <p:spPr>
          <a:xfrm rot="0" flipH="0" flipV="0">
            <a:off x="609600" y="1457325"/>
            <a:ext cx="6858000" cy="704850"/>
          </a:xfrm>
          <a:prstGeom prst="roundRect">
            <a:avLst>
              <a:gd name="adj" fmla="val 13514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76" name=""/>
          <p:cNvSpPr/>
          <p:nvPr/>
        </p:nvSpPr>
        <p:spPr>
          <a:xfrm rot="0" flipH="0" flipV="0">
            <a:off x="781050" y="1609725"/>
            <a:ext cx="38100" cy="40005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952500" y="1609725"/>
            <a:ext cx="6343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公共资源</a:t>
            </a:r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952500" y="1847850"/>
            <a:ext cx="6343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地图、人物、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、模型</a:t>
            </a:r>
            <a:endParaRPr/>
          </a:p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990600" y="2190750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1162050" y="22098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物理复制</a:t>
            </a:r>
            <a:endParaRPr/>
          </a:p>
        </p:txBody>
      </p:sp>
      <p:sp>
        <p:nvSpPr>
          <p:cNvPr id="781" name=""/>
          <p:cNvSpPr/>
          <p:nvPr/>
        </p:nvSpPr>
        <p:spPr>
          <a:xfrm rot="0" flipH="0" flipV="0">
            <a:off x="609600" y="2409825"/>
            <a:ext cx="6858000" cy="704850"/>
          </a:xfrm>
          <a:prstGeom prst="roundRect">
            <a:avLst>
              <a:gd name="adj" fmla="val 1351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82" name=""/>
          <p:cNvSpPr/>
          <p:nvPr/>
        </p:nvSpPr>
        <p:spPr>
          <a:xfrm rot="0" flipH="0" flipV="0">
            <a:off x="781050" y="2562225"/>
            <a:ext cx="38100" cy="4000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952500" y="2562225"/>
            <a:ext cx="6343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实验草稿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952500" y="2800350"/>
            <a:ext cx="6343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完整资源及依赖副本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990600" y="3143250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1162050" y="316230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校验并封存</a:t>
            </a:r>
            <a:endParaRPr/>
          </a:p>
        </p:txBody>
      </p:sp>
      <p:sp>
        <p:nvSpPr>
          <p:cNvPr id="787" name=""/>
          <p:cNvSpPr/>
          <p:nvPr/>
        </p:nvSpPr>
        <p:spPr>
          <a:xfrm rot="0" flipH="0" flipV="0">
            <a:off x="609600" y="3362325"/>
            <a:ext cx="6858000" cy="704850"/>
          </a:xfrm>
          <a:prstGeom prst="roundRect">
            <a:avLst>
              <a:gd name="adj" fmla="val 135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88" name=""/>
          <p:cNvSpPr/>
          <p:nvPr/>
        </p:nvSpPr>
        <p:spPr>
          <a:xfrm rot="0" flipH="0" flipV="0">
            <a:off x="781050" y="3514725"/>
            <a:ext cx="38100" cy="4000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952500" y="3514725"/>
            <a:ext cx="6343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封存实验　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DRAFT → SEALED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952500" y="3752850"/>
            <a:ext cx="6343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封存后调整须建立新的独立实验</a:t>
            </a:r>
            <a:endParaRPr/>
          </a:p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990600" y="4095750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1162050" y="41148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完整嵌入</a:t>
            </a:r>
            <a:endParaRPr/>
          </a:p>
        </p:txBody>
      </p:sp>
      <p:sp>
        <p:nvSpPr>
          <p:cNvPr id="793" name=""/>
          <p:cNvSpPr/>
          <p:nvPr/>
        </p:nvSpPr>
        <p:spPr>
          <a:xfrm rot="0" flipH="0" flipV="0">
            <a:off x="609600" y="4314825"/>
            <a:ext cx="6858000" cy="704850"/>
          </a:xfrm>
          <a:prstGeom prst="roundRect">
            <a:avLst>
              <a:gd name="adj" fmla="val 135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94" name=""/>
          <p:cNvSpPr/>
          <p:nvPr/>
        </p:nvSpPr>
        <p:spPr>
          <a:xfrm rot="0" flipH="0" flipV="0">
            <a:off x="781050" y="4467225"/>
            <a:ext cx="38100" cy="4000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952500" y="4467225"/>
            <a:ext cx="6343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Run</a:t>
            </a:r>
            <a:endParaRPr/>
          </a:p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952500" y="4705350"/>
            <a:ext cx="6343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完整内嵌实验；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Attempt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、帧、检查点</a:t>
            </a:r>
            <a:endParaRPr/>
          </a:p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990600" y="5048250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1162050" y="506730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读取提交边界</a:t>
            </a:r>
            <a:endParaRPr/>
          </a:p>
        </p:txBody>
      </p:sp>
      <p:sp>
        <p:nvSpPr>
          <p:cNvPr id="799" name=""/>
          <p:cNvSpPr/>
          <p:nvPr/>
        </p:nvSpPr>
        <p:spPr>
          <a:xfrm rot="0" flipH="0" flipV="0">
            <a:off x="609600" y="5267325"/>
            <a:ext cx="6858000" cy="704850"/>
          </a:xfrm>
          <a:prstGeom prst="roundRect">
            <a:avLst>
              <a:gd name="adj" fmla="val 1351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00" name=""/>
          <p:cNvSpPr/>
          <p:nvPr/>
        </p:nvSpPr>
        <p:spPr>
          <a:xfrm rot="0" flipH="0" flipV="0">
            <a:off x="781050" y="5419725"/>
            <a:ext cx="38100" cy="4000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952500" y="5419725"/>
            <a:ext cx="6343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Replay</a:t>
            </a:r>
            <a:endParaRPr/>
          </a:p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952500" y="5657850"/>
            <a:ext cx="6343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只读已提交事实；重建状态与画面</a:t>
            </a:r>
            <a:endParaRPr/>
          </a:p>
        </p:txBody>
      </p:sp>
      <p:sp>
        <p:nvSpPr>
          <p:cNvPr id="803" name=""/>
          <p:cNvSpPr/>
          <p:nvPr/>
        </p:nvSpPr>
        <p:spPr>
          <a:xfrm rot="0" flipH="0" flipV="0">
            <a:off x="7658100" y="1685925"/>
            <a:ext cx="3924300" cy="1504950"/>
          </a:xfrm>
          <a:prstGeom prst="roundRect">
            <a:avLst>
              <a:gd name="adj" fmla="val 63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04" name="" descr="{&quot;isTemplate&quot;:true,&quot;type&quot;:&quot;text&quot;}"/>
          <p:cNvSpPr txBox="1"/>
          <p:nvPr/>
        </p:nvSpPr>
        <p:spPr>
          <a:xfrm rot="0" flipH="0" flipV="0">
            <a:off x="7848600" y="2047875"/>
            <a:ext cx="3543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公共后续修改不自动传播</a:t>
            </a:r>
            <a:endParaRPr/>
          </a:p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7848600" y="2314575"/>
            <a:ext cx="3543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公共资源改了，已封存的实验不会跟着变；要调整就建一个新的独立实验。</a:t>
            </a:r>
            <a:endParaRPr/>
          </a:p>
        </p:txBody>
      </p:sp>
      <p:sp>
        <p:nvSpPr>
          <p:cNvPr id="806" name=""/>
          <p:cNvSpPr/>
          <p:nvPr/>
        </p:nvSpPr>
        <p:spPr>
          <a:xfrm rot="0" flipH="0" flipV="0">
            <a:off x="7658100" y="3343275"/>
            <a:ext cx="3924300" cy="1504950"/>
          </a:xfrm>
          <a:prstGeom prst="roundRect">
            <a:avLst>
              <a:gd name="adj" fmla="val 63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7848600" y="3705225"/>
            <a:ext cx="3543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回放不再次执行</a:t>
            </a:r>
            <a:endParaRPr/>
          </a:p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7848600" y="3971925"/>
            <a:ext cx="3543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Replay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只读已提交事实，重建状态与画面，不会再调用一次模型或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09" name=""/>
          <p:cNvSpPr/>
          <p:nvPr/>
        </p:nvSpPr>
        <p:spPr>
          <a:xfrm rot="0" flipH="0" flipV="0">
            <a:off x="7658100" y="5000625"/>
            <a:ext cx="39243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10" name=""/>
          <p:cNvSpPr/>
          <p:nvPr/>
        </p:nvSpPr>
        <p:spPr>
          <a:xfrm rot="0" flipH="0" flipV="0">
            <a:off x="7848600" y="5153025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8020050" y="5095875"/>
            <a:ext cx="33718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复制是物理内容复制，不是引用；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内嵌的是那次执行当时的副本。</a:t>
            </a:r>
            <a:endParaRPr/>
          </a:p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29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814" name="" descr="&lt;Slide notes={`这里有两个边界，办实验的时候特别容易踩。&#10;&#10;第一，Studio 的数据库是可以用的。它保存作者资源和可以重建的索引，让编辑工作快起来，这没有问题。&#10;&#10;但是 Runtime 和 Replay 不应该依赖这个数据库。它们要依赖的是实验包与 Run 文件——那些是自包含的、可以有摘要、可以搬走的文件。&#10;&#10;第二，一个已经导出的 Run，在回放时不能偷偷去查当前的公共人物、当前的地图，或者刚刚改过的 Brain。&#10;&#10;为什么？因为那个 Run 是过去某一时刻的快照，当时的公共资源是什么样，它就应该按什么样回放。如果回放时去查现在的公共资源，看到的画面就不再是那次执行的事实，后面所有的分析都失去依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4.1　五个职责如何配合&lt;/Text&gt;&#10;            &lt;Text style={{ fontSize: 34, fontWeight: 'bold', color: '#20344B' }}&gt;两条不能破的边界&lt;/Text&gt;&#10;        &lt;/Box&gt;&#10;    &lt;/Box&gt;&#10;&#10;    &lt;Box style={{ height: 540, flexDirection: 'row', alignItems: 'center', gap: 20 }}&gt;&#10;&#10;        &lt;Box style={{ width: 420, flexDirection: 'column', justifyContent: 'center', gap: 16 }}&gt;&#10;&#10;            &lt;Box style={{ width: 420, height: 152, background: '#EDF4FC', borderRadius: 10, padding: '0 20px', flexDirection: 'column', gap: 6, justifyContent: 'center' }}&gt;&#10;                &lt;Text style={{ fontSize: 20, fontWeight: 'bold', color: '#276FBF' }}&gt;可以保存&lt;/Text&gt;&#10;                &lt;Text style={{ fontSize: 15, color: '#20344B', lineHeight: 1.6 }}&gt;Studio 数据库保存作者资源与可重建索引，让编辑与交换更顺手。&lt;/Text&gt;&#10;            &lt;/Box&gt;&#10;&#10;            &lt;Box style={{ width: 420, height: 152, background: '#ECF7F2', borderRadius: 10, padding: '0 20px', flexDirection: 'column', gap: 6, justifyContent: 'center' }}&gt;&#10;                &lt;Text style={{ fontSize: 20, fontWeight: 'bold', color: '#26816B' }}&gt;仍须依赖&lt;/Text&gt;&#10;                &lt;Text style={{ fontSize: 15, color: '#20344B', lineHeight: 1.6 }}&gt;Runtime 与 Replay 依赖的是实验包与 Run 文件——自包含、有摘要、可搬走。&lt;/Text&gt;&#10;            &lt;/Box&gt;&#10;&#10;            &lt;Box style={{ width: 420, height: 78, background: '#F4F7FA', borderRadius: 10, padding: '0 20px', flexDirection: 'row', alignItems: 'center', gap: 14 }}&gt;&#10;                &lt;Box style={{ width: 4, height: 46, background: '#546779' }} /&gt;&#10;                &lt;Text style={{ fontSize: 14, color: '#546779', lineHeight: 1.6, flex: 1 }}&gt;索引丢了可以重建；实验包丢了，那次执行就没法还原。&lt;/Text&gt;&#10;            &lt;/Box&gt;&#10;&#10;        &lt;/Box&gt;&#10;&#10;        &lt;Box style={{ width: 712, flexDirection: 'column', justifyContent: 'center', gap: 18 }}&gt;&#10;&#10;            &lt;Box style={{ width: 712, height: 210, background: '#FFF4E6', borderRadius: 10, padding: '0 24px', flexDirection: 'column', gap: 8, justifyContent: 'center' }}&gt;&#10;                &lt;Text style={{ fontSize: 20, fontWeight: 'bold', color: '#CB6B28' }}&gt;不能让已导出的 Run 在回放时偷偷查询&lt;/Text&gt;&#10;                &lt;Text style={{ fontSize: 16, color: '#20344B', lineHeight: 1.7 }}&gt;当前公共人物、当前地图，或者刚改过的 Brain，都不该出现在回放路径上。&lt;/Text&gt;&#10;            &lt;/Box&gt;&#10;&#10;            &lt;Box style={{ width: 712, height: 210, background: '#F4F7FA', borderRadius: 10, padding: '0 24px', flexDirection: 'column', gap: 8, justifyContent: 'center' }}&gt;&#10;                &lt;Text style={{ fontSize: 18, fontWeight: 'bold', color: '#20344B' }}&gt;为什么这条红线这么硬&lt;/Text&gt;&#10;                &lt;Text style={{ fontSize: 15, color: '#546779', lineHeight: 1.7 }}&gt;那个 Run 是过去某一刻的快照。回放时若去读现在的公共资源，看到的就不再是当时的事实，后面的对照与评价都会失去依据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06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3.14.1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五个职责如何配合</a:t>
            </a:r>
            <a:endParaRPr/>
          </a:p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两条不能破的边界</a:t>
            </a:r>
            <a:endParaRPr/>
          </a:p>
        </p:txBody>
      </p:sp>
      <p:sp>
        <p:nvSpPr>
          <p:cNvPr id="819" name=""/>
          <p:cNvSpPr/>
          <p:nvPr/>
        </p:nvSpPr>
        <p:spPr>
          <a:xfrm rot="0" flipH="0" flipV="0">
            <a:off x="609600" y="1743075"/>
            <a:ext cx="4000500" cy="1447800"/>
          </a:xfrm>
          <a:prstGeom prst="roundRect">
            <a:avLst>
              <a:gd name="adj" fmla="val 657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800100" y="2047875"/>
            <a:ext cx="3619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可以保存</a:t>
            </a:r>
            <a:endParaRPr/>
          </a:p>
        </p:txBody>
      </p:sp>
      <p:sp>
        <p:nvSpPr>
          <p:cNvPr id="821" name="" descr="{&quot;isTemplate&quot;:true,&quot;type&quot;:&quot;text&quot;}"/>
          <p:cNvSpPr txBox="1"/>
          <p:nvPr/>
        </p:nvSpPr>
        <p:spPr>
          <a:xfrm rot="0" flipH="0" flipV="0">
            <a:off x="800100" y="2333625"/>
            <a:ext cx="3619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Studio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数据库保存作者资源与可重建索引，让编辑与交换更顺手。</a:t>
            </a:r>
            <a:endParaRPr/>
          </a:p>
        </p:txBody>
      </p:sp>
      <p:sp>
        <p:nvSpPr>
          <p:cNvPr id="822" name=""/>
          <p:cNvSpPr/>
          <p:nvPr/>
        </p:nvSpPr>
        <p:spPr>
          <a:xfrm rot="0" flipH="0" flipV="0">
            <a:off x="609600" y="3343275"/>
            <a:ext cx="4000500" cy="1447800"/>
          </a:xfrm>
          <a:prstGeom prst="roundRect">
            <a:avLst>
              <a:gd name="adj" fmla="val 657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800100" y="3648075"/>
            <a:ext cx="3619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仍须依赖</a:t>
            </a:r>
            <a:endParaRPr/>
          </a:p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800100" y="3933825"/>
            <a:ext cx="3619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Runtime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Replay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依赖的是实验包与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文件——自包含、有摘要、可搬走。</a:t>
            </a:r>
            <a:endParaRPr/>
          </a:p>
        </p:txBody>
      </p:sp>
      <p:sp>
        <p:nvSpPr>
          <p:cNvPr id="825" name=""/>
          <p:cNvSpPr/>
          <p:nvPr/>
        </p:nvSpPr>
        <p:spPr>
          <a:xfrm rot="0" flipH="0" flipV="0">
            <a:off x="609600" y="4943475"/>
            <a:ext cx="40005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26" name=""/>
          <p:cNvSpPr/>
          <p:nvPr/>
        </p:nvSpPr>
        <p:spPr>
          <a:xfrm rot="0" flipH="0" flipV="0">
            <a:off x="800100" y="5095875"/>
            <a:ext cx="38100" cy="43815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971550" y="5191125"/>
            <a:ext cx="34480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索引丢了可以重建；实验包丢了，那次执行就没法还原。</a:t>
            </a:r>
            <a:endParaRPr/>
          </a:p>
        </p:txBody>
      </p:sp>
      <p:sp>
        <p:nvSpPr>
          <p:cNvPr id="828" name=""/>
          <p:cNvSpPr/>
          <p:nvPr/>
        </p:nvSpPr>
        <p:spPr>
          <a:xfrm rot="0" flipH="0" flipV="0">
            <a:off x="4800600" y="1628775"/>
            <a:ext cx="6781800" cy="2000250"/>
          </a:xfrm>
          <a:prstGeom prst="roundRect">
            <a:avLst>
              <a:gd name="adj" fmla="val 476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5029200" y="2324100"/>
            <a:ext cx="6324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不能让已导出的</a:t>
            </a: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在回放时偷偷查询</a:t>
            </a:r>
            <a:endParaRPr/>
          </a:p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5029200" y="2628900"/>
            <a:ext cx="63246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当前公共人物、当前地图，或者刚改过的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Brain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，都不该出现在回放路径上。</a:t>
            </a:r>
            <a:endParaRPr/>
          </a:p>
        </p:txBody>
      </p:sp>
      <p:sp>
        <p:nvSpPr>
          <p:cNvPr id="831" name=""/>
          <p:cNvSpPr/>
          <p:nvPr/>
        </p:nvSpPr>
        <p:spPr>
          <a:xfrm rot="0" flipH="0" flipV="0">
            <a:off x="4800600" y="3800475"/>
            <a:ext cx="6781800" cy="200025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5029200" y="4362450"/>
            <a:ext cx="6324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为什么这条红线这么硬</a:t>
            </a:r>
            <a:endParaRPr/>
          </a:p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5029200" y="4648200"/>
            <a:ext cx="63246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那个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是过去某一刻的快照。回放时若去读现在的公共资源，看到的就不再是当时的事实，后面的对照与评价都会失去依据。</a:t>
            </a:r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83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29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836" name="" descr="&lt;Slide notes={`我们不再一块一块地看模块，而是跟着一次真实的行动走。&#10;&#10;陈晨在交流室，他想去阅读桌附近。要走完这一趟，中间至少经过六个环节：先从实际上下文和感知拿到目标地址，再调用导航得到可走终点和路径信息，然后由 Brain 选择 MOVE。&#10;&#10;动作发出去以后，world-act 会接收并校验它，返回 accepted。accepted 只说明动作选择被接受，不等于整步事实已经持久提交。&#10;&#10;真正提交的是 Runtime：它按移动预算消费实际路径、保留剩余路径，构造 Event 和结构化载荷，再通过 StepResult 提交。回放读的是已提交坐标、轨迹和活动，不是模型的一句「我已抵达」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三章　·　3.14　沿着一次行动理解架构，整理可交付的实验&lt;/Text&gt;&#10;    &lt;/Box&gt;&#10;&#10;    &lt;Box style={{ height: 540, flexDirection: 'column', justifyContent: 'center', gap: 20 }}&gt;&#10;&#10;        &lt;Text style={{ fontSize: 15, color: '#276FBF' }}&gt;②　　3.14.2　从一条 MOVE 看完整链条&lt;/Text&gt;&#10;&#10;        &lt;Text style={{ fontSize: 56, fontWeight: 'bold', color: '#20344B', lineHeight: 1.15 }}&gt;一条 MOVE，六个环节&lt;/Text&gt;&#10;&#10;        &lt;Box style={{ width: 72, height: 4, background: '#276FBF' }} /&gt;&#10;&#10;        &lt;Text style={{ fontSize: 18, color: '#546779', lineHeight: 1.7, width: 940 }}&gt;从目标地址到可回放的事实，每一环都能单独定位；被接受与已提交是两件事。&lt;/Text&gt;&#10;&#10;        &lt;Box style={{ flexDirection: 'row', alignItems: 'center', marginTop: 8 }}&gt;&#10;            &lt;Box style={{ width: 152, height: 68, background: '#EDF4FC', borderRadius: 10, justifyContent: 'center', alignItems: 'center' }}&gt;&#10;                &lt;Text style={{ fontSize: 17, color: '#276FBF' }}&gt;感知&lt;/Text&gt;&#10;            &lt;/Box&gt;&#10;            &lt;Box style={{ width: 44, height: 68, justifyContent: 'center', alignItems: 'center' }}&gt;&#10;                &lt;Text style={{ fontSize: 24, color: '#276FBF' }}&gt;›&lt;/Text&gt;&#10;            &lt;/Box&gt;&#10;            &lt;Box style={{ width: 152, height: 68, background: '#EDF4FC', borderRadius: 10, justifyContent: 'center', alignItems: 'center' }}&gt;&#10;                &lt;Text style={{ fontSize: 17, color: '#276FBF' }}&gt;导航&lt;/Text&gt;&#10;            &lt;/Box&gt;&#10;            &lt;Box style={{ width: 44, height: 68, justifyContent: 'center', alignItems: 'center' }}&gt;&#10;                &lt;Text style={{ fontSize: 24, color: '#276FBF' }}&gt;›&lt;/Text&gt;&#10;            &lt;/Box&gt;&#10;            &lt;Box style={{ width: 152, height: 68, background: '#EDF4FC', borderRadius: 10, justifyContent: 'center', alignItems: 'center' }}&gt;&#10;                &lt;Text style={{ fontSize: 17, color: '#276FBF' }}&gt;决策&lt;/Text&gt;&#10;            &lt;/Box&gt;&#10;            &lt;Box style={{ width: 44, height: 68, justifyContent: 'center', alignItems: 'center' }}&gt;&#10;                &lt;Text style={{ fontSize: 24, color: '#276FBF' }}&gt;›&lt;/Text&gt;&#10;            &lt;/Box&gt;&#10;            &lt;Box style={{ width: 152, height: 68, background: '#EDF4FC', borderRadius: 10, justifyContent: 'center', alignItems: 'center' }}&gt;&#10;                &lt;Text style={{ fontSize: 17, color: '#276FBF' }}&gt;校验&lt;/Text&gt;&#10;            &lt;/Box&gt;&#10;            &lt;Box style={{ width: 44, height: 68, justifyContent: 'center', alignItems: 'center' }}&gt;&#10;                &lt;Text style={{ fontSize: 24, color: '#276FBF' }}&gt;›&lt;/Text&gt;&#10;            &lt;/Box&gt;&#10;            &lt;Box style={{ width: 152, height: 68, background: '#ECF7F2', borderRadius: 10, justifyContent: 'center', alignItems: 'center' }}&gt;&#10;                &lt;Text style={{ fontSize: 17, color: '#26816B' }}&gt;提交&lt;/Text&gt;&#10;            &lt;/Box&gt;&#10;            &lt;Box style={{ width: 44, height: 68, justifyContent: 'center', alignItems: 'center' }}&gt;&#10;                &lt;Text style={{ fontSize: 24, color: '#26816B' }}&gt;›&lt;/Text&gt;&#10;            &lt;/Box&gt;&#10;            &lt;Box style={{ width: 152, height: 68, background: '#ECF7F2', borderRadius: 10, justifyContent: 'center', alignItems: 'center' }}&gt;&#10;                &lt;Text style={{ fontSize: 17, color: '#26816B' }}&gt;回放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07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8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389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第三章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3.14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沿着一次行动理解架构，整理可交付的实验</a:t>
            </a:r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609600" y="23241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②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3.14.2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从一条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 MOVE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看完整链条</a:t>
            </a:r>
            <a:endParaRPr/>
          </a:p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609600" y="26860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一条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MOVE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，六个环节</a:t>
            </a:r>
            <a:endParaRPr/>
          </a:p>
        </p:txBody>
      </p:sp>
      <p:sp>
        <p:nvSpPr>
          <p:cNvPr id="842" name=""/>
          <p:cNvSpPr/>
          <p:nvPr/>
        </p:nvSpPr>
        <p:spPr>
          <a:xfrm rot="0" flipH="0" flipV="0">
            <a:off x="609600" y="36195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609600" y="3848100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从目标地址到可回放的事实，每一环都能单独定位；被接受与已提交是两件事。</a:t>
            </a:r>
            <a:endParaRPr/>
          </a:p>
        </p:txBody>
      </p:sp>
      <p:sp>
        <p:nvSpPr>
          <p:cNvPr id="844" name=""/>
          <p:cNvSpPr/>
          <p:nvPr/>
        </p:nvSpPr>
        <p:spPr>
          <a:xfrm rot="0" flipH="0" flipV="0">
            <a:off x="609600" y="4467225"/>
            <a:ext cx="1447800" cy="647700"/>
          </a:xfrm>
          <a:prstGeom prst="roundRect">
            <a:avLst>
              <a:gd name="adj" fmla="val 1470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1171575" y="469582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感知</a:t>
            </a:r>
            <a:endParaRPr/>
          </a:p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2228850" y="46577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47" name=""/>
          <p:cNvSpPr/>
          <p:nvPr/>
        </p:nvSpPr>
        <p:spPr>
          <a:xfrm rot="0" flipH="0" flipV="0">
            <a:off x="2476500" y="4467225"/>
            <a:ext cx="1447800" cy="647700"/>
          </a:xfrm>
          <a:prstGeom prst="roundRect">
            <a:avLst>
              <a:gd name="adj" fmla="val 1470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3038475" y="469582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导航</a:t>
            </a:r>
            <a:endParaRPr/>
          </a:p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4095750" y="46577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50" name=""/>
          <p:cNvSpPr/>
          <p:nvPr/>
        </p:nvSpPr>
        <p:spPr>
          <a:xfrm rot="0" flipH="0" flipV="0">
            <a:off x="4343400" y="4467225"/>
            <a:ext cx="1447800" cy="647700"/>
          </a:xfrm>
          <a:prstGeom prst="roundRect">
            <a:avLst>
              <a:gd name="adj" fmla="val 1470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4905375" y="469582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决策</a:t>
            </a:r>
            <a:endParaRPr/>
          </a:p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5962650" y="46577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53" name=""/>
          <p:cNvSpPr/>
          <p:nvPr/>
        </p:nvSpPr>
        <p:spPr>
          <a:xfrm rot="0" flipH="0" flipV="0">
            <a:off x="6210300" y="4467225"/>
            <a:ext cx="1447800" cy="647700"/>
          </a:xfrm>
          <a:prstGeom prst="roundRect">
            <a:avLst>
              <a:gd name="adj" fmla="val 1470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6772275" y="469582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校验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7829550" y="46577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56" name=""/>
          <p:cNvSpPr/>
          <p:nvPr/>
        </p:nvSpPr>
        <p:spPr>
          <a:xfrm rot="0" flipH="0" flipV="0">
            <a:off x="8077200" y="4467225"/>
            <a:ext cx="1447800" cy="647700"/>
          </a:xfrm>
          <a:prstGeom prst="roundRect">
            <a:avLst>
              <a:gd name="adj" fmla="val 1470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57" name="" descr="{&quot;isTemplate&quot;:true,&quot;type&quot;:&quot;text&quot;}"/>
          <p:cNvSpPr txBox="1"/>
          <p:nvPr/>
        </p:nvSpPr>
        <p:spPr>
          <a:xfrm rot="0" flipH="0" flipV="0">
            <a:off x="8639175" y="469582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提交</a:t>
            </a:r>
            <a:endParaRPr/>
          </a:p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9696450" y="46577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59" name=""/>
          <p:cNvSpPr/>
          <p:nvPr/>
        </p:nvSpPr>
        <p:spPr>
          <a:xfrm rot="0" flipH="0" flipV="0">
            <a:off x="9944100" y="4467225"/>
            <a:ext cx="1447800" cy="647700"/>
          </a:xfrm>
          <a:prstGeom prst="roundRect">
            <a:avLst>
              <a:gd name="adj" fmla="val 1470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10506075" y="469582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回放</a:t>
            </a:r>
            <a:endParaRPr/>
          </a:p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86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29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863" name="" descr="&lt;Slide notes={`把陈晨这一趟拆细一点看。&#10;&#10;他从实际上下文和感知里得到目标地址，这是本轮的目标；接着调用导航，导航给出可走终点和路径信息；然后 Brain 选择 MOVE，把动作交给 world-act。&#10;&#10;world-act 接收并校验，返回 accepted。这里最容易出错：工具返回 accepted，只说明动作选择被接受，不等于整步事实已经持久提交。&#10;&#10;真正提交发生在 Runtime：它按移动预算消费实际路径、保留剩余路径，构造 Event 与结构化载荷，再通过 StepResult 提交。&#10;&#10;回放读的是这些已提交的坐标、轨迹和活动。它不会因为模型说了一句「我已抵达」，就直接把小人画到终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4.2　从一条 MOVE 看完整链条&lt;/Text&gt;&#10;            &lt;Text style={{ fontSize: 34, fontWeight: 'bold', color: '#20344B' }}&gt;陈晨走一趟，六环各留一笔&lt;/Text&gt;&#10;        &lt;/Box&gt;&#10;    &lt;/Box&gt;&#10;&#10;    &lt;Box style={{ height: 540, flexDirection: 'column', justifyContent: 'center', gap: 12 }}&gt;&#10;&#10;        &lt;Text style={{ fontSize: 15, color: '#546779' }}&gt;从「想去阅读桌」到「回放能看到他走了多远」，六环依次留下可查的记录。&lt;/Text&gt;&#10;&#10;        &lt;Box style={{ flexDirection: 'row', alignItems: 'center' }}&gt;&#10;            &lt;Box style={{ width: 354, height: 178, background: '#F4F7FA', borderRadius: 10, padding: '16px 18px', flexDirection: 'column', gap: 8 }}&gt;&#10;                &lt;Box style={{ flexDirection: 'row', alignItems: 'center', gap: 10 }}&gt;&#10;                    &lt;Box style={{ width: 28, height: 28, background: '#276FBF', borderRadius: 14, justifyContent: 'center', alignItems: 'center' }}&gt;&#10;                        &lt;Text style={{ fontSize: 14, fontWeight: 'bold', color: '#FFFFFF' }}&gt;1&lt;/Text&gt;&#10;                    &lt;/Box&gt;&#10;                    &lt;Text style={{ fontSize: 17, fontWeight: 'bold', color: '#20344B' }}&gt;感知与上下文&lt;/Text&gt;&#10;                &lt;/Box&gt;&#10;                &lt;Text style={{ fontSize: 14, color: '#546779', lineHeight: 1.6 }}&gt;Brain 从实际上下文与感知得到目标地址，作为本轮要去的地方。&lt;/Text&gt;&#10;            &lt;/Box&gt;&#10;            &lt;Box style={{ width: 44, height: 178, justifyContent: 'center', alignItems: 'center' }}&gt;&#10;                &lt;Text style={{ fontSize: 24, color: '#276FBF' }}&gt;›&lt;/Text&gt;&#10;            &lt;/Box&gt;&#10;            &lt;Box style={{ width: 354, height: 178, background: '#F4F7FA', borderRadius: 10, padding: '16px 18px', flexDirection: 'column', gap: 8 }}&gt;&#10;                &lt;Box style={{ flexDirection: 'row', alignItems: 'center', gap: 10 }}&gt;&#10;                    &lt;Box style={{ width: 28, height: 28, background: '#276FBF', borderRadius: 14, justifyContent: 'center', alignItems: 'center' }}&gt;&#10;                        &lt;Text style={{ fontSize: 14, fontWeight: 'bold', color: '#FFFFFF' }}&gt;2&lt;/Text&gt;&#10;                    &lt;/Box&gt;&#10;                    &lt;Text style={{ fontSize: 17, fontWeight: 'bold', color: '#20344B' }}&gt;调用导航&lt;/Text&gt;&#10;                &lt;/Box&gt;&#10;                &lt;Text style={{ fontSize: 14, color: '#546779', lineHeight: 1.6 }}&gt;导航给出可走终点与路径信息，这是能不能走通的第一个依据。&lt;/Text&gt;&#10;            &lt;/Box&gt;&#10;            &lt;Box style={{ width: 44, height: 178, justifyContent: 'center', alignItems: 'center' }}&gt;&#10;                &lt;Text style={{ fontSize: 24, color: '#276FBF' }}&gt;›&lt;/Text&gt;&#10;            &lt;/Box&gt;&#10;            &lt;Box style={{ width: 354, height: 178, background: '#F4F7FA', borderRadius: 10, padding: '16px 18px', flexDirection: 'column', gap: 8 }}&gt;&#10;                &lt;Box style={{ flexDirection: 'row', alignItems: 'center', gap: 10 }}&gt;&#10;                    &lt;Box style={{ width: 28, height: 28, background: '#276FBF', borderRadius: 14, justifyContent: 'center', alignItems: 'center' }}&gt;&#10;                        &lt;Text style={{ fontSize: 14, fontWeight: 'bold', color: '#FFFFFF' }}&gt;3&lt;/Text&gt;&#10;                    &lt;/Box&gt;&#10;                    &lt;Text style={{ fontSize: 17, fontWeight: 'bold', color: '#20344B' }}&gt;Brain 选择 MOVE&lt;/Text&gt;&#10;                &lt;/Box&gt;&#10;                &lt;Text style={{ fontSize: 14, color: '#546779', lineHeight: 1.6 }}&gt;把目标与路径变成这一轮要提交的动作选择。&lt;/Text&gt;&#10;            &lt;/Box&gt;&#10;        &lt;/Box&gt;&#10;&#10;        &lt;Box style={{ height: 26, justifyContent: 'center', alignItems: 'center' }}&gt;&#10;            &lt;Text style={{ fontSize: 20, color: '#276FBF' }}&gt;↓&lt;/Text&gt;&#10;        &lt;/Box&gt;&#10;&#10;        &lt;Box style={{ flexDirection: 'row', alignItems: 'center' }}&gt;&#10;            &lt;Box style={{ width: 354, height: 178, background: '#FFF4E6', borderRadius: 10, padding: '16px 18px', flexDirection: 'column', gap: 8 }}&gt;&#10;                &lt;Box style={{ flexDirection: 'row', alignItems: 'center', gap: 10 }}&gt;&#10;                    &lt;Box style={{ width: 28, height: 28, background: '#CB6B28', borderRadius: 14, justifyContent: 'center', alignItems: 'center' }}&gt;&#10;                        &lt;Text style={{ fontSize: 14, fontWeight: 'bold', color: '#FFFFFF' }}&gt;4&lt;/Text&gt;&#10;                    &lt;/Box&gt;&#10;                    &lt;Text style={{ fontSize: 17, fontWeight: 'bold', color: '#CB6B28' }}&gt;world-act 校验&lt;/Text&gt;&#10;                &lt;/Box&gt;&#10;                &lt;Text style={{ fontSize: 14, color: '#546779', lineHeight: 1.6 }}&gt;接收并校验本轮动作，返回 accepted。接受的是动作选择，不是整步事实。&lt;/Text&gt;&#10;            &lt;/Box&gt;&#10;            &lt;Box style={{ width: 44, height: 178, justifyContent: 'center', alignItems: 'center' }}&gt;&#10;                &lt;Text style={{ fontSize: 24, color: '#276FBF' }}&gt;›&lt;/Text&gt;&#10;            &lt;/Box&gt;&#10;            &lt;Box style={{ width: 354, height: 178, background: '#EDF4FC', borderRadius: 10, padding: '16px 18px', flexDirection: 'column', gap: 8 }}&gt;&#10;                &lt;Box style={{ flexDirection: 'row', alignItems: 'center', gap: 10 }}&gt;&#10;                    &lt;Box style={{ width: 28, height: 28, background: '#276FBF', borderRadius: 14, justifyContent: 'center', alignItems: 'center' }}&gt;&#10;                        &lt;Text style={{ fontSize: 14, fontWeight: 'bold', color: '#FFFFFF' }}&gt;5&lt;/Text&gt;&#10;                    &lt;/Box&gt;&#10;                    &lt;Text style={{ fontSize: 17, fontWeight: 'bold', color: '#20344B' }}&gt;StepResult 提交&lt;/Text&gt;&#10;                &lt;/Box&gt;&#10;                &lt;Text style={{ fontSize: 14, color: '#546779', lineHeight: 1.6 }}&gt;Runtime 按移动预算消费实际路径、保留剩余路径，构造 Event 与载荷后提交。&lt;/Text&gt;&#10;            &lt;/Box&gt;&#10;            &lt;Box style={{ width: 44, height: 178, justifyContent: 'center', alignItems: 'center' }}&gt;&#10;                &lt;Text style={{ fontSize: 24, color: '#26816B' }}&gt;›&lt;/Text&gt;&#10;            &lt;/Box&gt;&#10;            &lt;Box style={{ width: 354, height: 178, background: '#ECF7F2', borderRadius: 10, padding: '16px 18px', flexDirection: 'column', gap: 8 }}&gt;&#10;                &lt;Box style={{ flexDirection: 'row', alignItems: 'center', gap: 10 }}&gt;&#10;                    &lt;Box style={{ width: 28, height: 28, background: '#26816B', borderRadius: 14, justifyContent: 'center', alignItems: 'center' }}&gt;&#10;                        &lt;Text style={{ fontSize: 14, fontWeight: 'bold', color: '#FFFFFF' }}&gt;6&lt;/Text&gt;&#10;                    &lt;/Box&gt;&#10;                    &lt;Text style={{ fontSize: 17, fontWeight: 'bold', color: '#26816B' }}&gt;回放读取&lt;/Text&gt;&#10;                &lt;/Box&gt;&#10;                &lt;Text style={{ fontSize: 14, color: '#546779', lineHeight: 1.6 }}&gt;读已提交坐标、轨迹与活动，不依据模型的自述去画人。&lt;/Text&gt;&#10;            &lt;/Box&gt;&#10;        &lt;/Box&gt;&#10;&#10;        &lt;Box style={{ height: 62, background: '#FFF4E6', borderRadius: 10, padding: '0 22px', flexDirection: 'row', alignItems: 'center', gap: 16 }}&gt;&#10;            &lt;Box style={{ width: 4, height: 40, background: '#CB6B28' }} /&gt;&#10;            &lt;Text style={{ fontSize: 16, color: '#CB6B28', fontWeight: 'bold' }}&gt;accepted 说明动作选择被接受，不等于整步事实已经持久提交。&lt;/Text&gt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08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6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3.14.2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从一条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MOVE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看完整链条</a:t>
            </a:r>
            <a:endParaRPr/>
          </a:p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陈晨走一趟，六环各留一笔</a:t>
            </a:r>
            <a:endParaRPr/>
          </a:p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609600" y="12858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从「想去阅读桌」到「回放能看到他走了多远」，六环依次留下可查的记录。</a:t>
            </a:r>
            <a:endParaRPr/>
          </a:p>
        </p:txBody>
      </p:sp>
      <p:sp>
        <p:nvSpPr>
          <p:cNvPr id="869" name=""/>
          <p:cNvSpPr/>
          <p:nvPr/>
        </p:nvSpPr>
        <p:spPr>
          <a:xfrm rot="0" flipH="0" flipV="0">
            <a:off x="609600" y="1571625"/>
            <a:ext cx="3371850" cy="1695450"/>
          </a:xfrm>
          <a:prstGeom prst="roundRect">
            <a:avLst>
              <a:gd name="adj" fmla="val 561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70" name=""/>
          <p:cNvSpPr/>
          <p:nvPr/>
        </p:nvSpPr>
        <p:spPr>
          <a:xfrm rot="0" flipH="0" flipV="0">
            <a:off x="781050" y="17240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876300" y="17811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1143000" y="176212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感知与上下文</a:t>
            </a:r>
            <a:endParaRPr/>
          </a:p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781050" y="2066925"/>
            <a:ext cx="3028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从实际上下文与感知得到目标地址，作为本轮要去的地方。</a:t>
            </a:r>
            <a:endParaRPr/>
          </a:p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4152900" y="22860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75" name=""/>
          <p:cNvSpPr/>
          <p:nvPr/>
        </p:nvSpPr>
        <p:spPr>
          <a:xfrm rot="0" flipH="0" flipV="0">
            <a:off x="4400550" y="1571625"/>
            <a:ext cx="3371850" cy="1695450"/>
          </a:xfrm>
          <a:prstGeom prst="roundRect">
            <a:avLst>
              <a:gd name="adj" fmla="val 561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76" name=""/>
          <p:cNvSpPr/>
          <p:nvPr/>
        </p:nvSpPr>
        <p:spPr>
          <a:xfrm rot="0" flipH="0" flipV="0">
            <a:off x="4572000" y="17240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4667250" y="17811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4933950" y="176212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调用导航</a:t>
            </a:r>
            <a:endParaRPr/>
          </a:p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4572000" y="2066925"/>
            <a:ext cx="3028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导航给出可走终点与路径信息，这是能不能走通的第一个依据。</a:t>
            </a:r>
            <a:endParaRPr/>
          </a:p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7943850" y="22860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81" name=""/>
          <p:cNvSpPr/>
          <p:nvPr/>
        </p:nvSpPr>
        <p:spPr>
          <a:xfrm rot="0" flipH="0" flipV="0">
            <a:off x="8191500" y="1571625"/>
            <a:ext cx="3371850" cy="1695450"/>
          </a:xfrm>
          <a:prstGeom prst="roundRect">
            <a:avLst>
              <a:gd name="adj" fmla="val 561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82" name=""/>
          <p:cNvSpPr/>
          <p:nvPr/>
        </p:nvSpPr>
        <p:spPr>
          <a:xfrm rot="0" flipH="0" flipV="0">
            <a:off x="8362950" y="17240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8458200" y="17811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8724900" y="1762125"/>
            <a:ext cx="1362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选择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MOVE</a:t>
            </a:r>
            <a:endParaRPr/>
          </a:p>
        </p:txBody>
      </p:sp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8362950" y="2066925"/>
            <a:ext cx="30289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把目标与路径变成这一轮要提交的动作选择。</a:t>
            </a:r>
            <a:endParaRPr/>
          </a:p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6048375" y="33909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887" name=""/>
          <p:cNvSpPr/>
          <p:nvPr/>
        </p:nvSpPr>
        <p:spPr>
          <a:xfrm rot="0" flipH="0" flipV="0">
            <a:off x="609600" y="3743325"/>
            <a:ext cx="3371850" cy="1695450"/>
          </a:xfrm>
          <a:prstGeom prst="roundRect">
            <a:avLst>
              <a:gd name="adj" fmla="val 561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88" name=""/>
          <p:cNvSpPr/>
          <p:nvPr/>
        </p:nvSpPr>
        <p:spPr>
          <a:xfrm rot="0" flipH="0" flipV="0">
            <a:off x="781050" y="38957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89" name="" descr="{&quot;isTemplate&quot;:true,&quot;type&quot;:&quot;text&quot;}"/>
          <p:cNvSpPr txBox="1"/>
          <p:nvPr/>
        </p:nvSpPr>
        <p:spPr>
          <a:xfrm rot="0" flipH="0" flipV="0">
            <a:off x="876300" y="39528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890" name="" descr="{&quot;isTemplate&quot;:true,&quot;type&quot;:&quot;text&quot;}"/>
          <p:cNvSpPr txBox="1"/>
          <p:nvPr/>
        </p:nvSpPr>
        <p:spPr>
          <a:xfrm rot="0" flipH="0" flipV="0">
            <a:off x="1143000" y="3933825"/>
            <a:ext cx="1162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world-act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校验</a:t>
            </a:r>
            <a:endParaRPr/>
          </a:p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781050" y="4238625"/>
            <a:ext cx="3028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接收并校验本轮动作，返回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accepted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。接受的是动作选择，不是整步事实。</a:t>
            </a:r>
            <a:endParaRPr/>
          </a:p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4152900" y="44577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93" name=""/>
          <p:cNvSpPr/>
          <p:nvPr/>
        </p:nvSpPr>
        <p:spPr>
          <a:xfrm rot="0" flipH="0" flipV="0">
            <a:off x="4400550" y="3743325"/>
            <a:ext cx="3371850" cy="1695450"/>
          </a:xfrm>
          <a:prstGeom prst="roundRect">
            <a:avLst>
              <a:gd name="adj" fmla="val 561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94" name=""/>
          <p:cNvSpPr/>
          <p:nvPr/>
        </p:nvSpPr>
        <p:spPr>
          <a:xfrm rot="0" flipH="0" flipV="0">
            <a:off x="4572000" y="38957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95" name="" descr="{&quot;isTemplate&quot;:true,&quot;type&quot;:&quot;text&quot;}"/>
          <p:cNvSpPr txBox="1"/>
          <p:nvPr/>
        </p:nvSpPr>
        <p:spPr>
          <a:xfrm rot="0" flipH="0" flipV="0">
            <a:off x="4667250" y="39528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4933950" y="3933825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StepResult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提交</a:t>
            </a:r>
            <a:endParaRPr/>
          </a:p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4572000" y="4238625"/>
            <a:ext cx="3028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Runtime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按移动预算消费实际路径、保留剩余路径，构造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与载荷后提交。</a:t>
            </a:r>
            <a:endParaRPr/>
          </a:p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7943850" y="44577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99" name=""/>
          <p:cNvSpPr/>
          <p:nvPr/>
        </p:nvSpPr>
        <p:spPr>
          <a:xfrm rot="0" flipH="0" flipV="0">
            <a:off x="8191500" y="3743325"/>
            <a:ext cx="3371850" cy="1695450"/>
          </a:xfrm>
          <a:prstGeom prst="roundRect">
            <a:avLst>
              <a:gd name="adj" fmla="val 561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00" name=""/>
          <p:cNvSpPr/>
          <p:nvPr/>
        </p:nvSpPr>
        <p:spPr>
          <a:xfrm rot="0" flipH="0" flipV="0">
            <a:off x="8362950" y="38957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8458200" y="39528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8724900" y="393382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回放读取</a:t>
            </a:r>
            <a:endParaRPr/>
          </a:p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8362950" y="4238625"/>
            <a:ext cx="3028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读已提交坐标、轨迹与活动，不依据模型的自述去画人。</a:t>
            </a:r>
            <a:endParaRPr/>
          </a:p>
        </p:txBody>
      </p:sp>
      <p:sp>
        <p:nvSpPr>
          <p:cNvPr id="904" name=""/>
          <p:cNvSpPr/>
          <p:nvPr/>
        </p:nvSpPr>
        <p:spPr>
          <a:xfrm rot="0" flipH="0" flipV="0">
            <a:off x="609600" y="5553075"/>
            <a:ext cx="10972800" cy="590550"/>
          </a:xfrm>
          <a:prstGeom prst="roundRect">
            <a:avLst>
              <a:gd name="adj" fmla="val 161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05" name=""/>
          <p:cNvSpPr/>
          <p:nvPr/>
        </p:nvSpPr>
        <p:spPr>
          <a:xfrm rot="0" flipH="0" flipV="0">
            <a:off x="819150" y="565785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1009650" y="5753100"/>
            <a:ext cx="4400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accepted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说明动作选择被接受，不等于整步事实已经持久提交。</a:t>
            </a:r>
            <a:endParaRPr/>
          </a:p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29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909" name="" descr="&lt;Slide notes={`如果陈晨只走了前 4 格，活动描述就要和实际进度分开读，这是本节一个很实用的判断。&#10;&#10;路径其实有三条。计划路径表示想走哪里，它来自导航给出的可走终点与路径信息；实际路径表示已经走过哪里，只认已提交的坐标与轨迹；剩余路径表示尚未完成的部分，还留在移动预算里，等下一步继续消费。&#10;&#10;所以途中他可以正在「前往阅读室」——这是一个进行中的状态，是合理的。但在他真正抵达之前，不能把一次阅读活动记成已经发生。&#10;&#10;判断的依据不是描述写得多肯定，而是这三条路径各自对应了哪些已提交的事实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4.2　从一条 MOVE 看完整链条&lt;/Text&gt;&#10;            &lt;Text style={{ fontSize: 34, fontWeight: 'bold', color: '#20344B' }}&gt;计划、实际、剩余：三条路径&lt;/Text&gt;&#10;        &lt;/Box&gt;&#10;    &lt;/Box&gt;&#10;&#10;    &lt;Box style={{ height: 540, flexDirection: 'column', justifyContent: 'center', gap: 10 }}&gt;&#10;&#10;        &lt;Text style={{ fontSize: 15, color: '#546779' }}&gt;假设这一段只走完前 4 格：已提交的事实到第 4 格为止，后面的还没发生。&lt;/Text&gt;&#10;&#10;        &lt;Box style={{ flexDirection: 'row', gap: 10 }}&gt;&#10;            &lt;Box style={{ width: 156, height: 46, background: '#276FBF', borderRadius: 8, justifyContent: 'center', alignItems: 'center' }}&gt;&#10;                &lt;Text style={{ fontSize: 14, color: '#FFFFFF' }}&gt;1&lt;/Text&gt;&#10;            &lt;/Box&gt;&#10;            &lt;Box style={{ width: 156, height: 46, background: '#276FBF', borderRadius: 8, justifyContent: 'center', alignItems: 'center' }}&gt;&#10;                &lt;Text style={{ fontSize: 14, color: '#FFFFFF' }}&gt;2&lt;/Text&gt;&#10;            &lt;/Box&gt;&#10;            &lt;Box style={{ width: 156, height: 46, background: '#276FBF', borderRadius: 8, justifyContent: 'center', alignItems: 'center' }}&gt;&#10;                &lt;Text style={{ fontSize: 14, color: '#FFFFFF' }}&gt;3&lt;/Text&gt;&#10;            &lt;/Box&gt;&#10;            &lt;Box style={{ width: 156, height: 46, background: '#276FBF', borderRadius: 8, justifyContent: 'center', alignItems: 'center' }}&gt;&#10;                &lt;Text style={{ fontSize: 14, color: '#FFFFFF' }}&gt;4&lt;/Text&gt;&#10;            &lt;/Box&gt;&#10;            &lt;Box style={{ width: 156, height: 46, background: '#EDF4FC', borderRadius: 8, justifyContent: 'center', alignItems: 'center' }}&gt;&#10;                &lt;Text style={{ fontSize: 14, color: '#276FBF' }}&gt;5&lt;/Text&gt;&#10;            &lt;/Box&gt;&#10;            &lt;Box style={{ width: 156, height: 46, background: '#EDF4FC', borderRadius: 8, justifyContent: 'center', alignItems: 'center' }}&gt;&#10;                &lt;Text style={{ fontSize: 14, color: '#276FBF' }}&gt;6&lt;/Text&gt;&#10;            &lt;/Box&gt;&#10;            &lt;Box style={{ width: 156, height: 46, background: '#EDF4FC', borderRadius: 8, justifyContent: 'center', alignItems: 'center' }}&gt;&#10;                &lt;Text style={{ fontSize: 14, color: '#276FBF' }}&gt;7&lt;/Text&gt;&#10;            &lt;/Box&gt;&#10;        &lt;/Box&gt;&#10;&#10;        &lt;Box style={{ flexDirection: 'row', gap: 10 }}&gt;&#10;            &lt;Box style={{ width: 654 }}&gt;&lt;Text style={{ fontSize: 14, color: '#276FBF' }}&gt;前 4 格：已提交的事实&lt;/Text&gt;&lt;/Box&gt;&#10;            &lt;Box style={{ width: 488, alignItems: 'flex-end' }}&gt;&lt;Text style={{ fontSize: 14, color: '#546779' }}&gt;后 3 格：还没发生&lt;/Text&gt;&lt;/Box&gt;&#10;        &lt;/Box&gt;&#10;&#10;        &lt;Box style={{ height: 74, background: '#F4F7FA', borderRadius: 8, padding: '0 16px', flexDirection: 'row', alignItems: 'center', gap: 16 }}&gt;&#10;            &lt;Box style={{ width: 4, height: 44, background: '#276FBF' }} /&gt;&#10;            &lt;Box style={{ width: 150 }}&gt;&lt;Text style={{ fontSize: 17, fontWeight: 'bold', color: '#20344B' }}&gt;计划路径&lt;/Text&gt;&lt;/Box&gt;&#10;            &lt;Box style={{ width: 210 }}&gt;&lt;Text style={{ fontSize: 15, color: '#546779' }}&gt;想走哪里&lt;/Text&gt;&lt;/Box&gt;&#10;            &lt;Box style={{ flex: 1 }}&gt;&lt;Text style={{ fontSize: 14, color: '#546779', lineHeight: 1.5 }}&gt;来自导航给出的可走终点与路径信息&lt;/Text&gt;&lt;/Box&gt;&#10;        &lt;/Box&gt;&#10;&#10;        &lt;Box style={{ height: 74, background: '#F4F7FA', borderRadius: 8, padding: '0 16px', flexDirection: 'row', alignItems: 'center', gap: 16 }}&gt;&#10;            &lt;Box style={{ width: 4, height: 44, background: '#26816B' }} /&gt;&#10;            &lt;Box style={{ width: 150 }}&gt;&lt;Text style={{ fontSize: 17, fontWeight: 'bold', color: '#20344B' }}&gt;实际路径&lt;/Text&gt;&lt;/Box&gt;&#10;            &lt;Box style={{ width: 210 }}&gt;&lt;Text style={{ fontSize: 15, color: '#546779' }}&gt;已经走过哪里&lt;/Text&gt;&lt;/Box&gt;&#10;            &lt;Box style={{ flex: 1 }}&gt;&lt;Text style={{ fontSize: 14, color: '#546779', lineHeight: 1.5 }}&gt;只认已提交的坐标与轨迹，不认自述&lt;/Text&gt;&lt;/Box&gt;&#10;        &lt;/Box&gt;&#10;&#10;        &lt;Box style={{ height: 74, background: '#F4F7FA', borderRadius: 8, padding: '0 16px', flexDirection: 'row', alignItems: 'center', gap: 16 }}&gt;&#10;            &lt;Box style={{ width: 4, height: 44, background: '#546779' }} /&gt;&#10;            &lt;Box style={{ width: 150 }}&gt;&lt;Text style={{ fontSize: 17, fontWeight: 'bold', color: '#20344B' }}&gt;剩余路径&lt;/Text&gt;&lt;/Box&gt;&#10;            &lt;Box style={{ width: 210 }}&gt;&lt;Text style={{ fontSize: 15, color: '#546779' }}&gt;尚未完成的部分&lt;/Text&gt;&lt;/Box&gt;&#10;            &lt;Box style={{ flex: 1 }}&gt;&lt;Text style={{ fontSize: 14, color: '#546779', lineHeight: 1.5 }}&gt;保留在移动预算内，等下一步继续消费&lt;/Text&gt;&lt;/Box&gt;&#10;        &lt;/Box&gt;&#10;&#10;        &lt;Box style={{ height: 74, background: '#FFF4E6', borderRadius: 10, padding: '0 22px', flexDirection: 'row', alignItems: 'center', gap: 16 }}&gt;&#10;            &lt;Box style={{ width: 4, height: 46, background: '#CB6B28' }} /&gt;&#10;            &lt;Box style={{ flexDirection: 'column', gap: 3 }}&gt;&#10;                &lt;Text style={{ fontSize: 16, fontWeight: 'bold', color: '#CB6B28' }}&gt;正在「前往阅读室」可以成立&lt;/Text&gt;&#10;                &lt;Text style={{ fontSize: 14, color: '#546779' }}&gt;但未抵达时，不能把一次阅读活动当作已经发生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09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1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3.14.2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从一条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MOVE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看完整链条</a:t>
            </a:r>
            <a:endParaRPr/>
          </a:p>
        </p:txBody>
      </p:sp>
      <p:sp>
        <p:nvSpPr>
          <p:cNvPr id="91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计划、实际、剩余：三条路径</a:t>
            </a:r>
            <a:endParaRPr/>
          </a:p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609600" y="16383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假设这一段只走完前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格：已提交的事实到第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格为止，后面的还没发生。</a:t>
            </a:r>
            <a:endParaRPr/>
          </a:p>
        </p:txBody>
      </p:sp>
      <p:sp>
        <p:nvSpPr>
          <p:cNvPr id="915" name=""/>
          <p:cNvSpPr/>
          <p:nvPr/>
        </p:nvSpPr>
        <p:spPr>
          <a:xfrm rot="0" flipH="0" flipV="0">
            <a:off x="609600" y="1905000"/>
            <a:ext cx="148590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1314450" y="20478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917" name=""/>
          <p:cNvSpPr/>
          <p:nvPr/>
        </p:nvSpPr>
        <p:spPr>
          <a:xfrm rot="0" flipH="0" flipV="0">
            <a:off x="2190750" y="1905000"/>
            <a:ext cx="148590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2895600" y="20478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919" name=""/>
          <p:cNvSpPr/>
          <p:nvPr/>
        </p:nvSpPr>
        <p:spPr>
          <a:xfrm rot="0" flipH="0" flipV="0">
            <a:off x="3771900" y="1905000"/>
            <a:ext cx="148590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4476750" y="20478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921" name=""/>
          <p:cNvSpPr/>
          <p:nvPr/>
        </p:nvSpPr>
        <p:spPr>
          <a:xfrm rot="0" flipH="0" flipV="0">
            <a:off x="5353050" y="1905000"/>
            <a:ext cx="148590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6057900" y="20478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923" name=""/>
          <p:cNvSpPr/>
          <p:nvPr/>
        </p:nvSpPr>
        <p:spPr>
          <a:xfrm rot="0" flipH="0" flipV="0">
            <a:off x="6934200" y="1905000"/>
            <a:ext cx="1485900" cy="438150"/>
          </a:xfrm>
          <a:prstGeom prst="roundRect">
            <a:avLst>
              <a:gd name="adj" fmla="val 173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7639050" y="20478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925" name=""/>
          <p:cNvSpPr/>
          <p:nvPr/>
        </p:nvSpPr>
        <p:spPr>
          <a:xfrm rot="0" flipH="0" flipV="0">
            <a:off x="8515350" y="1905000"/>
            <a:ext cx="1485900" cy="438150"/>
          </a:xfrm>
          <a:prstGeom prst="roundRect">
            <a:avLst>
              <a:gd name="adj" fmla="val 173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9220200" y="20478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927" name=""/>
          <p:cNvSpPr/>
          <p:nvPr/>
        </p:nvSpPr>
        <p:spPr>
          <a:xfrm rot="0" flipH="0" flipV="0">
            <a:off x="10096500" y="1905000"/>
            <a:ext cx="1485900" cy="438150"/>
          </a:xfrm>
          <a:prstGeom prst="roundRect">
            <a:avLst>
              <a:gd name="adj" fmla="val 173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28" name="" descr="{&quot;isTemplate&quot;:true,&quot;type&quot;:&quot;text&quot;}"/>
          <p:cNvSpPr txBox="1"/>
          <p:nvPr/>
        </p:nvSpPr>
        <p:spPr>
          <a:xfrm rot="0" flipH="0" flipV="0">
            <a:off x="10801350" y="20478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609600" y="2438400"/>
            <a:ext cx="6229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前</a:t>
            </a: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格：已提交的事实</a:t>
            </a:r>
            <a:endParaRPr/>
          </a:p>
        </p:txBody>
      </p:sp>
      <p:sp>
        <p:nvSpPr>
          <p:cNvPr id="930" name="" descr="{&quot;isTemplate&quot;:true,&quot;type&quot;:&quot;text&quot;}"/>
          <p:cNvSpPr txBox="1"/>
          <p:nvPr/>
        </p:nvSpPr>
        <p:spPr>
          <a:xfrm rot="0" flipH="0" flipV="0">
            <a:off x="10487025" y="2438400"/>
            <a:ext cx="1095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格：还没发生</a:t>
            </a:r>
            <a:endParaRPr/>
          </a:p>
        </p:txBody>
      </p:sp>
      <p:sp>
        <p:nvSpPr>
          <p:cNvPr id="931" name=""/>
          <p:cNvSpPr/>
          <p:nvPr/>
        </p:nvSpPr>
        <p:spPr>
          <a:xfrm rot="0" flipH="0" flipV="0">
            <a:off x="609600" y="2695575"/>
            <a:ext cx="10972800" cy="704850"/>
          </a:xfrm>
          <a:prstGeom prst="roundRect">
            <a:avLst>
              <a:gd name="adj" fmla="val 108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32" name=""/>
          <p:cNvSpPr/>
          <p:nvPr/>
        </p:nvSpPr>
        <p:spPr>
          <a:xfrm rot="0" flipH="0" flipV="0">
            <a:off x="762000" y="28384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952500" y="295275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计划路径</a:t>
            </a:r>
            <a:endParaRPr/>
          </a:p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2533650" y="2962275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想走哪里</a:t>
            </a:r>
            <a:endParaRPr/>
          </a:p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4686300" y="2924175"/>
            <a:ext cx="6743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来自导航给出的可走终点与路径信息</a:t>
            </a:r>
            <a:endParaRPr/>
          </a:p>
        </p:txBody>
      </p:sp>
      <p:sp>
        <p:nvSpPr>
          <p:cNvPr id="936" name=""/>
          <p:cNvSpPr/>
          <p:nvPr/>
        </p:nvSpPr>
        <p:spPr>
          <a:xfrm rot="0" flipH="0" flipV="0">
            <a:off x="609600" y="3495675"/>
            <a:ext cx="10972800" cy="704850"/>
          </a:xfrm>
          <a:prstGeom prst="roundRect">
            <a:avLst>
              <a:gd name="adj" fmla="val 108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37" name=""/>
          <p:cNvSpPr/>
          <p:nvPr/>
        </p:nvSpPr>
        <p:spPr>
          <a:xfrm rot="0" flipH="0" flipV="0">
            <a:off x="762000" y="363855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938" name="" descr="{&quot;isTemplate&quot;:true,&quot;type&quot;:&quot;text&quot;}"/>
          <p:cNvSpPr txBox="1"/>
          <p:nvPr/>
        </p:nvSpPr>
        <p:spPr>
          <a:xfrm rot="0" flipH="0" flipV="0">
            <a:off x="952500" y="375285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实际路径</a:t>
            </a:r>
            <a:endParaRPr/>
          </a:p>
        </p:txBody>
      </p:sp>
      <p:sp>
        <p:nvSpPr>
          <p:cNvPr id="939" name="" descr="{&quot;isTemplate&quot;:true,&quot;type&quot;:&quot;text&quot;}"/>
          <p:cNvSpPr txBox="1"/>
          <p:nvPr/>
        </p:nvSpPr>
        <p:spPr>
          <a:xfrm rot="0" flipH="0" flipV="0">
            <a:off x="2533650" y="3762375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已经走过哪里</a:t>
            </a:r>
            <a:endParaRPr/>
          </a:p>
        </p:txBody>
      </p:sp>
      <p:sp>
        <p:nvSpPr>
          <p:cNvPr id="940" name="" descr="{&quot;isTemplate&quot;:true,&quot;type&quot;:&quot;text&quot;}"/>
          <p:cNvSpPr txBox="1"/>
          <p:nvPr/>
        </p:nvSpPr>
        <p:spPr>
          <a:xfrm rot="0" flipH="0" flipV="0">
            <a:off x="4686300" y="3724275"/>
            <a:ext cx="6743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只认已提交的坐标与轨迹，不认自述</a:t>
            </a:r>
            <a:endParaRPr/>
          </a:p>
        </p:txBody>
      </p:sp>
      <p:sp>
        <p:nvSpPr>
          <p:cNvPr id="941" name=""/>
          <p:cNvSpPr/>
          <p:nvPr/>
        </p:nvSpPr>
        <p:spPr>
          <a:xfrm rot="0" flipH="0" flipV="0">
            <a:off x="609600" y="4295775"/>
            <a:ext cx="10972800" cy="704850"/>
          </a:xfrm>
          <a:prstGeom prst="roundRect">
            <a:avLst>
              <a:gd name="adj" fmla="val 108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42" name=""/>
          <p:cNvSpPr/>
          <p:nvPr/>
        </p:nvSpPr>
        <p:spPr>
          <a:xfrm rot="0" flipH="0" flipV="0">
            <a:off x="762000" y="4438650"/>
            <a:ext cx="38100" cy="4191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952500" y="455295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剩余路径</a:t>
            </a:r>
            <a:endParaRPr/>
          </a:p>
        </p:txBody>
      </p:sp>
      <p:sp>
        <p:nvSpPr>
          <p:cNvPr id="944" name="" descr="{&quot;isTemplate&quot;:true,&quot;type&quot;:&quot;text&quot;}"/>
          <p:cNvSpPr txBox="1"/>
          <p:nvPr/>
        </p:nvSpPr>
        <p:spPr>
          <a:xfrm rot="0" flipH="0" flipV="0">
            <a:off x="2533650" y="4562475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尚未完成的部分</a:t>
            </a:r>
            <a:endParaRPr/>
          </a:p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4686300" y="4524375"/>
            <a:ext cx="6743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保留在移动预算内，等下一步继续消费</a:t>
            </a:r>
            <a:endParaRPr/>
          </a:p>
        </p:txBody>
      </p:sp>
      <p:sp>
        <p:nvSpPr>
          <p:cNvPr id="946" name=""/>
          <p:cNvSpPr/>
          <p:nvPr/>
        </p:nvSpPr>
        <p:spPr>
          <a:xfrm rot="0" flipH="0" flipV="0">
            <a:off x="609600" y="5095875"/>
            <a:ext cx="10972800" cy="704850"/>
          </a:xfrm>
          <a:prstGeom prst="roundRect">
            <a:avLst>
              <a:gd name="adj" fmla="val 1351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47" name=""/>
          <p:cNvSpPr/>
          <p:nvPr/>
        </p:nvSpPr>
        <p:spPr>
          <a:xfrm rot="0" flipH="0" flipV="0">
            <a:off x="819150" y="5229225"/>
            <a:ext cx="38100" cy="4381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948" name="" descr="{&quot;isTemplate&quot;:true,&quot;type&quot;:&quot;text&quot;}"/>
          <p:cNvSpPr txBox="1"/>
          <p:nvPr/>
        </p:nvSpPr>
        <p:spPr>
          <a:xfrm rot="0" flipH="0" flipV="0">
            <a:off x="1009650" y="5257800"/>
            <a:ext cx="293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正在「前往阅读室」可以成立</a:t>
            </a:r>
            <a:endParaRPr/>
          </a:p>
        </p:txBody>
      </p:sp>
      <p:sp>
        <p:nvSpPr>
          <p:cNvPr id="949" name="" descr="{&quot;isTemplate&quot;:true,&quot;type&quot;:&quot;text&quot;}"/>
          <p:cNvSpPr txBox="1"/>
          <p:nvPr/>
        </p:nvSpPr>
        <p:spPr>
          <a:xfrm rot="0" flipH="0" flipV="0">
            <a:off x="1009650" y="5476875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但未抵达时，不能把一次阅读活动当作已经发生。</a:t>
            </a:r>
            <a:endParaRPr/>
          </a:p>
        </p:txBody>
      </p:sp>
      <p:sp>
        <p:nvSpPr>
          <p:cNvPr id="95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95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29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42" name="" descr="&lt;Slide notes={`出了问题要定位代码，顺序是按数据流倒着走。&#10;&#10;先看能力服务对请求的校验。身份、可用能力、参数格式，在动作进入世界之前就在这里被拦下；如果这里没通过，后面什么都不会发生。&#10;&#10;再看世界提交怎样构造事实。实际消费了多少路径、提交了哪些字段、有没有把这次动作写进整步结果，都在这一层。&#10;&#10;最后看回放读取器如何限制已提交边界。它只应该读到提交为止，读不到的东西就不该出现在画面里。&#10;&#10;有一条必须守住：不要从页面文字反推一条不存在的底层事件。画面上写了什么，不代表底层真的提交过什么；找不到记录，就说找不到记录，不能替它编一个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4.2　从一条 MOVE 看完整链条&lt;/Text&gt;&#10;            &lt;Text style={{ fontSize: 34, fontWeight: 'bold', color: '#20344B' }}&gt;出现问题时先看哪三处&lt;/Text&gt;&#10;        &lt;/Box&gt;&#10;    &lt;/Box&gt;&#10;&#10;    &lt;Box style={{ height: 540, flexDirection: 'row', alignItems: 'center', gap: 20 }}&gt;&#10;&#10;        &lt;Box style={{ width: 380, flexDirection: 'column', justifyContent: 'center', gap: 14 }}&gt;&#10;            &lt;Text style={{ fontSize: 20, fontWeight: 'bold', color: '#20344B', lineHeight: 1.4 }}&gt;顺着数据流倒着找&lt;/Text&gt;&#10;            &lt;Box style={{ width: 64, height: 4, background: '#276FBF' }} /&gt;&#10;            &lt;Text style={{ fontSize: 15, color: '#546779', lineHeight: 1.7, width: 380 }}&gt;请求怎么被校验、事实怎么被构造、回放怎么限制边界——三处对上了，一条链就闭合了。&lt;/Text&gt;&#10;            &lt;Box style={{ background: '#FFF4E6', borderRadius: 10, padding: '14px 18px', flexDirection: 'row', alignItems: 'center', gap: 14 }}&gt;&#10;                &lt;Box style={{ width: 4, height: 56, background: '#CB6B28' }} /&gt;&#10;                &lt;Text style={{ fontSize: 14, color: '#CB6B28', lineHeight: 1.6, flex: 1 }}&gt;不要从页面文字反推一条不存在的底层事件。&lt;/Text&gt;&#10;            &lt;/Box&gt;&#10;        &lt;/Box&gt;&#10;&#10;        &lt;Box style={{ width: 752, flexDirection: 'column', justifyContent: 'center', gap: 14 }}&gt;&#10;&#10;            &lt;Box style={{ width: 752, height: 100, background: '#EDF4FC', borderRadius: 10, padding: '0 20px', flexDirection: 'row', alignItems: 'center', gap: 16 }}&gt;&#10;                &lt;Box style={{ width: 4, height: 56, background: '#276FBF' }} /&gt;&#10;                &lt;Box style={{ width: 196, flexDirection: 'column', gap: 3 }}&gt;&#10;                    &lt;Text style={{ fontSize: 15, fontWeight: 'bold', color: '#20344B' }}&gt;能力服务&lt;/Text&gt;&#10;                    &lt;Text style={{ fontSize: 13, color: '#546779' }}&gt;capabilities/server.py&lt;/Text&gt;&#10;                &lt;/Box&gt;&#10;                &lt;Text style={{ fontSize: 15, color: '#546779', lineHeight: 1.6, flex: 1 }}&gt;看它怎样校验请求：身份、可用能力与参数在进入世界之前就被拦下。&lt;/Text&gt;&#10;            &lt;/Box&gt;&#10;&#10;            &lt;Box style={{ width: 752, height: 100, background: '#EDF4FC', borderRadius: 10, padding: '0 20px', flexDirection: 'row', alignItems: 'center', gap: 16 }}&gt;&#10;                &lt;Box style={{ width: 4, height: 56, background: '#276FBF' }} /&gt;&#10;                &lt;Box style={{ width: 196, flexDirection: 'column', gap: 3 }}&gt;&#10;                    &lt;Text style={{ fontSize: 15, fontWeight: 'bold', color: '#20344B' }}&gt;世界提交&lt;/Text&gt;&#10;                    &lt;Text style={{ fontSize: 13, color: '#546779' }}&gt;engine/world.py&lt;/Text&gt;&#10;                &lt;/Box&gt;&#10;                &lt;Text style={{ fontSize: 15, color: '#546779', lineHeight: 1.6, flex: 1 }}&gt;看它怎样构造事实：实际消费了哪段路径、把哪些字段写进整步结果。&lt;/Text&gt;&#10;            &lt;/Box&gt;&#10;&#10;            &lt;Box style={{ width: 752, height: 100, background: '#ECF7F2', borderRadius: 10, padding: '0 20px', flexDirection: 'row', alignItems: 'center', gap: 16 }}&gt;&#10;                &lt;Box style={{ width: 4, height: 56, background: '#26816B' }} /&gt;&#10;                &lt;Box style={{ width: 196, flexDirection: 'column', gap: 3 }}&gt;&#10;                    &lt;Text style={{ fontSize: 15, fontWeight: 'bold', color: '#20344B' }}&gt;回放读取器&lt;/Text&gt;&#10;                    &lt;Text style={{ fontSize: 13, color: '#546779' }}&gt;ga_replay/reader.py&lt;/Text&gt;&#10;                &lt;/Box&gt;&#10;                &lt;Text style={{ fontSize: 15, color: '#546779', lineHeight: 1.6, flex: 1 }}&gt;看它如何限制已提交边界：只读到提交为止，读不到的不进画面。&lt;/Text&gt;&#10;            &lt;/Box&gt;&#10;&#10;            &lt;Box style={{ width: 752, height: 88, background: '#F4F7FA', borderRadius: 10, padding: '0 20px', flexDirection: 'row', alignItems: 'center', gap: 16 }}&gt;&#10;                &lt;Box style={{ width: 4, height: 52, background: '#546779' }} /&gt;&#10;                &lt;Text style={{ fontSize: 14, color: '#546779', lineHeight: 1.6, flex: 1 }}&gt;三处对上，才能说清楚「画面上这一步」究竟对应哪条已提交事实；对不上，就如实写对不上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10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3.14.2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从一条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MOVE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看完整链条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出现问题时先看哪三处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09600" y="2638425"/>
            <a:ext cx="36195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顺着数据流倒着找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09600" y="3095625"/>
            <a:ext cx="6096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09600" y="3267075"/>
            <a:ext cx="3619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请求怎么被校验、事实怎么被构造、回放怎么限制边界——三处对上了，一条链就闭合了。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09600" y="3990975"/>
            <a:ext cx="36195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781050" y="412432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952500" y="4267200"/>
            <a:ext cx="31051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不要从页面文字反推一条不存在的底层事件。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4419600" y="1666875"/>
            <a:ext cx="71628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4610100" y="187642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800600" y="1971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能力服务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800600" y="217170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capabilities/server.py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819900" y="2009775"/>
            <a:ext cx="4572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看它怎样校验请求：身份、可用能力与参数在进入世界之前就被拦下。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4419600" y="2752725"/>
            <a:ext cx="71628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4610100" y="296227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800600" y="305752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世界提交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800600" y="32575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engine/world.py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819900" y="3095625"/>
            <a:ext cx="4572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看它怎样构造事实：实际消费了哪段路径、把哪些字段写进整步结果。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4419600" y="3838575"/>
            <a:ext cx="7162800" cy="9525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4610100" y="4048125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800600" y="41433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回放读取器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4800600" y="434340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ga_replay/reader.py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819900" y="4181475"/>
            <a:ext cx="4572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看它如何限制已提交边界：只读到提交为止，读不到的不进画面。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4419600" y="4924425"/>
            <a:ext cx="716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4610100" y="5095875"/>
            <a:ext cx="38100" cy="4953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800600" y="5219700"/>
            <a:ext cx="65913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三处对上，才能说清楚「画面上这一步」究竟对应哪条已提交事实；对不上，就如实写对不上。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29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73" name="" descr="&lt;Slide notes={`单人移动是一条链，对象交互比它多一个阶段。&#10;&#10;林岚要咨询服务台，她提交的是 INTERACT。这个动作被接受之后，服务台并不会立刻出现在同一步里，它是在本步人物动作之后运行的：读取真实请求，产生自己的动作与回复。&#10;&#10;这些内容随整步事实一起提交，然后目标人物在下一轮才收到反馈。&#10;&#10;多出来的这个阶段，带来两个特别容易误判的地方：请求被接受，不等于状态已经提交；对象已经回复，不等于所有人都已经获知。&#10;&#10;恢复的时候，这两个中间态都不能丢——不能把已经投递的消息再发一次，也不能把还没投递的消息永久漏掉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三章　·　3.14　沿着一次行动理解架构，整理可交付的实验&lt;/Text&gt;&#10;    &lt;/Box&gt;&#10;&#10;    &lt;Box style={{ height: 540, flexDirection: 'column', justifyContent: 'center', gap: 20 }}&gt;&#10;&#10;        &lt;Text style={{ fontSize: 15, color: '#276FBF' }}&gt;③　　3.14.3　从一条咨询看跨步反馈&lt;/Text&gt;&#10;&#10;        &lt;Text style={{ fontSize: 56, fontWeight: 'bold', color: '#20344B', lineHeight: 1.15 }}&gt;对象交互，多一个阶段&lt;/Text&gt;&#10;&#10;        &lt;Box style={{ width: 72, height: 4, background: '#276FBF' }} /&gt;&#10;&#10;        &lt;Text style={{ fontSize: 18, color: '#546779', lineHeight: 1.7, width: 940 }}&gt;服务台在本步人物动作之后运行，回复随整步事实提交，目标人物下一轮才收到。&lt;/Text&gt;&#10;&#10;        &lt;Box style={{ flexDirection: 'row', alignItems: 'center', marginTop: 8 }}&gt;&#10;            &lt;Box style={{ width: 194, height: 68, background: '#EDF4FC', borderRadius: 10, justifyContent: 'center', alignItems: 'center' }}&gt;&#10;                &lt;Text style={{ fontSize: 16, color: '#276FBF' }}&gt;人物 INTERACT&lt;/Text&gt;&#10;            &lt;/Box&gt;&#10;            &lt;Box style={{ width: 44, height: 68, justifyContent: 'center', alignItems: 'center' }}&gt;&#10;                &lt;Text style={{ fontSize: 24, color: '#276FBF' }}&gt;›&lt;/Text&gt;&#10;            &lt;/Box&gt;&#10;            &lt;Box style={{ width: 194, height: 68, background: '#EDF4FC', borderRadius: 10, justifyContent: 'center', alignItems: 'center' }}&gt;&#10;                &lt;Text style={{ fontSize: 16, color: '#276FBF' }}&gt;世界执行&lt;/Text&gt;&#10;            &lt;/Box&gt;&#10;            &lt;Box style={{ width: 44, height: 68, justifyContent: 'center', alignItems: 'center' }}&gt;&#10;                &lt;Text style={{ fontSize: 24, color: '#276FBF' }}&gt;›&lt;/Text&gt;&#10;            &lt;/Box&gt;&#10;            &lt;Box style={{ width: 194, height: 68, background: '#FFF4E6', borderRadius: 10, justifyContent: 'center', alignItems: 'center' }}&gt;&#10;                &lt;Text style={{ fontSize: 16, color: '#CB6B28' }}&gt;对象回复&lt;/Text&gt;&#10;            &lt;/Box&gt;&#10;            &lt;Box style={{ width: 44, height: 68, justifyContent: 'center', alignItems: 'center' }}&gt;&#10;                &lt;Text style={{ fontSize: 24, color: '#276FBF' }}&gt;›&lt;/Text&gt;&#10;            &lt;/Box&gt;&#10;            &lt;Box style={{ width: 194, height: 68, background: '#EDF4FC', borderRadius: 10, justifyContent: 'center', alignItems: 'center' }}&gt;&#10;                &lt;Text style={{ fontSize: 16, color: '#276FBF' }}&gt;整步提交&lt;/Text&gt;&#10;            &lt;/Box&gt;&#10;            &lt;Box style={{ width: 44, height: 68, justifyContent: 'center', alignItems: 'center' }}&gt;&#10;                &lt;Text style={{ fontSize: 24, color: '#26816B' }}&gt;›&lt;/Text&gt;&#10;            &lt;/Box&gt;&#10;            &lt;Box style={{ width: 194, height: 68, background: '#ECF7F2', borderRadius: 10, justifyContent: 'center', alignItems: 'center' }}&gt;&#10;                &lt;Text style={{ fontSize: 16, color: '#26816B' }}&gt;下一轮反馈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11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389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第三章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3.14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沿着一次行动理解架构，整理可交付的实验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09600" y="23241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③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3.14.3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从一条咨询看跨步反馈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09600" y="26860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对象交互，多一个阶段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609600" y="36195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09600" y="3848100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服务台在本步人物动作之后运行，回复随整步事实提交，目标人物下一轮才收到。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609600" y="4467225"/>
            <a:ext cx="1847850" cy="647700"/>
          </a:xfrm>
          <a:prstGeom prst="roundRect">
            <a:avLst>
              <a:gd name="adj" fmla="val 1470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990600" y="4695825"/>
            <a:ext cx="1085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人物</a:t>
            </a: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 xml:space="preserve"> INTERACT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2628900" y="46577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2876550" y="4467225"/>
            <a:ext cx="1847850" cy="647700"/>
          </a:xfrm>
          <a:prstGeom prst="roundRect">
            <a:avLst>
              <a:gd name="adj" fmla="val 1470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3495675" y="46958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世界执行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895850" y="46577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5143500" y="4467225"/>
            <a:ext cx="1847850" cy="647700"/>
          </a:xfrm>
          <a:prstGeom prst="roundRect">
            <a:avLst>
              <a:gd name="adj" fmla="val 1470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762625" y="46958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对象回复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162800" y="46577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7410450" y="4467225"/>
            <a:ext cx="1847850" cy="647700"/>
          </a:xfrm>
          <a:prstGeom prst="roundRect">
            <a:avLst>
              <a:gd name="adj" fmla="val 1470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029575" y="46958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整步提交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429750" y="46577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9677400" y="4467225"/>
            <a:ext cx="1847850" cy="647700"/>
          </a:xfrm>
          <a:prstGeom prst="roundRect">
            <a:avLst>
              <a:gd name="adj" fmla="val 1470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0220325" y="4695825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下一轮反馈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29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97" name="" descr="&lt;Slide notes={`跟着一条请求走一遍，就能看清跨步反馈的几个交接点。&#10;&#10;人物这一轮经 MCP 接受之后执行 INTERACT。世界执行拿到真实的 request_id 和待处理的请求，把它交给对象。&#10;&#10;对象在自己的这一步里经 MCP 校验，产生自身的动作和 responses，交回世界。世界再用 StepResult 把请求、对象状态和回复一起提交。&#10;&#10;到这一步为止，事情只走到「已提交」。目标人物是在下一轮才收到这条反馈的，他依据实际收到的内容去判断、去更新记忆。&#10;&#10;所以有三句话要记住：请求被接受，不等于状态已提交；对象已回复，不等于所有人已获知；恢复的时候仍然要核对请求、状态和待投递回复，做到不重不漏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4.3　从一条咨询看跨步反馈&lt;/Text&gt;&#10;            &lt;Text style={{ fontSize: 34, fontWeight: 'bold', color: '#20344B' }}&gt;一条咨询跨过两个 Step&lt;/Text&gt;&#10;        &lt;/Box&gt;&#10;    &lt;/Box&gt;&#10;&#10;    &lt;Box style={{ height: 540, flexDirection: 'column', justifyContent: 'center', gap: 10 }}&gt;&#10;&#10;        &lt;Box style={{ height: 74, background: '#EDF4FC', borderRadius: 10, padding: '0 18px', flexDirection: 'row', alignItems: 'center', gap: 14 }}&gt;&#10;            &lt;Box style={{ width: 30, height: 30, background: '#276FBF', borderRadius: 15, justifyContent: 'center', alignItems: 'center' }}&gt;&#10;                &lt;Text style={{ fontSize: 14, fontWeight: 'bold', color: '#FFFFFF' }}&gt;1&lt;/Text&gt;&#10;            &lt;/Box&gt;&#10;            &lt;Box style={{ width: 200 }}&gt;&lt;Text style={{ fontSize: 16, fontWeight: 'bold', color: '#20344B' }}&gt;人物（Step k）&lt;/Text&gt;&lt;/Box&gt;&#10;            &lt;Box style={{ flex: 1 }}&gt;&lt;Text style={{ fontSize: 15, color: '#546779', lineHeight: 1.5 }}&gt;经 MCP 接受后执行 INTERACT，提出这次咨询&lt;/Text&gt;&lt;/Box&gt;&#10;            &lt;Box style={{ width: 170, alignItems: 'flex-end' }}&gt;&lt;Text style={{ fontSize: 13, color: '#276FBF' }}&gt;角色动作&lt;/Text&gt;&lt;/Box&gt;&#10;        &lt;/Box&gt;&#10;&#10;        &lt;Box style={{ height: 74, background: '#EDF4FC', borderRadius: 10, padding: '0 18px', flexDirection: 'row', alignItems: 'center', gap: 14 }}&gt;&#10;            &lt;Box style={{ width: 30, height: 30, background: '#276FBF', borderRadius: 15, justifyContent: 'center', alignItems: 'center' }}&gt;&#10;                &lt;Text style={{ fontSize: 14, fontWeight: 'bold', color: '#FFFFFF' }}&gt;2&lt;/Text&gt;&#10;            &lt;/Box&gt;&#10;            &lt;Box style={{ width: 200 }}&gt;&lt;Text style={{ fontSize: 16, fontWeight: 'bold', color: '#20344B' }}&gt;世界执行&lt;/Text&gt;&lt;/Box&gt;&#10;            &lt;Box style={{ flex: 1 }}&gt;&lt;Text style={{ fontSize: 15, color: '#546779', lineHeight: 1.5 }}&gt;把真实 request_id 与待处理请求交给对象&lt;/Text&gt;&lt;/Box&gt;&#10;            &lt;Box style={{ width: 170, alignItems: 'flex-end' }}&gt;&lt;Text style={{ fontSize: 13, color: '#276FBF' }}&gt;请求可定位&lt;/Text&gt;&lt;/Box&gt;&#10;        &lt;/Box&gt;&#10;&#10;        &lt;Box style={{ height: 74, background: '#FFF4E6', borderRadius: 10, padding: '0 18px', flexDirection: 'row', alignItems: 'center', gap: 14 }}&gt;&#10;            &lt;Box style={{ width: 30, height: 30, background: '#CB6B28', borderRadius: 15, justifyContent: 'center', alignItems: 'center' }}&gt;&#10;                &lt;Text style={{ fontSize: 14, fontWeight: 'bold', color: '#FFFFFF' }}&gt;3&lt;/Text&gt;&#10;            &lt;/Box&gt;&#10;            &lt;Box style={{ width: 200 }}&gt;&lt;Text style={{ fontSize: 16, fontWeight: 'bold', color: '#CB6B28' }}&gt;对象（Step k）&lt;/Text&gt;&lt;/Box&gt;&#10;            &lt;Box style={{ flex: 1 }}&gt;&lt;Text style={{ fontSize: 15, color: '#546779', lineHeight: 1.5 }}&gt;经 MCP 校验自身动作与 responses，交回世界&lt;/Text&gt;&lt;/Box&gt;&#10;            &lt;Box style={{ width: 170, alignItems: 'flex-end' }}&gt;&lt;Text style={{ fontSize: 13, color: '#CB6B28' }}&gt;本步之后运行&lt;/Text&gt;&lt;/Box&gt;&#10;        &lt;/Box&gt;&#10;&#10;        &lt;Box style={{ height: 74, background: '#EDF4FC', borderRadius: 10, padding: '0 18px', flexDirection: 'row', alignItems: 'center', gap: 14 }}&gt;&#10;            &lt;Box style={{ width: 30, height: 30, background: '#276FBF', borderRadius: 15, justifyContent: 'center', alignItems: 'center' }}&gt;&#10;                &lt;Text style={{ fontSize: 14, fontWeight: 'bold', color: '#FFFFFF' }}&gt;4&lt;/Text&gt;&#10;            &lt;/Box&gt;&#10;            &lt;Box style={{ width: 200 }}&gt;&lt;Text style={{ fontSize: 16, fontWeight: 'bold', color: '#20344B' }}&gt;整步持久提交&lt;/Text&gt;&lt;/Box&gt;&#10;            &lt;Box style={{ flex: 1 }}&gt;&lt;Text style={{ fontSize: 15, color: '#546779', lineHeight: 1.5 }}&gt;StepResult 写入请求、对象状态与回复&lt;/Text&gt;&lt;/Box&gt;&#10;            &lt;Box style={{ width: 170, alignItems: 'flex-end' }}&gt;&lt;Text style={{ fontSize: 13, color: '#276FBF' }}&gt;事实边界&lt;/Text&gt;&lt;/Box&gt;&#10;        &lt;/Box&gt;&#10;&#10;        &lt;Box style={{ height: 74, background: '#ECF7F2', borderRadius: 10, padding: '0 18px', flexDirection: 'row', alignItems: 'center', gap: 14 }}&gt;&#10;            &lt;Box style={{ width: 30, height: 30, background: '#26816B', borderRadius: 15, justifyContent: 'center', alignItems: 'center' }}&gt;&#10;                &lt;Text style={{ fontSize: 14, fontWeight: 'bold', color: '#FFFFFF' }}&gt;5&lt;/Text&gt;&#10;            &lt;/Box&gt;&#10;            &lt;Box style={{ width: 200 }}&gt;&lt;Text style={{ fontSize: 16, fontWeight: 'bold', color: '#26816B' }}&gt;目标（Step k+1）&lt;/Text&gt;&lt;/Box&gt;&#10;            &lt;Box style={{ flex: 1 }}&gt;&lt;Text style={{ fontSize: 15, color: '#546779', lineHeight: 1.5 }}&gt;依据实际收到的内容判断，并更新自己的记忆&lt;/Text&gt;&lt;/Box&gt;&#10;            &lt;Box style={{ width: 170, alignItems: 'flex-end' }}&gt;&lt;Text style={{ fontSize: 13, color: '#26816B' }}&gt;下一轮才收到&lt;/Text&gt;&lt;/Box&gt;&#10;        &lt;/Box&gt;&#10;&#10;        &lt;Box style={{ flexDirection: 'row', gap: 24, marginTop: 4 }}&gt;&#10;            &lt;Box style={{ width: 368, height: 62, background: '#FFF4E6', borderRadius: 8, padding: '0 16px', justifyContent: 'center' }}&gt;&#10;                &lt;Text style={{ fontSize: 14, color: '#CB6B28' }}&gt;请求被接受 ≠ 状态已提交&lt;/Text&gt;&#10;            &lt;/Box&gt;&#10;            &lt;Box style={{ width: 368, height: 62, background: '#FFF4E6', borderRadius: 8, padding: '0 16px', justifyContent: 'center' }}&gt;&#10;                &lt;Text style={{ fontSize: 14, color: '#CB6B28' }}&gt;对象已回复 ≠ 所有人已获知&lt;/Text&gt;&#10;            &lt;/Box&gt;&#10;            &lt;Box style={{ width: 368, height: 62, background: '#F4F7FA', borderRadius: 8, padding: '0 16px', justifyContent: 'center' }}&gt;&#10;                &lt;Text style={{ fontSize: 14, color: '#546779' }}&gt;恢复须核对请求、状态、待投递回复：不重不漏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12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409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3.14.3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从一条咨询看跨步反馈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409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一条咨询跨过两个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Step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09600" y="1400175"/>
            <a:ext cx="10972800" cy="704850"/>
          </a:xfrm>
          <a:prstGeom prst="roundRect">
            <a:avLst>
              <a:gd name="adj" fmla="val 135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781050" y="16097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85825" y="16764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200150" y="165735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人物（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Step k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3238500" y="1628775"/>
            <a:ext cx="64198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接受后执行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INTERACT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，提出这次咨询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0915650" y="16764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角色动作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09600" y="2200275"/>
            <a:ext cx="10972800" cy="704850"/>
          </a:xfrm>
          <a:prstGeom prst="roundRect">
            <a:avLst>
              <a:gd name="adj" fmla="val 135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781050" y="24098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85825" y="24765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200150" y="245745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世界执行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3238500" y="2428875"/>
            <a:ext cx="64198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把真实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request_id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与待处理请求交给对象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0791825" y="247650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请求可定位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609600" y="3000375"/>
            <a:ext cx="10972800" cy="704850"/>
          </a:xfrm>
          <a:prstGeom prst="roundRect">
            <a:avLst>
              <a:gd name="adj" fmla="val 1351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781050" y="32099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85825" y="32766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200150" y="325755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对象（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>Step k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3238500" y="3228975"/>
            <a:ext cx="64198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校验自身动作与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responses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，交回世界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0668000" y="327660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本步之后运行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09600" y="3800475"/>
            <a:ext cx="10972800" cy="704850"/>
          </a:xfrm>
          <a:prstGeom prst="roundRect">
            <a:avLst>
              <a:gd name="adj" fmla="val 135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781050" y="40100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85825" y="40767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200150" y="405765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整步持久提交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3238500" y="4029075"/>
            <a:ext cx="64198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StepResult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写入请求、对象状态与回复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0915650" y="40767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事实边界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609600" y="4600575"/>
            <a:ext cx="10972800" cy="704850"/>
          </a:xfrm>
          <a:prstGeom prst="roundRect">
            <a:avLst>
              <a:gd name="adj" fmla="val 1351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781050" y="48101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85825" y="48768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200150" y="485775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目标（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Step k+1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3238500" y="4829175"/>
            <a:ext cx="64198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依据实际收到的内容判断，并更新自己的记忆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0668000" y="487680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下一轮才收到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09600" y="5438775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62000" y="5657850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请求被接受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状态已提交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4343400" y="5438775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495800" y="5657850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对象已回复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所有人已获知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8077200" y="5438775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229600" y="5657850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恢复须核对请求、状态、待投递回复：不重不漏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29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40" name="" descr="&lt;Slide notes={`从「已经提出请求」到「别人真的知道了」，中间隔着三道门，一道都不能跳。&#10;&#10;第一道门是请求被接受。world-act 返回 accepted，只说明这次动作选择被系统接受了，还没有任何状态被写下来。&#10;&#10;第二道门是整步事实提交。请求、对象状态和回复一起通过 StepResult 落盘，到这一刻事情才算真正发生。&#10;&#10;第三道门是目标实际收到。反馈出现在下一轮的上下文里，人物据此判断、更新记忆，这才是获知。&#10;&#10;最容易犯的错误，是把「已提出更新请求」记成「全体来访者已经获知」。这一句话跨过了三道门里还没成立的两道。写交付材料的时候要说清楚：哪一道过了，哪一道没有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4.3　从一条咨询看跨步反馈&lt;/Text&gt;&#10;            &lt;Text style={{ fontSize: 34, fontWeight: 'bold', color: '#20344B' }}&gt;从请求到获知，隔着三道门&lt;/Text&gt;&#10;        &lt;/Box&gt;&#10;    &lt;/Box&gt;&#10;&#10;    &lt;Box style={{ height: 540, flexDirection: 'column', justifyContent: 'center', gap: 12 }}&gt;&#10;&#10;        &lt;Text style={{ fontSize: 15, color: '#546779' }}&gt;三道门依次成立，缺一道，后面的结论就还早。&lt;/Text&gt;&#10;&#10;        &lt;Box style={{ flexDirection: 'row', alignItems: 'center' }}&gt;&#10;            &lt;Box style={{ width: 132, height: 92, background: '#EDF4FC', borderRadius: 10, justifyContent: 'center', alignItems: 'center' }}&gt;&#10;                &lt;Text style={{ fontSize: 20, fontWeight: 'bold', color: '#276FBF' }}&gt;门 ①&lt;/Text&gt;&#10;            &lt;/Box&gt;&#10;            &lt;Box style={{ width: 20 }} /&gt;&#10;            &lt;Box style={{ flex: 1, height: 92, background: '#EDF4FC', borderRadius: 10, padding: '0 20px', flexDirection: 'row', alignItems: 'center', gap: 18 }}&gt;&#10;                &lt;Box style={{ width: 220 }}&gt;&lt;Text style={{ fontSize: 17, fontWeight: 'bold', color: '#20344B' }}&gt;请求被接受&lt;/Text&gt;&lt;/Box&gt;&#10;                &lt;Box style={{ flex: 1 }}&gt;&lt;Text style={{ fontSize: 15, color: '#546779', lineHeight: 1.6 }}&gt;world-act 返回 accepted：只说明动作选择被接受。&lt;/Text&gt;&lt;/Box&gt;&#10;                &lt;Box style={{ width: 180 }}&gt;&lt;Text style={{ fontSize: 14, color: '#276FBF' }}&gt;还没有状态被写下&lt;/Text&gt;&lt;/Box&gt;&#10;            &lt;/Box&gt;&#10;        &lt;/Box&gt;&#10;&#10;        &lt;Box style={{ flexDirection: 'row', alignItems: 'center' }}&gt;&#10;            &lt;Box style={{ width: 154, height: 92, background: '#EDF4FC', borderRadius: 10, justifyContent: 'center', alignItems: 'center' }}&gt;&#10;                &lt;Text style={{ fontSize: 20, fontWeight: 'bold', color: '#276FBF' }}&gt;门 ②&lt;/Text&gt;&#10;            &lt;/Box&gt;&#10;            &lt;Box style={{ width: 20 }} /&gt;&#10;            &lt;Box style={{ flex: 1, height: 92, background: '#EDF4FC', borderRadius: 10, padding: '0 20px', flexDirection: 'row', alignItems: 'center', gap: 18 }}&gt;&#10;                &lt;Box style={{ width: 220 }}&gt;&lt;Text style={{ fontSize: 17, fontWeight: 'bold', color: '#20344B' }}&gt;整步事实提交&lt;/Text&gt;&lt;/Box&gt;&#10;                &lt;Box style={{ flex: 1 }}&gt;&lt;Text style={{ fontSize: 15, color: '#546779', lineHeight: 1.6 }}&gt;请求、对象状态与回复一起通过 StepResult 落盘。&lt;/Text&gt;&lt;/Box&gt;&#10;                &lt;Box style={{ width: 180 }}&gt;&lt;Text style={{ fontSize: 14, color: '#276FBF' }}&gt;到这一刻才真正发生&lt;/Text&gt;&lt;/Box&gt;&#10;            &lt;/Box&gt;&#10;        &lt;/Box&gt;&#10;&#10;        &lt;Box style={{ flexDirection: 'row', alignItems: 'center' }}&gt;&#10;            &lt;Box style={{ width: 176, height: 92, background: '#ECF7F2', borderRadius: 10, justifyContent: 'center', alignItems: 'center' }}&gt;&#10;                &lt;Text style={{ fontSize: 20, fontWeight: 'bold', color: '#26816B' }}&gt;门 ③&lt;/Text&gt;&#10;            &lt;/Box&gt;&#10;            &lt;Box style={{ width: 20 }} /&gt;&#10;            &lt;Box style={{ flex: 1, height: 92, background: '#ECF7F2', borderRadius: 10, padding: '0 20px', flexDirection: 'row', alignItems: 'center', gap: 18 }}&gt;&#10;                &lt;Box style={{ width: 220 }}&gt;&lt;Text style={{ fontSize: 17, fontWeight: 'bold', color: '#20344B' }}&gt;目标实际收到&lt;/Text&gt;&lt;/Box&gt;&#10;                &lt;Box style={{ flex: 1 }}&gt;&lt;Text style={{ fontSize: 15, color: '#546779', lineHeight: 1.6 }}&gt;反馈出现在下一轮上下文，人物据此判断并更新记忆。&lt;/Text&gt;&lt;/Box&gt;&#10;                &lt;Box style={{ width: 180 }}&gt;&lt;Text style={{ fontSize: 14, color: '#26816B' }}&gt;这才是「已获知」&lt;/Text&gt;&lt;/Box&gt;&#10;            &lt;/Box&gt;&#10;        &lt;/Box&gt;&#10;&#10;        &lt;Box style={{ height: 92, background: '#FFF4E6', borderRadius: 10, padding: '0 22px', flexDirection: 'row', alignItems: 'center', gap: 16 }}&gt;&#10;            &lt;Box style={{ width: 4, height: 60, background: '#CB6B28' }} /&gt;&#10;            &lt;Box style={{ flexDirection: 'column', gap: 4 }}&gt;&#10;                &lt;Text style={{ fontSize: 16, fontWeight: 'bold', color: '#CB6B28' }}&gt;把「已提出更新请求」记成「全体来访者已经获知」&lt;/Text&gt;&#10;                &lt;Text style={{ fontSize: 14, color: '#546779' }}&gt;这一句话跨过了两道还没成立的门；报告里要说清哪一道过了、哪一道没有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13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3.14.3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从一条咨询看跨步反馈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从请求到获知，隔着三道门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09600" y="16478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三道门依次成立，缺一道，后面的结论就还早。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09600" y="1933575"/>
            <a:ext cx="12573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019175" y="2257425"/>
            <a:ext cx="438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门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①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2057400" y="1933575"/>
            <a:ext cx="95250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2247900" y="2276475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请求被接受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4514850" y="2238375"/>
            <a:ext cx="49911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world-act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返回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accepted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：只说明动作选择被接受。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9677400" y="229552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还没有状态被写下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09600" y="2924175"/>
            <a:ext cx="146685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23950" y="3248025"/>
            <a:ext cx="438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门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②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2266950" y="2924175"/>
            <a:ext cx="931545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2457450" y="3267075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整步事实提交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4724400" y="3228975"/>
            <a:ext cx="47815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请求、对象状态与回复一起通过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StepResult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落盘。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9677400" y="328612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到这一刻才真正发生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09600" y="3914775"/>
            <a:ext cx="167640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228725" y="4238625"/>
            <a:ext cx="438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门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③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2476500" y="3914775"/>
            <a:ext cx="910590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2667000" y="4257675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目标实际收到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933950" y="4219575"/>
            <a:ext cx="4572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反馈出现在下一轮上下文，人物据此判断并更新记忆。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9677400" y="427672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这才是「已获知」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09600" y="4905375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819150" y="5057775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009650" y="5153025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把「已提出更新请求」记成「全体来访者已经获知」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009650" y="538162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这一句话跨过了两道还没成立的门；报告里要说清哪一道过了、哪一道没有。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29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70" name="" descr="&lt;Slide notes={`恢复的时候，要检查的东西远不止人物坐标。&#10;&#10;第一是请求身份：这个 request_id 对应的到底是哪一次咨询，不能被当成另一次。&#10;&#10;第二是待投递回复：对象已经产生但目标还没收到的那些内容，必须还挂在待投递的位置上。&#10;&#10;第三是对象状态：公告栏这些对象走到哪一步了。&#10;&#10;第四是会话，第五是记忆进度——人物自己的记忆走到哪一轮。&#10;&#10;这五项一起核对，才能从一致的提交边界继续走下去。目标是既不重复投递，也不永久漏掉。&#10;&#10;还有一点特别重要：验证必须用同一个 Run、新的 Attempt 的真实记录，不能用一次新建 Run 的成功来代替。新 Run 成功，证明不了旧 Run 能恢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4.3　从一条咨询看跨步反馈&lt;/Text&gt;&#10;            &lt;Text style={{ fontSize: 34, fontWeight: 'bold', color: '#20344B' }}&gt;恢复要核对的不只是坐标&lt;/Text&gt;&#10;        &lt;/Box&gt;&#10;    &lt;/Box&gt;&#10;&#10;    &lt;Box style={{ height: 540, flexDirection: 'column', justifyContent: 'center', gap: 14 }}&gt;&#10;&#10;        &lt;Text style={{ fontSize: 15, color: '#546779' }}&gt;五项一起看，才能从一致的提交边界继续。&lt;/Text&gt;&#10;&#10;        &lt;Box style={{ flexDirection: 'row', gap: 18 }}&gt;&#10;            &lt;Box style={{ width: 216, height: 96, background: '#EDF4FC', borderRadius: 10, justifyContent: 'center', alignItems: 'center' }}&gt;&#10;                &lt;Text style={{ fontSize: 17, fontWeight: 'bold', color: '#276FBF' }}&gt;请求身份&lt;/Text&gt;&#10;                &lt;Text style={{ fontSize: 13, color: '#546779' }}&gt;是哪一次咨询&lt;/Text&gt;&#10;            &lt;/Box&gt;&#10;            &lt;Box style={{ width: 216, height: 96, background: '#EDF4FC', borderRadius: 10, justifyContent: 'center', alignItems: 'center' }}&gt;&#10;                &lt;Text style={{ fontSize: 17, fontWeight: 'bold', color: '#276FBF' }}&gt;待投递回复&lt;/Text&gt;&#10;                &lt;Text style={{ fontSize: 13, color: '#546779' }}&gt;回复了但还没送到&lt;/Text&gt;&#10;            &lt;/Box&gt;&#10;            &lt;Box style={{ width: 216, height: 96, background: '#EDF4FC', borderRadius: 10, justifyContent: 'center', alignItems: 'center' }}&gt;&#10;                &lt;Text style={{ fontSize: 17, fontWeight: 'bold', color: '#276FBF' }}&gt;对象状态&lt;/Text&gt;&#10;                &lt;Text style={{ fontSize: 13, color: '#546779' }}&gt;公告栏走到哪一步&lt;/Text&gt;&#10;            &lt;/Box&gt;&#10;            &lt;Box style={{ width: 216, height: 96, background: '#EDF4FC', borderRadius: 10, justifyContent: 'center', alignItems: 'center' }}&gt;&#10;                &lt;Text style={{ fontSize: 17, fontWeight: 'bold', color: '#276FBF' }}&gt;会话&lt;/Text&gt;&#10;                &lt;Text style={{ fontSize: 13, color: '#546779' }}&gt;会话内容与轮次&lt;/Text&gt;&#10;            &lt;/Box&gt;&#10;            &lt;Box style={{ width: 216, height: 96, background: '#EDF4FC', borderRadius: 10, justifyContent: 'center', alignItems: 'center' }}&gt;&#10;                &lt;Text style={{ fontSize: 17, fontWeight: 'bold', color: '#276FBF' }}&gt;记忆进度&lt;/Text&gt;&#10;                &lt;Text style={{ fontSize: 13, color: '#546779' }}&gt;人物记忆到哪一轮&lt;/Text&gt;&#10;            &lt;/Box&gt;&#10;        &lt;/Box&gt;&#10;&#10;        &lt;Box style={{ flexDirection: 'row', gap: 24 }}&gt;&#10;            &lt;Box style={{ width: 564, height: 196, background: '#ECF7F2', borderRadius: 10, padding: '0 22px', flexDirection: 'column', gap: 8, justifyContent: 'center' }}&gt;&#10;                &lt;Text style={{ fontSize: 18, fontWeight: 'bold', color: '#26816B' }}&gt;从一致的提交边界继续&lt;/Text&gt;&#10;                &lt;Text style={{ fontSize: 15, color: '#546779', lineHeight: 1.7 }}&gt;不能把已交付的消息再发一次，也不能把未交付的消息永久漏掉。恢复的目标是「不重不漏」。&lt;/Text&gt;&#10;            &lt;/Box&gt;&#10;            &lt;Box style={{ width: 564, height: 196, background: '#FFF4E6', borderRadius: 10, padding: '0 22px', flexDirection: 'column', gap: 8, justifyContent: 'center' }}&gt;&#10;                &lt;Text style={{ fontSize: 18, fontWeight: 'bold', color: '#CB6B28' }}&gt;用什么记录来验证&lt;/Text&gt;&#10;                &lt;Text style={{ fontSize: 15, color: '#546779', lineHeight: 1.7 }}&gt;必须是同一个 Run、新的一次 Attempt 的真实记录。一次新建 Run 的成功，替代不了旧运行能恢复。&lt;/Text&gt;&#10;            &lt;/Box&gt;&#10;        &lt;/Box&gt;&#10;&#10;        &lt;Box style={{ height: 72, background: '#F4F7FA', borderRadius: 10, padding: '0 22px', flexDirection: 'row', alignItems: 'center', gap: 16 }}&gt;&#10;            &lt;Box style={{ width: 4, height: 46, background: '#546779' }} /&gt;&#10;            &lt;Text style={{ fontSize: 15, color: '#546779', lineHeight: 1.6, flex: 1 }}&gt;只比较人物坐标是不够的；请求、待投递回复、对象状态、会话与记忆进度都要对得上。&lt;/Text&gt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14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3.14.3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从一条咨询看跨步反馈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恢复要核对的不只是坐标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09600" y="16954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五项一起看，才能从一致的提交边界继续。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609600" y="2000250"/>
            <a:ext cx="20574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314450" y="22860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请求身份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266825" y="248602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是哪一次咨询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2838450" y="2000250"/>
            <a:ext cx="20574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3467100" y="228600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待投递回复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3371850" y="248602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回复了但还没送到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5067300" y="2000250"/>
            <a:ext cx="20574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772150" y="22860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对象状态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5600700" y="248602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公告栏走到哪一步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7296150" y="2000250"/>
            <a:ext cx="20574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162925" y="22860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会话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896225" y="248602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会话内容与轮次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9525000" y="2000250"/>
            <a:ext cx="20574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0229850" y="22860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记忆进度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0058400" y="248602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人物记忆到哪一轮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609600" y="3048000"/>
            <a:ext cx="5372100" cy="1866900"/>
          </a:xfrm>
          <a:prstGeom prst="roundRect">
            <a:avLst>
              <a:gd name="adj" fmla="val 510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19150" y="3543300"/>
            <a:ext cx="495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从一致的提交边界继续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19150" y="3829050"/>
            <a:ext cx="4953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不能把已交付的消息再发一次，也不能把未交付的消息永久漏掉。恢复的目标是「不重不漏」。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210300" y="3048000"/>
            <a:ext cx="5372100" cy="1866900"/>
          </a:xfrm>
          <a:prstGeom prst="roundRect">
            <a:avLst>
              <a:gd name="adj" fmla="val 510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419850" y="3543300"/>
            <a:ext cx="495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用什么记录来验证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419850" y="3829050"/>
            <a:ext cx="4953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必须是同一个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、新的一次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的真实记录。一次新建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的成功，替代不了旧运行能恢复。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09600" y="504825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819150" y="5172075"/>
            <a:ext cx="38100" cy="43815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009650" y="5257800"/>
            <a:ext cx="103632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只比较人物坐标是不够的；请求、待投递回复、对象状态、会话与记忆进度都要对得上。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29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02" name="" descr="&lt;Slide notes={`接下来划一条特别重要的边界：什么可以变，什么不能变。&#10;&#10;Brain 和 Skill 决定的是方法。何时感知、何时咨询、何时比较方案、怎样使用证据、怎样选择动作、什么时候等待或者结束本轮——这些都是方法的自由。&#10;&#10;ReAct、反思、排程，都可以作为一种做法，但它们不必成为所有角色必走的系统流水线。&#10;&#10;而身份、可用能力、动作校验、提交与恢复这些公共条件，由内核保证。方法框到内核框的那条实线，必须经过身份与能力校验；换一个 Brain，不会多出一条绕过这个入口的通道。&#10;&#10;改变 SOP 可以改变角色怎么决策，但不能伪造别人的身份、读取他人私有记忆，也不能在同一 Step 提交第二个动作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三章　·　3.14　沿着一次行动理解架构，整理可交付的实验&lt;/Text&gt;&#10;    &lt;/Box&gt;&#10;&#10;    &lt;Box style={{ height: 540, flexDirection: 'column', justifyContent: 'center', gap: 20 }}&gt;&#10;&#10;        &lt;Text style={{ fontSize: 15, color: '#276FBF' }}&gt;④　　3.14.4　Brain 决定做法，内核守住事实边界&lt;/Text&gt;&#10;&#10;        &lt;Text style={{ fontSize: 56, fontWeight: 'bold', color: '#20344B', lineHeight: 1.15 }}&gt;方法可变，边界不变&lt;/Text&gt;&#10;&#10;        &lt;Box style={{ width: 72, height: 4, background: '#276FBF' }} /&gt;&#10;&#10;        &lt;Text style={{ fontSize: 18, color: '#546779', lineHeight: 1.7, width: 940 }}&gt;换 Brain、换 Skill 都可以；入口只有一处——身份与能力校验，换谁都不新增绕过通道。&lt;/Text&gt;&#10;&#10;        &lt;Box style={{ flexDirection: 'row', alignItems: 'center', marginTop: 8 }}&gt;&#10;            &lt;Box style={{ width: 255, height: 68, background: '#EDF4FC', borderRadius: 10, justifyContent: 'center', alignItems: 'center' }}&gt;&#10;                &lt;Text style={{ fontSize: 17, color: '#276FBF' }}&gt;方法&lt;/Text&gt;&#10;            &lt;/Box&gt;&#10;            &lt;Box style={{ width: 44, height: 68, justifyContent: 'center', alignItems: 'center' }}&gt;&#10;                &lt;Text style={{ fontSize: 24, color: '#276FBF' }}&gt;›&lt;/Text&gt;&#10;            &lt;/Box&gt;&#10;            &lt;Box style={{ width: 255, height: 68, background: '#FFF4E6', borderRadius: 10, justifyContent: 'center', alignItems: 'center' }}&gt;&#10;                &lt;Text style={{ fontSize: 17, color: '#CB6B28' }}&gt;身份与能力校验&lt;/Text&gt;&#10;            &lt;/Box&gt;&#10;            &lt;Box style={{ width: 44, height: 68, justifyContent: 'center', alignItems: 'center' }}&gt;&#10;                &lt;Text style={{ fontSize: 24, color: '#276FBF' }}&gt;›&lt;/Text&gt;&#10;            &lt;/Box&gt;&#10;            &lt;Box style={{ width: 255, height: 68, background: '#EDF4FC', borderRadius: 10, justifyContent: 'center', alignItems: 'center' }}&gt;&#10;                &lt;Text style={{ fontSize: 17, color: '#276FBF' }}&gt;世界提交与恢复&lt;/Text&gt;&#10;            &lt;/Box&gt;&#10;            &lt;Box style={{ width: 44, height: 68, justifyContent: 'center', alignItems: 'center' }}&gt;&#10;                &lt;Text style={{ fontSize: 24, color: '#26816B' }}&gt;›&lt;/Text&gt;&#10;            &lt;/Box&gt;&#10;            &lt;Box style={{ width: 255, height: 68, background: '#ECF7F2', borderRadius: 10, justifyContent: 'center', alignItems: 'center' }}&gt;&#10;                &lt;Text style={{ fontSize: 17, color: '#26816B' }}&gt;已提交事实可回放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15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389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第三章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3.14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沿着一次行动理解架构，整理可交付的实验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09600" y="23241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④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3.14.4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决定做法，内核守住事实边界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09600" y="26860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方法可变，边界不变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609600" y="36195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09600" y="3848100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换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、换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都可以；入口只有一处——身份与能力校验，换谁都不新增绕过通道。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609600" y="4467225"/>
            <a:ext cx="2428875" cy="647700"/>
          </a:xfrm>
          <a:prstGeom prst="roundRect">
            <a:avLst>
              <a:gd name="adj" fmla="val 1470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666875" y="469582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方法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3209925" y="46577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3457575" y="4467225"/>
            <a:ext cx="2428875" cy="647700"/>
          </a:xfrm>
          <a:prstGeom prst="roundRect">
            <a:avLst>
              <a:gd name="adj" fmla="val 1470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105275" y="4695825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B6B28"/>
                </a:solidFill>
                <a:latin typeface="Microsoft YaHei"/>
                <a:ea typeface="Microsoft YaHei"/>
              </a:rPr>
              <a:t>身份与能力校验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057900" y="46577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6305550" y="4467225"/>
            <a:ext cx="2428875" cy="647700"/>
          </a:xfrm>
          <a:prstGeom prst="roundRect">
            <a:avLst>
              <a:gd name="adj" fmla="val 1470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953250" y="4695825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世界提交与恢复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905875" y="46577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9153525" y="4467225"/>
            <a:ext cx="2428875" cy="647700"/>
          </a:xfrm>
          <a:prstGeom prst="roundRect">
            <a:avLst>
              <a:gd name="adj" fmla="val 1470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9725025" y="469582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已提交事实可回放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29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23" name="" descr="&lt;Slide notes={`把这张图当成一句话来记：左边可以换，右边不能换，中间的入口只有一条。&#10;&#10;左边是方法。什么时候感知、什么时候咨询、什么时候去比较方案，怎样使用证据、怎样选择动作，什么时候等待或者结束本轮——本章的 Brain 就是这样决定的。&#10;&#10;其他实验完全可以采用不同做法：更谨慎地问询、更主动地探索，或者在任务简单的时候直接行动。ReAct、反思与排程都可以作为方法，但它们不需要成为所有角色必须走的系统流水线。&#10;&#10;右边是内核：身份与能力校验、世界提交与时间恢复、已提交事实可回放。&#10;&#10;中间的实线必须经过身份与能力校验。这意味着换掉 Brain 不会新增一条绕过入口的通道，也不会让谁凭空多出权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4.4　Brain 决定做法，内核守住事实边界&lt;/Text&gt;&#10;            &lt;Text style={{ fontSize: 34, fontWeight: 'bold', color: '#20344B' }}&gt;方法可变，内核守住事实边界&lt;/Text&gt;&#10;        &lt;/Box&gt;&#10;    &lt;/Box&gt;&#10;&#10;    &lt;Box style={{ height: 540, flexDirection: 'column', justifyContent: 'center', gap: 16 }}&gt;&#10;&#10;        &lt;Box style={{ flexDirection: 'row', alignItems: 'center' }}&gt;&#10;&#10;            &lt;Box style={{ width: 520, height: 356, background: '#EDF4FC', borderRadius: 12, padding: '20px 22px', flexDirection: 'column', gap: 12 }}&gt;&#10;                &lt;Text style={{ fontSize: 22, fontWeight: 'bold', color: '#276FBF' }}&gt;Brain / Skill 决定方法&lt;/Text&gt;&#10;                &lt;Box style={{ height: 1, background: '#B5C7D8' }} /&gt;&#10;                &lt;Box style={{ flexDirection: 'row', alignItems: 'center', gap: 12 }}&gt;&#10;                    &lt;Box style={{ width: 26, height: 26, background: '#276FBF', borderRadius: 13, justifyContent: 'center', alignItems: 'center' }}&gt;&#10;                        &lt;Text style={{ fontSize: 13, fontWeight: 'bold', color: '#FFFFFF' }}&gt;1&lt;/Text&gt;&#10;                    &lt;/Box&gt;&#10;                    &lt;Text style={{ fontSize: 15, color: '#20344B', flex: 1 }}&gt;何时感知、咨询、比较&lt;/Text&gt;&#10;                &lt;/Box&gt;&#10;                &lt;Box style={{ flexDirection: 'row', alignItems: 'center', gap: 12 }}&gt;&#10;                    &lt;Box style={{ width: 26, height: 26, background: '#276FBF', borderRadius: 13, justifyContent: 'center', alignItems: 'center' }}&gt;&#10;                        &lt;Text style={{ fontSize: 13, fontWeight: 'bold', color: '#FFFFFF' }}&gt;2&lt;/Text&gt;&#10;                    &lt;/Box&gt;&#10;                    &lt;Text style={{ fontSize: 15, color: '#20344B', flex: 1 }}&gt;怎样使用证据与选择动作&lt;/Text&gt;&#10;                &lt;/Box&gt;&#10;                &lt;Box style={{ flexDirection: 'row', alignItems: 'center', gap: 12 }}&gt;&#10;                    &lt;Box style={{ width: 26, height: 26, background: '#276FBF', borderRadius: 13, justifyContent: 'center', alignItems: 'center' }}&gt;&#10;                        &lt;Text style={{ fontSize: 13, fontWeight: 'bold', color: '#FFFFFF' }}&gt;3&lt;/Text&gt;&#10;                    &lt;/Box&gt;&#10;                    &lt;Text style={{ fontSize: 15, color: '#20344B', flex: 1 }}&gt;何时等待或结束本轮&lt;/Text&gt;&#10;                &lt;/Box&gt;&#10;                &lt;Box style={{ height: 62, background: '#FFFFFF', borderRadius: 8, padding: '0 16px', justifyContent: 'center' }}&gt;&#10;                    &lt;Text style={{ fontSize: 14, color: '#546779' }}&gt;ReAct / 反思 / 排程 都是可选方法，不是人人必走的内核流水线&lt;/Text&gt;&#10;                &lt;/Box&gt;&#10;            &lt;/Box&gt;&#10;&#10;            &lt;Box style={{ width: 112, flexDirection: 'column', justifyContent: 'center', alignItems: 'center', gap: 8 }}&gt;&#10;                &lt;Text style={{ fontSize: 13, color: '#546779', textAlign: 'center' }}&gt;通过公开能力提出请求&lt;/Text&gt;&#10;                &lt;Text style={{ fontSize: 26, color: '#276FBF' }}&gt;›&lt;/Text&gt;&#10;                &lt;Text style={{ fontSize: 12, color: '#CB6B28', textAlign: 'center' }}&gt;必经此处&lt;/Text&gt;&#10;            &lt;/Box&gt;&#10;&#10;            &lt;Box style={{ width: 520, height: 356, background: '#ECF7F2', borderRadius: 12, padding: '20px 22px', flexDirection: 'column', gap: 12 }}&gt;&#10;                &lt;Text style={{ fontSize: 22, fontWeight: 'bold', color: '#26816B' }}&gt;内核守住公共边界&lt;/Text&gt;&#10;                &lt;Box style={{ height: 1, background: '#B5C7D8' }} /&gt;&#10;                &lt;Box style={{ flexDirection: 'row', alignItems: 'center', gap: 12 }}&gt;&#10;                    &lt;Box style={{ width: 26, height: 26, background: '#26816B', borderRadius: 13, justifyContent: 'center', alignItems: 'center' }}&gt;&#10;                        &lt;Text style={{ fontSize: 13, fontWeight: 'bold', color: '#FFFFFF' }}&gt;1&lt;/Text&gt;&#10;                    &lt;/Box&gt;&#10;                    &lt;Text style={{ fontSize: 15, color: '#20344B', flex: 1 }}&gt;身份与能力校验&lt;/Text&gt;&#10;                &lt;/Box&gt;&#10;                &lt;Box style={{ flexDirection: 'row', alignItems: 'center', gap: 12 }}&gt;&#10;                    &lt;Box style={{ width: 26, height: 26, background: '#26816B', borderRadius: 13, justifyContent: 'center', alignItems: 'center' }}&gt;&#10;                        &lt;Text style={{ fontSize: 13, fontWeight: 'bold', color: '#FFFFFF' }}&gt;2&lt;/Text&gt;&#10;                    &lt;/Box&gt;&#10;                    &lt;Text style={{ fontSize: 15, color: '#20344B', flex: 1 }}&gt;世界提交、时间与恢复&lt;/Text&gt;&#10;                &lt;/Box&gt;&#10;                &lt;Box style={{ flexDirection: 'row', alignItems: 'center', gap: 12 }}&gt;&#10;                    &lt;Box style={{ width: 26, height: 26, background: '#26816B', borderRadius: 13, justifyContent: 'center', alignItems: 'center' }}&gt;&#10;                        &lt;Text style={{ fontSize: 13, fontWeight: 'bold', color: '#FFFFFF' }}&gt;3&lt;/Text&gt;&#10;                    &lt;/Box&gt;&#10;                    &lt;Text style={{ fontSize: 15, color: '#20344B', flex: 1 }}&gt;已提交事实可回放&lt;/Text&gt;&#10;                &lt;/Box&gt;&#10;                &lt;Box style={{ height: 62, background: '#FFFFFF', borderRadius: 8, padding: '0 16px', justifyContent: 'center' }}&gt;&#10;                    &lt;Text style={{ fontSize: 14, color: '#546779' }}&gt;换 Brain 不新增绕过入口的通道；同一 Step 不能提交第二个动作&lt;/Text&gt;&#10;                &lt;/Box&gt;&#10;            &lt;/Box&gt;&#10;&#10;        &lt;/Box&gt;&#10;&#10;        &lt;Box style={{ height: 84, background: '#FFF4E6', borderRadius: 10, padding: '0 22px', flexDirection: 'row', alignItems: 'center', gap: 16 }}&gt;&#10;            &lt;Box style={{ width: 4, height: 54, background: '#CB6B28' }} /&gt;&#10;            &lt;Box style={{ flexDirection: 'column', gap: 4, flex: 1 }}&gt;&#10;                &lt;Text style={{ fontSize: 16, fontWeight: 'bold', color: '#CB6B28' }}&gt;方法变化不绕过身份、权限或提交&lt;/Text&gt;&#10;                &lt;Text style={{ fontSize: 14, color: '#546779' }}&gt;也不把任何一种方法固化成全体角色必须执行的内核流水线。&lt;/Text&gt;&#10;            &lt;/Box&gt;&#10;            &lt;Text style={{ fontSize: 13, color: '#546779', width: 300, lineHeight: 1.6 }}&gt;作者再依据真实事实整理交付材料：精确输入、真实记录、评价规则与未验收边界。&lt;/Text&gt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16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3.14.4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决定做法，内核守住事实边界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方法可变，内核守住事实边界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09600" y="1543050"/>
            <a:ext cx="4953000" cy="3390900"/>
          </a:xfrm>
          <a:prstGeom prst="roundRect">
            <a:avLst>
              <a:gd name="adj" fmla="val 337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19150" y="1733550"/>
            <a:ext cx="4533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Brain / Skill </a:t>
            </a: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决定方法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819150" y="2105025"/>
            <a:ext cx="45339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819150" y="22288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904875" y="22764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181100" y="2266950"/>
            <a:ext cx="4171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何时感知、咨询、比较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819150" y="25908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904875" y="263842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181100" y="2628900"/>
            <a:ext cx="4171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怎样使用证据与选择动作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819150" y="29527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904875" y="30003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181100" y="2990850"/>
            <a:ext cx="4171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何时等待或结束本轮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819150" y="3314700"/>
            <a:ext cx="45339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971550" y="3533775"/>
            <a:ext cx="422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ReAct /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反思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排程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都是可选方法，不是人人必走的内核流水线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5562600" y="2790825"/>
            <a:ext cx="1066800" cy="3048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通过公开能力提出请求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057900" y="3171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5867400" y="3552825"/>
            <a:ext cx="457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CB6B28"/>
                </a:solidFill>
                <a:latin typeface="Microsoft YaHei"/>
                <a:ea typeface="Microsoft YaHei"/>
              </a:rPr>
              <a:t>必经此处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6629400" y="1543050"/>
            <a:ext cx="4953000" cy="3390900"/>
          </a:xfrm>
          <a:prstGeom prst="roundRect">
            <a:avLst>
              <a:gd name="adj" fmla="val 337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838950" y="1733550"/>
            <a:ext cx="4533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内核守住公共边界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6838950" y="2105025"/>
            <a:ext cx="45339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6838950" y="22288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924675" y="22764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200900" y="2266950"/>
            <a:ext cx="4171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身份与能力校验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6838950" y="25908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924675" y="263842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200900" y="2628900"/>
            <a:ext cx="4171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世界提交、时间与恢复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6838950" y="29527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924675" y="30003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200900" y="2990850"/>
            <a:ext cx="4171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已提交事实可回放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6838950" y="3314700"/>
            <a:ext cx="45339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991350" y="3533775"/>
            <a:ext cx="422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换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不新增绕过入口的通道；同一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不能提交第二个动作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609600" y="508635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819150" y="5229225"/>
            <a:ext cx="38100" cy="5143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009650" y="5295900"/>
            <a:ext cx="7353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方法变化不绕过身份、权限或提交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009650" y="5524500"/>
            <a:ext cx="7353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也不把任何一种方法固化成全体角色必须执行的内核流水线。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8515350" y="5248275"/>
            <a:ext cx="28575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作者再依据真实事实整理交付材料：精确输入、真实记录、评价规则与未验收边界。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29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66" name="" descr="&lt;Slide notes={`接着要提醒一件事：不要把行为约定夸大成底层保证。&#10;&#10;例如本章要求「对实际可见的人说话」。这个要求要成立，得结合感知记录和当前实现一起检查：感知里到底有没有这个人、距离和视野条件满不满足。不能只凭一句约定就认为它自动成立。&#10;&#10;再比如，角色资料里写着「我是组织者」。这句话不会让它自动获得新的内核权限。身份写着什么，和系统允许它做什么，是两件事。&#10;&#10;还有一处也要分开说：Skill 的业务规则，和能力服务的权限规则，需要分别说明。业务规则管「该怎么做」，权限规则管「能不能做」；把两者混在一起讲，验收的时候就会说不清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4.4　Brain 决定做法，内核守住事实边界&lt;/Text&gt;&#10;            &lt;Text style={{ fontSize: 34, fontWeight: 'bold', color: '#20344B' }}&gt;不要夸大成底层保证&lt;/Text&gt;&#10;        &lt;/Box&gt;&#10;    &lt;/Box&gt;&#10;&#10;    &lt;Box style={{ height: 540, flexDirection: 'row', alignItems: 'center', gap: 20 }}&gt;&#10;&#10;        &lt;Box style={{ width: 484, flexDirection: 'column', justifyContent: 'center', gap: 14 }}&gt;&#10;            &lt;Text style={{ fontSize: 20, fontWeight: 'bold', color: '#20344B', lineHeight: 1.4 }}&gt;约定的归约定，{'\n'}保证的归保证&lt;/Text&gt;&#10;            &lt;Box style={{ width: 64, height: 4, background: '#276FBF' }} /&gt;&#10;            &lt;Text style={{ fontSize: 15, color: '#546779', lineHeight: 1.7, width: 484 }}&gt;角色资料、SOP、Skill 文本里写下的要求，属于行为约定；它们要变成结论，必须在真实记录里找到对应的事实。&lt;/Text&gt;&#10;            &lt;Box style={{ background: '#F7F3E8', borderRadius: 10, padding: '14px 18px', flexDirection: 'column', gap: 4 }}&gt;&#10;                &lt;Text style={{ fontSize: 15, fontWeight: 'bold', color: '#20344B' }}&gt;两种规则要分开写&lt;/Text&gt;&#10;                &lt;Text style={{ fontSize: 14, color: '#546779', lineHeight: 1.6 }}&gt;Skill 的业务规则管「该怎么做」；能力服务的权限规则管「能不能做」。&lt;/Text&gt;&#10;            &lt;/Box&gt;&#10;        &lt;/Box&gt;&#10;&#10;        &lt;Box style={{ width: 648, flexDirection: 'column', justifyContent: 'center', gap: 14 }}&gt;&#10;&#10;            &lt;Box style={{ width: 648, height: 116, background: '#EDF4FC', borderRadius: 10, padding: '0 20px', flexDirection: 'row', alignItems: 'center', gap: 16 }}&gt;&#10;                &lt;Box style={{ width: 4, height: 68, background: '#276FBF' }} /&gt;&#10;                &lt;Box style={{ width: 200 }}&gt;&lt;Text style={{ fontSize: 15, fontWeight: 'bold', color: '#20344B', lineHeight: 1.5 }}&gt;要求「对实际可见的人说话」&lt;/Text&gt;&lt;/Box&gt;&#10;                &lt;Text style={{ fontSize: 14, color: '#546779', lineHeight: 1.6, flex: 1 }}&gt;要结合感知记录与当前实现检查：这个人是否真的出现在感知里。&lt;/Text&gt;&#10;            &lt;/Box&gt;&#10;&#10;            &lt;Box style={{ width: 648, height: 116, background: '#FFF4E6', borderRadius: 10, padding: '0 20px', flexDirection: 'row', alignItems: 'center', gap: 16 }}&gt;&#10;                &lt;Box style={{ width: 4, height: 68, background: '#CB6B28' }} /&gt;&#10;                &lt;Box style={{ width: 200 }}&gt;&lt;Text style={{ fontSize: 15, fontWeight: 'bold', color: '#CB6B28', lineHeight: 1.5 }}&gt;写着「我是组织者」&lt;/Text&gt;&lt;/Box&gt;&#10;                &lt;Text style={{ fontSize: 14, color: '#546779', lineHeight: 1.6, flex: 1 }}&gt;不会自动获得新的内核权限；身份写着什么与系统允许做什么是两件事。&lt;/Text&gt;&#10;            &lt;/Box&gt;&#10;&#10;            &lt;Box style={{ width: 648, height: 116, background: '#ECF7F2', borderRadius: 10, padding: '0 20px', flexDirection: 'row', alignItems: 'center', gap: 16 }}&gt;&#10;                &lt;Box style={{ width: 4, height: 68, background: '#26816B' }} /&gt;&#10;                &lt;Box style={{ width: 200 }}&gt;&lt;Text style={{ fontSize: 15, fontWeight: 'bold', color: '#26816B', lineHeight: 1.5 }}&gt;Skill 的业务规则&lt;/Text&gt;&lt;/Box&gt;&#10;                &lt;Text style={{ fontSize: 14, color: '#546779', lineHeight: 1.6, flex: 1 }}&gt;与能力服务的权限规则需要分别说明，验收时才说得清哪一条成立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17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3.14.4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决定做法，内核守住事实边界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不要夸大成底层保证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09600" y="2381250"/>
            <a:ext cx="4610100" cy="6477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约定的归约定，</a:t>
            </a:r>
            <a:endParaRPr/>
          </a:p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保证的归保证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09600" y="3162300"/>
            <a:ext cx="6096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09600" y="3333750"/>
            <a:ext cx="4610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角色资料、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SOP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文本里写下的要求，属于行为约定；它们要变成结论，必须在真实记录里找到对应的事实。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609600" y="4057650"/>
            <a:ext cx="4610100" cy="990600"/>
          </a:xfrm>
          <a:prstGeom prst="roundRect">
            <a:avLst>
              <a:gd name="adj" fmla="val 961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81050" y="4191000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两种规则要分开写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81050" y="4400550"/>
            <a:ext cx="4267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的业务规则管「该怎么做」；能力服务的权限规则管「能不能做」。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5410200" y="1924050"/>
            <a:ext cx="6172200" cy="1104900"/>
          </a:xfrm>
          <a:prstGeom prst="roundRect">
            <a:avLst>
              <a:gd name="adj" fmla="val 86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5600700" y="2152650"/>
            <a:ext cx="38100" cy="6477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5791200" y="2352675"/>
            <a:ext cx="1905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要求「对实际可见的人说话」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7848600" y="2219325"/>
            <a:ext cx="3543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要结合感知记录与当前实现检查：这个人是否真的出现在感知里。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5410200" y="3162300"/>
            <a:ext cx="6172200" cy="1104900"/>
          </a:xfrm>
          <a:prstGeom prst="roundRect">
            <a:avLst>
              <a:gd name="adj" fmla="val 86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5600700" y="3390900"/>
            <a:ext cx="38100" cy="6477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5791200" y="3590925"/>
            <a:ext cx="1905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写着「我是组织者」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848600" y="3457575"/>
            <a:ext cx="3543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不会自动获得新的内核权限；身份写着什么与系统允许做什么是两件事。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5410200" y="4400550"/>
            <a:ext cx="6172200" cy="1104900"/>
          </a:xfrm>
          <a:prstGeom prst="roundRect">
            <a:avLst>
              <a:gd name="adj" fmla="val 862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5600700" y="4629150"/>
            <a:ext cx="38100" cy="6477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5791200" y="4829175"/>
            <a:ext cx="1905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的业务规则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7848600" y="4695825"/>
            <a:ext cx="3543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与能力服务的权限规则需要分别说明，验收时才说得清哪一条成立。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29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91" name="" descr="&lt;Slide notes={`交付不是交一张截图，而是一组能回答问题的材料。&#10;&#10;我把它拆成八个位置：研究问题与参数理由，要能回答为什么设这些角色、时间、视野和对照；地图与人物素材，要能回答图片、语义、碰撞和实际位置是否对应；精确 Skill 与依赖，要能回答当时到底执行了什么方法、有没有遗漏；实验包，要能回答装配了哪些独立副本、身份与摘要是什么。&#10;&#10;后半是：Run 与 Attempt 记录，要能回答哪次执行、从哪里恢复、提交到哪一步；关键事实与质量明细，要能回答哪些条件成立、哪些失败、证据定位到哪里；包和导出核验，要能回答原始文件、时间、状态、大小和摘要是否明确；复现说明，要能回答哪些环境前提已经验证、哪些仍然未知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三章　·　3.14　沿着一次行动理解架构，整理可交付的实验&lt;/Text&gt;&#10;    &lt;/Box&gt;&#10;&#10;    &lt;Box style={{ height: 540, flexDirection: 'column', justifyContent: 'center', gap: 20 }}&gt;&#10;&#10;        &lt;Text style={{ fontSize: 15, color: '#276FBF' }}&gt;⑤　　3.14.5　一份实验交付物应包含什么&lt;/Text&gt;&#10;&#10;        &lt;Text style={{ fontSize: 56, fontWeight: 'bold', color: '#20344B', lineHeight: 1.15 }}&gt;交付物，要能回答八个问题&lt;/Text&gt;&#10;&#10;        &lt;Box style={{ width: 72, height: 4, background: '#276FBF' }} /&gt;&#10;&#10;        &lt;Text style={{ fontSize: 18, color: '#546779', lineHeight: 1.7, width: 940 }}&gt;每个位置对应一个读者会问的问题；答不上来的位置，就是这次交付还缺的内容。&lt;/Text&gt;&#10;&#10;        &lt;Box style={{ flexDirection: 'column', gap: 14, marginTop: 8 }}&gt;&#10;            &lt;Box style={{ flexDirection: 'row', gap: 16 }}&gt;&#10;                &lt;Box style={{ width: 276, height: 68, background: '#F7F3E8', borderRadius: 10, justifyContent: 'center', alignItems: 'center' }}&gt;&#10;                    &lt;Text style={{ fontSize: 16, color: '#20344B' }}&gt;研究问题与参数理由&lt;/Text&gt;&#10;                &lt;/Box&gt;&#10;                &lt;Box style={{ width: 276, height: 68, background: '#F7F3E8', borderRadius: 10, justifyContent: 'center', alignItems: 'center' }}&gt;&#10;                    &lt;Text style={{ fontSize: 16, color: '#20344B' }}&gt;地图与人物素材&lt;/Text&gt;&#10;                &lt;/Box&gt;&#10;                &lt;Box style={{ width: 276, height: 68, background: '#F7F3E8', borderRadius: 10, justifyContent: 'center', alignItems: 'center' }}&gt;&#10;                    &lt;Text style={{ fontSize: 16, color: '#20344B' }}&gt;精确 Skill 与依赖&lt;/Text&gt;&#10;                &lt;/Box&gt;&#10;                &lt;Box style={{ width: 276, height: 68, background: '#F7F3E8', borderRadius: 10, justifyContent: 'center', alignItems: 'center' }}&gt;&#10;                    &lt;Text style={{ fontSize: 16, color: '#20344B' }}&gt;实验包&lt;/Text&gt;&#10;                &lt;/Box&gt;&#10;            &lt;/Box&gt;&#10;            &lt;Box style={{ flexDirection: 'row', gap: 16 }}&gt;&#10;                &lt;Box style={{ width: 276, height: 68, background: '#EDF4FC', borderRadius: 10, justifyContent: 'center', alignItems: 'center' }}&gt;&#10;                    &lt;Text style={{ fontSize: 16, color: '#276FBF' }}&gt;Run 与 Attempt 记录&lt;/Text&gt;&#10;                &lt;/Box&gt;&#10;                &lt;Box style={{ width: 276, height: 68, background: '#EDF4FC', borderRadius: 10, justifyContent: 'center', alignItems: 'center' }}&gt;&#10;                    &lt;Text style={{ fontSize: 16, color: '#276FBF' }}&gt;关键事实与质量明细&lt;/Text&gt;&#10;                &lt;/Box&gt;&#10;                &lt;Box style={{ width: 276, height: 68, background: '#ECF7F2', borderRadius: 10, justifyContent: 'center', alignItems: 'center' }}&gt;&#10;                    &lt;Text style={{ fontSize: 16, color: '#26816B' }}&gt;包和导出核验&lt;/Text&gt;&#10;                &lt;/Box&gt;&#10;                &lt;Box style={{ width: 276, height: 68, background: '#ECF7F2', borderRadius: 10, justifyContent: 'center', alignItems: 'center' }}&gt;&#10;                    &lt;Text style={{ fontSize: 16, color: '#26816B' }}&gt;复现说明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18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389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第三章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3.14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沿着一次行动理解架构，整理可交付的实验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⑤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3.14.5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一份实验交付物应包含什么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09600" y="22955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交付物，要能回答八个问题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609600" y="32289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09600" y="3457575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每个位置对应一个读者会问的问题；答不上来的位置，就是这次交付还缺的内容。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609600" y="4076700"/>
            <a:ext cx="2628900" cy="647700"/>
          </a:xfrm>
          <a:prstGeom prst="roundRect">
            <a:avLst>
              <a:gd name="adj" fmla="val 1470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238250" y="430530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研究问题与参数理由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3390900" y="4076700"/>
            <a:ext cx="2628900" cy="647700"/>
          </a:xfrm>
          <a:prstGeom prst="roundRect">
            <a:avLst>
              <a:gd name="adj" fmla="val 1470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171950" y="430530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地图与人物素材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6172200" y="4076700"/>
            <a:ext cx="2628900" cy="647700"/>
          </a:xfrm>
          <a:prstGeom prst="roundRect">
            <a:avLst>
              <a:gd name="adj" fmla="val 1470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915150" y="4305300"/>
            <a:ext cx="1152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精确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与依赖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8953500" y="4076700"/>
            <a:ext cx="2628900" cy="647700"/>
          </a:xfrm>
          <a:prstGeom prst="roundRect">
            <a:avLst>
              <a:gd name="adj" fmla="val 1470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10039350" y="43053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实验包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609600" y="4857750"/>
            <a:ext cx="2628900" cy="647700"/>
          </a:xfrm>
          <a:prstGeom prst="roundRect">
            <a:avLst>
              <a:gd name="adj" fmla="val 1470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181100" y="5086350"/>
            <a:ext cx="1485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 xml:space="preserve"> Attempt </a:t>
            </a: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记录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3390900" y="4857750"/>
            <a:ext cx="2628900" cy="647700"/>
          </a:xfrm>
          <a:prstGeom prst="roundRect">
            <a:avLst>
              <a:gd name="adj" fmla="val 1470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019550" y="508635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关键事实与质量明细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6172200" y="4857750"/>
            <a:ext cx="2628900" cy="647700"/>
          </a:xfrm>
          <a:prstGeom prst="roundRect">
            <a:avLst>
              <a:gd name="adj" fmla="val 1470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7029450" y="50863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包和导出核验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8953500" y="4857750"/>
            <a:ext cx="2628900" cy="647700"/>
          </a:xfrm>
          <a:prstGeom prst="roundRect">
            <a:avLst>
              <a:gd name="adj" fmla="val 1470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9963150" y="50863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复现说明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29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17" name="" descr="&lt;Slide notes={`把八个位置一次摆出来，每一格写的是「读者会问什么」。&#10;&#10;研究问题与参数理由：为什么设这些角色、这些时间、这个视野和这组对照。答不出理由，别人就不知道你想证明什么。&#10;&#10;地图与人物素材：图片、语义、碰撞和实际位置是否对得上。&#10;&#10;精确 Skill 与依赖：当时执行了什么方法，有没有遗漏。&#10;&#10;实验包：装配了哪些独立副本，身份与摘要是什么。&#10;&#10;Run 与 Attempt 记录：哪次执行、从哪里恢复、提交到哪一步。&#10;&#10;关键事实与质量明细：哪些条件成立、哪些失败、证据能定位到哪里。&#10;&#10;包和导出核验：原始文件、时间、状态、大小、摘要与协议类型是否明确。&#10;&#10;复现说明：哪些环境前提已经验证，哪些仍然是未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4.5　一份实验交付物应包含什么&lt;/Text&gt;&#10;            &lt;Text style={{ fontSize: 34, fontWeight: 'bold', color: '#20344B' }}&gt;一份实验交付物的八个位置&lt;/Text&gt;&#10;        &lt;/Box&gt;&#10;    &lt;/Box&gt;&#10;&#10;    &lt;Box style={{ height: 540, flexDirection: 'column', justifyContent: 'center', gap: 16 }}&gt;&#10;&#10;        &lt;Box style={{ flexDirection: 'row', gap: 16 }}&gt;&#10;&#10;            &lt;Box style={{ width: 276, height: 200, background: '#F7F3E8', borderRadius: 10, padding: '16px 18px', flexDirection: 'column', gap: 8 }}&gt;&#10;                &lt;Box style={{ flexDirection: 'row', alignItems: 'center', gap: 8 }}&gt;&#10;                    &lt;Box style={{ width: 26, height: 26, background: '#546779', borderRadius: 13, justifyContent: 'center', alignItems: 'center' }}&gt;&#10;                        &lt;Text style={{ fontSize: 13, fontWeight: 'bold', color: '#FFFFFF' }}&gt;1&lt;/Text&gt;&#10;                    &lt;/Box&gt;&#10;                    &lt;Text style={{ fontSize: 16, fontWeight: 'bold', color: '#20344B', flex: 1 }}&gt;研究问题与参数理由&lt;/Text&gt;&#10;                &lt;/Box&gt;&#10;                &lt;Text style={{ fontSize: 14, color: '#546779', lineHeight: 1.6 }}&gt;为什么设这些角色、时间、视野和对照？&lt;/Text&gt;&#10;            &lt;/Box&gt;&#10;&#10;            &lt;Box style={{ width: 276, height: 200, background: '#F7F3E8', borderRadius: 10, padding: '16px 18px', flexDirection: 'column', gap: 8 }}&gt;&#10;                &lt;Box style={{ flexDirection: 'row', alignItems: 'center', gap: 8 }}&gt;&#10;                    &lt;Box style={{ width: 26, height: 26, background: '#546779', borderRadius: 13, justifyContent: 'center', alignItems: 'center' }}&gt;&#10;                        &lt;Text style={{ fontSize: 13, fontWeight: 'bold', color: '#FFFFFF' }}&gt;2&lt;/Text&gt;&#10;                    &lt;/Box&gt;&#10;                    &lt;Text style={{ fontSize: 16, fontWeight: 'bold', color: '#20344B', flex: 1 }}&gt;地图与人物素材&lt;/Text&gt;&#10;                &lt;/Box&gt;&#10;                &lt;Text style={{ fontSize: 14, color: '#546779', lineHeight: 1.6 }}&gt;图片、语义、碰撞和实际位置是否对应？&lt;/Text&gt;&#10;            &lt;/Box&gt;&#10;&#10;            &lt;Box style={{ width: 276, height: 200, background: '#F7F3E8', borderRadius: 10, padding: '16px 18px', flexDirection: 'column', gap: 8 }}&gt;&#10;                &lt;Box style={{ flexDirection: 'row', alignItems: 'center', gap: 8 }}&gt;&#10;                    &lt;Box style={{ width: 26, height: 26, background: '#546779', borderRadius: 13, justifyContent: 'center', alignItems: 'center' }}&gt;&#10;                        &lt;Text style={{ fontSize: 13, fontWeight: 'bold', color: '#FFFFFF' }}&gt;3&lt;/Text&gt;&#10;                    &lt;/Box&gt;&#10;                    &lt;Text style={{ fontSize: 16, fontWeight: 'bold', color: '#20344B', flex: 1 }}&gt;精确 Skill 与依赖&lt;/Text&gt;&#10;                &lt;/Box&gt;&#10;                &lt;Text style={{ fontSize: 14, color: '#546779', lineHeight: 1.6 }}&gt;当时到底执行了什么方法，是否有遗漏内容？&lt;/Text&gt;&#10;            &lt;/Box&gt;&#10;&#10;            &lt;Box style={{ width: 276, height: 200, background: '#F7F3E8', borderRadius: 10, padding: '16px 18px', flexDirection: 'column', gap: 8 }}&gt;&#10;                &lt;Box style={{ flexDirection: 'row', alignItems: 'center', gap: 8 }}&gt;&#10;                    &lt;Box style={{ width: 26, height: 26, background: '#546779', borderRadius: 13, justifyContent: 'center', alignItems: 'center' }}&gt;&#10;                        &lt;Text style={{ fontSize: 13, fontWeight: 'bold', color: '#FFFFFF' }}&gt;4&lt;/Text&gt;&#10;                    &lt;/Box&gt;&#10;                    &lt;Text style={{ fontSize: 16, fontWeight: 'bold', color: '#20344B', flex: 1 }}&gt;实验包&lt;/Text&gt;&#10;                &lt;/Box&gt;&#10;                &lt;Text style={{ fontSize: 14, color: '#546779', lineHeight: 1.6 }}&gt;装配了哪些独立副本，身份与摘要是什么？&lt;/Text&gt;&#10;            &lt;/Box&gt;&#10;&#10;        &lt;/Box&gt;&#10;&#10;        &lt;Box style={{ flexDirection: 'row', gap: 16 }}&gt;&#10;&#10;            &lt;Box style={{ width: 276, height: 200, background: '#EDF4FC', borderRadius: 10, padding: '16px 18px', flexDirection: 'column', gap: 8 }}&gt;&#10;                &lt;Box style={{ flexDirection: 'row', alignItems: 'center', gap: 8 }}&gt;&#10;                    &lt;Box style={{ width: 26, height: 26, background: '#276FBF', borderRadius: 13, justifyContent: 'center', alignItems: 'center' }}&gt;&#10;                        &lt;Text style={{ fontSize: 13, fontWeight: 'bold', color: '#FFFFFF' }}&gt;5&lt;/Text&gt;&#10;                    &lt;/Box&gt;&#10;                    &lt;Text style={{ fontSize: 16, fontWeight: 'bold', color: '#276FBF', flex: 1 }}&gt;Run 与 Attempt 记录&lt;/Text&gt;&#10;                &lt;/Box&gt;&#10;                &lt;Text style={{ fontSize: 14, color: '#546779', lineHeight: 1.6 }}&gt;哪次执行、从哪里恢复、最终提交到哪一步？&lt;/Text&gt;&#10;            &lt;/Box&gt;&#10;&#10;            &lt;Box style={{ width: 276, height: 200, background: '#EDF4FC', borderRadius: 10, padding: '16px 18px', flexDirection: 'column', gap: 8 }}&gt;&#10;                &lt;Box style={{ flexDirection: 'row', alignItems: 'center', gap: 8 }}&gt;&#10;                    &lt;Box style={{ width: 26, height: 26, background: '#276FBF', borderRadius: 13, justifyContent: 'center', alignItems: 'center' }}&gt;&#10;                        &lt;Text style={{ fontSize: 13, fontWeight: 'bold', color: '#FFFFFF' }}&gt;6&lt;/Text&gt;&#10;                    &lt;/Box&gt;&#10;                    &lt;Text style={{ fontSize: 16, fontWeight: 'bold', color: '#276FBF', flex: 1 }}&gt;关键事实与质量明细&lt;/Text&gt;&#10;                &lt;/Box&gt;&#10;                &lt;Text style={{ fontSize: 14, color: '#546779', lineHeight: 1.6 }}&gt;哪些条件成立，哪些失败，证据能定位到哪里？&lt;/Text&gt;&#10;            &lt;/Box&gt;&#10;&#10;            &lt;Box style={{ width: 276, height: 200, background: '#ECF7F2', borderRadius: 10, padding: '16px 18px', flexDirection: 'column', gap: 8 }}&gt;&#10;                &lt;Box style={{ flexDirection: 'row', alignItems: 'center', gap: 8 }}&gt;&#10;                    &lt;Box style={{ width: 26, height: 26, background: '#26816B', borderRadius: 13, justifyContent: 'center', alignItems: 'center' }}&gt;&#10;                        &lt;Text style={{ fontSize: 13, fontWeight: 'bold', color: '#FFFFFF' }}&gt;7&lt;/Text&gt;&#10;                    &lt;/Box&gt;&#10;                    &lt;Text style={{ fontSize: 16, fontWeight: 'bold', color: '#26816B', flex: 1 }}&gt;包和导出核验&lt;/Text&gt;&#10;                &lt;/Box&gt;&#10;                &lt;Text style={{ fontSize: 14, color: '#546779', lineHeight: 1.6 }}&gt;原始文件、时间、状态、大小、摘要与协议类型是否明确？&lt;/Text&gt;&#10;            &lt;/Box&gt;&#10;&#10;            &lt;Box style={{ width: 276, height: 200, background: '#FFF4E6', borderRadius: 10, padding: '16px 18px', flexDirection: 'column', gap: 8 }}&gt;&#10;                &lt;Box style={{ flexDirection: 'row', alignItems: 'center', gap: 8 }}&gt;&#10;                    &lt;Box style={{ width: 26, height: 26, background: '#CB6B28', borderRadius: 13, justifyContent: 'center', alignItems: 'center' }}&gt;&#10;                        &lt;Text style={{ fontSize: 13, fontWeight: 'bold', color: '#FFFFFF' }}&gt;8&lt;/Text&gt;&#10;                    &lt;/Box&gt;&#10;                    &lt;Text style={{ fontSize: 16, fontWeight: 'bold', color: '#CB6B28', flex: 1 }}&gt;复现说明&lt;/Text&gt;&#10;                &lt;/Box&gt;&#10;                &lt;Text style={{ fontSize: 14, color: '#546779', lineHeight: 1.6 }}&gt;哪些环境前提已验证，哪些仍然未知？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19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3.14.5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一份实验交付物应包含什么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一份实验交付物的八个位置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609600" y="1733550"/>
            <a:ext cx="2628900" cy="1905000"/>
          </a:xfrm>
          <a:prstGeom prst="roundRect">
            <a:avLst>
              <a:gd name="adj" fmla="val 50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781050" y="18859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866775" y="19335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1104900" y="1914525"/>
            <a:ext cx="1962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研究问题与参数理由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781050" y="2209800"/>
            <a:ext cx="2286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为什么设这些角色、时间、视野和对照？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3390900" y="1733550"/>
            <a:ext cx="2628900" cy="1905000"/>
          </a:xfrm>
          <a:prstGeom prst="roundRect">
            <a:avLst>
              <a:gd name="adj" fmla="val 50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3562350" y="18859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3648075" y="19335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3886200" y="1914525"/>
            <a:ext cx="1962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地图与人物素材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3562350" y="2209800"/>
            <a:ext cx="2286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图片、语义、碰撞和实际位置是否对应？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6172200" y="1733550"/>
            <a:ext cx="2628900" cy="1905000"/>
          </a:xfrm>
          <a:prstGeom prst="roundRect">
            <a:avLst>
              <a:gd name="adj" fmla="val 50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6343650" y="18859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6429375" y="19335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6667500" y="1914525"/>
            <a:ext cx="1962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精确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与依赖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343650" y="2209800"/>
            <a:ext cx="2286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当时到底执行了什么方法，是否有遗漏内容？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8953500" y="1733550"/>
            <a:ext cx="2628900" cy="1905000"/>
          </a:xfrm>
          <a:prstGeom prst="roundRect">
            <a:avLst>
              <a:gd name="adj" fmla="val 50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38" name=""/>
          <p:cNvSpPr/>
          <p:nvPr/>
        </p:nvSpPr>
        <p:spPr>
          <a:xfrm rot="0" flipH="0" flipV="0">
            <a:off x="9124950" y="18859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9210675" y="19335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9448800" y="1914525"/>
            <a:ext cx="1962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实验包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9124950" y="2209800"/>
            <a:ext cx="2286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装配了哪些独立副本，身份与摘要是什么？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609600" y="3790950"/>
            <a:ext cx="2628900" cy="190500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43" name=""/>
          <p:cNvSpPr/>
          <p:nvPr/>
        </p:nvSpPr>
        <p:spPr>
          <a:xfrm rot="0" flipH="0" flipV="0">
            <a:off x="781050" y="39433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866775" y="39909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1104900" y="3971925"/>
            <a:ext cx="1962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与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Attempt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记录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781050" y="4267200"/>
            <a:ext cx="2286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哪次执行、从哪里恢复、最终提交到哪一步？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3390900" y="3790950"/>
            <a:ext cx="2628900" cy="190500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48" name=""/>
          <p:cNvSpPr/>
          <p:nvPr/>
        </p:nvSpPr>
        <p:spPr>
          <a:xfrm rot="0" flipH="0" flipV="0">
            <a:off x="3562350" y="39433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3648075" y="39909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3886200" y="3971925"/>
            <a:ext cx="1962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关键事实与质量明细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3562350" y="4267200"/>
            <a:ext cx="2286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哪些条件成立，哪些失败，证据能定位到哪里？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6172200" y="3790950"/>
            <a:ext cx="2628900" cy="1905000"/>
          </a:xfrm>
          <a:prstGeom prst="roundRect">
            <a:avLst>
              <a:gd name="adj" fmla="val 5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53" name=""/>
          <p:cNvSpPr/>
          <p:nvPr/>
        </p:nvSpPr>
        <p:spPr>
          <a:xfrm rot="0" flipH="0" flipV="0">
            <a:off x="6343650" y="39433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6429375" y="39909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667500" y="3971925"/>
            <a:ext cx="1962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包和导出核验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343650" y="4267200"/>
            <a:ext cx="2286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原始文件、时间、状态、大小、摘要与协议类型是否明确？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8953500" y="3790950"/>
            <a:ext cx="2628900" cy="1905000"/>
          </a:xfrm>
          <a:prstGeom prst="roundRect">
            <a:avLst>
              <a:gd name="adj" fmla="val 5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58" name=""/>
          <p:cNvSpPr/>
          <p:nvPr/>
        </p:nvSpPr>
        <p:spPr>
          <a:xfrm rot="0" flipH="0" flipV="0">
            <a:off x="9124950" y="39433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9210675" y="39909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9448800" y="3971925"/>
            <a:ext cx="1962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复现说明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9124950" y="4267200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哪些环境前提已验证，哪些仍然未知？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29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411" name="" descr="&lt;Slide notes={`交付时有两种很常见的偷懒，都留不下能用的证据。&#10;&#10;第一种是只交付一张漂亮的回放截图。画面确实好看，但它丢掉了产生这个画面的条件：用的哪一版地图、哪一份 Skill 文本、哪一组模型参数、哪一次 Run。别人拿着这张图，既复现不了，也判断不了它是不是正常结果。&#10;&#10;第二种是只交付几个数字。比如到达率是多少、平均延迟多少。数字本身看不出分母是怎么定义的，也看不出失败样本和缺失数据有没有被正确处理。&#10;&#10;图像、Skill 文本和模型参数都可能影响结果，所以交付材料要带着这些条件一起走。八个位置里，只要有一个是空的，别人就会在这里问不出答案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4.5　一份实验交付物应包含什么&lt;/Text&gt;&#10;            &lt;Text style={{ fontSize: 34, fontWeight: 'bold', color: '#20344B' }}&gt;只交截图，或只交数字&lt;/Text&gt;&#10;        &lt;/Box&gt;&#10;    &lt;/Box&gt;&#10;&#10;    &lt;Box style={{ height: 540, flexDirection: 'column', justifyContent: 'center', gap: 16 }}&gt;&#10;&#10;        &lt;Box style={{ height: 150, background: '#FFF4E6', borderRadius: 10, padding: '0 24px', flexDirection: 'row', alignItems: 'center', gap: 20 }}&gt;&#10;            &lt;Box style={{ width: 64, height: 64, background: '#CB6B28', borderRadius: 10, justifyContent: 'center', alignItems: 'center' }}&gt;&#10;                &lt;Text style={{ fontSize: 15, fontWeight: 'bold', color: '#FFFFFF' }}&gt;示意&lt;/Text&gt;&#10;            &lt;/Box&gt;&#10;            &lt;Box style={{ flexDirection: 'column', gap: 6, flex: 1 }}&gt;&#10;                &lt;Text style={{ fontSize: 20, fontWeight: 'bold', color: '#CB6B28' }}&gt;只交付一张漂亮回放截图&lt;/Text&gt;&#10;                &lt;Text style={{ fontSize: 15, color: '#546779', lineHeight: 1.7 }}&gt;会丢掉产生该画面的条件：地图版本、Skill 文本、模型参数、Run 身份。别人复现不了，也判断不了它是否正常。&lt;/Text&gt;&#10;            &lt;/Box&gt;&#10;        &lt;/Box&gt;&#10;&#10;        &lt;Box style={{ height: 150, background: '#EDF4FC', borderRadius: 10, padding: '0 24px', flexDirection: 'row', alignItems: 'center', gap: 20 }}&gt;&#10;            &lt;Box style={{ width: 64, height: 64, background: '#276FBF', borderRadius: 10, justifyContent: 'center', alignItems: 'center' }}&gt;&#10;                &lt;Text style={{ fontSize: 15, fontWeight: 'bold', color: '#FFFFFF' }}&gt;示意&lt;/Text&gt;&#10;            &lt;/Box&gt;&#10;            &lt;Box style={{ flexDirection: 'column', gap: 6, flex: 1 }}&gt;&#10;                &lt;Text style={{ fontSize: 20, fontWeight: 'bold', color: '#276FBF' }}&gt;只交付几个数字&lt;/Text&gt;&#10;                &lt;Text style={{ fontSize: 15, color: '#546779', lineHeight: 1.7 }}&gt;看不出分母怎么定义，也无法判断是否正确处理了失败样本与缺失数据；数字对不对，读者无从核对。&lt;/Text&gt;&#10;            &lt;/Box&gt;&#10;        &lt;/Box&gt;&#10;&#10;        &lt;Box style={{ height: 96, background: '#F4F7FA', borderRadius: 10, padding: '0 24px', flexDirection: 'row', alignItems: 'center', gap: 20 }}&gt;&#10;            &lt;Box style={{ width: 4, height: 60, background: '#276FBF' }} /&gt;&#10;            &lt;Box style={{ flexDirection: 'column', gap: 4, flex: 1 }}&gt;&#10;                &lt;Text style={{ fontSize: 17, fontWeight: 'bold', color: '#20344B' }}&gt;图像、Skill 文本和模型参数都可能影响结果&lt;/Text&gt;&#10;                &lt;Text style={{ fontSize: 14, color: '#546779', lineHeight: 1.6 }}&gt;交付材料要带着这些条件一起走，八个位置缺一个，别人就在那里问不出答案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20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3.14.5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一份实验交付物应包含什么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只交截图，或只交数字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609600" y="1676400"/>
            <a:ext cx="1097280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7" name=""/>
          <p:cNvSpPr/>
          <p:nvPr/>
        </p:nvSpPr>
        <p:spPr>
          <a:xfrm rot="0" flipH="0" flipV="0">
            <a:off x="838200" y="2085975"/>
            <a:ext cx="609600" cy="609600"/>
          </a:xfrm>
          <a:prstGeom prst="roundRect">
            <a:avLst>
              <a:gd name="adj" fmla="val 15625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000125" y="23050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1638300" y="2105025"/>
            <a:ext cx="971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只交付一张漂亮回放截图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1638300" y="2390775"/>
            <a:ext cx="97155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会丢掉产生该画面的条件：地图版本、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文本、模型参数、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身份。别人复现不了，也判断不了它是否正常。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609600" y="3257550"/>
            <a:ext cx="109728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22" name=""/>
          <p:cNvSpPr/>
          <p:nvPr/>
        </p:nvSpPr>
        <p:spPr>
          <a:xfrm rot="0" flipH="0" flipV="0">
            <a:off x="838200" y="3667125"/>
            <a:ext cx="609600" cy="609600"/>
          </a:xfrm>
          <a:prstGeom prst="roundRect">
            <a:avLst>
              <a:gd name="adj" fmla="val 15625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1000125" y="38862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1638300" y="3686175"/>
            <a:ext cx="971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只交付几个数字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1638300" y="3971925"/>
            <a:ext cx="97155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看不出分母怎么定义，也无法判断是否正确处理了失败样本与缺失数据；数字对不对，读者无从核对。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609600" y="483870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27" name=""/>
          <p:cNvSpPr/>
          <p:nvPr/>
        </p:nvSpPr>
        <p:spPr>
          <a:xfrm rot="0" flipH="0" flipV="0">
            <a:off x="838200" y="501015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1066800" y="5048250"/>
            <a:ext cx="1028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图像、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文本和模型参数都可能影响结果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1066800" y="5286375"/>
            <a:ext cx="10287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交付材料要带着这些条件一起走，八个位置缺一个，别人就在那里问不出答案。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29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432" name="" descr="&lt;Slide notes={`验收的时候，最容易混淆的是状态。这里五种状态完全不是一回事，必须分开写。&#10;&#10;配置素材已准备：地图、人物、Skill 文本都已经放好了，但还没有装配进实验。&#10;&#10;文档已解析：系统能读懂这些资源了，可是还没有进入实验流程。&#10;&#10;实验已封存：状态从 DRAFT 变成 SEALED，这才具备运行的条件。&#10;&#10;Run 已完成：有执行记录，也有已提交的事实，这是跑过一次的证明。&#10;&#10;业务目标已达成：这一条要看业务上的观察和证据，不能因为 Run 完成了就顺口写上「达成」。&#10;&#10;本章的验收表和运行记录模板给后续实操预留了证据位置。尚未执行的条目就保持未执行——配置好了和做完了，是两件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4.5　一份实验交付物应包含什么&lt;/Text&gt;&#10;            &lt;Text style={{ fontSize: 34, fontWeight: 'bold', color: '#20344B' }}&gt;五种状态不是一回事&lt;/Text&gt;&#10;        &lt;/Box&gt;&#10;    &lt;/Box&gt;&#10;&#10;    &lt;Box style={{ height: 540, flexDirection: 'column', justifyContent: 'center', gap: 12 }}&gt;&#10;&#10;        &lt;Text style={{ fontSize: 15, color: '#546779' }}&gt;阶梯从「准备好的东西」走到「达成的事」；越往下，需要的证据越多。&lt;/Text&gt;&#10;&#10;        &lt;Box style={{ height: 76, background: '#F4F7FA', borderRadius: 8, padding: '0 18px', flexDirection: 'row', alignItems: 'center', gap: 14 }}&gt;&#10;            &lt;Box style={{ width: 32, height: 32, background: '#B5C7D8', borderRadius: 16, justifyContent: 'center', alignItems: 'center' }}&gt;&#10;                &lt;Text style={{ fontSize: 14, fontWeight: 'bold', color: '#FFFFFF' }}&gt;1&lt;/Text&gt;&#10;            &lt;/Box&gt;&#10;            &lt;Box style={{ width: 220 }}&gt;&lt;Text style={{ fontSize: 17, fontWeight: 'bold', color: '#20344B' }}&gt;配置素材已准备&lt;/Text&gt;&lt;/Box&gt;&#10;            &lt;Box style={{ flex: 1 }}&gt;&lt;Text style={{ fontSize: 15, color: '#546779' }}&gt;地图、人物、Skill 文本已就位，尚未装配进实验&lt;/Text&gt;&lt;/Box&gt;&#10;            &lt;Box style={{ width: 190, alignItems: 'flex-end' }}&gt;&lt;Text style={{ fontSize: 13, color: '#546779' }}&gt;还没开始&lt;/Text&gt;&lt;/Box&gt;&#10;        &lt;/Box&gt;&#10;&#10;        &lt;Box style={{ height: 76, background: '#EDF4FC', borderRadius: 8, padding: '0 18px', flexDirection: 'row', alignItems: 'center', gap: 14 }}&gt;&#10;            &lt;Box style={{ width: 32, height: 32, background: '#276FBF', borderRadius: 16, justifyContent: 'center', alignItems: 'center' }}&gt;&#10;                &lt;Text style={{ fontSize: 14, fontWeight: 'bold', color: '#FFFFFF' }}&gt;2&lt;/Text&gt;&#10;            &lt;/Box&gt;&#10;            &lt;Box style={{ width: 220 }}&gt;&lt;Text style={{ fontSize: 17, fontWeight: 'bold', color: '#20344B' }}&gt;文档已解析&lt;/Text&gt;&lt;/Box&gt;&#10;            &lt;Box style={{ flex: 1 }}&gt;&lt;Text style={{ fontSize: 15, color: '#546779' }}&gt;资源能被系统读懂，但还没有进入实验流程&lt;/Text&gt;&lt;/Box&gt;&#10;            &lt;Box style={{ width: 190, alignItems: 'flex-end' }}&gt;&lt;Text style={{ fontSize: 13, color: '#276FBF' }}&gt;只到解析&lt;/Text&gt;&lt;/Box&gt;&#10;        &lt;/Box&gt;&#10;&#10;        &lt;Box style={{ height: 76, background: '#EDF4FC', borderRadius: 8, padding: '0 18px', flexDirection: 'row', alignItems: 'center', gap: 14 }}&gt;&#10;            &lt;Box style={{ width: 32, height: 32, background: '#276FBF', borderRadius: 16, justifyContent: 'center', alignItems: 'center' }}&gt;&#10;                &lt;Text style={{ fontSize: 14, fontWeight: 'bold', color: '#FFFFFF' }}&gt;3&lt;/Text&gt;&#10;            &lt;/Box&gt;&#10;            &lt;Box style={{ width: 220 }}&gt;&lt;Text style={{ fontSize: 17, fontWeight: 'bold', color: '#20344B' }}&gt;实验已封存&lt;/Text&gt;&lt;/Box&gt;&#10;            &lt;Box style={{ flex: 1 }}&gt;&lt;Text style={{ fontSize: 15, color: '#546779' }}&gt;DRAFT 变成 SEALED，具备运行条件&lt;/Text&gt;&lt;/Box&gt;&#10;            &lt;Box style={{ width: 190, alignItems: 'flex-end' }}&gt;&lt;Text style={{ fontSize: 13, color: '#276FBF' }}&gt;可以运行了&lt;/Text&gt;&lt;/Box&gt;&#10;        &lt;/Box&gt;&#10;&#10;        &lt;Box style={{ height: 76, background: '#ECF7F2', borderRadius: 8, padding: '0 18px', flexDirection: 'row', alignItems: 'center', gap: 14 }}&gt;&#10;            &lt;Box style={{ width: 32, height: 32, background: '#26816B', borderRadius: 16, justifyContent: 'center', alignItems: 'center' }}&gt;&#10;                &lt;Text style={{ fontSize: 14, fontWeight: 'bold', color: '#FFFFFF' }}&gt;4&lt;/Text&gt;&#10;            &lt;/Box&gt;&#10;            &lt;Box style={{ width: 220 }}&gt;&lt;Text style={{ fontSize: 17, fontWeight: 'bold', color: '#20344B' }}&gt;Run 已完成&lt;/Text&gt;&lt;/Box&gt;&#10;            &lt;Box style={{ flex: 1 }}&gt;&lt;Text style={{ fontSize: 15, color: '#546779' }}&gt;有执行记录与已提交事实，能证明跑过一次&lt;/Text&gt;&lt;/Box&gt;&#10;            &lt;Box style={{ width: 190, alignItems: 'flex-end' }}&gt;&lt;Text style={{ fontSize: 13, color: '#26816B' }}&gt;有记录了&lt;/Text&gt;&lt;/Box&gt;&#10;        &lt;/Box&gt;&#10;&#10;        &lt;Box style={{ height: 76, background: '#FFF4E6', borderRadius: 8, padding: '0 18px', flexDirection: 'row', alignItems: 'center', gap: 14 }}&gt;&#10;            &lt;Box style={{ width: 32, height: 32, background: '#CB6B28', borderRadius: 16, justifyContent: 'center', alignItems: 'center' }}&gt;&#10;                &lt;Text style={{ fontSize: 14, fontWeight: 'bold', color: '#FFFFFF' }}&gt;5&lt;/Text&gt;&#10;            &lt;/Box&gt;&#10;            &lt;Box style={{ width: 220 }}&gt;&lt;Text style={{ fontSize: 17, fontWeight: 'bold', color: '#CB6B28' }}&gt;业务目标已达成&lt;/Text&gt;&lt;/Box&gt;&#10;            &lt;Box style={{ flex: 1 }}&gt;&lt;Text style={{ fontSize: 15, color: '#546779' }}&gt;要看业务观察与证据，不能因 Run 完成就顺口写「达成」&lt;/Text&gt;&lt;/Box&gt;&#10;            &lt;Box style={{ width: 190, alignItems: 'flex-end' }}&gt;&lt;Text style={{ fontSize: 13, color: '#CB6B28' }}&gt;需要证据&lt;/Text&gt;&lt;/Box&gt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21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3.14.5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一份实验交付物应包含什么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五种状态不是一回事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609600" y="15335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阶梯从「准备好的东西」走到「达成的事」；越往下，需要的证据越多。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609600" y="1819275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9" name=""/>
          <p:cNvSpPr/>
          <p:nvPr/>
        </p:nvSpPr>
        <p:spPr>
          <a:xfrm rot="0" flipH="0" flipV="0">
            <a:off x="781050" y="20288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895350" y="21050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1219200" y="2085975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配置素材已准备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3448050" y="2095500"/>
            <a:ext cx="6019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地图、人物、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文本已就位，尚未装配进实验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10915650" y="21050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还没开始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609600" y="2657475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5" name=""/>
          <p:cNvSpPr/>
          <p:nvPr/>
        </p:nvSpPr>
        <p:spPr>
          <a:xfrm rot="0" flipH="0" flipV="0">
            <a:off x="781050" y="28670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895350" y="29432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1219200" y="2924175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文档已解析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3448050" y="2933700"/>
            <a:ext cx="6019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资源能被系统读懂，但还没有进入实验流程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10915650" y="29432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只到解析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609600" y="3495675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51" name=""/>
          <p:cNvSpPr/>
          <p:nvPr/>
        </p:nvSpPr>
        <p:spPr>
          <a:xfrm rot="0" flipH="0" flipV="0">
            <a:off x="781050" y="37052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895350" y="37814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1219200" y="3762375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实验已封存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3448050" y="3771900"/>
            <a:ext cx="6019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DRAFT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变成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SEALED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，具备运行条件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10791825" y="378142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可以运行了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609600" y="4333875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57" name=""/>
          <p:cNvSpPr/>
          <p:nvPr/>
        </p:nvSpPr>
        <p:spPr>
          <a:xfrm rot="0" flipH="0" flipV="0">
            <a:off x="781050" y="45434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895350" y="46196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219200" y="4600575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已完成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3448050" y="4610100"/>
            <a:ext cx="6019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有执行记录与已提交事实，能证明跑过一次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10915650" y="46196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有记录了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609600" y="5172075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63" name=""/>
          <p:cNvSpPr/>
          <p:nvPr/>
        </p:nvSpPr>
        <p:spPr>
          <a:xfrm rot="0" flipH="0" flipV="0">
            <a:off x="781050" y="53816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895350" y="54578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1219200" y="5438775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业务目标已达成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3448050" y="5448300"/>
            <a:ext cx="6019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要看业务观察与证据，不能因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完成就顺口写「达成」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10915650" y="54578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需要证据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29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70" name="" descr="&lt;Slide notes={`开放日的基础练习做完之后，就可以提出自己的问题了。&#10;&#10;思路是把「我想看看会怎样」变成一个可以测量的假设。&#10;&#10;举三个方向。第一，把公告栏放远一些，会不会增加信息更新延迟——因为走过去要花更多步。第二，志愿者更主动地询问，能不能减少按旧安排行动的情况。第三，把视野和注意力降低之后，角色会选择什么样的咨询渠道，是更依赖面对面，还是更依赖公告。&#10;&#10;每次先提出可测量的假设，只改变清楚的因素，其他条件保持不变，失败的 Run 也要保留。&#10;&#10;原实验封存之后，要创建新的独立实验来记录改动。这不是在旧包上建立一个业务 Revision，也不是覆盖旧的运行证据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三章　·　3.14　沿着一次行动理解架构，整理可交付的实验&lt;/Text&gt;&#10;    &lt;/Box&gt;&#10;&#10;    &lt;Box style={{ height: 540, flexDirection: 'column', justifyContent: 'center', gap: 20 }}&gt;&#10;&#10;        &lt;Text style={{ fontSize: 15, color: '#276FBF' }}&gt;⑥　　3.14.6　从已有能力走向新场景&lt;/Text&gt;&#10;&#10;        &lt;Text style={{ fontSize: 56, fontWeight: 'bold', color: '#20344B', lineHeight: 1.15 }}&gt;从已经跑通的，走向没做过的&lt;/Text&gt;&#10;&#10;        &lt;Box style={{ width: 72, height: 4, background: '#276FBF' }} /&gt;&#10;&#10;        &lt;Text style={{ fontSize: 18, color: '#546779', lineHeight: 1.7, width: 940 }}&gt;把「我想看看会怎样」换成一个可以测量的假设，然后只改变清楚的那一个因素。&lt;/Text&gt;&#10;&#10;        &lt;Box style={{ flexDirection: 'row', gap: 24, marginTop: 8 }}&gt;&#10;            &lt;Box style={{ width: 368, height: 96, background: '#EDF4FC', borderRadius: 10, padding: '0 18px', justifyContent: 'center' }}&gt;&#10;                &lt;Text style={{ fontSize: 15, color: '#276FBF', lineHeight: 1.6 }}&gt;把公告栏放远一些，会不会增加信息更新延迟？&lt;/Text&gt;&#10;            &lt;/Box&gt;&#10;            &lt;Box style={{ width: 368, height: 96, background: '#EDF4FC', borderRadius: 10, padding: '0 18px', justifyContent: 'center' }}&gt;&#10;                &lt;Text style={{ fontSize: 15, color: '#276FBF', lineHeight: 1.6 }}&gt;志愿者更主动地询问，是否能减少按旧安排行动？&lt;/Text&gt;&#10;            &lt;/Box&gt;&#10;            &lt;Box style={{ width: 368, height: 96, background: '#ECF7F2', borderRadius: 10, padding: '0 18px', justifyContent: 'center' }}&gt;&#10;                &lt;Text style={{ fontSize: 15, color: '#26816B', lineHeight: 1.6 }}&gt;视野与注意力降低后，角色会怎样选择咨询渠道？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22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2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389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第三章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3.14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沿着一次行动理解架构，整理可交付的实验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609600" y="21907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⑥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3.14.6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从已有能力走向新场景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609600" y="25527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从已经跑通的，走向没做过的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609600" y="34861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609600" y="3714750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把「我想看看会怎样」换成一个可以测量的假设，然后只改变清楚的那一个因素。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609600" y="4333875"/>
            <a:ext cx="35052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781050" y="4657725"/>
            <a:ext cx="3162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把公告栏放远一些，会不会增加信息更新延迟？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4343400" y="4333875"/>
            <a:ext cx="35052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4514850" y="4657725"/>
            <a:ext cx="3162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志愿者更主动地询问，是否能减少按旧安排行动？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8077200" y="4333875"/>
            <a:ext cx="35052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8248650" y="4657725"/>
            <a:ext cx="3162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视野与注意力降低后，角色会怎样选择咨询渠道？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29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86" name="" descr="&lt;Slide notes={`把这三个问题落成能动手的实验，关键在「只改什么」。&#10;&#10;公告栏放远一些这一组，可测的是信息更新延迟；要改的只有公告栏在地图上的位置，人物、时间、视野都保持原样。&#10;&#10;志愿者更主动询问这一组，可测的是按旧安排行动的比例；要改的是志愿者的咨询倾向，其他条件不动。&#10;&#10;视野与注意力这一组，可测的是咨询渠道的选择分布；要改的是视野半径和注意力相关参数。&#10;&#10;每组都要先给出可测量的假设，只改变清楚的因素，保留其他条件，也要保留失败的 Run——失败的运行同样是一条证据。&#10;&#10;原实验封存之后，创建新的独立实验来记录这次的修改内容，而不是在旧包上直接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4.6　从已有能力走向新场景&lt;/Text&gt;&#10;            &lt;Text style={{ fontSize: 34, fontWeight: 'bold', color: '#20344B' }}&gt;三个可以动手的问题&lt;/Text&gt;&#10;        &lt;/Box&gt;&#10;    &lt;/Box&gt;&#10;&#10;    &lt;Box style={{ height: 540, flexDirection: 'row', alignItems: 'center', gap: 20 }}&gt;&#10;&#10;        &lt;Box style={{ width: 364, flexDirection: 'column', justifyContent: 'center', gap: 14 }}&gt;&#10;            &lt;Text style={{ fontSize: 20, fontWeight: 'bold', color: '#20344B', lineHeight: 1.4 }}&gt;先提假设，{'\n'}再动一个因素&lt;/Text&gt;&#10;            &lt;Box style={{ width: 64, height: 4, background: '#276FBF' }} /&gt;&#10;            &lt;Text style={{ fontSize: 15, color: '#546779', lineHeight: 1.7, width: 364 }}&gt;三个方向都从已经跑通的能力出发，只需要改一处参数或一处位置，剩下的一律保持原样。&lt;/Text&gt;&#10;            &lt;Box style={{ background: '#F7F3E8', borderRadius: 10, padding: '14px 18px', flexDirection: 'column', gap: 4 }}&gt;&#10;                &lt;Text style={{ fontSize: 15, fontWeight: 'bold', color: '#20344B' }}&gt;失败 Run 也保留&lt;/Text&gt;&#10;                &lt;Text style={{ fontSize: 14, color: '#546779', lineHeight: 1.6 }}&gt;保留其他条件与失败运行，才算是一次可比较的改动。&lt;/Text&gt;&#10;            &lt;/Box&gt;&#10;        &lt;/Box&gt;&#10;&#10;        &lt;Box style={{ width: 768, flexDirection: 'column', justifyContent: 'center', gap: 14 }}&gt;&#10;&#10;            &lt;Box style={{ width: 768, height: 108, background: '#F4F7FA', borderRadius: 10, padding: '0 20px', flexDirection: 'row', alignItems: 'center', gap: 16 }}&gt;&#10;                &lt;Box style={{ width: 4, height: 64, background: '#276FBF' }} /&gt;&#10;                &lt;Box style={{ width: 290, flexDirection: 'column', gap: 4 }}&gt;&#10;                    &lt;Text style={{ fontSize: 17, fontWeight: 'bold', color: '#20344B' }}&gt;把公告栏放远一些&lt;/Text&gt;&#10;                    &lt;Text style={{ fontSize: 14, color: '#546779' }}&gt;可测的是信息更新延迟&lt;/Text&gt;&#10;                &lt;/Box&gt;&#10;                &lt;Box style={{ flex: 1 }}&gt;&lt;Text style={{ fontSize: 15, color: '#546779', lineHeight: 1.6 }}&gt;走过去要更多步，消息会不会更晚被看到？&lt;/Text&gt;&lt;/Box&gt;&#10;                &lt;Box style={{ width: 150 }}&gt;&lt;Text style={{ fontSize: 13, color: '#276FBF' }}&gt;只改公告栏位置&lt;/Text&gt;&lt;/Box&gt;&#10;            &lt;/Box&gt;&#10;&#10;            &lt;Box style={{ width: 768, height: 108, background: '#F4F7FA', borderRadius: 10, padding: '0 20px', flexDirection: 'row', alignItems: 'center', gap: 16 }}&gt;&#10;                &lt;Box style={{ width: 4, height: 64, background: '#276FBF' }} /&gt;&#10;                &lt;Box style={{ width: 290, flexDirection: 'column', gap: 4 }}&gt;&#10;                    &lt;Text style={{ fontSize: 17, fontWeight: 'bold', color: '#20344B' }}&gt;志愿者更主动地询问&lt;/Text&gt;&#10;                    &lt;Text style={{ fontSize: 14, color: '#546779' }}&gt;可测的是按旧安排行动的比例&lt;/Text&gt;&#10;                &lt;/Box&gt;&#10;                &lt;Box style={{ flex: 1 }}&gt;&lt;Text style={{ fontSize: 15, color: '#546779', lineHeight: 1.6 }}&gt;多问一句，会不会少一些照着旧安排走的情况？&lt;/Text&gt;&lt;/Box&gt;&#10;                &lt;Box style={{ width: 150 }}&gt;&lt;Text style={{ fontSize: 13, color: '#276FBF' }}&gt;只改询问倾向&lt;/Text&gt;&lt;/Box&gt;&#10;            &lt;/Box&gt;&#10;&#10;            &lt;Box style={{ width: 768, height: 108, background: '#F4F7FA', borderRadius: 10, padding: '0 20px', flexDirection: 'row', alignItems: 'center', gap: 16 }}&gt;&#10;                &lt;Box style={{ width: 4, height: 64, background: '#26816B' }} /&gt;&#10;                &lt;Box style={{ width: 290, flexDirection: 'column', gap: 4 }}&gt;&#10;                    &lt;Text style={{ fontSize: 17, fontWeight: 'bold', color: '#20344B' }}&gt;视野与注意力降低&lt;/Text&gt;&#10;                    &lt;Text style={{ fontSize: 14, color: '#546779' }}&gt;可测的是咨询渠道的选择分布&lt;/Text&gt;&#10;                &lt;/Box&gt;&#10;                &lt;Box style={{ flex: 1 }}&gt;&lt;Text style={{ fontSize: 15, color: '#546779', lineHeight: 1.6 }}&gt;看得更少之后，会更依赖面对面，还是更依赖公告？&lt;/Text&gt;&lt;/Box&gt;&#10;                &lt;Box style={{ width: 150 }}&gt;&lt;Text style={{ fontSize: 13, color: '#26816B' }}&gt;只改视野与注意力&lt;/Text&gt;&lt;/Box&gt;&#10;            &lt;/Box&gt;&#10;&#10;            &lt;Box style={{ width: 768, height: 96, background: '#FFF4E6', borderRadius: 10, padding: '0 22px', flexDirection: 'row', alignItems: 'center', gap: 16 }}&gt;&#10;                &lt;Box style={{ width: 4, height: 60, background: '#CB6B28' }} /&gt;&#10;                &lt;Text style={{ fontSize: 14, color: '#546779', lineHeight: 1.6, flex: 1 }}&gt;原实验封存后，创建新的独立实验记录修改内容；这不是在旧包上建立业务 Revision，也不是覆盖旧运行证据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23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3.14.6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从已有能力走向新场景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三个可以动手的问题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609600" y="2381250"/>
            <a:ext cx="3467100" cy="6477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先提假设，</a:t>
            </a:r>
            <a:endParaRPr/>
          </a:p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再动一个因素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609600" y="3162300"/>
            <a:ext cx="6096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609600" y="3333750"/>
            <a:ext cx="3467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三个方向都从已经跑通的能力出发，只需要改一处参数或一处位置，剩下的一律保持原样。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609600" y="4057650"/>
            <a:ext cx="3467100" cy="990600"/>
          </a:xfrm>
          <a:prstGeom prst="roundRect">
            <a:avLst>
              <a:gd name="adj" fmla="val 961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781050" y="4191000"/>
            <a:ext cx="312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失败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也保留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781050" y="4400550"/>
            <a:ext cx="3124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保留其他条件与失败运行，才算是一次可比较的改动。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4267200" y="1514475"/>
            <a:ext cx="73152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98" name=""/>
          <p:cNvSpPr/>
          <p:nvPr/>
        </p:nvSpPr>
        <p:spPr>
          <a:xfrm rot="0" flipH="0" flipV="0">
            <a:off x="4457700" y="1724025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4648200" y="1828800"/>
            <a:ext cx="2762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把公告栏放远一些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4648200" y="2066925"/>
            <a:ext cx="276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可测的是信息更新延迟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7562850" y="1752600"/>
            <a:ext cx="2247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走过去要更多步，消息会不会更晚被看到？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9963150" y="1952625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只改公告栏位置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4267200" y="2676525"/>
            <a:ext cx="73152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4" name=""/>
          <p:cNvSpPr/>
          <p:nvPr/>
        </p:nvSpPr>
        <p:spPr>
          <a:xfrm rot="0" flipH="0" flipV="0">
            <a:off x="4457700" y="2886075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4648200" y="2990850"/>
            <a:ext cx="2762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志愿者更主动地询问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4648200" y="3228975"/>
            <a:ext cx="276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可测的是按旧安排行动的比例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7562850" y="2914650"/>
            <a:ext cx="2247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多问一句，会不会少一些照着旧安排走的情况？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9963150" y="3114675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只改询问倾向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4267200" y="3838575"/>
            <a:ext cx="73152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0" name=""/>
          <p:cNvSpPr/>
          <p:nvPr/>
        </p:nvSpPr>
        <p:spPr>
          <a:xfrm rot="0" flipH="0" flipV="0">
            <a:off x="4457700" y="4048125"/>
            <a:ext cx="38100" cy="6096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4648200" y="4152900"/>
            <a:ext cx="2762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视野与注意力降低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4648200" y="4391025"/>
            <a:ext cx="276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可测的是咨询渠道的选择分布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7562850" y="4076700"/>
            <a:ext cx="2247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看得更少之后，会更依赖面对面，还是更依赖公告？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9963150" y="4276725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只改视野与注意力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4267200" y="5000625"/>
            <a:ext cx="73152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16" name=""/>
          <p:cNvSpPr/>
          <p:nvPr/>
        </p:nvSpPr>
        <p:spPr>
          <a:xfrm rot="0" flipH="0" flipV="0">
            <a:off x="4476750" y="5172075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4667250" y="5334000"/>
            <a:ext cx="6705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原实验封存后，创建新的独立实验记录修改内容；这不是在旧包上建立业务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Revision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，也不是覆盖旧运行证据。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29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520" name="" descr="&lt;Slide notes={`「复现」这个词有两种用法，混着讲就会互相打架。&#10;&#10;第一种是事实回放复现：同一批已经提交的事实，应该得到一致的状态。回放不重新调用模型，也不重新执行 Skill，所以它检查的是「读得对不对」——同一个提交边界读出来是不是同一个结果。&#10;&#10;第二种是重新运行实验：这要重新调用模型。即使初始材料完全相同，模型也可能做出不同的决策，因为外部推理本身并不保证逐字稳定。&#10;&#10;所以随机种子、相同的模型名、或者把温度设为零，都不能单独保证外部推理完全一致。&#10;&#10;要验证回放忠实，就用第一种；要观察行为会不会变，就用第二种。两种复现各有各的用途，不能互相替代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4.6　从已有能力走向新场景&lt;/Text&gt;&#10;            &lt;Text style={{ fontSize: 34, fontWeight: 'bold', color: '#20344B' }}&gt;两种复现，不要互相替代&lt;/Text&gt;&#10;        &lt;/Box&gt;&#10;    &lt;/Box&gt;&#10;&#10;    &lt;Box style={{ height: 540, flexDirection: 'column', justifyContent: 'center', gap: 16 }}&gt;&#10;&#10;        &lt;Box style={{ flexDirection: 'row', gap: 24 }}&gt;&#10;&#10;            &lt;Box style={{ width: 564, height: 296, background: '#ECF7F2', borderRadius: 10, padding: '20px 22px', flexDirection: 'column', gap: 10 }}&gt;&#10;                &lt;Text style={{ fontSize: 22, fontWeight: 'bold', color: '#26816B' }}&gt;事实回放复现&lt;/Text&gt;&#10;                &lt;Box style={{ height: 1, background: '#B5C7D8' }} /&gt;&#10;                &lt;Text style={{ fontSize: 15, color: '#20344B', lineHeight: 1.6 }}&gt;同一批已提交事实应得到一致的状态。&lt;/Text&gt;&#10;                &lt;Box style={{ flexDirection: 'row', alignItems: 'center', gap: 10 }}&gt;&#10;                    &lt;Box style={{ width: 8, height: 8, background: '#26816B', borderRadius: 4 }} /&gt;&#10;                    &lt;Text style={{ fontSize: 14, color: '#546779' }}&gt;不重新调用模型，也不重新执行 Skill&lt;/Text&gt;&#10;                &lt;/Box&gt;&#10;                &lt;Box style={{ flexDirection: 'row', alignItems: 'center', gap: 10 }}&gt;&#10;                    &lt;Box style={{ width: 8, height: 8, background: '#26816B', borderRadius: 4 }} /&gt;&#10;                    &lt;Text style={{ fontSize: 14, color: '#546779' }}&gt;检查的是读得对不对：同一提交边界同一结果&lt;/Text&gt;&#10;                &lt;/Box&gt;&#10;                &lt;Box style={{ height: 54, background: '#FFFFFF', borderRadius: 8, padding: '0 16px', justifyContent: 'center' }}&gt;&#10;                    &lt;Text style={{ fontSize: 14, color: '#546779' }}&gt;用来验证回放是否忠实于那次执行&lt;/Text&gt;&#10;                &lt;/Box&gt;&#10;            &lt;/Box&gt;&#10;&#10;            &lt;Box style={{ width: 564, height: 296, background: '#EDF4FC', borderRadius: 10, padding: '20px 22px', flexDirection: 'column', gap: 10 }}&gt;&#10;                &lt;Text style={{ fontSize: 22, fontWeight: 'bold', color: '#276FBF' }}&gt;重新运行实验&lt;/Text&gt;&#10;                &lt;Box style={{ height: 1, background: '#B5C7D8' }} /&gt;&#10;                &lt;Text style={{ fontSize: 15, color: '#20344B', lineHeight: 1.6 }}&gt;同样的初始材料，也要重新调用一次模型。&lt;/Text&gt;&#10;                &lt;Box style={{ flexDirection: 'row', alignItems: 'center', gap: 10 }}&gt;&#10;                    &lt;Box style={{ width: 8, height: 8, background: '#276FBF', borderRadius: 4 }} /&gt;&#10;                    &lt;Text style={{ fontSize: 14, color: '#546779' }}&gt;决策可能与上一次不同，属于正常现象&lt;/Text&gt;&#10;                &lt;/Box&gt;&#10;                &lt;Box style={{ flexDirection: 'row', alignItems: 'center', gap: 10 }}&gt;&#10;                    &lt;Box style={{ width: 8, height: 8, background: '#276FBF', borderRadius: 4 }} /&gt;&#10;                    &lt;Text style={{ fontSize: 14, color: '#546779' }}&gt;要比较的是行为分布，而不是逐字相同&lt;/Text&gt;&#10;                &lt;/Box&gt;&#10;                &lt;Box style={{ height: 54, background: '#FFFFFF', borderRadius: 8, padding: '0 16px', justifyContent: 'center' }}&gt;&#10;                    &lt;Text style={{ fontSize: 14, color: '#546779' }}&gt;用来观察换条件以后行为会不会变&lt;/Text&gt;&#10;                &lt;/Box&gt;&#10;            &lt;/Box&gt;&#10;&#10;        &lt;/Box&gt;&#10;&#10;        &lt;Box style={{ height: 92, background: '#FFF4E6', borderRadius: 10, padding: '0 24px', flexDirection: 'row', alignItems: 'center', gap: 18 }}&gt;&#10;            &lt;Box style={{ width: 4, height: 58, background: '#CB6B28' }} /&gt;&#10;            &lt;Box style={{ flexDirection: 'column', gap: 4, flex: 1 }}&gt;&#10;                &lt;Text style={{ fontSize: 17, fontWeight: 'bold', color: '#CB6B28' }}&gt;随机种子、相同模型名或温度为零&lt;/Text&gt;&#10;                &lt;Text style={{ fontSize: 14, color: '#546779', lineHeight: 1.6 }}&gt;都不能单独保证外部推理逐字相同，所以第二种复现不能承诺「一字不差」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24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3.14.6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从已有能力走向新场景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两种复现，不要互相替代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609600" y="1790700"/>
            <a:ext cx="5372100" cy="2819400"/>
          </a:xfrm>
          <a:prstGeom prst="roundRect">
            <a:avLst>
              <a:gd name="adj" fmla="val 337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819150" y="1981200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事实回放复现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819150" y="2333625"/>
            <a:ext cx="49530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819150" y="2438400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同一批已提交事实应得到一致的状态。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819150" y="2857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990600" y="2809875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不重新调用模型，也不重新执行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819150" y="31146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990600" y="3067050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检查的是读得对不对：同一提交边界同一结果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819150" y="3324225"/>
            <a:ext cx="4953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971550" y="3505200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用来验证回放是否忠实于那次执行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6210300" y="1790700"/>
            <a:ext cx="5372100" cy="2819400"/>
          </a:xfrm>
          <a:prstGeom prst="roundRect">
            <a:avLst>
              <a:gd name="adj" fmla="val 337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6419850" y="1981200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重新运行实验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6419850" y="2333625"/>
            <a:ext cx="49530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419850" y="2438400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同样的初始材料，也要重新调用一次模型。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6419850" y="2857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6591300" y="28098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决策可能与上一次不同，属于正常现象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6419850" y="31146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6591300" y="306705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要比较的是行为分布，而不是逐字相同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6419850" y="3324225"/>
            <a:ext cx="4953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6572250" y="3505200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用来观察换条件以后行为会不会变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609600" y="4762500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46" name=""/>
          <p:cNvSpPr/>
          <p:nvPr/>
        </p:nvSpPr>
        <p:spPr>
          <a:xfrm rot="0" flipH="0" flipV="0">
            <a:off x="838200" y="4924425"/>
            <a:ext cx="38100" cy="5524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1047750" y="4953000"/>
            <a:ext cx="10306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随机种子、相同模型名或温度为零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1047750" y="5191125"/>
            <a:ext cx="103060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都不能单独保证外部推理逐字相同，所以第二种复现不能承诺「一字不差」。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29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551" name="" descr="&lt;Slide notes={`最后一块是四道练习，它们看着不一样，练的其实是同一件事：把「已经发生」和「有人这样说」分开。&#10;&#10;第一道练判断完成：只有人物自己的描述，没有真实通信环节，就不能说消息已经传到。&#10;&#10;第二道练改动的边界：公共 Skill 改了，原来的实验又已经封存，应该复制出一个新的独立草稿来改，而不是拿旧 Run 的成功去证明新 Skill。&#10;&#10;第三道练区分执行和质量：Run 完成了，不等于业务目标达成了，评价状态要单独报告。&#10;&#10;第四道练承诺：手上只有结果 ZIP，没有正式运行包，也没有在独立环境跑过，就不能写「一键迁移复现」。&#10;&#10;每道题都可以先自己想一遍，再对照参考思路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三章　·　3.14　沿着一次行动理解架构，整理可交付的实验&lt;/Text&gt;&#10;    &lt;/Box&gt;&#10;&#10;    &lt;Box style={{ height: 540, flexDirection: 'column', justifyContent: 'center', gap: 20 }}&gt;&#10;&#10;        &lt;Text style={{ fontSize: 15, color: '#276FBF' }}&gt;⑦　　3.14.7　章末练习与参考思路&lt;/Text&gt;&#10;&#10;        &lt;Text style={{ fontSize: 56, fontWeight: 'bold', color: '#20344B', lineHeight: 1.15 }}&gt;四道练习，同一件事&lt;/Text&gt;&#10;&#10;        &lt;Box style={{ width: 72, height: 4, background: '#276FBF' }} /&gt;&#10;&#10;        &lt;Text style={{ fontSize: 18, color: '#546779', lineHeight: 1.7, width: 940 }}&gt;每道题都要求先找到证据，再下结论；题面看上去不同，判断的方法是一样的。&lt;/Text&gt;&#10;&#10;        &lt;Box style={{ flexDirection: 'row', gap: 24, marginTop: 8 }}&gt;&#10;            &lt;Box style={{ width: 270, height: 88, background: '#EDF4FC', borderRadius: 10, justifyContent: 'center', alignItems: 'center' }}&gt;&#10;                &lt;Text style={{ fontSize: 16, fontWeight: 'bold', color: '#276FBF' }}&gt;练习一&lt;/Text&gt;&#10;                &lt;Text style={{ fontSize: 14, color: '#546779' }}&gt;沿证据判断完成&lt;/Text&gt;&#10;            &lt;/Box&gt;&#10;            &lt;Box style={{ width: 270, height: 88, background: '#EDF4FC', borderRadius: 10, justifyContent: 'center', alignItems: 'center' }}&gt;&#10;                &lt;Text style={{ fontSize: 16, fontWeight: 'bold', color: '#276FBF' }}&gt;练习二&lt;/Text&gt;&#10;                &lt;Text style={{ fontSize: 14, color: '#546779' }}&gt;判断该复制什么&lt;/Text&gt;&#10;            &lt;/Box&gt;&#10;            &lt;Box style={{ width: 270, height: 88, background: '#ECF7F2', borderRadius: 10, justifyContent: 'center', alignItems: 'center' }}&gt;&#10;                &lt;Text style={{ fontSize: 16, fontWeight: 'bold', color: '#26816B' }}&gt;练习三&lt;/Text&gt;&#10;                &lt;Text style={{ fontSize: 14, color: '#546779' }}&gt;区分执行和质量&lt;/Text&gt;&#10;            &lt;/Box&gt;&#10;            &lt;Box style={{ width: 270, height: 88, background: '#FFF4E6', borderRadius: 10, justifyContent: 'center', alignItems: 'center' }}&gt;&#10;                &lt;Text style={{ fontSize: 16, fontWeight: 'bold', color: '#CB6B28' }}&gt;练习四&lt;/Text&gt;&#10;                &lt;Text style={{ fontSize: 14, color: '#546779' }}&gt;确定迁移承诺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25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389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第三章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3.14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沿着一次行动理解架构，整理可交付的实验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⑦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3.14.7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章末练习与参考思路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609600" y="25908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四道练习，同一件事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609600" y="35242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609600" y="3752850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每道题都要求先找到证据，再下结论；题面看上去不同，判断的方法是一样的。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609600" y="4371975"/>
            <a:ext cx="257175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1666875" y="46196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练习一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1428750" y="48101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沿证据判断完成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3409950" y="4371975"/>
            <a:ext cx="257175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4467225" y="46196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练习二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4229100" y="48101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判断该复制什么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6210300" y="4371975"/>
            <a:ext cx="2571750" cy="838200"/>
          </a:xfrm>
          <a:prstGeom prst="roundRect">
            <a:avLst>
              <a:gd name="adj" fmla="val 1136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7267575" y="46196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练习三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7029450" y="48101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区分执行和质量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9010650" y="4371975"/>
            <a:ext cx="257175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10067925" y="46196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练习四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9896475" y="481012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确定迁移承诺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29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573" name="" descr="&lt;Slide notes={`练习一：人物说「我已经通知许安」，但我们手上只有人物自己的 ACT 描述，没有 SPEAK、没有 INTERACT、也没有对象回复。&#10;&#10;答案是不能判定消息已传达。要先检查实际通信入口在哪里，再看会话或请求身份，然后看接收方可见的内容，最后看接收方有没有后续响应。&#10;&#10;一句话自述不能补齐一条不存在的链条，这是整章最核心的判断习惯。&#10;&#10;练习二：公共公告栏 Skill 已改，原实验是封存的，现在想比较新旧行为，该怎么办。&#10;&#10;参考思路是保留旧实验和 Run，复制成一个新的独立草稿，在其中显式更新包内内容并核查依赖，再预检、再运行。千万不要拿旧 Run 的成功结果去证明新的 Skill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4.7　章末练习与参考思路&lt;/Text&gt;&#10;            &lt;Text style={{ fontSize: 34, fontWeight: 'bold', color: '#20344B' }}&gt;练习一、练习二&lt;/Text&gt;&#10;        &lt;/Box&gt;&#10;    &lt;/Box&gt;&#10;&#10;    &lt;Box style={{ height: 540, flexDirection: 'column', justifyContent: 'center', gap: 16 }}&gt;&#10;&#10;        &lt;Box style={{ flexDirection: 'row', gap: 24 }}&gt;&#10;&#10;            &lt;Box style={{ width: 564, height: 336, background: '#EDF4FC', borderRadius: 10, padding: '20px 22px', flexDirection: 'column', gap: 10 }}&gt;&#10;                &lt;Text style={{ fontSize: 20, fontWeight: 'bold', color: '#276FBF' }}&gt;练习一　沿证据判断完成&lt;/Text&gt;&#10;                &lt;Box style={{ height: 1, background: '#B5C7D8' }} /&gt;&#10;                &lt;Text style={{ fontSize: 15, color: '#20344B', lineHeight: 1.65 }}&gt;人物说「我已经通知许安」，但只有人物自己的 ACT 描述，没有 SPEAK、INTERACT 或对象回复。能否判定消息已传达？&lt;/Text&gt;&#10;                &lt;Box style={{ height: 84, background: '#FFFFFF', borderRadius: 8, padding: '0 16px', flexDirection: 'row', alignItems: 'center', gap: 14 }}&gt;&#10;                    &lt;Box style={{ width: 4, height: 56, background: '#276FBF' }} /&gt;&#10;                    &lt;Text style={{ fontSize: 14, color: '#546779', lineHeight: 1.65, flex: 1 }}&gt;不能。先检查实际通信入口、会话或请求身份、接收方可见内容，再看接收方是否有后续响应。&lt;/Text&gt;&#10;                &lt;/Box&gt;&#10;                &lt;Text style={{ fontSize: 14, color: '#CB6B28' }}&gt;自然语言自述不能补齐不存在的链条。&lt;/Text&gt;&#10;            &lt;/Box&gt;&#10;&#10;            &lt;Box style={{ width: 564, height: 336, background: '#ECF7F2', borderRadius: 10, padding: '20px 22px', flexDirection: 'column', gap: 10 }}&gt;&#10;                &lt;Text style={{ fontSize: 20, fontWeight: 'bold', color: '#26816B' }}&gt;练习二　判断该复制什么&lt;/Text&gt;&#10;                &lt;Box style={{ height: 1, background: '#B5C7D8' }} /&gt;&#10;                &lt;Text style={{ fontSize: 15, color: '#20344B', lineHeight: 1.65 }}&gt;公共公告栏 Skill 已修改，原实验为 SEALED，读者想比较新旧行为，应如何操作？&lt;/Text&gt;&#10;                &lt;Box style={{ height: 84, background: '#FFFFFF', borderRadius: 8, padding: '0 16px', flexDirection: 'row', alignItems: 'center', gap: 14 }}&gt;&#10;                    &lt;Box style={{ width: 4, height: 56, background: '#26816B' }} /&gt;&#10;                    &lt;Text style={{ fontSize: 14, color: '#546779', lineHeight: 1.65, flex: 1 }}&gt;保留旧实验和 Run，复制为新的独立草稿，显式更新草稿中的包内内容并核查依赖，再次预检和运行。&lt;/Text&gt;&#10;                &lt;/Box&gt;&#10;                &lt;Text style={{ fontSize: 14, color: '#CB6B28' }}&gt;不要用旧 Run 的成功结果证明新的 Skill。&lt;/Text&gt;&#10;            &lt;/Box&gt;&#10;&#10;        &lt;/Box&gt;&#10;&#10;        &lt;Box style={{ height: 88, background: '#F4F7FA', borderRadius: 10, padding: '0 24px', flexDirection: 'row', alignItems: 'center', gap: 18 }}&gt;&#10;            &lt;Box style={{ width: 4, height: 56, background: '#546779' }} /&gt;&#10;            &lt;Text style={{ fontSize: 15, color: '#546779', lineHeight: 1.6, flex: 1 }}&gt;两道题练的是同一件事：把「已经发生」和「有人这样说」分开，再去核对交付材料的每一个位置。&lt;/Text&gt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26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3.14.7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章末练习与参考思路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练习一、练习二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609600" y="1619250"/>
            <a:ext cx="5372100" cy="3200400"/>
          </a:xfrm>
          <a:prstGeom prst="roundRect">
            <a:avLst>
              <a:gd name="adj" fmla="val 297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819150" y="1809750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练习一　沿证据判断完成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819150" y="2133600"/>
            <a:ext cx="49530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819150" y="2238375"/>
            <a:ext cx="49530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人物说「我已经通知许安」，但只有人物自己的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ACT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描述，没有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SPEAK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INTERACT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或对象回复。能否判定消息已传达？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819150" y="2905125"/>
            <a:ext cx="49530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3" name=""/>
          <p:cNvSpPr/>
          <p:nvPr/>
        </p:nvSpPr>
        <p:spPr>
          <a:xfrm rot="0" flipH="0" flipV="0">
            <a:off x="971550" y="303847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1143000" y="3038475"/>
            <a:ext cx="44767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不能。先检查实际通信入口、会话或请求身份、接收方可见内容，再看接收方是否有后续响应。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819150" y="3800475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自然语言自述不能补齐不存在的链条。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6210300" y="1619250"/>
            <a:ext cx="5372100" cy="3200400"/>
          </a:xfrm>
          <a:prstGeom prst="roundRect">
            <a:avLst>
              <a:gd name="adj" fmla="val 297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6419850" y="1809750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练习二　判断该复制什么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6419850" y="2133600"/>
            <a:ext cx="49530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6419850" y="2238375"/>
            <a:ext cx="49530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公共公告栏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已修改，原实验为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SEALED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，读者想比较新旧行为，应如何操作？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6419850" y="2905125"/>
            <a:ext cx="49530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1" name=""/>
          <p:cNvSpPr/>
          <p:nvPr/>
        </p:nvSpPr>
        <p:spPr>
          <a:xfrm rot="0" flipH="0" flipV="0">
            <a:off x="6572250" y="3038475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6743700" y="3038475"/>
            <a:ext cx="44767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保留旧实验和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，复制为新的独立草稿，显式更新草稿中的包内内容并核查依赖，再次预检和运行。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6419850" y="3800475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不要用旧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的成功结果证明新的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609600" y="497205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5" name=""/>
          <p:cNvSpPr/>
          <p:nvPr/>
        </p:nvSpPr>
        <p:spPr>
          <a:xfrm rot="0" flipH="0" flipV="0">
            <a:off x="838200" y="5124450"/>
            <a:ext cx="38100" cy="5334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1047750" y="5257800"/>
            <a:ext cx="103060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两道题练的是同一件事：把「已经发生」和「有人这样说」分开，再去核对交付材料的每一个位置。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26 / 29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599" name="" descr="&lt;Slide notes={`练习三：Run 是 COMPLETED，许安没有得知调整，质量面板又显示业务评价未执行。该怎么报告？&#10;&#10;答案是三种状态分开报告。运行终结状态就是 COMPLETED，如实写。业务观察结果是「许安没有得知调整」，这是可定位的观察，人工核验要标成人工记录。评价执行状态是未执行，NOT_EVALUATED 不算通过，也不能冒充内置 Evaluator 的输出。&#10;&#10;练习四：已经下载了结果 ZIP，但没有取得正式的运行包，也没在独立环境跑过。能不能写「一键迁移复现」？&#10;&#10;只能描述已下载文件的实际内容与协议类型。正式包、恢复和异机运行需要分别取得证据；还不知道的项就保留为未知，不要用扩大的承诺把它填上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4.7　章末练习与参考思路&lt;/Text&gt;&#10;            &lt;Text style={{ fontSize: 34, fontWeight: 'bold', color: '#20344B' }}&gt;练习三、练习四&lt;/Text&gt;&#10;        &lt;/Box&gt;&#10;    &lt;/Box&gt;&#10;&#10;    &lt;Box style={{ height: 540, flexDirection: 'column', justifyContent: 'center', gap: 16 }}&gt;&#10;&#10;        &lt;Text style={{ fontSize: 15, color: '#546779' }}&gt;练习三　Run 为 COMPLETED，许安没有得知调整，质量面板显示业务评价未执行——三种状态分开写。&lt;/Text&gt;&#10;&#10;        &lt;Box style={{ flexDirection: 'row', gap: 24 }}&gt;&#10;            &lt;Box style={{ width: 368, height: 172, background: '#EDF4FC', borderRadius: 10, padding: '18px 20px', flexDirection: 'column', gap: 8 }}&gt;&#10;                &lt;Text style={{ fontSize: 18, fontWeight: 'bold', color: '#276FBF' }}&gt;运行终结状态&lt;/Text&gt;&#10;                &lt;Text style={{ fontSize: 20, fontWeight: 'bold', color: '#20344B' }}&gt;COMPLETED&lt;/Text&gt;&#10;                &lt;Text style={{ fontSize: 14, color: '#546779', lineHeight: 1.6 }}&gt;如实报告终结状态；它说明跑完了，不说明业务结果。&lt;/Text&gt;&#10;            &lt;/Box&gt;&#10;            &lt;Box style={{ width: 368, height: 172, background: '#ECF7F2', borderRadius: 10, padding: '18px 20px', flexDirection: 'column', gap: 8 }}&gt;&#10;                &lt;Text style={{ fontSize: 18, fontWeight: 'bold', color: '#26816B' }}&gt;业务观察结果&lt;/Text&gt;&#10;                &lt;Text style={{ fontSize: 20, fontWeight: 'bold', color: '#20344B' }}&gt;许安没有得知调整&lt;/Text&gt;&#10;                &lt;Text style={{ fontSize: 14, color: '#546779', lineHeight: 1.6 }}&gt;可定位的业务观察；人工核验应标为人工记录。&lt;/Text&gt;&#10;            &lt;/Box&gt;&#10;            &lt;Box style={{ width: 368, height: 172, background: '#FFF4E6', borderRadius: 10, padding: '18px 20px', flexDirection: 'column', gap: 8 }}&gt;&#10;                &lt;Text style={{ fontSize: 18, fontWeight: 'bold', color: '#CB6B28' }}&gt;评价执行状态&lt;/Text&gt;&#10;                &lt;Text style={{ fontSize: 20, fontWeight: 'bold', color: '#CB6B28' }}&gt;NOT_EVALUATED&lt;/Text&gt;&#10;                &lt;Text style={{ fontSize: 14, color: '#546779', lineHeight: 1.6 }}&gt;不算通过，也不能冒充内置 Evaluator 的输出。&lt;/Text&gt;&#10;            &lt;/Box&gt;&#10;        &lt;/Box&gt;&#10;&#10;        &lt;Box style={{ height: 190, background: '#F4F7FA', borderRadius: 10, padding: '18px 22px', flexDirection: 'column', gap: 10 }}&gt;&#10;            &lt;Text style={{ fontSize: 18, fontWeight: 'bold', color: '#20344B' }}&gt;练习四　确定迁移承诺&lt;/Text&gt;&#10;            &lt;Text style={{ fontSize: 15, color: '#20344B', lineHeight: 1.6 }}&gt;已经下载结果 ZIP，但未取得正式 .garun，也未在独立环境运行。可以写「一键迁移复现」吗？&lt;/Text&gt;&#10;            &lt;Box style={{ flexDirection: 'row', alignItems: 'center', gap: 14, background: '#FFF4E6', borderRadius: 8, padding: '12px 16px' }}&gt;&#10;                &lt;Box style={{ width: 4, height: 48, background: '#CB6B28' }} /&gt;&#10;                &lt;Text style={{ fontSize: 14, color: '#546779', lineHeight: 1.6, flex: 1 }}&gt;只能描述已下载文件的实际内容与协议类型。正式包、恢复与异机运行需要分别取得证据；未知项应保留，不用扩大的承诺填补它们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27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3.14.7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章末练习与参考思路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练习三、练习四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609600" y="17526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练习三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为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COMPLETED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，许安没有得知调整，质量面板显示业务评价未执行——三种状态分开写。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609600" y="2076450"/>
            <a:ext cx="3505200" cy="1638300"/>
          </a:xfrm>
          <a:prstGeom prst="roundRect">
            <a:avLst>
              <a:gd name="adj" fmla="val 58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00100" y="2247900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运行终结状态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800100" y="2533650"/>
            <a:ext cx="3124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COMPLETED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800100" y="2838450"/>
            <a:ext cx="3124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如实报告终结状态；它说明跑完了，不说明业务结果。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4343400" y="2076450"/>
            <a:ext cx="3505200" cy="1638300"/>
          </a:xfrm>
          <a:prstGeom prst="roundRect">
            <a:avLst>
              <a:gd name="adj" fmla="val 581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4533900" y="2247900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业务观察结果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4533900" y="2533650"/>
            <a:ext cx="3124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许安没有得知调整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4533900" y="2838450"/>
            <a:ext cx="31242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可定位的业务观察；人工核验应标为人工记录。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8077200" y="2076450"/>
            <a:ext cx="3505200" cy="1638300"/>
          </a:xfrm>
          <a:prstGeom prst="roundRect">
            <a:avLst>
              <a:gd name="adj" fmla="val 581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8267700" y="2247900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评价执行状态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8267700" y="2533650"/>
            <a:ext cx="3124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>NOT_EVALUATED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8267700" y="2838450"/>
            <a:ext cx="31242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不算通过，也不能冒充内置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的输出。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609600" y="3867150"/>
            <a:ext cx="10972800" cy="1809750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819150" y="4038600"/>
            <a:ext cx="1055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练习四　确定迁移承诺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819150" y="4343400"/>
            <a:ext cx="105537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已经下载结果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ZIP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，但未取得正式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.garun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，也未在独立环境运行。可以写「一键迁移复现」吗？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819150" y="4714875"/>
            <a:ext cx="105537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21" name=""/>
          <p:cNvSpPr/>
          <p:nvPr/>
        </p:nvSpPr>
        <p:spPr>
          <a:xfrm rot="0" flipH="0" flipV="0">
            <a:off x="971550" y="482917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1143000" y="4933950"/>
            <a:ext cx="100774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只能描述已下载文件的实际内容与协议类型。正式包、恢复与异机运行需要分别取得证据；未知项应保留，不用扩大的承诺填补它们。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27 / 29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625" name="" descr="&lt;Slide notes={`走到这一节，把整章地图合起来看。&#10;&#10;准备（3.1—3.4）：把方案放进会变化的世界，明确问题与信息边界；区分公共资源与实验副本；准备 Brain 与 Skill 并核对依赖。&#10;&#10;装配与运行（3.5—3.10）：感知、导航与动作决定角色能看到什么、能走到哪里；记忆与跨步进度管住打算、待确认与完成；对话与对象 Skill 组织真实会话；装配实验并封存，启动后观察状态与费用，再理解恢复。&#10;&#10;看结果（3.11—3.13）：从画面追查事件与提交记录；用业务指标与 Evaluator 分开执行状态与实验效果；区分四类包与结果 ZIP。&#10;&#10;四段走完，3.14 把职责串成一条链，整理出一份可检查的交付物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三章　在共同世界中行动&lt;/Text&gt;&#10;            &lt;Text style={{ fontSize: 34, fontWeight: 'bold', color: '#20344B' }}&gt;第三章地图：3.1 — 3.14&lt;/Text&gt;&#10;        &lt;/Box&gt;&#10;    &lt;/Box&gt;&#10;&#10;    &lt;Box style={{ height: 540, flexDirection: 'column', justifyContent: 'center', gap: 12 }}&gt;&#10;&#10;        &lt;Box style={{ flexDirection: 'row', alignItems: 'center', gap: 16, height: 100 }}&gt;&#10;            &lt;Box style={{ width: 160, flexDirection: 'column', gap: 2 }}&gt;&#10;                &lt;Text style={{ fontSize: 17, fontWeight: 'bold', color: '#546779' }}&gt;一 · 准备&lt;/Text&gt;&#10;                &lt;Text style={{ fontSize: 13, color: '#546779' }}&gt;3.1 — 3.4&lt;/Text&gt;&#10;            &lt;/Box&gt;&#10;            &lt;Box style={{ flex: 1, flexDirection: 'row', gap: 8 }}&gt;&#10;                &lt;Box style={{ width: 238, height: 72, background: '#F7F3E8', borderRadius: 8, justifyContent: 'center', alignItems: 'center' }}&gt;&#10;                    &lt;Text style={{ fontSize: 13, color: '#546779' }}&gt;3.1&lt;/Text&gt;&#10;                    &lt;Text style={{ fontSize: 15, fontWeight: 'bold', color: '#20344B' }}&gt;案例与边界&lt;/Text&gt;&#10;                &lt;/Box&gt;&#10;                &lt;Box style={{ width: 238, height: 72, background: '#F7F3E8', borderRadius: 8, justifyContent: 'center', alignItems: 'center' }}&gt;&#10;                    &lt;Text style={{ fontSize: 13, color: '#546779' }}&gt;3.2&lt;/Text&gt;&#10;                    &lt;Text style={{ fontSize: 15, fontWeight: 'bold', color: '#20344B' }}&gt;界面与作者资源&lt;/Text&gt;&#10;                &lt;/Box&gt;&#10;                &lt;Box style={{ width: 238, height: 72, background: '#F7F3E8', borderRadius: 8, justifyContent: 'center', alignItems: 'center' }}&gt;&#10;                    &lt;Text style={{ fontSize: 13, color: '#546779' }}&gt;3.3&lt;/Text&gt;&#10;                    &lt;Text style={{ fontSize: 15, fontWeight: 'bold', color: '#20344B' }}&gt;从图像到四层空间&lt;/Text&gt;&#10;                &lt;/Box&gt;&#10;                &lt;Box style={{ width: 238, height: 72, background: '#F7F3E8', borderRadius: 8, justifyContent: 'center', alignItems: 'center' }}&gt;&#10;                    &lt;Text style={{ fontSize: 13, color: '#546779' }}&gt;3.4&lt;/Text&gt;&#10;                    &lt;Text style={{ fontSize: 15, fontWeight: 'bold', color: '#20344B' }}&gt;Brain 与 Skill&lt;/Text&gt;&#10;                &lt;/Box&gt;&#10;            &lt;/Box&gt;&#10;        &lt;/Box&gt;&#10;&#10;        &lt;Box style={{ flexDirection: 'row', alignItems: 'center', gap: 16, height: 100 }}&gt;&#10;            &lt;Box style={{ width: 160, flexDirection: 'column', gap: 2 }}&gt;&#10;                &lt;Text style={{ fontSize: 17, fontWeight: 'bold', color: '#276FBF' }}&gt;二 · 装配与运行&lt;/Text&gt;&#10;                &lt;Text style={{ fontSize: 13, color: '#546779' }}&gt;3.5 — 3.10&lt;/Text&gt;&#10;            &lt;/Box&gt;&#10;            &lt;Box style={{ flex: 1, flexDirection: 'row', gap: 8 }}&gt;&#10;                &lt;Box style={{ width: 156, height: 72, background: '#EDF4FC', borderRadius: 8, justifyContent: 'center', alignItems: 'center' }}&gt;&#10;                    &lt;Text style={{ fontSize: 13, color: '#546779' }}&gt;3.5&lt;/Text&gt;&#10;                    &lt;Text style={{ fontSize: 15, fontWeight: 'bold', color: '#20344B' }}&gt;感知导航动作&lt;/Text&gt;&#10;                &lt;/Box&gt;&#10;                &lt;Box style={{ width: 156, height: 72, background: '#EDF4FC', borderRadius: 8, justifyContent: 'center', alignItems: 'center' }}&gt;&#10;                    &lt;Text style={{ fontSize: 13, color: '#546779' }}&gt;3.6&lt;/Text&gt;&#10;                    &lt;Text style={{ fontSize: 15, fontWeight: 'bold', color: '#20344B' }}&gt;记忆与跨步进度&lt;/Text&gt;&#10;                &lt;/Box&gt;&#10;                &lt;Box style={{ width: 156, height: 72, background: '#EDF4FC', borderRadius: 8, justifyContent: 'center', alignItems: 'center' }}&gt;&#10;                    &lt;Text style={{ fontSize: 13, color: '#546779' }}&gt;3.7&lt;/Text&gt;&#10;                    &lt;Text style={{ fontSize: 15, fontWeight: 'bold', color: '#20344B' }}&gt;对话与对象 Skill&lt;/Text&gt;&#10;                &lt;/Box&gt;&#10;                &lt;Box style={{ width: 156, height: 72, background: '#EDF4FC', borderRadius: 8, justifyContent: 'center', alignItems: 'center' }}&gt;&#10;                    &lt;Text style={{ fontSize: 13, color: '#546779' }}&gt;3.8&lt;/Text&gt;&#10;                    &lt;Text style={{ fontSize: 15, fontWeight: 'bold', color: '#20344B' }}&gt;草稿与封存&lt;/Text&gt;&#10;                &lt;/Box&gt;&#10;                &lt;Box style={{ width: 156, height: 72, background: '#EDF4FC', borderRadius: 8, justifyContent: 'center', alignItems: 'center' }}&gt;&#10;                    &lt;Text style={{ fontSize: 13, color: '#546779' }}&gt;3.9&lt;/Text&gt;&#10;                    &lt;Text style={{ fontSize: 15, fontWeight: 'bold', color: '#20344B' }}&gt;启动与观察估算&lt;/Text&gt;&#10;                &lt;/Box&gt;&#10;                &lt;Box style={{ width: 156, height: 72, background: '#EDF4FC', borderRadius: 8, justifyContent: 'center', alignItems: 'center' }}&gt;&#10;                    &lt;Text style={{ fontSize: 13, color: '#546779' }}&gt;3.10&lt;/Text&gt;&#10;                    &lt;Text style={{ fontSize: 15, fontWeight: 'bold', color: '#20344B' }}&gt;暂停与续跑重跑&lt;/Text&gt;&#10;                &lt;/Box&gt;&#10;            &lt;/Box&gt;&#10;        &lt;/Box&gt;&#10;&#10;        &lt;Box style={{ flexDirection: 'row', alignItems: 'center', gap: 16, height: 100 }}&gt;&#10;            &lt;Box style={{ width: 160, flexDirection: 'column', gap: 2 }}&gt;&#10;                &lt;Text style={{ fontSize: 17, fontWeight: 'bold', color: '#26816B' }}&gt;三 · 看结果&lt;/Text&gt;&#10;                &lt;Text style={{ fontSize: 13, color: '#546779' }}&gt;3.11 — 3.13&lt;/Text&gt;&#10;            &lt;/Box&gt;&#10;            &lt;Box style={{ flex: 1, flexDirection: 'row', gap: 8 }}&gt;&#10;                &lt;Box style={{ width: 320, height: 72, background: '#ECF7F2', borderRadius: 8, justifyContent: 'center', alignItems: 'center' }}&gt;&#10;                    &lt;Text style={{ fontSize: 13, color: '#546779' }}&gt;3.11&lt;/Text&gt;&#10;                    &lt;Text style={{ fontSize: 15, fontWeight: 'bold', color: '#20344B' }}&gt;回放事实与失败诊断&lt;/Text&gt;&#10;                &lt;/Box&gt;&#10;                &lt;Box style={{ width: 320, height: 72, background: '#ECF7F2', borderRadius: 8, justifyContent: 'center', alignItems: 'center' }}&gt;&#10;                    &lt;Text style={{ fontSize: 13, color: '#546779' }}&gt;3.12&lt;/Text&gt;&#10;                    &lt;Text style={{ fontSize: 15, fontWeight: 'bold', color: '#20344B' }}&gt;业务指标与 Evaluator&lt;/Text&gt;&#10;                &lt;/Box&gt;&#10;                &lt;Box style={{ width: 320, height: 72, background: '#ECF7F2', borderRadius: 8, justifyContent: 'center', alignItems: 'center' }}&gt;&#10;                    &lt;Text style={{ fontSize: 13, color: '#546779' }}&gt;3.13&lt;/Text&gt;&#10;                    &lt;Text style={{ fontSize: 15, fontWeight: 'bold', color: '#20344B' }}&gt;导出、迁移与离线回放&lt;/Text&gt;&#10;                &lt;/Box&gt;&#10;            &lt;/Box&gt;&#10;        &lt;/Box&gt;&#10;&#10;        &lt;Box style={{ flexDirection: 'row', alignItems: 'center', gap: 16, height: 100 }}&gt;&#10;            &lt;Box style={{ width: 160, flexDirection: 'column', gap: 2 }}&gt;&#10;                &lt;Text style={{ fontSize: 17, fontWeight: 'bold', color: '#CB6B28' }}&gt;四 · 收束&lt;/Text&gt;&#10;                &lt;Text style={{ fontSize: 13, color: '#546779' }}&gt;3.14&lt;/Text&gt;&#10;            &lt;/Box&gt;&#10;            &lt;Box style={{ flex: 1, flexDirection: 'row', gap: 8 }}&gt;&#10;                &lt;Box style={{ width: 976, height: 72, background: '#FFF4E6', borderRadius: 8, padding: '0 22px', flexDirection: 'row', alignItems: 'center', gap: 16 }}&gt;&#10;                    &lt;Text style={{ fontSize: 13, color: '#CB6B28' }}&gt;3.14&lt;/Text&gt;&#10;                    &lt;Text style={{ fontSize: 16, fontWeight: 'bold', color: '#20344B' }}&gt;沿着一次行动理解架构，整理可交付的实验&lt;/Text&gt;&#10;                    &lt;Box style={{ flex: 1 }} /&gt;&#10;                    &lt;Text style={{ fontSize: 13, color: '#546779' }}&gt;本节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28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第三章　在共同世界中行动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676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第三章地图：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3.1 — 3.14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546779"/>
                </a:solidFill>
                <a:latin typeface="Microsoft YaHei"/>
                <a:ea typeface="Microsoft YaHei"/>
              </a:rPr>
              <a:t>一</a:t>
            </a:r>
            <a:r>
              <a:rPr lang="en-US" sz="1275" b="1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546779"/>
                </a:solidFill>
                <a:latin typeface="Microsoft YaHei"/>
                <a:ea typeface="Microsoft YaHei"/>
              </a:rPr>
              <a:t>准备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609600" y="21526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3.1 — 3.4</a:t>
            </a:r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2286000" y="1771650"/>
            <a:ext cx="2266950" cy="685800"/>
          </a:xfrm>
          <a:prstGeom prst="roundRect">
            <a:avLst>
              <a:gd name="adj" fmla="val 1111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3333750" y="19526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3.1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3067050" y="21050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案例与边界</a:t>
            </a:r>
            <a:endParaRPr/>
          </a:p>
        </p:txBody>
      </p:sp>
      <p:sp>
        <p:nvSpPr>
          <p:cNvPr id="635" name=""/>
          <p:cNvSpPr/>
          <p:nvPr/>
        </p:nvSpPr>
        <p:spPr>
          <a:xfrm rot="0" flipH="0" flipV="0">
            <a:off x="4629150" y="1771650"/>
            <a:ext cx="2266950" cy="685800"/>
          </a:xfrm>
          <a:prstGeom prst="roundRect">
            <a:avLst>
              <a:gd name="adj" fmla="val 1111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5676900" y="19526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3.2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5267325" y="210502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界面与作者资源</a:t>
            </a:r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6972300" y="1771650"/>
            <a:ext cx="2266950" cy="685800"/>
          </a:xfrm>
          <a:prstGeom prst="roundRect">
            <a:avLst>
              <a:gd name="adj" fmla="val 1111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8020050" y="19526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3.3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7534275" y="210502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641" name=""/>
          <p:cNvSpPr/>
          <p:nvPr/>
        </p:nvSpPr>
        <p:spPr>
          <a:xfrm rot="0" flipH="0" flipV="0">
            <a:off x="9315450" y="1771650"/>
            <a:ext cx="2266950" cy="685800"/>
          </a:xfrm>
          <a:prstGeom prst="roundRect">
            <a:avLst>
              <a:gd name="adj" fmla="val 1111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10363200" y="19526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3.4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10001250" y="2105025"/>
            <a:ext cx="904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609600" y="3000375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二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装配与运行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609600" y="32194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3.5 — 3.10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2286000" y="2838450"/>
            <a:ext cx="14859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2943225" y="30194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3.5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2600325" y="31718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感知导航动作</a:t>
            </a:r>
            <a:endParaRPr/>
          </a:p>
        </p:txBody>
      </p:sp>
      <p:sp>
        <p:nvSpPr>
          <p:cNvPr id="649" name=""/>
          <p:cNvSpPr/>
          <p:nvPr/>
        </p:nvSpPr>
        <p:spPr>
          <a:xfrm rot="0" flipH="0" flipV="0">
            <a:off x="3848100" y="2838450"/>
            <a:ext cx="14859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4505325" y="30194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3.6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4095750" y="317182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5410200" y="2838450"/>
            <a:ext cx="14859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6067425" y="30194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3.7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5629275" y="3171825"/>
            <a:ext cx="1057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6972300" y="2838450"/>
            <a:ext cx="14859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7629525" y="30194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3.8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7362825" y="31718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草稿与封存</a:t>
            </a:r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8534400" y="2838450"/>
            <a:ext cx="14859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9191625" y="30194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3.9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8782050" y="317182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启动与观察估算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10096500" y="2838450"/>
            <a:ext cx="14859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10715625" y="3019425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3.10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10344150" y="317182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暂停与续跑重跑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609600" y="4067175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三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看结果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609600" y="42862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3.11 — 3.13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2286000" y="3905250"/>
            <a:ext cx="30480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3686175" y="4086225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3.11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3171825" y="423862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669" name=""/>
          <p:cNvSpPr/>
          <p:nvPr/>
        </p:nvSpPr>
        <p:spPr>
          <a:xfrm rot="0" flipH="0" flipV="0">
            <a:off x="5410200" y="3905250"/>
            <a:ext cx="30480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6810375" y="4086225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3.12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6219825" y="4238625"/>
            <a:ext cx="1438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业务指标与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8534400" y="3905250"/>
            <a:ext cx="30480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9934575" y="4086225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3.13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9344025" y="42386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导出、迁移与离线回放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609600" y="5133975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四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收束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609600" y="53530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3.14</a:t>
            </a:r>
            <a:endParaRPr/>
          </a:p>
        </p:txBody>
      </p:sp>
      <p:sp>
        <p:nvSpPr>
          <p:cNvPr id="677" name=""/>
          <p:cNvSpPr/>
          <p:nvPr/>
        </p:nvSpPr>
        <p:spPr>
          <a:xfrm rot="0" flipH="0" flipV="0">
            <a:off x="2286000" y="4972050"/>
            <a:ext cx="92964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2495550" y="5238750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B6B28"/>
                </a:solidFill>
                <a:latin typeface="Microsoft YaHei"/>
                <a:ea typeface="Microsoft YaHei"/>
              </a:rPr>
              <a:t>3.14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2905125" y="5219700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11125200" y="52387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本节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28 / 29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683" name="" descr="&lt;Slide notes={`第三章到这里就结束了。回看整章，最大的收获不是记住了几个按钮，而是拿到了一套判断方法。&#10;&#10;想观察的现象，要对应可定位的输入、明确的条件、已经提交的事实，以及事先说好的评价标准。这四样都齐了，观察才站得住。&#10;&#10;如果只有现象，没有输入和条件，我们说不出它是怎么来的；如果只有事实，没有评价标准，我们也说不清它到底算好还是不好。&#10;&#10;第四章会换一个起点：从场景问题出发去设计对照，不再逐项重复介绍按钮。到时候这套方法仍然是我们的底盘——先说清要看什么，再决定怎么跑、怎么看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三章　在共同世界中行动：用完整案例学习 GenerativeAgentsCN&lt;/Text&gt;&#10;    &lt;/Box&gt;&#10;&#10;    &lt;Box style={{ height: 540, flexDirection: 'column', justifyContent: 'center', gap: 18 }}&gt;&#10;&#10;        &lt;Text style={{ fontSize: 56, fontWeight: 'bold', color: '#20344B', lineHeight: 1.15 }}&gt;第三章留下的最大工具&lt;/Text&gt;&#10;&#10;        &lt;Box style={{ width: 72, height: 4, background: '#276FBF' }} /&gt;&#10;&#10;        &lt;Box style={{ flexDirection: 'row', alignItems: 'center' }}&gt;&#10;            &lt;Box style={{ width: 195, height: 72, background: '#F7F3E8', borderRadius: 10, justifyContent: 'center', alignItems: 'center' }}&gt;&#10;                &lt;Text style={{ fontSize: 16, color: '#20344B' }}&gt;想观察的现象&lt;/Text&gt;&#10;            &lt;/Box&gt;&#10;            &lt;Box style={{ width: 44, height: 72, justifyContent: 'center', alignItems: 'center' }}&gt;&#10;                &lt;Text style={{ fontSize: 24, color: '#276FBF' }}&gt;›&lt;/Text&gt;&#10;            &lt;/Box&gt;&#10;            &lt;Box style={{ width: 195, height: 72, background: '#EDF4FC', borderRadius: 10, justifyContent: 'center', alignItems: 'center' }}&gt;&#10;                &lt;Text style={{ fontSize: 16, color: '#276FBF' }}&gt;可定位的输入&lt;/Text&gt;&#10;            &lt;/Box&gt;&#10;            &lt;Box style={{ width: 44, height: 72, justifyContent: 'center', alignItems: 'center' }}&gt;&#10;                &lt;Text style={{ fontSize: 24, color: '#276FBF' }}&gt;›&lt;/Text&gt;&#10;            &lt;/Box&gt;&#10;            &lt;Box style={{ width: 195, height: 72, background: '#EDF4FC', borderRadius: 10, justifyContent: 'center', alignItems: 'center' }}&gt;&#10;                &lt;Text style={{ fontSize: 16, color: '#276FBF' }}&gt;明确的条件&lt;/Text&gt;&#10;            &lt;/Box&gt;&#10;            &lt;Box style={{ width: 44, height: 72, justifyContent: 'center', alignItems: 'center' }}&gt;&#10;                &lt;Text style={{ fontSize: 24, color: '#26816B' }}&gt;›&lt;/Text&gt;&#10;            &lt;/Box&gt;&#10;            &lt;Box style={{ width: 195, height: 72, background: '#ECF7F2', borderRadius: 10, justifyContent: 'center', alignItems: 'center' }}&gt;&#10;                &lt;Text style={{ fontSize: 16, color: '#26816B' }}&gt;已提交的事实&lt;/Text&gt;&#10;            &lt;/Box&gt;&#10;            &lt;Box style={{ width: 44, height: 72, justifyContent: 'center', alignItems: 'center' }}&gt;&#10;                &lt;Text style={{ fontSize: 24, color: '#26816B' }}&gt;›&lt;/Text&gt;&#10;            &lt;/Box&gt;&#10;            &lt;Box style={{ width: 195, height: 72, background: '#FFF4E6', borderRadius: 10, justifyContent: 'center', alignItems: 'center' }}&gt;&#10;                &lt;Text style={{ fontSize: 16, color: '#CB6B28' }}&gt;评价标准&lt;/Text&gt;&#10;            &lt;/Box&gt;&#10;        &lt;/Box&gt;&#10;&#10;        &lt;Box style={{ height: 84, background: '#F4F7FA', borderRadius: 10, padding: '0 24px', flexDirection: 'row', alignItems: 'center', gap: 18 }}&gt;&#10;            &lt;Box style={{ width: 4, height: 56, background: '#276FBF' }} /&gt;&#10;            &lt;Text style={{ fontSize: 15, color: '#546779', lineHeight: 1.7, flex: 1 }}&gt;四样齐了，观察才站得住：少一样，我们不是说不清它是怎么来的，就是说不清它到底算不算好。&lt;/Text&gt;&#10;        &lt;/Box&gt;&#10;&#10;        &lt;Box style={{ flexDirection: 'row', justifyContent: 'space-between', alignItems: 'center', marginTop: 4 }}&gt;&#10;            &lt;Text style={{ fontSize: 14, color: '#546779' }}&gt;第三章　3.1 — 3.14　完&lt;/Text&gt;&#10;            &lt;Text style={{ fontSize: 15, color: '#276FBF' }}&gt;下一章　从场景问题出发设计对照 —— 不再逐项重复介绍按钮&lt;/Text&gt;&#10;        &lt;/Box&gt;&#10;&#10;    &lt;/Box&gt;&#10;&#10;    &lt;Box style={{ height: 40, flexDirection: 'row', justifyContent: 'space-between', alignItems: 'center' }}&gt;&#10;        &lt;Text style={{ fontSize: 14, color: '#546779' }}&gt;3.14 沿着一次行动理解架构，整理可交付的实验&lt;/Text&gt;&#10;        &lt;Text style={{ fontSize: 14, color: '#546779' }}&gt;29 / 2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5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4333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第三章　在共同世界中行动：用完整案例学习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GenerativeAgentsCN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609600" y="21336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第三章留下的最大工具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609600" y="30480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9" name=""/>
          <p:cNvSpPr/>
          <p:nvPr/>
        </p:nvSpPr>
        <p:spPr>
          <a:xfrm rot="0" flipH="0" flipV="0">
            <a:off x="609600" y="3257550"/>
            <a:ext cx="1857375" cy="685800"/>
          </a:xfrm>
          <a:prstGeom prst="roundRect">
            <a:avLst>
              <a:gd name="adj" fmla="val 13889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1085850" y="35052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想观察的现象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2638425" y="3467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2886075" y="3257550"/>
            <a:ext cx="1857375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3362325" y="35052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可定位的输入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4914900" y="3467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5162550" y="3257550"/>
            <a:ext cx="1857375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5715000" y="35052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明确的条件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7191375" y="3467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98" name=""/>
          <p:cNvSpPr/>
          <p:nvPr/>
        </p:nvSpPr>
        <p:spPr>
          <a:xfrm rot="0" flipH="0" flipV="0">
            <a:off x="7439025" y="3257550"/>
            <a:ext cx="1857375" cy="685800"/>
          </a:xfrm>
          <a:prstGeom prst="roundRect">
            <a:avLst>
              <a:gd name="adj" fmla="val 1388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7915275" y="35052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已提交的事实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9467850" y="3467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9715500" y="3257550"/>
            <a:ext cx="1857375" cy="685800"/>
          </a:xfrm>
          <a:prstGeom prst="roundRect">
            <a:avLst>
              <a:gd name="adj" fmla="val 138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10344150" y="35052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评价标准</a:t>
            </a:r>
            <a:endParaRPr/>
          </a:p>
        </p:txBody>
      </p:sp>
      <p:sp>
        <p:nvSpPr>
          <p:cNvPr id="703" name=""/>
          <p:cNvSpPr/>
          <p:nvPr/>
        </p:nvSpPr>
        <p:spPr>
          <a:xfrm rot="0" flipH="0" flipV="0">
            <a:off x="609600" y="411480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4" name=""/>
          <p:cNvSpPr/>
          <p:nvPr/>
        </p:nvSpPr>
        <p:spPr>
          <a:xfrm rot="0" flipH="0" flipV="0">
            <a:off x="838200" y="42481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1047750" y="4371975"/>
            <a:ext cx="1030605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四样齐了，观察才站得住：少一样，我们不是说不清它是怎么来的，就是说不清它到底算不算好。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609600" y="5133975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第三章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 — 3.14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完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7610475" y="5124450"/>
            <a:ext cx="3971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下一章　从场景问题出发设计对照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不再逐项重复介绍按钮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沿着一次行动理解架构，整理可交付的实验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29 / 29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2026-09-29T09:12:28Z</dcterms:created>
  <dcterms:modified xsi:type="dcterms:W3CDTF">2026-09-29T09:12:28Z</dcterms:modified>
</cp:coreProperties>
</file>