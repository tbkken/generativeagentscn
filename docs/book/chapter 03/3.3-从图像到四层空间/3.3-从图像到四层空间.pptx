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25" Type="http://schemas.openxmlformats.org/officeDocument/2006/relationships/slide" Target="slides/slide25.xml" /><Relationship Id="rId10" Type="http://schemas.openxmlformats.org/officeDocument/2006/relationships/slide" Target="slides/slide10.xml" /><Relationship Id="rId14" Type="http://schemas.openxmlformats.org/officeDocument/2006/relationships/slide" Target="slides/slide14.xml" /><Relationship Id="rId7" Type="http://schemas.openxmlformats.org/officeDocument/2006/relationships/slide" Target="slides/slide7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20" Type="http://schemas.openxmlformats.org/officeDocument/2006/relationships/slide" Target="slides/slide20.xml" /><Relationship Id="rId18" Type="http://schemas.openxmlformats.org/officeDocument/2006/relationships/slide" Target="slides/slide18.xml" /><Relationship Id="rId17" Type="http://schemas.openxmlformats.org/officeDocument/2006/relationships/slide" Target="slides/slide17.xml" /><Relationship Id="rId19" Type="http://schemas.openxmlformats.org/officeDocument/2006/relationships/slide" Target="slides/slide19.xml" /><Relationship Id="rId29" Type="http://schemas.openxmlformats.org/officeDocument/2006/relationships/viewProps" Target="viewProps.xml" /><Relationship Id="rId2" Type="http://schemas.openxmlformats.org/officeDocument/2006/relationships/slide" Target="slides/slide2.xml" /><Relationship Id="rId21" Type="http://schemas.openxmlformats.org/officeDocument/2006/relationships/slide" Target="slides/slide21.xml" /><Relationship Id="rId23" Type="http://schemas.openxmlformats.org/officeDocument/2006/relationships/slide" Target="slides/slide23.xml" /><Relationship Id="rId22" Type="http://schemas.openxmlformats.org/officeDocument/2006/relationships/slide" Target="slides/slide22.xml" /><Relationship Id="rId24" Type="http://schemas.openxmlformats.org/officeDocument/2006/relationships/slide" Target="slides/slide24.xml" /><Relationship Id="rId26" Type="http://schemas.openxmlformats.org/officeDocument/2006/relationships/notesMaster" Target="notesMasters/notesMaster1.xml" /><Relationship Id="rId27" Type="http://schemas.openxmlformats.org/officeDocument/2006/relationships/presProps" Target="presProps.xml" /><Relationship Id="rId28" Type="http://schemas.openxmlformats.org/officeDocument/2006/relationships/tableStyles" Target="tableStyle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一张画着房间和门的图片，看起来已经很完整，但它还不是仿真地图。人可以从图上猜出哪里能走、哪个物体是服务台；系统却需要明确的语义、几何范围与碰撞配置。</a:t>
            </a:r>
          </a:p>
          <a:p>
            <a:r>
              <a:rPr lang="zh-CN" dirty="0"/>
              <a:t>所以把青禾的教学场景分成三个可以分别核对的部分：画面长什么样，地点叫什么，角色实际可以走到哪里。</a:t>
            </a:r>
          </a:p>
          <a:p>
            <a:r>
              <a:rPr lang="zh-CN" dirty="0"/>
              <a:t>还要说明：这里的尺寸与位置是本章的新设计，尚未成为已运行实验；全部素材和待验收项以地图资料为准，制作过程不修改晨间或穿门阅读的历史地图。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进入这一节之前，先记住三个可以分别核对的部分：画面长什么样、地点叫什么、角色实际可以走到哪里。这三件事对应三套不同的配置，任何一件没做完，地图都不能算装配完成。</a:t>
            </a:r>
          </a:p>
          <a:p>
            <a:r>
              <a:rPr lang="zh-CN" dirty="0"/>
              <a:t>六个步骤沿这个顺序展开：先定尺度与四层空间，再把背景导入编辑器，然后建立地址树、设置通路与门洞，接着装配四个人物的出生位置，最后用旧案例理解检查方法，并留下本节的交付清单。</a:t>
            </a:r>
          </a:p>
          <a:p>
            <a:r>
              <a:rPr lang="zh-CN" dirty="0"/>
              <a:t>每一步都要区分「已经核对」和「只是看起来对」，这也是全章的基本态度。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动手配置之前，先把尺度定下来。青禾地图采用 32×24 格，每格 32 像素，完整背景是 1024×768 像素。</a:t>
            </a:r>
          </a:p>
          <a:p>
            <a:r>
              <a:rPr lang="zh-CN" dirty="0"/>
              <a:t>格坐标从左上角开始，X 向右、Y 向下。人物的世界位置以格坐标记录，图片的像素位置只是显示方式——把图放大两倍，不会让角色一次走得更远。</a:t>
            </a:r>
          </a:p>
          <a:p>
            <a:r>
              <a:rPr lang="zh-CN" dirty="0"/>
              <a:t>尺度定稳了，后面的语义范围、门洞位置和出生坐标才有统一的读法。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四层空间从上到下：World 是青禾社区，Sector 是学习中心，这两层都覆盖整张 32×24 地图。第三层 Arena 是四个场所：阅读室对应阅读桌，手作室对应手作台，交流室对应交流桌，公共大厅里是公告栏和服务台。第四层 Game Object 描述具体物件。</a:t>
            </a:r>
          </a:p>
          <a:p>
            <a:r>
              <a:rPr lang="zh-CN" dirty="0"/>
              <a:t>每一层都可以有自然语言语义，但只有 Game Object 绑定对象根 Skill，这部分到 3.4 节再展开。</a:t>
            </a:r>
          </a:p>
          <a:p>
            <a:r>
              <a:rPr lang="zh-CN" dirty="0"/>
              <a:t>还要注意：一个 Arena 内可以有可走空地，空地不必为了凑齐四层而虚构一个「地面对象」。层级是描述世界的工具，不是填空题。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 Arena 的范围都写在配置里：阅读室从格 (1,1) 开始，宽 10 高 12；手作室从 (12,1) 开始，宽 9 高 12；交流室从 (22,1) 开始，宽 9 高 12；公共大厅从 (1,13) 开始，宽 30 高 10，横向连接三个房间。</a:t>
            </a:r>
          </a:p>
          <a:p>
            <a:r>
              <a:rPr lang="zh-CN" dirty="0"/>
              <a:t>这些范围值表达的是语义区域，不承诺其中每一格都可走。外墙、房间分隔和物件占用，要等通路配置确定之后才能判断。</a:t>
            </a:r>
          </a:p>
          <a:p>
            <a:r>
              <a:rPr lang="zh-CN" dirty="0"/>
              <a:t>所以核对范围时，只核对边界与教学作用，不要顺手把它当成可走区域。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坐标系统容易踩一个坑：把像素当距离。地图是 32×24 格、每格 32 像素，背景图是 1024×768 像素，这两组数字描述的是同一个空间，但人物的世界位置只用格坐标记录。</a:t>
            </a:r>
          </a:p>
          <a:p>
            <a:r>
              <a:rPr lang="zh-CN" dirty="0"/>
              <a:t>图片的像素位置只是显示方式。把图放大两倍，角色不会因此一次走得更远；反过来，缩小图片也不会压缩移动预算。</a:t>
            </a:r>
          </a:p>
          <a:p>
            <a:r>
              <a:rPr lang="zh-CN" dirty="0"/>
              <a:t>读任何配置时，先确认它写的是格还是像素：空间范围的 X、Y、W、H 都是格数，素材切片的尺寸也是格数，只有素材文件本身的分辨率才是像素。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背景图要进系统，先从新建一张地图开始。这里有一个容易忽略的区分：同一个场所，在编辑器里至少要分别核对三类信息——显示图像、空间语义、碰撞与寻路。</a:t>
            </a:r>
          </a:p>
          <a:p>
            <a:r>
              <a:rPr lang="zh-CN" dirty="0"/>
              <a:t>显示分支核对素材、尺寸和锚点；语义分支核对层级、地址和对象绑定；碰撞分支核对实际端点与可走通路。三条线各自独立，任何一条都不能用另一条代替。</a:t>
            </a:r>
          </a:p>
          <a:p>
            <a:r>
              <a:rPr lang="zh-CN" dirty="0"/>
              <a:t>所以「图片已经在素材列表里」和「地图已经配好」之间，还隔着切片、绑定和保存好几步。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把三类信息摊开看：最上面是同一个场所，往下分三条线。</a:t>
            </a:r>
          </a:p>
          <a:p>
            <a:r>
              <a:rPr lang="zh-CN" dirty="0"/>
              <a:t>显示图像这条线管背景、人物和状态外观，核对的是素材、尺寸、锚点。空间语义这条线管 World 到 Game Object 的四层结构，核对层级、地址和对象绑定。碰撞与寻路这条线管可走格、阻挡格和门洞，核对实际端点与可走通路。</a:t>
            </a:r>
          </a:p>
          <a:p>
            <a:r>
              <a:rPr lang="zh-CN" dirty="0"/>
              <a:t>三条线各自查完，还要汇到同一个结论上：画出的门不证明能通过，预览换图也不证明对象已经提交变化。可见图像永远不能代替语义录入、通路设置或世界提交。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新建地图的具体操作：在基础配置的「地图」里点「＋ 新建地图」，填写名称、可选的稳定键和用途，选择「空白地图（自由绘制）」，输入宽 32、高 24、Tile 尺寸 32，再点「创建并编辑」。</a:t>
            </a:r>
          </a:p>
          <a:p>
            <a:r>
              <a:rPr lang="zh-CN" dirty="0"/>
              <a:t>这里特别提醒一句：不要为了省事，选一个无关的旧地图来充当默认背景。旧地图自带的历史配置会混进新案例，后面排查起来非常麻烦。</a:t>
            </a:r>
          </a:p>
          <a:p>
            <a:r>
              <a:rPr lang="zh-CN" dirty="0"/>
              <a:t>创建之后，编辑器实际使用「世界」「素材」两页，接下来的导入和绑定都在这两页之间来回。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导入分五步：在「素材」页点「＋ 导入原图」，选择本章背景 PNG；选中原图后点「＋ 新建切片」，为完整背景设 X=0、Y=0、W=32、H=24 并保存；然后回「世界」选根节点，在「显示素材」里选择该切片；再设置节点名称、空间范围和语义；最后保存。</a:t>
            </a:r>
          </a:p>
          <a:p>
            <a:r>
              <a:rPr lang="zh-CN" dirty="0"/>
              <a:t>保存之后不要急着往下走，离开再重开一次，检查根节点仍绑定同一素材、尺寸没有改变、画面没有拉伸或裁掉边缘。</a:t>
            </a:r>
          </a:p>
          <a:p>
            <a:r>
              <a:rPr lang="zh-CN" dirty="0"/>
              <a:t>另外，整张背景已经画出的桌椅无需再叠一套重复图，建立语义节点即可；公告栏因为要随状态换图，要单独准备视角、像素尺寸、锚点及切片边界相同的外观素材，避免切换时像在地图上跳动。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背景有了，接下来给每个地点一个正式地址。在「世界」左侧的四层地址树里，用父节点旁的「＋」逐层创建子节点：World 下建 Sector，Sector 下建 Arena，Arena 下建 Game Object。</a:t>
            </a:r>
          </a:p>
          <a:p>
            <a:r>
              <a:rPr lang="zh-CN" dirty="0"/>
              <a:t>两个常见错误要避开：一是跳层级，直接在 World 下面挂对象；二是只在图片上写一个房间名，就认为系统已经知道它的地址。名字写在图上是给人看的，地址写在树里才是给系统用的。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地址树从 World 的青禾社区开始，Sector 是学习中心，下面四个 Arena，公共大厅再挂公告栏和服务台两个对象。</a:t>
            </a:r>
          </a:p>
          <a:p>
            <a:r>
              <a:rPr lang="zh-CN" dirty="0"/>
              <a:t>选中任何一个节点，右侧就能填三样东西：节点名称、空间范围和空间语义。空间范围是 X、Y、W、H，以格为单位。</a:t>
            </a:r>
          </a:p>
          <a:p>
            <a:r>
              <a:rPr lang="zh-CN" dirty="0"/>
              <a:t>还有一个容易踩的坑：公告栏 board、服务台 helpdesk 是业务设计里的短名，用于教材对照；编辑器新建节点时产生的是自己的稳定节点 ID，不能假定两者自动相等。正确做法是在配置记录里建立对应关系。对象 Skill 的详细内容见 3.4 节，本节先保证对象的位置、外观和地址正确。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空间语义写什么？写这个场所公开的用途和关系。阅读室的语义说明它适合阅读与分享；公共大厅的语义说明它连接各场所并提供公共咨询。</a:t>
            </a:r>
          </a:p>
          <a:p>
            <a:r>
              <a:rPr lang="zh-CN" dirty="0"/>
              <a:t>不写什么？不把某位人物私下知道的信息写进公开空间语义。语义是世界的公共描述，人物私下的知情属于人物资料和记忆，混在一起就会破坏信息边界。</a:t>
            </a:r>
          </a:p>
          <a:p>
            <a:r>
              <a:rPr lang="zh-CN" dirty="0"/>
              <a:t>层级上，每一层都可以有自然语言语义，但只有 Game Object 绑定对象根 Skill；对象的私有状态同样不属于公开语义。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对象的状态外观要和初始状态对上：状态名与初始状态 JSON 顶层的 state 精确匹配，未命中时就使用默认显示素材。</a:t>
            </a:r>
          </a:p>
          <a:p>
            <a:r>
              <a:rPr lang="zh-CN" dirty="0"/>
              <a:t>所以默认图、状态图和初始值要一起核对，缺一样都可能出现「配置看着对、运行不生效」的情况。</a:t>
            </a:r>
          </a:p>
          <a:p>
            <a:r>
              <a:rPr lang="zh-CN" dirty="0"/>
              <a:t>还要分清两件事：编辑器里预览切换正常，只是配置检查通过；运行时的真实变化，需要 SET_OBJECT_STATE 提交，并用回放事实证明。预览不是证据。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画面上有门，只解决了「看起来能过」。系统里能不能过，取决于通路配置。</a:t>
            </a:r>
          </a:p>
          <a:p>
            <a:r>
              <a:rPr lang="zh-CN" dirty="0"/>
              <a:t>做法是先按地图资料把外墙、房间分隔和物件占用标成阻挡，形成连续隔断，再用「可走」把门洞格打开。顺序不能反：先有完整隔断，再开洞，才能保证除门洞之外没有漏缝。</a:t>
            </a:r>
          </a:p>
          <a:p>
            <a:r>
              <a:rPr lang="zh-CN" dirty="0"/>
              <a:t>隔断整条封住、门洞逐格打开，这一步做完，才轮到路径检查来验证连通性。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示意地图上，三个房间在 y=1 到 y=12 之间，公共大厅从 y=13 开始横向铺开。横向隔断位于 y=13，三处门洞分别在 x=5/6、16/17、26/27。</a:t>
            </a:r>
          </a:p>
          <a:p>
            <a:r>
              <a:rPr lang="zh-CN" dirty="0"/>
              <a:t>注意两个限定：一，语义范围内仍可能有墙体或物件阻挡，这张图省略了物件碰撞；二，绿色短线标出的是设计门洞，不是已执行的穿门轨迹，不能把它们当作角色已经走过的路。</a:t>
            </a:r>
          </a:p>
          <a:p>
            <a:r>
              <a:rPr lang="zh-CN" dirty="0"/>
              <a:t>完整配置以地图资料为准。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通路编辑在「世界」的「通路」里，右侧提供四种工具：阻挡、可走、恢复素材结果、路径检查。</a:t>
            </a:r>
          </a:p>
          <a:p>
            <a:r>
              <a:rPr lang="zh-CN" dirty="0"/>
              <a:t>交互上要注意手势：按住 Ctrl 再左键点击或拖动，才是编辑格子；普通拖动用于平移画布。素材页对应的是「碰撞」，在切片局部网格配置，放置时随素材旋转，和世界页的通路是两套东西。</a:t>
            </a:r>
          </a:p>
          <a:p>
            <a:r>
              <a:rPr lang="zh-CN" dirty="0"/>
              <a:t>还有一个优先级问题：世界级手工配置优先于素材结果。改完之后要检查「配置来源」，防止忘记旧的覆盖还在生效。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路径检查的用法是按住 Ctrl 依次点 A、B 两个点。结果分四种：起点阻挡、终点阻挡、不可达、可达距离。前三种都是失败，只有第四种给出路线和距离。</a:t>
            </a:r>
          </a:p>
          <a:p>
            <a:r>
              <a:rPr lang="zh-CN" dirty="0"/>
              <a:t>按地图资料，至少要查大厅到三个房间、房间到对象旁站位的路线。但一次成功只证明这两个端点连通，还要检查实际人物出生点及可交互站位。</a:t>
            </a:r>
          </a:p>
          <a:p>
            <a:r>
              <a:rPr lang="zh-CN" dirty="0"/>
              <a:t>最后强调：预览线不是角色已走过的路。运行时 Brain 要先获得可见目标，再提出导航与移动，最后以提交后的坐标核对抵达。预检没有报错，也不能替代这个运行检查。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地图配好之后，把人物放进去。这一块要把三件事一起检查：人物图片本身的规格、图片在地图上的显示比例、以及出生位置的装配。</a:t>
            </a:r>
          </a:p>
          <a:p>
            <a:r>
              <a:rPr lang="zh-CN" dirty="0"/>
              <a:t>任何一件单独看都可能正常，合在一起才决定运行时画面像不像、坐标对不对。比如图片规格合规，但留白太多，人物在地图上就会显得偏小；再比如落点选好了，却没有记录真实层级地址，后面回放就查不到人。</a:t>
            </a:r>
          </a:p>
          <a:p>
            <a:r>
              <a:rPr lang="zh-CN" dirty="0"/>
              <a:t>所以不要分三次凑合，一次配完一次核对。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四个人物选入实验后，进入该实验的「智能体」，编辑「初始位置与空间」，点击「选择空间」。当前选择器会取所选场所或对象中心附近的可走格，并显示自动坐标，X、Y 是只读的。</a:t>
            </a:r>
          </a:p>
          <a:p>
            <a:r>
              <a:rPr lang="zh-CN" dirty="0"/>
              <a:t>四个人分别配在公共大厅、手作室、交流室和阅读室。这是教学初始选择，本章不教读者绕开页面填入预定坐标——实际坐标以选择器结果为准。</a:t>
            </a:r>
          </a:p>
          <a:p>
            <a:r>
              <a:rPr lang="zh-CN" dirty="0"/>
              <a:t>保存后重开，核对实际坐标、层级地址和可用空间；对象的私有状态不进入人物的初始知识。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图片规格：头像要求正方形 PNG，至少 32×32；行走图接受 96×128 或 128×128 的 PNG，每帧 32×32，四行依次表示下、左、右、上。</a:t>
            </a:r>
          </a:p>
          <a:p>
            <a:r>
              <a:rPr lang="zh-CN" dirty="0"/>
              <a:t>除了尺寸，还要同时检查人物与背景的风格、每帧位置、脚底锚点、桌面遮挡和缩放清晰度。有一个容易忽略的现象：图片本身留白较多时，即使「地图显示大小」设置相同，看起来也会更小。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四个人分置四个场所：林岚在公共大厅，已抵达、核对公开安排；周宁在手作室检查物料，随后去大厅协助；陈晨在交流室整理随身物品，随后前往阅读区；许安在阅读室浏览等候，随后核实手作安排。</a:t>
            </a:r>
          </a:p>
          <a:p>
            <a:r>
              <a:rPr lang="zh-CN" dirty="0"/>
              <a:t>分置四个场所，是为了避免本次设计中所有人选择同一中心点造成遮挡。</a:t>
            </a:r>
          </a:p>
          <a:p>
            <a:r>
              <a:rPr lang="zh-CN" dirty="0"/>
              <a:t>落点不同，保存的地址层级也不同：落在 Arena 空地时保存三层地址，落在对象范围内时保留第四层。检查「可用空间」时，只包含设计允许的公开地点与对象，不把对象私有状态作为人物的初始知识。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配置做完，怎么知道做得对？用已经跑过的旧案例来理解检查方法。</a:t>
            </a:r>
          </a:p>
          <a:p>
            <a:r>
              <a:rPr lang="zh-CN" dirty="0"/>
              <a:t>晨间案例和穿门阅读提供的是历史材料：从它们身上能看到完整的核对动作——背景怎么入库、路径怎么检查、证据怎么留。但它们跑在旧的地图和旧的人物上，不能拿来证明青禾这张新地图已经配置成功。</a:t>
            </a:r>
          </a:p>
          <a:p>
            <a:r>
              <a:rPr lang="zh-CN" dirty="0"/>
              <a:t>所以旧案例教的是「怎么核对」，不是「已经通过」；本节自己的证据，要按交付清单逐项留下。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晨间案例提供完整背景、人物与桌面状态图的历史材料，2026-09-09 导出记录包含 32 步结果；但当前工作区缺少原 settings/ 目录，所以不把引用的旧配置清单说成仍然齐全。</a:t>
            </a:r>
          </a:p>
          <a:p>
            <a:r>
              <a:rPr lang="zh-CN" dirty="0"/>
              <a:t>穿门阅读的正式运行记录适合学习门洞、移动预算与抵达后再活动；封门对照说明「感知到对象」与「能够到达」是两项判断，其 B02-007 回放和导出核验仍未闭环，不写成完整通过，也不把旧人物坐标搬到青禾地图。</a:t>
            </a:r>
          </a:p>
          <a:p>
            <a:r>
              <a:rPr lang="zh-CN" dirty="0"/>
              <a:t>完成本节应留下：背景及状态图、语义范围、碰撞与路径检查记录、四名人物的实际出生地址和画面核对项；尚未浏览器保存或运行的项目，继续标为待验收。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收束成三个反问。第一，图像是否已经变成语义？背景入库、四层地址、状态外观，都要分别录入并核对。第二，画出的门是否已经设为可走？隔断、门洞与路径检查是三道独立工序。第三，预览切换是否等于世界提交？运行时的变化要靠 SET_OBJECT_STATE 和回放事实证明。</a:t>
            </a:r>
          </a:p>
          <a:p>
            <a:r>
              <a:rPr lang="zh-CN" dirty="0"/>
              <a:t>四项核对完成、待验收项标注清楚之后，就可以进入下一节，给人物编排 Brain 与 Skill。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5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一张画着房间和门的图片，看起来已经很完整，但它还不是仿真地图。人可以从图上猜出哪里能走、哪个物体是服务台；系统却需要明确的语义、几何范围与碰撞配置。&#10;&#10;所以把青禾的教学场景分成三个可以分别核对的部分：画面长什么样，地点叫什么，角色实际可以走到哪里。&#10;&#10;还要说明：这里的尺寸与位置是本章的新设计，尚未成为已运行实验；全部素材和待验收项以地图资料为准，制作过程不修改晨间或穿门阅读的历史地图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三章　在共同世界中行动：用完整案例学习 GenerativeAgentsCN　·　3.3&lt;/Text&gt;&#10;    &lt;/Box&gt;&#10;&#10;    &lt;Box style={{ height: 540, flexDirection: 'row', alignItems: 'center', gap: 32 }}&gt;&#10;&#10;        &lt;Box style={{ width: 560, flexDirection: 'column', justifyContent: 'center', gap: 14 }}&gt;&#10;            &lt;Text style={{ fontSize: 52, fontWeight: 'bold', color: '#20344B', lineHeight: 1.2 }}&gt;从图像到{'\n'}四层空间&lt;/Text&gt;&#10;            &lt;Box style={{ width: 72, height: 4, background: '#276FBF' }} /&gt;&#10;            &lt;Text style={{ fontSize: 17, color: '#546779', lineHeight: 1.7, width: 560 }}&gt;一张画着房间和门的图片，尚未构成仿真地图。系统需要明确的语义、几何范围与碰撞配置；画面、名称与可走，要分别核对。&lt;/Text&gt;&#10;            &lt;Box style={{ flexDirection: 'row', gap: 12, marginTop: 4 }}&gt;&#10;                &lt;Box style={{ width: 122, height: 42, background: '#EDF4FC', borderRadius: 8, justifyContent: 'center', alignItems: 'center' }}&gt;&#10;                    &lt;Text style={{ fontSize: 15, color: '#276FBF' }}&gt;尺度与层级&lt;/Text&gt;&#10;                &lt;/Box&gt;&#10;                &lt;Box style={{ width: 122, height: 42, background: '#EDF4FC', borderRadius: 8, justifyContent: 'center', alignItems: 'center' }}&gt;&#10;                    &lt;Text style={{ fontSize: 15, color: '#276FBF' }}&gt;语义地址&lt;/Text&gt;&#10;                &lt;/Box&gt;&#10;                &lt;Box style={{ width: 122, height: 42, background: '#EDF4FC', borderRadius: 8, justifyContent: 'center', alignItems: 'center' }}&gt;&#10;                    &lt;Text style={{ fontSize: 15, color: '#276FBF' }}&gt;通路与门洞&lt;/Text&gt;&#10;                &lt;/Box&gt;&#10;                &lt;Box style={{ width: 122, height: 42, background: '#FFF4E6', borderRadius: 8, justifyContent: 'center', alignItems: 'center' }}&gt;&#10;                    &lt;Text style={{ fontSize: 15, color: '#CB6B28' }}&gt;出生装配&lt;/Text&gt;&#10;                &lt;/Box&gt;&#10;            &lt;/Box&gt;&#10;        &lt;/Box&gt;&#10;&#10;        &lt;Box style={{ width: 560, flexDirection: 'column', justifyContent: 'center' }}&gt;&#10;&#10;            &lt;Box style={{ width: 560, height: 236, background: '#F7F3E8', borderRadius: 10, padding: '12px 16px', flexDirection: 'column', gap: 8 }}&gt;&#10;                &lt;Text style={{ fontSize: 14, color: '#546779' }}&gt;一张图片（示意）&lt;/Text&gt;&#10;                &lt;Box style={{ width: 528, height: 148, background: '#FFFFFF', borderRadius: 8, padding: 10, flexDirection: 'column', gap: 6 }}&gt;&#10;                    &lt;Box style={{ flexDirection: 'row', gap: 10 }}&gt;&#10;                        &lt;Box style={{ width: 160, height: 62, background: '#EDF4FC', borderRadius: 6, justifyContent: 'center', alignItems: 'center' }}&gt;&#10;                            &lt;Text style={{ fontSize: 14, color: '#276FBF' }}&gt;阅读室&lt;/Text&gt;&#10;                        &lt;/Box&gt;&#10;                        &lt;Box style={{ width: 140, height: 62, background: '#EDF4FC', borderRadius: 6, justifyContent: 'center', alignItems: 'center' }}&gt;&#10;                            &lt;Text style={{ fontSize: 14, color: '#276FBF' }}&gt;手作室&lt;/Text&gt;&#10;                        &lt;/Box&gt;&#10;                        &lt;Box style={{ width: 160, height: 62, background: '#EDF4FC', borderRadius: 6, justifyContent: 'center', alignItems: 'center' }}&gt;&#10;                            &lt;Text style={{ fontSize: 14, color: '#276FBF' }}&gt;交流室&lt;/Text&gt;&#10;                        &lt;/Box&gt;&#10;                    &lt;/Box&gt;&#10;                    &lt;Box style={{ flexDirection: 'row' }}&gt;&#10;                        &lt;Box style={{ width: 186, height: 10, background: '#B5C7D8' }} /&gt;&#10;                        &lt;Box style={{ width: 28, height: 10, background: '#CB6B28' }} /&gt;&#10;                        &lt;Box style={{ width: 144, height: 10, background: '#B5C7D8' }} /&gt;&#10;                        &lt;Box style={{ width: 28, height: 10, background: '#CB6B28' }} /&gt;&#10;                        &lt;Box style={{ width: 114, height: 10, background: '#B5C7D8' }} /&gt;&#10;                    &lt;/Box&gt;&#10;                    &lt;Box style={{ width: 500, height: 44, background: '#ECF7F2', borderRadius: 6, justifyContent: 'center', alignItems: 'center' }}&gt;&#10;                        &lt;Text style={{ fontSize: 14, color: '#26816B' }}&gt;公共大厅&lt;/Text&gt;&#10;                    &lt;/Box&gt;&#10;                &lt;/Box&gt;&#10;                &lt;Text style={{ fontSize: 13, color: '#CB6B28' }}&gt;橙色缺口＝「画出的门」，不等于可走&lt;/Text&gt;&#10;            &lt;/Box&gt;&#10;&#10;            &lt;Box style={{ height: 36, flexDirection: 'row', justifyContent: 'center', alignItems: 'center', gap: 10 }}&gt;&#10;                &lt;Text style={{ fontSize: 22, color: '#276FBF' }}&gt;↓&lt;/Text&gt;&#10;                &lt;Text style={{ fontSize: 14, color: '#546779' }}&gt;系统需要&lt;/Text&gt;&#10;            &lt;/Box&gt;&#10;&#10;            &lt;Box style={{ flexDirection: 'column', gap: 6 }}&gt;&#10;                &lt;Box style={{ width: 560, height: 44, background: '#276FBF', borderRadius: 8, flexDirection: 'row', alignItems: 'center', padding: '0 18px' }}&gt;&#10;                    &lt;Text style={{ fontSize: 16, fontWeight: 'bold', color: '#FFFFFF' }}&gt;World　青禾社区&lt;/Text&gt;&#10;                    &lt;Box style={{ flex: 1 }} /&gt;&#10;                    &lt;Text style={{ fontSize: 13, color: '#FFFFFF' }}&gt;覆盖整张 32×24 地图&lt;/Text&gt;&#10;                &lt;/Box&gt;&#10;                &lt;Box style={{ width: 560, height: 44, background: '#EDF4FC', borderRadius: 8, flexDirection: 'row', alignItems: 'center', padding: '0 18px' }}&gt;&#10;                    &lt;Text style={{ fontSize: 16, fontWeight: 'bold', color: '#276FBF' }}&gt;Sector　学习中心&lt;/Text&gt;&#10;                    &lt;Box style={{ flex: 1 }} /&gt;&#10;                    &lt;Text style={{ fontSize: 13, color: '#546779' }}&gt;同样覆盖整张地图&lt;/Text&gt;&#10;                &lt;/Box&gt;&#10;                &lt;Box style={{ width: 560, height: 44, background: '#ECF7F2', borderRadius: 8, flexDirection: 'row', alignItems: 'center', padding: '0 18px' }}&gt;&#10;                    &lt;Text style={{ fontSize: 16, fontWeight: 'bold', color: '#26816B' }}&gt;Arena　阅读室 · 手作室 · 交流室 · 公共大厅&lt;/Text&gt;&#10;                &lt;/Box&gt;&#10;                &lt;Box style={{ width: 560, height: 44, background: '#26816B', borderRadius: 8, flexDirection: 'row', alignItems: 'center', padding: '0 18px' }}&gt;&#10;                    &lt;Text style={{ fontSize: 16, fontWeight: 'bold', color: '#FFFFFF' }}&gt;Game Object　公告栏 · 服务台&lt;/Text&gt;&#10;                    &lt;Box style={{ flex: 1 }} /&gt;&#10;                    &lt;Text style={{ fontSize: 13, color: '#FFFFFF' }}&gt;绑定对象根 Skill&lt;/Text&gt;&#10;                &lt;/Box&gt;&#10;            &lt;/Box&gt;&#10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485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第三章　在共同世界中行动：用完整案例学习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GenerativeAgentsCN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3.3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53340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从图像到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四层空间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7909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962400"/>
            <a:ext cx="5334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一张画着房间和门的图片，尚未构成仿真地图。系统需要明确的语义、几何范围与碰撞配置；画面、名称与可走，要分别核对。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800600"/>
            <a:ext cx="116205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38200" y="49149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尺度与层级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1885950" y="4800600"/>
            <a:ext cx="116205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181225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语义地址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3162300" y="4800600"/>
            <a:ext cx="116205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3390900" y="49149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通路与门洞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4438650" y="4800600"/>
            <a:ext cx="1162050" cy="400050"/>
          </a:xfrm>
          <a:prstGeom prst="roundRect">
            <a:avLst>
              <a:gd name="adj" fmla="val 1904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733925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出生装配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6248400" y="1495425"/>
            <a:ext cx="5334000" cy="2247900"/>
          </a:xfrm>
          <a:prstGeom prst="roundRect">
            <a:avLst>
              <a:gd name="adj" fmla="val 4237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400800" y="1609725"/>
            <a:ext cx="502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一张图片（示意）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400800" y="1847850"/>
            <a:ext cx="502920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6496050" y="1943100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7058025" y="21621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阅读室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8115300" y="1943100"/>
            <a:ext cx="1333500" cy="590550"/>
          </a:xfrm>
          <a:prstGeom prst="roundRect">
            <a:avLst>
              <a:gd name="adj" fmla="val 967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582025" y="21621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手作室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9544050" y="1943100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0106025" y="21621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交流室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6496050" y="2590800"/>
            <a:ext cx="1771650" cy="952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26" name=""/>
          <p:cNvSpPr/>
          <p:nvPr/>
        </p:nvSpPr>
        <p:spPr>
          <a:xfrm rot="0" flipH="0" flipV="0">
            <a:off x="8267700" y="2590800"/>
            <a:ext cx="266700" cy="952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8534400" y="2590800"/>
            <a:ext cx="1371600" cy="952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28" name=""/>
          <p:cNvSpPr/>
          <p:nvPr/>
        </p:nvSpPr>
        <p:spPr>
          <a:xfrm rot="0" flipH="0" flipV="0">
            <a:off x="9906000" y="2590800"/>
            <a:ext cx="266700" cy="952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10172700" y="2590800"/>
            <a:ext cx="1085850" cy="952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30" name=""/>
          <p:cNvSpPr/>
          <p:nvPr/>
        </p:nvSpPr>
        <p:spPr>
          <a:xfrm rot="0" flipH="0" flipV="0">
            <a:off x="6496050" y="2743200"/>
            <a:ext cx="4762500" cy="419100"/>
          </a:xfrm>
          <a:prstGeom prst="roundRect">
            <a:avLst>
              <a:gd name="adj" fmla="val 1363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610600" y="28765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公共大厅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400800" y="3333750"/>
            <a:ext cx="5029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橙色缺口＝「画出的门」，不等于可走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8553450" y="3790950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753475" y="38385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系统需要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6248400" y="4086225"/>
            <a:ext cx="53340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419850" y="4200525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World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　青禾社区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0210800" y="4219575"/>
            <a:ext cx="1200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覆盖整张</a:t>
            </a: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 xml:space="preserve"> 32×24 </a:t>
            </a: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地图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248400" y="4562475"/>
            <a:ext cx="533400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419850" y="4676775"/>
            <a:ext cx="125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Sector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　学习中心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0420350" y="4695825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同样覆盖整张地图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6248400" y="5038725"/>
            <a:ext cx="5334000" cy="419100"/>
          </a:xfrm>
          <a:prstGeom prst="roundRect">
            <a:avLst>
              <a:gd name="adj" fmla="val 1818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419850" y="5153025"/>
            <a:ext cx="3067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Arena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　阅读室</a:t>
            </a: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手作室</a:t>
            </a: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交流室</a:t>
            </a: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公共大厅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6248400" y="5514975"/>
            <a:ext cx="53340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419850" y="5629275"/>
            <a:ext cx="2219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Game Object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　公告栏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服务台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0515600" y="5648325"/>
            <a:ext cx="895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绑定对象根</a:t>
            </a: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93" name="" descr="&lt;Slide notes={`进入这一节之前，先记住三个可以分别核对的部分：画面长什么样、地点叫什么、角色实际可以走到哪里。这三件事对应三套不同的配置，任何一件没做完，地图都不能算装配完成。&#10;&#10;六个步骤沿这个顺序展开：先定尺度与四层空间，再把背景导入编辑器，然后建立地址树、设置通路与门洞，接着装配四个人物的出生位置，最后用旧案例理解检查方法，并留下本节的交付清单。&#10;&#10;每一步都要区分「已经核对」和「只是看起来对」，这也是全章的基本态度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3　从图像到四层空间&lt;/Text&gt;&#10;            &lt;Text style={{ fontSize: 34, fontWeight: 'bold', color: '#20344B' }}&gt;本节要核对的三件事，拆成六个步骤&lt;/Text&gt;&#10;        &lt;/Box&gt;&#10;    &lt;/Box&gt;&#10;&#10;    &lt;Box style={{ height: 540, flexDirection: 'column', gap: 16 }}&gt;&#10;&#10;        &lt;Box style={{ height: 44, flexDirection: 'row', alignItems: 'center', gap: 12 }}&gt;&#10;            &lt;Text style={{ fontSize: 16, color: '#546779' }}&gt;三个可以分别核对的部分：&lt;/Text&gt;&#10;            &lt;Box style={{ width: 176, height: 44, background: '#EDF4FC', borderRadius: 8, justifyContent: 'center', alignItems: 'center' }}&gt;&#10;                &lt;Text style={{ fontSize: 15, color: '#276FBF' }}&gt;画面长什么样&lt;/Text&gt;&#10;            &lt;/Box&gt;&#10;            &lt;Box style={{ width: 176, height: 44, background: '#EDF4FC', borderRadius: 8, justifyContent: 'center', alignItems: 'center' }}&gt;&#10;                &lt;Text style={{ fontSize: 15, color: '#276FBF' }}&gt;地点叫什么&lt;/Text&gt;&#10;            &lt;/Box&gt;&#10;            &lt;Box style={{ width: 216, height: 44, background: '#ECF7F2', borderRadius: 8, justifyContent: 'center', alignItems: 'center' }}&gt;&#10;                &lt;Text style={{ fontSize: 15, color: '#26816B' }}&gt;角色实际可以走到哪里&lt;/Text&gt;&#10;            &lt;/Box&gt;&#10;        &lt;/Box&gt;&#10;&#10;        &lt;Box style={{ flex: 1, flexDirection: 'column', gap: 16 }}&gt;&#10;&#10;            &lt;Box style={{ flex: 1, flexDirection: 'row', gap: 24 }}&gt;&#10;&#10;                &lt;Box style={{ flex: 1, background: '#F4F7FA', borderRadius: 10, padding: 18, flexDirection: 'column', gap: 8 }}&gt;&#10;                    &lt;Box style={{ flexDirection: 'row', alignItems: 'center', gap: 10 }}&gt;&#10;                        &lt;Box style={{ width: 36, height: 36, background: '#276FBF', borderRadius: 8, justifyContent: 'center', alignItems: 'center' }}&gt;&#10;                            &lt;Text style={{ fontSize: 16, fontWeight: 'bold', color: '#FFFFFF' }}&gt;1&lt;/Text&gt;&#10;                        &lt;/Box&gt;&#10;                        &lt;Box style={{ flexDirection: 'column' }}&gt;&#10;                            &lt;Text style={{ fontSize: 12, color: '#546779' }}&gt;3.3.1&lt;/Text&gt;&#10;                            &lt;Text style={{ fontSize: 17, fontWeight: 'bold', color: '#20344B' }}&gt;先把尺度定下来&lt;/Text&gt;&#10;                        &lt;/Box&gt;&#10;                    &lt;/Box&gt;&#10;                    &lt;Text style={{ fontSize: 14, fontWeight: 'bold', color: '#276FBF' }}&gt;格坐标和像素有什么区别？&lt;/Text&gt;&#10;                    &lt;Text style={{ fontSize: 14, color: '#546779', lineHeight: 1.55 }}&gt;32×24 格、每格 32 像素；World、Sector、Arena、Game Object 四层各管什么。&lt;/Text&gt;&#10;                &lt;/Box&gt;&#10;&#10;                &lt;Box style={{ flex: 1, background: '#F4F7FA', borderRadius: 10, padding: 18, flexDirection: 'column', gap: 8 }}&gt;&#10;                    &lt;Box style={{ flexDirection: 'row', alignItems: 'center', gap: 10 }}&gt;&#10;                        &lt;Box style={{ width: 36, height: 36, background: '#276FBF', borderRadius: 8, justifyContent: 'center', alignItems: 'center' }}&gt;&#10;                            &lt;Text style={{ fontSize: 16, fontWeight: 'bold', color: '#FFFFFF' }}&gt;2&lt;/Text&gt;&#10;                        &lt;/Box&gt;&#10;                        &lt;Box style={{ flexDirection: 'column' }}&gt;&#10;                            &lt;Text style={{ fontSize: 12, color: '#546779' }}&gt;3.3.2&lt;/Text&gt;&#10;                            &lt;Text style={{ fontSize: 17, fontWeight: 'bold', color: '#20344B' }}&gt;新建地图，导入整张背景&lt;/Text&gt;&#10;                        &lt;/Box&gt;&#10;                    &lt;/Box&gt;&#10;                    &lt;Text style={{ fontSize: 14, fontWeight: 'bold', color: '#276FBF' }}&gt;图片进列表就是背景吗？&lt;/Text&gt;&#10;                    &lt;Text style={{ fontSize: 14, color: '#546779', lineHeight: 1.55 }}&gt;新建 32×24 空白地图，导入原图、切片、绑定根节点，三类信息分别核对。&lt;/Text&gt;&#10;                &lt;/Box&gt;&#10;&#10;                &lt;Box style={{ flex: 1, background: '#F4F7FA', borderRadius: 10, padding: 18, flexDirection: 'column', gap: 8 }}&gt;&#10;                    &lt;Box style={{ flexDirection: 'row', alignItems: 'center', gap: 10 }}&gt;&#10;                        &lt;Box style={{ width: 36, height: 36, background: '#276FBF', borderRadius: 8, justifyContent: 'center', alignItems: 'center' }}&gt;&#10;                            &lt;Text style={{ fontSize: 16, fontWeight: 'bold', color: '#FFFFFF' }}&gt;3&lt;/Text&gt;&#10;                        &lt;/Box&gt;&#10;                        &lt;Box style={{ flexDirection: 'column' }}&gt;&#10;                            &lt;Text style={{ fontSize: 12, color: '#546779' }}&gt;3.3.3&lt;/Text&gt;&#10;                            &lt;Text style={{ fontSize: 17, fontWeight: 'bold', color: '#20344B' }}&gt;建立四层地址树&lt;/Text&gt;&#10;                        &lt;/Box&gt;&#10;                    &lt;/Box&gt;&#10;                    &lt;Text style={{ fontSize: 14, fontWeight: 'bold', color: '#276FBF' }}&gt;图上写名字等于有地址吗？&lt;/Text&gt;&#10;                    &lt;Text style={{ fontSize: 14, color: '#546779', lineHeight: 1.55 }}&gt;用「＋」逐层创建节点，填名称、范围与语义；状态外观与初始 state 匹配。&lt;/Text&gt;&#10;                &lt;/Box&gt;&#10;&#10;            &lt;/Box&gt;&#10;&#10;            &lt;Box style={{ flex: 1, flexDirection: 'row', gap: 24 }}&gt;&#10;&#10;                &lt;Box style={{ flex: 1, background: '#F4F7FA', borderRadius: 10, padding: 18, flexDirection: 'column', gap: 8 }}&gt;&#10;                    &lt;Box style={{ flexDirection: 'row', alignItems: 'center', gap: 10 }}&gt;&#10;                        &lt;Box style={{ width: 36, height: 36, background: '#CB6B28', borderRadius: 8, justifyContent: 'center', alignItems: 'center' }}&gt;&#10;                            &lt;Text style={{ fontSize: 16, fontWeight: 'bold', color: '#FFFFFF' }}&gt;4&lt;/Text&gt;&#10;                        &lt;/Box&gt;&#10;                        &lt;Box style={{ flexDirection: 'column' }}&gt;&#10;                            &lt;Text style={{ fontSize: 12, color: '#546779' }}&gt;3.3.4&lt;/Text&gt;&#10;                            &lt;Text style={{ fontSize: 17, fontWeight: 'bold', color: '#20344B' }}&gt;画面有门，还要把门设为可走&lt;/Text&gt;&#10;                        &lt;/Box&gt;&#10;                    &lt;/Box&gt;&#10;                    &lt;Text style={{ fontSize: 14, fontWeight: 'bold', color: '#CB6B28' }}&gt;画出的门能直接通过吗？&lt;/Text&gt;&#10;                    &lt;Text style={{ fontSize: 14, color: '#546779', lineHeight: 1.55 }}&gt;先封连续隔断，再打开门洞格；路径检查区分四种结果，预览线不是走过的路。&lt;/Text&gt;&#10;                &lt;/Box&gt;&#10;&#10;                &lt;Box style={{ flex: 1, background: '#F4F7FA', borderRadius: 10, padding: 18, flexDirection: 'column', gap: 8 }}&gt;&#10;                    &lt;Box style={{ flexDirection: 'row', alignItems: 'center', gap: 10 }}&gt;&#10;                        &lt;Box style={{ width: 36, height: 36, background: '#276FBF', borderRadius: 8, justifyContent: 'center', alignItems: 'center' }}&gt;&#10;                            &lt;Text style={{ fontSize: 16, fontWeight: 'bold', color: '#FFFFFF' }}&gt;5&lt;/Text&gt;&#10;                        &lt;/Box&gt;&#10;                        &lt;Box style={{ flexDirection: 'column' }}&gt;&#10;                            &lt;Text style={{ fontSize: 12, color: '#546779' }}&gt;3.3.5&lt;/Text&gt;&#10;                            &lt;Text style={{ fontSize: 17, fontWeight: 'bold', color: '#20344B' }}&gt;人物图片与出生装配&lt;/Text&gt;&#10;                        &lt;/Box&gt;&#10;                    &lt;/Box&gt;&#10;                    &lt;Text style={{ fontSize: 14, fontWeight: 'bold', color: '#276FBF' }}&gt;预定坐标能代替选择器吗？&lt;/Text&gt;&#10;                    &lt;Text style={{ fontSize: 14, color: '#546779', lineHeight: 1.55 }}&gt;头像与行走图按规格核对；空间选择器自动产生可走落点，X、Y 只读。&lt;/Text&gt;&#10;                &lt;/Box&gt;&#10;&#10;                &lt;Box style={{ flex: 1, background: '#F4F7FA', borderRadius: 10, padding: 18, flexDirection: 'column', gap: 8 }}&gt;&#10;                    &lt;Box style={{ flexDirection: 'row', alignItems: 'center', gap: 10 }}&gt;&#10;                        &lt;Box style={{ width: 36, height: 36, background: '#26816B', borderRadius: 8, justifyContent: 'center', alignItems: 'center' }}&gt;&#10;                            &lt;Text style={{ fontSize: 16, fontWeight: 'bold', color: '#FFFFFF' }}&gt;6&lt;/Text&gt;&#10;                        &lt;/Box&gt;&#10;                        &lt;Box style={{ flexDirection: 'column' }}&gt;&#10;                            &lt;Text style={{ fontSize: 12, color: '#546779' }}&gt;3.3.6&lt;/Text&gt;&#10;                            &lt;Text style={{ fontSize: 17, fontWeight: 'bold', color: '#20344B' }}&gt;用旧案例理解检查方法&lt;/Text&gt;&#10;                        &lt;/Box&gt;&#10;                    &lt;/Box&gt;&#10;                    &lt;Text style={{ fontSize: 14, fontWeight: 'bold', color: '#26816B' }}&gt;旧案例能证明新地图吗？&lt;/Text&gt;&#10;                    &lt;Text style={{ fontSize: 14, color: '#546779', lineHeight: 1.55 }}&gt;晨间与穿门案例教检查方法；本节留下背景、语义、碰撞、出生与核对清单。&lt;/Text&gt;&#10;                &lt;/Box&gt;&#10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3 从图像到四层空间&lt;/Text&gt;&#10;        &lt;Text style={{ fontSize: 14, color: '#546779' }}&gt;02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181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从图像到四层空间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181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本节要核对的三件事，拆成六个步骤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609600" y="1257300"/>
            <a:ext cx="1828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三个可以分别核对的部分：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2552700" y="1143000"/>
            <a:ext cx="167640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2962275" y="12668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画面长什么样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4343400" y="1143000"/>
            <a:ext cx="167640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4829175" y="12668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地点叫什么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6134100" y="1143000"/>
            <a:ext cx="2057400" cy="419100"/>
          </a:xfrm>
          <a:prstGeom prst="roundRect">
            <a:avLst>
              <a:gd name="adj" fmla="val 1818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6448425" y="126682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角色实际可以走到哪里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609600" y="1714500"/>
            <a:ext cx="3505200" cy="2209800"/>
          </a:xfrm>
          <a:prstGeom prst="roundRect">
            <a:avLst>
              <a:gd name="adj" fmla="val 431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6" name=""/>
          <p:cNvSpPr/>
          <p:nvPr/>
        </p:nvSpPr>
        <p:spPr>
          <a:xfrm rot="0" flipH="0" flipV="0">
            <a:off x="781050" y="18859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904875" y="19621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1219200" y="1885950"/>
            <a:ext cx="1133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3.3.1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1219200" y="2028825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先把尺度定下来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781050" y="2305050"/>
            <a:ext cx="3162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76FBF"/>
                </a:solidFill>
                <a:latin typeface="Microsoft YaHei"/>
                <a:ea typeface="Microsoft YaHei"/>
              </a:rPr>
              <a:t>格坐标和像素有什么区别？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781050" y="2543175"/>
            <a:ext cx="31623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32×24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格、每格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32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像素；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World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Sector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Arena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Game Object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四层各管什么。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4343400" y="1714500"/>
            <a:ext cx="3505200" cy="2209800"/>
          </a:xfrm>
          <a:prstGeom prst="roundRect">
            <a:avLst>
              <a:gd name="adj" fmla="val 431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13" name=""/>
          <p:cNvSpPr/>
          <p:nvPr/>
        </p:nvSpPr>
        <p:spPr>
          <a:xfrm rot="0" flipH="0" flipV="0">
            <a:off x="4514850" y="18859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4638675" y="19621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4953000" y="1885950"/>
            <a:ext cx="1781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3.3.2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4953000" y="2028825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新建地图，导入整张背景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4514850" y="2305050"/>
            <a:ext cx="3162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76FBF"/>
                </a:solidFill>
                <a:latin typeface="Microsoft YaHei"/>
                <a:ea typeface="Microsoft YaHei"/>
              </a:rPr>
              <a:t>图片进列表就是背景吗？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4514850" y="2543175"/>
            <a:ext cx="31623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新建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32×24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空白地图，导入原图、切片、绑定根节点，三类信息分别核对。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8077200" y="1714500"/>
            <a:ext cx="3505200" cy="2209800"/>
          </a:xfrm>
          <a:prstGeom prst="roundRect">
            <a:avLst>
              <a:gd name="adj" fmla="val 431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20" name=""/>
          <p:cNvSpPr/>
          <p:nvPr/>
        </p:nvSpPr>
        <p:spPr>
          <a:xfrm rot="0" flipH="0" flipV="0">
            <a:off x="8248650" y="18859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8372475" y="19621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8686800" y="1885950"/>
            <a:ext cx="1133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3.3.3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8686800" y="2028825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建立四层地址树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8248650" y="2305050"/>
            <a:ext cx="3162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76FBF"/>
                </a:solidFill>
                <a:latin typeface="Microsoft YaHei"/>
                <a:ea typeface="Microsoft YaHei"/>
              </a:rPr>
              <a:t>图上写名字等于有地址吗？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8248650" y="2543175"/>
            <a:ext cx="31623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用「＋」逐层创建节点，填名称、范围与语义；状态外观与初始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state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匹配。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609600" y="4076700"/>
            <a:ext cx="3505200" cy="2209800"/>
          </a:xfrm>
          <a:prstGeom prst="roundRect">
            <a:avLst>
              <a:gd name="adj" fmla="val 431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27" name=""/>
          <p:cNvSpPr/>
          <p:nvPr/>
        </p:nvSpPr>
        <p:spPr>
          <a:xfrm rot="0" flipH="0" flipV="0">
            <a:off x="781050" y="42481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904875" y="43243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1219200" y="4248150"/>
            <a:ext cx="2105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3.3.4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1219200" y="4391025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画面有门，还要把门设为可走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781050" y="4667250"/>
            <a:ext cx="3162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B6B28"/>
                </a:solidFill>
                <a:latin typeface="Microsoft YaHei"/>
                <a:ea typeface="Microsoft YaHei"/>
              </a:rPr>
              <a:t>画出的门能直接通过吗？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781050" y="4905375"/>
            <a:ext cx="31623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先封连续隔断，再打开门洞格；路径检查区分四种结果，预览线不是走过的路。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4343400" y="4076700"/>
            <a:ext cx="3505200" cy="2209800"/>
          </a:xfrm>
          <a:prstGeom prst="roundRect">
            <a:avLst>
              <a:gd name="adj" fmla="val 431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4" name=""/>
          <p:cNvSpPr/>
          <p:nvPr/>
        </p:nvSpPr>
        <p:spPr>
          <a:xfrm rot="0" flipH="0" flipV="0">
            <a:off x="4514850" y="42481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4638675" y="43243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4953000" y="4248150"/>
            <a:ext cx="1457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3.3.5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4953000" y="4391025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人物图片与出生装配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4514850" y="4667250"/>
            <a:ext cx="3162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76FBF"/>
                </a:solidFill>
                <a:latin typeface="Microsoft YaHei"/>
                <a:ea typeface="Microsoft YaHei"/>
              </a:rPr>
              <a:t>预定坐标能代替选择器吗？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4514850" y="4905375"/>
            <a:ext cx="31623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头像与行走图按规格核对；空间选择器自动产生可走落点，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X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只读。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8077200" y="4076700"/>
            <a:ext cx="3505200" cy="2209800"/>
          </a:xfrm>
          <a:prstGeom prst="roundRect">
            <a:avLst>
              <a:gd name="adj" fmla="val 431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1" name=""/>
          <p:cNvSpPr/>
          <p:nvPr/>
        </p:nvSpPr>
        <p:spPr>
          <a:xfrm rot="0" flipH="0" flipV="0">
            <a:off x="8248650" y="42481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8372475" y="43243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8686800" y="4248150"/>
            <a:ext cx="1619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3.3.6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8686800" y="4391025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用旧案例理解检查方法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8248650" y="4667250"/>
            <a:ext cx="3162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6816B"/>
                </a:solidFill>
                <a:latin typeface="Microsoft YaHei"/>
                <a:ea typeface="Microsoft YaHei"/>
              </a:rPr>
              <a:t>旧案例能证明新地图吗？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8248650" y="4905375"/>
            <a:ext cx="31623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晨间与穿门案例教检查方法；本节留下背景、语义、碰撞、出生与核对清单。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从图像到四层空间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655" name="" descr="&lt;Slide notes={`动手配置之前，先把尺度定下来。青禾地图采用 32×24 格，每格 32 像素，完整背景是 1024×768 像素。&#10;&#10;格坐标从左上角开始，X 向右、Y 向下。人物的世界位置以格坐标记录，图片的像素位置只是显示方式——把图放大两倍，不会让角色一次走得更远。&#10;&#10;尺度定稳了，后面的语义范围、门洞位置和出生坐标才有统一的读法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1　　3.3.1&lt;/Text&gt;&#10;&#10;        &lt;Text style={{ fontSize: 56, fontWeight: 'bold', color: '#20344B', lineHeight: 1.15 }}&gt;先把尺度定下来&lt;/Text&gt;&#10;&#10;        &lt;Box style={{ width: 72, height: 4, background: '#276FBF' }} /&gt;&#10;&#10;        &lt;Text style={{ fontSize: 18, color: '#546779', lineHeight: 1.7, width: 900 }}&gt;32×24 格、每格 32 像素；格坐标记录世界位置，像素只是显示方式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32×24 格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每格 32 像素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X 向右、Y 向下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3 从图像到四层空间&lt;/Text&gt;&#10;        &lt;Text style={{ fontSize: 14, color: '#546779' }}&gt;03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3.3.1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先把尺度定下来</a:t>
            </a:r>
            <a:endParaRPr/>
          </a:p>
        </p:txBody>
      </p:sp>
      <p:sp>
        <p:nvSpPr>
          <p:cNvPr id="659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32×24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格、每格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32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像素；格坐标记录世界位置，像素只是显示方式。</a:t>
            </a:r>
            <a:endParaRPr/>
          </a:p>
        </p:txBody>
      </p:sp>
      <p:sp>
        <p:nvSpPr>
          <p:cNvPr id="661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1666875" y="4257675"/>
            <a:ext cx="75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76FBF"/>
                </a:solidFill>
                <a:latin typeface="Microsoft YaHei"/>
                <a:ea typeface="Microsoft YaHei"/>
              </a:rPr>
              <a:t xml:space="preserve">32×24 </a:t>
            </a: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格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64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4819650" y="4257675"/>
            <a:ext cx="990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每格</a:t>
            </a:r>
            <a:r>
              <a:rPr lang="en-US" sz="1350">
                <a:solidFill>
                  <a:srgbClr val="276FBF"/>
                </a:solidFill>
                <a:latin typeface="Microsoft YaHei"/>
                <a:ea typeface="Microsoft YaHei"/>
              </a:rPr>
              <a:t xml:space="preserve"> 32 </a:t>
            </a: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像素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8001000" y="4257675"/>
            <a:ext cx="1181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6816B"/>
                </a:solidFill>
                <a:latin typeface="Microsoft YaHei"/>
                <a:ea typeface="Microsoft YaHei"/>
              </a:rPr>
              <a:t xml:space="preserve">X </a:t>
            </a: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向右、</a:t>
            </a:r>
            <a:r>
              <a:rPr lang="en-US" sz="1350">
                <a:solidFill>
                  <a:srgbClr val="26816B"/>
                </a:solidFill>
                <a:latin typeface="Microsoft YaHei"/>
                <a:ea typeface="Microsoft YaHei"/>
              </a:rPr>
              <a:t xml:space="preserve">Y </a:t>
            </a: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向下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从图像到四层空间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25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671" name="" descr="&lt;Slide notes={`四层空间从上到下：World 是青禾社区，Sector 是学习中心，这两层都覆盖整张 32×24 地图。第三层 Arena 是四个场所：阅读室对应阅读桌，手作室对应手作台，交流室对应交流桌，公共大厅里是公告栏和服务台。第四层 Game Object 描述具体物件。&#10;&#10;每一层都可以有自然语言语义，但只有 Game Object 绑定对象根 Skill，这部分到 3.4 节再展开。&#10;&#10;还要注意：一个 Arena 内可以有可走空地，空地不必为了凑齐四层而虚构一个「地面对象」。层级是描述世界的工具，不是填空题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3.1　先把尺度定下来&lt;/Text&gt;&#10;            &lt;Text style={{ fontSize: 34, fontWeight: 'bold', color: '#20344B' }}&gt;四层空间：从 World 到 Game Object&lt;/Text&gt;&#10;        &lt;/Box&gt;&#10;    &lt;/Box&gt;&#10;&#10;    &lt;Box style={{ height: 540, flexDirection: 'column', justifyContent: 'center', gap: 8 }}&gt;&#10;&#10;        &lt;Box style={{ flexDirection: 'row', justifyContent: 'center' }}&gt;&#10;            &lt;Box style={{ width: 640, height: 56, background: '#276FBF', borderRadius: 8, flexDirection: 'row', alignItems: 'center', padding: '0 20px' }}&gt;&#10;                &lt;Text style={{ fontSize: 20, fontWeight: 'bold', color: '#FFFFFF' }}&gt;World　青禾社区&lt;/Text&gt;&#10;                &lt;Box style={{ flex: 1 }} /&gt;&#10;                &lt;Text style={{ fontSize: 13, color: '#FFFFFF' }}&gt;覆盖整张 32×24 地图&lt;/Text&gt;&#10;            &lt;/Box&gt;&#10;        &lt;/Box&gt;&#10;&#10;        &lt;Box style={{ height: 20, justifyContent: 'center', alignItems: 'center' }}&gt;&#10;            &lt;Text style={{ fontSize: 18, color: '#276FBF' }}&gt;↓&lt;/Text&gt;&#10;        &lt;/Box&gt;&#10;&#10;        &lt;Box style={{ flexDirection: 'row', justifyContent: 'center' }}&gt;&#10;            &lt;Box style={{ width: 560, height: 56, background: '#EDF4FC', borderRadius: 8, flexDirection: 'row', alignItems: 'center', padding: '0 20px' }}&gt;&#10;                &lt;Text style={{ fontSize: 20, fontWeight: 'bold', color: '#276FBF' }}&gt;Sector　学习中心&lt;/Text&gt;&#10;                &lt;Box style={{ flex: 1 }} /&gt;&#10;                &lt;Text style={{ fontSize: 13, color: '#546779' }}&gt;同样覆盖整张地图&lt;/Text&gt;&#10;            &lt;/Box&gt;&#10;        &lt;/Box&gt;&#10;&#10;        &lt;Box style={{ height: 20, justifyContent: 'center', alignItems: 'center' }}&gt;&#10;            &lt;Text style={{ fontSize: 18, color: '#276FBF' }}&gt;↓&lt;/Text&gt;&#10;        &lt;/Box&gt;&#10;&#10;        &lt;Box style={{ flexDirection: 'row', gap: 36, justifyContent: 'center' }}&gt;&#10;&#10;            &lt;Box style={{ width: 260, height: 116, background: '#EDF4FC', borderRadius: 8, padding: '12px 14px', flexDirection: 'column', gap: 5, justifyContent: 'center' }}&gt;&#10;                &lt;Text style={{ fontSize: 19, fontWeight: 'bold', color: '#276FBF' }}&gt;阅读室&lt;/Text&gt;&#10;                &lt;Text style={{ fontSize: 13, color: '#546779', lineHeight: 1.5 }}&gt;适合阅读与分享&lt;/Text&gt;&#10;                &lt;Text style={{ fontSize: 12, color: '#546779' }}&gt;X 1 · Y 1 · W 10 · H 12&lt;/Text&gt;&#10;            &lt;/Box&gt;&#10;&#10;            &lt;Box style={{ width: 260, height: 116, background: '#EDF4FC', borderRadius: 8, padding: '12px 14px', flexDirection: 'column', gap: 5, justifyContent: 'center' }}&gt;&#10;                &lt;Text style={{ fontSize: 19, fontWeight: 'bold', color: '#276FBF' }}&gt;手作室&lt;/Text&gt;&#10;                &lt;Text style={{ fontSize: 13, color: '#546779', lineHeight: 1.5 }}&gt;手作准备与信息调整&lt;/Text&gt;&#10;                &lt;Text style={{ fontSize: 12, color: '#546779' }}&gt;X 12 · Y 1 · W 9 · H 12&lt;/Text&gt;&#10;            &lt;/Box&gt;&#10;&#10;            &lt;Box style={{ width: 260, height: 116, background: '#EDF4FC', borderRadius: 8, padding: '12px 14px', flexDirection: 'column', gap: 5, justifyContent: 'center' }}&gt;&#10;                &lt;Text style={{ fontSize: 19, fontWeight: 'bold', color: '#276FBF' }}&gt;交流室&lt;/Text&gt;&#10;                &lt;Text style={{ fontSize: 13, color: '#546779', lineHeight: 1.5 }}&gt;入场后的整理与交流&lt;/Text&gt;&#10;                &lt;Text style={{ fontSize: 12, color: '#546779' }}&gt;X 22 · Y 1 · W 9 · H 12&lt;/Text&gt;&#10;            &lt;/Box&gt;&#10;&#10;            &lt;Box style={{ width: 260, height: 116, background: '#ECF7F2', borderRadius: 8, padding: '12px 14px', flexDirection: 'column', gap: 5, justifyContent: 'center' }}&gt;&#10;                &lt;Text style={{ fontSize: 19, fontWeight: 'bold', color: '#26816B' }}&gt;公共大厅&lt;/Text&gt;&#10;                &lt;Text style={{ fontSize: 13, color: '#546779', lineHeight: 1.5 }}&gt;连接房间、查询公告与咨询&lt;/Text&gt;&#10;                &lt;Text style={{ fontSize: 12, color: '#546779' }}&gt;X 1 · Y 13 · W 30 · H 10&lt;/Text&gt;&#10;            &lt;/Box&gt;&#10;&#10;        &lt;/Box&gt;&#10;&#10;        &lt;Box style={{ flexDirection: 'row', gap: 36, justifyContent: 'center' }}&gt;&#10;            &lt;Box style={{ width: 260, height: 20, justifyContent: 'center', alignItems: 'center' }}&gt;&lt;Text style={{ fontSize: 16, color: '#26816B' }}&gt;↓&lt;/Text&gt;&lt;/Box&gt;&#10;            &lt;Box style={{ width: 260, height: 20, justifyContent: 'center', alignItems: 'center' }}&gt;&lt;Text style={{ fontSize: 16, color: '#26816B' }}&gt;↓&lt;/Text&gt;&lt;/Box&gt;&#10;            &lt;Box style={{ width: 260, height: 20, justifyContent: 'center', alignItems: 'center' }}&gt;&lt;Text style={{ fontSize: 16, color: '#26816B' }}&gt;↓&lt;/Text&gt;&lt;/Box&gt;&#10;            &lt;Box style={{ width: 260, height: 20, justifyContent: 'center', alignItems: 'center' }}&gt;&lt;Text style={{ fontSize: 16, color: '#26816B' }}&gt;↓&lt;/Text&gt;&lt;/Box&gt;&#10;        &lt;/Box&gt;&#10;&#10;        &lt;Box style={{ flexDirection: 'row', gap: 36, justifyContent: 'center' }}&gt;&#10;&#10;            &lt;Box style={{ width: 260, height: 50, background: '#26816B', borderRadius: 8, justifyContent: 'center', alignItems: 'center' }}&gt;&#10;                &lt;Text style={{ fontSize: 16, fontWeight: 'bold', color: '#FFFFFF' }}&gt;阅读桌&lt;/Text&gt;&#10;            &lt;/Box&gt;&#10;&#10;            &lt;Box style={{ width: 260, height: 50, background: '#26816B', borderRadius: 8, justifyContent: 'center', alignItems: 'center' }}&gt;&#10;                &lt;Text style={{ fontSize: 16, fontWeight: 'bold', color: '#FFFFFF' }}&gt;手作台&lt;/Text&gt;&#10;            &lt;/Box&gt;&#10;&#10;            &lt;Box style={{ width: 260, height: 50, background: '#26816B', borderRadius: 8, justifyContent: 'center', alignItems: 'center' }}&gt;&#10;                &lt;Text style={{ fontSize: 16, fontWeight: 'bold', color: '#FFFFFF' }}&gt;交流桌&lt;/Text&gt;&#10;            &lt;/Box&gt;&#10;&#10;            &lt;Box style={{ width: 260, height: 50, flexDirection: 'row', gap: 12 }}&gt;&#10;                &lt;Box style={{ width: 124, height: 50, background: '#26816B', borderRadius: 8, justifyContent: 'center', alignItems: 'center' }}&gt;&#10;                    &lt;Text style={{ fontSize: 15, fontWeight: 'bold', color: '#FFFFFF' }}&gt;公告栏&lt;/Text&gt;&#10;                &lt;/Box&gt;&#10;                &lt;Box style={{ width: 124, height: 50, background: '#26816B', borderRadius: 8, justifyContent: 'center', alignItems: 'center' }}&gt;&#10;                    &lt;Text style={{ fontSize: 15, fontWeight: 'bold', color: '#FFFFFF' }}&gt;服务台&lt;/Text&gt;&#10;                &lt;/Box&gt;&#10;            &lt;/Box&gt;&#10;&#10;        &lt;/Box&gt;&#10;&#10;        &lt;Box style={{ marginTop: 10, flexDirection: 'row', alignItems: 'center', gap: 16, background: '#F4F7FA', borderRadius: 10, padding: '12px 20px' }}&gt;&#10;            &lt;Box style={{ width: 4, height: 44, background: '#276FBF' }} /&gt;&#10;            &lt;Box style={{ flex: 1, flexDirection: 'column', gap: 3 }}&gt;&#10;                &lt;Text style={{ fontSize: 16, fontWeight: 'bold', color: '#276FBF' }}&gt;前三层描述世界、区域和场所；第四层 Game Object 描述具体物件&lt;/Text&gt;&#10;                &lt;Text style={{ fontSize: 14, color: '#546779' }}&gt;只有 Game Object 绑定对象根 Skill（3.4 展开）；Arena 内的可走空地不必虚构「地面对象」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3 从图像到四层空间&lt;/Text&gt;&#10;        &lt;Text style={{ fontSize: 14, color: '#546779' }}&gt;04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667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3.3.1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先把尺度定下来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6673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四层空间：从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World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到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Game Object</a:t>
            </a:r>
            <a:endParaRPr/>
          </a:p>
        </p:txBody>
      </p:sp>
      <p:sp>
        <p:nvSpPr>
          <p:cNvPr id="676" name=""/>
          <p:cNvSpPr/>
          <p:nvPr/>
        </p:nvSpPr>
        <p:spPr>
          <a:xfrm rot="0" flipH="0" flipV="0">
            <a:off x="3048000" y="1466850"/>
            <a:ext cx="6096000" cy="533400"/>
          </a:xfrm>
          <a:prstGeom prst="roundRect">
            <a:avLst>
              <a:gd name="adj" fmla="val 14286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3238500" y="1619250"/>
            <a:ext cx="1543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World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　青禾社区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7753350" y="1657350"/>
            <a:ext cx="1200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覆盖整张</a:t>
            </a: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 xml:space="preserve"> 32×24 </a:t>
            </a: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地图</a:t>
            </a:r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6057900" y="206692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80" name=""/>
          <p:cNvSpPr/>
          <p:nvPr/>
        </p:nvSpPr>
        <p:spPr>
          <a:xfrm rot="0" flipH="0" flipV="0">
            <a:off x="3429000" y="2343150"/>
            <a:ext cx="53340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3619500" y="2495550"/>
            <a:ext cx="1562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Sector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　学习中心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7581900" y="2533650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同样覆盖整张地图</a:t>
            </a:r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6057900" y="294322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84" name=""/>
          <p:cNvSpPr/>
          <p:nvPr/>
        </p:nvSpPr>
        <p:spPr>
          <a:xfrm rot="0" flipH="0" flipV="0">
            <a:off x="628650" y="3219450"/>
            <a:ext cx="2476500" cy="1104900"/>
          </a:xfrm>
          <a:prstGeom prst="roundRect">
            <a:avLst>
              <a:gd name="adj" fmla="val 689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762000" y="3429000"/>
            <a:ext cx="2209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阅读室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762000" y="3695700"/>
            <a:ext cx="22098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适合阅读与分享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762000" y="3971925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X 1 · Y 1 · W 10 · H 12</a:t>
            </a:r>
            <a:endParaRPr/>
          </a:p>
        </p:txBody>
      </p:sp>
      <p:sp>
        <p:nvSpPr>
          <p:cNvPr id="688" name=""/>
          <p:cNvSpPr/>
          <p:nvPr/>
        </p:nvSpPr>
        <p:spPr>
          <a:xfrm rot="0" flipH="0" flipV="0">
            <a:off x="3448050" y="3219450"/>
            <a:ext cx="2476500" cy="1104900"/>
          </a:xfrm>
          <a:prstGeom prst="roundRect">
            <a:avLst>
              <a:gd name="adj" fmla="val 689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3581400" y="3429000"/>
            <a:ext cx="2209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手作室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3581400" y="3695700"/>
            <a:ext cx="22098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手作准备与信息调整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3581400" y="3971925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X 12 · Y 1 · W 9 · H 12</a:t>
            </a:r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6267450" y="3219450"/>
            <a:ext cx="2476500" cy="1104900"/>
          </a:xfrm>
          <a:prstGeom prst="roundRect">
            <a:avLst>
              <a:gd name="adj" fmla="val 689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6400800" y="3429000"/>
            <a:ext cx="2209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交流室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6400800" y="3695700"/>
            <a:ext cx="22098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入场后的整理与交流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6400800" y="3971925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X 22 · Y 1 · W 9 · H 12</a:t>
            </a:r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9086850" y="3219450"/>
            <a:ext cx="2476500" cy="1104900"/>
          </a:xfrm>
          <a:prstGeom prst="roundRect">
            <a:avLst>
              <a:gd name="adj" fmla="val 689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9220200" y="3429000"/>
            <a:ext cx="2209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公共大厅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9220200" y="3695700"/>
            <a:ext cx="22098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连接房间、查询公告与咨询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9220200" y="3971925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X 1 · Y 13 · W 30 · H 10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1828800" y="4400550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4648200" y="4400550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7467600" y="4400550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10287000" y="4400550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704" name=""/>
          <p:cNvSpPr/>
          <p:nvPr/>
        </p:nvSpPr>
        <p:spPr>
          <a:xfrm rot="0" flipH="0" flipV="0">
            <a:off x="628650" y="4667250"/>
            <a:ext cx="2476500" cy="476250"/>
          </a:xfrm>
          <a:prstGeom prst="roundRect">
            <a:avLst>
              <a:gd name="adj" fmla="val 16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1638300" y="4810125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阅读桌</a:t>
            </a:r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3448050" y="4667250"/>
            <a:ext cx="2476500" cy="476250"/>
          </a:xfrm>
          <a:prstGeom prst="roundRect">
            <a:avLst>
              <a:gd name="adj" fmla="val 16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4457700" y="4810125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手作台</a:t>
            </a:r>
            <a:endParaRPr/>
          </a:p>
        </p:txBody>
      </p:sp>
      <p:sp>
        <p:nvSpPr>
          <p:cNvPr id="708" name=""/>
          <p:cNvSpPr/>
          <p:nvPr/>
        </p:nvSpPr>
        <p:spPr>
          <a:xfrm rot="0" flipH="0" flipV="0">
            <a:off x="6267450" y="4667250"/>
            <a:ext cx="2476500" cy="476250"/>
          </a:xfrm>
          <a:prstGeom prst="roundRect">
            <a:avLst>
              <a:gd name="adj" fmla="val 16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7277100" y="4810125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交流桌</a:t>
            </a:r>
            <a:endParaRPr/>
          </a:p>
        </p:txBody>
      </p:sp>
      <p:sp>
        <p:nvSpPr>
          <p:cNvPr id="710" name=""/>
          <p:cNvSpPr/>
          <p:nvPr/>
        </p:nvSpPr>
        <p:spPr>
          <a:xfrm rot="0" flipH="0" flipV="0">
            <a:off x="9086850" y="4667250"/>
            <a:ext cx="1181100" cy="476250"/>
          </a:xfrm>
          <a:prstGeom prst="roundRect">
            <a:avLst>
              <a:gd name="adj" fmla="val 16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9467850" y="481965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公告栏</a:t>
            </a:r>
            <a:endParaRPr/>
          </a:p>
        </p:txBody>
      </p:sp>
      <p:sp>
        <p:nvSpPr>
          <p:cNvPr id="712" name=""/>
          <p:cNvSpPr/>
          <p:nvPr/>
        </p:nvSpPr>
        <p:spPr>
          <a:xfrm rot="0" flipH="0" flipV="0">
            <a:off x="10382250" y="4667250"/>
            <a:ext cx="1181100" cy="476250"/>
          </a:xfrm>
          <a:prstGeom prst="roundRect">
            <a:avLst>
              <a:gd name="adj" fmla="val 16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10763250" y="481965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服务台</a:t>
            </a:r>
            <a:endParaRPr/>
          </a:p>
        </p:txBody>
      </p:sp>
      <p:sp>
        <p:nvSpPr>
          <p:cNvPr id="714" name=""/>
          <p:cNvSpPr/>
          <p:nvPr/>
        </p:nvSpPr>
        <p:spPr>
          <a:xfrm rot="0" flipH="0" flipV="0">
            <a:off x="609600" y="5314950"/>
            <a:ext cx="10972800" cy="647700"/>
          </a:xfrm>
          <a:prstGeom prst="roundRect">
            <a:avLst>
              <a:gd name="adj" fmla="val 1470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15" name=""/>
          <p:cNvSpPr/>
          <p:nvPr/>
        </p:nvSpPr>
        <p:spPr>
          <a:xfrm rot="0" flipH="0" flipV="0">
            <a:off x="800100" y="54292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990600" y="5448300"/>
            <a:ext cx="10401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前三层描述世界、区域和场所；第四层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Game Object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描述具体物件</a:t>
            </a:r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990600" y="5667375"/>
            <a:ext cx="1040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只有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Game Object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绑定对象根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（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展开）；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Arena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内的可走空地不必虚构「地面对象」</a:t>
            </a:r>
            <a:endParaRPr/>
          </a:p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从图像到四层空间</a:t>
            </a:r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720" name="" descr="&lt;Slide notes={`四个 Arena 的范围都写在配置里：阅读室从格 (1,1) 开始，宽 10 高 12；手作室从 (12,1) 开始，宽 9 高 12；交流室从 (22,1) 开始，宽 9 高 12；公共大厅从 (1,13) 开始，宽 30 高 10，横向连接三个房间。&#10;&#10;这些范围值表达的是语义区域，不承诺其中每一格都可走。外墙、房间分隔和物件占用，要等通路配置确定之后才能判断。&#10;&#10;所以核对范围时，只核对边界与教学作用，不要顺手把它当成可走区域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3.1　先把尺度定下来&lt;/Text&gt;&#10;            &lt;Text style={{ fontSize: 34, fontWeight: 'bold', color: '#20344B' }}&gt;四个 Arena 的范围与教学作用&lt;/Text&gt;&#10;        &lt;/Box&gt;&#10;    &lt;/Box&gt;&#10;&#10;    &lt;Box style={{ height: 540, flexDirection: 'column', justifyContent: 'center', gap: 14 }}&gt;&#10;&#10;        &lt;Box style={{ flexDirection: 'row', alignItems: 'center', gap: 12 }}&gt;&#10;            &lt;Box style={{ width: 4, height: 36, background: '#276FBF' }} /&gt;&#10;            &lt;Text style={{ fontSize: 15, color: '#546779' }}&gt;X、Y＝左上角格坐标；W、H＝范围大小（格数）。World 与 Sector 覆盖整张 32×24 地图。&lt;/Text&gt;&#10;        &lt;/Box&gt;&#10;&#10;        &lt;Box style={{ height: 84, flexDirection: 'row', alignItems: 'center', gap: 14 }}&gt;&#10;            &lt;Box style={{ width: 4, height: 64, background: '#276FBF' }} /&gt;&#10;            &lt;Box style={{ width: 148, height: 64, background: '#F4F7FA', borderRadius: 8, justifyContent: 'center', alignItems: 'center' }}&gt;&#10;                &lt;Text style={{ fontSize: 19, fontWeight: 'bold', color: '#20344B' }}&gt;阅读室&lt;/Text&gt;&#10;            &lt;/Box&gt;&#10;            &lt;Box style={{ width: 168, height: 64, background: '#EDF4FC', borderRadius: 8, justifyContent: 'center', alignItems: 'center' }}&gt;&#10;                &lt;Text style={{ fontSize: 16, fontWeight: 'bold', color: '#276FBF' }}&gt;X 1　Y 1&lt;/Text&gt;&#10;            &lt;/Box&gt;&#10;            &lt;Box style={{ width: 168, height: 64, background: '#EDF4FC', borderRadius: 8, justifyContent: 'center', alignItems: 'center' }}&gt;&#10;                &lt;Text style={{ fontSize: 16, fontWeight: 'bold', color: '#276FBF' }}&gt;W 10　H 12&lt;/Text&gt;&#10;            &lt;/Box&gt;&#10;            &lt;Box style={{ flex: 1, height: 64, background: '#FFFFFF', borderRadius: 8, borderWidth: 1, borderColor: '#B5C7D8', justifyContent: 'center', alignItems: 'center' }}&gt;&#10;                &lt;Text style={{ fontSize: 15, color: '#20344B' }}&gt;阅读访客的目标区域&lt;/Text&gt;&#10;            &lt;/Box&gt;&#10;        &lt;/Box&gt;&#10;&#10;        &lt;Box style={{ height: 84, flexDirection: 'row', alignItems: 'center', gap: 14 }}&gt;&#10;            &lt;Box style={{ width: 4, height: 64, background: '#276FBF' }} /&gt;&#10;            &lt;Box style={{ width: 148, height: 64, background: '#F4F7FA', borderRadius: 8, justifyContent: 'center', alignItems: 'center' }}&gt;&#10;                &lt;Text style={{ fontSize: 19, fontWeight: 'bold', color: '#20344B' }}&gt;手作室&lt;/Text&gt;&#10;            &lt;/Box&gt;&#10;            &lt;Box style={{ width: 168, height: 64, background: '#EDF4FC', borderRadius: 8, justifyContent: 'center', alignItems: 'center' }}&gt;&#10;                &lt;Text style={{ fontSize: 16, fontWeight: 'bold', color: '#276FBF' }}&gt;X 12　Y 1&lt;/Text&gt;&#10;            &lt;/Box&gt;&#10;            &lt;Box style={{ width: 168, height: 64, background: '#EDF4FC', borderRadius: 8, justifyContent: 'center', alignItems: 'center' }}&gt;&#10;                &lt;Text style={{ fontSize: 16, fontWeight: 'bold', color: '#276FBF' }}&gt;W 9　H 12&lt;/Text&gt;&#10;            &lt;/Box&gt;&#10;            &lt;Box style={{ flex: 1, height: 64, background: '#FFFFFF', borderRadius: 8, borderWidth: 1, borderColor: '#B5C7D8', justifyContent: 'center', alignItems: 'center' }}&gt;&#10;                &lt;Text style={{ fontSize: 15, color: '#20344B' }}&gt;手作准备与信息调整&lt;/Text&gt;&#10;            &lt;/Box&gt;&#10;        &lt;/Box&gt;&#10;&#10;        &lt;Box style={{ height: 84, flexDirection: 'row', alignItems: 'center', gap: 14 }}&gt;&#10;            &lt;Box style={{ width: 4, height: 64, background: '#276FBF' }} /&gt;&#10;            &lt;Box style={{ width: 148, height: 64, background: '#F4F7FA', borderRadius: 8, justifyContent: 'center', alignItems: 'center' }}&gt;&#10;                &lt;Text style={{ fontSize: 19, fontWeight: 'bold', color: '#20344B' }}&gt;交流室&lt;/Text&gt;&#10;            &lt;/Box&gt;&#10;            &lt;Box style={{ width: 168, height: 64, background: '#EDF4FC', borderRadius: 8, justifyContent: 'center', alignItems: 'center' }}&gt;&#10;                &lt;Text style={{ fontSize: 16, fontWeight: 'bold', color: '#276FBF' }}&gt;X 22　Y 1&lt;/Text&gt;&#10;            &lt;/Box&gt;&#10;            &lt;Box style={{ width: 168, height: 64, background: '#EDF4FC', borderRadius: 8, justifyContent: 'center', alignItems: 'center' }}&gt;&#10;                &lt;Text style={{ fontSize: 16, fontWeight: 'bold', color: '#276FBF' }}&gt;W 9　H 12&lt;/Text&gt;&#10;            &lt;/Box&gt;&#10;            &lt;Box style={{ flex: 1, height: 64, background: '#FFFFFF', borderRadius: 8, borderWidth: 1, borderColor: '#B5C7D8', justifyContent: 'center', alignItems: 'center' }}&gt;&#10;                &lt;Text style={{ fontSize: 15, color: '#20344B' }}&gt;入场后的整理与交流&lt;/Text&gt;&#10;            &lt;/Box&gt;&#10;        &lt;/Box&gt;&#10;&#10;        &lt;Box style={{ height: 84, flexDirection: 'row', alignItems: 'center', gap: 14 }}&gt;&#10;            &lt;Box style={{ width: 4, height: 64, background: '#26816B' }} /&gt;&#10;            &lt;Box style={{ width: 148, height: 64, background: '#F4F7FA', borderRadius: 8, justifyContent: 'center', alignItems: 'center' }}&gt;&#10;                &lt;Text style={{ fontSize: 19, fontWeight: 'bold', color: '#20344B' }}&gt;公共大厅&lt;/Text&gt;&#10;            &lt;/Box&gt;&#10;            &lt;Box style={{ width: 168, height: 64, background: '#ECF7F2', borderRadius: 8, justifyContent: 'center', alignItems: 'center' }}&gt;&#10;                &lt;Text style={{ fontSize: 16, fontWeight: 'bold', color: '#26816B' }}&gt;X 1　Y 13&lt;/Text&gt;&#10;            &lt;/Box&gt;&#10;            &lt;Box style={{ width: 168, height: 64, background: '#ECF7F2', borderRadius: 8, justifyContent: 'center', alignItems: 'center' }}&gt;&#10;                &lt;Text style={{ fontSize: 16, fontWeight: 'bold', color: '#26816B' }}&gt;W 30　H 10&lt;/Text&gt;&#10;            &lt;/Box&gt;&#10;            &lt;Box style={{ flex: 1, height: 64, background: '#FFFFFF', borderRadius: 8, borderWidth: 1, borderColor: '#B5C7D8', justifyContent: 'center', alignItems: 'center' }}&gt;&#10;                &lt;Text style={{ fontSize: 15, color: '#20344B' }}&gt;连接房间、查询公告与咨询&lt;/Text&gt;&#10;            &lt;/Box&gt;&#10;        &lt;/Box&gt;&#10;&#10;        &lt;Box style={{ height: 56, background: '#FFF4E6', borderRadius: 8, flexDirection: 'row', alignItems: 'center', gap: 12, padding: '0 16px' }}&gt;&#10;            &lt;Box style={{ width: 4, height: 36, background: '#CB6B28' }} /&gt;&#10;            &lt;Text style={{ fontSize: 15, color: '#CB6B28' }}&gt;范围包含语义区域，不承诺其中每一格都可走；墙体与物件占用由通路配置确定。&lt;/Text&gt;&#10;        &lt;/Box&gt;&#10;&#10;    &lt;/Box&gt;&#10;&#10;    &lt;Box style={{ height: 40, flexDirection: 'row', justifyContent: 'space-between', alignItems: 'center' }}&gt;&#10;        &lt;Text style={{ fontSize: 14, color: '#546779' }}&gt;3.3 从图像到四层空间&lt;/Text&gt;&#10;        &lt;Text style={{ fontSize: 14, color: '#546779' }}&gt;05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2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400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3.3.1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先把尺度定下来</a:t>
            </a:r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400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四个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Arena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的范围与教学作用</a:t>
            </a:r>
            <a:endParaRPr/>
          </a:p>
        </p:txBody>
      </p:sp>
      <p:sp>
        <p:nvSpPr>
          <p:cNvPr id="725" name=""/>
          <p:cNvSpPr/>
          <p:nvPr/>
        </p:nvSpPr>
        <p:spPr>
          <a:xfrm rot="0" flipH="0" flipV="0">
            <a:off x="609600" y="1343025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762000" y="1428750"/>
            <a:ext cx="594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X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Y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＝左上角格坐标；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W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H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＝范围大小（格数）。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World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Sector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覆盖整张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32×24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地图。</a:t>
            </a:r>
            <a:endParaRPr/>
          </a:p>
        </p:txBody>
      </p:sp>
      <p:sp>
        <p:nvSpPr>
          <p:cNvPr id="727" name=""/>
          <p:cNvSpPr/>
          <p:nvPr/>
        </p:nvSpPr>
        <p:spPr>
          <a:xfrm rot="0" flipH="0" flipV="0">
            <a:off x="609600" y="1914525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28" name=""/>
          <p:cNvSpPr/>
          <p:nvPr/>
        </p:nvSpPr>
        <p:spPr>
          <a:xfrm rot="0" flipH="0" flipV="0">
            <a:off x="781050" y="1914525"/>
            <a:ext cx="14097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1219200" y="2114550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阅读室</a:t>
            </a:r>
            <a:endParaRPr/>
          </a:p>
        </p:txBody>
      </p:sp>
      <p:sp>
        <p:nvSpPr>
          <p:cNvPr id="730" name=""/>
          <p:cNvSpPr/>
          <p:nvPr/>
        </p:nvSpPr>
        <p:spPr>
          <a:xfrm rot="0" flipH="0" flipV="0">
            <a:off x="2324100" y="1914525"/>
            <a:ext cx="16002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2809875" y="2124075"/>
            <a:ext cx="638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X 1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　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Y 1</a:t>
            </a:r>
            <a:endParaRPr/>
          </a:p>
        </p:txBody>
      </p:sp>
      <p:sp>
        <p:nvSpPr>
          <p:cNvPr id="732" name=""/>
          <p:cNvSpPr/>
          <p:nvPr/>
        </p:nvSpPr>
        <p:spPr>
          <a:xfrm rot="0" flipH="0" flipV="0">
            <a:off x="4057650" y="1914525"/>
            <a:ext cx="16002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4400550" y="212407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W 10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　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H 12</a:t>
            </a:r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5791200" y="1914525"/>
            <a:ext cx="57912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8048625" y="213360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阅读访客的目标区域</a:t>
            </a:r>
            <a:endParaRPr/>
          </a:p>
        </p:txBody>
      </p:sp>
      <p:sp>
        <p:nvSpPr>
          <p:cNvPr id="736" name=""/>
          <p:cNvSpPr/>
          <p:nvPr/>
        </p:nvSpPr>
        <p:spPr>
          <a:xfrm rot="0" flipH="0" flipV="0">
            <a:off x="609600" y="2847975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37" name=""/>
          <p:cNvSpPr/>
          <p:nvPr/>
        </p:nvSpPr>
        <p:spPr>
          <a:xfrm rot="0" flipH="0" flipV="0">
            <a:off x="781050" y="2847975"/>
            <a:ext cx="14097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1219200" y="3048000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手作室</a:t>
            </a:r>
            <a:endParaRPr/>
          </a:p>
        </p:txBody>
      </p:sp>
      <p:sp>
        <p:nvSpPr>
          <p:cNvPr id="739" name=""/>
          <p:cNvSpPr/>
          <p:nvPr/>
        </p:nvSpPr>
        <p:spPr>
          <a:xfrm rot="0" flipH="0" flipV="0">
            <a:off x="2324100" y="2847975"/>
            <a:ext cx="16002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2762250" y="3057525"/>
            <a:ext cx="733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X 12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　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Y 1</a:t>
            </a:r>
            <a:endParaRPr/>
          </a:p>
        </p:txBody>
      </p:sp>
      <p:sp>
        <p:nvSpPr>
          <p:cNvPr id="741" name=""/>
          <p:cNvSpPr/>
          <p:nvPr/>
        </p:nvSpPr>
        <p:spPr>
          <a:xfrm rot="0" flipH="0" flipV="0">
            <a:off x="4057650" y="2847975"/>
            <a:ext cx="16002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4448175" y="3057525"/>
            <a:ext cx="819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W 9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　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H 12</a:t>
            </a:r>
            <a:endParaRPr/>
          </a:p>
        </p:txBody>
      </p:sp>
      <p:sp>
        <p:nvSpPr>
          <p:cNvPr id="743" name=""/>
          <p:cNvSpPr/>
          <p:nvPr/>
        </p:nvSpPr>
        <p:spPr>
          <a:xfrm rot="0" flipH="0" flipV="0">
            <a:off x="5791200" y="2847975"/>
            <a:ext cx="57912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8048625" y="306705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手作准备与信息调整</a:t>
            </a:r>
            <a:endParaRPr/>
          </a:p>
        </p:txBody>
      </p:sp>
      <p:sp>
        <p:nvSpPr>
          <p:cNvPr id="745" name=""/>
          <p:cNvSpPr/>
          <p:nvPr/>
        </p:nvSpPr>
        <p:spPr>
          <a:xfrm rot="0" flipH="0" flipV="0">
            <a:off x="609600" y="3781425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46" name=""/>
          <p:cNvSpPr/>
          <p:nvPr/>
        </p:nvSpPr>
        <p:spPr>
          <a:xfrm rot="0" flipH="0" flipV="0">
            <a:off x="781050" y="3781425"/>
            <a:ext cx="14097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1219200" y="3981450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交流室</a:t>
            </a:r>
            <a:endParaRPr/>
          </a:p>
        </p:txBody>
      </p:sp>
      <p:sp>
        <p:nvSpPr>
          <p:cNvPr id="748" name=""/>
          <p:cNvSpPr/>
          <p:nvPr/>
        </p:nvSpPr>
        <p:spPr>
          <a:xfrm rot="0" flipH="0" flipV="0">
            <a:off x="2324100" y="3781425"/>
            <a:ext cx="16002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2762250" y="3990975"/>
            <a:ext cx="733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X 22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　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Y 1</a:t>
            </a:r>
            <a:endParaRPr/>
          </a:p>
        </p:txBody>
      </p:sp>
      <p:sp>
        <p:nvSpPr>
          <p:cNvPr id="750" name=""/>
          <p:cNvSpPr/>
          <p:nvPr/>
        </p:nvSpPr>
        <p:spPr>
          <a:xfrm rot="0" flipH="0" flipV="0">
            <a:off x="4057650" y="3781425"/>
            <a:ext cx="16002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4448175" y="3990975"/>
            <a:ext cx="819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W 9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　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H 12</a:t>
            </a:r>
            <a:endParaRPr/>
          </a:p>
        </p:txBody>
      </p:sp>
      <p:sp>
        <p:nvSpPr>
          <p:cNvPr id="752" name=""/>
          <p:cNvSpPr/>
          <p:nvPr/>
        </p:nvSpPr>
        <p:spPr>
          <a:xfrm rot="0" flipH="0" flipV="0">
            <a:off x="5791200" y="3781425"/>
            <a:ext cx="57912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8048625" y="400050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入场后的整理与交流</a:t>
            </a:r>
            <a:endParaRPr/>
          </a:p>
        </p:txBody>
      </p:sp>
      <p:sp>
        <p:nvSpPr>
          <p:cNvPr id="754" name=""/>
          <p:cNvSpPr/>
          <p:nvPr/>
        </p:nvSpPr>
        <p:spPr>
          <a:xfrm rot="0" flipH="0" flipV="0">
            <a:off x="609600" y="4714875"/>
            <a:ext cx="38100" cy="6096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55" name=""/>
          <p:cNvSpPr/>
          <p:nvPr/>
        </p:nvSpPr>
        <p:spPr>
          <a:xfrm rot="0" flipH="0" flipV="0">
            <a:off x="781050" y="4714875"/>
            <a:ext cx="14097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1123950" y="491490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公共大厅</a:t>
            </a:r>
            <a:endParaRPr/>
          </a:p>
        </p:txBody>
      </p:sp>
      <p:sp>
        <p:nvSpPr>
          <p:cNvPr id="757" name=""/>
          <p:cNvSpPr/>
          <p:nvPr/>
        </p:nvSpPr>
        <p:spPr>
          <a:xfrm rot="0" flipH="0" flipV="0">
            <a:off x="2324100" y="4714875"/>
            <a:ext cx="16002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2762250" y="4924425"/>
            <a:ext cx="733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X 1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　</a:t>
            </a: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Y 13</a:t>
            </a:r>
            <a:endParaRPr/>
          </a:p>
        </p:txBody>
      </p:sp>
      <p:sp>
        <p:nvSpPr>
          <p:cNvPr id="759" name=""/>
          <p:cNvSpPr/>
          <p:nvPr/>
        </p:nvSpPr>
        <p:spPr>
          <a:xfrm rot="0" flipH="0" flipV="0">
            <a:off x="4057650" y="4714875"/>
            <a:ext cx="16002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4400550" y="492442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W 30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　</a:t>
            </a: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H 10</a:t>
            </a:r>
            <a:endParaRPr/>
          </a:p>
        </p:txBody>
      </p:sp>
      <p:sp>
        <p:nvSpPr>
          <p:cNvPr id="761" name=""/>
          <p:cNvSpPr/>
          <p:nvPr/>
        </p:nvSpPr>
        <p:spPr>
          <a:xfrm rot="0" flipH="0" flipV="0">
            <a:off x="5791200" y="4714875"/>
            <a:ext cx="57912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7829550" y="4933950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连接房间、查询公告与咨询</a:t>
            </a:r>
            <a:endParaRPr/>
          </a:p>
        </p:txBody>
      </p:sp>
      <p:sp>
        <p:nvSpPr>
          <p:cNvPr id="763" name=""/>
          <p:cNvSpPr/>
          <p:nvPr/>
        </p:nvSpPr>
        <p:spPr>
          <a:xfrm rot="0" flipH="0" flipV="0">
            <a:off x="609600" y="5553075"/>
            <a:ext cx="1097280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64" name=""/>
          <p:cNvSpPr/>
          <p:nvPr/>
        </p:nvSpPr>
        <p:spPr>
          <a:xfrm rot="0" flipH="0" flipV="0">
            <a:off x="762000" y="5648325"/>
            <a:ext cx="38100" cy="342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914400" y="5734050"/>
            <a:ext cx="514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范围包含语义区域，不承诺其中每一格都可走；墙体与物件占用由通路配置确定。</a:t>
            </a:r>
            <a:endParaRPr/>
          </a:p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从图像到四层空间</a:t>
            </a:r>
            <a:endParaRPr/>
          </a:p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768" name="" descr="&lt;Slide notes={`坐标系统容易踩一个坑：把像素当距离。地图是 32×24 格、每格 32 像素，背景图是 1024×768 像素，这两组数字描述的是同一个空间，但人物的世界位置只用格坐标记录。&#10;&#10;图片的像素位置只是显示方式。把图放大两倍，角色不会因此一次走得更远；反过来，缩小图片也不会压缩移动预算。&#10;&#10;读任何配置时，先确认它写的是格还是像素：空间范围的 X、Y、W、H 都是格数，素材切片的尺寸也是格数，只有素材文件本身的分辨率才是像素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3.1　先把尺度定下来&lt;/Text&gt;&#10;            &lt;Text style={{ fontSize: 34, fontWeight: 'bold', color: '#20344B' }}&gt;格坐标与像素是两回事&lt;/Text&gt;&#10;        &lt;/Box&gt;&#10;    &lt;/Box&gt;&#10;&#10;    &lt;Box style={{ height: 540, flexDirection: 'row', alignItems: 'center', gap: 32 }}&gt;&#10;&#10;        &lt;Box style={{ width: 420, flexDirection: 'column', gap: 16 }}&gt;&#10;            &lt;Text style={{ fontSize: 22, fontWeight: 'bold', color: '#20344B' }}&gt;坐标怎么读&lt;/Text&gt;&#10;            &lt;Box style={{ flexDirection: 'row', gap: 10 }}&gt;&#10;                &lt;Box style={{ width: 8, height: 8, background: '#276FBF', marginTop: 7 }} /&gt;&#10;                &lt;Text style={{ fontSize: 15, color: '#20344B', lineHeight: 1.6, width: 400 }}&gt;地图 32×24 格，每格 32 像素，完整背景 1024×768 像素。&lt;/Text&gt;&#10;            &lt;/Box&gt;&#10;            &lt;Box style={{ flexDirection: 'row', gap: 10 }}&gt;&#10;                &lt;Box style={{ width: 8, height: 8, background: '#276FBF', marginTop: 7 }} /&gt;&#10;                &lt;Text style={{ fontSize: 15, color: '#20344B', lineHeight: 1.6, width: 400 }}&gt;格坐标从左上角开始：X 向右，Y 向下。&lt;/Text&gt;&#10;            &lt;/Box&gt;&#10;            &lt;Box style={{ flexDirection: 'row', gap: 10 }}&gt;&#10;                &lt;Box style={{ width: 8, height: 8, background: '#276FBF', marginTop: 7 }} /&gt;&#10;                &lt;Text style={{ fontSize: 15, color: '#20344B', lineHeight: 1.6, width: 400 }}&gt;人物的世界位置以格坐标记录；图片的像素位置只是显示方式。&lt;/Text&gt;&#10;            &lt;/Box&gt;&#10;            &lt;Box style={{ flexDirection: 'row', gap: 10 }}&gt;&#10;                &lt;Box style={{ width: 8, height: 8, background: '#276FBF', marginTop: 7 }} /&gt;&#10;                &lt;Text style={{ fontSize: 15, color: '#20344B', lineHeight: 1.6, width: 400 }}&gt;保留静态几何图，是为了同时核对坐标、区域边界与门洞位置。&lt;/Text&gt;&#10;            &lt;/Box&gt;&#10;            &lt;Box style={{ height: 64, background: '#FFF4E6', borderRadius: 8, flexDirection: 'row', alignItems: 'center', gap: 12, padding: '0 16px' }}&gt;&#10;                &lt;Box style={{ width: 4, height: 40, background: '#CB6B28' }} /&gt;&#10;                &lt;Text style={{ fontSize: 15, color: '#CB6B28', lineHeight: 1.5 }}&gt;把图放大两倍，不会让角色一次走得更远。&lt;/Text&gt;&#10;            &lt;/Box&gt;&#10;        &lt;/Box&gt;&#10;&#10;        &lt;Box style={{ flex: 1, flexDirection: 'column', alignItems: 'center', gap: 8 }}&gt;&#10;&#10;            &lt;Box style={{ flexDirection: 'row' }}&gt;&#10;                &lt;Box style={{ width: 30 }} /&gt;&#10;                &lt;Box style={{ padding: 2, flexDirection: 'row', gap: 2 }}&gt;&#10;                    &lt;Box style={{ width: 62, height: 20, justifyContent: 'center', alignItems: 'center' }}&gt;&lt;Text style={{ fontSize: 12, color: '#546779' }}&gt;0&lt;/Text&gt;&lt;/Box&gt;&#10;                    &lt;Box style={{ width: 62, height: 20, justifyContent: 'center', alignItems: 'center' }}&gt;&lt;Text style={{ fontSize: 12, color: '#546779' }}&gt;1&lt;/Text&gt;&lt;/Box&gt;&#10;                    &lt;Box style={{ width: 62, height: 20, justifyContent: 'center', alignItems: 'center' }}&gt;&lt;Text style={{ fontSize: 12, color: '#546779' }}&gt;2&lt;/Text&gt;&lt;/Box&gt;&#10;                    &lt;Box style={{ width: 62, height: 20, justifyContent: 'center', alignItems: 'center' }}&gt;&lt;Text style={{ fontSize: 12, color: '#546779' }}&gt;3&lt;/Text&gt;&lt;/Box&gt;&#10;                    &lt;Box style={{ width: 62, height: 20, justifyContent: 'center', alignItems: 'center' }}&gt;&lt;Text style={{ fontSize: 12, color: '#546779' }}&gt;4&lt;/Text&gt;&lt;/Box&gt;&#10;                    &lt;Box style={{ width: 62, height: 20, justifyContent: 'center', alignItems: 'center' }}&gt;&lt;Text style={{ fontSize: 12, color: '#546779' }}&gt;5&lt;/Text&gt;&lt;/Box&gt;&#10;                    &lt;Box style={{ width: 62, height: 20, justifyContent: 'center', alignItems: 'center' }}&gt;&lt;Text style={{ fontSize: 12, color: '#546779' }}&gt;6&lt;/Text&gt;&lt;/Box&gt;&#10;                    &lt;Box style={{ width: 62, height: 20, justifyContent: 'center', alignItems: 'center' }}&gt;&lt;Text style={{ fontSize: 12, color: '#546779' }}&gt;7&lt;/Text&gt;&lt;/Box&gt;&#10;                &lt;/Box&gt;&#10;                &lt;Box style={{ width: 40, height: 20, justifyContent: 'center', alignItems: 'center' }}&gt;&lt;Text style={{ fontSize: 13, color: '#276FBF' }}&gt;X →&lt;/Text&gt;&lt;/Box&gt;&#10;            &lt;/Box&gt;&#10;&#10;            &lt;Box style={{ flexDirection: 'row', gap: 6 }}&gt;&#10;                &lt;Box style={{ padding: 2, flexDirection: 'column', gap: 2 }}&gt;&#10;                    &lt;Box style={{ width: 24, height: 62, justifyContent: 'center', alignItems: 'center' }}&gt;&lt;Text style={{ fontSize: 12, color: '#546779' }}&gt;0&lt;/Text&gt;&lt;/Box&gt;&#10;                    &lt;Box style={{ width: 24, height: 62, justifyContent: 'center', alignItems: 'center' }}&gt;&lt;Text style={{ fontSize: 12, color: '#546779' }}&gt;1&lt;/Text&gt;&lt;/Box&gt;&#10;                    &lt;Box style={{ width: 24, height: 62, justifyContent: 'center', alignItems: 'center' }}&gt;&lt;Text style={{ fontSize: 12, color: '#546779' }}&gt;2&lt;/Text&gt;&lt;/Box&gt;&#10;                    &lt;Box style={{ width: 24, height: 62, justifyContent: 'center', alignItems: 'center' }}&gt;&lt;Text style={{ fontSize: 12, color: '#546779' }}&gt;3&lt;/Text&gt;&lt;/Box&gt;&#10;                    &lt;Box style={{ width: 24, height: 62, justifyContent: 'center', alignItems: 'center' }}&gt;&lt;Text style={{ fontSize: 12, color: '#546779' }}&gt;4&lt;/Text&gt;&lt;/Box&gt;&#10;                    &lt;Box style={{ width: 24, height: 62, justifyContent: 'center', alignItems: 'center' }}&gt;&lt;Text style={{ fontSize: 12, color: '#546779' }}&gt;5&lt;/Text&gt;&lt;/Box&gt;&#10;                &lt;/Box&gt;&#10;&#10;                &lt;Box style={{ width: 514, height: 386, background: '#B5C7D8', borderRadius: 4, padding: 2, flexDirection: 'column', gap: 2 }}&gt;&#10;                    &lt;Box style={{ flexDirection: 'row', gap: 2 }}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&lt;/Box&gt;&#10;                    &lt;Box style={{ flexDirection: 'row', gap: 2 }}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&lt;/Box&gt;&#10;                    &lt;Box style={{ flexDirection: 'row', gap: 2 }}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276FBF', justifyContent: 'center', alignItems: 'center' }}&gt;&#10;                            &lt;Text style={{ fontSize: 14, fontWeight: 'bold', color: '#FFFFFF' }}&gt;(5, 2)&lt;/Text&gt;&#10;                        &lt;/Box&gt;&#10;                        &lt;Box style={{ width: 62, height: 62, background: '#FFFFFF' }} /&gt;&#10;                        &lt;Box style={{ width: 62, height: 62, background: '#FFFFFF' }} /&gt;&#10;                    &lt;/Box&gt;&#10;                    &lt;Box style={{ flexDirection: 'row', gap: 2 }}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&lt;/Box&gt;&#10;                    &lt;Box style={{ flexDirection: 'row', gap: 2 }}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&lt;/Box&gt;&#10;                    &lt;Box style={{ flexDirection: 'row', gap: 2 }}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    &lt;Box style={{ width: 62, height: 62, background: '#FFFFFF' }} /&gt;&#10;                    &lt;/Box&gt;&#10;                &lt;/Box&gt;&#10;            &lt;/Box&gt;&#10;&#10;            &lt;Text style={{ fontSize: 13, color: '#546779' }}&gt;示意：局部网格（8×6），非完整地图；蓝色高亮格的坐标为 (5, 2)，每格 32 像素。&lt;/Text&gt;&#10;&#10;        &lt;/Box&gt;&#10;&#10;    &lt;/Box&gt;&#10;&#10;    &lt;Box style={{ height: 40, flexDirection: 'row', justifyContent: 'space-between', alignItems: 'center' }}&gt;&#10;        &lt;Text style={{ fontSize: 14, color: '#546779' }}&gt;3.3 从图像到四层空间&lt;/Text&gt;&#10;        &lt;Text style={{ fontSize: 14, color: '#546779' }}&gt;06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7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3.3.1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先把尺度定下来</a:t>
            </a:r>
            <a:endParaRPr/>
          </a:p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格坐标与像素是两回事</a:t>
            </a:r>
            <a:endParaRPr/>
          </a:p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609600" y="1933575"/>
            <a:ext cx="4000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坐标怎么读</a:t>
            </a:r>
            <a:endParaRPr/>
          </a:p>
        </p:txBody>
      </p:sp>
      <p:sp>
        <p:nvSpPr>
          <p:cNvPr id="774" name=""/>
          <p:cNvSpPr/>
          <p:nvPr/>
        </p:nvSpPr>
        <p:spPr>
          <a:xfrm rot="0" flipH="0" flipV="0">
            <a:off x="609600" y="2409825"/>
            <a:ext cx="76200" cy="76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781050" y="2343150"/>
            <a:ext cx="3810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地图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32×24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格，每格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32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像素，完整背景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1024×768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像素。</a:t>
            </a:r>
            <a:endParaRPr/>
          </a:p>
        </p:txBody>
      </p:sp>
      <p:sp>
        <p:nvSpPr>
          <p:cNvPr id="776" name=""/>
          <p:cNvSpPr/>
          <p:nvPr/>
        </p:nvSpPr>
        <p:spPr>
          <a:xfrm rot="0" flipH="0" flipV="0">
            <a:off x="609600" y="3114675"/>
            <a:ext cx="76200" cy="76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781050" y="3048000"/>
            <a:ext cx="3810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格坐标从左上角开始：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X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向右，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Y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向下。</a:t>
            </a:r>
            <a:endParaRPr/>
          </a:p>
        </p:txBody>
      </p:sp>
      <p:sp>
        <p:nvSpPr>
          <p:cNvPr id="778" name=""/>
          <p:cNvSpPr/>
          <p:nvPr/>
        </p:nvSpPr>
        <p:spPr>
          <a:xfrm rot="0" flipH="0" flipV="0">
            <a:off x="609600" y="3543300"/>
            <a:ext cx="76200" cy="76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781050" y="3476625"/>
            <a:ext cx="3810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人物的世界位置以格坐标记录；图片的像素位置只是显示方式。</a:t>
            </a:r>
            <a:endParaRPr/>
          </a:p>
        </p:txBody>
      </p:sp>
      <p:sp>
        <p:nvSpPr>
          <p:cNvPr id="780" name=""/>
          <p:cNvSpPr/>
          <p:nvPr/>
        </p:nvSpPr>
        <p:spPr>
          <a:xfrm rot="0" flipH="0" flipV="0">
            <a:off x="609600" y="4248150"/>
            <a:ext cx="76200" cy="76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781050" y="4181475"/>
            <a:ext cx="3810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保留静态几何图，是为了同时核对坐标、区域边界与门洞位置。</a:t>
            </a:r>
            <a:endParaRPr/>
          </a:p>
        </p:txBody>
      </p:sp>
      <p:sp>
        <p:nvSpPr>
          <p:cNvPr id="782" name=""/>
          <p:cNvSpPr/>
          <p:nvPr/>
        </p:nvSpPr>
        <p:spPr>
          <a:xfrm rot="0" flipH="0" flipV="0">
            <a:off x="609600" y="4886325"/>
            <a:ext cx="40005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83" name=""/>
          <p:cNvSpPr/>
          <p:nvPr/>
        </p:nvSpPr>
        <p:spPr>
          <a:xfrm rot="0" flipH="0" flipV="0">
            <a:off x="762000" y="5000625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914400" y="5067300"/>
            <a:ext cx="27146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把图放大两倍，不会让角色一次走得更远。</a:t>
            </a:r>
            <a:endParaRPr/>
          </a:p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6029325" y="165735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6638925" y="165735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7248525" y="165735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7858125" y="165735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8467725" y="165735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9077325" y="165735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9686925" y="165735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792" name="" descr="{&quot;isTemplate&quot;:true,&quot;type&quot;:&quot;text&quot;}"/>
          <p:cNvSpPr txBox="1"/>
          <p:nvPr/>
        </p:nvSpPr>
        <p:spPr>
          <a:xfrm rot="0" flipH="0" flipV="0">
            <a:off x="10296525" y="1657350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10715625" y="16287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>X →</a:t>
            </a:r>
            <a:endParaRPr/>
          </a:p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5734050" y="216217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5734050" y="277177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5734050" y="338137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5734050" y="399097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5734050" y="460057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5734050" y="521017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800" name=""/>
          <p:cNvSpPr/>
          <p:nvPr/>
        </p:nvSpPr>
        <p:spPr>
          <a:xfrm rot="0" flipH="0" flipV="0">
            <a:off x="5962650" y="1914525"/>
            <a:ext cx="4895850" cy="3676650"/>
          </a:xfrm>
          <a:prstGeom prst="roundRect">
            <a:avLst>
              <a:gd name="adj" fmla="val 1036"/>
            </a:avLst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801" name=""/>
          <p:cNvSpPr/>
          <p:nvPr/>
        </p:nvSpPr>
        <p:spPr>
          <a:xfrm rot="0" flipH="0" flipV="0">
            <a:off x="5981700" y="19335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2" name=""/>
          <p:cNvSpPr/>
          <p:nvPr/>
        </p:nvSpPr>
        <p:spPr>
          <a:xfrm rot="0" flipH="0" flipV="0">
            <a:off x="6591300" y="19335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3" name=""/>
          <p:cNvSpPr/>
          <p:nvPr/>
        </p:nvSpPr>
        <p:spPr>
          <a:xfrm rot="0" flipH="0" flipV="0">
            <a:off x="7200900" y="19335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4" name=""/>
          <p:cNvSpPr/>
          <p:nvPr/>
        </p:nvSpPr>
        <p:spPr>
          <a:xfrm rot="0" flipH="0" flipV="0">
            <a:off x="7810500" y="19335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5" name=""/>
          <p:cNvSpPr/>
          <p:nvPr/>
        </p:nvSpPr>
        <p:spPr>
          <a:xfrm rot="0" flipH="0" flipV="0">
            <a:off x="8420100" y="19335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6" name=""/>
          <p:cNvSpPr/>
          <p:nvPr/>
        </p:nvSpPr>
        <p:spPr>
          <a:xfrm rot="0" flipH="0" flipV="0">
            <a:off x="9029700" y="19335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7" name=""/>
          <p:cNvSpPr/>
          <p:nvPr/>
        </p:nvSpPr>
        <p:spPr>
          <a:xfrm rot="0" flipH="0" flipV="0">
            <a:off x="9639300" y="19335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8" name=""/>
          <p:cNvSpPr/>
          <p:nvPr/>
        </p:nvSpPr>
        <p:spPr>
          <a:xfrm rot="0" flipH="0" flipV="0">
            <a:off x="10248900" y="19335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9" name=""/>
          <p:cNvSpPr/>
          <p:nvPr/>
        </p:nvSpPr>
        <p:spPr>
          <a:xfrm rot="0" flipH="0" flipV="0">
            <a:off x="5981700" y="25431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0" name=""/>
          <p:cNvSpPr/>
          <p:nvPr/>
        </p:nvSpPr>
        <p:spPr>
          <a:xfrm rot="0" flipH="0" flipV="0">
            <a:off x="6591300" y="25431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1" name=""/>
          <p:cNvSpPr/>
          <p:nvPr/>
        </p:nvSpPr>
        <p:spPr>
          <a:xfrm rot="0" flipH="0" flipV="0">
            <a:off x="7200900" y="25431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2" name=""/>
          <p:cNvSpPr/>
          <p:nvPr/>
        </p:nvSpPr>
        <p:spPr>
          <a:xfrm rot="0" flipH="0" flipV="0">
            <a:off x="7810500" y="25431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3" name=""/>
          <p:cNvSpPr/>
          <p:nvPr/>
        </p:nvSpPr>
        <p:spPr>
          <a:xfrm rot="0" flipH="0" flipV="0">
            <a:off x="8420100" y="25431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4" name=""/>
          <p:cNvSpPr/>
          <p:nvPr/>
        </p:nvSpPr>
        <p:spPr>
          <a:xfrm rot="0" flipH="0" flipV="0">
            <a:off x="9029700" y="25431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5" name=""/>
          <p:cNvSpPr/>
          <p:nvPr/>
        </p:nvSpPr>
        <p:spPr>
          <a:xfrm rot="0" flipH="0" flipV="0">
            <a:off x="9639300" y="25431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6" name=""/>
          <p:cNvSpPr/>
          <p:nvPr/>
        </p:nvSpPr>
        <p:spPr>
          <a:xfrm rot="0" flipH="0" flipV="0">
            <a:off x="10248900" y="25431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7" name=""/>
          <p:cNvSpPr/>
          <p:nvPr/>
        </p:nvSpPr>
        <p:spPr>
          <a:xfrm rot="0" flipH="0" flipV="0">
            <a:off x="5981700" y="31527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8" name=""/>
          <p:cNvSpPr/>
          <p:nvPr/>
        </p:nvSpPr>
        <p:spPr>
          <a:xfrm rot="0" flipH="0" flipV="0">
            <a:off x="6591300" y="31527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9" name=""/>
          <p:cNvSpPr/>
          <p:nvPr/>
        </p:nvSpPr>
        <p:spPr>
          <a:xfrm rot="0" flipH="0" flipV="0">
            <a:off x="7200900" y="31527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0" name=""/>
          <p:cNvSpPr/>
          <p:nvPr/>
        </p:nvSpPr>
        <p:spPr>
          <a:xfrm rot="0" flipH="0" flipV="0">
            <a:off x="7810500" y="31527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1" name=""/>
          <p:cNvSpPr/>
          <p:nvPr/>
        </p:nvSpPr>
        <p:spPr>
          <a:xfrm rot="0" flipH="0" flipV="0">
            <a:off x="8420100" y="31527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2" name=""/>
          <p:cNvSpPr/>
          <p:nvPr/>
        </p:nvSpPr>
        <p:spPr>
          <a:xfrm rot="0" flipH="0" flipV="0">
            <a:off x="9029700" y="3152775"/>
            <a:ext cx="590550" cy="590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9153525" y="3371850"/>
            <a:ext cx="352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(5, 2)</a:t>
            </a:r>
            <a:endParaRPr/>
          </a:p>
        </p:txBody>
      </p:sp>
      <p:sp>
        <p:nvSpPr>
          <p:cNvPr id="824" name=""/>
          <p:cNvSpPr/>
          <p:nvPr/>
        </p:nvSpPr>
        <p:spPr>
          <a:xfrm rot="0" flipH="0" flipV="0">
            <a:off x="9639300" y="31527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5" name=""/>
          <p:cNvSpPr/>
          <p:nvPr/>
        </p:nvSpPr>
        <p:spPr>
          <a:xfrm rot="0" flipH="0" flipV="0">
            <a:off x="10248900" y="31527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6" name=""/>
          <p:cNvSpPr/>
          <p:nvPr/>
        </p:nvSpPr>
        <p:spPr>
          <a:xfrm rot="0" flipH="0" flipV="0">
            <a:off x="5981700" y="37623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7" name=""/>
          <p:cNvSpPr/>
          <p:nvPr/>
        </p:nvSpPr>
        <p:spPr>
          <a:xfrm rot="0" flipH="0" flipV="0">
            <a:off x="6591300" y="37623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8" name=""/>
          <p:cNvSpPr/>
          <p:nvPr/>
        </p:nvSpPr>
        <p:spPr>
          <a:xfrm rot="0" flipH="0" flipV="0">
            <a:off x="7200900" y="37623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9" name=""/>
          <p:cNvSpPr/>
          <p:nvPr/>
        </p:nvSpPr>
        <p:spPr>
          <a:xfrm rot="0" flipH="0" flipV="0">
            <a:off x="7810500" y="37623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0" name=""/>
          <p:cNvSpPr/>
          <p:nvPr/>
        </p:nvSpPr>
        <p:spPr>
          <a:xfrm rot="0" flipH="0" flipV="0">
            <a:off x="8420100" y="37623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1" name=""/>
          <p:cNvSpPr/>
          <p:nvPr/>
        </p:nvSpPr>
        <p:spPr>
          <a:xfrm rot="0" flipH="0" flipV="0">
            <a:off x="9029700" y="37623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2" name=""/>
          <p:cNvSpPr/>
          <p:nvPr/>
        </p:nvSpPr>
        <p:spPr>
          <a:xfrm rot="0" flipH="0" flipV="0">
            <a:off x="9639300" y="37623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3" name=""/>
          <p:cNvSpPr/>
          <p:nvPr/>
        </p:nvSpPr>
        <p:spPr>
          <a:xfrm rot="0" flipH="0" flipV="0">
            <a:off x="10248900" y="37623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4" name=""/>
          <p:cNvSpPr/>
          <p:nvPr/>
        </p:nvSpPr>
        <p:spPr>
          <a:xfrm rot="0" flipH="0" flipV="0">
            <a:off x="5981700" y="43719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5" name=""/>
          <p:cNvSpPr/>
          <p:nvPr/>
        </p:nvSpPr>
        <p:spPr>
          <a:xfrm rot="0" flipH="0" flipV="0">
            <a:off x="6591300" y="43719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6" name=""/>
          <p:cNvSpPr/>
          <p:nvPr/>
        </p:nvSpPr>
        <p:spPr>
          <a:xfrm rot="0" flipH="0" flipV="0">
            <a:off x="7200900" y="43719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7" name=""/>
          <p:cNvSpPr/>
          <p:nvPr/>
        </p:nvSpPr>
        <p:spPr>
          <a:xfrm rot="0" flipH="0" flipV="0">
            <a:off x="7810500" y="43719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8" name=""/>
          <p:cNvSpPr/>
          <p:nvPr/>
        </p:nvSpPr>
        <p:spPr>
          <a:xfrm rot="0" flipH="0" flipV="0">
            <a:off x="8420100" y="43719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9" name=""/>
          <p:cNvSpPr/>
          <p:nvPr/>
        </p:nvSpPr>
        <p:spPr>
          <a:xfrm rot="0" flipH="0" flipV="0">
            <a:off x="9029700" y="43719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40" name=""/>
          <p:cNvSpPr/>
          <p:nvPr/>
        </p:nvSpPr>
        <p:spPr>
          <a:xfrm rot="0" flipH="0" flipV="0">
            <a:off x="9639300" y="43719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41" name=""/>
          <p:cNvSpPr/>
          <p:nvPr/>
        </p:nvSpPr>
        <p:spPr>
          <a:xfrm rot="0" flipH="0" flipV="0">
            <a:off x="10248900" y="43719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42" name=""/>
          <p:cNvSpPr/>
          <p:nvPr/>
        </p:nvSpPr>
        <p:spPr>
          <a:xfrm rot="0" flipH="0" flipV="0">
            <a:off x="5981700" y="49815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43" name=""/>
          <p:cNvSpPr/>
          <p:nvPr/>
        </p:nvSpPr>
        <p:spPr>
          <a:xfrm rot="0" flipH="0" flipV="0">
            <a:off x="6591300" y="49815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44" name=""/>
          <p:cNvSpPr/>
          <p:nvPr/>
        </p:nvSpPr>
        <p:spPr>
          <a:xfrm rot="0" flipH="0" flipV="0">
            <a:off x="7200900" y="49815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45" name=""/>
          <p:cNvSpPr/>
          <p:nvPr/>
        </p:nvSpPr>
        <p:spPr>
          <a:xfrm rot="0" flipH="0" flipV="0">
            <a:off x="7810500" y="49815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46" name=""/>
          <p:cNvSpPr/>
          <p:nvPr/>
        </p:nvSpPr>
        <p:spPr>
          <a:xfrm rot="0" flipH="0" flipV="0">
            <a:off x="8420100" y="49815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47" name=""/>
          <p:cNvSpPr/>
          <p:nvPr/>
        </p:nvSpPr>
        <p:spPr>
          <a:xfrm rot="0" flipH="0" flipV="0">
            <a:off x="9029700" y="49815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48" name=""/>
          <p:cNvSpPr/>
          <p:nvPr/>
        </p:nvSpPr>
        <p:spPr>
          <a:xfrm rot="0" flipH="0" flipV="0">
            <a:off x="9639300" y="49815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49" name=""/>
          <p:cNvSpPr/>
          <p:nvPr/>
        </p:nvSpPr>
        <p:spPr>
          <a:xfrm rot="0" flipH="0" flipV="0">
            <a:off x="10248900" y="498157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50" name="" descr="{&quot;isTemplate&quot;:true,&quot;type&quot;:&quot;text&quot;}"/>
          <p:cNvSpPr txBox="1"/>
          <p:nvPr/>
        </p:nvSpPr>
        <p:spPr>
          <a:xfrm rot="0" flipH="0" flipV="0">
            <a:off x="5934075" y="5667375"/>
            <a:ext cx="4629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示意：局部网格（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8×6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），非完整地图；蓝色高亮格的坐标为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(5, 2)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，每格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32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像素。</a:t>
            </a:r>
            <a:endParaRPr/>
          </a:p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从图像到四层空间</a:t>
            </a:r>
            <a:endParaRPr/>
          </a:p>
        </p:txBody>
      </p:sp>
      <p:sp>
        <p:nvSpPr>
          <p:cNvPr id="85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853" name="" descr="&lt;Slide notes={`背景图要进系统，先从新建一张地图开始。这里有一个容易忽略的区分：同一个场所，在编辑器里至少要分别核对三类信息——显示图像、空间语义、碰撞与寻路。&#10;&#10;显示分支核对素材、尺寸和锚点；语义分支核对层级、地址和对象绑定；碰撞分支核对实际端点与可走通路。三条线各自独立，任何一条都不能用另一条代替。&#10;&#10;所以「图片已经在素材列表里」和「地图已经配好」之间，还隔着切片、绑定和保存好几步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2　　3.3.2&lt;/Text&gt;&#10;&#10;        &lt;Text style={{ fontSize: 56, fontWeight: 'bold', color: '#20344B', lineHeight: 1.15 }}&gt;新建地图，导入整张背景&lt;/Text&gt;&#10;&#10;        &lt;Box style={{ width: 72, height: 4, background: '#276FBF' }} /&gt;&#10;&#10;        &lt;Text style={{ fontSize: 18, color: '#546779', lineHeight: 1.7, width: 900 }}&gt;同一场所的显示、语义与碰撞，三类信息分别核对；可见图像不能代替录入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导入原图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新建切片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绑定根节点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3 从图像到四层空间&lt;/Text&gt;&#10;        &lt;Text style={{ fontSize: 14, color: '#546779' }}&gt;07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3.3.2</a:t>
            </a:r>
            <a:endParaRPr/>
          </a:p>
        </p:txBody>
      </p:sp>
      <p:sp>
        <p:nvSpPr>
          <p:cNvPr id="856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新建地图，导入整张背景</a:t>
            </a:r>
            <a:endParaRPr/>
          </a:p>
        </p:txBody>
      </p:sp>
      <p:sp>
        <p:nvSpPr>
          <p:cNvPr id="857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58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同一场所的显示、语义与碰撞，三类信息分别核对；可见图像不能代替录入。</a:t>
            </a:r>
            <a:endParaRPr/>
          </a:p>
        </p:txBody>
      </p:sp>
      <p:sp>
        <p:nvSpPr>
          <p:cNvPr id="859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16954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导入原图</a:t>
            </a:r>
            <a:endParaRPr/>
          </a:p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62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63" name="" descr="{&quot;isTemplate&quot;:true,&quot;type&quot;:&quot;text&quot;}"/>
          <p:cNvSpPr txBox="1"/>
          <p:nvPr/>
        </p:nvSpPr>
        <p:spPr>
          <a:xfrm rot="0" flipH="0" flipV="0">
            <a:off x="49720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新建切片</a:t>
            </a:r>
            <a:endParaRPr/>
          </a:p>
        </p:txBody>
      </p:sp>
      <p:sp>
        <p:nvSpPr>
          <p:cNvPr id="864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65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8162925" y="425767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绑定根节点</a:t>
            </a:r>
            <a:endParaRPr/>
          </a:p>
        </p:txBody>
      </p:sp>
      <p:sp>
        <p:nvSpPr>
          <p:cNvPr id="86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从图像到四层空间</a:t>
            </a:r>
            <a:endParaRPr/>
          </a:p>
        </p:txBody>
      </p:sp>
      <p:sp>
        <p:nvSpPr>
          <p:cNvPr id="86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869" name="" descr="&lt;Slide notes={`把三类信息摊开看：最上面是同一个场所，往下分三条线。&#10;&#10;显示图像这条线管背景、人物和状态外观，核对的是素材、尺寸、锚点。空间语义这条线管 World 到 Game Object 的四层结构，核对层级、地址和对象绑定。碰撞与寻路这条线管可走格、阻挡格和门洞，核对实际端点与可走通路。&#10;&#10;三条线各自查完，还要汇到同一个结论上：画出的门不证明能通过，预览换图也不证明对象已经提交变化。可见图像永远不能代替语义录入、通路设置或世界提交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3.2　新建地图，导入整张背景&lt;/Text&gt;&#10;            &lt;Text style={{ fontSize: 34, fontWeight: 'bold', color: '#20344B' }}&gt;同一场所的三类地图信息&lt;/Text&gt;&#10;        &lt;/Box&gt;&#10;    &lt;/Box&gt;&#10;&#10;    &lt;Box style={{ height: 540, flexDirection: 'column', justifyContent: 'center', gap: 12 }}&gt;&#10;&#10;        &lt;Box style={{ flexDirection: 'row', justifyContent: 'center' }}&gt;&#10;            &lt;Box style={{ width: 240, height: 56, background: '#276FBF', borderRadius: 8, justifyContent: 'center', alignItems: 'center' }}&gt;&#10;                &lt;Text style={{ fontSize: 20, fontWeight: 'bold', color: '#FFFFFF' }}&gt;同一场所&lt;/Text&gt;&#10;            &lt;/Box&gt;&#10;        &lt;/Box&gt;&#10;&#10;        &lt;Box style={{ height: 22, justifyContent: 'center', alignItems: 'center' }}&gt;&#10;            &lt;Text style={{ fontSize: 18, color: '#276FBF' }}&gt;↓&lt;/Text&gt;&#10;        &lt;/Box&gt;&#10;&#10;        &lt;Box style={{ flexDirection: 'row', gap: 36, justifyContent: 'center' }}&gt;&#10;&#10;            &lt;Box style={{ width: 340, flexDirection: 'column', gap: 10 }}&gt;&#10;                &lt;Box style={{ width: 340, height: 96, background: '#EDF4FC', borderRadius: 8, padding: '12px 16px', flexDirection: 'column', gap: 5, justifyContent: 'center' }}&gt;&#10;                    &lt;Text style={{ fontSize: 19, fontWeight: 'bold', color: '#276FBF' }}&gt;显示图像&lt;/Text&gt;&#10;                    &lt;Text style={{ fontSize: 13, color: '#546779', lineHeight: 1.5 }}&gt;背景、人物、状态外观&lt;/Text&gt;&#10;                &lt;/Box&gt;&#10;                &lt;Box style={{ height: 20, justifyContent: 'center', alignItems: 'center' }}&gt;&lt;Text style={{ fontSize: 16, color: '#276FBF' }}&gt;↓&lt;/Text&gt;&lt;/Box&gt;&#10;                &lt;Box style={{ width: 340, height: 72, background: '#FFFFFF', borderRadius: 8, borderWidth: 1, borderColor: '#B5C7D8', justifyContent: 'center', alignItems: 'center' }}&gt;&#10;                    &lt;Text style={{ fontSize: 15, color: '#20344B' }}&gt;核对素材、尺寸、锚点&lt;/Text&gt;&#10;                &lt;/Box&gt;&#10;            &lt;/Box&gt;&#10;&#10;            &lt;Box style={{ width: 340, flexDirection: 'column', gap: 10 }}&gt;&#10;                &lt;Box style={{ width: 340, height: 96, background: '#ECF7F2', borderRadius: 8, padding: '12px 16px', flexDirection: 'column', gap: 5, justifyContent: 'center' }}&gt;&#10;                    &lt;Text style={{ fontSize: 19, fontWeight: 'bold', color: '#26816B' }}&gt;空间语义&lt;/Text&gt;&#10;                    &lt;Text style={{ fontSize: 13, color: '#546779', lineHeight: 1.5 }}&gt;World → Sector → Arena → Game Object&lt;/Text&gt;&#10;                &lt;/Box&gt;&#10;                &lt;Box style={{ height: 20, justifyContent: 'center', alignItems: 'center' }}&gt;&lt;Text style={{ fontSize: 16, color: '#26816B' }}&gt;↓&lt;/Text&gt;&lt;/Box&gt;&#10;                &lt;Box style={{ width: 340, height: 72, background: '#FFFFFF', borderRadius: 8, borderWidth: 1, borderColor: '#B5C7D8', justifyContent: 'center', alignItems: 'center' }}&gt;&#10;                    &lt;Text style={{ fontSize: 15, color: '#20344B' }}&gt;核对层级、地址、对象绑定&lt;/Text&gt;&#10;                &lt;/Box&gt;&#10;            &lt;/Box&gt;&#10;&#10;            &lt;Box style={{ width: 340, flexDirection: 'column', gap: 10 }}&gt;&#10;                &lt;Box style={{ width: 340, height: 96, background: '#EDF4FC', borderRadius: 8, padding: '12px 16px', flexDirection: 'column', gap: 5, justifyContent: 'center' }}&gt;&#10;                    &lt;Text style={{ fontSize: 19, fontWeight: 'bold', color: '#276FBF' }}&gt;碰撞与寻路&lt;/Text&gt;&#10;                    &lt;Text style={{ fontSize: 13, color: '#546779', lineHeight: 1.5 }}&gt;可走格、阻挡格、门洞&lt;/Text&gt;&#10;                &lt;/Box&gt;&#10;                &lt;Box style={{ height: 20, justifyContent: 'center', alignItems: 'center' }}&gt;&lt;Text style={{ fontSize: 16, color: '#276FBF' }}&gt;↓&lt;/Text&gt;&lt;/Box&gt;&#10;                &lt;Box style={{ width: 340, height: 72, background: '#FFFFFF', borderRadius: 8, borderWidth: 1, borderColor: '#B5C7D8', justifyContent: 'center', alignItems: 'center' }}&gt;&#10;                    &lt;Text style={{ fontSize: 15, color: '#20344B' }}&gt;核对实际端点与可走通路&lt;/Text&gt;&#10;                &lt;/Box&gt;&#10;            &lt;/Box&gt;&#10;&#10;        &lt;/Box&gt;&#10;&#10;        &lt;Box style={{ marginTop: 14, height: 92, background: '#FFF4E6', borderRadius: 10, flexDirection: 'row', alignItems: 'center', gap: 16, padding: '0 20px' }}&gt;&#10;            &lt;Box style={{ width: 4, height: 60, background: '#CB6B28' }} /&gt;&#10;            &lt;Box style={{ flex: 1, flexDirection: 'column', gap: 4 }}&gt;&#10;                &lt;Text style={{ fontSize: 17, fontWeight: 'bold', color: '#CB6B28' }}&gt;画出的门，不证明能通过；预览换图，不证明对象已提交变化&lt;/Text&gt;&#10;                &lt;Text style={{ fontSize: 14, color: '#546779' }}&gt;可见图像不能代替四层语义录入、通路设置或世界提交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3 从图像到四层空间&lt;/Text&gt;&#10;        &lt;Text style={{ fontSize: 14, color: '#546779' }}&gt;08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7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3.3.2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新建地图，导入整张背景</a:t>
            </a:r>
            <a:endParaRPr/>
          </a:p>
        </p:txBody>
      </p:sp>
      <p:sp>
        <p:nvSpPr>
          <p:cNvPr id="87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同一场所的三类地图信息</a:t>
            </a:r>
            <a:endParaRPr/>
          </a:p>
        </p:txBody>
      </p:sp>
      <p:sp>
        <p:nvSpPr>
          <p:cNvPr id="874" name=""/>
          <p:cNvSpPr/>
          <p:nvPr/>
        </p:nvSpPr>
        <p:spPr>
          <a:xfrm rot="0" flipH="0" flipV="0">
            <a:off x="4953000" y="1676400"/>
            <a:ext cx="2286000" cy="533400"/>
          </a:xfrm>
          <a:prstGeom prst="roundRect">
            <a:avLst>
              <a:gd name="adj" fmla="val 14286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75" name="" descr="{&quot;isTemplate&quot;:true,&quot;type&quot;:&quot;text&quot;}"/>
          <p:cNvSpPr txBox="1"/>
          <p:nvPr/>
        </p:nvSpPr>
        <p:spPr>
          <a:xfrm rot="0" flipH="0" flipV="0">
            <a:off x="5715000" y="182880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同一场所</a:t>
            </a:r>
            <a:endParaRPr/>
          </a:p>
        </p:txBody>
      </p:sp>
      <p:sp>
        <p:nvSpPr>
          <p:cNvPr id="876" name="" descr="{&quot;isTemplate&quot;:true,&quot;type&quot;:&quot;text&quot;}"/>
          <p:cNvSpPr txBox="1"/>
          <p:nvPr/>
        </p:nvSpPr>
        <p:spPr>
          <a:xfrm rot="0" flipH="0" flipV="0">
            <a:off x="6057900" y="23241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877" name=""/>
          <p:cNvSpPr/>
          <p:nvPr/>
        </p:nvSpPr>
        <p:spPr>
          <a:xfrm rot="0" flipH="0" flipV="0">
            <a:off x="895350" y="26479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78" name="" descr="{&quot;isTemplate&quot;:true,&quot;type&quot;:&quot;text&quot;}"/>
          <p:cNvSpPr txBox="1"/>
          <p:nvPr/>
        </p:nvSpPr>
        <p:spPr>
          <a:xfrm rot="0" flipH="0" flipV="0">
            <a:off x="1047750" y="2857500"/>
            <a:ext cx="2933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显示图像</a:t>
            </a:r>
            <a:endParaRPr/>
          </a:p>
        </p:txBody>
      </p:sp>
      <p:sp>
        <p:nvSpPr>
          <p:cNvPr id="879" name="" descr="{&quot;isTemplate&quot;:true,&quot;type&quot;:&quot;text&quot;}"/>
          <p:cNvSpPr txBox="1"/>
          <p:nvPr/>
        </p:nvSpPr>
        <p:spPr>
          <a:xfrm rot="0" flipH="0" flipV="0">
            <a:off x="1047750" y="3124200"/>
            <a:ext cx="29337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背景、人物、状态外观</a:t>
            </a:r>
            <a:endParaRPr/>
          </a:p>
        </p:txBody>
      </p:sp>
      <p:sp>
        <p:nvSpPr>
          <p:cNvPr id="880" name="" descr="{&quot;isTemplate&quot;:true,&quot;type&quot;:&quot;text&quot;}"/>
          <p:cNvSpPr txBox="1"/>
          <p:nvPr/>
        </p:nvSpPr>
        <p:spPr>
          <a:xfrm rot="0" flipH="0" flipV="0">
            <a:off x="2476500" y="3657600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881" name=""/>
          <p:cNvSpPr/>
          <p:nvPr/>
        </p:nvSpPr>
        <p:spPr>
          <a:xfrm rot="0" flipH="0" flipV="0">
            <a:off x="895350" y="3943350"/>
            <a:ext cx="32385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882" name="" descr="{&quot;isTemplate&quot;:true,&quot;type&quot;:&quot;text&quot;}"/>
          <p:cNvSpPr txBox="1"/>
          <p:nvPr/>
        </p:nvSpPr>
        <p:spPr>
          <a:xfrm rot="0" flipH="0" flipV="0">
            <a:off x="1800225" y="420052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核对素材、尺寸、锚点</a:t>
            </a:r>
            <a:endParaRPr/>
          </a:p>
        </p:txBody>
      </p:sp>
      <p:sp>
        <p:nvSpPr>
          <p:cNvPr id="883" name=""/>
          <p:cNvSpPr/>
          <p:nvPr/>
        </p:nvSpPr>
        <p:spPr>
          <a:xfrm rot="0" flipH="0" flipV="0">
            <a:off x="4476750" y="26479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84" name="" descr="{&quot;isTemplate&quot;:true,&quot;type&quot;:&quot;text&quot;}"/>
          <p:cNvSpPr txBox="1"/>
          <p:nvPr/>
        </p:nvSpPr>
        <p:spPr>
          <a:xfrm rot="0" flipH="0" flipV="0">
            <a:off x="4629150" y="2857500"/>
            <a:ext cx="2933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空间语义</a:t>
            </a:r>
            <a:endParaRPr/>
          </a:p>
        </p:txBody>
      </p:sp>
      <p:sp>
        <p:nvSpPr>
          <p:cNvPr id="885" name="" descr="{&quot;isTemplate&quot;:true,&quot;type&quot;:&quot;text&quot;}"/>
          <p:cNvSpPr txBox="1"/>
          <p:nvPr/>
        </p:nvSpPr>
        <p:spPr>
          <a:xfrm rot="0" flipH="0" flipV="0">
            <a:off x="4629150" y="3124200"/>
            <a:ext cx="29337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World → Sector → Arena → Game Object</a:t>
            </a:r>
            <a:endParaRPr/>
          </a:p>
        </p:txBody>
      </p:sp>
      <p:sp>
        <p:nvSpPr>
          <p:cNvPr id="886" name="" descr="{&quot;isTemplate&quot;:true,&quot;type&quot;:&quot;text&quot;}"/>
          <p:cNvSpPr txBox="1"/>
          <p:nvPr/>
        </p:nvSpPr>
        <p:spPr>
          <a:xfrm rot="0" flipH="0" flipV="0">
            <a:off x="6057900" y="3657600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887" name=""/>
          <p:cNvSpPr/>
          <p:nvPr/>
        </p:nvSpPr>
        <p:spPr>
          <a:xfrm rot="0" flipH="0" flipV="0">
            <a:off x="4476750" y="3943350"/>
            <a:ext cx="32385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5238750" y="4200525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核对层级、地址、对象绑定</a:t>
            </a:r>
            <a:endParaRPr/>
          </a:p>
        </p:txBody>
      </p:sp>
      <p:sp>
        <p:nvSpPr>
          <p:cNvPr id="889" name=""/>
          <p:cNvSpPr/>
          <p:nvPr/>
        </p:nvSpPr>
        <p:spPr>
          <a:xfrm rot="0" flipH="0" flipV="0">
            <a:off x="8058150" y="26479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90" name="" descr="{&quot;isTemplate&quot;:true,&quot;type&quot;:&quot;text&quot;}"/>
          <p:cNvSpPr txBox="1"/>
          <p:nvPr/>
        </p:nvSpPr>
        <p:spPr>
          <a:xfrm rot="0" flipH="0" flipV="0">
            <a:off x="8210550" y="2857500"/>
            <a:ext cx="29337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碰撞与寻路</a:t>
            </a:r>
            <a:endParaRPr/>
          </a:p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8210550" y="3124200"/>
            <a:ext cx="29337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可走格、阻挡格、门洞</a:t>
            </a:r>
            <a:endParaRPr/>
          </a:p>
        </p:txBody>
      </p:sp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9639300" y="3657600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893" name=""/>
          <p:cNvSpPr/>
          <p:nvPr/>
        </p:nvSpPr>
        <p:spPr>
          <a:xfrm rot="0" flipH="0" flipV="0">
            <a:off x="8058150" y="3943350"/>
            <a:ext cx="32385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894" name="" descr="{&quot;isTemplate&quot;:true,&quot;type&quot;:&quot;text&quot;}"/>
          <p:cNvSpPr txBox="1"/>
          <p:nvPr/>
        </p:nvSpPr>
        <p:spPr>
          <a:xfrm rot="0" flipH="0" flipV="0">
            <a:off x="8896350" y="4200525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核对实际端点与可走通路</a:t>
            </a:r>
            <a:endParaRPr/>
          </a:p>
        </p:txBody>
      </p:sp>
      <p:sp>
        <p:nvSpPr>
          <p:cNvPr id="895" name=""/>
          <p:cNvSpPr/>
          <p:nvPr/>
        </p:nvSpPr>
        <p:spPr>
          <a:xfrm rot="0" flipH="0" flipV="0">
            <a:off x="609600" y="4876800"/>
            <a:ext cx="109728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96" name=""/>
          <p:cNvSpPr/>
          <p:nvPr/>
        </p:nvSpPr>
        <p:spPr>
          <a:xfrm rot="0" flipH="0" flipV="0">
            <a:off x="800100" y="502920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990600" y="5114925"/>
            <a:ext cx="10401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画出的门，不证明能通过；预览换图，不证明对象已提交变化</a:t>
            </a:r>
            <a:endParaRPr/>
          </a:p>
        </p:txBody>
      </p:sp>
      <p:sp>
        <p:nvSpPr>
          <p:cNvPr id="898" name="" descr="{&quot;isTemplate&quot;:true,&quot;type&quot;:&quot;text&quot;}"/>
          <p:cNvSpPr txBox="1"/>
          <p:nvPr/>
        </p:nvSpPr>
        <p:spPr>
          <a:xfrm rot="0" flipH="0" flipV="0">
            <a:off x="990600" y="5353050"/>
            <a:ext cx="1040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可见图像不能代替四层语义录入、通路设置或世界提交。</a:t>
            </a:r>
            <a:endParaRPr/>
          </a:p>
        </p:txBody>
      </p:sp>
      <p:sp>
        <p:nvSpPr>
          <p:cNvPr id="89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从图像到四层空间</a:t>
            </a:r>
            <a:endParaRPr/>
          </a:p>
        </p:txBody>
      </p:sp>
      <p:sp>
        <p:nvSpPr>
          <p:cNvPr id="90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901" name="" descr="&lt;Slide notes={`新建地图的具体操作：在基础配置的「地图」里点「＋ 新建地图」，填写名称、可选的稳定键和用途，选择「空白地图（自由绘制）」，输入宽 32、高 24、Tile 尺寸 32，再点「创建并编辑」。&#10;&#10;这里特别提醒一句：不要为了省事，选一个无关的旧地图来充当默认背景。旧地图自带的历史配置会混进新案例，后面排查起来非常麻烦。&#10;&#10;创建之后，编辑器实际使用「世界」「素材」两页，接下来的导入和绑定都在这两页之间来回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3.2　新建地图，导入整张背景&lt;/Text&gt;&#10;            &lt;Text style={{ fontSize: 34, fontWeight: 'bold', color: '#20344B' }}&gt;新建地图：从空白到 32×24&lt;/Text&gt;&#10;        &lt;/Box&gt;&#10;    &lt;/Box&gt;&#10;&#10;    &lt;Box style={{ height: 540, flexDirection: 'row', alignItems: 'center', gap: 32 }}&gt;&#10;&#10;        &lt;Box style={{ width: 720, background: '#F7F3E8', borderRadius: 10, padding: 12, flexDirection: 'column', gap: 10 }}&gt;&#10;&#10;            &lt;Box style={{ height: 44, background: '#20344B', borderRadius: 6, flexDirection: 'row', alignItems: 'center', padding: '0 16px' }}&gt;&#10;                &lt;Text style={{ fontSize: 15, fontWeight: 'bold', color: '#FFFFFF' }}&gt;基础配置 · 地图&lt;/Text&gt;&#10;                &lt;Box style={{ flex: 1 }} /&gt;&#10;                &lt;Text style={{ fontSize: 13, color: '#B5C7D8' }}&gt;示意&lt;/Text&gt;&#10;            &lt;/Box&gt;&#10;&#10;            &lt;Box style={{ height: 46, background: '#FFFFFF', borderRadius: 6, flexDirection: 'row', alignItems: 'center', padding: '0 14px', gap: 12 }}&gt;&#10;                &lt;Text style={{ fontSize: 14, color: '#546779', width: 120 }}&gt;名称&lt;/Text&gt;&#10;                &lt;Text style={{ fontSize: 15, color: '#20344B' }}&gt;青禾学习中心&lt;/Text&gt;&#10;            &lt;/Box&gt;&#10;&#10;            &lt;Box style={{ height: 46, background: '#FFFFFF', borderRadius: 6, flexDirection: 'row', alignItems: 'center', padding: '0 14px', gap: 12 }}&gt;&#10;                &lt;Text style={{ fontSize: 14, color: '#546779', width: 120 }}&gt;稳定键（可选）&lt;/Text&gt;&#10;                &lt;Text style={{ fontSize: 15, color: '#20344B' }}&gt;留空也可，填写后便于对照&lt;/Text&gt;&#10;            &lt;/Box&gt;&#10;&#10;            &lt;Box style={{ height: 46, background: '#FFFFFF', borderRadius: 6, flexDirection: 'row', alignItems: 'center', padding: '0 14px', gap: 12 }}&gt;&#10;                &lt;Text style={{ fontSize: 14, color: '#546779', width: 120 }}&gt;用途&lt;/Text&gt;&#10;                &lt;Text style={{ fontSize: 15, color: '#20344B' }}&gt;第三章教学案例&lt;/Text&gt;&#10;            &lt;/Box&gt;&#10;&#10;            &lt;Box style={{ height: 46, background: '#FFFFFF', borderRadius: 6, flexDirection: 'row', alignItems: 'center', padding: '0 14px', gap: 12 }}&gt;&#10;                &lt;Text style={{ fontSize: 14, color: '#546779', width: 120 }}&gt;模板选择&lt;/Text&gt;&#10;                &lt;Box style={{ width: 220, height: 32, background: '#ECF7F2', borderRadius: 6, justifyContent: 'center', alignItems: 'center' }}&gt;&#10;                    &lt;Text style={{ fontSize: 14, color: '#26816B' }}&gt;空白地图（自由绘制）&lt;/Text&gt;&#10;                &lt;/Box&gt;&#10;            &lt;/Box&gt;&#10;&#10;            &lt;Box style={{ flexDirection: 'row', gap: 10 }}&gt;&#10;                &lt;Box style={{ flex: 1, height: 46, background: '#FFFFFF', borderRadius: 6, flexDirection: 'row', alignItems: 'center', padding: '0 14px', gap: 10 }}&gt;&#10;                    &lt;Text style={{ fontSize: 14, color: '#546779' }}&gt;宽&lt;/Text&gt;&#10;                    &lt;Text style={{ fontSize: 16, fontWeight: 'bold', color: '#276FBF' }}&gt;32&lt;/Text&gt;&#10;                &lt;/Box&gt;&#10;                &lt;Box style={{ flex: 1, height: 46, background: '#FFFFFF', borderRadius: 6, flexDirection: 'row', alignItems: 'center', padding: '0 14px', gap: 10 }}&gt;&#10;                    &lt;Text style={{ fontSize: 14, color: '#546779' }}&gt;高&lt;/Text&gt;&#10;                    &lt;Text style={{ fontSize: 16, fontWeight: 'bold', color: '#276FBF' }}&gt;24&lt;/Text&gt;&#10;                &lt;/Box&gt;&#10;                &lt;Box style={{ flex: 1, height: 46, background: '#FFFFFF', borderRadius: 6, flexDirection: 'row', alignItems: 'center', padding: '0 14px', gap: 10 }}&gt;&#10;                    &lt;Text style={{ fontSize: 14, color: '#546779' }}&gt;Tile 尺寸&lt;/Text&gt;&#10;                    &lt;Text style={{ fontSize: 16, fontWeight: 'bold', color: '#276FBF' }}&gt;32&lt;/Text&gt;&#10;                &lt;/Box&gt;&#10;            &lt;/Box&gt;&#10;&#10;            &lt;Box style={{ flexDirection: 'row', alignItems: 'center', gap: 14 }}&gt;&#10;                &lt;Box style={{ width: 168, height: 46, background: '#276FBF', borderRadius: 8, justifyContent: 'center', alignItems: 'center' }}&gt;&#10;                    &lt;Text style={{ fontSize: 16, fontWeight: 'bold', color: '#FFFFFF' }}&gt;创建并编辑&lt;/Text&gt;&#10;                &lt;/Box&gt;&#10;                &lt;Text style={{ fontSize: 13, color: '#546779' }}&gt;创建后进入编辑器：「世界」「素材」两页&lt;/Text&gt;&#10;            &lt;/Box&gt;&#10;&#10;        &lt;/Box&gt;&#10;&#10;        &lt;Box style={{ flex: 1, flexDirection: 'column', gap: 14 }}&gt;&#10;            &lt;Text style={{ fontSize: 22, fontWeight: 'bold', color: '#20344B' }}&gt;操作要点&lt;/Text&gt;&#10;            &lt;Box style={{ flexDirection: 'row', gap: 10 }}&gt;&#10;                &lt;Box style={{ width: 8, height: 8, background: '#276FBF', marginTop: 7 }} /&gt;&#10;                &lt;Text style={{ fontSize: 15, color: '#20344B', lineHeight: 1.6, width: 360 }}&gt;在「地图」点「＋ 新建地图」。&lt;/Text&gt;&#10;            &lt;/Box&gt;&#10;            &lt;Box style={{ flexDirection: 'row', gap: 10 }}&gt;&#10;                &lt;Box style={{ width: 8, height: 8, background: '#276FBF', marginTop: 7 }} /&gt;&#10;                &lt;Text style={{ fontSize: 15, color: '#20344B', lineHeight: 1.6, width: 360 }}&gt;填写名称、可选稳定键和用途。&lt;/Text&gt;&#10;            &lt;/Box&gt;&#10;            &lt;Box style={{ flexDirection: 'row', gap: 10 }}&gt;&#10;                &lt;Box style={{ width: 8, height: 8, background: '#276FBF', marginTop: 7 }} /&gt;&#10;                &lt;Text style={{ fontSize: 15, color: '#20344B', lineHeight: 1.6, width: 360 }}&gt;选择「空白地图（自由绘制）」。&lt;/Text&gt;&#10;            &lt;/Box&gt;&#10;            &lt;Box style={{ flexDirection: 'row', gap: 10 }}&gt;&#10;                &lt;Box style={{ width: 8, height: 8, background: '#276FBF', marginTop: 7 }} /&gt;&#10;                &lt;Text style={{ fontSize: 15, color: '#20344B', lineHeight: 1.6, width: 360 }}&gt;输入宽 32、高 24、Tile 尺寸 32。&lt;/Text&gt;&#10;            &lt;/Box&gt;&#10;            &lt;Box style={{ flexDirection: 'row', gap: 10 }}&gt;&#10;                &lt;Box style={{ width: 8, height: 8, background: '#276FBF', marginTop: 7 }} /&gt;&#10;                &lt;Text style={{ fontSize: 15, color: '#20344B', lineHeight: 1.6, width: 360 }}&gt;点「创建并编辑」，进入「世界」「素材」两页。&lt;/Text&gt;&#10;            &lt;/Box&gt;&#10;            &lt;Box style={{ height: 76, background: '#FFF4E6', borderRadius: 8, flexDirection: 'row', alignItems: 'center', gap: 12, padding: '0 14px' }}&gt;&#10;                &lt;Box style={{ width: 4, height: 48, background: '#CB6B28' }} /&gt;&#10;                &lt;Text style={{ fontSize: 14, color: '#CB6B28', lineHeight: 1.5 }}&gt;不选择一个无关旧地图来充当默认背景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3 从图像到四层空间&lt;/Text&gt;&#10;        &lt;Text style={{ fontSize: 14, color: '#546779' }}&gt;09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0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0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05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3.3.2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新建地图，导入整张背景</a:t>
            </a:r>
            <a:endParaRPr/>
          </a:p>
        </p:txBody>
      </p:sp>
      <p:sp>
        <p:nvSpPr>
          <p:cNvPr id="90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057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新建地图：从空白到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32×24</a:t>
            </a:r>
            <a:endParaRPr/>
          </a:p>
        </p:txBody>
      </p:sp>
      <p:sp>
        <p:nvSpPr>
          <p:cNvPr id="906" name=""/>
          <p:cNvSpPr/>
          <p:nvPr/>
        </p:nvSpPr>
        <p:spPr>
          <a:xfrm rot="0" flipH="0" flipV="0">
            <a:off x="609600" y="1790700"/>
            <a:ext cx="6858000" cy="3848100"/>
          </a:xfrm>
          <a:prstGeom prst="roundRect">
            <a:avLst>
              <a:gd name="adj" fmla="val 2475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907" name=""/>
          <p:cNvSpPr/>
          <p:nvPr/>
        </p:nvSpPr>
        <p:spPr>
          <a:xfrm rot="0" flipH="0" flipV="0">
            <a:off x="723900" y="1905000"/>
            <a:ext cx="6629400" cy="419100"/>
          </a:xfrm>
          <a:prstGeom prst="roundRect">
            <a:avLst>
              <a:gd name="adj" fmla="val 13636"/>
            </a:avLst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908" name="" descr="{&quot;isTemplate&quot;:true,&quot;type&quot;:&quot;text&quot;}"/>
          <p:cNvSpPr txBox="1"/>
          <p:nvPr/>
        </p:nvSpPr>
        <p:spPr>
          <a:xfrm rot="0" flipH="0" flipV="0">
            <a:off x="876300" y="2028825"/>
            <a:ext cx="1009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基础配置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地图</a:t>
            </a:r>
            <a:endParaRPr/>
          </a:p>
        </p:txBody>
      </p:sp>
      <p:sp>
        <p:nvSpPr>
          <p:cNvPr id="909" name="" descr="{&quot;isTemplate&quot;:true,&quot;type&quot;:&quot;text&quot;}"/>
          <p:cNvSpPr txBox="1"/>
          <p:nvPr/>
        </p:nvSpPr>
        <p:spPr>
          <a:xfrm rot="0" flipH="0" flipV="0">
            <a:off x="6953250" y="20383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5C7D8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910" name=""/>
          <p:cNvSpPr/>
          <p:nvPr/>
        </p:nvSpPr>
        <p:spPr>
          <a:xfrm rot="0" flipH="0" flipV="0">
            <a:off x="723900" y="2419350"/>
            <a:ext cx="662940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11" name="" descr="{&quot;isTemplate&quot;:true,&quot;type&quot;:&quot;text&quot;}"/>
          <p:cNvSpPr txBox="1"/>
          <p:nvPr/>
        </p:nvSpPr>
        <p:spPr>
          <a:xfrm rot="0" flipH="0" flipV="0">
            <a:off x="857250" y="2562225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名称</a:t>
            </a:r>
            <a:endParaRPr/>
          </a:p>
        </p:txBody>
      </p:sp>
      <p:sp>
        <p:nvSpPr>
          <p:cNvPr id="912" name="" descr="{&quot;isTemplate&quot;:true,&quot;type&quot;:&quot;text&quot;}"/>
          <p:cNvSpPr txBox="1"/>
          <p:nvPr/>
        </p:nvSpPr>
        <p:spPr>
          <a:xfrm rot="0" flipH="0" flipV="0">
            <a:off x="2114550" y="25527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青禾学习中心</a:t>
            </a:r>
            <a:endParaRPr/>
          </a:p>
        </p:txBody>
      </p:sp>
      <p:sp>
        <p:nvSpPr>
          <p:cNvPr id="913" name=""/>
          <p:cNvSpPr/>
          <p:nvPr/>
        </p:nvSpPr>
        <p:spPr>
          <a:xfrm rot="0" flipH="0" flipV="0">
            <a:off x="723900" y="2952750"/>
            <a:ext cx="662940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857250" y="3095625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稳定键（可选）</a:t>
            </a:r>
            <a:endParaRPr/>
          </a:p>
        </p:txBody>
      </p:sp>
      <p:sp>
        <p:nvSpPr>
          <p:cNvPr id="915" name="" descr="{&quot;isTemplate&quot;:true,&quot;type&quot;:&quot;text&quot;}"/>
          <p:cNvSpPr txBox="1"/>
          <p:nvPr/>
        </p:nvSpPr>
        <p:spPr>
          <a:xfrm rot="0" flipH="0" flipV="0">
            <a:off x="2114550" y="3086100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留空也可，填写后便于对照</a:t>
            </a:r>
            <a:endParaRPr/>
          </a:p>
        </p:txBody>
      </p:sp>
      <p:sp>
        <p:nvSpPr>
          <p:cNvPr id="916" name=""/>
          <p:cNvSpPr/>
          <p:nvPr/>
        </p:nvSpPr>
        <p:spPr>
          <a:xfrm rot="0" flipH="0" flipV="0">
            <a:off x="723900" y="3486150"/>
            <a:ext cx="662940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17" name="" descr="{&quot;isTemplate&quot;:true,&quot;type&quot;:&quot;text&quot;}"/>
          <p:cNvSpPr txBox="1"/>
          <p:nvPr/>
        </p:nvSpPr>
        <p:spPr>
          <a:xfrm rot="0" flipH="0" flipV="0">
            <a:off x="857250" y="3629025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用途</a:t>
            </a:r>
            <a:endParaRPr/>
          </a:p>
        </p:txBody>
      </p:sp>
      <p:sp>
        <p:nvSpPr>
          <p:cNvPr id="918" name="" descr="{&quot;isTemplate&quot;:true,&quot;type&quot;:&quot;text&quot;}"/>
          <p:cNvSpPr txBox="1"/>
          <p:nvPr/>
        </p:nvSpPr>
        <p:spPr>
          <a:xfrm rot="0" flipH="0" flipV="0">
            <a:off x="2114550" y="361950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第三章教学案例</a:t>
            </a:r>
            <a:endParaRPr/>
          </a:p>
        </p:txBody>
      </p:sp>
      <p:sp>
        <p:nvSpPr>
          <p:cNvPr id="919" name=""/>
          <p:cNvSpPr/>
          <p:nvPr/>
        </p:nvSpPr>
        <p:spPr>
          <a:xfrm rot="0" flipH="0" flipV="0">
            <a:off x="723900" y="4019550"/>
            <a:ext cx="662940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20" name="" descr="{&quot;isTemplate&quot;:true,&quot;type&quot;:&quot;text&quot;}"/>
          <p:cNvSpPr txBox="1"/>
          <p:nvPr/>
        </p:nvSpPr>
        <p:spPr>
          <a:xfrm rot="0" flipH="0" flipV="0">
            <a:off x="857250" y="4162425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模板选择</a:t>
            </a:r>
            <a:endParaRPr/>
          </a:p>
        </p:txBody>
      </p:sp>
      <p:sp>
        <p:nvSpPr>
          <p:cNvPr id="921" name=""/>
          <p:cNvSpPr/>
          <p:nvPr/>
        </p:nvSpPr>
        <p:spPr>
          <a:xfrm rot="0" flipH="0" flipV="0">
            <a:off x="2114550" y="4086225"/>
            <a:ext cx="2095500" cy="304800"/>
          </a:xfrm>
          <a:prstGeom prst="roundRect">
            <a:avLst>
              <a:gd name="adj" fmla="val 1875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22" name="" descr="{&quot;isTemplate&quot;:true,&quot;type&quot;:&quot;text&quot;}"/>
          <p:cNvSpPr txBox="1"/>
          <p:nvPr/>
        </p:nvSpPr>
        <p:spPr>
          <a:xfrm rot="0" flipH="0" flipV="0">
            <a:off x="2495550" y="4162425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空白地图（自由绘制）</a:t>
            </a:r>
            <a:endParaRPr/>
          </a:p>
        </p:txBody>
      </p:sp>
      <p:sp>
        <p:nvSpPr>
          <p:cNvPr id="923" name=""/>
          <p:cNvSpPr/>
          <p:nvPr/>
        </p:nvSpPr>
        <p:spPr>
          <a:xfrm rot="0" flipH="0" flipV="0">
            <a:off x="723900" y="4552950"/>
            <a:ext cx="21431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24" name="" descr="{&quot;isTemplate&quot;:true,&quot;type&quot;:&quot;text&quot;}"/>
          <p:cNvSpPr txBox="1"/>
          <p:nvPr/>
        </p:nvSpPr>
        <p:spPr>
          <a:xfrm rot="0" flipH="0" flipV="0">
            <a:off x="857250" y="469582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宽</a:t>
            </a:r>
            <a:endParaRPr/>
          </a:p>
        </p:txBody>
      </p:sp>
      <p:sp>
        <p:nvSpPr>
          <p:cNvPr id="925" name="" descr="{&quot;isTemplate&quot;:true,&quot;type&quot;:&quot;text&quot;}"/>
          <p:cNvSpPr txBox="1"/>
          <p:nvPr/>
        </p:nvSpPr>
        <p:spPr>
          <a:xfrm rot="0" flipH="0" flipV="0">
            <a:off x="1085850" y="4676775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32</a:t>
            </a:r>
            <a:endParaRPr/>
          </a:p>
        </p:txBody>
      </p:sp>
      <p:sp>
        <p:nvSpPr>
          <p:cNvPr id="926" name=""/>
          <p:cNvSpPr/>
          <p:nvPr/>
        </p:nvSpPr>
        <p:spPr>
          <a:xfrm rot="0" flipH="0" flipV="0">
            <a:off x="2962275" y="4552950"/>
            <a:ext cx="215265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27" name="" descr="{&quot;isTemplate&quot;:true,&quot;type&quot;:&quot;text&quot;}"/>
          <p:cNvSpPr txBox="1"/>
          <p:nvPr/>
        </p:nvSpPr>
        <p:spPr>
          <a:xfrm rot="0" flipH="0" flipV="0">
            <a:off x="3095625" y="469582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高</a:t>
            </a:r>
            <a:endParaRPr/>
          </a:p>
        </p:txBody>
      </p:sp>
      <p:sp>
        <p:nvSpPr>
          <p:cNvPr id="928" name="" descr="{&quot;isTemplate&quot;:true,&quot;type&quot;:&quot;text&quot;}"/>
          <p:cNvSpPr txBox="1"/>
          <p:nvPr/>
        </p:nvSpPr>
        <p:spPr>
          <a:xfrm rot="0" flipH="0" flipV="0">
            <a:off x="3324225" y="4676775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24</a:t>
            </a:r>
            <a:endParaRPr/>
          </a:p>
        </p:txBody>
      </p:sp>
      <p:sp>
        <p:nvSpPr>
          <p:cNvPr id="929" name=""/>
          <p:cNvSpPr/>
          <p:nvPr/>
        </p:nvSpPr>
        <p:spPr>
          <a:xfrm rot="0" flipH="0" flipV="0">
            <a:off x="5210175" y="4552950"/>
            <a:ext cx="21431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30" name="" descr="{&quot;isTemplate&quot;:true,&quot;type&quot;:&quot;text&quot;}"/>
          <p:cNvSpPr txBox="1"/>
          <p:nvPr/>
        </p:nvSpPr>
        <p:spPr>
          <a:xfrm rot="0" flipH="0" flipV="0">
            <a:off x="5343525" y="46958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Tile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尺寸</a:t>
            </a:r>
            <a:endParaRPr/>
          </a:p>
        </p:txBody>
      </p:sp>
      <p:sp>
        <p:nvSpPr>
          <p:cNvPr id="931" name="" descr="{&quot;isTemplate&quot;:true,&quot;type&quot;:&quot;text&quot;}"/>
          <p:cNvSpPr txBox="1"/>
          <p:nvPr/>
        </p:nvSpPr>
        <p:spPr>
          <a:xfrm rot="0" flipH="0" flipV="0">
            <a:off x="5972175" y="4676775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32</a:t>
            </a:r>
            <a:endParaRPr/>
          </a:p>
        </p:txBody>
      </p:sp>
      <p:sp>
        <p:nvSpPr>
          <p:cNvPr id="932" name=""/>
          <p:cNvSpPr/>
          <p:nvPr/>
        </p:nvSpPr>
        <p:spPr>
          <a:xfrm rot="0" flipH="0" flipV="0">
            <a:off x="723900" y="5086350"/>
            <a:ext cx="1600200" cy="438150"/>
          </a:xfrm>
          <a:prstGeom prst="roundRect">
            <a:avLst>
              <a:gd name="adj" fmla="val 1739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33" name="" descr="{&quot;isTemplate&quot;:true,&quot;type&quot;:&quot;text&quot;}"/>
          <p:cNvSpPr txBox="1"/>
          <p:nvPr/>
        </p:nvSpPr>
        <p:spPr>
          <a:xfrm rot="0" flipH="0" flipV="0">
            <a:off x="1143000" y="5210175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创建并编辑</a:t>
            </a:r>
            <a:endParaRPr/>
          </a:p>
        </p:txBody>
      </p:sp>
      <p:sp>
        <p:nvSpPr>
          <p:cNvPr id="934" name="" descr="{&quot;isTemplate&quot;:true,&quot;type&quot;:&quot;text&quot;}"/>
          <p:cNvSpPr txBox="1"/>
          <p:nvPr/>
        </p:nvSpPr>
        <p:spPr>
          <a:xfrm rot="0" flipH="0" flipV="0">
            <a:off x="2457450" y="5229225"/>
            <a:ext cx="2352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创建后进入编辑器：「世界」「素材」两页</a:t>
            </a:r>
            <a:endParaRPr/>
          </a:p>
        </p:txBody>
      </p:sp>
      <p:sp>
        <p:nvSpPr>
          <p:cNvPr id="935" name="" descr="{&quot;isTemplate&quot;:true,&quot;type&quot;:&quot;text&quot;}"/>
          <p:cNvSpPr txBox="1"/>
          <p:nvPr/>
        </p:nvSpPr>
        <p:spPr>
          <a:xfrm rot="0" flipH="0" flipV="0">
            <a:off x="7772400" y="2133600"/>
            <a:ext cx="3810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操作要点</a:t>
            </a:r>
            <a:endParaRPr/>
          </a:p>
        </p:txBody>
      </p:sp>
      <p:sp>
        <p:nvSpPr>
          <p:cNvPr id="936" name=""/>
          <p:cNvSpPr/>
          <p:nvPr/>
        </p:nvSpPr>
        <p:spPr>
          <a:xfrm rot="0" flipH="0" flipV="0">
            <a:off x="7772400" y="2590800"/>
            <a:ext cx="76200" cy="76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37" name="" descr="{&quot;isTemplate&quot;:true,&quot;type&quot;:&quot;text&quot;}"/>
          <p:cNvSpPr txBox="1"/>
          <p:nvPr/>
        </p:nvSpPr>
        <p:spPr>
          <a:xfrm rot="0" flipH="0" flipV="0">
            <a:off x="7943850" y="2524125"/>
            <a:ext cx="3429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在「地图」点「＋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新建地图」。</a:t>
            </a:r>
            <a:endParaRPr/>
          </a:p>
        </p:txBody>
      </p:sp>
      <p:sp>
        <p:nvSpPr>
          <p:cNvPr id="938" name=""/>
          <p:cNvSpPr/>
          <p:nvPr/>
        </p:nvSpPr>
        <p:spPr>
          <a:xfrm rot="0" flipH="0" flipV="0">
            <a:off x="7772400" y="3000375"/>
            <a:ext cx="76200" cy="76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39" name="" descr="{&quot;isTemplate&quot;:true,&quot;type&quot;:&quot;text&quot;}"/>
          <p:cNvSpPr txBox="1"/>
          <p:nvPr/>
        </p:nvSpPr>
        <p:spPr>
          <a:xfrm rot="0" flipH="0" flipV="0">
            <a:off x="7943850" y="2933700"/>
            <a:ext cx="3429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填写名称、可选稳定键和用途。</a:t>
            </a:r>
            <a:endParaRPr/>
          </a:p>
        </p:txBody>
      </p:sp>
      <p:sp>
        <p:nvSpPr>
          <p:cNvPr id="940" name=""/>
          <p:cNvSpPr/>
          <p:nvPr/>
        </p:nvSpPr>
        <p:spPr>
          <a:xfrm rot="0" flipH="0" flipV="0">
            <a:off x="7772400" y="3409950"/>
            <a:ext cx="76200" cy="76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41" name="" descr="{&quot;isTemplate&quot;:true,&quot;type&quot;:&quot;text&quot;}"/>
          <p:cNvSpPr txBox="1"/>
          <p:nvPr/>
        </p:nvSpPr>
        <p:spPr>
          <a:xfrm rot="0" flipH="0" flipV="0">
            <a:off x="7943850" y="3343275"/>
            <a:ext cx="3429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选择「空白地图（自由绘制）」。</a:t>
            </a:r>
            <a:endParaRPr/>
          </a:p>
        </p:txBody>
      </p:sp>
      <p:sp>
        <p:nvSpPr>
          <p:cNvPr id="942" name=""/>
          <p:cNvSpPr/>
          <p:nvPr/>
        </p:nvSpPr>
        <p:spPr>
          <a:xfrm rot="0" flipH="0" flipV="0">
            <a:off x="7772400" y="3819525"/>
            <a:ext cx="76200" cy="76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43" name="" descr="{&quot;isTemplate&quot;:true,&quot;type&quot;:&quot;text&quot;}"/>
          <p:cNvSpPr txBox="1"/>
          <p:nvPr/>
        </p:nvSpPr>
        <p:spPr>
          <a:xfrm rot="0" flipH="0" flipV="0">
            <a:off x="7943850" y="3752850"/>
            <a:ext cx="3429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输入宽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32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、高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24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Tile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尺寸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32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944" name=""/>
          <p:cNvSpPr/>
          <p:nvPr/>
        </p:nvSpPr>
        <p:spPr>
          <a:xfrm rot="0" flipH="0" flipV="0">
            <a:off x="7772400" y="4229100"/>
            <a:ext cx="76200" cy="76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45" name="" descr="{&quot;isTemplate&quot;:true,&quot;type&quot;:&quot;text&quot;}"/>
          <p:cNvSpPr txBox="1"/>
          <p:nvPr/>
        </p:nvSpPr>
        <p:spPr>
          <a:xfrm rot="0" flipH="0" flipV="0">
            <a:off x="7943850" y="4162425"/>
            <a:ext cx="3429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点「创建并编辑」，进入「世界」「素材」两页。</a:t>
            </a:r>
            <a:endParaRPr/>
          </a:p>
        </p:txBody>
      </p:sp>
      <p:sp>
        <p:nvSpPr>
          <p:cNvPr id="946" name=""/>
          <p:cNvSpPr/>
          <p:nvPr/>
        </p:nvSpPr>
        <p:spPr>
          <a:xfrm rot="0" flipH="0" flipV="0">
            <a:off x="7772400" y="4572000"/>
            <a:ext cx="3810000" cy="723900"/>
          </a:xfrm>
          <a:prstGeom prst="roundRect">
            <a:avLst>
              <a:gd name="adj" fmla="val 1052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947" name=""/>
          <p:cNvSpPr/>
          <p:nvPr/>
        </p:nvSpPr>
        <p:spPr>
          <a:xfrm rot="0" flipH="0" flipV="0">
            <a:off x="7905750" y="470535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948" name="" descr="{&quot;isTemplate&quot;:true,&quot;type&quot;:&quot;text&quot;}"/>
          <p:cNvSpPr txBox="1"/>
          <p:nvPr/>
        </p:nvSpPr>
        <p:spPr>
          <a:xfrm rot="0" flipH="0" flipV="0">
            <a:off x="8058150" y="4810125"/>
            <a:ext cx="24003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不选择一个无关旧地图来充当默认背景。</a:t>
            </a:r>
            <a:endParaRPr/>
          </a:p>
        </p:txBody>
      </p:sp>
      <p:sp>
        <p:nvSpPr>
          <p:cNvPr id="94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从图像到四层空间</a:t>
            </a:r>
            <a:endParaRPr/>
          </a:p>
        </p:txBody>
      </p:sp>
      <p:sp>
        <p:nvSpPr>
          <p:cNvPr id="95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46" name="" descr="&lt;Slide notes={`导入分五步：在「素材」页点「＋ 导入原图」，选择本章背景 PNG；选中原图后点「＋ 新建切片」，为完整背景设 X=0、Y=0、W=32、H=24 并保存；然后回「世界」选根节点，在「显示素材」里选择该切片；再设置节点名称、空间范围和语义；最后保存。&#10;&#10;保存之后不要急着往下走，离开再重开一次，检查根节点仍绑定同一素材、尺寸没有改变、画面没有拉伸或裁掉边缘。&#10;&#10;另外，整张背景已经画出的桌椅无需再叠一套重复图，建立语义节点即可；公告栏因为要随状态换图，要单独准备视角、像素尺寸、锚点及切片边界相同的外观素材，避免切换时像在地图上跳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3.2　新建地图，导入整张背景&lt;/Text&gt;&#10;            &lt;Text style={{ fontSize: 34, fontWeight: 'bold', color: '#20344B' }}&gt;导入、切片、绑定、保存&lt;/Text&gt;&#10;        &lt;/Box&gt;&#10;    &lt;/Box&gt;&#10;&#10;    &lt;Box style={{ height: 540, flexDirection: 'row', alignItems: 'center', gap: 32 }}&gt;&#10;&#10;        &lt;Box style={{ width: 700, flexDirection: 'column', gap: 6 }}&gt;&#10;&#10;            &lt;Box style={{ height: 56, flexDirection: 'row', alignItems: 'center', gap: 12 }}&gt;&#10;                &lt;Box style={{ width: 32, height: 32, background: '#276FBF', borderRadius: 16, justifyContent: 'center', alignItems: 'center' }}&gt;&#10;                    &lt;Text style={{ fontSize: 15, fontWeight: 'bold', color: '#FFFFFF' }}&gt;1&lt;/Text&gt;&#10;                &lt;/Box&gt;&#10;                &lt;Text style={{ fontSize: 15, color: '#20344B', width: 640 }}&gt;「素材」页：点「＋ 导入原图」，选择本章背景 PNG&lt;/Text&gt;&#10;            &lt;/Box&gt;&#10;            &lt;Box style={{ height: 22, justifyContent: 'center', alignItems: 'center' }}&gt;&lt;Text style={{ fontSize: 14, color: '#276FBF' }}&gt;↓&lt;/Text&gt;&lt;/Box&gt;&#10;&#10;            &lt;Box style={{ height: 56, flexDirection: 'row', alignItems: 'center', gap: 12 }}&gt;&#10;                &lt;Box style={{ width: 32, height: 32, background: '#276FBF', borderRadius: 16, justifyContent: 'center', alignItems: 'center' }}&gt;&#10;                    &lt;Text style={{ fontSize: 15, fontWeight: 'bold', color: '#FFFFFF' }}&gt;2&lt;/Text&gt;&#10;                &lt;/Box&gt;&#10;                &lt;Text style={{ fontSize: 15, color: '#20344B', width: 640 }}&gt;选中原图：点「＋ 新建切片」，设 X=0、Y=0、W=32、H=24，保存切片&lt;/Text&gt;&#10;            &lt;/Box&gt;&#10;            &lt;Box style={{ height: 22, justifyContent: 'center', alignItems: 'center' }}&gt;&lt;Text style={{ fontSize: 14, color: '#276FBF' }}&gt;↓&lt;/Text&gt;&lt;/Box&gt;&#10;&#10;            &lt;Box style={{ height: 56, flexDirection: 'row', alignItems: 'center', gap: 12 }}&gt;&#10;                &lt;Box style={{ width: 32, height: 32, background: '#276FBF', borderRadius: 16, justifyContent: 'center', alignItems: 'center' }}&gt;&#10;                    &lt;Text style={{ fontSize: 15, fontWeight: 'bold', color: '#FFFFFF' }}&gt;3&lt;/Text&gt;&#10;                &lt;/Box&gt;&#10;                &lt;Text style={{ fontSize: 15, color: '#20344B', width: 640 }}&gt;回「世界」：选根节点，在「显示素材」中选择该切片&lt;/Text&gt;&#10;            &lt;/Box&gt;&#10;            &lt;Box style={{ height: 22, justifyContent: 'center', alignItems: 'center' }}&gt;&lt;Text style={{ fontSize: 14, color: '#276FBF' }}&gt;↓&lt;/Text&gt;&lt;/Box&gt;&#10;&#10;            &lt;Box style={{ height: 56, flexDirection: 'row', alignItems: 'center', gap: 12 }}&gt;&#10;                &lt;Box style={{ width: 32, height: 32, background: '#276FBF', borderRadius: 16, justifyContent: 'center', alignItems: 'center' }}&gt;&#10;                    &lt;Text style={{ fontSize: 15, fontWeight: 'bold', color: '#FFFFFF' }}&gt;4&lt;/Text&gt;&#10;                &lt;/Box&gt;&#10;                &lt;Text style={{ fontSize: 15, color: '#20344B', width: 640 }}&gt;设置节点名称、空间范围和语义&lt;/Text&gt;&#10;            &lt;/Box&gt;&#10;            &lt;Box style={{ height: 22, justifyContent: 'center', alignItems: 'center' }}&gt;&lt;Text style={{ fontSize: 14, color: '#26816B' }}&gt;↓&lt;/Text&gt;&lt;/Box&gt;&#10;&#10;            &lt;Box style={{ height: 56, flexDirection: 'row', alignItems: 'center', gap: 12 }}&gt;&#10;                &lt;Box style={{ width: 32, height: 32, background: '#26816B', borderRadius: 16, justifyContent: 'center', alignItems: 'center' }}&gt;&#10;                    &lt;Text style={{ fontSize: 15, fontWeight: 'bold', color: '#FFFFFF' }}&gt;5&lt;/Text&gt;&#10;                &lt;/Box&gt;&#10;                &lt;Text style={{ fontSize: 15, color: '#20344B', width: 640 }}&gt;保存；离开再重开，核对绑定与画面&lt;/Text&gt;&#10;            &lt;/Box&gt;&#10;&#10;            &lt;Box style={{ marginTop: 6, height: 100, background: '#F4F7FA', borderRadius: 10, flexDirection: 'row', alignItems: 'center', gap: 14, padding: '0 16px' }}&gt;&#10;                &lt;Box style={{ width: 4, height: 72, background: '#276FBF' }} /&gt;&#10;                &lt;Box style={{ flex: 1, flexDirection: 'column', gap: 4 }}&gt;&#10;                    &lt;Text style={{ fontSize: 15, fontWeight: 'bold', color: '#276FBF' }}&gt;整张背景已画出的桌椅，无需再叠一套重复图&lt;/Text&gt;&#10;                    &lt;Text style={{ fontSize: 13, color: '#546779', lineHeight: 1.5 }}&gt;可为它们建立语义节点而不另选显示素材；需要随状态换图的公告栏，单独准备视角、像素尺寸、锚点及切片边界相同的外观素材。&lt;/Text&gt;&#10;                &lt;/Box&gt;&#10;            &lt;/Box&gt;&#10;&#10;        &lt;/Box&gt;&#10;&#10;        &lt;Box style={{ flex: 1, flexDirection: 'column', gap: 12 }}&gt;&#10;&#10;            &lt;Box style={{ background: '#F4F7FA', borderRadius: 10, padding: 18, flexDirection: 'column', gap: 12 }}&gt;&#10;                &lt;Text style={{ fontSize: 20, fontWeight: 'bold', color: '#20344B' }}&gt;保存后重开，核对三件事&lt;/Text&gt;&#10;                &lt;Box style={{ flexDirection: 'row', gap: 10 }}&gt;&#10;                    &lt;Box style={{ width: 10, height: 10, background: '#26816B', marginTop: 6 }} /&gt;&#10;                    &lt;Text style={{ fontSize: 15, color: '#20344B', lineHeight: 1.55 }}&gt;根节点仍绑定同一素材&lt;/Text&gt;&#10;                &lt;/Box&gt;&#10;                &lt;Box style={{ flexDirection: 'row', gap: 10 }}&gt;&#10;                    &lt;Box style={{ width: 10, height: 10, background: '#26816B', marginTop: 6 }} /&gt;&#10;                    &lt;Text style={{ fontSize: 15, color: '#20344B', lineHeight: 1.55 }}&gt;尺寸没有改变&lt;/Text&gt;&#10;                &lt;/Box&gt;&#10;                &lt;Box style={{ flexDirection: 'row', gap: 10 }}&gt;&#10;                    &lt;Box style={{ width: 10, height: 10, background: '#26816B', marginTop: 6 }} /&gt;&#10;                    &lt;Text style={{ fontSize: 15, color: '#20344B', lineHeight: 1.55 }}&gt;画面没有拉伸或裁掉边缘&lt;/Text&gt;&#10;                &lt;/Box&gt;&#10;            &lt;/Box&gt;&#10;&#10;            &lt;Box style={{ height: 96, background: '#FFF4E6', borderRadius: 8, flexDirection: 'row', alignItems: 'center', gap: 12, padding: '0 16px' }}&gt;&#10;                &lt;Box style={{ width: 4, height: 64, background: '#CB6B28' }} /&gt;&#10;                &lt;Text style={{ fontSize: 14, color: '#CB6B28', lineHeight: 1.55 }}&gt;图片出现在素材列表，只说明原图进入了编辑器；它未必已经作为世界背景显示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3 从图像到四层空间&lt;/Text&gt;&#10;        &lt;Text style={{ fontSize: 14, color: '#546779' }}&gt;10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3.3.2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新建地图，导入整张背景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导入、切片、绑定、保存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609600" y="13144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14375" y="13811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028700" y="1381125"/>
            <a:ext cx="609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「素材」页：点「＋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导入原图」，选择本章背景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PNG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3914775" y="1819275"/>
            <a:ext cx="66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609600" y="2171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714375" y="22383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028700" y="2238375"/>
            <a:ext cx="609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选中原图：点「＋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新建切片」，设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X=0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Y=0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W=32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H=24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，保存切片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3914775" y="2676525"/>
            <a:ext cx="66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609600" y="30289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714375" y="30956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028700" y="3095625"/>
            <a:ext cx="609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回「世界」：选根节点，在「显示素材」中选择该切片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3914775" y="3533775"/>
            <a:ext cx="66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609600" y="38862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714375" y="39528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028700" y="3952875"/>
            <a:ext cx="609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设置节点名称、空间范围和语义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3914775" y="4391025"/>
            <a:ext cx="66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609600" y="47434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714375" y="48101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028700" y="4810125"/>
            <a:ext cx="609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保存；离开再重开，核对绑定与画面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609600" y="5276850"/>
            <a:ext cx="6667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1" name=""/>
          <p:cNvSpPr/>
          <p:nvPr/>
        </p:nvSpPr>
        <p:spPr>
          <a:xfrm rot="0" flipH="0" flipV="0">
            <a:off x="762000" y="5410200"/>
            <a:ext cx="38100" cy="685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933450" y="5429250"/>
            <a:ext cx="6191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整张背景已画出的桌椅，无需再叠一套重复图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933450" y="5638800"/>
            <a:ext cx="61912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可为它们建立语义节点而不另选显示素材；需要随状态换图的公告栏，单独准备视角、像素尺寸、锚点及切片边界相同的外观素材。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7581900" y="2343150"/>
            <a:ext cx="4000500" cy="171450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753350" y="2514600"/>
            <a:ext cx="3657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保存后重开，核对三件事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7753350" y="2914650"/>
            <a:ext cx="95250" cy="952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943850" y="2857500"/>
            <a:ext cx="14287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根节点仍绑定同一素材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7753350" y="3295650"/>
            <a:ext cx="95250" cy="952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7943850" y="3238500"/>
            <a:ext cx="8572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尺寸没有改变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7753350" y="3676650"/>
            <a:ext cx="95250" cy="952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943850" y="3619500"/>
            <a:ext cx="15716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画面没有拉伸或裁掉边缘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7581900" y="4171950"/>
            <a:ext cx="4000500" cy="9144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7734300" y="4324350"/>
            <a:ext cx="38100" cy="6096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886700" y="4381500"/>
            <a:ext cx="35433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图片出现在素材列表，只说明原图进入了编辑器；它未必已经作为世界背景显示。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从图像到四层空间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87" name="" descr="&lt;Slide notes={`背景有了，接下来给每个地点一个正式地址。在「世界」左侧的四层地址树里，用父节点旁的「＋」逐层创建子节点：World 下建 Sector，Sector 下建 Arena，Arena 下建 Game Object。&#10;&#10;两个常见错误要避开：一是跳层级，直接在 World 下面挂对象；二是只在图片上写一个房间名，就认为系统已经知道它的地址。名字写在图上是给人看的，地址写在树里才是给系统用的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3　　3.3.3&lt;/Text&gt;&#10;&#10;        &lt;Text style={{ fontSize: 56, fontWeight: 'bold', color: '#20344B', lineHeight: 1.15 }}&gt;建立四层地址树&lt;/Text&gt;&#10;&#10;        &lt;Box style={{ width: 72, height: 4, background: '#276FBF' }} /&gt;&#10;&#10;        &lt;Text style={{ fontSize: 18, color: '#546779', lineHeight: 1.7, width: 900 }}&gt;在图片上写一个房间名，不等于系统已经知道它的地址。&lt;/Text&gt;&#10;&#10;        &lt;Box style={{ flexDirection: 'row', alignItems: 'center', marginTop: 10 }}&gt;&#10;            &lt;Box style={{ width: 240, height: 64, background: '#EDF4FC', borderRadius: 8, justifyContent: 'center', alignItems: 'center' }}&gt;&#10;                &lt;Text style={{ fontSize: 17, color: '#276FBF' }}&gt;World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240, height: 64, background: '#EDF4FC', borderRadius: 8, justifyContent: 'center', alignItems: 'center' }}&gt;&#10;                &lt;Text style={{ fontSize: 17, color: '#276FBF' }}&gt;Sector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240, height: 64, background: '#EDF4FC', borderRadius: 8, justifyContent: 'center', alignItems: 'center' }}&gt;&#10;                &lt;Text style={{ fontSize: 17, color: '#276FBF' }}&gt;Arena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240, height: 64, background: '#ECF7F2', borderRadius: 8, justifyContent: 'center', alignItems: 'center' }}&gt;&#10;                &lt;Text style={{ fontSize: 17, color: '#26816B' }}&gt;Game Object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3 从图像到四层空间&lt;/Text&gt;&#10;        &lt;Text style={{ fontSize: 14, color: '#546779' }}&gt;11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3.3.3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建立四层地址树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在图片上写一个房间名，不等于系统已经知道它的地址。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09600" y="4057650"/>
            <a:ext cx="22860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514475" y="4267200"/>
            <a:ext cx="476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276FBF"/>
                </a:solidFill>
                <a:latin typeface="Microsoft YaHei"/>
                <a:ea typeface="Microsoft YaHei"/>
              </a:rPr>
              <a:t>World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30670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3314700" y="4057650"/>
            <a:ext cx="22860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4210050" y="4267200"/>
            <a:ext cx="495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276FBF"/>
                </a:solidFill>
                <a:latin typeface="Microsoft YaHei"/>
                <a:ea typeface="Microsoft YaHei"/>
              </a:rPr>
              <a:t>Sector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5772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6019800" y="4057650"/>
            <a:ext cx="22860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934200" y="4267200"/>
            <a:ext cx="457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276FBF"/>
                </a:solidFill>
                <a:latin typeface="Microsoft YaHei"/>
                <a:ea typeface="Microsoft YaHei"/>
              </a:rPr>
              <a:t>Arena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4772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8724900" y="4057650"/>
            <a:ext cx="22860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9363075" y="4267200"/>
            <a:ext cx="1019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26816B"/>
                </a:solidFill>
                <a:latin typeface="Microsoft YaHei"/>
                <a:ea typeface="Microsoft YaHei"/>
              </a:rPr>
              <a:t>Game Object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从图像到四层空间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25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06" name="" descr="&lt;Slide notes={`地址树从 World 的青禾社区开始，Sector 是学习中心，下面四个 Arena，公共大厅再挂公告栏和服务台两个对象。&#10;&#10;选中任何一个节点，右侧就能填三样东西：节点名称、空间范围和空间语义。空间范围是 X、Y、W、H，以格为单位。&#10;&#10;还有一个容易踩的坑：公告栏 board、服务台 helpdesk 是业务设计里的短名，用于教材对照；编辑器新建节点时产生的是自己的稳定节点 ID，不能假定两者自动相等。正确做法是在配置记录里建立对应关系。对象 Skill 的详细内容见 3.4 节，本节先保证对象的位置、外观和地址正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3.3　建立四层地址树&lt;/Text&gt;&#10;            &lt;Text style={{ fontSize: 34, fontWeight: 'bold', color: '#20344B' }}&gt;地址树：逐层用「＋」创建&lt;/Text&gt;&#10;        &lt;/Box&gt;&#10;    &lt;/Box&gt;&#10;&#10;    &lt;Box style={{ height: 540, flexDirection: 'row', gap: 32 }}&gt;&#10;&#10;        &lt;Box style={{ width: 500, flexDirection: 'column', gap: 8 }}&gt;&#10;&#10;            &lt;Text style={{ fontSize: 14, color: '#546779' }}&gt;世界 · 四层地址树（示意）&lt;/Text&gt;&#10;&#10;            &lt;Box style={{ flexDirection: 'row', gap: 8 }}&gt;&#10;                &lt;Box style={{ width: 464, height: 52, background: '#276FBF', borderRadius: 8, flexDirection: 'row', alignItems: 'center', padding: '0 16px' }}&gt;&#10;                    &lt;Text style={{ fontSize: 17, fontWeight: 'bold', color: '#FFFFFF' }}&gt;World　青禾社区&lt;/Text&gt;&#10;                &lt;/Box&gt;&#10;                &lt;Box style={{ width: 28, height: 28, background: '#EDF4FC', borderRadius: 6, justifyContent: 'center', alignItems: 'center', marginTop: 12 }}&gt;&#10;                    &lt;Text style={{ fontSize: 16, fontWeight: 'bold', color: '#276FBF' }}&gt;＋&lt;/Text&gt;&#10;                &lt;/Box&gt;&#10;            &lt;/Box&gt;&#10;&#10;            &lt;Box style={{ flexDirection: 'row', gap: 8, marginLeft: 40 }}&gt;&#10;                &lt;Box style={{ width: 424, height: 52, background: '#EDF4FC', borderRadius: 8, flexDirection: 'row', alignItems: 'center', padding: '0 16px' }}&gt;&#10;                    &lt;Text style={{ fontSize: 17, fontWeight: 'bold', color: '#276FBF' }}&gt;Sector　学习中心&lt;/Text&gt;&#10;                &lt;/Box&gt;&#10;                &lt;Box style={{ width: 28, height: 28, background: '#EDF4FC', borderRadius: 6, justifyContent: 'center', alignItems: 'center', marginTop: 12 }}&gt;&#10;                    &lt;Text style={{ fontSize: 16, fontWeight: 'bold', color: '#276FBF' }}&gt;＋&lt;/Text&gt;&#10;                &lt;/Box&gt;&#10;            &lt;/Box&gt;&#10;&#10;            &lt;Box style={{ flexDirection: 'row', gap: 8, marginLeft: 80 }}&gt;&#10;                &lt;Box style={{ width: 376, height: 44, background: '#ECF7F2', borderRadius: 8, flexDirection: 'row', alignItems: 'center', padding: '0 16px' }}&gt;&#10;                    &lt;Text style={{ fontSize: 16, fontWeight: 'bold', color: '#26816B' }}&gt;Arena　阅读室&lt;/Text&gt;&#10;                &lt;/Box&gt;&#10;                &lt;Box style={{ width: 28, height: 28, background: '#ECF7F2', borderRadius: 6, justifyContent: 'center', alignItems: 'center', marginTop: 8 }}&gt;&#10;                    &lt;Text style={{ fontSize: 16, fontWeight: 'bold', color: '#26816B' }}&gt;＋&lt;/Text&gt;&#10;                &lt;/Box&gt;&#10;            &lt;/Box&gt;&#10;&#10;            &lt;Box style={{ flexDirection: 'row', gap: 8, marginLeft: 80 }}&gt;&#10;                &lt;Box style={{ width: 376, height: 44, background: '#ECF7F2', borderRadius: 8, flexDirection: 'row', alignItems: 'center', padding: '0 16px' }}&gt;&#10;                    &lt;Text style={{ fontSize: 16, fontWeight: 'bold', color: '#26816B' }}&gt;Arena　手作室&lt;/Text&gt;&#10;                &lt;/Box&gt;&#10;                &lt;Box style={{ width: 28, height: 28, background: '#ECF7F2', borderRadius: 6, justifyContent: 'center', alignItems: 'center', marginTop: 8 }}&gt;&#10;                    &lt;Text style={{ fontSize: 16, fontWeight: 'bold', color: '#26816B' }}&gt;＋&lt;/Text&gt;&#10;                &lt;/Box&gt;&#10;            &lt;/Box&gt;&#10;&#10;            &lt;Box style={{ flexDirection: 'row', gap: 8, marginLeft: 80 }}&gt;&#10;                &lt;Box style={{ width: 376, height: 44, background: '#ECF7F2', borderRadius: 8, flexDirection: 'row', alignItems: 'center', padding: '0 16px' }}&gt;&#10;                    &lt;Text style={{ fontSize: 16, fontWeight: 'bold', color: '#26816B' }}&gt;Arena　交流室&lt;/Text&gt;&#10;                &lt;/Box&gt;&#10;                &lt;Box style={{ width: 28, height: 28, background: '#ECF7F2', borderRadius: 6, justifyContent: 'center', alignItems: 'center', marginTop: 8 }}&gt;&#10;                    &lt;Text style={{ fontSize: 16, fontWeight: 'bold', color: '#26816B' }}&gt;＋&lt;/Text&gt;&#10;                &lt;/Box&gt;&#10;            &lt;/Box&gt;&#10;&#10;            &lt;Box style={{ flexDirection: 'row', gap: 8, marginLeft: 80 }}&gt;&#10;                &lt;Box style={{ width: 376, height: 44, background: '#ECF7F2', borderRadius: 8, flexDirection: 'row', alignItems: 'center', padding: '0 16px' }}&gt;&#10;                    &lt;Text style={{ fontSize: 16, fontWeight: 'bold', color: '#26816B' }}&gt;Arena　公共大厅&lt;/Text&gt;&#10;                &lt;/Box&gt;&#10;                &lt;Box style={{ width: 28, height: 28, background: '#ECF7F2', borderRadius: 6, justifyContent: 'center', alignItems: 'center', marginTop: 8 }}&gt;&#10;                    &lt;Text style={{ fontSize: 16, fontWeight: 'bold', color: '#26816B' }}&gt;＋&lt;/Text&gt;&#10;                &lt;/Box&gt;&#10;            &lt;/Box&gt;&#10;&#10;            &lt;Box style={{ flexDirection: 'row', gap: 8, marginLeft: 120 }}&gt;&#10;                &lt;Box style={{ width: 172, height: 44, background: '#26816B', borderRadius: 8, justifyContent: 'center', alignItems: 'center' }}&gt;&#10;                    &lt;Text style={{ fontSize: 14, fontWeight: 'bold', color: '#FFFFFF' }}&gt;公告栏 board&lt;/Text&gt;&#10;                &lt;/Box&gt;&#10;                &lt;Box style={{ width: 172, height: 44, background: '#26816B', borderRadius: 8, justifyContent: 'center', alignItems: 'center' }}&gt;&#10;                    &lt;Text style={{ fontSize: 14, fontWeight: 'bold', color: '#FFFFFF' }}&gt;服务台 helpdesk&lt;/Text&gt;&#10;                &lt;/Box&gt;&#10;            &lt;/Box&gt;&#10;&#10;            &lt;Text style={{ fontSize: 13, color: '#546779', width: 500, lineHeight: 1.5, marginTop: 4 }}&gt;「＋」在父节点旁，逐层创建子节点；World 下建 Sector，Sector 下建 Arena，Arena 下建 Game Object，不跳层级。&lt;/Text&gt;&#10;&#10;        &lt;/Box&gt;&#10;&#10;        &lt;Box style={{ width: 620, flexDirection: 'column', gap: 14, justifyContent: 'center' }}&gt;&#10;&#10;            &lt;Box style={{ background: '#F4F7FA', borderRadius: 10, padding: 18, flexDirection: 'column', gap: 12 }}&gt;&#10;                &lt;Text style={{ fontSize: 20, fontWeight: 'bold', color: '#20344B' }}&gt;选中节点后，右侧可填&lt;/Text&gt;&#10;                &lt;Box style={{ flexDirection: 'row', alignItems: 'center', gap: 12 }}&gt;&#10;                    &lt;Box style={{ width: 104, height: 34, background: '#EDF4FC', borderRadius: 6, justifyContent: 'center', alignItems: 'center' }}&gt;&#10;                        &lt;Text style={{ fontSize: 14, color: '#276FBF' }}&gt;节点名称&lt;/Text&gt;&#10;                    &lt;/Box&gt;&#10;                    &lt;Text style={{ fontSize: 15, color: '#20344B' }}&gt;如「阅读室」「公共大厅」&lt;/Text&gt;&#10;                &lt;/Box&gt;&#10;                &lt;Box style={{ flexDirection: 'row', alignItems: 'center', gap: 12 }}&gt;&#10;                    &lt;Box style={{ width: 104, height: 34, background: '#EDF4FC', borderRadius: 6, justifyContent: 'center', alignItems: 'center' }}&gt;&#10;                        &lt;Text style={{ fontSize: 14, color: '#276FBF' }}&gt;空间范围&lt;/Text&gt;&#10;                    &lt;/Box&gt;&#10;                    &lt;Text style={{ fontSize: 15, color: '#20344B' }}&gt;X／Y／W／H，以格为单位&lt;/Text&gt;&#10;                &lt;/Box&gt;&#10;                &lt;Box style={{ flexDirection: 'row', alignItems: 'center', gap: 12 }}&gt;&#10;                    &lt;Box style={{ width: 104, height: 34, background: '#EDF4FC', borderRadius: 6, justifyContent: 'center', alignItems: 'center' }}&gt;&#10;                        &lt;Text style={{ fontSize: 14, color: '#276FBF' }}&gt;空间语义&lt;/Text&gt;&#10;                    &lt;/Box&gt;&#10;                    &lt;Text style={{ fontSize: 15, color: '#20344B' }}&gt;这个场所适合做什么、连接什么&lt;/Text&gt;&#10;                &lt;/Box&gt;&#10;            &lt;/Box&gt;&#10;&#10;            &lt;Box style={{ background: '#F7F3E8', borderRadius: 10, padding: 16, flexDirection: 'column', gap: 8 }}&gt;&#10;                &lt;Text style={{ fontSize: 17, fontWeight: 'bold', color: '#20344B' }}&gt;业务标识与节点 ID&lt;/Text&gt;&#10;                &lt;Text style={{ fontSize: 14, color: '#546779', lineHeight: 1.6 }}&gt;公告栏 board、服务台 helpdesk 是业务设计标识，用于教材对照；编辑器新建节点时产生自己的稳定节点 ID，不能假定它自动等于短名，应在配置记录中建立对应关系。&lt;/Text&gt;&#10;            &lt;/Box&gt;&#10;&#10;            &lt;Box style={{ flexDirection: 'row', alignItems: 'center', gap: 12 }}&gt;&#10;                &lt;Box style={{ width: 4, height: 36, background: '#276FBF' }} /&gt;&#10;                &lt;Text style={{ fontSize: 14, color: '#546779' }}&gt;对象 Skill 的详细内容见 3.4 节；本节先保证对象位置、外观和地址正确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3 从图像到四层空间&lt;/Text&gt;&#10;        &lt;Text style={{ fontSize: 14, color: '#546779' }}&gt;12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3.3.3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建立四层地址树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地址树：逐层用「＋」创建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476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世界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四层地址树（示意）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609600" y="1381125"/>
            <a:ext cx="4419600" cy="495300"/>
          </a:xfrm>
          <a:prstGeom prst="roundRect">
            <a:avLst>
              <a:gd name="adj" fmla="val 15385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62000" y="1533525"/>
            <a:ext cx="1314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World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　青禾社区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5105400" y="1495425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5162550" y="153352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＋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990600" y="1952625"/>
            <a:ext cx="4038600" cy="495300"/>
          </a:xfrm>
          <a:prstGeom prst="roundRect">
            <a:avLst>
              <a:gd name="adj" fmla="val 1538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143000" y="2105025"/>
            <a:ext cx="1333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Sector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　学习中心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5105400" y="2066925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5162550" y="210502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＋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1371600" y="2524125"/>
            <a:ext cx="3581400" cy="419100"/>
          </a:xfrm>
          <a:prstGeom prst="roundRect">
            <a:avLst>
              <a:gd name="adj" fmla="val 1818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1524000" y="2638425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Arena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　阅读室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5029200" y="2600325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5086350" y="263842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＋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1371600" y="3019425"/>
            <a:ext cx="3581400" cy="419100"/>
          </a:xfrm>
          <a:prstGeom prst="roundRect">
            <a:avLst>
              <a:gd name="adj" fmla="val 1818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524000" y="3133725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Arena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　手作室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5029200" y="3095625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5086350" y="313372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＋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1371600" y="3514725"/>
            <a:ext cx="3581400" cy="419100"/>
          </a:xfrm>
          <a:prstGeom prst="roundRect">
            <a:avLst>
              <a:gd name="adj" fmla="val 1818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524000" y="3629025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Arena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　交流室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5029200" y="3590925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5086350" y="362902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＋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1371600" y="4010025"/>
            <a:ext cx="3581400" cy="419100"/>
          </a:xfrm>
          <a:prstGeom prst="roundRect">
            <a:avLst>
              <a:gd name="adj" fmla="val 1818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524000" y="412432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Arena</a:t>
            </a: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　公共大厅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5029200" y="4086225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5086350" y="412432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＋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1752600" y="4505325"/>
            <a:ext cx="16383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2152650" y="4638675"/>
            <a:ext cx="83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公告栏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board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3467100" y="4505325"/>
            <a:ext cx="16383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3762375" y="4638675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服务台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helpdesk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09600" y="5038725"/>
            <a:ext cx="47625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「＋」在父节点旁，逐层创建子节点；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World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下建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Sector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，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Sector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下建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Arena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，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Arena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下建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Game Object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，不跳层级。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5676900" y="1924050"/>
            <a:ext cx="5905500" cy="1885950"/>
          </a:xfrm>
          <a:prstGeom prst="roundRect">
            <a:avLst>
              <a:gd name="adj" fmla="val 505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5848350" y="2095500"/>
            <a:ext cx="5562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选中节点后，右侧可填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5848350" y="2438400"/>
            <a:ext cx="990600" cy="323850"/>
          </a:xfrm>
          <a:prstGeom prst="roundRect">
            <a:avLst>
              <a:gd name="adj" fmla="val 1764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076950" y="25241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节点名称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953250" y="2514600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如「阅读室」「公共大厅」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5848350" y="2876550"/>
            <a:ext cx="990600" cy="323850"/>
          </a:xfrm>
          <a:prstGeom prst="roundRect">
            <a:avLst>
              <a:gd name="adj" fmla="val 1764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076950" y="29622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空间范围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953250" y="2952750"/>
            <a:ext cx="1724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X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／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Y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／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W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／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H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，以格为单位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5848350" y="3314700"/>
            <a:ext cx="990600" cy="323850"/>
          </a:xfrm>
          <a:prstGeom prst="roundRect">
            <a:avLst>
              <a:gd name="adj" fmla="val 1764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076950" y="34004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空间语义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953250" y="3390900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这个场所适合做什么、连接什么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5676900" y="3943350"/>
            <a:ext cx="5905500" cy="1095375"/>
          </a:xfrm>
          <a:prstGeom prst="roundRect">
            <a:avLst>
              <a:gd name="adj" fmla="val 8696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5829300" y="4095750"/>
            <a:ext cx="5600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业务标识与节点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829300" y="4371975"/>
            <a:ext cx="5600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公告栏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board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、服务台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helpdesk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是业务设计标识，用于教材对照；编辑器新建节点时产生自己的稳定节点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，不能假定它自动等于短名，应在配置记录中建立对应关系。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5676900" y="5172075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829300" y="5267325"/>
            <a:ext cx="434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的详细内容见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3.4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节；本节先保证对象位置、外观和地址正确。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从图像到四层空间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59" name="" descr="&lt;Slide notes={`空间语义写什么？写这个场所公开的用途和关系。阅读室的语义说明它适合阅读与分享；公共大厅的语义说明它连接各场所并提供公共咨询。&#10;&#10;不写什么？不把某位人物私下知道的信息写进公开空间语义。语义是世界的公共描述，人物私下的知情属于人物资料和记忆，混在一起就会破坏信息边界。&#10;&#10;层级上，每一层都可以有自然语言语义，但只有 Game Object 绑定对象根 Skill；对象的私有状态同样不属于公开语义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3.3　建立四层地址树&lt;/Text&gt;&#10;            &lt;Text style={{ fontSize: 34, fontWeight: 'bold', color: '#20344B' }}&gt;语义写什么，不写什么&lt;/Text&gt;&#10;        &lt;/Box&gt;&#10;    &lt;/Box&gt;&#10;&#10;    &lt;Box style={{ height: 540, flexDirection: 'row', alignItems: 'center', gap: 32 }}&gt;&#10;&#10;        &lt;Box style={{ width: 420, flexDirection: 'column', gap: 12 }}&gt;&#10;            &lt;Text style={{ fontSize: 22, fontWeight: 'bold', color: '#20344B' }}&gt;选中节点，填三件事&lt;/Text&gt;&#10;            &lt;Box style={{ height: 86, background: '#F4F7FA', borderRadius: 8, padding: '12px 16px', flexDirection: 'column', gap: 4, justifyContent: 'center' }}&gt;&#10;                &lt;Text style={{ fontSize: 17, fontWeight: 'bold', color: '#276FBF' }}&gt;节点名称&lt;/Text&gt;&#10;                &lt;Text style={{ fontSize: 13, color: '#546779' }}&gt;给场所一个系统内的名字&lt;/Text&gt;&#10;            &lt;/Box&gt;&#10;            &lt;Box style={{ height: 86, background: '#F4F7FA', borderRadius: 8, padding: '12px 16px', flexDirection: 'column', gap: 4, justifyContent: 'center' }}&gt;&#10;                &lt;Text style={{ fontSize: 17, fontWeight: 'bold', color: '#276FBF' }}&gt;空间范围&lt;/Text&gt;&#10;                &lt;Text style={{ fontSize: 13, color: '#546779' }}&gt;X、Y、W、H，以格为单位&lt;/Text&gt;&#10;            &lt;/Box&gt;&#10;            &lt;Box style={{ height: 86, background: '#F4F7FA', borderRadius: 8, padding: '12px 16px', flexDirection: 'column', gap: 4, justifyContent: 'center' }}&gt;&#10;                &lt;Text style={{ fontSize: 17, fontWeight: 'bold', color: '#276FBF' }}&gt;空间语义&lt;/Text&gt;&#10;                &lt;Text style={{ fontSize: 13, color: '#546779' }}&gt;公开的用途与关系描述&lt;/Text&gt;&#10;            &lt;/Box&gt;&#10;            &lt;Box style={{ height: 104, background: '#FFF4E6', borderRadius: 8, flexDirection: 'row', alignItems: 'center', gap: 12, padding: '0 16px' }}&gt;&#10;                &lt;Box style={{ width: 4, height: 72, background: '#CB6B28' }} /&gt;&#10;                &lt;Box style={{ flex: 1, flexDirection: 'column', gap: 4 }}&gt;&#10;                    &lt;Text style={{ fontSize: 15, fontWeight: 'bold', color: '#CB6B28' }}&gt;不把某位人物私下知道的信息，写进公开空间语义&lt;/Text&gt;&#10;                    &lt;Text style={{ fontSize: 13, color: '#546779' }}&gt;语义是世界的公共描述，私下知情属于人物资料与记忆。&lt;/Text&gt;&#10;                &lt;/Box&gt;&#10;            &lt;/Box&gt;&#10;        &lt;/Box&gt;&#10;&#10;        &lt;Box style={{ width: 700, flexDirection: 'column', gap: 14, justifyContent: 'center' }}&gt;&#10;&#10;            &lt;Box style={{ height: 112, background: '#EDF4FC', borderRadius: 10, flexDirection: 'row', alignItems: 'center', gap: 16, padding: '0 20px' }}&gt;&#10;                &lt;Box style={{ width: 104, height: 40, background: '#276FBF', borderRadius: 8, justifyContent: 'center', alignItems: 'center' }}&gt;&#10;                    &lt;Text style={{ fontSize: 15, fontWeight: 'bold', color: '#FFFFFF' }}&gt;阅读室&lt;/Text&gt;&#10;                &lt;/Box&gt;&#10;                &lt;Box style={{ flex: 1, flexDirection: 'column', gap: 4 }}&gt;&#10;                    &lt;Text style={{ fontSize: 18, fontWeight: 'bold', color: '#276FBF' }}&gt;「适合阅读与分享」&lt;/Text&gt;&#10;                    &lt;Text style={{ fontSize: 13, color: '#546779' }}&gt;阅读访客的目标区域；说明用途，不写任何人物的私下信息。&lt;/Text&gt;&#10;                &lt;/Box&gt;&#10;            &lt;/Box&gt;&#10;&#10;            &lt;Box style={{ height: 112, background: '#ECF7F2', borderRadius: 10, flexDirection: 'row', alignItems: 'center', gap: 16, padding: '0 20px' }}&gt;&#10;                &lt;Box style={{ width: 104, height: 40, background: '#26816B', borderRadius: 8, justifyContent: 'center', alignItems: 'center' }}&gt;&#10;                    &lt;Text style={{ fontSize: 15, fontWeight: 'bold', color: '#FFFFFF' }}&gt;公共大厅&lt;/Text&gt;&#10;                &lt;/Box&gt;&#10;                &lt;Box style={{ flex: 1, flexDirection: 'column', gap: 4 }}&gt;&#10;                    &lt;Text style={{ fontSize: 18, fontWeight: 'bold', color: '#26816B' }}&gt;「连接各场所，并提供公共咨询」&lt;/Text&gt;&#10;                    &lt;Text style={{ fontSize: 13, color: '#546779' }}&gt;连接房间、查询公告与咨询；公告与服务由对象 Skill 承接（3.4 展开）。&lt;/Text&gt;&#10;                &lt;/Box&gt;&#10;            &lt;/Box&gt;&#10;&#10;            &lt;Box style={{ height: 150, background: '#F4F7FA', borderRadius: 10, flexDirection: 'row', alignItems: 'center', gap: 16, padding: '0 20px' }}&gt;&#10;                &lt;Box style={{ width: 4, height: 110, background: '#276FBF' }} /&gt;&#10;                &lt;Box style={{ flex: 1, flexDirection: 'column', gap: 8 }}&gt;&#10;                    &lt;Text style={{ fontSize: 17, fontWeight: 'bold', color: '#276FBF' }}&gt;每一层都可以有自然语言语义&lt;/Text&gt;&#10;                    &lt;Text style={{ fontSize: 14, color: '#546779', lineHeight: 1.6 }}&gt;只有 Game Object 绑定对象根 Skill；对象私有状态不属于公开语义，也不进入人物初始知识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3 从图像到四层空间&lt;/Text&gt;&#10;        &lt;Text style={{ fontSize: 14, color: '#546779' }}&gt;13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3.3.3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建立四层地址树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语义写什么，不写什么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09600" y="1638300"/>
            <a:ext cx="4000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选中节点，填三件事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609600" y="2009775"/>
            <a:ext cx="4000500" cy="819150"/>
          </a:xfrm>
          <a:prstGeom prst="roundRect">
            <a:avLst>
              <a:gd name="adj" fmla="val 930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762000" y="2228850"/>
            <a:ext cx="3695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节点名称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762000" y="2466975"/>
            <a:ext cx="3695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给场所一个系统内的名字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09600" y="2943225"/>
            <a:ext cx="4000500" cy="819150"/>
          </a:xfrm>
          <a:prstGeom prst="roundRect">
            <a:avLst>
              <a:gd name="adj" fmla="val 930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762000" y="3162300"/>
            <a:ext cx="3695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空间范围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762000" y="3400425"/>
            <a:ext cx="3695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X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Y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W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H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，以格为单位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609600" y="3876675"/>
            <a:ext cx="4000500" cy="819150"/>
          </a:xfrm>
          <a:prstGeom prst="roundRect">
            <a:avLst>
              <a:gd name="adj" fmla="val 930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762000" y="4095750"/>
            <a:ext cx="3695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空间语义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762000" y="4333875"/>
            <a:ext cx="3695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公开的用途与关系描述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609600" y="4810125"/>
            <a:ext cx="4000500" cy="99060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75" name=""/>
          <p:cNvSpPr/>
          <p:nvPr/>
        </p:nvSpPr>
        <p:spPr>
          <a:xfrm rot="0" flipH="0" flipV="0">
            <a:off x="762000" y="4962525"/>
            <a:ext cx="38100" cy="685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914400" y="5124450"/>
            <a:ext cx="3543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不把某位人物私下知道的信息，写进公开空间语义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914400" y="5334000"/>
            <a:ext cx="3543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语义是世界的公共描述，私下知情属于人物资料与记忆。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4914900" y="1800225"/>
            <a:ext cx="6667500" cy="1066800"/>
          </a:xfrm>
          <a:prstGeom prst="roundRect">
            <a:avLst>
              <a:gd name="adj" fmla="val 89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79" name=""/>
          <p:cNvSpPr/>
          <p:nvPr/>
        </p:nvSpPr>
        <p:spPr>
          <a:xfrm rot="0" flipH="0" flipV="0">
            <a:off x="5105400" y="2143125"/>
            <a:ext cx="9906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5391150" y="224790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阅读室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248400" y="2133600"/>
            <a:ext cx="514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「适合阅读与分享」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248400" y="2381250"/>
            <a:ext cx="5143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阅读访客的目标区域；说明用途，不写任何人物的私下信息。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4914900" y="3000375"/>
            <a:ext cx="6667500" cy="1066800"/>
          </a:xfrm>
          <a:prstGeom prst="roundRect">
            <a:avLst>
              <a:gd name="adj" fmla="val 89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5105400" y="3343275"/>
            <a:ext cx="990600" cy="381000"/>
          </a:xfrm>
          <a:prstGeom prst="roundRect">
            <a:avLst>
              <a:gd name="adj" fmla="val 2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5314950" y="34480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公共大厅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248400" y="3333750"/>
            <a:ext cx="5143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「连接各场所，并提供公共咨询」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248400" y="3581400"/>
            <a:ext cx="5143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连接房间、查询公告与咨询；公告与服务由对象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承接（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3.4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展开）。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4914900" y="4200525"/>
            <a:ext cx="6667500" cy="14287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5105400" y="4391025"/>
            <a:ext cx="38100" cy="10477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5295900" y="4648200"/>
            <a:ext cx="6096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每一层都可以有自然语言语义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5295900" y="4924425"/>
            <a:ext cx="6096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只有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Game Object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绑定对象根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；对象私有状态不属于公开语义，也不进入人物初始知识。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从图像到四层空间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94" name="" descr="&lt;Slide notes={`对象的状态外观要和初始状态对上：状态名与初始状态 JSON 顶层的 state 精确匹配，未命中时就使用默认显示素材。&#10;&#10;所以默认图、状态图和初始值要一起核对，缺一样都可能出现「配置看着对、运行不生效」的情况。&#10;&#10;还要分清两件事：编辑器里预览切换正常，只是配置检查通过；运行时的真实变化，需要 SET_OBJECT_STATE 提交，并用回放事实证明。预览不是证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3.3　建立四层地址树&lt;/Text&gt;&#10;            &lt;Text style={{ fontSize: 34, fontWeight: 'bold', color: '#20344B' }}&gt;状态外观与初始 state 的匹配&lt;/Text&gt;&#10;        &lt;/Box&gt;&#10;    &lt;/Box&gt;&#10;&#10;    &lt;Box style={{ height: 540, flexDirection: 'column', justifyContent: 'center', gap: 14 }}&gt;&#10;&#10;        &lt;Box style={{ height: 96, flexDirection: 'row', alignItems: 'center', gap: 16 }}&gt;&#10;            &lt;Box style={{ width: 4, height: 72, background: '#276FBF' }} /&gt;&#10;            &lt;Box style={{ width: 168, height: 72, background: '#F4F7FA', borderRadius: 8, justifyContent: 'center', alignItems: 'center' }}&gt;&#10;                &lt;Text style={{ fontSize: 18, fontWeight: 'bold', color: '#20344B' }}&gt;状态名匹配&lt;/Text&gt;&#10;            &lt;/Box&gt;&#10;            &lt;Box style={{ flex: 1, height: 72, justifyContent: 'center' }}&gt;&#10;                &lt;Text style={{ fontSize: 15, color: '#20344B', lineHeight: 1.5 }}&gt;「状态外观」的状态名，与初始状态 JSON 顶层的 state 精确匹配。&lt;/Text&gt;&#10;            &lt;/Box&gt;&#10;            &lt;Box style={{ flexDirection: 'row', alignItems: 'center', gap: 8 }}&gt;&#10;                &lt;Box style={{ width: 118, height: 40, background: '#EDF4FC', borderRadius: 8, justifyContent: 'center', alignItems: 'center' }}&gt;&#10;                    &lt;Text style={{ fontSize: 13, color: '#276FBF' }}&gt;状态名&lt;/Text&gt;&#10;                &lt;/Box&gt;&#10;                &lt;Box style={{ width: 32, justifyContent: 'center', alignItems: 'center' }}&gt;&#10;                    &lt;Text style={{ fontSize: 18, color: '#276FBF' }}&gt;＝&lt;/Text&gt;&#10;                &lt;/Box&gt;&#10;                &lt;Box style={{ width: 118, height: 40, background: '#EDF4FC', borderRadius: 8, justifyContent: 'center', alignItems: 'center' }}&gt;&#10;                    &lt;Text style={{ fontSize: 13, color: '#276FBF' }}&gt;state 顶层&lt;/Text&gt;&#10;                &lt;/Box&gt;&#10;            &lt;/Box&gt;&#10;        &lt;/Box&gt;&#10;&#10;        &lt;Box style={{ height: 96, flexDirection: 'row', alignItems: 'center', gap: 16 }}&gt;&#10;            &lt;Box style={{ width: 4, height: 72, background: '#276FBF' }} /&gt;&#10;            &lt;Box style={{ width: 168, height: 72, background: '#F4F7FA', borderRadius: 8, justifyContent: 'center', alignItems: 'center' }}&gt;&#10;                &lt;Text style={{ fontSize: 18, fontWeight: 'bold', color: '#20344B' }}&gt;未命中回退&lt;/Text&gt;&#10;            &lt;/Box&gt;&#10;            &lt;Box style={{ flex: 1, height: 72, justifyContent: 'center' }}&gt;&#10;                &lt;Text style={{ fontSize: 15, color: '#20344B', lineHeight: 1.5 }}&gt;状态名未命中时，使用默认显示素材。&lt;/Text&gt;&#10;            &lt;/Box&gt;&#10;            &lt;Box style={{ width: 276, height: 40, background: '#ECF7F2', borderRadius: 8, justifyContent: 'center', alignItems: 'center' }}&gt;&#10;                &lt;Text style={{ fontSize: 13, color: '#26816B' }}&gt;回退到默认显示素材&lt;/Text&gt;&#10;            &lt;/Box&gt;&#10;        &lt;/Box&gt;&#10;&#10;        &lt;Box style={{ height: 96, flexDirection: 'row', alignItems: 'center', gap: 16 }}&gt;&#10;            &lt;Box style={{ width: 4, height: 72, background: '#276FBF' }} /&gt;&#10;            &lt;Box style={{ width: 168, height: 72, background: '#F4F7FA', borderRadius: 8, justifyContent: 'center', alignItems: 'center' }}&gt;&#10;                &lt;Text style={{ fontSize: 18, fontWeight: 'bold', color: '#20344B' }}&gt;三样一起核对&lt;/Text&gt;&#10;            &lt;/Box&gt;&#10;            &lt;Box style={{ flex: 1, height: 72, justifyContent: 'center' }}&gt;&#10;                &lt;Text style={{ fontSize: 15, color: '#20344B', lineHeight: 1.5 }}&gt;默认图、状态图和初始值，要一起核对。&lt;/Text&gt;&#10;            &lt;/Box&gt;&#10;            &lt;Box style={{ flexDirection: 'row', gap: 8 }}&gt;&#10;                &lt;Box style={{ width: 86, height: 40, background: '#EDF4FC', borderRadius: 8, justifyContent: 'center', alignItems: 'center' }}&gt;&#10;                    &lt;Text style={{ fontSize: 13, color: '#276FBF' }}&gt;默认图&lt;/Text&gt;&#10;                &lt;/Box&gt;&#10;                &lt;Box style={{ width: 86, height: 40, background: '#EDF4FC', borderRadius: 8, justifyContent: 'center', alignItems: 'center' }}&gt;&#10;                    &lt;Text style={{ fontSize: 13, color: '#276FBF' }}&gt;状态图&lt;/Text&gt;&#10;                &lt;/Box&gt;&#10;                &lt;Box style={{ width: 86, height: 40, background: '#EDF4FC', borderRadius: 8, justifyContent: 'center', alignItems: 'center' }}&gt;&#10;                    &lt;Text style={{ fontSize: 13, color: '#276FBF' }}&gt;初始值&lt;/Text&gt;&#10;                &lt;/Box&gt;&#10;            &lt;/Box&gt;&#10;        &lt;/Box&gt;&#10;&#10;        &lt;Box style={{ height: 118, background: '#FFF4E6', borderRadius: 10, flexDirection: 'row', alignItems: 'center', gap: 16, padding: '0 20px' }}&gt;&#10;            &lt;Box style={{ width: 4, height: 86, background: '#CB6B28' }} /&gt;&#10;            &lt;Box style={{ flex: 1, flexDirection: 'column', gap: 6 }}&gt;&#10;                &lt;Text style={{ fontSize: 17, fontWeight: 'bold', color: '#CB6B28' }}&gt;编辑器预览切换正常，只是配置检查&lt;/Text&gt;&#10;                &lt;Text style={{ fontSize: 15, color: '#546779' }}&gt;运行时还需真实 SET_OBJECT_STATE 提交，并以回放事实证明变化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3 从图像到四层空间&lt;/Text&gt;&#10;        &lt;Text style={{ fontSize: 14, color: '#546779' }}&gt;14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3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3.3.3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建立四层地址树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386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状态外观与初始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state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的匹配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609600" y="1695450"/>
            <a:ext cx="38100" cy="685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0" name=""/>
          <p:cNvSpPr/>
          <p:nvPr/>
        </p:nvSpPr>
        <p:spPr>
          <a:xfrm rot="0" flipH="0" flipV="0">
            <a:off x="800100" y="1695450"/>
            <a:ext cx="16002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171575" y="193357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状态名匹配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2552700" y="1914525"/>
            <a:ext cx="6172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「状态外观」的状态名，与初始状态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JSON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顶层的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state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精确匹配。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8877300" y="1847850"/>
            <a:ext cx="1123950" cy="38100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9258300" y="19621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状态名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10144125" y="19335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＝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10458450" y="1847850"/>
            <a:ext cx="1123950" cy="38100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0734675" y="1962150"/>
            <a:ext cx="581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 xml:space="preserve">state </a:t>
            </a: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顶层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609600" y="2743200"/>
            <a:ext cx="38100" cy="685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800100" y="2743200"/>
            <a:ext cx="16002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171575" y="298132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未命中回退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2552700" y="2962275"/>
            <a:ext cx="6248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状态名未命中时，使用默认显示素材。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8953500" y="2895600"/>
            <a:ext cx="2628900" cy="381000"/>
          </a:xfrm>
          <a:prstGeom prst="roundRect">
            <a:avLst>
              <a:gd name="adj" fmla="val 2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9715500" y="300990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回退到默认显示素材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609600" y="3790950"/>
            <a:ext cx="38100" cy="685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5" name=""/>
          <p:cNvSpPr/>
          <p:nvPr/>
        </p:nvSpPr>
        <p:spPr>
          <a:xfrm rot="0" flipH="0" flipV="0">
            <a:off x="800100" y="3790950"/>
            <a:ext cx="16002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085850" y="402907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三样一起核对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2552700" y="4010025"/>
            <a:ext cx="6267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默认图、状态图和初始值，要一起核对。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8972550" y="3943350"/>
            <a:ext cx="819150" cy="38100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9201150" y="40576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默认图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9867900" y="3943350"/>
            <a:ext cx="819150" cy="38100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0096500" y="40576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状态图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10763250" y="3943350"/>
            <a:ext cx="819150" cy="38100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0991850" y="40576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初始值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09600" y="4724400"/>
            <a:ext cx="10972800" cy="1123950"/>
          </a:xfrm>
          <a:prstGeom prst="roundRect">
            <a:avLst>
              <a:gd name="adj" fmla="val 847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25" name=""/>
          <p:cNvSpPr/>
          <p:nvPr/>
        </p:nvSpPr>
        <p:spPr>
          <a:xfrm rot="0" flipH="0" flipV="0">
            <a:off x="800100" y="4876800"/>
            <a:ext cx="38100" cy="8191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990600" y="5076825"/>
            <a:ext cx="10401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编辑器预览切换正常，只是配置检查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990600" y="5334000"/>
            <a:ext cx="10401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运行时还需真实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SET_OBJECT_STATE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提交，并以回放事实证明变化。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从图像到四层空间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30" name="" descr="&lt;Slide notes={`画面上有门，只解决了「看起来能过」。系统里能不能过，取决于通路配置。&#10;&#10;做法是先按地图资料把外墙、房间分隔和物件占用标成阻挡，形成连续隔断，再用「可走」把门洞格打开。顺序不能反：先有完整隔断，再开洞，才能保证除门洞之外没有漏缝。&#10;&#10;隔断整条封住、门洞逐格打开，这一步做完，才轮到路径检查来验证连通性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4　　3.3.4&lt;/Text&gt;&#10;&#10;        &lt;Text style={{ fontSize: 56, fontWeight: 'bold', color: '#20344B', lineHeight: 1.15 }}&gt;画面有门，还要把门设为可走&lt;/Text&gt;&#10;&#10;        &lt;Box style={{ width: 72, height: 4, background: '#276FBF' }} /&gt;&#10;&#10;        &lt;Text style={{ fontSize: 18, color: '#546779', lineHeight: 1.7, width: 900 }}&gt;先形成连续隔断，再用「可走」打开门洞格；路径检查区分四种结果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连续隔断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打开门洞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路径检查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3 从图像到四层空间&lt;/Text&gt;&#10;        &lt;Text style={{ fontSize: 14, color: '#546779' }}&gt;15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3.3.4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画面有门，还要把门设为可走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先形成连续隔断，再用「可走」打开门洞格；路径检查区分四种结果。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16954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连续隔断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49720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打开门洞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82486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路径检查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从图像到四层空间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25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46" name="" descr="&lt;Slide notes={`示意地图上，三个房间在 y=1 到 y=12 之间，公共大厅从 y=13 开始横向铺开。横向隔断位于 y=13，三处门洞分别在 x=5/6、16/17、26/27。&#10;&#10;注意两个限定：一，语义范围内仍可能有墙体或物件阻挡，这张图省略了物件碰撞；二，绿色短线标出的是设计门洞，不是已执行的穿门轨迹，不能把它们当作角色已经走过的路。&#10;&#10;完整配置以地图资料为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3.4　画面有门，还要把门设为可走&lt;/Text&gt;&#10;            &lt;Text style={{ fontSize: 34, fontWeight: 'bold', color: '#20344B' }}&gt;32×24 示意地图与三处门洞&lt;/Text&gt;&#10;        &lt;/Box&gt;&#10;    &lt;/Box&gt;&#10;&#10;    &lt;Box style={{ height: 540, flexDirection: 'row', gap: 28 }}&gt;&#10;&#10;        &lt;Box style={{ width: 600, flexDirection: 'column', gap: 6, justifyContent: 'center' }}&gt;&#10;&#10;            &lt;Box style={{ flexDirection: 'row' }}&gt;&#10;                &lt;Box style={{ width: 24 }} /&gt;&#10;                &lt;Box style={{ width: 576, height: 18, flexDirection: 'row', justifyContent: 'space-between', alignItems: 'center' }}&gt;&#10;                    &lt;Text style={{ fontSize: 12, color: '#546779' }}&gt;0&lt;/Text&gt;&#10;                    &lt;Text style={{ fontSize: 12, color: '#546779' }}&gt;8&lt;/Text&gt;&#10;                    &lt;Text style={{ fontSize: 12, color: '#546779' }}&gt;16&lt;/Text&gt;&#10;                    &lt;Text style={{ fontSize: 12, color: '#546779' }}&gt;24&lt;/Text&gt;&#10;                    &lt;Text style={{ fontSize: 12, color: '#546779' }}&gt;32　X →&lt;/Text&gt;&#10;                &lt;/Box&gt;&#10;            &lt;/Box&gt;&#10;&#10;            &lt;Box style={{ flexDirection: 'row' }}&gt;&#10;                &lt;Box style={{ width: 24, height: 432, flexDirection: 'column', justifyContent: 'space-between', alignItems: 'center' }}&gt;&#10;                    &lt;Text style={{ fontSize: 12, color: '#546779' }}&gt;0&lt;/Text&gt;&#10;                    &lt;Text style={{ fontSize: 12, color: '#546779' }}&gt;12&lt;/Text&gt;&#10;                    &lt;Text style={{ fontSize: 12, color: '#546779' }}&gt;24&lt;/Text&gt;&#10;                &lt;/Box&gt;&#10;&#10;                &lt;Box style={{ width: 576, height: 432, background: '#F4F7FA', borderRadius: 4, flexDirection: 'column' }}&gt;&#10;&#10;                    &lt;Box style={{ height: 18 }} /&gt;&#10;&#10;                    &lt;Box style={{ flexDirection: 'row', marginLeft: 18, gap: 18 }}&gt;&#10;                        &lt;Box style={{ width: 180, height: 198, background: '#EDF4FC', flexDirection: 'column', padding: 8, gap: 3 }}&gt;&#10;                            &lt;Text style={{ fontSize: 15, fontWeight: 'bold', color: '#276FBF' }}&gt;阅读室&lt;/Text&gt;&#10;                            &lt;Text style={{ fontSize: 11, color: '#546779' }}&gt;1,1 · 10×12&lt;/Text&gt;&#10;                            &lt;Box style={{ flex: 1 }} /&gt;&#10;                            &lt;Box style={{ width: 84, height: 32, background: '#FFFFFF', borderRadius: 4, justifyContent: 'center', alignItems: 'center', alignSelf: 'center' }}&gt;&#10;                                &lt;Text style={{ fontSize: 12, color: '#20344B' }}&gt;阅读桌&lt;/Text&gt;&#10;                            &lt;/Box&gt;&#10;                        &lt;/Box&gt;&#10;                        &lt;Box style={{ width: 162, height: 198, background: '#EDF4FC', flexDirection: 'column', padding: 8, gap: 3 }}&gt;&#10;                            &lt;Text style={{ fontSize: 15, fontWeight: 'bold', color: '#276FBF' }}&gt;手作室&lt;/Text&gt;&#10;                            &lt;Text style={{ fontSize: 11, color: '#546779' }}&gt;12,1 · 9×12&lt;/Text&gt;&#10;                            &lt;Box style={{ flex: 1 }} /&gt;&#10;                            &lt;Box style={{ width: 84, height: 32, background: '#FFFFFF', borderRadius: 4, justifyContent: 'center', alignItems: 'center', alignSelf: 'center' }}&gt;&#10;                                &lt;Text style={{ fontSize: 12, color: '#20344B' }}&gt;手作台&lt;/Text&gt;&#10;                            &lt;/Box&gt;&#10;                        &lt;/Box&gt;&#10;                        &lt;Box style={{ width: 162, height: 198, background: '#EDF4FC', flexDirection: 'column', padding: 8, gap: 3 }}&gt;&#10;                            &lt;Text style={{ fontSize: 15, fontWeight: 'bold', color: '#276FBF' }}&gt;交流室&lt;/Text&gt;&#10;                            &lt;Text style={{ fontSize: 11, color: '#546779' }}&gt;22,1 · 9×12&lt;/Text&gt;&#10;                            &lt;Box style={{ flex: 1 }} /&gt;&#10;                            &lt;Box style={{ width: 84, height: 32, background: '#FFFFFF', borderRadius: 4, justifyContent: 'center', alignItems: 'center', alignSelf: 'center' }}&gt;&#10;                                &lt;Text style={{ fontSize: 12, color: '#20344B' }}&gt;交流桌&lt;/Text&gt;&#10;                            &lt;/Box&gt;&#10;                        &lt;/Box&gt;&#10;                    &lt;/Box&gt;&#10;&#10;                    &lt;Box style={{ flexDirection: 'row', marginLeft: 18, height: 18 }}&gt;&#10;                        &lt;Box style={{ width: 90, height: 18, background: '#B5C7D8' }} /&gt;&#10;                        &lt;Box style={{ width: 36, height: 18, background: '#26816B' }} /&gt;&#10;                        &lt;Box style={{ width: 162, height: 18, background: '#B5C7D8' }} /&gt;&#10;                        &lt;Box style={{ width: 36, height: 18, background: '#26816B' }} /&gt;&#10;                        &lt;Box style={{ width: 144, height: 18, background: '#B5C7D8' }} /&gt;&#10;                        &lt;Box style={{ width: 36, height: 18, background: '#26816B' }} /&gt;&#10;                        &lt;Box style={{ width: 36, height: 18, background: '#B5C7D8' }} /&gt;&#10;                    &lt;/Box&gt;&#10;&#10;                    &lt;Box style={{ marginLeft: 18, width: 540, height: 180, background: '#ECF7F2', flexDirection: 'column', padding: 8 }}&gt;&#10;                        &lt;Box style={{ flexDirection: 'row', alignItems: 'center', gap: 8 }}&gt;&#10;                            &lt;Text style={{ fontSize: 15, fontWeight: 'bold', color: '#26816B' }}&gt;公共大厅&lt;/Text&gt;&#10;                            &lt;Text style={{ fontSize: 11, color: '#546779' }}&gt;1,13 · 30×10&lt;/Text&gt;&#10;                            &lt;Box style={{ flex: 1 }} /&gt;&#10;                            &lt;Text style={{ fontSize: 12, color: '#546779' }}&gt;可走空地&lt;/Text&gt;&#10;                        &lt;/Box&gt;&#10;                        &lt;Box style={{ flexDirection: 'row', gap: 10, marginTop: 8 }}&gt;&#10;                            &lt;Box style={{ width: 88, height: 32, background: '#FFFFFF', borderRadius: 4, justifyContent: 'center', alignItems: 'center' }}&gt;&#10;                                &lt;Text style={{ fontSize: 12, color: '#20344B' }}&gt;公告栏&lt;/Text&gt;&#10;                            &lt;/Box&gt;&#10;                            &lt;Box style={{ width: 88, height: 32, background: '#FFFFFF', borderRadius: 4, justifyContent: 'center', alignItems: 'center' }}&gt;&#10;                                &lt;Text style={{ fontSize: 12, color: '#20344B' }}&gt;服务台&lt;/Text&gt;&#10;                            &lt;/Box&gt;&#10;                        &lt;/Box&gt;&#10;                    &lt;/Box&gt;&#10;&#10;                    &lt;Box style={{ height: 18 }} /&gt;&#10;&#10;                &lt;/Box&gt;&#10;            &lt;/Box&gt;&#10;&#10;            &lt;Text style={{ fontSize: 13, color: '#546779', width: 600 }}&gt;横向隔断 y=13；门洞 x=5/6、16/17、26/27（示意，省略物件碰撞，非寻路结果）&lt;/Text&gt;&#10;&#10;        &lt;/Box&gt;&#10;&#10;        &lt;Box style={{ width: 524, flexDirection: 'column', gap: 14, justifyContent: 'center' }}&gt;&#10;&#10;            &lt;Box style={{ background: '#F4F7FA', borderRadius: 10, padding: 14, flexDirection: 'column', gap: 8 }}&gt;&#10;                &lt;Text style={{ fontSize: 16, fontWeight: 'bold', color: '#20344B' }}&gt;图例&lt;/Text&gt;&#10;                &lt;Box style={{ flexDirection: 'row', alignItems: 'center', gap: 10 }}&gt;&#10;                    &lt;Box style={{ width: 16, height: 16, background: '#EDF4FC' }} /&gt;&#10;                    &lt;Text style={{ fontSize: 14, color: '#546779' }}&gt;房间 Arena 语义范围&lt;/Text&gt;&#10;                &lt;/Box&gt;&#10;                &lt;Box style={{ flexDirection: 'row', alignItems: 'center', gap: 10 }}&gt;&#10;                    &lt;Box style={{ width: 16, height: 16, background: '#ECF7F2' }} /&gt;&#10;                    &lt;Text style={{ fontSize: 14, color: '#546779' }}&gt;公共大厅语义范围&lt;/Text&gt;&#10;                &lt;/Box&gt;&#10;                &lt;Box style={{ flexDirection: 'row', alignItems: 'center', gap: 10 }}&gt;&#10;                    &lt;Box style={{ width: 16, height: 16, background: '#B5C7D8' }} /&gt;&#10;                    &lt;Text style={{ fontSize: 14, color: '#546779' }}&gt;隔断与墙（阻挡）&lt;/Text&gt;&#10;                &lt;/Box&gt;&#10;                &lt;Box style={{ flexDirection: 'row', alignItems: 'center', gap: 10 }}&gt;&#10;                    &lt;Box style={{ width: 16, height: 16, background: '#26816B' }} /&gt;&#10;                    &lt;Text style={{ fontSize: 14, color: '#546779' }}&gt;设计门洞（可走）&lt;/Text&gt;&#10;                &lt;/Box&gt;&#10;            &lt;/Box&gt;&#10;&#10;            &lt;Box style={{ background: '#FFFFFF', borderRadius: 10, borderWidth: 1, borderColor: '#B5C7D8', padding: 14, flexDirection: 'column', gap: 8 }}&gt;&#10;                &lt;Text style={{ fontSize: 16, fontWeight: 'bold', color: '#276FBF' }}&gt;先封隔断，再开门洞&lt;/Text&gt;&#10;                &lt;Text style={{ fontSize: 14, color: '#546779', lineHeight: 1.65 }}&gt;横向隔断位于 y=13，门洞格在 x=5/6、16/17、26/27。先形成连续隔断，再用「可走」打开这些格；按地图资料标记外墙、房间分隔和物件占用。World 与 Sector 覆盖整张 32×24 地图。&lt;/Text&gt;&#10;            &lt;/Box&gt;&#10;&#10;            &lt;Box style={{ background: '#FFF4E6', borderRadius: 10, flexDirection: 'row', alignItems: 'center', gap: 12, padding: '12px 16px' }}&gt;&#10;                &lt;Box style={{ width: 4, height: 56, background: '#CB6B28' }} /&gt;&#10;                &lt;Text style={{ fontSize: 14, color: '#CB6B28', lineHeight: 1.55 }}&gt;绿色门洞是设计门洞，不是已执行的穿门轨迹；语义范围内仍可能有墙体或物件阻挡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3 从图像到四层空间&lt;/Text&gt;&#10;        &lt;Text style={{ fontSize: 14, color: '#546779' }}&gt;16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05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3.3.4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画面有门，还要把门设为可走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057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32×24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示意地图与三处门洞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38200" y="145732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2057400" y="145732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3276600" y="14573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16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4562475" y="14573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24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5848350" y="1457325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32</a:t>
            </a: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X →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685800" y="166687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57225" y="3657600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657225" y="5638800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>24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838200" y="1666875"/>
            <a:ext cx="5486400" cy="4114800"/>
          </a:xfrm>
          <a:prstGeom prst="roundRect">
            <a:avLst>
              <a:gd name="adj" fmla="val 9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1009650" y="1838325"/>
            <a:ext cx="1714500" cy="1885950"/>
          </a:xfrm>
          <a:prstGeom prst="rect">
            <a:avLst/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1085850" y="1914525"/>
            <a:ext cx="1562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阅读室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085850" y="2114550"/>
            <a:ext cx="1562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546779"/>
                </a:solidFill>
                <a:latin typeface="Microsoft YaHei"/>
                <a:ea typeface="Microsoft YaHei"/>
              </a:rPr>
              <a:t>1,1 · 10×12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1466850" y="3343275"/>
            <a:ext cx="8001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1695450" y="342900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20344B"/>
                </a:solidFill>
                <a:latin typeface="Microsoft YaHei"/>
                <a:ea typeface="Microsoft YaHei"/>
              </a:rPr>
              <a:t>阅读桌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2895600" y="1838325"/>
            <a:ext cx="1543050" cy="1885950"/>
          </a:xfrm>
          <a:prstGeom prst="rect">
            <a:avLst/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2971800" y="1914525"/>
            <a:ext cx="1390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手作室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2971800" y="2114550"/>
            <a:ext cx="1390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546779"/>
                </a:solidFill>
                <a:latin typeface="Microsoft YaHei"/>
                <a:ea typeface="Microsoft YaHei"/>
              </a:rPr>
              <a:t>12,1 · 9×12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3267075" y="3343275"/>
            <a:ext cx="8001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3495675" y="342900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20344B"/>
                </a:solidFill>
                <a:latin typeface="Microsoft YaHei"/>
                <a:ea typeface="Microsoft YaHei"/>
              </a:rPr>
              <a:t>手作台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4610100" y="1838325"/>
            <a:ext cx="1543050" cy="1885950"/>
          </a:xfrm>
          <a:prstGeom prst="rect">
            <a:avLst/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4686300" y="1914525"/>
            <a:ext cx="1390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交流室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4686300" y="2114550"/>
            <a:ext cx="1390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546779"/>
                </a:solidFill>
                <a:latin typeface="Microsoft YaHei"/>
                <a:ea typeface="Microsoft YaHei"/>
              </a:rPr>
              <a:t>22,1 · 9×12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4981575" y="3343275"/>
            <a:ext cx="8001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5210175" y="342900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20344B"/>
                </a:solidFill>
                <a:latin typeface="Microsoft YaHei"/>
                <a:ea typeface="Microsoft YaHei"/>
              </a:rPr>
              <a:t>交流桌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1009650" y="3724275"/>
            <a:ext cx="857250" cy="1714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276" name=""/>
          <p:cNvSpPr/>
          <p:nvPr/>
        </p:nvSpPr>
        <p:spPr>
          <a:xfrm rot="0" flipH="0" flipV="0">
            <a:off x="1866900" y="3724275"/>
            <a:ext cx="342900" cy="1714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77" name=""/>
          <p:cNvSpPr/>
          <p:nvPr/>
        </p:nvSpPr>
        <p:spPr>
          <a:xfrm rot="0" flipH="0" flipV="0">
            <a:off x="2209800" y="3724275"/>
            <a:ext cx="1543050" cy="1714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278" name=""/>
          <p:cNvSpPr/>
          <p:nvPr/>
        </p:nvSpPr>
        <p:spPr>
          <a:xfrm rot="0" flipH="0" flipV="0">
            <a:off x="3752850" y="3724275"/>
            <a:ext cx="342900" cy="1714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79" name=""/>
          <p:cNvSpPr/>
          <p:nvPr/>
        </p:nvSpPr>
        <p:spPr>
          <a:xfrm rot="0" flipH="0" flipV="0">
            <a:off x="4095750" y="3724275"/>
            <a:ext cx="1371600" cy="1714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5467350" y="3724275"/>
            <a:ext cx="342900" cy="1714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81" name=""/>
          <p:cNvSpPr/>
          <p:nvPr/>
        </p:nvSpPr>
        <p:spPr>
          <a:xfrm rot="0" flipH="0" flipV="0">
            <a:off x="5810250" y="3724275"/>
            <a:ext cx="342900" cy="1714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282" name=""/>
          <p:cNvSpPr/>
          <p:nvPr/>
        </p:nvSpPr>
        <p:spPr>
          <a:xfrm rot="0" flipH="0" flipV="0">
            <a:off x="1009650" y="3895725"/>
            <a:ext cx="5143500" cy="1714500"/>
          </a:xfrm>
          <a:prstGeom prst="rect">
            <a:avLst/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1085850" y="39719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公共大厅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1733550" y="3990975"/>
            <a:ext cx="62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546779"/>
                </a:solidFill>
                <a:latin typeface="Microsoft YaHei"/>
                <a:ea typeface="Microsoft YaHei"/>
              </a:rPr>
              <a:t>1,13 · 30×10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5619750" y="39909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可走空地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1085850" y="4219575"/>
            <a:ext cx="8382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1333500" y="430530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20344B"/>
                </a:solidFill>
                <a:latin typeface="Microsoft YaHei"/>
                <a:ea typeface="Microsoft YaHei"/>
              </a:rPr>
              <a:t>公告栏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2019300" y="4219575"/>
            <a:ext cx="8382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2266950" y="430530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20344B"/>
                </a:solidFill>
                <a:latin typeface="Microsoft YaHei"/>
                <a:ea typeface="Microsoft YaHei"/>
              </a:rPr>
              <a:t>服务台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609600" y="5838825"/>
            <a:ext cx="5715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横向隔断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y=13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；门洞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x=5/6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16/17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26/27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（示意，省略物件碰撞，非寻路结果）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6591300" y="1828800"/>
            <a:ext cx="4991100" cy="1409700"/>
          </a:xfrm>
          <a:prstGeom prst="roundRect">
            <a:avLst>
              <a:gd name="adj" fmla="val 675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6724650" y="1962150"/>
            <a:ext cx="472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图例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6724650" y="2238375"/>
            <a:ext cx="152400" cy="152400"/>
          </a:xfrm>
          <a:prstGeom prst="rect">
            <a:avLst/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972300" y="2228850"/>
            <a:ext cx="1257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房间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Arena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语义范围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6724650" y="2476500"/>
            <a:ext cx="152400" cy="152400"/>
          </a:xfrm>
          <a:prstGeom prst="rect">
            <a:avLst/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972300" y="24669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公共大厅语义范围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6724650" y="2714625"/>
            <a:ext cx="152400" cy="1524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972300" y="270510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隔断与墙（阻挡）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6724650" y="2952750"/>
            <a:ext cx="152400" cy="1524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972300" y="294322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设计门洞（可走）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6591300" y="3371850"/>
            <a:ext cx="4991100" cy="13335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5C7D8"/>
            </a:solidFill>
            <a:prstDash val="solid"/>
          </a:ln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6724650" y="3505200"/>
            <a:ext cx="472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先封隔断，再开门洞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6724650" y="3771900"/>
            <a:ext cx="47244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横向隔断位于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y=13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，门洞格在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x=5/6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16/17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26/27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。先形成连续隔断，再用「可走」打开这些格；按地图资料标记外墙、房间分隔和物件占用。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World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Sector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覆盖整张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32×24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地图。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6591300" y="4838700"/>
            <a:ext cx="4991100" cy="7620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05" name=""/>
          <p:cNvSpPr/>
          <p:nvPr/>
        </p:nvSpPr>
        <p:spPr>
          <a:xfrm rot="0" flipH="0" flipV="0">
            <a:off x="6743700" y="4953000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6896100" y="4972050"/>
            <a:ext cx="45339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绿色门洞是设计门洞，不是已执行的穿门轨迹；语义范围内仍可能有墙体或物件阻挡。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从图像到四层空间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25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309" name="" descr="&lt;Slide notes={`通路编辑在「世界」的「通路」里，右侧提供四种工具：阻挡、可走、恢复素材结果、路径检查。&#10;&#10;交互上要注意手势：按住 Ctrl 再左键点击或拖动，才是编辑格子；普通拖动用于平移画布。素材页对应的是「碰撞」，在切片局部网格配置，放置时随素材旋转，和世界页的通路是两套东西。&#10;&#10;还有一个优先级问题：世界级手工配置优先于素材结果。改完之后要检查「配置来源」，防止忘记旧的覆盖还在生效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3.4　画面有门，还要把门设为可走&lt;/Text&gt;&#10;            &lt;Text style={{ fontSize: 34, fontWeight: 'bold', color: '#20344B' }}&gt;通路工具与编辑手势&lt;/Text&gt;&#10;        &lt;/Box&gt;&#10;    &lt;/Box&gt;&#10;&#10;    &lt;Box style={{ height: 540, flexDirection: 'row', alignItems: 'center', gap: 32 }}&gt;&#10;&#10;        &lt;Box style={{ width: 340, flexDirection: 'column', gap: 16 }}&gt;&#10;            &lt;Text style={{ fontSize: 22, fontWeight: 'bold', color: '#20344B' }}&gt;「世界 › 通路」&lt;/Text&gt;&#10;            &lt;Text style={{ fontSize: 15, color: '#546779', lineHeight: 1.7, width: 340 }}&gt;按住 Ctrl 再左键点击或拖动，编辑格子；普通拖动用于平移画布。&lt;/Text&gt;&#10;            &lt;Box style={{ height: 120, background: '#FFF4E6', borderRadius: 8, flexDirection: 'row', alignItems: 'center', gap: 12, padding: '0 14px' }}&gt;&#10;                &lt;Box style={{ width: 4, height: 88, background: '#CB6B28' }} /&gt;&#10;                &lt;Text style={{ fontSize: 14, color: '#CB6B28', lineHeight: 1.6 }}&gt;世界级手工配置优先于素材结果；修改后检查「配置来源」，防止忘记旧覆盖仍在生效。&lt;/Text&gt;&#10;            &lt;/Box&gt;&#10;        &lt;/Box&gt;&#10;&#10;        &lt;Box style={{ width: 780, flexDirection: 'column', gap: 12 }}&gt;&#10;&#10;            &lt;Box style={{ flexDirection: 'row', gap: 12 }}&gt;&#10;                &lt;Box style={{ width: 384, height: 132, background: '#F4F7FA', borderRadius: 10, flexDirection: 'row', alignItems: 'center', gap: 14, padding: '0 16px' }}&gt;&#10;                    &lt;Box style={{ width: 4, height: 92, background: '#20344B' }} /&gt;&#10;                    &lt;Box style={{ flex: 1, flexDirection: 'column', gap: 6 }}&gt;&#10;                        &lt;Text style={{ fontSize: 18, fontWeight: 'bold', color: '#20344B' }}&gt;阻挡&lt;/Text&gt;&#10;                        &lt;Text style={{ fontSize: 13, color: '#546779', lineHeight: 1.55 }}&gt;把外墙、房间分隔和物件占用标为不可走。&lt;/Text&gt;&#10;                    &lt;/Box&gt;&#10;                &lt;/Box&gt;&#10;                &lt;Box style={{ width: 384, height: 132, background: '#F4F7FA', borderRadius: 10, flexDirection: 'row', alignItems: 'center', gap: 14, padding: '0 16px' }}&gt;&#10;                    &lt;Box style={{ width: 4, height: 92, background: '#26816B' }} /&gt;&#10;                    &lt;Box style={{ flex: 1, flexDirection: 'column', gap: 6 }}&gt;&#10;                        &lt;Text style={{ fontSize: 18, fontWeight: 'bold', color: '#26816B' }}&gt;可走&lt;/Text&gt;&#10;                        &lt;Text style={{ fontSize: 13, color: '#546779', lineHeight: 1.55 }}&gt;打开门洞格，让大厅与房间连通。&lt;/Text&gt;&#10;                    &lt;/Box&gt;&#10;                &lt;/Box&gt;&#10;            &lt;/Box&gt;&#10;&#10;            &lt;Box style={{ flexDirection: 'row', gap: 12 }}&gt;&#10;                &lt;Box style={{ width: 384, height: 132, background: '#F4F7FA', borderRadius: 10, flexDirection: 'row', alignItems: 'center', gap: 14, padding: '0 16px' }}&gt;&#10;                    &lt;Box style={{ width: 4, height: 92, background: '#276FBF' }} /&gt;&#10;                    &lt;Box style={{ flex: 1, flexDirection: 'column', gap: 6 }}&gt;&#10;                        &lt;Text style={{ fontSize: 18, fontWeight: 'bold', color: '#276FBF' }}&gt;恢复素材结果&lt;/Text&gt;&#10;                        &lt;Text style={{ fontSize: 13, color: '#546779', lineHeight: 1.55 }}&gt;撤销世界级覆盖，回到素材自带的碰撞配置。&lt;/Text&gt;&#10;                    &lt;/Box&gt;&#10;                &lt;/Box&gt;&#10;                &lt;Box style={{ width: 384, height: 132, background: '#F4F7FA', borderRadius: 10, flexDirection: 'row', alignItems: 'center', gap: 14, padding: '0 16px' }}&gt;&#10;                    &lt;Box style={{ width: 4, height: 92, background: '#CB6B28' }} /&gt;&#10;                    &lt;Box style={{ flex: 1, flexDirection: 'column', gap: 6 }}&gt;&#10;                        &lt;Text style={{ fontSize: 18, fontWeight: 'bold', color: '#CB6B28' }}&gt;路径检查&lt;/Text&gt;&#10;                        &lt;Text style={{ fontSize: 13, color: '#546779', lineHeight: 1.55 }}&gt;按住 Ctrl 依次点 A、B，查看两点连通结果。&lt;/Text&gt;&#10;                    &lt;/Box&gt;&#10;                &lt;/Box&gt;&#10;            &lt;/Box&gt;&#10;&#10;            &lt;Box style={{ height: 64, background: '#EDF4FC', borderRadius: 8, flexDirection: 'row', alignItems: 'center', gap: 12, padding: '0 16px' }}&gt;&#10;                &lt;Box style={{ width: 4, height: 40, background: '#276FBF' }} /&gt;&#10;                &lt;Text style={{ fontSize: 14, color: '#276FBF', lineHeight: 1.5 }}&gt;素材页对应的是「碰撞」，在切片局部网格配置，放置时随素材旋转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3 从图像到四层空间&lt;/Text&gt;&#10;        &lt;Text style={{ fontSize: 14, color: '#546779' }}&gt;17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3.3.4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画面有门，还要把门设为可走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通路工具与编辑手势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09600" y="2571750"/>
            <a:ext cx="3238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「世界</a:t>
            </a:r>
            <a:r>
              <a:rPr lang="en-US" sz="16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› </a:t>
            </a: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通路」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609600" y="2981325"/>
            <a:ext cx="3238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按住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Ctrl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再左键点击或拖动，编辑格子；普通拖动用于平移画布。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609600" y="3724275"/>
            <a:ext cx="3238500" cy="114300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17" name=""/>
          <p:cNvSpPr/>
          <p:nvPr/>
        </p:nvSpPr>
        <p:spPr>
          <a:xfrm rot="0" flipH="0" flipV="0">
            <a:off x="742950" y="3876675"/>
            <a:ext cx="38100" cy="838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895350" y="4038600"/>
            <a:ext cx="2819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世界级手工配置优先于素材结果；修改后检查「配置来源」，防止忘记旧覆盖仍在生效。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4152900" y="2038350"/>
            <a:ext cx="3657600" cy="1257300"/>
          </a:xfrm>
          <a:prstGeom prst="roundRect">
            <a:avLst>
              <a:gd name="adj" fmla="val 757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0" name=""/>
          <p:cNvSpPr/>
          <p:nvPr/>
        </p:nvSpPr>
        <p:spPr>
          <a:xfrm rot="0" flipH="0" flipV="0">
            <a:off x="4305300" y="2228850"/>
            <a:ext cx="38100" cy="876300"/>
          </a:xfrm>
          <a:prstGeom prst="rect">
            <a:avLst/>
          </a:prstGeom>
          <a:solidFill>
            <a:srgbClr val="20344B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4476750" y="2419350"/>
            <a:ext cx="3181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阻挡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4476750" y="2686050"/>
            <a:ext cx="31813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把外墙、房间分隔和物件占用标为不可走。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7924800" y="2038350"/>
            <a:ext cx="3657600" cy="1257300"/>
          </a:xfrm>
          <a:prstGeom prst="roundRect">
            <a:avLst>
              <a:gd name="adj" fmla="val 757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4" name=""/>
          <p:cNvSpPr/>
          <p:nvPr/>
        </p:nvSpPr>
        <p:spPr>
          <a:xfrm rot="0" flipH="0" flipV="0">
            <a:off x="8077200" y="2228850"/>
            <a:ext cx="38100" cy="876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8248650" y="2419350"/>
            <a:ext cx="3181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可走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8248650" y="2686050"/>
            <a:ext cx="31813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打开门洞格，让大厅与房间连通。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4152900" y="3409950"/>
            <a:ext cx="3657600" cy="1257300"/>
          </a:xfrm>
          <a:prstGeom prst="roundRect">
            <a:avLst>
              <a:gd name="adj" fmla="val 757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4305300" y="3600450"/>
            <a:ext cx="38100" cy="876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4476750" y="3790950"/>
            <a:ext cx="3181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恢复素材结果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4476750" y="4057650"/>
            <a:ext cx="31813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撤销世界级覆盖，回到素材自带的碰撞配置。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7924800" y="3409950"/>
            <a:ext cx="3657600" cy="1257300"/>
          </a:xfrm>
          <a:prstGeom prst="roundRect">
            <a:avLst>
              <a:gd name="adj" fmla="val 757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2" name=""/>
          <p:cNvSpPr/>
          <p:nvPr/>
        </p:nvSpPr>
        <p:spPr>
          <a:xfrm rot="0" flipH="0" flipV="0">
            <a:off x="8077200" y="3600450"/>
            <a:ext cx="38100" cy="8763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8248650" y="3790950"/>
            <a:ext cx="3181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路径检查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8248650" y="4057650"/>
            <a:ext cx="31813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按住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Ctrl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依次点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A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B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，查看两点连通结果。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4152900" y="4781550"/>
            <a:ext cx="7429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36" name=""/>
          <p:cNvSpPr/>
          <p:nvPr/>
        </p:nvSpPr>
        <p:spPr>
          <a:xfrm rot="0" flipH="0" flipV="0">
            <a:off x="4305300" y="48958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4457700" y="4962525"/>
            <a:ext cx="4133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素材页对应的是「碰撞」，在切片局部网格配置，放置时随素材旋转。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从图像到四层空间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25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340" name="" descr="&lt;Slide notes={`路径检查的用法是按住 Ctrl 依次点 A、B 两个点。结果分四种：起点阻挡、终点阻挡、不可达、可达距离。前三种都是失败，只有第四种给出路线和距离。&#10;&#10;按地图资料，至少要查大厅到三个房间、房间到对象旁站位的路线。但一次成功只证明这两个端点连通，还要检查实际人物出生点及可交互站位。&#10;&#10;最后强调：预览线不是角色已走过的路。运行时 Brain 要先获得可见目标，再提出导航与移动，最后以提交后的坐标核对抵达。预检没有报错，也不能替代这个运行检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3.4　画面有门，还要把门设为可走&lt;/Text&gt;&#10;            &lt;Text style={{ fontSize: 34, fontWeight: 'bold', color: '#20344B' }}&gt;路径检查的四种结果&lt;/Text&gt;&#10;        &lt;/Box&gt;&#10;    &lt;/Box&gt;&#10;&#10;    &lt;Box style={{ height: 540, flexDirection: 'row', alignItems: 'center', gap: 32 }}&gt;&#10;&#10;        &lt;Box style={{ width: 480, flexDirection: 'column', gap: 12 }}&gt;&#10;&#10;            &lt;Text style={{ fontSize: 15, color: '#546779', lineHeight: 1.6, width: 480 }}&gt;按地图资料检查：大厅至三个房间、房间至对象旁站位。&lt;/Text&gt;&#10;&#10;            &lt;Box style={{ height: 74, flexDirection: 'row', alignItems: 'center', gap: 12 }}&gt;&#10;                &lt;Box style={{ width: 4, height: 56, background: '#546779' }} /&gt;&#10;                &lt;Box style={{ flex: 1, flexDirection: 'column', gap: 3, justifyContent: 'center' }}&gt;&#10;                    &lt;Text style={{ fontSize: 16, fontWeight: 'bold', color: '#20344B' }}&gt;起点阻挡&lt;/Text&gt;&#10;                    &lt;Text style={{ fontSize: 13, color: '#546779' }}&gt;A 点本身落在阻挡格上&lt;/Text&gt;&#10;                &lt;/Box&gt;&#10;            &lt;/Box&gt;&#10;&#10;            &lt;Box style={{ height: 74, flexDirection: 'row', alignItems: 'center', gap: 12 }}&gt;&#10;                &lt;Box style={{ width: 4, height: 56, background: '#546779' }} /&gt;&#10;                &lt;Box style={{ flex: 1, flexDirection: 'column', gap: 3, justifyContent: 'center' }}&gt;&#10;                    &lt;Text style={{ fontSize: 16, fontWeight: 'bold', color: '#20344B' }}&gt;终点阻挡&lt;/Text&gt;&#10;                    &lt;Text style={{ fontSize: 13, color: '#546779' }}&gt;B 点本身落在阻挡格上&lt;/Text&gt;&#10;                &lt;/Box&gt;&#10;            &lt;/Box&gt;&#10;&#10;            &lt;Box style={{ height: 74, flexDirection: 'row', alignItems: 'center', gap: 12 }}&gt;&#10;                &lt;Box style={{ width: 4, height: 56, background: '#546779' }} /&gt;&#10;                &lt;Box style={{ flex: 1, flexDirection: 'column', gap: 3, justifyContent: 'center' }}&gt;&#10;                    &lt;Text style={{ fontSize: 16, fontWeight: 'bold', color: '#20344B' }}&gt;不可达&lt;/Text&gt;&#10;                    &lt;Text style={{ fontSize: 13, color: '#546779' }}&gt;两点之间没有连通路线&lt;/Text&gt;&#10;                &lt;/Box&gt;&#10;            &lt;/Box&gt;&#10;&#10;            &lt;Box style={{ height: 74, flexDirection: 'row', alignItems: 'center', gap: 12 }}&gt;&#10;                &lt;Box style={{ width: 4, height: 56, background: '#26816B' }} /&gt;&#10;                &lt;Box style={{ flex: 1, flexDirection: 'column', gap: 3, justifyContent: 'center' }}&gt;&#10;                    &lt;Text style={{ fontSize: 16, fontWeight: 'bold', color: '#26816B' }}&gt;可达距离&lt;/Text&gt;&#10;                    &lt;Text style={{ fontSize: 13, color: '#546779' }}&gt;给出路线与距离&lt;/Text&gt;&#10;                &lt;/Box&gt;&#10;            &lt;/Box&gt;&#10;&#10;        &lt;/Box&gt;&#10;&#10;        &lt;Box style={{ width: 640, flexDirection: 'column', gap: 14 }}&gt;&#10;&#10;            &lt;Box style={{ height: 92, background: '#F4F7FA', borderRadius: 10, flexDirection: 'row', alignItems: 'center', gap: 14, padding: '0 18px' }}&gt;&#10;                &lt;Box style={{ width: 4, height: 64, background: '#276FBF' }} /&gt;&#10;                &lt;Box style={{ flex: 1, flexDirection: 'column', gap: 4 }}&gt;&#10;                    &lt;Text style={{ fontSize: 16, fontWeight: 'bold', color: '#276FBF' }}&gt;一次成功路径，只证明这两个端点连通&lt;/Text&gt;&#10;                    &lt;Text style={{ fontSize: 14, color: '#546779' }}&gt;还要检查实际人物出生点及可交互站位。&lt;/Text&gt;&#10;                &lt;/Box&gt;&#10;            &lt;/Box&gt;&#10;&#10;            &lt;Box style={{ flexDirection: 'column', gap: 8 }}&gt;&#10;                &lt;Text style={{ fontSize: 13, color: '#546779' }}&gt;运行时（3.5 展开）&lt;/Text&gt;&#10;                &lt;Box style={{ flexDirection: 'row', alignItems: 'center' }}&gt;&#10;                    &lt;Box style={{ width: 176, height: 56, background: '#EDF4FC', borderRadius: 8, justifyContent: 'center', alignItems: 'center' }}&gt;&#10;                        &lt;Text style={{ fontSize: 15, color: '#276FBF' }}&gt;可见目标&lt;/Text&gt;&#10;                    &lt;/Box&gt;&#10;                    &lt;Box style={{ width: 44, height: 56, justifyContent: 'center', alignItems: 'center' }}&gt;&#10;                        &lt;Text style={{ fontSize: 22, color: '#276FBF' }}&gt;›&lt;/Text&gt;&#10;                    &lt;/Box&gt;&#10;                    &lt;Box style={{ width: 176, height: 56, background: '#EDF4FC', borderRadius: 8, justifyContent: 'center', alignItems: 'center' }}&gt;&#10;                        &lt;Text style={{ fontSize: 15, color: '#276FBF' }}&gt;导航与移动&lt;/Text&gt;&#10;                    &lt;/Box&gt;&#10;                    &lt;Box style={{ width: 44, height: 56, justifyContent: 'center', alignItems: 'center' }}&gt;&#10;                        &lt;Text style={{ fontSize: 22, color: '#26816B' }}&gt;›&lt;/Text&gt;&#10;                    &lt;/Box&gt;&#10;                    &lt;Box style={{ width: 200, height: 56, background: '#ECF7F2', borderRadius: 8, justifyContent: 'center', alignItems: 'center' }}&gt;&#10;                        &lt;Text style={{ fontSize: 15, color: '#26816B' }}&gt;提交后核对抵达&lt;/Text&gt;&#10;                    &lt;/Box&gt;&#10;                &lt;/Box&gt;&#10;            &lt;/Box&gt;&#10;&#10;            &lt;Box style={{ height: 100, background: '#FFF4E6', borderRadius: 10, flexDirection: 'row', alignItems: 'center', gap: 14, padding: '0 18px' }}&gt;&#10;                &lt;Box style={{ width: 4, height: 72, background: '#CB6B28' }} /&gt;&#10;                &lt;Box style={{ flex: 1, flexDirection: 'column', gap: 4 }}&gt;&#10;                    &lt;Text style={{ fontSize: 16, fontWeight: 'bold', color: '#CB6B28' }}&gt;路径检查的预览线，不当成角色已走过的路&lt;/Text&gt;&#10;                    &lt;Text style={{ fontSize: 14, color: '#546779' }}&gt;预检没有报错，也不能替代运行检查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3 从图像到四层空间&lt;/Text&gt;&#10;        &lt;Text style={{ fontSize: 14, color: '#546779' }}&gt;18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3.3.4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画面有门，还要把门设为可走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路径检查的四种结果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09600" y="1943100"/>
            <a:ext cx="4572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按地图资料检查：大厅至三个房间、房间至对象旁站位。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609600" y="2419350"/>
            <a:ext cx="38100" cy="5334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762000" y="2505075"/>
            <a:ext cx="441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起点阻挡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762000" y="2724150"/>
            <a:ext cx="4419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点本身落在阻挡格上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609600" y="3238500"/>
            <a:ext cx="38100" cy="5334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762000" y="3324225"/>
            <a:ext cx="441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终点阻挡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762000" y="3543300"/>
            <a:ext cx="4419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点本身落在阻挡格上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609600" y="4057650"/>
            <a:ext cx="38100" cy="5334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762000" y="4143375"/>
            <a:ext cx="441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不可达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762000" y="4362450"/>
            <a:ext cx="4419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两点之间没有连通路线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609600" y="4876800"/>
            <a:ext cx="38100" cy="5334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762000" y="4962525"/>
            <a:ext cx="441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可达距离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762000" y="5181600"/>
            <a:ext cx="4419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给出路线与距离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5486400" y="2286000"/>
            <a:ext cx="60960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9" name=""/>
          <p:cNvSpPr/>
          <p:nvPr/>
        </p:nvSpPr>
        <p:spPr>
          <a:xfrm rot="0" flipH="0" flipV="0">
            <a:off x="5657850" y="2419350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5829300" y="2533650"/>
            <a:ext cx="5581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一次成功路径，只证明这两个端点连通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5829300" y="2762250"/>
            <a:ext cx="558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还要检查实际人物出生点及可交互站位。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5486400" y="3295650"/>
            <a:ext cx="6096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运行时（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3.5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展开）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5486400" y="3524250"/>
            <a:ext cx="16764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6038850" y="37052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可见目标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7334250" y="366712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7581900" y="3524250"/>
            <a:ext cx="16764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8067675" y="37052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导航与移动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9429750" y="366712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9677400" y="3524250"/>
            <a:ext cx="19050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10134600" y="370522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提交后核对抵达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5486400" y="4191000"/>
            <a:ext cx="6096000" cy="9525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72" name=""/>
          <p:cNvSpPr/>
          <p:nvPr/>
        </p:nvSpPr>
        <p:spPr>
          <a:xfrm rot="0" flipH="0" flipV="0">
            <a:off x="5657850" y="4324350"/>
            <a:ext cx="38100" cy="685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5829300" y="4476750"/>
            <a:ext cx="5581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路径检查的预览线，不当成角色已走过的路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5829300" y="4705350"/>
            <a:ext cx="558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预检没有报错，也不能替代运行检查。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从图像到四层空间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25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77" name="" descr="&lt;Slide notes={`地图配好之后，把人物放进去。这一块要把三件事一起检查：人物图片本身的规格、图片在地图上的显示比例、以及出生位置的装配。&#10;&#10;任何一件单独看都可能正常，合在一起才决定运行时画面像不像、坐标对不对。比如图片规格合规，但留白太多，人物在地图上就会显得偏小；再比如落点选好了，却没有记录真实层级地址，后面回放就查不到人。&#10;&#10;所以不要分三次凑合，一次配完一次核对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5　　3.3.5&lt;/Text&gt;&#10;&#10;        &lt;Text style={{ fontSize: 56, fontWeight: 'bold', color: '#20344B', lineHeight: 1.15 }}&gt;人物图片与出生装配一起检查&lt;/Text&gt;&#10;&#10;        &lt;Box style={{ width: 72, height: 4, background: '#276FBF' }} /&gt;&#10;&#10;        &lt;Text style={{ fontSize: 18, color: '#546779', lineHeight: 1.7, width: 900 }}&gt;图片规格、显示比例与出生位置，三件事一起核对；初始装配不等于已经完成的移动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图片规格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显示比例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出生装配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3 从图像到四层空间&lt;/Text&gt;&#10;        &lt;Text style={{ fontSize: 14, color: '#546779' }}&gt;19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5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3.3.5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人物图片与出生装配一起检查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图片规格、显示比例与出生位置，三件事一起核对；初始装配不等于已经完成的移动。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16954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图片规格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49720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显示比例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82486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出生装配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从图像到四层空间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25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449" name="" descr="&lt;Slide notes={`四个人物选入实验后，进入该实验的「智能体」，编辑「初始位置与空间」，点击「选择空间」。当前选择器会取所选场所或对象中心附近的可走格，并显示自动坐标，X、Y 是只读的。&#10;&#10;四个人分别配在公共大厅、手作室、交流室和阅读室。这是教学初始选择，本章不教读者绕开页面填入预定坐标——实际坐标以选择器结果为准。&#10;&#10;保存后重开，核对实际坐标、层级地址和可用空间；对象的私有状态不进入人物的初始知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3.5　人物图片与出生装配一起检查&lt;/Text&gt;&#10;            &lt;Text style={{ fontSize: 34, fontWeight: 'bold', color: '#20344B' }}&gt;四个人物的出生装配&lt;/Text&gt;&#10;        &lt;/Box&gt;&#10;    &lt;/Box&gt;&#10;&#10;    &lt;Box style={{ height: 540, flexDirection: 'column', justifyContent: 'center', gap: 12 }}&gt;&#10;&#10;        &lt;Box style={{ flexDirection: 'row', gap: 36, justifyContent: 'center' }}&gt;&#10;            &lt;Box style={{ width: 260, height: 108, background: '#EDF4FC', borderRadius: 10, padding: 14, flexDirection: 'column', gap: 8, justifyContent: 'center' }}&gt;&#10;                &lt;Text style={{ fontSize: 19, fontWeight: 'bold', color: '#276FBF' }}&gt;林岚&lt;/Text&gt;&#10;                &lt;Box style={{ width: 118, height: 32, background: '#FFFFFF', borderRadius: 6, justifyContent: 'center', alignItems: 'center' }}&gt;&#10;                    &lt;Text style={{ fontSize: 13, color: '#276FBF' }}&gt;公共大厅&lt;/Text&gt;&#10;                &lt;/Box&gt;&#10;            &lt;/Box&gt;&#10;            &lt;Box style={{ width: 260, height: 108, background: '#EDF4FC', borderRadius: 10, padding: 14, flexDirection: 'column', gap: 8, justifyContent: 'center' }}&gt;&#10;                &lt;Text style={{ fontSize: 19, fontWeight: 'bold', color: '#276FBF' }}&gt;周宁&lt;/Text&gt;&#10;                &lt;Box style={{ width: 118, height: 32, background: '#FFFFFF', borderRadius: 6, justifyContent: 'center', alignItems: 'center' }}&gt;&#10;                    &lt;Text style={{ fontSize: 13, color: '#276FBF' }}&gt;手作室&lt;/Text&gt;&#10;                &lt;/Box&gt;&#10;            &lt;/Box&gt;&#10;            &lt;Box style={{ width: 260, height: 108, background: '#EDF4FC', borderRadius: 10, padding: 14, flexDirection: 'column', gap: 8, justifyContent: 'center' }}&gt;&#10;                &lt;Text style={{ fontSize: 19, fontWeight: 'bold', color: '#276FBF' }}&gt;陈晨&lt;/Text&gt;&#10;                &lt;Box style={{ width: 118, height: 32, background: '#FFFFFF', borderRadius: 6, justifyContent: 'center', alignItems: 'center' }}&gt;&#10;                    &lt;Text style={{ fontSize: 13, color: '#276FBF' }}&gt;交流室&lt;/Text&gt;&#10;                &lt;/Box&gt;&#10;            &lt;/Box&gt;&#10;            &lt;Box style={{ width: 260, height: 108, background: '#EDF4FC', borderRadius: 10, padding: 14, flexDirection: 'column', gap: 8, justifyContent: 'center' }}&gt;&#10;                &lt;Text style={{ fontSize: 19, fontWeight: 'bold', color: '#276FBF' }}&gt;许安&lt;/Text&gt;&#10;                &lt;Box style={{ width: 118, height: 32, background: '#FFFFFF', borderRadius: 6, justifyContent: 'center', alignItems: 'center' }}&gt;&#10;                    &lt;Text style={{ fontSize: 13, color: '#276FBF' }}&gt;阅读室&lt;/Text&gt;&#10;                &lt;/Box&gt;&#10;            &lt;/Box&gt;&#10;        &lt;/Box&gt;&#10;&#10;        &lt;Box style={{ height: 22, justifyContent: 'center', alignItems: 'center' }}&gt;&#10;            &lt;Text style={{ fontSize: 18, color: '#276FBF' }}&gt;↓&lt;/Text&gt;&#10;        &lt;/Box&gt;&#10;&#10;        &lt;Box style={{ flexDirection: 'row', justifyContent: 'center' }}&gt;&#10;            &lt;Box style={{ width: 860, height: 122, background: '#EDF4FC', borderRadius: 10, padding: '12px 20px', flexDirection: 'column', gap: 8, justifyContent: 'center' }}&gt;&#10;                &lt;Box style={{ flexDirection: 'row', alignItems: 'center' }}&gt;&#10;                    &lt;Box style={{ width: 72, height: 32, background: '#FFFFFF', borderRadius: 6, justifyContent: 'center', alignItems: 'center' }}&gt;&#10;                        &lt;Text style={{ fontSize: 13, color: '#276FBF' }}&gt;实验&lt;/Text&gt;&#10;                    &lt;/Box&gt;&#10;                    &lt;Box style={{ width: 32, height: 32, justifyContent: 'center', alignItems: 'center' }}&gt;&#10;                        &lt;Text style={{ fontSize: 18, color: '#276FBF' }}&gt;›&lt;/Text&gt;&#10;                    &lt;/Box&gt;&#10;                    &lt;Box style={{ width: 88, height: 32, background: '#FFFFFF', borderRadius: 6, justifyContent: 'center', alignItems: 'center' }}&gt;&#10;                        &lt;Text style={{ fontSize: 13, color: '#276FBF' }}&gt;智能体&lt;/Text&gt;&#10;                    &lt;/Box&gt;&#10;                    &lt;Box style={{ width: 32, height: 32, justifyContent: 'center', alignItems: 'center' }}&gt;&#10;                        &lt;Text style={{ fontSize: 18, color: '#276FBF' }}&gt;›&lt;/Text&gt;&#10;                    &lt;/Box&gt;&#10;                    &lt;Box style={{ width: 148, height: 32, background: '#FFFFFF', borderRadius: 6, justifyContent: 'center', alignItems: 'center' }}&gt;&#10;                        &lt;Text style={{ fontSize: 13, color: '#276FBF' }}&gt;初始位置与空间&lt;/Text&gt;&#10;                    &lt;/Box&gt;&#10;                    &lt;Box style={{ width: 32, height: 32, justifyContent: 'center', alignItems: 'center' }}&gt;&#10;                        &lt;Text style={{ fontSize: 18, color: '#26816B' }}&gt;›&lt;/Text&gt;&#10;                    &lt;/Box&gt;&#10;                    &lt;Box style={{ width: 104, height: 32, background: '#ECF7F2', borderRadius: 6, justifyContent: 'center', alignItems: 'center' }}&gt;&#10;                        &lt;Text style={{ fontSize: 13, color: '#26816B' }}&gt;选择空间&lt;/Text&gt;&#10;                    &lt;/Box&gt;&#10;                &lt;/Box&gt;&#10;                &lt;Text style={{ fontSize: 15, color: '#20344B', lineHeight: 1.5 }}&gt;空间选择器：取所选场所或对象中心附近的可走格，显示自动坐标；X／Y 只读。&lt;/Text&gt;&#10;            &lt;/Box&gt;&#10;        &lt;/Box&gt;&#10;&#10;        &lt;Box style={{ height: 20, justifyContent: 'center', alignItems: 'center' }}&gt;&#10;            &lt;Text style={{ fontSize: 18, color: '#26816B' }}&gt;↓&lt;/Text&gt;&#10;        &lt;/Box&gt;&#10;&#10;        &lt;Box style={{ height: 62, background: '#ECF7F2', borderRadius: 10, flexDirection: 'row', alignItems: 'center', gap: 14, padding: '0 20px' }}&gt;&#10;            &lt;Box style={{ width: 4, height: 40, background: '#26816B' }} /&gt;&#10;            &lt;Text style={{ fontSize: 16, fontWeight: 'bold', color: '#26816B' }}&gt;保存后重开：核对实际坐标、层级地址、可用空间&lt;/Text&gt;&#10;        &lt;/Box&gt;&#10;&#10;        &lt;Box style={{ flexDirection: 'row', gap: 16, justifyContent: 'center' }}&gt;&#10;            &lt;Box style={{ width: 420, height: 48, background: '#FFF4E6', borderRadius: 8, justifyContent: 'center', alignItems: 'center' }}&gt;&#10;                &lt;Text style={{ fontSize: 14, color: '#CB6B28' }}&gt;教学初始选择，不硬写出生坐标&lt;/Text&gt;&#10;            &lt;/Box&gt;&#10;            &lt;Box style={{ width: 420, height: 48, background: '#EDF4FC', borderRadius: 8, justifyContent: 'center', alignItems: 'center' }}&gt;&#10;                &lt;Text style={{ fontSize: 14, color: '#276FBF' }}&gt;对象私有状态不进入初始知识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3 从图像到四层空间&lt;/Text&gt;&#10;        &lt;Text style={{ fontSize: 14, color: '#546779' }}&gt;20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3.3.5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人物图片与出生装配一起检查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四个人物的出生装配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628650" y="1609725"/>
            <a:ext cx="2476500" cy="1028700"/>
          </a:xfrm>
          <a:prstGeom prst="roundRect">
            <a:avLst>
              <a:gd name="adj" fmla="val 925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762000" y="1828800"/>
            <a:ext cx="2209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林岚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762000" y="2124075"/>
            <a:ext cx="112395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1076325" y="22002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公共大厅</a:t>
            </a:r>
            <a:endParaRPr/>
          </a:p>
        </p:txBody>
      </p:sp>
      <p:sp>
        <p:nvSpPr>
          <p:cNvPr id="458" name=""/>
          <p:cNvSpPr/>
          <p:nvPr/>
        </p:nvSpPr>
        <p:spPr>
          <a:xfrm rot="0" flipH="0" flipV="0">
            <a:off x="3448050" y="1609725"/>
            <a:ext cx="2476500" cy="1028700"/>
          </a:xfrm>
          <a:prstGeom prst="roundRect">
            <a:avLst>
              <a:gd name="adj" fmla="val 925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3581400" y="1828800"/>
            <a:ext cx="2209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周宁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3581400" y="2124075"/>
            <a:ext cx="112395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3962400" y="220027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手作室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6267450" y="1609725"/>
            <a:ext cx="2476500" cy="1028700"/>
          </a:xfrm>
          <a:prstGeom prst="roundRect">
            <a:avLst>
              <a:gd name="adj" fmla="val 925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6400800" y="1828800"/>
            <a:ext cx="2209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陈晨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6400800" y="2124075"/>
            <a:ext cx="112395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6781800" y="220027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交流室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9086850" y="1609725"/>
            <a:ext cx="2476500" cy="1028700"/>
          </a:xfrm>
          <a:prstGeom prst="roundRect">
            <a:avLst>
              <a:gd name="adj" fmla="val 925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9220200" y="1828800"/>
            <a:ext cx="2209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许安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9220200" y="2124075"/>
            <a:ext cx="112395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9601200" y="220027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阅读室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6057900" y="275272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2000250" y="3076575"/>
            <a:ext cx="8191500" cy="1162050"/>
          </a:xfrm>
          <a:prstGeom prst="roundRect">
            <a:avLst>
              <a:gd name="adj" fmla="val 819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2" name=""/>
          <p:cNvSpPr/>
          <p:nvPr/>
        </p:nvSpPr>
        <p:spPr>
          <a:xfrm rot="0" flipH="0" flipV="0">
            <a:off x="2190750" y="3343275"/>
            <a:ext cx="68580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2409825" y="34194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实验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3000375" y="3390900"/>
            <a:ext cx="6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3181350" y="3343275"/>
            <a:ext cx="83820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3419475" y="341947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智能体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4143375" y="3390900"/>
            <a:ext cx="6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4324350" y="3343275"/>
            <a:ext cx="140970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4600575" y="3419475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初始位置与空间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5857875" y="3390900"/>
            <a:ext cx="66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6038850" y="3343275"/>
            <a:ext cx="990600" cy="304800"/>
          </a:xfrm>
          <a:prstGeom prst="roundRect">
            <a:avLst>
              <a:gd name="adj" fmla="val 1875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6286500" y="34194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选择空间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2190750" y="3724275"/>
            <a:ext cx="7810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空间选择器：取所选场所或对象中心附近的可走格，显示自动坐标；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X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／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Y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只读。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6057900" y="43434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609600" y="4657725"/>
            <a:ext cx="10972800" cy="590550"/>
          </a:xfrm>
          <a:prstGeom prst="roundRect">
            <a:avLst>
              <a:gd name="adj" fmla="val 161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86" name=""/>
          <p:cNvSpPr/>
          <p:nvPr/>
        </p:nvSpPr>
        <p:spPr>
          <a:xfrm rot="0" flipH="0" flipV="0">
            <a:off x="800100" y="4762500"/>
            <a:ext cx="38100" cy="381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971550" y="4857750"/>
            <a:ext cx="335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保存后重开：核对实际坐标、层级地址、可用空间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2019300" y="5362575"/>
            <a:ext cx="4000500" cy="457200"/>
          </a:xfrm>
          <a:prstGeom prst="roundRect">
            <a:avLst>
              <a:gd name="adj" fmla="val 1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3086100" y="5514975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教学初始选择，不硬写出生坐标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6172200" y="5362575"/>
            <a:ext cx="4000500" cy="457200"/>
          </a:xfrm>
          <a:prstGeom prst="roundRect">
            <a:avLst>
              <a:gd name="adj" fmla="val 1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7305675" y="5514975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对象私有状态不进入初始知识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从图像到四层空间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25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494" name="" descr="&lt;Slide notes={`图片规格：头像要求正方形 PNG，至少 32×32；行走图接受 96×128 或 128×128 的 PNG，每帧 32×32，四行依次表示下、左、右、上。&#10;&#10;除了尺寸，还要同时检查人物与背景的风格、每帧位置、脚底锚点、桌面遮挡和缩放清晰度。有一个容易忽略的现象：图片本身留白较多时，即使「地图显示大小」设置相同，看起来也会更小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3.5　人物图片与出生装配一起检查&lt;/Text&gt;&#10;            &lt;Text style={{ fontSize: 34, fontWeight: 'bold', color: '#20344B' }}&gt;头像与行走图的规格&lt;/Text&gt;&#10;        &lt;/Box&gt;&#10;    &lt;/Box&gt;&#10;&#10;    &lt;Box style={{ height: 540, flexDirection: 'row', alignItems: 'center', gap: 32 }}&gt;&#10;&#10;        &lt;Box style={{ width: 620, flexDirection: 'column', gap: 12 }}&gt;&#10;&#10;            &lt;Box style={{ height: 92, background: '#EDF4FC', borderRadius: 10, padding: '12px 18px', flexDirection: 'column', gap: 4, justifyContent: 'center' }}&gt;&#10;                &lt;Text style={{ fontSize: 18, fontWeight: 'bold', color: '#276FBF' }}&gt;头像&lt;/Text&gt;&#10;                &lt;Text style={{ fontSize: 14, color: '#546779' }}&gt;正方形 PNG，至少 32×32。&lt;/Text&gt;&#10;            &lt;/Box&gt;&#10;&#10;            &lt;Box style={{ height: 108, background: '#EDF4FC', borderRadius: 10, padding: '12px 18px', flexDirection: 'column', gap: 4, justifyContent: 'center' }}&gt;&#10;                &lt;Text style={{ fontSize: 18, fontWeight: 'bold', color: '#276FBF' }}&gt;行走图&lt;/Text&gt;&#10;                &lt;Text style={{ fontSize: 14, color: '#546779', lineHeight: 1.55 }}&gt;接受 96×128 或 128×128 PNG；每帧 32×32；四行依次为下、左、右、上。&lt;/Text&gt;&#10;            &lt;/Box&gt;&#10;&#10;            &lt;Box style={{ height: 108, background: '#F4F7FA', borderRadius: 10, padding: '12px 18px', flexDirection: 'column', gap: 4, justifyContent: 'center' }}&gt;&#10;                &lt;Text style={{ fontSize: 18, fontWeight: 'bold', color: '#20344B' }}&gt;一起检查&lt;/Text&gt;&#10;                &lt;Text style={{ fontSize: 14, color: '#546779', lineHeight: 1.55 }}&gt;人物与背景风格、每帧位置、脚底锚点、桌面遮挡、缩放清晰度。&lt;/Text&gt;&#10;            &lt;/Box&gt;&#10;&#10;            &lt;Box style={{ height: 72, background: '#FFF4E6', borderRadius: 8, flexDirection: 'row', alignItems: 'center', gap: 12, padding: '0 16px' }}&gt;&#10;                &lt;Box style={{ width: 4, height: 48, background: '#CB6B28' }} /&gt;&#10;                &lt;Text style={{ fontSize: 14, color: '#CB6B28', lineHeight: 1.5 }}&gt;图片本身留白较多时，相同「地图显示大小」也会显得更小。&lt;/Text&gt;&#10;            &lt;/Box&gt;&#10;&#10;        &lt;/Box&gt;&#10;&#10;        &lt;Box style={{ flex: 1, flexDirection: 'column', alignItems: 'center', gap: 8 }}&gt;&#10;&#10;            &lt;Text style={{ fontSize: 14, color: '#546779' }}&gt;行走图布局（示意，放大显示）&lt;/Text&gt;&#10;&#10;            &lt;Box style={{ flexDirection: 'row', gap: 8 }}&gt;&#10;                &lt;Box style={{ width: 44, height: 77, background: '#ECF7F2', borderRadius: 6, justifyContent: 'center', alignItems: 'center' }}&gt;&#10;                    &lt;Text style={{ fontSize: 15, fontWeight: 'bold', color: '#26816B' }}&gt;下&lt;/Text&gt;&#10;                &lt;/Box&gt;&#10;                &lt;Box style={{ width: 77, height: 77, background: '#EDF4FC', borderRadius: 4, justifyContent: 'center', alignItems: 'center' }}&gt;&#10;                    &lt;Text style={{ fontSize: 12, color: '#546779' }}&gt;帧 1&lt;/Text&gt;&#10;                &lt;/Box&gt;&#10;                &lt;Box style={{ width: 77, height: 77, background: '#EDF4FC', borderRadius: 4, justifyContent: 'center', alignItems: 'center' }}&gt;&#10;                    &lt;Text style={{ fontSize: 12, color: '#546779' }}&gt;帧 2&lt;/Text&gt;&#10;                &lt;/Box&gt;&#10;                &lt;Box style={{ width: 77, height: 77, background: '#EDF4FC', borderRadius: 4, justifyContent: 'center', alignItems: 'center' }}&gt;&#10;                    &lt;Text style={{ fontSize: 12, color: '#546779' }}&gt;帧 3&lt;/Text&gt;&#10;                &lt;/Box&gt;&#10;            &lt;/Box&gt;&#10;&#10;            &lt;Box style={{ flexDirection: 'row', gap: 8 }}&gt;&#10;                &lt;Box style={{ width: 44, height: 77, background: '#ECF7F2', borderRadius: 6, justifyContent: 'center', alignItems: 'center' }}&gt;&#10;                    &lt;Text style={{ fontSize: 15, fontWeight: 'bold', color: '#26816B' }}&gt;左&lt;/Text&gt;&#10;                &lt;/Box&gt;&#10;                &lt;Box style={{ width: 77, height: 77, background: '#EDF4FC', borderRadius: 4, justifyContent: 'center', alignItems: 'center' }}&gt;&#10;                    &lt;Text style={{ fontSize: 12, color: '#546779' }}&gt;帧 1&lt;/Text&gt;&#10;                &lt;/Box&gt;&#10;                &lt;Box style={{ width: 77, height: 77, background: '#EDF4FC', borderRadius: 4, justifyContent: 'center', alignItems: 'center' }}&gt;&#10;                    &lt;Text style={{ fontSize: 12, color: '#546779' }}&gt;帧 2&lt;/Text&gt;&#10;                &lt;/Box&gt;&#10;                &lt;Box style={{ width: 77, height: 77, background: '#EDF4FC', borderRadius: 4, justifyContent: 'center', alignItems: 'center' }}&gt;&#10;                    &lt;Text style={{ fontSize: 12, color: '#546779' }}&gt;帧 3&lt;/Text&gt;&#10;                &lt;/Box&gt;&#10;            &lt;/Box&gt;&#10;&#10;            &lt;Box style={{ flexDirection: 'row', gap: 8 }}&gt;&#10;                &lt;Box style={{ width: 44, height: 77, background: '#ECF7F2', borderRadius: 6, justifyContent: 'center', alignItems: 'center' }}&gt;&#10;                    &lt;Text style={{ fontSize: 15, fontWeight: 'bold', color: '#26816B' }}&gt;右&lt;/Text&gt;&#10;                &lt;/Box&gt;&#10;                &lt;Box style={{ width: 77, height: 77, background: '#EDF4FC', borderRadius: 4, justifyContent: 'center', alignItems: 'center' }}&gt;&#10;                    &lt;Text style={{ fontSize: 12, color: '#546779' }}&gt;帧 1&lt;/Text&gt;&#10;                &lt;/Box&gt;&#10;                &lt;Box style={{ width: 77, height: 77, background: '#EDF4FC', borderRadius: 4, justifyContent: 'center', alignItems: 'center' }}&gt;&#10;                    &lt;Text style={{ fontSize: 12, color: '#546779' }}&gt;帧 2&lt;/Text&gt;&#10;                &lt;/Box&gt;&#10;                &lt;Box style={{ width: 77, height: 77, background: '#EDF4FC', borderRadius: 4, justifyContent: 'center', alignItems: 'center' }}&gt;&#10;                    &lt;Text style={{ fontSize: 12, color: '#546779' }}&gt;帧 3&lt;/Text&gt;&#10;                &lt;/Box&gt;&#10;            &lt;/Box&gt;&#10;&#10;            &lt;Box style={{ flexDirection: 'row', gap: 8 }}&gt;&#10;                &lt;Box style={{ width: 44, height: 77, background: '#ECF7F2', borderRadius: 6, justifyContent: 'center', alignItems: 'center' }}&gt;&#10;                    &lt;Text style={{ fontSize: 15, fontWeight: 'bold', color: '#26816B' }}&gt;上&lt;/Text&gt;&#10;                &lt;/Box&gt;&#10;                &lt;Box style={{ width: 77, height: 77, background: '#EDF4FC', borderRadius: 4, justifyContent: 'center', alignItems: 'center' }}&gt;&#10;                    &lt;Text style={{ fontSize: 12, color: '#546779' }}&gt;帧 1&lt;/Text&gt;&#10;                &lt;/Box&gt;&#10;                &lt;Box style={{ width: 77, height: 77, background: '#EDF4FC', borderRadius: 4, justifyContent: 'center', alignItems: 'center' }}&gt;&#10;                    &lt;Text style={{ fontSize: 12, color: '#546779' }}&gt;帧 2&lt;/Text&gt;&#10;                &lt;/Box&gt;&#10;                &lt;Box style={{ width: 77, height: 77, background: '#EDF4FC', borderRadius: 4, justifyContent: 'center', alignItems: 'center' }}&gt;&#10;                    &lt;Text style={{ fontSize: 12, color: '#546779' }}&gt;帧 3&lt;/Text&gt;&#10;                &lt;/Box&gt;&#10;            &lt;/Box&gt;&#10;&#10;            &lt;Text style={{ fontSize: 13, color: '#546779' }}&gt;每帧 32×32；四行依次为下、左、右、上。&lt;/Text&gt;&#10;&#10;        &lt;/Box&gt;&#10;&#10;    &lt;/Box&gt;&#10;&#10;    &lt;Box style={{ height: 40, flexDirection: 'row', justifyContent: 'space-between', alignItems: 'center' }}&gt;&#10;        &lt;Text style={{ fontSize: 14, color: '#546779' }}&gt;3.3 从图像到四层空间&lt;/Text&gt;&#10;        &lt;Text style={{ fontSize: 14, color: '#546779' }}&gt;21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3.3.5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人物图片与出生装配一起检查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头像与行走图的规格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609600" y="1733550"/>
            <a:ext cx="59055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781050" y="1971675"/>
            <a:ext cx="5562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头像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781050" y="2219325"/>
            <a:ext cx="556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正方形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PNG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，至少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32×32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609600" y="2724150"/>
            <a:ext cx="5905500" cy="1028700"/>
          </a:xfrm>
          <a:prstGeom prst="roundRect">
            <a:avLst>
              <a:gd name="adj" fmla="val 925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781050" y="2990850"/>
            <a:ext cx="5562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行走图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781050" y="3238500"/>
            <a:ext cx="55626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接受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96×128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或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128×128 PNG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；每帧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32×32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；四行依次为下、左、右、上。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609600" y="3867150"/>
            <a:ext cx="59055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781050" y="4133850"/>
            <a:ext cx="5562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一起检查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781050" y="4381500"/>
            <a:ext cx="55626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人物与背景风格、每帧位置、脚底锚点、桌面遮挡、缩放清晰度。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609600" y="5010150"/>
            <a:ext cx="59055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09" name=""/>
          <p:cNvSpPr/>
          <p:nvPr/>
        </p:nvSpPr>
        <p:spPr>
          <a:xfrm rot="0" flipH="0" flipV="0">
            <a:off x="762000" y="512445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914400" y="5229225"/>
            <a:ext cx="36004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图片本身留白较多时，相同「地图显示大小」也会显得更小。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8267700" y="1905000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行走图布局（示意，放大显示）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7781925" y="2143125"/>
            <a:ext cx="419100" cy="733425"/>
          </a:xfrm>
          <a:prstGeom prst="roundRect">
            <a:avLst>
              <a:gd name="adj" fmla="val 1363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7924800" y="242887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下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8277225" y="2143125"/>
            <a:ext cx="733425" cy="733425"/>
          </a:xfrm>
          <a:prstGeom prst="roundRect">
            <a:avLst>
              <a:gd name="adj" fmla="val 519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8534400" y="2438400"/>
            <a:ext cx="219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帧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 1</a:t>
            </a:r>
            <a:endParaRPr/>
          </a:p>
        </p:txBody>
      </p:sp>
      <p:sp>
        <p:nvSpPr>
          <p:cNvPr id="516" name=""/>
          <p:cNvSpPr/>
          <p:nvPr/>
        </p:nvSpPr>
        <p:spPr>
          <a:xfrm rot="0" flipH="0" flipV="0">
            <a:off x="9086850" y="2143125"/>
            <a:ext cx="733425" cy="733425"/>
          </a:xfrm>
          <a:prstGeom prst="roundRect">
            <a:avLst>
              <a:gd name="adj" fmla="val 519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9344025" y="2438400"/>
            <a:ext cx="219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帧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 2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9896475" y="2143125"/>
            <a:ext cx="733425" cy="733425"/>
          </a:xfrm>
          <a:prstGeom prst="roundRect">
            <a:avLst>
              <a:gd name="adj" fmla="val 519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10153650" y="2438400"/>
            <a:ext cx="219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帧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 3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7781925" y="2952750"/>
            <a:ext cx="419100" cy="733425"/>
          </a:xfrm>
          <a:prstGeom prst="roundRect">
            <a:avLst>
              <a:gd name="adj" fmla="val 1363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7924800" y="323850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左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8277225" y="2952750"/>
            <a:ext cx="733425" cy="733425"/>
          </a:xfrm>
          <a:prstGeom prst="roundRect">
            <a:avLst>
              <a:gd name="adj" fmla="val 519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8534400" y="3248025"/>
            <a:ext cx="219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帧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 1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9086850" y="2952750"/>
            <a:ext cx="733425" cy="733425"/>
          </a:xfrm>
          <a:prstGeom prst="roundRect">
            <a:avLst>
              <a:gd name="adj" fmla="val 519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9344025" y="3248025"/>
            <a:ext cx="219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帧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 2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9896475" y="2952750"/>
            <a:ext cx="733425" cy="733425"/>
          </a:xfrm>
          <a:prstGeom prst="roundRect">
            <a:avLst>
              <a:gd name="adj" fmla="val 519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10153650" y="3248025"/>
            <a:ext cx="219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帧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 3</a:t>
            </a:r>
            <a:endParaRPr/>
          </a:p>
        </p:txBody>
      </p:sp>
      <p:sp>
        <p:nvSpPr>
          <p:cNvPr id="528" name=""/>
          <p:cNvSpPr/>
          <p:nvPr/>
        </p:nvSpPr>
        <p:spPr>
          <a:xfrm rot="0" flipH="0" flipV="0">
            <a:off x="7781925" y="3762375"/>
            <a:ext cx="419100" cy="733425"/>
          </a:xfrm>
          <a:prstGeom prst="roundRect">
            <a:avLst>
              <a:gd name="adj" fmla="val 1363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7924800" y="40481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右</a:t>
            </a:r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8277225" y="3762375"/>
            <a:ext cx="733425" cy="733425"/>
          </a:xfrm>
          <a:prstGeom prst="roundRect">
            <a:avLst>
              <a:gd name="adj" fmla="val 519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8534400" y="4057650"/>
            <a:ext cx="219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帧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 1</a:t>
            </a:r>
            <a:endParaRPr/>
          </a:p>
        </p:txBody>
      </p:sp>
      <p:sp>
        <p:nvSpPr>
          <p:cNvPr id="532" name=""/>
          <p:cNvSpPr/>
          <p:nvPr/>
        </p:nvSpPr>
        <p:spPr>
          <a:xfrm rot="0" flipH="0" flipV="0">
            <a:off x="9086850" y="3762375"/>
            <a:ext cx="733425" cy="733425"/>
          </a:xfrm>
          <a:prstGeom prst="roundRect">
            <a:avLst>
              <a:gd name="adj" fmla="val 519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9344025" y="4057650"/>
            <a:ext cx="219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帧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 2</a:t>
            </a:r>
            <a:endParaRPr/>
          </a:p>
        </p:txBody>
      </p:sp>
      <p:sp>
        <p:nvSpPr>
          <p:cNvPr id="534" name=""/>
          <p:cNvSpPr/>
          <p:nvPr/>
        </p:nvSpPr>
        <p:spPr>
          <a:xfrm rot="0" flipH="0" flipV="0">
            <a:off x="9896475" y="3762375"/>
            <a:ext cx="733425" cy="733425"/>
          </a:xfrm>
          <a:prstGeom prst="roundRect">
            <a:avLst>
              <a:gd name="adj" fmla="val 519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10153650" y="4057650"/>
            <a:ext cx="219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帧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 3</a:t>
            </a:r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7781925" y="4572000"/>
            <a:ext cx="419100" cy="733425"/>
          </a:xfrm>
          <a:prstGeom prst="roundRect">
            <a:avLst>
              <a:gd name="adj" fmla="val 1363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7924800" y="485775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上</a:t>
            </a:r>
            <a:endParaRPr/>
          </a:p>
        </p:txBody>
      </p:sp>
      <p:sp>
        <p:nvSpPr>
          <p:cNvPr id="538" name=""/>
          <p:cNvSpPr/>
          <p:nvPr/>
        </p:nvSpPr>
        <p:spPr>
          <a:xfrm rot="0" flipH="0" flipV="0">
            <a:off x="8277225" y="4572000"/>
            <a:ext cx="733425" cy="733425"/>
          </a:xfrm>
          <a:prstGeom prst="roundRect">
            <a:avLst>
              <a:gd name="adj" fmla="val 519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8534400" y="4867275"/>
            <a:ext cx="219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帧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 1</a:t>
            </a:r>
            <a:endParaRPr/>
          </a:p>
        </p:txBody>
      </p:sp>
      <p:sp>
        <p:nvSpPr>
          <p:cNvPr id="540" name=""/>
          <p:cNvSpPr/>
          <p:nvPr/>
        </p:nvSpPr>
        <p:spPr>
          <a:xfrm rot="0" flipH="0" flipV="0">
            <a:off x="9086850" y="4572000"/>
            <a:ext cx="733425" cy="733425"/>
          </a:xfrm>
          <a:prstGeom prst="roundRect">
            <a:avLst>
              <a:gd name="adj" fmla="val 519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9344025" y="4867275"/>
            <a:ext cx="219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帧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 2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9896475" y="4572000"/>
            <a:ext cx="733425" cy="733425"/>
          </a:xfrm>
          <a:prstGeom prst="roundRect">
            <a:avLst>
              <a:gd name="adj" fmla="val 519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10153650" y="4867275"/>
            <a:ext cx="219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帧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 3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8001000" y="5381625"/>
            <a:ext cx="2400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每帧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32×32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；四行依次为下、左、右、上。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从图像到四层空间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25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547" name="" descr="&lt;Slide notes={`四个人分置四个场所：林岚在公共大厅，已抵达、核对公开安排；周宁在手作室检查物料，随后去大厅协助；陈晨在交流室整理随身物品，随后前往阅读区；许安在阅读室浏览等候，随后核实手作安排。&#10;&#10;分置四个场所，是为了避免本次设计中所有人选择同一中心点造成遮挡。&#10;&#10;落点不同，保存的地址层级也不同：落在 Arena 空地时保存三层地址，落在对象范围内时保留第四层。检查「可用空间」时，只包含设计允许的公开地点与对象，不把对象私有状态作为人物的初始知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3.5　人物图片与出生装配一起检查&lt;/Text&gt;&#10;            &lt;Text style={{ fontSize: 34, fontWeight: 'bold', color: '#20344B' }}&gt;四人分置四个场所&lt;/Text&gt;&#10;        &lt;/Box&gt;&#10;    &lt;/Box&gt;&#10;&#10;    &lt;Box style={{ height: 540, flexDirection: 'row', alignItems: 'center', gap: 32 }}&gt;&#10;&#10;        &lt;Box style={{ width: 340, flexDirection: 'column', gap: 16 }}&gt;&#10;            &lt;Text style={{ fontSize: 22, fontWeight: 'bold', color: '#20344B' }}&gt;初始装配，{'\n'}不是已完成的移动&lt;/Text&gt;&#10;            &lt;Text style={{ fontSize: 15, color: '#546779', lineHeight: 1.7, width: 340 }}&gt;四个人名后的房间是初始装配选择；分置四个场所，避免所有人选择同一中心点造成遮挡。&lt;/Text&gt;&#10;            &lt;Box style={{ height: 96, background: '#EDF4FC', borderRadius: 8, flexDirection: 'row', alignItems: 'center', gap: 12, padding: '0 14px' }}&gt;&#10;                &lt;Box style={{ width: 4, height: 68, background: '#276FBF' }} /&gt;&#10;                &lt;Text style={{ fontSize: 14, color: '#276FBF', lineHeight: 1.6 }}&gt;实际保存坐标以选择器结果为准，并记录真实层级地址。&lt;/Text&gt;&#10;            &lt;/Box&gt;&#10;        &lt;/Box&gt;&#10;&#10;        &lt;Box style={{ width: 780, flexDirection: 'column', gap: 10 }}&gt;&#10;&#10;            &lt;Box style={{ height: 80, flexDirection: 'row', alignItems: 'center', gap: 12 }}&gt;&#10;                &lt;Box style={{ width: 96, height: 56, background: '#276FBF', borderRadius: 8, justifyContent: 'center', alignItems: 'center' }}&gt;&#10;                    &lt;Text style={{ fontSize: 16, fontWeight: 'bold', color: '#FFFFFF' }}&gt;林岚&lt;/Text&gt;&#10;                &lt;/Box&gt;&#10;                &lt;Box style={{ width: 150, height: 56, background: '#ECF7F2', borderRadius: 8, justifyContent: 'center', alignItems: 'center' }}&gt;&#10;                    &lt;Text style={{ fontSize: 14, color: '#26816B' }}&gt;公共大厅&lt;/Text&gt;&#10;                &lt;/Box&gt;&#10;                &lt;Text style={{ fontSize: 15, color: '#20344B' }}&gt;已抵达，核对公开安排&lt;/Text&gt;&#10;            &lt;/Box&gt;&#10;&#10;            &lt;Box style={{ height: 80, flexDirection: 'row', alignItems: 'center', gap: 12 }}&gt;&#10;                &lt;Box style={{ width: 96, height: 56, background: '#276FBF', borderRadius: 8, justifyContent: 'center', alignItems: 'center' }}&gt;&#10;                    &lt;Text style={{ fontSize: 16, fontWeight: 'bold', color: '#FFFFFF' }}&gt;周宁&lt;/Text&gt;&#10;                &lt;/Box&gt;&#10;                &lt;Box style={{ width: 150, height: 56, background: '#ECF7F2', borderRadius: 8, justifyContent: 'center', alignItems: 'center' }}&gt;&#10;                    &lt;Text style={{ fontSize: 14, color: '#26816B' }}&gt;手作室&lt;/Text&gt;&#10;                &lt;/Box&gt;&#10;                &lt;Text style={{ fontSize: 15, color: '#20344B' }}&gt;检查物料，随后去大厅协助&lt;/Text&gt;&#10;            &lt;/Box&gt;&#10;&#10;            &lt;Box style={{ height: 80, flexDirection: 'row', alignItems: 'center', gap: 12 }}&gt;&#10;                &lt;Box style={{ width: 96, height: 56, background: '#276FBF', borderRadius: 8, justifyContent: 'center', alignItems: 'center' }}&gt;&#10;                    &lt;Text style={{ fontSize: 16, fontWeight: 'bold', color: '#FFFFFF' }}&gt;陈晨&lt;/Text&gt;&#10;                &lt;/Box&gt;&#10;                &lt;Box style={{ width: 150, height: 56, background: '#ECF7F2', borderRadius: 8, justifyContent: 'center', alignItems: 'center' }}&gt;&#10;                    &lt;Text style={{ fontSize: 14, color: '#26816B' }}&gt;交流室&lt;/Text&gt;&#10;                &lt;/Box&gt;&#10;                &lt;Text style={{ fontSize: 15, color: '#20344B' }}&gt;整理随身物品，随后前往阅读区&lt;/Text&gt;&#10;            &lt;/Box&gt;&#10;&#10;            &lt;Box style={{ height: 80, flexDirection: 'row', alignItems: 'center', gap: 12 }}&gt;&#10;                &lt;Box style={{ width: 96, height: 56, background: '#276FBF', borderRadius: 8, justifyContent: 'center', alignItems: 'center' }}&gt;&#10;                    &lt;Text style={{ fontSize: 16, fontWeight: 'bold', color: '#FFFFFF' }}&gt;许安&lt;/Text&gt;&#10;                &lt;/Box&gt;&#10;                &lt;Box style={{ width: 150, height: 56, background: '#ECF7F2', borderRadius: 8, justifyContent: 'center', alignItems: 'center' }}&gt;&#10;                    &lt;Text style={{ fontSize: 14, color: '#26816B' }}&gt;阅读室&lt;/Text&gt;&#10;                &lt;/Box&gt;&#10;                &lt;Text style={{ fontSize: 15, color: '#20344B' }}&gt;浏览等候，随后核实手作安排&lt;/Text&gt;&#10;            &lt;/Box&gt;&#10;&#10;            &lt;Box style={{ flexDirection: 'row', gap: 12, marginTop: 4 }}&gt;&#10;                &lt;Box style={{ width: 384, height: 56, background: '#EDF4FC', borderRadius: 8, justifyContent: 'center', alignItems: 'center' }}&gt;&#10;                    &lt;Text style={{ fontSize: 14, color: '#276FBF' }}&gt;落在 Arena 空地 → 保存三层地址&lt;/Text&gt;&#10;                &lt;/Box&gt;&#10;                &lt;Box style={{ width: 384, height: 56, background: '#EDF4FC', borderRadius: 8, justifyContent: 'center', alignItems: 'center' }}&gt;&#10;                    &lt;Text style={{ fontSize: 14, color: '#276FBF' }}&gt;落在对象范围内 → 保留第四层&lt;/Text&gt;&#10;                &lt;/Box&gt;&#10;            &lt;/Box&gt;&#10;&#10;            &lt;Box style={{ height: 52, background: '#F4F7FA', borderRadius: 8, flexDirection: 'row', alignItems: 'center', gap: 12, padding: '0 14px' }}&gt;&#10;                &lt;Box style={{ width: 4, height: 32, background: '#26816B' }} /&gt;&#10;                &lt;Text style={{ fontSize: 14, color: '#546779' }}&gt;「可用空间」只包含设计允许的公开地点与对象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3 从图像到四层空间&lt;/Text&gt;&#10;        &lt;Text style={{ fontSize: 14, color: '#546779' }}&gt;22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3.3.5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人物图片与出生装配一起检查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四人分置四个场所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609600" y="2562225"/>
            <a:ext cx="32385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初始装配，</a:t>
            </a:r>
            <a:endParaRPr/>
          </a:p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不是已完成的移动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609600" y="3219450"/>
            <a:ext cx="3238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四个人名后的房间是初始装配选择；分置四个场所，避免所有人选择同一中心点造成遮挡。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609600" y="396240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55" name=""/>
          <p:cNvSpPr/>
          <p:nvPr/>
        </p:nvSpPr>
        <p:spPr>
          <a:xfrm rot="0" flipH="0" flipV="0">
            <a:off x="742950" y="4095750"/>
            <a:ext cx="38100" cy="6477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895350" y="4162425"/>
            <a:ext cx="28194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实际保存坐标以选择器结果为准，并记录真实层级地址。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4152900" y="1533525"/>
            <a:ext cx="914400" cy="533400"/>
          </a:xfrm>
          <a:prstGeom prst="roundRect">
            <a:avLst>
              <a:gd name="adj" fmla="val 14286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4457700" y="170497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林岚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5181600" y="1533525"/>
            <a:ext cx="142875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5629275" y="17240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公共大厅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6724650" y="171450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已抵达，核对公开安排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4152900" y="2390775"/>
            <a:ext cx="914400" cy="533400"/>
          </a:xfrm>
          <a:prstGeom prst="roundRect">
            <a:avLst>
              <a:gd name="adj" fmla="val 14286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4457700" y="256222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周宁</a:t>
            </a:r>
            <a:endParaRPr/>
          </a:p>
        </p:txBody>
      </p:sp>
      <p:sp>
        <p:nvSpPr>
          <p:cNvPr id="564" name=""/>
          <p:cNvSpPr/>
          <p:nvPr/>
        </p:nvSpPr>
        <p:spPr>
          <a:xfrm rot="0" flipH="0" flipV="0">
            <a:off x="5181600" y="2390775"/>
            <a:ext cx="142875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5695950" y="25812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手作室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6724650" y="2571750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检查物料，随后去大厅协助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4152900" y="3248025"/>
            <a:ext cx="914400" cy="533400"/>
          </a:xfrm>
          <a:prstGeom prst="roundRect">
            <a:avLst>
              <a:gd name="adj" fmla="val 14286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4457700" y="341947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陈晨</a:t>
            </a:r>
            <a:endParaRPr/>
          </a:p>
        </p:txBody>
      </p:sp>
      <p:sp>
        <p:nvSpPr>
          <p:cNvPr id="569" name=""/>
          <p:cNvSpPr/>
          <p:nvPr/>
        </p:nvSpPr>
        <p:spPr>
          <a:xfrm rot="0" flipH="0" flipV="0">
            <a:off x="5181600" y="3248025"/>
            <a:ext cx="142875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5695950" y="34385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交流室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6724650" y="3429000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整理随身物品，随后前往阅读区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4152900" y="4105275"/>
            <a:ext cx="914400" cy="533400"/>
          </a:xfrm>
          <a:prstGeom prst="roundRect">
            <a:avLst>
              <a:gd name="adj" fmla="val 14286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4457700" y="427672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许安</a:t>
            </a:r>
            <a:endParaRPr/>
          </a:p>
        </p:txBody>
      </p:sp>
      <p:sp>
        <p:nvSpPr>
          <p:cNvPr id="574" name=""/>
          <p:cNvSpPr/>
          <p:nvPr/>
        </p:nvSpPr>
        <p:spPr>
          <a:xfrm rot="0" flipH="0" flipV="0">
            <a:off x="5181600" y="4105275"/>
            <a:ext cx="142875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5695950" y="42957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阅读室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6724650" y="4286250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浏览等候，随后核实手作安排</a:t>
            </a:r>
            <a:endParaRPr/>
          </a:p>
        </p:txBody>
      </p:sp>
      <p:sp>
        <p:nvSpPr>
          <p:cNvPr id="577" name=""/>
          <p:cNvSpPr/>
          <p:nvPr/>
        </p:nvSpPr>
        <p:spPr>
          <a:xfrm rot="0" flipH="0" flipV="0">
            <a:off x="4152900" y="4886325"/>
            <a:ext cx="36576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4981575" y="5076825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落在</a:t>
            </a: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 xml:space="preserve"> Arena </a:t>
            </a: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空地</a:t>
            </a: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保存三层地址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7924800" y="4886325"/>
            <a:ext cx="36576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8848725" y="5076825"/>
            <a:ext cx="1819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落在对象范围内</a:t>
            </a: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保留第四层</a:t>
            </a:r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4152900" y="5514975"/>
            <a:ext cx="7429500" cy="495300"/>
          </a:xfrm>
          <a:prstGeom prst="roundRect">
            <a:avLst>
              <a:gd name="adj" fmla="val 1538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2" name=""/>
          <p:cNvSpPr/>
          <p:nvPr/>
        </p:nvSpPr>
        <p:spPr>
          <a:xfrm rot="0" flipH="0" flipV="0">
            <a:off x="4286250" y="5610225"/>
            <a:ext cx="38100" cy="3048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4438650" y="5686425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「可用空间」只包含设计允许的公开地点与对象。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从图像到四层空间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25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586" name="" descr="&lt;Slide notes={`配置做完，怎么知道做得对？用已经跑过的旧案例来理解检查方法。&#10;&#10;晨间案例和穿门阅读提供的是历史材料：从它们身上能看到完整的核对动作——背景怎么入库、路径怎么检查、证据怎么留。但它们跑在旧的地图和旧的人物上，不能拿来证明青禾这张新地图已经配置成功。&#10;&#10;所以旧案例教的是「怎么核对」，不是「已经通过」；本节自己的证据，要按交付清单逐项留下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6　　3.3.6&lt;/Text&gt;&#10;&#10;        &lt;Text style={{ fontSize: 56, fontWeight: 'bold', color: '#20344B', lineHeight: 1.15 }}&gt;用旧案例理解检查方法&lt;/Text&gt;&#10;&#10;        &lt;Box style={{ width: 72, height: 4, background: '#276FBF' }} /&gt;&#10;&#10;        &lt;Text style={{ fontSize: 18, color: '#546779', lineHeight: 1.7, width: 900 }}&gt;旧案例教的是检查方法，不提供青禾地图已成功的证据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旧案例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证据边界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交付清单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3 从图像到四层空间&lt;/Text&gt;&#10;        &lt;Text style={{ fontSize: 14, color: '#546779' }}&gt;23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6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3.3.6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用旧案例理解检查方法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旧案例教的是检查方法，不提供青禾地图已成功的证据。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1781175" y="425767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旧案例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49720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证据边界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98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82486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交付清单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从图像到四层空间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25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602" name="" descr="&lt;Slide notes={`晨间案例提供完整背景、人物与桌面状态图的历史材料，2026-09-09 导出记录包含 32 步结果；但当前工作区缺少原 settings/ 目录，所以不把引用的旧配置清单说成仍然齐全。&#10;&#10;穿门阅读的正式运行记录适合学习门洞、移动预算与抵达后再活动；封门对照说明「感知到对象」与「能够到达」是两项判断，其 B02-007 回放和导出核验仍未闭环，不写成完整通过，也不把旧人物坐标搬到青禾地图。&#10;&#10;完成本节应留下：背景及状态图、语义范围、碰撞与路径检查记录、四名人物的实际出生地址和画面核对项；尚未浏览器保存或运行的项目，继续标为待验收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3.6　用旧案例理解检查方法&lt;/Text&gt;&#10;            &lt;Text style={{ fontSize: 34, fontWeight: 'bold', color: '#20344B' }}&gt;旧案例的证据边界与本节交付&lt;/Text&gt;&#10;        &lt;/Box&gt;&#10;    &lt;/Box&gt;&#10;&#10;    &lt;Box style={{ height: 540, flexDirection: 'row', alignItems: 'center', gap: 32 }}&gt;&#10;&#10;        &lt;Box style={{ width: 620, flexDirection: 'column', gap: 12 }}&gt;&#10;&#10;            &lt;Box style={{ height: 140, background: '#EDF4FC', borderRadius: 10, padding: '14px 18px', flexDirection: 'column', gap: 6, justifyContent: 'center' }}&gt;&#10;                &lt;Text style={{ fontSize: 17, fontWeight: 'bold', color: '#276FBF' }}&gt;晨间案例&lt;/Text&gt;&#10;                &lt;Text style={{ fontSize: 13, color: '#546779', lineHeight: 1.6 }}&gt;完整背景、人物与桌面状态图的历史材料；2026-09-09 导出记录包含 32 步结果。工作区缺少原 settings/ 目录，不把引用的旧配置清单说成仍然齐全。&lt;/Text&gt;&#10;            &lt;/Box&gt;&#10;&#10;            &lt;Box style={{ height: 118, background: '#ECF7F2', borderRadius: 10, padding: '14px 18px', flexDirection: 'column', gap: 6, justifyContent: 'center' }}&gt;&#10;                &lt;Text style={{ fontSize: 17, fontWeight: 'bold', color: '#26816B' }}&gt;穿门阅读&lt;/Text&gt;&#10;                &lt;Text style={{ fontSize: 13, color: '#546779', lineHeight: 1.6 }}&gt;正式运行记录适合学习门洞、移动预算与抵达后再活动。&lt;/Text&gt;&#10;            &lt;/Box&gt;&#10;&#10;            &lt;Box style={{ height: 140, background: '#FFF4E6', borderRadius: 10, padding: '14px 18px', flexDirection: 'column', gap: 6, justifyContent: 'center' }}&gt;&#10;                &lt;Text style={{ fontSize: 17, fontWeight: 'bold', color: '#CB6B28' }}&gt;封门对照&lt;/Text&gt;&#10;                &lt;Text style={{ fontSize: 13, color: '#546779', lineHeight: 1.6 }}&gt;说明「感知到对象」与「能够到达」是两项判断；B02-007 回放和导出核验仍未闭环，不写成完整通过，也不把旧人物坐标搬到青禾地图。&lt;/Text&gt;&#10;            &lt;/Box&gt;&#10;&#10;        &lt;/Box&gt;&#10;&#10;        &lt;Box style={{ width: 500, flexDirection: 'column', gap: 14 }}&gt;&#10;&#10;            &lt;Box style={{ background: '#F4F7FA', borderRadius: 10, padding: 18, flexDirection: 'column', gap: 12 }}&gt;&#10;                &lt;Text style={{ fontSize: 20, fontWeight: 'bold', color: '#20344B' }}&gt;本节应留下&lt;/Text&gt;&#10;                &lt;Box style={{ flexDirection: 'row', gap: 10 }}&gt;&#10;                    &lt;Box style={{ width: 10, height: 10, background: '#26816B', marginTop: 6 }} /&gt;&#10;                    &lt;Text style={{ fontSize: 15, color: '#20344B', lineHeight: 1.55 }}&gt;背景及状态图&lt;/Text&gt;&#10;                &lt;/Box&gt;&#10;                &lt;Box style={{ flexDirection: 'row', gap: 10 }}&gt;&#10;                    &lt;Box style={{ width: 10, height: 10, background: '#26816B', marginTop: 6 }} /&gt;&#10;                    &lt;Text style={{ fontSize: 15, color: '#20344B', lineHeight: 1.55 }}&gt;语义范围&lt;/Text&gt;&#10;                &lt;/Box&gt;&#10;                &lt;Box style={{ flexDirection: 'row', gap: 10 }}&gt;&#10;                    &lt;Box style={{ width: 10, height: 10, background: '#26816B', marginTop: 6 }} /&gt;&#10;                    &lt;Text style={{ fontSize: 15, color: '#20344B', lineHeight: 1.55 }}&gt;碰撞与路径检查记录&lt;/Text&gt;&#10;                &lt;/Box&gt;&#10;                &lt;Box style={{ flexDirection: 'row', gap: 10 }}&gt;&#10;                    &lt;Box style={{ width: 10, height: 10, background: '#26816B', marginTop: 6 }} /&gt;&#10;                    &lt;Text style={{ fontSize: 15, color: '#20344B', lineHeight: 1.55 }}&gt;四名人物的实际出生地址&lt;/Text&gt;&#10;                &lt;/Box&gt;&#10;                &lt;Box style={{ flexDirection: 'row', gap: 10 }}&gt;&#10;                    &lt;Box style={{ width: 10, height: 10, background: '#26816B', marginTop: 6 }} /&gt;&#10;                    &lt;Text style={{ fontSize: 15, color: '#20344B', lineHeight: 1.55 }}&gt;画面核对项&lt;/Text&gt;&#10;                &lt;/Box&gt;&#10;            &lt;/Box&gt;&#10;&#10;            &lt;Box style={{ height: 92, background: '#FFF4E6', borderRadius: 8, flexDirection: 'row', alignItems: 'center', gap: 12, padding: '0 16px' }}&gt;&#10;                &lt;Box style={{ width: 4, height: 64, background: '#CB6B28' }} /&gt;&#10;                &lt;Text style={{ fontSize: 14, color: '#CB6B28', lineHeight: 1.6 }}&gt;尚未浏览器保存或运行的项目，继续标为待验收；随后再编排行为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3 从图像到四层空间&lt;/Text&gt;&#10;        &lt;Text style={{ fontSize: 14, color: '#546779' }}&gt;24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3.3.6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用旧案例理解检查方法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旧案例的证据边界与本节交付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609600" y="1704975"/>
            <a:ext cx="5905500" cy="1333500"/>
          </a:xfrm>
          <a:prstGeom prst="roundRect">
            <a:avLst>
              <a:gd name="adj" fmla="val 71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781050" y="2009775"/>
            <a:ext cx="5562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晨间案例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781050" y="2266950"/>
            <a:ext cx="55626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完整背景、人物与桌面状态图的历史材料；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2026-09-09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导出记录包含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32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步结果。工作区缺少原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settings/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目录，不把引用的旧配置清单说成仍然齐全。</a:t>
            </a:r>
            <a:endParaRPr/>
          </a:p>
        </p:txBody>
      </p:sp>
      <p:sp>
        <p:nvSpPr>
          <p:cNvPr id="610" name=""/>
          <p:cNvSpPr/>
          <p:nvPr/>
        </p:nvSpPr>
        <p:spPr>
          <a:xfrm rot="0" flipH="0" flipV="0">
            <a:off x="609600" y="3152775"/>
            <a:ext cx="5905500" cy="1123950"/>
          </a:xfrm>
          <a:prstGeom prst="roundRect">
            <a:avLst>
              <a:gd name="adj" fmla="val 847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781050" y="3467100"/>
            <a:ext cx="5562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穿门阅读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781050" y="3724275"/>
            <a:ext cx="55626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正式运行记录适合学习门洞、移动预算与抵达后再活动。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609600" y="4391025"/>
            <a:ext cx="5905500" cy="13335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781050" y="4695825"/>
            <a:ext cx="5562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封门对照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781050" y="4953000"/>
            <a:ext cx="55626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说明「感知到对象」与「能够到达」是两项判断；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B02-007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回放和导出核验仍未闭环，不写成完整通过，也不把旧人物坐标搬到青禾地图。</a:t>
            </a:r>
            <a:endParaRPr/>
          </a:p>
        </p:txBody>
      </p:sp>
      <p:sp>
        <p:nvSpPr>
          <p:cNvPr id="616" name=""/>
          <p:cNvSpPr/>
          <p:nvPr/>
        </p:nvSpPr>
        <p:spPr>
          <a:xfrm rot="0" flipH="0" flipV="0">
            <a:off x="6819900" y="1971675"/>
            <a:ext cx="4762500" cy="2476500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6991350" y="2143125"/>
            <a:ext cx="4419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本节应留下</a:t>
            </a:r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6991350" y="2543175"/>
            <a:ext cx="95250" cy="952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7181850" y="2486025"/>
            <a:ext cx="8572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背景及状态图</a:t>
            </a:r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6991350" y="2924175"/>
            <a:ext cx="95250" cy="952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7181850" y="2867025"/>
            <a:ext cx="571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语义范围</a:t>
            </a:r>
            <a:endParaRPr/>
          </a:p>
        </p:txBody>
      </p:sp>
      <p:sp>
        <p:nvSpPr>
          <p:cNvPr id="622" name=""/>
          <p:cNvSpPr/>
          <p:nvPr/>
        </p:nvSpPr>
        <p:spPr>
          <a:xfrm rot="0" flipH="0" flipV="0">
            <a:off x="6991350" y="3305175"/>
            <a:ext cx="95250" cy="952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7181850" y="3248025"/>
            <a:ext cx="1285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碰撞与路径检查记录</a:t>
            </a:r>
            <a:endParaRPr/>
          </a:p>
        </p:txBody>
      </p:sp>
      <p:sp>
        <p:nvSpPr>
          <p:cNvPr id="624" name=""/>
          <p:cNvSpPr/>
          <p:nvPr/>
        </p:nvSpPr>
        <p:spPr>
          <a:xfrm rot="0" flipH="0" flipV="0">
            <a:off x="6991350" y="3686175"/>
            <a:ext cx="95250" cy="952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7181850" y="3629025"/>
            <a:ext cx="15716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四名人物的实际出生地址</a:t>
            </a:r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6991350" y="4067175"/>
            <a:ext cx="95250" cy="952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7181850" y="4010025"/>
            <a:ext cx="7143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画面核对项</a:t>
            </a:r>
            <a:endParaRPr/>
          </a:p>
        </p:txBody>
      </p:sp>
      <p:sp>
        <p:nvSpPr>
          <p:cNvPr id="628" name=""/>
          <p:cNvSpPr/>
          <p:nvPr/>
        </p:nvSpPr>
        <p:spPr>
          <a:xfrm rot="0" flipH="0" flipV="0">
            <a:off x="6819900" y="4581525"/>
            <a:ext cx="4762500" cy="876300"/>
          </a:xfrm>
          <a:prstGeom prst="roundRect">
            <a:avLst>
              <a:gd name="adj" fmla="val 869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29" name=""/>
          <p:cNvSpPr/>
          <p:nvPr/>
        </p:nvSpPr>
        <p:spPr>
          <a:xfrm rot="0" flipH="0" flipV="0">
            <a:off x="6972300" y="4714875"/>
            <a:ext cx="38100" cy="6096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7124700" y="4895850"/>
            <a:ext cx="40005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尚未浏览器保存或运行的项目，继续标为待验收；随后再编排行为。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从图像到四层空间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25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633" name="" descr="&lt;Slide notes={`收束成三个反问。第一，图像是否已经变成语义？背景入库、四层地址、状态外观，都要分别录入并核对。第二，画出的门是否已经设为可走？隔断、门洞与路径检查是三道独立工序。第三，预览切换是否等于世界提交？运行时的变化要靠 SET_OBJECT_STATE 和回放事实证明。&#10;&#10;四项核对完成、待验收项标注清楚之后，就可以进入下一节，给人物编排 Brain 与 Skill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3.3　收束&lt;/Text&gt;&#10;&#10;        &lt;Text style={{ fontSize: 46, fontWeight: 'bold', color: '#20344B' }}&gt;记住三个反问&lt;/Text&gt;&#10;&#10;        &lt;Box style={{ width: 72, height: 4, background: '#276FBF' }} /&gt;&#10;&#10;        &lt;Box style={{ flexDirection: 'row', gap: 24, marginTop: 8 }}&gt;&#10;&#10;            &lt;Box style={{ width: 368, height: 250, background: '#EDF4FC', borderRadius: 12, padding: 22, flexDirection: 'column', gap: 12 }}&gt;&#10;                &lt;Text style={{ fontSize: 44, fontWeight: 'bold', color: '#276FBF' }}&gt;1&lt;/Text&gt;&#10;                &lt;Text style={{ fontSize: 19, fontWeight: 'bold', color: '#20344B', lineHeight: 1.4 }}&gt;图像是否已经变成语义？&lt;/Text&gt;&#10;                &lt;Text style={{ fontSize: 14, color: '#546779', lineHeight: 1.6 }}&gt;背景入库、四层地址树、状态外观，分别录入并核对。&lt;/Text&gt;&#10;            &lt;/Box&gt;&#10;&#10;            &lt;Box style={{ width: 368, height: 250, background: '#FFF4E6', borderRadius: 12, padding: 22, flexDirection: 'column', gap: 12 }}&gt;&#10;                &lt;Text style={{ fontSize: 44, fontWeight: 'bold', color: '#CB6B28' }}&gt;2&lt;/Text&gt;&#10;                &lt;Text style={{ fontSize: 19, fontWeight: 'bold', color: '#20344B', lineHeight: 1.4 }}&gt;画出的门，是否已经设为可走？&lt;/Text&gt;&#10;                &lt;Text style={{ fontSize: 14, color: '#546779', lineHeight: 1.6 }}&gt;连续隔断、门洞格与路径检查，是三道独立工序。&lt;/Text&gt;&#10;            &lt;/Box&gt;&#10;&#10;            &lt;Box style={{ width: 368, height: 250, background: '#ECF7F2', borderRadius: 12, padding: 22, flexDirection: 'column', gap: 12 }}&gt;&#10;                &lt;Text style={{ fontSize: 44, fontWeight: 'bold', color: '#26816B' }}&gt;3&lt;/Text&gt;&#10;                &lt;Text style={{ fontSize: 19, fontWeight: 'bold', color: '#20344B', lineHeight: 1.4 }}&gt;预览切换，是否等于世界提交？&lt;/Text&gt;&#10;                &lt;Text style={{ fontSize: 14, color: '#546779', lineHeight: 1.6 }}&gt;运行时还需 SET_OBJECT_STATE 提交与回放证据。&lt;/Text&gt;&#10;            &lt;/Box&gt;&#10;&#10;        &lt;/Box&gt;&#10;&#10;        &lt;Box style={{ height: 72, background: '#F4F7FA', borderRadius: 10, flexDirection: 'row', alignItems: 'center', gap: 16, padding: '0 20px' }}&gt;&#10;            &lt;Box style={{ width: 4, height: 44, background: '#276FBF' }} /&gt;&#10;            &lt;Text style={{ fontSize: 16, color: '#20344B' }}&gt;四项核对完成、待验收项标注清楚后，随后再编排行为——下一节 3.4　Brain 与 Skill。&lt;/Text&gt;&#10;        &lt;/Box&gt;&#10;&#10;    &lt;/Box&gt;&#10;&#10;    &lt;Box style={{ height: 40, flexDirection: 'row', justifyContent: 'space-between', alignItems: 'center' }}&gt;&#10;        &lt;Text style={{ fontSize: 14, color: '#546779' }}&gt;3.3 从图像到四层空间&lt;/Text&gt;&#10;        &lt;Text style={{ fontSize: 14, color: '#546779' }}&gt;25 / 25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609600" y="8763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3.3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收束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609600" y="1257300"/>
            <a:ext cx="109728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20344B"/>
                </a:solidFill>
                <a:latin typeface="Microsoft YaHei"/>
                <a:ea typeface="Microsoft YaHei"/>
              </a:rPr>
              <a:t>记住三个反问</a:t>
            </a:r>
            <a:endParaRPr/>
          </a:p>
        </p:txBody>
      </p:sp>
      <p:sp>
        <p:nvSpPr>
          <p:cNvPr id="637" name=""/>
          <p:cNvSpPr/>
          <p:nvPr/>
        </p:nvSpPr>
        <p:spPr>
          <a:xfrm rot="0" flipH="0" flipV="0">
            <a:off x="609600" y="20002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8" name=""/>
          <p:cNvSpPr/>
          <p:nvPr/>
        </p:nvSpPr>
        <p:spPr>
          <a:xfrm rot="0" flipH="0" flipV="0">
            <a:off x="609600" y="2324100"/>
            <a:ext cx="3505200" cy="2381250"/>
          </a:xfrm>
          <a:prstGeom prst="roundRect">
            <a:avLst>
              <a:gd name="adj" fmla="val 48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819150" y="2533650"/>
            <a:ext cx="30861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819150" y="3152775"/>
            <a:ext cx="30861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图像是否已经变成语义？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819150" y="3571875"/>
            <a:ext cx="3086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背景入库、四层地址树、状态外观，分别录入并核对。</a:t>
            </a:r>
            <a:endParaRPr/>
          </a:p>
        </p:txBody>
      </p:sp>
      <p:sp>
        <p:nvSpPr>
          <p:cNvPr id="642" name=""/>
          <p:cNvSpPr/>
          <p:nvPr/>
        </p:nvSpPr>
        <p:spPr>
          <a:xfrm rot="0" flipH="0" flipV="0">
            <a:off x="4343400" y="2324100"/>
            <a:ext cx="3505200" cy="2381250"/>
          </a:xfrm>
          <a:prstGeom prst="roundRect">
            <a:avLst>
              <a:gd name="adj" fmla="val 48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4552950" y="2533650"/>
            <a:ext cx="30861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CB6B28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4552950" y="3152775"/>
            <a:ext cx="30861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画出的门，是否已经设为可走？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4552950" y="3571875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连续隔断、门洞格与路径检查，是三道独立工序。</a:t>
            </a:r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8077200" y="2324100"/>
            <a:ext cx="3505200" cy="2381250"/>
          </a:xfrm>
          <a:prstGeom prst="roundRect">
            <a:avLst>
              <a:gd name="adj" fmla="val 48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8286750" y="2533650"/>
            <a:ext cx="30861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26816B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8286750" y="3152775"/>
            <a:ext cx="30861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预览切换，是否等于世界提交？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8286750" y="3571875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运行时还需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SET_OBJECT_STATE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提交与回放证据。</a:t>
            </a:r>
            <a:endParaRPr/>
          </a:p>
        </p:txBody>
      </p:sp>
      <p:sp>
        <p:nvSpPr>
          <p:cNvPr id="650" name=""/>
          <p:cNvSpPr/>
          <p:nvPr/>
        </p:nvSpPr>
        <p:spPr>
          <a:xfrm rot="0" flipH="0" flipV="0">
            <a:off x="609600" y="491490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51" name=""/>
          <p:cNvSpPr/>
          <p:nvPr/>
        </p:nvSpPr>
        <p:spPr>
          <a:xfrm rot="0" flipH="0" flipV="0">
            <a:off x="800100" y="50482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990600" y="5162550"/>
            <a:ext cx="5924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四项核对完成、待验收项标注清楚后，随后再编排行为——下一节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3.4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　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Brain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3.3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从图像到四层空间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25 / 25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2026-09-29T08:30:52Z</dcterms:created>
  <dcterms:modified xsi:type="dcterms:W3CDTF">2026-09-29T08:30:52Z</dcterms:modified>
</cp:coreProperties>
</file>