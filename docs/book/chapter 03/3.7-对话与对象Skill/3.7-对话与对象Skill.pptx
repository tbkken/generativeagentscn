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32" Type="http://schemas.openxmlformats.org/officeDocument/2006/relationships/notesMaster" Target="notesMasters/notesMaster1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26" Type="http://schemas.openxmlformats.org/officeDocument/2006/relationships/slide" Target="slides/slide26.xml" /><Relationship Id="rId17" Type="http://schemas.openxmlformats.org/officeDocument/2006/relationships/slide" Target="slides/slide17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7" Type="http://schemas.openxmlformats.org/officeDocument/2006/relationships/slide" Target="slides/slide7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8" Type="http://schemas.openxmlformats.org/officeDocument/2006/relationships/slide" Target="slides/slide8.xml" /><Relationship Id="rId25" Type="http://schemas.openxmlformats.org/officeDocument/2006/relationships/slide" Target="slides/slide25.xml" /><Relationship Id="rId27" Type="http://schemas.openxmlformats.org/officeDocument/2006/relationships/slide" Target="slides/slide27.xml" /><Relationship Id="rId28" Type="http://schemas.openxmlformats.org/officeDocument/2006/relationships/slide" Target="slides/slide28.xml" /><Relationship Id="rId29" Type="http://schemas.openxmlformats.org/officeDocument/2006/relationships/slide" Target="slides/slide29.xml" /><Relationship Id="rId3" Type="http://schemas.openxmlformats.org/officeDocument/2006/relationships/slide" Target="slides/slide3.xml" /><Relationship Id="rId30" Type="http://schemas.openxmlformats.org/officeDocument/2006/relationships/slide" Target="slides/slide30.xml" /><Relationship Id="rId31" Type="http://schemas.openxmlformats.org/officeDocument/2006/relationships/slide" Target="slides/slide31.xml" /><Relationship Id="rId33" Type="http://schemas.openxmlformats.org/officeDocument/2006/relationships/presProps" Target="presProps.xml" /><Relationship Id="rId34" Type="http://schemas.openxmlformats.org/officeDocument/2006/relationships/tableStyles" Target="tableStyles.xml" /><Relationship Id="rId35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我们从第二章的方案继续往前走。方案上写着十点开始手作体验，写着通知来访者，但纸面上的字不等于世界里真的发生了：没有人真的走到手作室，来访者也没有真的听到任何消息。</a:t>
            </a:r>
          </a:p>
          <a:p>
            <a:r>
              <a:rPr lang="zh-CN" dirty="0"/>
              <a:t>青禾开放日最值得看的地方，不是四个人最后站在哪里，而是他们怎样一步一步获得不同的信息。服务台掌握已有预约，林岚负责组织安排，公告栏保存当前公开通知，来访者只能靠咨询或交谈来更新认识。</a:t>
            </a:r>
          </a:p>
          <a:p>
            <a:r>
              <a:rPr lang="zh-CN" dirty="0"/>
              <a:t>所以要让行为变化能被解释，信息就必须沿真实发生的交互传播：发言的人是真的，接收的人是真的，留下的事实也是真的。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先把这一节要看清的东西摆出来，一共四块。</a:t>
            </a:r>
          </a:p>
          <a:p>
            <a:r>
              <a:rPr lang="zh-CN" dirty="0"/>
              <a:t>第一块是人和人怎么说话：一条 SPEAK 恰好连接一名其他 Agent，所以「四个人开会」要拆成多轮双人消息，会话身份也不能自己编。</a:t>
            </a:r>
          </a:p>
          <a:p>
            <a:r>
              <a:rPr lang="zh-CN" dirty="0"/>
              <a:t>第二块是人和对象怎么说话：INTERACT 只负责把请求交出去，选择键要从感知结果里取，工具层的接受信息不等于对方已经答复。</a:t>
            </a:r>
          </a:p>
          <a:p>
            <a:r>
              <a:rPr lang="zh-CN" dirty="0"/>
              <a:t>第三块是对象自己怎么动：绑定根 Skill 之后，公告栏与服务台每一步都会自主运行，公告更新要经过真实请求和自身提交两道关口。</a:t>
            </a:r>
          </a:p>
          <a:p>
            <a:r>
              <a:rPr lang="zh-CN" dirty="0"/>
              <a:t>第四块是配置与核对：在地图页面绑定对象 Skill，再沿请求链查清楚谁发的、处理了哪个请求、答复有没有真的进入下一个人的视野。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这一块先解决人和人怎么说话。</a:t>
            </a:r>
          </a:p>
          <a:p>
            <a:r>
              <a:rPr lang="zh-CN" dirty="0"/>
              <a:t>在青禾这个案例里，周宁把服务台的答复转述给林岚，林岚再以本人身份回应问题。两次发言都要真的发出去：第一次是周宁说，第二次必须由林岚自己说。</a:t>
            </a:r>
          </a:p>
          <a:p>
            <a:r>
              <a:rPr lang="zh-CN" dirty="0"/>
              <a:t>这里有一条很容易被忽略的限制：一次 SPEAK 只连接一名其他 Agent。所以「四个人开个会」不能靠一条消息塞进三个收件人，只能拆成一轮一轮的双人消息。</a:t>
            </a:r>
          </a:p>
          <a:p>
            <a:r>
              <a:rPr lang="zh-CN" dirty="0"/>
              <a:t>而且发言不是凭想象补全的。每条 SPEAK 都需要一个真实发言者和一个真实接收者，谁说了什么、谁听到了什么，都要能在提交的事实里找到。消息方向的示意图只是示意，不代表对话真的发生过。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说清楚一次发言需要带什么。</a:t>
            </a:r>
          </a:p>
          <a:p>
            <a:r>
              <a:rPr lang="zh-CN" dirty="0"/>
              <a:t>人物用 world-act 的 SPEAK 来说话，要提供两个东西：一个参与键列表，也就是 participant_agent_keys，还有一段 message 正文。这里的关键限制是，当前实现要求恰好一个其他 Agent。</a:t>
            </a:r>
          </a:p>
          <a:p>
            <a:r>
              <a:rPr lang="zh-CN" dirty="0"/>
              <a:t>所以想表达「四个人一起商量」，只能一轮一轮来：周宁先对林岚说，林岚再对周宁说，需要的话再各自对第三个人说。一条消息不能同时塞给三个收件人。</a:t>
            </a:r>
          </a:p>
          <a:p>
            <a:r>
              <a:rPr lang="zh-CN" dirty="0"/>
              <a:t>周宁转述服务台答复、并向林岚提问，这是一次发言；林岚要确认自己真的拿到了发言内容，然后以本人身份做出回应，这是另一次发言。把这两次混成一条消息，就等于替对方说话了。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接下来处理会话本身的身份，这件事很容易出错。</a:t>
            </a:r>
          </a:p>
          <a:p>
            <a:r>
              <a:rPr lang="zh-CN" dirty="0"/>
              <a:t>如果这是一次新会话，可以省略 conversation_id，由运行时去建立或者复用一个合适的会话，不必自己指定。</a:t>
            </a:r>
          </a:p>
          <a:p>
            <a:r>
              <a:rPr lang="zh-CN" dirty="0"/>
              <a:t>如果要继续已经存在的会话，就必须使用运行时真实返回、而且确实属于这两名参与者的那个 ID。不要自己拼一个 UUID 填进去，看起来像那么回事，但后续的可见性和事实核对都会对不上。</a:t>
            </a:r>
          </a:p>
          <a:p>
            <a:r>
              <a:rPr lang="zh-CN" dirty="0"/>
              <a:t>需要结束的时候，可以提交 end_conversation，标记这次会话可以收尾。</a:t>
            </a:r>
          </a:p>
          <a:p>
            <a:r>
              <a:rPr lang="zh-CN" dirty="0"/>
              <a:t>还有一点：不要为每一句回复都另开一个线程。同一段对话就沿同一个会话走，否则读者根本看不出这是一来一回，证据也被切碎了。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有一个东西特别容易被当成「听到了」，就是会话摘要。</a:t>
            </a:r>
          </a:p>
          <a:p>
            <a:r>
              <a:rPr lang="zh-CN" dirty="0"/>
              <a:t>active_conversations 给的是会话身份、消息计数、开放状态这一类摘要。它能告诉你存在这么一个会话，参与范围大概是谁，对话还在不在继续。</a:t>
            </a:r>
          </a:p>
          <a:p>
            <a:r>
              <a:rPr lang="zh-CN" dirty="0"/>
              <a:t>但它不含完整消息。它不会告诉你周宁到底说了哪句话，也不会告诉你林岚答了什么。所以不能从「会话存在」直接推断「对方已经理解」。</a:t>
            </a:r>
          </a:p>
          <a:p>
            <a:r>
              <a:rPr lang="zh-CN" dirty="0"/>
              <a:t>要判断内容，必须另查实际返回的现场行动、事件，以及已经提交的会话事实。这三处才是可以引用的证据。</a:t>
            </a:r>
          </a:p>
          <a:p>
            <a:r>
              <a:rPr lang="zh-CN" dirty="0"/>
              <a:t>记住这条：会话存在，和对方真的听懂，是两件事。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会话有了，内容也有了，接下来要看它会落在哪一步。</a:t>
            </a:r>
          </a:p>
          <a:p>
            <a:r>
              <a:rPr lang="zh-CN" dirty="0"/>
              <a:t>会话内容什么时候可见，要结合实际调度顺序来判断。这里有一个很容易犯的错：套用「对象回复固定落在下一轮」这类固定规则。实际上双方的两条 SPEAK 未必落在相邻两步，要按真实调度结果去看。</a:t>
            </a:r>
          </a:p>
          <a:p>
            <a:r>
              <a:rPr lang="zh-CN" dirty="0"/>
              <a:t>另外，每条消息都随它所属的那个 StepResult 一起持久提交。所以对外引用某句话的时候，必须回到它所属的那一步，看已提交的事实是什么。</a:t>
            </a:r>
          </a:p>
          <a:p>
            <a:r>
              <a:rPr lang="zh-CN" dirty="0"/>
              <a:t>读图的时候也要小心：图上画的双向箭头只是消息方向的示意，不代表对话真的发生在那一刻，也不代表双方落在哪一步。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再讲一处最容易被忽略的断口。</a:t>
            </a:r>
          </a:p>
          <a:p>
            <a:r>
              <a:rPr lang="zh-CN" dirty="0"/>
              <a:t>周宁把服务台的答复告诉林岚，这件事本身是成立的。但要分清两句话：服务台明确回复了什么，以及我建议怎么做。前者是事实，后者是建议。</a:t>
            </a:r>
          </a:p>
          <a:p>
            <a:r>
              <a:rPr lang="zh-CN" dirty="0"/>
              <a:t>林岚收到建议，并不意味着公告栏已经被修改。公告栏要不要改、改成什么，还要林岚自己核实、自己决定，然后真的发出一次交互请求。</a:t>
            </a:r>
          </a:p>
          <a:p>
            <a:r>
              <a:rPr lang="zh-CN" dirty="0"/>
              <a:t>同样，周宁说「我会去通知许安」，也不等于许安已经收到。话是自己说的，接收的人并不在场。要让信息真正传到，后面还得有另一条真实消息，或者一次对象交互。</a:t>
            </a:r>
          </a:p>
          <a:p>
            <a:r>
              <a:rPr lang="zh-CN" dirty="0"/>
              <a:t>所以信息传播链上每一段都要单独成立，不能用一个人的话把整条链补齐。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接下来换一个方向：人和对象怎么说话。</a:t>
            </a:r>
          </a:p>
          <a:p>
            <a:r>
              <a:rPr lang="zh-CN" dirty="0"/>
              <a:t>在青禾这个案例里，林岚要向公告栏请求更新，来访者要向服务台查询。这些都不是人和人对话，而是通过 INTERACT 把请求交给一个对象。</a:t>
            </a:r>
          </a:p>
          <a:p>
            <a:r>
              <a:rPr lang="zh-CN" dirty="0"/>
              <a:t>这里的关键提醒是：请求被接受，不等于业务答复已经收到。工具层面点头说「我收到了你的动作」，和对象真的处理完、把答复送回给你，是两件不同的事。</a:t>
            </a:r>
          </a:p>
          <a:p>
            <a:r>
              <a:rPr lang="zh-CN" dirty="0"/>
              <a:t>而对象也不是只会等着被问。绑定根 Skill 之后，它每一步都会自主运行，可以自己感知、自己检索记忆、自己处理待办请求。</a:t>
            </a:r>
          </a:p>
          <a:p>
            <a:r>
              <a:rPr lang="zh-CN" dirty="0"/>
              <a:t>所以接下来要先看懂请求怎么发出去，再看对象自己那一轮都做了什么。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人物这一侧先拟好动作：world-act 发出 INTERACT，带上真实的 selection_key 与请求。MCP 校验通过后回一个 accepted，人物这一轮就结束；此时还没有任何对象动手。</a:t>
            </a:r>
          </a:p>
          <a:p>
            <a:r>
              <a:rPr lang="zh-CN" dirty="0"/>
              <a:t>接着调度器与世界层接手，把待处理请求连同 request_id 交给对象根 Skill。对象在自己的轮次里发出 world-act，带上动作与 responses，再收到第二次 accepted。</a:t>
            </a:r>
          </a:p>
          <a:p>
            <a:r>
              <a:rPr lang="zh-CN" dirty="0"/>
              <a:t>随后世界执行，请求与答复随同一个 Step 一起落盘。只有目标人物下一轮在 external_observations 里看到真实答复，才说明他确实收到了；回复只投给真实接收者，不广播。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这条链路上有三处真实载体，验收的时候就核对这三处。</a:t>
            </a:r>
          </a:p>
          <a:p>
            <a:r>
              <a:rPr lang="zh-CN" dirty="0"/>
              <a:t>第一处是人物提出请求：INTERACT 经过世界提交，形成一条带身份的请求，带着 request_id、agent_key、agent_name 与观察时间。</a:t>
            </a:r>
          </a:p>
          <a:p>
            <a:r>
              <a:rPr lang="zh-CN" dirty="0"/>
              <a:t>第二处是对象处理请求：在本步的对象轮次里，通过 world-act 的 responses 把答复提交出去。答复不能只写在对象的最终总结里，那样不算发送。</a:t>
            </a:r>
          </a:p>
          <a:p>
            <a:r>
              <a:rPr lang="zh-CN" dirty="0"/>
              <a:t>第三处是目标人物收到：下一轮 external_observations 里出现的那条真实答复。只有这一处，才能证明对方确实收到了。</a:t>
            </a:r>
          </a:p>
          <a:p>
            <a:r>
              <a:rPr lang="zh-CN" dirty="0"/>
              <a:t>工具层面那声 accepted，不能拿来代替第三段。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为什么这条链要走这么长？因为每一步的确定性不一样。</a:t>
            </a:r>
          </a:p>
          <a:p>
            <a:r>
              <a:rPr lang="zh-CN" dirty="0"/>
              <a:t>人物这一侧发出 INTERACT，MCP 返回一个 accepted，这只能说明人物这一轮结束了，动作被选中了；真正的执行在后面，由调度器和世界层负责。</a:t>
            </a:r>
          </a:p>
          <a:p>
            <a:r>
              <a:rPr lang="zh-CN" dirty="0"/>
              <a:t>对象这一侧也一样。对象在自己的轮次里发出 world-act，提交自身动作和回复，再收到一个 accepted，说明对象这一轮结束。此时答复已经提交，但还没有送到目标人物手上。</a:t>
            </a:r>
          </a:p>
          <a:p>
            <a:r>
              <a:rPr lang="zh-CN" dirty="0"/>
              <a:t>所以读图的时候，先找出这两次 accepted，再去找「整步持久提交」和下一轮的外部观察，不要用第一次 accepted 就宣布答复已收到。</a:t>
            </a:r>
          </a:p>
          <a:p>
            <a:r>
              <a:rPr lang="zh-CN" dirty="0"/>
              <a:t>图上画得长一点短一点，只表示阶段关系，不代表真实耗时。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请求这一侧，运行时会提供 request_id，也就是这次请求的身份；还有 agent_key 和 agent_name，说明是谁提出来的；再带上请求内容与观察时间。</a:t>
            </a:r>
          </a:p>
          <a:p>
            <a:r>
              <a:rPr lang="zh-CN" dirty="0"/>
              <a:t>回复这一侧更严格：对象只能引用自己当前待处理的真实请求 ID，答复正文写在 message 里，并必须通过本次 world-act 的 responses 提交出去。</a:t>
            </a:r>
          </a:p>
          <a:p>
            <a:r>
              <a:rPr lang="zh-CN" dirty="0"/>
              <a:t>如果只把答复写进最终总结，那不算发送，谁也不会收到；重复、伪造或不属于该对象的请求 ID，都会被拒绝。</a:t>
            </a:r>
          </a:p>
          <a:p>
            <a:r>
              <a:rPr lang="zh-CN" dirty="0"/>
              <a:t>校验落在对象交互系统里，可对照 GameObjectInteractionSystem.interact_selected 去读。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再换个角度，看看对象自己那一边在做什么。</a:t>
            </a:r>
          </a:p>
          <a:p>
            <a:r>
              <a:rPr lang="zh-CN" dirty="0"/>
              <a:t>绑定根 Skill 以后，公告栏和服务台每一步都会自主运行，哪怕此刻没有任何人提问。它们可以按需感知周围、检索自己的记忆、处理待办的请求，然后提交一次动作。</a:t>
            </a:r>
          </a:p>
          <a:p>
            <a:r>
              <a:rPr lang="zh-CN" dirty="0"/>
              <a:t>它们不是人物。固定设施不移动，所以能提交的动作只有三种：ACT 是做一件与自身有关的事，WAIT 是本轮等待，SET_OBJECT_STATE 是修改自己的状态。</a:t>
            </a:r>
          </a:p>
          <a:p>
            <a:r>
              <a:rPr lang="zh-CN" dirty="0"/>
              <a:t>这里要特别提醒：对象不是只会被动的问答机。它有自己的记忆和状态，会自己决定这一轮要做什么。</a:t>
            </a:r>
          </a:p>
          <a:p>
            <a:r>
              <a:rPr lang="zh-CN" dirty="0"/>
              <a:t>所以在观察实验的时候，不仅要看人物有没有去问，还要看对象那一步到底做了什么，两条线都要能对上。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运行时交给对象四样东西。</a:t>
            </a:r>
          </a:p>
          <a:p>
            <a:r>
              <a:rPr lang="zh-CN" dirty="0"/>
              <a:t>第一样是 object_state，当前状态，决定要不要改状态、改成什么。第二样是 last_action，上一次做了什么，用来避免重复。第三样是 interaction_requests，有哪些待处理请求。第四样是近期处理过的幂等活动键，用来判断是不是重复请求。</a:t>
            </a:r>
          </a:p>
          <a:p>
            <a:r>
              <a:rPr lang="zh-CN" dirty="0"/>
              <a:t>必须记住：在最终文本里写「已回复」不会发送任何消息。答复要放进本次动作的 responses；同一个动作可以既改状态，又答复请求。</a:t>
            </a:r>
          </a:p>
          <a:p>
            <a:r>
              <a:rPr lang="zh-CN" dirty="0"/>
              <a:t>对象也能观察本步的运动事实：感知只给视野内的实际路径片段并带事实 ID。针对已观察到的人物行动时，可填目标人物与证据编号，但证据必须来自真实感知返回，不要求每轮都凑齐。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接下来把公告更新这一段情节拆开。</a:t>
            </a:r>
          </a:p>
          <a:p>
            <a:r>
              <a:rPr lang="zh-CN" dirty="0"/>
              <a:t>这一段的重点是证据门槛：候选建议、正式更新和访客获知，三件事不能合并成一件事。</a:t>
            </a:r>
          </a:p>
          <a:p>
            <a:r>
              <a:rPr lang="zh-CN" dirty="0"/>
              <a:t>服务台从咨询里给出的，只是一个候选：原来的安排可能可以调整到十点半。这还只是建议。</a:t>
            </a:r>
          </a:p>
          <a:p>
            <a:r>
              <a:rPr lang="zh-CN" dirty="0"/>
              <a:t>林岚要自己核实这个候选站不站得住，然后决定要不要发起更新。决定之后，她要通过 INTERACT 真的向公告栏提出请求。</a:t>
            </a:r>
          </a:p>
          <a:p>
            <a:r>
              <a:rPr lang="zh-CN" dirty="0"/>
              <a:t>公告栏收到请求，按教案核对请求者和内容，然后由它自己提交一次动作，把状态从原始改成修订。</a:t>
            </a:r>
          </a:p>
          <a:p>
            <a:r>
              <a:rPr lang="zh-CN" dirty="0"/>
              <a:t>每一步都要有各自的证据，谁也不能替谁。候选人说了不算，组织者说了也不算，只有公告栏真的提交了才算。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这一段情节成立的前提，是信息被分开放。</a:t>
            </a:r>
          </a:p>
          <a:p>
            <a:r>
              <a:rPr lang="zh-CN" dirty="0"/>
              <a:t>这一章的教案给服务台一条私有的背景事实：手作室在二〇二六年十月十七日十点到十点半已经有预约。而原来的公告上仍然写着十点开始，两者冲突。</a:t>
            </a:r>
          </a:p>
          <a:p>
            <a:r>
              <a:rPr lang="zh-CN" dirty="0"/>
              <a:t>这条事实只写进服务台自己的材料，不放进四个人共用的 Brain。这一点非常关键：如果放进共同记忆，每个角色从第一轮就会通过系统提示直接知道答案。</a:t>
            </a:r>
          </a:p>
          <a:p>
            <a:r>
              <a:rPr lang="zh-CN" dirty="0"/>
              <a:t>那样的话，实验表面上可能走得很顺，但信息传播这件事完全没有被演示出来，谁回答对了也只是复述作者的答案。</a:t>
            </a:r>
          </a:p>
          <a:p>
            <a:r>
              <a:rPr lang="zh-CN" dirty="0"/>
              <a:t>顺带说一句，活动计划里的二十四、十、十六这些数字是计划元数据；这次实验只有四名 Agent，不能据此说几十人已经到场。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把从候选到正式更正的路走一遍，一共四道门槛。</a:t>
            </a:r>
          </a:p>
          <a:p>
            <a:r>
              <a:rPr lang="zh-CN" dirty="0"/>
              <a:t>第一道是服务台的私有事实：手作室十点到十点半有预约。</a:t>
            </a:r>
          </a:p>
          <a:p>
            <a:r>
              <a:rPr lang="zh-CN" dirty="0"/>
              <a:t>第二道是真实咨询。林岚去问，服务台才给出答复，提出可以调整到十点半的候选。</a:t>
            </a:r>
          </a:p>
          <a:p>
            <a:r>
              <a:rPr lang="zh-CN" dirty="0"/>
              <a:t>第三道是林岚自己核实与决定。她不能凭对方一句话就照办，要判断这个候选站不站得住，再通过 INTERACT 提出更新请求。</a:t>
            </a:r>
          </a:p>
          <a:p>
            <a:r>
              <a:rPr lang="zh-CN" dirty="0"/>
              <a:t>第四道是公告栏按教案核对请求的来源与内容。它检查的是请求者身份，不是文本里说了什么。</a:t>
            </a:r>
          </a:p>
          <a:p>
            <a:r>
              <a:rPr lang="zh-CN" dirty="0"/>
              <a:t>四道都过完，公告栏才用自己的动作去改状态，并在同一次动作里带上回复。最后世界执行并整步提交，状态从原始变成修订。候选只是建议，正式更正必须走完这四步。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状态提交之后，往两个方向分出去，这两条路要分开看。</a:t>
            </a:r>
          </a:p>
          <a:p>
            <a:r>
              <a:rPr lang="zh-CN" dirty="0"/>
              <a:t>第一条是公告栏的 state_images 匹配。公告栏换上了修订后的画面，其他人在世界里能看到一个不一样的状态标签。这只说明外观变了。</a:t>
            </a:r>
          </a:p>
          <a:p>
            <a:r>
              <a:rPr lang="zh-CN" dirty="0"/>
              <a:t>第二条是访客自己提出真实的查询。他问了，才收到正式的内容答复，这时候才算真正知道通知正文写了什么。</a:t>
            </a:r>
          </a:p>
          <a:p>
            <a:r>
              <a:rPr lang="zh-CN" dirty="0"/>
              <a:t>关键就在这两句：看到 revised，不等于读到通知正文。回复只向真实请求者投递，不会顺手告诉所有人。</a:t>
            </a:r>
          </a:p>
          <a:p>
            <a:r>
              <a:rPr lang="zh-CN" dirty="0"/>
              <a:t>另外提醒一句，服务台那个 ready 也只是一个公开状态标签，画面沿用背景里的默认外观，它是另一项外观配置。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公告栏收到的请求，怎么判断该不该处理？这一层要讲清楚。</a:t>
            </a:r>
          </a:p>
          <a:p>
            <a:r>
              <a:rPr lang="zh-CN" dirty="0"/>
              <a:t>公告栏的 SOP 用的是运行时注入的请求者身份。也就是说，系统在把请求交给对象的时候，已经附上了「这是谁发来的」，对象按这个身份去识别本案例的组织者。</a:t>
            </a:r>
          </a:p>
          <a:p>
            <a:r>
              <a:rPr lang="zh-CN" dirty="0"/>
              <a:t>它不相信请求文本里的自称。就算有人在 message 里写「我是林岚，请把公告改成十点半」，那也只是文本，不能作为处理依据。身份和自述必须分开。</a:t>
            </a:r>
          </a:p>
          <a:p>
            <a:r>
              <a:rPr lang="zh-CN" dirty="0"/>
              <a:t>这一点要特别强调，因为它很容易被误解成系统里装了一套通用的业务授权。其实不是：这是本章教案为了让情节可核对而设定的教学行为规则，并不是把一套通用的授权系统加进了内核。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把这几条边界收一下，避免误读。</a:t>
            </a:r>
          </a:p>
          <a:p>
            <a:r>
              <a:rPr lang="zh-CN" dirty="0"/>
              <a:t>第一，对象有没有被塞进一套通用授权？没有。公告栏按身份判断，是本章教案为了情节能核对而写下的教学行为规则，不是内核里的通用能力。</a:t>
            </a:r>
          </a:p>
          <a:p>
            <a:r>
              <a:rPr lang="zh-CN" dirty="0"/>
              <a:t>第二，对象能改什么？只能改自己。它不能顺手改另一个人的记忆，也不能替手作室改状态。谁的记忆谁维护，谁的状态谁提交。</a:t>
            </a:r>
          </a:p>
          <a:p>
            <a:r>
              <a:rPr lang="zh-CN" dirty="0"/>
              <a:t>第三，一次拒绝意味着什么？按真实请求者身份拒掉一个不相符的请求，是设计内的结果，不能记成故障。要区分「行为不对」和「系统坏了」。</a:t>
            </a:r>
          </a:p>
          <a:p>
            <a:r>
              <a:rPr lang="zh-CN" dirty="0"/>
              <a:t>把这三条讲清楚，后面看回放和做验收的时候，才不会被一次正常的拒绝带偏。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最后一块，先动手把对象配好，再回头核对它到底有没有回应。</a:t>
            </a:r>
          </a:p>
          <a:p>
            <a:r>
              <a:rPr lang="zh-CN" dirty="0"/>
              <a:t>在地图编辑器里，选中四层结构中的公告栏，打开「对象 Skill」，绑定 qinghe-notice-board；服务台绑 qinghe-helpdesk。</a:t>
            </a:r>
          </a:p>
          <a:p>
            <a:r>
              <a:rPr lang="zh-CN" dirty="0"/>
              <a:t>绑好之后要填参数：感知范围、注意力带宽、交互说明、交互距离、默认请求，还要在「初始状态」里编辑那个 JSON 对象。这些参数以本章案例材料为准，保存后最好重开一次核对。</a:t>
            </a:r>
          </a:p>
          <a:p>
            <a:r>
              <a:rPr lang="zh-CN" dirty="0"/>
              <a:t>配置完还不算结束。运行中必须能找到一个真实的 SET_OBJECT_STATE，加上回放里的状态变化，才能证明公告栏这一次真的把公告更新了。</a:t>
            </a:r>
          </a:p>
          <a:p>
            <a:r>
              <a:rPr lang="zh-CN" dirty="0"/>
              <a:t>所以这一段是两件事：先配，再验。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在地图编辑器里把对象配起来，步骤很直白。</a:t>
            </a:r>
          </a:p>
          <a:p>
            <a:r>
              <a:rPr lang="zh-CN" dirty="0"/>
              <a:t>先选中四层结构里的公告栏，打开「对象 Skill」，绑定 qinghe-notice-board。服务台同理，绑 qinghe-helpdesk。</a:t>
            </a:r>
          </a:p>
          <a:p>
            <a:r>
              <a:rPr lang="zh-CN" dirty="0"/>
              <a:t>绑定之后展开「感知与交互参数」，把感知范围、注意力带宽、交互说明、交互距离和默认请求填进去；「初始状态」里编辑那个 JSON 对象。</a:t>
            </a:r>
          </a:p>
          <a:p>
            <a:r>
              <a:rPr lang="zh-CN" dirty="0"/>
              <a:t>这些数值不是随手写的，以本章案例材料为准。填完保存，最好关掉重开一次再核对，因为配置写错地方很容易看不出来。</a:t>
            </a:r>
          </a:p>
          <a:p>
            <a:r>
              <a:rPr lang="zh-CN" dirty="0"/>
              <a:t>参数决定它能不能感知到你、能不能和你交互，配错了后面的情节根本走不通。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配置里有一组东西特别容易混：状态标签和换图映射。</a:t>
            </a:r>
          </a:p>
          <a:p>
            <a:r>
              <a:rPr lang="zh-CN" dirty="0"/>
              <a:t>换图映射管的是画面。公告栏有两张状态图片，通过 state_images 分别对应 original 和 revised，状态一变，画面就换。</a:t>
            </a:r>
          </a:p>
          <a:p>
            <a:r>
              <a:rPr lang="zh-CN" dirty="0"/>
              <a:t>状态标签管的是「对外公开的状态叫什么」。服务台的 ready 就是一个公开状态标签，但它的画面沿用背景里的默认外观，不需要另外配一张 ready 的状态图片。</a:t>
            </a:r>
          </a:p>
          <a:p>
            <a:r>
              <a:rPr lang="zh-CN" dirty="0"/>
              <a:t>所以这两项相关但不同：一项决定换什么图，一项决定它公开叫什么状态。</a:t>
            </a:r>
          </a:p>
          <a:p>
            <a:r>
              <a:rPr lang="zh-CN" dirty="0"/>
              <a:t>最后提醒：手动切图只能验证素材映射；要证明 Skill 真的更新了，还得在运行中找到真实的 SET_OBJECT_STATE，再看回放里的状态变化。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到了验收这一步，就沿请求链一条一条问，一共四个问题。</a:t>
            </a:r>
          </a:p>
          <a:p>
            <a:r>
              <a:rPr lang="zh-CN" dirty="0"/>
              <a:t>第一个问题：谁在什么位置发出请求。位置和身份都要能对上，不能只说「有人问过」。</a:t>
            </a:r>
          </a:p>
          <a:p>
            <a:r>
              <a:rPr lang="zh-CN" dirty="0"/>
              <a:t>第二个问题：对象处理了哪个请求 ID。要用真实的请求身份，而不是笼统地说对象答复了。</a:t>
            </a:r>
          </a:p>
          <a:p>
            <a:r>
              <a:rPr lang="zh-CN" dirty="0"/>
              <a:t>第三个问题：答复有没有进入指定 Agent 的下一轮。只有进入下一轮的外部观察，才说明这个人确实收到了。</a:t>
            </a:r>
          </a:p>
          <a:p>
            <a:r>
              <a:rPr lang="zh-CN" dirty="0"/>
              <a:t>第四个问题最关键：其他人有没有在未获知消息之前，就提前改变了认识。许安如果从没问过，却准确说出了新的开始时间，那说明信息漏出去了，这条链的隔离就没有成立。</a:t>
            </a:r>
          </a:p>
          <a:p>
            <a:r>
              <a:rPr lang="zh-CN" dirty="0"/>
              <a:t>四个问题都答得上，这条传播才算真的成立。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具体到哪里看人物之间的会话。</a:t>
            </a:r>
          </a:p>
          <a:p>
            <a:r>
              <a:rPr lang="zh-CN" dirty="0"/>
              <a:t>打开「结果」，进到 Agent，先选择要看哪个人物，再把他结构化内容里的「对话」切换出来。</a:t>
            </a:r>
          </a:p>
          <a:p>
            <a:r>
              <a:rPr lang="zh-CN" dirty="0"/>
              <a:t>这个页面给的是会话摘要：有哪些会话、参与范围、大致情况。它能帮你快速找到该看哪一段。</a:t>
            </a:r>
          </a:p>
          <a:p>
            <a:r>
              <a:rPr lang="zh-CN" dirty="0"/>
              <a:t>但它不给完整消息，也不给真实的消息顺序。要核实某句话到底有没有说、谁先谁后，还得回到事实记录和回放里去对照。</a:t>
            </a:r>
          </a:p>
          <a:p>
            <a:r>
              <a:rPr lang="zh-CN" dirty="0"/>
              <a:t>另外要注意，对象给出的答复和人物之间的会话不是同一类东西。它要走事件和那个角色收到的外部观察，不能塞进同一个聊天线程里看。</a:t>
            </a:r>
          </a:p>
          <a:p>
            <a:r>
              <a:rPr lang="zh-CN" dirty="0"/>
              <a:t>所以面板是入口，不是结论。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对象的答复要落在两处证据上，缺一处都不够。</a:t>
            </a:r>
          </a:p>
          <a:p>
            <a:r>
              <a:rPr lang="zh-CN" dirty="0"/>
              <a:t>先看事件：对象在这一步提交了什么动作，这个动作里附带了哪条答复。这能说明对象确实处理了请求。</a:t>
            </a:r>
          </a:p>
          <a:p>
            <a:r>
              <a:rPr lang="zh-CN" dirty="0"/>
              <a:t>再看观察：目标角色收到的外部观察里，有没有出现同一条答复。这才能说明这个人确实收到了。</a:t>
            </a:r>
          </a:p>
          <a:p>
            <a:r>
              <a:rPr lang="zh-CN" dirty="0"/>
              <a:t>这两处要能对上，而且是同一个请求、同一段内容。只看到其中一处，还只是我们以为他收到了。</a:t>
            </a:r>
          </a:p>
          <a:p>
            <a:r>
              <a:rPr lang="zh-CN" dirty="0"/>
              <a:t>最后一个提醒：不要把对象答复和人物会话混成一个聊天线程去读。读起来通顺，证据却对不上，验收的时候就会发现说不清。</a:t>
            </a:r>
          </a:p>
          <a:p>
            <a:r>
              <a:rPr lang="zh-CN" dirty="0"/>
              <a:t>分辨方法很简单：先问这条内容是谁提交的，再问它落在谁的观察里。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还有一个门槛：别只看每个人的自述，要看有没有真正的一来一回。</a:t>
            </a:r>
          </a:p>
          <a:p>
            <a:r>
              <a:rPr lang="zh-CN" dirty="0"/>
              <a:t>什么才算？一名 Agent 提出一个问题，另一名 Agent 在自己的行动里做出回答。提问有身份，回答有自己的动作，这条链才闭合。</a:t>
            </a:r>
          </a:p>
          <a:p>
            <a:r>
              <a:rPr lang="zh-CN" dirty="0"/>
              <a:t>反过来说，如果只有一个角色在消息里写下两个人的引号台词，那也只形成了这个角色的一条发言。它不能证明对方参与了会话，更不能证明对方听到过。</a:t>
            </a:r>
          </a:p>
          <a:p>
            <a:r>
              <a:rPr lang="zh-CN" dirty="0"/>
              <a:t>这种偏差很常见：模型把整个场景写得非常完整，台词、语气、来回都很像，但没有通过工具让其他参与者真的动起来。</a:t>
            </a:r>
          </a:p>
          <a:p>
            <a:r>
              <a:rPr lang="zh-CN" dirty="0"/>
              <a:t>所以验收的时候不要被文本的完整度骗过去。要问一句：另一方的动作在哪儿？如果找不到，这段对话就没有真的发生。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最后说清观察窗口能证明什么，这一点经常被写错。</a:t>
            </a:r>
          </a:p>
          <a:p>
            <a:r>
              <a:rPr lang="zh-CN" dirty="0"/>
              <a:t>这一案例建议的四十八步，观察到的是十点半调整之后的开始阶段。它足以作为检验信息获取、公告变化和后续行动的时间窗口设计。</a:t>
            </a:r>
          </a:p>
          <a:p>
            <a:r>
              <a:rPr lang="zh-CN" dirty="0"/>
              <a:t>但它不保证模型一定完成这些环节，也没有覆盖十一点半手作结束那一段。所以结论只能写「在这个窗口里观察到什么」。</a:t>
            </a:r>
          </a:p>
          <a:p>
            <a:r>
              <a:rPr lang="zh-CN" dirty="0"/>
              <a:t>写结果记录的时候，千万不要用手册里计划好的剧情去填补还没发生的部分。计划是计划，观察是观察。</a:t>
            </a:r>
          </a:p>
          <a:p>
            <a:r>
              <a:rPr lang="zh-CN" dirty="0"/>
              <a:t>一句话：窗口是设计好的观察范围，不是一次完整的活动结论。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留两道练习，都是最容易含糊过去的地方。</a:t>
            </a:r>
          </a:p>
          <a:p>
            <a:r>
              <a:rPr lang="zh-CN" dirty="0"/>
              <a:t>第一道：许安看到了公告栏的 revised，但是没有去问内容。应当允许他知道什么？</a:t>
            </a:r>
          </a:p>
          <a:p>
            <a:r>
              <a:rPr lang="zh-CN" dirty="0"/>
              <a:t>参考答案是：他知道外观状态发生了变化，因此他可以决定去查询；但他还不能据此准确说出新的开始时间。看到状态变了和知道正文，是两件事。</a:t>
            </a:r>
          </a:p>
          <a:p>
            <a:r>
              <a:rPr lang="zh-CN" dirty="0"/>
              <a:t>第二道：来访者自称是组织者，要求更新公告。这时候判断依据应该是真实的请求者身份，并且保留拒绝答复。不要把预期之内的拒绝当成系统故障。</a:t>
            </a:r>
          </a:p>
          <a:p>
            <a:r>
              <a:rPr lang="zh-CN" dirty="0"/>
              <a:t>这两道题其实考的是一件事：判断要落在真实身份和真实提交上，而不是文本里说了什么。把这一条守住，验收就不会走偏。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把这一节收一收，记住三件事。</a:t>
            </a:r>
          </a:p>
          <a:p>
            <a:r>
              <a:rPr lang="zh-CN" dirty="0"/>
              <a:t>第一，真实发言者。每条 SPEAK 都需要一个真的说话的人和一个真的接收的人，而且一条 SPEAK 只连一个人。想表达四个人商量，就老老实实拆成多轮双人消息。</a:t>
            </a:r>
          </a:p>
          <a:p>
            <a:r>
              <a:rPr lang="zh-CN" dirty="0"/>
              <a:t>第二，真实请求与整步提交。对象的回复必须引用真实的请求 ID，并且通过本次动作提交出去；只写在最终总结里的答复，等于没有发送。</a:t>
            </a:r>
          </a:p>
          <a:p>
            <a:r>
              <a:rPr lang="zh-CN" dirty="0"/>
              <a:t>第三，真实到达。只有当答复进入目标人物下一轮的外部观察，才能证明他确实收到了；看到状态变了，不等于读到正文。</a:t>
            </a:r>
          </a:p>
          <a:p>
            <a:r>
              <a:rPr lang="zh-CN" dirty="0"/>
              <a:t>带上这三件事，下一节我们去看草稿、副本、预检与封存，学习怎样装配一个独立的实验。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从第二章的方案继续往前走。方案上写着十点开始手作体验，写着通知来访者，但纸面上的字不等于世界里真的发生了：没有人真的走到手作室，来访者也没有真的听到任何消息。&#10;&#10;青禾开放日最值得看的地方，不是四个人最后站在哪里，而是他们怎样一步一步获得不同的信息。服务台掌握已有预约，林岚负责组织安排，公告栏保存当前公开通知，来访者只能靠咨询或交谈来更新认识。&#10;&#10;所以要让行为变化能被解释，信息就必须沿真实发生的交互传播：发言的人是真的，接收的人是真的，留下的事实也是真的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在共同世界中行动：用完整案例学习 GenerativeAgentsCN　·　3.7&lt;/Text&gt;&#10;    &lt;/Box&gt;&#10;&#10;    &lt;Box style={{ height: 540, flexDirection: 'row', alignItems: 'center', gap: 32 }}&gt;&#10;&#10;        &lt;Box style={{ width: 560, flexDirection: 'column', justifyContent: 'center', gap: 14 }}&gt;&#10;            &lt;Text style={{ fontSize: 52, fontWeight: 'bold', color: '#20344B', lineHeight: 1.2 }}&gt;让信息通过{'\n'}真实交互传播&lt;/Text&gt;&#10;            &lt;Box style={{ width: 72, height: 4, background: '#276FBF' }} /&gt;&#10;            &lt;Text style={{ fontSize: 17, color: '#546779', lineHeight: 1.7, width: 560 }}&gt;四个人物和两个对象掌握的信息并不相同。只有沿真实渠道发生的发言、请求与回应，才能解释行为怎样改变。&lt;/Text&gt;&#10;            &lt;Box style={{ flexDirection: 'row', gap: 12, marginTop: 4 }}&gt;&#10;                &lt;Box style={{ width: 128, height: 42, background: '#EDF4FC', borderRadius: 8, justifyContent: 'center', alignItems: 'center' }}&gt;&#10;                    &lt;Text style={{ fontSize: 15, color: '#276FBF' }}&gt;真实发言者&lt;/Text&gt;&#10;                &lt;/Box&gt;&#10;                &lt;Box style={{ width: 128, height: 42, background: '#EDF4FC', borderRadius: 8, justifyContent: 'center', alignItems: 'center' }}&gt;&#10;                    &lt;Text style={{ fontSize: 15, color: '#276FBF' }}&gt;真实请求&lt;/Text&gt;&#10;                &lt;/Box&gt;&#10;                &lt;Box style={{ width: 128, height: 42, background: '#ECF7F2', borderRadius: 8, justifyContent: 'center', alignItems: 'center' }}&gt;&#10;                    &lt;Text style={{ fontSize: 15, color: '#26816B' }}&gt;整步提交&lt;/Text&gt;&#10;                &lt;/Box&gt;&#10;                &lt;Box style={{ width: 128, height: 42, background: '#FFF4E6', borderRadius: 8, justifyContent: 'center', alignItems: 'center' }}&gt;&#10;                    &lt;Text style={{ fontSize: 15, color: '#CB6B28' }}&gt;事实取证&lt;/Text&gt;&#10;                &lt;/Box&gt;&#10;            &lt;/Box&gt;&#10;        &lt;/Box&gt;&#10;&#10;        &lt;Box style={{ width: 560, flexDirection: 'column', justifyContent: 'center', gap: 10 }}&gt;&#10;            &lt;Box style={{ width: 560, height: 96, background: '#EDF4FC', borderRadius: 10, padding: '0 20px', flexDirection: 'column', gap: 4, justifyContent: 'center' }}&gt;&#10;                &lt;Text style={{ fontSize: 20, fontWeight: 'bold', color: '#276FBF' }}&gt;人与人对话　·　SPEAK&lt;/Text&gt;&#10;                &lt;Text style={{ fontSize: 14, color: '#546779' }}&gt;一条 SPEAK 恰好连接一名其他 Agent&lt;/Text&gt;&#10;            &lt;/Box&gt;&#10;            &lt;Box style={{ width: 560, height: 30, justifyContent: 'center', alignItems: 'center' }}&gt;&#10;                &lt;Text style={{ fontSize: 22, color: '#276FBF' }}&gt;↓&lt;/Text&gt;&#10;            &lt;/Box&gt;&#10;            &lt;Box style={{ width: 560, height: 96, background: '#ECF7F2', borderRadius: 10, padding: '0 20px', flexDirection: 'column', gap: 4, justifyContent: 'center' }}&gt;&#10;                &lt;Text style={{ fontSize: 20, fontWeight: 'bold', color: '#26816B' }}&gt;人与对象请求　·　INTERACT&lt;/Text&gt;&#10;                &lt;Text style={{ fontSize: 14, color: '#546779' }}&gt;选择键取自感知，请求与回复随整步提交&lt;/Text&gt;&#10;            &lt;/Box&gt;&#10;            &lt;Box style={{ width: 560, height: 30, justifyContent: 'center', alignItems: 'center' }}&gt;&#10;                &lt;Text style={{ fontSize: 22, color: '#26816B' }}&gt;↓&lt;/Text&gt;&#10;            &lt;/Box&gt;&#10;            &lt;Box style={{ width: 560, height: 96, background: '#F7F3E8', borderRadius: 10, padding: '0 20px', flexDirection: 'column', gap: 4, justifyContent: 'center' }}&gt;&#10;                &lt;Text style={{ fontSize: 20, fontWeight: 'bold', color: '#20344B' }}&gt;对象自己的行动&lt;/Text&gt;&#10;                &lt;Text style={{ fontSize: 14, color: '#546779' }}&gt;每 Step 自主运行，只修改自身状态&lt;/Text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在共同世界中行动：用完整案例学习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GenerativeAgentsCN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3.7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5334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让信息通过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真实交互传播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5334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四个人物和两个对象掌握的信息并不相同。只有沿真实渠道发生的发言、请求与回应，才能解释行为怎样改变。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66775" y="4914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真实发言者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943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2669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真实请求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276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6004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整步提交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610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9339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事实取证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248400" y="1866900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438900" y="2114550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人与人对话　·　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SPEAK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438900" y="238125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恰好连接一名其他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867775" y="289560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248400" y="3257550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438900" y="3505200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人与对象请求　·　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INTERACT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438900" y="377190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选择键取自感知，请求与回复随整步提交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867775" y="428625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248400" y="4648200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438900" y="4895850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对象自己的行动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438900" y="516255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自主运行，只修改自身状态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76" name="" descr="&lt;Slide notes={`先把这一节要看清的东西摆出来，一共四块。&#10;&#10;第一块是人和人怎么说话：一条 SPEAK 恰好连接一名其他 Agent，所以「四个人开会」要拆成多轮双人消息，会话身份也不能自己编。&#10;&#10;第二块是人和对象怎么说话：INTERACT 只负责把请求交出去，选择键要从感知结果里取，工具层的接受信息不等于对方已经答复。&#10;&#10;第三块是对象自己怎么动：绑定根 Skill 之后，公告栏与服务台每一步都会自主运行，公告更新要经过真实请求和自身提交两道关口。&#10;&#10;第四块是配置与核对：在地图页面绑定对象 Skill，再沿请求链查清楚谁发的、处理了哪个请求、答复有没有真的进入下一个人的视野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　对话与对象 Skill：让信息通过真实交互传播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32 }}&gt;&#10;&#10;        &lt;Box style={{ width: 300, flexDirection: 'column', gap: 18 }}&gt;&#10;            &lt;Text style={{ fontSize: 17, color: '#546779', lineHeight: 1.75, width: 300 }}&gt;信息不会自己传过去。人和人怎么说话、人和对象怎么说话、对象自己怎么动、配好之后怎么核对，这四件事决定观察能不能站住。&lt;/Text&gt;&#10;            &lt;Box style={{ width: 300, height: 110, background: '#FFF4E6', borderRadius: 10, padding: '14px 18px', flexDirection: 'column', gap: 6, justifyContent: 'center' }}&gt;&#10;                &lt;Text style={{ fontSize: 16, fontWeight: 'bold', color: '#CB6B28' }}&gt;谁真的收到了&lt;/Text&gt;&#10;                &lt;Text style={{ fontSize: 14, color: '#546779', lineHeight: 1.5 }}&gt;一句话说出口，不等于对方已经知道；请求被接受，不等于业务答复已经到了。&lt;/Text&gt;&#10;            &lt;/Box&gt;&#10;        &lt;/Box&gt;&#10;&#10;        &lt;Box style={{ width: 820, flexDirection: 'column', gap: 14 }}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1&lt;/Text&gt;&#10;                &lt;/Box&gt;&#10;                &lt;Box style={{ flexDirection: 'column', gap: 4 }}&gt;&#10;                    &lt;Text style={{ fontSize: 20, fontWeight: 'bold', color: '#20344B' }}&gt;人与人对话 · SPEAK&lt;/Text&gt;&#10;                    &lt;Text style={{ fontSize: 14, color: '#546779' }}&gt;一条 SPEAK 恰好连接一名其他 Agent；会话身份只能取自真实返回值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2&lt;/Text&gt;&#10;                &lt;/Box&gt;&#10;                &lt;Box style={{ flexDirection: 'column', gap: 4 }}&gt;&#10;                    &lt;Text style={{ fontSize: 20, fontWeight: 'bold', color: '#20344B' }}&gt;人与对象请求 · INTERACT&lt;/Text&gt;&#10;                    &lt;Text style={{ fontSize: 14, color: '#546779' }}&gt;选择键来自感知结果；请求被接受，不等于答复已经收到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3&lt;/Text&gt;&#10;                &lt;/Box&gt;&#10;                &lt;Box style={{ flexDirection: 'column', gap: 4 }}&gt;&#10;                    &lt;Text style={{ fontSize: 20, fontWeight: 'bold', color: '#20344B' }}&gt;对象自己的行动&lt;/Text&gt;&#10;                    &lt;Text style={{ fontSize: 14, color: '#546779' }}&gt;对象每 Step 自主运行，候选建议与正式更新要分开核对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4&lt;/Text&gt;&#10;                &lt;/Box&gt;&#10;                &lt;Box style={{ flexDirection: 'column', gap: 4 }}&gt;&#10;                    &lt;Text style={{ fontSize: 20, fontWeight: 'bold', color: '#20344B' }}&gt;配置与核对&lt;/Text&gt;&#10;                    &lt;Text style={{ fontSize: 14, color: '#546779' }}&gt;绑定对象 Skill，再沿请求链核对消息是否真正到达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02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09600" y="2428875"/>
            <a:ext cx="285750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信息不会自己传过去。人和人怎么说话、人和对象怎么说话、对象自己怎么动、配好之后怎么核对，这四件事决定观察能不能站住。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09600" y="3962400"/>
            <a:ext cx="28575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81050" y="4124325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谁真的收到了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81050" y="4371975"/>
            <a:ext cx="2514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一句话说出口，不等于对方已经知道；请求被接受，不等于业务答复已经到了。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3771900" y="160972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3962400" y="1876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114800" y="19716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4533900" y="1876425"/>
            <a:ext cx="4257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人与人对话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SPEAK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4533900" y="2143125"/>
            <a:ext cx="425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恰好连接一名其他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；会话身份只能取自真实返回值。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3771900" y="269557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3962400" y="29622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114800" y="30575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533900" y="2962275"/>
            <a:ext cx="346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人与对象请求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INTERACT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533900" y="3228975"/>
            <a:ext cx="3467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选择键来自感知结果；请求被接受，不等于答复已经收到。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3771900" y="378142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3962400" y="40481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114800" y="41433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533900" y="404812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对象自己的行动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533900" y="4314825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自主运行，候选建议与正式更新要分开核对。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3771900" y="486727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3962400" y="51339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114800" y="52292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533900" y="5133975"/>
            <a:ext cx="3105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配置与核对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533900" y="5400675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绑定对象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，再沿请求链核对消息是否真正到达。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31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56" name="" descr="&lt;Slide notes={`这一块先解决人和人怎么说话。&#10;&#10;在青禾这个案例里，周宁把服务台的答复转述给林岚，林岚再以本人身份回应问题。两次发言都要真的发出去：第一次是周宁说，第二次必须由林岚自己说。&#10;&#10;这里有一条很容易被忽略的限制：一次 SPEAK 只连接一名其他 Agent。所以「四个人开个会」不能靠一条消息塞进三个收件人，只能拆成一轮一轮的双人消息。&#10;&#10;而且发言不是凭想象补全的。每条 SPEAK 都需要一个真实发言者和一个真实接收者，谁说了什么、谁听到了什么，都要能在提交的事实里找到。消息方向的示意图只是示意，不代表对话真的发生过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1　　3.7.1&lt;/Text&gt;&#10;&#10;        &lt;Text style={{ fontSize: 56, fontWeight: 'bold', color: '#20344B', lineHeight: 1.15 }}&gt;一次 SPEAK 连接两名 Agent&lt;/Text&gt;&#10;&#10;        &lt;Box style={{ width: 72, height: 4, background: '#276FBF' }} /&gt;&#10;&#10;        &lt;Text style={{ fontSize: 18, color: '#546779', lineHeight: 1.7, width: 900 }}&gt;每条 SPEAK 都需要一个真实发言者和一个真实接收者；消息方向示意不是已发生的对话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发言者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会话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接收者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03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3.7.1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一次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连接两名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每条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都需要一个真实发言者和一个真实接收者；消息方向示意不是已发生的对话。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1781175" y="42576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发言者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51435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会话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8334375" y="42576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接收者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31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605" name="" descr="&lt;Slide notes={`说清楚一次发言需要带什么。&#10;&#10;人物用 world-act 的 SPEAK 来说话，要提供两个东西：一个参与键列表，也就是 participant_agent_keys，还有一段 message 正文。这里的关键限制是，当前实现要求恰好一个其他 Agent。&#10;&#10;所以想表达「四个人一起商量」，只能一轮一轮来：周宁先对林岚说，林岚再对周宁说，需要的话再各自对第三个人说。一条消息不能同时塞给三个收件人。&#10;&#10;周宁转述服务台答复、并向林岚提问，这是一次发言；林岚要确认自己真的拿到了发言内容，然后以本人身份做出回应，这是另一次发言。把这两次混成一条消息，就等于替对方说话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1　一次 SPEAK 连接两名 Agent&lt;/Text&gt;&#10;            &lt;Text style={{ fontSize: 34, fontWeight: 'bold', color: '#20344B' }}&gt;一条 SPEAK 只连一个人&lt;/Text&gt;&#10;        &lt;/Box&gt;&#10;    &lt;/Box&gt;&#10;&#10;    &lt;Box style={{ height: 540, flexDirection: 'column', justifyContent: 'center', gap: 14 }}&gt;&#10;&#10;        &lt;Box style={{ width: 1152, height: 76, background: '#F4F7FA', borderRadius: 10, padding: '0 20px', flexDirection: 'row', alignItems: 'center', gap: 18 }}&gt;&#10;            &lt;Box style={{ width: 4, height: 44, background: '#276FBF' }} /&gt;&#10;            &lt;Box style={{ flexDirection: 'column', gap: 3 }}&gt;&#10;                &lt;Text style={{ fontSize: 16, fontWeight: 'bold', color: '#276FBF' }}&gt;world-act：SPEAK&lt;/Text&gt;&#10;                &lt;Text style={{ fontSize: 14, color: '#546779' }}&gt;提供 participant_agent_keys 与 message；参与键要写真实存在的其他 Agent&lt;/Text&gt;&#10;            &lt;/Box&gt;&#10;        &lt;/Box&gt;&#10;&#10;        &lt;Box style={{ height: 96, flexDirection: 'row' }}&gt;&#10;            &lt;Box style={{ width: 140, height: 96, background: '#EDF4FC', borderRadius: 8, justifyContent: 'center', alignItems: 'center' }}&gt;&#10;                &lt;Text style={{ fontSize: 17, fontWeight: 'bold', color: '#276FBF' }}&gt;周宁&lt;/Text&gt;&#10;            &lt;/Box&gt;&#10;            &lt;Box style={{ width: 44, height: 96, justifyContent: 'center', alignItems: 'center' }}&gt;&#10;                &lt;Text style={{ fontSize: 24, color: '#276FBF' }}&gt;›&lt;/Text&gt;&#10;            &lt;/Box&gt;&#10;            &lt;Box style={{ width: 480, height: 96, background: '#EDF4FC', borderRadius: 8, padding: '12px 18px', flexDirection: 'column', gap: 4, justifyContent: 'center' }}&gt;&#10;                &lt;Text style={{ fontSize: 15, fontWeight: 'bold', color: '#276FBF' }}&gt;SPEAK：转述服务台答复并提问&lt;/Text&gt;&#10;                &lt;Text style={{ fontSize: 14, color: '#546779' }}&gt;participant_agent_keys 只填林岚一人&lt;/Text&gt;&#10;            &lt;/Box&gt;&#10;            &lt;Box style={{ width: 44, height: 96, justifyContent: 'center', alignItems: 'center' }}&gt;&#10;                &lt;Text style={{ fontSize: 24, color: '#26816B' }}&gt;›&lt;/Text&gt;&#10;            &lt;/Box&gt;&#10;            &lt;Box style={{ width: 140, height: 96, background: '#ECF7F2', borderRadius: 8, justifyContent: 'center', alignItems: 'center' }}&gt;&#10;                &lt;Text style={{ fontSize: 17, fontWeight: 'bold', color: '#26816B' }}&gt;林岚&lt;/Text&gt;&#10;            &lt;/Box&gt;&#10;        &lt;/Box&gt;&#10;&#10;        &lt;Box style={{ height: 96, flexDirection: 'row' }}&gt;&#10;            &lt;Box style={{ width: 140, height: 96, background: '#ECF7F2', borderRadius: 8, justifyContent: 'center', alignItems: 'center' }}&gt;&#10;                &lt;Text style={{ fontSize: 17, fontWeight: 'bold', color: '#26816B' }}&gt;林岚&lt;/Text&gt;&#10;            &lt;/Box&gt;&#10;            &lt;Box style={{ width: 44, height: 96, justifyContent: 'center', alignItems: 'center' }}&gt;&#10;                &lt;Text style={{ fontSize: 24, color: '#26816B' }}&gt;›&lt;/Text&gt;&#10;            &lt;/Box&gt;&#10;            &lt;Box style={{ width: 480, height: 96, background: '#ECF7F2', borderRadius: 8, padding: '12px 18px', flexDirection: 'column', gap: 4, justifyContent: 'center' }}&gt;&#10;                &lt;Text style={{ fontSize: 15, fontWeight: 'bold', color: '#26816B' }}&gt;SPEAK：以本人身份回应问题&lt;/Text&gt;&#10;                &lt;Text style={{ fontSize: 14, color: '#546779' }}&gt;先在感知结果里核对现场与所属会话，再发言&lt;/Text&gt;&#10;            &lt;/Box&gt;&#10;            &lt;Box style={{ width: 44, height: 96, justifyContent: 'center', alignItems: 'center' }}&gt;&#10;                &lt;Text style={{ fontSize: 24, color: '#276FBF' }}&gt;›&lt;/Text&gt;&#10;            &lt;/Box&gt;&#10;            &lt;Box style={{ width: 140, height: 96, background: '#EDF4FC', borderRadius: 8, justifyContent: 'center', alignItems: 'center' }}&gt;&#10;                &lt;Text style={{ fontSize: 17, fontWeight: 'bold', color: '#276FBF' }}&gt;周宁&lt;/Text&gt;&#10;            &lt;/Box&gt;&#10;        &lt;/Box&gt;&#10;&#10;        &lt;Box style={{ width: 1152, height: 96, background: '#FFF4E6', borderRadius: 10, padding: '0 20px', flexDirection: 'row', alignItems: 'center', gap: 18 }}&gt;&#10;            &lt;Box style={{ width: 4, height: 48, background: '#CB6B28' }} /&gt;&#10;            &lt;Box style={{ flexDirection: 'column', gap: 3 }}&gt;&#10;                &lt;Text style={{ fontSize: 16, fontWeight: 'bold', color: '#CB6B28' }}&gt;当前实现要求恰好一个其他 Agent&lt;/Text&gt;&#10;                &lt;Text style={{ fontSize: 14, color: '#546779' }}&gt;「四个人开会」必须由多轮双人消息组成，不能一次塞入三个收件人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04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33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连接两名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33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一条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只连一个人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609600" y="178117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1" name=""/>
          <p:cNvSpPr/>
          <p:nvPr/>
        </p:nvSpPr>
        <p:spPr>
          <a:xfrm rot="0" flipH="0" flipV="0">
            <a:off x="800100" y="19335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1009650" y="1952625"/>
            <a:ext cx="4695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world-act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：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SPEAK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1009650" y="2171700"/>
            <a:ext cx="4695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提供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participant_agent_keys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message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；参与键要写真实存在的其他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609600" y="2638425"/>
            <a:ext cx="13335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1114425" y="300037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周宁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2114550" y="29622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2362200" y="2638425"/>
            <a:ext cx="45720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2533650" y="2914650"/>
            <a:ext cx="422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SPEAK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：转述服务台答复并提问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2533650" y="3124200"/>
            <a:ext cx="422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participant_agent_keys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只填林岚一人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7105650" y="29622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7353300" y="2638425"/>
            <a:ext cx="133350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7858125" y="300037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609600" y="3686175"/>
            <a:ext cx="133350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1114425" y="40481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2114550" y="40100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2362200" y="3686175"/>
            <a:ext cx="457200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2533650" y="3962400"/>
            <a:ext cx="422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SPEAK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：以本人身份回应问题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2533650" y="4171950"/>
            <a:ext cx="422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先在感知结果里核对现场与所属会话，再发言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7105650" y="40100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7353300" y="3686175"/>
            <a:ext cx="13335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7858125" y="40481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周宁</a:t>
            </a:r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609600" y="47339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33" name=""/>
          <p:cNvSpPr/>
          <p:nvPr/>
        </p:nvSpPr>
        <p:spPr>
          <a:xfrm rot="0" flipH="0" flipV="0">
            <a:off x="800100" y="496252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1009650" y="5000625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当前实现要求恰好一个其他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1009650" y="5219700"/>
            <a:ext cx="4133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「四个人开会」必须由多轮双人消息组成，不能一次塞入三个收件人。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31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38" name="" descr="&lt;Slide notes={`接下来处理会话本身的身份，这件事很容易出错。&#10;&#10;如果这是一次新会话，可以省略 conversation_id，由运行时去建立或者复用一个合适的会话，不必自己指定。&#10;&#10;如果要继续已经存在的会话，就必须使用运行时真实返回、而且确实属于这两名参与者的那个 ID。不要自己拼一个 UUID 填进去，看起来像那么回事，但后续的可见性和事实核对都会对不上。&#10;&#10;需要结束的时候，可以提交 end_conversation，标记这次会话可以收尾。&#10;&#10;还有一点：不要为每一句回复都另开一个线程。同一段对话就沿同一个会话走，否则读者根本看不出这是一来一回，证据也被切碎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1　一次 SPEAK 连接两名 Agent&lt;/Text&gt;&#10;            &lt;Text style={{ fontSize: 34, fontWeight: 'bold', color: '#20344B' }}&gt;会话身份：建立、续用与结束&lt;/Text&gt;&#10;        &lt;/Box&gt;&#10;    &lt;/Box&gt;&#10;&#10;    &lt;Box style={{ height: 540, flexDirection: 'row', alignItems: 'center', gap: 32 }}&gt;&#10;&#10;        &lt;Box style={{ width: 660, flexDirection: 'column', gap: 16 }}&gt;&#10;&#10;            &lt;Box style={{ width: 660, height: 96, background: '#F4F7FA', borderRadius: 10, padding: '0 18px', flexDirection: 'row', alignItems: 'center', gap: 16 }}&gt;&#10;                &lt;Box style={{ width: 4, height: 48, background: '#276FBF' }} /&gt;&#10;                &lt;Box style={{ width: 130 }}&gt;&#10;                    &lt;Text style={{ fontSize: 16, fontWeight: 'bold', color: '#20344B' }}&gt;新会话&lt;/Text&gt;&#10;                &lt;/Box&gt;&#10;                &lt;Box style={{ width: 250, flexDirection: 'column', gap: 3 }}&gt;&#10;                    &lt;Text style={{ fontSize: 15, fontWeight: 'bold', color: '#276FBF' }}&gt;可以省略 conversation_id&lt;/Text&gt;&#10;                    &lt;Text style={{ fontSize: 14, color: '#546779' }}&gt;由运行时建立或复用&lt;/Text&gt;&#10;                &lt;/Box&gt;&#10;            &lt;/Box&gt;&#10;&#10;            &lt;Box style={{ width: 660, height: 96, background: '#FFF4E6', borderRadius: 10, padding: '0 18px', flexDirection: 'row', alignItems: 'center', gap: 16 }}&gt;&#10;                &lt;Box style={{ width: 4, height: 48, background: '#CB6B28' }} /&gt;&#10;                &lt;Box style={{ width: 130 }}&gt;&#10;                    &lt;Text style={{ fontSize: 16, fontWeight: 'bold', color: '#20344B' }}&gt;续用已有会话&lt;/Text&gt;&#10;                &lt;/Box&gt;&#10;                &lt;Box style={{ width: 250, flexDirection: 'column', gap: 3 }}&gt;&#10;                    &lt;Text style={{ fontSize: 15, fontWeight: 'bold', color: '#CB6B28' }}&gt;用真实返回的 ID&lt;/Text&gt;&#10;                    &lt;Text style={{ fontSize: 14, color: '#546779' }}&gt;属于这两名参与者，不自行编一个&lt;/Text&gt;&#10;                &lt;/Box&gt;&#10;            &lt;/Box&gt;&#10;&#10;            &lt;Box style={{ width: 660, height: 96, background: '#F4F7FA', borderRadius: 10, padding: '0 18px', flexDirection: 'row', alignItems: 'center', gap: 16 }}&gt;&#10;                &lt;Box style={{ width: 4, height: 48, background: '#26816B' }} /&gt;&#10;                &lt;Box style={{ width: 130 }}&gt;&#10;                    &lt;Text style={{ fontSize: 16, fontWeight: 'bold', color: '#20344B' }}&gt;需要结束&lt;/Text&gt;&#10;                &lt;/Box&gt;&#10;                &lt;Box style={{ width: 250, flexDirection: 'column', gap: 3 }}&gt;&#10;                    &lt;Text style={{ fontSize: 15, fontWeight: 'bold', color: '#26816B' }}&gt;提交 end_conversation&lt;/Text&gt;&#10;                    &lt;Text style={{ fontSize: 14, color: '#546779' }}&gt;不为每一句回复另开线程&lt;/Text&gt;&#10;                &lt;/Box&gt;&#10;            &lt;/Box&gt;&#10;&#10;        &lt;/Box&gt;&#10;&#10;        &lt;Box style={{ width: 460, flexDirection: 'column', gap: 14 }}&gt;&#10;&#10;            &lt;Box style={{ width: 460, height: 168, background: '#F7F3E8', borderRadius: 10, padding: '16px 20px', flexDirection: 'column', gap: 8, justifyContent: 'center' }}&gt;&#10;                &lt;Text style={{ fontSize: 17, fontWeight: 'bold', color: '#20344B' }}&gt;为什么不能自己编一个 ID&lt;/Text&gt;&#10;                &lt;Text style={{ fontSize: 14, color: '#546779', lineHeight: 1.55 }}&gt;会话身份来自运行时真实返回值。自己拼一个 UUID，看起来像那么回事，但后续的可见性与事实核对都会对不上。&lt;/Text&gt;&#10;            &lt;/Box&gt;&#10;&#10;            &lt;Box style={{ width: 460, height: 130, background: '#EDF4FC', borderRadius: 10, padding: '16px 20px', flexDirection: 'column', gap: 8, justifyContent: 'center' }}&gt;&#10;                &lt;Text style={{ fontSize: 17, fontWeight: 'bold', color: '#276FBF' }}&gt;源码定位&lt;/Text&gt;&#10;                &lt;Text style={{ fontSize: 14, color: '#546779', lineHeight: 1.55 }}&gt;SimulationMCPServer._plan_action{'\n'}Game.record_conversation_message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05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连接两名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会话身份：建立、续用与结束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609600" y="2190750"/>
            <a:ext cx="62865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4" name=""/>
          <p:cNvSpPr/>
          <p:nvPr/>
        </p:nvSpPr>
        <p:spPr>
          <a:xfrm rot="0" flipH="0" flipV="0">
            <a:off x="781050" y="24193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971550" y="255270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新会话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2362200" y="2466975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可以省略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conversation_id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2362200" y="2667000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由运行时建立或复用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609600" y="3257550"/>
            <a:ext cx="62865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9" name=""/>
          <p:cNvSpPr/>
          <p:nvPr/>
        </p:nvSpPr>
        <p:spPr>
          <a:xfrm rot="0" flipH="0" flipV="0">
            <a:off x="781050" y="34861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971550" y="361950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续用已有会话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2362200" y="3533775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用真实返回的</a:t>
            </a: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2362200" y="3733800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属于这两名参与者，不自行编一个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609600" y="4324350"/>
            <a:ext cx="62865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4" name=""/>
          <p:cNvSpPr/>
          <p:nvPr/>
        </p:nvSpPr>
        <p:spPr>
          <a:xfrm rot="0" flipH="0" flipV="0">
            <a:off x="781050" y="4552950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971550" y="468630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需要结束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2362200" y="4600575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提交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end_conversation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2362200" y="4800600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不为每一句回复另开线程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7200900" y="2228850"/>
            <a:ext cx="4381500" cy="1600200"/>
          </a:xfrm>
          <a:prstGeom prst="roundRect">
            <a:avLst>
              <a:gd name="adj" fmla="val 5952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7391400" y="2638425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为什么不能自己编一个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7391400" y="2914650"/>
            <a:ext cx="4000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会话身份来自运行时真实返回值。自己拼一个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UUID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，看起来像那么回事，但后续的可见性与事实核对都会对不上。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7200900" y="3962400"/>
            <a:ext cx="43815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7391400" y="4191000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源码定位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7391400" y="4467225"/>
            <a:ext cx="4000500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SimulationMCPServer._plan_action</a:t>
            </a:r>
            <a:endParaRPr/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Game.record_conversation_message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31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66" name="" descr="&lt;Slide notes={`有一个东西特别容易被当成「听到了」，就是会话摘要。&#10;&#10;active_conversations 给的是会话身份、消息计数、开放状态这一类摘要。它能告诉你存在这么一个会话，参与范围大概是谁，对话还在不在继续。&#10;&#10;但它不含完整消息。它不会告诉你周宁到底说了哪句话，也不会告诉你林岚答了什么。所以不能从「会话存在」直接推断「对方已经理解」。&#10;&#10;要判断内容，必须另查实际返回的现场行动、事件，以及已经提交的会话事实。这三处才是可以引用的证据。&#10;&#10;记住这条：会话存在，和对方真的听懂，是两件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1　一次 SPEAK 连接两名 Agent&lt;/Text&gt;&#10;            &lt;Text style={{ fontSize: 34, fontWeight: 'bold', color: '#20344B' }}&gt;会话摘要里有什么、没有什么&lt;/Text&gt;&#10;        &lt;/Box&gt;&#10;    &lt;/Box&gt;&#10;&#10;    &lt;Box style={{ height: 540, flexDirection: 'column', justifyContent: 'center', gap: 18 }}&gt;&#10;&#10;        &lt;Text style={{ fontSize: 17, color: '#546779', lineHeight: 1.6, width: 1152 }}&gt;active_conversations 提供的是会话身份、计数与开放状态这类摘要。它说明「有这么一个会话」，并不说明「他们到底说了什么」。&lt;/Text&gt;&#10;&#10;        &lt;Box style={{ flexDirection: 'row', gap: 20 }}&gt;&#10;&#10;            &lt;Box style={{ width: 566, height: 288, background: '#EDF4FC', borderRadius: 10, padding: '22px 24px', flexDirection: 'column', gap: 12, justifyContent: 'center' }}&gt;&#10;                &lt;Text style={{ fontSize: 20, fontWeight: 'bold', color: '#276FBF' }}&gt;摘要告诉你什么&lt;/Text&gt;&#10;                &lt;Text style={{ fontSize: 15, color: '#546779', lineHeight: 1.75 }}&gt;·　会话身份与参与范围，以真实返回值为准{'\n'}·　当前消息计数{'\n'}·　会话是否仍然开放&lt;/Text&gt;&#10;                &lt;Text style={{ fontSize: 15, color: '#546779', lineHeight: 1.6 }}&gt;用来确认会话存在、会话范围与会话是否还在继续。&lt;/Text&gt;&#10;            &lt;/Box&gt;&#10;&#10;            &lt;Box style={{ width: 566, height: 288, background: '#FFF4E6', borderRadius: 10, padding: '22px 24px', flexDirection: 'column', gap: 12, justifyContent: 'center' }}&gt;&#10;                &lt;Text style={{ fontSize: 20, fontWeight: 'bold', color: '#CB6B28' }}&gt;它不告诉你什么&lt;/Text&gt;&#10;                &lt;Text style={{ fontSize: 15, color: '#546779', lineHeight: 1.75 }}&gt;·　不含完整消息{'\n'}·　不能从会话存在推断对方已经理解&lt;/Text&gt;&#10;                &lt;Text style={{ fontSize: 15, color: '#546779', lineHeight: 1.6 }}&gt;发言内容要另查实际返回的现场行动、事件与已提交的会话事实。&lt;/Text&gt;&#10;            &lt;/Box&gt;&#10;&#10;        &lt;/Box&gt;&#10;&#10;        &lt;Box style={{ width: 1152, height: 72, background: '#F4F7FA', borderRadius: 10, padding: '0 20px', flexDirection: 'row', alignItems: 'center', gap: 18 }}&gt;&#10;            &lt;Box style={{ width: 4, height: 44, background: '#276FBF' }} /&gt;&#10;            &lt;Text style={{ fontSize: 17, fontWeight: 'bold', color: '#276FBF' }}&gt;会话存在　≠　对方已经理解；内容要回到实际提交的事实里去找&lt;/Text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06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连接两名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会话摘要里有什么、没有什么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609600" y="167640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active_conversations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提供的是会话身份、计数与开放状态这类摘要。它说明「有这么一个会话」，并不说明「他们到底说了什么」。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609600" y="2162175"/>
            <a:ext cx="5391150" cy="2743200"/>
          </a:xfrm>
          <a:prstGeom prst="roundRect">
            <a:avLst>
              <a:gd name="adj" fmla="val 347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838200" y="2714625"/>
            <a:ext cx="493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摘要告诉你什么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838200" y="3057525"/>
            <a:ext cx="4933950" cy="9048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会话身份与参与范围，以真实返回值为准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当前消息计数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会话是否仍然开放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49339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用来确认会话存在、会话范围与会话是否还在继续。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6191250" y="2162175"/>
            <a:ext cx="5391150" cy="2743200"/>
          </a:xfrm>
          <a:prstGeom prst="roundRect">
            <a:avLst>
              <a:gd name="adj" fmla="val 347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6419850" y="2867025"/>
            <a:ext cx="493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它不告诉你什么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6419850" y="3209925"/>
            <a:ext cx="4933950" cy="6000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不含完整消息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不能从会话存在推断对方已经理解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6419850" y="3924300"/>
            <a:ext cx="49339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发言内容要另查实际返回的现场行动、事件与已提交的会话事实。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609600" y="507682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1" name=""/>
          <p:cNvSpPr/>
          <p:nvPr/>
        </p:nvSpPr>
        <p:spPr>
          <a:xfrm rot="0" flipH="0" flipV="0">
            <a:off x="800100" y="52101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1009650" y="5324475"/>
            <a:ext cx="4657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会话存在　≠　对方已经理解；内容要回到实际提交的事实里去找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31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85" name="" descr="&lt;Slide notes={`会话有了，内容也有了，接下来要看它会落在哪一步。&#10;&#10;会话内容什么时候可见，要结合实际调度顺序来判断。这里有一个很容易犯的错：套用「对象回复固定落在下一轮」这类固定规则。实际上双方的两条 SPEAK 未必落在相邻两步，要按真实调度结果去看。&#10;&#10;另外，每条消息都随它所属的那个 StepResult 一起持久提交。所以对外引用某句话的时候，必须回到它所属的那一步，看已提交的事实是什么。&#10;&#10;读图的时候也要小心：图上画的双向箭头只是消息方向的示意，不代表对话真的发生在那一刻，也不代表双方落在哪一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1　一次 SPEAK 连接两名 Agent&lt;/Text&gt;&#10;            &lt;Text style={{ fontSize: 34, fontWeight: 'bold', color: '#20344B' }}&gt;消息什么时候才算真的落地&lt;/Text&gt;&#10;        &lt;/Box&gt;&#10;    &lt;/Box&gt;&#10;&#10;    &lt;Box style={{ height: 540, flexDirection: 'row', alignItems: 'center', gap: 32 }}&gt;&#10;&#10;        &lt;Box style={{ width: 300, flexDirection: 'column', gap: 16 }}&gt;&#10;            &lt;Text style={{ fontSize: 17, color: '#546779', lineHeight: 1.75, width: 300 }}&gt;会话内容什么时候可见，要结合实际调度顺序判断，不能套用固定的落点规则。&lt;/Text&gt;&#10;            &lt;Box style={{ width: 300, height: 126, background: '#F7F3E8', borderRadius: 10, padding: '14px 18px', flexDirection: 'column', gap: 6, justifyContent: 'center' }}&gt;&#10;                &lt;Text style={{ fontSize: 16, fontWeight: 'bold', color: '#20344B' }}&gt;读图时注意&lt;/Text&gt;&#10;                &lt;Text style={{ fontSize: 14, color: '#546779', lineHeight: 1.5 }}&gt;读图不预定双方发言落在哪个 Step。&lt;/Text&gt;&#10;            &lt;/Box&gt;&#10;        &lt;/Box&gt;&#10;&#10;        &lt;Box style={{ width: 820, flexDirection: 'column', gap: 14 }}&gt;&#10;&#10;            &lt;Box style={{ width: 820, height: 116, background: '#F4F7FA', borderRadius: 10, padding: '0 20px', flexDirection: 'row', alignItems: 'center', gap: 16 }}&gt;&#10;                &lt;Box style={{ width: 4, height: 56, background: '#276FBF' }} /&gt;&#10;                &lt;Box style={{ width: 200 }}&gt;&#10;                    &lt;Text style={{ fontSize: 16, fontWeight: 'bold', color: '#20344B' }}&gt;什么时候可见&lt;/Text&gt;&#10;                &lt;/Box&gt;&#10;                &lt;Box style={{ flexDirection: 'column', gap: 4 }}&gt;&#10;                    &lt;Text style={{ fontSize: 15, fontWeight: 'bold', color: '#276FBF' }}&gt;结合实际调度顺序&lt;/Text&gt;&#10;                    &lt;Text style={{ fontSize: 14, color: '#546779' }}&gt;会话双方的两条 SPEAK 未必落在相邻两步。&lt;/Text&gt;&#10;                &lt;/Box&gt;&#10;            &lt;/Box&gt;&#10;&#10;            &lt;Box style={{ width: 820, height: 116, background: '#F4F7FA', borderRadius: 10, padding: '0 20px', flexDirection: 'row', alignItems: 'center', gap: 16 }}&gt;&#10;                &lt;Box style={{ width: 4, height: 56, background: '#276FBF' }} /&gt;&#10;                &lt;Box style={{ width: 200 }}&gt;&#10;                    &lt;Text style={{ fontSize: 16, fontWeight: 'bold', color: '#20344B' }}&gt;依据什么&lt;/Text&gt;&#10;                &lt;/Box&gt;&#10;                &lt;Box style={{ flexDirection: 'column', gap: 4 }}&gt;&#10;                    &lt;Text style={{ fontSize: 15, fontWeight: 'bold', color: '#276FBF' }}&gt;已提交的 StepResult&lt;/Text&gt;&#10;                    &lt;Text style={{ fontSize: 14, color: '#546779' }}&gt;每条消息随所属的那一步一起持久提交。&lt;/Text&gt;&#10;                &lt;/Box&gt;&#10;            &lt;/Box&gt;&#10;&#10;            &lt;Box style={{ width: 820, height: 116, background: '#FFF4E6', borderRadius: 10, padding: '0 20px', flexDirection: 'row', alignItems: 'center', gap: 16 }}&gt;&#10;                &lt;Box style={{ width: 4, height: 56, background: '#CB6B28' }} /&gt;&#10;                &lt;Box style={{ width: 200 }}&gt;&#10;                    &lt;Text style={{ fontSize: 16, fontWeight: 'bold', color: '#20344B' }}&gt;怎样核对&lt;/Text&gt;&#10;                &lt;/Box&gt;&#10;                &lt;Box style={{ flexDirection: 'column', gap: 4 }}&gt;&#10;                    &lt;Text style={{ fontSize: 15, fontWeight: 'bold', color: '#CB6B28' }}&gt;回到消息所属的那一步&lt;/Text&gt;&#10;                    &lt;Text style={{ fontSize: 14, color: '#546779' }}&gt;不能只看会话摘要，也不能只按画面顺序下结论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07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连接两名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消息什么时候才算真的落地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28575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会话内容什么时候可见，要结合实际调度顺序判断，不能套用固定的落点规则。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609600" y="3705225"/>
            <a:ext cx="2857500" cy="1200150"/>
          </a:xfrm>
          <a:prstGeom prst="roundRect">
            <a:avLst>
              <a:gd name="adj" fmla="val 793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781050" y="4057650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读图时注意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781050" y="4305300"/>
            <a:ext cx="2514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读图不预定双方发言落在哪个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3771900" y="1924050"/>
            <a:ext cx="78105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5" name=""/>
          <p:cNvSpPr/>
          <p:nvPr/>
        </p:nvSpPr>
        <p:spPr>
          <a:xfrm rot="0" flipH="0" flipV="0">
            <a:off x="3962400" y="220980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4152900" y="23812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什么时候可见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6210300" y="2295525"/>
            <a:ext cx="2628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结合实际调度顺序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6210300" y="2505075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会话双方的两条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未必落在相邻两步。</a:t>
            </a:r>
            <a:endParaRPr/>
          </a:p>
        </p:txBody>
      </p:sp>
      <p:sp>
        <p:nvSpPr>
          <p:cNvPr id="699" name=""/>
          <p:cNvSpPr/>
          <p:nvPr/>
        </p:nvSpPr>
        <p:spPr>
          <a:xfrm rot="0" flipH="0" flipV="0">
            <a:off x="3771900" y="3162300"/>
            <a:ext cx="78105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0" name=""/>
          <p:cNvSpPr/>
          <p:nvPr/>
        </p:nvSpPr>
        <p:spPr>
          <a:xfrm rot="0" flipH="0" flipV="0">
            <a:off x="3962400" y="34480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4152900" y="361950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依据什么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6210300" y="3533775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已提交的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StepResult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6210300" y="374332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每条消息随所属的那一步一起持久提交。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3771900" y="4400550"/>
            <a:ext cx="781050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05" name=""/>
          <p:cNvSpPr/>
          <p:nvPr/>
        </p:nvSpPr>
        <p:spPr>
          <a:xfrm rot="0" flipH="0" flipV="0">
            <a:off x="3962400" y="468630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4152900" y="48577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怎样核对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6210300" y="4772025"/>
            <a:ext cx="293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回到消息所属的那一步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6210300" y="4981575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不能只看会话摘要，也不能只按画面顺序下结论。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31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711" name="" descr="&lt;Slide notes={`再讲一处最容易被忽略的断口。&#10;&#10;周宁把服务台的答复告诉林岚，这件事本身是成立的。但要分清两句话：服务台明确回复了什么，以及我建议怎么做。前者是事实，后者是建议。&#10;&#10;林岚收到建议，并不意味着公告栏已经被修改。公告栏要不要改、改成什么，还要林岚自己核实、自己决定，然后真的发出一次交互请求。&#10;&#10;同样，周宁说「我会去通知许安」，也不等于许安已经收到。话是自己说的，接收的人并不在场。要让信息真正传到，后面还得有另一条真实消息，或者一次对象交互。&#10;&#10;所以信息传播链上每一段都要单独成立，不能用一个人的话把整条链补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1　一次 SPEAK 连接两名 Agent&lt;/Text&gt;&#10;            &lt;Text style={{ fontSize: 34, fontWeight: 'bold', color: '#20344B' }}&gt;转述不等于送达&lt;/Text&gt;&#10;        &lt;/Box&gt;&#10;    &lt;/Box&gt;&#10;&#10;    &lt;Box style={{ height: 540, flexDirection: 'column', justifyContent: 'center', gap: 16 }}&gt;&#10;&#10;        &lt;Box style={{ height: 136, flexDirection: 'row' }}&gt;&#10;            &lt;Box style={{ width: 350, height: 136, background: '#EDF4FC', borderRadius: 10, padding: '16px 20px', flexDirection: 'column', gap: 6, justifyContent: 'center' }}&gt;&#10;                &lt;Text style={{ fontSize: 18, fontWeight: 'bold', color: '#276FBF' }}&gt;周宁&lt;/Text&gt;&#10;                &lt;Text style={{ fontSize: 14, color: '#546779', lineHeight: 1.55 }}&gt;拿到服务台答复，把事实和建议一起转述出去。&lt;/Text&gt;&#10;            &lt;/Box&gt;&#10;            &lt;Box style={{ width: 44, height: 136, justifyContent: 'center', alignItems: 'center' }}&gt;&#10;                &lt;Text style={{ fontSize: 26, color: '#276FBF' }}&gt;›&lt;/Text&gt;&#10;            &lt;/Box&gt;&#10;            &lt;Box style={{ width: 350, height: 136, background: '#ECF7F2', borderRadius: 10, padding: '16px 20px', flexDirection: 'column', gap: 6, justifyContent: 'center' }}&gt;&#10;                &lt;Text style={{ fontSize: 18, fontWeight: 'bold', color: '#26816B' }}&gt;林岚&lt;/Text&gt;&#10;                &lt;Text style={{ fontSize: 14, color: '#546779', lineHeight: 1.55 }}&gt;收到了建议，仍要自己核实、自己决定是否请求更新。&lt;/Text&gt;&#10;            &lt;/Box&gt;&#10;            &lt;Box style={{ width: 44, height: 136, justifyContent: 'center', alignItems: 'center' }}&gt;&#10;                &lt;Text style={{ fontSize: 26, color: '#CB6B28' }}&gt;›&lt;/Text&gt;&#10;            &lt;/Box&gt;&#10;            &lt;Box style={{ width: 350, height: 136, background: '#FFF4E6', borderRadius: 10, padding: '16px 20px', flexDirection: 'column', gap: 6, justifyContent: 'center' }}&gt;&#10;                &lt;Text style={{ fontSize: 18, fontWeight: 'bold', color: '#CB6B28' }}&gt;许安&lt;/Text&gt;&#10;                &lt;Text style={{ fontSize: 14, color: '#546779', lineHeight: 1.55 }}&gt;节点到此断开：此刻还没有任何消息真正到达他。&lt;/Text&gt;&#10;            &lt;/Box&gt;&#10;        &lt;/Box&gt;&#10;&#10;        &lt;Box style={{ width: 1152, height: 104, background: '#FFF4E6', borderRadius: 10, padding: '0 20px', flexDirection: 'row', alignItems: 'center', gap: 18 }}&gt;&#10;            &lt;Box style={{ width: 4, height: 48, background: '#CB6B28' }} /&gt;&#10;            &lt;Box style={{ flexDirection: 'column', gap: 4 }}&gt;&#10;                &lt;Text style={{ fontSize: 16, fontWeight: 'bold', color: '#CB6B28' }}&gt;林岚收到建议，不等于公告栏已经修改；周宁说「我会去通知许安」，不等于许安已经收到&lt;/Text&gt;&#10;                &lt;Text style={{ fontSize: 14, color: '#546779' }}&gt;后续需要另一条真实消息或对象交互，才能把传播这一段补齐。&lt;/Text&gt;&#10;            &lt;/Box&gt;&#10;        &lt;/Box&gt;&#10;&#10;        &lt;Box style={{ width: 1152, height: 96, background: '#F7F3E8', borderRadius: 10, padding: '0 20px', flexDirection: 'row', alignItems: 'center', gap: 18 }}&gt;&#10;            &lt;Box style={{ width: 4, height: 44, background: '#276FBF' }} /&gt;&#10;            &lt;Box style={{ flexDirection: 'column', gap: 4 }}&gt;&#10;                &lt;Text style={{ fontSize: 16, fontWeight: 'bold', color: '#20344B' }}&gt;转述时要把两件事分开说&lt;/Text&gt;&#10;                &lt;Text style={{ fontSize: 14, color: '#546779' }}&gt;「服务台明确回复了什么」和「我建议怎么做」不是同一类信息；也不能仅凭一条 SPEAK 就证明两人面对面站在一起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08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连接两名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转述不等于送达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609600" y="1962150"/>
            <a:ext cx="3333750" cy="1295400"/>
          </a:xfrm>
          <a:prstGeom prst="roundRect">
            <a:avLst>
              <a:gd name="adj" fmla="val 735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800100" y="2352675"/>
            <a:ext cx="2952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周宁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800100" y="2619375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拿到服务台答复，把事实和建议一起转述出去。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4114800" y="24574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4362450" y="1962150"/>
            <a:ext cx="3333750" cy="1295400"/>
          </a:xfrm>
          <a:prstGeom prst="roundRect">
            <a:avLst>
              <a:gd name="adj" fmla="val 735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4552950" y="2228850"/>
            <a:ext cx="2952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4552950" y="2495550"/>
            <a:ext cx="29527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收到了建议，仍要自己核实、自己决定是否请求更新。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7867650" y="24574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8115300" y="1962150"/>
            <a:ext cx="3333750" cy="1295400"/>
          </a:xfrm>
          <a:prstGeom prst="roundRect">
            <a:avLst>
              <a:gd name="adj" fmla="val 735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8305800" y="2352675"/>
            <a:ext cx="2952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许安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8305800" y="2619375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节点到此断开：此刻还没有任何消息真正到达他。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609600" y="340995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28" name=""/>
          <p:cNvSpPr/>
          <p:nvPr/>
        </p:nvSpPr>
        <p:spPr>
          <a:xfrm rot="0" flipH="0" flipV="0">
            <a:off x="800100" y="36766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1009650" y="3714750"/>
            <a:ext cx="609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林岚收到建议，不等于公告栏已经修改；周宁说「我会去通知许安」，不等于许安已经收到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1009650" y="3943350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后续需要另一条真实消息或对象交互，才能把传播这一段补齐。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609600" y="455295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32" name=""/>
          <p:cNvSpPr/>
          <p:nvPr/>
        </p:nvSpPr>
        <p:spPr>
          <a:xfrm rot="0" flipH="0" flipV="0">
            <a:off x="800100" y="48006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1009650" y="4819650"/>
            <a:ext cx="7029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转述时要把两件事分开说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1009650" y="5048250"/>
            <a:ext cx="7029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「服务台明确回复了什么」和「我建议怎么做」不是同一类信息；也不能仅凭一条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就证明两人面对面站在一起。</a:t>
            </a:r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31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37" name="" descr="&lt;Slide notes={`接下来换一个方向：人和对象怎么说话。&#10;&#10;在青禾这个案例里，林岚要向公告栏请求更新，来访者要向服务台查询。这些都不是人和人对话，而是通过 INTERACT 把请求交给一个对象。&#10;&#10;这里的关键提醒是：请求被接受，不等于业务答复已经收到。工具层面点头说「我收到了你的动作」，和对象真的处理完、把答复送回给你，是两件不同的事。&#10;&#10;而对象也不是只会等着被问。绑定根 Skill 之后，它每一步都会自主运行，可以自己感知、自己检索记忆、自己处理待办请求。&#10;&#10;所以接下来要先看懂请求怎么发出去，再看对象自己那一轮都做了什么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2　　3.7.2 — 3.7.3&lt;/Text&gt;&#10;&#10;        &lt;Text style={{ fontSize: 56, fontWeight: 'bold', color: '#20344B', lineHeight: 1.15 }}&gt;INTERACT 只负责发出请求&lt;/Text&gt;&#10;&#10;        &lt;Box style={{ width: 72, height: 4, background: '#276FBF' }} /&gt;&#10;&#10;        &lt;Text style={{ fontSize: 18, color: '#546779', lineHeight: 1.7, width: 900 }}&gt;请求被接受，不等于业务答复已经收到；对象也有自己独立的轮次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提出请求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对象处理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下一轮收到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09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3.7.2 — 3.7.3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INTERACT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只负责发出请求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请求被接受，不等于业务答复已经收到；对象也有自己独立的轮次。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16954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提出请求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49720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对象处理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8162925" y="42576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下一轮收到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31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7" name="" descr="&lt;Slide notes={`把一次对象交互的整段路走一遍。&#10;&#10;人物这一侧先拟好动作：world-act 发出 INTERACT，带上真实的 selection_key 和请求内容。MCP 校验通过之后，回一个 accepted，人物这一轮就结束了。注意，此时只是「动作被选中」，还没有任何对象动手。&#10;&#10;接着调度器与世界层接手，把这条待处理请求连同 request_id 交给对象根 Skill。对象在自己的轮次里发出 world-act，带上自身动作和 responses，再收到第二次 accepted，对象这一轮也结束。&#10;&#10;然后世界执行，人物提出的请求和对象提交的答复，随同一个 Step 一起落盘。&#10;&#10;只有目标人物下一轮在 external_observations 里看到真实答复，才说明他确实收到了。这些回复只投给真实接收者，恰好一次，不广播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2　INTERACT 只负责发出请求&lt;/Text&gt;&#10;            &lt;Text style={{ fontSize: 34, fontWeight: 'bold', color: '#20344B' }}&gt;对象交互的整段链路&lt;/Text&gt;&#10;        &lt;/Box&gt;&#10;    &lt;/Box&gt;&#10;&#10;    &lt;Box style={{ height: 540, flexDirection: 'column', justifyContent: 'center', gap: 8 }}&gt;&#10;&#10;        &lt;Box style={{ flexDirection: 'row', height: 150 }}&gt;&#10;            &lt;Box style={{ width: 220, height: 150, background: '#EDF4FC', borderRadius: 8, padding: '14px 16px', flexDirection: 'column', gap: 5, justifyContent: 'center' }}&gt;&#10;                &lt;Text style={{ fontSize: 18, fontWeight: 'bold', color: '#276FBF' }}&gt;人物 Brain&lt;/Text&gt;&#10;                &lt;Text style={{ fontSize: 13, color: '#546779', lineHeight: 1.5 }}&gt;world-act：INTERACT{'\n'}带真实 selection_key 与 request&lt;/Text&gt;&#10;            &lt;/Box&gt;&#10;            &lt;Box style={{ width: 44, height: 150, justifyContent: 'center', alignItems: 'center' }}&gt;&#10;                &lt;Text style={{ fontSize: 24, color: '#276FBF' }}&gt;›&lt;/Text&gt;&#10;            &lt;/Box&gt;&#10;            &lt;Box style={{ width: 220, height: 150, background: '#EDF4FC', borderRadius: 8, padding: '14px 16px', flexDirection: 'column', gap: 5, justifyContent: 'center' }}&gt;&#10;                &lt;Text style={{ fontSize: 18, fontWeight: 'bold', color: '#276FBF' }}&gt;MCP 校验&lt;/Text&gt;&#10;                &lt;Text style={{ fontSize: 13, color: '#546779', lineHeight: 1.5 }}&gt;accepted：人物本轮结束{'\n'}返回已选动作，供调度执行&lt;/Text&gt;&#10;            &lt;/Box&gt;&#10;            &lt;Box style={{ width: 44, height: 150, justifyContent: 'center', alignItems: 'center' }}&gt;&#10;                &lt;Text style={{ fontSize: 24, color: '#276FBF' }}&gt;›&lt;/Text&gt;&#10;            &lt;/Box&gt;&#10;            &lt;Box style={{ width: 240, height: 150, background: '#EDF4FC', borderRadius: 8, padding: '14px 16px', flexDirection: 'column', gap: 5, justifyContent: 'center' }}&gt;&#10;                &lt;Text style={{ fontSize: 18, fontWeight: 'bold', color: '#276FBF' }}&gt;调度与世界执行&lt;/Text&gt;&#10;                &lt;Text style={{ fontSize: 13, color: '#546779', lineHeight: 1.5 }}&gt;把待处理请求交给对象{'\n'}interaction_requests 与 request_id&lt;/Text&gt;&#10;            &lt;/Box&gt;&#10;            &lt;Box style={{ width: 44, height: 150, justifyContent: 'center', alignItems: 'center' }}&gt;&#10;                &lt;Text style={{ fontSize: 24, color: '#26816B' }}&gt;›&lt;/Text&gt;&#10;            &lt;/Box&gt;&#10;            &lt;Box style={{ width: 240, height: 150, background: '#ECF7F2', borderRadius: 8, padding: '14px 16px', flexDirection: 'column', gap: 5, justifyContent: 'center' }}&gt;&#10;                &lt;Text style={{ fontSize: 18, fontWeight: 'bold', color: '#26816B' }}&gt;对象根 Skill&lt;/Text&gt;&#10;                &lt;Text style={{ fontSize: 13, color: '#546779', lineHeight: 1.5 }}&gt;world-act：自身动作 + responses{'\n'}accepted：对象本轮结束&lt;/Text&gt;&#10;            &lt;/Box&gt;&#10;        &lt;/Box&gt;&#10;&#10;        &lt;Box style={{ height: 26, justifyContent: 'center', alignItems: 'center' }}&gt;&#10;            &lt;Text style={{ fontSize: 20, color: '#26816B' }}&gt;↓&lt;/Text&gt;&#10;        &lt;/Box&gt;&#10;&#10;        &lt;Box style={{ width: 1152, height: 86, background: '#ECF7F2', borderRadius: 10, padding: '0 20px', flexDirection: 'row', alignItems: 'center', gap: 18 }}&gt;&#10;            &lt;Box style={{ width: 4, height: 48, background: '#26816B' }} /&gt;&#10;            &lt;Box style={{ flexDirection: 'column', gap: 3 }}&gt;&#10;                &lt;Text style={{ fontSize: 16, fontWeight: 'bold', color: '#26816B' }}&gt;整步持久提交　StepResult：人物与对象的本步事实&lt;/Text&gt;&#10;                &lt;Text style={{ fontSize: 14, color: '#546779' }}&gt;人物提出的请求与对象提交的答复，随同一个 Step 一起落盘。&lt;/Text&gt;&#10;            &lt;/Box&gt;&#10;        &lt;/Box&gt;&#10;&#10;        &lt;Box style={{ height: 26, justifyContent: 'center', alignItems: 'center' }}&gt;&#10;            &lt;Text style={{ fontSize: 20, color: '#26816B' }}&gt;↓&lt;/Text&gt;&#10;        &lt;/Box&gt;&#10;&#10;        &lt;Box style={{ width: 1152, height: 86, background: '#ECF7F2', borderRadius: 10, padding: '0 20px', flexDirection: 'row', alignItems: 'center', gap: 18 }}&gt;&#10;            &lt;Box style={{ width: 4, height: 48, background: '#26816B' }} /&gt;&#10;            &lt;Box style={{ flexDirection: 'column', gap: 3 }}&gt;&#10;                &lt;Text style={{ fontSize: 16, fontWeight: 'bold', color: '#26816B' }}&gt;目标人物下一轮　external_observations：真实答复&lt;/Text&gt;&#10;                &lt;Text style={{ fontSize: 14, color: '#546779' }}&gt;仅真实接收者，恰好一次，不广播。&lt;/Text&gt;&#10;            &lt;/Box&gt;&#10;        &lt;/Box&gt;&#10;&#10;        &lt;Box style={{ width: 1152, height: 72, background: '#FFF4E6', borderRadius: 10, padding: '0 20px', flexDirection: 'row', alignItems: 'center', gap: 18 }}&gt;&#10;            &lt;Box style={{ width: 4, height: 44, background: '#CB6B28' }} /&gt;&#10;            &lt;Box style={{ flexDirection: 'column', gap: 3 }}&gt;&#10;                &lt;Text style={{ fontSize: 16, fontWeight: 'bold', color: '#CB6B28' }}&gt;请求被接受　≠　业务答复已经收到&lt;/Text&gt;&#10;                &lt;Text style={{ fontSize: 14, color: '#546779' }}&gt;纵向距离不是实测耗时；在发请求的同一轮就总结「已确认」，跨过了尚未发生的处理过程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10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INTERACT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只负责发出请求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对象交互的整段链路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609600" y="1400175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62000" y="1647825"/>
            <a:ext cx="1790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人物</a:t>
            </a: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62000" y="1905000"/>
            <a:ext cx="17907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world-act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：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INTERACT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带真实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selection_key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request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2876550" y="19812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3124200" y="1400175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276600" y="1762125"/>
            <a:ext cx="1790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校验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3276600" y="2019300"/>
            <a:ext cx="17907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accepted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：人物本轮结束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返回已选动作，供调度执行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391150" y="19812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5638800" y="1400175"/>
            <a:ext cx="2286000" cy="1428750"/>
          </a:xfrm>
          <a:prstGeom prst="roundRect">
            <a:avLst>
              <a:gd name="adj" fmla="val 5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791200" y="1647825"/>
            <a:ext cx="1981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调度与世界执行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791200" y="1905000"/>
            <a:ext cx="19812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把待处理请求交给对象</a:t>
            </a:r>
            <a:endParaRPr/>
          </a:p>
          <a:p>
            <a:pPr>
              <a:lnSpc>
                <a:spcPct val="15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interaction_requests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request_id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096250" y="19812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8343900" y="1400175"/>
            <a:ext cx="2286000" cy="1428750"/>
          </a:xfrm>
          <a:prstGeom prst="roundRect">
            <a:avLst>
              <a:gd name="adj" fmla="val 5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496300" y="1762125"/>
            <a:ext cx="1981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对象根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496300" y="2019300"/>
            <a:ext cx="19812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world-act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：自身动作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+ responses</a:t>
            </a:r>
            <a:endParaRPr/>
          </a:p>
          <a:p>
            <a:pPr>
              <a:lnSpc>
                <a:spcPct val="15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accepted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：对象本轮结束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48375" y="29146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3228975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800100" y="3409950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009650" y="3448050"/>
            <a:ext cx="3695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整步持久提交　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StepResult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：人物与对象的本步事实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009650" y="3667125"/>
            <a:ext cx="3695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人物提出的请求与对象提交的答复，随同一个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一起落盘。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048375" y="41338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09600" y="4448175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800100" y="4629150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009650" y="4667250"/>
            <a:ext cx="3676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目标人物下一轮　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external_observations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：真实答复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009650" y="4886325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仅真实接收者，恰好一次，不广播。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09600" y="534352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800100" y="547687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009650" y="5495925"/>
            <a:ext cx="5467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请求被接受　≠　业务答复已经收到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009650" y="5715000"/>
            <a:ext cx="5467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纵向距离不是实测耗时；在发请求的同一轮就总结「已确认」，跨过了尚未发生的处理过程。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31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3" name="" descr="&lt;Slide notes={`这条链路上有三处真实载体，验收的时候就核对这三处。&#10;&#10;第一处是人物提出请求：INTERACT 经过世界提交，形成一条带身份的请求。它带着 request_id、agent_key、agent_name、请求内容和观察时间。&#10;&#10;第二处是对象处理请求：在本步的对象轮次里，通过 world-act 的 responses 把答复提交出去。答复不能只写在对象的最终总结里，那样不算发送。&#10;&#10;第三处是目标人物收到：下一轮 external_observations 里出现的那条真实答复。只有这一处，才能证明对方确实收到了。&#10;&#10;所以完整走一遍，应该是请求有 ID、处理有提交、收到有观察，三段都能对上。工具层面那声 accepted，不能拿来代替第三段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2　INTERACT 只负责发出请求&lt;/Text&gt;&#10;            &lt;Text style={{ fontSize: 34, fontWeight: 'bold', color: '#20344B' }}&gt;三个真实载体&lt;/Text&gt;&#10;        &lt;/Box&gt;&#10;    &lt;/Box&gt;&#10;&#10;    &lt;Box style={{ height: 540, flexDirection: 'column', justifyContent: 'center', gap: 14 }}&gt;&#10;&#10;        &lt;Text style={{ fontSize: 17, color: '#546779', lineHeight: 1.6, width: 1152 }}&gt;读图时核对三个载体：谁提出的、谁处理的、谁真的收到。&lt;/Text&gt;&#10;&#10;        &lt;Box style={{ width: 1152, height: 116, background: '#F4F7FA', borderRadius: 10, padding: '0 20px', flexDirection: 'row', alignItems: 'center', gap: 18 }}&gt;&#10;            &lt;Box style={{ width: 4, height: 56, background: '#276FBF' }} /&gt;&#10;            &lt;Box style={{ width: 190 }}&gt;&#10;                &lt;Text style={{ fontSize: 16, fontWeight: 'bold', color: '#20344B' }}&gt;人物提出请求&lt;/Text&gt;&#10;            &lt;/Box&gt;&#10;            &lt;Box style={{ width: 350 }}&gt;&#10;                &lt;Text style={{ fontSize: 15, fontWeight: 'bold', color: '#276FBF', lineHeight: 1.5 }}&gt;INTERACT 经世界提交形成带身份的请求&lt;/Text&gt;&#10;            &lt;/Box&gt;&#10;            &lt;Box style={{ flexDirection: 'column', gap: 3 }}&gt;&#10;                &lt;Text style={{ fontSize: 14, color: '#546779', lineHeight: 1.55 }}&gt;请求带 request_id、agent_key、agent_name、请求内容与观察时间。&lt;/Text&gt;&#10;            &lt;/Box&gt;&#10;        &lt;/Box&gt;&#10;&#10;        &lt;Box style={{ width: 1152, height: 116, background: '#F4F7FA', borderRadius: 10, padding: '0 20px', flexDirection: 'row', alignItems: 'center', gap: 18 }}&gt;&#10;            &lt;Box style={{ width: 4, height: 56, background: '#276FBF' }} /&gt;&#10;            &lt;Box style={{ width: 190 }}&gt;&#10;                &lt;Text style={{ fontSize: 16, fontWeight: 'bold', color: '#20344B' }}&gt;对象处理请求&lt;/Text&gt;&#10;            &lt;/Box&gt;&#10;            &lt;Box style={{ width: 350 }}&gt;&#10;                &lt;Text style={{ fontSize: 15, fontWeight: 'bold', color: '#276FBF', lineHeight: 1.5 }}&gt;本 Step 对象轮次通过 responses 提交答复&lt;/Text&gt;&#10;            &lt;/Box&gt;&#10;            &lt;Box style={{ flexDirection: 'column', gap: 3 }}&gt;&#10;                &lt;Text style={{ fontSize: 14, color: '#546779', lineHeight: 1.55 }}&gt;答复必须通过本次动作送达，不能只写在对象的最终总结里。&lt;/Text&gt;&#10;            &lt;/Box&gt;&#10;        &lt;/Box&gt;&#10;&#10;        &lt;Box style={{ width: 1152, height: 116, background: '#ECF7F2', borderRadius: 10, padding: '0 20px', flexDirection: 'row', alignItems: 'center', gap: 18 }}&gt;&#10;            &lt;Box style={{ width: 4, height: 56, background: '#26816B' }} /&gt;&#10;            &lt;Box style={{ width: 190 }}&gt;&#10;                &lt;Text style={{ fontSize: 16, fontWeight: 'bold', color: '#20344B' }}&gt;目标人物收到&lt;/Text&gt;&#10;            &lt;/Box&gt;&#10;            &lt;Box style={{ width: 350 }}&gt;&#10;                &lt;Text style={{ fontSize: 15, fontWeight: 'bold', color: '#26816B', lineHeight: 1.5 }}&gt;下一轮 external_observations 中的真实答复&lt;/Text&gt;&#10;            &lt;/Box&gt;&#10;            &lt;Box style={{ flexDirection: 'column', gap: 3 }}&gt;&#10;                &lt;Text style={{ fontSize: 14, color: '#546779', lineHeight: 1.55 }}&gt;只有这里能证明答复已经到达；回复恰好一次，不向其他人广播。&lt;/Text&gt;&#10;            &lt;/Box&gt;&#10;        &lt;/Box&gt;&#10;&#10;        &lt;Box style={{ width: 1152, height: 72, background: '#FFF4E6', borderRadius: 10, padding: '0 20px', flexDirection: 'row', alignItems: 'center', gap: 18 }}&gt;&#10;            &lt;Box style={{ width: 4, height: 44, background: '#CB6B28' }} /&gt;&#10;            &lt;Text style={{ fontSize: 16, fontWeight: 'bold', color: '#CB6B28' }}&gt;收到工具层面的接受信息，不等于已经收到对象的业务答复&lt;/Text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11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047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INTERACT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只负责发出请求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047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三个真实载体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129540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读图时核对三个载体：谁提出的、谁处理的、谁真的收到。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09600" y="1743075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800100" y="20288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009650" y="2200275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人物提出请求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2990850" y="2171700"/>
            <a:ext cx="3333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INTERACT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经世界提交形成带身份的请求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496050" y="2171700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请求带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request_id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agent_key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agent_name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、请求内容与观察时间。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09600" y="2981325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800100" y="32670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009650" y="3438525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对象处理请求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2990850" y="3409950"/>
            <a:ext cx="3333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本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对象轮次通过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responses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提交答复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496050" y="3409950"/>
            <a:ext cx="36004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答复必须通过本次动作送达，不能只写在对象的最终总结里。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09600" y="4219575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800100" y="4505325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009650" y="4676775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目标人物收到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2990850" y="4648200"/>
            <a:ext cx="3333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下一轮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external_observations 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中的真实答复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496050" y="4648200"/>
            <a:ext cx="38671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只有这里能证明答复已经到达；回复恰好一次，不向其他人广播。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09600" y="545782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800100" y="559117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009650" y="5705475"/>
            <a:ext cx="396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收到工具层面的接受信息，不等于已经收到对象的业务答复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31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9" name="" descr="&lt;Slide notes={`为什么这条链要走这么长？因为每一步的确定性不一样。&#10;&#10;人物这一侧发出 INTERACT，MCP 返回一个 accepted，这只能说明人物这一轮结束了，动作被选中了。MCP 交出去的是「已选动作」，真正的执行在后面，由调度器和世界层负责。&#10;&#10;对象这一侧也一样。对象在自己的轮次里发出 world-act，提交自身动作和回复，再收到一个 accepted，说明对象这一轮结束。此时答复已经提交，但还没有送到目标人物手上。&#10;&#10;所以读图的时候，先找出这两次 accepted，再去找「整步持久提交」和下一轮的外部观察。千万不要用第一次 accepted 就宣布答复已收到。&#10;&#10;另外，图上画得长一点短一点，只是让阶段关系看得清，不代表真实的耗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2　INTERACT 只负责发出请求&lt;/Text&gt;&#10;            &lt;Text style={{ fontSize: 34, fontWeight: 'bold', color: '#20344B' }}&gt;两次 accepted 各说明什么&lt;/Text&gt;&#10;        &lt;/Box&gt;&#10;    &lt;/Box&gt;&#10;&#10;    &lt;Box style={{ height: 540, flexDirection: 'row', alignItems: 'center', gap: 32 }}&gt;&#10;&#10;        &lt;Box style={{ width: 440, flexDirection: 'column', gap: 14 }}&gt;&#10;            &lt;Box style={{ width: 440, height: 156, background: '#EDF4FC', borderRadius: 10, padding: '16px 20px', flexDirection: 'column', gap: 8, justifyContent: 'center' }}&gt;&#10;                &lt;Text style={{ fontSize: 17, fontWeight: 'bold', color: '#276FBF' }}&gt;第一次 accepted&lt;/Text&gt;&#10;                &lt;Text style={{ fontSize: 14, color: '#546779', lineHeight: 1.6 }}&gt;人物本轮结束。MCP 只返回已选动作，供调度执行，并不代表世界层已经做了任何事。&lt;/Text&gt;&#10;            &lt;/Box&gt;&#10;            &lt;Box style={{ width: 440, height: 156, background: '#EDF4FC', borderRadius: 10, padding: '16px 20px', flexDirection: 'column', gap: 8, justifyContent: 'center' }}&gt;&#10;                &lt;Text style={{ fontSize: 17, fontWeight: 'bold', color: '#276FBF' }}&gt;第二次 accepted&lt;/Text&gt;&#10;                &lt;Text style={{ fontSize: 14, color: '#546779', lineHeight: 1.6 }}&gt;对象本轮结束。返回对象动作与回复，供世界执行；此刻答复还没有到达目标人物。&lt;/Text&gt;&#10;            &lt;/Box&gt;&#10;        &lt;/Box&gt;&#10;&#10;        &lt;Box style={{ width: 680, flexDirection: 'column', gap: 14 }}&gt;&#10;            &lt;Box style={{ width: 680, height: 132, background: '#FFF4E6', borderRadius: 10, padding: '16px 20px', flexDirection: 'column', gap: 8, justifyContent: 'center' }}&gt;&#10;                &lt;Text style={{ fontSize: 17, fontWeight: 'bold', color: '#CB6B28' }}&gt;不能用第一次 accepted 代替下一轮反馈&lt;/Text&gt;&#10;                &lt;Text style={{ fontSize: 14, color: '#546779', lineHeight: 1.6 }}&gt;只有目标人物下一轮的 external_observations，才能证明他已经收到了对象答复。&lt;/Text&gt;&#10;            &lt;/Box&gt;&#10;            &lt;Box style={{ width: 680, height: 132, background: '#F7F3E8', borderRadius: 10, padding: '16px 20px', flexDirection: 'column', gap: 8, justifyContent: 'center' }}&gt;&#10;                &lt;Text style={{ fontSize: 17, fontWeight: 'bold', color: '#20344B' }}&gt;读图顺序：先找两次 accepted，再找整步持久提交&lt;/Text&gt;&#10;                &lt;Text style={{ fontSize: 14, color: '#546779', lineHeight: 1.6 }}&gt;MCP 返回的是已选动作；调度器与世界层随后执行，真实请求与回复随整步一起落盘。&lt;/Text&gt;&#10;            &lt;/Box&gt;&#10;            &lt;Text style={{ fontSize: 14, color: '#546779', lineHeight: 1.55 }}&gt;纵向距离不是实测耗时，它只表示阶段关系。&lt;/Text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12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924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INTERACT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只负责发出请求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924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两次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accepted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各说明什么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09600" y="2162175"/>
            <a:ext cx="4191000" cy="1485900"/>
          </a:xfrm>
          <a:prstGeom prst="roundRect">
            <a:avLst>
              <a:gd name="adj" fmla="val 641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00100" y="2514600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第一次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accepted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00100" y="2790825"/>
            <a:ext cx="3810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人物本轮结束。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只返回已选动作，供调度执行，并不代表世界层已经做了任何事。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" y="3781425"/>
            <a:ext cx="4191000" cy="1485900"/>
          </a:xfrm>
          <a:prstGeom prst="roundRect">
            <a:avLst>
              <a:gd name="adj" fmla="val 641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00100" y="4133850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第二次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accepted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00100" y="4410075"/>
            <a:ext cx="3810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对象本轮结束。返回对象动作与回复，供世界执行；此刻答复还没有到达目标人物。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5105400" y="2200275"/>
            <a:ext cx="64770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295900" y="2562225"/>
            <a:ext cx="609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不能用第一次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accepted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代替下一轮反馈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295900" y="2838450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只有目标人物下一轮的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external_observations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，才能证明他已经收到了对象答复。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5105400" y="3590925"/>
            <a:ext cx="6477000" cy="1257300"/>
          </a:xfrm>
          <a:prstGeom prst="roundRect">
            <a:avLst>
              <a:gd name="adj" fmla="val 757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295900" y="3952875"/>
            <a:ext cx="609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读图顺序：先找两次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accepted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，再找整步持久提交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295900" y="4229100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返回的是已选动作；调度器与世界层随后执行，真实请求与回复随整步一起落盘。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105400" y="4981575"/>
            <a:ext cx="6477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纵向距离不是实测耗时，它只表示阶段关系。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31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9" name="" descr="&lt;Slide notes={`现在看请求和回复各自要带什么。&#10;&#10;请求这一侧，运行时会提供一个 request_id，也就是这次请求的身份；还有 agent_key 和 agent_name，说明是谁提出来的；再带上请求内容，比如查询当前公告正文；以及观察时间，也就是提出请求的时刻。&#10;&#10;回复这一侧更严格。对象只能引用自己当前待处理的真实请求 ID，答复正文写在 message 里，而且必须通过本次 world-act 的 responses 提交出去。&#10;&#10;如果对象只把答复写进最终总结，那不算发送，谁也不会收到。重复使用的、伪造的，或者不属于这个对象的请求 ID，都会被拒绝。&#10;&#10;这些校验落在对象交互系统里，可以对照 GameObjectInteractionSystem.interact_selected 去读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2　INTERACT 只负责发出请求&lt;/Text&gt;&#10;            &lt;Text style={{ fontSize: 34, fontWeight: 'bold', color: '#20344B' }}&gt;请求与回复要带什么字段&lt;/Text&gt;&#10;        &lt;/Box&gt;&#10;    &lt;/Box&gt;&#10;&#10;    &lt;Box style={{ height: 540, flexDirection: 'column', justifyContent: 'center', gap: 16 }}&gt;&#10;&#10;        &lt;Box style={{ flexDirection: 'row', gap: 20 }}&gt;&#10;&#10;            &lt;Box style={{ width: 566, height: 312, background: '#EDF4FC', borderRadius: 10, padding: '20px 24px', flexDirection: 'column', gap: 10, justifyContent: 'center' }}&gt;&#10;                &lt;Text style={{ fontSize: 20, fontWeight: 'bold', color: '#276FBF' }}&gt;请求侧：带什么&lt;/Text&gt;&#10;                &lt;Text style={{ fontSize: 15, color: '#546779', lineHeight: 1.9 }}&gt;·　request_id　运行时提供的请求身份{'\n'}·　agent_key 与 agent_name　是谁提的{'\n'}·　请求内容　例如查询当前公告正文{'\n'}·　观察时间　提出请求的时刻&lt;/Text&gt;&#10;                &lt;Text style={{ fontSize: 14, color: '#546779', lineHeight: 1.55 }}&gt;选择键必须从感知结果里取，不能按名字自己拼写。&lt;/Text&gt;&#10;            &lt;/Box&gt;&#10;&#10;            &lt;Box style={{ width: 566, height: 312, background: '#ECF7F2', borderRadius: 10, padding: '20px 24px', flexDirection: 'column', gap: 10, justifyContent: 'center' }}&gt;&#10;                &lt;Text style={{ fontSize: 20, fontWeight: 'bold', color: '#26816B' }}&gt;回复侧：怎么回&lt;/Text&gt;&#10;                &lt;Text style={{ fontSize: 15, color: '#546779', lineHeight: 1.9 }}&gt;·　只能引用自己当前待处理的真实请求 ID{'\n'}·　答复正文写在 message 里{'\n'}·　必须通过本次动作的 responses 提交{'\n'}·　重复、伪造或不属于该对象的 ID 会被拒绝&lt;/Text&gt;&#10;                &lt;Text style={{ fontSize: 14, color: '#546779', lineHeight: 1.55 }}&gt;只写在最终总结里的答复，等于没有发送。&lt;/Text&gt;&#10;            &lt;/Box&gt;&#10;&#10;        &lt;/Box&gt;&#10;&#10;        &lt;Box style={{ width: 1152, height: 76, background: '#F4F7FA', borderRadius: 10, padding: '0 20px', flexDirection: 'row', alignItems: 'center', gap: 18 }}&gt;&#10;            &lt;Box style={{ width: 4, height: 44, background: '#276FBF' }} /&gt;&#10;            &lt;Text style={{ fontSize: 16, fontWeight: 'bold', color: '#276FBF' }}&gt;回复恰好一次、只投递给真实接收者，不向全场广播&lt;/Text&gt;&#10;        &lt;/Box&gt;&#10;&#10;        &lt;Box style={{ width: 1152, height: 72, background: '#F7F3E8', borderRadius: 10, padding: '0 20px', flexDirection: 'row', alignItems: 'center', gap: 18 }}&gt;&#10;            &lt;Box style={{ width: 4, height: 44, background: '#20344B' }} /&gt;&#10;            &lt;Text style={{ fontSize: 14, color: '#546779' }}&gt;源码定位：GameObjectInteractionSystem.interact_selected&lt;/Text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13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INTERACT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只负责发出请求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请求与回复要带什么字段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09600" y="1371600"/>
            <a:ext cx="5391150" cy="2971800"/>
          </a:xfrm>
          <a:prstGeom prst="roundRect">
            <a:avLst>
              <a:gd name="adj" fmla="val 32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493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请求侧：带什么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38200" y="2190750"/>
            <a:ext cx="4933950" cy="13049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request_id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运行时提供的请求身份</a:t>
            </a:r>
            <a:endParaRPr/>
          </a:p>
          <a:p>
            <a:pPr>
              <a:lnSpc>
                <a:spcPct val="19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agent_key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agent_name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是谁提的</a:t>
            </a:r>
            <a:endParaRPr/>
          </a:p>
          <a:p>
            <a:pPr>
              <a:lnSpc>
                <a:spcPct val="19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请求内容　例如查询当前公告正文</a:t>
            </a:r>
            <a:endParaRPr/>
          </a:p>
          <a:p>
            <a:pPr>
              <a:lnSpc>
                <a:spcPct val="19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观察时间　提出请求的时刻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38200" y="3590925"/>
            <a:ext cx="49339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选择键必须从感知结果里取，不能按名字自己拼写。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191250" y="1371600"/>
            <a:ext cx="5391150" cy="2971800"/>
          </a:xfrm>
          <a:prstGeom prst="roundRect">
            <a:avLst>
              <a:gd name="adj" fmla="val 32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419850" y="1866900"/>
            <a:ext cx="493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回复侧：怎么回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419850" y="2190750"/>
            <a:ext cx="4933950" cy="13049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只能引用自己当前待处理的真实请求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  <a:p>
            <a:pPr>
              <a:lnSpc>
                <a:spcPct val="19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答复正文写在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message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里</a:t>
            </a:r>
            <a:endParaRPr/>
          </a:p>
          <a:p>
            <a:pPr>
              <a:lnSpc>
                <a:spcPct val="19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必须通过本次动作的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responses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提交</a:t>
            </a:r>
            <a:endParaRPr/>
          </a:p>
          <a:p>
            <a:pPr>
              <a:lnSpc>
                <a:spcPct val="19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重复、伪造或不属于该对象的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会被拒绝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419850" y="3590925"/>
            <a:ext cx="49339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只写在最终总结里的答复，等于没有发送。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09600" y="44958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800100" y="4648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009650" y="4762500"/>
            <a:ext cx="350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回复恰好一次、只投递给真实接收者，不向全场广播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09600" y="53721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800100" y="5505450"/>
            <a:ext cx="38100" cy="4191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009650" y="5638800"/>
            <a:ext cx="3714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源码定位：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GameObjectInteractionSystem.interact_selected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31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30" name="" descr="&lt;Slide notes={`再换个角度，看看对象自己那一边在做什么。&#10;&#10;绑定根 Skill 以后，公告栏和服务台每一步都会自主运行，哪怕此刻没有任何人提问。它们可以按需感知周围、检索自己的记忆、处理待办的请求，然后提交一次动作。&#10;&#10;它们不是人物。固定设施不移动，所以能提交的动作只有三种：ACT 是做一件与自身有关的事，WAIT 是本轮等待，SET_OBJECT_STATE 是修改自己的状态。&#10;&#10;这里要特别提醒：对象不是只会被动的问答机。它有自己的记忆和状态，会自己决定这一轮要做什么。&#10;&#10;所以在观察实验的时候，不仅要看人物有没有去问，还要看对象那一步到底做了什么，两条线都要能对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3　对象也有独立的轮次&lt;/Text&gt;&#10;            &lt;Text style={{ fontSize: 34, fontWeight: 'bold', color: '#20344B' }}&gt;对象也有独立的轮次&lt;/Text&gt;&#10;        &lt;/Box&gt;&#10;    &lt;/Box&gt;&#10;&#10;    &lt;Box style={{ height: 540, flexDirection: 'row', alignItems: 'center', gap: 32 }}&gt;&#10;&#10;        &lt;Box style={{ width: 300, flexDirection: 'column', gap: 16 }}&gt;&#10;            &lt;Text style={{ fontSize: 17, color: '#546779', lineHeight: 1.75, width: 300 }}&gt;绑定根 Skill 后，公告栏与服务台每 Step 都会自主运行，即使当前没有人提问。&lt;/Text&gt;&#10;            &lt;Box style={{ width: 300, height: 140, background: '#F7F3E8', borderRadius: 10, padding: '14px 18px', flexDirection: 'column', gap: 6, justifyContent: 'center' }}&gt;&#10;                &lt;Text style={{ fontSize: 16, fontWeight: 'bold', color: '#20344B' }}&gt;它们不是人物&lt;/Text&gt;&#10;                &lt;Text style={{ fontSize: 14, color: '#546779', lineHeight: 1.5 }}&gt;固定设施不移动，没有可自由移动的身体。&lt;/Text&gt;&#10;            &lt;/Box&gt;&#10;        &lt;/Box&gt;&#10;&#10;        &lt;Box style={{ width: 820, flexDirection: 'column', gap: 14 }}&gt;&#10;&#10;            &lt;Box style={{ width: 820, height: 132, background: '#F4F7FA', borderRadius: 10, padding: '0 20px', flexDirection: 'column', gap: 5, justifyContent: 'center' }}&gt;&#10;                &lt;Text style={{ fontSize: 17, fontWeight: 'bold', color: '#20344B' }}&gt;每 Step 自主运行，可提交一次动作&lt;/Text&gt;&#10;                &lt;Text style={{ fontSize: 14, color: '#546779' }}&gt;按需感知、检索自己的记忆、处理待办请求，然后交出自己的动作。&lt;/Text&gt;&#10;            &lt;/Box&gt;&#10;&#10;            &lt;Box style={{ flexDirection: 'row', gap: 20 }}&gt;&#10;                &lt;Box style={{ width: 260, height: 132, background: '#EDF4FC', borderRadius: 10, padding: '14px 16px', flexDirection: 'column', gap: 6, justifyContent: 'center' }}&gt;&#10;                    &lt;Text style={{ fontSize: 20, fontWeight: 'bold', color: '#276FBF' }}&gt;ACT&lt;/Text&gt;&#10;                    &lt;Text style={{ fontSize: 14, color: '#546779', lineHeight: 1.5 }}&gt;做一件与自身有关的事&lt;/Text&gt;&#10;                &lt;/Box&gt;&#10;                &lt;Box style={{ width: 260, height: 132, background: '#F4F7FA', borderRadius: 10, padding: '14px 16px', flexDirection: 'column', gap: 6, justifyContent: 'center' }}&gt;&#10;                    &lt;Text style={{ fontSize: 20, fontWeight: 'bold', color: '#20344B' }}&gt;WAIT&lt;/Text&gt;&#10;                    &lt;Text style={{ fontSize: 14, color: '#546779', lineHeight: 1.5 }}&gt;本轮等待，不做任何动作&lt;/Text&gt;&#10;                &lt;/Box&gt;&#10;                &lt;Box style={{ width: 260, height: 132, background: '#ECF7F2', borderRadius: 10, padding: '14px 16px', flexDirection: 'column', gap: 6, justifyContent: 'center' }}&gt;&#10;                    &lt;Text style={{ fontSize: 18, fontWeight: 'bold', color: '#26816B', lineHeight: 1.3 }}&gt;SET_OBJECT_STATE&lt;/Text&gt;&#10;                    &lt;Text style={{ fontSize: 14, color: '#546779', lineHeight: 1.5 }}&gt;修改自身状态并提交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14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对象也有独立的轮次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对象也有独立的轮次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2457450"/>
            <a:ext cx="28575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绑定根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后，公告栏与服务台每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都会自主运行，即使当前没有人提问。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09600" y="3638550"/>
            <a:ext cx="2857500" cy="1333500"/>
          </a:xfrm>
          <a:prstGeom prst="roundRect">
            <a:avLst>
              <a:gd name="adj" fmla="val 714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81050" y="3943350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它们不是人物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81050" y="4191000"/>
            <a:ext cx="2514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固定设施不移动，没有可自由移动的身体。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3771900" y="2390775"/>
            <a:ext cx="78105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3962400" y="2819400"/>
            <a:ext cx="742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每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自主运行，可提交一次动作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3962400" y="3067050"/>
            <a:ext cx="742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按需感知、检索自己的记忆、处理待办请求，然后交出自己的动作。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3771900" y="3781425"/>
            <a:ext cx="2476500" cy="1257300"/>
          </a:xfrm>
          <a:prstGeom prst="roundRect">
            <a:avLst>
              <a:gd name="adj" fmla="val 757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924300" y="4143375"/>
            <a:ext cx="217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ACT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924300" y="4429125"/>
            <a:ext cx="2171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做一件与自身有关的事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438900" y="3781425"/>
            <a:ext cx="24765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591300" y="4143375"/>
            <a:ext cx="217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WAIT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591300" y="4429125"/>
            <a:ext cx="2171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本轮等待，不做任何动作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9105900" y="3781425"/>
            <a:ext cx="2476500" cy="1257300"/>
          </a:xfrm>
          <a:prstGeom prst="roundRect">
            <a:avLst>
              <a:gd name="adj" fmla="val 757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258300" y="4124325"/>
            <a:ext cx="21717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>SET_OBJECT_STATE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258300" y="4457700"/>
            <a:ext cx="2171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修改自身状态并提交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31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53" name="" descr="&lt;Slide notes={`对象每一步的判断，靠的是运行时交给它的几样东西。&#10;&#10;第一样是自己的 object_state，也就是当前状态，它决定这一轮要不要改状态、改成什么。第二样是 last_action，上一次做了什么，用来避免重复。第三样是 interaction_requests，有哪些待处理请求，哪些需要在这一轮回复。第四样是近期处理过的幂等活动键，用来判断这次是不是重复请求。&#10;&#10;还有一件事必须记住：在最终文本里写一句「已回复」，不会发送任何消息。答复必须放进本次动作的 responses，才算真的提交出去。同一个动作可以既改变自身状态，又答复相关请求。&#10;&#10;对象也可以观察本步已经执行的运动事实。感知返回的只是视野内的实际路径片段，还带事实 ID；对象针对已观察到的人物行动时，可以填目标人物和证据编号，但证据必须来自真实感知返回。本案例不要求每轮都凑齐这些字段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3　对象也有独立的轮次&lt;/Text&gt;&#10;            &lt;Text style={{ fontSize: 34, fontWeight: 'bold', color: '#20344B' }}&gt;对象感知什么、依据什么证据&lt;/Text&gt;&#10;        &lt;/Box&gt;&#10;    &lt;/Box&gt;&#10;&#10;    &lt;Box style={{ height: 540, flexDirection: 'column', justifyContent: 'center', gap: 12 }}&gt;&#10;&#10;        &lt;Box style={{ width: 1152, height: 78, background: '#F4F7FA', borderRadius: 10, padding: '0 20px', flexDirection: 'row', alignItems: 'center', gap: 16 }}&gt;&#10;            &lt;Box style={{ width: 4, height: 44, background: '#276FBF' }} /&gt;&#10;            &lt;Box style={{ width: 240 }}&gt;&#10;                &lt;Text style={{ fontSize: 15, fontWeight: 'bold', color: '#20344B' }}&gt;object_state&lt;/Text&gt;&#10;            &lt;/Box&gt;&#10;            &lt;Box style={{ width: 300 }}&gt;&#10;                &lt;Text style={{ fontSize: 14, color: '#546779' }}&gt;自己的当前状态&lt;/Text&gt;&#10;            &lt;/Box&gt;&#10;            &lt;Box style={{ flexDirection: 'column' }}&gt;&#10;                &lt;Text style={{ fontSize: 14, color: '#546779' }}&gt;决定这一轮要不要改状态、改成什么&lt;/Text&gt;&#10;            &lt;/Box&gt;&#10;        &lt;/Box&gt;&#10;&#10;        &lt;Box style={{ width: 1152, height: 78, background: '#F4F7FA', borderRadius: 10, padding: '0 20px', flexDirection: 'row', alignItems: 'center', gap: 16 }}&gt;&#10;            &lt;Box style={{ width: 4, height: 44, background: '#276FBF' }} /&gt;&#10;            &lt;Box style={{ width: 240 }}&gt;&#10;                &lt;Text style={{ fontSize: 15, fontWeight: 'bold', color: '#20344B' }}&gt;last_action&lt;/Text&gt;&#10;            &lt;/Box&gt;&#10;            &lt;Box style={{ width: 300 }}&gt;&#10;                &lt;Text style={{ fontSize: 14, color: '#546779' }}&gt;上一次做过的动作&lt;/Text&gt;&#10;            &lt;/Box&gt;&#10;            &lt;Box style={{ flexDirection: 'column' }}&gt;&#10;                &lt;Text style={{ fontSize: 14, color: '#546779' }}&gt;用来避免原地重复做同一件事&lt;/Text&gt;&#10;            &lt;/Box&gt;&#10;        &lt;/Box&gt;&#10;&#10;        &lt;Box style={{ width: 1152, height: 78, background: '#F4F7FA', borderRadius: 10, padding: '0 20px', flexDirection: 'row', alignItems: 'center', gap: 16 }}&gt;&#10;            &lt;Box style={{ width: 4, height: 44, background: '#276FBF' }} /&gt;&#10;            &lt;Box style={{ width: 240 }}&gt;&#10;                &lt;Text style={{ fontSize: 15, fontWeight: 'bold', color: '#20344B' }}&gt;interaction_requests&lt;/Text&gt;&#10;            &lt;/Box&gt;&#10;            &lt;Box style={{ width: 300 }}&gt;&#10;                &lt;Text style={{ fontSize: 14, color: '#546779' }}&gt;待处理请求与待处理数量&lt;/Text&gt;&#10;            &lt;/Box&gt;&#10;            &lt;Box style={{ flexDirection: 'column' }}&gt;&#10;                &lt;Text style={{ fontSize: 14, color: '#546779' }}&gt;哪些请求需要在这一轮回复&lt;/Text&gt;&#10;            &lt;/Box&gt;&#10;        &lt;/Box&gt;&#10;&#10;        &lt;Box style={{ width: 1152, height: 78, background: '#F4F7FA', borderRadius: 10, padding: '0 20px', flexDirection: 'row', alignItems: 'center', gap: 16 }}&gt;&#10;            &lt;Box style={{ width: 4, height: 44, background: '#CB6B28' }} /&gt;&#10;            &lt;Box style={{ width: 240 }}&gt;&#10;                &lt;Text style={{ fontSize: 15, fontWeight: 'bold', color: '#20344B' }}&gt;近期幂等活动键&lt;/Text&gt;&#10;            &lt;/Box&gt;&#10;            &lt;Box style={{ width: 300 }}&gt;&#10;                &lt;Text style={{ fontSize: 14, color: '#546779' }}&gt;最近处理过的一次性活动&lt;/Text&gt;&#10;            &lt;/Box&gt;&#10;            &lt;Box style={{ flexDirection: 'column' }}&gt;&#10;                &lt;Text style={{ fontSize: 14, color: '#546779' }}&gt;判断这次是不是重复请求；键要与请求身份稳定对应&lt;/Text&gt;&#10;            &lt;/Box&gt;&#10;        &lt;/Box&gt;&#10;&#10;        &lt;Box style={{ width: 1152, height: 76, background: '#FFF4E6', borderRadius: 10, padding: '0 20px', flexDirection: 'row', alignItems: 'center', gap: 18 }}&gt;&#10;            &lt;Box style={{ width: 4, height: 44, background: '#CB6B28' }} /&gt;&#10;            &lt;Box style={{ flexDirection: 'column', gap: 3 }}&gt;&#10;                &lt;Text style={{ fontSize: 15, fontWeight: 'bold', color: '#CB6B28' }}&gt;在最终文本里写「已回复」不会发送任何消息&lt;/Text&gt;&#10;                &lt;Text style={{ fontSize: 14, color: '#546779' }}&gt;答复要放进本次动作的 responses；同一个动作可以既改自身状态，又答复请求。&lt;/Text&gt;&#10;            &lt;/Box&gt;&#10;        &lt;/Box&gt;&#10;&#10;        &lt;Box style={{ width: 1152, height: 72, background: '#F7F3E8', borderRadius: 10, padding: '0 20px', flexDirection: 'row', alignItems: 'center', gap: 18 }}&gt;&#10;            &lt;Box style={{ width: 4, height: 44, background: '#26816B' }} /&gt;&#10;            &lt;Box style={{ flexDirection: 'column', gap: 3 }}&gt;&#10;                &lt;Text style={{ fontSize: 15, fontWeight: 'bold', color: '#20344B' }}&gt;视野之外的坐标与计划路线不算已观察事实&lt;/Text&gt;&#10;                &lt;Text style={{ fontSize: 14, color: '#546779' }}&gt;感知只给视野内的实际路径片段并带事实 ID；证据编号必须来自真实感知返回，且属于所选人物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15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对象也有独立的轮次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对象感知什么、依据什么证据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9600" y="1238250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800100" y="14001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990600" y="152400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>object_state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3429000" y="153352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自己的当前状态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438900" y="153352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决定这一轮要不要改状态、改成什么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09600" y="2095500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800100" y="22574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990600" y="238125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>last_action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3429000" y="239077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上一次做过的动作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438900" y="239077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用来避免原地重复做同一件事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09600" y="2952750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800100" y="31146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90600" y="323850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>interaction_requests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3429000" y="324802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待处理请求与待处理数量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438900" y="32480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哪些请求需要在这一轮回复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09600" y="3810000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800100" y="39719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90600" y="409575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近期幂等活动键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3429000" y="410527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最近处理过的一次性活动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438900" y="410527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判断这次是不是重复请求；键要与请求身份稳定对应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09600" y="466725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800100" y="48196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009650" y="4848225"/>
            <a:ext cx="481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在最终文本里写「已回复」不会发送任何消息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009650" y="5048250"/>
            <a:ext cx="4819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答复要放进本次动作的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responses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；同一个动作可以既改自身状态，又答复请求。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09600" y="55054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800100" y="563880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009650" y="5667375"/>
            <a:ext cx="5781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视野之外的坐标与计划路线不算已观察事实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009650" y="5867400"/>
            <a:ext cx="578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感知只给视野内的实际路径片段并带事实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；证据编号必须来自真实感知返回，且属于所选人物。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31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88" name="" descr="&lt;Slide notes={`接下来把公告更新这一段情节拆开。&#10;&#10;这一段的重点是证据门槛：候选建议、正式更新和访客获知，三件事不能合并成一件事。&#10;&#10;服务台从咨询里给出的，只是一个候选：原来的安排可能可以调整到十点半。这还只是建议。&#10;&#10;林岚要自己核实这个候选站不站得住，然后决定要不要发起更新。决定之后，她要通过 INTERACT 真的向公告栏提出请求。&#10;&#10;公告栏收到请求，按教案核对请求者和内容，然后由它自己提交一次动作，把状态从原始改成修订。&#10;&#10;每一步都要有各自的证据，谁也不能替谁。候选人说了不算，组织者说了也不算，只有公告栏真的提交了才算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3　　3.7.4&lt;/Text&gt;&#10;&#10;        &lt;Text style={{ fontSize: 56, fontWeight: 'bold', color: '#20344B', lineHeight: 1.15 }}&gt;设计公告更新这一段情节&lt;/Text&gt;&#10;&#10;        &lt;Box style={{ width: 72, height: 4, background: '#276FBF' }} /&gt;&#10;&#10;        &lt;Text style={{ fontSize: 18, color: '#546779', lineHeight: 1.7, width: 900 }}&gt;候选建议、正式更新和访客获知不能合并成一件事，每一步都要有各自的证据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候选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核实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提交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16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3.7.4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设计公告更新这一段情节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候选建议、正式更新和访客获知不能合并成一件事，每一步都要有各自的证据。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8669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候选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1435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核实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4201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提交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31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04" name="" descr="&lt;Slide notes={`这一段情节成立的前提，是信息被分开放。&#10;&#10;这一章的教案给服务台一条私有的背景事实：手作室在二〇二六年十月十七日十点到十点半已经有预约。而原来的公告上仍然写着十点开始，两者冲突。&#10;&#10;这条事实只写进服务台自己的材料，不放进四个人共用的 Brain。这一点非常关键：如果放进共同记忆，每个角色从第一轮就会通过系统提示直接知道答案。&#10;&#10;那样的话，实验表面上可能走得很顺，但信息传播这件事完全没有被演示出来，谁回答对了也只是复述作者的答案。&#10;&#10;顺带说一句，活动计划里的二十四、十、十六这些数字是计划元数据；这次实验只有四名 Agent，不能据此说几十人已经到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4　设计公告更新这一段情节&lt;/Text&gt;&#10;            &lt;Text style={{ fontSize: 34, fontWeight: 'bold', color: '#20344B' }}&gt;私有事实只交给服务台&lt;/Text&gt;&#10;        &lt;/Box&gt;&#10;    &lt;/Box&gt;&#10;&#10;    &lt;Box style={{ height: 540, flexDirection: 'row', alignItems: 'center', gap: 24 }}&gt;&#10;&#10;        &lt;Box style={{ width: 420, height: 320, background: '#F7F3E8', borderRadius: 10, padding: '22px 24px', flexDirection: 'column', gap: 12, justifyContent: 'center' }}&gt;&#10;            &lt;Text style={{ fontSize: 18, fontWeight: 'bold', color: '#20344B' }}&gt;服务台私有预约事实&lt;/Text&gt;&#10;            &lt;Text style={{ fontSize: 16, fontWeight: 'bold', color: '#276FBF', lineHeight: 1.5 }}&gt;手作室已有预约{'\n'}10:00 — 10:30&lt;/Text&gt;&#10;            &lt;Text style={{ fontSize: 14, color: '#546779', lineHeight: 1.6 }}&gt;只写入服务台材料，不放进四人共用的 Brain；组织者要自己咨询才能拿到。&lt;/Text&gt;&#10;        &lt;/Box&gt;&#10;&#10;        &lt;Box style={{ width: 44, height: 320, justifyContent: 'center', alignItems: 'center' }}&gt;&#10;            &lt;Text style={{ fontSize: 28, color: '#276FBF' }}&gt;›&lt;/Text&gt;&#10;        &lt;/Box&gt;&#10;&#10;        &lt;Box style={{ width: 640, flexDirection: 'column', gap: 14 }}&gt;&#10;&#10;            &lt;Box style={{ width: 640, height: 128, background: '#EDF4FC', borderRadius: 10, padding: '16px 20px', flexDirection: 'column', gap: 6, justifyContent: 'center' }}&gt;&#10;                &lt;Text style={{ fontSize: 17, fontWeight: 'bold', color: '#276FBF' }}&gt;原公告仍写「手作活动十点开始」&lt;/Text&gt;&#10;                &lt;Text style={{ fontSize: 14, color: '#546779', lineHeight: 1.55 }}&gt;两处信息冲突，所以组织者要先核实，再决定是否调整为十点半至十一点半。&lt;/Text&gt;&#10;            &lt;/Box&gt;&#10;&#10;            &lt;Box style={{ width: 640, height: 156, background: '#FFF4E6', borderRadius: 10, padding: '16px 20px', flexDirection: 'column', gap: 6, justifyContent: 'center' }}&gt;&#10;                &lt;Text style={{ fontSize: 17, fontWeight: 'bold', color: '#CB6B28' }}&gt;若放进四人共用的 Brain&lt;/Text&gt;&#10;                &lt;Text style={{ fontSize: 14, color: '#546779', lineHeight: 1.6 }}&gt;每个角色从第一轮就会通过系统提示知道答案。实验虽然可能顺利完成，却无法演示信息传播。&lt;/Text&gt;&#10;            &lt;/Box&gt;&#10;&#10;            &lt;Box style={{ width: 640, height: 96, background: '#F4F7FA', borderRadius: 10, padding: '16px 20px', flexDirection: 'column', gap: 6, justifyContent: 'center' }}&gt;&#10;                &lt;Text style={{ fontSize: 14, color: '#546779', lineHeight: 1.55 }}&gt;计划里的二十四人、十人和十六人是计划元数据；当前实验只有四名 Agent，不能据此声称有几十人已经到场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17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设计公告更新这一段情节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私有事实只交给服务台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09600" y="2190750"/>
            <a:ext cx="4000500" cy="3048000"/>
          </a:xfrm>
          <a:prstGeom prst="roundRect">
            <a:avLst>
              <a:gd name="adj" fmla="val 312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38200" y="2962275"/>
            <a:ext cx="3543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服务台私有预约事实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38200" y="3286125"/>
            <a:ext cx="3543300" cy="552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手作室已有预约</a:t>
            </a:r>
            <a:endParaRPr/>
          </a:p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10:00 — 10:30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38200" y="3952875"/>
            <a:ext cx="3543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只写入服务台材料，不放进四人共用的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；组织者要自己咨询才能拿到。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000625" y="3552825"/>
            <a:ext cx="95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5486400" y="1771650"/>
            <a:ext cx="6096000" cy="1219200"/>
          </a:xfrm>
          <a:prstGeom prst="roundRect">
            <a:avLst>
              <a:gd name="adj" fmla="val 781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676900" y="2124075"/>
            <a:ext cx="571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原公告仍写「手作活动十点开始」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676900" y="2381250"/>
            <a:ext cx="5715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两处信息冲突，所以组织者要先核实，再决定是否调整为十点半至十一点半。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5486400" y="3124200"/>
            <a:ext cx="6096000" cy="1485900"/>
          </a:xfrm>
          <a:prstGeom prst="roundRect">
            <a:avLst>
              <a:gd name="adj" fmla="val 641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676900" y="3609975"/>
            <a:ext cx="571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若放进四人共用的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676900" y="3867150"/>
            <a:ext cx="5715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每个角色从第一轮就会通过系统提示知道答案。实验虽然可能顺利完成，却无法演示信息传播。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5486400" y="4743450"/>
            <a:ext cx="60960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676900" y="4953000"/>
            <a:ext cx="57150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计划里的二十四人、十人和十六人是计划元数据；当前实验只有四名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，不能据此声称有几十人已经到场。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31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24" name="" descr="&lt;Slide notes={`把从候选到正式更正的路走一遍，一共四道门槛。&#10;&#10;第一道是服务台的私有事实：手作室十点到十点半有预约。&#10;&#10;第二道是真实咨询。林岚去问，服务台才给出答复，提出可以调整到十点半的候选。&#10;&#10;第三道是林岚自己核实与决定。她不能凭对方一句话就照办，要判断这个候选站不站得住，再通过 INTERACT 提出更新请求。&#10;&#10;第四道是公告栏按教案核对请求的来源与内容。它检查的是请求者身份，不是文本里说了什么。&#10;&#10;四道都过完，公告栏才用自己的动作去改状态，并在同一次动作里带上回复。最后世界执行并整步提交，状态从原始变成修订。候选只是建议，正式更正必须走完这四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4　设计公告更新这一段情节&lt;/Text&gt;&#10;            &lt;Text style={{ fontSize: 34, fontWeight: 'bold', color: '#20344B' }}&gt;从候选到正式更新的四道门槛&lt;/Text&gt;&#10;        &lt;/Box&gt;&#10;    &lt;/Box&gt;&#10;&#10;    &lt;Box style={{ height: 540, flexDirection: 'column', justifyContent: 'center', gap: 14 }}&gt;&#10;&#10;        &lt;Box style={{ width: 1152, height: 78, background: '#F4F7FA', borderRadius: 10, padding: '0 20px', flexDirection: 'row', alignItems: 'center', gap: 16 }}&gt;&#10;            &lt;Box style={{ width: 44, height: 44, background: '#276FBF', borderRadius: 8, justifyContent: 'center', alignItems: 'center' }}&gt;&#10;                &lt;Text style={{ fontSize: 20, fontWeight: 'bold', color: '#FFFFFF' }}&gt;1&lt;/Text&gt;&#10;            &lt;/Box&gt;&#10;            &lt;Box style={{ width: 250 }}&gt;&#10;                &lt;Text style={{ fontSize: 16, fontWeight: 'bold', color: '#20344B' }}&gt;服务台私有预约事实&lt;/Text&gt;&#10;            &lt;/Box&gt;&#10;            &lt;Box style={{ flexDirection: 'column' }}&gt;&#10;                &lt;Text style={{ fontSize: 14, color: '#546779' }}&gt;10:00—10:30 已有预约，只写在服务台材料里。&lt;/Text&gt;&#10;            &lt;/Box&gt;&#10;        &lt;/Box&gt;&#10;&#10;        &lt;Box style={{ width: 1152, height: 78, background: '#F4F7FA', borderRadius: 10, padding: '0 20px', flexDirection: 'row', alignItems: 'center', gap: 16 }}&gt;&#10;            &lt;Box style={{ width: 44, height: 44, background: '#276FBF', borderRadius: 8, justifyContent: 'center', alignItems: 'center' }}&gt;&#10;                &lt;Text style={{ fontSize: 20, fontWeight: 'bold', color: '#FFFFFF' }}&gt;2&lt;/Text&gt;&#10;            &lt;/Box&gt;&#10;            &lt;Box style={{ width: 250 }}&gt;&#10;                &lt;Text style={{ fontSize: 16, fontWeight: 'bold', color: '#20344B' }}&gt;真实咨询答复&lt;/Text&gt;&#10;            &lt;/Box&gt;&#10;            &lt;Box style={{ flexDirection: 'column' }}&gt;&#10;                &lt;Text style={{ fontSize: 14, color: '#546779' }}&gt;提出可调整到 10:30 的候选，这仍然只是建议。&lt;/Text&gt;&#10;            &lt;/Box&gt;&#10;        &lt;/Box&gt;&#10;&#10;        &lt;Box style={{ width: 1152, height: 78, background: '#F4F7FA', borderRadius: 10, padding: '0 20px', flexDirection: 'row', alignItems: 'center', gap: 16 }}&gt;&#10;            &lt;Box style={{ width: 44, height: 44, background: '#276FBF', borderRadius: 8, justifyContent: 'center', alignItems: 'center' }}&gt;&#10;                &lt;Text style={{ fontSize: 20, fontWeight: 'bold', color: '#FFFFFF' }}&gt;3&lt;/Text&gt;&#10;            &lt;/Box&gt;&#10;            &lt;Box style={{ width: 250 }}&gt;&#10;                &lt;Text style={{ fontSize: 16, fontWeight: 'bold', color: '#20344B' }}&gt;林岚核实与决定&lt;/Text&gt;&#10;            &lt;/Box&gt;&#10;            &lt;Box style={{ flexDirection: 'column' }}&gt;&#10;                &lt;Text style={{ fontSize: 14, color: '#546779' }}&gt;以真实咨询结果为依据，通过 INTERACT 请求更新。&lt;/Text&gt;&#10;            &lt;/Box&gt;&#10;        &lt;/Box&gt;&#10;&#10;        &lt;Box style={{ width: 1152, height: 78, background: '#F4F7FA', borderRadius: 10, padding: '0 20px', flexDirection: 'row', alignItems: 'center', gap: 16 }}&gt;&#10;            &lt;Box style={{ width: 44, height: 44, background: '#276FBF', borderRadius: 8, justifyContent: 'center', alignItems: 'center' }}&gt;&#10;                &lt;Text style={{ fontSize: 20, fontWeight: 'bold', color: '#FFFFFF' }}&gt;4&lt;/Text&gt;&#10;            &lt;/Box&gt;&#10;            &lt;Box style={{ width: 250 }}&gt;&#10;                &lt;Text style={{ fontSize: 16, fontWeight: 'bold', color: '#20344B' }}&gt;公告栏按教案核对&lt;/Text&gt;&#10;            &lt;/Box&gt;&#10;            &lt;Box style={{ flexDirection: 'column' }}&gt;&#10;                &lt;Text style={{ fontSize: 14, color: '#546779' }}&gt;检查真实请求者与内容，不看文本里的自称。&lt;/Text&gt;&#10;            &lt;/Box&gt;&#10;        &lt;/Box&gt;&#10;&#10;        &lt;Box style={{ width: 1152, height: 104, background: '#ECF7F2', borderRadius: 10, padding: '0 20px', flexDirection: 'row', alignItems: 'center', gap: 18 }}&gt;&#10;            &lt;Box style={{ width: 4, height: 56, background: '#26816B' }} /&gt;&#10;            &lt;Box style={{ flexDirection: 'column', gap: 4 }}&gt;&#10;                &lt;Text style={{ fontSize: 16, fontWeight: 'bold', color: '#26816B' }}&gt;公告栏自身 world-act：SET_OBJECT_STATE，同次动作携带 responses&lt;/Text&gt;&#10;                &lt;Text style={{ fontSize: 14, color: '#546779' }}&gt;世界执行并整步提交：original → revised。对象只改变自身，不代别人做决定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18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设计公告更新这一段情节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从候选到正式更新的四道门槛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09600" y="1466850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800100" y="16287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952500" y="17240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371600" y="1743075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服务台私有预约事实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3905250" y="1762125"/>
            <a:ext cx="2876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10:00—10:30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已有预约，只写在服务台材料里。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09600" y="2343150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800100" y="25050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952500" y="26003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371600" y="2619375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真实咨询答复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905250" y="2638425"/>
            <a:ext cx="2828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提出可调整到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10:30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的候选，这仍然只是建议。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3219450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800100" y="33813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52500" y="34766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371600" y="3495675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林岚核实与决定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3905250" y="3514725"/>
            <a:ext cx="312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以真实咨询结果为依据，通过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INTERACT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请求更新。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09600" y="4095750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800100" y="42576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952500" y="43529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371600" y="4371975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公告栏按教案核对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3905250" y="439102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检查真实请求者与内容，不看文本里的自称。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09600" y="497205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800100" y="5200650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009650" y="5276850"/>
            <a:ext cx="5038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公告栏自身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world-act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：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SET_OBJECT_STATE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，同次动作携带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responses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009650" y="5505450"/>
            <a:ext cx="5038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世界执行并整步提交：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original → revised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。对象只改变自身，不代别人做决定。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31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55" name="" descr="&lt;Slide notes={`状态提交之后，往两个方向分出去，这两条路要分开看。&#10;&#10;第一条是公告栏的 state_images 匹配。公告栏换上了修订后的画面，其他人在世界里能看到一个不一样的状态标签。这只说明外观变了。&#10;&#10;第二条是访客自己提出真实的查询。他问了，才收到正式的内容答复，这时候才算真正知道通知正文写了什么。&#10;&#10;关键就在这两句：看到 revised，不等于读到通知正文。回复只向真实请求者投递，不会顺手告诉所有人。&#10;&#10;另外提醒一句，服务台那个 ready 也只是一个公开状态标签，画面沿用背景里的默认外观，它是另一项外观配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4　设计公告更新这一段情节&lt;/Text&gt;&#10;            &lt;Text style={{ fontSize: 34, fontWeight: 'bold', color: '#20344B' }}&gt;提交之后的两个分支&lt;/Text&gt;&#10;        &lt;/Box&gt;&#10;    &lt;/Box&gt;&#10;&#10;    &lt;Box style={{ height: 540, flexDirection: 'column', justifyContent: 'center', gap: 14 }}&gt;&#10;&#10;        &lt;Box style={{ width: 1152, height: 76, background: '#ECF7F2', borderRadius: 10, padding: '0 20px', flexDirection: 'row', alignItems: 'center', gap: 18 }}&gt;&#10;            &lt;Box style={{ width: 4, height: 44, background: '#26816B' }} /&gt;&#10;            &lt;Text style={{ fontSize: 16, fontWeight: 'bold', color: '#26816B' }}&gt;世界执行并整步提交：公告栏状态 original → revised&lt;/Text&gt;&#10;        &lt;/Box&gt;&#10;&#10;        &lt;Box style={{ height: 30, justifyContent: 'center', alignItems: 'center' }}&gt;&#10;            &lt;Text style={{ fontSize: 20, color: '#26816B' }}&gt;↓&lt;/Text&gt;&#10;        &lt;/Box&gt;&#10;&#10;        &lt;Box style={{ flexDirection: 'row', gap: 20 }}&gt;&#10;            &lt;Box style={{ width: 566, height: 152, background: '#EDF4FC', borderRadius: 10, padding: '16px 20px', flexDirection: 'column', gap: 6, justifyContent: 'center' }}&gt;&#10;                &lt;Text style={{ fontSize: 17, fontWeight: 'bold', color: '#276FBF' }}&gt;分支一：公告 state_images 匹配&lt;/Text&gt;&#10;                &lt;Text style={{ fontSize: 14, color: '#546779', lineHeight: 1.6 }}&gt;画面切换，其他人在世界里能看到 revised 的状态标签。&lt;/Text&gt;&#10;            &lt;/Box&gt;&#10;            &lt;Box style={{ width: 566, height: 152, background: '#EDF4FC', borderRadius: 10, padding: '16px 20px', flexDirection: 'column', gap: 6, justifyContent: 'center' }}&gt;&#10;                &lt;Text style={{ fontSize: 17, fontWeight: 'bold', color: '#276FBF' }}&gt;分支二：访客提出真实查询&lt;/Text&gt;&#10;                &lt;Text style={{ fontSize: 14, color: '#546779', lineHeight: 1.6 }}&gt;收到正式内容答复之后，才真正获知通知正文。&lt;/Text&gt;&#10;            &lt;/Box&gt;&#10;        &lt;/Box&gt;&#10;&#10;        &lt;Box style={{ width: 1152, height: 92, background: '#FFF4E6', borderRadius: 10, padding: '0 20px', flexDirection: 'row', alignItems: 'center', gap: 18 }}&gt;&#10;            &lt;Box style={{ width: 4, height: 48, background: '#CB6B28' }} /&gt;&#10;            &lt;Box style={{ flexDirection: 'column', gap: 4 }}&gt;&#10;                &lt;Text style={{ fontSize: 16, fontWeight: 'bold', color: '#CB6B28' }}&gt;外观改变不等于读到正文&lt;/Text&gt;&#10;                &lt;Text style={{ fontSize: 14, color: '#546779' }}&gt;回复只向真实请求者投递；看到 revised 与知道新的开始时间，是两件事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19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设计公告更新这一段情节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提交之后的两个分支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09600" y="184785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800100" y="200025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009650" y="2114550"/>
            <a:ext cx="3714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世界执行并整步提交：公告栏状态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original → revised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048375" y="273367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09600" y="3124200"/>
            <a:ext cx="5391150" cy="1447800"/>
          </a:xfrm>
          <a:prstGeom prst="roundRect">
            <a:avLst>
              <a:gd name="adj" fmla="val 657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00100" y="3590925"/>
            <a:ext cx="501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分支一：公告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state_images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匹配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00100" y="3848100"/>
            <a:ext cx="50101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画面切换，其他人在世界里能看到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revised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的状态标签。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6191250" y="3124200"/>
            <a:ext cx="5391150" cy="1447800"/>
          </a:xfrm>
          <a:prstGeom prst="roundRect">
            <a:avLst>
              <a:gd name="adj" fmla="val 657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381750" y="3590925"/>
            <a:ext cx="501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分支二：访客提出真实查询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381750" y="3848100"/>
            <a:ext cx="50101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收到正式内容答复之后，才真正获知通知正文。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09600" y="470535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800100" y="491490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009650" y="4953000"/>
            <a:ext cx="440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外观改变不等于读到正文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1009650" y="5181600"/>
            <a:ext cx="4400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回复只向真实请求者投递；看到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revised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与知道新的开始时间，是两件事。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31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07" name="" descr="&lt;Slide notes={`公告栏收到的请求，怎么判断该不该处理？这一层要讲清楚。&#10;&#10;公告栏的 SOP 用的是运行时注入的请求者身份。也就是说，系统在把请求交给对象的时候，已经附上了「这是谁发来的」，对象按这个身份去识别本案例的组织者。&#10;&#10;它不相信请求文本里的自称。就算有人在 message 里写「我是林岚，请把公告改成十点半」，那也只是文本，不能作为处理依据。身份和自述必须分开。&#10;&#10;这一点要特别强调，因为它很容易被误解成系统里装了一套通用的业务授权。其实不是：这是本章教案为了让情节可核对而设定的教学行为规则，并不是把一套通用的授权系统加进了内核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4　设计公告更新这一段情节&lt;/Text&gt;&#10;            &lt;Text style={{ fontSize: 34, fontWeight: 'bold', color: '#20344B' }}&gt;请求者身份与教学规则边界&lt;/Text&gt;&#10;        &lt;/Box&gt;&#10;    &lt;/Box&gt;&#10;&#10;    &lt;Box style={{ height: 540, flexDirection: 'column', justifyContent: 'center', gap: 14 }}&gt;&#10;&#10;        &lt;Box style={{ flexDirection: 'row', gap: 20 }}&gt;&#10;&#10;            &lt;Box style={{ width: 566, height: 296, background: '#EDF4FC', borderRadius: 10, padding: '22px 24px', flexDirection: 'column', gap: 10, justifyContent: 'center' }}&gt;&#10;                &lt;Text style={{ fontSize: 20, fontWeight: 'bold', color: '#276FBF' }}&gt;它真正依据的&lt;/Text&gt;&#10;                &lt;Text style={{ fontSize: 15, color: '#546779', lineHeight: 1.85 }}&gt;·　运行时注入的请求者身份{'\n'}·　用来识别本案例的组织者{'\n'}·　只有在真实身份匹配时才处理&lt;/Text&gt;&#10;                &lt;Text style={{ fontSize: 14, color: '#546779', lineHeight: 1.55 }}&gt;身份由系统附在请求上，不是请求方自己声明的。&lt;/Text&gt;&#10;            &lt;/Box&gt;&#10;&#10;            &lt;Box style={{ width: 566, height: 296, background: '#FFF4E6', borderRadius: 10, padding: '22px 24px', flexDirection: 'column', gap: 10, justifyContent: 'center' }}&gt;&#10;                &lt;Text style={{ fontSize: 20, fontWeight: 'bold', color: '#CB6B28' }}&gt;它不相信的&lt;/Text&gt;&#10;                &lt;Text style={{ fontSize: 15, color: '#546779', lineHeight: 1.85 }}&gt;·　请求文本里「我是林岚」这样的自称{'\n'}·　自称可以写在正文里，但不能当依据{'\n'}·　预期之内的拒绝，不是系统故障&lt;/Text&gt;&#10;                &lt;Text style={{ fontSize: 14, color: '#546779', lineHeight: 1.55 }}&gt;把拒绝当成 bug 去查，会把正确的行为改坏。&lt;/Text&gt;&#10;            &lt;/Box&gt;&#10;&#10;        &lt;/Box&gt;&#10;&#10;        &lt;Box style={{ width: 1152, height: 96, background: '#F7F3E8', borderRadius: 10, padding: '0 20px', flexDirection: 'row', alignItems: 'center', gap: 18 }}&gt;&#10;            &lt;Box style={{ width: 4, height: 48, background: '#20344B' }} /&gt;&#10;            &lt;Box style={{ flexDirection: 'column', gap: 4 }}&gt;&#10;                &lt;Text style={{ fontSize: 16, fontWeight: 'bold', color: '#20344B' }}&gt;这是教学行为规则，不是内核里的通用授权系统&lt;/Text&gt;&#10;                &lt;Text style={{ fontSize: 14, color: '#546779' }}&gt;它为本案例的可核对性服务；对象只改变自身，不能顺便改另一个人的记忆或手作室状态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20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设计公告更新这一段情节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请求者身份与教学规则边界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609600" y="1781175"/>
            <a:ext cx="5391150" cy="2819400"/>
          </a:xfrm>
          <a:prstGeom prst="roundRect">
            <a:avLst>
              <a:gd name="adj" fmla="val 337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38200" y="2381250"/>
            <a:ext cx="493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它真正依据的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38200" y="2705100"/>
            <a:ext cx="4933950" cy="9525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运行时注入的请求者身份</a:t>
            </a:r>
            <a:endParaRPr/>
          </a:p>
          <a:p>
            <a:pPr>
              <a:lnSpc>
                <a:spcPct val="18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用来识别本案例的组织者</a:t>
            </a:r>
            <a:endParaRPr/>
          </a:p>
          <a:p>
            <a:pPr>
              <a:lnSpc>
                <a:spcPct val="18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只有在真实身份匹配时才处理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38200" y="3752850"/>
            <a:ext cx="49339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身份由系统附在请求上，不是请求方自己声明的。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6191250" y="1781175"/>
            <a:ext cx="5391150" cy="2819400"/>
          </a:xfrm>
          <a:prstGeom prst="roundRect">
            <a:avLst>
              <a:gd name="adj" fmla="val 337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419850" y="2381250"/>
            <a:ext cx="493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它不相信的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419850" y="2705100"/>
            <a:ext cx="4933950" cy="9525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请求文本里「我是林岚」这样的自称</a:t>
            </a:r>
            <a:endParaRPr/>
          </a:p>
          <a:p>
            <a:pPr>
              <a:lnSpc>
                <a:spcPct val="18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自称可以写在正文里，但不能当依据</a:t>
            </a:r>
            <a:endParaRPr/>
          </a:p>
          <a:p>
            <a:pPr>
              <a:lnSpc>
                <a:spcPct val="18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·　预期之内的拒绝，不是系统故障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419850" y="3752850"/>
            <a:ext cx="49339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把拒绝当成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bug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去查，会把正确的行为改坏。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609600" y="47339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800100" y="4962525"/>
            <a:ext cx="38100" cy="4572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009650" y="5000625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这是教学行为规则，不是内核里的通用授权系统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009650" y="5229225"/>
            <a:ext cx="533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它为本案例的可核对性服务；对象只改变自身，不能顺便改另一个人的记忆或手作室状态。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31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26" name="" descr="&lt;Slide notes={`把这几条边界收一下，避免误读。&#10;&#10;第一，对象有没有被塞进一套通用授权？没有。公告栏按身份判断，是本章教案为了情节能核对而写下的教学行为规则，不是内核里的通用能力。&#10;&#10;第二，对象能改什么？只能改自己。它不能顺手改另一个人的记忆，也不能替手作室改状态。谁的记忆谁维护，谁的状态谁提交。&#10;&#10;第三，一次拒绝意味着什么？按真实请求者身份拒掉一个不相符的请求，是设计内的结果，不能记成故障。要区分「行为不对」和「系统坏了」。&#10;&#10;把这三条讲清楚，后面看回放和做验收的时候，才不会被一次正常的拒绝带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4　设计公告更新这一段情节&lt;/Text&gt;&#10;            &lt;Text style={{ fontSize: 34, fontWeight: 'bold', color: '#20344B' }}&gt;教学行为的边界&lt;/Text&gt;&#10;        &lt;/Box&gt;&#10;    &lt;/Box&gt;&#10;&#10;    &lt;Box style={{ height: 540, flexDirection: 'column', justifyContent: 'center', gap: 14 }}&gt;&#10;&#10;        &lt;Box style={{ width: 1152, height: 104, background: '#F4F7FA', borderRadius: 10, padding: '0 20px', flexDirection: 'row', alignItems: 'center', gap: 18 }}&gt;&#10;            &lt;Box style={{ width: 4, height: 52, background: '#276FBF' }} /&gt;&#10;            &lt;Box style={{ width: 230 }}&gt;&#10;                &lt;Text style={{ fontSize: 16, fontWeight: 'bold', color: '#20344B' }}&gt;加进内核了吗&lt;/Text&gt;&#10;            &lt;/Box&gt;&#10;            &lt;Box style={{ flexDirection: 'column', gap: 4 }}&gt;&#10;                &lt;Text style={{ fontSize: 15, fontWeight: 'bold', color: '#276FBF' }}&gt;没有&lt;/Text&gt;&#10;                &lt;Text style={{ fontSize: 14, color: '#546779' }}&gt;这是教案里的教学行为规则，不是一套通用的业务授权系统。&lt;/Text&gt;&#10;            &lt;/Box&gt;&#10;        &lt;/Box&gt;&#10;&#10;        &lt;Box style={{ width: 1152, height: 104, background: '#F4F7FA', borderRadius: 10, padding: '0 20px', flexDirection: 'row', alignItems: 'center', gap: 18 }}&gt;&#10;            &lt;Box style={{ width: 4, height: 52, background: '#26816B' }} /&gt;&#10;            &lt;Box style={{ width: 230 }}&gt;&#10;                &lt;Text style={{ fontSize: 16, fontWeight: 'bold', color: '#20344B' }}&gt;对象能改什么&lt;/Text&gt;&#10;            &lt;/Box&gt;&#10;            &lt;Box style={{ flexDirection: 'column', gap: 4 }}&gt;&#10;                &lt;Text style={{ fontSize: 15, fontWeight: 'bold', color: '#26816B' }}&gt;只改自身&lt;/Text&gt;&#10;                &lt;Text style={{ fontSize: 14, color: '#546779' }}&gt;不能顺便改另一个人的记忆，也不能替手作室改状态。&lt;/Text&gt;&#10;            &lt;/Box&gt;&#10;        &lt;/Box&gt;&#10;&#10;        &lt;Box style={{ width: 1152, height: 104, background: '#F4F7FA', borderRadius: 10, padding: '0 20px', flexDirection: 'row', alignItems: 'center', gap: 18 }}&gt;&#10;            &lt;Box style={{ width: 4, height: 52, background: '#CB6B28' }} /&gt;&#10;            &lt;Box style={{ width: 230 }}&gt;&#10;                &lt;Text style={{ fontSize: 16, fontWeight: 'bold', color: '#20344B' }}&gt;拒绝算不算故障&lt;/Text&gt;&#10;            &lt;/Box&gt;&#10;            &lt;Box style={{ flexDirection: 'column', gap: 4 }}&gt;&#10;                &lt;Text style={{ fontSize: 15, fontWeight: 'bold', color: '#CB6B28' }}&gt;不算，是设计内的结果&lt;/Text&gt;&#10;                &lt;Text style={{ fontSize: 14, color: '#546779' }}&gt;判断依据是真实请求者身份，不是请求文本里的自称。&lt;/Text&gt;&#10;            &lt;/Box&gt;&#10;        &lt;/Box&gt;&#10;&#10;        &lt;Box style={{ width: 1152, height: 84, background: '#F7F3E8', borderRadius: 10, padding: '0 20px', flexDirection: 'row', alignItems: 'center', gap: 18 }}&gt;&#10;            &lt;Box style={{ width: 4, height: 44, background: '#20344B' }} /&gt;&#10;            &lt;Text style={{ fontSize: 15, color: '#546779' }}&gt;把边界讲在前面，看回放和做验收时才不会把一次正常的拒绝当成系统出错。&lt;/Text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21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设计公告更新这一段情节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教学行为的边界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609600" y="162877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800100" y="187642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009650" y="2028825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加进内核了吗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3371850" y="1943100"/>
            <a:ext cx="3600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没有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3371850" y="2152650"/>
            <a:ext cx="3600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这是教案里的教学行为规则，不是一套通用的业务授权系统。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609600" y="27527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7" name=""/>
          <p:cNvSpPr/>
          <p:nvPr/>
        </p:nvSpPr>
        <p:spPr>
          <a:xfrm rot="0" flipH="0" flipV="0">
            <a:off x="800100" y="300037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009650" y="3152775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对象能改什么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3371850" y="3067050"/>
            <a:ext cx="320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只改自身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3371850" y="3276600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不能顺便改另一个人的记忆，也不能替手作室改状态。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609600" y="387667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800100" y="4124325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1009650" y="4276725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拒绝算不算故障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3371850" y="4191000"/>
            <a:ext cx="320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不算，是设计内的结果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3371850" y="4400550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判断依据是真实请求者身份，不是请求文本里的自称。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609600" y="50006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800100" y="5191125"/>
            <a:ext cx="38100" cy="4191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009650" y="5314950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把边界讲在前面，看回放和做验收时才不会把一次正常的拒绝当成系统出错。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31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51" name="" descr="&lt;Slide notes={`最后一块，先动手把对象配好，再回头核对它到底有没有回应。&#10;&#10;在地图编辑器里，选中四层结构中的公告栏，打开「对象 Skill」，绑定 qinghe-notice-board；服务台绑 qinghe-helpdesk。&#10;&#10;绑好之后要填参数：感知范围、注意力带宽、交互说明、交互距离、默认请求，还要在「初始状态」里编辑那个 JSON 对象。这些参数以本章案例材料为准，保存后最好重开一次核对。&#10;&#10;配置完还不算结束。运行中必须能找到一个真实的 SET_OBJECT_STATE，加上回放里的状态变化，才能证明公告栏这一次真的把公告更新了。&#10;&#10;所以这一段是两件事：先配，再验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4　　3.7.5 — 3.7.6&lt;/Text&gt;&#10;&#10;        &lt;Text style={{ fontSize: 56, fontWeight: 'bold', color: '#20344B', lineHeight: 1.15 }}&gt;配置对象，核对到达&lt;/Text&gt;&#10;&#10;        &lt;Box style={{ width: 72, height: 4, background: '#276FBF' }} /&gt;&#10;&#10;        &lt;Text style={{ fontSize: 18, color: '#546779', lineHeight: 1.7, width: 900 }}&gt;先在地图页面把对象 Skill 绑好，再沿请求链核对消息是否真正到达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绑定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参数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核对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22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3.7.5 — 3.7.6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配置对象，核对到达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先在地图页面把对象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绑好，再沿请求链核对消息是否真正到达。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8669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绑定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1435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参数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4201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核对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31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367" name="" descr="&lt;Slide notes={`在地图编辑器里把对象配起来，步骤很直白。&#10;&#10;先选中四层结构里的公告栏，打开「对象 Skill」，绑定 qinghe-notice-board。服务台同理，绑 qinghe-helpdesk。&#10;&#10;绑定之后展开「感知与交互参数」，把感知范围、注意力带宽、交互说明、交互距离和默认请求填进去；「初始状态」里编辑那个 JSON 对象。&#10;&#10;这些数值不是随手写的，以本章案例材料为准。填完保存，最好关掉重开一次再核对，因为配置写错地方很容易看不出来。&#10;&#10;对象绑定和初始状态的入口就在地图编辑器里，可以对照 map-editor-v2.js 去看。&#10;&#10;记住一点：参数决定它在世界里能不能感知到你、能不能和你交互，配错了后面的情节根本走不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5　在地图页面配置对象&lt;/Text&gt;&#10;            &lt;Text style={{ fontSize: 34, fontWeight: 'bold', color: '#20344B' }}&gt;绑定对象 Skill 与感知交互参数&lt;/Text&gt;&#10;        &lt;/Box&gt;&#10;    &lt;/Box&gt;&#10;&#10;    &lt;Box style={{ height: 540, flexDirection: 'row', alignItems: 'center', gap: 32 }}&gt;&#10;&#10;        &lt;Box style={{ width: 640, height: 460, background: '#F4F7FA', borderRadius: 10, flexDirection: 'column' }}&gt;&#10;&#10;            &lt;Box style={{ width: 640, height: 52, background: '#EDF4FC', borderRadius: 10, padding: '0 18px', flexDirection: 'row', alignItems: 'center', justifyContent: 'space-between' }}&gt;&#10;                &lt;Text style={{ fontSize: 15, fontWeight: 'bold', color: '#276FBF' }}&gt;地图编辑器 · 对象 Skill&lt;/Text&gt;&#10;                &lt;Box style={{ width: 56, height: 26, background: '#CB6B28', borderRadius: 6, justifyContent: 'center', alignItems: 'center' }}&gt;&#10;                    &lt;Text style={{ fontSize: 13, fontWeight: 'bold', color: '#FFFFFF' }}&gt;示意&lt;/Text&gt;&#10;                &lt;/Box&gt;&#10;            &lt;/Box&gt;&#10;&#10;            &lt;Box style={{ padding: '16px 18px', flexDirection: 'column', gap: 10 }}&gt;&#10;                &lt;Box style={{ width: 604, height: 52, background: '#FFFFFF', borderRadius: 8, padding: '0 14px', flexDirection: 'row', alignItems: 'center', justifyContent: 'space-between' }}&gt;&#10;                    &lt;Text style={{ fontSize: 15, color: '#20344B' }}&gt;四层结构　→　公告栏&lt;/Text&gt;&#10;                    &lt;Text style={{ fontSize: 14, color: '#276FBF' }}&gt;已选中&lt;/Text&gt;&#10;                &lt;/Box&gt;&#10;                &lt;Box style={{ width: 604, height: 52, background: '#FFFFFF', borderRadius: 8, padding: '0 14px', flexDirection: 'row', alignItems: 'center', justifyContent: 'space-between' }}&gt;&#10;                    &lt;Text style={{ fontSize: 15, color: '#20344B' }}&gt;对象 Skill&lt;/Text&gt;&#10;                    &lt;Text style={{ fontSize: 14, color: '#26816B' }}&gt;qinghe-notice-board&lt;/Text&gt;&#10;                &lt;/Box&gt;&#10;                &lt;Box style={{ width: 604, height: 52, background: '#FFFFFF', borderRadius: 8, padding: '0 14px', flexDirection: 'row', alignItems: 'center', justifyContent: 'space-between' }}&gt;&#10;                    &lt;Text style={{ fontSize: 15, color: '#20344B' }}&gt;服务台&lt;/Text&gt;&#10;                    &lt;Text style={{ fontSize: 14, color: '#26816B' }}&gt;qinghe-helpdesk&lt;/Text&gt;&#10;                &lt;/Box&gt;&#10;                &lt;Box style={{ width: 604, height: 150, background: '#FFF4E6', borderRadius: 8, padding: '14px 16px', flexDirection: 'column', gap: 8, justifyContent: 'center' }}&gt;&#10;                    &lt;Text style={{ fontSize: 14, fontWeight: 'bold', color: '#CB6B28' }}&gt;展开「感知与交互参数」&lt;/Text&gt;&#10;                    &lt;Text style={{ fontSize: 13, color: '#546779', lineHeight: 1.55 }}&gt;感知范围　·　注意力带宽　·　交互说明{'\n'}交互距离　·　默认请求&lt;/Text&gt;&#10;                    &lt;Text style={{ fontSize: 13, color: '#546779', lineHeight: 1.55 }}&gt;「初始状态」编辑 JSON 对象；以本章案例材料为准，保存后重开核对。&lt;/Text&gt;&#10;                &lt;/Box&gt;&#10;            &lt;/Box&gt;&#10;&#10;        &lt;/Box&gt;&#10;&#10;        &lt;Box style={{ width: 480, flexDirection: 'column', gap: 16 }}&gt;&#10;&#10;            &lt;Box style={{ width: 480, height: 150, background: '#EDF4FC', borderRadius: 10, padding: '16px 20px', flexDirection: 'column', gap: 8, justifyContent: 'center' }}&gt;&#10;                &lt;Text style={{ fontSize: 17, fontWeight: 'bold', color: '#276FBF' }}&gt;两条绑定&lt;/Text&gt;&#10;                &lt;Text style={{ fontSize: 14, color: '#546779', lineHeight: 1.6 }}&gt;公告栏绑 qinghe-notice-board；服务台绑 qinghe-helpdesk。&lt;/Text&gt;&#10;            &lt;/Box&gt;&#10;&#10;            &lt;Box style={{ width: 480, height: 150, background: '#F7F3E8', borderRadius: 10, padding: '16px 20px', flexDirection: 'column', gap: 8, justifyContent: 'center' }}&gt;&#10;                &lt;Text style={{ fontSize: 17, fontWeight: 'bold', color: '#20344B' }}&gt;参数以案例材料为准&lt;/Text&gt;&#10;                &lt;Text style={{ fontSize: 14, color: '#546779', lineHeight: 1.6 }}&gt;保存后关掉重开再核对一次，避免填错位置却看不出来。&lt;/Text&gt;&#10;            &lt;/Box&gt;&#10;&#10;            &lt;Text style={{ fontSize: 14, color: '#546779', lineHeight: 1.55 }}&gt;入口参考：map-editor-v2.js&lt;/Text&gt;&#10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23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43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在地图页面配置对象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438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绑定对象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与感知交互参数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609600" y="1524000"/>
            <a:ext cx="6096000" cy="4381500"/>
          </a:xfrm>
          <a:prstGeom prst="roundRect">
            <a:avLst>
              <a:gd name="adj" fmla="val 217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609600" y="1524000"/>
            <a:ext cx="6096000" cy="495300"/>
          </a:xfrm>
          <a:prstGeom prst="roundRect">
            <a:avLst>
              <a:gd name="adj" fmla="val 1923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81050" y="1685925"/>
            <a:ext cx="149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地图编辑器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对象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000750" y="1647825"/>
            <a:ext cx="533400" cy="247650"/>
          </a:xfrm>
          <a:prstGeom prst="roundRect">
            <a:avLst>
              <a:gd name="adj" fmla="val 2307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143625" y="16954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781050" y="2171700"/>
            <a:ext cx="57531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914400" y="23336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四层结构　→　公告栏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000750" y="23431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已选中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781050" y="2762250"/>
            <a:ext cx="57531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对象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5067300" y="29337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>qinghe-notice-board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781050" y="3352800"/>
            <a:ext cx="57531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914400" y="35147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服务台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5314950" y="3524250"/>
            <a:ext cx="108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>qinghe-helpdesk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781050" y="3943350"/>
            <a:ext cx="5753100" cy="1428750"/>
          </a:xfrm>
          <a:prstGeom prst="roundRect">
            <a:avLst>
              <a:gd name="adj" fmla="val 5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933450" y="4152900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B6B28"/>
                </a:solidFill>
                <a:latin typeface="Microsoft YaHei"/>
                <a:ea typeface="Microsoft YaHei"/>
              </a:rPr>
              <a:t>展开「感知与交互参数」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933450" y="4391025"/>
            <a:ext cx="5448300" cy="4667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感知范围　·　注意力带宽　·　交互说明</a:t>
            </a:r>
            <a:endParaRPr/>
          </a:p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交互距离　·　默认请求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933450" y="4933950"/>
            <a:ext cx="54483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「初始状态」编辑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对象；以本章案例材料为准，保存后重开核对。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7010400" y="2009775"/>
            <a:ext cx="45720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200900" y="2457450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两条绑定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7200900" y="2733675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公告栏绑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qinghe-notice-board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；服务台绑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qinghe-helpdesk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7010400" y="3590925"/>
            <a:ext cx="4572000" cy="1428750"/>
          </a:xfrm>
          <a:prstGeom prst="roundRect">
            <a:avLst>
              <a:gd name="adj" fmla="val 666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200900" y="4038600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参数以案例材料为准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7200900" y="4314825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保存后关掉重开再核对一次，避免填错位置却看不出来。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010400" y="5172075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入口参考：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map-editor-v2.js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31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399" name="" descr="&lt;Slide notes={`配置里有一组东西特别容易混：状态标签和换图映射。&#10;&#10;换图映射管的是画面。公告栏有两张状态图片，通过 state_images 分别对应 original 和 revised，状态一变，画面就换。&#10;&#10;状态标签管的是「对外公开的状态叫什么」。服务台的 ready 就是一个公开状态标签，但它的画面沿用背景里的默认外观，不需要另外配一张 ready 的状态图片。&#10;&#10;所以这两项相关但不同：一项决定换什么图，一项决定它公开叫什么状态。&#10;&#10;最后提醒一句：在编辑器里手动切图，只能验证素材映射对不对。要证明 Skill 真的完成了一次更新，还得在运行中找到真实的 SET_OBJECT_STATE，再看回放里的状态变化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5　在地图页面配置对象&lt;/Text&gt;&#10;            &lt;Text style={{ fontSize: 34, fontWeight: 'bold', color: '#20344B' }}&gt;两项配置：状态标签与换图映射&lt;/Text&gt;&#10;        &lt;/Box&gt;&#10;    &lt;/Box&gt;&#10;&#10;    &lt;Box style={{ height: 540, flexDirection: 'column', justifyContent: 'center', gap: 14 }}&gt;&#10;&#10;        &lt;Box style={{ width: 1152, height: 116, background: '#EDF4FC', borderRadius: 10, padding: '0 20px', flexDirection: 'row', alignItems: 'center', gap: 18 }}&gt;&#10;            &lt;Box style={{ width: 4, height: 60, background: '#276FBF' }} /&gt;&#10;            &lt;Box style={{ width: 230 }}&gt;&#10;                &lt;Text style={{ fontSize: 16, fontWeight: 'bold', color: '#276FBF' }}&gt;换图映射&lt;/Text&gt;&#10;            &lt;/Box&gt;&#10;            &lt;Box style={{ flexDirection: 'column', gap: 4 }}&gt;&#10;                &lt;Text style={{ fontSize: 15, fontWeight: 'bold', color: '#276FBF' }}&gt;state_images 对应 original 与 revised&lt;/Text&gt;&#10;                &lt;Text style={{ fontSize: 14, color: '#546779' }}&gt;公告栏的两张状态图片决定画面换成什么。&lt;/Text&gt;&#10;            &lt;/Box&gt;&#10;        &lt;/Box&gt;&#10;&#10;        &lt;Box style={{ width: 1152, height: 116, background: '#ECF7F2', borderRadius: 10, padding: '0 20px', flexDirection: 'row', alignItems: 'center', gap: 18 }}&gt;&#10;            &lt;Box style={{ width: 4, height: 60, background: '#26816B' }} /&gt;&#10;            &lt;Box style={{ width: 230 }}&gt;&#10;                &lt;Text style={{ fontSize: 16, fontWeight: 'bold', color: '#26816B' }}&gt;公开状态标签&lt;/Text&gt;&#10;            &lt;/Box&gt;&#10;            &lt;Box style={{ flexDirection: 'column', gap: 4 }}&gt;&#10;                &lt;Text style={{ fontSize: 15, fontWeight: 'bold', color: '#26816B' }}&gt;服务台 ready 沿用背景默认外观&lt;/Text&gt;&#10;                &lt;Text style={{ fontSize: 14, color: '#546779' }}&gt;不需要另配一张 ready 状态图片；标签与换图是两项配置。&lt;/Text&gt;&#10;            &lt;/Box&gt;&#10;        &lt;/Box&gt;&#10;&#10;        &lt;Box style={{ width: 1152, height: 88, background: '#FFF4E6', borderRadius: 10, padding: '0 20px', flexDirection: 'row', alignItems: 'center', gap: 18 }}&gt;&#10;            &lt;Box style={{ width: 4, height: 48, background: '#CB6B28' }} /&gt;&#10;            &lt;Text style={{ fontSize: 16, fontWeight: 'bold', color: '#CB6B28' }}&gt;状态标签和换图映射是两项相关但不同的配置&lt;/Text&gt;&#10;        &lt;/Box&gt;&#10;&#10;        &lt;Box style={{ width: 1152, height: 100, background: '#F7F3E8', borderRadius: 10, padding: '0 20px', flexDirection: 'row', alignItems: 'center', gap: 18 }}&gt;&#10;            &lt;Box style={{ width: 4, height: 52, background: '#20344B' }} /&gt;&#10;            &lt;Box style={{ flexDirection: 'column', gap: 4 }}&gt;&#10;                &lt;Text style={{ fontSize: 15, fontWeight: 'bold', color: '#20344B' }}&gt;手动切图只能验证素材映射&lt;/Text&gt;&#10;                &lt;Text style={{ fontSize: 14, color: '#546779' }}&gt;运行中仍需找到真实 SET_OBJECT_STATE 与回放里的状态变化，才能证明 Skill 完成了更新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24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在地图页面配置对象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两项配置：状态标签与换图映射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1514475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800100" y="178117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1009650" y="1971675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换图映射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3371850" y="1885950"/>
            <a:ext cx="2600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state_images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对应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original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与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revised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3371850" y="2095500"/>
            <a:ext cx="2600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公告栏的两张状态图片决定画面换成什么。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09600" y="2752725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0" name=""/>
          <p:cNvSpPr/>
          <p:nvPr/>
        </p:nvSpPr>
        <p:spPr>
          <a:xfrm rot="0" flipH="0" flipV="0">
            <a:off x="800100" y="3019425"/>
            <a:ext cx="38100" cy="571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009650" y="3209925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公开状态标签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3371850" y="3124200"/>
            <a:ext cx="3505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服务台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ready 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沿用背景默认外观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3371850" y="3333750"/>
            <a:ext cx="3505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不需要另配一张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ready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状态图片；标签与换图是两项配置。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609600" y="399097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5" name=""/>
          <p:cNvSpPr/>
          <p:nvPr/>
        </p:nvSpPr>
        <p:spPr>
          <a:xfrm rot="0" flipH="0" flipV="0">
            <a:off x="800100" y="418147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1009650" y="43148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状态标签和换图映射是两项相关但不同的配置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609600" y="496252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18" name=""/>
          <p:cNvSpPr/>
          <p:nvPr/>
        </p:nvSpPr>
        <p:spPr>
          <a:xfrm rot="0" flipH="0" flipV="0">
            <a:off x="800100" y="5191125"/>
            <a:ext cx="38100" cy="4953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1009650" y="5257800"/>
            <a:ext cx="5495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手动切图只能验证素材映射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009650" y="5467350"/>
            <a:ext cx="5495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运行中仍需找到真实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SET_OBJECT_STATE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与回放里的状态变化，才能证明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完成了更新。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31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423" name="" descr="&lt;Slide notes={`到了验收这一步，就沿请求链一条一条问，一共四个问题。&#10;&#10;第一个问题：谁在什么位置发出请求。位置和身份都要能对上，不能只说「有人问过」。&#10;&#10;第二个问题：对象处理了哪个请求 ID。要用真实的请求身份，而不是笼统地说对象答复了。&#10;&#10;第三个问题：答复有没有进入指定 Agent 的下一轮。只有进入下一轮的外部观察，才说明这个人确实收到了。&#10;&#10;第四个问题最关键：其他人有没有在未获知消息之前，就提前改变了认识。许安如果从没问过，却准确说出了新的开始时间，那说明信息漏出去了，这条链的隔离就没有成立。&#10;&#10;四个问题都答得上，这条传播才算真的成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6　核对消息是否真正到达&lt;/Text&gt;&#10;            &lt;Text style={{ fontSize: 34, fontWeight: 'bold', color: '#20344B' }}&gt;核对消息是否到达的四个问题&lt;/Text&gt;&#10;        &lt;/Box&gt;&#10;    &lt;/Box&gt;&#10;&#10;    &lt;Box style={{ height: 540, flexDirection: 'column', justifyContent: 'center', gap: 18 }}&gt;&#10;&#10;        &lt;Text style={{ fontSize: 17, color: '#546779', lineHeight: 1.6, width: 1152 }}&gt;验收时沿请求链走一遍，逐条回答这四个问题。&lt;/Text&gt;&#10;&#10;        &lt;Box style={{ flexDirection: 'row', gap: 20 }}&gt;&#10;&#10;            &lt;Box style={{ width: 270, height: 226, background: '#EDF4FC', borderRadius: 10, padding: '16px 20px', flexDirection: 'column', gap: 8, justifyContent: 'center' }}&gt;&#10;                &lt;Text style={{ fontSize: 40, fontWeight: 'bold', color: '#276FBF', lineHeight: 1 }}&gt;1&lt;/Text&gt;&#10;                &lt;Text style={{ fontSize: 16, fontWeight: 'bold', color: '#20344B', lineHeight: 1.4 }}&gt;谁在什么位置发出请求&lt;/Text&gt;&#10;                &lt;Text style={{ fontSize: 13, color: '#546779', lineHeight: 1.5 }}&gt;身份与位置都要对得上&lt;/Text&gt;&#10;            &lt;/Box&gt;&#10;&#10;            &lt;Box style={{ width: 270, height: 226, background: '#EDF4FC', borderRadius: 10, padding: '16px 20px', flexDirection: 'column', gap: 8, justifyContent: 'center' }}&gt;&#10;                &lt;Text style={{ fontSize: 40, fontWeight: 'bold', color: '#276FBF', lineHeight: 1 }}&gt;2&lt;/Text&gt;&#10;                &lt;Text style={{ fontSize: 16, fontWeight: 'bold', color: '#20344B', lineHeight: 1.4 }}&gt;对象处理了哪个请求 ID&lt;/Text&gt;&#10;                &lt;Text style={{ fontSize: 13, color: '#546779', lineHeight: 1.5 }}&gt;要落到真实的请求身份上&lt;/Text&gt;&#10;            &lt;/Box&gt;&#10;&#10;            &lt;Box style={{ width: 270, height: 226, background: '#EDF4FC', borderRadius: 10, padding: '16px 20px', flexDirection: 'column', gap: 8, justifyContent: 'center' }}&gt;&#10;                &lt;Text style={{ fontSize: 40, fontWeight: 'bold', color: '#276FBF', lineHeight: 1 }}&gt;3&lt;/Text&gt;&#10;                &lt;Text style={{ fontSize: 16, fontWeight: 'bold', color: '#20344B', lineHeight: 1.4 }}&gt;答复是否进入指定 Agent 的下一轮&lt;/Text&gt;&#10;                &lt;Text style={{ fontSize: 13, color: '#546779', lineHeight: 1.5 }}&gt;只有下一轮观察能证明收到&lt;/Text&gt;&#10;            &lt;/Box&gt;&#10;&#10;            &lt;Box style={{ width: 270, height: 226, background: '#FFF4E6', borderRadius: 10, padding: '16px 20px', flexDirection: 'column', gap: 8, justifyContent: 'center' }}&gt;&#10;                &lt;Text style={{ fontSize: 40, fontWeight: 'bold', color: '#CB6B28', lineHeight: 1 }}&gt;4&lt;/Text&gt;&#10;                &lt;Text style={{ fontSize: 16, fontWeight: 'bold', color: '#20344B', lineHeight: 1.4 }}&gt;有没有人在未获知前就提前改变认识&lt;/Text&gt;&#10;                &lt;Text style={{ fontSize: 13, color: '#546779', lineHeight: 1.5 }}&gt;这一问用来发现信息漏出&lt;/Text&gt;&#10;            &lt;/Box&gt;&#10;&#10;        &lt;/Box&gt;&#10;&#10;        &lt;Box style={{ width: 1152, height: 76, background: '#F4F7FA', borderRadius: 10, padding: '0 20px', flexDirection: 'row', alignItems: 'center', gap: 16 }}&gt;&#10;            &lt;Box style={{ width: 4, height: 44, background: '#276FBF' }} /&gt;&#10;            &lt;Text style={{ fontSize: 16, fontWeight: 'bold', color: '#276FBF' }}&gt;人物提出请求　›　对象处理并提交　›　目标人物下一轮收到&lt;/Text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25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核对消息是否真正到达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核对消息是否到达的四个问题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609600" y="195262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验收时沿请求链走一遍，逐条回答这四个问题。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609600" y="2438400"/>
            <a:ext cx="2571750" cy="2152650"/>
          </a:xfrm>
          <a:prstGeom prst="roundRect">
            <a:avLst>
              <a:gd name="adj" fmla="val 442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800100" y="2971800"/>
            <a:ext cx="2190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800100" y="3505200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谁在什么位置发出请求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800100" y="383857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身份与位置都要对得上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3371850" y="2438400"/>
            <a:ext cx="2571750" cy="2152650"/>
          </a:xfrm>
          <a:prstGeom prst="roundRect">
            <a:avLst>
              <a:gd name="adj" fmla="val 442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3562350" y="2971800"/>
            <a:ext cx="2190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3562350" y="3505200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对象处理了哪个请求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3562350" y="383857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要落到真实的请求身份上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134100" y="2438400"/>
            <a:ext cx="2571750" cy="2152650"/>
          </a:xfrm>
          <a:prstGeom prst="roundRect">
            <a:avLst>
              <a:gd name="adj" fmla="val 442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324600" y="2838450"/>
            <a:ext cx="2190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324600" y="3371850"/>
            <a:ext cx="2190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答复是否进入指定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的下一轮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6324600" y="3962400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只有下一轮观察能证明收到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8896350" y="2438400"/>
            <a:ext cx="2571750" cy="2152650"/>
          </a:xfrm>
          <a:prstGeom prst="roundRect">
            <a:avLst>
              <a:gd name="adj" fmla="val 442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9086850" y="2838450"/>
            <a:ext cx="2190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CB6B28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9086850" y="3371850"/>
            <a:ext cx="2190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有没有人在未获知前就提前改变认识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9086850" y="3962400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这一问用来发现信息漏出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09600" y="47625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6" name=""/>
          <p:cNvSpPr/>
          <p:nvPr/>
        </p:nvSpPr>
        <p:spPr>
          <a:xfrm rot="0" flipH="0" flipV="0">
            <a:off x="800100" y="49149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990600" y="5029200"/>
            <a:ext cx="407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人物提出请求　›　对象处理并提交　›　目标人物下一轮收到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31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450" name="" descr="&lt;Slide notes={`具体到哪里看人物之间的会话。&#10;&#10;打开「结果」，进到 Agent，先选择要看哪个人物，再把他结构化内容里的「对话」切换出来。&#10;&#10;这个页面给的是会话摘要：有哪些会话、参与范围、大致情况。它能帮你快速找到该看哪一段。&#10;&#10;但它不给完整消息，也不给真实的消息顺序。要核实某句话到底有没有说、谁先谁后，还得回到事实记录和回放里去对照。&#10;&#10;另外要注意，对象给出的答复和人物之间的会话不是同一类东西。它要走事件和那个角色收到的外部观察，不能塞进同一个聊天线程里看。&#10;&#10;所以面板是入口，不是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6　核对消息是否真正到达&lt;/Text&gt;&#10;            &lt;Text style={{ fontSize: 34, fontWeight: 'bold', color: '#20344B' }}&gt;在会话面板里核对消息&lt;/Text&gt;&#10;        &lt;/Box&gt;&#10;    &lt;/Box&gt;&#10;&#10;    &lt;Box style={{ height: 540, flexDirection: 'column', justifyContent: 'center', gap: 14 }}&gt;&#10;&#10;        &lt;Box style={{ width: 1152, height: 290, background: '#F4F7FA', borderRadius: 10, flexDirection: 'column' }}&gt;&#10;&#10;            &lt;Box style={{ width: 1152, height: 48, background: '#EDF4FC', borderRadius: 10, padding: '0 18px', flexDirection: 'row', alignItems: 'center', justifyContent: 'space-between' }}&gt;&#10;                &lt;Text style={{ fontSize: 15, fontWeight: 'bold', color: '#276FBF' }}&gt;控制台 · 结果 → Agent → 选择人物 → 对话&lt;/Text&gt;&#10;                &lt;Box style={{ width: 56, height: 26, background: '#CB6B28', borderRadius: 6, justifyContent: 'center', alignItems: 'center' }}&gt;&#10;                    &lt;Text style={{ fontSize: 13, fontWeight: 'bold', color: '#FFFFFF' }}&gt;示意&lt;/Text&gt;&#10;                &lt;/Box&gt;&#10;            &lt;/Box&gt;&#10;&#10;            &lt;Box style={{ padding: '14px 18px', flexDirection: 'row', gap: 16 }}&gt;&#10;                &lt;Box style={{ width: 300, height: 196, background: '#FFFFFF', borderRadius: 8, padding: '14px 16px', flexDirection: 'column', gap: 10, justifyContent: 'center' }}&gt;&#10;                    &lt;Text style={{ fontSize: 14, color: '#546779' }}&gt;结果　→　Agent&lt;/Text&gt;&#10;                    &lt;Text style={{ fontSize: 15, color: '#20344B' }}&gt;选择人物：林岚&lt;/Text&gt;&#10;                    &lt;Text style={{ fontSize: 15, fontWeight: 'bold', color: '#276FBF' }}&gt;切换到结构化内容中的「对话」&lt;/Text&gt;&#10;                &lt;/Box&gt;&#10;                &lt;Box style={{ width: 800, height: 196, background: '#FFFFFF', borderRadius: 8, padding: '14px 16px', flexDirection: 'column', gap: 10, justifyContent: 'center' }}&gt;&#10;                    &lt;Text style={{ fontSize: 14, fontWeight: 'bold', color: '#20344B' }}&gt;「对话」页给出的内容&lt;/Text&gt;&#10;                    &lt;Text style={{ fontSize: 14, color: '#546779', lineHeight: 1.6 }}&gt;·　会话摘要与参与范围，用来找到该看哪一段{'\n'}·　不给出完整消息，也不给出真实的消息顺序&lt;/Text&gt;&#10;                    &lt;Text style={{ fontSize: 14, color: '#546779', lineHeight: 1.6 }}&gt;完整消息、真实参与者和消息顺序，需要结合事实记录与回放核对。&lt;/Text&gt;&#10;                &lt;/Box&gt;&#10;            &lt;/Box&gt;&#10;&#10;        &lt;/Box&gt;&#10;&#10;        &lt;Box style={{ width: 1152, height: 84, background: '#F7F3E8', borderRadius: 10, padding: '0 20px', flexDirection: 'row', alignItems: 'center', gap: 18 }}&gt;&#10;            &lt;Box style={{ width: 4, height: 44, background: '#20344B' }} /&gt;&#10;            &lt;Text style={{ fontSize: 15, color: '#546779' }}&gt;「对话」页是入口，不是结论：它帮你定位，不能代替事实记录与回放。&lt;/Text&gt;&#10;        &lt;/Box&gt;&#10;&#10;        &lt;Box style={{ width: 1152, height: 84, background: '#FFF4E6', borderRadius: 10, padding: '0 20px', flexDirection: 'row', alignItems: 'center', gap: 18 }}&gt;&#10;            &lt;Box style={{ width: 4, height: 44, background: '#CB6B28' }} /&gt;&#10;            &lt;Text style={{ fontSize: 15, color: '#546779' }}&gt;对象答复要结合事件和该角色收到的外部观察，不能和人物会话混成同一个聊天线程。&lt;/Text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26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核对消息是否真正到达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在会话面板里核对消息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609600" y="1400175"/>
            <a:ext cx="10972800" cy="2762250"/>
          </a:xfrm>
          <a:prstGeom prst="roundRect">
            <a:avLst>
              <a:gd name="adj" fmla="val 344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6" name=""/>
          <p:cNvSpPr/>
          <p:nvPr/>
        </p:nvSpPr>
        <p:spPr>
          <a:xfrm rot="0" flipH="0" flipV="0">
            <a:off x="609600" y="1400175"/>
            <a:ext cx="10972800" cy="457200"/>
          </a:xfrm>
          <a:prstGeom prst="roundRect">
            <a:avLst>
              <a:gd name="adj" fmla="val 208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781050" y="1543050"/>
            <a:ext cx="2847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控制台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结果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→ Agent →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选择人物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对话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10877550" y="1504950"/>
            <a:ext cx="533400" cy="247650"/>
          </a:xfrm>
          <a:prstGeom prst="roundRect">
            <a:avLst>
              <a:gd name="adj" fmla="val 2307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1020425" y="15525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781050" y="1990725"/>
            <a:ext cx="28575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933450" y="2581275"/>
            <a:ext cx="2552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结果　→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933450" y="2838450"/>
            <a:ext cx="255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选择人物：林岚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933450" y="3105150"/>
            <a:ext cx="255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切换到结构化内容中的「对话」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3790950" y="1990725"/>
            <a:ext cx="76200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3943350" y="2362200"/>
            <a:ext cx="7315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「对话」页给出的内容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3943350" y="2619375"/>
            <a:ext cx="73152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·　会话摘要与参与范围，用来找到该看哪一段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·　不给出完整消息，也不给出真实的消息顺序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3943350" y="3228975"/>
            <a:ext cx="7315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完整消息、真实参与者和消息顺序，需要结合事实记录与回放核对。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609600" y="42957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69" name=""/>
          <p:cNvSpPr/>
          <p:nvPr/>
        </p:nvSpPr>
        <p:spPr>
          <a:xfrm rot="0" flipH="0" flipV="0">
            <a:off x="800100" y="4486275"/>
            <a:ext cx="38100" cy="4191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009650" y="4610100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「对话」页是入口，不是结论：它帮你定位，不能代替事实记录与回放。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609600" y="52292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2" name=""/>
          <p:cNvSpPr/>
          <p:nvPr/>
        </p:nvSpPr>
        <p:spPr>
          <a:xfrm rot="0" flipH="0" flipV="0">
            <a:off x="800100" y="54197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1009650" y="5543550"/>
            <a:ext cx="542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对象答复要结合事件和该角色收到的外部观察，不能和人物会话混成同一个聊天线程。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31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476" name="" descr="&lt;Slide notes={`对象的答复要落在两处证据上，缺一处都不够。&#10;&#10;先看事件：对象在这一步提交了什么动作，这个动作里附带了哪条答复。这能说明对象确实处理了请求。&#10;&#10;再看观察：目标角色收到的外部观察里，有没有出现同一条答复。这才能说明这个人确实收到了。&#10;&#10;这两处要能对上，而且是同一个请求、同一段内容。只看到其中一处，还只是我们以为他收到了。&#10;&#10;最后一个提醒：不要把对象答复和人物会话混成一个聊天线程去读。读起来通顺，证据却对不上，验收的时候就会发现说不清。&#10;&#10;分辨方法很简单：先问这条内容是谁提交的，再问它落在谁的观察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6　核对消息是否真正到达&lt;/Text&gt;&#10;            &lt;Text style={{ fontSize: 34, fontWeight: 'bold', color: '#20344B' }}&gt;对象答复要结合事件与外部观察&lt;/Text&gt;&#10;        &lt;/Box&gt;&#10;    &lt;/Box&gt;&#10;&#10;    &lt;Box style={{ height: 540, flexDirection: 'row', alignItems: 'center', gap: 32 }}&gt;&#10;&#10;        &lt;Box style={{ width: 700, flexDirection: 'column', gap: 14 }}&gt;&#10;&#10;            &lt;Box style={{ width: 700, height: 110, background: '#F4F7FA', borderRadius: 10, padding: '0 20px', flexDirection: 'row', alignItems: 'center', gap: 18 }}&gt;&#10;                &lt;Box style={{ width: 4, height: 56, background: '#276FBF' }} /&gt;&#10;                &lt;Box style={{ width: 170 }}&gt;&#10;                    &lt;Text style={{ fontSize: 15, fontWeight: 'bold', color: '#20344B' }}&gt;先看事件&lt;/Text&gt;&#10;                &lt;/Box&gt;&#10;                &lt;Box style={{ flexDirection: 'column' }}&gt;&#10;                    &lt;Text style={{ fontSize: 14, color: '#546779' }}&gt;对象这一步提交了什么动作，动作里附带了哪条答复。&lt;/Text&gt;&#10;                &lt;/Box&gt;&#10;            &lt;/Box&gt;&#10;&#10;            &lt;Box style={{ width: 700, height: 110, background: '#F4F7FA', borderRadius: 10, padding: '0 20px', flexDirection: 'row', alignItems: 'center', gap: 18 }}&gt;&#10;                &lt;Box style={{ width: 4, height: 56, background: '#26816B' }} /&gt;&#10;                &lt;Box style={{ width: 170 }}&gt;&#10;                    &lt;Text style={{ fontSize: 15, fontWeight: 'bold', color: '#20344B' }}&gt;再看观察&lt;/Text&gt;&#10;                &lt;/Box&gt;&#10;                &lt;Box style={{ flexDirection: 'column' }}&gt;&#10;                    &lt;Text style={{ fontSize: 14, color: '#546779' }}&gt;目标角色收到的外部观察里，是否出现同一条答复。&lt;/Text&gt;&#10;                &lt;/Box&gt;&#10;            &lt;/Box&gt;&#10;&#10;            &lt;Box style={{ width: 700, height: 110, background: '#FFF4E6', borderRadius: 10, padding: '0 20px', flexDirection: 'row', alignItems: 'center', gap: 18 }}&gt;&#10;                &lt;Box style={{ width: 4, height: 56, background: '#CB6B28' }} /&gt;&#10;                &lt;Box style={{ width: 170 }}&gt;&#10;                    &lt;Text style={{ fontSize: 15, fontWeight: 'bold', color: '#20344B' }}&gt;不要合并&lt;/Text&gt;&#10;                &lt;/Box&gt;&#10;                &lt;Box style={{ flexDirection: 'column' }}&gt;&#10;                    &lt;Text style={{ fontSize: 14, color: '#546779' }}&gt;对象答复与人物会话不是同一个聊天线程，证据要分开找。&lt;/Text&gt;&#10;                &lt;/Box&gt;&#10;            &lt;/Box&gt;&#10;&#10;        &lt;/Box&gt;&#10;&#10;        &lt;Box style={{ width: 420, flexDirection: 'column', gap: 14 }}&gt;&#10;&#10;            &lt;Box style={{ width: 420, height: 180, background: '#F7F3E8', borderRadius: 10, padding: '16px 20px', flexDirection: 'column', gap: 8, justifyContent: 'center' }}&gt;&#10;                &lt;Text style={{ fontSize: 17, fontWeight: 'bold', color: '#20344B' }}&gt;为什么要看两处&lt;/Text&gt;&#10;                &lt;Text style={{ fontSize: 14, color: '#546779', lineHeight: 1.6 }}&gt;一处说明对象确实提交了答复，一处说明这个人确实收到了。缺一处，就还只是我们以为他收到了。&lt;/Text&gt;&#10;            &lt;/Box&gt;&#10;&#10;            &lt;Box style={{ width: 420, height: 160, background: '#EDF4FC', borderRadius: 10, padding: '16px 20px', flexDirection: 'column', gap: 8, justifyContent: 'center' }}&gt;&#10;                &lt;Text style={{ fontSize: 17, fontWeight: 'bold', color: '#276FBF' }}&gt;常见错法&lt;/Text&gt;&#10;                &lt;Text style={{ fontSize: 14, color: '#546779', lineHeight: 1.6 }}&gt;把对象答复直接当成角色的会话消息，读起来通顺，证据却对不上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27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核对消息是否真正到达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对象答复要结合事件与外部观察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609600" y="2009775"/>
            <a:ext cx="666750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2" name=""/>
          <p:cNvSpPr/>
          <p:nvPr/>
        </p:nvSpPr>
        <p:spPr>
          <a:xfrm rot="0" flipH="0" flipV="0">
            <a:off x="800100" y="22669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1009650" y="244792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先看事件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2800350" y="2457450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对象这一步提交了什么动作，动作里附带了哪条答复。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609600" y="3190875"/>
            <a:ext cx="666750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6" name=""/>
          <p:cNvSpPr/>
          <p:nvPr/>
        </p:nvSpPr>
        <p:spPr>
          <a:xfrm rot="0" flipH="0" flipV="0">
            <a:off x="800100" y="3448050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009650" y="362902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再看观察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2800350" y="3638550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目标角色收到的外部观察里，是否出现同一条答复。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609600" y="4371975"/>
            <a:ext cx="66675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0" name=""/>
          <p:cNvSpPr/>
          <p:nvPr/>
        </p:nvSpPr>
        <p:spPr>
          <a:xfrm rot="0" flipH="0" flipV="0">
            <a:off x="800100" y="462915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1009650" y="481012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不要合并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2800350" y="4819650"/>
            <a:ext cx="3467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对象答复与人物会话不是同一个聊天线程，证据要分开找。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7581900" y="2028825"/>
            <a:ext cx="4000500" cy="1714500"/>
          </a:xfrm>
          <a:prstGeom prst="roundRect">
            <a:avLst>
              <a:gd name="adj" fmla="val 555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7772400" y="2495550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为什么要看两处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7772400" y="2771775"/>
            <a:ext cx="3619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一处说明对象确实提交了答复，一处说明这个人确实收到了。缺一处，就还只是我们以为他收到了。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7581900" y="3876675"/>
            <a:ext cx="4000500" cy="1524000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7772400" y="4248150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常见错法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7772400" y="4524375"/>
            <a:ext cx="3619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把对象答复直接当成角色的会话消息，读起来通顺，证据却对不上。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27 / 31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501" name="" descr="&lt;Slide notes={`还有一个门槛：别只看每个人的自述，要看有没有真正的一来一回。&#10;&#10;什么才算？一名 Agent 提出一个问题，另一名 Agent 在自己的行动里做出回答。提问有身份，回答有自己的动作，这条链才闭合。&#10;&#10;反过来说，如果只有一个角色在消息里写下两个人的引号台词，那也只形成了这个角色的一条发言。它不能证明对方参与了会话，更不能证明对方听到过。&#10;&#10;这种偏差很常见：模型把整个场景写得非常完整，台词、语气、来回都很像，但没有通过工具让其他参与者真的动起来。&#10;&#10;所以验收的时候不要被文本的完整度骗过去。要问一句：另一方的动作在哪儿？如果找不到，这段对话就没有真的发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6　核对消息是否真正到达&lt;/Text&gt;&#10;            &lt;Text style={{ fontSize: 34, fontWeight: 'bold', color: '#20344B' }}&gt;至少一段真正的一来一回&lt;/Text&gt;&#10;        &lt;/Box&gt;&#10;    &lt;/Box&gt;&#10;&#10;    &lt;Box style={{ height: 540, flexDirection: 'column', justifyContent: 'center', gap: 16 }}&gt;&#10;&#10;        &lt;Text style={{ fontSize: 17, color: '#546779', lineHeight: 1.6, width: 1152 }}&gt;验收时还要确认：至少有一段真正的一来一回。&lt;/Text&gt;&#10;&#10;        &lt;Box style={{ flexDirection: 'row', height: 196 }}&gt;&#10;            &lt;Box style={{ width: 520, height: 196, background: '#EDF4FC', borderRadius: 10, padding: '20px 24px', flexDirection: 'column', gap: 8, justifyContent: 'center' }}&gt;&#10;                &lt;Text style={{ fontSize: 20, fontWeight: 'bold', color: '#276FBF' }}&gt;一方提出问题&lt;/Text&gt;&#10;                &lt;Text style={{ fontSize: 15, color: '#546779', lineHeight: 1.65 }}&gt;用 world-act 的 SPEAK 或 INTERACT，把问题真的交给对方；提问者身份留在动作里。&lt;/Text&gt;&#10;            &lt;/Box&gt;&#10;            &lt;Box style={{ width: 44, height: 196, justifyContent: 'center', alignItems: 'center' }}&gt;&#10;                &lt;Text style={{ fontSize: 26, color: '#276FBF' }}&gt;›&lt;/Text&gt;&#10;            &lt;/Box&gt;&#10;            &lt;Box style={{ width: 520, height: 196, background: '#ECF7F2', borderRadius: 10, padding: '20px 24px', flexDirection: 'column', gap: 8, justifyContent: 'center' }}&gt;&#10;                &lt;Text style={{ fontSize: 20, fontWeight: 'bold', color: '#26816B' }}&gt;另一方在自己的行动中回答&lt;/Text&gt;&#10;                &lt;Text style={{ fontSize: 15, color: '#546779', lineHeight: 1.65 }}&gt;对方必须用自己的动作提交答复，答复再进入提问者的下一轮观察。&lt;/Text&gt;&#10;            &lt;/Box&gt;&#10;        &lt;/Box&gt;&#10;&#10;        &lt;Box style={{ width: 1152, height: 108, background: '#FFF4E6', borderRadius: 10, padding: '0 20px', flexDirection: 'row', alignItems: 'center', gap: 18 }}&gt;&#10;            &lt;Box style={{ width: 4, height: 56, background: '#CB6B28' }} /&gt;&#10;            &lt;Box style={{ flexDirection: 'column', gap: 4 }}&gt;&#10;                &lt;Text style={{ fontSize: 16, fontWeight: 'bold', color: '#CB6B28' }}&gt;一个角色写下的两段引号台词，只形成他本人的一条发言&lt;/Text&gt;&#10;                &lt;Text style={{ fontSize: 14, color: '#546779' }}&gt;常见偏差：模型写出了完整场景，却没有通过工具让其他参与者实际行动。&lt;/Text&gt;&#10;            &lt;/Box&gt;&#10;        &lt;/Box&gt;&#10;&#10;        &lt;Box style={{ width: 1152, height: 72, background: '#F4F7FA', borderRadius: 10, padding: '0 20px', flexDirection: 'row', alignItems: 'center', gap: 18 }}&gt;&#10;            &lt;Box style={{ width: 4, height: 44, background: '#276FBF' }} /&gt;&#10;            &lt;Text style={{ fontSize: 16, fontWeight: 'bold', color: '#276FBF' }}&gt;要问一句：另一方的动作在哪儿？找不到，这段对话就没有真的发生&lt;/Text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28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核对消息是否真正到达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至少一段真正的一来一回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609600" y="154305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验收时还要确认：至少有一段真正的一来一回。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609600" y="2009775"/>
            <a:ext cx="4953000" cy="18669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38200" y="2505075"/>
            <a:ext cx="4495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一方提出问题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838200" y="2809875"/>
            <a:ext cx="44958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world-act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或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INTERACT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，把问题真的交给对方；提问者身份留在动作里。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5734050" y="2790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5981700" y="2009775"/>
            <a:ext cx="4953000" cy="1866900"/>
          </a:xfrm>
          <a:prstGeom prst="roundRect">
            <a:avLst>
              <a:gd name="adj" fmla="val 510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6210300" y="2647950"/>
            <a:ext cx="4495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另一方在自己的行动中回答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6210300" y="2952750"/>
            <a:ext cx="44958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对方必须用自己的动作提交答复，答复再进入提问者的下一轮观察。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609600" y="4029075"/>
            <a:ext cx="10972800" cy="1028700"/>
          </a:xfrm>
          <a:prstGeom prst="roundRect">
            <a:avLst>
              <a:gd name="adj" fmla="val 925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5" name=""/>
          <p:cNvSpPr/>
          <p:nvPr/>
        </p:nvSpPr>
        <p:spPr>
          <a:xfrm rot="0" flipH="0" flipV="0">
            <a:off x="800100" y="427672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1009650" y="4352925"/>
            <a:ext cx="440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一个角色写下的两段引号台词，只形成他本人的一条发言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009650" y="4581525"/>
            <a:ext cx="4400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常见偏差：模型写出了完整场景，却没有通过工具让其他参与者实际行动。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609600" y="521017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9" name=""/>
          <p:cNvSpPr/>
          <p:nvPr/>
        </p:nvSpPr>
        <p:spPr>
          <a:xfrm rot="0" flipH="0" flipV="0">
            <a:off x="800100" y="53435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1009650" y="5457825"/>
            <a:ext cx="457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要问一句：另一方的动作在哪儿？找不到，这段对话就没有真的发生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28 / 31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523" name="" descr="&lt;Slide notes={`最后说清观察窗口能证明什么，这一点经常被写错。&#10;&#10;这一案例建议的四十八步，观察到的是十点半调整之后的开始阶段。它足以作为检验信息获取、公告变化和后续行动的时间窗口设计。&#10;&#10;但它不保证模型一定完成这些环节，也没有覆盖十一点半手作结束那一段。所以结论只能写「在这个窗口里观察到什么」。&#10;&#10;写结果记录的时候，千万不要用手册里计划好的剧情去填补还没发生的部分。计划是计划，观察是观察。&#10;&#10;一句话：窗口是设计好的观察范围，不是一次完整的活动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6　核对消息是否真正到达&lt;/Text&gt;&#10;            &lt;Text style={{ fontSize: 34, fontWeight: 'bold', color: '#20344B' }}&gt;48 步窗口能证明什么&lt;/Text&gt;&#10;        &lt;/Box&gt;&#10;    &lt;/Box&gt;&#10;&#10;    &lt;Box style={{ height: 540, flexDirection: 'column', justifyContent: 'center', gap: 10 }}&gt;&#10;&#10;        &lt;Box style={{ flexDirection: 'row', alignItems: 'center', height: 110 }}&gt;&#10;            &lt;Box style={{ width: 180, height: 74, background: '#EDF4FC', borderRadius: 8, justifyContent: 'center', alignItems: 'center' }}&gt;&#10;                &lt;Text style={{ fontSize: 16, fontWeight: 'bold', color: '#276FBF' }}&gt;Step 1&lt;/Text&gt;&#10;            &lt;/Box&gt;&#10;            &lt;Box style={{ width: 44, height: 74, justifyContent: 'center', alignItems: 'center' }}&gt;&#10;                &lt;Text style={{ fontSize: 24, color: '#276FBF' }}&gt;›&lt;/Text&gt;&#10;            &lt;/Box&gt;&#10;            &lt;Box style={{ width: 180, height: 74, background: '#EDF4FC', borderRadius: 8, justifyContent: 'center', alignItems: 'center' }}&gt;&#10;                &lt;Text style={{ fontSize: 16, fontWeight: 'bold', color: '#276FBF' }}&gt;Step 11&lt;/Text&gt;&#10;            &lt;/Box&gt;&#10;            &lt;Box style={{ width: 44, height: 74, justifyContent: 'center', alignItems: 'center' }}&gt;&#10;                &lt;Text style={{ fontSize: 24, color: '#276FBF' }}&gt;›&lt;/Text&gt;&#10;            &lt;/Box&gt;&#10;            &lt;Box style={{ width: 180, height: 74, background: '#EDF4FC', borderRadius: 8, justifyContent: 'center', alignItems: 'center' }}&gt;&#10;                &lt;Text style={{ fontSize: 16, fontWeight: 'bold', color: '#276FBF' }}&gt;Step 41&lt;/Text&gt;&#10;            &lt;/Box&gt;&#10;            &lt;Box style={{ width: 44, height: 74, justifyContent: 'center', alignItems: 'center' }}&gt;&#10;                &lt;Text style={{ fontSize: 24, color: '#26816B' }}&gt;›&lt;/Text&gt;&#10;            &lt;/Box&gt;&#10;            &lt;Box style={{ width: 180, height: 74, background: '#ECF7F2', borderRadius: 8, justifyContent: 'center', alignItems: 'center' }}&gt;&#10;                &lt;Text style={{ fontSize: 16, fontWeight: 'bold', color: '#26816B' }}&gt;Step 48&lt;/Text&gt;&#10;            &lt;/Box&gt;&#10;            &lt;Box style={{ width: 44, height: 74, justifyContent: 'center', alignItems: 'center' }}&gt;&#10;                &lt;Text style={{ fontSize: 24, color: '#CB6B28' }}&gt;›&lt;/Text&gt;&#10;            &lt;/Box&gt;&#10;            &lt;Box style={{ width: 220, height: 74, background: '#FFF4E6', borderRadius: 8, justifyContent: 'center', alignItems: 'center' }}&gt;&#10;                &lt;Text style={{ fontSize: 15, fontWeight: 'bold', color: '#CB6B28' }}&gt;11:30 手作结束&lt;/Text&gt;&#10;            &lt;/Box&gt;&#10;        &lt;/Box&gt;&#10;&#10;        &lt;Text style={{ fontSize: 14, color: '#546779' }}&gt;轴上的节点间距是示意，不是实测耗时；最右侧落在观察窗口之外。&lt;/Text&gt;&#10;&#10;        &lt;Box style={{ width: 1152, height: 88, background: '#F4F7FA', borderRadius: 10, padding: '0 20px', flexDirection: 'row', alignItems: 'center', gap: 18 }}&gt;&#10;            &lt;Box style={{ width: 4, height: 48, background: '#276FBF' }} /&gt;&#10;            &lt;Box style={{ width: 200 }}&gt;&#10;                &lt;Text style={{ fontSize: 15, fontWeight: 'bold', color: '#20344B' }}&gt;足以检验什么&lt;/Text&gt;&#10;            &lt;/Box&gt;&#10;            &lt;Box style={{ flexDirection: 'column' }}&gt;&#10;                &lt;Text style={{ fontSize: 14, color: '#546779' }}&gt;信息获取、公告变化与后续行动的时间窗口设计。&lt;/Text&gt;&#10;            &lt;/Box&gt;&#10;        &lt;/Box&gt;&#10;&#10;        &lt;Box style={{ width: 1152, height: 88, background: '#F4F7FA', borderRadius: 10, padding: '0 20px', flexDirection: 'row', alignItems: 'center', gap: 18 }}&gt;&#10;            &lt;Box style={{ width: 4, height: 48, background: '#CB6B28' }} /&gt;&#10;            &lt;Box style={{ width: 200 }}&gt;&#10;                &lt;Text style={{ fontSize: 15, fontWeight: 'bold', color: '#20344B' }}&gt;不能证明什么&lt;/Text&gt;&#10;            &lt;/Box&gt;&#10;            &lt;Box style={{ flexDirection: 'column' }}&gt;&#10;                &lt;Text style={{ fontSize: 14, color: '#546779' }}&gt;不保证模型一定完成这些环节，也不覆盖十一点半的手作结束。&lt;/Text&gt;&#10;            &lt;/Box&gt;&#10;        &lt;/Box&gt;&#10;&#10;        &lt;Box style={{ width: 1152, height: 72, background: '#F7F3E8', borderRadius: 10, padding: '0 20px', flexDirection: 'row', alignItems: 'center', gap: 18 }}&gt;&#10;            &lt;Box style={{ width: 4, height: 44, background: '#20344B' }} /&gt;&#10;            &lt;Text style={{ fontSize: 15, color: '#546779' }}&gt;结果记录应写「本窗口内观察到什么」，不要用剧本计划填补尚未发生的部分。&lt;/Text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29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核对消息是否真正到达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095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48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步窗口能证明什么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609600" y="1914525"/>
            <a:ext cx="1714500" cy="704850"/>
          </a:xfrm>
          <a:prstGeom prst="roundRect">
            <a:avLst>
              <a:gd name="adj" fmla="val 108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1228725" y="2171700"/>
            <a:ext cx="485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Step 1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2495550" y="21336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2743200" y="1914525"/>
            <a:ext cx="1714500" cy="704850"/>
          </a:xfrm>
          <a:prstGeom prst="roundRect">
            <a:avLst>
              <a:gd name="adj" fmla="val 108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3314700" y="2171700"/>
            <a:ext cx="581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Step 11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4629150" y="21336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4876800" y="1914525"/>
            <a:ext cx="1714500" cy="704850"/>
          </a:xfrm>
          <a:prstGeom prst="roundRect">
            <a:avLst>
              <a:gd name="adj" fmla="val 108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5448300" y="2171700"/>
            <a:ext cx="581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Step 41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6762750" y="21336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7010400" y="1914525"/>
            <a:ext cx="1714500" cy="704850"/>
          </a:xfrm>
          <a:prstGeom prst="roundRect">
            <a:avLst>
              <a:gd name="adj" fmla="val 108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7581900" y="2171700"/>
            <a:ext cx="581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Step 48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896350" y="21336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9144000" y="1914525"/>
            <a:ext cx="2095500" cy="704850"/>
          </a:xfrm>
          <a:prstGeom prst="roundRect">
            <a:avLst>
              <a:gd name="adj" fmla="val 108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9686925" y="2181225"/>
            <a:ext cx="100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11:30 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手作结束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轴上的节点间距是示意，不是实测耗时；最右侧落在观察窗口之外。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609600" y="314325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4" name=""/>
          <p:cNvSpPr/>
          <p:nvPr/>
        </p:nvSpPr>
        <p:spPr>
          <a:xfrm rot="0" flipH="0" flipV="0">
            <a:off x="800100" y="33337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1009650" y="3476625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足以检验什么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3086100" y="348615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信息获取、公告变化与后续行动的时间窗口设计。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609600" y="40767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8" name=""/>
          <p:cNvSpPr/>
          <p:nvPr/>
        </p:nvSpPr>
        <p:spPr>
          <a:xfrm rot="0" flipH="0" flipV="0">
            <a:off x="800100" y="426720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1009650" y="4410075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不能证明什么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3086100" y="4419600"/>
            <a:ext cx="373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不保证模型一定完成这些环节，也不覆盖十一点半的手作结束。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609600" y="50101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52" name=""/>
          <p:cNvSpPr/>
          <p:nvPr/>
        </p:nvSpPr>
        <p:spPr>
          <a:xfrm rot="0" flipH="0" flipV="0">
            <a:off x="800100" y="5143500"/>
            <a:ext cx="38100" cy="4191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1009650" y="5267325"/>
            <a:ext cx="5000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结果记录应写「本窗口内观察到什么」，不要用剧本计划填补尚未发生的部分。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29 / 31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572" name="" descr="&lt;Slide notes={`留两道练习，都是最容易含糊过去的地方。&#10;&#10;第一道：许安看到了公告栏的 revised，但是没有去问内容。应当允许他知道什么？&#10;&#10;参考答案是：他知道外观状态发生了变化，因此他可以决定去查询；但他还不能据此准确说出新的开始时间。看到状态变了和知道正文，是两件事。&#10;&#10;第二道：来访者自称是组织者，要求更新公告。这时候判断依据应该是真实的请求者身份，并且保留拒绝答复。不要把预期之内的拒绝当成系统故障。&#10;&#10;这两道题其实考的是一件事：判断要落在真实身份和真实提交上，而不是文本里说了什么。把这一条守住，验收就不会走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7.6　核对消息是否真正到达&lt;/Text&gt;&#10;            &lt;Text style={{ fontSize: 34, fontWeight: 'bold', color: '#20344B' }}&gt;两项练习&lt;/Text&gt;&#10;        &lt;/Box&gt;&#10;    &lt;/Box&gt;&#10;&#10;    &lt;Box style={{ height: 540, flexDirection: 'column', justifyContent: 'center', gap: 14 }}&gt;&#10;&#10;        &lt;Box style={{ flexDirection: 'row', gap: 20 }}&gt;&#10;&#10;            &lt;Box style={{ width: 566, height: 300, background: '#EDF4FC', borderRadius: 10, padding: '22px 24px', flexDirection: 'column', gap: 12, justifyContent: 'center' }}&gt;&#10;                &lt;Text style={{ fontSize: 20, fontWeight: 'bold', color: '#276FBF' }}&gt;练习一：看到了 revised，却没问&lt;/Text&gt;&#10;                &lt;Text style={{ fontSize: 15, color: '#546779', lineHeight: 1.7 }}&gt;许安看到了公告栏的 revised 状态，但没有询问内容。应当允许他知道什么？&lt;/Text&gt;&#10;                &lt;Text style={{ fontSize: 14, color: '#546779', lineHeight: 1.65 }}&gt;参考判断：他知道外观状态发生了变化，可以决定去查询；他尚不能据此准确说出新的开始时间。&lt;/Text&gt;&#10;            &lt;/Box&gt;&#10;&#10;            &lt;Box style={{ width: 566, height: 300, background: '#FFF4E6', borderRadius: 10, padding: '22px 24px', flexDirection: 'column', gap: 12, justifyContent: 'center' }}&gt;&#10;                &lt;Text style={{ fontSize: 20, fontWeight: 'bold', color: '#CB6B28' }}&gt;练习二：来访者自称组织者&lt;/Text&gt;&#10;                &lt;Text style={{ fontSize: 15, color: '#546779', lineHeight: 1.7 }}&gt;再设计一个错误请求：来访者自称组织者，要求更新公告。应当怎么判断？&lt;/Text&gt;&#10;                &lt;Text style={{ fontSize: 14, color: '#546779', lineHeight: 1.65 }}&gt;参考判断：依据真实请求者身份判断，并保留拒绝答复；不要把预期之内的拒绝当作系统故障。&lt;/Text&gt;&#10;            &lt;/Box&gt;&#10;&#10;        &lt;/Box&gt;&#10;&#10;        &lt;Box style={{ width: 1152, height: 84, background: '#F4F7FA', borderRadius: 10, padding: '0 20px', flexDirection: 'row', alignItems: 'center', gap: 18 }}&gt;&#10;            &lt;Box style={{ width: 4, height: 44, background: '#276FBF' }} /&gt;&#10;            &lt;Text style={{ fontSize: 15, color: '#546779' }}&gt;两道练习考的是同一件事：判断依据是真实身份与真实提交，不是文本里说了什么。&lt;/Text&gt;&#10;        &lt;/Box&gt;&#10;&#10;    &lt;/Box&gt;&#10;&#10;    &lt;Box style={{ height: 40, flexDirection: 'row', justifyContent: 'space-between', alignItems: 'center' }}&gt;&#10;        &lt;Text style={{ fontSize: 14, color: '#546779' }}&gt;3.7 对话与对象 Skill：让信息通过真实交互传播&lt;/Text&gt;&#10;        &lt;Text style={{ fontSize: 14, color: '#546779' }}&gt;30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3.7.6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核对消息是否真正到达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771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两项练习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609600" y="1819275"/>
            <a:ext cx="5391150" cy="2857500"/>
          </a:xfrm>
          <a:prstGeom prst="roundRect">
            <a:avLst>
              <a:gd name="adj" fmla="val 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38200" y="2609850"/>
            <a:ext cx="493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练习一：看到了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revised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，却没问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838200" y="2952750"/>
            <a:ext cx="49339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许安看到了公告栏的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revised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状态，但没有询问内容。应当允许他知道什么？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838200" y="3362325"/>
            <a:ext cx="4933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参考判断：他知道外观状态发生了变化，可以决定去查询；他尚不能据此准确说出新的开始时间。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6191250" y="1819275"/>
            <a:ext cx="5391150" cy="2857500"/>
          </a:xfrm>
          <a:prstGeom prst="roundRect">
            <a:avLst>
              <a:gd name="adj" fmla="val 3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6419850" y="2609850"/>
            <a:ext cx="493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练习二：来访者自称组织者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6419850" y="2952750"/>
            <a:ext cx="49339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再设计一个错误请求：来访者自称组织者，要求更新公告。应当怎么判断？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6419850" y="3362325"/>
            <a:ext cx="4933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参考判断：依据真实请求者身份判断，并保留拒绝答复；不要把预期之内的拒绝当作系统故障。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609600" y="48101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6" name=""/>
          <p:cNvSpPr/>
          <p:nvPr/>
        </p:nvSpPr>
        <p:spPr>
          <a:xfrm rot="0" flipH="0" flipV="0">
            <a:off x="800100" y="50006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1009650" y="5124450"/>
            <a:ext cx="5286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两道练习考的是同一件事：判断依据是真实身份与真实提交，不是文本里说了什么。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对话与对象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30 / 31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590" name="" descr="&lt;Slide notes={`把这一节收一收，记住三件事。&#10;&#10;第一，真实发言者。每条 SPEAK 都需要一个真的说话的人和一个真的接收的人，而且一条 SPEAK 只连一个人。想表达四个人商量，就老老实实拆成多轮双人消息。&#10;&#10;第二，真实请求与整步提交。对象的回复必须引用真实的请求 ID，并且通过本次动作提交出去；只写在最终总结里的答复，等于没有发送。&#10;&#10;第三，真实到达。只有当答复进入目标人物下一轮的外部观察，才能证明他确实收到了；看到状态变了，不等于读到正文。&#10;&#10;带上这三件事，下一节我们去看草稿、副本、预检与封存，学习怎样装配一个独立的实验。`} style={{ width: 1280, height: 720, background: '#FFFFFF', flexDirection: 'column', padding: '20px 64px' }}&gt;&#10;&#10;    &lt;Box style={{ height: 640, flexDirection: 'column', justifyContent: 'center', gap: 16 }}&gt;&#10;&#10;        &lt;Text style={{ fontSize: 15, color: '#546779' }}&gt;3.7　对话与对象 Skill：让信息通过真实交互传播&lt;/Text&gt;&#10;&#10;        &lt;Text style={{ fontSize: 56, fontWeight: 'bold', color: '#20344B', lineHeight: 1.15 }}&gt;记住三件事&lt;/Text&gt;&#10;&#10;        &lt;Box style={{ width: 72, height: 4, background: '#276FBF', marginBottom: 6 }} /&gt;&#10;&#10;        &lt;Box style={{ width: 1152, height: 100, background: '#EDF4FC', borderRadius: 10, padding: '0 22px', flexDirection: 'row', alignItems: 'center', gap: 18 }}&gt;&#10;            &lt;Text style={{ fontSize: 22, fontWeight: 'bold', color: '#276FBF' }}&gt;真实发言者&lt;/Text&gt;&#10;            &lt;Text style={{ fontSize: 16, color: '#546779', flex: 1 }}&gt;每条 SPEAK 都需要真实的发言者与接收者，一条只连一个人。&lt;/Text&gt;&#10;        &lt;/Box&gt;&#10;&#10;        &lt;Box style={{ flexDirection: 'row', gap: 20 }}&gt;&#10;            &lt;Box style={{ width: 566, height: 116, background: '#F7F3E8', borderRadius: 10, padding: '0 22px', flexDirection: 'column', gap: 6, justifyContent: 'center' }}&gt;&#10;                &lt;Text style={{ fontSize: 20, fontWeight: 'bold', color: '#20344B' }}&gt;真实请求与整步提交&lt;/Text&gt;&#10;                &lt;Text style={{ fontSize: 15, color: '#546779' }}&gt;回复必须引用真实请求 ID 并随整步提交。&lt;/Text&gt;&#10;            &lt;/Box&gt;&#10;            &lt;Box style={{ width: 566, height: 116, background: '#ECF7F2', borderRadius: 10, padding: '0 22px', flexDirection: 'column', gap: 6, justifyContent: 'center' }}&gt;&#10;                &lt;Text style={{ fontSize: 20, fontWeight: 'bold', color: '#26816B' }}&gt;真实到达&lt;/Text&gt;&#10;                &lt;Text style={{ fontSize: 15, color: '#546779' }}&gt;下一轮的外部观察，才能证明对方收到了。&lt;/Text&gt;&#10;            &lt;/Box&gt;&#10;        &lt;/Box&gt;&#10;&#10;        &lt;Text style={{ fontSize: 15, color: '#546779', marginTop: 8 }}&gt;下一节：草稿、副本、预检与封存 —— 装配一个独立的实验&lt;/Text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609600" y="1200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3.7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对话与对象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：让信息通过真实交互传播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记住三件事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609600" y="24193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5" name=""/>
          <p:cNvSpPr/>
          <p:nvPr/>
        </p:nvSpPr>
        <p:spPr>
          <a:xfrm rot="0" flipH="0" flipV="0">
            <a:off x="609600" y="266700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819150" y="3019425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真实发言者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2038350" y="3048000"/>
            <a:ext cx="933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每条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都需要真实的发言者与接收者，一条只连一个人。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609600" y="3771900"/>
            <a:ext cx="5391150" cy="1104900"/>
          </a:xfrm>
          <a:prstGeom prst="roundRect">
            <a:avLst>
              <a:gd name="adj" fmla="val 862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819150" y="4095750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真实请求与整步提交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819150" y="4381500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回复必须引用真实请求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并随整步提交。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6191250" y="3771900"/>
            <a:ext cx="5391150" cy="1104900"/>
          </a:xfrm>
          <a:prstGeom prst="roundRect">
            <a:avLst>
              <a:gd name="adj" fmla="val 86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6400800" y="4095750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真实到达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6400800" y="4381500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下一轮的外部观察，才能证明对方收到了。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609600" y="51054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下一节：草稿、副本、预检与封存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装配一个独立的实验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2026-09-29T08:49:52Z</dcterms:created>
  <dcterms:modified xsi:type="dcterms:W3CDTF">2026-09-29T08:49:52Z</dcterms:modified>
</cp:coreProperties>
</file>