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7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20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5" Type="http://schemas.openxmlformats.org/officeDocument/2006/relationships/slide" Target="slides/slide15.xml" /><Relationship Id="rId0" Type="http://schemas.openxmlformats.org/officeDocument/2006/relationships/slideMaster" Target="slideMasters/slideMaster1.xml" /><Relationship Id="rId13" Type="http://schemas.openxmlformats.org/officeDocument/2006/relationships/slide" Target="slides/slide13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7" Type="http://schemas.openxmlformats.org/officeDocument/2006/relationships/slide" Target="slides/slide17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20" Type="http://schemas.openxmlformats.org/officeDocument/2006/relationships/slide" Target="slides/slide20.xml" /><Relationship Id="rId9" Type="http://schemas.openxmlformats.org/officeDocument/2006/relationships/slide" Target="slides/slide9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6" Type="http://schemas.openxmlformats.org/officeDocument/2006/relationships/presProps" Target="presProps.xml" /><Relationship Id="rId27" Type="http://schemas.openxmlformats.org/officeDocument/2006/relationships/tableStyles" Target="tableStyles.xml" /><Relationship Id="rId5" Type="http://schemas.openxmlformats.org/officeDocument/2006/relationships/slide" Target="slides/slide5.xml" /><Relationship Id="rId28" Type="http://schemas.openxmlformats.org/officeDocument/2006/relationships/viewProps" Target="viewProps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前面几节我们分别准备了地图、人物和行为。现在要把它们组合成一份边界清楚的实验：这一次采用哪张地图、哪些角色、哪一套 Skill 和模型配置，哪些内容还能改，哪些已经成为某次运行的依据。</a:t>
            </a:r>
          </a:p>
          <a:p>
            <a:r>
              <a:rPr lang="zh-CN" dirty="0"/>
              <a:t>创建实验时，系统不是记下几个公共资源的链接，而是把选中的资源和它们的依赖复制进实验，形成一份独立材料。所以创建成功得到的是草稿，公共作者资源以后怎么改，都不会传播到这份副本里。</a:t>
            </a:r>
          </a:p>
          <a:p>
            <a:r>
              <a:rPr lang="zh-CN" dirty="0"/>
              <a:t>这份材料会经历两步：先是可编辑的 DRAFT，确认执行时封存成 SEALED，此后内容不可再改。要改，就向下复制出一份新实验。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把这一节要看清的东西摆出来，一共五块。</a:t>
            </a:r>
          </a:p>
          <a:p>
            <a:r>
              <a:rPr lang="zh-CN" dirty="0"/>
              <a:t>第一块是创建的结果：它不是记下几条公共资源链接，而是把地图、人物、Brain 和模型配置连同依赖复制进来的独立材料。</a:t>
            </a:r>
          </a:p>
          <a:p>
            <a:r>
              <a:rPr lang="zh-CN" dirty="0"/>
              <a:t>第二块是草稿的核对：DRAFT 只说明可以改，不说明已经达到目的。出生坐标属于这一次实验，保存之后要从同一个实验重开，核对服务器上的副本。</a:t>
            </a:r>
          </a:p>
          <a:p>
            <a:r>
              <a:rPr lang="zh-CN" dirty="0"/>
              <a:t>第三块是预检：它检查材料与依赖，但不能证明角色真的穿过了门。</a:t>
            </a:r>
          </a:p>
          <a:p>
            <a:r>
              <a:rPr lang="zh-CN" dirty="0"/>
              <a:t>第四块是封存边界：关闭对话框和确认执行是两件不同的事，只有确认执行才会封存并创建 Run。封存以后要改内容，就得复制成新实验。</a:t>
            </a:r>
          </a:p>
          <a:p>
            <a:r>
              <a:rPr lang="zh-CN" dirty="0"/>
              <a:t>第五块是练习：归档、恢复和删除都只是展示管理，不改实验与 Run 的状态。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这一块要解决一个很容易搞错的直觉：点一下创建，到底生成了什么。</a:t>
            </a:r>
          </a:p>
          <a:p>
            <a:r>
              <a:rPr lang="zh-CN" dirty="0"/>
              <a:t>它不是在我们名下登记了「这张地图、这几个人物」，而是把选中的资源连同它们的依赖整份复制进实验。地图会连着图像、语义和对象 Skill 一起进来；Brain 会连着子 Skill、脚本和模板一起进来；人物连着自身资料和图片；模型连着配置内容。</a:t>
            </a:r>
          </a:p>
          <a:p>
            <a:r>
              <a:rPr lang="zh-CN" dirty="0"/>
              <a:t>正因为复制得这么彻底，这份实验从此是独立材料。以后在公共 Agent 里修改许安的目标，已经创建的青禾实验仍旧保留原来的目标。</a:t>
            </a:r>
          </a:p>
          <a:p>
            <a:r>
              <a:rPr lang="zh-CN" dirty="0"/>
              <a:t>要改变这一次实验，就进它自己的智能体页面编辑；要让以后的新实验采用新目标，才去改公共作者资源。两者可以相同，也可以故意不同。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这张关系图讲的是复制与封存的边界。</a:t>
            </a:r>
          </a:p>
          <a:p>
            <a:r>
              <a:rPr lang="zh-CN" dirty="0"/>
              <a:t>公共作者资源向实验 A 的草稿走一步，这一步是递归的物理复制：整份闭包都搬进来，不是建立一条链接。</a:t>
            </a:r>
          </a:p>
          <a:p>
            <a:r>
              <a:rPr lang="zh-CN" dirty="0"/>
              <a:t>实验 A 从草稿到封存，身份始终是同一个。校验通过、确认执行之后它变成 SEALED，内容不可再修改，这样以后才能解释某一次运行到底用了什么材料。</a:t>
            </a:r>
          </a:p>
          <a:p>
            <a:r>
              <a:rPr lang="zh-CN" dirty="0"/>
              <a:t>需要调整内容的时候，不是给原实验打补丁，而是向下复制出实验 B。实验 B 有新的 UUID、独立的内容，从此与实验 A 各走各路。</a:t>
            </a:r>
          </a:p>
          <a:p>
            <a:r>
              <a:rPr lang="zh-CN" dirty="0"/>
              <a:t>图里的 A 和 B 只是为了讲解方便起的标签，不是真实实验的身份编号。虚线那一头提醒的是：后续对公共资源的修改不会自动传播到既有副本，它不能读成一种持续同步的关系。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新建实验的向导分三步，每一步都要留下以后能核对的文字。</a:t>
            </a:r>
          </a:p>
          <a:p>
            <a:r>
              <a:rPr lang="zh-CN" dirty="0"/>
              <a:t>第一步定义实验，填名称、目标、负责人和标签。目标不要写「运行成功」这种话，那对后面查证据没有帮助。青禾的目标可以写成：观察四位角色如何根据现场公告与服务台回复调整安排，核对实际移动、记忆更新和活动开始。它明确了稍后要查的事实。</a:t>
            </a:r>
          </a:p>
          <a:p>
            <a:r>
              <a:rPr lang="zh-CN" dirty="0"/>
              <a:t>第二步选择资源，显式挑出聊天模型、Embedding 模型、大脑 Skill、地图，以及一个或多个 Crowd。本案例选入前面准备的四人群体。这一步要逐项核对，不用同名条目或者无关的旧地图来充当本次材料。</a:t>
            </a:r>
          </a:p>
          <a:p>
            <a:r>
              <a:rPr lang="zh-CN" dirty="0"/>
              <a:t>第三步确认创建，检查名称、资源的成员摘要，然后创建草稿。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创建之所以是在换一份材料，关键在复制闭包这件事上。</a:t>
            </a:r>
          </a:p>
          <a:p>
            <a:r>
              <a:rPr lang="zh-CN" dirty="0"/>
              <a:t>地图进来的时候，连着图像、语义和对象 Skill 一起进来；Brain 进来的时候，连着子 Skill、脚本和模板；人物连着自己的资料和图片；模型连着配置内容。</a:t>
            </a:r>
          </a:p>
          <a:p>
            <a:r>
              <a:rPr lang="zh-CN" dirty="0"/>
              <a:t>Crowd 会展开成一个个独立人物，这时候要核对四个实际 Agent 身份。公共 ID 重复会被去重，agent_key 冲突则直接拒绝创建。摘要数量有疑问，就进草稿数实际成员，不能靠名字看起来一样来解释合并结果。</a:t>
            </a:r>
          </a:p>
          <a:p>
            <a:r>
              <a:rPr lang="zh-CN" dirty="0"/>
              <a:t>由此就能理解一个常见现象：后来在公共 Agent 里改了许安的目标，已经创建的青禾实验仍保留原来的目标。这是副本隔离，不是同步延迟。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这一块要解决一个很容易被忽略的问题：草稿能改，那改完之后凭什么说它改对了。</a:t>
            </a:r>
          </a:p>
          <a:p>
            <a:r>
              <a:rPr lang="zh-CN" dirty="0"/>
              <a:t>创建成功首先得到的是一份 DRAFT，它只说明材料还可以编辑，并不说明空间和行为已经达到我们要观察的目的。系统可以在创建时给出初始位置，但作者仍然要按照场景重新装配。</a:t>
            </a:r>
          </a:p>
          <a:p>
            <a:r>
              <a:rPr lang="zh-CN" dirty="0"/>
              <a:t>装配完还不算完，关键是保存之后要从同一个实验重新打开。要看的是服务器保存下来的那份副本，而不是还留在输入框里、尚未提交的内容。图片和地图保存完了，同样要重看素材、对象状态图和人物比例。</a:t>
            </a:r>
          </a:p>
          <a:p>
            <a:r>
              <a:rPr lang="zh-CN" dirty="0"/>
              <a:t>核对的位置也要放对：坐标属于这一次实验，公共 Agent 资料里没有坐标，不等于配置漏了。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创建成功拿到的是可编辑的草稿，接下来要按场景重新装配。系统可以在创建时给一个初始位置，但四位人物到底站在哪里，是我们自己决定的。</a:t>
            </a:r>
          </a:p>
          <a:p>
            <a:r>
              <a:rPr lang="zh-CN" dirty="0"/>
              <a:t>按照空间选择器，林岚选公共大厅，周宁选手作室，陈晨选交流室，许安选阅读室，然后把实际的出生坐标、地址和初始已知空间保存下来。这里要提醒一句：公共 Agent 资料里没有坐标，不是配置漏了，坐标本来就属于这一次实验。</a:t>
            </a:r>
          </a:p>
          <a:p>
            <a:r>
              <a:rPr lang="zh-CN" dirty="0"/>
              <a:t>装配还包括核对每个对象的根 Skill、人物 Brain 及其依赖。时间参数采用二零二六年十月十七日九点五十分、上海时区、每步一分钟、共四十八步。</a:t>
            </a:r>
          </a:p>
          <a:p>
            <a:r>
              <a:rPr lang="zh-CN" dirty="0"/>
              <a:t>最后一步最容易被跳过：保存后要从同一个实验重新打开，看的是服务器上那份副本。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装配草稿的时候，有几项参数要明确写下来，写下来才能被后面核对。</a:t>
            </a:r>
          </a:p>
          <a:p>
            <a:r>
              <a:rPr lang="zh-CN" dirty="0"/>
              <a:t>虚拟时间从二零二六年十月十七日九点五十分开始，时区是上海。步长按每步一分钟算，一共四十八步。这三项决定了这次观察窗口覆盖的区间。</a:t>
            </a:r>
          </a:p>
          <a:p>
            <a:r>
              <a:rPr lang="zh-CN" dirty="0"/>
              <a:t>窗口的用途是说清楚的：用它来观察角色怎么调整信息、怎么抵达、活动有没有开始。不能因为跑了四十八步，就宣称一个小时的活动已经完整结束，窗口只证明窗口里面发生的事。其他运行参数要按后面第九节的口径去核对。</a:t>
            </a:r>
          </a:p>
          <a:p>
            <a:r>
              <a:rPr lang="zh-CN" dirty="0"/>
              <a:t>最后是保存这件事。编辑完要点当前页面对应的保存操作，等结果回来，然后离开、再从同一个实验打开。核对的是服务器保存后的副本，不是还亮在输入框里的内容。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模型页上有一个明确的动作，叫复制所选配置到实验，它可以把选中的公共模型配置复制进当前这份草稿。</a:t>
            </a:r>
          </a:p>
          <a:p>
            <a:r>
              <a:rPr lang="zh-CN" dirty="0"/>
              <a:t>这里要特别提醒两点。第一，它并不建立以后自动更新的关系，复制那一刻是什么配置，实验里就是什么配置。第二，不能因为模型页有这个按钮，就推断所有资源页都有完全相同的替换入口。入口是分页面存在的，不是通用能力。</a:t>
            </a:r>
          </a:p>
          <a:p>
            <a:r>
              <a:rPr lang="zh-CN" dirty="0"/>
              <a:t>那要换地图怎么办？可以通过新建一个独立实验重新选择，走显式导入路径。</a:t>
            </a:r>
          </a:p>
          <a:p>
            <a:r>
              <a:rPr lang="zh-CN" dirty="0"/>
              <a:t>不管用哪种已支持的方式换图，换完之后出生点、地址、已知空间和对象绑定检查都要重做一遍。旧坐标只对旧地图有含义，换到新图上不能自动沿用。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这一块讲的是执行之前的检查。要点很清楚：预检回答的是材料和依赖这两件事。</a:t>
            </a:r>
          </a:p>
          <a:p>
            <a:r>
              <a:rPr lang="zh-CN" dirty="0"/>
              <a:t>点击执行实验之后，当前实现会先等待草稿保存，再打开执行对话框，取得预检结果和规模估算。打开对话框和点击确认执行是两个不同阶段，仅仅看一眼预检结果，并不证明已经创建了运行。</a:t>
            </a:r>
          </a:p>
          <a:p>
            <a:r>
              <a:rPr lang="zh-CN" dirty="0"/>
              <a:t>预检要检查的是空间、附件、装配和 Skill 闭包四类材料。它们能说明这次实验是不是一份可以运行的材料。</a:t>
            </a:r>
          </a:p>
          <a:p>
            <a:r>
              <a:rPr lang="zh-CN" dirty="0"/>
              <a:t>但它们不能说明角色已经穿过了门、看到了公告、收到了回复。路径检查只能证明地图上两个点可达，角色有没有实际抵达，要读运行中的移动事实；Skill 文本写着更新公告，也代替不了真实的公告状态更新和它的回放。这些证据要留给后续的运行验收。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在实验概览点击执行实验之后，当前实现会先等草稿保存，再打开执行对话框，取出预检结果和规模估算。</a:t>
            </a:r>
          </a:p>
          <a:p>
            <a:r>
              <a:rPr lang="zh-CN" dirty="0"/>
              <a:t>这里有一条容易踩的边界：打开对话框和点击确认执行是两个不同阶段。只在对话框里看一眼预检结果，并不证明已经创建了运行。如果只想查看预检，可以直接把对话框关掉；但要清楚，之前的草稿修改很可能已经被自动保存了。</a:t>
            </a:r>
          </a:p>
          <a:p>
            <a:r>
              <a:rPr lang="zh-CN" dirty="0"/>
              <a:t>预检失败时返回的是一段错误文字，回去改的应该是草稿里对应的那份材料。改完保存，再重新检查一遍。</a:t>
            </a:r>
          </a:p>
          <a:p>
            <a:r>
              <a:rPr lang="zh-CN" dirty="0"/>
              <a:t>看到预检通过，也只说明材料可以运行，不代表目标已经达成。行为证据要留给运行验收去找。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预检在材料这个边界上要查四类东西。</a:t>
            </a:r>
          </a:p>
          <a:p>
            <a:r>
              <a:rPr lang="zh-CN" dirty="0"/>
              <a:t>第一类是空间：四层的层级、节点的范围、坐标和地址之间能不能对得上。第二类是附件：地图、人物图片、状态图、Skill 脚本和模板是不是齐全。第三类是装配：人物的出生位置、对象的交互配置、唯一的 Brain、所需的模型配置有没有完整。</a:t>
            </a:r>
          </a:p>
          <a:p>
            <a:r>
              <a:rPr lang="zh-CN" dirty="0"/>
              <a:t>第四类是 Skill 闭包：依赖齐不齐、包内的 skill_key 有没有冲突、有没有非法的依赖环。冲突这一项要单独说一句：同一个 key 且内容相同可以合并，同一个 key 但内容不同必须处理冲突，不能按显示名称悄悄覆盖过去。</a:t>
            </a:r>
          </a:p>
          <a:p>
            <a:r>
              <a:rPr lang="zh-CN" dirty="0"/>
              <a:t>发现阻断就记录完整的错误，回到对应的草稿资源去修正、保存，再重新检查一次。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这里要区分两件很容易混起来的事：校验合同和当前页面的展示粒度。</a:t>
            </a:r>
          </a:p>
          <a:p>
            <a:r>
              <a:rPr lang="zh-CN" dirty="0"/>
              <a:t>从接口这一侧看，预检调用的是整个实验包的校验，它不是把四类材料拆成四条分别去查。失败的时候返回状态码 PACKAGE_INVALID 和一段错误文字，在统计上算一个阻断项；成功的时候返回一个通过项。</a:t>
            </a:r>
          </a:p>
          <a:p>
            <a:r>
              <a:rPr lang="zh-CN" dirty="0"/>
              <a:t>从页面这一侧看，页面上显示几条、怎么显示，是展示粒度的问题。所以不能把上面讲的四类校验合同，直接写成当前页面必然显示四条独立的统计项，那是把合同当成了界面。</a:t>
            </a:r>
          </a:p>
          <a:p>
            <a:r>
              <a:rPr lang="zh-CN" dirty="0"/>
              <a:t>实际遇到阻断的操作很简单：把完整错误记录下来，回到对应的草稿资源把它修好，保存，然后再查一次。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预检的结论有明确的范围，把它用过头是最常见的误读。</a:t>
            </a:r>
          </a:p>
          <a:p>
            <a:r>
              <a:rPr lang="zh-CN" dirty="0"/>
              <a:t>它能证明的是材料与依赖这一层：空间、附件、装配和 Skill 闭包都对得上，说明这是一份可以运行的材料。</a:t>
            </a:r>
          </a:p>
          <a:p>
            <a:r>
              <a:rPr lang="zh-CN" dirty="0"/>
              <a:t>它不能证明行为已经发生。路径检查只能证明指定地图上两个点之间是可达的，角色有没有真的走过去，要去读运行中的 MOVE 事实。同样，Skill 文本里写着更新公告，也不能代替一次真实的公告状态更新以及它的回放记录。</a:t>
            </a:r>
          </a:p>
          <a:p>
            <a:r>
              <a:rPr lang="zh-CN" dirty="0"/>
              <a:t>所以正确的做法是：把穿门、交互、回复这些行为证据留给后续的运行验收。不然很容易把「可运行」当成「目标已达成」，报告就会写得比事实更乐观。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这一块讲的是整节里最需要判断的地方：封存这件事发生在哪一刻。</a:t>
            </a:r>
          </a:p>
          <a:p>
            <a:r>
              <a:rPr lang="zh-CN" dirty="0"/>
              <a:t>实验本身只有两个状态，草稿和封存。封存意味着这份实验的内容不可再改，这样以后才能解释清楚某一次运行到底用了什么材料。完成、失败、暂停这些说法属于运行，与实验有没有封存是两条不同的信息。</a:t>
            </a:r>
          </a:p>
          <a:p>
            <a:r>
              <a:rPr lang="zh-CN" dirty="0"/>
              <a:t>当前界面上，草稿的执行对话框里点确认执行之后，程序先等待保存，然后把实验封存，再创建运行。要提醒的是，本次没有核验过一个独立的、只做封存的前端按钮，所以不能把它写成一条已经完成的点击流程。</a:t>
            </a:r>
          </a:p>
          <a:p>
            <a:r>
              <a:rPr lang="zh-CN" dirty="0"/>
              <a:t>在本次操作这一步上会分成两路：关掉对话框不会因此创建运行，但是此前的修改可能已经被保存；只有确认执行才会继续往下走。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从实验概览点执行实验开始，程序先等草稿保存，然后打开执行对话框。对话框里能看到预检结果和规模估算。</a:t>
            </a:r>
          </a:p>
          <a:p>
            <a:r>
              <a:rPr lang="zh-CN" dirty="0"/>
              <a:t>在本次操作这一步分成两路。第一路是只看一眼就把对话框关掉，这条路不会因此创建运行，但之前的草稿修改可能已保存。第二路是确认执行，它会再次等待保存，按需要把实验封存，然后创建新的运行。</a:t>
            </a:r>
          </a:p>
          <a:p>
            <a:r>
              <a:rPr lang="zh-CN" dirty="0"/>
              <a:t>要特别说明的是：当前界面上封存和启动连在一起，本次并未核验独立的前端「只封存」按钮，所以不能写成已完成的只封存流程。</a:t>
            </a:r>
          </a:p>
          <a:p>
            <a:r>
              <a:rPr lang="zh-CN" dirty="0"/>
              <a:t>另外，预检这一路的结论只覆盖材料与依赖，它不证明人物已经穿过门、完成交互或者恢复了。</a:t>
            </a:r>
          </a:p>
          <a:p>
            <a:r>
              <a:rPr lang="zh-CN" dirty="0"/>
              <a:t>看到已创建仿真、但状态刷新失败的反馈，应该重新进入该仿真核对，不要连续再点执行。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这里要把两条容易混淆的信息彻底分开。</a:t>
            </a:r>
          </a:p>
          <a:p>
            <a:r>
              <a:rPr lang="zh-CN" dirty="0"/>
              <a:t>实验本身只有两个状态：草稿和封存。草稿说明材料还可以改，封存说明这份实验的内容不能再改，目的是让以后能解释清楚某一次运行用的是哪份材料。</a:t>
            </a:r>
          </a:p>
          <a:p>
            <a:r>
              <a:rPr lang="zh-CN" dirty="0"/>
              <a:t>完成、失败、暂停这些说法属于运行，它们说明的是这次仿真走到了哪里，和实验有没有封存没有关系。一份已经封存的实验，可以反复执行，创建出多个运行。</a:t>
            </a:r>
          </a:p>
          <a:p>
            <a:r>
              <a:rPr lang="zh-CN" dirty="0"/>
              <a:t>所以报告里写状态时，要先问自己写的是哪一条。写实验状态，说的是材料；写运行状态，说的是这一次执行。两者不能互相代替，也不能因为运行完成了就以为实验应该变成别的状态。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封存之后如果需要修改，比如要改周宁的 SOP 或者公告内容，做法不是给原实验打补丁，而是用复制实验产生一份新的独立草稿，再在这份副本上改。</a:t>
            </a:r>
          </a:p>
          <a:p>
            <a:r>
              <a:rPr lang="zh-CN" dirty="0"/>
              <a:t>复制会生成一个新的实验 UUID，它不是给原实验增加一个 Revision。原实验和它已经产生的运行，继续用来说明原来的条件；新副本用来说明新的条件。</a:t>
            </a:r>
          </a:p>
          <a:p>
            <a:r>
              <a:rPr lang="zh-CN" dirty="0"/>
              <a:t>还有一种情况要分清：对一个已经封存的实验再次执行，是在相同的实验内容下创建另一个运行，这不等于复制并修改实验。前者是同一份材料多跑几次，后者是换了一份材料。</a:t>
            </a:r>
          </a:p>
          <a:p>
            <a:r>
              <a:rPr lang="zh-CN" dirty="0"/>
              <a:t>操作过程中如果出现已创建仿真、但状态刷新失败的反馈，应该重新进入那个仿真核对，不要连续再点执行。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最后一块讲归档、恢复和删除。这三件事听起来很重，其实都只在展示管理这一层。</a:t>
            </a:r>
          </a:p>
          <a:p>
            <a:r>
              <a:rPr lang="zh-CN" dirty="0"/>
              <a:t>实验中心每页固定显示五条，保留负责人、标签、分页和归档范围选择。可以在当前、已归档以及全部这几个范围之间切换。</a:t>
            </a:r>
          </a:p>
          <a:p>
            <a:r>
              <a:rPr lang="zh-CN" dirty="0"/>
              <a:t>这里的归档既不把草稿变成封存实验，也不把某个运行变成完成状态。恢复同样只是让它回到默认范围里显示出来。删除也是针对列表里那条记录，不会反过来改写实验内容和运行结果。</a:t>
            </a:r>
          </a:p>
          <a:p>
            <a:r>
              <a:rPr lang="zh-CN" dirty="0"/>
              <a:t>所以练习的时候要养成一个习惯：分别记录复制得到了哪个新身份、哪份内容被改了、哪条记录进了归档、删除的是哪一份材料。这四句话写清楚，证据链才站得住。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实验中心的列表每页固定显示五条，同时保留负责人、标签、分页和归档范围的选择，这几项在核对身份的时候很有用。</a:t>
            </a:r>
          </a:p>
          <a:p>
            <a:r>
              <a:rPr lang="zh-CN" dirty="0"/>
              <a:t>范围可以选择当前、已归档，以及全部。归档之后，它会从默认范围里消失，切到已归档或者全部就能重新找到它，恢复也是在这个位置完成的。</a:t>
            </a:r>
          </a:p>
          <a:p>
            <a:r>
              <a:rPr lang="zh-CN" dirty="0"/>
              <a:t>要强调的是，归档只影响展示，它不是状态迁移。归档不会把一份草稿变成封存实验，也不会把某个运行变成完成。删除同理，它针对的是列表里的那条记录。</a:t>
            </a:r>
          </a:p>
          <a:p>
            <a:r>
              <a:rPr lang="zh-CN" dirty="0"/>
              <a:t>所以用列表判断事情的时候，先确认三件事：当前在哪个范围、看到的实验是哪一份身份、其他筛选条件有没有影响结果。只看徽标颜色容易出错。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练习的时候，先复制青禾实验，把新名称标成练习用途，同时记下原件和副本是两个不同的实验身份。这一步是为后面所有判断建立基准。</a:t>
            </a:r>
          </a:p>
          <a:p>
            <a:r>
              <a:rPr lang="zh-CN" dirty="0"/>
              <a:t>然后在练习副本里只改一个角色的目标，再把两份实验分别打开，比较目标文字，确认它们之间是隔离的。</a:t>
            </a:r>
          </a:p>
          <a:p>
            <a:r>
              <a:rPr lang="zh-CN" dirty="0"/>
              <a:t>接着把练习副本归档，切到已归档范围里找到它，再恢复，确认内容还在。</a:t>
            </a:r>
          </a:p>
          <a:p>
            <a:r>
              <a:rPr lang="zh-CN" dirty="0"/>
              <a:t>最后只对确定不需要保留的练习副本执行删除。不要用删除正式材料的方式来演示独立性，那样会损失本来还有用的证据。</a:t>
            </a:r>
          </a:p>
          <a:p>
            <a:r>
              <a:rPr lang="zh-CN" dirty="0"/>
              <a:t>完成之后要能分别回答四句话：复制得到了哪个新身份、哪份内容改变了、哪条记录进入归档、删除的是哪一份材料。这四句话写不出来，就说明边界还没看清，还不能进入运行观察。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操作过程中，界面上的信息偶尔会互相打架，这时候的顺序很重要。</a:t>
            </a:r>
          </a:p>
          <a:p>
            <a:r>
              <a:rPr lang="zh-CN" dirty="0"/>
              <a:t>如果页面徽标、当前所选的实验和操作提示对不上，先停下来查清实际对象和实际状态，不要继续用更多操作去覆盖证据。多操作几次，线索就被搅乱了。</a:t>
            </a:r>
          </a:p>
          <a:p>
            <a:r>
              <a:rPr lang="zh-CN" dirty="0"/>
              <a:t>如果提示已经创建仿真，但状态刷新失败，做法是重新进入那个仿真核对，不要因为界面还没刷新就连续再点执行。一次请求的结果和运行的当前状态是两回事。</a:t>
            </a:r>
          </a:p>
          <a:p>
            <a:r>
              <a:rPr lang="zh-CN" dirty="0"/>
              <a:t>归档之后在默认范围里找不到某份实验，先确认当前的范围和筛选条件，而不是急着重建一份同名实验。重建出来的是一份新身份，原来的证据就对不上了。</a:t>
            </a:r>
          </a:p>
          <a:p>
            <a:r>
              <a:rPr lang="zh-CN" dirty="0"/>
              <a:t>把这些核对做完，才会有一份可以进入运行观察、边界明确的实验材料。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把这一节收一收，记住三件事。</a:t>
            </a:r>
          </a:p>
          <a:p>
            <a:r>
              <a:rPr lang="zh-CN" dirty="0"/>
              <a:t>创建实验得到的是一份独立材料：选中的地图、人物、Brain 和模型配置连同依赖整份复制进来，公共资源以后再改，也不会传播到这份副本。要改，就复制成一份新实验。</a:t>
            </a:r>
          </a:p>
          <a:p>
            <a:r>
              <a:rPr lang="zh-CN" dirty="0"/>
              <a:t>预检检查的是材料和依赖：空间、附件、装配和 Skill 闭包。它不证明角色穿过了门、完成了交互或者收到了回复，这些行为证据要留给运行验收。</a:t>
            </a:r>
          </a:p>
          <a:p>
            <a:r>
              <a:rPr lang="zh-CN" dirty="0"/>
              <a:t>封存之后内容不可再改。实验只有草稿和封存两个状态，完成还是失败属于运行，是另一条信息。</a:t>
            </a:r>
          </a:p>
          <a:p>
            <a:r>
              <a:rPr lang="zh-CN" dirty="0"/>
              <a:t>带上这三件事，下一节我们去看启动之后的状态、三种时间口径和实际发生的调用与费用。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前面几节我们分别准备了地图、人物和行为。现在要把它们组合成一份边界清楚的实验：这一次采用哪张地图、哪些角色、哪一套 Skill 和模型配置，哪些内容还能改，哪些已经成为某次运行的依据。&#10;&#10;创建实验时，系统不是记下几个公共资源的链接，而是把选中的资源和它们的依赖复制进实验，形成一份独立材料。所以创建成功得到的是草稿，公共作者资源以后怎么改，都不会传播到这份副本里。&#10;&#10;这份材料会经历两步：先是可编辑的 DRAFT，确认执行时封存成 SEALED，此后内容不可再改。要改，就向下复制出一份新实验。`} style={{ width: 1280, height: 720, background: '#FFFFFF', flexDirection: 'column', padding: '20px 64px' }}&gt;&#10;&#10;    &lt;Box style={{ height: 640, flexDirection: 'row', alignItems: 'center', gap: 32 }}&gt;&#10;&#10;        &lt;Box style={{ width: 520, flexDirection: 'column', gap: 14 }}&gt;&#10;            &lt;Text style={{ fontSize: 15, color: '#546779' }}&gt;第三章　3.8　实验生命周期&lt;/Text&gt;&#10;            &lt;Text style={{ fontSize: 52, fontWeight: 'bold', color: '#20344B', lineHeight: 1.2 }}&gt;草稿、副本、{'\n'}预检与封存&lt;/Text&gt;&#10;            &lt;Box style={{ width: 72, height: 4, background: '#276FBF' }} /&gt;&#10;            &lt;Text style={{ fontSize: 17, color: '#546779', lineHeight: 1.7, width: 520 }}&gt;把已经准备好的地图、人物和行为组合成一份边界清楚的实验，再看清哪些还能改、哪些已经成为运行依据。&lt;/Text&gt;&#10;            &lt;Box style={{ flexDirection: 'row', gap: 12, marginTop: 4 }}&gt;&#10;                &lt;Box style={{ width: 118, height: 42, background: '#EDF4FC', borderRadius: 8, justifyContent: 'center', alignItems: 'center' }}&gt;&#10;                    &lt;Text style={{ fontSize: 15, color: '#276FBF' }}&gt;独立副本&lt;/Text&gt;&#10;                &lt;/Box&gt;&#10;                &lt;Box style={{ width: 118, height: 42, background: '#EDF4FC', borderRadius: 8, justifyContent: 'center', alignItems: 'center' }}&gt;&#10;                    &lt;Text style={{ fontSize: 15, color: '#276FBF' }}&gt;重开核对&lt;/Text&gt;&#10;                &lt;/Box&gt;&#10;                &lt;Box style={{ width: 118, height: 42, background: '#ECF7F2', borderRadius: 8, justifyContent: 'center', alignItems: 'center' }}&gt;&#10;                    &lt;Text style={{ fontSize: 15, color: '#26816B' }}&gt;预检边界&lt;/Text&gt;&#10;                &lt;/Box&gt;&#10;                &lt;Box style={{ width: 118, height: 42, background: '#FFF4E6', borderRadius: 8, justifyContent: 'center', alignItems: 'center' }}&gt;&#10;                    &lt;Text style={{ fontSize: 15, color: '#CB6B28' }}&gt;封存不可改&lt;/Text&gt;&#10;                &lt;/Box&gt;&#10;            &lt;/Box&gt;&#10;        &lt;/Box&gt;&#10;&#10;        &lt;Box style={{ width: 600, flexDirection: 'column' }}&gt;&#10;&#10;            &lt;Box style={{ width: 600, height: 78, background: '#F7F3E8', borderRadius: 8, padding: '0 20px', flexDirection: 'row', alignItems: 'center', gap: 12 }}&gt;&#10;                &lt;Text style={{ fontSize: 20, fontWeight: 'bold', color: '#20344B' }}&gt;公共作者资源&lt;/Text&gt;&#10;                &lt;Box style={{ flex: 1 }} /&gt;&#10;                &lt;Box style={{ width: 140, height: 30, background: '#FFF4E6', borderRadius: 6, justifyContent: 'center', alignItems: 'center' }}&gt;&#10;                    &lt;Text style={{ fontSize: 13, color: '#CB6B28' }}&gt;修改不自动传播&lt;/Text&gt;&#10;                &lt;/Box&gt;&#10;            &lt;/Box&gt;&#10;&#10;            &lt;Box style={{ width: 600, height: 34, justifyContent: 'center', alignItems: 'center' }}&gt;&#10;                &lt;Text style={{ fontSize: 22, color: '#276FBF' }}&gt;↓&lt;/Text&gt;&#10;            &lt;/Box&gt;&#10;&#10;            &lt;Box style={{ width: 600, height: 78, background: '#EDF4FC', borderRadius: 8, padding: '0 20px', flexDirection: 'row', alignItems: 'center', gap: 12 }}&gt;&#10;                &lt;Text style={{ fontSize: 20, fontWeight: 'bold', color: '#276FBF' }}&gt;实验 A　DRAFT&lt;/Text&gt;&#10;                &lt;Box style={{ flex: 1 }} /&gt;&#10;                &lt;Box style={{ width: 140, height: 30, background: '#FFFFFF', borderRadius: 6, justifyContent: 'center', alignItems: 'center' }}&gt;&#10;                    &lt;Text style={{ fontSize: 13, color: '#276FBF' }}&gt;可编辑包内副本&lt;/Text&gt;&#10;                &lt;/Box&gt;&#10;            &lt;/Box&gt;&#10;&#10;            &lt;Box style={{ width: 600, height: 34, justifyContent: 'center', alignItems: 'center' }}&gt;&#10;                &lt;Text style={{ fontSize: 22, color: '#276FBF' }}&gt;↓&lt;/Text&gt;&#10;            &lt;/Box&gt;&#10;&#10;            &lt;Box style={{ width: 600, height: 78, background: '#ECF7F2', borderRadius: 8, padding: '0 20px', flexDirection: 'row', alignItems: 'center', gap: 12 }}&gt;&#10;                &lt;Text style={{ fontSize: 20, fontWeight: 'bold', color: '#26816B' }}&gt;实验 A　SEALED&lt;/Text&gt;&#10;                &lt;Box style={{ flex: 1 }} /&gt;&#10;                &lt;Box style={{ width: 140, height: 30, background: '#FFFFFF', borderRadius: 6, justifyContent: 'center', alignItems: 'center' }}&gt;&#10;                    &lt;Text style={{ fontSize: 13, color: '#26816B' }}&gt;内容不可修改&lt;/Text&gt;&#10;                &lt;/Box&gt;&#10;            &lt;/Box&gt;&#10;&#10;            &lt;Box style={{ width: 600, height: 34, justifyContent: 'center', alignItems: 'center' }}&gt;&#10;                &lt;Text style={{ fontSize: 22, color: '#276FBF' }}&gt;↓&lt;/Text&gt;&#10;            &lt;/Box&gt;&#10;&#10;            &lt;Box style={{ width: 600, height: 78, background: '#EDF4FC', borderRadius: 8, padding: '0 20px', flexDirection: 'row', alignItems: 'center', gap: 12 }}&gt;&#10;                &lt;Text style={{ fontSize: 20, fontWeight: 'bold', color: '#276FBF' }}&gt;实验 B　DRAFT&lt;/Text&gt;&#10;                &lt;Box style={{ flex: 1 }} /&gt;&#10;                &lt;Box style={{ width: 140, height: 30, background: '#FFFFFF', borderRadius: 6, justifyContent: 'center', alignItems: 'center' }}&gt;&#10;                    &lt;Text style={{ fontSize: 13, color: '#276FBF' }}&gt;新 UUID、独立内容&lt;/Text&gt;&#10;                &lt;/Box&gt;&#10;            &lt;/Box&gt;&#10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实验生命周期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1905000"/>
            <a:ext cx="4953000" cy="14287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草稿、副本、</a:t>
            </a:r>
            <a:endParaRPr/>
          </a:p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预检与封存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34671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638550"/>
            <a:ext cx="4953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把已经准备好的地图、人物和行为组合成一份边界清楚的实验，再看清哪些还能改、哪些已经成为运行依据。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47675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885825" y="4591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独立副本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847850" y="447675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124075" y="4591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重开核对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086100" y="447675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362325" y="45910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预检边界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324350" y="4476750"/>
            <a:ext cx="1123950" cy="400050"/>
          </a:xfrm>
          <a:prstGeom prst="roundRect">
            <a:avLst>
              <a:gd name="adj" fmla="val 1904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533900" y="4591050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封存不可改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5867400" y="1266825"/>
            <a:ext cx="5715000" cy="742950"/>
          </a:xfrm>
          <a:prstGeom prst="roundRect">
            <a:avLst>
              <a:gd name="adj" fmla="val 10256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057900" y="1524000"/>
            <a:ext cx="1143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公共作者资源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10058400" y="14954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296525" y="15621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修改不自动传播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677275" y="20478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5867400" y="2333625"/>
            <a:ext cx="57150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57900" y="2590800"/>
            <a:ext cx="1428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10058400" y="25622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296525" y="26289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可编辑包内副本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8677275" y="31146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867400" y="3400425"/>
            <a:ext cx="5715000" cy="742950"/>
          </a:xfrm>
          <a:prstGeom prst="roundRect">
            <a:avLst>
              <a:gd name="adj" fmla="val 1025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057900" y="3657600"/>
            <a:ext cx="15049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实验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　</a:t>
            </a:r>
            <a:r>
              <a:rPr lang="en-US" sz="1500" b="1">
                <a:solidFill>
                  <a:srgbClr val="26816B"/>
                </a:solidFill>
                <a:latin typeface="Microsoft YaHei"/>
                <a:ea typeface="Microsoft YaHei"/>
              </a:rPr>
              <a:t>SEALED</a:t>
            </a:r>
            <a:endParaRPr/>
          </a:p>
        </p:txBody>
      </p:sp>
      <p:sp>
        <p:nvSpPr>
          <p:cNvPr id="27" name=""/>
          <p:cNvSpPr/>
          <p:nvPr/>
        </p:nvSpPr>
        <p:spPr>
          <a:xfrm rot="0" flipH="0" flipV="0">
            <a:off x="10058400" y="36290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10353675" y="36957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内容不可修改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677275" y="4181475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5867400" y="4467225"/>
            <a:ext cx="5715000" cy="742950"/>
          </a:xfrm>
          <a:prstGeom prst="roundRect">
            <a:avLst>
              <a:gd name="adj" fmla="val 1025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057900" y="4724400"/>
            <a:ext cx="1419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32" name=""/>
          <p:cNvSpPr/>
          <p:nvPr/>
        </p:nvSpPr>
        <p:spPr>
          <a:xfrm rot="0" flipH="0" flipV="0">
            <a:off x="10058400" y="4695825"/>
            <a:ext cx="1333500" cy="28575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0182225" y="47625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新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、独立内容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313" name="" descr="&lt;Slide notes={`把这一节要看清的东西摆出来，一共五块。&#10;&#10;第一块是创建的结果：它不是记下几条公共资源链接，而是把地图、人物、Brain 和模型配置连同依赖复制进来的独立材料。&#10;&#10;第二块是草稿的核对：DRAFT 只说明可以改，不说明已经达到目的。出生坐标属于这一次实验，保存之后要从同一个实验重开，核对服务器上的副本。&#10;&#10;第三块是预检：它检查材料与依赖，但不能证明角色真的穿过了门。&#10;&#10;第四块是封存边界：关闭对话框和确认执行是两件不同的事，只有确认执行才会封存并创建 Run。封存以后要改内容，就得复制成新实验。&#10;&#10;第五块是练习：归档、恢复和删除都只是展示管理，不改实验与 Run 的状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　草稿、副本、预检与封存&lt;/Text&gt;&#10;            &lt;Text style={{ fontSize: 34, fontWeight: 'bold', color: '#20344B' }}&gt;本节要看清的五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实验的生命周期只有两个状态：草稿可以改，封存不能再改。运行完成还是失败，说的是另一次运行。&lt;/Text&gt;&#10;            &lt;Box style={{ width: 300, height: 104, background: '#FFF4E6', borderRadius: 10, padding: '14px 18px', flexDirection: 'column', gap: 4, justifyContent: 'center' }}&gt;&#10;                &lt;Text style={{ fontSize: 16, fontWeight: 'bold', color: '#CB6B28' }}&gt;先分清两件事&lt;/Text&gt;&#10;                &lt;Text style={{ fontSize: 14, color: '#546779', lineHeight: 1.5 }}&gt;实验内容是否可改，与这次运行走到哪里，是两条信息。&lt;/Text&gt;&#10;            &lt;/Box&gt;&#10;        &lt;/Box&gt;&#10;&#10;        &lt;Box style={{ width: 820, flexDirection: 'column', gap: 12 }}&gt;&#10;&#10;            &lt;Box style={{ width: 820, height: 92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19, fontWeight: 'bold', color: '#20344B' }}&gt;创建得到一份独立材料&lt;/Text&gt;&#10;                    &lt;Text style={{ fontSize: 14, color: '#546779' }}&gt;复制的是选中资源及其依赖的完整闭包，不是几条链接。&lt;/Text&gt;&#10;                &lt;/Box&gt;&#10;            &lt;/Box&gt;&#10;&#10;            &lt;Box style={{ width: 820, height: 92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19, fontWeight: 'bold', color: '#20344B' }}&gt;草稿能改，改完要重开核对&lt;/Text&gt;&#10;                    &lt;Text style={{ fontSize: 14, color: '#546779' }}&gt;出生坐标与时间参数属于这一次实验，保存后要看副本。&lt;/Text&gt;&#10;                &lt;/Box&gt;&#10;            &lt;/Box&gt;&#10;&#10;            &lt;Box style={{ width: 820, height: 92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19, fontWeight: 'bold', color: '#20344B' }}&gt;预检检查材料，不检查行为&lt;/Text&gt;&#10;                    &lt;Text style={{ fontSize: 14, color: '#546779' }}&gt;空间、附件、装配与 Skill 闭包；穿门与交互留给运行验收。&lt;/Text&gt;&#10;                &lt;/Box&gt;&#10;            &lt;/Box&gt;&#10;&#10;            &lt;Box style={{ width: 820, height: 92, background: '#F4F7FA', borderRadius: 10, padding: '0 20px', flexDirection: 'row', alignItems: 'center', gap: 16 }}&gt;&#10;                &lt;Box style={{ width: 44, height: 44, background: '#CB6B28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19, fontWeight: 'bold', color: '#20344B' }}&gt;确认执行才跨过封存边界&lt;/Text&gt;&#10;                    &lt;Text style={{ fontSize: 14, color: '#546779' }}&gt;仅查看不会创建 Run；封存后要改内容，就复制成新实验。&lt;/Text&gt;&#10;                &lt;/Box&gt;&#10;            &lt;/Box&gt;&#10;&#10;            &lt;Box style={{ width: 820, height: 92, background: '#F4F7FA', borderRadius: 10, padding: '0 20px', flexDirection: 'row', alignItems: 'center', gap: 16 }}&gt;&#10;                &lt;Box style={{ width: 44, height: 44, background: '#26816B', borderRadius: 8, justifyContent: 'center', alignItems: 'center' }}&gt;&#10;                    &lt;Text style={{ fontSize: 20, fontWeight: 'bold', color: '#FFFFFF' }}&gt;5&lt;/Text&gt;&#10;                &lt;/Box&gt;&#10;                &lt;Box style={{ flexDirection: 'column', gap: 4 }}&gt;&#10;                    &lt;Text style={{ fontSize: 19, fontWeight: 'bold', color: '#20344B' }}&gt;归档、恢复与删除的边界&lt;/Text&gt;&#10;                    &lt;Text style={{ fontSize: 14, color: '#546779' }}&gt;只是展示管理，不改实验状态，也不改任何 Run 的结果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草稿、副本、预检与封存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本节要看清的五件事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609600" y="2619375"/>
            <a:ext cx="2857500" cy="1028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实验的生命周期只有两个状态：草稿可以改，封存不能再改。运行完成还是失败，说的是另一次运行。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3819525"/>
            <a:ext cx="2857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81050" y="39624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先分清两件事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81050" y="4191000"/>
            <a:ext cx="25146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实验内容是否可改，与这次运行走到哪里，是两条信息。</a:t>
            </a:r>
            <a:endParaRPr/>
          </a:p>
        </p:txBody>
      </p:sp>
      <p:sp>
        <p:nvSpPr>
          <p:cNvPr id="322" name=""/>
          <p:cNvSpPr/>
          <p:nvPr/>
        </p:nvSpPr>
        <p:spPr>
          <a:xfrm rot="0" flipH="0" flipV="0">
            <a:off x="3771900" y="12954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3" name=""/>
          <p:cNvSpPr/>
          <p:nvPr/>
        </p:nvSpPr>
        <p:spPr>
          <a:xfrm rot="0" flipH="0" flipV="0">
            <a:off x="3962400" y="15240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114800" y="16192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533900" y="1524000"/>
            <a:ext cx="333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创建得到一份独立材料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533900" y="17811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复制的是选中资源及其依赖的完整闭包，不是几条链接。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3771900" y="22860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28" name=""/>
          <p:cNvSpPr/>
          <p:nvPr/>
        </p:nvSpPr>
        <p:spPr>
          <a:xfrm rot="0" flipH="0" flipV="0">
            <a:off x="3962400" y="2514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4114800" y="26098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4533900" y="2514600"/>
            <a:ext cx="33337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草稿能改，改完要重开核对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533900" y="2771775"/>
            <a:ext cx="3333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出生坐标与时间参数属于这一次实验，保存后要看副本。</a:t>
            </a:r>
            <a:endParaRPr/>
          </a:p>
        </p:txBody>
      </p:sp>
      <p:sp>
        <p:nvSpPr>
          <p:cNvPr id="332" name=""/>
          <p:cNvSpPr/>
          <p:nvPr/>
        </p:nvSpPr>
        <p:spPr>
          <a:xfrm rot="0" flipH="0" flipV="0">
            <a:off x="3771900" y="32766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3962400" y="35052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4114800" y="36004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4533900" y="3505200"/>
            <a:ext cx="3543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预检检查材料，不检查行为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533900" y="3762375"/>
            <a:ext cx="3543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空间、附件、装配与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闭包；穿门与交互留给运行验收。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3771900" y="42672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38" name=""/>
          <p:cNvSpPr/>
          <p:nvPr/>
        </p:nvSpPr>
        <p:spPr>
          <a:xfrm rot="0" flipH="0" flipV="0">
            <a:off x="3962400" y="44958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4114800" y="45910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4533900" y="4495800"/>
            <a:ext cx="3495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确认执行才跨过封存边界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533900" y="4752975"/>
            <a:ext cx="3495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仅查看不会创建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；封存后要改内容，就复制成新实验。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3771900" y="5257800"/>
            <a:ext cx="7810500" cy="876300"/>
          </a:xfrm>
          <a:prstGeom prst="roundRect">
            <a:avLst>
              <a:gd name="adj" fmla="val 1087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43" name=""/>
          <p:cNvSpPr/>
          <p:nvPr/>
        </p:nvSpPr>
        <p:spPr>
          <a:xfrm rot="0" flipH="0" flipV="0">
            <a:off x="3962400" y="54864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4114800" y="5581650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533900" y="5486400"/>
            <a:ext cx="3400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归档、恢复与删除的边界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533900" y="5743575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只是展示管理，不改实验状态，也不改任何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的结果。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95" name="" descr="&lt;Slide notes={`这一块要解决一个很容易搞错的直觉：点一下创建，到底生成了什么。&#10;&#10;它不是在我们名下登记了「这张地图、这几个人物」，而是把选中的资源连同它们的依赖整份复制进实验。地图会连着图像、语义和对象 Skill 一起进来；Brain 会连着子 Skill、脚本和模板一起进来；人物连着自身资料和图片；模型连着配置内容。&#10;&#10;正因为复制得这么彻底，这份实验从此是独立材料。以后在公共 Agent 里修改许安的目标，已经创建的青禾实验仍旧保留原来的目标。&#10;&#10;要改变这一次实验，就进它自己的智能体页面编辑；要让以后的新实验采用新目标，才去改公共作者资源。两者可以相同，也可以故意不同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1　　3.8.1　创建的结果是一份独立材料&lt;/Text&gt;&#10;&#10;        &lt;Text style={{ fontSize: 56, fontWeight: 'bold', color: '#20344B', lineHeight: 1.15 }}&gt;创建的结果是一份独立材料&lt;/Text&gt;&#10;&#10;        &lt;Box style={{ width: 72, height: 4, background: '#276FBF' }} /&gt;&#10;&#10;        &lt;Text style={{ fontSize: 18, color: '#546779', lineHeight: 1.7, width: 920 }}&gt;创建不是记下几个公共资源链接，而是把选中资源连同依赖复制进实验；复制之后，公共资源的修改不再自动传播。&lt;/Text&gt;&#10;&#10;        &lt;Box style={{ flexDirection: 'row', alignItems: 'center', marginTop: 10 }}&gt;&#10;            &lt;Box style={{ width: 340, height: 64, background: '#F7F3E8', borderRadius: 8, justifyContent: 'center', alignItems: 'center' }}&gt;&#10;                &lt;Text style={{ fontSize: 18, color: '#20344B' }}&gt;公共作者资源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DF4FC', borderRadius: 8, justifyContent: 'center', alignItems: 'center' }}&gt;&#10;                &lt;Text style={{ fontSize: 18, color: '#276FBF' }}&gt;实验副本　DRAFT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ECF7F2', borderRadius: 8, justifyContent: 'center', alignItems: 'center' }}&gt;&#10;                &lt;Text style={{ fontSize: 18, color: '#26816B' }}&gt;封存　SEALED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3.8.1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创建的结果是一份独立材料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创建的结果是一份独立材料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763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创建不是记下几个公共资源链接，而是把选中资源连同依赖复制进实验；复制之后，公共资源的修改不再自动传播。</a:t>
            </a:r>
            <a:endParaRPr/>
          </a:p>
        </p:txBody>
      </p:sp>
      <p:sp>
        <p:nvSpPr>
          <p:cNvPr id="501" name=""/>
          <p:cNvSpPr/>
          <p:nvPr/>
        </p:nvSpPr>
        <p:spPr>
          <a:xfrm rot="0" flipH="0" flipV="0">
            <a:off x="6096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7145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公共作者资源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4019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42672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5181600" y="4257675"/>
            <a:ext cx="1419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实验副本　</a:t>
            </a:r>
            <a:r>
              <a:rPr lang="en-US" sz="1350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7677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79248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8972550" y="4257675"/>
            <a:ext cx="1143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封存　</a:t>
            </a: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>SEALED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511" name="" descr="&lt;Slide notes={`这张关系图讲的是复制与封存的边界。&#10;&#10;公共作者资源向实验 A 的草稿走一步，这一步是递归的物理复制：整份闭包都搬进来，不是建立一条链接。&#10;&#10;实验 A 从草稿到封存，身份始终是同一个。校验通过、确认执行之后它变成 SEALED，内容不可再修改，这样以后才能解释某一次运行到底用了什么材料。&#10;&#10;需要调整内容的时候，不是给原实验打补丁，而是向下复制出实验 B。实验 B 有新的 UUID、独立的内容，从此与实验 A 各走各路。&#10;&#10;图里的 A 和 B 只是为了讲解方便起的标签，不是真实实验的身份编号。虚线那一头提醒的是：后续对公共资源的修改不会自动传播到既有副本，它不能读成一种持续同步的关系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1　创建的结果是一份独立材料&lt;/Text&gt;&#10;            &lt;Text style={{ fontSize: 34, fontWeight: 'bold', color: '#20344B' }}&gt;副本与封存边界&lt;/Text&gt;&#10;        &lt;/Box&gt;&#10;    &lt;/Box&gt;&#10;&#10;    &lt;Box style={{ height: 540, flexDirection: 'column', justifyContent: 'center', gap: 16 }}&gt;&#10;&#10;        &lt;Text style={{ fontSize: 17, color: '#20344B', lineHeight: 1.6, width: 1152 }}&gt;实验 A 从草稿到封存仍是同一身份；需要改内容时，向下复制得到的是独立实验 B。&lt;/Text&gt;&#10;&#10;        &lt;Box style={{ flexDirection: 'row', alignItems: 'center' }}&gt;&#10;            &lt;Box style={{ width: 255, height: 140, background: '#F7F3E8', borderRadius: 10, flexDirection: 'column', gap: 4, justifyContent: 'center', alignItems: 'center' }}&gt;&#10;                &lt;Text style={{ fontSize: 19, fontWeight: 'bold', color: '#20344B' }}&gt;公共作者资源&lt;/Text&gt;&#10;                &lt;Text style={{ fontSize: 13, color: '#546779' }}&gt;地图 · 人物 · Skill · 模型&lt;/Text&gt;&#10;            &lt;/Box&gt;&#10;            &lt;Box style={{ width: 44, height: 140, justifyContent: 'center', alignItems: 'center' }}&gt;&#10;                &lt;Text style={{ fontSize: 26, color: '#276FBF' }}&gt;›&lt;/Text&gt;&#10;            &lt;/Box&gt;&#10;            &lt;Box style={{ width: 255, height: 140, background: '#EDF4FC', borderRadius: 10, flexDirection: 'column', gap: 4, justifyContent: 'center', alignItems: 'center' }}&gt;&#10;                &lt;Text style={{ fontSize: 19, fontWeight: 'bold', color: '#276FBF' }}&gt;实验 A　DRAFT&lt;/Text&gt;&#10;                &lt;Text style={{ fontSize: 13, color: '#546779' }}&gt;可编辑包内副本&lt;/Text&gt;&#10;            &lt;/Box&gt;&#10;            &lt;Box style={{ width: 44, height: 140, justifyContent: 'center', alignItems: 'center' }}&gt;&#10;                &lt;Text style={{ fontSize: 26, color: '#276FBF' }}&gt;›&lt;/Text&gt;&#10;            &lt;/Box&gt;&#10;            &lt;Box style={{ width: 255, height: 140, background: '#ECF7F2', borderRadius: 10, flexDirection: 'column', gap: 4, justifyContent: 'center', alignItems: 'center' }}&gt;&#10;                &lt;Text style={{ fontSize: 19, fontWeight: 'bold', color: '#26816B' }}&gt;实验 A　SEALED&lt;/Text&gt;&#10;                &lt;Text style={{ fontSize: 13, color: '#546779' }}&gt;内容不可修改&lt;/Text&gt;&#10;            &lt;/Box&gt;&#10;            &lt;Box style={{ width: 44, height: 140, justifyContent: 'center', alignItems: 'center' }}&gt;&#10;                &lt;Text style={{ fontSize: 26, color: '#CB6B28' }}&gt;›&lt;/Text&gt;&#10;            &lt;/Box&gt;&#10;            &lt;Box style={{ width: 255, height: 140, background: '#EDF4FC', borderRadius: 10, flexDirection: 'column', gap: 4, justifyContent: 'center', alignItems: 'center' }}&gt;&#10;                &lt;Text style={{ fontSize: 19, fontWeight: 'bold', color: '#276FBF' }}&gt;实验 B　DRAFT&lt;/Text&gt;&#10;                &lt;Text style={{ fontSize: 13, color: '#546779' }}&gt;新 UUID、独立内容&lt;/Text&gt;&#10;            &lt;/Box&gt;&#10;        &lt;/Box&gt;&#10;&#10;        &lt;Box style={{ flexDirection: 'row', gap: 20 }}&gt;&#10;            &lt;Box style={{ width: 566, height: 104, background: '#F4F7FA', borderRadius: 10, padding: '12px 20px', flexDirection: 'column', gap: 4, justifyContent: 'center' }}&gt;&#10;                &lt;Text style={{ fontSize: 17, fontWeight: 'bold', color: '#20344B' }}&gt;复制是递归物理复制&lt;/Text&gt;&#10;                &lt;Text style={{ fontSize: 14, color: '#546779', lineHeight: 1.5 }}&gt;地图、Brain、人物与模型连同各自依赖整份进来，不是记几条链接。&lt;/Text&gt;&#10;            &lt;/Box&gt;&#10;            &lt;Box style={{ width: 566, height: 104, background: '#FFF4E6', borderRadius: 10, padding: '12px 20px', flexDirection: 'column', gap: 4, justifyContent: 'center' }}&gt;&#10;                &lt;Text style={{ fontSize: 17, fontWeight: 'bold', color: '#CB6B28' }}&gt;后续公共修改不自动传播&lt;/Text&gt;&#10;                &lt;Text style={{ fontSize: 14, color: '#546779', lineHeight: 1.5 }}&gt;保留原实验与原 Run，不建立业务 Revision；虚线不是持续同步关系。&lt;/Text&gt;&#10;            &lt;/Box&gt;&#10;        &lt;/Box&gt;&#10;&#10;        &lt;Text style={{ fontSize: 14, color: '#546779' }}&gt;A、B 是说明标签，不是实验 UUID。&lt;/Text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创建的结果是一份独立材料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副本与封存边界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609600" y="20859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实验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A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从草稿到封存仍是同一身份；需要改内容时，向下复制得到的是独立实验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2552700"/>
            <a:ext cx="2428875" cy="1333500"/>
          </a:xfrm>
          <a:prstGeom prst="roundRect">
            <a:avLst>
              <a:gd name="adj" fmla="val 7143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1285875" y="30194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0344B"/>
                </a:solidFill>
                <a:latin typeface="Microsoft YaHei"/>
                <a:ea typeface="Microsoft YaHei"/>
              </a:rPr>
              <a:t>公共作者资源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181100" y="3276600"/>
            <a:ext cx="1295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地图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人物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Skill ·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3209925" y="3067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3457575" y="2552700"/>
            <a:ext cx="2428875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3990975" y="3019425"/>
            <a:ext cx="1362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4238625" y="32766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可编辑包内副本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6057900" y="3067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5" name=""/>
          <p:cNvSpPr/>
          <p:nvPr/>
        </p:nvSpPr>
        <p:spPr>
          <a:xfrm rot="0" flipH="0" flipV="0">
            <a:off x="6305550" y="2552700"/>
            <a:ext cx="2428875" cy="1333500"/>
          </a:xfrm>
          <a:prstGeom prst="roundRect">
            <a:avLst>
              <a:gd name="adj" fmla="val 714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800850" y="3019425"/>
            <a:ext cx="14382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实验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A</a:t>
            </a: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　</a:t>
            </a:r>
            <a:r>
              <a:rPr lang="en-US" sz="1425" b="1">
                <a:solidFill>
                  <a:srgbClr val="26816B"/>
                </a:solidFill>
                <a:latin typeface="Microsoft YaHei"/>
                <a:ea typeface="Microsoft YaHei"/>
              </a:rPr>
              <a:t>SEALED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153275" y="3276600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内容不可修改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905875" y="3067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9153525" y="2552700"/>
            <a:ext cx="2428875" cy="1333500"/>
          </a:xfrm>
          <a:prstGeom prst="roundRect">
            <a:avLst>
              <a:gd name="adj" fmla="val 714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9696450" y="3019425"/>
            <a:ext cx="13430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实验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B</a:t>
            </a: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425" b="1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9820275" y="3276600"/>
            <a:ext cx="1095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新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、独立内容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09600" y="403860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800100" y="429577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复制是递归物理复制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00100" y="45339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、人物与模型连同各自依赖整份进来，不是记几条链接。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191250" y="403860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6381750" y="4295775"/>
            <a:ext cx="501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后续公共修改不自动传播</a:t>
            </a:r>
            <a:endParaRPr/>
          </a:p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6381750" y="4533900"/>
            <a:ext cx="5010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保留原实验与原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，不建立业务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；虚线不是持续同步关系。</a:t>
            </a:r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09600" y="5181600"/>
            <a:ext cx="1097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B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是说明标签，不是实验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UUID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541" name="" descr="&lt;Slide notes={`新建实验的向导分三步，每一步都要留下以后能核对的文字。&#10;&#10;第一步定义实验，填名称、目标、负责人和标签。目标不要写「运行成功」这种话，那对后面查证据没有帮助。青禾的目标可以写成：观察四位角色如何根据现场公告与服务台回复调整安排，核对实际移动、记忆更新和活动开始。它明确了稍后要查的事实。&#10;&#10;第二步选择资源，显式挑出聊天模型、Embedding 模型、大脑 Skill、地图，以及一个或多个 Crowd。本案例选入前面准备的四人群体。这一步要逐项核对，不用同名条目或者无关的旧地图来充当本次材料。&#10;&#10;第三步确认创建，检查名称、资源的成员摘要，然后创建草稿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1　创建的结果是一份独立材料&lt;/Text&gt;&#10;            &lt;Text style={{ fontSize: 34, fontWeight: 'bold', color: '#20344B' }}&gt;向导三步，逐项核对&lt;/Text&gt;&#10;        &lt;/Box&gt;&#10;    &lt;/Box&gt;&#10;&#10;    &lt;Box style={{ height: 540, flexDirection: 'row', alignItems: 'center', gap: 22 }}&gt;&#10;&#10;        &lt;Box style={{ width: 700, height: 470, background: '#F4F7FA', borderRadius: 12, flexDirection: 'column' }}&gt;&#10;            &lt;Box style={{ width: 700, height: 44, background: '#276FBF', borderRadius: 12, padding: '0 18px', flexDirection: 'row', alignItems: 'center', gap: 12 }}&gt;&#10;                &lt;Text style={{ fontSize: 16, fontWeight: 'bold', color: '#FFFFFF' }}&gt;新建实验　向导&lt;/Text&gt;&#10;                &lt;Box style={{ flex: 1 }} /&gt;&#10;                &lt;Box style={{ width: 56, height: 26, background: '#FFFFFF', borderRadius: 6, justifyContent: 'center', alignItems: 'center' }}&gt;&#10;                    &lt;Text style={{ fontSize: 13, color: '#276FBF' }}&gt;示意&lt;/Text&gt;&#10;                &lt;/Box&gt;&#10;            &lt;/Box&gt;&#10;            &lt;Box style={{ padding: 18, flexDirection: 'column', gap: 12 }}&gt;&#10;                &lt;Box style={{ width: 664, height: 108, background: '#FFFFFF', borderRadius: 8, padding: '0 18px', flexDirection: 'row', alignItems: 'center', gap: 14 }}&gt;&#10;                    &lt;Box style={{ width: 36, height: 36, background: '#EDF4FC', borderRadius: 6, justifyContent: 'center', alignItems: 'center' }}&gt;&#10;                        &lt;Text style={{ fontSize: 17, fontWeight: 'bold', color: '#276FBF' }}&gt;1&lt;/Text&gt;&#10;                    &lt;/Box&gt;&#10;                    &lt;Box style={{ flexDirection: 'column', gap: 4 }}&gt;&#10;                        &lt;Text style={{ fontSize: 18, fontWeight: 'bold', color: '#20344B' }}&gt;定义实验&lt;/Text&gt;&#10;                        &lt;Text style={{ fontSize: 13, color: '#546779' }}&gt;名称、目标、负责人和标签&lt;/Text&gt;&#10;                    &lt;/Box&gt;&#10;                &lt;/Box&gt;&#10;                &lt;Box style={{ width: 664, height: 108, background: '#FFFFFF', borderRadius: 8, padding: '0 18px', flexDirection: 'row', alignItems: 'center', gap: 14 }}&gt;&#10;                    &lt;Box style={{ width: 36, height: 36, background: '#EDF4FC', borderRadius: 6, justifyContent: 'center', alignItems: 'center' }}&gt;&#10;                        &lt;Text style={{ fontSize: 17, fontWeight: 'bold', color: '#276FBF' }}&gt;2&lt;/Text&gt;&#10;                    &lt;/Box&gt;&#10;                    &lt;Box style={{ flexDirection: 'column', gap: 4 }}&gt;&#10;                        &lt;Text style={{ fontSize: 18, fontWeight: 'bold', color: '#20344B' }}&gt;选择资源&lt;/Text&gt;&#10;                        &lt;Text style={{ fontSize: 13, color: '#546779' }}&gt;聊天模型、Embedding 模型、大脑 Skill、地图、一个或多个 Crowd&lt;/Text&gt;&#10;                    &lt;/Box&gt;&#10;                &lt;/Box&gt;&#10;                &lt;Box style={{ width: 664, height: 108, background: '#FFFFFF', borderRadius: 8, padding: '0 18px', flexDirection: 'row', alignItems: 'center', gap: 14 }}&gt;&#10;                    &lt;Box style={{ width: 36, height: 36, background: '#EDF4FC', borderRadius: 6, justifyContent: 'center', alignItems: 'center' }}&gt;&#10;                        &lt;Text style={{ fontSize: 17, fontWeight: 'bold', color: '#276FBF' }}&gt;3&lt;/Text&gt;&#10;                    &lt;/Box&gt;&#10;                    &lt;Box style={{ flexDirection: 'column', gap: 4 }}&gt;&#10;                        &lt;Text style={{ fontSize: 18, fontWeight: 'bold', color: '#20344B' }}&gt;确认创建&lt;/Text&gt;&#10;                        &lt;Text style={{ fontSize: 13, color: '#546779' }}&gt;检查名称、资源与成员摘要，创建草稿&lt;/Text&gt;&#10;                    &lt;/Box&gt;&#10;                &lt;/Box&gt;&#10;            &lt;/Box&gt;&#10;        &lt;/Box&gt;&#10;&#10;        &lt;Box style={{ width: 430, flexDirection: 'column', gap: 14 }}&gt;&#10;            &lt;Box style={{ width: 430, height: 132, background: '#EDF4FC', borderRadius: 10, padding: '12px 18px', flexDirection: 'column', gap: 4, justifyContent: 'center' }}&gt;&#10;                &lt;Text style={{ fontSize: 17, fontWeight: 'bold', color: '#276FBF' }}&gt;目标写成可核对的事实&lt;/Text&gt;&#10;                &lt;Text style={{ fontSize: 14, color: '#546779', lineHeight: 1.5 }}&gt;观察四位角色如何根据公告与服务台回复调整安排，核对实际移动、记忆更新和活动开始。&lt;/Text&gt;&#10;            &lt;/Box&gt;&#10;            &lt;Box style={{ width: 430, height: 104, background: '#F4F7FA', borderRadius: 10, padding: '12px 18px', flexDirection: 'column', gap: 4, justifyContent: 'center' }}&gt;&#10;                &lt;Text style={{ fontSize: 17, fontWeight: 'bold', color: '#20344B' }}&gt;本案例选入四人群体&lt;/Text&gt;&#10;                &lt;Text style={{ fontSize: 14, color: '#546779', lineHeight: 1.5 }}&gt;Crowd 会展开为独立人物，核对四个实际 Agent 身份。&lt;/Text&gt;&#10;            &lt;/Box&gt;&#10;            &lt;Box style={{ width: 430, height: 104, background: '#FFF4E6', borderRadius: 10, padding: '12px 18px', flexDirection: 'column', gap: 4, justifyContent: 'center' }}&gt;&#10;                &lt;Text style={{ fontSize: 17, fontWeight: 'bold', color: '#CB6B28' }}&gt;创建前逐项核对&lt;/Text&gt;&#10;                &lt;Text style={{ fontSize: 14, color: '#546779', lineHeight: 1.5 }}&gt;不用同名条目或无关旧地图充当本案例材料。&lt;/Text&gt;&#10;            &lt;/Box&gt;&#10;            &lt;Box style={{ width: 430, height: 74, background: '#FFFFFF', borderRadius: 10, padding: '10px 18px', flexDirection: 'column', gap: 2, justifyContent: 'center' }}&gt;&#10;                &lt;Text style={{ fontSize: 14, color: '#546779', lineHeight: 1.5 }}&gt;重复公共 ID 会去重，agent_key 冲突则拒绝创建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创建的结果是一份独立材料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向导三步，逐项核对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609600" y="1476375"/>
            <a:ext cx="6667500" cy="447675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7" name=""/>
          <p:cNvSpPr/>
          <p:nvPr/>
        </p:nvSpPr>
        <p:spPr>
          <a:xfrm rot="0" flipH="0" flipV="0">
            <a:off x="609600" y="1476375"/>
            <a:ext cx="6667500" cy="419100"/>
          </a:xfrm>
          <a:prstGeom prst="roundRect">
            <a:avLst>
              <a:gd name="adj" fmla="val 2727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781050" y="1590675"/>
            <a:ext cx="1066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新建实验　向导</a:t>
            </a:r>
            <a:endParaRPr/>
          </a:p>
        </p:txBody>
      </p:sp>
      <p:sp>
        <p:nvSpPr>
          <p:cNvPr id="549" name=""/>
          <p:cNvSpPr/>
          <p:nvPr/>
        </p:nvSpPr>
        <p:spPr>
          <a:xfrm rot="0" flipH="0" flipV="0">
            <a:off x="6572250" y="1562100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6715125" y="16097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781050" y="2066925"/>
            <a:ext cx="63246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2" name=""/>
          <p:cNvSpPr/>
          <p:nvPr/>
        </p:nvSpPr>
        <p:spPr>
          <a:xfrm rot="0" flipH="0" flipV="0">
            <a:off x="952500" y="24098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1076325" y="24860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1428750" y="2381250"/>
            <a:ext cx="1485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定义实验</a:t>
            </a:r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1428750" y="262890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名称、目标、负责人和标签</a:t>
            </a:r>
            <a:endParaRPr/>
          </a:p>
        </p:txBody>
      </p:sp>
      <p:sp>
        <p:nvSpPr>
          <p:cNvPr id="556" name=""/>
          <p:cNvSpPr/>
          <p:nvPr/>
        </p:nvSpPr>
        <p:spPr>
          <a:xfrm rot="0" flipH="0" flipV="0">
            <a:off x="781050" y="3209925"/>
            <a:ext cx="63246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57" name=""/>
          <p:cNvSpPr/>
          <p:nvPr/>
        </p:nvSpPr>
        <p:spPr>
          <a:xfrm rot="0" flipH="0" flipV="0">
            <a:off x="952500" y="35528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076325" y="36290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1428750" y="3524250"/>
            <a:ext cx="3771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选择资源</a:t>
            </a:r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428750" y="3771900"/>
            <a:ext cx="3771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聊天模型、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Embedding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模型、大脑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、地图、一个或多个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Crowd</a:t>
            </a:r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781050" y="4352925"/>
            <a:ext cx="63246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62" name=""/>
          <p:cNvSpPr/>
          <p:nvPr/>
        </p:nvSpPr>
        <p:spPr>
          <a:xfrm rot="0" flipH="0" flipV="0">
            <a:off x="952500" y="46958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1076325" y="4772025"/>
            <a:ext cx="10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1428750" y="4667250"/>
            <a:ext cx="2105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确认创建</a:t>
            </a:r>
            <a:endParaRPr/>
          </a:p>
        </p:txBody>
      </p:sp>
      <p:sp>
        <p:nvSpPr>
          <p:cNvPr id="565" name="" descr="{&quot;isTemplate&quot;:true,&quot;type&quot;:&quot;text&quot;}"/>
          <p:cNvSpPr txBox="1"/>
          <p:nvPr/>
        </p:nvSpPr>
        <p:spPr>
          <a:xfrm rot="0" flipH="0" flipV="0">
            <a:off x="1428750" y="4914900"/>
            <a:ext cx="2105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检查名称、资源与成员摘要，创建草稿</a:t>
            </a:r>
            <a:endParaRPr/>
          </a:p>
        </p:txBody>
      </p:sp>
      <p:sp>
        <p:nvSpPr>
          <p:cNvPr id="566" name=""/>
          <p:cNvSpPr/>
          <p:nvPr/>
        </p:nvSpPr>
        <p:spPr>
          <a:xfrm rot="0" flipH="0" flipV="0">
            <a:off x="7486650" y="1543050"/>
            <a:ext cx="4095750" cy="1257300"/>
          </a:xfrm>
          <a:prstGeom prst="roundRect">
            <a:avLst>
              <a:gd name="adj" fmla="val 757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7658100" y="1809750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目标写成可核对的事实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658100" y="2047875"/>
            <a:ext cx="37528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观察四位角色如何根据公告与服务台回复调整安排，核对实际移动、记忆更新和活动开始。</a:t>
            </a:r>
            <a:endParaRPr/>
          </a:p>
        </p:txBody>
      </p:sp>
      <p:sp>
        <p:nvSpPr>
          <p:cNvPr id="569" name=""/>
          <p:cNvSpPr/>
          <p:nvPr/>
        </p:nvSpPr>
        <p:spPr>
          <a:xfrm rot="0" flipH="0" flipV="0">
            <a:off x="7486650" y="2933700"/>
            <a:ext cx="4095750" cy="990600"/>
          </a:xfrm>
          <a:prstGeom prst="roundRect">
            <a:avLst>
              <a:gd name="adj" fmla="val 961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7658100" y="319087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本案例选入四人群体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658100" y="342900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Crowd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会展开为独立人物，核对四个实际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身份。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7486650" y="4057650"/>
            <a:ext cx="409575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658100" y="4314825"/>
            <a:ext cx="3752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创建前逐项核对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658100" y="455295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不用同名条目或无关旧地图充当本案例材料。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7486650" y="5181600"/>
            <a:ext cx="4095750" cy="704850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658100" y="5410200"/>
            <a:ext cx="37528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重复公共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会去重，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agent_key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冲突则拒绝创建。</a:t>
            </a:r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579" name="" descr="&lt;Slide notes={`创建之所以是在换一份材料，关键在复制闭包这件事上。&#10;&#10;地图进来的时候，连着图像、语义和对象 Skill 一起进来；Brain 进来的时候，连着子 Skill、脚本和模板；人物连着自己的资料和图片；模型连着配置内容。&#10;&#10;Crowd 会展开成一个个独立人物，这时候要核对四个实际 Agent 身份。公共 ID 重复会被去重，agent_key 冲突则直接拒绝创建。摘要数量有疑问，就进草稿数实际成员，不能靠名字看起来一样来解释合并结果。&#10;&#10;由此就能理解一个常见现象：后来在公共 Agent 里改了许安的目标，已经创建的青禾实验仍保留原来的目标。这是副本隔离，不是同步延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1　创建的结果是一份独立材料&lt;/Text&gt;&#10;            &lt;Text style={{ fontSize: 34, fontWeight: 'bold', color: '#20344B' }}&gt;复制进去的是整份闭包&lt;/Text&gt;&#10;        &lt;/Box&gt;&#10;    &lt;/Box&gt;&#10;&#10;    &lt;Box style={{ height: 540, flexDirection: 'row', alignItems: 'center', gap: 16 }}&gt;&#10;&#10;        &lt;Box style={{ width: 668, flexDirection: 'column', gap: 10 }}&gt;&#10;            &lt;Text style={{ fontSize: 17, color: '#546779', lineHeight: 1.6, width: 668 }}&gt;选中资源只是入口，真正进到实验里的是它和依赖构成的完整材料。&lt;/Text&gt;&#10;&#10;            &lt;Box style={{ width: 668, height: 88, background: '#F4F7FA', borderRadius: 8, padding: '0 18px', flexDirection: 'row', alignItems: 'center', gap: 14 }}&gt;&#10;                &lt;Box style={{ width: 4, height: 44, background: '#276FBF' }} /&gt;&#10;                &lt;Text style={{ fontSize: 17, fontWeight: 'bold', color: '#20344B', width: 76 }}&gt;地图&lt;/Text&gt;&#10;                &lt;Text style={{ fontSize: 14, color: '#546779', flex: 1 }}&gt;图像、语义表与对象 Skill&lt;/Text&gt;&#10;            &lt;/Box&gt;&#10;&#10;            &lt;Box style={{ width: 668, height: 88, background: '#F4F7FA', borderRadius: 8, padding: '0 18px', flexDirection: 'row', alignItems: 'center', gap: 14 }}&gt;&#10;                &lt;Box style={{ width: 4, height: 44, background: '#276FBF' }} /&gt;&#10;                &lt;Text style={{ fontSize: 17, fontWeight: 'bold', color: '#20344B', width: 76 }}&gt;Brain&lt;/Text&gt;&#10;                &lt;Text style={{ fontSize: 14, color: '#546779', flex: 1 }}&gt;子 Skill、脚本与模板&lt;/Text&gt;&#10;            &lt;/Box&gt;&#10;&#10;            &lt;Box style={{ width: 668, height: 88, background: '#F4F7FA', borderRadius: 8, padding: '0 18px', flexDirection: 'row', alignItems: 'center', gap: 14 }}&gt;&#10;                &lt;Box style={{ width: 4, height: 44, background: '#276FBF' }} /&gt;&#10;                &lt;Text style={{ fontSize: 17, fontWeight: 'bold', color: '#20344B', width: 76 }}&gt;人物&lt;/Text&gt;&#10;                &lt;Text style={{ fontSize: 14, color: '#546779', flex: 1 }}&gt;自身资料与图片；Crowd 展开为独立人物&lt;/Text&gt;&#10;            &lt;/Box&gt;&#10;&#10;            &lt;Box style={{ width: 668, height: 88, background: '#F4F7FA', borderRadius: 8, padding: '0 18px', flexDirection: 'row', alignItems: 'center', gap: 14 }}&gt;&#10;                &lt;Box style={{ width: 4, height: 44, background: '#26816B' }} /&gt;&#10;                &lt;Text style={{ fontSize: 17, fontWeight: 'bold', color: '#20344B', width: 76 }}&gt;模型&lt;/Text&gt;&#10;                &lt;Text style={{ fontSize: 14, color: '#546779', flex: 1 }}&gt;配置内容随实验一起保存&lt;/Text&gt;&#10;            &lt;/Box&gt;&#10;        &lt;/Box&gt;&#10;&#10;        &lt;Box style={{ width: 468, flexDirection: 'column', gap: 14 }}&gt;&#10;            &lt;Box style={{ width: 468, height: 138, background: '#ECF7F2', borderRadius: 10, padding: '14px 20px', flexDirection: 'column', gap: 5, justifyContent: 'center' }}&gt;&#10;                &lt;Text style={{ fontSize: 18, fontWeight: 'bold', color: '#26816B' }}&gt;副本隔离的结果&lt;/Text&gt;&#10;                &lt;Text style={{ fontSize: 14, color: '#546779', lineHeight: 1.5 }}&gt;后来在公共 Agent 中修改了许安的目标，已经创建的青禾实验仍保留原目标。&lt;/Text&gt;&#10;            &lt;/Box&gt;&#10;            &lt;Box style={{ width: 468, height: 152, background: '#F4F7FA', borderRadius: 10, padding: '14px 20px', flexDirection: 'column', gap: 6, justifyContent: 'center' }}&gt;&#10;                &lt;Text style={{ fontSize: 17, fontWeight: 'bold', color: '#20344B' }}&gt;要改就分成两条路&lt;/Text&gt;&#10;                &lt;Text style={{ fontSize: 14, color: '#546779', lineHeight: 1.55 }}&gt;改本次实验：进入它自己的智能体页面编辑。{'\n'}让以后的新实验采用：修改公共作者资源。&lt;/Text&gt;&#10;            &lt;/Box&gt;&#10;            &lt;Box style={{ width: 468, height: 88, background: '#FFF4E6', borderRadius: 10, padding: '12px 20px', flexDirection: 'column', gap: 3, justifyContent: 'center' }}&gt;&#10;                &lt;Text style={{ fontSize: 17, fontWeight: 'bold', color: '#CB6B28' }}&gt;两者可以相同，也可以不同&lt;/Text&gt;&#10;                &lt;Text style={{ fontSize: 14, color: '#546779' }}&gt;这是有意的设计，不是数据没同步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创建的结果是一份独立材料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复制进去的是整份闭包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609600" y="1695450"/>
            <a:ext cx="6362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选中资源只是入口，真正进到实验里的是它和依赖构成的完整材料。</a:t>
            </a:r>
            <a:endParaRPr/>
          </a:p>
        </p:txBody>
      </p:sp>
      <p:sp>
        <p:nvSpPr>
          <p:cNvPr id="585" name=""/>
          <p:cNvSpPr/>
          <p:nvPr/>
        </p:nvSpPr>
        <p:spPr>
          <a:xfrm rot="0" flipH="0" flipV="0">
            <a:off x="609600" y="210502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6" name=""/>
          <p:cNvSpPr/>
          <p:nvPr/>
        </p:nvSpPr>
        <p:spPr>
          <a:xfrm rot="0" flipH="0" flipV="0">
            <a:off x="781050" y="23145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952500" y="2428875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地图</a:t>
            </a:r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1809750" y="24479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图像、语义表与对象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609600" y="303847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0" name=""/>
          <p:cNvSpPr/>
          <p:nvPr/>
        </p:nvSpPr>
        <p:spPr>
          <a:xfrm rot="0" flipH="0" flipV="0">
            <a:off x="781050" y="32480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952500" y="3362325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>Brain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1809750" y="338137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子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、脚本与模板</a:t>
            </a:r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609600" y="397192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4" name=""/>
          <p:cNvSpPr/>
          <p:nvPr/>
        </p:nvSpPr>
        <p:spPr>
          <a:xfrm rot="0" flipH="0" flipV="0">
            <a:off x="781050" y="418147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95" name="" descr="{&quot;isTemplate&quot;:true,&quot;type&quot;:&quot;text&quot;}"/>
          <p:cNvSpPr txBox="1"/>
          <p:nvPr/>
        </p:nvSpPr>
        <p:spPr>
          <a:xfrm rot="0" flipH="0" flipV="0">
            <a:off x="952500" y="4295775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人物</a:t>
            </a:r>
            <a:endParaRPr/>
          </a:p>
        </p:txBody>
      </p:sp>
      <p:sp>
        <p:nvSpPr>
          <p:cNvPr id="596" name="" descr="{&quot;isTemplate&quot;:true,&quot;type&quot;:&quot;text&quot;}"/>
          <p:cNvSpPr txBox="1"/>
          <p:nvPr/>
        </p:nvSpPr>
        <p:spPr>
          <a:xfrm rot="0" flipH="0" flipV="0">
            <a:off x="1809750" y="431482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自身资料与图片；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Crowd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展开为独立人物</a:t>
            </a:r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609600" y="4905375"/>
            <a:ext cx="6362700" cy="83820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8" name=""/>
          <p:cNvSpPr/>
          <p:nvPr/>
        </p:nvSpPr>
        <p:spPr>
          <a:xfrm rot="0" flipH="0" flipV="0">
            <a:off x="781050" y="51149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952500" y="5229225"/>
            <a:ext cx="723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模型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1809750" y="5248275"/>
            <a:ext cx="4991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配置内容随实验一起保存</a:t>
            </a:r>
            <a:endParaRPr/>
          </a:p>
        </p:txBody>
      </p:sp>
      <p:sp>
        <p:nvSpPr>
          <p:cNvPr id="601" name=""/>
          <p:cNvSpPr/>
          <p:nvPr/>
        </p:nvSpPr>
        <p:spPr>
          <a:xfrm rot="0" flipH="0" flipV="0">
            <a:off x="7124700" y="1781175"/>
            <a:ext cx="4457700" cy="1314450"/>
          </a:xfrm>
          <a:prstGeom prst="roundRect">
            <a:avLst>
              <a:gd name="adj" fmla="val 72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02" name="" descr="{&quot;isTemplate&quot;:true,&quot;type&quot;:&quot;text&quot;}"/>
          <p:cNvSpPr txBox="1"/>
          <p:nvPr/>
        </p:nvSpPr>
        <p:spPr>
          <a:xfrm rot="0" flipH="0" flipV="0">
            <a:off x="7315200" y="2066925"/>
            <a:ext cx="4076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副本隔离的结果</a:t>
            </a:r>
            <a:endParaRPr/>
          </a:p>
        </p:txBody>
      </p:sp>
      <p:sp>
        <p:nvSpPr>
          <p:cNvPr id="603" name="" descr="{&quot;isTemplate&quot;:true,&quot;type&quot;:&quot;text&quot;}"/>
          <p:cNvSpPr txBox="1"/>
          <p:nvPr/>
        </p:nvSpPr>
        <p:spPr>
          <a:xfrm rot="0" flipH="0" flipV="0">
            <a:off x="7315200" y="2324100"/>
            <a:ext cx="40767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后来在公共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中修改了许安的目标，已经创建的青禾实验仍保留原目标。</a:t>
            </a:r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7124700" y="3228975"/>
            <a:ext cx="4457700" cy="1447800"/>
          </a:xfrm>
          <a:prstGeom prst="roundRect">
            <a:avLst>
              <a:gd name="adj" fmla="val 657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7315200" y="357187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要改就分成两条路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7315200" y="3829050"/>
            <a:ext cx="40767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改本次实验：进入它自己的智能体页面编辑。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让以后的新实验采用：修改公共作者资源。</a:t>
            </a:r>
            <a:endParaRPr/>
          </a:p>
        </p:txBody>
      </p:sp>
      <p:sp>
        <p:nvSpPr>
          <p:cNvPr id="607" name=""/>
          <p:cNvSpPr/>
          <p:nvPr/>
        </p:nvSpPr>
        <p:spPr>
          <a:xfrm rot="0" flipH="0" flipV="0">
            <a:off x="7124700" y="4810125"/>
            <a:ext cx="4457700" cy="838200"/>
          </a:xfrm>
          <a:prstGeom prst="roundRect">
            <a:avLst>
              <a:gd name="adj" fmla="val 1136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08" name="" descr="{&quot;isTemplate&quot;:true,&quot;type&quot;:&quot;text&quot;}"/>
          <p:cNvSpPr txBox="1"/>
          <p:nvPr/>
        </p:nvSpPr>
        <p:spPr>
          <a:xfrm rot="0" flipH="0" flipV="0">
            <a:off x="7315200" y="5038725"/>
            <a:ext cx="4076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两者可以相同，也可以不同</a:t>
            </a:r>
            <a:endParaRPr/>
          </a:p>
        </p:txBody>
      </p:sp>
      <p:sp>
        <p:nvSpPr>
          <p:cNvPr id="609" name="" descr="{&quot;isTemplate&quot;:true,&quot;type&quot;:&quot;text&quot;}"/>
          <p:cNvSpPr txBox="1"/>
          <p:nvPr/>
        </p:nvSpPr>
        <p:spPr>
          <a:xfrm rot="0" flipH="0" flipV="0">
            <a:off x="7315200" y="5267325"/>
            <a:ext cx="407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这是有意的设计，不是数据没同步。</a:t>
            </a:r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612" name="" descr="&lt;Slide notes={`这一块要解决一个很容易被忽略的问题：草稿能改，那改完之后凭什么说它改对了。&#10;&#10;创建成功首先得到的是一份 DRAFT，它只说明材料还可以编辑，并不说明空间和行为已经达到我们要观察的目的。系统可以在创建时给出初始位置，但作者仍然要按照场景重新装配。&#10;&#10;装配完还不算完，关键是保存之后要从同一个实验重新打开。要看的是服务器保存下来的那份副本，而不是还留在输入框里、尚未提交的内容。图片和地图保存完了，同样要重看素材、对象状态图和人物比例。&#10;&#10;核对的位置也要放对：坐标属于这一次实验，公共 Agent 资料里没有坐标，不等于配置漏了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2　　3.8.2　草稿装配完成后，重新打开核对&lt;/Text&gt;&#10;&#10;        &lt;Text style={{ fontSize: 56, fontWeight: 'bold', color: '#20344B', lineHeight: 1.15 }}&gt;草稿能改，改完要重开&lt;/Text&gt;&#10;&#10;        &lt;Box style={{ width: 72, height: 4, background: '#276FBF' }} /&gt;&#10;&#10;        &lt;Text style={{ fontSize: 18, color: '#546779', lineHeight: 1.7, width: 920 }}&gt;DRAFT 表示材料可编辑，不表示空间与行为已经达到实验目的；核对的对象是保存后的副本，不是还停在输入框里的内容。&lt;/Text&gt;&#10;&#10;        &lt;Box style={{ flexDirection: 'row', alignItems: 'center', marginTop: 10 }}&gt;&#10;            &lt;Box style={{ width: 340, height: 64, background: '#EDF4FC', borderRadius: 8, justifyContent: 'center', alignItems: 'center' }}&gt;&#10;                &lt;Text style={{ fontSize: 18, color: '#276FBF' }}&gt;按场景重新装配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40, height: 64, background: '#F4F7FA', borderRadius: 8, justifyContent: 'center', alignItems: 'center' }}&gt;&#10;                &lt;Text style={{ fontSize: 18, color: '#20344B' }}&gt;保存并等待结果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40, height: 64, background: '#ECF7F2', borderRadius: 8, justifyContent: 'center', alignItems: 'center' }}&gt;&#10;                &lt;Text style={{ fontSize: 18, color: '#26816B' }}&gt;从同一实验重开核对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1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3.8.2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草稿装配完成后，重新打开核对</a:t>
            </a:r>
            <a:endParaRPr/>
          </a:p>
        </p:txBody>
      </p:sp>
      <p:sp>
        <p:nvSpPr>
          <p:cNvPr id="615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草稿能改，改完要重开</a:t>
            </a:r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09600" y="2971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8763000" cy="704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DRAFT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表示材料可编辑，不表示空间与行为已经达到实验目的；核对的对象是保存后的副本，不是还停在输入框里的内容。</a:t>
            </a:r>
            <a:endParaRPr/>
          </a:p>
        </p:txBody>
      </p:sp>
      <p:sp>
        <p:nvSpPr>
          <p:cNvPr id="618" name=""/>
          <p:cNvSpPr/>
          <p:nvPr/>
        </p:nvSpPr>
        <p:spPr>
          <a:xfrm rot="0" flipH="0" flipV="0">
            <a:off x="609600" y="42291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1628775" y="44291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按场景重新装配</a:t>
            </a:r>
            <a:endParaRPr/>
          </a:p>
        </p:txBody>
      </p:sp>
      <p:sp>
        <p:nvSpPr>
          <p:cNvPr id="620" name="" descr="{&quot;isTemplate&quot;:true,&quot;type&quot;:&quot;text&quot;}"/>
          <p:cNvSpPr txBox="1"/>
          <p:nvPr/>
        </p:nvSpPr>
        <p:spPr>
          <a:xfrm rot="0" flipH="0" flipV="0">
            <a:off x="40195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4267200" y="42291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5286375" y="4429125"/>
            <a:ext cx="120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0344B"/>
                </a:solidFill>
                <a:latin typeface="Microsoft YaHei"/>
                <a:ea typeface="Microsoft YaHei"/>
              </a:rPr>
              <a:t>保存并等待结果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7677150" y="438150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624" name=""/>
          <p:cNvSpPr/>
          <p:nvPr/>
        </p:nvSpPr>
        <p:spPr>
          <a:xfrm rot="0" flipH="0" flipV="0">
            <a:off x="7924800" y="422910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25" name="" descr="{&quot;isTemplate&quot;:true,&quot;type&quot;:&quot;text&quot;}"/>
          <p:cNvSpPr txBox="1"/>
          <p:nvPr/>
        </p:nvSpPr>
        <p:spPr>
          <a:xfrm rot="0" flipH="0" flipV="0">
            <a:off x="8772525" y="44291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从同一实验重开核对</a:t>
            </a:r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628" name="" descr="&lt;Slide notes={`创建成功拿到的是可编辑的草稿，接下来要按场景重新装配。系统可以在创建时给一个初始位置，但四位人物到底站在哪里，是我们自己决定的。&#10;&#10;按照空间选择器，林岚选公共大厅，周宁选手作室，陈晨选交流室，许安选阅读室，然后把实际的出生坐标、地址和初始已知空间保存下来。这里要提醒一句：公共 Agent 资料里没有坐标，不是配置漏了，坐标本来就属于这一次实验。&#10;&#10;装配还包括核对每个对象的根 Skill、人物 Brain 及其依赖。时间参数采用二零二六年十月十七日九点五十分、上海时区、每步一分钟、共四十八步。&#10;&#10;最后一步最容易被跳过：保存后要从同一个实验重新打开，看的是服务器上那份副本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2　草稿装配完成后，重新打开核对&lt;/Text&gt;&#10;            &lt;Text style={{ fontSize: 34, fontWeight: 'bold', color: '#20344B' }}&gt;出生坐标属于这一次实验&lt;/Text&gt;&#10;        &lt;/Box&gt;&#10;    &lt;/Box&gt;&#10;&#10;    &lt;Box style={{ height: 540, flexDirection: 'row', alignItems: 'center', gap: 22 }}&gt;&#10;&#10;        &lt;Box style={{ width: 620, height: 460, background: '#F4F7FA', borderRadius: 12, flexDirection: 'column' }}&gt;&#10;            &lt;Box style={{ width: 620, height: 44, background: '#276FBF', borderRadius: 12, padding: '0 18px', flexDirection: 'row', alignItems: 'center', gap: 12 }}&gt;&#10;                &lt;Text style={{ fontSize: 16, fontWeight: 'bold', color: '#FFFFFF' }}&gt;实验内页　四位人物装配&lt;/Text&gt;&#10;                &lt;Box style={{ flex: 1 }} /&gt;&#10;                &lt;Box style={{ width: 56, height: 26, background: '#FFFFFF', borderRadius: 6, justifyContent: 'center', alignItems: 'center' }}&gt;&#10;                    &lt;Text style={{ fontSize: 13, color: '#276FBF' }}&gt;示意&lt;/Text&gt;&#10;                &lt;/Box&gt;&#10;            &lt;/Box&gt;&#10;            &lt;Box style={{ padding: 18, flexDirection: 'column', gap: 10 }}&gt;&#10;                &lt;Text style={{ fontSize: 14, color: '#546779' }}&gt;选择空间后，保存实际的出生信息&lt;/Text&gt;&#10;                &lt;Box style={{ width: 584, height: 56, background: '#FFFFFF', borderRadius: 8, padding: '0 14px', flexDirection: 'row', alignItems: 'center', gap: 12 }}&gt;&#10;                    &lt;Text style={{ fontSize: 16, fontWeight: 'bold', color: '#20344B', width: 72 }}&gt;林岚&lt;/Text&gt;&#10;                    &lt;Text style={{ fontSize: 15, color: '#276FBF', width: 108 }}&gt;公共大厅&lt;/Text&gt;&#10;                    &lt;Box style={{ flex: 1, height: 28, background: '#EDF4FC', borderRadius: 6, justifyContent: 'center', alignItems: 'center' }}&gt;&#10;                        &lt;Text style={{ fontSize: 13, color: '#276FBF' }}&gt;坐标 · 地址 · 已知空间&lt;/Text&gt;&#10;                    &lt;/Box&gt;&#10;                &lt;/Box&gt;&#10;                &lt;Box style={{ width: 584, height: 56, background: '#FFFFFF', borderRadius: 8, padding: '0 14px', flexDirection: 'row', alignItems: 'center', gap: 12 }}&gt;&#10;                    &lt;Text style={{ fontSize: 16, fontWeight: 'bold', color: '#20344B', width: 72 }}&gt;周宁&lt;/Text&gt;&#10;                    &lt;Text style={{ fontSize: 15, color: '#276FBF', width: 108 }}&gt;手作室&lt;/Text&gt;&#10;                    &lt;Box style={{ flex: 1, height: 28, background: '#EDF4FC', borderRadius: 6, justifyContent: 'center', alignItems: 'center' }}&gt;&#10;                        &lt;Text style={{ fontSize: 13, color: '#276FBF' }}&gt;坐标 · 地址 · 已知空间&lt;/Text&gt;&#10;                    &lt;/Box&gt;&#10;                &lt;/Box&gt;&#10;                &lt;Box style={{ width: 584, height: 56, background: '#FFFFFF', borderRadius: 8, padding: '0 14px', flexDirection: 'row', alignItems: 'center', gap: 12 }}&gt;&#10;                    &lt;Text style={{ fontSize: 16, fontWeight: 'bold', color: '#20344B', width: 72 }}&gt;陈晨&lt;/Text&gt;&#10;                    &lt;Text style={{ fontSize: 15, color: '#276FBF', width: 108 }}&gt;交流室&lt;/Text&gt;&#10;                    &lt;Box style={{ flex: 1, height: 28, background: '#EDF4FC', borderRadius: 6, justifyContent: 'center', alignItems: 'center' }}&gt;&#10;                        &lt;Text style={{ fontSize: 13, color: '#276FBF' }}&gt;坐标 · 地址 · 已知空间&lt;/Text&gt;&#10;                    &lt;/Box&gt;&#10;                &lt;/Box&gt;&#10;                &lt;Box style={{ width: 584, height: 56, background: '#FFFFFF', borderRadius: 8, padding: '0 14px', flexDirection: 'row', alignItems: 'center', gap: 12 }}&gt;&#10;                    &lt;Text style={{ fontSize: 16, fontWeight: 'bold', color: '#20344B', width: 72 }}&gt;许安&lt;/Text&gt;&#10;                    &lt;Text style={{ fontSize: 15, color: '#276FBF', width: 108 }}&gt;阅读室&lt;/Text&gt;&#10;                    &lt;Box style={{ flex: 1, height: 28, background: '#EDF4FC', borderRadius: 6, justifyContent: 'center', alignItems: 'center' }}&gt;&#10;                        &lt;Text style={{ fontSize: 13, color: '#276FBF' }}&gt;坐标 · 地址 · 已知空间&lt;/Text&gt;&#10;                    &lt;/Box&gt;&#10;                &lt;/Box&gt;&#10;                &lt;Text style={{ fontSize: 13, color: '#546779', lineHeight: 1.5, width: 584 }}&gt;公共 Agent 资料中没有坐标，不是配置遗漏；坐标属于这一次实验。&lt;/Text&gt;&#10;            &lt;/Box&gt;&#10;        &lt;/Box&gt;&#10;&#10;        &lt;Box style={{ width: 510, flexDirection: 'column', gap: 14 }}&gt;&#10;            &lt;Box style={{ width: 510, height: 106, background: '#FFF4E6', borderRadius: 10, padding: '12px 20px', flexDirection: 'column', gap: 4, justifyContent: 'center' }}&gt;&#10;                &lt;Text style={{ fontSize: 17, fontWeight: 'bold', color: '#CB6B28' }}&gt;不要误判为配置遗漏&lt;/Text&gt;&#10;                &lt;Text style={{ fontSize: 14, color: '#546779', lineHeight: 1.5 }}&gt;公共资料里没有出生坐标是正常的，它本来属于实验装配。&lt;/Text&gt;&#10;            &lt;/Box&gt;&#10;            &lt;Box style={{ width: 510, height: 96, background: '#F4F7FA', borderRadius: 10, padding: '12px 20px', flexDirection: 'column', gap: 4, justifyContent: 'center' }}&gt;&#10;                &lt;Text style={{ fontSize: 17, fontWeight: 'bold', color: '#20344B' }}&gt;核对根 Skill 与 Brain&lt;/Text&gt;&#10;                &lt;Text style={{ fontSize: 14, color: '#546779', lineHeight: 1.5 }}&gt;确认已复制的内容正是准备运行的文本，依赖也一并到位。&lt;/Text&gt;&#10;            &lt;/Box&gt;&#10;            &lt;Box style={{ width: 510, height: 116, background: '#EDF4FC', borderRadius: 10, padding: '12px 20px', flexDirection: 'column', gap: 4, justifyContent: 'center' }}&gt;&#10;                &lt;Text style={{ fontSize: 17, fontWeight: 'bold', color: '#276FBF' }}&gt;本案例采用的时间参数&lt;/Text&gt;&#10;                &lt;Text style={{ fontSize: 14, color: '#546779', lineHeight: 1.5 }}&gt;2026-10-17 09:50　Asia/Shanghai{'\n'}每步 1 分钟，共 48 步&lt;/Text&gt;&#10;            &lt;/Box&gt;&#10;            &lt;Box style={{ width: 510, height: 104, background: '#FFFFFF', borderRadius: 10, padding: '12px 20px', flexDirection: 'column', gap: 4, justifyContent: 'center' }}&gt;&#10;                &lt;Text style={{ fontSize: 17, fontWeight: 'bold', color: '#20344B' }}&gt;保存提示不能替代检查&lt;/Text&gt;&#10;                &lt;Text style={{ fontSize: 14, color: '#546779', lineHeight: 1.5 }}&gt;保存图片或地图后，仍要重看素材、对象状态图和人物比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草稿装配完成后，重新打开核对</a:t>
            </a:r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出生坐标属于这一次实验</a:t>
            </a:r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09600" y="1524000"/>
            <a:ext cx="5905500" cy="4381500"/>
          </a:xfrm>
          <a:prstGeom prst="roundRect">
            <a:avLst>
              <a:gd name="adj" fmla="val 260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4" name=""/>
          <p:cNvSpPr/>
          <p:nvPr/>
        </p:nvSpPr>
        <p:spPr>
          <a:xfrm rot="0" flipH="0" flipV="0">
            <a:off x="609600" y="1524000"/>
            <a:ext cx="5905500" cy="419100"/>
          </a:xfrm>
          <a:prstGeom prst="roundRect">
            <a:avLst>
              <a:gd name="adj" fmla="val 2727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781050" y="1638300"/>
            <a:ext cx="1676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实验内页　四位人物装配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810250" y="160972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37" name="" descr="{&quot;isTemplate&quot;:true,&quot;type&quot;:&quot;text&quot;}"/>
          <p:cNvSpPr txBox="1"/>
          <p:nvPr/>
        </p:nvSpPr>
        <p:spPr>
          <a:xfrm rot="0" flipH="0" flipV="0">
            <a:off x="5953125" y="165735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781050" y="2114550"/>
            <a:ext cx="5562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选择空间后，保存实际的出生信息</a:t>
            </a:r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781050" y="2371725"/>
            <a:ext cx="5562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914400" y="254317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1714500" y="255270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公共大厅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2857500" y="2505075"/>
            <a:ext cx="33528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3933825" y="25622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坐标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地址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已知空间</a:t>
            </a:r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781050" y="3000375"/>
            <a:ext cx="5562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914400" y="31718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1714500" y="318135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手作室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2857500" y="3133725"/>
            <a:ext cx="33528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3933825" y="319087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坐标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地址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已知空间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781050" y="3629025"/>
            <a:ext cx="5562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914400" y="380047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1714500" y="381000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交流室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2857500" y="3762375"/>
            <a:ext cx="33528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3933825" y="381952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坐标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地址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已知空间</a:t>
            </a:r>
            <a:endParaRPr/>
          </a:p>
        </p:txBody>
      </p:sp>
      <p:sp>
        <p:nvSpPr>
          <p:cNvPr id="654" name=""/>
          <p:cNvSpPr/>
          <p:nvPr/>
        </p:nvSpPr>
        <p:spPr>
          <a:xfrm rot="0" flipH="0" flipV="0">
            <a:off x="781050" y="4257675"/>
            <a:ext cx="556260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914400" y="4429125"/>
            <a:ext cx="685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许安</a:t>
            </a:r>
            <a:endParaRPr/>
          </a:p>
        </p:txBody>
      </p:sp>
      <p:sp>
        <p:nvSpPr>
          <p:cNvPr id="656" name="" descr="{&quot;isTemplate&quot;:true,&quot;type&quot;:&quot;text&quot;}"/>
          <p:cNvSpPr txBox="1"/>
          <p:nvPr/>
        </p:nvSpPr>
        <p:spPr>
          <a:xfrm rot="0" flipH="0" flipV="0">
            <a:off x="1714500" y="4438650"/>
            <a:ext cx="1028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阅读室</a:t>
            </a:r>
            <a:endParaRPr/>
          </a:p>
        </p:txBody>
      </p:sp>
      <p:sp>
        <p:nvSpPr>
          <p:cNvPr id="657" name=""/>
          <p:cNvSpPr/>
          <p:nvPr/>
        </p:nvSpPr>
        <p:spPr>
          <a:xfrm rot="0" flipH="0" flipV="0">
            <a:off x="2857500" y="4391025"/>
            <a:ext cx="3352800" cy="266700"/>
          </a:xfrm>
          <a:prstGeom prst="roundRect">
            <a:avLst>
              <a:gd name="adj" fmla="val 21429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3933825" y="4448175"/>
            <a:ext cx="1200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坐标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地址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已知空间</a:t>
            </a:r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781050" y="4886325"/>
            <a:ext cx="55626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公共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Agent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资料中没有坐标，不是配置遗漏；坐标属于这一次实验。</a:t>
            </a:r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6724650" y="1504950"/>
            <a:ext cx="485775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915150" y="177165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不要误判为配置遗漏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6915150" y="2009775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公共资料里没有出生坐标是正常的，它本来属于实验装配。</a:t>
            </a:r>
            <a:endParaRPr/>
          </a:p>
        </p:txBody>
      </p:sp>
      <p:sp>
        <p:nvSpPr>
          <p:cNvPr id="663" name=""/>
          <p:cNvSpPr/>
          <p:nvPr/>
        </p:nvSpPr>
        <p:spPr>
          <a:xfrm rot="0" flipH="0" flipV="0">
            <a:off x="6724650" y="2647950"/>
            <a:ext cx="485775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64" name="" descr="{&quot;isTemplate&quot;:true,&quot;type&quot;:&quot;text&quot;}"/>
          <p:cNvSpPr txBox="1"/>
          <p:nvPr/>
        </p:nvSpPr>
        <p:spPr>
          <a:xfrm rot="0" flipH="0" flipV="0">
            <a:off x="6915150" y="2867025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核对根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</a:t>
            </a:r>
            <a:endParaRPr/>
          </a:p>
        </p:txBody>
      </p:sp>
      <p:sp>
        <p:nvSpPr>
          <p:cNvPr id="665" name="" descr="{&quot;isTemplate&quot;:true,&quot;type&quot;:&quot;text&quot;}"/>
          <p:cNvSpPr txBox="1"/>
          <p:nvPr/>
        </p:nvSpPr>
        <p:spPr>
          <a:xfrm rot="0" flipH="0" flipV="0">
            <a:off x="6915150" y="3105150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确认已复制的内容正是准备运行的文本，依赖也一并到位。</a:t>
            </a:r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724650" y="3695700"/>
            <a:ext cx="485775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6915150" y="3886200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本案例采用的时间参数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6915150" y="4124325"/>
            <a:ext cx="4476750" cy="4857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2026-10-17 09:50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Asia/Shanghai</a:t>
            </a:r>
            <a:endParaRPr/>
          </a:p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每步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分钟，共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48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724650" y="4933950"/>
            <a:ext cx="4857750" cy="990600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0" name="" descr="{&quot;isTemplate&quot;:true,&quot;type&quot;:&quot;text&quot;}"/>
          <p:cNvSpPr txBox="1"/>
          <p:nvPr/>
        </p:nvSpPr>
        <p:spPr>
          <a:xfrm rot="0" flipH="0" flipV="0">
            <a:off x="6915150" y="5191125"/>
            <a:ext cx="4476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保存提示不能替代检查</a:t>
            </a:r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915150" y="5429250"/>
            <a:ext cx="4476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保存图片或地图后，仍要重看素材、对象状态图和人物比例。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674" name="" descr="&lt;Slide notes={`装配草稿的时候，有几项参数要明确写下来，写下来才能被后面核对。&#10;&#10;虚拟时间从二零二六年十月十七日九点五十分开始，时区是上海。步长按每步一分钟算，一共四十八步。这三项决定了这次观察窗口覆盖的区间。&#10;&#10;窗口的用途是说清楚的：用它来观察角色怎么调整信息、怎么抵达、活动有没有开始。不能因为跑了四十八步，就宣称一个小时的活动已经完整结束，窗口只证明窗口里面发生的事。其他运行参数要按后面第九节的口径去核对。&#10;&#10;最后是保存这件事。编辑完要点当前页面对应的保存操作，等结果回来，然后离开、再从同一个实验打开。核对的是服务器保存后的副本，不是还亮在输入框里的内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2　草稿装配完成后，重新打开核对&lt;/Text&gt;&#10;            &lt;Text style={{ fontSize: 34, fontWeight: 'bold', color: '#20344B' }}&gt;核对的是服务器保存后的副本&lt;/Text&gt;&#10;        &lt;/Box&gt;&#10;    &lt;/Box&gt;&#10;&#10;    &lt;Box style={{ height: 540, flexDirection: 'column', justifyContent: 'center', gap: 14 }}&gt;&#10;&#10;        &lt;Text style={{ fontSize: 17, color: '#20344B', lineHeight: 1.6, width: 1152 }}&gt;时间参数、根 Skill 与 Brain 的依赖、以及保存行为，各自要留下可以复查的对象。&lt;/Text&gt;&#10;&#10;        &lt;Box style={{ width: 1152, height: 24, flexDirection: 'row', alignItems: 'center', gap: 14 }}&gt;&#10;            &lt;Box style={{ width: 4, height: 24 }} /&gt;&#10;            &lt;Text style={{ fontSize: 14, color: '#546779', width: 200 }}&gt;对象&lt;/Text&gt;&#10;            &lt;Text style={{ fontSize: 14, color: '#546779', width: 380 }}&gt;这次采用的值&lt;/Text&gt;&#10;            &lt;Text style={{ fontSize: 14, color: '#546779', flex: 1 }}&gt;要核对什么&lt;/Text&gt;&#10;        &lt;/Box&gt;&#10;&#10;        &lt;Box style={{ width: 1152, height: 96, background: '#F4F7FA', borderRadius: 8, padding: '0 20px', flexDirection: 'row', alignItems: 'center', gap: 14 }}&gt;&#10;            &lt;Box style={{ width: 4, height: 44, background: '#276FBF' }} /&gt;&#10;            &lt;Text style={{ fontSize: 17, fontWeight: 'bold', color: '#20344B', width: 200 }}&gt;时间与时区&lt;/Text&gt;&#10;            &lt;Box style={{ width: 380, height: 48, background: '#FFFFFF', borderRadius: 6, justifyContent: 'center', alignItems: 'center' }}&gt;&#10;                &lt;Text style={{ fontSize: 15, fontWeight: 'bold', color: '#276FBF' }}&gt;2026-10-17 09:50　Asia/Shanghai&lt;/Text&gt;&#10;            &lt;/Box&gt;&#10;            &lt;Text style={{ fontSize: 14, color: '#546779', flex: 1, lineHeight: 1.5 }}&gt;虚拟时间从哪一刻开始，决定观察窗口的起点&lt;/Text&gt;&#10;        &lt;/Box&gt;&#10;&#10;        &lt;Box style={{ width: 1152, height: 96, background: '#F4F7FA', borderRadius: 8, padding: '0 20px', flexDirection: 'row', alignItems: 'center', gap: 14 }}&gt;&#10;            &lt;Box style={{ width: 4, height: 44, background: '#276FBF' }} /&gt;&#10;            &lt;Text style={{ fontSize: 17, fontWeight: 'bold', color: '#20344B', width: 200 }}&gt;步长与步数&lt;/Text&gt;&#10;            &lt;Box style={{ width: 380, height: 48, background: '#FFFFFF', borderRadius: 6, justifyContent: 'center', alignItems: 'center' }}&gt;&#10;                &lt;Text style={{ fontSize: 15, fontWeight: 'bold', color: '#276FBF' }}&gt;每步 1 分钟，共 48 步&lt;/Text&gt;&#10;            &lt;/Box&gt;&#10;            &lt;Text style={{ fontSize: 14, color: '#546779', flex: 1, lineHeight: 1.5 }}&gt;窗口用来观察信息调整、抵达与活动开始；其他参数按 3.9 节核对&lt;/Text&gt;&#10;        &lt;/Box&gt;&#10;&#10;        &lt;Box style={{ width: 1152, height: 96, background: '#F4F7FA', borderRadius: 8, padding: '0 20px', flexDirection: 'row', alignItems: 'center', gap: 14 }}&gt;&#10;            &lt;Box style={{ width: 4, height: 44, background: '#26816B' }} /&gt;&#10;            &lt;Text style={{ fontSize: 17, fontWeight: 'bold', color: '#20344B', width: 200 }}&gt;保存与重开&lt;/Text&gt;&#10;            &lt;Box style={{ width: 380, height: 48, background: '#ECF7F2', borderRadius: 6, justifyContent: 'center', alignItems: 'center' }}&gt;&#10;                &lt;Text style={{ fontSize: 15, fontWeight: 'bold', color: '#26816B' }}&gt;从同一实验重新打开&lt;/Text&gt;&#10;            &lt;/Box&gt;&#10;            &lt;Text style={{ fontSize: 14, color: '#546779', flex: 1, lineHeight: 1.5 }}&gt;核对服务器保存后的副本，而不是尚未提交的输入框&lt;/Text&gt;&#10;        &lt;/Box&gt;&#10;&#10;        &lt;Box style={{ width: 1152, height: 72, background: '#FFF4E6', borderRadius: 8, padding: '0 20px', flexDirection: 'row', alignItems: 'center', gap: 14 }}&gt;&#10;            &lt;Box style={{ width: 4, height: 44, background: '#CB6B28' }} /&gt;&#10;            &lt;Text style={{ fontSize: 15, color: '#CB6B28', lineHeight: 1.5, flex: 1 }}&gt;四十八步走到哪一步，只说明窗口内发生了什么，不能据此宣称一小时的活动已经结束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7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草稿装配完成后，重新打开核对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核对的是服务器保存后的副本</a:t>
            </a:r>
            <a:endParaRPr/>
          </a:p>
        </p:txBody>
      </p:sp>
      <p:sp>
        <p:nvSpPr>
          <p:cNvPr id="679" name="" descr="{&quot;isTemplate&quot;:true,&quot;type&quot;:&quot;text&quot;}"/>
          <p:cNvSpPr txBox="1"/>
          <p:nvPr/>
        </p:nvSpPr>
        <p:spPr>
          <a:xfrm rot="0" flipH="0" flipV="0">
            <a:off x="609600" y="14001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时间参数、根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与</a:t>
            </a:r>
            <a:r>
              <a:rPr lang="en-US" sz="1275">
                <a:solidFill>
                  <a:srgbClr val="20344B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的依赖、以及保存行为，各自要留下可以复查的对象。</a:t>
            </a:r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81050" y="1885950"/>
            <a:ext cx="1905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2819400" y="1885950"/>
            <a:ext cx="3619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这次采用的值</a:t>
            </a:r>
            <a:endParaRPr/>
          </a:p>
        </p:txBody>
      </p:sp>
      <p:sp>
        <p:nvSpPr>
          <p:cNvPr id="682" name="" descr="{&quot;isTemplate&quot;:true,&quot;type&quot;:&quot;text&quot;}"/>
          <p:cNvSpPr txBox="1"/>
          <p:nvPr/>
        </p:nvSpPr>
        <p:spPr>
          <a:xfrm rot="0" flipH="0" flipV="0">
            <a:off x="6572250" y="1885950"/>
            <a:ext cx="5010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要核对什么</a:t>
            </a:r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09600" y="220980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84" name=""/>
          <p:cNvSpPr/>
          <p:nvPr/>
        </p:nvSpPr>
        <p:spPr>
          <a:xfrm rot="0" flipH="0" flipV="0">
            <a:off x="800100" y="245745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971550" y="257175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时间与时区</a:t>
            </a:r>
            <a:endParaRPr/>
          </a:p>
        </p:txBody>
      </p:sp>
      <p:sp>
        <p:nvSpPr>
          <p:cNvPr id="686" name=""/>
          <p:cNvSpPr/>
          <p:nvPr/>
        </p:nvSpPr>
        <p:spPr>
          <a:xfrm rot="0" flipH="0" flipV="0">
            <a:off x="3009900" y="2438400"/>
            <a:ext cx="36195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3600450" y="2581275"/>
            <a:ext cx="2447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2026-10-17 09:50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　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>Asia/Shanghai</a:t>
            </a:r>
            <a:endParaRPr/>
          </a:p>
        </p:txBody>
      </p:sp>
      <p:sp>
        <p:nvSpPr>
          <p:cNvPr id="688" name="" descr="{&quot;isTemplate&quot;:true,&quot;type&quot;:&quot;text&quot;}"/>
          <p:cNvSpPr txBox="1"/>
          <p:nvPr/>
        </p:nvSpPr>
        <p:spPr>
          <a:xfrm rot="0" flipH="0" flipV="0">
            <a:off x="6762750" y="2543175"/>
            <a:ext cx="4629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虚拟时间从哪一刻开始，决定观察窗口的起点</a:t>
            </a:r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09600" y="325755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0" name=""/>
          <p:cNvSpPr/>
          <p:nvPr/>
        </p:nvSpPr>
        <p:spPr>
          <a:xfrm rot="0" flipH="0" flipV="0">
            <a:off x="800100" y="3505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971550" y="361950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步长与步数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3009900" y="3486150"/>
            <a:ext cx="3619500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4105275" y="362902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每步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1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分钟，共</a:t>
            </a:r>
            <a:r>
              <a:rPr lang="en-US" sz="112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48 </a:t>
            </a: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步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762750" y="3590925"/>
            <a:ext cx="4629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窗口用来观察信息调整、抵达与活动开始；其他参数按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3.9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节核对</a:t>
            </a:r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09600" y="4305300"/>
            <a:ext cx="10972800" cy="914400"/>
          </a:xfrm>
          <a:prstGeom prst="roundRect">
            <a:avLst>
              <a:gd name="adj" fmla="val 8333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96" name=""/>
          <p:cNvSpPr/>
          <p:nvPr/>
        </p:nvSpPr>
        <p:spPr>
          <a:xfrm rot="0" flipH="0" flipV="0">
            <a:off x="800100" y="4552950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971550" y="4667250"/>
            <a:ext cx="1905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保存与重开</a:t>
            </a:r>
            <a:endParaRPr/>
          </a:p>
        </p:txBody>
      </p:sp>
      <p:sp>
        <p:nvSpPr>
          <p:cNvPr id="698" name=""/>
          <p:cNvSpPr/>
          <p:nvPr/>
        </p:nvSpPr>
        <p:spPr>
          <a:xfrm rot="0" flipH="0" flipV="0">
            <a:off x="3009900" y="4533900"/>
            <a:ext cx="3619500" cy="4572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4181475" y="4676775"/>
            <a:ext cx="128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6816B"/>
                </a:solidFill>
                <a:latin typeface="Microsoft YaHei"/>
                <a:ea typeface="Microsoft YaHei"/>
              </a:rPr>
              <a:t>从同一实验重新打开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6762750" y="4638675"/>
            <a:ext cx="46291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核对服务器保存后的副本，而不是尚未提交的输入框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09600" y="53530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02" name=""/>
          <p:cNvSpPr/>
          <p:nvPr/>
        </p:nvSpPr>
        <p:spPr>
          <a:xfrm rot="0" flipH="0" flipV="0">
            <a:off x="800100" y="54864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971550" y="55721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四十八步走到哪一步，只说明窗口内发生了什么，不能据此宣称一小时的活动已经结束。</a:t>
            </a:r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34" name="" descr="&lt;Slide notes={`模型页上有一个明确的动作，叫复制所选配置到实验，它可以把选中的公共模型配置复制进当前这份草稿。&#10;&#10;这里要特别提醒两点。第一，它并不建立以后自动更新的关系，复制那一刻是什么配置，实验里就是什么配置。第二，不能因为模型页有这个按钮，就推断所有资源页都有完全相同的替换入口。入口是分页面存在的，不是通用能力。&#10;&#10;那要换地图怎么办？可以通过新建一个独立实验重新选择，走显式导入路径。&#10;&#10;不管用哪种已支持的方式换图，换完之后出生点、地址、已知空间和对象绑定检查都要重做一遍。旧坐标只对旧地图有含义，换到新图上不能自动沿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2　草稿装配完成后，重新打开核对&lt;/Text&gt;&#10;            &lt;Text style={{ fontSize: 34, fontWeight: 'bold', color: '#20344B' }}&gt;复制按钮只存在于该页&lt;/Text&gt;&#10;        &lt;/Box&gt;&#10;    &lt;/Box&gt;&#10;&#10;    &lt;Box style={{ height: 540, flexDirection: 'row', alignItems: 'center', gap: 16 }}&gt;&#10;&#10;        &lt;Box style={{ width: 508, flexDirection: 'column', gap: 14 }}&gt;&#10;            &lt;Text style={{ fontSize: 17, color: '#546779', lineHeight: 1.6, width: 508 }}&gt;实验模型页提供把公共模型配置复制进当前草稿的操作。&lt;/Text&gt;&#10;&#10;            &lt;Box style={{ width: 508, height: 106, background: '#EDF4FC', borderRadius: 10, padding: '12px 20px', flexDirection: 'column', gap: 4, justifyContent: 'center' }}&gt;&#10;                &lt;Text style={{ fontSize: 17, fontWeight: 'bold', color: '#276FBF' }}&gt;复制所选配置到实验&lt;/Text&gt;&#10;                &lt;Text style={{ fontSize: 14, color: '#546779', lineHeight: 1.5 }}&gt;把选中的公共模型配置复制进当前这份草稿。&lt;/Text&gt;&#10;            &lt;/Box&gt;&#10;&#10;            &lt;Box style={{ width: 508, height: 106, background: '#FFF4E6', borderRadius: 10, padding: '12px 20px', flexDirection: 'column', gap: 4, justifyContent: 'center' }}&gt;&#10;                &lt;Text style={{ fontSize: 17, fontWeight: 'bold', color: '#CB6B28' }}&gt;不建立自动更新关系&lt;/Text&gt;&#10;                &lt;Text style={{ fontSize: 14, color: '#546779', lineHeight: 1.5 }}&gt;复制那一刻是什么配置，实验里就保存什么配置。&lt;/Text&gt;&#10;            &lt;/Box&gt;&#10;&#10;            &lt;Box style={{ width: 508, height: 106, background: '#F4F7FA', borderRadius: 10, padding: '12px 20px', flexDirection: 'column', gap: 4, justifyContent: 'center' }}&gt;&#10;                &lt;Text style={{ fontSize: 17, fontWeight: 'bold', color: '#20344B' }}&gt;不要推广到所有资源页&lt;/Text&gt;&#10;                &lt;Text style={{ fontSize: 14, color: '#546779', lineHeight: 1.5 }}&gt;不能据此推断其他资源页有完全相同的替换入口。&lt;/Text&gt;&#10;            &lt;/Box&gt;&#10;        &lt;/Box&gt;&#10;&#10;        &lt;Box style={{ width: 628, flexDirection: 'column', gap: 12 }}&gt;&#10;            &lt;Text style={{ fontSize: 17, color: '#546779', lineHeight: 1.6, width: 628 }}&gt;需要换成另一张公共地图时，可以新建独立实验重新选择；换图之后这四项都要重做。&lt;/Text&gt;&#10;&#10;            &lt;Box style={{ width: 628, height: 76, background: '#F4F7FA', borderRadius: 8, padding: '0 18px', flexDirection: 'row', alignItems: 'center', gap: 12 }}&gt;&#10;                &lt;Box style={{ width: 4, height: 36, background: '#276FBF' }} /&gt;&#10;                &lt;Text style={{ fontSize: 16, fontWeight: 'bold', color: '#20344B', width: 116 }}&gt;出生点&lt;/Text&gt;&#10;                &lt;Text style={{ fontSize: 14, color: '#546779', flex: 1 }}&gt;新地图上重新选择并保存&lt;/Text&gt;&#10;            &lt;/Box&gt;&#10;&#10;            &lt;Box style={{ width: 628, height: 76, background: '#F4F7FA', borderRadius: 8, padding: '0 18px', flexDirection: 'row', alignItems: 'center', gap: 12 }}&gt;&#10;                &lt;Box style={{ width: 4, height: 36, background: '#276FBF' }} /&gt;&#10;                &lt;Text style={{ fontSize: 16, fontWeight: 'bold', color: '#20344B', width: 116 }}&gt;地址&lt;/Text&gt;&#10;                &lt;Text style={{ fontSize: 14, color: '#546779', flex: 1 }}&gt;层级地址指向新的空间对象&lt;/Text&gt;&#10;            &lt;/Box&gt;&#10;&#10;            &lt;Box style={{ width: 628, height: 76, background: '#F4F7FA', borderRadius: 8, padding: '0 18px', flexDirection: 'row', alignItems: 'center', gap: 12 }}&gt;&#10;                &lt;Box style={{ width: 4, height: 36, background: '#276FBF' }} /&gt;&#10;                &lt;Text style={{ fontSize: 16, fontWeight: 'bold', color: '#20344B', width: 116 }}&gt;已知空间&lt;/Text&gt;&#10;                &lt;Text style={{ fontSize: 14, color: '#546779', flex: 1 }}&gt;人物开始时认识哪些位置&lt;/Text&gt;&#10;            &lt;/Box&gt;&#10;&#10;            &lt;Box style={{ width: 628, height: 76, background: '#F4F7FA', borderRadius: 8, padding: '0 18px', flexDirection: 'row', alignItems: 'center', gap: 12 }}&gt;&#10;                &lt;Box style={{ width: 4, height: 36, background: '#CB6B28' }} /&gt;&#10;                &lt;Text style={{ fontSize: 16, fontWeight: 'bold', color: '#20344B', width: 116 }}&gt;对象绑定&lt;/Text&gt;&#10;                &lt;Text style={{ fontSize: 14, color: '#546779', flex: 1 }}&gt;公告栏等服务台对象挂到新图&lt;/Text&gt;&#10;            &lt;/Box&gt;&#10;&#10;            &lt;Box style={{ width: 628, height: 68, background: '#FFF4E6', borderRadius: 8, padding: '0 18px', flexDirection: 'row', alignItems: 'center', gap: 12 }}&gt;&#10;                &lt;Box style={{ width: 4, height: 36, background: '#CB6B28' }} /&gt;&#10;                &lt;Text style={{ fontSize: 14, color: '#CB6B28', lineHeight: 1.5, flex: 1 }}&gt;旧坐标不能自动沿用含义，换图后必须重新做这几项检查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草稿装配完成后，重新打开核对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复制按钮只存在于该页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48387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实验模型页提供把公共模型配置复制进当前草稿的操作。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609600" y="2295525"/>
            <a:ext cx="4838700" cy="1009650"/>
          </a:xfrm>
          <a:prstGeom prst="roundRect">
            <a:avLst>
              <a:gd name="adj" fmla="val 9434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800100" y="256222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复制所选配置到实验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800100" y="28003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把选中的公共模型配置复制进当前这份草稿。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3438525"/>
            <a:ext cx="48387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800100" y="370522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不建立自动更新关系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00100" y="39433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复制那一刻是什么配置，实验里就保存什么配置。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09600" y="4581525"/>
            <a:ext cx="48387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00100" y="484822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不要推广到所有资源页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800100" y="5086350"/>
            <a:ext cx="4457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不能据此推断其他资源页有完全相同的替换入口。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5600700" y="1343025"/>
            <a:ext cx="59817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需要换成另一张公共地图时，可以新建独立实验重新选择；换图之后这四项都要重做。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5600700" y="2085975"/>
            <a:ext cx="59817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5772150" y="22764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5924550" y="23526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出生点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143750" y="23717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新地图上重新选择并保存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600700" y="2924175"/>
            <a:ext cx="59817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772150" y="31146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924550" y="31908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地址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143750" y="32099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层级地址指向新的空间对象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5600700" y="3762375"/>
            <a:ext cx="59817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9" name=""/>
          <p:cNvSpPr/>
          <p:nvPr/>
        </p:nvSpPr>
        <p:spPr>
          <a:xfrm rot="0" flipH="0" flipV="0">
            <a:off x="5772150" y="39528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924550" y="40290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已知空间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143750" y="40481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人物开始时认识哪些位置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5600700" y="4600575"/>
            <a:ext cx="59817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3" name=""/>
          <p:cNvSpPr/>
          <p:nvPr/>
        </p:nvSpPr>
        <p:spPr>
          <a:xfrm rot="0" flipH="0" flipV="0">
            <a:off x="5772150" y="479107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924550" y="4867275"/>
            <a:ext cx="110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对象绑定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0" y="4886325"/>
            <a:ext cx="426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公告栏等服务台对象挂到新图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5600700" y="5438775"/>
            <a:ext cx="5981700" cy="647700"/>
          </a:xfrm>
          <a:prstGeom prst="roundRect">
            <a:avLst>
              <a:gd name="adj" fmla="val 117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5772150" y="559117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5924550" y="5638800"/>
            <a:ext cx="54864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旧坐标不能自动沿用含义，换图后必须重新做这几项检查。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notes={`这一块讲的是执行之前的检查。要点很清楚：预检回答的是材料和依赖这两件事。&#10;&#10;点击执行实验之后，当前实现会先等待草稿保存，再打开执行对话框，取得预检结果和规模估算。打开对话框和点击确认执行是两个不同阶段，仅仅看一眼预检结果，并不证明已经创建了运行。&#10;&#10;预检要检查的是空间、附件、装配和 Skill 闭包四类材料。它们能说明这次实验是不是一份可以运行的材料。&#10;&#10;但它们不能说明角色已经穿过了门、看到了公告、收到了回复。路径检查只能证明地图上两个点可达，角色有没有实际抵达，要读运行中的移动事实；Skill 文本写着更新公告，也代替不了真实的公告状态更新和它的回放。这些证据要留给后续的运行验收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3　　3.8.3　预检检查材料，观察检查行为&lt;/Text&gt;&#10;&#10;        &lt;Text style={{ fontSize: 56, fontWeight: 'bold', color: '#20344B', lineHeight: 1.15 }}&gt;预检检查材料，不检查行为&lt;/Text&gt;&#10;&#10;        &lt;Box style={{ width: 72, height: 4, background: '#276FBF' }} /&gt;&#10;&#10;        &lt;Text style={{ fontSize: 18, color: '#546779', lineHeight: 1.7, width: 920 }}&gt;四类材料与依赖在一次校验里过一遍；角色有没有真的走过去，属于运行时的事实，不在这道检查的范围里。&lt;/Text&gt;&#10;&#10;        &lt;Box style={{ flexDirection: 'row', alignItems: 'center', marginTop: 10 }}&gt;&#10;            &lt;Box style={{ width: 264, height: 64, background: '#EDF4FC', borderRadius: 8, justifyContent: 'center', alignItems: 'center' }}&gt;&#10;                &lt;Text style={{ fontSize: 18, color: '#276FBF' }}&gt;空间&lt;/Text&gt;&#10;            &lt;/Box&gt;&#10;            &lt;Box style={{ width: 264, height: 64, background: '#EDF4FC', borderRadius: 8, marginLeft: 16, justifyContent: 'center', alignItems: 'center' }}&gt;&#10;                &lt;Text style={{ fontSize: 18, color: '#276FBF' }}&gt;附件&lt;/Text&gt;&#10;            &lt;/Box&gt;&#10;            &lt;Box style={{ width: 264, height: 64, background: '#EDF4FC', borderRadius: 8, marginLeft: 16, justifyContent: 'center', alignItems: 'center' }}&gt;&#10;                &lt;Text style={{ fontSize: 18, color: '#276FBF' }}&gt;装配&lt;/Text&gt;&#10;            &lt;/Box&gt;&#10;            &lt;Box style={{ width: 264, height: 64, background: '#ECF7F2', borderRadius: 8, marginLeft: 16, justifyContent: 'center', alignItems: 'center' }}&gt;&#10;                &lt;Text style={{ fontSize: 18, color: '#26816B' }}&gt;Skill 闭包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3.8.3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预检检查材料，观察检查行为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预检检查材料，不检查行为</a:t>
            </a:r>
            <a:endParaRPr/>
          </a:p>
        </p:txBody>
      </p:sp>
      <p:sp>
        <p:nvSpPr>
          <p:cNvPr id="75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763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四类材料与依赖在一次校验里过一遍；角色有没有真的走过去，属于运行时的事实，不在这道检查的范围里。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4057650"/>
            <a:ext cx="25146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空间</a:t>
            </a:r>
            <a:endParaRPr/>
          </a:p>
        </p:txBody>
      </p:sp>
      <p:sp>
        <p:nvSpPr>
          <p:cNvPr id="79" name=""/>
          <p:cNvSpPr/>
          <p:nvPr/>
        </p:nvSpPr>
        <p:spPr>
          <a:xfrm rot="0" flipH="0" flipV="0">
            <a:off x="3276600" y="4057650"/>
            <a:ext cx="25146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43624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附件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5943600" y="4057650"/>
            <a:ext cx="25146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02945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8610600" y="4057650"/>
            <a:ext cx="25146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505950" y="4257675"/>
            <a:ext cx="723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6816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闭包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 descr="&lt;Slide notes={`在实验概览点击执行实验之后，当前实现会先等草稿保存，再打开执行对话框，取出预检结果和规模估算。&#10;&#10;这里有一条容易踩的边界：打开对话框和点击确认执行是两个不同阶段。只在对话框里看一眼预检结果，并不证明已经创建了运行。如果只想查看预检，可以直接把对话框关掉；但要清楚，之前的草稿修改很可能已经被自动保存了。&#10;&#10;预检失败时返回的是一段错误文字，回去改的应该是草稿里对应的那份材料。改完保存，再重新检查一遍。&#10;&#10;看到预检通过，也只说明材料可以运行，不代表目标已经达成。行为证据要留给运行验收去找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3　预检检查材料，观察检查行为&lt;/Text&gt;&#10;            &lt;Text style={{ fontSize: 34, fontWeight: 'bold', color: '#20344B' }}&gt;打开对话框不等于确认执行&lt;/Text&gt;&#10;        &lt;/Box&gt;&#10;    &lt;/Box&gt;&#10;&#10;    &lt;Box style={{ height: 540, flexDirection: 'column', justifyContent: 'center', gap: 14 }}&gt;&#10;&#10;        &lt;Box style={{ flexDirection: 'row', gap: 20 }}&gt;&#10;&#10;            &lt;Box style={{ width: 700, height: 340, background: '#F4F7FA', borderRadius: 12, flexDirection: 'column' }}&gt;&#10;                &lt;Box style={{ width: 700, height: 44, background: '#276FBF', borderRadius: 12, padding: '0 18px', flexDirection: 'row', alignItems: 'center', gap: 12 }}&gt;&#10;                    &lt;Text style={{ fontSize: 16, fontWeight: 'bold', color: '#FFFFFF' }}&gt;执行实验　对话框&lt;/Text&gt;&#10;                    &lt;Box style={{ flex: 1 }} /&gt;&#10;                    &lt;Box style={{ width: 56, height: 26, background: '#FFFFFF', borderRadius: 6, justifyContent: 'center', alignItems: 'center' }}&gt;&#10;                        &lt;Text style={{ fontSize: 13, color: '#276FBF' }}&gt;示意&lt;/Text&gt;&#10;                    &lt;/Box&gt;&#10;                &lt;/Box&gt;&#10;                &lt;Box style={{ padding: 18, flexDirection: 'column', gap: 12 }}&gt;&#10;                    &lt;Box style={{ width: 664, height: 60, background: '#FFFFFF', borderRadius: 8, padding: '0 18px', flexDirection: 'row', alignItems: 'center', gap: 14 }}&gt;&#10;                        &lt;Text style={{ fontSize: 16, fontWeight: 'bold', color: '#20344B', width: 96 }}&gt;预检结果&lt;/Text&gt;&#10;                        &lt;Text style={{ fontSize: 14, color: '#546779', flex: 1 }}&gt;整包校验，失败时返回错误文字&lt;/Text&gt;&#10;                        &lt;Box style={{ width: 72, height: 30, background: '#ECF7F2', borderRadius: 6, justifyContent: 'center', alignItems: 'center' }}&gt;&#10;                            &lt;Text style={{ fontSize: 14, fontWeight: 'bold', color: '#26816B' }}&gt;通过&lt;/Text&gt;&#10;                        &lt;/Box&gt;&#10;                        &lt;Box style={{ width: 150, height: 30, background: '#FFF4E6', borderRadius: 6, justifyContent: 'center', alignItems: 'center' }}&gt;&#10;                            &lt;Text style={{ fontSize: 13, color: '#CB6B28' }}&gt;失败：PACKAGE_INVALID&lt;/Text&gt;&#10;                        &lt;/Box&gt;&#10;                    &lt;/Box&gt;&#10;                    &lt;Box style={{ width: 664, height: 60, background: '#FFFFFF', borderRadius: 8, padding: '0 18px', flexDirection: 'row', alignItems: 'center', gap: 14 }}&gt;&#10;                        &lt;Text style={{ fontSize: 16, fontWeight: 'bold', color: '#20344B', width: 96 }}&gt;规模估算&lt;/Text&gt;&#10;                        &lt;Text style={{ fontSize: 14, color: '#546779', flex: 1 }}&gt;人物数、时长与预计调用量&lt;/Text&gt;&#10;                        &lt;Box style={{ width: 150, height: 30, background: '#EDF4FC', borderRadius: 6, justifyContent: 'center', alignItems: 'center' }}&gt;&#10;                            &lt;Text style={{ fontSize: 13, color: '#276FBF' }}&gt;4 名人物 + 2 个对象&lt;/Text&gt;&#10;                        &lt;/Box&gt;&#10;                    &lt;/Box&gt;&#10;                    &lt;Box style={{ width: 664, height: 74, flexDirection: 'row', alignItems: 'center', gap: 16 }}&gt;&#10;                        &lt;Box style={{ width: 220, height: 46, background: '#FFFFFF', borderRadius: 8, justifyContent: 'center', alignItems: 'center' }}&gt;&#10;                            &lt;Text style={{ fontSize: 16, color: '#546779' }}&gt;关闭对话框&lt;/Text&gt;&#10;                        &lt;/Box&gt;&#10;                        &lt;Box style={{ width: 220, height: 46, background: '#276FBF', borderRadius: 8, justifyContent: 'center', alignItems: 'center' }}&gt;&#10;                            &lt;Text style={{ fontSize: 16, fontWeight: 'bold', color: '#FFFFFF' }}&gt;确认执行&lt;/Text&gt;&#10;                        &lt;/Box&gt;&#10;                        &lt;Text style={{ fontSize: 13, color: '#546779', flex: 1, lineHeight: 1.45 }}&gt;两个动作的结果完全不同&lt;/Text&gt;&#10;                    &lt;/Box&gt;&#10;                &lt;/Box&gt;&#10;            &lt;/Box&gt;&#10;&#10;            &lt;Box style={{ width: 432, flexDirection: 'column', gap: 12 }}&gt;&#10;                &lt;Text style={{ fontSize: 17, color: '#546779', lineHeight: 1.6, width: 432 }}&gt;先等待草稿保存，再打开对话框，取得预检与规模估算。&lt;/Text&gt;&#10;                &lt;Box style={{ width: 432, height: 130, background: '#EDF4FC', borderRadius: 10, padding: '14px 20px', flexDirection: 'column', gap: 5, justifyContent: 'center' }}&gt;&#10;                    &lt;Text style={{ fontSize: 17, fontWeight: 'bold', color: '#276FBF' }}&gt;查看预检不证明已创建 Run&lt;/Text&gt;&#10;                    &lt;Text style={{ fontSize: 14, color: '#546779', lineHeight: 1.5 }}&gt;打开对话框还在确认之前，此时没有任何运行被创建。&lt;/Text&gt;&#10;                &lt;/Box&gt;&#10;                &lt;Box style={{ width: 432, height: 130, background: '#FFF4E6', borderRadius: 10, padding: '14px 20px', flexDirection: 'column', gap: 5, justifyContent: 'center' }}&gt;&#10;                    &lt;Text style={{ fontSize: 17, fontWeight: 'bold', color: '#CB6B28' }}&gt;关闭之前修改可能已保存&lt;/Text&gt;&#10;                    &lt;Text style={{ fontSize: 14, color: '#546779', lineHeight: 1.5 }}&gt;退出对话框不等于回退草稿，检查前先确认当前内容。&lt;/Text&gt;&#10;                &lt;/Box&gt;&#10;            &lt;/Box&gt;&#10;&#10;        &lt;/Box&gt;&#10;&#10;        &lt;Box style={{ flexDirection: 'row', gap: 20 }}&gt;&#10;            &lt;Box style={{ width: 566, height: 84, background: '#F4F7FA', borderRadius: 10, padding: '0 20px', flexDirection: 'row', alignItems: 'center', gap: 14 }}&gt;&#10;                &lt;Box style={{ width: 4, height: 44, background: '#276FBF' }} /&gt;&#10;                &lt;Box style={{ flexDirection: 'column', gap: 2 }}&gt;&#10;                    &lt;Text style={{ fontSize: 16, fontWeight: 'bold', color: '#20344B' }}&gt;阶段一　等待草稿保存&lt;/Text&gt;&#10;                    &lt;Text style={{ fontSize: 13, color: '#546779' }}&gt;保存的是草稿的最新内容&lt;/Text&gt;&#10;                &lt;/Box&gt;&#10;            &lt;/Box&gt;&#10;            &lt;Box style={{ width: 566, height: 84, background: '#F4F7FA', borderRadius: 10, padding: '0 20px', flexDirection: 'row', alignItems: 'center', gap: 14 }}&gt;&#10;                &lt;Box style={{ width: 4, height: 44, background: '#26816B' }} /&gt;&#10;                &lt;Box style={{ flexDirection: 'column', gap: 2 }}&gt;&#10;                    &lt;Text style={{ fontSize: 16, fontWeight: 'bold', color: '#20344B' }}&gt;阶段二　取得预检与规模估算&lt;/Text&gt;&#10;                    &lt;Text style={{ fontSize: 13, color: '#546779' }}&gt;对话框只是展示检查结果&lt;/Text&gt;&#10;                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预检检查材料，观察检查行为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打开对话框不等于确认执行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09600" y="1628775"/>
            <a:ext cx="6667500" cy="3238500"/>
          </a:xfrm>
          <a:prstGeom prst="roundRect">
            <a:avLst>
              <a:gd name="adj" fmla="val 352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9600" y="1628775"/>
            <a:ext cx="6667500" cy="419100"/>
          </a:xfrm>
          <a:prstGeom prst="roundRect">
            <a:avLst>
              <a:gd name="adj" fmla="val 2727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17430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执行实验　对话框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6572250" y="1714500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715125" y="1762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781050" y="2219325"/>
            <a:ext cx="632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952500" y="24098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预检结果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000250" y="2428875"/>
            <a:ext cx="2552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整包校验，失败时返回错误文字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4686300" y="2362200"/>
            <a:ext cx="685800" cy="28575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4895850" y="2428875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26816B"/>
                </a:solidFill>
                <a:latin typeface="Microsoft YaHei"/>
                <a:ea typeface="Microsoft YaHei"/>
              </a:rPr>
              <a:t>通过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5505450" y="236220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5505450" y="2352675"/>
            <a:ext cx="1428750" cy="304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失败：</a:t>
            </a: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PACKAGE_INVALID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781050" y="2905125"/>
            <a:ext cx="6324600" cy="5715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952500" y="309562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规模估算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2000250" y="3114675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人物数、时长与预计调用量</a:t>
            </a:r>
            <a:endParaRPr/>
          </a:p>
        </p:txBody>
      </p:sp>
      <p:sp>
        <p:nvSpPr>
          <p:cNvPr id="107" name=""/>
          <p:cNvSpPr/>
          <p:nvPr/>
        </p:nvSpPr>
        <p:spPr>
          <a:xfrm rot="0" flipH="0" flipV="0">
            <a:off x="5505450" y="3048000"/>
            <a:ext cx="1428750" cy="28575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657850" y="31146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4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名人物</a:t>
            </a:r>
            <a:r>
              <a:rPr lang="en-US" sz="975">
                <a:solidFill>
                  <a:srgbClr val="276FBF"/>
                </a:solidFill>
                <a:latin typeface="Microsoft YaHei"/>
                <a:ea typeface="Microsoft YaHei"/>
              </a:rPr>
              <a:t xml:space="preserve"> + 2 </a:t>
            </a: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个对象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781050" y="3724275"/>
            <a:ext cx="20955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447800" y="3848100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关闭对话框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3028950" y="3724275"/>
            <a:ext cx="2095500" cy="438150"/>
          </a:xfrm>
          <a:prstGeom prst="roundRect">
            <a:avLst>
              <a:gd name="adj" fmla="val 17391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3771900" y="38481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确认执行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5276850" y="3838575"/>
            <a:ext cx="18288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两个动作的结果完全不同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7467600" y="1628775"/>
            <a:ext cx="4114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先等待草稿保存，再打开对话框，取得预检与规模估算。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7467600" y="2057400"/>
            <a:ext cx="41148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7658100" y="24288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查看预检不证明已创建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7658100" y="267652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打开对话框还在确认之前，此时没有任何运行被创建。</a:t>
            </a:r>
            <a:endParaRPr/>
          </a:p>
        </p:txBody>
      </p:sp>
      <p:sp>
        <p:nvSpPr>
          <p:cNvPr id="118" name=""/>
          <p:cNvSpPr/>
          <p:nvPr/>
        </p:nvSpPr>
        <p:spPr>
          <a:xfrm rot="0" flipH="0" flipV="0">
            <a:off x="7467600" y="3409950"/>
            <a:ext cx="4114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658100" y="378142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关闭之前修改可能已保存</a:t>
            </a:r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658100" y="40290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退出对话框不等于回退草稿，检查前先确认当前内容。</a:t>
            </a:r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609600" y="5000625"/>
            <a:ext cx="53911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2" name=""/>
          <p:cNvSpPr/>
          <p:nvPr/>
        </p:nvSpPr>
        <p:spPr>
          <a:xfrm rot="0" flipH="0" flipV="0">
            <a:off x="800100" y="51911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71550" y="52197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阶段一　等待草稿保存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971550" y="5429250"/>
            <a:ext cx="1524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保存的是草稿的最新内容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191250" y="5000625"/>
            <a:ext cx="5391150" cy="800100"/>
          </a:xfrm>
          <a:prstGeom prst="roundRect">
            <a:avLst>
              <a:gd name="adj" fmla="val 1190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6381750" y="5191125"/>
            <a:ext cx="38100" cy="4191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553200" y="5219700"/>
            <a:ext cx="1981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阶段二　取得预检与规模估算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553200" y="5429250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对话框只是展示检查结果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31" name="" descr="&lt;Slide notes={`预检在材料这个边界上要查四类东西。&#10;&#10;第一类是空间：四层的层级、节点的范围、坐标和地址之间能不能对得上。第二类是附件：地图、人物图片、状态图、Skill 脚本和模板是不是齐全。第三类是装配：人物的出生位置、对象的交互配置、唯一的 Brain、所需的模型配置有没有完整。&#10;&#10;第四类是 Skill 闭包：依赖齐不齐、包内的 skill_key 有没有冲突、有没有非法的依赖环。冲突这一项要单独说一句：同一个 key 且内容相同可以合并，同一个 key 但内容不同必须处理冲突，不能按显示名称悄悄覆盖过去。&#10;&#10;发现阻断就记录完整的错误，回到对应的草稿资源去修正、保存，再重新检查一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3　预检检查材料，观察检查行为&lt;/Text&gt;&#10;            &lt;Text style={{ fontSize: 34, fontWeight: 'bold', color: '#20344B' }}&gt;边界上要检查的四类材料&lt;/Text&gt;&#10;        &lt;/Box&gt;&#10;    &lt;/Box&gt;&#10;&#10;    &lt;Box style={{ height: 540, flexDirection: 'column', justifyContent: 'center', gap: 14 }}&gt;&#10;&#10;        &lt;Text style={{ fontSize: 17, color: '#20344B', lineHeight: 1.6, width: 1152 }}&gt;在执行之前，这四类材料各自要能对上号，缺一项就不是一份可运行的实验。&lt;/Text&gt;&#10;&#10;        &lt;Box style={{ width: 1152, height: 82, background: '#F4F7FA', borderRadius: 8, padding: '0 20px', flexDirection: 'row', alignItems: 'center', gap: 14 }}&gt;&#10;            &lt;Box style={{ width: 36, height: 36, background: '#276FBF', borderRadius: 6, justifyContent: 'center', alignItems: 'center' }}&gt;&#10;                &lt;Text style={{ fontSize: 16, fontWeight: 'bold', color: '#FFFFFF' }}&gt;空&lt;/Text&gt;&#10;            &lt;/Box&gt;&#10;            &lt;Text style={{ fontSize: 17, fontWeight: 'bold', color: '#20344B', width: 132 }}&gt;空间&lt;/Text&gt;&#10;            &lt;Text style={{ fontSize: 14, color: '#546779', flex: 1 }}&gt;四层层级、节点范围、坐标与地址能否互相对应&lt;/Text&gt;&#10;        &lt;/Box&gt;&#10;&#10;        &lt;Box style={{ width: 1152, height: 82, background: '#F4F7FA', borderRadius: 8, padding: '0 20px', flexDirection: 'row', alignItems: 'center', gap: 14 }}&gt;&#10;            &lt;Box style={{ width: 36, height: 36, background: '#276FBF', borderRadius: 6, justifyContent: 'center', alignItems: 'center' }}&gt;&#10;                &lt;Text style={{ fontSize: 16, fontWeight: 'bold', color: '#FFFFFF' }}&gt;件&lt;/Text&gt;&#10;            &lt;/Box&gt;&#10;            &lt;Text style={{ fontSize: 17, fontWeight: 'bold', color: '#20344B', width: 132 }}&gt;附件&lt;/Text&gt;&#10;            &lt;Text style={{ fontSize: 14, color: '#546779', flex: 1 }}&gt;地图、人物图片、状态图、Skill 脚本和模板是否齐全&lt;/Text&gt;&#10;        &lt;/Box&gt;&#10;&#10;        &lt;Box style={{ width: 1152, height: 82, background: '#F4F7FA', borderRadius: 8, padding: '0 20px', flexDirection: 'row', alignItems: 'center', gap: 14 }}&gt;&#10;            &lt;Box style={{ width: 36, height: 36, background: '#276FBF', borderRadius: 6, justifyContent: 'center', alignItems: 'center' }}&gt;&#10;                &lt;Text style={{ fontSize: 16, fontWeight: 'bold', color: '#FFFFFF' }}&gt;装&lt;/Text&gt;&#10;            &lt;/Box&gt;&#10;            &lt;Text style={{ fontSize: 17, fontWeight: 'bold', color: '#20344B', width: 132 }}&gt;装配&lt;/Text&gt;&#10;            &lt;Text style={{ fontSize: 14, color: '#546779', flex: 1 }}&gt;人物出生位置、对象交互配置、唯一 Brain、所需模型配置是否完整&lt;/Text&gt;&#10;        &lt;/Box&gt;&#10;&#10;        &lt;Box style={{ width: 1152, height: 82, background: '#F4F7FA', borderRadius: 8, padding: '0 20px', flexDirection: 'row', alignItems: 'center', gap: 14 }}&gt;&#10;            &lt;Box style={{ width: 36, height: 36, background: '#26816B', borderRadius: 6, justifyContent: 'center', alignItems: 'center' }}&gt;&#10;                &lt;Text style={{ fontSize: 16, fontWeight: 'bold', color: '#FFFFFF' }}&gt;闭&lt;/Text&gt;&#10;            &lt;/Box&gt;&#10;            &lt;Text style={{ fontSize: 17, fontWeight: 'bold', color: '#20344B', width: 132 }}&gt;Skill 闭包&lt;/Text&gt;&#10;            &lt;Text style={{ fontSize: 14, color: '#546779', flex: 1 }}&gt;依赖是否齐全、包内 skill_key 是否冲突、是否存在非法依赖环&lt;/Text&gt;&#10;        &lt;/Box&gt;&#10;&#10;        &lt;Box style={{ width: 1152, height: 72, background: '#FFF4E6', borderRadius: 8, padding: '0 20px', flexDirection: 'row', alignItems: 'center', gap: 14 }}&gt;&#10;            &lt;Box style={{ width: 4, height: 44, background: '#CB6B28' }} /&gt;&#10;            &lt;Text style={{ fontSize: 15, color: '#CB6B28', lineHeight: 1.5, flex: 1 }}&gt;同 key 同内容可以合并；同 key 异内容必须处理冲突，不能按显示名称悄悄覆盖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预检检查材料，观察检查行为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边界上要检查的四类材料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13239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在执行之前，这四类材料各自要能对上号，缺一项就不是一份可运行的实验。</a:t>
            </a:r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609600" y="17716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8" name=""/>
          <p:cNvSpPr/>
          <p:nvPr/>
        </p:nvSpPr>
        <p:spPr>
          <a:xfrm rot="0" flipH="0" flipV="0">
            <a:off x="800100" y="19907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95350" y="2066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空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276350" y="206692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空间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2667000" y="2085975"/>
            <a:ext cx="872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四层层级、节点范围、坐标与地址能否互相对应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609600" y="26860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800100" y="29051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95350" y="29813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件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276350" y="298132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附件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2667000" y="3000375"/>
            <a:ext cx="872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地图、人物图片、状态图、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脚本和模板是否齐全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09600" y="36004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00100" y="38195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895350" y="38957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装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276350" y="389572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装配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2667000" y="3914775"/>
            <a:ext cx="872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人物出生位置、对象交互配置、唯一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、所需模型配置是否完整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609600" y="4514850"/>
            <a:ext cx="10972800" cy="781050"/>
          </a:xfrm>
          <a:prstGeom prst="roundRect">
            <a:avLst>
              <a:gd name="adj" fmla="val 975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53" name=""/>
          <p:cNvSpPr/>
          <p:nvPr/>
        </p:nvSpPr>
        <p:spPr>
          <a:xfrm rot="0" flipH="0" flipV="0">
            <a:off x="800100" y="4733925"/>
            <a:ext cx="342900" cy="342900"/>
          </a:xfrm>
          <a:prstGeom prst="roundRect">
            <a:avLst>
              <a:gd name="adj" fmla="val 16667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95350" y="48101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闭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276350" y="4810125"/>
            <a:ext cx="125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闭包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2667000" y="4829175"/>
            <a:ext cx="8724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依赖是否齐全、包内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skill_key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是否冲突、是否存在非法依赖环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609600" y="54292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800100" y="55626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971550" y="56483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同内容可以合并；同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key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异内容必须处理冲突，不能按显示名称悄悄覆盖。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62" name="" descr="&lt;Slide notes={`这里要区分两件很容易混起来的事：校验合同和当前页面的展示粒度。&#10;&#10;从接口这一侧看，预检调用的是整个实验包的校验，它不是把四类材料拆成四条分别去查。失败的时候返回状态码 PACKAGE_INVALID 和一段错误文字，在统计上算一个阻断项；成功的时候返回一个通过项。&#10;&#10;从页面这一侧看，页面上显示几条、怎么显示，是展示粒度的问题。所以不能把上面讲的四类校验合同，直接写成当前页面必然显示四条独立的统计项，那是把合同当成了界面。&#10;&#10;实际遇到阻断的操作很简单：把完整错误记录下来，回到对应的草稿资源把它修好，保存，然后再查一次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3　预检检查材料，观察检查行为&lt;/Text&gt;&#10;            &lt;Text style={{ fontSize: 34, fontWeight: 'bold', color: '#20344B' }}&gt;校验合同不等于页面显示几条&lt;/Text&gt;&#10;        &lt;/Box&gt;&#10;    &lt;/Box&gt;&#10;&#10;    &lt;Box style={{ height: 540, flexDirection: 'row', alignItems: 'center', gap: 16 }}&gt;&#10;&#10;        &lt;Box style={{ width: 460, flexDirection: 'column', gap: 14 }}&gt;&#10;            &lt;Text style={{ fontSize: 17, fontWeight: 'bold', color: '#276FBF' }}&gt;接口这一侧的合同&lt;/Text&gt;&#10;&#10;            &lt;Box style={{ width: 460, height: 104, background: '#EDF4FC', borderRadius: 10, padding: '12px 20px', flexDirection: 'column', gap: 4, justifyContent: 'center' }}&gt;&#10;                &lt;Text style={{ fontSize: 17, fontWeight: 'bold', color: '#276FBF' }}&gt;整包校验&lt;/Text&gt;&#10;                &lt;Text style={{ fontSize: 14, color: '#546779', lineHeight: 1.5 }}&gt;当前预检调用的是整个实验包的校验。&lt;/Text&gt;&#10;            &lt;/Box&gt;&#10;&#10;            &lt;Box style={{ width: 460, height: 104, background: '#FFF4E6', borderRadius: 10, padding: '12px 20px', flexDirection: 'column', gap: 4, justifyContent: 'center' }}&gt;&#10;                &lt;Text style={{ fontSize: 17, fontWeight: 'bold', color: '#CB6B28' }}&gt;失败算一个阻断项&lt;/Text&gt;&#10;                &lt;Text style={{ fontSize: 14, color: '#546779', lineHeight: 1.5 }}&gt;返回 PACKAGE_INVALID 及错误文字。&lt;/Text&gt;&#10;            &lt;/Box&gt;&#10;&#10;            &lt;Box style={{ width: 460, height: 104, background: '#ECF7F2', borderRadius: 10, padding: '12px 20px', flexDirection: 'column', gap: 4, justifyContent: 'center' }}&gt;&#10;                &lt;Text style={{ fontSize: 17, fontWeight: 'bold', color: '#26816B' }}&gt;成功算一个通过项&lt;/Text&gt;&#10;                &lt;Text style={{ fontSize: 14, color: '#546779', lineHeight: 1.5 }}&gt;通过不等于逐条列出检查过的项目。&lt;/Text&gt;&#10;            &lt;/Box&gt;&#10;        &lt;/Box&gt;&#10;&#10;        &lt;Box style={{ width: 676, flexDirection: 'column', gap: 14 }}&gt;&#10;            &lt;Text style={{ fontSize: 17, fontWeight: 'bold', color: '#20344B' }}&gt;页面这一侧的展示&lt;/Text&gt;&#10;&#10;            &lt;Box style={{ width: 676, height: 124, background: '#FFF4E6', borderRadius: 10, padding: '14px 20px', flexDirection: 'column', gap: 5, justifyContent: 'center' }}&gt;&#10;                &lt;Text style={{ fontSize: 18, fontWeight: 'bold', color: '#CB6B28' }}&gt;不要把合同写成页面条目&lt;/Text&gt;&#10;                &lt;Text style={{ fontSize: 14, color: '#546779', lineHeight: 1.55 }}&gt;不能把前面的四类校验合同，写成当前页面必然显示的四条独立统计项。&lt;/Text&gt;&#10;            &lt;/Box&gt;&#10;&#10;            &lt;Box style={{ width: 676, height: 124, background: '#F4F7FA', borderRadius: 10, padding: '14px 20px', flexDirection: 'column', gap: 5, justifyContent: 'center' }}&gt;&#10;                &lt;Text style={{ fontSize: 18, fontWeight: 'bold', color: '#20344B' }}&gt;出现阻断时的处理&lt;/Text&gt;&#10;                &lt;Text style={{ fontSize: 14, color: '#546779', lineHeight: 1.55 }}&gt;记录完整错误，回到对应的草稿资源修正、保存，再重新检查一次。&lt;/Text&gt;&#10;            &lt;/Box&gt;&#10;&#10;            &lt;Box style={{ width: 676, height: 96, background: '#EDF4FC', borderRadius: 10, padding: '14px 20px', flexDirection: 'column', gap: 4, justifyContent: 'center' }}&gt;&#10;                &lt;Text style={{ fontSize: 17, fontWeight: 'bold', color: '#276FBF' }}&gt;写法上留一层余地&lt;/Text&gt;&#10;                &lt;Text style={{ fontSize: 14, color: '#546779', lineHeight: 1.5 }}&gt;合同说得清，页面未必逐条显示；描述时要按实际观察到的粒度写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预检检查材料，观察检查行为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校验合同不等于页面显示几条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4381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接口这一侧的合同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609600" y="2266950"/>
            <a:ext cx="43815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25241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整包校验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800100" y="276225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当前预检调用的是整个实验包的校验。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609600" y="3390900"/>
            <a:ext cx="438150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800100" y="364807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失败算一个阻断项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返回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PACKAGE_INVALID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及错误文字。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609600" y="4514850"/>
            <a:ext cx="4381500" cy="990600"/>
          </a:xfrm>
          <a:prstGeom prst="roundRect">
            <a:avLst>
              <a:gd name="adj" fmla="val 961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800100" y="4772025"/>
            <a:ext cx="4000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成功算一个通过项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00100" y="5010150"/>
            <a:ext cx="40005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通过不等于逐条列出检查过的项目。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143500" y="1781175"/>
            <a:ext cx="6438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页面这一侧的展示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5143500" y="2114550"/>
            <a:ext cx="6438900" cy="1181100"/>
          </a:xfrm>
          <a:prstGeom prst="roundRect">
            <a:avLst>
              <a:gd name="adj" fmla="val 806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5334000" y="244792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不要把合同写成页面条目</a:t>
            </a:r>
            <a:endParaRPr/>
          </a:p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5334000" y="2705100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不能把前面的四类校验合同，写成当前页面必然显示的四条独立统计项。</a:t>
            </a:r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5143500" y="3429000"/>
            <a:ext cx="6438900" cy="1181100"/>
          </a:xfrm>
          <a:prstGeom prst="roundRect">
            <a:avLst>
              <a:gd name="adj" fmla="val 806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5334000" y="3762375"/>
            <a:ext cx="6057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出现阻断时的处理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5334000" y="4019550"/>
            <a:ext cx="60579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记录完整错误，回到对应的草稿资源修正、保存，再重新检查一次。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5143500" y="4743450"/>
            <a:ext cx="643890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5334000" y="4962525"/>
            <a:ext cx="6057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写法上留一层余地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5334000" y="5200650"/>
            <a:ext cx="60579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合同说得清，页面未必逐条显示；描述时要按实际观察到的粒度写。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89" name="" descr="&lt;Slide notes={`预检的结论有明确的范围，把它用过头是最常见的误读。&#10;&#10;它能证明的是材料与依赖这一层：空间、附件、装配和 Skill 闭包都对得上，说明这是一份可以运行的材料。&#10;&#10;它不能证明行为已经发生。路径检查只能证明指定地图上两个点之间是可达的，角色有没有真的走过去，要去读运行中的 MOVE 事实。同样，Skill 文本里写着更新公告，也不能代替一次真实的公告状态更新以及它的回放记录。&#10;&#10;所以正确的做法是：把穿门、交互、回复这些行为证据留给后续的运行验收。不然很容易把「可运行」当成「目标已达成」，报告就会写得比事实更乐观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3　预检检查材料，观察检查行为&lt;/Text&gt;&#10;            &lt;Text style={{ fontSize: 34, fontWeight: 'bold', color: '#20344B' }}&gt;预检不能证明角色穿过了门&lt;/Text&gt;&#10;        &lt;/Box&gt;&#10;    &lt;/Box&gt;&#10;&#10;    &lt;Box style={{ height: 540, flexDirection: 'column', justifyContent: 'center', gap: 14 }}&gt;&#10;&#10;        &lt;Text style={{ fontSize: 17, color: '#20344B', lineHeight: 1.6, width: 1152 }}&gt;同一份检查结果，能覆盖的和不能覆盖的，必须分开说清楚。&lt;/Text&gt;&#10;&#10;        &lt;Box style={{ flexDirection: 'row', gap: 20 }}&gt;&#10;            &lt;Box style={{ width: 566, height: 32, justifyContent: 'center' }}&gt;&#10;                &lt;Text style={{ fontSize: 16, fontWeight: 'bold', color: '#26816B' }}&gt;预检能证明&lt;/Text&gt;&#10;            &lt;/Box&gt;&#10;            &lt;Box style={{ width: 566, height: 32, justifyContent: 'center' }}&gt;&#10;                &lt;Text style={{ fontSize: 16, fontWeight: 'bold', color: '#CB6B28' }}&gt;预检不能证明&lt;/Text&gt;&#10;            &lt;/Box&gt;&#10;        &lt;/Box&gt;&#10;&#10;        &lt;Box style={{ flexDirection: 'row', gap: 20, alignItems: 'center' }}&gt;&#10;            &lt;Box style={{ width: 566, height: 88, background: '#ECF7F2', borderRadius: 8, padding: '0 20px', flexDirection: 'row', alignItems: 'center' }}&gt;&#10;                &lt;Text style={{ fontSize: 15, color: '#26816B', lineHeight: 1.5 }}&gt;材料、依赖与装配都已就位&lt;/Text&gt;&#10;            &lt;/Box&gt;&#10;            &lt;Box style={{ width: 566, height: 88, background: '#FFFFFF', borderRadius: 8, padding: '0 20px', flexDirection: 'row', alignItems: 'center', gap: 14 }}&gt;&#10;                &lt;Box style={{ width: 4, height: 44, background: '#CB6B28' }} /&gt;&#10;                &lt;Text style={{ fontSize: 15, color: '#CB6B28', lineHeight: 1.5 }}&gt;角色真的穿过门、走到该去的地方&lt;/Text&gt;&#10;            &lt;/Box&gt;&#10;        &lt;/Box&gt;&#10;&#10;        &lt;Box style={{ flexDirection: 'row', gap: 20, alignItems: 'center' }}&gt;&#10;            &lt;Box style={{ width: 566, height: 88, background: '#ECF7F2', borderRadius: 8, padding: '0 20px', flexDirection: 'row', alignItems: 'center' }}&gt;&#10;                &lt;Text style={{ fontSize: 15, color: '#26816B', lineHeight: 1.5 }}&gt;指定地图上两个点之间的可达性&lt;/Text&gt;&#10;            &lt;/Box&gt;&#10;            &lt;Box style={{ width: 566, height: 88, background: '#FFFFFF', borderRadius: 8, padding: '0 20px', flexDirection: 'row', alignItems: 'center', gap: 14 }}&gt;&#10;                &lt;Box style={{ width: 4, height: 44, background: '#CB6B28' }} /&gt;&#10;                &lt;Text style={{ fontSize: 15, color: '#CB6B28', lineHeight: 1.5 }}&gt;角色实际抵达，要读运行中的 MOVE 事实&lt;/Text&gt;&#10;            &lt;/Box&gt;&#10;        &lt;/Box&gt;&#10;&#10;        &lt;Box style={{ flexDirection: 'row', gap: 20, alignItems: 'center' }}&gt;&#10;            &lt;Box style={{ width: 566, height: 88, background: '#ECF7F2', borderRadius: 8, padding: '0 20px', flexDirection: 'row', alignItems: 'center' }}&gt;&#10;                &lt;Text style={{ fontSize: 15, color: '#26816B', lineHeight: 1.5 }}&gt;Skill 文本与模板都已随包复制&lt;/Text&gt;&#10;            &lt;/Box&gt;&#10;            &lt;Box style={{ width: 566, height: 88, background: '#FFFFFF', borderRadius: 8, padding: '0 20px', flexDirection: 'row', alignItems: 'center', gap: 14 }}&gt;&#10;                &lt;Box style={{ width: 4, height: 44, background: '#CB6B28' }} /&gt;&#10;                &lt;Text style={{ fontSize: 15, color: '#CB6B28', lineHeight: 1.5 }}&gt;真实的 SET_OBJECT_STATE 及其回放&lt;/Text&gt;&#10;            &lt;/Box&gt;&#10;        &lt;/Box&gt;&#10;&#10;        &lt;Box style={{ width: 1152, height: 72, background: '#FFF4E6', borderRadius: 8, padding: '0 20px', flexDirection: 'row', alignItems: 'center', gap: 14 }}&gt;&#10;            &lt;Box style={{ width: 4, height: 44, background: '#CB6B28' }} /&gt;&#10;            &lt;Text style={{ fontSize: 15, color: '#CB6B28', lineHeight: 1.5, flex: 1 }}&gt;把这些行为证据留给后续运行验收，才不会把「可运行」误当成「目标已达成」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预检检查材料，观察检查行为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预检不能证明角色穿过了门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09600" y="14763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同一份检查结果，能覆盖的和不能覆盖的，必须分开说清楚。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预检能证明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191250" y="19812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预检不能证明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09600" y="23622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材料、依赖与装配都已就位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191250" y="23622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6381750" y="25717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553200" y="265747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角色真的穿过门、走到该去的地方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609600" y="333375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800100" y="3629025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指定地图上两个点之间的可达性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6191250" y="333375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5" name=""/>
          <p:cNvSpPr/>
          <p:nvPr/>
        </p:nvSpPr>
        <p:spPr>
          <a:xfrm rot="0" flipH="0" flipV="0">
            <a:off x="6381750" y="35433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6553200" y="3629025"/>
            <a:ext cx="2667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角色实际抵达，要读运行中的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MOVE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事实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609600" y="43053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18954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Skill 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文本与模板都已随包复制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191250" y="43053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6381750" y="451485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553200" y="4600575"/>
            <a:ext cx="2381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真实的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SET_OBJECT_STATE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及其回放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09600" y="52768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3" name=""/>
          <p:cNvSpPr/>
          <p:nvPr/>
        </p:nvSpPr>
        <p:spPr>
          <a:xfrm rot="0" flipH="0" flipV="0">
            <a:off x="800100" y="5410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971550" y="54959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把这些行为证据留给后续运行验收，才不会把「可运行」误当成「目标已达成」。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217" name="" descr="&lt;Slide notes={`这一块讲的是整节里最需要判断的地方：封存这件事发生在哪一刻。&#10;&#10;实验本身只有两个状态，草稿和封存。封存意味着这份实验的内容不可再改，这样以后才能解释清楚某一次运行到底用了什么材料。完成、失败、暂停这些说法属于运行，与实验有没有封存是两条不同的信息。&#10;&#10;当前界面上，草稿的执行对话框里点确认执行之后，程序先等待保存，然后把实验封存，再创建运行。要提醒的是，本次没有核验过一个独立的、只做封存的前端按钮，所以不能把它写成一条已经完成的点击流程。&#10;&#10;在本次操作这一步上会分成两路：关掉对话框不会因此创建运行，但是此前的修改可能已经被保存；只有确认执行才会继续往下走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4　　3.8.4　确认执行跨过封存边界&lt;/Text&gt;&#10;&#10;        &lt;Text style={{ fontSize: 56, fontWeight: 'bold', color: '#20344B', lineHeight: 1.15 }}&gt;确认执行才跨过封存边界&lt;/Text&gt;&#10;&#10;        &lt;Box style={{ width: 72, height: 4, background: '#276FBF' }} /&gt;&#10;&#10;        &lt;Text style={{ fontSize: 18, color: '#546779', lineHeight: 1.7, width: 920 }}&gt;关闭对话框只是一次查看，确认执行才先封存实验、再创建新的运行；两者不能混为一谈。&lt;/Text&gt;&#10;&#10;        &lt;Box style={{ flexDirection: 'row', alignItems: 'center', marginTop: 10 }}&gt;&#10;            &lt;Box style={{ width: 484, height: 76, background: '#F4F7FA', borderRadius: 8, flexDirection: 'column', gap: 2, justifyContent: 'center', alignItems: 'center' }}&gt;&#10;                &lt;Text style={{ fontSize: 18, color: '#546779' }}&gt;仅查看后关闭&lt;/Text&gt;&#10;                &lt;Text style={{ fontSize: 13, color: '#546779' }}&gt;不因此创建 Run&lt;/Text&gt;&#10;            &lt;/Box&gt;&#10;            &lt;Box style={{ width: 44, height: 76, justifyContent: 'center', alignItems: 'center' }}&gt;&#10;                &lt;Text style={{ fontSize: 26, color: '#CB6B28' }}&gt;›&lt;/Text&gt;&#10;            &lt;/Box&gt;&#10;            &lt;Box style={{ width: 484, height: 76, background: '#FFF4E6', borderRadius: 8, flexDirection: 'column', gap: 2, justifyContent: 'center', alignItems: 'center' }}&gt;&#10;                &lt;Text style={{ fontSize: 18, fontWeight: 'bold', color: '#CB6B28' }}&gt;确认执行&lt;/Text&gt;&#10;                &lt;Text style={{ fontSize: 13, color: '#546779' }}&gt;封存实验 → 创建 Run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3.8.4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确认执行跨过封存边界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214312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确认执行才跨过封存边界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309562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8763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关闭对话框只是一次查看，确认执行才先封存实验、再创建新的运行；两者不能混为一谈。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4000500"/>
            <a:ext cx="4610100" cy="723900"/>
          </a:xfrm>
          <a:prstGeom prst="roundRect">
            <a:avLst>
              <a:gd name="adj" fmla="val 10526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2400300" y="41719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仅查看后关闭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2466975" y="4400550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不因此创建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91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5638800" y="4000500"/>
            <a:ext cx="4610100" cy="723900"/>
          </a:xfrm>
          <a:prstGeom prst="roundRect">
            <a:avLst>
              <a:gd name="adj" fmla="val 1052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7600950" y="41719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确认执行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7334250" y="4400550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封存实验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创建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32" name="" descr="&lt;Slide notes={`从实验概览点执行实验开始，程序先等草稿保存，然后打开执行对话框。对话框里能看到预检结果和规模估算。&#10;&#10;在本次操作这一步分成两路。第一路是只看一眼就把对话框关掉，这条路不会因此创建运行，但之前的草稿修改可能已保存。第二路是确认执行，它会再次等待保存，按需要把实验封存，然后创建新的运行。&#10;&#10;要特别说明的是：当前界面上封存和启动连在一起，本次并未核验独立的前端「只封存」按钮，所以不能写成已完成的只封存流程。&#10;&#10;另外，预检这一路的结论只覆盖材料与依赖，它不证明人物已经穿过门、完成交互或者恢复了。&#10;&#10;看到已创建仿真、但状态刷新失败的反馈，应该重新进入该仿真核对，不要连续再点执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4　确认执行跨过封存边界&lt;/Text&gt;&#10;            &lt;Text style={{ fontSize: 34, fontWeight: 'bold', color: '#20344B' }}&gt;封存边界在哪里&lt;/Text&gt;&#10;        &lt;/Box&gt;&#10;    &lt;/Box&gt;&#10;&#10;    &lt;Box style={{ height: 540, flexDirection: 'column', justifyContent: 'center', gap: 14 }}&gt;&#10;&#10;        &lt;Text style={{ fontSize: 17, color: '#20344B', lineHeight: 1.6, width: 1152 }}&gt;封存与启动在当前入口上连在一起；本次操作这一步是唯一的分岔。&lt;/Text&gt;&#10;&#10;        &lt;Box style={{ flexDirection: 'row', alignItems: 'center' }}&gt;&#10;            &lt;Box style={{ width: 354, height: 96, background: '#EDF4FC', borderRadius: 10, flexDirection: 'column', gap: 3, justifyContent: 'center', alignItems: 'center' }}&gt;&#10;                &lt;Text style={{ fontSize: 18, fontWeight: 'bold', color: '#276FBF' }}&gt;实验概览：执行实验&lt;/Text&gt;&#10;                &lt;Text style={{ fontSize: 13, color: '#546779' }}&gt;入口动作&lt;/Text&gt;&#10;            &lt;/Box&gt;&#10;            &lt;Box style={{ width: 44, height: 96, justifyContent: 'center', alignItems: 'center' }}&gt;&#10;                &lt;Text style={{ fontSize: 26, color: '#276FBF' }}&gt;›&lt;/Text&gt;&#10;            &lt;/Box&gt;&#10;            &lt;Box style={{ width: 354, height: 96, background: '#F4F7FA', borderRadius: 10, flexDirection: 'column', gap: 3, justifyContent: 'center', alignItems: 'center' }}&gt;&#10;                &lt;Text style={{ fontSize: 18, fontWeight: 'bold', color: '#20344B' }}&gt;等待草稿保存&lt;/Text&gt;&#10;                &lt;Text style={{ fontSize: 13, color: '#546779' }}&gt;先落盘，再继续&lt;/Text&gt;&#10;            &lt;/Box&gt;&#10;            &lt;Box style={{ width: 44, height: 96, justifyContent: 'center', alignItems: 'center' }}&gt;&#10;                &lt;Text style={{ fontSize: 26, color: '#276FBF' }}&gt;›&lt;/Text&gt;&#10;            &lt;/Box&gt;&#10;            &lt;Box style={{ width: 354, height: 96, background: '#EDF4FC', borderRadius: 10, flexDirection: 'column', gap: 3, justifyContent: 'center', alignItems: 'center' }}&gt;&#10;                &lt;Text style={{ fontSize: 18, fontWeight: 'bold', color: '#276FBF' }}&gt;执行对话框&lt;/Text&gt;&#10;                &lt;Text style={{ fontSize: 13, color: '#546779' }}&gt;预检 + 规模估算&lt;/Text&gt;&#10;            &lt;/Box&gt;&#10;        &lt;/Box&gt;&#10;&#10;        &lt;Text style={{ fontSize: 15, fontWeight: 'bold', color: '#546779' }}&gt;本次操作　分两路&lt;/Text&gt;&#10;&#10;        &lt;Box style={{ flexDirection: 'row', gap: 20 }}&gt;&#10;            &lt;Box style={{ width: 566, height: 118, background: '#F4F7FA', borderRadius: 10, padding: '14px 20px', flexDirection: 'column', gap: 5, justifyContent: 'center' }}&gt;&#10;                &lt;Text style={{ fontSize: 18, fontWeight: 'bold', color: '#546779' }}&gt;仅查看后关闭&lt;/Text&gt;&#10;                &lt;Text style={{ fontSize: 14, color: '#546779', lineHeight: 1.55 }}&gt;未因此创建 Run；此前的草稿修改可能已经保存，不能当作没有发生。&lt;/Text&gt;&#10;            &lt;/Box&gt;&#10;            &lt;Box style={{ width: 566, height: 118, background: '#FFF4E6', borderRadius: 10, padding: '14px 20px', flexDirection: 'column', gap: 5, justifyContent: 'center' }}&gt;&#10;                &lt;Text style={{ fontSize: 18, fontWeight: 'bold', color: '#CB6B28' }}&gt;确认执行&lt;/Text&gt;&#10;                &lt;Text style={{ fontSize: 14, color: '#546779', lineHeight: 1.55 }}&gt;再次等待保存，按需要封存实验，再创建新 Run。&lt;/Text&gt;&#10;            &lt;/Box&gt;&#10;        &lt;/Box&gt;&#10;&#10;        &lt;Box style={{ width: 1152, height: 72, background: '#FFFFFF', borderRadius: 8, padding: '0 20px', flexDirection: 'row', alignItems: 'center', gap: 14 }}&gt;&#10;            &lt;Box style={{ width: 4, height: 44, background: '#CB6B28' }} /&gt;&#10;            &lt;Text style={{ fontSize: 14, color: '#CB6B28', lineHeight: 1.5, flex: 1 }}&gt;预检核对的是材料与依赖，不证明穿门、交互或恢复已经通过；当前入口没有独立的「只封存」按钮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266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确认执行跨过封存边界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2669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封存边界在哪里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18478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封存与启动在当前入口上连在一起；本次操作这一步是唯一的分岔。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2295525"/>
            <a:ext cx="33718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524000" y="2562225"/>
            <a:ext cx="1543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实验概览：执行实验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2047875" y="2800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入口动作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4152900" y="2600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2" name=""/>
          <p:cNvSpPr/>
          <p:nvPr/>
        </p:nvSpPr>
        <p:spPr>
          <a:xfrm rot="0" flipH="0" flipV="0">
            <a:off x="4400550" y="2295525"/>
            <a:ext cx="337185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5572125" y="256222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0344B"/>
                </a:solidFill>
                <a:latin typeface="Microsoft YaHei"/>
                <a:ea typeface="Microsoft YaHei"/>
              </a:rPr>
              <a:t>等待草稿保存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5657850" y="280035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先落盘，再继续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7943850" y="2600325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8191500" y="2295525"/>
            <a:ext cx="3371850" cy="914400"/>
          </a:xfrm>
          <a:prstGeom prst="roundRect">
            <a:avLst>
              <a:gd name="adj" fmla="val 1041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448800" y="256222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执行对话框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9420225" y="280035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预检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规模估算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609600" y="3343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本次操作　分两路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609600" y="3648075"/>
            <a:ext cx="539115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00100" y="3952875"/>
            <a:ext cx="501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546779"/>
                </a:solidFill>
                <a:latin typeface="Microsoft YaHei"/>
                <a:ea typeface="Microsoft YaHei"/>
              </a:rPr>
              <a:t>仅查看后关闭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800100" y="421005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未因此创建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；此前的草稿修改可能已经保存，不能当作没有发生。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6191250" y="3648075"/>
            <a:ext cx="539115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381750" y="3952875"/>
            <a:ext cx="50101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确认执行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6381750" y="4210050"/>
            <a:ext cx="501015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再次等待保存，按需要封存实验，再创建新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609600" y="490537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7" name=""/>
          <p:cNvSpPr/>
          <p:nvPr/>
        </p:nvSpPr>
        <p:spPr>
          <a:xfrm rot="0" flipH="0" flipV="0">
            <a:off x="800100" y="50387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971550" y="5124450"/>
            <a:ext cx="104203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预检核对的是材料与依赖，不证明穿门、交互或恢复已经通过；当前入口没有独立的「只封存」按钮。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61" name="" descr="&lt;Slide notes={`这里要把两条容易混淆的信息彻底分开。&#10;&#10;实验本身只有两个状态：草稿和封存。草稿说明材料还可以改，封存说明这份实验的内容不能再改，目的是让以后能解释清楚某一次运行用的是哪份材料。&#10;&#10;完成、失败、暂停这些说法属于运行，它们说明的是这次仿真走到了哪里，和实验有没有封存没有关系。一份已经封存的实验，可以反复执行，创建出多个运行。&#10;&#10;所以报告里写状态时，要先问自己写的是哪一条。写实验状态，说的是材料；写运行状态，说的是这一次执行。两者不能互相代替，也不能因为运行完成了就以为实验应该变成别的状态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4　确认执行跨过封存边界&lt;/Text&gt;&#10;            &lt;Text style={{ fontSize: 34, fontWeight: 'bold', color: '#20344B' }}&gt;实验状态与运行状态是两条信息&lt;/Text&gt;&#10;        &lt;/Box&gt;&#10;    &lt;/Box&gt;&#10;&#10;    &lt;Box style={{ height: 540, flexDirection: 'column', justifyContent: 'center', gap: 14 }}&gt;&#10;&#10;        &lt;Text style={{ fontSize: 17, color: '#20344B', lineHeight: 1.6, width: 1152 }}&gt;同一次操作里会出现两种状态，它们各自回答不同的问题。&lt;/Text&gt;&#10;&#10;        &lt;Box style={{ flexDirection: 'row', gap: 20 }}&gt;&#10;            &lt;Box style={{ width: 566, height: 32, justifyContent: 'center' }}&gt;&#10;                &lt;Text style={{ fontSize: 16, fontWeight: 'bold', color: '#276FBF' }}&gt;实验状态　材料可不可以改&lt;/Text&gt;&#10;            &lt;/Box&gt;&#10;            &lt;Box style={{ width: 566, height: 32, justifyContent: 'center' }}&gt;&#10;                &lt;Text style={{ fontSize: 16, fontWeight: 'bold', color: '#26816B' }}&gt;运行状态　这次仿真走到哪里&lt;/Text&gt;&#10;            &lt;/Box&gt;&#10;        &lt;/Box&gt;&#10;&#10;        &lt;Box style={{ flexDirection: 'row', gap: 20, alignItems: 'center' }}&gt;&#10;            &lt;Box style={{ width: 566, height: 88, background: '#EDF4FC', borderRadius: 8, padding: '0 20px', flexDirection: 'row', alignItems: 'center' }}&gt;&#10;                &lt;Text style={{ fontSize: 15, color: '#276FBF', lineHeight: 1.5 }}&gt;只有两个状态：DRAFT → SEALED&lt;/Text&gt;&#10;            &lt;/Box&gt;&#10;            &lt;Box style={{ width: 566, height: 88, background: '#ECF7F2', borderRadius: 8, padding: '0 20px', flexDirection: 'row', alignItems: 'center' }}&gt;&#10;                &lt;Text style={{ fontSize: 15, color: '#26816B', lineHeight: 1.5 }}&gt;完成、失败、暂停都属于 Run&lt;/Text&gt;&#10;            &lt;/Box&gt;&#10;        &lt;/Box&gt;&#10;&#10;        &lt;Box style={{ flexDirection: 'row', gap: 20, alignItems: 'center' }}&gt;&#10;            &lt;Box style={{ width: 566, height: 88, background: '#EDF4FC', borderRadius: 8, padding: '0 20px', flexDirection: 'row', alignItems: 'center' }}&gt;&#10;                &lt;Text style={{ fontSize: 15, color: '#276FBF', lineHeight: 1.5 }}&gt;封存后内容不可再改&lt;/Text&gt;&#10;            &lt;/Box&gt;&#10;            &lt;Box style={{ width: 566, height: 88, background: '#ECF7F2', borderRadius: 8, padding: '0 20px', flexDirection: 'row', alignItems: 'center' }}&gt;&#10;                &lt;Text style={{ fontSize: 15, color: '#26816B', lineHeight: 1.5 }}&gt;同一实验可以执行多次，得到多个 Run&lt;/Text&gt;&#10;            &lt;/Box&gt;&#10;        &lt;/Box&gt;&#10;&#10;        &lt;Box style={{ flexDirection: 'row', gap: 20, alignItems: 'center' }}&gt;&#10;            &lt;Box style={{ width: 566, height: 88, background: '#EDF4FC', borderRadius: 8, padding: '0 20px', flexDirection: 'row', alignItems: 'center' }}&gt;&#10;                &lt;Text style={{ fontSize: 15, color: '#276FBF', lineHeight: 1.5 }}&gt;用来解释某次运行用了什么材料&lt;/Text&gt;&#10;            &lt;/Box&gt;&#10;            &lt;Box style={{ width: 566, height: 88, background: '#ECF7F2', borderRadius: 8, padding: '0 20px', flexDirection: 'row', alignItems: 'center' }}&gt;&#10;                &lt;Text style={{ fontSize: 15, color: '#26816B', lineHeight: 1.5 }}&gt;用来解释这次执行的结果是什么&lt;/Text&gt;&#10;            &lt;/Box&gt;&#10;        &lt;/Box&gt;&#10;&#10;        &lt;Box style={{ width: 1152, height: 72, background: '#FFF4E6', borderRadius: 8, padding: '0 20px', flexDirection: 'row', alignItems: 'center', gap: 14 }}&gt;&#10;            &lt;Box style={{ width: 4, height: 44, background: '#CB6B28' }} /&gt;&#10;            &lt;Text style={{ fontSize: 15, color: '#CB6B28', lineHeight: 1.5, flex: 1 }}&gt;运行结束不等于实验改变状态；写成一条信息，报告就会自相矛盾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6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确认执行跨过封存边界</a:t>
            </a:r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实验状态与运行状态是两条信息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609600" y="1476375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同一次操作里会出现两种状态，它们各自回答不同的问题。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609600" y="19812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实验状态　材料可不可以改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191250" y="1981200"/>
            <a:ext cx="5391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6816B"/>
                </a:solidFill>
                <a:latin typeface="Microsoft YaHei"/>
                <a:ea typeface="Microsoft YaHei"/>
              </a:rPr>
              <a:t>运行状态　这次仿真走到哪里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23622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800100" y="2657475"/>
            <a:ext cx="22193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只有两个状态：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DRAFT → SEALED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6191250" y="23622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6381750" y="2657475"/>
            <a:ext cx="18859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完成、失败、暂停都属于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609600" y="333375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800100" y="3629025"/>
            <a:ext cx="12858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封存后内容不可再改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6191250" y="333375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6381750" y="3629025"/>
            <a:ext cx="2457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同一实验可以执行多次，得到多个</a:t>
            </a: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09600" y="43053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用来解释某次运行用了什么材料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191250" y="4305300"/>
            <a:ext cx="5391150" cy="838200"/>
          </a:xfrm>
          <a:prstGeom prst="roundRect">
            <a:avLst>
              <a:gd name="adj" fmla="val 909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6381750" y="4600575"/>
            <a:ext cx="20002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用来解释这次执行的结果是什么</a:t>
            </a:r>
            <a:endParaRPr/>
          </a:p>
        </p:txBody>
      </p:sp>
      <p:sp>
        <p:nvSpPr>
          <p:cNvPr id="281" name=""/>
          <p:cNvSpPr/>
          <p:nvPr/>
        </p:nvSpPr>
        <p:spPr>
          <a:xfrm rot="0" flipH="0" flipV="0">
            <a:off x="609600" y="5276850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82" name=""/>
          <p:cNvSpPr/>
          <p:nvPr/>
        </p:nvSpPr>
        <p:spPr>
          <a:xfrm rot="0" flipH="0" flipV="0">
            <a:off x="800100" y="5410200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971550" y="5495925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运行结束不等于实验改变状态；写成一条信息，报告就会自相矛盾。</a:t>
            </a:r>
            <a:endParaRPr/>
          </a:p>
        </p:txBody>
      </p:sp>
      <p:sp>
        <p:nvSpPr>
          <p:cNvPr id="28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86" name="" descr="&lt;Slide notes={`封存之后如果需要修改，比如要改周宁的 SOP 或者公告内容，做法不是给原实验打补丁，而是用复制实验产生一份新的独立草稿，再在这份副本上改。&#10;&#10;复制会生成一个新的实验 UUID，它不是给原实验增加一个 Revision。原实验和它已经产生的运行，继续用来说明原来的条件；新副本用来说明新的条件。&#10;&#10;还有一种情况要分清：对一个已经封存的实验再次执行，是在相同的实验内容下创建另一个运行，这不等于复制并修改实验。前者是同一份材料多跑几次，后者是换了一份材料。&#10;&#10;操作过程中如果出现已创建仿真、但状态刷新失败的反馈，应该重新进入那个仿真核对，不要连续再点执行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4　确认执行跨过封存边界&lt;/Text&gt;&#10;            &lt;Text style={{ fontSize: 34, fontWeight: 'bold', color: '#20344B' }}&gt;已封存要改，就复制成新实验&lt;/Text&gt;&#10;        &lt;/Box&gt;&#10;    &lt;/Box&gt;&#10;&#10;    &lt;Box style={{ height: 540, flexDirection: 'row', alignItems: 'center', gap: 16 }}&gt;&#10;&#10;        &lt;Box style={{ width: 630, flexDirection: 'column', gap: 14 }}&gt;&#10;            &lt;Text style={{ fontSize: 17, fontWeight: 'bold', color: '#276FBF' }}&gt;复制实验　产生新副本&lt;/Text&gt;&#10;&#10;            &lt;Box style={{ width: 630, height: 116, background: '#EDF4FC', borderRadius: 10, padding: '14px 20px', flexDirection: 'column', gap: 5, justifyContent: 'center' }}&gt;&#10;                &lt;Text style={{ fontSize: 17, fontWeight: 'bold', color: '#276FBF' }}&gt;生成新的实验 UUID&lt;/Text&gt;&#10;                &lt;Text style={{ fontSize: 14, color: '#546779', lineHeight: 1.5 }}&gt;副本是一份新身份，与原实验各自独立。&lt;/Text&gt;&#10;            &lt;/Box&gt;&#10;&#10;            &lt;Box style={{ width: 630, height: 116, background: '#FFF4E6', borderRadius: 10, padding: '14px 20px', flexDirection: 'column', gap: 5, justifyContent: 'center' }}&gt;&#10;                &lt;Text style={{ fontSize: 17, fontWeight: 'bold', color: '#CB6B28' }}&gt;不是给原实验加 Revision&lt;/Text&gt;&#10;                &lt;Text style={{ fontSize: 14, color: '#546779', lineHeight: 1.5 }}&gt;不建立业务 Revision，两条记录各自成立。&lt;/Text&gt;&#10;            &lt;/Box&gt;&#10;&#10;            &lt;Box style={{ width: 630, height: 116, background: '#F4F7FA', borderRadius: 10, padding: '14px 20px', flexDirection: 'column', gap: 5, justifyContent: 'center' }}&gt;&#10;                &lt;Text style={{ fontSize: 17, fontWeight: 'bold', color: '#20344B' }}&gt;两份材料各说明一件事&lt;/Text&gt;&#10;                &lt;Text style={{ fontSize: 14, color: '#546779', lineHeight: 1.5 }}&gt;原实验与原 Run 说明原来的条件，新副本说明新的条件。&lt;/Text&gt;&#10;            &lt;/Box&gt;&#10;        &lt;/Box&gt;&#10;&#10;        &lt;Box style={{ width: 506, flexDirection: 'column', gap: 14 }}&gt;&#10;            &lt;Text style={{ fontSize: 17, fontWeight: 'bold', color: '#20344B' }}&gt;再次执行　同一份内容&lt;/Text&gt;&#10;&#10;            &lt;Box style={{ width: 506, height: 116, background: '#ECF7F2', borderRadius: 10, padding: '14px 20px', flexDirection: 'column', gap: 5, justifyContent: 'center' }}&gt;&#10;                &lt;Text style={{ fontSize: 17, fontWeight: 'bold', color: '#26816B' }}&gt;创建另一个 Run&lt;/Text&gt;&#10;                &lt;Text style={{ fontSize: 14, color: '#546779', lineHeight: 1.5 }}&gt;在相同的实验内容下再跑一次。&lt;/Text&gt;&#10;            &lt;/Box&gt;&#10;&#10;            &lt;Box style={{ width: 506, height: 116, background: '#F4F7FA', borderRadius: 10, padding: '14px 20px', flexDirection: 'column', gap: 5, justifyContent: 'center' }}&gt;&#10;                &lt;Text style={{ fontSize: 17, fontWeight: 'bold', color: '#20344B' }}&gt;不等于复制并修改实验&lt;/Text&gt;&#10;                &lt;Text style={{ fontSize: 14, color: '#546779', lineHeight: 1.5 }}&gt;材料没有换，只是执行次数增加。&lt;/Text&gt;&#10;            &lt;/Box&gt;&#10;&#10;            &lt;Box style={{ width: 506, height: 116, background: '#FFFFFF', borderRadius: 10, padding: '14px 20px', flexDirection: 'column', gap: 5, justifyContent: 'center' }}&gt;&#10;                &lt;Text style={{ fontSize: 17, fontWeight: 'bold', color: '#546779' }}&gt;反馈与状态要分开读&lt;/Text&gt;&#10;                &lt;Text style={{ fontSize: 14, color: '#546779', lineHeight: 1.5 }}&gt;操作提示说明一次请求的结果，Run 状态说明执行走到哪里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确认执行跨过封存边界</a:t>
            </a:r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已封存要改，就复制成新实验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6000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复制实验　产生新副本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09600" y="2095500"/>
            <a:ext cx="600075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800100" y="2400300"/>
            <a:ext cx="561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生成新的实验</a:t>
            </a:r>
            <a:r>
              <a:rPr lang="en-US" sz="1275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UUID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800100" y="2647950"/>
            <a:ext cx="5619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副本是一份新身份，与原实验各自独立。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609600" y="3333750"/>
            <a:ext cx="600075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800100" y="3638550"/>
            <a:ext cx="561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不是给原实验加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Revision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800100" y="3886200"/>
            <a:ext cx="5619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不建立业务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Revision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，两条记录各自成立。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609600" y="4572000"/>
            <a:ext cx="600075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800100" y="4876800"/>
            <a:ext cx="561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两份材料各说明一件事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800100" y="5124450"/>
            <a:ext cx="56197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原实验与原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说明原来的条件，新副本说明新的条件。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762750" y="1762125"/>
            <a:ext cx="4819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再次执行　同一份内容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762750" y="2095500"/>
            <a:ext cx="481965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6953250" y="240030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创建另一个</a:t>
            </a:r>
            <a:r>
              <a:rPr lang="en-US" sz="1275" b="1">
                <a:solidFill>
                  <a:srgbClr val="26816B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953250" y="2647950"/>
            <a:ext cx="4438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在相同的实验内容下再跑一次。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6762750" y="3333750"/>
            <a:ext cx="481965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6953250" y="363855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不等于复制并修改实验</a:t>
            </a:r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6953250" y="3886200"/>
            <a:ext cx="4438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材料没有换，只是执行次数增加。</a:t>
            </a:r>
            <a:endParaRPr/>
          </a:p>
        </p:txBody>
      </p:sp>
      <p:sp>
        <p:nvSpPr>
          <p:cNvPr id="308" name=""/>
          <p:cNvSpPr/>
          <p:nvPr/>
        </p:nvSpPr>
        <p:spPr>
          <a:xfrm rot="0" flipH="0" flipV="0">
            <a:off x="6762750" y="4572000"/>
            <a:ext cx="4819650" cy="11049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953250" y="4876800"/>
            <a:ext cx="4438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546779"/>
                </a:solidFill>
                <a:latin typeface="Microsoft YaHei"/>
                <a:ea typeface="Microsoft YaHei"/>
              </a:rPr>
              <a:t>反馈与状态要分开读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953250" y="5124450"/>
            <a:ext cx="4438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操作提示说明一次请求的结果，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状态说明执行走到哪里。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49" name="" descr="&lt;Slide notes={`最后一块讲归档、恢复和删除。这三件事听起来很重，其实都只在展示管理这一层。&#10;&#10;实验中心每页固定显示五条，保留负责人、标签、分页和归档范围选择。可以在当前、已归档以及全部这几个范围之间切换。&#10;&#10;这里的归档既不把草稿变成封存实验，也不把某个运行变成完成状态。恢复同样只是让它回到默认范围里显示出来。删除也是针对列表里那条记录，不会反过来改写实验内容和运行结果。&#10;&#10;所以练习的时候要养成一个习惯：分别记录复制得到了哪个新身份、哪份内容被改了、哪条记录进了归档、删除的是哪一份材料。这四句话写清楚，证据链才站得住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5　　3.8.5　在练习副本中理解归档、恢复和删除&lt;/Text&gt;&#10;&#10;        &lt;Text style={{ fontSize: 56, fontWeight: 'bold', color: '#20344B', lineHeight: 1.15 }}&gt;归档、恢复与删除只是展示管理&lt;/Text&gt;&#10;&#10;        &lt;Box style={{ width: 72, height: 4, background: '#276FBF' }} /&gt;&#10;&#10;        &lt;Text style={{ fontSize: 18, color: '#546779', lineHeight: 1.7, width: 920 }}&gt;列表固定在每页五条，范围可以在当前、已归档与全部之间切换；这些操作都不改动实验与运行的状态。&lt;/Text&gt;&#10;&#10;        &lt;Box style={{ flexDirection: 'row', alignItems: 'center', marginTop: 10 }}&gt;&#10;            &lt;Box style={{ width: 340, height: 64, background: '#F4F7FA', borderRadius: 8, justifyContent: 'center', alignItems: 'center' }}&gt;&#10;                &lt;Text style={{ fontSize: 18, color: '#546779' }}&gt;归档&lt;/Text&gt;&#10;            &lt;/Box&gt;&#10;            &lt;Box style={{ width: 44, height: 64, justifyContent: 'center', alignItems: 'center' }}&gt;&#10;                &lt;Text style={{ fontSize: 26, color: '#546779' }}&gt;›&lt;/Text&gt;&#10;            &lt;/Box&gt;&#10;            &lt;Box style={{ width: 340, height: 64, background: '#F4F7FA', borderRadius: 8, justifyContent: 'center', alignItems: 'center' }}&gt;&#10;                &lt;Text style={{ fontSize: 18, color: '#546779' }}&gt;恢复&lt;/Text&gt;&#10;            &lt;/Box&gt;&#10;            &lt;Box style={{ width: 44, height: 64, justifyContent: 'center', alignItems: 'center' }}&gt;&#10;                &lt;Text style={{ fontSize: 26, color: '#546779' }}&gt;›&lt;/Text&gt;&#10;            &lt;/Box&gt;&#10;            &lt;Box style={{ width: 340, height: 64, background: '#FFF4E6', borderRadius: 8, justifyContent: 'center', alignItems: 'center' }}&gt;&#10;                &lt;Text style={{ fontSize: 18, fontWeight: 'bold', color: '#CB6B28' }}&gt;删除其中一份副本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3.8.5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在练习副本中理解归档、恢复和删除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归档、恢复与删除只是展示管理</a:t>
            </a:r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7630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列表固定在每页五条，范围可以在当前、已归档与全部之间切换；这些操作都不改动实验与运行的状态。</a:t>
            </a:r>
            <a:endParaRPr/>
          </a:p>
        </p:txBody>
      </p:sp>
      <p:sp>
        <p:nvSpPr>
          <p:cNvPr id="355" name=""/>
          <p:cNvSpPr/>
          <p:nvPr/>
        </p:nvSpPr>
        <p:spPr>
          <a:xfrm rot="0" flipH="0" flipV="0">
            <a:off x="6096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20574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归档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019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42672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5715000" y="4257675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恢复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7677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546779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7924800" y="4057650"/>
            <a:ext cx="3238500" cy="609600"/>
          </a:xfrm>
          <a:prstGeom prst="roundRect">
            <a:avLst>
              <a:gd name="adj" fmla="val 125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8858250" y="4257675"/>
            <a:ext cx="1371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删除其中一份副本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65" name="" descr="&lt;Slide notes={`实验中心的列表每页固定显示五条，同时保留负责人、标签、分页和归档范围的选择，这几项在核对身份的时候很有用。&#10;&#10;范围可以选择当前、已归档，以及全部。归档之后，它会从默认范围里消失，切到已归档或者全部就能重新找到它，恢复也是在这个位置完成的。&#10;&#10;要强调的是，归档只影响展示，它不是状态迁移。归档不会把一份草稿变成封存实验，也不会把某个运行变成完成。删除同理，它针对的是列表里的那条记录。&#10;&#10;所以用列表判断事情的时候，先确认三件事：当前在哪个范围、看到的实验是哪一份身份、其他筛选条件有没有影响结果。只看徽标颜色容易出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5　在练习副本中理解归档、恢复和删除&lt;/Text&gt;&#10;            &lt;Text style={{ fontSize: 34, fontWeight: 'bold', color: '#20344B' }}&gt;归档不改实验状态&lt;/Text&gt;&#10;        &lt;/Box&gt;&#10;    &lt;/Box&gt;&#10;&#10;    &lt;Box style={{ height: 540, flexDirection: 'row', alignItems: 'center', gap: 22 }}&gt;&#10;&#10;        &lt;Box style={{ width: 698, height: 440, background: '#F4F7FA', borderRadius: 12, flexDirection: 'column' }}&gt;&#10;            &lt;Box style={{ width: 698, height: 44, background: '#276FBF', borderRadius: 12, padding: '0 18px', flexDirection: 'row', alignItems: 'center', gap: 12 }}&gt;&#10;                &lt;Text style={{ fontSize: 16, fontWeight: 'bold', color: '#FFFFFF' }}&gt;实验中心　实验列表&lt;/Text&gt;&#10;                &lt;Box style={{ flex: 1 }} /&gt;&#10;                &lt;Box style={{ width: 56, height: 26, background: '#FFFFFF', borderRadius: 6, justifyContent: 'center', alignItems: 'center' }}&gt;&#10;                    &lt;Text style={{ fontSize: 13, color: '#276FBF' }}&gt;示意&lt;/Text&gt;&#10;                &lt;/Box&gt;&#10;            &lt;/Box&gt;&#10;            &lt;Box style={{ padding: 18, flexDirection: 'column', gap: 10 }}&gt;&#10;                &lt;Box style={{ flexDirection: 'row', gap: 12, alignItems: 'center' }}&gt;&#10;                    &lt;Box style={{ width: 104, height: 36, background: '#276FBF', borderRadius: 8, justifyContent: 'center', alignItems: 'center' }}&gt;&#10;                        &lt;Text style={{ fontSize: 14, fontWeight: 'bold', color: '#FFFFFF' }}&gt;当前&lt;/Text&gt;&#10;                    &lt;/Box&gt;&#10;                    &lt;Box style={{ width: 104, height: 36, background: '#FFFFFF', borderRadius: 8, justifyContent: 'center', alignItems: 'center' }}&gt;&#10;                        &lt;Text style={{ fontSize: 14, color: '#546779' }}&gt;已归档&lt;/Text&gt;&#10;                    &lt;/Box&gt;&#10;                    &lt;Box style={{ width: 104, height: 36, background: '#FFFFFF', borderRadius: 8, justifyContent: 'center', alignItems: 'center' }}&gt;&#10;                        &lt;Text style={{ fontSize: 14, color: '#546779' }}&gt;全部&lt;/Text&gt;&#10;                    &lt;/Box&gt;&#10;                    &lt;Text style={{ fontSize: 13, color: '#546779', flex: 1 }}&gt;归档范围选择&lt;/Text&gt;&#10;                &lt;/Box&gt;&#10;&#10;                &lt;Box style={{ width: 662, height: 44, background: '#FFFFFF', borderRadius: 6, padding: '0 14px', flexDirection: 'row', alignItems: 'center', gap: 12 }}&gt;&#10;                    &lt;Text style={{ fontSize: 15, fontWeight: 'bold', color: '#20344B', width: 196 }}&gt;青禾开放日　正式实验&lt;/Text&gt;&#10;                    &lt;Text style={{ fontSize: 13, color: '#546779', width: 88 }}&gt;负责人 林岚&lt;/Text&gt;&#10;                    &lt;Box style={{ flex: 1 }} /&gt;&#10;                    &lt;Box style={{ width: 72, height: 24, background: '#EDF4FC', borderRadius: 6, justifyContent: 'center', alignItems: 'center' }}&gt;&#10;                        &lt;Text style={{ fontSize: 12, color: '#276FBF' }}&gt;DRAFT&lt;/Text&gt;&#10;                    &lt;/Box&gt;&#10;                &lt;/Box&gt;&#10;                &lt;Box style={{ width: 662, height: 44, background: '#FFFFFF', borderRadius: 6, padding: '0 14px', flexDirection: 'row', alignItems: 'center', gap: 12 }}&gt;&#10;                    &lt;Text style={{ fontSize: 15, fontWeight: 'bold', color: '#20344B', width: 196 }}&gt;青禾开放日　练习副本&lt;/Text&gt;&#10;                    &lt;Text style={{ fontSize: 13, color: '#546779', width: 88 }}&gt;负责人 林岚&lt;/Text&gt;&#10;                    &lt;Box style={{ flex: 1 }} /&gt;&#10;                    &lt;Box style={{ width: 72, height: 24, background: '#EDF4FC', borderRadius: 6, justifyContent: 'center', alignItems: 'center' }}&gt;&#10;                        &lt;Text style={{ fontSize: 12, color: '#276FBF' }}&gt;DRAFT&lt;/Text&gt;&#10;                    &lt;/Box&gt;&#10;                &lt;/Box&gt;&#10;                &lt;Box style={{ width: 662, height: 44, background: '#FFFFFF', borderRadius: 6, padding: '0 14px', flexDirection: 'row', alignItems: 'center', gap: 12 }}&gt;&#10;                    &lt;Text style={{ fontSize: 15, fontWeight: 'bold', color: '#20344B', width: 196 }}&gt;青禾开放日　第一轮运行&lt;/Text&gt;&#10;                    &lt;Text style={{ fontSize: 13, color: '#546779', width: 88 }}&gt;负责人 林岚&lt;/Text&gt;&#10;                    &lt;Box style={{ flex: 1 }} /&gt;&#10;                    &lt;Box style={{ width: 72, height: 24, background: '#ECF7F2', borderRadius: 6, justifyContent: 'center', alignItems: 'center' }}&gt;&#10;                        &lt;Text style={{ fontSize: 12, color: '#26816B' }}&gt;SEALED&lt;/Text&gt;&#10;                    &lt;/Box&gt;&#10;                &lt;/Box&gt;&#10;                &lt;Box style={{ width: 662, height: 44, background: '#FFFFFF', borderRadius: 6, padding: '0 14px', flexDirection: 'row', alignItems: 'center', gap: 12 }}&gt;&#10;                    &lt;Text style={{ fontSize: 15, fontWeight: 'bold', color: '#20344B', width: 196 }}&gt;邻居节　旧方案对照&lt;/Text&gt;&#10;                    &lt;Text style={{ fontSize: 13, color: '#546779', width: 88 }}&gt;负责人 陈晨&lt;/Text&gt;&#10;                    &lt;Box style={{ flex: 1 }} /&gt;&#10;                    &lt;Box style={{ width: 72, height: 24, background: '#F4F7FA', borderRadius: 6, justifyContent: 'center', alignItems: 'center' }}&gt;&#10;                        &lt;Text style={{ fontSize: 12, color: '#546779' }}&gt;归档中&lt;/Text&gt;&#10;                    &lt;/Box&gt;&#10;                &lt;/Box&gt;&#10;                &lt;Box style={{ width: 662, height: 44, background: '#FFFFFF', borderRadius: 6, padding: '0 14px', flexDirection: 'row', alignItems: 'center', gap: 12 }}&gt;&#10;                    &lt;Text style={{ fontSize: 15, fontWeight: 'bold', color: '#20344B', width: 196 }}&gt;春季工作坊　试跑&lt;/Text&gt;&#10;                    &lt;Text style={{ fontSize: 13, color: '#546779', width: 88 }}&gt;负责人 周宁&lt;/Text&gt;&#10;                    &lt;Box style={{ flex: 1 }} /&gt;&#10;                    &lt;Box style={{ width: 72, height: 24, background: '#F4F7FA', borderRadius: 6, justifyContent: 'center', alignItems: 'center' }}&gt;&#10;                        &lt;Text style={{ fontSize: 12, color: '#546779' }}&gt;归档中&lt;/Text&gt;&#10;                    &lt;/Box&gt;&#10;                &lt;/Box&gt;&#10;&#10;                &lt;Text style={{ fontSize: 13, color: '#546779' }}&gt;每页固定 5 条，保留负责人、标签与分页。&lt;/Text&gt;&#10;            &lt;/Box&gt;&#10;        &lt;/Box&gt;&#10;&#10;        &lt;Box style={{ width: 432, flexDirection: 'column', gap: 12 }}&gt;&#10;            &lt;Text style={{ fontSize: 17, color: '#546779', lineHeight: 1.6, width: 432 }}&gt;列表与归档范围只决定「看不看得见」，不决定状态。&lt;/Text&gt;&#10;            &lt;Box style={{ width: 432, height: 128, background: '#EDF4FC', borderRadius: 10, padding: '14px 20px', flexDirection: 'column', gap: 5, justifyContent: 'center' }}&gt;&#10;                &lt;Text style={{ fontSize: 17, fontWeight: 'bold', color: '#276FBF' }}&gt;三个范围之间切换&lt;/Text&gt;&#10;                &lt;Text style={{ fontSize: 14, color: '#546779', lineHeight: 1.5 }}&gt;归档后从对应范围恢复，内容仍然在。&lt;/Text&gt;&#10;            &lt;/Box&gt;&#10;            &lt;Box style={{ width: 432, height: 140, background: '#FFF4E6', borderRadius: 10, padding: '14px 20px', flexDirection: 'column', gap: 5, justifyContent: 'center' }}&gt;&#10;                &lt;Text style={{ fontSize: 17, fontWeight: 'bold', color: '#CB6B28' }}&gt;归档不改变状态&lt;/Text&gt;&#10;                &lt;Text style={{ fontSize: 14, color: '#546779', lineHeight: 1.5 }}&gt;既不把草稿变成封存实验，也不把某个 Run 变成完成状态。&lt;/Text&gt;&#10;            &lt;/Box&gt;&#10;            &lt;Box style={{ width: 432, height: 116, background: '#F4F7FA', borderRadius: 10, padding: '14px 20px', flexDirection: 'column', gap: 5, justifyContent: 'center' }}&gt;&#10;                &lt;Text style={{ fontSize: 17, fontWeight: 'bold', color: '#20344B' }}&gt;先确认看到的是哪一份&lt;/Text&gt;&#10;                &lt;Text style={{ fontSize: 14, color: '#546779', lineHeight: 1.5 }}&gt;范围、身份与筛选条件都确认过，再判断状态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在练习副本中理解归档、恢复和删除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归档不改实验状态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1619250"/>
            <a:ext cx="6648450" cy="4191000"/>
          </a:xfrm>
          <a:prstGeom prst="roundRect">
            <a:avLst>
              <a:gd name="adj" fmla="val 272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1" name=""/>
          <p:cNvSpPr/>
          <p:nvPr/>
        </p:nvSpPr>
        <p:spPr>
          <a:xfrm rot="0" flipH="0" flipV="0">
            <a:off x="609600" y="1619250"/>
            <a:ext cx="6648450" cy="419100"/>
          </a:xfrm>
          <a:prstGeom prst="roundRect">
            <a:avLst>
              <a:gd name="adj" fmla="val 27273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781050" y="17335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Microsoft YaHei"/>
                <a:ea typeface="Microsoft YaHei"/>
              </a:rPr>
              <a:t>实验中心　实验列表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6553200" y="170497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6696075" y="17526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375" name=""/>
          <p:cNvSpPr/>
          <p:nvPr/>
        </p:nvSpPr>
        <p:spPr>
          <a:xfrm rot="0" flipH="0" flipV="0">
            <a:off x="781050" y="2209800"/>
            <a:ext cx="990600" cy="342900"/>
          </a:xfrm>
          <a:prstGeom prst="roundRect">
            <a:avLst>
              <a:gd name="adj" fmla="val 2222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1143000" y="2305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当前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1885950" y="2209800"/>
            <a:ext cx="9906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2181225" y="230505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已归档</a:t>
            </a:r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2990850" y="2209800"/>
            <a:ext cx="990600" cy="3429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3352800" y="23050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全部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4095750" y="2305050"/>
            <a:ext cx="2990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归档范围选择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781050" y="2647950"/>
            <a:ext cx="63055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914400" y="27717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青禾开放日　正式实验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2895600" y="27813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负责人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6267450" y="274320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6429375" y="27908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781050" y="3162300"/>
            <a:ext cx="63055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14400" y="32861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青禾开放日　练习副本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2895600" y="32956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负责人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267450" y="325755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6429375" y="33051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76FBF"/>
                </a:solidFill>
                <a:latin typeface="Microsoft YaHei"/>
                <a:ea typeface="Microsoft YaHei"/>
              </a:rPr>
              <a:t>DRAFT</a:t>
            </a:r>
            <a:endParaRPr/>
          </a:p>
        </p:txBody>
      </p:sp>
      <p:sp>
        <p:nvSpPr>
          <p:cNvPr id="392" name=""/>
          <p:cNvSpPr/>
          <p:nvPr/>
        </p:nvSpPr>
        <p:spPr>
          <a:xfrm rot="0" flipH="0" flipV="0">
            <a:off x="781050" y="3676650"/>
            <a:ext cx="63055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914400" y="38004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青禾开放日　第一轮运行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2895600" y="38100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负责人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林岚</a:t>
            </a:r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6267450" y="377190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400800" y="3819525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6816B"/>
                </a:solidFill>
                <a:latin typeface="Microsoft YaHei"/>
                <a:ea typeface="Microsoft YaHei"/>
              </a:rPr>
              <a:t>SEALED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781050" y="4191000"/>
            <a:ext cx="63055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914400" y="431482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邻居节　旧方案对照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2895600" y="43243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负责人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陈晨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267450" y="428625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6438900" y="433387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归档中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781050" y="4705350"/>
            <a:ext cx="6305550" cy="419100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914400" y="4829175"/>
            <a:ext cx="1866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春季工作坊　试跑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2895600" y="483870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负责人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周宁</a:t>
            </a:r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6267450" y="4800600"/>
            <a:ext cx="685800" cy="228600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6438900" y="48482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546779"/>
                </a:solidFill>
                <a:latin typeface="Microsoft YaHei"/>
                <a:ea typeface="Microsoft YaHei"/>
              </a:rPr>
              <a:t>归档中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781050" y="5219700"/>
            <a:ext cx="630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每页固定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条，保留负责人、标签与分页。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7467600" y="1562100"/>
            <a:ext cx="4114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列表与归档范围只决定「看不看得见」，不决定状态。</a:t>
            </a:r>
            <a:endParaRPr/>
          </a:p>
        </p:txBody>
      </p:sp>
      <p:sp>
        <p:nvSpPr>
          <p:cNvPr id="409" name=""/>
          <p:cNvSpPr/>
          <p:nvPr/>
        </p:nvSpPr>
        <p:spPr>
          <a:xfrm rot="0" flipH="0" flipV="0">
            <a:off x="7467600" y="1990725"/>
            <a:ext cx="4114800" cy="1219200"/>
          </a:xfrm>
          <a:prstGeom prst="roundRect">
            <a:avLst>
              <a:gd name="adj" fmla="val 781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7658100" y="235267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三个范围之间切换</a:t>
            </a:r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7658100" y="260032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归档后从对应范围恢复，内容仍然在。</a:t>
            </a:r>
            <a:endParaRPr/>
          </a:p>
        </p:txBody>
      </p:sp>
      <p:sp>
        <p:nvSpPr>
          <p:cNvPr id="412" name=""/>
          <p:cNvSpPr/>
          <p:nvPr/>
        </p:nvSpPr>
        <p:spPr>
          <a:xfrm rot="0" flipH="0" flipV="0">
            <a:off x="7467600" y="3324225"/>
            <a:ext cx="4114800" cy="1333500"/>
          </a:xfrm>
          <a:prstGeom prst="roundRect">
            <a:avLst>
              <a:gd name="adj" fmla="val 714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7658100" y="374332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归档不改变状态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7658100" y="39909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既不把草稿变成封存实验，也不把某个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变成完成状态。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7467600" y="4772025"/>
            <a:ext cx="4114800" cy="1104900"/>
          </a:xfrm>
          <a:prstGeom prst="roundRect">
            <a:avLst>
              <a:gd name="adj" fmla="val 862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7658100" y="5076825"/>
            <a:ext cx="373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先确认看到的是哪一份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658100" y="5324475"/>
            <a:ext cx="37338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范围、身份与筛选条件都确认过，再判断状态。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420" name="" descr="&lt;Slide notes={`练习的时候，先复制青禾实验，把新名称标成练习用途，同时记下原件和副本是两个不同的实验身份。这一步是为后面所有判断建立基准。&#10;&#10;然后在练习副本里只改一个角色的目标，再把两份实验分别打开，比较目标文字，确认它们之间是隔离的。&#10;&#10;接着把练习副本归档，切到已归档范围里找到它，再恢复，确认内容还在。&#10;&#10;最后只对确定不需要保留的练习副本执行删除。不要用删除正式材料的方式来演示独立性，那样会损失本来还有用的证据。&#10;&#10;完成之后要能分别回答四句话：复制得到了哪个新身份、哪份内容改变了、哪条记录进入归档、删除的是哪一份材料。这四句话写不出来，就说明边界还没看清，还不能进入运行观察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5　在练习副本中理解归档、恢复和删除&lt;/Text&gt;&#10;            &lt;Text style={{ fontSize: 34, fontWeight: 'bold', color: '#20344B' }}&gt;练习四步：复制、改一处、归档恢复、删除&lt;/Text&gt;&#10;        &lt;/Box&gt;&#10;    &lt;/Box&gt;&#10;&#10;    &lt;Box style={{ height: 540, flexDirection: 'column', justifyContent: 'center', gap: 20 }}&gt;&#10;&#10;        &lt;Box style={{ flexDirection: 'row', alignItems: 'center', gap: 14 }}&gt;&#10;            &lt;Text style={{ fontSize: 88, fontWeight: 'bold', color: '#276FBF', lineHeight: 1.0 }}&gt;4&lt;/Text&gt;&#10;            &lt;Text style={{ fontSize: 22, color: '#546779' }}&gt;步在练习副本上走完一遍，每一步都留下一条可核对的记录&lt;/Text&gt;&#10;        &lt;/Box&gt;&#10;&#10;        &lt;Box style={{ flexDirection: 'row', alignItems: 'center' }}&gt;&#10;            &lt;Box style={{ width: 255, height: 120, background: '#EDF4FC', borderRadius: 10, flexDirection: 'column', gap: 4, justifyContent: 'center', alignItems: 'center' }}&gt;&#10;                &lt;Text style={{ fontSize: 13, color: '#276FBF' }}&gt;第一步&lt;/Text&gt;&#10;                &lt;Text style={{ fontSize: 19, fontWeight: 'bold', color: '#276FBF' }}&gt;复制练习副本&lt;/Text&gt;&#10;                &lt;Text style={{ fontSize: 13, color: '#546779' }}&gt;新名称标注练习用途&lt;/Text&gt;&#10;            &lt;/Box&gt;&#10;            &lt;Box style={{ width: 44, height: 120, justifyContent: 'center', alignItems: 'center' }}&gt;&#10;                &lt;Text style={{ fontSize: 26, color: '#276FBF' }}&gt;›&lt;/Text&gt;&#10;            &lt;/Box&gt;&#10;            &lt;Box style={{ width: 255, height: 120, background: '#EDF4FC', borderRadius: 10, flexDirection: 'column', gap: 4, justifyContent: 'center', alignItems: 'center' }}&gt;&#10;                &lt;Text style={{ fontSize: 13, color: '#276FBF' }}&gt;第二步&lt;/Text&gt;&#10;                &lt;Text style={{ fontSize: 19, fontWeight: 'bold', color: '#276FBF' }}&gt;只改一个目标&lt;/Text&gt;&#10;                &lt;Text style={{ fontSize: 13, color: '#546779' }}&gt;重开两份比较文字&lt;/Text&gt;&#10;            &lt;/Box&gt;&#10;            &lt;Box style={{ width: 44, height: 120, justifyContent: 'center', alignItems: 'center' }}&gt;&#10;                &lt;Text style={{ fontSize: 26, color: '#26816B' }}&gt;›&lt;/Text&gt;&#10;            &lt;/Box&gt;&#10;            &lt;Box style={{ width: 255, height: 120, background: '#ECF7F2', borderRadius: 10, flexDirection: 'column', gap: 4, justifyContent: 'center', alignItems: 'center' }}&gt;&#10;                &lt;Text style={{ fontSize: 13, color: '#26816B' }}&gt;第三步&lt;/Text&gt;&#10;                &lt;Text style={{ fontSize: 19, fontWeight: 'bold', color: '#26816B' }}&gt;归档并恢复&lt;/Text&gt;&#10;                &lt;Text style={{ fontSize: 13, color: '#546779' }}&gt;在已归档中重新找到&lt;/Text&gt;&#10;            &lt;/Box&gt;&#10;            &lt;Box style={{ width: 44, height: 120, justifyContent: 'center', alignItems: 'center' }}&gt;&#10;                &lt;Text style={{ fontSize: 26, color: '#CB6B28' }}&gt;›&lt;/Text&gt;&#10;            &lt;/Box&gt;&#10;            &lt;Box style={{ width: 255, height: 120, background: '#FFF4E6', borderRadius: 10, flexDirection: 'column', gap: 4, justifyContent: 'center', alignItems: 'center' }}&gt;&#10;                &lt;Text style={{ fontSize: 13, color: '#CB6B28' }}&gt;第四步&lt;/Text&gt;&#10;                &lt;Text style={{ fontSize: 19, fontWeight: 'bold', color: '#CB6B28' }}&gt;删除练习副本&lt;/Text&gt;&#10;                &lt;Text style={{ fontSize: 13, color: '#546779' }}&gt;只删确定不需保留的&lt;/Text&gt;&#10;            &lt;/Box&gt;&#10;        &lt;/Box&gt;&#10;&#10;        &lt;Box style={{ width: 1152, height: 122, background: '#F4F7FA', borderRadius: 10, padding: '14px 20px', flexDirection: 'column', gap: 6, justifyContent: 'center' }}&gt;&#10;            &lt;Text style={{ fontSize: 17, fontWeight: 'bold', color: '#20344B' }}&gt;分别记录四句话，边界才算看清&lt;/Text&gt;&#10;            &lt;Text style={{ fontSize: 14, color: '#546779', lineHeight: 1.55 }}&gt;复制得到哪个新身份　·　哪份内容改变了　·　哪条记录进入归档　·　删除的是哪份材料。{'\n'}不要以删除正式材料来演示独立性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6153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在练习副本中理解归档、恢复和删除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61531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练习四步：复制、改一处、归档恢复、删除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609600" y="1866900"/>
            <a:ext cx="523875" cy="1009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600" b="1">
                <a:solidFill>
                  <a:srgbClr val="276FB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1266825" y="2247900"/>
            <a:ext cx="5448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546779"/>
                </a:solidFill>
                <a:latin typeface="Microsoft YaHei"/>
                <a:ea typeface="Microsoft YaHei"/>
              </a:rPr>
              <a:t>步在练习副本上走完一遍，每一步都留下一条可核对的记录</a:t>
            </a:r>
            <a:endParaRPr/>
          </a:p>
        </p:txBody>
      </p:sp>
      <p:sp>
        <p:nvSpPr>
          <p:cNvPr id="427" name=""/>
          <p:cNvSpPr/>
          <p:nvPr/>
        </p:nvSpPr>
        <p:spPr>
          <a:xfrm rot="0" flipH="0" flipV="0">
            <a:off x="609600" y="3067050"/>
            <a:ext cx="2428875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1638300" y="3343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第一步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1285875" y="35337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复制练习副本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1266825" y="37909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新名称标注练习用途</a:t>
            </a:r>
            <a:endParaRPr/>
          </a:p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3209925" y="3486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3457575" y="3067050"/>
            <a:ext cx="2428875" cy="11430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4486275" y="3343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76FBF"/>
                </a:solidFill>
                <a:latin typeface="Microsoft YaHei"/>
                <a:ea typeface="Microsoft YaHei"/>
              </a:rPr>
              <a:t>第二步</a:t>
            </a:r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4133850" y="35337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76FBF"/>
                </a:solidFill>
                <a:latin typeface="Microsoft YaHei"/>
                <a:ea typeface="Microsoft YaHei"/>
              </a:rPr>
              <a:t>只改一个目标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4181475" y="3790950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重开两份比较文字</a:t>
            </a:r>
            <a:endParaRPr/>
          </a:p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6057900" y="3486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37" name=""/>
          <p:cNvSpPr/>
          <p:nvPr/>
        </p:nvSpPr>
        <p:spPr>
          <a:xfrm rot="0" flipH="0" flipV="0">
            <a:off x="6305550" y="3067050"/>
            <a:ext cx="2428875" cy="11430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7334250" y="3343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6816B"/>
                </a:solidFill>
                <a:latin typeface="Microsoft YaHei"/>
                <a:ea typeface="Microsoft YaHei"/>
              </a:rPr>
              <a:t>第三步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067550" y="353377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26816B"/>
                </a:solidFill>
                <a:latin typeface="Microsoft YaHei"/>
                <a:ea typeface="Microsoft YaHei"/>
              </a:rPr>
              <a:t>归档并恢复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962775" y="37909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在已归档中重新找到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8905875" y="34861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CB6B28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9153525" y="3067050"/>
            <a:ext cx="2428875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10182225" y="33432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CB6B28"/>
                </a:solidFill>
                <a:latin typeface="Microsoft YaHei"/>
                <a:ea typeface="Microsoft YaHei"/>
              </a:rPr>
              <a:t>第四步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9829800" y="353377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删除练习副本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9810750" y="3790950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只删确定不需保留的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609600" y="4400550"/>
            <a:ext cx="10972800" cy="1162050"/>
          </a:xfrm>
          <a:prstGeom prst="roundRect">
            <a:avLst>
              <a:gd name="adj" fmla="val 819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800100" y="4600575"/>
            <a:ext cx="1059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分别记录四句话，边界才算看清</a:t>
            </a:r>
            <a:endParaRPr/>
          </a:p>
        </p:txBody>
      </p:sp>
      <p:sp>
        <p:nvSpPr>
          <p:cNvPr id="448" name="" descr="{&quot;isTemplate&quot;:true,&quot;type&quot;:&quot;text&quot;}"/>
          <p:cNvSpPr txBox="1"/>
          <p:nvPr/>
        </p:nvSpPr>
        <p:spPr>
          <a:xfrm rot="0" flipH="0" flipV="0">
            <a:off x="800100" y="4857750"/>
            <a:ext cx="10591800" cy="5048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复制得到哪个新身份　·　哪份内容改变了　·　哪条记录进入归档　·　删除的是哪份材料。</a:t>
            </a:r>
            <a:endParaRPr/>
          </a:p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不要以删除正式材料来演示独立性。</a:t>
            </a:r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451" name="" descr="&lt;Slide notes={`操作过程中，界面上的信息偶尔会互相打架，这时候的顺序很重要。&#10;&#10;如果页面徽标、当前所选的实验和操作提示对不上，先停下来查清实际对象和实际状态，不要继续用更多操作去覆盖证据。多操作几次，线索就被搅乱了。&#10;&#10;如果提示已经创建仿真，但状态刷新失败，做法是重新进入那个仿真核对，不要因为界面还没刷新就连续再点执行。一次请求的结果和运行的当前状态是两回事。&#10;&#10;归档之后在默认范围里找不到某份实验，先确认当前的范围和筛选条件，而不是急着重建一份同名实验。重建出来的是一份新身份，原来的证据就对不上了。&#10;&#10;把这些核对做完，才会有一份可以进入运行观察、边界明确的实验材料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8.5　在练习副本中理解归档、恢复和删除&lt;/Text&gt;&#10;            &lt;Text style={{ fontSize: 34, fontWeight: 'bold', color: '#20344B' }}&gt;证据冲突时先查清对象&lt;/Text&gt;&#10;        &lt;/Box&gt;&#10;    &lt;/Box&gt;&#10;&#10;    &lt;Box style={{ height: 540, flexDirection: 'column', justifyContent: 'center', gap: 14 }}&gt;&#10;&#10;        &lt;Text style={{ fontSize: 17, color: '#20344B', lineHeight: 1.6, width: 1152 }}&gt;界面给出的信息不一致时，处理顺序比操作数量更重要。&lt;/Text&gt;&#10;&#10;        &lt;Box style={{ width: 1152, height: 30, padding: '0 18px', flexDirection: 'row', alignItems: 'center', gap: 18 }}&gt;&#10;            &lt;Text style={{ fontSize: 14, color: '#546779', width: 320 }}&gt;冲突现象&lt;/Text&gt;&#10;            &lt;Text style={{ fontSize: 14, color: '#546779', width: 360 }}&gt;先查什么&lt;/Text&gt;&#10;            &lt;Text style={{ fontSize: 14, color: '#CB6B28', width: 400 }}&gt;不要做什么&lt;/Text&gt;&#10;        &lt;/Box&gt;&#10;&#10;        &lt;Box style={{ width: 1152, height: 100, background: '#F4F7FA', borderRadius: 8, padding: '0 18px', flexDirection: 'row', alignItems: 'center', gap: 18 }}&gt;&#10;            &lt;Text style={{ fontSize: 15, color: '#20344B', width: 320, lineHeight: 1.5 }}&gt;页面徽标、所选实验与操作提示互相冲突&lt;/Text&gt;&#10;            &lt;Text style={{ fontSize: 14, color: '#546779', width: 360, lineHeight: 1.5 }}&gt;先查清实际对象与实际状态&lt;/Text&gt;&#10;            &lt;Box style={{ width: 400, height: 64, flexDirection: 'row', alignItems: 'center', gap: 12 }}&gt;&#10;                &lt;Box style={{ width: 4, height: 44, background: '#CB6B28' }} /&gt;&#10;                &lt;Text style={{ fontSize: 14, color: '#CB6B28', lineHeight: 1.5, flex: 1 }}&gt;不继续用更多操作覆盖证据&lt;/Text&gt;&#10;            &lt;/Box&gt;&#10;        &lt;/Box&gt;&#10;&#10;        &lt;Box style={{ width: 1152, height: 100, background: '#F4F7FA', borderRadius: 8, padding: '0 18px', flexDirection: 'row', alignItems: 'center', gap: 18 }}&gt;&#10;            &lt;Text style={{ fontSize: 15, color: '#20344B', width: 320, lineHeight: 1.5 }}&gt;提示已创建仿真，但状态刷新失败&lt;/Text&gt;&#10;            &lt;Text style={{ fontSize: 14, color: '#546779', width: 360, lineHeight: 1.5 }}&gt;重新进入该仿真核对&lt;/Text&gt;&#10;            &lt;Box style={{ width: 400, height: 64, flexDirection: 'row', alignItems: 'center', gap: 12 }}&gt;&#10;                &lt;Box style={{ width: 4, height: 44, background: '#CB6B28' }} /&gt;&#10;                &lt;Text style={{ fontSize: 14, color: '#CB6B28', lineHeight: 1.5, flex: 1 }}&gt;不因未刷新而连续再次点击执行&lt;/Text&gt;&#10;            &lt;/Box&gt;&#10;        &lt;/Box&gt;&#10;&#10;        &lt;Box style={{ width: 1152, height: 100, background: '#F4F7FA', borderRadius: 8, padding: '0 18px', flexDirection: 'row', alignItems: 'center', gap: 18 }}&gt;&#10;            &lt;Text style={{ fontSize: 15, color: '#20344B', width: 320, lineHeight: 1.5 }}&gt;归档后在默认范围里找不到实验&lt;/Text&gt;&#10;            &lt;Text style={{ fontSize: 14, color: '#546779', width: 360, lineHeight: 1.5 }}&gt;确认当前范围与筛选条件&lt;/Text&gt;&#10;            &lt;Box style={{ width: 400, height: 64, flexDirection: 'row', alignItems: 'center', gap: 12 }}&gt;&#10;                &lt;Box style={{ width: 4, height: 44, background: '#CB6B28' }} /&gt;&#10;                &lt;Text style={{ fontSize: 14, color: '#CB6B28', lineHeight: 1.5, flex: 1 }}&gt;不重复创建一份同名实验&lt;/Text&gt;&#10;            &lt;/Box&gt;&#10;        &lt;/Box&gt;&#10;&#10;        &lt;Box style={{ width: 1152, height: 72, background: '#FFF4E6', borderRadius: 8, padding: '0 20px', flexDirection: 'row', alignItems: 'center', gap: 14 }}&gt;&#10;            &lt;Box style={{ width: 4, height: 44, background: '#CB6B28' }} /&gt;&#10;            &lt;Text style={{ fontSize: 15, color: '#CB6B28', lineHeight: 1.5, flex: 1 }}&gt;完成这些核对，才有一份可以进入运行观察的、边界明确的实验材料。&lt;/Text&gt;&#10;        &lt;/Box&gt;&#10;&#10;    &lt;/Box&gt;&#10;&#10;    &lt;Box style={{ height: 40, flexDirection: 'row', justifyContent: 'space-between', alignItems: 'center' }}&gt;&#10;        &lt;Text style={{ fontSize: 14, color: '#546779' }}&gt;3.8 草稿、副本、预检与封存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3.8.5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在练习副本中理解归档、恢复和删除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证据冲突时先查清对象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609600" y="1314450"/>
            <a:ext cx="10972800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20344B"/>
                </a:solidFill>
                <a:latin typeface="Microsoft YaHei"/>
                <a:ea typeface="Microsoft YaHei"/>
              </a:rPr>
              <a:t>界面给出的信息不一致时，处理顺序比操作数量更重要。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781050" y="1828800"/>
            <a:ext cx="304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冲突现象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000500" y="1828800"/>
            <a:ext cx="3429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先查什么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7600950" y="1828800"/>
            <a:ext cx="3810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不要做什么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09600" y="21812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781050" y="25336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页面徽标、所选实验与操作提示互相冲突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4000500" y="2533650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先查清实际对象与实际状态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7600950" y="24479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753350" y="253365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不继续用更多操作覆盖证据</a:t>
            </a:r>
            <a:endParaRPr/>
          </a:p>
        </p:txBody>
      </p:sp>
      <p:sp>
        <p:nvSpPr>
          <p:cNvPr id="465" name=""/>
          <p:cNvSpPr/>
          <p:nvPr/>
        </p:nvSpPr>
        <p:spPr>
          <a:xfrm rot="0" flipH="0" flipV="0">
            <a:off x="609600" y="326707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81050" y="361950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提示已创建仿真，但状态刷新失败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4000500" y="3619500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重新进入该仿真核对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7600950" y="353377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7753350" y="361950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不因未刷新而连续再次点击执行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609600" y="4352925"/>
            <a:ext cx="10972800" cy="9525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81050" y="4705350"/>
            <a:ext cx="30480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归档后在默认范围里找不到实验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4000500" y="4705350"/>
            <a:ext cx="34290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确认当前范围与筛选条件</a:t>
            </a:r>
            <a:endParaRPr/>
          </a:p>
        </p:txBody>
      </p:sp>
      <p:sp>
        <p:nvSpPr>
          <p:cNvPr id="473" name=""/>
          <p:cNvSpPr/>
          <p:nvPr/>
        </p:nvSpPr>
        <p:spPr>
          <a:xfrm rot="0" flipH="0" flipV="0">
            <a:off x="7600950" y="46196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7753350" y="4705350"/>
            <a:ext cx="36576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不重复创建一份同名实验</a:t>
            </a:r>
            <a:endParaRPr/>
          </a:p>
        </p:txBody>
      </p:sp>
      <p:sp>
        <p:nvSpPr>
          <p:cNvPr id="475" name=""/>
          <p:cNvSpPr/>
          <p:nvPr/>
        </p:nvSpPr>
        <p:spPr>
          <a:xfrm rot="0" flipH="0" flipV="0">
            <a:off x="609600" y="5438775"/>
            <a:ext cx="109728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6" name=""/>
          <p:cNvSpPr/>
          <p:nvPr/>
        </p:nvSpPr>
        <p:spPr>
          <a:xfrm rot="0" flipH="0" flipV="0">
            <a:off x="800100" y="55721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971550" y="5657850"/>
            <a:ext cx="104203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完成这些核对，才有一份可以进入运行观察的、边界明确的实验材料。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草稿、副本、预检与封存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480" name="" descr="&lt;Slide notes={`把这一节收一收，记住三件事。&#10;&#10;创建实验得到的是一份独立材料：选中的地图、人物、Brain 和模型配置连同依赖整份复制进来，公共资源以后再改，也不会传播到这份副本。要改，就复制成一份新实验。&#10;&#10;预检检查的是材料和依赖：空间、附件、装配和 Skill 闭包。它不证明角色穿过了门、完成了交互或者收到了回复，这些行为证据要留给运行验收。&#10;&#10;封存之后内容不可再改。实验只有草稿和封存两个状态，完成还是失败属于运行，是另一条信息。&#10;&#10;带上这三件事，下一节我们去看启动之后的状态、三种时间口径和实际发生的调用与费用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8　草稿、副本、预检与封存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独立副本&lt;/Text&gt;&#10;            &lt;Text style={{ fontSize: 16, color: '#546779', flex: 1 }}&gt;创建复制的是整份闭包；公共资源的修改不再传播到已有实验。&lt;/Text&gt;&#10;        &lt;/Box&gt;&#10;&#10;        &lt;Box style={{ flexDirection: 'row', gap: 20 }}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预检只查材料&lt;/Text&gt;&#10;                &lt;Text style={{ fontSize: 15, color: '#546779' }}&gt;材料与依赖齐全，不等于角色真的穿过了门。&lt;/Text&gt;&#10;            &lt;/Box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封存不可改&lt;/Text&gt;&#10;                &lt;Text style={{ fontSize: 15, color: '#546779' }}&gt;DRAFT 可以改，SEALED 不能改；运行状态是另一条信息。&lt;/Text&gt;&#10;            &lt;/Box&gt;&#10;        &lt;/Box&gt;&#10;&#10;        &lt;Text style={{ fontSize: 15, color: '#546779', marginTop: 8 }}&gt;下一节：启动、观察与估算 —— 识别状态、三种时间与实际调用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2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草稿、副本、预检与封存</a:t>
            </a:r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85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独立副本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1828800" y="3124200"/>
            <a:ext cx="9544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创建复制的是整份闭包；公共资源的修改不再传播到已有实验。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预检只查材料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材料与依赖齐全，不等于角色真的穿过了门。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封存不可改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DRAFT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可以改，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SEALED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不能改；运行状态是另一条信息。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下一节：启动、观察与估算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识别状态、三种时间与实际调用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2026-09-29T08:50:56Z</dcterms:created>
  <dcterms:modified xsi:type="dcterms:W3CDTF">2026-09-29T08:50:56Z</dcterms:modified>
</cp:coreProperties>
</file>