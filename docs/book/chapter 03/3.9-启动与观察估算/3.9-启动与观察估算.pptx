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16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9.xml" ContentType="application/vnd.openxmlformats-officedocument.presentationml.sl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1" Type="http://schemas.openxmlformats.org/officeDocument/2006/relationships/slide" Target="slides/slide11.xml" /><Relationship Id="rId27" Type="http://schemas.openxmlformats.org/officeDocument/2006/relationships/viewProps" Target="viewProps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15" Type="http://schemas.openxmlformats.org/officeDocument/2006/relationships/slide" Target="slides/slide15.xml" /><Relationship Id="rId12" Type="http://schemas.openxmlformats.org/officeDocument/2006/relationships/slide" Target="slides/slide12.xml" /><Relationship Id="rId3" Type="http://schemas.openxmlformats.org/officeDocument/2006/relationships/slide" Target="slides/slide3.xml" /><Relationship Id="rId10" Type="http://schemas.openxmlformats.org/officeDocument/2006/relationships/slide" Target="slides/slide10.xml" /><Relationship Id="rId8" Type="http://schemas.openxmlformats.org/officeDocument/2006/relationships/slide" Target="slides/slide8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4" Type="http://schemas.openxmlformats.org/officeDocument/2006/relationships/slide" Target="slides/slide4.xml" /><Relationship Id="rId16" Type="http://schemas.openxmlformats.org/officeDocument/2006/relationships/slide" Target="slides/slide16.xml" /><Relationship Id="rId2" Type="http://schemas.openxmlformats.org/officeDocument/2006/relationships/slide" Target="slides/slide2.xml" /><Relationship Id="rId17" Type="http://schemas.openxmlformats.org/officeDocument/2006/relationships/slide" Target="slides/slide17.xml" /><Relationship Id="rId5" Type="http://schemas.openxmlformats.org/officeDocument/2006/relationships/slide" Target="slides/slide5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6" Type="http://schemas.openxmlformats.org/officeDocument/2006/relationships/slide" Target="slides/slide6.xml" /><Relationship Id="rId23" Type="http://schemas.openxmlformats.org/officeDocument/2006/relationships/slide" Target="slides/slide23.xml" /><Relationship Id="rId24" Type="http://schemas.openxmlformats.org/officeDocument/2006/relationships/notesMaster" Target="notesMasters/notesMaster1.xml" 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我们从第三章的装配继续往下走。资源和规则都准备好了，接下来要真的启动一次运行，并且读得懂它。</a:t>
            </a:r>
          </a:p>
          <a:p>
            <a:r>
              <a:rPr lang="zh-CN" dirty="0"/>
              <a:t>很多人的第一反应是看进度条，但进度条只回答一个问题：系统提交了多少步。它不会告诉你通知有没有被听到、访客有没有理解、模型花了多少钱。</a:t>
            </a:r>
          </a:p>
          <a:p>
            <a:r>
              <a:rPr lang="zh-CN" dirty="0"/>
              <a:t>所以这一段要做两件事：一是按状态和时间口径把一次运行读清楚，二是把该记的证据留下来。青禾案例还没有真正在浏览器里跑过一次，后面出现的数字都属于方案推算，不是运行成绩。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这一节分成四块。</a:t>
            </a:r>
          </a:p>
          <a:p>
            <a:r>
              <a:rPr lang="zh-CN" dirty="0"/>
              <a:t>第一块是启动前固定输入：点击执行实验，确认预检、参数与预计消耗，Run 创建时会把实验完整复制到自己目录，并记录内嵌实验 ID 与内容哈希。</a:t>
            </a:r>
          </a:p>
          <a:p>
            <a:r>
              <a:rPr lang="zh-CN" dirty="0"/>
              <a:t>第二块是状态与窗口：八个状态各自只说明执行走到哪一步；观察窗口由起始时间、步长和请求步数决定，是算得出来的。</a:t>
            </a:r>
          </a:p>
          <a:p>
            <a:r>
              <a:rPr lang="zh-CN" dirty="0"/>
              <a:t>第三块是页面里看什么：回放、Agent、诊断、质量、结果与导出，再加上要留意的 Trace 记录。</a:t>
            </a:r>
          </a:p>
          <a:p>
            <a:r>
              <a:rPr lang="zh-CN" dirty="0"/>
              <a:t>第四块是估算与费用：公式给的是范围，逻辑调用与物理尝试要分开统计，没有返回用量的时候就记未知。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启动不是点一下按钮那么简单。</a:t>
            </a:r>
          </a:p>
          <a:p>
            <a:r>
              <a:rPr lang="zh-CN" dirty="0"/>
              <a:t>点击执行实验以后，系统会先给出预检结果、执行参数和预计消耗，确认无误再点确认执行。需要的时候，前端会先把草稿封存，再创建新的 Run。</a:t>
            </a:r>
          </a:p>
          <a:p>
            <a:r>
              <a:rPr lang="zh-CN" dirty="0"/>
              <a:t>Run 创建成功之后，还要重新读取它的状态，把实验和 Run 的身份核对一遍。页面上出现「已创建」的提示，只能说明提交成功，不能代替运行状态本身。</a:t>
            </a:r>
          </a:p>
          <a:p>
            <a:r>
              <a:rPr lang="zh-CN" dirty="0"/>
              <a:t>所以我把这一段叫做先把输入固定：输入没有锁定，后面观察到的东西就没有参照。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确认窗口里的三组信息要分开看。</a:t>
            </a:r>
          </a:p>
          <a:p>
            <a:r>
              <a:rPr lang="zh-CN" dirty="0"/>
              <a:t>预检结果是关于输入的：草稿、资源与模型是否齐备。执行参数是关于这次运行的：起始虚拟时间、步长和请求步数。预计消耗是关于量级的：模型调用、Token 和墙钟时间大致落在哪个区间。</a:t>
            </a:r>
          </a:p>
          <a:p>
            <a:r>
              <a:rPr lang="zh-CN" dirty="0"/>
              <a:t>预检通过只说明这些输入可以用，不等于运行已经开始。所以确认以后要回到 Run 的列表，看它真正的状态。</a:t>
            </a:r>
          </a:p>
          <a:p>
            <a:r>
              <a:rPr lang="zh-CN" dirty="0"/>
              <a:t>另外这些数值都是推算范围，不是承诺。等真正跑完，还要拿实际耗时和用量回来校准，不然下一次预算还是拍脑袋。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Run 创建的那一刻，系统把当时的实验完整复制进它自己的 experiment 目录，同时记下内嵌实验的 ID 和内容哈希。</a:t>
            </a:r>
          </a:p>
          <a:p>
            <a:r>
              <a:rPr lang="zh-CN" dirty="0"/>
              <a:t>这两件事决定了后面观察的可信度。后续运行读的都是这份副本，而不是公共资源；身份信息则让「这次运行用的是哪一版实验」可以被核对。</a:t>
            </a:r>
          </a:p>
          <a:p>
            <a:r>
              <a:rPr lang="zh-CN" dirty="0"/>
              <a:t>所以启动以后再改公共公告栏的 Skill，不会影响已经启动的青禾 Run。想比较新方案，正确做法是另建一个独立实验，在里面改完再启动，而不是去动正在运行的那一个。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记录表至少要写清楚这些内容：实验 ID、Run ID、实际使用的模型标识、Brain 与对象 Skill 的内容、起始虚拟时间、步长、请求步数和启动时间。</a:t>
            </a:r>
          </a:p>
          <a:p>
            <a:r>
              <a:rPr lang="zh-CN" dirty="0"/>
              <a:t>这些都必须在启动时落到纸面上，因为事后回看的时候，光靠一个成功提示是还原不出实验条件的。</a:t>
            </a:r>
          </a:p>
          <a:p>
            <a:r>
              <a:rPr lang="zh-CN" dirty="0"/>
              <a:t>特别要注意 ID：实验和 Run 的编号是系统实际产生的，必须照抄系统给出的值，不能拿书里的名字或示意编号顶替。模型标识也一样，要写实际调用到的那一个，而不是计划里想用的那一个。</a:t>
            </a:r>
          </a:p>
          <a:p>
            <a:r>
              <a:rPr lang="zh-CN" dirty="0"/>
              <a:t>这张表看着琐碎，但它是后面所有核对的参照。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创建之后再去改公共资源，是很容易犯的一个错。</a:t>
            </a:r>
          </a:p>
          <a:p>
            <a:r>
              <a:rPr lang="zh-CN" dirty="0"/>
              <a:t>已经启动的 Run 读的是它创建时复制的副本，所以改公共公告栏的 Skill 不会改变它正在执行的行为。你想看的「新做法有没有更好」，在这种改动里根本体现不出来。</a:t>
            </a:r>
          </a:p>
          <a:p>
            <a:r>
              <a:rPr lang="zh-CN" dirty="0"/>
              <a:t>要做比较，就在独立实验里完成修改，再启动一个新的 Run，让两份实验各自拥有自己的副本和身份。</a:t>
            </a:r>
          </a:p>
          <a:p>
            <a:r>
              <a:rPr lang="zh-CN" dirty="0"/>
              <a:t>判断的方法很简单：问一句「这次的改动有没有进入这个 Run 的副本」。没有进入，那这次观察得到的还是老方案的结果。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状态是这一段最容易被读错的东西。</a:t>
            </a:r>
          </a:p>
          <a:p>
            <a:r>
              <a:rPr lang="zh-CN" dirty="0"/>
              <a:t>八种状态只说明执行走到了哪一步，它们不是对结果的评价。已完成不等于业务目标达成，排队中也不等于有一个能跨重启恢复的队列。</a:t>
            </a:r>
          </a:p>
          <a:p>
            <a:r>
              <a:rPr lang="zh-CN" dirty="0"/>
              <a:t>观察窗口也是同一类问题。起始时间、步长和请求步数一旦确定，窗口能覆盖到哪一步就算得出来；窗口之外发生的事情，这次观察没有依据去下结论。</a:t>
            </a:r>
          </a:p>
          <a:p>
            <a:r>
              <a:rPr lang="zh-CN" dirty="0"/>
              <a:t>把状态和时间口径分开，才不会把「系统跑完了」直接读成「事情做成了」。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主线五个状态要按顺序读。</a:t>
            </a:r>
          </a:p>
          <a:p>
            <a:r>
              <a:rPr lang="zh-CN" dirty="0"/>
              <a:t>创建，说明 Run 的目录和输入已经建好，但不代表工作进程已经开始执行。排队，说明已经进入当前提交和启动阶段，但不代表有一个会无限等待资源的持久化队列。运行，说明正在执行，但不代表当前计算中的那一步已经提交。收尾，说明请求的步数已经提交、正在做收尾，但不代表报告已经完成、正式包已经导出。完成，才表示请求的执行过程结束。</a:t>
            </a:r>
          </a:p>
          <a:p>
            <a:r>
              <a:rPr lang="zh-CN" dirty="0"/>
              <a:t>另外三个状态只列含义：暂停、取消、失败。它们不承诺所有状态都能互相切换，这张关系也不是完整的转移图。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读状态的方法是每一句都问两句：能判断什么，还不能判断什么。</a:t>
            </a:r>
          </a:p>
          <a:p>
            <a:r>
              <a:rPr lang="zh-CN" dirty="0"/>
              <a:t>创建可以判断目录和输入已经建立，不能判断工作进程已经跑起来。运行可以判断正在执行，不能判断当前这一步已经提交。收尾可以判断请求的步数已经提交、正在收尾，不能判断报告已经完成、正式包已经导出。完成可以判断请求的执行过程结束，不能判断业务指标全部通过。失败可以判断执行出现了失败，不能判断已有的提交都不可用。</a:t>
            </a:r>
          </a:p>
          <a:p>
            <a:r>
              <a:rPr lang="zh-CN" dirty="0"/>
              <a:t>原因是这些状态由协议明确定义，描述的是执行阶段，不是业务结论。当前执行器在最后一步之后先进入收尾，生成质量报告后再写完成，正式归档还要另行封存。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观察窗口是算得出来的。</a:t>
            </a:r>
          </a:p>
          <a:p>
            <a:r>
              <a:rPr lang="zh-CN" dirty="0"/>
              <a:t>这一轮从二零二六年十月十七日九点五十分开始，带东八区时区，步长一分钟，请求四十八步。调度器的第一个 Step 用起始时间，后面逐步推进，所以第 k 步的虚拟时间等于起始时间加上 k 减一倍的步长。</a:t>
            </a:r>
          </a:p>
          <a:p>
            <a:r>
              <a:rPr lang="zh-CN" dirty="0"/>
              <a:t>代入以后，第一步是九点五十，第十一步是十点，第四十一步是十点半，第四十八步是十点三十七。</a:t>
            </a:r>
          </a:p>
          <a:p>
            <a:r>
              <a:rPr lang="zh-CN" dirty="0"/>
              <a:t>这个窗口能看见手作被更正到十点半以后有没有人到达、有没有开始，却不能证明十一点半的活动已经完整结束。要观察活动结束，就得另外设计足够长的实验，不能把「已经开始」记成「已经完成」。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三种时间必须分开记录，混在一起就会得出错误的结论。</a:t>
            </a:r>
          </a:p>
          <a:p>
            <a:r>
              <a:rPr lang="zh-CN" dirty="0"/>
              <a:t>虚拟时间是故事里的时刻，它由起始时间、步长和步数决定，暂停不会让它自动往前推进。模型耗时是一次请求真实经历的时间，用来判断模型快不快。墙钟时间包含操作、暂停和调试等待，是我们坐在电脑前面经过的时间。</a:t>
            </a:r>
          </a:p>
          <a:p>
            <a:r>
              <a:rPr lang="zh-CN" dirty="0"/>
              <a:t>所以暂停二十分钟，不应该让青禾世界里的活动自动迟到二十分钟。反过来说，墙钟很长也不代表模型慢，中间可能有大量人工操作。</a:t>
            </a:r>
          </a:p>
          <a:p>
            <a:r>
              <a:rPr lang="zh-CN" dirty="0"/>
              <a:t>估算里的秒数口径用的是墙钟，在对照预计与实际的时候要特别留意这一点。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接下来看页面里能观察到什么。</a:t>
            </a:r>
          </a:p>
          <a:p>
            <a:r>
              <a:rPr lang="zh-CN" dirty="0"/>
              <a:t>进入当前 Run 的结果工作区，会依次看到仿真回放、Agent、仿真诊断、行为质量和结果与导出这几块。运行参数在实验概览的「时间与运行参数」里，模型配置要从实验自己的模型入口进。</a:t>
            </a:r>
          </a:p>
          <a:p>
            <a:r>
              <a:rPr lang="zh-CN" dirty="0"/>
              <a:t>要提醒的是，这里所有内容都受一条限制：它们只能反映 Run 已经提交的事实。没有提交的行为，页面里不会凭空长出来。</a:t>
            </a:r>
          </a:p>
          <a:p>
            <a:r>
              <a:rPr lang="zh-CN" dirty="0"/>
              <a:t>所以我观察的顺序是先确认身份和状态，再看画面和记录，最后才去谈结论。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结果工作区里的五个入口，各自回答不同的问题。</a:t>
            </a:r>
          </a:p>
          <a:p>
            <a:r>
              <a:rPr lang="zh-CN" dirty="0"/>
              <a:t>仿真回放回答「世界里面发生了什么」，看到的是角色移动、对话和对象反馈。Agent 回答「某个角色现在处于什么状态」，包括它掌握的信息。仿真诊断回答「系统实际做了什么」，日志、模型调用和检查点都在这里。行为质量给出质量报告。结果与导出给出结果文件与导出入口。</a:t>
            </a:r>
          </a:p>
          <a:p>
            <a:r>
              <a:rPr lang="zh-CN" dirty="0"/>
              <a:t>先明确自己要回答哪个问题，再决定去看哪一块，比在页面里到处点更有效率。</a:t>
            </a:r>
          </a:p>
          <a:p>
            <a:r>
              <a:rPr lang="zh-CN" dirty="0"/>
              <a:t>另外，不能只依赖模板文字去找按钮，页面的初始化过程会移除遗留的参数与模型结果页签。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某一步停得比较久，是很常见的现象，先别急着下结论。</a:t>
            </a:r>
          </a:p>
          <a:p>
            <a:r>
              <a:rPr lang="zh-CN" dirty="0"/>
              <a:t>诊断里有三样东西可以对照。日志告诉你这一步走到哪里；模型调用记录告诉你请求的状态，请求开始的时候已经有 PHYSICAL_START 这一条记录，结束的时候再补上结果；检查点用来看进度落在哪一段。</a:t>
            </a:r>
          </a:p>
          <a:p>
            <a:r>
              <a:rPr lang="zh-CN" dirty="0"/>
              <a:t>合起来才能判断：是模型确实慢，是正常等待，还是根本没有进展。如果看到有正在执行的请求，或者有连续的错误与重试，那就不是卡死，而是还在处理。</a:t>
            </a:r>
          </a:p>
          <a:p>
            <a:r>
              <a:rPr lang="zh-CN" dirty="0"/>
              <a:t>顺序很重要：先看有没有正在进行的请求，再看有没有连续错误，最后才谈无进展。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查 Trace 的时候要把这些字段记下来：参与者、Step、用途、模型、开始和结束时间、错误以及调用参数。</a:t>
            </a:r>
          </a:p>
          <a:p>
            <a:r>
              <a:rPr lang="zh-CN" dirty="0"/>
              <a:t>记全了，才能回答「谁在什么时候、为了什么、用哪个模型发了这次请求」。只记一个模型名称，事后是没法复盘的。</a:t>
            </a:r>
          </a:p>
          <a:p>
            <a:r>
              <a:rPr lang="zh-CN" dirty="0"/>
              <a:t>有一条边界要特别注意：如果这次配置没有保存请求内容，页面就应该明确显示缺失。不能拿模型事后写的总结，补成当时的原始请求。</a:t>
            </a:r>
          </a:p>
          <a:p>
            <a:r>
              <a:rPr lang="zh-CN" dirty="0"/>
              <a:t>Attempt 选择器提供了定位入口，但日志下载读的是 Run 的进程日志文件，分析时仍然要核对实际记录的身份和时间范围。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等待和卡死是两回事。</a:t>
            </a:r>
          </a:p>
          <a:p>
            <a:r>
              <a:rPr lang="zh-CN" dirty="0"/>
              <a:t>许安因为手作室还没有开放而等待，这属于正常行为：它应该有原因、有截止时间，也有后续的动作条件。条件满足了，它就会继续。</a:t>
            </a:r>
          </a:p>
          <a:p>
            <a:r>
              <a:rPr lang="zh-CN" dirty="0"/>
              <a:t>反复查询同一个信息却一直没有进展，是另一种情况，那才是需要检查的对象。</a:t>
            </a:r>
          </a:p>
          <a:p>
            <a:r>
              <a:rPr lang="zh-CN" dirty="0"/>
              <a:t>判断的时候别用画面上的印象：人物不移动，可能只是在等待；日志一直在滚动，也不代表业务有进展。要回到请求、错误和提交记录上去看，那些才是能核对的事实。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最后一块是估算、调用和费用。</a:t>
            </a:r>
          </a:p>
          <a:p>
            <a:r>
              <a:rPr lang="zh-CN" dirty="0"/>
              <a:t>当前的估算接口用一条很简单的公式：基数等于 Agent 数加 Skill 对象数，再乘以步数。代入青禾的四名人物、两个对象和四十八步，基数就是二百八十八。</a:t>
            </a:r>
          </a:p>
          <a:p>
            <a:r>
              <a:rPr lang="zh-CN" dirty="0"/>
              <a:t>要记住这个数字的用途：它是作者方案的粗估基数，不是实测调用次数，也不能被读成系统创建了这么多角色。</a:t>
            </a:r>
          </a:p>
          <a:p>
            <a:r>
              <a:rPr lang="zh-CN" dirty="0"/>
              <a:t>再往下，一次逻辑调用可能发生物理重试，费用还要看服务商的实际计费规则。没有返回用量的时候，只能记未知，不能因为汇总是零就当作免费。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当前估算接口用的是这一条公式：基数等于 Agent 数加 Skill 对象数，再乘以步数。</a:t>
            </a:r>
          </a:p>
          <a:p>
            <a:r>
              <a:rPr lang="zh-CN" dirty="0"/>
              <a:t>青禾这一轮模拟四名人物和两个绑定 Skill 的对象，四加二等于六，乘四十八步，基数就是二百八十八。源码据此给出模型调用在 C 到 3C 之间、Token 在 500C 到 3000C 之间、墙钟秒数在 2C 到 30C 之间的范围。</a:t>
            </a:r>
          </a:p>
          <a:p>
            <a:r>
              <a:rPr lang="zh-CN" dirty="0"/>
              <a:t>这些数字只是当前固定公式的输出。公式还没有逐条展开实际的子 Skill 调用链，也没有依据你所用的模型吞吐做校准，所以上下界不能当成费用承诺或完成时间保证。</a:t>
            </a:r>
          </a:p>
          <a:p>
            <a:r>
              <a:rPr lang="zh-CN" dirty="0"/>
              <a:t>另外，第二章里的二十四人、十人、十六人是活动需求，不是已经创建的 Agent 数。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把基数带进去，得到的是一段区间。</a:t>
            </a:r>
          </a:p>
          <a:p>
            <a:r>
              <a:rPr lang="zh-CN" dirty="0"/>
              <a:t>模型调用粗估在二百八十八到八百六十四次之间，Token 在一十四万四千到八十六万四千之间，墙钟大约在九点六到一百四十四分钟之间。</a:t>
            </a:r>
          </a:p>
          <a:p>
            <a:r>
              <a:rPr lang="zh-CN" dirty="0"/>
              <a:t>区间之所以这么宽，是因为公式只用了一个系数范围，没有把阅读长记忆、对象多轮回复、重复修复这些真实消耗展开，也没有按模型吞吐校准。</a:t>
            </a:r>
          </a:p>
          <a:p>
            <a:r>
              <a:rPr lang="zh-CN" dirty="0"/>
              <a:t>所以更合理的后续做法，是从真实观察中得到每个 Agent 轮次和对象轮次的逻辑调用数，再加入物理重试、上下文长度和模型耗时去修正。这些数字是起点，不是结论。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逻辑调用和物理尝试要分开统计。</a:t>
            </a:r>
          </a:p>
          <a:p>
            <a:r>
              <a:rPr lang="zh-CN" dirty="0"/>
              <a:t>一次「让模型处理当前任务」是逻辑调用。因为超时或者格式错误重新发出去的请求，是同一个调用下面的物理尝试。一次逻辑调用可能只对应一次物理请求，也可能对应好几次重试。</a:t>
            </a:r>
          </a:p>
          <a:p>
            <a:r>
              <a:rPr lang="zh-CN" dirty="0"/>
              <a:t>基数二百八十八的单位是参与者轮次，不是逻辑调用次数，两者之间不能一一对应。每一轮都可能有多次调用，展开的只是其中一次。</a:t>
            </a:r>
          </a:p>
          <a:p>
            <a:r>
              <a:rPr lang="zh-CN" dirty="0"/>
              <a:t>页面已经有按用途显示逻辑调用、物理请求、重试和耗时的视图，正在执行的请求还要结合 Trace 一起看。把两件事混在一起，算出来的费用和延迟都会失真。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费用的算法很简单，但边界很多。</a:t>
            </a:r>
          </a:p>
          <a:p>
            <a:r>
              <a:rPr lang="zh-CN" dirty="0"/>
              <a:t>费用要用服务商实际的计费规则和账单来算，并且区分输入、输出以及适用的缓存等项目，不能自己乘一个单价了事。</a:t>
            </a:r>
          </a:p>
          <a:p>
            <a:r>
              <a:rPr lang="zh-CN" dirty="0"/>
              <a:t>有一类情况特别容易读错：服务没有返回 Token 的时候，应该记为未知。当前汇总里出现的零值，很可能来自缺少用量字段，不能自动解释成免费。</a:t>
            </a:r>
          </a:p>
          <a:p>
            <a:r>
              <a:rPr lang="zh-CN" dirty="0"/>
              <a:t>还有一点，取消或者失败的运行，也可能已经产生了模型费用。</a:t>
            </a:r>
          </a:p>
          <a:p>
            <a:r>
              <a:rPr lang="zh-CN" dirty="0"/>
              <a:t>所以我建议把预计值、实际值和未提供的数据分成三栏记录。这样下一次实验才有依据去改预算，而不是用一个成功提示结束观察。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这一段带走三件事。</a:t>
            </a:r>
          </a:p>
          <a:p>
            <a:r>
              <a:rPr lang="zh-CN" dirty="0"/>
              <a:t>状态只说明执行走到哪一步。完成不证明业务指标通过，排队不证明有一个持久的任务队列，收尾也不证明正式包已经导出。</a:t>
            </a:r>
          </a:p>
          <a:p>
            <a:r>
              <a:rPr lang="zh-CN" dirty="0"/>
              <a:t>三种时间要分开记：虚拟时间是故事里的时刻，模型耗时是真实请求的耗时，墙钟时间还包含工具、暂停和人工处理。暂停不会让虚拟时间自动推进。</a:t>
            </a:r>
          </a:p>
          <a:p>
            <a:r>
              <a:rPr lang="zh-CN" dirty="0"/>
              <a:t>观察最后要落到一张真实的运行观察表上，每次观察标明 Run、Attempt、已提交的 Step、当前状态和证据来源，把预计值、实际值和未提供的数据分栏。下一节我们看暂停、取消、续跑与重跑。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们从第三章的装配继续往下走。资源和规则都准备好了，接下来要真的启动一次运行，并且读得懂它。&#10;&#10;很多人的第一反应是看进度条，但进度条只回答一个问题：系统提交了多少步。它不会告诉你通知有没有被听到、访客有没有理解、模型花了多少钱。&#10;&#10;所以这一段要做两件事：一是按状态和时间口径把一次运行读清楚，二是把该记的证据留下来。青禾案例还没有真正在浏览器里跑过一次，后面出现的数字都属于方案推算，不是运行成绩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三章　在共同世界中行动：用完整案例学习 GenerativeAgentsCN　·　3.9&lt;/Text&gt;&#10;    &lt;/Box&gt;&#10;&#10;    &lt;Box style={{ height: 540, flexDirection: 'row', alignItems: 'center', gap: 32 }}&gt;&#10;&#10;        &lt;Box style={{ width: 560, flexDirection: 'column', justifyContent: 'center', gap: 14 }}&gt;&#10;            &lt;Text style={{ fontSize: 52, fontWeight: 'bold', color: '#20344B', lineHeight: 1.2 }}&gt;启动、观察{'\n'}与估算&lt;/Text&gt;&#10;            &lt;Box style={{ width: 72, height: 4, background: '#276FBF' }} /&gt;&#10;            &lt;Text style={{ fontSize: 17, color: '#546779', lineHeight: 1.7, width: 560 }}&gt;资源和规则备好以后，第一次真正启动一次运行。要看懂它走到哪一步、能观察到什么、又花掉了多少。&lt;/Text&gt;&#10;            &lt;Box style={{ flexDirection: 'row', gap: 12, marginTop: 4 }}&gt;&#10;                &lt;Box style={{ width: 128, height: 42, background: '#EDF4FC', borderRadius: 8, justifyContent: 'center', alignItems: 'center' }}&gt;&#10;                    &lt;Text style={{ fontSize: 15, color: '#276FBF' }}&gt;八种状态&lt;/Text&gt;&#10;                &lt;/Box&gt;&#10;                &lt;Box style={{ width: 128, height: 42, background: '#EDF4FC', borderRadius: 8, justifyContent: 'center', alignItems: 'center' }}&gt;&#10;                    &lt;Text style={{ fontSize: 15, color: '#276FBF' }}&gt;三种时间&lt;/Text&gt;&#10;                &lt;/Box&gt;&#10;                &lt;Box style={{ width: 128, height: 42, background: '#EDF4FC', borderRadius: 8, justifyContent: 'center', alignItems: 'center' }}&gt;&#10;                    &lt;Text style={{ fontSize: 15, color: '#276FBF' }}&gt;调用与费用&lt;/Text&gt;&#10;                &lt;/Box&gt;&#10;                &lt;Box style={{ width: 128, height: 42, background: '#ECF7F2', borderRadius: 8, justifyContent: 'center', alignItems: 'center' }}&gt;&#10;                    &lt;Text style={{ fontSize: 15, color: '#26816B' }}&gt;观察表&lt;/Text&gt;&#10;                &lt;/Box&gt;&#10;            &lt;/Box&gt;&#10;        &lt;/Box&gt;&#10;&#10;        &lt;Box style={{ width: 560, flexDirection: 'column', justifyContent: 'center', gap: 14 }}&gt;&#10;            &lt;Box style={{ flexDirection: 'row', alignItems: 'center', gap: 12 }}&gt;&#10;                &lt;Text style={{ fontSize: 16, fontWeight: 'bold', color: '#20344B' }}&gt;执行实验 › 运行进度&lt;/Text&gt;&#10;                &lt;Box style={{ width: 56, height: 24, background: '#FFF4E6', borderRadius: 6, justifyContent: 'center', alignItems: 'center' }}&gt;&#10;                    &lt;Text style={{ fontSize: 13, color: '#CB6B28' }}&gt;示意&lt;/Text&gt;&#10;                &lt;/Box&gt;&#10;            &lt;/Box&gt;&#10;            &lt;Box style={{ width: 560, height: 46, background: '#F4F7FA', borderRadius: 8, flexDirection: 'row', alignItems: 'center', padding: '0 8px' }}&gt;&#10;                &lt;Box style={{ width: 330, height: 30, background: '#276FBF', borderRadius: 6 }} /&gt;&#10;                &lt;Box style={{ width: 214 }} /&gt;&#10;            &lt;/Box&gt;&#10;            &lt;Text style={{ fontSize: 13, color: '#546779' }}&gt;进度只表示系统已提交的步数，不表示业务结果&lt;/Text&gt;&#10;            &lt;Box style={{ width: 560, height: 92, background: '#EDF4FC', borderRadius: 10, padding: '10px 18px', flexDirection: 'column', gap: 4, justifyContent: 'center' }}&gt;&#10;                &lt;Text style={{ fontSize: 16, fontWeight: 'bold', color: '#276FBF' }}&gt;它回答：系统提交了多少步&lt;/Text&gt;&#10;                &lt;Text style={{ fontSize: 14, color: '#546779' }}&gt;对应请求 Step 的提交进度&lt;/Text&gt;&#10;            &lt;/Box&gt;&#10;            &lt;Box style={{ width: 560, height: 112, background: '#FFF4E6', borderRadius: 10, padding: '10px 18px', flexDirection: 'column', gap: 4, justifyContent: 'center' }}&gt;&#10;                &lt;Text style={{ fontSize: 16, fontWeight: 'bold', color: '#CB6B28' }}&gt;它没有自动回答三件事&lt;/Text&gt;&#10;                &lt;Text style={{ fontSize: 14, color: '#546779' }}&gt;通知是否有效　·　访客是否理解{'\n'}模型用了多少成本&lt;/Text&gt;&#10;            &lt;/Box&gt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485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第三章　在共同世界中行动：用完整案例学习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GenerativeAgentsCN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3.9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53340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启动、观察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与估算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7909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962400"/>
            <a:ext cx="5334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资源和规则备好以后，第一次真正启动一次运行。要看懂它走到哪一步、能观察到什么、又花掉了多少。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334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八种状态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19431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2669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三种时间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32766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533775" y="49149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调用与费用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46101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010150" y="491490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观察表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248400" y="2085975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执行实验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›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运行进度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7734300" y="2066925"/>
            <a:ext cx="533400" cy="228600"/>
          </a:xfrm>
          <a:prstGeom prst="roundRect">
            <a:avLst>
              <a:gd name="adj" fmla="val 25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877175" y="21050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248400" y="2428875"/>
            <a:ext cx="5334000" cy="438150"/>
          </a:xfrm>
          <a:prstGeom prst="roundRect">
            <a:avLst>
              <a:gd name="adj" fmla="val 173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6324600" y="2505075"/>
            <a:ext cx="3143250" cy="28575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248400" y="3000375"/>
            <a:ext cx="533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进度只表示系统已提交的步数，不表示业务结果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248400" y="3286125"/>
            <a:ext cx="53340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419850" y="3533775"/>
            <a:ext cx="4991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它回答：系统提交了多少步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419850" y="3762375"/>
            <a:ext cx="499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对应请求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的提交进度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6248400" y="4295775"/>
            <a:ext cx="5334000" cy="1066800"/>
          </a:xfrm>
          <a:prstGeom prst="roundRect">
            <a:avLst>
              <a:gd name="adj" fmla="val 89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419850" y="4552950"/>
            <a:ext cx="4991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它没有自动回答三件事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419850" y="4781550"/>
            <a:ext cx="49911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通知是否有效　·　访客是否理解</a:t>
            </a:r>
            <a:endParaRPr/>
          </a:p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模型用了多少成本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50" name="" descr="&lt;Slide notes={`这一节分成四块。&#10;&#10;第一块是启动前固定输入：点击执行实验，确认预检、参数与预计消耗，Run 创建时会把实验完整复制到自己目录，并记录内嵌实验 ID 与内容哈希。&#10;&#10;第二块是状态与窗口：八个状态各自只说明执行走到哪一步；观察窗口由起始时间、步长和请求步数决定，是算得出来的。&#10;&#10;第三块是页面里看什么：回放、Agent、诊断、质量、结果与导出，再加上要留意的 Trace 记录。&#10;&#10;第四块是估算与费用：公式给的是范围，逻辑调用与物理尝试要分开统计，没有返回用量的时候就记未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本节地图　3.9&lt;/Text&gt;&#10;            &lt;Text style={{ fontSize: 34, fontWeight: 'bold', color: '#20344B' }}&gt;本节要看清的四件事&lt;/Text&gt;&#10;        &lt;/Box&gt;&#10;    &lt;/Box&gt;&#10;&#10;    &lt;Box style={{ height: 540, flexDirection: 'row', alignItems: 'center', gap: 32 }}&gt;&#10;&#10;        &lt;Box style={{ width: 380, flexDirection: 'column', gap: 12 }}&gt;&#10;            &lt;Text style={{ fontSize: 20, fontWeight: 'bold', color: '#20344B', lineHeight: 1.4 }}&gt;从启动到估算，{'\n'}四块内容按顺序推进&lt;/Text&gt;&#10;            &lt;Box style={{ width: 72, height: 4, background: '#276FBF' }} /&gt;&#10;            &lt;Text style={{ fontSize: 16, color: '#546779', lineHeight: 1.7, width: 380 }}&gt;先锁定输入与身份，再学会读状态和窗口，然后看页面上能取到什么证据，最后把调用与费用算清楚。&lt;/Text&gt;&#10;            &lt;Box style={{ width: 380, height: 96, background: '#FFF4E6', borderRadius: 10, padding: '12px 16px', flexDirection: 'column', gap: 4, justifyContent: 'center', marginTop: 6 }}&gt;&#10;                &lt;Text style={{ fontSize: 16, fontWeight: 'bold', color: '#CB6B28' }}&gt;数值均为方案推算&lt;/Text&gt;&#10;                &lt;Text style={{ fontSize: 14, color: '#546779', lineHeight: 1.5 }}&gt;本案例尚未运行，数字不是运行成绩&lt;/Text&gt;&#10;            &lt;/Box&gt;&#10;        &lt;/Box&gt;&#10;&#10;        &lt;Box style={{ width: 740, flexDirection: 'column', gap: 16 }}&gt;&#10;&#10;            &lt;Box style={{ width: 740, height: 112, background: '#F4F7FA', borderRadius: 10, padding: '0 18px', flexDirection: 'row', alignItems: 'center', gap: 16 }}&gt;&#10;                &lt;Box style={{ width: 52, height: 52, background: '#276FBF', borderRadius: 8, justifyContent: 'center', alignItems: 'center' }}&gt;&#10;                    &lt;Text style={{ fontSize: 24, fontWeight: 'bold', color: '#FFFFFF' }}&gt;①&lt;/Text&gt;&#10;                &lt;/Box&gt;&#10;                &lt;Box style={{ flexDirection: 'column', gap: 4, flex: 1 }}&gt;&#10;                    &lt;Text style={{ fontSize: 20, fontWeight: 'bold', color: '#20344B' }}&gt;启动前固定了哪些输入&lt;/Text&gt;&#10;                    &lt;Text style={{ fontSize: 15, color: '#546779', lineHeight: 1.5 }}&gt;预检、参数与预计消耗一起确认；Run 复制出创建那一刻的副本　·　3.9.1&lt;/Text&gt;&#10;                &lt;/Box&gt;&#10;            &lt;/Box&gt;&#10;&#10;            &lt;Box style={{ width: 740, height: 112, background: '#F4F7FA', borderRadius: 10, padding: '0 18px', flexDirection: 'row', alignItems: 'center', gap: 16 }}&gt;&#10;                &lt;Box style={{ width: 52, height: 52, background: '#276FBF', borderRadius: 8, justifyContent: 'center', alignItems: 'center' }}&gt;&#10;                    &lt;Text style={{ fontSize: 24, fontWeight: 'bold', color: '#FFFFFF' }}&gt;②&lt;/Text&gt;&#10;                &lt;/Box&gt;&#10;                &lt;Box style={{ flexDirection: 'column', gap: 4, flex: 1 }}&gt;&#10;                    &lt;Text style={{ fontSize: 20, fontWeight: 'bold', color: '#20344B' }}&gt;状态与窗口各说明什么&lt;/Text&gt;&#10;                    &lt;Text style={{ fontSize: 15, color: '#546779', lineHeight: 1.5 }}&gt;八种状态只说执行阶段；窗口只覆盖请求的那几步　·　3.9.2 / 3.9.3&lt;/Text&gt;&#10;                &lt;/Box&gt;&#10;            &lt;/Box&gt;&#10;&#10;            &lt;Box style={{ width: 740, height: 112, background: '#F4F7FA', borderRadius: 10, padding: '0 18px', flexDirection: 'row', alignItems: 'center', gap: 16 }}&gt;&#10;                &lt;Box style={{ width: 52, height: 52, background: '#276FBF', borderRadius: 8, justifyContent: 'center', alignItems: 'center' }}&gt;&#10;                    &lt;Text style={{ fontSize: 24, fontWeight: 'bold', color: '#FFFFFF' }}&gt;③&lt;/Text&gt;&#10;                &lt;/Box&gt;&#10;                &lt;Box style={{ flexDirection: 'column', gap: 4, flex: 1 }}&gt;&#10;                    &lt;Text style={{ fontSize: 20, fontWeight: 'bold', color: '#20344B' }}&gt;在页面里能看到什么&lt;/Text&gt;&#10;                    &lt;Text style={{ fontSize: 15, color: '#546779', lineHeight: 1.5 }}&gt;回放、Agent、诊断、质量、结果与导出，都受已提交事实限制　·　3.9.4&lt;/Text&gt;&#10;                &lt;/Box&gt;&#10;            &lt;/Box&gt;&#10;&#10;            &lt;Box style={{ width: 740, height: 112, background: '#FFF4E6', borderRadius: 10, padding: '0 18px', flexDirection: 'row', alignItems: 'center', gap: 16 }}&gt;&#10;                &lt;Box style={{ width: 52, height: 52, background: '#CB6B28', borderRadius: 8, justifyContent: 'center', alignItems: 'center' }}&gt;&#10;                    &lt;Text style={{ fontSize: 24, fontWeight: 'bold', color: '#FFFFFF' }}&gt;④&lt;/Text&gt;&#10;                &lt;/Box&gt;&#10;                &lt;Box style={{ flexDirection: 'column', gap: 4, flex: 1 }}&gt;&#10;                    &lt;Text style={{ fontSize: 20, fontWeight: 'bold', color: '#20344B' }}&gt;估算、调用与费用&lt;/Text&gt;&#10;                    &lt;Text style={{ fontSize: 15, color: '#546779', lineHeight: 1.5 }}&gt;公式给的是区间；逻辑调用与物理尝试分开统计　·　3.9.5 / 3.9.6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9 启动、观察与估算：读懂一次仿真的进度&lt;/Text&gt;&#10;        &lt;Text style={{ fontSize: 14, color: '#546779' }}&gt;02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本节地图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3.9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本节要看清的四件事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609600" y="2400300"/>
            <a:ext cx="3619500" cy="6477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从启动到估算，</a:t>
            </a:r>
            <a:endParaRPr/>
          </a:p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四块内容按顺序推进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609600" y="31623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09600" y="3314700"/>
            <a:ext cx="3619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先锁定输入与身份，再学会读状态和窗口，然后看页面上能取到什么证据，最后把调用与费用算清楚。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609600" y="4114800"/>
            <a:ext cx="36195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762000" y="4333875"/>
            <a:ext cx="3314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数值均为方案推算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762000" y="45624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本案例尚未运行，数字不是运行成绩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4533900" y="1352550"/>
            <a:ext cx="7048500" cy="1066800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62" name=""/>
          <p:cNvSpPr/>
          <p:nvPr/>
        </p:nvSpPr>
        <p:spPr>
          <a:xfrm rot="0" flipH="0" flipV="0">
            <a:off x="4705350" y="16383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4838700" y="175260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5353050" y="1628775"/>
            <a:ext cx="6057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启动前固定了哪些输入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5353050" y="1895475"/>
            <a:ext cx="6057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预检、参数与预计消耗一起确认；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复制出创建那一刻的副本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3.9.1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4533900" y="2571750"/>
            <a:ext cx="7048500" cy="1066800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67" name=""/>
          <p:cNvSpPr/>
          <p:nvPr/>
        </p:nvSpPr>
        <p:spPr>
          <a:xfrm rot="0" flipH="0" flipV="0">
            <a:off x="4705350" y="28575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4838700" y="297180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5353050" y="2847975"/>
            <a:ext cx="6057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状态与窗口各说明什么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5353050" y="3114675"/>
            <a:ext cx="6057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八种状态只说执行阶段；窗口只覆盖请求的那几步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3.9.2 / 3.9.3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4533900" y="3790950"/>
            <a:ext cx="7048500" cy="1066800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2" name=""/>
          <p:cNvSpPr/>
          <p:nvPr/>
        </p:nvSpPr>
        <p:spPr>
          <a:xfrm rot="0" flipH="0" flipV="0">
            <a:off x="4705350" y="40767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4838700" y="419100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5353050" y="4067175"/>
            <a:ext cx="6057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在页面里能看到什么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5353050" y="4333875"/>
            <a:ext cx="6057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回放、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Agent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、诊断、质量、结果与导出，都受已提交事实限制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3.9.4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4533900" y="5010150"/>
            <a:ext cx="7048500" cy="1066800"/>
          </a:xfrm>
          <a:prstGeom prst="roundRect">
            <a:avLst>
              <a:gd name="adj" fmla="val 89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77" name=""/>
          <p:cNvSpPr/>
          <p:nvPr/>
        </p:nvSpPr>
        <p:spPr>
          <a:xfrm rot="0" flipH="0" flipV="0">
            <a:off x="4705350" y="5295900"/>
            <a:ext cx="495300" cy="495300"/>
          </a:xfrm>
          <a:prstGeom prst="roundRect">
            <a:avLst>
              <a:gd name="adj" fmla="val 15385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4838700" y="541020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5353050" y="5286375"/>
            <a:ext cx="6057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估算、调用与费用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5353050" y="5553075"/>
            <a:ext cx="6057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公式给的是区间；逻辑调用与物理尝试分开统计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3.9.5 / 3.9.6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启动、观察与估算：读懂一次仿真的进度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23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77" name="" descr="&lt;Slide notes={`启动不是点一下按钮那么简单。&#10;&#10;点击执行实验以后，系统会先给出预检结果、执行参数和预计消耗，确认无误再点确认执行。需要的时候，前端会先把草稿封存，再创建新的 Run。&#10;&#10;Run 创建成功之后，还要重新读取它的状态，把实验和 Run 的身份核对一遍。页面上出现「已创建」的提示，只能说明提交成功，不能代替运行状态本身。&#10;&#10;所以我把这一段叫做先把输入固定：输入没有锁定，后面观察到的东西就没有参照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1　　3.9.1 启动时固定了哪些输入&lt;/Text&gt;&#10;&#10;        &lt;Text style={{ fontSize: 56, fontWeight: 'bold', color: '#20344B', lineHeight: 1.15 }}&gt;先弄清启动前固定了哪些输入&lt;/Text&gt;&#10;&#10;        &lt;Box style={{ width: 72, height: 4, background: '#276FBF' }} /&gt;&#10;&#10;        &lt;Text style={{ fontSize: 18, color: '#546779', lineHeight: 1.7, width: 900 }}&gt;预检、参数与预计消耗一起确认；Run 创建以后，读取到的才是它真正的状态。&lt;/Text&gt;&#10;&#10;        &lt;Box style={{ flexDirection: 'row', alignItems: 'center', marginTop: 10 }}&gt;&#10;            &lt;Box style={{ width: 340, height: 64, background: '#EDF4FC', borderRadius: 8, justifyContent: 'center', alignItems: 'center' }}&gt;&#10;                &lt;Text style={{ fontSize: 18, color: '#276FBF' }}&gt;预检与封存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40, height: 64, background: '#EDF4FC', borderRadius: 8, justifyContent: 'center', alignItems: 'center' }}&gt;&#10;                &lt;Text style={{ fontSize: 18, color: '#276FBF' }}&gt;确认执行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40, height: 64, background: '#ECF7F2', borderRadius: 8, justifyContent: 'center', alignItems: 'center' }}&gt;&#10;                &lt;Text style={{ fontSize: 18, color: '#26816B' }}&gt;读取 Run 状态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9 启动、观察与估算：读懂一次仿真的进度&lt;/Text&gt;&#10;        &lt;Text style={{ fontSize: 14, color: '#546779' }}&gt;03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3.9.1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启动时固定了哪些输入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先弄清启动前固定了哪些输入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预检、参数与预计消耗一起确认；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创建以后，读取到的才是它真正的状态。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609600" y="405765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1800225" y="42576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预检与封存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4019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4267200" y="405765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55435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确认执行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7677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7924800" y="405765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8991600" y="4257675"/>
            <a:ext cx="1114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读取</a:t>
            </a:r>
            <a:r>
              <a:rPr lang="en-US" sz="1350">
                <a:solidFill>
                  <a:srgbClr val="26816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状态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启动、观察与估算：读懂一次仿真的进度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23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93" name="" descr="&lt;Slide notes={`确认窗口里的三组信息要分开看。&#10;&#10;预检结果是关于输入的：草稿、资源与模型是否齐备。执行参数是关于这次运行的：起始虚拟时间、步长和请求步数。预计消耗是关于量级的：模型调用、Token 和墙钟时间大致落在哪个区间。&#10;&#10;预检通过只说明这些输入可以用，不等于运行已经开始。所以确认以后要回到 Run 的列表，看它真正的状态。&#10;&#10;另外这些数值都是推算范围，不是承诺。等真正跑完，还要拿实际耗时和用量回来校准，不然下一次预算还是拍脑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9.1　启动时固定了哪些输入&lt;/Text&gt;&#10;            &lt;Text style={{ fontSize: 34, fontWeight: 'bold', color: '#20344B' }}&gt;点击执行实验以后会发生什么&lt;/Text&gt;&#10;        &lt;/Box&gt;&#10;    &lt;/Box&gt;&#10;&#10;    &lt;Box style={{ height: 540, flexDirection: 'row', alignItems: 'center', gap: 32 }}&gt;&#10;&#10;        &lt;Box style={{ width: 640, background: '#F4F7FA', borderRadius: 10, padding: 18, flexDirection: 'column', gap: 10 }}&gt;&#10;&#10;            &lt;Box style={{ flexDirection: 'row', alignItems: 'center', gap: 12 }}&gt;&#10;                &lt;Text style={{ fontSize: 16, fontWeight: 'bold', color: '#546779' }}&gt;确认执行 · 检查窗口&lt;/Text&gt;&#10;                &lt;Box style={{ width: 56, height: 24, background: '#FFF4E6', borderRadius: 6, justifyContent: 'center', alignItems: 'center' }}&gt;&#10;                    &lt;Text style={{ fontSize: 13, color: '#CB6B28' }}&gt;示意&lt;/Text&gt;&#10;                &lt;/Box&gt;&#10;            &lt;/Box&gt;&#10;&#10;            &lt;Box style={{ width: 604, height: 52, background: '#FFFFFF', borderRadius: 8, padding: '0 16px', flexDirection: 'row', alignItems: 'center', gap: 12 }}&gt;&#10;                &lt;Text style={{ width: 92, fontSize: 14, color: '#546779' }}&gt;预检结果&lt;/Text&gt;&#10;                &lt;Text style={{ fontSize: 15, color: '#20344B', flex: 1 }}&gt;草稿已封存　·　资源与模型齐备&lt;/Text&gt;&#10;            &lt;/Box&gt;&#10;&#10;            &lt;Box style={{ width: 604, height: 52, background: '#FFFFFF', borderRadius: 8, padding: '0 16px', flexDirection: 'row', alignItems: 'center', gap: 12 }}&gt;&#10;                &lt;Text style={{ width: 92, fontSize: 14, color: '#546779' }}&gt;执行参数&lt;/Text&gt;&#10;                &lt;Text style={{ fontSize: 15, color: '#20344B', flex: 1 }}&gt;起始 2026-10-17 09:50　·　步长 60 秒　·　请求 48 步&lt;/Text&gt;&#10;            &lt;/Box&gt;&#10;&#10;            &lt;Box style={{ width: 604, height: 86, background: '#EDF4FC', borderRadius: 8, padding: '10px 16px', flexDirection: 'column', gap: 8 }}&gt;&#10;                &lt;Text style={{ fontSize: 14, color: '#546779' }}&gt;预计消耗（推算范围，不是承诺）&lt;/Text&gt;&#10;                &lt;Box style={{ flexDirection: 'row', gap: 10 }}&gt;&#10;                    &lt;Box style={{ width: 180, height: 34, background: '#FFFFFF', borderRadius: 6, justifyContent: 'center', alignItems: 'center' }}&gt;&#10;                        &lt;Text style={{ fontSize: 13, color: '#276FBF' }}&gt;调用 288–864 次&lt;/Text&gt;&#10;                    &lt;/Box&gt;&#10;                    &lt;Box style={{ width: 180, height: 34, background: '#FFFFFF', borderRadius: 6, justifyContent: 'center', alignItems: 'center' }}&gt;&#10;                        &lt;Text style={{ fontSize: 13, color: '#276FBF' }}&gt;Token 144k–864k&lt;/Text&gt;&#10;                    &lt;/Box&gt;&#10;                    &lt;Box style={{ width: 180, height: 34, background: '#FFFFFF', borderRadius: 6, justifyContent: 'center', alignItems: 'center' }}&gt;&#10;                        &lt;Text style={{ fontSize: 13, color: '#276FBF' }}&gt;墙钟 9.6–144 分钟&lt;/Text&gt;&#10;                    &lt;/Box&gt;&#10;                &lt;/Box&gt;&#10;            &lt;/Box&gt;&#10;&#10;            &lt;Box style={{ flexDirection: 'row', gap: 10, marginTop: 2 }}&gt;&#10;                &lt;Box style={{ width: 120, height: 38, background: '#276FBF', borderRadius: 8, justifyContent: 'center', alignItems: 'center' }}&gt;&#10;                    &lt;Text style={{ fontSize: 15, fontWeight: 'bold', color: '#FFFFFF' }}&gt;确认执行&lt;/Text&gt;&#10;                &lt;/Box&gt;&#10;                &lt;Box style={{ width: 96, height: 38, background: '#FFFFFF', borderRadius: 8, justifyContent: 'center', alignItems: 'center' }}&gt;&#10;                    &lt;Text style={{ fontSize: 15, color: '#546779' }}&gt;取消&lt;/Text&gt;&#10;                &lt;/Box&gt;&#10;            &lt;/Box&gt;&#10;&#10;        &lt;/Box&gt;&#10;&#10;        &lt;Box style={{ width: 480, flexDirection: 'column', gap: 12 }}&gt;&#10;&#10;            &lt;Text style={{ fontSize: 20, fontWeight: 'bold', color: '#20344B' }}&gt;确认之后，还有三件事&lt;/Text&gt;&#10;&#10;            &lt;Box style={{ width: 480, height: 84, background: '#F4F7FA', borderRadius: 8, padding: '0 16px', flexDirection: 'row', alignItems: 'center', gap: 12 }}&gt;&#10;                &lt;Box style={{ width: 4, height: 44, background: '#276FBF' }} /&gt;&#10;                &lt;Box style={{ flexDirection: 'column', gap: 3, flex: 1 }}&gt;&#10;                    &lt;Text style={{ fontSize: 16, fontWeight: 'bold', color: '#20344B' }}&gt;需要时先封存草稿&lt;/Text&gt;&#10;                    &lt;Text style={{ fontSize: 13, color: '#546779' }}&gt;封存完成，再创建新的 Run&lt;/Text&gt;&#10;                &lt;/Box&gt;&#10;            &lt;/Box&gt;&#10;&#10;            &lt;Box style={{ width: 480, height: 84, background: '#F4F7FA', borderRadius: 8, padding: '0 16px', flexDirection: 'row', alignItems: 'center', gap: 12 }}&gt;&#10;                &lt;Box style={{ width: 4, height: 44, background: '#276FBF' }} /&gt;&#10;                &lt;Box style={{ flexDirection: 'column', gap: 3, flex: 1 }}&gt;&#10;                    &lt;Text style={{ fontSize: 16, fontWeight: 'bold', color: '#20344B' }}&gt;重新读取 Run 的状态&lt;/Text&gt;&#10;                    &lt;Text style={{ fontSize: 13, color: '#546779' }}&gt;确认实验与 Run 的身份对得上&lt;/Text&gt;&#10;                &lt;/Box&gt;&#10;            &lt;/Box&gt;&#10;&#10;            &lt;Box style={{ width: 480, height: 84, background: '#F4F7FA', borderRadius: 8, padding: '0 16px', flexDirection: 'row', alignItems: 'center', gap: 12 }}&gt;&#10;                &lt;Box style={{ width: 4, height: 44, background: '#CB6B28' }} /&gt;&#10;                &lt;Box style={{ flexDirection: 'column', gap: 3, flex: 1 }}&gt;&#10;                    &lt;Text style={{ fontSize: 16, fontWeight: 'bold', color: '#20344B' }}&gt;提示不能代替状态&lt;/Text&gt;&#10;                    &lt;Text style={{ fontSize: 13, color: '#546779' }}&gt;「已创建」只说明提交成功&lt;/Text&gt;&#10;                &lt;/Box&gt;&#10;            &lt;/Box&gt;&#10;&#10;            &lt;Box style={{ width: 480, height: 78, background: '#FFF4E6', borderRadius: 10, padding: '0 16px', flexDirection: 'row', alignItems: 'center', gap: 12 }}&gt;&#10;                &lt;Box style={{ width: 4, height: 46, background: '#CB6B28' }} /&gt;&#10;                &lt;Text style={{ fontSize: 14, color: '#546779', flex: 1, lineHeight: 1.5 }}&gt;预检通过只说明输入可用，不等于运行已经开始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9 启动、观察与估算：读懂一次仿真的进度&lt;/Text&gt;&#10;        &lt;Text style={{ fontSize: 14, color: '#546779' }}&gt;04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3.9.1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启动时固定了哪些输入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点击执行实验以后会发生什么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609600" y="2143125"/>
            <a:ext cx="6096000" cy="3143250"/>
          </a:xfrm>
          <a:prstGeom prst="roundRect">
            <a:avLst>
              <a:gd name="adj" fmla="val 303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781050" y="2333625"/>
            <a:ext cx="1381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46779"/>
                </a:solidFill>
                <a:latin typeface="Microsoft YaHei"/>
                <a:ea typeface="Microsoft YaHei"/>
              </a:rPr>
              <a:t>确认执行</a:t>
            </a:r>
            <a:r>
              <a:rPr lang="en-US" sz="1200" b="1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546779"/>
                </a:solidFill>
                <a:latin typeface="Microsoft YaHei"/>
                <a:ea typeface="Microsoft YaHei"/>
              </a:rPr>
              <a:t>检查窗口</a:t>
            </a:r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2276475" y="2314575"/>
            <a:ext cx="533400" cy="228600"/>
          </a:xfrm>
          <a:prstGeom prst="roundRect">
            <a:avLst>
              <a:gd name="adj" fmla="val 25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2419350" y="23526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781050" y="2638425"/>
            <a:ext cx="57531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933450" y="2809875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预检结果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1924050" y="2800350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草稿已封存　·　资源与模型齐备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781050" y="3228975"/>
            <a:ext cx="57531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933450" y="3400425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执行参数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1924050" y="3390900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起始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2026-10-17 09:50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　·　步长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秒　·　请求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48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781050" y="3819525"/>
            <a:ext cx="5753100" cy="819150"/>
          </a:xfrm>
          <a:prstGeom prst="roundRect">
            <a:avLst>
              <a:gd name="adj" fmla="val 930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933450" y="3914775"/>
            <a:ext cx="544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预计消耗（推算范围，不是承诺）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933450" y="4152900"/>
            <a:ext cx="17145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1314450" y="4238625"/>
            <a:ext cx="952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调用</a:t>
            </a: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 xml:space="preserve"> 288–864 </a:t>
            </a: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2743200" y="4152900"/>
            <a:ext cx="17145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3086100" y="4238625"/>
            <a:ext cx="1028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>Token 144k–864k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4552950" y="4152900"/>
            <a:ext cx="17145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4895850" y="4238625"/>
            <a:ext cx="1028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墙钟</a:t>
            </a: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 xml:space="preserve"> 9.6–144 </a:t>
            </a: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781050" y="4752975"/>
            <a:ext cx="1143000" cy="361950"/>
          </a:xfrm>
          <a:prstGeom prst="roundRect">
            <a:avLst>
              <a:gd name="adj" fmla="val 21053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1066800" y="48482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确认执行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2019300" y="4752975"/>
            <a:ext cx="9144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2333625" y="48482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取消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7010400" y="1800225"/>
            <a:ext cx="457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确认之后，还有三件事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7010400" y="2143125"/>
            <a:ext cx="457200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2" name=""/>
          <p:cNvSpPr/>
          <p:nvPr/>
        </p:nvSpPr>
        <p:spPr>
          <a:xfrm rot="0" flipH="0" flipV="0">
            <a:off x="7162800" y="23336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7315200" y="2362200"/>
            <a:ext cx="411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需要时先封存草稿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7315200" y="2581275"/>
            <a:ext cx="4114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封存完成，再创建新的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7010400" y="3057525"/>
            <a:ext cx="457200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6" name=""/>
          <p:cNvSpPr/>
          <p:nvPr/>
        </p:nvSpPr>
        <p:spPr>
          <a:xfrm rot="0" flipH="0" flipV="0">
            <a:off x="7162800" y="32480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7315200" y="3276600"/>
            <a:ext cx="411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重新读取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的状态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7315200" y="3495675"/>
            <a:ext cx="4114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确认实验与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的身份对得上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7010400" y="3971925"/>
            <a:ext cx="457200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0" name=""/>
          <p:cNvSpPr/>
          <p:nvPr/>
        </p:nvSpPr>
        <p:spPr>
          <a:xfrm rot="0" flipH="0" flipV="0">
            <a:off x="7162800" y="41624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7315200" y="4191000"/>
            <a:ext cx="411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提示不能代替状态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7315200" y="4410075"/>
            <a:ext cx="4114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「已创建」只说明提交成功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7010400" y="4886325"/>
            <a:ext cx="4572000" cy="742950"/>
          </a:xfrm>
          <a:prstGeom prst="roundRect">
            <a:avLst>
              <a:gd name="adj" fmla="val 128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34" name=""/>
          <p:cNvSpPr/>
          <p:nvPr/>
        </p:nvSpPr>
        <p:spPr>
          <a:xfrm rot="0" flipH="0" flipV="0">
            <a:off x="7162800" y="5038725"/>
            <a:ext cx="38100" cy="4381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7315200" y="5133975"/>
            <a:ext cx="4114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预检通过只说明输入可用，不等于运行已经开始。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启动、观察与估算：读懂一次仿真的进度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23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38" name="" descr="&lt;Slide notes={`Run 创建的那一刻，系统把当时的实验完整复制进它自己的 experiment 目录，同时记下内嵌实验的 ID 和内容哈希。&#10;&#10;这两件事决定了后面观察的可信度。后续运行读的都是这份副本，而不是公共资源；身份信息则让「这次运行用的是哪一版实验」可以被核对。&#10;&#10;所以启动以后再改公共公告栏的 Skill，不会影响已经启动的青禾 Run。想比较新方案，正确做法是另建一个独立实验，在里面改完再启动，而不是去动正在运行的那一个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9.1　启动时固定了哪些输入&lt;/Text&gt;&#10;            &lt;Text style={{ fontSize: 34, fontWeight: 'bold', color: '#20344B' }}&gt;Run 创建后，先确认它复制了什么&lt;/Text&gt;&#10;        &lt;/Box&gt;&#10;    &lt;/Box&gt;&#10;&#10;    &lt;Box style={{ height: 540, flexDirection: 'column', justifyContent: 'center', gap: 18 }}&gt;&#10;&#10;        &lt;Box style={{ flexDirection: 'column', gap: 4 }}&gt;&#10;            &lt;Text style={{ fontSize: 20, fontWeight: 'bold', color: '#20344B' }}&gt;副本随 Run 走，身份留在记录里&lt;/Text&gt;&#10;            &lt;Text style={{ fontSize: 14, color: '#546779' }}&gt;启动之后再改公共资源，不会改变已经启动的这一次&lt;/Text&gt;&#10;        &lt;/Box&gt;&#10;&#10;        &lt;Box style={{ flexDirection: 'row', alignItems: 'center' }}&gt;&#10;            &lt;Box style={{ width: 354, height: 148, background: '#EDF4FC', borderRadius: 10, padding: '14px 18px', flexDirection: 'column', gap: 6, justifyContent: 'center' }}&gt;&#10;                &lt;Text style={{ fontSize: 40, fontWeight: 'bold', color: '#276FBF' }}&gt;01&lt;/Text&gt;&#10;                &lt;Text style={{ fontSize: 18, fontWeight: 'bold', color: '#20344B' }}&gt;复制实验&lt;/Text&gt;&#10;                &lt;Text style={{ fontSize: 14, color: '#546779', lineHeight: 1.45 }}&gt;创建时把实验完整复制到 Run 自己的 experiment 目录&lt;/Text&gt;&#10;            &lt;/Box&gt;&#10;            &lt;Box style={{ width: 44, height: 148, justifyContent: 'center', alignItems: 'center' }}&gt;&#10;                &lt;Text style={{ fontSize: 26, color: '#276FBF' }}&gt;›&lt;/Text&gt;&#10;            &lt;/Box&gt;&#10;            &lt;Box style={{ width: 354, height: 148, background: '#EDF4FC', borderRadius: 10, padding: '14px 18px', flexDirection: 'column', gap: 6, justifyContent: 'center' }}&gt;&#10;                &lt;Text style={{ fontSize: 40, fontWeight: 'bold', color: '#276FBF' }}&gt;02&lt;/Text&gt;&#10;                &lt;Text style={{ fontSize: 18, fontWeight: 'bold', color: '#20344B' }}&gt;保存身份&lt;/Text&gt;&#10;                &lt;Text style={{ fontSize: 14, color: '#546779', lineHeight: 1.45 }}&gt;记录内嵌实验 ID 与内容哈希，供后续核对&lt;/Text&gt;&#10;            &lt;/Box&gt;&#10;            &lt;Box style={{ width: 44, height: 148, justifyContent: 'center', alignItems: 'center' }}&gt;&#10;                &lt;Text style={{ fontSize: 26, color: '#26816B' }}&gt;›&lt;/Text&gt;&#10;            &lt;/Box&gt;&#10;            &lt;Box style={{ width: 354, height: 148, background: '#ECF7F2', borderRadius: 10, padding: '14px 18px', flexDirection: 'column', gap: 6, justifyContent: 'center' }}&gt;&#10;                &lt;Text style={{ fontSize: 40, fontWeight: 'bold', color: '#26816B' }}&gt;03&lt;/Text&gt;&#10;                &lt;Text style={{ fontSize: 18, fontWeight: 'bold', color: '#20344B' }}&gt;读取副本&lt;/Text&gt;&#10;                &lt;Text style={{ fontSize: 14, color: '#546779', lineHeight: 1.45 }}&gt;后续运行读这份副本，不再回看公共资源&lt;/Text&gt;&#10;            &lt;/Box&gt;&#10;        &lt;/Box&gt;&#10;&#10;        &lt;Box style={{ width: 1152, height: 88, background: '#F4F7FA', borderRadius: 10, padding: '0 22px', flexDirection: 'row', alignItems: 'center', gap: 18 }}&gt;&#10;            &lt;Text style={{ fontSize: 40, fontWeight: 'bold', color: '#276FBF' }}&gt;锁在创建那一刻&lt;/Text&gt;&#10;            &lt;Text style={{ fontSize: 15, color: '#546779', flex: 1, lineHeight: 1.5 }}&gt;输入副本、内嵌实验 ID 与内容哈希一起随 Run 保存&lt;/Text&gt;&#10;        &lt;/Box&gt;&#10;&#10;        &lt;Box style={{ width: 1152, height: 66, background: '#FFF4E6', borderRadius: 10, padding: '0 20px', flexDirection: 'row', alignItems: 'center', gap: 14 }}&gt;&#10;            &lt;Box style={{ width: 4, height: 44, background: '#CB6B28' }} /&gt;&#10;            &lt;Text style={{ fontSize: 15, color: '#546779', flex: 1, lineHeight: 1.5 }}&gt;启动之后再改公共公告栏 Skill，不会改变已经启动的青禾 Run；要比较新方案，应在独立实验里改完再运行。&lt;/Text&gt;&#10;        &lt;/Box&gt;&#10;&#10;    &lt;/Box&gt;&#10;&#10;    &lt;Box style={{ height: 40, flexDirection: 'row', justifyContent: 'space-between', alignItems: 'center' }}&gt;&#10;        &lt;Text style={{ fontSize: 14, color: '#546779' }}&gt;3.9 启动、观察与估算：读懂一次仿真的进度&lt;/Text&gt;&#10;        &lt;Text style={{ fontSize: 14, color: '#546779' }}&gt;05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3.9.1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启动时固定了哪些输入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953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创建后，先确认它复制了什么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609600" y="1809750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副本随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走，身份留在记录里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609600" y="207645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启动之后再改公共资源，不会改变已经启动的这一次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609600" y="2409825"/>
            <a:ext cx="3371850" cy="1409700"/>
          </a:xfrm>
          <a:prstGeom prst="roundRect">
            <a:avLst>
              <a:gd name="adj" fmla="val 675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781050" y="2495550"/>
            <a:ext cx="3028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76FB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781050" y="3009900"/>
            <a:ext cx="3028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复制实验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781050" y="3276600"/>
            <a:ext cx="30289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创建时把实验完整复制到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自己的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experiment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4152900" y="29622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4400550" y="2409825"/>
            <a:ext cx="3371850" cy="1409700"/>
          </a:xfrm>
          <a:prstGeom prst="roundRect">
            <a:avLst>
              <a:gd name="adj" fmla="val 675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4572000" y="2609850"/>
            <a:ext cx="3028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76FB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4572000" y="3124200"/>
            <a:ext cx="3028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保存身份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4572000" y="3390900"/>
            <a:ext cx="30289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记录内嵌实验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与内容哈希，供后续核对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7943850" y="29622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55" name=""/>
          <p:cNvSpPr/>
          <p:nvPr/>
        </p:nvSpPr>
        <p:spPr>
          <a:xfrm rot="0" flipH="0" flipV="0">
            <a:off x="8191500" y="2409825"/>
            <a:ext cx="3371850" cy="1409700"/>
          </a:xfrm>
          <a:prstGeom prst="roundRect">
            <a:avLst>
              <a:gd name="adj" fmla="val 675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8362950" y="2609850"/>
            <a:ext cx="3028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6816B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8362950" y="3124200"/>
            <a:ext cx="3028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读取副本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8362950" y="3390900"/>
            <a:ext cx="30289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后续运行读这份副本，不再回看公共资源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609600" y="399097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819150" y="4181475"/>
            <a:ext cx="2667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276FBF"/>
                </a:solidFill>
                <a:latin typeface="Microsoft YaHei"/>
                <a:ea typeface="Microsoft YaHei"/>
              </a:rPr>
              <a:t>锁在创建那一刻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3657600" y="4286250"/>
            <a:ext cx="7715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输入副本、内嵌实验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与内容哈希一起随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保存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609600" y="5000625"/>
            <a:ext cx="10972800" cy="628650"/>
          </a:xfrm>
          <a:prstGeom prst="roundRect">
            <a:avLst>
              <a:gd name="adj" fmla="val 1515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63" name=""/>
          <p:cNvSpPr/>
          <p:nvPr/>
        </p:nvSpPr>
        <p:spPr>
          <a:xfrm rot="0" flipH="0" flipV="0">
            <a:off x="800100" y="51054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971550" y="5191125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启动之后再改公共公告栏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，不会改变已经启动的青禾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；要比较新方案，应在独立实验里改完再运行。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启动、观察与估算：读懂一次仿真的进度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23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567" name="" descr="&lt;Slide notes={`记录表至少要写清楚这些内容：实验 ID、Run ID、实际使用的模型标识、Brain 与对象 Skill 的内容、起始虚拟时间、步长、请求步数和启动时间。&#10;&#10;这些都必须在启动时落到纸面上，因为事后回看的时候，光靠一个成功提示是还原不出实验条件的。&#10;&#10;特别要注意 ID：实验和 Run 的编号是系统实际产生的，必须照抄系统给出的值，不能拿书里的名字或示意编号顶替。模型标识也一样，要写实际调用到的那一个，而不是计划里想用的那一个。&#10;&#10;这张表看着琐碎，但它是后面所有核对的参照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9.1　启动时固定了哪些输入&lt;/Text&gt;&#10;            &lt;Text style={{ fontSize: 34, fontWeight: 'bold', color: '#20344B' }}&gt;启动记录表至少要记这些&lt;/Text&gt;&#10;        &lt;/Box&gt;&#10;    &lt;/Box&gt;&#10;&#10;    &lt;Box style={{ height: 540, flexDirection: 'column', justifyContent: 'center', gap: 16 }}&gt;&#10;&#10;        &lt;Box style={{ flexDirection: 'column', gap: 4 }}&gt;&#10;            &lt;Text style={{ fontSize: 20, fontWeight: 'bold', color: '#20344B' }}&gt;八个字段，缺一个都会让事后核对说不清&lt;/Text&gt;&#10;            &lt;Text style={{ fontSize: 14, color: '#546779' }}&gt;ID、模型与 Skill 内容要用系统实际产生的值，不能用书里的名字或示意编号&lt;/Text&gt;&#10;        &lt;/Box&gt;&#10;&#10;        &lt;Box style={{ flexDirection: 'column', gap: 20 }}&gt;&#10;&#10;            &lt;Box style={{ flexDirection: 'row', gap: 20 }}&gt;&#10;                &lt;Box style={{ width: 273, height: 112, background: '#F4F7FA', borderRadius: 8, padding: 14, flexDirection: 'column', gap: 4, justifyContent: 'center' }}&gt;&#10;                    &lt;Text style={{ fontSize: 13, color: '#546779' }}&gt;字段 01&lt;/Text&gt;&#10;                    &lt;Text style={{ fontSize: 18, fontWeight: 'bold', color: '#20344B' }}&gt;实验 ID&lt;/Text&gt;&#10;                    &lt;Text style={{ fontSize: 13, color: '#546779' }}&gt;内嵌实验的标识&lt;/Text&gt;&#10;                &lt;/Box&gt;&#10;                &lt;Box style={{ width: 273, height: 112, background: '#F4F7FA', borderRadius: 8, padding: 14, flexDirection: 'column', gap: 4, justifyContent: 'center' }}&gt;&#10;                    &lt;Text style={{ fontSize: 13, color: '#546779' }}&gt;字段 02&lt;/Text&gt;&#10;                    &lt;Text style={{ fontSize: 18, fontWeight: 'bold', color: '#20344B' }}&gt;Run ID&lt;/Text&gt;&#10;                    &lt;Text style={{ fontSize: 13, color: '#546779' }}&gt;本次运行的编号&lt;/Text&gt;&#10;                &lt;/Box&gt;&#10;                &lt;Box style={{ width: 273, height: 112, background: '#F4F7FA', borderRadius: 8, padding: 14, flexDirection: 'column', gap: 4, justifyContent: 'center' }}&gt;&#10;                    &lt;Text style={{ fontSize: 13, color: '#546779' }}&gt;字段 03&lt;/Text&gt;&#10;                    &lt;Text style={{ fontSize: 18, fontWeight: 'bold', color: '#20344B' }}&gt;实际模型标识&lt;/Text&gt;&#10;                    &lt;Text style={{ fontSize: 13, color: '#546779' }}&gt;真正调用到的模型&lt;/Text&gt;&#10;                &lt;/Box&gt;&#10;                &lt;Box style={{ width: 273, height: 112, background: '#F4F7FA', borderRadius: 8, padding: 14, flexDirection: 'column', gap: 4, justifyContent: 'center' }}&gt;&#10;                    &lt;Text style={{ fontSize: 13, color: '#546779' }}&gt;字段 04&lt;/Text&gt;&#10;                    &lt;Text style={{ fontSize: 18, fontWeight: 'bold', color: '#20344B' }}&gt;Skill 内容&lt;/Text&gt;&#10;                    &lt;Text style={{ fontSize: 13, color: '#546779' }}&gt;Brain 与对象 Skill 全文&lt;/Text&gt;&#10;                &lt;/Box&gt;&#10;            &lt;/Box&gt;&#10;&#10;            &lt;Box style={{ flexDirection: 'row', gap: 20 }}&gt;&#10;                &lt;Box style={{ width: 273, height: 112, background: '#F4F7FA', borderRadius: 8, padding: 14, flexDirection: 'column', gap: 4, justifyContent: 'center' }}&gt;&#10;                    &lt;Text style={{ fontSize: 13, color: '#546779' }}&gt;字段 05&lt;/Text&gt;&#10;                    &lt;Text style={{ fontSize: 18, fontWeight: 'bold', color: '#20344B' }}&gt;起始虚拟时间&lt;/Text&gt;&#10;                    &lt;Text style={{ fontSize: 13, color: '#546779' }}&gt;2026-10-17 09:50&lt;/Text&gt;&#10;                &lt;/Box&gt;&#10;                &lt;Box style={{ width: 273, height: 112, background: '#F4F7FA', borderRadius: 8, padding: 14, flexDirection: 'column', gap: 4, justifyContent: 'center' }}&gt;&#10;                    &lt;Text style={{ fontSize: 13, color: '#546779' }}&gt;字段 06&lt;/Text&gt;&#10;                    &lt;Text style={{ fontSize: 18, fontWeight: 'bold', color: '#20344B' }}&gt;步长&lt;/Text&gt;&#10;                    &lt;Text style={{ fontSize: 13, color: '#546779' }}&gt;一分钟，即 60 秒&lt;/Text&gt;&#10;                &lt;/Box&gt;&#10;                &lt;Box style={{ width: 273, height: 112, background: '#F4F7FA', borderRadius: 8, padding: 14, flexDirection: 'column', gap: 4, justifyContent: 'center' }}&gt;&#10;                    &lt;Text style={{ fontSize: 13, color: '#546779' }}&gt;字段 07&lt;/Text&gt;&#10;                    &lt;Text style={{ fontSize: 18, fontWeight: 'bold', color: '#20344B' }}&gt;请求步数&lt;/Text&gt;&#10;                    &lt;Text style={{ fontSize: 13, color: '#546779' }}&gt;48 步&lt;/Text&gt;&#10;                &lt;/Box&gt;&#10;                &lt;Box style={{ width: 273, height: 112, background: '#F4F7FA', borderRadius: 8, padding: 14, flexDirection: 'column', gap: 4, justifyContent: 'center' }}&gt;&#10;                    &lt;Text style={{ fontSize: 13, color: '#546779' }}&gt;字段 08&lt;/Text&gt;&#10;                    &lt;Text style={{ fontSize: 18, fontWeight: 'bold', color: '#20344B' }}&gt;启动时间&lt;/Text&gt;&#10;                    &lt;Text style={{ fontSize: 13, color: '#546779' }}&gt;墙钟上的启动时刻&lt;/Text&gt;&#10;                &lt;/Box&gt;&#10;            &lt;/Box&gt;&#10;&#10;        &lt;/Box&gt;&#10;&#10;        &lt;Box style={{ width: 1152, height: 62, background: '#FFF4E6', borderRadius: 10, padding: '0 20px', flexDirection: 'row', alignItems: 'center', gap: 14 }}&gt;&#10;            &lt;Box style={{ width: 4, height: 42, background: '#CB6B28' }} /&gt;&#10;            &lt;Text style={{ fontSize: 15, color: '#546779', flex: 1, lineHeight: 1.5 }}&gt;ID 由系统实际产生，不能用书中的名称或示意编号冒充；模型标识也要写实际调用的那一个。&lt;/Text&gt;&#10;        &lt;/Box&gt;&#10;&#10;    &lt;/Box&gt;&#10;&#10;    &lt;Box style={{ height: 40, flexDirection: 'row', justifyContent: 'space-between', alignItems: 'center' }}&gt;&#10;        &lt;Text style={{ fontSize: 14, color: '#546779' }}&gt;3.9 启动、观察与估算：读懂一次仿真的进度&lt;/Text&gt;&#10;        &lt;Text style={{ fontSize: 14, color: '#546779' }}&gt;06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3.9.1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启动时固定了哪些输入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启动记录表至少要记这些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609600" y="18954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八个字段，缺一个都会让事后核对说不清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609600" y="216217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ID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、模型与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内容要用系统实际产生的值，不能用书里的名字或示意编号</a:t>
            </a:r>
            <a:endParaRPr/>
          </a:p>
        </p:txBody>
      </p:sp>
      <p:sp>
        <p:nvSpPr>
          <p:cNvPr id="574" name=""/>
          <p:cNvSpPr/>
          <p:nvPr/>
        </p:nvSpPr>
        <p:spPr>
          <a:xfrm rot="0" flipH="0" flipV="0">
            <a:off x="609600" y="2476500"/>
            <a:ext cx="2600325" cy="10668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742950" y="27146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字段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01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742950" y="2905125"/>
            <a:ext cx="2333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实验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742950" y="315277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内嵌实验的标识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3400425" y="2476500"/>
            <a:ext cx="2600325" cy="10668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3533775" y="27146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字段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02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3533775" y="2905125"/>
            <a:ext cx="2333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Run ID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3533775" y="315277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本次运行的编号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6191250" y="2476500"/>
            <a:ext cx="2600325" cy="10668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6324600" y="27146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字段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03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6324600" y="2905125"/>
            <a:ext cx="2333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实际模型标识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6324600" y="315277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真正调用到的模型</a:t>
            </a:r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8982075" y="2476500"/>
            <a:ext cx="2600325" cy="10668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9115425" y="27146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字段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04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9115425" y="2905125"/>
            <a:ext cx="2333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内容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9115425" y="315277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与对象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全文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609600" y="3733800"/>
            <a:ext cx="2600325" cy="10668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742950" y="39719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字段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05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742950" y="4162425"/>
            <a:ext cx="2333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起始虚拟时间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742950" y="441007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2026-10-17 09:50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3400425" y="3733800"/>
            <a:ext cx="2600325" cy="10668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3533775" y="39719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字段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06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3533775" y="4162425"/>
            <a:ext cx="2333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步长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3533775" y="441007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一分钟，即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6191250" y="3733800"/>
            <a:ext cx="2600325" cy="10668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6324600" y="39719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字段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07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6324600" y="4162425"/>
            <a:ext cx="2333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请求步数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6324600" y="441007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48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8982075" y="3733800"/>
            <a:ext cx="2600325" cy="10668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9115425" y="39719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字段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08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9115425" y="4162425"/>
            <a:ext cx="2333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启动时间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9115425" y="441007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墙钟上的启动时刻</a:t>
            </a:r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609600" y="4953000"/>
            <a:ext cx="10972800" cy="590550"/>
          </a:xfrm>
          <a:prstGeom prst="roundRect">
            <a:avLst>
              <a:gd name="adj" fmla="val 161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07" name=""/>
          <p:cNvSpPr/>
          <p:nvPr/>
        </p:nvSpPr>
        <p:spPr>
          <a:xfrm rot="0" flipH="0" flipV="0">
            <a:off x="800100" y="5048250"/>
            <a:ext cx="38100" cy="4000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971550" y="5124450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由系统实际产生，不能用书中的名称或示意编号冒充；模型标识也要写实际调用的那一个。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启动、观察与估算：读懂一次仿真的进度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23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11" name="" descr="&lt;Slide notes={`创建之后再去改公共资源，是很容易犯的一个错。&#10;&#10;已经启动的 Run 读的是它创建时复制的副本，所以改公共公告栏的 Skill 不会改变它正在执行的行为。你想看的「新做法有没有更好」，在这种改动里根本体现不出来。&#10;&#10;要做比较，就在独立实验里完成修改，再启动一个新的 Run，让两份实验各自拥有自己的副本和身份。&#10;&#10;判断的方法很简单：问一句「这次的改动有没有进入这个 Run 的副本」。没有进入，那这次观察得到的还是老方案的结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9.1　启动时固定了哪些输入&lt;/Text&gt;&#10;            &lt;Text style={{ fontSize: 34, fontWeight: 'bold', color: '#20344B' }}&gt;改公共资源，不会改变已经启动的 Run&lt;/Text&gt;&#10;        &lt;/Box&gt;&#10;    &lt;/Box&gt;&#10;&#10;    &lt;Box style={{ height: 540, flexDirection: 'row', alignItems: 'center', gap: 32 }}&gt;&#10;&#10;        &lt;Box style={{ width: 656, flexDirection: 'column', gap: 16 }}&gt;&#10;&#10;            &lt;Text style={{ fontSize: 20, fontWeight: 'bold', color: '#20344B' }}&gt;两条路要分开走&lt;/Text&gt;&#10;&#10;            &lt;Box style={{ width: 656, height: 118, background: '#F4F7FA', borderRadius: 10, padding: 16, flexDirection: 'column', gap: 10 }}&gt;&#10;                &lt;Text style={{ fontSize: 16, fontWeight: 'bold', color: '#546779' }}&gt;直接改公共资源&lt;/Text&gt;&#10;                &lt;Box style={{ flexDirection: 'row', alignItems: 'center' }}&gt;&#10;                    &lt;Box style={{ width: 168, height: 40, background: '#FFFFFF', borderRadius: 6, justifyContent: 'center', alignItems: 'center' }}&gt;&#10;                        &lt;Text style={{ fontSize: 14, color: '#546779' }}&gt;改公共 Skill&lt;/Text&gt;&#10;                    &lt;/Box&gt;&#10;                    &lt;Box style={{ width: 44, height: 40, justifyContent: 'center', alignItems: 'center' }}&gt;&#10;                        &lt;Text style={{ fontSize: 20, color: '#546779' }}&gt;›&lt;/Text&gt;&#10;                    &lt;/Box&gt;&#10;                    &lt;Box style={{ width: 168, height: 40, background: '#FFFFFF', borderRadius: 6, justifyContent: 'center', alignItems: 'center' }}&gt;&#10;                        &lt;Text style={{ fontSize: 14, color: '#546779' }}&gt;已启动的 Run&lt;/Text&gt;&#10;                    &lt;/Box&gt;&#10;                    &lt;Box style={{ width: 44, height: 40, justifyContent: 'center', alignItems: 'center' }}&gt;&#10;                        &lt;Text style={{ fontSize: 20, color: '#546779' }}&gt;›&lt;/Text&gt;&#10;                    &lt;/Box&gt;&#10;                    &lt;Box style={{ width: 168, height: 40, background: '#FFFFFF', borderRadius: 6, justifyContent: 'center', alignItems: 'center' }}&gt;&#10;                        &lt;Text style={{ fontSize: 14, color: '#546779' }}&gt;读旧副本&lt;/Text&gt;&#10;                    &lt;/Box&gt;&#10;                &lt;/Box&gt;&#10;            &lt;/Box&gt;&#10;&#10;            &lt;Box style={{ width: 656, height: 118, background: '#ECF7F2', borderRadius: 10, padding: 16, flexDirection: 'column', gap: 10 }}&gt;&#10;                &lt;Text style={{ fontSize: 16, fontWeight: 'bold', color: '#26816B' }}&gt;先另建独立实验&lt;/Text&gt;&#10;                &lt;Box style={{ flexDirection: 'row', alignItems: 'center' }}&gt;&#10;                    &lt;Box style={{ width: 168, height: 40, background: '#FFFFFF', borderRadius: 6, justifyContent: 'center', alignItems: 'center' }}&gt;&#10;                        &lt;Text style={{ fontSize: 14, color: '#26816B' }}&gt;独立实验改完&lt;/Text&gt;&#10;                    &lt;/Box&gt;&#10;                    &lt;Box style={{ width: 44, height: 40, justifyContent: 'center', alignItems: 'center' }}&gt;&#10;                        &lt;Text style={{ fontSize: 20, color: '#26816B' }}&gt;›&lt;/Text&gt;&#10;                    &lt;/Box&gt;&#10;                    &lt;Box style={{ width: 168, height: 40, background: '#FFFFFF', borderRadius: 6, justifyContent: 'center', alignItems: 'center' }}&gt;&#10;                        &lt;Text style={{ fontSize: 14, color: '#26816B' }}&gt;新启动的 Run&lt;/Text&gt;&#10;                    &lt;/Box&gt;&#10;                    &lt;Box style={{ width: 44, height: 40, justifyContent: 'center', alignItems: 'center' }}&gt;&#10;                        &lt;Text style={{ fontSize: 20, color: '#26816B' }}&gt;›&lt;/Text&gt;&#10;                    &lt;/Box&gt;&#10;                    &lt;Box style={{ width: 168, height: 40, background: '#FFFFFF', borderRadius: 6, justifyContent: 'center', alignItems: 'center' }}&gt;&#10;                        &lt;Text style={{ fontSize: 14, color: '#26816B' }}&gt;读到新方案&lt;/Text&gt;&#10;                    &lt;/Box&gt;&#10;                &lt;/Box&gt;&#10;            &lt;/Box&gt;&#10;&#10;        &lt;/Box&gt;&#10;&#10;        &lt;Box style={{ width: 464, flexDirection: 'column', gap: 14 }}&gt;&#10;&#10;            &lt;Text style={{ fontSize: 20, fontWeight: 'bold', color: '#20344B' }}&gt;比较新方案怎么做&lt;/Text&gt;&#10;&#10;            &lt;Box style={{ width: 464, height: 188, background: '#F7F3E8', borderRadius: 10, padding: '14px 18px', flexDirection: 'column', gap: 12, justifyContent: 'center' }}&gt;&#10;                &lt;Box style={{ flexDirection: 'row', alignItems: 'center', gap: 10 }}&gt;&#10;                    &lt;Text style={{ fontSize: 16, fontWeight: 'bold', color: '#276FBF' }}&gt;1&lt;/Text&gt;&#10;                    &lt;Text style={{ fontSize: 15, color: '#20344B', flex: 1 }}&gt;在独立实验里完成修改&lt;/Text&gt;&#10;                &lt;/Box&gt;&#10;                &lt;Box style={{ flexDirection: 'row', alignItems: 'center', gap: 10 }}&gt;&#10;                    &lt;Text style={{ fontSize: 16, fontWeight: 'bold', color: '#276FBF' }}&gt;2&lt;/Text&gt;&#10;                    &lt;Text style={{ fontSize: 15, color: '#20344B', flex: 1 }}&gt;再启动一个新的 Run&lt;/Text&gt;&#10;                &lt;/Box&gt;&#10;                &lt;Box style={{ flexDirection: 'row', alignItems: 'center', gap: 10 }}&gt;&#10;                    &lt;Text style={{ fontSize: 16, fontWeight: 'bold', color: '#276FBF' }}&gt;3&lt;/Text&gt;&#10;                    &lt;Text style={{ fontSize: 15, color: '#20344B', flex: 1 }}&gt;两个 Run 各自有副本与身份&lt;/Text&gt;&#10;                &lt;/Box&gt;&#10;            &lt;/Box&gt;&#10;&#10;            &lt;Box style={{ width: 464, height: 108, background: '#FFF4E6', borderRadius: 10, padding: '0 18px', flexDirection: 'row', alignItems: 'center', gap: 12 }}&gt;&#10;                &lt;Box style={{ width: 4, height: 60, background: '#CB6B28' }} /&gt;&#10;                &lt;Text style={{ fontSize: 15, color: '#546779', flex: 1, lineHeight: 1.5 }}&gt;先问一句：这次改动有没有进入它的副本？没有进入，观察到的还是老方案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9 启动、观察与估算：读懂一次仿真的进度&lt;/Text&gt;&#10;        &lt;Text style={{ fontSize: 14, color: '#546779' }}&gt;07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600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3.9.1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启动时固定了哪些输入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600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改公共资源，不会改变已经启动的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609600" y="2324100"/>
            <a:ext cx="6248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两条路要分开走</a:t>
            </a:r>
            <a:endParaRPr/>
          </a:p>
        </p:txBody>
      </p:sp>
      <p:sp>
        <p:nvSpPr>
          <p:cNvPr id="617" name=""/>
          <p:cNvSpPr/>
          <p:nvPr/>
        </p:nvSpPr>
        <p:spPr>
          <a:xfrm rot="0" flipH="0" flipV="0">
            <a:off x="609600" y="2705100"/>
            <a:ext cx="6248400" cy="1123950"/>
          </a:xfrm>
          <a:prstGeom prst="roundRect">
            <a:avLst>
              <a:gd name="adj" fmla="val 847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762000" y="2857500"/>
            <a:ext cx="594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46779"/>
                </a:solidFill>
                <a:latin typeface="Microsoft YaHei"/>
                <a:ea typeface="Microsoft YaHei"/>
              </a:rPr>
              <a:t>直接改公共资源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762000" y="3143250"/>
            <a:ext cx="16002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1209675" y="3257550"/>
            <a:ext cx="704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改公共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2543175" y="3219450"/>
            <a:ext cx="66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546779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2781300" y="3143250"/>
            <a:ext cx="16002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3171825" y="3257550"/>
            <a:ext cx="828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已启动的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4562475" y="3219450"/>
            <a:ext cx="66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546779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4800600" y="3143250"/>
            <a:ext cx="16002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5334000" y="32575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读旧副本</a:t>
            </a:r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609600" y="3981450"/>
            <a:ext cx="6248400" cy="1123950"/>
          </a:xfrm>
          <a:prstGeom prst="roundRect">
            <a:avLst>
              <a:gd name="adj" fmla="val 847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762000" y="4133850"/>
            <a:ext cx="594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先另建独立实验</a:t>
            </a:r>
            <a:endParaRPr/>
          </a:p>
        </p:txBody>
      </p:sp>
      <p:sp>
        <p:nvSpPr>
          <p:cNvPr id="629" name=""/>
          <p:cNvSpPr/>
          <p:nvPr/>
        </p:nvSpPr>
        <p:spPr>
          <a:xfrm rot="0" flipH="0" flipV="0">
            <a:off x="762000" y="4419600"/>
            <a:ext cx="16002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1162050" y="45339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独立实验改完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2543175" y="4495800"/>
            <a:ext cx="66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32" name=""/>
          <p:cNvSpPr/>
          <p:nvPr/>
        </p:nvSpPr>
        <p:spPr>
          <a:xfrm rot="0" flipH="0" flipV="0">
            <a:off x="2781300" y="4419600"/>
            <a:ext cx="16002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3171825" y="4533900"/>
            <a:ext cx="828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新启动的</a:t>
            </a: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4562475" y="4495800"/>
            <a:ext cx="66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35" name=""/>
          <p:cNvSpPr/>
          <p:nvPr/>
        </p:nvSpPr>
        <p:spPr>
          <a:xfrm rot="0" flipH="0" flipV="0">
            <a:off x="4800600" y="4419600"/>
            <a:ext cx="16002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5267325" y="453390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读到新方案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7162800" y="2057400"/>
            <a:ext cx="441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比较新方案怎么做</a:t>
            </a:r>
            <a:endParaRPr/>
          </a:p>
        </p:txBody>
      </p:sp>
      <p:sp>
        <p:nvSpPr>
          <p:cNvPr id="638" name=""/>
          <p:cNvSpPr/>
          <p:nvPr/>
        </p:nvSpPr>
        <p:spPr>
          <a:xfrm rot="0" flipH="0" flipV="0">
            <a:off x="7162800" y="2419350"/>
            <a:ext cx="4419600" cy="1790700"/>
          </a:xfrm>
          <a:prstGeom prst="roundRect">
            <a:avLst>
              <a:gd name="adj" fmla="val 5319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7334250" y="29146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7524750" y="2924175"/>
            <a:ext cx="388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在独立实验里完成修改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7334250" y="32194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7524750" y="3228975"/>
            <a:ext cx="388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再启动一个新的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7334250" y="35242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7524750" y="3533775"/>
            <a:ext cx="388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两个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各自有副本与身份</a:t>
            </a:r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7162800" y="4343400"/>
            <a:ext cx="4419600" cy="1028700"/>
          </a:xfrm>
          <a:prstGeom prst="roundRect">
            <a:avLst>
              <a:gd name="adj" fmla="val 925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46" name=""/>
          <p:cNvSpPr/>
          <p:nvPr/>
        </p:nvSpPr>
        <p:spPr>
          <a:xfrm rot="0" flipH="0" flipV="0">
            <a:off x="7334250" y="457200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7486650" y="4600575"/>
            <a:ext cx="3924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先问一句：这次改动有没有进入它的副本？没有进入，观察到的还是老方案。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启动、观察与估算：读懂一次仿真的进度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23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50" name="" descr="&lt;Slide notes={`状态是这一段最容易被读错的东西。&#10;&#10;八种状态只说明执行走到了哪一步，它们不是对结果的评价。已完成不等于业务目标达成，排队中也不等于有一个能跨重启恢复的队列。&#10;&#10;观察窗口也是同一类问题。起始时间、步长和请求步数一旦确定，窗口能覆盖到哪一步就算得出来；窗口之外发生的事情，这次观察没有依据去下结论。&#10;&#10;把状态和时间口径分开，才不会把「系统跑完了」直接读成「事情做成了」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2　　3.9.2 八种状态分别说明什么　·　3.9.3 先把观察窗口算清楚&lt;/Text&gt;&#10;&#10;        &lt;Text style={{ fontSize: 56, fontWeight: 'bold', color: '#20344B', lineHeight: 1.15 }}&gt;状态与窗口各说明什么&lt;/Text&gt;&#10;&#10;        &lt;Box style={{ width: 72, height: 4, background: '#276FBF' }} /&gt;&#10;&#10;        &lt;Text style={{ fontSize: 18, color: '#546779', lineHeight: 1.7, width: 900 }}&gt;状态只说执行走到哪一步，窗口只覆盖你请求的那几步；两者都不能代替业务结论。&lt;/Text&gt;&#10;&#10;        &lt;Box style={{ flexDirection: 'row', alignItems: 'center', marginTop: 10 }}&gt;&#10;            &lt;Box style={{ width: 195, height: 64, background: '#EDF4FC', borderRadius: 8, justifyContent: 'center', alignItems: 'center' }}&gt;&#10;                &lt;Text style={{ fontSize: 16, color: '#276FBF' }}&gt;创建&lt;/Text&gt;&#10;            &lt;/Box&gt;&#10;            &lt;Box style={{ width: 44, height: 64, justifyContent: 'center', alignItems: 'center' }}&gt;&#10;                &lt;Text style={{ fontSize: 24, color: '#276FBF' }}&gt;›&lt;/Text&gt;&#10;            &lt;/Box&gt;&#10;            &lt;Box style={{ width: 195, height: 64, background: '#EDF4FC', borderRadius: 8, justifyContent: 'center', alignItems: 'center' }}&gt;&#10;                &lt;Text style={{ fontSize: 16, color: '#276FBF' }}&gt;排队&lt;/Text&gt;&#10;            &lt;/Box&gt;&#10;            &lt;Box style={{ width: 44, height: 64, justifyContent: 'center', alignItems: 'center' }}&gt;&#10;                &lt;Text style={{ fontSize: 24, color: '#276FBF' }}&gt;›&lt;/Text&gt;&#10;            &lt;/Box&gt;&#10;            &lt;Box style={{ width: 195, height: 64, background: '#EDF4FC', borderRadius: 8, justifyContent: 'center', alignItems: 'center' }}&gt;&#10;                &lt;Text style={{ fontSize: 16, color: '#276FBF' }}&gt;运行&lt;/Text&gt;&#10;            &lt;/Box&gt;&#10;            &lt;Box style={{ width: 44, height: 64, justifyContent: 'center', alignItems: 'center' }}&gt;&#10;                &lt;Text style={{ fontSize: 24, color: '#276FBF' }}&gt;›&lt;/Text&gt;&#10;            &lt;/Box&gt;&#10;            &lt;Box style={{ width: 195, height: 64, background: '#EDF4FC', borderRadius: 8, justifyContent: 'center', alignItems: 'center' }}&gt;&#10;                &lt;Text style={{ fontSize: 16, color: '#276FBF' }}&gt;收尾&lt;/Text&gt;&#10;            &lt;/Box&gt;&#10;            &lt;Box style={{ width: 44, height: 64, justifyContent: 'center', alignItems: 'center' }}&gt;&#10;                &lt;Text style={{ fontSize: 24, color: '#26816B' }}&gt;›&lt;/Text&gt;&#10;            &lt;/Box&gt;&#10;            &lt;Box style={{ width: 195, height: 64, background: '#ECF7F2', borderRadius: 8, justifyContent: 'center', alignItems: 'center' }}&gt;&#10;                &lt;Text style={{ fontSize: 16, color: '#26816B' }}&gt;完成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9 启动、观察与估算：读懂一次仿真的进度&lt;/Text&gt;&#10;        &lt;Text style={{ fontSize: 14, color: '#546779' }}&gt;08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3.9.2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八种状态分别说明什么　·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3.9.3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先把观察窗口算清楚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状态与窗口各说明什么</a:t>
            </a:r>
            <a:endParaRPr/>
          </a:p>
        </p:txBody>
      </p:sp>
      <p:sp>
        <p:nvSpPr>
          <p:cNvPr id="654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状态只说执行走到哪一步，窗口只覆盖你请求的那几步；两者都不能代替业务结论。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609600" y="4057650"/>
            <a:ext cx="1857375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1390650" y="42672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创建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2638425" y="42291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59" name=""/>
          <p:cNvSpPr/>
          <p:nvPr/>
        </p:nvSpPr>
        <p:spPr>
          <a:xfrm rot="0" flipH="0" flipV="0">
            <a:off x="2886075" y="4057650"/>
            <a:ext cx="1857375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3667125" y="42672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排队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4914900" y="42291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5162550" y="4057650"/>
            <a:ext cx="1857375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5943600" y="42672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运行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7191375" y="42291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7439025" y="4057650"/>
            <a:ext cx="1857375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8220075" y="42672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收尾</a:t>
            </a:r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9467850" y="42291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68" name=""/>
          <p:cNvSpPr/>
          <p:nvPr/>
        </p:nvSpPr>
        <p:spPr>
          <a:xfrm rot="0" flipH="0" flipV="0">
            <a:off x="9715500" y="4057650"/>
            <a:ext cx="1857375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10496550" y="42672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完成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启动、观察与估算：读懂一次仿真的进度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23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72" name="" descr="&lt;Slide notes={`主线五个状态要按顺序读。&#10;&#10;创建，说明 Run 的目录和输入已经建好，但不代表工作进程已经开始执行。排队，说明已经进入当前提交和启动阶段，但不代表有一个会无限等待资源的持久化队列。运行，说明正在执行，但不代表当前计算中的那一步已经提交。收尾，说明请求的步数已经提交、正在做收尾，但不代表报告已经完成、正式包已经导出。完成，才表示请求的执行过程结束。&#10;&#10;另外三个状态只列含义：暂停、取消、失败。它们不承诺所有状态都能互相切换，这张关系也不是完整的转移图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9.2　八种状态分别说明什么&lt;/Text&gt;&#10;            &lt;Text style={{ fontSize: 34, fontWeight: 'bold', color: '#20344B' }}&gt;主线五态要按顺序读&lt;/Text&gt;&#10;        &lt;/Box&gt;&#10;    &lt;/Box&gt;&#10;&#10;    &lt;Box style={{ height: 540, flexDirection: 'column', justifyContent: 'center', gap: 16 }}&gt;&#10;&#10;        &lt;Text style={{ fontSize: 20, fontWeight: 'bold', color: '#20344B' }}&gt;正常执行主线&lt;/Text&gt;&#10;&#10;        &lt;Box style={{ flexDirection: 'row', alignItems: 'center' }}&gt;&#10;            &lt;Box style={{ width: 195, height: 110, background: '#EDF4FC', borderRadius: 8, flexDirection: 'column', gap: 4, justifyContent: 'center', alignItems: 'center' }}&gt;&#10;                &lt;Text style={{ fontSize: 17, fontWeight: 'bold', color: '#276FBF' }}&gt;CREATED&lt;/Text&gt;&#10;                &lt;Text style={{ fontSize: 13, color: '#546779' }}&gt;输入与目录已创建&lt;/Text&gt;&#10;            &lt;/Box&gt;&#10;            &lt;Box style={{ width: 44, height: 110, justifyContent: 'center', alignItems: 'center' }}&gt;&#10;                &lt;Text style={{ fontSize: 24, color: '#276FBF' }}&gt;›&lt;/Text&gt;&#10;            &lt;/Box&gt;&#10;            &lt;Box style={{ width: 195, height: 110, background: '#EDF4FC', borderRadius: 8, flexDirection: 'column', gap: 4, justifyContent: 'center', alignItems: 'center' }}&gt;&#10;                &lt;Text style={{ fontSize: 17, fontWeight: 'bold', color: '#276FBF' }}&gt;QUEUED&lt;/Text&gt;&#10;                &lt;Text style={{ fontSize: 13, color: '#546779' }}&gt;当前提交与启动阶段&lt;/Text&gt;&#10;            &lt;/Box&gt;&#10;            &lt;Box style={{ width: 44, height: 110, justifyContent: 'center', alignItems: 'center' }}&gt;&#10;                &lt;Text style={{ fontSize: 24, color: '#276FBF' }}&gt;›&lt;/Text&gt;&#10;            &lt;/Box&gt;&#10;            &lt;Box style={{ width: 195, height: 110, background: '#EDF4FC', borderRadius: 8, flexDirection: 'column', gap: 4, justifyContent: 'center', alignItems: 'center' }}&gt;&#10;                &lt;Text style={{ fontSize: 17, fontWeight: 'bold', color: '#276FBF' }}&gt;RUNNING&lt;/Text&gt;&#10;                &lt;Text style={{ fontSize: 13, color: '#546779' }}&gt;正在执行&lt;/Text&gt;&#10;            &lt;/Box&gt;&#10;            &lt;Box style={{ width: 44, height: 110, justifyContent: 'center', alignItems: 'center' }}&gt;&#10;                &lt;Text style={{ fontSize: 24, color: '#276FBF' }}&gt;›&lt;/Text&gt;&#10;            &lt;/Box&gt;&#10;            &lt;Box style={{ width: 195, height: 110, background: '#EDF4FC', borderRadius: 8, flexDirection: 'column', gap: 4, justifyContent: 'center', alignItems: 'center' }}&gt;&#10;                &lt;Text style={{ fontSize: 17, fontWeight: 'bold', color: '#276FBF' }}&gt;FINALIZING&lt;/Text&gt;&#10;                &lt;Text style={{ fontSize: 13, color: '#546779' }}&gt;步数已提交，收尾中&lt;/Text&gt;&#10;            &lt;/Box&gt;&#10;            &lt;Box style={{ width: 44, height: 110, justifyContent: 'center', alignItems: 'center' }}&gt;&#10;                &lt;Text style={{ fontSize: 24, color: '#26816B' }}&gt;›&lt;/Text&gt;&#10;            &lt;/Box&gt;&#10;            &lt;Box style={{ width: 195, height: 110, background: '#ECF7F2', borderRadius: 8, flexDirection: 'column', gap: 4, justifyContent: 'center', alignItems: 'center' }}&gt;&#10;                &lt;Text style={{ fontSize: 17, fontWeight: 'bold', color: '#26816B' }}&gt;COMPLETED&lt;/Text&gt;&#10;                &lt;Text style={{ fontSize: 13, color: '#546779' }}&gt;执行结束&lt;/Text&gt;&#10;            &lt;/Box&gt;&#10;        &lt;/Box&gt;&#10;&#10;        &lt;Box style={{ flexDirection: 'column', gap: 8 }}&gt;&#10;            &lt;Text style={{ fontSize: 15, color: '#546779' }}&gt;其他状态：只列含义，不承诺所有状态都能互相切换&lt;/Text&gt;&#10;            &lt;Box style={{ flexDirection: 'row', gap: 24 }}&gt;&#10;                &lt;Box style={{ width: 368, height: 84, background: '#F4F7FA', borderRadius: 8, padding: '0 18px', flexDirection: 'column', gap: 3, justifyContent: 'center' }}&gt;&#10;                    &lt;Text style={{ fontSize: 17, fontWeight: 'bold', color: '#546779' }}&gt;PAUSED&lt;/Text&gt;&#10;                    &lt;Text style={{ fontSize: 13, color: '#546779' }}&gt;本次执行暂停&lt;/Text&gt;&#10;                &lt;/Box&gt;&#10;                &lt;Box style={{ width: 368, height: 84, background: '#F4F7FA', borderRadius: 8, padding: '0 18px', flexDirection: 'column', gap: 3, justifyContent: 'center' }}&gt;&#10;                    &lt;Text style={{ fontSize: 17, fontWeight: 'bold', color: '#546779' }}&gt;CANCELLED&lt;/Text&gt;&#10;                    &lt;Text style={{ fontSize: 13, color: '#546779' }}&gt;已记录取消结局&lt;/Text&gt;&#10;                &lt;/Box&gt;&#10;                &lt;Box style={{ width: 368, height: 84, background: '#F4F7FA', borderRadius: 8, padding: '0 18px', flexDirection: 'column', gap: 3, justifyContent: 'center' }}&gt;&#10;                    &lt;Text style={{ fontSize: 17, fontWeight: 'bold', color: '#546779' }}&gt;FAILED&lt;/Text&gt;&#10;                    &lt;Text style={{ fontSize: 13, color: '#546779' }}&gt;执行失败，已有提交仍需核对&lt;/Text&gt;&#10;                &lt;/Box&gt;&#10;            &lt;/Box&gt;&#10;        &lt;/Box&gt;&#10;&#10;        &lt;Box style={{ width: 1152, height: 62, background: '#FFF4E6', borderRadius: 10, padding: '0 20px', flexDirection: 'row', alignItems: 'center', gap: 14 }}&gt;&#10;            &lt;Box style={{ width: 4, height: 42, background: '#CB6B28' }} /&gt;&#10;            &lt;Text style={{ fontSize: 15, color: '#546779', flex: 1, lineHeight: 1.5 }}&gt;排队不证明持久队列；完成不证明业务通过；收尾不证明已导出正式包。&lt;/Text&gt;&#10;        &lt;/Box&gt;&#10;&#10;    &lt;/Box&gt;&#10;&#10;    &lt;Box style={{ height: 40, flexDirection: 'row', justifyContent: 'space-between', alignItems: 'center' }}&gt;&#10;        &lt;Text style={{ fontSize: 14, color: '#546779' }}&gt;3.9 启动、观察与估算：读懂一次仿真的进度&lt;/Text&gt;&#10;        &lt;Text style={{ fontSize: 14, color: '#546779' }}&gt;09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3.9.2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八种状态分别说明什么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主线五态要按顺序读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609600" y="202882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正常执行主线</a:t>
            </a:r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609600" y="2409825"/>
            <a:ext cx="1857375" cy="1047750"/>
          </a:xfrm>
          <a:prstGeom prst="roundRect">
            <a:avLst>
              <a:gd name="adj" fmla="val 727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1162050" y="2743200"/>
            <a:ext cx="752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CREATED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1047750" y="298132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输入与目录已创建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2638425" y="28003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2886075" y="2409825"/>
            <a:ext cx="1857375" cy="1047750"/>
          </a:xfrm>
          <a:prstGeom prst="roundRect">
            <a:avLst>
              <a:gd name="adj" fmla="val 727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3467100" y="2743200"/>
            <a:ext cx="704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QUEUED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3257550" y="298132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当前提交与启动阶段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4914900" y="28003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86" name=""/>
          <p:cNvSpPr/>
          <p:nvPr/>
        </p:nvSpPr>
        <p:spPr>
          <a:xfrm rot="0" flipH="0" flipV="0">
            <a:off x="5162550" y="2409825"/>
            <a:ext cx="1857375" cy="1047750"/>
          </a:xfrm>
          <a:prstGeom prst="roundRect">
            <a:avLst>
              <a:gd name="adj" fmla="val 727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5676900" y="2743200"/>
            <a:ext cx="838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RUNNING</a:t>
            </a:r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5848350" y="29813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正在执行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7191375" y="28003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90" name=""/>
          <p:cNvSpPr/>
          <p:nvPr/>
        </p:nvSpPr>
        <p:spPr>
          <a:xfrm rot="0" flipH="0" flipV="0">
            <a:off x="7439025" y="2409825"/>
            <a:ext cx="1857375" cy="1047750"/>
          </a:xfrm>
          <a:prstGeom prst="roundRect">
            <a:avLst>
              <a:gd name="adj" fmla="val 727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7886700" y="2743200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FINALIZING</a:t>
            </a:r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7810500" y="298132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步数已提交，收尾中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9467850" y="28003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94" name=""/>
          <p:cNvSpPr/>
          <p:nvPr/>
        </p:nvSpPr>
        <p:spPr>
          <a:xfrm rot="0" flipH="0" flipV="0">
            <a:off x="9715500" y="2409825"/>
            <a:ext cx="1857375" cy="1047750"/>
          </a:xfrm>
          <a:prstGeom prst="roundRect">
            <a:avLst>
              <a:gd name="adj" fmla="val 727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10134600" y="2743200"/>
            <a:ext cx="1019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>COMPLETED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10401300" y="29813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执行结束</a:t>
            </a:r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609600" y="36099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其他状态：只列含义，不承诺所有状态都能互相切换</a:t>
            </a:r>
            <a:endParaRPr/>
          </a:p>
        </p:txBody>
      </p:sp>
      <p:sp>
        <p:nvSpPr>
          <p:cNvPr id="698" name=""/>
          <p:cNvSpPr/>
          <p:nvPr/>
        </p:nvSpPr>
        <p:spPr>
          <a:xfrm rot="0" flipH="0" flipV="0">
            <a:off x="609600" y="3857625"/>
            <a:ext cx="350520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781050" y="4067175"/>
            <a:ext cx="3162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46779"/>
                </a:solidFill>
                <a:latin typeface="Microsoft YaHei"/>
                <a:ea typeface="Microsoft YaHei"/>
              </a:rPr>
              <a:t>PAUSED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781050" y="4295775"/>
            <a:ext cx="316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本次执行暂停</a:t>
            </a:r>
            <a:endParaRPr/>
          </a:p>
        </p:txBody>
      </p:sp>
      <p:sp>
        <p:nvSpPr>
          <p:cNvPr id="701" name=""/>
          <p:cNvSpPr/>
          <p:nvPr/>
        </p:nvSpPr>
        <p:spPr>
          <a:xfrm rot="0" flipH="0" flipV="0">
            <a:off x="4343400" y="3857625"/>
            <a:ext cx="350520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4514850" y="4067175"/>
            <a:ext cx="3162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46779"/>
                </a:solidFill>
                <a:latin typeface="Microsoft YaHei"/>
                <a:ea typeface="Microsoft YaHei"/>
              </a:rPr>
              <a:t>CANCELLED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4514850" y="4295775"/>
            <a:ext cx="316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已记录取消结局</a:t>
            </a:r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8077200" y="3857625"/>
            <a:ext cx="350520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8248650" y="4067175"/>
            <a:ext cx="3162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46779"/>
                </a:solidFill>
                <a:latin typeface="Microsoft YaHei"/>
                <a:ea typeface="Microsoft YaHei"/>
              </a:rPr>
              <a:t>FAILED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8248650" y="4295775"/>
            <a:ext cx="316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执行失败，已有提交仍需核对</a:t>
            </a:r>
            <a:endParaRPr/>
          </a:p>
        </p:txBody>
      </p:sp>
      <p:sp>
        <p:nvSpPr>
          <p:cNvPr id="707" name=""/>
          <p:cNvSpPr/>
          <p:nvPr/>
        </p:nvSpPr>
        <p:spPr>
          <a:xfrm rot="0" flipH="0" flipV="0">
            <a:off x="609600" y="4810125"/>
            <a:ext cx="10972800" cy="590550"/>
          </a:xfrm>
          <a:prstGeom prst="roundRect">
            <a:avLst>
              <a:gd name="adj" fmla="val 161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08" name=""/>
          <p:cNvSpPr/>
          <p:nvPr/>
        </p:nvSpPr>
        <p:spPr>
          <a:xfrm rot="0" flipH="0" flipV="0">
            <a:off x="800100" y="4905375"/>
            <a:ext cx="38100" cy="4000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971550" y="4981575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排队不证明持久队列；完成不证明业务通过；收尾不证明已导出正式包。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启动、观察与估算：读懂一次仿真的进度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23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8" name="" descr="&lt;Slide notes={`读状态的方法是每一句都问两句：能判断什么，还不能判断什么。&#10;&#10;创建可以判断目录和输入已经建立，不能判断工作进程已经跑起来。运行可以判断正在执行，不能判断当前这一步已经提交。收尾可以判断请求的步数已经提交、正在收尾，不能判断报告已经完成、正式包已经导出。完成可以判断请求的执行过程结束，不能判断业务指标全部通过。失败可以判断执行出现了失败，不能判断已有的提交都不可用。&#10;&#10;原因是这些状态由协议明确定义，描述的是执行阶段，不是业务结论。当前执行器在最后一步之后先进入收尾，生成质量报告后再写完成，正式归档还要另行封存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9.2　八种状态分别说明什么&lt;/Text&gt;&#10;            &lt;Text style={{ fontSize: 34, fontWeight: 'bold', color: '#20344B' }}&gt;每个状态都要问两句&lt;/Text&gt;&#10;        &lt;/Box&gt;&#10;    &lt;/Box&gt;&#10;&#10;    &lt;Box style={{ height: 540, flexDirection: 'column', justifyContent: 'center', gap: 10 }}&gt;&#10;&#10;        &lt;Text style={{ fontSize: 20, fontWeight: 'bold', color: '#20344B' }}&gt;能判断什么，还不能判断什么&lt;/Text&gt;&#10;&#10;        &lt;Box style={{ flexDirection: 'row', alignItems: 'center' }}&gt;&#10;            &lt;Box style={{ width: 120 }} /&gt;&#10;            &lt;Box style={{ width: 12 }} /&gt;&#10;            &lt;Box style={{ width: 496, paddingLeft: 14 }}&gt;&#10;                &lt;Text style={{ fontSize: 14, color: '#276FBF' }}&gt;可以据此判断什么&lt;/Text&gt;&#10;            &lt;/Box&gt;&#10;            &lt;Box style={{ width: 12 }} /&gt;&#10;            &lt;Box style={{ width: 512, paddingLeft: 14 }}&gt;&#10;                &lt;Text style={{ fontSize: 14, color: '#CB6B28' }}&gt;还不能据此判断什么&lt;/Text&gt;&#10;            &lt;/Box&gt;&#10;        &lt;/Box&gt;&#10;&#10;        &lt;Box style={{ flexDirection: 'row', alignItems: 'center', height: 72 }}&gt;&#10;            &lt;Box style={{ width: 120, height: 72, background: '#EDF4FC', borderRadius: 8, justifyContent: 'center', alignItems: 'center' }}&gt;&#10;                &lt;Text style={{ fontSize: 15, fontWeight: 'bold', color: '#276FBF' }}&gt;CREATED&lt;/Text&gt;&#10;            &lt;/Box&gt;&#10;            &lt;Box style={{ width: 12 }} /&gt;&#10;            &lt;Box style={{ width: 496, height: 72, background: '#F4F7FA', borderRadius: 8, padding: '0 14px', justifyContent: 'center' }}&gt;&#10;                &lt;Text style={{ fontSize: 15, color: '#20344B' }}&gt;Run 目录与输入已创建&lt;/Text&gt;&#10;            &lt;/Box&gt;&#10;            &lt;Box style={{ width: 12 }} /&gt;&#10;            &lt;Box style={{ width: 512, height: 72, background: '#FFF4E6', borderRadius: 8, padding: '0 14px', justifyContent: 'center' }}&gt;&#10;                &lt;Text style={{ fontSize: 15, color: '#546779' }}&gt;工作进程已经执行&lt;/Text&gt;&#10;            &lt;/Box&gt;&#10;        &lt;/Box&gt;&#10;&#10;        &lt;Box style={{ flexDirection: 'row', alignItems: 'center', height: 72 }}&gt;&#10;            &lt;Box style={{ width: 120, height: 72, background: '#EDF4FC', borderRadius: 8, justifyContent: 'center', alignItems: 'center' }}&gt;&#10;                &lt;Text style={{ fontSize: 15, fontWeight: 'bold', color: '#276FBF' }}&gt;RUNNING&lt;/Text&gt;&#10;            &lt;/Box&gt;&#10;            &lt;Box style={{ width: 12 }} /&gt;&#10;            &lt;Box style={{ width: 496, height: 72, background: '#F4F7FA', borderRadius: 8, padding: '0 14px', justifyContent: 'center' }}&gt;&#10;                &lt;Text style={{ fontSize: 15, color: '#20344B' }}&gt;正在执行&lt;/Text&gt;&#10;            &lt;/Box&gt;&#10;            &lt;Box style={{ width: 12 }} /&gt;&#10;            &lt;Box style={{ width: 512, height: 72, background: '#FFF4E6', borderRadius: 8, padding: '0 14px', justifyContent: 'center' }}&gt;&#10;                &lt;Text style={{ fontSize: 15, color: '#546779' }}&gt;当前计算中的 Step 已提交&lt;/Text&gt;&#10;            &lt;/Box&gt;&#10;        &lt;/Box&gt;&#10;&#10;        &lt;Box style={{ flexDirection: 'row', alignItems: 'center', height: 72 }}&gt;&#10;            &lt;Box style={{ width: 120, height: 72, background: '#EDF4FC', borderRadius: 8, justifyContent: 'center', alignItems: 'center' }}&gt;&#10;                &lt;Text style={{ fontSize: 15, fontWeight: 'bold', color: '#276FBF' }}&gt;FINALIZING&lt;/Text&gt;&#10;            &lt;/Box&gt;&#10;            &lt;Box style={{ width: 12 }} /&gt;&#10;            &lt;Box style={{ width: 496, height: 72, background: '#F4F7FA', borderRadius: 8, padding: '0 14px', justifyContent: 'center' }}&gt;&#10;                &lt;Text style={{ fontSize: 15, color: '#20344B' }}&gt;请求步数已提交，正在收尾&lt;/Text&gt;&#10;            &lt;/Box&gt;&#10;            &lt;Box style={{ width: 12 }} /&gt;&#10;            &lt;Box style={{ width: 512, height: 72, background: '#FFF4E6', borderRadius: 8, padding: '0 14px', justifyContent: 'center' }}&gt;&#10;                &lt;Text style={{ fontSize: 15, color: '#546779' }}&gt;报告已完成，正式包已导出&lt;/Text&gt;&#10;            &lt;/Box&gt;&#10;        &lt;/Box&gt;&#10;&#10;        &lt;Box style={{ flexDirection: 'row', alignItems: 'center', height: 72 }}&gt;&#10;            &lt;Box style={{ width: 120, height: 72, background: '#ECF7F2', borderRadius: 8, justifyContent: 'center', alignItems: 'center' }}&gt;&#10;                &lt;Text style={{ fontSize: 15, fontWeight: 'bold', color: '#26816B' }}&gt;COMPLETED&lt;/Text&gt;&#10;            &lt;/Box&gt;&#10;            &lt;Box style={{ width: 12 }} /&gt;&#10;            &lt;Box style={{ width: 496, height: 72, background: '#F4F7FA', borderRadius: 8, padding: '0 14px', justifyContent: 'center' }}&gt;&#10;                &lt;Text style={{ fontSize: 15, color: '#20344B' }}&gt;请求的执行过程结束&lt;/Text&gt;&#10;            &lt;/Box&gt;&#10;            &lt;Box style={{ width: 12 }} /&gt;&#10;            &lt;Box style={{ width: 512, height: 72, background: '#FFF4E6', borderRadius: 8, padding: '0 14px', justifyContent: 'center' }}&gt;&#10;                &lt;Text style={{ fontSize: 15, color: '#546779' }}&gt;业务指标全部通过&lt;/Text&gt;&#10;            &lt;/Box&gt;&#10;        &lt;/Box&gt;&#10;&#10;        &lt;Box style={{ flexDirection: 'row', alignItems: 'center', height: 72 }}&gt;&#10;            &lt;Box style={{ width: 120, height: 72, background: '#F4F7FA', borderRadius: 8, justifyContent: 'center', alignItems: 'center' }}&gt;&#10;                &lt;Text style={{ fontSize: 15, fontWeight: 'bold', color: '#546779' }}&gt;FAILED&lt;/Text&gt;&#10;            &lt;/Box&gt;&#10;            &lt;Box style={{ width: 12 }} /&gt;&#10;            &lt;Box style={{ width: 496, height: 72, background: '#F4F7FA', borderRadius: 8, padding: '0 14px', justifyContent: 'center' }}&gt;&#10;                &lt;Text style={{ fontSize: 15, color: '#20344B' }}&gt;执行出现了失败&lt;/Text&gt;&#10;            &lt;/Box&gt;&#10;            &lt;Box style={{ width: 12 }} /&gt;&#10;            &lt;Box style={{ width: 512, height: 72, background: '#FFF4E6', borderRadius: 8, padding: '0 14px', justifyContent: 'center' }}&gt;&#10;                &lt;Text style={{ fontSize: 15, color: '#546779' }}&gt;已有提交都不可用&lt;/Text&gt;&#10;            &lt;/Box&gt;&#10;        &lt;/Box&gt;&#10;&#10;        &lt;Box style={{ width: 1152, height: 62, background: '#FFF4E6', borderRadius: 10, padding: '0 20px', flexDirection: 'row', alignItems: 'center', gap: 14 }}&gt;&#10;            &lt;Box style={{ width: 4, height: 42, background: '#CB6B28' }} /&gt;&#10;            &lt;Text style={{ fontSize: 15, color: '#546779', flex: 1, lineHeight: 1.5 }}&gt;这些状态由协议明确定义，描述的是执行阶段；生成质量报告后才写完成，正式归档还要另行封存。&lt;/Text&gt;&#10;        &lt;/Box&gt;&#10;&#10;    &lt;/Box&gt;&#10;&#10;    &lt;Box style={{ height: 40, flexDirection: 'row', justifyContent: 'space-between', alignItems: 'center' }}&gt;&#10;        &lt;Text style={{ fontSize: 14, color: '#546779' }}&gt;3.9 启动、观察与估算：读懂一次仿真的进度&lt;/Text&gt;&#10;        &lt;Text style={{ fontSize: 14, color: '#546779' }}&gt;10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3.9.2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八种状态分别说明什么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每个状态都要问两句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09600" y="1181100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能判断什么，还不能判断什么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2000250" y="1504950"/>
            <a:ext cx="4591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可以据此判断什么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838950" y="1504950"/>
            <a:ext cx="474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还不能据此判断什么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609600" y="1762125"/>
            <a:ext cx="11430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47725" y="2019300"/>
            <a:ext cx="666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CREATED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1866900" y="1762125"/>
            <a:ext cx="47244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2000250" y="2019300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目录与输入已创建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705600" y="1762125"/>
            <a:ext cx="48768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838950" y="2019300"/>
            <a:ext cx="4610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工作进程已经执行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09600" y="2543175"/>
            <a:ext cx="11430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19150" y="2800350"/>
            <a:ext cx="733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RUNNING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1866900" y="2543175"/>
            <a:ext cx="47244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2000250" y="2800350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正在执行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705600" y="2543175"/>
            <a:ext cx="48768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838950" y="2800350"/>
            <a:ext cx="4610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当前计算中的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已提交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09600" y="3324225"/>
            <a:ext cx="11430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52475" y="35814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FINALIZING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1866900" y="3324225"/>
            <a:ext cx="47244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2000250" y="3581400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请求步数已提交，正在收尾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6705600" y="3324225"/>
            <a:ext cx="48768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838950" y="3581400"/>
            <a:ext cx="4610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报告已完成，正式包已导出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609600" y="4105275"/>
            <a:ext cx="114300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33425" y="4362450"/>
            <a:ext cx="904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COMPLETED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1866900" y="4105275"/>
            <a:ext cx="47244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2000250" y="4362450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请求的执行过程结束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6705600" y="4105275"/>
            <a:ext cx="48768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838950" y="4362450"/>
            <a:ext cx="4610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业务指标全部通过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609600" y="4886325"/>
            <a:ext cx="11430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933450" y="5143500"/>
            <a:ext cx="504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46779"/>
                </a:solidFill>
                <a:latin typeface="Microsoft YaHei"/>
                <a:ea typeface="Microsoft YaHei"/>
              </a:rPr>
              <a:t>FAILED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1866900" y="4886325"/>
            <a:ext cx="47244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2000250" y="5143500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执行出现了失败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705600" y="4886325"/>
            <a:ext cx="48768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838950" y="5143500"/>
            <a:ext cx="4610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已有提交都不可用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09600" y="5667375"/>
            <a:ext cx="10972800" cy="590550"/>
          </a:xfrm>
          <a:prstGeom prst="roundRect">
            <a:avLst>
              <a:gd name="adj" fmla="val 161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800100" y="5762625"/>
            <a:ext cx="38100" cy="4000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971550" y="5838825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这些状态由协议明确定义，描述的是执行阶段；生成质量报告后才写完成，正式归档还要另行封存。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启动、观察与估算：读懂一次仿真的进度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23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71" name="" descr="&lt;Slide notes={`观察窗口是算得出来的。&#10;&#10;这一轮从二零二六年十月十七日九点五十分开始，带东八区时区，步长一分钟，请求四十八步。调度器的第一个 Step 用起始时间，后面逐步推进，所以第 k 步的虚拟时间等于起始时间加上 k 减一倍的步长。&#10;&#10;代入以后，第一步是九点五十，第十一步是十点，第四十一步是十点半，第四十八步是十点三十七。&#10;&#10;这个窗口能看见手作被更正到十点半以后有没有人到达、有没有开始，却不能证明十一点半的活动已经完整结束。要观察活动结束，就得另外设计足够长的实验，不能把「已经开始」记成「已经完成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9.3　先把观察窗口算清楚&lt;/Text&gt;&#10;            &lt;Text style={{ fontSize: 34, fontWeight: 'bold', color: '#20344B' }}&gt;48 步落在哪些时刻&lt;/Text&gt;&#10;        &lt;/Box&gt;&#10;    &lt;/Box&gt;&#10;&#10;    &lt;Box style={{ height: 540, flexDirection: 'column', justifyContent: 'center', gap: 12 }}&gt;&#10;&#10;        &lt;Box style={{ flexDirection: 'column', gap: 4 }}&gt;&#10;            &lt;Text style={{ fontSize: 20, fontWeight: 'bold', color: '#20344B' }}&gt;窗口覆盖到哪一步，就只证明到哪一步&lt;/Text&gt;&#10;            &lt;Text style={{ fontSize: 14, color: '#546779' }}&gt;第 k 步虚拟时间 = 起始时间 + (k − 1) × 步长　·　2026-10-17 09:50　+08:00　·　节点间距不按比例&lt;/Text&gt;&#10;        &lt;/Box&gt;&#10;&#10;        &lt;Box style={{ flexDirection: 'row', alignItems: 'center' }}&gt;&#10;            &lt;Box style={{ width: 240, height: 104, background: '#EDF4FC', borderRadius: 8, flexDirection: 'column', gap: 2, justifyContent: 'center', alignItems: 'center' }}&gt;&#10;                &lt;Text style={{ fontSize: 20, fontWeight: 'bold', color: '#276FBF' }}&gt;Step 1&lt;/Text&gt;&#10;                &lt;Text style={{ fontSize: 15, color: '#276FBF' }}&gt;09:50&lt;/Text&gt;&#10;                &lt;Text style={{ fontSize: 13, color: '#546779' }}&gt;配置起点&lt;/Text&gt;&#10;            &lt;/Box&gt;&#10;            &lt;Box style={{ width: 44, height: 104, justifyContent: 'center', alignItems: 'center' }}&gt;&#10;                &lt;Text style={{ fontSize: 24, color: '#276FBF' }}&gt;›&lt;/Text&gt;&#10;            &lt;/Box&gt;&#10;            &lt;Box style={{ width: 240, height: 104, background: '#EDF4FC', borderRadius: 8, flexDirection: 'column', gap: 2, justifyContent: 'center', alignItems: 'center' }}&gt;&#10;                &lt;Text style={{ fontSize: 20, fontWeight: 'bold', color: '#276FBF' }}&gt;Step 11&lt;/Text&gt;&#10;                &lt;Text style={{ fontSize: 15, color: '#276FBF' }}&gt;10:00&lt;/Text&gt;&#10;                &lt;Text style={{ fontSize: 13, color: '#546779' }}&gt;原消息开始&lt;/Text&gt;&#10;            &lt;/Box&gt;&#10;            &lt;Box style={{ width: 44, height: 104, justifyContent: 'center', alignItems: 'center' }}&gt;&#10;                &lt;Text style={{ fontSize: 24, color: '#276FBF' }}&gt;›&lt;/Text&gt;&#10;            &lt;/Box&gt;&#10;            &lt;Box style={{ width: 240, height: 104, background: '#EDF4FC', borderRadius: 8, flexDirection: 'column', gap: 2, justifyContent: 'center', alignItems: 'center' }}&gt;&#10;                &lt;Text style={{ fontSize: 20, fontWeight: 'bold', color: '#276FBF' }}&gt;Step 41&lt;/Text&gt;&#10;                &lt;Text style={{ fontSize: 15, color: '#276FBF' }}&gt;10:30&lt;/Text&gt;&#10;                &lt;Text style={{ fontSize: 13, color: '#546779' }}&gt;更正后开始&lt;/Text&gt;&#10;            &lt;/Box&gt;&#10;            &lt;Box style={{ width: 44, height: 104, justifyContent: 'center', alignItems: 'center' }}&gt;&#10;                &lt;Text style={{ fontSize: 24, color: '#26816B' }}&gt;›&lt;/Text&gt;&#10;            &lt;/Box&gt;&#10;            &lt;Box style={{ width: 240, height: 104, background: '#ECF7F2', borderRadius: 8, flexDirection: 'column', gap: 2, justifyContent: 'center', alignItems: 'center' }}&gt;&#10;                &lt;Text style={{ fontSize: 20, fontWeight: 'bold', color: '#26816B' }}&gt;Step 48&lt;/Text&gt;&#10;                &lt;Text style={{ fontSize: 15, color: '#26816B' }}&gt;10:37&lt;/Text&gt;&#10;                &lt;Text style={{ fontSize: 13, color: '#546779' }}&gt;观察窗口终点&lt;/Text&gt;&#10;            &lt;/Box&gt;&#10;        &lt;/Box&gt;&#10;&#10;        &lt;Box style={{ flexDirection: 'row', alignItems: 'center' }}&gt;&#10;            &lt;Box style={{ width: 1152, height: 16, background: '#F4F7FA', borderRadius: 8, flexDirection: 'row' }}&gt;&#10;                &lt;Box style={{ width: 1000, height: 16, background: '#276FBF', borderRadius: 8 }} /&gt;&#10;                &lt;Box style={{ width: 152, height: 16, background: '#FFF4E6', borderRadius: 8 }} /&gt;&#10;            &lt;/Box&gt;&#10;        &lt;/Box&gt;&#10;&#10;        &lt;Box style={{ flexDirection: 'row', alignItems: 'center', gap: 12 }}&gt;&#10;            &lt;Text style={{ fontSize: 13, color: '#276FBF' }}&gt;窗口内：48 步&lt;/Text&gt;&#10;            &lt;Box style={{ width: 760 }} /&gt;&#10;            &lt;Text style={{ fontSize: 13, color: '#CB6B28' }}&gt;窗口之外&lt;/Text&gt;&#10;        &lt;/Box&gt;&#10;&#10;        &lt;Box style={{ width: 1152, height: 64, background: '#FFF4E6', borderRadius: 10, padding: '0 20px', flexDirection: 'row', alignItems: 'center', gap: 14 }}&gt;&#10;            &lt;Text style={{ fontSize: 15, fontWeight: 'bold', color: '#CB6B28' }}&gt;11:30　候选活动结束&lt;/Text&gt;&#10;            &lt;Text style={{ fontSize: 14, color: '#546779', flex: 1 }}&gt;在观察窗口之外，虚线伸出窗口；本次观察没有依据去说它已经完整结束&lt;/Text&gt;&#10;        &lt;/Box&gt;&#10;&#10;        &lt;Box style={{ flexDirection: 'row', gap: 12 }}&gt;&#10;            &lt;Box style={{ width: 566, height: 62, background: '#ECF7F2', borderRadius: 10, padding: '0 18px', flexDirection: 'row', alignItems: 'center', gap: 12 }}&gt;&#10;                &lt;Text style={{ fontSize: 15, fontWeight: 'bold', color: '#26816B' }}&gt;窗口内可观察&lt;/Text&gt;&#10;                &lt;Text style={{ fontSize: 14, color: '#546779' }}&gt;获知 · 移动 · 到达 · 开始&lt;/Text&gt;&#10;            &lt;/Box&gt;&#10;            &lt;Box style={{ width: 566, height: 62, background: '#F4F7FA', borderRadius: 10, padding: '0 18px', flexDirection: 'row', alignItems: 'center', gap: 12 }}&gt;&#10;                &lt;Text style={{ fontSize: 15, fontWeight: 'bold', color: '#546779' }}&gt;窗口不能证明&lt;/Text&gt;&#10;                &lt;Text style={{ fontSize: 14, color: '#546779' }}&gt;11:30 的活动已完整结束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9 启动、观察与估算：读懂一次仿真的进度&lt;/Text&gt;&#10;        &lt;Text style={{ fontSize: 14, color: '#546779' }}&gt;11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771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3.9.3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先把观察窗口算清楚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7717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48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步落在哪些时刻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09600" y="19716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窗口覆盖到哪一步，就只证明到哪一步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09600" y="223837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k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步虚拟时间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起始时间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+ (k − 1) ×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步长　·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2026-10-17 09:50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+08:00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·　节点间距不按比例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09600" y="2514600"/>
            <a:ext cx="2286000" cy="9906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457325" y="2714625"/>
            <a:ext cx="600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Step 1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571625" y="2962275"/>
            <a:ext cx="371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09:50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504950" y="31527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配置起点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3067050" y="28765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3314700" y="2514600"/>
            <a:ext cx="2286000" cy="9906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095750" y="2714625"/>
            <a:ext cx="723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Step 11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276725" y="2962275"/>
            <a:ext cx="371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10:00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152900" y="315277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原消息开始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5772150" y="28765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019800" y="2514600"/>
            <a:ext cx="2286000" cy="9906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800850" y="2714625"/>
            <a:ext cx="723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Step 41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981825" y="2962275"/>
            <a:ext cx="371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10:30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858000" y="315277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更正后开始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8477250" y="28765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8724900" y="2514600"/>
            <a:ext cx="2286000" cy="99060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9505950" y="2714625"/>
            <a:ext cx="723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>Step 48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9686925" y="2962275"/>
            <a:ext cx="371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>10:37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9496425" y="315277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观察窗口终点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09600" y="3619500"/>
            <a:ext cx="10972800" cy="15240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609600" y="3619500"/>
            <a:ext cx="9525000" cy="1524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10134600" y="3619500"/>
            <a:ext cx="1447800" cy="152400"/>
          </a:xfrm>
          <a:prstGeom prst="roundRect">
            <a:avLst>
              <a:gd name="adj" fmla="val 5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09600" y="3886200"/>
            <a:ext cx="809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窗口内：</a:t>
            </a: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 xml:space="preserve">48 </a:t>
            </a: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886825" y="38862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窗口之外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609600" y="4152900"/>
            <a:ext cx="10972800" cy="609600"/>
          </a:xfrm>
          <a:prstGeom prst="roundRect">
            <a:avLst>
              <a:gd name="adj" fmla="val 1562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00100" y="4371975"/>
            <a:ext cx="1400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>11:30</a:t>
            </a: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　候选活动结束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2333625" y="4381500"/>
            <a:ext cx="9058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在观察窗口之外，虚线伸出窗口；本次观察没有依据去说它已经完整结束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09600" y="4876800"/>
            <a:ext cx="5391150" cy="590550"/>
          </a:xfrm>
          <a:prstGeom prst="roundRect">
            <a:avLst>
              <a:gd name="adj" fmla="val 161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81050" y="50863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窗口内可观察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752600" y="5095875"/>
            <a:ext cx="1400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获知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移动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到达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开始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115050" y="4876800"/>
            <a:ext cx="5391150" cy="590550"/>
          </a:xfrm>
          <a:prstGeom prst="roundRect">
            <a:avLst>
              <a:gd name="adj" fmla="val 161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286500" y="50863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窗口不能证明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258050" y="5095875"/>
            <a:ext cx="1457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11:30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的活动已完整结束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启动、观察与估算：读懂一次仿真的进度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23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13" name="" descr="&lt;Slide notes={`三种时间必须分开记录，混在一起就会得出错误的结论。&#10;&#10;虚拟时间是故事里的时刻，它由起始时间、步长和步数决定，暂停不会让它自动往前推进。模型耗时是一次请求真实经历的时间，用来判断模型快不快。墙钟时间包含操作、暂停和调试等待，是我们坐在电脑前面经过的时间。&#10;&#10;所以暂停二十分钟，不应该让青禾世界里的活动自动迟到二十分钟。反过来说，墙钟很长也不代表模型慢，中间可能有大量人工操作。&#10;&#10;估算里的秒数口径用的是墙钟，在对照预计与实际的时候要特别留意这一点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9.3　先把观察窗口算清楚&lt;/Text&gt;&#10;            &lt;Text style={{ fontSize: 34, fontWeight: 'bold', color: '#20344B' }}&gt;三种时间要分开记录&lt;/Text&gt;&#10;        &lt;/Box&gt;&#10;    &lt;/Box&gt;&#10;&#10;    &lt;Box style={{ height: 540, flexDirection: 'column', justifyContent: 'center', gap: 14 }}&gt;&#10;&#10;        &lt;Box style={{ flexDirection: 'row', alignItems: 'center' }}&gt;&#10;            &lt;Box style={{ width: 160 }} /&gt;&#10;            &lt;Box style={{ width: 16 }} /&gt;&#10;            &lt;Box style={{ width: 480, paddingLeft: 14 }}&gt;&#10;                &lt;Text style={{ fontSize: 15, fontWeight: 'bold', color: '#546779' }}&gt;表示什么&lt;/Text&gt;&#10;            &lt;/Box&gt;&#10;            &lt;Box style={{ width: 16 }} /&gt;&#10;            &lt;Box style={{ width: 480, paddingLeft: 14 }}&gt;&#10;                &lt;Text style={{ fontSize: 15, fontWeight: 'bold', color: '#546779' }}&gt;怎么算、记在哪&lt;/Text&gt;&#10;            &lt;/Box&gt;&#10;        &lt;/Box&gt;&#10;&#10;        &lt;Box style={{ flexDirection: 'row', alignItems: 'center', height: 118 }}&gt;&#10;            &lt;Box style={{ width: 160, height: 118, background: '#EDF4FC', borderRadius: 8, justifyContent: 'center', alignItems: 'center' }}&gt;&#10;                &lt;Text style={{ fontSize: 17, fontWeight: 'bold', color: '#276FBF' }}&gt;虚拟时间&lt;/Text&gt;&#10;            &lt;/Box&gt;&#10;            &lt;Box style={{ width: 16 }} /&gt;&#10;            &lt;Box style={{ width: 480, height: 118, background: '#F4F7FA', borderRadius: 8, padding: '0 16px', justifyContent: 'center' }}&gt;&#10;                &lt;Text style={{ fontSize: 15, color: '#20344B', lineHeight: 1.5 }}&gt;故事里的时刻，决定角色看到的是什么时候的世界&lt;/Text&gt;&#10;            &lt;/Box&gt;&#10;            &lt;Box style={{ width: 16 }} /&gt;&#10;            &lt;Box style={{ width: 480, height: 118, background: '#EDF4FC', borderRadius: 8, padding: '0 16px', justifyContent: 'center' }}&gt;&#10;                &lt;Text style={{ fontSize: 15, color: '#546779', lineHeight: 1.5 }}&gt;按 起始时间 + (k − 1) × 步长 推进{'\n'}暂停不会让它自动前进&lt;/Text&gt;&#10;            &lt;/Box&gt;&#10;        &lt;/Box&gt;&#10;&#10;        &lt;Box style={{ flexDirection: 'row', alignItems: 'center', height: 118 }}&gt;&#10;            &lt;Box style={{ width: 160, height: 118, background: '#ECF7F2', borderRadius: 8, justifyContent: 'center', alignItems: 'center' }}&gt;&#10;                &lt;Text style={{ fontSize: 17, fontWeight: 'bold', color: '#26816B' }}&gt;模型耗时&lt;/Text&gt;&#10;            &lt;/Box&gt;&#10;            &lt;Box style={{ width: 16 }} /&gt;&#10;            &lt;Box style={{ width: 480, height: 118, background: '#F4F7FA', borderRadius: 8, padding: '0 16px', justifyContent: 'center' }}&gt;&#10;                &lt;Text style={{ fontSize: 15, color: '#20344B', lineHeight: 1.5 }}&gt;一次模型请求真实经历的时间，用来判断模型快不快&lt;/Text&gt;&#10;            &lt;/Box&gt;&#10;            &lt;Box style={{ width: 16 }} /&gt;&#10;            &lt;Box style={{ width: 480, height: 118, background: '#ECF7F2', borderRadius: 8, padding: '0 16px', justifyContent: 'center' }}&gt;&#10;                &lt;Text style={{ fontSize: 15, color: '#546779', lineHeight: 1.5 }}&gt;从请求开始到结果返回{'\n'}模型调用记录里可以直接读到&lt;/Text&gt;&#10;            &lt;/Box&gt;&#10;        &lt;/Box&gt;&#10;&#10;        &lt;Box style={{ flexDirection: 'row', alignItems: 'center', height: 118 }}&gt;&#10;            &lt;Box style={{ width: 160, height: 118, background: '#F7F3E8', borderRadius: 8, justifyContent: 'center', alignItems: 'center' }}&gt;&#10;                &lt;Text style={{ fontSize: 17, fontWeight: 'bold', color: '#20344B' }}&gt;墙钟时间&lt;/Text&gt;&#10;            &lt;/Box&gt;&#10;            &lt;Box style={{ width: 16 }} /&gt;&#10;            &lt;Box style={{ width: 480, height: 118, background: '#F4F7FA', borderRadius: 8, padding: '0 16px', justifyContent: 'center' }}&gt;&#10;                &lt;Text style={{ fontSize: 15, color: '#20344B', lineHeight: 1.5 }}&gt;我们坐在电脑前面经过的真实时间，还包含操作与等待&lt;/Text&gt;&#10;            &lt;/Box&gt;&#10;            &lt;Box style={{ width: 16 }} /&gt;&#10;            &lt;Box style={{ width: 480, height: 118, background: '#F7F3E8', borderRadius: 8, padding: '0 16px', justifyContent: 'center' }}&gt;&#10;                &lt;Text style={{ fontSize: 15, color: '#546779', lineHeight: 1.5 }}&gt;含工具等待、暂停与调试{'\n'}估算给出的秒数用的是它&lt;/Text&gt;&#10;            &lt;/Box&gt;&#10;        &lt;/Box&gt;&#10;&#10;        &lt;Box style={{ width: 1152, height: 62, background: '#FFF4E6', borderRadius: 10, padding: '0 20px', flexDirection: 'row', alignItems: 'center', gap: 14 }}&gt;&#10;            &lt;Box style={{ width: 4, height: 42, background: '#CB6B28' }} /&gt;&#10;            &lt;Text style={{ fontSize: 15, color: '#546779', flex: 1, lineHeight: 1.5 }}&gt;暂停二十分钟，不应让青禾的虚拟活动自动迟到二十分钟。&lt;/Text&gt;&#10;        &lt;/Box&gt;&#10;&#10;    &lt;/Box&gt;&#10;&#10;    &lt;Box style={{ height: 40, flexDirection: 'row', justifyContent: 'space-between', alignItems: 'center' }}&gt;&#10;        &lt;Text style={{ fontSize: 14, color: '#546779' }}&gt;3.9 启动、观察与估算：读懂一次仿真的进度&lt;/Text&gt;&#10;        &lt;Text style={{ fontSize: 14, color: '#546779' }}&gt;12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3.9.3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先把观察窗口算清楚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三种时间要分开记录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2419350" y="1381125"/>
            <a:ext cx="4438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表示什么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143750" y="1381125"/>
            <a:ext cx="4438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怎么算、记在哪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09600" y="1685925"/>
            <a:ext cx="1524000" cy="1123950"/>
          </a:xfrm>
          <a:prstGeom prst="roundRect">
            <a:avLst>
              <a:gd name="adj" fmla="val 678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047750" y="21526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虚拟时间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2286000" y="1685925"/>
            <a:ext cx="4572000" cy="1123950"/>
          </a:xfrm>
          <a:prstGeom prst="roundRect">
            <a:avLst>
              <a:gd name="adj" fmla="val 678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2438400" y="2124075"/>
            <a:ext cx="4267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故事里的时刻，决定角色看到的是什么时候的世界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7010400" y="1685925"/>
            <a:ext cx="4572000" cy="1123950"/>
          </a:xfrm>
          <a:prstGeom prst="roundRect">
            <a:avLst>
              <a:gd name="adj" fmla="val 678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162800" y="1990725"/>
            <a:ext cx="426720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起始时间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+ (k − 1) ×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步长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推进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暂停不会让它自动前进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609600" y="2943225"/>
            <a:ext cx="1524000" cy="1123950"/>
          </a:xfrm>
          <a:prstGeom prst="roundRect">
            <a:avLst>
              <a:gd name="adj" fmla="val 678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047750" y="34099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模型耗时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2286000" y="2943225"/>
            <a:ext cx="4572000" cy="1123950"/>
          </a:xfrm>
          <a:prstGeom prst="roundRect">
            <a:avLst>
              <a:gd name="adj" fmla="val 678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2438400" y="3381375"/>
            <a:ext cx="4267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一次模型请求真实经历的时间，用来判断模型快不快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7010400" y="2943225"/>
            <a:ext cx="4572000" cy="1123950"/>
          </a:xfrm>
          <a:prstGeom prst="roundRect">
            <a:avLst>
              <a:gd name="adj" fmla="val 678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162800" y="3248025"/>
            <a:ext cx="426720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从请求开始到结果返回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模型调用记录里可以直接读到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09600" y="4200525"/>
            <a:ext cx="1524000" cy="1123950"/>
          </a:xfrm>
          <a:prstGeom prst="roundRect">
            <a:avLst>
              <a:gd name="adj" fmla="val 678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047750" y="46672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墙钟时间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2286000" y="4200525"/>
            <a:ext cx="4572000" cy="1123950"/>
          </a:xfrm>
          <a:prstGeom prst="roundRect">
            <a:avLst>
              <a:gd name="adj" fmla="val 678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2438400" y="4638675"/>
            <a:ext cx="4267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我们坐在电脑前面经过的真实时间，还包含操作与等待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7010400" y="4200525"/>
            <a:ext cx="4572000" cy="1123950"/>
          </a:xfrm>
          <a:prstGeom prst="roundRect">
            <a:avLst>
              <a:gd name="adj" fmla="val 678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162800" y="4505325"/>
            <a:ext cx="426720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含工具等待、暂停与调试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估算给出的秒数用的是它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609600" y="5457825"/>
            <a:ext cx="10972800" cy="590550"/>
          </a:xfrm>
          <a:prstGeom prst="roundRect">
            <a:avLst>
              <a:gd name="adj" fmla="val 161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9" name=""/>
          <p:cNvSpPr/>
          <p:nvPr/>
        </p:nvSpPr>
        <p:spPr>
          <a:xfrm rot="0" flipH="0" flipV="0">
            <a:off x="800100" y="5553075"/>
            <a:ext cx="38100" cy="4000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971550" y="5629275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暂停二十分钟，不应让青禾的虚拟活动自动迟到二十分钟。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启动、观察与估算：读懂一次仿真的进度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23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43" name="" descr="&lt;Slide notes={`接下来看页面里能观察到什么。&#10;&#10;进入当前 Run 的结果工作区，会依次看到仿真回放、Agent、仿真诊断、行为质量和结果与导出这几块。运行参数在实验概览的「时间与运行参数」里，模型配置要从实验自己的模型入口进。&#10;&#10;要提醒的是，这里所有内容都受一条限制：它们只能反映 Run 已经提交的事实。没有提交的行为，页面里不会凭空长出来。&#10;&#10;所以我观察的顺序是先确认身份和状态，再看画面和记录，最后才去谈结论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3　　3.9.4 在页面中观察什么&lt;/Text&gt;&#10;&#10;        &lt;Text style={{ fontSize: 56, fontWeight: 'bold', color: '#20344B', lineHeight: 1.15 }}&gt;在页面里能看到什么&lt;/Text&gt;&#10;&#10;        &lt;Box style={{ width: 72, height: 4, background: '#276FBF' }} /&gt;&#10;&#10;        &lt;Text style={{ fontSize: 18, color: '#546779', lineHeight: 1.7, width: 900 }}&gt;回放、Agent、诊断、质量、结果与导出，都只反映 Run 已经提交的事实。&lt;/Text&gt;&#10;&#10;        &lt;Box style={{ flexDirection: 'row', alignItems: 'center', marginTop: 10 }}&gt;&#10;            &lt;Box style={{ width: 195, height: 64, background: '#EDF4FC', borderRadius: 8, justifyContent: 'center', alignItems: 'center' }}&gt;&#10;                &lt;Text style={{ fontSize: 16, color: '#276FBF' }}&gt;回放&lt;/Text&gt;&#10;            &lt;/Box&gt;&#10;            &lt;Box style={{ width: 44, height: 64, justifyContent: 'center', alignItems: 'center' }}&gt;&#10;                &lt;Text style={{ fontSize: 24, color: '#276FBF' }}&gt;›&lt;/Text&gt;&#10;            &lt;/Box&gt;&#10;            &lt;Box style={{ width: 195, height: 64, background: '#EDF4FC', borderRadius: 8, justifyContent: 'center', alignItems: 'center' }}&gt;&#10;                &lt;Text style={{ fontSize: 16, color: '#276FBF' }}&gt;Agent&lt;/Text&gt;&#10;            &lt;/Box&gt;&#10;            &lt;Box style={{ width: 44, height: 64, justifyContent: 'center', alignItems: 'center' }}&gt;&#10;                &lt;Text style={{ fontSize: 24, color: '#276FBF' }}&gt;›&lt;/Text&gt;&#10;            &lt;/Box&gt;&#10;            &lt;Box style={{ width: 195, height: 64, background: '#EDF4FC', borderRadius: 8, justifyContent: 'center', alignItems: 'center' }}&gt;&#10;                &lt;Text style={{ fontSize: 16, color: '#276FBF' }}&gt;诊断&lt;/Text&gt;&#10;            &lt;/Box&gt;&#10;            &lt;Box style={{ width: 44, height: 64, justifyContent: 'center', alignItems: 'center' }}&gt;&#10;                &lt;Text style={{ fontSize: 24, color: '#276FBF' }}&gt;›&lt;/Text&gt;&#10;            &lt;/Box&gt;&#10;            &lt;Box style={{ width: 195, height: 64, background: '#EDF4FC', borderRadius: 8, justifyContent: 'center', alignItems: 'center' }}&gt;&#10;                &lt;Text style={{ fontSize: 16, color: '#276FBF' }}&gt;质量&lt;/Text&gt;&#10;            &lt;/Box&gt;&#10;            &lt;Box style={{ width: 44, height: 64, justifyContent: 'center', alignItems: 'center' }}&gt;&#10;                &lt;Text style={{ fontSize: 24, color: '#26816B' }}&gt;›&lt;/Text&gt;&#10;            &lt;/Box&gt;&#10;            &lt;Box style={{ width: 195, height: 64, background: '#ECF7F2', borderRadius: 8, justifyContent: 'center', alignItems: 'center' }}&gt;&#10;                &lt;Text style={{ fontSize: 16, color: '#26816B' }}&gt;结果与导出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9 启动、观察与估算：读懂一次仿真的进度&lt;/Text&gt;&#10;        &lt;Text style={{ fontSize: 14, color: '#546779' }}&gt;13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3.9.4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在页面中观察什么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在页面里能看到什么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回放、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>Agent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、诊断、质量、结果与导出，都只反映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已经提交的事实。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609600" y="4057650"/>
            <a:ext cx="1857375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390650" y="42672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回放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2638425" y="42291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2886075" y="4057650"/>
            <a:ext cx="1857375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3590925" y="4267200"/>
            <a:ext cx="447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4914900" y="42291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5162550" y="4057650"/>
            <a:ext cx="1857375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943600" y="42672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诊断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191375" y="42291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7439025" y="4057650"/>
            <a:ext cx="1857375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220075" y="42672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质量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9467850" y="42291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9715500" y="4057650"/>
            <a:ext cx="1857375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0267950" y="42672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结果与导出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启动、观察与估算：读懂一次仿真的进度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23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65" name="" descr="&lt;Slide notes={`结果工作区里的五个入口，各自回答不同的问题。&#10;&#10;仿真回放回答「世界里面发生了什么」，看到的是角色移动、对话和对象反馈。Agent 回答「某个角色现在处于什么状态」，包括它掌握的信息。仿真诊断回答「系统实际做了什么」，日志、模型调用和检查点都在这里。行为质量给出质量报告。结果与导出给出结果文件与导出入口。&#10;&#10;先明确自己要回答哪个问题，再决定去看哪一块，比在页面里到处点更有效率。&#10;&#10;另外，不能只依赖模板文字去找按钮，页面的初始化过程会移除遗留的参数与模型结果页签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9.4　在页面中观察什么&lt;/Text&gt;&#10;            &lt;Text style={{ fontSize: 34, fontWeight: 'bold', color: '#20344B' }}&gt;结果工作区里从哪五个地方看&lt;/Text&gt;&#10;        &lt;/Box&gt;&#10;    &lt;/Box&gt;&#10;&#10;    &lt;Box style={{ height: 540, flexDirection: 'row', alignItems: 'center', gap: 32 }}&gt;&#10;&#10;        &lt;Box style={{ width: 608, background: '#F4F7FA', borderRadius: 10, padding: 18, flexDirection: 'column', gap: 12 }}&gt;&#10;&#10;            &lt;Box style={{ flexDirection: 'row', alignItems: 'center', gap: 12 }}&gt;&#10;                &lt;Text style={{ fontSize: 16, fontWeight: 'bold', color: '#546779' }}&gt;运行结果工作区&lt;/Text&gt;&#10;                &lt;Box style={{ width: 56, height: 24, background: '#FFF4E6', borderRadius: 6, justifyContent: 'center', alignItems: 'center' }}&gt;&#10;                    &lt;Text style={{ fontSize: 13, color: '#CB6B28' }}&gt;示意&lt;/Text&gt;&#10;                &lt;/Box&gt;&#10;            &lt;/Box&gt;&#10;&#10;            &lt;Box style={{ flexDirection: 'row', gap: 6 }}&gt;&#10;                &lt;Box style={{ width: 108, height: 34, background: '#276FBF', borderRadius: 6, justifyContent: 'center', alignItems: 'center' }}&gt;&#10;                    &lt;Text style={{ fontSize: 13, color: '#FFFFFF' }}&gt;仿真回放&lt;/Text&gt;&#10;                &lt;/Box&gt;&#10;                &lt;Box style={{ width: 108, height: 34, background: '#FFFFFF', borderRadius: 6, justifyContent: 'center', alignItems: 'center' }}&gt;&#10;                    &lt;Text style={{ fontSize: 13, color: '#546779' }}&gt;Agent&lt;/Text&gt;&#10;                &lt;/Box&gt;&#10;                &lt;Box style={{ width: 108, height: 34, background: '#FFFFFF', borderRadius: 6, justifyContent: 'center', alignItems: 'center' }}&gt;&#10;                    &lt;Text style={{ fontSize: 13, color: '#546779' }}&gt;仿真诊断&lt;/Text&gt;&#10;                &lt;/Box&gt;&#10;                &lt;Box style={{ width: 108, height: 34, background: '#FFFFFF', borderRadius: 6, justifyContent: 'center', alignItems: 'center' }}&gt;&#10;                    &lt;Text style={{ fontSize: 13, color: '#546779' }}&gt;行为质量&lt;/Text&gt;&#10;                &lt;/Box&gt;&#10;                &lt;Box style={{ width: 108, height: 34, background: '#FFFFFF', borderRadius: 6, justifyContent: 'center', alignItems: 'center' }}&gt;&#10;                    &lt;Text style={{ fontSize: 13, color: '#546779' }}&gt;结果导出&lt;/Text&gt;&#10;                &lt;/Box&gt;&#10;            &lt;/Box&gt;&#10;&#10;            &lt;Box style={{ width: 572, height: 118, background: '#EDF4FC', borderRadius: 8, justifyContent: 'center', alignItems: 'center' }}&gt;&#10;                &lt;Text style={{ fontSize: 16, color: '#276FBF' }}&gt;回放画面：角色、对话与对象反馈&lt;/Text&gt;&#10;            &lt;/Box&gt;&#10;&#10;            &lt;Box style={{ flexDirection: 'row', gap: 10 }}&gt;&#10;                &lt;Box style={{ width: 281, height: 86, background: '#FFFFFF', borderRadius: 8, justifyContent: 'center', alignItems: 'center' }}&gt;&#10;                    &lt;Text style={{ fontSize: 14, color: '#546779' }}&gt;时间轴与 Step 控制&lt;/Text&gt;&#10;                &lt;/Box&gt;&#10;                &lt;Box style={{ width: 281, height: 86, background: '#FFFFFF', borderRadius: 8, justifyContent: 'center', alignItems: 'center' }}&gt;&#10;                    &lt;Text style={{ fontSize: 14, color: '#546779' }}&gt;选中角色与对象&lt;/Text&gt;&#10;                &lt;/Box&gt;&#10;            &lt;/Box&gt;&#10;&#10;            &lt;Text style={{ fontSize: 13, color: '#546779' }}&gt;页面初始化会移除遗留的参数与模型结果页签，不要只按模板文字找按钮&lt;/Text&gt;&#10;&#10;        &lt;/Box&gt;&#10;&#10;        &lt;Box style={{ width: 512, flexDirection: 'column', gap: 12 }}&gt;&#10;&#10;            &lt;Box style={{ width: 512, height: 96, background: '#EDF4FC', borderRadius: 8, padding: '0 18px', flexDirection: 'column', gap: 3, justifyContent: 'center' }}&gt;&#10;                &lt;Text style={{ fontSize: 16, fontWeight: 'bold', color: '#276FBF' }}&gt;仿真回放&lt;/Text&gt;&#10;                &lt;Text style={{ fontSize: 13, color: '#546779' }}&gt;世界里实际发生的过程&lt;/Text&gt;&#10;            &lt;/Box&gt;&#10;&#10;            &lt;Box style={{ width: 512, height: 96, background: '#EDF4FC', borderRadius: 8, padding: '0 18px', flexDirection: 'column', gap: 3, justifyContent: 'center' }}&gt;&#10;                &lt;Text style={{ fontSize: 16, fontWeight: 'bold', color: '#276FBF' }}&gt;Agent&lt;/Text&gt;&#10;                &lt;Text style={{ fontSize: 13, color: '#546779' }}&gt;选中角色的状态与它掌握的信息&lt;/Text&gt;&#10;            &lt;/Box&gt;&#10;&#10;            &lt;Box style={{ width: 512, height: 96, background: '#EDF4FC', borderRadius: 8, padding: '0 18px', flexDirection: 'column', gap: 3, justifyContent: 'center' }}&gt;&#10;                &lt;Text style={{ fontSize: 16, fontWeight: 'bold', color: '#276FBF' }}&gt;仿真诊断&lt;/Text&gt;&#10;                &lt;Text style={{ fontSize: 13, color: '#546779' }}&gt;日志、模型调用与检查点&lt;/Text&gt;&#10;            &lt;/Box&gt;&#10;&#10;            &lt;Box style={{ width: 512, height: 96, background: '#F4F7FA', borderRadius: 8, padding: '0 18px', flexDirection: 'column', gap: 3, justifyContent: 'center' }}&gt;&#10;                &lt;Text style={{ fontSize: 16, fontWeight: 'bold', color: '#546779' }}&gt;行为质量&lt;/Text&gt;&#10;                &lt;Text style={{ fontSize: 13, color: '#546779' }}&gt;执行完成后的质量报告&lt;/Text&gt;&#10;            &lt;/Box&gt;&#10;&#10;            &lt;Box style={{ width: 512, height: 96, background: '#ECF7F2', borderRadius: 8, padding: '0 18px', flexDirection: 'column', gap: 3, justifyContent: 'center' }}&gt;&#10;                &lt;Text style={{ fontSize: 16, fontWeight: 'bold', color: '#26816B' }}&gt;结果与导出&lt;/Text&gt;&#10;                &lt;Text style={{ fontSize: 13, color: '#546779' }}&gt;结果文件与导出入口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9 启动、观察与估算：读懂一次仿真的进度&lt;/Text&gt;&#10;        &lt;Text style={{ fontSize: 14, color: '#546779' }}&gt;14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3.9.4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在页面中观察什么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结果工作区里从哪五个地方看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609600" y="1990725"/>
            <a:ext cx="5791200" cy="3448050"/>
          </a:xfrm>
          <a:prstGeom prst="roundRect">
            <a:avLst>
              <a:gd name="adj" fmla="val 276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781050" y="2181225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46779"/>
                </a:solidFill>
                <a:latin typeface="Microsoft YaHei"/>
                <a:ea typeface="Microsoft YaHei"/>
              </a:rPr>
              <a:t>运行结果工作区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1962150" y="2162175"/>
            <a:ext cx="533400" cy="228600"/>
          </a:xfrm>
          <a:prstGeom prst="roundRect">
            <a:avLst>
              <a:gd name="adj" fmla="val 25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2105025" y="22002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781050" y="2505075"/>
            <a:ext cx="1028700" cy="323850"/>
          </a:xfrm>
          <a:prstGeom prst="roundRect">
            <a:avLst>
              <a:gd name="adj" fmla="val 1764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047750" y="25908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仿真回放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1866900" y="2505075"/>
            <a:ext cx="10287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2200275" y="2590800"/>
            <a:ext cx="361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2952750" y="2505075"/>
            <a:ext cx="10287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3219450" y="25908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仿真诊断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4038600" y="2505075"/>
            <a:ext cx="10287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305300" y="25908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行为质量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5124450" y="2505075"/>
            <a:ext cx="10287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5391150" y="25908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结果导出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781050" y="2943225"/>
            <a:ext cx="5448300" cy="1123950"/>
          </a:xfrm>
          <a:prstGeom prst="roundRect">
            <a:avLst>
              <a:gd name="adj" fmla="val 678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2362200" y="3409950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回放画面：角色、对话与对象反馈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781050" y="4181475"/>
            <a:ext cx="2676525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543050" y="451485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时间轴与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控制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3552825" y="4181475"/>
            <a:ext cx="2676525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429125" y="451485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选中角色与对象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781050" y="5114925"/>
            <a:ext cx="5448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页面初始化会移除遗留的参数与模型结果页签，不要只按模板文字找按钮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6705600" y="1200150"/>
            <a:ext cx="4876800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877050" y="1476375"/>
            <a:ext cx="453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仿真回放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877050" y="1695450"/>
            <a:ext cx="453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世界里实际发生的过程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705600" y="2228850"/>
            <a:ext cx="4876800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877050" y="2505075"/>
            <a:ext cx="453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877050" y="2724150"/>
            <a:ext cx="453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选中角色的状态与它掌握的信息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6705600" y="3257550"/>
            <a:ext cx="4876800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877050" y="3533775"/>
            <a:ext cx="453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仿真诊断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877050" y="3752850"/>
            <a:ext cx="453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日志、模型调用与检查点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6705600" y="4286250"/>
            <a:ext cx="4876800" cy="9144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877050" y="4562475"/>
            <a:ext cx="453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46779"/>
                </a:solidFill>
                <a:latin typeface="Microsoft YaHei"/>
                <a:ea typeface="Microsoft YaHei"/>
              </a:rPr>
              <a:t>行为质量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877050" y="4781550"/>
            <a:ext cx="453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执行完成后的质量报告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6705600" y="5314950"/>
            <a:ext cx="4876800" cy="9144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877050" y="5591175"/>
            <a:ext cx="453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结果与导出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877050" y="5810250"/>
            <a:ext cx="453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结果文件与导出入口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启动、观察与估算：读懂一次仿真的进度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23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08" name="" descr="&lt;Slide notes={`某一步停得比较久，是很常见的现象，先别急着下结论。&#10;&#10;诊断里有三样东西可以对照。日志告诉你这一步走到哪里；模型调用记录告诉你请求的状态，请求开始的时候已经有 PHYSICAL_START 这一条记录，结束的时候再补上结果；检查点用来看进度落在哪一段。&#10;&#10;合起来才能判断：是模型确实慢，是正常等待，还是根本没有进展。如果看到有正在执行的请求，或者有连续的错误与重试，那就不是卡死，而是还在处理。&#10;&#10;顺序很重要：先看有没有正在进行的请求，再看有没有连续错误，最后才谈无进展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9.4　在页面中观察什么&lt;/Text&gt;&#10;            &lt;Text style={{ fontSize: 34, fontWeight: 'bold', color: '#20344B' }}&gt;某一步停得久，先查三件事&lt;/Text&gt;&#10;        &lt;/Box&gt;&#10;    &lt;/Box&gt;&#10;&#10;    &lt;Box style={{ height: 540, flexDirection: 'column', justifyContent: 'center', gap: 16 }}&gt;&#10;&#10;        &lt;Box style={{ flexDirection: 'column', gap: 4 }}&gt;&#10;            &lt;Text style={{ fontSize: 20, fontWeight: 'bold', color: '#20344B' }}&gt;进入仿真诊断，先选对 Attempt&lt;/Text&gt;&#10;            &lt;Text style={{ fontSize: 14, color: '#546779' }}&gt;日志、模型调用与检查点合起来看，才能区分「模型慢」和「没有进展」&lt;/Text&gt;&#10;        &lt;/Box&gt;&#10;&#10;        &lt;Box style={{ flexDirection: 'row', gap: 21 }}&gt;&#10;            &lt;Box style={{ width: 370, height: 150, background: '#EDF4FC', borderRadius: 10, padding: '16px 18px', flexDirection: 'column', gap: 8, justifyContent: 'center' }}&gt;&#10;                &lt;Text style={{ fontSize: 22, fontWeight: 'bold', color: '#276FBF' }}&gt;日志&lt;/Text&gt;&#10;                &lt;Text style={{ fontSize: 15, color: '#20344B', lineHeight: 1.5 }}&gt;先确认看的是哪一次 Attempt，再往下读&lt;/Text&gt;&#10;                &lt;Text style={{ fontSize: 13, color: '#546779' }}&gt;下载读取的是 Run 的进程日志文件&lt;/Text&gt;&#10;            &lt;/Box&gt;&#10;            &lt;Box style={{ width: 370, height: 150, background: '#EDF4FC', borderRadius: 10, padding: '16px 18px', flexDirection: 'column', gap: 8, justifyContent: 'center' }}&gt;&#10;                &lt;Text style={{ fontSize: 22, fontWeight: 'bold', color: '#276FBF' }}&gt;模型调用&lt;/Text&gt;&#10;                &lt;Text style={{ fontSize: 15, color: '#20344B', lineHeight: 1.5 }}&gt;请求开始已有 PHYSICAL_START，结束时补结果&lt;/Text&gt;&#10;                &lt;Text style={{ fontSize: 13, color: '#546779' }}&gt;有正在执行的请求，就不是没有进展&lt;/Text&gt;&#10;            &lt;/Box&gt;&#10;            &lt;Box style={{ width: 370, height: 150, background: '#ECF7F2', borderRadius: 10, padding: '16px 18px', flexDirection: 'column', gap: 8, justifyContent: 'center' }}&gt;&#10;                &lt;Text style={{ fontSize: 22, fontWeight: 'bold', color: '#26816B' }}&gt;检查点&lt;/Text&gt;&#10;                &lt;Text style={{ fontSize: 15, color: '#20344B', lineHeight: 1.5 }}&gt;看这一步的进度落在哪一段&lt;/Text&gt;&#10;                &lt;Text style={{ fontSize: 13, color: '#546779' }}&gt;已有提交仍然需要逐条核对&lt;/Text&gt;&#10;            &lt;/Box&gt;&#10;        &lt;/Box&gt;&#10;&#10;        &lt;Box style={{ width: 1152, height: 78, background: '#F4F7FA', borderRadius: 10, padding: '0 22px', flexDirection: 'row', alignItems: 'center', gap: 18 }}&gt;&#10;            &lt;Text style={{ fontSize: 40, fontWeight: 'bold', color: '#276FBF' }}&gt;PHYSICAL_START&lt;/Text&gt;&#10;            &lt;Text style={{ fontSize: 15, color: '#546779', flex: 1, lineHeight: 1.5 }}&gt;请求开始时就写下这条记录，结束时再补上结果，中间的空档正是「正在处理」&lt;/Text&gt;&#10;        &lt;/Box&gt;&#10;&#10;        &lt;Box style={{ width: 1152, height: 66, background: '#FFF4E6', borderRadius: 10, padding: '0 20px', flexDirection: 'row', alignItems: 'center', gap: 14 }}&gt;&#10;            &lt;Box style={{ width: 4, height: 44, background: '#CB6B28' }} /&gt;&#10;            &lt;Text style={{ fontSize: 15, color: '#546779', flex: 1, lineHeight: 1.5 }}&gt;先查有没有正在执行的请求、连续错误或重试，再判断是模型慢、正常等待还是无进展。&lt;/Text&gt;&#10;        &lt;/Box&gt;&#10;&#10;    &lt;/Box&gt;&#10;&#10;    &lt;Box style={{ height: 40, flexDirection: 'row', justifyContent: 'space-between', alignItems: 'center' }}&gt;&#10;        &lt;Text style={{ fontSize: 14, color: '#546779' }}&gt;3.9 启动、观察与估算：读懂一次仿真的进度&lt;/Text&gt;&#10;        &lt;Text style={{ fontSize: 14, color: '#546779' }}&gt;15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3.9.4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在页面中观察什么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某一步停得久，先查三件事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09600" y="187642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进入仿真诊断，先选对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Attempt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09600" y="214312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日志、模型调用与检查点合起来看，才能区分「模型慢」和「没有进展」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09600" y="2457450"/>
            <a:ext cx="352425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81050" y="2762250"/>
            <a:ext cx="3181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日志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81050" y="3095625"/>
            <a:ext cx="3181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先确认看的是哪一次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Attempt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，再往下读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81050" y="3429000"/>
            <a:ext cx="3181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下载读取的是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的进程日志文件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4333875" y="2457450"/>
            <a:ext cx="352425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4505325" y="2762250"/>
            <a:ext cx="3181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模型调用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4505325" y="3095625"/>
            <a:ext cx="3181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请求开始已有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PHYSICAL_START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，结束时补结果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4505325" y="3429000"/>
            <a:ext cx="3181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有正在执行的请求，就不是没有进展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8058150" y="2457450"/>
            <a:ext cx="3524250" cy="142875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8229600" y="2762250"/>
            <a:ext cx="3181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检查点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229600" y="3095625"/>
            <a:ext cx="3181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看这一步的进度落在哪一段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229600" y="3429000"/>
            <a:ext cx="3181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已有提交仍然需要逐条核对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609600" y="4038600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819150" y="4181475"/>
            <a:ext cx="33147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76FBF"/>
                </a:solidFill>
                <a:latin typeface="Microsoft YaHei"/>
                <a:ea typeface="Microsoft YaHei"/>
              </a:rPr>
              <a:t>PHYSICAL_START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4305300" y="4286250"/>
            <a:ext cx="70675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请求开始时就写下这条记录，结束时再补上结果，中间的空档正是「正在处理」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609600" y="4933950"/>
            <a:ext cx="10972800" cy="628650"/>
          </a:xfrm>
          <a:prstGeom prst="roundRect">
            <a:avLst>
              <a:gd name="adj" fmla="val 1515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31" name=""/>
          <p:cNvSpPr/>
          <p:nvPr/>
        </p:nvSpPr>
        <p:spPr>
          <a:xfrm rot="0" flipH="0" flipV="0">
            <a:off x="800100" y="50387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971550" y="5124450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先查有没有正在执行的请求、连续错误或重试，再判断是模型慢、正常等待还是无进展。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启动、观察与估算：读懂一次仿真的进度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23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35" name="" descr="&lt;Slide notes={`查 Trace 的时候要把这些字段记下来：参与者、Step、用途、模型、开始和结束时间、错误以及调用参数。&#10;&#10;记全了，才能回答「谁在什么时候、为了什么、用哪个模型发了这次请求」。只记一个模型名称，事后是没法复盘的。&#10;&#10;有一条边界要特别注意：如果这次配置没有保存请求内容，页面就应该明确显示缺失。不能拿模型事后写的总结，补成当时的原始请求。&#10;&#10;Attempt 选择器提供了定位入口，但日志下载读的是 Run 的进程日志文件，分析时仍然要核对实际记录的身份和时间范围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9.4　在页面中观察什么&lt;/Text&gt;&#10;            &lt;Text style={{ fontSize: 34, fontWeight: 'bold', color: '#20344B' }}&gt;查 Trace 时要记下这些字段&lt;/Text&gt;&#10;        &lt;/Box&gt;&#10;    &lt;/Box&gt;&#10;&#10;    &lt;Box style={{ height: 540, flexDirection: 'column', justifyContent: 'center', gap: 16 }}&gt;&#10;&#10;        &lt;Box style={{ flexDirection: 'column', gap: 4 }}&gt;&#10;            &lt;Text style={{ fontSize: 20, fontWeight: 'bold', color: '#20344B' }}&gt;六个字段，回答「谁、何时、为了什么、用哪个模型」&lt;/Text&gt;&#10;            &lt;Text style={{ fontSize: 14, color: '#546779' }}&gt;记不全是常见的复盘障碍，只写模型名称说明不了问题&lt;/Text&gt;&#10;        &lt;/Box&gt;&#10;&#10;        &lt;Box style={{ flexDirection: 'column', gap: 20 }}&gt;&#10;            &lt;Box style={{ flexDirection: 'row', gap: 21 }}&gt;&#10;                &lt;Box style={{ width: 370, height: 100, background: '#EDF4FC', borderRadius: 8, padding: 14, flexDirection: 'column', gap: 3, justifyContent: 'center' }}&gt;&#10;                    &lt;Text style={{ fontSize: 13, color: '#546779' }}&gt;字段 01&lt;/Text&gt;&#10;                    &lt;Text style={{ fontSize: 18, fontWeight: 'bold', color: '#20344B' }}&gt;参与者&lt;/Text&gt;&#10;                    &lt;Text style={{ fontSize: 13, color: '#546779' }}&gt;哪个角色或对象发起&lt;/Text&gt;&#10;                &lt;/Box&gt;&#10;                &lt;Box style={{ width: 370, height: 100, background: '#EDF4FC', borderRadius: 8, padding: 14, flexDirection: 'column', gap: 3, justifyContent: 'center' }}&gt;&#10;                    &lt;Text style={{ fontSize: 13, color: '#546779' }}&gt;字段 02&lt;/Text&gt;&#10;                    &lt;Text style={{ fontSize: 18, fontWeight: 'bold', color: '#20344B' }}&gt;Step&lt;/Text&gt;&#10;                    &lt;Text style={{ fontSize: 13, color: '#546779' }}&gt;属于哪一步&lt;/Text&gt;&#10;                &lt;/Box&gt;&#10;                &lt;Box style={{ width: 370, height: 100, background: '#EDF4FC', borderRadius: 8, padding: 14, flexDirection: 'column', gap: 3, justifyContent: 'center' }}&gt;&#10;                    &lt;Text style={{ fontSize: 13, color: '#546779' }}&gt;字段 03&lt;/Text&gt;&#10;                    &lt;Text style={{ fontSize: 18, fontWeight: 'bold', color: '#20344B' }}&gt;用途&lt;/Text&gt;&#10;                    &lt;Text style={{ fontSize: 13, color: '#546779' }}&gt;这次调用要完成什么&lt;/Text&gt;&#10;                &lt;/Box&gt;&#10;            &lt;/Box&gt;&#10;            &lt;Box style={{ flexDirection: 'row', gap: 21 }}&gt;&#10;                &lt;Box style={{ width: 370, height: 100, background: '#EDF4FC', borderRadius: 8, padding: 14, flexDirection: 'column', gap: 3, justifyContent: 'center' }}&gt;&#10;                    &lt;Text style={{ fontSize: 13, color: '#546779' }}&gt;字段 04&lt;/Text&gt;&#10;                    &lt;Text style={{ fontSize: 18, fontWeight: 'bold', color: '#20344B' }}&gt;模型&lt;/Text&gt;&#10;                    &lt;Text style={{ fontSize: 13, color: '#546779' }}&gt;实际调用的模型标识&lt;/Text&gt;&#10;                &lt;/Box&gt;&#10;                &lt;Box style={{ width: 370, height: 100, background: '#EDF4FC', borderRadius: 8, padding: 14, flexDirection: 'column', gap: 3, justifyContent: 'center' }}&gt;&#10;                    &lt;Text style={{ fontSize: 13, color: '#546779' }}&gt;字段 05&lt;/Text&gt;&#10;                    &lt;Text style={{ fontSize: 18, fontWeight: 'bold', color: '#20344B' }}&gt;开始与结束时间&lt;/Text&gt;&#10;                    &lt;Text style={{ fontSize: 13, color: '#546779' }}&gt;用来估算单次请求耗时&lt;/Text&gt;&#10;                &lt;/Box&gt;&#10;                &lt;Box style={{ width: 370, height: 100, background: '#EDF4FC', borderRadius: 8, padding: 14, flexDirection: 'column', gap: 3, justifyContent: 'center' }}&gt;&#10;                    &lt;Text style={{ fontSize: 13, color: '#546779' }}&gt;字段 06&lt;/Text&gt;&#10;                    &lt;Text style={{ fontSize: 18, fontWeight: 'bold', color: '#20344B' }}&gt;错误与调用参数&lt;/Text&gt;&#10;                    &lt;Text style={{ fontSize: 13, color: '#546779' }}&gt;失败原因与请求参数&lt;/Text&gt;&#10;                &lt;/Box&gt;&#10;            &lt;/Box&gt;&#10;        &lt;/Box&gt;&#10;&#10;        &lt;Box style={{ width: 1152, height: 66, background: '#FFF4E6', borderRadius: 10, padding: '0 20px', flexDirection: 'row', alignItems: 'center', gap: 14 }}&gt;&#10;            &lt;Box style={{ width: 4, height: 44, background: '#CB6B28' }} /&gt;&#10;            &lt;Text style={{ fontSize: 15, color: '#546779', flex: 1, lineHeight: 1.5 }}&gt;本次配置没有保存请求内容时，页面应明确显示缺失；不能拿模型事后总结补成历史原始请求。&lt;/Text&gt;&#10;        &lt;/Box&gt;&#10;&#10;    &lt;/Box&gt;&#10;&#10;    &lt;Box style={{ height: 40, flexDirection: 'row', justifyContent: 'space-between', alignItems: 'center' }}&gt;&#10;        &lt;Text style={{ fontSize: 14, color: '#546779' }}&gt;3.9 启动、观察与估算：读懂一次仿真的进度&lt;/Text&gt;&#10;        &lt;Text style={{ fontSize: 14, color: '#546779' }}&gt;16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97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3.9.4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在页面中观察什么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971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查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Trace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时要记下这些字段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09600" y="199072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六个字段，回答「谁、何时、为了什么、用哪个模型」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09600" y="225742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记不全是常见的复盘障碍，只写模型名称说明不了问题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609600" y="2571750"/>
            <a:ext cx="3524250" cy="95250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742950" y="276225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字段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01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742950" y="2943225"/>
            <a:ext cx="3257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参与者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742950" y="318135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哪个角色或对象发起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4333875" y="2571750"/>
            <a:ext cx="3524250" cy="95250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4467225" y="276225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字段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02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4467225" y="2943225"/>
            <a:ext cx="3257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Step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4467225" y="318135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属于哪一步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8058150" y="2571750"/>
            <a:ext cx="3524250" cy="95250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191500" y="276225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字段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03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191500" y="2943225"/>
            <a:ext cx="3257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用途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8191500" y="318135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这次调用要完成什么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609600" y="3714750"/>
            <a:ext cx="3524250" cy="95250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742950" y="390525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字段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04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42950" y="4086225"/>
            <a:ext cx="3257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42950" y="432435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实际调用的模型标识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4333875" y="3714750"/>
            <a:ext cx="3524250" cy="95250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4467225" y="390525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字段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05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4467225" y="4086225"/>
            <a:ext cx="3257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开始与结束时间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4467225" y="432435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用来估算单次请求耗时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8058150" y="3714750"/>
            <a:ext cx="3524250" cy="95250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8191500" y="390525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字段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06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8191500" y="4086225"/>
            <a:ext cx="3257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错误与调用参数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8191500" y="4324350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失败原因与请求参数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609600" y="4819650"/>
            <a:ext cx="10972800" cy="628650"/>
          </a:xfrm>
          <a:prstGeom prst="roundRect">
            <a:avLst>
              <a:gd name="adj" fmla="val 1515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67" name=""/>
          <p:cNvSpPr/>
          <p:nvPr/>
        </p:nvSpPr>
        <p:spPr>
          <a:xfrm rot="0" flipH="0" flipV="0">
            <a:off x="800100" y="49244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971550" y="5010150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本次配置没有保存请求内容时，页面应明确显示缺失；不能拿模型事后总结补成历史原始请求。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启动、观察与估算：读懂一次仿真的进度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23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71" name="" descr="&lt;Slide notes={`等待和卡死是两回事。&#10;&#10;许安因为手作室还没有开放而等待，这属于正常行为：它应该有原因、有截止时间，也有后续的动作条件。条件满足了，它就会继续。&#10;&#10;反复查询同一个信息却一直没有进展，是另一种情况，那才是需要检查的对象。&#10;&#10;判断的时候别用画面上的印象：人物不移动，可能只是在等待；日志一直在滚动，也不代表业务有进展。要回到请求、错误和提交记录上去看，那些才是能核对的事实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9.4　在页面中观察什么&lt;/Text&gt;&#10;            &lt;Text style={{ fontSize: 34, fontWeight: 'bold', color: '#20344B' }}&gt;等待有理由，卡死没有&lt;/Text&gt;&#10;        &lt;/Box&gt;&#10;    &lt;/Box&gt;&#10;&#10;    &lt;Box style={{ height: 540, flexDirection: 'column', justifyContent: 'center', gap: 20 }}&gt;&#10;&#10;        &lt;Box style={{ flexDirection: 'row', gap: 32 }}&gt;&#10;&#10;            &lt;Box style={{ width: 544, height: 300, background: '#ECF7F2', borderRadius: 10, padding: '18px 20px', flexDirection: 'column', gap: 12 }}&gt;&#10;                &lt;Text style={{ fontSize: 22, fontWeight: 'bold', color: '#26816B' }}&gt;WAIT · 有理由的等待&lt;/Text&gt;&#10;                &lt;Text style={{ fontSize: 15, color: '#546779', lineHeight: 1.5 }}&gt;条件还没满足，角色决定先等一等，这属于正常行为&lt;/Text&gt;&#10;                &lt;Box style={{ width: 504, height: 46, background: '#FFFFFF', borderRadius: 8, padding: '0 14px', flexDirection: 'row', alignItems: 'center' }}&gt;&#10;                    &lt;Text style={{ fontSize: 15, color: '#26816B' }}&gt;应该有原因&lt;/Text&gt;&#10;                &lt;/Box&gt;&#10;                &lt;Box style={{ width: 504, height: 46, background: '#FFFFFF', borderRadius: 8, padding: '0 14px', flexDirection: 'row', alignItems: 'center' }}&gt;&#10;                    &lt;Text style={{ fontSize: 15, color: '#26816B' }}&gt;应该有截止时间&lt;/Text&gt;&#10;                &lt;/Box&gt;&#10;                &lt;Box style={{ width: 504, height: 46, background: '#FFFFFF', borderRadius: 8, padding: '0 14px', flexDirection: 'row', alignItems: 'center' }}&gt;&#10;                    &lt;Text style={{ fontSize: 15, color: '#26816B' }}&gt;应该有后续动作条件&lt;/Text&gt;&#10;                &lt;/Box&gt;&#10;                &lt;Text style={{ fontSize: 14, color: '#546779', lineHeight: 1.5 }}&gt;许安因手作室尚未开放而等待，条件满足后继续行动&lt;/Text&gt;&#10;            &lt;/Box&gt;&#10;&#10;            &lt;Box style={{ width: 576, height: 300, background: '#FFF4E6', borderRadius: 10, padding: '18px 20px', flexDirection: 'column', gap: 12 }}&gt;&#10;                &lt;Text style={{ fontSize: 22, fontWeight: 'bold', color: '#CB6B28' }}&gt;反复查询却没有进展&lt;/Text&gt;&#10;                &lt;Text style={{ fontSize: 15, color: '#546779', lineHeight: 1.5 }}&gt;同一信息反复查询、始终没有新的结果，才是需要检查的对象&lt;/Text&gt;&#10;                &lt;Box style={{ width: 536, height: 46, background: '#FFFFFF', borderRadius: 8, padding: '0 14px', flexDirection: 'row', alignItems: 'center' }}&gt;&#10;                    &lt;Text style={{ fontSize: 15, color: '#CB6B28' }}&gt;不能仅凭人物不移动判卡死&lt;/Text&gt;&#10;                &lt;/Box&gt;&#10;                &lt;Box style={{ width: 536, height: 46, background: '#FFFFFF', borderRadius: 8, padding: '0 14px', flexDirection: 'row', alignItems: 'center' }}&gt;&#10;                    &lt;Text style={{ fontSize: 15, color: '#CB6B28' }}&gt;不能仅凭日志滚动判有进展&lt;/Text&gt;&#10;                &lt;/Box&gt;&#10;                &lt;Box style={{ width: 536, height: 46, background: '#FFFFFF', borderRadius: 8, padding: '0 14px', flexDirection: 'row', alignItems: 'center' }}&gt;&#10;                    &lt;Text style={{ fontSize: 15, color: '#CB6B28' }}&gt;要回到请求、错误与提交记录&lt;/Text&gt;&#10;                &lt;/Box&gt;&#10;                &lt;Text style={{ fontSize: 14, color: '#546779', lineHeight: 1.5 }}&gt;画面是结果，不是依据&lt;/Text&gt;&#10;            &lt;/Box&gt;&#10;&#10;        &lt;/Box&gt;&#10;&#10;        &lt;Box style={{ width: 1152, height: 72, background: '#F4F7FA', borderRadius: 10, padding: '0 20px', flexDirection: 'row', alignItems: 'center', gap: 14 }}&gt;&#10;            &lt;Box style={{ width: 4, height: 48, background: '#276FBF' }} /&gt;&#10;            &lt;Text style={{ fontSize: 15, color: '#546779', flex: 1, lineHeight: 1.5 }}&gt;两种情况的处理不同：等待要看条件是否写清楚，无进展要看请求、错误与重试记录。&lt;/Text&gt;&#10;        &lt;/Box&gt;&#10;&#10;    &lt;/Box&gt;&#10;&#10;    &lt;Box style={{ height: 40, flexDirection: 'row', justifyContent: 'space-between', alignItems: 'center' }}&gt;&#10;        &lt;Text style={{ fontSize: 14, color: '#546779' }}&gt;3.9 启动、观察与估算：读懂一次仿真的进度&lt;/Text&gt;&#10;        &lt;Text style={{ fontSize: 14, color: '#546779' }}&gt;17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3.9.4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在页面中观察什么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等待有理由，卡死没有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609600" y="1847850"/>
            <a:ext cx="5181600" cy="2857500"/>
          </a:xfrm>
          <a:prstGeom prst="roundRect">
            <a:avLst>
              <a:gd name="adj" fmla="val 3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00100" y="2019300"/>
            <a:ext cx="4800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WAIT · </a:t>
            </a: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有理由的等待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00100" y="2390775"/>
            <a:ext cx="4800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条件还没满足，角色决定先等一等，这属于正常行为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800100" y="2762250"/>
            <a:ext cx="48006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933450" y="28956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应该有原因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800100" y="3314700"/>
            <a:ext cx="48006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933450" y="344805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应该有截止时间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800100" y="3867150"/>
            <a:ext cx="48006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933450" y="400050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应该有后续动作条件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800100" y="4419600"/>
            <a:ext cx="4800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许安因手作室尚未开放而等待，条件满足后继续行动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6096000" y="1847850"/>
            <a:ext cx="5486400" cy="2857500"/>
          </a:xfrm>
          <a:prstGeom prst="roundRect">
            <a:avLst>
              <a:gd name="adj" fmla="val 3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286500" y="2019300"/>
            <a:ext cx="5105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反复查询却没有进展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286500" y="2390775"/>
            <a:ext cx="5105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同一信息反复查询、始终没有新的结果，才是需要检查的对象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6286500" y="2762250"/>
            <a:ext cx="51054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6419850" y="289560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不能仅凭人物不移动判卡死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6286500" y="3314700"/>
            <a:ext cx="51054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6419850" y="344805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不能仅凭日志滚动判有进展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6286500" y="3867150"/>
            <a:ext cx="51054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419850" y="4000500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要回到请求、错误与提交记录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6286500" y="4419600"/>
            <a:ext cx="5105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画面是结果，不是依据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609600" y="489585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7" name=""/>
          <p:cNvSpPr/>
          <p:nvPr/>
        </p:nvSpPr>
        <p:spPr>
          <a:xfrm rot="0" flipH="0" flipV="0">
            <a:off x="800100" y="501015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971550" y="5114925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两种情况的处理不同：等待要看条件是否写清楚，无进展要看请求、错误与重试记录。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启动、观察与估算：读懂一次仿真的进度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23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301" name="" descr="&lt;Slide notes={`最后一块是估算、调用和费用。&#10;&#10;当前的估算接口用一条很简单的公式：基数等于 Agent 数加 Skill 对象数，再乘以步数。代入青禾的四名人物、两个对象和四十八步，基数就是二百八十八。&#10;&#10;要记住这个数字的用途：它是作者方案的粗估基数，不是实测调用次数，也不能被读成系统创建了这么多角色。&#10;&#10;再往下，一次逻辑调用可能发生物理重试，费用还要看服务商的实际计费规则。没有返回用量的时候，只能记未知，不能因为汇总是零就当作免费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4　　3.9.5 当前估算究竟怎样计算　·　3.9.6 逻辑调用、物理尝试与费用&lt;/Text&gt;&#10;&#10;        &lt;Text style={{ fontSize: 56, fontWeight: 'bold', color: '#20344B', lineHeight: 1.15 }}&gt;估算、调用与费用&lt;/Text&gt;&#10;&#10;        &lt;Box style={{ width: 72, height: 4, background: '#276FBF' }} /&gt;&#10;&#10;        &lt;Text style={{ fontSize: 18, color: '#546779', lineHeight: 1.7, width: 900 }}&gt;公式给的是区间，不是承诺；没有返回用量的时候，就记未知。&lt;/Text&gt;&#10;&#10;        &lt;Box style={{ flexDirection: 'row', alignItems: 'center', marginTop: 10 }}&gt;&#10;            &lt;Box style={{ width: 240, height: 64, background: '#EDF4FC', borderRadius: 8, justifyContent: 'center', alignItems: 'center' }}&gt;&#10;                &lt;Text style={{ fontSize: 17, color: '#276FBF' }}&gt;基数 C&lt;/Text&gt;&#10;            &lt;/Box&gt;&#10;            &lt;Box style={{ width: 44, height: 64, justifyContent: 'center', alignItems: 'center' }}&gt;&#10;                &lt;Text style={{ fontSize: 24, color: '#276FBF' }}&gt;›&lt;/Text&gt;&#10;            &lt;/Box&gt;&#10;            &lt;Box style={{ width: 240, height: 64, background: '#EDF4FC', borderRadius: 8, justifyContent: 'center', alignItems: 'center' }}&gt;&#10;                &lt;Text style={{ fontSize: 17, color: '#276FBF' }}&gt;逻辑调用&lt;/Text&gt;&#10;            &lt;/Box&gt;&#10;            &lt;Box style={{ width: 44, height: 64, justifyContent: 'center', alignItems: 'center' }}&gt;&#10;                &lt;Text style={{ fontSize: 24, color: '#276FBF' }}&gt;›&lt;/Text&gt;&#10;            &lt;/Box&gt;&#10;            &lt;Box style={{ width: 240, height: 64, background: '#EDF4FC', borderRadius: 8, justifyContent: 'center', alignItems: 'center' }}&gt;&#10;                &lt;Text style={{ fontSize: 17, color: '#276FBF' }}&gt;物理尝试&lt;/Text&gt;&#10;            &lt;/Box&gt;&#10;            &lt;Box style={{ width: 44, height: 64, justifyContent: 'center', alignItems: 'center' }}&gt;&#10;                &lt;Text style={{ fontSize: 24, color: '#26816B' }}&gt;›&lt;/Text&gt;&#10;            &lt;/Box&gt;&#10;            &lt;Box style={{ width: 240, height: 64, background: '#ECF7F2', borderRadius: 8, justifyContent: 'center', alignItems: 'center' }}&gt;&#10;                &lt;Text style={{ fontSize: 17, color: '#26816B' }}&gt;费用与未知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9 启动、观察与估算：读懂一次仿真的进度&lt;/Text&gt;&#10;        &lt;Text style={{ fontSize: 14, color: '#546779' }}&gt;18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3.9.5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当前估算究竟怎样计算　·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 xml:space="preserve">3.9.6 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逻辑调用、物理尝试与费用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估算、调用与费用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公式给的是区间，不是承诺；没有返回用量的时候，就记未知。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609600" y="4057650"/>
            <a:ext cx="22860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514475" y="426720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基数</a:t>
            </a:r>
            <a:r>
              <a:rPr lang="en-US" sz="1275">
                <a:solidFill>
                  <a:srgbClr val="276FBF"/>
                </a:solidFill>
                <a:latin typeface="Microsoft YaHei"/>
                <a:ea typeface="Microsoft YaHei"/>
              </a:rPr>
              <a:t xml:space="preserve"> C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3067050" y="42291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3314700" y="4057650"/>
            <a:ext cx="22860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4133850" y="42672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逻辑调用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5772150" y="42291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6019800" y="4057650"/>
            <a:ext cx="22860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838950" y="42672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物理尝试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477250" y="422910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8724900" y="4057650"/>
            <a:ext cx="22860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9467850" y="4267200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费用与未知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启动、观察与估算：读懂一次仿真的进度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23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20" name="" descr="&lt;Slide notes={`当前估算接口用的是这一条公式：基数等于 Agent 数加 Skill 对象数，再乘以步数。&#10;&#10;青禾这一轮模拟四名人物和两个绑定 Skill 的对象，四加二等于六，乘四十八步，基数就是二百八十八。源码据此给出模型调用在 C 到 3C 之间、Token 在 500C 到 3000C 之间、墙钟秒数在 2C 到 30C 之间的范围。&#10;&#10;这些数字只是当前固定公式的输出。公式还没有逐条展开实际的子 Skill 调用链，也没有依据你所用的模型吞吐做校准，所以上下界不能当成费用承诺或完成时间保证。&#10;&#10;另外，第二章里的二十四人、十人、十六人是活动需求，不是已经创建的 Agent 数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9.5　当前估算究竟怎样计算&lt;/Text&gt;&#10;            &lt;Text style={{ fontSize: 34, fontWeight: 'bold', color: '#20344B' }}&gt;当前估算用的是这一条公式&lt;/Text&gt;&#10;        &lt;/Box&gt;&#10;    &lt;/Box&gt;&#10;&#10;    &lt;Box style={{ height: 540, flexDirection: 'column', justifyContent: 'center', gap: 16 }}&gt;&#10;&#10;        &lt;Box style={{ width: 1152, height: 96, background: '#EDF4FC', borderRadius: 10, padding: '0 24px', flexDirection: 'row', alignItems: 'center', gap: 20 }}&gt;&#10;            &lt;Text style={{ fontSize: 36, fontWeight: 'bold', color: '#276FBF' }}&gt;C =（Agent 数 + Skill 对象数）× Step 数&lt;/Text&gt;&#10;            &lt;Text style={{ fontSize: 14, color: '#546779', flex: 1 }}&gt;基数叫 C&lt;/Text&gt;&#10;        &lt;/Box&gt;&#10;&#10;        &lt;Box style={{ width: 1152, height: 72, background: '#F4F7FA', borderRadius: 10, padding: '0 24px', flexDirection: 'row', alignItems: 'center', gap: 18 }}&gt;&#10;            &lt;Text style={{ fontSize: 22, color: '#20344B' }}&gt;（4 名人物 + 2 个对象）× 48 步&lt;/Text&gt;&#10;            &lt;Text style={{ fontSize: 26, color: '#276FBF' }}&gt;=&lt;/Text&gt;&#10;            &lt;Text style={{ fontSize: 32, fontWeight: 'bold', color: '#276FBF' }}&gt;288&lt;/Text&gt;&#10;            &lt;Text style={{ fontSize: 15, color: '#546779', flex: 1 }}&gt;参与者轮次，不是实测调用&lt;/Text&gt;&#10;        &lt;/Box&gt;&#10;&#10;        &lt;Box style={{ flexDirection: 'row', gap: 21 }}&gt;&#10;            &lt;Box style={{ width: 370, height: 100, background: '#EDF4FC', borderRadius: 8, padding: 14, flexDirection: 'column', gap: 3, justifyContent: 'center' }}&gt;&#10;                &lt;Text style={{ fontSize: 14, color: '#546779' }}&gt;模型调用&lt;/Text&gt;&#10;                &lt;Text style={{ fontSize: 20, fontWeight: 'bold', color: '#276FBF' }}&gt;C – 3C&lt;/Text&gt;&#10;                &lt;Text style={{ fontSize: 13, color: '#546779' }}&gt;代入后 288 – 864 次&lt;/Text&gt;&#10;            &lt;/Box&gt;&#10;            &lt;Box style={{ width: 370, height: 100, background: '#EDF4FC', borderRadius: 8, padding: 14, flexDirection: 'column', gap: 3, justifyContent: 'center' }}&gt;&#10;                &lt;Text style={{ fontSize: 14, color: '#546779' }}&gt;Token&lt;/Text&gt;&#10;                &lt;Text style={{ fontSize: 20, fontWeight: 'bold', color: '#276FBF' }}&gt;500C – 3000C&lt;/Text&gt;&#10;                &lt;Text style={{ fontSize: 13, color: '#546779' }}&gt;代入后 144,000 – 864,000&lt;/Text&gt;&#10;            &lt;/Box&gt;&#10;            &lt;Box style={{ width: 370, height: 100, background: '#ECF7F2', borderRadius: 8, padding: 14, flexDirection: 'column', gap: 3, justifyContent: 'center' }}&gt;&#10;                &lt;Text style={{ fontSize: 14, color: '#546779' }}&gt;墙钟秒数&lt;/Text&gt;&#10;                &lt;Text style={{ fontSize: 20, fontWeight: 'bold', color: '#26816B' }}&gt;2C – 30C&lt;/Text&gt;&#10;                &lt;Text style={{ fontSize: 13, color: '#546779' }}&gt;代入后约 9.6 – 144 分钟&lt;/Text&gt;&#10;            &lt;/Box&gt;&#10;        &lt;/Box&gt;&#10;&#10;        &lt;Box style={{ width: 1152, height: 66, background: '#FFF4E6', borderRadius: 10, padding: '0 20px', flexDirection: 'row', alignItems: 'center', gap: 14 }}&gt;&#10;            &lt;Box style={{ width: 4, height: 44, background: '#CB6B28' }} /&gt;&#10;            &lt;Text style={{ fontSize: 15, color: '#546779', flex: 1, lineHeight: 1.5 }}&gt;288 是作者方案的粗估基数；第二章的计划人数是活动需求，不代表系统已经创建了这么多角色。&lt;/Text&gt;&#10;        &lt;/Box&gt;&#10;&#10;    &lt;/Box&gt;&#10;&#10;    &lt;Box style={{ height: 40, flexDirection: 'row', justifyContent: 'space-between', alignItems: 'center' }}&gt;&#10;        &lt;Text style={{ fontSize: 14, color: '#546779' }}&gt;3.9 启动、观察与估算：读懂一次仿真的进度&lt;/Text&gt;&#10;        &lt;Text style={{ fontSize: 14, color: '#546779' }}&gt;19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3.9.5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当前估算究竟怎样计算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当前估算用的是这一条公式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609600" y="189547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838200" y="2143125"/>
            <a:ext cx="66675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276FBF"/>
                </a:solidFill>
                <a:latin typeface="Microsoft YaHei"/>
                <a:ea typeface="Microsoft YaHei"/>
              </a:rPr>
              <a:t>C =</a:t>
            </a:r>
            <a:r>
              <a:rPr lang="zh-CN" sz="2700" b="1">
                <a:solidFill>
                  <a:srgbClr val="276FBF"/>
                </a:solidFill>
                <a:latin typeface="Microsoft YaHei"/>
                <a:ea typeface="Microsoft YaHei"/>
              </a:rPr>
              <a:t>（</a:t>
            </a:r>
            <a:r>
              <a:rPr lang="en-US" sz="27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2700" b="1">
                <a:solidFill>
                  <a:srgbClr val="276FBF"/>
                </a:solidFill>
                <a:latin typeface="Microsoft YaHei"/>
                <a:ea typeface="Microsoft YaHei"/>
              </a:rPr>
              <a:t>数</a:t>
            </a:r>
            <a:r>
              <a:rPr lang="en-US" sz="27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+ Skill </a:t>
            </a:r>
            <a:r>
              <a:rPr lang="zh-CN" sz="2700" b="1">
                <a:solidFill>
                  <a:srgbClr val="276FBF"/>
                </a:solidFill>
                <a:latin typeface="Microsoft YaHei"/>
                <a:ea typeface="Microsoft YaHei"/>
              </a:rPr>
              <a:t>对象数）×</a:t>
            </a:r>
            <a:r>
              <a:rPr lang="en-US" sz="27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2700" b="1">
                <a:solidFill>
                  <a:srgbClr val="276FBF"/>
                </a:solidFill>
                <a:latin typeface="Microsoft YaHei"/>
                <a:ea typeface="Microsoft YaHei"/>
              </a:rPr>
              <a:t>数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7696200" y="2276475"/>
            <a:ext cx="3657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基数叫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C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609600" y="2962275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838200" y="3181350"/>
            <a:ext cx="3067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20344B"/>
                </a:solidFill>
                <a:latin typeface="Microsoft YaHei"/>
                <a:ea typeface="Microsoft YaHei"/>
              </a:rPr>
              <a:t>（</a:t>
            </a:r>
            <a:r>
              <a:rPr lang="en-US" sz="1650">
                <a:solidFill>
                  <a:srgbClr val="20344B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650">
                <a:solidFill>
                  <a:srgbClr val="20344B"/>
                </a:solidFill>
                <a:latin typeface="Microsoft YaHei"/>
                <a:ea typeface="Microsoft YaHei"/>
              </a:rPr>
              <a:t>名人物</a:t>
            </a:r>
            <a:r>
              <a:rPr lang="en-US" sz="1650">
                <a:solidFill>
                  <a:srgbClr val="20344B"/>
                </a:solidFill>
                <a:latin typeface="Microsoft YaHei"/>
                <a:ea typeface="Microsoft YaHei"/>
              </a:rPr>
              <a:t xml:space="preserve"> + 2 </a:t>
            </a:r>
            <a:r>
              <a:rPr lang="zh-CN" sz="1650">
                <a:solidFill>
                  <a:srgbClr val="20344B"/>
                </a:solidFill>
                <a:latin typeface="Microsoft YaHei"/>
                <a:ea typeface="Microsoft YaHei"/>
              </a:rPr>
              <a:t>个对象）×</a:t>
            </a:r>
            <a:r>
              <a:rPr lang="en-US" sz="1650">
                <a:solidFill>
                  <a:srgbClr val="20344B"/>
                </a:solidFill>
                <a:latin typeface="Microsoft YaHei"/>
                <a:ea typeface="Microsoft YaHei"/>
              </a:rPr>
              <a:t xml:space="preserve"> 48 </a:t>
            </a:r>
            <a:r>
              <a:rPr lang="zh-CN" sz="1650">
                <a:solidFill>
                  <a:srgbClr val="20344B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4076700" y="3152775"/>
            <a:ext cx="190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276FBF"/>
                </a:solidFill>
                <a:latin typeface="Microsoft YaHei"/>
                <a:ea typeface="Microsoft YaHei"/>
              </a:rPr>
              <a:t>=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4438650" y="3124200"/>
            <a:ext cx="5715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276FBF"/>
                </a:solidFill>
                <a:latin typeface="Microsoft YaHei"/>
                <a:ea typeface="Microsoft YaHei"/>
              </a:rPr>
              <a:t>288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5181600" y="3219450"/>
            <a:ext cx="6172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参与者轮次，不是实测调用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609600" y="3800475"/>
            <a:ext cx="3524250" cy="95250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742950" y="3981450"/>
            <a:ext cx="3257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模型调用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742950" y="4171950"/>
            <a:ext cx="3257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C – 3C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742950" y="4429125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代入后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288 – 864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4333875" y="3800475"/>
            <a:ext cx="3524250" cy="95250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4467225" y="3981450"/>
            <a:ext cx="3257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Token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4467225" y="4171950"/>
            <a:ext cx="3257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500C – 3000C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467225" y="4429125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代入后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144,000 – 864,000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8058150" y="3800475"/>
            <a:ext cx="3524250" cy="952500"/>
          </a:xfrm>
          <a:prstGeom prst="roundRect">
            <a:avLst>
              <a:gd name="adj" fmla="val 8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8191500" y="3981450"/>
            <a:ext cx="3257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墙钟秒数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8191500" y="4171950"/>
            <a:ext cx="3257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>2C – 30C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8191500" y="4429125"/>
            <a:ext cx="3257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代入后约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9.6 – 144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609600" y="4905375"/>
            <a:ext cx="10972800" cy="628650"/>
          </a:xfrm>
          <a:prstGeom prst="roundRect">
            <a:avLst>
              <a:gd name="adj" fmla="val 1515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800100" y="501015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971550" y="5095875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288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是作者方案的粗估基数；第二章的计划人数是活动需求，不代表系统已经创建了这么多角色。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启动、观察与估算：读懂一次仿真的进度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23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83" name="" descr="&lt;Slide notes={`把基数带进去，得到的是一段区间。&#10;&#10;模型调用粗估在二百八十八到八百六十四次之间，Token 在一十四万四千到八十六万四千之间，墙钟大约在九点六到一百四十四分钟之间。&#10;&#10;区间之所以这么宽，是因为公式只用了一个系数范围，没有把阅读长记忆、对象多轮回复、重复修复这些真实消耗展开，也没有按模型吞吐校准。&#10;&#10;所以更合理的后续做法，是从真实观察中得到每个 Agent 轮次和对象轮次的逻辑调用数，再加入物理重试、上下文长度和模型耗时去修正。这些数字是起点，不是结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9.5　当前估算究竟怎样计算&lt;/Text&gt;&#10;            &lt;Text style={{ fontSize: 34, fontWeight: 'bold', color: '#20344B' }}&gt;代入以后得到的是一段区间&lt;/Text&gt;&#10;        &lt;/Box&gt;&#10;    &lt;/Box&gt;&#10;&#10;    &lt;Box style={{ height: 540, flexDirection: 'column', justifyContent: 'center', gap: 16 }}&gt;&#10;&#10;        &lt;Box style={{ flexDirection: 'column', gap: 4 }}&gt;&#10;            &lt;Text style={{ fontSize: 20, fontWeight: 'bold', color: '#20344B' }}&gt;基数 288 带进去，三项消耗各得到一段范围&lt;/Text&gt;&#10;            &lt;Text style={{ fontSize: 14, color: '#546779' }}&gt;上下界来自固定系数，不是根据你的模型吞吐校准出来的&lt;/Text&gt;&#10;        &lt;/Box&gt;&#10;&#10;        &lt;Box style={{ flexDirection: 'row', gap: 21 }}&gt;&#10;&#10;            &lt;Box style={{ width: 370, height: 220, background: '#EDF4FC', borderRadius: 10, padding: '18px 20px', flexDirection: 'column', gap: 6, justifyContent: 'center' }}&gt;&#10;                &lt;Text style={{ fontSize: 15, fontWeight: 'bold', color: '#546779' }}&gt;模型调用&lt;/Text&gt;&#10;                &lt;Text style={{ fontSize: 44, fontWeight: 'bold', color: '#276FBF', lineHeight: 1.1 }}&gt;288–864&lt;/Text&gt;&#10;                &lt;Text style={{ fontSize: 16, color: '#276FBF' }}&gt;次&lt;/Text&gt;&#10;                &lt;Text style={{ fontSize: 13, color: '#546779', lineHeight: 1.5 }}&gt;按 C – 3C 得到&lt;/Text&gt;&#10;            &lt;/Box&gt;&#10;&#10;            &lt;Box style={{ width: 370, height: 220, background: '#EDF4FC', borderRadius: 10, padding: '18px 20px', flexDirection: 'column', gap: 6, justifyContent: 'center' }}&gt;&#10;                &lt;Text style={{ fontSize: 15, fontWeight: 'bold', color: '#546779' }}&gt;Token&lt;/Text&gt;&#10;                &lt;Text style={{ fontSize: 34, fontWeight: 'bold', color: '#276FBF', lineHeight: 1.1 }}&gt;144,000{'\n'}–864,000&lt;/Text&gt;&#10;                &lt;Text style={{ fontSize: 13, color: '#546779', lineHeight: 1.5 }}&gt;按 500C – 3000C 得到&lt;/Text&gt;&#10;            &lt;/Box&gt;&#10;&#10;            &lt;Box style={{ width: 370, height: 220, background: '#ECF7F2', borderRadius: 10, padding: '18px 20px', flexDirection: 'column', gap: 6, justifyContent: 'center' }}&gt;&#10;                &lt;Text style={{ fontSize: 15, fontWeight: 'bold', color: '#546779' }}&gt;墙钟时间&lt;/Text&gt;&#10;                &lt;Text style={{ fontSize: 44, fontWeight: 'bold', color: '#26816B', lineHeight: 1.1 }}&gt;9.6–144&lt;/Text&gt;&#10;                &lt;Text style={{ fontSize: 16, color: '#26816B' }}&gt;分钟&lt;/Text&gt;&#10;                &lt;Text style={{ fontSize: 13, color: '#546779', lineHeight: 1.5 }}&gt;按 2C – 30C 得到&lt;/Text&gt;&#10;            &lt;/Box&gt;&#10;&#10;        &lt;/Box&gt;&#10;&#10;        &lt;Box style={{ width: 1152, height: 66, background: '#FFF4E6', borderRadius: 10, padding: '0 20px', flexDirection: 'row', alignItems: 'center', gap: 14 }}&gt;&#10;            &lt;Box style={{ width: 4, height: 44, background: '#CB6B28' }} /&gt;&#10;            &lt;Text style={{ fontSize: 15, color: '#546779', flex: 1, lineHeight: 1.5 }}&gt;这些只是当前固定公式的输出，不是费用承诺，也不是完成时间保证。&lt;/Text&gt;&#10;        &lt;/Box&gt;&#10;&#10;    &lt;/Box&gt;&#10;&#10;    &lt;Box style={{ height: 40, flexDirection: 'row', justifyContent: 'space-between', alignItems: 'center' }}&gt;&#10;        &lt;Text style={{ fontSize: 14, color: '#546779' }}&gt;3.9 启动、观察与估算：读懂一次仿真的进度&lt;/Text&gt;&#10;        &lt;Text style={{ fontSize: 14, color: '#546779' }}&gt;20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3.9.5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当前估算究竟怎样计算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代入以后得到的是一段区间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609600" y="199072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基数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288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带进去，三项消耗各得到一段范围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609600" y="225742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上下界来自固定系数，不是根据你的模型吞吐校准出来的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609600" y="2571750"/>
            <a:ext cx="3524250" cy="2095500"/>
          </a:xfrm>
          <a:prstGeom prst="roundRect">
            <a:avLst>
              <a:gd name="adj" fmla="val 454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800100" y="2962275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模型调用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800100" y="3190875"/>
            <a:ext cx="3143250" cy="5619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300" b="1">
                <a:solidFill>
                  <a:srgbClr val="276FBF"/>
                </a:solidFill>
                <a:latin typeface="Microsoft YaHei"/>
                <a:ea typeface="Microsoft YaHei"/>
              </a:rPr>
              <a:t>288–864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800100" y="3810000"/>
            <a:ext cx="3143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800100" y="4057650"/>
            <a:ext cx="31432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按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C – 3C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得到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4333875" y="2571750"/>
            <a:ext cx="3524250" cy="2095500"/>
          </a:xfrm>
          <a:prstGeom prst="roundRect">
            <a:avLst>
              <a:gd name="adj" fmla="val 454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4524375" y="2933700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46779"/>
                </a:solidFill>
                <a:latin typeface="Microsoft YaHei"/>
                <a:ea typeface="Microsoft YaHei"/>
              </a:rPr>
              <a:t>Token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4524375" y="3162300"/>
            <a:ext cx="3143250" cy="8572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550" b="1">
                <a:solidFill>
                  <a:srgbClr val="276FBF"/>
                </a:solidFill>
                <a:latin typeface="Microsoft YaHei"/>
                <a:ea typeface="Microsoft YaHei"/>
              </a:rPr>
              <a:t>144,000</a:t>
            </a:r>
            <a:endParaRPr/>
          </a:p>
          <a:p>
            <a:pPr>
              <a:lnSpc>
                <a:spcPct val="110000"/>
              </a:lnSpc>
            </a:pPr>
            <a:r>
              <a:rPr lang="en-US" sz="2550" b="1">
                <a:solidFill>
                  <a:srgbClr val="276FBF"/>
                </a:solidFill>
                <a:latin typeface="Microsoft YaHei"/>
                <a:ea typeface="Microsoft YaHei"/>
              </a:rPr>
              <a:t>–864,000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4524375" y="4076700"/>
            <a:ext cx="31432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按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500C – 3000C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得到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8058150" y="2571750"/>
            <a:ext cx="3524250" cy="2095500"/>
          </a:xfrm>
          <a:prstGeom prst="roundRect">
            <a:avLst>
              <a:gd name="adj" fmla="val 454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8248650" y="2962275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墙钟时间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8248650" y="3190875"/>
            <a:ext cx="3143250" cy="5619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300" b="1">
                <a:solidFill>
                  <a:srgbClr val="26816B"/>
                </a:solidFill>
                <a:latin typeface="Microsoft YaHei"/>
                <a:ea typeface="Microsoft YaHei"/>
              </a:rPr>
              <a:t>9.6–144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8248650" y="3810000"/>
            <a:ext cx="3143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8248650" y="4057650"/>
            <a:ext cx="31432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按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2C – 30C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得到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609600" y="4819650"/>
            <a:ext cx="10972800" cy="628650"/>
          </a:xfrm>
          <a:prstGeom prst="roundRect">
            <a:avLst>
              <a:gd name="adj" fmla="val 1515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05" name=""/>
          <p:cNvSpPr/>
          <p:nvPr/>
        </p:nvSpPr>
        <p:spPr>
          <a:xfrm rot="0" flipH="0" flipV="0">
            <a:off x="800100" y="49244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971550" y="5010150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这些只是当前固定公式的输出，不是费用承诺，也不是完成时间保证。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启动、观察与估算：读懂一次仿真的进度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23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409" name="" descr="&lt;Slide notes={`逻辑调用和物理尝试要分开统计。&#10;&#10;一次「让模型处理当前任务」是逻辑调用。因为超时或者格式错误重新发出去的请求，是同一个调用下面的物理尝试。一次逻辑调用可能只对应一次物理请求，也可能对应好几次重试。&#10;&#10;基数二百八十八的单位是参与者轮次，不是逻辑调用次数，两者之间不能一一对应。每一轮都可能有多次调用，展开的只是其中一次。&#10;&#10;页面已经有按用途显示逻辑调用、物理请求、重试和耗时的视图，正在执行的请求还要结合 Trace 一起看。把两件事混在一起，算出来的费用和延迟都会失真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9.6　逻辑调用、物理尝试与费用&lt;/Text&gt;&#10;            &lt;Text style={{ fontSize: 34, fontWeight: 'bold', color: '#20344B' }}&gt;一次逻辑调用，可能多次物理尝试&lt;/Text&gt;&#10;        &lt;/Box&gt;&#10;    &lt;/Box&gt;&#10;&#10;    &lt;Box style={{ height: 540, flexDirection: 'column', justifyContent: 'center', gap: 14 }}&gt;&#10;&#10;        &lt;Box style={{ width: 1152, height: 72, background: '#EDF4FC', borderRadius: 10, padding: '0 22px', flexDirection: 'row', alignItems: 'center', gap: 18 }}&gt;&#10;            &lt;Text style={{ fontSize: 20, fontWeight: 'bold', color: '#276FBF' }}&gt;一次逻辑调用&lt;/Text&gt;&#10;            &lt;Text style={{ fontSize: 15, color: '#546779', flex: 1 }}&gt;让模型处理当前这一个任务，是统计的基本单位&lt;/Text&gt;&#10;        &lt;/Box&gt;&#10;&#10;        &lt;Box style={{ flexDirection: 'row', justifyContent: 'center' }}&gt;&#10;            &lt;Box style={{ width: 44, height: 44, justifyContent: 'center', alignItems: 'center' }}&gt;&#10;                &lt;Text style={{ fontSize: 26, color: '#276FBF' }}&gt;↓&lt;/Text&gt;&#10;            &lt;/Box&gt;&#10;        &lt;/Box&gt;&#10;&#10;        &lt;Box style={{ flexDirection: 'row', gap: 20 }}&gt;&#10;            &lt;Box style={{ width: 566, height: 110, background: '#ECF7F2', borderRadius: 10, padding: '0 20px', flexDirection: 'column', gap: 4, justifyContent: 'center' }}&gt;&#10;                &lt;Text style={{ fontSize: 20, fontWeight: 'bold', color: '#26816B' }}&gt;物理尝试 1&lt;/Text&gt;&#10;                &lt;Text style={{ fontSize: 14, color: '#546779', lineHeight: 1.5 }}&gt;第一次真正发出去的请求，记一次物理调用&lt;/Text&gt;&#10;            &lt;/Box&gt;&#10;            &lt;Box style={{ width: 566, height: 110, background: '#FFF4E6', borderRadius: 10, padding: '0 20px', flexDirection: 'column', gap: 4, justifyContent: 'center' }}&gt;&#10;                &lt;Text style={{ fontSize: 20, fontWeight: 'bold', color: '#CB6B28' }}&gt;可能的物理重试&lt;/Text&gt;&#10;                &lt;Text style={{ fontSize: 14, color: '#546779', lineHeight: 1.5 }}&gt;因超时或格式错误重发，属于同一次逻辑调用&lt;/Text&gt;&#10;            &lt;/Box&gt;&#10;        &lt;/Box&gt;&#10;&#10;        &lt;Box style={{ width: 1152, height: 60, background: '#F4F7FA', borderRadius: 10, padding: '0 20px', flexDirection: 'row', alignItems: 'center', gap: 14 }}&gt;&#10;            &lt;Box style={{ width: 4, height: 40, background: '#276FBF' }} /&gt;&#10;            &lt;Text style={{ fontSize: 15, color: '#546779', flex: 1, lineHeight: 1.5 }}&gt;两者都要统计；页面已有按用途显示逻辑调用、物理请求、重试与耗时的视图。&lt;/Text&gt;&#10;        &lt;/Box&gt;&#10;&#10;        &lt;Box style={{ width: 1152, height: 62, background: '#FFF4E6', borderRadius: 10, padding: '0 20px', flexDirection: 'row', alignItems: 'center', gap: 14 }}&gt;&#10;            &lt;Box style={{ width: 4, height: 42, background: '#CB6B28' }} /&gt;&#10;            &lt;Text style={{ fontSize: 15, color: '#546779', flex: 1, lineHeight: 1.5 }}&gt;288 的单位是参与者轮次，不能与逻辑调用一一对应。&lt;/Text&gt;&#10;        &lt;/Box&gt;&#10;&#10;    &lt;/Box&gt;&#10;&#10;    &lt;Box style={{ height: 40, flexDirection: 'row', justifyContent: 'space-between', alignItems: 'center' }}&gt;&#10;        &lt;Text style={{ fontSize: 14, color: '#546779' }}&gt;3.9 启动、观察与估算：读懂一次仿真的进度&lt;/Text&gt;&#10;        &lt;Text style={{ fontSize: 14, color: '#546779' }}&gt;21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3.9.6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逻辑调用、物理尝试与费用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一次逻辑调用，可能多次物理尝试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609600" y="179070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819150" y="201930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一次逻辑调用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2133600" y="2047875"/>
            <a:ext cx="9239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让模型处理当前这一个任务，是统计的基本单位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6038850" y="2667000"/>
            <a:ext cx="1238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609600" y="3162300"/>
            <a:ext cx="5391150" cy="104775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800100" y="3429000"/>
            <a:ext cx="5010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物理尝试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1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800100" y="3695700"/>
            <a:ext cx="50101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第一次真正发出去的请求，记一次物理调用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6191250" y="3162300"/>
            <a:ext cx="5391150" cy="104775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6381750" y="3429000"/>
            <a:ext cx="5010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可能的物理重试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6381750" y="3695700"/>
            <a:ext cx="50101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因超时或格式错误重发，属于同一次逻辑调用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609600" y="4343400"/>
            <a:ext cx="10972800" cy="57150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25" name=""/>
          <p:cNvSpPr/>
          <p:nvPr/>
        </p:nvSpPr>
        <p:spPr>
          <a:xfrm rot="0" flipH="0" flipV="0">
            <a:off x="800100" y="44386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971550" y="4505325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两者都要统计；页面已有按用途显示逻辑调用、物理请求、重试与耗时的视图。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609600" y="5048250"/>
            <a:ext cx="10972800" cy="590550"/>
          </a:xfrm>
          <a:prstGeom prst="roundRect">
            <a:avLst>
              <a:gd name="adj" fmla="val 161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28" name=""/>
          <p:cNvSpPr/>
          <p:nvPr/>
        </p:nvSpPr>
        <p:spPr>
          <a:xfrm rot="0" flipH="0" flipV="0">
            <a:off x="800100" y="5143500"/>
            <a:ext cx="38100" cy="4000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971550" y="5219700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288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的单位是参与者轮次，不能与逻辑调用一一对应。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启动、观察与估算：读懂一次仿真的进度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23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32" name="" descr="&lt;Slide notes={`费用的算法很简单，但边界很多。&#10;&#10;费用要用服务商实际的计费规则和账单来算，并且区分输入、输出以及适用的缓存等项目，不能自己乘一个单价了事。&#10;&#10;有一类情况特别容易读错：服务没有返回 Token 的时候，应该记为未知。当前汇总里出现的零值，很可能来自缺少用量字段，不能自动解释成免费。&#10;&#10;还有一点，取消或者失败的运行，也可能已经产生了模型费用。&#10;&#10;所以我建议把预计值、实际值和未提供的数据分成三栏记录。这样下一次实验才有依据去改预算，而不是用一个成功提示结束观察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9.6　逻辑调用、物理尝试与费用&lt;/Text&gt;&#10;            &lt;Text style={{ fontSize: 34, fontWeight: 'bold', color: '#20344B' }}&gt;没有返回用量时，只能记未知&lt;/Text&gt;&#10;        &lt;/Box&gt;&#10;    &lt;/Box&gt;&#10;&#10;    &lt;Box style={{ height: 540, flexDirection: 'column', justifyContent: 'center', gap: 14 }}&gt;&#10;&#10;        &lt;Box style={{ flexDirection: 'row', alignItems: 'center' }}&gt;&#10;            &lt;Box style={{ width: 200 }} /&gt;&#10;            &lt;Box style={{ width: 16 }} /&gt;&#10;            &lt;Box style={{ width: 480, paddingLeft: 14 }}&gt;&#10;                &lt;Text style={{ fontSize: 15, fontWeight: 'bold', color: '#546779' }}&gt;怎么读&lt;/Text&gt;&#10;            &lt;/Box&gt;&#10;            &lt;Box style={{ width: 16 }} /&gt;&#10;            &lt;Box style={{ width: 440, paddingLeft: 14 }}&gt;&#10;                &lt;Text style={{ fontSize: 15, fontWeight: 'bold', color: '#CB6B28' }}&gt;要留意什么&lt;/Text&gt;&#10;            &lt;/Box&gt;&#10;        &lt;/Box&gt;&#10;&#10;        &lt;Box style={{ flexDirection: 'row', alignItems: 'center', height: 112 }}&gt;&#10;            &lt;Box style={{ width: 200, height: 112, background: '#EDF4FC', borderRadius: 8, justifyContent: 'center', alignItems: 'center' }}&gt;&#10;                &lt;Text style={{ fontSize: 17, fontWeight: 'bold', color: '#276FBF' }}&gt;计费规则&lt;/Text&gt;&#10;            &lt;/Box&gt;&#10;            &lt;Box style={{ width: 16 }} /&gt;&#10;            &lt;Box style={{ width: 480, height: 112, background: '#F4F7FA', borderRadius: 8, padding: '0 16px', justifyContent: 'center' }}&gt;&#10;                &lt;Text style={{ fontSize: 15, color: '#20344B', lineHeight: 1.5 }}&gt;用服务商实际的计费规则和账单来算&lt;/Text&gt;&#10;            &lt;/Box&gt;&#10;            &lt;Box style={{ width: 16 }} /&gt;&#10;            &lt;Box style={{ width: 440, height: 112, background: '#EDF4FC', borderRadius: 8, padding: '0 16px', justifyContent: 'center' }}&gt;&#10;                &lt;Text style={{ fontSize: 15, color: '#546779', lineHeight: 1.5 }}&gt;区分输入、输出与适用的缓存等项目&lt;/Text&gt;&#10;            &lt;/Box&gt;&#10;        &lt;/Box&gt;&#10;&#10;        &lt;Box style={{ flexDirection: 'row', alignItems: 'center', height: 112 }}&gt;&#10;            &lt;Box style={{ width: 200, height: 112, background: '#FFF4E6', borderRadius: 8, justifyContent: 'center', alignItems: 'center' }}&gt;&#10;                &lt;Text style={{ fontSize: 17, fontWeight: 'bold', color: '#CB6B28' }}&gt;用量为零&lt;/Text&gt;&#10;            &lt;/Box&gt;&#10;            &lt;Box style={{ width: 16 }} /&gt;&#10;            &lt;Box style={{ width: 480, height: 112, background: '#F4F7FA', borderRadius: 8, padding: '0 16px', justifyContent: 'center' }}&gt;&#10;                &lt;Text style={{ fontSize: 15, color: '#20344B', lineHeight: 1.5 }}&gt;汇总里的零值，可能来自缺少用量字段&lt;/Text&gt;&#10;            &lt;/Box&gt;&#10;            &lt;Box style={{ width: 16 }} /&gt;&#10;            &lt;Box style={{ width: 440, height: 112, background: '#FFF4E6', borderRadius: 8, padding: '0 16px', justifyContent: 'center' }}&gt;&#10;                &lt;Text style={{ fontSize: 15, color: '#546779', lineHeight: 1.5 }}&gt;不能自动解释成免费，应记为未知&lt;/Text&gt;&#10;            &lt;/Box&gt;&#10;        &lt;/Box&gt;&#10;&#10;        &lt;Box style={{ flexDirection: 'row', alignItems: 'center', height: 112 }}&gt;&#10;            &lt;Box style={{ width: 200, height: 112, background: '#EDF4FC', borderRadius: 8, justifyContent: 'center', alignItems: 'center' }}&gt;&#10;                &lt;Text style={{ fontSize: 17, fontWeight: 'bold', color: '#276FBF' }}&gt;取消或失败&lt;/Text&gt;&#10;            &lt;/Box&gt;&#10;            &lt;Box style={{ width: 16 }} /&gt;&#10;            &lt;Box style={{ width: 480, height: 112, background: '#F4F7FA', borderRadius: 8, padding: '0 16px', justifyContent: 'center' }}&gt;&#10;                &lt;Text style={{ fontSize: 15, color: '#20344B', lineHeight: 1.5 }}&gt;运行结束得早，也可能已经产生模型费用&lt;/Text&gt;&#10;            &lt;/Box&gt;&#10;            &lt;Box style={{ width: 16 }} /&gt;&#10;            &lt;Box style={{ width: 440, height: 112, background: '#EDF4FC', borderRadius: 8, padding: '0 16px', justifyContent: 'center' }}&gt;&#10;                &lt;Text style={{ fontSize: 15, color: '#546779', lineHeight: 1.5 }}&gt;结局不等于没有消耗&lt;/Text&gt;&#10;            &lt;/Box&gt;&#10;        &lt;/Box&gt;&#10;&#10;        &lt;Box style={{ width: 1152, height: 66, background: '#FFF4E6', borderRadius: 10, padding: '0 20px', flexDirection: 'row', alignItems: 'center', gap: 14 }}&gt;&#10;            &lt;Box style={{ width: 4, height: 44, background: '#CB6B28' }} /&gt;&#10;            &lt;Text style={{ fontSize: 15, color: '#546779', flex: 1, lineHeight: 1.5 }}&gt;把预计值、实际值与未提供的数据分栏记录，下一次实验才有依据改进预算。&lt;/Text&gt;&#10;        &lt;/Box&gt;&#10;&#10;    &lt;/Box&gt;&#10;&#10;    &lt;Box style={{ height: 40, flexDirection: 'row', justifyContent: 'space-between', alignItems: 'center' }}&gt;&#10;        &lt;Text style={{ fontSize: 14, color: '#546779' }}&gt;3.9 启动、观察与估算：读懂一次仿真的进度&lt;/Text&gt;&#10;        &lt;Text style={{ fontSize: 14, color: '#546779' }}&gt;22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3.9.6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逻辑调用、物理尝试与费用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没有返回用量时，只能记未知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2800350" y="1447800"/>
            <a:ext cx="4438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怎么读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7524750" y="1447800"/>
            <a:ext cx="405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要留意什么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609600" y="1752600"/>
            <a:ext cx="1905000" cy="10668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1238250" y="21907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计费规则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2667000" y="1752600"/>
            <a:ext cx="4572000" cy="10668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2819400" y="2162175"/>
            <a:ext cx="4267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用服务商实际的计费规则和账单来算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7391400" y="1752600"/>
            <a:ext cx="4191000" cy="10668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7543800" y="2162175"/>
            <a:ext cx="3886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区分输入、输出与适用的缓存等项目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609600" y="2952750"/>
            <a:ext cx="1905000" cy="10668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1238250" y="33909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用量为零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2667000" y="2952750"/>
            <a:ext cx="4572000" cy="10668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2819400" y="3362325"/>
            <a:ext cx="4267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汇总里的零值，可能来自缺少用量字段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7391400" y="2952750"/>
            <a:ext cx="4191000" cy="10668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7543800" y="3362325"/>
            <a:ext cx="3886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不能自动解释成免费，应记为未知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609600" y="4152900"/>
            <a:ext cx="1905000" cy="10668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1162050" y="4591050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取消或失败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2667000" y="4152900"/>
            <a:ext cx="4572000" cy="10668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2819400" y="4562475"/>
            <a:ext cx="4267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运行结束得早，也可能已经产生模型费用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7391400" y="4152900"/>
            <a:ext cx="4191000" cy="10668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7543800" y="4562475"/>
            <a:ext cx="3886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结局不等于没有消耗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609600" y="5353050"/>
            <a:ext cx="10972800" cy="628650"/>
          </a:xfrm>
          <a:prstGeom prst="roundRect">
            <a:avLst>
              <a:gd name="adj" fmla="val 1515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8" name=""/>
          <p:cNvSpPr/>
          <p:nvPr/>
        </p:nvSpPr>
        <p:spPr>
          <a:xfrm rot="0" flipH="0" flipV="0">
            <a:off x="800100" y="54578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971550" y="5543550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把预计值、实际值与未提供的数据分栏记录，下一次实验才有依据改进预算。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启动、观察与估算：读懂一次仿真的进度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23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62" name="" descr="&lt;Slide notes={`这一段带走三件事。&#10;&#10;状态只说明执行走到哪一步。完成不证明业务指标通过，排队不证明有一个持久的任务队列，收尾也不证明正式包已经导出。&#10;&#10;三种时间要分开记：虚拟时间是故事里的时刻，模型耗时是真实请求的耗时，墙钟时间还包含工具、暂停和人工处理。暂停不会让虚拟时间自动推进。&#10;&#10;观察最后要落到一张真实的运行观察表上，每次观察标明 Run、Attempt、已提交的 Step、当前状态和证据来源，把预计值、实际值和未提供的数据分栏。下一节我们看暂停、取消、续跑与重跑。`} style={{ width: 1280, height: 720, background: '#FFFFFF', flexDirection: 'column', padding: '20px 64px' }}&gt;&#10;&#10;    &lt;Box style={{ height: 640, flexDirection: 'column', justifyContent: 'center', gap: 16 }}&gt;&#10;&#10;        &lt;Text style={{ fontSize: 15, color: '#546779' }}&gt;3.9　启动、观察与估算：读懂一次仿真的进度&lt;/Text&gt;&#10;&#10;        &lt;Text style={{ fontSize: 56, fontWeight: 'bold', color: '#20344B', lineHeight: 1.15 }}&gt;记住三件事&lt;/Text&gt;&#10;&#10;        &lt;Box style={{ width: 72, height: 4, background: '#276FBF', marginBottom: 6 }} /&gt;&#10;&#10;        &lt;Box style={{ width: 1152, height: 100, background: '#EDF4FC', borderRadius: 10, padding: '0 22px', flexDirection: 'row', alignItems: 'center', gap: 18 }}&gt;&#10;            &lt;Text style={{ fontSize: 22, fontWeight: 'bold', color: '#276FBF' }}&gt;状态只说阶段&lt;/Text&gt;&#10;            &lt;Text style={{ fontSize: 16, color: '#546779', flex: 1, lineHeight: 1.5 }}&gt;完成不证明业务通过，排队不证明有持久队列，收尾不证明正式包已导出。&lt;/Text&gt;&#10;        &lt;/Box&gt;&#10;&#10;        &lt;Box style={{ flexDirection: 'row', gap: 20 }}&gt;&#10;            &lt;Box style={{ width: 566, height: 100, background: '#ECF7F2', borderRadius: 10, padding: '0 22px', flexDirection: 'column', gap: 4, justifyContent: 'center' }}&gt;&#10;                &lt;Text style={{ fontSize: 20, fontWeight: 'bold', color: '#26816B' }}&gt;三种时间分开记&lt;/Text&gt;&#10;                &lt;Text style={{ fontSize: 15, color: '#546779' }}&gt;虚拟时间、模型耗时与墙钟时间，暂停不推进虚拟时间。&lt;/Text&gt;&#10;            &lt;/Box&gt;&#10;            &lt;Box style={{ width: 566, height: 100, background: '#FFF4E6', borderRadius: 10, padding: '0 22px', flexDirection: 'column', gap: 4, justifyContent: 'center' }}&gt;&#10;                &lt;Text style={{ fontSize: 20, fontWeight: 'bold', color: '#CB6B28' }}&gt;观察落到记录表&lt;/Text&gt;&#10;                &lt;Text style={{ fontSize: 15, color: '#546779' }}&gt;标明 Run、Attempt、已提交 Step、状态与证据来源。&lt;/Text&gt;&#10;            &lt;/Box&gt;&#10;        &lt;/Box&gt;&#10;&#10;        &lt;Text style={{ fontSize: 15, color: '#546779', marginTop: 8 }}&gt;下一节：暂停、取消、续跑与重跑 —— 沿 Run、Attempt 和提交边界理解恢复&lt;/Text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609600" y="12763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3.9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启动、观察与估算：读懂一次仿真的进度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609600" y="16002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记住三件事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609600" y="24955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7" name=""/>
          <p:cNvSpPr/>
          <p:nvPr/>
        </p:nvSpPr>
        <p:spPr>
          <a:xfrm rot="0" flipH="0" flipV="0">
            <a:off x="609600" y="274320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819150" y="3095625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状态只说阶段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2247900" y="3086100"/>
            <a:ext cx="91249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完成不证明业务通过，排队不证明有持久队列，收尾不证明正式包已导出。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609600" y="3848100"/>
            <a:ext cx="5391150" cy="9525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819150" y="4105275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三种时间分开记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819150" y="4371975"/>
            <a:ext cx="497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虚拟时间、模型耗时与墙钟时间，暂停不推进虚拟时间。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6191250" y="3848100"/>
            <a:ext cx="5391150" cy="9525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6400800" y="4105275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观察落到记录表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6400800" y="4371975"/>
            <a:ext cx="497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标明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Attempt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、已提交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、状态与证据来源。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609600" y="50292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下一节：暂停、取消、续跑与重跑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沿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Attempt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和提交边界理解恢复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2026-09-29T08:48:30Z</dcterms:created>
  <dcterms:modified xsi:type="dcterms:W3CDTF">2026-09-29T08:48:30Z</dcterms:modified>
</cp:coreProperties>
</file>