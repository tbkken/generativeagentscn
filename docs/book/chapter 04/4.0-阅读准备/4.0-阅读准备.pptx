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9.xml" ContentType="application/vnd.openxmlformats-officedocument.presentationml.slide+xml"/>
  <Override PartName="/ppt/slides/slide12.xml" ContentType="application/vnd.openxmlformats-officedocument.presentationml.slide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9" Type="http://schemas.openxmlformats.org/officeDocument/2006/relationships/slide" Target="slides/slide9.xml" /><Relationship Id="rId14" Type="http://schemas.openxmlformats.org/officeDocument/2006/relationships/slide" Target="slides/slide14.xml" /><Relationship Id="rId6" Type="http://schemas.openxmlformats.org/officeDocument/2006/relationships/slide" Target="slides/slide6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19" Type="http://schemas.openxmlformats.org/officeDocument/2006/relationships/slide" Target="slides/slide19.xml" /><Relationship Id="rId12" Type="http://schemas.openxmlformats.org/officeDocument/2006/relationships/slide" Target="slides/slide12.xml" /><Relationship Id="rId7" Type="http://schemas.openxmlformats.org/officeDocument/2006/relationships/slide" Target="slides/slide7.xml" /><Relationship Id="rId13" Type="http://schemas.openxmlformats.org/officeDocument/2006/relationships/slide" Target="slides/slide13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1" Type="http://schemas.openxmlformats.org/officeDocument/2006/relationships/notesMaster" Target="notesMasters/notesMaster1.xml" /><Relationship Id="rId22" Type="http://schemas.openxmlformats.org/officeDocument/2006/relationships/presProps" Target="presProps.xml" /><Relationship Id="rId23" Type="http://schemas.openxmlformats.org/officeDocument/2006/relationships/tableStyles" Target="tableStyles.xml" /><Relationship Id="rId24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我们从第三章接着往下走。第三章解决了"让角色真的行动"：有位置、有记忆、有不同目标的人在同一张地图上做事，跑完能留下可核查的记录。这一节要解决的是下一步——拿这些行动去回答什么样的问题。</a:t>
            </a:r>
          </a:p>
          <a:p>
            <a:r>
              <a:rPr lang="zh-CN" dirty="0"/>
              <a:t>我先说一个最容易犯的错：把问题写成"让大厅更高效"。这句话听起来清楚，其实跑出任何结果都能解释过去，因为它没说清比较什么、看哪个指标、什么情况下算失败。</a:t>
            </a:r>
          </a:p>
          <a:p>
            <a:r>
              <a:rPr lang="zh-CN" dirty="0"/>
              <a:t>所以这一节先把提问、管理和取证三组准备讲清楚，再进入九个具体案例。</a:t>
            </a:r>
          </a:p>
          <a:p>
            <a:r>
              <a:rPr lang="zh-CN" dirty="0"/>
              <a:t>还有一句必须记住：本章六个主案例、两个选修案例都是虚构教案，还没有新场景的实际运行结果。人工判分只教怎么算，不能提前写成研究发现。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这一节分成三组准备工作，做完再看具体案例，就不会把它读成故事。</a:t>
            </a:r>
          </a:p>
          <a:p>
            <a:r>
              <a:rPr lang="zh-CN" dirty="0"/>
              <a:t>第一组解决提问：把太宽的说法改写成能被结果推翻的句子，并且只说到证据允许的那一层。第二组解决管理：作者和评阅者手里的完整题目、答案与判据要留在评阅侧，角色和对象各自持有自己的事实、目标与进度，共同材料也必须说明是从哪次初始输入、感知或消息取得的；两组之间只许差一个预登记的因素，而且这个差异要留档。第三组解决证据：每一个主要判断都要能找到对应证据，判分先写清成立、不成立、部分成立和无法判断的例子。</a:t>
            </a:r>
          </a:p>
          <a:p>
            <a:r>
              <a:rPr lang="zh-CN" dirty="0"/>
              <a:t>三组都做完，后面九个案例里的图表和评分表，才知道该信到哪里为止。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研究里最难的一步不是跑实验，而是把想问的东西写成一个能让结果说"不"的句子。</a:t>
            </a:r>
          </a:p>
          <a:p>
            <a:r>
              <a:rPr lang="zh-CN" dirty="0"/>
              <a:t>"让大厅更高效"这种说法听起来清楚，实际上跑完任何结果都能解释过去，因为它没有说清比较什么、看哪个指标、什么情况下算失败。</a:t>
            </a:r>
          </a:p>
          <a:p>
            <a:r>
              <a:rPr lang="zh-CN" dirty="0"/>
              <a:t>所以我们先做一件事：把太宽的说法改写成一句可以被结果推翻的话，再补上可能的反例。补反例这一步很重要，它其实是在问自己——如果反例真的出现了，我愿不愿意承认原来的想法站不住。</a:t>
            </a:r>
          </a:p>
          <a:p>
            <a:r>
              <a:rPr lang="zh-CN" dirty="0"/>
              <a:t>这一步做完，后面所有条件怎么设、指标怎么定，才有方向。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我们来看三种常见的说法怎么改写。</a:t>
            </a:r>
          </a:p>
          <a:p>
            <a:r>
              <a:rPr lang="zh-CN" dirty="0"/>
              <a:t>第一种，"让大厅更高效"，改成"四项固定任务中，先澄清目的是否提高咨询闭环率"。它允许的反例是：错误确实变少了，但等待时间和调用次数上去了，效率未必真的提高。</a:t>
            </a:r>
          </a:p>
          <a:p>
            <a:r>
              <a:rPr lang="zh-CN" dirty="0"/>
              <a:t>第二种，"让交接更可靠"，改成"五项整理是否提高关键事实到达率"。反例是格式完整了，关键内容仍然遗漏。</a:t>
            </a:r>
          </a:p>
          <a:p>
            <a:r>
              <a:rPr lang="zh-CN" dirty="0"/>
              <a:t>第三种，"让导览更好"，改成"只移动牌子，是否改善预算内的主题使用"。反例是两个位置本来都已经可见，那这个改动就没有意义。</a:t>
            </a:r>
          </a:p>
          <a:p>
            <a:r>
              <a:rPr lang="zh-CN" dirty="0"/>
              <a:t>三句话有一个共同点：都写明了比较对象、指标和可能出现的反面结果。有反面结果，才谈得上验证。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问题缩小之后，还要管住结论的长度。我把它分成三个层次。</a:t>
            </a:r>
          </a:p>
          <a:p>
            <a:r>
              <a:rPr lang="zh-CN" dirty="0"/>
              <a:t>层次一是系统机制，看权限、请求、路径、提交和恢复身份这些到底成不成立。机制正常并不等于业务成功，两者不能互换。</a:t>
            </a:r>
          </a:p>
          <a:p>
            <a:r>
              <a:rPr lang="zh-CN" dirty="0"/>
              <a:t>层次二是本次模型行为，看固定条件、独立 Run、判分和成本。这里能得到的是这几个角色在这次设置下的表现，它不等于三个现实人口的样本。</a:t>
            </a:r>
          </a:p>
          <a:p>
            <a:r>
              <a:rPr lang="zh-CN" dirty="0"/>
              <a:t>层次三是现实应用效果，需要现实资料校准、外部验证，还要说明适用条件。仿真里全员赞同，不等于现实世界的支持率。</a:t>
            </a:r>
          </a:p>
          <a:p>
            <a:r>
              <a:rPr lang="zh-CN" dirty="0"/>
              <a:t>写作时最常犯的错，就是拿第一层的证据去说第三层的话。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把这三层想成一段台阶，越往上，能站的地方越窄，要的证据也越多。</a:t>
            </a:r>
          </a:p>
          <a:p>
            <a:r>
              <a:rPr lang="zh-CN" dirty="0"/>
              <a:t>站在系统机制这一级，我能说的是流程跑通了、权限和路径没有矛盾、提交和恢复身份对得上。</a:t>
            </a:r>
          </a:p>
          <a:p>
            <a:r>
              <a:rPr lang="zh-CN" dirty="0"/>
              <a:t>往上走一级到本次模型行为，我能说的是：在一批冻结的条件下、用几次独立 Run，观察到什么样的分布、哪些失败方式、花了多少成本。</a:t>
            </a:r>
          </a:p>
          <a:p>
            <a:r>
              <a:rPr lang="zh-CN" dirty="0"/>
              <a:t>再往上那一级，才涉及现实应用效果，它需要现实资料校准和外部验证。</a:t>
            </a:r>
          </a:p>
          <a:p>
            <a:r>
              <a:rPr lang="zh-CN" dirty="0"/>
              <a:t>台阶之间有一条线。从"本次模型行为"直接跳到"现实效果"，就是越界。跨过去之前，先问自己有没有第三层要求的那些证据；没有，就把结论老老实实停在下一级。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接下来要管三件容易被糊在一起的东西：资料放在谁手里，两组的差异到底差在哪，以及计数的时候我数的究竟是什么。</a:t>
            </a:r>
          </a:p>
          <a:p>
            <a:r>
              <a:rPr lang="zh-CN" dirty="0"/>
              <a:t>资料分不清，角色就可能在没有任何真实交流的情况下说出正确答案，那整个实验就什么都没证明。差异没有留档，两组之间就不止差一处，结果也就归因不到任何东西上。计数单位定错，算出来的比率再精确也没有意义。</a:t>
            </a:r>
          </a:p>
          <a:p>
            <a:r>
              <a:rPr lang="zh-CN" dirty="0"/>
              <a:t>这三件事都有一个共同点：它们都在跑之前完成。跑起来之后改不动，一旦改了，就必须重新登记正式比较的范围。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材料是按使用者分的，一共三份。</a:t>
            </a:r>
          </a:p>
          <a:p>
            <a:r>
              <a:rPr lang="zh-CN" dirty="0"/>
              <a:t>作者和评阅者手里是完整题目、答案和判据。它们只在评阅时使用：先看证据，再对判据，最后出结论。</a:t>
            </a:r>
          </a:p>
          <a:p>
            <a:r>
              <a:rPr lang="zh-CN" dirty="0"/>
              <a:t>角色和对象各自持有自己的事实、目标与进度。它们只能通过真实的请求、消息和感知，取得允许交流的那部分内容。</a:t>
            </a:r>
          </a:p>
          <a:p>
            <a:r>
              <a:rPr lang="zh-CN" dirty="0"/>
              <a:t>剩下的是共同材料，比如场所、公开规则和任务方法。共同材料也只是允许共同知道，还必须说明它是从哪次初始输入、哪次感知或哪条消息进入本轮上下文的。</a:t>
            </a:r>
          </a:p>
          <a:p>
            <a:r>
              <a:rPr lang="zh-CN" dirty="0"/>
              <a:t>红线只有一条：完整答案不能进入共同的 Brain。还有一句要记住——姓名不同，并不等于信息已经隔离。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用大厅那个咨询任务来举例会更清楚。</a:t>
            </a:r>
          </a:p>
          <a:p>
            <a:r>
              <a:rPr lang="zh-CN" dirty="0"/>
              <a:t>人物自己为什么要来，属于私有材料，放在中间那一层。窗口的分工，按角色和对象的职责分配出去。</a:t>
            </a:r>
          </a:p>
          <a:p>
            <a:r>
              <a:rPr lang="zh-CN" dirty="0"/>
              <a:t>正确的窗口和判据，留在评阅材料那一侧，不能出现在角色读得到的地方。右边写"共同材料"，只表示这些内容允许共同知道，仍然要说清它是从哪次初始输入、哪次感知或哪条消息拿到的。</a:t>
            </a:r>
          </a:p>
          <a:p>
            <a:r>
              <a:rPr lang="zh-CN" dirty="0"/>
              <a:t>还有一点容易忽略：在普通记忆里写下一个地址，并不会自动建立导航需要的已知空间。这两件事在系统里是分开的，写进去不等于用得上。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两组之间只允许差一个预登记的因素，而且这个差异必须留档。</a:t>
            </a:r>
          </a:p>
          <a:p>
            <a:r>
              <a:rPr lang="zh-CN" dirty="0"/>
              <a:t>第一步，为基线和对照各建一个独立实验，把共同的地图、人物、事实、模型、视野、注意力、窗口和留存设置全部冻结。</a:t>
            </a:r>
          </a:p>
          <a:p>
            <a:r>
              <a:rPr lang="zh-CN" dirty="0"/>
              <a:t>第二步，只修改事先登记好的句子或布局，并且把原句和替换句、原坐标和新坐标都存下来。</a:t>
            </a:r>
          </a:p>
          <a:p>
            <a:r>
              <a:rPr lang="zh-CN" dirty="0"/>
              <a:t>第三步，封存包要复制成新草稿。公共资源不会自动更新包内的副本，也不建立新的 Revision。</a:t>
            </a:r>
          </a:p>
          <a:p>
            <a:r>
              <a:rPr lang="zh-CN" dirty="0"/>
              <a:t>第四步，同一批次里同时安排两种条件，执行次序事先打乱，并记录模型服务或环境有没有变化。</a:t>
            </a:r>
          </a:p>
          <a:p>
            <a:r>
              <a:rPr lang="zh-CN" dirty="0"/>
              <a:t>第五步，如果想研究位置和视野的相互作用，必须另作明确的多因素设计。两次随意的改动，不能拼成一个结论。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把两种做法放在一起看，差别很直接。</a:t>
            </a:r>
          </a:p>
          <a:p>
            <a:r>
              <a:rPr lang="zh-CN" dirty="0"/>
              <a:t>上面这一组只改了一处：其余条件完全一样，差异点用颜色标出来，跑完之后结果之间的差别可以归到这一处上。</a:t>
            </a:r>
          </a:p>
          <a:p>
            <a:r>
              <a:rPr lang="zh-CN" dirty="0"/>
              <a:t>下面这一组改了两处以上，两个条件同时变。即使最后结果不同，你也说不清是哪一处造成的，这就是"拼不成结论"。</a:t>
            </a:r>
          </a:p>
          <a:p>
            <a:r>
              <a:rPr lang="zh-CN" dirty="0"/>
              <a:t>区组化和随机化能降低组别与运行时间重合带来的风险，但它们不消除所有变化，也不保证远端模型完全复现。所以记录里要写清：这一次到底改了什么，有没有别的变化同时发生。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这里有两组特别容易混的数。</a:t>
            </a:r>
          </a:p>
          <a:p>
            <a:r>
              <a:rPr lang="zh-CN" dirty="0"/>
              <a:t>上面数的是时间间隔。从第 1 步到第 61 步，中间只有 60 个一分钟间隔；61 个时间点覆盖 60 分钟。公式是末时刻等于起时刻，加上步数减一乘步长。</a:t>
            </a:r>
          </a:p>
          <a:p>
            <a:r>
              <a:rPr lang="zh-CN" dirty="0"/>
              <a:t>下面数的是独立重复。一个 Run 里有四项任务、若干条消息、几次恢复，这些都不能当成四次独立重复，因为同一个 Run 里的角色会互相影响。</a:t>
            </a:r>
          </a:p>
          <a:p>
            <a:r>
              <a:rPr lang="zh-CN" dirty="0"/>
              <a:t>恢复只是同一个 run_id 下的新 attempt_id，它延续原来的 Run，不增加独立样本量。</a:t>
            </a:r>
          </a:p>
          <a:p>
            <a:r>
              <a:rPr lang="zh-CN" dirty="0"/>
              <a:t>这两组都只是示意，不是实际运行安排，也不是样本量证明。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口径要先定下来，否则算出来的比率再精确也没有意义。</a:t>
            </a:r>
          </a:p>
          <a:p>
            <a:r>
              <a:rPr lang="zh-CN" dirty="0"/>
              <a:t>业务观察单位是任务、访客、关键事实这些，它们充当各个指标的分母。</a:t>
            </a:r>
          </a:p>
          <a:p>
            <a:r>
              <a:rPr lang="zh-CN" dirty="0"/>
              <a:t>独立重复指的是新的 Run。恢复是同一个 run_id 下的新 attempt_id，它不增加独立样本量。</a:t>
            </a:r>
          </a:p>
          <a:p>
            <a:r>
              <a:rPr lang="zh-CN" dirty="0"/>
              <a:t>时间跨度的公式是末时刻等于起时刻加上步数减一乘步长，61 步、1 分钟正好覆盖 60 分钟。</a:t>
            </a:r>
          </a:p>
          <a:p>
            <a:r>
              <a:rPr lang="zh-CN" dirty="0"/>
              <a:t>活动时长要按案例事实核对：ACT 出现，不等于它自动持续了完整的一个步长。</a:t>
            </a:r>
          </a:p>
          <a:p>
            <a:r>
              <a:rPr lang="zh-CN" dirty="0"/>
              <a:t>教学探索可以先给每组预留三次独立 Run 的预算，用来认识变异，但这不是统计显著性的样本量建议。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关于时间，有两条纪律必须守住。</a:t>
            </a:r>
          </a:p>
          <a:p>
            <a:r>
              <a:rPr lang="zh-CN" dirty="0"/>
              <a:t>第一条，时延必须有起止点。"Run 开始到闭环"和"首次咨询到有效回复"是两段不同的时间，不能混在一起报。对象在本步处理、人物要下一轮才能接收到，所以还受到步长限制——这两件事发生的时刻本来就不一样。</a:t>
            </a:r>
          </a:p>
          <a:p>
            <a:r>
              <a:rPr lang="zh-CN" dirty="0"/>
              <a:t>第二条，窗口结束还没完成的任务，要保留成"截至截止时刻未完成"。不能把它们删掉只统计成功者，也不能把截止时间当成完成时间填进去。截止以后事件什么时候发生是未知的，这类数据涉及右删失。</a:t>
            </a:r>
          </a:p>
          <a:p>
            <a:r>
              <a:rPr lang="zh-CN" dirty="0"/>
              <a:t>资料调试记录可以保留，但条件一旦改动，就要重新登记正式比较的范围。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最后一步，是把结论和材料对上。</a:t>
            </a:r>
          </a:p>
          <a:p>
            <a:r>
              <a:rPr lang="zh-CN" dirty="0"/>
              <a:t>前面定了问题、资料和计数方式，接下来要给每一个主要判断配一个证据入口。说到抵达和绕行，就要拿已执行的移动和实际坐标作证；说到认识是否更正，就要有来源消息、有效记忆和真实检索；说到调用代价，就要翻出同一个 Run 里全部 Attempt 的记录。</a:t>
            </a:r>
          </a:p>
          <a:p>
            <a:r>
              <a:rPr lang="zh-CN" dirty="0"/>
              <a:t>没有入口的判断，哪怕听起来再合理，也只能写在讨论里，不能写进结果。</a:t>
            </a:r>
          </a:p>
          <a:p>
            <a:r>
              <a:rPr lang="zh-CN" dirty="0"/>
              <a:t>这一节最后还要把教案落实成可以独立复用的作者材料，让下一个人拿到就能装配。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六个主要判断，各有各的证据入口。</a:t>
            </a:r>
          </a:p>
          <a:p>
            <a:r>
              <a:rPr lang="zh-CN" dirty="0"/>
              <a:t>抵达和绕行，看已执行的移动动作、实际坐标和地址。</a:t>
            </a:r>
          </a:p>
          <a:p>
            <a:r>
              <a:rPr lang="zh-CN" dirty="0"/>
              <a:t>咨询是否正确，要同时看三段：请求、对象答复、人物实际接收与确认，缺一段都不算闭环。</a:t>
            </a:r>
          </a:p>
          <a:p>
            <a:r>
              <a:rPr lang="zh-CN" dirty="0"/>
              <a:t>认识是否更正，看来源消息、有效记忆、替代关系和真实检索。</a:t>
            </a:r>
          </a:p>
          <a:p>
            <a:r>
              <a:rPr lang="zh-CN" dirty="0"/>
              <a:t>共同结论，看双人消息、指定的最终陈述和条件核对。对象是否变化，看对象动作、状态补丁和已提交事实。</a:t>
            </a:r>
          </a:p>
          <a:p>
            <a:r>
              <a:rPr lang="zh-CN" dirty="0"/>
              <a:t>调用代价最容易被漏掉：要看同一个 Run 里全部 Attempt 的逻辑调用、物理尝试、用量和失败。主要指标回答业务问题；时延、错误和成本用来解释取舍，不要把所有权重硬揉成一个总分。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语义判分不要只写对错。</a:t>
            </a:r>
          </a:p>
          <a:p>
            <a:r>
              <a:rPr lang="zh-CN" dirty="0"/>
              <a:t>先为成立、不成立、部分成立和无法判断各写一个例子，把边界说清楚，后面判起来才有依据。"部分成立"这一档尤其重要，它逼你说出究竟满足的是哪一部分判据。</a:t>
            </a:r>
          </a:p>
          <a:p>
            <a:r>
              <a:rPr lang="zh-CN" dirty="0"/>
              <a:t>重要的样本可以请两位评阅者独立评分，分歧保留下来，不要强行合并掉。</a:t>
            </a:r>
          </a:p>
          <a:p>
            <a:r>
              <a:rPr lang="zh-CN" dirty="0"/>
              <a:t>用模型辅助评分也可以，但必须记录用的是哪个模型、输入是什么、规则是什么，关键分歧仍然要人工复核。</a:t>
            </a:r>
          </a:p>
          <a:p>
            <a:r>
              <a:rPr lang="zh-CN" dirty="0"/>
              <a:t>最后提醒一句：主要指标回答业务问题，时延、错误和成本用来解释取舍，不要把所有指标硬揉成一个总分，那样反而看不出问题在哪。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有三件事必须分开看：实验的 Run 状态、系统本身的质量，以及业务分数。</a:t>
            </a:r>
          </a:p>
          <a:p>
            <a:r>
              <a:rPr lang="zh-CN" dirty="0"/>
              <a:t>Run 状态说的是这次实验跑完没跑完，它是一条流程记录。系统质量看的是权限、请求、路径、提交和恢复身份这些环节正不正常。业务分数看的是任务、访客、关键事实这一层实际做到了什么，它来自判分表。</a:t>
            </a:r>
          </a:p>
          <a:p>
            <a:r>
              <a:rPr lang="zh-CN" dirty="0"/>
              <a:t>最容易写错的两句是：状态显示完成，不代表任务真的完成了；状态显示未评估，也不代表通过。写完报告一定要回头核对这两条。</a:t>
            </a:r>
          </a:p>
          <a:p>
            <a:r>
              <a:rPr lang="zh-CN" dirty="0"/>
              <a:t>本章的评分表是人工或独立分析材料，不宣称业务 Evaluator 已经自动执行。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最后把教案落实成能用的材料，一共四步。</a:t>
            </a:r>
          </a:p>
          <a:p>
            <a:r>
              <a:rPr lang="zh-CN" dirty="0"/>
              <a:t>第一，每个案例独立保存 map、agents、skill、settings 和 verification，把正文里的事实与 SOP 片段落实成完整资源。</a:t>
            </a:r>
          </a:p>
          <a:p>
            <a:r>
              <a:rPr lang="zh-CN" dirty="0"/>
              <a:t>第二，按第三章的流程，通过浏览器上传、绑定、装配、保存、预检、封存和运行。这篇文章本身不是可以导入的实验包，它只负责把条件和判据说清楚。</a:t>
            </a:r>
          </a:p>
          <a:p>
            <a:r>
              <a:rPr lang="zh-CN" dirty="0"/>
              <a:t>第三，发现实际问题时，登记入口、动作、预期与实际、以及对应的 Experiment、Run、Attempt、Step 和证据，并按逐问题的规则停止相应的验收。合理拒绝、静态不可达和业务失败要分别解释。</a:t>
            </a:r>
          </a:p>
          <a:p>
            <a:r>
              <a:rPr lang="zh-CN" dirty="0"/>
              <a:t>第四，用实验计划开题，用报告模板交付全部结果和局限。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这一节留三个问题，读后面九个案例的时候随时回来问。</a:t>
            </a:r>
          </a:p>
          <a:p>
            <a:r>
              <a:rPr lang="zh-CN" dirty="0"/>
              <a:t>第一，我提的这个问题能被结果推翻吗？如果跑出任何结果都能解释过去，那它就还不是一个问题。</a:t>
            </a:r>
          </a:p>
          <a:p>
            <a:r>
              <a:rPr lang="zh-CN" dirty="0"/>
              <a:t>第二，两组之间的差异，是不是只差一处，而且已经登记在案？改动写不出来、存不下来，结果就没法归因。</a:t>
            </a:r>
          </a:p>
          <a:p>
            <a:r>
              <a:rPr lang="zh-CN" dirty="0"/>
              <a:t>第三，我报出来的结论，停在哪一层证据上？是系统机制、本次模型行为，还是现实应用效果。</a:t>
            </a:r>
          </a:p>
          <a:p>
            <a:r>
              <a:rPr lang="zh-CN" dirty="0"/>
              <a:t>把这三句话问完，再看案例里的图表和评分表，就知道该信到哪里为止。也别忘了，本章八个案例目前都是虚构教案，还没有实际运行结果。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0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我们从第三章接着往下走。第三章解决了&quot;让角色真的行动&quot;：有位置、有记忆、有不同目标的人在同一张地图上做事，跑完能留下可核查的记录。这一节要解决的是下一步——拿这些行动去回答什么样的问题。&#10;&#10;我先说一个最容易犯的错：把问题写成&quot;让大厅更高效&quot;。这句话听起来清楚，其实跑出任何结果都能解释过去，因为它没说清比较什么、看哪个指标、什么情况下算失败。&#10;&#10;所以这一节先把提问、管理和取证三组准备讲清楚，再进入九个具体案例。&#10;&#10;还有一句必须记住：本章六个主案例、两个选修案例都是虚构教案，还没有新场景的实际运行结果。人工判分只教怎么算，不能提前写成研究发现。`} style={{ width: 1280, height: 720, background: '#FFFFFF', flexDirection: 'column', padding: '20px 64px' }}&gt;&#10;&#10;    &lt;Box style={{ height: 100, flexDirection: 'row', alignItems: 'center', gap: 12 }}&gt;&#10;        &lt;Box style={{ width: 4, height: 36, background: '#276FBF' }} /&gt;&#10;        &lt;Text style={{ fontSize: 15, color: '#546779' }}&gt;第四章　面向问题的场景化应用　·　4.0 阅读准备&lt;/Text&gt;&#10;    &lt;/Box&gt;&#10;&#10;    &lt;Box style={{ height: 540, flexDirection: 'row', alignItems: 'center', gap: 32 }}&gt;&#10;&#10;        &lt;Box style={{ width: 560, flexDirection: 'column', justifyContent: 'center', gap: 14 }}&gt;&#10;            &lt;Text style={{ fontSize: 52, fontWeight: 'bold', color: '#20344B', lineHeight: 1.2 }}&gt;从「让角色行动」{'\n'}到「用实验回答问题」&lt;/Text&gt;&#10;            &lt;Box style={{ width: 72, height: 4, background: '#276FBF' }} /&gt;&#10;            &lt;Text style={{ fontSize: 17, color: '#546779', lineHeight: 1.7, width: 560 }}&gt;第三章让角色在共同世界里真实行动。这一节先不进入案例，而是把九个案例共用的准备动作讲清楚。&lt;/Text&gt;&#10;            &lt;Box style={{ flexDirection: 'row', gap: 12, marginTop: 4 }}&gt;&#10;                &lt;Box style={{ width: 128, height: 42, background: '#EDF4FC', borderRadius: 8, justifyContent: 'center', alignItems: 'center' }}&gt;&#10;                    &lt;Text style={{ fontSize: 15, color: '#276FBF' }}&gt;问得准&lt;/Text&gt;&#10;                &lt;/Box&gt;&#10;                &lt;Box style={{ width: 128, height: 42, background: '#ECF7F2', borderRadius: 8, justifyContent: 'center', alignItems: 'center' }}&gt;&#10;                    &lt;Text style={{ fontSize: 15, color: '#26816B' }}&gt;管得住&lt;/Text&gt;&#10;                &lt;/Box&gt;&#10;                &lt;Box style={{ width: 128, height: 42, background: '#EDF4FC', borderRadius: 8, justifyContent: 'center', alignItems: 'center' }}&gt;&#10;                    &lt;Text style={{ fontSize: 15, color: '#276FBF' }}&gt;证得出&lt;/Text&gt;&#10;                &lt;/Box&gt;&#10;                &lt;Box style={{ width: 128, height: 42, background: '#FFF4E6', borderRadius: 8, justifyContent: 'center', alignItems: 'center' }}&gt;&#10;                    &lt;Text style={{ fontSize: 15, color: '#CB6B28' }}&gt;尚无 Run&lt;/Text&gt;&#10;                &lt;/Box&gt;&#10;            &lt;/Box&gt;&#10;        &lt;/Box&gt;&#10;&#10;        &lt;Box style={{ width: 560, flexDirection: 'column', justifyContent: 'center', gap: 16 }}&gt;&#10;&#10;            &lt;Box style={{ width: 560, height: 100, background: '#F4F7FA', borderRadius: 10, padding: '12px 18px', flexDirection: 'column', gap: 6, justifyContent: 'center' }}&gt;&#10;                &lt;Text style={{ fontSize: 18, fontWeight: 'bold', color: '#20344B' }}&gt;太宽的问题&lt;/Text&gt;&#10;                &lt;Text style={{ fontSize: 15, color: '#546779' }}&gt;让大厅更高效　·　让交接更可靠　·　让导览更好&lt;/Text&gt;&#10;                &lt;Text style={{ fontSize: 14, color: '#CB6B28' }}&gt;跑出任何结果都能解释过去&lt;/Text&gt;&#10;            &lt;/Box&gt;&#10;&#10;            &lt;Box style={{ width: 560, height: 34, justifyContent: 'center', alignItems: 'center' }}&gt;&#10;                &lt;Text style={{ fontSize: 22, color: '#276FBF' }}&gt;↓&lt;/Text&gt;&#10;            &lt;/Box&gt;&#10;&#10;            &lt;Box style={{ width: 560, height: 120, background: '#EDF4FC', borderRadius: 10, padding: '12px 18px', flexDirection: 'column', gap: 6, justifyContent: 'center' }}&gt;&#10;                &lt;Text style={{ fontSize: 18, fontWeight: 'bold', color: '#276FBF' }}&gt;能被结果推翻的问题&lt;/Text&gt;&#10;                &lt;Text style={{ fontSize: 15, color: '#20344B', lineHeight: 1.5 }}&gt;四项固定任务中，先澄清目的是否提高咨询闭环率？&lt;/Text&gt;&#10;                &lt;Text style={{ fontSize: 14, color: '#546779' }}&gt;写清比较什么、看哪个指标、什么算失败&lt;/Text&gt;&#10;            &lt;/Box&gt;&#10;&#10;            &lt;Box style={{ width: 560, height: 34, justifyContent: 'center', alignItems: 'center' }}&gt;&#10;                &lt;Text style={{ fontSize: 22, color: '#26816B' }}&gt;↓&lt;/Text&gt;&#10;            &lt;/Box&gt;&#10;&#10;            &lt;Box style={{ width: 560, height: 108, background: '#ECF7F2', borderRadius: 10, padding: '12px 18px', flexDirection: 'column', gap: 6, justifyContent: 'center' }}&gt;&#10;                &lt;Text style={{ fontSize: 18, fontWeight: 'bold', color: '#26816B' }}&gt;两组独立 Run&lt;/Text&gt;&#10;                &lt;Text style={{ fontSize: 15, color: '#546779', lineHeight: 1.5 }}&gt;共同条件保持相同，只替换一个预登记的因素；每组各自建 Run&lt;/Text&gt;&#10;            &lt;/Box&gt;&#10;&#10;            &lt;Box style={{ width: 560, height: 56, background: '#FFF4E6', borderRadius: 10, padding: '8px 18px', flexDirection: 'column', gap: 2, justifyContent: 'center' }}&gt;&#10;                &lt;Text style={{ fontSize: 15, fontWeight: 'bold', color: '#CB6B28' }}&gt;教案尚未运行&lt;/Text&gt;&#10;                &lt;Text style={{ fontSize: 14, color: '#546779' }}&gt;八个案例均为虚构教案，没有实测效果可供引用&lt;/Text&gt;&#10;            &lt;/Box&gt;&#10;&#10;        &lt;/Box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495300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581025"/>
            <a:ext cx="3143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第四章　面向问题的场景化应用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4.0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阅读准备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2228850"/>
            <a:ext cx="5334000" cy="14287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从「让角色行动」</a:t>
            </a:r>
            <a:endParaRPr/>
          </a:p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到「用实验回答问题」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9600" y="37909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3962400"/>
            <a:ext cx="5334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第三章让角色在共同世界里真实行动。这一节先不进入案例，而是把九个案例共用的准备动作讲清楚。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09600" y="4800600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009650" y="491490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问得准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1943100" y="4800600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2343150" y="491490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管得住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3276600" y="4800600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3676650" y="491490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证得出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4610100" y="4800600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4924425" y="4914900"/>
            <a:ext cx="600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尚无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6248400" y="1181100"/>
            <a:ext cx="53340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419850" y="1333500"/>
            <a:ext cx="4991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太宽的问题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419850" y="1600200"/>
            <a:ext cx="4991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让大厅更高效　·　让交接更可靠　·　让导览更好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419850" y="1828800"/>
            <a:ext cx="499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跑出任何结果都能解释过去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8867775" y="2324100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6248400" y="2762250"/>
            <a:ext cx="5334000" cy="11430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419850" y="2962275"/>
            <a:ext cx="4991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能被结果推翻的问题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419850" y="3228975"/>
            <a:ext cx="49911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四项固定任务中，先澄清目的是否提高咨询闭环率？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419850" y="3543300"/>
            <a:ext cx="499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写清比较什么、看哪个指标、什么算失败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8867775" y="4095750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6248400" y="4533900"/>
            <a:ext cx="5334000" cy="1028700"/>
          </a:xfrm>
          <a:prstGeom prst="roundRect">
            <a:avLst>
              <a:gd name="adj" fmla="val 925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419850" y="4791075"/>
            <a:ext cx="4991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两组独立</a:t>
            </a: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419850" y="5057775"/>
            <a:ext cx="49911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共同条件保持相同，只替换一个预登记的因素；每组各自建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6248400" y="5715000"/>
            <a:ext cx="5334000" cy="533400"/>
          </a:xfrm>
          <a:prstGeom prst="roundRect">
            <a:avLst>
              <a:gd name="adj" fmla="val 1785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6419850" y="5810250"/>
            <a:ext cx="4991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教案尚未运行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419850" y="6000750"/>
            <a:ext cx="499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八个案例均为虚构教案，没有实测效果可供引用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19" name="" descr="&lt;Slide notes={`这一节分成三组准备工作，做完再看具体案例，就不会把它读成故事。&#10;&#10;第一组解决提问：把太宽的说法改写成能被结果推翻的句子，并且只说到证据允许的那一层。第二组解决管理：作者和评阅者手里的完整题目、答案与判据要留在评阅侧，角色和对象各自持有自己的事实、目标与进度，共同材料也必须说明是从哪次初始输入、感知或消息取得的；两组之间只许差一个预登记的因素，而且这个差异要留档。第三组解决证据：每一个主要判断都要能找到对应证据，判分先写清成立、不成立、部分成立和无法判断的例子。&#10;&#10;三组都做完，后面九个案例里的图表和评分表，才知道该信到哪里为止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本节地图　三组阅读准备&lt;/Text&gt;&#10;            &lt;Text style={{ fontSize: 34, fontWeight: 'bold', color: '#20344B' }}&gt;本节要看清的三组准备&lt;/Text&gt;&#10;        &lt;/Box&gt;&#10;    &lt;/Box&gt;&#10;&#10;    &lt;Box style={{ height: 540, flexDirection: 'column', gap: 16 }}&gt;&#10;&#10;        &lt;Text style={{ fontSize: 17, color: '#546779', lineHeight: 1.6 }}&gt;这一节不进入案例，先把九个案例共用的动作讲清楚：问得准、管得住、证得出。&lt;/Text&gt;&#10;&#10;        &lt;Box style={{ flexDirection: 'row', gap: 16, flex: 1 }}&gt;&#10;&#10;            &lt;Box style={{ width: 360, background: '#F4F7FA', borderRadius: 12, padding: 20, flexDirection: 'column', gap: 12 }}&gt;&#10;                &lt;Box style={{ width: 56, height: 56, background: '#276FBF', borderRadius: 10, justifyContent: 'center', alignItems: 'center' }}&gt;&#10;                    &lt;Text style={{ fontSize: 26, fontWeight: 'bold', color: '#FFFFFF' }}&gt;1&lt;/Text&gt;&#10;                &lt;/Box&gt;&#10;                &lt;Text style={{ fontSize: 22, fontWeight: 'bold', color: '#20344B' }}&gt;问得准&lt;/Text&gt;&#10;                &lt;Text style={{ fontSize: 15, color: '#276FBF', lineHeight: 1.5 }}&gt;把「让大厅更高效」改写成可检验的句子&lt;/Text&gt;&#10;                &lt;Text style={{ fontSize: 15, color: '#546779', lineHeight: 1.75 }}&gt;· 写清比较什么、看哪个指标{'\n'}· 补上可能的反例{'\n'}· 结论只说到证据允许的那一层&lt;/Text&gt;&#10;            &lt;/Box&gt;&#10;&#10;            &lt;Box style={{ width: 360, background: '#ECF7F2', borderRadius: 12, padding: 20, flexDirection: 'column', gap: 12 }}&gt;&#10;                &lt;Box style={{ width: 56, height: 56, background: '#26816B', borderRadius: 10, justifyContent: 'center', alignItems: 'center' }}&gt;&#10;                    &lt;Text style={{ fontSize: 26, fontWeight: 'bold', color: '#FFFFFF' }}&gt;2&lt;/Text&gt;&#10;                &lt;/Box&gt;&#10;                &lt;Text style={{ fontSize: 22, fontWeight: 'bold', color: '#20344B' }}&gt;管得住&lt;/Text&gt;&#10;                &lt;Text style={{ fontSize: 15, color: '#26816B', lineHeight: 1.5 }}&gt;资料放在谁手里、两组差在哪、数的是什么&lt;/Text&gt;&#10;                &lt;Text style={{ fontSize: 15, color: '#546779', lineHeight: 1.75 }}&gt;· 作者／角色／评阅材料分开{'\n'}· 两组只差一个预登记因素{'\n'}· 时间点、任务单位与独立 Run 分别计数&lt;/Text&gt;&#10;            &lt;/Box&gt;&#10;&#10;            &lt;Box style={{ width: 360, background: '#F4F7FA', borderRadius: 12, padding: 20, flexDirection: 'column', gap: 12 }}&gt;&#10;                &lt;Box style={{ width: 56, height: 56, background: '#276FBF', borderRadius: 10, justifyContent: 'center', alignItems: 'center' }}&gt;&#10;                    &lt;Text style={{ fontSize: 26, fontWeight: 'bold', color: '#FFFFFF' }}&gt;3&lt;/Text&gt;&#10;                &lt;/Box&gt;&#10;                &lt;Text style={{ fontSize: 22, fontWeight: 'bold', color: '#20344B' }}&gt;证得出&lt;/Text&gt;&#10;                &lt;Text style={{ fontSize: 15, color: '#276FBF', lineHeight: 1.5 }}&gt;每个结论都要找得到对应的证据入口&lt;/Text&gt;&#10;                &lt;Text style={{ fontSize: 15, color: '#546779', lineHeight: 1.75 }}&gt;· 六个主要判断各配证据入口{'\n'}· 判分先写清四种结果{'\n'}· 教案落实为独立的作者材料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0 阅读准备&lt;/Text&gt;&#10;        &lt;Text style={{ fontSize: 14, color: '#546779' }}&gt;02 / 20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本节地图　三组阅读准备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本节要看清的三组准备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609600" y="1143000"/>
            <a:ext cx="10972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这一节不进入案例，先把九个案例共用的动作讲清楚：问得准、管得住、证得出。</a:t>
            </a:r>
            <a:endParaRPr/>
          </a:p>
        </p:txBody>
      </p:sp>
      <p:sp>
        <p:nvSpPr>
          <p:cNvPr id="325" name=""/>
          <p:cNvSpPr/>
          <p:nvPr/>
        </p:nvSpPr>
        <p:spPr>
          <a:xfrm rot="0" flipH="0" flipV="0">
            <a:off x="609600" y="1609725"/>
            <a:ext cx="3429000" cy="4676775"/>
          </a:xfrm>
          <a:prstGeom prst="roundRect">
            <a:avLst>
              <a:gd name="adj" fmla="val 3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26" name=""/>
          <p:cNvSpPr/>
          <p:nvPr/>
        </p:nvSpPr>
        <p:spPr>
          <a:xfrm rot="0" flipH="0" flipV="0">
            <a:off x="800100" y="180022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990600" y="1914525"/>
            <a:ext cx="1619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800100" y="2447925"/>
            <a:ext cx="3048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问得准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800100" y="2819400"/>
            <a:ext cx="3048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把「让大厅更高效」改写成可检验的句子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800100" y="3190875"/>
            <a:ext cx="3048000" cy="90487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写清比较什么、看哪个指标</a:t>
            </a:r>
            <a:endParaRPr/>
          </a:p>
          <a:p>
            <a:pPr>
              <a:lnSpc>
                <a:spcPct val="175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补上可能的反例</a:t>
            </a:r>
            <a:endParaRPr/>
          </a:p>
          <a:p>
            <a:pPr>
              <a:lnSpc>
                <a:spcPct val="175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结论只说到证据允许的那一层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4191000" y="1609725"/>
            <a:ext cx="3429000" cy="4676775"/>
          </a:xfrm>
          <a:prstGeom prst="roundRect">
            <a:avLst>
              <a:gd name="adj" fmla="val 3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32" name=""/>
          <p:cNvSpPr/>
          <p:nvPr/>
        </p:nvSpPr>
        <p:spPr>
          <a:xfrm rot="0" flipH="0" flipV="0">
            <a:off x="4381500" y="180022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4572000" y="1914525"/>
            <a:ext cx="1619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4381500" y="2447925"/>
            <a:ext cx="3048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管得住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4381500" y="2819400"/>
            <a:ext cx="3048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资料放在谁手里、两组差在哪、数的是什么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4381500" y="3190875"/>
            <a:ext cx="3048000" cy="90487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作者／角色／评阅材料分开</a:t>
            </a:r>
            <a:endParaRPr/>
          </a:p>
          <a:p>
            <a:pPr>
              <a:lnSpc>
                <a:spcPct val="175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两组只差一个预登记因素</a:t>
            </a:r>
            <a:endParaRPr/>
          </a:p>
          <a:p>
            <a:pPr>
              <a:lnSpc>
                <a:spcPct val="175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时间点、任务单位与独立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分别计数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7772400" y="1609725"/>
            <a:ext cx="3429000" cy="4676775"/>
          </a:xfrm>
          <a:prstGeom prst="roundRect">
            <a:avLst>
              <a:gd name="adj" fmla="val 3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38" name=""/>
          <p:cNvSpPr/>
          <p:nvPr/>
        </p:nvSpPr>
        <p:spPr>
          <a:xfrm rot="0" flipH="0" flipV="0">
            <a:off x="7962900" y="180022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8153400" y="1914525"/>
            <a:ext cx="1619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7962900" y="2447925"/>
            <a:ext cx="3048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证得出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7962900" y="2819400"/>
            <a:ext cx="3048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每个结论都要找得到对应的证据入口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7962900" y="3190875"/>
            <a:ext cx="3048000" cy="90487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六个主要判断各配证据入口</a:t>
            </a:r>
            <a:endParaRPr/>
          </a:p>
          <a:p>
            <a:pPr>
              <a:lnSpc>
                <a:spcPct val="175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判分先写清四种结果</a:t>
            </a:r>
            <a:endParaRPr/>
          </a:p>
          <a:p>
            <a:pPr>
              <a:lnSpc>
                <a:spcPct val="175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教案落实为独立的作者材料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76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阅读准备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20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368" name="" descr="&lt;Slide notes={`研究里最难的一步不是跑实验，而是把想问的东西写成一个能让结果说&quot;不&quot;的句子。&#10;&#10;&quot;让大厅更高效&quot;这种说法听起来清楚，实际上跑完任何结果都能解释过去，因为它没有说清比较什么、看哪个指标、什么情况下算失败。&#10;&#10;所以我们先做一件事：把太宽的说法改写成一句可以被结果推翻的话，再补上可能的反例。补反例这一步很重要，它其实是在问自己——如果反例真的出现了，我愿不愿意承认原来的想法站不住。&#10;&#10;这一步做完，后面所有条件怎么设、指标怎么定，才有方向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①　4.0.1 先把应用问题缩小&lt;/Text&gt;&#10;&#10;        &lt;Text style={{ fontSize: 56, fontWeight: 'bold', color: '#20344B', lineHeight: 1.15 }}&gt;先把问题缩小到能被结果推翻&lt;/Text&gt;&#10;&#10;        &lt;Box style={{ width: 72, height: 4, background: '#276FBF' }} /&gt;&#10;&#10;        &lt;Text style={{ fontSize: 18, color: '#546779', lineHeight: 1.7, width: 900 }}&gt;能被结果说「不」的句子，才算研究问题；补上反例，才算准备好承认自己可能错。&lt;/Text&gt;&#10;&#10;        &lt;Box style={{ flexDirection: 'row', alignItems: 'center', marginTop: 10 }}&gt;&#10;            &lt;Box style={{ width: 300, height: 64, background: '#F4F7FA', borderRadius: 8, justifyContent: 'center', alignItems: 'center' }}&gt;&#10;                &lt;Text style={{ fontSize: 16, color: '#546779' }}&gt;让大厅更高效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DF4FC', borderRadius: 8, justifyContent: 'center', alignItems: 'center' }}&gt;&#10;                &lt;Text style={{ fontSize: 16, color: '#276FBF' }}&gt;先澄清需求是否提高闭环率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00, height: 64, background: '#ECF7F2', borderRadius: 8, justifyContent: 'center', alignItems: 'center' }}&gt;&#10;                &lt;Text style={{ fontSize: 16, color: '#26816B' }}&gt;两组独立 Run 对照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0 阅读准备&lt;/Text&gt;&#10;        &lt;Text style={{ fontSize: 14, color: '#546779' }}&gt;03 / 20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①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4.0.1 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先把应用问题缩小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先把问题缩小到能被结果推翻</a:t>
            </a:r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能被结果说「不」的句子，才算研究问题；补上反例，才算准备好承认自己可能错。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6096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1581150" y="426720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让大厅更高效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36385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38862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4400550" y="4267200"/>
            <a:ext cx="1828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先澄清需求是否提高闭环率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69151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71628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7943850" y="4267200"/>
            <a:ext cx="1295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6816B"/>
                </a:solidFill>
                <a:latin typeface="Microsoft YaHei"/>
                <a:ea typeface="Microsoft YaHei"/>
              </a:rPr>
              <a:t>两组独立</a:t>
            </a:r>
            <a:r>
              <a:rPr lang="en-US" sz="1200">
                <a:solidFill>
                  <a:srgbClr val="26816B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200">
                <a:solidFill>
                  <a:srgbClr val="26816B"/>
                </a:solidFill>
                <a:latin typeface="Microsoft YaHei"/>
                <a:ea typeface="Microsoft YaHei"/>
              </a:rPr>
              <a:t>对照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76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阅读准备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20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384" name="" descr="&lt;Slide notes={`我们来看三种常见的说法怎么改写。&#10;&#10;第一种，&quot;让大厅更高效&quot;，改成&quot;四项固定任务中，先澄清目的是否提高咨询闭环率&quot;。它允许的反例是：错误确实变少了，但等待时间和调用次数上去了，效率未必真的提高。&#10;&#10;第二种，&quot;让交接更可靠&quot;，改成&quot;五项整理是否提高关键事实到达率&quot;。反例是格式完整了，关键内容仍然遗漏。&#10;&#10;第三种，&quot;让导览更好&quot;，改成&quot;只移动牌子，是否改善预算内的主题使用&quot;。反例是两个位置本来都已经可见，那这个改动就没有意义。&#10;&#10;三句话有一个共同点：都写明了比较对象、指标和可能出现的反面结果。有反面结果，才谈得上验证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0.1　先把应用问题缩小&lt;/Text&gt;&#10;            &lt;Text style={{ fontSize: 34, fontWeight: 'bold', color: '#20344B' }}&gt;太宽的问题，改写成能被推翻的句子&lt;/Text&gt;&#10;        &lt;/Box&gt;&#10;    &lt;/Box&gt;&#10;&#10;    &lt;Box style={{ height: 540, flexDirection: 'column', justifyContent: 'center', gap: 12 }}&gt;&#10;&#10;        &lt;Box style={{ flexDirection: 'row', padding: '0 18px', gap: 16 }}&gt;&#10;            &lt;Box style={{ width: 200 }}&gt;&lt;Text style={{ fontSize: 14, color: '#546779' }}&gt;太宽的问题&lt;/Text&gt;&lt;/Box&gt;&#10;            &lt;Box style={{ flex: 1 }}&gt;&lt;Text style={{ fontSize: 14, color: '#546779' }}&gt;可被结果推翻的问题&lt;/Text&gt;&lt;/Box&gt;&#10;            &lt;Box style={{ width: 300 }}&gt;&lt;Text style={{ fontSize: 14, color: '#546779' }}&gt;可能的反例&lt;/Text&gt;&lt;/Box&gt;&#10;        &lt;/Box&gt;&#10;&#10;        &lt;Box style={{ flexDirection: 'row', height: 96, background: '#F4F7FA', borderRadius: 10, padding: '0 18px', alignItems: 'center', gap: 16 }}&gt;&#10;            &lt;Box style={{ width: 200 }}&gt;&lt;Text style={{ fontSize: 18, fontWeight: 'bold', color: '#20344B' }}&gt;让大厅更高效&lt;/Text&gt;&lt;/Box&gt;&#10;            &lt;Box style={{ flex: 1 }}&gt;&lt;Text style={{ fontSize: 16, color: '#20344B', lineHeight: 1.6 }}&gt;四项固定任务中，先澄清目的是否提高咨询闭环率？&lt;/Text&gt;&lt;/Box&gt;&#10;            &lt;Box style={{ width: 300 }}&gt;&lt;Text style={{ fontSize: 15, color: '#CB6B28', lineHeight: 1.6 }}&gt;错误少了，但增加等待和调用&lt;/Text&gt;&lt;/Box&gt;&#10;        &lt;/Box&gt;&#10;&#10;        &lt;Box style={{ flexDirection: 'row', height: 96, background: '#EDF4FC', borderRadius: 10, padding: '0 18px', alignItems: 'center', gap: 16 }}&gt;&#10;            &lt;Box style={{ width: 200 }}&gt;&lt;Text style={{ fontSize: 18, fontWeight: 'bold', color: '#276FBF' }}&gt;让交接更可靠&lt;/Text&gt;&lt;/Box&gt;&#10;            &lt;Box style={{ flex: 1 }}&gt;&lt;Text style={{ fontSize: 16, color: '#20344B', lineHeight: 1.6 }}&gt;五项整理是否提高关键事实到达率？&lt;/Text&gt;&lt;/Box&gt;&#10;            &lt;Box style={{ width: 300 }}&gt;&lt;Text style={{ fontSize: 15, color: '#CB6B28', lineHeight: 1.6 }}&gt;格式完整，内容仍遗漏&lt;/Text&gt;&lt;/Box&gt;&#10;        &lt;/Box&gt;&#10;&#10;        &lt;Box style={{ flexDirection: 'row', height: 96, background: '#ECF7F2', borderRadius: 10, padding: '0 18px', alignItems: 'center', gap: 16 }}&gt;&#10;            &lt;Box style={{ width: 200 }}&gt;&lt;Text style={{ fontSize: 18, fontWeight: 'bold', color: '#26816B' }}&gt;让导览更好&lt;/Text&gt;&lt;/Box&gt;&#10;            &lt;Box style={{ flex: 1 }}&gt;&lt;Text style={{ fontSize: 16, color: '#20344B', lineHeight: 1.6 }}&gt;只移动牌子，是否改善预算内的主题使用？&lt;/Text&gt;&lt;/Box&gt;&#10;            &lt;Box style={{ width: 300 }}&gt;&lt;Text style={{ fontSize: 15, color: '#CB6B28', lineHeight: 1.6 }}&gt;两个位置都已经可见&lt;/Text&gt;&lt;/Box&gt;&#10;        &lt;/Box&gt;&#10;&#10;        &lt;Box style={{ flexDirection: 'row', background: '#FFF4E6', borderRadius: 10, padding: '18px 22px', alignItems: 'center', gap: 16 }}&gt;&#10;            &lt;Box style={{ width: 4, height: 64, background: '#CB6B28' }} /&gt;&#10;            &lt;Box style={{ flex: 1, flexDirection: 'column', gap: 6 }}&gt;&#10;                &lt;Text style={{ fontSize: 19, fontWeight: 'bold', color: '#CB6B28' }}&gt;好问题的标志，是它允许被否掉&lt;/Text&gt;&#10;                &lt;Text style={{ fontSize: 16, color: '#546779', lineHeight: 1.65 }}&gt;结果一出，原来的说法就可能站不住；反例不是补充说明，而是问题的一部分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0 阅读准备&lt;/Text&gt;&#10;        &lt;Text style={{ fontSize: 14, color: '#546779' }}&gt;04 / 20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5181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4.0.1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先把应用问题缩小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5181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太宽的问题，改写成能被推翻的句子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781050" y="1562100"/>
            <a:ext cx="190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太宽的问题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2838450" y="1562100"/>
            <a:ext cx="5562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可被结果推翻的问题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8553450" y="1562100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可能的反例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609600" y="1838325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781050" y="2190750"/>
            <a:ext cx="1905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让大厅更高效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2838450" y="2152650"/>
            <a:ext cx="55626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四项固定任务中，先澄清目的是否提高咨询闭环率？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8553450" y="2162175"/>
            <a:ext cx="28575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错误少了，但增加等待和调用</a:t>
            </a:r>
            <a:endParaRPr/>
          </a:p>
        </p:txBody>
      </p:sp>
      <p:sp>
        <p:nvSpPr>
          <p:cNvPr id="396" name=""/>
          <p:cNvSpPr/>
          <p:nvPr/>
        </p:nvSpPr>
        <p:spPr>
          <a:xfrm rot="0" flipH="0" flipV="0">
            <a:off x="609600" y="2867025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781050" y="3219450"/>
            <a:ext cx="1905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让交接更可靠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2838450" y="3181350"/>
            <a:ext cx="55626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五项整理是否提高关键事实到达率？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8553450" y="3190875"/>
            <a:ext cx="28575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格式完整，内容仍遗漏</a:t>
            </a:r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609600" y="3895725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781050" y="4248150"/>
            <a:ext cx="1905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让导览更好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2838450" y="4210050"/>
            <a:ext cx="55626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只移动牌子，是否改善预算内的主题使用？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8553450" y="4219575"/>
            <a:ext cx="28575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两个位置都已经可见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609600" y="4924425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05" name=""/>
          <p:cNvSpPr/>
          <p:nvPr/>
        </p:nvSpPr>
        <p:spPr>
          <a:xfrm rot="0" flipH="0" flipV="0">
            <a:off x="819150" y="5095875"/>
            <a:ext cx="38100" cy="6096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1009650" y="5114925"/>
            <a:ext cx="10363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好问题的标志，是它允许被否掉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1009650" y="5391150"/>
            <a:ext cx="10363200" cy="3048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结果一出，原来的说法就可能站不住；反例不是补充说明，而是问题的一部分。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76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阅读准备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20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410" name="" descr="&lt;Slide notes={`问题缩小之后，还要管住结论的长度。我把它分成三个层次。&#10;&#10;层次一是系统机制，看权限、请求、路径、提交和恢复身份这些到底成不成立。机制正常并不等于业务成功，两者不能互换。&#10;&#10;层次二是本次模型行为，看固定条件、独立 Run、判分和成本。这里能得到的是这几个角色在这次设置下的表现，它不等于三个现实人口的样本。&#10;&#10;层次三是现实应用效果，需要现实资料校准、外部验证，还要说明适用条件。仿真里全员赞同，不等于现实世界的支持率。&#10;&#10;写作时最常犯的错，就是拿第一层的证据去说第三层的话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0.1　结论的层次&lt;/Text&gt;&#10;            &lt;Text style={{ fontSize: 34, fontWeight: 'bold', color: '#20344B' }}&gt;结论只能停在证据能支持的位置&lt;/Text&gt;&#10;        &lt;/Box&gt;&#10;    &lt;/Box&gt;&#10;&#10;    &lt;Box style={{ height: 540, flexDirection: 'row', alignItems: 'center', gap: 36 }}&gt;&#10;&#10;        &lt;Box style={{ width: 430, flexDirection: 'column', gap: 14 }}&gt;&#10;            &lt;Text style={{ fontSize: 20, fontWeight: 'bold', color: '#20344B', lineHeight: 1.4 }}&gt;同一批数据，能说的话有长有短&lt;/Text&gt;&#10;            &lt;Text style={{ fontSize: 16, color: '#546779', lineHeight: 1.75 }}&gt;证据到哪一层，结论就只能写到哪一层；写得比证据长，就是越界。&lt;/Text&gt;&#10;            &lt;Box style={{ background: '#FFF4E6', borderRadius: 10, padding: '14px 18px', flexDirection: 'column', gap: 8 }}&gt;&#10;                &lt;Text style={{ fontSize: 16, fontWeight: 'bold', color: '#CB6B28' }}&gt;机制正常 ≠ 业务成功&lt;/Text&gt;&#10;                &lt;Text style={{ fontSize: 16, fontWeight: 'bold', color: '#CB6B28' }}&gt;三个角色 ≠ 三个现实人口样本&lt;/Text&gt;&#10;            &lt;/Box&gt;&#10;        &lt;/Box&gt;&#10;&#10;        &lt;Box style={{ width: 686, flexDirection: 'column', gap: 14 }}&gt;&#10;&#10;            &lt;Box style={{ background: '#F4F7FA', borderRadius: 10, padding: '16px 20px', flexDirection: 'column', gap: 6 }}&gt;&#10;                &lt;Text style={{ fontSize: 18, fontWeight: 'bold', color: '#20344B' }}&gt;层次一　系统机制&lt;/Text&gt;&#10;                &lt;Text style={{ fontSize: 15, color: '#546779', lineHeight: 1.6 }}&gt;所需证据：权限、请求、路径、提交与恢复身份&lt;/Text&gt;&#10;                &lt;Text style={{ fontSize: 15, color: '#CB6B28', lineHeight: 1.6 }}&gt;不能跳到：机制正常 ≠ 业务成功&lt;/Text&gt;&#10;            &lt;/Box&gt;&#10;&#10;            &lt;Box style={{ background: '#EDF4FC', borderRadius: 10, padding: '16px 20px', flexDirection: 'column', gap: 6 }}&gt;&#10;                &lt;Text style={{ fontSize: 18, fontWeight: 'bold', color: '#276FBF' }}&gt;层次二　本次模型行为&lt;/Text&gt;&#10;                &lt;Text style={{ fontSize: 15, color: '#546779', lineHeight: 1.6 }}&gt;所需证据：固定条件、独立 Run、判分和成本&lt;/Text&gt;&#10;                &lt;Text style={{ fontSize: 15, color: '#CB6B28', lineHeight: 1.6 }}&gt;不能跳到：三个角色 ≠ 三个现实人口样本&lt;/Text&gt;&#10;            &lt;/Box&gt;&#10;&#10;            &lt;Box style={{ background: '#ECF7F2', borderRadius: 10, padding: '16px 20px', flexDirection: 'column', gap: 6 }}&gt;&#10;                &lt;Text style={{ fontSize: 18, fontWeight: 'bold', color: '#26816B' }}&gt;层次三　现实应用效果&lt;/Text&gt;&#10;                &lt;Text style={{ fontSize: 15, color: '#546779', lineHeight: 1.6 }}&gt;所需证据：现实资料校准、外部验证、适用条件&lt;/Text&gt;&#10;                &lt;Text style={{ fontSize: 15, color: '#CB6B28', lineHeight: 1.6 }}&gt;不能跳到：仿真全员赞同 ≠ 现实支持率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0 阅读准备&lt;/Text&gt;&#10;        &lt;Text style={{ fontSize: 14, color: '#546779' }}&gt;05 / 20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4.0.1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结论的层次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结论只能停在证据能支持的位置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609600" y="2733675"/>
            <a:ext cx="409575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同一批数据，能说的话有长有短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609600" y="3190875"/>
            <a:ext cx="409575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证据到哪一层，结论就只能写到哪一层；写得比证据长，就是越界。</a:t>
            </a:r>
            <a:endParaRPr/>
          </a:p>
        </p:txBody>
      </p:sp>
      <p:sp>
        <p:nvSpPr>
          <p:cNvPr id="417" name=""/>
          <p:cNvSpPr/>
          <p:nvPr/>
        </p:nvSpPr>
        <p:spPr>
          <a:xfrm rot="0" flipH="0" flipV="0">
            <a:off x="609600" y="3971925"/>
            <a:ext cx="4095750" cy="723900"/>
          </a:xfrm>
          <a:prstGeom prst="roundRect">
            <a:avLst>
              <a:gd name="adj" fmla="val 1315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781050" y="4105275"/>
            <a:ext cx="3752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机制正常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业务成功</a:t>
            </a:r>
            <a:endParaRPr/>
          </a:p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781050" y="4371975"/>
            <a:ext cx="3752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三个角色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三个现实人口样本</a:t>
            </a:r>
            <a:endParaRPr/>
          </a:p>
        </p:txBody>
      </p:sp>
      <p:sp>
        <p:nvSpPr>
          <p:cNvPr id="420" name=""/>
          <p:cNvSpPr/>
          <p:nvPr/>
        </p:nvSpPr>
        <p:spPr>
          <a:xfrm rot="0" flipH="0" flipV="0">
            <a:off x="5048250" y="1809750"/>
            <a:ext cx="6534150" cy="1181100"/>
          </a:xfrm>
          <a:prstGeom prst="roundRect">
            <a:avLst>
              <a:gd name="adj" fmla="val 806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5238750" y="1962150"/>
            <a:ext cx="6153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层次一　系统机制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5238750" y="2228850"/>
            <a:ext cx="61531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所需证据：权限、请求、路径、提交与恢复身份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5238750" y="2562225"/>
            <a:ext cx="61531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不能跳到：机制正常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业务成功</a:t>
            </a:r>
            <a:endParaRPr/>
          </a:p>
        </p:txBody>
      </p:sp>
      <p:sp>
        <p:nvSpPr>
          <p:cNvPr id="424" name=""/>
          <p:cNvSpPr/>
          <p:nvPr/>
        </p:nvSpPr>
        <p:spPr>
          <a:xfrm rot="0" flipH="0" flipV="0">
            <a:off x="5048250" y="3124200"/>
            <a:ext cx="6534150" cy="1181100"/>
          </a:xfrm>
          <a:prstGeom prst="roundRect">
            <a:avLst>
              <a:gd name="adj" fmla="val 806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5238750" y="3276600"/>
            <a:ext cx="6153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层次二　本次模型行为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5238750" y="3543300"/>
            <a:ext cx="61531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所需证据：固定条件、独立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、判分和成本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5238750" y="3876675"/>
            <a:ext cx="61531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不能跳到：三个角色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三个现实人口样本</a:t>
            </a:r>
            <a:endParaRPr/>
          </a:p>
        </p:txBody>
      </p:sp>
      <p:sp>
        <p:nvSpPr>
          <p:cNvPr id="428" name=""/>
          <p:cNvSpPr/>
          <p:nvPr/>
        </p:nvSpPr>
        <p:spPr>
          <a:xfrm rot="0" flipH="0" flipV="0">
            <a:off x="5048250" y="4438650"/>
            <a:ext cx="6534150" cy="1181100"/>
          </a:xfrm>
          <a:prstGeom prst="roundRect">
            <a:avLst>
              <a:gd name="adj" fmla="val 806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5238750" y="4591050"/>
            <a:ext cx="6153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层次三　现实应用效果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5238750" y="4857750"/>
            <a:ext cx="61531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所需证据：现实资料校准、外部验证、适用条件</a:t>
            </a:r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5238750" y="5191125"/>
            <a:ext cx="61531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不能跳到：仿真全员赞同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现实支持率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76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阅读准备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20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434" name="" descr="&lt;Slide notes={`把这三层想成一段台阶，越往上，能站的地方越窄，要的证据也越多。&#10;&#10;站在系统机制这一级，我能说的是流程跑通了、权限和路径没有矛盾、提交和恢复身份对得上。&#10;&#10;往上走一级到本次模型行为，我能说的是：在一批冻结的条件下、用几次独立 Run，观察到什么样的分布、哪些失败方式、花了多少成本。&#10;&#10;再往上那一级，才涉及现实应用效果，它需要现实资料校准和外部验证。&#10;&#10;台阶之间有一条线。从&quot;本次模型行为&quot;直接跳到&quot;现实效果&quot;，就是越界。跨过去之前，先问自己有没有第三层要求的那些证据；没有，就把结论老老实实停在下一级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0.1　证据强度的三级台阶（示意）&lt;/Text&gt;&#10;            &lt;Text style={{ fontSize: 34, fontWeight: 'bold', color: '#20344B' }}&gt;站得越高，要的证据越多&lt;/Text&gt;&#10;        &lt;/Box&gt;&#10;    &lt;/Box&gt;&#10;&#10;    &lt;Box style={{ height: 540, flexDirection: 'row', alignItems: 'center', gap: 36 }}&gt;&#10;&#10;        &lt;Box style={{ width: 660, flexDirection: 'column', alignItems: 'flex-start', gap: 10 }}&gt;&#10;&#10;            &lt;Text style={{ fontSize: 14, color: '#546779' }}&gt;越往上，能站的地方越窄&lt;/Text&gt;&#10;&#10;            &lt;Box style={{ width: 460, height: 84, background: '#FFF4E6', borderRadius: 8, padding: '12px 18px', flexDirection: 'column', gap: 4, justifyContent: 'center' }}&gt;&#10;                &lt;Text style={{ fontSize: 18, fontWeight: 'bold', color: '#CB6B28' }}&gt;现实应用效果&lt;/Text&gt;&#10;                &lt;Text style={{ fontSize: 14, color: '#546779' }}&gt;需要现实资料校准与外部验证&lt;/Text&gt;&#10;            &lt;/Box&gt;&#10;&#10;            &lt;Box style={{ width: 460, height: 44, flexDirection: 'row', alignItems: 'center', gap: 10 }}&gt;&#10;                &lt;Box style={{ width: 300, height: 4, background: '#CB6B28' }} /&gt;&#10;                &lt;Text style={{ fontSize: 14, color: '#CB6B28' }}&gt;越界处：仿真结果 ≠ 现实效果&lt;/Text&gt;&#10;            &lt;/Box&gt;&#10;&#10;            &lt;Box style={{ width: 560, height: 84, background: '#ECF7F2', borderRadius: 8, padding: '12px 18px', flexDirection: 'column', gap: 4, justifyContent: 'center' }}&gt;&#10;                &lt;Text style={{ fontSize: 18, fontWeight: 'bold', color: '#26816B' }}&gt;本次模型行为&lt;/Text&gt;&#10;                &lt;Text style={{ fontSize: 14, color: '#546779' }}&gt;冻结条件下的分布、失败与成本&lt;/Text&gt;&#10;            &lt;/Box&gt;&#10;&#10;            &lt;Box style={{ width: 660, height: 84, background: '#EDF4FC', borderRadius: 8, padding: '12px 18px', flexDirection: 'column', gap: 4, justifyContent: 'center' }}&gt;&#10;                &lt;Text style={{ fontSize: 18, fontWeight: 'bold', color: '#276FBF' }}&gt;系统机制&lt;/Text&gt;&#10;                &lt;Text style={{ fontSize: 14, color: '#546779' }}&gt;权限、请求、路径、提交与恢复身份是否成立&lt;/Text&gt;&#10;            &lt;/Box&gt;&#10;&#10;        &lt;/Box&gt;&#10;&#10;        &lt;Box style={{ width: 456, flexDirection: 'column', gap: 14 }}&gt;&#10;            &lt;Text style={{ fontSize: 20, fontWeight: 'bold', color: '#20344B', lineHeight: 1.4 }}&gt;每上一级，都要换一批证据&lt;/Text&gt;&#10;            &lt;Text style={{ fontSize: 15, color: '#546779', lineHeight: 1.7 }}&gt;系统机制这一级证明流程跑得通；本次模型行为这一级证明在这套条件下观察到了什么；现实应用效果这一级才涉及真实人群。&lt;/Text&gt;&#10;            &lt;Box style={{ background: '#F4F7FA', borderRadius: 10, padding: '14px 18px', flexDirection: 'column', gap: 6 }}&gt;&#10;                &lt;Text style={{ fontSize: 15, color: '#546779', lineHeight: 1.6 }}&gt;机制级证据不能替代业务结论，行为级证据不能替代现实结论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0 阅读准备&lt;/Text&gt;&#10;        &lt;Text style={{ fontSize: 14, color: '#546779' }}&gt;06 / 20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4.0.1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证据强度的三级台阶（示意）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站得越高，要的证据越多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609600" y="2038350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越往上，能站的地方越窄</a:t>
            </a:r>
            <a:endParaRPr/>
          </a:p>
        </p:txBody>
      </p:sp>
      <p:sp>
        <p:nvSpPr>
          <p:cNvPr id="440" name=""/>
          <p:cNvSpPr/>
          <p:nvPr/>
        </p:nvSpPr>
        <p:spPr>
          <a:xfrm rot="0" flipH="0" flipV="0">
            <a:off x="609600" y="2295525"/>
            <a:ext cx="4381500" cy="800100"/>
          </a:xfrm>
          <a:prstGeom prst="roundRect">
            <a:avLst>
              <a:gd name="adj" fmla="val 952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781050" y="2495550"/>
            <a:ext cx="4038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现实应用效果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781050" y="2743200"/>
            <a:ext cx="4038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需要现实资料校准与外部验证</a:t>
            </a:r>
            <a:endParaRPr/>
          </a:p>
        </p:txBody>
      </p:sp>
      <p:sp>
        <p:nvSpPr>
          <p:cNvPr id="443" name=""/>
          <p:cNvSpPr/>
          <p:nvPr/>
        </p:nvSpPr>
        <p:spPr>
          <a:xfrm rot="0" flipH="0" flipV="0">
            <a:off x="609600" y="3381375"/>
            <a:ext cx="2857500" cy="38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3343275" y="3324225"/>
            <a:ext cx="1647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越界处：仿真结果</a:t>
            </a: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现实效果</a:t>
            </a:r>
            <a:endParaRPr/>
          </a:p>
        </p:txBody>
      </p:sp>
      <p:sp>
        <p:nvSpPr>
          <p:cNvPr id="445" name=""/>
          <p:cNvSpPr/>
          <p:nvPr/>
        </p:nvSpPr>
        <p:spPr>
          <a:xfrm rot="0" flipH="0" flipV="0">
            <a:off x="609600" y="3705225"/>
            <a:ext cx="5334000" cy="800100"/>
          </a:xfrm>
          <a:prstGeom prst="roundRect">
            <a:avLst>
              <a:gd name="adj" fmla="val 952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781050" y="3905250"/>
            <a:ext cx="4991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本次模型行为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781050" y="4152900"/>
            <a:ext cx="499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冻结条件下的分布、失败与成本</a:t>
            </a:r>
            <a:endParaRPr/>
          </a:p>
        </p:txBody>
      </p:sp>
      <p:sp>
        <p:nvSpPr>
          <p:cNvPr id="448" name=""/>
          <p:cNvSpPr/>
          <p:nvPr/>
        </p:nvSpPr>
        <p:spPr>
          <a:xfrm rot="0" flipH="0" flipV="0">
            <a:off x="609600" y="4600575"/>
            <a:ext cx="6286500" cy="800100"/>
          </a:xfrm>
          <a:prstGeom prst="roundRect">
            <a:avLst>
              <a:gd name="adj" fmla="val 952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781050" y="4800600"/>
            <a:ext cx="5943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系统机制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781050" y="5048250"/>
            <a:ext cx="594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权限、请求、路径、提交与恢复身份是否成立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7239000" y="2857500"/>
            <a:ext cx="434340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每上一级，都要换一批证据</a:t>
            </a:r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7239000" y="3314700"/>
            <a:ext cx="4343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系统机制这一级证明流程跑得通；本次模型行为这一级证明在这套条件下观察到了什么；现实应用效果这一级才涉及真实人群。</a:t>
            </a:r>
            <a:endParaRPr/>
          </a:p>
        </p:txBody>
      </p:sp>
      <p:sp>
        <p:nvSpPr>
          <p:cNvPr id="453" name=""/>
          <p:cNvSpPr/>
          <p:nvPr/>
        </p:nvSpPr>
        <p:spPr>
          <a:xfrm rot="0" flipH="0" flipV="0">
            <a:off x="7239000" y="4038600"/>
            <a:ext cx="4343400" cy="542925"/>
          </a:xfrm>
          <a:prstGeom prst="roundRect">
            <a:avLst>
              <a:gd name="adj" fmla="val 1754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7410450" y="4171950"/>
            <a:ext cx="40005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机制级证据不能替代业务结论，行为级证据不能替代现实结论。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76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阅读准备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20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457" name="" descr="&lt;Slide notes={`接下来要管三件容易被糊在一起的东西：资料放在谁手里，两组的差异到底差在哪，以及计数的时候我数的究竟是什么。&#10;&#10;资料分不清，角色就可能在没有任何真实交流的情况下说出正确答案，那整个实验就什么都没证明。差异没有留档，两组之间就不止差一处，结果也就归因不到任何东西上。计数单位定错，算出来的比率再精确也没有意义。&#10;&#10;这三件事都有一个共同点：它们都在跑之前完成。跑起来之后改不动，一旦改了，就必须重新登记正式比较的范围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②　4.0.2 把资料、差异和计数单位管住&lt;/Text&gt;&#10;&#10;        &lt;Text style={{ fontSize: 56, fontWeight: 'bold', color: '#20344B', lineHeight: 1.15 }}&gt;把资料、差异和计数单位管住&lt;/Text&gt;&#10;&#10;        &lt;Box style={{ width: 72, height: 4, background: '#276FBF' }} /&gt;&#10;&#10;        &lt;Text style={{ fontSize: 18, color: '#546779', lineHeight: 1.7, width: 900 }}&gt;资料放谁手里、两组差在哪、数的是什么——都在跑之前定好，跑起来就改不动了。&lt;/Text&gt;&#10;&#10;        &lt;Box style={{ flexDirection: 'column', gap: 14, marginTop: 10 }}&gt;&#10;&#10;            &lt;Box style={{ width: 420, height: 56, background: '#F4F7FA', borderRadius: 8, justifyContent: 'center', alignItems: 'center' }}&gt;&#10;                &lt;Text style={{ fontSize: 17, color: '#20344B' }}&gt;开始跑之前，把三件事定下来&lt;/Text&gt;&#10;            &lt;/Box&gt;&#10;&#10;            &lt;Box style={{ width: 420, height: 30, justifyContent: 'center', alignItems: 'center' }}&gt;&#10;                &lt;Text style={{ fontSize: 20, color: '#276FBF' }}&gt;↓&lt;/Text&gt;&#10;            &lt;/Box&gt;&#10;&#10;            &lt;Box style={{ flexDirection: 'row', gap: 16 }}&gt;&#10;                &lt;Box style={{ width: 360, height: 64, background: '#EDF4FC', borderRadius: 8, justifyContent: 'center', alignItems: 'center' }}&gt;&#10;                    &lt;Text style={{ fontSize: 17, color: '#276FBF' }}&gt;资料放谁手里&lt;/Text&gt;&#10;                &lt;/Box&gt;&#10;                &lt;Box style={{ width: 360, height: 64, background: '#ECF7F2', borderRadius: 8, justifyContent: 'center', alignItems: 'center' }}&gt;&#10;                    &lt;Text style={{ fontSize: 17, color: '#26816B' }}&gt;两组差在哪&lt;/Text&gt;&#10;                &lt;/Box&gt;&#10;                &lt;Box style={{ width: 360, height: 64, background: '#FFF4E6', borderRadius: 8, justifyContent: 'center', alignItems: 'center' }}&gt;&#10;                    &lt;Text style={{ fontSize: 17, color: '#CB6B28' }}&gt;数的是什么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0 阅读准备&lt;/Text&gt;&#10;        &lt;Text style={{ fontSize: 14, color: '#546779' }}&gt;07 / 20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609600" y="12763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②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4.0.2 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把资料、差异和计数单位管住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609600" y="16573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把资料、差异和计数单位管住</a:t>
            </a:r>
            <a:endParaRPr/>
          </a:p>
        </p:txBody>
      </p:sp>
      <p:sp>
        <p:nvSpPr>
          <p:cNvPr id="461" name=""/>
          <p:cNvSpPr/>
          <p:nvPr/>
        </p:nvSpPr>
        <p:spPr>
          <a:xfrm rot="0" flipH="0" flipV="0">
            <a:off x="609600" y="26098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609600" y="2857500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资料放谁手里、两组差在哪、数的是什么——都在跑之前定好，跑起来就改不动了。</a:t>
            </a:r>
            <a:endParaRPr/>
          </a:p>
        </p:txBody>
      </p:sp>
      <p:sp>
        <p:nvSpPr>
          <p:cNvPr id="463" name=""/>
          <p:cNvSpPr/>
          <p:nvPr/>
        </p:nvSpPr>
        <p:spPr>
          <a:xfrm rot="0" flipH="0" flipV="0">
            <a:off x="609600" y="3514725"/>
            <a:ext cx="4000500" cy="53340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1562100" y="3686175"/>
            <a:ext cx="2105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开始跑之前，把三件事定下来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2562225" y="421005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466" name=""/>
          <p:cNvSpPr/>
          <p:nvPr/>
        </p:nvSpPr>
        <p:spPr>
          <a:xfrm rot="0" flipH="0" flipV="0">
            <a:off x="609600" y="4600575"/>
            <a:ext cx="34290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1838325" y="4810125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资料放谁手里</a:t>
            </a:r>
            <a:endParaRPr/>
          </a:p>
        </p:txBody>
      </p:sp>
      <p:sp>
        <p:nvSpPr>
          <p:cNvPr id="468" name=""/>
          <p:cNvSpPr/>
          <p:nvPr/>
        </p:nvSpPr>
        <p:spPr>
          <a:xfrm rot="0" flipH="0" flipV="0">
            <a:off x="4191000" y="4600575"/>
            <a:ext cx="34290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5505450" y="4810125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6816B"/>
                </a:solidFill>
                <a:latin typeface="Microsoft YaHei"/>
                <a:ea typeface="Microsoft YaHei"/>
              </a:rPr>
              <a:t>两组差在哪</a:t>
            </a:r>
            <a:endParaRPr/>
          </a:p>
        </p:txBody>
      </p:sp>
      <p:sp>
        <p:nvSpPr>
          <p:cNvPr id="470" name=""/>
          <p:cNvSpPr/>
          <p:nvPr/>
        </p:nvSpPr>
        <p:spPr>
          <a:xfrm rot="0" flipH="0" flipV="0">
            <a:off x="7772400" y="4600575"/>
            <a:ext cx="3429000" cy="6096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9086850" y="4810125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CB6B28"/>
                </a:solidFill>
                <a:latin typeface="Microsoft YaHei"/>
                <a:ea typeface="Microsoft YaHei"/>
              </a:rPr>
              <a:t>数的是什么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76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阅读准备</a:t>
            </a:r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20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474" name="" descr="&lt;Slide notes={`材料是按使用者分的，一共三份。&#10;&#10;作者和评阅者手里是完整题目、答案和判据。它们只在评阅时使用：先看证据，再对判据，最后出结论。&#10;&#10;角色和对象各自持有自己的事实、目标与进度。它们只能通过真实的请求、消息和感知，取得允许交流的那部分内容。&#10;&#10;剩下的是共同材料，比如场所、公开规则和任务方法。共同材料也只是允许共同知道，还必须说明它是从哪次初始输入、哪次感知或哪条消息进入本轮上下文的。&#10;&#10;红线只有一条：完整答案不能进入共同的 Brain。还有一句要记住——姓名不同，并不等于信息已经隔离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0.2　同一案例的材料按使用者分三份（示意）&lt;/Text&gt;&#10;            &lt;Text style={{ fontSize: 34, fontWeight: 'bold', color: '#20344B' }}&gt;材料按使用者分成三份&lt;/Text&gt;&#10;        &lt;/Box&gt;&#10;    &lt;/Box&gt;&#10;&#10;    &lt;Box style={{ height: 540, flexDirection: 'column', justifyContent: 'center', gap: 12 }}&gt;&#10;&#10;        &lt;Box style={{ height: 50, background: '#F4F7FA', borderRadius: 10, justifyContent: 'center', alignItems: 'center' }}&gt;&#10;            &lt;Text style={{ fontSize: 17, fontWeight: 'bold', color: '#20344B' }}&gt;按使用者分配材料　·　示意，非系统截图&lt;/Text&gt;&#10;        &lt;/Box&gt;&#10;&#10;        &lt;Box style={{ height: 28, justifyContent: 'center', alignItems: 'center' }}&gt;&#10;            &lt;Text style={{ fontSize: 20, color: '#276FBF' }}&gt;↓&lt;/Text&gt;&#10;        &lt;/Box&gt;&#10;&#10;        &lt;Box style={{ flexDirection: 'row', gap: 16 }}&gt;&#10;&#10;            &lt;Box style={{ width: 373, flexDirection: 'column' }}&gt;&#10;                &lt;Box style={{ height: 50, background: '#FFF4E6', borderRadius: 8, justifyContent: 'center', alignItems: 'center' }}&gt;&#10;                    &lt;Text style={{ fontSize: 17, fontWeight: 'bold', color: '#CB6B28' }}&gt;作者／评阅侧&lt;/Text&gt;&#10;                &lt;/Box&gt;&#10;                &lt;Box style={{ height: 178, background: '#F4F7FA', borderRadius: 8, padding: '14px 16px', flexDirection: 'column', gap: 8 }}&gt;&#10;                    &lt;Text style={{ fontSize: 15, color: '#20344B', lineHeight: 1.5 }}&gt;完整题目、答案、判据&lt;/Text&gt;&#10;                    &lt;Text style={{ fontSize: 14, color: '#546779', lineHeight: 1.6 }}&gt;评阅时使用：证据 → 判据 → 结论&lt;/Text&gt;&#10;                    &lt;Text style={{ fontSize: 14, color: '#CB6B28', lineHeight: 1.6 }}&gt;不实时帮助人物成功&lt;/Text&gt;&#10;                &lt;/Box&gt;&#10;            &lt;/Box&gt;&#10;&#10;            &lt;Box style={{ width: 373, flexDirection: 'column' }}&gt;&#10;                &lt;Box style={{ height: 50, background: '#ECF7F2', borderRadius: 8, justifyContent: 'center', alignItems: 'center' }}&gt;&#10;                    &lt;Text style={{ fontSize: 17, fontWeight: 'bold', color: '#26816B' }}&gt;角色／对象各自持有&lt;/Text&gt;&#10;                &lt;/Box&gt;&#10;                &lt;Box style={{ height: 178, background: '#F4F7FA', borderRadius: 8, padding: '14px 16px', flexDirection: 'column', gap: 8 }}&gt;&#10;                    &lt;Text style={{ fontSize: 15, color: '#20344B', lineHeight: 1.5 }}&gt;自己的事实、目标、进度&lt;/Text&gt;&#10;                    &lt;Text style={{ fontSize: 14, color: '#546779', lineHeight: 1.6 }}&gt;通过真实请求、消息、感知取得允许交流的内容&lt;/Text&gt;&#10;                    &lt;Text style={{ fontSize: 14, color: '#546779', lineHeight: 1.6 }}&gt;共享 Skill 与总结模板不能泄漏私有内容&lt;/Text&gt;&#10;                &lt;/Box&gt;&#10;            &lt;/Box&gt;&#10;&#10;            &lt;Box style={{ width: 373, flexDirection: 'column' }}&gt;&#10;                &lt;Box style={{ height: 50, background: '#EDF4FC', borderRadius: 8, justifyContent: 'center', alignItems: 'center' }}&gt;&#10;                    &lt;Text style={{ fontSize: 17, fontWeight: 'bold', color: '#276FBF' }}&gt;共同材料&lt;/Text&gt;&#10;                &lt;/Box&gt;&#10;                &lt;Box style={{ height: 178, background: '#F4F7FA', borderRadius: 8, padding: '14px 16px', flexDirection: 'column', gap: 8 }}&gt;&#10;                    &lt;Text style={{ fontSize: 15, color: '#20344B', lineHeight: 1.5 }}&gt;场所、公开规则、任务方法&lt;/Text&gt;&#10;                    &lt;Text style={{ fontSize: 14, color: '#546779', lineHeight: 1.6 }}&gt;明确读取后才进入本轮上下文&lt;/Text&gt;&#10;                    &lt;Text style={{ fontSize: 14, color: '#CB6B28', lineHeight: 1.6 }}&gt;允许共同知道 ≠ 已经在上下文里&lt;/Text&gt;&#10;                &lt;/Box&gt;&#10;            &lt;/Box&gt;&#10;&#10;        &lt;/Box&gt;&#10;&#10;        &lt;Box style={{ background: '#FFF4E6', borderRadius: 10, padding: '14px 20px', flexDirection: 'row', alignItems: 'center', gap: 14 }}&gt;&#10;            &lt;Box style={{ width: 4, height: 40, background: '#CB6B28' }} /&gt;&#10;            &lt;Text style={{ fontSize: 16, color: '#20344B', lineHeight: 1.5 }}&gt;完整答案不得进入共同 Brain　·　姓名不同，不等于信息已隔离&lt;/Text&gt;&#10;        &lt;/Box&gt;&#10;&#10;        &lt;Text style={{ fontSize: 14, color: '#546779' }}&gt;图 4.0-2 语义重绘（示意）：三份材料的持有者与评阅用途。&lt;/Text&gt;&#10;&#10;    &lt;/Box&gt;&#10;&#10;    &lt;Box style={{ height: 40, flexDirection: 'row', justifyContent: 'space-between', alignItems: 'center' }}&gt;&#10;        &lt;Text style={{ fontSize: 14, color: '#546779' }}&gt;4.0 阅读准备&lt;/Text&gt;&#10;        &lt;Text style={{ fontSize: 14, color: '#546779' }}&gt;08 / 20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4.0.2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同一案例的材料按使用者分三份（示意）</a:t>
            </a:r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材料按使用者分成三份</a:t>
            </a:r>
            <a:endParaRPr/>
          </a:p>
        </p:txBody>
      </p:sp>
      <p:sp>
        <p:nvSpPr>
          <p:cNvPr id="479" name=""/>
          <p:cNvSpPr/>
          <p:nvPr/>
        </p:nvSpPr>
        <p:spPr>
          <a:xfrm rot="0" flipH="0" flipV="0">
            <a:off x="609600" y="1628775"/>
            <a:ext cx="10972800" cy="476250"/>
          </a:xfrm>
          <a:prstGeom prst="roundRect">
            <a:avLst>
              <a:gd name="adj" fmla="val 2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4600575" y="1771650"/>
            <a:ext cx="2990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按使用者分配材料　·　示意，非系统截图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6048375" y="2238375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482" name=""/>
          <p:cNvSpPr/>
          <p:nvPr/>
        </p:nvSpPr>
        <p:spPr>
          <a:xfrm rot="0" flipH="0" flipV="0">
            <a:off x="609600" y="2600325"/>
            <a:ext cx="3552825" cy="476250"/>
          </a:xfrm>
          <a:prstGeom prst="roundRect">
            <a:avLst>
              <a:gd name="adj" fmla="val 16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1905000" y="2743200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作者／评阅侧</a:t>
            </a:r>
            <a:endParaRPr/>
          </a:p>
        </p:txBody>
      </p:sp>
      <p:sp>
        <p:nvSpPr>
          <p:cNvPr id="484" name=""/>
          <p:cNvSpPr/>
          <p:nvPr/>
        </p:nvSpPr>
        <p:spPr>
          <a:xfrm rot="0" flipH="0" flipV="0">
            <a:off x="609600" y="3076575"/>
            <a:ext cx="3552825" cy="1695450"/>
          </a:xfrm>
          <a:prstGeom prst="roundRect">
            <a:avLst>
              <a:gd name="adj" fmla="val 449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762000" y="3209925"/>
            <a:ext cx="32480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完整题目、答案、判据</a:t>
            </a:r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762000" y="3543300"/>
            <a:ext cx="324802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评阅时使用：证据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判据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结论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762000" y="3876675"/>
            <a:ext cx="324802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不实时帮助人物成功</a:t>
            </a:r>
            <a:endParaRPr/>
          </a:p>
        </p:txBody>
      </p:sp>
      <p:sp>
        <p:nvSpPr>
          <p:cNvPr id="488" name=""/>
          <p:cNvSpPr/>
          <p:nvPr/>
        </p:nvSpPr>
        <p:spPr>
          <a:xfrm rot="0" flipH="0" flipV="0">
            <a:off x="4314825" y="2600325"/>
            <a:ext cx="3552825" cy="476250"/>
          </a:xfrm>
          <a:prstGeom prst="roundRect">
            <a:avLst>
              <a:gd name="adj" fmla="val 16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5362575" y="2743200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角色／对象各自持有</a:t>
            </a:r>
            <a:endParaRPr/>
          </a:p>
        </p:txBody>
      </p:sp>
      <p:sp>
        <p:nvSpPr>
          <p:cNvPr id="490" name=""/>
          <p:cNvSpPr/>
          <p:nvPr/>
        </p:nvSpPr>
        <p:spPr>
          <a:xfrm rot="0" flipH="0" flipV="0">
            <a:off x="4314825" y="3076575"/>
            <a:ext cx="3552825" cy="1695450"/>
          </a:xfrm>
          <a:prstGeom prst="roundRect">
            <a:avLst>
              <a:gd name="adj" fmla="val 449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4467225" y="3209925"/>
            <a:ext cx="32480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自己的事实、目标、进度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4467225" y="3543300"/>
            <a:ext cx="324802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通过真实请求、消息、感知取得允许交流的内容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4467225" y="3876675"/>
            <a:ext cx="324802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共享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与总结模板不能泄漏私有内容</a:t>
            </a:r>
            <a:endParaRPr/>
          </a:p>
        </p:txBody>
      </p:sp>
      <p:sp>
        <p:nvSpPr>
          <p:cNvPr id="494" name=""/>
          <p:cNvSpPr/>
          <p:nvPr/>
        </p:nvSpPr>
        <p:spPr>
          <a:xfrm rot="0" flipH="0" flipV="0">
            <a:off x="8020050" y="2600325"/>
            <a:ext cx="3552825" cy="476250"/>
          </a:xfrm>
          <a:prstGeom prst="roundRect">
            <a:avLst>
              <a:gd name="adj" fmla="val 16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9477375" y="27432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共同材料</a:t>
            </a:r>
            <a:endParaRPr/>
          </a:p>
        </p:txBody>
      </p:sp>
      <p:sp>
        <p:nvSpPr>
          <p:cNvPr id="496" name=""/>
          <p:cNvSpPr/>
          <p:nvPr/>
        </p:nvSpPr>
        <p:spPr>
          <a:xfrm rot="0" flipH="0" flipV="0">
            <a:off x="8020050" y="3076575"/>
            <a:ext cx="3552825" cy="1695450"/>
          </a:xfrm>
          <a:prstGeom prst="roundRect">
            <a:avLst>
              <a:gd name="adj" fmla="val 449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8172450" y="3209925"/>
            <a:ext cx="32480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场所、公开规则、任务方法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8172450" y="3543300"/>
            <a:ext cx="324802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明确读取后才进入本轮上下文</a:t>
            </a:r>
            <a:endParaRPr/>
          </a:p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8172450" y="3876675"/>
            <a:ext cx="324802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允许共同知道</a:t>
            </a: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已经在上下文里</a:t>
            </a:r>
            <a:endParaRPr/>
          </a:p>
        </p:txBody>
      </p:sp>
      <p:sp>
        <p:nvSpPr>
          <p:cNvPr id="500" name=""/>
          <p:cNvSpPr/>
          <p:nvPr/>
        </p:nvSpPr>
        <p:spPr>
          <a:xfrm rot="0" flipH="0" flipV="0">
            <a:off x="609600" y="4886325"/>
            <a:ext cx="10972800" cy="647700"/>
          </a:xfrm>
          <a:prstGeom prst="roundRect">
            <a:avLst>
              <a:gd name="adj" fmla="val 1470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01" name=""/>
          <p:cNvSpPr/>
          <p:nvPr/>
        </p:nvSpPr>
        <p:spPr>
          <a:xfrm rot="0" flipH="0" flipV="0">
            <a:off x="800100" y="5019675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971550" y="5076825"/>
            <a:ext cx="4267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完整答案不得进入共同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Brain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　·　姓名不同，不等于信息已隔离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609600" y="5648325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图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4.0-2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语义重绘（示意）：三份材料的持有者与评阅用途。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76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阅读准备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20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506" name="" descr="&lt;Slide notes={`用大厅那个咨询任务来举例会更清楚。&#10;&#10;人物自己为什么要来，属于私有材料，放在中间那一层。窗口的分工，按角色和对象的职责分配出去。&#10;&#10;正确的窗口和判据，留在评阅材料那一侧，不能出现在角色读得到的地方。右边写&quot;共同材料&quot;，只表示这些内容允许共同知道，仍然要说清它是从哪次初始输入、哪次感知或哪条消息拿到的。&#10;&#10;还有一点容易忽略：在普通记忆里写下一个地址，并不会自动建立导航需要的已知空间。这两件事在系统里是分开的，写进去不等于用得上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0.2　以大厅咨询任务 H1 为例&lt;/Text&gt;&#10;            &lt;Text style={{ fontSize: 34, fontWeight: 'bold', color: '#20344B' }}&gt;姓名不同，不等于信息已隔离&lt;/Text&gt;&#10;        &lt;/Box&gt;&#10;    &lt;/Box&gt;&#10;&#10;    &lt;Box style={{ height: 540, flexDirection: 'row', alignItems: 'center', gap: 36 }}&gt;&#10;&#10;        &lt;Box style={{ width: 400, flexDirection: 'column', gap: 14 }}&gt;&#10;            &lt;Text style={{ fontSize: 20, fontWeight: 'bold', color: '#20344B', lineHeight: 1.4 }}&gt;三份材料，三种取得方式&lt;/Text&gt;&#10;            &lt;Text style={{ fontSize: 16, color: '#546779', lineHeight: 1.75 }}&gt;能读到的内容，必须能说出它从哪条渠道来；说不出渠道的内容，就不能算角色&quot;知道&quot;。&lt;/Text&gt;&#10;            &lt;Box style={{ background: '#FFF4E6', borderRadius: 10, padding: '14px 18px' }}&gt;&#10;                &lt;Text style={{ fontSize: 15, color: '#CB6B28', lineHeight: 1.65 }}&gt;在普通记忆里写入地址，不会自动建立导航所需的已知空间；地址与可达路径是两件事。&lt;/Text&gt;&#10;            &lt;/Box&gt;&#10;        &lt;/Box&gt;&#10;&#10;        &lt;Box style={{ width: 716, flexDirection: 'column', gap: 14 }}&gt;&#10;&#10;            &lt;Box style={{ flexDirection: 'row', background: '#F4F7FA', borderRadius: 10, padding: '16px 20px', gap: 16, alignItems: 'center' }}&gt;&#10;                &lt;Box style={{ width: 4, height: 48, background: '#276FBF' }} /&gt;&#10;                &lt;Box style={{ flex: 1, flexDirection: 'column', gap: 4 }}&gt;&#10;                    &lt;Text style={{ fontSize: 18, fontWeight: 'bold', color: '#276FBF' }}&gt;共同材料&lt;/Text&gt;&#10;                    &lt;Text style={{ fontSize: 15, color: '#546779', lineHeight: 1.6 }}&gt;场所、公开规则、任务方法；说明通过初始资料、感知还是消息进入。&lt;/Text&gt;&#10;                &lt;/Box&gt;&#10;            &lt;/Box&gt;&#10;&#10;            &lt;Box style={{ flexDirection: 'row', background: '#ECF7F2', borderRadius: 10, padding: '16px 20px', gap: 16, alignItems: 'center' }}&gt;&#10;                &lt;Box style={{ width: 4, height: 48, background: '#26816B' }} /&gt;&#10;                &lt;Box style={{ flex: 1, flexDirection: 'column', gap: 4 }}&gt;&#10;                    &lt;Text style={{ fontSize: 18, fontWeight: 'bold', color: '#26816B' }}&gt;私有材料&lt;/Text&gt;&#10;                    &lt;Text style={{ fontSize: 15, color: '#546779', lineHeight: 1.6 }}&gt;各人／对象自己的事实、目标、进度；不能借共享 Skill 或总结模板泄漏。&lt;/Text&gt;&#10;                &lt;/Box&gt;&#10;            &lt;/Box&gt;&#10;&#10;            &lt;Box style={{ flexDirection: 'row', background: '#FFF4E6', borderRadius: 10, padding: '16px 20px', gap: 16, alignItems: 'center' }}&gt;&#10;                &lt;Box style={{ width: 4, height: 48, background: '#CB6B28' }} /&gt;&#10;                &lt;Box style={{ flex: 1, flexDirection: 'column', gap: 4 }}&gt;&#10;                    &lt;Text style={{ fontSize: 18, fontWeight: 'bold', color: '#CB6B28' }}&gt;评阅材料&lt;/Text&gt;&#10;                    &lt;Text style={{ fontSize: 15, color: '#546779', lineHeight: 1.6 }}&gt;完整条件、答案与判据；不实时帮助人物成功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0 阅读准备&lt;/Text&gt;&#10;        &lt;Text style={{ fontSize: 14, color: '#546779' }}&gt;09 / 20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4.0.2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以大厅咨询任务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H1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为例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姓名不同，不等于信息已隔离</a:t>
            </a:r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609600" y="2676525"/>
            <a:ext cx="381000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三份材料，三种取得方式</a:t>
            </a:r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609600" y="3133725"/>
            <a:ext cx="38100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能读到的内容，必须能说出它从哪条渠道来；说不出渠道的内容，就不能算角色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知道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13" name=""/>
          <p:cNvSpPr/>
          <p:nvPr/>
        </p:nvSpPr>
        <p:spPr>
          <a:xfrm rot="0" flipH="0" flipV="0">
            <a:off x="609600" y="3914775"/>
            <a:ext cx="3810000" cy="838200"/>
          </a:xfrm>
          <a:prstGeom prst="roundRect">
            <a:avLst>
              <a:gd name="adj" fmla="val 1136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781050" y="4048125"/>
            <a:ext cx="34671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在普通记忆里写入地址，不会自动建立导航所需的已知空间；地址与可达路径是两件事。</a:t>
            </a:r>
            <a:endParaRPr/>
          </a:p>
        </p:txBody>
      </p:sp>
      <p:sp>
        <p:nvSpPr>
          <p:cNvPr id="515" name=""/>
          <p:cNvSpPr/>
          <p:nvPr/>
        </p:nvSpPr>
        <p:spPr>
          <a:xfrm rot="0" flipH="0" flipV="0">
            <a:off x="4762500" y="2343150"/>
            <a:ext cx="6819900" cy="828675"/>
          </a:xfrm>
          <a:prstGeom prst="roundRect">
            <a:avLst>
              <a:gd name="adj" fmla="val 1149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16" name=""/>
          <p:cNvSpPr/>
          <p:nvPr/>
        </p:nvSpPr>
        <p:spPr>
          <a:xfrm rot="0" flipH="0" flipV="0">
            <a:off x="4953000" y="2533650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5143500" y="2495550"/>
            <a:ext cx="6248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共同材料</a:t>
            </a:r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5143500" y="2743200"/>
            <a:ext cx="62484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场所、公开规则、任务方法；说明通过初始资料、感知还是消息进入。</a:t>
            </a:r>
            <a:endParaRPr/>
          </a:p>
        </p:txBody>
      </p:sp>
      <p:sp>
        <p:nvSpPr>
          <p:cNvPr id="519" name=""/>
          <p:cNvSpPr/>
          <p:nvPr/>
        </p:nvSpPr>
        <p:spPr>
          <a:xfrm rot="0" flipH="0" flipV="0">
            <a:off x="4762500" y="3305175"/>
            <a:ext cx="6819900" cy="828675"/>
          </a:xfrm>
          <a:prstGeom prst="roundRect">
            <a:avLst>
              <a:gd name="adj" fmla="val 1149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20" name=""/>
          <p:cNvSpPr/>
          <p:nvPr/>
        </p:nvSpPr>
        <p:spPr>
          <a:xfrm rot="0" flipH="0" flipV="0">
            <a:off x="4953000" y="3495675"/>
            <a:ext cx="38100" cy="4572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5143500" y="3457575"/>
            <a:ext cx="6248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私有材料</a:t>
            </a:r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5143500" y="3705225"/>
            <a:ext cx="62484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各人／对象自己的事实、目标、进度；不能借共享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或总结模板泄漏。</a:t>
            </a:r>
            <a:endParaRPr/>
          </a:p>
        </p:txBody>
      </p:sp>
      <p:sp>
        <p:nvSpPr>
          <p:cNvPr id="523" name=""/>
          <p:cNvSpPr/>
          <p:nvPr/>
        </p:nvSpPr>
        <p:spPr>
          <a:xfrm rot="0" flipH="0" flipV="0">
            <a:off x="4762500" y="4267200"/>
            <a:ext cx="6819900" cy="828675"/>
          </a:xfrm>
          <a:prstGeom prst="roundRect">
            <a:avLst>
              <a:gd name="adj" fmla="val 1149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24" name=""/>
          <p:cNvSpPr/>
          <p:nvPr/>
        </p:nvSpPr>
        <p:spPr>
          <a:xfrm rot="0" flipH="0" flipV="0">
            <a:off x="4953000" y="4457700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5143500" y="4419600"/>
            <a:ext cx="6248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评阅材料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5143500" y="4667250"/>
            <a:ext cx="62484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完整条件、答案与判据；不实时帮助人物成功。</a:t>
            </a:r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76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阅读准备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20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32" name="" descr="&lt;Slide notes={`两组之间只允许差一个预登记的因素，而且这个差异必须留档。&#10;&#10;第一步，为基线和对照各建一个独立实验，把共同的地图、人物、事实、模型、视野、注意力、窗口和留存设置全部冻结。&#10;&#10;第二步，只修改事先登记好的句子或布局，并且把原句和替换句、原坐标和新坐标都存下来。&#10;&#10;第三步，封存包要复制成新草稿。公共资源不会自动更新包内的副本，也不建立新的 Revision。&#10;&#10;第四步，同一批次里同时安排两种条件，执行次序事先打乱，并记录模型服务或环境有没有变化。&#10;&#10;第五步，如果想研究位置和视野的相互作用，必须另作明确的多因素设计。两次随意的改动，不能拼成一个结论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0.2　为两组保存精确差异&lt;/Text&gt;&#10;            &lt;Text style={{ fontSize: 34, fontWeight: 'bold', color: '#20344B' }}&gt;两组只差一处，差在哪要留档&lt;/Text&gt;&#10;        &lt;/Box&gt;&#10;    &lt;/Box&gt;&#10;&#10;    &lt;Box style={{ height: 540, flexDirection: 'column', justifyContent: 'center', gap: 10 }}&gt;&#10;&#10;        &lt;Text style={{ fontSize: 15, color: '#546779', lineHeight: 1.6 }}&gt;共同条件冻结之后，改动只有一处，而且必须写得出来、存得下来。&lt;/Text&gt;&#10;&#10;        &lt;Box style={{ flexDirection: 'row', height: 82, background: '#F4F7FA', borderRadius: 10, padding: '0 18px', alignItems: 'center', gap: 16 }}&gt;&#10;            &lt;Box style={{ width: 40, height: 40, background: '#276FBF', borderRadius: 8, justifyContent: 'center', alignItems: 'center' }}&gt;&#10;                &lt;Text style={{ fontSize: 18, fontWeight: 'bold', color: '#FFFFFF' }}&gt;1&lt;/Text&gt;&#10;            &lt;/Box&gt;&#10;            &lt;Box style={{ flex: 1, flexDirection: 'column', gap: 3 }}&gt;&#10;                &lt;Text style={{ fontSize: 16, fontWeight: 'bold', color: '#20344B' }}&gt;冻结共同条件&lt;/Text&gt;&#10;                &lt;Text style={{ fontSize: 14, color: '#546779', lineHeight: 1.5 }}&gt;基线、对照各建独立实验；冻结地图、人物、事实、模型、视野、注意力、窗口与留存设置。&lt;/Text&gt;&#10;            &lt;/Box&gt;&#10;        &lt;/Box&gt;&#10;&#10;        &lt;Box style={{ flexDirection: 'row', height: 82, background: '#F4F7FA', borderRadius: 10, padding: '0 18px', alignItems: 'center', gap: 16 }}&gt;&#10;            &lt;Box style={{ width: 40, height: 40, background: '#276FBF', borderRadius: 8, justifyContent: 'center', alignItems: 'center' }}&gt;&#10;                &lt;Text style={{ fontSize: 18, fontWeight: 'bold', color: '#FFFFFF' }}&gt;2&lt;/Text&gt;&#10;            &lt;/Box&gt;&#10;            &lt;Box style={{ flex: 1, flexDirection: 'column', gap: 3 }}&gt;&#10;                &lt;Text style={{ fontSize: 16, fontWeight: 'bold', color: '#20344B' }}&gt;只改预登记项&lt;/Text&gt;&#10;                &lt;Text style={{ fontSize: 14, color: '#546779', lineHeight: 1.5 }}&gt;只修改预登记的句子或布局；保存原句／替换句、原坐标／新坐标。&lt;/Text&gt;&#10;            &lt;/Box&gt;&#10;        &lt;/Box&gt;&#10;&#10;        &lt;Box style={{ flexDirection: 'row', height: 82, background: '#F4F7FA', borderRadius: 10, padding: '0 18px', alignItems: 'center', gap: 16 }}&gt;&#10;            &lt;Box style={{ width: 40, height: 40, background: '#276FBF', borderRadius: 8, justifyContent: 'center', alignItems: 'center' }}&gt;&#10;                &lt;Text style={{ fontSize: 18, fontWeight: 'bold', color: '#FFFFFF' }}&gt;3&lt;/Text&gt;&#10;            &lt;/Box&gt;&#10;            &lt;Box style={{ flex: 1, flexDirection: 'column', gap: 3 }}&gt;&#10;                &lt;Text style={{ fontSize: 16, fontWeight: 'bold', color: '#20344B' }}&gt;封存包复制成新草稿&lt;/Text&gt;&#10;                &lt;Text style={{ fontSize: 14, color: '#546779', lineHeight: 1.5 }}&gt;公共资源不自动更新包内副本，不建立 Revision。&lt;/Text&gt;&#10;            &lt;/Box&gt;&#10;        &lt;/Box&gt;&#10;&#10;        &lt;Box style={{ flexDirection: 'row', height: 82, background: '#F4F7FA', borderRadius: 10, padding: '0 18px', alignItems: 'center', gap: 16 }}&gt;&#10;            &lt;Box style={{ width: 40, height: 40, background: '#276FBF', borderRadius: 8, justifyContent: 'center', alignItems: 'center' }}&gt;&#10;                &lt;Text style={{ fontSize: 18, fontWeight: 'bold', color: '#FFFFFF' }}&gt;4&lt;/Text&gt;&#10;            &lt;/Box&gt;&#10;            &lt;Box style={{ flex: 1, flexDirection: 'column', gap: 3 }}&gt;&#10;                &lt;Text style={{ fontSize: 16, fontWeight: 'bold', color: '#20344B' }}&gt;打乱次序，记录环境变化&lt;/Text&gt;&#10;                &lt;Text style={{ fontSize: 14, color: '#546779', lineHeight: 1.5 }}&gt;同一批次安排两种条件，事先打乱执行次序，记录模型服务或环境变化。&lt;/Text&gt;&#10;            &lt;/Box&gt;&#10;        &lt;/Box&gt;&#10;&#10;        &lt;Box style={{ flexDirection: 'row', height: 82, background: '#FFF4E6', borderRadius: 10, padding: '0 18px', alignItems: 'center', gap: 16 }}&gt;&#10;            &lt;Box style={{ width: 40, height: 40, background: '#CB6B28', borderRadius: 8, justifyContent: 'center', alignItems: 'center' }}&gt;&#10;                &lt;Text style={{ fontSize: 18, fontWeight: 'bold', color: '#FFFFFF' }}&gt;5&lt;/Text&gt;&#10;            &lt;/Box&gt;&#10;            &lt;Box style={{ flex: 1, flexDirection: 'column', gap: 3 }}&gt;&#10;                &lt;Text style={{ fontSize: 16, fontWeight: 'bold', color: '#CB6B28' }}&gt;多因素要另作设计&lt;/Text&gt;&#10;                &lt;Text style={{ fontSize: 14, color: '#546779', lineHeight: 1.5 }}&gt;若要研究位置×视野的相互作用，必须另作明确的多因素设计；两次随意改动不能拼成结论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0 阅读准备&lt;/Text&gt;&#10;        &lt;Text style={{ fontSize: 14, color: '#546779' }}&gt;10 / 20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4.0.2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为两组保存精确差异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两组只差一处，差在哪要留档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09600" y="1390650"/>
            <a:ext cx="10972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共同条件冻结之后，改动只有一处，而且必须写得出来、存得下来。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609600" y="1762125"/>
            <a:ext cx="10972800" cy="781050"/>
          </a:xfrm>
          <a:prstGeom prst="roundRect">
            <a:avLst>
              <a:gd name="adj" fmla="val 1219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9" name=""/>
          <p:cNvSpPr/>
          <p:nvPr/>
        </p:nvSpPr>
        <p:spPr>
          <a:xfrm rot="0" flipH="0" flipV="0">
            <a:off x="781050" y="19621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914400" y="204787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1314450" y="1924050"/>
            <a:ext cx="10096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冻结共同条件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1314450" y="2143125"/>
            <a:ext cx="10096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基线、对照各建独立实验；冻结地图、人物、事实、模型、视野、注意力、窗口与留存设置。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609600" y="2638425"/>
            <a:ext cx="10972800" cy="781050"/>
          </a:xfrm>
          <a:prstGeom prst="roundRect">
            <a:avLst>
              <a:gd name="adj" fmla="val 1219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4" name=""/>
          <p:cNvSpPr/>
          <p:nvPr/>
        </p:nvSpPr>
        <p:spPr>
          <a:xfrm rot="0" flipH="0" flipV="0">
            <a:off x="781050" y="28384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914400" y="292417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314450" y="2800350"/>
            <a:ext cx="10096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只改预登记项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1314450" y="3019425"/>
            <a:ext cx="10096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只修改预登记的句子或布局；保存原句／替换句、原坐标／新坐标。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609600" y="3514725"/>
            <a:ext cx="10972800" cy="781050"/>
          </a:xfrm>
          <a:prstGeom prst="roundRect">
            <a:avLst>
              <a:gd name="adj" fmla="val 1219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9" name=""/>
          <p:cNvSpPr/>
          <p:nvPr/>
        </p:nvSpPr>
        <p:spPr>
          <a:xfrm rot="0" flipH="0" flipV="0">
            <a:off x="781050" y="37147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914400" y="380047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1314450" y="3676650"/>
            <a:ext cx="10096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封存包复制成新草稿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1314450" y="3895725"/>
            <a:ext cx="10096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公共资源不自动更新包内副本，不建立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Revision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609600" y="4391025"/>
            <a:ext cx="10972800" cy="781050"/>
          </a:xfrm>
          <a:prstGeom prst="roundRect">
            <a:avLst>
              <a:gd name="adj" fmla="val 1219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4" name=""/>
          <p:cNvSpPr/>
          <p:nvPr/>
        </p:nvSpPr>
        <p:spPr>
          <a:xfrm rot="0" flipH="0" flipV="0">
            <a:off x="781050" y="45910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914400" y="467677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1314450" y="4552950"/>
            <a:ext cx="10096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打乱次序，记录环境变化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1314450" y="4772025"/>
            <a:ext cx="10096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同一批次安排两种条件，事先打乱执行次序，记录模型服务或环境变化。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609600" y="5267325"/>
            <a:ext cx="10972800" cy="781050"/>
          </a:xfrm>
          <a:prstGeom prst="roundRect">
            <a:avLst>
              <a:gd name="adj" fmla="val 1219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9" name=""/>
          <p:cNvSpPr/>
          <p:nvPr/>
        </p:nvSpPr>
        <p:spPr>
          <a:xfrm rot="0" flipH="0" flipV="0">
            <a:off x="781050" y="54673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914400" y="555307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1314450" y="5429250"/>
            <a:ext cx="10096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多因素要另作设计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1314450" y="5648325"/>
            <a:ext cx="10096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若要研究位置×视野的相互作用，必须另作明确的多因素设计；两次随意改动不能拼成结论。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76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阅读准备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20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65" name="" descr="&lt;Slide notes={`把两种做法放在一起看，差别很直接。&#10;&#10;上面这一组只改了一处：其余条件完全一样，差异点用颜色标出来，跑完之后结果之间的差别可以归到这一处上。&#10;&#10;下面这一组改了两处以上，两个条件同时变。即使最后结果不同，你也说不清是哪一处造成的，这就是&quot;拼不成结论&quot;。&#10;&#10;区组化和随机化能降低组别与运行时间重合带来的风险，但它们不消除所有变化，也不保证远端模型完全复现。所以记录里要写清：这一次到底改了什么，有没有别的变化同时发生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0.2　区组、随机化与单因素对照（示意）&lt;/Text&gt;&#10;            &lt;Text style={{ fontSize: 34, fontWeight: 'bold', color: '#20344B' }}&gt;两次随意改动，拼不成一个结论&lt;/Text&gt;&#10;        &lt;/Box&gt;&#10;    &lt;/Box&gt;&#10;&#10;    &lt;Box style={{ height: 540, flexDirection: 'row', alignItems: 'center', gap: 36 }}&gt;&#10;&#10;        &lt;Box style={{ width: 460, flexDirection: 'column', gap: 14 }}&gt;&#10;            &lt;Text style={{ fontSize: 20, fontWeight: 'bold', color: '#20344B', lineHeight: 1.4 }}&gt;一次只改一个因素&lt;/Text&gt;&#10;            &lt;Text style={{ fontSize: 16, color: '#546779', lineHeight: 1.75 }}&gt;区组与随机化降低组别和运行时间重合的风险，但不消除所有变化，也不保证远端模型完全复现。&lt;/Text&gt;&#10;            &lt;Box style={{ background: '#F4F7FA', borderRadius: 10, padding: '14px 18px', flexDirection: 'column', gap: 6 }}&gt;&#10;                &lt;Text style={{ fontSize: 15, color: '#546779', lineHeight: 1.65 }}&gt;记录要写清：这一次改了什么，有没有别的变化同时发生。&lt;/Text&gt;&#10;                &lt;Text style={{ fontSize: 14, color: '#546779' }}&gt;参考：NIST 随机区组设计&lt;/Text&gt;&#10;            &lt;/Box&gt;&#10;        &lt;/Box&gt;&#10;&#10;        &lt;Box style={{ width: 656, flexDirection: 'column', gap: 16 }}&gt;&#10;&#10;            &lt;Box style={{ background: '#ECF7F2', borderRadius: 10, padding: 18, flexDirection: 'column', gap: 10 }}&gt;&#10;                &lt;Text style={{ fontSize: 17, fontWeight: 'bold', color: '#26816B' }}&gt;单因素对照：只差一处&lt;/Text&gt;&#10;                &lt;Box style={{ flexDirection: 'row', alignItems: 'center', gap: 12 }}&gt;&#10;                    &lt;Box style={{ width: 120, height: 44, background: '#FFFFFF', borderRadius: 8, justifyContent: 'center', alignItems: 'center' }}&gt;&#10;                        &lt;Text style={{ fontSize: 15, color: '#26816B' }}&gt;基线 A&lt;/Text&gt;&#10;                    &lt;/Box&gt;&#10;                    &lt;Box style={{ flex: 1, height: 44, background: '#EDF4FC', borderRadius: 8, justifyContent: 'center', alignItems: 'center' }}&gt;&#10;                        &lt;Text style={{ fontSize: 15, color: '#546779' }}&gt;其余条件完全相同&lt;/Text&gt;&#10;                    &lt;/Box&gt;&#10;                    &lt;Box style={{ width: 44, height: 44, background: '#FFFFFF', borderRadius: 8, justifyContent: 'center', alignItems: 'center' }}&gt;&#10;                        &lt;Text style={{ fontSize: 15, color: '#B5C7D8' }}&gt;—&lt;/Text&gt;&#10;                    &lt;/Box&gt;&#10;                &lt;/Box&gt;&#10;                &lt;Box style={{ flexDirection: 'row', alignItems: 'center', gap: 12 }}&gt;&#10;                    &lt;Box style={{ width: 120, height: 44, background: '#FFFFFF', borderRadius: 8, justifyContent: 'center', alignItems: 'center' }}&gt;&#10;                        &lt;Text style={{ fontSize: 15, color: '#26816B' }}&gt;对照 B&lt;/Text&gt;&#10;                    &lt;/Box&gt;&#10;                    &lt;Box style={{ flex: 1, height: 44, background: '#EDF4FC', borderRadius: 8, justifyContent: 'center', alignItems: 'center' }}&gt;&#10;                        &lt;Text style={{ fontSize: 15, color: '#20344B' }}&gt;只替换一个预登记因素&lt;/Text&gt;&#10;                    &lt;/Box&gt;&#10;                    &lt;Box style={{ width: 44, height: 44, background: '#CB6B28', borderRadius: 8, justifyContent: 'center', alignItems: 'center' }}&gt;&#10;                        &lt;Text style={{ fontSize: 15, fontWeight: 'bold', color: '#FFFFFF' }}&gt;改&lt;/Text&gt;&#10;                    &lt;/Box&gt;&#10;                &lt;/Box&gt;&#10;                &lt;Text style={{ fontSize: 14, color: '#546779', lineHeight: 1.5 }}&gt;结果之间的差别，可以归到这一处上。&lt;/Text&gt;&#10;            &lt;/Box&gt;&#10;&#10;            &lt;Box style={{ background: '#FFF4E6', borderRadius: 10, padding: 18, flexDirection: 'column', gap: 10 }}&gt;&#10;                &lt;Text style={{ fontSize: 17, fontWeight: 'bold', color: '#CB6B28' }}&gt;多因素混杂：说不清是哪一处&lt;/Text&gt;&#10;                &lt;Box style={{ flexDirection: 'row', alignItems: 'center', gap: 12 }}&gt;&#10;                    &lt;Box style={{ width: 120, height: 44, background: '#FFFFFF', borderRadius: 8, justifyContent: 'center', alignItems: 'center' }}&gt;&#10;                        &lt;Text style={{ fontSize: 15, color: '#CB6B28' }}&gt;条件 A&lt;/Text&gt;&#10;                    &lt;/Box&gt;&#10;                    &lt;Box style={{ flex: 1, height: 44, background: '#F4F7FA', borderRadius: 8, justifyContent: 'center', alignItems: 'center' }}&gt;&#10;                        &lt;Text style={{ fontSize: 15, color: '#546779' }}&gt;同时改了位置和视野&lt;/Text&gt;&#10;                    &lt;/Box&gt;&#10;                    &lt;Box style={{ width: 44, height: 44, background: '#CB6B28', borderRadius: 8, justifyContent: 'center', alignItems: 'center' }}&gt;&#10;                        &lt;Text style={{ fontSize: 14, fontWeight: 'bold', color: '#FFFFFF' }}&gt;①②&lt;/Text&gt;&#10;                    &lt;/Box&gt;&#10;                &lt;/Box&gt;&#10;                &lt;Box style={{ flexDirection: 'row', alignItems: 'center', gap: 12 }}&gt;&#10;                    &lt;Box style={{ width: 120, height: 44, background: '#FFFFFF', borderRadius: 8, justifyContent: 'center', alignItems: 'center' }}&gt;&#10;                        &lt;Text style={{ fontSize: 15, color: '#CB6B28' }}&gt;条件 B&lt;/Text&gt;&#10;                    &lt;/Box&gt;&#10;                    &lt;Box style={{ flex: 1, height: 44, background: '#F4F7FA', borderRadius: 8, justifyContent: 'center', alignItems: 'center' }}&gt;&#10;                        &lt;Text style={{ fontSize: 15, color: '#546779' }}&gt;同时改了停留与步长&lt;/Text&gt;&#10;                    &lt;/Box&gt;&#10;                    &lt;Box style={{ width: 44, height: 44, background: '#CB6B28', borderRadius: 8, justifyContent: 'center', alignItems: 'center' }}&gt;&#10;                        &lt;Text style={{ fontSize: 14, fontWeight: 'bold', color: '#FFFFFF' }}&gt;③④&lt;/Text&gt;&#10;                    &lt;/Box&gt;&#10;                &lt;/Box&gt;&#10;                &lt;Text style={{ fontSize: 14, color: '#CB6B28', lineHeight: 1.5 }}&gt;两个条件同时变，即使结果不同，也归因不到任何一处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0 阅读准备&lt;/Text&gt;&#10;        &lt;Text style={{ fontSize: 14, color: '#546779' }}&gt;11 / 20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4.0.2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区组、随机化与单因素对照（示意）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两次随意改动，拼不成一个结论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09600" y="2714625"/>
            <a:ext cx="438150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一次只改一个因素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09600" y="3171825"/>
            <a:ext cx="43815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区组与随机化降低组别和运行时间重合的风险，但不消除所有变化，也不保证远端模型完全复现。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609600" y="3952875"/>
            <a:ext cx="4381500" cy="771525"/>
          </a:xfrm>
          <a:prstGeom prst="roundRect">
            <a:avLst>
              <a:gd name="adj" fmla="val 1234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781050" y="4086225"/>
            <a:ext cx="403860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记录要写清：这一次改了什么，有没有别的变化同时发生。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781050" y="4429125"/>
            <a:ext cx="4038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参考：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NIST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随机区组设计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5334000" y="1724025"/>
            <a:ext cx="6248400" cy="1914525"/>
          </a:xfrm>
          <a:prstGeom prst="roundRect">
            <a:avLst>
              <a:gd name="adj" fmla="val 497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5505450" y="1895475"/>
            <a:ext cx="5905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单因素对照：只差一处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5505450" y="2190750"/>
            <a:ext cx="11430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5867400" y="231457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基线</a:t>
            </a: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 xml:space="preserve"> A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6762750" y="2190750"/>
            <a:ext cx="4114800" cy="419100"/>
          </a:xfrm>
          <a:prstGeom prst="roundRect">
            <a:avLst>
              <a:gd name="adj" fmla="val 181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8248650" y="2314575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其余条件完全相同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10991850" y="21907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11125200" y="2314575"/>
            <a:ext cx="161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B5C7D8"/>
                </a:solidFill>
                <a:latin typeface="Microsoft YaHei"/>
                <a:ea typeface="Microsoft YaHei"/>
              </a:rPr>
              <a:t>—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5505450" y="2705100"/>
            <a:ext cx="11430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5867400" y="2828925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对照</a:t>
            </a: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 xml:space="preserve"> B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6762750" y="2705100"/>
            <a:ext cx="4114800" cy="419100"/>
          </a:xfrm>
          <a:prstGeom prst="roundRect">
            <a:avLst>
              <a:gd name="adj" fmla="val 181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8105775" y="2828925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只替换一个预登记因素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10991850" y="27051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11134725" y="28289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改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5505450" y="3219450"/>
            <a:ext cx="5905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结果之间的差别，可以归到这一处上。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5334000" y="3790950"/>
            <a:ext cx="6248400" cy="1914525"/>
          </a:xfrm>
          <a:prstGeom prst="roundRect">
            <a:avLst>
              <a:gd name="adj" fmla="val 497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5505450" y="3962400"/>
            <a:ext cx="5905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多因素混杂：说不清是哪一处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5505450" y="4257675"/>
            <a:ext cx="11430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5867400" y="438150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条件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 A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6762750" y="4257675"/>
            <a:ext cx="4114800" cy="419100"/>
          </a:xfrm>
          <a:prstGeom prst="roundRect">
            <a:avLst>
              <a:gd name="adj" fmla="val 1818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8181975" y="4381500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同时改了位置和视野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10991850" y="42576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11068050" y="439102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①②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5505450" y="4772025"/>
            <a:ext cx="11430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5867400" y="4895850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条件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 B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6762750" y="4772025"/>
            <a:ext cx="4114800" cy="419100"/>
          </a:xfrm>
          <a:prstGeom prst="roundRect">
            <a:avLst>
              <a:gd name="adj" fmla="val 1818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181975" y="4895850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同时改了停留与步长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10991850" y="47720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11068050" y="490537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③④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5505450" y="5286375"/>
            <a:ext cx="5905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两个条件同时变，即使结果不同，也归因不到任何一处。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76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阅读准备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20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07" name="" descr="&lt;Slide notes={`这里有两组特别容易混的数。&#10;&#10;上面数的是时间间隔。从第 1 步到第 61 步，中间只有 60 个一分钟间隔；61 个时间点覆盖 60 分钟。公式是末时刻等于起时刻，加上步数减一乘步长。&#10;&#10;下面数的是独立重复。一个 Run 里有四项任务、若干条消息、几次恢复，这些都不能当成四次独立重复，因为同一个 Run 里的角色会互相影响。&#10;&#10;恢复只是同一个 run_id 下的新 attempt_id，它延续原来的 Run，不增加独立样本量。&#10;&#10;这两组都只是示意，不是实际运行安排，也不是样本量证明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0.2　时间点、任务单位与独立 Run（示意）&lt;/Text&gt;&#10;            &lt;Text style={{ fontSize: 34, fontWeight: 'bold', color: '#20344B' }}&gt;时间点、任务单位与独立 Run&lt;/Text&gt;&#10;        &lt;/Box&gt;&#10;    &lt;/Box&gt;&#10;&#10;    &lt;Box style={{ height: 540, flexDirection: 'column', justifyContent: 'center', gap: 16 }}&gt;&#10;&#10;        &lt;Box style={{ height: 208, background: '#EDF4FC', borderRadius: 12, padding: 18, flexDirection: 'column', gap: 10, justifyContent: 'center' }}&gt;&#10;            &lt;Text style={{ fontSize: 16, fontWeight: 'bold', color: '#276FBF' }}&gt;时间点与跨度　·　示意&lt;/Text&gt;&#10;            &lt;Box style={{ flexDirection: 'row', alignItems: 'center', gap: 14 }}&gt;&#10;                &lt;Box style={{ width: 190, height: 56, background: '#FFFFFF', borderRadius: 8, justifyContent: 'center', alignItems: 'center' }}&gt;&#10;                    &lt;Text style={{ fontSize: 16, color: '#276FBF' }}&gt;Step1 · 09:00&lt;/Text&gt;&#10;                &lt;/Box&gt;&#10;                &lt;Box style={{ flex: 1, flexDirection: 'column', gap: 6 }}&gt;&#10;                    &lt;Box style={{ height: 2, background: '#276FBF' }} /&gt;&#10;                    &lt;Text style={{ fontSize: 13, color: '#546779', textAlign: 'center' }}&gt;60 个一分钟间隔&lt;/Text&gt;&#10;                &lt;/Box&gt;&#10;                &lt;Box style={{ width: 190, height: 56, background: '#FFFFFF', borderRadius: 8, justifyContent: 'center', alignItems: 'center' }}&gt;&#10;                    &lt;Text style={{ fontSize: 16, color: '#276FBF' }}&gt;Step61 · 10:00&lt;/Text&gt;&#10;                &lt;/Box&gt;&#10;            &lt;/Box&gt;&#10;            &lt;Text style={{ fontSize: 15, color: '#20344B', lineHeight: 1.5 }}&gt;T末 = T始 + (N−1)×步长　；　61 个时间点覆盖 60 分钟&lt;/Text&gt;&#10;        &lt;/Box&gt;&#10;&#10;        &lt;Box style={{ height: 208, background: '#ECF7F2', borderRadius: 12, padding: 18, flexDirection: 'column', gap: 10, justifyContent: 'center' }}&gt;&#10;            &lt;Text style={{ fontSize: 16, fontWeight: 'bold', color: '#26816B' }}&gt;独立重复　·　示意&lt;/Text&gt;&#10;            &lt;Box style={{ flexDirection: 'row', alignItems: 'center', gap: 8 }}&gt;&#10;                &lt;Box style={{ width: 138, height: 56, background: '#FFFFFF', borderRadius: 8, justifyContent: 'center', alignItems: 'center' }}&gt;&#10;                    &lt;Text style={{ fontSize: 15, color: '#26816B' }}&gt;Run A01&lt;/Text&gt;&#10;                &lt;/Box&gt;&#10;                &lt;Box style={{ width: 44, height: 56, justifyContent: 'center', alignItems: 'center' }}&gt;&#10;                    &lt;Text style={{ fontSize: 24, color: '#26816B' }}&gt;›&lt;/Text&gt;&#10;                &lt;/Box&gt;&#10;                &lt;Box style={{ width: 138, height: 56, background: '#FFFFFF', borderRadius: 8, justifyContent: 'center', alignItems: 'center' }}&gt;&#10;                    &lt;Text style={{ fontSize: 15, color: '#26816B' }}&gt;Run A02&lt;/Text&gt;&#10;                &lt;/Box&gt;&#10;                &lt;Box style={{ width: 44, height: 56, justifyContent: 'center', alignItems: 'center' }}&gt;&#10;                    &lt;Text style={{ fontSize: 24, color: '#26816B' }}&gt;›&lt;/Text&gt;&#10;                &lt;/Box&gt;&#10;                &lt;Box style={{ width: 138, height: 56, background: '#FFFFFF', borderRadius: 8, justifyContent: 'center', alignItems: 'center' }}&gt;&#10;                    &lt;Text style={{ fontSize: 15, color: '#26816B' }}&gt;Run A03&lt;/Text&gt;&#10;                &lt;/Box&gt;&#10;                &lt;Box style={{ width: 24 }} /&gt;&#10;                &lt;Box style={{ width: 196, height: 56, background: '#26816B', borderRadius: 8, justifyContent: 'center', alignItems: 'center' }}&gt;&#10;                    &lt;Text style={{ fontSize: 16, fontWeight: 'bold', color: '#FFFFFF' }}&gt;3 个独立 Run&lt;/Text&gt;&#10;                &lt;/Box&gt;&#10;            &lt;/Box&gt;&#10;            &lt;Text style={{ fontSize: 15, color: '#20344B', lineHeight: 1.5 }}&gt;Run 内部的任务、消息与恢复 Attempt，都不增加独立样本数。&lt;/Text&gt;&#10;        &lt;/Box&gt;&#10;&#10;        &lt;Text style={{ fontSize: 14, color: '#546779' }}&gt;图 4.0-3 语义重绘（示意）：不是实际运行安排，也不是样本量证明。&lt;/Text&gt;&#10;&#10;    &lt;/Box&gt;&#10;&#10;    &lt;Box style={{ height: 40, flexDirection: 'row', justifyContent: 'space-between', alignItems: 'center' }}&gt;&#10;        &lt;Text style={{ fontSize: 14, color: '#546779' }}&gt;4.0 阅读准备&lt;/Text&gt;&#10;        &lt;Text style={{ fontSize: 14, color: '#546779' }}&gt;12 / 20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30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4.0.2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时间点、任务单位与独立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（示意）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3053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时间点、任务单位与独立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609600" y="1504950"/>
            <a:ext cx="10972800" cy="1981200"/>
          </a:xfrm>
          <a:prstGeom prst="roundRect">
            <a:avLst>
              <a:gd name="adj" fmla="val 576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781050" y="1914525"/>
            <a:ext cx="10629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时间点与跨度　·　示意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781050" y="2200275"/>
            <a:ext cx="18097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1219200" y="2371725"/>
            <a:ext cx="933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76FBF"/>
                </a:solidFill>
                <a:latin typeface="Microsoft YaHei"/>
                <a:ea typeface="Microsoft YaHei"/>
              </a:rPr>
              <a:t>Step1 · 09:00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2724150" y="2352675"/>
            <a:ext cx="6743700" cy="190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2724150" y="2428875"/>
            <a:ext cx="67437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60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个一分钟间隔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9601200" y="2200275"/>
            <a:ext cx="18097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9991725" y="2371725"/>
            <a:ext cx="1028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76FBF"/>
                </a:solidFill>
                <a:latin typeface="Microsoft YaHei"/>
                <a:ea typeface="Microsoft YaHei"/>
              </a:rPr>
              <a:t>Step61 · 10:00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781050" y="2828925"/>
            <a:ext cx="10629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T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末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= T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始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+ (N−1)×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步长　；　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61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个时间点覆盖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60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609600" y="3638550"/>
            <a:ext cx="10972800" cy="1981200"/>
          </a:xfrm>
          <a:prstGeom prst="roundRect">
            <a:avLst>
              <a:gd name="adj" fmla="val 576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781050" y="4048125"/>
            <a:ext cx="10629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独立重复　·　示意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781050" y="4333875"/>
            <a:ext cx="13144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1152525" y="4514850"/>
            <a:ext cx="581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>Run A01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2343150" y="44672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2667000" y="4333875"/>
            <a:ext cx="13144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3038475" y="4514850"/>
            <a:ext cx="581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>Run A02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4229100" y="44672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4552950" y="4333875"/>
            <a:ext cx="13144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4924425" y="4514850"/>
            <a:ext cx="581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>Run A03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6248400" y="4333875"/>
            <a:ext cx="1866900" cy="533400"/>
          </a:xfrm>
          <a:prstGeom prst="roundRect">
            <a:avLst>
              <a:gd name="adj" fmla="val 14286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6705600" y="4505325"/>
            <a:ext cx="952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个独立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781050" y="4962525"/>
            <a:ext cx="10629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内部的任务、消息与恢复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Attempt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，都不增加独立样本数。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609600" y="5772150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图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4.0-3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语义重绘（示意）：不是实际运行安排，也不是样本量证明。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76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阅读准备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20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37" name="" descr="&lt;Slide notes={`口径要先定下来，否则算出来的比率再精确也没有意义。&#10;&#10;业务观察单位是任务、访客、关键事实这些，它们充当各个指标的分母。&#10;&#10;独立重复指的是新的 Run。恢复是同一个 run_id 下的新 attempt_id，它不增加独立样本量。&#10;&#10;时间跨度的公式是末时刻等于起时刻加上步数减一乘步长，61 步、1 分钟正好覆盖 60 分钟。&#10;&#10;活动时长要按案例事实核对：ACT 出现，不等于它自动持续了完整的一个步长。&#10;&#10;教学探索可以先给每组预留三次独立 Run 的预算，用来认识变异，但这不是统计显著性的样本量建议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0.2　观察单位、时间点与独立重复分别计数&lt;/Text&gt;&#10;            &lt;Text style={{ fontSize: 34, fontWeight: 'bold', color: '#20344B' }}&gt;要数什么，先把口径定下来&lt;/Text&gt;&#10;        &lt;/Box&gt;&#10;    &lt;/Box&gt;&#10;&#10;    &lt;Box style={{ height: 540, flexDirection: 'row', alignItems: 'center', gap: 36 }}&gt;&#10;&#10;        &lt;Box style={{ width: 430, flexDirection: 'column', gap: 14 }}&gt;&#10;            &lt;Text style={{ fontSize: 20, fontWeight: 'bold', color: '#20344B', lineHeight: 1.4 }}&gt;分母和重复单位是两件事&lt;/Text&gt;&#10;            &lt;Text style={{ fontSize: 16, color: '#546779', lineHeight: 1.75 }}&gt;业务观察单位用来当分母，独立重复决定样本量。两者混用，比率就会算错。&lt;/Text&gt;&#10;            &lt;Box style={{ background: '#ECF7F2', borderRadius: 10, padding: '14px 18px' }}&gt;&#10;                &lt;Text style={{ fontSize: 15, color: '#26816B', lineHeight: 1.65 }}&gt;教学探索可先给每组预留三次独立 Run 的预算，用来认识变异；这不是统计显著性的样本量建议。&lt;/Text&gt;&#10;            &lt;/Box&gt;&#10;        &lt;/Box&gt;&#10;&#10;        &lt;Box style={{ width: 686, flexDirection: 'column', gap: 10 }}&gt;&#10;&#10;            &lt;Box style={{ background: '#F4F7FA', borderRadius: 10, padding: '12px 18px', flexDirection: 'column', gap: 3 }}&gt;&#10;                &lt;Text style={{ fontSize: 16, fontWeight: 'bold', color: '#20344B' }}&gt;业务观察单位&lt;/Text&gt;&#10;                &lt;Text style={{ fontSize: 14, color: '#546779', lineHeight: 1.5 }}&gt;任务、访客、关键事实等，用于各指标分母&lt;/Text&gt;&#10;            &lt;/Box&gt;&#10;&#10;            &lt;Box style={{ background: '#F4F7FA', borderRadius: 10, padding: '12px 18px', flexDirection: 'column', gap: 3 }}&gt;&#10;                &lt;Text style={{ fontSize: 16, fontWeight: 'bold', color: '#20344B' }}&gt;独立重复&lt;/Text&gt;&#10;                &lt;Text style={{ fontSize: 14, color: '#546779', lineHeight: 1.5 }}&gt;新 Run；同 Run 的角色会互相影响&lt;/Text&gt;&#10;            &lt;/Box&gt;&#10;&#10;            &lt;Box style={{ background: '#ECF7F2', borderRadius: 10, padding: '12px 18px', flexDirection: 'column', gap: 3 }}&gt;&#10;                &lt;Text style={{ fontSize: 16, fontWeight: 'bold', color: '#26816B' }}&gt;恢复&lt;/Text&gt;&#10;                &lt;Text style={{ fontSize: 14, color: '#546779', lineHeight: 1.5 }}&gt;同一 run_id、新 attempt_id；不增加独立样本量&lt;/Text&gt;&#10;            &lt;/Box&gt;&#10;&#10;            &lt;Box style={{ background: '#F4F7FA', borderRadius: 10, padding: '12px 18px', flexDirection: 'column', gap: 3 }}&gt;&#10;                &lt;Text style={{ fontSize: 16, fontWeight: 'bold', color: '#20344B' }}&gt;时间跨度&lt;/Text&gt;&#10;                &lt;Text style={{ fontSize: 14, color: '#546779', lineHeight: 1.5 }}&gt;T末 = T始 + (N−1)×Δ；61 步、1 分钟覆盖 60 分钟&lt;/Text&gt;&#10;            &lt;/Box&gt;&#10;&#10;            &lt;Box style={{ background: '#F4F7FA', borderRadius: 10, padding: '12px 18px', flexDirection: 'column', gap: 3 }}&gt;&#10;                &lt;Text style={{ fontSize: 16, fontWeight: 'bold', color: '#20344B' }}&gt;活动时长&lt;/Text&gt;&#10;                &lt;Text style={{ fontSize: 14, color: '#546779', lineHeight: 1.5 }}&gt;ACT 出现不等于自动持续完整步长，按案例事实核对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0 阅读准备&lt;/Text&gt;&#10;        &lt;Text style={{ fontSize: 14, color: '#546779' }}&gt;13 / 20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4.0.2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观察单位、时间点与独立重复分别计数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要数什么，先把口径定下来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609600" y="2676525"/>
            <a:ext cx="409575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分母和重复单位是两件事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609600" y="3133725"/>
            <a:ext cx="409575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业务观察单位用来当分母，独立重复决定样本量。两者混用，比率就会算错。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609600" y="3914775"/>
            <a:ext cx="4095750" cy="838200"/>
          </a:xfrm>
          <a:prstGeom prst="roundRect">
            <a:avLst>
              <a:gd name="adj" fmla="val 1136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781050" y="4048125"/>
            <a:ext cx="37528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教学探索可先给每组预留三次独立</a:t>
            </a: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的预算，用来认识变异；这不是统计显著性的样本量建议。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5048250" y="1790700"/>
            <a:ext cx="6534150" cy="695325"/>
          </a:xfrm>
          <a:prstGeom prst="roundRect">
            <a:avLst>
              <a:gd name="adj" fmla="val 1369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5219700" y="1905000"/>
            <a:ext cx="6191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业务观察单位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5219700" y="2124075"/>
            <a:ext cx="61912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任务、访客、关键事实等，用于各指标分母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5048250" y="2581275"/>
            <a:ext cx="6534150" cy="695325"/>
          </a:xfrm>
          <a:prstGeom prst="roundRect">
            <a:avLst>
              <a:gd name="adj" fmla="val 1369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5219700" y="2695575"/>
            <a:ext cx="6191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独立重复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5219700" y="2914650"/>
            <a:ext cx="61912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新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；同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的角色会互相影响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5048250" y="3371850"/>
            <a:ext cx="6534150" cy="695325"/>
          </a:xfrm>
          <a:prstGeom prst="roundRect">
            <a:avLst>
              <a:gd name="adj" fmla="val 1369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5219700" y="3486150"/>
            <a:ext cx="6191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恢复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5219700" y="3705225"/>
            <a:ext cx="61912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同一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run_id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、新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attempt_id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；不增加独立样本量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5048250" y="4162425"/>
            <a:ext cx="6534150" cy="695325"/>
          </a:xfrm>
          <a:prstGeom prst="roundRect">
            <a:avLst>
              <a:gd name="adj" fmla="val 1369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5219700" y="4276725"/>
            <a:ext cx="6191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时间跨度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5219700" y="4495800"/>
            <a:ext cx="61912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末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= 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始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+ (N−1)×Δ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；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61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步、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分钟覆盖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60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5048250" y="4953000"/>
            <a:ext cx="6534150" cy="695325"/>
          </a:xfrm>
          <a:prstGeom prst="roundRect">
            <a:avLst>
              <a:gd name="adj" fmla="val 1369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5219700" y="5067300"/>
            <a:ext cx="6191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活动时长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5219700" y="5286375"/>
            <a:ext cx="61912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ACT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出现不等于自动持续完整步长，按案例事实核对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76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阅读准备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20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63" name="" descr="&lt;Slide notes={`关于时间，有两条纪律必须守住。&#10;&#10;第一条，时延必须有起止点。&quot;Run 开始到闭环&quot;和&quot;首次咨询到有效回复&quot;是两段不同的时间，不能混在一起报。对象在本步处理、人物要下一轮才能接收到，所以还受到步长限制——这两件事发生的时刻本来就不一样。&#10;&#10;第二条，窗口结束还没完成的任务，要保留成&quot;截至截止时刻未完成&quot;。不能把它们删掉只统计成功者，也不能把截止时间当成完成时间填进去。截止以后事件什么时候发生是未知的，这类数据涉及右删失。&#10;&#10;资料调试记录可以保留，但条件一旦改动，就要重新登记正式比较的范围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0.2　时延口径与未完成样本&lt;/Text&gt;&#10;            &lt;Text style={{ fontSize: 34, fontWeight: 'bold', color: '#20344B' }}&gt;时延要有起止点，未完成要留在分母里&lt;/Text&gt;&#10;        &lt;/Box&gt;&#10;    &lt;/Box&gt;&#10;&#10;    &lt;Box style={{ height: 540, flexDirection: 'column', justifyContent: 'center', gap: 16 }}&gt;&#10;&#10;        &lt;Box style={{ flexDirection: 'row', gap: 32 }}&gt;&#10;&#10;            &lt;Box style={{ width: 616, background: '#EDF4FC', borderRadius: 12, padding: 20, flexDirection: 'column', gap: 10 }}&gt;&#10;                &lt;Text style={{ fontSize: 20, fontWeight: 'bold', color: '#276FBF' }}&gt;时延必须有起止点&lt;/Text&gt;&#10;                &lt;Box style={{ flexDirection: 'column', gap: 6 }}&gt;&#10;                    &lt;Box style={{ height: 44, background: '#FFFFFF', borderRadius: 8, justifyContent: 'center', padding: '0 16px' }}&gt;&#10;                        &lt;Text style={{ fontSize: 15, color: '#276FBF' }}&gt;Run 开始　→　闭环&lt;/Text&gt;&#10;                    &lt;/Box&gt;&#10;                    &lt;Box style={{ height: 44, background: '#FFFFFF', borderRadius: 8, justifyContent: 'center', padding: '0 16px' }}&gt;&#10;                        &lt;Text style={{ fontSize: 15, color: '#276FBF' }}&gt;首次咨询　→　有效回复&lt;/Text&gt;&#10;                    &lt;/Box&gt;&#10;                &lt;/Box&gt;&#10;                &lt;Text style={{ fontSize: 15, color: '#546779', lineHeight: 1.6 }}&gt;两段不同的时间，不能混着报；对象本步处理、人物下轮接收，还受到步长限制。&lt;/Text&gt;&#10;            &lt;/Box&gt;&#10;&#10;            &lt;Box style={{ width: 504, background: '#FFF4E6', borderRadius: 12, padding: 20, flexDirection: 'column', gap: 10 }}&gt;&#10;                &lt;Text style={{ fontSize: 20, fontWeight: 'bold', color: '#CB6B28' }}&gt;未完成要留在分母里&lt;/Text&gt;&#10;                &lt;Box style={{ height: 44, background: '#FFFFFF', borderRadius: 8, justifyContent: 'center', padding: '0 16px' }}&gt;&#10;                    &lt;Text style={{ fontSize: 15, color: '#CB6B28' }}&gt;截至截止时刻未完成&lt;/Text&gt;&#10;                &lt;/Box&gt;&#10;                &lt;Text style={{ fontSize: 15, color: '#546779', lineHeight: 1.6 }}&gt;不能删掉后只算成功者，也不能把截止时间填成完成时间。&lt;/Text&gt;&#10;                &lt;Text style={{ fontSize: 15, fontWeight: 'bold', color: '#CB6B28', lineHeight: 1.6 }}&gt;截止后事件时刻未知，涉及右删失。&lt;/Text&gt;&#10;            &lt;/Box&gt;&#10;&#10;        &lt;/Box&gt;&#10;&#10;        &lt;Box style={{ background: '#F4F7FA', borderRadius: 10, padding: '16px 20px', flexDirection: 'row', alignItems: 'center', gap: 14 }}&gt;&#10;            &lt;Box style={{ width: 4, height: 40, background: '#276FBF' }} /&gt;&#10;            &lt;Text style={{ fontSize: 16, color: '#546779', lineHeight: 1.5 }}&gt;资料调试记录保留；条件改动后，重新登记正式比较范围。&lt;/Text&gt;&#10;        &lt;/Box&gt;&#10;&#10;    &lt;/Box&gt;&#10;&#10;    &lt;Box style={{ height: 40, flexDirection: 'row', justifyContent: 'space-between', alignItems: 'center' }}&gt;&#10;        &lt;Text style={{ fontSize: 14, color: '#546779' }}&gt;4.0 阅读准备&lt;/Text&gt;&#10;        &lt;Text style={{ fontSize: 14, color: '#546779' }}&gt;14 / 20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550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4.0.2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时延口径与未完成样本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55054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时延要有起止点，未完成要留在分母里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609600" y="2314575"/>
            <a:ext cx="5867400" cy="1971675"/>
          </a:xfrm>
          <a:prstGeom prst="roundRect">
            <a:avLst>
              <a:gd name="adj" fmla="val 579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800100" y="2505075"/>
            <a:ext cx="5486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时延必须有起止点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800100" y="2828925"/>
            <a:ext cx="54864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952500" y="2952750"/>
            <a:ext cx="5181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开始　→　闭环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800100" y="3305175"/>
            <a:ext cx="54864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952500" y="3429000"/>
            <a:ext cx="5181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首次咨询　→　有效回复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800100" y="3819525"/>
            <a:ext cx="54864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两段不同的时间，不能混着报；对象本步处理、人物下轮接收，还受到步长限制。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6781800" y="2314575"/>
            <a:ext cx="4800600" cy="1971675"/>
          </a:xfrm>
          <a:prstGeom prst="roundRect">
            <a:avLst>
              <a:gd name="adj" fmla="val 579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6972300" y="2505075"/>
            <a:ext cx="4419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未完成要留在分母里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6972300" y="2828925"/>
            <a:ext cx="44196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7124700" y="2952750"/>
            <a:ext cx="4114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截至截止时刻未完成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6972300" y="3343275"/>
            <a:ext cx="44196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不能删掉后只算成功者，也不能把截止时间填成完成时间。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6972300" y="3714750"/>
            <a:ext cx="44196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截止后事件时刻未知，涉及右删失。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609600" y="4438650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82" name=""/>
          <p:cNvSpPr/>
          <p:nvPr/>
        </p:nvSpPr>
        <p:spPr>
          <a:xfrm rot="0" flipH="0" flipV="0">
            <a:off x="800100" y="459105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971550" y="4648200"/>
            <a:ext cx="3962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资料调试记录保留；条件改动后，重新登记正式比较范围。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76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阅读准备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20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86" name="" descr="&lt;Slide notes={`最后一步，是把结论和材料对上。&#10;&#10;前面定了问题、资料和计数方式，接下来要给每一个主要判断配一个证据入口。说到抵达和绕行，就要拿已执行的移动和实际坐标作证；说到认识是否更正，就要有来源消息、有效记忆和真实检索；说到调用代价，就要翻出同一个 Run 里全部 Attempt 的记录。&#10;&#10;没有入口的判断，哪怕听起来再合理，也只能写在讨论里，不能写进结果。&#10;&#10;这一节最后还要把教案落实成可以独立复用的作者材料，让下一个人拿到就能装配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③　4.0.3 让每个结论都有证据入口&lt;/Text&gt;&#10;&#10;        &lt;Text style={{ fontSize: 56, fontWeight: 'bold', color: '#20344B', lineHeight: 1.15 }}&gt;让每个结论都有证据入口&lt;/Text&gt;&#10;&#10;        &lt;Box style={{ width: 72, height: 4, background: '#276FBF' }} /&gt;&#10;&#10;        &lt;Text style={{ fontSize: 18, color: '#546779', lineHeight: 1.7, width: 900 }}&gt;没有证据入口的判断，只能进讨论，不能进结果；教案也要落实成别人拿得走的作者材料。&lt;/Text&gt;&#10;&#10;        &lt;Box style={{ flexDirection: 'row', gap: 12, marginTop: 10 }}&gt;&#10;            &lt;Box style={{ width: 170, height: 56, background: '#F4F7FA', borderRadius: 8, justifyContent: 'center', alignItems: 'center' }}&gt;&#10;                &lt;Text style={{ fontSize: 14, color: '#546779' }}&gt;抵达、绕行&lt;/Text&gt;&#10;            &lt;/Box&gt;&#10;            &lt;Box style={{ width: 170, height: 56, background: '#EDF4FC', borderRadius: 8, justifyContent: 'center', alignItems: 'center' }}&gt;&#10;                &lt;Text style={{ fontSize: 14, color: '#276FBF' }}&gt;咨询正确&lt;/Text&gt;&#10;            &lt;/Box&gt;&#10;            &lt;Box style={{ width: 170, height: 56, background: '#F4F7FA', borderRadius: 8, justifyContent: 'center', alignItems: 'center' }}&gt;&#10;                &lt;Text style={{ fontSize: 14, color: '#546779' }}&gt;认识更正&lt;/Text&gt;&#10;            &lt;/Box&gt;&#10;            &lt;Box style={{ width: 170, height: 56, background: '#ECF7F2', borderRadius: 8, justifyContent: 'center', alignItems: 'center' }}&gt;&#10;                &lt;Text style={{ fontSize: 14, color: '#26816B' }}&gt;共同结论&lt;/Text&gt;&#10;            &lt;/Box&gt;&#10;            &lt;Box style={{ width: 170, height: 56, background: '#F4F7FA', borderRadius: 8, justifyContent: 'center', alignItems: 'center' }}&gt;&#10;                &lt;Text style={{ fontSize: 14, color: '#546779' }}&gt;对象变化&lt;/Text&gt;&#10;            &lt;/Box&gt;&#10;            &lt;Box style={{ width: 170, height: 56, background: '#FFF4E6', borderRadius: 8, justifyContent: 'center', alignItems: 'center' }}&gt;&#10;                &lt;Text style={{ fontSize: 14, color: '#CB6B28' }}&gt;调用代价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0 阅读准备&lt;/Text&gt;&#10;        &lt;Text style={{ fontSize: 14, color: '#546779' }}&gt;15 / 20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609600" y="18573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③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4.0.3 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让每个结论都有证据入口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609600" y="22383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让每个结论都有证据入口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609600" y="31908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609600" y="34385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没有证据入口的判断，只能进讨论，不能进结果；教案也要落实成别人拿得走的作者材料。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609600" y="4095750"/>
            <a:ext cx="1619250" cy="53340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1085850" y="4286250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抵达、绕行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2343150" y="4095750"/>
            <a:ext cx="161925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2886075" y="42862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咨询正确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4076700" y="4095750"/>
            <a:ext cx="1619250" cy="53340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4619625" y="42862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认识更正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5810250" y="4095750"/>
            <a:ext cx="161925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6353175" y="42862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共同结论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7543800" y="4095750"/>
            <a:ext cx="1619250" cy="53340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8086725" y="42862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对象变化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9277350" y="4095750"/>
            <a:ext cx="1619250" cy="533400"/>
          </a:xfrm>
          <a:prstGeom prst="roundRect">
            <a:avLst>
              <a:gd name="adj" fmla="val 1428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9820275" y="42862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调用代价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76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阅读准备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20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06" name="" descr="&lt;Slide notes={`六个主要判断，各有各的证据入口。&#10;&#10;抵达和绕行，看已执行的移动动作、实际坐标和地址。&#10;&#10;咨询是否正确，要同时看三段：请求、对象答复、人物实际接收与确认，缺一段都不算闭环。&#10;&#10;认识是否更正，看来源消息、有效记忆、替代关系和真实检索。&#10;&#10;共同结论，看双人消息、指定的最终陈述和条件核对。对象是否变化，看对象动作、状态补丁和已提交事实。&#10;&#10;调用代价最容易被漏掉：要看同一个 Run 里全部 Attempt 的逻辑调用、物理尝试、用量和失败。主要指标回答业务问题；时延、错误和成本用来解释取舍，不要把所有权重硬揉成一个总分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0.3　每个主要指标都要有证据入口&lt;/Text&gt;&#10;            &lt;Text style={{ fontSize: 34, fontWeight: 'bold', color: '#20344B' }}&gt;六个主要判断，六个证据入口&lt;/Text&gt;&#10;        &lt;/Box&gt;&#10;    &lt;/Box&gt;&#10;&#10;    &lt;Box style={{ height: 540, flexDirection: 'column', justifyContent: 'center', gap: 10 }}&gt;&#10;&#10;        &lt;Box style={{ flexDirection: 'row', padding: '0 18px', gap: 16 }}&gt;&#10;            &lt;Box style={{ width: 4 }} /&gt;&#10;            &lt;Box style={{ width: 200 }}&gt;&lt;Text style={{ fontSize: 14, color: '#546779' }}&gt;判断&lt;/Text&gt;&lt;/Box&gt;&#10;            &lt;Box style={{ flex: 1 }}&gt;&lt;Text style={{ fontSize: 14, color: '#546779' }}&gt;主要证据&lt;/Text&gt;&lt;/Box&gt;&#10;        &lt;/Box&gt;&#10;&#10;        &lt;Box style={{ flexDirection: 'row', height: 72, background: '#F4F7FA', borderRadius: 10, padding: '0 18px', alignItems: 'center', gap: 16 }}&gt;&#10;            &lt;Box style={{ width: 4, height: 40, background: '#276FBF' }} /&gt;&#10;            &lt;Box style={{ width: 200 }}&gt;&lt;Text style={{ fontSize: 17, fontWeight: 'bold', color: '#20344B' }}&gt;抵达、绕行&lt;/Text&gt;&lt;/Box&gt;&#10;            &lt;Box style={{ flex: 1 }}&gt;&lt;Text style={{ fontSize: 15, color: '#546779', lineHeight: 1.5 }}&gt;已执行 MOVE、实际坐标与地址&lt;/Text&gt;&lt;/Box&gt;&#10;        &lt;/Box&gt;&#10;&#10;        &lt;Box style={{ flexDirection: 'row', height: 72, background: '#EDF4FC', borderRadius: 10, padding: '0 18px', alignItems: 'center', gap: 16 }}&gt;&#10;            &lt;Box style={{ width: 4, height: 40, background: '#276FBF' }} /&gt;&#10;            &lt;Box style={{ width: 200 }}&gt;&lt;Text style={{ fontSize: 17, fontWeight: 'bold', color: '#276FBF' }}&gt;咨询正确&lt;/Text&gt;&lt;/Box&gt;&#10;            &lt;Box style={{ flex: 1 }}&gt;&lt;Text style={{ fontSize: 15, color: '#546779', lineHeight: 1.5 }}&gt;请求、对象答复、人物实际接收与确认&lt;/Text&gt;&lt;/Box&gt;&#10;        &lt;/Box&gt;&#10;&#10;        &lt;Box style={{ flexDirection: 'row', height: 72, background: '#F4F7FA', borderRadius: 10, padding: '0 18px', alignItems: 'center', gap: 16 }}&gt;&#10;            &lt;Box style={{ width: 4, height: 40, background: '#276FBF' }} /&gt;&#10;            &lt;Box style={{ width: 200 }}&gt;&lt;Text style={{ fontSize: 17, fontWeight: 'bold', color: '#20344B' }}&gt;认识更正&lt;/Text&gt;&lt;/Box&gt;&#10;            &lt;Box style={{ flex: 1 }}&gt;&lt;Text style={{ fontSize: 15, color: '#546779', lineHeight: 1.5 }}&gt;来源消息、有效记忆、替代关系、真实检索&lt;/Text&gt;&lt;/Box&gt;&#10;        &lt;/Box&gt;&#10;&#10;        &lt;Box style={{ flexDirection: 'row', height: 72, background: '#EDF4FC', borderRadius: 10, padding: '0 18px', alignItems: 'center', gap: 16 }}&gt;&#10;            &lt;Box style={{ width: 4, height: 40, background: '#276FBF' }} /&gt;&#10;            &lt;Box style={{ width: 200 }}&gt;&lt;Text style={{ fontSize: 17, fontWeight: 'bold', color: '#276FBF' }}&gt;共同结论&lt;/Text&gt;&lt;/Box&gt;&#10;            &lt;Box style={{ flex: 1 }}&gt;&lt;Text style={{ fontSize: 15, color: '#546779', lineHeight: 1.5 }}&gt;双人消息、指定最终陈述、条件核对&lt;/Text&gt;&lt;/Box&gt;&#10;        &lt;/Box&gt;&#10;&#10;        &lt;Box style={{ flexDirection: 'row', height: 72, background: '#F4F7FA', borderRadius: 10, padding: '0 18px', alignItems: 'center', gap: 16 }}&gt;&#10;            &lt;Box style={{ width: 4, height: 40, background: '#276FBF' }} /&gt;&#10;            &lt;Box style={{ width: 200 }}&gt;&lt;Text style={{ fontSize: 17, fontWeight: 'bold', color: '#20344B' }}&gt;对象变化&lt;/Text&gt;&lt;/Box&gt;&#10;            &lt;Box style={{ flex: 1 }}&gt;&lt;Text style={{ fontSize: 15, color: '#546779', lineHeight: 1.5 }}&gt;对象动作、状态补丁、已提交事实&lt;/Text&gt;&lt;/Box&gt;&#10;        &lt;/Box&gt;&#10;&#10;        &lt;Box style={{ flexDirection: 'row', height: 72, background: '#FFF4E6', borderRadius: 10, padding: '0 18px', alignItems: 'center', gap: 16 }}&gt;&#10;            &lt;Box style={{ width: 4, height: 40, background: '#CB6B28' }} /&gt;&#10;            &lt;Box style={{ width: 200 }}&gt;&lt;Text style={{ fontSize: 17, fontWeight: 'bold', color: '#CB6B28' }}&gt;调用代价&lt;/Text&gt;&lt;/Box&gt;&#10;            &lt;Box style={{ flex: 1 }}&gt;&lt;Text style={{ fontSize: 15, color: '#546779', lineHeight: 1.5 }}&gt;同一 Run 全部 Attempt 的逻辑调用、物理尝试、用量与失败&lt;/Text&gt;&lt;/Box&gt;&#10;        &lt;/Box&gt;&#10;&#10;    &lt;/Box&gt;&#10;&#10;    &lt;Box style={{ height: 40, flexDirection: 'row', justifyContent: 'space-between', alignItems: 'center' }}&gt;&#10;        &lt;Text style={{ fontSize: 14, color: '#546779' }}&gt;4.0 阅读准备&lt;/Text&gt;&#10;        &lt;Text style={{ fontSize: 14, color: '#546779' }}&gt;16 / 20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4.0.3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每个主要指标都要有证据入口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六个主要判断，六个证据入口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971550" y="1295400"/>
            <a:ext cx="190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判断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3028950" y="1295400"/>
            <a:ext cx="838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主要证据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609600" y="1552575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14" name=""/>
          <p:cNvSpPr/>
          <p:nvPr/>
        </p:nvSpPr>
        <p:spPr>
          <a:xfrm rot="0" flipH="0" flipV="0">
            <a:off x="781050" y="170497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971550" y="1800225"/>
            <a:ext cx="190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抵达、绕行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3028950" y="1771650"/>
            <a:ext cx="8382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已执行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MOVE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、实际坐标与地址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609600" y="2333625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18" name=""/>
          <p:cNvSpPr/>
          <p:nvPr/>
        </p:nvSpPr>
        <p:spPr>
          <a:xfrm rot="0" flipH="0" flipV="0">
            <a:off x="781050" y="248602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971550" y="2581275"/>
            <a:ext cx="190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咨询正确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3028950" y="2552700"/>
            <a:ext cx="8382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请求、对象答复、人物实际接收与确认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609600" y="3114675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22" name=""/>
          <p:cNvSpPr/>
          <p:nvPr/>
        </p:nvSpPr>
        <p:spPr>
          <a:xfrm rot="0" flipH="0" flipV="0">
            <a:off x="781050" y="326707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971550" y="3362325"/>
            <a:ext cx="190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认识更正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3028950" y="3333750"/>
            <a:ext cx="8382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来源消息、有效记忆、替代关系、真实检索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609600" y="3895725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26" name=""/>
          <p:cNvSpPr/>
          <p:nvPr/>
        </p:nvSpPr>
        <p:spPr>
          <a:xfrm rot="0" flipH="0" flipV="0">
            <a:off x="781050" y="404812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971550" y="4143375"/>
            <a:ext cx="190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共同结论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3028950" y="4114800"/>
            <a:ext cx="8382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双人消息、指定最终陈述、条件核对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609600" y="4676775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30" name=""/>
          <p:cNvSpPr/>
          <p:nvPr/>
        </p:nvSpPr>
        <p:spPr>
          <a:xfrm rot="0" flipH="0" flipV="0">
            <a:off x="781050" y="482917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971550" y="4924425"/>
            <a:ext cx="190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对象变化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3028950" y="4895850"/>
            <a:ext cx="8382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对象动作、状态补丁、已提交事实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609600" y="5457825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34" name=""/>
          <p:cNvSpPr/>
          <p:nvPr/>
        </p:nvSpPr>
        <p:spPr>
          <a:xfrm rot="0" flipH="0" flipV="0">
            <a:off x="781050" y="5610225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971550" y="5705475"/>
            <a:ext cx="190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调用代价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3028950" y="5676900"/>
            <a:ext cx="8382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同一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全部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Attempt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的逻辑调用、物理尝试、用量与失败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76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阅读准备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20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39" name="" descr="&lt;Slide notes={`语义判分不要只写对错。&#10;&#10;先为成立、不成立、部分成立和无法判断各写一个例子，把边界说清楚，后面判起来才有依据。&quot;部分成立&quot;这一档尤其重要，它逼你说出究竟满足的是哪一部分判据。&#10;&#10;重要的样本可以请两位评阅者独立评分，分歧保留下来，不要强行合并掉。&#10;&#10;用模型辅助评分也可以，但必须记录用的是哪个模型、输入是什么、规则是什么，关键分歧仍然要人工复核。&#10;&#10;最后提醒一句：主要指标回答业务问题，时延、错误和成本用来解释取舍，不要把所有指标硬揉成一个总分，那样反而看不出问题在哪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0.3　语义判分与评阅分歧&lt;/Text&gt;&#10;            &lt;Text style={{ fontSize: 34, fontWeight: 'bold', color: '#20344B' }}&gt;判分先写清四种结果，分歧要保留&lt;/Text&gt;&#10;        &lt;/Box&gt;&#10;    &lt;/Box&gt;&#10;&#10;    &lt;Box style={{ height: 540, flexDirection: 'row', alignItems: 'center', gap: 36 }}&gt;&#10;&#10;        &lt;Box style={{ width: 460, flexDirection: 'column', gap: 14 }}&gt;&#10;            &lt;Text style={{ fontSize: 20, fontWeight: 'bold', color: '#20344B', lineHeight: 1.4 }}&gt;先写例子，再开始判&lt;/Text&gt;&#10;            &lt;Text style={{ fontSize: 16, color: '#546779', lineHeight: 1.75 }}&gt;四档边界各写一个例子。重要样本可由两位评阅者独立评分，保留分歧；模型辅助评分也须记录模型、输入和规则，人工复核关键分歧。&lt;/Text&gt;&#10;            &lt;Box style={{ background: '#F4F7FA', borderRadius: 10, padding: '14px 18px' }}&gt;&#10;                &lt;Text style={{ fontSize: 15, color: '#546779', lineHeight: 1.65 }}&gt;主要指标回答业务问题；时延、错误和成本解释取舍，不将所有指标强行揉成总分。&lt;/Text&gt;&#10;            &lt;/Box&gt;&#10;        &lt;/Box&gt;&#10;&#10;        &lt;Box style={{ width: 656, flexDirection: 'column', gap: 10 }}&gt;&#10;&#10;            &lt;Box style={{ flexDirection: 'row', height: 68, background: '#ECF7F2', borderRadius: 10, padding: '0 18px', alignItems: 'center', gap: 14 }}&gt;&#10;                &lt;Box style={{ width: 110, height: 40, background: '#26816B', borderRadius: 8, justifyContent: 'center', alignItems: 'center' }}&gt;&#10;                    &lt;Text style={{ fontSize: 15, fontWeight: 'bold', color: '#FFFFFF' }}&gt;成立&lt;/Text&gt;&#10;                &lt;/Box&gt;&#10;                &lt;Box style={{ flex: 1 }}&gt;&lt;Text style={{ fontSize: 15, color: '#546779', lineHeight: 1.5 }}&gt;判据全部满足，证据链完整&lt;/Text&gt;&lt;/Box&gt;&#10;            &lt;/Box&gt;&#10;&#10;            &lt;Box style={{ flexDirection: 'row', height: 68, background: '#F4F7FA', borderRadius: 10, padding: '0 18px', alignItems: 'center', gap: 14 }}&gt;&#10;                &lt;Box style={{ width: 110, height: 40, background: '#546779', borderRadius: 8, justifyContent: 'center', alignItems: 'center' }}&gt;&#10;                    &lt;Text style={{ fontSize: 15, fontWeight: 'bold', color: '#FFFFFF' }}&gt;不成立&lt;/Text&gt;&#10;                &lt;/Box&gt;&#10;                &lt;Box style={{ flex: 1 }}&gt;&lt;Text style={{ fontSize: 15, color: '#546779', lineHeight: 1.5 }}&gt;关键判据未满足，或所需证据缺失&lt;/Text&gt;&lt;/Box&gt;&#10;            &lt;/Box&gt;&#10;&#10;            &lt;Box style={{ flexDirection: 'row', height: 68, background: '#EDF4FC', borderRadius: 10, padding: '0 18px', alignItems: 'center', gap: 14 }}&gt;&#10;                &lt;Box style={{ width: 110, height: 40, background: '#276FBF', borderRadius: 8, justifyContent: 'center', alignItems: 'center' }}&gt;&#10;                    &lt;Text style={{ fontSize: 15, fontWeight: 'bold', color: '#FFFFFF' }}&gt;部分成立&lt;/Text&gt;&#10;                &lt;/Box&gt;&#10;                &lt;Box style={{ flex: 1 }}&gt;&lt;Text style={{ fontSize: 15, color: '#546779', lineHeight: 1.5 }}&gt;只满足部分判据，写明是哪一部分&lt;/Text&gt;&lt;/Box&gt;&#10;            &lt;/Box&gt;&#10;&#10;            &lt;Box style={{ flexDirection: 'row', height: 68, background: '#FFF4E6', borderRadius: 10, padding: '0 18px', alignItems: 'center', gap: 14 }}&gt;&#10;                &lt;Box style={{ width: 110, height: 40, background: '#CB6B28', borderRadius: 8, justifyContent: 'center', alignItems: 'center' }}&gt;&#10;                    &lt;Text style={{ fontSize: 15, fontWeight: 'bold', color: '#FFFFFF' }}&gt;无法判断&lt;/Text&gt;&#10;                &lt;/Box&gt;&#10;                &lt;Box style={{ flex: 1 }}&gt;&lt;Text style={{ fontSize: 15, color: '#CB6B28', lineHeight: 1.5 }}&gt;证据不足或互相矛盾，不作结论&lt;/Text&gt;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0 阅读准备&lt;/Text&gt;&#10;        &lt;Text style={{ fontSize: 14, color: '#546779' }}&gt;17 / 20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85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4.0.3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语义判分与评阅分歧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判分先写清四种结果，分歧要保留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609600" y="2524125"/>
            <a:ext cx="438150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先写例子，再开始判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609600" y="2981325"/>
            <a:ext cx="4381500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四档边界各写一个例子。重要样本可由两位评阅者独立评分，保留分歧；模型辅助评分也须记录模型、输入和规则，人工复核关键分歧。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609600" y="4076700"/>
            <a:ext cx="43815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781050" y="4210050"/>
            <a:ext cx="40386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主要指标回答业务问题；时延、错误和成本解释取舍，不将所有指标强行揉成总分。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5334000" y="2276475"/>
            <a:ext cx="6248400" cy="647700"/>
          </a:xfrm>
          <a:prstGeom prst="roundRect">
            <a:avLst>
              <a:gd name="adj" fmla="val 1470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49" name=""/>
          <p:cNvSpPr/>
          <p:nvPr/>
        </p:nvSpPr>
        <p:spPr>
          <a:xfrm rot="0" flipH="0" flipV="0">
            <a:off x="5505450" y="2409825"/>
            <a:ext cx="1047750" cy="381000"/>
          </a:xfrm>
          <a:prstGeom prst="roundRect">
            <a:avLst>
              <a:gd name="adj" fmla="val 2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5886450" y="251460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成立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6686550" y="2476500"/>
            <a:ext cx="4724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判据全部满足，证据链完整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5334000" y="3019425"/>
            <a:ext cx="6248400" cy="647700"/>
          </a:xfrm>
          <a:prstGeom prst="roundRect">
            <a:avLst>
              <a:gd name="adj" fmla="val 1470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53" name=""/>
          <p:cNvSpPr/>
          <p:nvPr/>
        </p:nvSpPr>
        <p:spPr>
          <a:xfrm rot="0" flipH="0" flipV="0">
            <a:off x="5505450" y="3152775"/>
            <a:ext cx="1047750" cy="381000"/>
          </a:xfrm>
          <a:prstGeom prst="roundRect">
            <a:avLst>
              <a:gd name="adj" fmla="val 20000"/>
            </a:avLst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5819775" y="325755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不成立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6686550" y="3219450"/>
            <a:ext cx="4724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关键判据未满足，或所需证据缺失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5334000" y="3762375"/>
            <a:ext cx="6248400" cy="647700"/>
          </a:xfrm>
          <a:prstGeom prst="roundRect">
            <a:avLst>
              <a:gd name="adj" fmla="val 1470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57" name=""/>
          <p:cNvSpPr/>
          <p:nvPr/>
        </p:nvSpPr>
        <p:spPr>
          <a:xfrm rot="0" flipH="0" flipV="0">
            <a:off x="5505450" y="3895725"/>
            <a:ext cx="104775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5743575" y="40005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部分成立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6686550" y="3962400"/>
            <a:ext cx="4724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只满足部分判据，写明是哪一部分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5334000" y="4505325"/>
            <a:ext cx="6248400" cy="647700"/>
          </a:xfrm>
          <a:prstGeom prst="roundRect">
            <a:avLst>
              <a:gd name="adj" fmla="val 1470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61" name=""/>
          <p:cNvSpPr/>
          <p:nvPr/>
        </p:nvSpPr>
        <p:spPr>
          <a:xfrm rot="0" flipH="0" flipV="0">
            <a:off x="5505450" y="4638675"/>
            <a:ext cx="1047750" cy="381000"/>
          </a:xfrm>
          <a:prstGeom prst="roundRect">
            <a:avLst>
              <a:gd name="adj" fmla="val 20000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5743575" y="47434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无法判断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6686550" y="4705350"/>
            <a:ext cx="4724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证据不足或互相矛盾，不作结论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76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阅读准备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20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66" name="" descr="&lt;Slide notes={`有三件事必须分开看：实验的 Run 状态、系统本身的质量，以及业务分数。&#10;&#10;Run 状态说的是这次实验跑完没跑完，它是一条流程记录。系统质量看的是权限、请求、路径、提交和恢复身份这些环节正不正常。业务分数看的是任务、访客、关键事实这一层实际做到了什么，它来自判分表。&#10;&#10;最容易写错的两句是：状态显示完成，不代表任务真的完成了；状态显示未评估，也不代表通过。写完报告一定要回头核对这两条。&#10;&#10;本章的评分表是人工或独立分析材料，不宣称业务 Evaluator 已经自动执行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0.3　报告里最容易写错的两句&lt;/Text&gt;&#10;            &lt;Text style={{ fontSize: 34, fontWeight: 'bold', color: '#20344B' }}&gt;Run 状态、系统质量与业务分数分开看&lt;/Text&gt;&#10;        &lt;/Box&gt;&#10;    &lt;/Box&gt;&#10;&#10;    &lt;Box style={{ height: 540, flexDirection: 'column', justifyContent: 'center', gap: 12 }}&gt;&#10;&#10;        &lt;Box style={{ flexDirection: 'row', padding: '0 18px', gap: 16 }}&gt;&#10;            &lt;Box style={{ width: 200 }}&gt;&lt;Text style={{ fontSize: 14, color: '#546779' }}&gt;分开看的三件事&lt;/Text&gt;&lt;/Box&gt;&#10;            &lt;Box style={{ flex: 1 }}&gt;&lt;Text style={{ fontSize: 14, color: '#546779' }}&gt;它回答什么问题&lt;/Text&gt;&lt;/Box&gt;&#10;        &lt;/Box&gt;&#10;&#10;        &lt;Box style={{ flexDirection: 'row', height: 88, background: '#F4F7FA', borderRadius: 10, padding: '0 18px', alignItems: 'center', gap: 16 }}&gt;&#10;            &lt;Box style={{ width: 200 }}&gt;&lt;Text style={{ fontSize: 18, fontWeight: 'bold', color: '#20344B' }}&gt;Run 状态&lt;/Text&gt;&lt;/Box&gt;&#10;            &lt;Box style={{ flex: 1 }}&gt;&lt;Text style={{ fontSize: 16, color: '#546779', lineHeight: 1.6 }}&gt;这次实验跑完没跑完，是一条流程记录&lt;/Text&gt;&lt;/Box&gt;&#10;        &lt;/Box&gt;&#10;&#10;        &lt;Box style={{ flexDirection: 'row', height: 88, background: '#EDF4FC', borderRadius: 10, padding: '0 18px', alignItems: 'center', gap: 16 }}&gt;&#10;            &lt;Box style={{ width: 200 }}&gt;&lt;Text style={{ fontSize: 18, fontWeight: 'bold', color: '#276FBF' }}&gt;系统质量&lt;/Text&gt;&lt;/Box&gt;&#10;            &lt;Box style={{ flex: 1 }}&gt;&lt;Text style={{ fontSize: 16, color: '#546779', lineHeight: 1.6 }}&gt;权限、请求、路径、提交与恢复身份是否正常&lt;/Text&gt;&lt;/Box&gt;&#10;        &lt;/Box&gt;&#10;&#10;        &lt;Box style={{ flexDirection: 'row', height: 88, background: '#ECF7F2', borderRadius: 10, padding: '0 18px', alignItems: 'center', gap: 16 }}&gt;&#10;            &lt;Box style={{ width: 200 }}&gt;&lt;Text style={{ fontSize: 18, fontWeight: 'bold', color: '#26816B' }}&gt;业务分数&lt;/Text&gt;&lt;/Box&gt;&#10;            &lt;Box style={{ flex: 1 }}&gt;&lt;Text style={{ fontSize: 16, color: '#546779', lineHeight: 1.6 }}&gt;任务、访客、关键事实这一层实际做到了什么，来自判分表&lt;/Text&gt;&lt;/Box&gt;&#10;        &lt;/Box&gt;&#10;&#10;        &lt;Box style={{ flexDirection: 'row', background: '#FFF4E6', borderRadius: 10, padding: '18px 22px', alignItems: 'center', gap: 16 }}&gt;&#10;            &lt;Box style={{ width: 4, height: 64, background: '#CB6B28' }} /&gt;&#10;            &lt;Box style={{ flex: 1, flexDirection: 'column', gap: 6 }}&gt;&#10;                &lt;Text style={{ fontSize: 19, fontWeight: 'bold', color: '#CB6B28' }}&gt;COMPLETED ≠ 任务完成，NOT_EVALUATED ≠ 通过&lt;/Text&gt;&#10;                &lt;Text style={{ fontSize: 16, color: '#546779', lineHeight: 1.65 }}&gt;本章评分表是人工或独立分析材料，不宣称业务 Evaluator 已自动执行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0 阅读准备&lt;/Text&gt;&#10;        &lt;Text style={{ fontSize: 14, color: '#546779' }}&gt;18 / 20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5600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4.0.3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报告里最容易写错的两句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56007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状态、系统质量与业务分数分开看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781050" y="1676400"/>
            <a:ext cx="190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分开看的三件事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2838450" y="1676400"/>
            <a:ext cx="857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它回答什么问题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609600" y="1952625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781050" y="2266950"/>
            <a:ext cx="1905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状态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2838450" y="2228850"/>
            <a:ext cx="85725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这次实验跑完没跑完，是一条流程记录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609600" y="2905125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781050" y="3219450"/>
            <a:ext cx="1905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系统质量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2838450" y="3181350"/>
            <a:ext cx="85725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权限、请求、路径、提交与恢复身份是否正常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609600" y="3857625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781050" y="4171950"/>
            <a:ext cx="1905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业务分数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2838450" y="4133850"/>
            <a:ext cx="85725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任务、访客、关键事实这一层实际做到了什么，来自判分表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609600" y="4810125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83" name=""/>
          <p:cNvSpPr/>
          <p:nvPr/>
        </p:nvSpPr>
        <p:spPr>
          <a:xfrm rot="0" flipH="0" flipV="0">
            <a:off x="819150" y="4981575"/>
            <a:ext cx="38100" cy="6096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1009650" y="5000625"/>
            <a:ext cx="10363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COMPLETED ≠ </a:t>
            </a: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任务完成，</a:t>
            </a:r>
            <a:r>
              <a:rPr lang="en-US" sz="142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NOT_EVALUATED ≠ </a:t>
            </a: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通过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1009650" y="5276850"/>
            <a:ext cx="10363200" cy="3048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本章评分表是人工或独立分析材料，不宣称业务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Evaluator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已自动执行。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76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阅读准备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20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288" name="" descr="&lt;Slide notes={`最后把教案落实成能用的材料，一共四步。&#10;&#10;第一，每个案例独立保存 map、agents、skill、settings 和 verification，把正文里的事实与 SOP 片段落实成完整资源。&#10;&#10;第二，按第三章的流程，通过浏览器上传、绑定、装配、保存、预检、封存和运行。这篇文章本身不是可以导入的实验包，它只负责把条件和判据说清楚。&#10;&#10;第三，发现实际问题时，登记入口、动作、预期与实际、以及对应的 Experiment、Run、Attempt、Step 和证据，并按逐问题的规则停止相应的验收。合理拒绝、静态不可达和业务失败要分别解释。&#10;&#10;第四，用实验计划开题，用报告模板交付全部结果和局限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0.3　从教案到作者材料&lt;/Text&gt;&#10;            &lt;Text style={{ fontSize: 34, fontWeight: 'bold', color: '#20344B' }}&gt;把教案落实为可以运行的作者材料&lt;/Text&gt;&#10;        &lt;/Box&gt;&#10;    &lt;/Box&gt;&#10;&#10;    &lt;Box style={{ height: 540, flexDirection: 'row', alignItems: 'center', gap: 36 }}&gt;&#10;&#10;        &lt;Box style={{ width: 400, flexDirection: 'column', gap: 14 }}&gt;&#10;            &lt;Text style={{ fontSize: 20, fontWeight: 'bold', color: '#20344B', lineHeight: 1.4 }}&gt;正文说清条件，资源包才谈得上运行&lt;/Text&gt;&#10;            &lt;Text style={{ fontSize: 16, color: '#546779', lineHeight: 1.75 }}&gt;材料描述可借鉴 ODD 对目的、实体、尺度、过程、初态与输入的写法，但本章不是完整 ODD 认证，也不替换本项目文件合同。&lt;/Text&gt;&#10;            &lt;Box style={{ background: '#FFF4E6', borderRadius: 10, padding: '14px 18px' }}&gt;&#10;                &lt;Text style={{ fontSize: 15, color: '#CB6B28', lineHeight: 1.65 }}&gt;本文不是可导入实验包；八个案例尚无实测效果、成本或成功率可供引用。&lt;/Text&gt;&#10;            &lt;/Box&gt;&#10;        &lt;/Box&gt;&#10;&#10;        &lt;Box style={{ width: 716, flexDirection: 'column', gap: 12 }}&gt;&#10;&#10;            &lt;Box style={{ flexDirection: 'row', height: 88, background: '#F4F7FA', borderRadius: 10, padding: '0 18px', alignItems: 'center', gap: 16 }}&gt;&#10;                &lt;Box style={{ width: 40, height: 40, background: '#276FBF', borderRadius: 8, justifyContent: 'center', alignItems: 'center' }}&gt;&#10;                    &lt;Text style={{ fontSize: 18, fontWeight: 'bold', color: '#FFFFFF' }}&gt;1&lt;/Text&gt;&#10;                &lt;/Box&gt;&#10;                &lt;Box style={{ flex: 1, flexDirection: 'column', gap: 3 }}&gt;&#10;                    &lt;Text style={{ fontSize: 16, fontWeight: 'bold', color: '#20344B' }}&gt;每案独立保存五类资源&lt;/Text&gt;&#10;                    &lt;Text style={{ fontSize: 14, color: '#546779', lineHeight: 1.5 }}&gt;map / agents / skill / settings / verification；把事实与 SOP 片段落实为完整资源。&lt;/Text&gt;&#10;                &lt;/Box&gt;&#10;            &lt;/Box&gt;&#10;&#10;            &lt;Box style={{ flexDirection: 'row', height: 88, background: '#EDF4FC', borderRadius: 10, padding: '0 18px', alignItems: 'center', gap: 16 }}&gt;&#10;                &lt;Box style={{ width: 40, height: 40, background: '#276FBF', borderRadius: 8, justifyContent: 'center', alignItems: 'center' }}&gt;&#10;                    &lt;Text style={{ fontSize: 18, fontWeight: 'bold', color: '#FFFFFF' }}&gt;2&lt;/Text&gt;&#10;                &lt;/Box&gt;&#10;                &lt;Box style={{ flex: 1, flexDirection: 'column', gap: 3 }}&gt;&#10;                    &lt;Text style={{ fontSize: 16, fontWeight: 'bold', color: '#276FBF' }}&gt;按第三章流程装配&lt;/Text&gt;&#10;                    &lt;Text style={{ fontSize: 14, color: '#546779', lineHeight: 1.5 }}&gt;上传、绑定、装配、保存、预检、封存和运行。&lt;/Text&gt;&#10;                &lt;/Box&gt;&#10;            &lt;/Box&gt;&#10;&#10;            &lt;Box style={{ flexDirection: 'row', height: 88, background: '#F4F7FA', borderRadius: 10, padding: '0 18px', alignItems: 'center', gap: 16 }}&gt;&#10;                &lt;Box style={{ width: 40, height: 40, background: '#276FBF', borderRadius: 8, justifyContent: 'center', alignItems: 'center' }}&gt;&#10;                    &lt;Text style={{ fontSize: 18, fontWeight: 'bold', color: '#FFFFFF' }}&gt;3&lt;/Text&gt;&#10;                &lt;/Box&gt;&#10;                &lt;Box style={{ flex: 1, flexDirection: 'column', gap: 3 }}&gt;&#10;                    &lt;Text style={{ fontSize: 16, fontWeight: 'bold', color: '#20344B' }}&gt;逐问题登记，分别解释失败&lt;/Text&gt;&#10;                    &lt;Text style={{ fontSize: 14, color: '#546779', lineHeight: 1.5 }}&gt;登记入口、动作、预期／实际、Experiment／Run／Attempt／Step 和证据；合理拒绝、静态不可达、业务失败分别解释。&lt;/Text&gt;&#10;                &lt;/Box&gt;&#10;            &lt;/Box&gt;&#10;&#10;            &lt;Box style={{ flexDirection: 'row', height: 88, background: '#ECF7F2', borderRadius: 10, padding: '0 18px', alignItems: 'center', gap: 16 }}&gt;&#10;                &lt;Box style={{ width: 40, height: 40, background: '#26816B', borderRadius: 8, justifyContent: 'center', alignItems: 'center' }}&gt;&#10;                    &lt;Text style={{ fontSize: 18, fontWeight: 'bold', color: '#FFFFFF' }}&gt;4&lt;/Text&gt;&#10;                &lt;/Box&gt;&#10;                &lt;Box style={{ flex: 1, flexDirection: 'column', gap: 3 }}&gt;&#10;                    &lt;Text style={{ fontSize: 16, fontWeight: 'bold', color: '#26816B' }}&gt;用计划开题，用模板交付&lt;/Text&gt;&#10;                    &lt;Text style={{ fontSize: 14, color: '#546779', lineHeight: 1.5 }}&gt;用实验计划开题，用报告模板交付全部结果和局限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0 阅读准备&lt;/Text&gt;&#10;        &lt;Text style={{ fontSize: 14, color: '#546779' }}&gt;19 / 20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85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4.0.3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从教案到作者材料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把教案落实为可以运行的作者材料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609600" y="2524125"/>
            <a:ext cx="381000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正文说清条件，资源包才谈得上运行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609600" y="2981325"/>
            <a:ext cx="3810000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材料描述可借鉴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ODD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对目的、实体、尺度、过程、初态与输入的写法，但本章不是完整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ODD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认证，也不替换本项目文件合同。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609600" y="4076700"/>
            <a:ext cx="3810000" cy="838200"/>
          </a:xfrm>
          <a:prstGeom prst="roundRect">
            <a:avLst>
              <a:gd name="adj" fmla="val 1136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781050" y="4210050"/>
            <a:ext cx="34671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本文不是可导入实验包；八个案例尚无实测效果、成本或成功率可供引用。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4762500" y="1866900"/>
            <a:ext cx="68199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98" name=""/>
          <p:cNvSpPr/>
          <p:nvPr/>
        </p:nvSpPr>
        <p:spPr>
          <a:xfrm rot="0" flipH="0" flipV="0">
            <a:off x="4933950" y="20955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5067300" y="218122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5467350" y="2057400"/>
            <a:ext cx="5943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每案独立保存五类资源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5467350" y="2276475"/>
            <a:ext cx="5943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map / agents / skill / settings / verification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；把事实与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SOP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片段落实为完整资源。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4762500" y="2819400"/>
            <a:ext cx="6819900" cy="838200"/>
          </a:xfrm>
          <a:prstGeom prst="roundRect">
            <a:avLst>
              <a:gd name="adj" fmla="val 1136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03" name=""/>
          <p:cNvSpPr/>
          <p:nvPr/>
        </p:nvSpPr>
        <p:spPr>
          <a:xfrm rot="0" flipH="0" flipV="0">
            <a:off x="4933950" y="30480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5067300" y="313372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5467350" y="3009900"/>
            <a:ext cx="5943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按第三章流程装配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5467350" y="3228975"/>
            <a:ext cx="5943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上传、绑定、装配、保存、预检、封存和运行。</a:t>
            </a:r>
            <a:endParaRPr/>
          </a:p>
        </p:txBody>
      </p:sp>
      <p:sp>
        <p:nvSpPr>
          <p:cNvPr id="307" name=""/>
          <p:cNvSpPr/>
          <p:nvPr/>
        </p:nvSpPr>
        <p:spPr>
          <a:xfrm rot="0" flipH="0" flipV="0">
            <a:off x="4762500" y="3771900"/>
            <a:ext cx="68199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08" name=""/>
          <p:cNvSpPr/>
          <p:nvPr/>
        </p:nvSpPr>
        <p:spPr>
          <a:xfrm rot="0" flipH="0" flipV="0">
            <a:off x="4933950" y="40005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5067300" y="408622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5467350" y="3838575"/>
            <a:ext cx="5943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逐问题登记，分别解释失败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5467350" y="4057650"/>
            <a:ext cx="59436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登记入口、动作、预期／实际、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Experiment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／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Run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／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Attempt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／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Step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和证据；合理拒绝、静态不可达、业务失败分别解释。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4762500" y="4724400"/>
            <a:ext cx="6819900" cy="838200"/>
          </a:xfrm>
          <a:prstGeom prst="roundRect">
            <a:avLst>
              <a:gd name="adj" fmla="val 1136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13" name=""/>
          <p:cNvSpPr/>
          <p:nvPr/>
        </p:nvSpPr>
        <p:spPr>
          <a:xfrm rot="0" flipH="0" flipV="0">
            <a:off x="4933950" y="49530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5067300" y="503872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5467350" y="4914900"/>
            <a:ext cx="5943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用计划开题，用模板交付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5467350" y="5133975"/>
            <a:ext cx="5943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用实验计划开题，用报告模板交付全部结果和局限。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76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阅读准备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20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45" name="" descr="&lt;Slide notes={`这一节留三个问题，读后面九个案例的时候随时回来问。&#10;&#10;第一，我提的这个问题能被结果推翻吗？如果跑出任何结果都能解释过去，那它就还不是一个问题。&#10;&#10;第二，两组之间的差异，是不是只差一处，而且已经登记在案？改动写不出来、存不下来，结果就没法归因。&#10;&#10;第三，我报出来的结论，停在哪一层证据上？是系统机制、本次模型行为，还是现实应用效果。&#10;&#10;把这三句话问完，再看案例里的图表和评分表，就知道该信到哪里为止。也别忘了，本章八个案例目前都是虚构教案，还没有实际运行结果。`} style={{ width: 1280, height: 720, background: '#FFFFFF', flexDirection: 'column', padding: '20px 64px' }}&gt;&#10;&#10;    &lt;Box style={{ height: 640, flexDirection: 'column', justifyContent: 'center', gap: 18 }}&gt;&#10;&#10;        &lt;Text style={{ fontSize: 15, color: '#276FBF' }}&gt;4.0 阅读准备　·　带进后面九个案例&lt;/Text&gt;&#10;&#10;        &lt;Text style={{ fontSize: 44, fontWeight: 'bold', color: '#20344B', lineHeight: 1.2 }}&gt;记住三句自检&lt;/Text&gt;&#10;&#10;        &lt;Box style={{ width: 72, height: 4, background: '#276FBF' }} /&gt;&#10;&#10;        &lt;Box style={{ flexDirection: 'row', background: '#EDF4FC', borderRadius: 10, padding: '14px 20px', alignItems: 'center', gap: 16 }}&gt;&#10;            &lt;Box style={{ width: 44, height: 44, background: '#276FBF', borderRadius: 8, justifyContent: 'center', alignItems: 'center' }}&gt;&#10;                &lt;Text style={{ fontSize: 20, fontWeight: 'bold', color: '#FFFFFF' }}&gt;1&lt;/Text&gt;&#10;            &lt;/Box&gt;&#10;            &lt;Box style={{ flex: 1, flexDirection: 'column', gap: 3 }}&gt;&#10;                &lt;Text style={{ fontSize: 19, fontWeight: 'bold', color: '#20344B' }}&gt;这个问题能被结果推翻吗？&lt;/Text&gt;&#10;                &lt;Text style={{ fontSize: 15, color: '#546779' }}&gt;跑出任何结果都能解释过去，它就还不是一个问题&lt;/Text&gt;&#10;            &lt;/Box&gt;&#10;        &lt;/Box&gt;&#10;&#10;        &lt;Box style={{ flexDirection: 'row', background: '#ECF7F2', borderRadius: 10, padding: '14px 20px', alignItems: 'center', gap: 16 }}&gt;&#10;            &lt;Box style={{ width: 44, height: 44, background: '#26816B', borderRadius: 8, justifyContent: 'center', alignItems: 'center' }}&gt;&#10;                &lt;Text style={{ fontSize: 20, fontWeight: 'bold', color: '#FFFFFF' }}&gt;2&lt;/Text&gt;&#10;            &lt;/Box&gt;&#10;            &lt;Box style={{ flex: 1, flexDirection: 'column', gap: 3 }}&gt;&#10;                &lt;Text style={{ fontSize: 19, fontWeight: 'bold', color: '#20344B' }}&gt;两组之间只差一处吗？&lt;/Text&gt;&#10;                &lt;Text style={{ fontSize: 15, color: '#546779' }}&gt;差异要写得出来、存得下来，才能归因到这一处&lt;/Text&gt;&#10;            &lt;/Box&gt;&#10;        &lt;/Box&gt;&#10;&#10;        &lt;Box style={{ flexDirection: 'row', background: '#FFF4E6', borderRadius: 10, padding: '14px 20px', alignItems: 'center', gap: 16 }}&gt;&#10;            &lt;Box style={{ width: 44, height: 44, background: '#CB6B28', borderRadius: 8, justifyContent: 'center', alignItems: 'center' }}&gt;&#10;                &lt;Text style={{ fontSize: 20, fontWeight: 'bold', color: '#FFFFFF' }}&gt;3&lt;/Text&gt;&#10;            &lt;/Box&gt;&#10;            &lt;Box style={{ flex: 1, flexDirection: 'column', gap: 3 }}&gt;&#10;                &lt;Text style={{ fontSize: 19, fontWeight: 'bold', color: '#20344B' }}&gt;结论停在哪一层证据上？&lt;/Text&gt;&#10;                &lt;Text style={{ fontSize: 15, color: '#546779' }}&gt;系统机制、本次模型行为，还是现实应用效果&lt;/Text&gt;&#10;            &lt;/Box&gt;&#10;        &lt;/Box&gt;&#10;&#10;        &lt;Text style={{ fontSize: 14, color: '#546779', marginTop: 6 }}&gt;第四章　面向问题的场景化应用　·　4.0 阅读准备　·　八个案例均为虚构教案，尚无实际 Run 结果&lt;/Text&gt;&#10;&#10;    &lt;/Box&gt;&#10;&#10;    &lt;Box style={{ height: 40, flexDirection: 'row', justifyContent: 'space-between', alignItems: 'center' }}&gt;&#10;        &lt;Text style={{ fontSize: 14, color: '#546779' }}&gt;4.0 阅读准备&lt;/Text&gt;&#10;        &lt;Text style={{ fontSize: 14, color: '#546779' }}&gt;20 / 20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609600" y="11811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4.0 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阅读准备　·　带进后面九个案例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609600" y="1524000"/>
            <a:ext cx="10972800" cy="609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300" b="1">
                <a:solidFill>
                  <a:srgbClr val="20344B"/>
                </a:solidFill>
                <a:latin typeface="Microsoft YaHei"/>
                <a:ea typeface="Microsoft YaHei"/>
              </a:rPr>
              <a:t>记住三句自检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609600" y="23050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0" name=""/>
          <p:cNvSpPr/>
          <p:nvPr/>
        </p:nvSpPr>
        <p:spPr>
          <a:xfrm rot="0" flipH="0" flipV="0">
            <a:off x="609600" y="2514600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51" name=""/>
          <p:cNvSpPr/>
          <p:nvPr/>
        </p:nvSpPr>
        <p:spPr>
          <a:xfrm rot="0" flipH="0" flipV="0">
            <a:off x="800100" y="26479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952500" y="274320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1371600" y="2647950"/>
            <a:ext cx="10020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这个问题能被结果推翻吗？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1371600" y="2895600"/>
            <a:ext cx="10020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跑出任何结果都能解释过去，它就还不是一个问题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609600" y="3371850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56" name=""/>
          <p:cNvSpPr/>
          <p:nvPr/>
        </p:nvSpPr>
        <p:spPr>
          <a:xfrm rot="0" flipH="0" flipV="0">
            <a:off x="800100" y="35052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952500" y="360045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1371600" y="3505200"/>
            <a:ext cx="10020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两组之间只差一处吗？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1371600" y="3752850"/>
            <a:ext cx="10020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差异要写得出来、存得下来，才能归因到这一处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609600" y="4229100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61" name=""/>
          <p:cNvSpPr/>
          <p:nvPr/>
        </p:nvSpPr>
        <p:spPr>
          <a:xfrm rot="0" flipH="0" flipV="0">
            <a:off x="800100" y="43624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952500" y="445770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1371600" y="4362450"/>
            <a:ext cx="10020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结论停在哪一层证据上？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1371600" y="4610100"/>
            <a:ext cx="10020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系统机制、本次模型行为，还是现实应用效果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609600" y="5143500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第四章　面向问题的场景化应用　·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阅读准备　·　八个案例均为虚构教案，尚无实际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结果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76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阅读准备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20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2026-09-29T09:29:47Z</dcterms:created>
  <dcterms:modified xsi:type="dcterms:W3CDTF">2026-09-29T09:29:47Z</dcterms:modified>
</cp:coreProperties>
</file>