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6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21" Type="http://schemas.openxmlformats.org/officeDocument/2006/relationships/slide" Target="slides/slide2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9" Type="http://schemas.openxmlformats.org/officeDocument/2006/relationships/slide" Target="slides/slide9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我们要观察的问题很具体：把咨询台多说的一句话改掉，会不会让人少走一次冤枉路。</a:t>
            </a:r>
          </a:p>
          <a:p>
            <a:r>
              <a:rPr lang="zh-CN" dirty="0"/>
              <a:t>四位来访者走进青禾社区便民服务站。第一位想借活动室办读书会，第二位想预约手工作品展示，他们说的话几乎一样；第三位和第四位发现灯出了问题，说的也几乎一样。</a:t>
            </a:r>
          </a:p>
          <a:p>
            <a:r>
              <a:rPr lang="zh-CN" dirty="0"/>
              <a:t>关键在于，同一句话背后可能是安排未来，也可能是报告现在，而这两件事归不同的窗口管。</a:t>
            </a:r>
          </a:p>
          <a:p>
            <a:r>
              <a:rPr lang="zh-CN" dirty="0"/>
              <a:t>这一节我不模拟审批、维修和排队，只比较咨询策略：先问清楚，究竟省了什么，又添了什么。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这一节我打算按四步走。</a:t>
            </a:r>
          </a:p>
          <a:p>
            <a:r>
              <a:rPr lang="zh-CN" dirty="0"/>
              <a:t>第一步先分人：四个人各自心里要什么，谁说得出答案。最容易出的错是把作者才知道的答案提前塞给来访者，那观察就废了。</a:t>
            </a:r>
          </a:p>
          <a:p>
            <a:r>
              <a:rPr lang="zh-CN" dirty="0"/>
              <a:t>第二步看空间：入口、等候区和两个服务区怎么划，窗口分工为什么不能预先告诉来访者。要走错一次，才看得见往返的代价。</a:t>
            </a:r>
          </a:p>
          <a:p>
            <a:r>
              <a:rPr lang="zh-CN" dirty="0"/>
              <a:t>第三步是唯一改动的那段判断方法：目的不明的时候，是先给一次最可能的建议并说明这只是推测，还是先只追问缺的那一个字段。</a:t>
            </a:r>
          </a:p>
          <a:p>
            <a:r>
              <a:rPr lang="zh-CN" dirty="0"/>
              <a:t>第四步看分数：闭环、无效访问、重复说明和时延四个指标怎么算，以及相同的比率为什么不能直接判优劣。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先解决一个前提问题：谁需要什么，谁才有答案。</a:t>
            </a:r>
          </a:p>
          <a:p>
            <a:r>
              <a:rPr lang="zh-CN" dirty="0"/>
              <a:t>四位来访者手里各有一件事：借活动室办读书会、预约手工作品展示，还有两个人要报告不同位置的灯出了问题。他们第一次开口说的话几乎一样，可心里要办的事分两类。</a:t>
            </a:r>
          </a:p>
          <a:p>
            <a:r>
              <a:rPr lang="zh-CN" dirty="0"/>
              <a:t>一类是安排未来的使用，一类是报告现在的问题。这两类归不同窗口管，而知道分工的是咨询台，不是来访者。</a:t>
            </a:r>
          </a:p>
          <a:p>
            <a:r>
              <a:rPr lang="zh-CN" dirty="0"/>
              <a:t>所以这一块要盯住的不是结论看起来对不对，而是信息有没有放在对的地方、有没有走对的渠道。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四项任务，我逐个说清。</a:t>
            </a:r>
          </a:p>
          <a:p>
            <a:r>
              <a:rPr lang="zh-CN" dirty="0"/>
              <a:t>周澈要借活动室办读书会，先要确认照明能不能满足；谭悦要预约手工作品展示，先要确认桌面照明。这两个人问的是以后怎么用。</a:t>
            </a:r>
          </a:p>
          <a:p>
            <a:r>
              <a:rPr lang="zh-CN" dirty="0"/>
              <a:t>孟川今天发现东侧一盏灯不亮，邱禾发现入口灯持续闪烁，他们要问的是现在怎么报告。这两个人问的是已经发生的事。</a:t>
            </a:r>
          </a:p>
          <a:p>
            <a:r>
              <a:rPr lang="zh-CN" dirty="0"/>
              <a:t>注意他们说的第一句话：周澈和孟川完全一样，谭悦和邱禾完全一样。</a:t>
            </a:r>
          </a:p>
          <a:p>
            <a:r>
              <a:rPr lang="zh-CN" dirty="0"/>
              <a:t>完整表只给作者和评分者看。每位来访者只拿到自己的目的和第一句话，被问到才如实补充，没被问就不主动补齐那些故意省略的目的。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同样一句话，为什么该去不同窗口？区别在本人手里那点用途。</a:t>
            </a:r>
          </a:p>
          <a:p>
            <a:r>
              <a:rPr lang="zh-CN" dirty="0"/>
              <a:t>周澈和谭悦心里是以后要用的场地：一个要办读书会，一个要摆手工作品，都属于安排未来的使用。孟川和邱禾心里是今天已经坏了的东西：一个在东侧，一个在入口，都属于报告现有的问题。</a:t>
            </a:r>
          </a:p>
          <a:p>
            <a:r>
              <a:rPr lang="zh-CN" dirty="0"/>
              <a:t>所以咨询台该问的不是“你想干什么”这种大问题，而是缺的那一个字段——你是在安排以后的使用，还是在报告现在的问题。</a:t>
            </a:r>
          </a:p>
          <a:p>
            <a:r>
              <a:rPr lang="zh-CN" dirty="0"/>
              <a:t>这个追问一旦发生，补充只能来自同一个人。把教师答案当成补充，整个对照就不成立了。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空间这一步只要回答一件事：走错窗口的代价，怎么变成看得见的东西。</a:t>
            </a:r>
          </a:p>
          <a:p>
            <a:r>
              <a:rPr lang="zh-CN" dirty="0"/>
              <a:t>整个场景是青禾社区的便民服务站，20 列 16 行。入口在最上面三行，往下四行是等候区，再往下左半边是 A 服务区，右半边是 B 服务区，两个区一样大。</a:t>
            </a:r>
          </a:p>
          <a:p>
            <a:r>
              <a:rPr lang="zh-CN" dirty="0"/>
              <a:t>四位来访者从入口出发，引导员余真从等候区出发。他们预先知道四个区域的地址，但不知道窗口分工——分工要走到服务区、通过感知拿到窗口对象才知道。</a:t>
            </a:r>
          </a:p>
          <a:p>
            <a:r>
              <a:rPr lang="zh-CN" dirty="0"/>
              <a:t>格子里写的分区名称是我作为作者标的，不能提前塞给来访者；网格只用来说明范围，不提供任何步行耗时。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接下来把“谁知道什么”定下来，这一步决定观察有没有意义。</a:t>
            </a:r>
          </a:p>
          <a:p>
            <a:r>
              <a:rPr lang="zh-CN" dirty="0"/>
              <a:t>引导员余真知道服务分工和咨询台在哪，但她不知道每个人私人要办什么事。她只帮助实际遇到并且真的求助的人，不预先替人分类，也不挨个去索要需求。</a:t>
            </a:r>
          </a:p>
          <a:p>
            <a:r>
              <a:rPr lang="zh-CN" dirty="0"/>
              <a:t>咨询台知道 A 管未来的场地使用、B 管现有的设施问题，并且必须按真实的请求编号回复。A、B 两个窗口各自知道自己的职责和对方的职责，但只解释下一步，不能声称事情已经办好。</a:t>
            </a:r>
          </a:p>
          <a:p>
            <a:r>
              <a:rPr lang="zh-CN" dirty="0"/>
              <a:t>三个对象各有独立的请求和记忆，不能跨身份去读来访者的资料。作者手里的完整表，不能进入角色的共同上下文。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动手之前，条件要先冻结，不然两组的差别说不清是谁造成的。</a:t>
            </a:r>
          </a:p>
          <a:p>
            <a:r>
              <a:rPr lang="zh-CN" dirty="0"/>
              <a:t>场景是青禾社区的便民服务站，20 乘 16 格。四个区域用矩形坐标划出来，外边界阻挡、内部连通，对象之间留出可走的邻格。</a:t>
            </a:r>
          </a:p>
          <a:p>
            <a:r>
              <a:rPr lang="zh-CN" dirty="0"/>
              <a:t>四位来访者从入口出发，引导员从等候区出发；两组的实际出生位置、遮挡关系和视野都保持一致。</a:t>
            </a:r>
          </a:p>
          <a:p>
            <a:r>
              <a:rPr lang="zh-CN" dirty="0"/>
              <a:t>观察窗口是候选 W：十月十八日上午九点到十点十五，按北京时间，一步一分钟，一共七十六步。正式比较之前要校准并冻结，两组用同一套。</a:t>
            </a:r>
          </a:p>
          <a:p>
            <a:r>
              <a:rPr lang="zh-CN" dirty="0"/>
              <a:t>还有一条纪律：最后一轮尚未投递的回复，不算人物已经收到。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下面进入这一节的唯一变量。</a:t>
            </a:r>
          </a:p>
          <a:p>
            <a:r>
              <a:rPr lang="zh-CN" dirty="0"/>
              <a:t>刚才那些条件——地图、人物、模型、依赖、窗口规则、留存设置——两组完全一样，一个字都不改。</a:t>
            </a:r>
          </a:p>
          <a:p>
            <a:r>
              <a:rPr lang="zh-CN" dirty="0"/>
              <a:t>唯一改动的，是咨询台在处理请求时那一段判断方法。基线那一组，目的不明也照样给一次最可能的窗口建议；对照那一组，如果信息里没有说清是安排未来还是报告现在，就先只问这一点，暂时不给建议。</a:t>
            </a:r>
          </a:p>
          <a:p>
            <a:r>
              <a:rPr lang="zh-CN" dirty="0"/>
              <a:t>所以这一块要盯住的是：改动是不是真的只有这一处，其余条件有没有被偷偷动过。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这两段文字就是实验的全部差别，我逐句念一下。</a:t>
            </a:r>
          </a:p>
          <a:p>
            <a:r>
              <a:rPr lang="zh-CN" dirty="0"/>
              <a:t>基线这一组：按这次请求和此前实际获得的信息，给一次窗口建议。关键目的不明确时，选你认为最可能的那个窗口，并且明确说明这只是推测，不要先发澄清问题。收到新的说明之后，可以修正建议。</a:t>
            </a:r>
          </a:p>
          <a:p>
            <a:r>
              <a:rPr lang="zh-CN" dirty="0"/>
              <a:t>对照这一组只换掉这一段：如果现有信息没有说明是安排未来的使用还是报告现有的问题，就先只问这一点，暂时不推荐窗口；已经有明确目的就直接建议。收到同一个人的真实补充之后，再按同样的服务范围推荐窗口，不要重复追问已经回答过的字段。</a:t>
            </a:r>
          </a:p>
          <a:p>
            <a:r>
              <a:rPr lang="zh-CN" dirty="0"/>
              <a:t>两段的差别只有一处：缺字段时，是先建议还是先追问。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两段决策方法之后，后面的流程是同一套，两组都要走一遍。</a:t>
            </a:r>
          </a:p>
          <a:p>
            <a:r>
              <a:rPr lang="zh-CN" dirty="0"/>
              <a:t>从相同的首句开始：周澈和孟川说的完全一样，谭悦和邱禾说的也完全一样。基线这一组会拿到一次建议，对照这一组会先被追问缺的字段；追问之后收到同一个人的真实补充，再按同样的服务范围给出建议。</a:t>
            </a:r>
          </a:p>
          <a:p>
            <a:r>
              <a:rPr lang="zh-CN" dirty="0"/>
              <a:t>拿到建议之后，就要合法导航、实际移动，走到窗口，取得窗口的真实回复，最后真实确认下一步该准备什么。</a:t>
            </a:r>
          </a:p>
          <a:p>
            <a:r>
              <a:rPr lang="zh-CN" dirty="0"/>
              <a:t>有一条旁路必须记住：走错窗口之后还可以改道，但走错时发出的请求仍然计数，额外追问的轮次和对象调用也照样计成本。箭头只表示顺序关系，不指定在第几步完成。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两组的共同 SOP 是一样的：读取真实的待办请求，依据服务范围说明窗口、理由和下一步；按请求编号回复，不广播，也不声称已经办好；获知的目的，只能在这个对象自己的记忆里和真实的请求者关联起来。</a:t>
            </a:r>
          </a:p>
          <a:p>
            <a:r>
              <a:rPr lang="zh-CN" dirty="0"/>
              <a:t>接下来是成本口径，这一点最容易被忽略。</a:t>
            </a:r>
          </a:p>
          <a:p>
            <a:r>
              <a:rPr lang="zh-CN" dirty="0"/>
              <a:t>第一，错误窗口的请求逐次计；走错之后可以改道，但已经发出去的那几次请求照样算数。第二，额外的追问轮次也算；对照多问的那一轮不是免费的。第三，对象调用同样计成本，每一次调用都有代价，不存在零成本重试。</a:t>
            </a:r>
          </a:p>
          <a:p>
            <a:r>
              <a:rPr lang="zh-CN" dirty="0"/>
              <a:t>所以“先问清楚”可能有收益，也一定带着代价，这两面都要记录。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接下来要看的是，怎么把请求、移动和确认这三件事连成一条能取证的线。</a:t>
            </a:r>
          </a:p>
          <a:p>
            <a:r>
              <a:rPr lang="zh-CN" dirty="0"/>
              <a:t>一条闭环要成立，每一环都得留下证据：谁提交了请求、谁给出了建议、人有没有真的移动、窗口有没有真的回复、最后有没有真的确认。</a:t>
            </a:r>
          </a:p>
          <a:p>
            <a:r>
              <a:rPr lang="zh-CN" dirty="0"/>
              <a:t>缺任何一环，这条闭环就不算成立。停在入口建议上，或者只是走到了窗口，都不够。</a:t>
            </a:r>
          </a:p>
          <a:p>
            <a:r>
              <a:rPr lang="zh-CN" dirty="0"/>
              <a:t>所以这一块的重点不是最后结论好不好看，而是每一环有没有真实发生、能不能被取到。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这条闭环有五步，我按顺序说。</a:t>
            </a:r>
          </a:p>
          <a:p>
            <a:r>
              <a:rPr lang="zh-CN" dirty="0"/>
              <a:t>第一，来访者接近咨询台，感知到交互项，提交规定的那句开场话。第二，如果收到澄清，就说明自己的目的；如果收到建议，就记录建议的来源，合法导航过去并且真的移动。</a:t>
            </a:r>
          </a:p>
          <a:p>
            <a:r>
              <a:rPr lang="zh-CN" dirty="0"/>
              <a:t>第三，窗口面对缺目的的人会追问；情况对得上就给下一步，对不上就解释分工并转介到另一个窗口。</a:t>
            </a:r>
          </a:p>
          <a:p>
            <a:r>
              <a:rPr lang="zh-CN" dirty="0"/>
              <a:t>第四，收到适配的回复之后，要用真实的发言或者后续交互，把正确的窗口和要准备的内容复述一遍。自己心里总结一下不算确认。</a:t>
            </a:r>
          </a:p>
          <a:p>
            <a:r>
              <a:rPr lang="zh-CN" dirty="0"/>
              <a:t>第五，没有新条件的时候可以有理由地等待，但不能为了凑剧情去按步数安排行动。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有三句话特别容易被读错，我逐条说清。</a:t>
            </a:r>
          </a:p>
          <a:p>
            <a:r>
              <a:rPr lang="zh-CN" dirty="0"/>
              <a:t>第一，工具接受了不等于窗口已经答复。提交成功只说明请求被受理，不代表对方给了适配的建议，更不代表事情办好了。</a:t>
            </a:r>
          </a:p>
          <a:p>
            <a:r>
              <a:rPr lang="zh-CN" dirty="0"/>
              <a:t>第二，导航可达不等于已经抵达。路径算得出来，只说明理论上走得到，实际位置必须和感知记录核对。</a:t>
            </a:r>
          </a:p>
          <a:p>
            <a:r>
              <a:rPr lang="zh-CN" dirty="0"/>
              <a:t>第三，这个案例里没有业务排队模型。对象一轮可以答复多个请求，所以等待不能被解释成行政审批的吞吐能力。</a:t>
            </a:r>
          </a:p>
          <a:p>
            <a:r>
              <a:rPr lang="zh-CN" dirty="0"/>
              <a:t>这三条都会直接影响指标怎么算，不能含糊过去。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指标一共四个，重点在每个分母都不一样，必须分开算。</a:t>
            </a:r>
          </a:p>
          <a:p>
            <a:r>
              <a:rPr lang="zh-CN" dirty="0"/>
              <a:t>一，正确咨询闭环率：窗口内拿到适配回复、并真实确认正确下一步的任务数除以四。只到入口建议、只是抵达、或复述错了，都不算。</a:t>
            </a:r>
          </a:p>
          <a:p>
            <a:r>
              <a:rPr lang="zh-CN" dirty="0"/>
              <a:t>二，无效窗口访问率：错误窗口的请求数除以全部窗口请求数。入口咨询与澄清不计入分母，重复错误逐次计。</a:t>
            </a:r>
          </a:p>
          <a:p>
            <a:r>
              <a:rPr lang="zh-CN" dirty="0"/>
              <a:t>三，重复说明负担：向同一对象、未增新事实就重复提交核心需求的次数除以四。首次向另一窗口说明、补充目的、新发现不计。</a:t>
            </a:r>
          </a:p>
          <a:p>
            <a:r>
              <a:rPr lang="zh-CN" dirty="0"/>
              <a:t>四，首次有效回应时延：首次咨询到收到首条适配且可执行的建议，按虚拟分钟算，“请等一下”不算；逐人、分需求类型报告，未回应者保留。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主指标能同时反映分流和理解两件事，但它没法独自告诉我们失败出在哪。</a:t>
            </a:r>
          </a:p>
          <a:p>
            <a:r>
              <a:rPr lang="zh-CN" dirty="0"/>
              <a:t>所以除了闭环率，还要一路看四段：有没有被建议、有没有真的抵达、有没有收到回复、有没有完成确认。这四段是一层一层收窄的，越往后越难成立。</a:t>
            </a:r>
          </a:p>
          <a:p>
            <a:r>
              <a:rPr lang="zh-CN" dirty="0"/>
              <a:t>另外有一条口径要记住：报告无效率的时候，必须同时给出原始的请求数。因为咨询总次数一变，比率就跟着变，光看一个百分数会误判。</a:t>
            </a:r>
          </a:p>
          <a:p>
            <a:r>
              <a:rPr lang="zh-CN" dirty="0"/>
              <a:t>这四段证据和四个指标要一起读，才能判断问题到底卡在哪一环。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最后一块看分数是怎么来的，以及分错了该去查哪里。</a:t>
            </a:r>
          </a:p>
          <a:p>
            <a:r>
              <a:rPr lang="zh-CN" dirty="0"/>
              <a:t>这里有一段特殊的地方：一次有效的建议，可以出现在闭环完成之前。拿到一次能执行的建议，本身就是结果的一部分，但它不等于闭环。</a:t>
            </a:r>
          </a:p>
          <a:p>
            <a:r>
              <a:rPr lang="zh-CN" dirty="0"/>
              <a:t>所以判分的时候，动作的完成、回复的匹配、最后的确认，要分开记录，分别给分。</a:t>
            </a:r>
          </a:p>
          <a:p>
            <a:r>
              <a:rPr lang="zh-CN" dirty="0"/>
              <a:t>失败定位也一样，要按顺序核对，不能一看到结果不对就断定是系统的问题。模型分错了人，不一定说明平台坏了。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先看人工判分这一段材料，它记录的是四项任务，不是一次真实运行的结果。</a:t>
            </a:r>
          </a:p>
          <a:p>
            <a:r>
              <a:rPr lang="zh-CN" dirty="0"/>
              <a:t>周澈、孟川、邱禾这三个人走通了：有效回应、匹配窗口的回复、正确的确认，三样都有，算进闭环。</a:t>
            </a:r>
          </a:p>
          <a:p>
            <a:r>
              <a:rPr lang="zh-CN" dirty="0"/>
              <a:t>谭悦的情况要单独说：她在第七分钟收到了有效的 A 建议，也确实走到了 A 服务区。但是目标窗口的回复和最后的确认还没有出现，所以她不进绿色的闭环分子。</a:t>
            </a:r>
          </a:p>
          <a:p>
            <a:r>
              <a:rPr lang="zh-CN" dirty="0"/>
              <a:t>这里同时要提醒一句：谭悦仍然留在四项任务的分母里，不能因为没走完就把她拿掉。另外，右侧那个二除以七，数的是窗口请求；三除以四，数的是重复说明负担，两个数不能都读成任务成功率。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先把三组数字放在一起看，每一组的口径都不同。</a:t>
            </a:r>
          </a:p>
          <a:p>
            <a:r>
              <a:rPr lang="zh-CN" dirty="0"/>
              <a:t>闭环率是四分之三，等于百分之七十五，分母是四项任务，每个任务只算一次。</a:t>
            </a:r>
          </a:p>
          <a:p>
            <a:r>
              <a:rPr lang="zh-CN" dirty="0"/>
              <a:t>无效窗口访问率是七分之二，大约百分之二十八点六，分母是全部窗口交互请求，入口的咨询和澄清不算在里面。</a:t>
            </a:r>
          </a:p>
          <a:p>
            <a:r>
              <a:rPr lang="zh-CN" dirty="0"/>
              <a:t>重复说明负担是四分之三，等于每任务零点七五次，数的是向同一个对象、没有增加新事实的重复提交。</a:t>
            </a:r>
          </a:p>
          <a:p>
            <a:r>
              <a:rPr lang="zh-CN" dirty="0"/>
              <a:t>时延那一条要逐个人看：四个人的首次有效回应分别是十二、七、六、九分钟，没有人一直没有回应。这些数字必须逐人、分需求类型报告，不能只报一个平均值。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我想特别强调一件事：相同的百分之七十五，可能来自完全不同的过程。</a:t>
            </a:r>
          </a:p>
          <a:p>
            <a:r>
              <a:rPr lang="zh-CN" dirty="0"/>
              <a:t>第一种可能，是对照组多问了几轮，把原本会走错窗口的人问对了，闭环是靠澄清换来的。第二种可能，是基线那组走错之后，窗口解释分工并把人转介回来，闭环是靠补救换来的。第三种可能，是总请求数和重复次数本身不同，比率偏偏凑到同一个数。</a:t>
            </a:r>
          </a:p>
          <a:p>
            <a:r>
              <a:rPr lang="zh-CN" dirty="0"/>
              <a:t>所以说，不能凭一个比率就宣布哪个策略更好。</a:t>
            </a:r>
          </a:p>
          <a:p>
            <a:r>
              <a:rPr lang="zh-CN" dirty="0"/>
              <a:t>要把时延、重复说明负担和调用次数放在一起解释。如果对照组的闭环高了，但时延和负担都明显上升，那就得说清换来了什么、又付出了什么。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结果不对的时候，按现象倒推，别急着下结论。</a:t>
            </a:r>
          </a:p>
          <a:p>
            <a:r>
              <a:rPr lang="zh-CN" dirty="0"/>
              <a:t>第一种，澄清之后还是分错了窗口。这时候要顺着一条链查：那个字段到底问出来没有，补充有没有真的投递出去，答案有没有被用上。任何一环断了，都会表现成分错。</a:t>
            </a:r>
          </a:p>
          <a:p>
            <a:r>
              <a:rPr lang="zh-CN" dirty="0"/>
              <a:t>第二种，一直没有答复。要把三种情况分开记录：是真的在等业务、是对象调用失败了，还是窗口的回复被截断了。三者的处理方式完全不同。</a:t>
            </a:r>
          </a:p>
          <a:p>
            <a:r>
              <a:rPr lang="zh-CN" dirty="0"/>
              <a:t>第三种，人走不到窗口。先看地址是不是已知的、对象能不能被感知到、路径是不是真的通。要特别注意，正确的权限拒绝不自动算 bug，那是规则在正常工作。</a:t>
            </a:r>
          </a:p>
          <a:p>
            <a:r>
              <a:rPr lang="zh-CN" dirty="0"/>
              <a:t>真实的系统问题按第三章的规则留证并停止相应验收；模型自己分错了人，也不自动说明系统有故障。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最后留两道练习，都跟判分口径有关。</a:t>
            </a:r>
          </a:p>
          <a:p>
            <a:r>
              <a:rPr lang="zh-CN" dirty="0"/>
              <a:t>第一道：如果来访者说“我已经知道怎么办了”，这个算不算完成确认？不算。他还得指向正确的窗口，并且至少说出一项相关的准备内容，比如日期、人数或者要带的材料。光说一句满意，态度再好也不够。</a:t>
            </a:r>
          </a:p>
          <a:p>
            <a:r>
              <a:rPr lang="zh-CN" dirty="0"/>
              <a:t>第二道：给两组再共有一项明确的需求，看看字段齐全的时候，能不能跳过追问、直接建议。这里要注意顺序——总任务数和判分表必须事先改好，不能等看到结果再回头挑人去算。</a:t>
            </a:r>
          </a:p>
          <a:p>
            <a:r>
              <a:rPr lang="zh-CN" dirty="0"/>
              <a:t>这两道练习考的是同一件事：判分标准要先定下来，而且必须写清楚。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第一，两组之间只换了咨询台的一段判断方法：目的不明的时候，是先给一次标明推测的建议，还是先只追问缺的那一个字段。地图、人物、模型和窗口规则都没动。</a:t>
            </a:r>
          </a:p>
          <a:p>
            <a:r>
              <a:rPr lang="zh-CN" dirty="0"/>
              <a:t>第二，分母不因为等待而缩小。没有走完的任务仍然留在四项任务里，比率要按真实的分母算。</a:t>
            </a:r>
          </a:p>
          <a:p>
            <a:r>
              <a:rPr lang="zh-CN" dirty="0"/>
              <a:t>第三，相同的比率不等于相同的结论。七成五可能来自澄清，可能来自窗口补救，也可能只是口径不同，必须结合时延、重复说明负担和调用次数一起解释。</a:t>
            </a:r>
          </a:p>
          <a:p>
            <a:r>
              <a:rPr lang="zh-CN" dirty="0"/>
              <a:t>下一节我们去看设备维护班组的交接，看清单式的整理能不能减少遗漏。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要观察的问题很具体：把咨询台多说的一句话改掉，会不会让人少走一次冤枉路。&#10;&#10;四位来访者走进青禾社区便民服务站。第一位想借活动室办读书会，第二位想预约手工作品展示，他们说的话几乎一样；第三位和第四位发现灯出了问题，说的也几乎一样。&#10;&#10;关键在于，同一句话背后可能是安排未来，也可能是报告现在，而这两件事归不同的窗口管。&#10;&#10;这一节我不模拟审批、维修和排队，只比较咨询策略：先问清楚，究竟省了什么，又添了什么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四章　面向问题的场景化应用　·　4.1　案例一&lt;/Text&gt;&#10;    &lt;/Box&gt;&#10;&#10;    &lt;Box style={{ height: 540, flexDirection: 'row', alignItems: 'center', gap: 32 }}&gt;&#10;&#10;        &lt;Box style={{ width: 520, flexDirection: 'column', justifyContent: 'center', gap: 14 }}&gt;&#10;            &lt;Text style={{ fontSize: 52, fontWeight: 'bold', color: '#20344B', lineHeight: 1.2 }}&gt;先问清楚，{'\n'}会不会少走一次？&lt;/Text&gt;&#10;            &lt;Box style={{ width: 72, height: 4, background: '#276FBF' }} /&gt;&#10;            &lt;Text style={{ fontSize: 17, color: '#546779', lineHeight: 1.7, width: 520 }}&gt;四个人走进同一个社区服务大厅。他们说的第一句话几乎一样，心里要办的事却不一样。咨询台多说一句，可能省下一次往返，也可能多等一会儿。&lt;/Text&gt;&#10;            &lt;Box style={{ flexDirection: 'row', gap: 12, marginTop: 4 }}&gt;&#10;                &lt;Box style={{ width: 160, height: 42, background: '#EDF4FC', borderRadius: 8, justifyContent: 'center', alignItems: 'center' }}&gt;&#10;                    &lt;Text style={{ fontSize: 15, color: '#276FBF' }}&gt;四人四任务&lt;/Text&gt;&#10;                &lt;/Box&gt;&#10;                &lt;Box style={{ width: 160, height: 42, background: '#EDF4FC', borderRadius: 8, justifyContent: 'center', alignItems: 'center' }}&gt;&#10;                    &lt;Text style={{ fontSize: 15, color: '#276FBF' }}&gt;两个窗口&lt;/Text&gt;&#10;                &lt;/Box&gt;&#10;                &lt;Box style={{ width: 160, height: 42, background: '#FFF4E6', borderRadius: 8, justifyContent: 'center', alignItems: 'center' }}&gt;&#10;                    &lt;Text style={{ fontSize: 15, color: '#CB6B28' }}&gt;唯一变化&lt;/Text&gt;&#10;                &lt;/Box&gt;&#10;            &lt;/Box&gt;&#10;        &lt;/Box&gt;&#10;&#10;        &lt;Box style={{ width: 600, flexDirection: 'column', justifyContent: 'center' }}&gt;&#10;            &lt;Box style={{ width: 600, height: 84, background: '#F4F7FA', borderRadius: 10, padding: '0 22px', flexDirection: 'column', gap: 4, justifyContent: 'center' }}&gt;&#10;                &lt;Text style={{ fontSize: 14, color: '#546779' }}&gt;四个人提交的规定首句&lt;/Text&gt;&#10;                &lt;Text style={{ fontSize: 18, fontWeight: 'bold', color: '#20344B' }}&gt;“我想问活动室灯光的事。”&lt;/Text&gt;&#10;            &lt;/Box&gt;&#10;            &lt;Box style={{ width: 600, height: 40, justifyContent: 'center', alignItems: 'center' }}&gt;&#10;                &lt;Text style={{ fontSize: 22, color: '#276FBF' }}&gt;↓&lt;/Text&gt;&#10;            &lt;/Box&gt;&#10;            &lt;Box style={{ width: 600, height: 76, background: '#EDF4FC', borderRadius: 10, padding: '0 22px', flexDirection: 'column', gap: 4, justifyContent: 'center' }}&gt;&#10;                &lt;Text style={{ fontSize: 18, fontWeight: 'bold', color: '#276FBF' }}&gt;咨询台&lt;/Text&gt;&#10;                &lt;Text style={{ fontSize: 15, color: '#546779' }}&gt;缺一个字段时，追问它，还是先给一次最可能的建议？&lt;/Text&gt;&#10;            &lt;/Box&gt;&#10;            &lt;Box style={{ width: 600, height: 40, justifyContent: 'center', alignItems: 'center' }}&gt;&#10;                &lt;Text style={{ fontSize: 22, color: '#CB6B28' }}&gt;↓&lt;/Text&gt;&#10;            &lt;/Box&gt;&#10;            &lt;Box style={{ width: 600, flexDirection: 'row', gap: 20 }}&gt;&#10;                &lt;Box style={{ width: 290, height: 118, background: '#ECF7F2', borderRadius: 10, padding: '16px 20px', flexDirection: 'column', gap: 6, justifyContent: 'center' }}&gt;&#10;                    &lt;Text style={{ fontSize: 20, fontWeight: 'bold', color: '#26816B' }}&gt;A 窗口&lt;/Text&gt;&#10;                    &lt;Text style={{ fontSize: 15, color: '#546779', lineHeight: 1.5 }}&gt;安排未来的{'\n'}场地与设施使用&lt;/Text&gt;&#10;                &lt;/Box&gt;&#10;                &lt;Box style={{ width: 290, height: 118, background: '#FFF4E6', borderRadius: 10, padding: '16px 20px', flexDirection: 'column', gap: 6, justifyContent: 'center' }}&gt;&#10;                    &lt;Text style={{ fontSize: 20, fontWeight: 'bold', color: '#CB6B28' }}&gt;B 窗口&lt;/Text&gt;&#10;                    &lt;Text style={{ fontSize: 15, color: '#546779', lineHeight: 1.5 }}&gt;报告现在的{'\n'}设施故障与现象&lt;/Text&gt;&#10;                &lt;/Box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3095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第四章　面向问题的场景化应用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案例一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先问清楚，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会不会少走一次？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6290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800475"/>
            <a:ext cx="49530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四个人走进同一个社区服务大厅。他们说的第一句话几乎一样，心里要办的事却不一样。咨询台多说一句，可能省下一次往返，也可能多等一会儿。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9720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019175" y="50863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四人四任务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2247900" y="49720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72415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两个窗口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886200" y="49720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362450" y="5086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唯一变化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867400" y="2009775"/>
            <a:ext cx="5715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76950" y="220980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四个人提交的规定首句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76950" y="240982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“我想问活动室灯光的事。”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677275" y="28765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867400" y="3190875"/>
            <a:ext cx="57150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76950" y="334327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咨询台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76950" y="3590925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缺一个字段时，追问它，还是先给一次最可能的建议？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677275" y="39814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867400" y="4295775"/>
            <a:ext cx="276225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57900" y="4457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57900" y="47434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安排未来的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场地与设施使用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820150" y="4295775"/>
            <a:ext cx="276225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010650" y="4457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010650" y="47434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报告现在的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设施故障与现象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68" name="" descr="&lt;Slide notes={`这一节我打算按四步走。&#10;&#10;第一步先分人：四个人各自心里要什么，谁说得出答案。最容易出的错是把作者才知道的答案提前塞给来访者，那观察就废了。&#10;&#10;第二步看空间：入口、等候区和两个服务区怎么划，窗口分工为什么不能预先告诉来访者。要走错一次，才看得见往返的代价。&#10;&#10;第三步是唯一改动的那段判断方法：目的不明的时候，是先给一次最可能的建议并说明这只是推测，还是先只追问缺的那一个字段。&#10;&#10;第四步看分数：闭环、无效访问、重复说明和时延四个指标怎么算，以及相同的比率为什么不能直接判优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　社区服务大厅：先问清楚，会不会少走一次？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先立好信息边界与空间，再只改一处判断方法，最后核对分数是怎么被算出来的。&lt;/Text&gt;&#10;            &lt;Box style={{ width: 300, height: 110, background: '#FFF4E6', borderRadius: 10, padding: '14px 18px', flexDirection: 'column', gap: 4, justifyContent: 'center' }}&gt;&#10;                &lt;Text style={{ fontSize: 16, fontWeight: 'bold', color: '#CB6B28' }}&gt;唯一变量是什么&lt;/Text&gt;&#10;                &lt;Text style={{ fontSize: 14, color: '#546779', lineHeight: 1.5 }}&gt;地图、人物、模型、依赖、窗口规则与留存都不动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四项需求与信息边界&lt;/Text&gt;&#10;                    &lt;Text style={{ fontSize: 14, color: '#546779' }}&gt;谁能知道答案；答案不能提前进入来访者手里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四区空间与可观察的往返&lt;/Text&gt;&#10;                    &lt;Text style={{ fontSize: 14, color: '#546779' }}&gt;来访者预知四区地址，却不预知窗口分工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唯一变化：咨询台的一段判断方法&lt;/Text&gt;&#10;                    &lt;Text style={{ fontSize: 14, color: '#546779' }}&gt;目的不明时先给建议，还是先只追问缺的那一个字段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四个指标的分子、分母与人工判分&lt;/Text&gt;&#10;                    &lt;Text style={{ fontSize: 14, color: '#546779' }}&gt;闭环率不能独自定位失败；相同比率不等于相同结论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社区服务大厅：先问清楚，会不会少走一次？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90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先立好信息边界与空间，再只改一处判断方法，最后核对分数是怎么被算出来的。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379095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唯一变量是什么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2514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地图、人物、模型、依赖、窗口规则与留存都不动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2800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四项需求与信息边界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谁能知道答案；答案不能提前进入来访者手里。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2533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四区空间与可观察的往返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来访者预知四区地址，却不预知窗口分工。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唯一变化：咨询台的一段判断方法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目的不明时先给建议，还是先只追问缺的那一个字段。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四个指标的分子、分母与人工判分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闭环率不能独自定位失败；相同比率不等于相同结论。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10" name="" descr="&lt;Slide notes={`先解决一个前提问题：谁需要什么，谁才有答案。&#10;&#10;四位来访者手里各有一件事：借活动室办读书会、预约手工作品展示，还有两个人要报告不同位置的灯出了问题。他们第一次开口说的话几乎一样，可心里要办的事分两类。&#10;&#10;一类是安排未来的使用，一类是报告现在的问题。这两类归不同窗口管，而知道分工的是咨询台，不是来访者。&#10;&#10;所以这一块要盯住的不是结论看起来对不对，而是信息有没有放在对的地方、有没有走对的渠道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4.1.1 — 4.1.2&lt;/Text&gt;&#10;&#10;        &lt;Text style={{ fontSize: 56, fontWeight: 'bold', color: '#20344B', lineHeight: 1.15 }}&gt;四项需求与谁能知道答案&lt;/Text&gt;&#10;&#10;        &lt;Box style={{ width: 72, height: 4, background: '#276FBF' }} /&gt;&#10;&#10;        &lt;Text style={{ fontSize: 18, color: '#546779', lineHeight: 1.7, width: 900 }}&gt;来访者只说得出自己的第一句话；窗口分工、四个区的地址与教师答案，分属不同的人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四人各自的目的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相同的第一句话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A 或 B 窗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4.1.1 — 4.1.2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四项需求与谁能知道答案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来访者只说得出自己的第一句话；窗口分工、四个区的地址与教师答案，分属不同的人。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438275" y="42576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四人各自的目的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714875" y="42576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相同的第一句话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43875" y="4257675"/>
            <a:ext cx="895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或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26" name="" descr="&lt;Slide notes={`四项任务，我逐个说清。&#10;&#10;周澈要借活动室办读书会，先要确认照明能不能满足；谭悦要预约手工作品展示，先要确认桌面照明。这两个人问的是以后怎么用。&#10;&#10;孟川今天发现东侧一盏灯不亮，邱禾发现入口灯持续闪烁，他们要问的是现在怎么报告。这两个人问的是已经发生的事。&#10;&#10;注意他们说的第一句话：周澈和孟川完全一样，谭悦和邱禾完全一样。&#10;&#10;完整表只给作者和评分者看。每位来访者只拿到自己的目的和第一句话，被问到才如实补充，没被问就不主动补齐那些故意省略的目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1　四项需求与信息边界&lt;/Text&gt;&#10;            &lt;Text style={{ fontSize: 34, fontWeight: 'bold', color: '#20344B' }}&gt;四项需求，四种说法&lt;/Text&gt;&#10;        &lt;/Box&gt;&#10;    &lt;/Box&gt;&#10;&#10;    &lt;Box style={{ height: 540, flexDirection: 'column', justifyContent: 'center', gap: 10 }}&gt;&#10;&#10;        &lt;Box style={{ width: 1152, flexDirection: 'row', padding: '0 18px', gap: 16, alignItems: 'center', height: 28 }}&gt;&#10;            &lt;Box style={{ width: 4 }} /&gt;&#10;            &lt;Box style={{ width: 140 }}&gt;&lt;Text style={{ fontSize: 14, color: '#546779' }}&gt;人物／任务&lt;/Text&gt;&lt;/Box&gt;&#10;            &lt;Box style={{ flex: 1 }}&gt;&lt;Text style={{ fontSize: 14, color: '#546779' }}&gt;本人初始知道的目的&lt;/Text&gt;&lt;/Box&gt;&#10;            &lt;Box style={{ width: 300 }}&gt;&lt;Text style={{ fontSize: 14, color: '#546779' }}&gt;首次对咨询台说的话&lt;/Text&gt;&lt;/Box&gt;&#10;            &lt;Box style={{ width: 220 }}&gt;&lt;Text style={{ fontSize: 14, color: '#546779' }}&gt;窗口与下一步&lt;/Text&gt;&lt;/Box&gt;&#10;        &lt;/Box&gt;&#10;&#10;        &lt;Box style={{ width: 1152, height: 84, background: '#F4F7FA', borderRadius: 10, padding: '0 18px', flexDirection: 'row', alignItems: 'center', gap: 16 }}&gt;&#10;            &lt;Box style={{ width: 4, height: 44, background: '#276FBF' }} /&gt;&#10;            &lt;Box style={{ width: 140 }}&gt;&lt;Text style={{ fontSize: 18, fontWeight: 'bold', color: '#20344B' }}&gt;周澈 H1&lt;/Text&gt;&lt;/Box&gt;&#10;            &lt;Box style={{ flex: 1 }}&gt;&lt;Text style={{ fontSize: 16, color: '#20344B', lineHeight: 1.5 }}&gt;下周借活动室办读书会，需确认照明&lt;/Text&gt;&lt;/Box&gt;&#10;            &lt;Box style={{ width: 300 }}&gt;&lt;Text style={{ fontSize: 15, color: '#20344B', lineHeight: 1.5 }}&gt;“我想问活动室照明和使用的事。”&lt;/Text&gt;&lt;/Box&gt;&#10;            &lt;Box style={{ width: 220 }}&gt;&lt;Text style={{ fontSize: 15, color: '#26816B', lineHeight: 1.5 }}&gt;A；准备日期、人数、设施需求&lt;/Text&gt;&lt;/Box&gt;&#10;        &lt;/Box&gt;&#10;&#10;        &lt;Box style={{ width: 1152, height: 84, background: '#F4F7FA', borderRadius: 10, padding: '0 18px', flexDirection: 'row', alignItems: 'center', gap: 16 }}&gt;&#10;            &lt;Box style={{ width: 4, height: 44, background: '#276FBF' }} /&gt;&#10;            &lt;Box style={{ width: 140 }}&gt;&lt;Text style={{ fontSize: 18, fontWeight: 'bold', color: '#20344B' }}&gt;谭悦 H2&lt;/Text&gt;&lt;/Box&gt;&#10;            &lt;Box style={{ flex: 1 }}&gt;&lt;Text style={{ fontSize: 16, color: '#20344B', lineHeight: 1.5 }}&gt;想预约手工作品展示，需确认桌面照明&lt;/Text&gt;&lt;/Box&gt;&#10;            &lt;Box style={{ width: 300 }}&gt;&lt;Text style={{ fontSize: 15, color: '#20344B', lineHeight: 1.5 }}&gt;“我想问活动室灯具的安排。”&lt;/Text&gt;&lt;/Box&gt;&#10;            &lt;Box style={{ width: 220 }}&gt;&lt;Text style={{ fontSize: 15, color: '#26816B', lineHeight: 1.5 }}&gt;A；准备日期、人数、设施需求&lt;/Text&gt;&lt;/Box&gt;&#10;        &lt;/Box&gt;&#10;&#10;        &lt;Box style={{ width: 1152, height: 84, background: '#F4F7FA', borderRadius: 10, padding: '0 18px', flexDirection: 'row', alignItems: 'center', gap: 16 }}&gt;&#10;            &lt;Box style={{ width: 4, height: 44, background: '#CB6B28' }} /&gt;&#10;            &lt;Box style={{ width: 140 }}&gt;&lt;Text style={{ fontSize: 18, fontWeight: 'bold', color: '#20344B' }}&gt;孟川 H3&lt;/Text&gt;&lt;/Box&gt;&#10;            &lt;Box style={{ flex: 1 }}&gt;&lt;Text style={{ fontSize: 16, color: '#20344B', lineHeight: 1.5 }}&gt;今天发现东侧一盏灯不亮，想了解如何报告&lt;/Text&gt;&lt;/Box&gt;&#10;            &lt;Box style={{ width: 300 }}&gt;&lt;Text style={{ fontSize: 15, color: '#CB6B28', lineHeight: 1.5 }}&gt;与 H1 相同&lt;/Text&gt;&lt;/Box&gt;&#10;            &lt;Box style={{ width: 220 }}&gt;&lt;Text style={{ fontSize: 15, color: '#26816B', lineHeight: 1.5 }}&gt;B；记录位置、现象、发现时间&lt;/Text&gt;&lt;/Box&gt;&#10;        &lt;/Box&gt;&#10;&#10;        &lt;Box style={{ width: 1152, height: 84, background: '#F4F7FA', borderRadius: 10, padding: '0 18px', flexDirection: 'row', alignItems: 'center', gap: 16 }}&gt;&#10;            &lt;Box style={{ width: 4, height: 44, background: '#CB6B28' }} /&gt;&#10;            &lt;Box style={{ width: 140 }}&gt;&lt;Text style={{ fontSize: 18, fontWeight: 'bold', color: '#20344B' }}&gt;邱禾 H4&lt;/Text&gt;&lt;/Box&gt;&#10;            &lt;Box style={{ flex: 1 }}&gt;&lt;Text style={{ fontSize: 16, color: '#20344B', lineHeight: 1.5 }}&gt;今天发现入口灯持续闪烁，想了解如何报告&lt;/Text&gt;&lt;/Box&gt;&#10;            &lt;Box style={{ width: 300 }}&gt;&lt;Text style={{ fontSize: 15, color: '#CB6B28', lineHeight: 1.5 }}&gt;与 H2 相同&lt;/Text&gt;&lt;/Box&gt;&#10;            &lt;Box style={{ width: 220 }}&gt;&lt;Text style={{ fontSize: 15, color: '#26816B', lineHeight: 1.5 }}&gt;B；记录位置、现象、发现时间&lt;/Text&gt;&lt;/Box&gt;&#10;        &lt;/Box&gt;&#10;&#10;        &lt;Box style={{ width: 1152, height: 76, background: '#FFF4E6', borderRadius: 10, padding: '0 20px', flexDirection: 'row', alignItems: 'center', gap: 16, marginTop: 4 }}&gt;&#10;            &lt;Box style={{ width: 4, height: 44, background: '#CB6B28' }} /&gt;&#10;            &lt;Text style={{ fontSize: 15, color: '#546779', lineHeight: 1.5, flex: 1 }}&gt;完整表只供作者与评分者：每位来访者只得本人的目的与首句，被问后如实补充；未被问，不主动补齐故意省略的目的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四项需求与信息边界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四项需求，四种说法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971550" y="14192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人物／任务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2457450" y="1419225"/>
            <a:ext cx="3695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本人初始知道的目的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305550" y="14192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首次对咨询台说的话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9315450" y="141922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窗口与下一步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17240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781050" y="19145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71550" y="201930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周澈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H1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2457450" y="1990725"/>
            <a:ext cx="369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下周借活动室办读书会，需确认照明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305550" y="20002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“我想问活动室照明和使用的事。”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9315450" y="200025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A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；准备日期、人数、设施需求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26193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781050" y="28098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71550" y="291465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谭悦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2457450" y="2886075"/>
            <a:ext cx="369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想预约手工作品展示，需确认桌面照明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305550" y="289560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“我想问活动室灯具的安排。”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9315450" y="28956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A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；准备日期、人数、设施需求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9600" y="35147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781050" y="37052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971550" y="381000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孟川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H3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2457450" y="3781425"/>
            <a:ext cx="369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今天发现东侧一盏灯不亮，想了解如何报告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305550" y="37909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H1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相同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315450" y="379095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B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；记录位置、现象、发现时间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44100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781050" y="46005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71550" y="470535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邱禾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H4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2457450" y="4676775"/>
            <a:ext cx="3695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今天发现入口灯持续闪烁，想了解如何报告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305550" y="468630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H2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相同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9315450" y="46863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B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；记录位置、现象、发现时间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53435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800100" y="54959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90600" y="5581650"/>
            <a:ext cx="104013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完整表只供作者与评分者：每位来访者只得本人的目的与首句，被问后如实补充；未被问，不主动补齐故意省略的目的。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64" name="" descr="&lt;Slide notes={`同样一句话，为什么该去不同窗口？区别在本人手里那点用途。&#10;&#10;周澈和谭悦心里是以后要用的场地：一个要办读书会，一个要摆手工作品，都属于安排未来的使用。孟川和邱禾心里是今天已经坏了的东西：一个在东侧，一个在入口，都属于报告现有的问题。&#10;&#10;所以咨询台该问的不是“你想干什么”这种大问题，而是缺的那一个字段——你是在安排以后的使用，还是在报告现在的问题。&#10;&#10;这个追问一旦发生，补充只能来自同一个人。把教师答案当成补充，整个对照就不成立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1　首句相同，目的不同&lt;/Text&gt;&#10;            &lt;Text style={{ fontSize: 34, fontWeight: 'bold', color: '#20344B' }}&gt;首句一样，目的不一样&lt;/Text&gt;&#10;        &lt;/Box&gt;&#10;    &lt;/Box&gt;&#10;&#10;    &lt;Box style={{ height: 540, flexDirection: 'column', justifyContent: 'center', gap: 20 }}&gt;&#10;&#10;        &lt;Box style={{ width: 1152, flexDirection: 'row', gap: 32 }}&gt;&#10;&#10;            &lt;Box style={{ width: 600, flexDirection: 'column', gap: 12 }}&gt;&#10;                &lt;Box style={{ flexDirection: 'row', alignItems: 'center', gap: 10 }}&gt;&#10;                    &lt;Text style={{ fontSize: 20, fontWeight: 'bold', color: '#26816B' }}&gt;安排未来的使用&lt;/Text&gt;&#10;                    &lt;Text style={{ fontSize: 15, color: '#546779' }}&gt;→ A 窗口&lt;/Text&gt;&#10;                &lt;/Box&gt;&#10;                &lt;Box style={{ width: 600, height: 124, background: '#ECF7F2', borderRadius: 10, padding: '14px 20px', flexDirection: 'column', gap: 6, justifyContent: 'center' }}&gt;&#10;                    &lt;Text style={{ fontSize: 17, fontWeight: 'bold', color: '#20344B' }}&gt;周澈 H1　下周借活动室办读书会&lt;/Text&gt;&#10;                    &lt;Text style={{ fontSize: 15, color: '#546779', lineHeight: 1.5 }}&gt;要确认的字段：照明能不能支持这场活动&lt;/Text&gt;&#10;                &lt;/Box&gt;&#10;                &lt;Box style={{ width: 600, height: 124, background: '#ECF7F2', borderRadius: 10, padding: '14px 20px', flexDirection: 'column', gap: 6, justifyContent: 'center' }}&gt;&#10;                    &lt;Text style={{ fontSize: 17, fontWeight: 'bold', color: '#20344B' }}&gt;谭悦 H2　想预约手工作品展示&lt;/Text&gt;&#10;                    &lt;Text style={{ fontSize: 15, color: '#546779', lineHeight: 1.5 }}&gt;要确认的字段：桌面照明够不够用&lt;/Text&gt;&#10;                &lt;/Box&gt;&#10;            &lt;/Box&gt;&#10;&#10;            &lt;Box style={{ width: 520, flexDirection: 'column', gap: 12 }}&gt;&#10;                &lt;Box style={{ flexDirection: 'row', alignItems: 'center', gap: 10 }}&gt;&#10;                    &lt;Text style={{ fontSize: 20, fontWeight: 'bold', color: '#CB6B28' }}&gt;报告现在的问题&lt;/Text&gt;&#10;                    &lt;Text style={{ fontSize: 15, color: '#546779' }}&gt;→ B 窗口&lt;/Text&gt;&#10;                &lt;/Box&gt;&#10;                &lt;Box style={{ width: 520, height: 124, background: '#FFF4E6', borderRadius: 10, padding: '14px 20px', flexDirection: 'column', gap: 6, justifyContent: 'center' }}&gt;&#10;                    &lt;Text style={{ fontSize: 17, fontWeight: 'bold', color: '#20344B' }}&gt;孟川 H3　东侧一盏灯不亮&lt;/Text&gt;&#10;                    &lt;Text style={{ fontSize: 15, color: '#546779', lineHeight: 1.5 }}&gt;要报告的字段：位置、现象、发现时间&lt;/Text&gt;&#10;                &lt;/Box&gt;&#10;                &lt;Box style={{ width: 520, height: 124, background: '#FFF4E6', borderRadius: 10, padding: '14px 20px', flexDirection: 'column', gap: 6, justifyContent: 'center' }}&gt;&#10;                    &lt;Text style={{ fontSize: 17, fontWeight: 'bold', color: '#20344B' }}&gt;邱禾 H4　入口灯持续闪烁&lt;/Text&gt;&#10;                    &lt;Text style={{ fontSize: 15, color: '#546779', lineHeight: 1.5 }}&gt;要报告的字段：位置、现象、发现时间&lt;/Text&gt;&#10;                &lt;/Box&gt;&#10;            &lt;/Box&gt;&#10;&#10;        &lt;/Box&gt;&#10;&#10;        &lt;Box style={{ width: 1152, height: 104, background: '#EDF4FC', borderRadius: 10, padding: '0 22px', flexDirection: 'row', alignItems: 'center', gap: 18 }}&gt;&#10;            &lt;Box style={{ width: 4, height: 64, background: '#276FBF' }} /&gt;&#10;            &lt;Box style={{ flexDirection: 'column', gap: 6, flex: 1 }}&gt;&#10;                &lt;Text style={{ fontSize: 19, fontWeight: 'bold', color: '#276FBF' }}&gt;缺的那个字段，才是咨询台该问的&lt;/Text&gt;&#10;                &lt;Text style={{ fontSize: 16, color: '#546779', lineHeight: 1.55 }}&gt;H1 与 H3 首句相同、H2 与 H4 首句相同，区别只在本人持有的用途；补充必须来自同一个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首句相同，目的不同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首句一样，目的不一样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安排未来的使用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2038350" y="1743075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→ 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09600" y="2057400"/>
            <a:ext cx="571500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00100" y="2390775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周澈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H1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下周借活动室办读书会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800100" y="264795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要确认的字段：照明能不能支持这场活动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09600" y="3352800"/>
            <a:ext cx="571500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00100" y="3686175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谭悦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H2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想预约手工作品展示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00100" y="3943350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要确认的字段：桌面照明够不够用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629400" y="17145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报告现在的问题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058150" y="1743075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→ 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629400" y="2057400"/>
            <a:ext cx="49530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819900" y="239077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孟川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H3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东侧一盏灯不亮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819900" y="26479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要报告的字段：位置、现象、发现时间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629400" y="3352800"/>
            <a:ext cx="49530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819900" y="368617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邱禾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H4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入口灯持续闪烁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819900" y="3943350"/>
            <a:ext cx="457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要报告的字段：位置、现象、发现时间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47244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819150" y="49149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028700" y="4943475"/>
            <a:ext cx="10344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缺的那个字段，才是咨询台该问的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028700" y="5219700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H1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首句相同、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H4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首句相同，区别只在本人持有的用途；补充必须来自同一个人。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91" name="" descr="&lt;Slide notes={`空间这一步只要回答一件事：走错窗口的代价，怎么变成看得见的东西。&#10;&#10;整个场景是青禾社区的便民服务站，20 列 16 行。入口在最上面三行，往下四行是等候区，再往下左半边是 A 服务区，右半边是 B 服务区，两个区一样大。&#10;&#10;四位来访者从入口出发，引导员余真从等候区出发。他们预先知道四个区域的地址，但不知道窗口分工——分工要走到服务区、通过感知拿到窗口对象才知道。&#10;&#10;格子里写的分区名称是我作为作者标的，不能提前塞给来访者；网格只用来说明范围，不提供任何步行耗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2　空间与窗口：让往返成为可观察的代价&lt;/Text&gt;&#10;            &lt;Text style={{ fontSize: 34, fontWeight: 'bold', color: '#20344B' }}&gt;四区、两个窗口、一条可观察的代价&lt;/Text&gt;&#10;        &lt;/Box&gt;&#10;    &lt;/Box&gt;&#10;&#10;    &lt;Box style={{ height: 540, flexDirection: 'column', justifyContent: 'center', gap: 16 }}&gt;&#10;&#10;        &lt;Box style={{ width: 1152, height: 392, background: '#F4F7FA', borderRadius: 12, padding: '16px 20px', flexDirection: 'row', gap: 24 }}&gt;&#10;&#10;            &lt;Box style={{ width: 600, flexDirection: 'column', gap: 10 }}&gt;&#10;                &lt;Box style={{ width: 600, height: 64, background: '#EDF4FC', borderRadius: 8, flexDirection: 'row', alignItems: 'center', justifyContent: 'center', gap: 14 }}&gt;&#10;                    &lt;Text style={{ fontSize: 18, fontWeight: 'bold', color: '#276FBF' }}&gt;入口&lt;/Text&gt;&#10;                    &lt;Text style={{ fontSize: 14, color: '#546779' }}&gt;1–3 行，18 格宽&lt;/Text&gt;&#10;                &lt;/Box&gt;&#10;                &lt;Box style={{ width: 600, height: 76, background: '#F7F3E8', borderRadius: 8, flexDirection: 'row', alignItems: 'center', justifyContent: 'center', gap: 14 }}&gt;&#10;                    &lt;Text style={{ fontSize: 18, fontWeight: 'bold', color: '#546779' }}&gt;等候区&lt;/Text&gt;&#10;                    &lt;Text style={{ fontSize: 14, color: '#546779' }}&gt;4–7 行，18 格宽&lt;/Text&gt;&#10;                &lt;/Box&gt;&#10;                &lt;Box style={{ width: 600, flexDirection: 'row', gap: 4 }}&gt;&#10;                    &lt;Box style={{ width: 298, height: 160, background: '#ECF7F2', borderRadius: 8, flexDirection: 'column', alignItems: 'center', justifyContent: 'center', gap: 6 }}&gt;&#10;                        &lt;Text style={{ fontSize: 18, fontWeight: 'bold', color: '#26816B' }}&gt;A 服务区&lt;/Text&gt;&#10;                        &lt;Text style={{ fontSize: 14, color: '#546779' }}&gt;8–14 行 · 左半 9 格&lt;/Text&gt;&#10;                    &lt;/Box&gt;&#10;                    &lt;Box style={{ width: 298, height: 160, background: '#FFF4E6', borderRadius: 8, flexDirection: 'column', alignItems: 'center', justifyContent: 'center', gap: 6 }}&gt;&#10;                        &lt;Text style={{ fontSize: 18, fontWeight: 'bold', color: '#CB6B28' }}&gt;B 服务区&lt;/Text&gt;&#10;                        &lt;Text style={{ fontSize: 14, color: '#546779' }}&gt;8–14 行 · 右半 9 格&lt;/Text&gt;&#10;                    &lt;/Box&gt;&#10;                &lt;/Box&gt;&#10;            &lt;/Box&gt;&#10;&#10;            &lt;Box style={{ flex: 1, flexDirection: 'column', gap: 10, justifyContent: 'center' }}&gt;&#10;                &lt;Box style={{ width: 84, height: 30, background: '#CB6B28', borderRadius: 8, justifyContent: 'center', alignItems: 'center' }}&gt;&#10;                    &lt;Text style={{ fontSize: 15, fontWeight: 'bold', color: '#FFFFFF' }}&gt;示意&lt;/Text&gt;&#10;                &lt;/Box&gt;&#10;                &lt;Box style={{ width: 468, height: 64, background: '#FFFFFF', borderRadius: 8, padding: '0 16px', flexDirection: 'column', gap: 2, justifyContent: 'center' }}&gt;&#10;                    &lt;Text style={{ fontSize: 16, fontWeight: 'bold', color: '#20344B' }}&gt;入口&lt;/Text&gt;&#10;                    &lt;Text style={{ fontSize: 14, color: '#546779' }}&gt;四位来访者的出生点&lt;/Text&gt;&#10;                &lt;/Box&gt;&#10;                &lt;Box style={{ width: 468, height: 64, background: '#FFFFFF', borderRadius: 8, padding: '0 16px', flexDirection: 'column', gap: 2, justifyContent: 'center' }}&gt;&#10;                    &lt;Text style={{ fontSize: 16, fontWeight: 'bold', color: '#20344B' }}&gt;等候区&lt;/Text&gt;&#10;                    &lt;Text style={{ fontSize: 14, color: '#546779' }}&gt;引导员余真的出生点&lt;/Text&gt;&#10;                &lt;/Box&gt;&#10;                &lt;Box style={{ width: 468, height: 64, background: '#FFFFFF', borderRadius: 8, padding: '0 16px', flexDirection: 'column', gap: 2, justifyContent: 'center' }}&gt;&#10;                    &lt;Text style={{ fontSize: 16, fontWeight: 'bold', color: '#20344B' }}&gt;A 服务区&lt;/Text&gt;&#10;                    &lt;Text style={{ fontSize: 14, color: '#546779' }}&gt;未来场地使用（作者标注）&lt;/Text&gt;&#10;                &lt;/Box&gt;&#10;                &lt;Box style={{ width: 468, height: 64, background: '#FFFFFF', borderRadius: 8, padding: '0 16px', flexDirection: 'column', gap: 2, justifyContent: 'center' }}&gt;&#10;                    &lt;Text style={{ fontSize: 16, fontWeight: 'bold', color: '#20344B' }}&gt;B 服务区&lt;/Text&gt;&#10;                    &lt;Text style={{ fontSize: 14, color: '#546779' }}&gt;现有设施问题（作者标注）&lt;/Text&gt;&#10;                &lt;/Box&gt;&#10;            &lt;/Box&gt;&#10;&#10;        &lt;/Box&gt;&#10;&#10;        &lt;Box style={{ width: 1152, height: 92, background: '#EDF4FC', borderRadius: 10, padding: '0 22px', flexDirection: 'row', alignItems: 'center', gap: 18 }}&gt;&#10;            &lt;Box style={{ width: 4, height: 56, background: '#276FBF' }} /&gt;&#10;            &lt;Text style={{ fontSize: 16, color: '#546779', lineHeight: 1.6, flex: 1 }}&gt;来访者预知四区真实地址，却不预知窗口分工；到达服务区后，从感知取得窗口对象。口头地址不会自动进入系统已知空间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空间与窗口：让往返成为可观察的代价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四区、两个窗口、一条可观察的代价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09600" y="1333500"/>
            <a:ext cx="10972800" cy="3733800"/>
          </a:xfrm>
          <a:prstGeom prst="roundRect">
            <a:avLst>
              <a:gd name="adj" fmla="val 306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800100" y="1485900"/>
            <a:ext cx="5715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2924175" y="1685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3400425" y="1714500"/>
            <a:ext cx="1000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1–3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格宽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800100" y="2190750"/>
            <a:ext cx="5715000" cy="723900"/>
          </a:xfrm>
          <a:prstGeom prst="roundRect">
            <a:avLst>
              <a:gd name="adj" fmla="val 1052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2838450" y="24479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等候区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486150" y="2476500"/>
            <a:ext cx="1000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4–7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格宽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00100" y="3009900"/>
            <a:ext cx="2838450" cy="1524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876425" y="3562350"/>
            <a:ext cx="69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647825" y="3829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8–14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左半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3676650" y="3009900"/>
            <a:ext cx="2838450" cy="1524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4752975" y="3562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4524375" y="38290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8–14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右半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743700" y="164782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000875" y="17049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743700" y="2028825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896100" y="2152650"/>
            <a:ext cx="415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896100" y="2362200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四位来访者的出生点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743700" y="2733675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896100" y="2857500"/>
            <a:ext cx="415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等候区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896100" y="3067050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引导员余真的出生点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743700" y="3438525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896100" y="3562350"/>
            <a:ext cx="415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896100" y="3771900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未来场地使用（作者标注）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743700" y="4143375"/>
            <a:ext cx="4457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896100" y="4267200"/>
            <a:ext cx="415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896100" y="4476750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现有设施问题（作者标注）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52197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819150" y="53911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028700" y="551497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来访者预知四区真实地址，却不预知窗口分工；到达服务区后，从感知取得窗口对象。口头地址不会自动进入系统已知空间。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28" name="" descr="&lt;Slide notes={`接下来把“谁知道什么”定下来，这一步决定观察有没有意义。&#10;&#10;引导员余真知道服务分工和咨询台在哪，但她不知道每个人私人要办什么事。她只帮助实际遇到并且真的求助的人，不预先替人分类，也不挨个去索要需求。&#10;&#10;咨询台知道 A 管未来的场地使用、B 管现有的设施问题，并且必须按真实的请求编号回复。A、B 两个窗口各自知道自己的职责和对方的职责，但只解释下一步，不能声称事情已经办好。&#10;&#10;三个对象各有独立的请求和记忆，不能跨身份去读来访者的资料。作者手里的完整表，不能进入角色的共同上下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1　角色与职责边界&lt;/Text&gt;&#10;            &lt;Text style={{ fontSize: 34, fontWeight: 'bold', color: '#20344B' }}&gt;谁知道什么，谁不能替谁知道&lt;/Text&gt;&#10;        &lt;/Box&gt;&#10;    &lt;/Box&gt;&#10;&#10;    &lt;Box style={{ height: 540, flexDirection: 'row', alignItems: 'center', gap: 32 }}&gt;&#10;&#10;        &lt;Box style={{ width: 420, flexDirection: 'column', gap: 16 }}&gt;&#10;            &lt;Text style={{ fontSize: 17, color: '#546779', lineHeight: 1.75, width: 420 }}&gt;引导员、咨询台和两个窗口，各自握着一部分信息。任何一方越过边界，观察就不再反映真实交流。&lt;/Text&gt;&#10;            &lt;Box style={{ width: 420, height: 132, background: '#FFF4E6', borderRadius: 10, padding: '16px 20px', flexDirection: 'column', gap: 6, justifyContent: 'center' }}&gt;&#10;                &lt;Text style={{ fontSize: 17, fontWeight: 'bold', color: '#CB6B28' }}&gt;作者知道 ≠ 角色知道&lt;/Text&gt;&#10;                &lt;Text style={{ fontSize: 15, color: '#546779', lineHeight: 1.6 }}&gt;完整表只供作者与评分者；窗口分工与四人真实目的都不许预塞。&lt;/Text&gt;&#10;            &lt;/Box&gt;&#10;        &lt;/Box&gt;&#10;&#10;        &lt;Box style={{ width: 700, flexDirection: 'column', gap: 14 }}&gt;&#10;&#10;            &lt;Box style={{ width: 700, height: 100, background: '#F4F7FA', borderRadius: 10, padding: '0 18px', flexDirection: 'row', alignItems: 'center', gap: 14 }}&gt;&#10;                &lt;Box style={{ width: 4, height: 48, background: '#276FBF' }} /&gt;&#10;                &lt;Box style={{ width: 150 }}&gt;&lt;Text style={{ fontSize: 17, fontWeight: 'bold', color: '#20344B', lineHeight: 1.4 }}&gt;余真{'\n'}引导员&lt;/Text&gt;&lt;/Box&gt;&#10;                &lt;Text style={{ fontSize: 15, color: '#546779', lineHeight: 1.55, flex: 1 }}&gt;知道服务分工与咨询台位置，不知道私人任务；只帮助实际求助者，不预先分类。&lt;/Text&gt;&#10;            &lt;/Box&gt;&#10;&#10;            &lt;Box style={{ width: 700, height: 100, background: '#F4F7FA', borderRadius: 10, padding: '0 18px', flexDirection: 'row', alignItems: 'center', gap: 14 }}&gt;&#10;                &lt;Box style={{ width: 4, height: 48, background: '#276FBF' }} /&gt;&#10;                &lt;Box style={{ width: 150 }}&gt;&lt;Text style={{ fontSize: 17, fontWeight: 'bold', color: '#20344B', lineHeight: 1.4 }}&gt;咨询台{'\n'}对象&lt;/Text&gt;&lt;/Box&gt;&#10;                &lt;Text style={{ fontSize: 15, color: '#546779', lineHeight: 1.55, flex: 1 }}&gt;知道 A 管未来场地使用、B 管现有设施问题；按真实请求 ID 回复。&lt;/Text&gt;&#10;            &lt;/Box&gt;&#10;&#10;            &lt;Box style={{ width: 700, height: 100, background: '#F4F7FA', borderRadius: 10, padding: '0 18px', flexDirection: 'row', alignItems: 'center', gap: 14 }}&gt;&#10;                &lt;Box style={{ width: 4, height: 48, background: '#276FBF' }} /&gt;&#10;                &lt;Box style={{ width: 150 }}&gt;&lt;Text style={{ fontSize: 17, fontWeight: 'bold', color: '#20344B', lineHeight: 1.4 }}&gt;A、B 窗口{'\n'}对象&lt;/Text&gt;&lt;/Box&gt;&#10;                &lt;Text style={{ fontSize: 15, color: '#546779', lineHeight: 1.55, flex: 1 }}&gt;各知自身与另一窗口职责；只解释下一步，不声称已办结。&lt;/Text&gt;&#10;            &lt;/Box&gt;&#10;&#10;            &lt;Box style={{ width: 700, height: 100, background: '#FFF4E6', borderRadius: 10, padding: '0 18px', flexDirection: 'row', alignItems: 'center', gap: 14 }}&gt;&#10;                &lt;Box style={{ width: 4, height: 48, background: '#CB6B28' }} /&gt;&#10;                &lt;Box style={{ width: 150 }}&gt;&lt;Text style={{ fontSize: 17, fontWeight: 'bold', color: '#20344B', lineHeight: 1.4 }}&gt;三个{'\n'}对象&lt;/Text&gt;&lt;/Box&gt;&#10;                &lt;Text style={{ fontSize: 15, color: '#546779', lineHeight: 1.55, flex: 1 }}&gt;各有独立请求与记忆，不能跨身份读取来访者资料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角色与职责边界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谁知道什么，谁不能替谁知道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4000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引导员、咨询台和两个窗口，各自握着一部分信息。任何一方越过边界，观察就不再反映真实交流。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09600" y="3505200"/>
            <a:ext cx="40005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00100" y="373380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作者知道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角色知道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完整表只供作者与评分者；窗口分工与四人真实目的都不许预塞。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4914900" y="160972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5086350" y="18573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5257800" y="1809750"/>
            <a:ext cx="142875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余真</a:t>
            </a:r>
            <a:endParaRPr/>
          </a:p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引导员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819900" y="1819275"/>
            <a:ext cx="45910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知道服务分工与咨询台位置，不知道私人任务；只帮助实际求助者，不预先分类。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4914900" y="269557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5086350" y="29432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257800" y="2895600"/>
            <a:ext cx="142875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咨询台</a:t>
            </a:r>
            <a:endParaRPr/>
          </a:p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819900" y="3038475"/>
            <a:ext cx="4591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知道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管未来场地使用、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管现有设施问题；按真实请求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回复。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4914900" y="378142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5086350" y="40290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5257800" y="3981450"/>
            <a:ext cx="142875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A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窗口</a:t>
            </a:r>
            <a:endParaRPr/>
          </a:p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819900" y="4124325"/>
            <a:ext cx="4591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各知自身与另一窗口职责；只解释下一步，不声称已办结。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4914900" y="4867275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0" name=""/>
          <p:cNvSpPr/>
          <p:nvPr/>
        </p:nvSpPr>
        <p:spPr>
          <a:xfrm rot="0" flipH="0" flipV="0">
            <a:off x="5086350" y="51149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5257800" y="5067300"/>
            <a:ext cx="1428750" cy="552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三个</a:t>
            </a:r>
            <a:endParaRPr/>
          </a:p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819900" y="5210175"/>
            <a:ext cx="45910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各有独立请求与记忆，不能跨身份读取来访者资料。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55" name="" descr="&lt;Slide notes={`动手之前，条件要先冻结，不然两组的差别说不清是谁造成的。&#10;&#10;场景是青禾社区的便民服务站，20 乘 16 格。四个区域用矩形坐标划出来，外边界阻挡、内部连通，对象之间留出可走的邻格。&#10;&#10;四位来访者从入口出发，引导员从等候区出发；两组的实际出生位置、遮挡关系和视野都保持一致。&#10;&#10;观察窗口是候选 W：十月十八日上午九点到十点十五，按北京时间，一步一分钟，一共七十六步。正式比较之前要校准并冻结，两组用同一套。&#10;&#10;还有一条纪律：最后一轮尚未投递的回复，不算人物已经收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2　运行条件与观察窗口&lt;/Text&gt;&#10;            &lt;Text style={{ fontSize: 34, fontWeight: 'bold', color: '#20344B' }}&gt;动手前先冻结的条件&lt;/Text&gt;&#10;        &lt;/Box&gt;&#10;    &lt;/Box&gt;&#10;&#10;    &lt;Box style={{ height: 540, flexDirection: 'row', alignItems: 'center', gap: 32 }}&gt;&#10;&#10;        &lt;Box style={{ width: 420, flexDirection: 'column', gap: 16 }}&gt;&#10;            &lt;Box style={{ width: 420, height: 268, background: '#EDF4FC', borderRadius: 12, padding: '20px 22px', flexDirection: 'column', gap: 8, justifyContent: 'center' }}&gt;&#10;                &lt;Text style={{ fontSize: 15, color: '#546779' }}&gt;候选 W · 两组相同&lt;/Text&gt;&#10;                &lt;Text style={{ fontSize: 44, fontWeight: 'bold', color: '#276FBF', lineHeight: 1.1 }}&gt;76 步&lt;/Text&gt;&#10;                &lt;Text style={{ fontSize: 16, color: '#20344B', lineHeight: 1.6 }}&gt;2026-10-18　09:00—10:15{'\n'}Asia/Shanghai　·　1 分钟／步&lt;/Text&gt;&#10;                &lt;Text style={{ fontSize: 15, color: '#546779', lineHeight: 1.55 }}&gt;正式比较前校准并冻结；两组相同。&lt;/Text&gt;&#10;            &lt;/Box&gt;&#10;            &lt;Box style={{ width: 420, height: 108, background: '#FFF4E6', borderRadius: 10, padding: '0 20px', flexDirection: 'row', alignItems: 'center', gap: 16 }}&gt;&#10;                &lt;Box style={{ width: 4, height: 56, background: '#CB6B28' }} /&gt;&#10;                &lt;Text style={{ fontSize: 15, color: '#546779', lineHeight: 1.55, flex: 1 }}&gt;最后一轮尚未投递的回复，不算人物已收到。&lt;/Text&gt;&#10;            &lt;/Box&gt;&#10;        &lt;/Box&gt;&#10;&#10;        &lt;Box style={{ width: 700, flexDirection: 'column', gap: 10 }}&gt;&#10;&#10;            &lt;Box style={{ width: 700, height: 72, background: '#F4F7FA', borderRadius: 10, padding: '0 18px', flexDirection: 'row', alignItems: 'center', gap: 14 }}&gt;&#10;                &lt;Box style={{ width: 4, height: 40, background: '#276FBF' }} /&gt;&#10;                &lt;Box style={{ width: 190 }}&gt;&lt;Text style={{ fontSize: 15, color: '#546779' }}&gt;世界与区域&lt;/Text&gt;&lt;/Box&gt;&#10;                &lt;Text style={{ fontSize: 15, color: '#20344B', lineHeight: 1.5, flex: 1 }}&gt;World“青禾社区”→ Sector“便民服务站”，20×16 格&lt;/Text&gt;&#10;            &lt;/Box&gt;&#10;&#10;            &lt;Box style={{ width: 700, height: 72, background: '#F4F7FA', borderRadius: 10, padding: '0 18px', flexDirection: 'row', alignItems: 'center', gap: 14 }}&gt;&#10;                &lt;Box style={{ width: 4, height: 40, background: '#276FBF' }} /&gt;&#10;                &lt;Box style={{ width: 190 }}&gt;&lt;Text style={{ fontSize: 15, color: '#546779' }}&gt;入口与等候区&lt;/Text&gt;&lt;/Box&gt;&#10;                &lt;Text style={{ fontSize: 15, color: '#20344B', lineHeight: 1.5, flex: 1 }}&gt;入口 [1,1,18,3]　·　等候区 [1,4,18,4]&lt;/Text&gt;&#10;            &lt;/Box&gt;&#10;&#10;            &lt;Box style={{ width: 700, height: 72, background: '#F4F7FA', borderRadius: 10, padding: '0 18px', flexDirection: 'row', alignItems: 'center', gap: 14 }}&gt;&#10;                &lt;Box style={{ width: 4, height: 40, background: '#276FBF' }} /&gt;&#10;                &lt;Box style={{ width: 190 }}&gt;&lt;Text style={{ fontSize: 15, color: '#546779' }}&gt;两个服务区&lt;/Text&gt;&lt;/Box&gt;&#10;                &lt;Text style={{ fontSize: 15, color: '#20344B', lineHeight: 1.5, flex: 1 }}&gt;A 服务区 [1,8,9,7]　·　B 服务区 [10,8,9,7]&lt;/Text&gt;&#10;            &lt;/Box&gt;&#10;&#10;            &lt;Box style={{ width: 700, height: 72, background: '#F4F7FA', borderRadius: 10, padding: '0 18px', flexDirection: 'row', alignItems: 'center', gap: 14 }}&gt;&#10;                &lt;Box style={{ width: 4, height: 40, background: '#276FBF' }} /&gt;&#10;                &lt;Box style={{ width: 190 }}&gt;&lt;Text style={{ fontSize: 15, color: '#546779' }}&gt;连通与邻格&lt;/Text&gt;&lt;/Box&gt;&#10;                &lt;Text style={{ fontSize: 15, color: '#20344B', lineHeight: 1.5, flex: 1 }}&gt;外边界阻挡、内部连通；对象留可走邻格&lt;/Text&gt;&#10;            &lt;/Box&gt;&#10;&#10;            &lt;Box style={{ width: 700, height: 72, background: '#F4F7FA', borderRadius: 10, padding: '0 18px', flexDirection: 'row', alignItems: 'center', gap: 14 }}&gt;&#10;                &lt;Box style={{ width: 4, height: 40, background: '#276FBF' }} /&gt;&#10;                &lt;Box style={{ width: 190 }}&gt;&lt;Text style={{ fontSize: 15, color: '#546779' }}&gt;出生点&lt;/Text&gt;&lt;/Box&gt;&#10;                &lt;Text style={{ fontSize: 15, color: '#20344B', lineHeight: 1.5, flex: 1 }}&gt;四位来访者从入口，余真从等候区&lt;/Text&gt;&#10;            &lt;/Box&gt;&#10;&#10;            &lt;Box style={{ width: 700, height: 72, background: '#ECF7F2', borderRadius: 10, padding: '0 18px', flexDirection: 'row', alignItems: 'center', gap: 14 }}&gt;&#10;                &lt;Box style={{ width: 4, height: 40, background: '#26816B' }} /&gt;&#10;                &lt;Box style={{ width: 190 }}&gt;&lt;Text style={{ fontSize: 15, color: '#26816B' }}&gt;两组一致性&lt;/Text&gt;&lt;/Box&gt;&#10;                &lt;Text style={{ fontSize: 15, color: '#20344B', lineHeight: 1.5, flex: 1 }}&gt;实际出生、遮挡与视野一致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运行条件与观察窗口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动手前先冻结的条件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9600" y="1847850"/>
            <a:ext cx="4000500" cy="2552700"/>
          </a:xfrm>
          <a:prstGeom prst="roundRect">
            <a:avLst>
              <a:gd name="adj" fmla="val 44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19150" y="221932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两组相同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19150" y="2466975"/>
            <a:ext cx="358140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3300" b="1">
                <a:solidFill>
                  <a:srgbClr val="276FB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19150" y="3105150"/>
            <a:ext cx="35814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2026-10-18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09:00—10:15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Asia/Shanghai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·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分钟／步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19150" y="3771900"/>
            <a:ext cx="3581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正式比较前校准并冻结；两组相同。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4552950"/>
            <a:ext cx="40005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800100" y="48006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90600" y="4933950"/>
            <a:ext cx="3429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最后一轮尚未投递的回复，不算人物已收到。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4914900" y="1419225"/>
            <a:ext cx="66675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5086350" y="15716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257800" y="16764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世界与区域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200900" y="163830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World“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青禾社区”→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Sector“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便民服务站”，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20×16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4914900" y="2200275"/>
            <a:ext cx="66675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5086350" y="23526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5257800" y="24574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入口与等候区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7200900" y="241935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入口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[1,1,18,3]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·　等候区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[1,4,18,4]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4914900" y="2981325"/>
            <a:ext cx="66675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5086350" y="31337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5257800" y="32385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两个服务区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200900" y="320040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[1,8,9,7]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[10,8,9,7]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4914900" y="3762375"/>
            <a:ext cx="66675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5086350" y="39147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257800" y="40195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连通与邻格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200900" y="398145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外边界阻挡、内部连通；对象留可走邻格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4914900" y="4543425"/>
            <a:ext cx="66675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5086350" y="46958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5257800" y="480060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出生点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7200900" y="476250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四位来访者从入口，余真从等候区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4914900" y="5324475"/>
            <a:ext cx="66675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5086350" y="54768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5257800" y="5581650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两组一致性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200900" y="5543550"/>
            <a:ext cx="4210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实际出生、遮挡与视野一致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94" name="" descr="&lt;Slide notes={`下面进入这一节的唯一变量。&#10;&#10;刚才那些条件——地图、人物、模型、依赖、窗口规则、留存设置——两组完全一样，一个字都不改。&#10;&#10;唯一改动的，是咨询台在处理请求时那一段判断方法。基线那一组，目的不明也照样给一次最可能的窗口建议；对照那一组，如果信息里没有说清是安排未来还是报告现在，就先只问这一点，暂时不给建议。&#10;&#10;所以这一块要盯住的是：改动是不是真的只有这一处，其余条件有没有被偷偷动过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4.1.3&lt;/Text&gt;&#10;&#10;        &lt;Text style={{ fontSize: 56, fontWeight: 'bold', color: '#20344B', lineHeight: 1.15 }}&gt;唯一变化：一段判断方法&lt;/Text&gt;&#10;&#10;        &lt;Box style={{ width: 72, height: 4, background: '#276FBF' }} /&gt;&#10;&#10;        &lt;Text style={{ fontSize: 18, color: '#546779', lineHeight: 1.7, width: 900 }}&gt;地图、人物、模型、依赖、窗口规则与留存设置相同；只替换咨询台的一段决策提示词。&lt;/Text&gt;&#10;&#10;        &lt;Box style={{ flexDirection: 'row', alignItems: 'center', marginTop: 10 }}&gt;&#10;            &lt;Box style={{ width: 300, height: 64, background: '#F4F7FA', borderRadius: 8, justifyContent: 'center', alignItems: 'center' }}&gt;&#10;                &lt;Text style={{ fontSize: 18, color: '#546779' }}&gt;基线：照常建议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对照：先问缺字段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同一套请求与确认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4.1.3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唯一变化：一段判断方法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地图、人物、模型、依赖、窗口规则与留存设置相同；只替换咨询台的一段决策提示词。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438275" y="425767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基线：照常建议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629150" y="42576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对照：先问缺字段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905750" y="42576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同一套请求与确认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notes={`这两段文字就是实验的全部差别，我逐句念一下。&#10;&#10;基线这一组：按这次请求和此前实际获得的信息，给一次窗口建议。关键目的不明确时，选你认为最可能的那个窗口，并且明确说明这只是推测，不要先发澄清问题。收到新的说明之后，可以修正建议。&#10;&#10;对照这一组只换掉这一段：如果现有信息没有说明是安排未来的使用还是报告现有的问题，就先只问这一点，暂时不推荐窗口；已经有明确目的就直接建议。收到同一个人的真实补充之后，再按同样的服务范围推荐窗口，不要重复追问已经回答过的字段。&#10;&#10;两段的差别只有一处：缺字段时，是先建议还是先追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3　唯一变化：咨询台的一段判断方法&lt;/Text&gt;&#10;            &lt;Text style={{ fontSize: 34, fontWeight: 'bold', color: '#20344B' }}&gt;只替换一段话&lt;/Text&gt;&#10;        &lt;/Box&gt;&#10;    &lt;/Box&gt;&#10;&#10;    &lt;Box style={{ height: 540, flexDirection: 'column', justifyContent: 'center', gap: 14 }}&gt;&#10;&#10;        &lt;Box style={{ width: 1152, height: 190, background: '#F4F7FA', borderRadius: 12, padding: '16px 24px', flexDirection: 'column', gap: 8, justifyContent: 'center' }}&gt;&#10;            &lt;Text style={{ fontSize: 20, fontWeight: 'bold', color: '#546779' }}&gt;基线决策段&lt;/Text&gt;&#10;            &lt;Text style={{ fontSize: 16, color: '#20344B', lineHeight: 1.65 }}&gt;根据本次请求及此前实际获得的信息给出一次窗口建议。关键目的不明确时，选择你认为最可能的窗口，明确说明这是推测；不要先发澄清问题。收到新的说明后可以修正建议。&lt;/Text&gt;&#10;        &lt;/Box&gt;&#10;&#10;        &lt;Box style={{ width: 1152, height: 76, background: '#FFF4E6', borderRadius: 10, padding: '0 24px', flexDirection: 'row', alignItems: 'center', gap: 18 }}&gt;&#10;            &lt;Box style={{ width: 4, height: 44, background: '#CB6B28' }} /&gt;&#10;            &lt;Text style={{ fontSize: 17, fontWeight: 'bold', color: '#CB6B28' }}&gt;两段唯一的差别&lt;/Text&gt;&#10;            &lt;Text style={{ fontSize: 16, color: '#546779', flex: 1 }}&gt;目的不明时：先给一次最可能的建议（标明推测），还是先只追问缺的那一个字段。&lt;/Text&gt;&#10;        &lt;/Box&gt;&#10;&#10;        &lt;Box style={{ width: 1152, height: 190, background: '#ECF7F2', borderRadius: 12, padding: '16px 24px', flexDirection: 'column', gap: 8, justifyContent: 'center' }}&gt;&#10;            &lt;Text style={{ fontSize: 20, fontWeight: 'bold', color: '#26816B' }}&gt;对照仅替换为&lt;/Text&gt;&#10;            &lt;Text style={{ fontSize: 16, color: '#20344B', lineHeight: 1.65 }}&gt;若现有信息没有说明“安排未来使用”还是“报告现有问题”，先只询问这一点，暂不建议窗口；已有明确目的则直接建议。收到同一人的真实补充后，再按相同服务范围推荐窗口。不要重复追问已经回答的字段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唯一变化：咨询台的一段判断方法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438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只替换一段话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1409700"/>
            <a:ext cx="10972800" cy="180975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185737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546779"/>
                </a:solidFill>
                <a:latin typeface="Microsoft YaHei"/>
                <a:ea typeface="Microsoft YaHei"/>
              </a:rPr>
              <a:t>基线决策段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2162175"/>
            <a:ext cx="10515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根据本次请求及此前实际获得的信息给出一次窗口建议。关键目的不明确时，选择你认为最可能的窗口，明确说明这是推测；不要先发澄清问题。收到新的说明后可以修正建议。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33528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838200" y="3505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47750" y="361950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两段唯一的差别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352675" y="3619500"/>
            <a:ext cx="900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目的不明时：先给一次最可能的建议（标明推测），还是先只追问缺的那一个字段。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4210050"/>
            <a:ext cx="10972800" cy="1809750"/>
          </a:xfrm>
          <a:prstGeom prst="roundRect">
            <a:avLst>
              <a:gd name="adj" fmla="val 631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8200" y="4657725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对照仅替换为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8200" y="4962525"/>
            <a:ext cx="10515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若现有信息没有说明“安排未来使用”还是“报告现有问题”，先只询问这一点，暂不建议窗口；已有明确目的则直接建议。收到同一人的真实补充后，再按相同服务范围推荐窗口。不要重复追问已经回答的字段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notes={`两段决策方法之后，后面的流程是同一套，两组都要走一遍。&#10;&#10;从相同的首句开始：周澈和孟川说的完全一样，谭悦和邱禾说的也完全一样。基线这一组会拿到一次建议，对照这一组会先被追问缺的字段；追问之后收到同一个人的真实补充，再按同样的服务范围给出建议。&#10;&#10;拿到建议之后，就要合法导航、实际移动，走到窗口，取得窗口的真实回复，最后真实确认下一步该准备什么。&#10;&#10;有一条旁路必须记住：走错窗口之后还可以改道，但走错时发出的请求仍然计数，额外追问的轮次和对象调用也照样计成本。箭头只表示顺序关系，不指定在第几步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3　决策之后的同一套流程&lt;/Text&gt;&#10;            &lt;Text style={{ fontSize: 34, fontWeight: 'bold', color: '#20344B' }}&gt;从首句走到确认&lt;/Text&gt;&#10;        &lt;/Box&gt;&#10;    &lt;/Box&gt;&#10;&#10;    &lt;Box style={{ height: 540, flexDirection: 'row', alignItems: 'center', gap: 32 }}&gt;&#10;&#10;        &lt;Box style={{ width: 760, flexDirection: 'column', justifyContent: 'center' }}&gt;&#10;&#10;            &lt;Box style={{ width: 760, height: 56, background: '#F4F7FA', borderRadius: 8, padding: '0 20px', flexDirection: 'row', alignItems: 'center', justifyContent: 'center' }}&gt;&#10;                &lt;Text style={{ fontSize: 17, color: '#20344B' }}&gt;相同首句：H1 = H3，H2 = H4　·　每人的完整目的分别私有&lt;/Text&gt;&#10;            &lt;/Box&gt;&#10;&#10;            &lt;Box style={{ width: 760, height: 26, justifyContent: 'center', alignItems: 'center' }}&gt;&#10;                &lt;Text style={{ fontSize: 16, color: '#276FBF' }}&gt;↓&lt;/Text&gt;&#10;            &lt;/Box&gt;&#10;&#10;            &lt;Box style={{ width: 760, flexDirection: 'row', gap: 20 }}&gt;&#10;                &lt;Box style={{ width: 370, height: 84, background: '#F4F7FA', borderRadius: 8, padding: '0 18px', flexDirection: 'column', gap: 4, justifyContent: 'center' }}&gt;&#10;                    &lt;Text style={{ fontSize: 16, fontWeight: 'bold', color: '#546779' }}&gt;基线：给一次建议&lt;/Text&gt;&#10;                    &lt;Text style={{ fontSize: 14, color: '#546779' }}&gt;标明是推测，可被新说明修正&lt;/Text&gt;&#10;                &lt;/Box&gt;&#10;                &lt;Box style={{ width: 370, height: 84, background: '#ECF7F2', borderRadius: 8, padding: '0 18px', flexDirection: 'column', gap: 4, justifyContent: 'center' }}&gt;&#10;                    &lt;Text style={{ fontSize: 16, fontWeight: 'bold', color: '#26816B' }}&gt;对照：只追问这一字段&lt;/Text&gt;&#10;                    &lt;Text style={{ fontSize: 14, color: '#546779' }}&gt;收到真实补充后再推荐窗口&lt;/Text&gt;&#10;                &lt;/Box&gt;&#10;            &lt;/Box&gt;&#10;&#10;            &lt;Box style={{ width: 760, height: 26, justifyContent: 'center', alignItems: 'center' }}&gt;&#10;                &lt;Text style={{ fontSize: 16, color: '#276FBF' }}&gt;↓&lt;/Text&gt;&#10;            &lt;/Box&gt;&#10;&#10;            &lt;Box style={{ width: 760, height: 56, background: '#EDF4FC', borderRadius: 8, padding: '0 20px', flexDirection: 'row', alignItems: 'center', justifyContent: 'center' }}&gt;&#10;                &lt;Text style={{ fontSize: 17, color: '#276FBF' }}&gt;按相同服务分工建议窗口 → 合法导航 → 实际移动&lt;/Text&gt;&#10;            &lt;/Box&gt;&#10;&#10;            &lt;Box style={{ width: 760, height: 26, justifyContent: 'center', alignItems: 'center' }}&gt;&#10;                &lt;Text style={{ fontSize: 16, color: '#276FBF' }}&gt;↓&lt;/Text&gt;&#10;            &lt;/Box&gt;&#10;&#10;            &lt;Box style={{ width: 760, height: 56, background: '#EDF4FC', borderRadius: 8, padding: '0 20px', flexDirection: 'row', alignItems: 'center', justifyContent: 'center' }}&gt;&#10;                &lt;Text style={{ fontSize: 17, color: '#276FBF' }}&gt;匹配窗口实际回复&lt;/Text&gt;&#10;            &lt;/Box&gt;&#10;&#10;            &lt;Box style={{ width: 760, height: 26, justifyContent: 'center', alignItems: 'center' }}&gt;&#10;                &lt;Text style={{ fontSize: 16, color: '#26816B' }}&gt;↓&lt;/Text&gt;&#10;            &lt;/Box&gt;&#10;&#10;            &lt;Box style={{ width: 760, height: 56, background: '#ECF7F2', borderRadius: 8, padding: '0 20px', flexDirection: 'row', alignItems: 'center', justifyContent: 'center' }}&gt;&#10;                &lt;Text style={{ fontSize: 17, color: '#26816B' }}&gt;真实确认正确下一步&lt;/Text&gt;&#10;            &lt;/Box&gt;&#10;&#10;        &lt;/Box&gt;&#10;&#10;        &lt;Box style={{ width: 360, flexDirection: 'column', gap: 20 }}&gt;&#10;&#10;            &lt;Box style={{ width: 360, height: 150, background: '#FFF4E6', borderRadius: 10, padding: '16px 20px', flexDirection: 'column', gap: 6, justifyContent: 'center' }}&gt;&#10;                &lt;Text style={{ fontSize: 17, fontWeight: 'bold', color: '#CB6B28' }}&gt;走错后的请求仍计数&lt;/Text&gt;&#10;                &lt;Text style={{ fontSize: 15, color: '#546779', lineHeight: 1.55 }}&gt;可以改道，但已发出的错误请求、额外追问轮次与对象调用都计入成本。&lt;/Text&gt;&#10;            &lt;/Box&gt;&#10;&#10;            &lt;Box style={{ width: 360, height: 150, background: '#ECF7F2', borderRadius: 10, padding: '16px 20px', flexDirection: 'column', gap: 6, justifyContent: 'center' }}&gt;&#10;                &lt;Text style={{ fontSize: 17, fontWeight: 'bold', color: '#26816B' }}&gt;补充必须来自同一人&lt;/Text&gt;&#10;                &lt;Text style={{ fontSize: 15, color: '#546779', lineHeight: 1.55 }}&gt;教师答案不能当作补充；基线收到新说明后同样可以补救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决策之后的同一套流程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从首句走到确认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1752600"/>
            <a:ext cx="72390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019300" y="1924050"/>
            <a:ext cx="4429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相同首句：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H1 = H3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H2 = H4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　·　每人的完整目的分别私有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191000" y="23145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2533650"/>
            <a:ext cx="352425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81050" y="274320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基线：给一次建议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81050" y="2971800"/>
            <a:ext cx="318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标明是推测，可被新说明修正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324350" y="2533650"/>
            <a:ext cx="3524250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495800" y="274320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对照：只追问这一字段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495800" y="2971800"/>
            <a:ext cx="3181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收到真实补充后再推荐窗口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191000" y="33623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3581400"/>
            <a:ext cx="72390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428875" y="3752850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按相同服务分工建议窗口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合法导航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实际移动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191000" y="41433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09600" y="4362450"/>
            <a:ext cx="72390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581400" y="45339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匹配窗口实际回复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191000" y="492442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5143500"/>
            <a:ext cx="72390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505200" y="53149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真实确认正确下一步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153400" y="2190750"/>
            <a:ext cx="3429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43900" y="251460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走错后的请求仍计数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43900" y="2771775"/>
            <a:ext cx="3048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可以改道，但已发出的错误请求、额外追问轮次与对象调用都计入成本。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8153400" y="3810000"/>
            <a:ext cx="34290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43900" y="4133850"/>
            <a:ext cx="304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补充必须来自同一人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43900" y="4391025"/>
            <a:ext cx="3048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教师答案不能当作补充；基线收到新说明后同样可以补救。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6" name="" descr="&lt;Slide notes={`两组的共同 SOP 是一样的：读取真实的待办请求，依据服务范围说明窗口、理由和下一步；按请求编号回复，不广播，也不声称已经办好；获知的目的，只能在这个对象自己的记忆里和真实的请求者关联起来。&#10;&#10;接下来是成本口径，这一点最容易被忽略。&#10;&#10;第一，错误窗口的请求逐次计；走错之后可以改道，但已经发出去的那几次请求照样算数。第二，额外的追问轮次也算；对照多问的那一轮不是免费的。第三，对象调用同样计成本，每一次调用都有代价，不存在零成本重试。&#10;&#10;所以“先问清楚”可能有收益，也一定带着代价，这两面都要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3　共同 SOP 与成本口径&lt;/Text&gt;&#10;            &lt;Text style={{ fontSize: 34, fontWeight: 'bold', color: '#20344B' }}&gt;走错一次也要记账&lt;/Text&gt;&#10;        &lt;/Box&gt;&#10;    &lt;/Box&gt;&#10;&#10;    &lt;Box style={{ height: 540, flexDirection: 'column', justifyContent: 'center', gap: 14 }}&gt;&#10;&#10;        &lt;Box style={{ width: 1152, height: 84, background: '#EDF4FC', borderRadius: 10, padding: '0 22px', flexDirection: 'row', alignItems: 'center', gap: 18 }}&gt;&#10;            &lt;Box style={{ width: 4, height: 48, background: '#276FBF' }} /&gt;&#10;            &lt;Box style={{ flexDirection: 'column', gap: 4, flex: 1 }}&gt;&#10;                &lt;Text style={{ fontSize: 17, fontWeight: 'bold', color: '#276FBF' }}&gt;共同 SOP（两组相同）&lt;/Text&gt;&#10;                &lt;Text style={{ fontSize: 15, color: '#546779', lineHeight: 1.5 }}&gt;读取真实待办请求，按服务范围说明窗口、理由与下一步；按请求 ID 回复，不广播、不声称已办理。&lt;/Text&gt;&#10;            &lt;/Box&gt;&#10;        &lt;/Box&gt;&#10;&#10;        &lt;Box style={{ width: 1152, height: 88, background: '#F4F7FA', borderRadius: 10, padding: '0 22px', flexDirection: 'row', alignItems: 'center', gap: 16 }}&gt;&#10;            &lt;Box style={{ width: 4, height: 44, background: '#CB6B28' }} /&gt;&#10;            &lt;Text style={{ fontSize: 18, fontWeight: 'bold', color: '#20344B', width: 240 }}&gt;错误窗口请求&lt;/Text&gt;&#10;            &lt;Text style={{ fontSize: 15, color: '#546779', lineHeight: 1.5, flex: 1 }}&gt;逐次计；走错后可改道，但已发出的请求仍算数。&lt;/Text&gt;&#10;        &lt;/Box&gt;&#10;&#10;        &lt;Box style={{ width: 1152, height: 88, background: '#F4F7FA', borderRadius: 10, padding: '0 22px', flexDirection: 'row', alignItems: 'center', gap: 16 }}&gt;&#10;            &lt;Box style={{ width: 4, height: 44, background: '#CB6B28' }} /&gt;&#10;            &lt;Text style={{ fontSize: 18, fontWeight: 'bold', color: '#20344B', width: 240 }}&gt;额外追问轮次&lt;/Text&gt;&#10;            &lt;Text style={{ fontSize: 15, color: '#546779', lineHeight: 1.5, flex: 1 }}&gt;对照多问的那一轮计入成本，不是免费获得的信息。&lt;/Text&gt;&#10;        &lt;/Box&gt;&#10;&#10;        &lt;Box style={{ width: 1152, height: 88, background: '#F4F7FA', borderRadius: 10, padding: '0 22px', flexDirection: 'row', alignItems: 'center', gap: 16 }}&gt;&#10;            &lt;Box style={{ width: 4, height: 44, background: '#CB6B28' }} /&gt;&#10;            &lt;Text style={{ fontSize: 18, fontWeight: 'bold', color: '#20344B', width: 240 }}&gt;对象调用&lt;/Text&gt;&#10;            &lt;Text style={{ fontSize: 15, color: '#546779', lineHeight: 1.5, flex: 1 }}&gt;每次调用都有代价；不存在零成本的重试。&lt;/Text&gt;&#10;        &lt;/Box&gt;&#10;&#10;        &lt;Box style={{ width: 1152, height: 96, background: '#FFF4E6', borderRadius: 10, padding: '0 22px', flexDirection: 'row', alignItems: 'center', gap: 18 }}&gt;&#10;            &lt;Box style={{ width: 4, height: 56, background: '#CB6B28' }} /&gt;&#10;            &lt;Text style={{ fontSize: 16, color: '#546779', lineHeight: 1.6, flex: 1 }}&gt;新增信息必须来自实际回复，不能预塞进任务表；地图、人物、模型、依赖、窗口规则与留存设置两组相同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共同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与成本口径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走错一次也要记账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13335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819150" y="15049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028700" y="1485900"/>
            <a:ext cx="10344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共同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（两组相同）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28700" y="1724025"/>
            <a:ext cx="10344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读取真实待办请求，按服务范围说明窗口、理由与下一步；按请求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回复，不广播、不声称已办理。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22669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819150" y="24765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09650" y="258127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错误窗口请求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448050" y="25622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逐次计；走错后可改道，但已发出的请求仍算数。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32385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819150" y="34480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09650" y="355282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额外追问轮次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448050" y="353377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对照多问的那一轮计入成本，不是免费获得的信息。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42100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819150" y="44196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09650" y="4524375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对象调用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448050" y="45053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每次调用都有代价；不存在零成本的重试。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51816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819150" y="53721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28700" y="54959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新增信息必须来自实际回复，不能预塞进任务表；地图、人物、模型、依赖、窗口规则与留存设置两组相同。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 notes={`接下来要看的是，怎么把请求、移动和确认这三件事连成一条能取证的线。&#10;&#10;一条闭环要成立，每一环都得留下证据：谁提交了请求、谁给出了建议、人有没有真的移动、窗口有没有真的回复、最后有没有真的确认。&#10;&#10;缺任何一环，这条闭环就不算成立。停在入口建议上，或者只是走到了窗口，都不够。&#10;&#10;所以这一块的重点不是最后结论好不好看，而是每一环有没有真实发生、能不能被取到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4.1.4 — 4.1.5&lt;/Text&gt;&#10;&#10;        &lt;Text style={{ fontSize: 56, fontWeight: 'bold', color: '#20344B', lineHeight: 1.15 }}&gt;用条件连接请求、移动与确认&lt;/Text&gt;&#10;&#10;        &lt;Box style={{ width: 72, height: 4, background: '#276FBF' }} /&gt;&#10;&#10;        &lt;Text style={{ fontSize: 18, color: '#546779', lineHeight: 1.7, width: 900 }}&gt;每一环都要能取到证据；缺一环，闭环就不成立，比率也要按真实分母重算。&lt;/Text&gt;&#10;&#10;        &lt;Box style={{ flexDirection: 'row', alignItems: 'center', marginTop: 10 }}&gt;&#10;            &lt;Box style={{ width: 220, height: 64, background: '#EDF4FC', borderRadius: 8, justifyContent: 'center', alignItems: 'center' }}&gt;&#10;                &lt;Text style={{ fontSize: 17, color: '#276FBF' }}&gt;提交首句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20, height: 64, background: '#EDF4FC', borderRadius: 8, justifyContent: 'center', alignItems: 'center' }}&gt;&#10;                &lt;Text style={{ fontSize: 17, color: '#276FBF' }}&gt;实际移动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20, height: 64, background: '#EDF4FC', borderRadius: 8, justifyContent: 'center', alignItems: 'center' }}&gt;&#10;                &lt;Text style={{ fontSize: 17, color: '#276FBF' }}&gt;窗口回复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20, height: 64, background: '#ECF7F2', borderRadius: 8, justifyContent: 'center', alignItems: 'center' }}&gt;&#10;                &lt;Text style={{ fontSize: 17, color: '#26816B' }}&gt;真实确认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4.1.4 — 4.1.5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用条件连接请求、移动与确认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每一环都要能取到证据；缺一环，闭环就不成立，比率也要按真实分母重算。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33350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提交首句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876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31242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84810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实际移动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391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6388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36270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窗口回复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9057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153400" y="4057650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87730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真实确认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 notes={`这条闭环有五步，我按顺序说。&#10;&#10;第一，来访者接近咨询台，感知到交互项，提交规定的那句开场话。第二，如果收到澄清，就说明自己的目的；如果收到建议，就记录建议的来源，合法导航过去并且真的移动。&#10;&#10;第三，窗口面对缺目的的人会追问；情况对得上就给下一步，对不上就解释分工并转介到另一个窗口。&#10;&#10;第四，收到适配的回复之后，要用真实的发言或者后续交互，把正确的窗口和要准备的内容复述一遍。自己心里总结一下不算确认。&#10;&#10;第五，没有新条件的时候可以有理由地等待，但不能为了凑剧情去按步数安排行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4　用条件连接请求、移动与确认&lt;/Text&gt;&#10;            &lt;Text style={{ fontSize: 34, fontWeight: 'bold', color: '#20344B' }}&gt;五步闭环，每步都要有证据&lt;/Text&gt;&#10;        &lt;/Box&gt;&#10;    &lt;/Box&gt;&#10;&#10;    &lt;Box style={{ height: 540, flexDirection: 'column', justifyContent: 'center', gap: 12 }}&gt;&#10;&#10;        &lt;Text style={{ fontSize: 15, color: '#546779' }}&gt;每步都必须真实发生，并留下可核对的记录。&lt;/Text&gt;&#10;&#10;        &lt;Box style={{ width: 1152, height: 84, background: '#F4F7FA', borderRadius: 10, padding: '0 20px', flexDirection: 'row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1&lt;/Text&gt;&#10;            &lt;/Box&gt;&#10;            &lt;Text style={{ fontSize: 17, fontWeight: 'bold', color: '#20344B', width: 200 }}&gt;提交规定首句&lt;/Text&gt;&#10;            &lt;Text style={{ fontSize: 15, color: '#546779', lineHeight: 1.5, flex: 1 }}&gt;接近咨询台，感知交互项，提交规定首句。&lt;/Text&gt;&#10;        &lt;/Box&gt;&#10;&#10;        &lt;Box style={{ width: 1152, height: 84, background: '#F4F7FA', borderRadius: 10, padding: '0 20px', flexDirection: 'row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2&lt;/Text&gt;&#10;            &lt;/Box&gt;&#10;            &lt;Text style={{ fontSize: 17, fontWeight: 'bold', color: '#20344B', width: 200 }}&gt;补充，或记录来源&lt;/Text&gt;&#10;            &lt;Text style={{ fontSize: 15, color: '#546779', lineHeight: 1.5, flex: 1 }}&gt;收到澄清就说明私人目的；收到建议就记录来源，合法导航并实际移动。&lt;/Text&gt;&#10;        &lt;/Box&gt;&#10;&#10;        &lt;Box style={{ width: 1152, height: 84, background: '#F4F7FA', borderRadius: 10, padding: '0 20px', flexDirection: 'row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3&lt;/Text&gt;&#10;            &lt;/Box&gt;&#10;            &lt;Text style={{ fontSize: 17, fontWeight: 'bold', color: '#20344B', width: 200 }}&gt;追问、适配与转介&lt;/Text&gt;&#10;            &lt;Text style={{ fontSize: 15, color: '#546779', lineHeight: 1.5, flex: 1 }}&gt;窗口对缺目的者追问；适配则给下一步，不适配则解释分工并转介。&lt;/Text&gt;&#10;        &lt;/Box&gt;&#10;&#10;        &lt;Box style={{ width: 1152, height: 84, background: '#FFF4E6', borderRadius: 10, padding: '0 20px', flexDirection: 'row', alignItems: 'center', gap: 16 }}&gt;&#10;            &lt;Box style={{ width: 40, height: 40, background: '#CB6B28', borderRadius: 8, justifyContent: 'center', alignItems: 'center' }}&gt;&#10;                &lt;Text style={{ fontSize: 18, fontWeight: 'bold', color: '#FFFFFF' }}&gt;4&lt;/Text&gt;&#10;            &lt;/Box&gt;&#10;            &lt;Text style={{ fontSize: 17, fontWeight: 'bold', color: '#20344B', width: 200 }}&gt;真实复述&lt;/Text&gt;&#10;            &lt;Text style={{ fontSize: 15, color: '#546779', lineHeight: 1.5, flex: 1 }}&gt;以真实发言或后续交互复述正确窗口与准备内容；私人总结不算确认。&lt;/Text&gt;&#10;        &lt;/Box&gt;&#10;&#10;        &lt;Box style={{ width: 1152, height: 84, background: '#F4F7FA', borderRadius: 10, padding: '0 20px', flexDirection: 'row', alignItems: 'center', gap: 16 }}&gt;&#10;            &lt;Box style={{ width: 40, height: 40, background: '#276FBF', borderRadius: 8, justifyContent: 'center', alignItems: 'center' }}&gt;&#10;                &lt;Text style={{ fontSize: 18, fontWeight: 'bold', color: '#FFFFFF' }}&gt;5&lt;/Text&gt;&#10;            &lt;/Box&gt;&#10;            &lt;Text style={{ fontSize: 17, fontWeight: 'bold', color: '#20344B', width: 200 }}&gt;可有理由地等待&lt;/Text&gt;&#10;            &lt;Text style={{ fontSize: 15, color: '#546779', lineHeight: 1.5, flex: 1 }}&gt;无新条件可有理由地等待，不按 Step 排剧情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用条件连接请求、移动与确认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五步闭环，每步都要有证据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每步都必须真实发生，并留下可核对的记录。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09600" y="16287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800100" y="18383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33450" y="1924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333500" y="19335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提交规定首句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390900" y="1905000"/>
            <a:ext cx="800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接近咨询台，感知交互项，提交规定首句。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25431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800100" y="27527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33450" y="2838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333500" y="28479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补充，或记录来源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390900" y="2819400"/>
            <a:ext cx="800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收到澄清就说明私人目的；收到建议就记录来源，合法导航并实际移动。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34575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800100" y="36671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33450" y="37528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333500" y="37623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追问、适配与转介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390900" y="3733800"/>
            <a:ext cx="800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窗口对缺目的者追问；适配则给下一步，不适配则解释分工并转介。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43719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800100" y="4581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33450" y="4667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33500" y="46767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真实复述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390900" y="4648200"/>
            <a:ext cx="800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以真实发言或后续交互复述正确窗口与准备内容；私人总结不算确认。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52863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800100" y="54959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33450" y="55816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333500" y="5591175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可有理由地等待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390900" y="5562600"/>
            <a:ext cx="800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无新条件可有理由地等待，不按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排剧情。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notes={`有三句话特别容易被读错，我逐条说清。&#10;&#10;第一，工具接受了不等于窗口已经答复。提交成功只说明请求被受理，不代表对方给了适配的建议，更不代表事情办好了。&#10;&#10;第二，导航可达不等于已经抵达。路径算得出来，只说明理论上走得到，实际位置必须和感知记录核对。&#10;&#10;第三，这个案例里没有业务排队模型。对象一轮可以答复多个请求，所以等待不能被解释成行政审批的吞吐能力。&#10;&#10;这三条都会直接影响指标怎么算，不能含糊过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4　容易被读错的边界&lt;/Text&gt;&#10;            &lt;Text style={{ fontSize: 34, fontWeight: 'bold', color: '#20344B' }}&gt;三句容易被读错的边界&lt;/Text&gt;&#10;        &lt;/Box&gt;&#10;    &lt;/Box&gt;&#10;&#10;    &lt;Box style={{ height: 540, flexDirection: 'column', justifyContent: 'center', gap: 12 }}&gt;&#10;&#10;        &lt;Box style={{ width: 1152, flexDirection: 'row', gap: 32 }}&gt;&#10;            &lt;Box style={{ width: 680 }}&gt;&lt;Text style={{ fontSize: 14, color: '#546779' }}&gt;容易混淆的说法&lt;/Text&gt;&lt;/Box&gt;&#10;            &lt;Box style={{ width: 440 }}&gt;&lt;Text style={{ fontSize: 14, color: '#546779' }}&gt;正确的读法&lt;/Text&gt;&lt;/Box&gt;&#10;        &lt;/Box&gt;&#10;&#10;        &lt;Box style={{ width: 1152, flexDirection: 'row', gap: 32 }}&gt;&#10;            &lt;Box style={{ width: 680, height: 116, background: '#EDF4FC', borderRadius: 10, padding: '0 20px', flexDirection: 'row', alignItems: 'center', gap: 16 }}&gt;&#10;                &lt;Box style={{ width: 4, height: 56, background: '#276FBF' }} /&gt;&#10;                &lt;Text style={{ fontSize: 20, fontWeight: 'bold', color: '#276FBF' }}&gt;工具接受 ≠ 窗口已答复&lt;/Text&gt;&#10;            &lt;/Box&gt;&#10;            &lt;Box style={{ width: 440, height: 116, background: '#FFF4E6', borderRadius: 10, padding: '0 20px', flexDirection: 'row', alignItems: 'center' }}&gt;&#10;                &lt;Text style={{ fontSize: 15, color: '#546779', lineHeight: 1.55 }}&gt;提交成功只说明请求被受理，不代表对方给出适配且可执行的建议。&lt;/Text&gt;&#10;            &lt;/Box&gt;&#10;        &lt;/Box&gt;&#10;&#10;        &lt;Box style={{ width: 1152, flexDirection: 'row', gap: 32 }}&gt;&#10;            &lt;Box style={{ width: 680, height: 116, background: '#EDF4FC', borderRadius: 10, padding: '0 20px', flexDirection: 'row', alignItems: 'center', gap: 16 }}&gt;&#10;                &lt;Box style={{ width: 4, height: 56, background: '#276FBF' }} /&gt;&#10;                &lt;Text style={{ fontSize: 20, fontWeight: 'bold', color: '#276FBF' }}&gt;导航可达 ≠ 已抵达&lt;/Text&gt;&#10;            &lt;/Box&gt;&#10;            &lt;Box style={{ width: 440, height: 116, background: '#FFF4E6', borderRadius: 10, padding: '0 20px', flexDirection: 'row', alignItems: 'center' }}&gt;&#10;                &lt;Text style={{ fontSize: 15, color: '#546779', lineHeight: 1.55 }}&gt;路径存在只说明理论上可达；实际位置必须与感知记录核对。&lt;/Text&gt;&#10;            &lt;/Box&gt;&#10;        &lt;/Box&gt;&#10;&#10;        &lt;Box style={{ width: 1152, flexDirection: 'row', gap: 32 }}&gt;&#10;            &lt;Box style={{ width: 680, height: 116, background: '#EDF4FC', borderRadius: 10, padding: '0 20px', flexDirection: 'row', alignItems: 'center', gap: 16 }}&gt;&#10;                &lt;Box style={{ width: 4, height: 56, background: '#276FBF' }} /&gt;&#10;                &lt;Text style={{ fontSize: 20, fontWeight: 'bold', color: '#276FBF' }}&gt;本案没有业务排队模型&lt;/Text&gt;&#10;            &lt;/Box&gt;&#10;            &lt;Box style={{ width: 440, height: 116, background: '#FFF4E6', borderRadius: 10, padding: '0 20px', flexDirection: 'row', alignItems: 'center' }}&gt;&#10;                &lt;Text style={{ fontSize: 15, color: '#546779', lineHeight: 1.55 }}&gt;对象一轮可答复多个请求；等待不能被解释成行政窗口的吞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容易被读错的边界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三句容易被读错的边界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647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容易混淆的说法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391400" y="1809750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正确的读法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2085975"/>
            <a:ext cx="64770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800100" y="23717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90600" y="2524125"/>
            <a:ext cx="198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工具接受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窗口已答复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391400" y="2085975"/>
            <a:ext cx="41910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581900" y="2371725"/>
            <a:ext cx="3810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提交成功只说明请求被受理，不代表对方给出适配且可执行的建议。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09600" y="3305175"/>
            <a:ext cx="64770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800100" y="35909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90600" y="37433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导航可达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已抵达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391400" y="3305175"/>
            <a:ext cx="41910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581900" y="3590925"/>
            <a:ext cx="3810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路径存在只说明理论上可达；实际位置必须与感知记录核对。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4524375"/>
            <a:ext cx="64770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800100" y="48101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90600" y="496252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本案没有业务排队模型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391400" y="4524375"/>
            <a:ext cx="41910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581900" y="4810125"/>
            <a:ext cx="3810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对象一轮可答复多个请求；等待不能被解释成行政窗口的吞吐。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8" name="" descr="&lt;Slide notes={`指标一共四个，重点在每个分母都不一样，必须分开算。&#10;&#10;一，正确咨询闭环率：窗口内拿到适配回复、并真实确认正确下一步的任务数除以四。只到入口建议、只是抵达、或复述错了，都不算。&#10;&#10;二，无效窗口访问率：错误窗口的请求数除以全部窗口请求数。入口咨询与澄清不计入分母，重复错误逐次计。&#10;&#10;三，重复说明负担：向同一对象、未增新事实就重复提交核心需求的次数除以四。首次向另一窗口说明、补充目的、新发现不计。&#10;&#10;四，首次有效回应时延：首次咨询到收到首条适配且可执行的建议，按虚拟分钟算，“请等一下”不算；逐人、分需求类型报告，未回应者保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5　指标覆盖全部四项任务&lt;/Text&gt;&#10;            &lt;Text style={{ fontSize: 34, fontWeight: 'bold', color: '#20344B' }}&gt;四个指标，四个分母&lt;/Text&gt;&#10;        &lt;/Box&gt;&#10;    &lt;/Box&gt;&#10;&#10;    &lt;Box style={{ height: 540, flexDirection: 'column', justifyContent: 'center', gap: 10 }}&gt;&#10;&#10;        &lt;Box style={{ width: 1152, flexDirection: 'row', padding: '0 18px', gap: 16, alignItems: 'center', height: 28 }}&gt;&#10;            &lt;Box style={{ width: 220 }}&gt;&lt;Text style={{ fontSize: 14, color: '#546779' }}&gt;指标&lt;/Text&gt;&lt;/Box&gt;&#10;            &lt;Box style={{ flex: 1 }}&gt;&lt;Text style={{ fontSize: 14, color: '#546779' }}&gt;分子／分母与边界&lt;/Text&gt;&lt;/Box&gt;&#10;        &lt;/Box&gt;&#10;&#10;        &lt;Box style={{ width: 1152, height: 96, background: '#EDF4FC', borderRadius: 10, padding: '0 18px', flexDirection: 'row', alignItems: 'center', gap: 16 }}&gt;&#10;            &lt;Box style={{ width: 4, height: 56, background: '#276FBF' }} /&gt;&#10;            &lt;Box style={{ width: 204 }}&gt;&lt;Text style={{ fontSize: 18, fontWeight: 'bold', color: '#276FBF', lineHeight: 1.35 }}&gt;正确咨询{'\n'}闭环率&lt;/Text&gt;&lt;/Box&gt;&#10;            &lt;Text style={{ fontSize: 15, color: '#20344B', lineHeight: 1.55, flex: 1 }}&gt;W 内获适配窗口回复且真实确认正确下一步的任务数 ÷ 4；每任务一次。入口建议、仅抵达、错误复述均不够。&lt;/Text&gt;&#10;        &lt;/Box&gt;&#10;&#10;        &lt;Box style={{ width: 1152, height: 96, background: '#F4F7FA', borderRadius: 10, padding: '0 18px', flexDirection: 'row', alignItems: 'center', gap: 16 }}&gt;&#10;            &lt;Box style={{ width: 4, height: 56, background: '#CB6B28' }} /&gt;&#10;            &lt;Box style={{ width: 204 }}&gt;&lt;Text style={{ fontSize: 18, fontWeight: 'bold', color: '#20344B', lineHeight: 1.35 }}&gt;无效窗口{'\n'}访问率&lt;/Text&gt;&lt;/Box&gt;&#10;            &lt;Text style={{ fontSize: 15, color: '#546779', lineHeight: 1.55, flex: 1 }}&gt;错误窗口交互请求数 ÷ 全部窗口交互请求数；不含入口咨询／澄清；重复错误请求逐次计。&lt;/Text&gt;&#10;        &lt;/Box&gt;&#10;&#10;        &lt;Box style={{ width: 1152, height: 96, background: '#F4F7FA', borderRadius: 10, padding: '0 18px', flexDirection: 'row', alignItems: 'center', gap: 16 }}&gt;&#10;            &lt;Box style={{ width: 4, height: 56, background: '#CB6B28' }} /&gt;&#10;            &lt;Box style={{ width: 204 }}&gt;&lt;Text style={{ fontSize: 18, fontWeight: 'bold', color: '#20344B', lineHeight: 1.35 }}&gt;重复说明{'\n'}负担&lt;/Text&gt;&lt;/Box&gt;&#10;            &lt;Text style={{ fontSize: 15, color: '#546779', lineHeight: 1.55, flex: 1 }}&gt;向同一对象、未增新事实的核心需求重复提交次数 ÷ 4，次／任务；首次向另一窗口说明、补充目的、新发现或纠正口误不计。&lt;/Text&gt;&#10;        &lt;/Box&gt;&#10;&#10;        &lt;Box style={{ width: 1152, height: 96, background: '#ECF7F2', borderRadius: 10, padding: '0 18px', flexDirection: 'row', alignItems: 'center', gap: 16 }}&gt;&#10;            &lt;Box style={{ width: 4, height: 56, background: '#26816B' }} /&gt;&#10;            &lt;Box style={{ width: 204 }}&gt;&lt;Text style={{ fontSize: 18, fontWeight: 'bold', color: '#26816B', lineHeight: 1.35 }}&gt;首次有效{'\n'}回应时延&lt;/Text&gt;&lt;/Box&gt;&#10;            &lt;Text style={{ fontSize: 15, color: '#20344B', lineHeight: 1.55, flex: 1 }}&gt;首次咨询 → 实际收到首条适配且可执行建议，虚拟分钟；“请等一下”不算。逐人、分需求类型报告，未回应者保留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指标覆盖全部四项任务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四个指标，四个分母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81050" y="161925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028950" y="1619250"/>
            <a:ext cx="838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分子／分母与边界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19240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781050" y="21145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71550" y="2105025"/>
            <a:ext cx="1943100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正确咨询</a:t>
            </a:r>
            <a:endParaRPr/>
          </a:p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闭环率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067050" y="2247900"/>
            <a:ext cx="8343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W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内获适配窗口回复且真实确认正确下一步的任务数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4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；每任务一次。入口建议、仅抵达、错误复述均不够。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29337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81050" y="31242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71550" y="3114675"/>
            <a:ext cx="1943100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无效窗口</a:t>
            </a:r>
            <a:endParaRPr/>
          </a:p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访问率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067050" y="3257550"/>
            <a:ext cx="8343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错误窗口交互请求数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全部窗口交互请求数；不含入口咨询／澄清；重复错误请求逐次计。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39433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781050" y="41338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71550" y="4124325"/>
            <a:ext cx="1943100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重复说明</a:t>
            </a:r>
            <a:endParaRPr/>
          </a:p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负担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067050" y="4267200"/>
            <a:ext cx="8343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向同一对象、未增新事实的核心需求重复提交次数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，次／任务；首次向另一窗口说明、补充目的、新发现或纠正口误不计。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49530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781050" y="51435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971550" y="5133975"/>
            <a:ext cx="1943100" cy="5619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首次有效</a:t>
            </a:r>
            <a:endParaRPr/>
          </a:p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回应时延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067050" y="5276850"/>
            <a:ext cx="83439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首次咨询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实际收到首条适配且可执行建议，虚拟分钟；“请等一下”不算。逐人、分需求类型报告，未回应者保留。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3" name="" descr="&lt;Slide notes={`主指标能同时反映分流和理解两件事，但它没法独自告诉我们失败出在哪。&#10;&#10;所以除了闭环率，还要一路看四段：有没有被建议、有没有真的抵达、有没有收到回复、有没有完成确认。这四段是一层一层收窄的，越往后越难成立。&#10;&#10;另外有一条口径要记住：报告无效率的时候，必须同时给出原始的请求数。因为咨询总次数一变，比率就跟着变，光看一个百分数会误判。&#10;&#10;这四段证据和四个指标要一起读，才能判断问题到底卡在哪一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5　主指标之外的分段证据&lt;/Text&gt;&#10;            &lt;Text style={{ fontSize: 34, fontWeight: 'bold', color: '#20344B' }}&gt;主指标之外，还要四段证据&lt;/Text&gt;&#10;        &lt;/Box&gt;&#10;    &lt;/Box&gt;&#10;&#10;    &lt;Box style={{ height: 540, flexDirection: 'column', justifyContent: 'center', gap: 12 }}&gt;&#10;&#10;        &lt;Text style={{ fontSize: 15, color: '#546779' }}&gt;四段依次收窄，任何一段断了，闭环就不成立。&lt;/Text&gt;&#10;&#10;        &lt;Box style={{ width: 1152, height: 76, background: '#EDF4FC', borderRadius: 10, padding: '0 20px', flexDirection: 'row', alignItems: 'center', gap: 16 }}&gt;&#10;            &lt;Text style={{ fontSize: 17, fontWeight: 'bold', color: '#276FBF', width: 120 }}&gt;已建议&lt;/Text&gt;&#10;            &lt;Text style={{ fontSize: 15, color: '#546779' }}&gt;拿到适配窗口的一次建议&lt;/Text&gt;&#10;        &lt;/Box&gt;&#10;&#10;        &lt;Box style={{ width: 980, height: 76, background: '#EDF4FC', borderRadius: 10, padding: '0 20px', flexDirection: 'row', alignItems: 'center', gap: 16 }}&gt;&#10;            &lt;Text style={{ fontSize: 17, fontWeight: 'bold', color: '#276FBF', width: 120 }}&gt;已抵达&lt;/Text&gt;&#10;            &lt;Text style={{ fontSize: 15, color: '#546779' }}&gt;合法导航之后，实际走到服务区&lt;/Text&gt;&#10;        &lt;/Box&gt;&#10;&#10;        &lt;Box style={{ width: 808, height: 76, background: '#ECF7F2', borderRadius: 10, padding: '0 20px', flexDirection: 'row', alignItems: 'center', gap: 16 }}&gt;&#10;            &lt;Text style={{ fontSize: 17, fontWeight: 'bold', color: '#26816B', width: 120 }}&gt;已回复&lt;/Text&gt;&#10;            &lt;Text style={{ fontSize: 15, color: '#546779' }}&gt;取得目标窗口的真实回复&lt;/Text&gt;&#10;        &lt;/Box&gt;&#10;&#10;        &lt;Box style={{ width: 636, height: 76, background: '#ECF7F2', borderRadius: 10, padding: '0 20px', flexDirection: 'row', alignItems: 'center', gap: 16 }}&gt;&#10;            &lt;Text style={{ fontSize: 17, fontWeight: 'bold', color: '#26816B', width: 120 }}&gt;已确认&lt;/Text&gt;&#10;            &lt;Text style={{ fontSize: 15, color: '#546779' }}&gt;真实复述正确下一步&lt;/Text&gt;&#10;        &lt;/Box&gt;&#10;&#10;        &lt;Box style={{ width: 1152, height: 92, background: '#FFF4E6', borderRadius: 10, padding: '0 22px', flexDirection: 'row', alignItems: 'center', gap: 18, marginTop: 4 }}&gt;&#10;            &lt;Box style={{ width: 4, height: 56, background: '#CB6B28' }} /&gt;&#10;            &lt;Text style={{ fontSize: 16, color: '#546779', lineHeight: 1.6, flex: 1 }}&gt;报告无效率须同时给原始请求数：不同总咨询次数会改变比率，只看百分数会误判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主指标之外的分段证据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主指标之外，还要四段证据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四段依次收窄，任何一段断了，闭环就不成立。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17240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00100" y="19907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已建议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095500" y="20002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拿到适配窗口的一次建议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2562225"/>
            <a:ext cx="9334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0100" y="28289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已抵达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2095500" y="28384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合法导航之后，实际走到服务区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3400425"/>
            <a:ext cx="76962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0100" y="36671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已回复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095500" y="367665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取得目标窗口的真实回复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4238625"/>
            <a:ext cx="60579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0100" y="4505325"/>
            <a:ext cx="114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已确认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2095500" y="45148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真实复述正确下一步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511492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819150" y="52863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28700" y="5410200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报告无效率须同时给原始请求数：不同总咨询次数会改变比率，只看百分数会误判。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6" name="" descr="&lt;Slide notes={`最后一块看分数是怎么来的，以及分错了该去查哪里。&#10;&#10;这里有一段特殊的地方：一次有效的建议，可以出现在闭环完成之前。拿到一次能执行的建议，本身就是结果的一部分，但它不等于闭环。&#10;&#10;所以判分的时候，动作的完成、回复的匹配、最后的确认，要分开记录，分别给分。&#10;&#10;失败定位也一样，要按顺序核对，不能一看到结果不对就断定是系统的问题。模型分错了人，不一定说明平台坏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4.1.6 — 4.1.7&lt;/Text&gt;&#10;&#10;        &lt;Text style={{ fontSize: 56, fontWeight: 'bold', color: '#20344B', lineHeight: 1.15 }}&gt;人工判分与失败定位&lt;/Text&gt;&#10;&#10;        &lt;Box style={{ width: 72, height: 4, background: '#276FBF' }} /&gt;&#10;&#10;        &lt;Text style={{ fontSize: 18, color: '#546779', lineHeight: 1.7, width: 900 }}&gt;有效建议可以先于闭环；没走完的任务仍留在四任务的分母里，不许悄悄剔除。&lt;/Text&gt;&#10;&#10;        &lt;Box style={{ flexDirection: 'row', alignItems: 'center', marginTop: 10 }}&gt;&#10;            &lt;Box style={{ width: 300, height: 64, background: '#ECF7F2', borderRadius: 8, justifyContent: 'center', alignItems: 'center' }}&gt;&#10;                &lt;Text style={{ fontSize: 18, color: '#26816B' }}&gt;闭环 3 / 4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H2 待确认&lt;/Text&gt;&#10;            &lt;/Box&gt;&#10;            &lt;Box style={{ width: 44, height: 64, justifyContent: 'center', alignItems: 'center' }}&gt;&#10;                &lt;Text style={{ fontSize: 26, color: '#546779' }}&gt;›&lt;/Text&gt;&#10;            &lt;/Box&gt;&#10;            &lt;Box style={{ width: 300, height: 64, background: '#F4F7FA', borderRadius: 8, justifyContent: 'center', alignItems: 'center' }}&gt;&#10;                &lt;Text style={{ fontSize: 18, color: '#546779' }}&gt;分母仍是 4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4.1.6 — 4.1.7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人工判分与失败定位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有效建议可以先于闭环；没走完的任务仍留在四任务的分母里，不许悄悄剔除。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657350" y="4257675"/>
            <a:ext cx="771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闭环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3 / 4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914900" y="425767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B6B28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待确认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72450" y="4257675"/>
            <a:ext cx="83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分母仍是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42" name="" descr="&lt;Slide notes={`先看人工判分这一段材料，它记录的是四项任务，不是一次真实运行的结果。&#10;&#10;周澈、孟川、邱禾这三个人走通了：有效回应、匹配窗口的回复、正确的确认，三样都有，算进闭环。&#10;&#10;谭悦的情况要单独说：她在第七分钟收到了有效的 A 建议，也确实走到了 A 服务区。但是目标窗口的回复和最后的确认还没有出现，所以她不进绿色的闭环分子。&#10;&#10;这里同时要提醒一句：谭悦仍然留在四项任务的分母里，不能因为没走完就把她拿掉。另外，右侧那个二除以七，数的是窗口请求；三除以四，数的是重复说明负担，两个数不能都读成任务成功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6　人工判分：有效建议可以先于闭环&lt;/Text&gt;&#10;            &lt;Text style={{ fontSize: 34, fontWeight: 'bold', color: '#20344B' }}&gt;有效建议可以先于闭环&lt;/Text&gt;&#10;        &lt;/Box&gt;&#10;    &lt;/Box&gt;&#10;&#10;    &lt;Box style={{ height: 540, flexDirection: 'column', justifyContent: 'center', gap: 16 }}&gt;&#10;&#10;        &lt;Box style={{ width: 1152, height: 400, background: '#F7F3E8', borderRadius: 12, padding: '16px 20px', flexDirection: 'column', justifyContent: 'center' }}&gt;&#10;&#10;            &lt;Box style={{ width: 1112, height: 56, background: '#FFFFFF', borderRadius: 8, flexDirection: 'row', alignItems: 'center', justifyContent: 'center', gap: 14 }}&gt;&#10;                &lt;Text style={{ fontSize: 17, fontWeight: 'bold', color: '#20344B' }}&gt;人工判分：四项任务&lt;/Text&gt;&#10;                &lt;Text style={{ fontSize: 14, color: '#546779' }}&gt;非 Run 结果，没有实验身份、Step 或真实事件&lt;/Text&gt;&#10;            &lt;/Box&gt;&#10;&#10;            &lt;Box style={{ width: 1112, height: 30, justifyContent: 'center', alignItems: 'center' }}&gt;&#10;                &lt;Text style={{ fontSize: 16, color: '#276FBF' }}&gt;↓&lt;/Text&gt;&#10;            &lt;/Box&gt;&#10;&#10;            &lt;Box style={{ width: 1112, flexDirection: 'row', gap: 24 }}&gt;&#10;                &lt;Box style={{ width: 544, height: 178, background: '#ECF7F2', borderRadius: 10, padding: '16px 20px', flexDirection: 'column', gap: 8, justifyContent: 'center' }}&gt;&#10;                    &lt;Text style={{ fontSize: 20, fontWeight: 'bold', color: '#26816B' }}&gt;H1、H3、H4&lt;/Text&gt;&#10;                    &lt;Text style={{ fontSize: 15, color: '#546779', lineHeight: 1.6 }}&gt;有效回应 ＋ 匹配窗口的回复 ＋ 正确的确认，三项齐全。&lt;/Text&gt;&#10;                &lt;/Box&gt;&#10;                &lt;Box style={{ width: 544, height: 178, background: '#FFF4E6', borderRadius: 10, padding: '16px 20px', flexDirection: 'column', gap: 8, justifyContent: 'center' }}&gt;&#10;                    &lt;Text style={{ fontSize: 20, fontWeight: 'bold', color: '#CB6B28' }}&gt;H2&lt;/Text&gt;&#10;                    &lt;Text style={{ fontSize: 15, color: '#546779', lineHeight: 1.6 }}&gt;7 分钟收到有效 A 建议，也已实际抵达 A；尚无目标窗口回复与确认，不计主要闭环。&lt;/Text&gt;&#10;                &lt;/Box&gt;&#10;            &lt;/Box&gt;&#10;&#10;            &lt;Box style={{ width: 1112, height: 30, justifyContent: 'center', alignItems: 'center' }}&gt;&#10;                &lt;Text style={{ fontSize: 16, color: '#276FBF' }}&gt;↓&lt;/Text&gt;&#10;            &lt;/Box&gt;&#10;&#10;            &lt;Box style={{ width: 1112, flexDirection: 'row', gap: 24 }}&gt;&#10;                &lt;Box style={{ width: 544, height: 64, background: '#ECF7F2', borderRadius: 8, flexDirection: 'row', alignItems: 'center', justifyContent: 'center', gap: 12 }}&gt;&#10;                    &lt;Text style={{ fontSize: 22, fontWeight: 'bold', color: '#26816B' }}&gt;闭环 3 / 4 = 75%&lt;/Text&gt;&#10;                &lt;/Box&gt;&#10;                &lt;Box style={{ width: 544, height: 64, background: '#FFF4E6', borderRadius: 8, flexDirection: 'row', alignItems: 'center', justifyContent: 'center', gap: 12 }}&gt;&#10;                    &lt;Text style={{ fontSize: 17, fontWeight: 'bold', color: '#CB6B28' }}&gt;H2 仍保留在四任务分母&lt;/Text&gt;&#10;                &lt;/Box&gt;&#10;            &lt;/Box&gt;&#10;&#10;        &lt;/Box&gt;&#10;&#10;        &lt;Box style={{ width: 1152, height: 96, background: '#EDF4FC', borderRadius: 10, padding: '0 22px', flexDirection: 'row', alignItems: 'center', gap: 18 }}&gt;&#10;            &lt;Box style={{ width: 4, height: 56, background: '#276FBF' }} /&gt;&#10;            &lt;Text style={{ fontSize: 16, color: '#546779', lineHeight: 1.6, flex: 1 }}&gt;2/7 数的是窗口请求，3/4 数的是重复说明负担；两个比率不能都解读成任务成功率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人工判分：有效建议可以先于闭环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有效建议可以先于闭环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1276350"/>
            <a:ext cx="10972800" cy="3810000"/>
          </a:xfrm>
          <a:prstGeom prst="roundRect">
            <a:avLst>
              <a:gd name="adj" fmla="val 3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800100" y="1476375"/>
            <a:ext cx="10591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905250" y="16478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人工判分：四项任务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495925" y="1666875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结果，没有实验身份、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或真实事件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57900" y="20574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0100" y="2295525"/>
            <a:ext cx="5181600" cy="1695450"/>
          </a:xfrm>
          <a:prstGeom prst="roundRect">
            <a:avLst>
              <a:gd name="adj" fmla="val 561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90600" y="285750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H1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H3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、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H4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90600" y="3162300"/>
            <a:ext cx="4800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有效回应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匹配窗口的回复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正确的确认，三项齐全。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210300" y="2295525"/>
            <a:ext cx="5181600" cy="1695450"/>
          </a:xfrm>
          <a:prstGeom prst="roundRect">
            <a:avLst>
              <a:gd name="adj" fmla="val 56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400800" y="27146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H2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00800" y="3019425"/>
            <a:ext cx="4800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分钟收到有效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建议，也已实际抵达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；尚无目标窗口回复与确认，不计主要闭环。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57900" y="40386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00100" y="4276725"/>
            <a:ext cx="51816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2543175" y="4457700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闭环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3 / 4 = 75%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210300" y="4276725"/>
            <a:ext cx="51816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934325" y="4486275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仍保留在四任务分母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52387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819150" y="54292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28700" y="555307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2/7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数的是窗口请求，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3/4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数的是重复说明负担；两个比率不能都解读成任务成功率。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99" name="" descr="&lt;Slide notes={`先把三组数字放在一起看，每一组的口径都不同。&#10;&#10;闭环率是四分之三，等于百分之七十五，分母是四项任务，每个任务只算一次。&#10;&#10;无效窗口访问率是七分之二，大约百分之二十八点六，分母是全部窗口交互请求，入口的咨询和澄清不算在里面。&#10;&#10;重复说明负担是四分之三，等于每任务零点七五次，数的是向同一个对象、没有增加新事实的重复提交。&#10;&#10;时延那一条要逐个人看：四个人的首次有效回应分别是十二、七、六、九分钟，没有人一直没有回应。这些数字必须逐人、分需求类型报告，不能只报一个平均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6　本案例的三组比率&lt;/Text&gt;&#10;            &lt;Text style={{ fontSize: 34, fontWeight: 'bold', color: '#20344B' }}&gt;三组比率，三种读法&lt;/Text&gt;&#10;        &lt;/Box&gt;&#10;    &lt;/Box&gt;&#10;&#10;    &lt;Box style={{ height: 540, flexDirection: 'column', justifyContent: 'center', gap: 20 }}&gt;&#10;&#10;        &lt;Box style={{ width: 1152, flexDirection: 'row', gap: 24 }}&gt;&#10;&#10;            &lt;Box style={{ width: 368, height: 296, background: '#ECF7F2', borderRadius: 12, padding: '20px 22px', flexDirection: 'column', gap: 10, justifyContent: 'center' }}&gt;&#10;                &lt;Text style={{ fontSize: 15, color: '#546779' }}&gt;正确咨询闭环率&lt;/Text&gt;&#10;                &lt;Text style={{ fontSize: 56, fontWeight: 'bold', color: '#26816B', lineHeight: 1.1 }}&gt;75%&lt;/Text&gt;&#10;                &lt;Text style={{ fontSize: 16, color: '#20344B' }}&gt;3 / 4 任务&lt;/Text&gt;&#10;                &lt;Text style={{ fontSize: 14, color: '#546779', lineHeight: 1.5 }}&gt;入口建议、仅抵达、错误复述都不计入分子。&lt;/Text&gt;&#10;            &lt;/Box&gt;&#10;&#10;            &lt;Box style={{ width: 368, height: 296, background: '#FFF4E6', borderRadius: 12, padding: '20px 22px', flexDirection: 'column', gap: 10, justifyContent: 'center' }}&gt;&#10;                &lt;Text style={{ fontSize: 15, color: '#546779' }}&gt;无效窗口访问率&lt;/Text&gt;&#10;                &lt;Text style={{ fontSize: 56, fontWeight: 'bold', color: '#CB6B28', lineHeight: 1.1 }}&gt;28.6%&lt;/Text&gt;&#10;                &lt;Text style={{ fontSize: 16, color: '#20344B' }}&gt;2 / 7 次窗口请求&lt;/Text&gt;&#10;                &lt;Text style={{ fontSize: 14, color: '#546779', lineHeight: 1.5 }}&gt;入口咨询与澄清不计入分母；重复错误逐次计。&lt;/Text&gt;&#10;            &lt;/Box&gt;&#10;&#10;            &lt;Box style={{ width: 368, height: 296, background: '#EDF4FC', borderRadius: 12, padding: '20px 22px', flexDirection: 'column', gap: 10, justifyContent: 'center' }}&gt;&#10;                &lt;Text style={{ fontSize: 15, color: '#546779' }}&gt;重复说明负担&lt;/Text&gt;&#10;                &lt;Text style={{ fontSize: 56, fontWeight: 'bold', color: '#276FBF', lineHeight: 1.1 }}&gt;0.75&lt;/Text&gt;&#10;                &lt;Text style={{ fontSize: 16, color: '#20344B' }}&gt;3 / 4 ＝ 次／任务&lt;/Text&gt;&#10;                &lt;Text style={{ fontSize: 14, color: '#546779', lineHeight: 1.5 }}&gt;首次向另一窗口说明、补充目的、新发现均不计。&lt;/Text&gt;&#10;            &lt;/Box&gt;&#10;&#10;        &lt;/Box&gt;&#10;&#10;        &lt;Box style={{ width: 1152, height: 108, background: '#F4F7FA', borderRadius: 10, padding: '0 24px', flexDirection: 'row', alignItems: 'center', gap: 20 }}&gt;&#10;            &lt;Box style={{ width: 4, height: 60, background: '#26816B' }} /&gt;&#10;            &lt;Box style={{ flexDirection: 'column', gap: 6, flex: 1 }}&gt;&#10;                &lt;Text style={{ fontSize: 18, fontWeight: 'bold', color: '#20344B' }}&gt;H1—H4 首次有效回应　[12, 7, 6, 9] 分钟　·　未回应 0 人&lt;/Text&gt;&#10;                &lt;Text style={{ fontSize: 15, color: '#546779' }}&gt;逐人、分需求类型报告；未回应者也要保留在结果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本案例的三组比率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三组比率，三种读法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1695450"/>
            <a:ext cx="3505200" cy="2819400"/>
          </a:xfrm>
          <a:prstGeom prst="roundRect">
            <a:avLst>
              <a:gd name="adj" fmla="val 405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19150" y="23050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正确咨询闭环率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19150" y="2571750"/>
            <a:ext cx="308610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26816B"/>
                </a:solidFill>
                <a:latin typeface="Microsoft YaHei"/>
                <a:ea typeface="Microsoft YaHei"/>
              </a:rPr>
              <a:t>75%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19150" y="33718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3 / 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19150" y="36576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入口建议、仅抵达、错误复述都不计入分子。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4343400" y="1695450"/>
            <a:ext cx="3505200" cy="2819400"/>
          </a:xfrm>
          <a:prstGeom prst="roundRect">
            <a:avLst>
              <a:gd name="adj" fmla="val 405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552950" y="23050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无效窗口访问率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552950" y="2571750"/>
            <a:ext cx="308610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CB6B28"/>
                </a:solidFill>
                <a:latin typeface="Microsoft YaHei"/>
                <a:ea typeface="Microsoft YaHei"/>
              </a:rPr>
              <a:t>28.6%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552950" y="33718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2 / 7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次窗口请求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552950" y="36576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入口咨询与澄清不计入分母；重复错误逐次计。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8077200" y="1695450"/>
            <a:ext cx="3505200" cy="2819400"/>
          </a:xfrm>
          <a:prstGeom prst="roundRect">
            <a:avLst>
              <a:gd name="adj" fmla="val 405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286750" y="2305050"/>
            <a:ext cx="308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重复说明负担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286750" y="2571750"/>
            <a:ext cx="3086100" cy="7048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200" b="1">
                <a:solidFill>
                  <a:srgbClr val="276FBF"/>
                </a:solidFill>
                <a:latin typeface="Microsoft YaHei"/>
                <a:ea typeface="Microsoft YaHei"/>
              </a:rPr>
              <a:t>0.75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286750" y="337185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3 / 4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＝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次／任务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286750" y="3657600"/>
            <a:ext cx="3086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首次向另一窗口说明、补充目的、新发现均不计。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4705350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838200" y="493395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066800" y="5000625"/>
            <a:ext cx="1028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H1—H4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首次有效回应　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[12, 7, 6, 9]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分钟　·　未回应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66800" y="5267325"/>
            <a:ext cx="1028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逐人、分需求类型报告；未回应者也要保留在结果里。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25" name="" descr="&lt;Slide notes={`我想特别强调一件事：相同的百分之七十五，可能来自完全不同的过程。&#10;&#10;第一种可能，是对照组多问了几轮，把原本会走错窗口的人问对了，闭环是靠澄清换来的。第二种可能，是基线那组走错之后，窗口解释分工并把人转介回来，闭环是靠补救换来的。第三种可能，是总请求数和重复次数本身不同，比率偏偏凑到同一个数。&#10;&#10;所以说，不能凭一个比率就宣布哪个策略更好。&#10;&#10;要把时延、重复说明负担和调用次数放在一起解释。如果对照组的闭环高了，但时延和负担都明显上升，那就得说清换来了什么、又付出了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6　相同的比率不代表相同的结论&lt;/Text&gt;&#10;            &lt;Text style={{ fontSize: 34, fontWeight: 'bold', color: '#20344B' }}&gt;相同的 75%，可能来自不同原因&lt;/Text&gt;&#10;        &lt;/Box&gt;&#10;    &lt;/Box&gt;&#10;&#10;    &lt;Box style={{ height: 540, flexDirection: 'column', justifyContent: 'center', gap: 18 }}&gt;&#10;&#10;        &lt;Box style={{ width: 1152, flexDirection: 'row', alignItems: 'center', gap: 32 }}&gt;&#10;&#10;            &lt;Box style={{ width: 380, flexDirection: 'column', alignItems: 'center', gap: 8 }}&gt;&#10;                &lt;Text style={{ fontSize: 96, fontWeight: 'bold', color: '#CB6B28', lineHeight: 1.0 }}&gt;75%&lt;/Text&gt;&#10;                &lt;Text style={{ fontSize: 16, color: '#546779' }}&gt;相同的闭环率&lt;/Text&gt;&#10;                &lt;Text style={{ fontSize: 15, color: '#546779', lineHeight: 1.5 }}&gt;分母仍是四项任务&lt;/Text&gt;&#10;            &lt;/Box&gt;&#10;&#10;            &lt;Box style={{ width: 740, flexDirection: 'column', gap: 16 }}&gt;&#10;                &lt;Box style={{ width: 740, height: 106, background: '#F4F7FA', borderRadius: 10, padding: '0 20px', flexDirection: 'row', alignItems: 'center', gap: 16 }}&gt;&#10;                    &lt;Box style={{ width: 4, height: 52, background: '#CB6B28' }} /&gt;&#10;                    &lt;Text style={{ fontSize: 18, fontWeight: 'bold', color: '#20344B', width: 130 }}&gt;更多澄清&lt;/Text&gt;&#10;                    &lt;Text style={{ fontSize: 15, color: '#546779', lineHeight: 1.5, flex: 1 }}&gt;对照多问几轮，把原本会走错窗口的人问对了。&lt;/Text&gt;&#10;                &lt;/Box&gt;&#10;                &lt;Box style={{ width: 740, height: 106, background: '#F4F7FA', borderRadius: 10, padding: '0 20px', flexDirection: 'row', alignItems: 'center', gap: 16 }}&gt;&#10;                    &lt;Box style={{ width: 4, height: 52, background: '#CB6B28' }} /&gt;&#10;                    &lt;Text style={{ fontSize: 18, fontWeight: 'bold', color: '#20344B', width: 130 }}&gt;窗口补救&lt;/Text&gt;&#10;                    &lt;Text style={{ fontSize: 15, color: '#546779', lineHeight: 1.5, flex: 1 }}&gt;走错之后被窗口解释分工并转介回正确路径。&lt;/Text&gt;&#10;                &lt;/Box&gt;&#10;                &lt;Box style={{ width: 740, height: 106, background: '#F4F7FA', borderRadius: 10, padding: '0 20px', flexDirection: 'row', alignItems: 'center', gap: 16 }}&gt;&#10;                    &lt;Box style={{ width: 4, height: 52, background: '#CB6B28' }} /&gt;&#10;                    &lt;Text style={{ fontSize: 18, fontWeight: 'bold', color: '#20344B', width: 130 }}&gt;口径变化&lt;/Text&gt;&#10;                    &lt;Text style={{ fontSize: 15, color: '#546779', lineHeight: 1.5, flex: 1 }}&gt;总咨询次数不同，比率恰好凑到同一个数值。&lt;/Text&gt;&#10;                &lt;/Box&gt;&#10;            &lt;/Box&gt;&#10;&#10;        &lt;/Box&gt;&#10;&#10;        &lt;Box style={{ width: 1152, height: 104, background: '#FFF4E6', borderRadius: 10, padding: '0 24px', flexDirection: 'row', alignItems: 'center', gap: 18 }}&gt;&#10;            &lt;Box style={{ width: 4, height: 60, background: '#CB6B28' }} /&gt;&#10;            &lt;Box style={{ flexDirection: 'column', gap: 6, flex: 1 }}&gt;&#10;                &lt;Text style={{ fontSize: 19, fontWeight: 'bold', color: '#CB6B28' }}&gt;结论待核：不凭单一比率宣布优劣&lt;/Text&gt;&#10;                &lt;Text style={{ fontSize: 16, color: '#546779', lineHeight: 1.55 }}&gt;必须结合时延、重复说明负担与调用次数一起解释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相同的比率不代表相同的结论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686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相同的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75%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，可能来自不同原因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428750" y="2286000"/>
            <a:ext cx="19812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CB6B28"/>
                </a:solidFill>
                <a:latin typeface="Microsoft YaHei"/>
                <a:ea typeface="Microsoft YaHei"/>
              </a:rPr>
              <a:t>75%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962150" y="34671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相同的闭环率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847850" y="3733800"/>
            <a:ext cx="1143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分母仍是四项任务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533900" y="1466850"/>
            <a:ext cx="70485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724400" y="17240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914900" y="18669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更多澄清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305550" y="184785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对照多问几轮，把原本会走错窗口的人问对了。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533900" y="2628900"/>
            <a:ext cx="70485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4724400" y="288607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914900" y="302895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窗口补救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305550" y="300990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走错之后被窗口解释分工并转介回正确路径。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533900" y="3790950"/>
            <a:ext cx="70485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4724400" y="40481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914900" y="41910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口径变化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305550" y="4171950"/>
            <a:ext cx="5086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总咨询次数不同，比率恰好凑到同一个数值。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49720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838200" y="51816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47750" y="5191125"/>
            <a:ext cx="10306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结论待核：不凭单一比率宣布优劣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47750" y="5467350"/>
            <a:ext cx="103060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必须结合时延、重复说明负担与调用次数一起解释。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51" name="" descr="&lt;Slide notes={`结果不对的时候，按现象倒推，别急着下结论。&#10;&#10;第一种，澄清之后还是分错了窗口。这时候要顺着一条链查：那个字段到底问出来没有，补充有没有真的投递出去，答案有没有被用上。任何一环断了，都会表现成分错。&#10;&#10;第二种，一直没有答复。要把三种情况分开记录：是真的在等业务、是对象调用失败了，还是窗口的回复被截断了。三者的处理方式完全不同。&#10;&#10;第三种，人走不到窗口。先看地址是不是已知的、对象能不能被感知到、路径是不是真的通。要特别注意，正确的权限拒绝不自动算 bug，那是规则在正常工作。&#10;&#10;真实的系统问题按第三章的规则留证并停止相应验收；模型自己分错了人，也不自动说明系统有故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7　失败定位&lt;/Text&gt;&#10;            &lt;Text style={{ fontSize: 34, fontWeight: 'bold', color: '#20344B' }}&gt;分错、没答复、到不了，先查什么&lt;/Text&gt;&#10;        &lt;/Box&gt;&#10;    &lt;/Box&gt;&#10;&#10;    &lt;Box style={{ height: 540, flexDirection: 'column', justifyContent: 'center', gap: 14 }}&gt;&#10;&#10;        &lt;Box style={{ width: 1152, flexDirection: 'row', padding: '0 20px', gap: 20, alignItems: 'center', height: 28 }}&gt;&#10;            &lt;Box style={{ width: 300 }}&gt;&lt;Text style={{ fontSize: 14, color: '#546779' }}&gt;现象&lt;/Text&gt;&lt;/Box&gt;&#10;            &lt;Box style={{ flex: 1 }}&gt;&lt;Text style={{ fontSize: 14, color: '#546779' }}&gt;先核对&lt;/Text&gt;&lt;/Box&gt;&#10;        &lt;/Box&gt;&#10;&#10;        &lt;Box style={{ width: 1152, height: 116, background: '#F4F7FA', borderRadius: 10, padding: '0 20px', flexDirection: 'row', alignItems: 'center', gap: 20 }}&gt;&#10;            &lt;Box style={{ width: 4, height: 64, background: '#276FBF' }} /&gt;&#10;            &lt;Box style={{ width: 280 }}&gt;&lt;Text style={{ fontSize: 18, fontWeight: 'bold', color: '#20344B' }}&gt;澄清后仍分错&lt;/Text&gt;&lt;/Box&gt;&#10;            &lt;Text style={{ fontSize: 15, color: '#546779', lineHeight: 1.55, flex: 1 }}&gt;字段是否问出 → 补充是否投递 → 答案是否被使用；任何一环断了都会表现成分错。&lt;/Text&gt;&#10;        &lt;/Box&gt;&#10;&#10;        &lt;Box style={{ width: 1152, height: 116, background: '#F4F7FA', borderRadius: 10, padding: '0 20px', flexDirection: 'row', alignItems: 'center', gap: 20 }}&gt;&#10;            &lt;Box style={{ width: 4, height: 64, background: '#276FBF' }} /&gt;&#10;            &lt;Box style={{ width: 280 }}&gt;&lt;Text style={{ fontSize: 18, fontWeight: 'bold', color: '#20344B' }}&gt;没有答复&lt;/Text&gt;&lt;/Box&gt;&#10;            &lt;Text style={{ fontSize: 15, color: '#546779', lineHeight: 1.55, flex: 1 }}&gt;业务等待、对象调用失败、窗口截断，三种情况分别记录。&lt;/Text&gt;&#10;        &lt;/Box&gt;&#10;&#10;        &lt;Box style={{ width: 1152, height: 116, background: '#FFF4E6', borderRadius: 10, padding: '0 20px', flexDirection: 'row', alignItems: 'center', gap: 20 }}&gt;&#10;            &lt;Box style={{ width: 4, height: 64, background: '#CB6B28' }} /&gt;&#10;            &lt;Box style={{ width: 280 }}&gt;&lt;Text style={{ fontSize: 18, fontWeight: 'bold', color: '#20344B' }}&gt;到不了窗口&lt;/Text&gt;&lt;/Box&gt;&#10;            &lt;Text style={{ fontSize: 15, color: '#546779', lineHeight: 1.55, flex: 1 }}&gt;已知地址、感知对象、真实路径；正确权限拒绝不自动是 bug。&lt;/Text&gt;&#10;        &lt;/Box&gt;&#10;&#10;        &lt;Box style={{ width: 1152, height: 84, background: '#EDF4FC', borderRadius: 10, padding: '0 22px', flexDirection: 'row', alignItems: 'center', gap: 18 }}&gt;&#10;            &lt;Box style={{ width: 4, height: 48, background: '#276FBF' }} /&gt;&#10;            &lt;Text style={{ fontSize: 15, color: '#546779', lineHeight: 1.55, flex: 1 }}&gt;真实系统问题按第三章规则留证并停止相应验收；模型误分流不自动是系统故障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失败定位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分错、没答复、到不了，先查什么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848100" y="1314450"/>
            <a:ext cx="754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先核对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09600" y="165735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800100" y="190500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28700" y="210502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澄清后仍分错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886200" y="2076450"/>
            <a:ext cx="75057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字段是否问出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补充是否投递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答案是否被使用；任何一环断了都会表现成分错。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09600" y="28956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800100" y="31432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28700" y="334327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没有答复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886200" y="3314700"/>
            <a:ext cx="75057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业务等待、对象调用失败、窗口截断，三种情况分别记录。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413385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800100" y="4381500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028700" y="4581525"/>
            <a:ext cx="266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到不了窗口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86200" y="4552950"/>
            <a:ext cx="75057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已知地址、感知对象、真实路径；正确权限拒绝不自动是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53721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819150" y="55435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028700" y="5638800"/>
            <a:ext cx="10344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真实系统问题按第三章规则留证并停止相应验收；模型误分流不自动是系统故障。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75" name="" descr="&lt;Slide notes={`最后留两道练习，都跟判分口径有关。&#10;&#10;第一道：如果来访者说“我已经知道怎么办了”，这个算不算完成确认？不算。他还得指向正确的窗口，并且至少说出一项相关的准备内容，比如日期、人数或者要带的材料。光说一句满意，态度再好也不够。&#10;&#10;第二道：给两组再共有一项明确的需求，看看字段齐全的时候，能不能跳过追问、直接建议。这里要注意顺序——总任务数和判分表必须事先改好，不能等看到结果再回头挑人去算。&#10;&#10;这两道练习考的是同一件事：判分标准要先定下来，而且必须写清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4.1.7　练习&lt;/Text&gt;&#10;            &lt;Text style={{ fontSize: 34, fontWeight: 'bold', color: '#20344B' }}&gt;练习：一句满意表态不算确认&lt;/Text&gt;&#10;        &lt;/Box&gt;&#10;    &lt;/Box&gt;&#10;&#10;    &lt;Box style={{ height: 540, flexDirection: 'column', justifyContent: 'center', gap: 18 }}&gt;&#10;&#10;        &lt;Box style={{ width: 1152, height: 168, background: '#EDF4FC', borderRadius: 12, padding: '18px 24px', flexDirection: 'row', alignItems: 'center', gap: 20 }}&gt;&#10;            &lt;Box style={{ width: 48, height: 48, background: '#276FBF', borderRadius: 10, justifyContent: 'center', alignItems: 'center' }}&gt;&#10;                &lt;Text style={{ fontSize: 20, fontWeight: 'bold', color: '#FFFFFF' }}&gt;1&lt;/Text&gt;&#10;            &lt;/Box&gt;&#10;            &lt;Box style={{ flexDirection: 'column', gap: 8, flex: 1 }}&gt;&#10;                &lt;Text style={{ fontSize: 19, fontWeight: 'bold', color: '#276FBF' }}&gt;“我已知道怎么办了”，如何判分？&lt;/Text&gt;&#10;                &lt;Text style={{ fontSize: 16, color: '#546779', lineHeight: 1.6 }}&gt;需指向正确窗口，并至少说出一项相关准备内容；只表达满意，不算完成确认。&lt;/Text&gt;&#10;            &lt;/Box&gt;&#10;        &lt;/Box&gt;&#10;&#10;        &lt;Box style={{ width: 1152, height: 168, background: '#ECF7F2', borderRadius: 12, padding: '18px 24px', flexDirection: 'row', alignItems: 'center', gap: 20 }}&gt;&#10;            &lt;Box style={{ width: 48, height: 48, background: '#26816B', borderRadius: 10, justifyContent: 'center', alignItems: 'center' }}&gt;&#10;                &lt;Text style={{ fontSize: 20, fontWeight: 'bold', color: '#FFFFFF' }}&gt;2&lt;/Text&gt;&#10;            &lt;/Box&gt;&#10;            &lt;Box style={{ flexDirection: 'column', gap: 8, flex: 1 }}&gt;&#10;                &lt;Text style={{ fontSize: 19, fontWeight: 'bold', color: '#26816B' }}&gt;再加入两组共有的一项明确需求&lt;/Text&gt;&#10;                &lt;Text style={{ fontSize: 16, color: '#546779', lineHeight: 1.6 }}&gt;观察字段齐全时能否跳过追问，直接给出建议。&lt;/Text&gt;&#10;            &lt;/Box&gt;&#10;        &lt;/Box&gt;&#10;&#10;        &lt;Box style={{ width: 1152, height: 104, background: '#FFF4E6', borderRadius: 10, padding: '0 24px', flexDirection: 'row', alignItems: 'center', gap: 18 }}&gt;&#10;            &lt;Box style={{ width: 4, height: 60, background: '#CB6B28' }} /&gt;&#10;            &lt;Text style={{ fontSize: 16, color: '#546779', lineHeight: 1.6, flex: 1 }}&gt;须事先修改总任务数与判分表，不能看结果后挑人。&lt;/Text&gt;&#10;        &lt;/Box&gt;&#10;&#10;    &lt;/Box&gt;&#10;&#10;    &lt;Box style={{ height: 40, flexDirection: 'row', justifyContent: 'space-between', alignItems: 'center' }}&gt;&#10;        &lt;Text style={{ fontSize: 14, color: '#546779' }}&gt;4.1 社区服务大厅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4.1.7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练习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练习：一句满意表态不算确认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144780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838200" y="20193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009650" y="21336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485900" y="1952625"/>
            <a:ext cx="986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“我已知道怎么办了”，如何判分？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485900" y="2247900"/>
            <a:ext cx="9867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需指向正确窗口，并至少说出一项相关准备内容；只表达满意，不算完成确认。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3219450"/>
            <a:ext cx="10972800" cy="16002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838200" y="379095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009650" y="39052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485900" y="3724275"/>
            <a:ext cx="9867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再加入两组共有的一项明确需求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485900" y="4019550"/>
            <a:ext cx="98679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观察字段齐全时能否跳过追问，直接给出建议。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49911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838200" y="52006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047750" y="5343525"/>
            <a:ext cx="103060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须事先修改总任务数与判分表，不能看结果后挑人。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4.1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社区服务大厅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95" name="" descr="&lt;Slide notes={`把这一节收一收，记住三件事。&#10;&#10;第一，两组之间只换了咨询台的一段判断方法：目的不明的时候，是先给一次标明推测的建议，还是先只追问缺的那一个字段。地图、人物、模型和窗口规则都没动。&#10;&#10;第二，分母不因为等待而缩小。没有走完的任务仍然留在四项任务里，比率要按真实的分母算。&#10;&#10;第三，相同的比率不等于相同的结论。七成五可能来自澄清，可能来自窗口补救，也可能只是口径不同，必须结合时延、重复说明负担和调用次数一起解释。&#10;&#10;下一节我们去看设备维护班组的交接，看清单式的整理能不能减少遗漏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4.1　社区服务大厅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只改一段判断方法&lt;/Text&gt;&#10;            &lt;Text style={{ fontSize: 16, color: '#546779', flex: 1 }}&gt;其余条件两组相同：地图、人物、模型、依赖、窗口规则与留存设置。&lt;/Text&gt;&#10;        &lt;/Box&gt;&#10;&#10;        &lt;Box style={{ flexDirection: 'row', gap: 20 }}&gt;&#10;            &lt;Box style={{ width: 566, height: 104, background: '#FFF4E6', borderRadius: 10, padding: '0 22px', flexDirection: 'column', gap: 6, justifyContent: 'center' }}&gt;&#10;                &lt;Text style={{ fontSize: 20, fontWeight: 'bold', color: '#CB6B28' }}&gt;分母不因等待缩小&lt;/Text&gt;&#10;                &lt;Text style={{ fontSize: 15, color: '#546779', lineHeight: 1.5 }}&gt;未走完的任务仍留在四任务分母里。&lt;/Text&gt;&#10;            &lt;/Box&gt;&#10;            &lt;Box style={{ width: 566, height: 104, background: '#ECF7F2', borderRadius: 10, padding: '0 22px', flexDirection: 'column', gap: 6, justifyContent: 'center' }}&gt;&#10;                &lt;Text style={{ fontSize: 20, fontWeight: 'bold', color: '#26816B' }}&gt;相同比率 ≠ 相同结论&lt;/Text&gt;&#10;                &lt;Text style={{ fontSize: 15, color: '#546779', lineHeight: 1.5 }}&gt;结合时延、重复负担与调用一起解释。&lt;/Text&gt;&#10;            &lt;/Box&gt;&#10;        &lt;/Box&gt;&#10;&#10;        &lt;Text style={{ fontSize: 15, color: '#546779', marginTop: 8 }}&gt;下一节：设备维护班组交接 —— 清理式交接与关键事实到达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4.1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社区服务大厅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15811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24765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609600" y="27241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19150" y="307657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只改一段判断方法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2667000" y="3105150"/>
            <a:ext cx="870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其余条件两组相同：地图、人物、模型、依赖、窗口规则与留存设置。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3829050"/>
            <a:ext cx="539115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19150" y="40576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分母不因等待缩小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19150" y="43434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未走完的任务仍留在四任务分母里。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191250" y="3829050"/>
            <a:ext cx="539115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400800" y="405765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相同比率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相同结论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400800" y="43434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结合时延、重复负担与调用一起解释。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9600" y="50482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下一节：设备维护班组交接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清理式交接与关键事实到达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2026-09-29T09:31:15Z</dcterms:created>
  <dcterms:modified xsi:type="dcterms:W3CDTF">2026-09-29T09:31:15Z</dcterms:modified>
</cp:coreProperties>
</file>