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tableStyles.xml" ContentType="application/vnd.openxmlformats-officedocument.presentationml.tableStyle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28" Type="http://schemas.openxmlformats.org/officeDocument/2006/relationships/viewProps" Target="viewProps.xml" /><Relationship Id="rId26" Type="http://schemas.openxmlformats.org/officeDocument/2006/relationships/presProps" Target="presProps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3" Type="http://schemas.openxmlformats.org/officeDocument/2006/relationships/slide" Target="slides/slide13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4" Type="http://schemas.openxmlformats.org/officeDocument/2006/relationships/slide" Target="slides/slide14.xml" /><Relationship Id="rId7" Type="http://schemas.openxmlformats.org/officeDocument/2006/relationships/slide" Target="slides/slide7.xml" /><Relationship Id="rId25" Type="http://schemas.openxmlformats.org/officeDocument/2006/relationships/notesMaster" Target="notesMasters/notesMaster1.xml" /><Relationship Id="rId12" Type="http://schemas.openxmlformats.org/officeDocument/2006/relationships/slide" Target="slides/slide12.xml" /><Relationship Id="rId16" Type="http://schemas.openxmlformats.org/officeDocument/2006/relationships/slide" Target="slides/slide16.xml" /><Relationship Id="rId15" Type="http://schemas.openxmlformats.org/officeDocument/2006/relationships/slide" Target="slides/slide15.xml" /><Relationship Id="rId8" Type="http://schemas.openxmlformats.org/officeDocument/2006/relationships/slide" Target="slides/slide8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24" Type="http://schemas.openxmlformats.org/officeDocument/2006/relationships/slide" Target="slides/slide24.xml" /><Relationship Id="rId3" Type="http://schemas.openxmlformats.org/officeDocument/2006/relationships/slide" Target="slides/slide3.xml" /><Relationship Id="rId27" Type="http://schemas.openxmlformats.org/officeDocument/2006/relationships/tableStyles" Target="tableStyles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今天我们从一次设备交接说起。夜里设备间的指示灯开始间歇闪橙色，交班员要在下班前，把情况完整地留给接班员。</a:t>
            </a:r>
          </a:p>
          <a:p>
            <a:r>
              <a:rPr lang="zh-CN" dirty="0"/>
              <a:t>请大家先注意一件事：设备能给出的事实其实很少。它只公开一个 attention 状态，一条显示值 7，再加上前一次记录里只写了外观观察。这些加起来并不等于「某个部件已经损坏」。</a:t>
            </a:r>
          </a:p>
          <a:p>
            <a:r>
              <a:rPr lang="zh-CN" dirty="0"/>
              <a:t>所以这个实验要问的是：把设备事实固定住，只改整理方式，接班员能不能更准确地拿到该知道的东西，同时少说没有依据的完成结论。</a:t>
            </a:r>
          </a:p>
          <a:p>
            <a:r>
              <a:rPr lang="zh-CN" dirty="0"/>
              <a:t>后面所有的比率，分母都从这里开始。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这次交接实验一共要看四件事，我按顺序说明。</a:t>
            </a:r>
          </a:p>
          <a:p>
            <a:r>
              <a:rPr lang="zh-CN" dirty="0"/>
              <a:t>第一件是事实本身。设备手里只有五条有限的资料，我们要一条条分清它能说明什么、不能说明什么。</a:t>
            </a:r>
          </a:p>
          <a:p>
            <a:r>
              <a:rPr lang="zh-CN" dirty="0"/>
              <a:t>第二件是消息怎么走。三个人从运行开始就都在场，接班不是临时新建一个人，所以每条消息都得走真实渠道。</a:t>
            </a:r>
          </a:p>
          <a:p>
            <a:r>
              <a:rPr lang="zh-CN" dirty="0"/>
              <a:t>第三件是流程改哪一段。两组的前置步骤完全一样，唯一差别在整理那份交接说明的方式。</a:t>
            </a:r>
          </a:p>
          <a:p>
            <a:r>
              <a:rPr lang="zh-CN" dirty="0"/>
              <a:t>第四件才算成绩。收到和正确使用缺一不可，丢失发生在哪一环，解释就只能停在哪一环。</a:t>
            </a:r>
          </a:p>
          <a:p>
            <a:r>
              <a:rPr lang="zh-CN" dirty="0"/>
              <a:t>这四条串起来，就是这一节的全部内容。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先解决第一个问题：凭什么说设备真的知道些什么。</a:t>
            </a:r>
          </a:p>
          <a:p>
            <a:r>
              <a:rPr lang="zh-CN" dirty="0"/>
              <a:t>这一案里，设备手里的资料只有五条，我把它记成 K1 到 K5。它们分别是一条现象、一个数值、一条前史记录、一处缺项和一处未确认。五条都很具体，但没有一条能直接支撑诊断。</a:t>
            </a:r>
          </a:p>
          <a:p>
            <a:r>
              <a:rPr lang="zh-CN" dirty="0"/>
              <a:t>我要提醒的是，做资源时最容易多写一步：看到橙色灯就在资料里补一句「某部件损坏」。这句话一旦写进去，后面所有结论都会被污染。</a:t>
            </a:r>
          </a:p>
          <a:p>
            <a:r>
              <a:rPr lang="zh-CN" dirty="0"/>
              <a:t>所以这一块的任务很朴素——把事实照原样固定住，剩下的全部说不知道。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我把这五条资料一条条念出来，同时把每条容易多推的那句话点掉。</a:t>
            </a:r>
          </a:p>
          <a:p>
            <a:r>
              <a:rPr lang="zh-CN" dirty="0"/>
              <a:t>K1 是教学面板的橙色指示灯间歇出现。它不等于某个部件已经损坏。K2 是显示值 7，用一个虚构的教学单位，没有给出正常范围，所以推不出偏高还是偏低。</a:t>
            </a:r>
          </a:p>
          <a:p>
            <a:r>
              <a:rPr lang="zh-CN" dirty="0"/>
              <a:t>K3 说前一次记录 E-17 只写了外观观察，它推不出本轮刚做过全面检查。K4 说前次记录里没有内部核查结果，它推不出已经确定内部异常，恰恰相反，是这项内容缺失。</a:t>
            </a:r>
          </a:p>
          <a:p>
            <a:r>
              <a:rPr lang="zh-CN" dirty="0"/>
              <a:t>K5 说没有恢复正常确认、仍待复核，它推不出「看过了就等于修好了」。这五句话，就是这一案里所有推断的边界。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把这五条反过来看，会看到一串「不是」。</a:t>
            </a:r>
          </a:p>
          <a:p>
            <a:r>
              <a:rPr lang="zh-CN" dirty="0"/>
              <a:t>橙色灯不是损坏，数值 7 不是超限，前次只做外观观察不是本轮已完成检查，没有内部核查结果不是已确认内部异常，没有恢复正常确认更不是已经修好。这五句是同一件事：资料说的是它自己，不是我们对它的解释。</a:t>
            </a:r>
          </a:p>
          <a:p>
            <a:r>
              <a:rPr lang="zh-CN" dirty="0"/>
              <a:t>那设备没说的部分写什么？写未知。阈值、原因、零件、修法，我们手上一条都没有，就不能替它填。</a:t>
            </a:r>
          </a:p>
          <a:p>
            <a:r>
              <a:rPr lang="zh-CN" dirty="0"/>
              <a:t>这一案把设备做成这样，是为了让后面的分数有据可查：能查到的才能算到达，猜对不算。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这一步要把两个对象的职责划清，不然很容易把不属于它们的话塞进去。</a:t>
            </a:r>
          </a:p>
          <a:p>
            <a:r>
              <a:rPr lang="zh-CN" dirty="0"/>
              <a:t>设备间 T-17 只做一件事：按真实请求把资料交出来。它不会替人物起草交接稿，也不会因为知道你在哪一组就多给点提示。所有对象回复都要先提交，人物在后面的轮次才会收到。</a:t>
            </a:r>
          </a:p>
          <a:p>
            <a:r>
              <a:rPr lang="zh-CN" dirty="0"/>
              <a:t>资料区的记录台更简：开始是 empty，它只保存实际提交的正文，然后把自己的状态改成 recorded，再按请求 ID 回一句确认。它不补缺项，也不保证正文写得对。</a:t>
            </a:r>
          </a:p>
          <a:p>
            <a:r>
              <a:rPr lang="zh-CN" dirty="0"/>
              <a:t>这两条边界合起来，才让「保存了」和「说对了」不混为一谈。人物能做的只是申请保存。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在动笔写交接稿之前，我把这一案固定了什么、不固定什么说清楚，避免后面反复解释。</a:t>
            </a:r>
          </a:p>
          <a:p>
            <a:r>
              <a:rPr lang="zh-CN" dirty="0"/>
              <a:t>固定的是资料：设备私有 K1 到 K5，对外只公开一个 attention 状态。固定的是未知项：阈值、原因、零件、修法，一律说未知。</a:t>
            </a:r>
          </a:p>
          <a:p>
            <a:r>
              <a:rPr lang="zh-CN" dirty="0"/>
              <a:t>固定的是记录台的行为：开始是 empty，只保存实际提交的正文，不补缺项，也不保证写得对。</a:t>
            </a:r>
          </a:p>
          <a:p>
            <a:r>
              <a:rPr lang="zh-CN" dirty="0"/>
              <a:t>还有一条边界要特别记住：「检查」这个动作本身不证明物理维修。设备没有电气、机械或故障概率模型，所以 ACT 成功只说明动作提交成功了。</a:t>
            </a:r>
          </a:p>
          <a:p>
            <a:r>
              <a:rPr lang="zh-CN" dirty="0"/>
              <a:t>这套设定只属于这一案，不是说所有对象都得做成静态问答库。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接下来把镜头拉远，看人和消息在哪儿。</a:t>
            </a:r>
          </a:p>
          <a:p>
            <a:r>
              <a:rPr lang="zh-CN" dirty="0"/>
              <a:t>先纠正一个常见误会：接班员不是消息发出去的时候才被创建出来的。三个人从运行开始就都在场——交班员虞诚、接班员宋青、复核员韩平，各自有自己的位置和记忆。</a:t>
            </a:r>
          </a:p>
          <a:p>
            <a:r>
              <a:rPr lang="zh-CN" dirty="0"/>
              <a:t>也正因为这样，每条消息都必须走真实渠道。虞诚要知道设备情况，就得真的去问；宋青要知道交接内容，就得真的去读。</a:t>
            </a:r>
          </a:p>
          <a:p>
            <a:r>
              <a:rPr lang="zh-CN" dirty="0"/>
              <a:t>地图上给三块地方：值班室用来交流，设备间放 T-17，资料区放记录台。三个人一开始就知道这三个地址，但陌生对象的地址要靠感知取得，写在文字里的地址不会自动变成导航知识。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沿宋青这条线看，消息有明确的先后：先真的问，才有资料；先真的整理并提交，才有保存；先真的收到保存确认，再真实开口通知；对方真实读到，才算收到；读过之后要复述并说出不确定性；最后还要自己去设备那里做一次现场复核。</a:t>
            </a:r>
          </a:p>
          <a:p>
            <a:r>
              <a:rPr lang="zh-CN" dirty="0"/>
              <a:t>这里最容易被跳过的一环是「真实开口通知」。不能自己写完就当对方知道了，也不能假定对方已经理解。</a:t>
            </a:r>
          </a:p>
          <a:p>
            <a:r>
              <a:rPr lang="zh-CN" dirty="0"/>
              <a:t>还有一条要分清：宋青后来独立查到的内容，可以补救遗漏，但不能算成「经交接到达」。记录台变成 recorded，只能证明正文存下来了，不能证明宋青读过、更不能证明他读懂了。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三个角色从一开始就都在地图上活着，所以我要交代清楚各自的位置和知识边界。</a:t>
            </a:r>
          </a:p>
          <a:p>
            <a:r>
              <a:rPr lang="zh-CN" dirty="0"/>
              <a:t>虞诚是交班员。他不知道 K1 到 K5，需要主动去问设备，再把结果整理成一份说明交出去。宋青是接班员，负责接收、复述和核对；如果一直没等到交接，他可以整理用品，或者有边界地等待，但不能凭空知道。</a:t>
            </a:r>
          </a:p>
          <a:p>
            <a:r>
              <a:rPr lang="zh-CN" dirty="0"/>
              <a:t>韩平是复核员。他只根据实际发生的发言和设备回复去质询事实或推断，不去读别人的私有记忆。</a:t>
            </a:r>
          </a:p>
          <a:p>
            <a:r>
              <a:rPr lang="zh-CN" dirty="0"/>
              <a:t>还有一点很重要：值班室、设备间、资料区这三块地方，三个人一开始就都知道地址。职业身份不授予改设备状态的权限，共同大脑里也没有答案。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宋青其实有两条获取信息的路径，我得把它们分开算。</a:t>
            </a:r>
          </a:p>
          <a:p>
            <a:r>
              <a:rPr lang="zh-CN" dirty="0"/>
              <a:t>第一条是经交接到达：他打开记录台，读到虞诚提交的那份正文。这一条才进关键交接信息到达率。</a:t>
            </a:r>
          </a:p>
          <a:p>
            <a:r>
              <a:rPr lang="zh-CN" dirty="0"/>
              <a:t>第二条是他自己走到设备那里直接查询。这条路径很有用，能补上遗漏，但它不叫「经交接到达」，所以不能回填主指标。要报，就另外报一个最终掌握率。</a:t>
            </a:r>
          </a:p>
          <a:p>
            <a:r>
              <a:rPr lang="zh-CN" dirty="0"/>
              <a:t>还有一件事容易混：记录台状态变成 recorded，只说明正文存下来了。它不证明宋青读过，更不证明他理解。所以我们永远拿「实际收到并且正确复述或使用」当分子，而不是拿「文件里写着」当分子。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前面都是条件，接下来讲两组怎么跑。</a:t>
            </a:r>
          </a:p>
          <a:p>
            <a:r>
              <a:rPr lang="zh-CN" dirty="0"/>
              <a:t>我把共同前置拆成五步：先取到设备的真实回复，再区分哪些是资料描述、哪些是本轮实际活动；然后形成说明、提交给记录台并收到保存确认；接着真实开口通知宋青；最后回应他提出的问题。这五步两组都要做，一步都不能少。</a:t>
            </a:r>
          </a:p>
          <a:p>
            <a:r>
              <a:rPr lang="zh-CN" dirty="0"/>
              <a:t>唯一的差别在第二步，也就是怎么整理那份说明。基线组用自然语言自由整理，不调用交接整理子技能；对照组调用一次，把已有事实和来源交给它，再依据建议检查自己的说明。</a:t>
            </a:r>
          </a:p>
          <a:p>
            <a:r>
              <a:rPr lang="zh-CN" dirty="0"/>
              <a:t>有新证据导致实质修改时才重新整理，不每轮重复调用。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我把五步并排摆出来，请大家盯住第二步。</a:t>
            </a:r>
          </a:p>
          <a:p>
            <a:r>
              <a:rPr lang="zh-CN" dirty="0"/>
              <a:t>第一步是取事实：先真的问到设备的回复，再区分资料里写的是什么、本轮实际做了什么。这一步两组一样。</a:t>
            </a:r>
          </a:p>
          <a:p>
            <a:r>
              <a:rPr lang="zh-CN" dirty="0"/>
              <a:t>第二步开始分岔。基线组直接用自己的话写一份说明，不调用任何整理工具；对照组调用一次交接整理子技能，把已有事实和来源交给它，再拿建议回查自己的说明。</a:t>
            </a:r>
          </a:p>
          <a:p>
            <a:r>
              <a:rPr lang="zh-CN" dirty="0"/>
              <a:t>后面三步又合流：提交给记录台等待保存确认、真实开口通知宋青、回应他提出的疑问。两组条件相同，所以最后结果的差别，只能归到整理方式上。</a:t>
            </a:r>
          </a:p>
          <a:p>
            <a:r>
              <a:rPr lang="zh-CN" dirty="0"/>
              <a:t>另外记住，子技能只返回建议，它不做世界动作、不替人写记忆、不接触答案。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现在看那份整理说明到底长什么样。子技能把它压成五个栏目：现象、证据来源、已做、待做、不能确认。</a:t>
            </a:r>
          </a:p>
          <a:p>
            <a:r>
              <a:rPr lang="zh-CN" dirty="0"/>
              <a:t>这里有个关键区分：五条事实和五个栏目不是一一配对的。我拿 K3 举例。「前次记录 E-17 只写了外观观察」这一条，放在「证据来源」里成立，因为它说明了资料的出处；放在「已做」里也成立，但它只能算前史，不能算本轮做的事；它同时还在提醒前史和本轮的边界。</a:t>
            </a:r>
          </a:p>
          <a:p>
            <a:r>
              <a:rPr lang="zh-CN" dirty="0"/>
              <a:t>所以你把五个栏目都填满，并不等于五项事实都补齐了。没从设备拿到的内容还是缺口，不能照着框架把答案塞进去。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两组真正的差别只有一句话，我把它摊成四行来比。</a:t>
            </a:r>
          </a:p>
          <a:p>
            <a:r>
              <a:rPr lang="zh-CN" dirty="0"/>
              <a:t>整理方式上，基线用自然语言自由整理；对照组调用一次交接整理子技能。输入材料上，基线用个人观察和设备回复；对照组把这些事实和来源一并交给子技能。调用成本上，基线没有额外整理调用；对照组多出调用、长文本和阅读负担。</a:t>
            </a:r>
          </a:p>
          <a:p>
            <a:r>
              <a:rPr lang="zh-CN" dirty="0"/>
              <a:t>修改触发也不一样。对照组不是每轮都重来，只有出现新证据、需要实质修改时才重新整理。除此之外，后面的保存、通知、回应问题三步，两组完全一样。</a:t>
            </a:r>
          </a:p>
          <a:p>
            <a:r>
              <a:rPr lang="zh-CN" dirty="0"/>
              <a:t>所以这条实验线是干净的：两组都依赖同一个子技能，只有调用规则不同。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交接最难的部分不是让对方听到，而是让对方真的用上。</a:t>
            </a:r>
          </a:p>
          <a:p>
            <a:r>
              <a:rPr lang="zh-CN" dirty="0"/>
              <a:t>「收到」和「正确使用」必须同时成立才算数。我把这两个条件画成并列的两半，中间用 AND 连起来：只有一边成立，这项事实就不计分。</a:t>
            </a:r>
          </a:p>
          <a:p>
            <a:r>
              <a:rPr lang="zh-CN" dirty="0"/>
              <a:t>分母固定是五，因为事实只有 K1 到 K5 五项，而且每项只计一次，来源还要能追得回去。</a:t>
            </a:r>
          </a:p>
          <a:p>
            <a:r>
              <a:rPr lang="zh-CN" dirty="0"/>
              <a:t>有几种情况要排除掉：有人凭猜测说对了，但没有经交接得到，这个不算；有人早就自己查过、后来才收到，那要标成「交接前已知」，也不当作新增到达。如果来源混合、没法判断，就单列出来，但分母仍然是五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要让接班这件事真的发生，得让宋青真的参与进来，而不是被动接收。</a:t>
            </a:r>
          </a:p>
          <a:p>
            <a:r>
              <a:rPr lang="zh-CN" dirty="0"/>
              <a:t>具体是四件事。第一，宋青收到通知后要去记录台读那条记录，然后向虞诚复述事实和不确定的地方，有疑问就追问。第二，他要接近设备，提交规定的现场资料复核请求，并在实际地点提交一次外观核对动作。</a:t>
            </a:r>
          </a:p>
          <a:p>
            <a:r>
              <a:rPr lang="zh-CN" dirty="0"/>
              <a:t>第三，韩平的角色是质询。谁要是说「已完成」或者「已恢复」，他就要对方指出来源；缺证据的，就保留为待办事项。</a:t>
            </a:r>
          </a:p>
          <a:p>
            <a:r>
              <a:rPr lang="zh-CN" dirty="0"/>
              <a:t>第四，也是最容易被忽略的一点：如果没有新的事实，合格的结果本来就允许是「资料已经交接，设备仍未确认恢复」。</a:t>
            </a:r>
          </a:p>
          <a:p>
            <a:r>
              <a:rPr lang="zh-CN" dirty="0"/>
              <a:t>这里还牵涉一个边界：正常接班复核是规定任务，不能因为交班员已经查过就当成重复劳动。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这个案例的主指标叫关键交接信息到达率，我把它拆成一眼能记住的形状。</a:t>
            </a:r>
          </a:p>
          <a:p>
            <a:r>
              <a:rPr lang="zh-CN" dirty="0"/>
              <a:t>分子上，一项事实要同时满足两个条件：宋青经交接渠道实际收到了，而且他能正确复述或使用。中间是 AND，缺一个就不算。</a:t>
            </a:r>
          </a:p>
          <a:p>
            <a:r>
              <a:rPr lang="zh-CN" dirty="0"/>
              <a:t>分母固定是五，因为事实就五项，每项只计一次，来源还要能追溯回去。时间范围也是固定的：从首次交接开始，到窗口结束为止。</a:t>
            </a:r>
          </a:p>
          <a:p>
            <a:r>
              <a:rPr lang="zh-CN" dirty="0"/>
              <a:t>有几个情形要排除。凭猜测说对的，没有交接来源，不计。先自查、后来才收到的，标成「交接前已知」，不算新增到达。来源混合、分不清是哪条路径的，单列出来，分母仍然按五项算。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成绩不能只看一个数字，这一案一共要报五个指标，每个都有自己要守的边界。</a:t>
            </a:r>
          </a:p>
          <a:p>
            <a:r>
              <a:rPr lang="zh-CN" dirty="0"/>
              <a:t>主指标是到达率，我刚才已经拆过。第二个是最终掌握率，它把独立查询补回来的内容也算进去，但要单独报，绝不能回填交接分数。</a:t>
            </a:r>
          </a:p>
          <a:p>
            <a:r>
              <a:rPr lang="zh-CN" dirty="0"/>
              <a:t>第三个是无依据完成声明率：缺规定证据的完成主张，占全部完成主张的比例；如果没有出现任何声明，就记不适用，而不是记零。</a:t>
            </a:r>
          </a:p>
          <a:p>
            <a:r>
              <a:rPr lang="zh-CN" dirty="0"/>
              <a:t>第四个是不必要重复检查率，分子是没有新证据、没有变化、也没有明确复核要求的那种重复。规定复核和有新疑问的追查都不算。</a:t>
            </a:r>
          </a:p>
          <a:p>
            <a:r>
              <a:rPr lang="zh-CN" dirty="0"/>
              <a:t>第五个是有效交接调用成本，分母是五项全过、且保留 K5 含义的那些有效交接任务。物理尝试另外列，零成功时不能计算。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报数之前，先把三个最容易算错的口径讲清楚。</a:t>
            </a:r>
          </a:p>
          <a:p>
            <a:r>
              <a:rPr lang="zh-CN" dirty="0"/>
              <a:t>第一种错误是只挑顺利的样本。有的运行从头到尾根本没形成交接，这种情况照样要报 0/5，并且明确标注「未形成交接」，不能把它们从分母里删掉。</a:t>
            </a:r>
          </a:p>
          <a:p>
            <a:r>
              <a:rPr lang="zh-CN" dirty="0"/>
              <a:t>第二种是路径混淆。有人先自己查过、后来才收到交接，那要标成「交接前已知」，它不属于新增到达；凭猜测说对的，因为没有交接来源，也不计。</a:t>
            </a:r>
          </a:p>
          <a:p>
            <a:r>
              <a:rPr lang="zh-CN" dirty="0"/>
              <a:t>第三种是来源说不清。来源混合或者无法判断的，单独列出来，分母仍然按五项算。另外，失败的和未形成交接的调用，也要进入成本统计。</a:t>
            </a:r>
          </a:p>
          <a:p>
            <a:r>
              <a:rPr lang="zh-CN" dirty="0"/>
              <a:t>最后一句要记住：这些比率说明的是信息流动，不能拿来推断设备有多可靠或者维修效率有多高。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现在用一个手工算的例子把口径跑一遍。请注意，这是人工判分的例子，没有实际请求、会话或运行。</a:t>
            </a:r>
          </a:p>
          <a:p>
            <a:r>
              <a:rPr lang="zh-CN" dirty="0"/>
              <a:t>五项事实里，K1、K2、K5 交接正确传达了，宋青也正确复述，这三项都拿到分。K3 也传过去了，但被写成了「我刚完成全面检查」，含义被改变了，所以不给分。K4 干脆没进交接，是宋青后来自己独立查到的，同样不给分。</a:t>
            </a:r>
          </a:p>
          <a:p>
            <a:r>
              <a:rPr lang="zh-CN" dirty="0"/>
              <a:t>绿色那一支同时要求三件事：交接来源可追、实际收到、正确复述。如果只数最后知道了几项，就会把独立查询的补救混进主指标。</a:t>
            </a:r>
          </a:p>
          <a:p>
            <a:r>
              <a:rPr lang="zh-CN" dirty="0"/>
              <a:t>所以交接到达是三项，3/5，也就是 60%。另外两个诊断数字：缺依据的完成声明 1/4，也就是 25%；不必要重复检查 1/3。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我留三行练习，大家可以自己按一遍。</a:t>
            </a:r>
          </a:p>
          <a:p>
            <a:r>
              <a:rPr lang="zh-CN" dirty="0"/>
              <a:t>第一行：经交接正确到达三项。分子就是三，分母固定是五，所以是 60%。后来宋青独立补回来的 K4，不改变这个主指标，它只进另一个掌握率。</a:t>
            </a:r>
          </a:p>
          <a:p>
            <a:r>
              <a:rPr lang="zh-CN" dirty="0"/>
              <a:t>第二行：一共出现四项完成声明，其中「已全面检查」这项缺规定证据，所以是 1/4，也就是 25%。注意分母是全部完成主张，而不是只数缺证据的那一条。</a:t>
            </a:r>
          </a:p>
          <a:p>
            <a:r>
              <a:rPr lang="zh-CN" dirty="0"/>
              <a:t>第三行：一共有三次检查。规定的接班复核算一次，有新疑问的追查算一次，剩下那次是在没有新条件下重复追查，所以不必要重复是 1/3，不是 2/3。</a:t>
            </a:r>
          </a:p>
          <a:p>
            <a:r>
              <a:rPr lang="zh-CN" dirty="0"/>
              <a:t>如果对第三次有没有新条件有不同看法，就把引用和分歧都保留下来。五栏齐全但内容为空，仍然算遗漏。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最后一个问题：结果不理想的时候，我们能说到哪一步。</a:t>
            </a:r>
          </a:p>
          <a:p>
            <a:r>
              <a:rPr lang="zh-CN" dirty="0"/>
              <a:t>如果设备从来没回复过 K4，那问题出在查询和原始回复这一段。如果 K4 已经收到了，却没被整理进说明里，那问题在子技能的输入或输出。</a:t>
            </a:r>
          </a:p>
          <a:p>
            <a:r>
              <a:rPr lang="zh-CN" dirty="0"/>
              <a:t>如果记录确实保存了，宋青始终没去读，那要查的是保存、通知、接收、查询这一整条链。如果宋青读到了却说错了，那要看的是他的复述和实际使用，而不是文件在不在。</a:t>
            </a:r>
          </a:p>
          <a:p>
            <a:r>
              <a:rPr lang="zh-CN" dirty="0"/>
              <a:t>还有一句要提醒：「检查已完成」这句话有两种含义。如果说的是现场核对面板，那就需要位置和动作作为凭证；如果说的是设备恢复正常，在本案里根本不成立，因为没有任何依据。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这一节讲的是一个很朴素但很容易被忽略的要求：交接不是把消息发出去，而是让对方真的接住。</a:t>
            </a:r>
          </a:p>
          <a:p>
            <a:r>
              <a:rPr lang="zh-CN" dirty="0"/>
              <a:t>我留三个反问给大家，以后做自己的案例时可以拿出来对一遍。</a:t>
            </a:r>
          </a:p>
          <a:p>
            <a:r>
              <a:rPr lang="zh-CN" dirty="0"/>
              <a:t>第一，对方是「收到」了，还是「正确复述或使用」了？只有后者才算到达。</a:t>
            </a:r>
          </a:p>
          <a:p>
            <a:r>
              <a:rPr lang="zh-CN" dirty="0"/>
              <a:t>第二，这一项是经交接到达的，还是后来独立查询补上的？两条路径要分开报，不能互相回填。</a:t>
            </a:r>
          </a:p>
          <a:p>
            <a:r>
              <a:rPr lang="zh-CN" dirty="0"/>
              <a:t>第三，记录已经保存，是不是就等于对方读过并且理解了？不等。</a:t>
            </a:r>
          </a:p>
          <a:p>
            <a:r>
              <a:rPr lang="zh-CN" dirty="0"/>
              <a:t>把这三句话记住，你设计自己的交接实验时，分母和分子就不容易写错。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4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notes={`今天我们从一次设备交接说起。夜里设备间的指示灯开始间歇闪橙色，交班员要在下班前，把情况完整地留给接班员。&#10;&#10;请大家先注意一件事：设备能给出的事实其实很少。它只公开一个 attention 状态，一条显示值 7，再加上前一次记录里只写了外观观察。这些加起来并不等于「某个部件已经损坏」。&#10;&#10;所以这个实验要问的是：把设备事实固定住，只改整理方式，接班员能不能更准确地拿到该知道的东西，同时少说没有依据的完成结论。&#10;&#10;后面所有的比率，分母都从这里开始。`} style={{ width: 1280, height: 720, background: '#FFFFFF', flexDirection: 'column', padding: '20px 64px' }}&gt;&#10;&#10;    &lt;Box style={{ height: 100, flexDirection: 'row', alignItems: 'center', gap: 12 }}&gt;&#10;        &lt;Box style={{ width: 4, height: 36, background: '#276FBF' }} /&gt;&#10;        &lt;Text style={{ fontSize: 15, color: '#546779' }}&gt;第四章　面向问题的场景化应用　·　4.2&lt;/Text&gt;&#10;    &lt;/Box&gt;&#10;&#10;    &lt;Box style={{ height: 540, flexDirection: 'row', alignItems: 'center', gap: 32 }}&gt;&#10;&#10;        &lt;Box style={{ width: 560, flexDirection: 'column', gap: 14, justifyContent: 'center' }}&gt;&#10;            &lt;Text style={{ fontSize: 52, fontWeight: 'bold', color: '#20344B', lineHeight: 1.2 }}&gt;设备维护班组交接&lt;/Text&gt;&#10;            &lt;Box style={{ width: 72, height: 4, background: '#276FBF' }} /&gt;&#10;            &lt;Text style={{ fontSize: 20, fontWeight: 'bold', color: '#276FBF', lineHeight: 1.5, width: 560 }}&gt;把「做过什么」与「还不知道什么」交出去&lt;/Text&gt;&#10;            &lt;Text style={{ fontSize: 16, color: '#546779', lineHeight: 1.7, width: 560 }}&gt;固定设备事实，用五项清单整理，是否改善信息到达并减少无依据声明？本案为虚构教案，尚未制作资源和运行。&lt;/Text&gt;&#10;            &lt;Box style={{ flexDirection: 'row', gap: 12, marginTop: 6 }}&gt;&#10;                &lt;Box style={{ width: 130, height: 42, background: '#EDF4FC', borderRadius: 8, justifyContent: 'center', alignItems: 'center' }}&gt;&#10;                    &lt;Text style={{ fontSize: 15, color: '#276FBF' }}&gt;五条有限事实&lt;/Text&gt;&#10;                &lt;/Box&gt;&#10;                &lt;Box style={{ width: 130, height: 42, background: '#ECF7F2', borderRadius: 8, justifyContent: 'center', alignItems: 'center' }}&gt;&#10;                    &lt;Text style={{ fontSize: 15, color: '#26816B' }}&gt;真实交接渠道&lt;/Text&gt;&#10;                &lt;/Box&gt;&#10;                &lt;Box style={{ width: 130, height: 42, background: '#FFF4E6', borderRadius: 8, justifyContent: 'center', alignItems: 'center' }}&gt;&#10;                    &lt;Text style={{ fontSize: 15, color: '#CB6B28' }}&gt;无依据声明&lt;/Text&gt;&#10;                &lt;/Box&gt;&#10;            &lt;/Box&gt;&#10;        &lt;/Box&gt;&#10;&#10;        &lt;Box style={{ width: 560, flexDirection: 'column', gap: 20, justifyContent: 'center' }}&gt;&#10;&#10;            &lt;Box style={{ width: 560, height: 268, background: '#F4F7FA', borderRadius: 12, padding: '16px 20px', flexDirection: 'column', gap: 12 }}&gt;&#10;                &lt;Box style={{ flexDirection: 'row', justifyContent: 'space-between', alignItems: 'center' }}&gt;&#10;                    &lt;Text style={{ fontSize: 16, fontWeight: 'bold', color: '#20344B' }}&gt;设备间 T-17　面板示意&lt;/Text&gt;&#10;                    &lt;Text style={{ fontSize: 13, color: '#546779' }}&gt;示意&lt;/Text&gt;&#10;                &lt;/Box&gt;&#10;                &lt;Box style={{ flexDirection: 'row', alignItems: 'center', gap: 14 }}&gt;&#10;                    &lt;Box style={{ width: 44, height: 44, background: '#CB6B28', borderRadius: 22 }} /&gt;&#10;                    &lt;Text style={{ fontSize: 15, color: '#20344B' }}&gt;橙色指示灯间歇出现&lt;/Text&gt;&#10;                &lt;/Box&gt;&#10;                &lt;Text style={{ fontSize: 15, color: '#20344B' }}&gt;显示 7　（虚构教学单位，无正常范围）&lt;/Text&gt;&#10;                &lt;Text style={{ fontSize: 15, color: '#20344B' }}&gt;state = attention&lt;/Text&gt;&#10;                &lt;Box style={{ width: 520, height: 1, background: '#B5C7D8' }} /&gt;&#10;                &lt;Text style={{ fontSize: 14, color: '#546779', lineHeight: 1.5 }}&gt;公开状态只表示「值得关注」；K1—K5 属设备私有资料，人物初始不知道。&lt;/Text&gt;&#10;            &lt;/Box&gt;&#10;&#10;            &lt;Box style={{ width: 560, height: 200, background: '#EDF4FC', borderRadius: 12, padding: '16px 20px', flexDirection: 'column', gap: 12 }}&gt;&#10;                &lt;Box style={{ flexDirection: 'row', justifyContent: 'space-between', alignItems: 'center' }}&gt;&#10;                    &lt;Text style={{ fontSize: 16, fontWeight: 'bold', color: '#276FBF' }}&gt;资料区记录台　状态示意&lt;/Text&gt;&#10;                    &lt;Text style={{ fontSize: 13, color: '#546779' }}&gt;示意&lt;/Text&gt;&#10;                &lt;/Box&gt;&#10;                &lt;Box style={{ flexDirection: 'row', alignItems: 'center' }}&gt;&#10;                    &lt;Box style={{ width: 140, height: 46, background: '#FFFFFF', borderRadius: 8, justifyContent: 'center', alignItems: 'center' }}&gt;&#10;                        &lt;Text style={{ fontSize: 16, color: '#546779' }}&gt;empty&lt;/Text&gt;&#10;                    &lt;/Box&gt;&#10;                    &lt;Box style={{ width: 44, height: 46, justifyContent: 'center', alignItems: 'center' }}&gt;&#10;                        &lt;Text style={{ fontSize: 24, color: '#276FBF' }}&gt;›&lt;/Text&gt;&#10;                    &lt;/Box&gt;&#10;                    &lt;Box style={{ width: 140, height: 46, background: '#FFFFFF', borderRadius: 8, justifyContent: 'center', alignItems: 'center' }}&gt;&#10;                        &lt;Text style={{ fontSize: 16, color: '#26816B' }}&gt;recorded&lt;/Text&gt;&#10;                    &lt;/Box&gt;&#10;                &lt;/Box&gt;&#10;                &lt;Text style={{ fontSize: 14, color: '#546779', lineHeight: 1.5 }}&gt;只保存实际提交的交接正文，按请求 ID 回复；不补缺项，也不保证正文正确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2 设备维护班组交接&lt;/Text&gt;&#10;        &lt;Text style={{ fontSize: 14, color: '#546779' }}&gt;01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" y="495300"/>
            <a:ext cx="38100" cy="342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62000" y="581025"/>
            <a:ext cx="2524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第四章　面向问题的场景化应用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4.2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2362200"/>
            <a:ext cx="5334000" cy="7143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设备维护班组交接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09600" y="320992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3381375"/>
            <a:ext cx="53340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把「做过什么」与「还不知道什么」交出去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09600" y="3857625"/>
            <a:ext cx="53340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固定设备事实，用五项清单整理，是否改善信息到达并减少无依据声明？本案为虚构教案，尚未制作资源和运行。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609600" y="4676775"/>
            <a:ext cx="123825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800100" y="479107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五条有限事实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1962150" y="4676775"/>
            <a:ext cx="1238250" cy="400050"/>
          </a:xfrm>
          <a:prstGeom prst="roundRect">
            <a:avLst>
              <a:gd name="adj" fmla="val 1904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2152650" y="479107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真实交接渠道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3314700" y="4676775"/>
            <a:ext cx="1238250" cy="400050"/>
          </a:xfrm>
          <a:prstGeom prst="roundRect">
            <a:avLst>
              <a:gd name="adj" fmla="val 1904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3581400" y="479107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无依据声明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6248400" y="1390650"/>
            <a:ext cx="5334000" cy="2552700"/>
          </a:xfrm>
          <a:prstGeom prst="roundRect">
            <a:avLst>
              <a:gd name="adj" fmla="val 447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438900" y="1543050"/>
            <a:ext cx="1619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设备间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T-17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　面板示意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11144250" y="156210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6438900" y="18478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991350" y="1971675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橙色指示灯间歇出现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6438900" y="2381250"/>
            <a:ext cx="495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显示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7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　（虚构教学单位，无正常范围）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438900" y="2667000"/>
            <a:ext cx="495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>state = attention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6438900" y="2952750"/>
            <a:ext cx="49530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438900" y="3076575"/>
            <a:ext cx="4953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公开状态只表示「值得关注」；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K1—K5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属设备私有资料，人物初始不知道。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6248400" y="4133850"/>
            <a:ext cx="5334000" cy="1905000"/>
          </a:xfrm>
          <a:prstGeom prst="roundRect">
            <a:avLst>
              <a:gd name="adj" fmla="val 6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438900" y="4286250"/>
            <a:ext cx="167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资料区记录台　状态示意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11144250" y="430530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6438900" y="4591050"/>
            <a:ext cx="13335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877050" y="4714875"/>
            <a:ext cx="466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empty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7943850" y="467677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8191500" y="4591050"/>
            <a:ext cx="13335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8534400" y="4714875"/>
            <a:ext cx="657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6816B"/>
                </a:solidFill>
                <a:latin typeface="Microsoft YaHei"/>
                <a:ea typeface="Microsoft YaHei"/>
              </a:rPr>
              <a:t>recorded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438900" y="5143500"/>
            <a:ext cx="4953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只保存实际提交的交接正文，按请求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回复；不补缺项，也不保证正文正确。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设备维护班组交接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01 / 24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32" name="" descr="&lt;Slide notes={`这次交接实验一共要看四件事，我按顺序说明。&#10;&#10;第一件是事实本身。设备手里只有五条有限的资料，我们要一条条分清它能说明什么、不能说明什么。&#10;&#10;第二件是消息怎么走。三个人从运行开始就都在场，接班不是临时新建一个人，所以每条消息都得走真实渠道。&#10;&#10;第三件是流程改哪一段。两组的前置步骤完全一样，唯一差别在整理那份交接说明的方式。&#10;&#10;第四件才算成绩。收到和正确使用缺一不可，丢失发生在哪一环，解释就只能停在哪一环。&#10;&#10;这四条串起来，就是这一节的全部内容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2　设备维护班组交接　·　本节地图&lt;/Text&gt;&#10;            &lt;Text style={{ fontSize: 34, fontWeight: 'bold', color: '#20344B' }}&gt;本节要看清的四件事&lt;/Text&gt;&#10;        &lt;/Box&gt;&#10;    &lt;/Box&gt;&#10;&#10;    &lt;Box style={{ height: 540, flexDirection: 'row', gap: 28, alignItems: 'center' }}&gt;&#10;&#10;        &lt;Box style={{ width: 380, flexDirection: 'column', gap: 16 }}&gt;&#10;            &lt;Text style={{ fontSize: 22, fontWeight: 'bold', color: '#20344B', lineHeight: 1.4 }}&gt;先把事实固定住，{'\n'}再看整理方式管不管用&lt;/Text&gt;&#10;            &lt;Box style={{ width: 56, height: 4, background: '#276FBF' }} /&gt;&#10;            &lt;Text style={{ fontSize: 16, color: '#546779', lineHeight: 1.75, width: 380 }}&gt;本案是虚构教案，尚未制作资源、上传配置或运行，也没有实测数值。四个知识块依次回答：事实有多少、消息怎么走、流程改哪一段、怎么算合格。&lt;/Text&gt;&#10;            &lt;Box style={{ width: 380, height: 96, background: '#F7F3E8', borderRadius: 10, padding: '14px 18px', flexDirection: 'column', gap: 6, justifyContent: 'center' }}&gt;&#10;                &lt;Text style={{ fontSize: 15, fontWeight: 'bold', color: '#CB6B28' }}&gt;唯一主要变化&lt;/Text&gt;&#10;                &lt;Text style={{ fontSize: 14, color: '#546779', lineHeight: 1.5 }}&gt;自由交接说明／五项清单整理说明，两组其余条件相同&lt;/Text&gt;&#10;            &lt;/Box&gt;&#10;        &lt;/Box&gt;&#10;&#10;        &lt;Box style={{ width: 744, flexDirection: 'column', gap: 12 }}&gt;&#10;&#10;            &lt;Box style={{ width: 744, height: 118, background: '#F4F7FA', borderRadius: 10, padding: '0 18px', flexDirection: 'row', alignItems: 'center', gap: 14 }}&gt;&#10;                &lt;Box style={{ width: 46, height: 46, background: '#EDF4FC', borderRadius: 8, justifyContent: 'center', alignItems: 'center' }}&gt;&#10;                    &lt;Text style={{ fontSize: 20, fontWeight: 'bold', color: '#276FBF' }}&gt;①&lt;/Text&gt;&#10;                &lt;/Box&gt;&#10;                &lt;Box style={{ flex: 1, flexDirection: 'column', gap: 4 }}&gt;&#10;                    &lt;Text style={{ fontSize: 19, fontWeight: 'bold', color: '#20344B' }}&gt;五条有限事实：不要补造诊断&lt;/Text&gt;&#10;                    &lt;Text style={{ fontSize: 14, color: '#546779', lineHeight: 1.5 }}&gt;K1—K5 各写了什么、各自推不出什么；说不清的一律说未知。&lt;/Text&gt;&#10;                &lt;/Box&gt;&#10;            &lt;/Box&gt;&#10;&#10;            &lt;Box style={{ width: 744, height: 118, background: '#F4F7FA', borderRadius: 10, padding: '0 18px', flexDirection: 'row', alignItems: 'center', gap: 14 }}&gt;&#10;                &lt;Box style={{ width: 46, height: 46, background: '#EDF4FC', borderRadius: 8, justifyContent: 'center', alignItems: 'center' }}&gt;&#10;                    &lt;Text style={{ fontSize: 20, fontWeight: 'bold', color: '#276FBF' }}&gt;②&lt;/Text&gt;&#10;                &lt;/Box&gt;&#10;                &lt;Box style={{ flex: 1, flexDirection: 'column', gap: 4 }}&gt;&#10;                    &lt;Text style={{ fontSize: 19, fontWeight: 'bold', color: '#20344B' }}&gt;空间与角色：三人一直都在&lt;/Text&gt;&#10;                    &lt;Text style={{ fontSize: 14, color: '#546779', lineHeight: 1.5 }}&gt;值班室／设备间／资料区三区，交班员、接班员、复核员与两个对象。&lt;/Text&gt;&#10;                &lt;/Box&gt;&#10;            &lt;/Box&gt;&#10;&#10;            &lt;Box style={{ width: 744, height: 118, background: '#F4F7FA', borderRadius: 10, padding: '0 18px', flexDirection: 'row', alignItems: 'center', gap: 14 }}&gt;&#10;                &lt;Box style={{ width: 46, height: 46, background: '#EDF4FC', borderRadius: 8, justifyContent: 'center', alignItems: 'center' }}&gt;&#10;                    &lt;Text style={{ fontSize: 20, fontWeight: 'bold', color: '#276FBF' }}&gt;③&lt;/Text&gt;&#10;                &lt;/Box&gt;&#10;                &lt;Box style={{ flex: 1, flexDirection: 'column', gap: 4 }}&gt;&#10;                    &lt;Text style={{ fontSize: 19, fontWeight: 'bold', color: '#20344B' }}&gt;共同流程，只改变整理段&lt;/Text&gt;&#10;                    &lt;Text style={{ fontSize: 14, color: '#546779', lineHeight: 1.5 }}&gt;五个前置步骤两组相同；现象／来源／已做／待做／不能确认五栏是表达框架。&lt;/Text&gt;&#10;                &lt;/Box&gt;&#10;            &lt;/Box&gt;&#10;&#10;            &lt;Box style={{ width: 744, height: 118, background: '#FFF4E6', borderRadius: 10, padding: '0 18px', flexDirection: 'row', alignItems: 'center', gap: 14 }}&gt;&#10;                &lt;Box style={{ width: 46, height: 46, background: '#FFFFFF', borderRadius: 8, justifyContent: 'center', alignItems: 'center' }}&gt;&#10;                    &lt;Text style={{ fontSize: 20, fontWeight: 'bold', color: '#CB6B28' }}&gt;④&lt;/Text&gt;&#10;                &lt;/Box&gt;&#10;                &lt;Box style={{ flex: 1, flexDirection: 'column', gap: 4 }}&gt;&#10;                    &lt;Text style={{ fontSize: 19, fontWeight: 'bold', color: '#20344B' }}&gt;收到与正确使用，缺一不可&lt;/Text&gt;&#10;                    &lt;Text style={{ fontSize: 14, color: '#546779', lineHeight: 1.5 }}&gt;到达率与五个指标的分母口径、人工判分例子，以及从哪一环丢失怎么归因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2 设备维护班组交接&lt;/Text&gt;&#10;        &lt;Text style={{ fontSize: 14, color: '#546779' }}&gt;02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设备维护班组交接　·　本节地图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本节要看清的四件事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609600" y="2181225"/>
            <a:ext cx="3619500" cy="704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先把事实固定住，</a:t>
            </a:r>
            <a:endParaRPr/>
          </a:p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再看整理方式管不管用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609600" y="3038475"/>
            <a:ext cx="5334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609600" y="3228975"/>
            <a:ext cx="3619500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本案是虚构教案，尚未制作资源、上传配置或运行，也没有实测数值。四个知识块依次回答：事实有多少、消息怎么走、流程改哪一段、怎么算合格。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609600" y="4343400"/>
            <a:ext cx="3619500" cy="914400"/>
          </a:xfrm>
          <a:prstGeom prst="roundRect">
            <a:avLst>
              <a:gd name="adj" fmla="val 10417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781050" y="4562475"/>
            <a:ext cx="3276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唯一主要变化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781050" y="4791075"/>
            <a:ext cx="3276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自由交接说明／五项清单整理说明，两组其余条件相同</a:t>
            </a:r>
            <a:endParaRPr/>
          </a:p>
        </p:txBody>
      </p:sp>
      <p:sp>
        <p:nvSpPr>
          <p:cNvPr id="343" name=""/>
          <p:cNvSpPr/>
          <p:nvPr/>
        </p:nvSpPr>
        <p:spPr>
          <a:xfrm rot="0" flipH="0" flipV="0">
            <a:off x="4495800" y="1295400"/>
            <a:ext cx="7086600" cy="1123950"/>
          </a:xfrm>
          <a:prstGeom prst="roundRect">
            <a:avLst>
              <a:gd name="adj" fmla="val 847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44" name=""/>
          <p:cNvSpPr/>
          <p:nvPr/>
        </p:nvSpPr>
        <p:spPr>
          <a:xfrm rot="0" flipH="0" flipV="0">
            <a:off x="4667250" y="163830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4791075" y="1743075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276FBF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5238750" y="1609725"/>
            <a:ext cx="6172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五条有限事实：不要补造诊断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5238750" y="1866900"/>
            <a:ext cx="61722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K1—K5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各写了什么、各自推不出什么；说不清的一律说未知。</a:t>
            </a:r>
            <a:endParaRPr/>
          </a:p>
        </p:txBody>
      </p:sp>
      <p:sp>
        <p:nvSpPr>
          <p:cNvPr id="348" name=""/>
          <p:cNvSpPr/>
          <p:nvPr/>
        </p:nvSpPr>
        <p:spPr>
          <a:xfrm rot="0" flipH="0" flipV="0">
            <a:off x="4495800" y="2533650"/>
            <a:ext cx="7086600" cy="1123950"/>
          </a:xfrm>
          <a:prstGeom prst="roundRect">
            <a:avLst>
              <a:gd name="adj" fmla="val 847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49" name=""/>
          <p:cNvSpPr/>
          <p:nvPr/>
        </p:nvSpPr>
        <p:spPr>
          <a:xfrm rot="0" flipH="0" flipV="0">
            <a:off x="4667250" y="287655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4791075" y="2981325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276FBF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5238750" y="2847975"/>
            <a:ext cx="6172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空间与角色：三人一直都在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5238750" y="3105150"/>
            <a:ext cx="61722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值班室／设备间／资料区三区，交班员、接班员、复核员与两个对象。</a:t>
            </a:r>
            <a:endParaRPr/>
          </a:p>
        </p:txBody>
      </p:sp>
      <p:sp>
        <p:nvSpPr>
          <p:cNvPr id="353" name=""/>
          <p:cNvSpPr/>
          <p:nvPr/>
        </p:nvSpPr>
        <p:spPr>
          <a:xfrm rot="0" flipH="0" flipV="0">
            <a:off x="4495800" y="3771900"/>
            <a:ext cx="7086600" cy="1123950"/>
          </a:xfrm>
          <a:prstGeom prst="roundRect">
            <a:avLst>
              <a:gd name="adj" fmla="val 847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54" name=""/>
          <p:cNvSpPr/>
          <p:nvPr/>
        </p:nvSpPr>
        <p:spPr>
          <a:xfrm rot="0" flipH="0" flipV="0">
            <a:off x="4667250" y="411480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4791075" y="4219575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276FBF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5238750" y="4086225"/>
            <a:ext cx="6172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共同流程，只改变整理段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5238750" y="4343400"/>
            <a:ext cx="61722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五个前置步骤两组相同；现象／来源／已做／待做／不能确认五栏是表达框架。</a:t>
            </a:r>
            <a:endParaRPr/>
          </a:p>
        </p:txBody>
      </p:sp>
      <p:sp>
        <p:nvSpPr>
          <p:cNvPr id="358" name=""/>
          <p:cNvSpPr/>
          <p:nvPr/>
        </p:nvSpPr>
        <p:spPr>
          <a:xfrm rot="0" flipH="0" flipV="0">
            <a:off x="4495800" y="5010150"/>
            <a:ext cx="7086600" cy="1123950"/>
          </a:xfrm>
          <a:prstGeom prst="roundRect">
            <a:avLst>
              <a:gd name="adj" fmla="val 847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59" name=""/>
          <p:cNvSpPr/>
          <p:nvPr/>
        </p:nvSpPr>
        <p:spPr>
          <a:xfrm rot="0" flipH="0" flipV="0">
            <a:off x="4667250" y="535305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4791075" y="5457825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CB6B28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5238750" y="5324475"/>
            <a:ext cx="6172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收到与正确使用，缺一不可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5238750" y="5581650"/>
            <a:ext cx="61722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到达率与五个指标的分母口径、人工判分例子，以及从哪一环丢失怎么归因。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设备维护班组交接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02 / 24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500" name="" descr="&lt;Slide notes={`先解决第一个问题：凭什么说设备真的知道些什么。&#10;&#10;这一案里，设备手里的资料只有五条，我把它记成 K1 到 K5。它们分别是一条现象、一个数值、一条前史记录、一处缺项和一处未确认。五条都很具体，但没有一条能直接支撑诊断。&#10;&#10;我要提醒的是，做资源时最容易多写一步：看到橙色灯就在资料里补一句「某部件损坏」。这句话一旦写进去，后面所有结论都会被污染。&#10;&#10;所以这一块的任务很朴素——把事实照原样固定住，剩下的全部说不知道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①　　4.2.1&lt;/Text&gt;&#10;&#10;        &lt;Text style={{ fontSize: 56, fontWeight: 'bold', color: '#20344B', lineHeight: 1.15 }}&gt;五条有限事实&lt;/Text&gt;&#10;&#10;        &lt;Box style={{ width: 72, height: 4, background: '#276FBF' }} /&gt;&#10;&#10;        &lt;Text style={{ fontSize: 18, color: '#546779', lineHeight: 1.7, width: 900 }}&gt;不要补造诊断。设备按真实请求提供事实，未知的阈值、原因、零件与修法一律说未知。&lt;/Text&gt;&#10;&#10;        &lt;Box style={{ flexDirection: 'row', alignItems: 'center', gap: 24, marginTop: 10 }}&gt;&#10;            &lt;Box style={{ width: 154, height: 76, background: '#EDF4FC', borderRadius: 8, justifyContent: 'center', alignItems: 'center' }}&gt;&#10;                &lt;Text style={{ fontSize: 18, color: '#276FBF' }}&gt;K1　指示灯现象&lt;/Text&gt;&#10;            &lt;/Box&gt;&#10;            &lt;Box style={{ width: 154, height: 76, background: '#EDF4FC', borderRadius: 8, justifyContent: 'center', alignItems: 'center' }}&gt;&#10;                &lt;Text style={{ fontSize: 18, color: '#276FBF' }}&gt;K2　数值 7&lt;/Text&gt;&#10;            &lt;/Box&gt;&#10;            &lt;Box style={{ width: 154, height: 76, background: '#EDF4FC', borderRadius: 8, justifyContent: 'center', alignItems: 'center' }}&gt;&#10;                &lt;Text style={{ fontSize: 18, color: '#276FBF' }}&gt;K3　前史 E-17&lt;/Text&gt;&#10;            &lt;/Box&gt;&#10;            &lt;Box style={{ width: 154, height: 76, background: '#EDF4FC', borderRadius: 8, justifyContent: 'center', alignItems: 'center' }}&gt;&#10;                &lt;Text style={{ fontSize: 18, color: '#276FBF' }}&gt;K4　缺内部核查&lt;/Text&gt;&#10;            &lt;/Box&gt;&#10;            &lt;Box style={{ width: 154, height: 76, background: '#FFF4E6', borderRadius: 8, justifyContent: 'center', alignItems: 'center' }}&gt;&#10;                &lt;Text style={{ fontSize: 18, color: '#CB6B28' }}&gt;K5　未确认恢复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2 设备维护班组交接&lt;/Text&gt;&#10;        &lt;Text style={{ fontSize: 14, color: '#546779' }}&gt;0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609600" y="176212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①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4.2.1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609600" y="214312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五条有限事实</a:t>
            </a:r>
            <a:endParaRPr/>
          </a:p>
        </p:txBody>
      </p:sp>
      <p:sp>
        <p:nvSpPr>
          <p:cNvPr id="504" name=""/>
          <p:cNvSpPr/>
          <p:nvPr/>
        </p:nvSpPr>
        <p:spPr>
          <a:xfrm rot="0" flipH="0" flipV="0">
            <a:off x="609600" y="309562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609600" y="334327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不要补造诊断。设备按真实请求提供事实，未知的阈值、原因、零件与修法一律说未知。</a:t>
            </a:r>
            <a:endParaRPr/>
          </a:p>
        </p:txBody>
      </p:sp>
      <p:sp>
        <p:nvSpPr>
          <p:cNvPr id="506" name=""/>
          <p:cNvSpPr/>
          <p:nvPr/>
        </p:nvSpPr>
        <p:spPr>
          <a:xfrm rot="0" flipH="0" flipV="0">
            <a:off x="609600" y="4000500"/>
            <a:ext cx="1466850" cy="723900"/>
          </a:xfrm>
          <a:prstGeom prst="roundRect">
            <a:avLst>
              <a:gd name="adj" fmla="val 1052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723900" y="4257675"/>
            <a:ext cx="1238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276FBF"/>
                </a:solidFill>
                <a:latin typeface="Microsoft YaHei"/>
                <a:ea typeface="Microsoft YaHei"/>
              </a:rPr>
              <a:t>K1</a:t>
            </a: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　指示灯现象</a:t>
            </a:r>
            <a:endParaRPr/>
          </a:p>
        </p:txBody>
      </p:sp>
      <p:sp>
        <p:nvSpPr>
          <p:cNvPr id="508" name=""/>
          <p:cNvSpPr/>
          <p:nvPr/>
        </p:nvSpPr>
        <p:spPr>
          <a:xfrm rot="0" flipH="0" flipV="0">
            <a:off x="2305050" y="4000500"/>
            <a:ext cx="1466850" cy="723900"/>
          </a:xfrm>
          <a:prstGeom prst="roundRect">
            <a:avLst>
              <a:gd name="adj" fmla="val 1052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2600325" y="4257675"/>
            <a:ext cx="876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276FBF"/>
                </a:solidFill>
                <a:latin typeface="Microsoft YaHei"/>
                <a:ea typeface="Microsoft YaHei"/>
              </a:rPr>
              <a:t>K2</a:t>
            </a: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　数值</a:t>
            </a:r>
            <a:r>
              <a:rPr lang="en-US" sz="1350">
                <a:solidFill>
                  <a:srgbClr val="276FBF"/>
                </a:solidFill>
                <a:latin typeface="Microsoft YaHei"/>
                <a:ea typeface="Microsoft YaHei"/>
              </a:rPr>
              <a:t xml:space="preserve"> 7</a:t>
            </a:r>
            <a:endParaRPr/>
          </a:p>
        </p:txBody>
      </p:sp>
      <p:sp>
        <p:nvSpPr>
          <p:cNvPr id="510" name=""/>
          <p:cNvSpPr/>
          <p:nvPr/>
        </p:nvSpPr>
        <p:spPr>
          <a:xfrm rot="0" flipH="0" flipV="0">
            <a:off x="4000500" y="4000500"/>
            <a:ext cx="1466850" cy="723900"/>
          </a:xfrm>
          <a:prstGeom prst="roundRect">
            <a:avLst>
              <a:gd name="adj" fmla="val 1052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4162425" y="4257675"/>
            <a:ext cx="11525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276FBF"/>
                </a:solidFill>
                <a:latin typeface="Microsoft YaHei"/>
                <a:ea typeface="Microsoft YaHei"/>
              </a:rPr>
              <a:t>K3</a:t>
            </a: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　前史</a:t>
            </a:r>
            <a:r>
              <a:rPr lang="en-US" sz="1350">
                <a:solidFill>
                  <a:srgbClr val="276FBF"/>
                </a:solidFill>
                <a:latin typeface="Microsoft YaHei"/>
                <a:ea typeface="Microsoft YaHei"/>
              </a:rPr>
              <a:t xml:space="preserve"> E-17</a:t>
            </a:r>
            <a:endParaRPr/>
          </a:p>
        </p:txBody>
      </p:sp>
      <p:sp>
        <p:nvSpPr>
          <p:cNvPr id="512" name=""/>
          <p:cNvSpPr/>
          <p:nvPr/>
        </p:nvSpPr>
        <p:spPr>
          <a:xfrm rot="0" flipH="0" flipV="0">
            <a:off x="5695950" y="4000500"/>
            <a:ext cx="1466850" cy="723900"/>
          </a:xfrm>
          <a:prstGeom prst="roundRect">
            <a:avLst>
              <a:gd name="adj" fmla="val 1052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5810250" y="4257675"/>
            <a:ext cx="1238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276FBF"/>
                </a:solidFill>
                <a:latin typeface="Microsoft YaHei"/>
                <a:ea typeface="Microsoft YaHei"/>
              </a:rPr>
              <a:t>K4</a:t>
            </a: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　缺内部核查</a:t>
            </a:r>
            <a:endParaRPr/>
          </a:p>
        </p:txBody>
      </p:sp>
      <p:sp>
        <p:nvSpPr>
          <p:cNvPr id="514" name=""/>
          <p:cNvSpPr/>
          <p:nvPr/>
        </p:nvSpPr>
        <p:spPr>
          <a:xfrm rot="0" flipH="0" flipV="0">
            <a:off x="7391400" y="4000500"/>
            <a:ext cx="1466850" cy="723900"/>
          </a:xfrm>
          <a:prstGeom prst="roundRect">
            <a:avLst>
              <a:gd name="adj" fmla="val 1052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7505700" y="4257675"/>
            <a:ext cx="1238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CB6B28"/>
                </a:solidFill>
                <a:latin typeface="Microsoft YaHei"/>
                <a:ea typeface="Microsoft YaHei"/>
              </a:rPr>
              <a:t>K5</a:t>
            </a:r>
            <a:r>
              <a:rPr lang="zh-CN" sz="1350">
                <a:solidFill>
                  <a:srgbClr val="CB6B28"/>
                </a:solidFill>
                <a:latin typeface="Microsoft YaHei"/>
                <a:ea typeface="Microsoft YaHei"/>
              </a:rPr>
              <a:t>　未确认恢复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设备维护班组交接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03 / 24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518" name="" descr="&lt;Slide notes={`我把这五条资料一条条念出来，同时把每条容易多推的那句话点掉。&#10;&#10;K1 是教学面板的橙色指示灯间歇出现。它不等于某个部件已经损坏。K2 是显示值 7，用一个虚构的教学单位，没有给出正常范围，所以推不出偏高还是偏低。&#10;&#10;K3 说前一次记录 E-17 只写了外观观察，它推不出本轮刚做过全面检查。K4 说前次记录里没有内部核查结果，它推不出已经确定内部异常，恰恰相反，是这项内容缺失。&#10;&#10;K5 说没有恢复正常确认、仍待复核，它推不出「看过了就等于修好了」。这五句话，就是这一案里所有推断的边界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2.1　五条有限事实：不要补造诊断&lt;/Text&gt;&#10;            &lt;Text style={{ fontSize: 34, fontWeight: 'bold', color: '#20344B' }}&gt;五条有限事实与它们推不出什么&lt;/Text&gt;&#10;        &lt;/Box&gt;&#10;    &lt;/Box&gt;&#10;&#10;    &lt;Box style={{ height: 540, flexDirection: 'row', gap: 32, alignItems: 'center' }}&gt;&#10;&#10;        &lt;Box style={{ flex: 62, flexDirection: 'column', gap: 10 }}&gt;&#10;&#10;            &lt;Box style={{ height: 94, background: '#F4F7FA', borderRadius: 10, padding: '0 16px', flexDirection: 'row', alignItems: 'center', gap: 12 }}&gt;&#10;                &lt;Box style={{ width: 4, height: 56, background: '#276FBF' }} /&gt;&#10;                &lt;Box style={{ width: 46 }}&gt;&lt;Text style={{ fontSize: 20, fontWeight: 'bold', color: '#20344B' }}&gt;K1&lt;/Text&gt;&lt;/Box&gt;&#10;                &lt;Box style={{ flex: 1, flexDirection: 'column', gap: 2 }}&gt;&#10;                    &lt;Text style={{ fontSize: 16, color: '#20344B' }}&gt;教学面板橙色指示灯间歇出现&lt;/Text&gt;&#10;                    &lt;Text style={{ fontSize: 13, color: '#CB6B28' }}&gt;不能推出：某部件已损坏&lt;/Text&gt;&#10;                &lt;/Box&gt;&#10;            &lt;/Box&gt;&#10;&#10;            &lt;Box style={{ height: 94, background: '#F4F7FA', borderRadius: 10, padding: '0 16px', flexDirection: 'row', alignItems: 'center', gap: 12 }}&gt;&#10;                &lt;Box style={{ width: 4, height: 56, background: '#276FBF' }} /&gt;&#10;                &lt;Box style={{ width: 46 }}&gt;&lt;Text style={{ fontSize: 20, fontWeight: 'bold', color: '#20344B' }}&gt;K2&lt;/Text&gt;&lt;/Box&gt;&#10;                &lt;Box style={{ flex: 1, flexDirection: 'column', gap: 2 }}&gt;&#10;                    &lt;Text style={{ fontSize: 16, color: '#20344B' }}&gt;显示 7，单位为虚构教学单位&lt;/Text&gt;&#10;                    &lt;Text style={{ fontSize: 13, color: '#CB6B28' }}&gt;不能推出：过高或过低；根本没有正常范围&lt;/Text&gt;&#10;                &lt;/Box&gt;&#10;            &lt;/Box&gt;&#10;&#10;            &lt;Box style={{ height: 94, background: '#F4F7FA', borderRadius: 10, padding: '0 16px', flexDirection: 'row', alignItems: 'center', gap: 12 }}&gt;&#10;                &lt;Box style={{ width: 4, height: 56, background: '#276FBF' }} /&gt;&#10;                &lt;Box style={{ width: 46 }}&gt;&lt;Text style={{ fontSize: 20, fontWeight: 'bold', color: '#20344B' }}&gt;K3&lt;/Text&gt;&lt;/Box&gt;&#10;                &lt;Box style={{ flex: 1, flexDirection: 'column', gap: 2 }}&gt;&#10;                    &lt;Text style={{ fontSize: 16, color: '#20344B' }}&gt;前次记录 E-17 只写了外观观察&lt;/Text&gt;&#10;                    &lt;Text style={{ fontSize: 13, color: '#CB6B28' }}&gt;不能推出：本轮刚完成全面检查&lt;/Text&gt;&#10;                &lt;/Box&gt;&#10;            &lt;/Box&gt;&#10;&#10;            &lt;Box style={{ height: 94, background: '#F4F7FA', borderRadius: 10, padding: '0 16px', flexDirection: 'row', alignItems: 'center', gap: 12 }}&gt;&#10;                &lt;Box style={{ width: 4, height: 56, background: '#276FBF' }} /&gt;&#10;                &lt;Box style={{ width: 46 }}&gt;&lt;Text style={{ fontSize: 20, fontWeight: 'bold', color: '#20344B' }}&gt;K4&lt;/Text&gt;&lt;/Box&gt;&#10;                &lt;Box style={{ flex: 1, flexDirection: 'column', gap: 2 }}&gt;&#10;                    &lt;Text style={{ fontSize: 16, color: '#20344B' }}&gt;前次记录没有内部核查结果&lt;/Text&gt;&#10;                    &lt;Text style={{ fontSize: 13, color: '#CB6B28' }}&gt;不能推出：已确定内部异常（是缺项，不是结论）&lt;/Text&gt;&#10;                &lt;/Box&gt;&#10;            &lt;/Box&gt;&#10;&#10;            &lt;Box style={{ height: 94, background: '#FFF4E6', borderRadius: 10, padding: '0 16px', flexDirection: 'row', alignItems: 'center', gap: 12 }}&gt;&#10;                &lt;Box style={{ width: 4, height: 56, background: '#CB6B28' }} /&gt;&#10;                &lt;Box style={{ width: 46 }}&gt;&lt;Text style={{ fontSize: 20, fontWeight: 'bold', color: '#CB6B28' }}&gt;K5&lt;/Text&gt;&lt;/Box&gt;&#10;                &lt;Box style={{ flex: 1, flexDirection: 'column', gap: 2 }}&gt;&#10;                    &lt;Text style={{ fontSize: 16, color: '#20344B' }}&gt;无恢复正常确认，仍待复核&lt;/Text&gt;&#10;                    &lt;Text style={{ fontSize: 13, color: '#CB6B28' }}&gt;不能推出：已观察＝已修好&lt;/Text&gt;&#10;                &lt;/Box&gt;&#10;            &lt;/Box&gt;&#10;&#10;        &lt;/Box&gt;&#10;&#10;        &lt;Box style={{ flex: 38, flexDirection: 'column', gap: 12, justifyContent: 'center' }}&gt;&#10;&#10;            &lt;Box style={{ height: 130, background: '#EDF4FC', borderRadius: 10, padding: '14px 18px', flexDirection: 'column', gap: 6, justifyContent: 'center' }}&gt;&#10;                &lt;Text style={{ fontSize: 15, fontWeight: 'bold', color: '#276FBF' }}&gt;设备对外公开　1 项&lt;/Text&gt;&#10;                &lt;Text style={{ fontSize: 22, fontWeight: 'bold', color: '#20344B' }}&gt;state = attention&lt;/Text&gt;&#10;                &lt;Text style={{ fontSize: 13, color: '#546779' }}&gt;仅表示值得关注，不含原因与等级&lt;/Text&gt;&#10;            &lt;/Box&gt;&#10;&#10;            &lt;Box style={{ height: 44, justifyContent: 'center', alignItems: 'center' }}&gt;&#10;                &lt;Text style={{ fontSize: 24, color: '#276FBF' }}&gt;↓&lt;/Text&gt;&#10;            &lt;/Box&gt;&#10;&#10;            &lt;Box style={{ height: 196, background: '#F7F3E8', borderRadius: 10, padding: '14px 18px', flexDirection: 'column', gap: 8, justifyContent: 'center' }}&gt;&#10;                &lt;Text style={{ fontSize: 15, fontWeight: 'bold', color: '#CB6B28' }}&gt;设备私有资料　5 项&lt;/Text&gt;&#10;                &lt;Text style={{ fontSize: 17, fontWeight: 'bold', color: '#20344B' }}&gt;K1 — K5&lt;/Text&gt;&#10;                &lt;Text style={{ fontSize: 14, color: '#546779', lineHeight: 1.6 }}&gt;按真实请求返回，不依组别补答案，也不替人物写交接稿。&lt;/Text&gt;&#10;            &lt;/Box&gt;&#10;&#10;            &lt;Text style={{ fontSize: 13, color: '#546779', lineHeight: 1.6 }}&gt;人物初始不知道 K1—K5；未知阈值、原因、零件与修法一律说未知。&lt;/Text&gt;&#10;&#10;        &lt;/Box&gt;&#10;&#10;    &lt;/Box&gt;&#10;&#10;    &lt;Box style={{ height: 40, flexDirection: 'row', justifyContent: 'space-between', alignItems: 'center' }}&gt;&#10;        &lt;Text style={{ fontSize: 14, color: '#546779' }}&gt;4.2 设备维护班组交接&lt;/Text&gt;&#10;        &lt;Text style={{ fontSize: 14, color: '#546779' }}&gt;04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4.2.1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五条有限事实：不要补造诊断</a:t>
            </a:r>
            <a:endParaRPr/>
          </a:p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五条有限事实与它们推不出什么</a:t>
            </a:r>
            <a:endParaRPr/>
          </a:p>
        </p:txBody>
      </p:sp>
      <p:sp>
        <p:nvSpPr>
          <p:cNvPr id="523" name=""/>
          <p:cNvSpPr/>
          <p:nvPr/>
        </p:nvSpPr>
        <p:spPr>
          <a:xfrm rot="0" flipH="0" flipV="0">
            <a:off x="609600" y="1285875"/>
            <a:ext cx="6610350" cy="895350"/>
          </a:xfrm>
          <a:prstGeom prst="roundRect">
            <a:avLst>
              <a:gd name="adj" fmla="val 1063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24" name=""/>
          <p:cNvSpPr/>
          <p:nvPr/>
        </p:nvSpPr>
        <p:spPr>
          <a:xfrm rot="0" flipH="0" flipV="0">
            <a:off x="762000" y="1466850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914400" y="1619250"/>
            <a:ext cx="438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>K1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1466850" y="1552575"/>
            <a:ext cx="5600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教学面板橙色指示灯间歇出现</a:t>
            </a:r>
            <a:endParaRPr/>
          </a:p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1466850" y="1762125"/>
            <a:ext cx="5600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不能推出：某部件已损坏</a:t>
            </a:r>
            <a:endParaRPr/>
          </a:p>
        </p:txBody>
      </p:sp>
      <p:sp>
        <p:nvSpPr>
          <p:cNvPr id="528" name=""/>
          <p:cNvSpPr/>
          <p:nvPr/>
        </p:nvSpPr>
        <p:spPr>
          <a:xfrm rot="0" flipH="0" flipV="0">
            <a:off x="609600" y="2276475"/>
            <a:ext cx="6610350" cy="895350"/>
          </a:xfrm>
          <a:prstGeom prst="roundRect">
            <a:avLst>
              <a:gd name="adj" fmla="val 1063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29" name=""/>
          <p:cNvSpPr/>
          <p:nvPr/>
        </p:nvSpPr>
        <p:spPr>
          <a:xfrm rot="0" flipH="0" flipV="0">
            <a:off x="762000" y="2457450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914400" y="2609850"/>
            <a:ext cx="438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>K2</a:t>
            </a:r>
            <a:endParaRPr/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1466850" y="2543175"/>
            <a:ext cx="5600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显示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7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，单位为虚构教学单位</a:t>
            </a:r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1466850" y="2752725"/>
            <a:ext cx="5600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不能推出：过高或过低；根本没有正常范围</a:t>
            </a:r>
            <a:endParaRPr/>
          </a:p>
        </p:txBody>
      </p:sp>
      <p:sp>
        <p:nvSpPr>
          <p:cNvPr id="533" name=""/>
          <p:cNvSpPr/>
          <p:nvPr/>
        </p:nvSpPr>
        <p:spPr>
          <a:xfrm rot="0" flipH="0" flipV="0">
            <a:off x="609600" y="3267075"/>
            <a:ext cx="6610350" cy="895350"/>
          </a:xfrm>
          <a:prstGeom prst="roundRect">
            <a:avLst>
              <a:gd name="adj" fmla="val 1063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34" name=""/>
          <p:cNvSpPr/>
          <p:nvPr/>
        </p:nvSpPr>
        <p:spPr>
          <a:xfrm rot="0" flipH="0" flipV="0">
            <a:off x="762000" y="3448050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914400" y="3600450"/>
            <a:ext cx="438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>K3</a:t>
            </a:r>
            <a:endParaRPr/>
          </a:p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1466850" y="3533775"/>
            <a:ext cx="5600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前次记录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E-17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只写了外观观察</a:t>
            </a:r>
            <a:endParaRPr/>
          </a:p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1466850" y="3743325"/>
            <a:ext cx="5600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不能推出：本轮刚完成全面检查</a:t>
            </a:r>
            <a:endParaRPr/>
          </a:p>
        </p:txBody>
      </p:sp>
      <p:sp>
        <p:nvSpPr>
          <p:cNvPr id="538" name=""/>
          <p:cNvSpPr/>
          <p:nvPr/>
        </p:nvSpPr>
        <p:spPr>
          <a:xfrm rot="0" flipH="0" flipV="0">
            <a:off x="609600" y="4257675"/>
            <a:ext cx="6610350" cy="895350"/>
          </a:xfrm>
          <a:prstGeom prst="roundRect">
            <a:avLst>
              <a:gd name="adj" fmla="val 1063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39" name=""/>
          <p:cNvSpPr/>
          <p:nvPr/>
        </p:nvSpPr>
        <p:spPr>
          <a:xfrm rot="0" flipH="0" flipV="0">
            <a:off x="762000" y="4438650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914400" y="4591050"/>
            <a:ext cx="438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>K4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1466850" y="4524375"/>
            <a:ext cx="5600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前次记录没有内部核查结果</a:t>
            </a:r>
            <a:endParaRPr/>
          </a:p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1466850" y="4733925"/>
            <a:ext cx="5600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不能推出：已确定内部异常（是缺项，不是结论）</a:t>
            </a:r>
            <a:endParaRPr/>
          </a:p>
        </p:txBody>
      </p:sp>
      <p:sp>
        <p:nvSpPr>
          <p:cNvPr id="543" name=""/>
          <p:cNvSpPr/>
          <p:nvPr/>
        </p:nvSpPr>
        <p:spPr>
          <a:xfrm rot="0" flipH="0" flipV="0">
            <a:off x="609600" y="5248275"/>
            <a:ext cx="6610350" cy="895350"/>
          </a:xfrm>
          <a:prstGeom prst="roundRect">
            <a:avLst>
              <a:gd name="adj" fmla="val 1063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44" name=""/>
          <p:cNvSpPr/>
          <p:nvPr/>
        </p:nvSpPr>
        <p:spPr>
          <a:xfrm rot="0" flipH="0" flipV="0">
            <a:off x="762000" y="5429250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914400" y="5581650"/>
            <a:ext cx="438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CB6B28"/>
                </a:solidFill>
                <a:latin typeface="Microsoft YaHei"/>
                <a:ea typeface="Microsoft YaHei"/>
              </a:rPr>
              <a:t>K5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1466850" y="5514975"/>
            <a:ext cx="5600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无恢复正常确认，仍待复核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1466850" y="5724525"/>
            <a:ext cx="5600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不能推出：已观察＝已修好</a:t>
            </a:r>
            <a:endParaRPr/>
          </a:p>
        </p:txBody>
      </p:sp>
      <p:sp>
        <p:nvSpPr>
          <p:cNvPr id="548" name=""/>
          <p:cNvSpPr/>
          <p:nvPr/>
        </p:nvSpPr>
        <p:spPr>
          <a:xfrm rot="0" flipH="0" flipV="0">
            <a:off x="7524750" y="1666875"/>
            <a:ext cx="4057650" cy="123825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7696200" y="1943100"/>
            <a:ext cx="3714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设备对外公开　</a:t>
            </a: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1 </a:t>
            </a: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7696200" y="2171700"/>
            <a:ext cx="3714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0344B"/>
                </a:solidFill>
                <a:latin typeface="Microsoft YaHei"/>
                <a:ea typeface="Microsoft YaHei"/>
              </a:rPr>
              <a:t>state = attention</a:t>
            </a:r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7696200" y="2486025"/>
            <a:ext cx="3714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仅表示值得关注，不含原因与等级</a:t>
            </a:r>
            <a:endParaRPr/>
          </a:p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9496425" y="3095625"/>
            <a:ext cx="114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553" name=""/>
          <p:cNvSpPr/>
          <p:nvPr/>
        </p:nvSpPr>
        <p:spPr>
          <a:xfrm rot="0" flipH="0" flipV="0">
            <a:off x="7524750" y="3552825"/>
            <a:ext cx="4057650" cy="1866900"/>
          </a:xfrm>
          <a:prstGeom prst="roundRect">
            <a:avLst>
              <a:gd name="adj" fmla="val 5102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7696200" y="4095750"/>
            <a:ext cx="3714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设备私有资料　</a:t>
            </a:r>
            <a:r>
              <a:rPr lang="en-US" sz="112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5 </a:t>
            </a: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7696200" y="4343400"/>
            <a:ext cx="3714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>K1 — K5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7696200" y="4619625"/>
            <a:ext cx="37147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按真实请求返回，不依组别补答案，也不替人物写交接稿。</a:t>
            </a:r>
            <a:endParaRPr/>
          </a:p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7524750" y="5534025"/>
            <a:ext cx="405765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人物初始不知道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K1—K5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；未知阈值、原因、零件与修法一律说未知。</a:t>
            </a:r>
            <a:endParaRPr/>
          </a:p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设备维护班组交接</a:t>
            </a:r>
            <a:endParaRPr/>
          </a:p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04 / 24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560" name="" descr="&lt;Slide notes={`把这五条反过来看，会看到一串「不是」。&#10;&#10;橙色灯不是损坏，数值 7 不是超限，前次只做外观观察不是本轮已完成检查，没有内部核查结果不是已确认内部异常，没有恢复正常确认更不是已经修好。这五句是同一件事：资料说的是它自己，不是我们对它的解释。&#10;&#10;那设备没说的部分写什么？写未知。阈值、原因、零件、修法，我们手上一条都没有，就不能替它填。&#10;&#10;这一案把设备做成这样，是为了让后面的分数有据可查：能查到的才能算到达，猜对不算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2.1　五条有限事实：不要补造诊断&lt;/Text&gt;&#10;            &lt;Text style={{ fontSize: 34, fontWeight: 'bold', color: '#20344B' }}&gt;事实到此为止，缺口一律说未知&lt;/Text&gt;&#10;        &lt;/Box&gt;&#10;    &lt;/Box&gt;&#10;&#10;    &lt;Box style={{ height: 540, flexDirection: 'column', gap: 12, justifyContent: 'center' }}&gt;&#10;&#10;        &lt;Box style={{ flexDirection: 'row', gap: 12, justifyContent: 'center' }}&gt;&#10;            &lt;Box style={{ width: 200, height: 80, background: '#EDF4FC', borderRadius: 8, justifyContent: 'center', alignItems: 'center' }}&gt;&#10;                &lt;Text style={{ fontSize: 15, color: '#276FBF' }}&gt;K1　指示灯现象&lt;/Text&gt;&#10;            &lt;/Box&gt;&#10;            &lt;Box style={{ width: 200, height: 80, background: '#EDF4FC', borderRadius: 8, justifyContent: 'center', alignItems: 'center' }}&gt;&#10;                &lt;Text style={{ fontSize: 15, color: '#276FBF' }}&gt;K2　数值 7&lt;/Text&gt;&#10;            &lt;/Box&gt;&#10;            &lt;Box style={{ width: 200, height: 80, background: '#EDF4FC', borderRadius: 8, justifyContent: 'center', alignItems: 'center' }}&gt;&#10;                &lt;Text style={{ fontSize: 15, color: '#276FBF' }}&gt;K3　前史 E-17&lt;/Text&gt;&#10;            &lt;/Box&gt;&#10;            &lt;Box style={{ width: 200, height: 80, background: '#EDF4FC', borderRadius: 8, justifyContent: 'center', alignItems: 'center' }}&gt;&#10;                &lt;Text style={{ fontSize: 15, color: '#276FBF' }}&gt;K4　缺内部核查&lt;/Text&gt;&#10;            &lt;/Box&gt;&#10;            &lt;Box style={{ width: 200, height: 80, background: '#EDF4FC', borderRadius: 8, justifyContent: 'center', alignItems: 'center' }}&gt;&#10;                &lt;Text style={{ fontSize: 15, color: '#276FBF' }}&gt;K5　未确认恢复&lt;/Text&gt;&#10;            &lt;/Box&gt;&#10;        &lt;/Box&gt;&#10;&#10;        &lt;Box style={{ height: 40, justifyContent: 'center', alignItems: 'center' }}&gt;&#10;            &lt;Text style={{ fontSize: 24, color: '#CB6B28' }}&gt;↓&lt;/Text&gt;&#10;        &lt;/Box&gt;&#10;&#10;        &lt;Box style={{ height: 130, background: '#FFF4E6', borderRadius: 10, padding: '14px 22px', flexDirection: 'column', gap: 8, justifyContent: 'center' }}&gt;&#10;            &lt;Text style={{ fontSize: 16, fontWeight: 'bold', color: '#CB6B28' }}&gt;同样五条资料，都推不出诊断&lt;/Text&gt;&#10;            &lt;Text style={{ fontSize: 15, color: '#20344B', lineHeight: 1.7 }}&gt;不是损坏　·　不是超限　·　不是已完成全面检查　·　不是内部异常　·　不是已恢复&lt;/Text&gt;&#10;        &lt;/Box&gt;&#10;&#10;        &lt;Box style={{ flexDirection: 'column', gap: 8, marginTop: 4 }}&gt;&#10;            &lt;Text style={{ fontSize: 15, fontWeight: 'bold', color: '#20344B' }}&gt;设备没有说、我们也只能写未知的四项&lt;/Text&gt;&#10;            &lt;Box style={{ flexDirection: 'row', gap: 24 }}&gt;&#10;                &lt;Box style={{ width: 264, height: 68, background: '#F4F7FA', borderRadius: 8, justifyContent: 'center', alignItems: 'center' }}&gt;&#10;                    &lt;Text style={{ fontSize: 17, color: '#546779' }}&gt;未知阈值&lt;/Text&gt;&#10;                &lt;/Box&gt;&#10;                &lt;Box style={{ width: 264, height: 68, background: '#F4F7FA', borderRadius: 8, justifyContent: 'center', alignItems: 'center' }}&gt;&#10;                    &lt;Text style={{ fontSize: 17, color: '#546779' }}&gt;未知原因&lt;/Text&gt;&#10;                &lt;/Box&gt;&#10;                &lt;Box style={{ width: 264, height: 68, background: '#F4F7FA', borderRadius: 8, justifyContent: 'center', alignItems: 'center' }}&gt;&#10;                    &lt;Text style={{ fontSize: 17, color: '#546779' }}&gt;未知零件&lt;/Text&gt;&#10;                &lt;/Box&gt;&#10;                &lt;Box style={{ width: 264, height: 68, background: '#F4F7FA', borderRadius: 8, justifyContent: 'center', alignItems: 'center' }}&gt;&#10;                    &lt;Text style={{ fontSize: 17, color: '#546779' }}&gt;未知修法&lt;/Text&gt;&#10;                &lt;/Box&gt;&#10;            &lt;/Box&gt;&#10;        &lt;/Box&gt;&#10;&#10;        &lt;Text style={{ fontSize: 14, color: '#546779', lineHeight: 1.6 }}&gt;这是本案的固定资料设定：设备按真实请求提供事实，不替人物写交接稿，不依组别补答案；不是要求所有对象都作静态问答库。&lt;/Text&gt;&#10;&#10;    &lt;/Box&gt;&#10;&#10;    &lt;Box style={{ height: 40, flexDirection: 'row', justifyContent: 'space-between', alignItems: 'center' }}&gt;&#10;        &lt;Text style={{ fontSize: 14, color: '#546779' }}&gt;4.2 设备维护班组交接&lt;/Text&gt;&#10;        &lt;Text style={{ fontSize: 14, color: '#546779' }}&gt;05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4.2.1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五条有限事实：不要补造诊断</a:t>
            </a:r>
            <a:endParaRPr/>
          </a:p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事实到此为止，缺口一律说未知</a:t>
            </a:r>
            <a:endParaRPr/>
          </a:p>
        </p:txBody>
      </p:sp>
      <p:sp>
        <p:nvSpPr>
          <p:cNvPr id="565" name=""/>
          <p:cNvSpPr/>
          <p:nvPr/>
        </p:nvSpPr>
        <p:spPr>
          <a:xfrm rot="0" flipH="0" flipV="0">
            <a:off x="1104900" y="1704975"/>
            <a:ext cx="1905000" cy="7620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1543050" y="2000250"/>
            <a:ext cx="1038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K1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指示灯现象</a:t>
            </a:r>
            <a:endParaRPr/>
          </a:p>
        </p:txBody>
      </p:sp>
      <p:sp>
        <p:nvSpPr>
          <p:cNvPr id="567" name=""/>
          <p:cNvSpPr/>
          <p:nvPr/>
        </p:nvSpPr>
        <p:spPr>
          <a:xfrm rot="0" flipH="0" flipV="0">
            <a:off x="3124200" y="1704975"/>
            <a:ext cx="1905000" cy="7620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3714750" y="2000250"/>
            <a:ext cx="733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K2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数值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 xml:space="preserve"> 7</a:t>
            </a:r>
            <a:endParaRPr/>
          </a:p>
        </p:txBody>
      </p:sp>
      <p:sp>
        <p:nvSpPr>
          <p:cNvPr id="569" name=""/>
          <p:cNvSpPr/>
          <p:nvPr/>
        </p:nvSpPr>
        <p:spPr>
          <a:xfrm rot="0" flipH="0" flipV="0">
            <a:off x="5143500" y="1704975"/>
            <a:ext cx="1905000" cy="7620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5619750" y="2000250"/>
            <a:ext cx="962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K3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前史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 xml:space="preserve"> E-17</a:t>
            </a:r>
            <a:endParaRPr/>
          </a:p>
        </p:txBody>
      </p:sp>
      <p:sp>
        <p:nvSpPr>
          <p:cNvPr id="571" name=""/>
          <p:cNvSpPr/>
          <p:nvPr/>
        </p:nvSpPr>
        <p:spPr>
          <a:xfrm rot="0" flipH="0" flipV="0">
            <a:off x="7162800" y="1704975"/>
            <a:ext cx="1905000" cy="7620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7600950" y="2000250"/>
            <a:ext cx="1038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K4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缺内部核查</a:t>
            </a:r>
            <a:endParaRPr/>
          </a:p>
        </p:txBody>
      </p:sp>
      <p:sp>
        <p:nvSpPr>
          <p:cNvPr id="573" name=""/>
          <p:cNvSpPr/>
          <p:nvPr/>
        </p:nvSpPr>
        <p:spPr>
          <a:xfrm rot="0" flipH="0" flipV="0">
            <a:off x="9182100" y="1704975"/>
            <a:ext cx="1905000" cy="7620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9620250" y="2000250"/>
            <a:ext cx="1038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K5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未确认恢复</a:t>
            </a:r>
            <a:endParaRPr/>
          </a:p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6038850" y="2638425"/>
            <a:ext cx="114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CB6B28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576" name=""/>
          <p:cNvSpPr/>
          <p:nvPr/>
        </p:nvSpPr>
        <p:spPr>
          <a:xfrm rot="0" flipH="0" flipV="0">
            <a:off x="609600" y="3076575"/>
            <a:ext cx="10972800" cy="1238250"/>
          </a:xfrm>
          <a:prstGeom prst="roundRect">
            <a:avLst>
              <a:gd name="adj" fmla="val 769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819150" y="3419475"/>
            <a:ext cx="10553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同样五条资料，都推不出诊断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819150" y="3686175"/>
            <a:ext cx="1055370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不是损坏　·　不是超限　·　不是已完成全面检查　·　不是内部异常　·　不是已恢复</a:t>
            </a:r>
            <a:endParaRPr/>
          </a:p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609600" y="446722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设备没有说、我们也只能写未知的四项</a:t>
            </a:r>
            <a:endParaRPr/>
          </a:p>
        </p:txBody>
      </p:sp>
      <p:sp>
        <p:nvSpPr>
          <p:cNvPr id="580" name=""/>
          <p:cNvSpPr/>
          <p:nvPr/>
        </p:nvSpPr>
        <p:spPr>
          <a:xfrm rot="0" flipH="0" flipV="0">
            <a:off x="609600" y="4714875"/>
            <a:ext cx="2514600" cy="647700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1543050" y="4943475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未知阈值</a:t>
            </a:r>
            <a:endParaRPr/>
          </a:p>
        </p:txBody>
      </p:sp>
      <p:sp>
        <p:nvSpPr>
          <p:cNvPr id="582" name=""/>
          <p:cNvSpPr/>
          <p:nvPr/>
        </p:nvSpPr>
        <p:spPr>
          <a:xfrm rot="0" flipH="0" flipV="0">
            <a:off x="3352800" y="4714875"/>
            <a:ext cx="2514600" cy="647700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4286250" y="4943475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未知原因</a:t>
            </a:r>
            <a:endParaRPr/>
          </a:p>
        </p:txBody>
      </p:sp>
      <p:sp>
        <p:nvSpPr>
          <p:cNvPr id="584" name=""/>
          <p:cNvSpPr/>
          <p:nvPr/>
        </p:nvSpPr>
        <p:spPr>
          <a:xfrm rot="0" flipH="0" flipV="0">
            <a:off x="6096000" y="4714875"/>
            <a:ext cx="2514600" cy="647700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7029450" y="4943475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未知零件</a:t>
            </a:r>
            <a:endParaRPr/>
          </a:p>
        </p:txBody>
      </p:sp>
      <p:sp>
        <p:nvSpPr>
          <p:cNvPr id="586" name=""/>
          <p:cNvSpPr/>
          <p:nvPr/>
        </p:nvSpPr>
        <p:spPr>
          <a:xfrm rot="0" flipH="0" flipV="0">
            <a:off x="8839200" y="4714875"/>
            <a:ext cx="2514600" cy="647700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9772650" y="4943475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未知修法</a:t>
            </a:r>
            <a:endParaRPr/>
          </a:p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609600" y="5476875"/>
            <a:ext cx="109728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这是本案的固定资料设定：设备按真实请求提供事实，不替人物写交接稿，不依组别补答案；不是要求所有对象都作静态问答库。</a:t>
            </a:r>
            <a:endParaRPr/>
          </a:p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设备维护班组交接</a:t>
            </a:r>
            <a:endParaRPr/>
          </a:p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05 / 24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591" name="" descr="&lt;Slide notes={`这一步要把两个对象的职责划清，不然很容易把不属于它们的话塞进去。&#10;&#10;设备间 T-17 只做一件事：按真实请求把资料交出来。它不会替人物起草交接稿，也不会因为知道你在哪一组就多给点提示。所有对象回复都要先提交，人物在后面的轮次才会收到。&#10;&#10;资料区的记录台更简：开始是 empty，它只保存实际提交的正文，然后把自己的状态改成 recorded，再按请求 ID 回一句确认。它不补缺项，也不保证正文写得对。&#10;&#10;这两条边界合起来，才让「保存了」和「说对了」不混为一谈。人物能做的只是申请保存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2.1　五条有限事实：不要补造诊断&lt;/Text&gt;&#10;            &lt;Text style={{ fontSize: 34, fontWeight: 'bold', color: '#20344B' }}&gt;设备给事实，记录台只保存&lt;/Text&gt;&#10;        &lt;/Box&gt;&#10;    &lt;/Box&gt;&#10;&#10;    &lt;Box style={{ height: 540, flexDirection: 'row', gap: 32, alignItems: 'center' }}&gt;&#10;&#10;        &lt;Box style={{ width: 420, flexDirection: 'column', gap: 14 }}&gt;&#10;            &lt;Text style={{ fontSize: 22, fontWeight: 'bold', color: '#20344B', lineHeight: 1.4 }}&gt;两个对象，各自只做一件事&lt;/Text&gt;&#10;            &lt;Box style={{ width: 56, height: 4, background: '#276FBF' }} /&gt;&#10;            &lt;Box style={{ height: 104, background: '#F4F7FA', borderRadius: 10, padding: '14px 18px', flexDirection: 'column', gap: 6, justifyContent: 'center' }}&gt;&#10;                &lt;Text style={{ fontSize: 16, fontWeight: 'bold', color: '#276FBF' }}&gt;设备：只按请求给资料&lt;/Text&gt;&#10;                &lt;Text style={{ fontSize: 14, color: '#546779', lineHeight: 1.5 }}&gt;给什么取决于问了什么，而不是取决于问的人是谁。&lt;/Text&gt;&#10;            &lt;/Box&gt;&#10;            &lt;Box style={{ height: 104, background: '#F4F7FA', borderRadius: 10, padding: '14px 18px', flexDirection: 'column', gap: 6, justifyContent: 'center' }}&gt;&#10;                &lt;Text style={{ fontSize: 16, fontWeight: 'bold', color: '#276FBF' }}&gt;记录台：只保存，不补写&lt;/Text&gt;&#10;                &lt;Text style={{ fontSize: 14, color: '#546779', lineHeight: 1.5 }}&gt;保存的是提交上去的原文，正文对错由提交者负责。&lt;/Text&gt;&#10;            &lt;/Box&gt;&#10;            &lt;Box style={{ height: 104, background: '#FFF4E6', borderRadius: 10, padding: '14px 18px', flexDirection: 'column', gap: 6, justifyContent: 'center' }}&gt;&#10;                &lt;Text style={{ fontSize: 16, fontWeight: 'bold', color: '#CB6B28' }}&gt;两者都不接触答案&lt;/Text&gt;&#10;                &lt;Text style={{ fontSize: 14, color: '#546779', lineHeight: 1.5 }}&gt;教材里的教师判据不进共同上下文，人物只能自己整理。&lt;/Text&gt;&#10;            &lt;/Box&gt;&#10;        &lt;/Box&gt;&#10;&#10;        &lt;Box style={{ width: 700, flexDirection: 'column', gap: 20 }}&gt;&#10;&#10;            &lt;Box style={{ height: 240, background: '#F7F3E8', borderRadius: 12, padding: '16px 20px', flexDirection: 'column', gap: 10 }}&gt;&#10;                &lt;Box style={{ flexDirection: 'row', justifyContent: 'space-between', alignItems: 'center' }}&gt;&#10;                    &lt;Text style={{ fontSize: 18, fontWeight: 'bold', color: '#20344B' }}&gt;设备间　T-17&lt;/Text&gt;&#10;                    &lt;Text style={{ fontSize: 13, color: '#546779' }}&gt;示意&lt;/Text&gt;&#10;                &lt;/Box&gt;&#10;                &lt;Box style={{ flexDirection: 'row', alignItems: 'center', gap: 10 }}&gt;&#10;                    &lt;Box style={{ width: 6, height: 6, background: '#CB6B28', borderRadius: 3 }} /&gt;&#10;                    &lt;Text style={{ fontSize: 15, color: '#20344B' }}&gt;按真实请求返回资料，K1—K5 都在这里&lt;/Text&gt;&#10;                &lt;/Box&gt;&#10;                &lt;Box style={{ flexDirection: 'row', alignItems: 'center', gap: 10 }}&gt;&#10;                    &lt;Box style={{ width: 6, height: 6, background: '#CB6B28', borderRadius: 3 }} /&gt;&#10;                    &lt;Text style={{ fontSize: 15, color: '#20344B' }}&gt;不替人物写交接稿，不依组别补答案&lt;/Text&gt;&#10;                &lt;/Box&gt;&#10;                &lt;Box style={{ flexDirection: 'row', alignItems: 'center', gap: 10 }}&gt;&#10;                    &lt;Box style={{ width: 6, height: 6, background: '#CB6B28', borderRadius: 3 }} /&gt;&#10;                    &lt;Text style={{ fontSize: 15, color: '#20344B' }}&gt;未知阈值、原因、零件、修法都说未知&lt;/Text&gt;&#10;                &lt;/Box&gt;&#10;                &lt;Box style={{ flexDirection: 'row', alignItems: 'center', gap: 10 }}&gt;&#10;                    &lt;Box style={{ width: 6, height: 6, background: '#B5C7D8', borderRadius: 3 }} /&gt;&#10;                    &lt;Text style={{ fontSize: 14, color: '#546779' }}&gt;对象回复经提交后，在人物后续轮次接收&lt;/Text&gt;&#10;                &lt;/Box&gt;&#10;            &lt;/Box&gt;&#10;&#10;            &lt;Box style={{ height: 240, background: '#EDF4FC', borderRadius: 12, padding: '16px 20px', flexDirection: 'column', gap: 10 }}&gt;&#10;                &lt;Box style={{ flexDirection: 'row', justifyContent: 'space-between', alignItems: 'center' }}&gt;&#10;                    &lt;Text style={{ fontSize: 18, fontWeight: 'bold', color: '#276FBF' }}&gt;资料区　记录台&lt;/Text&gt;&#10;                    &lt;Text style={{ fontSize: 13, color: '#546779' }}&gt;示意&lt;/Text&gt;&#10;                &lt;/Box&gt;&#10;                &lt;Box style={{ flexDirection: 'row', alignItems: 'center', gap: 10 }}&gt;&#10;                    &lt;Box style={{ width: 6, height: 6, background: '#276FBF', borderRadius: 3 }} /&gt;&#10;                    &lt;Text style={{ fontSize: 15, color: '#20344B' }}&gt;初始 empty，只保存实际提交的正文&lt;/Text&gt;&#10;                &lt;/Box&gt;&#10;                &lt;Box style={{ flexDirection: 'row', alignItems: 'center', gap: 10 }}&gt;&#10;                    &lt;Box style={{ width: 6, height: 6, background: '#276FBF', borderRadius: 3 }} /&gt;&#10;                    &lt;Text style={{ fontSize: 15, color: '#20344B' }}&gt;通过自身 SET_OBJECT_STATE 改为 recorded&lt;/Text&gt;&#10;                &lt;/Box&gt;&#10;                &lt;Box style={{ flexDirection: 'row', alignItems: 'center', gap: 10 }}&gt;&#10;                    &lt;Box style={{ width: 6, height: 6, background: '#276FBF', borderRadius: 3 }} /&gt;&#10;                    &lt;Text style={{ fontSize: 15, color: '#20344B' }}&gt;按请求 ID 回复保存确认&lt;/Text&gt;&#10;                &lt;/Box&gt;&#10;                &lt;Box style={{ flexDirection: 'row', alignItems: 'center', gap: 10 }}&gt;&#10;                    &lt;Box style={{ width: 6, height: 6, background: '#B5C7D8', borderRadius: 3 }} /&gt;&#10;                    &lt;Text style={{ fontSize: 14, color: '#546779' }}&gt;不补缺项，也不保证正文写对了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2 设备维护班组交接&lt;/Text&gt;&#10;        &lt;Text style={{ fontSize: 14, color: '#546779' }}&gt;06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4.2.1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五条有限事实：不要补造诊断</a:t>
            </a:r>
            <a:endParaRPr/>
          </a:p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设备给事实，记录台只保存</a:t>
            </a:r>
            <a:endParaRPr/>
          </a:p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609600" y="1771650"/>
            <a:ext cx="4000500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两个对象，各自只做一件事</a:t>
            </a:r>
            <a:endParaRPr/>
          </a:p>
        </p:txBody>
      </p:sp>
      <p:sp>
        <p:nvSpPr>
          <p:cNvPr id="597" name=""/>
          <p:cNvSpPr/>
          <p:nvPr/>
        </p:nvSpPr>
        <p:spPr>
          <a:xfrm rot="0" flipH="0" flipV="0">
            <a:off x="609600" y="2257425"/>
            <a:ext cx="5334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98" name=""/>
          <p:cNvSpPr/>
          <p:nvPr/>
        </p:nvSpPr>
        <p:spPr>
          <a:xfrm rot="0" flipH="0" flipV="0">
            <a:off x="609600" y="2428875"/>
            <a:ext cx="4000500" cy="990600"/>
          </a:xfrm>
          <a:prstGeom prst="roundRect">
            <a:avLst>
              <a:gd name="adj" fmla="val 96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781050" y="2676525"/>
            <a:ext cx="3657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设备：只按请求给资料</a:t>
            </a:r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781050" y="2924175"/>
            <a:ext cx="3657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给什么取决于问了什么，而不是取决于问的人是谁。</a:t>
            </a:r>
            <a:endParaRPr/>
          </a:p>
        </p:txBody>
      </p:sp>
      <p:sp>
        <p:nvSpPr>
          <p:cNvPr id="601" name=""/>
          <p:cNvSpPr/>
          <p:nvPr/>
        </p:nvSpPr>
        <p:spPr>
          <a:xfrm rot="0" flipH="0" flipV="0">
            <a:off x="609600" y="3552825"/>
            <a:ext cx="4000500" cy="990600"/>
          </a:xfrm>
          <a:prstGeom prst="roundRect">
            <a:avLst>
              <a:gd name="adj" fmla="val 96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781050" y="3800475"/>
            <a:ext cx="3657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记录台：只保存，不补写</a:t>
            </a:r>
            <a:endParaRPr/>
          </a:p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781050" y="4048125"/>
            <a:ext cx="3657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保存的是提交上去的原文，正文对错由提交者负责。</a:t>
            </a:r>
            <a:endParaRPr/>
          </a:p>
        </p:txBody>
      </p:sp>
      <p:sp>
        <p:nvSpPr>
          <p:cNvPr id="604" name=""/>
          <p:cNvSpPr/>
          <p:nvPr/>
        </p:nvSpPr>
        <p:spPr>
          <a:xfrm rot="0" flipH="0" flipV="0">
            <a:off x="609600" y="4676775"/>
            <a:ext cx="4000500" cy="990600"/>
          </a:xfrm>
          <a:prstGeom prst="roundRect">
            <a:avLst>
              <a:gd name="adj" fmla="val 961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781050" y="4924425"/>
            <a:ext cx="3657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两者都不接触答案</a:t>
            </a:r>
            <a:endParaRPr/>
          </a:p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781050" y="5172075"/>
            <a:ext cx="3657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教材里的教师判据不进共同上下文，人物只能自己整理。</a:t>
            </a:r>
            <a:endParaRPr/>
          </a:p>
        </p:txBody>
      </p:sp>
      <p:sp>
        <p:nvSpPr>
          <p:cNvPr id="607" name=""/>
          <p:cNvSpPr/>
          <p:nvPr/>
        </p:nvSpPr>
        <p:spPr>
          <a:xfrm rot="0" flipH="0" flipV="0">
            <a:off x="4914900" y="1333500"/>
            <a:ext cx="6667500" cy="2286000"/>
          </a:xfrm>
          <a:prstGeom prst="roundRect">
            <a:avLst>
              <a:gd name="adj" fmla="val 5000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5105400" y="1485900"/>
            <a:ext cx="1085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设备间　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>T-17</a:t>
            </a:r>
            <a:endParaRPr/>
          </a:p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11144250" y="15144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610" name=""/>
          <p:cNvSpPr/>
          <p:nvPr/>
        </p:nvSpPr>
        <p:spPr>
          <a:xfrm rot="0" flipH="0" flipV="0">
            <a:off x="5105400" y="18478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5257800" y="1790700"/>
            <a:ext cx="2552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按真实请求返回资料，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K1—K5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都在这里</a:t>
            </a:r>
            <a:endParaRPr/>
          </a:p>
        </p:txBody>
      </p:sp>
      <p:sp>
        <p:nvSpPr>
          <p:cNvPr id="612" name=""/>
          <p:cNvSpPr/>
          <p:nvPr/>
        </p:nvSpPr>
        <p:spPr>
          <a:xfrm rot="0" flipH="0" flipV="0">
            <a:off x="5105400" y="21145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5257800" y="2057400"/>
            <a:ext cx="2286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不替人物写交接稿，不依组别补答案</a:t>
            </a:r>
            <a:endParaRPr/>
          </a:p>
        </p:txBody>
      </p:sp>
      <p:sp>
        <p:nvSpPr>
          <p:cNvPr id="614" name=""/>
          <p:cNvSpPr/>
          <p:nvPr/>
        </p:nvSpPr>
        <p:spPr>
          <a:xfrm rot="0" flipH="0" flipV="0">
            <a:off x="5105400" y="23812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5257800" y="2324100"/>
            <a:ext cx="2428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未知阈值、原因、零件、修法都说未知</a:t>
            </a:r>
            <a:endParaRPr/>
          </a:p>
        </p:txBody>
      </p:sp>
      <p:sp>
        <p:nvSpPr>
          <p:cNvPr id="616" name=""/>
          <p:cNvSpPr/>
          <p:nvPr/>
        </p:nvSpPr>
        <p:spPr>
          <a:xfrm rot="0" flipH="0" flipV="0">
            <a:off x="5105400" y="26479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5257800" y="2590800"/>
            <a:ext cx="240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对象回复经提交后，在人物后续轮次接收</a:t>
            </a:r>
            <a:endParaRPr/>
          </a:p>
        </p:txBody>
      </p:sp>
      <p:sp>
        <p:nvSpPr>
          <p:cNvPr id="618" name=""/>
          <p:cNvSpPr/>
          <p:nvPr/>
        </p:nvSpPr>
        <p:spPr>
          <a:xfrm rot="0" flipH="0" flipV="0">
            <a:off x="4914900" y="3810000"/>
            <a:ext cx="6667500" cy="2286000"/>
          </a:xfrm>
          <a:prstGeom prst="roundRect">
            <a:avLst>
              <a:gd name="adj" fmla="val 5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5105400" y="3962400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资料区　记录台</a:t>
            </a:r>
            <a:endParaRPr/>
          </a:p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11144250" y="39909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621" name=""/>
          <p:cNvSpPr/>
          <p:nvPr/>
        </p:nvSpPr>
        <p:spPr>
          <a:xfrm rot="0" flipH="0" flipV="0">
            <a:off x="5105400" y="43243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5257800" y="4267200"/>
            <a:ext cx="2343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初始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empty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，只保存实际提交的正文</a:t>
            </a:r>
            <a:endParaRPr/>
          </a:p>
        </p:txBody>
      </p:sp>
      <p:sp>
        <p:nvSpPr>
          <p:cNvPr id="623" name=""/>
          <p:cNvSpPr/>
          <p:nvPr/>
        </p:nvSpPr>
        <p:spPr>
          <a:xfrm rot="0" flipH="0" flipV="0">
            <a:off x="5105400" y="45910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5257800" y="4533900"/>
            <a:ext cx="2895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通过自身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SET_OBJECT_STATE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改为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recorded</a:t>
            </a:r>
            <a:endParaRPr/>
          </a:p>
        </p:txBody>
      </p:sp>
      <p:sp>
        <p:nvSpPr>
          <p:cNvPr id="625" name=""/>
          <p:cNvSpPr/>
          <p:nvPr/>
        </p:nvSpPr>
        <p:spPr>
          <a:xfrm rot="0" flipH="0" flipV="0">
            <a:off x="5105400" y="48577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5257800" y="4800600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按请求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回复保存确认</a:t>
            </a:r>
            <a:endParaRPr/>
          </a:p>
        </p:txBody>
      </p:sp>
      <p:sp>
        <p:nvSpPr>
          <p:cNvPr id="627" name=""/>
          <p:cNvSpPr/>
          <p:nvPr/>
        </p:nvSpPr>
        <p:spPr>
          <a:xfrm rot="0" flipH="0" flipV="0">
            <a:off x="5105400" y="51244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5257800" y="5067300"/>
            <a:ext cx="186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不补缺项，也不保证正文写对了</a:t>
            </a:r>
            <a:endParaRPr/>
          </a:p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设备维护班组交接</a:t>
            </a:r>
            <a:endParaRPr/>
          </a:p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06 / 24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631" name="" descr="&lt;Slide notes={`在动笔写交接稿之前，我把这一案固定了什么、不固定什么说清楚，避免后面反复解释。&#10;&#10;固定的是资料：设备私有 K1 到 K5，对外只公开一个 attention 状态。固定的是未知项：阈值、原因、零件、修法，一律说未知。&#10;&#10;固定的是记录台的行为：开始是 empty，只保存实际提交的正文，不补缺项，也不保证写得对。&#10;&#10;还有一条边界要特别记住：「检查」这个动作本身不证明物理维修。设备没有电气、机械或故障概率模型，所以 ACT 成功只说明动作提交成功了。&#10;&#10;这套设定只属于这一案，不是说所有对象都得做成静态问答库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2.1　五条有限事实：不要补造诊断&lt;/Text&gt;&#10;            &lt;Text style={{ fontSize: 34, fontWeight: 'bold', color: '#20344B' }}&gt;这一案固定了什么，不固定什么&lt;/Text&gt;&#10;        &lt;/Box&gt;&#10;    &lt;/Box&gt;&#10;&#10;    &lt;Box style={{ height: 540, flexDirection: 'column', gap: 14, justifyContent: 'center' }}&gt;&#10;&#10;        &lt;Box style={{ flexDirection: 'row', gap: 14, height: 82, background: '#F4F7FA', borderRadius: 10, padding: '0 18px', alignItems: 'center' }}&gt;&#10;            &lt;Box style={{ width: 36, height: 36, background: '#EDF4FC', borderRadius: 8, justifyContent: 'center', alignItems: 'center' }}&gt;&#10;                &lt;Text style={{ fontSize: 15, fontWeight: 'bold', color: '#276FBF' }}&gt;1&lt;/Text&gt;&#10;            &lt;/Box&gt;&#10;            &lt;Box style={{ flex: 1 }}&gt;&#10;                &lt;Text style={{ fontSize: 16, color: '#20344B' }}&gt;设备私有资料 K1—K5，对外只公开 state = attention&lt;/Text&gt;&#10;            &lt;/Box&gt;&#10;            &lt;Box style={{ width: 230 }}&gt;&#10;                &lt;Text style={{ fontSize: 14, color: '#546779' }}&gt;公开面不等于私有面&lt;/Text&gt;&#10;            &lt;/Box&gt;&#10;        &lt;/Box&gt;&#10;&#10;        &lt;Box style={{ flexDirection: 'row', gap: 14, height: 82, background: '#F4F7FA', borderRadius: 10, padding: '0 18px', alignItems: 'center' }}&gt;&#10;            &lt;Box style={{ width: 36, height: 36, background: '#EDF4FC', borderRadius: 8, justifyContent: 'center', alignItems: 'center' }}&gt;&#10;                &lt;Text style={{ fontSize: 15, fontWeight: 'bold', color: '#276FBF' }}&gt;2&lt;/Text&gt;&#10;            &lt;/Box&gt;&#10;            &lt;Box style={{ flex: 1 }}&gt;&#10;                &lt;Text style={{ fontSize: 16, color: '#20344B' }}&gt;未知的阈值、原因、零件与修法，一律说未知&lt;/Text&gt;&#10;            &lt;/Box&gt;&#10;            &lt;Box style={{ width: 230 }}&gt;&#10;                &lt;Text style={{ fontSize: 14, color: '#546779' }}&gt;不按组别补答案&lt;/Text&gt;&#10;            &lt;/Box&gt;&#10;        &lt;/Box&gt;&#10;&#10;        &lt;Box style={{ flexDirection: 'row', gap: 14, height: 82, background: '#F4F7FA', borderRadius: 10, padding: '0 18px', alignItems: 'center' }}&gt;&#10;            &lt;Box style={{ width: 36, height: 36, background: '#EDF4FC', borderRadius: 8, justifyContent: 'center', alignItems: 'center' }}&gt;&#10;                &lt;Text style={{ fontSize: 15, fontWeight: 'bold', color: '#276FBF' }}&gt;3&lt;/Text&gt;&#10;            &lt;/Box&gt;&#10;            &lt;Box style={{ flex: 1 }}&gt;&#10;                &lt;Text style={{ fontSize: 16, color: '#20344B' }}&gt;记录台初始 empty，只保存实际请求正文并改 recorded&lt;/Text&gt;&#10;            &lt;/Box&gt;&#10;            &lt;Box style={{ width: 230 }}&gt;&#10;                &lt;Text style={{ fontSize: 14, color: '#546779' }}&gt;不补缺项、不保证正确&lt;/Text&gt;&#10;            &lt;/Box&gt;&#10;        &lt;/Box&gt;&#10;&#10;        &lt;Box style={{ flexDirection: 'row', gap: 14, height: 82, background: '#F4F7FA', borderRadius: 10, padding: '0 18px', alignItems: 'center' }}&gt;&#10;            &lt;Box style={{ width: 36, height: 36, background: '#EDF4FC', borderRadius: 8, justifyContent: 'center', alignItems: 'center' }}&gt;&#10;                &lt;Text style={{ fontSize: 15, fontWeight: 'bold', color: '#276FBF' }}&gt;4&lt;/Text&gt;&#10;            &lt;/Box&gt;&#10;            &lt;Box style={{ flex: 1 }}&gt;&#10;                &lt;Text style={{ fontSize: 16, color: '#20344B' }}&gt;人物只能申请保存，也不能等待未发出的请求&lt;/Text&gt;&#10;            &lt;/Box&gt;&#10;            &lt;Box style={{ width: 230 }}&gt;&#10;                &lt;Text style={{ fontSize: 14, color: '#546779' }}&gt;回复经提交后接收&lt;/Text&gt;&#10;            &lt;/Box&gt;&#10;        &lt;/Box&gt;&#10;&#10;        &lt;Box style={{ height: 84, background: '#FFF4E6', borderRadius: 10, padding: '14px 20px', flexDirection: 'column', gap: 6, justifyContent: 'center' }}&gt;&#10;            &lt;Text style={{ fontSize: 15, fontWeight: 'bold', color: '#CB6B28' }}&gt;边界：检查动作不证明物理维修&lt;/Text&gt;&#10;            &lt;Text style={{ fontSize: 14, color: '#546779', lineHeight: 1.5 }}&gt;设备没有电气、机械或故障概率模型；这是本案固定资料设定，不是要求所有对象都作静态问答库。&lt;/Text&gt;&#10;        &lt;/Box&gt;&#10;&#10;    &lt;/Box&gt;&#10;&#10;    &lt;Box style={{ height: 40, flexDirection: 'row', justifyContent: 'space-between', alignItems: 'center' }}&gt;&#10;        &lt;Text style={{ fontSize: 14, color: '#546779' }}&gt;4.2 设备维护班组交接&lt;/Text&gt;&#10;        &lt;Text style={{ fontSize: 14, color: '#546779' }}&gt;07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4.2.1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五条有限事实：不要补造诊断</a:t>
            </a:r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这一案固定了什么，不固定什么</a:t>
            </a:r>
            <a:endParaRPr/>
          </a:p>
        </p:txBody>
      </p:sp>
      <p:sp>
        <p:nvSpPr>
          <p:cNvPr id="636" name=""/>
          <p:cNvSpPr/>
          <p:nvPr/>
        </p:nvSpPr>
        <p:spPr>
          <a:xfrm rot="0" flipH="0" flipV="0">
            <a:off x="609600" y="1485900"/>
            <a:ext cx="10972800" cy="781050"/>
          </a:xfrm>
          <a:prstGeom prst="roundRect">
            <a:avLst>
              <a:gd name="adj" fmla="val 1219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37" name=""/>
          <p:cNvSpPr/>
          <p:nvPr/>
        </p:nvSpPr>
        <p:spPr>
          <a:xfrm rot="0" flipH="0" flipV="0">
            <a:off x="781050" y="170497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904875" y="179070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1257300" y="1781175"/>
            <a:ext cx="7829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设备私有资料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K1—K5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，对外只公开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state = attention</a:t>
            </a:r>
            <a:endParaRPr/>
          </a:p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9220200" y="1800225"/>
            <a:ext cx="2190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公开面不等于私有面</a:t>
            </a:r>
            <a:endParaRPr/>
          </a:p>
        </p:txBody>
      </p:sp>
      <p:sp>
        <p:nvSpPr>
          <p:cNvPr id="641" name=""/>
          <p:cNvSpPr/>
          <p:nvPr/>
        </p:nvSpPr>
        <p:spPr>
          <a:xfrm rot="0" flipH="0" flipV="0">
            <a:off x="609600" y="2400300"/>
            <a:ext cx="10972800" cy="781050"/>
          </a:xfrm>
          <a:prstGeom prst="roundRect">
            <a:avLst>
              <a:gd name="adj" fmla="val 1219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42" name=""/>
          <p:cNvSpPr/>
          <p:nvPr/>
        </p:nvSpPr>
        <p:spPr>
          <a:xfrm rot="0" flipH="0" flipV="0">
            <a:off x="781050" y="261937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904875" y="270510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1257300" y="2695575"/>
            <a:ext cx="7829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未知的阈值、原因、零件与修法，一律说未知</a:t>
            </a:r>
            <a:endParaRPr/>
          </a:p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9220200" y="2714625"/>
            <a:ext cx="2190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不按组别补答案</a:t>
            </a:r>
            <a:endParaRPr/>
          </a:p>
        </p:txBody>
      </p:sp>
      <p:sp>
        <p:nvSpPr>
          <p:cNvPr id="646" name=""/>
          <p:cNvSpPr/>
          <p:nvPr/>
        </p:nvSpPr>
        <p:spPr>
          <a:xfrm rot="0" flipH="0" flipV="0">
            <a:off x="609600" y="3314700"/>
            <a:ext cx="10972800" cy="781050"/>
          </a:xfrm>
          <a:prstGeom prst="roundRect">
            <a:avLst>
              <a:gd name="adj" fmla="val 1219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47" name=""/>
          <p:cNvSpPr/>
          <p:nvPr/>
        </p:nvSpPr>
        <p:spPr>
          <a:xfrm rot="0" flipH="0" flipV="0">
            <a:off x="781050" y="353377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904875" y="361950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1257300" y="3609975"/>
            <a:ext cx="7829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记录台初始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empty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，只保存实际请求正文并改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recorded</a:t>
            </a:r>
            <a:endParaRPr/>
          </a:p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9220200" y="3629025"/>
            <a:ext cx="2190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不补缺项、不保证正确</a:t>
            </a:r>
            <a:endParaRPr/>
          </a:p>
        </p:txBody>
      </p:sp>
      <p:sp>
        <p:nvSpPr>
          <p:cNvPr id="651" name=""/>
          <p:cNvSpPr/>
          <p:nvPr/>
        </p:nvSpPr>
        <p:spPr>
          <a:xfrm rot="0" flipH="0" flipV="0">
            <a:off x="609600" y="4229100"/>
            <a:ext cx="10972800" cy="781050"/>
          </a:xfrm>
          <a:prstGeom prst="roundRect">
            <a:avLst>
              <a:gd name="adj" fmla="val 1219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52" name=""/>
          <p:cNvSpPr/>
          <p:nvPr/>
        </p:nvSpPr>
        <p:spPr>
          <a:xfrm rot="0" flipH="0" flipV="0">
            <a:off x="781050" y="444817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904875" y="453390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1257300" y="4524375"/>
            <a:ext cx="7829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人物只能申请保存，也不能等待未发出的请求</a:t>
            </a:r>
            <a:endParaRPr/>
          </a:p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9220200" y="4543425"/>
            <a:ext cx="2190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回复经提交后接收</a:t>
            </a:r>
            <a:endParaRPr/>
          </a:p>
        </p:txBody>
      </p:sp>
      <p:sp>
        <p:nvSpPr>
          <p:cNvPr id="656" name=""/>
          <p:cNvSpPr/>
          <p:nvPr/>
        </p:nvSpPr>
        <p:spPr>
          <a:xfrm rot="0" flipH="0" flipV="0">
            <a:off x="609600" y="5143500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800100" y="5305425"/>
            <a:ext cx="10591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边界：检查动作不证明物理维修</a:t>
            </a:r>
            <a:endParaRPr/>
          </a:p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800100" y="5534025"/>
            <a:ext cx="105918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设备没有电气、机械或故障概率模型；这是本案固定资料设定，不是要求所有对象都作静态问答库。</a:t>
            </a:r>
            <a:endParaRPr/>
          </a:p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设备维护班组交接</a:t>
            </a:r>
            <a:endParaRPr/>
          </a:p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07 / 24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661" name="" descr="&lt;Slide notes={`接下来把镜头拉远，看人和消息在哪儿。&#10;&#10;先纠正一个常见误会：接班员不是消息发出去的时候才被创建出来的。三个人从运行开始就都在场——交班员虞诚、接班员宋青、复核员韩平，各自有自己的位置和记忆。&#10;&#10;也正因为这样，每条消息都必须走真实渠道。虞诚要知道设备情况，就得真的去问；宋青要知道交接内容，就得真的去读。&#10;&#10;地图上给三块地方：值班室用来交流，设备间放 T-17，资料区放记录台。三个人一开始就知道这三个地址，但陌生对象的地址要靠感知取得，写在文字里的地址不会自动变成导航知识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②　　4.2.2&lt;/Text&gt;&#10;&#10;        &lt;Text style={{ fontSize: 56, fontWeight: 'bold', color: '#20344B', lineHeight: 1.15 }}&gt;空间与角色：三人一直都在&lt;/Text&gt;&#10;&#10;        &lt;Box style={{ width: 72, height: 4, background: '#276FBF' }} /&gt;&#10;&#10;        &lt;Text style={{ fontSize: 18, color: '#546779', lineHeight: 1.7, width: 900 }}&gt;接班不动态创建人物。消息必须走真实渠道，独立查询可以补救遗漏，但不能回填交接主指标。&lt;/Text&gt;&#10;&#10;        &lt;Box style={{ flexDirection: 'row', alignItems: 'center', gap: 20, marginTop: 10 }}&gt;&#10;            &lt;Box style={{ height: 76, background: '#EDF4FC', borderRadius: 8, padding: '0 24px', justifyContent: 'center', alignItems: 'center' }}&gt;&#10;                &lt;Text style={{ fontSize: 18, color: '#276FBF' }}&gt;虞诚　交班员&lt;/Text&gt;&#10;            &lt;/Box&gt;&#10;            &lt;Box style={{ height: 76, background: '#F7F3E8', borderRadius: 8, padding: '0 24px', justifyContent: 'center', alignItems: 'center' }}&gt;&#10;                &lt;Text style={{ fontSize: 18, color: '#CB6B28' }}&gt;设备间 T-17&lt;/Text&gt;&#10;            &lt;/Box&gt;&#10;            &lt;Box style={{ height: 76, background: '#ECF7F2', borderRadius: 8, padding: '0 24px', justifyContent: 'center', alignItems: 'center' }}&gt;&#10;                &lt;Text style={{ fontSize: 18, color: '#26816B' }}&gt;资料区记录台&lt;/Text&gt;&#10;            &lt;/Box&gt;&#10;            &lt;Box style={{ height: 76, background: '#EDF4FC', borderRadius: 8, padding: '0 24px', justifyContent: 'center', alignItems: 'center' }}&gt;&#10;                &lt;Text style={{ fontSize: 18, color: '#276FBF' }}&gt;宋青　接班员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2 设备维护班组交接&lt;/Text&gt;&#10;        &lt;Text style={{ fontSize: 14, color: '#546779' }}&gt;08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609600" y="176212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②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4.2.2</a:t>
            </a:r>
            <a:endParaRPr/>
          </a:p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609600" y="214312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空间与角色：三人一直都在</a:t>
            </a:r>
            <a:endParaRPr/>
          </a:p>
        </p:txBody>
      </p:sp>
      <p:sp>
        <p:nvSpPr>
          <p:cNvPr id="665" name=""/>
          <p:cNvSpPr/>
          <p:nvPr/>
        </p:nvSpPr>
        <p:spPr>
          <a:xfrm rot="0" flipH="0" flipV="0">
            <a:off x="609600" y="309562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609600" y="334327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接班不动态创建人物。消息必须走真实渠道，独立查询可以补救遗漏，但不能回填交接主指标。</a:t>
            </a:r>
            <a:endParaRPr/>
          </a:p>
        </p:txBody>
      </p:sp>
      <p:sp>
        <p:nvSpPr>
          <p:cNvPr id="667" name=""/>
          <p:cNvSpPr/>
          <p:nvPr/>
        </p:nvSpPr>
        <p:spPr>
          <a:xfrm rot="0" flipH="0" flipV="0">
            <a:off x="609600" y="4000500"/>
            <a:ext cx="1485900" cy="723900"/>
          </a:xfrm>
          <a:prstGeom prst="roundRect">
            <a:avLst>
              <a:gd name="adj" fmla="val 1052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838200" y="4257675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虞诚　交班员</a:t>
            </a:r>
            <a:endParaRPr/>
          </a:p>
        </p:txBody>
      </p:sp>
      <p:sp>
        <p:nvSpPr>
          <p:cNvPr id="669" name=""/>
          <p:cNvSpPr/>
          <p:nvPr/>
        </p:nvSpPr>
        <p:spPr>
          <a:xfrm rot="0" flipH="0" flipV="0">
            <a:off x="2286000" y="4000500"/>
            <a:ext cx="1400175" cy="723900"/>
          </a:xfrm>
          <a:prstGeom prst="roundRect">
            <a:avLst>
              <a:gd name="adj" fmla="val 10526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670" name="" descr="{&quot;isTemplate&quot;:true,&quot;type&quot;:&quot;text&quot;}"/>
          <p:cNvSpPr txBox="1"/>
          <p:nvPr/>
        </p:nvSpPr>
        <p:spPr>
          <a:xfrm rot="0" flipH="0" flipV="0">
            <a:off x="2514600" y="4257675"/>
            <a:ext cx="9429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CB6B28"/>
                </a:solidFill>
                <a:latin typeface="Microsoft YaHei"/>
                <a:ea typeface="Microsoft YaHei"/>
              </a:rPr>
              <a:t>设备间</a:t>
            </a:r>
            <a:r>
              <a:rPr lang="en-US" sz="1350">
                <a:solidFill>
                  <a:srgbClr val="CB6B28"/>
                </a:solidFill>
                <a:latin typeface="Microsoft YaHei"/>
                <a:ea typeface="Microsoft YaHei"/>
              </a:rPr>
              <a:t xml:space="preserve"> T-17</a:t>
            </a:r>
            <a:endParaRPr/>
          </a:p>
        </p:txBody>
      </p:sp>
      <p:sp>
        <p:nvSpPr>
          <p:cNvPr id="671" name=""/>
          <p:cNvSpPr/>
          <p:nvPr/>
        </p:nvSpPr>
        <p:spPr>
          <a:xfrm rot="0" flipH="0" flipV="0">
            <a:off x="3876675" y="4000500"/>
            <a:ext cx="1485900" cy="723900"/>
          </a:xfrm>
          <a:prstGeom prst="roundRect">
            <a:avLst>
              <a:gd name="adj" fmla="val 1052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4105275" y="4257675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资料区记录台</a:t>
            </a:r>
            <a:endParaRPr/>
          </a:p>
        </p:txBody>
      </p:sp>
      <p:sp>
        <p:nvSpPr>
          <p:cNvPr id="673" name=""/>
          <p:cNvSpPr/>
          <p:nvPr/>
        </p:nvSpPr>
        <p:spPr>
          <a:xfrm rot="0" flipH="0" flipV="0">
            <a:off x="5553075" y="4000500"/>
            <a:ext cx="1485900" cy="723900"/>
          </a:xfrm>
          <a:prstGeom prst="roundRect">
            <a:avLst>
              <a:gd name="adj" fmla="val 1052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5781675" y="4257675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宋青　接班员</a:t>
            </a:r>
            <a:endParaRPr/>
          </a:p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设备维护班组交接</a:t>
            </a:r>
            <a:endParaRPr/>
          </a:p>
        </p:txBody>
      </p:sp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 / 24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677" name="" descr="&lt;Slide notes={`沿宋青这条线看，消息有明确的先后：先真的问，才有资料；先真的整理并提交，才有保存；先真的收到保存确认，再真实开口通知；对方真实读到，才算收到；读过之后要复述并说出不确定性；最后还要自己去设备那里做一次现场复核。&#10;&#10;这里最容易被跳过的一环是「真实开口通知」。不能自己写完就当对方知道了，也不能假定对方已经理解。&#10;&#10;还有一条要分清：宋青后来独立查到的内容，可以补救遗漏，但不能算成「经交接到达」。记录台变成 recorded，只能证明正文存下来了，不能证明宋青读过、更不能证明他读懂了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2.2　空间与角色：三人一直都在&lt;/Text&gt;&#10;            &lt;Text style={{ fontSize: 34, fontWeight: 'bold', color: '#20344B' }}&gt;交接消息的条件顺序&lt;/Text&gt;&#10;        &lt;/Box&gt;&#10;    &lt;/Box&gt;&#10;&#10;    &lt;Box style={{ height: 540, flexDirection: 'column', gap: 12, justifyContent: 'center' }}&gt;&#10;&#10;        &lt;Box style={{ flexDirection: 'row', gap: 32 }}&gt;&#10;            &lt;Box style={{ width: 264, height: 52, background: '#EDF4FC', borderRadius: 8, justifyContent: 'center', alignItems: 'center' }}&gt;&#10;                &lt;Text style={{ fontSize: 16, color: '#276FBF' }}&gt;虞诚　交班员&lt;/Text&gt;&#10;            &lt;/Box&gt;&#10;            &lt;Box style={{ width: 264, height: 52, background: '#F7F3E8', borderRadius: 8, justifyContent: 'center', alignItems: 'center' }}&gt;&#10;                &lt;Text style={{ fontSize: 16, color: '#CB6B28' }}&gt;设备间 T-17&lt;/Text&gt;&#10;            &lt;/Box&gt;&#10;            &lt;Box style={{ width: 264, height: 52, background: '#ECF7F2', borderRadius: 8, justifyContent: 'center', alignItems: 'center' }}&gt;&#10;                &lt;Text style={{ fontSize: 16, color: '#26816B' }}&gt;资料区记录台&lt;/Text&gt;&#10;            &lt;/Box&gt;&#10;            &lt;Box style={{ width: 264, height: 52, background: '#EDF4FC', borderRadius: 8, justifyContent: 'center', alignItems: 'center' }}&gt;&#10;                &lt;Text style={{ fontSize: 16, color: '#276FBF' }}&gt;宋青　接班员&lt;/Text&gt;&#10;            &lt;/Box&gt;&#10;        &lt;/Box&gt;&#10;&#10;        &lt;Box style={{ flexDirection: 'row', gap: 24 }}&gt;&#10;            &lt;Box style={{ width: 368, height: 180, background: '#F4F7FA', borderRadius: 10, padding: '14px 16px', flexDirection: 'column', gap: 8 }}&gt;&#10;                &lt;Box style={{ flexDirection: 'row', alignItems: 'center', gap: 10 }}&gt;&#10;                    &lt;Box style={{ width: 30, height: 30, background: '#276FBF', borderRadius: 15, justifyContent: 'center', alignItems: 'center' }}&gt;&#10;                        &lt;Text style={{ fontSize: 15, color: '#FFFFFF' }}&gt;1&lt;/Text&gt;&#10;                    &lt;/Box&gt;&#10;                    &lt;Text style={{ fontSize: 16, fontWeight: 'bold', color: '#20344B' }}&gt;查询设备资料&lt;/Text&gt;&#10;                &lt;/Box&gt;&#10;                &lt;Text style={{ fontSize: 14, color: '#546779', lineHeight: 1.6 }}&gt;虞诚向 T-17 提出真实请求，设备按请求返回 K1—K5，不代写交接稿。&lt;/Text&gt;&#10;            &lt;/Box&gt;&#10;            &lt;Box style={{ width: 368, height: 180, background: '#F4F7FA', borderRadius: 10, padding: '14px 16px', flexDirection: 'column', gap: 8 }}&gt;&#10;                &lt;Box style={{ flexDirection: 'row', alignItems: 'center', gap: 10 }}&gt;&#10;                    &lt;Box style={{ width: 30, height: 30, background: '#276FBF', borderRadius: 15, justifyContent: 'center', alignItems: 'center' }}&gt;&#10;                        &lt;Text style={{ fontSize: 15, color: '#FFFFFF' }}&gt;2&lt;/Text&gt;&#10;                    &lt;/Box&gt;&#10;                    &lt;Text style={{ fontSize: 16, fontWeight: 'bold', color: '#20344B' }}&gt;提交交接正文&lt;/Text&gt;&#10;                &lt;/Box&gt;&#10;                &lt;Text style={{ fontSize: 14, color: '#546779', lineHeight: 1.6 }}&gt;虞诚整理后提交实际正文；记录台只保存原文，把 empty 改为 recorded。&lt;/Text&gt;&#10;            &lt;/Box&gt;&#10;            &lt;Box style={{ width: 368, height: 180, background: '#F4F7FA', borderRadius: 10, padding: '14px 16px', flexDirection: 'column', gap: 8 }}&gt;&#10;                &lt;Box style={{ flexDirection: 'row', alignItems: 'center', gap: 10 }}&gt;&#10;                    &lt;Box style={{ width: 30, height: 30, background: '#276FBF', borderRadius: 15, justifyContent: 'center', alignItems: 'center' }}&gt;&#10;                        &lt;Text style={{ fontSize: 15, color: '#FFFFFF' }}&gt;3&lt;/Text&gt;&#10;                    &lt;/Box&gt;&#10;                    &lt;Text style={{ fontSize: 16, fontWeight: 'bold', color: '#20344B' }}&gt;真实开口通知&lt;/Text&gt;&#10;                &lt;/Box&gt;&#10;                &lt;Text style={{ fontSize: 14, color: '#546779', lineHeight: 1.6 }}&gt;虞诚用真实 SPEAK 告诉宋青，不能假定对方已经理解或已经知道。&lt;/Text&gt;&#10;            &lt;/Box&gt;&#10;        &lt;/Box&gt;&#10;&#10;        &lt;Box style={{ flexDirection: 'row', gap: 24 }}&gt;&#10;            &lt;Box style={{ width: 368, height: 180, background: '#ECF7F2', borderRadius: 10, padding: '14px 16px', flexDirection: 'column', gap: 8 }}&gt;&#10;                &lt;Box style={{ flexDirection: 'row', alignItems: 'center', gap: 10 }}&gt;&#10;                    &lt;Box style={{ width: 30, height: 30, background: '#26816B', borderRadius: 15, justifyContent: 'center', alignItems: 'center' }}&gt;&#10;                        &lt;Text style={{ fontSize: 15, color: '#FFFFFF' }}&gt;4&lt;/Text&gt;&#10;                    &lt;/Box&gt;&#10;                    &lt;Text style={{ fontSize: 16, fontWeight: 'bold', color: '#20344B' }}&gt;读取已保存的交接&lt;/Text&gt;&#10;                &lt;/Box&gt;&#10;                &lt;Text style={{ fontSize: 14, color: '#546779', lineHeight: 1.6 }}&gt;宋青查询记录台，返回实际正文；对象不自动补上缺失的那几项。&lt;/Text&gt;&#10;            &lt;/Box&gt;&#10;            &lt;Box style={{ width: 368, height: 180, background: '#ECF7F2', borderRadius: 10, padding: '14px 16px', flexDirection: 'column', gap: 8 }}&gt;&#10;                &lt;Box style={{ flexDirection: 'row', alignItems: 'center', gap: 10 }}&gt;&#10;                    &lt;Box style={{ width: 30, height: 30, background: '#26816B', borderRadius: 15, justifyContent: 'center', alignItems: 'center' }}&gt;&#10;                        &lt;Text style={{ fontSize: 15, color: '#FFFFFF' }}&gt;5&lt;/Text&gt;&#10;                    &lt;/Box&gt;&#10;                    &lt;Text style={{ fontSize: 16, fontWeight: 'bold', color: '#20344B' }}&gt;复述并说出不确定&lt;/Text&gt;&#10;                &lt;/Box&gt;&#10;                &lt;Text style={{ fontSize: 14, color: '#546779', lineHeight: 1.6 }}&gt;宋青向虞诚复述重要内容与不确定之处，有疑问继续追问。&lt;/Text&gt;&#10;            &lt;/Box&gt;&#10;            &lt;Box style={{ width: 368, height: 180, background: '#FFF4E6', borderRadius: 10, padding: '14px 16px', flexDirection: 'column', gap: 8 }}&gt;&#10;                &lt;Box style={{ flexDirection: 'row', alignItems: 'center', gap: 10 }}&gt;&#10;                    &lt;Box style={{ width: 30, height: 30, background: '#CB6B28', borderRadius: 15, justifyContent: 'center', alignItems: 'center' }}&gt;&#10;                        &lt;Text style={{ fontSize: 15, color: '#FFFFFF' }}&gt;6&lt;/Text&gt;&#10;                    &lt;/Box&gt;&#10;                    &lt;Text style={{ fontSize: 16, fontWeight: 'bold', color: '#20344B' }}&gt;独立现场复核&lt;/Text&gt;&#10;                &lt;/Box&gt;&#10;                &lt;Text style={{ fontSize: 14, color: '#546779', lineHeight: 1.6 }}&gt;宋青提交规定的资料复核请求与一次外观核对 ACT；可补救，但不补记主指标。&lt;/Text&gt;&#10;            &lt;/Box&gt;&#10;        &lt;/Box&gt;&#10;&#10;        &lt;Box style={{ height: 56, background: '#F4F7FA', borderRadius: 10, padding: '0 20px', justifyContent: 'center' }}&gt;&#10;            &lt;Text style={{ fontSize: 14, color: '#546779' }}&gt;记录台变为 recorded 只证明保存，不证明宋青已读取或理解；独立查询能补救遗漏，却不能回填「经交接到达」。&lt;/Text&gt;&#10;        &lt;/Box&gt;&#10;&#10;    &lt;/Box&gt;&#10;&#10;    &lt;Box style={{ height: 40, flexDirection: 'row', justifyContent: 'space-between', alignItems: 'center' }}&gt;&#10;        &lt;Text style={{ fontSize: 14, color: '#546779' }}&gt;4.2 设备维护班组交接&lt;/Text&gt;&#10;        &lt;Text style={{ fontSize: 14, color: '#546779' }}&gt;09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7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4.2.2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空间与角色：三人一直都在</a:t>
            </a:r>
            <a:endParaRPr/>
          </a:p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交接消息的条件顺序</a:t>
            </a:r>
            <a:endParaRPr/>
          </a:p>
        </p:txBody>
      </p:sp>
      <p:sp>
        <p:nvSpPr>
          <p:cNvPr id="682" name=""/>
          <p:cNvSpPr/>
          <p:nvPr/>
        </p:nvSpPr>
        <p:spPr>
          <a:xfrm rot="0" flipH="0" flipV="0">
            <a:off x="609600" y="1314450"/>
            <a:ext cx="2514600" cy="495300"/>
          </a:xfrm>
          <a:prstGeom prst="roundRect">
            <a:avLst>
              <a:gd name="adj" fmla="val 1538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1409700" y="146685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虞诚　交班员</a:t>
            </a:r>
            <a:endParaRPr/>
          </a:p>
        </p:txBody>
      </p:sp>
      <p:sp>
        <p:nvSpPr>
          <p:cNvPr id="684" name=""/>
          <p:cNvSpPr/>
          <p:nvPr/>
        </p:nvSpPr>
        <p:spPr>
          <a:xfrm rot="0" flipH="0" flipV="0">
            <a:off x="3429000" y="1314450"/>
            <a:ext cx="2514600" cy="495300"/>
          </a:xfrm>
          <a:prstGeom prst="roundRect">
            <a:avLst>
              <a:gd name="adj" fmla="val 15385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4267200" y="1466850"/>
            <a:ext cx="838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设备间</a:t>
            </a:r>
            <a:r>
              <a:rPr lang="en-US" sz="1200">
                <a:solidFill>
                  <a:srgbClr val="CB6B28"/>
                </a:solidFill>
                <a:latin typeface="Microsoft YaHei"/>
                <a:ea typeface="Microsoft YaHei"/>
              </a:rPr>
              <a:t xml:space="preserve"> T-17</a:t>
            </a:r>
            <a:endParaRPr/>
          </a:p>
        </p:txBody>
      </p:sp>
      <p:sp>
        <p:nvSpPr>
          <p:cNvPr id="686" name=""/>
          <p:cNvSpPr/>
          <p:nvPr/>
        </p:nvSpPr>
        <p:spPr>
          <a:xfrm rot="0" flipH="0" flipV="0">
            <a:off x="6248400" y="1314450"/>
            <a:ext cx="2514600" cy="495300"/>
          </a:xfrm>
          <a:prstGeom prst="roundRect">
            <a:avLst>
              <a:gd name="adj" fmla="val 1538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7048500" y="146685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6816B"/>
                </a:solidFill>
                <a:latin typeface="Microsoft YaHei"/>
                <a:ea typeface="Microsoft YaHei"/>
              </a:rPr>
              <a:t>资料区记录台</a:t>
            </a:r>
            <a:endParaRPr/>
          </a:p>
        </p:txBody>
      </p:sp>
      <p:sp>
        <p:nvSpPr>
          <p:cNvPr id="688" name=""/>
          <p:cNvSpPr/>
          <p:nvPr/>
        </p:nvSpPr>
        <p:spPr>
          <a:xfrm rot="0" flipH="0" flipV="0">
            <a:off x="9067800" y="1314450"/>
            <a:ext cx="2514600" cy="495300"/>
          </a:xfrm>
          <a:prstGeom prst="roundRect">
            <a:avLst>
              <a:gd name="adj" fmla="val 1538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9867900" y="146685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宋青　接班员</a:t>
            </a:r>
            <a:endParaRPr/>
          </a:p>
        </p:txBody>
      </p:sp>
      <p:sp>
        <p:nvSpPr>
          <p:cNvPr id="690" name=""/>
          <p:cNvSpPr/>
          <p:nvPr/>
        </p:nvSpPr>
        <p:spPr>
          <a:xfrm rot="0" flipH="0" flipV="0">
            <a:off x="609600" y="1924050"/>
            <a:ext cx="3505200" cy="1714500"/>
          </a:xfrm>
          <a:prstGeom prst="roundRect">
            <a:avLst>
              <a:gd name="adj" fmla="val 555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91" name=""/>
          <p:cNvSpPr/>
          <p:nvPr/>
        </p:nvSpPr>
        <p:spPr>
          <a:xfrm rot="0" flipH="0" flipV="0">
            <a:off x="762000" y="20574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92" name="" descr="{&quot;isTemplate&quot;:true,&quot;type&quot;:&quot;text&quot;}"/>
          <p:cNvSpPr txBox="1"/>
          <p:nvPr/>
        </p:nvSpPr>
        <p:spPr>
          <a:xfrm rot="0" flipH="0" flipV="0">
            <a:off x="866775" y="2114550"/>
            <a:ext cx="8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1143000" y="2105025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查询设备资料</a:t>
            </a:r>
            <a:endParaRPr/>
          </a:p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762000" y="2419350"/>
            <a:ext cx="32004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虞诚向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T-17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提出真实请求，设备按请求返回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K1—K5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，不代写交接稿。</a:t>
            </a:r>
            <a:endParaRPr/>
          </a:p>
        </p:txBody>
      </p:sp>
      <p:sp>
        <p:nvSpPr>
          <p:cNvPr id="695" name=""/>
          <p:cNvSpPr/>
          <p:nvPr/>
        </p:nvSpPr>
        <p:spPr>
          <a:xfrm rot="0" flipH="0" flipV="0">
            <a:off x="4343400" y="1924050"/>
            <a:ext cx="3505200" cy="1714500"/>
          </a:xfrm>
          <a:prstGeom prst="roundRect">
            <a:avLst>
              <a:gd name="adj" fmla="val 555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96" name=""/>
          <p:cNvSpPr/>
          <p:nvPr/>
        </p:nvSpPr>
        <p:spPr>
          <a:xfrm rot="0" flipH="0" flipV="0">
            <a:off x="4495800" y="20574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4600575" y="2114550"/>
            <a:ext cx="8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4876800" y="2105025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提交交接正文</a:t>
            </a:r>
            <a:endParaRPr/>
          </a:p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4495800" y="2419350"/>
            <a:ext cx="32004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虞诚整理后提交实际正文；记录台只保存原文，把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empty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改为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recorded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700" name=""/>
          <p:cNvSpPr/>
          <p:nvPr/>
        </p:nvSpPr>
        <p:spPr>
          <a:xfrm rot="0" flipH="0" flipV="0">
            <a:off x="8077200" y="1924050"/>
            <a:ext cx="3505200" cy="1714500"/>
          </a:xfrm>
          <a:prstGeom prst="roundRect">
            <a:avLst>
              <a:gd name="adj" fmla="val 555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01" name=""/>
          <p:cNvSpPr/>
          <p:nvPr/>
        </p:nvSpPr>
        <p:spPr>
          <a:xfrm rot="0" flipH="0" flipV="0">
            <a:off x="8229600" y="20574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8334375" y="2114550"/>
            <a:ext cx="8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8610600" y="2105025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真实开口通知</a:t>
            </a:r>
            <a:endParaRPr/>
          </a:p>
        </p:txBody>
      </p:sp>
      <p:sp>
        <p:nvSpPr>
          <p:cNvPr id="704" name="" descr="{&quot;isTemplate&quot;:true,&quot;type&quot;:&quot;text&quot;}"/>
          <p:cNvSpPr txBox="1"/>
          <p:nvPr/>
        </p:nvSpPr>
        <p:spPr>
          <a:xfrm rot="0" flipH="0" flipV="0">
            <a:off x="8229600" y="2419350"/>
            <a:ext cx="32004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虞诚用真实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SPEAK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告诉宋青，不能假定对方已经理解或已经知道。</a:t>
            </a:r>
            <a:endParaRPr/>
          </a:p>
        </p:txBody>
      </p:sp>
      <p:sp>
        <p:nvSpPr>
          <p:cNvPr id="705" name=""/>
          <p:cNvSpPr/>
          <p:nvPr/>
        </p:nvSpPr>
        <p:spPr>
          <a:xfrm rot="0" flipH="0" flipV="0">
            <a:off x="609600" y="3752850"/>
            <a:ext cx="3505200" cy="1714500"/>
          </a:xfrm>
          <a:prstGeom prst="roundRect">
            <a:avLst>
              <a:gd name="adj" fmla="val 555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06" name=""/>
          <p:cNvSpPr/>
          <p:nvPr/>
        </p:nvSpPr>
        <p:spPr>
          <a:xfrm rot="0" flipH="0" flipV="0">
            <a:off x="762000" y="38862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866775" y="3943350"/>
            <a:ext cx="8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1143000" y="3933825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读取已保存的交接</a:t>
            </a:r>
            <a:endParaRPr/>
          </a:p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762000" y="4248150"/>
            <a:ext cx="32004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宋青查询记录台，返回实际正文；对象不自动补上缺失的那几项。</a:t>
            </a:r>
            <a:endParaRPr/>
          </a:p>
        </p:txBody>
      </p:sp>
      <p:sp>
        <p:nvSpPr>
          <p:cNvPr id="710" name=""/>
          <p:cNvSpPr/>
          <p:nvPr/>
        </p:nvSpPr>
        <p:spPr>
          <a:xfrm rot="0" flipH="0" flipV="0">
            <a:off x="4343400" y="3752850"/>
            <a:ext cx="3505200" cy="1714500"/>
          </a:xfrm>
          <a:prstGeom prst="roundRect">
            <a:avLst>
              <a:gd name="adj" fmla="val 555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11" name=""/>
          <p:cNvSpPr/>
          <p:nvPr/>
        </p:nvSpPr>
        <p:spPr>
          <a:xfrm rot="0" flipH="0" flipV="0">
            <a:off x="4495800" y="38862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712" name="" descr="{&quot;isTemplate&quot;:true,&quot;type&quot;:&quot;text&quot;}"/>
          <p:cNvSpPr txBox="1"/>
          <p:nvPr/>
        </p:nvSpPr>
        <p:spPr>
          <a:xfrm rot="0" flipH="0" flipV="0">
            <a:off x="4600575" y="3943350"/>
            <a:ext cx="8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713" name="" descr="{&quot;isTemplate&quot;:true,&quot;type&quot;:&quot;text&quot;}"/>
          <p:cNvSpPr txBox="1"/>
          <p:nvPr/>
        </p:nvSpPr>
        <p:spPr>
          <a:xfrm rot="0" flipH="0" flipV="0">
            <a:off x="4876800" y="3933825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复述并说出不确定</a:t>
            </a:r>
            <a:endParaRPr/>
          </a:p>
        </p:txBody>
      </p:sp>
      <p:sp>
        <p:nvSpPr>
          <p:cNvPr id="714" name="" descr="{&quot;isTemplate&quot;:true,&quot;type&quot;:&quot;text&quot;}"/>
          <p:cNvSpPr txBox="1"/>
          <p:nvPr/>
        </p:nvSpPr>
        <p:spPr>
          <a:xfrm rot="0" flipH="0" flipV="0">
            <a:off x="4495800" y="4248150"/>
            <a:ext cx="32004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宋青向虞诚复述重要内容与不确定之处，有疑问继续追问。</a:t>
            </a:r>
            <a:endParaRPr/>
          </a:p>
        </p:txBody>
      </p:sp>
      <p:sp>
        <p:nvSpPr>
          <p:cNvPr id="715" name=""/>
          <p:cNvSpPr/>
          <p:nvPr/>
        </p:nvSpPr>
        <p:spPr>
          <a:xfrm rot="0" flipH="0" flipV="0">
            <a:off x="8077200" y="3752850"/>
            <a:ext cx="3505200" cy="1714500"/>
          </a:xfrm>
          <a:prstGeom prst="roundRect">
            <a:avLst>
              <a:gd name="adj" fmla="val 555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16" name=""/>
          <p:cNvSpPr/>
          <p:nvPr/>
        </p:nvSpPr>
        <p:spPr>
          <a:xfrm rot="0" flipH="0" flipV="0">
            <a:off x="8229600" y="38862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717" name="" descr="{&quot;isTemplate&quot;:true,&quot;type&quot;:&quot;text&quot;}"/>
          <p:cNvSpPr txBox="1"/>
          <p:nvPr/>
        </p:nvSpPr>
        <p:spPr>
          <a:xfrm rot="0" flipH="0" flipV="0">
            <a:off x="8334375" y="3943350"/>
            <a:ext cx="8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718" name="" descr="{&quot;isTemplate&quot;:true,&quot;type&quot;:&quot;text&quot;}"/>
          <p:cNvSpPr txBox="1"/>
          <p:nvPr/>
        </p:nvSpPr>
        <p:spPr>
          <a:xfrm rot="0" flipH="0" flipV="0">
            <a:off x="8610600" y="3933825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独立现场复核</a:t>
            </a:r>
            <a:endParaRPr/>
          </a:p>
        </p:txBody>
      </p:sp>
      <p:sp>
        <p:nvSpPr>
          <p:cNvPr id="719" name="" descr="{&quot;isTemplate&quot;:true,&quot;type&quot;:&quot;text&quot;}"/>
          <p:cNvSpPr txBox="1"/>
          <p:nvPr/>
        </p:nvSpPr>
        <p:spPr>
          <a:xfrm rot="0" flipH="0" flipV="0">
            <a:off x="8229600" y="4248150"/>
            <a:ext cx="32004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宋青提交规定的资料复核请求与一次外观核对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ACT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；可补救，但不补记主指标。</a:t>
            </a:r>
            <a:endParaRPr/>
          </a:p>
        </p:txBody>
      </p:sp>
      <p:sp>
        <p:nvSpPr>
          <p:cNvPr id="720" name=""/>
          <p:cNvSpPr/>
          <p:nvPr/>
        </p:nvSpPr>
        <p:spPr>
          <a:xfrm rot="0" flipH="0" flipV="0">
            <a:off x="609600" y="5581650"/>
            <a:ext cx="10972800" cy="533400"/>
          </a:xfrm>
          <a:prstGeom prst="roundRect">
            <a:avLst>
              <a:gd name="adj" fmla="val 1785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21" name="" descr="{&quot;isTemplate&quot;:true,&quot;type&quot;:&quot;text&quot;}"/>
          <p:cNvSpPr txBox="1"/>
          <p:nvPr/>
        </p:nvSpPr>
        <p:spPr>
          <a:xfrm rot="0" flipH="0" flipV="0">
            <a:off x="800100" y="5772150"/>
            <a:ext cx="10591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记录台变为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recorded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只证明保存，不证明宋青已读取或理解；独立查询能补救遗漏，却不能回填「经交接到达」。</a:t>
            </a:r>
            <a:endParaRPr/>
          </a:p>
        </p:txBody>
      </p:sp>
      <p:sp>
        <p:nvSpPr>
          <p:cNvPr id="72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设备维护班组交接</a:t>
            </a:r>
            <a:endParaRPr/>
          </a:p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 / 24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35" name="" descr="&lt;Slide notes={`三个角色从一开始就都在地图上活着，所以我要交代清楚各自的位置和知识边界。&#10;&#10;虞诚是交班员。他不知道 K1 到 K5，需要主动去问设备，再把结果整理成一份说明交出去。宋青是接班员，负责接收、复述和核对；如果一直没等到交接，他可以整理用品，或者有边界地等待，但不能凭空知道。&#10;&#10;韩平是复核员。他只根据实际发生的发言和设备回复去质询事实或推断，不去读别人的私有记忆。&#10;&#10;还有一点很重要：值班室、设备间、资料区这三块地方，三个人一开始就都知道地址。职业身份不授予改设备状态的权限，共同大脑里也没有答案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2.2　空间与角色：三人一直都在&lt;/Text&gt;&#10;            &lt;Text style={{ fontSize: 34, fontWeight: 'bold', color: '#20344B' }}&gt;谁在哪儿，各自知道什么&lt;/Text&gt;&#10;        &lt;/Box&gt;&#10;    &lt;/Box&gt;&#10;&#10;    &lt;Box style={{ height: 540, flexDirection: 'row', gap: 32, alignItems: 'center' }}&gt;&#10;&#10;        &lt;Box style={{ width: 430, flexDirection: 'column', gap: 12 }}&gt;&#10;            &lt;Box style={{ flexDirection: 'column', gap: 10 }}&gt;&#10;                &lt;Text style={{ fontSize: 20, fontWeight: 'bold', color: '#276FBF' }}&gt;三个 Arena，各供一件事&lt;/Text&gt;&#10;                &lt;Box style={{ width: 56, height: 4, background: '#276FBF' }} /&gt;&#10;            &lt;/Box&gt;&#10;            &lt;Box style={{ height: 124, background: '#EDF4FC', borderRadius: 10, padding: '14px 18px', flexDirection: 'column', gap: 6, justifyContent: 'center' }}&gt;&#10;                &lt;Text style={{ fontSize: 17, fontWeight: 'bold', color: '#20344B' }}&gt;值班室&lt;/Text&gt;&#10;                &lt;Text style={{ fontSize: 14, color: '#546779', lineHeight: 1.5 }}&gt;人物之间交流、通知与回应的场所&lt;/Text&gt;&#10;            &lt;/Box&gt;&#10;            &lt;Box style={{ height: 124, background: '#F7F3E8', borderRadius: 10, padding: '14px 18px', flexDirection: 'column', gap: 6, justifyContent: 'center' }}&gt;&#10;                &lt;Text style={{ fontSize: 17, fontWeight: 'bold', color: '#20344B' }}&gt;设备间&lt;/Text&gt;&#10;                &lt;Text style={{ fontSize: 14, color: '#546779', lineHeight: 1.5 }}&gt;放置 T-17，供查询资料与现场复核&lt;/Text&gt;&#10;            &lt;/Box&gt;&#10;            &lt;Box style={{ height: 124, background: '#ECF7F2', borderRadius: 10, padding: '14px 18px', flexDirection: 'column', gap: 6, justifyContent: 'center' }}&gt;&#10;                &lt;Text style={{ fontSize: 17, fontWeight: 'bold', color: '#20344B' }}&gt;资料区&lt;/Text&gt;&#10;                &lt;Text style={{ fontSize: 14, color: '#546779', lineHeight: 1.5 }}&gt;放置记录台，供提交与读取交接正文&lt;/Text&gt;&#10;            &lt;/Box&gt;&#10;        &lt;/Box&gt;&#10;&#10;        &lt;Box style={{ width: 690, flexDirection: 'column', gap: 12 }}&gt;&#10;            &lt;Box style={{ flexDirection: 'column', gap: 10 }}&gt;&#10;                &lt;Text style={{ fontSize: 20, fontWeight: 'bold', color: '#276FBF' }}&gt;三名角色，初态与共同职责&lt;/Text&gt;&#10;                &lt;Box style={{ width: 56, height: 4, background: '#276FBF' }} /&gt;&#10;            &lt;/Box&gt;&#10;            &lt;Box style={{ height: 130, background: '#F4F7FA', borderRadius: 10, padding: '14px 18px', flexDirection: 'row', alignItems: 'center', gap: 14 }}&gt;&#10;                &lt;Box style={{ width: 4, height: 70, background: '#276FBF' }} /&gt;&#10;                &lt;Box style={{ width: 150, flexDirection: 'column', gap: 4 }}&gt;&#10;                    &lt;Text style={{ fontSize: 18, fontWeight: 'bold', color: '#20344B' }}&gt;虞诚&lt;/Text&gt;&#10;                    &lt;Text style={{ fontSize: 13, color: '#276FBF' }}&gt;交班员&lt;/Text&gt;&#10;                &lt;/Box&gt;&#10;                &lt;Box style={{ flex: 1 }}&gt;&#10;                    &lt;Text style={{ fontSize: 15, color: '#546779', lineHeight: 1.6 }}&gt;初始不知道 K1—K5；查询 T-17，整理后提交实际交接正文并通知宋青。&lt;/Text&gt;&#10;                &lt;/Box&gt;&#10;            &lt;/Box&gt;&#10;            &lt;Box style={{ height: 130, background: '#F4F7FA', borderRadius: 10, padding: '14px 18px', flexDirection: 'row', alignItems: 'center', gap: 14 }}&gt;&#10;                &lt;Box style={{ width: 4, height: 70, background: '#26816B' }} /&gt;&#10;                &lt;Box style={{ width: 150, flexDirection: 'column', gap: 4 }}&gt;&#10;                    &lt;Text style={{ fontSize: 18, fontWeight: 'bold', color: '#20344B' }}&gt;宋青&lt;/Text&gt;&#10;                    &lt;Text style={{ fontSize: 13, color: '#26816B' }}&gt;接班员&lt;/Text&gt;&#10;                &lt;/Box&gt;&#10;                &lt;Box style={{ flex: 1 }}&gt;&#10;                    &lt;Text style={{ fontSize: 15, color: '#546779', lineHeight: 1.6 }}&gt;接收、复述、核对；未获交接时可整理用品，或有边界地等待，不凭空知道。&lt;/Text&gt;&#10;                &lt;/Box&gt;&#10;            &lt;/Box&gt;&#10;            &lt;Box style={{ height: 130, background: '#FFF4E6', borderRadius: 10, padding: '14px 18px', flexDirection: 'row', alignItems: 'center', gap: 14 }}&gt;&#10;                &lt;Box style={{ width: 4, height: 70, background: '#CB6B28' }} /&gt;&#10;                &lt;Box style={{ width: 150, flexDirection: 'column', gap: 4 }}&gt;&#10;                    &lt;Text style={{ fontSize: 18, fontWeight: 'bold', color: '#20344B' }}&gt;韩平&lt;/Text&gt;&#10;                    &lt;Text style={{ fontSize: 13, color: '#CB6B28' }}&gt;复核员&lt;/Text&gt;&#10;                &lt;/Box&gt;&#10;                &lt;Box style={{ flex: 1 }}&gt;&#10;                    &lt;Text style={{ fontSize: 15, color: '#546779', lineHeight: 1.6 }}&gt;只据实际发言与设备回复质询事实或推断，不读别人的私有记忆。&lt;/Text&gt;&#10;                &lt;/Box&gt;&#10;            &lt;/Box&gt;&#10;        &lt;/Box&gt;&#10;&#10;    &lt;/Box&gt;&#10;&#10;    &lt;Box style={{ height: 40, flexDirection: 'row', justifyContent: 'space-between', alignItems: 'center' }}&gt;&#10;        &lt;Text style={{ fontSize: 14, color: '#546779' }}&gt;4.2 设备维护班组交接&lt;/Text&gt;&#10;        &lt;Text style={{ fontSize: 14, color: '#546779' }}&gt;10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4.2.2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空间与角色：三人一直都在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谁在哪儿，各自知道什么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09600" y="1590675"/>
            <a:ext cx="4095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三个</a:t>
            </a: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Arena</a:t>
            </a: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，各供一件事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609600" y="1914525"/>
            <a:ext cx="5334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2" name=""/>
          <p:cNvSpPr/>
          <p:nvPr/>
        </p:nvSpPr>
        <p:spPr>
          <a:xfrm rot="0" flipH="0" flipV="0">
            <a:off x="609600" y="2066925"/>
            <a:ext cx="4095750" cy="1181100"/>
          </a:xfrm>
          <a:prstGeom prst="roundRect">
            <a:avLst>
              <a:gd name="adj" fmla="val 806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781050" y="2409825"/>
            <a:ext cx="3752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值班室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781050" y="2667000"/>
            <a:ext cx="37528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人物之间交流、通知与回应的场所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609600" y="3362325"/>
            <a:ext cx="4095750" cy="1181100"/>
          </a:xfrm>
          <a:prstGeom prst="roundRect">
            <a:avLst>
              <a:gd name="adj" fmla="val 8065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781050" y="3705225"/>
            <a:ext cx="3752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设备间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781050" y="3962400"/>
            <a:ext cx="37528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放置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T-17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，供查询资料与现场复核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609600" y="4657725"/>
            <a:ext cx="4095750" cy="1181100"/>
          </a:xfrm>
          <a:prstGeom prst="roundRect">
            <a:avLst>
              <a:gd name="adj" fmla="val 806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781050" y="5000625"/>
            <a:ext cx="3752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资料区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781050" y="5257800"/>
            <a:ext cx="37528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放置记录台，供提交与读取交接正文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5010150" y="1504950"/>
            <a:ext cx="6572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三名角色，初态与共同职责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5010150" y="1828800"/>
            <a:ext cx="5334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3" name=""/>
          <p:cNvSpPr/>
          <p:nvPr/>
        </p:nvSpPr>
        <p:spPr>
          <a:xfrm rot="0" flipH="0" flipV="0">
            <a:off x="5010150" y="1981200"/>
            <a:ext cx="6572250" cy="1238250"/>
          </a:xfrm>
          <a:prstGeom prst="roundRect">
            <a:avLst>
              <a:gd name="adj" fmla="val 769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4" name=""/>
          <p:cNvSpPr/>
          <p:nvPr/>
        </p:nvSpPr>
        <p:spPr>
          <a:xfrm rot="0" flipH="0" flipV="0">
            <a:off x="5181600" y="2266950"/>
            <a:ext cx="38100" cy="6667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5353050" y="2400300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虞诚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5353050" y="26479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交班员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6915150" y="2324100"/>
            <a:ext cx="44958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初始不知道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K1—K5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；查询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T-17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，整理后提交实际交接正文并通知宋青。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5010150" y="3333750"/>
            <a:ext cx="6572250" cy="1238250"/>
          </a:xfrm>
          <a:prstGeom prst="roundRect">
            <a:avLst>
              <a:gd name="adj" fmla="val 769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9" name=""/>
          <p:cNvSpPr/>
          <p:nvPr/>
        </p:nvSpPr>
        <p:spPr>
          <a:xfrm rot="0" flipH="0" flipV="0">
            <a:off x="5181600" y="3619500"/>
            <a:ext cx="38100" cy="6667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5353050" y="3752850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宋青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5353050" y="400050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6816B"/>
                </a:solidFill>
                <a:latin typeface="Microsoft YaHei"/>
                <a:ea typeface="Microsoft YaHei"/>
              </a:rPr>
              <a:t>接班员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6915150" y="3676650"/>
            <a:ext cx="44958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接收、复述、核对；未获交接时可整理用品，或有边界地等待，不凭空知道。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5010150" y="4686300"/>
            <a:ext cx="6572250" cy="1238250"/>
          </a:xfrm>
          <a:prstGeom prst="roundRect">
            <a:avLst>
              <a:gd name="adj" fmla="val 769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4" name=""/>
          <p:cNvSpPr/>
          <p:nvPr/>
        </p:nvSpPr>
        <p:spPr>
          <a:xfrm rot="0" flipH="0" flipV="0">
            <a:off x="5181600" y="4972050"/>
            <a:ext cx="38100" cy="6667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5353050" y="5105400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韩平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5353050" y="53530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复核员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915150" y="5172075"/>
            <a:ext cx="4495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只据实际发言与设备回复质询事实或推断，不读别人的私有记忆。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设备维护班组交接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 / 24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70" name="" descr="&lt;Slide notes={`宋青其实有两条获取信息的路径，我得把它们分开算。&#10;&#10;第一条是经交接到达：他打开记录台，读到虞诚提交的那份正文。这一条才进关键交接信息到达率。&#10;&#10;第二条是他自己走到设备那里直接查询。这条路径很有用，能补上遗漏，但它不叫「经交接到达」，所以不能回填主指标。要报，就另外报一个最终掌握率。&#10;&#10;还有一件事容易混：记录台状态变成 recorded，只说明正文存下来了。它不证明宋青读过，更不证明他理解。所以我们永远拿「实际收到并且正确复述或使用」当分子，而不是拿「文件里写着」当分子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2.2　空间与角色：三人一直都在&lt;/Text&gt;&#10;            &lt;Text style={{ fontSize: 34, fontWeight: 'bold', color: '#20344B' }}&gt;两条来源不能互相回填&lt;/Text&gt;&#10;        &lt;/Box&gt;&#10;    &lt;/Box&gt;&#10;&#10;    &lt;Box style={{ height: 540, flexDirection: 'column', gap: 14, justifyContent: 'center' }}&gt;&#10;&#10;        &lt;Text style={{ fontSize: 15, color: '#546779' }}&gt;同一个「知道了」，证据强度并不一样。&lt;/Text&gt;&#10;&#10;        &lt;Box style={{ height: 100, background: '#F4F7FA', borderRadius: 10, padding: '0 18px', flexDirection: 'row', alignItems: 'center', gap: 16 }}&gt;&#10;            &lt;Box style={{ width: 190 }}&gt;&lt;Text style={{ fontSize: 16, fontWeight: 'bold', color: '#26816B' }}&gt;经交接到达&lt;/Text&gt;&lt;/Box&gt;&#10;            &lt;Box style={{ flex: 1 }}&gt;&lt;Text style={{ fontSize: 15, color: '#20344B' }}&gt;宋青在记录台读到虞诚提交的那份正文&lt;/Text&gt;&lt;/Box&gt;&#10;            &lt;Box style={{ width: 270 }}&gt;&lt;Text style={{ fontSize: 14, fontWeight: 'bold', color: '#26816B' }}&gt;计入关键交接信息到达率&lt;/Text&gt;&lt;/Box&gt;&#10;        &lt;/Box&gt;&#10;&#10;        &lt;Box style={{ height: 100, background: '#F4F7FA', borderRadius: 10, padding: '0 18px', flexDirection: 'row', alignItems: 'center', gap: 16 }}&gt;&#10;            &lt;Box style={{ width: 190 }}&gt;&lt;Text style={{ fontSize: 16, fontWeight: 'bold', color: '#CB6B28' }}&gt;独立查询&lt;/Text&gt;&lt;/Box&gt;&#10;            &lt;Box style={{ flex: 1 }}&gt;&lt;Text style={{ fontSize: 15, color: '#20344B' }}&gt;宋青直接向 T-17 提出请求，补充遗漏的资料&lt;/Text&gt;&lt;/Box&gt;&#10;            &lt;Box style={{ width: 270 }}&gt;&lt;Text style={{ fontSize: 14, fontWeight: 'bold', color: '#CB6B28' }}&gt;可补救遗漏，不能回填主指标&lt;/Text&gt;&lt;/Box&gt;&#10;        &lt;/Box&gt;&#10;&#10;        &lt;Box style={{ height: 100, background: '#F4F7FA', borderRadius: 10, padding: '0 18px', flexDirection: 'row', alignItems: 'center', gap: 16 }}&gt;&#10;            &lt;Box style={{ width: 190 }}&gt;&lt;Text style={{ fontSize: 16, fontWeight: 'bold', color: '#CB6B28' }}&gt;记录台 recorded&lt;/Text&gt;&lt;/Box&gt;&#10;            &lt;Box style={{ flex: 1 }}&gt;&lt;Text style={{ fontSize: 15, color: '#20344B' }}&gt;只证明提交的正文已经保存下来&lt;/Text&gt;&lt;/Box&gt;&#10;            &lt;Box style={{ width: 270 }}&gt;&lt;Text style={{ fontSize: 14, fontWeight: 'bold', color: '#CB6B28' }}&gt;不等于宋青已读取或已理解&lt;/Text&gt;&lt;/Box&gt;&#10;        &lt;/Box&gt;&#10;&#10;        &lt;Box style={{ height: 132, background: '#FFF4E6', borderRadius: 10, padding: '16px 20px', flexDirection: 'column', gap: 8, justifyContent: 'center' }}&gt;&#10;            &lt;Text style={{ fontSize: 16, fontWeight: 'bold', color: '#CB6B28' }}&gt;补救要另报，不能合并进交接分数&lt;/Text&gt;&#10;            &lt;Text style={{ fontSize: 15, color: '#20344B', lineHeight: 1.6 }}&gt;最终掌握率另报独立查询等补救后的掌握；每项事实只计一次，来源必须可追。&lt;/Text&gt;&#10;        &lt;/Box&gt;&#10;&#10;    &lt;/Box&gt;&#10;&#10;    &lt;Box style={{ height: 40, flexDirection: 'row', justifyContent: 'space-between', alignItems: 'center' }}&gt;&#10;        &lt;Text style={{ fontSize: 14, color: '#546779' }}&gt;4.2 设备维护班组交接&lt;/Text&gt;&#10;        &lt;Text style={{ fontSize: 14, color: '#546779' }}&gt;11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4.2.2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空间与角色：三人一直都在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两条来源不能互相回填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09600" y="130492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同一个「知道了」，证据强度并不一样。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609600" y="1609725"/>
            <a:ext cx="109728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781050" y="1990725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经交接到达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2743200" y="2000250"/>
            <a:ext cx="5943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宋青在记录台读到虞诚提交的那份正文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8839200" y="2009775"/>
            <a:ext cx="2571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6816B"/>
                </a:solidFill>
                <a:latin typeface="Microsoft YaHei"/>
                <a:ea typeface="Microsoft YaHei"/>
              </a:rPr>
              <a:t>计入关键交接信息到达率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609600" y="2695575"/>
            <a:ext cx="109728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781050" y="3076575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独立查询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2743200" y="3086100"/>
            <a:ext cx="5943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宋青直接向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T-17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提出请求，补充遗漏的资料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8839200" y="3095625"/>
            <a:ext cx="2571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B6B28"/>
                </a:solidFill>
                <a:latin typeface="Microsoft YaHei"/>
                <a:ea typeface="Microsoft YaHei"/>
              </a:rPr>
              <a:t>可补救遗漏，不能回填主指标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609600" y="3781425"/>
            <a:ext cx="109728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781050" y="4162425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记录台</a:t>
            </a: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recorded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2743200" y="4171950"/>
            <a:ext cx="5943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只证明提交的正文已经保存下来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8839200" y="4181475"/>
            <a:ext cx="2571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B6B28"/>
                </a:solidFill>
                <a:latin typeface="Microsoft YaHei"/>
                <a:ea typeface="Microsoft YaHei"/>
              </a:rPr>
              <a:t>不等于宋青已读取或已理解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609600" y="4867275"/>
            <a:ext cx="10972800" cy="1257300"/>
          </a:xfrm>
          <a:prstGeom prst="roundRect">
            <a:avLst>
              <a:gd name="adj" fmla="val 757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800100" y="5229225"/>
            <a:ext cx="10591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补救要另报，不能合并进交接分数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800100" y="5495925"/>
            <a:ext cx="10591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最终掌握率另报独立查询等补救后的掌握；每项事实只计一次，来源必须可追。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设备维护班组交接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 / 24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93" name="" descr="&lt;Slide notes={`前面都是条件，接下来讲两组怎么跑。&#10;&#10;我把共同前置拆成五步：先取到设备的真实回复，再区分哪些是资料描述、哪些是本轮实际活动；然后形成说明、提交给记录台并收到保存确认；接着真实开口通知宋青；最后回应他提出的问题。这五步两组都要做，一步都不能少。&#10;&#10;唯一的差别在第二步，也就是怎么整理那份说明。基线组用自然语言自由整理，不调用交接整理子技能；对照组调用一次，把已有事实和来源交给它，再依据建议检查自己的说明。&#10;&#10;有新证据导致实质修改时才重新整理，不每轮重复调用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③　　4.2.3&lt;/Text&gt;&#10;&#10;        &lt;Text style={{ fontSize: 56, fontWeight: 'bold', color: '#20344B', lineHeight: 1.15 }}&gt;共同流程，只改变整理段&lt;/Text&gt;&#10;&#10;        &lt;Box style={{ width: 72, height: 4, background: '#276FBF' }} /&gt;&#10;&#10;        &lt;Text style={{ fontSize: 18, color: '#546779', lineHeight: 1.7, width: 900 }}&gt;两个组的前置步骤完全相同，唯一差别是用什么方式整理那份交接说明。&lt;/Text&gt;&#10;&#10;        &lt;Box style={{ flexDirection: 'row', alignItems: 'center', marginTop: 10 }}&gt;&#10;            &lt;Box style={{ width: 194, height: 72, background: '#EDF4FC', borderRadius: 8, justifyContent: 'center', alignItems: 'center' }}&gt;&#10;                &lt;Text style={{ fontSize: 16, color: '#276FBF' }}&gt;取真实回复&lt;/Text&gt;&#10;            &lt;/Box&gt;&#10;            &lt;Box style={{ width: 44, height: 72, justifyContent: 'center', alignItems: 'center' }}&gt;&#10;                &lt;Text style={{ fontSize: 24, color: '#276FBF' }}&gt;›&lt;/Text&gt;&#10;            &lt;/Box&gt;&#10;            &lt;Box style={{ width: 194, height: 72, background: '#FFF4E6', borderRadius: 8, justifyContent: 'center', alignItems: 'center' }}&gt;&#10;                &lt;Text style={{ fontSize: 16, color: '#CB6B28' }}&gt;形成说明&lt;/Text&gt;&#10;            &lt;/Box&gt;&#10;            &lt;Box style={{ width: 44, height: 72, justifyContent: 'center', alignItems: 'center' }}&gt;&#10;                &lt;Text style={{ fontSize: 24, color: '#276FBF' }}&gt;›&lt;/Text&gt;&#10;            &lt;/Box&gt;&#10;            &lt;Box style={{ width: 194, height: 72, background: '#EDF4FC', borderRadius: 8, justifyContent: 'center', alignItems: 'center' }}&gt;&#10;                &lt;Text style={{ fontSize: 16, color: '#276FBF' }}&gt;提交并确认&lt;/Text&gt;&#10;            &lt;/Box&gt;&#10;            &lt;Box style={{ width: 44, height: 72, justifyContent: 'center', alignItems: 'center' }}&gt;&#10;                &lt;Text style={{ fontSize: 24, color: '#276FBF' }}&gt;›&lt;/Text&gt;&#10;            &lt;/Box&gt;&#10;            &lt;Box style={{ width: 194, height: 72, background: '#EDF4FC', borderRadius: 8, justifyContent: 'center', alignItems: 'center' }}&gt;&#10;                &lt;Text style={{ fontSize: 16, color: '#276FBF' }}&gt;真实通知&lt;/Text&gt;&#10;            &lt;/Box&gt;&#10;            &lt;Box style={{ width: 44, height: 72, justifyContent: 'center', alignItems: 'center' }}&gt;&#10;                &lt;Text style={{ fontSize: 24, color: '#276FBF' }}&gt;›&lt;/Text&gt;&#10;            &lt;/Box&gt;&#10;            &lt;Box style={{ width: 194, height: 72, background: '#ECF7F2', borderRadius: 8, justifyContent: 'center', alignItems: 'center' }}&gt;&#10;                &lt;Text style={{ fontSize: 16, color: '#26816B' }}&gt;回应问题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2 设备维护班组交接&lt;/Text&gt;&#10;        &lt;Text style={{ fontSize: 14, color: '#546779' }}&gt;12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609600" y="17811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③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4.2.3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609600" y="21621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共同流程，只改变整理段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609600" y="31146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609600" y="33623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两个组的前置步骤完全相同，唯一差别是用什么方式整理那份交接说明。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609600" y="4019550"/>
            <a:ext cx="1847850" cy="68580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1152525" y="4267200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取真实回复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2628900" y="422910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2876550" y="4019550"/>
            <a:ext cx="1847850" cy="685800"/>
          </a:xfrm>
          <a:prstGeom prst="roundRect">
            <a:avLst>
              <a:gd name="adj" fmla="val 1111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3495675" y="42672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形成说明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4895850" y="422910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5143500" y="4019550"/>
            <a:ext cx="1847850" cy="68580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5686425" y="4267200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提交并确认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7162800" y="422910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7410450" y="4019550"/>
            <a:ext cx="1847850" cy="68580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8029575" y="42672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真实通知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9429750" y="422910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9677400" y="4019550"/>
            <a:ext cx="1847850" cy="685800"/>
          </a:xfrm>
          <a:prstGeom prst="roundRect">
            <a:avLst>
              <a:gd name="adj" fmla="val 1111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10296525" y="42672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6816B"/>
                </a:solidFill>
                <a:latin typeface="Microsoft YaHei"/>
                <a:ea typeface="Microsoft YaHei"/>
              </a:rPr>
              <a:t>回应问题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设备维护班组交接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 / 24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15" name="" descr="&lt;Slide notes={`我把五步并排摆出来，请大家盯住第二步。&#10;&#10;第一步是取事实：先真的问到设备的回复，再区分资料里写的是什么、本轮实际做了什么。这一步两组一样。&#10;&#10;第二步开始分岔。基线组直接用自己的话写一份说明，不调用任何整理工具；对照组调用一次交接整理子技能，把已有事实和来源交给它，再拿建议回查自己的说明。&#10;&#10;后面三步又合流：提交给记录台等待保存确认、真实开口通知宋青、回应他提出的疑问。两组条件相同，所以最后结果的差别，只能归到整理方式上。&#10;&#10;另外记住，子技能只返回建议，它不做世界动作、不替人写记忆、不接触答案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2.3　共同流程，只改变整理段&lt;/Text&gt;&#10;            &lt;Text style={{ fontSize: 34, fontWeight: 'bold', color: '#20344B' }}&gt;共同前置五步，只改整理那一段&lt;/Text&gt;&#10;        &lt;/Box&gt;&#10;    &lt;/Box&gt;&#10;&#10;    &lt;Box style={{ height: 540, flexDirection: 'column', gap: 14, justifyContent: 'center' }}&gt;&#10;&#10;        &lt;Box style={{ flexDirection: 'row', alignItems: 'center' }}&gt;&#10;            &lt;Box style={{ width: 192, height: 100, background: '#EDF4FC', borderRadius: 8, flexDirection: 'column', gap: 6, justifyContent: 'center', alignItems: 'center' }}&gt;&#10;                &lt;Text style={{ fontSize: 12, color: '#546779' }}&gt;第 1 步&lt;/Text&gt;&#10;                &lt;Text style={{ fontSize: 15, fontWeight: 'bold', color: '#20344B' }}&gt;取真实回复&lt;/Text&gt;&#10;            &lt;/Box&gt;&#10;            &lt;Box style={{ width: 44, height: 100, justifyContent: 'center', alignItems: 'center' }}&gt;&#10;                &lt;Text style={{ fontSize: 24, color: '#276FBF' }}&gt;›&lt;/Text&gt;&#10;            &lt;/Box&gt;&#10;            &lt;Box style={{ width: 192, height: 100, background: '#FFF4E6', borderRadius: 8, flexDirection: 'column', gap: 6, justifyContent: 'center', alignItems: 'center' }}&gt;&#10;                &lt;Text style={{ fontSize: 12, color: '#CB6B28' }}&gt;第 2 步&lt;/Text&gt;&#10;                &lt;Text style={{ fontSize: 15, fontWeight: 'bold', color: '#20344B' }}&gt;形成说明&lt;/Text&gt;&#10;            &lt;/Box&gt;&#10;            &lt;Box style={{ width: 44, height: 100, justifyContent: 'center', alignItems: 'center' }}&gt;&#10;                &lt;Text style={{ fontSize: 24, color: '#276FBF' }}&gt;›&lt;/Text&gt;&#10;            &lt;/Box&gt;&#10;            &lt;Box style={{ width: 192, height: 100, background: '#EDF4FC', borderRadius: 8, flexDirection: 'column', gap: 6, justifyContent: 'center', alignItems: 'center' }}&gt;&#10;                &lt;Text style={{ fontSize: 12, color: '#546779' }}&gt;第 3 步&lt;/Text&gt;&#10;                &lt;Text style={{ fontSize: 15, fontWeight: 'bold', color: '#20344B' }}&gt;提交并确认&lt;/Text&gt;&#10;            &lt;/Box&gt;&#10;            &lt;Box style={{ width: 44, height: 100, justifyContent: 'center', alignItems: 'center' }}&gt;&#10;                &lt;Text style={{ fontSize: 24, color: '#276FBF' }}&gt;›&lt;/Text&gt;&#10;            &lt;/Box&gt;&#10;            &lt;Box style={{ width: 192, height: 100, background: '#EDF4FC', borderRadius: 8, flexDirection: 'column', gap: 6, justifyContent: 'center', alignItems: 'center' }}&gt;&#10;                &lt;Text style={{ fontSize: 12, color: '#546779' }}&gt;第 4 步&lt;/Text&gt;&#10;                &lt;Text style={{ fontSize: 15, fontWeight: 'bold', color: '#20344B' }}&gt;真实通知&lt;/Text&gt;&#10;            &lt;/Box&gt;&#10;            &lt;Box style={{ width: 44, height: 100, justifyContent: 'center', alignItems: 'center' }}&gt;&#10;                &lt;Text style={{ fontSize: 24, color: '#276FBF' }}&gt;›&lt;/Text&gt;&#10;            &lt;/Box&gt;&#10;            &lt;Box style={{ width: 192, height: 100, background: '#ECF7F2', borderRadius: 8, flexDirection: 'column', gap: 6, justifyContent: 'center', alignItems: 'center' }}&gt;&#10;                &lt;Text style={{ fontSize: 12, color: '#546779' }}&gt;第 5 步&lt;/Text&gt;&#10;                &lt;Text style={{ fontSize: 15, fontWeight: 'bold', color: '#20344B' }}&gt;回应问题&lt;/Text&gt;&#10;            &lt;/Box&gt;&#10;        &lt;/Box&gt;&#10;&#10;        &lt;Box style={{ height: 120, background: '#EDF4FC', borderRadius: 10, padding: '0 24px', flexDirection: 'row', alignItems: 'center', gap: 22 }}&gt;&#10;            &lt;Text style={{ fontSize: 88, fontWeight: 'bold', color: '#276FBF', lineHeight: 1.0 }}&gt;2&lt;/Text&gt;&#10;            &lt;Box style={{ flexDirection: 'column', gap: 6 }}&gt;&#10;                &lt;Text style={{ fontSize: 20, fontWeight: 'bold', color: '#20344B' }}&gt;唯一差异落在第 2 步：怎么整理这份说明&lt;/Text&gt;&#10;                &lt;Text style={{ fontSize: 15, color: '#546779' }}&gt;其余四步两组完全相同，差别才有归因依据。&lt;/Text&gt;&#10;            &lt;/Box&gt;&#10;        &lt;/Box&gt;&#10;&#10;        &lt;Box style={{ height: 88, background: '#F4F7FA', borderRadius: 10, padding: '0 20px', flexDirection: 'row', alignItems: 'center', gap: 16 }}&gt;&#10;            &lt;Box style={{ width: 130 }}&gt;&lt;Text style={{ fontSize: 17, fontWeight: 'bold', color: '#276FBF' }}&gt;基线&lt;/Text&gt;&lt;/Box&gt;&#10;            &lt;Box style={{ flex: 1 }}&gt;&lt;Text style={{ fontSize: 15, color: '#20344B' }}&gt;用自然语言自由整理一份交接说明，不调用交接整理子 Skill&lt;/Text&gt;&lt;/Box&gt;&#10;        &lt;/Box&gt;&#10;&#10;        &lt;Box style={{ height: 88, background: '#ECF7F2', borderRadius: 10, padding: '0 20px', flexDirection: 'row', alignItems: 'center', gap: 16 }}&gt;&#10;            &lt;Box style={{ width: 130 }}&gt;&lt;Text style={{ fontSize: 17, fontWeight: 'bold', color: '#26816B' }}&gt;对照&lt;/Text&gt;&lt;/Box&gt;&#10;            &lt;Box style={{ flex: 1 }}&gt;&lt;Text style={{ fontSize: 15, color: '#20344B' }}&gt;调用一次交接整理子 Skill，把已有事实与来源交给它，再依据建议检查说明&lt;/Text&gt;&lt;/Box&gt;&#10;        &lt;/Box&gt;&#10;&#10;        &lt;Text style={{ fontSize: 14, color: '#546779', lineHeight: 1.5 }}&gt;子 Skill 只返回建议：不提交世界动作、不替人写记忆、不接触答案；额外调用、长文本与阅读负担都计成本。&lt;/Text&gt;&#10;&#10;    &lt;/Box&gt;&#10;&#10;    &lt;Box style={{ height: 40, flexDirection: 'row', justifyContent: 'space-between', alignItems: 'center' }}&gt;&#10;        &lt;Text style={{ fontSize: 14, color: '#546779' }}&gt;4.2 设备维护班组交接&lt;/Text&gt;&#10;        &lt;Text style={{ fontSize: 14, color: '#546779' }}&gt;1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4.2.3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共同流程，只改变整理段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共同前置五步，只改整理那一段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609600" y="1438275"/>
            <a:ext cx="1828800" cy="952500"/>
          </a:xfrm>
          <a:prstGeom prst="roundRect">
            <a:avLst>
              <a:gd name="adj" fmla="val 8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1343025" y="1733550"/>
            <a:ext cx="371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第</a:t>
            </a: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步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1171575" y="193357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取真实回复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2609850" y="178117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2857500" y="1438275"/>
            <a:ext cx="1828800" cy="952500"/>
          </a:xfrm>
          <a:prstGeom prst="roundRect">
            <a:avLst>
              <a:gd name="adj" fmla="val 8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3590925" y="1733550"/>
            <a:ext cx="371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CB6B28"/>
                </a:solidFill>
                <a:latin typeface="Microsoft YaHei"/>
                <a:ea typeface="Microsoft YaHei"/>
              </a:rPr>
              <a:t>第</a:t>
            </a:r>
            <a:r>
              <a:rPr lang="en-US" sz="900">
                <a:solidFill>
                  <a:srgbClr val="CB6B28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900">
                <a:solidFill>
                  <a:srgbClr val="CB6B28"/>
                </a:solidFill>
                <a:latin typeface="Microsoft YaHei"/>
                <a:ea typeface="Microsoft YaHei"/>
              </a:rPr>
              <a:t>步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3486150" y="19335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形成说明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4857750" y="178117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5105400" y="1438275"/>
            <a:ext cx="1828800" cy="952500"/>
          </a:xfrm>
          <a:prstGeom prst="roundRect">
            <a:avLst>
              <a:gd name="adj" fmla="val 8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5838825" y="1733550"/>
            <a:ext cx="371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第</a:t>
            </a: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步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5667375" y="193357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提交并确认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7105650" y="178117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7353300" y="1438275"/>
            <a:ext cx="1828800" cy="952500"/>
          </a:xfrm>
          <a:prstGeom prst="roundRect">
            <a:avLst>
              <a:gd name="adj" fmla="val 8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8086725" y="1733550"/>
            <a:ext cx="371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第</a:t>
            </a: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步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7981950" y="19335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真实通知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9353550" y="178117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9601200" y="1438275"/>
            <a:ext cx="1828800" cy="952500"/>
          </a:xfrm>
          <a:prstGeom prst="roundRect">
            <a:avLst>
              <a:gd name="adj" fmla="val 8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10334625" y="1733550"/>
            <a:ext cx="371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第</a:t>
            </a: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步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10229850" y="19335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回应问题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609600" y="2524125"/>
            <a:ext cx="10972800" cy="1143000"/>
          </a:xfrm>
          <a:prstGeom prst="roundRect">
            <a:avLst>
              <a:gd name="adj" fmla="val 8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838200" y="2590800"/>
            <a:ext cx="523875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>
                <a:solidFill>
                  <a:srgbClr val="276FB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1571625" y="2867025"/>
            <a:ext cx="34766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唯一差异落在第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步：怎么整理这份说明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1571625" y="3152775"/>
            <a:ext cx="3476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其余四步两组完全相同，差别才有归因依据。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609600" y="3800475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800100" y="4124325"/>
            <a:ext cx="123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基线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2190750" y="4133850"/>
            <a:ext cx="9201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用自然语言自由整理一份交接说明，不调用交接整理子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609600" y="4772025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800100" y="5095875"/>
            <a:ext cx="123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对照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2190750" y="5105400"/>
            <a:ext cx="9201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调用一次交接整理子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，把已有事实与来源交给它，再依据建议检查说明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609600" y="5743575"/>
            <a:ext cx="109728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子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只返回建议：不提交世界动作、不替人写记忆、不接触答案；额外调用、长文本与阅读负担都计成本。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设备维护班组交接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13 / 24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52" name="" descr="&lt;Slide notes={`现在看那份整理说明到底长什么样。子技能把它压成五个栏目：现象、证据来源、已做、待做、不能确认。&#10;&#10;这里有个关键区分：五条事实和五个栏目不是一一配对的。我拿 K3 举例。「前次记录 E-17 只写了外观观察」这一条，放在「证据来源」里成立，因为它说明了资料的出处；放在「已做」里也成立，但它只能算前史，不能算本轮做的事；它同时还在提醒前史和本轮的边界。&#10;&#10;所以你把五个栏目都填满，并不等于五项事实都补齐了。没从设备拿到的内容还是缺口，不能照着框架把答案塞进去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2.3　共同流程，只改变整理段&lt;/Text&gt;&#10;            &lt;Text style={{ fontSize: 34, fontWeight: 'bold', color: '#20344B' }}&gt;五项表达框架，不是五项事实&lt;/Text&gt;&#10;        &lt;/Box&gt;&#10;    &lt;/Box&gt;&#10;&#10;    &lt;Box style={{ height: 540, flexDirection: 'row', gap: 32, alignItems: 'center' }}&gt;&#10;&#10;        &lt;Box style={{ width: 616, flexDirection: 'column', gap: 8 }}&gt;&#10;            &lt;Box style={{ height: 92, background: '#ECF7F2', borderRadius: 10, padding: '0 18px', flexDirection: 'row', alignItems: 'center', gap: 12 }}&gt;&#10;                &lt;Box style={{ width: 4, height: 44, background: '#26816B' }} /&gt;&#10;                &lt;Box style={{ width: 150 }}&gt;&lt;Text style={{ fontSize: 17, fontWeight: 'bold', color: '#20344B' }}&gt;现象&lt;/Text&gt;&lt;/Box&gt;&#10;                &lt;Box style={{ flex: 1 }}&gt;&lt;Text style={{ fontSize: 14, color: '#546779', lineHeight: 1.5 }}&gt;教学面板橙色指示灯间歇出现&lt;/Text&gt;&lt;/Box&gt;&#10;            &lt;/Box&gt;&#10;            &lt;Box style={{ height: 92, background: '#ECF7F2', borderRadius: 10, padding: '0 18px', flexDirection: 'row', alignItems: 'center', gap: 12 }}&gt;&#10;                &lt;Box style={{ width: 4, height: 44, background: '#26816B' }} /&gt;&#10;                &lt;Box style={{ width: 150 }}&gt;&lt;Text style={{ fontSize: 17, fontWeight: 'bold', color: '#20344B' }}&gt;证据来源&lt;/Text&gt;&lt;/Box&gt;&#10;                &lt;Box style={{ flex: 1 }}&gt;&lt;Text style={{ fontSize: 14, color: '#546779', lineHeight: 1.5 }}&gt;前次记录 E-17 与本次真实查询回复&lt;/Text&gt;&lt;/Box&gt;&#10;            &lt;/Box&gt;&#10;            &lt;Box style={{ height: 92, background: '#FFF4E6', borderRadius: 10, padding: '0 18px', flexDirection: 'row', alignItems: 'center', gap: 12 }}&gt;&#10;                &lt;Box style={{ width: 4, height: 44, background: '#CB6B28' }} /&gt;&#10;                &lt;Box style={{ width: 150 }}&gt;&lt;Text style={{ fontSize: 17, fontWeight: 'bold', color: '#20344B' }}&gt;已做&lt;/Text&gt;&lt;/Box&gt;&#10;                &lt;Box style={{ flex: 1 }}&gt;&lt;Text style={{ fontSize: 14, color: '#546779', lineHeight: 1.5 }}&gt;必须区分前史与本轮：前次只作外观观察&lt;/Text&gt;&lt;/Box&gt;&#10;            &lt;/Box&gt;&#10;            &lt;Box style={{ height: 92, background: '#ECF7F2', borderRadius: 10, padding: '0 18px', flexDirection: 'row', alignItems: 'center', gap: 12 }}&gt;&#10;                &lt;Box style={{ width: 4, height: 44, background: '#26816B' }} /&gt;&#10;                &lt;Box style={{ width: 150 }}&gt;&lt;Text style={{ fontSize: 17, fontWeight: 'bold', color: '#20344B' }}&gt;待做&lt;/Text&gt;&lt;/Box&gt;&#10;                &lt;Box style={{ flex: 1 }}&gt;&lt;Text style={{ fontSize: 14, color: '#546779', lineHeight: 1.5 }}&gt;恢复正常确认，仍待复核&lt;/Text&gt;&lt;/Box&gt;&#10;            &lt;/Box&gt;&#10;            &lt;Box style={{ height: 92, background: '#ECF7F2', borderRadius: 10, padding: '0 18px', flexDirection: 'row', alignItems: 'center', gap: 12 }}&gt;&#10;                &lt;Box style={{ width: 4, height: 44, background: '#26816B' }} /&gt;&#10;                &lt;Box style={{ width: 150 }}&gt;&lt;Text style={{ fontSize: 17, fontWeight: 'bold', color: '#20344B' }}&gt;不能确认&lt;/Text&gt;&lt;/Box&gt;&#10;                &lt;Box style={{ flex: 1 }}&gt;&lt;Text style={{ fontSize: 14, color: '#546779', lineHeight: 1.5 }}&gt;阈值、原因、零件与修法&lt;/Text&gt;&lt;/Box&gt;&#10;            &lt;/Box&gt;&#10;        &lt;/Box&gt;&#10;&#10;        &lt;Box style={{ width: 504, flexDirection: 'column', gap: 16 }}&gt;&#10;            &lt;Box style={{ height: 260, background: '#F4F7FA', borderRadius: 10, padding: '16px 20px', flexDirection: 'column', gap: 10 }}&gt;&#10;                &lt;Text style={{ fontSize: 16, fontWeight: 'bold', color: '#20344B' }}&gt;把 K3 放进框架会怎样&lt;/Text&gt;&#10;                &lt;Text style={{ fontSize: 14, color: '#546779', lineHeight: 1.5 }}&gt;「前次记录 E-17 只写了外观观察」同时落在好几栏里：&lt;/Text&gt;&#10;                &lt;Box style={{ flexDirection: 'row', alignItems: 'center', gap: 10 }}&gt;&#10;                    &lt;Box style={{ width: 6, height: 6, background: '#26816B', borderRadius: 3 }} /&gt;&#10;                    &lt;Text style={{ fontSize: 15, color: '#20344B' }}&gt;证据来源：说明了资料出处&lt;/Text&gt;&#10;                &lt;/Box&gt;&#10;                &lt;Box style={{ flexDirection: 'row', alignItems: 'center', gap: 10 }}&gt;&#10;                    &lt;Box style={{ width: 6, height: 6, background: '#26816B', borderRadius: 3 }} /&gt;&#10;                    &lt;Text style={{ fontSize: 15, color: '#20344B' }}&gt;已做事项：但只是前史，不是本轮&lt;/Text&gt;&#10;                &lt;/Box&gt;&#10;                &lt;Box style={{ flexDirection: 'row', alignItems: 'center', gap: 10 }}&gt;&#10;                    &lt;Box style={{ width: 6, height: 6, background: '#26816B', borderRadius: 3 }} /&gt;&#10;                    &lt;Text style={{ fontSize: 15, color: '#20344B' }}&gt;前史边界：本轮仍未做全面检查&lt;/Text&gt;&#10;                &lt;/Box&gt;&#10;            &lt;/Box&gt;&#10;            &lt;Box style={{ height: 140, background: '#FFF4E6', borderRadius: 10, padding: '16px 20px', flexDirection: 'column', gap: 8, justifyContent: 'center' }}&gt;&#10;                &lt;Text style={{ fontSize: 16, fontWeight: 'bold', color: '#CB6B28' }}&gt;凑齐五栏 ≠ 补齐五项事实&lt;/Text&gt;&#10;                &lt;Text style={{ fontSize: 14, color: '#546779', lineHeight: 1.6 }}&gt;尚未从设备取得的内容仍是缺口，不能照框架把答案交给子 Skill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2 设备维护班组交接&lt;/Text&gt;&#10;        &lt;Text style={{ fontSize: 14, color: '#546779' }}&gt;14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4.2.3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共同流程，只改变整理段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五项表达框架，不是五项事实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609600" y="1371600"/>
            <a:ext cx="5867400" cy="876300"/>
          </a:xfrm>
          <a:prstGeom prst="roundRect">
            <a:avLst>
              <a:gd name="adj" fmla="val 1087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58" name=""/>
          <p:cNvSpPr/>
          <p:nvPr/>
        </p:nvSpPr>
        <p:spPr>
          <a:xfrm rot="0" flipH="0" flipV="0">
            <a:off x="781050" y="1600200"/>
            <a:ext cx="3810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933450" y="1714500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现象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2476500" y="1685925"/>
            <a:ext cx="38290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教学面板橙色指示灯间歇出现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609600" y="2324100"/>
            <a:ext cx="5867400" cy="876300"/>
          </a:xfrm>
          <a:prstGeom prst="roundRect">
            <a:avLst>
              <a:gd name="adj" fmla="val 1087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62" name=""/>
          <p:cNvSpPr/>
          <p:nvPr/>
        </p:nvSpPr>
        <p:spPr>
          <a:xfrm rot="0" flipH="0" flipV="0">
            <a:off x="781050" y="2552700"/>
            <a:ext cx="3810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933450" y="2667000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证据来源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2476500" y="2638425"/>
            <a:ext cx="38290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前次记录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E-17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与本次真实查询回复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609600" y="3276600"/>
            <a:ext cx="5867400" cy="876300"/>
          </a:xfrm>
          <a:prstGeom prst="roundRect">
            <a:avLst>
              <a:gd name="adj" fmla="val 1087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66" name=""/>
          <p:cNvSpPr/>
          <p:nvPr/>
        </p:nvSpPr>
        <p:spPr>
          <a:xfrm rot="0" flipH="0" flipV="0">
            <a:off x="781050" y="350520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933450" y="3619500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已做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2476500" y="3590925"/>
            <a:ext cx="38290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必须区分前史与本轮：前次只作外观观察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609600" y="4229100"/>
            <a:ext cx="5867400" cy="876300"/>
          </a:xfrm>
          <a:prstGeom prst="roundRect">
            <a:avLst>
              <a:gd name="adj" fmla="val 1087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70" name=""/>
          <p:cNvSpPr/>
          <p:nvPr/>
        </p:nvSpPr>
        <p:spPr>
          <a:xfrm rot="0" flipH="0" flipV="0">
            <a:off x="781050" y="4457700"/>
            <a:ext cx="3810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933450" y="4572000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待做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2476500" y="4543425"/>
            <a:ext cx="38290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恢复正常确认，仍待复核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609600" y="5181600"/>
            <a:ext cx="5867400" cy="876300"/>
          </a:xfrm>
          <a:prstGeom prst="roundRect">
            <a:avLst>
              <a:gd name="adj" fmla="val 1087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74" name=""/>
          <p:cNvSpPr/>
          <p:nvPr/>
        </p:nvSpPr>
        <p:spPr>
          <a:xfrm rot="0" flipH="0" flipV="0">
            <a:off x="781050" y="5410200"/>
            <a:ext cx="3810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933450" y="5524500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不能确认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2476500" y="5495925"/>
            <a:ext cx="38290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阈值、原因、零件与修法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6781800" y="1733550"/>
            <a:ext cx="4800600" cy="2476500"/>
          </a:xfrm>
          <a:prstGeom prst="roundRect">
            <a:avLst>
              <a:gd name="adj" fmla="val 384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6972300" y="1885950"/>
            <a:ext cx="441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把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K3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放进框架会怎样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6972300" y="2171700"/>
            <a:ext cx="4419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「前次记录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E-17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只写了外观观察」同时落在好几栏里：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6972300" y="25717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7124700" y="2514600"/>
            <a:ext cx="171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证据来源：说明了资料出处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6972300" y="28384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7124700" y="2781300"/>
            <a:ext cx="214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已做事项：但只是前史，不是本轮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6972300" y="31051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7124700" y="3048000"/>
            <a:ext cx="2000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前史边界：本轮仍未做全面检查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6781800" y="4362450"/>
            <a:ext cx="4800600" cy="1333500"/>
          </a:xfrm>
          <a:prstGeom prst="roundRect">
            <a:avLst>
              <a:gd name="adj" fmla="val 714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6972300" y="4772025"/>
            <a:ext cx="441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凑齐五栏</a:t>
            </a: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补齐五项事实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6972300" y="5038725"/>
            <a:ext cx="44196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尚未从设备取得的内容仍是缺口，不能照框架把答案交给子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设备维护班组交接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14 / 24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91" name="" descr="&lt;Slide notes={`两组真正的差别只有一句话，我把它摊成四行来比。&#10;&#10;整理方式上，基线用自然语言自由整理；对照组调用一次交接整理子技能。输入材料上，基线用个人观察和设备回复；对照组把这些事实和来源一并交给子技能。调用成本上，基线没有额外整理调用；对照组多出调用、长文本和阅读负担。&#10;&#10;修改触发也不一样。对照组不是每轮都重来，只有出现新证据、需要实质修改时才重新整理。除此之外，后面的保存、通知、回应问题三步，两组完全一样。&#10;&#10;所以这条实验线是干净的：两组都依赖同一个子技能，只有调用规则不同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2.3　共同流程，只改变整理段&lt;/Text&gt;&#10;            &lt;Text style={{ fontSize: 34, fontWeight: 'bold', color: '#20344B' }}&gt;基线：自由整理　对照：显式整理&lt;/Text&gt;&#10;        &lt;/Box&gt;&#10;    &lt;/Box&gt;&#10;&#10;    &lt;Box style={{ height: 540, flexDirection: 'column', gap: 14, justifyContent: 'center' }}&gt;&#10;&#10;        &lt;Box style={{ flexDirection: 'row', gap: 32 }}&gt;&#10;&#10;            &lt;Box style={{ width: 560, flexDirection: 'column', gap: 12 }}&gt;&#10;                &lt;Box style={{ height: 60, background: '#EDF4FC', borderRadius: 10, justifyContent: 'center', alignItems: 'center' }}&gt;&#10;                    &lt;Text style={{ fontSize: 18, fontWeight: 'bold', color: '#276FBF' }}&gt;基线　自由整理交接说明&lt;/Text&gt;&#10;                &lt;/Box&gt;&#10;                &lt;Box style={{ height: 74, background: '#F4F7FA', borderRadius: 8, padding: '0 16px', flexDirection: 'column', gap: 2, justifyContent: 'center' }}&gt;&#10;                    &lt;Text style={{ fontSize: 12, color: '#546779' }}&gt;整理方式&lt;/Text&gt;&#10;                    &lt;Text style={{ fontSize: 15, color: '#20344B' }}&gt;用自然语言自由整理一份说明&lt;/Text&gt;&#10;                &lt;/Box&gt;&#10;                &lt;Box style={{ height: 74, background: '#F4F7FA', borderRadius: 8, padding: '0 16px', flexDirection: 'column', gap: 2, justifyContent: 'center' }}&gt;&#10;                    &lt;Text style={{ fontSize: 12, color: '#546779' }}&gt;输入材料&lt;/Text&gt;&#10;                    &lt;Text style={{ fontSize: 15, color: '#20344B' }}&gt;个人观察与已取得的设备回复&lt;/Text&gt;&#10;                &lt;/Box&gt;&#10;                &lt;Box style={{ height: 74, background: '#F4F7FA', borderRadius: 8, padding: '0 16px', flexDirection: 'column', gap: 2, justifyContent: 'center' }}&gt;&#10;                    &lt;Text style={{ fontSize: 12, color: '#546779' }}&gt;调用成本&lt;/Text&gt;&#10;                    &lt;Text style={{ fontSize: 15, color: '#20344B' }}&gt;无额外整理调用&lt;/Text&gt;&#10;                &lt;/Box&gt;&#10;                &lt;Box style={{ height: 74, background: '#F4F7FA', borderRadius: 8, padding: '0 16px', flexDirection: 'column', gap: 2, justifyContent: 'center' }}&gt;&#10;                    &lt;Text style={{ fontSize: 12, color: '#546779' }}&gt;修改触发&lt;/Text&gt;&#10;                    &lt;Text style={{ fontSize: 15, color: '#20344B' }}&gt;自行判断，不受调用规则约束&lt;/Text&gt;&#10;                &lt;/Box&gt;&#10;            &lt;/Box&gt;&#10;&#10;            &lt;Box style={{ width: 560, flexDirection: 'column', gap: 12 }}&gt;&#10;                &lt;Box style={{ height: 60, background: '#ECF7F2', borderRadius: 10, justifyContent: 'center', alignItems: 'center' }}&gt;&#10;                    &lt;Text style={{ fontSize: 18, fontWeight: 'bold', color: '#26816B' }}&gt;对照　调用一次整理子 Skill&lt;/Text&gt;&#10;                &lt;/Box&gt;&#10;                &lt;Box style={{ height: 74, background: '#ECF7F2', borderRadius: 8, padding: '0 16px', flexDirection: 'column', gap: 2, justifyContent: 'center' }}&gt;&#10;                    &lt;Text style={{ fontSize: 12, color: '#546779' }}&gt;整理方式&lt;/Text&gt;&#10;                    &lt;Text style={{ fontSize: 15, color: '#20344B' }}&gt;调用一次五项整理子 Skill&lt;/Text&gt;&#10;                &lt;/Box&gt;&#10;                &lt;Box style={{ height: 74, background: '#ECF7F2', borderRadius: 8, padding: '0 16px', flexDirection: 'column', gap: 2, justifyContent: 'center' }}&gt;&#10;                    &lt;Text style={{ fontSize: 12, color: '#546779' }}&gt;输入材料&lt;/Text&gt;&#10;                    &lt;Text style={{ fontSize: 15, color: '#20344B' }}&gt;已有事实与来源一并交给它&lt;/Text&gt;&#10;                &lt;/Box&gt;&#10;                &lt;Box style={{ height: 74, background: '#ECF7F2', borderRadius: 8, padding: '0 16px', flexDirection: 'column', gap: 2, justifyContent: 'center' }}&gt;&#10;                    &lt;Text style={{ fontSize: 12, color: '#546779' }}&gt;调用成本&lt;/Text&gt;&#10;                    &lt;Text style={{ fontSize: 15, color: '#20344B' }}&gt;额外调用、长文本与阅读负担&lt;/Text&gt;&#10;                &lt;/Box&gt;&#10;                &lt;Box style={{ height: 74, background: '#ECF7F2', borderRadius: 8, padding: '0 16px', flexDirection: 'column', gap: 2, justifyContent: 'center' }}&gt;&#10;                    &lt;Text style={{ fontSize: 12, color: '#546779' }}&gt;修改触发&lt;/Text&gt;&#10;                    &lt;Text style={{ fontSize: 15, color: '#20344B' }}&gt;有新证据导致实质修改才重来&lt;/Text&gt;&#10;                &lt;/Box&gt;&#10;            &lt;/Box&gt;&#10;&#10;        &lt;/Box&gt;&#10;&#10;        &lt;Box style={{ height: 90, background: '#F4F7FA', borderRadius: 10, padding: '12px 20px', flexDirection: 'column', gap: 6, justifyContent: 'center' }}&gt;&#10;            &lt;Text style={{ fontSize: 15, fontWeight: 'bold', color: '#20344B' }}&gt;两组含相同子 Skill 依赖，仅调用规则不同&lt;/Text&gt;&#10;            &lt;Text style={{ fontSize: 14, color: '#546779', lineHeight: 1.5 }}&gt;子 Skill 把输入整理为现象／证据来源／已做／待做／不能确认，缺内容标未知，只返回建议，不提交世界动作、不替人写记忆、不接触答案。&lt;/Text&gt;&#10;        &lt;/Box&gt;&#10;&#10;    &lt;/Box&gt;&#10;&#10;    &lt;Box style={{ height: 40, flexDirection: 'row', justifyContent: 'space-between', alignItems: 'center' }}&gt;&#10;        &lt;Text style={{ fontSize: 14, color: '#546779' }}&gt;4.2 设备维护班组交接&lt;/Text&gt;&#10;        &lt;Text style={{ fontSize: 14, color: '#546779' }}&gt;15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85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4.2.3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共同流程，只改变整理段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857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基线：自由整理　对照：显式整理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609600" y="1295400"/>
            <a:ext cx="5334000" cy="571500"/>
          </a:xfrm>
          <a:prstGeom prst="roundRect">
            <a:avLst>
              <a:gd name="adj" fmla="val 1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2333625" y="1476375"/>
            <a:ext cx="1885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基线　自由整理交接说明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609600" y="1981200"/>
            <a:ext cx="5334000" cy="704850"/>
          </a:xfrm>
          <a:prstGeom prst="roundRect">
            <a:avLst>
              <a:gd name="adj" fmla="val 108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762000" y="2171700"/>
            <a:ext cx="5029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整理方式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762000" y="2333625"/>
            <a:ext cx="502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用自然语言自由整理一份说明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609600" y="2800350"/>
            <a:ext cx="5334000" cy="704850"/>
          </a:xfrm>
          <a:prstGeom prst="roundRect">
            <a:avLst>
              <a:gd name="adj" fmla="val 108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762000" y="2990850"/>
            <a:ext cx="5029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输入材料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762000" y="3152775"/>
            <a:ext cx="502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个人观察与已取得的设备回复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609600" y="3619500"/>
            <a:ext cx="5334000" cy="704850"/>
          </a:xfrm>
          <a:prstGeom prst="roundRect">
            <a:avLst>
              <a:gd name="adj" fmla="val 108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762000" y="3810000"/>
            <a:ext cx="5029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调用成本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762000" y="3971925"/>
            <a:ext cx="502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无额外整理调用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609600" y="4438650"/>
            <a:ext cx="5334000" cy="704850"/>
          </a:xfrm>
          <a:prstGeom prst="roundRect">
            <a:avLst>
              <a:gd name="adj" fmla="val 108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762000" y="4629150"/>
            <a:ext cx="5029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修改触发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762000" y="4791075"/>
            <a:ext cx="502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自行判断，不受调用规则约束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6248400" y="1295400"/>
            <a:ext cx="5334000" cy="571500"/>
          </a:xfrm>
          <a:prstGeom prst="roundRect">
            <a:avLst>
              <a:gd name="adj" fmla="val 1666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7858125" y="1476375"/>
            <a:ext cx="2124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对照　调用一次整理子</a:t>
            </a: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6248400" y="1981200"/>
            <a:ext cx="5334000" cy="704850"/>
          </a:xfrm>
          <a:prstGeom prst="roundRect">
            <a:avLst>
              <a:gd name="adj" fmla="val 1081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6400800" y="2171700"/>
            <a:ext cx="5029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整理方式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6400800" y="2333625"/>
            <a:ext cx="502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调用一次五项整理子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6248400" y="2800350"/>
            <a:ext cx="5334000" cy="704850"/>
          </a:xfrm>
          <a:prstGeom prst="roundRect">
            <a:avLst>
              <a:gd name="adj" fmla="val 1081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6400800" y="2990850"/>
            <a:ext cx="5029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输入材料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6400800" y="3152775"/>
            <a:ext cx="502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已有事实与来源一并交给它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6248400" y="3619500"/>
            <a:ext cx="5334000" cy="704850"/>
          </a:xfrm>
          <a:prstGeom prst="roundRect">
            <a:avLst>
              <a:gd name="adj" fmla="val 1081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6400800" y="3810000"/>
            <a:ext cx="5029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调用成本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6400800" y="3971925"/>
            <a:ext cx="502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额外调用、长文本与阅读负担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6248400" y="4438650"/>
            <a:ext cx="5334000" cy="704850"/>
          </a:xfrm>
          <a:prstGeom prst="roundRect">
            <a:avLst>
              <a:gd name="adj" fmla="val 1081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6400800" y="4629150"/>
            <a:ext cx="5029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修改触发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6400800" y="4791075"/>
            <a:ext cx="502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有新证据导致实质修改才重来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609600" y="5276850"/>
            <a:ext cx="10972800" cy="85725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800100" y="5467350"/>
            <a:ext cx="10591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两组含相同子</a:t>
            </a:r>
            <a:r>
              <a:rPr lang="en-US" sz="112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依赖，仅调用规则不同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800100" y="5695950"/>
            <a:ext cx="105918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子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把输入整理为现象／证据来源／已做／待做／不能确认，缺内容标未知，只返回建议，不提交世界动作、不替人写记忆、不接触答案。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设备维护班组交接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15 / 24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29" name="" descr="&lt;Slide notes={`交接最难的部分不是让对方听到，而是让对方真的用上。&#10;&#10;「收到」和「正确使用」必须同时成立才算数。我把这两个条件画成并列的两半，中间用 AND 连起来：只有一边成立，这项事实就不计分。&#10;&#10;分母固定是五，因为事实只有 K1 到 K5 五项，而且每项只计一次，来源还要能追得回去。&#10;&#10;有几种情况要排除掉：有人凭猜测说对了，但没有经交接得到，这个不算；有人早就自己查过、后来才收到，那要标成「交接前已知」，也不当作新增到达。如果来源混合、没法判断，就单列出来，但分母仍然是五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④　　4.2.4 — 4.2.7&lt;/Text&gt;&#10;&#10;        &lt;Text style={{ fontSize: 56, fontWeight: 'bold', color: '#20344B', lineHeight: 1.15 }}&gt;收到与正确使用，缺一不可&lt;/Text&gt;&#10;&#10;        &lt;Box style={{ width: 72, height: 4, background: '#276FBF' }} /&gt;&#10;&#10;        &lt;Text style={{ fontSize: 18, color: '#546779', lineHeight: 1.7, width: 900 }}&gt;交接到达要看两件事同时成立；丢失发生在哪一环，解释就只能停在哪一环。&lt;/Text&gt;&#10;&#10;        &lt;Box style={{ flexDirection: 'row', alignItems: 'center', marginTop: 10 }}&gt;&#10;            &lt;Box style={{ width: 340, height: 76, background: '#ECF7F2', borderRadius: 8, justifyContent: 'center', alignItems: 'center' }}&gt;&#10;                &lt;Text style={{ fontSize: 20, color: '#26816B' }}&gt;经交接渠道实际收到&lt;/Text&gt;&#10;            &lt;/Box&gt;&#10;            &lt;Box style={{ width: 96, height: 76, justifyContent: 'center', alignItems: 'center' }}&gt;&#10;                &lt;Text style={{ fontSize: 24, fontWeight: 'bold', color: '#20344B' }}&gt;AND&lt;/Text&gt;&#10;            &lt;/Box&gt;&#10;            &lt;Box style={{ width: 340, height: 76, background: '#ECF7F2', borderRadius: 8, justifyContent: 'center', alignItems: 'center' }}&gt;&#10;                &lt;Text style={{ fontSize: 20, color: '#26816B' }}&gt;正确复述或使用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2 设备维护班组交接&lt;/Text&gt;&#10;        &lt;Text style={{ fontSize: 14, color: '#546779' }}&gt;16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609600" y="176212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④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4.2.4 — 4.2.7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609600" y="214312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收到与正确使用，缺一不可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609600" y="309562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609600" y="334327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交接到达要看两件事同时成立；丢失发生在哪一环，解释就只能停在哪一环。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609600" y="4000500"/>
            <a:ext cx="3238500" cy="723900"/>
          </a:xfrm>
          <a:prstGeom prst="roundRect">
            <a:avLst>
              <a:gd name="adj" fmla="val 1052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1371600" y="4248150"/>
            <a:ext cx="1714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26816B"/>
                </a:solidFill>
                <a:latin typeface="Microsoft YaHei"/>
                <a:ea typeface="Microsoft YaHei"/>
              </a:rPr>
              <a:t>经交接渠道实际收到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4029075" y="4229100"/>
            <a:ext cx="5524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20344B"/>
                </a:solidFill>
                <a:latin typeface="Microsoft YaHei"/>
                <a:ea typeface="Microsoft YaHei"/>
              </a:rPr>
              <a:t>AND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4762500" y="4000500"/>
            <a:ext cx="3238500" cy="723900"/>
          </a:xfrm>
          <a:prstGeom prst="roundRect">
            <a:avLst>
              <a:gd name="adj" fmla="val 1052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5715000" y="4248150"/>
            <a:ext cx="133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26816B"/>
                </a:solidFill>
                <a:latin typeface="Microsoft YaHei"/>
                <a:ea typeface="Microsoft YaHei"/>
              </a:rPr>
              <a:t>正确复述或使用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设备维护班组交接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 / 24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42" name="" descr="&lt;Slide notes={`要让接班这件事真的发生，得让宋青真的参与进来，而不是被动接收。&#10;&#10;具体是四件事。第一，宋青收到通知后要去记录台读那条记录，然后向虞诚复述事实和不确定的地方，有疑问就追问。第二，他要接近设备，提交规定的现场资料复核请求，并在实际地点提交一次外观核对动作。&#10;&#10;第三，韩平的角色是质询。谁要是说「已完成」或者「已恢复」，他就要对方指出来源；缺证据的，就保留为待办事项。&#10;&#10;第四，也是最容易被忽略的一点：如果没有新的事实，合格的结果本来就允许是「资料已经交接，设备仍未确认恢复」。&#10;&#10;这里还牵涉一个边界：正常接班复核是规定任务，不能因为交班员已经查过就当成重复劳动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2.4　让对方真正参与&lt;/Text&gt;&#10;            &lt;Text style={{ fontSize: 34, fontWeight: 'bold', color: '#20344B' }}&gt;让对方真正参与进来&lt;/Text&gt;&#10;        &lt;/Box&gt;&#10;    &lt;/Box&gt;&#10;&#10;    &lt;Box style={{ height: 540, flexDirection: 'column', gap: 14, justifyContent: 'center' }}&gt;&#10;&#10;        &lt;Box style={{ flexDirection: 'row', gap: 14, height: 88, background: '#F4F7FA', borderRadius: 10, padding: '0 18px', alignItems: 'center' }}&gt;&#10;            &lt;Box style={{ width: 34, height: 34, background: '#26816B', borderRadius: 17, justifyContent: 'center', alignItems: 'center' }}&gt;&#10;                &lt;Text style={{ fontSize: 15, color: '#FFFFFF' }}&gt;1&lt;/Text&gt;&#10;            &lt;/Box&gt;&#10;            &lt;Box style={{ flex: 1 }}&gt;&lt;Text style={{ fontSize: 16, color: '#20344B' }}&gt;收到交班消息后查询已保存记录，向虞诚复述事实和不确定性，有疑问继续追问&lt;/Text&gt;&lt;/Box&gt;&#10;            &lt;Box style={{ width: 120 }}&gt;&lt;Text style={{ fontSize: 14, color: '#26816B' }}&gt;宋青&lt;/Text&gt;&lt;/Box&gt;&#10;        &lt;/Box&gt;&#10;&#10;        &lt;Box style={{ flexDirection: 'row', gap: 14, height: 88, background: '#F4F7FA', borderRadius: 10, padding: '0 18px', alignItems: 'center' }}&gt;&#10;            &lt;Box style={{ width: 34, height: 34, background: '#26816B', borderRadius: 17, justifyContent: 'center', alignItems: 'center' }}&gt;&#10;                &lt;Text style={{ fontSize: 15, color: '#FFFFFF' }}&gt;2&lt;/Text&gt;&#10;            &lt;/Box&gt;&#10;            &lt;Box style={{ flex: 1 }}&gt;&lt;Text style={{ fontSize: 16, color: '#20344B' }}&gt;接近设备，提交规定的现场资料复核请求，并在实际地点提交一次外观核对 ACT&lt;/Text&gt;&lt;/Box&gt;&#10;            &lt;Box style={{ width: 120 }}&gt;&lt;Text style={{ fontSize: 14, color: '#26816B' }}&gt;宋青&lt;/Text&gt;&lt;/Box&gt;&#10;        &lt;/Box&gt;&#10;&#10;        &lt;Box style={{ flexDirection: 'row', gap: 14, height: 88, background: '#FFF4E6', borderRadius: 10, padding: '0 18px', alignItems: 'center' }}&gt;&#10;            &lt;Box style={{ width: 34, height: 34, background: '#CB6B28', borderRadius: 17, justifyContent: 'center', alignItems: 'center' }}&gt;&#10;                &lt;Text style={{ fontSize: 15, color: '#FFFFFF' }}&gt;3&lt;/Text&gt;&#10;            &lt;/Box&gt;&#10;            &lt;Box style={{ flex: 1 }}&gt;&lt;Text style={{ fontSize: 16, color: '#20344B' }}&gt;收到「已完成／已恢复」或冲突声明时，要求指出来源；缺证据的一律保留为待办&lt;/Text&gt;&lt;/Box&gt;&#10;            &lt;Box style={{ width: 120 }}&gt;&lt;Text style={{ fontSize: 14, color: '#CB6B28' }}&gt;韩平&lt;/Text&gt;&lt;/Box&gt;&#10;        &lt;/Box&gt;&#10;&#10;        &lt;Box style={{ flexDirection: 'row', gap: 14, height: 88, background: '#FFF4E6', borderRadius: 10, padding: '0 18px', alignItems: 'center' }}&gt;&#10;            &lt;Box style={{ width: 34, height: 34, background: '#CB6B28', borderRadius: 17, justifyContent: 'center', alignItems: 'center' }}&gt;&#10;                &lt;Text style={{ fontSize: 15, color: '#FFFFFF' }}&gt;4&lt;/Text&gt;&#10;            &lt;/Box&gt;&#10;            &lt;Box style={{ flex: 1 }}&gt;&lt;Text style={{ fontSize: 16, color: '#20344B' }}&gt;没有新设备事实时，合格结果可以是「资料已交接，设备仍未确认恢复」&lt;/Text&gt;&lt;/Box&gt;&#10;            &lt;Box style={{ width: 120 }}&gt;&lt;Text style={{ fontSize: 14, color: '#CB6B28' }}&gt;结果口径&lt;/Text&gt;&lt;/Box&gt;&#10;        &lt;/Box&gt;&#10;&#10;        &lt;Box style={{ height: 96, background: '#F4F7FA', borderRadius: 10, padding: '14px 20px', flexDirection: 'column', gap: 6, justifyContent: 'center' }}&gt;&#10;            &lt;Text style={{ fontSize: 15, fontWeight: 'bold', color: '#20344B' }}&gt;规定复核不算重复劳动&lt;/Text&gt;&#10;            &lt;Text style={{ fontSize: 14, color: '#546779', lineHeight: 1.5 }}&gt;不能因为交班员已查过就算重复；本案不自动修复，若研究状态变化，应另定触发与证据、重新设计对照。&lt;/Text&gt;&#10;        &lt;/Box&gt;&#10;&#10;    &lt;/Box&gt;&#10;&#10;    &lt;Box style={{ height: 40, flexDirection: 'row', justifyContent: 'space-between', alignItems: 'center' }}&gt;&#10;        &lt;Text style={{ fontSize: 14, color: '#546779' }}&gt;4.2 设备维护班组交接&lt;/Text&gt;&#10;        &lt;Text style={{ fontSize: 14, color: '#546779' }}&gt;17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4.2.4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让对方真正参与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让对方真正参与进来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609600" y="1314450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48" name=""/>
          <p:cNvSpPr/>
          <p:nvPr/>
        </p:nvSpPr>
        <p:spPr>
          <a:xfrm rot="0" flipH="0" flipV="0">
            <a:off x="781050" y="157162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904875" y="1647825"/>
            <a:ext cx="8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1238250" y="1638300"/>
            <a:ext cx="8896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收到交班消息后查询已保存记录，向虞诚复述事实和不确定性，有疑问继续追问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10267950" y="1657350"/>
            <a:ext cx="114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宋青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609600" y="2286000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53" name=""/>
          <p:cNvSpPr/>
          <p:nvPr/>
        </p:nvSpPr>
        <p:spPr>
          <a:xfrm rot="0" flipH="0" flipV="0">
            <a:off x="781050" y="254317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904875" y="2619375"/>
            <a:ext cx="8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1238250" y="2609850"/>
            <a:ext cx="8896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接近设备，提交规定的现场资料复核请求，并在实际地点提交一次外观核对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ACT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10267950" y="2628900"/>
            <a:ext cx="114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宋青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609600" y="3257550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58" name=""/>
          <p:cNvSpPr/>
          <p:nvPr/>
        </p:nvSpPr>
        <p:spPr>
          <a:xfrm rot="0" flipH="0" flipV="0">
            <a:off x="781050" y="351472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904875" y="3590925"/>
            <a:ext cx="8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1238250" y="3581400"/>
            <a:ext cx="8896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收到「已完成／已恢复」或冲突声明时，要求指出来源；缺证据的一律保留为待办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10267950" y="3600450"/>
            <a:ext cx="114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韩平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609600" y="4229100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63" name=""/>
          <p:cNvSpPr/>
          <p:nvPr/>
        </p:nvSpPr>
        <p:spPr>
          <a:xfrm rot="0" flipH="0" flipV="0">
            <a:off x="781050" y="448627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904875" y="4562475"/>
            <a:ext cx="8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1238250" y="4552950"/>
            <a:ext cx="8896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没有新设备事实时，合格结果可以是「资料已交接，设备仍未确认恢复」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10267950" y="4572000"/>
            <a:ext cx="114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结果口径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609600" y="5200650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800100" y="5419725"/>
            <a:ext cx="10591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规定复核不算重复劳动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800100" y="5648325"/>
            <a:ext cx="105918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不能因为交班员已查过就算重复；本案不自动修复，若研究状态变化，应另定触发与证据、重新设计对照。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设备维护班组交接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17 / 24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72" name="" descr="&lt;Slide notes={`这个案例的主指标叫关键交接信息到达率，我把它拆成一眼能记住的形状。&#10;&#10;分子上，一项事实要同时满足两个条件：宋青经交接渠道实际收到了，而且他能正确复述或使用。中间是 AND，缺一个就不算。&#10;&#10;分母固定是五，因为事实就五项，每项只计一次，来源还要能追溯回去。时间范围也是固定的：从首次交接开始，到窗口结束为止。&#10;&#10;有几个情形要排除。凭猜测说对的，没有交接来源，不计。先自查、后来才收到的，标成「交接前已知」，不算新增到达。来源混合、分不清是哪条路径的，单列出来，分母仍然按五项算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2.5　收到与正确使用，缺一不可&lt;/Text&gt;&#10;            &lt;Text style={{ fontSize: 34, fontWeight: 'bold', color: '#20344B' }}&gt;关键交接信息到达率&lt;/Text&gt;&#10;        &lt;/Box&gt;&#10;    &lt;/Box&gt;&#10;&#10;    &lt;Box style={{ height: 540, flexDirection: 'row', gap: 32, alignItems: 'center' }}&gt;&#10;&#10;        &lt;Box style={{ width: 400, height: 400, background: '#EDF4FC', borderRadius: 12, flexDirection: 'column', gap: 10, justifyContent: 'center', alignItems: 'center' }}&gt;&#10;            &lt;Text style={{ fontSize: 14, color: '#546779' }}&gt;分母固定&lt;/Text&gt;&#10;            &lt;Text style={{ fontSize: 88, fontWeight: 'bold', color: '#276FBF', lineHeight: 1.0 }}&gt;÷ 5&lt;/Text&gt;&#10;            &lt;Text style={{ fontSize: 15, color: '#546779', lineHeight: 1.6 }}&gt;K1—K5 五项事实&lt;/Text&gt;&#10;            &lt;Box style={{ width: 240, height: 1, background: '#B5C7D8' }} /&gt;&#10;            &lt;Text style={{ fontSize: 14, color: '#546779', lineHeight: 1.5 }}&gt;每项事实只计一次，来源必须可追；窗口自首次交接开始至 W 结束。&lt;/Text&gt;&#10;        &lt;/Box&gt;&#10;&#10;        &lt;Box style={{ width: 720, flexDirection: 'column', gap: 16 }}&gt;&#10;&#10;            &lt;Box style={{ flexDirection: 'row', alignItems: 'center' }}&gt;&#10;                &lt;Box style={{ flex: 1, height: 130, background: '#ECF7F2', borderRadius: 10, flexDirection: 'column', gap: 8, justifyContent: 'center', alignItems: 'center' }}&gt;&#10;                    &lt;Text style={{ fontSize: 18, fontWeight: 'bold', color: '#20344B' }}&gt;经交接渠道实际收到&lt;/Text&gt;&#10;                    &lt;Text style={{ fontSize: 13, color: '#546779', textAlign: 'center' }}&gt;在记录台读到已提交的正文&lt;/Text&gt;&#10;                &lt;/Box&gt;&#10;                &lt;Box style={{ width: 80, height: 130, justifyContent: 'center', alignItems: 'center' }}&gt;&#10;                    &lt;Text style={{ fontSize: 22, fontWeight: 'bold', color: '#20344B' }}&gt;AND&lt;/Text&gt;&#10;                &lt;/Box&gt;&#10;                &lt;Box style={{ flex: 1, height: 130, background: '#ECF7F2', borderRadius: 10, flexDirection: 'column', gap: 8, justifyContent: 'center', alignItems: 'center' }}&gt;&#10;                    &lt;Text style={{ fontSize: 18, fontWeight: 'bold', color: '#20344B' }}&gt;正确复述或使用&lt;/Text&gt;&#10;                    &lt;Text style={{ fontSize: 13, color: '#546779', textAlign: 'center' }}&gt;能说清，也能用对&lt;/Text&gt;&#10;                &lt;/Box&gt;&#10;            &lt;/Box&gt;&#10;&#10;            &lt;Box style={{ height: 110, background: '#FFF4E6', borderRadius: 10, padding: '14px 20px', flexDirection: 'column', gap: 6, justifyContent: 'center' }}&gt;&#10;                &lt;Text style={{ fontSize: 16, fontWeight: 'bold', color: '#CB6B28' }}&gt;这些不计入分子&lt;/Text&gt;&#10;                &lt;Text style={{ fontSize: 14, color: '#20344B', lineHeight: 1.6 }}&gt;正确猜测但没有交接来源；先自查、后收到者标「交接前已知」，不是新增到达。&lt;/Text&gt;&#10;            &lt;/Box&gt;&#10;&#10;            &lt;Box style={{ height: 100, background: '#F4F7FA', borderRadius: 10, padding: '14px 20px', flexDirection: 'column', gap: 6, justifyContent: 'center' }}&gt;&#10;                &lt;Text style={{ fontSize: 15, fontWeight: 'bold', color: '#20344B' }}&gt;分不清的情形单列&lt;/Text&gt;&#10;                &lt;Text style={{ fontSize: 14, color: '#546779', lineHeight: 1.6 }}&gt;来源混合或无法判断时单独列出，分母仍是五项；交接未开始仍报 0/5 并标「未形成交接」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2 设备维护班组交接&lt;/Text&gt;&#10;        &lt;Text style={{ fontSize: 14, color: '#546779' }}&gt;18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4.2.5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收到与正确使用，缺一不可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关键交接信息到达率</a:t>
            </a:r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609600" y="1809750"/>
            <a:ext cx="3810000" cy="3810000"/>
          </a:xfrm>
          <a:prstGeom prst="roundRect">
            <a:avLst>
              <a:gd name="adj" fmla="val 3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2247900" y="25527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分母固定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1809750" y="2809875"/>
            <a:ext cx="1409700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>
                <a:solidFill>
                  <a:srgbClr val="276FBF"/>
                </a:solidFill>
                <a:latin typeface="Microsoft YaHei"/>
                <a:ea typeface="Microsoft YaHei"/>
              </a:rPr>
              <a:t>÷ 5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1952625" y="3914775"/>
            <a:ext cx="11239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K1—K5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五项事实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1371600" y="4286250"/>
            <a:ext cx="22860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609600" y="4391025"/>
            <a:ext cx="38100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每项事实只计一次，来源必须可追；窗口自首次交接开始至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W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结束。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4724400" y="1943100"/>
            <a:ext cx="3048000" cy="1238250"/>
          </a:xfrm>
          <a:prstGeom prst="roundRect">
            <a:avLst>
              <a:gd name="adj" fmla="val 769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5476875" y="2343150"/>
            <a:ext cx="1543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经交接渠道实际收到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5505450" y="2628900"/>
            <a:ext cx="14859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在记录台读到已提交的正文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7905750" y="2438400"/>
            <a:ext cx="504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0344B"/>
                </a:solidFill>
                <a:latin typeface="Microsoft YaHei"/>
                <a:ea typeface="Microsoft YaHei"/>
              </a:rPr>
              <a:t>AND</a:t>
            </a:r>
            <a:endParaRPr/>
          </a:p>
        </p:txBody>
      </p:sp>
      <p:sp>
        <p:nvSpPr>
          <p:cNvPr id="287" name=""/>
          <p:cNvSpPr/>
          <p:nvPr/>
        </p:nvSpPr>
        <p:spPr>
          <a:xfrm rot="0" flipH="0" flipV="0">
            <a:off x="8534400" y="1943100"/>
            <a:ext cx="3048000" cy="1238250"/>
          </a:xfrm>
          <a:prstGeom prst="roundRect">
            <a:avLst>
              <a:gd name="adj" fmla="val 769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9458325" y="2343150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正确复述或使用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9563100" y="2628900"/>
            <a:ext cx="9906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能说清，也能用对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4724400" y="3333750"/>
            <a:ext cx="6858000" cy="1047750"/>
          </a:xfrm>
          <a:prstGeom prst="roundRect">
            <a:avLst>
              <a:gd name="adj" fmla="val 909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4914900" y="3609975"/>
            <a:ext cx="6477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这些不计入分子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4914900" y="3857625"/>
            <a:ext cx="64770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正确猜测但没有交接来源；先自查、后收到者标「交接前已知」，不是新增到达。</a:t>
            </a:r>
            <a:endParaRPr/>
          </a:p>
        </p:txBody>
      </p:sp>
      <p:sp>
        <p:nvSpPr>
          <p:cNvPr id="293" name=""/>
          <p:cNvSpPr/>
          <p:nvPr/>
        </p:nvSpPr>
        <p:spPr>
          <a:xfrm rot="0" flipH="0" flipV="0">
            <a:off x="4724400" y="4533900"/>
            <a:ext cx="68580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4914900" y="4772025"/>
            <a:ext cx="6477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分不清的情形单列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4914900" y="5000625"/>
            <a:ext cx="64770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来源混合或无法判断时单独列出，分母仍是五项；交接未开始仍报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0/5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并标「未形成交接」。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设备维护班组交接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 / 24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298" name="" descr="&lt;Slide notes={`成绩不能只看一个数字，这一案一共要报五个指标，每个都有自己要守的边界。&#10;&#10;主指标是到达率，我刚才已经拆过。第二个是最终掌握率，它把独立查询补回来的内容也算进去，但要单独报，绝不能回填交接分数。&#10;&#10;第三个是无依据完成声明率：缺规定证据的完成主张，占全部完成主张的比例；如果没有出现任何声明，就记不适用，而不是记零。&#10;&#10;第四个是不必要重复检查率，分子是没有新证据、没有变化、也没有明确复核要求的那种重复。规定复核和有新疑问的追查都不算。&#10;&#10;第五个是有效交接调用成本，分母是五项全过、且保留 K5 含义的那些有效交接任务。物理尝试另外列，零成功时不能计算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2.5　收到与正确使用，缺一不可&lt;/Text&gt;&#10;            &lt;Text style={{ fontSize: 34, fontWeight: 'bold', color: '#20344B' }}&gt;五个指标，各自守住什么边界&lt;/Text&gt;&#10;        &lt;/Box&gt;&#10;    &lt;/Box&gt;&#10;&#10;    &lt;Box style={{ height: 540, flexDirection: 'row', gap: 32, alignItems: 'center' }}&gt;&#10;&#10;        &lt;Box style={{ width: 504, flexDirection: 'column', gap: 8 }}&gt;&#10;            &lt;Text style={{ fontSize: 20, fontWeight: 'bold', color: '#276FBF', height: 30 }}&gt;指标&lt;/Text&gt;&#10;            &lt;Box style={{ height: 88, background: '#EDF4FC', borderRadius: 10, padding: '0 16px', flexDirection: 'row', alignItems: 'center', gap: 12 }}&gt;&#10;                &lt;Box style={{ width: 4, height: 44, background: '#276FBF' }} /&gt;&#10;                &lt;Text style={{ fontSize: 16, fontWeight: 'bold', color: '#20344B' }}&gt;关键交接信息到达率&lt;/Text&gt;&#10;            &lt;/Box&gt;&#10;            &lt;Box style={{ height: 88, background: '#EDF4FC', borderRadius: 10, padding: '0 16px', flexDirection: 'row', alignItems: 'center', gap: 12 }}&gt;&#10;                &lt;Box style={{ width: 4, height: 44, background: '#26816B' }} /&gt;&#10;                &lt;Text style={{ fontSize: 16, fontWeight: 'bold', color: '#20344B' }}&gt;最终掌握率&lt;/Text&gt;&#10;            &lt;/Box&gt;&#10;            &lt;Box style={{ height: 88, background: '#FFF4E6', borderRadius: 10, padding: '0 16px', flexDirection: 'row', alignItems: 'center', gap: 12 }}&gt;&#10;                &lt;Box style={{ width: 4, height: 44, background: '#CB6B28' }} /&gt;&#10;                &lt;Text style={{ fontSize: 16, fontWeight: 'bold', color: '#20344B' }}&gt;无依据完成声明率&lt;/Text&gt;&#10;            &lt;/Box&gt;&#10;            &lt;Box style={{ height: 88, background: '#FFF4E6', borderRadius: 10, padding: '0 16px', flexDirection: 'row', alignItems: 'center', gap: 12 }}&gt;&#10;                &lt;Box style={{ width: 4, height: 44, background: '#CB6B28' }} /&gt;&#10;                &lt;Text style={{ fontSize: 16, fontWeight: 'bold', color: '#20344B' }}&gt;不必要重复检查率&lt;/Text&gt;&#10;            &lt;/Box&gt;&#10;            &lt;Box style={{ height: 88, background: '#EDF4FC', borderRadius: 10, padding: '0 16px', flexDirection: 'row', alignItems: 'center', gap: 12 }}&gt;&#10;                &lt;Box style={{ width: 4, height: 44, background: '#276FBF' }} /&gt;&#10;                &lt;Text style={{ fontSize: 16, fontWeight: 'bold', color: '#20344B' }}&gt;有效交接调用成本&lt;/Text&gt;&#10;            &lt;/Box&gt;&#10;        &lt;/Box&gt;&#10;&#10;        &lt;Box style={{ width: 616, flexDirection: 'column', gap: 8 }}&gt;&#10;            &lt;Text style={{ fontSize: 20, fontWeight: 'bold', color: '#276FBF', height: 30 }}&gt;计算与边界&lt;/Text&gt;&#10;            &lt;Box style={{ height: 88, background: '#F4F7FA', borderRadius: 10, padding: '12px 16px', justifyContent: 'center' }}&gt;&#10;                &lt;Text style={{ fontSize: 14, color: '#546779', lineHeight: 1.5 }}&gt;经交接渠道实际收到 AND 正确复述或使用的 K 项数 ÷ 5&lt;/Text&gt;&#10;            &lt;/Box&gt;&#10;            &lt;Box style={{ height: 88, background: '#F4F7FA', borderRadius: 10, padding: '12px 16px', justifyContent: 'center' }}&gt;&#10;                &lt;Text style={{ fontSize: 14, color: '#546779', lineHeight: 1.5 }}&gt;另报独立查询等补救后的掌握，不能回填交接分数&lt;/Text&gt;&#10;            &lt;/Box&gt;&#10;            &lt;Box style={{ height: 88, background: '#F4F7FA', borderRadius: 10, padding: '12px 16px', justifyContent: 'center' }}&gt;&#10;                &lt;Text style={{ fontSize: 14, color: '#546779', lineHeight: 1.5 }}&gt;缺规定证据的完成主张数 ÷ 全部完成主张数；一句可含多项，无声明记不适用&lt;/Text&gt;&#10;            &lt;/Box&gt;&#10;            &lt;Box style={{ height: 88, background: '#F4F7FA', borderRadius: 10, padding: '12px 16px', justifyContent: 'center' }}&gt;&#10;                &lt;Text style={{ fontSize: 14, color: '#546779', lineHeight: 1.5 }}&gt;无新证据、变化或明确复核要求的重复实例数 ÷ 全部已提交检查实例数&lt;/Text&gt;&#10;            &lt;/Box&gt;&#10;            &lt;Box style={{ height: 88, background: '#F4F7FA', borderRadius: 10, padding: '12px 16px', justifyContent: 'center' }}&gt;&#10;                &lt;Text style={{ fontSize: 14, color: '#546779', lineHeight: 1.5 }}&gt;全部样本逻辑调用总数 ÷ 五项全过且保留 K5 含义的有效交接任务数；物理尝试另列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2 设备维护班组交接&lt;/Text&gt;&#10;        &lt;Text style={{ fontSize: 14, color: '#546779' }}&gt;19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4.2.5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收到与正确使用，缺一不可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五个指标，各自守住什么边界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609600" y="1314450"/>
            <a:ext cx="4800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指标</a:t>
            </a:r>
            <a:endParaRPr/>
          </a:p>
        </p:txBody>
      </p:sp>
      <p:sp>
        <p:nvSpPr>
          <p:cNvPr id="304" name=""/>
          <p:cNvSpPr/>
          <p:nvPr/>
        </p:nvSpPr>
        <p:spPr>
          <a:xfrm rot="0" flipH="0" flipV="0">
            <a:off x="609600" y="1619250"/>
            <a:ext cx="4800600" cy="838200"/>
          </a:xfrm>
          <a:prstGeom prst="roundRect">
            <a:avLst>
              <a:gd name="adj" fmla="val 1136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05" name=""/>
          <p:cNvSpPr/>
          <p:nvPr/>
        </p:nvSpPr>
        <p:spPr>
          <a:xfrm rot="0" flipH="0" flipV="0">
            <a:off x="762000" y="18288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914400" y="1943100"/>
            <a:ext cx="137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关键交接信息到达率</a:t>
            </a:r>
            <a:endParaRPr/>
          </a:p>
        </p:txBody>
      </p:sp>
      <p:sp>
        <p:nvSpPr>
          <p:cNvPr id="307" name=""/>
          <p:cNvSpPr/>
          <p:nvPr/>
        </p:nvSpPr>
        <p:spPr>
          <a:xfrm rot="0" flipH="0" flipV="0">
            <a:off x="609600" y="2533650"/>
            <a:ext cx="4800600" cy="838200"/>
          </a:xfrm>
          <a:prstGeom prst="roundRect">
            <a:avLst>
              <a:gd name="adj" fmla="val 1136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08" name=""/>
          <p:cNvSpPr/>
          <p:nvPr/>
        </p:nvSpPr>
        <p:spPr>
          <a:xfrm rot="0" flipH="0" flipV="0">
            <a:off x="762000" y="2743200"/>
            <a:ext cx="3810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914400" y="2857500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最终掌握率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609600" y="3448050"/>
            <a:ext cx="4800600" cy="838200"/>
          </a:xfrm>
          <a:prstGeom prst="roundRect">
            <a:avLst>
              <a:gd name="adj" fmla="val 1136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11" name=""/>
          <p:cNvSpPr/>
          <p:nvPr/>
        </p:nvSpPr>
        <p:spPr>
          <a:xfrm rot="0" flipH="0" flipV="0">
            <a:off x="762000" y="365760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914400" y="377190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无依据完成声明率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609600" y="4362450"/>
            <a:ext cx="4800600" cy="838200"/>
          </a:xfrm>
          <a:prstGeom prst="roundRect">
            <a:avLst>
              <a:gd name="adj" fmla="val 1136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14" name=""/>
          <p:cNvSpPr/>
          <p:nvPr/>
        </p:nvSpPr>
        <p:spPr>
          <a:xfrm rot="0" flipH="0" flipV="0">
            <a:off x="762000" y="457200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914400" y="468630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不必要重复检查率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609600" y="5276850"/>
            <a:ext cx="4800600" cy="838200"/>
          </a:xfrm>
          <a:prstGeom prst="roundRect">
            <a:avLst>
              <a:gd name="adj" fmla="val 1136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17" name=""/>
          <p:cNvSpPr/>
          <p:nvPr/>
        </p:nvSpPr>
        <p:spPr>
          <a:xfrm rot="0" flipH="0" flipV="0">
            <a:off x="762000" y="54864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914400" y="560070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有效交接调用成本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5715000" y="1314450"/>
            <a:ext cx="5867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计算与边界</a:t>
            </a:r>
            <a:endParaRPr/>
          </a:p>
        </p:txBody>
      </p:sp>
      <p:sp>
        <p:nvSpPr>
          <p:cNvPr id="320" name=""/>
          <p:cNvSpPr/>
          <p:nvPr/>
        </p:nvSpPr>
        <p:spPr>
          <a:xfrm rot="0" flipH="0" flipV="0">
            <a:off x="5715000" y="1619250"/>
            <a:ext cx="58674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5867400" y="1914525"/>
            <a:ext cx="5562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经交接渠道实际收到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AND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正确复述或使用的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K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项数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÷ 5</a:t>
            </a:r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5715000" y="2533650"/>
            <a:ext cx="58674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5867400" y="2828925"/>
            <a:ext cx="5562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另报独立查询等补救后的掌握，不能回填交接分数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5715000" y="3448050"/>
            <a:ext cx="58674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5867400" y="3743325"/>
            <a:ext cx="5562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缺规定证据的完成主张数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全部完成主张数；一句可含多项，无声明记不适用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5715000" y="4362450"/>
            <a:ext cx="58674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5867400" y="4657725"/>
            <a:ext cx="5562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无新证据、变化或明确复核要求的重复实例数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全部已提交检查实例数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5715000" y="5276850"/>
            <a:ext cx="58674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5867400" y="5572125"/>
            <a:ext cx="5562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全部样本逻辑调用总数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五项全过且保留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K5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含义的有效交接任务数；物理尝试另列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设备维护班组交接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19 / 24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365" name="" descr="&lt;Slide notes={`报数之前，先把三个最容易算错的口径讲清楚。&#10;&#10;第一种错误是只挑顺利的样本。有的运行从头到尾根本没形成交接，这种情况照样要报 0/5，并且明确标注「未形成交接」，不能把它们从分母里删掉。&#10;&#10;第二种是路径混淆。有人先自己查过、后来才收到交接，那要标成「交接前已知」，它不属于新增到达；凭猜测说对的，因为没有交接来源，也不计。&#10;&#10;第三种是来源说不清。来源混合或者无法判断的，单独列出来，分母仍然按五项算。另外，失败的和未形成交接的调用，也要进入成本统计。&#10;&#10;最后一句要记住：这些比率说明的是信息流动，不能拿来推断设备有多可靠或者维修效率有多高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2.5　收到与正确使用，缺一不可&lt;/Text&gt;&#10;            &lt;Text style={{ fontSize: 34, fontWeight: 'bold', color: '#20344B' }}&gt;三个容易算错的口径&lt;/Text&gt;&#10;        &lt;/Box&gt;&#10;    &lt;/Box&gt;&#10;&#10;    &lt;Box style={{ height: 540, flexDirection: 'column', gap: 14, justifyContent: 'center' }}&gt;&#10;&#10;        &lt;Text style={{ fontSize: 15, color: '#546779' }}&gt;这三处一算错，结论就会偏得很远。&lt;/Text&gt;&#10;&#10;        &lt;Box style={{ height: 100, background: '#FFF4E6', borderRadius: 10, padding: '0 18px', flexDirection: 'row', alignItems: 'center', gap: 16 }}&gt;&#10;            &lt;Box style={{ width: 150 }}&gt;&lt;Text style={{ fontSize: 16, fontWeight: 'bold', color: '#CB6B28' }}&gt;只选顺利样本&lt;/Text&gt;&lt;/Box&gt;&#10;            &lt;Box style={{ flex: 1 }}&gt;&lt;Text style={{ fontSize: 15, color: '#20344B', lineHeight: 1.5 }}&gt;交接未开始的样本仍报 0/5，并标注「未形成交接」&lt;/Text&gt;&lt;/Box&gt;&#10;        &lt;/Box&gt;&#10;&#10;        &lt;Box style={{ height: 100, background: '#F4F7FA', borderRadius: 10, padding: '0 18px', flexDirection: 'row', alignItems: 'center', gap: 16 }}&gt;&#10;            &lt;Box style={{ width: 150 }}&gt;&lt;Text style={{ fontSize: 16, fontWeight: 'bold', color: '#276FBF' }}&gt;路径混淆&lt;/Text&gt;&lt;/Box&gt;&#10;            &lt;Box style={{ flex: 1 }}&gt;&lt;Text style={{ fontSize: 15, color: '#20344B', lineHeight: 1.5 }}&gt;先自查、后收到者标「交接前已知」，不是新增到达；正确猜测无交接来源不计&lt;/Text&gt;&lt;/Box&gt;&#10;        &lt;/Box&gt;&#10;&#10;        &lt;Box style={{ height: 100, background: '#F4F7FA', borderRadius: 10, padding: '0 18px', flexDirection: 'row', alignItems: 'center', gap: 16 }}&gt;&#10;            &lt;Box style={{ width: 150 }}&gt;&lt;Text style={{ fontSize: 16, fontWeight: 'bold', color: '#276FBF' }}&gt;来源说不清&lt;/Text&gt;&lt;/Box&gt;&#10;            &lt;Box style={{ flex: 1 }}&gt;&lt;Text style={{ fontSize: 15, color: '#20344B', lineHeight: 1.5 }}&gt;来源混合或无法判断时单列，分母仍是五项；失败调用也计入成本&lt;/Text&gt;&lt;/Box&gt;&#10;        &lt;/Box&gt;&#10;&#10;        &lt;Box style={{ height: 126, background: '#F4F7FA', borderRadius: 10, padding: '16px 20px', flexDirection: 'column', gap: 8, justifyContent: 'center' }}&gt;&#10;            &lt;Text style={{ fontSize: 15, fontWeight: 'bold', color: '#20344B' }}&gt;登记与检查各有凭证要求&lt;/Text&gt;&#10;            &lt;Text style={{ fontSize: 14, color: '#546779', lineHeight: 1.6 }}&gt;登记要有对象保存与回复，检查要有相应 ACT，恢复在本案没有成立依据；规定复核与有新疑问的追查不计重复，目的不清的单列。&lt;/Text&gt;&#10;        &lt;/Box&gt;&#10;&#10;    &lt;/Box&gt;&#10;&#10;    &lt;Box style={{ height: 40, flexDirection: 'row', justifyContent: 'space-between', alignItems: 'center' }}&gt;&#10;        &lt;Text style={{ fontSize: 14, color: '#546779' }}&gt;4.2 设备维护班组交接&lt;/Text&gt;&#10;        &lt;Text style={{ fontSize: 14, color: '#546779' }}&gt;20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4.2.5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收到与正确使用，缺一不可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三个容易算错的口径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609600" y="13335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这三处一算错，结论就会偏得很远。</a:t>
            </a:r>
            <a:endParaRPr/>
          </a:p>
        </p:txBody>
      </p:sp>
      <p:sp>
        <p:nvSpPr>
          <p:cNvPr id="371" name=""/>
          <p:cNvSpPr/>
          <p:nvPr/>
        </p:nvSpPr>
        <p:spPr>
          <a:xfrm rot="0" flipH="0" flipV="0">
            <a:off x="609600" y="1638300"/>
            <a:ext cx="10972800" cy="952500"/>
          </a:xfrm>
          <a:prstGeom prst="roundRect">
            <a:avLst>
              <a:gd name="adj" fmla="val 10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781050" y="2019300"/>
            <a:ext cx="1428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只选顺利样本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2362200" y="1990725"/>
            <a:ext cx="9048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交接未开始的样本仍报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0/5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，并标注「未形成交接」</a:t>
            </a:r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609600" y="2724150"/>
            <a:ext cx="109728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781050" y="3105150"/>
            <a:ext cx="1428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路径混淆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2362200" y="3076575"/>
            <a:ext cx="9048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先自查、后收到者标「交接前已知」，不是新增到达；正确猜测无交接来源不计</a:t>
            </a:r>
            <a:endParaRPr/>
          </a:p>
        </p:txBody>
      </p:sp>
      <p:sp>
        <p:nvSpPr>
          <p:cNvPr id="377" name=""/>
          <p:cNvSpPr/>
          <p:nvPr/>
        </p:nvSpPr>
        <p:spPr>
          <a:xfrm rot="0" flipH="0" flipV="0">
            <a:off x="609600" y="3810000"/>
            <a:ext cx="109728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781050" y="4191000"/>
            <a:ext cx="1428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来源说不清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2362200" y="4162425"/>
            <a:ext cx="9048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来源混合或无法判断时单列，分母仍是五项；失败调用也计入成本</a:t>
            </a:r>
            <a:endParaRPr/>
          </a:p>
        </p:txBody>
      </p:sp>
      <p:sp>
        <p:nvSpPr>
          <p:cNvPr id="380" name=""/>
          <p:cNvSpPr/>
          <p:nvPr/>
        </p:nvSpPr>
        <p:spPr>
          <a:xfrm rot="0" flipH="0" flipV="0">
            <a:off x="609600" y="4895850"/>
            <a:ext cx="10972800" cy="1200150"/>
          </a:xfrm>
          <a:prstGeom prst="roundRect">
            <a:avLst>
              <a:gd name="adj" fmla="val 793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800100" y="5248275"/>
            <a:ext cx="10591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登记与检查各有凭证要求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800100" y="5495925"/>
            <a:ext cx="105918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登记要有对象保存与回复，检查要有相应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ACT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，恢复在本案没有成立依据；规定复核与有新疑问的追查不计重复，目的不清的单列。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设备维护班组交接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 / 24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385" name="" descr="&lt;Slide notes={`现在用一个手工算的例子把口径跑一遍。请注意，这是人工判分的例子，没有实际请求、会话或运行。&#10;&#10;五项事实里，K1、K2、K5 交接正确传达了，宋青也正确复述，这三项都拿到分。K3 也传过去了，但被写成了「我刚完成全面检查」，含义被改变了，所以不给分。K4 干脆没进交接，是宋青后来自己独立查到的，同样不给分。&#10;&#10;绿色那一支同时要求三件事：交接来源可追、实际收到、正确复述。如果只数最后知道了几项，就会把独立查询的补救混进主指标。&#10;&#10;所以交接到达是三项，3/5，也就是 60%。另外两个诊断数字：缺依据的完成声明 1/4，也就是 25%；不必要重复检查 1/3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2.6　人工判分：记录流畅不能补信息分&lt;/Text&gt;&#10;            &lt;Text style={{ fontSize: 34, fontWeight: 'bold', color: '#20344B' }}&gt;人工判分：3/5＝60%&lt;/Text&gt;&#10;        &lt;/Box&gt;&#10;    &lt;/Box&gt;&#10;&#10;    &lt;Box style={{ height: 540, flexDirection: 'column', gap: 16, justifyContent: 'center' }}&gt;&#10;&#10;        &lt;Box style={{ flexDirection: 'row', gap: 20 }}&gt;&#10;            &lt;Box style={{ width: 212, height: 196, background: '#ECF7F2', borderRadius: 10, flexDirection: 'column', gap: 6, justifyContent: 'center', alignItems: 'center' }}&gt;&#10;                &lt;Text style={{ fontSize: 22, fontWeight: 'bold', color: '#26816B' }}&gt;K1&lt;/Text&gt;&#10;                &lt;Text style={{ fontSize: 14, color: '#20344B' }}&gt;交接正确传达&lt;/Text&gt;&#10;                &lt;Text style={{ fontSize: 13, color: '#546779' }}&gt;宋青实际收到并复述&lt;/Text&gt;&#10;            &lt;/Box&gt;&#10;            &lt;Box style={{ width: 212, height: 196, background: '#ECF7F2', borderRadius: 10, flexDirection: 'column', gap: 6, justifyContent: 'center', alignItems: 'center' }}&gt;&#10;                &lt;Text style={{ fontSize: 22, fontWeight: 'bold', color: '#26816B' }}&gt;K2&lt;/Text&gt;&#10;                &lt;Text style={{ fontSize: 14, color: '#20344B' }}&gt;交接正确传达&lt;/Text&gt;&#10;                &lt;Text style={{ fontSize: 13, color: '#546779' }}&gt;宋青实际收到并复述&lt;/Text&gt;&#10;            &lt;/Box&gt;&#10;            &lt;Box style={{ width: 212, height: 196, background: '#FFF4E6', borderRadius: 10, flexDirection: 'column', gap: 6, justifyContent: 'center', alignItems: 'center' }}&gt;&#10;                &lt;Text style={{ fontSize: 22, fontWeight: 'bold', color: '#CB6B28' }}&gt;K3&lt;/Text&gt;&#10;                &lt;Text style={{ fontSize: 14, color: '#20344B' }}&gt;前史写成刚完成全面检查&lt;/Text&gt;&#10;                &lt;Text style={{ fontSize: 13, color: '#CB6B28' }}&gt;含义错误，不给分&lt;/Text&gt;&#10;            &lt;/Box&gt;&#10;            &lt;Box style={{ width: 212, height: 196, background: '#FFF4E6', borderRadius: 10, flexDirection: 'column', gap: 6, justifyContent: 'center', alignItems: 'center' }}&gt;&#10;                &lt;Text style={{ fontSize: 22, fontWeight: 'bold', color: '#CB6B28' }}&gt;K4&lt;/Text&gt;&#10;                &lt;Text style={{ fontSize: 14, color: '#20344B' }}&gt;交接遗漏，后来独立查询补齐&lt;/Text&gt;&#10;                &lt;Text style={{ fontSize: 13, color: '#CB6B28' }}&gt;未经交接，不给分&lt;/Text&gt;&#10;            &lt;/Box&gt;&#10;            &lt;Box style={{ width: 212, height: 196, background: '#ECF7F2', borderRadius: 10, flexDirection: 'column', gap: 6, justifyContent: 'center', alignItems: 'center' }}&gt;&#10;                &lt;Text style={{ fontSize: 22, fontWeight: 'bold', color: '#26816B' }}&gt;K5&lt;/Text&gt;&#10;                &lt;Text style={{ fontSize: 14, color: '#20344B' }}&gt;交接正确传达&lt;/Text&gt;&#10;                &lt;Text style={{ fontSize: 13, color: '#546779' }}&gt;宋青实际收到并复述&lt;/Text&gt;&#10;            &lt;/Box&gt;&#10;        &lt;/Box&gt;&#10;&#10;        &lt;Box style={{ flexDirection: 'row', gap: 20 }}&gt;&#10;            &lt;Box style={{ flex: 1, height: 132, background: '#ECF7F2', borderRadius: 10, flexDirection: 'row', alignItems: 'center', gap: 20, padding: '0 22px' }}&gt;&#10;                &lt;Text style={{ fontSize: 44, fontWeight: 'bold', color: '#26816B', lineHeight: 1.0 }}&gt;60%&lt;/Text&gt;&#10;                &lt;Box style={{ flexDirection: 'column', gap: 4 }}&gt;&#10;                    &lt;Text style={{ fontSize: 16, fontWeight: 'bold', color: '#20344B' }}&gt;交接到达 3/5&lt;/Text&gt;&#10;                    &lt;Text style={{ fontSize: 13, color: '#546779' }}&gt;K1、K2、K5&lt;/Text&gt;&#10;                &lt;/Box&gt;&#10;            &lt;/Box&gt;&#10;            &lt;Box style={{ flex: 1, height: 132, background: '#FFF4E6', borderRadius: 10, flexDirection: 'row', alignItems: 'center', gap: 20, padding: '0 22px' }}&gt;&#10;                &lt;Text style={{ fontSize: 44, fontWeight: 'bold', color: '#CB6B28', lineHeight: 1.0 }}&gt;25%&lt;/Text&gt;&#10;                &lt;Box style={{ flexDirection: 'column', gap: 4 }}&gt;&#10;                    &lt;Text style={{ fontSize: 16, fontWeight: 'bold', color: '#20344B' }}&gt;缺依据声明 1/4&lt;/Text&gt;&#10;                    &lt;Text style={{ fontSize: 13, color: '#546779' }}&gt;「已全面检查」缺证据&lt;/Text&gt;&#10;                &lt;/Box&gt;&#10;            &lt;/Box&gt;&#10;            &lt;Box style={{ flex: 1, height: 132, background: '#F4F7FA', borderRadius: 10, flexDirection: 'row', alignItems: 'center', gap: 20, padding: '0 22px' }}&gt;&#10;                &lt;Text style={{ fontSize: 44, fontWeight: 'bold', color: '#276FBF', lineHeight: 1.0 }}&gt;1/3&lt;/Text&gt;&#10;                &lt;Box style={{ flexDirection: 'column', gap: 4 }}&gt;&#10;                    &lt;Text style={{ fontSize: 16, fontWeight: 'bold', color: '#20344B' }}&gt;不必要重复检查&lt;/Text&gt;&#10;                    &lt;Text style={{ fontSize: 13, color: '#546779' }}&gt;三次中的一次&lt;/Text&gt;&#10;                &lt;/Box&gt;&#10;            &lt;/Box&gt;&#10;        &lt;/Box&gt;&#10;&#10;        &lt;Text style={{ fontSize: 14, color: '#546779' }}&gt;人工例子，没有实际请求、会话或 Run；K3 是含义错误，K4 是根本没经交接传到，两者都不给交接到达分。&lt;/Text&gt;&#10;&#10;    &lt;/Box&gt;&#10;&#10;    &lt;Box style={{ height: 40, flexDirection: 'row', justifyContent: 'space-between', alignItems: 'center' }}&gt;&#10;        &lt;Text style={{ fontSize: 14, color: '#546779' }}&gt;4.2 设备维护班组交接&lt;/Text&gt;&#10;        &lt;Text style={{ fontSize: 14, color: '#546779' }}&gt;21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00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4.2.6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人工判分：记录流畅不能补信息分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0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人工判分：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>3/5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＝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>60%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609600" y="1924050"/>
            <a:ext cx="2019300" cy="1866900"/>
          </a:xfrm>
          <a:prstGeom prst="roundRect">
            <a:avLst>
              <a:gd name="adj" fmla="val 510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1485900" y="2514600"/>
            <a:ext cx="2762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6816B"/>
                </a:solidFill>
                <a:latin typeface="Microsoft YaHei"/>
                <a:ea typeface="Microsoft YaHei"/>
              </a:rPr>
              <a:t>K1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1219200" y="282892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交接正确传达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1066800" y="3048000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宋青实际收到并复述</a:t>
            </a:r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2819400" y="1924050"/>
            <a:ext cx="2019300" cy="1866900"/>
          </a:xfrm>
          <a:prstGeom prst="roundRect">
            <a:avLst>
              <a:gd name="adj" fmla="val 510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3695700" y="2514600"/>
            <a:ext cx="2762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6816B"/>
                </a:solidFill>
                <a:latin typeface="Microsoft YaHei"/>
                <a:ea typeface="Microsoft YaHei"/>
              </a:rPr>
              <a:t>K2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3429000" y="282892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交接正确传达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3276600" y="3048000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宋青实际收到并复述</a:t>
            </a:r>
            <a:endParaRPr/>
          </a:p>
        </p:txBody>
      </p:sp>
      <p:sp>
        <p:nvSpPr>
          <p:cNvPr id="398" name=""/>
          <p:cNvSpPr/>
          <p:nvPr/>
        </p:nvSpPr>
        <p:spPr>
          <a:xfrm rot="0" flipH="0" flipV="0">
            <a:off x="5029200" y="1924050"/>
            <a:ext cx="2019300" cy="1866900"/>
          </a:xfrm>
          <a:prstGeom prst="roundRect">
            <a:avLst>
              <a:gd name="adj" fmla="val 510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5905500" y="2514600"/>
            <a:ext cx="2762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CB6B28"/>
                </a:solidFill>
                <a:latin typeface="Microsoft YaHei"/>
                <a:ea typeface="Microsoft YaHei"/>
              </a:rPr>
              <a:t>K3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5305425" y="2828925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前史写成刚完成全面检查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5543550" y="3048000"/>
            <a:ext cx="99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含义错误，不给分</a:t>
            </a:r>
            <a:endParaRPr/>
          </a:p>
        </p:txBody>
      </p:sp>
      <p:sp>
        <p:nvSpPr>
          <p:cNvPr id="402" name=""/>
          <p:cNvSpPr/>
          <p:nvPr/>
        </p:nvSpPr>
        <p:spPr>
          <a:xfrm rot="0" flipH="0" flipV="0">
            <a:off x="7239000" y="1924050"/>
            <a:ext cx="2019300" cy="1866900"/>
          </a:xfrm>
          <a:prstGeom prst="roundRect">
            <a:avLst>
              <a:gd name="adj" fmla="val 510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8115300" y="2514600"/>
            <a:ext cx="2762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CB6B28"/>
                </a:solidFill>
                <a:latin typeface="Microsoft YaHei"/>
                <a:ea typeface="Microsoft YaHei"/>
              </a:rPr>
              <a:t>K4</a:t>
            </a:r>
            <a:endParaRPr/>
          </a:p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7381875" y="2828925"/>
            <a:ext cx="1733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交接遗漏，后来独立查询补齐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7753350" y="3048000"/>
            <a:ext cx="99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未经交接，不给分</a:t>
            </a:r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9448800" y="1924050"/>
            <a:ext cx="2019300" cy="1866900"/>
          </a:xfrm>
          <a:prstGeom prst="roundRect">
            <a:avLst>
              <a:gd name="adj" fmla="val 510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10325100" y="2514600"/>
            <a:ext cx="2762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6816B"/>
                </a:solidFill>
                <a:latin typeface="Microsoft YaHei"/>
                <a:ea typeface="Microsoft YaHei"/>
              </a:rPr>
              <a:t>K5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10058400" y="282892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交接正确传达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9906000" y="3048000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宋青实际收到并复述</a:t>
            </a:r>
            <a:endParaRPr/>
          </a:p>
        </p:txBody>
      </p:sp>
      <p:sp>
        <p:nvSpPr>
          <p:cNvPr id="410" name=""/>
          <p:cNvSpPr/>
          <p:nvPr/>
        </p:nvSpPr>
        <p:spPr>
          <a:xfrm rot="0" flipH="0" flipV="0">
            <a:off x="609600" y="3943350"/>
            <a:ext cx="3533775" cy="1257300"/>
          </a:xfrm>
          <a:prstGeom prst="roundRect">
            <a:avLst>
              <a:gd name="adj" fmla="val 757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819150" y="4324350"/>
            <a:ext cx="9144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26816B"/>
                </a:solidFill>
                <a:latin typeface="Microsoft YaHei"/>
                <a:ea typeface="Microsoft YaHei"/>
              </a:rPr>
              <a:t>60%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1924050" y="4381500"/>
            <a:ext cx="923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交接到达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3/5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1924050" y="4610100"/>
            <a:ext cx="923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K1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K2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K5</a:t>
            </a:r>
            <a:endParaRPr/>
          </a:p>
        </p:txBody>
      </p:sp>
      <p:sp>
        <p:nvSpPr>
          <p:cNvPr id="414" name=""/>
          <p:cNvSpPr/>
          <p:nvPr/>
        </p:nvSpPr>
        <p:spPr>
          <a:xfrm rot="0" flipH="0" flipV="0">
            <a:off x="4333875" y="3943350"/>
            <a:ext cx="3524250" cy="1257300"/>
          </a:xfrm>
          <a:prstGeom prst="roundRect">
            <a:avLst>
              <a:gd name="adj" fmla="val 757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4543425" y="4324350"/>
            <a:ext cx="9144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CB6B28"/>
                </a:solidFill>
                <a:latin typeface="Microsoft YaHei"/>
                <a:ea typeface="Microsoft YaHei"/>
              </a:rPr>
              <a:t>25%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5648325" y="4381500"/>
            <a:ext cx="123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缺依据声明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1/4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5648325" y="4610100"/>
            <a:ext cx="1238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「已全面检查」缺证据</a:t>
            </a:r>
            <a:endParaRPr/>
          </a:p>
        </p:txBody>
      </p:sp>
      <p:sp>
        <p:nvSpPr>
          <p:cNvPr id="418" name=""/>
          <p:cNvSpPr/>
          <p:nvPr/>
        </p:nvSpPr>
        <p:spPr>
          <a:xfrm rot="0" flipH="0" flipV="0">
            <a:off x="8048625" y="3943350"/>
            <a:ext cx="3533775" cy="1257300"/>
          </a:xfrm>
          <a:prstGeom prst="roundRect">
            <a:avLst>
              <a:gd name="adj" fmla="val 757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8258175" y="4324350"/>
            <a:ext cx="7239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276FBF"/>
                </a:solidFill>
                <a:latin typeface="Microsoft YaHei"/>
                <a:ea typeface="Microsoft YaHei"/>
              </a:rPr>
              <a:t>1/3</a:t>
            </a:r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9172575" y="4381500"/>
            <a:ext cx="106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不必要重复检查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9172575" y="4610100"/>
            <a:ext cx="1066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三次中的一次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609600" y="5353050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人工例子，没有实际请求、会话或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；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K3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是含义错误，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K4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是根本没经交接传到，两者都不给交接到达分。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设备维护班组交接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21 / 24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425" name="" descr="&lt;Slide notes={`我留三行练习，大家可以自己按一遍。&#10;&#10;第一行：经交接正确到达三项。分子就是三，分母固定是五，所以是 60%。后来宋青独立补回来的 K4，不改变这个主指标，它只进另一个掌握率。&#10;&#10;第二行：一共出现四项完成声明，其中「已全面检查」这项缺规定证据，所以是 1/4，也就是 25%。注意分母是全部完成主张，而不是只数缺证据的那一条。&#10;&#10;第三行：一共有三次检查。规定的接班复核算一次，有新疑问的追查算一次，剩下那次是在没有新条件下重复追查，所以不必要重复是 1/3，不是 2/3。&#10;&#10;如果对第三次有没有新条件有不同看法，就把引用和分歧都保留下来。五栏齐全但内容为空，仍然算遗漏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2.6　人工判分：记录流畅不能补信息分&lt;/Text&gt;&#10;            &lt;Text style={{ fontSize: 34, fontWeight: 'bold', color: '#20344B' }}&gt;三行练习，自己算一遍&lt;/Text&gt;&#10;        &lt;/Box&gt;&#10;    &lt;/Box&gt;&#10;&#10;    &lt;Box style={{ height: 540, flexDirection: 'column', gap: 14, justifyContent: 'center' }}&gt;&#10;&#10;        &lt;Box style={{ height: 104, background: '#F4F7FA', borderRadius: 10, padding: '0 18px', flexDirection: 'row', alignItems: 'center', gap: 16 }}&gt;&#10;            &lt;Box style={{ width: 46 }}&gt;&lt;Text style={{ fontSize: 20, fontWeight: 'bold', color: '#276FBF' }}&gt;1&lt;/Text&gt;&lt;/Box&gt;&#10;            &lt;Box style={{ flex: 1 }}&gt;&lt;Text style={{ fontSize: 15, color: '#20344B', lineHeight: 1.5 }}&gt;经交接正确到达三项&lt;/Text&gt;&lt;/Box&gt;&#10;            &lt;Box style={{ width: 430 }}&gt;&lt;Text style={{ fontSize: 15, fontWeight: 'bold', color: '#26816B' }}&gt;3/5＝60%；独立补 K4 不改主指标&lt;/Text&gt;&lt;/Box&gt;&#10;        &lt;/Box&gt;&#10;&#10;        &lt;Box style={{ height: 104, background: '#F4F7FA', borderRadius: 10, padding: '0 18px', flexDirection: 'row', alignItems: 'center', gap: 16 }}&gt;&#10;            &lt;Box style={{ width: 46 }}&gt;&lt;Text style={{ fontSize: 20, fontWeight: 'bold', color: '#276FBF' }}&gt;2&lt;/Text&gt;&lt;/Box&gt;&#10;            &lt;Box style={{ flex: 1 }}&gt;&lt;Text style={{ fontSize: 15, color: '#20344B', lineHeight: 1.5 }}&gt;四项完成声明，「已全面检查」缺证据&lt;/Text&gt;&lt;/Box&gt;&#10;            &lt;Box style={{ width: 430 }}&gt;&lt;Text style={{ fontSize: 15, fontWeight: 'bold', color: '#CB6B28' }}&gt;1/4＝25%&lt;/Text&gt;&lt;/Box&gt;&#10;        &lt;/Box&gt;&#10;&#10;        &lt;Box style={{ height: 104, background: '#F4F7FA', borderRadius: 10, padding: '0 18px', flexDirection: 'row', alignItems: 'center', gap: 16 }}&gt;&#10;            &lt;Box style={{ width: 46 }}&gt;&lt;Text style={{ fontSize: 20, fontWeight: 'bold', color: '#276FBF' }}&gt;3&lt;/Text&gt;&lt;/Box&gt;&#10;            &lt;Box style={{ flex: 1 }}&gt;&lt;Text style={{ fontSize: 15, color: '#20344B', lineHeight: 1.5 }}&gt;三次检查：规定复核、新疑问追查、无新条件重复追查&lt;/Text&gt;&lt;/Box&gt;&#10;            &lt;Box style={{ width: 430 }}&gt;&lt;Text style={{ fontSize: 15, fontWeight: 'bold', color: '#CB6B28' }}&gt;不必要重复 1/3，不是 2/3&lt;/Text&gt;&lt;/Box&gt;&#10;        &lt;/Box&gt;&#10;&#10;        &lt;Box style={{ height: 132, background: '#FFF4E6', borderRadius: 10, padding: '16px 20px', flexDirection: 'column', gap: 8, justifyContent: 'center' }}&gt;&#10;            &lt;Text style={{ fontSize: 16, fontWeight: 'bold', color: '#CB6B28' }}&gt;有分歧就保留分歧&lt;/Text&gt;&#10;            &lt;Text style={{ fontSize: 15, color: '#20344B', lineHeight: 1.6 }}&gt;若评阅者对第三次有无新条件意见不同，保留引用与分歧；五栏齐全但内容为空，仍然是遗漏。&lt;/Text&gt;&#10;        &lt;/Box&gt;&#10;&#10;    &lt;/Box&gt;&#10;&#10;    &lt;Box style={{ height: 40, flexDirection: 'row', justifyContent: 'space-between', alignItems: 'center' }}&gt;&#10;        &lt;Text style={{ fontSize: 14, color: '#546779' }}&gt;4.2 设备维护班组交接&lt;/Text&gt;&#10;        &lt;Text style={{ fontSize: 14, color: '#546779' }}&gt;22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4.2.6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人工判分：记录流畅不能补信息分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三行练习，自己算一遍</a:t>
            </a:r>
            <a:endParaRPr/>
          </a:p>
        </p:txBody>
      </p:sp>
      <p:sp>
        <p:nvSpPr>
          <p:cNvPr id="430" name=""/>
          <p:cNvSpPr/>
          <p:nvPr/>
        </p:nvSpPr>
        <p:spPr>
          <a:xfrm rot="0" flipH="0" flipV="0">
            <a:off x="609600" y="1400175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781050" y="1781175"/>
            <a:ext cx="438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1371600" y="1771650"/>
            <a:ext cx="5791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经交接正确到达三项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7315200" y="1809750"/>
            <a:ext cx="409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6816B"/>
                </a:solidFill>
                <a:latin typeface="Microsoft YaHei"/>
                <a:ea typeface="Microsoft YaHei"/>
              </a:rPr>
              <a:t>3/5</a:t>
            </a: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＝</a:t>
            </a:r>
            <a:r>
              <a:rPr lang="en-US" sz="1125" b="1">
                <a:solidFill>
                  <a:srgbClr val="26816B"/>
                </a:solidFill>
                <a:latin typeface="Microsoft YaHei"/>
                <a:ea typeface="Microsoft YaHei"/>
              </a:rPr>
              <a:t>60%</a:t>
            </a: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；独立补</a:t>
            </a:r>
            <a:r>
              <a:rPr lang="en-US" sz="112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K4 </a:t>
            </a: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不改主指标</a:t>
            </a:r>
            <a:endParaRPr/>
          </a:p>
        </p:txBody>
      </p:sp>
      <p:sp>
        <p:nvSpPr>
          <p:cNvPr id="434" name=""/>
          <p:cNvSpPr/>
          <p:nvPr/>
        </p:nvSpPr>
        <p:spPr>
          <a:xfrm rot="0" flipH="0" flipV="0">
            <a:off x="609600" y="2524125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781050" y="2905125"/>
            <a:ext cx="438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1371600" y="2895600"/>
            <a:ext cx="5791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四项完成声明，「已全面检查」缺证据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7315200" y="2933700"/>
            <a:ext cx="409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CB6B28"/>
                </a:solidFill>
                <a:latin typeface="Microsoft YaHei"/>
                <a:ea typeface="Microsoft YaHei"/>
              </a:rPr>
              <a:t>1/4</a:t>
            </a: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＝</a:t>
            </a:r>
            <a:r>
              <a:rPr lang="en-US" sz="1125" b="1">
                <a:solidFill>
                  <a:srgbClr val="CB6B28"/>
                </a:solidFill>
                <a:latin typeface="Microsoft YaHei"/>
                <a:ea typeface="Microsoft YaHei"/>
              </a:rPr>
              <a:t>25%</a:t>
            </a:r>
            <a:endParaRPr/>
          </a:p>
        </p:txBody>
      </p:sp>
      <p:sp>
        <p:nvSpPr>
          <p:cNvPr id="438" name=""/>
          <p:cNvSpPr/>
          <p:nvPr/>
        </p:nvSpPr>
        <p:spPr>
          <a:xfrm rot="0" flipH="0" flipV="0">
            <a:off x="609600" y="3648075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781050" y="4029075"/>
            <a:ext cx="438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1371600" y="4019550"/>
            <a:ext cx="5791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三次检查：规定复核、新疑问追查、无新条件重复追查</a:t>
            </a:r>
            <a:endParaRPr/>
          </a:p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7315200" y="4057650"/>
            <a:ext cx="409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不必要重复</a:t>
            </a:r>
            <a:r>
              <a:rPr lang="en-US" sz="112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1/3</a:t>
            </a: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，不是</a:t>
            </a:r>
            <a:r>
              <a:rPr lang="en-US" sz="112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2/3</a:t>
            </a:r>
            <a:endParaRPr/>
          </a:p>
        </p:txBody>
      </p:sp>
      <p:sp>
        <p:nvSpPr>
          <p:cNvPr id="442" name=""/>
          <p:cNvSpPr/>
          <p:nvPr/>
        </p:nvSpPr>
        <p:spPr>
          <a:xfrm rot="0" flipH="0" flipV="0">
            <a:off x="609600" y="4772025"/>
            <a:ext cx="10972800" cy="1257300"/>
          </a:xfrm>
          <a:prstGeom prst="roundRect">
            <a:avLst>
              <a:gd name="adj" fmla="val 757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800100" y="5133975"/>
            <a:ext cx="10591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有分歧就保留分歧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800100" y="5400675"/>
            <a:ext cx="10591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若评阅者对第三次有无新条件意见不同，保留引用与分歧；五栏齐全但内容为空，仍然是遗漏。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设备维护班组交接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22 / 24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447" name="" descr="&lt;Slide notes={`最后一个问题：结果不理想的时候，我们能说到哪一步。&#10;&#10;如果设备从来没回复过 K4，那问题出在查询和原始回复这一段。如果 K4 已经收到了，却没被整理进说明里，那问题在子技能的输入或输出。&#10;&#10;如果记录确实保存了，宋青始终没去读，那要查的是保存、通知、接收、查询这一整条链。如果宋青读到了却说错了，那要看的是他的复述和实际使用，而不是文件在不在。&#10;&#10;还有一句要提醒：「检查已完成」这句话有两种含义。如果说的是现场核对面板，那就需要位置和动作作为凭证；如果说的是设备恢复正常，在本案里根本不成立，因为没有任何依据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2.7　从哪一环丢失，解释就停在哪一环&lt;/Text&gt;&#10;            &lt;Text style={{ fontSize: 34, fontWeight: 'bold', color: '#20344B' }}&gt;从哪一环丢失，解释就停在哪一环&lt;/Text&gt;&#10;        &lt;/Box&gt;&#10;    &lt;/Box&gt;&#10;&#10;    &lt;Box style={{ height: 540, flexDirection: 'row', gap: 32, alignItems: 'center' }}&gt;&#10;&#10;        &lt;Box style={{ width: 400, flexDirection: 'column', gap: 16 }}&gt;&#10;            &lt;Text style={{ fontSize: 20, fontWeight: 'bold', color: '#20344B', lineHeight: 1.4 }}&gt;解释范围不超过证据{'\n'}所在的那一环&lt;/Text&gt;&#10;            &lt;Box style={{ width: 56, height: 4, background: '#276FBF' }} /&gt;&#10;            &lt;Text style={{ fontSize: 15, color: '#546779', lineHeight: 1.7 }}&gt;每一处失败都对应一个可核对的位置。指不出位置，就不能下结论。&lt;/Text&gt;&#10;            &lt;Box style={{ height: 150, background: '#FFF4E6', borderRadius: 10, padding: '16px 20px', flexDirection: 'column', gap: 8, justifyContent: 'center' }}&gt;&#10;                &lt;Text style={{ fontSize: 16, fontWeight: 'bold', color: '#CB6B28' }}&gt;「检查已完成」的两种含义&lt;/Text&gt;&#10;                &lt;Text style={{ fontSize: 14, color: '#546779', lineHeight: 1.6 }}&gt;若指现场核对面板，需要位置和 ACT 作证；若指恢复正常，本案没有成立依据。&lt;/Text&gt;&#10;            &lt;/Box&gt;&#10;        &lt;/Box&gt;&#10;&#10;        &lt;Box style={{ width: 720, flexDirection: 'column', gap: 12 }}&gt;&#10;&#10;            &lt;Box style={{ height: 108, background: '#F4F7FA', borderRadius: 10, padding: '0 18px', flexDirection: 'row', alignItems: 'center', gap: 16 }}&gt;&#10;                &lt;Box style={{ width: 4, height: 60, background: '#CB6B28' }} /&gt;&#10;                &lt;Box style={{ width: 260 }}&gt;&lt;Text style={{ fontSize: 16, fontWeight: 'bold', color: '#20344B' }}&gt;设备从未回复 K4&lt;/Text&gt;&lt;/Box&gt;&#10;                &lt;Box style={{ flex: 1 }}&gt;&lt;Text style={{ fontSize: 15, color: '#546779' }}&gt;核对查询与原回复&lt;/Text&gt;&lt;/Box&gt;&#10;            &lt;/Box&gt;&#10;&#10;            &lt;Box style={{ height: 108, background: '#F4F7FA', borderRadius: 10, padding: '0 18px', flexDirection: 'row', alignItems: 'center', gap: 16 }}&gt;&#10;                &lt;Box style={{ width: 4, height: 60, background: '#CB6B28' }} /&gt;&#10;                &lt;Box style={{ width: 260 }}&gt;&lt;Text style={{ fontSize: 16, fontWeight: 'bold', color: '#20344B' }}&gt;已收到 K4 却没整理进去&lt;/Text&gt;&lt;/Box&gt;&#10;                &lt;Box style={{ flex: 1 }}&gt;&lt;Text style={{ fontSize: 15, color: '#546779' }}&gt;核对子 Skill 输入／输出&lt;/Text&gt;&lt;/Box&gt;&#10;            &lt;/Box&gt;&#10;&#10;            &lt;Box style={{ height: 108, background: '#F4F7FA', borderRadius: 10, padding: '0 18px', flexDirection: 'row', alignItems: 'center', gap: 16 }}&gt;&#10;                &lt;Box style={{ width: 4, height: 60, background: '#CB6B28' }} /&gt;&#10;                &lt;Box style={{ width: 260 }}&gt;&lt;Text style={{ fontSize: 16, fontWeight: 'bold', color: '#20344B' }}&gt;记录已保存，宋青未读取&lt;/Text&gt;&lt;/Box&gt;&#10;                &lt;Box style={{ flex: 1 }}&gt;&lt;Text style={{ fontSize: 15, color: '#546779' }}&gt;核对保存、通知、接收、查询链&lt;/Text&gt;&lt;/Box&gt;&#10;            &lt;/Box&gt;&#10;&#10;            &lt;Box style={{ height: 108, background: '#FFF4E6', borderRadius: 10, padding: '0 18px', flexDirection: 'row', alignItems: 'center', gap: 16 }}&gt;&#10;                &lt;Box style={{ width: 4, height: 60, background: '#CB6B28' }} /&gt;&#10;                &lt;Box style={{ width: 260 }}&gt;&lt;Text style={{ fontSize: 16, fontWeight: 'bold', color: '#20344B' }}&gt;收到后说错&lt;/Text&gt;&lt;/Box&gt;&#10;                &lt;Box style={{ flex: 1 }}&gt;&lt;Text style={{ fontSize: 15, color: '#546779' }}&gt;核对复述与实际使用，而非只看文件存在&lt;/Text&gt;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2 设备维护班组交接&lt;/Text&gt;&#10;        &lt;Text style={{ fontSize: 14, color: '#546779' }}&gt;2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85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4.2.7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从哪一环丢失，解释就停在哪一环</a:t>
            </a:r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857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从哪一环丢失，解释就停在哪一环</a:t>
            </a:r>
            <a:endParaRPr/>
          </a:p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609600" y="2133600"/>
            <a:ext cx="3810000" cy="6477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解释范围不超过证据</a:t>
            </a:r>
            <a:endParaRPr/>
          </a:p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所在的那一环</a:t>
            </a:r>
            <a:endParaRPr/>
          </a:p>
        </p:txBody>
      </p:sp>
      <p:sp>
        <p:nvSpPr>
          <p:cNvPr id="453" name=""/>
          <p:cNvSpPr/>
          <p:nvPr/>
        </p:nvSpPr>
        <p:spPr>
          <a:xfrm rot="0" flipH="0" flipV="0">
            <a:off x="609600" y="2933700"/>
            <a:ext cx="5334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609600" y="3124200"/>
            <a:ext cx="38100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每一处失败都对应一个可核对的位置。指不出位置，就不能下结论。</a:t>
            </a:r>
            <a:endParaRPr/>
          </a:p>
        </p:txBody>
      </p:sp>
      <p:sp>
        <p:nvSpPr>
          <p:cNvPr id="455" name=""/>
          <p:cNvSpPr/>
          <p:nvPr/>
        </p:nvSpPr>
        <p:spPr>
          <a:xfrm rot="0" flipH="0" flipV="0">
            <a:off x="609600" y="3867150"/>
            <a:ext cx="3810000" cy="1428750"/>
          </a:xfrm>
          <a:prstGeom prst="roundRect">
            <a:avLst>
              <a:gd name="adj" fmla="val 66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800100" y="4191000"/>
            <a:ext cx="342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「检查已完成」的两种含义</a:t>
            </a:r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800100" y="4457700"/>
            <a:ext cx="3429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若指现场核对面板，需要位置和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ACT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作证；若指恢复正常，本案没有成立依据。</a:t>
            </a:r>
            <a:endParaRPr/>
          </a:p>
        </p:txBody>
      </p:sp>
      <p:sp>
        <p:nvSpPr>
          <p:cNvPr id="458" name=""/>
          <p:cNvSpPr/>
          <p:nvPr/>
        </p:nvSpPr>
        <p:spPr>
          <a:xfrm rot="0" flipH="0" flipV="0">
            <a:off x="4724400" y="1485900"/>
            <a:ext cx="6858000" cy="102870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59" name=""/>
          <p:cNvSpPr/>
          <p:nvPr/>
        </p:nvSpPr>
        <p:spPr>
          <a:xfrm rot="0" flipH="0" flipV="0">
            <a:off x="4895850" y="1714500"/>
            <a:ext cx="38100" cy="571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5086350" y="1905000"/>
            <a:ext cx="2476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设备从未回复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K4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7715250" y="1914525"/>
            <a:ext cx="3695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核对查询与原回复</a:t>
            </a:r>
            <a:endParaRPr/>
          </a:p>
        </p:txBody>
      </p:sp>
      <p:sp>
        <p:nvSpPr>
          <p:cNvPr id="462" name=""/>
          <p:cNvSpPr/>
          <p:nvPr/>
        </p:nvSpPr>
        <p:spPr>
          <a:xfrm rot="0" flipH="0" flipV="0">
            <a:off x="4724400" y="2628900"/>
            <a:ext cx="6858000" cy="102870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63" name=""/>
          <p:cNvSpPr/>
          <p:nvPr/>
        </p:nvSpPr>
        <p:spPr>
          <a:xfrm rot="0" flipH="0" flipV="0">
            <a:off x="4895850" y="2857500"/>
            <a:ext cx="38100" cy="571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5086350" y="3048000"/>
            <a:ext cx="2476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已收到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K4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却没整理进去</a:t>
            </a:r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7715250" y="3057525"/>
            <a:ext cx="3695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核对子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输入／输出</a:t>
            </a:r>
            <a:endParaRPr/>
          </a:p>
        </p:txBody>
      </p:sp>
      <p:sp>
        <p:nvSpPr>
          <p:cNvPr id="466" name=""/>
          <p:cNvSpPr/>
          <p:nvPr/>
        </p:nvSpPr>
        <p:spPr>
          <a:xfrm rot="0" flipH="0" flipV="0">
            <a:off x="4724400" y="3771900"/>
            <a:ext cx="6858000" cy="102870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67" name=""/>
          <p:cNvSpPr/>
          <p:nvPr/>
        </p:nvSpPr>
        <p:spPr>
          <a:xfrm rot="0" flipH="0" flipV="0">
            <a:off x="4895850" y="4000500"/>
            <a:ext cx="38100" cy="571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5086350" y="4191000"/>
            <a:ext cx="2476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记录已保存，宋青未读取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7715250" y="4200525"/>
            <a:ext cx="3695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核对保存、通知、接收、查询链</a:t>
            </a:r>
            <a:endParaRPr/>
          </a:p>
        </p:txBody>
      </p:sp>
      <p:sp>
        <p:nvSpPr>
          <p:cNvPr id="470" name=""/>
          <p:cNvSpPr/>
          <p:nvPr/>
        </p:nvSpPr>
        <p:spPr>
          <a:xfrm rot="0" flipH="0" flipV="0">
            <a:off x="4724400" y="4914900"/>
            <a:ext cx="6858000" cy="1028700"/>
          </a:xfrm>
          <a:prstGeom prst="roundRect">
            <a:avLst>
              <a:gd name="adj" fmla="val 925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71" name=""/>
          <p:cNvSpPr/>
          <p:nvPr/>
        </p:nvSpPr>
        <p:spPr>
          <a:xfrm rot="0" flipH="0" flipV="0">
            <a:off x="4895850" y="5143500"/>
            <a:ext cx="38100" cy="571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5086350" y="5334000"/>
            <a:ext cx="2476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收到后说错</a:t>
            </a:r>
            <a:endParaRPr/>
          </a:p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7715250" y="5343525"/>
            <a:ext cx="3695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核对复述与实际使用，而非只看文件存在</a:t>
            </a:r>
            <a:endParaRPr/>
          </a:p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设备维护班组交接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23 / 24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476" name="" descr="&lt;Slide notes={`这一节讲的是一个很朴素但很容易被忽略的要求：交接不是把消息发出去，而是让对方真的接住。&#10;&#10;我留三个反问给大家，以后做自己的案例时可以拿出来对一遍。&#10;&#10;第一，对方是「收到」了，还是「正确复述或使用」了？只有后者才算到达。&#10;&#10;第二，这一项是经交接到达的，还是后来独立查询补上的？两条路径要分开报，不能互相回填。&#10;&#10;第三，记录已经保存，是不是就等于对方读过并且理解了？不等。&#10;&#10;把这三句话记住，你设计自己的交接实验时，分母和分子就不容易写错。`} style={{ width: 1280, height: 720, background: '#FFFFFF', flexDirection: 'column', padding: '20px 64px' }}&gt;&#10;&#10;    &lt;Box style={{ height: 100, flexDirection: 'row', alignItems: 'center', gap: 12 }}&gt;&#10;        &lt;Box style={{ width: 4, height: 36, background: '#276FBF' }} /&gt;&#10;        &lt;Text style={{ fontSize: 15, color: '#546779' }}&gt;第四章　面向问题的场景化应用　·　4.2　小结&lt;/Text&gt;&#10;    &lt;/Box&gt;&#10;&#10;    &lt;Box style={{ height: 540, flexDirection: 'column', gap: 16, justifyContent: 'center' }}&gt;&#10;&#10;        &lt;Text style={{ fontSize: 52, fontWeight: 'bold', color: '#20344B', lineHeight: 1.2 }}&gt;记住三个反问&lt;/Text&gt;&#10;        &lt;Box style={{ width: 72, height: 4, background: '#276FBF' }} /&gt;&#10;&#10;        &lt;Box style={{ height: 112, background: '#EDF4FC', borderRadius: 10, padding: '0 24px', flexDirection: 'row', alignItems: 'center', gap: 20 }}&gt;&#10;            &lt;Box style={{ width: 40, height: 40, background: '#276FBF', borderRadius: 20, justifyContent: 'center', alignItems: 'center' }}&gt;&#10;                &lt;Text style={{ fontSize: 18, color: '#FFFFFF' }}&gt;1&lt;/Text&gt;&#10;            &lt;/Box&gt;&#10;            &lt;Box style={{ flex: 1 }}&gt;&lt;Text style={{ fontSize: 19, color: '#20344B', lineHeight: 1.4 }}&gt;对方是「收到」了，还是「正确复述或使用」了？&lt;/Text&gt;&lt;/Box&gt;&#10;            &lt;Box style={{ width: 210 }}&gt;&lt;Text style={{ fontSize: 16, fontWeight: 'bold', color: '#276FBF' }}&gt;只认后者&lt;/Text&gt;&lt;/Box&gt;&#10;        &lt;/Box&gt;&#10;&#10;        &lt;Box style={{ height: 112, background: '#F7F3E8', borderRadius: 10, padding: '0 24px', flexDirection: 'row', alignItems: 'center', gap: 20 }}&gt;&#10;            &lt;Box style={{ width: 40, height: 40, background: '#CB6B28', borderRadius: 20, justifyContent: 'center', alignItems: 'center' }}&gt;&#10;                &lt;Text style={{ fontSize: 18, color: '#FFFFFF' }}&gt;2&lt;/Text&gt;&#10;            &lt;/Box&gt;&#10;            &lt;Box style={{ flex: 1 }}&gt;&lt;Text style={{ fontSize: 19, color: '#20344B', lineHeight: 1.4 }}&gt;这一项是经交接到达的，还是后来独立查询补的？&lt;/Text&gt;&lt;/Box&gt;&#10;            &lt;Box style={{ width: 210 }}&gt;&lt;Text style={{ fontSize: 16, fontWeight: 'bold', color: '#CB6B28' }}&gt;分开报，不回填&lt;/Text&gt;&lt;/Box&gt;&#10;        &lt;/Box&gt;&#10;&#10;        &lt;Box style={{ height: 112, background: '#ECF7F2', borderRadius: 10, padding: '0 24px', flexDirection: 'row', alignItems: 'center', gap: 20 }}&gt;&#10;            &lt;Box style={{ width: 40, height: 40, background: '#26816B', borderRadius: 20, justifyContent: 'center', alignItems: 'center' }}&gt;&#10;                &lt;Text style={{ fontSize: 18, color: '#FFFFFF' }}&gt;3&lt;/Text&gt;&#10;            &lt;/Box&gt;&#10;            &lt;Box style={{ flex: 1 }}&gt;&lt;Text style={{ fontSize: 19, color: '#20344B', lineHeight: 1.4 }}&gt;记录已保存，是否等于对方读过并理解？&lt;/Text&gt;&lt;/Box&gt;&#10;            &lt;Box style={{ width: 210 }}&gt;&lt;Text style={{ fontSize: 16, fontWeight: 'bold', color: '#26816B' }}&gt;保存不等于理解&lt;/Text&gt;&lt;/Box&gt;&#10;        &lt;/Box&gt;&#10;&#10;        &lt;Text style={{ fontSize: 14, color: '#546779', marginTop: 4 }}&gt;4.2 设备维护班组交接　·　本案为虚构教案，尚未制作资源与运行；下一节：图书馆与展馆导览&lt;/Text&gt;&#10;&#10;    &lt;/Box&gt;&#10;&#10;    &lt;Box style={{ height: 40, flexDirection: 'row', justifyContent: 'space-between', alignItems: 'center' }}&gt;&#10;        &lt;Text style={{ fontSize: 14, color: '#546779' }}&gt;4.2 设备维护班组交接&lt;/Text&gt;&#10;        &lt;Text style={{ fontSize: 14, color: '#546779' }}&gt;24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8" name=""/>
          <p:cNvSpPr/>
          <p:nvPr/>
        </p:nvSpPr>
        <p:spPr>
          <a:xfrm rot="0" flipH="0" flipV="0">
            <a:off x="609600" y="495300"/>
            <a:ext cx="38100" cy="342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762000" y="581025"/>
            <a:ext cx="2952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第四章　面向问题的场景化应用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4.2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小结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609600" y="1257300"/>
            <a:ext cx="10972800" cy="7143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记住三个反问</a:t>
            </a:r>
            <a:endParaRPr/>
          </a:p>
        </p:txBody>
      </p:sp>
      <p:sp>
        <p:nvSpPr>
          <p:cNvPr id="481" name=""/>
          <p:cNvSpPr/>
          <p:nvPr/>
        </p:nvSpPr>
        <p:spPr>
          <a:xfrm rot="0" flipH="0" flipV="0">
            <a:off x="609600" y="21240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82" name=""/>
          <p:cNvSpPr/>
          <p:nvPr/>
        </p:nvSpPr>
        <p:spPr>
          <a:xfrm rot="0" flipH="0" flipV="0">
            <a:off x="609600" y="2314575"/>
            <a:ext cx="10972800" cy="1066800"/>
          </a:xfrm>
          <a:prstGeom prst="roundRect">
            <a:avLst>
              <a:gd name="adj" fmla="val 892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83" name=""/>
          <p:cNvSpPr/>
          <p:nvPr/>
        </p:nvSpPr>
        <p:spPr>
          <a:xfrm rot="0" flipH="0" flipV="0">
            <a:off x="838200" y="265747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981075" y="2743200"/>
            <a:ext cx="1047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1409700" y="2695575"/>
            <a:ext cx="775335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>
                <a:solidFill>
                  <a:srgbClr val="20344B"/>
                </a:solidFill>
                <a:latin typeface="Microsoft YaHei"/>
                <a:ea typeface="Microsoft YaHei"/>
              </a:rPr>
              <a:t>对方是「收到」了，还是「正确复述或使用」了？</a:t>
            </a:r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9353550" y="2752725"/>
            <a:ext cx="2000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只认后者</a:t>
            </a:r>
            <a:endParaRPr/>
          </a:p>
        </p:txBody>
      </p:sp>
      <p:sp>
        <p:nvSpPr>
          <p:cNvPr id="487" name=""/>
          <p:cNvSpPr/>
          <p:nvPr/>
        </p:nvSpPr>
        <p:spPr>
          <a:xfrm rot="0" flipH="0" flipV="0">
            <a:off x="609600" y="3533775"/>
            <a:ext cx="10972800" cy="1066800"/>
          </a:xfrm>
          <a:prstGeom prst="roundRect">
            <a:avLst>
              <a:gd name="adj" fmla="val 8929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488" name=""/>
          <p:cNvSpPr/>
          <p:nvPr/>
        </p:nvSpPr>
        <p:spPr>
          <a:xfrm rot="0" flipH="0" flipV="0">
            <a:off x="838200" y="387667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981075" y="3962400"/>
            <a:ext cx="1047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1409700" y="3914775"/>
            <a:ext cx="775335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>
                <a:solidFill>
                  <a:srgbClr val="20344B"/>
                </a:solidFill>
                <a:latin typeface="Microsoft YaHei"/>
                <a:ea typeface="Microsoft YaHei"/>
              </a:rPr>
              <a:t>这一项是经交接到达的，还是后来独立查询补的？</a:t>
            </a:r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9353550" y="3971925"/>
            <a:ext cx="2000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分开报，不回填</a:t>
            </a:r>
            <a:endParaRPr/>
          </a:p>
        </p:txBody>
      </p:sp>
      <p:sp>
        <p:nvSpPr>
          <p:cNvPr id="492" name=""/>
          <p:cNvSpPr/>
          <p:nvPr/>
        </p:nvSpPr>
        <p:spPr>
          <a:xfrm rot="0" flipH="0" flipV="0">
            <a:off x="609600" y="4752975"/>
            <a:ext cx="10972800" cy="1066800"/>
          </a:xfrm>
          <a:prstGeom prst="roundRect">
            <a:avLst>
              <a:gd name="adj" fmla="val 892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93" name=""/>
          <p:cNvSpPr/>
          <p:nvPr/>
        </p:nvSpPr>
        <p:spPr>
          <a:xfrm rot="0" flipH="0" flipV="0">
            <a:off x="838200" y="509587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981075" y="5181600"/>
            <a:ext cx="1047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1409700" y="5133975"/>
            <a:ext cx="775335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>
                <a:solidFill>
                  <a:srgbClr val="20344B"/>
                </a:solidFill>
                <a:latin typeface="Microsoft YaHei"/>
                <a:ea typeface="Microsoft YaHei"/>
              </a:rPr>
              <a:t>记录已保存，是否等于对方读过并理解？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9353550" y="5191125"/>
            <a:ext cx="2000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保存不等于理解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609600" y="6010275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设备维护班组交接　·　本案为虚构教案，尚未制作资源与运行；下一节：图书馆与展馆导览</a:t>
            </a:r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设备维护班组交接</a:t>
            </a:r>
            <a:endParaRPr/>
          </a:p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24 / 24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2026-09-29T09:31:54Z</dcterms:created>
  <dcterms:modified xsi:type="dcterms:W3CDTF">2026-09-29T09:31:54Z</dcterms:modified>
</cp:coreProperties>
</file>