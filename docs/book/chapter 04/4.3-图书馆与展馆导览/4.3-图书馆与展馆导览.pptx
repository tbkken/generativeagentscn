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24" Type="http://schemas.openxmlformats.org/officeDocument/2006/relationships/slide" Target="slides/slide24.xml" /><Relationship Id="rId12" Type="http://schemas.openxmlformats.org/officeDocument/2006/relationships/slide" Target="slides/slide12.xml" /><Relationship Id="rId22" Type="http://schemas.openxmlformats.org/officeDocument/2006/relationships/slide" Target="slides/slide22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9" Type="http://schemas.openxmlformats.org/officeDocument/2006/relationships/slide" Target="slides/slide9.xml" /><Relationship Id="rId2" Type="http://schemas.openxmlformats.org/officeDocument/2006/relationships/slide" Target="slides/slide2.xml" /><Relationship Id="rId15" Type="http://schemas.openxmlformats.org/officeDocument/2006/relationships/slide" Target="slides/slide15.xml" /><Relationship Id="rId23" Type="http://schemas.openxmlformats.org/officeDocument/2006/relationships/slide" Target="slides/slide2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5" Type="http://schemas.openxmlformats.org/officeDocument/2006/relationships/slide" Target="slides/slide5.xml" /><Relationship Id="rId20" Type="http://schemas.openxmlformats.org/officeDocument/2006/relationships/slide" Target="slides/slide20.xml" /><Relationship Id="rId19" Type="http://schemas.openxmlformats.org/officeDocument/2006/relationships/slide" Target="slides/slide19.xml" /><Relationship Id="rId21" Type="http://schemas.openxmlformats.org/officeDocument/2006/relationships/slide" Target="slides/slide21.xml" /><Relationship Id="rId25" Type="http://schemas.openxmlformats.org/officeDocument/2006/relationships/notesMaster" Target="notesMasters/notesMaster1.xml" 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想找鸟类图册的人，走进的却是纸艺区。遇到这种情况，我们很容易先怀疑文字写得不够清楚，但还有一种可能：他根本没看见导览。</a:t>
            </a:r>
          </a:p>
          <a:p>
            <a:r>
              <a:rPr lang="zh-CN" dirty="0"/>
              <a:t>我这次要做的实验非常克制：信息不变，人物的行为规则不变，甲乙两厅的资料对象和通路也都不动，只把同一块导览牌从一个位置挪到另一个位置，再看发现和访问会不会跟着变。</a:t>
            </a:r>
          </a:p>
          <a:p>
            <a:r>
              <a:rPr lang="zh-CN" dirty="0"/>
              <a:t>为什么要这么克制？因为只要同时动了别的东西，结果就说不清是哪一项造成的。牌子本身就是立在通道里的一块非阻挡物，它不挡路，只提供语义；它能起作用，靠的是被人真实看见，或者被真实查询。</a:t>
            </a:r>
          </a:p>
          <a:p>
            <a:r>
              <a:rPr lang="zh-CN" dirty="0"/>
              <a:t>先把问题收窄成一句话：同一块牌子，换个位置，会怎样。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这一小节我顺着四个问题往下走。</a:t>
            </a:r>
          </a:p>
          <a:p>
            <a:r>
              <a:rPr lang="zh-CN" dirty="0"/>
              <a:t>第一，信息在谁手里。访客只有自己的兴趣，主题答案只存在导览牌和介绍对象那里；评分者的答案属于教师材料，不能提前进入共同上下文。</a:t>
            </a:r>
          </a:p>
          <a:p>
            <a:r>
              <a:rPr lang="zh-CN" dirty="0"/>
              <a:t>第二，唯一干预是什么。24×18 格的两幅平面图，外框、通路、资料对象全都一样，只有那块橙色牌子的坐标不同，而且不增改任何碰撞格。</a:t>
            </a:r>
          </a:p>
          <a:p>
            <a:r>
              <a:rPr lang="zh-CN" dirty="0"/>
              <a:t>第三，位置怎样真的起作用。被发现只是第一步，真实介绍来自查询回复，讲解员的实际帮助是另一条有效来源；最后的依据是坐标、地址和对应活动。</a:t>
            </a:r>
          </a:p>
          <a:p>
            <a:r>
              <a:rPr lang="zh-CN" dirty="0"/>
              <a:t>第四，怎么量、怎么判。一个时间窗口、一个软步行预算、四个把发现与使用分开的指标，再加上人工判分和失败解释。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先说信息边界，这是整个实验能不能成立的前提。</a:t>
            </a:r>
          </a:p>
          <a:p>
            <a:r>
              <a:rPr lang="zh-CN" dirty="0"/>
              <a:t>四位访客各自的兴趣不同：安禾要辨认城市常见鸟类的外形，罗宁想了解鸟类活动的记录方法，姚知比较传统纸艺纹样，施远要了解纸艺制作步骤。他们自己只知道自己的兴趣，不知道哪一厅对应哪一类主题。</a:t>
            </a:r>
          </a:p>
          <a:p>
            <a:r>
              <a:rPr lang="zh-CN" dirty="0"/>
              <a:t>公共名称里我只写甲厅和乙厅，绝不提前写成鸟类厅或者纸艺厅。原因很直接：一旦名称泄漏了主题，人物不用看见导览牌也能猜对答案，后面所有关于发现的测量就都失去意义。</a:t>
            </a:r>
          </a:p>
          <a:p>
            <a:r>
              <a:rPr lang="zh-CN" dirty="0"/>
              <a:t>真实介绍只能来自两处：导览牌按包内主题表答复，介绍对象只解释自身主题。评分者手里的答案留给教师判分，不进入人物的共同上下文。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四个人四种兴趣，评分者手里有唯一的答案，这份答案只用于判分。</a:t>
            </a:r>
          </a:p>
          <a:p>
            <a:r>
              <a:rPr lang="zh-CN" dirty="0"/>
              <a:t>安禾的兴趣是辨认城市常见鸟类外形，对应的活动是阅读或者观看鸟类图册，答案落点在甲厅；罗宁要了解鸟类活动记录方法，对应阅读鸟类观察记录，也在甲厅。姚知比较传统纸艺纹样，对应观看或者阅读纹样资料；施远了解纸艺制作步骤，对应查看过程图片或者说明，这两项落在乙厅。</a:t>
            </a:r>
          </a:p>
          <a:p>
            <a:r>
              <a:rPr lang="zh-CN" dirty="0"/>
              <a:t>关键在于，访客本人看不到右边这一列。共同 Brain 里没有完整兴趣表，人物只有自己那一条兴趣，再加上入口和休息区这两个初始已知空间。</a:t>
            </a:r>
          </a:p>
          <a:p>
            <a:r>
              <a:rPr lang="zh-CN" dirty="0"/>
              <a:t>如果他们提前知道答案，实验就变成了记忆测试，而不是发现测试。这也是为什么公共名称只写甲厅、乙厅，不写主题。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除了四位访客，场景里还有四个信息持有者，他们各自只掌握自己那一份，谁也不许越界。</a:t>
            </a:r>
          </a:p>
          <a:p>
            <a:r>
              <a:rPr lang="zh-CN" dirty="0"/>
              <a:t>甲厅介绍对象掌握的是城市鸟类外形图册和鸟类活动记录；乙厅介绍对象掌握纸艺纹样和制作过程图片，注意这里没有真实的手作器材，所以纸艺厅的活动只能是观看和阅读。导览牌掌握两厅主题、适用活动和真实地址。讲解员温岚掌握的内容和导览牌一样，但她从休息区开始活动，只帮助实际遇到并且主动求助的人，不逐人广播。</a:t>
            </a:r>
          </a:p>
          <a:p>
            <a:r>
              <a:rPr lang="zh-CN" dirty="0"/>
              <a:t>还有一条容易做错的边界：讲解员帮助了没有看见牌子的访客并且让他成功，这是合理的补救路径，不能为了让干预看起来有效就把这个结果删掉。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接下来是这次实验里唯一真正被改动的东西。</a:t>
            </a:r>
          </a:p>
          <a:p>
            <a:r>
              <a:rPr lang="zh-CN" dirty="0"/>
              <a:t>两幅平面图来自同一个对象：24 格宽、18 格高的网格，边界封闭、内部连通。入口、甲厅、乙厅、休息区四个区域的位置在两幅图里完全一样，资料对象和邻格关系也一样。</a:t>
            </a:r>
          </a:p>
          <a:p>
            <a:r>
              <a:rPr lang="zh-CN" dirty="0"/>
              <a:t>不同之处只有一处：那块橙色的导览牌。基线条件里它立在入口区靠左的位置，坐标为 2、2、1、1；对照条件里它挪到入口区偏中右的位置，坐标为 12、5、1、1。</a:t>
            </a:r>
          </a:p>
          <a:p>
            <a:r>
              <a:rPr lang="zh-CN" dirty="0"/>
              <a:t>位置移动的时候，语义范围与服务范围跟着走，显示素材也随之更新，但我不新增也不修改任何一个碰撞格。名称、内容、根 Skill、交互距离、图片尺寸全部保持一致，背景里也不能留下另一块烘焙好的牌子。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这两幅网格请只看一处差异：橙色牌子。</a:t>
            </a:r>
          </a:p>
          <a:p>
            <a:r>
              <a:rPr lang="zh-CN" dirty="0"/>
              <a:t>两幅图的外框完全一样，都是封闭边界；内部的通路、甲厅和乙厅的分界、休息区的位置也都一样。左边是基线，牌子在入口区靠左，坐标为 2、2、1、1；右边是对照，牌子在入口区偏中右，坐标为 12、5、1、1。</a:t>
            </a:r>
          </a:p>
          <a:p>
            <a:r>
              <a:rPr lang="zh-CN" dirty="0"/>
              <a:t>我要研究的不是牌子挡住了谁，也不是谁因此绕了更远的路。牌子是非阻挡的，它不改变通行难度，只改变被看见、被查询到的机会。</a:t>
            </a:r>
          </a:p>
          <a:p>
            <a:r>
              <a:rPr lang="zh-CN" dirty="0"/>
              <a:t>还有一条容易被忽略：纸面距离不等于感知范围。两处位置到底哪一处更容易被发现，取决于人物视野与注意力截断的真实返回，不能只看图纸上离出生点近还是远。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四个区域的坐标是这样定的。入口占 1、1、22、6，也就是最上面 6 格高、横向贯通；甲厅是 1、7、10、6，在左下，宽 10 格；乙厅是 11、7、12、6，在右下，宽 12 格；休息区是 1、13、22、4，横贯底部。</a:t>
            </a:r>
          </a:p>
          <a:p>
            <a:r>
              <a:rPr lang="zh-CN" dirty="0"/>
              <a:t>牌子的两组坐标是基线 2、2、1、1 与对照 12、5、1、1，尺寸都是 1 格乘 1 格。</a:t>
            </a:r>
          </a:p>
          <a:p>
            <a:r>
              <a:rPr lang="zh-CN" dirty="0"/>
              <a:t>两个条件除牌子位置以外完全一致：World 是青禾社区，Sector 是主题馆，边界封闭、内部连通，两厅资料对象与邻格不变。要点在于不增改任何碰撞格，背景里也不能留下另一块烘焙好的牌子。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在正式跑之前有三件事必须核对，而且顺序不能颠倒。</a:t>
            </a:r>
          </a:p>
          <a:p>
            <a:r>
              <a:rPr lang="zh-CN" dirty="0"/>
              <a:t>第一是出生位置。四人从入口进入，但真正的出生点以空间选择器保存的结果为准，不能拿作者草图当事实。</a:t>
            </a:r>
          </a:p>
          <a:p>
            <a:r>
              <a:rPr lang="zh-CN" dirty="0"/>
              <a:t>第二是视野。5 格现在只是候选值，我要先算清两个牌子位置相对实际出生点与通路的距离，再决定用不用。</a:t>
            </a:r>
          </a:p>
          <a:p>
            <a:r>
              <a:rPr lang="zh-CN" dirty="0"/>
              <a:t>第三是注意力。8 也是候选值，先看候选有没有被截断，再谈结果。</a:t>
            </a:r>
          </a:p>
          <a:p>
            <a:r>
              <a:rPr lang="zh-CN" dirty="0"/>
              <a:t>这里有一条容易误解：系统可见性由空间范围和候选截断决定，不等于人眼朝向、阅读距离或墙体遮挡，所以不能假定背对就一定看不见。</a:t>
            </a:r>
          </a:p>
          <a:p>
            <a:r>
              <a:rPr lang="zh-CN" dirty="0"/>
              <a:t>如果两个位置都立刻可见，应该在业务比较之前就修订设计并记录，绝不能看完结果再回头挑位置。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位置想产生影响，前提是信息本身是真实的。这里有三条来源，每一条都有自己的边界。</a:t>
            </a:r>
          </a:p>
          <a:p>
            <a:r>
              <a:rPr lang="zh-CN" dirty="0"/>
              <a:t>导览牌只按包内的主题表答复，遇到兴趣缺项先澄清，不许编造展品、捷径或者服务。介绍对象只解释自身主题，不泄漏人物的私人目标，并且按真实请求 ID 回复，不代替人物宣布已经决定了什么。</a:t>
            </a:r>
          </a:p>
          <a:p>
            <a:r>
              <a:rPr lang="zh-CN" dirty="0"/>
              <a:t>讲解员温岚是并行的第三条来源，她实际帮助那些遇到她并且主动求助的人。这条路径同样有效，而且是合理的补救。</a:t>
            </a:r>
          </a:p>
          <a:p>
            <a:r>
              <a:rPr lang="zh-CN" dirty="0"/>
              <a:t>三条来源加起来，保证人物拿到的主题介绍是真实发生过的，而不是被谁提前塞进共同记忆里的答案。这是整个实验能立住的基础。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整条链有四个证据环节：发现、主题匹配、抵达、使用。</a:t>
            </a:r>
          </a:p>
          <a:p>
            <a:r>
              <a:rPr lang="zh-CN" dirty="0"/>
              <a:t>发现指人物真的感知到牌子，或者真的和它交互过。主题匹配指他依据真实收到的介绍来选择，不是根据甲厅、乙厅这两个名字去猜。抵达要核对实际坐标和地址。使用才是最后一步，提交一次符合本人兴趣的活动。</a:t>
            </a:r>
          </a:p>
          <a:p>
            <a:r>
              <a:rPr lang="zh-CN" dirty="0"/>
              <a:t>讲解员的实际帮助是一条并入匹配的旁路：没有看见牌子的人，也可能因为求助而成功，这是合理补救。</a:t>
            </a:r>
          </a:p>
          <a:p>
            <a:r>
              <a:rPr lang="zh-CN" dirty="0"/>
              <a:t>把这条链记住，是因为后面所有指标都要落在这四个环节上。G2 可以没见牌却成功，G3 也可能看见了牌子却没有使用资料，这两件事同时成立，恰恰说明发现和使用不是同一个指标。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这三个来源回答的范围不一样，必须提前写清楚。</a:t>
            </a:r>
          </a:p>
          <a:p>
            <a:r>
              <a:rPr lang="zh-CN" dirty="0"/>
              <a:t>导览牌只按包内主题表答复。如果有人问的主题不在表里，它要先澄清，不能自己编一个展品、一条捷径或者一项服务出来。介绍对象只解释自身那一个主题，不会泄漏别人的私人目标。讲解员温岚的回应内容和导览牌一致，但她从休息区开始活动，只帮实际遇到并且主动求助的人，不逐人广播。</a:t>
            </a:r>
          </a:p>
          <a:p>
            <a:r>
              <a:rPr lang="zh-CN" dirty="0"/>
              <a:t>还有一条统一规则：所有回复都按真实请求 ID 返回，谁也不代替人物宣布他已经决定了什么。</a:t>
            </a:r>
          </a:p>
          <a:p>
            <a:r>
              <a:rPr lang="zh-CN" dirty="0"/>
              <a:t>把范围划清楚，是为了保证「发现导览牌」带来的是真实信息，而不是被事先安排好的答案。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两个条件共用同一份 Brain，里面的行为次序是这样定的。</a:t>
            </a:r>
          </a:p>
          <a:p>
            <a:r>
              <a:rPr lang="zh-CN" dirty="0"/>
              <a:t>先检索自己的目标和已经获得的信息，再感知当前地点。当发现了导览牌或者资料对象、而信息还不够的时候，接近之后提交真实查询；如果遇到能回答问题的讲解员，可以询问。只依据收到的介绍来选择主题，不根据甲厅、乙厅这两个名字去猜答案。</a:t>
            </a:r>
          </a:p>
          <a:p>
            <a:r>
              <a:rPr lang="zh-CN" dirty="0"/>
              <a:t>如果没有拿到必要信息，可以沿着已知的公共空间探索，发现新区域之后再核实。目标确定以后查询合法路径，按实际位置继续移动；抵达后在真实地点做一次与兴趣相符的阅读或观看活动，并把有证据的体验写进个人记忆。</a:t>
            </a:r>
          </a:p>
          <a:p>
            <a:r>
              <a:rPr lang="zh-CN" dirty="0"/>
              <a:t>两个组别都不改 Brain、不加对照专用 Skill、不增加视野或讲解员提醒。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有一条边界经常被搞混：回复里出现了地址，并不等于工具已经允许导航。</a:t>
            </a:r>
          </a:p>
          <a:p>
            <a:r>
              <a:rPr lang="zh-CN" dirty="0"/>
              <a:t>系统在给人物做检查的时候，要求目标地点必须已经在他的已知空间里，或者在实际感知中出现过。如果两条都不满足，他得先去探索，并且真的感知到那个地方，再来查询路径。</a:t>
            </a:r>
          </a:p>
          <a:p>
            <a:r>
              <a:rPr lang="zh-CN" dirty="0"/>
              <a:t>普通记忆也不能绕过这项检查。人物不能凭「我记得那个厅在这边」就直接前往，因为那等于绕开了真实信息这一环。</a:t>
            </a:r>
          </a:p>
          <a:p>
            <a:r>
              <a:rPr lang="zh-CN" dirty="0"/>
              <a:t>还有一点要说清楚：如果信息不足，允许人物沿着已知的公共空间探索，发现新区域之后再核实。这不是钻空子，而是符合现实的行为方式，我们也必须把它记进证据里。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这一段讲怎么量。第一步是把时间和步数固定下来。</a:t>
            </a:r>
          </a:p>
          <a:p>
            <a:r>
              <a:rPr lang="zh-CN" dirty="0"/>
              <a:t>窗口 W 定为 2026 年 10 月 20 日 14 点到 15 点，时区是 Asia/Shanghai。步长是 1 分钟一步，整个窗口一共 61 步。</a:t>
            </a:r>
          </a:p>
          <a:p>
            <a:r>
              <a:rPr lang="zh-CN" dirty="0"/>
              <a:t>在这个窗口里，我给每个人 40 格的软步行预算，它既是任务约束，也是人工判分的条件。要特别注意「软」这个字：内核不会自动扣额，也不会在 40 格处截停人物。人物只能根据真实进度自己控制探索。</a:t>
            </a:r>
          </a:p>
          <a:p>
            <a:r>
              <a:rPr lang="zh-CN" dirty="0"/>
              <a:t>为什么不能把未知消耗当成零？因为没被记下来的消耗并不等于没有消耗。如果把预算当成内核自动生效的额度，后面所有比值都会被算错。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40 格到底该怎么理解，这里要划清三条界线。</a:t>
            </a:r>
          </a:p>
          <a:p>
            <a:r>
              <a:rPr lang="zh-CN" dirty="0"/>
              <a:t>第一，它是人物任务约束，也是人工判分的条件，但不是内核的自动额度。内核不会在 40 格处扣掉人物的行动，也不会把他截停。</a:t>
            </a:r>
          </a:p>
          <a:p>
            <a:r>
              <a:rPr lang="zh-CN" dirty="0"/>
              <a:t>第二，未知消耗不能当成零。人物要根据真实进度自己控制探索，遇到没算清的路程，我们也要如实记录。</a:t>
            </a:r>
          </a:p>
          <a:p>
            <a:r>
              <a:rPr lang="zh-CN" dirty="0"/>
              <a:t>第三，预算会凸显绕行代价，同时也会掩盖继续探索之后取得的成功。所以要同时报告预算内和预算外的结果，并且不能把这 40 格称作人类耐力标准。</a:t>
            </a:r>
          </a:p>
          <a:p>
            <a:r>
              <a:rPr lang="zh-CN" dirty="0"/>
              <a:t>另外，走到预算不等于要虚构离馆行为，人物可以真的在场地里休息或者阅读。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路程到底怎么数，只有一条口径：计已经执行的相邻移动边。</a:t>
            </a:r>
          </a:p>
          <a:p>
            <a:r>
              <a:rPr lang="zh-CN" dirty="0"/>
              <a:t>如果提交的 executed_path 里包含起点，那么 N 个点只产生 N−1 条边。如果数组里不含起点，要先把事实中的 from_coord 接进去，再数边。</a:t>
            </a:r>
          </a:p>
          <a:p>
            <a:r>
              <a:rPr lang="zh-CN" dirty="0"/>
              <a:t>空路径、只有计划没有执行、以及被拒绝的请求，都不产生已执行路程，也不计入成本。</a:t>
            </a:r>
          </a:p>
          <a:p>
            <a:r>
              <a:rPr lang="zh-CN" dirty="0"/>
              <a:t>还有一种情况要单独处理：如果有人超过 40 格之后才完成匹配，那就另报一条「超预算匹配」，不进入主要成功分子。</a:t>
            </a:r>
          </a:p>
          <a:p>
            <a:r>
              <a:rPr lang="zh-CN" dirty="0"/>
              <a:t>为什么强调「已执行」？因为计划路径和实际走出来的路径经常不一样，只按计划算，会把只说不做的方案也算成成本。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四个指标各自回答不同的问题，要一起看。</a:t>
            </a:r>
          </a:p>
          <a:p>
            <a:r>
              <a:rPr lang="zh-CN" dirty="0"/>
              <a:t>合适区域使用率是主指标：窗口内、累计不超过 40 格、真实抵达匹配区域并提交至少一次对应活动的人数，除以 4，每人只算一次。导览发现率看的是首入主题区之前，真实感知中出现过导览牌、或者真实交互过的人数。成功访问路程成本是窗口内全体实际移动格数除以主要成功人数，失败路程也计在内，零成功就无法计算。首次匹配时延是从 Run 开始到第一个满足兴趣、位置和预算条件的活动，用虚拟分钟表示。</a:t>
            </a:r>
          </a:p>
          <a:p>
            <a:r>
              <a:rPr lang="zh-CN" dirty="0"/>
              <a:t>要提醒自己：感知出现只支持「发现」，不支撑「使用」；一次活动也不证明读完了或者掌握了知识。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这四个人走到了哪里，结果并不一样。</a:t>
            </a:r>
          </a:p>
          <a:p>
            <a:r>
              <a:rPr lang="zh-CN" dirty="0"/>
              <a:t>G1 在甲厅读图册，活动发生时累计 20 格，成功。G2 在甲厅读记录，活动发生时累计 32 格，也成功。G3 到了乙厅，但只做了「寻找展品」，活动缺失，不进入主要分子。G4 在乙厅查看制作步骤时累计 43 格，超过 40 格的软预算，同样不进主要分子。</a:t>
            </a:r>
          </a:p>
          <a:p>
            <a:r>
              <a:rPr lang="zh-CN" dirty="0"/>
              <a:t>要注意两点。第一，20、32、43 这三个数是各次对应活动发生时的累计路程，时间点不同，不能直接相加。第二，G3 和 G4 虽然判定为不成功，但仍然留在四人的分母里，失败的路程也照样计入成本。</a:t>
            </a:r>
          </a:p>
          <a:p>
            <a:r>
              <a:rPr lang="zh-CN" dirty="0"/>
              <a:t>还有一点，G3 的路程根本没有给定，不能替他补造一个数字。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这两个数字是这样算出来的。</a:t>
            </a:r>
          </a:p>
          <a:p>
            <a:r>
              <a:rPr lang="zh-CN" dirty="0"/>
              <a:t>先看使用率。成功的是 G1 和 G2，两个人；分母是全部四人。所以 2 除以 4 等于 50%。</a:t>
            </a:r>
          </a:p>
          <a:p>
            <a:r>
              <a:rPr lang="zh-CN" dirty="0"/>
              <a:t>再看路程成本。窗口末全体访客的实际累计路程是 120 格，主要成功人数是 2，所以 120 除以 2 等于 60 格每一次成功访问。</a:t>
            </a:r>
          </a:p>
          <a:p>
            <a:r>
              <a:rPr lang="zh-CN" dirty="0"/>
              <a:t>关键是这两个量的时间边界不一样。20 格、32 格、43 格分别是 G1、G2、G4 各自的对应活动发生时的累计路程；而 120 格是窗口结束时全体的累计量。</a:t>
            </a:r>
          </a:p>
          <a:p>
            <a:r>
              <a:rPr lang="zh-CN" dirty="0"/>
              <a:t>所以我不能用 120 去减前三个数，来倒推 G3 的路程。那个数根本没有给定，任何倒推都是编造。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结果不合预期的时候，我们要能说出可能的原因，并且知道去查哪一份证据。</a:t>
            </a:r>
          </a:p>
          <a:p>
            <a:r>
              <a:rPr lang="zh-CN" dirty="0"/>
              <a:t>如果是两个位置都可见、注意力在返回时被截断，那就去比对感知候选与实际返回。</a:t>
            </a:r>
          </a:p>
          <a:p>
            <a:r>
              <a:rPr lang="zh-CN" dirty="0"/>
              <a:t>如果是查过了还是选错，那就去看请求、回复和目标判断这三步。</a:t>
            </a:r>
          </a:p>
          <a:p>
            <a:r>
              <a:rPr lang="zh-CN" dirty="0"/>
              <a:t>如果是讲解员已经补救过，或者重复询问花了时间，那就去看实际对话和时序。</a:t>
            </a:r>
          </a:p>
          <a:p>
            <a:r>
              <a:rPr lang="zh-CN" dirty="0"/>
              <a:t>如果是语义与图像不一致、碰撞格被改、出生点变了，这些都属于装配问题，必须先记录下来，不能伪装成空间干预的效果。</a:t>
            </a:r>
          </a:p>
          <a:p>
            <a:r>
              <a:rPr lang="zh-CN" dirty="0"/>
              <a:t>最后一条提醒：一次干预只改一个因素，出了问题才有办法把原因落到具体那一项上。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留一个练习给 G3。</a:t>
            </a:r>
          </a:p>
          <a:p>
            <a:r>
              <a:rPr lang="zh-CN" dirty="0"/>
              <a:t>G3 到过乙厅，当时的记录里只有「寻找展品」。现在的问题是：如果他继续做了「寻找资料」，或者做了「观看纸艺纹样」，这两种行为该怎么判分？</a:t>
            </a:r>
          </a:p>
          <a:p>
            <a:r>
              <a:rPr lang="zh-CN" dirty="0"/>
              <a:t>我的判断是，「寻找资料」仍然只是过程行为，不满足活动条件；真正可能满足条件的是「观看纸艺纹样」，因为那才对应他本人的兴趣——比较传统纸艺纹样。</a:t>
            </a:r>
          </a:p>
          <a:p>
            <a:r>
              <a:rPr lang="zh-CN" dirty="0"/>
              <a:t>但满足活动条件还不等于判为成功，还要检查两件事：位置是不是真的在乙厅，以及他到那一刻的累计路程有没有超过 40 格。</a:t>
            </a:r>
          </a:p>
          <a:p>
            <a:r>
              <a:rPr lang="zh-CN" dirty="0"/>
              <a:t>这正好说明为什么主指标要同时写清活动语义、实际位置和软预算这三个条件。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如果要做下一轮，我建议把牌子位置固定下来，只改工具实际返回的某一项语义文本，然后核对人物是不是真的收到了这个变化。</a:t>
            </a:r>
          </a:p>
          <a:p>
            <a:r>
              <a:rPr lang="zh-CN" dirty="0"/>
              <a:t>为什么要这么改？因为当前人物读取的是语义、公开的状态和地址，他不消费地图或者牌子上的图片像素。换句话说，把牌子换个颜色、改个字号、换张图片，这些变化主要影响的是人类回放时看到的外观。</a:t>
            </a:r>
          </a:p>
          <a:p>
            <a:r>
              <a:rPr lang="zh-CN" dirty="0"/>
              <a:t>它们可以作为「预期没有直接行为通道」的对照组，但不能保证随机运行的每一步都相同。</a:t>
            </a:r>
          </a:p>
          <a:p>
            <a:r>
              <a:rPr lang="zh-CN" dirty="0"/>
              <a:t>这条区分很重要：它决定了哪些改动值得投入，哪些改动只是在给回看的人看。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最后记住三个分界，它们贯穿整节的判断。</a:t>
            </a:r>
          </a:p>
          <a:p>
            <a:r>
              <a:rPr lang="zh-CN" dirty="0"/>
              <a:t>第一个，发现不等于使用。导览发现率看的是有没有真的感知到导览牌，合适区域使用率看的是有没有真的抵达并提交符合兴趣的活动。G2 可以没见牌却成功，G3 可以见牌却没用，正好说明这两个不是同一个指标。</a:t>
            </a:r>
          </a:p>
          <a:p>
            <a:r>
              <a:rPr lang="zh-CN" dirty="0"/>
              <a:t>第二个，看见不等于读懂。感知到牌子只是定位了信息源，真实介绍来自查询回复。</a:t>
            </a:r>
          </a:p>
          <a:p>
            <a:r>
              <a:rPr lang="zh-CN" dirty="0"/>
              <a:t>第三个，纸面距离不等于感知范围。两处位置谁更容易被发现，要看人物视野与注意力截断的真实返回，不能凭图纸上的远近来下结论。</a:t>
            </a:r>
          </a:p>
          <a:p>
            <a:r>
              <a:rPr lang="zh-CN" dirty="0"/>
              <a:t>这三个分界立住了，一次空间干预的实验设计才站得住。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想找鸟类图册的人，走进的却是纸艺区。遇到这种情况，我们很容易先怀疑文字写得不够清楚，但还有一种可能：他根本没看见导览。&#10;&#10;我这次要做的实验非常克制：信息不变，人物的行为规则不变，甲乙两厅的资料对象和通路也都不动，只把同一块导览牌从一个位置挪到另一个位置，再看发现和访问会不会跟着变。&#10;&#10;为什么要这么克制？因为只要同时动了别的东西，结果就说不清是哪一项造成的。牌子本身就是立在通道里的一块非阻挡物，它不挡路，只提供语义；它能起作用，靠的是被人真实看见，或者被真实查询。&#10;&#10;先把问题收窄成一句话：同一块牌子，换个位置，会怎样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四章　面向问题的场景化应用　·　4.3　图书馆与展馆导览&lt;/Text&gt;&#10;    &lt;/Box&gt;&#10;&#10;    &lt;Box style={{ height: 540, flexDirection: 'row', alignItems: 'center', gap: 32 }}&gt;&#10;&#10;        &lt;Box style={{ width: 560, flexDirection: 'column', justifyContent: 'center', gap: 14 }}&gt;&#10;            &lt;Text style={{ fontSize: 52, fontWeight: 'bold', color: '#20344B', lineHeight: 1.2 }}&gt;同一块牌子，{'\n'}换个位置会怎样&lt;/Text&gt;&#10;            &lt;Box style={{ width: 72, height: 4, background: '#276FBF' }} /&gt;&#10;            &lt;Text style={{ fontSize: 17, color: '#546779', lineHeight: 1.7, width: 560 }}&gt;青禾主题馆是一个虚构教案，尚未制作资源、上传或运行。保持信息与行为规则相同，只把导览牌移一个位置，看发现与访问会不会改变。&lt;/Text&gt;&#10;            &lt;Box style={{ flexDirection: 'row', gap: 12, marginTop: 4 }}&gt;&#10;                &lt;Box style={{ width: 128, height: 42, background: '#EDF4FC', borderRadius: 8, justifyContent: 'center', alignItems: 'center' }}&gt;&#10;                    &lt;Text style={{ fontSize: 15, color: '#276FBF' }}&gt;兴趣私有&lt;/Text&gt;&#10;                &lt;/Box&gt;&#10;                &lt;Box style={{ width: 128, height: 42, background: '#EDF4FC', borderRadius: 8, justifyContent: 'center', alignItems: 'center' }}&gt;&#10;                    &lt;Text style={{ fontSize: 15, color: '#276FBF' }}&gt;通路不变&lt;/Text&gt;&#10;                &lt;/Box&gt;&#10;                &lt;Box style={{ width: 128, height: 42, background: '#F4F7FA', borderRadius: 8, justifyContent: 'center', alignItems: 'center' }}&gt;&#10;                    &lt;Text style={{ fontSize: 15, color: '#546779' }}&gt;只挪牌子&lt;/Text&gt;&#10;                &lt;/Box&gt;&#10;                &lt;Box style={{ width: 128, height: 42, background: '#FFF4E6', borderRadius: 8, justifyContent: 'center', alignItems: 'center' }}&gt;&#10;                    &lt;Text style={{ fontSize: 15, color: '#CB6B28' }}&gt;发现取证&lt;/Text&gt;&#10;                &lt;/Box&gt;&#10;            &lt;/Box&gt;&#10;        &lt;/Box&gt;&#10;&#10;        &lt;Box style={{ width: 560, flexDirection: 'column', justifyContent: 'center', gap: 12 }}&gt;&#10;&#10;            &lt;Box style={{ width: 400, height: 304, background: '#20344B', padding: 8, flexDirection: 'column', alignSelf: 'center' }}&gt;&#10;                &lt;Box style={{ flex: 1, background: '#F4F7FA', flexDirection: 'column' }}&gt;&#10;&#10;                    &lt;Box style={{ height: 16, background: '#F4F7FA' }} /&gt;&#10;&#10;                    &lt;Box style={{ height: 96, flexDirection: 'row' }}&gt;&#10;                        &lt;Box style={{ width: 16, background: '#F4F7FA' }} /&gt;&#10;                        &lt;Box style={{ width: 352, height: 96, background: '#F4F7FA', flexDirection: 'column' }}&gt;&#10;                            &lt;Box style={{ height: 64, background: '#F4F7FA' }} /&gt;&#10;                            &lt;Box style={{ height: 16, flexDirection: 'row' }}&gt;&#10;                                &lt;Box style={{ width: 176, background: '#F4F7FA' }} /&gt;&#10;                                &lt;Box style={{ width: 16, background: '#CB6B28' }} /&gt;&#10;                                &lt;Box style={{ width: 160, background: '#F4F7FA' }} /&gt;&#10;                            &lt;/Box&gt;&#10;                            &lt;Box style={{ height: 16, background: '#F4F7FA' }} /&gt;&#10;                        &lt;/Box&gt;&#10;                        &lt;Box style={{ width: 16, background: '#F4F7FA' }} /&gt;&#10;                    &lt;/Box&gt;&#10;&#10;                    &lt;Box style={{ height: 96, flexDirection: 'row' }}&gt;&#10;                        &lt;Box style={{ width: 16, background: '#F4F7FA' }} /&gt;&#10;                        &lt;Box style={{ width: 160, height: 96, background: '#EDF4FC', justifyContent: 'center', alignItems: 'center' }}&gt;&#10;                            &lt;Text style={{ fontSize: 14, color: '#276FBF' }}&gt;甲厅&lt;/Text&gt;&#10;                        &lt;/Box&gt;&#10;                        &lt;Box style={{ width: 192, height: 96, background: '#ECF7F2', justifyContent: 'center', alignItems: 'center' }}&gt;&#10;                            &lt;Text style={{ fontSize: 14, color: '#26816B' }}&gt;乙厅&lt;/Text&gt;&#10;                        &lt;/Box&gt;&#10;                        &lt;Box style={{ width: 16, background: '#F4F7FA' }} /&gt;&#10;                    &lt;/Box&gt;&#10;&#10;                    &lt;Box style={{ height: 80, flexDirection: 'row' }}&gt;&#10;                        &lt;Box style={{ width: 16, background: '#F4F7FA' }} /&gt;&#10;                        &lt;Box style={{ width: 352, height: 64, background: '#F7F3E8', justifyContent: 'center', alignItems: 'center' }}&gt;&#10;                            &lt;Text style={{ fontSize: 14, color: '#546779' }}&gt;休息区&lt;/Text&gt;&#10;                        &lt;/Box&gt;&#10;                    &lt;/Box&gt;&#10;&#10;                &lt;/Box&gt;&#10;            &lt;/Box&gt;&#10;&#10;            &lt;Box style={{ flexDirection: 'row', alignItems: 'center', gap: 10, justifyContent: 'center' }}&gt;&#10;                &lt;Box style={{ width: 16, height: 16, background: '#CB6B28' }} /&gt;&#10;                &lt;Text style={{ fontSize: 14, color: '#546779' }}&gt;网格 24×18　橙色方块＝导览牌（示意）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3 图书馆与展馆导览：同一块牌子，换个位置会怎样？&lt;/Text&gt;&#10;        &lt;Text style={{ fontSize: 14, color: '#546779' }}&gt;0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第四章　面向问题的场景化应用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4.3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图书馆与展馆导览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5334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同一块牌子，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换个位置会怎样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5334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青禾主题馆是一个虚构教案，尚未制作资源、上传或运行。保持信息与行为规则相同，只把导览牌移一个位置，看发现与访问会不会改变。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334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兴趣私有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943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2669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通路不变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276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6004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只挪牌子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610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9339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发现取证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7010400" y="2133600"/>
            <a:ext cx="3810000" cy="28956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7086600" y="2209800"/>
            <a:ext cx="3657600" cy="27432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7086600" y="2209800"/>
            <a:ext cx="3657600" cy="152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7086600" y="2362200"/>
            <a:ext cx="152400" cy="914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7239000" y="2362200"/>
            <a:ext cx="3352800" cy="914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7239000" y="2362200"/>
            <a:ext cx="3352800" cy="6096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7239000" y="2971800"/>
            <a:ext cx="1676400" cy="152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8915400" y="2971800"/>
            <a:ext cx="152400" cy="152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9067800" y="2971800"/>
            <a:ext cx="1524000" cy="152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7239000" y="3124200"/>
            <a:ext cx="3352800" cy="152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10591800" y="2362200"/>
            <a:ext cx="152400" cy="914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7086600" y="3276600"/>
            <a:ext cx="152400" cy="914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7239000" y="3276600"/>
            <a:ext cx="1524000" cy="9144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867650" y="36576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甲厅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8763000" y="3276600"/>
            <a:ext cx="1828800" cy="9144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9544050" y="36576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乙厅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10591800" y="3276600"/>
            <a:ext cx="152400" cy="914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7086600" y="4191000"/>
            <a:ext cx="152400" cy="7620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7239000" y="4191000"/>
            <a:ext cx="3352800" cy="609600"/>
          </a:xfrm>
          <a:prstGeom prst="rect">
            <a:avLst/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715375" y="44196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休息区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7562850" y="5153025"/>
            <a:ext cx="152400" cy="152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810500" y="5143500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网格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24×18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橙色方块＝导览牌（示意）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图书馆与展馆导览：同一块牌子，换个位置会怎样？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24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70" name="" descr="&lt;Slide notes={`这一小节我顺着四个问题往下走。&#10;&#10;第一，信息在谁手里。访客只有自己的兴趣，主题答案只存在导览牌和介绍对象那里；评分者的答案属于教师材料，不能提前进入共同上下文。&#10;&#10;第二，唯一干预是什么。24×18 格的两幅平面图，外框、通路、资料对象全都一样，只有那块橙色牌子的坐标不同，而且不增改任何碰撞格。&#10;&#10;第三，位置怎样真的起作用。被发现只是第一步，真实介绍来自查询回复，讲解员的实际帮助是另一条有效来源；最后的依据是坐标、地址和对应活动。&#10;&#10;第四，怎么量、怎么判。一个时间窗口、一个软步行预算、四个把发现与使用分开的指标，再加上人工判分和失败解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　本节地图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60, flexDirection: 'column', justifyContent: 'center', gap: 14 }}&gt;&#10;            &lt;Text style={{ fontSize: 15, color: '#276FBF' }}&gt;4.3.1 — 4.3.7&lt;/Text&gt;&#10;            &lt;Text style={{ fontSize: 30, fontWeight: 'bold', color: '#20344B', lineHeight: 1.3 }}&gt;四个问题，{'\n'}一次只改一处&lt;/Text&gt;&#10;            &lt;Box style={{ width: 60, height: 4, background: '#276FBF' }} /&gt;&#10;            &lt;Text style={{ fontSize: 15, color: '#546779', lineHeight: 1.7 }}&gt;信息边界　→　唯一干预{'\n'}→　证据链　→　计量与判分&lt;/Text&gt;&#10;        &lt;/Box&gt;&#10;&#10;        &lt;Box style={{ width: 760, flexDirection: 'column', gap: 16, justifyContent: 'center' }}&gt;&#10;&#10;            &lt;Box style={{ height: 92, background: '#F4F7FA', borderRadius: 10, flexDirection: 'row', alignItems: 'center', gap: 14, padding: '0 18px' }}&gt;&#10;                &lt;Box style={{ width: 4, height: 44, background: '#276FBF' }} /&gt;&#10;                &lt;Text style={{ fontSize: 22, fontWeight: 'bold', color: '#276FBF', width: 34 }}&gt;①&lt;/Text&gt;&#10;                &lt;Box style={{ flex: 1, flexDirection: 'column', gap: 4 }}&gt;&#10;                    &lt;Text style={{ fontSize: 20, fontWeight: 'bold', color: '#20344B' }}&gt;兴趣表给谁看&lt;/Text&gt;&#10;                    &lt;Text style={{ fontSize: 15, color: '#546779', lineHeight: 1.5 }}&gt;访客只有自己的兴趣，主题答案只在导览牌和介绍对象手里；公共名称只写甲厅、乙厅，不提前泄漏。&lt;/Text&gt;&#10;                &lt;/Box&gt;&#10;            &lt;/Box&gt;&#10;&#10;            &lt;Box style={{ height: 92, background: '#F4F7FA', borderRadius: 10, flexDirection: 'row', alignItems: 'center', gap: 14, padding: '0 18px' }}&gt;&#10;                &lt;Box style={{ width: 4, height: 44, background: '#276FBF' }} /&gt;&#10;                &lt;Text style={{ fontSize: 22, fontWeight: 'bold', color: '#276FBF', width: 34 }}&gt;②&lt;/Text&gt;&#10;                &lt;Box style={{ flex: 1, flexDirection: 'column', gap: 4 }}&gt;&#10;                    &lt;Text style={{ fontSize: 20, fontWeight: 'bold', color: '#20344B' }}&gt;唯一干预：同一块非阻挡牌的位置&lt;/Text&gt;&#10;                    &lt;Text style={{ fontSize: 15, color: '#546779', lineHeight: 1.5 }}&gt;两幅 24×18 平面图的外框、通路与资料对象完全相同，只有橙色牌子的坐标改变，不增改任何碰撞格。&lt;/Text&gt;&#10;                &lt;/Box&gt;&#10;            &lt;/Box&gt;&#10;&#10;            &lt;Box style={{ height: 92, background: '#F4F7FA', borderRadius: 10, flexDirection: 'row', alignItems: 'center', gap: 14, padding: '0 18px' }}&gt;&#10;                &lt;Box style={{ width: 4, height: 44, background: '#276FBF' }} /&gt;&#10;                &lt;Text style={{ fontSize: 22, fontWeight: 'bold', color: '#276FBF', width: 34 }}&gt;③&lt;/Text&gt;&#10;                &lt;Box style={{ flex: 1, flexDirection: 'column', gap: 4 }}&gt;&#10;                    &lt;Text style={{ fontSize: 20, fontWeight: 'bold', color: '#20344B' }}&gt;相同 SOP，让位置通过真实信息起作用&lt;/Text&gt;&#10;                    &lt;Text style={{ fontSize: 15, color: '#546779', lineHeight: 1.5 }}&gt;发现、查询、匹配、抵达、使用五个环节各自留证据；讲解员的实际帮助是另一条有效来源，两条路线都要核对坐标与地址。&lt;/Text&gt;&#10;                &lt;/Box&gt;&#10;            &lt;/Box&gt;&#10;&#10;            &lt;Box style={{ height: 92, background: '#F4F7FA', borderRadius: 10, flexDirection: 'row', alignItems: 'center', gap: 14, padding: '0 18px' }}&gt;&#10;                &lt;Box style={{ width: 4, height: 44, background: '#276FBF' }} /&gt;&#10;                &lt;Text style={{ fontSize: 22, fontWeight: 'bold', color: '#276FBF', width: 34 }}&gt;④&lt;/Text&gt;&#10;                &lt;Box style={{ flex: 1, flexDirection: 'column', gap: 4 }}&gt;&#10;                    &lt;Text style={{ fontSize: 20, fontWeight: 'bold', color: '#20344B' }}&gt;窗口、预算、指标与判分&lt;/Text&gt;&#10;                    &lt;Text style={{ fontSize: 15, color: '#546779', lineHeight: 1.5 }}&gt;一个时间窗口、一个软步行预算、四个把发现与使用分开的指标，以及人工判分与失败解释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本节地图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09600" y="2667000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4.3.1 — 4.3.7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09600" y="2971800"/>
            <a:ext cx="3429000" cy="895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20344B"/>
                </a:solidFill>
                <a:latin typeface="Microsoft YaHei"/>
                <a:ea typeface="Microsoft YaHei"/>
              </a:rPr>
              <a:t>四个问题，</a:t>
            </a:r>
            <a:endParaRPr/>
          </a:p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20344B"/>
                </a:solidFill>
                <a:latin typeface="Microsoft YaHei"/>
                <a:ea typeface="Microsoft YaHei"/>
              </a:rPr>
              <a:t>一次只改一处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609600" y="4000500"/>
            <a:ext cx="5715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09600" y="4171950"/>
            <a:ext cx="34290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信息边界　→　唯一干预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→　证据链　→　计量与判分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4343400" y="1733550"/>
            <a:ext cx="72390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4514850" y="19621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686300" y="204787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276FB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5143500" y="1781175"/>
            <a:ext cx="6267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兴趣表给谁看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5143500" y="2047875"/>
            <a:ext cx="6267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访客只有自己的兴趣，主题答案只在导览牌和介绍对象手里；公共名称只写甲厅、乙厅，不提前泄漏。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4343400" y="2762250"/>
            <a:ext cx="72390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4514850" y="29908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4686300" y="307657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276FB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5143500" y="2809875"/>
            <a:ext cx="6267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唯一干预：同一块非阻挡牌的位置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5143500" y="3076575"/>
            <a:ext cx="6267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两幅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24×18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平面图的外框、通路与资料对象完全相同，只有橙色牌子的坐标改变，不增改任何碰撞格。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4343400" y="3790950"/>
            <a:ext cx="72390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0" name=""/>
          <p:cNvSpPr/>
          <p:nvPr/>
        </p:nvSpPr>
        <p:spPr>
          <a:xfrm rot="0" flipH="0" flipV="0">
            <a:off x="4514850" y="40195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4686300" y="410527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276FB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143500" y="3838575"/>
            <a:ext cx="6267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相同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，让位置通过真实信息起作用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143500" y="4105275"/>
            <a:ext cx="6267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发现、查询、匹配、抵达、使用五个环节各自留证据；讲解员的实际帮助是另一条有效来源，两条路线都要核对坐标与地址。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4343400" y="4819650"/>
            <a:ext cx="72390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4514850" y="50482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686300" y="513397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276FB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5143500" y="5000625"/>
            <a:ext cx="6267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窗口、预算、指标与判分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143500" y="5267325"/>
            <a:ext cx="6267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一个时间窗口、一个软步行预算、四个把发现与使用分开的指标，以及人工判分与失败解释。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47" name="" descr="&lt;Slide notes={`先说信息边界，这是整个实验能不能成立的前提。&#10;&#10;四位访客各自的兴趣不同：安禾要辨认城市常见鸟类的外形，罗宁想了解鸟类活动的记录方法，姚知比较传统纸艺纹样，施远要了解纸艺制作步骤。他们自己只知道自己的兴趣，不知道哪一厅对应哪一类主题。&#10;&#10;公共名称里我只写甲厅和乙厅，绝不提前写成鸟类厅或者纸艺厅。原因很直接：一旦名称泄漏了主题，人物不用看见导览牌也能猜对答案，后面所有关于发现的测量就都失去意义。&#10;&#10;真实介绍只能来自两处：导览牌按包内主题表答复，介绍对象只解释自身主题。评分者手里的答案留给教师判分，不进入人物的共同上下文。`} style={{ width: 1280, height: 720, background: '#FFFFFF', flexDirection: 'column', padding: '20px 64px' }}&gt;&#10;&#10;    &lt;Box style={{ height: 640, flexDirection: 'column', justifyContent: 'center', gap: 20 }}&gt;&#10;&#10;        &lt;Text style={{ fontSize: 15, color: '#276FBF' }}&gt;①　　4.3.1　兴趣表给谁看&lt;/Text&gt;&#10;&#10;        &lt;Text style={{ fontSize: 56, fontWeight: 'bold', color: '#20344B', lineHeight: 1.15 }}&gt;访客只有自己的兴趣&lt;/Text&gt;&#10;&#10;        &lt;Box style={{ width: 72, height: 4, background: '#276FBF' }} /&gt;&#10;&#10;        &lt;Text style={{ fontSize: 18, color: '#546779', lineHeight: 1.7, width: 980 }}&gt;公共名称只写甲厅、乙厅，不提前泄漏主题；真实介绍来自导览牌与介绍对象，评分者答案留给教师。&lt;/Text&gt;&#10;&#10;        &lt;Box style={{ flexDirection: 'row', gap: 16, marginTop: 6 }}&gt;&#10;            &lt;Box style={{ width: 196, height: 56, background: '#EDF4FC', borderRadius: 8, justifyContent: 'center', alignItems: 'center' }}&gt;&#10;                &lt;Text style={{ fontSize: 15, color: '#276FBF' }}&gt;辨认常见鸟类外形&lt;/Text&gt;&#10;            &lt;/Box&gt;&#10;            &lt;Box style={{ width: 196, height: 56, background: '#EDF4FC', borderRadius: 8, justifyContent: 'center', alignItems: 'center' }}&gt;&#10;                &lt;Text style={{ fontSize: 15, color: '#276FBF' }}&gt;了解活动记录方法&lt;/Text&gt;&#10;            &lt;/Box&gt;&#10;            &lt;Box style={{ width: 196, height: 56, background: '#ECF7F2', borderRadius: 8, justifyContent: 'center', alignItems: 'center' }}&gt;&#10;                &lt;Text style={{ fontSize: 15, color: '#26816B' }}&gt;比较传统纸艺纹样&lt;/Text&gt;&#10;            &lt;/Box&gt;&#10;            &lt;Box style={{ width: 196, height: 56, background: '#ECF7F2', borderRadius: 8, justifyContent: 'center', alignItems: 'center' }}&gt;&#10;                &lt;Text style={{ fontSize: 15, color: '#26816B' }}&gt;了解纸艺制作步骤&lt;/Text&gt;&#10;            &lt;/Box&gt;&#10;        &lt;/Box&gt;&#10;&#10;        &lt;Box style={{ width: 44, height: 34, justifyContent: 'center', alignItems: 'center' }}&gt;&#10;            &lt;Text style={{ fontSize: 22, color: '#546779' }}&gt;↓&lt;/Text&gt;&#10;        &lt;/Box&gt;&#10;&#10;        &lt;Box style={{ flexDirection: 'row', gap: 40 }}&gt;&#10;            &lt;Box style={{ width: 396, height: 72, background: '#EDF4FC', borderRadius: 8, flexDirection: 'row', alignItems: 'center', gap: 16, padding: '0 20px' }}&gt;&#10;                &lt;Text style={{ fontSize: 22, fontWeight: 'bold', color: '#276FBF' }}&gt;甲厅&lt;/Text&gt;&#10;                &lt;Text style={{ fontSize: 15, color: '#546779' }}&gt;安禾 · 罗宁——四项兴趣里的前两项&lt;/Text&gt;&#10;            &lt;/Box&gt;&#10;            &lt;Box style={{ width: 396, height: 72, background: '#ECF7F2', borderRadius: 8, flexDirection: 'row', alignItems: 'center', gap: 16, padding: '0 20px' }}&gt;&#10;                &lt;Text style={{ fontSize: 22, fontWeight: 'bold', color: '#26816B' }}&gt;乙厅&lt;/Text&gt;&#10;                &lt;Text style={{ fontSize: 15, color: '#546779' }}&gt;姚知 · 施远——四项兴趣里的后两项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609600" y="1219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①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4.3.1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兴趣表给谁看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09600" y="15811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访客只有自己的兴趣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609600" y="25146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609600" y="2743200"/>
            <a:ext cx="9334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公共名称只写甲厅、乙厅，不提前泄漏主题；真实介绍来自导览牌与介绍对象，评分者答案留给教师。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609600" y="3343275"/>
            <a:ext cx="18669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971550" y="35242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辨认常见鸟类外形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2628900" y="3343275"/>
            <a:ext cx="18669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2990850" y="35242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了解活动记录方法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4648200" y="3343275"/>
            <a:ext cx="18669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5010150" y="35242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比较传统纸艺纹样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6667500" y="3343275"/>
            <a:ext cx="18669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7029450" y="35242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了解纸艺制作步骤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771525" y="41052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546779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609600" y="4581525"/>
            <a:ext cx="37719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800100" y="48006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甲厅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371600" y="483870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安禾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罗宁——四项兴趣里的前两项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4762500" y="4581525"/>
            <a:ext cx="37719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4953000" y="48006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乙厅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5524500" y="483870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姚知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施远——四项兴趣里的后两项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70" name="" descr="&lt;Slide notes={`四个人四种兴趣，评分者手里有唯一的答案，这份答案只用于判分。&#10;&#10;安禾的兴趣是辨认城市常见鸟类外形，对应的活动是阅读或者观看鸟类图册，答案落点在甲厅；罗宁要了解鸟类活动记录方法，对应阅读鸟类观察记录，也在甲厅。姚知比较传统纸艺纹样，对应观看或者阅读纹样资料；施远了解纸艺制作步骤，对应查看过程图片或者说明，这两项落在乙厅。&#10;&#10;关键在于，访客本人看不到右边这一列。共同 Brain 里没有完整兴趣表，人物只有自己那一条兴趣，再加上入口和休息区这两个初始已知空间。&#10;&#10;如果他们提前知道答案，实验就变成了记忆测试，而不是发现测试。这也是为什么公共名称只写甲厅、乙厅，不写主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1　兴趣表给谁看&lt;/Text&gt;&#10;            &lt;Text style={{ fontSize: 34, fontWeight: 'bold', color: '#20344B' }}&gt;四张兴趣，四个答案&lt;/Text&gt;&#10;        &lt;/Box&gt;&#10;    &lt;/Box&gt;&#10;&#10;    &lt;Box style={{ height: 540, flexDirection: 'column', justifyContent: 'center', gap: 12 }}&gt;&#10;&#10;        &lt;Text style={{ fontSize: 16, color: '#546779' }}&gt;左三列是人物自己知道的部分，右一列只出现在教师判分材料里。&lt;/Text&gt;&#10;&#10;        &lt;Box style={{ flexDirection: 'row', gap: 32, alignItems: 'flex-start' }}&gt;&#10;&#10;            &lt;Box style={{ width: 700, background: '#F4F7FA', borderRadius: 10, padding: '14px 20px', flexDirection: 'column', gap: 10 }}&gt;&#10;&#10;                &lt;Box style={{ height: 26, flexDirection: 'row', alignItems: 'center', gap: 14 }}&gt;&#10;                    &lt;Box style={{ width: 4 }} /&gt;&#10;                    &lt;Box style={{ width: 92 }}&gt;&lt;Text style={{ fontSize: 15, fontWeight: 'bold', color: '#546779' }}&gt;访客&lt;/Text&gt;&lt;/Box&gt;&#10;                    &lt;Box style={{ width: 300 }}&gt;&lt;Text style={{ fontSize: 15, fontWeight: 'bold', color: '#546779' }}&gt;本人兴趣&lt;/Text&gt;&lt;/Box&gt;&#10;                    &lt;Box style={{ flex: 1 }}&gt;&lt;Text style={{ fontSize: 15, fontWeight: 'bold', color: '#546779' }}&gt;匹配活动&lt;/Text&gt;&lt;/Box&gt;&#10;                &lt;/Box&gt;&#10;&#10;                &lt;Box style={{ height: 58, background: '#FFFFFF', borderRadius: 8, flexDirection: 'row', alignItems: 'center', gap: 14, padding: '0 14px' }}&gt;&#10;                    &lt;Box style={{ width: 4, height: 32, background: '#276FBF' }} /&gt;&#10;                    &lt;Box style={{ width: 92 }}&gt;&lt;Text style={{ fontSize: 16, fontWeight: 'bold', color: '#20344B' }}&gt;安禾 G1&lt;/Text&gt;&lt;/Box&gt;&#10;                    &lt;Box style={{ width: 300 }}&gt;&lt;Text style={{ fontSize: 15, color: '#546779' }}&gt;辨认城市常见鸟类外形&lt;/Text&gt;&lt;/Box&gt;&#10;                    &lt;Box style={{ flex: 1 }}&gt;&lt;Text style={{ fontSize: 15, color: '#546779' }}&gt;阅读／观看鸟类图册&lt;/Text&gt;&lt;/Box&gt;&#10;                &lt;/Box&gt;&#10;&#10;                &lt;Box style={{ height: 58, background: '#FFFFFF', borderRadius: 8, flexDirection: 'row', alignItems: 'center', gap: 14, padding: '0 14px' }}&gt;&#10;                    &lt;Box style={{ width: 4, height: 32, background: '#276FBF' }} /&gt;&#10;                    &lt;Box style={{ width: 92 }}&gt;&lt;Text style={{ fontSize: 16, fontWeight: 'bold', color: '#20344B' }}&gt;罗宁 G2&lt;/Text&gt;&lt;/Box&gt;&#10;                    &lt;Box style={{ width: 300 }}&gt;&lt;Text style={{ fontSize: 15, color: '#546779' }}&gt;了解鸟类活动记录方法&lt;/Text&gt;&lt;/Box&gt;&#10;                    &lt;Box style={{ flex: 1 }}&gt;&lt;Text style={{ fontSize: 15, color: '#546779' }}&gt;阅读鸟类观察记录&lt;/Text&gt;&lt;/Box&gt;&#10;                &lt;/Box&gt;&#10;&#10;                &lt;Box style={{ height: 58, background: '#FFFFFF', borderRadius: 8, flexDirection: 'row', alignItems: 'center', gap: 14, padding: '0 14px' }}&gt;&#10;                    &lt;Box style={{ width: 4, height: 32, background: '#26816B' }} /&gt;&#10;                    &lt;Box style={{ width: 92 }}&gt;&lt;Text style={{ fontSize: 16, fontWeight: 'bold', color: '#20344B' }}&gt;姚知 G3&lt;/Text&gt;&lt;/Box&gt;&#10;                    &lt;Box style={{ width: 300 }}&gt;&lt;Text style={{ fontSize: 15, color: '#546779' }}&gt;比较传统纸艺纹样&lt;/Text&gt;&lt;/Box&gt;&#10;                    &lt;Box style={{ flex: 1 }}&gt;&lt;Text style={{ fontSize: 15, color: '#546779' }}&gt;观看／阅读纹样资料&lt;/Text&gt;&lt;/Box&gt;&#10;                &lt;/Box&gt;&#10;&#10;                &lt;Box style={{ height: 58, background: '#FFFFFF', borderRadius: 8, flexDirection: 'row', alignItems: 'center', gap: 14, padding: '0 14px' }}&gt;&#10;                    &lt;Box style={{ width: 4, height: 32, background: '#26816B' }} /&gt;&#10;                    &lt;Box style={{ width: 92 }}&gt;&lt;Text style={{ fontSize: 16, fontWeight: 'bold', color: '#20344B' }}&gt;施远 G4&lt;/Text&gt;&lt;/Box&gt;&#10;                    &lt;Box style={{ width: 300 }}&gt;&lt;Text style={{ fontSize: 15, color: '#546779' }}&gt;了解纸艺制作步骤&lt;/Text&gt;&lt;/Box&gt;&#10;                    &lt;Box style={{ flex: 1 }}&gt;&lt;Text style={{ fontSize: 15, color: '#546779' }}&gt;查看过程图片／说明&lt;/Text&gt;&lt;/Box&gt;&#10;                &lt;/Box&gt;&#10;&#10;            &lt;/Box&gt;&#10;&#10;            &lt;Box style={{ width: 420, background: '#FFF4E6', borderRadius: 10, padding: '14px 20px', flexDirection: 'column', gap: 10 }}&gt;&#10;&#10;                &lt;Box style={{ height: 26, flexDirection: 'row', alignItems: 'center' }}&gt;&#10;                    &lt;Text style={{ fontSize: 15, fontWeight: 'bold', color: '#CB6B28' }}&gt;评分者答案（教师用，人物不可见）&lt;/Text&gt;&#10;                &lt;/Box&gt;&#10;&#10;                &lt;Box style={{ height: 58, background: '#FFFFFF', borderRadius: 8, justifyContent: 'center', padding: '0 16px' }}&gt;&#10;                    &lt;Text style={{ fontSize: 18, fontWeight: 'bold', color: '#276FBF' }}&gt;甲厅&lt;/Text&gt;&#10;                &lt;/Box&gt;&#10;&#10;                &lt;Box style={{ height: 58, background: '#FFFFFF', borderRadius: 8, justifyContent: 'center', padding: '0 16px' }}&gt;&#10;                    &lt;Text style={{ fontSize: 18, fontWeight: 'bold', color: '#276FBF' }}&gt;甲厅&lt;/Text&gt;&#10;                &lt;/Box&gt;&#10;&#10;                &lt;Box style={{ height: 58, background: '#FFFFFF', borderRadius: 8, justifyContent: 'center', padding: '0 16px' }}&gt;&#10;                    &lt;Text style={{ fontSize: 18, fontWeight: 'bold', color: '#26816B' }}&gt;乙厅&lt;/Text&gt;&#10;                &lt;/Box&gt;&#10;&#10;                &lt;Box style={{ height: 58, background: '#FFFFFF', borderRadius: 8, justifyContent: 'center', padding: '0 16px' }}&gt;&#10;                    &lt;Text style={{ fontSize: 18, fontWeight: 'bold', color: '#26816B' }}&gt;乙厅&lt;/Text&gt;&#10;                &lt;/Box&gt;&#10;&#10;            &lt;/Box&gt;&#10;&#10;        &lt;/Box&gt;&#10;&#10;        &lt;Text style={{ fontSize: 15, color: '#CB6B28' }}&gt;访客不得看到右侧主题答案；共同 Brain 没有完整兴趣表，初始已知空间只有入口与休息区。&lt;/Text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兴趣表给谁看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四张兴趣，四个答案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609600" y="18669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左三列是人物自己知道的部分，右一列只出现在教师判分材料里。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609600" y="2171700"/>
            <a:ext cx="6667500" cy="3105150"/>
          </a:xfrm>
          <a:prstGeom prst="roundRect">
            <a:avLst>
              <a:gd name="adj" fmla="val 30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971550" y="2343150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访客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1981200" y="23431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本人兴趣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4972050" y="2343150"/>
            <a:ext cx="2114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匹配活动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800100" y="2647950"/>
            <a:ext cx="6286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1" name=""/>
          <p:cNvSpPr/>
          <p:nvPr/>
        </p:nvSpPr>
        <p:spPr>
          <a:xfrm rot="0" flipH="0" flipV="0">
            <a:off x="933450" y="277177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1104900" y="2828925"/>
            <a:ext cx="876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安禾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G1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2114550" y="28384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辨认城市常见鸟类外形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5105400" y="283845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阅读／观看鸟类图册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800100" y="3295650"/>
            <a:ext cx="6286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6" name=""/>
          <p:cNvSpPr/>
          <p:nvPr/>
        </p:nvSpPr>
        <p:spPr>
          <a:xfrm rot="0" flipH="0" flipV="0">
            <a:off x="933450" y="341947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1104900" y="3476625"/>
            <a:ext cx="876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罗宁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G2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2114550" y="34861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了解鸟类活动记录方法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5105400" y="348615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阅读鸟类观察记录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800100" y="3943350"/>
            <a:ext cx="6286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1" name=""/>
          <p:cNvSpPr/>
          <p:nvPr/>
        </p:nvSpPr>
        <p:spPr>
          <a:xfrm rot="0" flipH="0" flipV="0">
            <a:off x="933450" y="4067175"/>
            <a:ext cx="38100" cy="3048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1104900" y="4124325"/>
            <a:ext cx="876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姚知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G3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2114550" y="41338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比较传统纸艺纹样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5105400" y="413385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观看／阅读纹样资料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800100" y="4591050"/>
            <a:ext cx="6286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6" name=""/>
          <p:cNvSpPr/>
          <p:nvPr/>
        </p:nvSpPr>
        <p:spPr>
          <a:xfrm rot="0" flipH="0" flipV="0">
            <a:off x="933450" y="4714875"/>
            <a:ext cx="38100" cy="3048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1104900" y="4772025"/>
            <a:ext cx="876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施远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G4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2114550" y="47815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了解纸艺制作步骤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5105400" y="478155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查看过程图片／说明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7581900" y="2171700"/>
            <a:ext cx="4000500" cy="3105150"/>
          </a:xfrm>
          <a:prstGeom prst="roundRect">
            <a:avLst>
              <a:gd name="adj" fmla="val 30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7772400" y="234315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评分者答案（教师用，人物不可见）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7772400" y="2647950"/>
            <a:ext cx="3619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7924800" y="2819400"/>
            <a:ext cx="3314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甲厅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7772400" y="3295650"/>
            <a:ext cx="3619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7924800" y="3467100"/>
            <a:ext cx="3314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甲厅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7772400" y="3943350"/>
            <a:ext cx="3619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7924800" y="4114800"/>
            <a:ext cx="3314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乙厅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7772400" y="4591050"/>
            <a:ext cx="3619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7924800" y="4762500"/>
            <a:ext cx="3314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乙厅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09600" y="5391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访客不得看到右侧主题答案；共同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没有完整兴趣表，初始已知空间只有入口与休息区。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13" name="" descr="&lt;Slide notes={`除了四位访客，场景里还有四个信息持有者，他们各自只掌握自己那一份，谁也不许越界。&#10;&#10;甲厅介绍对象掌握的是城市鸟类外形图册和鸟类活动记录；乙厅介绍对象掌握纸艺纹样和制作过程图片，注意这里没有真实的手作器材，所以纸艺厅的活动只能是观看和阅读。导览牌掌握两厅主题、适用活动和真实地址。讲解员温岚掌握的内容和导览牌一样，但她从休息区开始活动，只帮助实际遇到并且主动求助的人，不逐人广播。&#10;&#10;还有一条容易做错的边界：讲解员帮助了没有看见牌子的访客并且让他成功，这是合理的补救路径，不能为了让干预看起来有效就把这个结果删掉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1　兴趣表给谁看&lt;/Text&gt;&#10;            &lt;Text style={{ fontSize: 34, fontWeight: 'bold', color: '#20344B' }}&gt;谁独立掌握什么&lt;/Text&gt;&#10;        &lt;/Box&gt;&#10;    &lt;/Box&gt;&#10;&#10;    &lt;Box style={{ height: 540, flexDirection: 'row', alignItems: 'center', gap: 32 }}&gt;&#10;&#10;        &lt;Box style={{ width: 420, flexDirection: 'column', gap: 14, justifyContent: 'center' }}&gt;&#10;            &lt;Text style={{ fontSize: 15, color: '#276FBF' }}&gt;四人之外的四个信息持有者&lt;/Text&gt;&#10;            &lt;Box style={{ width: 420, background: '#FFF4E6', borderRadius: 10, padding: '20px 22px', flexDirection: 'column', gap: 12 }}&gt;&#10;                &lt;Text style={{ fontSize: 20, fontWeight: 'bold', color: '#CB6B28' }}&gt;不能越过的两条线&lt;/Text&gt;&#10;                &lt;Text style={{ fontSize: 16, color: '#546779', lineHeight: 1.6 }}&gt;资料只解释自身主题，不泄漏私人目标；缺项先澄清，不编展品、捷径或服务。&lt;/Text&gt;&#10;                &lt;Text style={{ fontSize: 16, color: '#546779', lineHeight: 1.6 }}&gt;讲解员从休息区开始，只帮助实际遇到并且求助的人，不逐人广播。&lt;/Text&gt;&#10;                &lt;Text style={{ fontSize: 16, fontWeight: 'bold', color: '#CB6B28', lineHeight: 1.6 }}&gt;帮助未见牌者成功，是合理补救，不能为了凸显牌子而删掉这条结果。&lt;/Text&gt;&#10;            &lt;/Box&gt;&#10;        &lt;/Box&gt;&#10;&#10;        &lt;Box style={{ width: 700, background: '#F4F7FA', borderRadius: 10, padding: '14px 20px', flexDirection: 'column', gap: 10 }}&gt;&#10;&#10;            &lt;Box style={{ height: 26, flexDirection: 'row', alignItems: 'center', gap: 14 }}&gt;&#10;                &lt;Box style={{ width: 4 }} /&gt;&#10;                &lt;Box style={{ width: 150 }}&gt;&lt;Text style={{ fontSize: 15, fontWeight: 'bold', color: '#546779' }}&gt;设施／人物&lt;/Text&gt;&lt;/Box&gt;&#10;                &lt;Box style={{ flex: 1 }}&gt;&lt;Text style={{ fontSize: 15, fontWeight: 'bold', color: '#546779' }}&gt;独立掌握的资料&lt;/Text&gt;&lt;/Box&gt;&#10;            &lt;/Box&gt;&#10;&#10;            &lt;Box style={{ height: 58, background: '#FFFFFF', borderRadius: 8, flexDirection: 'row', alignItems: 'center', gap: 14, padding: '0 14px' }}&gt;&#10;                &lt;Box style={{ width: 4, height: 32, background: '#276FBF' }} /&gt;&#10;                &lt;Box style={{ width: 150 }}&gt;&lt;Text style={{ fontSize: 16, fontWeight: 'bold', color: '#276FBF' }}&gt;甲厅介绍对象&lt;/Text&gt;&lt;/Box&gt;&#10;                &lt;Box style={{ flex: 1 }}&gt;&lt;Text style={{ fontSize: 15, color: '#546779' }}&gt;城市鸟类外形图册、鸟类活动记录&lt;/Text&gt;&lt;/Box&gt;&#10;            &lt;/Box&gt;&#10;&#10;            &lt;Box style={{ height: 58, background: '#FFFFFF', borderRadius: 8, flexDirection: 'row', alignItems: 'center', gap: 14, padding: '0 14px' }}&gt;&#10;                &lt;Box style={{ width: 4, height: 32, background: '#26816B' }} /&gt;&#10;                &lt;Box style={{ width: 150 }}&gt;&lt;Text style={{ fontSize: 16, fontWeight: 'bold', color: '#26816B' }}&gt;乙厅介绍对象&lt;/Text&gt;&lt;/Box&gt;&#10;                &lt;Box style={{ flex: 1 }}&gt;&lt;Text style={{ fontSize: 15, color: '#546779' }}&gt;纸艺纹样、制作过程图片；无真实手作器材&lt;/Text&gt;&lt;/Box&gt;&#10;            &lt;/Box&gt;&#10;&#10;            &lt;Box style={{ height: 58, background: '#FFFFFF', borderRadius: 8, flexDirection: 'row', alignItems: 'center', gap: 14, padding: '0 14px' }}&gt;&#10;                &lt;Box style={{ width: 4, height: 32, background: '#20344B' }} /&gt;&#10;                &lt;Box style={{ width: 150 }}&gt;&lt;Text style={{ fontSize: 16, fontWeight: 'bold', color: '#20344B' }}&gt;导览牌&lt;/Text&gt;&lt;/Box&gt;&#10;                &lt;Box style={{ flex: 1 }}&gt;&lt;Text style={{ fontSize: 15, color: '#546779' }}&gt;两厅主题、适用活动、真实地址&lt;/Text&gt;&lt;/Box&gt;&#10;            &lt;/Box&gt;&#10;&#10;            &lt;Box style={{ height: 58, background: '#FFFFFF', borderRadius: 8, flexDirection: 'row', alignItems: 'center', gap: 14, padding: '0 14px' }}&gt;&#10;                &lt;Box style={{ width: 4, height: 32, background: '#20344B' }} /&gt;&#10;                &lt;Box style={{ width: 150 }}&gt;&lt;Text style={{ fontSize: 16, fontWeight: 'bold', color: '#20344B' }}&gt;讲解员温岚&lt;/Text&gt;&lt;/Box&gt;&#10;                &lt;Box style={{ flex: 1 }}&gt;&lt;Text style={{ fontSize: 15, color: '#546779' }}&gt;同导览牌；从休息区开始，只帮实际遇到并求助的人&lt;/Text&gt;&lt;/Box&gt;&#10;            &lt;/Box&gt;&#10;&#10;            &lt;Text style={{ fontSize: 14, color: '#546779', lineHeight: 1.5, marginTop: 2 }}&gt;按真实请求 ID 回复，不代替人物宣布已决定；介绍对象只解释自身主题。&lt;/Text&gt;&#10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兴趣表给谁看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谁独立掌握什么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四人之外的四个信息持有者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09600" y="2505075"/>
            <a:ext cx="4000500" cy="2724150"/>
          </a:xfrm>
          <a:prstGeom prst="roundRect">
            <a:avLst>
              <a:gd name="adj" fmla="val 349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819150" y="2695575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不能越过的两条线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19150" y="3038475"/>
            <a:ext cx="3581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资料只解释自身主题，不泄漏私人目标；缺项先澄清，不编展品、捷径或服务。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819150" y="3743325"/>
            <a:ext cx="3581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讲解员从休息区开始，只帮助实际遇到并且求助的人，不逐人广播。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819150" y="4448175"/>
            <a:ext cx="3581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帮助未见牌者成功，是合理补救，不能为了凸显牌子而删掉这条结果。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4914900" y="1981200"/>
            <a:ext cx="6667500" cy="3467100"/>
          </a:xfrm>
          <a:prstGeom prst="roundRect">
            <a:avLst>
              <a:gd name="adj" fmla="val 274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5276850" y="21526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设施／人物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838950" y="2152650"/>
            <a:ext cx="455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独立掌握的资料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5105400" y="2457450"/>
            <a:ext cx="6286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8" name=""/>
          <p:cNvSpPr/>
          <p:nvPr/>
        </p:nvSpPr>
        <p:spPr>
          <a:xfrm rot="0" flipH="0" flipV="0">
            <a:off x="5238750" y="258127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5410200" y="2638425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甲厅介绍对象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972300" y="2647950"/>
            <a:ext cx="428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城市鸟类外形图册、鸟类活动记录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5105400" y="3105150"/>
            <a:ext cx="6286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2" name=""/>
          <p:cNvSpPr/>
          <p:nvPr/>
        </p:nvSpPr>
        <p:spPr>
          <a:xfrm rot="0" flipH="0" flipV="0">
            <a:off x="5238750" y="3228975"/>
            <a:ext cx="38100" cy="3048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5410200" y="3286125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乙厅介绍对象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6972300" y="3295650"/>
            <a:ext cx="428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纸艺纹样、制作过程图片；无真实手作器材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5105400" y="3752850"/>
            <a:ext cx="6286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6" name=""/>
          <p:cNvSpPr/>
          <p:nvPr/>
        </p:nvSpPr>
        <p:spPr>
          <a:xfrm rot="0" flipH="0" flipV="0">
            <a:off x="5238750" y="3876675"/>
            <a:ext cx="38100" cy="3048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5410200" y="3933825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导览牌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6972300" y="3943350"/>
            <a:ext cx="428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两厅主题、适用活动、真实地址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5105400" y="4400550"/>
            <a:ext cx="6286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0" name=""/>
          <p:cNvSpPr/>
          <p:nvPr/>
        </p:nvSpPr>
        <p:spPr>
          <a:xfrm rot="0" flipH="0" flipV="0">
            <a:off x="5238750" y="4524375"/>
            <a:ext cx="38100" cy="3048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5410200" y="4581525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讲解员温岚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972300" y="4591050"/>
            <a:ext cx="428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同导览牌；从休息区开始，只帮实际遇到并求助的人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5105400" y="5067300"/>
            <a:ext cx="6286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按真实请求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回复，不代替人物宣布已决定；介绍对象只解释自身主题。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46" name="" descr="&lt;Slide notes={`接下来是这次实验里唯一真正被改动的东西。&#10;&#10;两幅平面图来自同一个对象：24 格宽、18 格高的网格，边界封闭、内部连通。入口、甲厅、乙厅、休息区四个区域的位置在两幅图里完全一样，资料对象和邻格关系也一样。&#10;&#10;不同之处只有一处：那块橙色的导览牌。基线条件里它立在入口区靠左的位置，坐标为 2、2、1、1；对照条件里它挪到入口区偏中右的位置，坐标为 12、5、1、1。&#10;&#10;位置移动的时候，语义范围与服务范围跟着走，显示素材也随之更新，但我不新增也不修改任何一个碰撞格。名称、内容、根 Skill、交互距离、图片尺寸全部保持一致，背景里也不能留下另一块烘焙好的牌子。`} style={{ width: 1280, height: 720, background: '#FFFFFF', flexDirection: 'column', padding: '20px 64px' }}&gt;&#10;&#10;    &lt;Box style={{ height: 640, flexDirection: 'column', justifyContent: 'center', gap: 18 }}&gt;&#10;&#10;        &lt;Text style={{ fontSize: 15, color: '#276FBF' }}&gt;②　　4.3.2　唯一干预：同一块非阻挡牌的位置&lt;/Text&gt;&#10;&#10;        &lt;Text style={{ fontSize: 56, fontWeight: 'bold', color: '#20344B', lineHeight: 1.15 }}&gt;同一块牌，两个位置&lt;/Text&gt;&#10;&#10;        &lt;Box style={{ width: 72, height: 4, background: '#276FBF' }} /&gt;&#10;&#10;        &lt;Text style={{ fontSize: 18, color: '#546779', lineHeight: 1.7, width: 1000 }}&gt;外框与内部通路完全相同，只有橙色牌子的坐标改变；这是同一对象的两个独立实验条件。（平面图为示意，不含出生点与路径验收）&lt;/Text&gt;&#10;&#10;        &lt;Box style={{ flexDirection: 'row', alignItems: 'center', gap: 32, marginTop: 10 }}&gt;&#10;&#10;            &lt;Box style={{ width: 300, background: '#F4F7FA', borderRadius: 10, padding: '18px 20px', flexDirection: 'column', gap: 10 }}&gt;&#10;                &lt;Text style={{ fontSize: 20, fontWeight: 'bold', color: '#20344B' }}&gt;同一对象&lt;/Text&gt;&#10;                &lt;Box style={{ width: 260, height: 64, flexDirection: 'column' }}&gt;&#10;                    &lt;Box style={{ height: 32, background: '#FFFFFF' }} /&gt;&#10;                    &lt;Box style={{ height: 32, flexDirection: 'row' }}&gt;&#10;                        &lt;Box style={{ flex: 1, background: '#EDF4FC' }} /&gt;&#10;                        &lt;Box style={{ flex: 1, background: '#ECF7F2' }} /&gt;&#10;                    &lt;/Box&gt;&#10;                &lt;/Box&gt;&#10;                &lt;Text style={{ fontSize: 14, color: '#546779', lineHeight: 1.5 }}&gt;24 × 18 格　边界封闭　内部连通{'\n'}入口／甲厅／乙厅／休息区位置不变&lt;/Text&gt;&#10;            &lt;/Box&gt;&#10;&#10;            &lt;Box style={{ width: 44, height: 64, justifyContent: 'center', alignItems: 'center' }}&gt;&#10;                &lt;Text style={{ fontSize: 26, color: '#546779' }}&gt;›&lt;/Text&gt;&#10;            &lt;/Box&gt;&#10;&#10;            &lt;Box style={{ width: 400, flexDirection: 'column', gap: 12 }}&gt;&#10;                &lt;Box style={{ width: 400, height: 76, background: '#EDF4FC', borderRadius: 10, flexDirection: 'row', alignItems: 'center', gap: 16, padding: '0 20px' }}&gt;&#10;                    &lt;Text style={{ fontSize: 18, fontWeight: 'bold', color: '#276FBF', width: 56 }}&gt;基线&lt;/Text&gt;&#10;                    &lt;Box style={{ flexDirection: 'column', gap: 2 }}&gt;&#10;                        &lt;Text style={{ fontSize: 22, fontWeight: 'bold', color: '#20344B' }}&gt;[2,2,1,1]&lt;/Text&gt;&#10;                        &lt;Text style={{ fontSize: 14, color: '#546779' }}&gt;入口区靠左&lt;/Text&gt;&#10;                    &lt;/Box&gt;&#10;                &lt;/Box&gt;&#10;                &lt;Box style={{ width: 400, height: 76, background: '#FFF4E6', borderRadius: 10, flexDirection: 'row', alignItems: 'center', gap: 16, padding: '0 20px' }}&gt;&#10;                    &lt;Text style={{ fontSize: 18, fontWeight: 'bold', color: '#CB6B28', width: 56 }}&gt;对照&lt;/Text&gt;&#10;                    &lt;Box style={{ flexDirection: 'column', gap: 2 }}&gt;&#10;                        &lt;Text style={{ fontSize: 22, fontWeight: 'bold', color: '#20344B' }}&gt;[12,5,1,1]&lt;/Text&gt;&#10;                        &lt;Text style={{ fontSize: 14, color: '#546779' }}&gt;入口区中右&lt;/Text&gt;&#10;                    &lt;/Box&gt;&#10;                &lt;/Box&gt;&#10;            &lt;/Box&gt;&#10;&#10;            &lt;Box style={{ width: 312, background: '#F4F7FA', borderRadius: 10, padding: '18px 20px', flexDirection: 'column', gap: 8 }}&gt;&#10;                &lt;Text style={{ fontSize: 18, fontWeight: 'bold', color: '#20344B' }}&gt;随位置一起动的&lt;/Text&gt;&#10;                &lt;Text style={{ fontSize: 15, color: '#546779', lineHeight: 1.5 }}&gt;语义范围与显示素材同步移动&lt;/Text&gt;&#10;                &lt;Text style={{ fontSize: 16, fontWeight: 'bold', color: '#CB6B28', lineHeight: 1.5 }}&gt;不增改任何碰撞格&lt;/Text&gt;&#10;                &lt;Text style={{ fontSize: 14, color: '#546779', lineHeight: 1.5 }}&gt;名称、内容、根 Skill、交互距离、图片尺寸相同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609600" y="10953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②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4.3.2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唯一干预：同一块非阻挡牌的位置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609600" y="1438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同一块牌，两个位置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609600" y="23526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609600" y="2562225"/>
            <a:ext cx="9525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外框与内部通路完全相同，只有橙色牌子的坐标改变；这是同一对象的两个独立实验条件。（平面图为示意，不含出生点与路径验收）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609600" y="3533775"/>
            <a:ext cx="2857500" cy="1857375"/>
          </a:xfrm>
          <a:prstGeom prst="roundRect">
            <a:avLst>
              <a:gd name="adj" fmla="val 512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800100" y="3705225"/>
            <a:ext cx="247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同一对象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800100" y="4029075"/>
            <a:ext cx="247650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5" name=""/>
          <p:cNvSpPr/>
          <p:nvPr/>
        </p:nvSpPr>
        <p:spPr>
          <a:xfrm rot="0" flipH="0" flipV="0">
            <a:off x="800100" y="4333875"/>
            <a:ext cx="1238250" cy="3048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6" name=""/>
          <p:cNvSpPr/>
          <p:nvPr/>
        </p:nvSpPr>
        <p:spPr>
          <a:xfrm rot="0" flipH="0" flipV="0">
            <a:off x="2038350" y="4333875"/>
            <a:ext cx="1238250" cy="3048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800100" y="4733925"/>
            <a:ext cx="247650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24 × 18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格　边界封闭　内部连通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入口／甲厅／乙厅／休息区位置不变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3943350" y="4314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54677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4495800" y="3686175"/>
            <a:ext cx="38100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4686300" y="3943350"/>
            <a:ext cx="533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基线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5372100" y="3829050"/>
            <a:ext cx="866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>[2,2,1,1]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5372100" y="4105275"/>
            <a:ext cx="866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入口区靠左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4495800" y="4524375"/>
            <a:ext cx="38100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4686300" y="4781550"/>
            <a:ext cx="533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对照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5372100" y="4667250"/>
            <a:ext cx="990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>[12,5,1,1]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5372100" y="4943475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入口区中右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8610600" y="3562350"/>
            <a:ext cx="2971800" cy="1800225"/>
          </a:xfrm>
          <a:prstGeom prst="roundRect">
            <a:avLst>
              <a:gd name="adj" fmla="val 52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801100" y="3733800"/>
            <a:ext cx="2590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随位置一起动的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8801100" y="4019550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语义范围与显示素材同步移动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8801100" y="4352925"/>
            <a:ext cx="2590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不增改任何碰撞格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8801100" y="4705350"/>
            <a:ext cx="2590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名称、内容、根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、交互距离、图片尺寸相同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74" name="" descr="&lt;Slide notes={`这两幅网格请只看一处差异：橙色牌子。&#10;&#10;两幅图的外框完全一样，都是封闭边界；内部的通路、甲厅和乙厅的分界、休息区的位置也都一样。左边是基线，牌子在入口区靠左，坐标为 2、2、1、1；右边是对照，牌子在入口区偏中右，坐标为 12、5、1、1。&#10;&#10;我要研究的不是牌子挡住了谁，也不是谁因此绕了更远的路。牌子是非阻挡的，它不改变通行难度，只改变被看见、被查询到的机会。&#10;&#10;还有一条容易被忽略：纸面距离不等于感知范围。两处位置到底哪一处更容易被发现，取决于人物视野与注意力截断的真实返回，不能只看图纸上离出生点近还是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2　唯一干预：同一块非阻挡牌的位置&lt;/Text&gt;&#10;            &lt;Text style={{ fontSize: 34, fontWeight: 'bold', color: '#20344B' }}&gt;同一块牌，两个位置&lt;/Text&gt;&#10;        &lt;/Box&gt;&#10;    &lt;/Box&gt;&#10;&#10;    &lt;Box style={{ height: 540, flexDirection: 'row', alignItems: 'center', gap: 48 }}&gt;&#10;&#10;        &lt;Box style={{ width: 552, flexDirection: 'column', alignItems: 'center', gap: 10 }}&gt;&#10;            &lt;Text style={{ fontSize: 20, fontWeight: 'bold', color: '#20344B' }}&gt;基线　牌子 [2,2,1,1]&lt;/Text&gt;&#10;            &lt;Box style={{ width: 400, height: 304, background: '#20344B', padding: 8, flexDirection: 'column' }}&gt;&#10;                &lt;Box style={{ flex: 1, background: '#F4F7FA', flexDirection: 'column' }}&gt;&#10;                    &lt;Box style={{ height: 16, background: '#F4F7FA' }} /&gt;&#10;                    &lt;Box style={{ height: 96, flexDirection: 'row' }}&gt;&#10;                        &lt;Box style={{ width: 16, background: '#F4F7FA' }} /&gt;&#10;                        &lt;Box style={{ width: 352, height: 96, background: '#F4F7FA', flexDirection: 'column' }}&gt;&#10;                            &lt;Box style={{ height: 16, background: '#F4F7FA' }} /&gt;&#10;                            &lt;Box style={{ height: 16, flexDirection: 'row' }}&gt;&#10;                                &lt;Box style={{ width: 16, background: '#F4F7FA' }} /&gt;&#10;                                &lt;Box style={{ width: 16, background: '#CB6B28' }} /&gt;&#10;                                &lt;Box style={{ width: 320, background: '#F4F7FA' }} /&gt;&#10;                            &lt;/Box&gt;&#10;                            &lt;Box style={{ height: 64, background: '#F4F7FA', justifyContent: 'center', alignItems: 'center' }}&gt;&#10;                                &lt;Text style={{ fontSize: 14, color: '#546779' }}&gt;入口&lt;/Text&gt;&#10;                            &lt;/Box&gt;&#10;                        &lt;/Box&gt;&#10;                        &lt;Box style={{ width: 16, background: '#F4F7FA' }} /&gt;&#10;                    &lt;/Box&gt;&#10;                    &lt;Box style={{ height: 96, flexDirection: 'row' }}&gt;&#10;                        &lt;Box style={{ width: 16, background: '#F4F7FA' }} /&gt;&#10;                        &lt;Box style={{ width: 160, height: 96, background: '#EDF4FC', justifyContent: 'center', alignItems: 'center' }}&gt;&#10;                            &lt;Text style={{ fontSize: 14, color: '#276FBF' }}&gt;甲厅&lt;/Text&gt;&#10;                        &lt;/Box&gt;&#10;                        &lt;Box style={{ width: 192, height: 96, background: '#ECF7F2', justifyContent: 'center', alignItems: 'center' }}&gt;&#10;                            &lt;Text style={{ fontSize: 14, color: '#26816B' }}&gt;乙厅&lt;/Text&gt;&#10;                        &lt;/Box&gt;&#10;                        &lt;Box style={{ width: 16, background: '#F4F7FA' }} /&gt;&#10;                    &lt;/Box&gt;&#10;                    &lt;Box style={{ height: 80, flexDirection: 'row' }}&gt;&#10;                        &lt;Box style={{ width: 16, background: '#F4F7FA' }} /&gt;&#10;                        &lt;Box style={{ width: 352, height: 64, background: '#F7F3E8', justifyContent: 'center', alignItems: 'center' }}&gt;&#10;                            &lt;Text style={{ fontSize: 14, color: '#546779' }}&gt;休息区&lt;/Text&gt;&#10;                        &lt;/Box&gt;&#10;                    &lt;/Box&gt;&#10;                &lt;/Box&gt;&#10;            &lt;/Box&gt;&#10;            &lt;Text style={{ fontSize: 14, color: '#546779' }}&gt;牌子立在入口区左侧，紧邻入口通道&lt;/Text&gt;&#10;        &lt;/Box&gt;&#10;&#10;        &lt;Box style={{ width: 552, flexDirection: 'column', alignItems: 'center', gap: 10 }}&gt;&#10;            &lt;Text style={{ fontSize: 20, fontWeight: 'bold', color: '#20344B' }}&gt;对照　牌子 [12,5,1,1]&lt;/Text&gt;&#10;            &lt;Box style={{ width: 400, height: 304, background: '#20344B', padding: 8, flexDirection: 'column' }}&gt;&#10;                &lt;Box style={{ flex: 1, background: '#F4F7FA', flexDirection: 'column' }}&gt;&#10;                    &lt;Box style={{ height: 16, background: '#F4F7FA' }} /&gt;&#10;                    &lt;Box style={{ height: 96, flexDirection: 'row' }}&gt;&#10;                        &lt;Box style={{ width: 16, background: '#F4F7FA' }} /&gt;&#10;                        &lt;Box style={{ width: 352, height: 96, background: '#F4F7FA', flexDirection: 'column' }}&gt;&#10;                            &lt;Box style={{ height: 48, background: '#F4F7FA' }} /&gt;&#10;                            &lt;Box style={{ height: 16, flexDirection: 'row' }}&gt;&#10;                                &lt;Box style={{ width: 176, background: '#F4F7FA' }} /&gt;&#10;                                &lt;Box style={{ width: 16, background: '#CB6B28' }} /&gt;&#10;                                &lt;Box style={{ width: 160, background: '#F4F7FA' }} /&gt;&#10;                            &lt;/Box&gt;&#10;                            &lt;Box style={{ height: 32, background: '#F4F7FA', justifyContent: 'center', alignItems: 'center' }}&gt;&#10;                                &lt;Text style={{ fontSize: 14, color: '#546779' }}&gt;入口&lt;/Text&gt;&#10;                            &lt;/Box&gt;&#10;                        &lt;/Box&gt;&#10;                        &lt;Box style={{ width: 16, background: '#F4F7FA' }} /&gt;&#10;                    &lt;/Box&gt;&#10;                    &lt;Box style={{ height: 96, flexDirection: 'row' }}&gt;&#10;                        &lt;Box style={{ width: 16, background: '#F4F7FA' }} /&gt;&#10;                        &lt;Box style={{ width: 160, height: 96, background: '#EDF4FC', justifyContent: 'center', alignItems: 'center' }}&gt;&#10;                            &lt;Text style={{ fontSize: 14, color: '#276FBF' }}&gt;甲厅&lt;/Text&gt;&#10;                        &lt;/Box&gt;&#10;                        &lt;Box style={{ width: 192, height: 96, background: '#ECF7F2', justifyContent: 'center', alignItems: 'center' }}&gt;&#10;                            &lt;Text style={{ fontSize: 14, color: '#26816B' }}&gt;乙厅&lt;/Text&gt;&#10;                        &lt;/Box&gt;&#10;                        &lt;Box style={{ width: 16, background: '#F4F7FA' }} /&gt;&#10;                    &lt;/Box&gt;&#10;                    &lt;Box style={{ height: 80, flexDirection: 'row' }}&gt;&#10;                        &lt;Box style={{ width: 16, background: '#F4F7FA' }} /&gt;&#10;                        &lt;Box style={{ width: 352, height: 64, background: '#F7F3E8', justifyContent: 'center', alignItems: 'center' }}&gt;&#10;                            &lt;Text style={{ fontSize: 14, color: '#546779' }}&gt;休息区&lt;/Text&gt;&#10;                        &lt;/Box&gt;&#10;                    &lt;/Box&gt;&#10;                &lt;/Box&gt;&#10;            &lt;/Box&gt;&#10;            &lt;Text style={{ fontSize: 14, color: '#546779' }}&gt;牌子移到入口区中右，靠近甲乙两厅分界&lt;/Text&gt;&#10;        &lt;/Box&gt;&#10;&#10;    &lt;/Box&gt;&#10;&#10;    &lt;Box style={{ height: 40, flexDirection: 'row', justifyContent: 'space-between', alignItems: 'center' }}&gt;&#10;        &lt;Text style={{ fontSize: 14, color: '#546779' }}&gt;24 × 18 作者草图　两图均系示意图：非实际出生点、视野或寻路验收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唯一干预：同一块非阻挡牌的位置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同一块牌，两个位置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2343150" y="1981200"/>
            <a:ext cx="180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基线　牌子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[2,2,1,1]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1333500" y="2305050"/>
            <a:ext cx="3810000" cy="28956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681" name=""/>
          <p:cNvSpPr/>
          <p:nvPr/>
        </p:nvSpPr>
        <p:spPr>
          <a:xfrm rot="0" flipH="0" flipV="0">
            <a:off x="1409700" y="2381250"/>
            <a:ext cx="3657600" cy="27432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2" name=""/>
          <p:cNvSpPr/>
          <p:nvPr/>
        </p:nvSpPr>
        <p:spPr>
          <a:xfrm rot="0" flipH="0" flipV="0">
            <a:off x="1409700" y="2381250"/>
            <a:ext cx="3657600" cy="152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3" name=""/>
          <p:cNvSpPr/>
          <p:nvPr/>
        </p:nvSpPr>
        <p:spPr>
          <a:xfrm rot="0" flipH="0" flipV="0">
            <a:off x="1409700" y="2533650"/>
            <a:ext cx="152400" cy="914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4" name=""/>
          <p:cNvSpPr/>
          <p:nvPr/>
        </p:nvSpPr>
        <p:spPr>
          <a:xfrm rot="0" flipH="0" flipV="0">
            <a:off x="1562100" y="2533650"/>
            <a:ext cx="3352800" cy="914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5" name=""/>
          <p:cNvSpPr/>
          <p:nvPr/>
        </p:nvSpPr>
        <p:spPr>
          <a:xfrm rot="0" flipH="0" flipV="0">
            <a:off x="1562100" y="2533650"/>
            <a:ext cx="3352800" cy="152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6" name=""/>
          <p:cNvSpPr/>
          <p:nvPr/>
        </p:nvSpPr>
        <p:spPr>
          <a:xfrm rot="0" flipH="0" flipV="0">
            <a:off x="1562100" y="2686050"/>
            <a:ext cx="152400" cy="152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7" name=""/>
          <p:cNvSpPr/>
          <p:nvPr/>
        </p:nvSpPr>
        <p:spPr>
          <a:xfrm rot="0" flipH="0" flipV="0">
            <a:off x="1714500" y="2686050"/>
            <a:ext cx="152400" cy="152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88" name=""/>
          <p:cNvSpPr/>
          <p:nvPr/>
        </p:nvSpPr>
        <p:spPr>
          <a:xfrm rot="0" flipH="0" flipV="0">
            <a:off x="1866900" y="2686050"/>
            <a:ext cx="3048000" cy="152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9" name=""/>
          <p:cNvSpPr/>
          <p:nvPr/>
        </p:nvSpPr>
        <p:spPr>
          <a:xfrm rot="0" flipH="0" flipV="0">
            <a:off x="1562100" y="2838450"/>
            <a:ext cx="3352800" cy="6096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3105150" y="30670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入口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4914900" y="2533650"/>
            <a:ext cx="152400" cy="914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2" name=""/>
          <p:cNvSpPr/>
          <p:nvPr/>
        </p:nvSpPr>
        <p:spPr>
          <a:xfrm rot="0" flipH="0" flipV="0">
            <a:off x="1409700" y="3448050"/>
            <a:ext cx="152400" cy="914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3" name=""/>
          <p:cNvSpPr/>
          <p:nvPr/>
        </p:nvSpPr>
        <p:spPr>
          <a:xfrm rot="0" flipH="0" flipV="0">
            <a:off x="1562100" y="3448050"/>
            <a:ext cx="1524000" cy="9144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2190750" y="38290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甲厅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3086100" y="3448050"/>
            <a:ext cx="1828800" cy="9144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3867150" y="38290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乙厅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4914900" y="3448050"/>
            <a:ext cx="152400" cy="914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8" name=""/>
          <p:cNvSpPr/>
          <p:nvPr/>
        </p:nvSpPr>
        <p:spPr>
          <a:xfrm rot="0" flipH="0" flipV="0">
            <a:off x="1409700" y="4362450"/>
            <a:ext cx="152400" cy="7620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9" name=""/>
          <p:cNvSpPr/>
          <p:nvPr/>
        </p:nvSpPr>
        <p:spPr>
          <a:xfrm rot="0" flipH="0" flipV="0">
            <a:off x="1562100" y="4362450"/>
            <a:ext cx="3352800" cy="609600"/>
          </a:xfrm>
          <a:prstGeom prst="rect">
            <a:avLst/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3038475" y="45910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休息区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2171700" y="52959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牌子立在入口区左侧，紧邻入口通道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8001000" y="1981200"/>
            <a:ext cx="1914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对照　牌子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[12,5,1,1]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7048500" y="2305050"/>
            <a:ext cx="3810000" cy="28956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704" name=""/>
          <p:cNvSpPr/>
          <p:nvPr/>
        </p:nvSpPr>
        <p:spPr>
          <a:xfrm rot="0" flipH="0" flipV="0">
            <a:off x="7124700" y="2381250"/>
            <a:ext cx="3657600" cy="27432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5" name=""/>
          <p:cNvSpPr/>
          <p:nvPr/>
        </p:nvSpPr>
        <p:spPr>
          <a:xfrm rot="0" flipH="0" flipV="0">
            <a:off x="7124700" y="2381250"/>
            <a:ext cx="3657600" cy="152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6" name=""/>
          <p:cNvSpPr/>
          <p:nvPr/>
        </p:nvSpPr>
        <p:spPr>
          <a:xfrm rot="0" flipH="0" flipV="0">
            <a:off x="7124700" y="2533650"/>
            <a:ext cx="152400" cy="914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7" name=""/>
          <p:cNvSpPr/>
          <p:nvPr/>
        </p:nvSpPr>
        <p:spPr>
          <a:xfrm rot="0" flipH="0" flipV="0">
            <a:off x="7277100" y="2533650"/>
            <a:ext cx="3352800" cy="914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8" name=""/>
          <p:cNvSpPr/>
          <p:nvPr/>
        </p:nvSpPr>
        <p:spPr>
          <a:xfrm rot="0" flipH="0" flipV="0">
            <a:off x="7277100" y="2533650"/>
            <a:ext cx="3352800" cy="4572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9" name=""/>
          <p:cNvSpPr/>
          <p:nvPr/>
        </p:nvSpPr>
        <p:spPr>
          <a:xfrm rot="0" flipH="0" flipV="0">
            <a:off x="7277100" y="2990850"/>
            <a:ext cx="1676400" cy="152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0" name=""/>
          <p:cNvSpPr/>
          <p:nvPr/>
        </p:nvSpPr>
        <p:spPr>
          <a:xfrm rot="0" flipH="0" flipV="0">
            <a:off x="8953500" y="2990850"/>
            <a:ext cx="152400" cy="152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11" name=""/>
          <p:cNvSpPr/>
          <p:nvPr/>
        </p:nvSpPr>
        <p:spPr>
          <a:xfrm rot="0" flipH="0" flipV="0">
            <a:off x="9105900" y="2990850"/>
            <a:ext cx="1524000" cy="152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2" name=""/>
          <p:cNvSpPr/>
          <p:nvPr/>
        </p:nvSpPr>
        <p:spPr>
          <a:xfrm rot="0" flipH="0" flipV="0">
            <a:off x="7277100" y="3143250"/>
            <a:ext cx="3352800" cy="3048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8820150" y="32194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入口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10629900" y="2533650"/>
            <a:ext cx="152400" cy="914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5" name=""/>
          <p:cNvSpPr/>
          <p:nvPr/>
        </p:nvSpPr>
        <p:spPr>
          <a:xfrm rot="0" flipH="0" flipV="0">
            <a:off x="7124700" y="3448050"/>
            <a:ext cx="152400" cy="914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6" name=""/>
          <p:cNvSpPr/>
          <p:nvPr/>
        </p:nvSpPr>
        <p:spPr>
          <a:xfrm rot="0" flipH="0" flipV="0">
            <a:off x="7277100" y="3448050"/>
            <a:ext cx="1524000" cy="9144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7905750" y="38290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甲厅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8801100" y="3448050"/>
            <a:ext cx="1828800" cy="9144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9582150" y="38290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乙厅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10629900" y="3448050"/>
            <a:ext cx="152400" cy="9144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1" name=""/>
          <p:cNvSpPr/>
          <p:nvPr/>
        </p:nvSpPr>
        <p:spPr>
          <a:xfrm rot="0" flipH="0" flipV="0">
            <a:off x="7124700" y="4362450"/>
            <a:ext cx="152400" cy="7620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2" name=""/>
          <p:cNvSpPr/>
          <p:nvPr/>
        </p:nvSpPr>
        <p:spPr>
          <a:xfrm rot="0" flipH="0" flipV="0">
            <a:off x="7277100" y="4362450"/>
            <a:ext cx="3352800" cy="609600"/>
          </a:xfrm>
          <a:prstGeom prst="rect">
            <a:avLst/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8753475" y="45910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休息区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7753350" y="52959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牌子移到入口区中右，靠近甲乙两厅分界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4133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24 × 18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作者草图　两图均系示意图：非实际出生点、视野或寻路验收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727" name="" descr="&lt;Slide notes={`四个区域的坐标是这样定的。入口占 1、1、22、6，也就是最上面 6 格高、横向贯通；甲厅是 1、7、10、6，在左下，宽 10 格；乙厅是 11、7、12、6，在右下，宽 12 格；休息区是 1、13、22、4，横贯底部。&#10;&#10;牌子的两组坐标是基线 2、2、1、1 与对照 12、5、1、1，尺寸都是 1 格乘 1 格。&#10;&#10;两个条件除牌子位置以外完全一致：World 是青禾社区，Sector 是主题馆，边界封闭、内部连通，两厅资料对象与邻格不变。要点在于不增改任何碰撞格，背景里也不能留下另一块烘焙好的牌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2　唯一干预：同一块非阻挡牌的位置&lt;/Text&gt;&#10;            &lt;Text style={{ fontSize: 34, fontWeight: 'bold', color: '#20344B' }}&gt;唯一变化：牌子的坐标&lt;/Text&gt;&#10;        &lt;/Box&gt;&#10;    &lt;/Box&gt;&#10;&#10;    &lt;Box style={{ height: 540, flexDirection: 'row', alignItems: 'center', gap: 32 }}&gt;&#10;&#10;        &lt;Box style={{ width: 634, background: '#F4F7FA', borderRadius: 10, padding: '14px 20px', flexDirection: 'column', gap: 8 }}&gt;&#10;&#10;            &lt;Box style={{ height: 26, flexDirection: 'row', alignItems: 'center', gap: 14 }}&gt;&#10;                &lt;Box style={{ width: 4 }} /&gt;&#10;                &lt;Box style={{ width: 118 }}&gt;&lt;Text style={{ fontSize: 15, fontWeight: 'bold', color: '#546779' }}&gt;区域／对象&lt;/Text&gt;&lt;/Box&gt;&#10;                &lt;Box style={{ width: 168 }}&gt;&lt;Text style={{ fontSize: 15, fontWeight: 'bold', color: '#546779' }}&gt;[x,y,width,height]&lt;/Text&gt;&lt;/Box&gt;&#10;                &lt;Box style={{ flex: 1 }}&gt;&lt;Text style={{ fontSize: 15, fontWeight: 'bold', color: '#546779' }}&gt;位置说明&lt;/Text&gt;&lt;/Box&gt;&#10;            &lt;/Box&gt;&#10;&#10;            &lt;Box style={{ height: 46, background: '#FFFFFF', borderRadius: 8, flexDirection: 'row', alignItems: 'center', gap: 14, padding: '0 14px' }}&gt;&#10;                &lt;Box style={{ width: 4, height: 26, background: '#546779' }} /&gt;&#10;                &lt;Box style={{ width: 118 }}&gt;&lt;Text style={{ fontSize: 16, fontWeight: 'bold', color: '#20344B' }}&gt;入口&lt;/Text&gt;&lt;/Box&gt;&#10;                &lt;Box style={{ width: 168 }}&gt;&lt;Text style={{ fontSize: 16, color: '#546779' }}&gt;[1,1,22,6]&lt;/Text&gt;&lt;/Box&gt;&#10;                &lt;Box style={{ flex: 1 }}&gt;&lt;Text style={{ fontSize: 15, color: '#546779' }}&gt;最上区，横向贯通全宽&lt;/Text&gt;&lt;/Box&gt;&#10;            &lt;/Box&gt;&#10;&#10;            &lt;Box style={{ height: 46, background: '#EDF4FC', borderRadius: 8, flexDirection: 'row', alignItems: 'center', gap: 14, padding: '0 14px' }}&gt;&#10;                &lt;Box style={{ width: 4, height: 26, background: '#276FBF' }} /&gt;&#10;                &lt;Box style={{ width: 118 }}&gt;&lt;Text style={{ fontSize: 16, fontWeight: 'bold', color: '#276FBF' }}&gt;甲厅&lt;/Text&gt;&lt;/Box&gt;&#10;                &lt;Box style={{ width: 168 }}&gt;&lt;Text style={{ fontSize: 16, color: '#546779' }}&gt;[1,7,10,6]&lt;/Text&gt;&lt;/Box&gt;&#10;                &lt;Box style={{ flex: 1 }}&gt;&lt;Text style={{ fontSize: 15, color: '#546779' }}&gt;左下，宽 10 格&lt;/Text&gt;&lt;/Box&gt;&#10;            &lt;/Box&gt;&#10;&#10;            &lt;Box style={{ height: 46, background: '#ECF7F2', borderRadius: 8, flexDirection: 'row', alignItems: 'center', gap: 14, padding: '0 14px' }}&gt;&#10;                &lt;Box style={{ width: 4, height: 26, background: '#26816B' }} /&gt;&#10;                &lt;Box style={{ width: 118 }}&gt;&lt;Text style={{ fontSize: 16, fontWeight: 'bold', color: '#26816B' }}&gt;乙厅&lt;/Text&gt;&lt;/Box&gt;&#10;                &lt;Box style={{ width: 168 }}&gt;&lt;Text style={{ fontSize: 16, color: '#546779' }}&gt;[11,7,12,6]&lt;/Text&gt;&lt;/Box&gt;&#10;                &lt;Box style={{ flex: 1 }}&gt;&lt;Text style={{ fontSize: 15, color: '#546779' }}&gt;右下，宽 12 格&lt;/Text&gt;&lt;/Box&gt;&#10;            &lt;/Box&gt;&#10;&#10;            &lt;Box style={{ height: 46, background: '#F7F3E8', borderRadius: 8, flexDirection: 'row', alignItems: 'center', gap: 14, padding: '0 14px' }}&gt;&#10;                &lt;Box style={{ width: 4, height: 26, background: '#546779' }} /&gt;&#10;                &lt;Box style={{ width: 118 }}&gt;&lt;Text style={{ fontSize: 16, fontWeight: 'bold', color: '#20344B' }}&gt;休息区&lt;/Text&gt;&lt;/Box&gt;&#10;                &lt;Box style={{ width: 168 }}&gt;&lt;Text style={{ fontSize: 16, color: '#546779' }}&gt;[1,13,22,4]&lt;/Text&gt;&lt;/Box&gt;&#10;                &lt;Box style={{ flex: 1 }}&gt;&lt;Text style={{ fontSize: 15, color: '#546779' }}&gt;底区，横向贯通全宽&lt;/Text&gt;&lt;/Box&gt;&#10;            &lt;/Box&gt;&#10;&#10;            &lt;Box style={{ height: 46, background: '#EDF4FC', borderRadius: 8, flexDirection: 'row', alignItems: 'center', gap: 14, padding: '0 14px' }}&gt;&#10;                &lt;Box style={{ width: 4, height: 26, background: '#276FBF' }} /&gt;&#10;                &lt;Box style={{ width: 118 }}&gt;&lt;Text style={{ fontSize: 16, fontWeight: 'bold', color: '#276FBF' }}&gt;导览牌 · 基线&lt;/Text&gt;&lt;/Box&gt;&#10;                &lt;Box style={{ width: 168 }}&gt;&lt;Text style={{ fontSize: 16, color: '#546779' }}&gt;[2,2,1,1]&lt;/Text&gt;&lt;/Box&gt;&#10;                &lt;Box style={{ flex: 1 }}&gt;&lt;Text style={{ fontSize: 15, color: '#546779' }}&gt;入口区靠左&lt;/Text&gt;&lt;/Box&gt;&#10;            &lt;/Box&gt;&#10;&#10;            &lt;Box style={{ height: 46, background: '#FFF4E6', borderRadius: 8, flexDirection: 'row', alignItems: 'center', gap: 14, padding: '0 14px' }}&gt;&#10;                &lt;Box style={{ width: 4, height: 26, background: '#CB6B28' }} /&gt;&#10;                &lt;Box style={{ width: 118 }}&gt;&lt;Text style={{ fontSize: 16, fontWeight: 'bold', color: '#CB6B28' }}&gt;导览牌 · 对照&lt;/Text&gt;&lt;/Box&gt;&#10;                &lt;Box style={{ width: 168 }}&gt;&lt;Text style={{ fontSize: 16, color: '#546779' }}&gt;[12,5,1,1]&lt;/Text&gt;&lt;/Box&gt;&#10;                &lt;Box style={{ flex: 1 }}&gt;&lt;Text style={{ fontSize: 15, color: '#546779' }}&gt;入口区中右&lt;/Text&gt;&lt;/Box&gt;&#10;            &lt;/Box&gt;&#10;&#10;        &lt;/Box&gt;&#10;&#10;        &lt;Box style={{ width: 486, flexDirection: 'column', gap: 12 }}&gt;&#10;            &lt;Text style={{ fontSize: 15, color: '#276FBF' }}&gt;两个条件共同的部分&lt;/Text&gt;&#10;&#10;            &lt;Box style={{ background: '#F4F7FA', borderRadius: 10, padding: '16px 18px', flexDirection: 'column', gap: 10 }}&gt;&#10;                &lt;Text style={{ fontSize: 16, color: '#20344B', lineHeight: 1.5 }}&gt;World「青禾社区」→ Sector「主题馆」&lt;/Text&gt;&#10;                &lt;Text style={{ fontSize: 16, color: '#546779', lineHeight: 1.5 }}&gt;网格 24 × 18，边界封闭、内部连通&lt;/Text&gt;&#10;                &lt;Text style={{ fontSize: 16, color: '#546779', lineHeight: 1.5 }}&gt;两厅资料对象与邻格不变&lt;/Text&gt;&#10;                &lt;Text style={{ fontSize: 16, color: '#546779', lineHeight: 1.5 }}&gt;名称、内容、根 Skill、交互距离、图片尺寸相同&lt;/Text&gt;&#10;            &lt;/Box&gt;&#10;&#10;            &lt;Box style={{ background: '#FFF4E6', borderRadius: 10, padding: '16px 18px', flexDirection: 'column', gap: 6 }}&gt;&#10;                &lt;Text style={{ fontSize: 16, fontWeight: 'bold', color: '#CB6B28', lineHeight: 1.5 }}&gt;不增改任何碰撞格&lt;/Text&gt;&#10;                &lt;Text style={{ fontSize: 15, color: '#546779', lineHeight: 1.5 }}&gt;语义范围与显示素材随牌子一起移动，但背景不能留下另一块烘焙的牌子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唯一干预：同一块非阻挡牌的位置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唯一变化：牌子的坐标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609600" y="1914525"/>
            <a:ext cx="6038850" cy="3600450"/>
          </a:xfrm>
          <a:prstGeom prst="roundRect">
            <a:avLst>
              <a:gd name="adj" fmla="val 264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971550" y="2085975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区域／对象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2228850" y="208597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46779"/>
                </a:solidFill>
                <a:latin typeface="Microsoft YaHei"/>
                <a:ea typeface="Microsoft YaHei"/>
              </a:rPr>
              <a:t>[x,y,width,height]</a:t>
            </a:r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3962400" y="2085975"/>
            <a:ext cx="2495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位置说明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800100" y="2371725"/>
            <a:ext cx="56578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7" name=""/>
          <p:cNvSpPr/>
          <p:nvPr/>
        </p:nvSpPr>
        <p:spPr>
          <a:xfrm rot="0" flipH="0" flipV="0">
            <a:off x="933450" y="2466975"/>
            <a:ext cx="38100" cy="24765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1104900" y="2495550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入口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2362200" y="24955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[1,1,22,6]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4095750" y="2505075"/>
            <a:ext cx="222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最上区，横向贯通全宽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800100" y="2886075"/>
            <a:ext cx="5657850" cy="438150"/>
          </a:xfrm>
          <a:prstGeom prst="roundRect">
            <a:avLst>
              <a:gd name="adj" fmla="val 173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42" name=""/>
          <p:cNvSpPr/>
          <p:nvPr/>
        </p:nvSpPr>
        <p:spPr>
          <a:xfrm rot="0" flipH="0" flipV="0">
            <a:off x="933450" y="2981325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1104900" y="3009900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甲厅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2362200" y="300990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[1,7,10,6]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4095750" y="3019425"/>
            <a:ext cx="222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左下，宽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800100" y="3400425"/>
            <a:ext cx="5657850" cy="438150"/>
          </a:xfrm>
          <a:prstGeom prst="roundRect">
            <a:avLst>
              <a:gd name="adj" fmla="val 173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47" name=""/>
          <p:cNvSpPr/>
          <p:nvPr/>
        </p:nvSpPr>
        <p:spPr>
          <a:xfrm rot="0" flipH="0" flipV="0">
            <a:off x="933450" y="3495675"/>
            <a:ext cx="38100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1104900" y="3524250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乙厅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2362200" y="35242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[11,7,12,6]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4095750" y="3533775"/>
            <a:ext cx="222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右下，宽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800100" y="3914775"/>
            <a:ext cx="5657850" cy="438150"/>
          </a:xfrm>
          <a:prstGeom prst="roundRect">
            <a:avLst>
              <a:gd name="adj" fmla="val 1739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52" name=""/>
          <p:cNvSpPr/>
          <p:nvPr/>
        </p:nvSpPr>
        <p:spPr>
          <a:xfrm rot="0" flipH="0" flipV="0">
            <a:off x="933450" y="4010025"/>
            <a:ext cx="38100" cy="24765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1104900" y="4038600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休息区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2362200" y="403860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[1,13,22,4]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4095750" y="4048125"/>
            <a:ext cx="222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底区，横向贯通全宽</a:t>
            </a:r>
            <a:endParaRPr/>
          </a:p>
        </p:txBody>
      </p:sp>
      <p:sp>
        <p:nvSpPr>
          <p:cNvPr id="756" name=""/>
          <p:cNvSpPr/>
          <p:nvPr/>
        </p:nvSpPr>
        <p:spPr>
          <a:xfrm rot="0" flipH="0" flipV="0">
            <a:off x="800100" y="4429125"/>
            <a:ext cx="5657850" cy="438150"/>
          </a:xfrm>
          <a:prstGeom prst="roundRect">
            <a:avLst>
              <a:gd name="adj" fmla="val 173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7" name=""/>
          <p:cNvSpPr/>
          <p:nvPr/>
        </p:nvSpPr>
        <p:spPr>
          <a:xfrm rot="0" flipH="0" flipV="0">
            <a:off x="933450" y="4524375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1104900" y="4552950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导览牌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基线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2362200" y="45529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[2,2,1,1]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4095750" y="4562475"/>
            <a:ext cx="222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入口区靠左</a:t>
            </a:r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800100" y="4943475"/>
            <a:ext cx="5657850" cy="438150"/>
          </a:xfrm>
          <a:prstGeom prst="roundRect">
            <a:avLst>
              <a:gd name="adj" fmla="val 173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62" name=""/>
          <p:cNvSpPr/>
          <p:nvPr/>
        </p:nvSpPr>
        <p:spPr>
          <a:xfrm rot="0" flipH="0" flipV="0">
            <a:off x="933450" y="5038725"/>
            <a:ext cx="38100" cy="2476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1104900" y="5067300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导览牌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对照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2362200" y="506730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[12,5,1,1]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4095750" y="5076825"/>
            <a:ext cx="222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入口区中右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6953250" y="2095500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两个条件共同的部分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6953250" y="2381250"/>
            <a:ext cx="4629150" cy="1695450"/>
          </a:xfrm>
          <a:prstGeom prst="roundRect">
            <a:avLst>
              <a:gd name="adj" fmla="val 561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7124700" y="2533650"/>
            <a:ext cx="4286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World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「青禾社区」→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Sector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「主题馆」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7124700" y="2905125"/>
            <a:ext cx="4286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网格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24 × 18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，边界封闭、内部连通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7124700" y="3276600"/>
            <a:ext cx="4286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两厅资料对象与邻格不变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7124700" y="3648075"/>
            <a:ext cx="4286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名称、内容、根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、交互距离、图片尺寸相同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6953250" y="4191000"/>
            <a:ext cx="4629150" cy="1152525"/>
          </a:xfrm>
          <a:prstGeom prst="roundRect">
            <a:avLst>
              <a:gd name="adj" fmla="val 82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7124700" y="4343400"/>
            <a:ext cx="4286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不增改任何碰撞格</a:t>
            </a:r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7124700" y="4676775"/>
            <a:ext cx="42862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语义范围与显示素材随牌子一起移动，但背景不能留下另一块烘焙的牌子。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77" name="" descr="&lt;Slide notes={`在正式跑之前有三件事必须核对，而且顺序不能颠倒。&#10;&#10;第一是出生位置。四人从入口进入，但真正的出生点以空间选择器保存的结果为准，不能拿作者草图当事实。&#10;&#10;第二是视野。5 格现在只是候选值，我要先算清两个牌子位置相对实际出生点与通路的距离，再决定用不用。&#10;&#10;第三是注意力。8 也是候选值，先看候选有没有被截断，再谈结果。&#10;&#10;这里有一条容易误解：系统可见性由空间范围和候选截断决定，不等于人眼朝向、阅读距离或墙体遮挡，所以不能假定背对就一定看不见。&#10;&#10;如果两个位置都立刻可见，应该在业务比较之前就修订设计并记录，绝不能看完结果再回头挑位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2　唯一干预：同一块非阻挡牌的位置&lt;/Text&gt;&#10;            &lt;Text style={{ fontSize: 34, fontWeight: 'bold', color: '#20344B' }}&gt;先核对出生、视野与注意力&lt;/Text&gt;&#10;        &lt;/Box&gt;&#10;    &lt;/Box&gt;&#10;&#10;    &lt;Box style={{ height: 540, flexDirection: 'column', justifyContent: 'center', gap: 14 }}&gt;&#10;&#10;        &lt;Text style={{ fontSize: 16, color: '#546779' }}&gt;这三项决定「牌子会不会被看见」的前提是否成立，必须在正式比较之前核对完。&lt;/Text&gt;&#10;&#10;        &lt;Box style={{ background: '#F4F7FA', borderRadius: 10, padding: '14px 20px', flexDirection: 'column', gap: 10 }}&gt;&#10;&#10;            &lt;Box style={{ height: 26, flexDirection: 'row', alignItems: 'center', gap: 14 }}&gt;&#10;                &lt;Box style={{ width: 4 }} /&gt;&#10;                &lt;Box style={{ width: 150 }}&gt;&lt;Text style={{ fontSize: 15, fontWeight: 'bold', color: '#546779' }}&gt;核对项&lt;/Text&gt;&lt;/Box&gt;&#10;                &lt;Box style={{ width: 220 }}&gt;&lt;Text style={{ fontSize: 15, fontWeight: 'bold', color: '#546779' }}&gt;候选值&lt;/Text&gt;&lt;/Box&gt;&#10;                &lt;Box style={{ flex: 1 }}&gt;&lt;Text style={{ fontSize: 15, fontWeight: 'bold', color: '#546779' }}&gt;怎样处理&lt;/Text&gt;&lt;/Box&gt;&#10;            &lt;/Box&gt;&#10;&#10;            &lt;Box style={{ height: 84, background: '#FFFFFF', borderRadius: 8, flexDirection: 'row', alignItems: 'center', gap: 14, padding: '0 14px' }}&gt;&#10;                &lt;Box style={{ width: 4, height: 40, background: '#276FBF' }} /&gt;&#10;                &lt;Box style={{ width: 150 }}&gt;&lt;Text style={{ fontSize: 16, fontWeight: 'bold', color: '#20344B' }}&gt;出生位置&lt;/Text&gt;&lt;/Box&gt;&#10;                &lt;Box style={{ width: 220 }}&gt;&lt;Text style={{ fontSize: 15, color: '#546779', lineHeight: 1.5 }}&gt;四人从入口进入&lt;/Text&gt;&lt;/Box&gt;&#10;                &lt;Box style={{ flex: 1 }}&gt;&lt;Text style={{ fontSize: 15, color: '#546779', lineHeight: 1.5 }}&gt;实际出生以空间选择器保存的结果为准；平面草图不含真实出生点，不能当作事实。&lt;/Text&gt;&lt;/Box&gt;&#10;            &lt;/Box&gt;&#10;&#10;            &lt;Box style={{ height: 84, background: '#FFFFFF', borderRadius: 8, flexDirection: 'row', alignItems: 'center', gap: 14, padding: '0 14px' }}&gt;&#10;                &lt;Box style={{ width: 4, height: 40, background: '#276FBF' }} /&gt;&#10;                &lt;Box style={{ width: 150 }}&gt;&lt;Text style={{ fontSize: 16, fontWeight: 'bold', color: '#20344B' }}&gt;视野&lt;/Text&gt;&lt;/Box&gt;&#10;                &lt;Box style={{ width: 220 }}&gt;&lt;Text style={{ fontSize: 15, color: '#546779', lineHeight: 1.5 }}&gt;5 格（候选值）&lt;/Text&gt;&lt;/Box&gt;&#10;                &lt;Box style={{ flex: 1 }}&gt;&lt;Text style={{ fontSize: 15, color: '#546779', lineHeight: 1.5 }}&gt;先核对两个位置相对实际出生与通路的距离，再确定取值。&lt;/Text&gt;&lt;/Box&gt;&#10;            &lt;/Box&gt;&#10;&#10;            &lt;Box style={{ height: 84, background: '#FFFFFF', borderRadius: 8, flexDirection: 'row', alignItems: 'center', gap: 14, padding: '0 14px' }}&gt;&#10;                &lt;Box style={{ width: 4, height: 40, background: '#276FBF' }} /&gt;&#10;                &lt;Box style={{ width: 150 }}&gt;&lt;Text style={{ fontSize: 16, fontWeight: 'bold', color: '#20344B' }}&gt;注意力&lt;/Text&gt;&lt;/Box&gt;&#10;                &lt;Box style={{ width: 220 }}&gt;&lt;Text style={{ fontSize: 15, color: '#546779', lineHeight: 1.5 }}&gt;8（候选值）&lt;/Text&gt;&lt;/Box&gt;&#10;                &lt;Box style={{ flex: 1 }}&gt;&lt;Text style={{ fontSize: 15, color: '#546779', lineHeight: 1.5 }}&gt;先看感知候选与实际返回有没有被截断；系统可见性由空间范围与候选截断决定，不等同人眼朝向或墙体遮挡。&lt;/Text&gt;&lt;/Box&gt;&#10;            &lt;/Box&gt;&#10;&#10;        &lt;/Box&gt;&#10;&#10;        &lt;Box style={{ background: '#FFF4E6', borderRadius: 10, padding: '16px 20px', flexDirection: 'row', alignItems: 'center', gap: 14 }}&gt;&#10;            &lt;Box style={{ width: 4, height: 40, background: '#CB6B28' }} /&gt;&#10;            &lt;Text style={{ fontSize: 16, color: '#CB6B28', lineHeight: 1.5, flex: 1 }}&gt;若两组位置都立即可见，应在业务比较之前修订设计并记录；不能看完结果再挑位置，也不能假定「背对就看不见」。&lt;/Text&gt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唯一干预：同一块非阻挡牌的位置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先核对出生、视野与注意力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609600" y="15430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这三项决定「牌子会不会被看见」的前提是否成立，必须在正式比较之前核对完。</a:t>
            </a:r>
            <a:endParaRPr/>
          </a:p>
        </p:txBody>
      </p:sp>
      <p:sp>
        <p:nvSpPr>
          <p:cNvPr id="783" name=""/>
          <p:cNvSpPr/>
          <p:nvPr/>
        </p:nvSpPr>
        <p:spPr>
          <a:xfrm rot="0" flipH="0" flipV="0">
            <a:off x="609600" y="1866900"/>
            <a:ext cx="10972800" cy="3200400"/>
          </a:xfrm>
          <a:prstGeom prst="roundRect">
            <a:avLst>
              <a:gd name="adj" fmla="val 29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971550" y="20383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核对项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2533650" y="2038350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候选值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4762500" y="2038350"/>
            <a:ext cx="662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怎样处理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800100" y="2343150"/>
            <a:ext cx="105918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8" name=""/>
          <p:cNvSpPr/>
          <p:nvPr/>
        </p:nvSpPr>
        <p:spPr>
          <a:xfrm rot="0" flipH="0" flipV="0">
            <a:off x="933450" y="25527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1104900" y="264795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出生位置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2667000" y="2619375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四人从入口进入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4895850" y="2619375"/>
            <a:ext cx="6362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实际出生以空间选择器保存的结果为准；平面草图不含真实出生点，不能当作事实。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800100" y="3238500"/>
            <a:ext cx="105918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3" name=""/>
          <p:cNvSpPr/>
          <p:nvPr/>
        </p:nvSpPr>
        <p:spPr>
          <a:xfrm rot="0" flipH="0" flipV="0">
            <a:off x="933450" y="34480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1104900" y="35433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视野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2667000" y="3514725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格（候选值）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4895850" y="3514725"/>
            <a:ext cx="6362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先核对两个位置相对实际出生与通路的距离，再确定取值。</a:t>
            </a:r>
            <a:endParaRPr/>
          </a:p>
        </p:txBody>
      </p:sp>
      <p:sp>
        <p:nvSpPr>
          <p:cNvPr id="797" name=""/>
          <p:cNvSpPr/>
          <p:nvPr/>
        </p:nvSpPr>
        <p:spPr>
          <a:xfrm rot="0" flipH="0" flipV="0">
            <a:off x="800100" y="4133850"/>
            <a:ext cx="105918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8" name=""/>
          <p:cNvSpPr/>
          <p:nvPr/>
        </p:nvSpPr>
        <p:spPr>
          <a:xfrm rot="0" flipH="0" flipV="0">
            <a:off x="933450" y="43434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1104900" y="443865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注意力</a:t>
            </a:r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2667000" y="4410075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8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（候选值）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4895850" y="4276725"/>
            <a:ext cx="6362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先看感知候选与实际返回有没有被截断；系统可见性由空间范围与候选截断决定，不等同人眼朝向或墙体遮挡。</a:t>
            </a:r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609600" y="52006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03" name=""/>
          <p:cNvSpPr/>
          <p:nvPr/>
        </p:nvSpPr>
        <p:spPr>
          <a:xfrm rot="0" flipH="0" flipV="0">
            <a:off x="800100" y="53530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971550" y="5410200"/>
            <a:ext cx="10420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若两组位置都立即可见，应在业务比较之前修订设计并记录；不能看完结果再挑位置，也不能假定「背对就看不见」。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0" name="" descr="&lt;Slide notes={`位置想产生影响，前提是信息本身是真实的。这里有三条来源，每一条都有自己的边界。&#10;&#10;导览牌只按包内的主题表答复，遇到兴趣缺项先澄清，不许编造展品、捷径或者服务。介绍对象只解释自身主题，不泄漏人物的私人目标，并且按真实请求 ID 回复，不代替人物宣布已经决定了什么。&#10;&#10;讲解员温岚是并行的第三条来源，她实际帮助那些遇到她并且主动求助的人。这条路径同样有效，而且是合理的补救。&#10;&#10;三条来源加起来，保证人物拿到的主题介绍是真实发生过的，而不是被谁提前塞进共同记忆里的答案。这是整个实验能立住的基础。`} style={{ width: 1280, height: 720, background: '#FFFFFF', flexDirection: 'column', padding: '20px 64px' }}&gt;&#10;&#10;    &lt;Box style={{ height: 640, flexDirection: 'column', justifyContent: 'center', gap: 18 }}&gt;&#10;&#10;        &lt;Text style={{ fontSize: 15, color: '#276FBF' }}&gt;③　　4.3.3　相同 SOP，让位置通过真实信息起作用&lt;/Text&gt;&#10;&#10;        &lt;Text style={{ fontSize: 56, fontWeight: 'bold', color: '#20344B', lineHeight: 1.15 }}&gt;让位置通过真实信息起作用&lt;/Text&gt;&#10;&#10;        &lt;Box style={{ width: 72, height: 4, background: '#276FBF' }} /&gt;&#10;&#10;        &lt;Text style={{ fontSize: 18, color: '#546779', lineHeight: 1.7, width: 1000 }}&gt;看见牌子只定位信息源，实际介绍来自查询回复；讲解员的真实帮助是另一条有效来源。&lt;/Text&gt;&#10;&#10;        &lt;Box style={{ flexDirection: 'column', gap: 12, marginTop: 10 }}&gt;&#10;&#10;            &lt;Box style={{ flexDirection: 'row', alignItems: 'center' }}&gt;&#10;                &lt;Box style={{ width: 220, height: 64, background: '#EDF4FC', borderRadius: 8, justifyContent: 'center', alignItems: 'center' }}&gt;&#10;                    &lt;Text style={{ fontSize: 18, color: '#276FBF' }}&gt;导览牌&lt;/Text&gt;&#10;                &lt;/Box&gt;&#10;                &lt;Box style={{ width: 44, height: 64, justifyContent: 'center', alignItems: 'center' }}&gt;&#10;                    &lt;Text style={{ fontSize: 26, color: '#276FBF' }}&gt;›&lt;/Text&gt;&#10;                &lt;/Box&gt;&#10;                &lt;Box style={{ width: 888, height: 64, background: '#F4F7FA', borderRadius: 8, justifyContent: 'center', padding: '0 22px' }}&gt;&#10;                    &lt;Text style={{ fontSize: 17, color: '#546779' }}&gt;只按包内主题表答复，兴趣缺项先澄清，不编展品、捷径或服务&lt;/Text&gt;&#10;                &lt;/Box&gt;&#10;            &lt;/Box&gt;&#10;&#10;            &lt;Box style={{ flexDirection: 'row', alignItems: 'center' }}&gt;&#10;                &lt;Box style={{ width: 220, height: 64, background: '#EDF4FC', borderRadius: 8, justifyContent: 'center', alignItems: 'center' }}&gt;&#10;                    &lt;Text style={{ fontSize: 18, color: '#276FBF' }}&gt;介绍对象&lt;/Text&gt;&#10;                &lt;/Box&gt;&#10;                &lt;Box style={{ width: 44, height: 64, justifyContent: 'center', alignItems: 'center' }}&gt;&#10;                    &lt;Text style={{ fontSize: 26, color: '#276FBF' }}&gt;›&lt;/Text&gt;&#10;                &lt;/Box&gt;&#10;                &lt;Box style={{ width: 888, height: 64, background: '#F4F7FA', borderRadius: 8, justifyContent: 'center', padding: '0 22px' }}&gt;&#10;                    &lt;Text style={{ fontSize: 17, color: '#546779' }}&gt;只解释自身主题，不泄漏私人目标；按真实请求 ID 回复&lt;/Text&gt;&#10;                &lt;/Box&gt;&#10;            &lt;/Box&gt;&#10;&#10;            &lt;Box style={{ flexDirection: 'row', alignItems: 'center' }}&gt;&#10;                &lt;Box style={{ width: 220, height: 64, background: '#ECF7F2', borderRadius: 8, justifyContent: 'center', alignItems: 'center' }}&gt;&#10;                    &lt;Text style={{ fontSize: 18, color: '#26816B' }}&gt;讲解员&lt;/Text&gt;&#10;                &lt;/Box&gt;&#10;                &lt;Box style={{ width: 44, height: 64, justifyContent: 'center', alignItems: 'center' }}&gt;&#10;                    &lt;Text style={{ fontSize: 26, color: '#26816B' }}&gt;›&lt;/Text&gt;&#10;                &lt;/Box&gt;&#10;                &lt;Box style={{ width: 888, height: 64, background: '#ECF7F2', borderRadius: 8, justifyContent: 'center', padding: '0 22px' }}&gt;&#10;                    &lt;Text style={{ fontSize: 17, color: '#546779' }}&gt;实际帮助遇到并且求助的人，是并行且有效的另一条来源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09600" y="11715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③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4.3.3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相同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，让位置通过真实信息起作用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15144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让位置通过真实信息起作用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09600" y="24288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263842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看见牌子只定位信息源，实际介绍来自查询回复；讲解员的真实帮助是另一条有效来源。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09600" y="3257550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400175" y="34575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导览牌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2876550" y="34099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3124200" y="3257550"/>
            <a:ext cx="84582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3333750" y="3467100"/>
            <a:ext cx="8039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只按包内主题表答复，兴趣缺项先澄清，不编展品、捷径或服务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09600" y="3981450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314450" y="41814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介绍对象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2876550" y="41338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3124200" y="3981450"/>
            <a:ext cx="84582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333750" y="4191000"/>
            <a:ext cx="8039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只解释自身主题，不泄漏私人目标；按真实请求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回复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09600" y="4705350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400175" y="49053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讲解员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2876550" y="48577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3124200" y="4705350"/>
            <a:ext cx="84582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333750" y="4914900"/>
            <a:ext cx="8039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实际帮助遇到并且求助的人，是并行且有效的另一条来源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3" name="" descr="&lt;Slide notes={`整条链有四个证据环节：发现、主题匹配、抵达、使用。&#10;&#10;发现指人物真的感知到牌子，或者真的和它交互过。主题匹配指他依据真实收到的介绍来选择，不是根据甲厅、乙厅这两个名字去猜。抵达要核对实际坐标和地址。使用才是最后一步，提交一次符合本人兴趣的活动。&#10;&#10;讲解员的实际帮助是一条并入匹配的旁路：没有看见牌子的人，也可能因为求助而成功，这是合理补救。&#10;&#10;把这条链记住，是因为后面所有指标都要落在这四个环节上。G2 可以没见牌却成功，G3 也可能看见了牌子却没有使用资料，这两件事同时成立，恰恰说明发现和使用不是同一个指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3　相同 SOP，让位置通过真实信息起作用&lt;/Text&gt;&#10;            &lt;Text style={{ fontSize: 34, fontWeight: 'bold', color: '#20344B' }}&gt;发现 → 匹配 → 抵达 → 使用&lt;/Text&gt;&#10;        &lt;/Box&gt;&#10;    &lt;/Box&gt;&#10;&#10;    &lt;Box style={{ height: 540, flexDirection: 'column', justifyContent: 'center', gap: 16 }}&gt;&#10;&#10;        &lt;Text style={{ fontSize: 16, color: '#546779' }}&gt;四个环节各自要留下证据，缺一环就不能算走到「使用」。&lt;/Text&gt;&#10;&#10;        &lt;Box style={{ flexDirection: 'row', alignItems: 'center' }}&gt;&#10;            &lt;Box style={{ width: 180, height: 84, background: '#EDF4FC', borderRadius: 8, flexDirection: 'column', justifyContent: 'center', alignItems: 'center', gap: 4 }}&gt;&#10;                &lt;Text style={{ fontSize: 18, fontWeight: 'bold', color: '#276FBF' }}&gt;发现&lt;/Text&gt;&#10;                &lt;Text style={{ fontSize: 14, color: '#546779' }}&gt;真实感知或真实交互&lt;/Text&gt;&#10;            &lt;/Box&gt;&#10;            &lt;Box style={{ width: 44, height: 84, justifyContent: 'center', alignItems: 'center' }}&gt;&#10;                &lt;Text style={{ fontSize: 26, color: '#276FBF' }}&gt;›&lt;/Text&gt;&#10;            &lt;/Box&gt;&#10;            &lt;Box style={{ width: 180, height: 84, background: '#EDF4FC', borderRadius: 8, flexDirection: 'column', justifyContent: 'center', alignItems: 'center', gap: 4 }}&gt;&#10;                &lt;Text style={{ fontSize: 18, fontWeight: 'bold', color: '#276FBF' }}&gt;查询&lt;/Text&gt;&#10;                &lt;Text style={{ fontSize: 14, color: '#546779' }}&gt;牌子按主题表答复&lt;/Text&gt;&#10;            &lt;/Box&gt;&#10;            &lt;Box style={{ width: 44, height: 84, justifyContent: 'center', alignItems: 'center' }}&gt;&#10;                &lt;Text style={{ fontSize: 26, color: '#276FBF' }}&gt;›&lt;/Text&gt;&#10;            &lt;/Box&gt;&#10;            &lt;Box style={{ width: 180, height: 84, background: '#EDF4FC', borderRadius: 8, flexDirection: 'column', justifyContent: 'center', alignItems: 'center', gap: 4 }}&gt;&#10;                &lt;Text style={{ fontSize: 18, fontWeight: 'bold', color: '#276FBF' }}&gt;匹配&lt;/Text&gt;&#10;                &lt;Text style={{ fontSize: 14, color: '#546779' }}&gt;依据真实介绍选择&lt;/Text&gt;&#10;            &lt;/Box&gt;&#10;            &lt;Box style={{ width: 44, height: 84, justifyContent: 'center', alignItems: 'center' }}&gt;&#10;                &lt;Text style={{ fontSize: 26, color: '#276FBF' }}&gt;›&lt;/Text&gt;&#10;            &lt;/Box&gt;&#10;            &lt;Box style={{ width: 180, height: 84, background: '#EDF4FC', borderRadius: 8, flexDirection: 'column', justifyContent: 'center', alignItems: 'center', gap: 4 }}&gt;&#10;                &lt;Text style={{ fontSize: 18, fontWeight: 'bold', color: '#276FBF' }}&gt;抵达&lt;/Text&gt;&#10;                &lt;Text style={{ fontSize: 14, color: '#546779' }}&gt;坐标与地址符合&lt;/Text&gt;&#10;            &lt;/Box&gt;&#10;            &lt;Box style={{ width: 44, height: 84, justifyContent: 'center', alignItems: 'center' }}&gt;&#10;                &lt;Text style={{ fontSize: 26, color: '#26816B' }}&gt;›&lt;/Text&gt;&#10;            &lt;/Box&gt;&#10;            &lt;Box style={{ width: 180, height: 84, background: '#ECF7F2', borderRadius: 8, flexDirection: 'column', justifyContent: 'center', alignItems: 'center', gap: 4 }}&gt;&#10;                &lt;Text style={{ fontSize: 18, fontWeight: 'bold', color: '#26816B' }}&gt;使用&lt;/Text&gt;&#10;                &lt;Text style={{ fontSize: 14, color: '#546779' }}&gt;符合兴趣的 ACT&lt;/Text&gt;&#10;            &lt;/Box&gt;&#10;        &lt;/Box&gt;&#10;&#10;        &lt;Box style={{ flexDirection: 'row' }}&gt;&#10;            &lt;Box style={{ width: 448 }} /&gt;&#10;            &lt;Box style={{ width: 628, height: 60, background: '#ECF7F2', borderRadius: 8, flexDirection: 'row', alignItems: 'center', gap: 16, padding: '0 20px' }}&gt;&#10;                &lt;Box style={{ width: 4, height: 32, background: '#26816B' }} /&gt;&#10;                &lt;Text style={{ fontSize: 17, fontWeight: 'bold', color: '#26816B' }}&gt;讲解员实际帮助&lt;/Text&gt;&#10;                &lt;Text style={{ fontSize: 16, color: '#546779' }}&gt;未见牌者也可能求助成功，这是合理补救&lt;/Text&gt;&#10;            &lt;/Box&gt;&#10;        &lt;/Box&gt;&#10;&#10;        &lt;Box style={{ flexDirection: 'row', gap: 32, marginTop: 4 }}&gt;&#10;            &lt;Box style={{ width: 560, height: 96, background: '#ECF7F2', borderRadius: 10, flexDirection: 'column', justifyContent: 'center', gap: 6, padding: '0 22px' }}&gt;&#10;                &lt;Text style={{ fontSize: 18, fontWeight: 'bold', color: '#26816B' }}&gt;可以补救&lt;/Text&gt;&#10;                &lt;Text style={{ fontSize: 15, color: '#546779', lineHeight: 1.5 }}&gt;不为了凸显牌子而删掉讲解员的帮助结果&lt;/Text&gt;&#10;            &lt;/Box&gt;&#10;            &lt;Box style={{ width: 560, height: 96, background: '#FFF4E6', borderRadius: 10, flexDirection: 'column', justifyContent: 'center', gap: 6, padding: '0 22px' }}&gt;&#10;                &lt;Text style={{ fontSize: 18, fontWeight: 'bold', color: '#CB6B28' }}&gt;不能偷换&lt;/Text&gt;&#10;                &lt;Text style={{ fontSize: 15, color: '#546779', lineHeight: 1.5 }}&gt;看见牌 ≠ 读懂介绍 ≠ 用过主题资料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概念链示意，非系统截图、非 Run 结果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14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相同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，让位置通过真实信息起作用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143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发现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匹配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抵达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使用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四个环节各自要留下证据，缺一环就不能算走到「使用」。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09600" y="2571750"/>
            <a:ext cx="171450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295400" y="27717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发现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66775" y="301942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真实感知或真实交互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2495550" y="28194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2743200" y="2571750"/>
            <a:ext cx="171450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429000" y="27717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查询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067050" y="301942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牌子按主题表答复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629150" y="28194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4876800" y="2571750"/>
            <a:ext cx="171450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562600" y="27717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匹配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200650" y="301942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依据真实介绍选择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762750" y="28194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7010400" y="2571750"/>
            <a:ext cx="171450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696200" y="27717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抵达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400925" y="30194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坐标与地址符合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896350" y="28194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9144000" y="2571750"/>
            <a:ext cx="171450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829800" y="27717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使用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515475" y="3019425"/>
            <a:ext cx="971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符合兴趣的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ACT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4876800" y="3524250"/>
            <a:ext cx="5981700" cy="571500"/>
          </a:xfrm>
          <a:prstGeom prst="roundRect">
            <a:avLst>
              <a:gd name="adj" fmla="val 13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5067300" y="3657600"/>
            <a:ext cx="38100" cy="3048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257800" y="371475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讲解员实际帮助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543675" y="3714750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未见牌者也可能求助成功，这是合理补救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9600" y="4286250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19150" y="4486275"/>
            <a:ext cx="491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可以补救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19150" y="475297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不为了凸显牌子而删掉讲解员的帮助结果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248400" y="4286250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457950" y="4486275"/>
            <a:ext cx="491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不能偷换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457950" y="475297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看见牌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读懂介绍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用过主题资料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概念链示意，非系统截图、非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00" name="" descr="&lt;Slide notes={`这三个来源回答的范围不一样，必须提前写清楚。&#10;&#10;导览牌只按包内主题表答复。如果有人问的主题不在表里，它要先澄清，不能自己编一个展品、一条捷径或者一项服务出来。介绍对象只解释自身那一个主题，不会泄漏别人的私人目标。讲解员温岚的回应内容和导览牌一致，但她从休息区开始活动，只帮实际遇到并且主动求助的人，不逐人广播。&#10;&#10;还有一条统一规则：所有回复都按真实请求 ID 返回，谁也不代替人物宣布他已经决定了什么。&#10;&#10;把范围划清楚，是为了保证「发现导览牌」带来的是真实信息，而不是被事先安排好的答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3　相同 SOP，让位置通过真实信息起作用&lt;/Text&gt;&#10;            &lt;Text style={{ fontSize: 34, fontWeight: 'bold', color: '#20344B' }}&gt;各说各的那一份&lt;/Text&gt;&#10;        &lt;/Box&gt;&#10;    &lt;/Box&gt;&#10;&#10;    &lt;Box style={{ height: 540, flexDirection: 'row', alignItems: 'center', gap: 32 }}&gt;&#10;&#10;        &lt;Box style={{ width: 508, flexDirection: 'column', gap: 14 }}&gt;&#10;            &lt;Text style={{ fontSize: 15, color: '#276FBF' }}&gt;回答范围先划清&lt;/Text&gt;&#10;            &lt;Box style={{ width: 508, background: '#F4F7FA', borderRadius: 10, padding: '20px 22px', flexDirection: 'column', gap: 14 }}&gt;&#10;                &lt;Box style={{ flexDirection: 'row', alignItems: 'center', gap: 14 }}&gt;&#10;                    &lt;Box style={{ width: 34, height: 34, background: '#276FBF', borderRadius: 8, justifyContent: 'center', alignItems: 'center' }}&gt;&#10;                        &lt;Text style={{ fontSize: 15, fontWeight: 'bold', color: '#FFFFFF' }}&gt;01&lt;/Text&gt;&#10;                    &lt;/Box&gt;&#10;                    &lt;Text style={{ fontSize: 17, color: '#20344B', flex: 1 }}&gt;导览牌只回答主题表里已有的内容&lt;/Text&gt;&#10;                &lt;/Box&gt;&#10;                &lt;Box style={{ flexDirection: 'row', alignItems: 'center', gap: 14 }}&gt;&#10;                    &lt;Box style={{ width: 34, height: 34, background: '#276FBF', borderRadius: 8, justifyContent: 'center', alignItems: 'center' }}&gt;&#10;                        &lt;Text style={{ fontSize: 15, fontWeight: 'bold', color: '#FFFFFF' }}&gt;02&lt;/Text&gt;&#10;                    &lt;/Box&gt;&#10;                    &lt;Text style={{ fontSize: 17, color: '#20344B', flex: 1 }}&gt;介绍对象只解释自身那一个主题&lt;/Text&gt;&#10;                &lt;/Box&gt;&#10;                &lt;Box style={{ flexDirection: 'row', alignItems: 'center', gap: 14 }}&gt;&#10;                    &lt;Box style={{ width: 34, height: 34, background: '#26816B', borderRadius: 8, justifyContent: 'center', alignItems: 'center' }}&gt;&#10;                        &lt;Text style={{ fontSize: 15, fontWeight: 'bold', color: '#FFFFFF' }}&gt;03&lt;/Text&gt;&#10;                    &lt;/Box&gt;&#10;                    &lt;Text style={{ fontSize: 17, color: '#20344B', flex: 1 }}&gt;讲解员只帮实际遇到并主动求助的人&lt;/Text&gt;&#10;                &lt;/Box&gt;&#10;                &lt;Text style={{ fontSize: 15, fontWeight: 'bold', color: '#CB6B28', lineHeight: 1.5 }}&gt;兴趣缺项先澄清：不编展品、不编捷径、不编服务。&lt;/Text&gt;&#10;            &lt;/Box&gt;&#10;        &lt;/Box&gt;&#10;&#10;        &lt;Box style={{ width: 612, background: '#F4F7FA', borderRadius: 10, padding: '14px 20px', flexDirection: 'column', gap: 10 }}&gt;&#10;&#10;            &lt;Box style={{ height: 26, flexDirection: 'row', alignItems: 'center', gap: 14 }}&gt;&#10;                &lt;Box style={{ width: 4 }} /&gt;&#10;                &lt;Box style={{ width: 150 }}&gt;&lt;Text style={{ fontSize: 15, fontWeight: 'bold', color: '#546779' }}&gt;来源&lt;/Text&gt;&lt;/Box&gt;&#10;                &lt;Box style={{ flex: 1 }}&gt;&lt;Text style={{ fontSize: 15, fontWeight: 'bold', color: '#546779' }}&gt;它只说什么&lt;/Text&gt;&lt;/Box&gt;&#10;            &lt;/Box&gt;&#10;&#10;            &lt;Box style={{ height: 70, background: '#FFFFFF', borderRadius: 8, flexDirection: 'row', alignItems: 'center', gap: 14, padding: '0 14px' }}&gt;&#10;                &lt;Box style={{ width: 4, height: 36, background: '#276FBF' }} /&gt;&#10;                &lt;Box style={{ width: 150 }}&gt;&lt;Text style={{ fontSize: 16, fontWeight: 'bold', color: '#276FBF' }}&gt;导览牌&lt;/Text&gt;&lt;/Box&gt;&#10;                &lt;Box style={{ flex: 1 }}&gt;&lt;Text style={{ fontSize: 15, color: '#546779', lineHeight: 1.5 }}&gt;按包内主题表答复；兴趣缺项先澄清，不编展品、捷径或服务&lt;/Text&gt;&lt;/Box&gt;&#10;            &lt;/Box&gt;&#10;&#10;            &lt;Box style={{ height: 70, background: '#FFFFFF', borderRadius: 8, flexDirection: 'row', alignItems: 'center', gap: 14, padding: '0 14px' }}&gt;&#10;                &lt;Box style={{ width: 4, height: 36, background: '#276FBF' }} /&gt;&#10;                &lt;Box style={{ width: 150 }}&gt;&lt;Text style={{ fontSize: 16, fontWeight: 'bold', color: '#276FBF' }}&gt;介绍对象&lt;/Text&gt;&lt;/Box&gt;&#10;                &lt;Box style={{ flex: 1 }}&gt;&lt;Text style={{ fontSize: 15, color: '#546779', lineHeight: 1.5 }}&gt;只解释自身主题，不泄漏人物的私人目标；乙厅无真实手作器材&lt;/Text&gt;&lt;/Box&gt;&#10;            &lt;/Box&gt;&#10;&#10;            &lt;Box style={{ height: 70, background: '#FFFFFF', borderRadius: 8, flexDirection: 'row', alignItems: 'center', gap: 14, padding: '0 14px' }}&gt;&#10;                &lt;Box style={{ width: 4, height: 36, background: '#26816B' }} /&gt;&#10;                &lt;Box style={{ width: 150 }}&gt;&lt;Text style={{ fontSize: 16, fontWeight: 'bold', color: '#26816B' }}&gt;讲解员温岚&lt;/Text&gt;&lt;/Box&gt;&#10;                &lt;Box style={{ flex: 1 }}&gt;&lt;Text style={{ fontSize: 15, color: '#546779', lineHeight: 1.5 }}&gt;回应内容同导览牌；从休息区开始，不逐人广播&lt;/Text&gt;&lt;/Box&gt;&#10;            &lt;/Box&gt;&#10;&#10;            &lt;Box style={{ height: 70, background: '#FFF4E6', borderRadius: 8, flexDirection: 'row', alignItems: 'center', gap: 14, padding: '0 14px' }}&gt;&#10;                &lt;Box style={{ width: 4, height: 36, background: '#CB6B28' }} /&gt;&#10;                &lt;Box style={{ width: 150 }}&gt;&lt;Text style={{ fontSize: 16, fontWeight: 'bold', color: '#CB6B28' }}&gt;统一回复规则&lt;/Text&gt;&lt;/Box&gt;&#10;                &lt;Box style={{ flex: 1 }}&gt;&lt;Text style={{ fontSize: 15, color: '#546779', lineHeight: 1.5 }}&gt;按真实请求 ID 回复，不代替人物宣布已决定，不提前泄漏主题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相同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，让位置通过真实信息起作用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74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各说各的那一份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2562225"/>
            <a:ext cx="483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回答范围先划清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09600" y="2867025"/>
            <a:ext cx="4838700" cy="2009775"/>
          </a:xfrm>
          <a:prstGeom prst="roundRect">
            <a:avLst>
              <a:gd name="adj" fmla="val 473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819150" y="30575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95350" y="313372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276350" y="3124200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导览牌只回答主题表里已有的内容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819150" y="35147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95350" y="359092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276350" y="3581400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介绍对象只解释自身那一个主题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819150" y="39719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95350" y="404812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276350" y="4038600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讲解员只帮实际遇到并主动求助的人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19150" y="4429125"/>
            <a:ext cx="4419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兴趣缺项先澄清：不编展品、不编捷径、不编服务。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5753100" y="1933575"/>
            <a:ext cx="5829300" cy="3562350"/>
          </a:xfrm>
          <a:prstGeom prst="roundRect">
            <a:avLst>
              <a:gd name="adj" fmla="val 267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115050" y="21050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来源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677150" y="2105025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它只说什么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943600" y="2409825"/>
            <a:ext cx="54483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6076950" y="257175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248400" y="264795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导览牌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810500" y="2486025"/>
            <a:ext cx="34480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按包内主题表答复；兴趣缺项先澄清，不编展品、捷径或服务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5943600" y="3171825"/>
            <a:ext cx="54483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6076950" y="333375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248400" y="340995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介绍对象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810500" y="3248025"/>
            <a:ext cx="34480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只解释自身主题，不泄漏人物的私人目标；乙厅无真实手作器材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5943600" y="3933825"/>
            <a:ext cx="54483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6076950" y="4095750"/>
            <a:ext cx="38100" cy="3429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248400" y="417195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讲解员温岚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810500" y="4143375"/>
            <a:ext cx="3448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回应内容同导览牌；从休息区开始，不逐人广播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5943600" y="4695825"/>
            <a:ext cx="5448300" cy="666750"/>
          </a:xfrm>
          <a:prstGeom prst="roundRect">
            <a:avLst>
              <a:gd name="adj" fmla="val 114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6076950" y="4857750"/>
            <a:ext cx="38100" cy="342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248400" y="493395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统一回复规则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810500" y="4772025"/>
            <a:ext cx="34480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按真实请求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回复，不代替人物宣布已决定，不提前泄漏主题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38" name="" descr="&lt;Slide notes={`两个条件共用同一份 Brain，里面的行为次序是这样定的。&#10;&#10;先检索自己的目标和已经获得的信息，再感知当前地点。当发现了导览牌或者资料对象、而信息还不够的时候，接近之后提交真实查询；如果遇到能回答问题的讲解员，可以询问。只依据收到的介绍来选择主题，不根据甲厅、乙厅这两个名字去猜答案。&#10;&#10;如果没有拿到必要信息，可以沿着已知的公共空间探索，发现新区域之后再核实。目标确定以后查询合法路径，按实际位置继续移动；抵达后在真实地点做一次与兴趣相符的阅读或观看活动，并把有证据的体验写进个人记忆。&#10;&#10;两个组别都不改 Brain、不加对照专用 Skill、不增加视野或讲解员提醒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3　相同 SOP，让位置通过真实信息起作用&lt;/Text&gt;&#10;            &lt;Text style={{ fontSize: 34, fontWeight: 'bold', color: '#20344B' }}&gt;两组共同 Brain 的 SOP&lt;/Text&gt;&#10;        &lt;/Box&gt;&#10;    &lt;/Box&gt;&#10;&#10;    &lt;Box style={{ height: 540, flexDirection: 'row', alignItems: 'center', gap: 32 }}&gt;&#10;&#10;        &lt;Box style={{ width: 700, flexDirection: 'column', gap: 12 }}&gt;&#10;            &lt;Text style={{ fontSize: 15, color: '#276FBF' }}&gt;同一份行为规则，两个条件都不改&lt;/Text&gt;&#10;            &lt;Box style={{ width: 700, background: '#EDF4FC', borderRadius: 12, padding: '26px 28px', flexDirection: 'row', gap: 20 }}&gt;&#10;                &lt;Box style={{ width: 6, height: 200, background: '#276FBF' }} /&gt;&#10;                &lt;Text style={{ fontSize: 18, color: '#20344B', lineHeight: 1.75, flex: 1 }}&gt;先检索自己的目标和已获信息，再感知当前地点。发现导览或资料对象而信息尚不足时，接近后提交真实查询；遇到能回答问题的讲解员可以询问。只依据收到的介绍选择主题，不根据甲厅、乙厅的名称猜答案。未获必要信息时，可以沿已知公共空间探索，发现新区域后再核实。目标确定后查询合法路径，按实际位置继续移动；抵达后在真实地点做一次与兴趣相符的阅读或观看活动，并把有证据的体验写入个人记忆。&lt;/Text&gt;&#10;            &lt;/Box&gt;&#10;        &lt;/Box&gt;&#10;&#10;        &lt;Box style={{ width: 420, flexDirection: 'column', gap: 12 }}&gt;&#10;            &lt;Text style={{ fontSize: 15, color: '#276FBF' }}&gt;行为次序&lt;/Text&gt;&#10;&#10;            &lt;Box style={{ width: 420, height: 76, background: '#F4F7FA', borderRadius: 8, flexDirection: 'row', alignItems: 'center', gap: 14, padding: '0 18px' }}&gt;&#10;                &lt;Box style={{ width: 32, height: 32, background: '#276FBF', borderRadius: 8, justifyContent: 'center', alignItems: 'center' }}&gt;&#10;                    &lt;Text style={{ fontSize: 14, fontWeight: 'bold', color: '#FFFFFF' }}&gt;01&lt;/Text&gt;&#10;                &lt;/Box&gt;&#10;                &lt;Text style={{ fontSize: 16, color: '#20344B', flex: 1 }}&gt;检索自己的目标与已获信息&lt;/Text&gt;&#10;            &lt;/Box&gt;&#10;&#10;            &lt;Box style={{ width: 420, height: 76, background: '#F4F7FA', borderRadius: 8, flexDirection: 'row', alignItems: 'center', gap: 14, padding: '0 18px' }}&gt;&#10;                &lt;Box style={{ width: 32, height: 32, background: '#276FBF', borderRadius: 8, justifyContent: 'center', alignItems: 'center' }}&gt;&#10;                    &lt;Text style={{ fontSize: 14, fontWeight: 'bold', color: '#FFFFFF' }}&gt;02&lt;/Text&gt;&#10;                &lt;/Box&gt;&#10;                &lt;Text style={{ fontSize: 16, color: '#20344B', flex: 1 }}&gt;再感知当前地点&lt;/Text&gt;&#10;            &lt;/Box&gt;&#10;&#10;            &lt;Box style={{ width: 420, height: 76, background: '#F4F7FA', borderRadius: 8, flexDirection: 'row', alignItems: 'center', gap: 14, padding: '0 18px' }}&gt;&#10;                &lt;Box style={{ width: 32, height: 32, background: '#276FBF', borderRadius: 8, justifyContent: 'center', alignItems: 'center' }}&gt;&#10;                    &lt;Text style={{ fontSize: 14, fontWeight: 'bold', color: '#FFFFFF' }}&gt;03&lt;/Text&gt;&#10;                &lt;/Box&gt;&#10;                &lt;Text style={{ fontSize: 16, color: '#20344B', flex: 1 }}&gt;信息不足时提交真实查询&lt;/Text&gt;&#10;            &lt;/Box&gt;&#10;&#10;            &lt;Box style={{ width: 420, height: 76, background: '#ECF7F2', borderRadius: 8, flexDirection: 'row', alignItems: 'center', gap: 14, padding: '0 18px' }}&gt;&#10;                &lt;Box style={{ width: 32, height: 32, background: '#26816B', borderRadius: 8, justifyContent: 'center', alignItems: 'center' }}&gt;&#10;                    &lt;Text style={{ fontSize: 14, fontWeight: 'bold', color: '#FFFFFF' }}&gt;04&lt;/Text&gt;&#10;                &lt;/Box&gt;&#10;                &lt;Text style={{ fontSize: 16, color: '#20344B', flex: 1 }}&gt;抵达后做相符活动并写入记忆&lt;/Text&gt;&#10;            &lt;/Box&gt;&#10;&#10;            &lt;Text style={{ fontSize: 14, color: '#CB6B28', lineHeight: 1.5 }}&gt;两组都不改 Brain、不加对照专用 Skill、不增加视野或讲解员提醒。&lt;/Text&gt;&#10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438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相同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，让位置通过真实信息起作用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4385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两组共同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的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224790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同一份行为规则，两个条件都不改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09600" y="2533650"/>
            <a:ext cx="6667500" cy="2657475"/>
          </a:xfrm>
          <a:prstGeom prst="roundRect">
            <a:avLst>
              <a:gd name="adj" fmla="val 430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876300" y="2781300"/>
            <a:ext cx="57150" cy="1905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23950" y="2781300"/>
            <a:ext cx="5886450" cy="2162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先检索自己的目标和已获信息，再感知当前地点。发现导览或资料对象而信息尚不足时，接近后提交真实查询；遇到能回答问题的讲解员可以询问。只依据收到的介绍选择主题，不根据甲厅、乙厅的名称猜答案。未获必要信息时，可以沿已知公共空间探索，发现新区域后再核实。目标确定后查询合法路径，按实际位置继续移动；抵达后在真实地点做一次与兴趣相符的阅读或观看活动，并把有证据的体验写入个人记忆。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581900" y="1771650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行为次序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7581900" y="2057400"/>
            <a:ext cx="40005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7753350" y="22669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820025" y="2343150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191500" y="2324100"/>
            <a:ext cx="3219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检索自己的目标与已获信息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7581900" y="2895600"/>
            <a:ext cx="40005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7753350" y="31051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820025" y="3181350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191500" y="3162300"/>
            <a:ext cx="3219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再感知当前地点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7581900" y="3733800"/>
            <a:ext cx="40005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7753350" y="39433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820025" y="4019550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191500" y="4000500"/>
            <a:ext cx="3219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信息不足时提交真实查询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7581900" y="4572000"/>
            <a:ext cx="40005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7753350" y="47815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820025" y="4857750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191500" y="4838700"/>
            <a:ext cx="3219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抵达后做相符活动并写入记忆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7581900" y="5410200"/>
            <a:ext cx="4000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两组都不改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Brain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、不加对照专用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、不增加视野或讲解员提醒。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7" name="" descr="&lt;Slide notes={`有一条边界经常被搞混：回复里出现了地址，并不等于工具已经允许导航。&#10;&#10;系统在给人物做检查的时候，要求目标地点必须已经在他的已知空间里，或者在实际感知中出现过。如果两条都不满足，他得先去探索，并且真的感知到那个地方，再来查询路径。&#10;&#10;普通记忆也不能绕过这项检查。人物不能凭「我记得那个厅在这边」就直接前往，因为那等于绕开了真实信息这一环。&#10;&#10;还有一点要说清楚：如果信息不足，允许人物沿着已知的公共空间探索，发现新区域之后再核实。这不是钻空子，而是符合现实的行为方式，我们也必须把它记进证据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3　相同 SOP，让位置通过真实信息起作用&lt;/Text&gt;&#10;            &lt;Text style={{ fontSize: 34, fontWeight: 'bold', color: '#20344B' }}&gt;回复里有地址，不等于可以导航&lt;/Text&gt;&#10;        &lt;/Box&gt;&#10;    &lt;/Box&gt;&#10;&#10;    &lt;Box style={{ height: 540, flexDirection: 'row', alignItems: 'center', gap: 32 }}&gt;&#10;&#10;        &lt;Box style={{ width: 403, background: '#F4F7FA', borderRadius: 10, padding: '22px 24px', flexDirection: 'column', gap: 14 }}&gt;&#10;            &lt;Text style={{ fontSize: 20, fontWeight: 'bold', color: '#20344B' }}&gt;一条容易混的边界&lt;/Text&gt;&#10;            &lt;Box style={{ width: 355, height: 64, background: '#EDF4FC', borderRadius: 8, justifyContent: 'center', alignItems: 'center' }}&gt;&#10;                &lt;Text style={{ fontSize: 18, color: '#276FBF' }}&gt;回复里有地址&lt;/Text&gt;&#10;            &lt;/Box&gt;&#10;            &lt;Box style={{ width: 355, height: 44, justifyContent: 'center', alignItems: 'center' }}&gt;&#10;                &lt;Text style={{ fontSize: 30, fontWeight: 'bold', color: '#CB6B28' }}&gt;≠&lt;/Text&gt;&#10;            &lt;/Box&gt;&#10;            &lt;Box style={{ width: 355, height: 64, background: '#FFF4E6', borderRadius: 8, justifyContent: 'center', alignItems: 'center' }}&gt;&#10;                &lt;Text style={{ fontSize: 18, fontWeight: 'bold', color: '#CB6B28' }}&gt;工具允许导航&lt;/Text&gt;&#10;            &lt;/Box&gt;&#10;            &lt;Text style={{ fontSize: 15, color: '#546779', lineHeight: 1.5 }}&gt;目标要么已在已知空间里，要么在实际感知中出现过。&lt;/Text&gt;&#10;        &lt;/Box&gt;&#10;&#10;        &lt;Box style={{ width: 717, flexDirection: 'column', gap: 12 }}&gt;&#10;            &lt;Text style={{ fontSize: 15, color: '#276FBF' }}&gt;导航前的三项检查&lt;/Text&gt;&#10;&#10;            &lt;Box style={{ width: 717, height: 80, background: '#F4F7FA', borderRadius: 8, flexDirection: 'row', alignItems: 'center', gap: 14, padding: '0 18px' }}&gt;&#10;                &lt;Box style={{ width: 4, height: 40, background: '#276FBF' }} /&gt;&#10;                &lt;Text style={{ fontSize: 16, fontWeight: 'bold', color: '#276FBF', width: 92 }}&gt;信息侧&lt;/Text&gt;&#10;                &lt;Text style={{ fontSize: 15, color: '#546779', lineHeight: 1.5, flex: 1 }}&gt;回复中出现地址，只说明这条信息被说出过，不构成导航许可&lt;/Text&gt;&#10;            &lt;/Box&gt;&#10;&#10;            &lt;Box style={{ width: 717, height: 80, background: '#F4F7FA', borderRadius: 8, flexDirection: 'row', alignItems: 'center', gap: 14, padding: '0 18px' }}&gt;&#10;                &lt;Box style={{ width: 4, height: 40, background: '#276FBF' }} /&gt;&#10;                &lt;Text style={{ fontSize: 16, fontWeight: 'bold', color: '#276FBF', width: 92 }}&gt;空间侧&lt;/Text&gt;&#10;                &lt;Text style={{ fontSize: 15, color: '#546779', lineHeight: 1.5, flex: 1 }}&gt;目标须已在已知空间，或在实际感知中出现；否则先探索并感知，再核实&lt;/Text&gt;&#10;            &lt;/Box&gt;&#10;&#10;            &lt;Box style={{ width: 717, height: 80, background: '#FFF4E6', borderRadius: 8, flexDirection: 'row', alignItems: 'center', gap: 14, padding: '0 18px' }}&gt;&#10;                &lt;Box style={{ width: 4, height: 40, background: '#CB6B28' }} /&gt;&#10;                &lt;Text style={{ fontSize: 16, fontWeight: 'bold', color: '#CB6B28', width: 92 }}&gt;记忆侧&lt;/Text&gt;&#10;                &lt;Text style={{ fontSize: 15, color: '#546779', lineHeight: 1.5, flex: 1 }}&gt;普通记忆不能绕过检查，「我记得在哪」不能替代真实感知与核实&lt;/Text&gt;&#10;            &lt;/Box&gt;&#10;&#10;            &lt;Text style={{ fontSize: 15, fontWeight: 'bold', color: '#CB6B28', lineHeight: 1.5 }}&gt;未获必要信息时：先探索，发现新区域后再核实——这条路径要记进证据，不能省略。&lt;/Text&gt;&#10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相同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，让位置通过真实信息起作用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回复里有地址，不等于可以导航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09600" y="2047875"/>
            <a:ext cx="3838575" cy="333375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38200" y="2257425"/>
            <a:ext cx="338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一条容易混的边界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838200" y="2619375"/>
            <a:ext cx="3381375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2019300" y="281940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回复里有地址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2419350" y="3400425"/>
            <a:ext cx="2190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CB6B28"/>
                </a:solidFill>
                <a:latin typeface="Microsoft YaHei"/>
                <a:ea typeface="Microsoft YaHei"/>
              </a:rPr>
              <a:t>≠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838200" y="3914775"/>
            <a:ext cx="3381375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2019300" y="411480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工具允许导航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38200" y="4657725"/>
            <a:ext cx="33813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目标要么已在已知空间里，要么在实际感知中出现过。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752975" y="2133600"/>
            <a:ext cx="6829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导航前的三项检查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4752975" y="2419350"/>
            <a:ext cx="6829425" cy="76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4924425" y="26098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095875" y="2705100"/>
            <a:ext cx="876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信息侧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105525" y="2676525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回复中出现地址，只说明这条信息被说出过，不构成导航许可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4752975" y="3295650"/>
            <a:ext cx="6829425" cy="76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4924425" y="34861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095875" y="3581400"/>
            <a:ext cx="876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空间侧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105525" y="3552825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目标须已在已知空间，或在实际感知中出现；否则先探索并感知，再核实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4752975" y="4171950"/>
            <a:ext cx="6829425" cy="7620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4924425" y="43624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095875" y="4457700"/>
            <a:ext cx="876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记忆侧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105525" y="4429125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普通记忆不能绕过检查，「我记得在哪」不能替代真实感知与核实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752975" y="5048250"/>
            <a:ext cx="68294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未获必要信息时：先探索，发现新区域后再核实——这条路径要记进证据，不能省略。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96" name="" descr="&lt;Slide notes={`这一段讲怎么量。第一步是把时间和步数固定下来。&#10;&#10;窗口 W 定为 2026 年 10 月 20 日 14 点到 15 点，时区是 Asia/Shanghai。步长是 1 分钟一步，整个窗口一共 61 步。&#10;&#10;在这个窗口里，我给每个人 40 格的软步行预算，它既是任务约束，也是人工判分的条件。要特别注意「软」这个字：内核不会自动扣额，也不会在 40 格处截停人物。人物只能根据真实进度自己控制探索。&#10;&#10;为什么不能把未知消耗当成零？因为没被记下来的消耗并不等于没有消耗。如果把预算当成内核自动生效的额度，后面所有比值都会被算错。`} style={{ width: 1280, height: 720, background: '#FFFFFF', flexDirection: 'column', padding: '20px 64px' }}&gt;&#10;&#10;    &lt;Box style={{ height: 640, flexDirection: 'column', justifyContent: 'center', gap: 18 }}&gt;&#10;&#10;        &lt;Text style={{ fontSize: 15, color: '#276FBF' }}&gt;④　　4.3.4 — 4.3.7　窗口、预算、指标与判分&lt;/Text&gt;&#10;&#10;        &lt;Text style={{ fontSize: 56, fontWeight: 'bold', color: '#20344B', lineHeight: 1.15 }}&gt;一个窗口，一个软预算&lt;/Text&gt;&#10;&#10;        &lt;Box style={{ width: 72, height: 4, background: '#276FBF' }} /&gt;&#10;&#10;        &lt;Text style={{ fontSize: 18, color: '#546779', lineHeight: 1.7, width: 1000 }}&gt;时间、步长、每人格数要一起定；预算凸显绕行代价，也会掩盖继续探索后的成功，因此预算前后都要报告。&lt;/Text&gt;&#10;&#10;        &lt;Box style={{ width: 1152, height: 48, background: '#EDF4FC', borderRadius: 8, flexDirection: 'row', justifyContent: 'space-between', alignItems: 'center', padding: '0 20px', marginTop: 8 }}&gt;&#10;            &lt;Text style={{ fontSize: 16, color: '#276FBF' }}&gt;14:00&lt;/Text&gt;&#10;            &lt;Text style={{ fontSize: 16, color: '#546779' }}&gt;14:15&lt;/Text&gt;&#10;            &lt;Text style={{ fontSize: 16, color: '#546779' }}&gt;14:30&lt;/Text&gt;&#10;            &lt;Text style={{ fontSize: 16, color: '#546779' }}&gt;14:45&lt;/Text&gt;&#10;            &lt;Text style={{ fontSize: 16, color: '#276FBF' }}&gt;15:00&lt;/Text&gt;&#10;        &lt;/Box&gt;&#10;&#10;        &lt;Box style={{ flexDirection: 'row', gap: 40, marginTop: 8 }}&gt;&#10;&#10;            &lt;Box style={{ width: 400, height: 132, background: '#F4F7FA', borderRadius: 10, flexDirection: 'column', justifyContent: 'center', gap: 6, padding: '0 22px' }}&gt;&#10;                &lt;Text style={{ fontSize: 16, fontWeight: 'bold', color: '#20344B' }}&gt;时间窗口&lt;/Text&gt;&#10;                &lt;Text style={{ fontSize: 17, color: '#276FBF' }}&gt;W ＝ 2026-10-20 14:00—15:00&lt;/Text&gt;&#10;                &lt;Text style={{ fontSize: 14, color: '#546779' }}&gt;Asia/Shanghai&lt;/Text&gt;&#10;            &lt;/Box&gt;&#10;&#10;            &lt;Box style={{ width: 280, height: 132, background: '#F4F7FA', borderRadius: 10, flexDirection: 'column', justifyContent: 'center', gap: 6, padding: '0 22px' }}&gt;&#10;                &lt;Text style={{ fontSize: 16, fontWeight: 'bold', color: '#20344B' }}&gt;步长与步数&lt;/Text&gt;&#10;                &lt;Text style={{ fontSize: 17, color: '#276FBF' }}&gt;1 分钟／步&lt;/Text&gt;&#10;                &lt;Text style={{ fontSize: 14, color: '#546779' }}&gt;共 61 步&lt;/Text&gt;&#10;            &lt;/Box&gt;&#10;&#10;            &lt;Box style={{ width: 392, height: 132, background: '#FFF4E6', borderRadius: 10, flexDirection: 'column', justifyContent: 'center', gap: 6, padding: '0 22px' }}&gt;&#10;                &lt;Text style={{ fontSize: 16, fontWeight: 'bold', color: '#CB6B28' }}&gt;软步行预算&lt;/Text&gt;&#10;                &lt;Text style={{ fontSize: 17, color: '#CB6B28' }}&gt;每人 40 格&lt;/Text&gt;&#10;                &lt;Text style={{ fontSize: 14, color: '#546779' }}&gt;内核不会自动扣额或截停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09600" y="12287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④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4.3.4 — 4.3.7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窗口、预算、指标与判分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9600" y="15716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一个窗口，一个软预算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09600" y="24860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269557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时间、步长、每人格数要一起定；预算凸显绕行代价，也会掩盖继续探索后的成功，因此预算前后都要报告。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09600" y="3295650"/>
            <a:ext cx="10972800" cy="4572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00100" y="3429000"/>
            <a:ext cx="400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14:00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352800" y="3429000"/>
            <a:ext cx="400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14:15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895975" y="3429000"/>
            <a:ext cx="400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14:30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448675" y="3429000"/>
            <a:ext cx="400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14:45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0991850" y="3429000"/>
            <a:ext cx="400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15:00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09600" y="4000500"/>
            <a:ext cx="38100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19150" y="4295775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时间窗口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19150" y="4543425"/>
            <a:ext cx="3390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 xml:space="preserve">W </a:t>
            </a: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＝</a:t>
            </a: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 xml:space="preserve"> 2026-10-20 14:00—15:00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19150" y="4800600"/>
            <a:ext cx="3390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Asia/Shanghai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4800600" y="4000500"/>
            <a:ext cx="26670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010150" y="4295775"/>
            <a:ext cx="2247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步长与步数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010150" y="4543425"/>
            <a:ext cx="2247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分钟／步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010150" y="48006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共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61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7848600" y="4000500"/>
            <a:ext cx="37338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058150" y="4295775"/>
            <a:ext cx="331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软步行预算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058150" y="4543425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每人</a:t>
            </a:r>
            <a:r>
              <a:rPr lang="en-US" sz="1275">
                <a:solidFill>
                  <a:srgbClr val="CB6B28"/>
                </a:solidFill>
                <a:latin typeface="Microsoft YaHei"/>
                <a:ea typeface="Microsoft YaHei"/>
              </a:rPr>
              <a:t xml:space="preserve"> 40 </a:t>
            </a: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058150" y="4800600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内核不会自动扣额或截停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22" name="" descr="&lt;Slide notes={`40 格到底该怎么理解，这里要划清三条界线。&#10;&#10;第一，它是人物任务约束，也是人工判分的条件，但不是内核的自动额度。内核不会在 40 格处扣掉人物的行动，也不会把他截停。&#10;&#10;第二，未知消耗不能当成零。人物要根据真实进度自己控制探索，遇到没算清的路程，我们也要如实记录。&#10;&#10;第三，预算会凸显绕行代价，同时也会掩盖继续探索之后取得的成功。所以要同时报告预算内和预算外的结果，并且不能把这 40 格称作人类耐力标准。&#10;&#10;另外，走到预算不等于要虚构离馆行为，人物可以真的在场地里休息或者阅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4　一个时间窗口，一个软步行预算&lt;/Text&gt;&#10;            &lt;Text style={{ fontSize: 34, fontWeight: 'bold', color: '#20344B' }}&gt;每人 40 格：是约束，不是额度&lt;/Text&gt;&#10;        &lt;/Box&gt;&#10;    &lt;/Box&gt;&#10;&#10;    &lt;Box style={{ height: 540, flexDirection: 'row', alignItems: 'center', gap: 32 }}&gt;&#10;&#10;        &lt;Box style={{ width: 668, flexDirection: 'column', gap: 14 }}&gt;&#10;            &lt;Text style={{ fontSize: 15, color: '#276FBF' }}&gt;40 格标尺（每格 1 个移动格）&lt;/Text&gt;&#10;&#10;            &lt;Box style={{ width: 656, height: 56, flexDirection: 'row' }}&gt;&#10;                &lt;Box style={{ width: 82, height: 56, background: '#EDF4FC', justifyContent: 'center', alignItems: 'center' }}&gt;&#10;                    &lt;Text style={{ fontSize: 14, color: '#276FBF' }}&gt;5&lt;/Text&gt;&#10;                &lt;/Box&gt;&#10;                &lt;Box style={{ width: 82, height: 56, background: '#FFFFFF', justifyContent: 'center', alignItems: 'center' }}&gt;&#10;                    &lt;Text style={{ fontSize: 14, color: '#546779' }}&gt;10&lt;/Text&gt;&#10;                &lt;/Box&gt;&#10;                &lt;Box style={{ width: 82, height: 56, background: '#EDF4FC', justifyContent: 'center', alignItems: 'center' }}&gt;&#10;                    &lt;Text style={{ fontSize: 14, color: '#276FBF' }}&gt;15&lt;/Text&gt;&#10;                &lt;/Box&gt;&#10;                &lt;Box style={{ width: 82, height: 56, background: '#FFFFFF', justifyContent: 'center', alignItems: 'center' }}&gt;&#10;                    &lt;Text style={{ fontSize: 14, color: '#546779' }}&gt;20&lt;/Text&gt;&#10;                &lt;/Box&gt;&#10;                &lt;Box style={{ width: 82, height: 56, background: '#EDF4FC', justifyContent: 'center', alignItems: 'center' }}&gt;&#10;                    &lt;Text style={{ fontSize: 14, color: '#276FBF' }}&gt;25&lt;/Text&gt;&#10;                &lt;/Box&gt;&#10;                &lt;Box style={{ width: 82, height: 56, background: '#FFFFFF', justifyContent: 'center', alignItems: 'center' }}&gt;&#10;                    &lt;Text style={{ fontSize: 14, color: '#546779' }}&gt;30&lt;/Text&gt;&#10;                &lt;/Box&gt;&#10;                &lt;Box style={{ width: 82, height: 56, background: '#EDF4FC', justifyContent: 'center', alignItems: 'center' }}&gt;&#10;                    &lt;Text style={{ fontSize: 14, color: '#276FBF' }}&gt;35&lt;/Text&gt;&#10;                &lt;/Box&gt;&#10;                &lt;Box style={{ width: 82, height: 56, background: '#FFF4E6', justifyContent: 'center', alignItems: 'center' }}&gt;&#10;                    &lt;Text style={{ fontSize: 14, fontWeight: 'bold', color: '#CB6B28' }}&gt;40&lt;/Text&gt;&#10;                &lt;/Box&gt;&#10;            &lt;/Box&gt;&#10;&#10;            &lt;Box style={{ flexDirection: 'row', justifyContent: 'space-between', width: 656 }}&gt;&#10;                &lt;Text style={{ fontSize: 14, color: '#546779' }}&gt;0&lt;/Text&gt;&#10;                &lt;Text style={{ fontSize: 14, color: '#546779' }}&gt;10&lt;/Text&gt;&#10;                &lt;Text style={{ fontSize: 14, color: '#546779' }}&gt;20&lt;/Text&gt;&#10;                &lt;Text style={{ fontSize: 14, color: '#546779' }}&gt;30&lt;/Text&gt;&#10;                &lt;Text style={{ fontSize: 14, fontWeight: 'bold', color: '#CB6B28' }}&gt;40 格&lt;/Text&gt;&#10;            &lt;/Box&gt;&#10;&#10;            &lt;Box style={{ width: 656, background: '#F4F7FA', borderRadius: 10, padding: '18px 22px', flexDirection: 'column', gap: 8 }}&gt;&#10;                &lt;Text style={{ fontSize: 17, color: '#20344B', lineHeight: 1.5 }}&gt;它是人物任务约束，也是人工判分条件；人物按真实进度自己控制探索。&lt;/Text&gt;&#10;                &lt;Text style={{ fontSize: 17, fontWeight: 'bold', color: '#CB6B28', lineHeight: 1.5 }}&gt;内核不会自动扣额或截停，未知消耗不能当零。&lt;/Text&gt;&#10;            &lt;/Box&gt;&#10;        &lt;/Box&gt;&#10;&#10;        &lt;Box style={{ width: 452, flexDirection: 'column', gap: 12 }}&gt;&#10;            &lt;Text style={{ fontSize: 15, color: '#276FBF' }}&gt;三条界线&lt;/Text&gt;&#10;&#10;            &lt;Box style={{ width: 452, height: 92, background: '#F4F7FA', borderRadius: 8, flexDirection: 'row', alignItems: 'center', gap: 14, padding: '0 18px' }}&gt;&#10;                &lt;Box style={{ width: 28, height: 28, background: '#276FBF', borderRadius: 8, justifyContent: 'center', alignItems: 'center' }}&gt;&#10;                    &lt;Text style={{ fontSize: 14, fontWeight: 'bold', color: '#FFFFFF' }}&gt;1&lt;/Text&gt;&#10;                &lt;/Box&gt;&#10;                &lt;Text style={{ fontSize: 15, color: '#546779', lineHeight: 1.5, flex: 1 }}&gt;是约束与判分条件，不是内核自动额度&lt;/Text&gt;&#10;            &lt;/Box&gt;&#10;&#10;            &lt;Box style={{ width: 452, height: 92, background: '#F4F7FA', borderRadius: 8, flexDirection: 'row', alignItems: 'center', gap: 14, padding: '0 18px' }}&gt;&#10;                &lt;Box style={{ width: 28, height: 28, background: '#276FBF', borderRadius: 8, justifyContent: 'center', alignItems: 'center' }}&gt;&#10;                    &lt;Text style={{ fontSize: 14, fontWeight: 'bold', color: '#FFFFFF' }}&gt;2&lt;/Text&gt;&#10;                &lt;/Box&gt;&#10;                &lt;Text style={{ fontSize: 15, color: '#546779', lineHeight: 1.5, flex: 1 }}&gt;未知消耗不能当零，路程要按已执行边如实累计&lt;/Text&gt;&#10;            &lt;/Box&gt;&#10;&#10;            &lt;Box style={{ width: 452, height: 92, background: '#F4F7FA', borderRadius: 8, flexDirection: 'row', alignItems: 'center', gap: 14, padding: '0 18px' }}&gt;&#10;                &lt;Box style={{ width: 28, height: 28, background: '#276FBF', borderRadius: 8, justifyContent: 'center', alignItems: 'center' }}&gt;&#10;                    &lt;Text style={{ fontSize: 14, fontWeight: 'bold', color: '#FFFFFF' }}&gt;3&lt;/Text&gt;&#10;                &lt;/Box&gt;&#10;                &lt;Text style={{ fontSize: 15, color: '#546779', lineHeight: 1.5, flex: 1 }}&gt;不称为人类耐力标准；预算前后结果都要报告&lt;/Text&gt;&#10;            &lt;/Box&gt;&#10;&#10;            &lt;Text style={{ fontSize: 15, fontWeight: 'bold', color: '#CB6B28', lineHeight: 1.5 }}&gt;到预算不必虚构离馆，可以真的休息或阅读。&lt;/Text&gt;&#10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486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一个时间窗口，一个软步行预算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4862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每人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40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格：是约束，不是额度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" y="2581275"/>
            <a:ext cx="636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40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格标尺（每格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个移动格）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09600" y="2886075"/>
            <a:ext cx="781050" cy="5334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962025" y="30765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1390650" y="2886075"/>
            <a:ext cx="781050" cy="533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704975" y="307657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2171700" y="2886075"/>
            <a:ext cx="781050" cy="5334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2486025" y="307657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2952750" y="2886075"/>
            <a:ext cx="781050" cy="533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3267075" y="307657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3733800" y="2886075"/>
            <a:ext cx="781050" cy="5334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048125" y="307657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25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4514850" y="2886075"/>
            <a:ext cx="781050" cy="533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4829175" y="307657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5295900" y="2886075"/>
            <a:ext cx="781050" cy="5334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610225" y="307657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35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076950" y="2886075"/>
            <a:ext cx="781050" cy="533400"/>
          </a:xfrm>
          <a:prstGeom prst="rect">
            <a:avLst/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381750" y="3076575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B6B28"/>
                </a:solidFill>
                <a:latin typeface="Microsoft YaHei"/>
                <a:ea typeface="Microsoft YaHei"/>
              </a:rPr>
              <a:t>40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09600" y="35528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2028825" y="355282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524250" y="355282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019675" y="355282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515100" y="355282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40 </a:t>
            </a:r>
            <a:r>
              <a:rPr lang="zh-CN" sz="1050" b="1">
                <a:solidFill>
                  <a:srgbClr val="CB6B28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09600" y="3848100"/>
            <a:ext cx="62484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19150" y="4019550"/>
            <a:ext cx="58293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它是人物任务约束，也是人工判分条件；人物按真实进度自己控制探索。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19150" y="4391025"/>
            <a:ext cx="58293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内核不会自动扣额或截停，未知消耗不能当零。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277100" y="1962150"/>
            <a:ext cx="430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三条界线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7277100" y="2247900"/>
            <a:ext cx="43053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7448550" y="25527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543800" y="26098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848600" y="2562225"/>
            <a:ext cx="3562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是约束与判分条件，不是内核自动额度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7277100" y="3238500"/>
            <a:ext cx="43053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7448550" y="35433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543800" y="36004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848600" y="3552825"/>
            <a:ext cx="3562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未知消耗不能当零，路程要按已执行边如实累计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7277100" y="4229100"/>
            <a:ext cx="43053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7448550" y="45339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543800" y="45910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848600" y="4543425"/>
            <a:ext cx="3562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不称为人类耐力标准；预算前后结果都要报告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277100" y="5219700"/>
            <a:ext cx="4305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到预算不必虚构离馆，可以真的休息或阅读。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68" name="" descr="&lt;Slide notes={`路程到底怎么数，只有一条口径：计已经执行的相邻移动边。&#10;&#10;如果提交的 executed_path 里包含起点，那么 N 个点只产生 N−1 条边。如果数组里不含起点，要先把事实中的 from_coord 接进去，再数边。&#10;&#10;空路径、只有计划没有执行、以及被拒绝的请求，都不产生已执行路程，也不计入成本。&#10;&#10;还有一种情况要单独处理：如果有人超过 40 格之后才完成匹配，那就另报一条「超预算匹配」，不进入主要成功分子。&#10;&#10;为什么强调「已执行」？因为计划路径和实际走出来的路径经常不一样，只按计划算，会把只说不做的方案也算成成本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4　一个时间窗口，一个软步行预算&lt;/Text&gt;&#10;            &lt;Text style={{ fontSize: 34, fontWeight: 'bold', color: '#20344B' }}&gt;已执行路程怎么计&lt;/Text&gt;&#10;        &lt;/Box&gt;&#10;    &lt;/Box&gt;&#10;&#10;    &lt;Box style={{ height: 540, flexDirection: 'row', alignItems: 'center', gap: 32 }}&gt;&#10;&#10;        &lt;Box style={{ width: 484, flexDirection: 'column', gap: 14 }}&gt;&#10;            &lt;Text style={{ fontSize: 15, color: '#276FBF' }}&gt;唯一口径&lt;/Text&gt;&#10;            &lt;Box style={{ width: 484, background: '#EDF4FC', borderRadius: 12, padding: '24px 26px', flexDirection: 'column', gap: 12 }}&gt;&#10;                &lt;Text style={{ fontSize: 20, fontWeight: 'bold', color: '#20344B' }}&gt;含起点的 N 个点&lt;/Text&gt;&#10;                &lt;Text style={{ fontSize: 56, fontWeight: 'bold', color: '#276FBF', lineHeight: 1.1 }}&gt;N − 1&lt;/Text&gt;&#10;                &lt;Text style={{ fontSize: 17, color: '#20344B', lineHeight: 1.5 }}&gt;条相邻移动边&lt;/Text&gt;&#10;                &lt;Text style={{ fontSize: 15, color: '#546779', lineHeight: 1.5 }}&gt;计的是已执行的边，不是计划里的边；起点计入点数，但不额外产生一条边。&lt;/Text&gt;&#10;            &lt;/Box&gt;&#10;        &lt;/Box&gt;&#10;&#10;        &lt;Box style={{ width: 636, background: '#F4F7FA', borderRadius: 10, padding: '14px 20px', flexDirection: 'column', gap: 10 }}&gt;&#10;&#10;            &lt;Box style={{ height: 26, flexDirection: 'row', alignItems: 'center', gap: 14 }}&gt;&#10;                &lt;Box style={{ width: 4 }} /&gt;&#10;                &lt;Box style={{ width: 240 }}&gt;&lt;Text style={{ fontSize: 15, fontWeight: 'bold', color: '#546779' }}&gt;路径材料&lt;/Text&gt;&lt;/Box&gt;&#10;                &lt;Box style={{ flex: 1 }}&gt;&lt;Text style={{ fontSize: 15, fontWeight: 'bold', color: '#546779' }}&gt;怎么计&lt;/Text&gt;&lt;/Box&gt;&#10;            &lt;/Box&gt;&#10;&#10;            &lt;Box style={{ height: 78, background: '#FFFFFF', borderRadius: 8, flexDirection: 'row', alignItems: 'center', gap: 14, padding: '0 14px' }}&gt;&#10;                &lt;Box style={{ width: 4, height: 40, background: '#276FBF' }} /&gt;&#10;                &lt;Box style={{ width: 240 }}&gt;&lt;Text style={{ fontSize: 16, fontWeight: 'bold', color: '#20344B', lineHeight: 1.4 }}&gt;已提交 executed_path 且含起点&lt;/Text&gt;&lt;/Box&gt;&#10;                &lt;Box style={{ flex: 1 }}&gt;&lt;Text style={{ fontSize: 15, color: '#546779', lineHeight: 1.5 }}&gt;N 个点计 N−1 条相邻移动边&lt;/Text&gt;&lt;/Box&gt;&#10;            &lt;/Box&gt;&#10;&#10;            &lt;Box style={{ height: 78, background: '#FFFFFF', borderRadius: 8, flexDirection: 'row', alignItems: 'center', gap: 14, padding: '0 14px' }}&gt;&#10;                &lt;Box style={{ width: 4, height: 40, background: '#276FBF' }} /&gt;&#10;                &lt;Box style={{ width: 240 }}&gt;&lt;Text style={{ fontSize: 16, fontWeight: 'bold', color: '#20344B', lineHeight: 1.4 }}&gt;数组不含起点&lt;/Text&gt;&lt;/Box&gt;&#10;                &lt;Box style={{ flex: 1 }}&gt;&lt;Text style={{ fontSize: 15, color: '#546779', lineHeight: 1.5 }}&gt;先接入事实中的 from_coord，再按相邻点对计边&lt;/Text&gt;&lt;/Box&gt;&#10;            &lt;/Box&gt;&#10;&#10;            &lt;Box style={{ height: 78, background: '#FFF4E6', borderRadius: 8, flexDirection: 'row', alignItems: 'center', gap: 14, padding: '0 14px' }}&gt;&#10;                &lt;Box style={{ width: 4, height: 40, background: '#CB6B28' }} /&gt;&#10;                &lt;Box style={{ width: 240 }}&gt;&lt;Text style={{ fontSize: 16, fontWeight: 'bold', color: '#CB6B28', lineHeight: 1.4 }}&gt;空路径／计划路径／被拒请求&lt;/Text&gt;&lt;/Box&gt;&#10;                &lt;Box style={{ flex: 1 }}&gt;&lt;Text style={{ fontSize: 15, color: '#546779', lineHeight: 1.5 }}&gt;不产生已执行路程，也不计入成本&lt;/Text&gt;&lt;/Box&gt;&#10;            &lt;/Box&gt;&#10;&#10;            &lt;Box style={{ height: 78, background: '#FFF4E6', borderRadius: 8, flexDirection: 'row', alignItems: 'center', gap: 14, padding: '0 14px' }}&gt;&#10;                &lt;Box style={{ width: 4, height: 40, background: '#CB6B28' }} /&gt;&#10;                &lt;Box style={{ width: 240 }}&gt;&lt;Text style={{ fontSize: 16, fontWeight: 'bold', color: '#CB6B28', lineHeight: 1.4 }}&gt;超过 40 格之后才匹配&lt;/Text&gt;&lt;/Box&gt;&#10;                &lt;Box style={{ flex: 1 }}&gt;&lt;Text style={{ fontSize: 15, color: '#546779', lineHeight: 1.5 }}&gt;另报「超预算匹配」，不进入主要成功分子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一个时间窗口，一个软步行预算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已执行路程怎么计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09600" y="2295525"/>
            <a:ext cx="461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唯一口径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09600" y="2600325"/>
            <a:ext cx="4610100" cy="2543175"/>
          </a:xfrm>
          <a:prstGeom prst="roundRect">
            <a:avLst>
              <a:gd name="adj" fmla="val 449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57250" y="2828925"/>
            <a:ext cx="411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含起点的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个点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57250" y="3171825"/>
            <a:ext cx="4114800" cy="7048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200" b="1">
                <a:solidFill>
                  <a:srgbClr val="276FBF"/>
                </a:solidFill>
                <a:latin typeface="Microsoft YaHei"/>
                <a:ea typeface="Microsoft YaHei"/>
              </a:rPr>
              <a:t>N − 1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57250" y="3990975"/>
            <a:ext cx="41148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条相邻移动边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57250" y="4400550"/>
            <a:ext cx="4114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计的是已执行的边，不是计划里的边；起点计入点数，但不额外产生一条边。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5524500" y="1781175"/>
            <a:ext cx="6057900" cy="3867150"/>
          </a:xfrm>
          <a:prstGeom prst="roundRect">
            <a:avLst>
              <a:gd name="adj" fmla="val 24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886450" y="1952625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路径材料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305800" y="1952625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怎么计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5715000" y="2257425"/>
            <a:ext cx="56769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5848350" y="24384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19800" y="2505075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已提交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executed_path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且含起点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439150" y="2505075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个点计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N−1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条相邻移动边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5715000" y="3095625"/>
            <a:ext cx="56769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5848350" y="32766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019800" y="3343275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数组不含起点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439150" y="3209925"/>
            <a:ext cx="2819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先接入事实中的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from_coord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，再按相邻点对计边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5715000" y="3933825"/>
            <a:ext cx="5676900" cy="742950"/>
          </a:xfrm>
          <a:prstGeom prst="roundRect">
            <a:avLst>
              <a:gd name="adj" fmla="val 102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5848350" y="41148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019800" y="4181475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空路径／计划路径／被拒请求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439150" y="4181475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不产生已执行路程，也不计入成本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5715000" y="4772025"/>
            <a:ext cx="5676900" cy="742950"/>
          </a:xfrm>
          <a:prstGeom prst="roundRect">
            <a:avLst>
              <a:gd name="adj" fmla="val 102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5848350" y="49530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019800" y="5019675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超过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40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格之后才匹配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439150" y="5019675"/>
            <a:ext cx="2819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另报「超预算匹配」，不进入主要成功分子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00" name="" descr="&lt;Slide notes={`四个指标各自回答不同的问题，要一起看。&#10;&#10;合适区域使用率是主指标：窗口内、累计不超过 40 格、真实抵达匹配区域并提交至少一次对应活动的人数，除以 4，每人只算一次。导览发现率看的是首入主题区之前，真实感知中出现过导览牌、或者真实交互过的人数。成功访问路程成本是窗口内全体实际移动格数除以主要成功人数，失败路程也计在内，零成功就无法计算。首次匹配时延是从 Run 开始到第一个满足兴趣、位置和预算条件的活动，用虚拟分钟表示。&#10;&#10;要提醒自己：感知出现只支持「发现」，不支撑「使用」；一次活动也不证明读完了或者掌握了知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5　指标把发现与使用分开&lt;/Text&gt;&#10;            &lt;Text style={{ fontSize: 34, fontWeight: 'bold', color: '#20344B' }}&gt;四个指标，各回答不同问题&lt;/Text&gt;&#10;        &lt;/Box&gt;&#10;    &lt;/Box&gt;&#10;&#10;    &lt;Box style={{ height: 540, flexDirection: 'column', justifyContent: 'center', gap: 16 }}&gt;&#10;&#10;        &lt;Text style={{ fontSize: 16, color: '#546779' }}&gt;主指标看使用，辅助指标看发现与时延；四者分母都含全部四人。&lt;/Text&gt;&#10;&#10;        &lt;Box style={{ flexDirection: 'row', gap: 20 }}&gt;&#10;&#10;            &lt;Box style={{ width: 273, height: 216, background: '#EDF4FC', borderRadius: 10, padding: '16px 18px', flexDirection: 'column', gap: 8 }}&gt;&#10;                &lt;Text style={{ fontSize: 18, fontWeight: 'bold', color: '#276FBF' }}&gt;合适区域使用率&lt;/Text&gt;&#10;                &lt;Text style={{ fontSize: 15, color: '#20344B', lineHeight: 1.45 }}&gt;W 内、累计 ≤40 格、真实抵达匹配区域并提交至少一次对应 ACT 的人数 ÷ 4&lt;/Text&gt;&#10;                &lt;Text style={{ fontSize: 14, color: '#546779', lineHeight: 1.45 }}&gt;每人一次；活动语义与实际位置须同时成立&lt;/Text&gt;&#10;            &lt;/Box&gt;&#10;&#10;            &lt;Box style={{ width: 273, height: 216, background: '#F4F7FA', borderRadius: 10, padding: '16px 18px', flexDirection: 'column', gap: 8 }}&gt;&#10;                &lt;Text style={{ fontSize: 18, fontWeight: 'bold', color: '#20344B' }}&gt;导览发现率&lt;/Text&gt;&#10;                &lt;Text style={{ fontSize: 15, color: '#20344B', lineHeight: 1.45 }}&gt;首入主题区之前，真实感知出现导览牌或真实交互过的人数 ÷ 4&lt;/Text&gt;&#10;                &lt;Text style={{ fontSize: 14, color: '#546779', lineHeight: 1.45 }}&gt;原始感知缺失时，交互证据只能给下界，未知单列&lt;/Text&gt;&#10;            &lt;/Box&gt;&#10;&#10;            &lt;Box style={{ width: 273, height: 216, background: '#F4F7FA', borderRadius: 10, padding: '16px 18px', flexDirection: 'column', gap: 8 }}&gt;&#10;                &lt;Text style={{ fontSize: 18, fontWeight: 'bold', color: '#20344B' }}&gt;成功访问路程成本&lt;/Text&gt;&#10;                &lt;Text style={{ fontSize: 15, color: '#20344B', lineHeight: 1.45 }}&gt;W 内全体访客实际移动格数 ÷ 主要成功人数，单位格／成功访问&lt;/Text&gt;&#10;                &lt;Text style={{ fontSize: 14, color: '#546779', lineHeight: 1.45 }}&gt;失败路程也计；零成功不可计算&lt;/Text&gt;&#10;            &lt;/Box&gt;&#10;&#10;            &lt;Box style={{ width: 273, height: 216, background: '#F4F7FA', borderRadius: 10, padding: '16px 18px', flexDirection: 'column', gap: 8 }}&gt;&#10;                &lt;Text style={{ fontSize: 18, fontWeight: 'bold', color: '#20344B' }}&gt;首次匹配时延&lt;/Text&gt;&#10;                &lt;Text style={{ fontSize: 15, color: '#20344B', lineHeight: 1.45 }}&gt;Run 开始 → 首个满足兴趣、位置、预算条件的 ACT，用虚拟分钟&lt;/Text&gt;&#10;                &lt;Text style={{ fontSize: 14, color: '#546779', lineHeight: 1.45 }}&gt;列四人各自结果与未匹配数&lt;/Text&gt;&#10;            &lt;/Box&gt;&#10;&#10;        &lt;/Box&gt;&#10;&#10;        &lt;Box style={{ background: '#FFF4E6', borderRadius: 10, padding: '16px 20px', flexDirection: 'row', alignItems: 'center', gap: 14 }}&gt;&#10;            &lt;Box style={{ width: 4, height: 36, background: '#CB6B28' }} /&gt;&#10;            &lt;Text style={{ fontSize: 16, color: '#CB6B28', lineHeight: 1.5, flex: 1 }}&gt;感知出现只支持「发现」；满意宣言不够，一次 ACT 不证明读完或掌握。主指标不评价满意度、长期学习与真实群体公平。&lt;/Text&gt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指标把发现与使用分开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四个指标，各回答不同问题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09600" y="21145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主指标看使用，辅助指标看发现与时延；四者分母都含全部四人。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609600" y="2457450"/>
            <a:ext cx="2600325" cy="2057400"/>
          </a:xfrm>
          <a:prstGeom prst="roundRect">
            <a:avLst>
              <a:gd name="adj" fmla="val 463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781050" y="2609850"/>
            <a:ext cx="2257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合适区域使用率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81050" y="2895600"/>
            <a:ext cx="2257425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W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内、累计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≤40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格、真实抵达匹配区域并提交至少一次对应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ACT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的人数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÷ 4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781050" y="3724275"/>
            <a:ext cx="22574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每人一次；活动语义与实际位置须同时成立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3400425" y="2457450"/>
            <a:ext cx="2600325" cy="2057400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3571875" y="2609850"/>
            <a:ext cx="2257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导览发现率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3571875" y="2895600"/>
            <a:ext cx="2257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首入主题区之前，真实感知出现导览牌或真实交互过的人数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÷ 4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3571875" y="3476625"/>
            <a:ext cx="22574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原始感知缺失时，交互证据只能给下界，未知单列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191250" y="2457450"/>
            <a:ext cx="2600325" cy="2057400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362700" y="2609850"/>
            <a:ext cx="2257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成功访问路程成本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362700" y="2895600"/>
            <a:ext cx="2257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W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内全体访客实际移动格数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主要成功人数，单位格／成功访问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362700" y="3476625"/>
            <a:ext cx="22574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失败路程也计；零成功不可计算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8982075" y="2457450"/>
            <a:ext cx="2600325" cy="2057400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9153525" y="2609850"/>
            <a:ext cx="2257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首次匹配时延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9153525" y="2895600"/>
            <a:ext cx="2257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开始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首个满足兴趣、位置、预算条件的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ACT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，用虚拟分钟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9153525" y="3476625"/>
            <a:ext cx="22574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列四人各自结果与未匹配数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09600" y="4667250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800100" y="4819650"/>
            <a:ext cx="38100" cy="342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971550" y="4857750"/>
            <a:ext cx="10420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感知出现只支持「发现」；满意宣言不够，一次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ACT 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不证明读完或掌握。主指标不评价满意度、长期学习与真实群体公平。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27" name="" descr="&lt;Slide notes={`这四个人走到了哪里，结果并不一样。&#10;&#10;G1 在甲厅读图册，活动发生时累计 20 格，成功。G2 在甲厅读记录，活动发生时累计 32 格，也成功。G3 到了乙厅，但只做了「寻找展品」，活动缺失，不进入主要分子。G4 在乙厅查看制作步骤时累计 43 格，超过 40 格的软预算，同样不进主要分子。&#10;&#10;要注意两点。第一，20、32、43 这三个数是各次对应活动发生时的累计路程，时间点不同，不能直接相加。第二，G3 和 G4 虽然判定为不成功，但仍然留在四人的分母里，失败的路程也照样计入成本。&#10;&#10;还有一点，G3 的路程根本没有给定，不能替他补造一个数字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6　人工判分：走到正确房间仍可能不成功&lt;/Text&gt;&#10;            &lt;Text style={{ fontSize: 34, fontWeight: 'bold', color: '#20344B' }}&gt;四个人四种结局（人工材料，非 Run 结果）&lt;/Text&gt;&#10;        &lt;/Box&gt;&#10;    &lt;/Box&gt;&#10;&#10;    &lt;Box style={{ height: 540, flexDirection: 'row', alignItems: 'center', gap: 32 }}&gt;&#10;&#10;        &lt;Box style={{ width: 634, background: '#F4F7FA', borderRadius: 10, padding: '14px 20px', flexDirection: 'column', gap: 10 }}&gt;&#10;&#10;            &lt;Box style={{ height: 26, flexDirection: 'row', alignItems: 'center', gap: 14 }}&gt;&#10;                &lt;Box style={{ width: 4 }} /&gt;&#10;                &lt;Box style={{ width: 78 }}&gt;&lt;Text style={{ fontSize: 15, fontWeight: 'bold', color: '#546779' }}&gt;访客&lt;/Text&gt;&lt;/Box&gt;&#10;                &lt;Box style={{ width: 140 }}&gt;&lt;Text style={{ fontSize: 15, fontWeight: 'bold', color: '#546779' }}&gt;活动时累计&lt;/Text&gt;&lt;/Box&gt;&#10;                &lt;Box style={{ width: 170 }}&gt;&lt;Text style={{ fontSize: 15, fontWeight: 'bold', color: '#546779' }}&gt;对应活动&lt;/Text&gt;&lt;/Box&gt;&#10;                &lt;Box style={{ flex: 1 }}&gt;&lt;Text style={{ fontSize: 15, fontWeight: 'bold', color: '#546779' }}&gt;判分&lt;/Text&gt;&lt;/Box&gt;&#10;            &lt;/Box&gt;&#10;&#10;            &lt;Box style={{ height: 78, background: '#ECF7F2', borderRadius: 8, flexDirection: 'row', alignItems: 'center', gap: 14, padding: '0 14px' }}&gt;&#10;                &lt;Box style={{ width: 4, height: 40, background: '#26816B' }} /&gt;&#10;                &lt;Box style={{ width: 78 }}&gt;&lt;Text style={{ fontSize: 16, fontWeight: 'bold', color: '#26816B' }}&gt;G1&lt;/Text&gt;&lt;/Box&gt;&#10;                &lt;Box style={{ width: 140 }}&gt;&lt;Text style={{ fontSize: 16, color: '#20344B' }}&gt;20 格&lt;/Text&gt;&lt;/Box&gt;&#10;                &lt;Box style={{ width: 170 }}&gt;&lt;Text style={{ fontSize: 15, color: '#546779' }}&gt;甲厅阅读图册&lt;/Text&gt;&lt;/Box&gt;&#10;                &lt;Box style={{ flex: 1 }}&gt;&lt;Text style={{ fontSize: 15, fontWeight: 'bold', color: '#26816B' }}&gt;成功&lt;/Text&gt;&lt;/Box&gt;&#10;            &lt;/Box&gt;&#10;&#10;            &lt;Box style={{ height: 78, background: '#ECF7F2', borderRadius: 8, flexDirection: 'row', alignItems: 'center', gap: 14, padding: '0 14px' }}&gt;&#10;                &lt;Box style={{ width: 4, height: 40, background: '#26816B' }} /&gt;&#10;                &lt;Box style={{ width: 78 }}&gt;&lt;Text style={{ fontSize: 16, fontWeight: 'bold', color: '#26816B' }}&gt;G2&lt;/Text&gt;&lt;/Box&gt;&#10;                &lt;Box style={{ width: 140 }}&gt;&lt;Text style={{ fontSize: 16, color: '#20344B' }}&gt;32 格&lt;/Text&gt;&lt;/Box&gt;&#10;                &lt;Box style={{ width: 170 }}&gt;&lt;Text style={{ fontSize: 15, color: '#546779' }}&gt;甲厅阅读记录&lt;/Text&gt;&lt;/Box&gt;&#10;                &lt;Box style={{ flex: 1 }}&gt;&lt;Text style={{ fontSize: 15, fontWeight: 'bold', color: '#26816B' }}&gt;成功&lt;/Text&gt;&lt;/Box&gt;&#10;            &lt;/Box&gt;&#10;&#10;            &lt;Box style={{ height: 78, background: '#FFF4E6', borderRadius: 8, flexDirection: 'row', alignItems: 'center', gap: 14, padding: '0 14px' }}&gt;&#10;                &lt;Box style={{ width: 4, height: 40, background: '#CB6B28' }} /&gt;&#10;                &lt;Box style={{ width: 78 }}&gt;&lt;Text style={{ fontSize: 16, fontWeight: 'bold', color: '#CB6B28' }}&gt;G3&lt;/Text&gt;&lt;/Box&gt;&#10;                &lt;Box style={{ width: 140 }}&gt;&lt;Text style={{ fontSize: 16, fontWeight: 'bold', color: '#CB6B28' }}&gt;未给定&lt;/Text&gt;&lt;/Box&gt;&#10;                &lt;Box style={{ width: 170 }}&gt;&lt;Text style={{ fontSize: 15, color: '#546779' }}&gt;只有寻找展品&lt;/Text&gt;&lt;/Box&gt;&#10;                &lt;Box style={{ flex: 1 }}&gt;&lt;Text style={{ fontSize: 15, fontWeight: 'bold', color: '#CB6B28' }}&gt;否：活动缺失&lt;/Text&gt;&lt;/Box&gt;&#10;            &lt;/Box&gt;&#10;&#10;            &lt;Box style={{ height: 78, background: '#FFF4E6', borderRadius: 8, flexDirection: 'row', alignItems: 'center', gap: 14, padding: '0 14px' }}&gt;&#10;                &lt;Box style={{ width: 4, height: 40, background: '#CB6B28' }} /&gt;&#10;                &lt;Box style={{ width: 78 }}&gt;&lt;Text style={{ fontSize: 16, fontWeight: 'bold', color: '#CB6B28' }}&gt;G4&lt;/Text&gt;&lt;/Box&gt;&#10;                &lt;Box style={{ width: 140 }}&gt;&lt;Text style={{ fontSize: 16, fontWeight: 'bold', color: '#CB6B28' }}&gt;43 格 &amp;gt; 40&lt;/Text&gt;&lt;/Box&gt;&#10;                &lt;Box style={{ width: 170 }}&gt;&lt;Text style={{ fontSize: 15, color: '#546779' }}&gt;乙厅查看步骤&lt;/Text&gt;&lt;/Box&gt;&#10;                &lt;Box style={{ flex: 1 }}&gt;&lt;Text style={{ fontSize: 15, fontWeight: 'bold', color: '#CB6B28' }}&gt;否：超预算&lt;/Text&gt;&lt;/Box&gt;&#10;            &lt;/Box&gt;&#10;&#10;        &lt;/Box&gt;&#10;&#10;        &lt;Box style={{ width: 486, flexDirection: 'column', gap: 14 }}&gt;&#10;            &lt;Text style={{ fontSize: 15, color: '#276FBF' }}&gt;两人成功，两人仍留在分母&lt;/Text&gt;&#10;            &lt;Box style={{ width: 486, background: '#EDF4FC', borderRadius: 12, padding: '24px 26px', flexDirection: 'column', gap: 8 }}&gt;&#10;                &lt;Text style={{ fontSize: 20, fontWeight: 'bold', color: '#20344B' }}&gt;主要成功&lt;/Text&gt;&#10;                &lt;Text style={{ fontSize: 88, fontWeight: 'bold', color: '#276FBF', lineHeight: 1 }}&gt;2/4&lt;/Text&gt;&#10;                &lt;Text style={{ fontSize: 22, fontWeight: 'bold', color: '#276FBF' }}&gt;＝ 50%&lt;/Text&gt;&#10;            &lt;/Box&gt;&#10;            &lt;Text style={{ fontSize: 16, color: '#546779', lineHeight: 1.5 }}&gt;G3 与 G4 不进主要分子，但两人仍在四人分母里；失败路程也留在成本中。&lt;/Text&gt;&#10;            &lt;Text style={{ fontSize: 16, fontWeight: 'bold', color: '#CB6B28', lineHeight: 1.5 }}&gt;G3 的路程未给定，不能补造；也不能事后把阈值改成 45。&lt;/Text&gt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6353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人工判分：走到正确房间仍可能不成功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6353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四个人四种结局（人工材料，非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结果）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09600" y="1781175"/>
            <a:ext cx="6038850" cy="3867150"/>
          </a:xfrm>
          <a:prstGeom prst="roundRect">
            <a:avLst>
              <a:gd name="adj" fmla="val 24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971550" y="1952625"/>
            <a:ext cx="74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访客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847850" y="195262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活动时累计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3314700" y="195262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对应活动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067300" y="1952625"/>
            <a:ext cx="1390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判分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800100" y="2257425"/>
            <a:ext cx="5657850" cy="742950"/>
          </a:xfrm>
          <a:prstGeom prst="roundRect">
            <a:avLst>
              <a:gd name="adj" fmla="val 102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933450" y="243840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104900" y="2533650"/>
            <a:ext cx="74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G1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981200" y="2533650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3448050" y="254317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甲厅阅读图册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200650" y="2543175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成功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800100" y="3095625"/>
            <a:ext cx="5657850" cy="742950"/>
          </a:xfrm>
          <a:prstGeom prst="roundRect">
            <a:avLst>
              <a:gd name="adj" fmla="val 102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44" name=""/>
          <p:cNvSpPr/>
          <p:nvPr/>
        </p:nvSpPr>
        <p:spPr>
          <a:xfrm rot="0" flipH="0" flipV="0">
            <a:off x="933450" y="327660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104900" y="3371850"/>
            <a:ext cx="74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G2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981200" y="3371850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32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3448050" y="338137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甲厅阅读记录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200650" y="3381375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成功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800100" y="3933825"/>
            <a:ext cx="5657850" cy="742950"/>
          </a:xfrm>
          <a:prstGeom prst="roundRect">
            <a:avLst>
              <a:gd name="adj" fmla="val 102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933450" y="41148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104900" y="4210050"/>
            <a:ext cx="74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>G3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981200" y="4210050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未给定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3448050" y="421957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只有寻找展品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5200650" y="4219575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否：活动缺失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800100" y="4772025"/>
            <a:ext cx="5657850" cy="742950"/>
          </a:xfrm>
          <a:prstGeom prst="roundRect">
            <a:avLst>
              <a:gd name="adj" fmla="val 102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933450" y="49530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104900" y="5048250"/>
            <a:ext cx="74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>G4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981200" y="5048250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43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格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&gt; 40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3448050" y="505777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乙厅查看步骤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5200650" y="5057775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否：超预算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953250" y="1962150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两人成功，两人仍留在分母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6953250" y="2266950"/>
            <a:ext cx="4629150" cy="2105025"/>
          </a:xfrm>
          <a:prstGeom prst="roundRect">
            <a:avLst>
              <a:gd name="adj" fmla="val 543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200900" y="2495550"/>
            <a:ext cx="413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主要成功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200900" y="2800350"/>
            <a:ext cx="413385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276FBF"/>
                </a:solidFill>
                <a:latin typeface="Microsoft YaHei"/>
                <a:ea typeface="Microsoft YaHei"/>
              </a:rPr>
              <a:t>2/4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7200900" y="3886200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＝</a:t>
            </a: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50%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953250" y="4505325"/>
            <a:ext cx="4629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G3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G4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不进主要分子，但两人仍在四人分母里；失败路程也留在成本中。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953250" y="5191125"/>
            <a:ext cx="46291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G3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的路程未给定，不能补造；也不能事后把阈值改成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45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401" name="" descr="&lt;Slide notes={`这两个数字是这样算出来的。&#10;&#10;先看使用率。成功的是 G1 和 G2，两个人；分母是全部四人。所以 2 除以 4 等于 50%。&#10;&#10;再看路程成本。窗口末全体访客的实际累计路程是 120 格，主要成功人数是 2，所以 120 除以 2 等于 60 格每一次成功访问。&#10;&#10;关键是这两个量的时间边界不一样。20 格、32 格、43 格分别是 G1、G2、G4 各自的对应活动发生时的累计路程；而 120 格是窗口结束时全体的累计量。&#10;&#10;所以我不能用 120 去减前三个数，来倒推 G3 的路程。那个数根本没有给定，任何倒推都是编造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6　人工判分：走到正确房间仍可能不成功&lt;/Text&gt;&#10;            &lt;Text style={{ fontSize: 34, fontWeight: 'bold', color: '#20344B' }}&gt;2/4 与 60 格从哪来&lt;/Text&gt;&#10;        &lt;/Box&gt;&#10;    &lt;/Box&gt;&#10;&#10;    &lt;Box style={{ height: 540, flexDirection: 'row', alignItems: 'center', gap: 32 }}&gt;&#10;&#10;        &lt;Box style={{ width: 700, flexDirection: 'column', gap: 20 }}&gt;&#10;&#10;            &lt;Box style={{ width: 700, background: '#EDF4FC', borderRadius: 10, padding: '22px 22px', flexDirection: 'column', gap: 12 }}&gt;&#10;                &lt;Text style={{ fontSize: 17, fontWeight: 'bold', color: '#20344B' }}&gt;合适区域使用率&lt;/Text&gt;&#10;                &lt;Box style={{ flexDirection: 'row', alignItems: 'center' }}&gt;&#10;                    &lt;Box style={{ width: 200, height: 68, background: '#FFFFFF', borderRadius: 8, flexDirection: 'column', justifyContent: 'center', alignItems: 'center', gap: 2 }}&gt;&#10;                        &lt;Text style={{ fontSize: 14, color: '#546779' }}&gt;成功人数&lt;/Text&gt;&#10;                        &lt;Text style={{ fontSize: 24, fontWeight: 'bold', color: '#26816B' }}&gt;2&lt;/Text&gt;&#10;                    &lt;/Box&gt;&#10;                    &lt;Box style={{ width: 44, height: 68, justifyContent: 'center', alignItems: 'center' }}&gt;&#10;                        &lt;Text style={{ fontSize: 24, color: '#276FBF' }}&gt;÷&lt;/Text&gt;&#10;                    &lt;/Box&gt;&#10;                    &lt;Box style={{ width: 160, height: 68, background: '#FFFFFF', borderRadius: 8, flexDirection: 'column', justifyContent: 'center', alignItems: 'center', gap: 2 }}&gt;&#10;                        &lt;Text style={{ fontSize: 14, color: '#546779' }}&gt;全部四人&lt;/Text&gt;&#10;                        &lt;Text style={{ fontSize: 24, fontWeight: 'bold', color: '#20344B' }}&gt;4&lt;/Text&gt;&#10;                    &lt;/Box&gt;&#10;                    &lt;Box style={{ width: 44, height: 68, justifyContent: 'center', alignItems: 'center' }}&gt;&#10;                        &lt;Text style={{ fontSize: 24, color: '#276FBF' }}&gt;=&lt;/Text&gt;&#10;                    &lt;/Box&gt;&#10;                    &lt;Box style={{ width: 208, height: 68, background: '#276FBF', borderRadius: 8, justifyContent: 'center', alignItems: 'center' }}&gt;&#10;                        &lt;Text style={{ fontSize: 26, fontWeight: 'bold', color: '#FFFFFF' }}&gt;50%&lt;/Text&gt;&#10;                    &lt;/Box&gt;&#10;                &lt;/Box&gt;&#10;            &lt;/Box&gt;&#10;&#10;            &lt;Box style={{ width: 700, background: '#F4F7FA', borderRadius: 10, padding: '22px 22px', flexDirection: 'column', gap: 12 }}&gt;&#10;                &lt;Text style={{ fontSize: 17, fontWeight: 'bold', color: '#20344B' }}&gt;成功访问路程成本&lt;/Text&gt;&#10;                &lt;Box style={{ flexDirection: 'row', alignItems: 'center' }}&gt;&#10;                    &lt;Box style={{ width: 200, height: 68, background: '#FFFFFF', borderRadius: 8, flexDirection: 'column', justifyContent: 'center', alignItems: 'center', gap: 2 }}&gt;&#10;                        &lt;Text style={{ fontSize: 14, color: '#546779' }}&gt;窗口末全体实际路程&lt;/Text&gt;&#10;                        &lt;Text style={{ fontSize: 24, fontWeight: 'bold', color: '#276FBF' }}&gt;120 格&lt;/Text&gt;&#10;                    &lt;/Box&gt;&#10;                    &lt;Box style={{ width: 44, height: 68, justifyContent: 'center', alignItems: 'center' }}&gt;&#10;                        &lt;Text style={{ fontSize: 24, color: '#276FBF' }}&gt;÷&lt;/Text&gt;&#10;                    &lt;/Box&gt;&#10;                    &lt;Box style={{ width: 160, height: 68, background: '#FFFFFF', borderRadius: 8, flexDirection: 'column', justifyContent: 'center', alignItems: 'center', gap: 2 }}&gt;&#10;                        &lt;Text style={{ fontSize: 14, color: '#546779' }}&gt;主要成功人数&lt;/Text&gt;&#10;                        &lt;Text style={{ fontSize: 24, fontWeight: 'bold', color: '#20344B' }}&gt;2&lt;/Text&gt;&#10;                    &lt;/Box&gt;&#10;                    &lt;Box style={{ width: 44, height: 68, justifyContent: 'center', alignItems: 'center' }}&gt;&#10;                        &lt;Text style={{ fontSize: 24, color: '#276FBF' }}&gt;=&lt;/Text&gt;&#10;                    &lt;/Box&gt;&#10;                    &lt;Box style={{ width: 208, height: 68, background: '#276FBF', borderRadius: 8, justifyContent: 'center', alignItems: 'center' }}&gt;&#10;                        &lt;Text style={{ fontSize: 20, fontWeight: 'bold', color: '#FFFFFF' }}&gt;60 格／成功访问&lt;/Text&gt;&#10;                    &lt;/Box&gt;&#10;                &lt;/Box&gt;&#10;            &lt;/Box&gt;&#10;&#10;        &lt;/Box&gt;&#10;&#10;        &lt;Box style={{ width: 420, flexDirection: 'column', gap: 12 }}&gt;&#10;            &lt;Text style={{ fontSize: 15, color: '#276FBF' }}&gt;两个量的时间边界不同&lt;/Text&gt;&#10;&#10;            &lt;Box style={{ width: 420, background: '#EDF4FC', borderRadius: 10, padding: '16px 18px', flexDirection: 'column', gap: 6 }}&gt;&#10;                &lt;Text style={{ fontSize: 16, fontWeight: 'bold', color: '#276FBF' }}&gt;各自活动发生时&lt;/Text&gt;&#10;                &lt;Text style={{ fontSize: 15, color: '#546779', lineHeight: 1.5 }}&gt;G1 20 格 · G2 32 格 · G4 43 格，是各次对应 ACT 发生时的累计量&lt;/Text&gt;&#10;            &lt;/Box&gt;&#10;&#10;            &lt;Box style={{ width: 420, background: '#F4F7FA', borderRadius: 10, padding: '16px 18px', flexDirection: 'column', gap: 6 }}&gt;&#10;                &lt;Text style={{ fontSize: 16, fontWeight: 'bold', color: '#20344B' }}&gt;窗口末全体&lt;/Text&gt;&#10;                &lt;Text style={{ fontSize: 15, color: '#546779', lineHeight: 1.5 }}&gt;120 格是四人合计的累计量，与上面三个数不是同一时点&lt;/Text&gt;&#10;            &lt;/Box&gt;&#10;&#10;            &lt;Box style={{ width: 420, background: '#FFF4E6', borderRadius: 10, padding: '16px 18px', flexDirection: 'column', gap: 6 }}&gt;&#10;                &lt;Text style={{ fontSize: 16, fontWeight: 'bold', color: '#CB6B28', lineHeight: 1.5 }}&gt;不能用 120 减前三数倒推 G3&lt;/Text&gt;&#10;                &lt;Text style={{ fontSize: 15, color: '#546779', lineHeight: 1.5 }}&gt;G3 的路程未给定，未知就写成未知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867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人工判分：走到正确房间仍可能不成功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867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2/4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格从哪来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09600" y="2238375"/>
            <a:ext cx="6667500" cy="1381125"/>
          </a:xfrm>
          <a:prstGeom prst="roundRect">
            <a:avLst>
              <a:gd name="adj" fmla="val 689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19150" y="2447925"/>
            <a:ext cx="6248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合适区域使用率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819150" y="2762250"/>
            <a:ext cx="19050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504950" y="28575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成功人数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1704975" y="303847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6816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2847975" y="2952750"/>
            <a:ext cx="171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÷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3143250" y="2762250"/>
            <a:ext cx="15240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3638550" y="28575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全部四人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3838575" y="303847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0344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4791075" y="2952750"/>
            <a:ext cx="171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276FBF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5086350" y="2762250"/>
            <a:ext cx="1981200" cy="647700"/>
          </a:xfrm>
          <a:prstGeom prst="roundRect">
            <a:avLst>
              <a:gd name="adj" fmla="val 11765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5810250" y="2933700"/>
            <a:ext cx="542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50%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609600" y="3810000"/>
            <a:ext cx="6667500" cy="1381125"/>
          </a:xfrm>
          <a:prstGeom prst="roundRect">
            <a:avLst>
              <a:gd name="adj" fmla="val 689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19150" y="4019550"/>
            <a:ext cx="6248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成功访问路程成本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819150" y="4333875"/>
            <a:ext cx="19050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1171575" y="442912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窗口末全体实际路程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409700" y="4610100"/>
            <a:ext cx="723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120 </a:t>
            </a: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2847975" y="4524375"/>
            <a:ext cx="171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÷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3143250" y="4333875"/>
            <a:ext cx="15240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3505200" y="44291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主要成功人数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3838575" y="4610100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0344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4791075" y="4524375"/>
            <a:ext cx="171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276FBF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5086350" y="4333875"/>
            <a:ext cx="1981200" cy="647700"/>
          </a:xfrm>
          <a:prstGeom prst="roundRect">
            <a:avLst>
              <a:gd name="adj" fmla="val 11765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5362575" y="4543425"/>
            <a:ext cx="1438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60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格／成功访问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7581900" y="2076450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两个量的时间边界不同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7581900" y="2362200"/>
            <a:ext cx="400050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7753350" y="2514600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各自活动发生时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753350" y="2762250"/>
            <a:ext cx="3657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G1 20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格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G2 32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格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G4 43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格，是各次对应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ACT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发生时的累计量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7581900" y="3543300"/>
            <a:ext cx="4000500" cy="809625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7753350" y="3695700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窗口末全体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7753350" y="3943350"/>
            <a:ext cx="3657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120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格是四人合计的累计量，与上面三个数不是同一时点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7581900" y="4467225"/>
            <a:ext cx="4000500" cy="895350"/>
          </a:xfrm>
          <a:prstGeom prst="roundRect">
            <a:avLst>
              <a:gd name="adj" fmla="val 1063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753350" y="4619625"/>
            <a:ext cx="3657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不能用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120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减前三数倒推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G3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7753350" y="4953000"/>
            <a:ext cx="3657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G3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的路程未给定，未知就写成未知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42" name="" descr="&lt;Slide notes={`结果不合预期的时候，我们要能说出可能的原因，并且知道去查哪一份证据。&#10;&#10;如果是两个位置都可见、注意力在返回时被截断，那就去比对感知候选与实际返回。&#10;&#10;如果是查过了还是选错，那就去看请求、回复和目标判断这三步。&#10;&#10;如果是讲解员已经补救过，或者重复询问花了时间，那就去看实际对话和时序。&#10;&#10;如果是语义与图像不一致、碰撞格被改、出生点变了，这些都属于装配问题，必须先记录下来，不能伪装成空间干预的效果。&#10;&#10;最后一条提醒：一次干预只改一个因素，出了问题才有办法把原因落到具体那一项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7　失败解释与下一轮练习&lt;/Text&gt;&#10;            &lt;Text style={{ fontSize: 34, fontWeight: 'bold', color: '#20344B' }}&gt;失败解释：可能机制与应查证据&lt;/Text&gt;&#10;        &lt;/Box&gt;&#10;    &lt;/Box&gt;&#10;&#10;    &lt;Box style={{ height: 540, flexDirection: 'column', justifyContent: 'center', gap: 14 }}&gt;&#10;&#10;        &lt;Text style={{ fontSize: 16, color: '#546779' }}&gt;结果不合预期时，先分清是感知、信息、对话还是装配出了问题。&lt;/Text&gt;&#10;&#10;        &lt;Box style={{ background: '#F4F7FA', borderRadius: 10, padding: '14px 20px', flexDirection: 'column', gap: 10 }}&gt;&#10;&#10;            &lt;Box style={{ height: 26, flexDirection: 'row', alignItems: 'center', gap: 14 }}&gt;&#10;                &lt;Box style={{ width: 4 }} /&gt;&#10;                &lt;Box style={{ width: 280 }}&gt;&lt;Text style={{ fontSize: 15, fontWeight: 'bold', color: '#546779' }}&gt;可能机制&lt;/Text&gt;&lt;/Box&gt;&#10;                &lt;Box style={{ flex: 1 }}&gt;&lt;Text style={{ fontSize: 15, fontWeight: 'bold', color: '#546779' }}&gt;应查证据&lt;/Text&gt;&lt;/Box&gt;&#10;            &lt;/Box&gt;&#10;&#10;            &lt;Box style={{ height: 78, background: '#FFFFFF', borderRadius: 8, flexDirection: 'row', alignItems: 'center', gap: 14, padding: '0 14px' }}&gt;&#10;                &lt;Box style={{ width: 4, height: 40, background: '#276FBF' }} /&gt;&#10;                &lt;Box style={{ width: 280 }}&gt;&lt;Text style={{ fontSize: 16, fontWeight: 'bold', color: '#20344B' }}&gt;两处均可见、注意力截断&lt;/Text&gt;&lt;/Box&gt;&#10;                &lt;Box style={{ flex: 1 }}&gt;&lt;Text style={{ fontSize: 15, color: '#546779', lineHeight: 1.5 }}&gt;比对感知候选与实际返回，看候选是否被裁掉&lt;/Text&gt;&lt;/Box&gt;&#10;            &lt;/Box&gt;&#10;&#10;            &lt;Box style={{ height: 78, background: '#FFFFFF', borderRadius: 8, flexDirection: 'row', alignItems: 'center', gap: 14, padding: '0 14px' }}&gt;&#10;                &lt;Box style={{ width: 4, height: 40, background: '#276FBF' }} /&gt;&#10;                &lt;Box style={{ width: 280 }}&gt;&lt;Text style={{ fontSize: 16, fontWeight: 'bold', color: '#20344B' }}&gt;查过仍然选错&lt;/Text&gt;&lt;/Box&gt;&#10;                &lt;Box style={{ flex: 1 }}&gt;&lt;Text style={{ fontSize: 15, color: '#546779', lineHeight: 1.5 }}&gt;调请求、回复与目标判断三份记录&lt;/Text&gt;&lt;/Box&gt;&#10;            &lt;/Box&gt;&#10;&#10;            &lt;Box style={{ height: 78, background: '#FFFFFF', borderRadius: 8, flexDirection: 'row', alignItems: 'center', gap: 14, padding: '0 14px' }}&gt;&#10;                &lt;Box style={{ width: 4, height: 40, background: '#26816B' }} /&gt;&#10;                &lt;Box style={{ width: 280 }}&gt;&lt;Text style={{ fontSize: 16, fontWeight: 'bold', color: '#26816B' }}&gt;讲解员已补救或重复询问耗时&lt;/Text&gt;&lt;/Box&gt;&#10;                &lt;Box style={{ flex: 1 }}&gt;&lt;Text style={{ fontSize: 15, color: '#546779', lineHeight: 1.5 }}&gt;看实际对话与时序，不能只按是否见牌归因&lt;/Text&gt;&lt;/Box&gt;&#10;            &lt;/Box&gt;&#10;&#10;            &lt;Box style={{ height: 78, background: '#FFF4E6', borderRadius: 8, flexDirection: 'row', alignItems: 'center', gap: 14, padding: '0 14px' }}&gt;&#10;                &lt;Box style={{ width: 4, height: 40, background: '#CB6B28' }} /&gt;&#10;                &lt;Box style={{ width: 280 }}&gt;&lt;Text style={{ fontSize: 16, fontWeight: 'bold', color: '#CB6B28' }}&gt;语义／图像不一致、碰撞或出生改变&lt;/Text&gt;&lt;/Box&gt;&#10;                &lt;Box style={{ flex: 1 }}&gt;&lt;Text style={{ fontSize: 15, color: '#546779', lineHeight: 1.5 }}&gt;先记录为装配问题，不伪装成空间干预效果&lt;/Text&gt;&lt;/Box&gt;&#10;            &lt;/Box&gt;&#10;&#10;        &lt;/Box&gt;&#10;&#10;        &lt;Box style={{ background: '#FFF4E6', borderRadius: 10, padding: '16px 20px', flexDirection: 'row', alignItems: 'center', gap: 14 }}&gt;&#10;            &lt;Box style={{ width: 4, height: 36, background: '#CB6B28' }} /&gt;&#10;            &lt;Text style={{ fontSize: 16, fontWeight: 'bold', color: '#CB6B28', lineHeight: 1.5, flex: 1 }}&gt;每次尽量只改变一个因素，才可能把原因落到具体那一项上。&lt;/Text&gt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失败解释与下一轮练习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失败解释：可能机制与应查证据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09600" y="12287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结果不合预期时，先分清是感知、信息、对话还是装配出了问题。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609600" y="1552575"/>
            <a:ext cx="10972800" cy="3867150"/>
          </a:xfrm>
          <a:prstGeom prst="roundRect">
            <a:avLst>
              <a:gd name="adj" fmla="val 24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971550" y="1724025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可能机制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3771900" y="1724025"/>
            <a:ext cx="762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应查证据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800100" y="2028825"/>
            <a:ext cx="105918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933450" y="22098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1104900" y="2305050"/>
            <a:ext cx="2667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两处均可见、注意力截断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3905250" y="2276475"/>
            <a:ext cx="7353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比对感知候选与实际返回，看候选是否被裁掉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800100" y="2867025"/>
            <a:ext cx="105918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6" name=""/>
          <p:cNvSpPr/>
          <p:nvPr/>
        </p:nvSpPr>
        <p:spPr>
          <a:xfrm rot="0" flipH="0" flipV="0">
            <a:off x="933450" y="30480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1104900" y="3143250"/>
            <a:ext cx="2667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查过仍然选错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3905250" y="3114675"/>
            <a:ext cx="7353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调请求、回复与目标判断三份记录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800100" y="3705225"/>
            <a:ext cx="105918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0" name=""/>
          <p:cNvSpPr/>
          <p:nvPr/>
        </p:nvSpPr>
        <p:spPr>
          <a:xfrm rot="0" flipH="0" flipV="0">
            <a:off x="933450" y="388620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1104900" y="3981450"/>
            <a:ext cx="2667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讲解员已补救或重复询问耗时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3905250" y="3952875"/>
            <a:ext cx="7353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看实际对话与时序，不能只按是否见牌归因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800100" y="4543425"/>
            <a:ext cx="10591800" cy="742950"/>
          </a:xfrm>
          <a:prstGeom prst="roundRect">
            <a:avLst>
              <a:gd name="adj" fmla="val 102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4" name=""/>
          <p:cNvSpPr/>
          <p:nvPr/>
        </p:nvSpPr>
        <p:spPr>
          <a:xfrm rot="0" flipH="0" flipV="0">
            <a:off x="933450" y="47244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1104900" y="4819650"/>
            <a:ext cx="2667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语义／图像不一致、碰撞或出生改变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3905250" y="4791075"/>
            <a:ext cx="7353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先记录为装配问题，不伪装成空间干预效果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609600" y="5553075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8" name=""/>
          <p:cNvSpPr/>
          <p:nvPr/>
        </p:nvSpPr>
        <p:spPr>
          <a:xfrm rot="0" flipH="0" flipV="0">
            <a:off x="800100" y="5705475"/>
            <a:ext cx="38100" cy="342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971550" y="5743575"/>
            <a:ext cx="10420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每次尽量只改变一个因素，才可能把原因落到具体那一项上。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72" name="" descr="&lt;Slide notes={`留一个练习给 G3。&#10;&#10;G3 到过乙厅，当时的记录里只有「寻找展品」。现在的问题是：如果他继续做了「寻找资料」，或者做了「观看纸艺纹样」，这两种行为该怎么判分？&#10;&#10;我的判断是，「寻找资料」仍然只是过程行为，不满足活动条件；真正可能满足条件的是「观看纸艺纹样」，因为那才对应他本人的兴趣——比较传统纸艺纹样。&#10;&#10;但满足活动条件还不等于判为成功，还要检查两件事：位置是不是真的在乙厅，以及他到那一刻的累计路程有没有超过 40 格。&#10;&#10;这正好说明为什么主指标要同时写清活动语义、实际位置和软预算这三个条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7　失败解释与下一轮练习&lt;/Text&gt;&#10;            &lt;Text style={{ fontSize: 34, fontWeight: 'bold', color: '#20344B' }}&gt;练习：G3 怎样判分&lt;/Text&gt;&#10;        &lt;/Box&gt;&#10;    &lt;/Box&gt;&#10;&#10;    &lt;Box style={{ height: 540, flexDirection: 'row', alignItems: 'center', gap: 32 }}&gt;&#10;&#10;        &lt;Box style={{ width: 508, flexDirection: 'column', gap: 14 }}&gt;&#10;            &lt;Text style={{ fontSize: 15, color: '#276FBF' }}&gt;留给读者的一道题&lt;/Text&gt;&#10;            &lt;Box style={{ width: 508, background: '#FFF4E6', borderRadius: 12, padding: '24px 26px', flexDirection: 'column', gap: 14 }}&gt;&#10;                &lt;Text style={{ fontSize: 20, fontWeight: 'bold', color: '#CB6B28' }}&gt;G3 怎么才算成功？&lt;/Text&gt;&#10;                &lt;Text style={{ fontSize: 17, color: '#20344B', lineHeight: 1.7 }}&gt;G3 的兴趣是比较传统纸艺纹样。他已经到过乙厅，记录里只有「寻找展品」。如果他改做「寻找资料」，或者做「观看纸艺纹样」，该怎样判？&lt;/Text&gt;&#10;                &lt;Text style={{ fontSize: 16, fontWeight: 'bold', color: '#CB6B28', lineHeight: 1.6 }}&gt;只有可能满足活动条件的那一个，才谈得上继续核对位置与预算。&lt;/Text&gt;&#10;            &lt;/Box&gt;&#10;        &lt;/Box&gt;&#10;&#10;        &lt;Box style={{ width: 612, flexDirection: 'column', gap: 12 }}&gt;&#10;            &lt;Text style={{ fontSize: 15, color: '#276FBF' }}&gt;两个候选行为&lt;/Text&gt;&#10;&#10;            &lt;Box style={{ width: 612, height: 100, background: '#F4F7FA', borderRadius: 8, flexDirection: 'row', alignItems: 'center', gap: 14, padding: '0 18px' }}&gt;&#10;                &lt;Box style={{ width: 4, height: 48, background: '#546779' }} /&gt;&#10;                &lt;Box style={{ flexDirection: 'column', gap: 4, flex: 1 }}&gt;&#10;                    &lt;Text style={{ fontSize: 17, fontWeight: 'bold', color: '#20344B' }}&gt;寻找资料&lt;/Text&gt;&#10;                    &lt;Text style={{ fontSize: 15, color: '#546779', lineHeight: 1.5 }}&gt;仍是过程行为，不满足活动条件，不进主要分子&lt;/Text&gt;&#10;                &lt;/Box&gt;&#10;            &lt;/Box&gt;&#10;&#10;            &lt;Box style={{ width: 612, height: 100, background: '#ECF7F2', borderRadius: 8, flexDirection: 'row', alignItems: 'center', gap: 14, padding: '0 18px' }}&gt;&#10;                &lt;Box style={{ width: 4, height: 48, background: '#26816B' }} /&gt;&#10;                &lt;Box style={{ flexDirection: 'column', gap: 4, flex: 1 }}&gt;&#10;                    &lt;Text style={{ fontSize: 17, fontWeight: 'bold', color: '#26816B' }}&gt;观看纸艺纹样&lt;/Text&gt;&#10;                    &lt;Text style={{ fontSize: 15, color: '#546779', lineHeight: 1.5 }}&gt;对应本人兴趣，可能满足活动条件——但还要再查两项&lt;/Text&gt;&#10;                &lt;/Box&gt;&#10;            &lt;/Box&gt;&#10;&#10;            &lt;Box style={{ width: 612, background: '#F4F7FA', borderRadius: 10, padding: '18px 18px', flexDirection: 'column', gap: 8 }}&gt;&#10;                &lt;Text style={{ fontSize: 16, fontWeight: 'bold', color: '#20344B' }}&gt;仍须检查&lt;/Text&gt;&#10;                &lt;Text style={{ fontSize: 15, color: '#546779', lineHeight: 1.5 }}&gt;位置：实际坐标与地址要在乙厅，不能只在附近&lt;/Text&gt;&#10;                &lt;Text style={{ fontSize: 15, color: '#546779', lineHeight: 1.5 }}&gt;预算：到那一刻的累计已执行路程要 ≤ 40 格&lt;/Text&gt;&#10;                &lt;Text style={{ fontSize: 15, fontWeight: 'bold', color: '#CB6B28', lineHeight: 1.5 }}&gt;活动语义、实际位置、软预算三项同时成立才算成功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失败解释与下一轮练习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819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练习：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G3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怎样判分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09600" y="2295525"/>
            <a:ext cx="483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留给读者的一道题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09600" y="2600325"/>
            <a:ext cx="4838700" cy="2543175"/>
          </a:xfrm>
          <a:prstGeom prst="roundRect">
            <a:avLst>
              <a:gd name="adj" fmla="val 449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57250" y="2828925"/>
            <a:ext cx="4343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G3 </a:t>
            </a: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怎么才算成功？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57250" y="3190875"/>
            <a:ext cx="43434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G3 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的兴趣是比较传统纸艺纹样。他已经到过乙厅，记录里只有「寻找展品」。如果他改做「寻找资料」，或者做「观看纸艺纹样」，该怎样判？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857250" y="4324350"/>
            <a:ext cx="4343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只有可能满足活动条件的那一个，才谈得上继续核对位置与预算。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5753100" y="1743075"/>
            <a:ext cx="582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两个候选行为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5753100" y="2028825"/>
            <a:ext cx="58293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4" name=""/>
          <p:cNvSpPr/>
          <p:nvPr/>
        </p:nvSpPr>
        <p:spPr>
          <a:xfrm rot="0" flipH="0" flipV="0">
            <a:off x="5924550" y="2276475"/>
            <a:ext cx="38100" cy="4572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6096000" y="2257425"/>
            <a:ext cx="5314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寻找资料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6096000" y="2495550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仍是过程行为，不满足活动条件，不进主要分子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5753100" y="3095625"/>
            <a:ext cx="5829300" cy="952500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8" name=""/>
          <p:cNvSpPr/>
          <p:nvPr/>
        </p:nvSpPr>
        <p:spPr>
          <a:xfrm rot="0" flipH="0" flipV="0">
            <a:off x="5924550" y="3343275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096000" y="3324225"/>
            <a:ext cx="5314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观看纸艺纹样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6096000" y="3562350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对应本人兴趣，可能满足活动条件——但还要再查两项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5753100" y="4162425"/>
            <a:ext cx="5829300" cy="1533525"/>
          </a:xfrm>
          <a:prstGeom prst="roundRect">
            <a:avLst>
              <a:gd name="adj" fmla="val 62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5924550" y="433387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仍须检查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5924550" y="4600575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位置：实际坐标与地址要在乙厅，不能只在附近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5924550" y="4933950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预算：到那一刻的累计已执行路程要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≤ 40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5924550" y="5267325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活动语义、实际位置、软预算三项同时成立才算成功。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98" name="" descr="&lt;Slide notes={`如果要做下一轮，我建议把牌子位置固定下来，只改工具实际返回的某一项语义文本，然后核对人物是不是真的收到了这个变化。&#10;&#10;为什么要这么改？因为当前人物读取的是语义、公开的状态和地址，他不消费地图或者牌子上的图片像素。换句话说，把牌子换个颜色、改个字号、换张图片，这些变化主要影响的是人类回放时看到的外观。&#10;&#10;它们可以作为「预期没有直接行为通道」的对照组，但不能保证随机运行的每一步都相同。&#10;&#10;这条区分很重要：它决定了哪些改动值得投入，哪些改动只是在给回看的人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3.7　失败解释与下一轮练习&lt;/Text&gt;&#10;            &lt;Text style={{ fontSize: 34, fontWeight: 'bold', color: '#20344B' }}&gt;下一轮：固定位置，只改一项&lt;/Text&gt;&#10;        &lt;/Box&gt;&#10;    &lt;/Box&gt;&#10;&#10;    &lt;Box style={{ height: 540, flexDirection: 'row', alignItems: 'center', gap: 32 }}&gt;&#10;&#10;        &lt;Box style={{ width: 420, flexDirection: 'column', gap: 14 }}&gt;&#10;            &lt;Text style={{ fontSize: 15, color: '#276FBF' }}&gt;建议的下一轮设计&lt;/Text&gt;&#10;            &lt;Box style={{ width: 420, background: '#EDF4FC', borderRadius: 12, padding: '22px 24px', flexDirection: 'column', gap: 12 }}&gt;&#10;                &lt;Text style={{ fontSize: 20, fontWeight: 'bold', color: '#20344B' }}&gt;把牌子位置固定&lt;/Text&gt;&#10;                &lt;Text style={{ fontSize: 22, fontWeight: 'bold', color: '#276FBF', lineHeight: 1.4 }}&gt;只改工具实际返回的{'\n'}某一项语义文本&lt;/Text&gt;&#10;                &lt;Text style={{ fontSize: 15, color: '#546779', lineHeight: 1.6 }}&gt;改完要核对接收：人物是否真的读到了这条新语义。&lt;/Text&gt;&#10;                &lt;Text style={{ fontSize: 15, fontWeight: 'bold', color: '#CB6B28', lineHeight: 1.6 }}&gt;一次只改一项，行为变化才能归到那一项上。&lt;/Text&gt;&#10;            &lt;/Box&gt;&#10;        &lt;/Box&gt;&#10;&#10;        &lt;Box style={{ width: 700, flexDirection: 'column', gap: 12 }}&gt;&#10;            &lt;Text style={{ fontSize: 15, color: '#276FBF' }}&gt;为什么外观改动不算干预&lt;/Text&gt;&#10;&#10;            &lt;Box style={{ width: 700, height: 88, background: '#F4F7FA', borderRadius: 8, flexDirection: 'row', alignItems: 'center', gap: 14, padding: '0 18px' }}&gt;&#10;                &lt;Box style={{ width: 4, height: 48, background: '#276FBF' }} /&gt;&#10;                &lt;Box style={{ flexDirection: 'column', gap: 2, flex: 1 }}&gt;&#10;                    &lt;Text style={{ fontSize: 16, fontWeight: 'bold', color: '#276FBF' }}&gt;人物实际读取&lt;/Text&gt;&#10;                    &lt;Text style={{ fontSize: 15, color: '#546779', lineHeight: 1.5 }}&gt;语义、公开 state 与地址；这三类才是行为通道&lt;/Text&gt;&#10;                &lt;/Box&gt;&#10;            &lt;/Box&gt;&#10;&#10;            &lt;Box style={{ width: 700, height: 88, background: '#F4F7FA', borderRadius: 8, flexDirection: 'row', alignItems: 'center', gap: 14, padding: '0 18px' }}&gt;&#10;                &lt;Box style={{ width: 4, height: 48, background: '#546779' }} /&gt;&#10;                &lt;Box style={{ flexDirection: 'column', gap: 2, flex: 1 }}&gt;&#10;                    &lt;Text style={{ fontSize: 16, fontWeight: 'bold', color: '#20344B' }}&gt;人物不消费&lt;/Text&gt;&#10;                    &lt;Text style={{ fontSize: 15, color: '#546779', lineHeight: 1.5 }}&gt;地图或牌子上的图片像素；纯美术修改不等于模型视觉刺激&lt;/Text&gt;&#10;                &lt;/Box&gt;&#10;            &lt;/Box&gt;&#10;&#10;            &lt;Box style={{ width: 700, height: 88, background: '#FFF4E6', borderRadius: 8, flexDirection: 'row', alignItems: 'center', gap: 14, padding: '0 18px' }}&gt;&#10;                &lt;Box style={{ width: 4, height: 48, background: '#CB6B28' }} /&gt;&#10;                &lt;Box style={{ flexDirection: 'column', gap: 2, flex: 1 }}&gt;&#10;                    &lt;Text style={{ fontSize: 16, fontWeight: 'bold', color: '#CB6B28' }}&gt;纯配色、字号、图片变化&lt;/Text&gt;&#10;                    &lt;Text style={{ fontSize: 15, color: '#546779', lineHeight: 1.5 }}&gt;主要影响人类回放外观；可作预期无直接行为通道的对照，但不保证随机运行逐步相同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4.3.7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失败解释与下一轮练习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下一轮：固定位置，只改一项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09600" y="2438400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建议的下一轮设计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609600" y="2743200"/>
            <a:ext cx="4000500" cy="2247900"/>
          </a:xfrm>
          <a:prstGeom prst="roundRect">
            <a:avLst>
              <a:gd name="adj" fmla="val 50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838200" y="2952750"/>
            <a:ext cx="3543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把牌子位置固定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838200" y="3295650"/>
            <a:ext cx="35433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只改工具实际返回的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某一项语义文本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838200" y="4114800"/>
            <a:ext cx="3543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改完要核对接收：人物是否真的读到了这条新语义。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38200" y="4505325"/>
            <a:ext cx="3543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一次只改一项，行为变化才能归到那一项上。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4914900" y="2200275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为什么外观改动不算干预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4914900" y="2486025"/>
            <a:ext cx="66675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1" name=""/>
          <p:cNvSpPr/>
          <p:nvPr/>
        </p:nvSpPr>
        <p:spPr>
          <a:xfrm rot="0" flipH="0" flipV="0">
            <a:off x="5086350" y="26765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5257800" y="2676525"/>
            <a:ext cx="615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人物实际读取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257800" y="2886075"/>
            <a:ext cx="6153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语义、公开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state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与地址；这三类才是行为通道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4914900" y="3438525"/>
            <a:ext cx="66675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5" name=""/>
          <p:cNvSpPr/>
          <p:nvPr/>
        </p:nvSpPr>
        <p:spPr>
          <a:xfrm rot="0" flipH="0" flipV="0">
            <a:off x="5086350" y="3629025"/>
            <a:ext cx="38100" cy="4572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5257800" y="3629025"/>
            <a:ext cx="615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人物不消费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5257800" y="3838575"/>
            <a:ext cx="6153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地图或牌子上的图片像素；纯美术修改不等于模型视觉刺激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4914900" y="4391025"/>
            <a:ext cx="666750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9" name=""/>
          <p:cNvSpPr/>
          <p:nvPr/>
        </p:nvSpPr>
        <p:spPr>
          <a:xfrm rot="0" flipH="0" flipV="0">
            <a:off x="5086350" y="45815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5257800" y="4581525"/>
            <a:ext cx="615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纯配色、字号、图片变化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5257800" y="4791075"/>
            <a:ext cx="6153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主要影响人类回放外观；可作预期无直接行为通道的对照，但不保证随机运行逐步相同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524" name="" descr="&lt;Slide notes={`最后记住三个分界，它们贯穿整节的判断。&#10;&#10;第一个，发现不等于使用。导览发现率看的是有没有真的感知到导览牌，合适区域使用率看的是有没有真的抵达并提交符合兴趣的活动。G2 可以没见牌却成功，G3 可以见牌却没用，正好说明这两个不是同一个指标。&#10;&#10;第二个，看见不等于读懂。感知到牌子只是定位了信息源，真实介绍来自查询回复。&#10;&#10;第三个，纸面距离不等于感知范围。两处位置谁更容易被发现，要看人物视野与注意力截断的真实返回，不能凭图纸上的远近来下结论。&#10;&#10;这三个分界立住了，一次空间干预的实验设计才站得住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4.3　本节小结&lt;/Text&gt;&#10;&#10;        &lt;Text style={{ fontSize: 44, fontWeight: 'bold', color: '#20344B', lineHeight: 1.2 }}&gt;记住三个分界&lt;/Text&gt;&#10;&#10;        &lt;Box style={{ width: 72, height: 4, background: '#276FBF' }} /&gt;&#10;&#10;        &lt;Box style={{ flexDirection: 'row', gap: 24, marginTop: 6 }}&gt;&#10;&#10;            &lt;Box style={{ width: 368, height: 236, background: '#EDF4FC', borderRadius: 12, flexDirection: 'column', justifyContent: 'center', alignItems: 'center', gap: 8, padding: '0 20px' }}&gt;&#10;                &lt;Text style={{ fontSize: 24, fontWeight: 'bold', color: '#276FBF' }}&gt;发现&lt;/Text&gt;&#10;                &lt;Text style={{ fontSize: 34, fontWeight: 'bold', color: '#CB6B28' }}&gt;≠&lt;/Text&gt;&#10;                &lt;Text style={{ fontSize: 24, fontWeight: 'bold', color: '#26816B' }}&gt;使用&lt;/Text&gt;&#10;                &lt;Text style={{ fontSize: 15, color: '#546779', lineHeight: 1.5 }}&gt;导览发现率与合适区域使用率要分开报告&lt;/Text&gt;&#10;            &lt;/Box&gt;&#10;&#10;            &lt;Box style={{ width: 368, height: 236, background: '#F4F7FA', borderRadius: 12, flexDirection: 'column', justifyContent: 'center', alignItems: 'center', gap: 8, padding: '0 20px' }}&gt;&#10;                &lt;Text style={{ fontSize: 24, fontWeight: 'bold', color: '#276FBF' }}&gt;看见&lt;/Text&gt;&#10;                &lt;Text style={{ fontSize: 34, fontWeight: 'bold', color: '#CB6B28' }}&gt;≠&lt;/Text&gt;&#10;                &lt;Text style={{ fontSize: 24, fontWeight: 'bold', color: '#20344B' }}&gt;读懂&lt;/Text&gt;&#10;                &lt;Text style={{ fontSize: 15, color: '#546779', lineHeight: 1.5 }}&gt;感知到牌子只是定位信息源，介绍来自查询回复&lt;/Text&gt;&#10;            &lt;/Box&gt;&#10;&#10;            &lt;Box style={{ width: 368, height: 236, background: '#ECF7F2', borderRadius: 12, flexDirection: 'column', justifyContent: 'center', alignItems: 'center', gap: 8, padding: '0 20px' }}&gt;&#10;                &lt;Text style={{ fontSize: 24, fontWeight: 'bold', color: '#276FBF' }}&gt;纸面距离&lt;/Text&gt;&#10;                &lt;Text style={{ fontSize: 34, fontWeight: 'bold', color: '#CB6B28' }}&gt;≠&lt;/Text&gt;&#10;                &lt;Text style={{ fontSize: 24, fontWeight: 'bold', color: '#26816B' }}&gt;感知范围&lt;/Text&gt;&#10;                &lt;Text style={{ fontSize: 15, color: '#546779', lineHeight: 1.5 }}&gt;视野与注意力截断才决定谁真的被看见&lt;/Text&gt;&#10;            &lt;/Box&gt;&#10;&#10;        &lt;/Box&gt;&#10;&#10;        &lt;Text style={{ fontSize: 15, color: '#546779', marginTop: 6 }}&gt;4.3 图书馆与展馆导览　·　青禾主题馆为虚构教案，尚未制作资源、上传或运行；尺寸、预算与窗口是待固定的教学候选。&lt;/Text&gt;&#10;&#10;    &lt;/Box&gt;&#10;&#10;    &lt;Box style={{ height: 40, flexDirection: 'row', justifyContent: 'space-between', alignItems: 'center' }}&gt;&#10;        &lt;Text style={{ fontSize: 14, color: '#546779' }}&gt;4.3 图书馆与展馆导览&lt;/Text&gt;&#10;        &lt;Text style={{ fontSize: 14, color: '#546779' }}&gt;2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本节小结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记住三个分界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609600" y="23431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9" name=""/>
          <p:cNvSpPr/>
          <p:nvPr/>
        </p:nvSpPr>
        <p:spPr>
          <a:xfrm rot="0" flipH="0" flipV="0">
            <a:off x="609600" y="2647950"/>
            <a:ext cx="3505200" cy="2247900"/>
          </a:xfrm>
          <a:prstGeom prst="roundRect">
            <a:avLst>
              <a:gd name="adj" fmla="val 50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2133600" y="305752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发现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2238375" y="3409950"/>
            <a:ext cx="247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 b="1">
                <a:solidFill>
                  <a:srgbClr val="CB6B28"/>
                </a:solidFill>
                <a:latin typeface="Microsoft YaHei"/>
                <a:ea typeface="Microsoft YaHei"/>
              </a:rPr>
              <a:t>≠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2133600" y="38766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6816B"/>
                </a:solidFill>
                <a:latin typeface="Microsoft YaHei"/>
                <a:ea typeface="Microsoft YaHei"/>
              </a:rPr>
              <a:t>使用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076325" y="4229100"/>
            <a:ext cx="2571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导览发现率与合适区域使用率要分开报告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4343400" y="2647950"/>
            <a:ext cx="3505200" cy="2247900"/>
          </a:xfrm>
          <a:prstGeom prst="roundRect">
            <a:avLst>
              <a:gd name="adj" fmla="val 50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5867400" y="305752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看见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5972175" y="3409950"/>
            <a:ext cx="247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 b="1">
                <a:solidFill>
                  <a:srgbClr val="CB6B28"/>
                </a:solidFill>
                <a:latin typeface="Microsoft YaHei"/>
                <a:ea typeface="Microsoft YaHei"/>
              </a:rPr>
              <a:t>≠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5867400" y="38766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读懂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4600575" y="4229100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感知到牌子只是定位信息源，介绍来自查询回复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8077200" y="2647950"/>
            <a:ext cx="3505200" cy="2247900"/>
          </a:xfrm>
          <a:prstGeom prst="roundRect">
            <a:avLst>
              <a:gd name="adj" fmla="val 508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9372600" y="305752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纸面距离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9705975" y="3409950"/>
            <a:ext cx="247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 b="1">
                <a:solidFill>
                  <a:srgbClr val="CB6B28"/>
                </a:solidFill>
                <a:latin typeface="Microsoft YaHei"/>
                <a:ea typeface="Microsoft YaHei"/>
              </a:rPr>
              <a:t>≠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9372600" y="38766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6816B"/>
                </a:solidFill>
                <a:latin typeface="Microsoft YaHei"/>
                <a:ea typeface="Microsoft YaHei"/>
              </a:rPr>
              <a:t>感知范围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8620125" y="4229100"/>
            <a:ext cx="2428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视野与注意力截断才决定谁真的被看见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09600" y="51625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图书馆与展馆导览　·　青禾主题馆为虚构教案，尚未制作资源、上传或运行；尺寸、预算与窗口是待固定的教学候选。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图书馆与展馆导览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2026-09-29T09:35:58Z</dcterms:created>
  <dcterms:modified xsi:type="dcterms:W3CDTF">2026-09-29T09:35:58Z</dcterms:modified>
</cp:coreProperties>
</file>