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9" Type="http://schemas.openxmlformats.org/officeDocument/2006/relationships/slide" Target="slides/slide19.xml" /><Relationship Id="rId18" Type="http://schemas.openxmlformats.org/officeDocument/2006/relationships/slide" Target="slides/slide18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26" Type="http://schemas.openxmlformats.org/officeDocument/2006/relationships/presProps" Target="presProps.xml" /><Relationship Id="rId17" Type="http://schemas.openxmlformats.org/officeDocument/2006/relationships/slide" Target="slides/slide17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4" Type="http://schemas.openxmlformats.org/officeDocument/2006/relationships/slide" Target="slides/slide4.xml" /><Relationship Id="rId24" Type="http://schemas.openxmlformats.org/officeDocument/2006/relationships/slide" Target="slides/slide24.xml" /><Relationship Id="rId5" Type="http://schemas.openxmlformats.org/officeDocument/2006/relationships/slide" Target="slides/slide5.xml" /><Relationship Id="rId25" Type="http://schemas.openxmlformats.org/officeDocument/2006/relationships/notesMaster" Target="notesMasters/notesMaster1.xml" /><Relationship Id="rId28" Type="http://schemas.openxmlformats.org/officeDocument/2006/relationships/viewProps" Target="viewProps.xml" /><Relationship Id="rId3" Type="http://schemas.openxmlformats.org/officeDocument/2006/relationships/slide" Target="slides/slide3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一件事，在一间屋子里可以说出三种不同的说法。「原来在杏厅」是一个已经过期的旧认识，「也许换到杉厅」只是一条候选建议，「正式改到杉厅」才是新的正式通知。三者指向的行动其实是同一个——去杉厅，但人物对旧消息的处理方式不一样，走法就可能不一样。</a:t>
            </a:r>
          </a:p>
          <a:p>
            <a:r>
              <a:rPr lang="zh-CN" dirty="0"/>
              <a:t>这节课要问的不是「能不能通知到」，而是：当正式更正已经送到，那条旧的当前信念还在不在有效态里。如果它还在，检索又把它取回来，人物就可能照旧走去杏厅，这就产生了我们要数的过期行动。</a:t>
            </a:r>
          </a:p>
          <a:p>
            <a:r>
              <a:rPr lang="zh-CN" dirty="0"/>
              <a:t>先说明白：青禾读写交流和杏厅、杉厅都是虚构教案，目前没有实验、没有 Run，所以我不预设哪一种处理一定会赢。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这一节有四个知识块，回答同一个问题的四个侧面：一条已经过期的消息，为什么还可能在起作用。</a:t>
            </a:r>
          </a:p>
          <a:p>
            <a:r>
              <a:rPr lang="zh-CN" dirty="0"/>
              <a:t>第一块先把条件钉死。活动时间、两间厅、四层地址、Run 窗口全部写死。更正在什么时候才被允许触发——必须收齐三份真实查询确认，缺一个人就去追问，不能替他确认。</a:t>
            </a:r>
          </a:p>
          <a:p>
            <a:r>
              <a:rPr lang="zh-CN" dirty="0"/>
              <a:t>第二块是两组共用的条件式流程：从查询公告、保存信念、向沈禾确认，到提交申请、逐人更正、记忆处理，最后落到会址行动和检索。</a:t>
            </a:r>
          </a:p>
          <a:p>
            <a:r>
              <a:rPr lang="zh-CN" dirty="0"/>
              <a:t>第三块是本节唯一变量：收到正式更正后，新内容怎么写进记忆，旧的那条当前会址信念还算不算数。</a:t>
            </a:r>
          </a:p>
          <a:p>
            <a:r>
              <a:rPr lang="zh-CN" dirty="0"/>
              <a:t>第四块解决怎么数。个人窗口从他真的能读到更正开始，相关动作只算三类；再用五项人工片段核对口径。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先看条件。青禾读写交流定在 2026 年 11 月 7 日 10:30 到 11:00，计划六位来宾，我们只模拟协调员沈禾和叶青、吴悠、江辰三个人。原会址是杏厅，候选新址是杉厅，理由是投影检修。</a:t>
            </a:r>
          </a:p>
          <a:p>
            <a:r>
              <a:rPr lang="zh-CN" dirty="0"/>
              <a:t>Run 的候选窗口是当天 09:30 到 10:30，一分钟一步，一共 61 步，路线准备后校准并冻结。</a:t>
            </a:r>
          </a:p>
          <a:p>
            <a:r>
              <a:rPr lang="zh-CN" dirty="0"/>
              <a:t>为什么要把这些写死？因为环境一动，出了问题就说不清是记忆替代起了作用还是别的。两间厅都容得下六个人，时间与内容不变，四层地址也一样，这些共同条件必须先讲清楚。</a:t>
            </a:r>
          </a:p>
          <a:p>
            <a:r>
              <a:rPr lang="zh-CN" dirty="0"/>
              <a:t>另外，公告对象一开始只是 original 状态、正文写着杏厅。看见它变成 revised，只等于看到外观变了，并不自动知道新地点。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教案叫青禾读写交流，时间 2026 年 11 月 7 日 10:30 到 11:00，计划六位来宾，只模拟协调员沈禾和叶青、吴悠、江辰三人。</a:t>
            </a:r>
          </a:p>
          <a:p>
            <a:r>
              <a:rPr lang="zh-CN" dirty="0"/>
              <a:t>原会址是杏厅，教案设定投影检修，所以申请改到杉厅。两间厅都能容纳六人，位置、碰撞、视野、交互距离相同，时间与内容不变，所有人一开始就知道四个场所的准确三层地址——这条把「找不到路」这个干扰因素提前排除了。</a:t>
            </a:r>
          </a:p>
          <a:p>
            <a:r>
              <a:rPr lang="zh-CN" dirty="0"/>
              <a:t>Run 候选窗口是当天 09:30 到 10:30，一分钟一步共 61 步，路线准备后校准并冻结。窗口足够长，人物有时间查公告、确认、再收到更正。</a:t>
            </a:r>
          </a:p>
          <a:p>
            <a:r>
              <a:rPr lang="zh-CN" dirty="0"/>
              <a:t>这些固定值不是背景装饰，而是把结果归因到记忆处理上的前提。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接下来要看的是信息边界，这决定了什么算真本事。</a:t>
            </a:r>
          </a:p>
          <a:p>
            <a:r>
              <a:rPr lang="zh-CN" dirty="0"/>
              <a:t>沈禾手里有原通知、有检修依据，也确认杉厅可用，他有权提出更正。叶青、吴悠、江辰只知道活动名称和时间，正式会址需要他们自己去查。公告对象持有原通知，并且允许沈禾依据检修申请改成杉厅。</a:t>
            </a:r>
          </a:p>
          <a:p>
            <a:r>
              <a:rPr lang="zh-CN" dirty="0"/>
              <a:t>更要紧的是右边这一列：什么不能提前塞给他们。沈禾不能假设那三个人已经收到过什么确认；三名参与者不能预知检修、最终结果，也不能读到别人的私有记忆；公告对象不能自带「谁已经收到了」的推测。</a:t>
            </a:r>
          </a:p>
          <a:p>
            <a:r>
              <a:rPr lang="zh-CN" dirty="0"/>
              <a:t>一旦允许预塞，人物就算一句话不说也能说对，结果就什么也证明不了。还有一点容易混：公告变成 revised 只是外观变了，新地点仍然要经过真实内容才能知道。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段是三名参与者的真实查询。叶青、吴悠、江辰各自与公告交互，拿到回复「本次会址为杏厅」，保存当前会址信念，再分别真的向沈禾说一句已查过。保存的信念只用自然语言，不附任何可能被继承的旧地点 SPO。</a:t>
            </a:r>
          </a:p>
          <a:p>
            <a:r>
              <a:rPr lang="zh-CN" dirty="0"/>
              <a:t>第二段只有在第一段收齐后成立。沈禾拿到三份实际确认才提交申请，缺人只能追问，不能代确认。公告对象核对请求者身份后提交 revised 并回复；沈禾拿到正式更正确认，再逐人发出内容相同的更正，三次都是真实 SPEAK。</a:t>
            </a:r>
          </a:p>
          <a:p>
            <a:r>
              <a:rPr lang="zh-CN" dirty="0"/>
              <a:t>最容易出错的一条：公告变成 revised 只是公开外观上的时刻，不等于三人同时知道了杉厅。对象回复与人物实际接收必须分别留证。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沈禾要申请更正，先要有依据，这个依据就是三份真实确认。</a:t>
            </a:r>
          </a:p>
          <a:p>
            <a:r>
              <a:rPr lang="zh-CN" dirty="0"/>
              <a:t>叶青、吴悠、江辰各自用 INTERACT 真实查询公告，保存当前信念，内容是「本次当前正式会址为杏厅，来源原公告回复」。这条信念只用自然语言写，不附旧地点的结构化标记——一旦附上，后面替代时很可能被继承，两边就不干净了。</a:t>
            </a:r>
          </a:p>
          <a:p>
            <a:r>
              <a:rPr lang="zh-CN" dirty="0"/>
              <a:t>接着三人分别真实 SPEAK 告诉沈禾已经查过。SPEAK 一次只对一名其他 Agent，所以是三次单独发言。沈禾收齐三份实际确认才去申请，缺人只能追问，不能代确认。</a:t>
            </a:r>
          </a:p>
          <a:p>
            <a:r>
              <a:rPr lang="zh-CN" dirty="0"/>
              <a:t>还有一种情况要提前写好：窗口结束而更正还没正式发生，就标「未形成纠错观察条件」，只报数量，不造更正时点，也不单独给哪一组延长窗口。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接下来这一块要说明两组到底做什么。</a:t>
            </a:r>
          </a:p>
          <a:p>
            <a:r>
              <a:rPr lang="zh-CN" dirty="0"/>
              <a:t>我先把容易误解的地方说清楚：基线组和对照组在绝大多数环节上是完全一样的。相同的模型、相同的窗口、相同的工具可用性、相同的检索方式、相同的 SOP，连查询公告和提交申请的顺序都一样。</a:t>
            </a:r>
          </a:p>
          <a:p>
            <a:r>
              <a:rPr lang="zh-CN" dirty="0"/>
              <a:t>它们唯一不一样的地方，是收到正式更正之后，怎么对待那条旧的当前会址信念。基线组是追加一条新信念，旧的那条仍然有效；对照组是用相同的新内容替代掉旧信念，让旧节点退出有效态、只留在历史里。</a:t>
            </a:r>
          </a:p>
          <a:p>
            <a:r>
              <a:rPr lang="zh-CN" dirty="0"/>
              <a:t>所以这一块要先把共同部分讲透，下一块才讲那个唯一的差别。不然读者会以为两组连流程都不一样，那结果就说不清是什么造成的了。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这套 SOP 是条件式的：每一步都写清触发条件，不按时间硬排。</a:t>
            </a:r>
          </a:p>
          <a:p>
            <a:r>
              <a:rPr lang="zh-CN" dirty="0"/>
              <a:t>前半段四条针对查询与申报。还没拿到本次正式通知，就接近公告用真实查询键去查；查到原公告先保存当前信念，再真实向沈禾确认；沈禾收齐三份实际确认，才向公告提交依据与完整申请；公告核对请求者身份后修改状态并回复。</a:t>
            </a:r>
          </a:p>
          <a:p>
            <a:r>
              <a:rPr lang="zh-CN" dirty="0"/>
              <a:t>后半段六条针对更正与行动。沈禾拿到正式更正确认就逐人发出内容相同的更正；参与者收到来源明确的最终更正才执行本组记忆处理；此前与同伴交换过地点，就按共同规则转告一次，否则不全员广播。</a:t>
            </a:r>
          </a:p>
          <a:p>
            <a:r>
              <a:rPr lang="zh-CN" dirty="0"/>
              <a:t>会址行动前固定检索「本次活动当前正式通知与会址地点」，limit=8。候选建议、待确认申请、引用旧消息，都不能当成新的正式地点。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还有两个前提必须在方法里写清楚，不然结论会被误读。</a:t>
            </a:r>
          </a:p>
          <a:p>
            <a:r>
              <a:rPr lang="zh-CN" dirty="0"/>
              <a:t>第一个是检索方式。当前用的是 file_lexical，不是向量检索，所以同一个问题有可能取回不同的有效节点。这意味着即使旧信念还躺在记忆里，也不一定每次都被取回来。</a:t>
            </a:r>
          </a:p>
          <a:p>
            <a:r>
              <a:rPr lang="zh-CN" dirty="0"/>
              <a:t>第二个是地址记忆和导航知识是两套东西。更新会址信念不会自动改变导航知识，所以这个案子里故意让所有人一开始就知道两间厅的位置，把「不认路」这个因素先控制住。</a:t>
            </a:r>
          </a:p>
          <a:p>
            <a:r>
              <a:rPr lang="zh-CN" dirty="0"/>
              <a:t>反过来也要提醒：基线组也可能同时检索到旧、新两条消息，然后选对了；对照组没收到正式更正，也不会自动正确。零过期不等于传播全面，还得同时看覆盖率。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现在讲本节唯一的变化。</a:t>
            </a:r>
          </a:p>
          <a:p>
            <a:r>
              <a:rPr lang="zh-CN" dirty="0"/>
              <a:t>两条会址分支写进记忆的新内容是完全相同的，都写着本次正式会址改为杉厅、来源是正式更正，以及生效时间。操作不同在哪里？区别只在原来那条「本次正式会址为杏厅」的当前信念，还剩不剩下有效状态。</a:t>
            </a:r>
          </a:p>
          <a:p>
            <a:r>
              <a:rPr lang="zh-CN" dirty="0"/>
              <a:t>基线组用追加：新信念进来了，旧的那条也还活着，两条都在有效态里。对照组用替代：用相同的新内容替换掉旧的那条，旧节点保留在历史里，但不再作为当前有效信念被检索。</a:t>
            </a:r>
          </a:p>
          <a:p>
            <a:r>
              <a:rPr lang="zh-CN" dirty="0"/>
              <a:t>这一步为什么值得单独做实验？因为很多系统默认就是追加，谁也没规定新消息一定让旧消息失效。而人物在行动前要检索一次，如果检索把旧的那条取回来，他就可能照旧走去杏厅。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把两条路并排看，四个比较项。</a:t>
            </a:r>
          </a:p>
          <a:p>
            <a:r>
              <a:rPr lang="zh-CN" dirty="0"/>
              <a:t>一，写进去的新内容两组完全一样：本次正式会址改为杉厅，写明来源和生效时间。二，原有当前信念：基线保留其有效态，还能被检索取回；对照用新内容替代它，退出默认有效检索。三，工具不同，一个是 append，一个是 supersede。四，记忆 ID：基线新增一条不引用旧 ID，对照必须用旧信念的真实记忆 ID。</a:t>
            </a:r>
          </a:p>
          <a:p>
            <a:r>
              <a:rPr lang="zh-CN" dirty="0"/>
              <a:t>两组都保留历史观察：09:30 曾读到杏厅旧公告这种经历，不会因为后来改了而变成假的。</a:t>
            </a:r>
          </a:p>
          <a:p>
            <a:r>
              <a:rPr lang="zh-CN" dirty="0"/>
              <a:t>替代的是「目前在哪里举行」，不是「09:30 曾经看过什么」。纠错不需要删除过去。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把两组写进记忆的原话摆出来对照。</a:t>
            </a:r>
          </a:p>
          <a:p>
            <a:r>
              <a:rPr lang="zh-CN" dirty="0"/>
              <a:t>基线：收到正式更正后，用 memory-stream-append 追加一条当前正式会址的新信念，写明来源和生效时间，并保留原会址信念的有效态。</a:t>
            </a:r>
          </a:p>
          <a:p>
            <a:r>
              <a:rPr lang="zh-CN" dirty="0"/>
              <a:t>对照：收到正式更正后，用 memory-stream-supersede 替代此前那条当前会址信念，使用其真实记忆 ID，新内容与基线完全相同，并写明更正的理由。</a:t>
            </a:r>
          </a:p>
          <a:p>
            <a:r>
              <a:rPr lang="zh-CN" dirty="0"/>
              <a:t>关键在最后这句共同条件：工具可用性、检索方式、其余 SOP、模型与窗口都一样。替代的是「目前在哪里举行」，不是「09:30 曾看过杏厅旧公告」，历史观察留在那里。只撤销、不给新内容的 invalidate 是另一场实验，不能混进这一次。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还有一个必须提前写清的分支：找不到旧节点怎么办。</a:t>
            </a:r>
          </a:p>
          <a:p>
            <a:r>
              <a:rPr lang="zh-CN" dirty="0"/>
              <a:t>两组都要先去检索那条真实的旧信念节点，用的是同一个固定问题和同样的 limit=8。如果找不到，两组的做法也一样——都追加新信念，不做替代。这个时候必须如实登记「干预未实施」，因为对照组实际上退化成了基线，这一批数据不能拿来证明替代有效。</a:t>
            </a:r>
          </a:p>
          <a:p>
            <a:r>
              <a:rPr lang="zh-CN" dirty="0"/>
              <a:t>还有两条纪律：不能编造一个记忆 ID 来假装替代成功；也不能只给对照组额外查询机会，那样两组条件就不一样了。</a:t>
            </a:r>
          </a:p>
          <a:p>
            <a:r>
              <a:rPr lang="zh-CN" dirty="0"/>
              <a:t>把这几种情况都写进预登记，是因为实验的价值在于条件真的被遵守，而不是结果看起来漂亮。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最后一块要解决「怎么数」的问题。</a:t>
            </a:r>
          </a:p>
          <a:p>
            <a:r>
              <a:rPr lang="zh-CN" dirty="0"/>
              <a:t>我先把一句容易被忽略的话说清楚：没有真实接收，就没有个人纠错窗口。公告对象提交了正式更正，不等于某个人已经知道；甚至沈禾发出了那条更正，也不等于对方真的读到了。</a:t>
            </a:r>
          </a:p>
          <a:p>
            <a:r>
              <a:rPr lang="zh-CN" dirty="0"/>
              <a:t>所以整条证据链要从个人的角度看：他自己查询得到的原回复、他保存的原信念、他向沈禾发出的确认、沈禾提交的更正请求、对象实际提交的状态、他个人真实接收到更正、他执行的记忆处理，最后才是相关行动。</a:t>
            </a:r>
          </a:p>
          <a:p>
            <a:r>
              <a:rPr lang="zh-CN" dirty="0"/>
              <a:t>这条链上任何一环断了，后面的动作就不能算在个人纠错窗口里。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这条链有八个节点。</a:t>
            </a:r>
          </a:p>
          <a:p>
            <a:r>
              <a:rPr lang="zh-CN" dirty="0"/>
              <a:t>前四个是查询和申报：他真实查询得到的原回复、他保存下来的原信念、他分别发出去的三份真实确认、沈禾提交的更正请求。后四个是更正落地：公告对象实际提交了 revised，他个人真实接收到更正，他执行的记忆处理，最后才是相关行动。</a:t>
            </a:r>
          </a:p>
          <a:p>
            <a:r>
              <a:rPr lang="zh-CN" dirty="0"/>
              <a:t>第六个节点最关键，个人窗口就从这里起算：从更正进入他可读消息或观察的那一次决策输入开始，计那次决策以及之后的相关动作。同一个 Step 里有先后，不能把更早的动作当成已经受新消息影响。</a:t>
            </a:r>
          </a:p>
          <a:p>
            <a:r>
              <a:rPr lang="zh-CN" dirty="0"/>
              <a:t>还有一条纪律：发信者便签上写「已通知」不能代替接收证据。SPEAK 一次只对一名其他 Agent，所以三份通知必须三次发言，每次都要有真实的接收记录。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四个指标都要在开跑之前把口径写死。</a:t>
            </a:r>
          </a:p>
          <a:p>
            <a:r>
              <a:rPr lang="zh-CN" dirty="0"/>
              <a:t>过期行动率是主指标：分子是接收正式更正之后的过期相关动作，分母是接收之后的全部相关动作，最后按三个人各自的边界再汇总。注意分母是动作，不是人。</a:t>
            </a:r>
          </a:p>
          <a:p>
            <a:r>
              <a:rPr lang="zh-CN" dirty="0"/>
              <a:t>更正覆盖率是实际收到正确最终更正的人数除以三，而且只在已经正式更正的 Run 里报告。</a:t>
            </a:r>
          </a:p>
          <a:p>
            <a:r>
              <a:rPr lang="zh-CN" dirty="0"/>
              <a:t>有效记忆纠正率，是已经证实旧信念退出默认有效检索的人数，除以已经接收并且曾经存过旧信念的人数。</a:t>
            </a:r>
          </a:p>
          <a:p>
            <a:r>
              <a:rPr lang="zh-CN" dirty="0"/>
              <a:t>传播时延是个人首次实际接收的 Step 减去对象正式提交的 Step。没接收到的人单独列出来，不要给他们填一个窗口长度，那会假装他们也被观察到了。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相关动作只有三类，我把边界说清楚。</a:t>
            </a:r>
          </a:p>
          <a:p>
            <a:r>
              <a:rPr lang="zh-CN" dirty="0"/>
              <a:t>第一类，以正式会址为目标的已提交 MOVE。第二类，在会址等候，或者参加会址对应的 ACT。第三类，向别人断言当前正式会址的 SPEAK。这三类动作才会进入分母。</a:t>
            </a:r>
          </a:p>
          <a:p>
            <a:r>
              <a:rPr lang="zh-CN" dirty="0"/>
              <a:t>计数规则是：一次 MOVE 计一个动作，不按走了多少格去扩分母。否则路程长的角色天然就占了更大的权重。</a:t>
            </a:r>
          </a:p>
          <a:p>
            <a:r>
              <a:rPr lang="zh-CN" dirty="0"/>
              <a:t>那什么不算过期？书稿里列了五种：普通问句、导航查询、拿遗落物、途经杏厅，以及在正式更正之前遵照原通知的行动，都不算过期。途经杏厅尤其要注意，他只是路过，不等于他认定会址还在杏厅。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这五项是人工片段，用来核对口径，不是 Run 结果。</a:t>
            </a:r>
          </a:p>
          <a:p>
            <a:r>
              <a:rPr lang="zh-CN" dirty="0"/>
              <a:t>先在上面检查「已收到正式更正」。甲和乙都收到了，丙没有。再数下面的相关动作。甲说了「原先杏厅，现在改杉厅」，然后真的移往杉厅，两项动作，过期零项。乙收到之后仍然移往杏厅，还向别人断言杏厅，两项动作，两项都过期。丙只问了一句「候选还是正式？」，普通问句不进入分母。</a:t>
            </a:r>
          </a:p>
          <a:p>
            <a:r>
              <a:rPr lang="zh-CN" dirty="0"/>
              <a:t>汇总起来是过期两项除以相关四项，等于 50%。</a:t>
            </a:r>
          </a:p>
          <a:p>
            <a:r>
              <a:rPr lang="zh-CN" dirty="0"/>
              <a:t>这里一定要说清楚：数的是行动，不是人。所以 2/4 不能读成「一半的人还相信旧会址」。另外丙没有行动，也不能说成他采用了正确通知——只收到候选建议的人，个人纠错窗口根本还没开始。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有几种结果看起来像失败，但需要先分清是什么。</a:t>
            </a:r>
          </a:p>
          <a:p>
            <a:r>
              <a:rPr lang="zh-CN" dirty="0"/>
              <a:t>历史导出里仍然能看到旧公告，这不等于替代失败——历史本来就该保留，退出的是有效态，不是把过去删掉。</a:t>
            </a:r>
          </a:p>
          <a:p>
            <a:r>
              <a:rPr lang="zh-CN" dirty="0"/>
              <a:t>只看到 SUPERSEDED 这样的标签，也不够。要真正证明纠正成立，还得有新节点、真实的检索，以及之后行动上的变化。</a:t>
            </a:r>
          </a:p>
          <a:p>
            <a:r>
              <a:rPr lang="zh-CN" dirty="0"/>
              <a:t>如果消息本身传得没问题，但行动照旧，那就要去查三件事：人物怎么判断消息来源、检索有没有把旧节点取回来、待确认便签的进度走到哪了。</a:t>
            </a:r>
          </a:p>
          <a:p>
            <a:r>
              <a:rPr lang="zh-CN" dirty="0"/>
              <a:t>最容易被误判的是最后一种：公告根本没改，那先要报「触发条件未满足」，不能直接说模型遗忘了。条件都没达到，谈不上记忆纠正失败。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报告结果的时候，还有几件事不能省。</a:t>
            </a:r>
          </a:p>
          <a:p>
            <a:r>
              <a:rPr lang="zh-CN" dirty="0"/>
              <a:t>第一，N 个人里 s 个已经证实、u 个还没核验，就报区间 [s/N，（s+u）/N] 和那个 u，不要替未知强行下判断。</a:t>
            </a:r>
          </a:p>
          <a:p>
            <a:r>
              <a:rPr lang="zh-CN" dirty="0"/>
              <a:t>第二，如果一次 Run 里零相关行动，那就记「不适用」，不要填一个 0，因为分母根本不存在。</a:t>
            </a:r>
          </a:p>
          <a:p>
            <a:r>
              <a:rPr lang="zh-CN" dirty="0"/>
              <a:t>第三，零过期不等于传播全面。得同时看覆盖率：如果没有人真的收到更正，那零过期什么也说明不了。</a:t>
            </a:r>
          </a:p>
          <a:p>
            <a:r>
              <a:rPr lang="zh-CN" dirty="0"/>
              <a:t>第四，记忆纠正要看两样东西——节点的有效态，以及固定问题下的真实检索结果。一次限量检索没有返回旧节点，不足以证明纠正成立。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出了问题要倒着查，别停在摘要上。</a:t>
            </a:r>
          </a:p>
          <a:p>
            <a:r>
              <a:rPr lang="zh-CN" dirty="0"/>
              <a:t>先从结果出发，看相关行动和过期计数；再往下走到具体的 Agent，区分是哪一个角色的动作；再落到具体人物，看他的接收时刻和判断；最后才到记忆和对话这一层，去找摘要和原始记录。</a:t>
            </a:r>
          </a:p>
          <a:p>
            <a:r>
              <a:rPr lang="zh-CN" dirty="0"/>
              <a:t>核对的时候要用真实材料。第一，已提交记录，确认动作和发言真的提交过，不是只存在于摘要里。第二，状态导出，用来核对记忆节点的有效态和替代关系，包括记忆 ID 对不对得上。第三，检索结果，看固定问题在这个 Run 下真实返回了哪些节点。第四，对话与便签，确认角色之间真的发生过那次 SPEAK，以及待确认便签有没有兑现。</a:t>
            </a:r>
          </a:p>
          <a:p>
            <a:r>
              <a:rPr lang="zh-CN" dirty="0"/>
              <a:t>顺序别跳：摘要看起来对，不代表底下的证据链成立。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留一个练习：「我记得旧公告是杏厅，但现在请去杉厅」，为什么不算传播过期通知？</a:t>
            </a:r>
          </a:p>
          <a:p>
            <a:r>
              <a:rPr lang="zh-CN" dirty="0"/>
              <a:t>拆成三点。第一，他引用的是历史观察，说的是「我记得」，指向过去的经历，而不是当前仍在生效的信念。第二，他的行动方向也不一样，他请对方去杉厅，行动目标和新会址是一致的。第三，所以这句 SPEAK 不进过期分母。真正的过期是指向旧会址的行动。</a:t>
            </a:r>
          </a:p>
          <a:p>
            <a:r>
              <a:rPr lang="zh-CN" dirty="0"/>
              <a:t>再往前一步：如果只有一个撤销操作、没有给出新址，那会是什么情形？这就要求我们单独设计 invalidate 的条件——撤销旧信念但不提供替代内容，必须另设一组，另外写清口径，不能混进这一次的追加和替代对照里。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最后把三个追问留下来。</a:t>
            </a:r>
          </a:p>
          <a:p>
            <a:r>
              <a:rPr lang="zh-CN" dirty="0"/>
              <a:t>第一个，旧信念还在有效态吗？收到正式更正之后，到底只是追加了一条新信念，还是让原来那条退出了默认有效检索。这个问题决定了旧消息还会不会回来。</a:t>
            </a:r>
          </a:p>
          <a:p>
            <a:r>
              <a:rPr lang="zh-CN" dirty="0"/>
              <a:t>第二个，谁真的收到了？要报覆盖率，没收到的人单独列出来，不能给他们填一个窗口长度。</a:t>
            </a:r>
          </a:p>
          <a:p>
            <a:r>
              <a:rPr lang="zh-CN" dirty="0"/>
              <a:t>第三个，我数的是行动还是人？过期行动率的分母是相关动作，不是人数，所以 2/4 不能读成一半人还相信旧会址。零过期也不等于传播全面，必须同时看覆盖率。</a:t>
            </a:r>
          </a:p>
          <a:p>
            <a:r>
              <a:rPr lang="zh-CN" dirty="0"/>
              <a:t>把这三个问题记住，你再看任何一个记忆类实验，都会先去找证据链，再去读结论。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同一件事，在一间屋子里可以说出三种不同的说法。「原来在杏厅」是一个已经过期的旧认识，「也许换到杉厅」只是一条候选建议，「正式改到杉厅」才是新的正式通知。三者指向的行动其实是同一个——去杉厅，但人物对旧消息的处理方式不一样，走法就可能不一样。&#10;&#10;这节课要问的不是「能不能通知到」，而是：当正式更正已经送到，那条旧的当前信念还在不在有效态里。如果它还在，检索又把它取回来，人物就可能照旧走去杏厅，这就产生了我们要数的过期行动。&#10;&#10;先说明白：青禾读写交流和杏厅、杉厅都是虚构教案，目前没有实验、没有 Run，所以我不预设哪一种处理一定会赢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四章　面向问题的场景化应用　·　4.4　通知纠错&lt;/Text&gt;&#10;    &lt;/Box&gt;&#10;&#10;    &lt;Box style={{ height: 540, flexDirection: 'row', alignItems: 'center', gap: 32 }}&gt;&#10;&#10;        &lt;Box style={{ width: 560, flexDirection: 'column', justifyContent: 'center', gap: 14 }}&gt;&#10;            &lt;Text style={{ fontSize: 52, fontWeight: 'bold', color: '#20344B', lineHeight: 1.2 }}&gt;让过期消息{'\n'}退出当前认识&lt;/Text&gt;&#10;            &lt;Box style={{ width: 72, height: 4, background: '#276FBF' }} /&gt;&#10;            &lt;Text style={{ fontSize: 17, color: '#546779', lineHeight: 1.7, width: 560 }}&gt;消息内容与行动目标都相同，只改变对旧信念的处理，能否减少收到正式更正之后的过期行动。&lt;/Text&gt;&#10;            &lt;Box style={{ flexDirection: 'row', gap: 12, marginTop: 4 }}&gt;&#10;                &lt;Box style={{ width: 128, height: 42, background: '#EDF4FC', borderRadius: 8, justifyContent: 'center', alignItems: 'center' }}&gt;&#10;                    &lt;Text style={{ fontSize: 15, color: '#276FBF' }}&gt;虚构教案&lt;/Text&gt;&#10;                &lt;/Box&gt;&#10;                &lt;Box style={{ width: 128, height: 42, background: '#EDF4FC', borderRadius: 8, justifyContent: 'center', alignItems: 'center' }}&gt;&#10;                    &lt;Text style={{ fontSize: 15, color: '#276FBF' }}&gt;两组同 SOP&lt;/Text&gt;&#10;                &lt;/Box&gt;&#10;                &lt;Box style={{ width: 128, height: 42, background: '#F4F7FA', borderRadius: 8, justifyContent: 'center', alignItems: 'center' }}&gt;&#10;                    &lt;Text style={{ fontSize: 15, color: '#546779' }}&gt;唯一变化&lt;/Text&gt;&#10;                &lt;/Box&gt;&#10;                &lt;Box style={{ width: 128, height: 42, background: '#FFF4E6', borderRadius: 8, justifyContent: 'center', alignItems: 'center' }}&gt;&#10;                    &lt;Text style={{ fontSize: 15, color: '#CB6B28' }}&gt;过期行动&lt;/Text&gt;&#10;                &lt;/Box&gt;&#10;            &lt;/Box&gt;&#10;        &lt;/Box&gt;&#10;&#10;        &lt;Box style={{ width: 560, flexDirection: 'column', justifyContent: 'center', gap: 12 }}&gt;&#10;&#10;            &lt;Box style={{ width: 560, height: 196, background: '#F4F7FA', borderRadius: 10, padding: '14px 20px', flexDirection: 'column', gap: 8, justifyContent: 'center' }}&gt;&#10;                &lt;Box style={{ flexDirection: 'row', alignItems: 'center', gap: 8 }}&gt;&#10;                    &lt;Box style={{ width: 20, height: 20, background: '#276FBF', borderRadius: 4, justifyContent: 'center', alignItems: 'center' }}&gt;&#10;                        &lt;Text style={{ fontSize: 12, color: '#FFFFFF' }}&gt;告&lt;/Text&gt;&#10;                    &lt;/Box&gt;&#10;                    &lt;Text style={{ fontSize: 15, fontWeight: 'bold', color: '#20344B' }}&gt;公告对象状态　—　示意&lt;/Text&gt;&#10;                &lt;/Box&gt;&#10;                &lt;Box style={{ width: 520, height: 44, background: '#EDF4FC', borderRadius: 8, flexDirection: 'row', alignItems: 'center', gap: 12, padding: '0 14px' }}&gt;&#10;                    &lt;Text style={{ fontSize: 14, color: '#546779' }}&gt;初始&lt;/Text&gt;&#10;                    &lt;Text style={{ fontSize: 16, fontWeight: 'bold', color: '#276FBF' }}&gt;original&lt;/Text&gt;&#10;                    &lt;Text style={{ fontSize: 14, color: '#546779' }}&gt;正文：本次会址为杏厅&lt;/Text&gt;&#10;                &lt;/Box&gt;&#10;                &lt;Box style={{ width: 520, height: 44, background: '#ECF7F2', borderRadius: 8, flexDirection: 'row', alignItems: 'center', gap: 12, padding: '0 14px' }}&gt;&#10;                    &lt;Text style={{ fontSize: 14, color: '#546779' }}&gt;更正后&lt;/Text&gt;&#10;                    &lt;Text style={{ fontSize: 16, fontWeight: 'bold', color: '#26816B' }}&gt;revised&lt;/Text&gt;&#10;                    &lt;Text style={{ fontSize: 14, color: '#546779' }}&gt;正文／生效时间／被采纳请求 ID&lt;/Text&gt;&#10;                &lt;/Box&gt;&#10;                &lt;Text style={{ fontSize: 14, color: '#CB6B28' }}&gt;看见 revised 只知外观变化，不自动知道新地点&lt;/Text&gt;&#10;            &lt;/Box&gt;&#10;&#10;            &lt;Box style={{ flexDirection: 'row', gap: 12 }}&gt;&#10;                &lt;Box style={{ width: 178, height: 76, background: '#F4F7FA', borderRadius: 8, flexDirection: 'column', justifyContent: 'center', alignItems: 'center', gap: 4 }}&gt;&#10;                    &lt;Text style={{ fontSize: 15, fontWeight: 'bold', color: '#546779' }}&gt;原来在杏厅&lt;/Text&gt;&#10;                    &lt;Text style={{ fontSize: 13, color: '#546779' }}&gt;已经过期&lt;/Text&gt;&#10;                &lt;/Box&gt;&#10;                &lt;Box style={{ width: 178, height: 76, background: '#FFF4E6', borderRadius: 8, flexDirection: 'column', justifyContent: 'center', alignItems: 'center', gap: 4 }}&gt;&#10;                    &lt;Text style={{ fontSize: 15, fontWeight: 'bold', color: '#CB6B28' }}&gt;也许换到杉厅&lt;/Text&gt;&#10;                    &lt;Text style={{ fontSize: 13, color: '#CB6B28' }}&gt;候选建议&lt;/Text&gt;&#10;                &lt;/Box&gt;&#10;                &lt;Box style={{ width: 180, height: 76, background: '#ECF7F2', borderRadius: 8, flexDirection: 'column', justifyContent: 'center', alignItems: 'center', gap: 4 }}&gt;&#10;                    &lt;Text style={{ fontSize: 15, fontWeight: 'bold', color: '#26816B' }}&gt;正式改到杉厅&lt;/Text&gt;&#10;                    &lt;Text style={{ fontSize: 13, color: '#26816B' }}&gt;新的正式通知&lt;/Text&gt;&#10;                &lt;/Box&gt;&#10;            &lt;/Box&gt;&#10;&#10;            &lt;Text style={{ fontSize: 14, color: '#546779' }}&gt;大厅、人物与消息均为虚构教案，尚未上传或运行；界面元素为示意，非系统截图&lt;/Text&gt;&#10;&#10;        &lt;/Box&gt;&#10;&#10;    &lt;/Box&gt;&#10;&#10;    &lt;Box style={{ height: 40, flexDirection: 'row', justifyContent: 'space-between', alignItems: 'center' }}&gt;&#10;        &lt;Text style={{ fontSize: 14, color: '#546779' }}&gt;4.4 通知纠错：让过期消息退出当前认识&lt;/Text&gt;&#10;        &lt;Text style={{ fontSize: 14, color: '#546779' }}&gt;0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第四章　面向问题的场景化应用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4.4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通知纠错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53340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让过期消息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退出当前认识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7909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962400"/>
            <a:ext cx="5334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消息内容与行动目标都相同，只改变对旧信念的处理，能否减少收到正式更正之后的过期行动。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334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虚构教案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19431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171700" y="4914900"/>
            <a:ext cx="76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两组同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 SOP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32766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6004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唯一变化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46101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9339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过期行动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248400" y="2228850"/>
            <a:ext cx="5334000" cy="1866900"/>
          </a:xfrm>
          <a:prstGeom prst="roundRect">
            <a:avLst>
              <a:gd name="adj" fmla="val 510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6438900" y="2457450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477000" y="248602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告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705600" y="2466975"/>
            <a:ext cx="1590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公告对象状态　—　示意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438900" y="2724150"/>
            <a:ext cx="495300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572250" y="28575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初始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953250" y="2838450"/>
            <a:ext cx="590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original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7658100" y="28575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正文：本次会址为杏厅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438900" y="3219450"/>
            <a:ext cx="4953000" cy="419100"/>
          </a:xfrm>
          <a:prstGeom prst="roundRect">
            <a:avLst>
              <a:gd name="adj" fmla="val 1818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572250" y="33528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更正后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086600" y="3333750"/>
            <a:ext cx="552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revised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753350" y="3352800"/>
            <a:ext cx="1914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正文／生效时间／被采纳请求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438900" y="3714750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看见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revised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只知外观变化，不自动知道新地点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248400" y="4210050"/>
            <a:ext cx="169545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743700" y="43910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原来在杏厅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848475" y="46005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已经过期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8058150" y="4210050"/>
            <a:ext cx="1695450" cy="723900"/>
          </a:xfrm>
          <a:prstGeom prst="roundRect">
            <a:avLst>
              <a:gd name="adj" fmla="val 1052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477250" y="43910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也许换到杉厅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658225" y="46005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候选建议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9867900" y="4210050"/>
            <a:ext cx="17145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0296525" y="43910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正式改到杉厅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0353675" y="460057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新的正式通知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248400" y="5048250"/>
            <a:ext cx="533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大厅、人物与消息均为虚构教案，尚未上传或运行；界面元素为示意，非系统截图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36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通知纠错：让过期消息退出当前认识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01 / 24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18" name="" descr="&lt;Slide notes={`这一节有四个知识块，回答同一个问题的四个侧面：一条已经过期的消息，为什么还可能在起作用。&#13;&#10;&#13;&#10;第一块先把条件钉死。活动时间、两间厅、四层地址、Run 窗口全部写死。更正在什么时候才被允许触发——必须收齐三份真实查询确认，缺一个人就去追问，不能替他确认。&#13;&#10;&#13;&#10;第二块是两组共用的条件式流程：从查询公告、保存信念、向沈禾确认，到提交申请、逐人更正、记忆处理，最后落到会址行动和检索。&#13;&#10;&#13;&#10;第三块是本节唯一变量：收到正式更正后，新内容怎么写进记忆，旧的那条当前会址信念还算不算数。&#13;&#10;&#13;&#10;第四块解决怎么数。个人窗口从他真的能读到更正开始，相关动作只算三类；再用五项人工片段核对口径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本节导读&lt;/Text&gt;&#13;&#10;            &lt;Text style={{ fontSize: 34, fontWeight: 'bold', color: '#20344B' }}&gt;旧消息为什么还可能在起作用&lt;/Text&gt;&#13;&#10;        &lt;/Box&gt;&#13;&#10;    &lt;/Box&gt;&#13;&#10;&#13;&#10;    &lt;Box style={{ height: 540, flexDirection: 'row', gap: 40 }}&gt;&#13;&#10;&#13;&#10;        &lt;Box style={{ width: 340, flexDirection: 'column', justifyContent: 'center', gap: 16 }}&gt;&#13;&#10;            &lt;Text style={{ fontSize: 25, fontWeight: 'bold', color: '#276FBF', lineHeight: 1.45 }}&gt;同一条新消息，谁来让旧说法失效？&lt;/Text&gt;&#13;&#10;            &lt;Box style={{ width: 56, height: 3, background: '#26816B' }} /&gt;&#13;&#10;            &lt;Text style={{ fontSize: 17, color: '#546779', lineHeight: 1.75 }}&gt;四个知识块从「条件固定」走到「怎么数」：先钉死环境与触发顺序，再看两组共同的动作，然后只改旧信念的处理，最后按个人接收边界给行动定分母。&lt;/Text&gt;&#13;&#10;        &lt;/Box&gt;&#13;&#10;&#13;&#10;        &lt;Box style={{ flex: 1, flexDirection: 'column', justifyContent: 'center', gap: 14 }}&gt;&#13;&#10;&#13;&#10;            &lt;Box style={{ flexDirection: 'row', gap: 16, alignItems: 'center' }}&gt;&#13;&#10;                &lt;Box style={{ width: 44, height: 44, borderRadius: 8, background: '#276FBF', justifyContent: 'center', alignItems: 'center' }}&gt;&#13;&#10;                    &lt;Text style={{ fontSize: 18, fontWeight: 'bold', color: '#FFFFFF' }}&gt;01&lt;/Text&gt;&#13;&#10;                &lt;/Box&gt;&#13;&#10;                &lt;Box style={{ flexDirection: 'column', gap: 2 }}&gt;&lt;Text style={{ fontSize: 20, fontWeight: 'bold', color: '#20344B' }}&gt;固定条件与更正触发顺序&lt;/Text&gt;&#13;&#10;                    &lt;Text style={{ fontSize: 16, color: '#546779' }}&gt;活动、两厅、人数与窗口写死；收齐三份真实确认才具备申请条件&lt;/Text&gt;&#13;&#10;                &lt;/Box&gt;&#13;&#10;            &lt;/Box&gt;&#13;&#10;&#13;&#10;            &lt;Box style={{ flexDirection: 'row', gap: 16, alignItems: 'center' }}&gt;&#13;&#10;                &lt;Box style={{ width: 44, height: 44, borderRadius: 8, background: '#276FBF', justifyContent: 'center', alignItems: 'center' }}&gt;&#13;&#10;                    &lt;Text style={{ fontSize: 18, fontWeight: 'bold', color: '#FFFFFF' }}&gt;02&lt;/Text&gt;&#13;&#10;                &lt;/Box&gt;&#13;&#10;                &lt;Box style={{ flexDirection: 'column', gap: 2 }}&gt;&lt;Text style={{ fontSize: 20, fontWeight: 'bold', color: '#20344B' }}&gt;两组共同的条件式 SOP&lt;/Text&gt;&#13;&#10;                    &lt;Text style={{ fontSize: 16, color: '#546779' }}&gt;从查询公告到会址行动，两组走同一套条件式步骤，逐字相同&lt;/Text&gt;&#13;&#10;                &lt;/Box&gt;&#13;&#10;            &lt;/Box&gt;&#13;&#10;&#13;&#10;            &lt;Box style={{ flexDirection: 'row', gap: 16, alignItems: 'center' }}&gt;&#13;&#10;                &lt;Box style={{ width: 44, height: 44, borderRadius: 8, background: '#CB6B28', justifyContent: 'center', alignItems: 'center' }}&gt;&#13;&#10;                    &lt;Text style={{ fontSize: 18, fontWeight: 'bold', color: '#FFFFFF' }}&gt;03&lt;/Text&gt;&#13;&#10;                &lt;/Box&gt;&#13;&#10;                &lt;Box style={{ flexDirection: 'column', gap: 2 }}&gt;&lt;Text style={{ fontSize: 20, fontWeight: 'bold', color: '#20344B' }}&gt;唯一变化：追加还是替代当前信念&lt;/Text&gt;&#13;&#10;                    &lt;Text style={{ fontSize: 16, color: '#546779' }}&gt;写进去的新内容完全相同，变的是原会址信念还算不算有效&lt;/Text&gt;&#13;&#10;                &lt;/Box&gt;&#13;&#10;            &lt;/Box&gt;&#13;&#10;&#13;&#10;            &lt;Box style={{ flexDirection: 'row', gap: 16, alignItems: 'center' }}&gt;&#13;&#10;                &lt;Box style={{ width: 44, height: 44, borderRadius: 8, background: '#26816B', justifyContent: 'center', alignItems: 'center' }}&gt;&#13;&#10;                    &lt;Text style={{ fontSize: 18, fontWeight: 'bold', color: '#FFFFFF' }}&gt;04&lt;/Text&gt;&#13;&#10;                &lt;/Box&gt;&#13;&#10;                &lt;Box style={{ flexDirection: 'column', gap: 2 }}&gt;&lt;Text style={{ fontSize: 20, fontWeight: 'bold', color: '#20344B' }}&gt;按个人接收边界计数与人工判分&lt;/Text&gt;&#13;&#10;                    &lt;Text style={{ fontSize: 16, color: '#546779' }}&gt;分母是个人接收之后的动作；人工片段用来核对这个口径&lt;/Text&gt;&#13;&#10;                &lt;/Box&gt;&#13;&#10;            &lt;/Box&gt;&#13;&#10;&#13;&#10;        &lt;/Box&gt;&#13;&#10;&#13;&#10;    &lt;/Box&gt;&#13;&#10;&#13;&#10;    &lt;Box style={{ height: 40, flexDirection: 'row', justifyContent: 'space-between', alignItems: 'center' }}&gt;&#13;&#10;        &lt;Text style={{ fontSize: 14, color: '#546779' }}&gt;4.4 通知纠错&lt;/Text&gt;&#13;&#10;        &lt;Text style={{ fontSize: 14, color: '#546779' }}&gt;02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本节导读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旧消息为什么还可能在起作用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09600" y="2457450"/>
            <a:ext cx="32385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同一条新消息，谁来让旧说法失效？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609600" y="343852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09600" y="3619500"/>
            <a:ext cx="3238500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四个知识块从「条件固定」走到「怎么数」：先钉死环境与触发顺序，再看两组共同的动作，然后只改旧信念的处理，最后按个人接收边界给行动定分母。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4229100" y="26479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4333875" y="275272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4800600" y="2638425"/>
            <a:ext cx="441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固定条件与更正触发顺序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800600" y="2886075"/>
            <a:ext cx="441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活动、两厅、人数与窗口写死；收齐三份真实确认才具备申请条件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4229100" y="32194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4333875" y="332422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4800600" y="3209925"/>
            <a:ext cx="4114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两组共同的条件式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SOP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4800600" y="3457575"/>
            <a:ext cx="411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从查询公告到会址行动，两组走同一套条件式步骤，逐字相同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4229100" y="37909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333875" y="389572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800600" y="3781425"/>
            <a:ext cx="396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唯一变化：追加还是替代当前信念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4800600" y="4029075"/>
            <a:ext cx="396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写进去的新内容完全相同，变的是原会址信念还算不算有效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4229100" y="43624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4333875" y="446722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800600" y="435292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按个人接收边界计数与人工判分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800600" y="4600575"/>
            <a:ext cx="381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分母是个人接收之后的动作；人工片段用来核对这个口径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通知纠错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84" name="" descr="&lt;Slide notes={`先看条件。青禾读写交流定在 2026 年 11 月 7 日 10:30 到 11:00，计划六位来宾，我们只模拟协调员沈禾和叶青、吴悠、江辰三个人。原会址是杏厅，候选新址是杉厅，理由是投影检修。&#10;&#10;Run 的候选窗口是当天 09:30 到 10:30，一分钟一步，一共 61 步，路线准备后校准并冻结。&#10;&#10;为什么要把这些写死？因为环境一动，出了问题就说不清是记忆替代起了作用还是别的。两间厅都容得下六个人，时间与内容不变，四层地址也一样，这些共同条件必须先讲清楚。&#10;&#10;另外，公告对象一开始只是 original 状态、正文写着杏厅。看见它变成 revised，只等于看到外观变了，并不自动知道新地点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1　　4.4.1 — 4.4.2&lt;/Text&gt;&#10;&#10;        &lt;Text style={{ fontSize: 56, fontWeight: 'bold', color: '#20344B', lineHeight: 1.15 }}&gt;先把条件钉死，再谈纠错&lt;/Text&gt;&#10;&#10;        &lt;Box style={{ width: 72, height: 4, background: '#276FBF' }} /&gt;&#10;&#10;        &lt;Text style={{ fontSize: 18, color: '#546779', lineHeight: 1.7, width: 900 }}&gt;活动、两厅、人数与 Run 窗口全部固定；更正是在三份真实确认收齐之后才被允许发生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查询原公告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收齐三份确认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对象提交更正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4 通知纠错&lt;/Text&gt;&#10;        &lt;Text style={{ fontSize: 14, color: '#546779' }}&gt;0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4.4.1 — 4.4.2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先把条件钉死，再谈纠错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活动、两厅、人数与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窗口全部固定；更正是在三份真实确认收齐之后才被允许发生。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1609725" y="42576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查询原公告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4800600" y="425767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收齐三份确认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96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8077200" y="425767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对象提交更正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通知纠错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00" name="" descr="&lt;Slide notes={`教案叫青禾读写交流，时间 2026 年 11 月 7 日 10:30 到 11:00，计划六位来宾，只模拟协调员沈禾和叶青、吴悠、江辰三人。&#13;&#10;&#13;&#10;原会址是杏厅，教案设定投影检修，所以申请改到杉厅。两间厅都能容纳六人，位置、碰撞、视野、交互距离相同，时间与内容不变，所有人一开始就知道四个场所的准确三层地址——这条把「找不到路」这个干扰因素提前排除了。&#13;&#10;&#13;&#10;Run 候选窗口是当天 09:30 到 10:30，一分钟一步共 61 步，路线准备后校准并冻结。窗口足够长，人物有时间查公告、确认、再收到更正。&#13;&#10;&#13;&#10;这些固定值不是背景装饰，而是把结果归因到记忆处理上的前提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4.4.1　固定活动与初始知情分布&lt;/Text&gt;&#13;&#10;            &lt;Text style={{ fontSize: 34, fontWeight: 'bold', color: '#20344B' }}&gt;活动、两厅与写死的固定值&lt;/Text&gt;&#13;&#10;        &lt;/Box&gt;&#13;&#10;    &lt;/Box&gt;&#13;&#10;&#13;&#10;    &lt;Box style={{ height: 540, flexDirection: 'row', alignItems: 'center', gap: 32 }}&gt;&#13;&#10;&#13;&#10;        &lt;Box style={{ width: 634, flexDirection: 'column', gap: 12 }}&gt;&#13;&#10;&#13;&#10;            &lt;Box style={{ height: 24, flexDirection: 'row', padding: '0 16px', gap: 14, alignItems: 'center' }}&gt;&#13;&#10;                &lt;Box style={{ width: 4 }} /&gt;&#13;&#10;                &lt;Box style={{ width: 140 }}&gt;&lt;Text style={{ fontSize: 15, fontWeight: 'bold', color: '#546779' }}&gt;固定事实&lt;/Text&gt;&lt;/Box&gt;&#13;&#10;                &lt;Box style={{ flex: 1 }}&gt;&lt;Text style={{ fontSize: 15, fontWeight: 'bold', color: '#546779' }}&gt;教学值&lt;/Text&gt;&lt;/Box&gt;&#13;&#10;            &lt;/Box&gt;&#13;&#10;&#13;&#10;            &lt;Box style={{ height: 90, background: '#F4F7FA', borderRadius: 10, flexDirection: 'row', alignItems: 'center', gap: 14, padding: '0 16px' }}&gt;&#13;&#10;                &lt;Box style={{ width: 4, height: 48, background: '#276FBF' }} /&gt;&#13;&#10;                &lt;Box style={{ width: 140 }}&gt;&lt;Text style={{ fontSize: 17, fontWeight: 'bold', color: '#20344B' }}&gt;活动&lt;/Text&gt;&lt;/Box&gt;&#13;&#10;                &lt;Box style={{ flex: 1 }}&gt;&lt;Text style={{ fontSize: 16, color: '#20344B', lineHeight: 1.55 }}&gt;青禾读写交流　2026-11-07 10:30—11:00　Asia/Shanghai&lt;/Text&gt;&lt;/Box&gt;&#13;&#10;            &lt;/Box&gt;&#13;&#10;&#13;&#10;            &lt;Box style={{ height: 90, background: '#FFF4E6', borderRadius: 10, flexDirection: 'row', alignItems: 'center', gap: 14, padding: '0 16px' }}&gt;&#13;&#10;                &lt;Box style={{ width: 4, height: 48, background: '#CB6B28' }} /&gt;&#13;&#10;                &lt;Box style={{ width: 140 }}&gt;&lt;Text style={{ fontSize: 17, fontWeight: 'bold', color: '#CB6B28' }}&gt;原址／新址&lt;/Text&gt;&lt;/Box&gt;&#13;&#10;                &lt;Box style={{ flex: 1 }}&gt;&lt;Text style={{ fontSize: 16, color: '#20344B', lineHeight: 1.55 }}&gt;杏厅／杉厅；因教案设定的投影检修申请更正&lt;/Text&gt;&lt;/Box&gt;&#13;&#10;            &lt;/Box&gt;&#13;&#10;&#13;&#10;            &lt;Box style={{ height: 90, background: '#F4F7FA', borderRadius: 10, flexDirection: 'row', alignItems: 'center', gap: 14, padding: '0 16px' }}&gt;&#13;&#10;                &lt;Box style={{ width: 4, height: 48, background: '#276FBF' }} /&gt;&#13;&#10;                &lt;Box style={{ width: 140 }}&gt;&lt;Text style={{ fontSize: 17, fontWeight: 'bold', color: '#20344B' }}&gt;人数&lt;/Text&gt;&lt;/Box&gt;&#13;&#10;                &lt;Box style={{ flex: 1 }}&gt;&lt;Text style={{ fontSize: 16, color: '#20344B', lineHeight: 1.55 }}&gt;计划六位来宾；只模拟沈禾与叶青、吴悠、江辰三人&lt;/Text&gt;&lt;/Box&gt;&#13;&#10;            &lt;/Box&gt;&#13;&#10;&#13;&#10;            &lt;Box style={{ height: 90, background: '#EDF4FC', borderRadius: 10, flexDirection: 'row', alignItems: 'center', gap: 14, padding: '0 16px' }}&gt;&#13;&#10;                &lt;Box style={{ width: 4, height: 48, background: '#276FBF' }} /&gt;&#13;&#10;                &lt;Box style={{ width: 140 }}&gt;&lt;Text style={{ fontSize: 17, fontWeight: 'bold', color: '#276FBF' }}&gt;Run 候选窗口&lt;/Text&gt;&lt;/Box&gt;&#13;&#10;                &lt;Box style={{ flex: 1 }}&gt;&lt;Text style={{ fontSize: 16, color: '#20344B', lineHeight: 1.55 }}&gt;当天 09:30—10:30，1 分钟／步，共 61 步；准备后校准并冻结&lt;/Text&gt;&lt;/Box&gt;&#13;&#10;            &lt;/Box&gt;&#13;&#10;&#13;&#10;        &lt;/Box&gt;&#13;&#10;&#13;&#10;        &lt;Box style={{ width: 486, flexDirection: 'column', gap: 12 }}&gt;&#13;&#10;&#13;&#10;            &lt;Box style={{ width: 486, background: '#F4F7FA', borderRadius: 10, padding: '14px 20px', flexDirection: 'column', gap: 10 }}&gt;&#13;&#10;                &lt;Box style={{ flexDirection: 'row', alignItems: 'center', gap: 8 }}&gt;&#13;&#10;                    &lt;Box style={{ width: 20, height: 20, background: '#276FBF', borderRadius: 4, justifyContent: 'center', alignItems: 'center' }}&gt;&#13;&#10;                        &lt;Text style={{ fontSize: 12, color: '#FFFFFF' }}&gt;厅&lt;/Text&gt;&#13;&#10;                    &lt;/Box&gt;&#13;&#10;                    &lt;Text style={{ fontSize: 15, fontWeight: 'bold', color: '#20344B' }}&gt;两厅等价条件　—　示意&lt;/Text&gt;&#13;&#10;                &lt;/Box&gt;&#13;&#10;                &lt;Box style={{ flexDirection: 'row', gap: 10 }}&gt;&#13;&#10;                    &lt;Box style={{ width: 218, height: 104, background: '#EDF4FC', borderRadius: 8, flexDirection: 'column', justifyContent: 'center', gap: 3, padding: '0 14px' }}&gt;&#13;&#10;                        &lt;Text style={{ fontSize: 19, fontWeight: 'bold', color: '#276FBF' }}&gt;杏厅&lt;/Text&gt;&#13;&#10;                        &lt;Text style={{ fontSize: 14, color: '#546779' }}&gt;原会址　可容纳六人&lt;/Text&gt;&#13;&#10;                        &lt;Text style={{ fontSize: 14, color: '#546779' }}&gt;位置／碰撞／视野相同&lt;/Text&gt;&#13;&#10;                    &lt;/Box&gt;&#13;&#10;                    &lt;Box style={{ width: 218, height: 104, background: '#ECF7F2', borderRadius: 8, flexDirection: 'column', justifyContent: 'center', gap: 3, padding: '0 14px' }}&gt;&#13;&#10;                        &lt;Text style={{ fontSize: 19, fontWeight: 'bold', color: '#26816B' }}&gt;杉厅&lt;/Text&gt;&#13;&#10;                        &lt;Text style={{ fontSize: 14, color: '#546779' }}&gt;候选新址　可容纳六人&lt;/Text&gt;&#13;&#10;                        &lt;Text style={{ fontSize: 14, color: '#546779' }}&gt;交互距离与杏厅一致&lt;/Text&gt;&#13;&#10;                    &lt;/Box&gt;&#13;&#10;                &lt;/Box&gt;&#13;&#10;                &lt;Box style={{ width: 446, height: 34, background: '#FFFFFF', borderRadius: 6, justifyContent: 'center', padding: '0 12px' }}&gt;&#13;&#10;                    &lt;Text style={{ fontSize: 14, color: '#546779' }}&gt;两厅均有可走连接；时间与内容不变&lt;/Text&gt;&#13;&#10;                &lt;/Box&gt;&#13;&#10;                &lt;Box style={{ width: 446, height: 34, background: '#FFFFFF', borderRadius: 6, justifyContent: 'center', padding: '0 12px' }}&gt;&#13;&#10;                    &lt;Text style={{ fontSize: 14, color: '#546779' }}&gt;所有人初始知道四个场所的准确三层地址&lt;/Text&gt;&#13;&#10;                &lt;/Box&gt;&#13;&#10;            &lt;/Box&gt;&#13;&#10;&#13;&#10;            &lt;Text style={{ fontSize: 14, color: '#546779' }}&gt;厅内布局与地址均为示意，非实际地图、非寻路验收&lt;/Text&gt;&#13;&#10;&#13;&#10;        &lt;/Box&gt;&#13;&#10;&#13;&#10;    &lt;/Box&gt;&#13;&#10;&#13;&#10;    &lt;Box style={{ height: 40, flexDirection: 'row', justifyContent: 'space-between', alignItems: 'center' }}&gt;&#13;&#10;        &lt;Text style={{ fontSize: 14, color: '#546779' }}&gt;4.4 通知纠错&lt;/Text&gt;&#13;&#10;        &lt;Text style={{ fontSize: 14, color: '#546779' }}&gt;04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4.4.1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固定活动与初始知情分布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活动、两厅与写死的固定值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933450" y="1685925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固定事实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2400300" y="1685925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教学值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609600" y="2000250"/>
            <a:ext cx="6038850" cy="85725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8" name=""/>
          <p:cNvSpPr/>
          <p:nvPr/>
        </p:nvSpPr>
        <p:spPr>
          <a:xfrm rot="0" flipH="0" flipV="0">
            <a:off x="762000" y="220027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933450" y="2333625"/>
            <a:ext cx="1333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活动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2400300" y="2143125"/>
            <a:ext cx="40957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青禾读写交流　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2026-11-07 10:30—11:00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Asia/Shanghai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609600" y="2971800"/>
            <a:ext cx="6038850" cy="85725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12" name=""/>
          <p:cNvSpPr/>
          <p:nvPr/>
        </p:nvSpPr>
        <p:spPr>
          <a:xfrm rot="0" flipH="0" flipV="0">
            <a:off x="762000" y="317182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933450" y="3305175"/>
            <a:ext cx="1333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原址／新址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2400300" y="3257550"/>
            <a:ext cx="40957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杏厅／杉厅；因教案设定的投影检修申请更正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609600" y="3943350"/>
            <a:ext cx="6038850" cy="85725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6" name=""/>
          <p:cNvSpPr/>
          <p:nvPr/>
        </p:nvSpPr>
        <p:spPr>
          <a:xfrm rot="0" flipH="0" flipV="0">
            <a:off x="762000" y="414337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933450" y="4276725"/>
            <a:ext cx="1333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人数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2400300" y="4229100"/>
            <a:ext cx="40957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计划六位来宾；只模拟沈禾与叶青、吴悠、江辰三人</a:t>
            </a:r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609600" y="4914900"/>
            <a:ext cx="6038850" cy="85725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0" name=""/>
          <p:cNvSpPr/>
          <p:nvPr/>
        </p:nvSpPr>
        <p:spPr>
          <a:xfrm rot="0" flipH="0" flipV="0">
            <a:off x="762000" y="511492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933450" y="5248275"/>
            <a:ext cx="1333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候选窗口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2400300" y="5057775"/>
            <a:ext cx="40957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当天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09:30—10:30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分钟／步，共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61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步；准备后校准并冻结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6953250" y="2390775"/>
            <a:ext cx="4629150" cy="238125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4" name=""/>
          <p:cNvSpPr/>
          <p:nvPr/>
        </p:nvSpPr>
        <p:spPr>
          <a:xfrm rot="0" flipH="0" flipV="0">
            <a:off x="7143750" y="2524125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7181850" y="2552700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厅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7410450" y="2533650"/>
            <a:ext cx="1590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两厅等价条件　—　示意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7143750" y="2809875"/>
            <a:ext cx="2076450" cy="9906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7277100" y="300990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杏厅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7277100" y="3257550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原会址　可容纳六人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7277100" y="3448050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位置／碰撞／视野相同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9315450" y="2809875"/>
            <a:ext cx="2076450" cy="99060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9448800" y="300990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杉厅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9448800" y="3257550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候选新址　可容纳六人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9448800" y="3448050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交互距离与杏厅一致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7143750" y="3895725"/>
            <a:ext cx="42481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7258050" y="3981450"/>
            <a:ext cx="4019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两厅均有可走连接；时间与内容不变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7143750" y="4314825"/>
            <a:ext cx="42481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7258050" y="4400550"/>
            <a:ext cx="4019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所有人初始知道四个场所的准确三层地址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6953250" y="4886325"/>
            <a:ext cx="4629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厅内布局与地址均为示意，非实际地图、非寻路验收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通知纠错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42" name="" descr="&lt;Slide notes={`接下来要看的是信息边界，这决定了什么算真本事。&#10;&#10;沈禾手里有原通知、有检修依据，也确认杉厅可用，他有权提出更正。叶青、吴悠、江辰只知道活动名称和时间，正式会址需要他们自己去查。公告对象持有原通知，并且允许沈禾依据检修申请改成杉厅。&#10;&#10;更要紧的是右边这一列：什么不能提前塞给他们。沈禾不能假设那三个人已经收到过什么确认；三名参与者不能预知检修、最终结果，也不能读到别人的私有记忆；公告对象不能自带「谁已经收到了」的推测。&#10;&#10;一旦允许预塞，人物就算一句话不说也能说对，结果就什么也证明不了。还有一点容易混：公告变成 revised 只是外观变了，新地点仍然要经过真实内容才能知道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4.1　固定活动与初始知情分布&lt;/Text&gt;&#10;            &lt;Text style={{ fontSize: 34, fontWeight: 'bold', color: '#20344B' }}&gt;谁一开始知道什么，谁不能预塞&lt;/Text&gt;&#10;        &lt;/Box&gt;&#10;    &lt;/Box&gt;&#10;&#10;    &lt;Box style={{ height: 540, flexDirection: 'column', justifyContent: 'center', gap: 12 }}&gt;&#10;&#10;        &lt;Text style={{ fontSize: 16, color: '#546779' }}&gt;初始资料决定每个人能做什么；禁区决定这个实验还有没有说服力。&lt;/Text&gt;&#10;&#10;        &lt;Box style={{ height: 24, flexDirection: 'row', alignItems: 'center', padding: '0 16px', gap: 14 }}&gt;&#10;            &lt;Box style={{ width: 4 }} /&gt;&#10;            &lt;Box style={{ width: 120 }}&gt;&lt;Text style={{ fontSize: 15, fontWeight: 'bold', color: '#546779' }}&gt;参与者／对象&lt;/Text&gt;&lt;/Box&gt;&#10;            &lt;Box style={{ flex: 1 }}&gt;&lt;Text style={{ fontSize: 15, fontWeight: 'bold', color: '#546779' }}&gt;初始资料&lt;/Text&gt;&lt;/Box&gt;&#10;            &lt;Box style={{ width: 4 }} /&gt;&#10;            &lt;Box style={{ width: 350 }}&gt;&lt;Text style={{ fontSize: 15, fontWeight: 'bold', color: '#546779' }}&gt;不得预塞&lt;/Text&gt;&lt;/Box&gt;&#10;        &lt;/Box&gt;&#10;&#10;        &lt;Box style={{ height: 92, background: '#F4F7FA', borderRadius: 10, flexDirection: 'row', alignItems: 'center', padding: '0 16px', gap: 14 }}&gt;&#10;            &lt;Box style={{ width: 4, height: 48, background: '#276FBF' }} /&gt;&#10;            &lt;Box style={{ width: 120 }}&gt;&lt;Text style={{ fontSize: 17, fontWeight: 'bold', color: '#276FBF' }}&gt;沈禾&lt;/Text&gt;&lt;/Box&gt;&#10;            &lt;Box style={{ flex: 1 }}&gt;&lt;Text style={{ fontSize: 15, color: '#20344B', lineHeight: 1.55 }}&gt;原通知、检修依据、杉厅可用；有权提出更正&lt;/Text&gt;&lt;/Box&gt;&#10;            &lt;Box style={{ width: 4, height: 40, background: '#CB6B28' }} /&gt;&#10;            &lt;Box style={{ width: 350 }}&gt;&lt;Text style={{ fontSize: 15, color: '#CB6B28', lineHeight: 1.55 }}&gt;三人已经收到的虚构确认&lt;/Text&gt;&lt;/Box&gt;&#10;        &lt;/Box&gt;&#10;&#10;        &lt;Box style={{ height: 92, background: '#EDF4FC', borderRadius: 10, flexDirection: 'row', alignItems: 'center', padding: '0 16px', gap: 14 }}&gt;&#10;            &lt;Box style={{ width: 4, height: 48, background: '#276FBF' }} /&gt;&#10;            &lt;Box style={{ width: 120 }}&gt;&lt;Text style={{ fontSize: 17, fontWeight: 'bold', color: '#276FBF' }}&gt;三名参与者&lt;/Text&gt;&lt;/Box&gt;&#10;            &lt;Box style={{ flex: 1 }}&gt;&lt;Text style={{ fontSize: 15, color: '#20344B', lineHeight: 1.55 }}&gt;活动名称与时间；正式会址需要自行查询&lt;/Text&gt;&lt;/Box&gt;&#10;            &lt;Box style={{ width: 4, height: 40, background: '#CB6B28' }} /&gt;&#10;            &lt;Box style={{ width: 350 }}&gt;&lt;Text style={{ fontSize: 15, color: '#CB6B28', lineHeight: 1.55 }}&gt;检修、最终结果、他人私有记忆&lt;/Text&gt;&lt;/Box&gt;&#10;        &lt;/Box&gt;&#10;&#10;        &lt;Box style={{ height: 92, background: '#F4F7FA', borderRadius: 10, flexDirection: 'row', alignItems: 'center', padding: '0 16px', gap: 14 }}&gt;&#10;            &lt;Box style={{ width: 4, height: 48, background: '#276FBF' }} /&gt;&#10;            &lt;Box style={{ width: 120 }}&gt;&lt;Text style={{ fontSize: 17, fontWeight: 'bold', color: '#276FBF' }}&gt;公告对象&lt;/Text&gt;&lt;/Box&gt;&#10;            &lt;Box style={{ flex: 1 }}&gt;&lt;Text style={{ fontSize: 15, color: '#20344B', lineHeight: 1.55 }}&gt;原通知；允许沈禾据检修申请改杉厅&lt;/Text&gt;&lt;/Box&gt;&#10;            &lt;Box style={{ width: 4, height: 40, background: '#CB6B28' }} /&gt;&#10;            &lt;Box style={{ width: 350 }}&gt;&lt;Text style={{ fontSize: 15, color: '#CB6B28', lineHeight: 1.55 }}&gt;推测的人物接收情况&lt;/Text&gt;&lt;/Box&gt;&#10;        &lt;/Box&gt;&#10;&#10;        &lt;Box style={{ height: 84, background: '#FFF4E6', borderRadius: 10, flexDirection: 'row', alignItems: 'center', padding: '0 22px', gap: 16 }}&gt;&#10;            &lt;Box style={{ width: 4, height: 52, background: '#CB6B28' }} /&gt;&#10;            &lt;Box style={{ flexDirection: 'column', gap: 4 }}&gt;&#10;                &lt;Text style={{ fontSize: 19, fontWeight: 'bold', color: '#CB6B28' }}&gt;看见 revised 只等于看到外观变了&lt;/Text&gt;&#10;                &lt;Text style={{ fontSize: 15, color: '#546779' }}&gt;新地点必须经真实内容获知；推测他人是否收到、代填确认，都属于预塞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4 通知纠错&lt;/Text&gt;&#10;        &lt;Text style={{ fontSize: 14, color: '#546779' }}&gt;0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4.4.1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固定活动与初始知情分布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谁一开始知道什么，谁不能预塞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609600" y="150495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初始资料决定每个人能做什么；禁区决定这个实验还有没有说服力。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933450" y="183832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参与者／对象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2209800" y="1838325"/>
            <a:ext cx="558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初始资料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8096250" y="1838325"/>
            <a:ext cx="3333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不得预塞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609600" y="2152650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2" name=""/>
          <p:cNvSpPr/>
          <p:nvPr/>
        </p:nvSpPr>
        <p:spPr>
          <a:xfrm rot="0" flipH="0" flipV="0">
            <a:off x="762000" y="236220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933450" y="2495550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沈禾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2209800" y="2457450"/>
            <a:ext cx="55816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原通知、检修依据、杉厅可用；有权提出更正</a:t>
            </a:r>
            <a:endParaRPr/>
          </a:p>
        </p:txBody>
      </p:sp>
      <p:sp>
        <p:nvSpPr>
          <p:cNvPr id="555" name=""/>
          <p:cNvSpPr/>
          <p:nvPr/>
        </p:nvSpPr>
        <p:spPr>
          <a:xfrm rot="0" flipH="0" flipV="0">
            <a:off x="7924800" y="240030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8096250" y="2457450"/>
            <a:ext cx="33337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三人已经收到的虚构确认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609600" y="3143250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58" name=""/>
          <p:cNvSpPr/>
          <p:nvPr/>
        </p:nvSpPr>
        <p:spPr>
          <a:xfrm rot="0" flipH="0" flipV="0">
            <a:off x="762000" y="335280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933450" y="3486150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三名参与者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2209800" y="3448050"/>
            <a:ext cx="55816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活动名称与时间；正式会址需要自行查询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7924800" y="339090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8096250" y="3448050"/>
            <a:ext cx="33337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检修、最终结果、他人私有记忆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609600" y="4133850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4" name=""/>
          <p:cNvSpPr/>
          <p:nvPr/>
        </p:nvSpPr>
        <p:spPr>
          <a:xfrm rot="0" flipH="0" flipV="0">
            <a:off x="762000" y="434340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933450" y="4476750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公告对象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2209800" y="4438650"/>
            <a:ext cx="55816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原通知；允许沈禾据检修申请改杉厅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7924800" y="438150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8096250" y="4438650"/>
            <a:ext cx="33337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推测的人物接收情况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609600" y="512445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70" name=""/>
          <p:cNvSpPr/>
          <p:nvPr/>
        </p:nvSpPr>
        <p:spPr>
          <a:xfrm rot="0" flipH="0" flipV="0">
            <a:off x="819150" y="5276850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1009650" y="5314950"/>
            <a:ext cx="471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看见</a:t>
            </a:r>
            <a:r>
              <a:rPr lang="en-US" sz="14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revised </a:t>
            </a: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只等于看到外观变了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1009650" y="5572125"/>
            <a:ext cx="4714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新地点必须经真实内容获知；推测他人是否收到、代填确认，都属于预塞。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通知纠错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75" name="" descr="&lt;Slide notes={`第一段是三名参与者的真实查询。叶青、吴悠、江辰各自与公告交互，拿到回复「本次会址为杏厅」，保存当前会址信念，再分别真的向沈禾说一句已查过。保存的信念只用自然语言，不附任何可能被继承的旧地点 SPO。&#13;&#10;&#13;&#10;第二段只有在第一段收齐后成立。沈禾拿到三份实际确认才提交申请，缺人只能追问，不能代确认。公告对象核对请求者身份后提交 revised 并回复；沈禾拿到正式更正确认，再逐人发出内容相同的更正，三次都是真实 SPEAK。&#13;&#10;&#13;&#10;最容易出错的一条：公告变成 revised 只是公开外观上的时刻，不等于三人同时知道了杉厅。对象回复与人物实际接收必须分别留证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4.4.2　先完成原通知链，再触发更正&lt;/Text&gt;&#13;&#10;            &lt;Text style={{ fontSize: 34, fontWeight: 'bold', color: '#20344B' }}&gt;收齐三份确认，更正才被允许发生&lt;/Text&gt;&#13;&#10;        &lt;/Box&gt;&#13;&#10;    &lt;/Box&gt;&#13;&#10;&#13;&#10;    &lt;Box style={{ height: 540, flexDirection: 'column', justifyContent: 'center', gap: 10 }}&gt;&#13;&#10;&#13;&#10;        &lt;Text style={{ fontSize: 16, color: '#546779' }}&gt;条件顺序示意图：两段循环，先后不能颠倒。&lt;/Text&gt;&#13;&#10;&#13;&#10;        &lt;Text style={{ fontSize: 15, fontWeight: 'bold', color: '#276FBF' }}&gt;第一段　叶青、吴悠、江辰分别执行&lt;/Text&gt;&#13;&#10;        &lt;Box style={{ flexDirection: 'row', alignItems: 'center' }}&gt;&#13;&#10;            &lt;Box style={{ width: 250, height: 84, background: '#EDF4FC', borderRadius: 8, flexDirection: 'column', justifyContent: 'center', alignItems: 'center', gap: 4 }}&gt;&#13;&#10;                &lt;Text style={{ fontSize: 16, fontWeight: 'bold', color: '#276FBF' }}&gt;真实查询原公告&lt;/Text&gt;&#13;&#10;                &lt;Text style={{ fontSize: 13, color: '#546779' }}&gt;使用真实查询键&lt;/Text&gt;&#13;&#10;            &lt;/Box&gt;&#13;&#10;            &lt;Box style={{ width: 44, height: 84, justifyContent: 'center', alignItems: 'center' }}&gt;&#13;&#10;                &lt;Text style={{ fontSize: 24, color: '#276FBF' }}&gt;›&lt;/Text&gt;&#13;&#10;            &lt;/Box&gt;&#13;&#10;            &lt;Box style={{ width: 250, height: 84, background: '#EDF4FC', borderRadius: 8, flexDirection: 'column', justifyContent: 'center', alignItems: 'center', gap: 4 }}&gt;&#13;&#10;                &lt;Text style={{ fontSize: 16, fontWeight: 'bold', color: '#276FBF' }}&gt;原通知：杏厅&lt;/Text&gt;&#13;&#10;                &lt;Text style={{ fontSize: 13, color: '#546779' }}&gt;公告对象真实回复&lt;/Text&gt;&#13;&#10;            &lt;/Box&gt;&#13;&#10;            &lt;Box style={{ width: 44, height: 84, justifyContent: 'center', alignItems: 'center' }}&gt;&#13;&#10;                &lt;Text style={{ fontSize: 24, color: '#276FBF' }}&gt;›&lt;/Text&gt;&#13;&#10;            &lt;/Box&gt;&#13;&#10;            &lt;Box style={{ width: 250, height: 84, background: '#EDF4FC', borderRadius: 8, flexDirection: 'column', justifyContent: 'center', alignItems: 'center', gap: 4 }}&gt;&#13;&#10;                &lt;Text style={{ fontSize: 16, fontWeight: 'bold', color: '#276FBF' }}&gt;保存当前信念&lt;/Text&gt;&#13;&#10;                &lt;Text style={{ fontSize: 13, color: '#546779' }}&gt;只用自然语言描述&lt;/Text&gt;&#13;&#10;            &lt;/Box&gt;&#13;&#10;            &lt;Box style={{ width: 44, height: 84, justifyContent: 'center', alignItems: 'center' }}&gt;&#13;&#10;                &lt;Text style={{ fontSize: 24, color: '#276FBF' }}&gt;›&lt;/Text&gt;&#13;&#10;            &lt;/Box&gt;&#13;&#10;            &lt;Box style={{ width: 250, height: 84, background: '#EDF4FC', borderRadius: 8, flexDirection: 'column', justifyContent: 'center', alignItems: 'center', gap: 4 }}&gt;&#13;&#10;                &lt;Text style={{ fontSize: 16, fontWeight: 'bold', color: '#276FBF' }}&gt;真实确认已查询&lt;/Text&gt;&#13;&#10;                &lt;Text style={{ fontSize: 13, color: '#546779' }}&gt;一次只告诉沈禾一人&lt;/Text&gt;&#13;&#10;            &lt;/Box&gt;&#13;&#10;        &lt;/Box&gt;&#13;&#10;&#13;&#10;        &lt;Text style={{ fontSize: 15, fontWeight: 'bold', color: '#26816B' }}&gt;第二段　沈禾申请，公告提交，再逐人发送&lt;/Text&gt;&#13;&#10;        &lt;Box style={{ flexDirection: 'row', alignItems: 'center' }}&gt;&#13;&#10;            &lt;Box style={{ width: 250, height: 84, background: '#ECF7F2', borderRadius: 8, flexDirection: 'column', justifyContent: 'center', alignItems: 'center', gap: 4 }}&gt;&#13;&#10;                &lt;Text style={{ fontSize: 16, fontWeight: 'bold', color: '#26816B' }}&gt;提交依据与申请&lt;/Text&gt;&#13;&#10;                &lt;Text style={{ fontSize: 13, color: '#546779' }}&gt;检修依据＋完整请求&lt;/Text&gt;&#13;&#10;            &lt;/Box&gt;&#13;&#10;            &lt;Box style={{ width: 44, height: 84, justifyContent: 'center', alignItems: 'center' }}&gt;&#13;&#10;                &lt;Text style={{ fontSize: 24, color: '#26816B' }}&gt;›&lt;/Text&gt;&#13;&#10;            &lt;/Box&gt;&#13;&#10;            &lt;Box style={{ width: 250, height: 84, background: '#ECF7F2', borderRadius: 8, flexDirection: 'column', justifyContent: 'center', alignItems: 'center', gap: 4 }}&gt;&#13;&#10;                &lt;Text style={{ fontSize: 16, fontWeight: 'bold', color: '#26816B' }}&gt;对象提交 revised&lt;/Text&gt;&#13;&#10;                &lt;Text style={{ fontSize: 13, color: '#546779' }}&gt;先核对请求者身份&lt;/Text&gt;&#13;&#10;            &lt;/Box&gt;&#13;&#10;            &lt;Box style={{ width: 44, height: 84, justifyContent: 'center', alignItems: 'center' }}&gt;&#13;&#10;                &lt;Text style={{ fontSize: 24, color: '#26816B' }}&gt;›&lt;/Text&gt;&#13;&#10;            &lt;/Box&gt;&#13;&#10;            &lt;Box style={{ width: 250, height: 84, background: '#ECF7F2', borderRadius: 8, flexDirection: 'column', justifyContent: 'center', alignItems: 'center', gap: 4 }}&gt;&#13;&#10;                &lt;Text style={{ fontSize: 16, fontWeight: 'bold', color: '#26816B' }}&gt;正式更正确认&lt;/Text&gt;&#13;&#10;                &lt;Text style={{ fontSize: 13, color: '#546779' }}&gt;对象回复单独留证&lt;/Text&gt;&#13;&#10;            &lt;/Box&gt;&#13;&#10;            &lt;Box style={{ width: 44, height: 84, justifyContent: 'center', alignItems: 'center' }}&gt;&#13;&#10;                &lt;Text style={{ fontSize: 24, color: '#26816B' }}&gt;›&lt;/Text&gt;&#13;&#10;            &lt;/Box&gt;&#13;&#10;            &lt;Box style={{ width: 250, height: 84, background: '#ECF7F2', borderRadius: 8, flexDirection: 'column', justifyContent: 'center', alignItems: 'center', gap: 4 }}&gt;&#13;&#10;                &lt;Text style={{ fontSize: 16, fontWeight: 'bold', color: '#26816B' }}&gt;逐人发送更正&lt;/Text&gt;&#13;&#10;                &lt;Text style={{ fontSize: 13, color: '#546779' }}&gt;三次真实 SPEAK，内容相同&lt;/Text&gt;&#13;&#10;            &lt;/Box&gt;&#13;&#10;        &lt;/Box&gt;&#13;&#10;&#13;&#10;        &lt;Box style={{ flexDirection: 'row', gap: 32, marginTop: 4 }}&gt;&#13;&#10;            &lt;Box style={{ width: 560, height: 96, background: '#FFF4E6', borderRadius: 10, flexDirection: 'column', justifyContent: 'center', gap: 6, padding: '0 22px' }}&gt;&#13;&#10;                &lt;Text style={{ fontSize: 18, fontWeight: 'bold', color: '#CB6B28' }}&gt;不能当成同一时刻&lt;/Text&gt;&#13;&#10;                &lt;Text style={{ fontSize: 15, color: '#546779', lineHeight: 1.5 }}&gt;公告改为 revised 的时刻 ≠ 三人同时知道杉厅&lt;/Text&gt;&#13;&#10;            &lt;/Box&gt;&#13;&#10;            &lt;Box style={{ width: 560, height: 96, background: '#ECF7F2', borderRadius: 10, flexDirection: 'column', justifyContent: 'center', gap: 6, padding: '0 22px' }}&gt;&#13;&#10;                &lt;Text style={{ fontSize: 18, fontWeight: 'bold', color: '#26816B' }}&gt;必须分别留证&lt;/Text&gt;&#13;&#10;                &lt;Text style={{ fontSize: 15, color: '#546779', lineHeight: 1.5 }}&gt;对象回复与人物实际接收各自留证，不指定固定 Step&lt;/Text&gt;&#13;&#10;            &lt;/Box&gt;&#13;&#10;        &lt;/Box&gt;&#13;&#10;&#13;&#10;    &lt;/Box&gt;&#13;&#10;&#13;&#10;    &lt;Box style={{ height: 40, flexDirection: 'row', justifyContent: 'space-between', alignItems: 'center' }}&gt;&#13;&#10;        &lt;Text style={{ fontSize: 14, color: '#546779' }}&gt;条件顺序示意图，非系统截图、非 Run 结果&lt;/Text&gt;&#13;&#10;        &lt;Text style={{ fontSize: 14, color: '#546779' }}&gt;06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4.4.2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先完成原通知链，再触发更正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收齐三份确认，更正才被允许发生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609600" y="193357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条件顺序示意图：两段循环，先后不能颠倒。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609600" y="22193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第一段　叶青、吴悠、江辰分别执行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609600" y="2486025"/>
            <a:ext cx="2381250" cy="800100"/>
          </a:xfrm>
          <a:prstGeom prst="roundRect">
            <a:avLst>
              <a:gd name="adj" fmla="val 952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1266825" y="2695575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真实查询原公告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1371600" y="2924175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使用真实查询键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3162300" y="27527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3409950" y="2486025"/>
            <a:ext cx="2381250" cy="800100"/>
          </a:xfrm>
          <a:prstGeom prst="roundRect">
            <a:avLst>
              <a:gd name="adj" fmla="val 952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4143375" y="269557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原通知：杏厅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4105275" y="292417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公告对象真实回复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5962650" y="27527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6210300" y="2486025"/>
            <a:ext cx="2381250" cy="800100"/>
          </a:xfrm>
          <a:prstGeom prst="roundRect">
            <a:avLst>
              <a:gd name="adj" fmla="val 952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6943725" y="269557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保存当前信念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6905625" y="292417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只用自然语言描述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8763000" y="27527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9010650" y="2486025"/>
            <a:ext cx="2381250" cy="800100"/>
          </a:xfrm>
          <a:prstGeom prst="roundRect">
            <a:avLst>
              <a:gd name="adj" fmla="val 952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9667875" y="2695575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真实确认已查询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9648825" y="292417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一次只告诉沈禾一人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609600" y="33813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第二段　沈禾申请，公告提交，再逐人发送</a:t>
            </a:r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609600" y="3648075"/>
            <a:ext cx="2381250" cy="800100"/>
          </a:xfrm>
          <a:prstGeom prst="roundRect">
            <a:avLst>
              <a:gd name="adj" fmla="val 952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1266825" y="3857625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提交依据与申请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1247775" y="408622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检修依据＋完整请求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3162300" y="39147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3409950" y="3648075"/>
            <a:ext cx="2381250" cy="800100"/>
          </a:xfrm>
          <a:prstGeom prst="roundRect">
            <a:avLst>
              <a:gd name="adj" fmla="val 952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4000500" y="3857625"/>
            <a:ext cx="1209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对象提交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revised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4105275" y="408622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先核对请求者身份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5962650" y="39147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6210300" y="3648075"/>
            <a:ext cx="2381250" cy="800100"/>
          </a:xfrm>
          <a:prstGeom prst="roundRect">
            <a:avLst>
              <a:gd name="adj" fmla="val 952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6943725" y="385762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正式更正确认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6905625" y="408622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对象回复单独留证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8763000" y="39147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9010650" y="3648075"/>
            <a:ext cx="2381250" cy="800100"/>
          </a:xfrm>
          <a:prstGeom prst="roundRect">
            <a:avLst>
              <a:gd name="adj" fmla="val 952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9744075" y="385762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逐人发送更正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9439275" y="4086225"/>
            <a:ext cx="1533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三次真实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SPEAK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，内容相同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609600" y="4581525"/>
            <a:ext cx="53340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819150" y="4781550"/>
            <a:ext cx="4914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不能当成同一时刻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819150" y="5048250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公告改为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revised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的时刻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三人同时知道杉厅</a:t>
            </a:r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6248400" y="4581525"/>
            <a:ext cx="53340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6457950" y="4781550"/>
            <a:ext cx="4914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必须分别留证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6457950" y="5048250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对象回复与人物实际接收各自留证，不指定固定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600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条件顺序示意图，非系统截图、非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结果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21" name="" descr="&lt;Slide notes={`沈禾要申请更正，先要有依据，这个依据就是三份真实确认。&#13;&#10;&#13;&#10;叶青、吴悠、江辰各自用 INTERACT 真实查询公告，保存当前信念，内容是「本次当前正式会址为杏厅，来源原公告回复」。这条信念只用自然语言写，不附旧地点的结构化标记——一旦附上，后面替代时很可能被继承，两边就不干净了。&#13;&#10;&#13;&#10;接着三人分别真实 SPEAK 告诉沈禾已经查过。SPEAK 一次只对一名其他 Agent，所以是三次单独发言。沈禾收齐三份实际确认才去申请，缺人只能追问，不能代确认。&#13;&#10;&#13;&#10;还有一种情况要提前写好：窗口结束而更正还没正式发生，就标「未形成纠错观察条件」，只报数量，不造更正时点，也不单独给哪一组延长窗口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4.4.2　先完成原通知链，再触发更正&lt;/Text&gt;&#13;&#10;            &lt;Text style={{ fontSize: 34, fontWeight: 'bold', color: '#20344B' }}&gt;三份确认收齐，才有申请条件&lt;/Text&gt;&#13;&#10;        &lt;/Box&gt;&#13;&#10;    &lt;/Box&gt;&#13;&#10;&#13;&#10;    &lt;Box style={{ height: 540, flexDirection: 'row', alignItems: 'center', gap: 32 }}&gt;&#13;&#10;&#13;&#10;        &lt;Box style={{ width: 674, flexDirection: 'column', gap: 12 }}&gt;&#13;&#10;&#13;&#10;            &lt;Box style={{ height: 92, background: '#F4F7FA', borderRadius: 10, flexDirection: 'row', alignItems: 'center', padding: '0 16px', gap: 14 }}&gt;&#13;&#10;                &lt;Box style={{ width: 40, height: 40, background: '#276FBF', borderRadius: 8, justifyContent: 'center', alignItems: 'center' }}&gt;&#13;&#10;                    &lt;Text style={{ fontSize: 17, fontWeight: 'bold', color: '#FFFFFF' }}&gt;1&lt;/Text&gt;&#13;&#10;                &lt;/Box&gt;&#13;&#10;                &lt;Box style={{ flex: 1, flexDirection: 'column', gap: 3 }}&gt;&#13;&#10;                    &lt;Text style={{ fontSize: 17, fontWeight: 'bold', color: '#20344B' }}&gt;三人真实查询原公告&lt;/Text&gt;&#13;&#10;                    &lt;Text style={{ fontSize: 15, color: '#546779' }}&gt;保存「本次当前正式会址为杏厅，来源原公告回复」&lt;/Text&gt;&#13;&#10;                &lt;/Box&gt;&#13;&#10;            &lt;/Box&gt;&#13;&#10;&#13;&#10;            &lt;Box style={{ height: 92, background: '#F4F7FA', borderRadius: 10, flexDirection: 'row', alignItems: 'center', padding: '0 16px', gap: 14 }}&gt;&#13;&#10;                &lt;Box style={{ width: 40, height: 40, background: '#276FBF', borderRadius: 8, justifyContent: 'center', alignItems: 'center' }}&gt;&#13;&#10;                    &lt;Text style={{ fontSize: 17, fontWeight: 'bold', color: '#FFFFFF' }}&gt;2&lt;/Text&gt;&#13;&#10;                &lt;/Box&gt;&#13;&#10;                &lt;Box style={{ flex: 1, flexDirection: 'column', gap: 3 }}&gt;&#13;&#10;                    &lt;Text style={{ fontSize: 17, fontWeight: 'bold', color: '#20344B' }}&gt;原信念只用自然语言&lt;/Text&gt;&#13;&#10;                    &lt;Text style={{ fontSize: 15, color: '#546779' }}&gt;不附可能在替代时被继承的旧地点结构化标记&lt;/Text&gt;&#13;&#10;                &lt;/Box&gt;&#13;&#10;            &lt;/Box&gt;&#13;&#10;&#13;&#10;            &lt;Box style={{ height: 92, background: '#EDF4FC', borderRadius: 10, flexDirection: 'row', alignItems: 'center', padding: '0 16px', gap: 14 }}&gt;&#13;&#10;                &lt;Box style={{ width: 40, height: 40, background: '#276FBF', borderRadius: 8, justifyContent: 'center', alignItems: 'center' }}&gt;&#13;&#10;                    &lt;Text style={{ fontSize: 17, fontWeight: 'bold', color: '#FFFFFF' }}&gt;3&lt;/Text&gt;&#13;&#10;                &lt;/Box&gt;&#13;&#10;                &lt;Box style={{ flex: 1, flexDirection: 'column', gap: 3 }}&gt;&#13;&#10;                    &lt;Text style={{ fontSize: 17, fontWeight: 'bold', color: '#276FBF' }}&gt;三人分别真实 SPEAK 报备&lt;/Text&gt;&#13;&#10;                    &lt;Text style={{ fontSize: 15, color: '#546779' }}&gt;SPEAK 一次只向一名其他 Agent，因此是三次发言&lt;/Text&gt;&#13;&#10;                &lt;/Box&gt;&#13;&#10;            &lt;/Box&gt;&#13;&#10;&#13;&#10;            &lt;Box style={{ height: 92, background: '#EDF4FC', borderRadius: 10, flexDirection: 'row', alignItems: 'center', padding: '0 16px', gap: 14 }}&gt;&#13;&#10;                &lt;Box style={{ width: 40, height: 40, background: '#276FBF', borderRadius: 8, justifyContent: 'center', alignItems: 'center' }}&gt;&#13;&#10;                    &lt;Text style={{ fontSize: 17, fontWeight: 'bold', color: '#FFFFFF' }}&gt;4&lt;/Text&gt;&#13;&#10;                &lt;/Box&gt;&#13;&#10;                &lt;Box style={{ flex: 1, flexDirection: 'column', gap: 3 }}&gt;&#13;&#10;                    &lt;Text style={{ fontSize: 17, fontWeight: 'bold', color: '#276FBF' }}&gt;收齐三份实际确认才申请&lt;/Text&gt;&#13;&#10;                    &lt;Text style={{ fontSize: 15, color: '#546779' }}&gt;缺人则追问，不替任何人补一份确认&lt;/Text&gt;&#13;&#10;                &lt;/Box&gt;&#13;&#10;            &lt;/Box&gt;&#13;&#10;&#13;&#10;        &lt;/Box&gt;&#13;&#10;&#13;&#10;        &lt;Box style={{ width: 446, flexDirection: 'column', gap: 12 }}&gt;&#13;&#10;&#13;&#10;            &lt;Box style={{ width: 446, background: '#FFF4E6', borderRadius: 10, padding: '18px 22px', flexDirection: 'column', gap: 8 }}&gt;&#13;&#10;                &lt;Text style={{ fontSize: 20, fontWeight: 'bold', color: '#CB6B28' }}&gt;缺口不能代确认&lt;/Text&gt;&#13;&#10;                &lt;Text style={{ fontSize: 15, color: '#546779', lineHeight: 1.6 }}&gt;收齐三份实际确认，才有申请更正的条件。这份依据不是流程礼貌，而是事件真的发生过的证据。&lt;/Text&gt;&#13;&#10;            &lt;/Box&gt;&#13;&#10;&#13;&#10;            &lt;Box style={{ width: 446, background: '#F4F7FA', borderRadius: 10, padding: '18px 22px', flexDirection: 'column', gap: 8 }}&gt;&#13;&#10;                &lt;Text style={{ fontSize: 19, fontWeight: 'bold', color: '#20344B' }}&gt;窗口末还没正式更正&lt;/Text&gt;&#13;&#10;                &lt;Text style={{ fontSize: 15, color: '#546779', lineHeight: 1.6 }}&gt;标「未形成纠错观察条件」，只报告数量；不造更正时点，也不单独延长某一组。&lt;/Text&gt;&#13;&#10;            &lt;/Box&gt;&#13;&#10;&#13;&#10;            &lt;Text style={{ fontSize: 14, color: '#546779' }}&gt;流程条为条件关系示意，非系统界面截图&lt;/Text&gt;&#13;&#10;&#13;&#10;        &lt;/Box&gt;&#13;&#10;&#13;&#10;    &lt;/Box&gt;&#13;&#10;&#13;&#10;    &lt;Box style={{ height: 40, flexDirection: 'row', justifyContent: 'space-between', alignItems: 'center' }}&gt;&#13;&#10;        &lt;Text style={{ fontSize: 14, color: '#546779' }}&gt;4.4 通知纠错&lt;/Text&gt;&#13;&#10;        &lt;Text style={{ fontSize: 14, color: '#546779' }}&gt;07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4.4.2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先完成原通知链，再触发更正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三份确认收齐，才有申请条件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609600" y="1790700"/>
            <a:ext cx="641985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7" name=""/>
          <p:cNvSpPr/>
          <p:nvPr/>
        </p:nvSpPr>
        <p:spPr>
          <a:xfrm rot="0" flipH="0" flipV="0">
            <a:off x="762000" y="20383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904875" y="21336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1276350" y="2028825"/>
            <a:ext cx="5600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三人真实查询原公告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1276350" y="2257425"/>
            <a:ext cx="5600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保存「本次当前正式会址为杏厅，来源原公告回复」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609600" y="2781300"/>
            <a:ext cx="641985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32" name=""/>
          <p:cNvSpPr/>
          <p:nvPr/>
        </p:nvSpPr>
        <p:spPr>
          <a:xfrm rot="0" flipH="0" flipV="0">
            <a:off x="762000" y="30289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904875" y="31242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1276350" y="3019425"/>
            <a:ext cx="5600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原信念只用自然语言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1276350" y="3248025"/>
            <a:ext cx="5600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不附可能在替代时被继承的旧地点结构化标记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609600" y="3771900"/>
            <a:ext cx="641985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7" name=""/>
          <p:cNvSpPr/>
          <p:nvPr/>
        </p:nvSpPr>
        <p:spPr>
          <a:xfrm rot="0" flipH="0" flipV="0">
            <a:off x="762000" y="40195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904875" y="41148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1276350" y="4010025"/>
            <a:ext cx="5600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三人分别真实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SPEAK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报备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1276350" y="4238625"/>
            <a:ext cx="5600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SPEAK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一次只向一名其他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，因此是三次发言</a:t>
            </a:r>
            <a:endParaRPr/>
          </a:p>
        </p:txBody>
      </p:sp>
      <p:sp>
        <p:nvSpPr>
          <p:cNvPr id="641" name=""/>
          <p:cNvSpPr/>
          <p:nvPr/>
        </p:nvSpPr>
        <p:spPr>
          <a:xfrm rot="0" flipH="0" flipV="0">
            <a:off x="609600" y="4762500"/>
            <a:ext cx="641985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2" name=""/>
          <p:cNvSpPr/>
          <p:nvPr/>
        </p:nvSpPr>
        <p:spPr>
          <a:xfrm rot="0" flipH="0" flipV="0">
            <a:off x="762000" y="50101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904875" y="51054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1276350" y="5000625"/>
            <a:ext cx="5600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收齐三份实际确认才申请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1276350" y="5229225"/>
            <a:ext cx="5600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缺人则追问，不替任何人补一份确认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7334250" y="2324100"/>
            <a:ext cx="4248150" cy="1200150"/>
          </a:xfrm>
          <a:prstGeom prst="roundRect">
            <a:avLst>
              <a:gd name="adj" fmla="val 793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7543800" y="2495550"/>
            <a:ext cx="3829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缺口不能代确认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7543800" y="2800350"/>
            <a:ext cx="38290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收齐三份实际确认，才有申请更正的条件。这份依据不是流程礼貌，而是事件真的发生过的证据。</a:t>
            </a:r>
            <a:endParaRPr/>
          </a:p>
        </p:txBody>
      </p:sp>
      <p:sp>
        <p:nvSpPr>
          <p:cNvPr id="649" name=""/>
          <p:cNvSpPr/>
          <p:nvPr/>
        </p:nvSpPr>
        <p:spPr>
          <a:xfrm rot="0" flipH="0" flipV="0">
            <a:off x="7334250" y="3638550"/>
            <a:ext cx="4248150" cy="1190625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7543800" y="3810000"/>
            <a:ext cx="3829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窗口末还没正式更正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7543800" y="4105275"/>
            <a:ext cx="38290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标「未形成纠错观察条件」，只报告数量；不造更正时点，也不单独延长某一组。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7334250" y="4943475"/>
            <a:ext cx="4248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流程条为条件关系示意，非系统界面截图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通知纠错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55" name="" descr="&lt;Slide notes={`接下来这一块要说明两组到底做什么。&#10;&#10;我先把容易误解的地方说清楚：基线组和对照组在绝大多数环节上是完全一样的。相同的模型、相同的窗口、相同的工具可用性、相同的检索方式、相同的 SOP，连查询公告和提交申请的顺序都一样。&#10;&#10;它们唯一不一样的地方，是收到正式更正之后，怎么对待那条旧的当前会址信念。基线组是追加一条新信念，旧的那条仍然有效；对照组是用相同的新内容替代掉旧信念，让旧节点退出有效态、只留在历史里。&#10;&#10;所以这一块要先把共同部分讲透，下一块才讲那个唯一的差别。不然读者会以为两组连流程都不一样，那结果就说不清是什么造成的了。`} style={{ width: 1280, height: 720, background: '#FFFFFF', flexDirection: 'column', padding: '20px 64px' }}&gt;&#10;&#10;    &lt;Box style={{ height: 640, flexDirection: 'column', justifyContent: 'center', gap: 20 }}&gt;&#10;&#10;        &lt;Text style={{ fontSize: 15, color: '#276FBF' }}&gt;2　　4.4.3&lt;/Text&gt;&#10;&#10;        &lt;Text style={{ fontSize: 56, fontWeight: 'bold', color: '#20344B', lineHeight: 1.15 }}&gt;两组走的是同一套动作&lt;/Text&gt;&#10;&#10;        &lt;Box style={{ width: 72, height: 4, background: '#276FBF' }} /&gt;&#10;&#10;        &lt;Text style={{ fontSize: 18, color: '#546779', lineHeight: 1.7, width: 900 }}&gt;条件式 SOP 逐字相同：什么时候查询、什么时候确认、什么时候才允许发送更正。&lt;/Text&gt;&#10;&#10;        &lt;Box style={{ flexDirection: 'column', gap: 14, marginTop: 10 }}&gt;&#10;&#10;            &lt;Text style={{ fontSize: 15, fontWeight: 'bold', color: '#276FBF' }}&gt;基线组　与　对照组　—　相同的前半段&lt;/Text&gt;&#10;&#10;            &lt;Box style={{ flexDirection: 'row', alignItems: 'center' }}&gt;&#10;                &lt;Box style={{ width: 304, height: 60, background: '#EDF4FC', borderRadius: 8, justifyContent: 'center', alignItems: 'center' }}&gt;&#10;                    &lt;Text style={{ fontSize: 18, color: '#276FBF' }}&gt;查询并保存信念&lt;/Text&gt;&#10;                &lt;/Box&gt;&#10;                &lt;Box style={{ width: 44, height: 60, justifyContent: 'center', alignItems: 'center' }}&gt;&#10;                    &lt;Text style={{ fontSize: 26, color: '#276FBF' }}&gt;›&lt;/Text&gt;&#10;                &lt;/Box&gt;&#10;                &lt;Box style={{ width: 304, height: 60, background: '#EDF4FC', borderRadius: 8, justifyContent: 'center', alignItems: 'center' }}&gt;&#10;                    &lt;Text style={{ fontSize: 18, color: '#276FBF' }}&gt;报备并提交申请&lt;/Text&gt;&#10;                &lt;/Box&gt;&#10;                &lt;Box style={{ width: 44, height: 60, justifyContent: 'center', alignItems: 'center' }}&gt;&#10;                    &lt;Text style={{ fontSize: 26, color: '#276FBF' }}&gt;›&lt;/Text&gt;&#10;                &lt;/Box&gt;&#10;                &lt;Box style={{ width: 304, height: 60, background: '#EDF4FC', borderRadius: 8, justifyContent: 'center', alignItems: 'center' }}&gt;&#10;                    &lt;Text style={{ fontSize: 18, color: '#276FBF' }}&gt;逐人收到正式更正&lt;/Text&gt;&#10;                &lt;/Box&gt;&#10;            &lt;/Box&gt;&#10;&#10;            &lt;Box style={{ flexDirection: 'row', alignItems: 'center' }}&gt;&#10;                &lt;Box style={{ width: 304, height: 60, background: '#F4F7FA', borderRadius: 8, justifyContent: 'center', alignItems: 'center' }}&gt;&#10;                    &lt;Text style={{ fontSize: 18, color: '#546779' }}&gt;同一模型与窗口&lt;/Text&gt;&#10;                &lt;/Box&gt;&#10;                &lt;Box style={{ width: 44, height: 60 }} /&gt;&#10;                &lt;Box style={{ width: 304, height: 60, background: '#F4F7FA', borderRadius: 8, justifyContent: 'center', alignItems: 'center' }}&gt;&#10;                    &lt;Text style={{ fontSize: 18, color: '#546779' }}&gt;同一检索与工具&lt;/Text&gt;&#10;                &lt;/Box&gt;&#10;                &lt;Box style={{ width: 44, height: 60 }} /&gt;&#10;                &lt;Box style={{ width: 304, height: 60, background: '#F4F7FA', borderRadius: 8, justifyContent: 'center', alignItems: 'center' }}&gt;&#10;                    &lt;Text style={{ fontSize: 18, color: '#546779' }}&gt;其余 SOP 相同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4 通知纠错&lt;/Text&gt;&#10;        &lt;Text style={{ fontSize: 14, color: '#546779' }}&gt;0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609600" y="13716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4.4.3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609600" y="17335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两组走的是同一套动作</a:t>
            </a:r>
            <a:endParaRPr/>
          </a:p>
        </p:txBody>
      </p:sp>
      <p:sp>
        <p:nvSpPr>
          <p:cNvPr id="659" name=""/>
          <p:cNvSpPr/>
          <p:nvPr/>
        </p:nvSpPr>
        <p:spPr>
          <a:xfrm rot="0" flipH="0" flipV="0">
            <a:off x="609600" y="26670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609600" y="2895600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条件式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逐字相同：什么时候查询、什么时候确认、什么时候才允许发送更正。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609600" y="35337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基线组　与　对照组　—　相同的前半段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609600" y="3838575"/>
            <a:ext cx="2895600" cy="571500"/>
          </a:xfrm>
          <a:prstGeom prst="roundRect">
            <a:avLst>
              <a:gd name="adj" fmla="val 13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1457325" y="40195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查询并保存信念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3676650" y="39719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3924300" y="3838575"/>
            <a:ext cx="2895600" cy="571500"/>
          </a:xfrm>
          <a:prstGeom prst="roundRect">
            <a:avLst>
              <a:gd name="adj" fmla="val 13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4772025" y="40195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报备并提交申请</a:t>
            </a:r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6991350" y="39719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68" name=""/>
          <p:cNvSpPr/>
          <p:nvPr/>
        </p:nvSpPr>
        <p:spPr>
          <a:xfrm rot="0" flipH="0" flipV="0">
            <a:off x="7239000" y="3838575"/>
            <a:ext cx="2895600" cy="571500"/>
          </a:xfrm>
          <a:prstGeom prst="roundRect">
            <a:avLst>
              <a:gd name="adj" fmla="val 13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8001000" y="4019550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逐人收到正式更正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609600" y="4543425"/>
            <a:ext cx="2895600" cy="57150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1457325" y="472440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同一模型与窗口</a:t>
            </a:r>
            <a:endParaRPr/>
          </a:p>
        </p:txBody>
      </p:sp>
      <p:sp>
        <p:nvSpPr>
          <p:cNvPr id="672" name=""/>
          <p:cNvSpPr/>
          <p:nvPr/>
        </p:nvSpPr>
        <p:spPr>
          <a:xfrm rot="0" flipH="0" flipV="0">
            <a:off x="3924300" y="4543425"/>
            <a:ext cx="2895600" cy="57150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4772025" y="472440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同一检索与工具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7239000" y="4543425"/>
            <a:ext cx="2895600" cy="57150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8124825" y="4724400"/>
            <a:ext cx="1133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其余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相同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通知纠错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78" name="" descr="&lt;Slide notes={`这套 SOP 是条件式的：每一步都写清触发条件，不按时间硬排。&#13;&#10;&#13;&#10;前半段四条针对查询与申报。还没拿到本次正式通知，就接近公告用真实查询键去查；查到原公告先保存当前信念，再真实向沈禾确认；沈禾收齐三份实际确认，才向公告提交依据与完整申请；公告核对请求者身份后修改状态并回复。&#13;&#10;&#13;&#10;后半段六条针对更正与行动。沈禾拿到正式更正确认就逐人发出内容相同的更正；参与者收到来源明确的最终更正才执行本组记忆处理；此前与同伴交换过地点，就按共同规则转告一次，否则不全员广播。&#13;&#10;&#13;&#10;会址行动前固定检索「本次活动当前正式通知与会址地点」，limit=8。候选建议、待确认申请、引用旧消息，都不能当成新的正式地点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4.4.3　两组共同的条件式 SOP&lt;/Text&gt;&#13;&#10;            &lt;Text style={{ fontSize: 34, fontWeight: 'bold', color: '#20344B' }}&gt;从查询到行动：十条条件式 SOP&lt;/Text&gt;&#13;&#10;        &lt;/Box&gt;&#13;&#10;    &lt;/Box&gt;&#13;&#10;&#13;&#10;    &lt;Box style={{ height: 540, flexDirection: 'row', alignItems: 'center', gap: 32 }}&gt;&#13;&#10;&#13;&#10;        &lt;Box style={{ width: 560, flexDirection: 'column', gap: 10 }}&gt;&#13;&#10;&#13;&#10;            &lt;Text style={{ fontSize: 15, fontWeight: 'bold', color: '#276FBF' }}&gt;前半段　查询与申报　①—④&lt;/Text&gt;&#13;&#10;&#13;&#10;            &lt;Box style={{ width: 560, height: 100, background: '#EDF4FC', borderRadius: 8, flexDirection: 'row', alignItems: 'center', gap: 10, padding: '0 14px' }}&gt;&#13;&#10;                &lt;Box style={{ width: 26, height: 26, background: '#276FBF', borderRadius: 6, justifyContent: 'center', alignItems: 'center' }}&gt;&#13;&#10;                    &lt;Text style={{ fontSize: 13, color: '#FFFFFF' }}&gt;1&lt;/Text&gt;&#13;&#10;                &lt;/Box&gt;&#13;&#10;                &lt;Text style={{ fontSize: 14, color: '#20344B', lineHeight: 1.45, width: 496 }}&gt;尚未取得本次正式通知：接近公告，使用真实查询键查询。&lt;/Text&gt;&#13;&#10;            &lt;/Box&gt;&#13;&#10;&#13;&#10;            &lt;Box style={{ width: 560, height: 100, background: '#EDF4FC', borderRadius: 8, flexDirection: 'row', alignItems: 'center', gap: 10, padding: '0 14px' }}&gt;&#13;&#10;                &lt;Box style={{ width: 26, height: 26, background: '#276FBF', borderRadius: 6, justifyContent: 'center', alignItems: 'center' }}&gt;&#13;&#10;                    &lt;Text style={{ fontSize: 13, color: '#FFFFFF' }}&gt;2&lt;/Text&gt;&#13;&#10;                &lt;/Box&gt;&#13;&#10;                &lt;Text style={{ fontSize: 14, color: '#20344B', lineHeight: 1.45, width: 496 }}&gt;收到原公告：保存当前会址信念，再真实 SPEAK 向沈禾确认。&lt;/Text&gt;&#13;&#10;            &lt;/Box&gt;&#13;&#10;&#13;&#10;            &lt;Box style={{ width: 560, height: 100, background: '#EDF4FC', borderRadius: 8, flexDirection: 'row', alignItems: 'center', gap: 10, padding: '0 14px' }}&gt;&#13;&#10;                &lt;Box style={{ width: 26, height: 26, background: '#276FBF', borderRadius: 6, justifyContent: 'center', alignItems: 'center' }}&gt;&#13;&#10;                    &lt;Text style={{ fontSize: 13, color: '#FFFFFF' }}&gt;3&lt;/Text&gt;&#13;&#10;                &lt;/Box&gt;&#13;&#10;                &lt;Text style={{ fontSize: 14, color: '#20344B', lineHeight: 1.45, width: 496 }}&gt;沈禾收到三份实际确认：向公告提交依据和完整更正申请。&lt;/Text&gt;&#13;&#10;            &lt;/Box&gt;&#13;&#10;&#13;&#10;            &lt;Box style={{ width: 560, height: 100, background: '#EDF4FC', borderRadius: 8, flexDirection: 'row', alignItems: 'center', gap: 10, padding: '0 14px' }}&gt;&#13;&#10;                &lt;Box style={{ width: 26, height: 26, background: '#276FBF', borderRadius: 6, justifyContent: 'center', alignItems: 'center' }}&gt;&#13;&#10;                    &lt;Text style={{ fontSize: 13, color: '#FFFFFF' }}&gt;4&lt;/Text&gt;&#13;&#10;                &lt;/Box&gt;&#13;&#10;                &lt;Text style={{ fontSize: 14, color: '#20344B', lineHeight: 1.45, width: 496 }}&gt;公告处理真实待办，核对注入的请求者身份，再修改自身状态并回复。&lt;/Text&gt;&#13;&#10;            &lt;/Box&gt;&#13;&#10;&#13;&#10;        &lt;/Box&gt;&#13;&#10;&#13;&#10;        &lt;Box style={{ width: 560, flexDirection: 'column', gap: 8 }}&gt;&#13;&#10;&#13;&#10;            &lt;Text style={{ fontSize: 15, fontWeight: 'bold', color: '#26816B' }}&gt;后半段　更正与行动　⑤—⑩&lt;/Text&gt;&#13;&#10;&#13;&#10;            &lt;Box style={{ width: 560, height: 64, background: '#ECF7F2', borderRadius: 8, flexDirection: 'row', alignItems: 'center', gap: 10, padding: '0 14px' }}&gt;&#13;&#10;                &lt;Box style={{ width: 26, height: 26, background: '#26816B', borderRadius: 6, justifyContent: 'center', alignItems: 'center' }}&gt;&#13;&#10;                    &lt;Text style={{ fontSize: 13, color: '#FFFFFF' }}&gt;5&lt;/Text&gt;&#13;&#10;                &lt;/Box&gt;&#13;&#10;                &lt;Text style={{ fontSize: 14, color: '#20344B', lineHeight: 1.4, width: 496 }}&gt;沈禾收到正式更正确认：逐人发出内容相同的正式更正。&lt;/Text&gt;&#13;&#10;            &lt;/Box&gt;&#13;&#10;&#13;&#10;            &lt;Box style={{ width: 560, height: 64, background: '#ECF7F2', borderRadius: 8, flexDirection: 'row', alignItems: 'center', gap: 10, padding: '0 14px' }}&gt;&#13;&#10;                &lt;Box style={{ width: 26, height: 26, background: '#26816B', borderRadius: 6, justifyContent: 'center', alignItems: 'center' }}&gt;&#13;&#10;                    &lt;Text style={{ fontSize: 13, color: '#FFFFFF' }}&gt;6&lt;/Text&gt;&#13;&#10;                &lt;/Box&gt;&#13;&#10;                &lt;Text style={{ fontSize: 14, color: '#20344B', lineHeight: 1.4, width: 496 }}&gt;参与者收到来源明确的最终更正：执行本组记忆处理。&lt;/Text&gt;&#13;&#10;            &lt;/Box&gt;&#13;&#10;&#13;&#10;            &lt;Box style={{ width: 560, height: 64, background: '#FFF4E6', borderRadius: 8, flexDirection: 'row', alignItems: 'center', gap: 10, padding: '0 14px' }}&gt;&#13;&#10;                &lt;Box style={{ width: 26, height: 26, background: '#CB6B28', borderRadius: 6, justifyContent: 'center', alignItems: 'center' }}&gt;&#13;&#10;                    &lt;Text style={{ fontSize: 13, color: '#FFFFFF' }}&gt;7&lt;/Text&gt;&#13;&#10;                &lt;/Box&gt;&#13;&#10;                &lt;Text style={{ fontSize: 14, color: '#20344B', lineHeight: 1.4, width: 496 }}&gt;此前与某同伴交换过地点：按共同规则向其转告一次；否则不全员广播。&lt;/Text&gt;&#13;&#10;            &lt;/Box&gt;&#13;&#10;&#13;&#10;            &lt;Box style={{ width: 560, height: 64, background: '#ECF7F2', borderRadius: 8, flexDirection: 'row', alignItems: 'center', gap: 10, padding: '0 14px' }}&gt;&#13;&#10;                &lt;Box style={{ width: 26, height: 26, background: '#26816B', borderRadius: 6, justifyContent: 'center', alignItems: 'center' }}&gt;&#13;&#10;                    &lt;Text style={{ fontSize: 13, color: '#FFFFFF' }}&gt;8&lt;/Text&gt;&#13;&#10;                &lt;/Box&gt;&#13;&#10;                &lt;Text style={{ fontSize: 14, color: '#20344B', lineHeight: 1.4, width: 496 }}&gt;会址行动前固定检索「本次活动当前正式通知与会址地点」，limit=8。&lt;/Text&gt;&#13;&#10;            &lt;/Box&gt;&#13;&#10;&#13;&#10;            &lt;Box style={{ width: 560, height: 64, background: '#ECF7F2', borderRadius: 8, flexDirection: 'row', alignItems: 'center', gap: 10, padding: '0 14px' }}&gt;&#13;&#10;                &lt;Box style={{ width: 26, height: 26, background: '#26816B', borderRadius: 6, justifyContent: 'center', alignItems: 'center' }}&gt;&#13;&#10;                    &lt;Text style={{ fontSize: 13, color: '#FFFFFF' }}&gt;9&lt;/Text&gt;&#13;&#10;                &lt;/Box&gt;&#13;&#10;                &lt;Text style={{ fontSize: 14, color: '#20344B', lineHeight: 1.4, width: 496 }}&gt;按最新已确认正式通知行动；候选建议、待确认申请、旧消息都不当新正式地点。&lt;/Text&gt;&#13;&#10;            &lt;/Box&gt;&#13;&#10;&#13;&#10;            &lt;Box style={{ width: 560, height: 64, background: '#F4F7FA', borderRadius: 8, flexDirection: 'row', alignItems: 'center', gap: 10, padding: '0 14px' }}&gt;&#13;&#10;                &lt;Box style={{ width: 26, height: 26, background: '#546779', borderRadius: 6, justifyContent: 'center', alignItems: 'center' }}&gt;&#13;&#10;                    &lt;Text style={{ fontSize: 13, color: '#FFFFFF' }}&gt;10&lt;/Text&gt;&#13;&#10;                &lt;/Box&gt;&#13;&#10;                &lt;Text style={{ fontSize: 14, color: '#20344B', lineHeight: 1.4, width: 496 }}&gt;成功 world-act 后结束本轮；动作前写待确认便签，下轮据真实反馈核实。&lt;/Text&gt;&#13;&#10;            &lt;/Box&gt;&#13;&#10;&#13;&#10;        &lt;/Box&gt;&#13;&#10;&#13;&#10;    &lt;/Box&gt;&#13;&#10;&#13;&#10;    &lt;Box style={{ height: 40, flexDirection: 'row', justifyContent: 'space-between', alignItems: 'center' }}&gt;&#13;&#10;        &lt;Text style={{ fontSize: 14, color: '#546779' }}&gt;条件式流程示意，非系统界面截图&lt;/Text&gt;&#13;&#10;        &lt;Text style={{ fontSize: 14, color: '#546779' }}&gt;09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657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4.4.3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两组共同的条件式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6577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从查询到行动：十条条件式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SOP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609600" y="1533525"/>
            <a:ext cx="533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前半段　查询与申报　①—④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609600" y="1800225"/>
            <a:ext cx="5334000" cy="95250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85" name=""/>
          <p:cNvSpPr/>
          <p:nvPr/>
        </p:nvSpPr>
        <p:spPr>
          <a:xfrm rot="0" flipH="0" flipV="0">
            <a:off x="742950" y="21526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828675" y="22002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1085850" y="2162175"/>
            <a:ext cx="47244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尚未取得本次正式通知：接近公告，使用真实查询键查询。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609600" y="2847975"/>
            <a:ext cx="5334000" cy="95250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89" name=""/>
          <p:cNvSpPr/>
          <p:nvPr/>
        </p:nvSpPr>
        <p:spPr>
          <a:xfrm rot="0" flipH="0" flipV="0">
            <a:off x="742950" y="32004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828675" y="32480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1085850" y="3209925"/>
            <a:ext cx="47244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收到原公告：保存当前会址信念，再真实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SPEAK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向沈禾确认。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609600" y="3895725"/>
            <a:ext cx="5334000" cy="95250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93" name=""/>
          <p:cNvSpPr/>
          <p:nvPr/>
        </p:nvSpPr>
        <p:spPr>
          <a:xfrm rot="0" flipH="0" flipV="0">
            <a:off x="742950" y="42481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828675" y="42957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1085850" y="4257675"/>
            <a:ext cx="47244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沈禾收到三份实际确认：向公告提交依据和完整更正申请。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609600" y="4943475"/>
            <a:ext cx="5334000" cy="95250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97" name=""/>
          <p:cNvSpPr/>
          <p:nvPr/>
        </p:nvSpPr>
        <p:spPr>
          <a:xfrm rot="0" flipH="0" flipV="0">
            <a:off x="742950" y="52959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828675" y="53435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1085850" y="5305425"/>
            <a:ext cx="47244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公告处理真实待办，核对注入的请求者身份，再修改自身状态并回复。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6248400" y="1571625"/>
            <a:ext cx="533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后半段　更正与行动　⑤—⑩</a:t>
            </a:r>
            <a:endParaRPr/>
          </a:p>
        </p:txBody>
      </p:sp>
      <p:sp>
        <p:nvSpPr>
          <p:cNvPr id="701" name=""/>
          <p:cNvSpPr/>
          <p:nvPr/>
        </p:nvSpPr>
        <p:spPr>
          <a:xfrm rot="0" flipH="0" flipV="0">
            <a:off x="6248400" y="1819275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02" name=""/>
          <p:cNvSpPr/>
          <p:nvPr/>
        </p:nvSpPr>
        <p:spPr>
          <a:xfrm rot="0" flipH="0" flipV="0">
            <a:off x="6381750" y="20002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6467475" y="20478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6724650" y="2009775"/>
            <a:ext cx="47244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沈禾收到正式更正确认：逐人发出内容相同的正式更正。</a:t>
            </a:r>
            <a:endParaRPr/>
          </a:p>
        </p:txBody>
      </p:sp>
      <p:sp>
        <p:nvSpPr>
          <p:cNvPr id="705" name=""/>
          <p:cNvSpPr/>
          <p:nvPr/>
        </p:nvSpPr>
        <p:spPr>
          <a:xfrm rot="0" flipH="0" flipV="0">
            <a:off x="6248400" y="2505075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06" name=""/>
          <p:cNvSpPr/>
          <p:nvPr/>
        </p:nvSpPr>
        <p:spPr>
          <a:xfrm rot="0" flipH="0" flipV="0">
            <a:off x="6381750" y="26860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6467475" y="27336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6724650" y="2695575"/>
            <a:ext cx="47244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参与者收到来源明确的最终更正：执行本组记忆处理。</a:t>
            </a:r>
            <a:endParaRPr/>
          </a:p>
        </p:txBody>
      </p:sp>
      <p:sp>
        <p:nvSpPr>
          <p:cNvPr id="709" name=""/>
          <p:cNvSpPr/>
          <p:nvPr/>
        </p:nvSpPr>
        <p:spPr>
          <a:xfrm rot="0" flipH="0" flipV="0">
            <a:off x="6248400" y="3190875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10" name=""/>
          <p:cNvSpPr/>
          <p:nvPr/>
        </p:nvSpPr>
        <p:spPr>
          <a:xfrm rot="0" flipH="0" flipV="0">
            <a:off x="6381750" y="33718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6467475" y="34194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6724650" y="3381375"/>
            <a:ext cx="47244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此前与某同伴交换过地点：按共同规则向其转告一次；否则不全员广播。</a:t>
            </a:r>
            <a:endParaRPr/>
          </a:p>
        </p:txBody>
      </p:sp>
      <p:sp>
        <p:nvSpPr>
          <p:cNvPr id="713" name=""/>
          <p:cNvSpPr/>
          <p:nvPr/>
        </p:nvSpPr>
        <p:spPr>
          <a:xfrm rot="0" flipH="0" flipV="0">
            <a:off x="6248400" y="3876675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14" name=""/>
          <p:cNvSpPr/>
          <p:nvPr/>
        </p:nvSpPr>
        <p:spPr>
          <a:xfrm rot="0" flipH="0" flipV="0">
            <a:off x="6381750" y="40576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6467475" y="41052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6724650" y="4067175"/>
            <a:ext cx="47244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会址行动前固定检索「本次活动当前正式通知与会址地点」，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limit=8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17" name=""/>
          <p:cNvSpPr/>
          <p:nvPr/>
        </p:nvSpPr>
        <p:spPr>
          <a:xfrm rot="0" flipH="0" flipV="0">
            <a:off x="6248400" y="4562475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18" name=""/>
          <p:cNvSpPr/>
          <p:nvPr/>
        </p:nvSpPr>
        <p:spPr>
          <a:xfrm rot="0" flipH="0" flipV="0">
            <a:off x="6381750" y="47434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6467475" y="47910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6724650" y="4638675"/>
            <a:ext cx="47244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按最新已确认正式通知行动；候选建议、待确认申请、旧消息都不当新正式地点。</a:t>
            </a:r>
            <a:endParaRPr/>
          </a:p>
        </p:txBody>
      </p:sp>
      <p:sp>
        <p:nvSpPr>
          <p:cNvPr id="721" name=""/>
          <p:cNvSpPr/>
          <p:nvPr/>
        </p:nvSpPr>
        <p:spPr>
          <a:xfrm rot="0" flipH="0" flipV="0">
            <a:off x="6248400" y="5248275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22" name=""/>
          <p:cNvSpPr/>
          <p:nvPr/>
        </p:nvSpPr>
        <p:spPr>
          <a:xfrm rot="0" flipH="0" flipV="0">
            <a:off x="6381750" y="54292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6429375" y="547687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6724650" y="5438775"/>
            <a:ext cx="47244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成功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world-act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后结束本轮；动作前写待确认便签，下轮据真实反馈核实。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条件式流程示意，非系统界面截图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41" name="" descr="&lt;Slide notes={`还有两个前提必须在方法里写清楚，不然结论会被误读。&#10;&#10;第一个是检索方式。当前用的是 file_lexical，不是向量检索，所以同一个问题有可能取回不同的有效节点。这意味着即使旧信念还躺在记忆里，也不一定每次都被取回来。&#10;&#10;第二个是地址记忆和导航知识是两套东西。更新会址信念不会自动改变导航知识，所以这个案子里故意让所有人一开始就知道两间厅的位置，把「不认路」这个因素先控制住。&#10;&#10;反过来也要提醒：基线组也可能同时检索到旧、新两条消息，然后选对了；对照组没收到正式更正，也不会自动正确。零过期不等于传播全面，还得同时看覆盖率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4.3　两组共同的条件式 SOP&lt;/Text&gt;&#10;            &lt;Text style={{ fontSize: 34, fontWeight: 'bold', color: '#20344B' }}&gt;检索与导航：两个必须写清的前提&lt;/Text&gt;&#10;        &lt;/Box&gt;&#10;    &lt;/Box&gt;&#10;&#10;    &lt;Box style={{ height: 540, flexDirection: 'row', alignItems: 'center', gap: 32 }}&gt;&#10;&#10;        &lt;Box style={{ width: 508, flexDirection: 'column', gap: 12 }}&gt;&#10;&#10;            &lt;Box style={{ width: 508, background: '#FFF4E6', borderRadius: 10, padding: '20px 22px', flexDirection: 'column', gap: 8 }}&gt;&#10;                &lt;Text style={{ fontSize: 19, fontWeight: 'bold', color: '#CB6B28' }}&gt;检索是 file_lexical&lt;/Text&gt;&#10;                &lt;Text style={{ fontSize: 15, color: '#546779', lineHeight: 1.65 }}&gt;不是向量检索。相同的问题可能取回不同的有效节点，所以旧信念不是每次都会被取回来。&lt;/Text&gt;&#10;            &lt;/Box&gt;&#10;&#10;            &lt;Box style={{ width: 508, background: '#EDF4FC', borderRadius: 10, padding: '20px 22px', flexDirection: 'column', gap: 8 }}&gt;&#10;                &lt;Text style={{ fontSize: 19, fontWeight: 'bold', color: '#276FBF' }}&gt;地址记忆不更新导航知识&lt;/Text&gt;&#10;                &lt;Text style={{ fontSize: 15, color: '#546779', lineHeight: 1.65 }}&gt;本案预知同样场所，就是为了控制这一因素：不认路不参与解释结果。&lt;/Text&gt;&#10;            &lt;/Box&gt;&#10;&#10;        &lt;/Box&gt;&#10;&#10;        &lt;Box style={{ width: 612, flexDirection: 'column', gap: 12 }}&gt;&#10;&#10;            &lt;Box style={{ width: 612, height: 100, background: '#F4F7FA', borderRadius: 8, flexDirection: 'row', alignItems: 'center', gap: 14, padding: '0 18px' }}&gt;&#10;                &lt;Box style={{ width: 4, height: 56, background: '#276FBF' }} /&gt;&#10;                &lt;Box style={{ flexDirection: 'column', gap: 4 }}&gt;&#10;                    &lt;Text style={{ fontSize: 16, fontWeight: 'bold', color: '#20344B' }}&gt;基线也可能同时看到旧、新消息而选对&lt;/Text&gt;&#10;                    &lt;Text style={{ fontSize: 14, color: '#546779', lineHeight: 1.5 }}&gt;limit=8 只是把候选放在一起，最后选哪一条仍由模型判断。&lt;/Text&gt;&#10;                &lt;/Box&gt;&#10;            &lt;/Box&gt;&#10;&#10;            &lt;Box style={{ width: 612, height: 100, background: '#F4F7FA', borderRadius: 8, flexDirection: 'row', alignItems: 'center', gap: 14, padding: '0 18px' }}&gt;&#10;                &lt;Box style={{ width: 4, height: 56, background: '#276FBF' }} /&gt;&#10;                &lt;Box style={{ flexDirection: 'column', gap: 4 }}&gt;&#10;                    &lt;Text style={{ fontSize: 16, fontWeight: 'bold', color: '#20344B' }}&gt;对照没收到通知，也不会自动正确&lt;/Text&gt;&#10;                    &lt;Text style={{ fontSize: 14, color: '#546779', lineHeight: 1.5 }}&gt;没有真实更正进入决策输入，个人纠错窗口根本没有开始。&lt;/Text&gt;&#10;                &lt;/Box&gt;&#10;            &lt;/Box&gt;&#10;&#10;            &lt;Box style={{ width: 612, height: 100, background: '#F4F7FA', borderRadius: 8, flexDirection: 'row', alignItems: 'center', gap: 14, padding: '0 18px' }}&gt;&#10;                &lt;Box style={{ width: 4, height: 56, background: '#276FBF' }} /&gt;&#10;                &lt;Box style={{ flexDirection: 'column', gap: 4 }}&gt;&#10;                    &lt;Text style={{ fontSize: 16, fontWeight: 'bold', color: '#20344B' }}&gt;一次限量检索没返回旧节点，不足以证明纠正&lt;/Text&gt;&#10;                    &lt;Text style={{ fontSize: 14, color: '#546779', lineHeight: 1.5 }}&gt;要同时看节点有效态，和固定问题下的真实检索结果。&lt;/Text&gt;&#10;                &lt;/Box&gt;&#10;            &lt;/Box&gt;&#10;&#10;            &lt;Box style={{ width: 612, background: '#ECF7F2', borderRadius: 8, padding: '16px 20px', flexDirection: 'column', gap: 4 }}&gt;&#10;                &lt;Text style={{ fontSize: 17, fontWeight: 'bold', color: '#26816B' }}&gt;零过期不等于传播全面&lt;/Text&gt;&#10;                &lt;Text style={{ fontSize: 14, color: '#546779', lineHeight: 1.5 }}&gt;先看覆盖率：有多少人真的收到了来源明确的最终更正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4 通知纠错&lt;/Text&gt;&#10;        &lt;Text style={{ fontSize: 14, color: '#546779' }}&gt;1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4.4.3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两组共同的条件式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检索与导航：两个必须写清的前提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09600" y="2409825"/>
            <a:ext cx="4838700" cy="1247775"/>
          </a:xfrm>
          <a:prstGeom prst="roundRect">
            <a:avLst>
              <a:gd name="adj" fmla="val 763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19150" y="2600325"/>
            <a:ext cx="4419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检索是</a:t>
            </a:r>
            <a:r>
              <a:rPr lang="en-US" sz="14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file_lexical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19150" y="2895600"/>
            <a:ext cx="44196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不是向量检索。相同的问题可能取回不同的有效节点，所以旧信念不是每次都会被取回来。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09600" y="3771900"/>
            <a:ext cx="4838700" cy="1247775"/>
          </a:xfrm>
          <a:prstGeom prst="roundRect">
            <a:avLst>
              <a:gd name="adj" fmla="val 763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19150" y="3962400"/>
            <a:ext cx="4419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地址记忆不更新导航知识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19150" y="4257675"/>
            <a:ext cx="44196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本案预知同样场所，就是为了控制这一因素：不认路不参与解释结果。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5753100" y="1724025"/>
            <a:ext cx="5829300" cy="9525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5924550" y="193357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096000" y="1962150"/>
            <a:ext cx="3571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基线也可能同时看到旧、新消息而选对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096000" y="2190750"/>
            <a:ext cx="35718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limit=8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只是把候选放在一起，最后选哪一条仍由模型判断。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5753100" y="2790825"/>
            <a:ext cx="5829300" cy="9525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5924550" y="300037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096000" y="3028950"/>
            <a:ext cx="3467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对照没收到通知，也不会自动正确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096000" y="3257550"/>
            <a:ext cx="3467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没有真实更正进入决策输入，个人纠错窗口根本没有开始。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5753100" y="3857625"/>
            <a:ext cx="5829300" cy="9525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5924550" y="406717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096000" y="4095750"/>
            <a:ext cx="320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一次限量检索没返回旧节点，不足以证明纠正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096000" y="4324350"/>
            <a:ext cx="3200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要同时看节点有效态，和固定问题下的真实检索结果。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5753100" y="4924425"/>
            <a:ext cx="5829300" cy="790575"/>
          </a:xfrm>
          <a:prstGeom prst="roundRect">
            <a:avLst>
              <a:gd name="adj" fmla="val 963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943600" y="5076825"/>
            <a:ext cx="5448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零过期不等于传播全面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943600" y="5314950"/>
            <a:ext cx="54483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先看覆盖率：有多少人真的收到了来源明确的最终更正。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通知纠错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9" name="" descr="&lt;Slide notes={`现在讲本节唯一的变化。&#10;&#10;两条会址分支写进记忆的新内容是完全相同的，都写着本次正式会址改为杉厅、来源是正式更正，以及生效时间。操作不同在哪里？区别只在原来那条「本次正式会址为杏厅」的当前信念，还剩不剩下有效状态。&#10;&#10;基线组用追加：新信念进来了，旧的那条也还活着，两条都在有效态里。对照组用替代：用相同的新内容替换掉旧的那条，旧节点保留在历史里，但不再作为当前有效信念被检索。&#10;&#10;这一步为什么值得单独做实验？因为很多系统默认就是追加，谁也没规定新消息一定让旧消息失效。而人物在行动前要检索一次，如果检索把旧的那条取回来，他就可能照旧走去杏厅。`} style={{ width: 1280, height: 720, background: '#FFFFFF', flexDirection: 'column', padding: '20px 64px' }}&gt;&#10;&#10;    &lt;Box style={{ height: 640, flexDirection: 'column', justifyContent: 'center', gap: 20 }}&gt;&#10;&#10;        &lt;Text style={{ fontSize: 15, color: '#276FBF' }}&gt;3　　4.4.4&lt;/Text&gt;&#10;&#10;        &lt;Text style={{ fontSize: 56, fontWeight: 'bold', color: '#20344B', lineHeight: 1.15 }}&gt;唯一变化：旧信念还算不算数&lt;/Text&gt;&#10;&#10;        &lt;Box style={{ width: 72, height: 4, background: '#276FBF' }} /&gt;&#10;&#10;        &lt;Text style={{ fontSize: 18, color: '#546779', lineHeight: 1.7, width: 900 }}&gt;写进去的新内容完全相同，变的只是原来那条当前会址信念是否还在有效态里。&lt;/Text&gt;&#10;&#10;        &lt;Box style={{ flexDirection: 'row', alignItems: 'center', marginTop: 10 }}&gt;&#10;            &lt;Box style={{ width: 300, height: 140, background: '#F4F7FA', borderRadius: 8, flexDirection: 'column', justifyContent: 'center', alignItems: 'center', gap: 5 }}&gt;&#10;                &lt;Text style={{ fontSize: 15, color: '#546779' }}&gt;当前信念&lt;/Text&gt;&#10;                &lt;Text style={{ fontSize: 17, fontWeight: 'bold', color: '#20344B' }}&gt;本次正式会址为杏厅&lt;/Text&gt;&#10;                &lt;Text style={{ fontSize: 13, color: '#546779' }}&gt;使用实际存储的记忆 ID&lt;/Text&gt;&#10;            &lt;/Box&gt;&#10;            &lt;Box style={{ width: 44, height: 140, justifyContent: 'center', alignItems: 'center' }}&gt;&#10;                &lt;Text style={{ fontSize: 26, color: '#276FBF' }}&gt;›&lt;/Text&gt;&#10;            &lt;/Box&gt;&#10;            &lt;Box style={{ width: 380, flexDirection: 'column', gap: 8 }}&gt;&#10;                &lt;Box style={{ width: 380, height: 66, background: '#FFF4E6', borderRadius: 8, justifyContent: 'center', alignItems: 'center' }}&gt;&#10;                    &lt;Text style={{ fontSize: 16, fontWeight: 'bold', color: '#CB6B28' }}&gt;追加：旧当前信念仍有效&lt;/Text&gt;&#10;                &lt;/Box&gt;&#10;                &lt;Box style={{ width: 380, height: 66, background: '#ECF7F2', borderRadius: 8, justifyContent: 'center', alignItems: 'center' }}&gt;&#10;                    &lt;Text style={{ fontSize: 16, fontWeight: 'bold', color: '#26816B' }}&gt;替代：旧节点退出有效态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4.4 通知纠错&lt;/Text&gt;&#10;        &lt;Text style={{ fontSize: 14, color: '#546779' }}&gt;1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09600" y="14954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4.4.4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09600" y="18573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唯一变化：旧信念还算不算数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09600" y="27908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09600" y="3019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写进去的新内容完全相同，变的只是原来那条当前会址信念是否还在有效态里。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609600" y="3657600"/>
            <a:ext cx="2857500" cy="133350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752600" y="40195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当前信念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314450" y="4238625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本次正式会址为杏厅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400175" y="4486275"/>
            <a:ext cx="1285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使用实际存储的记忆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3638550" y="41719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3886200" y="3657600"/>
            <a:ext cx="3619500" cy="628650"/>
          </a:xfrm>
          <a:prstGeom prst="roundRect">
            <a:avLst>
              <a:gd name="adj" fmla="val 121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857750" y="3876675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追加：旧当前信念仍有效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3886200" y="4362450"/>
            <a:ext cx="3619500" cy="628650"/>
          </a:xfrm>
          <a:prstGeom prst="roundRect">
            <a:avLst>
              <a:gd name="adj" fmla="val 1212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857750" y="4581525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替代：旧节点退出有效态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通知纠错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6" name="" descr="&lt;Slide notes={`把两条路并排看，四个比较项。&#13;&#10;&#13;&#10;一，写进去的新内容两组完全一样：本次正式会址改为杉厅，写明来源和生效时间。二，原有当前信念：基线保留其有效态，还能被检索取回；对照用新内容替代它，退出默认有效检索。三，工具不同，一个是 append，一个是 supersede。四，记忆 ID：基线新增一条不引用旧 ID，对照必须用旧信念的真实记忆 ID。&#13;&#10;&#13;&#10;两组都保留历史观察：09:30 曾读到杏厅旧公告这种经历，不会因为后来改了而变成假的。&#13;&#10;&#13;&#10;替代的是「目前在哪里举行」，不是「09:30 曾经看过什么」。纠错不需要删除过去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4.4.4　唯一变化：追加还是替代当前信念&lt;/Text&gt;&#13;&#10;            &lt;Text style={{ fontSize: 34, fontWeight: 'bold', color: '#20344B' }}&gt;同一新内容，两种旧信念处理&lt;/Text&gt;&#13;&#10;        &lt;/Box&gt;&#13;&#10;    &lt;/Box&gt;&#13;&#10;&#13;&#10;    &lt;Box style={{ height: 540, flexDirection: 'column', justifyContent: 'center', gap: 10 }}&gt;&#13;&#10;&#13;&#10;        &lt;Text style={{ fontSize: 16, color: '#546779' }}&gt;写进去的新内容完全相同；差别只在旧「当前信念」是否仍在有效态。&lt;/Text&gt;&#13;&#10;&#13;&#10;        &lt;Box style={{ flexDirection: 'row', gap: 16, padding: '0 16px', alignItems: 'center' }}&gt;&#13;&#10;            &lt;Box style={{ width: 220 }}&gt;&lt;Text style={{ fontSize: 15, color: '#546779' }}&gt;比较项&lt;/Text&gt;&lt;/Box&gt;&#13;&#10;            &lt;Box style={{ width: 434 }}&gt;&lt;Text style={{ fontSize: 16, fontWeight: 'bold', color: '#CB6B28' }}&gt;基线　append 追加&lt;/Text&gt;&lt;/Box&gt;&#13;&#10;            &lt;Box style={{ width: 434 }}&gt;&lt;Text style={{ fontSize: 16, fontWeight: 'bold', color: '#26816B' }}&gt;对照　supersede 替代&lt;/Text&gt;&lt;/Box&gt;&#13;&#10;        &lt;/Box&gt;&#13;&#10;&#13;&#10;        &lt;Box style={{ flexDirection: 'row', alignItems: 'center', height: 84, background: '#F4F7FA', borderRadius: 10, padding: '0 16px', gap: 16 }}&gt;&#13;&#10;            &lt;Box style={{ width: 220 }}&gt;&lt;Text style={{ fontSize: 17, fontWeight: 'bold', color: '#20344B' }}&gt;写入的新内容&lt;/Text&gt;&lt;/Box&gt;&#13;&#10;            &lt;Box style={{ width: 434 }}&gt;&lt;Text style={{ fontSize: 15, color: '#20344B', lineHeight: 1.5 }}&gt;本次正式会址改为杉厅，写明来源与生效时间&lt;/Text&gt;&lt;/Box&gt;&#13;&#10;            &lt;Box style={{ width: 434 }}&gt;&lt;Text style={{ fontSize: 15, color: '#20344B', lineHeight: 1.5 }}&gt;与基线完全相同&lt;/Text&gt;&lt;/Box&gt;&#13;&#10;        &lt;/Box&gt;&#13;&#10;&#13;&#10;        &lt;Box style={{ flexDirection: 'row', alignItems: 'center', height: 84, background: '#F4F7FA', borderRadius: 10, padding: '0 16px', gap: 16 }}&gt;&#13;&#10;            &lt;Box style={{ width: 220 }}&gt;&lt;Text style={{ fontSize: 17, fontWeight: 'bold', color: '#20344B' }}&gt;原有当前信念&lt;/Text&gt;&lt;/Box&gt;&#13;&#10;            &lt;Box style={{ width: 434 }}&gt;&#13;&#10;                &lt;Box style={{ width: 434, height: 56, background: '#FFF4E6', borderRadius: 8, justifyContent: 'center', padding: '0 14px' }}&gt;&#13;&#10;                    &lt;Text style={{ fontSize: 15, fontWeight: 'bold', color: '#CB6B28' }}&gt;仍在有效态，可被检索取回&lt;/Text&gt;&#13;&#10;                &lt;/Box&gt;&#13;&#10;            &lt;/Box&gt;&#13;&#10;            &lt;Box style={{ width: 434 }}&gt;&#13;&#10;                &lt;Box style={{ width: 434, height: 56, background: '#ECF7F2', borderRadius: 8, justifyContent: 'center', padding: '0 14px' }}&gt;&#13;&#10;                    &lt;Text style={{ fontSize: 15, fontWeight: 'bold', color: '#26816B' }}&gt;被替代，退出默认有效检索&lt;/Text&gt;&#13;&#10;                &lt;/Box&gt;&#13;&#10;            &lt;/Box&gt;&#13;&#10;        &lt;/Box&gt;&#13;&#10;&#13;&#10;        &lt;Box style={{ flexDirection: 'row', alignItems: 'center', height: 84, background: '#F4F7FA', borderRadius: 10, padding: '0 16px', gap: 16 }}&gt;&#13;&#10;            &lt;Box style={{ width: 220 }}&gt;&lt;Text style={{ fontSize: 17, fontWeight: 'bold', color: '#20344B' }}&gt;使用的写入操作&lt;/Text&gt;&lt;/Box&gt;&#13;&#10;            &lt;Box style={{ width: 434 }}&gt;&lt;Text style={{ fontSize: 15, color: '#276FBF', lineHeight: 1.5 }}&gt;memory-stream-append&lt;/Text&gt;&lt;/Box&gt;&#13;&#10;            &lt;Box style={{ width: 434 }}&gt;&lt;Text style={{ fontSize: 15, color: '#26816B', lineHeight: 1.5 }}&gt;memory-stream-supersede&lt;/Text&gt;&lt;/Box&gt;&#13;&#10;        &lt;/Box&gt;&#13;&#10;&#13;&#10;        &lt;Box style={{ flexDirection: 'row', alignItems: 'center', height: 84, background: '#F4F7FA', borderRadius: 10, padding: '0 16px', gap: 16 }}&gt;&#13;&#10;            &lt;Box style={{ width: 220 }}&gt;&lt;Text style={{ fontSize: 17, fontWeight: 'bold', color: '#20344B' }}&gt;记忆 ID&lt;/Text&gt;&lt;/Box&gt;&#13;&#10;            &lt;Box style={{ width: 434 }}&gt;&lt;Text style={{ fontSize: 15, color: '#20344B', lineHeight: 1.5 }}&gt;新增一条，不引用旧 ID&lt;/Text&gt;&lt;/Box&gt;&#13;&#10;            &lt;Box style={{ width: 434 }}&gt;&lt;Text style={{ fontSize: 15, color: '#20344B', lineHeight: 1.5 }}&gt;使用旧信念的真实记忆 ID&lt;/Text&gt;&lt;/Box&gt;&#13;&#10;        &lt;/Box&gt;&#13;&#10;&#13;&#10;        &lt;Box style={{ flexDirection: 'row', alignItems: 'center', height: 70, background: '#F7F3E8', borderRadius: 10, padding: '0 16px', gap: 16 }}&gt;&#13;&#10;            &lt;Box style={{ width: 220 }}&gt;&lt;Text style={{ fontSize: 16, fontWeight: 'bold', color: '#20344B' }}&gt;历史观察&lt;/Text&gt;&lt;/Box&gt;&#13;&#10;            &lt;Box style={{ width: 884 }}&gt;&lt;Text style={{ fontSize: 15, color: '#546779', lineHeight: 1.5 }}&gt;两组均保留历史观察与消息证据（09:30 是观察示例）：后来变化不使这段经历变假。&lt;/Text&gt;&lt;/Box&gt;&#13;&#10;        &lt;/Box&gt;&#13;&#10;&#13;&#10;    &lt;/Box&gt;&#13;&#10;&#13;&#10;    &lt;Box style={{ height: 40, flexDirection: 'row', justifyContent: 'space-between', alignItems: 'center' }}&gt;&#13;&#10;        &lt;Text style={{ fontSize: 14, color: '#546779' }}&gt;记忆状态示意图，非系统截图、非 Run 结果&lt;/Text&gt;&#13;&#10;        &lt;Text style={{ fontSize: 14, color: '#546779' }}&gt;12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4.4.4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唯一变化：追加还是替代当前信念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同一新内容，两种旧信念处理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09600" y="13049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写进去的新内容完全相同；差别只在旧「当前信念」是否仍在有效态。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62000" y="1600200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比较项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3009900" y="1590675"/>
            <a:ext cx="413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基线　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append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追加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296150" y="1590675"/>
            <a:ext cx="413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对照　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supersede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替代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09600" y="187642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62000" y="2181225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写入的新内容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3009900" y="2152650"/>
            <a:ext cx="41338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本次正式会址改为杉厅，写明来源与生效时间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296150" y="2152650"/>
            <a:ext cx="41338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与基线完全相同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609600" y="277177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62000" y="3076575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原有当前信念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3009900" y="2905125"/>
            <a:ext cx="413385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143250" y="3086100"/>
            <a:ext cx="3867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仍在有效态，可被检索取回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7296150" y="2905125"/>
            <a:ext cx="413385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429500" y="3086100"/>
            <a:ext cx="3867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被替代，退出默认有效检索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09600" y="366712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62000" y="3971925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使用的写入操作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3009900" y="3943350"/>
            <a:ext cx="41338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memory-stream-append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296150" y="3943350"/>
            <a:ext cx="41338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>memory-stream-supersede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609600" y="456247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62000" y="4867275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记忆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3009900" y="4838700"/>
            <a:ext cx="41338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新增一条，不引用旧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296150" y="4838700"/>
            <a:ext cx="41338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使用旧信念的真实记忆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09600" y="5457825"/>
            <a:ext cx="10972800" cy="666750"/>
          </a:xfrm>
          <a:prstGeom prst="roundRect">
            <a:avLst>
              <a:gd name="adj" fmla="val 1428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62000" y="5695950"/>
            <a:ext cx="209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历史观察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3009900" y="5667375"/>
            <a:ext cx="8420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两组均保留历史观察与消息证据（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09:30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是观察示例）：后来变化不使这段经历变假。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600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记忆状态示意图，非系统截图、非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结果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18" name="" descr="&lt;Slide notes={`把两组写进记忆的原话摆出来对照。&#13;&#10;&#13;&#10;基线：收到正式更正后，用 memory-stream-append 追加一条当前正式会址的新信念，写明来源和生效时间，并保留原会址信念的有效态。&#13;&#10;&#13;&#10;对照：收到正式更正后，用 memory-stream-supersede 替代此前那条当前会址信念，使用其真实记忆 ID，新内容与基线完全相同，并写明更正的理由。&#13;&#10;&#13;&#10;关键在最后这句共同条件：工具可用性、检索方式、其余 SOP、模型与窗口都一样。替代的是「目前在哪里举行」，不是「09:30 曾看过杏厅旧公告」，历史观察留在那里。只撤销、不给新内容的 invalidate 是另一场实验，不能混进这一次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4.4.4　唯一变化：追加还是替代当前信念&lt;/Text&gt;&#13;&#10;            &lt;Text style={{ fontSize: 34, fontWeight: 'bold', color: '#20344B' }}&gt;两组写进记忆的原话&lt;/Text&gt;&#13;&#10;        &lt;/Box&gt;&#13;&#10;    &lt;/Box&gt;&#13;&#10;&#13;&#10;    &lt;Box style={{ height: 540, flexDirection: 'column', justifyContent: 'center', gap: 14 }}&gt;&#13;&#10;&#13;&#10;        &lt;Box style={{ height: 146, background: '#EDF4FC', borderRadius: 10, flexDirection: 'row', alignItems: 'center', gap: 18, padding: '0 24px' }}&gt;&#13;&#10;            &lt;Box style={{ width: 4, height: 96, background: '#276FBF' }} /&gt;&#13;&#10;            &lt;Box style={{ flexDirection: 'column', gap: 8 }}&gt;&#13;&#10;                &lt;Text style={{ fontSize: 16, fontWeight: 'bold', color: '#276FBF' }}&gt;基线　memory-stream-append&lt;/Text&gt;&#13;&#10;                &lt;Text style={{ fontSize: 17, color: '#20344B', lineHeight: 1.7, width: 1040 }}&gt;收到正式更正后，追加一条当前正式会址的新信念，写明来源和生效时间；保留原会址信念的有效态。&lt;/Text&gt;&#13;&#10;            &lt;/Box&gt;&#13;&#10;        &lt;/Box&gt;&#13;&#10;&#13;&#10;        &lt;Box style={{ height: 146, background: '#ECF7F2', borderRadius: 10, flexDirection: 'row', alignItems: 'center', gap: 18, padding: '0 24px' }}&gt;&#13;&#10;            &lt;Box style={{ width: 4, height: 96, background: '#26816B' }} /&gt;&#13;&#10;            &lt;Box style={{ flexDirection: 'column', gap: 8 }}&gt;&#13;&#10;                &lt;Text style={{ fontSize: 16, fontWeight: 'bold', color: '#26816B' }}&gt;对照　memory-stream-supersede&lt;/Text&gt;&#13;&#10;                &lt;Text style={{ fontSize: 17, color: '#20344B', lineHeight: 1.7, width: 1040 }}&gt;收到正式更正后，替代此前那条当前会址信念，使用其真实记忆 ID；新内容与基线完全相同，并写明正式更正的理由。&lt;/Text&gt;&#13;&#10;            &lt;/Box&gt;&#13;&#10;        &lt;/Box&gt;&#13;&#10;&#13;&#10;        &lt;Box style={{ height: 128, background: '#F4F7FA', borderRadius: 10, flexDirection: 'column', justifyContent: 'center', gap: 8, padding: '0 24px' }}&gt;&#13;&#10;            &lt;Text style={{ fontSize: 17, fontWeight: 'bold', color: '#20344B' }}&gt;两条分支的共同条件&lt;/Text&gt;&#13;&#10;            &lt;Text style={{ fontSize: 15, color: '#546779', lineHeight: 1.65, width: 1100 }}&gt;工具可用性、检索方式、其余 SOP、模型与窗口完全相同。替代的是「目前在哪里举行」，不是「09:30 曾看过杏厅旧公告」。只有撤销、没有替代内容的 invalidate 留作另一实验。&lt;/Text&gt;&#13;&#10;        &lt;/Box&gt;&#13;&#10;&#13;&#10;    &lt;/Box&gt;&#13;&#10;&#13;&#10;    &lt;Box style={{ height: 40, flexDirection: 'row', justifyContent: 'space-between', alignItems: 'center' }}&gt;&#13;&#10;        &lt;Text style={{ fontSize: 14, color: '#546779' }}&gt;引文为教案设定的记忆规则原文，非系统截图&lt;/Text&gt;&#13;&#10;        &lt;Text style={{ fontSize: 14, color: '#546779' }}&gt;13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4.4.4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唯一变化：追加还是替代当前信念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两组写进记忆的原话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609600" y="1581150"/>
            <a:ext cx="10972800" cy="1390650"/>
          </a:xfrm>
          <a:prstGeom prst="roundRect">
            <a:avLst>
              <a:gd name="adj" fmla="val 684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838200" y="1819275"/>
            <a:ext cx="38100" cy="914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047750" y="1981200"/>
            <a:ext cx="990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基线　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memory-stream-append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047750" y="2247900"/>
            <a:ext cx="99060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收到正式更正后，追加一条当前正式会址的新信念，写明来源和生效时间；保留原会址信念的有效态。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609600" y="3105150"/>
            <a:ext cx="10972800" cy="1390650"/>
          </a:xfrm>
          <a:prstGeom prst="roundRect">
            <a:avLst>
              <a:gd name="adj" fmla="val 684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838200" y="3343275"/>
            <a:ext cx="38100" cy="914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047750" y="3505200"/>
            <a:ext cx="990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对照　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memory-stream-supersede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047750" y="3771900"/>
            <a:ext cx="99060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收到正式更正后，替代此前那条当前会址信念，使用其真实记忆</a:t>
            </a: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；新内容与基线完全相同，并写明正式更正的理由。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09600" y="4629150"/>
            <a:ext cx="10972800" cy="1219200"/>
          </a:xfrm>
          <a:prstGeom prst="roundRect">
            <a:avLst>
              <a:gd name="adj" fmla="val 781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38200" y="4819650"/>
            <a:ext cx="1051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两条分支的共同条件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38200" y="5095875"/>
            <a:ext cx="10477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工具可用性、检索方式、其余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、模型与窗口完全相同。替代的是「目前在哪里举行」，不是「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09:30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曾看过杏厅旧公告」。只有撤销、没有替代内容的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invalidate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留作另一实验。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引文为教案设定的记忆规则原文，非系统截图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36" name="" descr="&lt;Slide notes={`还有一个必须提前写清的分支：找不到旧节点怎么办。&#10;&#10;两组都要先去检索那条真实的旧信念节点，用的是同一个固定问题和同样的 limit=8。如果找不到，两组的做法也一样——都追加新信念，不做替代。这个时候必须如实登记「干预未实施」，因为对照组实际上退化成了基线，这一批数据不能拿来证明替代有效。&#10;&#10;还有两条纪律：不能编造一个记忆 ID 来假装替代成功；也不能只给对照组额外查询机会，那样两组条件就不一样了。&#10;&#10;把这几种情况都写进预登记，是因为实验的价值在于条件真的被遵守，而不是结果看起来漂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4.4　唯一变化：追加还是替代当前信念&lt;/Text&gt;&#10;            &lt;Text style={{ fontSize: 34, fontWeight: 'bold', color: '#20344B' }}&gt;找不到旧节点，两组同样追加&lt;/Text&gt;&#10;        &lt;/Box&gt;&#10;    &lt;/Box&gt;&#10;&#10;    &lt;Box style={{ height: 540, flexDirection: 'column', justifyContent: 'center', gap: 12 }}&gt;&#10;&#10;        &lt;Text style={{ fontSize: 16, color: '#546779' }}&gt;替代要落在一条真实的旧节点上；找不到的时候，两组条件会重新合流。&lt;/Text&gt;&#10;&#10;        &lt;Box style={{ height: 112, background: '#F4F7FA', borderRadius: 10, flexDirection: 'row', alignItems: 'center', gap: 18, padding: '0 20px' }}&gt;&#10;            &lt;Box style={{ width: 4, height: 64, background: '#276FBF' }} /&gt;&#10;            &lt;Box style={{ flexDirection: 'column', gap: 5 }}&gt;&#10;                &lt;Text style={{ fontSize: 18, fontWeight: 'bold', color: '#20344B' }}&gt;两组都先找真实旧节点&lt;/Text&gt;&#10;                &lt;Text style={{ fontSize: 15, color: '#546779', lineHeight: 1.5 }}&gt;同一个检索问题、同样的 limit=8；不允许编造记忆 ID 来凑出一次替代。&lt;/Text&gt;&#10;            &lt;/Box&gt;&#10;        &lt;/Box&gt;&#10;&#10;        &lt;Box style={{ height: 112, background: '#EDF4FC', borderRadius: 10, flexDirection: 'row', alignItems: 'center', gap: 18, padding: '0 20px' }}&gt;&#10;            &lt;Box style={{ width: 4, height: 64, background: '#276FBF' }} /&gt;&#10;            &lt;Box style={{ flexDirection: 'column', gap: 5 }}&gt;&#10;                &lt;Text style={{ fontSize: 18, fontWeight: 'bold', color: '#276FBF' }}&gt;找不到时，两组同样追加&lt;/Text&gt;&#10;                &lt;Text style={{ fontSize: 15, color: '#546779', lineHeight: 1.5 }}&gt;这时对照实际退化为追加，两组写法一致，不做任何单边补偿。&lt;/Text&gt;&#10;            &lt;/Box&gt;&#10;        &lt;/Box&gt;&#10;&#10;        &lt;Box style={{ height: 132, background: '#FFF4E6', borderRadius: 10, flexDirection: 'row', alignItems: 'center', gap: 18, padding: '0 20px' }}&gt;&#10;            &lt;Box style={{ width: 4, height: 76, background: '#CB6B28' }} /&gt;&#10;            &lt;Box style={{ flexDirection: 'column', gap: 6 }}&gt;&#10;                &lt;Text style={{ fontSize: 19, fontWeight: 'bold', color: '#CB6B28' }}&gt;登记「干预未实施」&lt;/Text&gt;&#10;                &lt;Text style={{ fontSize: 15, color: '#546779', lineHeight: 1.6 }}&gt;同一检索问题在 limit=8 下找不到旧节点时，这一条不能算替代成功；也不给对照额外查询机会，条件必须保持相同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4 通知纠错&lt;/Text&gt;&#10;        &lt;Text style={{ fontSize: 14, color: '#546779' }}&gt;1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4.4.4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唯一变化：追加还是替代当前信念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找不到旧节点，两组同样追加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09600" y="17526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替代要落在一条真实的旧节点上；找不到的时候，两组条件会重新合流。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609600" y="2057400"/>
            <a:ext cx="10972800" cy="1066800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800100" y="2286000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009650" y="2333625"/>
            <a:ext cx="4629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两组都先找真实旧节点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009650" y="2590800"/>
            <a:ext cx="4629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同一个检索问题、同样的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limit=8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；不允许编造记忆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来凑出一次替代。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09600" y="3238500"/>
            <a:ext cx="10972800" cy="1066800"/>
          </a:xfrm>
          <a:prstGeom prst="roundRect">
            <a:avLst>
              <a:gd name="adj" fmla="val 89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7" name=""/>
          <p:cNvSpPr/>
          <p:nvPr/>
        </p:nvSpPr>
        <p:spPr>
          <a:xfrm rot="0" flipH="0" flipV="0">
            <a:off x="800100" y="3467100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009650" y="3514725"/>
            <a:ext cx="4000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找不到时，两组同样追加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009650" y="3771900"/>
            <a:ext cx="4000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这时对照实际退化为追加，两组写法一致，不做任何单边补偿。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609600" y="4419600"/>
            <a:ext cx="10972800" cy="1257300"/>
          </a:xfrm>
          <a:prstGeom prst="roundRect">
            <a:avLst>
              <a:gd name="adj" fmla="val 757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1" name=""/>
          <p:cNvSpPr/>
          <p:nvPr/>
        </p:nvSpPr>
        <p:spPr>
          <a:xfrm rot="0" flipH="0" flipV="0">
            <a:off x="800100" y="4686300"/>
            <a:ext cx="38100" cy="723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009650" y="4772025"/>
            <a:ext cx="74390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登记「干预未实施」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009650" y="5048250"/>
            <a:ext cx="74390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同一检索问题在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limit=8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下找不到旧节点时，这一条不能算替代成功；也不给对照额外查询机会，条件必须保持相同。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通知纠错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56" name="" descr="&lt;Slide notes={`最后一块要解决「怎么数」的问题。&#10;&#10;我先把一句容易被忽略的话说清楚：没有真实接收，就没有个人纠错窗口。公告对象提交了正式更正，不等于某个人已经知道；甚至沈禾发出了那条更正，也不等于对方真的读到了。&#10;&#10;所以整条证据链要从个人的角度看：他自己查询得到的原回复、他保存的原信念、他向沈禾发出的确认、沈禾提交的更正请求、对象实际提交的状态、他个人真实接收到更正、他执行的记忆处理，最后才是相关行动。&#10;&#10;这条链上任何一环断了，后面的动作就不能算在个人纠错窗口里。`} style={{ width: 1280, height: 720, background: '#FFFFFF', flexDirection: 'column', padding: '20px 64px' }}&gt;&#10;&#10;    &lt;Box style={{ height: 640, flexDirection: 'column', justifyContent: 'center', gap: 20 }}&gt;&#10;&#10;        &lt;Text style={{ fontSize: 15, color: '#276FBF' }}&gt;4　　4.4.5 — 4.4.6&lt;/Text&gt;&#10;&#10;        &lt;Text style={{ fontSize: 56, fontWeight: 'bold', color: '#20344B', lineHeight: 1.15 }}&gt;没有真实接收，就没有个人窗口&lt;/Text&gt;&#10;&#10;        &lt;Box style={{ width: 72, height: 4, background: '#276FBF' }} /&gt;&#10;&#10;        &lt;Text style={{ fontSize: 18, color: '#546779', lineHeight: 1.7, width: 900 }}&gt;更正何时才算落到某一个人身上：从他真的能读到那条消息的那次决策输入开始计。&lt;/Text&gt;&#10;&#10;        &lt;Box style={{ flexDirection: 'column', gap: 12, marginTop: 10 }}&gt;&#10;&#10;            &lt;Box style={{ flexDirection: 'row', alignItems: 'center' }}&gt;&#10;                &lt;Box style={{ width: 250, height: 56, background: '#EDF4FC', borderRadius: 8, justifyContent: 'center', alignItems: 'center' }}&gt;&#10;                    &lt;Text style={{ fontSize: 17, color: '#276FBF' }}&gt;原回复&lt;/Text&gt;&#10;                &lt;/Box&gt;&#10;                &lt;Box style={{ width: 44, height: 56, justifyContent: 'center', alignItems: 'center' }}&gt;&#10;                    &lt;Text style={{ fontSize: 24, color: '#276FBF' }}&gt;›&lt;/Text&gt;&#10;                &lt;/Box&gt;&#10;                &lt;Box style={{ width: 250, height: 56, background: '#EDF4FC', borderRadius: 8, justifyContent: 'center', alignItems: 'center' }}&gt;&#10;                    &lt;Text style={{ fontSize: 17, color: '#276FBF' }}&gt;原信念&lt;/Text&gt;&#10;                &lt;/Box&gt;&#10;                &lt;Box style={{ width: 44, height: 56, justifyContent: 'center', alignItems: 'center' }}&gt;&#10;                    &lt;Text style={{ fontSize: 24, color: '#276FBF' }}&gt;›&lt;/Text&gt;&#10;                &lt;/Box&gt;&#10;                &lt;Box style={{ width: 250, height: 56, background: '#EDF4FC', borderRadius: 8, justifyContent: 'center', alignItems: 'center' }}&gt;&#10;                    &lt;Text style={{ fontSize: 17, color: '#276FBF' }}&gt;三份确认&lt;/Text&gt;&#10;                &lt;/Box&gt;&#10;                &lt;Box style={{ width: 44, height: 56, justifyContent: 'center', alignItems: 'center' }}&gt;&#10;                    &lt;Text style={{ fontSize: 24, color: '#276FBF' }}&gt;›&lt;/Text&gt;&#10;                &lt;/Box&gt;&#10;                &lt;Box style={{ width: 250, height: 56, background: '#EDF4FC', borderRadius: 8, justifyContent: 'center', alignItems: 'center' }}&gt;&#10;                    &lt;Text style={{ fontSize: 17, color: '#276FBF' }}&gt;更正请求&lt;/Text&gt;&#10;                &lt;/Box&gt;&#10;            &lt;/Box&gt;&#10;&#10;            &lt;Box style={{ flexDirection: 'row', alignItems: 'center' }}&gt;&#10;                &lt;Box style={{ width: 250, height: 56, background: '#ECF7F2', borderRadius: 8, justifyContent: 'center', alignItems: 'center' }}&gt;&#10;                    &lt;Text style={{ fontSize: 17, color: '#26816B' }}&gt;对象提交&lt;/Text&gt;&#10;                &lt;/Box&gt;&#10;                &lt;Box style={{ width: 44, height: 56, justifyContent: 'center', alignItems: 'center' }}&gt;&#10;                    &lt;Text style={{ fontSize: 24, color: '#26816B' }}&gt;›&lt;/Text&gt;&#10;                &lt;/Box&gt;&#10;                &lt;Box style={{ width: 250, height: 56, background: '#ECF7F2', borderRadius: 8, justifyContent: 'center', alignItems: 'center' }}&gt;&#10;                    &lt;Text style={{ fontSize: 17, color: '#26816B' }}&gt;个人实际接收&lt;/Text&gt;&#10;                &lt;/Box&gt;&#10;                &lt;Box style={{ width: 44, height: 56, justifyContent: 'center', alignItems: 'center' }}&gt;&#10;                    &lt;Text style={{ fontSize: 24, color: '#26816B' }}&gt;›&lt;/Text&gt;&#10;                &lt;/Box&gt;&#10;                &lt;Box style={{ width: 250, height: 56, background: '#ECF7F2', borderRadius: 8, justifyContent: 'center', alignItems: 'center' }}&gt;&#10;                    &lt;Text style={{ fontSize: 17, color: '#26816B' }}&gt;记忆处理&lt;/Text&gt;&#10;                &lt;/Box&gt;&#10;                &lt;Box style={{ width: 44, height: 56, justifyContent: 'center', alignItems: 'center' }}&gt;&#10;                    &lt;Text style={{ fontSize: 24, color: '#26816B' }}&gt;›&lt;/Text&gt;&#10;                &lt;/Box&gt;&#10;                &lt;Box style={{ width: 250, height: 56, background: '#ECF7F2', borderRadius: 8, justifyContent: 'center', alignItems: 'center' }}&gt;&#10;                    &lt;Text style={{ fontSize: 17, color: '#26816B' }}&gt;相关行动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4 通知纠错&lt;/Text&gt;&#10;        &lt;Text style={{ fontSize: 14, color: '#546779' }}&gt;1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15716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4.4.5 — 4.4.6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09600" y="19335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没有真实接收，就没有个人窗口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609600" y="28670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30956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更正何时才算落到某一个人身上：从他真的能读到那条消息的那次决策输入开始计。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609600" y="3733800"/>
            <a:ext cx="238125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562100" y="390525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原回复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3162300" y="38671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3409950" y="3733800"/>
            <a:ext cx="238125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4362450" y="390525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原信念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5962650" y="38671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210300" y="3733800"/>
            <a:ext cx="238125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7077075" y="39052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三份确认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763000" y="38671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9010650" y="3733800"/>
            <a:ext cx="238125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9877425" y="39052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更正请求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609600" y="4381500"/>
            <a:ext cx="238125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476375" y="45529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对象提交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3162300" y="45148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3409950" y="4381500"/>
            <a:ext cx="238125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4114800" y="4552950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个人实际接收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5962650" y="45148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210300" y="4381500"/>
            <a:ext cx="238125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7077075" y="45529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记忆处理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763000" y="45148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9010650" y="4381500"/>
            <a:ext cx="238125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9877425" y="45529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相关行动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通知纠错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24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86" name="" descr="&lt;Slide notes={`这条链有八个节点。&#10;&#10;前四个是查询和申报：他真实查询得到的原回复、他保存下来的原信念、他分别发出去的三份真实确认、沈禾提交的更正请求。后四个是更正落地：公告对象实际提交了 revised，他个人真实接收到更正，他执行的记忆处理，最后才是相关行动。&#10;&#10;第六个节点最关键，个人窗口就从这里起算：从更正进入他可读消息或观察的那一次决策输入开始，计那次决策以及之后的相关动作。同一个 Step 里有先后，不能把更早的动作当成已经受新消息影响。&#10;&#10;还有一条纪律：发信者便签上写「已通知」不能代替接收证据。SPEAK 一次只对一名其他 Agent，所以三份通知必须三次发言，每次都要有真实的接收记录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4.5　按个人接收边界计数&lt;/Text&gt;&#10;            &lt;Text style={{ fontSize: 34, fontWeight: 'bold', color: '#20344B' }}&gt;一条证据链，八个节点&lt;/Text&gt;&#10;        &lt;/Box&gt;&#10;    &lt;/Box&gt;&#10;&#10;    &lt;Box style={{ height: 540, flexDirection: 'column', justifyContent: 'center', gap: 10 }}&gt;&#10;&#10;        &lt;Text style={{ fontSize: 16, color: '#546779' }}&gt;证据链：原回复 › 原信念 › 三份确认 › 更正请求 › 对象提交 › 个人接收 › 记忆处理 › 相关行动&lt;/Text&gt;&#10;&#10;        &lt;Box style={{ flexDirection: 'row', alignItems: 'center' }}&gt;&#10;            &lt;Box style={{ width: 250, height: 96, background: '#EDF4FC', borderRadius: 8, flexDirection: 'column', justifyContent: 'center', alignItems: 'center', gap: 4 }}&gt;&#10;                &lt;Text style={{ fontSize: 16, fontWeight: 'bold', color: '#276FBF' }}&gt;1　原回复&lt;/Text&gt;&#10;                &lt;Text style={{ fontSize: 13, color: '#546779' }}&gt;公告对象真实回复内容&lt;/Text&gt;&#10;            &lt;/Box&gt;&#10;            &lt;Box style={{ width: 44, height: 96, justifyContent: 'center', alignItems: 'center' }}&gt;&#10;                &lt;Text style={{ fontSize: 24, color: '#276FBF' }}&gt;›&lt;/Text&gt;&#10;            &lt;/Box&gt;&#10;            &lt;Box style={{ width: 250, height: 96, background: '#EDF4FC', borderRadius: 8, flexDirection: 'column', justifyContent: 'center', alignItems: 'center', gap: 4 }}&gt;&#10;                &lt;Text style={{ fontSize: 16, fontWeight: 'bold', color: '#276FBF' }}&gt;2　原信念&lt;/Text&gt;&#10;                &lt;Text style={{ fontSize: 13, color: '#546779' }}&gt;存入的当前会址信念&lt;/Text&gt;&#10;            &lt;/Box&gt;&#10;            &lt;Box style={{ width: 44, height: 96, justifyContent: 'center', alignItems: 'center' }}&gt;&#10;                &lt;Text style={{ fontSize: 24, color: '#276FBF' }}&gt;›&lt;/Text&gt;&#10;            &lt;/Box&gt;&#10;            &lt;Box style={{ width: 250, height: 96, background: '#EDF4FC', borderRadius: 8, flexDirection: 'column', justifyContent: 'center', alignItems: 'center', gap: 4 }}&gt;&#10;                &lt;Text style={{ fontSize: 16, fontWeight: 'bold', color: '#276FBF' }}&gt;3　三份确认&lt;/Text&gt;&#10;                &lt;Text style={{ fontSize: 13, color: '#546779' }}&gt;三人各自真实 SPEAK&lt;/Text&gt;&#10;            &lt;/Box&gt;&#10;            &lt;Box style={{ width: 44, height: 96, justifyContent: 'center', alignItems: 'center' }}&gt;&#10;                &lt;Text style={{ fontSize: 24, color: '#276FBF' }}&gt;›&lt;/Text&gt;&#10;            &lt;/Box&gt;&#10;            &lt;Box style={{ width: 250, height: 96, background: '#EDF4FC', borderRadius: 8, flexDirection: 'column', justifyContent: 'center', alignItems: 'center', gap: 4 }}&gt;&#10;                &lt;Text style={{ fontSize: 16, fontWeight: 'bold', color: '#276FBF' }}&gt;4　更正请求&lt;/Text&gt;&#10;                &lt;Text style={{ fontSize: 13, color: '#546779' }}&gt;沈禾提交的依据与申请&lt;/Text&gt;&#10;            &lt;/Box&gt;&#10;        &lt;/Box&gt;&#10;&#10;        &lt;Box style={{ flexDirection: 'row', alignItems: 'center' }}&gt;&#10;            &lt;Box style={{ width: 250, height: 96, background: '#ECF7F2', borderRadius: 8, flexDirection: 'column', justifyContent: 'center', alignItems: 'center', gap: 4 }}&gt;&#10;                &lt;Text style={{ fontSize: 16, fontWeight: 'bold', color: '#26816B' }}&gt;5　对象提交&lt;/Text&gt;&#10;                &lt;Text style={{ fontSize: 13, color: '#546779' }}&gt;revised 与被采纳请求 ID&lt;/Text&gt;&#10;            &lt;/Box&gt;&#10;            &lt;Box style={{ width: 44, height: 96, justifyContent: 'center', alignItems: 'center' }}&gt;&#10;                &lt;Text style={{ fontSize: 24, color: '#26816B' }}&gt;›&lt;/Text&gt;&#10;            &lt;/Box&gt;&#10;            &lt;Box style={{ width: 250, height: 96, background: '#ECF7F2', borderRadius: 8, flexDirection: 'column', justifyContent: 'center', alignItems: 'center', gap: 4 }}&gt;&#10;                &lt;Text style={{ fontSize: 16, fontWeight: 'bold', color: '#26816B' }}&gt;6　个人实际接收&lt;/Text&gt;&#10;                &lt;Text style={{ fontSize: 13, color: '#546779' }}&gt;更正进入其可读输入&lt;/Text&gt;&#10;            &lt;/Box&gt;&#10;            &lt;Box style={{ width: 44, height: 96, justifyContent: 'center', alignItems: 'center' }}&gt;&#10;                &lt;Text style={{ fontSize: 24, color: '#26816B' }}&gt;›&lt;/Text&gt;&#10;            &lt;/Box&gt;&#10;            &lt;Box style={{ width: 250, height: 96, background: '#ECF7F2', borderRadius: 8, flexDirection: 'column', justifyContent: 'center', alignItems: 'center', gap: 4 }}&gt;&#10;                &lt;Text style={{ fontSize: 16, fontWeight: 'bold', color: '#26816B' }}&gt;7　记忆处理&lt;/Text&gt;&#10;                &lt;Text style={{ fontSize: 13, color: '#546779' }}&gt;本组的追加或替代&lt;/Text&gt;&#10;            &lt;/Box&gt;&#10;            &lt;Box style={{ width: 44, height: 96, justifyContent: 'center', alignItems: 'center' }}&gt;&#10;                &lt;Text style={{ fontSize: 24, color: '#26816B' }}&gt;›&lt;/Text&gt;&#10;            &lt;/Box&gt;&#10;            &lt;Box style={{ width: 250, height: 96, background: '#ECF7F2', borderRadius: 8, flexDirection: 'column', justifyContent: 'center', alignItems: 'center', gap: 4 }}&gt;&#10;                &lt;Text style={{ fontSize: 16, fontWeight: 'bold', color: '#26816B' }}&gt;8　相关行动&lt;/Text&gt;&#10;                &lt;Text style={{ fontSize: 13, color: '#546779' }}&gt;只算三类相关动作&lt;/Text&gt;&#10;            &lt;/Box&gt;&#10;        &lt;/Box&gt;&#10;&#10;        &lt;Box style={{ flexDirection: 'row', gap: 32, marginTop: 4 }}&gt;&#10;            &lt;Box style={{ width: 560, height: 96, background: '#FFF4E6', borderRadius: 10, flexDirection: 'column', justifyContent: 'center', gap: 6, padding: '0 22px' }}&gt;&#10;                &lt;Text style={{ fontSize: 18, fontWeight: 'bold', color: '#CB6B28' }}&gt;便签不能代替接收证据&lt;/Text&gt;&#10;                &lt;Text style={{ fontSize: 15, color: '#546779', lineHeight: 1.5 }}&gt;发信者便签上的「已通知」不算接收；SPEAK 一次只向一名其他 Agent&lt;/Text&gt;&#10;            &lt;/Box&gt;&#10;            &lt;Box style={{ width: 560, height: 96, background: '#ECF7F2', borderRadius: 10, flexDirection: 'column', justifyContent: 'center', gap: 6, padding: '0 22px' }}&gt;&#10;                &lt;Text style={{ fontSize: 18, fontWeight: 'bold', color: '#26816B' }}&gt;个人窗口从这里起算&lt;/Text&gt;&#10;                &lt;Text style={{ fontSize: 15, color: '#546779', lineHeight: 1.5 }}&gt;从更正的决策输入开始，计该决策及以后的相关动作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证据链示意，非系统截图、非 Run 结果&lt;/Text&gt;&#10;        &lt;Text style={{ fontSize: 14, color: '#546779' }}&gt;1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4.4.5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按个人接收边界计数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一条证据链，八个节点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09600" y="208597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证据链：原回复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›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原信念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›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三份确认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›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更正请求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›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对象提交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›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个人接收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›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记忆处理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›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相关行动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09600" y="2371725"/>
            <a:ext cx="2381250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447800" y="2638425"/>
            <a:ext cx="704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　原回复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181100" y="2867025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公告对象真实回复内容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3162300" y="26955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3409950" y="2371725"/>
            <a:ext cx="2381250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4248150" y="2638425"/>
            <a:ext cx="704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　原信念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4048125" y="286702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存入的当前会址信念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5962650" y="26955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210300" y="2371725"/>
            <a:ext cx="2381250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972300" y="2638425"/>
            <a:ext cx="857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3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　三份确认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819900" y="2867025"/>
            <a:ext cx="1162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三人各自真实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SPEAK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763000" y="26955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9010650" y="2371725"/>
            <a:ext cx="2381250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9772650" y="2638425"/>
            <a:ext cx="857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4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　更正请求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9582150" y="2867025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沈禾提交的依据与申请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09600" y="3381375"/>
            <a:ext cx="2381250" cy="9144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371600" y="3648075"/>
            <a:ext cx="857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5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　对象提交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114425" y="3876675"/>
            <a:ext cx="1371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revised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与被采纳请求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3162300" y="37052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3409950" y="3381375"/>
            <a:ext cx="2381250" cy="9144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4019550" y="3648075"/>
            <a:ext cx="1162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6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　个人实际接收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4048125" y="387667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更正进入其可读输入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5962650" y="37052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210300" y="3381375"/>
            <a:ext cx="2381250" cy="9144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972300" y="3648075"/>
            <a:ext cx="857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7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　记忆处理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905625" y="387667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本组的追加或替代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763000" y="37052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9010650" y="3381375"/>
            <a:ext cx="2381250" cy="9144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9772650" y="3648075"/>
            <a:ext cx="857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8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　相关行动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9705975" y="387667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只算三类相关动作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09600" y="4429125"/>
            <a:ext cx="53340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19150" y="4629150"/>
            <a:ext cx="4914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便签不能代替接收证据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19150" y="4895850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发信者便签上的「已通知」不算接收；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SPEAK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一次只向一名其他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6248400" y="4429125"/>
            <a:ext cx="53340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457950" y="4629150"/>
            <a:ext cx="4914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个人窗口从这里起算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457950" y="4895850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从更正的决策输入开始，计该决策及以后的相关动作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333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证据链示意，非系统截图、非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结果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30" name="" descr="&lt;Slide notes={`四个指标都要在开跑之前把口径写死。&#10;&#10;过期行动率是主指标：分子是接收正式更正之后的过期相关动作，分母是接收之后的全部相关动作，最后按三个人各自的边界再汇总。注意分母是动作，不是人。&#10;&#10;更正覆盖率是实际收到正确最终更正的人数除以三，而且只在已经正式更正的 Run 里报告。&#10;&#10;有效记忆纠正率，是已经证实旧信念退出默认有效检索的人数，除以已经接收并且曾经存过旧信念的人数。&#10;&#10;传播时延是个人首次实际接收的 Step 减去对象正式提交的 Step。没接收到的人单独列出来，不要给他们填一个窗口长度，那会假装他们也被观察到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4.5　按个人接收边界计数&lt;/Text&gt;&#10;            &lt;Text style={{ fontSize: 34, fontWeight: 'bold', color: '#20344B' }}&gt;四项指标的预登记口径&lt;/Text&gt;&#10;        &lt;/Box&gt;&#10;    &lt;/Box&gt;&#10;&#10;    &lt;Box style={{ height: 540, flexDirection: 'column', justifyContent: 'center', gap: 10 }}&gt;&#10;&#10;        &lt;Box style={{ height: 26, flexDirection: 'row', alignItems: 'center', padding: '0 18px', gap: 16 }}&gt;&#10;            &lt;Box style={{ width: 4 }} /&gt;&#10;            &lt;Box style={{ width: 250 }}&gt;&lt;Text style={{ fontSize: 15, fontWeight: 'bold', color: '#546779' }}&gt;指标&lt;/Text&gt;&lt;/Box&gt;&#10;            &lt;Box style={{ flex: 1 }}&gt;&lt;Text style={{ fontSize: 15, fontWeight: 'bold', color: '#546779' }}&gt;预登记口径&lt;/Text&gt;&lt;/Box&gt;&#10;        &lt;/Box&gt;&#10;&#10;        &lt;Box style={{ height: 106, background: '#F4F7FA', borderRadius: 10, flexDirection: 'row', alignItems: 'center', padding: '0 18px', gap: 16 }}&gt;&#10;            &lt;Box style={{ width: 4, height: 60, background: '#276FBF' }} /&gt;&#10;            &lt;Box style={{ width: 250 }}&gt;&lt;Text style={{ fontSize: 17, fontWeight: 'bold', color: '#20344B' }}&gt;过期行动率&lt;/Text&gt;&lt;/Box&gt;&#10;            &lt;Box style={{ flex: 1 }}&gt;&lt;Text style={{ fontSize: 15, color: '#20344B', lineHeight: 1.55 }}&gt;接收正式更正后的过期相关动作 ÷ 接收后的全部相关动作；按三人各自边界再汇总&lt;/Text&gt;&lt;/Box&gt;&#10;        &lt;/Box&gt;&#10;&#10;        &lt;Box style={{ height: 106, background: '#F4F7FA', borderRadius: 10, flexDirection: 'row', alignItems: 'center', padding: '0 18px', gap: 16 }}&gt;&#10;            &lt;Box style={{ width: 4, height: 60, background: '#276FBF' }} /&gt;&#10;            &lt;Box style={{ width: 250 }}&gt;&lt;Text style={{ fontSize: 17, fontWeight: 'bold', color: '#20344B' }}&gt;更正覆盖率&lt;/Text&gt;&lt;/Box&gt;&#10;            &lt;Box style={{ flex: 1 }}&gt;&lt;Text style={{ fontSize: 15, color: '#20344B', lineHeight: 1.55 }}&gt;实际收到正确最终更正的人数 ÷ 3；仅在已正式更正的 Run 报告&lt;/Text&gt;&lt;/Box&gt;&#10;        &lt;/Box&gt;&#10;&#10;        &lt;Box style={{ height: 106, background: '#F4F7FA', borderRadius: 10, flexDirection: 'row', alignItems: 'center', padding: '0 18px', gap: 16 }}&gt;&#10;            &lt;Box style={{ width: 4, height: 60, background: '#276FBF' }} /&gt;&#10;            &lt;Box style={{ width: 250 }}&gt;&lt;Text style={{ fontSize: 17, fontWeight: 'bold', color: '#20344B' }}&gt;有效记忆纠正率&lt;/Text&gt;&lt;/Box&gt;&#10;            &lt;Box style={{ flex: 1 }}&gt;&lt;Text style={{ fontSize: 15, color: '#20344B', lineHeight: 1.55 }}&gt;已证实旧信念退出默认有效检索的人数 ÷ 已接收且曾存旧信念的人数&lt;/Text&gt;&lt;/Box&gt;&#10;        &lt;/Box&gt;&#10;&#10;        &lt;Box style={{ height: 106, background: '#FFF4E6', borderRadius: 10, flexDirection: 'row', alignItems: 'center', padding: '0 18px', gap: 16 }}&gt;&#10;            &lt;Box style={{ width: 4, height: 60, background: '#CB6B28' }} /&gt;&#10;            &lt;Box style={{ width: 250 }}&gt;&lt;Text style={{ fontSize: 17, fontWeight: 'bold', color: '#CB6B28' }}&gt;传播时延&lt;/Text&gt;&lt;/Box&gt;&#10;            &lt;Box style={{ flex: 1 }}&gt;&lt;Text style={{ fontSize: 15, color: '#546779', lineHeight: 1.55 }}&gt;个人首次实际接收 Step − 对象正式提交 Step；未接收者单列，不填窗口长度&lt;/Text&gt;&lt;/Box&gt;&#10;        &lt;/Box&gt;&#10;&#10;        &lt;Text style={{ fontSize: 14, color: '#546779' }}&gt;指标口径为预登记设定，尚无实测数据；分母是动作，不是人数。&lt;/Text&gt;&#10;&#10;    &lt;/Box&gt;&#10;&#10;    &lt;Box style={{ height: 40, flexDirection: 'row', justifyContent: 'space-between', alignItems: 'center' }}&gt;&#10;        &lt;Text style={{ fontSize: 14, color: '#546779' }}&gt;4.4 通知纠错&lt;/Text&gt;&#10;        &lt;Text style={{ fontSize: 14, color: '#546779' }}&gt;1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4.4.5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按个人接收边界计数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四项指标的预登记口径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971550" y="1295400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指标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3505200" y="1295400"/>
            <a:ext cx="790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预登记口径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09600" y="1600200"/>
            <a:ext cx="10972800" cy="1009650"/>
          </a:xfrm>
          <a:prstGeom prst="roundRect">
            <a:avLst>
              <a:gd name="adj" fmla="val 943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781050" y="1819275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971550" y="2009775"/>
            <a:ext cx="238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过期行动率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3505200" y="1971675"/>
            <a:ext cx="79057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接收正式更正后的过期相关动作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接收后的全部相关动作；按三人各自边界再汇总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09600" y="2705100"/>
            <a:ext cx="10972800" cy="1009650"/>
          </a:xfrm>
          <a:prstGeom prst="roundRect">
            <a:avLst>
              <a:gd name="adj" fmla="val 943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781050" y="2924175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971550" y="3114675"/>
            <a:ext cx="238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更正覆盖率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3505200" y="3076575"/>
            <a:ext cx="79057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实际收到正确最终更正的人数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÷ 3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；仅在已正式更正的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报告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609600" y="3810000"/>
            <a:ext cx="10972800" cy="1009650"/>
          </a:xfrm>
          <a:prstGeom prst="roundRect">
            <a:avLst>
              <a:gd name="adj" fmla="val 943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6" name=""/>
          <p:cNvSpPr/>
          <p:nvPr/>
        </p:nvSpPr>
        <p:spPr>
          <a:xfrm rot="0" flipH="0" flipV="0">
            <a:off x="781050" y="4029075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971550" y="4219575"/>
            <a:ext cx="238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有效记忆纠正率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3505200" y="4181475"/>
            <a:ext cx="79057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已证实旧信念退出默认有效检索的人数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已接收且曾存旧信念的人数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609600" y="4914900"/>
            <a:ext cx="10972800" cy="1009650"/>
          </a:xfrm>
          <a:prstGeom prst="roundRect">
            <a:avLst>
              <a:gd name="adj" fmla="val 943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50" name=""/>
          <p:cNvSpPr/>
          <p:nvPr/>
        </p:nvSpPr>
        <p:spPr>
          <a:xfrm rot="0" flipH="0" flipV="0">
            <a:off x="781050" y="5133975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971550" y="5324475"/>
            <a:ext cx="238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传播时延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3505200" y="5286375"/>
            <a:ext cx="79057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个人首次实际接收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−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对象正式提交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；未接收者单列，不填窗口长度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09600" y="601980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指标口径为预登记设定，尚无实测数据；分母是动作，不是人数。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通知纠错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24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56" name="" descr="&lt;Slide notes={`相关动作只有三类，我把边界说清楚。&#10;&#10;第一类，以正式会址为目标的已提交 MOVE。第二类，在会址等候，或者参加会址对应的 ACT。第三类，向别人断言当前正式会址的 SPEAK。这三类动作才会进入分母。&#10;&#10;计数规则是：一次 MOVE 计一个动作，不按走了多少格去扩分母。否则路程长的角色天然就占了更大的权重。&#10;&#10;那什么不算过期？书稿里列了五种：普通问句、导航查询、拿遗落物、途经杏厅，以及在正式更正之前遵照原通知的行动，都不算过期。途经杏厅尤其要注意，他只是路过，不等于他认定会址还在杏厅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4.5　按个人接收边界计数&lt;/Text&gt;&#10;            &lt;Text style={{ fontSize: 34, fontWeight: 'bold', color: '#20344B' }}&gt;哪些动作算过期，哪些不算&lt;/Text&gt;&#10;        &lt;/Box&gt;&#10;    &lt;/Box&gt;&#10;&#10;    &lt;Box style={{ height: 540, flexDirection: 'column', justifyContent: 'center', gap: 12 }}&gt;&#10;&#10;        &lt;Text style={{ fontSize: 16, color: '#546779' }}&gt;相关动作只含三类；其他行为一律不进分母。&lt;/Text&gt;&#10;&#10;        &lt;Box style={{ flexDirection: 'row', gap: 16 }}&gt;&#10;            &lt;Box style={{ width: 373, height: 190, background: '#EDF4FC', borderRadius: 10, padding: '18px 20px', flexDirection: 'column', gap: 10 }}&gt;&#10;                &lt;Box style={{ flexDirection: 'row', alignItems: 'center', gap: 10 }}&gt;&#10;                    &lt;Box style={{ width: 26, height: 26, background: '#276FBF', borderRadius: 6, justifyContent: 'center', alignItems: 'center' }}&gt;&#10;                        &lt;Text style={{ fontSize: 14, color: '#FFFFFF' }}&gt;移&lt;/Text&gt;&#10;                    &lt;/Box&gt;&#10;                    &lt;Text style={{ fontSize: 17, fontWeight: 'bold', color: '#276FBF' }}&gt;以正式会址为目标的 MOVE&lt;/Text&gt;&#10;                &lt;/Box&gt;&#10;                &lt;Text style={{ fontSize: 14, color: '#546779', lineHeight: 1.65 }}&gt;已提交的移动动作。一次 MOVE 只计一个动作，不按走了多少格去扩分母。&lt;/Text&gt;&#10;            &lt;/Box&gt;&#10;            &lt;Box style={{ width: 373, height: 190, background: '#EDF4FC', borderRadius: 10, padding: '18px 20px', flexDirection: 'column', gap: 10 }}&gt;&#10;                &lt;Box style={{ flexDirection: 'row', alignItems: 'center', gap: 10 }}&gt;&#10;                    &lt;Box style={{ width: 26, height: 26, background: '#276FBF', borderRadius: 6, justifyContent: 'center', alignItems: 'center' }}&gt;&#10;                        &lt;Text style={{ fontSize: 14, color: '#FFFFFF' }}&gt;参&lt;/Text&gt;&#10;                    &lt;/Box&gt;&#10;                    &lt;Text style={{ fontSize: 17, fontWeight: 'bold', color: '#276FBF' }}&gt;在会址等候或参加 ACT&lt;/Text&gt;&#10;                &lt;/Box&gt;&#10;                &lt;Text style={{ fontSize: 14, color: '#546779', lineHeight: 1.65 }}&gt;在会址停留等候，以及提交与本次活动对应的 ACT 动作。&lt;/Text&gt;&#10;            &lt;/Box&gt;&#10;            &lt;Box style={{ width: 374, height: 190, background: '#EDF4FC', borderRadius: 10, padding: '18px 20px', flexDirection: 'column', gap: 10 }}&gt;&#10;                &lt;Box style={{ flexDirection: 'row', alignItems: 'center', gap: 10 }}&gt;&#10;                    &lt;Box style={{ width: 26, height: 26, background: '#276FBF', borderRadius: 6, justifyContent: 'center', alignItems: 'center' }}&gt;&#10;                        &lt;Text style={{ fontSize: 14, color: '#FFFFFF' }}&gt;言&lt;/Text&gt;&#10;                    &lt;/Box&gt;&#10;                    &lt;Text style={{ fontSize: 17, fontWeight: 'bold', color: '#276FBF' }}&gt;断言正式会址的 SPEAK&lt;/Text&gt;&#10;                &lt;/Box&gt;&#10;                &lt;Text style={{ fontSize: 14, color: '#546779', lineHeight: 1.65 }}&gt;向别人断言「当前正式会址是哪里」。若说的是旧会址，即计入过期。&lt;/Text&gt;&#10;            &lt;/Box&gt;&#10;        &lt;/Box&gt;&#10;&#10;        &lt;Box style={{ height: 62, background: '#FFF4E6', borderRadius: 10, flexDirection: 'row', alignItems: 'center', gap: 16, padding: '0 20px' }}&gt;&#10;            &lt;Box style={{ width: 4, height: 36, background: '#CB6B28' }} /&gt;&#10;            &lt;Text style={{ fontSize: 16, fontWeight: 'bold', color: '#CB6B28' }}&gt;一次 MOVE 计一个动作，不按格扩分母&lt;/Text&gt;&#10;        &lt;/Box&gt;&#10;&#10;        &lt;Box style={{ height: 132, background: '#ECF7F2', borderRadius: 10, flexDirection: 'column', justifyContent: 'center', gap: 8, padding: '0 22px' }}&gt;&#10;            &lt;Text style={{ fontSize: 17, fontWeight: 'bold', color: '#26816B' }}&gt;不算过期的五种情形&lt;/Text&gt;&#10;            &lt;Text style={{ fontSize: 15, color: '#546779', lineHeight: 1.65 }}&gt;普通问句、导航查询、拿遗落物、途经杏厅、更正前遵照原通知的行动。途经杏厅只是路过，不等于认定会址仍是杏厅。&lt;/Text&gt;&#10;        &lt;/Box&gt;&#10;&#10;    &lt;/Box&gt;&#10;&#10;    &lt;Box style={{ height: 40, flexDirection: 'row', justifyContent: 'space-between', alignItems: 'center' }}&gt;&#10;        &lt;Text style={{ fontSize: 14, color: '#546779' }}&gt;4.4 通知纠错&lt;/Text&gt;&#10;        &lt;Text style={{ fontSize: 14, color: '#546779' }}&gt;1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4.4.5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按个人接收边界计数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哪些动作算过期，哪些不算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09600" y="161925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相关动作只含三类；其他行为一律不进分母。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609600" y="1924050"/>
            <a:ext cx="3552825" cy="1809750"/>
          </a:xfrm>
          <a:prstGeom prst="roundRect">
            <a:avLst>
              <a:gd name="adj" fmla="val 526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3" name=""/>
          <p:cNvSpPr/>
          <p:nvPr/>
        </p:nvSpPr>
        <p:spPr>
          <a:xfrm rot="0" flipH="0" flipV="0">
            <a:off x="800100" y="20955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857250" y="214312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移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143000" y="2124075"/>
            <a:ext cx="2019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以正式会址为目标的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MOVE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800100" y="2438400"/>
            <a:ext cx="31718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已提交的移动动作。一次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MOVE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只计一个动作，不按走了多少格去扩分母。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4314825" y="1924050"/>
            <a:ext cx="3552825" cy="1809750"/>
          </a:xfrm>
          <a:prstGeom prst="roundRect">
            <a:avLst>
              <a:gd name="adj" fmla="val 526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8" name=""/>
          <p:cNvSpPr/>
          <p:nvPr/>
        </p:nvSpPr>
        <p:spPr>
          <a:xfrm rot="0" flipH="0" flipV="0">
            <a:off x="4505325" y="20955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562475" y="214312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参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848225" y="2124075"/>
            <a:ext cx="1676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在会址等候或参加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ACT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4505325" y="2438400"/>
            <a:ext cx="31718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在会址停留等候，以及提交与本次活动对应的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ACT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动作。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8020050" y="1924050"/>
            <a:ext cx="3562350" cy="1809750"/>
          </a:xfrm>
          <a:prstGeom prst="roundRect">
            <a:avLst>
              <a:gd name="adj" fmla="val 526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3" name=""/>
          <p:cNvSpPr/>
          <p:nvPr/>
        </p:nvSpPr>
        <p:spPr>
          <a:xfrm rot="0" flipH="0" flipV="0">
            <a:off x="8210550" y="20955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267700" y="214312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言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553450" y="2124075"/>
            <a:ext cx="1714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断言正式会址的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SPEAK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8210550" y="2438400"/>
            <a:ext cx="31813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向别人断言「当前正式会址是哪里」。若说的是旧会址，即计入过期。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609600" y="3848100"/>
            <a:ext cx="10972800" cy="590550"/>
          </a:xfrm>
          <a:prstGeom prst="roundRect">
            <a:avLst>
              <a:gd name="adj" fmla="val 161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800100" y="3971925"/>
            <a:ext cx="38100" cy="342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990600" y="4048125"/>
            <a:ext cx="2705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一次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MOVE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计一个动作，不按格扩分母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09600" y="4552950"/>
            <a:ext cx="10972800" cy="1257300"/>
          </a:xfrm>
          <a:prstGeom prst="roundRect">
            <a:avLst>
              <a:gd name="adj" fmla="val 757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819150" y="4905375"/>
            <a:ext cx="1055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不算过期的五种情形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819150" y="5181600"/>
            <a:ext cx="105537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普通问句、导航查询、拿遗落物、途经杏厅、更正前遵照原通知的行动。途经杏厅只是路过，不等于认定会址仍是杏厅。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通知纠错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85" name="" descr="&lt;Slide notes={`这五项是人工片段，用来核对口径，不是 Run 结果。&#10;&#10;先在上面检查「已收到正式更正」。甲和乙都收到了，丙没有。再数下面的相关动作。甲说了「原先杏厅，现在改杉厅」，然后真的移往杉厅，两项动作，过期零项。乙收到之后仍然移往杏厅，还向别人断言杏厅，两项动作，两项都过期。丙只问了一句「候选还是正式？」，普通问句不进入分母。&#10;&#10;汇总起来是过期两项除以相关四项，等于 50%。&#10;&#10;这里一定要说清楚：数的是行动，不是人。所以 2/4 不能读成「一半的人还相信旧会址」。另外丙没有行动，也不能说成他采用了正确通知——只收到候选建议的人，个人纠错窗口根本还没开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4.6　人工判分与失败解释&lt;/Text&gt;&#10;            &lt;Text style={{ fontSize: 34, fontWeight: 'bold', color: '#20344B' }}&gt;五项人工片段：2/4 是怎样来的&lt;/Text&gt;&#10;        &lt;/Box&gt;&#10;    &lt;/Box&gt;&#10;&#10;    &lt;Box style={{ height: 540, flexDirection: 'row', alignItems: 'center', gap: 32 }}&gt;&#10;&#10;        &lt;Box style={{ width: 634, flexDirection: 'column', gap: 12 }}&gt;&#10;&#10;            &lt;Text style={{ fontSize: 15, color: '#276FBF' }}&gt;先检查接收，再数下方的相关动作　·　人工材料，非 Run 结果&lt;/Text&gt;&#10;&#10;            &lt;Box style={{ height: 112, background: '#ECF7F2', borderRadius: 10, flexDirection: 'row', alignItems: 'center', gap: 14, padding: '0 18px' }}&gt;&#10;                &lt;Box style={{ width: 4, height: 64, background: '#26816B' }} /&gt;&#10;                &lt;Box style={{ width: 48 }}&gt;&lt;Text style={{ fontSize: 22, fontWeight: 'bold', color: '#26816B' }}&gt;甲&lt;/Text&gt;&lt;/Box&gt;&#10;                &lt;Box style={{ flex: 1, flexDirection: 'column', gap: 3 }}&gt;&#10;                    &lt;Text style={{ fontSize: 14, color: '#546779' }}&gt;已收到正式更正&lt;/Text&gt;&#10;                    &lt;Text style={{ fontSize: 15, color: '#20344B', lineHeight: 1.5 }}&gt;说明现已改杉厅 ＋ 移动去杉厅&lt;/Text&gt;&#10;                &lt;/Box&gt;&#10;                &lt;Box style={{ width: 132, alignItems: 'flex-end' }}&gt;&#10;                    &lt;Text style={{ fontSize: 17, fontWeight: 'bold', color: '#26816B' }}&gt;过期 0 ／ 相关 2&lt;/Text&gt;&#10;                &lt;/Box&gt;&#10;            &lt;/Box&gt;&#10;&#10;            &lt;Box style={{ height: 112, background: '#FFF4E6', borderRadius: 10, flexDirection: 'row', alignItems: 'center', gap: 14, padding: '0 18px' }}&gt;&#10;                &lt;Box style={{ width: 4, height: 64, background: '#CB6B28' }} /&gt;&#10;                &lt;Box style={{ width: 48 }}&gt;&lt;Text style={{ fontSize: 22, fontWeight: 'bold', color: '#CB6B28' }}&gt;乙&lt;/Text&gt;&lt;/Box&gt;&#10;                &lt;Box style={{ flex: 1, flexDirection: 'column', gap: 3 }}&gt;&#10;                    &lt;Text style={{ fontSize: 14, color: '#546779' }}&gt;已收到正式更正&lt;/Text&gt;&#10;                    &lt;Text style={{ fontSize: 15, color: '#20344B', lineHeight: 1.5 }}&gt;仍去杏厅 ＋ 断言仍在杏厅&lt;/Text&gt;&#10;                &lt;/Box&gt;&#10;                &lt;Box style={{ width: 132, alignItems: 'flex-end' }}&gt;&#10;                    &lt;Text style={{ fontSize: 17, fontWeight: 'bold', color: '#CB6B28' }}&gt;过期 2 ／ 相关 2&lt;/Text&gt;&#10;                &lt;/Box&gt;&#10;            &lt;/Box&gt;&#10;&#10;            &lt;Box style={{ height: 112, background: '#F4F7FA', borderRadius: 10, flexDirection: 'row', alignItems: 'center', gap: 14, padding: '0 18px' }}&gt;&#10;                &lt;Box style={{ width: 4, height: 64, background: '#546779' }} /&gt;&#10;                &lt;Box style={{ width: 48 }}&gt;&lt;Text style={{ fontSize: 22, fontWeight: 'bold', color: '#546779' }}&gt;丙&lt;/Text&gt;&lt;/Box&gt;&#10;                &lt;Box style={{ flex: 1, flexDirection: 'column', gap: 3 }}&gt;&#10;                    &lt;Text style={{ fontSize: 14, color: '#546779' }}&gt;只问「候选还是正式？」&lt;/Text&gt;&#10;                    &lt;Text style={{ fontSize: 15, color: '#20344B', lineHeight: 1.5 }}&gt;普通问句，不进入分母&lt;/Text&gt;&#10;                &lt;/Box&gt;&#10;                &lt;Box style={{ width: 132, alignItems: 'flex-end' }}&gt;&#10;                    &lt;Text style={{ fontSize: 17, fontWeight: 'bold', color: '#546779' }}&gt;不计入&lt;/Text&gt;&#10;                &lt;/Box&gt;&#10;            &lt;/Box&gt;&#10;&#10;        &lt;/Box&gt;&#10;&#10;        &lt;Box style={{ width: 486, flexDirection: 'column', gap: 12 }}&gt;&#10;&#10;            &lt;Text style={{ fontSize: 15, color: '#276FBF' }}&gt;甲乙各两项，共四项；其中两项过期&lt;/Text&gt;&#10;&#10;            &lt;Box style={{ width: 486, background: '#FFF4E6', borderRadius: 12, padding: '22px 26px', flexDirection: 'column', gap: 6 }}&gt;&#10;                &lt;Text style={{ fontSize: 19, fontWeight: 'bold', color: '#20344B' }}&gt;汇总过期行动率&lt;/Text&gt;&#10;                &lt;Text style={{ fontSize: 88, fontWeight: 'bold', color: '#CB6B28', lineHeight: 1 }}&gt;2/4&lt;/Text&gt;&#10;                &lt;Text style={{ fontSize: 22, fontWeight: 'bold', color: '#CB6B28' }}&gt;＝ 50%&lt;/Text&gt;&#10;            &lt;/Box&gt;&#10;&#10;            &lt;Text style={{ fontSize: 15, color: '#546779', lineHeight: 1.6 }}&gt;数的是行动，不是人。2/4 不能读成「一半的人仍相信旧会址」。&lt;/Text&gt;&#10;            &lt;Text style={{ fontSize: 15, fontWeight: 'bold', color: '#CB6B28', lineHeight: 1.6 }}&gt;丙没有行动，也不等于他采用了正确通知：只收到候选建议者，纠错窗口尚未开始。&lt;/Text&gt;&#10;&#10;        &lt;/Box&gt;&#10;&#10;    &lt;/Box&gt;&#10;&#10;    &lt;Box style={{ height: 40, flexDirection: 'row', justifyContent: 'space-between', alignItems: 'center' }}&gt;&#10;        &lt;Text style={{ fontSize: 14, color: '#546779' }}&gt;人工五项片段，不对应 Run&lt;/Text&gt;&#10;        &lt;Text style={{ fontSize: 14, color: '#546779' }}&gt;1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43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4.4.6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人工判分与失败解释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43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五项人工片段：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2/4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是怎样来的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609600" y="185737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先检查接收，再数下方的相关动作　·　人工材料，非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结果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609600" y="2143125"/>
            <a:ext cx="6038850" cy="1066800"/>
          </a:xfrm>
          <a:prstGeom prst="roundRect">
            <a:avLst>
              <a:gd name="adj" fmla="val 89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92" name=""/>
          <p:cNvSpPr/>
          <p:nvPr/>
        </p:nvSpPr>
        <p:spPr>
          <a:xfrm rot="0" flipH="0" flipV="0">
            <a:off x="781050" y="2371725"/>
            <a:ext cx="38100" cy="6096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952500" y="2552700"/>
            <a:ext cx="457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甲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543050" y="2457450"/>
            <a:ext cx="3543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已收到正式更正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543050" y="2647950"/>
            <a:ext cx="3543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说明现已改杉厅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＋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移动去杉厅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5267325" y="2581275"/>
            <a:ext cx="1209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过期</a:t>
            </a: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／</a:t>
            </a: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相关</a:t>
            </a: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2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609600" y="3324225"/>
            <a:ext cx="6038850" cy="1066800"/>
          </a:xfrm>
          <a:prstGeom prst="roundRect">
            <a:avLst>
              <a:gd name="adj" fmla="val 89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98" name=""/>
          <p:cNvSpPr/>
          <p:nvPr/>
        </p:nvSpPr>
        <p:spPr>
          <a:xfrm rot="0" flipH="0" flipV="0">
            <a:off x="781050" y="3552825"/>
            <a:ext cx="38100" cy="6096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952500" y="3733800"/>
            <a:ext cx="457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乙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543050" y="3638550"/>
            <a:ext cx="3543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已收到正式更正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543050" y="3829050"/>
            <a:ext cx="3543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仍去杏厅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＋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断言仍在杏厅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5267325" y="3762375"/>
            <a:ext cx="1209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过期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／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相关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2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609600" y="4505325"/>
            <a:ext cx="6038850" cy="1066800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04" name=""/>
          <p:cNvSpPr/>
          <p:nvPr/>
        </p:nvSpPr>
        <p:spPr>
          <a:xfrm rot="0" flipH="0" flipV="0">
            <a:off x="781050" y="4733925"/>
            <a:ext cx="38100" cy="6096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952500" y="4914900"/>
            <a:ext cx="457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546779"/>
                </a:solidFill>
                <a:latin typeface="Microsoft YaHei"/>
                <a:ea typeface="Microsoft YaHei"/>
              </a:rPr>
              <a:t>丙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1543050" y="4819650"/>
            <a:ext cx="3543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只问「候选还是正式？」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1543050" y="5010150"/>
            <a:ext cx="3543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普通问句，不进入分母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5991225" y="4943475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546779"/>
                </a:solidFill>
                <a:latin typeface="Microsoft YaHei"/>
                <a:ea typeface="Microsoft YaHei"/>
              </a:rPr>
              <a:t>不计入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953250" y="2038350"/>
            <a:ext cx="462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甲乙各两项，共四项；其中两项过期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6953250" y="2324100"/>
            <a:ext cx="4629150" cy="2019300"/>
          </a:xfrm>
          <a:prstGeom prst="roundRect">
            <a:avLst>
              <a:gd name="adj" fmla="val 566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7200900" y="2533650"/>
            <a:ext cx="4133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汇总过期行动率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7200900" y="2809875"/>
            <a:ext cx="413385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CB6B28"/>
                </a:solidFill>
                <a:latin typeface="Microsoft YaHei"/>
                <a:ea typeface="Microsoft YaHei"/>
              </a:rPr>
              <a:t>2/4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7200900" y="3876675"/>
            <a:ext cx="413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＝</a:t>
            </a:r>
            <a:r>
              <a:rPr lang="en-US" sz="16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50%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953250" y="4457700"/>
            <a:ext cx="46291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数的是行动，不是人。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2/4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不能读成「一半的人仍相信旧会址」。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953250" y="4848225"/>
            <a:ext cx="4629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丙没有行动，也不等于他采用了正确通知：只收到候选建议者，纠错窗口尚未开始。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28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人工五项片段，不对应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44" name="" descr="&lt;Slide notes={`有几种结果看起来像失败，但需要先分清是什么。&#10;&#10;历史导出里仍然能看到旧公告，这不等于替代失败——历史本来就该保留，退出的是有效态，不是把过去删掉。&#10;&#10;只看到 SUPERSEDED 这样的标签，也不够。要真正证明纠正成立，还得有新节点、真实的检索，以及之后行动上的变化。&#10;&#10;如果消息本身传得没问题，但行动照旧，那就要去查三件事：人物怎么判断消息来源、检索有没有把旧节点取回来、待确认便签的进度走到哪了。&#10;&#10;最容易被误判的是最后一种：公告根本没改，那先要报「触发条件未满足」，不能直接说模型遗忘了。条件都没达到，谈不上记忆纠正失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4.6　人工判分与失败解释&lt;/Text&gt;&#10;            &lt;Text style={{ fontSize: 34, fontWeight: 'bold', color: '#20344B' }}&gt;常见结果的合理解释&lt;/Text&gt;&#10;        &lt;/Box&gt;&#10;    &lt;/Box&gt;&#10;&#10;    &lt;Box style={{ height: 540, flexDirection: 'column', justifyContent: 'center', gap: 10 }}&gt;&#10;&#10;        &lt;Box style={{ height: 26, flexDirection: 'row', alignItems: 'center', padding: '0 18px', gap: 16 }}&gt;&#10;            &lt;Box style={{ width: 4 }} /&gt;&#10;            &lt;Box style={{ width: 380 }}&gt;&lt;Text style={{ fontSize: 15, fontWeight: 'bold', color: '#546779' }}&gt;看到的情况&lt;/Text&gt;&lt;/Box&gt;&#10;            &lt;Box style={{ flex: 1 }}&gt;&lt;Text style={{ fontSize: 15, fontWeight: 'bold', color: '#546779' }}&gt;怎样解释&lt;/Text&gt;&lt;/Box&gt;&#10;        &lt;/Box&gt;&#10;&#10;        &lt;Box style={{ height: 100, background: '#F4F7FA', borderRadius: 10, flexDirection: 'row', alignItems: 'center', padding: '0 18px', gap: 16 }}&gt;&#10;            &lt;Box style={{ width: 4, height: 56, background: '#276FBF' }} /&gt;&#10;            &lt;Box style={{ width: 380 }}&gt;&lt;Text style={{ fontSize: 17, fontWeight: 'bold', color: '#20344B' }}&gt;历史导出仍含旧公告&lt;/Text&gt;&lt;/Box&gt;&#10;            &lt;Box style={{ flex: 1 }}&gt;&lt;Text style={{ fontSize: 15, color: '#546779', lineHeight: 1.55 }}&gt;保留历史，不等于替代失败。退出的是有效态，不是删掉过去。&lt;/Text&gt;&lt;/Box&gt;&#10;        &lt;/Box&gt;&#10;&#10;        &lt;Box style={{ height: 100, background: '#F4F7FA', borderRadius: 10, flexDirection: 'row', alignItems: 'center', padding: '0 18px', gap: 16 }}&gt;&#10;            &lt;Box style={{ width: 4, height: 56, background: '#276FBF' }} /&gt;&#10;            &lt;Box style={{ width: 380 }}&gt;&lt;Text style={{ fontSize: 17, fontWeight: 'bold', color: '#20344B' }}&gt;仅有 SUPERSEDED 标签&lt;/Text&gt;&lt;/Box&gt;&#10;            &lt;Box style={{ flex: 1 }}&gt;&lt;Text style={{ fontSize: 15, color: '#546779', lineHeight: 1.55 }}&gt;标签不够，仍需新节点、固定问题的真实检索和后续行动。&lt;/Text&gt;&lt;/Box&gt;&#10;        &lt;/Box&gt;&#10;&#10;        &lt;Box style={{ height: 100, background: '#F4F7FA', borderRadius: 10, flexDirection: 'row', alignItems: 'center', padding: '0 18px', gap: 16 }}&gt;&#10;            &lt;Box style={{ width: 4, height: 56, background: '#276FBF' }} /&gt;&#10;            &lt;Box style={{ width: 380 }}&gt;&lt;Text style={{ fontSize: 17, fontWeight: 'bold', color: '#20344B' }}&gt;消息正常，行动仍旧&lt;/Text&gt;&lt;/Box&gt;&#10;            &lt;Box style={{ flex: 1 }}&gt;&lt;Text style={{ fontSize: 15, color: '#546779', lineHeight: 1.55 }}&gt;查来源判断、检索是否取回旧节点、待确认便签的进度。&lt;/Text&gt;&lt;/Box&gt;&#10;        &lt;/Box&gt;&#10;&#10;        &lt;Box style={{ height: 100, background: '#FFF4E6', borderRadius: 10, flexDirection: 'row', alignItems: 'center', padding: '0 18px', gap: 16 }}&gt;&#10;            &lt;Box style={{ width: 4, height: 56, background: '#CB6B28' }} /&gt;&#10;            &lt;Box style={{ width: 380 }}&gt;&lt;Text style={{ fontSize: 17, fontWeight: 'bold', color: '#CB6B28' }}&gt;公告根本没改&lt;/Text&gt;&lt;/Box&gt;&#10;            &lt;Box style={{ flex: 1 }}&gt;&lt;Text style={{ fontSize: 15, color: '#546779', lineHeight: 1.55 }}&gt;先报触发未满足，不叫模型遗忘。条件没达到，谈不上纠错失败。&lt;/Text&gt;&lt;/Box&gt;&#10;        &lt;/Box&gt;&#10;&#10;    &lt;/Box&gt;&#10;&#10;    &lt;Box style={{ height: 40, flexDirection: 'row', justifyContent: 'space-between', alignItems: 'center' }}&gt;&#10;        &lt;Text style={{ fontSize: 14, color: '#546779' }}&gt;4.4 通知纠错&lt;/Text&gt;&#10;        &lt;Text style={{ fontSize: 14, color: '#546779' }}&gt;2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4.4.6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人工判分与失败解释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常见结果的合理解释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971550" y="1533525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看到的情况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4743450" y="1533525"/>
            <a:ext cx="666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怎样解释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609600" y="1838325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2" name=""/>
          <p:cNvSpPr/>
          <p:nvPr/>
        </p:nvSpPr>
        <p:spPr>
          <a:xfrm rot="0" flipH="0" flipV="0">
            <a:off x="781050" y="204787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971550" y="2219325"/>
            <a:ext cx="3619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历史导出仍含旧公告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4743450" y="2181225"/>
            <a:ext cx="6667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保留历史，不等于替代失败。退出的是有效态，不是删掉过去。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609600" y="2886075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6" name=""/>
          <p:cNvSpPr/>
          <p:nvPr/>
        </p:nvSpPr>
        <p:spPr>
          <a:xfrm rot="0" flipH="0" flipV="0">
            <a:off x="781050" y="309562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971550" y="3267075"/>
            <a:ext cx="3619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仅有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SUPERSEDED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标签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4743450" y="3228975"/>
            <a:ext cx="6667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标签不够，仍需新节点、固定问题的真实检索和后续行动。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609600" y="3933825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60" name=""/>
          <p:cNvSpPr/>
          <p:nvPr/>
        </p:nvSpPr>
        <p:spPr>
          <a:xfrm rot="0" flipH="0" flipV="0">
            <a:off x="781050" y="414337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971550" y="4314825"/>
            <a:ext cx="3619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消息正常，行动仍旧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4743450" y="4276725"/>
            <a:ext cx="6667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查来源判断、检索是否取回旧节点、待确认便签的进度。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609600" y="4981575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64" name=""/>
          <p:cNvSpPr/>
          <p:nvPr/>
        </p:nvSpPr>
        <p:spPr>
          <a:xfrm rot="0" flipH="0" flipV="0">
            <a:off x="781050" y="519112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971550" y="5362575"/>
            <a:ext cx="3619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公告根本没改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4743450" y="5324475"/>
            <a:ext cx="6667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先报触发未满足，不叫模型遗忘。条件没达到，谈不上纠错失败。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通知纠错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24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69" name="" descr="&lt;Slide notes={`报告结果的时候，还有几件事不能省。&#10;&#10;第一，N 个人里 s 个已经证实、u 个还没核验，就报区间 [s/N，（s+u）/N] 和那个 u，不要替未知强行下判断。&#10;&#10;第二，如果一次 Run 里零相关行动，那就记「不适用」，不要填一个 0，因为分母根本不存在。&#10;&#10;第三，零过期不等于传播全面。得同时看覆盖率：如果没有人真的收到更正，那零过期什么也说明不了。&#10;&#10;第四，记忆纠正要看两样东西——节点的有效态，以及固定问题下的真实检索结果。一次限量检索没有返回旧节点，不足以证明纠正成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4.5 — 4.4.6　报告与边界&lt;/Text&gt;&#10;            &lt;Text style={{ fontSize: 34, fontWeight: 'bold', color: '#20344B' }}&gt;记分之外还要报告什么&lt;/Text&gt;&#10;        &lt;/Box&gt;&#10;    &lt;/Box&gt;&#10;&#10;    &lt;Box style={{ height: 540, flexDirection: 'column', justifyContent: 'center', gap: 14 }}&gt;&#10;&#10;        &lt;Box style={{ height: 220, background: '#EDF4FC', borderRadius: 12, padding: '26px 28px', flexDirection: 'column', justifyContent: 'center', gap: 8 }}&gt;&#10;            &lt;Text style={{ fontSize: 19, fontWeight: 'bold', color: '#20344B' }}&gt;部分证实时的报告范围&lt;/Text&gt;&#10;            &lt;Text style={{ fontSize: 88, fontWeight: 'bold', color: '#276FBF', lineHeight: 1 }}&gt;[s/N，（s+u）/N]&lt;/Text&gt;&#10;            &lt;Text style={{ fontSize: 15, color: '#546779', lineHeight: 1.5 }}&gt;N 人中 s 人已证实、u 人未核验：报这个区间与 u，不强判未知。&lt;/Text&gt;&#10;        &lt;/Box&gt;&#10;&#10;        &lt;Box style={{ flexDirection: 'row', gap: 16 }}&gt;&#10;            &lt;Box style={{ width: 373, height: 150, background: '#F4F7FA', borderRadius: 10, padding: '18px 20px', flexDirection: 'column', gap: 8 }}&gt;&#10;                &lt;Text style={{ fontSize: 17, fontWeight: 'bold', color: '#20344B' }}&gt;零相关行动记不适用&lt;/Text&gt;&#10;                &lt;Text style={{ fontSize: 14, color: '#546779', lineHeight: 1.65 }}&gt;没有任何相关动作就没有分母，记「不适用」，不要填 0。&lt;/Text&gt;&#10;            &lt;/Box&gt;&#10;            &lt;Box style={{ width: 373, height: 150, background: '#FFF4E6', borderRadius: 10, padding: '18px 20px', flexDirection: 'column', gap: 8 }}&gt;&#10;                &lt;Text style={{ fontSize: 17, fontWeight: 'bold', color: '#CB6B28' }}&gt;零过期不等于传播全面&lt;/Text&gt;&#10;                &lt;Text style={{ fontSize: 14, color: '#546779', lineHeight: 1.65 }}&gt;必须同时看覆盖率：没人收到更正时，零过期没有意义。&lt;/Text&gt;&#10;            &lt;/Box&gt;&#10;            &lt;Box style={{ width: 374, height: 150, background: '#F4F7FA', borderRadius: 10, padding: '18px 20px', flexDirection: 'column', gap: 8 }}&gt;&#10;                &lt;Text style={{ fontSize: 17, fontWeight: 'bold', color: '#20344B' }}&gt;一次限量检索不够&lt;/Text&gt;&#10;                &lt;Text style={{ fontSize: 14, color: '#546779', lineHeight: 1.65 }}&gt;记忆纠正要同时看节点有效态，和固定问题下的真实检索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4 通知纠错&lt;/Text&gt;&#10;        &lt;Text style={{ fontSize: 14, color: '#546779' }}&gt;2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4.4.5 — 4.4.6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报告与边界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记分之外还要报告什么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609600" y="1885950"/>
            <a:ext cx="10972800" cy="2095500"/>
          </a:xfrm>
          <a:prstGeom prst="roundRect">
            <a:avLst>
              <a:gd name="adj" fmla="val 545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876300" y="2114550"/>
            <a:ext cx="10439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部分证实时的报告范围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876300" y="2409825"/>
            <a:ext cx="104394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276FBF"/>
                </a:solidFill>
                <a:latin typeface="Microsoft YaHei"/>
                <a:ea typeface="Microsoft YaHei"/>
              </a:rPr>
              <a:t>[s/N</a:t>
            </a:r>
            <a:r>
              <a:rPr lang="zh-CN" sz="6600" b="1">
                <a:solidFill>
                  <a:srgbClr val="276FBF"/>
                </a:solidFill>
                <a:latin typeface="Microsoft YaHei"/>
                <a:ea typeface="Microsoft YaHei"/>
              </a:rPr>
              <a:t>，（</a:t>
            </a:r>
            <a:r>
              <a:rPr lang="en-US" sz="6600" b="1">
                <a:solidFill>
                  <a:srgbClr val="276FBF"/>
                </a:solidFill>
                <a:latin typeface="Microsoft YaHei"/>
                <a:ea typeface="Microsoft YaHei"/>
              </a:rPr>
              <a:t>s+u</a:t>
            </a:r>
            <a:r>
              <a:rPr lang="zh-CN" sz="6600" b="1">
                <a:solidFill>
                  <a:srgbClr val="276FBF"/>
                </a:solidFill>
                <a:latin typeface="Microsoft YaHei"/>
                <a:ea typeface="Microsoft YaHei"/>
              </a:rPr>
              <a:t>）</a:t>
            </a:r>
            <a:r>
              <a:rPr lang="en-US" sz="6600" b="1">
                <a:solidFill>
                  <a:srgbClr val="276FBF"/>
                </a:solidFill>
                <a:latin typeface="Microsoft YaHei"/>
                <a:ea typeface="Microsoft YaHei"/>
              </a:rPr>
              <a:t>/N]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876300" y="3495675"/>
            <a:ext cx="10439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人中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人已证实、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u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人未核验：报这个区间与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u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，不强判未知。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609600" y="4114800"/>
            <a:ext cx="3552825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800100" y="4286250"/>
            <a:ext cx="3171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零相关行动记不适用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800100" y="4562475"/>
            <a:ext cx="31718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没有任何相关动作就没有分母，记「不适用」，不要填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4314825" y="4114800"/>
            <a:ext cx="3552825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4505325" y="4286250"/>
            <a:ext cx="3171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零过期不等于传播全面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4505325" y="4562475"/>
            <a:ext cx="31718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必须同时看覆盖率：没人收到更正时，零过期没有意义。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8020050" y="4114800"/>
            <a:ext cx="356235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8210550" y="4286250"/>
            <a:ext cx="3181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一次限量检索不够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8210550" y="4562475"/>
            <a:ext cx="31813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记忆纠正要同时看节点有效态，和固定问题下的真实检索。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通知纠错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389" name="" descr="&lt;Slide notes={`出了问题要倒着查，别停在摘要上。&#10;&#10;先从结果出发，看相关行动和过期计数；再往下走到具体的 Agent，区分是哪一个角色的动作；再落到具体人物，看他的接收时刻和判断；最后才到记忆和对话这一层，去找摘要和原始记录。&#10;&#10;核对的时候要用真实材料。第一，已提交记录，确认动作和发言真的提交过，不是只存在于摘要里。第二，状态导出，用来核对记忆节点的有效态和替代关系，包括记忆 ID 对不对得上。第三，检索结果，看固定问题在这个 Run 下真实返回了哪些节点。第四，对话与便签，确认角色之间真的发生过那次 SPEAK，以及待确认便签有没有兑现。&#10;&#10;顺序别跳：摘要看起来对，不代表底下的证据链成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4.6　人工判分与失败解释&lt;/Text&gt;&#10;            &lt;Text style={{ fontSize: 34, fontWeight: 'bold', color: '#20344B' }}&gt;从结果倒着核对&lt;/Text&gt;&#10;        &lt;/Box&gt;&#10;    &lt;/Box&gt;&#10;&#10;    &lt;Box style={{ height: 540, flexDirection: 'row', alignItems: 'center', gap: 32 }}&gt;&#10;&#10;        &lt;Box style={{ width: 452, flexDirection: 'column', gap: 10 }}&gt;&#10;&#10;            &lt;Text style={{ fontSize: 15, fontWeight: 'bold', color: '#276FBF' }}&gt;从结果一层层往下走&lt;/Text&gt;&#10;&#10;            &lt;Box style={{ width: 452, height: 88, background: '#EDF4FC', borderRadius: 8, flexDirection: 'row', alignItems: 'center', gap: 12, padding: '0 16px' }}&gt;&#10;                &lt;Box style={{ width: 26, height: 26, background: '#276FBF', borderRadius: 6, justifyContent: 'center', alignItems: 'center' }}&gt;&#10;                    &lt;Text style={{ fontSize: 13, color: '#FFFFFF' }}&gt;1&lt;/Text&gt;&#10;                &lt;/Box&gt;&#10;                &lt;Box style={{ flexDirection: 'column', gap: 3 }}&gt;&#10;                    &lt;Text style={{ fontSize: 17, fontWeight: 'bold', color: '#276FBF' }}&gt;结果&lt;/Text&gt;&#10;                    &lt;Text style={{ fontSize: 14, color: '#546779' }}&gt;相关行动与过期计数&lt;/Text&gt;&#10;                &lt;/Box&gt;&#10;            &lt;/Box&gt;&#10;&#10;            &lt;Box style={{ width: 452, height: 88, background: '#EDF4FC', borderRadius: 8, flexDirection: 'row', alignItems: 'center', gap: 12, padding: '0 16px' }}&gt;&#10;                &lt;Box style={{ width: 26, height: 26, background: '#276FBF', borderRadius: 6, justifyContent: 'center', alignItems: 'center' }}&gt;&#10;                    &lt;Text style={{ fontSize: 13, color: '#FFFFFF' }}&gt;2&lt;/Text&gt;&#10;                &lt;/Box&gt;&#10;                &lt;Box style={{ flexDirection: 'column', gap: 3 }}&gt;&#10;                    &lt;Text style={{ fontSize: 17, fontWeight: 'bold', color: '#276FBF' }}&gt;Agent&lt;/Text&gt;&#10;                    &lt;Text style={{ fontSize: 14, color: '#546779' }}&gt;是哪个角色的动作&lt;/Text&gt;&#10;                &lt;/Box&gt;&#10;            &lt;/Box&gt;&#10;&#10;            &lt;Box style={{ width: 452, height: 88, background: '#EDF4FC', borderRadius: 8, flexDirection: 'row', alignItems: 'center', gap: 12, padding: '0 16px' }}&gt;&#10;                &lt;Box style={{ width: 26, height: 26, background: '#276FBF', borderRadius: 6, justifyContent: 'center', alignItems: 'center' }}&gt;&#10;                    &lt;Text style={{ fontSize: 13, color: '#FFFFFF' }}&gt;3&lt;/Text&gt;&#10;                &lt;/Box&gt;&#10;                &lt;Box style={{ flexDirection: 'column', gap: 3 }}&gt;&#10;                    &lt;Text style={{ fontSize: 17, fontWeight: 'bold', color: '#276FBF' }}&gt;人物&lt;/Text&gt;&#10;                    &lt;Text style={{ fontSize: 14, color: '#546779' }}&gt;接收时刻与来源判断&lt;/Text&gt;&#10;                &lt;/Box&gt;&#10;            &lt;/Box&gt;&#10;&#10;            &lt;Box style={{ width: 452, height: 88, background: '#F4F7FA', borderRadius: 8, flexDirection: 'row', alignItems: 'center', gap: 12, padding: '0 16px' }}&gt;&#10;                &lt;Box style={{ width: 26, height: 26, background: '#546779', borderRadius: 6, justifyContent: 'center', alignItems: 'center' }}&gt;&#10;                    &lt;Text style={{ fontSize: 13, color: '#FFFFFF' }}&gt;4&lt;/Text&gt;&#10;                &lt;/Box&gt;&#10;                &lt;Box style={{ flexDirection: 'column', gap: 3 }}&gt;&#10;                    &lt;Text style={{ fontSize: 17, fontWeight: 'bold', color: '#20344B' }}&gt;记忆／对话&lt;/Text&gt;&#10;                    &lt;Text style={{ fontSize: 14, color: '#546779' }}&gt;摘要与原始记录&lt;/Text&gt;&#10;                &lt;/Box&gt;&#10;            &lt;/Box&gt;&#10;&#10;        &lt;/Box&gt;&#10;&#10;        &lt;Box style={{ width: 668, flexDirection: 'column', gap: 10 }}&gt;&#10;&#10;            &lt;Text style={{ fontSize: 15, fontWeight: 'bold', color: '#26816B' }}&gt;拿这四类真实材料去核对&lt;/Text&gt;&#10;&#10;            &lt;Box style={{ width: 668, height: 88, background: '#ECF7F2', borderRadius: 8, flexDirection: 'row', alignItems: 'center', gap: 14, padding: '0 18px' }}&gt;&#10;                &lt;Box style={{ width: 4, height: 52, background: '#26816B' }} /&gt;&#10;                &lt;Box style={{ flexDirection: 'column', gap: 3 }}&gt;&#10;                    &lt;Text style={{ fontSize: 17, fontWeight: 'bold', color: '#26816B' }}&gt;已提交记录&lt;/Text&gt;&#10;                    &lt;Text style={{ fontSize: 14, color: '#546779' }}&gt;动作与发言真的提交过，不是只写在摘要里&lt;/Text&gt;&#10;                &lt;/Box&gt;&#10;            &lt;/Box&gt;&#10;&#10;            &lt;Box style={{ width: 668, height: 88, background: '#ECF7F2', borderRadius: 8, flexDirection: 'row', alignItems: 'center', gap: 14, padding: '0 18px' }}&gt;&#10;                &lt;Box style={{ width: 4, height: 52, background: '#26816B' }} /&gt;&#10;                &lt;Box style={{ flexDirection: 'column', gap: 3 }}&gt;&#10;                    &lt;Text style={{ fontSize: 17, fontWeight: 'bold', color: '#26816B' }}&gt;状态导出&lt;/Text&gt;&#10;                    &lt;Text style={{ fontSize: 14, color: '#546779' }}&gt;核对节点有效态、替代关系与真实记忆 ID&lt;/Text&gt;&#10;                &lt;/Box&gt;&#10;            &lt;/Box&gt;&#10;&#10;            &lt;Box style={{ width: 668, height: 88, background: '#ECF7F2', borderRadius: 8, flexDirection: 'row', alignItems: 'center', gap: 14, padding: '0 18px' }}&gt;&#10;                &lt;Box style={{ width: 4, height: 52, background: '#26816B' }} /&gt;&#10;                &lt;Box style={{ flexDirection: 'column', gap: 3 }}&gt;&#10;                    &lt;Text style={{ fontSize: 17, fontWeight: 'bold', color: '#26816B' }}&gt;检索结果&lt;/Text&gt;&#10;                    &lt;Text style={{ fontSize: 14, color: '#546779' }}&gt;固定问题在该 Run 下真实返回了哪些节点&lt;/Text&gt;&#10;                &lt;/Box&gt;&#10;            &lt;/Box&gt;&#10;&#10;            &lt;Box style={{ width: 668, height: 88, background: '#ECF7F2', borderRadius: 8, flexDirection: 'row', alignItems: 'center', gap: 14, padding: '0 18px' }}&gt;&#10;                &lt;Box style={{ width: 4, height: 52, background: '#26816B' }} /&gt;&#10;                &lt;Box style={{ flexDirection: 'column', gap: 3 }}&gt;&#10;                    &lt;Text style={{ fontSize: 17, fontWeight: 'bold', color: '#26816B' }}&gt;对话与便签&lt;/Text&gt;&#10;                    &lt;Text style={{ fontSize: 14, color: '#546779' }}&gt;确认那次 SPEAK 真实发生、待确认便签是否兑现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4 通知纠错&lt;/Text&gt;&#10;        &lt;Text style={{ fontSize: 14, color: '#546779' }}&gt;2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4.4.6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人工判分与失败解释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从结果倒着核对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609600" y="1762125"/>
            <a:ext cx="430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从结果一层层往下走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609600" y="2028825"/>
            <a:ext cx="430530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6" name=""/>
          <p:cNvSpPr/>
          <p:nvPr/>
        </p:nvSpPr>
        <p:spPr>
          <a:xfrm rot="0" flipH="0" flipV="0">
            <a:off x="762000" y="23241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847725" y="23717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1123950" y="2257425"/>
            <a:ext cx="1200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结果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1123950" y="2486025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相关行动与过期计数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609600" y="2962275"/>
            <a:ext cx="430530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01" name=""/>
          <p:cNvSpPr/>
          <p:nvPr/>
        </p:nvSpPr>
        <p:spPr>
          <a:xfrm rot="0" flipH="0" flipV="0">
            <a:off x="762000" y="32575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847725" y="33051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1123950" y="3190875"/>
            <a:ext cx="1066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1123950" y="34194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是哪个角色的动作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609600" y="3895725"/>
            <a:ext cx="430530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06" name=""/>
          <p:cNvSpPr/>
          <p:nvPr/>
        </p:nvSpPr>
        <p:spPr>
          <a:xfrm rot="0" flipH="0" flipV="0">
            <a:off x="762000" y="41910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847725" y="42386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1123950" y="4124325"/>
            <a:ext cx="1200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人物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1123950" y="4352925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接收时刻与来源判断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609600" y="4829175"/>
            <a:ext cx="43053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11" name=""/>
          <p:cNvSpPr/>
          <p:nvPr/>
        </p:nvSpPr>
        <p:spPr>
          <a:xfrm rot="0" flipH="0" flipV="0">
            <a:off x="762000" y="51244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847725" y="51720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123950" y="5057775"/>
            <a:ext cx="933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记忆／对话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1123950" y="528637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摘要与原始记录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5219700" y="1762125"/>
            <a:ext cx="6362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拿这四类真实材料去核对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5219700" y="2028825"/>
            <a:ext cx="6362700" cy="83820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7" name=""/>
          <p:cNvSpPr/>
          <p:nvPr/>
        </p:nvSpPr>
        <p:spPr>
          <a:xfrm rot="0" flipH="0" flipV="0">
            <a:off x="5391150" y="2200275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5562600" y="2257425"/>
            <a:ext cx="2533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已提交记录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5562600" y="2486025"/>
            <a:ext cx="2533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动作与发言真的提交过，不是只写在摘要里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5219700" y="2962275"/>
            <a:ext cx="6362700" cy="83820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21" name=""/>
          <p:cNvSpPr/>
          <p:nvPr/>
        </p:nvSpPr>
        <p:spPr>
          <a:xfrm rot="0" flipH="0" flipV="0">
            <a:off x="5391150" y="3133725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5562600" y="3190875"/>
            <a:ext cx="2447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状态导出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5562600" y="3419475"/>
            <a:ext cx="2447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核对节点有效态、替代关系与真实记忆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5219700" y="3895725"/>
            <a:ext cx="6362700" cy="83820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25" name=""/>
          <p:cNvSpPr/>
          <p:nvPr/>
        </p:nvSpPr>
        <p:spPr>
          <a:xfrm rot="0" flipH="0" flipV="0">
            <a:off x="5391150" y="4067175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5562600" y="4124325"/>
            <a:ext cx="2466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检索结果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5562600" y="4352925"/>
            <a:ext cx="2466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固定问题在该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下真实返回了哪些节点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5219700" y="4829175"/>
            <a:ext cx="6362700" cy="83820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29" name=""/>
          <p:cNvSpPr/>
          <p:nvPr/>
        </p:nvSpPr>
        <p:spPr>
          <a:xfrm rot="0" flipH="0" flipV="0">
            <a:off x="5391150" y="5000625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5562600" y="5057775"/>
            <a:ext cx="289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对话与便签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5562600" y="5286375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确认那次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SPEAK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真实发生、待确认便签是否兑现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通知纠错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24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34" name="" descr="&lt;Slide notes={`留一个练习：「我记得旧公告是杏厅，但现在请去杉厅」，为什么不算传播过期通知？&#10;&#10;拆成三点。第一，他引用的是历史观察，说的是「我记得」，指向过去的经历，而不是当前仍在生效的信念。第二，他的行动方向也不一样，他请对方去杉厅，行动目标和新会址是一致的。第三，所以这句 SPEAK 不进过期分母。真正的过期是指向旧会址的行动。&#10;&#10;再往前一步：如果只有一个撤销操作、没有给出新址，那会是什么情形？这就要求我们单独设计 invalidate 的条件——撤销旧信念但不提供替代内容，必须另设一组，另外写清口径，不能混进这一次的追加和替代对照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4.6　人工判分与失败解释&lt;/Text&gt;&#10;            &lt;Text style={{ fontSize: 34, fontWeight: 'bold', color: '#20344B' }}&gt;练习：旧消息为什么不算传播过期&lt;/Text&gt;&#10;        &lt;/Box&gt;&#10;    &lt;/Box&gt;&#10;&#10;    &lt;Box style={{ height: 540, flexDirection: 'column', justifyContent: 'center', gap: 10 }}&gt;&#10;&#10;        &lt;Text style={{ fontSize: 17, fontWeight: 'bold', color: '#20344B' }}&gt;「我记得旧公告是杏厅，但现在请去杉厅」为什么不是传播过期通知？&lt;/Text&gt;&#10;&#10;        &lt;Box style={{ height: 100, background: '#F4F7FA', borderRadius: 10, flexDirection: 'row', alignItems: 'center', gap: 12, padding: '0 20px' }}&gt;&#10;            &lt;Box style={{ width: 28, height: 28, background: '#276FBF', borderRadius: 6, justifyContent: 'center', alignItems: 'center' }}&gt;&#10;                &lt;Text style={{ fontSize: 14, color: '#FFFFFF' }}&gt;1&lt;/Text&gt;&#10;            &lt;/Box&gt;&#10;            &lt;Box style={{ flexDirection: 'column', gap: 3 }}&gt;&#10;                &lt;Text style={{ fontSize: 17, fontWeight: 'bold', color: '#20344B' }}&gt;他引用的是历史观察&lt;/Text&gt;&#10;                &lt;Text style={{ fontSize: 15, color: '#546779' }}&gt;「我记得」指向过去发生过的经历，不是当前仍在生效的信念。&lt;/Text&gt;&#10;            &lt;/Box&gt;&#10;        &lt;/Box&gt;&#10;&#10;        &lt;Box style={{ height: 100, background: '#F4F7FA', borderRadius: 10, flexDirection: 'row', alignItems: 'center', gap: 12, padding: '0 20px' }}&gt;&#10;            &lt;Box style={{ width: 28, height: 28, background: '#276FBF', borderRadius: 6, justifyContent: 'center', alignItems: 'center' }}&gt;&#10;                &lt;Text style={{ fontSize: 14, color: '#FFFFFF' }}&gt;2&lt;/Text&gt;&#10;            &lt;/Box&gt;&#10;            &lt;Box style={{ flexDirection: 'column', gap: 3 }}&gt;&#10;                &lt;Text style={{ fontSize: 17, fontWeight: 'bold', color: '#20344B' }}&gt;行动方向与新会址一致&lt;/Text&gt;&#10;                &lt;Text style={{ fontSize: 15, color: '#546779' }}&gt;他请对方去杉厅，行动目标就是正式会址，不构成过期行动。&lt;/Text&gt;&#10;            &lt;/Box&gt;&#10;        &lt;/Box&gt;&#10;&#10;        &lt;Box style={{ height: 100, background: '#ECF7F2', borderRadius: 10, flexDirection: 'row', alignItems: 'center', gap: 12, padding: '0 20px' }}&gt;&#10;            &lt;Box style={{ width: 28, height: 28, background: '#26816B', borderRadius: 6, justifyContent: 'center', alignItems: 'center' }}&gt;&#10;                &lt;Text style={{ fontSize: 14, color: '#FFFFFF' }}&gt;3&lt;/Text&gt;&#10;            &lt;/Box&gt;&#10;            &lt;Box style={{ flexDirection: 'column', gap: 3 }}&gt;&#10;                &lt;Text style={{ fontSize: 17, fontWeight: 'bold', color: '#26816B' }}&gt;这句 SPEAK 不进过期分母&lt;/Text&gt;&#10;                &lt;Text style={{ fontSize: 15, color: '#546779' }}&gt;过期指的是以旧会址为目标或断言的行动，不是提及历史。&lt;/Text&gt;&#10;            &lt;/Box&gt;&#10;        &lt;/Box&gt;&#10;&#10;        &lt;Box style={{ height: 132, background: '#FFF4E6', borderRadius: 10, flexDirection: 'row', alignItems: 'center', gap: 18, padding: '0 20px' }}&gt;&#10;            &lt;Box style={{ width: 4, height: 76, background: '#CB6B28' }} /&gt;&#10;            &lt;Box style={{ flexDirection: 'column', gap: 6 }}&gt;&#10;                &lt;Text style={{ fontSize: 19, fontWeight: 'bold', color: '#CB6B28' }}&gt;独立设计：只有撤销、没有新址时&lt;/Text&gt;&#10;                &lt;Text style={{ fontSize: 15, color: '#546779', lineHeight: 1.6 }}&gt;invalidate 撤销旧信念但不给替代内容，必须另设一组、另写口径；不混入本次追加／替代对照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4 通知纠错&lt;/Text&gt;&#10;        &lt;Text style={{ fontSize: 14, color: '#546779' }}&gt;2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4.4.6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人工判分与失败解释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练习：旧消息为什么不算传播过期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609600" y="1371600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「我记得旧公告是杏厅，但现在请去杉厅」为什么不是传播过期通知？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609600" y="1666875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1" name=""/>
          <p:cNvSpPr/>
          <p:nvPr/>
        </p:nvSpPr>
        <p:spPr>
          <a:xfrm rot="0" flipH="0" flipV="0">
            <a:off x="800100" y="2009775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895350" y="206692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1181100" y="1943100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他引用的是历史观察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1181100" y="2171700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「我记得」指向过去发生过的经历，不是当前仍在生效的信念。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609600" y="2714625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6" name=""/>
          <p:cNvSpPr/>
          <p:nvPr/>
        </p:nvSpPr>
        <p:spPr>
          <a:xfrm rot="0" flipH="0" flipV="0">
            <a:off x="800100" y="3057525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895350" y="31146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1181100" y="2990850"/>
            <a:ext cx="3857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行动方向与新会址一致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1181100" y="3219450"/>
            <a:ext cx="3857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他请对方去杉厅，行动目标就是正式会址，不构成过期行动。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609600" y="3762375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51" name=""/>
          <p:cNvSpPr/>
          <p:nvPr/>
        </p:nvSpPr>
        <p:spPr>
          <a:xfrm rot="0" flipH="0" flipV="0">
            <a:off x="800100" y="4105275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895350" y="416242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1181100" y="4038600"/>
            <a:ext cx="3714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这句</a:t>
            </a: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SPEAK </a:t>
            </a: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不进过期分母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1181100" y="4267200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过期指的是以旧会址为目标或断言的行动，不是提及历史。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609600" y="4810125"/>
            <a:ext cx="10972800" cy="1257300"/>
          </a:xfrm>
          <a:prstGeom prst="roundRect">
            <a:avLst>
              <a:gd name="adj" fmla="val 757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6" name=""/>
          <p:cNvSpPr/>
          <p:nvPr/>
        </p:nvSpPr>
        <p:spPr>
          <a:xfrm rot="0" flipH="0" flipV="0">
            <a:off x="800100" y="5076825"/>
            <a:ext cx="38100" cy="723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1009650" y="5162550"/>
            <a:ext cx="6134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独立设计：只有撤销、没有新址时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1009650" y="5438775"/>
            <a:ext cx="61341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invalidate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撤销旧信念但不给替代内容，必须另设一组、另写口径；不混入本次追加／替代对照。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通知纠错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61" name="" descr="&lt;Slide notes={`最后把三个追问留下来。&#10;&#10;第一个，旧信念还在有效态吗？收到正式更正之后，到底只是追加了一条新信念，还是让原来那条退出了默认有效检索。这个问题决定了旧消息还会不会回来。&#10;&#10;第二个，谁真的收到了？要报覆盖率，没收到的人单独列出来，不能给他们填一个窗口长度。&#10;&#10;第三个，我数的是行动还是人？过期行动率的分母是相关动作，不是人数，所以 2/4 不能读成一半人还相信旧会址。零过期也不等于传播全面，必须同时看覆盖率。&#10;&#10;把这三个问题记住，你再看任何一个记忆类实验，都会先去找证据链，再去读结论。`} style={{ width: 1280, height: 720, background: '#FFFFFF', flexDirection: 'column', padding: '20px 64px' }}&gt;&#10;&#10;    &lt;Box style={{ height: 640, flexDirection: 'column', justifyContent: 'center', gap: 14 }}&gt;&#10;&#10;        &lt;Text style={{ fontSize: 15, color: '#276FBF' }}&gt;4.4 通知纠错　·　结语&lt;/Text&gt;&#10;&#10;        &lt;Text style={{ fontSize: 56, fontWeight: 'bold', color: '#20344B', lineHeight: 1.15 }}&gt;记住三个追问&lt;/Text&gt;&#10;&#10;        &lt;Box style={{ width: 72, height: 4, background: '#276FBF' }} /&gt;&#10;&#10;        &lt;Box style={{ flexDirection: 'column', gap: 12, marginTop: 8 }}&gt;&#10;&#10;            &lt;Box style={{ width: 1000, height: 84, background: '#FFF4E6', borderRadius: 10, flexDirection: 'row', alignItems: 'center', gap: 18, padding: '0 22px' }}&gt;&#10;                &lt;Box style={{ width: 38, height: 38, background: '#CB6B28', borderRadius: 8, justifyContent: 'center', alignItems: 'center' }}&gt;&#10;                    &lt;Text style={{ fontSize: 18, fontWeight: 'bold', color: '#FFFFFF' }}&gt;1&lt;/Text&gt;&#10;                &lt;/Box&gt;&#10;                &lt;Box style={{ flexDirection: 'column', gap: 4 }}&gt;&#10;                    &lt;Text style={{ fontSize: 20, fontWeight: 'bold', color: '#CB6B28' }}&gt;旧信念还在有效态吗&lt;/Text&gt;&#10;                    &lt;Text style={{ fontSize: 15, color: '#546779' }}&gt;追加了一条新信念，旧的那条有没有退出默认有效检索。&lt;/Text&gt;&#10;                &lt;/Box&gt;&#10;            &lt;/Box&gt;&#10;&#10;            &lt;Box style={{ width: 1000, height: 84, background: '#EDF4FC', borderRadius: 10, flexDirection: 'row', alignItems: 'center', gap: 18, padding: '0 22px' }}&gt;&#10;                &lt;Box style={{ width: 38, height: 38, background: '#276FBF', borderRadius: 8, justifyContent: 'center', alignItems: 'center' }}&gt;&#10;                    &lt;Text style={{ fontSize: 18, fontWeight: 'bold', color: '#FFFFFF' }}&gt;2&lt;/Text&gt;&#10;                &lt;/Box&gt;&#10;                &lt;Box style={{ flexDirection: 'column', gap: 4 }}&gt;&#10;                    &lt;Text style={{ fontSize: 20, fontWeight: 'bold', color: '#276FBF' }}&gt;谁真的收到了&lt;/Text&gt;&#10;                    &lt;Text style={{ fontSize: 15, color: '#546779' }}&gt;覆盖率是多少，未接收者有没有单列、有没有被填窗口长度。&lt;/Text&gt;&#10;                &lt;/Box&gt;&#10;            &lt;/Box&gt;&#10;&#10;            &lt;Box style={{ width: 1000, height: 84, background: '#ECF7F2', borderRadius: 10, flexDirection: 'row', alignItems: 'center', gap: 18, padding: '0 22px' }}&gt;&#10;                &lt;Box style={{ width: 38, height: 38, background: '#26816B', borderRadius: 8, justifyContent: 'center', alignItems: 'center' }}&gt;&#10;                    &lt;Text style={{ fontSize: 18, fontWeight: 'bold', color: '#FFFFFF' }}&gt;3&lt;/Text&gt;&#10;                &lt;/Box&gt;&#10;                &lt;Box style={{ flexDirection: 'column', gap: 4 }}&gt;&#10;                    &lt;Text style={{ fontSize: 20, fontWeight: 'bold', color: '#26816B' }}&gt;我数的是行动还是人&lt;/Text&gt;&#10;                    &lt;Text style={{ fontSize: 15, color: '#546779' }}&gt;分母是相关动作；零过期不等于传播全面，要同时看覆盖率。&lt;/Text&gt;&#10;                &lt;/Box&gt;&#10;            &lt;/Box&gt;&#10;&#10;        &lt;/Box&gt;&#10;&#10;        &lt;Text style={{ fontSize: 14, color: '#546779', marginTop: 6 }}&gt;青禾读写交流为虚构教案，尚无实验或 Run；本节全部数值口径均为预登记设定。&lt;/Text&gt;&#10;&#10;    &lt;/Box&gt;&#10;&#10;    &lt;Box style={{ height: 40, flexDirection: 'row', justifyContent: 'space-between', alignItems: 'center' }}&gt;&#10;        &lt;Text style={{ fontSize: 14, color: '#546779' }}&gt;4.4 通知纠错：让过期消息退出当前认识&lt;/Text&gt;&#10;        &lt;Text style={{ fontSize: 14, color: '#546779' }}&gt;2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609600" y="10382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4.4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通知纠错　·　结语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609600" y="13430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记住三个追问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609600" y="22193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6" name=""/>
          <p:cNvSpPr/>
          <p:nvPr/>
        </p:nvSpPr>
        <p:spPr>
          <a:xfrm rot="0" flipH="0" flipV="0">
            <a:off x="609600" y="2466975"/>
            <a:ext cx="95250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67" name=""/>
          <p:cNvSpPr/>
          <p:nvPr/>
        </p:nvSpPr>
        <p:spPr>
          <a:xfrm rot="0" flipH="0" flipV="0">
            <a:off x="819150" y="268605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942975" y="27622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1352550" y="2647950"/>
            <a:ext cx="3571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旧信念还在有效态吗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1352550" y="2914650"/>
            <a:ext cx="3571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追加了一条新信念，旧的那条有没有退出默认有效检索。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609600" y="3381375"/>
            <a:ext cx="9525000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2" name=""/>
          <p:cNvSpPr/>
          <p:nvPr/>
        </p:nvSpPr>
        <p:spPr>
          <a:xfrm rot="0" flipH="0" flipV="0">
            <a:off x="819150" y="360045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942975" y="36766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1352550" y="3562350"/>
            <a:ext cx="3857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谁真的收到了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1352550" y="3829050"/>
            <a:ext cx="3857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覆盖率是多少，未接收者有没有单列、有没有被填窗口长度。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609600" y="4295775"/>
            <a:ext cx="9525000" cy="800100"/>
          </a:xfrm>
          <a:prstGeom prst="roundRect">
            <a:avLst>
              <a:gd name="adj" fmla="val 1190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77" name=""/>
          <p:cNvSpPr/>
          <p:nvPr/>
        </p:nvSpPr>
        <p:spPr>
          <a:xfrm rot="0" flipH="0" flipV="0">
            <a:off x="819150" y="451485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942975" y="45910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1352550" y="4476750"/>
            <a:ext cx="3857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我数的是行动还是人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1352550" y="4743450"/>
            <a:ext cx="3857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分母是相关动作；零过期不等于传播全面，要同时看覆盖率。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609600" y="528637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青禾读写交流为虚构教案，尚无实验或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；本节全部数值口径均为预登记设定。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36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通知纠错：让过期消息退出当前认识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2026-09-29T09:54:26Z</dcterms:created>
  <dcterms:modified xsi:type="dcterms:W3CDTF">2026-09-29T09:54:26Z</dcterms:modified>
</cp:coreProperties>
</file>