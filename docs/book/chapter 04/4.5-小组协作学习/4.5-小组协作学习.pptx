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9" Type="http://schemas.openxmlformats.org/officeDocument/2006/relationships/slide" Target="slides/slide9.xml" /><Relationship Id="rId27" Type="http://schemas.openxmlformats.org/officeDocument/2006/relationships/notesMaster" Target="notesMasters/notesMaster1.xml" 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我先说清楚这一节要解决什么问题。三名成员各自拿到一张条件卡，题面本身是共同的，但限制是分散的：有人说了一条，有人说了两条，主持人手上一条都没有。</a:t>
            </a:r>
          </a:p>
          <a:p>
            <a:r>
              <a:rPr lang="zh-CN" dirty="0"/>
              <a:t>于是会出现两种看起来很像的结果——随手排一个说得通的方案，也可能恰好满足六项。可那是猜中的，不是推出来的。</a:t>
            </a:r>
          </a:p>
          <a:p>
            <a:r>
              <a:rPr lang="zh-CN" dirty="0"/>
              <a:t>本节唯一改变的地方，是在准备定稿的时候显式调用一次逐项核对：把已经收到的限制和当前候选逐条比一遍，缺什么就标出来，再决定是追问、修订还是定稿。</a:t>
            </a:r>
          </a:p>
          <a:p>
            <a:r>
              <a:rPr lang="zh-CN" dirty="0"/>
              <a:t>最后提醒一句：这是一个虚构的排程题，只有唯一解，它不证明现实里学生合作学习的效果，也不证明系统的业务成败。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这一节一共四个知识块，我先交代它们的顺序和分工。</a:t>
            </a:r>
          </a:p>
          <a:p>
            <a:r>
              <a:rPr lang="zh-CN" dirty="0"/>
              <a:t>第一块是信息从哪来：共同题面怎么定，四条私有限制为什么必须分别发给持有者。</a:t>
            </a:r>
          </a:p>
          <a:p>
            <a:r>
              <a:rPr lang="zh-CN" dirty="0"/>
              <a:t>第二块是信息怎么流动，也就是一次发言到底送给了谁，以及定稿以哪一次发言为准。</a:t>
            </a:r>
          </a:p>
          <a:p>
            <a:r>
              <a:rPr lang="zh-CN" dirty="0"/>
              <a:t>第三块把评价口径摊开：主指标是满足条件数除以七，同时还要报四个并列的分母。</a:t>
            </a:r>
          </a:p>
          <a:p>
            <a:r>
              <a:rPr lang="zh-CN" dirty="0"/>
              <a:t>第四块回到教师那一侧，看唯一解、看六项满足为什么仍不是完全正确，以及失败时该查哪里。</a:t>
            </a:r>
          </a:p>
          <a:p>
            <a:r>
              <a:rPr lang="zh-CN" dirty="0"/>
              <a:t>四块的顺序不能颠倒，因为它们是一层层往下的：先有信息，再有传递，然后才有可判分的结论。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这一段只做两件事：把题目说清楚，把条件分配说清楚。</a:t>
            </a:r>
          </a:p>
          <a:p>
            <a:r>
              <a:rPr lang="zh-CN" dirty="0"/>
              <a:t>题目本身是共同的。三个活动各五十分钟，一共只允许九点、十点、十一点三个开始时间，每个时段恰好安排一项；教室只有三间，每间在本题恰好用一次；每一项都必须同时写着时段和教室，缺一样就不算完整安排。</a:t>
            </a:r>
          </a:p>
          <a:p>
            <a:r>
              <a:rPr lang="zh-CN" dirty="0"/>
              <a:t>条件分配不共同。温乔一条、任新一条、白露两条，主持人手上一条都没有。</a:t>
            </a:r>
          </a:p>
          <a:p>
            <a:r>
              <a:rPr lang="zh-CN" dirty="0"/>
              <a:t>我特别要强调题面里那句话：「教室只用一次」是题目的硬限制。不能因为它不符合现实——现实里教室当然可以重复使用——就把这条限制取消掉。取消它，等于换了一道题。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题目完整读一遍。三个活动是读图阅读、纸艺手作和合作拼图，每项五十分钟；开始时间只能是九点、十点、十一点，每个时段恰好安排一项；教室只有阅览室、操作室和讨论室，每间在本题恰好用一次；每一项都必须同时写着时段和教室，缺一项就不算完整安排。</a:t>
            </a:r>
          </a:p>
          <a:p>
            <a:r>
              <a:rPr lang="zh-CN" dirty="0"/>
              <a:t>再往下是边界。这是我们自己造的纸上案例，所以世界内只做阅读、讨论和定稿这三件事，并不真的举办这三项活动。</a:t>
            </a:r>
          </a:p>
          <a:p>
            <a:r>
              <a:rPr lang="zh-CN" dirty="0"/>
              <a:t>讨论本身另有一个时间：二〇二六年十一月十二日下午两点到三点，一分钟一步，总共六十一步，和纸上的活动日十一月十四日分开。执行前校准就冻结了，不能为了等拼图落到十一点而把讨论停掉。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四条私有限制分别挂在三个人身上。</a:t>
            </a:r>
          </a:p>
          <a:p>
            <a:r>
              <a:rPr lang="zh-CN" dirty="0"/>
              <a:t>温乔那一条是 F1：读图阅读必须早于纸艺手作。任新那一条是 F2：合作拼图必须十一点开始。白露手上有两条，F3 是手作必须在操作室，F4 是阅读必须在阅览室。主持人陶明初始什么都没有，既没有限制也没有教师答案，他手上只有自己实际收到的条件和来源。</a:t>
            </a:r>
          </a:p>
          <a:p>
            <a:r>
              <a:rPr lang="zh-CN" dirty="0"/>
              <a:t>这里最容易出错的是白露。她和主持人之间只有一条人物连线，但那条线承载了两条独立事实。核对的时候要分别去找这两条事实的真实内容；数箭头，数出来是三条条件，那就错了。</a:t>
            </a:r>
          </a:p>
          <a:p>
            <a:r>
              <a:rPr lang="zh-CN" dirty="0"/>
              <a:t>还有一个反方向的错：主持人收到了，不等于其他三个人都收到了。这两件事必须分开记。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三条标着 SPEAK 的箭头表示真实传递。每一句条件都必须由持有者实际说出来，送到某一名接收者那里，才算真的发生过。</a:t>
            </a:r>
          </a:p>
          <a:p>
            <a:r>
              <a:rPr lang="zh-CN" dirty="0"/>
              <a:t>共同题面那一头是输入来源。三个活动、三个时段、三间教室这些公共信息本来就该人人知道；私有限制不一样，只能从持有者那里来，不能从教师资料里补齐。</a:t>
            </a:r>
          </a:p>
          <a:p>
            <a:r>
              <a:rPr lang="zh-CN" dirty="0"/>
              <a:t>等到形成定稿，还要再逐人传达一次。主持人知道，不等于全员知道；同一份方案向三个人各说一遍，也不能算成三项结论。</a:t>
            </a:r>
          </a:p>
          <a:p>
            <a:r>
              <a:rPr lang="zh-CN" dirty="0"/>
              <a:t>另外提前说明一件事：这里的三个教室是纸上的候选值，不是仿真世界里真实的导航目标。我们没有建一个真实场地让角色走过去，选教室这个动作发生在方案文本里，不等于实际移动。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这个案例里有两种东西需要分清：世界内真正发生的动作，和只写在纸上的候选值。</a:t>
            </a:r>
          </a:p>
          <a:p>
            <a:r>
              <a:rPr lang="zh-CN" dirty="0"/>
              <a:t>世界内发生三件事：读图阅读、小组讨论、定稿。也就是说，角色的确会去整理题目、会互相说话、会拿出一份完整安排。</a:t>
            </a:r>
          </a:p>
          <a:p>
            <a:r>
              <a:rPr lang="zh-CN" dirty="0"/>
              <a:t>题目里那三项活动——读图阅读、纸艺手作、合作拼图——并不真的举办。我们做的是一场纸上排程，不是在办活动。</a:t>
            </a:r>
          </a:p>
          <a:p>
            <a:r>
              <a:rPr lang="zh-CN" dirty="0"/>
              <a:t>空间上也只到学习站这一层：青禾社区下面是学习站，学习站里有讨论区和资料区，四个人都知道这两个区的地址。资料区里的对象只回答共同题面，不给解答。</a:t>
            </a:r>
          </a:p>
          <a:p>
            <a:r>
              <a:rPr lang="zh-CN" dirty="0"/>
              <a:t>三个教室是纸上的候选值。不必建一个真实场地，也不能说选了教室就等于角色真的走过去了。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信息有了来源，接下来要看它怎么流动。</a:t>
            </a:r>
          </a:p>
          <a:p>
            <a:r>
              <a:rPr lang="zh-CN" dirty="0"/>
              <a:t>在这个案例里，一次发言只能送达一个人。这听上去是技术细节，其实决定了整件事的评价方式：如果一句话只说到一名成员，那另外两个人的记忆里就没有这条信息。</a:t>
            </a:r>
          </a:p>
          <a:p>
            <a:r>
              <a:rPr lang="zh-CN" dirty="0"/>
              <a:t>所以每一次条件都走三步：真实说出来、被某一个人收到、进入那个人的记忆。缺任何一步，这条信息在小组层面就等于没发生。</a:t>
            </a:r>
          </a:p>
          <a:p>
            <a:r>
              <a:rPr lang="zh-CN" dirty="0"/>
              <a:t>到了定稿，还要再走一遍：主持人把同一份完整安排逐人说明。别人收没收到是要单独登记的，不是默认收到。</a:t>
            </a:r>
          </a:p>
          <a:p>
            <a:r>
              <a:rPr lang="zh-CN" dirty="0"/>
              <a:t>这一段之后会看到，评价里为什么要把「真实准确表达过的条件数」和「方案得分」分成两个分母。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我拿一次具体的交流来说明「只送一个人」是什么意思。</a:t>
            </a:r>
          </a:p>
          <a:p>
            <a:r>
              <a:rPr lang="zh-CN" dirty="0"/>
              <a:t>温乔被问到时，必须真实说出自己的条件：编号 F1，完整限制是读图阅读要早于纸艺手作，来源是她的条件卡。主持人接着把「F1 已收到，来源是温乔」记下来。</a:t>
            </a:r>
          </a:p>
          <a:p>
            <a:r>
              <a:rPr lang="zh-CN" dirty="0"/>
              <a:t>与此同时，任新并不知道 F1。在他的上下文里，这条信息从来没有出现过，所以他不能拿它来检查候选。</a:t>
            </a:r>
          </a:p>
          <a:p>
            <a:r>
              <a:rPr lang="zh-CN" dirty="0"/>
              <a:t>这就带出两个容易混淆的点。第一，公开表达的门槛是至少真实传给一名组内接收者，它是可审查的，但不等于全员接收。第二，遇到含糊或者冲突，要向实际来源追问，而不是去翻教师资料补齐——那样补出来的不是共享，是作弊。</a:t>
            </a:r>
          </a:p>
          <a:p>
            <a:r>
              <a:rPr lang="zh-CN" dirty="0"/>
              <a:t>另外，发言内容本身也要能核对：编号、完整限制、来源，三样都要说。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讨论从头到尾有八个动作，我按顺序念一遍。</a:t>
            </a:r>
          </a:p>
          <a:p>
            <a:r>
              <a:rPr lang="zh-CN" dirty="0"/>
              <a:t>先理解共同题面和自己手上的条件卡，不知道的就保持未知，不要自己编一个。</a:t>
            </a:r>
          </a:p>
          <a:p>
            <a:r>
              <a:rPr lang="zh-CN" dirty="0"/>
              <a:t>被问到时真实发言，把条件编号、完整限制和来源一起说清楚。</a:t>
            </a:r>
          </a:p>
          <a:p>
            <a:r>
              <a:rPr lang="zh-CN" dirty="0"/>
              <a:t>遇到含糊或者冲突，向实际来源追问，不要从教师资料里补齐。</a:t>
            </a:r>
          </a:p>
          <a:p>
            <a:r>
              <a:rPr lang="zh-CN" dirty="0"/>
              <a:t>主持人保存收到的条件和来源，据此提出候选，必要的时候逐人说明。</a:t>
            </a:r>
          </a:p>
          <a:p>
            <a:r>
              <a:rPr lang="zh-CN" dirty="0"/>
              <a:t>成员只按自己已经拿到的限制去检查候选，指出冲突，也要指出还有哪些不知道。</a:t>
            </a:r>
          </a:p>
          <a:p>
            <a:r>
              <a:rPr lang="zh-CN" dirty="0"/>
              <a:t>准备结束时，主持人按照本组的方法核对一遍，然后通过真实发言给出一份标明「最终方案」的完整安排。</a:t>
            </a:r>
          </a:p>
          <a:p>
            <a:r>
              <a:rPr lang="zh-CN" dirty="0"/>
              <a:t>最后再逐人传达同一个版本，修改的话要说明新旧关系；按事实更新记忆，成功完成世界动作后结束这一轮。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判分的时候，我不看哪一句话说得漂亮，也不看最后谁提的方案更接近答案。我看的是：主持人有没有做出一次明确、完整的定稿发言，而且是不是最后一次。</a:t>
            </a:r>
          </a:p>
          <a:p>
            <a:r>
              <a:rPr lang="zh-CN" dirty="0"/>
              <a:t>为什么强调「最后一次」？因为定稿之后如果又改了，前面那一版就不再算数，评价以改动后的那一版为准。</a:t>
            </a:r>
          </a:p>
          <a:p>
            <a:r>
              <a:rPr lang="zh-CN" dirty="0"/>
              <a:t>同时还要单独登记一件事：三名成员里，谁收到了这个版本。同一份方案向三个人各说一遍，不能算成三项结论，因为结论只有一个。</a:t>
            </a:r>
          </a:p>
          <a:p>
            <a:r>
              <a:rPr lang="zh-CN" dirty="0"/>
              <a:t>还有两样东西不算定稿：私下的反思，那只是角色自己的想法；以及脑子里最接近答案的那个候选，只要它没有被明确说出来，就不能拿来顶替定稿。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两组都会遇到冲突，也都有准备定稿的时刻。差别只在于：对照段在这个时刻多调用了一次逐项核对。</a:t>
            </a:r>
          </a:p>
          <a:p>
            <a:r>
              <a:rPr lang="zh-CN" dirty="0"/>
              <a:t>这个子技能拿到三样东西：共同题面、已经收到的限制及来源、当前那份完整候选。要做的事很朴素——把输入里本来就有的规则，逐条拿去比候选。</a:t>
            </a:r>
          </a:p>
          <a:p>
            <a:r>
              <a:rPr lang="zh-CN" dirty="0"/>
              <a:t>比完之后，每一项只能落在三种状态之一。满足，说明这条规则与候选不冲突。冲突，说明候选违反了它。缺信息，说明这条规则压根还没收到，比如白露那两条没传过来，就只能标缺口。</a:t>
            </a:r>
          </a:p>
          <a:p>
            <a:r>
              <a:rPr lang="zh-CN" dirty="0"/>
              <a:t>它最后返回的是待询问的问题，而不是一份答案。主持人拿到缺口，再决定是去追问、改方案，还是就此定稿。同一份候选、同一组条件，只核对一次。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这个核对子技能的能力边界同样重要，因为它决定了我们到底在测什么。</a:t>
            </a:r>
          </a:p>
          <a:p>
            <a:r>
              <a:rPr lang="zh-CN" dirty="0"/>
              <a:t>它只读输入里已经有的规则，不新增任何未知条件。也就是说，白露那两条没传过来，它不会因为「教室里通常怎么安排」就补一条上去。</a:t>
            </a:r>
          </a:p>
          <a:p>
            <a:r>
              <a:rPr lang="zh-CN" dirty="0"/>
              <a:t>它不写记忆。核对的结果不会写回任何一个角色的记忆里，角色的知识来源仍然是真实发言。</a:t>
            </a:r>
          </a:p>
          <a:p>
            <a:r>
              <a:rPr lang="zh-CN" dirty="0"/>
              <a:t>它也不执行任何世界动作：不移动、不交付，只是把缺口和待询问的问题返回给主持人。</a:t>
            </a:r>
          </a:p>
          <a:p>
            <a:r>
              <a:rPr lang="zh-CN" dirty="0"/>
              <a:t>最后一条最要紧：它不猜教师答案。没有收到白露的两条限制，它就老实标缺口，而不是从标准答案倒推。</a:t>
            </a:r>
          </a:p>
          <a:p>
            <a:r>
              <a:rPr lang="zh-CN" dirty="0"/>
              <a:t>这样两组之间差别才干净：对照段多出来的是一次显式核对，而不是更多正确答案、更多时间或者更强的模型。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现在把两组摆在一起看。</a:t>
            </a:r>
          </a:p>
          <a:p>
            <a:r>
              <a:rPr lang="zh-CN" dirty="0"/>
              <a:t>相同的部分很长：题面一样，条件卡一样，允许追问、也允许澄清，模型一样，位置一样，资料对象一样，讨论窗口和依赖关系都一样。这些必须对齐，否则我们不知道差别从哪来。</a:t>
            </a:r>
          </a:p>
          <a:p>
            <a:r>
              <a:rPr lang="zh-CN" dirty="0"/>
              <a:t>不同只有一处。基线段在出现冲突或者准备定稿的时候，凭已经收到的信息自己整理方案和说明，不调用核对子技能。</a:t>
            </a:r>
          </a:p>
          <a:p>
            <a:r>
              <a:rPr lang="zh-CN" dirty="0"/>
              <a:t>对照段在同一时刻调用它，把共同题面、已收到的限制及来源、当前候选一起传进去；同一份候选和同一组条件只核对一次，然后按返回的缺口决定是追问、修订还是定稿。</a:t>
            </a:r>
          </a:p>
          <a:p>
            <a:r>
              <a:rPr lang="zh-CN" dirty="0"/>
              <a:t>代价也要如实保留：额外调用、更晚定稿、以及仍然出错，全都记下来，不抹掉。这才是我们要观察的东西。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接下来是评价口径。</a:t>
            </a:r>
          </a:p>
          <a:p>
            <a:r>
              <a:rPr lang="zh-CN" dirty="0"/>
              <a:t>一个方案要同时满足七条：活动对不对、时段对不对、教室对不对、阅读有没有早于手作、拼图是不是十一点开始、手作是不是在操作室、阅读是不是在阅览室。</a:t>
            </a:r>
          </a:p>
          <a:p>
            <a:r>
              <a:rPr lang="zh-CN" dirty="0"/>
              <a:t>主指标就是满足的条数除以七。分母固定是七，不因为这个样本有没有报全字段而改变。</a:t>
            </a:r>
          </a:p>
          <a:p>
            <a:r>
              <a:rPr lang="zh-CN" dirty="0"/>
              <a:t>还有一件事要说清楚：这七项并不是七种互相独立的能力。它们都来自同一套题面和同四条私有限制，所以一个高部分分只能说明方案接近标准答案，不能说明这个小组真的能把方案执行出来。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七条判据我一条条念。</a:t>
            </a:r>
          </a:p>
          <a:p>
            <a:r>
              <a:rPr lang="zh-CN" dirty="0"/>
              <a:t>C1，恰好三项规定活动，各一次，没有遗漏也没有新增。C2，九点、十点、十一点各一次，每一项结束时间都是开始后五十分钟。C3，三间规定教室各用一次，不能出现别的教室。</a:t>
            </a:r>
          </a:p>
          <a:p>
            <a:r>
              <a:rPr lang="zh-CN" dirty="0"/>
              <a:t>C4 到 C7 是四条私有限制落到方案上的样子。C4，阅读开始要早于手作，对应温乔那一条。C5，拼图十一点开始，对应任新那一条。C6，手作在操作室；C7，阅读在阅览室，这两条都来自白露。</a:t>
            </a:r>
          </a:p>
          <a:p>
            <a:r>
              <a:rPr lang="zh-CN" dirty="0"/>
              <a:t>我把前三条放在一边、后四条放在另一边，是想说明它们的来源不一样：前三条人人都知道，后四条必须有人真的说出来，方案才可能对。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不给分的情形有三类。</a:t>
            </a:r>
          </a:p>
          <a:p>
            <a:r>
              <a:rPr lang="zh-CN" dirty="0"/>
              <a:t>字段缺失，比如只写了活动没写教室，这一项就没办法判。矛盾，比如同一个时段安排了两项，前后说不通。不可判，指的是表述里没有具体活动也没有具体教室，像「设备安排没意见」这种话，看着像表态，其实什么都没说。</a:t>
            </a:r>
          </a:p>
          <a:p>
            <a:r>
              <a:rPr lang="zh-CN" dirty="0"/>
              <a:t>还有一种更整体的情况要单独处理：如果到最后都没有一份明确的最终方案，那这个 Run 就标成「未定稿」。这时候不能拿他中途提过的最佳候选来顶替，也不能因为结果不好看就把这条 Run 从统计里删掉。</a:t>
            </a:r>
          </a:p>
          <a:p>
            <a:r>
              <a:rPr lang="zh-CN" dirty="0"/>
              <a:t>分母始终是七，表达措辞不影响判分——措辞再漂亮，方案不满足就是不满足。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主指标只有一个：满足的条件数除以七。分母固定，不因为样本没报全就变小。</a:t>
            </a:r>
          </a:p>
          <a:p>
            <a:r>
              <a:rPr lang="zh-CN" dirty="0"/>
              <a:t>这么设计，部分分是可以比较的：六比七和四比七，一眼能看出差距。</a:t>
            </a:r>
          </a:p>
          <a:p>
            <a:r>
              <a:rPr lang="zh-CN" dirty="0"/>
              <a:t>但它有两个陷阱。第一，七项不是七种独立能力，它们来自同一套题面和同四条私有限制，所以六比七并不说明这个小组快成功了。第二，高部分分不等于能执行：一个在纸面上几乎全对的方案，如果从来没有被明确说出口，那它只是候选，不是定稿。</a:t>
            </a:r>
          </a:p>
          <a:p>
            <a:r>
              <a:rPr lang="zh-CN" dirty="0"/>
              <a:t>所以未定稿必须单独标注：既不用最佳候选去替换，也不把这条 Run 从统计里拿掉。措辞、语气、说法怎么变，都不影响判分，我们只看方案内容。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除了主指标，还要同时报四个量，因为它们回答的是不同的问题。</a:t>
            </a:r>
          </a:p>
          <a:p>
            <a:r>
              <a:rPr lang="zh-CN" dirty="0"/>
              <a:t>第一个是全七项满足的 Run 数除以全部预定 Run 数，另外报定稿覆盖情况。为什么单列？因为七项不是七种独立能力，一个高分不说明这个小组真的能执行。</a:t>
            </a:r>
          </a:p>
          <a:p>
            <a:r>
              <a:rPr lang="zh-CN" dirty="0"/>
              <a:t>第二个是真实准确表达过的 F 条件数除以四。这是必要信息共享：重复说不重计，说过一遍也不证明别人真的理解了。</a:t>
            </a:r>
          </a:p>
          <a:p>
            <a:r>
              <a:rPr lang="zh-CN" dirty="0"/>
              <a:t>第三个是有效贡献发言除以三名成员全部任务相关发言。新说出必要事实、纠正错误、或者给出有依据的推导，才算有效；一条发言里含两个条件，仍然只算一条。</a:t>
            </a:r>
          </a:p>
          <a:p>
            <a:r>
              <a:rPr lang="zh-CN" dirty="0"/>
              <a:t>第四个是全部样本的逻辑调用数除以完全正确方案数，口径里含人物、对象、失败和无定稿成本，物理重试另列；没有正确方案时不可计算。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最后一大块回到教师那一侧，分四步走。</a:t>
            </a:r>
          </a:p>
          <a:p>
            <a:r>
              <a:rPr lang="zh-CN" dirty="0"/>
              <a:t>先看教师唯一解：这是给教师看的答案，绝不能进角色、共同 Brain 或者题面对象。</a:t>
            </a:r>
          </a:p>
          <a:p>
            <a:r>
              <a:rPr lang="zh-CN" dirty="0"/>
              <a:t>再看这个唯一解从哪来：所有排列一共三十六种，四条私有限制一层层把候选削掉，最后只剩一种。</a:t>
            </a:r>
          </a:p>
          <a:p>
            <a:r>
              <a:rPr lang="zh-CN" dirty="0"/>
              <a:t>然后用一份人工写错的定稿演示判分：只违反 C4 一条，得分六比七，大约百分之八十五点七，但完全正确的方案数仍然是零。</a:t>
            </a:r>
          </a:p>
          <a:p>
            <a:r>
              <a:rPr lang="zh-CN" dirty="0"/>
              <a:t>最后是失败定位：条件没传出去、传到了却漏掉、推导错了、改过之后没有重发，位置不同，要查的地方也不同。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先看教师唯一解。读图阅读安排在九点到九点五十，教室是阅览室；纸艺手作十点到十点五十，操作室；合作拼图十一点到十一点五十，讨论室。</a:t>
            </a:r>
          </a:p>
          <a:p>
            <a:r>
              <a:rPr lang="zh-CN" dirty="0"/>
              <a:t>我要强调两件事。第一，这份解答只给教师，绝不能进入角色、共同 Brain 或者题面对象，否则角色做的就不是推理，而是抄答案。第二，它不是人物真的排出这份安排的证据，它只是标准答案，用来判分。</a:t>
            </a:r>
          </a:p>
          <a:p>
            <a:r>
              <a:rPr lang="zh-CN" dirty="0"/>
              <a:t>时间上也要分清：纸上的活动日是二〇二六年十一月十四日，讨论 Run 是十一月十二日下午两点到三点、六十一步，两者是分开的。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这个唯一解是怎么来的？我把过程拆成三步。</a:t>
            </a:r>
          </a:p>
          <a:p>
            <a:r>
              <a:rPr lang="zh-CN" dirty="0"/>
              <a:t>一开始，时段有六种排列，教室也有六种排列，合起来三十六种候选。</a:t>
            </a:r>
          </a:p>
          <a:p>
            <a:r>
              <a:rPr lang="zh-CN" dirty="0"/>
              <a:t>然后四条私有限制一层层地削。F2 先把拼图钉在十一点；F1 要求阅读早于手作，剩下两个时段的先后次序就定了；F3 和 F4 又固定了手作和阅读各自的教室，第三间自然留给拼图。</a:t>
            </a:r>
          </a:p>
          <a:p>
            <a:r>
              <a:rPr lang="zh-CN" dirty="0"/>
              <a:t>削到最后，只剩一种安排。</a:t>
            </a:r>
          </a:p>
          <a:p>
            <a:r>
              <a:rPr lang="zh-CN" dirty="0"/>
              <a:t>反过来说也成立：如果没有这四条私有限制，三十六种候选里哪一种都说得通，题目就没有唯一答案了。这也解释了为什么信息共享在这个案例里是必要条件——不共享，连唯一解都构不成。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我拿一份人工写错的定稿来演示判分。阅读放到十点、手作放到九点、拼图十一点，三项各五十分钟，教室全都对。</a:t>
            </a:r>
          </a:p>
          <a:p>
            <a:r>
              <a:rPr lang="zh-CN" dirty="0"/>
              <a:t>逐条看：C1、C2、C3 都成立，C5、C6、C7 也成立，一共六条。唯独 C4 冲突——阅读没有早于手作。</a:t>
            </a:r>
          </a:p>
          <a:p>
            <a:r>
              <a:rPr lang="zh-CN" dirty="0"/>
              <a:t>所以得分是六比七，大约是百分之八十五点七。但完全正确的方案数仍然是零。</a:t>
            </a:r>
          </a:p>
          <a:p>
            <a:r>
              <a:rPr lang="zh-CN" dirty="0"/>
              <a:t>这个例子要说明的是：部分分高和全对是两件事。另外必须标清楚，它是人工写出来的错误方案，不是某一次 Run 的真实结果，不能当成实测数据引用。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共享率的分母是四，也就是四个 F 条件。</a:t>
            </a:r>
          </a:p>
          <a:p>
            <a:r>
              <a:rPr lang="zh-CN" dirty="0"/>
              <a:t>假设真实发言只覆盖了 F1、F2、F3，那共享率就是三比四，百分之七十五。</a:t>
            </a:r>
          </a:p>
          <a:p>
            <a:r>
              <a:rPr lang="zh-CN" dirty="0"/>
              <a:t>有一种情况要特别防：角色可能恰好把阅读安排到阅览室，方案看起来对了，但他从来没有说过 F4 这条事实。这时候不能补记共享——猜到不等于共享。所以共享要和方案得分分开算，两者不能互相推算。</a:t>
            </a:r>
          </a:p>
          <a:p>
            <a:r>
              <a:rPr lang="zh-CN" dirty="0"/>
              <a:t>还有一类表述也不能得分：「设备安排没意见」。这句话没有说出具体活动和教室，它没有传递任何可以核对的事实。</a:t>
            </a:r>
          </a:p>
          <a:p>
            <a:r>
              <a:rPr lang="zh-CN" dirty="0"/>
              <a:t>这两条合起来说明一件事：共享看的是有没有真的说出来，而不是结果看起来对不对。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失败可能发生在四个不同的位置，要查的地方也不一样。</a:t>
            </a:r>
          </a:p>
          <a:p>
            <a:r>
              <a:rPr lang="zh-CN" dirty="0"/>
              <a:t>条件根本没有传出去，要去查持有者的发言和接收方的上下文。传出去了但主持人漏掉，要查主持人的记忆和核对时的输入。推导错了，要查子技能的输出、当前候选和七条判据。方案改过却没有重新发，要查最后定稿的版本和接收者是谁。</a:t>
            </a:r>
          </a:p>
          <a:p>
            <a:r>
              <a:rPr lang="zh-CN" dirty="0"/>
              <a:t>练习是这样的：把 F1 删掉，其他条件保留，那么阅读和手作在九点、十点之间有两种排列，就不能唯一确定了。</a:t>
            </a:r>
          </a:p>
          <a:p>
            <a:r>
              <a:rPr lang="zh-CN" dirty="0"/>
              <a:t>再比较两种发言——反复复述同一句话，和指出「阅读比手作晚」——后者才是有依据的反驳。话多不等于贡献多，这是有效贡献那个分母要表达的意思。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最后留三个问题，用来检查自己有没有真的看清这个案例。</a:t>
            </a:r>
          </a:p>
          <a:p>
            <a:r>
              <a:rPr lang="zh-CN" dirty="0"/>
              <a:t>第一，信息是分散持有，还是全员共享？主持人知道不等于别人知道。这一点决定了最后的方案是怎么来的，是有人真的说出来汇到一处，还是某个人自己猜的。</a:t>
            </a:r>
          </a:p>
          <a:p>
            <a:r>
              <a:rPr lang="zh-CN" dirty="0"/>
              <a:t>第二，定稿以哪一次发言为准？是主持人最后一次明确、完整的定稿发言，而不是他脑子里最接近答案的那个候选。没说出口的，不算定稿。</a:t>
            </a:r>
          </a:p>
          <a:p>
            <a:r>
              <a:rPr lang="zh-CN" dirty="0"/>
              <a:t>第三，分母报的是哪一层？方案得分、必要信息共享、有效贡献、逻辑调用，这是四个不同的量，不能互相替代，也不能用其中一个去推算另一个。</a:t>
            </a:r>
          </a:p>
          <a:p>
            <a:r>
              <a:rPr lang="zh-CN" dirty="0"/>
              <a:t>把这三个问题记住，再看别的协作案例，判断会稳很多。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说清楚这一节要解决什么问题。三名成员各自拿到一张条件卡，题面本身是共同的，但限制是分散的：有人说了一条，有人说了两条，主持人手上一条都没有。&#10;&#10;于是会出现两种看起来很像的结果——随手排一个说得通的方案，也可能恰好满足六项。可那是猜中的，不是推出来的。&#10;&#10;本节唯一改变的地方，是在准备定稿的时候显式调用一次逐项核对：把已经收到的限制和当前候选逐条比一遍，缺什么就标出来，再决定是追问、修订还是定稿。&#10;&#10;最后提醒一句：这是一个虚构的排程题，只有唯一解，它不证明现实里学生合作学习的效果，也不证明系统的业务成败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5 小组协作学习&lt;/Text&gt;&#10;    &lt;/Box&gt;&#10;&#10;    &lt;Box style={{ height: 540, flexDirection: 'row', alignItems: 'center', gap: 32 }}&gt;&#10;&#10;        &lt;Box style={{ width: 520, flexDirection: 'column', justifyContent: 'center', gap: 14 }}&gt;&#10;            &lt;Text style={{ fontSize: 52, fontWeight: 'bold', color: '#20344B', lineHeight: 1.2 }}&gt;把分散条件{'\n'}变成有依据的结论&lt;/Text&gt;&#10;            &lt;Box style={{ width: 72, height: 4, background: '#276FBF' }} /&gt;&#10;            &lt;Text style={{ fontSize: 17, color: '#546779', lineHeight: 1.7, width: 520 }}&gt;条件只发给持有者，主持人定稿前显式核对约束。是否因此改善最终方案？&lt;/Text&gt;&#10;            &lt;Box style={{ flexDirection: 'row', gap: 12, marginTop: 4 }}&gt;&#10;                &lt;Box style={{ width: 120, height: 42, background: '#EDF4FC', borderRadius: 8, justifyContent: 'center', alignItems: 'center' }}&gt;&#10;                    &lt;Text style={{ fontSize: 15, color: '#276FBF' }}&gt;分散条件&lt;/Text&gt;&#10;                &lt;/Box&gt;&#10;                &lt;Box style={{ width: 120, height: 42, background: '#EDF4FC', borderRadius: 8, justifyContent: 'center', alignItems: 'center' }}&gt;&#10;                    &lt;Text style={{ fontSize: 15, color: '#276FBF' }}&gt;唯一解&lt;/Text&gt;&#10;                &lt;/Box&gt;&#10;                &lt;Box style={{ width: 120, height: 42, background: '#ECF7F2', borderRadius: 8, justifyContent: 'center', alignItems: 'center' }}&gt;&#10;                    &lt;Text style={{ fontSize: 15, color: '#26816B' }}&gt;七项判据&lt;/Text&gt;&#10;                &lt;/Box&gt;&#10;                &lt;Box style={{ width: 120, height: 42, background: '#FFF4E6', borderRadius: 8, justifyContent: 'center', alignItems: 'center' }}&gt;&#10;                    &lt;Text style={{ fontSize: 15, color: '#CB6B28' }}&gt;分母不同&lt;/Text&gt;&#10;                &lt;/Box&gt;&#10;            &lt;/Box&gt;&#10;        &lt;/Box&gt;&#10;&#10;        &lt;Box style={{ width: 600, flexDirection: 'column', justifyContent: 'center' }}&gt;&#10;&#10;            &lt;Text style={{ fontSize: 14, color: '#546779', marginBottom: 8 }}&gt;条件卡分配与定稿（示意）&lt;/Text&gt;&#10;&#10;            &lt;Box style={{ flexDirection: 'row', gap: 14 }}&gt;&#10;                &lt;Box style={{ width: 188, height: 100, background: '#EDF4FC', borderRadius: 8, padding: '12px 14px', flexDirection: 'column', gap: 4, justifyContent: 'center' }}&gt;&#10;                    &lt;Text style={{ fontSize: 17, fontWeight: 'bold', color: '#276FBF' }}&gt;温乔&lt;/Text&gt;&#10;                    &lt;Text style={{ fontSize: 13, color: '#546779', lineHeight: 1.5 }}&gt;私有 F1{'\n'}阅读早于手作&lt;/Text&gt;&#10;                &lt;/Box&gt;&#10;                &lt;Box style={{ width: 188, height: 100, background: '#EDF4FC', borderRadius: 8, padding: '12px 14px', flexDirection: 'column', gap: 4, justifyContent: 'center' }}&gt;&#10;                    &lt;Text style={{ fontSize: 17, fontWeight: 'bold', color: '#276FBF' }}&gt;任新&lt;/Text&gt;&#10;                    &lt;Text style={{ fontSize: 13, color: '#546779', lineHeight: 1.5 }}&gt;私有 F2{'\n'}拼图 11:00 开始&lt;/Text&gt;&#10;                &lt;/Box&gt;&#10;                &lt;Box style={{ width: 188, height: 100, background: '#FFF4E6', borderRadius: 8, padding: '12px 14px', flexDirection: 'column', gap: 4, justifyContent: 'center' }}&gt;&#10;                    &lt;Text style={{ fontSize: 17, fontWeight: 'bold', color: '#CB6B28' }}&gt;白露&lt;/Text&gt;&#10;                    &lt;Text style={{ fontSize: 13, color: '#546779', lineHeight: 1.5 }}&gt;私有 F3、F4{'\n'}一条连线两条事实&lt;/Text&gt;&#10;                &lt;/Box&gt;&#10;            &lt;/Box&gt;&#10;&#10;            &lt;Box style={{ height: 34, justifyContent: 'center', alignItems: 'center' }}&gt;&#10;                &lt;Text style={{ fontSize: 20, color: '#276FBF' }}&gt;↓&lt;/Text&gt;&#10;            &lt;/Box&gt;&#10;&#10;            &lt;Box style={{ width: 600, height: 88, background: '#EDF4FC', borderRadius: 10, padding: '12px 18px', flexDirection: 'column', gap: 4, justifyContent: 'center' }}&gt;&#10;                &lt;Text style={{ fontSize: 17, fontWeight: 'bold', color: '#276FBF' }}&gt;主持人 陶明&lt;/Text&gt;&#10;                &lt;Text style={{ fontSize: 13, color: '#546779', lineHeight: 1.5 }}&gt;初始无私有限制、无教师答案；保存实际取得的条件和来源&lt;/Text&gt;&#10;            &lt;/Box&gt;&#10;&#10;            &lt;Box style={{ height: 34, justifyContent: 'center', alignItems: 'center' }}&gt;&#10;                &lt;Text style={{ fontSize: 20, color: '#26816B' }}&gt;↓&lt;/Text&gt;&#10;            &lt;/Box&gt;&#10;&#10;            &lt;Box style={{ width: 600, height: 80, background: '#ECF7F2', borderRadius: 10, padding: '12px 18px', flexDirection: 'column', gap: 4, justifyContent: 'center' }}&gt;&#10;                &lt;Text style={{ fontSize: 17, fontWeight: 'bold', color: '#26816B' }}&gt;形成定稿后逐人传达&lt;/Text&gt;&#10;                &lt;Text style={{ fontSize: 13, color: '#546779', lineHeight: 1.5 }}&gt;主持人知道 ≠ 全员知道；同案向三人传达 ≠ 三项结论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小组协作学习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把分散条件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变成有依据的结论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条件只发给持有者，主持人定稿前显式核对约束。是否因此改善最终方案？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953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分散条件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866900" y="4800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288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唯一解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124200" y="4800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409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七项判据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81500" y="4800600"/>
            <a:ext cx="11430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6672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分母不同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867400" y="20002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条件卡分配与定稿（示意）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867400" y="2238375"/>
            <a:ext cx="17907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00750" y="23717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温乔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00750" y="2609850"/>
            <a:ext cx="152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私有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F1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阅读早于手作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791450" y="2238375"/>
            <a:ext cx="17907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924800" y="23717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任新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924800" y="2609850"/>
            <a:ext cx="152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私有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F2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拼图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11:00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9715500" y="2238375"/>
            <a:ext cx="1790700" cy="9525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848850" y="23717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白露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848850" y="2609850"/>
            <a:ext cx="152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私有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F3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F4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一条连线两条事实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677275" y="32385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867400" y="3514725"/>
            <a:ext cx="5715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38850" y="3705225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主持人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陶明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38850" y="39433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初始无私有限制、无教师答案；保存实际取得的条件和来源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677275" y="44005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867400" y="4676775"/>
            <a:ext cx="5715000" cy="7620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38850" y="4829175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形成定稿后逐人传达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38850" y="506730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主持人知道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全员知道；同案向三人传达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三项结论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8" name="" descr="&lt;Slide notes={`这一节一共四个知识块，我先交代它们的顺序和分工。&#10;&#10;第一块是信息从哪来：共同题面怎么定，四条私有限制为什么必须分别发给持有者。&#10;&#10;第二块是信息怎么流动，也就是一次发言到底送给了谁，以及定稿以哪一次发言为准。&#10;&#10;第三块把评价口径摊开：主指标是满足条件数除以七，同时还要报四个并列的分母。&#10;&#10;第四块回到教师那一侧，看唯一解、看六项满足为什么仍不是完全正确，以及失败时该查哪里。&#10;&#10;四块的顺序不能颠倒，因为它们是一层层往下的：先有信息，再有传递，然后才有可判分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　4.5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2 }}&gt;&#10;            &lt;Text style={{ fontSize: 15, color: '#276FBF' }}&gt;四个知识块&lt;/Text&gt;&#10;            &lt;Text style={{ fontSize: 20, fontWeight: 'bold', color: '#20344B', lineHeight: 1.4 }}&gt;从题面到判分{'\n'}一层一层往下走&lt;/Text&gt;&#10;            &lt;Box style={{ width: 72, height: 4, background: '#276FBF' }} /&gt;&#10;            &lt;Text style={{ fontSize: 16, color: '#546779', lineHeight: 1.7, width: 300 }}&gt;信息在哪、怎么流动、多了什么、怎么算——四个问题依次回答。&lt;/Text&gt;&#10;        &lt;/Box&gt;&#10;&#10;        &lt;Box style={{ width: 820, flexDirection: 'column', gap: 18 }}&gt;&#10;&#10;            &lt;Box style={{ width: 820, height: 116, background: '#F4F7FA', borderRadius: 10, padding: '14px 20px', flexDirection: 'row', alignItems: 'center', gap: 16 }}&gt;&#10;                &lt;Box style={{ width: 52, height: 52, background: '#276FBF', borderRadius: 8, justifyContent: 'center', alignItems: 'center' }}&gt;&#10;                    &lt;Text style={{ fontSize: 22, fontWeight: 'bold', color: '#FFFFFF' }}&gt;①&lt;/Text&gt;&#10;                &lt;/Box&gt;&#10;                &lt;Box style={{ flex: 1, flexDirection: 'column', gap: 4 }}&gt;&#10;                    &lt;Text style={{ fontSize: 20, fontWeight: 'bold', color: '#20344B' }}&gt;题面与条件分配&lt;/Text&gt;&#10;                    &lt;Text style={{ fontSize: 14, color: '#546779', lineHeight: 1.5 }}&gt;共同题面怎样定；四条私有限制为什么只能分别发给持有者&lt;/Text&gt;&#10;                &lt;/Box&gt;&#10;                &lt;Text style={{ fontSize: 13, color: '#546779', width: 96 }}&gt;4.5.1 — 4.5.2&lt;/Text&gt;&#10;            &lt;/Box&gt;&#10;&#10;            &lt;Box style={{ width: 820, height: 116, background: '#F4F7FA', borderRadius: 10, padding: '14px 20px', flexDirection: 'row', alignItems: 'center', gap: 16 }}&gt;&#10;                &lt;Box style={{ width: 52, height: 52, background: '#276FBF', borderRadius: 8, justifyContent: 'center', alignItems: 'center' }}&gt;&#10;                    &lt;Text style={{ fontSize: 22, fontWeight: 'bold', color: '#FFFFFF' }}&gt;②&lt;/Text&gt;&#10;                &lt;/Box&gt;&#10;                &lt;Box style={{ flex: 1, flexDirection: 'column', gap: 4 }}&gt;&#10;                    &lt;Text style={{ fontSize: 20, fontWeight: 'bold', color: '#20344B' }}&gt;交谈、定稿与唯一变化&lt;/Text&gt;&#10;                    &lt;Text style={{ fontSize: 14, color: '#546779', lineHeight: 1.5 }}&gt;一次发言只送达一个人；唯一变化是定稿前显式调用逐项核对子 Skill&lt;/Text&gt;&#10;                &lt;/Box&gt;&#10;                &lt;Text style={{ fontSize: 13, color: '#546779', width: 96 }}&gt;4.5.3 — 4.5.4&lt;/Text&gt;&#10;            &lt;/Box&gt;&#10;&#10;            &lt;Box style={{ width: 820, height: 116, background: '#F4F7FA', borderRadius: 10, padding: '14px 20px', flexDirection: 'row', alignItems: 'center', gap: 16 }}&gt;&#10;                &lt;Box style={{ width: 52, height: 52, background: '#26816B', borderRadius: 8, justifyContent: 'center', alignItems: 'center' }}&gt;&#10;                    &lt;Text style={{ fontSize: 22, fontWeight: 'bold', color: '#FFFFFF' }}&gt;③&lt;/Text&gt;&#10;                &lt;/Box&gt;&#10;                &lt;Box style={{ flex: 1, flexDirection: 'column', gap: 4 }}&gt;&#10;                    &lt;Text style={{ fontSize: 20, fontWeight: 'bold', color: '#20344B' }}&gt;七项判据与分母&lt;/Text&gt;&#10;                    &lt;Text style={{ fontSize: 14, color: '#546779', lineHeight: 1.5 }}&gt;主指标＝满足条件数÷7；还要同时报四个量与各自的分母&lt;/Text&gt;&#10;                &lt;/Box&gt;&#10;                &lt;Text style={{ fontSize: 13, color: '#546779', width: 96 }}&gt;4.5.5&lt;/Text&gt;&#10;            &lt;/Box&gt;&#10;&#10;            &lt;Box style={{ width: 820, height: 116, background: '#F4F7FA', borderRadius: 10, padding: '14px 20px', flexDirection: 'row', alignItems: 'center', gap: 16 }}&gt;&#10;                &lt;Box style={{ width: 52, height: 52, background: '#26816B', borderRadius: 8, justifyContent: 'center', alignItems: 'center' }}&gt;&#10;                    &lt;Text style={{ fontSize: 22, fontWeight: 'bold', color: '#FFFFFF' }}&gt;④&lt;/Text&gt;&#10;                &lt;/Box&gt;&#10;                &lt;Box style={{ flex: 1, flexDirection: 'column', gap: 4 }}&gt;&#10;                    &lt;Text style={{ fontSize: 20, fontWeight: 'bold', color: '#20344B' }}&gt;解答、判分、定位与练习&lt;/Text&gt;&#10;                    &lt;Text style={{ fontSize: 14, color: '#546779', lineHeight: 1.5 }}&gt;教师唯一解、36 种怎样缩成一种、6/7 为什么仍不是完全正确&lt;/Text&gt;&#10;                &lt;/Box&gt;&#10;                &lt;Text style={{ fontSize: 13, color: '#546779', width: 96 }}&gt;4.5.6 — 4.5.7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09600" y="28003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四个知识块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28575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从题面到判分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一层一层往下走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38481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4000500"/>
            <a:ext cx="2857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信息在哪、怎么流动、多了什么、怎么算——四个问题依次回答。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771900" y="1247775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3962400" y="15525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105275" y="16764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610100" y="1543050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题面与条件分配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610100" y="18097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共同题面怎样定；四条私有限制为什么只能分别发给持有者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477500" y="17240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4.5.1 — 4.5.2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3771900" y="2524125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3962400" y="28289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105275" y="29527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610100" y="2819400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交谈、定稿与唯一变化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610100" y="308610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一次发言只送达一个人；唯一变化是定稿前显式调用逐项核对子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477500" y="30003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4.5.3 — 4.5.4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3771900" y="3800475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3962400" y="410527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105275" y="4229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610100" y="4095750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七项判据与分母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610100" y="43624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主指标＝满足条件数÷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；还要同时报四个量与各自的分母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477500" y="42767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4.5.5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3771900" y="5076825"/>
            <a:ext cx="7810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3962400" y="5381625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105275" y="55054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610100" y="5372100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解答、判分、定位与练习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610100" y="563880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教师唯一解、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种怎样缩成一种、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6/7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为什么仍不是完全正确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477500" y="55530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4.5.6 — 4.5.7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75" name="" descr="&lt;Slide notes={`这一段只做两件事：把题目说清楚，把条件分配说清楚。&#10;&#10;题目本身是共同的。三个活动各五十分钟，一共只允许九点、十点、十一点三个开始时间，每个时段恰好安排一项；教室只有三间，每间在本题恰好用一次；每一项都必须同时写着时段和教室，缺一样就不算完整安排。&#10;&#10;条件分配不共同。温乔一条、任新一条、白露两条，主持人手上一条都没有。&#10;&#10;我特别要强调题面里那句话：「教室只用一次」是题目的硬限制。不能因为它不符合现实——现实里教室当然可以重复使用——就把这条限制取消掉。取消它，等于换了一道题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4.5.1 — 4.5.2&lt;/Text&gt;&#10;&#10;        &lt;Text style={{ fontSize: 56, fontWeight: 'bold', color: '#20344B', lineHeight: 1.15 }}&gt;题面与条件{'\n'}只能分别持有&lt;/Text&gt;&#10;&#10;        &lt;Box style={{ width: 72, height: 4, background: '#276FBF' }} /&gt;&#10;&#10;        &lt;Text style={{ fontSize: 18, color: '#546779', lineHeight: 1.7, width: 900 }}&gt;三活动各 50 分钟，三时段各一次，三教室各一次；四条私有限制分别发给持有者，主持人汇总实际收到的条件。&lt;/Text&gt;&#10;&#10;        &lt;Box style={{ flexDirection: 'row', alignItems: 'center', marginTop: 10 }}&gt;&#10;            &lt;Box style={{ width: 280, height: 64, background: '#EDF4FC', borderRadius: 8, justifyContent: 'center', alignItems: 'center' }}&gt;&#10;                &lt;Text style={{ fontSize: 18, color: '#276FBF' }}&gt;读图阅读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80, height: 64, background: '#EDF4FC', borderRadius: 8, justifyContent: 'center', alignItems: 'center' }}&gt;&#10;                &lt;Text style={{ fontSize: 18, color: '#276FBF' }}&gt;纸艺手作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80, height: 64, background: '#ECF7F2', borderRadius: 8, justifyContent: 'center', alignItems: 'center' }}&gt;&#10;                &lt;Text style={{ fontSize: 18, color: '#26816B' }}&gt;合作拼图&lt;/Text&gt;&#10;            &lt;/Box&gt;&#10;        &lt;/Box&gt;&#10;&#10;        &lt;Text style={{ fontSize: 14, color: '#546779', width: 900 }}&gt;每项 50 分钟 · 时段与教室各用一次 · 私有限制分三人持有，主持人初始为空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4.5.1 — 4.5.2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题面与条件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只能分别持有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3333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三活动各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分钟，三时段各一次，三教室各一次；四条私有限制分别发给持有者，主持人汇总实际收到的条件。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4238625"/>
            <a:ext cx="2667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600200" y="4438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读图阅读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448050" y="43910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3695700" y="4238625"/>
            <a:ext cx="2667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686300" y="4438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纸艺手作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534150" y="43910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781800" y="4238625"/>
            <a:ext cx="2667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772400" y="4438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合作拼图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5057775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时段与教室各用一次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私有限制分三人持有，主持人初始为空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92" name="" descr="&lt;Slide notes={`先把题目完整读一遍。三个活动是读图阅读、纸艺手作和合作拼图，每项五十分钟；开始时间只能是九点、十点、十一点，每个时段恰好安排一项；教室只有阅览室、操作室和讨论室，每间在本题恰好用一次；每一项都必须同时写着时段和教室，缺一项就不算完整安排。&#10;&#10;再往下是边界。这是我们自己造的纸上案例，所以世界内只做阅读、讨论和定稿这三件事，并不真的举办这三项活动。&#10;&#10;讨论本身另有一个时间：二〇二六年十一月十二日下午两点到三点，一分钟一步，总共六十一步，和纸上的活动日十一月十四日分开。执行前校准就冻结了，不能为了等拼图落到十一点而把讨论停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1　完整共同题面&lt;/Text&gt;&#10;            &lt;Text style={{ fontSize: 34, fontWeight: 'bold', color: '#20344B' }}&gt;一次 50 分钟，时段与教室各只用一次&lt;/Text&gt;&#10;        &lt;/Box&gt;&#10;    &lt;/Box&gt;&#10;&#10;    &lt;Box style={{ height: 540, flexDirection: 'column', justifyContent: 'center', gap: 18 }}&gt;&#10;&#10;        &lt;Box style={{ width: 1152, height: 186, background: '#F7F3E8', borderRadius: 10, padding: '14px 22px', flexDirection: 'column', gap: 10 }}&gt;&#10;            &lt;Text style={{ fontSize: 14, color: '#546779' }}&gt;共同题面卡（示意排版，非实际界面）&lt;/Text&gt;&#10;            &lt;Box style={{ flexDirection: 'row', gap: 14, height: 70 }}&gt;&#10;                &lt;Box style={{ width: 360, height: 70, background: '#FFFFFF', borderRadius: 8, padding: '10px 16px', flexDirection: 'column', gap: 3, justifyContent: 'center' }}&gt;&#10;                    &lt;Text style={{ fontSize: 18, fontWeight: 'bold', color: '#276FBF' }}&gt;读图阅读&lt;/Text&gt;&#10;                    &lt;Text style={{ fontSize: 13, color: '#546779' }}&gt;50 分钟 · 须有时段与教室&lt;/Text&gt;&#10;                &lt;/Box&gt;&#10;                &lt;Box style={{ width: 360, height: 70, background: '#FFFFFF', borderRadius: 8, padding: '10px 16px', flexDirection: 'column', gap: 3, justifyContent: 'center' }}&gt;&#10;                    &lt;Text style={{ fontSize: 18, fontWeight: 'bold', color: '#276FBF' }}&gt;纸艺手作&lt;/Text&gt;&#10;                    &lt;Text style={{ fontSize: 13, color: '#546779' }}&gt;50 分钟 · 须有时段与教室&lt;/Text&gt;&#10;                &lt;/Box&gt;&#10;                &lt;Box style={{ width: 360, height: 70, background: '#FFFFFF', borderRadius: 8, padding: '10px 16px', flexDirection: 'column', gap: 3, justifyContent: 'center' }}&gt;&#10;                    &lt;Text style={{ fontSize: 18, fontWeight: 'bold', color: '#276FBF' }}&gt;合作拼图&lt;/Text&gt;&#10;                    &lt;Text style={{ fontSize: 13, color: '#546779' }}&gt;50 分钟 · 须有时段与教室&lt;/Text&gt;&#10;                &lt;/Box&gt;&#10;            &lt;/Box&gt;&#10;            &lt;Box style={{ width: 1108, height: 44, background: '#FFFFFF', borderRadius: 8, justifyContent: 'center', padding: '0 16px' }}&gt;&#10;                &lt;Text style={{ fontSize: 14, color: '#20344B' }}&gt;只能 09:00、10:00、11:00 开始，每时段恰一项　·　教室：阅览室、操作室、讨论室，每间恰用一次&lt;/Text&gt;&#10;            &lt;/Box&gt;&#10;        &lt;/Box&gt;&#10;&#10;        &lt;Box style={{ width: 1152, height: 62, background: '#FFF4E6', borderRadius: 10, padding: '12px 22px', flexDirection: 'row', alignItems: 'center', gap: 14 }}&gt;&#10;            &lt;Box style={{ width: 4, height: 38, background: '#CB6B28' }} /&gt;&#10;            &lt;Box style={{ flex: 1, flexDirection: 'column', gap: 2 }}&gt;&#10;                &lt;Text style={{ fontSize: 17, fontWeight: 'bold', color: '#CB6B28' }}&gt;「教室只用一次」是题目限制&lt;/Text&gt;&#10;                &lt;Text style={{ fontSize: 13, color: '#546779' }}&gt;不能以现实中教室可复用为由取消；取消它等于换了另一道题&lt;/Text&gt;&#10;            &lt;/Box&gt;&#10;            &lt;Box style={{ width: 96, height: 34, background: '#FFFFFF', borderRadius: 8, justifyContent: 'center', alignItems: 'center' }}&gt;&#10;                &lt;Text style={{ fontSize: 13, color: '#CB6B28' }}&gt;题目限制&lt;/Text&gt;&#10;            &lt;/Box&gt;&#10;        &lt;/Box&gt;&#10;&#10;        &lt;Box style={{ width: 1152, height: 58, background: '#F4F7FA', borderRadius: 10, padding: '12px 22px', flexDirection: 'row', alignItems: 'center', gap: 14 }}&gt;&#10;            &lt;Box style={{ width: 4, height: 34, background: '#B5C7D8' }} /&gt;&#10;            &lt;Text style={{ fontSize: 15, color: '#20344B', flex: 1 }}&gt;世界内做阅读、讨论和定稿，&lt;Text style={{ fontWeight: 'bold', color: '#276FBF' }}&gt;不真正举办&lt;/Text&gt;这三项活动&lt;/Text&gt;&#10;        &lt;/Box&gt;&#10;&#10;        &lt;Box style={{ width: 1152, height: 78, background: '#EDF4FC', borderRadius: 10, padding: '12px 22px', flexDirection: 'row', alignItems: 'center', gap: 14 }}&gt;&#10;            &lt;Box style={{ width: 4, height: 44, background: '#276FBF' }} /&gt;&#10;            &lt;Box style={{ flex: 1, flexDirection: 'column', gap: 3 }}&gt;&#10;                &lt;Text style={{ fontSize: 16, fontWeight: 'bold', color: '#276FBF' }}&gt;讨论 Run 候选：2026-11-12 14:00 — 15:00，1 分钟／步，61 步&lt;/Text&gt;&#10;                &lt;Text style={{ fontSize: 13, color: '#546779' }}&gt;与纸上活动日 2026-11-14（Asia/Shanghai）分开；执行前校准冻结，不为等 11 点拼图而中止讨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457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完整共同题面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457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分钟，时段与教室各只用一次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1628775"/>
            <a:ext cx="10972800" cy="1771650"/>
          </a:xfrm>
          <a:prstGeom prst="roundRect">
            <a:avLst>
              <a:gd name="adj" fmla="val 537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19150" y="176212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共同题面卡（示意排版，非实际界面）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819150" y="2019300"/>
            <a:ext cx="3429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971550" y="21621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读图阅读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971550" y="2400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须有时段与教室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381500" y="2019300"/>
            <a:ext cx="3429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533900" y="21621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纸艺手作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533900" y="2400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须有时段与教室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7943850" y="2019300"/>
            <a:ext cx="3429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96250" y="21621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合作拼图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096250" y="24003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须有时段与教室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819150" y="2781300"/>
            <a:ext cx="105537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971550" y="2914650"/>
            <a:ext cx="1024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只能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09:00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10:00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11:00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开始，每时段恰一项　·　教室：阅览室、操作室、讨论室，每间恰用一次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57187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819150" y="3686175"/>
            <a:ext cx="38100" cy="3619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90600" y="3686175"/>
            <a:ext cx="933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「教室只用一次」是题目限制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90600" y="3905250"/>
            <a:ext cx="933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不能以现实中教室可复用为由取消；取消它等于换了另一道题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10458450" y="3705225"/>
            <a:ext cx="9144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0668000" y="37909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题目限制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433387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819150" y="4448175"/>
            <a:ext cx="38100" cy="3238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90600" y="4524375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世界内做阅读、讨论和定稿，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不真正举办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这三项活动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09600" y="50577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819150" y="52197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90600" y="5248275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讨论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候选：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2026-11-12 14:00 — 15:00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分钟／步，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990600" y="5467350"/>
            <a:ext cx="10382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与纸上活动日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2026-11-14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）分开；执行前校准冻结，不为等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点拼图而中止讨论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25" name="" descr="&lt;Slide notes={`四条私有限制分别挂在三个人身上。&#10;&#10;温乔那一条是 F1：读图阅读必须早于纸艺手作。任新那一条是 F2：合作拼图必须十一点开始。白露手上有两条，F3 是手作必须在操作室，F4 是阅读必须在阅览室。主持人陶明初始什么都没有，既没有限制也没有教师答案，他手上只有自己实际收到的条件和来源。&#10;&#10;这里最容易出错的是白露。她和主持人之间只有一条人物连线，但那条线承载了两条独立事实。核对的时候要分别去找这两条事实的真实内容；数箭头，数出来是三条条件，那就错了。&#10;&#10;还有一个反方向的错：主持人收到了，不等于其他三个人都收到了。这两件事必须分开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2　条件卡只能分别发给持有者&lt;/Text&gt;&#10;            &lt;Text style={{ fontSize: 34, fontWeight: 'bold', color: '#20344B' }}&gt;四个人各拿到什么&lt;/Text&gt;&#10;        &lt;/Box&gt;&#10;    &lt;/Box&gt;&#10;&#10;    &lt;Box style={{ height: 540, flexDirection: 'row', alignItems: 'center', gap: 32 }}&gt;&#10;&#10;        &lt;Box style={{ width: 704, flexDirection: 'column', gap: 16 }}&gt;&#10;&#10;            &lt;Box style={{ width: 704, height: 104, background: '#F4F7FA', borderRadius: 10, padding: '14px 18px', flexDirection: 'row', alignItems: 'center', gap: 14 }}&gt;&#10;                &lt;Box style={{ width: 4, height: 44, background: '#276FBF' }} /&gt;&#10;                &lt;Box style={{ width: 112, height: 48, background: '#EDF4FC', borderRadius: 8, justifyContent: 'center', alignItems: 'center' }}&gt;&#10;                    &lt;Text style={{ fontSize: 16, fontWeight: 'bold', color: '#276FBF' }}&gt;温乔&lt;/Text&gt;&#10;                &lt;/Box&gt;&#10;                &lt;Box style={{ flex: 1, flexDirection: 'column', gap: 3 }}&gt;&#10;                    &lt;Text style={{ fontSize: 13, color: '#546779' }}&gt;F1　一条&lt;/Text&gt;&#10;                    &lt;Text style={{ fontSize: 15, color: '#20344B', lineHeight: 1.5 }}&gt;读图阅读必须早于纸艺手作&lt;/Text&gt;&#10;                &lt;/Box&gt;&#10;            &lt;/Box&gt;&#10;&#10;            &lt;Box style={{ width: 704, height: 104, background: '#F4F7FA', borderRadius: 10, padding: '14px 18px', flexDirection: 'row', alignItems: 'center', gap: 14 }}&gt;&#10;                &lt;Box style={{ width: 4, height: 44, background: '#276FBF' }} /&gt;&#10;                &lt;Box style={{ width: 112, height: 48, background: '#EDF4FC', borderRadius: 8, justifyContent: 'center', alignItems: 'center' }}&gt;&#10;                    &lt;Text style={{ fontSize: 16, fontWeight: 'bold', color: '#276FBF' }}&gt;任新&lt;/Text&gt;&#10;                &lt;/Box&gt;&#10;                &lt;Box style={{ flex: 1, flexDirection: 'column', gap: 3 }}&gt;&#10;                    &lt;Text style={{ fontSize: 13, color: '#546779' }}&gt;F2　一条&lt;/Text&gt;&#10;                    &lt;Text style={{ fontSize: 15, color: '#20344B', lineHeight: 1.5 }}&gt;合作拼图必须 11:00 开始&lt;/Text&gt;&#10;                &lt;/Box&gt;&#10;            &lt;/Box&gt;&#10;&#10;            &lt;Box style={{ width: 704, height: 104, background: '#FFF4E6', borderRadius: 10, padding: '14px 18px', flexDirection: 'row', alignItems: 'center', gap: 14 }}&gt;&#10;                &lt;Box style={{ width: 4, height: 44, background: '#CB6B28' }} /&gt;&#10;                &lt;Box style={{ width: 112, height: 48, background: '#FFFFFF', borderRadius: 8, justifyContent: 'center', alignItems: 'center' }}&gt;&#10;                    &lt;Text style={{ fontSize: 16, fontWeight: 'bold', color: '#CB6B28' }}&gt;白露&lt;/Text&gt;&#10;                &lt;/Box&gt;&#10;                &lt;Box style={{ flex: 1, flexDirection: 'column', gap: 3 }}&gt;&#10;                    &lt;Text style={{ fontSize: 13, color: '#CB6B28' }}&gt;F3、F4　两条独立事实&lt;/Text&gt;&#10;                    &lt;Text style={{ fontSize: 15, color: '#20344B', lineHeight: 1.5 }}&gt;手作必须操作室；阅读必须阅览室&lt;/Text&gt;&#10;                &lt;/Box&gt;&#10;            &lt;/Box&gt;&#10;&#10;            &lt;Box style={{ width: 704, height: 104, background: '#ECF7F2', borderRadius: 10, padding: '14px 18px', flexDirection: 'row', alignItems: 'center', gap: 14 }}&gt;&#10;                &lt;Box style={{ width: 4, height: 44, background: '#26816B' }} /&gt;&#10;                &lt;Box style={{ width: 112, height: 48, background: '#FFFFFF', borderRadius: 8, justifyContent: 'center', alignItems: 'center' }}&gt;&#10;                    &lt;Text style={{ fontSize: 16, fontWeight: 'bold', color: '#26816B' }}&gt;陶明&lt;/Text&gt;&#10;                &lt;/Box&gt;&#10;                &lt;Box style={{ flex: 1, flexDirection: 'column', gap: 3 }}&gt;&#10;                    &lt;Text style={{ fontSize: 13, color: '#546779' }}&gt;主持人　初始为零条&lt;/Text&gt;&#10;                    &lt;Text style={{ fontSize: 15, color: '#20344B', lineHeight: 1.5 }}&gt;无私有限制、无教师答案；汇总实际收到的条件与来源&lt;/Text&gt;&#10;                &lt;/Box&gt;&#10;            &lt;/Box&gt;&#10;&#10;        &lt;/Box&gt;&#10;&#10;        &lt;Box style={{ width: 416, flexDirection: 'column', gap: 14 }}&gt;&#10;&#10;            &lt;Text style={{ fontSize: 20, fontWeight: 'bold', color: '#20344B', lineHeight: 1.4 }}&gt;两条事实{'\n'}只走一条连线&lt;/Text&gt;&#10;&#10;            &lt;Text style={{ fontSize: 15, color: '#546779', lineHeight: 1.7, width: 416 }}&gt;白露到陶明只有一条人物连线，却承载 F3、F4 两条限制。核对时要分别找到两条事实的真实内容，不能按箭头数判成三条条件。&lt;/Text&gt;&#10;&#10;            &lt;Box style={{ width: 416, height: 96, background: '#FFF4E6', borderRadius: 10, padding: '12px 18px', flexDirection: 'row', alignItems: 'center', gap: 12 }}&gt;&#10;                &lt;Box style={{ width: 4, height: 44, background: '#CB6B28' }} /&gt;&#10;                &lt;Box style={{ flex: 1, flexDirection: 'column', gap: 3 }}&gt;&#10;                    &lt;Text style={{ fontSize: 16, fontWeight: 'bold', color: '#CB6B28' }}&gt;主持人已收到 ≠ 全员已收到&lt;/Text&gt;&#10;                    &lt;Text style={{ fontSize: 13, color: '#546779', lineHeight: 1.5 }}&gt;两类事实必须分开记录&lt;/Text&gt;&#10;                &lt;/Box&gt;&#10;            &lt;/Box&gt;&#10;&#10;            &lt;Box style={{ width: 416, height: 104, background: '#F4F7FA', borderRadius: 10, padding: '12px 18px', flexDirection: 'row', alignItems: 'center', gap: 12 }}&gt;&#10;                &lt;Box style={{ width: 4, height: 44, background: '#B5C7D8' }} /&gt;&#10;                &lt;Box style={{ flex: 1, flexDirection: 'column', gap: 3 }}&gt;&#10;                    &lt;Text style={{ fontSize: 16, fontWeight: 'bold', color: '#20344B' }}&gt;卡片表不得进入共同上下文&lt;/Text&gt;&#10;                    &lt;Text style={{ fontSize: 13, color: '#546779', lineHeight: 1.5 }}&gt;完整卡片表不进共同 Brain、主持人初始记忆或题面对象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条件卡只能分别发给持有者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四个人各拿到什么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09600" y="1504950"/>
            <a:ext cx="67056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781050" y="17907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952500" y="1771650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333500" y="19050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温乔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2152650" y="17811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F1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一条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2152650" y="19621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读图阅读必须早于纸艺手作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2647950"/>
            <a:ext cx="67056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781050" y="29337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952500" y="2914650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333500" y="30480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任新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2152650" y="29241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F2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一条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2152650" y="31051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合作拼图必须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11:00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3790950"/>
            <a:ext cx="67056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781050" y="40767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952500" y="4057650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333500" y="41910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白露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2152650" y="40671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F3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F4</a:t>
            </a: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　两条独立事实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2152650" y="42481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手作必须操作室；阅读必须阅览室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4933950"/>
            <a:ext cx="67056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781050" y="52197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952500" y="5200650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333500" y="53340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陶明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2152650" y="5210175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主持人　初始为零条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2152650" y="5391150"/>
            <a:ext cx="4991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无私有限制、无教师答案；汇总实际收到的条件与来源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620000" y="1800225"/>
            <a:ext cx="39624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两条事实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只走一条连线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620000" y="2581275"/>
            <a:ext cx="3962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白露到陶明只有一条人物连线，却承载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F4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两条限制。核对时要分别找到两条事实的真实内容，不能按箭头数判成三条条件。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7620000" y="3590925"/>
            <a:ext cx="39624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7791450" y="38385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7943850" y="382905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主持人已收到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全员已收到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943850" y="404812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两类事实必须分开记录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7620000" y="4638675"/>
            <a:ext cx="39624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7791450" y="4924425"/>
            <a:ext cx="38100" cy="419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943850" y="491490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卡片表不得进入共同上下文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943850" y="513397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完整卡片表不进共同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、主持人初始记忆或题面对象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66" name="" descr="&lt;Slide notes={`三条标着 SPEAK 的箭头表示真实传递。每一句条件都必须由持有者实际说出来，送到某一名接收者那里，才算真的发生过。&#10;&#10;共同题面那一头是输入来源。三个活动、三个时段、三间教室这些公共信息本来就该人人知道；私有限制不一样，只能从持有者那里来，不能从教师资料里补齐。&#10;&#10;等到形成定稿，还要再逐人传达一次。主持人知道，不等于全员知道；同一份方案向三个人各说一遍，也不能算成三项结论。&#10;&#10;另外提前说明一件事：这里的三个教室是纸上的候选值，不是仿真世界里真实的导航目标。我们没有建一个真实场地让角色走过去，选教室这个动作发生在方案文本里，不等于实际移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2　信息分配示意&lt;/Text&gt;&#10;            &lt;Text style={{ fontSize: 34, fontWeight: 'bold', color: '#20344B' }}&gt;三条真实 SPEAK 与一次逐人传达&lt;/Text&gt;&#10;        &lt;/Box&gt;&#10;    &lt;/Box&gt;&#10;&#10;    &lt;Box style={{ height: 540, flexDirection: 'column', justifyContent: 'center' }}&gt;&#10;&#10;        &lt;Box style={{ flexDirection: 'row', gap: 24, height: 96 }}&gt;&#10;            &lt;Box style={{ width: 368, height: 96, background: '#ECF7F2', borderRadius: 8, padding: '12px 16px', flexDirection: 'column', gap: 4, justifyContent: 'center' }}&gt;&#10;                &lt;Text style={{ fontSize: 18, fontWeight: 'bold', color: '#26816B' }}&gt;温乔　私有 F1&lt;/Text&gt;&#10;                &lt;Text style={{ fontSize: 13, color: '#546779' }}&gt;阅读早于手作&lt;/Text&gt;&#10;            &lt;/Box&gt;&#10;            &lt;Box style={{ width: 368, height: 96, background: '#ECF7F2', borderRadius: 8, padding: '12px 16px', flexDirection: 'column', gap: 4, justifyContent: 'center' }}&gt;&#10;                &lt;Text style={{ fontSize: 18, fontWeight: 'bold', color: '#26816B' }}&gt;任新　私有 F2&lt;/Text&gt;&#10;                &lt;Text style={{ fontSize: 13, color: '#546779' }}&gt;拼图 11:00 开始&lt;/Text&gt;&#10;            &lt;/Box&gt;&#10;            &lt;Box style={{ width: 368, height: 96, background: '#ECF7F2', borderRadius: 8, padding: '12px 16px', flexDirection: 'column', gap: 4, justifyContent: 'center' }}&gt;&#10;                &lt;Text style={{ fontSize: 18, fontWeight: 'bold', color: '#26816B' }}&gt;白露　私有 F3、F4&lt;/Text&gt;&#10;                &lt;Text style={{ fontSize: 13, color: '#546779' }}&gt;手作→操作室；阅读→阅览室&lt;/Text&gt;&#10;            &lt;/Box&gt;&#10;        &lt;/Box&gt;&#10;&#10;        &lt;Box style={{ flexDirection: 'row', gap: 24, height: 40 }}&gt;&#10;            &lt;Box style={{ width: 368, height: 40, justifyContent: 'center', alignItems: 'center' }}&gt;&#10;                &lt;Text style={{ fontSize: 15, color: '#26816B' }}&gt;↓ 真实双人 SPEAK&lt;/Text&gt;&#10;            &lt;/Box&gt;&#10;            &lt;Box style={{ width: 368, height: 40, justifyContent: 'center', alignItems: 'center' }}&gt;&#10;                &lt;Text style={{ fontSize: 15, color: '#26816B' }}&gt;↓ 真实双人 SPEAK&lt;/Text&gt;&#10;            &lt;/Box&gt;&#10;            &lt;Box style={{ width: 368, height: 40, justifyContent: 'center', alignItems: 'center' }}&gt;&#10;                &lt;Text style={{ fontSize: 15, color: '#26816B' }}&gt;↓ 真实双人 SPEAK&lt;/Text&gt;&#10;            &lt;/Box&gt;&#10;        &lt;/Box&gt;&#10;&#10;        &lt;Box style={{ flexDirection: 'row', gap: 24, height: 100 }}&gt;&#10;            &lt;Box style={{ width: 368, height: 100, background: '#F7F3E8', borderRadius: 8, padding: '12px 16px', flexDirection: 'column', gap: 4, justifyContent: 'center' }}&gt;&#10;                &lt;Text style={{ fontSize: 18, fontWeight: 'bold', color: '#20344B' }}&gt;共同题面&lt;/Text&gt;&#10;                &lt;Text style={{ fontSize: 13, color: '#546779', lineHeight: 1.5 }}&gt;三活动各 50 分钟{'\n'}三时段、三教室各一次&lt;/Text&gt;&#10;            &lt;/Box&gt;&#10;            &lt;Box style={{ width: 44, height: 100, justifyContent: 'center', alignItems: 'center' }}&gt;&#10;                &lt;Text style={{ fontSize: 24, color: '#276FBF' }}&gt;›&lt;/Text&gt;&#10;            &lt;/Box&gt;&#10;            &lt;Box style={{ width: 692, height: 100, background: '#EDF4FC', borderRadius: 8, padding: '12px 16px', flexDirection: 'column', gap: 4, justifyContent: 'center' }}&gt;&#10;                &lt;Text style={{ fontSize: 18, fontWeight: 'bold', color: '#276FBF' }}&gt;陶明　主持人　初始 0 条&lt;/Text&gt;&#10;                &lt;Text style={{ fontSize: 13, color: '#546779', lineHeight: 1.5 }}&gt;无私有限制、无教师答案；保存实际取得的条件与来源，并据此提出候选&lt;/Text&gt;&#10;            &lt;/Box&gt;&#10;        &lt;/Box&gt;&#10;&#10;        &lt;Box style={{ height: 34, justifyContent: 'center', alignItems: 'center' }}&gt;&#10;            &lt;Text style={{ fontSize: 16, color: '#276FBF' }}&gt;↓　形成定稿后再逐人传达&lt;/Text&gt;&#10;        &lt;/Box&gt;&#10;&#10;        &lt;Box style={{ width: 1152, height: 76, background: '#ECF7F2', borderRadius: 10, padding: '12px 20px', flexDirection: 'row', alignItems: 'center', gap: 14 }}&gt;&#10;            &lt;Box style={{ width: 4, height: 44, background: '#26816B' }} /&gt;&#10;            &lt;Box style={{ flex: 1, flexDirection: 'column', gap: 3 }}&gt;&#10;                &lt;Text style={{ fontSize: 17, fontWeight: 'bold', color: '#26816B' }}&gt;定稿形成后逐人传达：主持人知道 ≠ 全员知道&lt;/Text&gt;&#10;                &lt;Text style={{ fontSize: 13, color: '#546779' }}&gt;教室是纸上候选值，不是仿真中的实际导航目标&lt;/Text&gt;&#10;            &lt;/Box&gt;&#10;        &lt;/Box&gt;&#10;&#10;        &lt;Text style={{ fontSize: 13, color: '#546779', marginTop: 12 }}&gt;示意图：信息分配关系（重绘自图 4.5-1），非实际运行界面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2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信息分配示意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三条真实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与一次逐人传达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1933575"/>
            <a:ext cx="35052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62000" y="21907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温乔　私有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F1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62000" y="24384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阅读早于手作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4343400" y="1933575"/>
            <a:ext cx="35052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495800" y="21907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任新　私有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F2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4495800" y="24384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拼图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11:00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8077200" y="1933575"/>
            <a:ext cx="35052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229600" y="21907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白露　私有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F3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F4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229600" y="24384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手作→操作室；阅读→阅览室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781175" y="295275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真实双人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514975" y="295275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真实双人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248775" y="295275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↓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真实双人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09600" y="3228975"/>
            <a:ext cx="3505200" cy="952500"/>
          </a:xfrm>
          <a:prstGeom prst="roundRect">
            <a:avLst>
              <a:gd name="adj" fmla="val 8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62000" y="3362325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共同题面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32004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三活动各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三时段、三教室各一次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4514850" y="35718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4991100" y="3228975"/>
            <a:ext cx="65913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143500" y="34671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陶明　主持人　初始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5143500" y="37147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无私有限制、无教师答案；保存实际取得的条件与来源，并据此提出候选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219700" y="4248150"/>
            <a:ext cx="175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↓　形成定稿后再逐人传达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45053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800100" y="46577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71550" y="4676775"/>
            <a:ext cx="1042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定稿形成后逐人传达：主持人知道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全员知道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71550" y="4905375"/>
            <a:ext cx="1042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教室是纸上候选值，不是仿真中的实际导航目标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53435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示意图：信息分配关系（重绘自图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4.5-1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），非实际运行界面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98" name="" descr="&lt;Slide notes={`这个案例里有两种东西需要分清：世界内真正发生的动作，和只写在纸上的候选值。&#10;&#10;世界内发生三件事：读图阅读、小组讨论、定稿。也就是说，角色的确会去整理题目、会互相说话、会拿出一份完整安排。&#10;&#10;题目里那三项活动——读图阅读、纸艺手作、合作拼图——并不真的举办。我们做的是一场纸上排程，不是在办活动。&#10;&#10;空间上也只到学习站这一层：青禾社区下面是学习站，学习站里有讨论区和资料区，四个人都知道这两个区的地址。资料区里的对象只回答共同题面，不给解答。&#10;&#10;三个教室是纸上的候选值。不必建一个真实场地，也不能说选了教室就等于角色真的走过去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1 — 4.5.2　世界边界&lt;/Text&gt;&#10;            &lt;Text style={{ fontSize: 34, fontWeight: 'bold', color: '#20344B' }}&gt;世界内做什么，纸上是什么&lt;/Text&gt;&#10;        &lt;/Box&gt;&#10;    &lt;/Box&gt;&#10;&#10;    &lt;Box style={{ height: 540, flexDirection: 'row', alignItems: 'center', gap: 32 }}&gt;&#10;&#10;        &lt;Box style={{ width: 512, flexDirection: 'column', gap: 14 }}&gt;&#10;            &lt;Text style={{ fontSize: 20, fontWeight: 'bold', color: '#20344B' }}&gt;世界内真正发生的三件事&lt;/Text&gt;&#10;&#10;            &lt;Box style={{ width: 512, height: 76, background: '#EDF4FC', borderRadius: 8, padding: '12px 16px', flexDirection: 'row', alignItems: 'center', gap: 12 }}&gt;&#10;                &lt;Box style={{ width: 40, height: 40, background: '#276FBF', borderRadius: 8, justifyContent: 'center', alignItems: 'center' }}&gt;&#10;                    &lt;Text style={{ fontSize: 18, fontWeight: 'bold', color: '#FFFFFF' }}&gt;读&lt;/Text&gt;&#10;                &lt;/Box&gt;&#10;                &lt;Box style={{ flex: 1, flexDirection: 'column', gap: 2 }}&gt;&#10;                    &lt;Text style={{ fontSize: 16, fontWeight: 'bold', color: '#276FBF' }}&gt;读图阅读&lt;/Text&gt;&#10;                    &lt;Text style={{ fontSize: 13, color: '#546779' }}&gt;理解共同题面与自己手上的条件卡&lt;/Text&gt;&#10;                &lt;/Box&gt;&#10;            &lt;/Box&gt;&#10;&#10;            &lt;Box style={{ width: 512, height: 76, background: '#EDF4FC', borderRadius: 8, padding: '12px 16px', flexDirection: 'row', alignItems: 'center', gap: 12 }}&gt;&#10;                &lt;Box style={{ width: 40, height: 40, background: '#276FBF', borderRadius: 8, justifyContent: 'center', alignItems: 'center' }}&gt;&#10;                    &lt;Text style={{ fontSize: 18, fontWeight: 'bold', color: '#FFFFFF' }}&gt;论&lt;/Text&gt;&#10;                &lt;/Box&gt;&#10;                &lt;Box style={{ flex: 1, flexDirection: 'column', gap: 2 }}&gt;&#10;                    &lt;Text style={{ fontSize: 16, fontWeight: 'bold', color: '#276FBF' }}&gt;小组讨论&lt;/Text&gt;&#10;                    &lt;Text style={{ fontSize: 13, color: '#546779' }}&gt;成员之间真实发言，一次只对一名接收者&lt;/Text&gt;&#10;                &lt;/Box&gt;&#10;            &lt;/Box&gt;&#10;&#10;            &lt;Box style={{ width: 512, height: 76, background: '#ECF7F2', borderRadius: 8, padding: '12px 16px', flexDirection: 'row', alignItems: 'center', gap: 12 }}&gt;&#10;                &lt;Box style={{ width: 40, height: 40, background: '#26816B', borderRadius: 8, justifyContent: 'center', alignItems: 'center' }}&gt;&#10;                    &lt;Text style={{ fontSize: 18, fontWeight: 'bold', color: '#FFFFFF' }}&gt;稿&lt;/Text&gt;&#10;                &lt;/Box&gt;&#10;                &lt;Box style={{ flex: 1, flexDirection: 'column', gap: 2 }}&gt;&#10;                    &lt;Text style={{ fontSize: 16, fontWeight: 'bold', color: '#26816B' }}&gt;定稿与传达&lt;/Text&gt;&#10;                    &lt;Text style={{ fontSize: 13, color: '#546779' }}&gt;拿出完整安排，再逐人说明同一版本&lt;/Text&gt;&#10;                &lt;/Box&gt;&#10;            &lt;/Box&gt;&#10;&#10;            &lt;Box style={{ width: 512, height: 72, background: '#FFF4E6', borderRadius: 10, padding: '12px 18px', flexDirection: 'row', alignItems: 'center', gap: 12 }}&gt;&#10;                &lt;Box style={{ width: 4, height: 44, background: '#CB6B28' }} /&gt;&#10;                &lt;Text style={{ fontSize: 15, color: '#CB6B28', lineHeight: 1.5, flex: 1 }}&gt;不真正举办这三项活动；世界内只做阅读、讨论和定稿&lt;/Text&gt;&#10;            &lt;/Box&gt;&#10;        &lt;/Box&gt;&#10;&#10;        &lt;Box style={{ width: 608, flexDirection: 'column', gap: 12 }}&gt;&#10;            &lt;Text style={{ fontSize: 20, fontWeight: 'bold', color: '#20344B' }}&gt;四个位置，各管一段&lt;/Text&gt;&#10;&#10;            &lt;Box style={{ width: 608, height: 72, background: '#F4F7FA', borderRadius: 8, padding: '12px 16px', flexDirection: 'row', alignItems: 'center', gap: 12 }}&gt;&#10;                &lt;Box style={{ width: 44, height: 44, background: '#B5C7D8', borderRadius: 8, justifyContent: 'center', alignItems: 'center' }}&gt;&#10;                    &lt;Text style={{ fontSize: 18, fontWeight: 'bold', color: '#FFFFFF' }}&gt;社&lt;/Text&gt;&#10;                &lt;/Box&gt;&#10;                &lt;Box style={{ flex: 1, flexDirection: 'column', gap: 2 }}&gt;&#10;                    &lt;Text style={{ fontSize: 16, fontWeight: 'bold', color: '#20344B' }}&gt;青禾社区&lt;/Text&gt;&#10;                    &lt;Text style={{ fontSize: 13, color: '#546779' }}&gt;场景容器&lt;/Text&gt;&#10;                &lt;/Box&gt;&#10;            &lt;/Box&gt;&#10;&#10;            &lt;Box style={{ width: 608, height: 72, background: '#F4F7FA', borderRadius: 8, padding: '12px 16px', flexDirection: 'row', alignItems: 'center', gap: 12 }}&gt;&#10;                &lt;Box style={{ width: 44, height: 44, background: '#B5C7D8', borderRadius: 8, justifyContent: 'center', alignItems: 'center' }}&gt;&#10;                    &lt;Text style={{ fontSize: 18, fontWeight: 'bold', color: '#FFFFFF' }}&gt;站&lt;/Text&gt;&#10;                &lt;/Box&gt;&#10;                &lt;Box style={{ flex: 1, flexDirection: 'column', gap: 2 }}&gt;&#10;                    &lt;Text style={{ fontSize: 16, fontWeight: 'bold', color: '#20344B' }}&gt;学习站&lt;/Text&gt;&#10;                    &lt;Text style={{ fontSize: 13, color: '#546779' }}&gt;活动发生的地方&lt;/Text&gt;&#10;                &lt;/Box&gt;&#10;            &lt;/Box&gt;&#10;&#10;            &lt;Box style={{ width: 608, height: 72, background: '#EDF4FC', borderRadius: 8, padding: '12px 16px', flexDirection: 'row', alignItems: 'center', gap: 12 }}&gt;&#10;                &lt;Box style={{ width: 44, height: 44, background: '#276FBF', borderRadius: 8, justifyContent: 'center', alignItems: 'center' }}&gt;&#10;                    &lt;Text style={{ fontSize: 18, fontWeight: 'bold', color: '#FFFFFF' }}&gt;区&lt;/Text&gt;&#10;                &lt;/Box&gt;&#10;                &lt;Box style={{ flex: 1, flexDirection: 'column', gap: 2 }}&gt;&#10;                    &lt;Text style={{ fontSize: 16, fontWeight: 'bold', color: '#276FBF' }}&gt;讨论区／资料区&lt;/Text&gt;&#10;                    &lt;Text style={{ fontSize: 13, color: '#546779' }}&gt;四人知道两区地址；对象只答共同题面，不给解答&lt;/Text&gt;&#10;                &lt;/Box&gt;&#10;            &lt;/Box&gt;&#10;&#10;            &lt;Box style={{ width: 608, height: 72, background: '#F7F3E8', borderRadius: 8, padding: '12px 16px', flexDirection: 'row', alignItems: 'center', gap: 12 }}&gt;&#10;                &lt;Box style={{ width: 44, height: 44, background: '#20344B', borderRadius: 8, justifyContent: 'center', alignItems: 'center' }}&gt;&#10;                    &lt;Text style={{ fontSize: 18, fontWeight: 'bold', color: '#FFFFFF' }}&gt;卡&lt;/Text&gt;&#10;                &lt;/Box&gt;&#10;                &lt;Box style={{ flex: 1, flexDirection: 'column', gap: 2 }}&gt;&#10;                    &lt;Text style={{ fontSize: 16, fontWeight: 'bold', color: '#20344B' }}&gt;题面卡&lt;/Text&gt;&#10;                    &lt;Text style={{ fontSize: 13, color: '#546779' }}&gt;私有条件的载体，不在共同上下文里&lt;/Text&gt;&#10;                &lt;/Box&gt;&#10;            &lt;/Box&gt;&#10;&#10;            &lt;Box style={{ width: 608, height: 76, background: '#FFF4E6', borderRadius: 10, padding: '12px 18px', flexDirection: 'row', alignItems: 'center', gap: 12 }}&gt;&#10;                &lt;Box style={{ width: 4, height: 44, background: '#CB6B28' }} /&gt;&#10;                &lt;Text style={{ fontSize: 15, color: '#CB6B28', lineHeight: 1.5, flex: 1 }}&gt;三个教室是纸上候选值，不必建真实 Arena；选教室不等于实际移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4.5.1 — 4.5.2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世界边界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世界内做什么，纸上是什么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世界内真正发生的三件事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2266950"/>
            <a:ext cx="4876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762000" y="2438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66775" y="25241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读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257300" y="244792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读图阅读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257300" y="265747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理解共同题面与自己手上的条件卡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3124200"/>
            <a:ext cx="4876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762000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66775" y="33813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论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257300" y="330517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小组讨论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257300" y="351472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成员之间真实发言，一次只对一名接收者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3981450"/>
            <a:ext cx="48768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762000" y="41529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66775" y="42386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稿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257300" y="416242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定稿与传达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257300" y="437197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拿出完整安排，再逐人说明同一版本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609600" y="4838700"/>
            <a:ext cx="4876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781050" y="49720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933450" y="50577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不真正举办这三项活动；世界内只做阅读、讨论和定稿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5791200" y="15811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四个位置，各管一段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791200" y="1924050"/>
            <a:ext cx="5791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4" name=""/>
          <p:cNvSpPr/>
          <p:nvPr/>
        </p:nvSpPr>
        <p:spPr>
          <a:xfrm rot="0" flipH="0" flipV="0">
            <a:off x="59436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67425" y="21621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社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477000" y="20859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青禾社区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477000" y="22955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场景容器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5791200" y="2724150"/>
            <a:ext cx="5791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5943600" y="2857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6067425" y="29622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站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477000" y="28860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学习站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477000" y="30956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活动发生的地方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5791200" y="3524250"/>
            <a:ext cx="57912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4" name=""/>
          <p:cNvSpPr/>
          <p:nvPr/>
        </p:nvSpPr>
        <p:spPr>
          <a:xfrm rot="0" flipH="0" flipV="0">
            <a:off x="5943600" y="3657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067425" y="37623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区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6477000" y="36861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讨论区／资料区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477000" y="38957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四人知道两区地址；对象只答共同题面，不给解答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791200" y="4324350"/>
            <a:ext cx="579120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39" name=""/>
          <p:cNvSpPr/>
          <p:nvPr/>
        </p:nvSpPr>
        <p:spPr>
          <a:xfrm rot="0" flipH="0" flipV="0">
            <a:off x="5943600" y="4457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6067425" y="45624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卡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477000" y="44862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题面卡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6477000" y="46958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私有条件的载体，不在共同上下文里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5791200" y="5124450"/>
            <a:ext cx="57912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5962650" y="52768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115050" y="5362575"/>
            <a:ext cx="5295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三个教室是纸上候选值，不必建真实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Arena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；选教室不等于实际移动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48" name="" descr="&lt;Slide notes={`信息有了来源，接下来要看它怎么流动。&#10;&#10;在这个案例里，一次发言只能送达一个人。这听上去是技术细节，其实决定了整件事的评价方式：如果一句话只说到一名成员，那另外两个人的记忆里就没有这条信息。&#10;&#10;所以每一次条件都走三步：真实说出来、被某一个人收到、进入那个人的记忆。缺任何一步，这条信息在小组层面就等于没发生。&#10;&#10;到了定稿，还要再走一遍：主持人把同一份完整安排逐人说明。别人收没收到是要单独登记的，不是默认收到。&#10;&#10;这一段之后会看到，评价里为什么要把「真实准确表达过的条件数」和「方案得分」分成两个分母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4.5.3 — 4.5.4&lt;/Text&gt;&#10;&#10;        &lt;Text style={{ fontSize: 56, fontWeight: 'bold', color: '#20344B', lineHeight: 1.15 }}&gt;一次发言{'\n'}只送达一个人&lt;/Text&gt;&#10;&#10;        &lt;Box style={{ width: 72, height: 4, background: '#276FBF' }} /&gt;&#10;&#10;        &lt;Text style={{ fontSize: 18, color: '#546779', lineHeight: 1.7, width: 900 }}&gt;被询问时真实 SPEAK，向一人说明条件编号、完整限制与来源；定稿后仍须逐人传达同一版本。&lt;/Text&gt;&#10;&#10;        &lt;Box style={{ flexDirection: 'row', alignItems: 'center', marginTop: 10 }}&gt;&#10;            &lt;Box style={{ width: 340, height: 64, background: '#EDF4FC', borderRadius: 8, justifyContent: 'center', alignItems: 'center' }}&gt;&#10;                &lt;Text style={{ fontSize: 18, color: '#276FBF' }}&gt;一次 SPEAK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CF7F2', borderRadius: 8, justifyContent: 'center', alignItems: 'center' }}&gt;&#10;                &lt;Text style={{ fontSize: 18, color: '#26816B' }}&gt;一名接收者&lt;/Text&gt;&#10;            &lt;/Box&gt;&#10;            &lt;Box style={{ width: 44, height: 64, justifyContent: 'center', alignItems: 'center' }}&gt;&#10;                &lt;Text style={{ fontSize: 26, color: '#546779' }}&gt;›&lt;/Text&gt;&#10;            &lt;/Box&gt;&#10;            &lt;Box style={{ width: 340, height: 64, background: '#F4F7FA', borderRadius: 8, justifyContent: 'center', alignItems: 'center' }}&gt;&#10;                &lt;Text style={{ fontSize: 18, color: '#546779' }}&gt;其余成员：不知道&lt;/Text&gt;&#10;            &lt;/Box&gt;&#10;        &lt;/Box&gt;&#10;&#10;        &lt;Text style={{ fontSize: 14, color: '#546779', width: 900 }}&gt;公开表达＝至少真实传给一名组内接收者，可审查，但不等于全员接收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4.5.3 — 4.5.4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一次发言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只送达一个人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609600" y="3333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被询问时真实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，向一人说明条件编号、完整限制与来源；定稿后仍须逐人传达同一版本。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609600" y="4238625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771650" y="4438650"/>
            <a:ext cx="92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一次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019550" y="43910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4267200" y="4238625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5457825" y="4438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一名接收者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677150" y="43910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7924800" y="4238625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858250" y="44386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其余成员：不知道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9600" y="5057775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公开表达＝至少真实传给一名组内接收者，可审查，但不等于全员接收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65" name="" descr="&lt;Slide notes={`我拿一次具体的交流来说明「只送一个人」是什么意思。&#10;&#10;温乔被问到时，必须真实说出自己的条件：编号 F1，完整限制是读图阅读要早于纸艺手作，来源是她的条件卡。主持人接着把「F1 已收到，来源是温乔」记下来。&#10;&#10;与此同时，任新并不知道 F1。在他的上下文里，这条信息从来没有出现过，所以他不能拿它来检查候选。&#10;&#10;这就带出两个容易混淆的点。第一，公开表达的门槛是至少真实传给一名组内接收者，它是可审查的，但不等于全员接收。第二，遇到含糊或者冲突，要向实际来源追问，而不是去翻教师资料补齐——那样补出来的不是共享，是作弊。&#10;&#10;另外，发言内容本身也要能核对：编号、完整限制、来源，三样都要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3　双人交谈与最终版本&lt;/Text&gt;&#10;            &lt;Text style={{ fontSize: 34, fontWeight: 'bold', color: '#20344B' }}&gt;一次 SPEAK 只对一名接收者&lt;/Text&gt;&#10;        &lt;/Box&gt;&#10;    &lt;/Box&gt;&#10;&#10;    &lt;Box style={{ height: 540, flexDirection: 'row', alignItems: 'center', gap: 32 }}&gt;&#10;&#10;        &lt;Box style={{ width: 660, height: 300, background: '#F4F7FA', borderRadius: 10, padding: '14px 16px', flexDirection: 'column', gap: 12 }}&gt;&#10;            &lt;Box style={{ width: 628, height: 40, justifyContent: 'center' }}&gt;&#10;                &lt;Text style={{ fontSize: 14, color: '#546779' }}&gt;讨论区　示意界面（色块示意，非实际界面）&lt;/Text&gt;&#10;            &lt;/Box&gt;&#10;&#10;            &lt;Box style={{ flexDirection: 'row', justifyContent: 'flex-end' }}&gt;&#10;                &lt;Box style={{ width: 430, height: 76, background: '#EDF4FC', borderRadius: 8, padding: '10px 14px', flexDirection: 'column', gap: 3, justifyContent: 'center' }}&gt;&#10;                    &lt;Text style={{ fontSize: 13, fontWeight: 'bold', color: '#276FBF' }}&gt;温乔 → 陶明　真实 SPEAK&lt;/Text&gt;&#10;                    &lt;Text style={{ fontSize: 13, color: '#546779', lineHeight: 1.5 }}&gt;F1：读图阅读必须早于纸艺手作{'\n'}来源＝我的条件卡&lt;/Text&gt;&#10;                &lt;/Box&gt;&#10;            &lt;/Box&gt;&#10;&#10;            &lt;Box style={{ flexDirection: 'row' }}&gt;&#10;                &lt;Box style={{ width: 430, height: 64, background: '#ECF7F2', borderRadius: 8, padding: '10px 14px', flexDirection: 'column', gap: 3, justifyContent: 'center' }}&gt;&#10;                    &lt;Text style={{ fontSize: 13, fontWeight: 'bold', color: '#26816B' }}&gt;陶明记下&lt;/Text&gt;&#10;                    &lt;Text style={{ fontSize: 13, color: '#546779', lineHeight: 1.5 }}&gt;F1 已收到，来源＝温乔；据此提出候选&lt;/Text&gt;&#10;                &lt;/Box&gt;&#10;            &lt;/Box&gt;&#10;&#10;            &lt;Box style={{ flexDirection: 'row' }}&gt;&#10;                &lt;Box style={{ width: 430, height: 56, background: '#F4F7FA', borderRadius: 8, padding: '10px 14px', justifyContent: 'center' }}&gt;&#10;                    &lt;Text style={{ fontSize: 13, color: '#546779', lineHeight: 1.5 }}&gt;任新、白露：F1 是什么？我们不知道&lt;/Text&gt;&#10;                &lt;/Box&gt;&#10;            &lt;/Box&gt;&#10;        &lt;/Box&gt;&#10;&#10;        &lt;Box style={{ width: 460, flexDirection: 'column', gap: 14 }}&gt;&#10;&#10;            &lt;Text style={{ fontSize: 20, fontWeight: 'bold', color: '#20344B', lineHeight: 1.4 }}&gt;发言要能核对{'\n'}编号、限制、来源&lt;/Text&gt;&#10;&#10;            &lt;Box style={{ width: 460, height: 72, background: '#F4F7FA', borderRadius: 8, padding: '12px 16px', flexDirection: 'row', alignItems: 'center', gap: 12 }}&gt;&#10;                &lt;Box style={{ width: 4, height: 44, background: '#276FBF' }} /&gt;&#10;                &lt;Text style={{ fontSize: 15, color: '#20344B', lineHeight: 1.5, flex: 1 }}&gt;真实 SPEAK 只说自己的条件，不替别人补造限制&lt;/Text&gt;&#10;            &lt;/Box&gt;&#10;&#10;            &lt;Box style={{ width: 460, height: 72, background: '#F4F7FA', borderRadius: 8, padding: '12px 16px', flexDirection: 'row', alignItems: 'center', gap: 12 }}&gt;&#10;                &lt;Box style={{ width: 4, height: 44, background: '#276FBF' }} /&gt;&#10;                &lt;Text style={{ fontSize: 15, color: '#20344B', lineHeight: 1.5, flex: 1 }}&gt;可审查 ≠ 全员接收；接收者是谁要单独登记&lt;/Text&gt;&#10;            &lt;/Box&gt;&#10;&#10;            &lt;Box style={{ width: 460, height: 72, background: '#EDF4FC', borderRadius: 8, padding: '12px 16px', flexDirection: 'row', alignItems: 'center', gap: 12 }}&gt;&#10;                &lt;Box style={{ width: 4, height: 44, background: '#276FBF' }} /&gt;&#10;                &lt;Text style={{ fontSize: 15, color: '#20344B', lineHeight: 1.5, flex: 1 }}&gt;遇含糊或冲突向实际来源追问&lt;/Text&gt;&#10;            &lt;/Box&gt;&#10;&#10;            &lt;Box style={{ width: 460, height: 84, background: '#FFF4E6', borderRadius: 10, padding: '12px 18px', flexDirection: 'row', alignItems: 'center', gap: 12 }}&gt;&#10;                &lt;Box style={{ width: 4, height: 44, background: '#CB6B28' }} /&gt;&#10;                &lt;Text style={{ fontSize: 15, color: '#CB6B28', lineHeight: 1.5, flex: 1 }}&gt;从教师资料补齐 = 不算真实传递，条件仍未共享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0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双人交谈与最终版本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81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只对一名接收者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09600" y="2286000"/>
            <a:ext cx="62865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讨论区　示意界面（色块示意，非实际界面）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2647950" y="2914650"/>
            <a:ext cx="40957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2781300" y="2962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76FBF"/>
                </a:solidFill>
                <a:latin typeface="Microsoft YaHei"/>
                <a:ea typeface="Microsoft YaHei"/>
              </a:rPr>
              <a:t>温乔</a:t>
            </a:r>
            <a:r>
              <a:rPr lang="en-US" sz="9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b="1">
                <a:solidFill>
                  <a:srgbClr val="276FBF"/>
                </a:solidFill>
                <a:latin typeface="Microsoft YaHei"/>
                <a:ea typeface="Microsoft YaHei"/>
              </a:rPr>
              <a:t>陶明　真实</a:t>
            </a:r>
            <a:r>
              <a:rPr lang="en-US" sz="9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SPEAK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2781300" y="3143250"/>
            <a:ext cx="382905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F1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：读图阅读必须早于纸艺手作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来源＝我的条件卡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762000" y="375285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895350" y="385762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6816B"/>
                </a:solidFill>
                <a:latin typeface="Microsoft YaHei"/>
                <a:ea typeface="Microsoft YaHei"/>
              </a:rPr>
              <a:t>陶明记下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95350" y="403860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已收到，来源＝温乔；据此提出候选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762000" y="4476750"/>
            <a:ext cx="409575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895350" y="4629150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任新、白露：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是什么？我们不知道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200900" y="1695450"/>
            <a:ext cx="43815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发言要能核对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编号、限制、来源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7200900" y="247650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2" name=""/>
          <p:cNvSpPr/>
          <p:nvPr/>
        </p:nvSpPr>
        <p:spPr>
          <a:xfrm rot="0" flipH="0" flipV="0">
            <a:off x="7353300" y="26098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505700" y="269557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真实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只说自己的条件，不替别人补造限制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200900" y="329565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7353300" y="3429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7505700" y="351472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可审查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全员接收；接收者是谁要单独登记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7200900" y="4114800"/>
            <a:ext cx="43815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7353300" y="42481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505700" y="433387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遇含糊或冲突向实际来源追问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200900" y="4933950"/>
            <a:ext cx="4381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372350" y="51244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7524750" y="52101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从教师资料补齐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不算真实传递，条件仍未共享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notes={`讨论从头到尾有八个动作，我按顺序念一遍。&#10;&#10;先理解共同题面和自己手上的条件卡，不知道的就保持未知，不要自己编一个。&#10;&#10;被问到时真实发言，把条件编号、完整限制和来源一起说清楚。&#10;&#10;遇到含糊或者冲突，向实际来源追问，不要从教师资料里补齐。&#10;&#10;主持人保存收到的条件和来源，据此提出候选，必要的时候逐人说明。&#10;&#10;成员只按自己已经拿到的限制去检查候选，指出冲突，也要指出还有哪些不知道。&#10;&#10;准备结束时，主持人按照本组的方法核对一遍，然后通过真实发言给出一份标明「最终方案」的完整安排。&#10;&#10;最后再逐人传达同一个版本，修改的话要说明新旧关系；按事实更新记忆，成功完成世界动作后结束这一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3　双人交谈与最终版本&lt;/Text&gt;&#10;            &lt;Text style={{ fontSize: 34, fontWeight: 'bold', color: '#20344B' }}&gt;讨论的八个动作&lt;/Text&gt;&#10;        &lt;/Box&gt;&#10;    &lt;/Box&gt;&#10;&#10;    &lt;Box style={{ height: 540, flexDirection: 'column', justifyContent: 'center', gap: 14 }}&gt;&#10;&#10;        &lt;Text style={{ fontSize: 16, color: '#546779' }}&gt;先弄清自己知道什么，再讲清楚，再核对，最后定稿并传达。&lt;/Text&gt;&#10;&#10;        &lt;Box style={{ flexDirection: 'row', gap: 32 }}&gt;&#10;&#10;            &lt;Box style={{ width: 560, flexDirection: 'column', gap: 12 }}&gt;&#10;                &lt;Box style={{ width: 560, height: 104, background: '#F4F7FA', borderRadius: 10, padding: '14px 18px', flexDirection: 'row', alignItems: 'center', gap: 14 }}&gt;&#10;                    &lt;Box style={{ width: 44, height: 44, background: '#276FBF', borderRadius: 8, justifyContent: 'center', alignItems: 'center' }}&gt;&#10;                        &lt;Text style={{ fontSize: 18, fontWeight: 'bold', color: '#FFFFFF' }}&gt;1&lt;/Text&gt;&#10;                    &lt;/Box&gt;&#10;                    &lt;Text style={{ fontSize: 15, color: '#20344B', lineHeight: 1.55, flex: 1 }}&gt;理解共同题面和自己的条件卡；不知道的保持未知&lt;/Text&gt;&#10;                &lt;/Box&gt;&#10;                &lt;Box style={{ width: 560, height: 104, background: '#F4F7FA', borderRadius: 10, padding: '14px 18px', flexDirection: 'row', alignItems: 'center', gap: 14 }}&gt;&#10;                    &lt;Box style={{ width: 44, height: 44, background: '#276FBF', borderRadius: 8, justifyContent: 'center', alignItems: 'center' }}&gt;&#10;                        &lt;Text style={{ fontSize: 18, fontWeight: 'bold', color: '#FFFFFF' }}&gt;2&lt;/Text&gt;&#10;                    &lt;/Box&gt;&#10;                    &lt;Text style={{ fontSize: 15, color: '#20344B', lineHeight: 1.55, flex: 1 }}&gt;被询问时真实 SPEAK，向一人说明条件编号、完整限制与来源&lt;/Text&gt;&#10;                &lt;/Box&gt;&#10;                &lt;Box style={{ width: 560, height: 104, background: '#FFF4E6', borderRadius: 10, padding: '14px 18px', flexDirection: 'row', alignItems: 'center', gap: 14 }}&gt;&#10;                    &lt;Box style={{ width: 44, height: 44, background: '#CB6B28', borderRadius: 8, justifyContent: 'center', alignItems: 'center' }}&gt;&#10;                        &lt;Text style={{ fontSize: 18, fontWeight: 'bold', color: '#FFFFFF' }}&gt;3&lt;/Text&gt;&#10;                    &lt;/Box&gt;&#10;                    &lt;Text style={{ fontSize: 15, color: '#CB6B28', lineHeight: 1.55, flex: 1 }}&gt;遇含糊或冲突向实际来源追问，不从教师资料补齐&lt;/Text&gt;&#10;                &lt;/Box&gt;&#10;                &lt;Box style={{ width: 560, height: 104, background: '#F4F7FA', borderRadius: 10, padding: '14px 18px', flexDirection: 'row', alignItems: 'center', gap: 14 }}&gt;&#10;                    &lt;Box style={{ width: 44, height: 44, background: '#276FBF', borderRadius: 8, justifyContent: 'center', alignItems: 'center' }}&gt;&#10;                        &lt;Text style={{ fontSize: 18, fontWeight: 'bold', color: '#FFFFFF' }}&gt;4&lt;/Text&gt;&#10;                    &lt;/Box&gt;&#10;                    &lt;Text style={{ fontSize: 15, color: '#20344B', lineHeight: 1.55, flex: 1 }}&gt;主持人保存收到的条件与来源，提出候选，必要时逐人说明&lt;/Text&gt;&#10;                &lt;/Box&gt;&#10;            &lt;/Box&gt;&#10;&#10;            &lt;Box style={{ width: 560, flexDirection: 'column', gap: 12 }}&gt;&#10;                &lt;Box style={{ width: 560, height: 104, background: '#F4F7FA', borderRadius: 10, padding: '14px 18px', flexDirection: 'row', alignItems: 'center', gap: 14 }}&gt;&#10;                    &lt;Box style={{ width: 44, height: 44, background: '#276FBF', borderRadius: 8, justifyContent: 'center', alignItems: 'center' }}&gt;&#10;                        &lt;Text style={{ fontSize: 18, fontWeight: 'bold', color: '#FFFFFF' }}&gt;5&lt;/Text&gt;&#10;                    &lt;/Box&gt;&#10;                    &lt;Text style={{ fontSize: 15, color: '#20344B', lineHeight: 1.55, flex: 1 }}&gt;成员仅按已获限制检查候选，指出冲突及还不知道什么&lt;/Text&gt;&#10;                &lt;/Box&gt;&#10;                &lt;Box style={{ width: 560, height: 104, background: '#EDF4FC', borderRadius: 10, padding: '14px 18px', flexDirection: 'row', alignItems: 'center', gap: 14 }}&gt;&#10;                    &lt;Box style={{ width: 44, height: 44, background: '#276FBF', borderRadius: 8, justifyContent: 'center', alignItems: 'center' }}&gt;&#10;                        &lt;Text style={{ fontSize: 18, fontWeight: 'bold', color: '#FFFFFF' }}&gt;6&lt;/Text&gt;&#10;                    &lt;/Box&gt;&#10;                    &lt;Text style={{ fontSize: 15, color: '#20344B', lineHeight: 1.55, flex: 1 }}&gt;准备结束时，主持人按本组方法核对，通过真实发言给出标明「最终方案」的完整安排&lt;/Text&gt;&#10;                &lt;/Box&gt;&#10;                &lt;Box style={{ width: 560, height: 104, background: '#ECF7F2', borderRadius: 10, padding: '14px 18px', flexDirection: 'row', alignItems: 'center', gap: 14 }}&gt;&#10;                    &lt;Box style={{ width: 44, height: 44, background: '#26816B', borderRadius: 8, justifyContent: 'center', alignItems: 'center' }}&gt;&#10;                        &lt;Text style={{ fontSize: 18, fontWeight: 'bold', color: '#FFFFFF' }}&gt;7&lt;/Text&gt;&#10;                    &lt;/Box&gt;&#10;                    &lt;Text style={{ fontSize: 15, color: '#20344B', lineHeight: 1.55, flex: 1 }}&gt;再逐人传达同一最终方案；修改时说明新旧关系&lt;/Text&gt;&#10;                &lt;/Box&gt;&#10;                &lt;Box style={{ width: 560, height: 104, background: '#ECF7F2', borderRadius: 10, padding: '14px 18px', flexDirection: 'row', alignItems: 'center', gap: 14 }}&gt;&#10;                    &lt;Box style={{ width: 44, height: 44, background: '#26816B', borderRadius: 8, justifyContent: 'center', alignItems: 'center' }}&gt;&#10;                        &lt;Text style={{ fontSize: 18, fontWeight: 'bold', color: '#FFFFFF' }}&gt;8&lt;/Text&gt;&#10;                    &lt;/Box&gt;&#10;                    &lt;Text style={{ fontSize: 15, color: '#20344B', lineHeight: 1.55, flex: 1 }}&gt;按事实更新记忆；成功 world-act 后结束本轮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双人交谈与最终版本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讨论的八个动作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先弄清自己知道什么，再讲清楚，再核对，最后定稿并传达。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7240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781050" y="20097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33450" y="2114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333500" y="20859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理解共同题面和自己的条件卡；不知道的保持未知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28289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781050" y="31146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33450" y="3219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333500" y="31908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被询问时真实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SPEAK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，向一人说明条件编号、完整限制与来源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9338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81050" y="4219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3450" y="43243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333500" y="42957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遇含糊或冲突向实际来源追问，不从教师资料补齐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50387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781050" y="53244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33450" y="5429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333500" y="54006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主持人保存收到的条件与来源，提出候选，必要时逐人说明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248400" y="17240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419850" y="20097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572250" y="2114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972300" y="20859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成员仅按已获限制检查候选，指出冲突及还不知道什么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248400" y="28289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6419850" y="31146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572250" y="3219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972300" y="3057525"/>
            <a:ext cx="44386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准备结束时，主持人按本组方法核对，通过真实发言给出标明「最终方案」的完整安排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248400" y="39338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419850" y="4219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572250" y="43243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72300" y="42957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再逐人传达同一最终方案；修改时说明新旧关系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248400" y="5038725"/>
            <a:ext cx="53340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419850" y="53244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572250" y="5429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972300" y="5400675"/>
            <a:ext cx="44386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按事实更新记忆；成功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后结束本轮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判分的时候，我不看哪一句话说得漂亮，也不看最后谁提的方案更接近答案。我看的是：主持人有没有做出一次明确、完整的定稿发言，而且是不是最后一次。&#10;&#10;为什么强调「最后一次」？因为定稿之后如果又改了，前面那一版就不再算数，评价以改动后的那一版为准。&#10;&#10;同时还要单独登记一件事：三名成员里，谁收到了这个版本。同一份方案向三个人各说一遍，不能算成三项结论，因为结论只有一个。&#10;&#10;还有两样东西不算定稿：私下的反思，那只是角色自己的想法；以及脑子里最接近答案的那个候选，只要它没有被明确说出来，就不能拿来顶替定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3　定稿与判分对象&lt;/Text&gt;&#10;            &lt;Text style={{ fontSize: 34, fontWeight: 'bold', color: '#20344B' }}&gt;以最后一次明确、完整的定稿发言判分&lt;/Text&gt;&#10;        &lt;/Box&gt;&#10;    &lt;/Box&gt;&#10;&#10;    &lt;Box style={{ height: 540, flexDirection: 'column', justifyContent: 'center', gap: 20 }}&gt;&#10;&#10;        &lt;Box style={{ width: 1152, height: 130, background: '#EDF4FC', borderRadius: 10, padding: '20px 28px', flexDirection: 'row', alignItems: 'center', gap: 20 }}&gt;&#10;            &lt;Box style={{ width: 6, height: 76, background: '#276FBF' }} /&gt;&#10;            &lt;Box style={{ flex: 1, flexDirection: 'column', gap: 8 }}&gt;&#10;                &lt;Text style={{ fontSize: 26, fontWeight: 'bold', color: '#276FBF', lineHeight: 1.35 }}&gt;以主持人最后一次明确、完整的定稿发言判分&lt;/Text&gt;&#10;                &lt;Text style={{ fontSize: 15, color: '#546779' }}&gt;另登记三名成员谁收到了该版本&lt;/Text&gt;&#10;            &lt;/Box&gt;&#10;        &lt;/Box&gt;&#10;&#10;        &lt;Box style={{ flexDirection: 'row', gap: 24 }}&gt;&#10;&#10;            &lt;Box style={{ width: 448, height: 260, background: '#ECF7F2', borderRadius: 10, padding: '18px 22px', flexDirection: 'column', gap: 10 }}&gt;&#10;                &lt;Text style={{ fontSize: 20, fontWeight: 'bold', color: '#26816B' }}&gt;算作定稿&lt;/Text&gt;&#10;                &lt;Box style={{ width: 4, height: 28, background: '#26816B' }} /&gt;&#10;                &lt;Text style={{ fontSize: 15, color: '#20344B', lineHeight: 1.7, flex: 1 }}&gt;主持人最后做出的一次完整安排：三项活动各自有时段与教室，并且明确标出这是本组的最终版本。前面被后一次覆盖的版本不再计分。&lt;/Text&gt;&#10;            &lt;/Box&gt;&#10;&#10;            &lt;Box style={{ width: 380, height: 260, background: '#F4F7FA', borderRadius: 10, padding: '18px 22px', flexDirection: 'column', gap: 10 }}&gt;&#10;                &lt;Text style={{ fontSize: 20, fontWeight: 'bold', color: '#20344B' }}&gt;单独登记&lt;/Text&gt;&#10;                &lt;Box style={{ width: 4, height: 28, background: '#B5C7D8' }} /&gt;&#10;                &lt;Text style={{ fontSize: 15, color: '#20344B', lineHeight: 1.7, flex: 1 }}&gt;三名成员里谁收到了这一版。同案向三人传达不记成三项结论；接收与理解是两件事。&lt;/Text&gt;&#10;            &lt;/Box&gt;&#10;&#10;            &lt;Box style={{ width: 276, height: 260, background: '#FFF4E6', borderRadius: 10, padding: '18px 22px', flexDirection: 'column', gap: 10 }}&gt;&#10;                &lt;Text style={{ fontSize: 20, fontWeight: 'bold', color: '#CB6B28' }}&gt;不算定稿&lt;/Text&gt;&#10;                &lt;Box style={{ width: 4, height: 28, background: '#CB6B28' }} /&gt;&#10;                &lt;Text style={{ fontSize: 15, color: '#CB6B28', lineHeight: 1.7, flex: 1 }}&gt;私下的反思；没有被明确说出的最佳候选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定稿与判分对象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以最后一次明确、完整的定稿发言判分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1762125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876300" y="2019300"/>
            <a:ext cx="5715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23950" y="2057400"/>
            <a:ext cx="1019175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以主持人最后一次明确、完整的定稿发言判分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23950" y="2543175"/>
            <a:ext cx="1019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另登记三名成员谁收到了该版本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3190875"/>
            <a:ext cx="4267200" cy="24765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19150" y="3362325"/>
            <a:ext cx="3848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算作定稿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19150" y="3686175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19150" y="4048125"/>
            <a:ext cx="38481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主持人最后做出的一次完整安排：三项活动各自有时段与教室，并且明确标出这是本组的最终版本。前面被后一次覆盖的版本不再计分。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5105400" y="3190875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314950" y="33623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单独登记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314950" y="3686175"/>
            <a:ext cx="38100" cy="2667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314950" y="4048125"/>
            <a:ext cx="32004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三名成员里谁收到了这一版。同案向三人传达不记成三项结论；接收与理解是两件事。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953500" y="3190875"/>
            <a:ext cx="2628900" cy="2476500"/>
          </a:xfrm>
          <a:prstGeom prst="roundRect">
            <a:avLst>
              <a:gd name="adj" fmla="val 384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163050" y="3362325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不算定稿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9163050" y="3686175"/>
            <a:ext cx="38100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163050" y="4048125"/>
            <a:ext cx="22098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私下的反思；没有被明确说出的最佳候选。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notes={`两组都会遇到冲突，也都有准备定稿的时刻。差别只在于：对照段在这个时刻多调用了一次逐项核对。&#10;&#10;这个子技能拿到三样东西：共同题面、已经收到的限制及来源、当前那份完整候选。要做的事很朴素——把输入里本来就有的规则，逐条拿去比候选。&#10;&#10;比完之后，每一项只能落在三种状态之一。满足，说明这条规则与候选不冲突。冲突，说明候选违反了它。缺信息，说明这条规则压根还没收到，比如白露那两条没传过来，就只能标缺口。&#10;&#10;它最后返回的是待询问的问题，而不是一份答案。主持人拿到缺口，再决定是去追问、改方案，还是就此定稿。同一份候选、同一组条件，只核对一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4　唯一变化：是否显式调用核对子 Skill&lt;/Text&gt;&#10;            &lt;Text style={{ fontSize: 34, fontWeight: 'bold', color: '#20344B' }}&gt;逐项核对返回什么&lt;/Text&gt;&#10;        &lt;/Box&gt;&#10;    &lt;/Box&gt;&#10;&#10;    &lt;Box style={{ height: 540, flexDirection: 'row', alignItems: 'center', gap: 32 }}&gt;&#10;&#10;        &lt;Box style={{ width: 620, flexDirection: 'column', gap: 14 }}&gt;&#10;&#10;            &lt;Text style={{ fontSize: 16, color: '#546779' }}&gt;逐项标出三种状态，再返回待询问的问题。&lt;/Text&gt;&#10;&#10;            &lt;Box style={{ width: 620, height: 108, background: '#ECF7F2', borderRadius: 10, padding: '14px 18px', flexDirection: 'row', alignItems: 'center', gap: 14 }}&gt;&#10;                &lt;Box style={{ width: 4, height: 44, background: '#26816B' }} /&gt;&#10;                &lt;Box style={{ width: 104, height: 48, background: '#FFFFFF', borderRadius: 8, justifyContent: 'center', alignItems: 'center' }}&gt;&#10;                    &lt;Text style={{ fontSize: 15, fontWeight: 'bold', color: '#26816B' }}&gt;满足&lt;/Text&gt;&#10;                &lt;/Box&gt;&#10;                &lt;Text style={{ fontSize: 14, color: '#20344B', lineHeight: 1.55, flex: 1 }}&gt;这条已有规则与当前候选不冲突&lt;/Text&gt;&#10;            &lt;/Box&gt;&#10;&#10;            &lt;Box style={{ width: 620, height: 108, background: '#FFF4E6', borderRadius: 10, padding: '14px 18px', flexDirection: 'row', alignItems: 'center', gap: 14 }}&gt;&#10;                &lt;Box style={{ width: 4, height: 44, background: '#CB6B28' }} /&gt;&#10;                &lt;Box style={{ width: 104, height: 48, background: '#FFFFFF', borderRadius: 8, justifyContent: 'center', alignItems: 'center' }}&gt;&#10;                    &lt;Text style={{ fontSize: 15, fontWeight: 'bold', color: '#CB6B28' }}&gt;冲突&lt;/Text&gt;&#10;                &lt;/Box&gt;&#10;                &lt;Text style={{ fontSize: 14, color: '#20344B', lineHeight: 1.55, flex: 1 }}&gt;候选违反了已收到的限制，必须处理&lt;/Text&gt;&#10;            &lt;/Box&gt;&#10;&#10;            &lt;Box style={{ width: 620, height: 108, background: '#F4F7FA', borderRadius: 10, padding: '14px 18px', flexDirection: 'row', alignItems: 'center', gap: 14 }}&gt;&#10;                &lt;Box style={{ width: 4, height: 44, background: '#B5C7D8' }} /&gt;&#10;                &lt;Box style={{ width: 104, height: 48, background: '#FFFFFF', borderRadius: 8, justifyContent: 'center', alignItems: 'center' }}&gt;&#10;                    &lt;Text style={{ fontSize: 15, fontWeight: 'bold', color: '#546779' }}&gt;缺信息&lt;/Text&gt;&#10;                &lt;/Box&gt;&#10;                &lt;Text style={{ fontSize: 14, color: '#20344B', lineHeight: 1.55, flex: 1 }}&gt;规则尚未收到；没收到白露两条件就标缺口，不猜教师答案&lt;/Text&gt;&#10;            &lt;/Box&gt;&#10;&#10;        &lt;/Box&gt;&#10;&#10;        &lt;Box style={{ width: 500, flexDirection: 'column', gap: 12 }}&gt;&#10;&#10;            &lt;Text style={{ fontSize: 20, fontWeight: 'bold', color: '#20344B' }}&gt;传入三样输入&lt;/Text&gt;&#10;&#10;            &lt;Box style={{ width: 500, height: 66, background: '#EDF4FC', borderRadius: 8, padding: '0 16px', justifyContent: 'center' }}&gt;&#10;                &lt;Text style={{ fontSize: 15, color: '#20344B' }}&gt;共同题面&lt;/Text&gt;&#10;            &lt;/Box&gt;&#10;            &lt;Box style={{ width: 500, height: 66, background: '#EDF4FC', borderRadius: 8, padding: '0 16px', justifyContent: 'center' }}&gt;&#10;                &lt;Text style={{ fontSize: 15, color: '#20344B' }}&gt;已收到的限制及其来源&lt;/Text&gt;&#10;            &lt;/Box&gt;&#10;            &lt;Box style={{ width: 500, height: 66, background: '#EDF4FC', borderRadius: 8, padding: '0 16px', justifyContent: 'center' }}&gt;&#10;                &lt;Text style={{ fontSize: 15, color: '#20344B' }}&gt;当前完整候选&lt;/Text&gt;&#10;            &lt;/Box&gt;&#10;&#10;            &lt;Text style={{ fontSize: 14, color: '#546779', lineHeight: 1.5 }}&gt;同候选与同条件集合只核对一次&lt;/Text&gt;&#10;&#10;            &lt;Box style={{ width: 500, height: 84, background: '#ECF7F2', borderRadius: 10, padding: '12px 18px', flexDirection: 'row', alignItems: 'center', gap: 12 }}&gt;&#10;                &lt;Box style={{ width: 4, height: 44, background: '#26816B' }} /&gt;&#10;                &lt;Text style={{ fontSize: 15, color: '#20344B', lineHeight: 1.5, flex: 1 }}&gt;据返回的缺口决定：追问、修订，或定稿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唯一变化：是否显式调用核对子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600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逐项核对返回什么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逐项标出三种状态，再返回待询问的问题。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2200275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781050" y="250507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952500" y="2486025"/>
            <a:ext cx="990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304925" y="26289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满足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076450" y="25908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这条已有规则与当前候选不冲突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3362325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781050" y="3667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952500" y="3648075"/>
            <a:ext cx="990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304925" y="3790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076450" y="375285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候选违反了已收到的限制，必须处理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4524375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781050" y="4829175"/>
            <a:ext cx="38100" cy="419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952500" y="4810125"/>
            <a:ext cx="990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238250" y="49530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缺信息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076450" y="49149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规则尚未收到；没收到白露两条件就标缺口，不猜教师答案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819900" y="184785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传入三样输入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819900" y="2190750"/>
            <a:ext cx="4762500" cy="628650"/>
          </a:xfrm>
          <a:prstGeom prst="roundRect">
            <a:avLst>
              <a:gd name="adj" fmla="val 121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972300" y="24193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共同题面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819900" y="2933700"/>
            <a:ext cx="4762500" cy="628650"/>
          </a:xfrm>
          <a:prstGeom prst="roundRect">
            <a:avLst>
              <a:gd name="adj" fmla="val 121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972300" y="31623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已收到的限制及其来源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19900" y="3676650"/>
            <a:ext cx="4762500" cy="628650"/>
          </a:xfrm>
          <a:prstGeom prst="roundRect">
            <a:avLst>
              <a:gd name="adj" fmla="val 121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972300" y="39052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当前完整候选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19900" y="4419600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同候选与同条件集合只核对一次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819900" y="478155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991350" y="49720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143750" y="50577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据返回的缺口决定：追问、修订，或定稿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notes={`这个核对子技能的能力边界同样重要，因为它决定了我们到底在测什么。&#10;&#10;它只读输入里已经有的规则，不新增任何未知条件。也就是说，白露那两条没传过来，它不会因为「教室里通常怎么安排」就补一条上去。&#10;&#10;它不写记忆。核对的结果不会写回任何一个角色的记忆里，角色的知识来源仍然是真实发言。&#10;&#10;它也不执行任何世界动作：不移动、不交付，只是把缺口和待询问的问题返回给主持人。&#10;&#10;最后一条最要紧：它不猜教师答案。没有收到白露的两条限制，它就老实标缺口，而不是从标准答案倒推。&#10;&#10;这样两组之间差别才干净：对照段多出来的是一次显式核对，而不是更多正确答案、更多时间或者更强的模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4　唯一变化：是否显式调用核对子 Skill&lt;/Text&gt;&#10;            &lt;Text style={{ fontSize: 34, fontWeight: 'bold', color: '#20344B' }}&gt;子 Skill 不做什么&lt;/Text&gt;&#10;        &lt;/Box&gt;&#10;    &lt;/Box&gt;&#10;&#10;    &lt;Box style={{ height: 540, flexDirection: 'column', justifyContent: 'center', gap: 18 }}&gt;&#10;&#10;        &lt;Box style={{ width: 1152, height: 64, background: '#EDF4FC', borderRadius: 10, padding: '12px 22px', flexDirection: 'row', alignItems: 'center', gap: 14 }}&gt;&#10;            &lt;Box style={{ width: 4, height: 40, background: '#276FBF' }} /&gt;&#10;            &lt;Text style={{ fontSize: 15, color: '#20344B', lineHeight: 1.5, flex: 1 }}&gt;只列输入中已有的规则，逐项标出满足、冲突或缺信息，并说明有依据的推导&lt;/Text&gt;&#10;        &lt;/Box&gt;&#10;&#10;        &lt;Box style={{ flexDirection: 'row', gap: 32 }}&gt;&#10;            &lt;Box style={{ width: 560, height: 148, background: '#F4F7FA', borderRadius: 10, padding: '16px 20px', flexDirection: 'column', gap: 8 }}&gt;&#10;                &lt;Box style={{ flexDirection: 'row', alignItems: 'center', gap: 10 }}&gt;&#10;                    &lt;Box style={{ width: 34, height: 34, background: '#276FBF', borderRadius: 8, justifyContent: 'center', alignItems: 'center' }}&gt;&#10;                        &lt;Text style={{ fontSize: 15, fontWeight: 'bold', color: '#FFFFFF' }}&gt;增&lt;/Text&gt;&#10;                    &lt;/Box&gt;&#10;                    &lt;Text style={{ fontSize: 17, fontWeight: 'bold', color: '#20344B' }}&gt;不新增未知条件&lt;/Text&gt;&#10;                &lt;/Box&gt;&#10;                &lt;Text style={{ fontSize: 14, color: '#546779', lineHeight: 1.6 }}&gt;输入里没有的规则不补进来；「现实中通常这样」不构成条件&lt;/Text&gt;&#10;            &lt;/Box&gt;&#10;            &lt;Box style={{ width: 560, height: 148, background: '#F4F7FA', borderRadius: 10, padding: '16px 20px', flexDirection: 'column', gap: 8 }}&gt;&#10;                &lt;Box style={{ flexDirection: 'row', alignItems: 'center', gap: 10 }}&gt;&#10;                    &lt;Box style={{ width: 34, height: 34, background: '#276FBF', borderRadius: 8, justifyContent: 'center', alignItems: 'center' }}&gt;&#10;                        &lt;Text style={{ fontSize: 15, fontWeight: 'bold', color: '#FFFFFF' }}&gt;记&lt;/Text&gt;&#10;                    &lt;/Box&gt;&#10;                    &lt;Text style={{ fontSize: 17, fontWeight: 'bold', color: '#20344B' }}&gt;不写记忆&lt;/Text&gt;&#10;                &lt;/Box&gt;&#10;                &lt;Text style={{ fontSize: 14, color: '#546779', lineHeight: 1.6 }}&gt;核对结果不写回任何角色的记忆；知识仍来自真实发言&lt;/Text&gt;&#10;            &lt;/Box&gt;&#10;        &lt;/Box&gt;&#10;&#10;        &lt;Box style={{ flexDirection: 'row', gap: 32 }}&gt;&#10;            &lt;Box style={{ width: 560, height: 148, background: '#F4F7FA', borderRadius: 10, padding: '16px 20px', flexDirection: 'column', gap: 8 }}&gt;&#10;                &lt;Box style={{ flexDirection: 'row', alignItems: 'center', gap: 10 }}&gt;&#10;                    &lt;Box style={{ width: 34, height: 34, background: '#276FBF', borderRadius: 8, justifyContent: 'center', alignItems: 'center' }}&gt;&#10;                        &lt;Text style={{ fontSize: 15, fontWeight: 'bold', color: '#FFFFFF' }}&gt;动&lt;/Text&gt;&#10;                    &lt;/Box&gt;&#10;                    &lt;Text style={{ fontSize: 17, fontWeight: 'bold', color: '#20344B' }}&gt;不执行世界动作&lt;/Text&gt;&#10;                &lt;/Box&gt;&#10;                &lt;Text style={{ fontSize: 14, color: '#546779', lineHeight: 1.6 }}&gt;不移动、不交付，只把待询问的问题交回主持人&lt;/Text&gt;&#10;            &lt;/Box&gt;&#10;            &lt;Box style={{ width: 560, height: 148, background: '#FFF4E6', borderRadius: 10, padding: '16px 20px', flexDirection: 'column', gap: 8 }}&gt;&#10;                &lt;Box style={{ flexDirection: 'row', alignItems: 'center', gap: 10 }}&gt;&#10;                    &lt;Box style={{ width: 34, height: 34, background: '#CB6B28', borderRadius: 8, justifyContent: 'center', alignItems: 'center' }}&gt;&#10;                        &lt;Text style={{ fontSize: 15, fontWeight: 'bold', color: '#FFFFFF' }}&gt;猜&lt;/Text&gt;&#10;                    &lt;/Box&gt;&#10;                    &lt;Text style={{ fontSize: 17, fontWeight: 'bold', color: '#CB6B28' }}&gt;不猜教师答案&lt;/Text&gt;&#10;                &lt;/Box&gt;&#10;                &lt;Text style={{ fontSize: 14, color: '#CB6B28', lineHeight: 1.6 }}&gt;没收到白露两条限制就标缺口，不倒推标准答案&lt;/Text&gt;&#10;            &lt;/Box&gt;&#10;        &lt;/Box&gt;&#10;&#10;        &lt;Box style={{ width: 1152, height: 66, background: '#F4F7FA', borderRadius: 10, padding: '12px 22px', flexDirection: 'row', alignItems: 'center', gap: 14 }}&gt;&#10;            &lt;Box style={{ width: 4, height: 40, background: '#B5C7D8' }} /&gt;&#10;            &lt;Text style={{ fontSize: 15, color: '#20344B', lineHeight: 1.5, flex: 1 }}&gt;两组都知道共有四条私有限制，也都能追问；对照只多一次显式核对，不多正确答案、时间或更强模型&lt;/Text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600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唯一变化：是否显式调用核对子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600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子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不做什么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14287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819150" y="15430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90600" y="1609725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只列输入中已有的规则，逐项标出满足、冲突或缺信息，并说明有依据的推导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2209800"/>
            <a:ext cx="53340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00100" y="2362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95350" y="24384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增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219200" y="242887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不新增未知条件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00100" y="276225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输入里没有的规则不补进来；「现实中通常这样」不构成条件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248400" y="2209800"/>
            <a:ext cx="53340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438900" y="2362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534150" y="24384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记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58000" y="2428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不写记忆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438900" y="276225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核对结果不写回任何角色的记忆；知识仍来自真实发言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3790950"/>
            <a:ext cx="53340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800100" y="3943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95350" y="40195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动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219200" y="40100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不执行世界动作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00100" y="43434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不移动、不交付，只把待询问的问题交回主持人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248400" y="3790950"/>
            <a:ext cx="5334000" cy="1409700"/>
          </a:xfrm>
          <a:prstGeom prst="roundRect">
            <a:avLst>
              <a:gd name="adj" fmla="val 67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438900" y="3943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534150" y="40195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猜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858000" y="40100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不猜教师答案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38900" y="43434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没收到白露两条限制就标缺口，不倒推标准答案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537210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819150" y="5495925"/>
            <a:ext cx="38100" cy="3810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90600" y="5562600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两组都知道共有四条私有限制，也都能追问；对照只多一次显式核对，不多正确答案、时间或更强模型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notes={`现在把两组摆在一起看。&#10;&#10;相同的部分很长：题面一样，条件卡一样，允许追问、也允许澄清，模型一样，位置一样，资料对象一样，讨论窗口和依赖关系都一样。这些必须对齐，否则我们不知道差别从哪来。&#10;&#10;不同只有一处。基线段在出现冲突或者准备定稿的时候，凭已经收到的信息自己整理方案和说明，不调用核对子技能。&#10;&#10;对照段在同一时刻调用它，把共同题面、已收到的限制及来源、当前候选一起传进去；同一份候选和同一组条件只核对一次，然后按返回的缺口决定是追问、修订还是定稿。&#10;&#10;代价也要如实保留：额外调用、更晚定稿、以及仍然出错，全都记下来，不抹掉。这才是我们要观察的东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4　唯一变化：是否显式调用核对子 Skill&lt;/Text&gt;&#10;            &lt;Text style={{ fontSize: 34, fontWeight: 'bold', color: '#20344B' }}&gt;相同条件与唯一差异&lt;/Text&gt;&#10;        &lt;/Box&gt;&#10;    &lt;/Box&gt;&#10;&#10;    &lt;Box style={{ height: 540, flexDirection: 'column', justifyContent: 'center', gap: 20 }}&gt;&#10;&#10;        &lt;Box style={{ width: 1152, height: 72, background: '#F4F7FA', borderRadius: 10, padding: '12px 22px', flexDirection: 'row', alignItems: 'center', gap: 14 }}&gt;&#10;            &lt;Box style={{ width: 4, height: 44, background: '#B5C7D8' }} /&gt;&#10;            &lt;Box style={{ flex: 1, flexDirection: 'column', gap: 3 }}&gt;&#10;                &lt;Text style={{ fontSize: 16, fontWeight: 'bold', color: '#20344B' }}&gt;共同条件：两组完全一致&lt;/Text&gt;&#10;                &lt;Text style={{ fontSize: 13, color: '#546779' }}&gt;相同题面、卡片、询问澄清策略、模型、位置、对象、窗口与依赖&lt;/Text&gt;&#10;            &lt;/Box&gt;&#10;        &lt;/Box&gt;&#10;&#10;        &lt;Box style={{ flexDirection: 'row', gap: 32 }}&gt;&#10;&#10;            &lt;Box style={{ width: 560, height: 296, background: '#EDF4FC', borderRadius: 10, padding: '18px 22px', flexDirection: 'column', gap: 12 }}&gt;&#10;                &lt;Box style={{ flexDirection: 'row', alignItems: 'center', gap: 12 }}&gt;&#10;                    &lt;Box style={{ width: 44, height: 44, background: '#276FBF', borderRadius: 8, justifyContent: 'center', alignItems: 'center' }}&gt;&#10;                        &lt;Text style={{ fontSize: 18, fontWeight: 'bold', color: '#FFFFFF' }}&gt;基&lt;/Text&gt;&#10;                    &lt;/Box&gt;&#10;                    &lt;Text style={{ fontSize: 22, fontWeight: 'bold', color: '#276FBF' }}&gt;基线段&lt;/Text&gt;&#10;                &lt;/Box&gt;&#10;                &lt;Box style={{ width: 4, height: 20, background: '#276FBF' }} /&gt;&#10;                &lt;Text style={{ fontSize: 15, color: '#20344B', lineHeight: 1.75, flex: 1 }}&gt;存在冲突或准备定稿时，依据已收到信息自行整理方案与说明。{'\n\n'}不调用逐项核对子 Skill；该追问的仍然可以追问，也仍然知道共有四条私有限制。&lt;/Text&gt;&#10;            &lt;/Box&gt;&#10;&#10;            &lt;Box style={{ width: 560, height: 296, background: '#ECF7F2', borderRadius: 10, padding: '18px 22px', flexDirection: 'column', gap: 12 }}&gt;&#10;                &lt;Box style={{ flexDirection: 'row', alignItems: 'center', gap: 12 }}&gt;&#10;                    &lt;Box style={{ width: 44, height: 44, background: '#26816B', borderRadius: 8, justifyContent: 'center', alignItems: 'center' }}&gt;&#10;                        &lt;Text style={{ fontSize: 18, fontWeight: 'bold', color: '#FFFFFF' }}&gt;对&lt;/Text&gt;&#10;                    &lt;/Box&gt;&#10;                    &lt;Text style={{ fontSize: 22, fontWeight: 'bold', color: '#26816B' }}&gt;对照段&lt;/Text&gt;&#10;                &lt;/Box&gt;&#10;                &lt;Box style={{ width: 4, height: 20, background: '#26816B' }} /&gt;&#10;                &lt;Text style={{ fontSize: 15, color: '#20344B', lineHeight: 1.75, flex: 1 }}&gt;同一时刻调用逐项核对子 Skill，传入共同题面、已收到限制及来源、当前完整候选。{'\n\n'}同候选与同条件集合只核对一次，据返回缺口决定追问、修订或定稿。&lt;/Text&gt;&#10;            &lt;/Box&gt;&#10;&#10;        &lt;/Box&gt;&#10;&#10;        &lt;Box style={{ width: 1152, height: 66, background: '#FFF4E6', borderRadius: 10, padding: '12px 22px', flexDirection: 'row', alignItems: 'center', gap: 14 }}&gt;&#10;            &lt;Box style={{ width: 4, height: 40, background: '#CB6B28' }} /&gt;&#10;            &lt;Text style={{ fontSize: 15, color: '#CB6B28', lineHeight: 1.5, flex: 1 }}&gt;额外调用、晚定稿和仍出错都保留 —— 这些代价本身就是要观察的结果&lt;/Text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唯一变化：是否显式调用核对子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相同条件与唯一差异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4573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819150" y="1590675"/>
            <a:ext cx="38100" cy="419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90600" y="1619250"/>
            <a:ext cx="1038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共同条件：两组完全一致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90600" y="1838325"/>
            <a:ext cx="10382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相同题面、卡片、询问澄清策略、模型、位置、对象、窗口与依赖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2333625"/>
            <a:ext cx="5334000" cy="2819400"/>
          </a:xfrm>
          <a:prstGeom prst="roundRect">
            <a:avLst>
              <a:gd name="adj" fmla="val 33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819150" y="2505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42975" y="2609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基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352550" y="25908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基线段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19150" y="303847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19150" y="3343275"/>
            <a:ext cx="4914900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存在冲突或准备定稿时，依据已收到信息自行整理方案与说明。</a:t>
            </a:r>
            <a:r>
              <a:rPr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不调用逐项核对子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；该追问的仍然可以追问，也仍然知道共有四条私有限制。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248400" y="2333625"/>
            <a:ext cx="5334000" cy="2819400"/>
          </a:xfrm>
          <a:prstGeom prst="roundRect">
            <a:avLst>
              <a:gd name="adj" fmla="val 337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457950" y="2505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581775" y="260985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991350" y="25908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对照段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457950" y="3038475"/>
            <a:ext cx="38100" cy="190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457950" y="3343275"/>
            <a:ext cx="4914900" cy="1638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同一时刻调用逐项核对子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，传入共同题面、已收到限制及来源、当前完整候选。</a:t>
            </a:r>
            <a:r>
              <a:rPr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同候选与同条件集合只核对一次，据返回缺口决定追问、修订或定稿。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5343525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819150" y="54673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90600" y="5534025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额外调用、晚定稿和仍出错都保留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这些代价本身就是要观察的结果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notes={`接下来是评价口径。&#10;&#10;一个方案要同时满足七条：活动对不对、时段对不对、教室对不对、阅读有没有早于手作、拼图是不是十一点开始、手作是不是在操作室、阅读是不是在阅览室。&#10;&#10;主指标就是满足的条数除以七。分母固定是七，不因为这个样本有没有报全字段而改变。&#10;&#10;还有一件事要说清楚：这七项并不是七种互相独立的能力。它们都来自同一套题面和同四条私有限制，所以一个高部分分只能说明方案接近标准答案，不能说明这个小组真的能把方案执行出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4.5.5&lt;/Text&gt;&#10;&#10;        &lt;Text style={{ fontSize: 56, fontWeight: 'bold', color: '#20344B', lineHeight: 1.15 }}&gt;七项判据{'\n'}与不同分母&lt;/Text&gt;&#10;&#10;        &lt;Box style={{ width: 72, height: 4, background: '#276FBF' }} /&gt;&#10;&#10;        &lt;Text style={{ fontSize: 18, color: '#546779', lineHeight: 1.7, width: 900 }}&gt;主指标＝满足条件数÷7；字段缺失、矛盾或不可判不给分，表达措辞不影响判分。&lt;/Text&gt;&#10;&#10;        &lt;Box style={{ flexDirection: 'row', alignItems: 'center', marginTop: 10, gap: 20 }}&gt;&#10;            &lt;Box style={{ width: 140, height: 64, background: '#EDF4FC', borderRadius: 8, justifyContent: 'center', alignItems: 'center' }}&gt;&#10;                &lt;Text style={{ fontSize: 22, fontWeight: 'bold', color: '#276FBF' }}&gt;C1&lt;/Text&gt;&#10;            &lt;/Box&gt;&#10;            &lt;Box style={{ width: 140, height: 64, background: '#EDF4FC', borderRadius: 8, justifyContent: 'center', alignItems: 'center' }}&gt;&#10;                &lt;Text style={{ fontSize: 22, fontWeight: 'bold', color: '#276FBF' }}&gt;C2&lt;/Text&gt;&#10;            &lt;/Box&gt;&#10;            &lt;Box style={{ width: 140, height: 64, background: '#EDF4FC', borderRadius: 8, justifyContent: 'center', alignItems: 'center' }}&gt;&#10;                &lt;Text style={{ fontSize: 22, fontWeight: 'bold', color: '#276FBF' }}&gt;C3&lt;/Text&gt;&#10;            &lt;/Box&gt;&#10;            &lt;Box style={{ width: 140, height: 64, background: '#ECF7F2', borderRadius: 8, justifyContent: 'center', alignItems: 'center' }}&gt;&#10;                &lt;Text style={{ fontSize: 22, fontWeight: 'bold', color: '#26816B' }}&gt;C4&lt;/Text&gt;&#10;            &lt;/Box&gt;&#10;            &lt;Box style={{ width: 140, height: 64, background: '#ECF7F2', borderRadius: 8, justifyContent: 'center', alignItems: 'center' }}&gt;&#10;                &lt;Text style={{ fontSize: 22, fontWeight: 'bold', color: '#26816B' }}&gt;C5&lt;/Text&gt;&#10;            &lt;/Box&gt;&#10;            &lt;Box style={{ width: 140, height: 64, background: '#ECF7F2', borderRadius: 8, justifyContent: 'center', alignItems: 'center' }}&gt;&#10;                &lt;Text style={{ fontSize: 22, fontWeight: 'bold', color: '#26816B' }}&gt;C6&lt;/Text&gt;&#10;            &lt;/Box&gt;&#10;            &lt;Box style={{ width: 140, height: 64, background: '#ECF7F2', borderRadius: 8, justifyContent: 'center', alignItems: 'center' }}&gt;&#10;                &lt;Text style={{ fontSize: 22, fontWeight: 'bold', color: '#26816B' }}&gt;C7&lt;/Text&gt;&#10;            &lt;/Box&gt;&#10;        &lt;/Box&gt;&#10;&#10;        &lt;Text style={{ fontSize: 14, color: '#546779', width: 900 }}&gt;C1–C3 来自共同题面　·　C4–C7 来自四条私有限制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4.5.5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七项判据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与不同分母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3333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主指标＝满足条件数÷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7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；字段缺失、矛盾或不可判不给分，表达措辞不影响判分。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43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C1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133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667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C2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3657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191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C3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181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C4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705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239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C5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229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763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C6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9753600" y="4238625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0287000" y="4419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C7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5057775"/>
            <a:ext cx="857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C1–C3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来自共同题面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C4–C7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来自四条私有限制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3" name="" descr="&lt;Slide notes={`七条判据我一条条念。&#10;&#10;C1，恰好三项规定活动，各一次，没有遗漏也没有新增。C2，九点、十点、十一点各一次，每一项结束时间都是开始后五十分钟。C3，三间规定教室各用一次，不能出现别的教室。&#10;&#10;C4 到 C7 是四条私有限制落到方案上的样子。C4，阅读开始要早于手作，对应温乔那一条。C5，拼图十一点开始，对应任新那一条。C6，手作在操作室；C7，阅读在阅览室，这两条都来自白露。&#10;&#10;我把前三条放在一边、后四条放在另一边，是想说明它们的来源不一样：前三条人人都知道，后四条必须有人真的说出来，方案才可能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5　七项判据与不同分母&lt;/Text&gt;&#10;            &lt;Text style={{ fontSize: 34, fontWeight: 'bold', color: '#20344B' }}&gt;最终方案必须同时满足七条&lt;/Text&gt;&#10;        &lt;/Box&gt;&#10;    &lt;/Box&gt;&#10;&#10;    &lt;Box style={{ height: 540, flexDirection: 'row', alignItems: 'center', gap: 32 }}&gt;&#10;&#10;        &lt;Box style={{ width: 560, flexDirection: 'column', gap: 14 }}&gt;&#10;            &lt;Text style={{ fontSize: 16, color: '#276FBF' }}&gt;来自共同题面　C1 — C3&lt;/Text&gt;&#10;            &lt;Box style={{ width: 560, height: 100, background: '#F4F7FA', borderRadius: 10, padding: '14px 18px', flexDirection: 'row', alignItems: 'center', gap: 14 }}&gt;&#10;                &lt;Box style={{ width: 68, height: 48, background: '#276FBF', borderRadius: 8, justifyContent: 'center', alignItems: 'center' }}&gt;&#10;                    &lt;Text style={{ fontSize: 16, fontWeight: 'bold', color: '#FFFFFF' }}&gt;C1&lt;/Text&gt;&#10;                &lt;/Box&gt;&#10;                &lt;Text style={{ fontSize: 15, color: '#20344B', lineHeight: 1.55, flex: 1 }}&gt;恰三项规定活动，各一次，无遗漏／新增&lt;/Text&gt;&#10;            &lt;/Box&gt;&#10;            &lt;Box style={{ width: 560, height: 100, background: '#F4F7FA', borderRadius: 10, padding: '14px 18px', flexDirection: 'row', alignItems: 'center', gap: 14 }}&gt;&#10;                &lt;Box style={{ width: 68, height: 48, background: '#276FBF', borderRadius: 8, justifyContent: 'center', alignItems: 'center' }}&gt;&#10;                    &lt;Text style={{ fontSize: 16, fontWeight: 'bold', color: '#FFFFFF' }}&gt;C2&lt;/Text&gt;&#10;                &lt;/Box&gt;&#10;                &lt;Text style={{ fontSize: 15, color: '#20344B', lineHeight: 1.55, flex: 1 }}&gt;09、10、11 点各一次，结束均为开始后 50 分钟&lt;/Text&gt;&#10;            &lt;/Box&gt;&#10;            &lt;Box style={{ width: 560, height: 100, background: '#F4F7FA', borderRadius: 10, padding: '14px 18px', flexDirection: 'row', alignItems: 'center', gap: 14 }}&gt;&#10;                &lt;Box style={{ width: 68, height: 48, background: '#276FBF', borderRadius: 8, justifyContent: 'center', alignItems: 'center' }}&gt;&#10;                    &lt;Text style={{ fontSize: 16, fontWeight: 'bold', color: '#FFFFFF' }}&gt;C3&lt;/Text&gt;&#10;                &lt;/Box&gt;&#10;                &lt;Text style={{ fontSize: 15, color: '#20344B', lineHeight: 1.55, flex: 1 }}&gt;三间规定教室各一次，无其他教室&lt;/Text&gt;&#10;            &lt;/Box&gt;&#10;            &lt;Box style={{ width: 560, height: 90, background: '#EDF4FC', borderRadius: 10, padding: '12px 18px', flexDirection: 'row', alignItems: 'center', gap: 12 }}&gt;&#10;                &lt;Box style={{ width: 4, height: 44, background: '#276FBF' }} /&gt;&#10;                &lt;Text style={{ fontSize: 14, color: '#20344B', lineHeight: 1.5, flex: 1 }}&gt;这三条人人可读，不依赖任何发言&lt;/Text&gt;&#10;            &lt;/Box&gt;&#10;        &lt;/Box&gt;&#10;&#10;        &lt;Box style={{ width: 560, flexDirection: 'column', gap: 14 }}&gt;&#10;            &lt;Text style={{ fontSize: 16, color: '#26816B' }}&gt;来自四条私有限制　C4 — C7&lt;/Text&gt;&#10;            &lt;Box style={{ width: 560, height: 100, background: '#F4F7FA', borderRadius: 10, padding: '14px 18px', flexDirection: 'row', alignItems: 'center', gap: 14 }}&gt;&#10;                &lt;Box style={{ width: 68, height: 48, background: '#26816B', borderRadius: 8, justifyContent: 'center', alignItems: 'center' }}&gt;&#10;                    &lt;Text style={{ fontSize: 16, fontWeight: 'bold', color: '#FFFFFF' }}&gt;C4&lt;/Text&gt;&#10;                &lt;/Box&gt;&#10;                &lt;Text style={{ fontSize: 15, color: '#20344B', lineHeight: 1.55, flex: 1 }}&gt;阅读开始早于手作　（F1 · 温乔）&lt;/Text&gt;&#10;            &lt;/Box&gt;&#10;            &lt;Box style={{ width: 560, height: 100, background: '#F4F7FA', borderRadius: 10, padding: '14px 18px', flexDirection: 'row', alignItems: 'center', gap: 14 }}&gt;&#10;                &lt;Box style={{ width: 68, height: 48, background: '#26816B', borderRadius: 8, justifyContent: 'center', alignItems: 'center' }}&gt;&#10;                    &lt;Text style={{ fontSize: 16, fontWeight: 'bold', color: '#FFFFFF' }}&gt;C5&lt;/Text&gt;&#10;                &lt;/Box&gt;&#10;                &lt;Text style={{ fontSize: 15, color: '#20344B', lineHeight: 1.55, flex: 1 }}&gt;拼图 11 点开始　（F2 · 任新）&lt;/Text&gt;&#10;            &lt;/Box&gt;&#10;            &lt;Box style={{ width: 560, height: 100, background: '#F4F7FA', borderRadius: 10, padding: '14px 18px', flexDirection: 'row', alignItems: 'center', gap: 14 }}&gt;&#10;                &lt;Box style={{ width: 68, height: 48, background: '#26816B', borderRadius: 8, justifyContent: 'center', alignItems: 'center' }}&gt;&#10;                    &lt;Text style={{ fontSize: 16, fontWeight: 'bold', color: '#FFFFFF' }}&gt;C6&lt;/Text&gt;&#10;                &lt;/Box&gt;&#10;                &lt;Text style={{ fontSize: 15, color: '#20344B', lineHeight: 1.55, flex: 1 }}&gt;手作在操作室　（F3 · 白露）&lt;/Text&gt;&#10;            &lt;/Box&gt;&#10;            &lt;Box style={{ width: 560, height: 100, background: '#F4F7FA', borderRadius: 10, padding: '14px 18px', flexDirection: 'row', alignItems: 'center', gap: 14 }}&gt;&#10;                &lt;Box style={{ width: 68, height: 48, background: '#26816B', borderRadius: 8, justifyContent: 'center', alignItems: 'center' }}&gt;&#10;                    &lt;Text style={{ fontSize: 16, fontWeight: 'bold', color: '#FFFFFF' }}&gt;C7&lt;/Text&gt;&#10;                &lt;/Box&gt;&#10;                &lt;Text style={{ fontSize: 15, color: '#20344B', lineHeight: 1.55, flex: 1 }}&gt;阅读在阅览室　（F4 · 白露）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七项判据与不同分母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最终方案必须同时满足七条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149542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来自共同题面　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C1 — C3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819275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781050" y="2066925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09650" y="22002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C1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562100" y="2162175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恰三项规定活动，各一次，无遗漏／新增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2905125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781050" y="3152775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09650" y="328612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562100" y="3248025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09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点各一次，结束均为开始后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3990975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781050" y="4238625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09650" y="4371975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C3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562100" y="4333875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三间规定教室各一次，无其他教室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5076825"/>
            <a:ext cx="53340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781050" y="52959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33450" y="5381625"/>
            <a:ext cx="4838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这三条人人可读，不依赖任何发言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248400" y="144780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来自四条私有限制　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C4 — C7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248400" y="177165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6419850" y="2019300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648450" y="215265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C4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200900" y="2114550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阅读开始早于手作　（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F1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温乔）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248400" y="285750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419850" y="3105150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648450" y="32385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C5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200900" y="3200400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拼图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点开始　（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F2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任新）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248400" y="394335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419850" y="4191000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648450" y="432435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C6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200900" y="4286250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手作在操作室　（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F3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白露）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248400" y="5029200"/>
            <a:ext cx="5334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419850" y="5276850"/>
            <a:ext cx="6477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648450" y="5410200"/>
            <a:ext cx="200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C7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200900" y="5372100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阅读在阅览室　（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F4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白露）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3" name="" descr="&lt;Slide notes={`不给分的情形有三类。&#10;&#10;字段缺失，比如只写了活动没写教室，这一项就没办法判。矛盾，比如同一个时段安排了两项，前后说不通。不可判，指的是表述里没有具体活动也没有具体教室，像「设备安排没意见」这种话，看着像表态，其实什么都没说。&#10;&#10;还有一种更整体的情况要单独处理：如果到最后都没有一份明确的最终方案，那这个 Run 就标成「未定稿」。这时候不能拿他中途提过的最佳候选来顶替，也不能因为结果不好看就把这条 Run 从统计里删掉。&#10;&#10;分母始终是七，表达措辞不影响判分——措辞再漂亮，方案不满足就是不满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5　七项判据与不同分母&lt;/Text&gt;&#10;            &lt;Text style={{ fontSize: 34, fontWeight: 'bold', color: '#20344B' }}&gt;哪些情况不给分&lt;/Text&gt;&#10;        &lt;/Box&gt;&#10;    &lt;/Box&gt;&#10;&#10;    &lt;Box style={{ height: 540, flexDirection: 'row', alignItems: 'center', gap: 32 }}&gt;&#10;&#10;        &lt;Box style={{ width: 634, flexDirection: 'column', gap: 14 }}&gt;&#10;&#10;            &lt;Text style={{ fontSize: 16, color: '#546779' }}&gt;三种一律不给分，措辞不影响判分。&lt;/Text&gt;&#10;&#10;            &lt;Box style={{ width: 634, height: 108, background: '#F4F7FA', borderRadius: 10, padding: '14px 18px', flexDirection: 'row', alignItems: 'center', gap: 14 }}&gt;&#10;                &lt;Box style={{ width: 4, height: 44, background: '#546779' }} /&gt;&#10;                &lt;Box style={{ width: 112, height: 48, background: '#FFFFFF', borderRadius: 8, justifyContent: 'center', alignItems: 'center' }}&gt;&#10;                    &lt;Text style={{ fontSize: 15, fontWeight: 'bold', color: '#546779' }}&gt;字段缺失&lt;/Text&gt;&#10;                &lt;/Box&gt;&#10;                &lt;Text style={{ fontSize: 14, color: '#20344B', lineHeight: 1.55, flex: 1 }}&gt;只写了活动、没写时段或教室，这一项无法判&lt;/Text&gt;&#10;            &lt;/Box&gt;&#10;&#10;            &lt;Box style={{ width: 634, height: 108, background: '#FFF4E6', borderRadius: 10, padding: '14px 18px', flexDirection: 'row', alignItems: 'center', gap: 14 }}&gt;&#10;                &lt;Box style={{ width: 4, height: 44, background: '#CB6B28' }} /&gt;&#10;                &lt;Box style={{ width: 112, height: 48, background: '#FFFFFF', borderRadius: 8, justifyContent: 'center', alignItems: 'center' }}&gt;&#10;                    &lt;Text style={{ fontSize: 15, fontWeight: 'bold', color: '#CB6B28' }}&gt;矛盾&lt;/Text&gt;&#10;                &lt;/Box&gt;&#10;                &lt;Text style={{ fontSize: 14, color: '#20344B', lineHeight: 1.55, flex: 1 }}&gt;同一时段安排了两项，方案自身说不通&lt;/Text&gt;&#10;            &lt;/Box&gt;&#10;&#10;            &lt;Box style={{ width: 634, height: 108, background: '#F4F7FA', borderRadius: 10, padding: '14px 18px', flexDirection: 'row', alignItems: 'center', gap: 14 }}&gt;&#10;                &lt;Box style={{ width: 4, height: 44, background: '#546779' }} /&gt;&#10;                &lt;Box style={{ width: 112, height: 48, background: '#FFFFFF', borderRadius: 8, justifyContent: 'center', alignItems: 'center' }}&gt;&#10;                    &lt;Text style={{ fontSize: 15, fontWeight: 'bold', color: '#546779' }}&gt;不可判&lt;/Text&gt;&#10;                &lt;/Box&gt;&#10;                &lt;Text style={{ fontSize: 14, color: '#20344B', lineHeight: 1.55, flex: 1 }}&gt;没有具体活动与教室，例如「设备安排没意见」&lt;/Text&gt;&#10;            &lt;/Box&gt;&#10;&#10;        &lt;/Box&gt;&#10;&#10;        &lt;Box style={{ width: 486, flexDirection: 'column', gap: 14 }}&gt;&#10;&#10;            &lt;Text style={{ fontSize: 20, fontWeight: 'bold', color: '#20344B', lineHeight: 1.4 }}&gt;没有明确最终方案时&lt;/Text&gt;&#10;&#10;            &lt;Text style={{ fontSize: 15, color: '#546779', lineHeight: 1.7, width: 486 }}&gt;整个 Run 标成「未定稿」，这是一个独立的缺口，不是分数低。&lt;/Text&gt;&#10;&#10;            &lt;Box style={{ width: 486, height: 116, background: '#FFF4E6', borderRadius: 10, padding: '14px 18px', flexDirection: 'row', alignItems: 'center', gap: 12 }}&gt;&#10;                &lt;Box style={{ width: 4, height: 56, background: '#CB6B28' }} /&gt;&#10;                &lt;Box style={{ flex: 1, flexDirection: 'column', gap: 5 }}&gt;&#10;                    &lt;Text style={{ fontSize: 15, color: '#CB6B28', lineHeight: 1.5 }}&gt;不拿最佳候选替换定稿&lt;/Text&gt;&#10;                    &lt;Text style={{ fontSize: 15, color: '#CB6B28', lineHeight: 1.5 }}&gt;不删除该 Run&lt;/Text&gt;&#10;                &lt;/Box&gt;&#10;            &lt;/Box&gt;&#10;&#10;            &lt;Box style={{ width: 486, height: 96, background: '#EDF4FC', borderRadius: 10, padding: '14px 18px', flexDirection: 'row', alignItems: 'center', gap: 12 }}&gt;&#10;                &lt;Box style={{ width: 4, height: 44, background: '#276FBF' }} /&gt;&#10;                &lt;Box style={{ flex: 1, flexDirection: 'column', gap: 4 }}&gt;&#10;                    &lt;Text style={{ fontSize: 16, fontWeight: 'bold', color: '#276FBF' }}&gt;主指标分母固定为 7&lt;/Text&gt;&#10;                    &lt;Text style={{ fontSize: 13, color: '#546779', lineHeight: 1.5 }}&gt;不因样本字段缺报而缩小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七项判据与不同分母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哪些情况不给分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三种一律不给分，措辞不影响判分。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2200275"/>
            <a:ext cx="603885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81050" y="2505075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952500" y="2486025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200150" y="2628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字段缺失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2152650" y="2590800"/>
            <a:ext cx="43243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只写了活动、没写时段或教室，这一项无法判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362325"/>
            <a:ext cx="603885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81050" y="3667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952500" y="3648075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343025" y="3790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矛盾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152650" y="3752850"/>
            <a:ext cx="43243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同一时段安排了两项，方案自身说不通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4524375"/>
            <a:ext cx="603885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781050" y="4829175"/>
            <a:ext cx="38100" cy="4191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952500" y="4810125"/>
            <a:ext cx="1066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276350" y="49530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不可判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52650" y="4914900"/>
            <a:ext cx="43243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没有具体活动与教室，例如「设备安排没意见」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953250" y="2200275"/>
            <a:ext cx="46291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没有明确最终方案时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953250" y="2657475"/>
            <a:ext cx="4629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标成「未定稿」，这是一个独立的缺口，不是分数低。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953250" y="3086100"/>
            <a:ext cx="462915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7124700" y="33718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277100" y="33623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不拿最佳候选替换定稿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277100" y="3667125"/>
            <a:ext cx="41338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不删除该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953250" y="4324350"/>
            <a:ext cx="46291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7124700" y="4572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277100" y="4552950"/>
            <a:ext cx="413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主指标分母固定为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7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277100" y="47815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不因样本字段缺报而缩小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notes={`主指标只有一个：满足的条件数除以七。分母固定，不因为样本没报全就变小。&#10;&#10;这么设计，部分分是可以比较的：六比七和四比七，一眼能看出差距。&#10;&#10;但它有两个陷阱。第一，七项不是七种独立能力，它们来自同一套题面和同四条私有限制，所以六比七并不说明这个小组快成功了。第二，高部分分不等于能执行：一个在纸面上几乎全对的方案，如果从来没有被明确说出口，那它只是候选，不是定稿。&#10;&#10;所以未定稿必须单独标注：既不用最佳候选去替换，也不把这条 Run 从统计里拿掉。措辞、语气、说法怎么变，都不影响判分，我们只看方案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5　七项判据与不同分母&lt;/Text&gt;&#10;            &lt;Text style={{ fontSize: 34, fontWeight: 'bold', color: '#20344B' }}&gt;主指标只有一个&lt;/Text&gt;&#10;        &lt;/Box&gt;&#10;    &lt;/Box&gt;&#10;&#10;    &lt;Box style={{ height: 540, flexDirection: 'column', justifyContent: 'center', gap: 20 }}&gt;&#10;&#10;        &lt;Box style={{ width: 1152, height: 190, background: '#EDF4FC', borderRadius: 10, padding: '20px 28px', flexDirection: 'column', alignItems: 'center', justifyContent: 'center', gap: 10 }}&gt;&#10;            &lt;Text style={{ fontSize: 44, fontWeight: 'bold', color: '#276FBF', lineHeight: 1.2 }}&gt;主指标 ＝ 满足条件数 ÷ 7&lt;/Text&gt;&#10;            &lt;Text style={{ fontSize: 15, color: '#546779' }}&gt;分母固定为 7；字段缺失、矛盾或不可判一律不给分，表达措辞不影响&lt;/Text&gt;&#10;        &lt;/Box&gt;&#10;&#10;        &lt;Box style={{ flexDirection: 'row', gap: 24 }}&gt;&#10;&#10;            &lt;Box style={{ width: 368, height: 230, background: '#F4F7FA', borderRadius: 10, padding: '18px 22px', flexDirection: 'column', gap: 10 }}&gt;&#10;                &lt;Box style={{ width: 40, height: 40, background: '#276FBF', borderRadius: 8, justifyContent: 'center', alignItems: 'center' }}&gt;&#10;                    &lt;Text style={{ fontSize: 18, fontWeight: 'bold', color: '#FFFFFF' }}&gt;一&lt;/Text&gt;&#10;                &lt;/Box&gt;&#10;                &lt;Text style={{ fontSize: 18, fontWeight: 'bold', color: '#20344B' }}&gt;措辞不影响&lt;/Text&gt;&#10;                &lt;Text style={{ fontSize: 14, color: '#546779', lineHeight: 1.65, flex: 1 }}&gt;说法、语气、句式怎么变都一样，只看方案里写了什么活动、什么时段、什么教室。&lt;/Text&gt;&#10;            &lt;/Box&gt;&#10;&#10;            &lt;Box style={{ width: 368, height: 230, background: '#F4F7FA', borderRadius: 10, padding: '18px 22px', flexDirection: 'column', gap: 10 }}&gt;&#10;                &lt;Box style={{ width: 40, height: 40, background: '#276FBF', borderRadius: 8, justifyContent: 'center', alignItems: 'center' }}&gt;&#10;                    &lt;Text style={{ fontSize: 18, fontWeight: 'bold', color: '#FFFFFF' }}&gt;二&lt;/Text&gt;&#10;                &lt;/Box&gt;&#10;                &lt;Text style={{ fontSize: 18, fontWeight: 'bold', color: '#20344B' }}&gt;高分不等于能执行&lt;/Text&gt;&#10;                &lt;Text style={{ fontSize: 14, color: '#546779', lineHeight: 1.65, flex: 1 }}&gt;七项来自同一套题面与四条私有限制，不是七种独立能力；部分分高只说明接近标准答案。&lt;/Text&gt;&#10;            &lt;/Box&gt;&#10;&#10;            &lt;Box style={{ width: 368, height: 230, background: '#FFF4E6', borderRadius: 10, padding: '18px 22px', flexDirection: 'column', gap: 10 }}&gt;&#10;                &lt;Box style={{ width: 40, height: 40, background: '#CB6B28', borderRadius: 8, justifyContent: 'center', alignItems: 'center' }}&gt;&#10;                    &lt;Text style={{ fontSize: 18, fontWeight: 'bold', color: '#FFFFFF' }}&gt;三&lt;/Text&gt;&#10;                &lt;/Box&gt;&#10;                &lt;Text style={{ fontSize: 18, fontWeight: 'bold', color: '#CB6B28' }}&gt;未定稿单独标注&lt;/Text&gt;&#10;                &lt;Text style={{ fontSize: 14, color: '#CB6B28', lineHeight: 1.65, flex: 1 }}&gt;不拿最佳候选替换，也不删除该 Run；没被明确说出口的方案不算定稿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七项判据与不同分母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主指标只有一个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1619250"/>
            <a:ext cx="1097280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667125" y="2085975"/>
            <a:ext cx="485775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276FBF"/>
                </a:solidFill>
                <a:latin typeface="Microsoft YaHei"/>
                <a:ea typeface="Microsoft YaHei"/>
              </a:rPr>
              <a:t>主指标</a:t>
            </a: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3300" b="1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3300" b="1">
                <a:solidFill>
                  <a:srgbClr val="276FBF"/>
                </a:solidFill>
                <a:latin typeface="Microsoft YaHei"/>
                <a:ea typeface="Microsoft YaHei"/>
              </a:rPr>
              <a:t>满足条件数</a:t>
            </a: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7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886200" y="2790825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分母固定为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；字段缺失、矛盾或不可判一律不给分，表达措辞不影响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3619500"/>
            <a:ext cx="3505200" cy="219075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819150" y="37909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23925" y="3876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9150" y="426720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措辞不影响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9150" y="4572000"/>
            <a:ext cx="30861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说法、语气、句式怎么变都一样，只看方案里写了什么活动、什么时段、什么教室。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343400" y="3619500"/>
            <a:ext cx="3505200" cy="219075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4552950" y="37909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657725" y="3876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52950" y="426720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高分不等于能执行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52950" y="4572000"/>
            <a:ext cx="30861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七项来自同一套题面与四条私有限制，不是七种独立能力；部分分高只说明接近标准答案。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8077200" y="3619500"/>
            <a:ext cx="3505200" cy="2190750"/>
          </a:xfrm>
          <a:prstGeom prst="roundRect">
            <a:avLst>
              <a:gd name="adj" fmla="val 43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8286750" y="37909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91525" y="3876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286750" y="4267200"/>
            <a:ext cx="3086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未定稿单独标注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286750" y="4572000"/>
            <a:ext cx="30861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不拿最佳候选替换，也不删除该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；没被明确说出口的方案不算定稿。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1" name="" descr="&lt;Slide notes={`除了主指标，还要同时报四个量，因为它们回答的是不同的问题。&#10;&#10;第一个是全七项满足的 Run 数除以全部预定 Run 数，另外报定稿覆盖情况。为什么单列？因为七项不是七种独立能力，一个高分不说明这个小组真的能执行。&#10;&#10;第二个是真实准确表达过的 F 条件数除以四。这是必要信息共享：重复说不重计，说过一遍也不证明别人真的理解了。&#10;&#10;第三个是有效贡献发言除以三名成员全部任务相关发言。新说出必要事实、纠正错误、或者给出有依据的推导，才算有效；一条发言里含两个条件，仍然只算一条。&#10;&#10;第四个是全部样本的逻辑调用数除以完全正确方案数，口径里含人物、对象、失败和无定稿成本，物理重试另列；没有正确方案时不可计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5　七项判据与不同分母&lt;/Text&gt;&#10;            &lt;Text style={{ fontSize: 34, fontWeight: 'bold', color: '#20344B' }}&gt;还要同时报的四个量&lt;/Text&gt;&#10;        &lt;/Box&gt;&#10;    &lt;/Box&gt;&#10;&#10;    &lt;Box style={{ height: 540, flexDirection: 'column', justifyContent: 'center', gap: 14 }}&gt;&#10;&#10;        &lt;Box style={{ width: 1152, height: 104, background: '#F4F7FA', borderRadius: 10, padding: '14px 20px', flexDirection: 'row', alignItems: 'center', gap: 16 }}&gt;&#10;            &lt;Box style={{ width: 4, height: 44, background: '#276FBF' }} /&gt;&#10;            &lt;Box style={{ width: 300, height: 64, background: '#FFFFFF', borderRadius: 8, padding: '8px 14px', justifyContent: 'center' }}&gt;&#10;                &lt;Text style={{ fontSize: 15, fontWeight: 'bold', color: '#276FBF', lineHeight: 1.4 }}&gt;全七项满足的 Run 数 ÷ 全部预定 Run 数；定稿覆盖&lt;/Text&gt;&#10;            &lt;/Box&gt;&#10;            &lt;Text style={{ fontSize: 14, color: '#546779', lineHeight: 1.55, flex: 1 }}&gt;七项不是七种独立能力，高部分分不等于能执行&lt;/Text&gt;&#10;        &lt;/Box&gt;&#10;&#10;        &lt;Box style={{ width: 1152, height: 104, background: '#F4F7FA', borderRadius: 10, padding: '14px 20px', flexDirection: 'row', alignItems: 'center', gap: 16 }}&gt;&#10;            &lt;Box style={{ width: 4, height: 44, background: '#276FBF' }} /&gt;&#10;            &lt;Box style={{ width: 300, height: 64, background: '#FFFFFF', borderRadius: 8, padding: '8px 14px', justifyContent: 'center' }}&gt;&#10;                &lt;Text style={{ fontSize: 15, fontWeight: 'bold', color: '#276FBF', lineHeight: 1.4 }}&gt;真实准确表达过的 F 条件数 ÷ 4&lt;/Text&gt;&#10;            &lt;/Box&gt;&#10;            &lt;Text style={{ fontSize: 14, color: '#546779', lineHeight: 1.55, flex: 1 }}&gt;必要信息共享；重复不重计，也不证明全员理解&lt;/Text&gt;&#10;        &lt;/Box&gt;&#10;&#10;        &lt;Box style={{ width: 1152, height: 104, background: '#F4F7FA', borderRadius: 10, padding: '14px 20px', flexDirection: 'row', alignItems: 'center', gap: 16 }}&gt;&#10;            &lt;Box style={{ width: 4, height: 44, background: '#276FBF' }} /&gt;&#10;            &lt;Box style={{ width: 300, height: 64, background: '#FFFFFF', borderRadius: 8, padding: '8px 14px', justifyContent: 'center' }}&gt;&#10;                &lt;Text style={{ fontSize: 15, fontWeight: 'bold', color: '#276FBF', lineHeight: 1.4 }}&gt;有效贡献发言 ÷ 三成员全部任务相关发言&lt;/Text&gt;&#10;            &lt;/Box&gt;&#10;            &lt;Text style={{ fontSize: 14, color: '#546779', lineHeight: 1.55, flex: 1 }}&gt;新必要事实、纠错或有依据推导算有效；一条含两条件仍只计一条&lt;/Text&gt;&#10;        &lt;/Box&gt;&#10;&#10;        &lt;Box style={{ width: 1152, height: 104, background: '#FFF4E6', borderRadius: 10, padding: '14px 20px', flexDirection: 'row', alignItems: 'center', gap: 16 }}&gt;&#10;            &lt;Box style={{ width: 4, height: 44, background: '#CB6B28' }} /&gt;&#10;            &lt;Box style={{ width: 300, height: 64, background: '#FFFFFF', borderRadius: 8, padding: '8px 14px', justifyContent: 'center' }}&gt;&#10;                &lt;Text style={{ fontSize: 15, fontWeight: 'bold', color: '#CB6B28', lineHeight: 1.4 }}&gt;全部样本逻辑调用 ÷ 完全正确方案数&lt;/Text&gt;&#10;            &lt;/Box&gt;&#10;            &lt;Text style={{ fontSize: 14, color: '#546779', lineHeight: 1.55, flex: 1 }}&gt;含人物、对象、失败和无定稿成本；物理重试另列，零正确不可计算&lt;/Text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1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七项判据与不同分母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还要同时报的四个量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1533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800100" y="18192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990600" y="17240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23950" y="179070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全七项满足的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数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全部预定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数；定稿覆盖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000500" y="1905000"/>
            <a:ext cx="7391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七项不是七种独立能力，高部分分不等于能执行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09600" y="2657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800100" y="29432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990600" y="28479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23950" y="30289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真实准确表达过的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条件数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4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000500" y="3028950"/>
            <a:ext cx="7391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必要信息共享；重复不重计，也不证明全员理解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3781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800100" y="40671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990600" y="39719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23950" y="403860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有效贡献发言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三成员全部任务相关发言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000500" y="4152900"/>
            <a:ext cx="7391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新必要事实、纠错或有依据推导算有效；一条含两条件仍只计一条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49053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0100" y="5191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990600" y="50958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23950" y="52768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全部样本逻辑调用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完全正确方案数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000500" y="5276850"/>
            <a:ext cx="7391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含人物、对象、失败和无定稿成本；物理重试另列，零正确不可计算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3" name="" descr="&lt;Slide notes={`最后一大块回到教师那一侧，分四步走。&#10;&#10;先看教师唯一解：这是给教师看的答案，绝不能进角色、共同 Brain 或者题面对象。&#10;&#10;再看这个唯一解从哪来：所有排列一共三十六种，四条私有限制一层层把候选削掉，最后只剩一种。&#10;&#10;然后用一份人工写错的定稿演示判分：只违反 C4 一条，得分六比七，大约百分之八十五点七，但完全正确的方案数仍然是零。&#10;&#10;最后是失败定位：条件没传出去、传到了却漏掉、推导错了、改过之后没有重发，位置不同，要查的地方也不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4.5.6 — 4.5.7&lt;/Text&gt;&#10;&#10;        &lt;Text style={{ fontSize: 56, fontWeight: 'bold', color: '#20344B', lineHeight: 1.15 }}&gt;解答、判分{'\n'}与失败定位&lt;/Text&gt;&#10;&#10;        &lt;Box style={{ width: 72, height: 4, background: '#276FBF' }} /&gt;&#10;&#10;        &lt;Text style={{ fontSize: 18, color: '#546779', lineHeight: 1.7, width: 900 }}&gt;教师唯一解只给教师；人工错误定稿 6/7 仍不是完全正确；失败位置决定要查哪里。&lt;/Text&gt;&#10;&#10;        &lt;Box style={{ flexDirection: 'row', alignItems: 'center', marginTop: 10 }}&gt;&#10;            &lt;Box style={{ width: 300, height: 64, background: '#F7F3E8', borderRadius: 8, justifyContent: 'center', alignItems: 'center' }}&gt;&#10;                &lt;Text style={{ fontSize: 18, color: '#20344B' }}&gt;教师唯一解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36 种 → 唯一解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6/7 与失败定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4.5.6 — 4.5.7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解答、判分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与失败定位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教师唯一解只给教师；人工错误定稿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6/7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仍不是完全正确；失败位置决定要查哪里。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609725" y="46196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教师唯一解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705350" y="4619625"/>
            <a:ext cx="121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种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唯一解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001000" y="4619625"/>
            <a:ext cx="119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 xml:space="preserve">6/7 </a:t>
            </a: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与失败定位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notes={`先看教师唯一解。读图阅读安排在九点到九点五十，教室是阅览室；纸艺手作十点到十点五十，操作室；合作拼图十一点到十一点五十，讨论室。&#10;&#10;我要强调两件事。第一，这份解答只给教师，绝不能进入角色、共同 Brain 或者题面对象，否则角色做的就不是推理，而是抄答案。第二，它不是人物真的排出这份安排的证据，它只是标准答案，用来判分。&#10;&#10;时间上也要分清：纸上的活动日是二〇二六年十一月十四日，讨论 Run 是十一月十二日下午两点到三点、六十一步，两者是分开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6　教师解答与人工判分&lt;/Text&gt;&#10;            &lt;Text style={{ fontSize: 34, fontWeight: 'bold', color: '#20344B' }}&gt;唯一解：时段、活动、教室逐项可核查&lt;/Text&gt;&#10;        &lt;/Box&gt;&#10;    &lt;/Box&gt;&#10;&#10;    &lt;Box style={{ height: 540, flexDirection: 'column', justifyContent: 'center', gap: 16 }}&gt;&#10;&#10;        &lt;Box style={{ width: 1152, height: 58, background: '#FFF4E6', borderRadius: 10, padding: '12px 22px', flexDirection: 'row', alignItems: 'center', gap: 14 }}&gt;&#10;            &lt;Box style={{ width: 4, height: 34, background: '#CB6B28' }} /&gt;&#10;            &lt;Text style={{ fontSize: 15, color: '#CB6B28', lineHeight: 1.5, flex: 1 }}&gt;以下仅给教师，不得进入角色、共同 Brain 或题面对象&lt;/Text&gt;&#10;            &lt;Box style={{ width: 108, height: 32, background: '#FFFFFF', borderRadius: 8, justifyContent: 'center', alignItems: 'center' }}&gt;&#10;                &lt;Text style={{ fontSize: 13, color: '#CB6B28' }}&gt;教师材料&lt;/Text&gt;&#10;            &lt;/Box&gt;&#10;        &lt;/Box&gt;&#10;&#10;        &lt;Box style={{ flexDirection: 'row', gap: 16, height: 48 }}&gt;&#10;            &lt;Box style={{ width: 320, height: 48, background: '#20344B', borderRadius: 8, justifyContent: 'center', padding: '0 18px' }}&gt;&#10;                &lt;Text style={{ fontSize: 15, fontWeight: 'bold', color: '#FFFFFF' }}&gt;活动&lt;/Text&gt;&#10;            &lt;/Box&gt;&#10;            &lt;Box style={{ width: 400, height: 48, background: '#20344B', borderRadius: 8, justifyContent: 'center', padding: '0 18px' }}&gt;&#10;                &lt;Text style={{ fontSize: 15, fontWeight: 'bold', color: '#FFFFFF' }}&gt;开始 — 结束&lt;/Text&gt;&#10;            &lt;/Box&gt;&#10;            &lt;Box style={{ width: 400, height: 48, background: '#20344B', borderRadius: 8, justifyContent: 'center', padding: '0 18px' }}&gt;&#10;                &lt;Text style={{ fontSize: 15, fontWeight: 'bold', color: '#FFFFFF' }}&gt;教室&lt;/Text&gt;&#10;            &lt;/Box&gt;&#10;        &lt;/Box&gt;&#10;&#10;        &lt;Box style={{ flexDirection: 'row', gap: 16, height: 76 }}&gt;&#10;            &lt;Box style={{ width: 320, height: 76, background: '#ECF7F2', borderRadius: 8, justifyContent: 'center', padding: '0 18px' }}&gt;&#10;                &lt;Text style={{ fontSize: 17, fontWeight: 'bold', color: '#26816B' }}&gt;读图阅读&lt;/Text&gt;&#10;            &lt;/Box&gt;&#10;            &lt;Box style={{ width: 400, height: 76, background: '#ECF7F2', borderRadius: 8, justifyContent: 'center', padding: '0 18px' }}&gt;&#10;                &lt;Text style={{ fontSize: 17, color: '#20344B' }}&gt;09:00 — 09:50&lt;/Text&gt;&#10;            &lt;/Box&gt;&#10;            &lt;Box style={{ width: 400, height: 76, background: '#ECF7F2', borderRadius: 8, justifyContent: 'center', padding: '0 18px' }}&gt;&#10;                &lt;Text style={{ fontSize: 17, color: '#20344B' }}&gt;阅览室&lt;/Text&gt;&#10;            &lt;/Box&gt;&#10;        &lt;/Box&gt;&#10;&#10;        &lt;Box style={{ flexDirection: 'row', gap: 16, height: 76 }}&gt;&#10;            &lt;Box style={{ width: 320, height: 76, background: '#ECF7F2', borderRadius: 8, justifyContent: 'center', padding: '0 18px' }}&gt;&#10;                &lt;Text style={{ fontSize: 17, fontWeight: 'bold', color: '#26816B' }}&gt;纸艺手作&lt;/Text&gt;&#10;            &lt;/Box&gt;&#10;            &lt;Box style={{ width: 400, height: 76, background: '#ECF7F2', borderRadius: 8, justifyContent: 'center', padding: '0 18px' }}&gt;&#10;                &lt;Text style={{ fontSize: 17, color: '#20344B' }}&gt;10:00 — 10:50&lt;/Text&gt;&#10;            &lt;/Box&gt;&#10;            &lt;Box style={{ width: 400, height: 76, background: '#ECF7F2', borderRadius: 8, justifyContent: 'center', padding: '0 18px' }}&gt;&#10;                &lt;Text style={{ fontSize: 17, color: '#20344B' }}&gt;操作室&lt;/Text&gt;&#10;            &lt;/Box&gt;&#10;        &lt;/Box&gt;&#10;&#10;        &lt;Box style={{ flexDirection: 'row', gap: 16, height: 76 }}&gt;&#10;            &lt;Box style={{ width: 320, height: 76, background: '#ECF7F2', borderRadius: 8, justifyContent: 'center', padding: '0 18px' }}&gt;&#10;                &lt;Text style={{ fontSize: 17, fontWeight: 'bold', color: '#26816B' }}&gt;合作拼图&lt;/Text&gt;&#10;            &lt;/Box&gt;&#10;            &lt;Box style={{ width: 400, height: 76, background: '#ECF7F2', borderRadius: 8, justifyContent: 'center', padding: '0 18px' }}&gt;&#10;                &lt;Text style={{ fontSize: 17, color: '#20344B' }}&gt;11:00 — 11:50&lt;/Text&gt;&#10;            &lt;/Box&gt;&#10;            &lt;Box style={{ width: 400, height: 76, background: '#ECF7F2', borderRadius: 8, justifyContent: 'center', padding: '0 18px' }}&gt;&#10;                &lt;Text style={{ fontSize: 17, color: '#20344B' }}&gt;讨论室&lt;/Text&gt;&#10;            &lt;/Box&gt;&#10;        &lt;/Box&gt;&#10;&#10;        &lt;Text style={{ fontSize: 13, color: '#546779' }}&gt;示意排程表：教师解答，非人物已完成排程的实测证据；纸上活动日 2026-11-14，讨论 Run 2026-11-12 14:00—15:00，61 步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教师解答与人工判分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唯一解：时段、活动、教室逐项可核查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166687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819150" y="1781175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90600" y="1819275"/>
            <a:ext cx="9220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以下仅给教师，不得进入角色、共同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或题面对象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10344150" y="1790700"/>
            <a:ext cx="10287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610850" y="18669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教师材料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2371725"/>
            <a:ext cx="3048000" cy="457200"/>
          </a:xfrm>
          <a:prstGeom prst="roundRect">
            <a:avLst>
              <a:gd name="adj" fmla="val 1666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81050" y="2514600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活动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810000" y="2371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981450" y="25146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开始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772400" y="2371725"/>
            <a:ext cx="3810000" cy="457200"/>
          </a:xfrm>
          <a:prstGeom prst="roundRect">
            <a:avLst>
              <a:gd name="adj" fmla="val 1666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943850" y="25146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教室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2981325"/>
            <a:ext cx="3048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81050" y="3248025"/>
            <a:ext cx="2705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读图阅读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3810000" y="29813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981450" y="32480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09:00 — 09:50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7772400" y="29813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943850" y="32480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阅览室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3857625"/>
            <a:ext cx="3048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2705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纸艺手作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3810000" y="38576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981450" y="41243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10:00 — 10:50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772400" y="38576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943850" y="41243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操作室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4733925"/>
            <a:ext cx="3048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81050" y="5000625"/>
            <a:ext cx="2705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合作拼图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0" y="47339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981450" y="50006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11:00 — 11:50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772400" y="4733925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943850" y="50006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讨论室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56102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示意排程表：教师解答，非人物已完成排程的实测证据；纸上活动日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2026-11-14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，讨论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2026-11-12 14:00—15:00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6" name="" descr="&lt;Slide notes={`这个唯一解是怎么来的？我把过程拆成三步。&#10;&#10;一开始，时段有六种排列，教室也有六种排列，合起来三十六种候选。&#10;&#10;然后四条私有限制一层层地削。F2 先把拼图钉在十一点；F1 要求阅读早于手作，剩下两个时段的先后次序就定了；F3 和 F4 又固定了手作和阅读各自的教室，第三间自然留给拼图。&#10;&#10;削到最后，只剩一种安排。&#10;&#10;反过来说也成立：如果没有这四条私有限制，三十六种候选里哪一种都说得通，题目就没有唯一答案了。这也解释了为什么信息共享在这个案例里是必要条件——不共享，连唯一解都构不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6　教师解答与人工判分&lt;/Text&gt;&#10;            &lt;Text style={{ fontSize: 34, fontWeight: 'bold', color: '#20344B' }}&gt;约束怎样把 36 种缩成唯一解&lt;/Text&gt;&#10;        &lt;/Box&gt;&#10;    &lt;/Box&gt;&#10;&#10;    &lt;Box style={{ height: 540, flexDirection: 'column', justifyContent: 'center', gap: 18 }}&gt;&#10;&#10;        &lt;Box style={{ flexDirection: 'row', alignItems: 'center', height: 116 }}&gt;&#10;            &lt;Box style={{ width: 400, height: 116, background: '#F4F7FA', borderRadius: 10, padding: '16px 20px', flexDirection: 'column', gap: 6, justifyContent: 'center' }}&gt;&#10;                &lt;Text style={{ fontSize: 24, fontWeight: 'bold', color: '#20344B' }}&gt;36 种候选&lt;/Text&gt;&#10;                &lt;Text style={{ fontSize: 14, color: '#546779', lineHeight: 1.5 }}&gt;时段 6 排列 × 教室 6 排列&lt;/Text&gt;&#10;            &lt;/Box&gt;&#10;            &lt;Box style={{ width: 44, height: 116, justifyContent: 'center', alignItems: 'center' }}&gt;&#10;                &lt;Text style={{ fontSize: 26, color: '#276FBF' }}&gt;›&lt;/Text&gt;&#10;            &lt;/Box&gt;&#10;            &lt;Box style={{ width: 380, height: 116, background: '#EDF4FC', borderRadius: 10, padding: '16px 20px', flexDirection: 'column', gap: 6, justifyContent: 'center' }}&gt;&#10;                &lt;Text style={{ fontSize: 24, fontWeight: 'bold', color: '#276FBF' }}&gt;四条私有限制&lt;/Text&gt;&#10;                &lt;Text style={{ fontSize: 14, color: '#546779', lineHeight: 1.5 }}&gt;F1、F2、F3、F4 逐条削减&lt;/Text&gt;&#10;            &lt;/Box&gt;&#10;            &lt;Box style={{ width: 44, height: 116, justifyContent: 'center', alignItems: 'center' }}&gt;&#10;                &lt;Text style={{ fontSize: 26, color: '#26816B' }}&gt;›&lt;/Text&gt;&#10;            &lt;/Box&gt;&#10;            &lt;Box style={{ width: 284, height: 116, background: '#ECF7F2', borderRadius: 10, padding: '16px 20px', flexDirection: 'column', gap: 6, justifyContent: 'center' }}&gt;&#10;                &lt;Text style={{ fontSize: 24, fontWeight: 'bold', color: '#26816B' }}&gt;唯一解&lt;/Text&gt;&#10;                &lt;Text style={{ fontSize: 14, color: '#546779', lineHeight: 1.5 }}&gt;只剩一种安排&lt;/Text&gt;&#10;            &lt;/Box&gt;&#10;        &lt;/Box&gt;&#10;&#10;        &lt;Box style={{ width: 1152, height: 84, background: '#F4F7FA', borderRadius: 10, padding: '12px 20px', flexDirection: 'row', alignItems: 'center', gap: 14 }}&gt;&#10;            &lt;Box style={{ width: 4, height: 44, background: '#276FBF' }} /&gt;&#10;            &lt;Box style={{ width: 200, height: 44, justifyContent: 'center' }}&gt;&#10;                &lt;Text style={{ fontSize: 15, fontWeight: 'bold', color: '#276FBF' }}&gt;F2 · 任新&lt;/Text&gt;&#10;            &lt;/Box&gt;&#10;            &lt;Text style={{ fontSize: 14, color: '#20344B', lineHeight: 1.5, flex: 1 }}&gt;固定拼图 11 点 → 拼图的时段不再有选择&lt;/Text&gt;&#10;        &lt;/Box&gt;&#10;&#10;        &lt;Box style={{ width: 1152, height: 84, background: '#F4F7FA', borderRadius: 10, padding: '12px 20px', flexDirection: 'row', alignItems: 'center', gap: 14 }}&gt;&#10;            &lt;Box style={{ width: 4, height: 44, background: '#276FBF' }} /&gt;&#10;            &lt;Box style={{ width: 200, height: 44, justifyContent: 'center' }}&gt;&#10;                &lt;Text style={{ fontSize: 15, fontWeight: 'bold', color: '#276FBF' }}&gt;F1 · 温乔&lt;/Text&gt;&#10;            &lt;/Box&gt;&#10;            &lt;Text style={{ fontSize: 14, color: '#20344B', lineHeight: 1.5, flex: 1 }}&gt;阅读先、手作后 → 剩余两时段的次序确定&lt;/Text&gt;&#10;        &lt;/Box&gt;&#10;&#10;        &lt;Box style={{ width: 1152, height: 84, background: '#F4F7FA', borderRadius: 10, padding: '12px 20px', flexDirection: 'row', alignItems: 'center', gap: 14 }}&gt;&#10;            &lt;Box style={{ width: 4, height: 44, background: '#26816B' }} /&gt;&#10;            &lt;Box style={{ width: 200, height: 44, justifyContent: 'center' }}&gt;&#10;                &lt;Text style={{ fontSize: 15, fontWeight: 'bold', color: '#26816B' }}&gt;F3、F4 · 白露&lt;/Text&gt;&#10;            &lt;/Box&gt;&#10;            &lt;Text style={{ fontSize: 14, color: '#20344B', lineHeight: 1.5, flex: 1 }}&gt;固定手作与阅读的教室 → 余下讨论室给拼图&lt;/Text&gt;&#10;        &lt;/Box&gt;&#10;&#10;        &lt;Box style={{ width: 1152, height: 66, background: '#FFF4E6', borderRadius: 10, padding: '12px 22px', flexDirection: 'row', alignItems: 'center', gap: 14 }}&gt;&#10;            &lt;Box style={{ width: 4, height: 40, background: '#CB6B28' }} /&gt;&#10;            &lt;Text style={{ fontSize: 15, color: '#CB6B28', lineHeight: 1.5, flex: 1 }}&gt;没有这四条私有限制，36 种候选里哪一种都说得通，题目就没有唯一解&lt;/Text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教师解答与人工判分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约束怎样把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36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种缩成唯一解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1304925"/>
            <a:ext cx="38100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00100" y="157162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种候选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00100" y="1905000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时段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排列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排列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591050" y="1704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838700" y="1304925"/>
            <a:ext cx="36195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029200" y="1571625"/>
            <a:ext cx="3238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四条私有限制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029200" y="190500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F1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F2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F3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F4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逐条削减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629650" y="17049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8877300" y="1304925"/>
            <a:ext cx="27051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9067800" y="1571625"/>
            <a:ext cx="2324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唯一解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9067800" y="1905000"/>
            <a:ext cx="2324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只剩一种安排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25812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800100" y="27717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71550" y="28956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F2 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任新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009900" y="2857500"/>
            <a:ext cx="8382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固定拼图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点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拼图的时段不再有选择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35528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800100" y="37433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71550" y="38671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F1 ·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温乔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009900" y="3829050"/>
            <a:ext cx="8382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阅读先、手作后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剩余两时段的次序确定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45243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800100" y="471487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71550" y="48387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F3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F4 ·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白露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009900" y="4800600"/>
            <a:ext cx="8382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固定手作与阅读的教室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余下讨论室给拼图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5495925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819150" y="56197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90600" y="5686425"/>
            <a:ext cx="1038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没有这四条私有限制，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种候选里哪一种都说得通，题目就没有唯一解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notes={`我拿一份人工写错的定稿来演示判分。阅读放到十点、手作放到九点、拼图十一点，三项各五十分钟，教室全都对。&#10;&#10;逐条看：C1、C2、C3 都成立，C5、C6、C7 也成立，一共六条。唯独 C4 冲突——阅读没有早于手作。&#10;&#10;所以得分是六比七，大约是百分之八十五点七。但完全正确的方案数仍然是零。&#10;&#10;这个例子要说明的是：部分分高和全对是两件事。另外必须标清楚，它是人工写出来的错误方案，不是某一次 Run 的真实结果，不能当成实测数据引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6　教师解答与人工判分&lt;/Text&gt;&#10;            &lt;Text style={{ fontSize: 34, fontWeight: 'bold', color: '#20344B' }}&gt;六项满足，仍不是完全正确&lt;/Text&gt;&#10;        &lt;/Box&gt;&#10;    &lt;/Box&gt;&#10;&#10;    &lt;Box style={{ height: 540, flexDirection: 'column', justifyContent: 'center', gap: 20 }}&gt;&#10;&#10;        &lt;Box style={{ width: 1152, height: 112, background: '#F7F3E8', borderRadius: 10, padding: '12px 22px', flexDirection: 'column', gap: 8, justifyContent: 'center' }}&gt;&#10;            &lt;Text style={{ fontSize: 13, color: '#546779' }}&gt;人工错误定稿（示意方案条，非实际界面；非 Run）&lt;/Text&gt;&#10;            &lt;Box style={{ flexDirection: 'row', gap: 24, height: 56 }}&gt;&#10;                &lt;Box style={{ width: 352, height: 56, background: '#FFFFFF', borderRadius: 8, justifyContent: 'center', padding: '0 14px' }}&gt;&#10;                    &lt;Text style={{ fontSize: 14, color: '#CB6B28' }}&gt;阅读 10:00—10:50 · 阅览室&lt;/Text&gt;&#10;                &lt;/Box&gt;&#10;                &lt;Box style={{ width: 352, height: 56, background: '#FFFFFF', borderRadius: 8, justifyContent: 'center', padding: '0 14px' }}&gt;&#10;                    &lt;Text style={{ fontSize: 14, color: '#CB6B28' }}&gt;手作 09:00—09:50 · 操作室&lt;/Text&gt;&#10;                &lt;/Box&gt;&#10;                &lt;Box style={{ width: 352, height: 56, background: '#FFFFFF', borderRadius: 8, justifyContent: 'center', padding: '0 14px' }}&gt;&#10;                    &lt;Text style={{ fontSize: 14, color: '#20344B' }}&gt;拼图 11:00—11:50 · 讨论室&lt;/Text&gt;&#10;                &lt;/Box&gt;&#10;            &lt;/Box&gt;&#10;        &lt;/Box&gt;&#10;&#10;        &lt;Box style={{ flexDirection: 'row', gap: 32, height: 220 }}&gt;&#10;&#10;            &lt;Box style={{ width: 480, height: 220, background: '#EDF4FC', borderRadius: 10, flexDirection: 'column', alignItems: 'center', justifyContent: 'center', gap: 6 }}&gt;&#10;                &lt;Text style={{ fontSize: 88, fontWeight: 'bold', color: '#276FBF', lineHeight: 1.0 }}&gt;6 / 7&lt;/Text&gt;&#10;                &lt;Text style={{ fontSize: 18, color: '#546779' }}&gt;≈ 85.7%　满足率&lt;/Text&gt;&#10;            &lt;/Box&gt;&#10;&#10;            &lt;Box style={{ width: 640, flexDirection: 'column', gap: 12 }}&gt;&#10;                &lt;Box style={{ width: 640, height: 62, background: '#ECF7F2', borderRadius: 8, padding: '0 18px', justifyContent: 'center' }}&gt;&#10;                    &lt;Text style={{ fontSize: 15, color: '#26816B' }}&gt;成立六条　C1、C2、C3、C5、C6、C7&lt;/Text&gt;&#10;                &lt;/Box&gt;&#10;                &lt;Box style={{ width: 640, height: 62, background: '#FFF4E6', borderRadius: 8, padding: '0 18px', justifyContent: 'center' }}&gt;&#10;                    &lt;Text style={{ fontSize: 15, color: '#CB6B28' }}&gt;冲突一条　C4 —— 阅读没有早于手作&lt;/Text&gt;&#10;                &lt;/Box&gt;&#10;                &lt;Box style={{ width: 640, height: 72, background: '#FFF4E6', borderRadius: 8, padding: '0 18px', justifyContent: 'center' }}&gt;&#10;                    &lt;Text style={{ fontSize: 20, fontWeight: 'bold', color: '#CB6B28' }}&gt;完全正确方案数 ＝ 0&lt;/Text&gt;&#10;                &lt;/Box&gt;&#10;            &lt;/Box&gt;&#10;&#10;        &lt;/Box&gt;&#10;&#10;        &lt;Text style={{ fontSize: 13, color: '#546779' }}&gt;人工错误方案不来自 Run；它是用来演示判分口径的教材材料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教师解答与人工判分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六项满足，仍不是完全正确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9600" y="186690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19150" y="2019300"/>
            <a:ext cx="1055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人工错误定稿（示意方案条，非实际界面；非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819150" y="2247900"/>
            <a:ext cx="3352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52500" y="2438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阅读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10:00—10:50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阅览室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400550" y="2247900"/>
            <a:ext cx="3352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533900" y="2438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手作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09:00—09:50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操作室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7981950" y="2247900"/>
            <a:ext cx="3352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115300" y="243840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拼图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11:00—11:50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讨论室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3124200"/>
            <a:ext cx="4572000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933575" y="3533775"/>
            <a:ext cx="19335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6 / 7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2219325" y="4600575"/>
            <a:ext cx="1362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≈ 85.7%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　满足率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5486400" y="3124200"/>
            <a:ext cx="60960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657850" y="3333750"/>
            <a:ext cx="575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成立六条　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C1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C2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C3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C5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C6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C7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5486400" y="3829050"/>
            <a:ext cx="60960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5657850" y="4038600"/>
            <a:ext cx="575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冲突一条　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C4 ——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阅读没有早于手作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486400" y="4533900"/>
            <a:ext cx="60960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657850" y="4762500"/>
            <a:ext cx="575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完全正确方案数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＝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5410200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人工错误方案不来自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；它是用来演示判分口径的教材材料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84" name="" descr="&lt;Slide notes={`共享率的分母是四，也就是四个 F 条件。&#10;&#10;假设真实发言只覆盖了 F1、F2、F3，那共享率就是三比四，百分之七十五。&#10;&#10;有一种情况要特别防：角色可能恰好把阅读安排到阅览室，方案看起来对了，但他从来没有说过 F4 这条事实。这时候不能补记共享——猜到不等于共享。所以共享要和方案得分分开算，两者不能互相推算。&#10;&#10;还有一类表述也不能得分：「设备安排没意见」。这句话没有说出具体活动和教室，它没有传递任何可以核对的事实。&#10;&#10;这两条合起来说明一件事：共享看的是有没有真的说出来，而不是结果看起来对不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6　教师解答与人工判分&lt;/Text&gt;&#10;            &lt;Text style={{ fontSize: 34, fontWeight: 'bold', color: '#20344B' }}&gt;共享率 3/4，猜中不补记&lt;/Text&gt;&#10;        &lt;/Box&gt;&#10;    &lt;/Box&gt;&#10;&#10;    &lt;Box style={{ height: 540, flexDirection: 'row', alignItems: 'center', gap: 32 }}&gt;&#10;&#10;        &lt;Box style={{ width: 512, flexDirection: 'column', gap: 14 }}&gt;&#10;&#10;            &lt;Text style={{ fontSize: 20, fontWeight: 'bold', color: '#20344B', lineHeight: 1.4 }}&gt;必要信息共享{'\n'}只看有没有真的说过&lt;/Text&gt;&#10;&#10;            &lt;Box style={{ width: 512, height: 130, background: '#EDF4FC', borderRadius: 10, flexDirection: 'column', alignItems: 'center', justifyContent: 'center', gap: 4 }}&gt;&#10;                &lt;Text style={{ fontSize: 68, fontWeight: 'bold', color: '#276FBF', lineHeight: 1.0 }}&gt;3 / 4&lt;/Text&gt;&#10;                &lt;Text style={{ fontSize: 15, color: '#546779' }}&gt;＝ 75%　F 条件共享率&lt;/Text&gt;&#10;            &lt;/Box&gt;&#10;&#10;            &lt;Text style={{ fontSize: 15, color: '#546779', lineHeight: 1.7, width: 512 }}&gt;若真实发言只覆盖 F1、F2、F3，共享率就是 3/4；方案得分不能拿来推算共享率。&lt;/Text&gt;&#10;&#10;            &lt;Box style={{ width: 512, height: 96, background: '#FFF4E6', borderRadius: 10, padding: '14px 18px', flexDirection: 'row', alignItems: 'center', gap: 12 }}&gt;&#10;                &lt;Box style={{ width: 4, height: 44, background: '#CB6B28' }} /&gt;&#10;                &lt;Text style={{ fontSize: 15, color: '#CB6B28', lineHeight: 1.5, flex: 1 }}&gt;猜中阅览室也不补记 F4 共享；重复说同一条也不重计&lt;/Text&gt;&#10;            &lt;/Box&gt;&#10;&#10;        &lt;/Box&gt;&#10;&#10;        &lt;Box style={{ width: 608, flexDirection: 'column', gap: 12 }}&gt;&#10;&#10;            &lt;Text style={{ fontSize: 20, fontWeight: 'bold', color: '#20344B' }}&gt;四条 F 条件的共享登记&lt;/Text&gt;&#10;&#10;            &lt;Box style={{ width: 608, height: 76, background: '#ECF7F2', borderRadius: 8, padding: '0 18px', flexDirection: 'row', alignItems: 'center', gap: 14 }}&gt;&#10;                &lt;Box style={{ width: 44, height: 44, background: '#26816B', borderRadius: 8, justifyContent: 'center', alignItems: 'center' }}&gt;&#10;                    &lt;Text style={{ fontSize: 18, fontWeight: 'bold', color: '#FFFFFF' }}&gt;F1&lt;/Text&gt;&#10;                &lt;/Box&gt;&#10;                &lt;Text style={{ fontSize: 15, color: '#20344B', flex: 1 }}&gt;阅读早于手作　·　已真实表达&lt;/Text&gt;&#10;            &lt;/Box&gt;&#10;&#10;            &lt;Box style={{ width: 608, height: 76, background: '#ECF7F2', borderRadius: 8, padding: '0 18px', flexDirection: 'row', alignItems: 'center', gap: 14 }}&gt;&#10;                &lt;Box style={{ width: 44, height: 44, background: '#26816B', borderRadius: 8, justifyContent: 'center', alignItems: 'center' }}&gt;&#10;                    &lt;Text style={{ fontSize: 18, fontWeight: 'bold', color: '#FFFFFF' }}&gt;F2&lt;/Text&gt;&#10;                &lt;/Box&gt;&#10;                &lt;Text style={{ fontSize: 15, color: '#20344B', flex: 1 }}&gt;拼图 11 点开始　·　已真实表达&lt;/Text&gt;&#10;            &lt;/Box&gt;&#10;&#10;            &lt;Box style={{ width: 608, height: 76, background: '#ECF7F2', borderRadius: 8, padding: '0 18px', flexDirection: 'row', alignItems: 'center', gap: 14 }}&gt;&#10;                &lt;Box style={{ width: 44, height: 44, background: '#26816B', borderRadius: 8, justifyContent: 'center', alignItems: 'center' }}&gt;&#10;                    &lt;Text style={{ fontSize: 18, fontWeight: 'bold', color: '#FFFFFF' }}&gt;F3&lt;/Text&gt;&#10;                &lt;/Box&gt;&#10;                &lt;Text style={{ fontSize: 15, color: '#20344B', flex: 1 }}&gt;手作在操作室　·　已真实表达&lt;/Text&gt;&#10;            &lt;/Box&gt;&#10;&#10;            &lt;Box style={{ width: 608, height: 76, background: '#FFF4E6', borderRadius: 8, padding: '0 18px', flexDirection: 'row', alignItems: 'center', gap: 14 }}&gt;&#10;                &lt;Box style={{ width: 44, height: 44, background: '#CB6B28', borderRadius: 8, justifyContent: 'center', alignItems: 'center' }}&gt;&#10;                    &lt;Text style={{ fontSize: 18, fontWeight: 'bold', color: '#FFFFFF' }}&gt;F4&lt;/Text&gt;&#10;                &lt;/Box&gt;&#10;                &lt;Text style={{ fontSize: 15, color: '#CB6B28', flex: 1 }}&gt;阅读在阅览室　·　未真实表达&lt;/Text&gt;&#10;            &lt;/Box&gt;&#10;&#10;            &lt;Box style={{ width: 608, height: 84, background: '#F4F7FA', borderRadius: 10, padding: '12px 18px', flexDirection: 'row', alignItems: 'center', gap: 12 }}&gt;&#10;                &lt;Box style={{ width: 4, height: 44, background: '#B5C7D8' }} /&gt;&#10;                &lt;Text style={{ fontSize: 14, color: '#546779', lineHeight: 1.5, flex: 1 }}&gt;「设备安排没意见」没有具体活动与教室，不能得该事实分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71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教师解答与人工判分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71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共享率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3/4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，猜中不补记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48768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必要信息共享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只看有没有真的说过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2600325"/>
            <a:ext cx="48768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305050" y="2724150"/>
            <a:ext cx="149542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76FBF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2324100" y="354330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75%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F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条件共享率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4876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若真实发言只覆盖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F2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F3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，共享率就是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3/4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；方案得分不能拿来推算共享率。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4695825"/>
            <a:ext cx="4876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781050" y="49434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33450" y="502920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猜中阅览室也不补记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F4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共享；重复说同一条也不重计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791200" y="14668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四条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条件的共享登记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5791200" y="1809750"/>
            <a:ext cx="57912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5962650" y="1962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67425" y="20669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F1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515100" y="20859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阅读早于手作　·　已真实表达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791200" y="2647950"/>
            <a:ext cx="57912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5962650" y="2800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67425" y="29051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F2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515100" y="29241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拼图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点开始　·　已真实表达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791200" y="3486150"/>
            <a:ext cx="57912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5962650" y="36385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67425" y="37433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F3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515100" y="37623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手作在操作室　·　已真实表达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791200" y="4324350"/>
            <a:ext cx="57912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962650" y="4476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67425" y="45815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F4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515100" y="46005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阅读在阅览室　·　未真实表达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791200" y="5162550"/>
            <a:ext cx="57912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5962650" y="5353050"/>
            <a:ext cx="38100" cy="4191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115050" y="5438775"/>
            <a:ext cx="5295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「设备安排没意见」没有具体活动与教室，不能得该事实分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19" name="" descr="&lt;Slide notes={`失败可能发生在四个不同的位置，要查的地方也不一样。&#10;&#10;条件根本没有传出去，要去查持有者的发言和接收方的上下文。传出去了但主持人漏掉，要查主持人的记忆和核对时的输入。推导错了，要查子技能的输出、当前候选和七条判据。方案改过却没有重新发，要查最后定稿的版本和接收者是谁。&#10;&#10;练习是这样的：把 F1 删掉，其他条件保留，那么阅读和手作在九点、十点之间有两种排列，就不能唯一确定了。&#10;&#10;再比较两种发言——反复复述同一句话，和指出「阅读比手作晚」——后者才是有依据的反驳。话多不等于贡献多，这是有效贡献那个分母要表达的意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5.7　失败定位与练习&lt;/Text&gt;&#10;            &lt;Text style={{ fontSize: 34, fontWeight: 'bold', color: '#20344B' }}&gt;失败位置决定查哪里&lt;/Text&gt;&#10;        &lt;/Box&gt;&#10;    &lt;/Box&gt;&#10;&#10;    &lt;Box style={{ height: 540, flexDirection: 'column', justifyContent: 'center', gap: 12 }}&gt;&#10;&#10;        &lt;Box style={{ width: 1152, height: 78, background: '#F4F7FA', borderRadius: 10, padding: '12px 20px', flexDirection: 'row', alignItems: 'center', gap: 16 }}&gt;&#10;            &lt;Box style={{ width: 4, height: 40, background: '#276FBF' }} /&gt;&#10;            &lt;Box style={{ width: 232, height: 46, background: '#FFFFFF', borderRadius: 8, justifyContent: 'center', padding: '0 16px' }}&gt;&#10;                &lt;Text style={{ fontSize: 15, fontWeight: 'bold', color: '#276FBF' }}&gt;未传条件&lt;/Text&gt;&#10;            &lt;/Box&gt;&#10;            &lt;Text style={{ fontSize: 14, color: '#20344B', lineHeight: 1.5, flex: 1 }}&gt;查持有者的发言，以及接收方的上下文里到底有没有这条&lt;/Text&gt;&#10;        &lt;/Box&gt;&#10;&#10;        &lt;Box style={{ width: 1152, height: 78, background: '#F4F7FA', borderRadius: 10, padding: '12px 20px', flexDirection: 'row', alignItems: 'center', gap: 16 }}&gt;&#10;            &lt;Box style={{ width: 4, height: 40, background: '#276FBF' }} /&gt;&#10;            &lt;Box style={{ width: 232, height: 46, background: '#FFFFFF', borderRadius: 8, justifyContent: 'center', padding: '0 16px' }}&gt;&#10;                &lt;Text style={{ fontSize: 15, fontWeight: 'bold', color: '#276FBF' }}&gt;收到却漏掉&lt;/Text&gt;&#10;            &lt;/Box&gt;&#10;            &lt;Text style={{ fontSize: 14, color: '#20344B', lineHeight: 1.5, flex: 1 }}&gt;查主持人的记忆，以及核对时传进去的输入&lt;/Text&gt;&#10;        &lt;/Box&gt;&#10;&#10;        &lt;Box style={{ width: 1152, height: 78, background: '#F4F7FA', borderRadius: 10, padding: '12px 20px', flexDirection: 'row', alignItems: 'center', gap: 16 }}&gt;&#10;            &lt;Box style={{ width: 4, height: 40, background: '#276FBF' }} /&gt;&#10;            &lt;Box style={{ width: 232, height: 46, background: '#FFFFFF', borderRadius: 8, justifyContent: 'center', padding: '0 16px' }}&gt;&#10;                &lt;Text style={{ fontSize: 15, fontWeight: 'bold', color: '#276FBF' }}&gt;推导错误&lt;/Text&gt;&#10;            &lt;/Box&gt;&#10;            &lt;Text style={{ fontSize: 14, color: '#20344B', lineHeight: 1.5, flex: 1 }}&gt;查子 Skill 的输出、当前候选与七条判据&lt;/Text&gt;&#10;        &lt;/Box&gt;&#10;&#10;        &lt;Box style={{ width: 1152, height: 78, background: '#F4F7FA', borderRadius: 10, padding: '12px 20px', flexDirection: 'row', alignItems: 'center', gap: 16 }}&gt;&#10;            &lt;Box style={{ width: 4, height: 40, background: '#CB6B28' }} /&gt;&#10;            &lt;Box style={{ width: 232, height: 46, background: '#FFFFFF', borderRadius: 8, justifyContent: 'center', padding: '0 16px' }}&gt;&#10;                &lt;Text style={{ fontSize: 15, fontWeight: 'bold', color: '#CB6B28' }}&gt;修订后未重发&lt;/Text&gt;&#10;            &lt;/Box&gt;&#10;            &lt;Text style={{ fontSize: 14, color: '#20344B', lineHeight: 1.5, flex: 1 }}&gt;查最后定稿的版本，以及三名成员各自收到的是哪一版&lt;/Text&gt;&#10;        &lt;/Box&gt;&#10;&#10;        &lt;Box style={{ width: 1152, height: 104, background: '#F7F3E8', borderRadius: 10, padding: '12px 22px', flexDirection: 'column', gap: 4, justifyContent: 'center' }}&gt;&#10;            &lt;Text style={{ fontSize: 16, fontWeight: 'bold', color: '#20344B' }}&gt;练习：删掉 F1，保留其他条件&lt;/Text&gt;&#10;            &lt;Text style={{ fontSize: 13, color: '#546779', lineHeight: 1.5 }}&gt;阅读／手作在 09 与 10 点有两种排列，不能唯一确定。再比较重复复述与指出「阅读比手作晚」的有依据反驳 —— 话更多不等于贡献更多。&lt;/Text&gt;&#10;        &lt;/Box&gt;&#10;&#10;        &lt;Box style={{ width: 1152, height: 52, background: '#F4F7FA', borderRadius: 10, padding: '10px 22px', flexDirection: 'row', alignItems: 'center', gap: 14 }}&gt;&#10;            &lt;Box style={{ width: 4, height: 32, background: '#B5C7D8' }} /&gt;&#10;            &lt;Text style={{ fontSize: 13, color: '#546779', flex: 1 }}&gt;结果页顺序：Agent → 人物 → 对话／记忆，先找摘要再核对完整证据；此评分是教材外部评价，不称系统已执行业务 Evaluator&lt;/Text&gt;&#10;        &lt;/Box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失败定位与练习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失败位置决定查哪里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09600" y="12001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800100" y="13811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990600" y="13525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143000" y="14859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未传条件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352800" y="1447800"/>
            <a:ext cx="803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查持有者的发言，以及接收方的上下文里到底有没有这条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20574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800100" y="22383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990600" y="22098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43000" y="23431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收到却漏掉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352800" y="2305050"/>
            <a:ext cx="803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查主持人的记忆，以及核对时传进去的输入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29146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800100" y="30956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990600" y="306705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143000" y="320040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推导错误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352800" y="3162300"/>
            <a:ext cx="803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查子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的输出、当前候选与七条判据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37719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800100" y="39528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990600" y="3924300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43000" y="4057650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修订后未重发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352800" y="4019550"/>
            <a:ext cx="8039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查最后定稿的版本，以及三名成员各自收到的是哪一版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46291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练习：删掉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F1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，保留其他条件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19150" y="5124450"/>
            <a:ext cx="10553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阅读／手作在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09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点有两种排列，不能唯一确定。再比较重复复述与指出「阅读比手作晚」的有依据反驳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话更多不等于贡献更多。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5734050"/>
            <a:ext cx="10972800" cy="495300"/>
          </a:xfrm>
          <a:prstGeom prst="roundRect">
            <a:avLst>
              <a:gd name="adj" fmla="val 1923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819150" y="5829300"/>
            <a:ext cx="38100" cy="3048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90600" y="5905500"/>
            <a:ext cx="10382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结果页顺序：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对话／记忆，先找摘要再核对完整证据；此评分是教材外部评价，不称系统已执行业务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52" name="" descr="&lt;Slide notes={`最后留三个问题，用来检查自己有没有真的看清这个案例。&#10;&#10;第一，信息是分散持有，还是全员共享？主持人知道不等于别人知道。这一点决定了最后的方案是怎么来的，是有人真的说出来汇到一处，还是某个人自己猜的。&#10;&#10;第二，定稿以哪一次发言为准？是主持人最后一次明确、完整的定稿发言，而不是他脑子里最接近答案的那个候选。没说出口的，不算定稿。&#10;&#10;第三，分母报的是哪一层？方案得分、必要信息共享、有效贡献、逻辑调用，这是四个不同的量，不能互相替代，也不能用其中一个去推算另一个。&#10;&#10;把这三个问题记住，再看别的协作案例，判断会稳很多。`} style={{ width: 1280, height: 720, background: '#FFFFFF', flexDirection: 'column', padding: '20px 64px' }}&gt;&#10;&#10;    &lt;Box style={{ height: 640, flexDirection: 'column', justifyContent: 'center', gap: 20 }}&gt;&#10;&#10;        &lt;Text style={{ fontSize: 15, color: '#276FBF' }}&gt;4.5 小组协作学习　·　收束&lt;/Text&gt;&#10;&#10;        &lt;Text style={{ fontSize: 48, fontWeight: 'bold', color: '#20344B', lineHeight: 1.2 }}&gt;记住三个反问&lt;/Text&gt;&#10;&#10;        &lt;Box style={{ width: 72, height: 4, background: '#276FBF' }} /&gt;&#10;&#10;        &lt;Box style={{ flexDirection: 'row', gap: 24, marginTop: 6 }}&gt;&#10;&#10;            &lt;Box style={{ width: 368, height: 200, background: '#EDF4FC', borderRadius: 10, padding: '18px 22px', flexDirection: 'column', gap: 10 }}&gt;&#10;                &lt;Box style={{ width: 44, height: 44, background: '#276FBF', borderRadius: 8, justifyContent: 'center', alignItems: 'center' }}&gt;&#10;                    &lt;Text style={{ fontSize: 20, fontWeight: 'bold', color: '#FFFFFF' }}&gt;一&lt;/Text&gt;&#10;                &lt;/Box&gt;&#10;                &lt;Text style={{ fontSize: 17, fontWeight: 'bold', color: '#276FBF', lineHeight: 1.5, flex: 1 }}&gt;信息是分散持有，{'\n'}还是全员共享？&lt;/Text&gt;&#10;                &lt;Text style={{ fontSize: 13, color: '#546779', lineHeight: 1.5 }}&gt;主持人知道 ≠ 全员知道&lt;/Text&gt;&#10;            &lt;/Box&gt;&#10;&#10;            &lt;Box style={{ width: 368, height: 200, background: '#ECF7F2', borderRadius: 10, padding: '18px 22px', flexDirection: 'column', gap: 10 }}&gt;&#10;                &lt;Box style={{ width: 44, height: 44, background: '#26816B', borderRadius: 8, justifyContent: 'center', alignItems: 'center' }}&gt;&#10;                    &lt;Text style={{ fontSize: 20, fontWeight: 'bold', color: '#FFFFFF' }}&gt;二&lt;/Text&gt;&#10;                &lt;/Box&gt;&#10;                &lt;Text style={{ fontSize: 17, fontWeight: 'bold', color: '#26816B', lineHeight: 1.5, flex: 1 }}&gt;定稿以哪一次发言{'\n'}为准？&lt;/Text&gt;&#10;                &lt;Text style={{ fontSize: 13, color: '#546779', lineHeight: 1.5 }}&gt;最佳候选不能顶替定稿&lt;/Text&gt;&#10;            &lt;/Box&gt;&#10;&#10;            &lt;Box style={{ width: 368, height: 200, background: '#FFF4E6', borderRadius: 10, padding: '18px 22px', flexDirection: 'column', gap: 10 }}&gt;&#10;                &lt;Box style={{ width: 44, height: 44, background: '#CB6B28', borderRadius: 8, justifyContent: 'center', alignItems: 'center' }}&gt;&#10;                    &lt;Text style={{ fontSize: 20, fontWeight: 'bold', color: '#FFFFFF' }}&gt;三&lt;/Text&gt;&#10;                &lt;/Box&gt;&#10;                &lt;Text style={{ fontSize: 17, fontWeight: 'bold', color: '#CB6B28', lineHeight: 1.5, flex: 1 }}&gt;分母报的是{'\n'}哪一层？&lt;/Text&gt;&#10;                &lt;Text style={{ fontSize: 13, color: '#546779', lineHeight: 1.5 }}&gt;方案、共享、贡献、调用不可互换&lt;/Text&gt;&#10;            &lt;/Box&gt;&#10;&#10;        &lt;/Box&gt;&#10;&#10;        &lt;Text style={{ fontSize: 15, color: '#546779', marginTop: 6 }}&gt;4.5 小组协作学习：把分散条件变成有依据的结论　·　第四章　面向问题的场景化应用&lt;/Text&gt;&#10;&#10;    &lt;/Box&gt;&#10;&#10;    &lt;Box style={{ height: 40, flexDirection: 'row', justifyContent: 'space-between', alignItems: 'center' }}&gt;&#10;        &lt;Text style={{ fontSize: 14, color: '#546779' }}&gt;4.5 小组协作学习：把分散条件变成有依据的结论&lt;/Text&gt;&#10;        &lt;Text style={{ fontSize: 14, color: '#546779' }}&gt;2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小组协作学习　·　收束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109728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9600" y="25431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609600" y="2828925"/>
            <a:ext cx="35052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819150" y="3000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33450" y="3095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19150" y="3514725"/>
            <a:ext cx="30861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信息是分散持有，</a:t>
            </a:r>
            <a:endParaRPr/>
          </a:p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还是全员共享？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19150" y="433387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主持人知道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全员知道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4343400" y="2828925"/>
            <a:ext cx="35052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4552950" y="3000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667250" y="3095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4552950" y="3514725"/>
            <a:ext cx="30861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定稿以哪一次发言</a:t>
            </a:r>
            <a:endParaRPr/>
          </a:p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为准？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552950" y="433387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最佳候选不能顶替定稿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8077200" y="2828925"/>
            <a:ext cx="35052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8286750" y="3000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401050" y="3095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286750" y="3514725"/>
            <a:ext cx="30861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分母报的是</a:t>
            </a:r>
            <a:endParaRPr/>
          </a:p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哪一层？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286750" y="4333875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方案、共享、贡献、调用不可互换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49815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　·　第四章　面向问题的场景化应用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小组协作学习：把分散条件变成有依据的结论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2026-09-29T09:53:37Z</dcterms:created>
  <dcterms:modified xsi:type="dcterms:W3CDTF">2026-09-29T09:53:37Z</dcterms:modified>
</cp:coreProperties>
</file>