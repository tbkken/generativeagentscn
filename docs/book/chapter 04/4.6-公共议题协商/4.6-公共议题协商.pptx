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这场协商的题目是：定稿之前，逐个人确认他的理由有没有被准确表达，能不能减少重要理由和反对意见的丢失。</a:t>
            </a:r>
          </a:p>
          <a:p>
            <a:r>
              <a:rPr lang="zh-CN" dirty="0"/>
              <a:t>先说清三件事。第一，场地、人物和材料都是虚构教案，目前还没有任何 Run，不能拿来代表现实人群的支持率、政治倾向或政策效果。</a:t>
            </a:r>
          </a:p>
          <a:p>
            <a:r>
              <a:rPr lang="zh-CN" dirty="0"/>
              <a:t>第二，四个人共享的只有场地规则和四个候选；每个人自己的理由只发给本人，别人初始不知道。</a:t>
            </a:r>
          </a:p>
          <a:p>
            <a:r>
              <a:rPr lang="zh-CN" dirty="0"/>
              <a:t>第三，这一题不以「大家同意」判成功。最后可能根本没有形成一致意见，那也不算实验失败——只要分歧被准确记下来，记录质量依然可以很高。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这一小节我顺着四个问题往下走。</a:t>
            </a:r>
          </a:p>
          <a:p>
            <a:r>
              <a:rPr lang="zh-CN" dirty="0"/>
              <a:t>第一，共同的世界里有什么。场地说明牌上的时间、人数、模式和四个候选都是共同的，四个人都能看到；但符合场地规则不等于满足个人需求。</a:t>
            </a:r>
          </a:p>
          <a:p>
            <a:r>
              <a:rPr lang="zh-CN" dirty="0"/>
              <a:t>第二，谁手里有什么。五条理由 R1 到 R5 只发给本人，主持人和其他代表初始都不知道；教师的那份逐列分析属于判分材料，不能变成共享答案。</a:t>
            </a:r>
          </a:p>
          <a:p>
            <a:r>
              <a:rPr lang="zh-CN" dirty="0"/>
              <a:t>第三，话该怎么说。说明理由、按已知事实判断、逐人询问，收到候选之后才谈态度；理由复述确认和候选态度征询是两件事。</a:t>
            </a:r>
          </a:p>
          <a:p>
            <a:r>
              <a:rPr lang="zh-CN" dirty="0"/>
              <a:t>第四，怎么算数。主要指标是理由准确纳入率，回应、理由和分歧分别计分，还要处理失败解释和练习。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协商开始之前，这个世界里是空的，只有规则和选项。</a:t>
            </a:r>
          </a:p>
          <a:p>
            <a:r>
              <a:rPr lang="zh-CN" dirty="0"/>
              <a:t>场地说明牌写得很清楚：亚洲上海时区的十八点到二十一点可以用，最多十二个人；最后十分钟要收整，所以活动最晚二十点五十结束。可以用的模式只有两种，正常交谈和静默共读，没有隔音分区，也不能远程参加，更没有自动延时。</a:t>
            </a:r>
          </a:p>
          <a:p>
            <a:r>
              <a:rPr lang="zh-CN" dirty="0"/>
              <a:t>在这些规则的范围内，一共准备四个候选。A 是十八点到十九点交谈，B 是十九点到二十点交谈，C 是十九点五十到二十点五十交谈，D 是十九点到二十点静默共读。四个都满足场地规则。</a:t>
            </a:r>
          </a:p>
          <a:p>
            <a:r>
              <a:rPr lang="zh-CN" dirty="0"/>
              <a:t>要记住一件事：满足场地规则，不等于满足每个人的需求。这两件事混在一起，后面就全乱了。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我先说共同事实这一半。</a:t>
            </a:r>
          </a:p>
          <a:p>
            <a:r>
              <a:rPr lang="zh-CN" dirty="0"/>
              <a:t>场地说明牌是四个人都能读到的对象。它写明的时间是亚洲上海时区的十八点到二十一点，人数上限十二人，本次计划九人。最后十分钟是收整时间，所以活动最晚二十点五十结束。可用的模式只有正常交谈和静默共读两种；没有隔音分区，不能远程参加，也不会自动延时。</a:t>
            </a:r>
          </a:p>
          <a:p>
            <a:r>
              <a:rPr lang="zh-CN" dirty="0"/>
              <a:t>再看活动本身。活动日是二零二六年十一月二十一号，在共享活动室体验一次，时长六十分钟。人物上只模拟三位代表和主持人杜宁，九人只是计划人数。</a:t>
            </a:r>
          </a:p>
          <a:p>
            <a:r>
              <a:rPr lang="zh-CN" dirty="0"/>
              <a:t>范围要收窄：不涉及永久政策、收费、资格或者审批。</a:t>
            </a:r>
          </a:p>
          <a:p>
            <a:r>
              <a:rPr lang="zh-CN" dirty="0"/>
              <a:t>最容易出错的地方在这里——符合场地规则，不等于满足个人需求。规则只筛掉不成立的时段，它不会替任何人同意。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我把四个候选逐条读一遍。</a:t>
            </a:r>
          </a:p>
          <a:p>
            <a:r>
              <a:rPr lang="zh-CN" dirty="0"/>
              <a:t>A 是十八点到十九点，正常交谈，满足场地规则。B 是十九点到二十点，正常交谈，也满足。C 是十九点五十到二十点五十，它正好在二十点五十结束，仍然满足场地规则，只是后面要留出收整时间。D 是十九点到二十点，模式换成静默共读，同样满足。</a:t>
            </a:r>
          </a:p>
          <a:p>
            <a:r>
              <a:rPr lang="zh-CN" dirty="0"/>
              <a:t>四条候选在共同规则这一层全部通过。判断标准必须说清楚：三个人对同一个候选都明确同意，才记一致意见。</a:t>
            </a:r>
          </a:p>
          <a:p>
            <a:r>
              <a:rPr lang="zh-CN" dirty="0"/>
              <a:t>保留、反对、未回应都要如实记录下来，主持人也不能事后临时把它改成多数通过——那样做等于替别人表态。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到这里，信息要分成两半。</a:t>
            </a:r>
          </a:p>
          <a:p>
            <a:r>
              <a:rPr lang="zh-CN" dirty="0"/>
              <a:t>一半是共同的：场地规则、候选编号和时间，主持人杜宁和三位代表都可以讨论，也可以互相追问。</a:t>
            </a:r>
          </a:p>
          <a:p>
            <a:r>
              <a:rPr lang="zh-CN" dirty="0"/>
              <a:t>另一半是私有的：每个人为什么提出这个要求，以及哪些条件不可调整。这部分只发给本人，其他人初始完全不知道。主持人自己也不知道，他必须真的去问。</a:t>
            </a:r>
          </a:p>
          <a:p>
            <a:r>
              <a:rPr lang="zh-CN" dirty="0"/>
              <a:t>还有一条边界很重要：共同 Brain 里只装表达方法和核对方法，不装任何人的私人理由。</a:t>
            </a:r>
          </a:p>
          <a:p>
            <a:r>
              <a:rPr lang="zh-CN" dirty="0"/>
              <a:t>人物不能为了让故事圆满就把硬条件取消，比如让宋遥忽然不需要提前离开。那样记录会更好看，但实验也就没有意义了。</a:t>
            </a:r>
          </a:p>
          <a:p>
            <a:r>
              <a:rPr lang="zh-CN" dirty="0"/>
              <a:t>教师的那份逐列分析是判分材料，它不能变成所有人共享的答案。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五条理由，我按人念一遍，请留意它们的强度不一样。</a:t>
            </a:r>
          </a:p>
          <a:p>
            <a:r>
              <a:rPr lang="zh-CN" dirty="0"/>
              <a:t>何澄的 R1 是二十点以后需要安静，这一条不可妥协；但他不反对二十点以前交谈，也不反对静默活动。</a:t>
            </a:r>
          </a:p>
          <a:p>
            <a:r>
              <a:rPr lang="zh-CN" dirty="0"/>
              <a:t>秦川有两条：R2 是十九点以前无法到场，这是固定条件；R3 是希望口头交流，静默可以保留，但不能说他的交流需求已经被满足。</a:t>
            </a:r>
          </a:p>
          <a:p>
            <a:r>
              <a:rPr lang="zh-CN" dirty="0"/>
              <a:t>宋遥也有两条：R4 是十九点半必须离开去赴另一个承诺；R5 是他要完整参与六十分钟才接受，不能把半程当成完整参加。</a:t>
            </a:r>
          </a:p>
          <a:p>
            <a:r>
              <a:rPr lang="zh-CN" dirty="0"/>
              <a:t>这些理由初始只发给本人，主持人杜宁和其他代表都不知道。共同 Brain 里只有表达和核对的方法。</a:t>
            </a:r>
          </a:p>
          <a:p>
            <a:r>
              <a:rPr lang="zh-CN" dirty="0"/>
              <a:t>还有一条底线：人物不能为了让故事圆满就取消硬条件——那等于替真实的人改需求。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现在换成教师的眼睛，把四个候选逐列读下来，看谁被挡住。</a:t>
            </a:r>
          </a:p>
          <a:p>
            <a:r>
              <a:rPr lang="zh-CN" dirty="0"/>
              <a:t>A 在十八点到十九点：何澄可以，宋遥也可以；但秦川十九点以前无法到场，A 被卡住。</a:t>
            </a:r>
          </a:p>
          <a:p>
            <a:r>
              <a:rPr lang="zh-CN" dirty="0"/>
              <a:t>B 在十九点到二十点：何澄和秦川符合，可是宋遥十九点半必须离开，不能完整参与。</a:t>
            </a:r>
          </a:p>
          <a:p>
            <a:r>
              <a:rPr lang="zh-CN" dirty="0"/>
              <a:t>C 在十九点五十到二十点五十：秦川符合；何澄二十点以后需要安静；宋遥仍然不能完整参与。</a:t>
            </a:r>
          </a:p>
          <a:p>
            <a:r>
              <a:rPr lang="zh-CN" dirty="0"/>
              <a:t>D 在十九点到二十点、静默共读：何澄符合；秦川的交流需求没有被满足；宋遥还是不能完整参与。</a:t>
            </a:r>
          </a:p>
          <a:p>
            <a:r>
              <a:rPr lang="zh-CN" dirty="0"/>
              <a:t>结论是没有一个候选满足全员的硬条件。这份分析只用来判分，它不是隐藏的正确候选，真正要检查的是我有没有强行造一个一致同意出来。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空间和窗口是固定的，不构成干预。</a:t>
            </a:r>
          </a:p>
          <a:p>
            <a:r>
              <a:rPr lang="zh-CN" dirty="0"/>
              <a:t>空间一共四层：最外面是青禾社区，往里面是活动中心，再里面分成协商区和资料区，最里面是那块场地说明牌。四位参与者预先知道协商区和资料区这两个地址，他们可以走到那里去谈。</a:t>
            </a:r>
          </a:p>
          <a:p>
            <a:r>
              <a:rPr lang="zh-CN" dirty="0"/>
              <a:t>对象这边只有一个职责：回答共同事实。你问场地规则，它答场地规则；它不会替任何人说出私人理由。</a:t>
            </a:r>
          </a:p>
          <a:p>
            <a:r>
              <a:rPr lang="zh-CN" dirty="0"/>
              <a:t>讨论的 Run 候选窗口是二零二六年十一月二十号十四点到十五点十五分，一分钟一步，一共七十六步。</a:t>
            </a:r>
          </a:p>
          <a:p>
            <a:r>
              <a:rPr lang="zh-CN" dirty="0"/>
              <a:t>要注意：这个窗口讨论的是候选本身，不是等第二天活动真的举办完再回来看结果。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两组用的是同一套行为规范，规范的重点是：态度必须针对某个具体候选。</a:t>
            </a:r>
          </a:p>
          <a:p>
            <a:r>
              <a:rPr lang="zh-CN" dirty="0"/>
              <a:t>代表被问到的时候，只说自己的理由和不可调整的条件，不替别人宣布态度。拿到候选之后，按自己实际知道的时间和模式来判断；不清楚就先问，沉默不表示同意。</a:t>
            </a:r>
          </a:p>
          <a:p>
            <a:r>
              <a:rPr lang="zh-CN" dirty="0"/>
              <a:t>主持人负责核实场地事实、逐人询问理由，并且把来源和未确认的内容一起记下来。提出候选的时候，要说清编号、时间、模式和还没被满足的要求。</a:t>
            </a:r>
          </a:p>
          <a:p>
            <a:r>
              <a:rPr lang="zh-CN" dirty="0"/>
              <a:t>态度征询要逐人发给三个人，问的只能是同意、保留还是反对。改过候选之后必须重新问，不能拿着对旧候选的同意继续用。</a:t>
            </a:r>
          </a:p>
          <a:p>
            <a:r>
              <a:rPr lang="zh-CN" dirty="0"/>
              <a:t>最后记录里要同时有候选、已表达的理由、各方回应、未决事项，以及有没有一致意见。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我挑出四条最容易被跳过的边界。</a:t>
            </a:r>
          </a:p>
          <a:p>
            <a:r>
              <a:rPr lang="zh-CN" dirty="0"/>
              <a:t>第一，代表被询问的时候，只说明自己的理由和不可调整的条件，不替别人宣布态度。主持人听到一句话，不等于另外三个人也都知道了。</a:t>
            </a:r>
          </a:p>
          <a:p>
            <a:r>
              <a:rPr lang="zh-CN" dirty="0"/>
              <a:t>第二，收到候选之后按自己实际知道的时间和模式判断；不清楚就先问，沉默不表示同意。</a:t>
            </a:r>
          </a:p>
          <a:p>
            <a:r>
              <a:rPr lang="zh-CN" dirty="0"/>
              <a:t>第三，未回应的要如实标记，含糊的表态要等澄清，不能自己补一个意思。</a:t>
            </a:r>
          </a:p>
          <a:p>
            <a:r>
              <a:rPr lang="zh-CN" dirty="0"/>
              <a:t>第四，候选改过之后必须重新问三个人，不能拿对旧候选的同意继续用。</a:t>
            </a:r>
          </a:p>
          <a:p>
            <a:r>
              <a:rPr lang="zh-CN" dirty="0"/>
              <a:t>另外还有一条特别提醒：问「理由还有补充吗」，对方回答「没别的补充」，这不能算对候选的表态。态度按含义判断，不要机械地要求他必须说出某个指定词。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这一条流程图要分清两个确认，它们的对象完全不同。</a:t>
            </a:r>
          </a:p>
          <a:p>
            <a:r>
              <a:rPr lang="zh-CN" dirty="0"/>
              <a:t>两个组都要先真实地问出 R1 到 R5，并且保留来源和限制强度。接下来就分岔了：基线组根据自己的理解，把收到的理由归纳一下，然后直接进入对同一个候选的逐人态度征询。对照组的绿色分支多一步：逐人复述自己对这个代表理由的理解，问一句「我理解得准确吗」，等本人真实确认或者修正，再按回复更新记录。</a:t>
            </a:r>
          </a:p>
          <a:p>
            <a:r>
              <a:rPr lang="zh-CN" dirty="0"/>
              <a:t>两条路汇合之后，问的都是同一件事：你对这个候选是什么态度。</a:t>
            </a:r>
          </a:p>
          <a:p>
            <a:r>
              <a:rPr lang="zh-CN" dirty="0"/>
              <a:t>如果候选改变了，必须回到征询这一步重新逐人问，旧候选的同意不能穿过去继续用。最后记录的是实际回应和分歧，只有三个人对同一候选都明确同意，才记一致意见。</a:t>
            </a:r>
          </a:p>
          <a:p>
            <a:r>
              <a:rPr lang="zh-CN" dirty="0"/>
              <a:t>千万别把「理由没有补充」当成「同意这个候选」。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两组唯一不同的地方，就是收到理由之后有没有一个必做的逐人复述确认。</a:t>
            </a:r>
          </a:p>
          <a:p>
            <a:r>
              <a:rPr lang="zh-CN" dirty="0"/>
              <a:t>基线组拿到 R1 到 R5 之后，自己归纳一下，就直接进入对同一候选的逐人态度征询。对照组多一步：先逐人复述自己对这个代表理由的理解，问一句「我理解得准确吗」，等本人真实确认或者修正，再更新记录，然后进入和基线完全相同的态度征询。</a:t>
            </a:r>
          </a:p>
          <a:p>
            <a:r>
              <a:rPr lang="zh-CN" dirty="0"/>
              <a:t>除此之外，场地核实、询问理由、候选征询、最终记录、模型与人物条件、时间窗口全都一样。</a:t>
            </a:r>
          </a:p>
          <a:p>
            <a:r>
              <a:rPr lang="zh-CN" dirty="0"/>
              <a:t>这就是单因素对照的基本要求。如果同时改了两样东西，最后就说不清到底是哪一项起了作用。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回环这一条最容易被忽略。</a:t>
            </a:r>
          </a:p>
          <a:p>
            <a:r>
              <a:rPr lang="zh-CN" dirty="0"/>
              <a:t>假设三个人已经对候选 B 表过态，其中有人明确同意；讨论过程中候选改成了 D。这时候不能把对 B 的同意搬到 D 上，必须重新逐人征询，因为态度针对的永远是具体候选。</a:t>
            </a:r>
          </a:p>
          <a:p>
            <a:r>
              <a:rPr lang="zh-CN" dirty="0"/>
              <a:t>同样的道理，也不能在脑内替别人回答。比如对何澄说「你反对晚上的活动」，这句话已经歪曲了他的 R1；正确做法是真实询问，然后等他本人纠正。</a:t>
            </a:r>
          </a:p>
          <a:p>
            <a:r>
              <a:rPr lang="zh-CN" dirty="0"/>
              <a:t>对照组的额外轮次和等待都是干预成本，所以它可能晚定稿，甚至到最后都没有定稿，这一点要如实报告。</a:t>
            </a:r>
          </a:p>
          <a:p>
            <a:r>
              <a:rPr lang="zh-CN" dirty="0"/>
              <a:t>还有一点：基线组如果自然出现了复述，也照样保留，不删掉不合预想的行为——我们比较的是规定的方法，不是有没有出现某个动作。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最后一块讲怎么算数。</a:t>
            </a:r>
          </a:p>
          <a:p>
            <a:r>
              <a:rPr lang="zh-CN" dirty="0"/>
              <a:t>主要指标是理由准确纳入率。分子是最终记录里准确纳入的重要理由数，分母是讨论中已经真实公开的重要理由数。</a:t>
            </a:r>
          </a:p>
          <a:p>
            <a:r>
              <a:rPr lang="zh-CN" dirty="0"/>
              <a:t>为什么要这样定？因为这场协商并不以有没有共识判成功。重要的理由就是 R1 到 R5 这五条，事先登记好，每条只计一次。</a:t>
            </a:r>
          </a:p>
          <a:p>
            <a:r>
              <a:rPr lang="zh-CN" dirty="0"/>
              <a:t>围绕主指标，还有几个必须同时报的口径：理由公开得全不全、记录有没有定稿、明确回应覆盖了多少人、保留事项记下来多少、事实性错误有多少。</a:t>
            </a:r>
          </a:p>
          <a:p>
            <a:r>
              <a:rPr lang="zh-CN" dirty="0"/>
              <a:t>只有把这几件事分开报，读者才能分辨「回应很完整」和「理由记得很准」是两回事。</a:t>
            </a:r>
          </a:p>
          <a:p>
            <a:r>
              <a:rPr lang="zh-CN" dirty="0"/>
              <a:t>最后还要处理失败解释和练习，把观察到的现象和应该去查的证据对应起来。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理由准确纳入率这个指标，关键在分母。</a:t>
            </a:r>
          </a:p>
          <a:p>
            <a:r>
              <a:rPr lang="zh-CN" dirty="0"/>
              <a:t>分子是最终记录里准确纳入的重要理由数；分母是讨论中已经真实公开的重要理由数。这里有一道关卡：分母只放真实公开过的理由。教师知道、但角色从来没有说出口的内容，不进分母。</a:t>
            </a:r>
          </a:p>
          <a:p>
            <a:r>
              <a:rPr lang="zh-CN" dirty="0"/>
              <a:t>R1 到 R5 事先登记，每条只计一次。</a:t>
            </a:r>
          </a:p>
          <a:p>
            <a:r>
              <a:rPr lang="zh-CN" dirty="0"/>
              <a:t>什么叫准确纳入？要同时保留四样东西：是谁提出的、关键时间和内容、限制强度，以及原意。</a:t>
            </a:r>
          </a:p>
          <a:p>
            <a:r>
              <a:rPr lang="zh-CN" dirty="0"/>
              <a:t>举个例，宋遥说十九点半必须离开，这是硬条件。如果把它缩写成「希望早点回去」，就不能算准确纳入。部分正确只留解释，不给半分；可以写明不采纳，但不能省略这条要求。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除了主指标，还有几个口径必须同时报，每个的边界都要写清楚。</a:t>
            </a:r>
          </a:p>
          <a:p>
            <a:r>
              <a:rPr lang="zh-CN" dirty="0"/>
              <a:t>第一，重要理由公开率：已经公开的 R 项除以五。只看一条理由也可能得出百分之百的准确率，但它并不全面。</a:t>
            </a:r>
          </a:p>
          <a:p>
            <a:r>
              <a:rPr lang="zh-CN" dirty="0"/>
              <a:t>第二，最终记录状态：没有定稿的要单独列出；理由分母为零的时候记不适用。</a:t>
            </a:r>
          </a:p>
          <a:p>
            <a:r>
              <a:rPr lang="zh-CN" dirty="0"/>
              <a:t>第三，明确回应覆盖率：对最后候选有明确态度的代表人数除以三；没有最后候选就记未进此阶段。</a:t>
            </a:r>
          </a:p>
          <a:p>
            <a:r>
              <a:rPr lang="zh-CN" dirty="0"/>
              <a:t>第四，保留事项记录率：准确保留原意的反对或保留事项，除以征询时实际提出的这类事项；没有提出就记不适用。</a:t>
            </a:r>
          </a:p>
          <a:p>
            <a:r>
              <a:rPr lang="zh-CN" dirty="0"/>
              <a:t>另外还要报事实性错误比例。判断时要小心：说容量三十人是错的，更喜欢交流是偏好，担心太晚影响休息是理由和担忧，不能因为实验里没有数据就把它判成错误事实。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这一段是人工构造的教学材料，不是 Run 的结果，请把它当示范来看。</a:t>
            </a:r>
          </a:p>
          <a:p>
            <a:r>
              <a:rPr lang="zh-CN" dirty="0"/>
              <a:t>R1 到 R5 在这里都已经真实表达过了，最后讨论的候选是 D。</a:t>
            </a:r>
          </a:p>
          <a:p>
            <a:r>
              <a:rPr lang="zh-CN" dirty="0"/>
              <a:t>何澄同意，R1 被准确保留。秦川保留，因为不能口头交流；他的 R2、R3 以及具体保留事项都记准了。宋遥反对，R4 保留了，但 R5 里「完整六十分钟」那一层被遗漏。</a:t>
            </a:r>
          </a:p>
          <a:p>
            <a:r>
              <a:rPr lang="zh-CN" dirty="0"/>
              <a:t>顺着宋遥这一支看下去：反对已经被记录，所以明确回应覆盖是三个人全有，百分之百；可是理由只准确纳入四条，保留事项只记下一半。</a:t>
            </a:r>
          </a:p>
          <a:p>
            <a:r>
              <a:rPr lang="zh-CN" dirty="0"/>
              <a:t>结果是未形成一致意见——三个人并没有对同一个候选都明确同意。回应很完整，和意见一致，完全是两回事。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把三个人和三个指标摆在一起看，差别就出来了。</a:t>
            </a:r>
          </a:p>
          <a:p>
            <a:r>
              <a:rPr lang="zh-CN" dirty="0"/>
              <a:t>理由准确纳入是五条里纳入了四条，百分之八十。明确回应是三个人都有明确态度，百分之百。保留事项记录是一半，因为秦川的保留事项记全了，宋遥的反对原因只写了「反对」，没有写完整理由。</a:t>
            </a:r>
          </a:p>
          <a:p>
            <a:r>
              <a:rPr lang="zh-CN" dirty="0"/>
              <a:t>这里最重要的判断是最后一项：一致意见没有形成。</a:t>
            </a:r>
          </a:p>
          <a:p>
            <a:r>
              <a:rPr lang="zh-CN" dirty="0"/>
              <a:t>为什么要单独说这一句？因为「全员回应」听起来很像「大家都同意」，但两者完全不同。三个人都对候选 D 表了态，不等于三个人都同意 D。</a:t>
            </a:r>
          </a:p>
          <a:p>
            <a:r>
              <a:rPr lang="zh-CN" dirty="0"/>
              <a:t>准确把分歧留下来，本身就可以是一次记录质量很高的实验。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有一种写法看起来很圆满，但它是另一个结论歪曲：写「大家基本同意 D」。</a:t>
            </a:r>
          </a:p>
          <a:p>
            <a:r>
              <a:rPr lang="zh-CN" dirty="0"/>
              <a:t>这句话错在哪里？三个人并没有对 D 都明确同意。何澄同意，秦川因为不能口头交流而保留，宋遥因为不能完整参加而反对。把他们写成「基本同意」，等于把两条真实的分歧抹掉了。</a:t>
            </a:r>
          </a:p>
          <a:p>
            <a:r>
              <a:rPr lang="zh-CN" dirty="0"/>
              <a:t>正确的改法有三条。第一，逐个写清每个人的实际态度，谁同意、谁保留、谁反对。第二，写清保留和反对的具体原因，尽量保留原话。第三，如果最后没有可接受的方案，就照实写没有，不要补一个看起来体面的结论。</a:t>
            </a:r>
          </a:p>
          <a:p>
            <a:r>
              <a:rPr lang="zh-CN" dirty="0"/>
              <a:t>要记住：准确留下全部分歧、没有达成方案，本身也可以是较高的记录质量。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如果对照组还是漏掉了理由，可以从这几个方向去查。</a:t>
            </a:r>
          </a:p>
          <a:p>
            <a:r>
              <a:rPr lang="zh-CN" dirty="0"/>
              <a:t>第一，方法有没有真的执行：有没有等到本人的回复？复述的时候是不是已经把自己的理解带偏了？定稿那一遍是不是又把硬条件删掉了？</a:t>
            </a:r>
          </a:p>
          <a:p>
            <a:r>
              <a:rPr lang="zh-CN" dirty="0"/>
              <a:t>第二，宋遥没有回应怎么办：如实登记在哪个阶段、缺口是什么，绝不能推断他默认接受。</a:t>
            </a:r>
          </a:p>
          <a:p>
            <a:r>
              <a:rPr lang="zh-CN" dirty="0"/>
              <a:t>第三，如果记录里写着收到了对 B 的同意，定稿却成了 D，那说明中间改了候选却没有重新征询，态度被移用了。</a:t>
            </a:r>
          </a:p>
          <a:p>
            <a:r>
              <a:rPr lang="zh-CN" dirty="0"/>
              <a:t>第四，Run 的状态显示 COMPLETED，只说明执行结束。它不代表大家达成了共识，也不代表这个决定在现实中有效。</a:t>
            </a:r>
          </a:p>
          <a:p>
            <a:r>
              <a:rPr lang="zh-CN" dirty="0"/>
              <a:t>查这些问题的方向是方法有没有做到，而不是结果好不好看。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最后这个练习很实际：三种回应必须分开登记，不能合成一类。</a:t>
            </a:r>
          </a:p>
          <a:p>
            <a:r>
              <a:rPr lang="zh-CN" dirty="0"/>
              <a:t>有人可能说「同意 D，但希望将来能交流」，这是同意加上一个额外期望，两件事都要写下来。有人可能说「对 D 仍保留」，这是保留，不是同意。还有人干脆没有回答，那就记未回答，不能算作默认接受。</a:t>
            </a:r>
          </a:p>
          <a:p>
            <a:r>
              <a:rPr lang="zh-CN" dirty="0"/>
              <a:t>也不能把偏好和担忧混成错误事实。比如「更喜欢交流」是偏好，「担心太晚影响休息」是理由和担忧，它们和「说场地能容纳三十人」这种事实性错误不一样。</a:t>
            </a:r>
          </a:p>
          <a:p>
            <a:r>
              <a:rPr lang="zh-CN" dirty="0"/>
              <a:t>再练一个改写：把何澄的「二十点后需要安静」写成「不愿参加」，就同时丢掉了时间范围和真实意愿——他的原话是不反对二十点以前的交谈或静默活动。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把整条证据连接起来看，从理由原文一直到最后记录，一共六步。</a:t>
            </a:r>
          </a:p>
          <a:p>
            <a:r>
              <a:rPr lang="zh-CN" dirty="0"/>
              <a:t>第一步是理由原文，也就是真实说出来的 R1 到 R5，没说过的不算。第二步是场地回复，这部分来自说明牌，它只答共同事实。第三步是候选版本，要写清编号、时间和模式。第四步是复述及修正，由本人确认或者纠正。第五步是明确态度，同意、保留还是反对。第六步才是最终记录，里面要有理由、回应和分歧。</a:t>
            </a:r>
          </a:p>
          <a:p>
            <a:r>
              <a:rPr lang="zh-CN" dirty="0"/>
              <a:t>如果你是从结果页回头找证据的，先顺着「Agent、人物、对话」找到摘要，再逐条核对参与者、顺序和全文。</a:t>
            </a:r>
          </a:p>
          <a:p>
            <a:r>
              <a:rPr lang="zh-CN" dirty="0"/>
              <a:t>私人总结只能帮你定位，它不能替代公开记录，这一点必须在报告里写清楚。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最后把这场协商收在三句话上。</a:t>
            </a:r>
          </a:p>
          <a:p>
            <a:r>
              <a:rPr lang="zh-CN" dirty="0"/>
              <a:t>第一句，回应覆盖率不等于一致意见。三个人都对候选表了态，只能说明态度记录是完整的；它不能说明三个人都同意。写报告时要把这两件事分开。</a:t>
            </a:r>
          </a:p>
          <a:p>
            <a:r>
              <a:rPr lang="zh-CN" dirty="0"/>
              <a:t>第二句，理由确认不等于候选同意。问「理由还有没有补充」，或者问「我理解得准不准」，核对的是理由，不是对候选的态度。两组确认的对象不一样，不能互相替代。</a:t>
            </a:r>
          </a:p>
          <a:p>
            <a:r>
              <a:rPr lang="zh-CN" dirty="0"/>
              <a:t>第三句，记录下分歧不等于实验失败。没有找到可接受的方案，只要每个人的理由和分歧都被准确留下来，这次记录的质量依然可以很高。</a:t>
            </a:r>
          </a:p>
          <a:p>
            <a:r>
              <a:rPr lang="zh-CN" dirty="0"/>
              <a:t>这场协商里真正的风险不是没有共识，而是把不同的声音写成了一个声音。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这场协商的题目是：定稿之前，逐个人确认他的理由有没有被准确表达，能不能减少重要理由和反对意见的丢失。&#10;先说清三件事。第一，场地、人物和材料都是虚构教案，目前还没有任何 Run，不能拿来代表现实人群的支持率、政治倾向或政策效果。&#10;第二，四个人共享的只有场地规则和四个候选；每个人自己的理由只发给本人，别人初始不知道。&#10;第三，这一题不以「大家同意」判成功。最后可能根本没有形成一致意见，那也不算实验失败——只要分歧被准确记下来，记录质量依然可以很高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6　公共议题协商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把理由与分歧{'\n'}准确留下来&lt;/Text&gt;&#10;            &lt;Box style={{ width: 72, height: 4, background: '#276FBF' }} /&gt;&#10;            &lt;Text style={{ fontSize: 17, color: '#546779', lineHeight: 1.7, width: 560 }}&gt;青禾社区活动室的协商场景是虚构教案，尚无 Run。共享的是场地规则与四个候选，要看的不是谁说服了谁，而是每个人的理由有没有被准确留下来。&lt;/Text&gt;&#10;            &lt;Box style={{ flexDirection: 'row', gap: 12, marginTop: 4 }}&gt;&#10;                &lt;Box style={{ width: 128, height: 42, background: '#EDF4FC', borderRadius: 8, justifyContent: 'center', alignItems: 'center' }}&gt;&#10;                    &lt;Text style={{ fontSize: 15, color: '#276FBF' }}&gt;共同事实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理由私有&lt;/Text&gt;&#10;                &lt;/Box&gt;&#10;                &lt;Box style={{ width: 128, height: 42, background: '#F4F7FA', borderRadius: 8, justifyContent: 'center', alignItems: 'center' }}&gt;&#10;                    &lt;Text style={{ fontSize: 15, color: '#546779' }}&gt;只改一处&lt;/Text&gt;&#10;                &lt;/Box&gt;&#10;                &lt;Box style={{ width: 128, height: 42, background: '#FFF4E6', borderRadius: 8, justifyContent: 'center', alignItems: 'center' }}&gt;&#10;                    &lt;Text style={{ fontSize: 15, color: '#CB6B28' }}&gt;分歧记账&lt;/Text&gt;&#10;                &lt;/Box&gt;&#10;            &lt;/Box&gt;&#10;        &lt;/Box&gt;&#10;&#10;        &lt;Box style={{ width: 560, flexDirection: 'column', justifyContent: 'center', gap: 10 }}&gt;&#10;&#10;            &lt;Box style={{ flexDirection: 'row', justifyContent: 'space-between', alignItems: 'center', width: 520 }}&gt;&#10;                &lt;Text style={{ fontSize: 14, color: '#546779' }}&gt;共同窗口 18:00 — 21:00&lt;/Text&gt;&#10;                &lt;Text style={{ fontSize: 13, color: '#546779' }}&gt;示意&lt;/Text&gt;&#10;            &lt;/Box&gt;&#10;&#10;            &lt;Box style={{ width: 520, height: 40, flexDirection: 'row' }}&gt;&#10;                &lt;Box style={{ width: 490, height: 40, background: '#276FBF', justifyContent: 'center', alignItems: 'center' }}&gt;&#10;                    &lt;Text style={{ fontSize: 14, color: '#FFFFFF' }}&gt;可用时段　18:00 — 20:50&lt;/Text&gt;&#10;                &lt;/Box&gt;&#10;                &lt;Box style={{ width: 30, height: 40, background: '#CB6B28' }} /&gt;&#10;            &lt;/Box&gt;&#10;            &lt;Text style={{ fontSize: 13, color: '#CB6B28' }}&gt;橙色 10 分钟＝收整，活动最晚 20:50 结束&lt;/Text&gt;&#10;&#10;            &lt;Box style={{ height: 44, background: '#EDF4FC', borderRadius: 8, flexDirection: 'row', alignItems: 'center', padding: '0 16px', gap: 12 }}&gt;&#10;                &lt;Box style={{ width: 4, height: 26, background: '#276FBF' }} /&gt;&#10;                &lt;Text style={{ fontSize: 15, fontWeight: 'bold', color: '#276FBF', width: 30 }}&gt;A&lt;/Text&gt;&#10;                &lt;Text style={{ fontSize: 15, color: '#20344B', width: 190 }}&gt;18:00 — 19:00&lt;/Text&gt;&#10;                &lt;Text style={{ fontSize: 15, color: '#546779' }}&gt;正常交谈&lt;/Text&gt;&#10;            &lt;/Box&gt;&#10;            &lt;Box style={{ height: 44, background: '#EDF4FC', borderRadius: 8, flexDirection: 'row', alignItems: 'center', padding: '0 16px', gap: 12 }}&gt;&#10;                &lt;Box style={{ width: 4, height: 26, background: '#276FBF' }} /&gt;&#10;                &lt;Text style={{ fontSize: 15, fontWeight: 'bold', color: '#276FBF', width: 30 }}&gt;B&lt;/Text&gt;&#10;                &lt;Text style={{ fontSize: 15, color: '#20344B', width: 190 }}&gt;19:00 — 20:00&lt;/Text&gt;&#10;                &lt;Text style={{ fontSize: 15, color: '#546779' }}&gt;正常交谈&lt;/Text&gt;&#10;            &lt;/Box&gt;&#10;            &lt;Box style={{ height: 44, background: '#EDF4FC', borderRadius: 8, flexDirection: 'row', alignItems: 'center', padding: '0 16px', gap: 12 }}&gt;&#10;                &lt;Box style={{ width: 4, height: 26, background: '#276FBF' }} /&gt;&#10;                &lt;Text style={{ fontSize: 15, fontWeight: 'bold', color: '#276FBF', width: 30 }}&gt;C&lt;/Text&gt;&#10;                &lt;Text style={{ fontSize: 15, color: '#20344B', width: 190 }}&gt;19:50 — 20:50&lt;/Text&gt;&#10;                &lt;Text style={{ fontSize: 15, color: '#546779' }}&gt;正常交谈　余 10 分钟收整&lt;/Text&gt;&#10;            &lt;/Box&gt;&#10;            &lt;Box style={{ height: 44, background: '#EDF4FC', borderRadius: 8, flexDirection: 'row', alignItems: 'center', padding: '0 16px', gap: 12 }}&gt;&#10;                &lt;Box style={{ width: 4, height: 26, background: '#26816B' }} /&gt;&#10;                &lt;Text style={{ fontSize: 15, fontWeight: 'bold', color: '#26816B', width: 30 }}&gt;D&lt;/Text&gt;&#10;                &lt;Text style={{ fontSize: 15, color: '#20344B', width: 190 }}&gt;19:00 — 20:00&lt;/Text&gt;&#10;                &lt;Text style={{ fontSize: 15, color: '#546779' }}&gt;静默共读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6 公共议题协商　·　候选与窗口均为示意：非系统截图、尚无 Run&lt;/Text&gt;&#10;        &lt;Text style={{ fontSize: 14, color: '#546779' }}&gt;0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4.6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公共议题协商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把理由与分歧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准确留下来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6290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800475"/>
            <a:ext cx="53340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青禾社区活动室的协商场景是虚构教案，尚无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。共享的是场地规则与四个候选，要看的不是谁说服了谁，而是每个人的理由有没有被准确留下来。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97205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33450" y="5086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共同事实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43100" y="497205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66950" y="5086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理由私有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276600" y="497205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00450" y="5086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只改一处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610100" y="497205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933950" y="5086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分歧记账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248400" y="224790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共同窗口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18:00 — 21:00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953750" y="22574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248400" y="2505075"/>
            <a:ext cx="466725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791450" y="261937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可用时段　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18:00 — 20:50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10915650" y="2505075"/>
            <a:ext cx="28575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248400" y="2981325"/>
            <a:ext cx="533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橙色</a:t>
            </a: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分钟＝收整，活动最晚</a:t>
            </a: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 xml:space="preserve"> 20:50 </a:t>
            </a: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结束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248400" y="3228975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6400800" y="3314700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553200" y="33528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953250" y="335280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18:00 — 19:00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877300" y="33528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正常交谈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248400" y="3743325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6400800" y="3829050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553200" y="38671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953250" y="38671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19:00 — 20:00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877300" y="38671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正常交谈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248400" y="4257675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6400800" y="4343400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553200" y="43815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953250" y="438150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19:50 — 20:50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877300" y="4381500"/>
            <a:ext cx="1685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正常交谈　余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分钟收整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248400" y="4772025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400800" y="4857750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553200" y="48958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953250" y="48958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19:00 — 20:00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877300" y="48958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静默共读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401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　·　候选与窗口均为示意：非系统截图、尚无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94" name="" descr="&lt;Slide notes={`这一小节我顺着四个问题往下走。&#10;第一，共同的世界里有什么。场地说明牌上的时间、人数、模式和四个候选都是共同的，四个人都能看到；但符合场地规则不等于满足个人需求。&#10;第二，谁手里有什么。五条理由 R1 到 R5 只发给本人，主持人和其他代表初始都不知道；教师的那份逐列分析属于判分材料，不能变成共享答案。&#10;第三，话该怎么说。说明理由、按已知事实判断、逐人询问，收到候选之后才谈态度；理由复述确认和候选态度征询是两件事。&#10;第四，怎么算数。主要指标是理由准确纳入率，回应、理由和分歧分别计分，还要处理失败解释和练习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　本节地图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60, flexDirection: 'column', justifyContent: 'center', gap: 14 }}&gt;&#10;            &lt;Text style={{ fontSize: 15, color: '#276FBF' }}&gt;4.6.1 — 4.6.7&lt;/Text&gt;&#10;            &lt;Text style={{ fontSize: 30, fontWeight: 'bold', color: '#20344B', lineHeight: 1.3 }}&gt;四个问题，{'\n'}一次只改一处&lt;/Text&gt;&#10;            &lt;Box style={{ width: 60, height: 4, background: '#276FBF' }} /&gt;&#10;            &lt;Text style={{ fontSize: 15, color: '#546779', lineHeight: 1.7 }}&gt;共同事实　→　私有理由{'\n'}→　SOP 与干预　→　计量与判分&lt;/Text&gt;&#10;        &lt;/Box&gt;&#10;&#10;        &lt;Box style={{ width: 760, flexDirection: 'column', gap: 16, justifyContent: 'center' }}&gt;&#10;&#10;            &lt;Box style={{ height: 92, background: '#F4F7FA', borderRadius: 10, flexDirection: 'row', alignItems: 'center', gap: 14, padding: '0 18px' }}&gt;&#10;                &lt;Box style={{ width: 4, height: 44, background: '#276FBF' }} /&gt;&#10;                &lt;Text style={{ fontSize: 22, fontWeight: 'bold', color: '#276FBF', width: 34 }}&gt;①&lt;/Text&gt;&#10;                &lt;Box style={{ flex: 1, flexDirection: 'column', gap: 4 }}&gt;&#10;                    &lt;Text style={{ fontSize: 20, fontWeight: 'bold', color: '#20344B' }}&gt;共同事实与四个候选&lt;/Text&gt;&#10;                    &lt;Text style={{ fontSize: 15, color: '#546779', lineHeight: 1.5 }}&gt;场地规则、活动日与候选 A—D 都是共享事实；符合规则不等于满足个人需求，主持人不能临时改成多数通过。&lt;/Text&gt;&#10;                &lt;/Box&gt;&#10;            &lt;/Box&gt;&#10;&#10;            &lt;Box style={{ height: 92, background: '#F4F7FA', borderRadius: 10, flexDirection: 'row', alignItems: 'center', gap: 14, padding: '0 18px' }}&gt;&#10;                &lt;Box style={{ width: 4, height: 44, background: '#276FBF' }} /&gt;&#10;                &lt;Text style={{ fontSize: 22, fontWeight: 'bold', color: '#276FBF', width: 34 }}&gt;②&lt;/Text&gt;&#10;                &lt;Box style={{ flex: 1, flexDirection: 'column', gap: 4 }}&gt;&#10;                    &lt;Text style={{ fontSize: 20, fontWeight: 'bold', color: '#20344B' }}&gt;私有理由与教师分析分开&lt;/Text&gt;&#10;                    &lt;Text style={{ fontSize: 15, color: '#546779', lineHeight: 1.5 }}&gt;R1—R5 只发给本人，教师分析不进共同上下文；逐列核对后没有任何候选满足全员的硬条件。&lt;/Text&gt;&#10;                &lt;/Box&gt;&#10;            &lt;/Box&gt;&#10;&#10;            &lt;Box style={{ height: 92, background: '#F4F7FA', borderRadius: 10, flexDirection: 'row', alignItems: 'center', gap: 14, padding: '0 18px' }}&gt;&#10;                &lt;Box style={{ width: 4, height: 44, background: '#276FBF' }} /&gt;&#10;                &lt;Text style={{ fontSize: 22, fontWeight: 'bold', color: '#276FBF', width: 34 }}&gt;③&lt;/Text&gt;&#10;                &lt;Box style={{ flex: 1, flexDirection: 'column', gap: 4 }}&gt;&#10;                    &lt;Text style={{ fontSize: 20, fontWeight: 'bold', color: '#20344B' }}&gt;共同 SOP 与唯一变化&lt;/Text&gt;&#10;                    &lt;Text style={{ fontSize: 15, color: '#546779', lineHeight: 1.5 }}&gt;态度必须针对具体候选，沉默不表示同意；唯一变化是逐人复述理由并等待本人真实确认或修正。&lt;/Text&gt;&#10;                &lt;/Box&gt;&#10;            &lt;/Box&gt;&#10;&#10;            &lt;Box style={{ height: 92, background: '#F4F7FA', borderRadius: 10, flexDirection: 'row', alignItems: 'center', gap: 14, padding: '0 18px' }}&gt;&#10;                &lt;Box style={{ width: 4, height: 44, background: '#CB6B28' }} /&gt;&#10;                &lt;Text style={{ fontSize: 22, fontWeight: 'bold', color: '#CB6B28', width: 34 }}&gt;④&lt;/Text&gt;&#10;                &lt;Box style={{ flex: 1, flexDirection: 'column', gap: 4 }}&gt;&#10;                    &lt;Text style={{ fontSize: 20, fontWeight: 'bold', color: '#20344B' }}&gt;指标、人工判分与失败解释&lt;/Text&gt;&#10;                    &lt;Text style={{ fontSize: 15, color: '#546779', lineHeight: 1.5 }}&gt;主指标是理由准确纳入率，明确回应、理由与分歧分别计分；支持率不是主要成功指标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4.6.1 — 4.6.7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3429000" cy="895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四个问题，</a:t>
            </a:r>
            <a:endParaRPr/>
          </a:p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一次只改一处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09600" y="4000500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09600" y="4171950"/>
            <a:ext cx="34290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共同事实　→　私有理由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→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SOP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与干预　→　计量与判分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4343400" y="1733550"/>
            <a:ext cx="7239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4514850" y="19621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4686300" y="20478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5143500" y="1781175"/>
            <a:ext cx="6267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共同事实与四个候选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143500" y="2047875"/>
            <a:ext cx="6267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场地规则、活动日与候选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A—D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都是共享事实；符合规则不等于满足个人需求，主持人不能临时改成多数通过。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4343400" y="2762250"/>
            <a:ext cx="7239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4514850" y="29908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4686300" y="30765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143500" y="2943225"/>
            <a:ext cx="6267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私有理由与教师分析分开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5143500" y="3209925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R1—R5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只发给本人，教师分析不进共同上下文；逐列核对后没有任何候选满足全员的硬条件。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4343400" y="3790950"/>
            <a:ext cx="7239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4" name=""/>
          <p:cNvSpPr/>
          <p:nvPr/>
        </p:nvSpPr>
        <p:spPr>
          <a:xfrm rot="0" flipH="0" flipV="0">
            <a:off x="4514850" y="40195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4686300" y="41052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143500" y="3971925"/>
            <a:ext cx="6267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共同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与唯一变化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5143500" y="4238625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态度必须针对具体候选，沉默不表示同意；唯一变化是逐人复述理由并等待本人真实确认或修正。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4343400" y="4819650"/>
            <a:ext cx="7239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4514850" y="50482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4686300" y="51339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CB6B28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5143500" y="5000625"/>
            <a:ext cx="6267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指标、人工判分与失败解释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143500" y="5267325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主指标是理由准确纳入率，明确回应、理由与分歧分别计分；支持率不是主要成功指标。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69" name="" descr="&lt;Slide notes={`协商开始之前，这个世界里是空的，只有规则和选项。&#10;场地说明牌写得很清楚：亚洲上海时区的十八点到二十一点可以用，最多十二个人；最后十分钟要收整，所以活动最晚二十点五十结束。可以用的模式只有两种，正常交谈和静默共读，没有隔音分区，也不能远程参加，更没有自动延时。&#10;在这些规则的范围内，一共准备四个候选。A 是十八点到十九点交谈，B 是十九点到二十点交谈，C 是十九点五十到二十点五十交谈，D 是十九点到二十点静默共读。四个都满足场地规则。&#10;要记住一件事：满足场地规则，不等于满足每个人的需求。这两件事混在一起，后面就全乱了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4.6.1&lt;/Text&gt;&#10;&#10;        &lt;Text style={{ fontSize: 56, fontWeight: 'bold', color: '#20344B', lineHeight: 1.15 }}&gt;共同事实与四个候选&lt;/Text&gt;&#10;&#10;        &lt;Box style={{ width: 72, height: 4, background: '#276FBF' }} /&gt;&#10;&#10;        &lt;Text style={{ fontSize: 18, color: '#546779', lineHeight: 1.7, width: 1000 }}&gt;四个人共享的是场地规则与候选选项，不是彼此的私人理由。四个候选全部满足场地规则，这只是共同事实。&lt;/Text&gt;&#10;&#10;        &lt;Box style={{ flexDirection: 'row', alignItems: 'center', marginTop: 10 }}&gt;&#10;            &lt;Box style={{ width: 300, height: 72, background: '#F7F3E8', borderRadius: 8, flexDirection: 'column', justifyContent: 'center', alignItems: 'center', gap: 4 }}&gt;&#10;                &lt;Text style={{ fontSize: 16, fontWeight: 'bold', color: '#20344B' }}&gt;场地说明牌&lt;/Text&gt;&#10;                &lt;Text style={{ fontSize: 14, color: '#546779' }}&gt;18:00—21:00　最多 12 人&lt;/Text&gt;&#10;            &lt;/Box&gt;&#10;            &lt;Box style={{ width: 44, height: 72, justifyContent: 'center', alignItems: 'center' }}&gt;&#10;                &lt;Text style={{ fontSize: 26, color: '#276FBF' }}&gt;›&lt;/Text&gt;&#10;            &lt;/Box&gt;&#10;            &lt;Box style={{ width: 168, height: 72, background: '#EDF4FC', borderRadius: 8, flexDirection: 'column', justifyContent: 'center', alignItems: 'center', gap: 4 }}&gt;&#10;                &lt;Text style={{ fontSize: 18, fontWeight: 'bold', color: '#276FBF' }}&gt;A&lt;/Text&gt;&#10;                &lt;Text style={{ fontSize: 13, color: '#546779' }}&gt;18:00 — 19:00&lt;/Text&gt;&#10;            &lt;/Box&gt;&#10;            &lt;Box style={{ width: 168, height: 72, background: '#EDF4FC', borderRadius: 8, flexDirection: 'column', justifyContent: 'center', alignItems: 'center', gap: 4 }}&gt;&#10;                &lt;Text style={{ fontSize: 18, fontWeight: 'bold', color: '#276FBF' }}&gt;B&lt;/Text&gt;&#10;                &lt;Text style={{ fontSize: 13, color: '#546779' }}&gt;19:00 — 20:00&lt;/Text&gt;&#10;            &lt;/Box&gt;&#10;            &lt;Box style={{ width: 168, height: 72, background: '#EDF4FC', borderRadius: 8, flexDirection: 'column', justifyContent: 'center', alignItems: 'center', gap: 4 }}&gt;&#10;                &lt;Text style={{ fontSize: 18, fontWeight: 'bold', color: '#276FBF' }}&gt;C&lt;/Text&gt;&#10;                &lt;Text style={{ fontSize: 13, color: '#546779' }}&gt;19:50 — 20:50&lt;/Text&gt;&#10;            &lt;/Box&gt;&#10;            &lt;Box style={{ width: 168, height: 72, background: '#EDF4FC', borderRadius: 8, flexDirection: 'column', justifyContent: 'center', alignItems: 'center', gap: 4 }}&gt;&#10;                &lt;Text style={{ fontSize: 18, fontWeight: 'bold', color: '#26816B' }}&gt;D&lt;/Text&gt;&#10;                &lt;Text style={{ fontSize: 13, color: '#546779' }}&gt;19:00 — 20:00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4.6.1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共同事实与四个候选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609600" y="31146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四个人共享的是场地规则与候选选项，不是彼此的私人理由。四个候选全部满足场地规则，这只是共同事实。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609600" y="4019550"/>
            <a:ext cx="2857500" cy="685800"/>
          </a:xfrm>
          <a:prstGeom prst="roundRect">
            <a:avLst>
              <a:gd name="adj" fmla="val 111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657350" y="41719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场地说明牌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238250" y="44005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18:00—21:00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最多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886200" y="4019550"/>
            <a:ext cx="16002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4619625" y="4162425"/>
            <a:ext cx="133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4267200" y="4410075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18:00 — 19:00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5486400" y="4019550"/>
            <a:ext cx="16002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6229350" y="4162425"/>
            <a:ext cx="123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5867400" y="4410075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19:00 — 20:00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7086600" y="4019550"/>
            <a:ext cx="16002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829550" y="4162425"/>
            <a:ext cx="123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7467600" y="4410075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19:50 — 20:50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8686800" y="4019550"/>
            <a:ext cx="16002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9420225" y="4162425"/>
            <a:ext cx="142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9067800" y="4410075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19:00 — 20:00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93" name="" descr="&lt;Slide notes={`我先说共同事实这一半。&#13;&#10;场地说明牌是四个人都能读到的对象。它写明的时间是亚洲上海时区的十八点到二十一点，人数上限十二人，本次计划九人。最后十分钟是收整时间，所以活动最晚二十点五十结束。可用的模式只有正常交谈和静默共读两种；没有隔音分区，不能远程参加，也不会自动延时。&#13;&#10;再看活动本身。活动日是二零二六年十一月二十一号，在共享活动室体验一次，时长六十分钟。人物上只模拟三位代表和主持人杜宁，九人只是计划人数。&#13;&#10;范围要收窄：不涉及永久政策、收费、资格或者审批。&#13;&#10;最容易出错的地方在这里——符合场地规则，不等于满足个人需求。规则只筛掉不成立的时段，它不会替任何人同意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4.6.1　共同事实与四个候选&lt;/Text&gt;&#13;&#10;            &lt;Text style={{ fontSize: 34, fontWeight: 'bold', color: '#20344B' }}&gt;共同事实：一次 60 分钟的活动&lt;/Text&gt;&#13;&#10;        &lt;/Box&gt;&#13;&#10;    &lt;/Box&gt;&#13;&#10;&#13;&#10;    &lt;Box style={{ height: 540, flexDirection: 'column', gap: 16 }}&gt;&#13;&#10;&#13;&#10;        &lt;Box style={{ height: 448, flexDirection: 'row', gap: 32 }}&gt;&#13;&#10;&#13;&#10;            &lt;Box style={{ width: 470, flexDirection: 'column', gap: 10 }}&gt;&#13;&#10;                &lt;Text style={{ fontSize: 22, fontWeight: 'bold', color: '#276FBF' }}&gt;场地说明牌　·　共同规则&lt;/Text&gt;&#13;&#10;                &lt;Box style={{ height: 74, background: '#F4F7FA', borderRadius: 8, flexDirection: 'row', alignItems: 'center', gap: 14, padding: '0 16px' }}&gt;&#13;&#10;                    &lt;Box style={{ width: 4, height: 40, background: '#276FBF' }} /&gt;&#13;&#10;                    &lt;Text style={{ fontSize: 15, color: '#20344B', lineHeight: 1.5 }}&gt;时间：Asia/Shanghai 的 18:00—21:00 可用&lt;/Text&gt;&#13;&#10;                &lt;/Box&gt;&#13;&#10;                &lt;Box style={{ height: 74, background: '#F4F7FA', borderRadius: 8, flexDirection: 'row', alignItems: 'center', gap: 14, padding: '0 16px' }}&gt;&#13;&#10;                    &lt;Box style={{ width: 4, height: 40, background: '#276FBF' }} /&gt;&#13;&#10;                    &lt;Text style={{ fontSize: 15, color: '#20344B', lineHeight: 1.5 }}&gt;人数：最多 12 人，本次计划 9 人&lt;/Text&gt;&#13;&#10;                &lt;/Box&gt;&#13;&#10;                &lt;Box style={{ height: 74, background: '#F4F7FA', borderRadius: 8, flexDirection: 'row', alignItems: 'center', gap: 14, padding: '0 16px' }}&gt;&#13;&#10;                    &lt;Box style={{ width: 4, height: 40, background: '#276FBF' }} /&gt;&#13;&#10;                    &lt;Text style={{ fontSize: 15, color: '#20344B', lineHeight: 1.5 }}&gt;收整：最后 10 分钟收整，活动最晚 20:50 结束&lt;/Text&gt;&#13;&#10;                &lt;/Box&gt;&#13;&#10;                &lt;Box style={{ height: 74, background: '#F4F7FA', borderRadius: 8, flexDirection: 'row', alignItems: 'center', gap: 14, padding: '0 16px' }}&gt;&#13;&#10;                    &lt;Box style={{ width: 4, height: 40, background: '#276FBF' }} /&gt;&#13;&#10;                    &lt;Text style={{ fontSize: 15, color: '#20344B', lineHeight: 1.5 }}&gt;模式：只有正常交谈、静默共读两种&lt;/Text&gt;&#13;&#10;                &lt;/Box&gt;&#13;&#10;                &lt;Box style={{ height: 74, background: '#F4F7FA', borderRadius: 8, flexDirection: 'row', alignItems: 'center', gap: 14, padding: '0 16px' }}&gt;&#13;&#10;                    &lt;Box style={{ width: 4, height: 40, background: '#B5C7D8' }} /&gt;&#13;&#10;                    &lt;Text style={{ fontSize: 15, color: '#546779', lineHeight: 1.5 }}&gt;没有：隔音分区、远程参加、自动延时、噪声物理模型&lt;/Text&gt;&#13;&#10;                &lt;/Box&gt;&#13;&#10;            &lt;/Box&gt;&#13;&#10;&#13;&#10;            &lt;Box style={{ width: 650, flexDirection: 'column', gap: 10 }}&gt;&#13;&#10;                &lt;Text style={{ fontSize: 22, fontWeight: 'bold', color: '#20344B' }}&gt;活动日与参与者&lt;/Text&gt;&#13;&#10;                &lt;Box style={{ height: 92, background: '#EDF4FC', borderRadius: 8, flexDirection: 'row', alignItems: 'center', gap: 14, padding: '0 16px' }}&gt;&#13;&#10;                    &lt;Box style={{ width: 4, height: 52, background: '#276FBF' }} /&gt;&#13;&#10;                    &lt;Box style={{ flexDirection: 'column', gap: 4 }}&gt;&#13;&#10;                        &lt;Text style={{ fontSize: 16, fontWeight: 'bold', color: '#20344B' }}&gt;活动日 2026-11-21&lt;/Text&gt;&#13;&#10;                        &lt;Text style={{ fontSize: 15, color: '#546779', lineHeight: 1.5 }}&gt;共享活动室体验一次，时长 60 分钟&lt;/Text&gt;&#13;&#10;                    &lt;/Box&gt;&#13;&#10;                &lt;/Box&gt;&#13;&#10;                &lt;Box style={{ height: 92, background: '#EDF4FC', borderRadius: 8, flexDirection: 'row', alignItems: 'center', gap: 14, padding: '0 16px' }}&gt;&#13;&#10;                    &lt;Box style={{ width: 4, height: 52, background: '#276FBF' }} /&gt;&#13;&#10;                    &lt;Box style={{ flexDirection: 'column', gap: 4 }}&gt;&#13;&#10;                        &lt;Text style={{ fontSize: 16, fontWeight: 'bold', color: '#20344B' }}&gt;三位代表＋主持人杜宁&lt;/Text&gt;&#13;&#10;                        &lt;Text style={{ fontSize: 15, color: '#546779', lineHeight: 1.5 }}&gt;何澄、秦川、宋遥；九人是计划人数，不是全部建模对象&lt;/Text&gt;&#13;&#10;                    &lt;/Box&gt;&#13;&#10;                &lt;/Box&gt;&#13;&#10;                &lt;Box style={{ height: 92, background: '#EDF4FC', borderRadius: 8, flexDirection: 'row', alignItems: 'center', gap: 14, padding: '0 16px' }}&gt;&#13;&#10;                    &lt;Box style={{ width: 4, height: 52, background: '#276FBF' }} /&gt;&#13;&#10;                    &lt;Box style={{ flexDirection: 'column', gap: 4 }}&gt;&#13;&#10;                        &lt;Text style={{ fontSize: 16, fontWeight: 'bold', color: '#20344B' }}&gt;不涉及的范围&lt;/Text&gt;&#13;&#10;                        &lt;Text style={{ fontSize: 15, color: '#546779', lineHeight: 1.5 }}&gt;永久政策、收费、资格或审批，都不在本次协商之内&lt;/Text&gt;&#13;&#10;                    &lt;/Box&gt;&#13;&#10;                &lt;/Box&gt;&#13;&#10;                &lt;Box style={{ height: 92, background: '#F7F3E8', borderRadius: 8, flexDirection: 'row', alignItems: 'center', gap: 14, padding: '0 16px' }}&gt;&#13;&#10;                    &lt;Box style={{ width: 4, height: 52, background: '#546779' }} /&gt;&#13;&#10;                    &lt;Box style={{ flexDirection: 'column', gap: 4 }}&gt;&#13;&#10;                        &lt;Text style={{ fontSize: 16, fontWeight: 'bold', color: '#20344B' }}&gt;材料性质&lt;/Text&gt;&#13;&#10;                        &lt;Text style={{ fontSize: 15, color: '#546779', lineHeight: 1.5 }}&gt;人物、场地和材料均虚构，尚无 Run，不代表任何现实结果&lt;/Text&gt;&#13;&#10;                    &lt;/Box&gt;&#13;&#10;                &lt;/Box&gt;&#13;&#10;            &lt;/Box&gt;&#13;&#10;&#13;&#10;        &lt;/Box&gt;&#13;&#10;&#13;&#10;        &lt;Box style={{ height: 76, background: '#FFF4E6', borderRadius: 10, flexDirection: 'row', alignItems: 'center', gap: 18, padding: '0 22px' }}&gt;&#13;&#10;            &lt;Box style={{ width: 4, height: 44, background: '#CB6B28' }} /&gt;&#13;&#10;            &lt;Text style={{ fontSize: 16, color: '#546779', lineHeight: 1.6, flex: 1 }}&gt;符合场地规则，不等于满足个人需求；符合规则只说明候选没有被共同规则排除，不能替任何人表示同意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4.6 公共议题协商&lt;/Text&gt;&#13;&#10;        &lt;Text style={{ fontSize: 14, color: '#546779' }}&gt;04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486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共同事实与四个候选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486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共同事实：一次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分钟的活动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场地说明牌　·　共同规则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09600" y="1495425"/>
            <a:ext cx="447675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762000" y="16573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933450" y="17240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时间：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Asia/Shanghai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18:00—21:00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可用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609600" y="2295525"/>
            <a:ext cx="447675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762000" y="24574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933450" y="252412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人数：最多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人，本次计划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3095625"/>
            <a:ext cx="447675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762000" y="32575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933450" y="332422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收整：最后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分钟收整，活动最晚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20:50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结束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09600" y="3895725"/>
            <a:ext cx="447675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9" name=""/>
          <p:cNvSpPr/>
          <p:nvPr/>
        </p:nvSpPr>
        <p:spPr>
          <a:xfrm rot="0" flipH="0" flipV="0">
            <a:off x="762000" y="40576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933450" y="4124325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模式：只有正常交谈、静默共读两种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609600" y="4695825"/>
            <a:ext cx="447675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2" name=""/>
          <p:cNvSpPr/>
          <p:nvPr/>
        </p:nvSpPr>
        <p:spPr>
          <a:xfrm rot="0" flipH="0" flipV="0">
            <a:off x="762000" y="4857750"/>
            <a:ext cx="38100" cy="3810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933450" y="4924425"/>
            <a:ext cx="3429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没有：隔音分区、远程参加、自动延时、噪声物理模型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5391150" y="1143000"/>
            <a:ext cx="619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活动日与参与者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5391150" y="1495425"/>
            <a:ext cx="619125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6" name=""/>
          <p:cNvSpPr/>
          <p:nvPr/>
        </p:nvSpPr>
        <p:spPr>
          <a:xfrm rot="0" flipH="0" flipV="0">
            <a:off x="5543550" y="16859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5715000" y="1695450"/>
            <a:ext cx="2257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活动日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2026-11-21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5715000" y="1924050"/>
            <a:ext cx="2257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共享活动室体验一次，时长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5391150" y="2466975"/>
            <a:ext cx="619125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0" name=""/>
          <p:cNvSpPr/>
          <p:nvPr/>
        </p:nvSpPr>
        <p:spPr>
          <a:xfrm rot="0" flipH="0" flipV="0">
            <a:off x="5543550" y="26574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5715000" y="2667000"/>
            <a:ext cx="3571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三位代表＋主持人杜宁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715000" y="2895600"/>
            <a:ext cx="3571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何澄、秦川、宋遥；九人是计划人数，不是全部建模对象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5391150" y="3438525"/>
            <a:ext cx="619125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5543550" y="36290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5715000" y="3638550"/>
            <a:ext cx="3286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不涉及的范围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5715000" y="3867150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永久政策、收费、资格或审批，都不在本次协商之内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5391150" y="4410075"/>
            <a:ext cx="6191250" cy="876300"/>
          </a:xfrm>
          <a:prstGeom prst="roundRect">
            <a:avLst>
              <a:gd name="adj" fmla="val 869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5543550" y="4600575"/>
            <a:ext cx="38100" cy="4953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5715000" y="4610100"/>
            <a:ext cx="3743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材料性质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5715000" y="4838700"/>
            <a:ext cx="37433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人物、场地和材料均虚构，尚无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，不代表任何现实结果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09600" y="55626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2" name=""/>
          <p:cNvSpPr/>
          <p:nvPr/>
        </p:nvSpPr>
        <p:spPr>
          <a:xfrm rot="0" flipH="0" flipV="0">
            <a:off x="819150" y="57150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1028700" y="578167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符合场地规则，不等于满足个人需求；符合规则只说明候选没有被共同规则排除，不能替任何人表示同意。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36" name="" descr="&lt;Slide notes={`我把四个候选逐条读一遍。&#10;A 是十八点到十九点，正常交谈，满足场地规则。B 是十九点到二十点，正常交谈，也满足。C 是十九点五十到二十点五十，它正好在二十点五十结束，仍然满足场地规则，只是后面要留出收整时间。D 是十九点到二十点，模式换成静默共读，同样满足。&#10;四条候选在共同规则这一层全部通过。判断标准必须说清楚：三个人对同一个候选都明确同意，才记一致意见。&#10;保留、反对、未回应都要如实记录下来，主持人也不能事后临时把它改成多数通过——那样做等于替别人表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1　共同事实与四个候选&lt;/Text&gt;&#10;            &lt;Text style={{ fontSize: 34, fontWeight: 'bold', color: '#20344B' }}&gt;四个候选，逐条核对&lt;/Text&gt;&#10;        &lt;/Box&gt;&#10;    &lt;/Box&gt;&#10;&#10;    &lt;Box style={{ height: 540, flexDirection: 'column', gap: 20 }}&gt;&#10;&#10;        &lt;Box style={{ height: 382, background: '#F4F7FA', borderRadius: 10, padding: '0 20px', flexDirection: 'column', gap: 10, justifyContent: 'center' }}&gt;&#10;&#10;            &lt;Box style={{ height: 30, flexDirection: 'row', alignItems: 'center', gap: 14 }}&gt;&#10;                &lt;Box style={{ width: 4 }} /&gt;&#10;                &lt;Box style={{ width: 90 }}&gt;&lt;Text style={{ fontSize: 15, fontWeight: 'bold', color: '#546779' }}&gt;候选&lt;/Text&gt;&lt;/Box&gt;&#10;                &lt;Box style={{ width: 260 }}&gt;&lt;Text style={{ fontSize: 15, fontWeight: 'bold', color: '#546779' }}&gt;时间&lt;/Text&gt;&lt;/Box&gt;&#10;                &lt;Box style={{ width: 240 }}&gt;&lt;Text style={{ fontSize: 15, fontWeight: 'bold', color: '#546779' }}&gt;模式&lt;/Text&gt;&lt;/Box&gt;&#10;                &lt;Box style={{ flex: 1 }}&gt;&lt;Text style={{ fontSize: 15, fontWeight: 'bold', color: '#546779' }}&gt;场地规则&lt;/Text&gt;&lt;/Box&gt;&#10;            &lt;/Box&gt;&#10;&#10;            &lt;Box style={{ height: 78, background: '#FFFFFF', borderRadius: 8, flexDirection: 'row', alignItems: 'center', gap: 14, padding: '0 14px' }}&gt;&#10;                &lt;Box style={{ width: 4, height: 40, background: '#276FBF' }} /&gt;&#10;                &lt;Box style={{ width: 90 }}&gt;&lt;Text style={{ fontSize: 18, fontWeight: 'bold', color: '#276FBF' }}&gt;A&lt;/Text&gt;&lt;/Box&gt;&#10;                &lt;Box style={{ width: 260 }}&gt;&lt;Text style={{ fontSize: 16, color: '#20344B' }}&gt;18:00 — 19:00&lt;/Text&gt;&lt;/Box&gt;&#10;                &lt;Box style={{ width: 240 }}&gt;&lt;Text style={{ fontSize: 16, color: '#546779' }}&gt;正常交谈&lt;/Text&gt;&lt;/Box&gt;&#10;                &lt;Box style={{ flex: 1 }}&gt;&lt;Text style={{ fontSize: 16, fontWeight: 'bold', color: '#26816B' }}&gt;满足&lt;/Text&gt;&lt;/Box&gt;&#10;            &lt;/Box&gt;&#10;&#10;            &lt;Box style={{ height: 78, background: '#FFFFFF', borderRadius: 8, flexDirection: 'row', alignItems: 'center', gap: 14, padding: '0 14px' }}&gt;&#10;                &lt;Box style={{ width: 4, height: 40, background: '#276FBF' }} /&gt;&#10;                &lt;Box style={{ width: 90 }}&gt;&lt;Text style={{ fontSize: 18, fontWeight: 'bold', color: '#276FBF' }}&gt;B&lt;/Text&gt;&lt;/Box&gt;&#10;                &lt;Box style={{ width: 260 }}&gt;&lt;Text style={{ fontSize: 16, color: '#20344B' }}&gt;19:00 — 20:00&lt;/Text&gt;&lt;/Box&gt;&#10;                &lt;Box style={{ width: 240 }}&gt;&lt;Text style={{ fontSize: 16, color: '#546779' }}&gt;正常交谈&lt;/Text&gt;&lt;/Box&gt;&#10;                &lt;Box style={{ flex: 1 }}&gt;&lt;Text style={{ fontSize: 16, fontWeight: 'bold', color: '#26816B' }}&gt;满足&lt;/Text&gt;&lt;/Box&gt;&#10;            &lt;/Box&gt;&#10;&#10;            &lt;Box style={{ height: 78, background: '#FFFFFF', borderRadius: 8, flexDirection: 'row', alignItems: 'center', gap: 14, padding: '0 14px' }}&gt;&#10;                &lt;Box style={{ width: 4, height: 40, background: '#276FBF' }} /&gt;&#10;                &lt;Box style={{ width: 90 }}&gt;&lt;Text style={{ fontSize: 18, fontWeight: 'bold', color: '#276FBF' }}&gt;C&lt;/Text&gt;&lt;/Box&gt;&#10;                &lt;Box style={{ width: 260 }}&gt;&lt;Text style={{ fontSize: 16, color: '#20344B' }}&gt;19:50 — 20:50&lt;/Text&gt;&lt;/Box&gt;&#10;                &lt;Box style={{ width: 240 }}&gt;&lt;Text style={{ fontSize: 16, color: '#546779' }}&gt;正常交谈&lt;/Text&gt;&lt;/Box&gt;&#10;                &lt;Box style={{ flex: 1 }}&gt;&lt;Text style={{ fontSize: 16, fontWeight: 'bold', color: '#26816B' }}&gt;满足，余 10 分钟收整&lt;/Text&gt;&lt;/Box&gt;&#10;            &lt;/Box&gt;&#10;&#10;            &lt;Box style={{ height: 78, background: '#FFFFFF', borderRadius: 8, flexDirection: 'row', alignItems: 'center', gap: 14, padding: '0 14px' }}&gt;&#10;                &lt;Box style={{ width: 4, height: 40, background: '#26816B' }} /&gt;&#10;                &lt;Box style={{ width: 90 }}&gt;&lt;Text style={{ fontSize: 18, fontWeight: 'bold', color: '#26816B' }}&gt;D&lt;/Text&gt;&lt;/Box&gt;&#10;                &lt;Box style={{ width: 260 }}&gt;&lt;Text style={{ fontSize: 16, color: '#20344B' }}&gt;19:00 — 20:00&lt;/Text&gt;&lt;/Box&gt;&#10;                &lt;Box style={{ width: 240 }}&gt;&lt;Text style={{ fontSize: 16, color: '#546779' }}&gt;静默共读&lt;/Text&gt;&lt;/Box&gt;&#10;                &lt;Box style={{ flex: 1 }}&gt;&lt;Text style={{ fontSize: 16, fontWeight: 'bold', color: '#26816B' }}&gt;满足&lt;/Text&gt;&lt;/Box&gt;&#10;            &lt;/Box&gt;&#10;&#10;        &lt;/Box&gt;&#10;&#10;        &lt;Box style={{ height: 118, background: '#FFF4E6', borderRadius: 10, padding: '0 22px', flexDirection: 'row', alignItems: 'center', gap: 18 }}&gt;&#10;            &lt;Box style={{ width: 4, height: 72, background: '#CB6B28' }} /&gt;&#10;            &lt;Box style={{ flexDirection: 'column', gap: 6, flex: 1 }}&gt;&#10;                &lt;Text style={{ fontSize: 17, fontWeight: 'bold', color: '#CB6B28' }}&gt;三人对同一候选均明确同意，才记一致&lt;/Text&gt;&#10;                &lt;Text style={{ fontSize: 15, color: '#546779', lineHeight: 1.5 }}&gt;保留、反对、未回应都如实对应到人；主持人不能临时改成多数通过，也不能替谁声明态度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共同事实与四个候选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四个候选，逐条核对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609600" y="1143000"/>
            <a:ext cx="10972800" cy="3638550"/>
          </a:xfrm>
          <a:prstGeom prst="roundRect">
            <a:avLst>
              <a:gd name="adj" fmla="val 261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971550" y="12001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候选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1962150" y="1200150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时间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4572000" y="12001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模式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6991350" y="1200150"/>
            <a:ext cx="440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场地规则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800100" y="1524000"/>
            <a:ext cx="105918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7" name=""/>
          <p:cNvSpPr/>
          <p:nvPr/>
        </p:nvSpPr>
        <p:spPr>
          <a:xfrm rot="0" flipH="0" flipV="0">
            <a:off x="933450" y="17049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104900" y="17907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2095500" y="180022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18:00 — 19:00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4705350" y="180022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正常交谈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124700" y="1800225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满足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800100" y="2362200"/>
            <a:ext cx="105918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3" name=""/>
          <p:cNvSpPr/>
          <p:nvPr/>
        </p:nvSpPr>
        <p:spPr>
          <a:xfrm rot="0" flipH="0" flipV="0">
            <a:off x="933450" y="25431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1104900" y="2628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2095500" y="263842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19:00 — 20:00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4705350" y="263842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正常交谈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7124700" y="2638425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满足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800100" y="3200400"/>
            <a:ext cx="105918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9" name=""/>
          <p:cNvSpPr/>
          <p:nvPr/>
        </p:nvSpPr>
        <p:spPr>
          <a:xfrm rot="0" flipH="0" flipV="0">
            <a:off x="933450" y="33813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104900" y="34671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2095500" y="347662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19:50 — 20:50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4705350" y="347662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正常交谈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7124700" y="3476625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满足，余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分钟收整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800100" y="4038600"/>
            <a:ext cx="105918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5" name=""/>
          <p:cNvSpPr/>
          <p:nvPr/>
        </p:nvSpPr>
        <p:spPr>
          <a:xfrm rot="0" flipH="0" flipV="0">
            <a:off x="933450" y="4219575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1104900" y="43053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2095500" y="431482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19:00 — 20:00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4705350" y="431482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静默共读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7124700" y="4314825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满足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09600" y="4972050"/>
            <a:ext cx="109728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1" name=""/>
          <p:cNvSpPr/>
          <p:nvPr/>
        </p:nvSpPr>
        <p:spPr>
          <a:xfrm rot="0" flipH="0" flipV="0">
            <a:off x="819150" y="5191125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1028700" y="5276850"/>
            <a:ext cx="10344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三人对同一候选均明确同意，才记一致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1028700" y="5534025"/>
            <a:ext cx="10344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保留、反对、未回应都如实对应到人；主持人不能临时改成多数通过，也不能替谁声明态度。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76" name="" descr="&lt;Slide notes={`到这里，信息要分成两半。&#10;一半是共同的：场地规则、候选编号和时间，主持人杜宁和三位代表都可以讨论，也可以互相追问。&#10;另一半是私有的：每个人为什么提出这个要求，以及哪些条件不可调整。这部分只发给本人，其他人初始完全不知道。主持人自己也不知道，他必须真的去问。&#10;还有一条边界很重要：共同 Brain 里只装表达方法和核对方法，不装任何人的私人理由。&#10;人物不能为了让故事圆满就把硬条件取消，比如让宋遥忽然不需要提前离开。那样记录会更好看，但实验也就没有意义了。&#10;教师的那份逐列分析是判分材料，它不能变成所有人共享的答案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4.6.2&lt;/Text&gt;&#10;&#10;        &lt;Text style={{ fontSize: 56, fontWeight: 'bold', color: '#20344B', lineHeight: 1.15 }}&gt;私有理由与教师分析分开&lt;/Text&gt;&#10;&#10;        &lt;Box style={{ width: 72, height: 4, background: '#276FBF' }} /&gt;&#10;&#10;        &lt;Text style={{ fontSize: 18, color: '#546779', lineHeight: 1.7, width: 1000 }}&gt;理由只发给本人，主持人和其他代表初始不知道；教师分析属于判分材料，不能变成共享答案。&lt;/Text&gt;&#10;&#10;        &lt;Box style={{ flexDirection: 'row', alignItems: 'center', marginTop: 10 }}&gt;&#10;            &lt;Box style={{ width: 200, height: 96, background: '#F7F3E8', borderRadius: 8, flexDirection: 'column', justifyContent: 'center', alignItems: 'center', gap: 4 }}&gt;&#10;                &lt;Text style={{ fontSize: 16, fontWeight: 'bold', color: '#20344B' }}&gt;何澄&lt;/Text&gt;&#10;                &lt;Text style={{ fontSize: 13, color: '#546779' }}&gt;只收到 R1&lt;/Text&gt;&#10;            &lt;/Box&gt;&#10;            &lt;Box style={{ width: 12 }} /&gt;&#10;            &lt;Box style={{ width: 200, height: 96, background: '#F7F3E8', borderRadius: 8, flexDirection: 'column', justifyContent: 'center', alignItems: 'center', gap: 4 }}&gt;&#10;                &lt;Text style={{ fontSize: 16, fontWeight: 'bold', color: '#20344B' }}&gt;秦川&lt;/Text&gt;&#10;                &lt;Text style={{ fontSize: 13, color: '#546779' }}&gt;只收到 R2、R3&lt;/Text&gt;&#10;            &lt;/Box&gt;&#10;            &lt;Box style={{ width: 12 }} /&gt;&#10;            &lt;Box style={{ width: 200, height: 96, background: '#F7F3E8', borderRadius: 8, flexDirection: 'column', justifyContent: 'center', alignItems: 'center', gap: 4 }}&gt;&#10;                &lt;Text style={{ fontSize: 16, fontWeight: 'bold', color: '#20344B' }}&gt;宋遥&lt;/Text&gt;&#10;                &lt;Text style={{ fontSize: 13, color: '#546779' }}&gt;只收到 R4、R5&lt;/Text&gt;&#10;            &lt;/Box&gt;&#10;            &lt;Box style={{ width: 44, height: 96, justifyContent: 'center', alignItems: 'center' }}&gt;&#10;                &lt;Text style={{ fontSize: 26, color: '#CB6B28' }}&gt;›&lt;/Text&gt;&#10;            &lt;/Box&gt;&#10;            &lt;Box style={{ width: 400, height: 96, background: '#FFF4E6', borderRadius: 8, flexDirection: 'column', justifyContent: 'center', alignItems: 'center', gap: 4 }}&gt;&#10;                &lt;Text style={{ fontSize: 16, fontWeight: 'bold', color: '#CB6B28' }}&gt;教师分析　·　不进共同上下文&lt;/Text&gt;&#10;                &lt;Text style={{ fontSize: 13, color: '#546779' }}&gt;只用于判分，不作为共享答案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09600" y="16668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4.6.2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私有理由与教师分析分开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609600" y="30003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理由只发给本人，主持人和其他代表初始不知道；教师分析属于判分材料，不能变成共享答案。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09600" y="3905250"/>
            <a:ext cx="1905000" cy="914400"/>
          </a:xfrm>
          <a:prstGeom prst="roundRect">
            <a:avLst>
              <a:gd name="adj" fmla="val 8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1409700" y="41719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何澄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1285875" y="44005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只收到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R1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2628900" y="3905250"/>
            <a:ext cx="1905000" cy="914400"/>
          </a:xfrm>
          <a:prstGeom prst="roundRect">
            <a:avLst>
              <a:gd name="adj" fmla="val 8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3429000" y="41719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秦川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3162300" y="440055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只收到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R2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R3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4648200" y="3905250"/>
            <a:ext cx="1905000" cy="914400"/>
          </a:xfrm>
          <a:prstGeom prst="roundRect">
            <a:avLst>
              <a:gd name="adj" fmla="val 833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5448300" y="41719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宋遥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181600" y="440055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只收到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R4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R5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67246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972300" y="3905250"/>
            <a:ext cx="381000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848600" y="4171950"/>
            <a:ext cx="205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教师分析　·　不进共同上下文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8077200" y="4400550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只用于判分，不作为共享答案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97" name="" descr="&lt;Slide notes={`五条理由，我按人念一遍，请留意它们的强度不一样。&#13;&#10;何澄的 R1 是二十点以后需要安静，这一条不可妥协；但他不反对二十点以前交谈，也不反对静默活动。&#13;&#10;秦川有两条：R2 是十九点以前无法到场，这是固定条件；R3 是希望口头交流，静默可以保留，但不能说他的交流需求已经被满足。&#13;&#10;宋遥也有两条：R4 是十九点半必须离开去赴另一个承诺；R5 是他要完整参与六十分钟才接受，不能把半程当成完整参加。&#13;&#10;这些理由初始只发给本人，主持人杜宁和其他代表都不知道。共同 Brain 里只有表达和核对的方法。&#13;&#10;还有一条底线：人物不能为了让故事圆满就取消硬条件——那等于替真实的人改需求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4.6.2　私有理由与教师分析分开&lt;/Text&gt;&#13;&#10;            &lt;Text style={{ fontSize: 34, fontWeight: 'bold', color: '#20344B' }}&gt;五条理由，只发给本人&lt;/Text&gt;&#13;&#10;        &lt;/Box&gt;&#13;&#10;    &lt;/Box&gt;&#13;&#10;&#13;&#10;    &lt;Box style={{ height: 540, flexDirection: 'column', justifyContent: 'center', gap: 24 }}&gt;&#13;&#10;&#13;&#10;        &lt;Box style={{ height: 302, flexDirection: 'row', gap: 24 }}&gt;&#13;&#10;&#13;&#10;            &lt;Box style={{ width: 368, background: '#F7F3E8', borderRadius: 10, padding: '16px 18px', flexDirection: 'column', gap: 12 }}&gt;&#13;&#10;                &lt;Box style={{ height: 30, flexDirection: 'row', alignItems: 'center', justifyContent: 'space-between' }}&gt;&#13;&#10;                    &lt;Text style={{ fontSize: 20, fontWeight: 'bold', color: '#20344B' }}&gt;何澄&lt;/Text&gt;&#13;&#10;                    &lt;Text style={{ fontSize: 13, color: '#546779' }}&gt;只收到 R1&lt;/Text&gt;&#13;&#10;                &lt;/Box&gt;&#13;&#10;                &lt;Box style={{ height: 104, background: '#FFFFFF', borderRadius: 8, flexDirection: 'row', alignItems: 'center', gap: 10, padding: '0 14px' }}&gt;&#13;&#10;                    &lt;Box style={{ width: 4, height: 52, background: '#276FBF' }} /&gt;&#13;&#10;                    &lt;Box style={{ flexDirection: 'column', gap: 4 }}&gt;&#13;&#10;                        &lt;Text style={{ fontSize: 15, fontWeight: 'bold', color: '#276FBF' }}&gt;R1&lt;/Text&gt;&#13;&#10;                        &lt;Text style={{ fontSize: 15, color: '#20344B', lineHeight: 1.5 }}&gt;20:00 后需要安静，不可妥协&lt;/Text&gt;&#13;&#10;                    &lt;/Box&gt;&#13;&#10;                &lt;/Box&gt;&#13;&#10;                &lt;Box style={{ height: 104, background: '#FFFFFF', borderRadius: 8, flexDirection: 'row', alignItems: 'center', gap: 10, padding: '0 14px' }}&gt;&#13;&#10;                    &lt;Box style={{ width: 4, height: 52, background: '#B5C7D8' }} /&gt;&#13;&#10;                    &lt;Box style={{ flexDirection: 'column', gap: 4 }}&gt;&#13;&#10;                        &lt;Text style={{ fontSize: 15, fontWeight: 'bold', color: '#546779' }}&gt;补充&lt;/Text&gt;&#13;&#10;                        &lt;Text style={{ fontSize: 15, color: '#546779', lineHeight: 1.5 }}&gt;不反对 20 点前交谈或静默活动&lt;/Text&gt;&#13;&#10;                    &lt;/Box&gt;&#13;&#10;                &lt;/Box&gt;&#13;&#10;            &lt;/Box&gt;&#13;&#10;&#13;&#10;            &lt;Box style={{ width: 368, background: '#F7F3E8', borderRadius: 10, padding: '16px 18px', flexDirection: 'column', gap: 12 }}&gt;&#13;&#10;                &lt;Box style={{ height: 30, flexDirection: 'row', alignItems: 'center', justifyContent: 'space-between' }}&gt;&#13;&#10;                    &lt;Text style={{ fontSize: 20, fontWeight: 'bold', color: '#20344B' }}&gt;秦川&lt;/Text&gt;&#13;&#10;                    &lt;Text style={{ fontSize: 13, color: '#546779' }}&gt;只收到 R2、R3&lt;/Text&gt;&#13;&#10;                &lt;/Box&gt;&#13;&#10;                &lt;Box style={{ height: 104, background: '#FFFFFF', borderRadius: 8, flexDirection: 'row', alignItems: 'center', gap: 10, padding: '0 14px' }}&gt;&#13;&#10;                    &lt;Box style={{ width: 4, height: 52, background: '#276FBF' }} /&gt;&#13;&#10;                    &lt;Box style={{ flexDirection: 'column', gap: 4 }}&gt;&#13;&#10;                        &lt;Text style={{ fontSize: 15, fontWeight: 'bold', color: '#276FBF' }}&gt;R2&lt;/Text&gt;&#13;&#10;                        &lt;Text style={{ fontSize: 15, color: '#20344B', lineHeight: 1.5 }}&gt;19:00 前无法到场，固定条件&lt;/Text&gt;&#13;&#10;                    &lt;/Box&gt;&#13;&#10;                &lt;/Box&gt;&#13;&#10;                &lt;Box style={{ height: 104, background: '#FFFFFF', borderRadius: 8, flexDirection: 'row', alignItems: 'center', gap: 10, padding: '0 14px' }}&gt;&#13;&#10;                    &lt;Box style={{ width: 4, height: 52, background: '#276FBF' }} /&gt;&#13;&#10;                    &lt;Box style={{ flexDirection: 'column', gap: 4 }}&gt;&#13;&#10;                        &lt;Text style={{ fontSize: 15, fontWeight: 'bold', color: '#276FBF' }}&gt;R3&lt;/Text&gt;&#13;&#10;                        &lt;Text style={{ fontSize: 15, color: '#20344B', lineHeight: 1.5 }}&gt;希望口头交流；静默可保留，但不能称交流需求已满足&lt;/Text&gt;&#13;&#10;                    &lt;/Box&gt;&#13;&#10;                &lt;/Box&gt;&#13;&#10;            &lt;/Box&gt;&#13;&#10;&#13;&#10;            &lt;Box style={{ width: 368, background: '#F7F3E8', borderRadius: 10, padding: '16px 18px', flexDirection: 'column', gap: 12 }}&gt;&#13;&#10;                &lt;Box style={{ height: 30, flexDirection: 'row', alignItems: 'center', justifyContent: 'space-between' }}&gt;&#13;&#10;                    &lt;Text style={{ fontSize: 20, fontWeight: 'bold', color: '#20344B' }}&gt;宋遥&lt;/Text&gt;&#13;&#10;                    &lt;Text style={{ fontSize: 13, color: '#546779' }}&gt;只收到 R4、R5&lt;/Text&gt;&#13;&#10;                &lt;/Box&gt;&#13;&#10;                &lt;Box style={{ height: 104, background: '#FFFFFF', borderRadius: 8, flexDirection: 'row', alignItems: 'center', gap: 10, padding: '0 14px' }}&gt;&#13;&#10;                    &lt;Box style={{ width: 4, height: 52, background: '#276FBF' }} /&gt;&#13;&#10;                    &lt;Box style={{ flexDirection: 'column', gap: 4 }}&gt;&#13;&#10;                        &lt;Text style={{ fontSize: 15, fontWeight: 'bold', color: '#276FBF' }}&gt;R4&lt;/Text&gt;&#13;&#10;                        &lt;Text style={{ fontSize: 15, color: '#20344B', lineHeight: 1.5 }}&gt;19:30 必须离开，赴另一承诺&lt;/Text&gt;&#13;&#10;                    &lt;/Box&gt;&#13;&#10;                &lt;/Box&gt;&#13;&#10;                &lt;Box style={{ height: 104, background: '#FFFFFF', borderRadius: 8, flexDirection: 'row', alignItems: 'center', gap: 10, padding: '0 14px' }}&gt;&#13;&#10;                    &lt;Box style={{ width: 4, height: 52, background: '#276FBF' }} /&gt;&#13;&#10;                    &lt;Box style={{ flexDirection: 'column', gap: 4 }}&gt;&#13;&#10;                        &lt;Text style={{ fontSize: 15, fontWeight: 'bold', color: '#276FBF' }}&gt;R5&lt;/Text&gt;&#13;&#10;                        &lt;Text style={{ fontSize: 15, color: '#20344B', lineHeight: 1.5 }}&gt;完整参与 60 分钟才接受，半程不算完整&lt;/Text&gt;&#13;&#10;                    &lt;/Box&gt;&#13;&#10;                &lt;/Box&gt;&#13;&#10;            &lt;/Box&gt;&#13;&#10;&#13;&#10;        &lt;/Box&gt;&#13;&#10;&#13;&#10;        &lt;Box style={{ height: 128, background: '#FFF4E6', borderRadius: 10, padding: '0 22px', flexDirection: 'row', alignItems: 'center', gap: 18 }}&gt;&#13;&#10;            &lt;Box style={{ width: 4, height: 80, background: '#CB6B28' }} /&gt;&#13;&#10;            &lt;Box style={{ flexDirection: 'column', gap: 6, flex: 1 }}&gt;&#13;&#10;                &lt;Text style={{ fontSize: 17, fontWeight: 'bold', color: '#CB6B28' }}&gt;这些理由初始只有本人知道，主持人和其他代表都不知道&lt;/Text&gt;&#13;&#10;                &lt;Text style={{ fontSize: 15, color: '#546779', lineHeight: 1.5 }}&gt;共同 Brain 只含表达与核对方法。人物不能为了圆满故事取消硬条件，那样等于替真实的人改掉了需求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4.6 公共议题协商　·　来源：4.6.2 私有理由表（示意）&lt;/Text&gt;&#13;&#10;        &lt;Text style={{ fontSize: 14, color: '#546779' }}&gt;07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私有理由与教师分析分开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五条理由，只发给本人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09600" y="1552575"/>
            <a:ext cx="3505200" cy="2876550"/>
          </a:xfrm>
          <a:prstGeom prst="roundRect">
            <a:avLst>
              <a:gd name="adj" fmla="val 33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781050" y="1733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何澄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3381375" y="17716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只收到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R1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781050" y="2105025"/>
            <a:ext cx="31623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6" name=""/>
          <p:cNvSpPr/>
          <p:nvPr/>
        </p:nvSpPr>
        <p:spPr>
          <a:xfrm rot="0" flipH="0" flipV="0">
            <a:off x="914400" y="23526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1047750" y="237172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R1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1047750" y="2581275"/>
            <a:ext cx="1847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20:00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后需要安静，不可妥协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781050" y="3209925"/>
            <a:ext cx="31623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0" name=""/>
          <p:cNvSpPr/>
          <p:nvPr/>
        </p:nvSpPr>
        <p:spPr>
          <a:xfrm rot="0" flipH="0" flipV="0">
            <a:off x="914400" y="3457575"/>
            <a:ext cx="38100" cy="4953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047750" y="3476625"/>
            <a:ext cx="1971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补充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1047750" y="3686175"/>
            <a:ext cx="19716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不反对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点前交谈或静默活动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4343400" y="1552575"/>
            <a:ext cx="3505200" cy="2876550"/>
          </a:xfrm>
          <a:prstGeom prst="roundRect">
            <a:avLst>
              <a:gd name="adj" fmla="val 33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4514850" y="1733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秦川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6829425" y="177165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只收到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R2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R3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4514850" y="2105025"/>
            <a:ext cx="31623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7" name=""/>
          <p:cNvSpPr/>
          <p:nvPr/>
        </p:nvSpPr>
        <p:spPr>
          <a:xfrm rot="0" flipH="0" flipV="0">
            <a:off x="4648200" y="23526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4781550" y="237172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R2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4781550" y="2581275"/>
            <a:ext cx="1847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19:00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前无法到场，固定条件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4514850" y="3209925"/>
            <a:ext cx="31623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1" name=""/>
          <p:cNvSpPr/>
          <p:nvPr/>
        </p:nvSpPr>
        <p:spPr>
          <a:xfrm rot="0" flipH="0" flipV="0">
            <a:off x="4648200" y="34575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4781550" y="3343275"/>
            <a:ext cx="276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R3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4781550" y="3552825"/>
            <a:ext cx="2762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希望口头交流；静默可保留，但不能称交流需求已满足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8077200" y="1552575"/>
            <a:ext cx="3505200" cy="2876550"/>
          </a:xfrm>
          <a:prstGeom prst="roundRect">
            <a:avLst>
              <a:gd name="adj" fmla="val 33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8248650" y="1733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宋遥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0563225" y="177165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只收到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R4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R5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8248650" y="2105025"/>
            <a:ext cx="31623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8" name=""/>
          <p:cNvSpPr/>
          <p:nvPr/>
        </p:nvSpPr>
        <p:spPr>
          <a:xfrm rot="0" flipH="0" flipV="0">
            <a:off x="8382000" y="23526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8515350" y="237172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R4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8515350" y="2581275"/>
            <a:ext cx="1847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19:30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必须离开，赴另一承诺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8248650" y="3209925"/>
            <a:ext cx="31623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2" name=""/>
          <p:cNvSpPr/>
          <p:nvPr/>
        </p:nvSpPr>
        <p:spPr>
          <a:xfrm rot="0" flipH="0" flipV="0">
            <a:off x="8382000" y="34575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8515350" y="3476625"/>
            <a:ext cx="2543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R5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8515350" y="3686175"/>
            <a:ext cx="25431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完整参与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分钟才接受，半程不算完整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609600" y="4657725"/>
            <a:ext cx="10972800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36" name=""/>
          <p:cNvSpPr/>
          <p:nvPr/>
        </p:nvSpPr>
        <p:spPr>
          <a:xfrm rot="0" flipH="0" flipV="0">
            <a:off x="819150" y="4886325"/>
            <a:ext cx="38100" cy="762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1028700" y="5010150"/>
            <a:ext cx="10344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这些理由初始只有本人知道，主持人和其他代表都不知道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1028700" y="5267325"/>
            <a:ext cx="10344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共同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只含表达与核对方法。人物不能为了圆满故事取消硬条件，那样等于替真实的人改掉了需求。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67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　·　来源：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私有理由表（示意）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41" name="" descr="&lt;Slide notes={`现在换成教师的眼睛，把四个候选逐列读下来，看谁被挡住。&#10;A 在十八点到十九点：何澄可以，宋遥也可以；但秦川十九点以前无法到场，A 被卡住。&#10;B 在十九点到二十点：何澄和秦川符合，可是宋遥十九点半必须离开，不能完整参与。&#10;C 在十九点五十到二十点五十：秦川符合；何澄二十点以后需要安静；宋遥仍然不能完整参与。&#10;D 在十九点到二十点、静默共读：何澄符合；秦川的交流需求没有被满足；宋遥还是不能完整参与。&#10;结论是没有一个候选满足全员的硬条件。这份分析只用来判分，它不是隐藏的正确候选，真正要检查的是我有没有强行造一个一致同意出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2　私有理由与教师分析分开&lt;/Text&gt;&#10;            &lt;Text style={{ fontSize: 34, fontWeight: 'bold', color: '#20344B' }}&gt;四候选 × 三人：教师的核对&lt;/Text&gt;&#10;        &lt;/Box&gt;&#10;    &lt;/Box&gt;&#10;&#10;    &lt;Box style={{ height: 540, flexDirection: 'column', gap: 20 }}&gt;&#10;&#10;        &lt;Box style={{ height: 430, flexDirection: 'row', gap: 32 }}&gt;&#10;&#10;            &lt;Box style={{ width: 694, flexDirection: 'column', gap: 10 }}&gt;&#10;                &lt;Text style={{ fontSize: 22, fontWeight: 'bold', color: '#276FBF' }}&gt;候选（四者均满足共同场地规则）&lt;/Text&gt;&#10;                &lt;Box style={{ height: 88, background: '#EDF4FC', borderRadius: 8, flexDirection: 'row', alignItems: 'center', gap: 16, padding: '0 18px' }}&gt;&#10;                    &lt;Box style={{ width: 4, height: 48, background: '#276FBF' }} /&gt;&#10;                    &lt;Text style={{ fontSize: 22, fontWeight: 'bold', color: '#276FBF', width: 40 }}&gt;A&lt;/Text&gt;&#10;                    &lt;Box style={{ flexDirection: 'column', gap: 4 }}&gt;&#10;                        &lt;Text style={{ fontSize: 16, fontWeight: 'bold', color: '#20344B' }}&gt;18:00 — 19:00&lt;/Text&gt;&#10;                        &lt;Text style={{ fontSize: 14, color: '#546779' }}&gt;正常交谈&lt;/Text&gt;&#10;                    &lt;/Box&gt;&#10;                &lt;/Box&gt;&#10;                &lt;Box style={{ height: 88, background: '#EDF4FC', borderRadius: 8, flexDirection: 'row', alignItems: 'center', gap: 16, padding: '0 18px' }}&gt;&#10;                    &lt;Box style={{ width: 4, height: 48, background: '#276FBF' }} /&gt;&#10;                    &lt;Text style={{ fontSize: 22, fontWeight: 'bold', color: '#276FBF', width: 40 }}&gt;B&lt;/Text&gt;&#10;                    &lt;Box style={{ flexDirection: 'column', gap: 4 }}&gt;&#10;                        &lt;Text style={{ fontSize: 16, fontWeight: 'bold', color: '#20344B' }}&gt;19:00 — 20:00&lt;/Text&gt;&#10;                        &lt;Text style={{ fontSize: 14, color: '#546779' }}&gt;正常交谈&lt;/Text&gt;&#10;                    &lt;/Box&gt;&#10;                &lt;/Box&gt;&#10;                &lt;Box style={{ height: 88, background: '#EDF4FC', borderRadius: 8, flexDirection: 'row', alignItems: 'center', gap: 16, padding: '0 18px' }}&gt;&#10;                    &lt;Box style={{ width: 4, height: 48, background: '#276FBF' }} /&gt;&#10;                    &lt;Text style={{ fontSize: 22, fontWeight: 'bold', color: '#276FBF', width: 40 }}&gt;C&lt;/Text&gt;&#10;                    &lt;Box style={{ flexDirection: 'column', gap: 4 }}&gt;&#10;                        &lt;Text style={{ fontSize: 16, fontWeight: 'bold', color: '#20344B' }}&gt;19:50 — 20:50&lt;/Text&gt;&#10;                        &lt;Text style={{ fontSize: 14, color: '#546779' }}&gt;正常交谈&lt;/Text&gt;&#10;                    &lt;/Box&gt;&#10;                &lt;/Box&gt;&#10;                &lt;Box style={{ height: 88, background: '#EDF4FC', borderRadius: 8, flexDirection: 'row', alignItems: 'center', gap: 16, padding: '0 18px' }}&gt;&#10;                    &lt;Box style={{ width: 4, height: 48, background: '#26816B' }} /&gt;&#10;                    &lt;Text style={{ fontSize: 22, fontWeight: 'bold', color: '#26816B', width: 40 }}&gt;D&lt;/Text&gt;&#10;                    &lt;Box style={{ flexDirection: 'column', gap: 4 }}&gt;&#10;                        &lt;Text style={{ fontSize: 16, fontWeight: 'bold', color: '#20344B' }}&gt;19:00 — 20:00&lt;/Text&gt;&#10;                        &lt;Text style={{ fontSize: 14, color: '#546779' }}&gt;静默共读&lt;/Text&gt;&#10;                    &lt;/Box&gt;&#10;                &lt;/Box&gt;&#10;            &lt;/Box&gt;&#10;&#10;            &lt;Box style={{ width: 426, flexDirection: 'column', gap: 10 }}&gt;&#10;                &lt;Text style={{ fontSize: 22, fontWeight: 'bold', color: '#CB6B28' }}&gt;逐列核对：谁被挡住&lt;/Text&gt;&#10;                &lt;Box style={{ height: 88, background: '#FFF4E6', borderRadius: 8, flexDirection: 'row', alignItems: 'center', gap: 12, padding: '0 16px' }}&gt;&#10;                    &lt;Box style={{ width: 4, height: 48, background: '#CB6B28' }} /&gt;&#10;                    &lt;Text style={{ fontSize: 15, color: '#20344B', lineHeight: 1.5 }}&gt;何澄、宋遥条件符合；秦川 19:00 前无法到场&lt;/Text&gt;&#10;                &lt;/Box&gt;&#10;                &lt;Box style={{ height: 88, background: '#FFF4E6', borderRadius: 8, flexDirection: 'row', alignItems: 'center', gap: 12, padding: '0 16px' }}&gt;&#10;                    &lt;Box style={{ width: 4, height: 48, background: '#CB6B28' }} /&gt;&#10;                    &lt;Text style={{ fontSize: 15, color: '#20344B', lineHeight: 1.5 }}&gt;何澄、秦川条件符合；宋遥 19:30 离开，不能完整参与&lt;/Text&gt;&#10;                &lt;/Box&gt;&#10;                &lt;Box style={{ height: 88, background: '#FFF4E6', borderRadius: 8, flexDirection: 'row', alignItems: 'center', gap: 12, padding: '0 16px' }}&gt;&#10;                    &lt;Box style={{ width: 4, height: 48, background: '#CB6B28' }} /&gt;&#10;                    &lt;Text style={{ fontSize: 15, color: '#20344B', lineHeight: 1.5 }}&gt;秦川条件符合；何澄 20 点后需安静；宋遥不能完整参与&lt;/Text&gt;&#10;                &lt;/Box&gt;&#10;                &lt;Box style={{ height: 88, background: '#FFF4E6', borderRadius: 8, flexDirection: 'row', alignItems: 'center', gap: 12, padding: '0 16px' }}&gt;&#10;                    &lt;Box style={{ width: 4, height: 48, background: '#CB6B28' }} /&gt;&#10;                    &lt;Text style={{ fontSize: 15, color: '#20344B', lineHeight: 1.5 }}&gt;何澄条件符合；秦川交流需求未满足；宋遥不能完整参与&lt;/Text&gt;&#10;                &lt;/Box&gt;&#10;            &lt;/Box&gt;&#10;&#10;        &lt;/Box&gt;&#10;&#10;        &lt;Box style={{ height: 88, background: '#F4F7FA', borderRadius: 10, flexDirection: 'row', alignItems: 'center', gap: 18, padding: '0 22px' }}&gt;&#10;            &lt;Box style={{ width: 4, height: 52, background: '#CB6B28' }} /&gt;&#10;            &lt;Box style={{ flexDirection: 'column', gap: 4, flex: 1 }}&gt;&#10;                &lt;Text style={{ fontSize: 16, fontWeight: 'bold', color: '#CB6B28' }}&gt;没有满足全员条件的候选，也不替任何人声明同意或反对&lt;/Text&gt;&#10;                &lt;Text style={{ fontSize: 14, color: '#546779' }}&gt;这不是隐藏正确答案，而是检查有没有强行造出「一致同意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图 4.6-1 语义重绘（示意）：教师分析，不是实际投票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010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私有理由与教师分析分开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010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四候选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三人：教师的核对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6610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候选（四者均满足共同场地规则）</a:t>
            </a:r>
            <a:endParaRPr/>
          </a:p>
        </p:txBody>
      </p:sp>
      <p:sp>
        <p:nvSpPr>
          <p:cNvPr id="747" name=""/>
          <p:cNvSpPr/>
          <p:nvPr/>
        </p:nvSpPr>
        <p:spPr>
          <a:xfrm rot="0" flipH="0" flipV="0">
            <a:off x="609600" y="1495425"/>
            <a:ext cx="661035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8" name=""/>
          <p:cNvSpPr/>
          <p:nvPr/>
        </p:nvSpPr>
        <p:spPr>
          <a:xfrm rot="0" flipH="0" flipV="0">
            <a:off x="781050" y="16859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971550" y="1790700"/>
            <a:ext cx="381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1504950" y="1724025"/>
            <a:ext cx="109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18:00 — 19:00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1504950" y="1952625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正常交谈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609600" y="2428875"/>
            <a:ext cx="661035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3" name=""/>
          <p:cNvSpPr/>
          <p:nvPr/>
        </p:nvSpPr>
        <p:spPr>
          <a:xfrm rot="0" flipH="0" flipV="0">
            <a:off x="781050" y="26193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971550" y="2724150"/>
            <a:ext cx="381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1504950" y="2657475"/>
            <a:ext cx="109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19:00 — 20:00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1504950" y="2886075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正常交谈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609600" y="3362325"/>
            <a:ext cx="661035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8" name=""/>
          <p:cNvSpPr/>
          <p:nvPr/>
        </p:nvSpPr>
        <p:spPr>
          <a:xfrm rot="0" flipH="0" flipV="0">
            <a:off x="781050" y="35528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971550" y="3657600"/>
            <a:ext cx="381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1504950" y="3590925"/>
            <a:ext cx="109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19:50 — 20:50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1504950" y="3819525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正常交谈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609600" y="4295775"/>
            <a:ext cx="661035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63" name=""/>
          <p:cNvSpPr/>
          <p:nvPr/>
        </p:nvSpPr>
        <p:spPr>
          <a:xfrm rot="0" flipH="0" flipV="0">
            <a:off x="781050" y="4486275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971550" y="4591050"/>
            <a:ext cx="381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1504950" y="4524375"/>
            <a:ext cx="109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19:00 — 20:00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1504950" y="4752975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静默共读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7524750" y="1143000"/>
            <a:ext cx="405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逐列核对：谁被挡住</a:t>
            </a:r>
            <a:endParaRPr/>
          </a:p>
        </p:txBody>
      </p:sp>
      <p:sp>
        <p:nvSpPr>
          <p:cNvPr id="768" name=""/>
          <p:cNvSpPr/>
          <p:nvPr/>
        </p:nvSpPr>
        <p:spPr>
          <a:xfrm rot="0" flipH="0" flipV="0">
            <a:off x="7524750" y="1495425"/>
            <a:ext cx="405765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69" name=""/>
          <p:cNvSpPr/>
          <p:nvPr/>
        </p:nvSpPr>
        <p:spPr>
          <a:xfrm rot="0" flipH="0" flipV="0">
            <a:off x="7677150" y="16859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7829550" y="1790700"/>
            <a:ext cx="2886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何澄、宋遥条件符合；秦川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19:00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前无法到场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7524750" y="2428875"/>
            <a:ext cx="405765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72" name=""/>
          <p:cNvSpPr/>
          <p:nvPr/>
        </p:nvSpPr>
        <p:spPr>
          <a:xfrm rot="0" flipH="0" flipV="0">
            <a:off x="7677150" y="261937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7829550" y="2724150"/>
            <a:ext cx="3457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何澄、秦川条件符合；宋遥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19:30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离开，不能完整参与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7524750" y="3362325"/>
            <a:ext cx="405765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75" name=""/>
          <p:cNvSpPr/>
          <p:nvPr/>
        </p:nvSpPr>
        <p:spPr>
          <a:xfrm rot="0" flipH="0" flipV="0">
            <a:off x="7677150" y="35528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7829550" y="365760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秦川条件符合；何澄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点后需安静；宋遥不能完整参与</a:t>
            </a:r>
            <a:endParaRPr/>
          </a:p>
        </p:txBody>
      </p:sp>
      <p:sp>
        <p:nvSpPr>
          <p:cNvPr id="777" name=""/>
          <p:cNvSpPr/>
          <p:nvPr/>
        </p:nvSpPr>
        <p:spPr>
          <a:xfrm rot="0" flipH="0" flipV="0">
            <a:off x="7524750" y="4295775"/>
            <a:ext cx="405765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78" name=""/>
          <p:cNvSpPr/>
          <p:nvPr/>
        </p:nvSpPr>
        <p:spPr>
          <a:xfrm rot="0" flipH="0" flipV="0">
            <a:off x="7677150" y="448627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7829550" y="4591050"/>
            <a:ext cx="3571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何澄条件符合；秦川交流需求未满足；宋遥不能完整参与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609600" y="54292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81" name=""/>
          <p:cNvSpPr/>
          <p:nvPr/>
        </p:nvSpPr>
        <p:spPr>
          <a:xfrm rot="0" flipH="0" flipV="0">
            <a:off x="819150" y="560070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1028700" y="5657850"/>
            <a:ext cx="1034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没有满足全员条件的候选，也不替任何人声明同意或反对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1028700" y="5886450"/>
            <a:ext cx="1034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这不是隐藏正确答案，而是检查有没有强行造出「一致同意」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4.6-1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语义重绘（示意）：教师分析，不是实际投票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86" name="" descr="&lt;Slide notes={`空间和窗口是固定的，不构成干预。&#10;空间一共四层：最外面是青禾社区，往里面是活动中心，再里面分成协商区和资料区，最里面是那块场地说明牌。四位参与者预先知道协商区和资料区这两个地址，他们可以走到那里去谈。&#10;对象这边只有一个职责：回答共同事实。你问场地规则，它答场地规则；它不会替任何人说出私人理由。&#10;讨论的 Run 候选窗口是二零二六年十一月二十号十四点到十五点十五分，一分钟一步，一共七十六步。&#10;要注意：这个窗口讨论的是候选本身，不是等第二天活动真的举办完再回来看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2　私有理由与教师分析分开&lt;/Text&gt;&#10;            &lt;Text style={{ fontSize: 34, fontWeight: 'bold', color: '#20344B' }}&gt;四层空间与讨论窗口&lt;/Text&gt;&#10;        &lt;/Box&gt;&#10;    &lt;/Box&gt;&#10;&#10;    &lt;Box style={{ height: 540, flexDirection: 'row', alignItems: 'center', gap: 32 }}&gt;&#10;&#10;        &lt;Box style={{ width: 616, flexDirection: 'column', gap: 10 }}&gt;&#10;            &lt;Text style={{ fontSize: 22, fontWeight: 'bold', color: '#276FBF' }}&gt;四层空间　·　自外向内&lt;/Text&gt;&#10;&#10;            &lt;Box style={{ width: 616, height: 88, background: '#EDF4FC', borderRadius: 8, flexDirection: 'row', alignItems: 'center', gap: 14, padding: '0 18px' }}&gt;&#10;                &lt;Box style={{ width: 4, height: 48, background: '#276FBF' }} /&gt;&#10;                &lt;Box style={{ flexDirection: 'column', gap: 4 }}&gt;&#10;                    &lt;Text style={{ fontSize: 16, fontWeight: 'bold', color: '#20344B' }}&gt;青禾社区&lt;/Text&gt;&#10;                    &lt;Text style={{ fontSize: 14, color: '#546779' }}&gt;最外层，场地说明牌规则来自这里&lt;/Text&gt;&#10;                &lt;/Box&gt;&#10;            &lt;/Box&gt;&#10;&#10;            &lt;Box style={{ flexDirection: 'row' }}&gt;&#10;                &lt;Box style={{ width: 28 }} /&gt;&#10;                &lt;Box style={{ width: 588, height: 88, background: '#EDF4FC', borderRadius: 8, flexDirection: 'row', alignItems: 'center', gap: 14, padding: '0 18px' }}&gt;&#10;                    &lt;Box style={{ width: 4, height: 48, background: '#276FBF' }} /&gt;&#10;                    &lt;Box style={{ flexDirection: 'column', gap: 4 }}&gt;&#10;                        &lt;Text style={{ fontSize: 16, fontWeight: 'bold', color: '#20344B' }}&gt;活动中心&lt;/Text&gt;&#10;                        &lt;Text style={{ fontSize: 14, color: '#546779' }}&gt;共享活动室所在，四位参与者在这里碰面&lt;/Text&gt;&#10;                    &lt;/Box&gt;&#10;                &lt;/Box&gt;&#10;            &lt;/Box&gt;&#10;&#10;            &lt;Box style={{ flexDirection: 'row' }}&gt;&#10;                &lt;Box style={{ width: 56 }} /&gt;&#10;                &lt;Box style={{ width: 560, height: 88, background: '#ECF7F2', borderRadius: 8, flexDirection: 'row', alignItems: 'center', gap: 14, padding: '0 18px' }}&gt;&#10;                    &lt;Box style={{ width: 4, height: 48, background: '#26816B' }} /&gt;&#10;                    &lt;Box style={{ flexDirection: 'column', gap: 4 }}&gt;&#10;                        &lt;Text style={{ fontSize: 16, fontWeight: 'bold', color: '#20344B' }}&gt;协商区／资料区&lt;/Text&gt;&#10;                        &lt;Text style={{ fontSize: 14, color: '#546779' }}&gt;四人知道这两区地址；讨论只在这里发生&lt;/Text&gt;&#10;                    &lt;/Box&gt;&#10;                &lt;/Box&gt;&#10;            &lt;/Box&gt;&#10;&#10;            &lt;Box style={{ flexDirection: 'row' }}&gt;&#10;                &lt;Box style={{ width: 84 }} /&gt;&#10;                &lt;Box style={{ width: 532, height: 88, background: '#F7F3E8', borderRadius: 8, flexDirection: 'row', alignItems: 'center', gap: 14, padding: '0 18px' }}&gt;&#10;                    &lt;Box style={{ width: 4, height: 48, background: '#546779' }} /&gt;&#10;                    &lt;Box style={{ flexDirection: 'column', gap: 4 }}&gt;&#10;                        &lt;Text style={{ fontSize: 16, fontWeight: 'bold', color: '#20344B' }}&gt;场地说明牌&lt;/Text&gt;&#10;                        &lt;Text style={{ fontSize: 14, color: '#546779' }}&gt;对象只答共同事实，不替任何人表态&lt;/Text&gt;&#10;                    &lt;/Box&gt;&#10;                &lt;/Box&gt;&#10;            &lt;/Box&gt;&#10;        &lt;/Box&gt;&#10;&#10;        &lt;Box style={{ width: 504, flexDirection: 'column', gap: 10 }}&gt;&#10;            &lt;Text style={{ fontSize: 22, fontWeight: 'bold', color: '#20344B' }}&gt;讨论 Run 候选　·　示意&lt;/Text&gt;&#10;&#10;            &lt;Box style={{ height: 170, background: '#F4F7FA', borderRadius: 10, padding: '14px 18px', flexDirection: 'column', gap: 8, justifyContent: 'center' }}&gt;&#10;                &lt;Text style={{ fontSize: 17, fontWeight: 'bold', color: '#276FBF' }}&gt;2026-11-20　14:00 — 15:15&lt;/Text&gt;&#10;                &lt;Text style={{ fontSize: 15, color: '#546779' }}&gt;1 分钟／步，共 76 步&lt;/Text&gt;&#10;                &lt;Box style={{ width: 468, height: 28, flexDirection: 'row', gap: 2 }}&gt;&#10;                    &lt;Box style={{ width: 56, height: 28, background: '#276FBF' }} /&gt;&#10;                    &lt;Box style={{ width: 56, height: 28, background: '#EDF4FC' }} /&gt;&#10;                    &lt;Box style={{ width: 56, height: 28, background: '#276FBF' }} /&gt;&#10;                    &lt;Box style={{ width: 56, height: 28, background: '#EDF4FC' }} /&gt;&#10;                    &lt;Box style={{ width: 56, height: 28, background: '#276FBF' }} /&gt;&#10;                    &lt;Box style={{ width: 56, height: 28, background: '#EDF4FC' }} /&gt;&#10;                    &lt;Box style={{ width: 56, height: 28, background: '#276FBF' }} /&gt;&#10;                    &lt;Box style={{ width: 56, height: 28, background: '#EDF4FC' }} /&gt;&#10;                &lt;/Box&gt;&#10;                &lt;Text style={{ fontSize: 13, color: '#546779' }}&gt;窗口跨度示意，非进度条&lt;/Text&gt;&#10;            &lt;/Box&gt;&#10;&#10;            &lt;Box style={{ height: 88, background: '#FFF4E6', borderRadius: 8, flexDirection: 'row', alignItems: 'center', gap: 12, padding: '0 16px' }}&gt;&#10;                &lt;Box style={{ width: 4, height: 48, background: '#CB6B28' }} /&gt;&#10;                &lt;Text style={{ fontSize: 15, color: '#20344B', lineHeight: 1.5 }}&gt;讨论的是候选本身，不等待次晚活动真的举办&lt;/Text&gt;&#10;            &lt;/Box&gt;&#10;&#10;            &lt;Box style={{ height: 88, background: '#F4F7FA', borderRadius: 8, flexDirection: 'row', alignItems: 'center', gap: 12, padding: '0 16px' }}&gt;&#10;                &lt;Box style={{ width: 4, height: 48, background: '#B5C7D8' }} /&gt;&#10;                &lt;Text style={{ fontSize: 15, color: '#546779', lineHeight: 1.5 }}&gt;对象只答共同事实；私人理由不经过对象转发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6 公共议题协商　·　空间与窗口为示意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私有理由与教师分析分开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四层空间与讨论窗口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609600" y="1724025"/>
            <a:ext cx="5867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四层空间　·　自外向内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609600" y="2076450"/>
            <a:ext cx="58674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93" name=""/>
          <p:cNvSpPr/>
          <p:nvPr/>
        </p:nvSpPr>
        <p:spPr>
          <a:xfrm rot="0" flipH="0" flipV="0">
            <a:off x="781050" y="22669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952500" y="230505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青禾社区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952500" y="25336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最外层，场地说明牌规则来自这里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876300" y="3009900"/>
            <a:ext cx="56007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97" name=""/>
          <p:cNvSpPr/>
          <p:nvPr/>
        </p:nvSpPr>
        <p:spPr>
          <a:xfrm rot="0" flipH="0" flipV="0">
            <a:off x="1047750" y="32004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1219200" y="323850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活动中心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219200" y="34671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共享活动室所在，四位参与者在这里碰面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1143000" y="3943350"/>
            <a:ext cx="53340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01" name=""/>
          <p:cNvSpPr/>
          <p:nvPr/>
        </p:nvSpPr>
        <p:spPr>
          <a:xfrm rot="0" flipH="0" flipV="0">
            <a:off x="1314450" y="4133850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1485900" y="417195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协商区／资料区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1485900" y="440055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四人知道这两区地址；讨论只在这里发生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1409700" y="4876800"/>
            <a:ext cx="5067300" cy="83820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805" name=""/>
          <p:cNvSpPr/>
          <p:nvPr/>
        </p:nvSpPr>
        <p:spPr>
          <a:xfrm rot="0" flipH="0" flipV="0">
            <a:off x="1581150" y="5067300"/>
            <a:ext cx="38100" cy="4572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1752600" y="51054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场地说明牌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1752600" y="53340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对象只答共同事实，不替任何人表态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6781800" y="1800225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讨论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候选　·　示意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6781800" y="2152650"/>
            <a:ext cx="4800600" cy="161925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6953250" y="2457450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2026-11-20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14:00 — 15:15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6953250" y="27336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分钟／步，共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76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6953250" y="2981325"/>
            <a:ext cx="53340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3" name=""/>
          <p:cNvSpPr/>
          <p:nvPr/>
        </p:nvSpPr>
        <p:spPr>
          <a:xfrm rot="0" flipH="0" flipV="0">
            <a:off x="7505700" y="2981325"/>
            <a:ext cx="533400" cy="2667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4" name=""/>
          <p:cNvSpPr/>
          <p:nvPr/>
        </p:nvSpPr>
        <p:spPr>
          <a:xfrm rot="0" flipH="0" flipV="0">
            <a:off x="8058150" y="2981325"/>
            <a:ext cx="53340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5" name=""/>
          <p:cNvSpPr/>
          <p:nvPr/>
        </p:nvSpPr>
        <p:spPr>
          <a:xfrm rot="0" flipH="0" flipV="0">
            <a:off x="8610600" y="2981325"/>
            <a:ext cx="533400" cy="2667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6" name=""/>
          <p:cNvSpPr/>
          <p:nvPr/>
        </p:nvSpPr>
        <p:spPr>
          <a:xfrm rot="0" flipH="0" flipV="0">
            <a:off x="9163050" y="2981325"/>
            <a:ext cx="53340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7" name=""/>
          <p:cNvSpPr/>
          <p:nvPr/>
        </p:nvSpPr>
        <p:spPr>
          <a:xfrm rot="0" flipH="0" flipV="0">
            <a:off x="9715500" y="2981325"/>
            <a:ext cx="533400" cy="2667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8" name=""/>
          <p:cNvSpPr/>
          <p:nvPr/>
        </p:nvSpPr>
        <p:spPr>
          <a:xfrm rot="0" flipH="0" flipV="0">
            <a:off x="10267950" y="2981325"/>
            <a:ext cx="53340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9" name=""/>
          <p:cNvSpPr/>
          <p:nvPr/>
        </p:nvSpPr>
        <p:spPr>
          <a:xfrm rot="0" flipH="0" flipV="0">
            <a:off x="10820400" y="2981325"/>
            <a:ext cx="533400" cy="2667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6953250" y="3324225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窗口跨度示意，非进度条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781800" y="3867150"/>
            <a:ext cx="480060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22" name=""/>
          <p:cNvSpPr/>
          <p:nvPr/>
        </p:nvSpPr>
        <p:spPr>
          <a:xfrm rot="0" flipH="0" flipV="0">
            <a:off x="6934200" y="40576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7086600" y="41624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讨论的是候选本身，不等待次晚活动真的举办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6781800" y="4800600"/>
            <a:ext cx="48006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25" name=""/>
          <p:cNvSpPr/>
          <p:nvPr/>
        </p:nvSpPr>
        <p:spPr>
          <a:xfrm rot="0" flipH="0" flipV="0">
            <a:off x="6934200" y="4991100"/>
            <a:ext cx="38100" cy="4572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7086600" y="509587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对象只答共同事实；私人理由不经过对象转发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　·　空间与窗口为示意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4" name="" descr="&lt;Slide notes={`两组用的是同一套行为规范，规范的重点是：态度必须针对某个具体候选。&#10;代表被问到的时候，只说自己的理由和不可调整的条件，不替别人宣布态度。拿到候选之后，按自己实际知道的时间和模式来判断；不清楚就先问，沉默不表示同意。&#10;主持人负责核实场地事实、逐人询问理由，并且把来源和未确认的内容一起记下来。提出候选的时候，要说清编号、时间、模式和还没被满足的要求。&#10;态度征询要逐人发给三个人，问的只能是同意、保留还是反对。改过候选之后必须重新问，不能拿着对旧候选的同意继续用。&#10;最后记录里要同时有候选、已表达的理由、各方回应、未决事项，以及有没有一致意见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　　4.6.3 — 4.6.4&lt;/Text&gt;&#10;&#10;        &lt;Text style={{ fontSize: 56, fontWeight: 'bold', color: '#20344B', lineHeight: 1.15 }}&gt;共同 SOP：态度必须针对具体候选&lt;/Text&gt;&#10;&#10;        &lt;Box style={{ width: 72, height: 4, background: '#276FBF' }} /&gt;&#10;&#10;        &lt;Text style={{ fontSize: 18, color: '#546779', lineHeight: 1.7, width: 1000 }}&gt;听到理由不等于可以对候选表态；沉默、含糊和未回应都不会自动变成同意。&lt;/Text&gt;&#10;&#10;        &lt;Box style={{ flexDirection: 'row', gap: 8, marginTop: 10 }}&gt;&#10;            &lt;Box style={{ width: 100, height: 76, background: '#EDF4FC', borderRadius: 8, flexDirection: 'column', justifyContent: 'center', alignItems: 'center', gap: 4 }}&gt;&#10;                &lt;Text style={{ fontSize: 18, fontWeight: 'bold', color: '#276FBF' }}&gt;1&lt;/Text&gt;&#10;                &lt;Text style={{ fontSize: 12, color: '#546779' }}&gt;说明理由&lt;/Text&gt;&#10;            &lt;/Box&gt;&#10;            &lt;Box style={{ width: 100, height: 76, background: '#EDF4FC', borderRadius: 8, flexDirection: 'column', justifyContent: 'center', alignItems: 'center', gap: 4 }}&gt;&#10;                &lt;Text style={{ fontSize: 18, fontWeight: 'bold', color: '#276FBF' }}&gt;2&lt;/Text&gt;&#10;                &lt;Text style={{ fontSize: 12, color: '#546779' }}&gt;按事实判断&lt;/Text&gt;&#10;            &lt;/Box&gt;&#10;            &lt;Box style={{ width: 100, height: 76, background: '#EDF4FC', borderRadius: 8, flexDirection: 'column', justifyContent: 'center', alignItems: 'center', gap: 4 }}&gt;&#10;                &lt;Text style={{ fontSize: 18, fontWeight: 'bold', color: '#276FBF' }}&gt;3&lt;/Text&gt;&#10;                &lt;Text style={{ fontSize: 12, color: '#546779' }}&gt;逐人询问&lt;/Text&gt;&#10;            &lt;/Box&gt;&#10;            &lt;Box style={{ width: 100, height: 76, background: '#EDF4FC', borderRadius: 8, flexDirection: 'column', justifyContent: 'center', alignItems: 'center', gap: 4 }}&gt;&#10;                &lt;Text style={{ fontSize: 18, fontWeight: 'bold', color: '#276FBF' }}&gt;4&lt;/Text&gt;&#10;                &lt;Text style={{ fontSize: 12, color: '#546779' }}&gt;记录来源&lt;/Text&gt;&#10;            &lt;/Box&gt;&#10;            &lt;Box style={{ width: 100, height: 76, background: '#EDF4FC', borderRadius: 8, flexDirection: 'column', justifyContent: 'center', alignItems: 'center', gap: 4 }}&gt;&#10;                &lt;Text style={{ fontSize: 18, fontWeight: 'bold', color: '#276FBF' }}&gt;5&lt;/Text&gt;&#10;                &lt;Text style={{ fontSize: 12, color: '#546779' }}&gt;说明缺项&lt;/Text&gt;&#10;            &lt;/Box&gt;&#10;            &lt;Box style={{ width: 100, height: 76, background: '#ECF7F2', borderRadius: 8, flexDirection: 'column', justifyContent: 'center', alignItems: 'center', gap: 4 }}&gt;&#10;                &lt;Text style={{ fontSize: 18, fontWeight: 'bold', color: '#26816B' }}&gt;6&lt;/Text&gt;&#10;                &lt;Text style={{ fontSize: 12, color: '#546779' }}&gt;记真实回应&lt;/Text&gt;&#10;            &lt;/Box&gt;&#10;            &lt;Box style={{ width: 100, height: 76, background: '#FFF4E6', borderRadius: 8, flexDirection: 'column', justifyContent: 'center', alignItems: 'center', gap: 4 }}&gt;&#10;                &lt;Text style={{ fontSize: 18, fontWeight: 'bold', color: '#CB6B28' }}&gt;7&lt;/Text&gt;&#10;                &lt;Text style={{ fontSize: 12, color: '#546779' }}&gt;未回应留痕&lt;/Text&gt;&#10;            &lt;/Box&gt;&#10;            &lt;Box style={{ width: 100, height: 76, background: '#FFF4E6', borderRadius: 8, flexDirection: 'column', justifyContent: 'center', alignItems: 'center', gap: 4 }}&gt;&#10;                &lt;Text style={{ fontSize: 18, fontWeight: 'bold', color: '#CB6B28' }}&gt;8&lt;/Text&gt;&#10;                &lt;Text style={{ fontSize: 12, color: '#546779' }}&gt;改候选重问&lt;/Text&gt;&#10;            &lt;/Box&gt;&#10;            &lt;Box style={{ width: 100, height: 76, background: '#EDF4FC', borderRadius: 8, flexDirection: 'column', justifyContent: 'center', alignItems: 'center', gap: 4 }}&gt;&#10;                &lt;Text style={{ fontSize: 18, fontWeight: 'bold', color: '#276FBF' }}&gt;9&lt;/Text&gt;&#10;                &lt;Text style={{ fontSize: 12, color: '#546779' }}&gt;最终留分歧&lt;/Text&gt;&#10;            &lt;/Box&gt;&#10;        &lt;/Box&gt;&#10;&#10;        &lt;Text style={{ fontSize: 14, color: '#546779' }}&gt;九条共同行为边界（示意）：说明理由、按已知事实判断、逐人询问、如实记录、改候选重征询。&lt;/Text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09600" y="15716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4.6.3 — 4.6.4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共同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：态度必须针对具体候选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29051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315277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听到理由不等于可以对候选表态；沉默、含糊和未回应都不会自动变成同意。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3810000"/>
            <a:ext cx="952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028700" y="3981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57250" y="4229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说明理由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1638300" y="3810000"/>
            <a:ext cx="952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2057400" y="3981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828800" y="42291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按事实判断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2667000" y="3810000"/>
            <a:ext cx="952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086100" y="3981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914650" y="4229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逐人询问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695700" y="3810000"/>
            <a:ext cx="952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114800" y="3981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943350" y="4229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记录来源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724400" y="3810000"/>
            <a:ext cx="952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143500" y="3981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972050" y="4229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说明缺项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5753100" y="3810000"/>
            <a:ext cx="9525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172200" y="3981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943600" y="42291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记真实回应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781800" y="3810000"/>
            <a:ext cx="9525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200900" y="3981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972300" y="42291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未回应留痕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7810500" y="3810000"/>
            <a:ext cx="9525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229600" y="3981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001000" y="42291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改候选重问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8839200" y="3810000"/>
            <a:ext cx="9525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258300" y="3981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029700" y="42291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最终留分歧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474345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九条共同行为边界（示意）：说明理由、按已知事实判断、逐人询问、如实记录、改候选重征询。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80" name="" descr="&lt;Slide notes={`我挑出四条最容易被跳过的边界。&#10;第一，代表被询问的时候，只说明自己的理由和不可调整的条件，不替别人宣布态度。主持人听到一句话，不等于另外三个人也都知道了。&#10;第二，收到候选之后按自己实际知道的时间和模式判断；不清楚就先问，沉默不表示同意。&#10;第三，未回应的要如实标记，含糊的表态要等澄清，不能自己补一个意思。&#10;第四，候选改过之后必须重新问三个人，不能拿对旧候选的同意继续用。&#10;另外还有一条特别提醒：问「理由还有补充吗」，对方回答「没别的补充」，这不能算对候选的表态。态度按含义判断，不要机械地要求他必须说出某个指定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3　共同 SOP：态度必须针对具体候选&lt;/Text&gt;&#10;            &lt;Text style={{ fontSize: 34, fontWeight: 'bold', color: '#20344B' }}&gt;四条最容易跳过的边界&lt;/Text&gt;&#10;        &lt;/Box&gt;&#10;    &lt;/Box&gt;&#10;&#10;    &lt;Box style={{ height: 540, flexDirection: 'column', justifyContent: 'center', gap: 20 }}&gt;&#10;&#10;        &lt;Box style={{ height: 360, flexDirection: 'row', gap: 32 }}&gt;&#10;&#10;            &lt;Box style={{ width: 600, flexDirection: 'column', justifyContent: 'center', gap: 14 }}&gt;&#10;                &lt;Text style={{ fontSize: 30, fontWeight: 'bold', color: '#20344B', lineHeight: 1.35 }}&gt;听到理由，不等于{'\n'}可以对候选表态。{'\n'}沉默，也不表示同意。&lt;/Text&gt;&#10;                &lt;Box style={{ width: 60, height: 4, background: '#276FBF' }} /&gt;&#10;                &lt;Text style={{ fontSize: 15, color: '#546779', lineHeight: 1.7 }}&gt;代表被询问时说明自己的理由与不可调整条件；收到候选后按实际已知的时间、模式判断。{'\n'}共同 SOP 九条的整体口径：说明理由、按事实判断、逐人询问、如实记录、改候选重征询。&lt;/Text&gt;&#10;            &lt;/Box&gt;&#10;&#10;            &lt;Box style={{ width: 520, flexDirection: 'column', gap: 12, justifyContent: 'center' }}&gt;&#10;                &lt;Box style={{ height: 80, background: '#F4F7FA', borderRadius: 8, flexDirection: 'row', alignItems: 'center', gap: 12, padding: '0 16px' }}&gt;&#10;                    &lt;Box style={{ width: 4, height: 44, background: '#276FBF' }} /&gt;&#10;                    &lt;Text style={{ fontSize: 15, color: '#20344B', lineHeight: 1.5 }}&gt;不替别人宣布态度；说话只经真实发言逐人传达&lt;/Text&gt;&#10;                &lt;/Box&gt;&#10;                &lt;Box style={{ height: 80, background: '#F4F7FA', borderRadius: 8, flexDirection: 'row', alignItems: 'center', gap: 12, padding: '0 16px' }}&gt;&#10;                    &lt;Box style={{ width: 4, height: 44, background: '#276FBF' }} /&gt;&#10;                    &lt;Text style={{ fontSize: 15, color: '#20344B', lineHeight: 1.5 }}&gt;不清楚先问；沉默不表示同意&lt;/Text&gt;&#10;                &lt;/Box&gt;&#10;                &lt;Box style={{ height: 80, background: '#F4F7FA', borderRadius: 8, flexDirection: 'row', alignItems: 'center', gap: 12, padding: '0 16px' }}&gt;&#10;                    &lt;Box style={{ width: 4, height: 44, background: '#CB6B28' }} /&gt;&#10;                    &lt;Text style={{ fontSize: 15, color: '#20344B', lineHeight: 1.5 }}&gt;未回应如实标记，含糊表态待澄清&lt;/Text&gt;&#10;                &lt;/Box&gt;&#10;                &lt;Box style={{ height: 80, background: '#FFF4E6', borderRadius: 8, flexDirection: 'row', alignItems: 'center', gap: 12, padding: '0 16px' }}&gt;&#10;                    &lt;Box style={{ width: 4, height: 44, background: '#CB6B28' }} /&gt;&#10;                    &lt;Text style={{ fontSize: 15, color: '#20344B', lineHeight: 1.5 }}&gt;更改候选后重新问三人，不沿用对旧候选的同意&lt;/Text&gt;&#10;                &lt;/Box&gt;&#10;            &lt;/Box&gt;&#10;&#10;        &lt;/Box&gt;&#10;&#10;        &lt;Box style={{ height: 96, background: '#FFF4E6', borderRadius: 10, flexDirection: 'row', alignItems: 'center', gap: 18, padding: '0 22px' }}&gt;&#10;            &lt;Box style={{ width: 4, height: 60, background: '#CB6B28' }} /&gt;&#10;            &lt;Box style={{ flexDirection: 'column', gap: 4, flex: 1 }}&gt;&#10;                &lt;Text style={{ fontSize: 17, fontWeight: 'bold', color: '#CB6B28' }}&gt;「理由还有补充吗？」之后回答「没别的补充」，不能算候选投票&lt;/Text&gt;&#10;                &lt;Text style={{ fontSize: 15, color: '#546779' }}&gt;态度按含义判断，不机械要求指定词；仍不清楚就再澄清，不能自己补一个意思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共同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：态度必须针对具体候选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四条最容易跳过的边界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5715000" cy="1390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听到理由，不等于</a:t>
            </a:r>
            <a:endParaRPr/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可以对候选表态。</a:t>
            </a:r>
            <a:endParaRPr/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沉默，也不表示同意。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3400425"/>
            <a:ext cx="5715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3571875"/>
            <a:ext cx="57150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代表被询问时说明自己的理由与不可调整条件；收到候选后按实际已知的时间、模式判断。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共同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九条的整体口径：说明理由、按事实判断、逐人询问、如实记录、改候选重征询。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629400" y="1466850"/>
            <a:ext cx="49530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781800" y="16383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934200" y="172402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不替别人宣布态度；说话只经真实发言逐人传达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629400" y="2343150"/>
            <a:ext cx="49530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6781800" y="25146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934200" y="2600325"/>
            <a:ext cx="1857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不清楚先问；沉默不表示同意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629400" y="3219450"/>
            <a:ext cx="49530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6781800" y="33909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934200" y="347662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未回应如实标记，含糊表态待澄清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629400" y="4095750"/>
            <a:ext cx="4953000" cy="7620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6781800" y="42672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934200" y="435292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更改候选后重新问三人，不沿用对旧候选的同意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50673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819150" y="52387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028700" y="5324475"/>
            <a:ext cx="10344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「理由还有补充吗？」之后回答「没别的补充」，不能算候选投票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28700" y="5562600"/>
            <a:ext cx="10344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态度按含义判断，不机械要求指定词；仍不清楚就再澄清，不能自己补一个意思。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6" name="" descr="&lt;Slide notes={`这一条流程图要分清两个确认，它们的对象完全不同。&#10;两个组都要先真实地问出 R1 到 R5，并且保留来源和限制强度。接下来就分岔了：基线组根据自己的理解，把收到的理由归纳一下，然后直接进入对同一个候选的逐人态度征询。对照组的绿色分支多一步：逐人复述自己对这个代表理由的理解，问一句「我理解得准确吗」，等本人真实确认或者修正，再按回复更新记录。&#10;两条路汇合之后，问的都是同一件事：你对这个候选是什么态度。&#10;如果候选改变了，必须回到征询这一步重新逐人问，旧候选的同意不能穿过去继续用。最后记录的是实际回应和分歧，只有三个人对同一候选都明确同意，才记一致意见。&#10;千万别把「理由没有补充」当成「同意这个候选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4　唯一变化：理由复述确认&lt;/Text&gt;&#10;            &lt;Text style={{ fontSize: 34, fontWeight: 'bold', color: '#20344B' }}&gt;两类确认的对象不同&lt;/Text&gt;&#10;        &lt;/Box&gt;&#10;    &lt;/Box&gt;&#10;&#10;    &lt;Box style={{ height: 540, flexDirection: 'column', justifyContent: 'center', gap: 16 }}&gt;&#10;&#10;        &lt;Text style={{ fontSize: 14, color: '#546779' }}&gt;图 4.6-2 语义重绘（示意）：绿色分支只属于对照组的理由复述确认&lt;/Text&gt;&#10;&#10;        &lt;Box style={{ height: 124, flexDirection: 'row' }}&gt;&#10;            &lt;Box style={{ width: 190, height: 124, background: '#EDF4FC', borderRadius: 8, flexDirection: 'column', justifyContent: 'center', alignItems: 'center', gap: 6, padding: '0 12px' }}&gt;&#10;                &lt;Text style={{ fontSize: 17, fontWeight: 'bold', color: '#276FBF' }}&gt;收集理由&lt;/Text&gt;&#10;                &lt;Text style={{ fontSize: 13, color: '#546779', lineHeight: 1.4 }}&gt;两组共同：实际询问 R1—R5&lt;/Text&gt;&#10;            &lt;/Box&gt;&#10;            &lt;Box style={{ width: 44, height: 124, justifyContent: 'center', alignItems: 'center' }}&gt;&#10;                &lt;Text style={{ fontSize: 26, color: '#276FBF' }}&gt;›&lt;/Text&gt;&#10;            &lt;/Box&gt;&#10;            &lt;Box style={{ width: 190, height: 124, background: '#ECF7F2', borderRadius: 8, flexDirection: 'column', justifyContent: 'center', alignItems: 'center', gap: 6, padding: '0 12px' }}&gt;&#10;                &lt;Text style={{ fontSize: 17, fontWeight: 'bold', color: '#26816B' }}&gt;复述确认&lt;/Text&gt;&#10;                &lt;Text style={{ fontSize: 13, color: '#546779', lineHeight: 1.4 }}&gt;对照：逐人复述并问是否准确&lt;/Text&gt;&#10;            &lt;/Box&gt;&#10;            &lt;Box style={{ width: 44, height: 124, justifyContent: 'center', alignItems: 'center' }}&gt;&#10;                &lt;Text style={{ fontSize: 26, color: '#26816B' }}&gt;›&lt;/Text&gt;&#10;            &lt;/Box&gt;&#10;            &lt;Box style={{ width: 190, height: 124, background: '#ECF7F2', borderRadius: 8, flexDirection: 'column', justifyContent: 'center', alignItems: 'center', gap: 6, padding: '0 12px' }}&gt;&#10;                &lt;Text style={{ fontSize: 17, fontWeight: 'bold', color: '#26816B' }}&gt;更新理由记录&lt;/Text&gt;&#10;                &lt;Text style={{ fontSize: 13, color: '#546779', lineHeight: 1.4 }}&gt;据本人真实确认或修正&lt;/Text&gt;&#10;            &lt;/Box&gt;&#10;            &lt;Box style={{ width: 44, height: 124, justifyContent: 'center', alignItems: 'center' }}&gt;&#10;                &lt;Text style={{ fontSize: 26, color: '#276FBF' }}&gt;›&lt;/Text&gt;&#10;            &lt;/Box&gt;&#10;            &lt;Box style={{ width: 190, height: 124, background: '#EDF4FC', borderRadius: 8, flexDirection: 'column', justifyContent: 'center', alignItems: 'center', gap: 6, padding: '0 12px' }}&gt;&#10;                &lt;Text style={{ fontSize: 17, fontWeight: 'bold', color: '#276FBF' }}&gt;征询态度&lt;/Text&gt;&#10;                &lt;Text style={{ fontSize: 13, color: '#546779', lineHeight: 1.4 }}&gt;同一候选：同意／保留／反对&lt;/Text&gt;&#10;            &lt;/Box&gt;&#10;            &lt;Box style={{ width: 44, height: 124, justifyContent: 'center', alignItems: 'center' }}&gt;&#10;                &lt;Text style={{ fontSize: 26, color: '#276FBF' }}&gt;›&lt;/Text&gt;&#10;            &lt;/Box&gt;&#10;            &lt;Box style={{ width: 190, height: 124, background: '#EDF4FC', borderRadius: 8, flexDirection: 'column', justifyContent: 'center', alignItems: 'center', gap: 6, padding: '0 12px' }}&gt;&#10;                &lt;Text style={{ fontSize: 17, fontWeight: 'bold', color: '#276FBF' }}&gt;记录分歧&lt;/Text&gt;&#10;                &lt;Text style={{ fontSize: 13, color: '#546779', lineHeight: 1.4 }}&gt;未回应或待澄清如实标记&lt;/Text&gt;&#10;            &lt;/Box&gt;&#10;        &lt;/Box&gt;&#10;&#10;        &lt;Box style={{ height: 48, background: '#F4F7FA', borderRadius: 8, flexDirection: 'row', alignItems: 'center', justifyContent: 'center', gap: 10 }}&gt;&#10;            &lt;Text style={{ fontSize: 17, color: '#276FBF' }}&gt;↺&lt;/Text&gt;&#10;            &lt;Text style={{ fontSize: 15, color: '#546779' }}&gt;候选改变时回到「征询态度」重新逐人询问，不沿用对旧候选的同意&lt;/Text&gt;&#10;        &lt;/Box&gt;&#10;&#10;        &lt;Box style={{ height: 104, flexDirection: 'row', gap: 16 }}&gt;&#10;            &lt;Box style={{ width: 568, height: 104, background: '#FFF4E6', borderRadius: 10, flexDirection: 'column', justifyContent: 'center', gap: 6, padding: '0 20px' }}&gt;&#10;                &lt;Text style={{ fontSize: 16, fontWeight: 'bold', color: '#CB6B28' }}&gt;理由没有补充 ≠ 同意候选&lt;/Text&gt;&#10;                &lt;Text style={{ fontSize: 14, color: '#546779', lineHeight: 1.5 }}&gt;复述确认只核对理解；两组汇合之后，才问对候选的态度。&lt;/Text&gt;&#10;            &lt;/Box&gt;&#10;            &lt;Box style={{ width: 568, height: 104, background: '#ECF7F2', borderRadius: 10, flexDirection: 'column', justifyContent: 'center', gap: 6, padding: '0 20px' }}&gt;&#10;                &lt;Text style={{ fontSize: 16, fontWeight: 'bold', color: '#26816B' }}&gt;两个确认都要真实回复&lt;/Text&gt;&#10;                &lt;Text style={{ fontSize: 14, color: '#546779', lineHeight: 1.5 }}&gt;不能由主持人代答；两个环节缺失任何一个，理由或态度都会失真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唯一变化：理由复述确认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两类确认的对象不同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20955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4.6-2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语义重绘（示意）：绿色分支只属于对照组的理由复述确认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2409825"/>
            <a:ext cx="1809750" cy="118110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190625" y="26670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收集理由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23900" y="2924175"/>
            <a:ext cx="15811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两组共同：实际询问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R1—R5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2590800" y="28479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2838450" y="2409825"/>
            <a:ext cx="1809750" cy="1181100"/>
          </a:xfrm>
          <a:prstGeom prst="roundRect">
            <a:avLst>
              <a:gd name="adj" fmla="val 645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419475" y="26670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复述确认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2952750" y="2924175"/>
            <a:ext cx="15811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对照：逐人复述并问是否准确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819650" y="28479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067300" y="2409825"/>
            <a:ext cx="1809750" cy="1181100"/>
          </a:xfrm>
          <a:prstGeom prst="roundRect">
            <a:avLst>
              <a:gd name="adj" fmla="val 645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486400" y="277177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更新理由记录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353050" y="302895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据本人真实确认或修正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048500" y="28479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7296150" y="2409825"/>
            <a:ext cx="1809750" cy="118110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877175" y="26670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征询态度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410450" y="2924175"/>
            <a:ext cx="15811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同一候选：同意／保留／反对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277350" y="28479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9525000" y="2409825"/>
            <a:ext cx="1809750" cy="118110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106025" y="27717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记录分歧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753600" y="3028950"/>
            <a:ext cx="13620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未回应或待澄清如实标记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3743325"/>
            <a:ext cx="10972800" cy="4572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867150" y="3876675"/>
            <a:ext cx="85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>
                <a:solidFill>
                  <a:srgbClr val="276FBF"/>
                </a:solidFill>
                <a:latin typeface="Microsoft YaHei"/>
                <a:ea typeface="Microsoft YaHei"/>
              </a:rPr>
              <a:t>↺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048125" y="3886200"/>
            <a:ext cx="428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候选改变时回到「征询态度」重新逐人询问，不沿用对旧候选的同意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09600" y="4352925"/>
            <a:ext cx="54102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00100" y="460057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理由没有补充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同意候选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00100" y="484822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复述确认只核对理解；两组汇合之后，才问对候选的态度。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172200" y="4352925"/>
            <a:ext cx="54102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362700" y="460057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两个确认都要真实回复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362700" y="4848225"/>
            <a:ext cx="5029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不能由主持人代答；两个环节缺失任何一个，理由或态度都会失真。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42" name="" descr="&lt;Slide notes={`两组唯一不同的地方，就是收到理由之后有没有一个必做的逐人复述确认。&#10;基线组拿到 R1 到 R5 之后，自己归纳一下，就直接进入对同一候选的逐人态度征询。对照组多一步：先逐人复述自己对这个代表理由的理解，问一句「我理解得准确吗」，等本人真实确认或者修正，再更新记录，然后进入和基线完全相同的态度征询。&#10;除此之外，场地核实、询问理由、候选征询、最终记录、模型与人物条件、时间窗口全都一样。&#10;这就是单因素对照的基本要求。如果同时改了两样东西，最后就说不清到底是哪一项起了作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4　唯一变化：理由复述确认&lt;/Text&gt;&#10;            &lt;Text style={{ fontSize: 34, fontWeight: 'bold', color: '#20344B' }}&gt;基线／对照：只差一处&lt;/Text&gt;&#10;        &lt;/Box&gt;&#10;    &lt;/Box&gt;&#10;&#10;    &lt;Box style={{ height: 540, flexDirection: 'column', justifyContent: 'center', gap: 16 }}&gt;&#10;&#10;        &lt;Box style={{ height: 430, flexDirection: 'row', gap: 32 }}&gt;&#10;&#10;            &lt;Box style={{ width: 560, flexDirection: 'column', gap: 10 }}&gt;&#10;                &lt;Box style={{ height: 54, background: '#EDF4FC', borderRadius: 8, flexDirection: 'row', alignItems: 'center', justifyContent: 'center', gap: 12 }}&gt;&#10;                    &lt;Text style={{ fontSize: 20, fontWeight: 'bold', color: '#276FBF' }}&gt;基线&lt;/Text&gt;&#10;                    &lt;Text style={{ fontSize: 14, color: '#546779' }}&gt;无必做的逐人复述确认&lt;/Text&gt;&#10;                &lt;/Box&gt;&#10;                &lt;Box style={{ height: 84, background: '#F4F7FA', borderRadius: 8, flexDirection: 'row', alignItems: 'center', gap: 12, padding: '0 16px' }}&gt;&#10;                    &lt;Box style={{ width: 86 }}&gt;&lt;Text style={{ fontSize: 15, fontWeight: 'bold', color: '#546779' }}&gt;收到理由&lt;/Text&gt;&lt;/Box&gt;&#10;                    &lt;Text style={{ fontSize: 14, color: '#20344B', lineHeight: 1.5, flex: 1 }}&gt;根据已收到的理由自行归纳&lt;/Text&gt;&#10;                &lt;/Box&gt;&#10;                &lt;Box style={{ height: 84, background: '#F4F7FA', borderRadius: 8, flexDirection: 'row', alignItems: 'center', gap: 12, padding: '0 16px' }}&gt;&#10;                    &lt;Box style={{ width: 86 }}&gt;&lt;Text style={{ fontSize: 15, fontWeight: 'bold', color: '#546779' }}&gt;进入征询&lt;/Text&gt;&lt;/Box&gt;&#10;                    &lt;Text style={{ fontSize: 14, color: '#20344B', lineHeight: 1.5, flex: 1 }}&gt;直接对同一候选逐人征询态度&lt;/Text&gt;&#10;                &lt;/Box&gt;&#10;                &lt;Box style={{ height: 84, background: '#F4F7FA', borderRadius: 8, flexDirection: 'row', alignItems: 'center', gap: 12, padding: '0 16px' }}&gt;&#10;                    &lt;Box style={{ width: 86 }}&gt;&lt;Text style={{ fontSize: 15, fontWeight: 'bold', color: '#546779' }}&gt;依据&lt;/Text&gt;&lt;/Box&gt;&#10;                    &lt;Text style={{ fontSize: 14, color: '#20344B', lineHeight: 1.5, flex: 1 }}&gt;已收到的理由，不再逐人复核理解&lt;/Text&gt;&#10;                &lt;/Box&gt;&#10;                &lt;Box style={{ height: 84, background: '#EDF4FC', borderRadius: 8, flexDirection: 'row', alignItems: 'center', gap: 12, padding: '0 16px' }}&gt;&#10;                    &lt;Box style={{ width: 86 }}&gt;&lt;Text style={{ fontSize: 15, fontWeight: 'bold', color: '#276FBF' }}&gt;记录&lt;/Text&gt;&lt;/Box&gt;&#10;                    &lt;Text style={{ fontSize: 14, color: '#20344B', lineHeight: 1.5, flex: 1 }}&gt;记录实际回应与分歧&lt;/Text&gt;&#10;                &lt;/Box&gt;&#10;            &lt;/Box&gt;&#10;&#10;            &lt;Box style={{ width: 560, flexDirection: 'column', gap: 10 }}&gt;&#10;                &lt;Box style={{ height: 54, background: '#ECF7F2', borderRadius: 8, flexDirection: 'row', alignItems: 'center', justifyContent: 'center', gap: 12 }}&gt;&#10;                    &lt;Text style={{ fontSize: 20, fontWeight: 'bold', color: '#26816B' }}&gt;对照&lt;/Text&gt;&#10;                    &lt;Text style={{ fontSize: 14, color: '#546779' }}&gt;增加逐人理由复述确认&lt;/Text&gt;&#10;                &lt;/Box&gt;&#10;                &lt;Box style={{ height: 84, background: '#ECF7F2', borderRadius: 8, flexDirection: 'row', alignItems: 'center', gap: 12, padding: '0 16px' }}&gt;&#10;                    &lt;Box style={{ width: 86 }}&gt;&lt;Text style={{ fontSize: 15, fontWeight: 'bold', color: '#26816B' }}&gt;收到理由&lt;/Text&gt;&lt;/Box&gt;&#10;                    &lt;Text style={{ fontSize: 14, color: '#20344B', lineHeight: 1.5, flex: 1 }}&gt;逐人复述自己的理解，询问是否准确&lt;/Text&gt;&#10;                &lt;/Box&gt;&#10;                &lt;Box style={{ height: 84, background: '#ECF7F2', borderRadius: 8, flexDirection: 'row', alignItems: 'center', gap: 12, padding: '0 16px' }}&gt;&#10;                    &lt;Box style={{ width: 86 }}&gt;&lt;Text style={{ fontSize: 15, fontWeight: 'bold', color: '#26816B' }}&gt;进入征询&lt;/Text&gt;&lt;/Box&gt;&#10;                    &lt;Text style={{ fontSize: 14, color: '#20344B', lineHeight: 1.5, flex: 1 }}&gt;据回复更新记录，再进入同一征询&lt;/Text&gt;&#10;                &lt;/Box&gt;&#10;                &lt;Box style={{ height: 84, background: '#ECF7F2', borderRadius: 8, flexDirection: 'row', alignItems: 'center', gap: 12, padding: '0 16px' }}&gt;&#10;                    &lt;Box style={{ width: 86 }}&gt;&lt;Text style={{ fontSize: 15, fontWeight: 'bold', color: '#26816B' }}&gt;依据&lt;/Text&gt;&lt;/Box&gt;&#10;                    &lt;Text style={{ fontSize: 14, color: '#20344B', lineHeight: 1.5, flex: 1 }}&gt;本人的真实确认或修正&lt;/Text&gt;&#10;                &lt;/Box&gt;&#10;                &lt;Box style={{ height: 84, background: '#EDF4FC', borderRadius: 8, flexDirection: 'row', alignItems: 'center', gap: 12, padding: '0 16px' }}&gt;&#10;                    &lt;Box style={{ width: 86 }}&gt;&lt;Text style={{ fontSize: 15, fontWeight: 'bold', color: '#276FBF' }}&gt;记录&lt;/Text&gt;&lt;/Box&gt;&#10;                    &lt;Text style={{ fontSize: 14, color: '#20344B', lineHeight: 1.5, flex: 1 }}&gt;记录实际回应与分歧（口径相同）&lt;/Text&gt;&#10;                &lt;/Box&gt;&#10;            &lt;/Box&gt;&#10;&#10;        &lt;/Box&gt;&#10;&#10;        &lt;Box style={{ height: 76, background: '#F4F7FA', borderRadius: 10, flexDirection: 'row', alignItems: 'center', gap: 18, padding: '0 22px' }}&gt;&#10;            &lt;Box style={{ width: 4, height: 44, background: '#276FBF' }} /&gt;&#10;            &lt;Text style={{ fontSize: 15, color: '#546779', lineHeight: 1.6, flex: 1 }}&gt;场地核实、询问理由、候选征询、最终记录、模型、人物条件与时间窗口全部相同；唯一差别就是这一处复述确认。&lt;/Text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唯一变化：理由复述确认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基线／对照：只差一处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1228725"/>
            <a:ext cx="5334000" cy="514350"/>
          </a:xfrm>
          <a:prstGeom prst="roundRect">
            <a:avLst>
              <a:gd name="adj" fmla="val 148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362200" y="13716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基线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2857500" y="14097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无必做的逐人复述确认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09600" y="1838325"/>
            <a:ext cx="53340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62000" y="2152650"/>
            <a:ext cx="81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收到理由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695450" y="2114550"/>
            <a:ext cx="4095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根据已收到的理由自行归纳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2733675"/>
            <a:ext cx="53340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62000" y="3048000"/>
            <a:ext cx="81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进入征询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695450" y="3009900"/>
            <a:ext cx="4095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直接对同一候选逐人征询态度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09600" y="3629025"/>
            <a:ext cx="53340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62000" y="3943350"/>
            <a:ext cx="81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依据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695450" y="3905250"/>
            <a:ext cx="4095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已收到的理由，不再逐人复核理解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4524375"/>
            <a:ext cx="53340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62000" y="4838700"/>
            <a:ext cx="81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记录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695450" y="4800600"/>
            <a:ext cx="4095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记录实际回应与分歧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248400" y="1228725"/>
            <a:ext cx="5334000" cy="514350"/>
          </a:xfrm>
          <a:prstGeom prst="roundRect">
            <a:avLst>
              <a:gd name="adj" fmla="val 148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001000" y="13716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对照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496300" y="14097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增加逐人理由复述确认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248400" y="1838325"/>
            <a:ext cx="53340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400800" y="2152650"/>
            <a:ext cx="81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收到理由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334250" y="2114550"/>
            <a:ext cx="4095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逐人复述自己的理解，询问是否准确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248400" y="2733675"/>
            <a:ext cx="53340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400800" y="3048000"/>
            <a:ext cx="81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进入征询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334250" y="3009900"/>
            <a:ext cx="4095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据回复更新记录，再进入同一征询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248400" y="3629025"/>
            <a:ext cx="53340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400800" y="3943350"/>
            <a:ext cx="81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依据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334250" y="3905250"/>
            <a:ext cx="4095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本人的真实确认或修正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248400" y="4524375"/>
            <a:ext cx="53340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400800" y="4838700"/>
            <a:ext cx="81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记录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334250" y="4800600"/>
            <a:ext cx="4095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记录实际回应与分歧（口径相同）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54768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819150" y="56292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028700" y="5705475"/>
            <a:ext cx="10344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场地核实、询问理由、候选征询、最终记录、模型、人物条件与时间窗口全部相同；唯一差别就是这一处复述确认。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82" name="" descr="&lt;Slide notes={`回环这一条最容易被忽略。&#13;&#10;假设三个人已经对候选 B 表过态，其中有人明确同意；讨论过程中候选改成了 D。这时候不能把对 B 的同意搬到 D 上，必须重新逐人征询，因为态度针对的永远是具体候选。&#13;&#10;同样的道理，也不能在脑内替别人回答。比如对何澄说「你反对晚上的活动」，这句话已经歪曲了他的 R1；正确做法是真实询问，然后等他本人纠正。&#13;&#10;对照组的额外轮次和等待都是干预成本，所以它可能晚定稿，甚至到最后都没有定稿，这一点要如实报告。&#13;&#10;还有一点：基线组如果自然出现了复述，也照样保留，不删掉不合预想的行为——我们比较的是规定的方法，不是有没有出现某个动作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4.6.4　唯一变化：理由复述确认&lt;/Text&gt;&#13;&#10;            &lt;Text style={{ fontSize: 34, fontWeight: 'bold', color: '#20344B' }}&gt;候选一改，态度就得重问&lt;/Text&gt;&#13;&#10;        &lt;/Box&gt;&#13;&#10;    &lt;/Box&gt;&#13;&#10;&#13;&#10;    &lt;Box style={{ height: 540, flexDirection: 'column', justifyContent: 'center', gap: 20 }}&gt;&#13;&#10;&#13;&#10;        &lt;Box style={{ height: 400, flexDirection: 'row', gap: 32 }}&gt;&#13;&#10;&#13;&#10;            &lt;Box style={{ width: 694, flexDirection: 'column', gap: 8 }}&gt;&#13;&#10;                &lt;Text style={{ fontSize: 22, fontWeight: 'bold', color: '#276FBF' }}&gt;回环检查　·　示意&lt;/Text&gt;&#13;&#10;&#13;&#10;                &lt;Box style={{ height: 88, background: '#EDF4FC', borderRadius: 8, flexDirection: 'row', alignItems: 'center', gap: 16, padding: '0 20px' }}&gt;&#13;&#10;                    &lt;Box style={{ width: 4, height: 52, background: '#276FBF' }} /&gt;&#13;&#10;                    &lt;Box style={{ flexDirection: 'column', gap: 4 }}&gt;&#13;&#10;                        &lt;Text style={{ fontSize: 17, fontWeight: 'bold', color: '#20344B' }}&gt;旧候选 B 的同意&lt;/Text&gt;&#13;&#10;                        &lt;Text style={{ fontSize: 14, color: '#546779' }}&gt;三人已按 B 逐人表态，其中有人明确同意&lt;/Text&gt;&#13;&#10;                    &lt;/Box&gt;&#13;&#10;                &lt;/Box&gt;&#13;&#10;&#13;&#10;                &lt;Box style={{ height: 30, flexDirection: 'row', alignItems: 'center', gap: 12, padding: '0 20px' }}&gt;&#13;&#10;                    &lt;Text style={{ fontSize: 22, color: '#CB6B28' }}&gt;↓&lt;/Text&gt;&#13;&#10;                    &lt;Text style={{ fontSize: 14, color: '#546779' }}&gt;候选被修改&lt;/Text&gt;&#13;&#10;                &lt;/Box&gt;&#13;&#10;&#13;&#10;                &lt;Box style={{ height: 88, background: '#FFFFFF', borderRadius: 8, flexDirection: 'row', alignItems: 'center', gap: 16, padding: '0 20px' }}&gt;&#13;&#10;                    &lt;Box style={{ width: 4, height: 52, background: '#B5C7D8' }} /&gt;&#13;&#10;                    &lt;Box style={{ flexDirection: 'column', gap: 4 }}&gt;&#13;&#10;                        &lt;Text style={{ fontSize: 17, fontWeight: 'bold', color: '#20344B' }}&gt;候选改为 D&lt;/Text&gt;&#13;&#10;                        &lt;Text style={{ fontSize: 14, color: '#546779' }}&gt;时间与模式都可能一起变，旧表态的依据已经不成立&lt;/Text&gt;&#13;&#10;                    &lt;/Box&gt;&#13;&#10;                &lt;/Box&gt;&#13;&#10;&#13;&#10;                &lt;Box style={{ height: 30, flexDirection: 'row', alignItems: 'center', gap: 12, padding: '0 20px' }}&gt;&#13;&#10;                    &lt;Text style={{ fontSize: 22, color: '#CB6B28' }}&gt;↓&lt;/Text&gt;&#13;&#10;                    &lt;Text style={{ fontSize: 14, color: '#CB6B28' }}&gt;旧同意不能穿过回环&lt;/Text&gt;&#13;&#10;                &lt;/Box&gt;&#13;&#10;&#13;&#10;                &lt;Box style={{ height: 88, background: '#FFF4E6', borderRadius: 8, flexDirection: 'row', alignItems: 'center', gap: 16, padding: '0 20px' }}&gt;&#13;&#10;                    &lt;Box style={{ width: 4, height: 52, background: '#CB6B28' }} /&gt;&#13;&#10;                    &lt;Box style={{ flexDirection: 'column', gap: 4 }}&gt;&#13;&#10;                        &lt;Text style={{ fontSize: 17, fontWeight: 'bold', color: '#CB6B28' }}&gt;必须重新逐人征询 D&lt;/Text&gt;&#13;&#10;                        &lt;Text style={{ fontSize: 14, color: '#546779' }}&gt;不能移用对 B 的态度，也不能由主持人代答&lt;/Text&gt;&#13;&#10;                    &lt;/Box&gt;&#13;&#10;                &lt;/Box&gt;&#13;&#10;            &lt;/Box&gt;&#13;&#10;&#13;&#10;            &lt;Box style={{ width: 426, flexDirection: 'column', gap: 12, justifyContent: 'center' }}&gt;&#13;&#10;                &lt;Text style={{ fontSize: 22, fontWeight: 'bold', color: '#20344B' }}&gt;三条同时成立的提醒&lt;/Text&gt;&#13;&#10;                &lt;Box style={{ height: 98, background: '#F4F7FA', borderRadius: 8, flexDirection: 'row', alignItems: 'center', gap: 12, padding: '0 16px' }}&gt;&#13;&#10;                    &lt;Box style={{ width: 4, height: 52, background: '#CB6B28' }} /&gt;&#13;&#10;                    &lt;Text style={{ fontSize: 15, color: '#20344B', lineHeight: 1.5 }}&gt;不能脑内代答：须真实询问、等待本人纠正&lt;/Text&gt;&#13;&#10;                &lt;/Box&gt;&#13;&#10;                &lt;Box style={{ height: 98, background: '#F4F7FA', borderRadius: 8, flexDirection: 'row', alignItems: 'center', gap: 12, padding: '0 16px' }}&gt;&#13;&#10;                    &lt;Box style={{ width: 4, height: 52, background: '#276FBF' }} /&gt;&#13;&#10;                    &lt;Text style={{ fontSize: 15, color: '#20344B', lineHeight: 1.5 }}&gt;额外轮次与等待是干预成本，可能晚定稿甚至未定稿&lt;/Text&gt;&#13;&#10;                &lt;/Box&gt;&#13;&#10;                &lt;Box style={{ height: 98, background: '#F4F7FA', borderRadius: 8, flexDirection: 'row', alignItems: 'center', gap: 12, padding: '0 16px' }}&gt;&#13;&#10;                    &lt;Box style={{ width: 4, height: 52, background: '#26816B' }} /&gt;&#13;&#10;                    &lt;Text style={{ fontSize: 15, color: '#20344B', lineHeight: 1.5 }}&gt;基线自然出现的复述也保留；比较的是规定方法&lt;/Text&gt;&#13;&#10;                &lt;/Box&gt;&#13;&#10;            &lt;/Box&gt;&#13;&#10;&#13;&#10;        &lt;/Box&gt;&#13;&#10;&#13;&#10;        &lt;Box style={{ height: 96, background: '#FFF4E6', borderRadius: 10, flexDirection: 'row', alignItems: 'center', gap: 18, padding: '0 22px' }}&gt;&#13;&#10;            &lt;Box style={{ width: 4, height: 60, background: '#CB6B28' }} /&gt;&#13;&#10;            &lt;Box style={{ flexDirection: 'column', gap: 4, flex: 1 }}&gt;&#13;&#10;                &lt;Text style={{ fontSize: 17, fontWeight: 'bold', color: '#CB6B28' }}&gt;对何澄说「你反对晚上活动」，已经歪曲了 R1&lt;/Text&gt;&#13;&#10;                &lt;Text style={{ fontSize: 15, color: '#546779' }}&gt;必须真实询问、等待本人纠正，不能由主持人替他写一个态度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4.6 公共议题协商&lt;/Text&gt;&#13;&#10;        &lt;Text style={{ fontSize: 14, color: '#546779' }}&gt;14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唯一变化：理由复述确认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候选一改，态度就得重问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6610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回环检查　·　示意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1590675"/>
            <a:ext cx="661035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800100" y="17621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90600" y="1809750"/>
            <a:ext cx="2438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旧候选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的同意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90600" y="2047875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三人已按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逐人表态，其中有人明确同意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00100" y="252412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19175" y="25717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候选被修改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2867025"/>
            <a:ext cx="66103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800100" y="3038475"/>
            <a:ext cx="38100" cy="4953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90600" y="3086100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候选改为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D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90600" y="332422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时间与模式都可能一起变，旧表态的依据已经不成立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00100" y="38004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019175" y="38481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旧同意不能穿过回环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09600" y="4143375"/>
            <a:ext cx="661035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800100" y="431482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990600" y="4362450"/>
            <a:ext cx="2571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必须重新逐人征询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D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990600" y="4600575"/>
            <a:ext cx="257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不能移用对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的态度，也不能由主持人代答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524750" y="1466850"/>
            <a:ext cx="405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三条同时成立的提醒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524750" y="1838325"/>
            <a:ext cx="4057650" cy="933450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7677150" y="205740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829550" y="2181225"/>
            <a:ext cx="2714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不能脑内代答：须真实询问、等待本人纠正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7524750" y="2886075"/>
            <a:ext cx="4057650" cy="933450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7677150" y="31051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829550" y="3228975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额外轮次与等待是干预成本，可能晚定稿甚至未定稿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524750" y="3933825"/>
            <a:ext cx="4057650" cy="933450"/>
          </a:xfrm>
          <a:prstGeom prst="roundRect">
            <a:avLst>
              <a:gd name="adj" fmla="val 81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7677150" y="415290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829550" y="427672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基线自然出现的复述也保留；比较的是规定方法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09600" y="52578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819150" y="54292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28700" y="5514975"/>
            <a:ext cx="10344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对何澄说「你反对晚上活动」，已经歪曲了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R1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028700" y="5753100"/>
            <a:ext cx="10344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必须真实询问、等待本人纠正，不能由主持人替他写一个态度。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20" name="" descr="&lt;Slide notes={`最后一块讲怎么算数。&#10;主要指标是理由准确纳入率。分子是最终记录里准确纳入的重要理由数，分母是讨论中已经真实公开的重要理由数。&#10;为什么要这样定？因为这场协商并不以有没有共识判成功。重要的理由就是 R1 到 R5 这五条，事先登记好，每条只计一次。&#10;围绕主指标，还有几个必须同时报的口径：理由公开得全不全、记录有没有定稿、明确回应覆盖了多少人、保留事项记下来多少、事实性错误有多少。&#10;只有把这几件事分开报，读者才能分辨「回应很完整」和「理由记得很准」是两回事。&#10;最后还要处理失败解释和练习，把观察到的现象和应该去查的证据对应起来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4.6.5 — 4.6.7&lt;/Text&gt;&#10;&#10;        &lt;Text style={{ fontSize: 56, fontWeight: 'bold', color: '#20344B', lineHeight: 1.15 }}&gt;指标、人工判分与失败解释&lt;/Text&gt;&#10;&#10;        &lt;Box style={{ width: 72, height: 4, background: '#276FBF' }} /&gt;&#10;&#10;        &lt;Text style={{ fontSize: 18, color: '#546779', lineHeight: 1.7, width: 1000 }}&gt;回应完整、理由准确、分歧保留是三件事，必须分开报；支持率不是主要成功指标。&lt;/Text&gt;&#10;&#10;        &lt;Box style={{ width: 1152, height: 96, background: '#F4F7FA', borderRadius: 10, flexDirection: 'row', alignItems: 'center', justifyContent: 'center', gap: 8, marginTop: 6 }}&gt;&#10;            &lt;Box style={{ width: 440, height: 60, background: '#EDF4FC', borderRadius: 8, justifyContent: 'center', alignItems: 'center' }}&gt;&#10;                &lt;Text style={{ fontSize: 16, color: '#276FBF' }}&gt;最终记录准确纳入的重要理由数&lt;/Text&gt;&#10;            &lt;/Box&gt;&#10;            &lt;Box style={{ width: 60, height: 60, justifyContent: 'center', alignItems: 'center' }}&gt;&#10;                &lt;Text style={{ fontSize: 28, fontWeight: 'bold', color: '#20344B' }}&gt;÷&lt;/Text&gt;&#10;            &lt;/Box&gt;&#10;            &lt;Box style={{ width: 440, height: 60, background: '#FFF4E6', borderRadius: 8, justifyContent: 'center', alignItems: 'center' }}&gt;&#10;                &lt;Text style={{ fontSize: 16, color: '#CB6B28' }}&gt;讨论中已真实公开的重要理由数&lt;/Text&gt;&#10;            &lt;/Box&gt;&#10;        &lt;/Box&gt;&#10;&#10;        &lt;Box style={{ flexDirection: 'row', gap: 12 }}&gt;&#10;            &lt;Box style={{ width: 276, height: 84, background: '#EDF4FC', borderRadius: 8, flexDirection: 'column', justifyContent: 'center', alignItems: 'center', gap: 4 }}&gt;&#10;                &lt;Text style={{ fontSize: 20, fontWeight: 'bold', color: '#276FBF' }}&gt;准确纳入&lt;/Text&gt;&#10;                &lt;Text style={{ fontSize: 14, color: '#546779' }}&gt;理由准不准&lt;/Text&gt;&#10;            &lt;/Box&gt;&#10;            &lt;Box style={{ width: 276, height: 84, background: '#ECF7F2', borderRadius: 8, flexDirection: 'column', justifyContent: 'center', alignItems: 'center', gap: 4 }}&gt;&#10;                &lt;Text style={{ fontSize: 20, fontWeight: 'bold', color: '#26816B' }}&gt;明确回应&lt;/Text&gt;&#10;                &lt;Text style={{ fontSize: 14, color: '#546779' }}&gt;态度全不全&lt;/Text&gt;&#10;            &lt;/Box&gt;&#10;            &lt;Box style={{ width: 276, height: 84, background: '#F7F3E8', borderRadius: 8, flexDirection: 'column', justifyContent: 'center', alignItems: 'center', gap: 4 }}&gt;&#10;                &lt;Text style={{ fontSize: 20, fontWeight: 'bold', color: '#546779' }}&gt;保留事项&lt;/Text&gt;&#10;                &lt;Text style={{ fontSize: 14, color: '#546779' }}&gt;分歧留没留&lt;/Text&gt;&#10;            &lt;/Box&gt;&#10;            &lt;Box style={{ width: 276, height: 84, background: '#FFF4E6', borderRadius: 8, flexDirection: 'column', justifyContent: 'center', alignItems: 'center', gap: 4 }}&gt;&#10;                &lt;Text style={{ fontSize: 20, fontWeight: 'bold', color: '#CB6B28' }}&gt;一致意见&lt;/Text&gt;&#10;                &lt;Text style={{ fontSize: 14, color: '#546779' }}&gt;是否形成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1181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4.6.5 — 4.6.7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15621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指标、人工判分与失败解释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25146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09600" y="2762250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回应完整、理由准确、分歧保留是三件事，必须分开报；支持率不是主要成功指标。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09600" y="33813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1543050" y="3552825"/>
            <a:ext cx="4191000" cy="57150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2571750" y="37433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最终记录准确纳入的重要理由数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991225" y="3676650"/>
            <a:ext cx="2095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 b="1">
                <a:solidFill>
                  <a:srgbClr val="20344B"/>
                </a:solidFill>
                <a:latin typeface="Microsoft YaHei"/>
                <a:ea typeface="Microsoft YaHei"/>
              </a:rPr>
              <a:t>÷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457950" y="3552825"/>
            <a:ext cx="4191000" cy="571500"/>
          </a:xfrm>
          <a:prstGeom prst="roundRect">
            <a:avLst>
              <a:gd name="adj" fmla="val 13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486650" y="37433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讨论中已真实公开的重要理由数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4505325"/>
            <a:ext cx="26289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543050" y="46958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准确纳入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590675" y="49625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理由准不准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3352800" y="4505325"/>
            <a:ext cx="26289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286250" y="46958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明确回应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333875" y="49625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态度全不全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0" y="4505325"/>
            <a:ext cx="2628900" cy="800100"/>
          </a:xfrm>
          <a:prstGeom prst="roundRect">
            <a:avLst>
              <a:gd name="adj" fmla="val 952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029450" y="46958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546779"/>
                </a:solidFill>
                <a:latin typeface="Microsoft YaHei"/>
                <a:ea typeface="Microsoft YaHei"/>
              </a:rPr>
              <a:t>保留事项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077075" y="49625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分歧留没留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8839200" y="4505325"/>
            <a:ext cx="26289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772650" y="46958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一致意见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886950" y="49625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是否形成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46" name="" descr="&lt;Slide notes={`理由准确纳入率这个指标，关键在分母。&#13;&#10;分子是最终记录里准确纳入的重要理由数；分母是讨论中已经真实公开的重要理由数。这里有一道关卡：分母只放真实公开过的理由。教师知道、但角色从来没有说出口的内容，不进分母。&#13;&#10;R1 到 R5 事先登记，每条只计一次。&#13;&#10;什么叫准确纳入？要同时保留四样东西：是谁提出的、关键时间和内容、限制强度，以及原意。&#13;&#10;举个例，宋遥说十九点半必须离开，这是硬条件。如果把它缩写成「希望早点回去」，就不能算准确纳入。部分正确只留解释，不给半分；可以写明不采纳，但不能省略这条要求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4.6.5　主要指标：记录已经讨论过的理由&lt;/Text&gt;&#13;&#10;            &lt;Text style={{ fontSize: 34, fontWeight: 'bold', color: '#20344B' }}&gt;理由准确纳入率&lt;/Text&gt;&#13;&#10;        &lt;/Box&gt;&#13;&#10;    &lt;/Box&gt;&#13;&#10;&#13;&#10;    &lt;Box style={{ height: 540, flexDirection: 'column', justifyContent: 'center', gap: 20 }}&gt;&#13;&#10;&#13;&#10;        &lt;Box style={{ height: 412, flexDirection: 'row', gap: 32 }}&gt;&#13;&#10;&#13;&#10;            &lt;Box style={{ width: 650, flexDirection: 'column', gap: 14, justifyContent: 'center' }}&gt;&#13;&#10;                &lt;Box style={{ width: 650, height: 250, background: '#F4F7FA', borderRadius: 12, padding: '18px 22px', flexDirection: 'column', gap: 10, justifyContent: 'center' }}&gt;&#13;&#10;                    &lt;Text style={{ fontSize: 20, fontWeight: 'bold', color: '#20344B' }}&gt;理由准确纳入率&lt;/Text&gt;&#13;&#10;                    &lt;Box style={{ width: 606, height: 52, background: '#EDF4FC', borderRadius: 8, justifyContent: 'center', alignItems: 'center' }}&gt;&#13;&#10;                        &lt;Text style={{ fontSize: 16, color: '#276FBF' }}&gt;最终记录准确纳入的重要理由数&lt;/Text&gt;&#13;&#10;                    &lt;/Box&gt;&#13;&#10;                    &lt;Box style={{ width: 606, height: 20, flexDirection: 'row', alignItems: 'center', gap: 10 }}&gt;&#13;&#10;                        &lt;Box style={{ width: 606, height: 2, background: '#B5C7D8' }} /&gt;&#13;&#10;                    &lt;/Box&gt;&#13;&#10;                    &lt;Box style={{ width: 606, height: 52, background: '#FFF4E6', borderRadius: 8, justifyContent: 'center', alignItems: 'center' }}&gt;&#13;&#10;                        &lt;Text style={{ fontSize: 16, color: '#CB6B28' }}&gt;讨论中已真实公开的重要理由数&lt;/Text&gt;&#13;&#10;                    &lt;/Box&gt;&#13;&#10;                &lt;/Box&gt;&#13;&#10;&#13;&#10;                &lt;Box style={{ width: 650, height: 80, background: '#EDF4FC', borderRadius: 8, flexDirection: 'row', alignItems: 'center', gap: 14, padding: '0 16px' }}&gt;&#13;&#10;                    &lt;Box style={{ width: 4, height: 44, background: '#276FBF' }} /&gt;&#13;&#10;                    &lt;Text style={{ fontSize: 15, color: '#20344B' }}&gt;R1—R5 预先登记，每条只计一次&lt;/Text&gt;&#13;&#10;                &lt;/Box&gt;&#13;&#10;            &lt;/Box&gt;&#13;&#10;&#13;&#10;            &lt;Box style={{ width: 470, flexDirection: 'column', gap: 10, justifyContent: 'center' }}&gt;&#13;&#10;                &lt;Text style={{ fontSize: 22, fontWeight: 'bold', color: '#276FBF' }}&gt;「准确纳入」要保留什么&lt;/Text&gt;&#13;&#10;                &lt;Box style={{ height: 84, background: '#F4F7FA', borderRadius: 8, flexDirection: 'row', alignItems: 'center', gap: 12, padding: '0 16px' }}&gt;&#13;&#10;                    &lt;Box style={{ width: 4, height: 46, background: '#276FBF' }} /&gt;&#13;&#10;                    &lt;Text style={{ fontSize: 15, color: '#20344B', lineHeight: 1.5 }}&gt;主体：这是谁提出的理由&lt;/Text&gt;&#13;&#10;                &lt;/Box&gt;&#13;&#10;                &lt;Box style={{ height: 84, background: '#F4F7FA', borderRadius: 8, flexDirection: 'row', alignItems: 'center', gap: 12, padding: '0 16px' }}&gt;&#13;&#10;                    &lt;Box style={{ width: 4, height: 46, background: '#276FBF' }} /&gt;&#13;&#10;                    &lt;Text style={{ fontSize: 15, color: '#20344B', lineHeight: 1.5 }}&gt;关键时间／内容：如 19:30 必须离开&lt;/Text&gt;&#13;&#10;                &lt;/Box&gt;&#13;&#10;                &lt;Box style={{ height: 84, background: '#F4F7FA', borderRadius: 8, flexDirection: 'row', alignItems: 'center', gap: 12, padding: '0 16px' }}&gt;&#13;&#10;                    &lt;Box style={{ width: 4, height: 46, background: '#276FBF' }} /&gt;&#13;&#10;                    &lt;Text style={{ fontSize: 15, color: '#20344B', lineHeight: 1.5 }}&gt;限制强度：不可妥协、固定条件&lt;/Text&gt;&#13;&#10;                &lt;/Box&gt;&#13;&#10;                &lt;Box style={{ height: 84, background: '#F4F7FA', borderRadius: 8, flexDirection: 'row', alignItems: 'center', gap: 12, padding: '0 16px' }}&gt;&#13;&#10;                    &lt;Box style={{ width: 4, height: 46, background: '#276FBF' }} /&gt;&#13;&#10;                    &lt;Text style={{ fontSize: 15, color: '#20344B', lineHeight: 1.5 }}&gt;原意：不能缩成「希望早点回去」&lt;/Text&gt;&#13;&#10;                &lt;/Box&gt;&#13;&#10;            &lt;/Box&gt;&#13;&#10;&#13;&#10;        &lt;/Box&gt;&#13;&#10;&#13;&#10;        &lt;Box style={{ height: 90, background: '#FFF4E6', borderRadius: 10, flexDirection: 'row', alignItems: 'center', gap: 18, padding: '0 22px' }}&gt;&#13;&#10;            &lt;Box style={{ width: 4, height: 56, background: '#CB6B28' }} /&gt;&#13;&#10;            &lt;Text style={{ fontSize: 16, color: '#546779', lineHeight: 1.6, flex: 1 }}&gt;教师知道但角色从未说出的内容不入分母；部分正确只留解释、不给半分；可以写明不采纳，但不能省略这条要求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4.6 公共议题协商&lt;/Text&gt;&#13;&#10;        &lt;Text style={{ fontSize: 14, color: '#546779' }}&gt;16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主要指标：记录已经讨论过的理由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438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理由准确纳入率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09600" y="1552575"/>
            <a:ext cx="6191250" cy="238125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19150" y="1895475"/>
            <a:ext cx="5772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理由准确纳入率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819150" y="2219325"/>
            <a:ext cx="577215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2638425" y="23717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最终记录准确纳入的重要理由数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819150" y="2895600"/>
            <a:ext cx="5772150" cy="190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819150" y="3095625"/>
            <a:ext cx="5772150" cy="495300"/>
          </a:xfrm>
          <a:prstGeom prst="roundRect">
            <a:avLst>
              <a:gd name="adj" fmla="val 1538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2638425" y="32480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讨论中已真实公开的重要理由数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09600" y="4067175"/>
            <a:ext cx="619125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762000" y="42386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33450" y="4362450"/>
            <a:ext cx="2124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R1—R5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预先登记，每条只计一次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105650" y="1276350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「准确纳入」要保留什么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7105650" y="1628775"/>
            <a:ext cx="447675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7258050" y="180975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410450" y="1905000"/>
            <a:ext cx="1571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主体：这是谁提出的理由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7105650" y="2524125"/>
            <a:ext cx="447675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7258050" y="27051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410450" y="2800350"/>
            <a:ext cx="23145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关键时间／内容：如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19:30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必须离开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105650" y="3419475"/>
            <a:ext cx="447675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7258050" y="360045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410450" y="3695700"/>
            <a:ext cx="2000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限制强度：不可妥协、固定条件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7105650" y="4314825"/>
            <a:ext cx="447675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7258050" y="44958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410450" y="45910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原意：不能缩成「希望早点回去」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5343525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819150" y="55054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028700" y="562927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教师知道但角色从未说出的内容不入分母；部分正确只留解释、不给半分；可以写明不采纳，但不能省略这条要求。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79" name="" descr="&lt;Slide notes={`除了主指标，还有几个口径必须同时报，每个的边界都要写清楚。&#13;&#10;第一，重要理由公开率：已经公开的 R 项除以五。只看一条理由也可能得出百分之百的准确率，但它并不全面。&#13;&#10;第二，最终记录状态：没有定稿的要单独列出；理由分母为零的时候记不适用。&#13;&#10;第三，明确回应覆盖率：对最后候选有明确态度的代表人数除以三；没有最后候选就记未进此阶段。&#13;&#10;第四，保留事项记录率：准确保留原意的反对或保留事项，除以征询时实际提出的这类事项；没有提出就记不适用。&#13;&#10;另外还要报事实性错误比例。判断时要小心：说容量三十人是错的，更喜欢交流是偏好，担心太晚影响休息是理由和担忧，不能因为实验里没有数据就把它判成错误事实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4.6.5　主要指标：记录已经讨论过的理由&lt;/Text&gt;&#13;&#10;            &lt;Text style={{ fontSize: 34, fontWeight: 'bold', color: '#20344B' }}&gt;同时要报的五个口径&lt;/Text&gt;&#13;&#10;        &lt;/Box&gt;&#13;&#10;    &lt;/Box&gt;&#13;&#10;&#13;&#10;    &lt;Box style={{ height: 540, flexDirection: 'column', justifyContent: 'center', gap: 16 }}&gt;&#13;&#10;&#13;&#10;        &lt;Box style={{ height: 440, background: '#F4F7FA', borderRadius: 10, padding: '0 20px', flexDirection: 'column', gap: 8, justifyContent: 'center' }}&gt;&#13;&#10;&#13;&#10;            &lt;Box style={{ height: 30, flexDirection: 'row', alignItems: 'center', gap: 14 }}&gt;&#13;&#10;                &lt;Box style={{ width: 4 }} /&gt;&#13;&#10;                &lt;Box style={{ width: 320 }}&gt;&lt;Text style={{ fontSize: 15, fontWeight: 'bold', color: '#546779' }}&gt;同时报什么&lt;/Text&gt;&lt;/Box&gt;&#13;&#10;                &lt;Box style={{ flex: 1 }}&gt;&lt;Text style={{ fontSize: 15, fontWeight: 'bold', color: '#546779' }}&gt;分母与边界&lt;/Text&gt;&lt;/Box&gt;&#13;&#10;            &lt;/Box&gt;&#13;&#10;&#13;&#10;            &lt;Box style={{ height: 72, background: '#FFFFFF', borderRadius: 8, flexDirection: 'row', alignItems: 'center', gap: 14, padding: '0 14px' }}&gt;&#13;&#10;                &lt;Box style={{ width: 4, height: 40, background: '#276FBF' }} /&gt;&#13;&#10;                &lt;Box style={{ width: 320 }}&gt;&lt;Text style={{ fontSize: 16, fontWeight: 'bold', color: '#20344B' }}&gt;重要理由公开率&lt;/Text&gt;&lt;/Box&gt;&#13;&#10;                &lt;Box style={{ flex: 1 }}&gt;&lt;Text style={{ fontSize: 15, color: '#546779', lineHeight: 1.5 }}&gt;已公开的 R 项 ÷ 5；只听一项也可能准确率 100%，却不全面&lt;/Text&gt;&lt;/Box&gt;&#13;&#10;            &lt;/Box&gt;&#13;&#10;&#13;&#10;            &lt;Box style={{ height: 72, background: '#FFFFFF', borderRadius: 8, flexDirection: 'row', alignItems: 'center', gap: 14, padding: '0 14px' }}&gt;&#13;&#10;                &lt;Box style={{ width: 4, height: 40, background: '#276FBF' }} /&gt;&#13;&#10;                &lt;Box style={{ width: 320 }}&gt;&lt;Text style={{ fontSize: 16, fontWeight: 'bold', color: '#20344B' }}&gt;最终记录状态&lt;/Text&gt;&lt;/Box&gt;&#13;&#10;                &lt;Box style={{ flex: 1 }}&gt;&lt;Text style={{ fontSize: 15, color: '#546779', lineHeight: 1.5 }}&gt;未定稿单独列；理由分母为 0 记不适用&lt;/Text&gt;&lt;/Box&gt;&#13;&#10;            &lt;/Box&gt;&#13;&#10;&#13;&#10;            &lt;Box style={{ height: 72, background: '#FFFFFF', borderRadius: 8, flexDirection: 'row', alignItems: 'center', gap: 14, padding: '0 14px' }}&gt;&#13;&#10;                &lt;Box style={{ width: 4, height: 40, background: '#276FBF' }} /&gt;&#13;&#10;                &lt;Box style={{ width: 320 }}&gt;&lt;Text style={{ fontSize: 16, fontWeight: 'bold', color: '#20344B' }}&gt;明确回应覆盖率&lt;/Text&gt;&lt;/Box&gt;&#13;&#10;                &lt;Box style={{ flex: 1 }}&gt;&lt;Text style={{ fontSize: 15, color: '#546779', lineHeight: 1.5 }}&gt;对最后候选有明确态度的代表 ÷ 3；无最后候选记未进此阶段&lt;/Text&gt;&lt;/Box&gt;&#13;&#10;            &lt;/Box&gt;&#13;&#10;&#13;&#10;            &lt;Box style={{ height: 72, background: '#ECF7F2', borderRadius: 8, flexDirection: 'row', alignItems: 'center', gap: 14, padding: '0 14px' }}&gt;&#13;&#10;                &lt;Box style={{ width: 4, height: 40, background: '#26816B' }} /&gt;&#13;&#10;                &lt;Box style={{ width: 320 }}&gt;&lt;Text style={{ fontSize: 16, fontWeight: 'bold', color: '#20344B' }}&gt;保留事项记录率&lt;/Text&gt;&lt;/Box&gt;&#13;&#10;                &lt;Box style={{ flex: 1 }}&gt;&lt;Text style={{ fontSize: 15, color: '#546779', lineHeight: 1.5 }}&gt;准确保留原意的反对／保留事项 ÷ 最终征询实际提出的此类事项；无事项不适用&lt;/Text&gt;&lt;/Box&gt;&#13;&#10;            &lt;/Box&gt;&#13;&#10;&#13;&#10;            &lt;Box style={{ height: 72, background: '#FFF4E6', borderRadius: 8, flexDirection: 'row', alignItems: 'center', gap: 14, padding: '0 14px' }}&gt;&#13;&#10;                &lt;Box style={{ width: 4, height: 40, background: '#CB6B28' }} /&gt;&#13;&#10;                &lt;Box style={{ width: 320 }}&gt;&lt;Text style={{ fontSize: 16, fontWeight: 'bold', color: '#CB6B28' }}&gt;事实性错误比例&lt;/Text&gt;&lt;/Box&gt;&#13;&#10;                &lt;Box style={{ flex: 1 }}&gt;&lt;Text style={{ fontSize: 15, color: '#546779', lineHeight: 1.5 }}&gt;矛盾或无依据冒充场地事实的声明 ÷ 全部可核验场地事实声明&lt;/Text&gt;&lt;/Box&gt;&#13;&#10;            &lt;/Box&gt;&#13;&#10;&#13;&#10;        &lt;/Box&gt;&#13;&#10;&#13;&#10;        &lt;Box style={{ height: 84, background: '#FFF4E6', borderRadius: 10, flexDirection: 'row', alignItems: 'center', gap: 18, padding: '0 22px' }}&gt;&#13;&#10;            &lt;Box style={{ width: 4, height: 54, background: '#CB6B28' }} /&gt;&#13;&#10;            &lt;Text style={{ fontSize: 15, color: '#546779', lineHeight: 1.6, flex: 1 }}&gt;「容量 30 人」可判错；「更喜欢交流」是偏好；「担心太晚影响休息」是理由与担忧，不能仅因没有实验数据就判成错误事实。支持率不是主要成功指标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4.6 公共议题协商&lt;/Text&gt;&#13;&#10;        &lt;Text style={{ fontSize: 14, color: '#546779' }}&gt;17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主要指标：记录已经讨论过的理由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同时要报的五个口径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09600" y="1143000"/>
            <a:ext cx="10972800" cy="4191000"/>
          </a:xfrm>
          <a:prstGeom prst="roundRect">
            <a:avLst>
              <a:gd name="adj" fmla="val 227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971550" y="1247775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同时报什么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152900" y="1247775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分母与边界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800100" y="1552575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933450" y="17049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04900" y="18002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重要理由公开率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286250" y="1771650"/>
            <a:ext cx="6972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已公开的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5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；只听一项也可能准确率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100%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，却不全面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800100" y="2314575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933450" y="24669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104900" y="25622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最终记录状态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286250" y="2533650"/>
            <a:ext cx="6972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未定稿单独列；理由分母为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记不适用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800100" y="3076575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933450" y="32289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04900" y="33242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明确回应覆盖率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286250" y="3295650"/>
            <a:ext cx="6972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对最后候选有明确态度的代表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；无最后候选记未进此阶段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800100" y="3838575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933450" y="3990975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04900" y="40862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保留事项记录率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286250" y="4057650"/>
            <a:ext cx="6972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准确保留原意的反对／保留事项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最终征询实际提出的此类事项；无事项不适用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800100" y="4600575"/>
            <a:ext cx="10591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933450" y="475297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04900" y="48482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事实性错误比例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286250" y="4819650"/>
            <a:ext cx="6972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矛盾或无依据冒充场地事实的声明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全部可核验场地事实声明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09600" y="54864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819150" y="5629275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028700" y="5753100"/>
            <a:ext cx="10344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「容量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人」可判错；「更喜欢交流」是偏好；「担心太晚影响休息」是理由与担忧，不能仅因没有实验数据就判成错误事实。支持率不是主要成功指标。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12" name="" descr="&lt;Slide notes={`这一段是人工构造的教学材料，不是 Run 的结果，请把它当示范来看。&#10;R1 到 R5 在这里都已经真实表达过了，最后讨论的候选是 D。&#10;何澄同意，R1 被准确保留。秦川保留，因为不能口头交流；他的 R2、R3 以及具体保留事项都记准了。宋遥反对，R4 保留了，但 R5 里「完整六十分钟」那一层被遗漏。&#10;顺着宋遥这一支看下去：反对已经被记录，所以明确回应覆盖是三个人全有，百分之百；可是理由只准确纳入四条，保留事项只记下一半。&#10;结果是未形成一致意见——三个人并没有对同一个候选都明确同意。回应很完整，和意见一致，完全是两回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6　人工判分：全员回应，不等于理由完整&lt;/Text&gt;&#10;            &lt;Text style={{ fontSize: 34, fontWeight: 'bold', color: '#20344B' }}&gt;三人三支，走到三个结果&lt;/Text&gt;&#10;        &lt;/Box&gt;&#10;    &lt;/Box&gt;&#10;&#10;    &lt;Box style={{ height: 540, flexDirection: 'column', justifyContent: 'center', gap: 16 }}&gt;&#10;&#10;        &lt;Box style={{ height: 34, flexDirection: 'row', alignItems: 'center', gap: 14 }}&gt;&#10;            &lt;Box style={{ width: 200, height: 34, background: '#CB6B28', borderRadius: 8, justifyContent: 'center', alignItems: 'center' }}&gt;&#10;                &lt;Text style={{ fontSize: 15, fontWeight: 'bold', color: '#FFFFFF' }}&gt;人工构造，非 Run 结果&lt;/Text&gt;&#10;            &lt;/Box&gt;&#10;            &lt;Text style={{ fontSize: 14, color: '#546779' }}&gt;图 4.6-3 语义重绘（示意）：R1—R5 均已真实表达，最后候选为 D&lt;/Text&gt;&#10;        &lt;/Box&gt;&#10;&#10;        &lt;Box style={{ height: 300, flexDirection: 'row' }}&gt;&#10;&#10;            &lt;Box style={{ width: 260, height: 300, background: '#F4F7FA', borderRadius: 10, padding: '18px 20px', flexDirection: 'column', gap: 10, justifyContent: 'center' }}&gt;&#10;                &lt;Text style={{ fontSize: 20, fontWeight: 'bold', color: '#20344B' }}&gt;最终记录&lt;/Text&gt;&#10;                &lt;Box style={{ height: 52, background: '#FFFFFF', borderRadius: 8, justifyContent: 'center', alignItems: 'center' }}&gt;&#10;                    &lt;Text style={{ fontSize: 15, color: '#546779' }}&gt;候选 D　·　三人逐人征询&lt;/Text&gt;&#10;                &lt;/Box&gt;&#10;                &lt;Box style={{ height: 52, background: '#FFFFFF', borderRadius: 8, justifyContent: 'center', alignItems: 'center' }}&gt;&#10;                    &lt;Text style={{ fontSize: 15, color: '#546779' }}&gt;理由 R1—R5 逐条登记&lt;/Text&gt;&#10;                &lt;/Box&gt;&#10;                &lt;Box style={{ height: 52, background: '#FFF4E6', borderRadius: 8, justifyContent: 'center', alignItems: 'center' }}&gt;&#10;                    &lt;Text style={{ fontSize: 15, fontWeight: 'bold', color: '#CB6B28' }}&gt;未形成一致意见&lt;/Text&gt;&#10;                &lt;/Box&gt;&#10;            &lt;/Box&gt;&#10;&#10;            &lt;Box style={{ width: 44, height: 300, justifyContent: 'center', alignItems: 'center' }}&gt;&#10;                &lt;Text style={{ fontSize: 26, color: '#276FBF' }}&gt;›&lt;/Text&gt;&#10;            &lt;/Box&gt;&#10;&#10;            &lt;Box style={{ width: 800, height: 300, flexDirection: 'column', gap: 12 }}&gt;&#10;                &lt;Box style={{ height: 92, background: '#ECF7F2', borderRadius: 8, flexDirection: 'row', alignItems: 'center', gap: 14, padding: '0 18px' }}&gt;&#10;                    &lt;Box style={{ width: 4, height: 52, background: '#26816B' }} /&gt;&#10;                    &lt;Box style={{ width: 96 }}&gt;&lt;Text style={{ fontSize: 18, fontWeight: 'bold', color: '#26816B' }}&gt;何澄&lt;/Text&gt;&lt;/Box&gt;&#10;                    &lt;Box style={{ flexDirection: 'column', gap: 4 }}&gt;&#10;                        &lt;Text style={{ fontSize: 16, fontWeight: 'bold', color: '#20344B' }}&gt;同意&lt;/Text&gt;&#10;                        &lt;Text style={{ fontSize: 14, color: '#546779' }}&gt;R1 准确保留&lt;/Text&gt;&#10;                    &lt;/Box&gt;&#10;                &lt;/Box&gt;&#10;                &lt;Box style={{ height: 92, background: '#ECF7F2', borderRadius: 8, flexDirection: 'row', alignItems: 'center', gap: 14, padding: '0 18px' }}&gt;&#10;                    &lt;Box style={{ width: 4, height: 52, background: '#26816B' }} /&gt;&#10;                    &lt;Box style={{ width: 96 }}&gt;&lt;Text style={{ fontSize: 18, fontWeight: 'bold', color: '#26816B' }}&gt;秦川&lt;/Text&gt;&lt;/Box&gt;&#10;                    &lt;Box style={{ flexDirection: 'column', gap: 4 }}&gt;&#10;                        &lt;Text style={{ fontSize: 16, fontWeight: 'bold', color: '#20344B' }}&gt;保留&lt;/Text&gt;&#10;                        &lt;Text style={{ fontSize: 14, color: '#546779' }}&gt;R2、R3 及具体保留事项记录准确&lt;/Text&gt;&#10;                    &lt;/Box&gt;&#10;                &lt;/Box&gt;&#10;                &lt;Box style={{ height: 92, background: '#FFF4E6', borderRadius: 8, flexDirection: 'row', alignItems: 'center', gap: 14, padding: '0 18px' }}&gt;&#10;                    &lt;Box style={{ width: 4, height: 52, background: '#CB6B28' }} /&gt;&#10;                    &lt;Box style={{ width: 96 }}&gt;&lt;Text style={{ fontSize: 18, fontWeight: 'bold', color: '#CB6B28' }}&gt;宋遥&lt;/Text&gt;&lt;/Box&gt;&#10;                    &lt;Box style={{ flexDirection: 'column', gap: 4 }}&gt;&#10;                        &lt;Text style={{ fontSize: 16, fontWeight: 'bold', color: '#CB6B28' }}&gt;反对&lt;/Text&gt;&#10;                        &lt;Text style={{ fontSize: 14, color: '#546779' }}&gt;R4 保留，R5「完整 60 分钟」遗漏&lt;/Text&gt;&#10;                    &lt;/Box&gt;&#10;                &lt;/Box&gt;&#10;            &lt;/Box&gt;&#10;&#10;        &lt;/Box&gt;&#10;&#10;        &lt;Box style={{ height: 130, flexDirection: 'row', gap: 12 }}&gt;&#10;            &lt;Box style={{ width: 276, height: 130, background: '#EDF4FC', borderRadius: 10, flexDirection: 'column', justifyContent: 'center', alignItems: 'center', gap: 6 }}&gt;&#10;                &lt;Text style={{ fontSize: 14, color: '#546779' }}&gt;理由准确纳入&lt;/Text&gt;&#10;                &lt;Text style={{ fontSize: 40, fontWeight: 'bold', color: '#276FBF', lineHeight: 1 }}&gt;4/5&lt;/Text&gt;&#10;                &lt;Text style={{ fontSize: 14, color: '#276FBF' }}&gt;＝ 80%&lt;/Text&gt;&#10;            &lt;/Box&gt;&#10;            &lt;Box style={{ width: 276, height: 130, background: '#ECF7F2', borderRadius: 10, flexDirection: 'column', justifyContent: 'center', alignItems: 'center', gap: 6 }}&gt;&#10;                &lt;Text style={{ fontSize: 14, color: '#546779' }}&gt;明确回应&lt;/Text&gt;&#10;                &lt;Text style={{ fontSize: 40, fontWeight: 'bold', color: '#26816B', lineHeight: 1 }}&gt;3/3&lt;/Text&gt;&#10;                &lt;Text style={{ fontSize: 14, color: '#26816B' }}&gt;＝ 100%&lt;/Text&gt;&#10;            &lt;/Box&gt;&#10;            &lt;Box style={{ width: 276, height: 130, background: '#F7F3E8', borderRadius: 10, flexDirection: 'column', justifyContent: 'center', alignItems: 'center', gap: 6 }}&gt;&#10;                &lt;Text style={{ fontSize: 14, color: '#546779' }}&gt;保留事项记录&lt;/Text&gt;&#10;                &lt;Text style={{ fontSize: 40, fontWeight: 'bold', color: '#546779', lineHeight: 1 }}&gt;1/2&lt;/Text&gt;&#10;                &lt;Text style={{ fontSize: 14, color: '#546779' }}&gt;＝ 50%&lt;/Text&gt;&#10;            &lt;/Box&gt;&#10;            &lt;Box style={{ width: 276, height: 130, background: '#FFF4E6', borderRadius: 10, flexDirection: 'column', justifyContent: 'center', alignItems: 'center', gap: 6 }}&gt;&#10;                &lt;Text style={{ fontSize: 14, color: '#546779' }}&gt;一致意见&lt;/Text&gt;&#10;                &lt;Text style={{ fontSize: 26, fontWeight: 'bold', color: '#CB6B28', lineHeight: 1.2 }}&gt;未形成&lt;/Text&gt;&#10;                &lt;Text style={{ fontSize: 14, color: '#CB6B28' }}&gt;不能写「大家基本同意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人工判分：全员回应，不等于理由完整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三人三支，走到三个结果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09600" y="1352550"/>
            <a:ext cx="1905000" cy="323850"/>
          </a:xfrm>
          <a:prstGeom prst="roundRect">
            <a:avLst>
              <a:gd name="adj" fmla="val 23529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09625" y="14287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人工构造，非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2647950" y="143827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4.6-3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语义重绘（示意）：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R1—R5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均已真实表达，最后候选为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D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09600" y="1828800"/>
            <a:ext cx="2476500" cy="285750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00100" y="225742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最终记录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800100" y="2581275"/>
            <a:ext cx="2095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038225" y="27432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候选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三人逐人征询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800100" y="3171825"/>
            <a:ext cx="2095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123950" y="3333750"/>
            <a:ext cx="145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理由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R1—R5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逐条登记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800100" y="3762375"/>
            <a:ext cx="2095500" cy="495300"/>
          </a:xfrm>
          <a:prstGeom prst="roundRect">
            <a:avLst>
              <a:gd name="adj" fmla="val 1538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352550" y="39243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未形成一致意见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257550" y="31051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3505200" y="182880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3676650" y="201930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848100" y="216217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何澄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895850" y="2076450"/>
            <a:ext cx="74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同意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895850" y="230505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准确保留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3505200" y="281940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3676650" y="300990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3848100" y="315277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秦川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895850" y="3067050"/>
            <a:ext cx="1971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保留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895850" y="3295650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R2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及具体保留事项记录准确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3505200" y="381000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3676650" y="400050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3848100" y="414337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宋遥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895850" y="4057650"/>
            <a:ext cx="2076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反对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895850" y="4286250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R5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「完整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分钟」遗漏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09600" y="4838700"/>
            <a:ext cx="26289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524000" y="50101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理由准确纳入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600200" y="5229225"/>
            <a:ext cx="657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4/5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695450" y="5743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＝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80%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3352800" y="4838700"/>
            <a:ext cx="26289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400550" y="5010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明确回应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343400" y="5229225"/>
            <a:ext cx="657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6816B"/>
                </a:solidFill>
                <a:latin typeface="Microsoft YaHei"/>
                <a:ea typeface="Microsoft YaHei"/>
              </a:rPr>
              <a:t>3/3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40055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＝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100%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096000" y="4838700"/>
            <a:ext cx="2628900" cy="1238250"/>
          </a:xfrm>
          <a:prstGeom prst="roundRect">
            <a:avLst>
              <a:gd name="adj" fmla="val 7692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010400" y="50101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保留事项记录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7086600" y="5229225"/>
            <a:ext cx="657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546779"/>
                </a:solidFill>
                <a:latin typeface="Microsoft YaHei"/>
                <a:ea typeface="Microsoft YaHei"/>
              </a:rPr>
              <a:t>1/2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7181850" y="5743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＝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50%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8839200" y="4838700"/>
            <a:ext cx="26289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9886950" y="50577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一致意见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9782175" y="5276850"/>
            <a:ext cx="742950" cy="3619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950" b="1">
                <a:solidFill>
                  <a:srgbClr val="CB6B28"/>
                </a:solidFill>
                <a:latin typeface="Microsoft YaHei"/>
                <a:ea typeface="Microsoft YaHei"/>
              </a:rPr>
              <a:t>未形成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420225" y="56959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不能写「大家基本同意」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62" name="" descr="&lt;Slide notes={`把三个人和三个指标摆在一起看，差别就出来了。&#10;理由准确纳入是五条里纳入了四条，百分之八十。明确回应是三个人都有明确态度，百分之百。保留事项记录是一半，因为秦川的保留事项记全了，宋遥的反对原因只写了「反对」，没有写完整理由。&#10;这里最重要的判断是最后一项：一致意见没有形成。&#10;为什么要单独说这一句？因为「全员回应」听起来很像「大家都同意」，但两者完全不同。三个人都对候选 D 表了态，不等于三个人都同意 D。&#10;准确把分歧留下来，本身就可以是一次记录质量很高的实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6　人工判分：全员回应，不等于理由完整&lt;/Text&gt;&#10;            &lt;Text style={{ fontSize: 34, fontWeight: 'bold', color: '#20344B' }}&gt;4/5、3/3、1/2&lt;/Text&gt;&#10;        &lt;/Box&gt;&#10;    &lt;/Box&gt;&#10;&#10;    &lt;Box style={{ height: 540, flexDirection: 'column', justifyContent: 'center' }}&gt;&#10;&#10;        &lt;Box style={{ height: 480, flexDirection: 'row', gap: 32 }}&gt;&#10;&#10;            &lt;Box style={{ width: 582, flexDirection: 'column', gap: 12, justifyContent: 'center' }}&gt;&#10;                &lt;Text style={{ fontSize: 22, fontWeight: 'bold', color: '#276FBF' }}&gt;三枚指标（人工材料）&lt;/Text&gt;&#10;&#10;                &lt;Box style={{ width: 582, height: 132, background: '#EDF4FC', borderRadius: 10, flexDirection: 'row', alignItems: 'center', gap: 20, padding: '0 22px' }}&gt;&#10;                    &lt;Box style={{ width: 4, height: 76, background: '#276FBF' }} /&gt;&#10;                    &lt;Box style={{ flexDirection: 'column', gap: 4 }}&gt;&#10;                        &lt;Text style={{ fontSize: 16, fontWeight: 'bold', color: '#20344B' }}&gt;理由准确纳入&lt;/Text&gt;&#10;                        &lt;Text style={{ fontSize: 13, color: '#546779' }}&gt;R5 遗漏，R1—R4 保留&lt;/Text&gt;&#10;                    &lt;/Box&gt;&#10;                    &lt;Box style={{ flex: 1, flexDirection: 'row', justifyContent: 'flex-end', alignItems: 'center', gap: 10 }}&gt;&#10;                        &lt;Text style={{ fontSize: 44, fontWeight: 'bold', color: '#276FBF', lineHeight: 1 }}&gt;4/5&lt;/Text&gt;&#10;                        &lt;Text style={{ fontSize: 16, color: '#276FBF' }}&gt;80%&lt;/Text&gt;&#10;                    &lt;/Box&gt;&#10;                &lt;/Box&gt;&#10;&#10;                &lt;Box style={{ width: 582, height: 132, background: '#ECF7F2', borderRadius: 10, flexDirection: 'row', alignItems: 'center', gap: 20, padding: '0 22px' }}&gt;&#10;                    &lt;Box style={{ width: 4, height: 76, background: '#26816B' }} /&gt;&#10;                    &lt;Box style={{ flexDirection: 'column', gap: 4 }}&gt;&#10;                        &lt;Text style={{ fontSize: 16, fontWeight: 'bold', color: '#20344B' }}&gt;明确回应&lt;/Text&gt;&#10;                        &lt;Text style={{ fontSize: 13, color: '#546779' }}&gt;三人都对 D 有明确态度&lt;/Text&gt;&#10;                    &lt;/Box&gt;&#10;                    &lt;Box style={{ flex: 1, flexDirection: 'row', justifyContent: 'flex-end', alignItems: 'center', gap: 10 }}&gt;&#10;                        &lt;Text style={{ fontSize: 44, fontWeight: 'bold', color: '#26816B', lineHeight: 1 }}&gt;3/3&lt;/Text&gt;&#10;                        &lt;Text style={{ fontSize: 16, color: '#26816B' }}&gt;100%&lt;/Text&gt;&#10;                    &lt;/Box&gt;&#10;                &lt;/Box&gt;&#10;&#10;                &lt;Box style={{ width: 582, height: 132, background: '#FFF4E6', borderRadius: 10, flexDirection: 'row', alignItems: 'center', gap: 20, padding: '0 22px' }}&gt;&#10;                    &lt;Box style={{ width: 4, height: 76, background: '#CB6B28' }} /&gt;&#10;                    &lt;Box style={{ flexDirection: 'column', gap: 4 }}&gt;&#10;                        &lt;Text style={{ fontSize: 16, fontWeight: 'bold', color: '#20344B' }}&gt;保留事项记录&lt;/Text&gt;&#10;                        &lt;Text style={{ fontSize: 13, color: '#546779' }}&gt;宋遥只写「反对」，未写完整原因&lt;/Text&gt;&#10;                    &lt;/Box&gt;&#10;                    &lt;Box style={{ flex: 1, flexDirection: 'row', justifyContent: 'flex-end', alignItems: 'center', gap: 10 }}&gt;&#10;                        &lt;Text style={{ fontSize: 44, fontWeight: 'bold', color: '#CB6B28', lineHeight: 1 }}&gt;1/2&lt;/Text&gt;&#10;                        &lt;Text style={{ fontSize: 16, color: '#CB6B28' }}&gt;50%&lt;/Text&gt;&#10;                    &lt;/Box&gt;&#10;                &lt;/Box&gt;&#10;            &lt;/Box&gt;&#10;&#10;            &lt;Box style={{ width: 538, flexDirection: 'column', gap: 12, justifyContent: 'center' }}&gt;&#10;                &lt;Text style={{ fontSize: 22, fontWeight: 'bold', color: '#CB6B28' }}&gt;一致意见：没有形成&lt;/Text&gt;&#10;                &lt;Box style={{ width: 538, height: 240, background: '#FFF4E6', borderRadius: 12, padding: '22px 24px', flexDirection: 'column', gap: 10, justifyContent: 'center' }}&gt;&#10;                    &lt;Text style={{ fontSize: 44, fontWeight: 'bold', color: '#CB6B28', lineHeight: 1.1 }}&gt;未形成一致意见&lt;/Text&gt;&#10;                    &lt;Text style={{ fontSize: 16, color: '#20344B', lineHeight: 1.6 }}&gt;三人对同一候选没有全部明确同意：秦川保留，宋遥反对。&lt;/Text&gt;&#10;                    &lt;Text style={{ fontSize: 15, color: '#546779', lineHeight: 1.6 }}&gt;分歧可以被准确记录；「全员回应」不能改写为「全员同意」。&lt;/Text&gt;&#10;                &lt;/Box&gt;&#10;                &lt;Text style={{ fontSize: 15, color: '#546779', lineHeight: 1.6 }}&gt;回应完整、理由准确、分歧保留，是三件必须分开报的事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6 公共议题协商　·　人工构造，非 Run 结果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人工判分：全员回应，不等于理由完整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05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4/5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3/3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1/2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09600" y="1533525"/>
            <a:ext cx="5543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三枚指标（人工材料）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609600" y="1905000"/>
            <a:ext cx="554355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9" name=""/>
          <p:cNvSpPr/>
          <p:nvPr/>
        </p:nvSpPr>
        <p:spPr>
          <a:xfrm rot="0" flipH="0" flipV="0">
            <a:off x="819150" y="2171700"/>
            <a:ext cx="38100" cy="723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047750" y="23431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理由准确纳入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047750" y="257175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R5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遗漏，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R1—R4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保留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810125" y="2286000"/>
            <a:ext cx="7239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>4/5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629275" y="244792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80%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09600" y="3276600"/>
            <a:ext cx="5543550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819150" y="3543300"/>
            <a:ext cx="38100" cy="7239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047750" y="3714750"/>
            <a:ext cx="1285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明确回应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047750" y="3943350"/>
            <a:ext cx="1285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三人都对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D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有明确态度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714875" y="3657600"/>
            <a:ext cx="7239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6816B"/>
                </a:solidFill>
                <a:latin typeface="Microsoft YaHei"/>
                <a:ea typeface="Microsoft YaHei"/>
              </a:rPr>
              <a:t>3/3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5534025" y="3819525"/>
            <a:ext cx="409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09600" y="4648200"/>
            <a:ext cx="554355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819150" y="4914900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047750" y="5086350"/>
            <a:ext cx="1857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保留事项记录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047750" y="531495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宋遥只写「反对」，未写完整原因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4810125" y="5029200"/>
            <a:ext cx="7239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B6B28"/>
                </a:solidFill>
                <a:latin typeface="Microsoft YaHei"/>
                <a:ea typeface="Microsoft YaHei"/>
              </a:rPr>
              <a:t>1/2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629275" y="519112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50%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457950" y="2190750"/>
            <a:ext cx="5124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一致意见：没有形成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457950" y="2562225"/>
            <a:ext cx="5124450" cy="2286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686550" y="3048000"/>
            <a:ext cx="4667250" cy="5619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3300" b="1">
                <a:solidFill>
                  <a:srgbClr val="CB6B28"/>
                </a:solidFill>
                <a:latin typeface="Microsoft YaHei"/>
                <a:ea typeface="Microsoft YaHei"/>
              </a:rPr>
              <a:t>未形成一致意见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686550" y="3705225"/>
            <a:ext cx="4667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三人对同一候选没有全部明确同意：秦川保留，宋遥反对。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686550" y="4095750"/>
            <a:ext cx="4667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分歧可以被准确记录；「全员回应」不能改写为「全员同意」。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457950" y="4962525"/>
            <a:ext cx="51244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回应完整、理由准确、分歧保留，是三件必须分开报的事。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　·　人工构造，非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25" name="" descr="&lt;Slide notes={`有一种写法看起来很圆满，但它是另一个结论歪曲：写「大家基本同意 D」。&#10;这句话错在哪里？三个人并没有对 D 都明确同意。何澄同意，秦川因为不能口头交流而保留，宋遥因为不能完整参加而反对。把他们写成「基本同意」，等于把两条真实的分歧抹掉了。&#10;正确的改法有三条。第一，逐个写清每个人的实际态度，谁同意、谁保留、谁反对。第二，写清保留和反对的具体原因，尽量保留原话。第三，如果最后没有可接受的方案，就照实写没有，不要补一个看起来体面的结论。&#10;要记住：准确留下全部分歧、没有达成方案，本身也可以是较高的记录质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6　人工判分：全员回应，不等于理由完整&lt;/Text&gt;&#10;            &lt;Text style={{ fontSize: 34, fontWeight: 'bold', color: '#20344B' }}&gt;「大家基本同意」是另一个歪曲&lt;/Text&gt;&#10;        &lt;/Box&gt;&#10;    &lt;/Box&gt;&#10;&#10;    &lt;Box style={{ height: 540, flexDirection: 'column', justifyContent: 'center', gap: 20 }}&gt;&#10;&#10;        &lt;Box style={{ height: 400, flexDirection: 'row', gap: 32 }}&gt;&#10;&#10;            &lt;Box style={{ width: 504, flexDirection: 'column', gap: 12, justifyContent: 'center' }}&gt;&#10;                &lt;Text style={{ fontSize: 22, fontWeight: 'bold', color: '#CB6B28' }}&gt;不能这样写&lt;/Text&gt;&#10;                &lt;Box style={{ width: 504, height: 300, background: '#FFF4E6', borderRadius: 12, padding: '20px 22px', flexDirection: 'column', gap: 12, justifyContent: 'center' }}&gt;&#10;                    &lt;Box style={{ width: 132, height: 30, background: '#CB6B28', borderRadius: 8, justifyContent: 'center', alignItems: 'center' }}&gt;&#10;                        &lt;Text style={{ fontSize: 14, fontWeight: 'bold', color: '#FFFFFF' }}&gt;错误写法&lt;/Text&gt;&#10;                    &lt;/Box&gt;&#10;                    &lt;Text style={{ fontSize: 26, fontWeight: 'bold', color: '#CB6B28', lineHeight: 1.3 }}&gt;「大家基本同意 D」&lt;/Text&gt;&#10;                    &lt;Text style={{ fontSize: 15, color: '#20344B', lineHeight: 1.6 }}&gt;三人并未对 D 全部明确同意：秦川保留、宋遥反对；这句话把两条真实分歧抹平了。&lt;/Text&gt;&#10;                    &lt;Text style={{ fontSize: 14, color: '#546779', lineHeight: 1.6 }}&gt;记录看起来圆满了，结论却不再对应真实发生过的回应。&lt;/Text&gt;&#10;                &lt;/Box&gt;&#10;            &lt;/Box&gt;&#10;&#10;            &lt;Box style={{ width: 616, flexDirection: 'column', gap: 12, justifyContent: 'center' }}&gt;&#10;                &lt;Text style={{ fontSize: 22, fontWeight: 'bold', color: '#276FBF' }}&gt;应该怎样改写&lt;/Text&gt;&#10;                &lt;Box style={{ height: 92, background: '#F4F7FA', borderRadius: 8, flexDirection: 'row', alignItems: 'center', gap: 14, padding: '0 18px' }}&gt;&#10;                    &lt;Box style={{ width: 4, height: 52, background: '#276FBF' }} /&gt;&#10;                    &lt;Text style={{ fontSize: 15, color: '#20344B', lineHeight: 1.5 }}&gt;逐个写清每个人的实际态度：同意、保留还是反对&lt;/Text&gt;&#10;                &lt;/Box&gt;&#10;                &lt;Box style={{ height: 92, background: '#F4F7FA', borderRadius: 8, flexDirection: 'row', alignItems: 'center', gap: 14, padding: '0 18px' }}&gt;&#10;                    &lt;Box style={{ width: 4, height: 52, background: '#CB6B28' }} /&gt;&#10;                    &lt;Text style={{ fontSize: 15, color: '#20344B', lineHeight: 1.5 }}&gt;写清保留与反对的具体原因，尽量保留原话与硬条件&lt;/Text&gt;&#10;                &lt;/Box&gt;&#10;                &lt;Box style={{ height: 92, background: '#EDF4FC', borderRadius: 8, flexDirection: 'row', alignItems: 'center', gap: 14, padding: '0 18px' }}&gt;&#10;                    &lt;Box style={{ width: 4, height: 52, background: '#276FBF' }} /&gt;&#10;                    &lt;Text style={{ fontSize: 15, color: '#20344B', lineHeight: 1.5 }}&gt;没有可接受方案就照实写没有，不补一个体面的结论&lt;/Text&gt;&#10;                &lt;/Box&gt;&#10;            &lt;/Box&gt;&#10;&#10;        &lt;/Box&gt;&#10;&#10;        &lt;Box style={{ height: 96, background: '#F4F7FA', borderRadius: 10, flexDirection: 'row', alignItems: 'center', gap: 18, padding: '0 22px' }}&gt;&#10;            &lt;Box style={{ width: 4, height: 60, background: '#26816B' }} /&gt;&#10;            &lt;Text style={{ fontSize: 16, color: '#546779', lineHeight: 1.6, flex: 1 }}&gt;准确留下全部分歧、没有达成可接受方案，本身也可以是较高记录质量；一致意见的有无，与记录质量高低是两件事。&lt;/Text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人工判分：全员回应，不等于理由完整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「大家基本同意」是另一个歪曲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09600" y="1552575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不能这样写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609600" y="1924050"/>
            <a:ext cx="4800600" cy="285750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819150" y="2438400"/>
            <a:ext cx="1257300" cy="285750"/>
          </a:xfrm>
          <a:prstGeom prst="roundRect">
            <a:avLst>
              <a:gd name="adj" fmla="val 2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181100" y="25050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错误写法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19150" y="2838450"/>
            <a:ext cx="43815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CB6B28"/>
                </a:solidFill>
                <a:latin typeface="Microsoft YaHei"/>
                <a:ea typeface="Microsoft YaHei"/>
              </a:rPr>
              <a:t>「大家基本同意</a:t>
            </a:r>
            <a:r>
              <a:rPr lang="en-US" sz="19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D</a:t>
            </a:r>
            <a:r>
              <a:rPr lang="zh-CN" sz="1950" b="1">
                <a:solidFill>
                  <a:srgbClr val="CB6B28"/>
                </a:solidFill>
                <a:latin typeface="Microsoft YaHei"/>
                <a:ea typeface="Microsoft YaHei"/>
              </a:rPr>
              <a:t>」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19150" y="3343275"/>
            <a:ext cx="4381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三人并未对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D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全部明确同意：秦川保留、宋遥反对；这句话把两条真实分歧抹平了。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19150" y="4010025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记录看起来圆满了，结论却不再对应真实发生过的回应。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715000" y="1552575"/>
            <a:ext cx="5867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应该怎样改写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5715000" y="1924050"/>
            <a:ext cx="58674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9" name=""/>
          <p:cNvSpPr/>
          <p:nvPr/>
        </p:nvSpPr>
        <p:spPr>
          <a:xfrm rot="0" flipH="0" flipV="0">
            <a:off x="5886450" y="21145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057900" y="223837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逐个写清每个人的实际态度：同意、保留还是反对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5715000" y="2914650"/>
            <a:ext cx="5867400" cy="87630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5886450" y="310515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057900" y="3228975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写清保留与反对的具体原因，尽量保留原话与硬条件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5715000" y="3905250"/>
            <a:ext cx="58674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5886450" y="40957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057900" y="4219575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没有可接受方案就照实写没有，不补一个体面的结论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09600" y="52578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819150" y="542925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028700" y="557212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准确留下全部分歧、没有达成可接受方案，本身也可以是较高记录质量；一致意见的有无，与记录质量高低是两件事。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52" name="" descr="&lt;Slide notes={`如果对照组还是漏掉了理由，可以从这几个方向去查。&#10;第一，方法有没有真的执行：有没有等到本人的回复？复述的时候是不是已经把自己的理解带偏了？定稿那一遍是不是又把硬条件删掉了？&#10;第二，宋遥没有回应怎么办：如实登记在哪个阶段、缺口是什么，绝不能推断他默认接受。&#10;第三，如果记录里写着收到了对 B 的同意，定稿却成了 D，那说明中间改了候选却没有重新征询，态度被移用了。&#10;第四，Run 的状态显示 COMPLETED，只说明执行结束。它不代表大家达成了共识，也不代表这个决定在现实中有效。&#10;查这些问题的方向是方法有没有做到，而不是结果好不好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7　失败解释与练习&lt;/Text&gt;&#10;            &lt;Text style={{ fontSize: 34, fontWeight: 'bold', color: '#20344B' }}&gt;失败解释四问&lt;/Text&gt;&#10;        &lt;/Box&gt;&#10;    &lt;/Box&gt;&#10;&#10;    &lt;Box style={{ height: 540, flexDirection: 'column', justifyContent: 'center', gap: 16 }}&gt;&#10;&#10;        &lt;Box style={{ height: 380, background: '#F4F7FA', borderRadius: 10, padding: '0 20px', flexDirection: 'column', gap: 8, justifyContent: 'center' }}&gt;&#10;&#10;            &lt;Box style={{ height: 30, flexDirection: 'row', alignItems: 'center', gap: 14 }}&gt;&#10;                &lt;Box style={{ width: 4 }} /&gt;&#10;                &lt;Box style={{ width: 240 }}&gt;&lt;Text style={{ fontSize: 15, fontWeight: 'bold', color: '#546779' }}&gt;问题&lt;/Text&gt;&lt;/Box&gt;&#10;                &lt;Box style={{ flex: 1 }}&gt;&lt;Text style={{ fontSize: 15, fontWeight: 'bold', color: '#546779' }}&gt;解释要点&lt;/Text&gt;&lt;/Box&gt;&#10;            &lt;/Box&gt;&#10;&#10;            &lt;Box style={{ height: 76, background: '#FFFFFF', borderRadius: 8, flexDirection: 'row', alignItems: 'center', gap: 14, padding: '0 14px' }}&gt;&#10;                &lt;Box style={{ width: 4, height: 44, background: '#276FBF' }} /&gt;&#10;                &lt;Box style={{ width: 240 }}&gt;&lt;Text style={{ fontSize: 16, fontWeight: 'bold', color: '#20344B' }}&gt;对照仍遗漏&lt;/Text&gt;&lt;/Box&gt;&#10;                &lt;Box style={{ flex: 1 }}&gt;&lt;Text style={{ fontSize: 15, color: '#546779', lineHeight: 1.5 }}&gt;是否等到回复？复述是否已带偏？定稿是否又删硬条件？&lt;/Text&gt;&lt;/Box&gt;&#10;            &lt;/Box&gt;&#10;&#10;            &lt;Box style={{ height: 76, background: '#FFFFFF', borderRadius: 8, flexDirection: 'row', alignItems: 'center', gap: 14, padding: '0 14px' }}&gt;&#10;                &lt;Box style={{ width: 4, height: 44, background: '#CB6B28' }} /&gt;&#10;                &lt;Box style={{ width: 240 }}&gt;&lt;Text style={{ fontSize: 16, fontWeight: 'bold', color: '#20344B' }}&gt;宋遥未回应&lt;/Text&gt;&lt;/Box&gt;&#10;                &lt;Box style={{ flex: 1 }}&gt;&lt;Text style={{ fontSize: 15, color: '#546779', lineHeight: 1.5 }}&gt;登记阶段与缺口，不推断默认接受&lt;/Text&gt;&lt;/Box&gt;&#10;            &lt;/Box&gt;&#10;&#10;            &lt;Box style={{ height: 76, background: '#FFFFFF', borderRadius: 8, flexDirection: 'row', alignItems: 'center', gap: 14, padding: '0 14px' }}&gt;&#10;                &lt;Box style={{ width: 4, height: 44, background: '#CB6B28' }} /&gt;&#10;                &lt;Box style={{ width: 240 }}&gt;&lt;Text style={{ fontSize: 16, fontWeight: 'bold', color: '#20344B' }}&gt;收到 B 同意，定稿成 D&lt;/Text&gt;&lt;/Box&gt;&#10;                &lt;Box style={{ flex: 1 }}&gt;&lt;Text style={{ fontSize: 15, color: '#546779', lineHeight: 1.5 }}&gt;应重新征询，不能移用对旧候选的态度&lt;/Text&gt;&lt;/Box&gt;&#10;            &lt;/Box&gt;&#10;&#10;            &lt;Box style={{ height: 76, background: '#FFFFFF', borderRadius: 8, flexDirection: 'row', alignItems: 'center', gap: 14, padding: '0 14px' }}&gt;&#10;                &lt;Box style={{ width: 4, height: 44, background: '#CB6B28' }} /&gt;&#10;                &lt;Box style={{ width: 240 }}&gt;&lt;Text style={{ fontSize: 16, fontWeight: 'bold', color: '#CB6B28' }}&gt;Run 为 COMPLETED&lt;/Text&gt;&lt;/Box&gt;&#10;                &lt;Box style={{ flex: 1 }}&gt;&lt;Text style={{ fontSize: 15, color: '#546779', lineHeight: 1.5 }}&gt;仅执行结束，不代表共识或现实决策有效&lt;/Text&gt;&lt;/Box&gt;&#10;            &lt;/Box&gt;&#10;&#10;        &lt;/Box&gt;&#10;&#10;        &lt;Box style={{ height: 84, background: '#EDF4FC', borderRadius: 10, flexDirection: 'row', alignItems: 'center', gap: 18, padding: '0 22px' }}&gt;&#10;            &lt;Box style={{ width: 4, height: 54, background: '#276FBF' }} /&gt;&#10;            &lt;Text style={{ fontSize: 16, color: '#546779', lineHeight: 1.6, flex: 1 }}&gt;四个问题指向的都是方法有没有做到，而不是结果好不好看；执行完成、达成共识、决策在现实中有效，是三件不同的事。&lt;/Text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失败解释与练习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失败解释四问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09600" y="1428750"/>
            <a:ext cx="10972800" cy="3619500"/>
          </a:xfrm>
          <a:prstGeom prst="roundRect">
            <a:avLst>
              <a:gd name="adj" fmla="val 263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971550" y="1552575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问题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3390900" y="1552575"/>
            <a:ext cx="800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解释要点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800100" y="1857375"/>
            <a:ext cx="105918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933450" y="20097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104900" y="212407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对照仍遗漏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3524250" y="2095500"/>
            <a:ext cx="7734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是否等到回复？复述是否已带偏？定稿是否又删硬条件？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800100" y="2657475"/>
            <a:ext cx="105918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933450" y="28098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104900" y="292417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宋遥未回应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3524250" y="2895600"/>
            <a:ext cx="7734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登记阶段与缺口，不推断默认接受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800100" y="3457575"/>
            <a:ext cx="105918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933450" y="36099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104900" y="372427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收到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同意，定稿成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D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3524250" y="3695700"/>
            <a:ext cx="7734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应重新征询，不能移用对旧候选的态度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800100" y="4257675"/>
            <a:ext cx="105918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933450" y="44100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104900" y="452437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为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COMPLETED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3524250" y="4495800"/>
            <a:ext cx="7734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仅执行结束，不代表共识或现实决策有效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609600" y="52006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7" name=""/>
          <p:cNvSpPr/>
          <p:nvPr/>
        </p:nvSpPr>
        <p:spPr>
          <a:xfrm rot="0" flipH="0" flipV="0">
            <a:off x="819150" y="5343525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028700" y="545782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四个问题指向的都是方法有没有做到，而不是结果好不好看；执行完成、达成共识、决策在现实中有效，是三件不同的事。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81" name="" descr="&lt;Slide notes={`最后这个练习很实际：三种回应必须分开登记，不能合成一类。&#10;有人可能说「同意 D，但希望将来能交流」，这是同意加上一个额外期望，两件事都要写下来。有人可能说「对 D 仍保留」，这是保留，不是同意。还有人干脆没有回答，那就记未回答，不能算作默认接受。&#10;也不能把偏好和担忧混成错误事实。比如「更喜欢交流」是偏好，「担心太晚影响休息」是理由和担忧，它们和「说场地能容纳三十人」这种事实性错误不一样。&#10;再练一个改写：把何澄的「二十点后需要安静」写成「不愿参加」，就同时丢掉了时间范围和真实意愿——他的原话是不反对二十点以前的交谈或静默活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7　失败解释与练习&lt;/Text&gt;&#10;            &lt;Text style={{ fontSize: 34, fontWeight: 'bold', color: '#20344B' }}&gt;练习：三种回应不能合成一类&lt;/Text&gt;&#10;        &lt;/Box&gt;&#10;    &lt;/Box&gt;&#10;&#10;    &lt;Box style={{ height: 540, flexDirection: 'column', justifyContent: 'center', gap: 20 }}&gt;&#10;&#10;        &lt;Box style={{ height: 380, flexDirection: 'row', gap: 32 }}&gt;&#10;&#10;            &lt;Box style={{ width: 452, flexDirection: 'column', gap: 10 }}&gt;&#10;                &lt;Box style={{ width: 452, height: 40, background: '#20344B', borderRadius: 8, flexDirection: 'row', alignItems: 'center', justifyContent: 'space-between', padding: '0 16px' }}&gt;&#10;                    &lt;Text style={{ fontSize: 16, fontWeight: 'bold', color: '#FFFFFF' }}&gt;发言记录　·　原样&lt;/Text&gt;&#10;                    &lt;Text style={{ fontSize: 13, color: '#B5C7D8' }}&gt;示意&lt;/Text&gt;&#10;                &lt;/Box&gt;&#10;                &lt;Box style={{ height: 100, background: '#EDF4FC', borderRadius: 8, flexDirection: 'row', alignItems: 'center', gap: 12, padding: '0 16px' }}&gt;&#10;                    &lt;Box style={{ width: 4, height: 56, background: '#276FBF' }} /&gt;&#10;                    &lt;Text style={{ fontSize: 15, color: '#20344B', lineHeight: 1.5 }}&gt;「同意 D，但希望将来能交流」&lt;/Text&gt;&#10;                &lt;/Box&gt;&#10;                &lt;Box style={{ height: 100, background: '#FFF4E6', borderRadius: 8, flexDirection: 'row', alignItems: 'center', gap: 12, padding: '0 16px' }}&gt;&#10;                    &lt;Box style={{ width: 4, height: 56, background: '#CB6B28' }} /&gt;&#10;                    &lt;Text style={{ fontSize: 15, color: '#20344B', lineHeight: 1.5 }}&gt;「对 D 仍保留」&lt;/Text&gt;&#10;                &lt;/Box&gt;&#10;                &lt;Box style={{ height: 100, background: '#F4F7FA', borderRadius: 8, flexDirection: 'row', alignItems: 'center', gap: 12, padding: '0 16px' }}&gt;&#10;                    &lt;Box style={{ width: 4, height: 56, background: '#B5C7D8' }} /&gt;&#10;                    &lt;Text style={{ fontSize: 15, color: '#546779', lineHeight: 1.5 }}&gt;（未回答）&lt;/Text&gt;&#10;                &lt;/Box&gt;&#10;            &lt;/Box&gt;&#10;&#10;            &lt;Box style={{ width: 668, flexDirection: 'column', gap: 10, justifyContent: 'center' }}&gt;&#10;                &lt;Text style={{ fontSize: 22, fontWeight: 'bold', color: '#276FBF' }}&gt;分开登记的三条要求&lt;/Text&gt;&#10;                &lt;Box style={{ height: 100, background: '#F4F7FA', borderRadius: 8, flexDirection: 'row', alignItems: 'center', gap: 14, padding: '0 18px' }}&gt;&#10;                    &lt;Box style={{ width: 4, height: 56, background: '#276FBF' }} /&gt;&#10;                    &lt;Text style={{ fontSize: 15, color: '#20344B', lineHeight: 1.5 }}&gt;同意与附带期望分两处写，不能只留一句「同意」&lt;/Text&gt;&#10;                &lt;/Box&gt;&#10;                &lt;Box style={{ height: 100, background: '#F4F7FA', borderRadius: 8, flexDirection: 'row', alignItems: 'center', gap: 14, padding: '0 18px' }}&gt;&#10;                    &lt;Box style={{ width: 4, height: 56, background: '#CB6B28' }} /&gt;&#10;                    &lt;Text style={{ fontSize: 15, color: '#20344B', lineHeight: 1.5 }}&gt;未回答记为未回应，不推断为默认接受&lt;/Text&gt;&#10;                &lt;/Box&gt;&#10;                &lt;Box style={{ height: 100, background: '#F4F7FA', borderRadius: 8, flexDirection: 'row', alignItems: 'center', gap: 14, padding: '0 18px' }}&gt;&#10;                    &lt;Box style={{ width: 4, height: 56, background: '#26816B' }} /&gt;&#10;                    &lt;Text style={{ fontSize: 15, color: '#20344B', lineHeight: 1.5 }}&gt;偏好与担忧不判为错误事实，事实性错误另算一类&lt;/Text&gt;&#10;                &lt;/Box&gt;&#10;            &lt;/Box&gt;&#10;&#10;        &lt;/Box&gt;&#10;&#10;        &lt;Box style={{ height: 96, background: '#FFF4E6', borderRadius: 10, flexDirection: 'row', alignItems: 'center', gap: 18, padding: '0 22px' }}&gt;&#10;            &lt;Box style={{ width: 4, height: 60, background: '#CB6B28' }} /&gt;&#10;            &lt;Text style={{ fontSize: 16, color: '#546779', lineHeight: 1.6, flex: 1 }}&gt;把何澄「20 点后需要安静」写成「不愿参加」，同时丢掉了时间范围与真实意愿；他的原话是不反对 20 点前的交谈或静默活动。&lt;/Text&gt;&#10;        &lt;/Box&gt;&#10;&#10;    &lt;/Box&gt;&#10;&#10;    &lt;Box style={{ height: 40, flexDirection: 'row', justifyContent: 'space-between', alignItems: 'center' }}&gt;&#10;        &lt;Text style={{ fontSize: 14, color: '#546779' }}&gt;4.6 公共议题协商　·　发言记录为示意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失败解释与练习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练习：三种回应不能合成一类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609600" y="1352550"/>
            <a:ext cx="4305300" cy="381000"/>
          </a:xfrm>
          <a:prstGeom prst="roundRect">
            <a:avLst>
              <a:gd name="adj" fmla="val 20000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62000" y="14478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发言记录　·　原样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4514850" y="14668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609600" y="1828800"/>
            <a:ext cx="43053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762000" y="20383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14400" y="2181225"/>
            <a:ext cx="2009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「同意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D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，但希望将来能交流」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09600" y="2876550"/>
            <a:ext cx="4305300" cy="95250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762000" y="30861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914400" y="3228975"/>
            <a:ext cx="10572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「对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D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仍保留」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609600" y="3924300"/>
            <a:ext cx="43053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762000" y="4133850"/>
            <a:ext cx="38100" cy="5334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914400" y="4276725"/>
            <a:ext cx="714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（未回答）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5219700" y="1466850"/>
            <a:ext cx="6362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分开登记的三条要求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5219700" y="1819275"/>
            <a:ext cx="63627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5391150" y="20288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562600" y="21717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同意与附带期望分两处写，不能只留一句「同意」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5219700" y="2867025"/>
            <a:ext cx="63627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5391150" y="30765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5562600" y="3219450"/>
            <a:ext cx="2428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未回答记为未回应，不推断为默认接受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5219700" y="3914775"/>
            <a:ext cx="63627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6" name=""/>
          <p:cNvSpPr/>
          <p:nvPr/>
        </p:nvSpPr>
        <p:spPr>
          <a:xfrm rot="0" flipH="0" flipV="0">
            <a:off x="5391150" y="4124325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5562600" y="42672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偏好与担忧不判为错误事实，事实性错误另算一类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09600" y="51625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9" name=""/>
          <p:cNvSpPr/>
          <p:nvPr/>
        </p:nvSpPr>
        <p:spPr>
          <a:xfrm rot="0" flipH="0" flipV="0">
            <a:off x="819150" y="53340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028700" y="547687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把何澄「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点后需要安静」写成「不愿参加」，同时丢掉了时间范围与真实意愿；他的原话是不反对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点前的交谈或静默活动。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　·　发言记录为示意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513" name="" descr="&lt;Slide notes={`把整条证据连接起来看，从理由原文一直到最后记录，一共六步。&#10;第一步是理由原文，也就是真实说出来的 R1 到 R5，没说过的不算。第二步是场地回复，这部分来自说明牌，它只答共同事实。第三步是候选版本，要写清编号、时间和模式。第四步是复述及修正，由本人确认或者纠正。第五步是明确态度，同意、保留还是反对。第六步才是最终记录，里面要有理由、回应和分歧。&#10;如果你是从结果页回头找证据的，先顺着「Agent、人物、对话」找到摘要，再逐条核对参与者、顺序和全文。&#10;私人总结只能帮你定位，它不能替代公开记录，这一点必须在报告里写清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6.6　证据连接与结果页入口&lt;/Text&gt;&#10;            &lt;Text style={{ fontSize: 34, fontWeight: 'bold', color: '#20344B' }}&gt;从理由原文到最终记录&lt;/Text&gt;&#10;        &lt;/Box&gt;&#10;    &lt;/Box&gt;&#10;&#10;    &lt;Box style={{ height: 540, flexDirection: 'column', justifyContent: 'center', gap: 16 }}&gt;&#10;&#10;        &lt;Text style={{ fontSize: 14, color: '#546779' }}&gt;六步证据链（示意）：每一步都要求真实回复，缺一步就不能进入下一步&lt;/Text&gt;&#10;&#10;        &lt;Box style={{ height: 110, flexDirection: 'row' }}&gt;&#10;            &lt;Box style={{ width: 154, height: 110, background: '#EDF4FC', borderRadius: 8, flexDirection: 'column', justifyContent: 'center', alignItems: 'center', gap: 6, padding: '0 10px' }}&gt;&#10;                &lt;Text style={{ fontSize: 15, fontWeight: 'bold', color: '#276FBF' }}&gt;理由原文&lt;/Text&gt;&#10;                &lt;Text style={{ fontSize: 12, color: '#546779', lineHeight: 1.4 }}&gt;真实说出的 R 项&lt;/Text&gt;&#10;            &lt;/Box&gt;&#10;            &lt;Box style={{ width: 44, height: 110, justifyContent: 'center', alignItems: 'center' }}&gt;&#10;                &lt;Text style={{ fontSize: 26, color: '#276FBF' }}&gt;›&lt;/Text&gt;&#10;            &lt;/Box&gt;&#10;            &lt;Box style={{ width: 154, height: 110, background: '#F7F3E8', borderRadius: 8, flexDirection: 'column', justifyContent: 'center', alignItems: 'center', gap: 6, padding: '0 10px' }}&gt;&#10;                &lt;Text style={{ fontSize: 15, fontWeight: 'bold', color: '#546779' }}&gt;场地回复&lt;/Text&gt;&#10;                &lt;Text style={{ fontSize: 12, color: '#546779', lineHeight: 1.4 }}&gt;对象只答共同事实&lt;/Text&gt;&#10;            &lt;/Box&gt;&#10;            &lt;Box style={{ width: 44, height: 110, justifyContent: 'center', alignItems: 'center' }}&gt;&#10;                &lt;Text style={{ fontSize: 26, color: '#276FBF' }}&gt;›&lt;/Text&gt;&#10;            &lt;/Box&gt;&#10;            &lt;Box style={{ width: 154, height: 110, background: '#F7F3E8', borderRadius: 8, flexDirection: 'column', justifyContent: 'center', alignItems: 'center', gap: 6, padding: '0 10px' }}&gt;&#10;                &lt;Text style={{ fontSize: 15, fontWeight: 'bold', color: '#546779' }}&gt;候选版本&lt;/Text&gt;&#10;                &lt;Text style={{ fontSize: 12, color: '#546779', lineHeight: 1.4 }}&gt;编号、时间与模式&lt;/Text&gt;&#10;            &lt;/Box&gt;&#10;            &lt;Box style={{ width: 44, height: 110, justifyContent: 'center', alignItems: 'center' }}&gt;&#10;                &lt;Text style={{ fontSize: 26, color: '#26816B' }}&gt;›&lt;/Text&gt;&#10;            &lt;/Box&gt;&#10;            &lt;Box style={{ width: 154, height: 110, background: '#ECF7F2', borderRadius: 8, flexDirection: 'column', justifyContent: 'center', alignItems: 'center', gap: 6, padding: '0 10px' }}&gt;&#10;                &lt;Text style={{ fontSize: 15, fontWeight: 'bold', color: '#26816B' }}&gt;复述及修正&lt;/Text&gt;&#10;                &lt;Text style={{ fontSize: 12, color: '#546779', lineHeight: 1.4 }}&gt;本人确认或纠正&lt;/Text&gt;&#10;            &lt;/Box&gt;&#10;            &lt;Box style={{ width: 44, height: 110, justifyContent: 'center', alignItems: 'center' }}&gt;&#10;                &lt;Text style={{ fontSize: 26, color: '#276FBF' }}&gt;›&lt;/Text&gt;&#10;            &lt;/Box&gt;&#10;            &lt;Box style={{ width: 154, height: 110, background: '#EDF4FC', borderRadius: 8, flexDirection: 'column', justifyContent: 'center', alignItems: 'center', gap: 6, padding: '0 10px' }}&gt;&#10;                &lt;Text style={{ fontSize: 15, fontWeight: 'bold', color: '#276FBF' }}&gt;明确态度&lt;/Text&gt;&#10;                &lt;Text style={{ fontSize: 12, color: '#546779', lineHeight: 1.4 }}&gt;同意／保留／反对&lt;/Text&gt;&#10;            &lt;/Box&gt;&#10;            &lt;Box style={{ width: 44, height: 110, justifyContent: 'center', alignItems: 'center' }}&gt;&#10;                &lt;Text style={{ fontSize: 26, color: '#276FBF' }}&gt;›&lt;/Text&gt;&#10;            &lt;/Box&gt;&#10;            &lt;Box style={{ width: 154, height: 110, background: '#EDF4FC', borderRadius: 8, flexDirection: 'column', justifyContent: 'center', alignItems: 'center', gap: 6, padding: '0 10px' }}&gt;&#10;                &lt;Text style={{ fontSize: 15, fontWeight: 'bold', color: '#276FBF' }}&gt;最终记录&lt;/Text&gt;&#10;                &lt;Text style={{ fontSize: 12, color: '#546779', lineHeight: 1.4 }}&gt;理由、回应与分歧&lt;/Text&gt;&#10;            &lt;/Box&gt;&#10;        &lt;/Box&gt;&#10;&#10;        &lt;Box style={{ height: 100, background: '#EDF4FC', borderRadius: 10, flexDirection: 'row', alignItems: 'center', gap: 18, padding: '0 22px' }}&gt;&#10;            &lt;Box style={{ width: 4, height: 60, background: '#276FBF' }} /&gt;&#10;            &lt;Text style={{ fontSize: 16, color: '#546779', lineHeight: 1.6, flex: 1 }}&gt;从结果页回查时，先按「Agent → 人物 → 对话」找到摘要，再逐条核对参与者、顺序与全文；摘要只用来定位。&lt;/Text&gt;&#10;        &lt;/Box&gt;&#10;&#10;        &lt;Box style={{ height: 100, background: '#FFF4E6', borderRadius: 10, flexDirection: 'row', alignItems: 'center', gap: 18, padding: '0 22px' }}&gt;&#10;            &lt;Box style={{ width: 4, height: 60, background: '#CB6B28' }} /&gt;&#10;            &lt;Text style={{ fontSize: 16, color: '#546779', lineHeight: 1.6, flex: 1 }}&gt;私人总结不替代公开记录；记录里写的每一句话，都必须能在真实发言与真实回复里找到对应。&lt;/Text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4.6.6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证据连接与结果页入口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从理由原文到最终记录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六步证据链（示意）：每一步都要求真实回复，缺一步就不能进入下一步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609600" y="2247900"/>
            <a:ext cx="1466850" cy="1047750"/>
          </a:xfrm>
          <a:prstGeom prst="roundRect">
            <a:avLst>
              <a:gd name="adj" fmla="val 72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057275" y="25622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理由原文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933450" y="2790825"/>
            <a:ext cx="828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真实说出的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2247900" y="2619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2495550" y="2247900"/>
            <a:ext cx="1466850" cy="1047750"/>
          </a:xfrm>
          <a:prstGeom prst="roundRect">
            <a:avLst>
              <a:gd name="adj" fmla="val 727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2943225" y="25622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场地回复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2771775" y="2790825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对象只答共同事实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4133850" y="2619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4381500" y="2247900"/>
            <a:ext cx="1466850" cy="1047750"/>
          </a:xfrm>
          <a:prstGeom prst="roundRect">
            <a:avLst>
              <a:gd name="adj" fmla="val 727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829175" y="25622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候选版本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4657725" y="2790825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编号、时间与模式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6019800" y="2619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267450" y="2247900"/>
            <a:ext cx="1466850" cy="1047750"/>
          </a:xfrm>
          <a:prstGeom prst="roundRect">
            <a:avLst>
              <a:gd name="adj" fmla="val 727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6648450" y="25622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复述及修正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600825" y="2790825"/>
            <a:ext cx="8001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本人确认或纠正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905750" y="2619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8153400" y="2247900"/>
            <a:ext cx="1466850" cy="1047750"/>
          </a:xfrm>
          <a:prstGeom prst="roundRect">
            <a:avLst>
              <a:gd name="adj" fmla="val 72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601075" y="25622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明确态度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429625" y="2790825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同意／保留／反对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9791700" y="26193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10039350" y="2247900"/>
            <a:ext cx="1466850" cy="1047750"/>
          </a:xfrm>
          <a:prstGeom prst="roundRect">
            <a:avLst>
              <a:gd name="adj" fmla="val 72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0487025" y="25622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最终记录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0315575" y="2790825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理由、回应与分歧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09600" y="34480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819150" y="363855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1028700" y="378142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从结果页回查时，先按「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Agent →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人物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对话」找到摘要，再逐条核对参与者、顺序与全文；摘要只用来定位。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09600" y="45529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6" name=""/>
          <p:cNvSpPr/>
          <p:nvPr/>
        </p:nvSpPr>
        <p:spPr>
          <a:xfrm rot="0" flipH="0" flipV="0">
            <a:off x="819150" y="47434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1028700" y="488632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私人总结不替代公开记录；记录里写的每一句话，都必须能在真实发言与真实回复里找到对应。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550" name="" descr="&lt;Slide notes={`最后把这场协商收在三句话上。&#10;第一句，回应覆盖率不等于一致意见。三个人都对候选表了态，只能说明态度记录是完整的；它不能说明三个人都同意。写报告时要把这两件事分开。&#10;第二句，理由确认不等于候选同意。问「理由还有没有补充」，或者问「我理解得准不准」，核对的是理由，不是对候选的态度。两组确认的对象不一样，不能互相替代。&#10;第三句，记录下分歧不等于实验失败。没有找到可接受的方案，只要每个人的理由和分歧都被准确留下来，这次记录的质量依然可以很高。&#10;这场协商里真正的风险不是没有共识，而是把不同的声音写成了一个声音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546779' }}&gt;4.6　公共议题协商　·　虚构教案，尚无 Run&lt;/Text&gt;&#10;&#10;        &lt;Text style={{ fontSize: 44, fontWeight: 'bold', color: '#20344B', lineHeight: 1.2 }}&gt;把分歧留下来，{'\n'}不是把结论做出来&lt;/Text&gt;&#10;&#10;        &lt;Box style={{ width: 72, height: 4, background: '#276FBF' }} /&gt;&#10;&#10;        &lt;Box style={{ flexDirection: 'row', gap: 14 }}&gt;&#10;            &lt;Box style={{ width: 4, height: 76, background: '#276FBF' }} /&gt;&#10;            &lt;Box style={{ width: 440, flexDirection: 'column', justifyContent: 'center', gap: 4 }}&gt;&#10;                &lt;Text style={{ fontSize: 20, fontWeight: 'bold', color: '#20344B' }}&gt;回应覆盖率 ≠ 一致意见&lt;/Text&gt;&#10;                &lt;Text style={{ fontSize: 14, color: '#546779', lineHeight: 1.5 }}&gt;三个人都表过态，不等于三个人都同意&lt;/Text&gt;&#10;            &lt;/Box&gt;&#10;            &lt;Box style={{ width: 4, height: 76, background: '#26816B' }} /&gt;&#10;            &lt;Box style={{ width: 440, flexDirection: 'column', justifyContent: 'center', gap: 4 }}&gt;&#10;                &lt;Text style={{ fontSize: 20, fontWeight: 'bold', color: '#20344B' }}&gt;理由确认 ≠ 候选同意&lt;/Text&gt;&#10;                &lt;Text style={{ fontSize: 14, color: '#546779', lineHeight: 1.5 }}&gt;「理由没有补充」不能算对候选的表态&lt;/Text&gt;&#10;            &lt;/Box&gt;&#10;        &lt;/Box&gt;&#10;&#10;        &lt;Box style={{ flexDirection: 'row', gap: 14 }}&gt;&#10;            &lt;Box style={{ width: 4, height: 76, background: '#CB6B28' }} /&gt;&#10;            &lt;Box style={{ width: 440, flexDirection: 'column', justifyContent: 'center', gap: 4 }}&gt;&#10;                &lt;Text style={{ fontSize: 20, fontWeight: 'bold', color: '#20344B' }}&gt;记录下分歧 ≠ 实验失败&lt;/Text&gt;&#10;                &lt;Text style={{ fontSize: 14, color: '#546779', lineHeight: 1.5 }}&gt;没有可接受方案，记录质量仍可能很高&lt;/Text&gt;&#10;            &lt;/Box&gt;&#10;            &lt;Box style={{ width: 4, height: 76, background: '#B5C7D8' }} /&gt;&#10;            &lt;Box style={{ width: 440, flexDirection: 'column', justifyContent: 'center', gap: 4 }}&gt;&#10;                &lt;Text style={{ fontSize: 20, fontWeight: 'bold', color: '#20344B' }}&gt;别把不同的声音写成一个声音&lt;/Text&gt;&#10;                &lt;Text style={{ fontSize: 14, color: '#546779', lineHeight: 1.5 }}&gt;下一步：4.7 场地临时关闭演练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6 公共议题协商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09600" y="13906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4.6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公共议题协商　·　虚构教案，尚无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10972800" cy="1209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把分歧留下来，</a:t>
            </a:r>
            <a:endParaRPr/>
          </a:p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不是把结论做出来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09600" y="31908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5" name=""/>
          <p:cNvSpPr/>
          <p:nvPr/>
        </p:nvSpPr>
        <p:spPr>
          <a:xfrm rot="0" flipH="0" flipV="0">
            <a:off x="609600" y="3438525"/>
            <a:ext cx="38100" cy="723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81050" y="3543300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回应覆盖率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一致意见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781050" y="3810000"/>
            <a:ext cx="4191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三个人都表过态，不等于三个人都同意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5105400" y="3438525"/>
            <a:ext cx="38100" cy="7239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276850" y="3543300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理由确认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候选同意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5276850" y="3810000"/>
            <a:ext cx="4191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「理由没有补充」不能算对候选的表态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609600" y="4371975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81050" y="4476750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记录下分歧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实验失败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81050" y="4743450"/>
            <a:ext cx="4191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没有可接受方案，记录质量仍可能很高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5105400" y="4371975"/>
            <a:ext cx="38100" cy="7239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5276850" y="4476750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别把不同的声音写成一个声音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5276850" y="4743450"/>
            <a:ext cx="4191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下一步：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场地临时关闭演练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公共议题协商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2026-09-29T09:54:01Z</dcterms:created>
  <dcterms:modified xsi:type="dcterms:W3CDTF">2026-09-29T09:54:01Z</dcterms:modified>
</cp:coreProperties>
</file>